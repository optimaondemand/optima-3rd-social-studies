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wide shot of American West — Grand Canyon, Rockies, or Pacific coast at sunsetIMAGE TO INSERT: Dramatic wide shot of American West landscape.
Teacher: Welcome students to the final region alcove in the Great Map Room. This is the West — the biggest, most varied region in the United States. Build excitement: we've studied four regions; now we open the last crate!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alcove with a large wooden crate marked 'WEST' being opened, warm light spilling outIMAGE TO INSERT: Museum alcove with large wooden crate.
Teacher: Set the scene — this is the last and largest alcove. Ask students why they think the crate is so big. Invite predictions about what they'll find. Connect to prior regions: we've explored the Northeast, Southeast, Midwest, and Southwest. Now the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Warm golden spotlight on a scroll or banner reading 'Courtesy' in an elegant museum settingIMAGE TO INSERT: Warm golden spotlight on 'Courtesy' banner.
Teacher: Introduce the virtue of courtesy. Explain that the West has been home to many Native nations, Native Hawaiians, immigrants from Asia and Latin America, and many other communities. We honor their stories by using respectful, accurate language. Ask students: What does it mean to be courteous when we talk about other peoples?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the map. Point out the 11 West states. Emphasize that Alaska and Hawaii are NOT connected to the rest of the country — Alaska is far to the north (separated by Canada) and Hawaii is out in the Pacific Ocean. Name the major mountain ranges: Rocky Mountains, Sierra Nevada, Cascade Range. Discuss the variety of climates — from hot deserts to frozen tundra to tropical islands.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the three feature cards. The West has incredible variety — scorching deserts AND frozen tundra, towering redwoods AND volcanic islands. Ask: Could you find all these landscapes in one region anywhere else? This is why the West's crate was the biggest!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Discuss the diverse peoples of the West. Emphasize that Native nations like the Tlingit, Apache, and Hopi have lived here for thousands of years. Native Hawaiians are the first people of Hawaii. Chinese workers helped build the railroad. Mexican-American communities have deep roots. Remind students to use courteous, accurate language. Then discuss cities and industries — the West has everything from farming to Hollywood to tech. This slide connects to Evidence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clue aloud. Let students discuss with a partner before revealing answers. This activity reinforces the key geography of the West — Rocky Mountains, Pacific Ocean, Hawaii, Alaska, and California. Point to each on the map as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a 'wow' moment. Hyperion is 380 feet tall — taller than the Statue of Liberty (305 feet). It's a coastal redwood in Northern California. Its exact location is secret to protect it from damage. Ask: Why would people want to keep a tree's location a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a photo that features multiple West landmarks (mountains + ocean, or redwoods + mountains). Ask students to name TWO things that show the West is different from the Midwest. Guide them: the Midwest is flat with prairies; the West has mountains, ocean, forests. This builds observation skills for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choose one artifact and explain what it reveals about the West. The fir cone = Pacific NW forests. Lava rock = Hawaii volcanoes. Snowy peak = Rocky Mountains / Denali. Map = Alaska, Hawaii, and California as unique states. Have partners discuss, then call on a few to share. This connects to Evidence Question 2 (state + landform).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culminating pattern activity across ALL five regions. Fill in the chart together as a class — one key feature per region. Then ask for ONE pattern (similarity) and ONE big difference. Examples: Pattern = every region has water access. Difference = climates range from tropical to frozen. This builds the critical thinking needed for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then vs. now for Pacific NW cedar carving. THEN: Tlingit and other nations carved cedar into totem poles, canoes, and ceremonial objects for centuries. NOW: Native artists continue the tradition, creating new works. Key point: these are living traditions, not just history. Connect to courtesy — we speak about others' traditions with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Summarize the West. It's the biggest, most varied region — Rocky Mountains to Pacific Ocean, plus Alaska and Hawaii. Emphasize that this is the FINAL region — students have now studied all five! Build excitement for the assignment: they'll write an exhibit label to complete their museum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Answer is B — Pacific Ocean. The Atlantic borders the East Coast (Northeast and Southeast). The Gulf of Mexico borders the South. The Arctic borders the very top of Alaska but the Pacific is the main bordering ocean for the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Answer is C — Alaska and Hawaii. Alaska is separated by Canada, and Hawaii is a chain of islands in the Pacific Ocean. All other West states are connected to the continental United States. This is a key geographic fact for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Answer is C — Rocky Mountains. The Appalachians are in the East. The Sierra Madre is in Mexico. The Blue Ridge Mountains are part of the Appalachian system. The Rockies run north-south through the West and are one of the region's defining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evidence question. Q1 — location + Alaska and Hawaii (covered in Slides 4, 7, 15). Q2 — state + landform (covered in Slides 5, 8, 10). Q3 — group of people + history (covered in Slide 6). The Curator Task asks students to write an exhibit sign for the West Alcove — this is their final curator task! Remind them to use courteous, accurate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a minute to write their Curator's Chronicle entry. This is a reflection — they complete the sentence frame with something specific they learned. Celebrate: this is their FINAL chronicle entry as a Region Curator! Ask a few students to share. Connect back to the virtue of courtesy — they've studied many peoples and places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Celebratory museum gallery scene — all five region alcoves lit up, golden light, achievement feelingIMAGE TO INSERT: Celebratory museum gallery scene with all five alcoves lit up.
Teacher: Celebrate! Students have completed ALL five U.S. region studies. Acknowledge their hard work as Region Curators. Tease what's coming next — they'll put everything together, comparing and connecting all five regions. End on a high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706880"/>
            <a:ext cx="1024128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West Region Study</a:t>
            </a:r>
            <a:endParaRPr lang="en-US" sz="4400" dirty="0"/>
          </a:p>
        </p:txBody>
      </p:sp>
      <p:sp>
        <p:nvSpPr>
          <p:cNvPr id="6" name="Text 3"/>
          <p:cNvSpPr/>
          <p:nvPr/>
        </p:nvSpPr>
        <p:spPr>
          <a:xfrm>
            <a:off x="975360" y="2865120"/>
            <a:ext cx="4876800" cy="487680"/>
          </a:xfrm>
          <a:prstGeom prst="rect">
            <a:avLst/>
          </a:prstGeom>
          <a:noFill/>
          <a:ln/>
        </p:spPr>
        <p:txBody>
          <a:bodyPr wrap="square" lIns="0" tIns="0" rIns="0" bIns="0" rtlCol="0" anchor="ctr"/>
          <a:lstStyle/>
          <a:p>
            <a:pPr indent="0" marL="0">
              <a:buNone/>
            </a:pPr>
            <a:r>
              <a:rPr lang="en-US" sz="1800" b="1" dirty="0">
                <a:solidFill>
                  <a:srgbClr val="D4943A"/>
                </a:solidFill>
                <a:latin typeface="Calibri" pitchFamily="34" charset="0"/>
                <a:ea typeface="Calibri" pitchFamily="34" charset="-122"/>
                <a:cs typeface="Calibri" pitchFamily="34" charset="-120"/>
              </a:rPr>
              <a:t>Lesson 3.07.06</a:t>
            </a:r>
            <a:endParaRPr lang="en-US" sz="1800" dirty="0"/>
          </a:p>
        </p:txBody>
      </p:sp>
      <p:sp>
        <p:nvSpPr>
          <p:cNvPr id="7" name="Shape 4"/>
          <p:cNvSpPr/>
          <p:nvPr/>
        </p:nvSpPr>
        <p:spPr>
          <a:xfrm>
            <a:off x="975360" y="3657600"/>
            <a:ext cx="3901440" cy="487680"/>
          </a:xfrm>
          <a:prstGeom prst="roundRect">
            <a:avLst>
              <a:gd name="adj" fmla="val 15000"/>
            </a:avLst>
          </a:prstGeom>
          <a:solidFill>
            <a:srgbClr val="1A8A7D"/>
          </a:solidFill>
          <a:ln/>
        </p:spPr>
      </p:sp>
      <p:sp>
        <p:nvSpPr>
          <p:cNvPr id="8" name="Text 5"/>
          <p:cNvSpPr/>
          <p:nvPr/>
        </p:nvSpPr>
        <p:spPr>
          <a:xfrm>
            <a:off x="975360" y="3657600"/>
            <a:ext cx="3901440" cy="487680"/>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GREAT MAP ROOM</a:t>
            </a:r>
            <a:endParaRPr lang="en-US" sz="1200" dirty="0"/>
          </a:p>
        </p:txBody>
      </p:sp>
      <p:sp>
        <p:nvSpPr>
          <p:cNvPr id="9" name="Text 6"/>
          <p:cNvSpPr/>
          <p:nvPr/>
        </p:nvSpPr>
        <p:spPr>
          <a:xfrm>
            <a:off x="975360" y="5974080"/>
            <a:ext cx="731520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Optima Academy Online  |  Grade 3 Social Studies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365760"/>
            <a:ext cx="1024128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Opening the West Alcove</a:t>
            </a:r>
            <a:endParaRPr lang="en-US" sz="3600" dirty="0"/>
          </a:p>
        </p:txBody>
      </p:sp>
      <p:sp>
        <p:nvSpPr>
          <p:cNvPr id="6" name="Text 3"/>
          <p:cNvSpPr/>
          <p:nvPr/>
        </p:nvSpPr>
        <p:spPr>
          <a:xfrm>
            <a:off x="975360" y="1097280"/>
            <a:ext cx="10241280" cy="426720"/>
          </a:xfrm>
          <a:prstGeom prst="rect">
            <a:avLst/>
          </a:prstGeom>
          <a:noFill/>
          <a:ln/>
        </p:spPr>
        <p:txBody>
          <a:bodyPr wrap="square" lIns="0" tIns="0" rIns="0" bIns="0" rtlCol="0" anchor="ctr"/>
          <a:lstStyle/>
          <a:p>
            <a:pPr indent="0" marL="0">
              <a:buNone/>
            </a:pPr>
            <a:r>
              <a:rPr lang="en-US" sz="1600" dirty="0">
                <a:solidFill>
                  <a:srgbClr val="55C8E8"/>
                </a:solidFill>
                <a:latin typeface="Calibri" pitchFamily="34" charset="0"/>
                <a:ea typeface="Calibri" pitchFamily="34" charset="-122"/>
                <a:cs typeface="Calibri" pitchFamily="34" charset="-120"/>
              </a:rPr>
              <a:t>The Last Alcove — The Biggest Crate</a:t>
            </a:r>
            <a:endParaRPr lang="en-US" sz="1600" dirty="0"/>
          </a:p>
        </p:txBody>
      </p:sp>
      <p:sp>
        <p:nvSpPr>
          <p:cNvPr id="7" name="Shape 4"/>
          <p:cNvSpPr/>
          <p:nvPr/>
        </p:nvSpPr>
        <p:spPr>
          <a:xfrm>
            <a:off x="975360" y="1950720"/>
            <a:ext cx="6339840" cy="2438400"/>
          </a:xfrm>
          <a:prstGeom prst="roundRect">
            <a:avLst>
              <a:gd name="adj" fmla="val 4500"/>
            </a:avLst>
          </a:prstGeom>
          <a:solidFill>
            <a:srgbClr val="FFF3DC"/>
          </a:solidFill>
          <a:ln w="19050">
            <a:solidFill>
              <a:srgbClr val="F5E6C8"/>
            </a:solidFill>
            <a:prstDash val="solid"/>
          </a:ln>
        </p:spPr>
      </p:sp>
      <p:sp>
        <p:nvSpPr>
          <p:cNvPr id="8" name="Text 5"/>
          <p:cNvSpPr/>
          <p:nvPr/>
        </p:nvSpPr>
        <p:spPr>
          <a:xfrm>
            <a:off x="1112520" y="2005584"/>
            <a:ext cx="6065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6"/>
          <p:cNvSpPr/>
          <p:nvPr/>
        </p:nvSpPr>
        <p:spPr>
          <a:xfrm>
            <a:off x="1112520" y="2206752"/>
            <a:ext cx="6065520" cy="2118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it — the last alcove in our Great Map Room."</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crate is the biggest one yet. What could be inside?"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"Let's find out what makes the West so special..."</a:t>
            </a:r>
            <a:endParaRPr lang="en-US" sz="1200" dirty="0"/>
          </a:p>
        </p:txBody>
      </p:sp>
      <p:sp>
        <p:nvSpPr>
          <p:cNvPr id="10" name="Shape 7"/>
          <p:cNvSpPr/>
          <p:nvPr/>
        </p:nvSpPr>
        <p:spPr>
          <a:xfrm>
            <a:off x="7802880" y="1950720"/>
            <a:ext cx="3657600" cy="2438400"/>
          </a:xfrm>
          <a:prstGeom prst="roundRect">
            <a:avLst>
              <a:gd name="adj" fmla="val 4500"/>
            </a:avLst>
          </a:prstGeom>
          <a:solidFill>
            <a:srgbClr val="E2E8F4"/>
          </a:solidFill>
          <a:ln w="19050">
            <a:solidFill>
              <a:srgbClr val="B0B8CC"/>
            </a:solidFill>
            <a:prstDash val="dash"/>
          </a:ln>
        </p:spPr>
      </p:sp>
      <p:sp>
        <p:nvSpPr>
          <p:cNvPr id="11" name="Text 8"/>
          <p:cNvSpPr/>
          <p:nvPr/>
        </p:nvSpPr>
        <p:spPr>
          <a:xfrm>
            <a:off x="7802880" y="1950720"/>
            <a:ext cx="36576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9"/>
          <p:cNvSpPr/>
          <p:nvPr/>
        </p:nvSpPr>
        <p:spPr>
          <a:xfrm>
            <a:off x="7985760" y="2316480"/>
            <a:ext cx="3291840" cy="1981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alcove with large wooden crate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marked 'WEST' being opened</a:t>
            </a:r>
            <a:endParaRPr lang="en-US" sz="1100" dirty="0"/>
          </a:p>
        </p:txBody>
      </p:sp>
      <p:sp>
        <p:nvSpPr>
          <p:cNvPr id="13" name="Shape 10"/>
          <p:cNvSpPr/>
          <p:nvPr/>
        </p:nvSpPr>
        <p:spPr>
          <a:xfrm>
            <a:off x="975360" y="4754880"/>
            <a:ext cx="10241280" cy="1584960"/>
          </a:xfrm>
          <a:prstGeom prst="roundRect">
            <a:avLst>
              <a:gd name="adj" fmla="val 8654"/>
            </a:avLst>
          </a:prstGeom>
          <a:solidFill>
            <a:srgbClr val="1A2D5A"/>
          </a:solidFill>
          <a:ln/>
          <a:effectLst>
            <a:outerShdw sx="100000" sy="100000" kx="0" ky="0" algn="bl" rotWithShape="0" blurRad="101600" dist="38100" dir="8100000">
              <a:srgbClr val="000000">
                <a:alpha val="20000"/>
              </a:srgbClr>
            </a:outerShdw>
          </a:effectLst>
        </p:spPr>
      </p:sp>
      <p:sp>
        <p:nvSpPr>
          <p:cNvPr id="14" name="Text 11"/>
          <p:cNvSpPr/>
          <p:nvPr/>
        </p:nvSpPr>
        <p:spPr>
          <a:xfrm>
            <a:off x="1158240" y="4846320"/>
            <a:ext cx="98755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2"/>
          <p:cNvSpPr/>
          <p:nvPr/>
        </p:nvSpPr>
        <p:spPr>
          <a:xfrm>
            <a:off x="1158240" y="5102352"/>
            <a:ext cx="9875520" cy="1146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the West's crate be the biggest?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already know about the West?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states have you heard of out West?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Shape 2"/>
          <p:cNvSpPr/>
          <p:nvPr/>
        </p:nvSpPr>
        <p:spPr>
          <a:xfrm>
            <a:off x="975360" y="487680"/>
            <a:ext cx="3169920" cy="463296"/>
          </a:xfrm>
          <a:prstGeom prst="roundRect">
            <a:avLst>
              <a:gd name="adj" fmla="val 15789"/>
            </a:avLst>
          </a:prstGeom>
          <a:solidFill>
            <a:srgbClr val="D4943A"/>
          </a:solidFill>
          <a:ln/>
        </p:spPr>
      </p:sp>
      <p:sp>
        <p:nvSpPr>
          <p:cNvPr id="6" name="Text 3"/>
          <p:cNvSpPr/>
          <p:nvPr/>
        </p:nvSpPr>
        <p:spPr>
          <a:xfrm>
            <a:off x="975360" y="487680"/>
            <a:ext cx="3169920" cy="4632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VIRTUE SPOTLIGHT</a:t>
            </a:r>
            <a:endParaRPr lang="en-US" sz="1100" dirty="0"/>
          </a:p>
        </p:txBody>
      </p:sp>
      <p:sp>
        <p:nvSpPr>
          <p:cNvPr id="7" name="Text 4"/>
          <p:cNvSpPr/>
          <p:nvPr/>
        </p:nvSpPr>
        <p:spPr>
          <a:xfrm>
            <a:off x="975360" y="1219200"/>
            <a:ext cx="10241280" cy="975360"/>
          </a:xfrm>
          <a:prstGeom prst="rect">
            <a:avLst/>
          </a:prstGeom>
          <a:noFill/>
          <a:ln/>
        </p:spPr>
        <p:txBody>
          <a:bodyPr wrap="square" lIns="0" tIns="0" rIns="0" bIns="0" rtlCol="0" anchor="ctr"/>
          <a:lstStyle/>
          <a:p>
            <a:pPr indent="0" marL="0">
              <a:buNone/>
            </a:pPr>
            <a:r>
              <a:rPr lang="en-US" sz="4000" b="1" dirty="0">
                <a:solidFill>
                  <a:srgbClr val="D4943A"/>
                </a:solidFill>
                <a:latin typeface="Cambria" pitchFamily="34" charset="0"/>
                <a:ea typeface="Cambria" pitchFamily="34" charset="-122"/>
                <a:cs typeface="Cambria" pitchFamily="34" charset="-120"/>
              </a:rPr>
              <a:t>Courtesy</a:t>
            </a:r>
            <a:endParaRPr lang="en-US" sz="4000" dirty="0"/>
          </a:p>
        </p:txBody>
      </p:sp>
      <p:sp>
        <p:nvSpPr>
          <p:cNvPr id="8" name="Text 5"/>
          <p:cNvSpPr/>
          <p:nvPr/>
        </p:nvSpPr>
        <p:spPr>
          <a:xfrm>
            <a:off x="975360" y="2316480"/>
            <a:ext cx="8534400" cy="97536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Many different peoples have called the West home for thousands of years. When we study their stories, we use kind, careful, and accurate words.</a:t>
            </a:r>
            <a:endParaRPr lang="en-US" sz="1600" dirty="0"/>
          </a:p>
        </p:txBody>
      </p:sp>
      <p:sp>
        <p:nvSpPr>
          <p:cNvPr id="9" name="Shape 6"/>
          <p:cNvSpPr/>
          <p:nvPr/>
        </p:nvSpPr>
        <p:spPr>
          <a:xfrm>
            <a:off x="975360" y="3657600"/>
            <a:ext cx="10241280" cy="2194560"/>
          </a:xfrm>
          <a:prstGeom prst="roundRect">
            <a:avLst>
              <a:gd name="adj" fmla="val 5000"/>
            </a:avLst>
          </a:prstGeom>
          <a:solidFill>
            <a:srgbClr val="1A2D5A"/>
          </a:solidFill>
          <a:ln/>
          <a:effectLst>
            <a:outerShdw sx="100000" sy="100000" kx="0" ky="0" algn="bl" rotWithShape="0" blurRad="76200" dist="25400" dir="8100000">
              <a:srgbClr val="000000">
                <a:alpha val="12000"/>
              </a:srgbClr>
            </a:outerShdw>
          </a:effectLst>
        </p:spPr>
      </p:sp>
      <p:sp>
        <p:nvSpPr>
          <p:cNvPr id="10" name="Text 7"/>
          <p:cNvSpPr/>
          <p:nvPr/>
        </p:nvSpPr>
        <p:spPr>
          <a:xfrm>
            <a:off x="1219200" y="3779520"/>
            <a:ext cx="9753600" cy="426720"/>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What does courtesy look like in social studies?</a:t>
            </a:r>
            <a:endParaRPr lang="en-US" sz="1400" dirty="0"/>
          </a:p>
        </p:txBody>
      </p:sp>
      <p:sp>
        <p:nvSpPr>
          <p:cNvPr id="11" name="Text 8"/>
          <p:cNvSpPr/>
          <p:nvPr/>
        </p:nvSpPr>
        <p:spPr>
          <a:xfrm>
            <a:off x="1463040" y="4267200"/>
            <a:ext cx="926592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Using the names that peoples use for themselves</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Saying 'Native nations' or 'tribal nations' instead of outdated terms</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Listening to different viewpoints with respect</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Writing about communities with care and accuracy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DISCOVERY 1</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Where Is the West?</a:t>
            </a:r>
            <a:endParaRPr lang="en-US" sz="3200" dirty="0"/>
          </a:p>
        </p:txBody>
      </p:sp>
      <p:sp>
        <p:nvSpPr>
          <p:cNvPr id="5" name="Shape 3"/>
          <p:cNvSpPr/>
          <p:nvPr/>
        </p:nvSpPr>
        <p:spPr>
          <a:xfrm>
            <a:off x="731520" y="1341120"/>
            <a:ext cx="5364480" cy="3657600"/>
          </a:xfrm>
          <a:prstGeom prst="roundRect">
            <a:avLst>
              <a:gd name="adj" fmla="val 3000"/>
            </a:avLst>
          </a:prstGeom>
          <a:solidFill>
            <a:srgbClr val="E2E8F4"/>
          </a:solidFill>
          <a:ln w="19050">
            <a:solidFill>
              <a:srgbClr val="B0B8CC"/>
            </a:solidFill>
            <a:prstDash val="dash"/>
          </a:ln>
        </p:spPr>
      </p:sp>
      <p:sp>
        <p:nvSpPr>
          <p:cNvPr id="6" name="Text 4"/>
          <p:cNvSpPr/>
          <p:nvPr/>
        </p:nvSpPr>
        <p:spPr>
          <a:xfrm>
            <a:off x="731520" y="1341120"/>
            <a:ext cx="53644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914400" y="1706880"/>
            <a:ext cx="499872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U.S. map highlighting the West region states: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WA, OR, CA, NV, ID, MT, WY, CO, UT, AK, HI</a:t>
            </a:r>
            <a:endParaRPr lang="en-US" sz="1100" dirty="0"/>
          </a:p>
        </p:txBody>
      </p:sp>
      <p:sp>
        <p:nvSpPr>
          <p:cNvPr id="8" name="Shape 6"/>
          <p:cNvSpPr/>
          <p:nvPr/>
        </p:nvSpPr>
        <p:spPr>
          <a:xfrm>
            <a:off x="6461760" y="1341120"/>
            <a:ext cx="5242560" cy="3657600"/>
          </a:xfrm>
          <a:prstGeom prst="roundRect">
            <a:avLst>
              <a:gd name="adj" fmla="val 3000"/>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6705600" y="1463040"/>
            <a:ext cx="4632960" cy="42672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Key Features</a:t>
            </a:r>
            <a:endParaRPr lang="en-US" sz="1800" dirty="0"/>
          </a:p>
        </p:txBody>
      </p:sp>
      <p:sp>
        <p:nvSpPr>
          <p:cNvPr id="10" name="Text 8"/>
          <p:cNvSpPr/>
          <p:nvPr/>
        </p:nvSpPr>
        <p:spPr>
          <a:xfrm>
            <a:off x="6827520" y="1950720"/>
            <a:ext cx="4511040" cy="2804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11 states from the Rocky Mountains to the Pacific Ocean</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Includes Alaska (far north) and Hawaii (Pacific islands)</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Rocky Mountains, Sierra Nevada, Cascade Range</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Borders the Pacific Ocean</a:t>
            </a:r>
            <a:endParaRPr lang="en-US" sz="1400" dirty="0"/>
          </a:p>
          <a:p>
            <a:pPr marL="342900" indent="-342900">
              <a:spcAft>
                <a:spcPts val="400"/>
              </a:spcAft>
              <a:buSzPct val="100000"/>
              <a:buChar char="•"/>
            </a:pPr>
            <a:r>
              <a:rPr lang="en-US" sz="1400" dirty="0">
                <a:solidFill>
                  <a:srgbClr val="0E1C42"/>
                </a:solidFill>
                <a:latin typeface="Calibri" pitchFamily="34" charset="0"/>
                <a:ea typeface="Calibri" pitchFamily="34" charset="-122"/>
                <a:cs typeface="Calibri" pitchFamily="34" charset="-120"/>
              </a:rPr>
              <a:t>Varied climates: desert, tundra, tropical, temperate</a:t>
            </a:r>
            <a:endParaRPr lang="en-US" sz="1400" dirty="0"/>
          </a:p>
        </p:txBody>
      </p:sp>
      <p:sp>
        <p:nvSpPr>
          <p:cNvPr id="11" name="Shape 9"/>
          <p:cNvSpPr/>
          <p:nvPr/>
        </p:nvSpPr>
        <p:spPr>
          <a:xfrm>
            <a:off x="731520" y="5242560"/>
            <a:ext cx="10972800" cy="1219200"/>
          </a:xfrm>
          <a:prstGeom prst="roundRect">
            <a:avLst>
              <a:gd name="adj" fmla="val 1125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914400" y="533400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914400" y="5590032"/>
            <a:ext cx="10607040" cy="780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two West states are not connected to the other 48 states?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mountain range runs through the West?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the West's climate different from the Southeast or Midwest?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DISCOVERY 2</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Land, Water, and Weather</a:t>
            </a:r>
            <a:endParaRPr lang="en-US" sz="3200" dirty="0"/>
          </a:p>
        </p:txBody>
      </p:sp>
      <p:sp>
        <p:nvSpPr>
          <p:cNvPr id="5" name="Shape 3"/>
          <p:cNvSpPr/>
          <p:nvPr/>
        </p:nvSpPr>
        <p:spPr>
          <a:xfrm>
            <a:off x="731520" y="1341120"/>
            <a:ext cx="3474720" cy="3048000"/>
          </a:xfrm>
          <a:prstGeom prst="roundRect">
            <a:avLst>
              <a:gd name="adj" fmla="val 3600"/>
            </a:avLst>
          </a:prstGeom>
          <a:solidFill>
            <a:srgbClr val="FFF3DC"/>
          </a:solidFill>
          <a:ln/>
          <a:effectLst>
            <a:outerShdw sx="100000" sy="100000" kx="0" ky="0" algn="bl" rotWithShape="0" blurRad="76200" dist="25400" dir="8100000">
              <a:srgbClr val="000000">
                <a:alpha val="12000"/>
              </a:srgbClr>
            </a:outerShdw>
          </a:effectLst>
        </p:spPr>
      </p:sp>
      <p:sp>
        <p:nvSpPr>
          <p:cNvPr id="6" name="Text 4"/>
          <p:cNvSpPr/>
          <p:nvPr/>
        </p:nvSpPr>
        <p:spPr>
          <a:xfrm>
            <a:off x="914400" y="1463040"/>
            <a:ext cx="3108960" cy="42672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Deserts &amp; Redwoods</a:t>
            </a:r>
            <a:endParaRPr lang="en-US" sz="1600" dirty="0"/>
          </a:p>
        </p:txBody>
      </p:sp>
      <p:sp>
        <p:nvSpPr>
          <p:cNvPr id="7" name="Text 5"/>
          <p:cNvSpPr/>
          <p:nvPr/>
        </p:nvSpPr>
        <p:spPr>
          <a:xfrm>
            <a:off x="975360" y="1950720"/>
            <a:ext cx="29870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Mojave and Sonoran deserts</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Towering coastal redwoods in CA</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Fertile valleys (Central Valley)</a:t>
            </a:r>
            <a:endParaRPr lang="en-US" sz="1300" dirty="0"/>
          </a:p>
        </p:txBody>
      </p:sp>
      <p:sp>
        <p:nvSpPr>
          <p:cNvPr id="8" name="Shape 6"/>
          <p:cNvSpPr/>
          <p:nvPr/>
        </p:nvSpPr>
        <p:spPr>
          <a:xfrm>
            <a:off x="4511040" y="1341120"/>
            <a:ext cx="3474720" cy="3048000"/>
          </a:xfrm>
          <a:prstGeom prst="roundRect">
            <a:avLst>
              <a:gd name="adj" fmla="val 3600"/>
            </a:avLst>
          </a:prstGeom>
          <a:solidFill>
            <a:srgbClr val="EAF8FD"/>
          </a:solidFill>
          <a:ln/>
          <a:effectLst>
            <a:outerShdw sx="100000" sy="100000" kx="0" ky="0" algn="bl" rotWithShape="0" blurRad="76200" dist="25400" dir="8100000">
              <a:srgbClr val="000000">
                <a:alpha val="12000"/>
              </a:srgbClr>
            </a:outerShdw>
          </a:effectLst>
        </p:spPr>
      </p:sp>
      <p:sp>
        <p:nvSpPr>
          <p:cNvPr id="9" name="Text 7"/>
          <p:cNvSpPr/>
          <p:nvPr/>
        </p:nvSpPr>
        <p:spPr>
          <a:xfrm>
            <a:off x="4693920" y="1463040"/>
            <a:ext cx="3108960" cy="42672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Alaska's Tundra</a:t>
            </a:r>
            <a:endParaRPr lang="en-US" sz="1600" dirty="0"/>
          </a:p>
        </p:txBody>
      </p:sp>
      <p:sp>
        <p:nvSpPr>
          <p:cNvPr id="10" name="Text 8"/>
          <p:cNvSpPr/>
          <p:nvPr/>
        </p:nvSpPr>
        <p:spPr>
          <a:xfrm>
            <a:off x="4754880" y="1950720"/>
            <a:ext cx="29870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Frozen tundra and glaciers</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Denali — tallest peak in N. America</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Long winters, short summers</a:t>
            </a:r>
            <a:endParaRPr lang="en-US" sz="1300" dirty="0"/>
          </a:p>
        </p:txBody>
      </p:sp>
      <p:sp>
        <p:nvSpPr>
          <p:cNvPr id="11" name="Shape 9"/>
          <p:cNvSpPr/>
          <p:nvPr/>
        </p:nvSpPr>
        <p:spPr>
          <a:xfrm>
            <a:off x="8290560" y="1341120"/>
            <a:ext cx="3474720" cy="3048000"/>
          </a:xfrm>
          <a:prstGeom prst="roundRect">
            <a:avLst>
              <a:gd name="adj" fmla="val 3600"/>
            </a:avLst>
          </a:prstGeom>
          <a:solidFill>
            <a:srgbClr val="E3F8ED"/>
          </a:solidFill>
          <a:ln/>
          <a:effectLst>
            <a:outerShdw sx="100000" sy="100000" kx="0" ky="0" algn="bl" rotWithShape="0" blurRad="76200" dist="25400" dir="8100000">
              <a:srgbClr val="000000">
                <a:alpha val="12000"/>
              </a:srgbClr>
            </a:outerShdw>
          </a:effectLst>
        </p:spPr>
      </p:sp>
      <p:sp>
        <p:nvSpPr>
          <p:cNvPr id="12" name="Text 10"/>
          <p:cNvSpPr/>
          <p:nvPr/>
        </p:nvSpPr>
        <p:spPr>
          <a:xfrm>
            <a:off x="8473440" y="1463040"/>
            <a:ext cx="3108960" cy="42672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Hawaii's Volcanoes</a:t>
            </a:r>
            <a:endParaRPr lang="en-US" sz="1600" dirty="0"/>
          </a:p>
        </p:txBody>
      </p:sp>
      <p:sp>
        <p:nvSpPr>
          <p:cNvPr id="13" name="Text 11"/>
          <p:cNvSpPr/>
          <p:nvPr/>
        </p:nvSpPr>
        <p:spPr>
          <a:xfrm>
            <a:off x="8534400" y="1950720"/>
            <a:ext cx="29870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Islands formed by volcanoes</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Tropical climate year-round</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Surrounded by Pacific Ocean</a:t>
            </a:r>
            <a:endParaRPr lang="en-US" sz="1300" dirty="0"/>
          </a:p>
        </p:txBody>
      </p:sp>
      <p:sp>
        <p:nvSpPr>
          <p:cNvPr id="14" name="Shape 12"/>
          <p:cNvSpPr/>
          <p:nvPr/>
        </p:nvSpPr>
        <p:spPr>
          <a:xfrm>
            <a:off x="731520" y="4693920"/>
            <a:ext cx="10972800" cy="1706880"/>
          </a:xfrm>
          <a:prstGeom prst="roundRect">
            <a:avLst>
              <a:gd name="adj" fmla="val 6429"/>
            </a:avLst>
          </a:prstGeom>
          <a:solidFill>
            <a:srgbClr val="E2E8F4"/>
          </a:solidFill>
          <a:ln w="19050">
            <a:solidFill>
              <a:srgbClr val="B0B8CC"/>
            </a:solidFill>
            <a:prstDash val="dash"/>
          </a:ln>
        </p:spPr>
      </p:sp>
      <p:sp>
        <p:nvSpPr>
          <p:cNvPr id="15" name="Text 13"/>
          <p:cNvSpPr/>
          <p:nvPr/>
        </p:nvSpPr>
        <p:spPr>
          <a:xfrm>
            <a:off x="731520" y="4693920"/>
            <a:ext cx="10972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914400" y="5059680"/>
            <a:ext cx="10607040" cy="1249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photos: desert, redwood forest, Alaska tundra, Hawaii volcano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DISCOVERY 3</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People and Work of the West</a:t>
            </a:r>
            <a:endParaRPr lang="en-US" sz="3200" dirty="0"/>
          </a:p>
        </p:txBody>
      </p:sp>
      <p:sp>
        <p:nvSpPr>
          <p:cNvPr id="5" name="Shape 3"/>
          <p:cNvSpPr/>
          <p:nvPr/>
        </p:nvSpPr>
        <p:spPr>
          <a:xfrm>
            <a:off x="731520" y="1341120"/>
            <a:ext cx="5364480" cy="3048000"/>
          </a:xfrm>
          <a:prstGeom prst="roundRect">
            <a:avLst>
              <a:gd name="adj" fmla="val 3600"/>
            </a:avLst>
          </a:prstGeom>
          <a:solidFill>
            <a:srgbClr val="F0E8FF"/>
          </a:solidFill>
          <a:ln/>
          <a:effectLst>
            <a:outerShdw sx="100000" sy="100000" kx="0" ky="0" algn="bl" rotWithShape="0" blurRad="76200" dist="25400" dir="8100000">
              <a:srgbClr val="000000">
                <a:alpha val="12000"/>
              </a:srgbClr>
            </a:outerShdw>
          </a:effectLst>
        </p:spPr>
      </p:sp>
      <p:sp>
        <p:nvSpPr>
          <p:cNvPr id="6" name="Text 4"/>
          <p:cNvSpPr/>
          <p:nvPr/>
        </p:nvSpPr>
        <p:spPr>
          <a:xfrm>
            <a:off x="975360" y="1463040"/>
            <a:ext cx="4876800" cy="426720"/>
          </a:xfrm>
          <a:prstGeom prst="rect">
            <a:avLst/>
          </a:prstGeom>
          <a:noFill/>
          <a:ln/>
        </p:spPr>
        <p:txBody>
          <a:bodyPr wrap="square" lIns="0" tIns="0" rIns="0" bIns="0" rtlCol="0" anchor="ctr"/>
          <a:lstStyle/>
          <a:p>
            <a:pPr indent="0" marL="0">
              <a:buNone/>
            </a:pPr>
            <a:r>
              <a:rPr lang="en-US" sz="1700" b="1" dirty="0">
                <a:solidFill>
                  <a:srgbClr val="0E1C42"/>
                </a:solidFill>
                <a:latin typeface="Cambria" pitchFamily="34" charset="0"/>
                <a:ea typeface="Cambria" pitchFamily="34" charset="-122"/>
                <a:cs typeface="Cambria" pitchFamily="34" charset="-120"/>
              </a:rPr>
              <a:t>Peoples of the West</a:t>
            </a:r>
            <a:endParaRPr lang="en-US" sz="1700" dirty="0"/>
          </a:p>
        </p:txBody>
      </p:sp>
      <p:sp>
        <p:nvSpPr>
          <p:cNvPr id="7" name="Text 5"/>
          <p:cNvSpPr/>
          <p:nvPr/>
        </p:nvSpPr>
        <p:spPr>
          <a:xfrm>
            <a:off x="1097280" y="1950720"/>
            <a:ext cx="475488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Native nations: Tlingit, Apache, Hopi</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Native Hawaiians — first people of Hawaii</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Chinese railroad workers helped build the transcontinental railroad</a:t>
            </a:r>
            <a:endParaRPr lang="en-US" sz="1300" dirty="0"/>
          </a:p>
          <a:p>
            <a:pPr marL="342900" indent="-342900">
              <a:spcAft>
                <a:spcPts val="400"/>
              </a:spcAft>
              <a:buSzPct val="100000"/>
              <a:buChar char="•"/>
            </a:pPr>
            <a:r>
              <a:rPr lang="en-US" sz="1300" dirty="0">
                <a:solidFill>
                  <a:srgbClr val="0E1C42"/>
                </a:solidFill>
                <a:latin typeface="Calibri" pitchFamily="34" charset="0"/>
                <a:ea typeface="Calibri" pitchFamily="34" charset="-122"/>
                <a:cs typeface="Calibri" pitchFamily="34" charset="-120"/>
              </a:rPr>
              <a:t>Mexican-American communities with deep roots in the region</a:t>
            </a:r>
            <a:endParaRPr lang="en-US" sz="1300" dirty="0"/>
          </a:p>
        </p:txBody>
      </p:sp>
      <p:sp>
        <p:nvSpPr>
          <p:cNvPr id="8" name="Shape 6"/>
          <p:cNvSpPr/>
          <p:nvPr/>
        </p:nvSpPr>
        <p:spPr>
          <a:xfrm>
            <a:off x="6461760" y="1341120"/>
            <a:ext cx="5242560" cy="3048000"/>
          </a:xfrm>
          <a:prstGeom prst="roundRect">
            <a:avLst>
              <a:gd name="adj" fmla="val 3600"/>
            </a:avLst>
          </a:prstGeom>
          <a:solidFill>
            <a:srgbClr val="EAF8FD"/>
          </a:solidFill>
          <a:ln/>
          <a:effectLst>
            <a:outerShdw sx="100000" sy="100000" kx="0" ky="0" algn="bl" rotWithShape="0" blurRad="76200" dist="25400" dir="8100000">
              <a:srgbClr val="000000">
                <a:alpha val="12000"/>
              </a:srgbClr>
            </a:outerShdw>
          </a:effectLst>
        </p:spPr>
      </p:sp>
      <p:sp>
        <p:nvSpPr>
          <p:cNvPr id="9" name="Text 7"/>
          <p:cNvSpPr/>
          <p:nvPr/>
        </p:nvSpPr>
        <p:spPr>
          <a:xfrm>
            <a:off x="6705600" y="1463040"/>
            <a:ext cx="4632960" cy="426720"/>
          </a:xfrm>
          <a:prstGeom prst="rect">
            <a:avLst/>
          </a:prstGeom>
          <a:noFill/>
          <a:ln/>
        </p:spPr>
        <p:txBody>
          <a:bodyPr wrap="square" lIns="0" tIns="0" rIns="0" bIns="0" rtlCol="0" anchor="ctr"/>
          <a:lstStyle/>
          <a:p>
            <a:pPr indent="0" marL="0">
              <a:buNone/>
            </a:pPr>
            <a:r>
              <a:rPr lang="en-US" sz="1700" b="1" dirty="0">
                <a:solidFill>
                  <a:srgbClr val="0E1C42"/>
                </a:solidFill>
                <a:latin typeface="Cambria" pitchFamily="34" charset="0"/>
                <a:ea typeface="Cambria" pitchFamily="34" charset="-122"/>
                <a:cs typeface="Cambria" pitchFamily="34" charset="-120"/>
              </a:rPr>
              <a:t>Cities and Industries</a:t>
            </a:r>
            <a:endParaRPr lang="en-US" sz="1700" dirty="0"/>
          </a:p>
        </p:txBody>
      </p:sp>
      <p:sp>
        <p:nvSpPr>
          <p:cNvPr id="10" name="Text 8"/>
          <p:cNvSpPr/>
          <p:nvPr/>
        </p:nvSpPr>
        <p:spPr>
          <a:xfrm>
            <a:off x="6705600" y="1950720"/>
            <a:ext cx="475488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Major cities: Los Angeles, San Francisco, Seattle, Denver</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Farming in fertile valleys</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Fishing along the Pacific coast</a:t>
            </a:r>
            <a:endParaRPr lang="en-US" sz="1300" dirty="0"/>
          </a:p>
          <a:p>
            <a:pPr marL="342900" indent="-342900">
              <a:spcAft>
                <a:spcPts val="500"/>
              </a:spcAft>
              <a:buSzPct val="100000"/>
              <a:buChar char="•"/>
            </a:pPr>
            <a:r>
              <a:rPr lang="en-US" sz="1300" dirty="0">
                <a:solidFill>
                  <a:srgbClr val="0E1C42"/>
                </a:solidFill>
                <a:latin typeface="Calibri" pitchFamily="34" charset="0"/>
                <a:ea typeface="Calibri" pitchFamily="34" charset="-122"/>
                <a:cs typeface="Calibri" pitchFamily="34" charset="-120"/>
              </a:rPr>
              <a:t>Movies (Hollywood), technology (Silicon Valley)</a:t>
            </a:r>
            <a:endParaRPr lang="en-US" sz="1300" dirty="0"/>
          </a:p>
          <a:p>
            <a:pPr marL="342900" indent="-342900">
              <a:spcAft>
                <a:spcPts val="400"/>
              </a:spcAft>
              <a:buSzPct val="100000"/>
              <a:buChar char="•"/>
            </a:pPr>
            <a:r>
              <a:rPr lang="en-US" sz="1300" dirty="0">
                <a:solidFill>
                  <a:srgbClr val="0E1C42"/>
                </a:solidFill>
                <a:latin typeface="Calibri" pitchFamily="34" charset="0"/>
                <a:ea typeface="Calibri" pitchFamily="34" charset="-122"/>
                <a:cs typeface="Calibri" pitchFamily="34" charset="-120"/>
              </a:rPr>
              <a:t>National parks: Yellowstone, Yosemite, Grand Canyon</a:t>
            </a:r>
            <a:endParaRPr lang="en-US" sz="1300" dirty="0"/>
          </a:p>
        </p:txBody>
      </p:sp>
      <p:sp>
        <p:nvSpPr>
          <p:cNvPr id="11" name="Shape 9"/>
          <p:cNvSpPr/>
          <p:nvPr/>
        </p:nvSpPr>
        <p:spPr>
          <a:xfrm>
            <a:off x="731520" y="4693920"/>
            <a:ext cx="10972800" cy="1584960"/>
          </a:xfrm>
          <a:prstGeom prst="roundRect">
            <a:avLst>
              <a:gd name="adj" fmla="val 8654"/>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914400" y="478536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914400" y="5041392"/>
            <a:ext cx="10607040" cy="1146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Name one group of people who live in the West and one thing about their history.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you think so many different industries grew up in the West?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courtesy help us talk about these communities?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MAP QUEST</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Match the Clues to the Places</a:t>
            </a:r>
            <a:endParaRPr lang="en-US" sz="3200" dirty="0"/>
          </a:p>
        </p:txBody>
      </p:sp>
      <p:sp>
        <p:nvSpPr>
          <p:cNvPr id="5" name="Shape 3"/>
          <p:cNvSpPr/>
          <p:nvPr/>
        </p:nvSpPr>
        <p:spPr>
          <a:xfrm>
            <a:off x="731520" y="1341120"/>
            <a:ext cx="6096000" cy="4389120"/>
          </a:xfrm>
          <a:prstGeom prst="roundRect">
            <a:avLst>
              <a:gd name="adj" fmla="val 2500"/>
            </a:avLst>
          </a:prstGeom>
          <a:solidFill>
            <a:srgbClr val="E2E8F4"/>
          </a:solidFill>
          <a:ln w="19050">
            <a:solidFill>
              <a:srgbClr val="B0B8CC"/>
            </a:solidFill>
            <a:prstDash val="dash"/>
          </a:ln>
        </p:spPr>
      </p:sp>
      <p:sp>
        <p:nvSpPr>
          <p:cNvPr id="6" name="Text 4"/>
          <p:cNvSpPr/>
          <p:nvPr/>
        </p:nvSpPr>
        <p:spPr>
          <a:xfrm>
            <a:off x="731520" y="13411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914400" y="1706880"/>
            <a:ext cx="5730240" cy="3931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Large map of the West region</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with numbered markers at:</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1. Rocky Mtns  2. Pacific Ocean</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3. Hawaii  4. Alaska  5. California</a:t>
            </a:r>
            <a:endParaRPr lang="en-US" sz="1100" dirty="0"/>
          </a:p>
        </p:txBody>
      </p:sp>
      <p:sp>
        <p:nvSpPr>
          <p:cNvPr id="8" name="Shape 6"/>
          <p:cNvSpPr/>
          <p:nvPr/>
        </p:nvSpPr>
        <p:spPr>
          <a:xfrm>
            <a:off x="7315200" y="1341120"/>
            <a:ext cx="4389120" cy="4389120"/>
          </a:xfrm>
          <a:prstGeom prst="roundRect">
            <a:avLst>
              <a:gd name="adj" fmla="val 2500"/>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7559040" y="1463040"/>
            <a:ext cx="3901440" cy="426720"/>
          </a:xfrm>
          <a:prstGeom prst="rect">
            <a:avLst/>
          </a:prstGeom>
          <a:noFill/>
          <a:ln/>
        </p:spPr>
        <p:txBody>
          <a:bodyPr wrap="square" lIns="0" tIns="0" rIns="0" bIns="0" rtlCol="0" anchor="ctr"/>
          <a:lstStyle/>
          <a:p>
            <a:pPr indent="0" marL="0">
              <a:buNone/>
            </a:pPr>
            <a:r>
              <a:rPr lang="en-US" sz="1800" b="1" dirty="0">
                <a:solidFill>
                  <a:srgbClr val="1A8A7D"/>
                </a:solidFill>
                <a:latin typeface="Cambria" pitchFamily="34" charset="0"/>
                <a:ea typeface="Cambria" pitchFamily="34" charset="-122"/>
                <a:cs typeface="Cambria" pitchFamily="34" charset="-120"/>
              </a:rPr>
              <a:t>Clues</a:t>
            </a:r>
            <a:endParaRPr lang="en-US" sz="1800" dirty="0"/>
          </a:p>
        </p:txBody>
      </p:sp>
      <p:sp>
        <p:nvSpPr>
          <p:cNvPr id="10" name="Text 8"/>
          <p:cNvSpPr/>
          <p:nvPr/>
        </p:nvSpPr>
        <p:spPr>
          <a:xfrm>
            <a:off x="7559040" y="1950720"/>
            <a:ext cx="3901440" cy="3535680"/>
          </a:xfrm>
          <a:prstGeom prst="rect">
            <a:avLst/>
          </a:prstGeom>
          <a:noFill/>
          <a:ln/>
        </p:spPr>
        <p:txBody>
          <a:bodyPr wrap="square" lIns="0" tIns="0" rIns="0" bIns="0" rtlCol="0" anchor="t"/>
          <a:lstStyle/>
          <a:p>
            <a:pPr indent="0" marL="0">
              <a:spcAft>
                <a:spcPts val="800"/>
              </a:spcAft>
              <a:buNone/>
            </a:pPr>
            <a:r>
              <a:rPr lang="en-US" sz="1200" dirty="0">
                <a:solidFill>
                  <a:srgbClr val="0E1C42"/>
                </a:solidFill>
                <a:latin typeface="Calibri" pitchFamily="34" charset="0"/>
                <a:ea typeface="Calibri" pitchFamily="34" charset="-122"/>
                <a:cs typeface="Calibri" pitchFamily="34" charset="-120"/>
              </a:rPr>
              <a:t>1. This tall mountain range runs north-south through the West.</a:t>
            </a:r>
            <a:endParaRPr lang="en-US" sz="1200" dirty="0"/>
          </a:p>
          <a:p>
            <a:pPr indent="0" marL="0">
              <a:spcAft>
                <a:spcPts val="800"/>
              </a:spcAft>
              <a:buNone/>
            </a:pPr>
            <a:r>
              <a:rPr lang="en-US" sz="1200" dirty="0">
                <a:solidFill>
                  <a:srgbClr val="0E1C42"/>
                </a:solidFill>
                <a:latin typeface="Calibri" pitchFamily="34" charset="0"/>
                <a:ea typeface="Calibri" pitchFamily="34" charset="-122"/>
                <a:cs typeface="Calibri" pitchFamily="34" charset="-120"/>
              </a:rPr>
              <a:t>2. This ocean borders the West coast.</a:t>
            </a:r>
            <a:endParaRPr lang="en-US" sz="1200" dirty="0"/>
          </a:p>
          <a:p>
            <a:pPr indent="0" marL="0">
              <a:spcAft>
                <a:spcPts val="800"/>
              </a:spcAft>
              <a:buNone/>
            </a:pPr>
            <a:r>
              <a:rPr lang="en-US" sz="1200" dirty="0">
                <a:solidFill>
                  <a:srgbClr val="0E1C42"/>
                </a:solidFill>
                <a:latin typeface="Calibri" pitchFamily="34" charset="0"/>
                <a:ea typeface="Calibri" pitchFamily="34" charset="-122"/>
                <a:cs typeface="Calibri" pitchFamily="34" charset="-120"/>
              </a:rPr>
              <a:t>3. These volcanic islands are in the Pacific.</a:t>
            </a:r>
            <a:endParaRPr lang="en-US" sz="1200" dirty="0"/>
          </a:p>
          <a:p>
            <a:pPr indent="0" marL="0">
              <a:spcAft>
                <a:spcPts val="800"/>
              </a:spcAft>
              <a:buNone/>
            </a:pPr>
            <a:r>
              <a:rPr lang="en-US" sz="1200" dirty="0">
                <a:solidFill>
                  <a:srgbClr val="0E1C42"/>
                </a:solidFill>
                <a:latin typeface="Calibri" pitchFamily="34" charset="0"/>
                <a:ea typeface="Calibri" pitchFamily="34" charset="-122"/>
                <a:cs typeface="Calibri" pitchFamily="34" charset="-120"/>
              </a:rPr>
              <a:t>4. This state is the farthest north and has frozen tundra.</a:t>
            </a:r>
            <a:endParaRPr lang="en-US" sz="1200" dirty="0"/>
          </a:p>
          <a:p>
            <a:pPr indent="0" marL="0">
              <a:spcAft>
                <a:spcPts val="400"/>
              </a:spcAft>
              <a:buNone/>
            </a:pPr>
            <a:r>
              <a:rPr lang="en-US" sz="1200" dirty="0">
                <a:solidFill>
                  <a:srgbClr val="0E1C42"/>
                </a:solidFill>
                <a:latin typeface="Calibri" pitchFamily="34" charset="0"/>
                <a:ea typeface="Calibri" pitchFamily="34" charset="-122"/>
                <a:cs typeface="Calibri" pitchFamily="34" charset="-120"/>
              </a:rPr>
              <a:t>5. This state has redwoods, Hollywood, and Silicon Valley.</a:t>
            </a:r>
            <a:endParaRPr lang="en-US" sz="1200" dirty="0"/>
          </a:p>
        </p:txBody>
      </p:sp>
      <p:sp>
        <p:nvSpPr>
          <p:cNvPr id="11" name="Shape 9"/>
          <p:cNvSpPr/>
          <p:nvPr/>
        </p:nvSpPr>
        <p:spPr>
          <a:xfrm>
            <a:off x="731520" y="5974080"/>
            <a:ext cx="10972800" cy="487680"/>
          </a:xfrm>
          <a:prstGeom prst="roundRect">
            <a:avLst>
              <a:gd name="adj" fmla="val 22500"/>
            </a:avLst>
          </a:prstGeom>
          <a:solidFill>
            <a:srgbClr val="1A8A7D"/>
          </a:solidFill>
          <a:ln/>
          <a:effectLst>
            <a:outerShdw sx="100000" sy="100000" kx="0" ky="0" algn="bl" rotWithShape="0" blurRad="76200" dist="25400" dir="8100000">
              <a:srgbClr val="000000">
                <a:alpha val="12000"/>
              </a:srgbClr>
            </a:outerShdw>
          </a:effectLst>
        </p:spPr>
      </p:sp>
      <p:sp>
        <p:nvSpPr>
          <p:cNvPr id="12" name="Text 10"/>
          <p:cNvSpPr/>
          <p:nvPr/>
        </p:nvSpPr>
        <p:spPr>
          <a:xfrm>
            <a:off x="975360" y="5974080"/>
            <a:ext cx="1048512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Answers: 1. Rocky Mountains  |  2. Pacific Ocean  |  3. Hawaii  |  4. Alaska  |  5. California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DISCOVERY FACT</a:t>
            </a:r>
            <a:endParaRPr lang="en-US" sz="900" dirty="0"/>
          </a:p>
        </p:txBody>
      </p:sp>
      <p:sp>
        <p:nvSpPr>
          <p:cNvPr id="4" name="Text 2"/>
          <p:cNvSpPr/>
          <p:nvPr/>
        </p:nvSpPr>
        <p:spPr>
          <a:xfrm>
            <a:off x="731520" y="1036320"/>
            <a:ext cx="10728960" cy="670560"/>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The Hyperion Redwood</a:t>
            </a:r>
            <a:endParaRPr lang="en-US" sz="3200" dirty="0"/>
          </a:p>
        </p:txBody>
      </p:sp>
      <p:sp>
        <p:nvSpPr>
          <p:cNvPr id="5" name="Shape 3"/>
          <p:cNvSpPr/>
          <p:nvPr/>
        </p:nvSpPr>
        <p:spPr>
          <a:xfrm>
            <a:off x="731520" y="1950720"/>
            <a:ext cx="4267200" cy="2682240"/>
          </a:xfrm>
          <a:prstGeom prst="roundRect">
            <a:avLst>
              <a:gd name="adj" fmla="val 4091"/>
            </a:avLst>
          </a:prstGeom>
          <a:solidFill>
            <a:srgbClr val="E3F8ED"/>
          </a:solidFill>
          <a:ln/>
          <a:effectLst>
            <a:outerShdw sx="100000" sy="100000" kx="0" ky="0" algn="bl" rotWithShape="0" blurRad="76200" dist="25400" dir="8100000">
              <a:srgbClr val="000000">
                <a:alpha val="12000"/>
              </a:srgbClr>
            </a:outerShdw>
          </a:effectLst>
        </p:spPr>
      </p:sp>
      <p:sp>
        <p:nvSpPr>
          <p:cNvPr id="6" name="Text 4"/>
          <p:cNvSpPr/>
          <p:nvPr/>
        </p:nvSpPr>
        <p:spPr>
          <a:xfrm>
            <a:off x="731520" y="2072640"/>
            <a:ext cx="4267200" cy="1219200"/>
          </a:xfrm>
          <a:prstGeom prst="rect">
            <a:avLst/>
          </a:prstGeom>
          <a:noFill/>
          <a:ln/>
        </p:spPr>
        <p:txBody>
          <a:bodyPr wrap="square" lIns="0" tIns="0" rIns="0" bIns="0" rtlCol="0" anchor="ctr"/>
          <a:lstStyle/>
          <a:p>
            <a:pPr algn="ctr" indent="0" marL="0">
              <a:buNone/>
            </a:pPr>
            <a:r>
              <a:rPr lang="en-US" sz="7200" b="1" dirty="0">
                <a:solidFill>
                  <a:srgbClr val="1A8A7D"/>
                </a:solidFill>
                <a:latin typeface="Cambria" pitchFamily="34" charset="0"/>
                <a:ea typeface="Cambria" pitchFamily="34" charset="-122"/>
                <a:cs typeface="Cambria" pitchFamily="34" charset="-120"/>
              </a:rPr>
              <a:t>380</a:t>
            </a:r>
            <a:endParaRPr lang="en-US" sz="7200" dirty="0"/>
          </a:p>
        </p:txBody>
      </p:sp>
      <p:sp>
        <p:nvSpPr>
          <p:cNvPr id="7" name="Text 5"/>
          <p:cNvSpPr/>
          <p:nvPr/>
        </p:nvSpPr>
        <p:spPr>
          <a:xfrm>
            <a:off x="731520" y="3169920"/>
            <a:ext cx="4267200" cy="487680"/>
          </a:xfrm>
          <a:prstGeom prst="rect">
            <a:avLst/>
          </a:prstGeom>
          <a:noFill/>
          <a:ln/>
        </p:spPr>
        <p:txBody>
          <a:bodyPr wrap="square" lIns="0" tIns="0" rIns="0" bIns="0" rtlCol="0" anchor="ctr"/>
          <a:lstStyle/>
          <a:p>
            <a:pPr algn="ctr" indent="0" marL="0">
              <a:buNone/>
            </a:pPr>
            <a:r>
              <a:rPr lang="en-US" sz="2000" dirty="0">
                <a:solidFill>
                  <a:srgbClr val="0E1C42"/>
                </a:solidFill>
                <a:latin typeface="Calibri" pitchFamily="34" charset="0"/>
                <a:ea typeface="Calibri" pitchFamily="34" charset="-122"/>
                <a:cs typeface="Calibri" pitchFamily="34" charset="-120"/>
              </a:rPr>
              <a:t>feet tall</a:t>
            </a:r>
            <a:endParaRPr lang="en-US" sz="2000" dirty="0"/>
          </a:p>
        </p:txBody>
      </p:sp>
      <p:sp>
        <p:nvSpPr>
          <p:cNvPr id="8" name="Text 6"/>
          <p:cNvSpPr/>
          <p:nvPr/>
        </p:nvSpPr>
        <p:spPr>
          <a:xfrm>
            <a:off x="731520" y="3718560"/>
            <a:ext cx="4267200" cy="426720"/>
          </a:xfrm>
          <a:prstGeom prst="rect">
            <a:avLst/>
          </a:prstGeom>
          <a:noFill/>
          <a:ln/>
        </p:spPr>
        <p:txBody>
          <a:bodyPr wrap="square" lIns="0" tIns="0" rIns="0" bIns="0"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Taller than the Statue of Liberty!</a:t>
            </a:r>
            <a:endParaRPr lang="en-US" sz="1300" dirty="0"/>
          </a:p>
        </p:txBody>
      </p:sp>
      <p:sp>
        <p:nvSpPr>
          <p:cNvPr id="9" name="Shape 7"/>
          <p:cNvSpPr/>
          <p:nvPr/>
        </p:nvSpPr>
        <p:spPr>
          <a:xfrm>
            <a:off x="5486400" y="1950720"/>
            <a:ext cx="3048000" cy="3169920"/>
          </a:xfrm>
          <a:prstGeom prst="roundRect">
            <a:avLst>
              <a:gd name="adj" fmla="val 3600"/>
            </a:avLst>
          </a:prstGeom>
          <a:solidFill>
            <a:srgbClr val="E2E8F4"/>
          </a:solidFill>
          <a:ln w="19050">
            <a:solidFill>
              <a:srgbClr val="B0B8CC"/>
            </a:solidFill>
            <a:prstDash val="dash"/>
          </a:ln>
        </p:spPr>
      </p:sp>
      <p:sp>
        <p:nvSpPr>
          <p:cNvPr id="10" name="Text 8"/>
          <p:cNvSpPr/>
          <p:nvPr/>
        </p:nvSpPr>
        <p:spPr>
          <a:xfrm>
            <a:off x="5486400" y="1950720"/>
            <a:ext cx="3048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5669280" y="2316480"/>
            <a:ext cx="2682240" cy="2712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 of a coastal redwood tree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(looking up from the base)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with a person for scale</a:t>
            </a:r>
            <a:endParaRPr lang="en-US" sz="1100" dirty="0"/>
          </a:p>
        </p:txBody>
      </p:sp>
      <p:sp>
        <p:nvSpPr>
          <p:cNvPr id="12" name="Shape 10"/>
          <p:cNvSpPr/>
          <p:nvPr/>
        </p:nvSpPr>
        <p:spPr>
          <a:xfrm>
            <a:off x="8900160" y="1950720"/>
            <a:ext cx="2804160" cy="3169920"/>
          </a:xfrm>
          <a:prstGeom prst="roundRect">
            <a:avLst>
              <a:gd name="adj" fmla="val 3913"/>
            </a:avLst>
          </a:prstGeom>
          <a:solidFill>
            <a:srgbClr val="E2E8F4"/>
          </a:solidFill>
          <a:ln w="19050">
            <a:solidFill>
              <a:srgbClr val="B0B8CC"/>
            </a:solidFill>
            <a:prstDash val="dash"/>
          </a:ln>
        </p:spPr>
      </p:sp>
      <p:sp>
        <p:nvSpPr>
          <p:cNvPr id="13" name="Text 11"/>
          <p:cNvSpPr/>
          <p:nvPr/>
        </p:nvSpPr>
        <p:spPr>
          <a:xfrm>
            <a:off x="8900160" y="1950720"/>
            <a:ext cx="28041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9083040" y="2316480"/>
            <a:ext cx="2438400" cy="2712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height comparison:</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Hyperion redwood (380 ft)</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vs. Statue of Liberty (305 ft)</a:t>
            </a:r>
            <a:endParaRPr lang="en-US" sz="1100" dirty="0"/>
          </a:p>
        </p:txBody>
      </p:sp>
      <p:sp>
        <p:nvSpPr>
          <p:cNvPr id="15" name="Shape 13"/>
          <p:cNvSpPr/>
          <p:nvPr/>
        </p:nvSpPr>
        <p:spPr>
          <a:xfrm>
            <a:off x="731520" y="5364480"/>
            <a:ext cx="10972800" cy="1219200"/>
          </a:xfrm>
          <a:prstGeom prst="roundRect">
            <a:avLst>
              <a:gd name="adj" fmla="val 9000"/>
            </a:avLst>
          </a:prstGeom>
          <a:solidFill>
            <a:srgbClr val="FFF3DC"/>
          </a:solidFill>
          <a:ln w="19050">
            <a:solidFill>
              <a:srgbClr val="F5E6C8"/>
            </a:solidFill>
            <a:prstDash val="solid"/>
          </a:ln>
        </p:spPr>
      </p:sp>
      <p:sp>
        <p:nvSpPr>
          <p:cNvPr id="16" name="Text 14"/>
          <p:cNvSpPr/>
          <p:nvPr/>
        </p:nvSpPr>
        <p:spPr>
          <a:xfrm>
            <a:off x="868680" y="5419344"/>
            <a:ext cx="10698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868680" y="5620512"/>
            <a:ext cx="10698480" cy="899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"Hyperion is the tallest known tree on Earth."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lives in a California redwood forest."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"Its exact location is kept secret to protect 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SOURCE STUDY</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Studying the West Through Photos</a:t>
            </a:r>
            <a:endParaRPr lang="en-US" sz="3200" dirty="0"/>
          </a:p>
        </p:txBody>
      </p:sp>
      <p:sp>
        <p:nvSpPr>
          <p:cNvPr id="5" name="Shape 3"/>
          <p:cNvSpPr/>
          <p:nvPr/>
        </p:nvSpPr>
        <p:spPr>
          <a:xfrm>
            <a:off x="731520" y="1341120"/>
            <a:ext cx="6583680" cy="3657600"/>
          </a:xfrm>
          <a:prstGeom prst="roundRect">
            <a:avLst>
              <a:gd name="adj" fmla="val 3000"/>
            </a:avLst>
          </a:prstGeom>
          <a:solidFill>
            <a:srgbClr val="E2E8F4"/>
          </a:solidFill>
          <a:ln w="19050">
            <a:solidFill>
              <a:srgbClr val="B0B8CC"/>
            </a:solidFill>
            <a:prstDash val="dash"/>
          </a:ln>
        </p:spPr>
      </p:sp>
      <p:sp>
        <p:nvSpPr>
          <p:cNvPr id="6" name="Text 4"/>
          <p:cNvSpPr/>
          <p:nvPr/>
        </p:nvSpPr>
        <p:spPr>
          <a:xfrm>
            <a:off x="731520" y="1341120"/>
            <a:ext cx="65836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914400" y="1706880"/>
            <a:ext cx="6217920" cy="3200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 showing TWO or more iconic West features: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Rocky Mountains AND Pacific coast,</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OR redwood forest AND mountain backdrop</a:t>
            </a:r>
            <a:endParaRPr lang="en-US" sz="1100" dirty="0"/>
          </a:p>
        </p:txBody>
      </p:sp>
      <p:sp>
        <p:nvSpPr>
          <p:cNvPr id="8" name="Shape 6"/>
          <p:cNvSpPr/>
          <p:nvPr/>
        </p:nvSpPr>
        <p:spPr>
          <a:xfrm>
            <a:off x="7680960" y="1341120"/>
            <a:ext cx="4023360" cy="3657600"/>
          </a:xfrm>
          <a:prstGeom prst="roundRect">
            <a:avLst>
              <a:gd name="adj" fmla="val 3000"/>
            </a:avLst>
          </a:prstGeom>
          <a:solidFill>
            <a:srgbClr val="FFF8F0"/>
          </a:solidFill>
          <a:ln/>
          <a:effectLst>
            <a:outerShdw sx="100000" sy="100000" kx="0" ky="0" algn="bl" rotWithShape="0" blurRad="76200" dist="25400" dir="8100000">
              <a:srgbClr val="000000">
                <a:alpha val="12000"/>
              </a:srgbClr>
            </a:outerShdw>
          </a:effectLst>
        </p:spPr>
      </p:sp>
      <p:sp>
        <p:nvSpPr>
          <p:cNvPr id="9" name="Text 7"/>
          <p:cNvSpPr/>
          <p:nvPr/>
        </p:nvSpPr>
        <p:spPr>
          <a:xfrm>
            <a:off x="7924800" y="1463040"/>
            <a:ext cx="3535680" cy="42672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Think About It</a:t>
            </a:r>
            <a:endParaRPr lang="en-US" sz="1600" dirty="0"/>
          </a:p>
        </p:txBody>
      </p:sp>
      <p:sp>
        <p:nvSpPr>
          <p:cNvPr id="10" name="Text 8"/>
          <p:cNvSpPr/>
          <p:nvPr/>
        </p:nvSpPr>
        <p:spPr>
          <a:xfrm>
            <a:off x="7924800" y="2072640"/>
            <a:ext cx="3535680" cy="1219200"/>
          </a:xfrm>
          <a:prstGeom prst="rect">
            <a:avLst/>
          </a:prstGeom>
          <a:noFill/>
          <a:ln/>
        </p:spPr>
        <p:txBody>
          <a:bodyPr wrap="square" lIns="0" tIns="0" rIns="0" bIns="0" rtlCol="0" anchor="ctr"/>
          <a:lstStyle/>
          <a:p>
            <a:pPr indent="0" marL="0">
              <a:lnSpc>
                <a:spcPct val="130000"/>
              </a:lnSpc>
              <a:buNone/>
            </a:pPr>
            <a:r>
              <a:rPr lang="en-US" sz="1400" i="1" dirty="0">
                <a:solidFill>
                  <a:srgbClr val="0E1C42"/>
                </a:solidFill>
                <a:latin typeface="Calibri" pitchFamily="34" charset="0"/>
                <a:ea typeface="Calibri" pitchFamily="34" charset="-122"/>
                <a:cs typeface="Calibri" pitchFamily="34" charset="-120"/>
              </a:rPr>
              <a:t>Name two things in this photo that show the West is different from the Midwest.</a:t>
            </a:r>
            <a:endParaRPr lang="en-US" sz="1400" dirty="0"/>
          </a:p>
        </p:txBody>
      </p:sp>
      <p:sp>
        <p:nvSpPr>
          <p:cNvPr id="11" name="Text 9"/>
          <p:cNvSpPr/>
          <p:nvPr/>
        </p:nvSpPr>
        <p:spPr>
          <a:xfrm>
            <a:off x="7924800" y="3413760"/>
            <a:ext cx="3535680" cy="609600"/>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Discuss with a partner first, then share.</a:t>
            </a:r>
            <a:endParaRPr lang="en-US" sz="1200" dirty="0"/>
          </a:p>
        </p:txBody>
      </p:sp>
      <p:sp>
        <p:nvSpPr>
          <p:cNvPr id="12" name="Shape 10"/>
          <p:cNvSpPr/>
          <p:nvPr/>
        </p:nvSpPr>
        <p:spPr>
          <a:xfrm>
            <a:off x="731520" y="5303520"/>
            <a:ext cx="10972800" cy="1219200"/>
          </a:xfrm>
          <a:prstGeom prst="roundRect">
            <a:avLst>
              <a:gd name="adj" fmla="val 11250"/>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914400" y="539496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914400" y="5650992"/>
            <a:ext cx="10607040" cy="780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landforms or features do you see?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this landscape different from the flat Midwest?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clues tell you this is the West?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ARTIFACT TABLE</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Pick a Crate Item</a:t>
            </a:r>
            <a:endParaRPr lang="en-US" sz="3200" dirty="0"/>
          </a:p>
        </p:txBody>
      </p:sp>
      <p:sp>
        <p:nvSpPr>
          <p:cNvPr id="5" name="Shape 3"/>
          <p:cNvSpPr/>
          <p:nvPr/>
        </p:nvSpPr>
        <p:spPr>
          <a:xfrm>
            <a:off x="731520" y="1341120"/>
            <a:ext cx="2621280" cy="2804160"/>
          </a:xfrm>
          <a:prstGeom prst="roundRect">
            <a:avLst>
              <a:gd name="adj" fmla="val 4186"/>
            </a:avLst>
          </a:prstGeom>
          <a:solidFill>
            <a:srgbClr val="E3F8ED"/>
          </a:solidFill>
          <a:ln/>
          <a:effectLst>
            <a:outerShdw sx="100000" sy="100000" kx="0" ky="0" algn="bl" rotWithShape="0" blurRad="76200" dist="25400" dir="8100000">
              <a:srgbClr val="000000">
                <a:alpha val="12000"/>
              </a:srgbClr>
            </a:outerShdw>
          </a:effectLst>
        </p:spPr>
      </p:sp>
      <p:sp>
        <p:nvSpPr>
          <p:cNvPr id="6" name="Shape 4"/>
          <p:cNvSpPr/>
          <p:nvPr/>
        </p:nvSpPr>
        <p:spPr>
          <a:xfrm>
            <a:off x="1036320" y="1524000"/>
            <a:ext cx="2011680" cy="1341120"/>
          </a:xfrm>
          <a:prstGeom prst="roundRect">
            <a:avLst>
              <a:gd name="adj" fmla="val 8182"/>
            </a:avLst>
          </a:prstGeom>
          <a:solidFill>
            <a:srgbClr val="E2E8F4"/>
          </a:solidFill>
          <a:ln w="19050">
            <a:solidFill>
              <a:srgbClr val="B0B8CC"/>
            </a:solidFill>
            <a:prstDash val="dash"/>
          </a:ln>
        </p:spPr>
      </p:sp>
      <p:sp>
        <p:nvSpPr>
          <p:cNvPr id="7" name="Text 5"/>
          <p:cNvSpPr/>
          <p:nvPr/>
        </p:nvSpPr>
        <p:spPr>
          <a:xfrm>
            <a:off x="1036320" y="1524000"/>
            <a:ext cx="20116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1219200" y="1889760"/>
            <a:ext cx="1645920" cy="883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Fir Cone</a:t>
            </a:r>
            <a:endParaRPr lang="en-US" sz="1100" dirty="0"/>
          </a:p>
        </p:txBody>
      </p:sp>
      <p:sp>
        <p:nvSpPr>
          <p:cNvPr id="9" name="Text 7"/>
          <p:cNvSpPr/>
          <p:nvPr/>
        </p:nvSpPr>
        <p:spPr>
          <a:xfrm>
            <a:off x="853440" y="3048000"/>
            <a:ext cx="2377440" cy="36576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Fir Cone</a:t>
            </a:r>
            <a:endParaRPr lang="en-US" sz="1400" dirty="0"/>
          </a:p>
        </p:txBody>
      </p:sp>
      <p:sp>
        <p:nvSpPr>
          <p:cNvPr id="10" name="Text 8"/>
          <p:cNvSpPr/>
          <p:nvPr/>
        </p:nvSpPr>
        <p:spPr>
          <a:xfrm>
            <a:off x="853440" y="3413760"/>
            <a:ext cx="2377440" cy="609600"/>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From the towering</a:t>
            </a:r>
            <a:endParaRPr lang="en-US" sz="1100" dirty="0"/>
          </a:p>
          <a:p>
            <a:pPr algn="ctr" indent="0" marL="0">
              <a:buNone/>
            </a:pPr>
            <a:r>
              <a:rPr lang="en-US" sz="1100" dirty="0">
                <a:solidFill>
                  <a:srgbClr val="7A88A8"/>
                </a:solidFill>
                <a:latin typeface="Calibri" pitchFamily="34" charset="0"/>
                <a:ea typeface="Calibri" pitchFamily="34" charset="-122"/>
                <a:cs typeface="Calibri" pitchFamily="34" charset="-120"/>
              </a:rPr>
              <a:t>Pacific Northwest forests</a:t>
            </a:r>
            <a:endParaRPr lang="en-US" sz="1100" dirty="0"/>
          </a:p>
        </p:txBody>
      </p:sp>
      <p:sp>
        <p:nvSpPr>
          <p:cNvPr id="11" name="Shape 9"/>
          <p:cNvSpPr/>
          <p:nvPr/>
        </p:nvSpPr>
        <p:spPr>
          <a:xfrm>
            <a:off x="3596640" y="1341120"/>
            <a:ext cx="2621280" cy="2804160"/>
          </a:xfrm>
          <a:prstGeom prst="roundRect">
            <a:avLst>
              <a:gd name="adj" fmla="val 4186"/>
            </a:avLst>
          </a:prstGeom>
          <a:solidFill>
            <a:srgbClr val="FFF3DC"/>
          </a:solidFill>
          <a:ln/>
          <a:effectLst>
            <a:outerShdw sx="100000" sy="100000" kx="0" ky="0" algn="bl" rotWithShape="0" blurRad="76200" dist="25400" dir="8100000">
              <a:srgbClr val="000000">
                <a:alpha val="12000"/>
              </a:srgbClr>
            </a:outerShdw>
          </a:effectLst>
        </p:spPr>
      </p:sp>
      <p:sp>
        <p:nvSpPr>
          <p:cNvPr id="12" name="Shape 10"/>
          <p:cNvSpPr/>
          <p:nvPr/>
        </p:nvSpPr>
        <p:spPr>
          <a:xfrm>
            <a:off x="3901440" y="1524000"/>
            <a:ext cx="2011680" cy="1341120"/>
          </a:xfrm>
          <a:prstGeom prst="roundRect">
            <a:avLst>
              <a:gd name="adj" fmla="val 8182"/>
            </a:avLst>
          </a:prstGeom>
          <a:solidFill>
            <a:srgbClr val="E2E8F4"/>
          </a:solidFill>
          <a:ln w="19050">
            <a:solidFill>
              <a:srgbClr val="B0B8CC"/>
            </a:solidFill>
            <a:prstDash val="dash"/>
          </a:ln>
        </p:spPr>
      </p:sp>
      <p:sp>
        <p:nvSpPr>
          <p:cNvPr id="13" name="Text 11"/>
          <p:cNvSpPr/>
          <p:nvPr/>
        </p:nvSpPr>
        <p:spPr>
          <a:xfrm>
            <a:off x="3901440" y="1524000"/>
            <a:ext cx="20116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4084320" y="1889760"/>
            <a:ext cx="1645920" cy="883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Lava Rock</a:t>
            </a:r>
            <a:endParaRPr lang="en-US" sz="1100" dirty="0"/>
          </a:p>
        </p:txBody>
      </p:sp>
      <p:sp>
        <p:nvSpPr>
          <p:cNvPr id="15" name="Text 13"/>
          <p:cNvSpPr/>
          <p:nvPr/>
        </p:nvSpPr>
        <p:spPr>
          <a:xfrm>
            <a:off x="3718560" y="3048000"/>
            <a:ext cx="2377440" cy="36576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Lava Rock</a:t>
            </a:r>
            <a:endParaRPr lang="en-US" sz="1400" dirty="0"/>
          </a:p>
        </p:txBody>
      </p:sp>
      <p:sp>
        <p:nvSpPr>
          <p:cNvPr id="16" name="Text 14"/>
          <p:cNvSpPr/>
          <p:nvPr/>
        </p:nvSpPr>
        <p:spPr>
          <a:xfrm>
            <a:off x="3718560" y="3413760"/>
            <a:ext cx="2377440" cy="609600"/>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From Hawaii's</a:t>
            </a:r>
            <a:endParaRPr lang="en-US" sz="1100" dirty="0"/>
          </a:p>
          <a:p>
            <a:pPr algn="ctr" indent="0" marL="0">
              <a:buNone/>
            </a:pPr>
            <a:r>
              <a:rPr lang="en-US" sz="1100" dirty="0">
                <a:solidFill>
                  <a:srgbClr val="7A88A8"/>
                </a:solidFill>
                <a:latin typeface="Calibri" pitchFamily="34" charset="0"/>
                <a:ea typeface="Calibri" pitchFamily="34" charset="-122"/>
                <a:cs typeface="Calibri" pitchFamily="34" charset="-120"/>
              </a:rPr>
              <a:t>active volcanoes</a:t>
            </a:r>
            <a:endParaRPr lang="en-US" sz="1100" dirty="0"/>
          </a:p>
        </p:txBody>
      </p:sp>
      <p:sp>
        <p:nvSpPr>
          <p:cNvPr id="17" name="Shape 15"/>
          <p:cNvSpPr/>
          <p:nvPr/>
        </p:nvSpPr>
        <p:spPr>
          <a:xfrm>
            <a:off x="6461760" y="1341120"/>
            <a:ext cx="2621280" cy="2804160"/>
          </a:xfrm>
          <a:prstGeom prst="roundRect">
            <a:avLst>
              <a:gd name="adj" fmla="val 4186"/>
            </a:avLst>
          </a:prstGeom>
          <a:solidFill>
            <a:srgbClr val="EAF8FD"/>
          </a:solidFill>
          <a:ln/>
          <a:effectLst>
            <a:outerShdw sx="100000" sy="100000" kx="0" ky="0" algn="bl" rotWithShape="0" blurRad="76200" dist="25400" dir="8100000">
              <a:srgbClr val="000000">
                <a:alpha val="12000"/>
              </a:srgbClr>
            </a:outerShdw>
          </a:effectLst>
        </p:spPr>
      </p:sp>
      <p:sp>
        <p:nvSpPr>
          <p:cNvPr id="18" name="Shape 16"/>
          <p:cNvSpPr/>
          <p:nvPr/>
        </p:nvSpPr>
        <p:spPr>
          <a:xfrm>
            <a:off x="6766560" y="1524000"/>
            <a:ext cx="2011680" cy="1341120"/>
          </a:xfrm>
          <a:prstGeom prst="roundRect">
            <a:avLst>
              <a:gd name="adj" fmla="val 8182"/>
            </a:avLst>
          </a:prstGeom>
          <a:solidFill>
            <a:srgbClr val="E2E8F4"/>
          </a:solidFill>
          <a:ln w="19050">
            <a:solidFill>
              <a:srgbClr val="B0B8CC"/>
            </a:solidFill>
            <a:prstDash val="dash"/>
          </a:ln>
        </p:spPr>
      </p:sp>
      <p:sp>
        <p:nvSpPr>
          <p:cNvPr id="19" name="Text 17"/>
          <p:cNvSpPr/>
          <p:nvPr/>
        </p:nvSpPr>
        <p:spPr>
          <a:xfrm>
            <a:off x="6766560" y="1524000"/>
            <a:ext cx="20116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0" name="Text 18"/>
          <p:cNvSpPr/>
          <p:nvPr/>
        </p:nvSpPr>
        <p:spPr>
          <a:xfrm>
            <a:off x="6949440" y="1889760"/>
            <a:ext cx="1645920" cy="883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Snowy Peak Photo</a:t>
            </a:r>
            <a:endParaRPr lang="en-US" sz="1100" dirty="0"/>
          </a:p>
        </p:txBody>
      </p:sp>
      <p:sp>
        <p:nvSpPr>
          <p:cNvPr id="21" name="Text 19"/>
          <p:cNvSpPr/>
          <p:nvPr/>
        </p:nvSpPr>
        <p:spPr>
          <a:xfrm>
            <a:off x="6583680" y="3048000"/>
            <a:ext cx="2377440" cy="36576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Snowy Peak Photo</a:t>
            </a:r>
            <a:endParaRPr lang="en-US" sz="1400" dirty="0"/>
          </a:p>
        </p:txBody>
      </p:sp>
      <p:sp>
        <p:nvSpPr>
          <p:cNvPr id="22" name="Text 20"/>
          <p:cNvSpPr/>
          <p:nvPr/>
        </p:nvSpPr>
        <p:spPr>
          <a:xfrm>
            <a:off x="6583680" y="3413760"/>
            <a:ext cx="2377440" cy="609600"/>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From the Rocky</a:t>
            </a:r>
            <a:endParaRPr lang="en-US" sz="1100" dirty="0"/>
          </a:p>
          <a:p>
            <a:pPr algn="ctr" indent="0" marL="0">
              <a:buNone/>
            </a:pPr>
            <a:r>
              <a:rPr lang="en-US" sz="1100" dirty="0">
                <a:solidFill>
                  <a:srgbClr val="7A88A8"/>
                </a:solidFill>
                <a:latin typeface="Calibri" pitchFamily="34" charset="0"/>
                <a:ea typeface="Calibri" pitchFamily="34" charset="-122"/>
                <a:cs typeface="Calibri" pitchFamily="34" charset="-120"/>
              </a:rPr>
              <a:t>Mountains or Denali</a:t>
            </a:r>
            <a:endParaRPr lang="en-US" sz="1100" dirty="0"/>
          </a:p>
        </p:txBody>
      </p:sp>
      <p:sp>
        <p:nvSpPr>
          <p:cNvPr id="23" name="Shape 21"/>
          <p:cNvSpPr/>
          <p:nvPr/>
        </p:nvSpPr>
        <p:spPr>
          <a:xfrm>
            <a:off x="9326880" y="1341120"/>
            <a:ext cx="2621280" cy="2804160"/>
          </a:xfrm>
          <a:prstGeom prst="roundRect">
            <a:avLst>
              <a:gd name="adj" fmla="val 4186"/>
            </a:avLst>
          </a:prstGeom>
          <a:solidFill>
            <a:srgbClr val="F0E8FF"/>
          </a:solidFill>
          <a:ln/>
          <a:effectLst>
            <a:outerShdw sx="100000" sy="100000" kx="0" ky="0" algn="bl" rotWithShape="0" blurRad="76200" dist="25400" dir="8100000">
              <a:srgbClr val="000000">
                <a:alpha val="12000"/>
              </a:srgbClr>
            </a:outerShdw>
          </a:effectLst>
        </p:spPr>
      </p:sp>
      <p:sp>
        <p:nvSpPr>
          <p:cNvPr id="24" name="Shape 22"/>
          <p:cNvSpPr/>
          <p:nvPr/>
        </p:nvSpPr>
        <p:spPr>
          <a:xfrm>
            <a:off x="9631680" y="1524000"/>
            <a:ext cx="2011680" cy="1341120"/>
          </a:xfrm>
          <a:prstGeom prst="roundRect">
            <a:avLst>
              <a:gd name="adj" fmla="val 8182"/>
            </a:avLst>
          </a:prstGeom>
          <a:solidFill>
            <a:srgbClr val="E2E8F4"/>
          </a:solidFill>
          <a:ln w="19050">
            <a:solidFill>
              <a:srgbClr val="B0B8CC"/>
            </a:solidFill>
            <a:prstDash val="dash"/>
          </a:ln>
        </p:spPr>
      </p:sp>
      <p:sp>
        <p:nvSpPr>
          <p:cNvPr id="25" name="Text 23"/>
          <p:cNvSpPr/>
          <p:nvPr/>
        </p:nvSpPr>
        <p:spPr>
          <a:xfrm>
            <a:off x="9631680" y="1524000"/>
            <a:ext cx="20116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6" name="Text 24"/>
          <p:cNvSpPr/>
          <p:nvPr/>
        </p:nvSpPr>
        <p:spPr>
          <a:xfrm>
            <a:off x="9814560" y="1889760"/>
            <a:ext cx="1645920" cy="883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CA-HI-AK Map</a:t>
            </a:r>
            <a:endParaRPr lang="en-US" sz="1100" dirty="0"/>
          </a:p>
        </p:txBody>
      </p:sp>
      <p:sp>
        <p:nvSpPr>
          <p:cNvPr id="27" name="Text 25"/>
          <p:cNvSpPr/>
          <p:nvPr/>
        </p:nvSpPr>
        <p:spPr>
          <a:xfrm>
            <a:off x="9448800" y="3048000"/>
            <a:ext cx="2377440" cy="36576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CA-HI-AK Map</a:t>
            </a:r>
            <a:endParaRPr lang="en-US" sz="1400" dirty="0"/>
          </a:p>
        </p:txBody>
      </p:sp>
      <p:sp>
        <p:nvSpPr>
          <p:cNvPr id="28" name="Text 26"/>
          <p:cNvSpPr/>
          <p:nvPr/>
        </p:nvSpPr>
        <p:spPr>
          <a:xfrm>
            <a:off x="9448800" y="3413760"/>
            <a:ext cx="2377440" cy="609600"/>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Shows the three most</a:t>
            </a:r>
            <a:endParaRPr lang="en-US" sz="1100" dirty="0"/>
          </a:p>
          <a:p>
            <a:pPr algn="ctr" indent="0" marL="0">
              <a:buNone/>
            </a:pPr>
            <a:r>
              <a:rPr lang="en-US" sz="1100" dirty="0">
                <a:solidFill>
                  <a:srgbClr val="7A88A8"/>
                </a:solidFill>
                <a:latin typeface="Calibri" pitchFamily="34" charset="0"/>
                <a:ea typeface="Calibri" pitchFamily="34" charset="-122"/>
                <a:cs typeface="Calibri" pitchFamily="34" charset="-120"/>
              </a:rPr>
              <a:t>unique West states</a:t>
            </a:r>
            <a:endParaRPr lang="en-US" sz="1100" dirty="0"/>
          </a:p>
        </p:txBody>
      </p:sp>
      <p:sp>
        <p:nvSpPr>
          <p:cNvPr id="29" name="Shape 27"/>
          <p:cNvSpPr/>
          <p:nvPr/>
        </p:nvSpPr>
        <p:spPr>
          <a:xfrm>
            <a:off x="731520" y="4450080"/>
            <a:ext cx="10972800" cy="1219200"/>
          </a:xfrm>
          <a:prstGeom prst="roundRect">
            <a:avLst>
              <a:gd name="adj" fmla="val 9000"/>
            </a:avLst>
          </a:prstGeom>
          <a:solidFill>
            <a:srgbClr val="FFF8F0"/>
          </a:solidFill>
          <a:ln/>
          <a:effectLst>
            <a:outerShdw sx="100000" sy="100000" kx="0" ky="0" algn="bl" rotWithShape="0" blurRad="76200" dist="25400" dir="8100000">
              <a:srgbClr val="000000">
                <a:alpha val="12000"/>
              </a:srgbClr>
            </a:outerShdw>
          </a:effectLst>
        </p:spPr>
      </p:sp>
      <p:sp>
        <p:nvSpPr>
          <p:cNvPr id="30" name="Text 28"/>
          <p:cNvSpPr/>
          <p:nvPr/>
        </p:nvSpPr>
        <p:spPr>
          <a:xfrm>
            <a:off x="975360" y="4572000"/>
            <a:ext cx="2438400" cy="365760"/>
          </a:xfrm>
          <a:prstGeom prst="rect">
            <a:avLst/>
          </a:prstGeom>
          <a:noFill/>
          <a:ln/>
        </p:spPr>
        <p:txBody>
          <a:bodyPr wrap="square" lIns="0" tIns="0" rIns="0" bIns="0" rtlCol="0" anchor="ctr"/>
          <a:lstStyle/>
          <a:p>
            <a:pPr indent="0" marL="0">
              <a:buNone/>
            </a:pPr>
            <a:r>
              <a:rPr lang="en-US" sz="1500" b="1" dirty="0">
                <a:solidFill>
                  <a:srgbClr val="D4943A"/>
                </a:solidFill>
                <a:latin typeface="Cambria" pitchFamily="34" charset="0"/>
                <a:ea typeface="Cambria" pitchFamily="34" charset="-122"/>
                <a:cs typeface="Cambria" pitchFamily="34" charset="-120"/>
              </a:rPr>
              <a:t>Your Task</a:t>
            </a:r>
            <a:endParaRPr lang="en-US" sz="1500" dirty="0"/>
          </a:p>
        </p:txBody>
      </p:sp>
      <p:sp>
        <p:nvSpPr>
          <p:cNvPr id="31" name="Text 29"/>
          <p:cNvSpPr/>
          <p:nvPr/>
        </p:nvSpPr>
        <p:spPr>
          <a:xfrm>
            <a:off x="975360" y="4998720"/>
            <a:ext cx="10485120" cy="54864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Pick one item from the crate. Tell your partner: What does this item show about the West? What part of the West does it come from?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PATTERN CHART</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Patterns Across All Five Regions</a:t>
            </a:r>
            <a:endParaRPr lang="en-US" sz="3200" dirty="0"/>
          </a:p>
        </p:txBody>
      </p:sp>
      <p:sp>
        <p:nvSpPr>
          <p:cNvPr id="5" name="Shape 3"/>
          <p:cNvSpPr/>
          <p:nvPr/>
        </p:nvSpPr>
        <p:spPr>
          <a:xfrm>
            <a:off x="731520" y="1402080"/>
            <a:ext cx="2072640" cy="487680"/>
          </a:xfrm>
          <a:prstGeom prst="roundRect">
            <a:avLst>
              <a:gd name="adj" fmla="val 11250"/>
            </a:avLst>
          </a:prstGeom>
          <a:solidFill>
            <a:srgbClr val="8B6FC0"/>
          </a:solidFill>
          <a:ln/>
        </p:spPr>
      </p:sp>
      <p:sp>
        <p:nvSpPr>
          <p:cNvPr id="6" name="Text 4"/>
          <p:cNvSpPr/>
          <p:nvPr/>
        </p:nvSpPr>
        <p:spPr>
          <a:xfrm>
            <a:off x="731520" y="1402080"/>
            <a:ext cx="207264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Northeast</a:t>
            </a:r>
            <a:endParaRPr lang="en-US" sz="1200" dirty="0"/>
          </a:p>
        </p:txBody>
      </p:sp>
      <p:sp>
        <p:nvSpPr>
          <p:cNvPr id="7" name="Shape 5"/>
          <p:cNvSpPr/>
          <p:nvPr/>
        </p:nvSpPr>
        <p:spPr>
          <a:xfrm>
            <a:off x="2999232" y="1402080"/>
            <a:ext cx="2072640" cy="487680"/>
          </a:xfrm>
          <a:prstGeom prst="roundRect">
            <a:avLst>
              <a:gd name="adj" fmla="val 11250"/>
            </a:avLst>
          </a:prstGeom>
          <a:solidFill>
            <a:srgbClr val="E8636B"/>
          </a:solidFill>
          <a:ln/>
        </p:spPr>
      </p:sp>
      <p:sp>
        <p:nvSpPr>
          <p:cNvPr id="8" name="Text 6"/>
          <p:cNvSpPr/>
          <p:nvPr/>
        </p:nvSpPr>
        <p:spPr>
          <a:xfrm>
            <a:off x="2999232" y="1402080"/>
            <a:ext cx="207264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Southeast</a:t>
            </a:r>
            <a:endParaRPr lang="en-US" sz="1200" dirty="0"/>
          </a:p>
        </p:txBody>
      </p:sp>
      <p:sp>
        <p:nvSpPr>
          <p:cNvPr id="9" name="Shape 7"/>
          <p:cNvSpPr/>
          <p:nvPr/>
        </p:nvSpPr>
        <p:spPr>
          <a:xfrm>
            <a:off x="5266944" y="1402080"/>
            <a:ext cx="2072640" cy="487680"/>
          </a:xfrm>
          <a:prstGeom prst="roundRect">
            <a:avLst>
              <a:gd name="adj" fmla="val 11250"/>
            </a:avLst>
          </a:prstGeom>
          <a:solidFill>
            <a:srgbClr val="34B76F"/>
          </a:solidFill>
          <a:ln/>
        </p:spPr>
      </p:sp>
      <p:sp>
        <p:nvSpPr>
          <p:cNvPr id="10" name="Text 8"/>
          <p:cNvSpPr/>
          <p:nvPr/>
        </p:nvSpPr>
        <p:spPr>
          <a:xfrm>
            <a:off x="5266944" y="1402080"/>
            <a:ext cx="207264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Midwest</a:t>
            </a:r>
            <a:endParaRPr lang="en-US" sz="1200" dirty="0"/>
          </a:p>
        </p:txBody>
      </p:sp>
      <p:sp>
        <p:nvSpPr>
          <p:cNvPr id="11" name="Shape 9"/>
          <p:cNvSpPr/>
          <p:nvPr/>
        </p:nvSpPr>
        <p:spPr>
          <a:xfrm>
            <a:off x="7534656" y="1402080"/>
            <a:ext cx="2072640" cy="487680"/>
          </a:xfrm>
          <a:prstGeom prst="roundRect">
            <a:avLst>
              <a:gd name="adj" fmla="val 11250"/>
            </a:avLst>
          </a:prstGeom>
          <a:solidFill>
            <a:srgbClr val="D4943A"/>
          </a:solidFill>
          <a:ln/>
        </p:spPr>
      </p:sp>
      <p:sp>
        <p:nvSpPr>
          <p:cNvPr id="12" name="Text 10"/>
          <p:cNvSpPr/>
          <p:nvPr/>
        </p:nvSpPr>
        <p:spPr>
          <a:xfrm>
            <a:off x="7534656" y="1402080"/>
            <a:ext cx="207264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Southwest</a:t>
            </a:r>
            <a:endParaRPr lang="en-US" sz="1200" dirty="0"/>
          </a:p>
        </p:txBody>
      </p:sp>
      <p:sp>
        <p:nvSpPr>
          <p:cNvPr id="13" name="Shape 11"/>
          <p:cNvSpPr/>
          <p:nvPr/>
        </p:nvSpPr>
        <p:spPr>
          <a:xfrm>
            <a:off x="9802368" y="1402080"/>
            <a:ext cx="2072640" cy="487680"/>
          </a:xfrm>
          <a:prstGeom prst="roundRect">
            <a:avLst>
              <a:gd name="adj" fmla="val 11250"/>
            </a:avLst>
          </a:prstGeom>
          <a:solidFill>
            <a:srgbClr val="1A8A7D"/>
          </a:solidFill>
          <a:ln/>
        </p:spPr>
      </p:sp>
      <p:sp>
        <p:nvSpPr>
          <p:cNvPr id="14" name="Text 12"/>
          <p:cNvSpPr/>
          <p:nvPr/>
        </p:nvSpPr>
        <p:spPr>
          <a:xfrm>
            <a:off x="9802368" y="1402080"/>
            <a:ext cx="207264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West</a:t>
            </a:r>
            <a:endParaRPr lang="en-US" sz="1200" dirty="0"/>
          </a:p>
        </p:txBody>
      </p:sp>
      <p:sp>
        <p:nvSpPr>
          <p:cNvPr id="15" name="Shape 13"/>
          <p:cNvSpPr/>
          <p:nvPr/>
        </p:nvSpPr>
        <p:spPr>
          <a:xfrm>
            <a:off x="731520" y="2072640"/>
            <a:ext cx="2072640" cy="1950720"/>
          </a:xfrm>
          <a:prstGeom prst="roundRect">
            <a:avLst>
              <a:gd name="adj" fmla="val 5625"/>
            </a:avLst>
          </a:prstGeom>
          <a:solidFill>
            <a:srgbClr val="FFFFFF"/>
          </a:solidFill>
          <a:ln/>
          <a:effectLst>
            <a:outerShdw sx="100000" sy="100000" kx="0" ky="0" algn="bl" rotWithShape="0" blurRad="76200" dist="25400" dir="8100000">
              <a:srgbClr val="000000">
                <a:alpha val="12000"/>
              </a:srgbClr>
            </a:outerShdw>
          </a:effectLst>
        </p:spPr>
      </p:sp>
      <p:sp>
        <p:nvSpPr>
          <p:cNvPr id="16" name="Text 14"/>
          <p:cNvSpPr/>
          <p:nvPr/>
        </p:nvSpPr>
        <p:spPr>
          <a:xfrm>
            <a:off x="731520" y="2682240"/>
            <a:ext cx="2072640" cy="48768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(fill in together)</a:t>
            </a:r>
            <a:endParaRPr lang="en-US" sz="1000" dirty="0"/>
          </a:p>
        </p:txBody>
      </p:sp>
      <p:sp>
        <p:nvSpPr>
          <p:cNvPr id="17" name="Shape 15"/>
          <p:cNvSpPr/>
          <p:nvPr/>
        </p:nvSpPr>
        <p:spPr>
          <a:xfrm>
            <a:off x="2999232" y="2072640"/>
            <a:ext cx="2072640" cy="1950720"/>
          </a:xfrm>
          <a:prstGeom prst="roundRect">
            <a:avLst>
              <a:gd name="adj" fmla="val 5625"/>
            </a:avLst>
          </a:prstGeom>
          <a:solidFill>
            <a:srgbClr val="FFFFFF"/>
          </a:solidFill>
          <a:ln/>
          <a:effectLst>
            <a:outerShdw sx="100000" sy="100000" kx="0" ky="0" algn="bl" rotWithShape="0" blurRad="76200" dist="25400" dir="8100000">
              <a:srgbClr val="000000">
                <a:alpha val="12000"/>
              </a:srgbClr>
            </a:outerShdw>
          </a:effectLst>
        </p:spPr>
      </p:sp>
      <p:sp>
        <p:nvSpPr>
          <p:cNvPr id="18" name="Text 16"/>
          <p:cNvSpPr/>
          <p:nvPr/>
        </p:nvSpPr>
        <p:spPr>
          <a:xfrm>
            <a:off x="2999232" y="2682240"/>
            <a:ext cx="2072640" cy="48768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(fill in together)</a:t>
            </a:r>
            <a:endParaRPr lang="en-US" sz="1000" dirty="0"/>
          </a:p>
        </p:txBody>
      </p:sp>
      <p:sp>
        <p:nvSpPr>
          <p:cNvPr id="19" name="Shape 17"/>
          <p:cNvSpPr/>
          <p:nvPr/>
        </p:nvSpPr>
        <p:spPr>
          <a:xfrm>
            <a:off x="5266944" y="2072640"/>
            <a:ext cx="2072640" cy="1950720"/>
          </a:xfrm>
          <a:prstGeom prst="roundRect">
            <a:avLst>
              <a:gd name="adj" fmla="val 5625"/>
            </a:avLst>
          </a:prstGeom>
          <a:solidFill>
            <a:srgbClr val="FFFFFF"/>
          </a:solidFill>
          <a:ln/>
          <a:effectLst>
            <a:outerShdw sx="100000" sy="100000" kx="0" ky="0" algn="bl" rotWithShape="0" blurRad="76200" dist="25400" dir="8100000">
              <a:srgbClr val="000000">
                <a:alpha val="12000"/>
              </a:srgbClr>
            </a:outerShdw>
          </a:effectLst>
        </p:spPr>
      </p:sp>
      <p:sp>
        <p:nvSpPr>
          <p:cNvPr id="20" name="Text 18"/>
          <p:cNvSpPr/>
          <p:nvPr/>
        </p:nvSpPr>
        <p:spPr>
          <a:xfrm>
            <a:off x="5266944" y="2682240"/>
            <a:ext cx="2072640" cy="48768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(fill in together)</a:t>
            </a:r>
            <a:endParaRPr lang="en-US" sz="1000" dirty="0"/>
          </a:p>
        </p:txBody>
      </p:sp>
      <p:sp>
        <p:nvSpPr>
          <p:cNvPr id="21" name="Shape 19"/>
          <p:cNvSpPr/>
          <p:nvPr/>
        </p:nvSpPr>
        <p:spPr>
          <a:xfrm>
            <a:off x="7534656" y="2072640"/>
            <a:ext cx="2072640" cy="1950720"/>
          </a:xfrm>
          <a:prstGeom prst="roundRect">
            <a:avLst>
              <a:gd name="adj" fmla="val 5625"/>
            </a:avLst>
          </a:prstGeom>
          <a:solidFill>
            <a:srgbClr val="FFFFFF"/>
          </a:solidFill>
          <a:ln/>
          <a:effectLst>
            <a:outerShdw sx="100000" sy="100000" kx="0" ky="0" algn="bl" rotWithShape="0" blurRad="76200" dist="25400" dir="8100000">
              <a:srgbClr val="000000">
                <a:alpha val="12000"/>
              </a:srgbClr>
            </a:outerShdw>
          </a:effectLst>
        </p:spPr>
      </p:sp>
      <p:sp>
        <p:nvSpPr>
          <p:cNvPr id="22" name="Text 20"/>
          <p:cNvSpPr/>
          <p:nvPr/>
        </p:nvSpPr>
        <p:spPr>
          <a:xfrm>
            <a:off x="7534656" y="2682240"/>
            <a:ext cx="2072640" cy="48768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(fill in together)</a:t>
            </a:r>
            <a:endParaRPr lang="en-US" sz="1000" dirty="0"/>
          </a:p>
        </p:txBody>
      </p:sp>
      <p:sp>
        <p:nvSpPr>
          <p:cNvPr id="23" name="Shape 21"/>
          <p:cNvSpPr/>
          <p:nvPr/>
        </p:nvSpPr>
        <p:spPr>
          <a:xfrm>
            <a:off x="9802368" y="2072640"/>
            <a:ext cx="2072640" cy="1950720"/>
          </a:xfrm>
          <a:prstGeom prst="roundRect">
            <a:avLst>
              <a:gd name="adj" fmla="val 5625"/>
            </a:avLst>
          </a:prstGeom>
          <a:solidFill>
            <a:srgbClr val="FFFFFF"/>
          </a:solidFill>
          <a:ln/>
          <a:effectLst>
            <a:outerShdw sx="100000" sy="100000" kx="0" ky="0" algn="bl" rotWithShape="0" blurRad="76200" dist="25400" dir="8100000">
              <a:srgbClr val="000000">
                <a:alpha val="12000"/>
              </a:srgbClr>
            </a:outerShdw>
          </a:effectLst>
        </p:spPr>
      </p:sp>
      <p:sp>
        <p:nvSpPr>
          <p:cNvPr id="24" name="Text 22"/>
          <p:cNvSpPr/>
          <p:nvPr/>
        </p:nvSpPr>
        <p:spPr>
          <a:xfrm>
            <a:off x="9802368" y="2682240"/>
            <a:ext cx="2072640" cy="487680"/>
          </a:xfrm>
          <a:prstGeom prst="rect">
            <a:avLst/>
          </a:prstGeom>
          <a:noFill/>
          <a:ln/>
        </p:spPr>
        <p:txBody>
          <a:bodyPr wrap="square" lIns="0" tIns="0" rIns="0" bIns="0"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(fill in together)</a:t>
            </a:r>
            <a:endParaRPr lang="en-US" sz="1000" dirty="0"/>
          </a:p>
        </p:txBody>
      </p:sp>
      <p:sp>
        <p:nvSpPr>
          <p:cNvPr id="25" name="Shape 23"/>
          <p:cNvSpPr/>
          <p:nvPr/>
        </p:nvSpPr>
        <p:spPr>
          <a:xfrm>
            <a:off x="731520" y="4389120"/>
            <a:ext cx="10972800" cy="1950720"/>
          </a:xfrm>
          <a:prstGeom prst="roundRect">
            <a:avLst>
              <a:gd name="adj" fmla="val 5625"/>
            </a:avLst>
          </a:prstGeom>
          <a:solidFill>
            <a:srgbClr val="FFF8F0"/>
          </a:solidFill>
          <a:ln/>
          <a:effectLst>
            <a:outerShdw sx="100000" sy="100000" kx="0" ky="0" algn="bl" rotWithShape="0" blurRad="76200" dist="25400" dir="8100000">
              <a:srgbClr val="000000">
                <a:alpha val="12000"/>
              </a:srgbClr>
            </a:outerShdw>
          </a:effectLst>
        </p:spPr>
      </p:sp>
      <p:sp>
        <p:nvSpPr>
          <p:cNvPr id="26" name="Text 24"/>
          <p:cNvSpPr/>
          <p:nvPr/>
        </p:nvSpPr>
        <p:spPr>
          <a:xfrm>
            <a:off x="975360" y="4511040"/>
            <a:ext cx="3657600" cy="42672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Discussion Prompts</a:t>
            </a:r>
            <a:endParaRPr lang="en-US" sz="1600" dirty="0"/>
          </a:p>
        </p:txBody>
      </p:sp>
      <p:sp>
        <p:nvSpPr>
          <p:cNvPr id="27" name="Text 25"/>
          <p:cNvSpPr/>
          <p:nvPr/>
        </p:nvSpPr>
        <p:spPr>
          <a:xfrm>
            <a:off x="975360" y="4998720"/>
            <a:ext cx="10485120" cy="1219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What is ONE pattern you see across all five regions?</a:t>
            </a:r>
            <a:endParaRPr lang="en-US" sz="1400" dirty="0"/>
          </a:p>
          <a:p>
            <a:pPr indent="0" marL="0">
              <a:spcAft>
                <a:spcPts val="600"/>
              </a:spcAft>
              <a:buNone/>
            </a:pPr>
            <a:r>
              <a:rPr lang="en-US" sz="1300" i="1" dirty="0">
                <a:solidFill>
                  <a:srgbClr val="7A88A8"/>
                </a:solidFill>
                <a:latin typeface="Calibri" pitchFamily="34" charset="0"/>
                <a:ea typeface="Calibri" pitchFamily="34" charset="-122"/>
                <a:cs typeface="Calibri" pitchFamily="34" charset="-120"/>
              </a:rPr>
              <a:t>Example: Every region has water (ocean, rivers, lakes, Gulf).</a:t>
            </a:r>
            <a:endParaRPr lang="en-US" sz="1400" dirty="0"/>
          </a:p>
          <a:p>
            <a:pPr marL="342900" indent="-342900">
              <a:spcAft>
                <a:spcPts val="600"/>
              </a:spcAft>
              <a:buSzPct val="100000"/>
              <a:buChar char="•"/>
            </a:pPr>
            <a:r>
              <a:rPr lang="en-US" sz="1400" dirty="0">
                <a:solidFill>
                  <a:srgbClr val="0E1C42"/>
                </a:solidFill>
                <a:latin typeface="Calibri" pitchFamily="34" charset="0"/>
                <a:ea typeface="Calibri" pitchFamily="34" charset="-122"/>
                <a:cs typeface="Calibri" pitchFamily="34" charset="-120"/>
              </a:rPr>
              <a:t>What is ONE big difference between the regions?</a:t>
            </a:r>
            <a:endParaRPr lang="en-US" sz="1400" dirty="0"/>
          </a:p>
          <a:p>
            <a:pPr indent="0" marL="0">
              <a:buNone/>
            </a:pPr>
            <a:r>
              <a:rPr lang="en-US" sz="1300" i="1" dirty="0">
                <a:solidFill>
                  <a:srgbClr val="7A88A8"/>
                </a:solidFill>
                <a:latin typeface="Calibri" pitchFamily="34" charset="0"/>
                <a:ea typeface="Calibri" pitchFamily="34" charset="-122"/>
                <a:cs typeface="Calibri" pitchFamily="34" charset="-120"/>
              </a:rPr>
              <a:t>Example: Climate varies — tropical in Hawaii, frozen in Alaska, mild in Southeast.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THEN AND NOW</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Pacific Northwest Cedar Carving</a:t>
            </a:r>
            <a:endParaRPr lang="en-US" sz="3200" dirty="0"/>
          </a:p>
        </p:txBody>
      </p:sp>
      <p:sp>
        <p:nvSpPr>
          <p:cNvPr id="5" name="Shape 3"/>
          <p:cNvSpPr/>
          <p:nvPr/>
        </p:nvSpPr>
        <p:spPr>
          <a:xfrm>
            <a:off x="731520" y="1341120"/>
            <a:ext cx="5242560" cy="3901440"/>
          </a:xfrm>
          <a:prstGeom prst="roundRect">
            <a:avLst>
              <a:gd name="adj" fmla="val 2813"/>
            </a:avLst>
          </a:prstGeom>
          <a:solidFill>
            <a:srgbClr val="FFF3DC"/>
          </a:solidFill>
          <a:ln/>
          <a:effectLst>
            <a:outerShdw sx="100000" sy="100000" kx="0" ky="0" algn="bl" rotWithShape="0" blurRad="76200" dist="25400" dir="8100000">
              <a:srgbClr val="000000">
                <a:alpha val="12000"/>
              </a:srgbClr>
            </a:outerShdw>
          </a:effectLst>
        </p:spPr>
      </p:sp>
      <p:sp>
        <p:nvSpPr>
          <p:cNvPr id="6" name="Text 4"/>
          <p:cNvSpPr/>
          <p:nvPr/>
        </p:nvSpPr>
        <p:spPr>
          <a:xfrm>
            <a:off x="975360" y="1463040"/>
            <a:ext cx="1828800" cy="426720"/>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THEN</a:t>
            </a:r>
            <a:endParaRPr lang="en-US" sz="1600" dirty="0"/>
          </a:p>
        </p:txBody>
      </p:sp>
      <p:sp>
        <p:nvSpPr>
          <p:cNvPr id="7" name="Shape 5"/>
          <p:cNvSpPr/>
          <p:nvPr/>
        </p:nvSpPr>
        <p:spPr>
          <a:xfrm>
            <a:off x="975360" y="2011680"/>
            <a:ext cx="4754880" cy="2194560"/>
          </a:xfrm>
          <a:prstGeom prst="roundRect">
            <a:avLst>
              <a:gd name="adj" fmla="val 5000"/>
            </a:avLst>
          </a:prstGeom>
          <a:solidFill>
            <a:srgbClr val="E2E8F4"/>
          </a:solidFill>
          <a:ln w="19050">
            <a:solidFill>
              <a:srgbClr val="B0B8CC"/>
            </a:solidFill>
            <a:prstDash val="dash"/>
          </a:ln>
        </p:spPr>
      </p:sp>
      <p:sp>
        <p:nvSpPr>
          <p:cNvPr id="8" name="Text 6"/>
          <p:cNvSpPr/>
          <p:nvPr/>
        </p:nvSpPr>
        <p:spPr>
          <a:xfrm>
            <a:off x="975360" y="2011680"/>
            <a:ext cx="47548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1158240" y="2377440"/>
            <a:ext cx="4389120" cy="1737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photo or illustration</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of traditional Pacific NW</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cedar totem pole carving</a:t>
            </a:r>
            <a:endParaRPr lang="en-US" sz="1100" dirty="0"/>
          </a:p>
        </p:txBody>
      </p:sp>
      <p:sp>
        <p:nvSpPr>
          <p:cNvPr id="10" name="Text 8"/>
          <p:cNvSpPr/>
          <p:nvPr/>
        </p:nvSpPr>
        <p:spPr>
          <a:xfrm>
            <a:off x="975360" y="4328160"/>
            <a:ext cx="4754880" cy="7315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Native nations like the Tlingit carved cedar into totem poles and canoes for centuries — each carving told a story.</a:t>
            </a:r>
            <a:endParaRPr lang="en-US" sz="1200" dirty="0"/>
          </a:p>
        </p:txBody>
      </p:sp>
      <p:sp>
        <p:nvSpPr>
          <p:cNvPr id="11" name="Shape 9"/>
          <p:cNvSpPr/>
          <p:nvPr/>
        </p:nvSpPr>
        <p:spPr>
          <a:xfrm>
            <a:off x="6461760" y="1341120"/>
            <a:ext cx="5242560" cy="3901440"/>
          </a:xfrm>
          <a:prstGeom prst="roundRect">
            <a:avLst>
              <a:gd name="adj" fmla="val 2813"/>
            </a:avLst>
          </a:prstGeom>
          <a:solidFill>
            <a:srgbClr val="EAF8FD"/>
          </a:solidFill>
          <a:ln/>
          <a:effectLst>
            <a:outerShdw sx="100000" sy="100000" kx="0" ky="0" algn="bl" rotWithShape="0" blurRad="76200" dist="25400" dir="8100000">
              <a:srgbClr val="000000">
                <a:alpha val="12000"/>
              </a:srgbClr>
            </a:outerShdw>
          </a:effectLst>
        </p:spPr>
      </p:sp>
      <p:sp>
        <p:nvSpPr>
          <p:cNvPr id="12" name="Text 10"/>
          <p:cNvSpPr/>
          <p:nvPr/>
        </p:nvSpPr>
        <p:spPr>
          <a:xfrm>
            <a:off x="6705600" y="1463040"/>
            <a:ext cx="1828800" cy="426720"/>
          </a:xfrm>
          <a:prstGeom prst="rect">
            <a:avLst/>
          </a:prstGeom>
          <a:noFill/>
          <a:ln/>
        </p:spPr>
        <p:txBody>
          <a:bodyPr wrap="square" lIns="0" tIns="0" rIns="0" bIns="0" rtlCol="0" anchor="ctr"/>
          <a:lstStyle/>
          <a:p>
            <a:pPr indent="0" marL="0">
              <a:buNone/>
            </a:pPr>
            <a:r>
              <a:rPr lang="en-US" sz="1600" b="1" dirty="0">
                <a:solidFill>
                  <a:srgbClr val="1A8A7D"/>
                </a:solidFill>
                <a:latin typeface="Cambria" pitchFamily="34" charset="0"/>
                <a:ea typeface="Cambria" pitchFamily="34" charset="-122"/>
                <a:cs typeface="Cambria" pitchFamily="34" charset="-120"/>
              </a:rPr>
              <a:t>NOW</a:t>
            </a:r>
            <a:endParaRPr lang="en-US" sz="1600" dirty="0"/>
          </a:p>
        </p:txBody>
      </p:sp>
      <p:sp>
        <p:nvSpPr>
          <p:cNvPr id="13" name="Shape 11"/>
          <p:cNvSpPr/>
          <p:nvPr/>
        </p:nvSpPr>
        <p:spPr>
          <a:xfrm>
            <a:off x="6705600" y="2011680"/>
            <a:ext cx="4754880" cy="2194560"/>
          </a:xfrm>
          <a:prstGeom prst="roundRect">
            <a:avLst>
              <a:gd name="adj" fmla="val 5000"/>
            </a:avLst>
          </a:prstGeom>
          <a:solidFill>
            <a:srgbClr val="E2E8F4"/>
          </a:solidFill>
          <a:ln w="19050">
            <a:solidFill>
              <a:srgbClr val="B0B8CC"/>
            </a:solidFill>
            <a:prstDash val="dash"/>
          </a:ln>
        </p:spPr>
      </p:sp>
      <p:sp>
        <p:nvSpPr>
          <p:cNvPr id="14" name="Text 12"/>
          <p:cNvSpPr/>
          <p:nvPr/>
        </p:nvSpPr>
        <p:spPr>
          <a:xfrm>
            <a:off x="6705600" y="2011680"/>
            <a:ext cx="47548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6888480" y="2377440"/>
            <a:ext cx="4389120" cy="1737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photo of contemporary</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Native cedar carver at work</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or a recently carved totem pole</a:t>
            </a:r>
            <a:endParaRPr lang="en-US" sz="1100" dirty="0"/>
          </a:p>
        </p:txBody>
      </p:sp>
      <p:sp>
        <p:nvSpPr>
          <p:cNvPr id="16" name="Text 14"/>
          <p:cNvSpPr/>
          <p:nvPr/>
        </p:nvSpPr>
        <p:spPr>
          <a:xfrm>
            <a:off x="6705600" y="4328160"/>
            <a:ext cx="4754880" cy="7315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Today, Native artists still carve cedar — keeping their traditions alive while creating new works for museums and communities.</a:t>
            </a:r>
            <a:endParaRPr lang="en-US" sz="1200" dirty="0"/>
          </a:p>
        </p:txBody>
      </p:sp>
      <p:sp>
        <p:nvSpPr>
          <p:cNvPr id="17" name="Shape 15"/>
          <p:cNvSpPr/>
          <p:nvPr/>
        </p:nvSpPr>
        <p:spPr>
          <a:xfrm>
            <a:off x="731520" y="5547360"/>
            <a:ext cx="10972800" cy="1036320"/>
          </a:xfrm>
          <a:prstGeom prst="roundRect">
            <a:avLst>
              <a:gd name="adj" fmla="val 13235"/>
            </a:avLst>
          </a:prstGeom>
          <a:solidFill>
            <a:srgbClr val="1A2D5A"/>
          </a:solidFill>
          <a:ln/>
          <a:effectLst>
            <a:outerShdw sx="100000" sy="100000" kx="0" ky="0" algn="bl" rotWithShape="0" blurRad="101600" dist="38100" dir="8100000">
              <a:srgbClr val="000000">
                <a:alpha val="20000"/>
              </a:srgbClr>
            </a:outerShdw>
          </a:effectLst>
        </p:spPr>
      </p:sp>
      <p:sp>
        <p:nvSpPr>
          <p:cNvPr id="18" name="Text 16"/>
          <p:cNvSpPr/>
          <p:nvPr/>
        </p:nvSpPr>
        <p:spPr>
          <a:xfrm>
            <a:off x="914400" y="563880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9" name="Text 17"/>
          <p:cNvSpPr/>
          <p:nvPr/>
        </p:nvSpPr>
        <p:spPr>
          <a:xfrm>
            <a:off x="914400" y="5894832"/>
            <a:ext cx="10607040" cy="5974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cedar carving from then to 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it important that Native artists still practice this craft?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courtesy help us talk about other peoples' traditions?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EXHIBIT LABEL</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The Big Picture: The West</a:t>
            </a:r>
            <a:endParaRPr lang="en-US" sz="3200" dirty="0"/>
          </a:p>
        </p:txBody>
      </p:sp>
      <p:sp>
        <p:nvSpPr>
          <p:cNvPr id="5" name="Shape 3"/>
          <p:cNvSpPr/>
          <p:nvPr/>
        </p:nvSpPr>
        <p:spPr>
          <a:xfrm>
            <a:off x="731520" y="1341120"/>
            <a:ext cx="10972800" cy="1828800"/>
          </a:xfrm>
          <a:prstGeom prst="roundRect">
            <a:avLst>
              <a:gd name="adj" fmla="val 6000"/>
            </a:avLst>
          </a:prstGeom>
          <a:solidFill>
            <a:srgbClr val="1A2D5A"/>
          </a:solidFill>
          <a:ln/>
          <a:effectLst>
            <a:outerShdw sx="100000" sy="100000" kx="0" ky="0" algn="bl" rotWithShape="0" blurRad="76200" dist="25400" dir="8100000">
              <a:srgbClr val="000000">
                <a:alpha val="12000"/>
              </a:srgbClr>
            </a:outerShdw>
          </a:effectLst>
        </p:spPr>
      </p:sp>
      <p:sp>
        <p:nvSpPr>
          <p:cNvPr id="6" name="Text 4"/>
          <p:cNvSpPr/>
          <p:nvPr/>
        </p:nvSpPr>
        <p:spPr>
          <a:xfrm>
            <a:off x="975360" y="1463040"/>
            <a:ext cx="10485120" cy="85344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The West is the biggest and most varied region in the United States. It stretches from the Rocky Mountains to the Pacific Ocean — and includes Alaska and Hawaii.</a:t>
            </a:r>
            <a:endParaRPr lang="en-US" sz="1600" dirty="0"/>
          </a:p>
        </p:txBody>
      </p:sp>
      <p:sp>
        <p:nvSpPr>
          <p:cNvPr id="7" name="Text 5"/>
          <p:cNvSpPr/>
          <p:nvPr/>
        </p:nvSpPr>
        <p:spPr>
          <a:xfrm>
            <a:off x="975360" y="2316480"/>
            <a:ext cx="10485120" cy="792480"/>
          </a:xfrm>
          <a:prstGeom prst="rect">
            <a:avLst/>
          </a:prstGeom>
          <a:noFill/>
          <a:ln/>
        </p:spPr>
        <p:txBody>
          <a:bodyPr wrap="square" lIns="0" tIns="0" rIns="0" bIns="0" rtlCol="0" anchor="ctr"/>
          <a:lstStyle/>
          <a:p>
            <a:pPr indent="0" marL="0">
              <a:lnSpc>
                <a:spcPct val="130000"/>
              </a:lnSpc>
              <a:buNone/>
            </a:pPr>
            <a:r>
              <a:rPr lang="en-US" sz="1400" dirty="0">
                <a:solidFill>
                  <a:srgbClr val="55C8E8"/>
                </a:solidFill>
                <a:latin typeface="Calibri" pitchFamily="34" charset="0"/>
                <a:ea typeface="Calibri" pitchFamily="34" charset="-122"/>
                <a:cs typeface="Calibri" pitchFamily="34" charset="-120"/>
              </a:rPr>
              <a:t>Mountains, deserts, volcanoes, tundra, redwood forests, and tropical islands all belong to the West. Its peoples — from Native nations to communities from around the world — make it one of the most diverse places on Earth.</a:t>
            </a:r>
            <a:endParaRPr lang="en-US" sz="1400" dirty="0"/>
          </a:p>
        </p:txBody>
      </p:sp>
      <p:sp>
        <p:nvSpPr>
          <p:cNvPr id="8" name="Shape 6"/>
          <p:cNvSpPr/>
          <p:nvPr/>
        </p:nvSpPr>
        <p:spPr>
          <a:xfrm>
            <a:off x="975360" y="3657600"/>
            <a:ext cx="853440" cy="853440"/>
          </a:xfrm>
          <a:prstGeom prst="ellipse">
            <a:avLst/>
          </a:prstGeom>
          <a:solidFill>
            <a:srgbClr val="1A8A7D"/>
          </a:solidFill>
          <a:ln/>
        </p:spPr>
      </p:sp>
      <p:sp>
        <p:nvSpPr>
          <p:cNvPr id="9" name="Text 7"/>
          <p:cNvSpPr/>
          <p:nvPr/>
        </p:nvSpPr>
        <p:spPr>
          <a:xfrm>
            <a:off x="609600" y="4572000"/>
            <a:ext cx="1584960" cy="60960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Rocky Mtns</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to Pacific</a:t>
            </a:r>
            <a:endParaRPr lang="en-US" sz="1100" dirty="0"/>
          </a:p>
        </p:txBody>
      </p:sp>
      <p:sp>
        <p:nvSpPr>
          <p:cNvPr id="10" name="Shape 8"/>
          <p:cNvSpPr/>
          <p:nvPr/>
        </p:nvSpPr>
        <p:spPr>
          <a:xfrm>
            <a:off x="3230880" y="3657600"/>
            <a:ext cx="853440" cy="853440"/>
          </a:xfrm>
          <a:prstGeom prst="ellipse">
            <a:avLst/>
          </a:prstGeom>
          <a:solidFill>
            <a:srgbClr val="8B6FC0"/>
          </a:solidFill>
          <a:ln/>
        </p:spPr>
      </p:sp>
      <p:sp>
        <p:nvSpPr>
          <p:cNvPr id="11" name="Text 9"/>
          <p:cNvSpPr/>
          <p:nvPr/>
        </p:nvSpPr>
        <p:spPr>
          <a:xfrm>
            <a:off x="2865120" y="4572000"/>
            <a:ext cx="1584960" cy="60960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Alaska &amp;</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Hawaii</a:t>
            </a:r>
            <a:endParaRPr lang="en-US" sz="1100" dirty="0"/>
          </a:p>
        </p:txBody>
      </p:sp>
      <p:sp>
        <p:nvSpPr>
          <p:cNvPr id="12" name="Shape 10"/>
          <p:cNvSpPr/>
          <p:nvPr/>
        </p:nvSpPr>
        <p:spPr>
          <a:xfrm>
            <a:off x="5486400" y="3657600"/>
            <a:ext cx="853440" cy="853440"/>
          </a:xfrm>
          <a:prstGeom prst="ellipse">
            <a:avLst/>
          </a:prstGeom>
          <a:solidFill>
            <a:srgbClr val="34B76F"/>
          </a:solidFill>
          <a:ln/>
        </p:spPr>
      </p:sp>
      <p:sp>
        <p:nvSpPr>
          <p:cNvPr id="13" name="Text 11"/>
          <p:cNvSpPr/>
          <p:nvPr/>
        </p:nvSpPr>
        <p:spPr>
          <a:xfrm>
            <a:off x="5120640" y="4572000"/>
            <a:ext cx="1584960" cy="60960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Most Varied</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Climate</a:t>
            </a:r>
            <a:endParaRPr lang="en-US" sz="1100" dirty="0"/>
          </a:p>
        </p:txBody>
      </p:sp>
      <p:sp>
        <p:nvSpPr>
          <p:cNvPr id="14" name="Shape 12"/>
          <p:cNvSpPr/>
          <p:nvPr/>
        </p:nvSpPr>
        <p:spPr>
          <a:xfrm>
            <a:off x="7741920" y="3657600"/>
            <a:ext cx="853440" cy="853440"/>
          </a:xfrm>
          <a:prstGeom prst="ellipse">
            <a:avLst/>
          </a:prstGeom>
          <a:solidFill>
            <a:srgbClr val="D4943A"/>
          </a:solidFill>
          <a:ln/>
        </p:spPr>
      </p:sp>
      <p:sp>
        <p:nvSpPr>
          <p:cNvPr id="15" name="Text 13"/>
          <p:cNvSpPr/>
          <p:nvPr/>
        </p:nvSpPr>
        <p:spPr>
          <a:xfrm>
            <a:off x="7376160" y="4572000"/>
            <a:ext cx="1584960" cy="60960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Diverse</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Peoples</a:t>
            </a:r>
            <a:endParaRPr lang="en-US" sz="1100" dirty="0"/>
          </a:p>
        </p:txBody>
      </p:sp>
      <p:sp>
        <p:nvSpPr>
          <p:cNvPr id="16" name="Shape 14"/>
          <p:cNvSpPr/>
          <p:nvPr/>
        </p:nvSpPr>
        <p:spPr>
          <a:xfrm>
            <a:off x="9997440" y="3657600"/>
            <a:ext cx="853440" cy="853440"/>
          </a:xfrm>
          <a:prstGeom prst="ellipse">
            <a:avLst/>
          </a:prstGeom>
          <a:solidFill>
            <a:srgbClr val="E8636B"/>
          </a:solidFill>
          <a:ln/>
        </p:spPr>
      </p:sp>
      <p:sp>
        <p:nvSpPr>
          <p:cNvPr id="17" name="Text 15"/>
          <p:cNvSpPr/>
          <p:nvPr/>
        </p:nvSpPr>
        <p:spPr>
          <a:xfrm>
            <a:off x="9631680" y="4572000"/>
            <a:ext cx="1584960" cy="60960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Biggest</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Region</a:t>
            </a:r>
            <a:endParaRPr lang="en-US" sz="1100" dirty="0"/>
          </a:p>
        </p:txBody>
      </p:sp>
      <p:sp>
        <p:nvSpPr>
          <p:cNvPr id="18" name="Shape 16"/>
          <p:cNvSpPr/>
          <p:nvPr/>
        </p:nvSpPr>
        <p:spPr>
          <a:xfrm>
            <a:off x="731520" y="5364480"/>
            <a:ext cx="10972800" cy="1097280"/>
          </a:xfrm>
          <a:prstGeom prst="roundRect">
            <a:avLst>
              <a:gd name="adj" fmla="val 10000"/>
            </a:avLst>
          </a:prstGeom>
          <a:solidFill>
            <a:srgbClr val="FFF3DC"/>
          </a:solidFill>
          <a:ln w="19050">
            <a:solidFill>
              <a:srgbClr val="F5E6C8"/>
            </a:solidFill>
            <a:prstDash val="solid"/>
          </a:ln>
        </p:spPr>
      </p:sp>
      <p:sp>
        <p:nvSpPr>
          <p:cNvPr id="19" name="Text 17"/>
          <p:cNvSpPr/>
          <p:nvPr/>
        </p:nvSpPr>
        <p:spPr>
          <a:xfrm>
            <a:off x="868680" y="5419344"/>
            <a:ext cx="10698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868680" y="5620512"/>
            <a:ext cx="106984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"Now you know all five regions of the United States!"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West completes your museum collection."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"Time to write your final exhibit label."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SELF-CHECK</a:t>
            </a:r>
            <a:endParaRPr lang="en-US" sz="900" dirty="0"/>
          </a:p>
        </p:txBody>
      </p:sp>
      <p:sp>
        <p:nvSpPr>
          <p:cNvPr id="4" name="Text 2"/>
          <p:cNvSpPr/>
          <p:nvPr/>
        </p:nvSpPr>
        <p:spPr>
          <a:xfrm>
            <a:off x="731520" y="853440"/>
            <a:ext cx="1072896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Question 1</a:t>
            </a:r>
            <a:endParaRPr lang="en-US" sz="2800" dirty="0"/>
          </a:p>
        </p:txBody>
      </p:sp>
      <p:sp>
        <p:nvSpPr>
          <p:cNvPr id="5" name="Text 3"/>
          <p:cNvSpPr/>
          <p:nvPr/>
        </p:nvSpPr>
        <p:spPr>
          <a:xfrm>
            <a:off x="731520" y="1463040"/>
            <a:ext cx="10728960" cy="609600"/>
          </a:xfrm>
          <a:prstGeom prst="rect">
            <a:avLst/>
          </a:prstGeom>
          <a:noFill/>
          <a:ln/>
        </p:spPr>
        <p:txBody>
          <a:bodyPr wrap="square" lIns="0" tIns="0" rIns="0" bIns="0" rtlCol="0" anchor="ctr"/>
          <a:lstStyle/>
          <a:p>
            <a:pPr indent="0" marL="0">
              <a:buNone/>
            </a:pPr>
            <a:r>
              <a:rPr lang="en-US" sz="1600" dirty="0">
                <a:solidFill>
                  <a:srgbClr val="0E1C42"/>
                </a:solidFill>
                <a:latin typeface="Calibri" pitchFamily="34" charset="0"/>
                <a:ea typeface="Calibri" pitchFamily="34" charset="-122"/>
                <a:cs typeface="Calibri" pitchFamily="34" charset="-120"/>
              </a:rPr>
              <a:t>Which ocean borders the West region?</a:t>
            </a:r>
            <a:endParaRPr lang="en-US" sz="1600" dirty="0"/>
          </a:p>
        </p:txBody>
      </p:sp>
      <p:sp>
        <p:nvSpPr>
          <p:cNvPr id="6" name="Shape 4"/>
          <p:cNvSpPr/>
          <p:nvPr/>
        </p:nvSpPr>
        <p:spPr>
          <a:xfrm>
            <a:off x="975360" y="231648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1219200" y="2414016"/>
            <a:ext cx="438912" cy="438912"/>
          </a:xfrm>
          <a:prstGeom prst="ellipse">
            <a:avLst/>
          </a:prstGeom>
          <a:solidFill>
            <a:srgbClr val="7A88A8"/>
          </a:solidFill>
          <a:ln/>
        </p:spPr>
      </p:sp>
      <p:sp>
        <p:nvSpPr>
          <p:cNvPr id="8" name="Text 6"/>
          <p:cNvSpPr/>
          <p:nvPr/>
        </p:nvSpPr>
        <p:spPr>
          <a:xfrm>
            <a:off x="1219200" y="2414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889760" y="231648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Atlantic Ocean</a:t>
            </a:r>
            <a:endParaRPr lang="en-US" sz="1500" dirty="0"/>
          </a:p>
        </p:txBody>
      </p:sp>
      <p:sp>
        <p:nvSpPr>
          <p:cNvPr id="10" name="Shape 8"/>
          <p:cNvSpPr/>
          <p:nvPr/>
        </p:nvSpPr>
        <p:spPr>
          <a:xfrm>
            <a:off x="975360" y="3108960"/>
            <a:ext cx="9997440" cy="633984"/>
          </a:xfrm>
          <a:prstGeom prst="roundRect">
            <a:avLst>
              <a:gd name="adj" fmla="val 17308"/>
            </a:avLst>
          </a:prstGeom>
          <a:solidFill>
            <a:srgbClr val="E3F8ED"/>
          </a:solidFill>
          <a:ln/>
          <a:effectLst>
            <a:outerShdw sx="100000" sy="100000" kx="0" ky="0" algn="bl" rotWithShape="0" blurRad="76200" dist="25400" dir="8100000">
              <a:srgbClr val="000000">
                <a:alpha val="12000"/>
              </a:srgbClr>
            </a:outerShdw>
          </a:effectLst>
        </p:spPr>
      </p:sp>
      <p:sp>
        <p:nvSpPr>
          <p:cNvPr id="11" name="Shape 9"/>
          <p:cNvSpPr/>
          <p:nvPr/>
        </p:nvSpPr>
        <p:spPr>
          <a:xfrm>
            <a:off x="1219200" y="3206496"/>
            <a:ext cx="438912" cy="438912"/>
          </a:xfrm>
          <a:prstGeom prst="ellipse">
            <a:avLst/>
          </a:prstGeom>
          <a:solidFill>
            <a:srgbClr val="34B76F"/>
          </a:solidFill>
          <a:ln/>
        </p:spPr>
      </p:sp>
      <p:sp>
        <p:nvSpPr>
          <p:cNvPr id="12" name="Text 10"/>
          <p:cNvSpPr/>
          <p:nvPr/>
        </p:nvSpPr>
        <p:spPr>
          <a:xfrm>
            <a:off x="1219200" y="320649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1889760" y="310896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Pacific Ocean</a:t>
            </a:r>
            <a:endParaRPr lang="en-US" sz="1500" dirty="0"/>
          </a:p>
        </p:txBody>
      </p:sp>
      <p:sp>
        <p:nvSpPr>
          <p:cNvPr id="14" name="Shape 12"/>
          <p:cNvSpPr/>
          <p:nvPr/>
        </p:nvSpPr>
        <p:spPr>
          <a:xfrm>
            <a:off x="975360" y="390144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1219200" y="3998976"/>
            <a:ext cx="438912" cy="438912"/>
          </a:xfrm>
          <a:prstGeom prst="ellipse">
            <a:avLst/>
          </a:prstGeom>
          <a:solidFill>
            <a:srgbClr val="7A88A8"/>
          </a:solidFill>
          <a:ln/>
        </p:spPr>
      </p:sp>
      <p:sp>
        <p:nvSpPr>
          <p:cNvPr id="16" name="Text 14"/>
          <p:cNvSpPr/>
          <p:nvPr/>
        </p:nvSpPr>
        <p:spPr>
          <a:xfrm>
            <a:off x="1219200" y="39989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889760" y="390144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Arctic Ocean</a:t>
            </a:r>
            <a:endParaRPr lang="en-US" sz="1500" dirty="0"/>
          </a:p>
        </p:txBody>
      </p:sp>
      <p:sp>
        <p:nvSpPr>
          <p:cNvPr id="18" name="Shape 16"/>
          <p:cNvSpPr/>
          <p:nvPr/>
        </p:nvSpPr>
        <p:spPr>
          <a:xfrm>
            <a:off x="975360" y="469392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1219200" y="4791456"/>
            <a:ext cx="438912" cy="438912"/>
          </a:xfrm>
          <a:prstGeom prst="ellipse">
            <a:avLst/>
          </a:prstGeom>
          <a:solidFill>
            <a:srgbClr val="7A88A8"/>
          </a:solidFill>
          <a:ln/>
        </p:spPr>
      </p:sp>
      <p:sp>
        <p:nvSpPr>
          <p:cNvPr id="20" name="Text 18"/>
          <p:cNvSpPr/>
          <p:nvPr/>
        </p:nvSpPr>
        <p:spPr>
          <a:xfrm>
            <a:off x="1219200" y="479145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1889760" y="469392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Gulf of Mexico</a:t>
            </a:r>
            <a:endParaRPr lang="en-US" sz="1500" dirty="0"/>
          </a:p>
        </p:txBody>
      </p:sp>
      <p:sp>
        <p:nvSpPr>
          <p:cNvPr id="22" name="Text 20"/>
          <p:cNvSpPr/>
          <p:nvPr/>
        </p:nvSpPr>
        <p:spPr>
          <a:xfrm>
            <a:off x="731520" y="5852160"/>
            <a:ext cx="365760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Click to reveal answer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SELF-CHECK</a:t>
            </a:r>
            <a:endParaRPr lang="en-US" sz="900" dirty="0"/>
          </a:p>
        </p:txBody>
      </p:sp>
      <p:sp>
        <p:nvSpPr>
          <p:cNvPr id="4" name="Text 2"/>
          <p:cNvSpPr/>
          <p:nvPr/>
        </p:nvSpPr>
        <p:spPr>
          <a:xfrm>
            <a:off x="731520" y="853440"/>
            <a:ext cx="1072896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Question 2</a:t>
            </a:r>
            <a:endParaRPr lang="en-US" sz="2800" dirty="0"/>
          </a:p>
        </p:txBody>
      </p:sp>
      <p:sp>
        <p:nvSpPr>
          <p:cNvPr id="5" name="Text 3"/>
          <p:cNvSpPr/>
          <p:nvPr/>
        </p:nvSpPr>
        <p:spPr>
          <a:xfrm>
            <a:off x="731520" y="1463040"/>
            <a:ext cx="10728960" cy="609600"/>
          </a:xfrm>
          <a:prstGeom prst="rect">
            <a:avLst/>
          </a:prstGeom>
          <a:noFill/>
          <a:ln/>
        </p:spPr>
        <p:txBody>
          <a:bodyPr wrap="square" lIns="0" tIns="0" rIns="0" bIns="0" rtlCol="0" anchor="ctr"/>
          <a:lstStyle/>
          <a:p>
            <a:pPr indent="0" marL="0">
              <a:buNone/>
            </a:pPr>
            <a:r>
              <a:rPr lang="en-US" sz="1600" dirty="0">
                <a:solidFill>
                  <a:srgbClr val="0E1C42"/>
                </a:solidFill>
                <a:latin typeface="Calibri" pitchFamily="34" charset="0"/>
                <a:ea typeface="Calibri" pitchFamily="34" charset="-122"/>
                <a:cs typeface="Calibri" pitchFamily="34" charset="-120"/>
              </a:rPr>
              <a:t>Which TWO states in the West are not connected to the rest of the country?</a:t>
            </a:r>
            <a:endParaRPr lang="en-US" sz="1600" dirty="0"/>
          </a:p>
        </p:txBody>
      </p:sp>
      <p:sp>
        <p:nvSpPr>
          <p:cNvPr id="6" name="Shape 4"/>
          <p:cNvSpPr/>
          <p:nvPr/>
        </p:nvSpPr>
        <p:spPr>
          <a:xfrm>
            <a:off x="975360" y="231648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1219200" y="2414016"/>
            <a:ext cx="438912" cy="438912"/>
          </a:xfrm>
          <a:prstGeom prst="ellipse">
            <a:avLst/>
          </a:prstGeom>
          <a:solidFill>
            <a:srgbClr val="7A88A8"/>
          </a:solidFill>
          <a:ln/>
        </p:spPr>
      </p:sp>
      <p:sp>
        <p:nvSpPr>
          <p:cNvPr id="8" name="Text 6"/>
          <p:cNvSpPr/>
          <p:nvPr/>
        </p:nvSpPr>
        <p:spPr>
          <a:xfrm>
            <a:off x="1219200" y="2414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889760" y="231648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California and Oregon</a:t>
            </a:r>
            <a:endParaRPr lang="en-US" sz="1500" dirty="0"/>
          </a:p>
        </p:txBody>
      </p:sp>
      <p:sp>
        <p:nvSpPr>
          <p:cNvPr id="10" name="Shape 8"/>
          <p:cNvSpPr/>
          <p:nvPr/>
        </p:nvSpPr>
        <p:spPr>
          <a:xfrm>
            <a:off x="975360" y="310896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1219200" y="3206496"/>
            <a:ext cx="438912" cy="438912"/>
          </a:xfrm>
          <a:prstGeom prst="ellipse">
            <a:avLst/>
          </a:prstGeom>
          <a:solidFill>
            <a:srgbClr val="7A88A8"/>
          </a:solidFill>
          <a:ln/>
        </p:spPr>
      </p:sp>
      <p:sp>
        <p:nvSpPr>
          <p:cNvPr id="12" name="Text 10"/>
          <p:cNvSpPr/>
          <p:nvPr/>
        </p:nvSpPr>
        <p:spPr>
          <a:xfrm>
            <a:off x="1219200" y="320649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1889760" y="310896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Montana and Wyoming</a:t>
            </a:r>
            <a:endParaRPr lang="en-US" sz="1500" dirty="0"/>
          </a:p>
        </p:txBody>
      </p:sp>
      <p:sp>
        <p:nvSpPr>
          <p:cNvPr id="14" name="Shape 12"/>
          <p:cNvSpPr/>
          <p:nvPr/>
        </p:nvSpPr>
        <p:spPr>
          <a:xfrm>
            <a:off x="975360" y="3901440"/>
            <a:ext cx="9997440" cy="633984"/>
          </a:xfrm>
          <a:prstGeom prst="roundRect">
            <a:avLst>
              <a:gd name="adj" fmla="val 17308"/>
            </a:avLst>
          </a:prstGeom>
          <a:solidFill>
            <a:srgbClr val="E3F8ED"/>
          </a:solidFill>
          <a:ln/>
          <a:effectLst>
            <a:outerShdw sx="100000" sy="100000" kx="0" ky="0" algn="bl" rotWithShape="0" blurRad="76200" dist="25400" dir="8100000">
              <a:srgbClr val="000000">
                <a:alpha val="12000"/>
              </a:srgbClr>
            </a:outerShdw>
          </a:effectLst>
        </p:spPr>
      </p:sp>
      <p:sp>
        <p:nvSpPr>
          <p:cNvPr id="15" name="Shape 13"/>
          <p:cNvSpPr/>
          <p:nvPr/>
        </p:nvSpPr>
        <p:spPr>
          <a:xfrm>
            <a:off x="1219200" y="3998976"/>
            <a:ext cx="438912" cy="438912"/>
          </a:xfrm>
          <a:prstGeom prst="ellipse">
            <a:avLst/>
          </a:prstGeom>
          <a:solidFill>
            <a:srgbClr val="34B76F"/>
          </a:solidFill>
          <a:ln/>
        </p:spPr>
      </p:sp>
      <p:sp>
        <p:nvSpPr>
          <p:cNvPr id="16" name="Text 14"/>
          <p:cNvSpPr/>
          <p:nvPr/>
        </p:nvSpPr>
        <p:spPr>
          <a:xfrm>
            <a:off x="1219200" y="39989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889760" y="390144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Alaska and Hawaii</a:t>
            </a:r>
            <a:endParaRPr lang="en-US" sz="1500" dirty="0"/>
          </a:p>
        </p:txBody>
      </p:sp>
      <p:sp>
        <p:nvSpPr>
          <p:cNvPr id="18" name="Shape 16"/>
          <p:cNvSpPr/>
          <p:nvPr/>
        </p:nvSpPr>
        <p:spPr>
          <a:xfrm>
            <a:off x="975360" y="469392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1219200" y="4791456"/>
            <a:ext cx="438912" cy="438912"/>
          </a:xfrm>
          <a:prstGeom prst="ellipse">
            <a:avLst/>
          </a:prstGeom>
          <a:solidFill>
            <a:srgbClr val="7A88A8"/>
          </a:solidFill>
          <a:ln/>
        </p:spPr>
      </p:sp>
      <p:sp>
        <p:nvSpPr>
          <p:cNvPr id="20" name="Text 18"/>
          <p:cNvSpPr/>
          <p:nvPr/>
        </p:nvSpPr>
        <p:spPr>
          <a:xfrm>
            <a:off x="1219200" y="479145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1889760" y="469392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Colorado and Utah</a:t>
            </a:r>
            <a:endParaRPr lang="en-US" sz="1500" dirty="0"/>
          </a:p>
        </p:txBody>
      </p:sp>
      <p:sp>
        <p:nvSpPr>
          <p:cNvPr id="22" name="Text 20"/>
          <p:cNvSpPr/>
          <p:nvPr/>
        </p:nvSpPr>
        <p:spPr>
          <a:xfrm>
            <a:off x="731520" y="5852160"/>
            <a:ext cx="365760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Click to reveal answer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SELF-CHECK</a:t>
            </a:r>
            <a:endParaRPr lang="en-US" sz="900" dirty="0"/>
          </a:p>
        </p:txBody>
      </p:sp>
      <p:sp>
        <p:nvSpPr>
          <p:cNvPr id="4" name="Text 2"/>
          <p:cNvSpPr/>
          <p:nvPr/>
        </p:nvSpPr>
        <p:spPr>
          <a:xfrm>
            <a:off x="731520" y="853440"/>
            <a:ext cx="10728960" cy="5486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Question 3</a:t>
            </a:r>
            <a:endParaRPr lang="en-US" sz="2800" dirty="0"/>
          </a:p>
        </p:txBody>
      </p:sp>
      <p:sp>
        <p:nvSpPr>
          <p:cNvPr id="5" name="Text 3"/>
          <p:cNvSpPr/>
          <p:nvPr/>
        </p:nvSpPr>
        <p:spPr>
          <a:xfrm>
            <a:off x="731520" y="1463040"/>
            <a:ext cx="10728960" cy="609600"/>
          </a:xfrm>
          <a:prstGeom prst="rect">
            <a:avLst/>
          </a:prstGeom>
          <a:noFill/>
          <a:ln/>
        </p:spPr>
        <p:txBody>
          <a:bodyPr wrap="square" lIns="0" tIns="0" rIns="0" bIns="0" rtlCol="0" anchor="ctr"/>
          <a:lstStyle/>
          <a:p>
            <a:pPr indent="0" marL="0">
              <a:buNone/>
            </a:pPr>
            <a:r>
              <a:rPr lang="en-US" sz="1600" dirty="0">
                <a:solidFill>
                  <a:srgbClr val="0E1C42"/>
                </a:solidFill>
                <a:latin typeface="Calibri" pitchFamily="34" charset="0"/>
                <a:ea typeface="Calibri" pitchFamily="34" charset="-122"/>
                <a:cs typeface="Calibri" pitchFamily="34" charset="-120"/>
              </a:rPr>
              <a:t>Which mountain range runs through the western United States?</a:t>
            </a:r>
            <a:endParaRPr lang="en-US" sz="1600" dirty="0"/>
          </a:p>
        </p:txBody>
      </p:sp>
      <p:sp>
        <p:nvSpPr>
          <p:cNvPr id="6" name="Shape 4"/>
          <p:cNvSpPr/>
          <p:nvPr/>
        </p:nvSpPr>
        <p:spPr>
          <a:xfrm>
            <a:off x="975360" y="231648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1219200" y="2414016"/>
            <a:ext cx="438912" cy="438912"/>
          </a:xfrm>
          <a:prstGeom prst="ellipse">
            <a:avLst/>
          </a:prstGeom>
          <a:solidFill>
            <a:srgbClr val="7A88A8"/>
          </a:solidFill>
          <a:ln/>
        </p:spPr>
      </p:sp>
      <p:sp>
        <p:nvSpPr>
          <p:cNvPr id="8" name="Text 6"/>
          <p:cNvSpPr/>
          <p:nvPr/>
        </p:nvSpPr>
        <p:spPr>
          <a:xfrm>
            <a:off x="1219200" y="2414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889760" y="231648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Appalachian Mountains</a:t>
            </a:r>
            <a:endParaRPr lang="en-US" sz="1500" dirty="0"/>
          </a:p>
        </p:txBody>
      </p:sp>
      <p:sp>
        <p:nvSpPr>
          <p:cNvPr id="10" name="Shape 8"/>
          <p:cNvSpPr/>
          <p:nvPr/>
        </p:nvSpPr>
        <p:spPr>
          <a:xfrm>
            <a:off x="975360" y="310896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1219200" y="3206496"/>
            <a:ext cx="438912" cy="438912"/>
          </a:xfrm>
          <a:prstGeom prst="ellipse">
            <a:avLst/>
          </a:prstGeom>
          <a:solidFill>
            <a:srgbClr val="7A88A8"/>
          </a:solidFill>
          <a:ln/>
        </p:spPr>
      </p:sp>
      <p:sp>
        <p:nvSpPr>
          <p:cNvPr id="12" name="Text 10"/>
          <p:cNvSpPr/>
          <p:nvPr/>
        </p:nvSpPr>
        <p:spPr>
          <a:xfrm>
            <a:off x="1219200" y="320649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1889760" y="310896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Sierra Madre</a:t>
            </a:r>
            <a:endParaRPr lang="en-US" sz="1500" dirty="0"/>
          </a:p>
        </p:txBody>
      </p:sp>
      <p:sp>
        <p:nvSpPr>
          <p:cNvPr id="14" name="Shape 12"/>
          <p:cNvSpPr/>
          <p:nvPr/>
        </p:nvSpPr>
        <p:spPr>
          <a:xfrm>
            <a:off x="975360" y="3901440"/>
            <a:ext cx="9997440" cy="633984"/>
          </a:xfrm>
          <a:prstGeom prst="roundRect">
            <a:avLst>
              <a:gd name="adj" fmla="val 17308"/>
            </a:avLst>
          </a:prstGeom>
          <a:solidFill>
            <a:srgbClr val="E3F8ED"/>
          </a:solidFill>
          <a:ln/>
          <a:effectLst>
            <a:outerShdw sx="100000" sy="100000" kx="0" ky="0" algn="bl" rotWithShape="0" blurRad="76200" dist="25400" dir="8100000">
              <a:srgbClr val="000000">
                <a:alpha val="12000"/>
              </a:srgbClr>
            </a:outerShdw>
          </a:effectLst>
        </p:spPr>
      </p:sp>
      <p:sp>
        <p:nvSpPr>
          <p:cNvPr id="15" name="Shape 13"/>
          <p:cNvSpPr/>
          <p:nvPr/>
        </p:nvSpPr>
        <p:spPr>
          <a:xfrm>
            <a:off x="1219200" y="3998976"/>
            <a:ext cx="438912" cy="438912"/>
          </a:xfrm>
          <a:prstGeom prst="ellipse">
            <a:avLst/>
          </a:prstGeom>
          <a:solidFill>
            <a:srgbClr val="34B76F"/>
          </a:solidFill>
          <a:ln/>
        </p:spPr>
      </p:sp>
      <p:sp>
        <p:nvSpPr>
          <p:cNvPr id="16" name="Text 14"/>
          <p:cNvSpPr/>
          <p:nvPr/>
        </p:nvSpPr>
        <p:spPr>
          <a:xfrm>
            <a:off x="1219200" y="39989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889760" y="390144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Rocky Mountains</a:t>
            </a:r>
            <a:endParaRPr lang="en-US" sz="1500" dirty="0"/>
          </a:p>
        </p:txBody>
      </p:sp>
      <p:sp>
        <p:nvSpPr>
          <p:cNvPr id="18" name="Shape 16"/>
          <p:cNvSpPr/>
          <p:nvPr/>
        </p:nvSpPr>
        <p:spPr>
          <a:xfrm>
            <a:off x="975360" y="4693920"/>
            <a:ext cx="9997440" cy="633984"/>
          </a:xfrm>
          <a:prstGeom prst="roundRect">
            <a:avLst>
              <a:gd name="adj" fmla="val 17308"/>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1219200" y="4791456"/>
            <a:ext cx="438912" cy="438912"/>
          </a:xfrm>
          <a:prstGeom prst="ellipse">
            <a:avLst/>
          </a:prstGeom>
          <a:solidFill>
            <a:srgbClr val="7A88A8"/>
          </a:solidFill>
          <a:ln/>
        </p:spPr>
      </p:sp>
      <p:sp>
        <p:nvSpPr>
          <p:cNvPr id="20" name="Text 18"/>
          <p:cNvSpPr/>
          <p:nvPr/>
        </p:nvSpPr>
        <p:spPr>
          <a:xfrm>
            <a:off x="1219200" y="479145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1889760" y="4693920"/>
            <a:ext cx="8778240" cy="633984"/>
          </a:xfrm>
          <a:prstGeom prst="rect">
            <a:avLst/>
          </a:prstGeom>
          <a:noFill/>
          <a:ln/>
        </p:spPr>
        <p:txBody>
          <a:bodyPr wrap="square" lIns="0" tIns="0" rIns="0" bIns="0" rtlCol="0" anchor="ctr"/>
          <a:lstStyle/>
          <a:p>
            <a:pPr indent="0" marL="0">
              <a:buNone/>
            </a:pPr>
            <a:r>
              <a:rPr lang="en-US" sz="1500" dirty="0">
                <a:solidFill>
                  <a:srgbClr val="0E1C42"/>
                </a:solidFill>
                <a:latin typeface="Calibri" pitchFamily="34" charset="0"/>
                <a:ea typeface="Calibri" pitchFamily="34" charset="-122"/>
                <a:cs typeface="Calibri" pitchFamily="34" charset="-120"/>
              </a:rPr>
              <a:t>Blue Ridge Mountains</a:t>
            </a:r>
            <a:endParaRPr lang="en-US" sz="1500" dirty="0"/>
          </a:p>
        </p:txBody>
      </p:sp>
      <p:sp>
        <p:nvSpPr>
          <p:cNvPr id="22" name="Text 20"/>
          <p:cNvSpPr/>
          <p:nvPr/>
        </p:nvSpPr>
        <p:spPr>
          <a:xfrm>
            <a:off x="731520" y="5852160"/>
            <a:ext cx="365760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Click to reveal answer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ASSIGNMENT</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Evidence Questions &amp; Curator Task</a:t>
            </a:r>
            <a:endParaRPr lang="en-US" sz="3200" dirty="0"/>
          </a:p>
        </p:txBody>
      </p:sp>
      <p:sp>
        <p:nvSpPr>
          <p:cNvPr id="5" name="Shape 3"/>
          <p:cNvSpPr/>
          <p:nvPr/>
        </p:nvSpPr>
        <p:spPr>
          <a:xfrm>
            <a:off x="731520" y="1280160"/>
            <a:ext cx="10972800" cy="2804160"/>
          </a:xfrm>
          <a:prstGeom prst="roundRect">
            <a:avLst>
              <a:gd name="adj" fmla="val 3913"/>
            </a:avLst>
          </a:prstGeom>
          <a:solidFill>
            <a:srgbClr val="FFFFFF"/>
          </a:solidFill>
          <a:ln/>
          <a:effectLst>
            <a:outerShdw sx="100000" sy="100000" kx="0" ky="0" algn="bl" rotWithShape="0" blurRad="76200" dist="25400" dir="8100000">
              <a:srgbClr val="000000">
                <a:alpha val="12000"/>
              </a:srgbClr>
            </a:outerShdw>
          </a:effectLst>
        </p:spPr>
      </p:sp>
      <p:sp>
        <p:nvSpPr>
          <p:cNvPr id="6" name="Text 4"/>
          <p:cNvSpPr/>
          <p:nvPr/>
        </p:nvSpPr>
        <p:spPr>
          <a:xfrm>
            <a:off x="975360" y="1402080"/>
            <a:ext cx="4876800" cy="426720"/>
          </a:xfrm>
          <a:prstGeom prst="rect">
            <a:avLst/>
          </a:prstGeom>
          <a:noFill/>
          <a:ln/>
        </p:spPr>
        <p:txBody>
          <a:bodyPr wrap="square" lIns="0" tIns="0" rIns="0" bIns="0" rtlCol="0" anchor="ctr"/>
          <a:lstStyle/>
          <a:p>
            <a:pPr indent="0" marL="0">
              <a:buNone/>
            </a:pPr>
            <a:r>
              <a:rPr lang="en-US" sz="1700" b="1" dirty="0">
                <a:solidFill>
                  <a:srgbClr val="1A8A7D"/>
                </a:solidFill>
                <a:latin typeface="Cambria" pitchFamily="34" charset="0"/>
                <a:ea typeface="Cambria" pitchFamily="34" charset="-122"/>
                <a:cs typeface="Cambria" pitchFamily="34" charset="-120"/>
              </a:rPr>
              <a:t>Evidence Questions</a:t>
            </a:r>
            <a:endParaRPr lang="en-US" sz="1700" dirty="0"/>
          </a:p>
        </p:txBody>
      </p:sp>
      <p:sp>
        <p:nvSpPr>
          <p:cNvPr id="7" name="Text 5"/>
          <p:cNvSpPr/>
          <p:nvPr/>
        </p:nvSpPr>
        <p:spPr>
          <a:xfrm>
            <a:off x="975360" y="1889760"/>
            <a:ext cx="10485120" cy="1950720"/>
          </a:xfrm>
          <a:prstGeom prst="rect">
            <a:avLst/>
          </a:prstGeom>
          <a:noFill/>
          <a:ln/>
        </p:spPr>
        <p:txBody>
          <a:bodyPr wrap="square" lIns="0" tIns="0" rIns="0" bIns="0" rtlCol="0" anchor="t"/>
          <a:lstStyle/>
          <a:p>
            <a:pPr indent="0" marL="0">
              <a:spcAft>
                <a:spcPts val="800"/>
              </a:spcAft>
              <a:buNone/>
            </a:pPr>
            <a:r>
              <a:rPr lang="en-US" sz="1300" dirty="0">
                <a:solidFill>
                  <a:srgbClr val="0E1C42"/>
                </a:solidFill>
                <a:latin typeface="Calibri" pitchFamily="34" charset="0"/>
                <a:ea typeface="Calibri" pitchFamily="34" charset="-122"/>
                <a:cs typeface="Calibri" pitchFamily="34" charset="-120"/>
              </a:rPr>
              <a:t>1. Where is the West located on a U.S. map? Name the two states that aren't connected to the rest of the country.</a:t>
            </a:r>
            <a:endParaRPr lang="en-US" sz="1300" dirty="0"/>
          </a:p>
          <a:p>
            <a:pPr indent="0" marL="0">
              <a:spcAft>
                <a:spcPts val="800"/>
              </a:spcAft>
              <a:buNone/>
            </a:pPr>
            <a:r>
              <a:rPr lang="en-US" sz="1300" dirty="0">
                <a:solidFill>
                  <a:srgbClr val="0E1C42"/>
                </a:solidFill>
                <a:latin typeface="Calibri" pitchFamily="34" charset="0"/>
                <a:ea typeface="Calibri" pitchFamily="34" charset="-122"/>
                <a:cs typeface="Calibri" pitchFamily="34" charset="-120"/>
              </a:rPr>
              <a:t>2. Name one West state and one landform, place, or thing it is known for.</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3. Name one group of people who live in the West and one thing about their history or community.</a:t>
            </a:r>
            <a:endParaRPr lang="en-US" sz="1300" dirty="0"/>
          </a:p>
        </p:txBody>
      </p:sp>
      <p:sp>
        <p:nvSpPr>
          <p:cNvPr id="8" name="Shape 6"/>
          <p:cNvSpPr/>
          <p:nvPr/>
        </p:nvSpPr>
        <p:spPr>
          <a:xfrm>
            <a:off x="731520" y="4328160"/>
            <a:ext cx="10972800" cy="2194560"/>
          </a:xfrm>
          <a:prstGeom prst="roundRect">
            <a:avLst>
              <a:gd name="adj" fmla="val 5000"/>
            </a:avLst>
          </a:prstGeom>
          <a:solidFill>
            <a:srgbClr val="FFF3DC"/>
          </a:solidFill>
          <a:ln/>
          <a:effectLst>
            <a:outerShdw sx="100000" sy="100000" kx="0" ky="0" algn="bl" rotWithShape="0" blurRad="76200" dist="25400" dir="8100000">
              <a:srgbClr val="000000">
                <a:alpha val="12000"/>
              </a:srgbClr>
            </a:outerShdw>
          </a:effectLst>
        </p:spPr>
      </p:sp>
      <p:sp>
        <p:nvSpPr>
          <p:cNvPr id="9" name="Shape 7"/>
          <p:cNvSpPr/>
          <p:nvPr/>
        </p:nvSpPr>
        <p:spPr>
          <a:xfrm>
            <a:off x="975360" y="4450080"/>
            <a:ext cx="2194560" cy="365760"/>
          </a:xfrm>
          <a:prstGeom prst="roundRect">
            <a:avLst>
              <a:gd name="adj" fmla="val 15000"/>
            </a:avLst>
          </a:prstGeom>
          <a:solidFill>
            <a:srgbClr val="D4943A"/>
          </a:solidFill>
          <a:ln/>
        </p:spPr>
      </p:sp>
      <p:sp>
        <p:nvSpPr>
          <p:cNvPr id="10" name="Text 8"/>
          <p:cNvSpPr/>
          <p:nvPr/>
        </p:nvSpPr>
        <p:spPr>
          <a:xfrm>
            <a:off x="975360" y="4450080"/>
            <a:ext cx="2194560" cy="365760"/>
          </a:xfrm>
          <a:prstGeom prst="rect">
            <a:avLst/>
          </a:prstGeom>
          <a:no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CURATOR TASK</a:t>
            </a:r>
            <a:endParaRPr lang="en-US" sz="1000" dirty="0"/>
          </a:p>
        </p:txBody>
      </p:sp>
      <p:sp>
        <p:nvSpPr>
          <p:cNvPr id="11" name="Text 9"/>
          <p:cNvSpPr/>
          <p:nvPr/>
        </p:nvSpPr>
        <p:spPr>
          <a:xfrm>
            <a:off x="3413760" y="4450080"/>
            <a:ext cx="6096000" cy="36576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West Alcove Sign &amp; Gallery Close</a:t>
            </a:r>
            <a:endParaRPr lang="en-US" sz="1400" dirty="0"/>
          </a:p>
        </p:txBody>
      </p:sp>
      <p:sp>
        <p:nvSpPr>
          <p:cNvPr id="12" name="Text 10"/>
          <p:cNvSpPr/>
          <p:nvPr/>
        </p:nvSpPr>
        <p:spPr>
          <a:xfrm>
            <a:off x="975360" y="4998720"/>
            <a:ext cx="10485120" cy="1219200"/>
          </a:xfrm>
          <a:prstGeom prst="rect">
            <a:avLst/>
          </a:prstGeom>
          <a:noFill/>
          <a:ln/>
        </p:spPr>
        <p:txBody>
          <a:bodyPr wrap="square" lIns="0" tIns="0" rIns="0" bIns="0"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Write 3-4 sentences for visitors that tell them about the West — its location, its mountains and ocean, Alaska and Hawaii, and one group of people who live here. Use kind, careful words — this sign completes your work as a U.S. Region Curator.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1A8A7D"/>
          </a:solidFill>
          <a:ln/>
        </p:spPr>
      </p:sp>
      <p:sp>
        <p:nvSpPr>
          <p:cNvPr id="3" name="Text 1"/>
          <p:cNvSpPr/>
          <p:nvPr/>
        </p:nvSpPr>
        <p:spPr>
          <a:xfrm>
            <a:off x="731520" y="365760"/>
            <a:ext cx="219456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CURATOR'S CHRONICLE</a:t>
            </a:r>
            <a:endParaRPr lang="en-US" sz="900" dirty="0"/>
          </a:p>
        </p:txBody>
      </p:sp>
      <p:sp>
        <p:nvSpPr>
          <p:cNvPr id="4" name="Text 2"/>
          <p:cNvSpPr/>
          <p:nvPr/>
        </p:nvSpPr>
        <p:spPr>
          <a:xfrm>
            <a:off x="731520" y="755904"/>
            <a:ext cx="10728960" cy="585216"/>
          </a:xfrm>
          <a:prstGeom prst="rect">
            <a:avLst/>
          </a:prstGeom>
          <a:noFill/>
          <a:ln/>
        </p:spPr>
        <p:txBody>
          <a:bodyPr wrap="square" lIns="0" tIns="0" rIns="0" bIns="0" rtlCol="0" anchor="ctr"/>
          <a:lstStyle/>
          <a:p>
            <a:pPr indent="0" marL="0">
              <a:buNone/>
            </a:pPr>
            <a:r>
              <a:rPr lang="en-US" sz="3200" b="1" dirty="0">
                <a:solidFill>
                  <a:srgbClr val="0E1C42"/>
                </a:solidFill>
                <a:latin typeface="Cambria" pitchFamily="34" charset="0"/>
                <a:ea typeface="Cambria" pitchFamily="34" charset="-122"/>
                <a:cs typeface="Cambria" pitchFamily="34" charset="-120"/>
              </a:rPr>
              <a:t>Reflect on Your Learning</a:t>
            </a:r>
            <a:endParaRPr lang="en-US" sz="3200" dirty="0"/>
          </a:p>
        </p:txBody>
      </p:sp>
      <p:sp>
        <p:nvSpPr>
          <p:cNvPr id="5" name="Shape 3"/>
          <p:cNvSpPr/>
          <p:nvPr/>
        </p:nvSpPr>
        <p:spPr>
          <a:xfrm>
            <a:off x="1219200" y="1463040"/>
            <a:ext cx="9509760" cy="3413760"/>
          </a:xfrm>
          <a:prstGeom prst="roundRect">
            <a:avLst>
              <a:gd name="adj" fmla="val 3214"/>
            </a:avLst>
          </a:prstGeom>
          <a:solidFill>
            <a:srgbClr val="FFF8F0"/>
          </a:solidFill>
          <a:ln/>
          <a:effectLst>
            <a:outerShdw sx="100000" sy="100000" kx="0" ky="0" algn="bl" rotWithShape="0" blurRad="76200" dist="25400" dir="8100000">
              <a:srgbClr val="000000">
                <a:alpha val="12000"/>
              </a:srgbClr>
            </a:outerShdw>
          </a:effectLst>
        </p:spPr>
      </p:sp>
      <p:sp>
        <p:nvSpPr>
          <p:cNvPr id="6" name="Text 4"/>
          <p:cNvSpPr/>
          <p:nvPr/>
        </p:nvSpPr>
        <p:spPr>
          <a:xfrm>
            <a:off x="1463040" y="1645920"/>
            <a:ext cx="9022080" cy="42672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Complete the sentence:</a:t>
            </a:r>
            <a:endParaRPr lang="en-US" sz="1500" dirty="0"/>
          </a:p>
        </p:txBody>
      </p:sp>
      <p:sp>
        <p:nvSpPr>
          <p:cNvPr id="7" name="Text 5"/>
          <p:cNvSpPr/>
          <p:nvPr/>
        </p:nvSpPr>
        <p:spPr>
          <a:xfrm>
            <a:off x="1463040" y="2316480"/>
            <a:ext cx="9022080" cy="609600"/>
          </a:xfrm>
          <a:prstGeom prst="rect">
            <a:avLst/>
          </a:prstGeom>
          <a:noFill/>
          <a:ln/>
        </p:spPr>
        <p:txBody>
          <a:bodyPr wrap="square" lIns="0" tIns="0" rIns="0" bIns="0" rtlCol="0" anchor="ctr"/>
          <a:lstStyle/>
          <a:p>
            <a:pPr indent="0" marL="0">
              <a:buNone/>
            </a:pPr>
            <a:r>
              <a:rPr lang="en-US" sz="2000" i="1" dirty="0">
                <a:solidFill>
                  <a:srgbClr val="D4943A"/>
                </a:solidFill>
                <a:latin typeface="Cambria" pitchFamily="34" charset="0"/>
                <a:ea typeface="Cambria" pitchFamily="34" charset="-122"/>
                <a:cs typeface="Cambria" pitchFamily="34" charset="-120"/>
              </a:rPr>
              <a:t>In this exhibit, I learned that ______ because ______.</a:t>
            </a:r>
            <a:endParaRPr lang="en-US" sz="2000" dirty="0"/>
          </a:p>
        </p:txBody>
      </p:sp>
      <p:sp>
        <p:nvSpPr>
          <p:cNvPr id="8" name="Shape 6"/>
          <p:cNvSpPr/>
          <p:nvPr/>
        </p:nvSpPr>
        <p:spPr>
          <a:xfrm>
            <a:off x="1828800" y="3291840"/>
            <a:ext cx="8290560" cy="1219200"/>
          </a:xfrm>
          <a:prstGeom prst="roundRect">
            <a:avLst>
              <a:gd name="adj" fmla="val 9000"/>
            </a:avLst>
          </a:prstGeom>
          <a:solidFill>
            <a:srgbClr val="FFFFFF"/>
          </a:solidFill>
          <a:ln/>
          <a:effectLst>
            <a:outerShdw sx="100000" sy="100000" kx="0" ky="0" algn="bl" rotWithShape="0" blurRad="76200" dist="25400" dir="8100000">
              <a:srgbClr val="000000">
                <a:alpha val="12000"/>
              </a:srgbClr>
            </a:outerShdw>
          </a:effectLst>
        </p:spPr>
      </p:sp>
      <p:sp>
        <p:nvSpPr>
          <p:cNvPr id="9" name="Text 7"/>
          <p:cNvSpPr/>
          <p:nvPr/>
        </p:nvSpPr>
        <p:spPr>
          <a:xfrm>
            <a:off x="2072640" y="3413760"/>
            <a:ext cx="1463040" cy="365760"/>
          </a:xfrm>
          <a:prstGeom prst="rect">
            <a:avLst/>
          </a:prstGeom>
          <a:noFill/>
          <a:ln/>
        </p:spPr>
        <p:txBody>
          <a:bodyPr wrap="square" lIns="0" tIns="0" rIns="0" bIns="0" rtlCol="0" anchor="ctr"/>
          <a:lstStyle/>
          <a:p>
            <a:pPr indent="0" marL="0">
              <a:buNone/>
            </a:pPr>
            <a:r>
              <a:rPr lang="en-US" sz="1200" b="1" dirty="0">
                <a:solidFill>
                  <a:srgbClr val="7A88A8"/>
                </a:solidFill>
                <a:latin typeface="Calibri" pitchFamily="34" charset="0"/>
                <a:ea typeface="Calibri" pitchFamily="34" charset="-122"/>
                <a:cs typeface="Calibri" pitchFamily="34" charset="-120"/>
              </a:rPr>
              <a:t>Example:</a:t>
            </a:r>
            <a:endParaRPr lang="en-US" sz="1200" dirty="0"/>
          </a:p>
        </p:txBody>
      </p:sp>
      <p:sp>
        <p:nvSpPr>
          <p:cNvPr id="10" name="Text 8"/>
          <p:cNvSpPr/>
          <p:nvPr/>
        </p:nvSpPr>
        <p:spPr>
          <a:xfrm>
            <a:off x="2072640" y="3779520"/>
            <a:ext cx="7802880" cy="609600"/>
          </a:xfrm>
          <a:prstGeom prst="rect">
            <a:avLst/>
          </a:prstGeom>
          <a:noFill/>
          <a:ln/>
        </p:spPr>
        <p:txBody>
          <a:bodyPr wrap="square" lIns="0" tIns="0" rIns="0" bIns="0" rtlCol="0" anchor="ctr"/>
          <a:lstStyle/>
          <a:p>
            <a:pPr indent="0" marL="0">
              <a:lnSpc>
                <a:spcPct val="120000"/>
              </a:lnSpc>
              <a:buNone/>
            </a:pPr>
            <a:r>
              <a:rPr lang="en-US" sz="1200" i="1" dirty="0">
                <a:solidFill>
                  <a:srgbClr val="0E1C42"/>
                </a:solidFill>
                <a:latin typeface="Calibri" pitchFamily="34" charset="0"/>
                <a:ea typeface="Calibri" pitchFamily="34" charset="-122"/>
                <a:cs typeface="Calibri" pitchFamily="34" charset="-120"/>
              </a:rPr>
              <a:t>In this exhibit, I learned that the West has the most different kinds of land because it has deserts, mountains, volcanoes, tundra, and tropical islands all in one region.</a:t>
            </a:r>
            <a:endParaRPr lang="en-US" sz="1200" dirty="0"/>
          </a:p>
        </p:txBody>
      </p:sp>
      <p:sp>
        <p:nvSpPr>
          <p:cNvPr id="11" name="Shape 9"/>
          <p:cNvSpPr/>
          <p:nvPr/>
        </p:nvSpPr>
        <p:spPr>
          <a:xfrm>
            <a:off x="731520" y="5120640"/>
            <a:ext cx="10972800" cy="1219200"/>
          </a:xfrm>
          <a:prstGeom prst="roundRect">
            <a:avLst>
              <a:gd name="adj" fmla="val 9000"/>
            </a:avLst>
          </a:prstGeom>
          <a:solidFill>
            <a:srgbClr val="FFF3DC"/>
          </a:solidFill>
          <a:ln w="19050">
            <a:solidFill>
              <a:srgbClr val="F5E6C8"/>
            </a:solidFill>
            <a:prstDash val="solid"/>
          </a:ln>
        </p:spPr>
      </p:sp>
      <p:sp>
        <p:nvSpPr>
          <p:cNvPr id="12" name="Text 10"/>
          <p:cNvSpPr/>
          <p:nvPr/>
        </p:nvSpPr>
        <p:spPr>
          <a:xfrm>
            <a:off x="868680" y="5175504"/>
            <a:ext cx="10698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868680" y="5376672"/>
            <a:ext cx="10698480" cy="899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your final chronicle entry as a U.S. Region Curator!"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"Think about what surprised you most about the West."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will you remember from studying all five regions?"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463040"/>
            <a:ext cx="10241280" cy="1097280"/>
          </a:xfrm>
          <a:prstGeom prst="rect">
            <a:avLst/>
          </a:prstGeom>
          <a:noFill/>
          <a:ln/>
        </p:spPr>
        <p:txBody>
          <a:bodyPr wrap="square" lIns="0" tIns="0" rIns="0" bIns="0" rtlCol="0" anchor="ctr"/>
          <a:lstStyle/>
          <a:p>
            <a:pPr indent="0" marL="0">
              <a:buNone/>
            </a:pPr>
            <a:r>
              <a:rPr lang="en-US" sz="4400" b="1" dirty="0">
                <a:solidFill>
                  <a:srgbClr val="D4943A"/>
                </a:solidFill>
                <a:latin typeface="Cambria" pitchFamily="34" charset="0"/>
                <a:ea typeface="Cambria" pitchFamily="34" charset="-122"/>
                <a:cs typeface="Cambria" pitchFamily="34" charset="-120"/>
              </a:rPr>
              <a:t>Gallery Complete!</a:t>
            </a:r>
            <a:endParaRPr lang="en-US" sz="4400" dirty="0"/>
          </a:p>
        </p:txBody>
      </p:sp>
      <p:sp>
        <p:nvSpPr>
          <p:cNvPr id="6" name="Text 3"/>
          <p:cNvSpPr/>
          <p:nvPr/>
        </p:nvSpPr>
        <p:spPr>
          <a:xfrm>
            <a:off x="975360" y="2682240"/>
            <a:ext cx="8534400" cy="6096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You've explored all five regions of the United States.</a:t>
            </a:r>
            <a:endParaRPr lang="en-US" sz="1800" dirty="0"/>
          </a:p>
        </p:txBody>
      </p:sp>
      <p:sp>
        <p:nvSpPr>
          <p:cNvPr id="7" name="Shape 4"/>
          <p:cNvSpPr/>
          <p:nvPr/>
        </p:nvSpPr>
        <p:spPr>
          <a:xfrm>
            <a:off x="975360" y="3657600"/>
            <a:ext cx="10241280" cy="1706880"/>
          </a:xfrm>
          <a:prstGeom prst="roundRect">
            <a:avLst>
              <a:gd name="adj" fmla="val 6429"/>
            </a:avLst>
          </a:prstGeom>
          <a:solidFill>
            <a:srgbClr val="1A2D5A"/>
          </a:solidFill>
          <a:ln/>
          <a:effectLst>
            <a:outerShdw sx="100000" sy="100000" kx="0" ky="0" algn="bl" rotWithShape="0" blurRad="76200" dist="25400" dir="8100000">
              <a:srgbClr val="000000">
                <a:alpha val="12000"/>
              </a:srgbClr>
            </a:outerShdw>
          </a:effectLst>
        </p:spPr>
      </p:sp>
      <p:sp>
        <p:nvSpPr>
          <p:cNvPr id="8" name="Text 5"/>
          <p:cNvSpPr/>
          <p:nvPr/>
        </p:nvSpPr>
        <p:spPr>
          <a:xfrm>
            <a:off x="1219200" y="3779520"/>
            <a:ext cx="9753600" cy="365760"/>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Your journey through the Great Map Room:</a:t>
            </a:r>
            <a:endParaRPr lang="en-US" sz="1400" dirty="0"/>
          </a:p>
        </p:txBody>
      </p:sp>
      <p:sp>
        <p:nvSpPr>
          <p:cNvPr id="9" name="Text 6"/>
          <p:cNvSpPr/>
          <p:nvPr/>
        </p:nvSpPr>
        <p:spPr>
          <a:xfrm>
            <a:off x="1219200" y="4206240"/>
            <a:ext cx="9753600" cy="975360"/>
          </a:xfrm>
          <a:prstGeom prst="rect">
            <a:avLst/>
          </a:prstGeom>
          <a:noFill/>
          <a:ln/>
        </p:spPr>
        <p:txBody>
          <a:bodyPr wrap="square" lIns="0" tIns="0" rIns="0" bIns="0" rtlCol="0" anchor="t"/>
          <a:lstStyle/>
          <a:p>
            <a:pPr algn="ctr" indent="0" marL="0">
              <a:spcAft>
                <a:spcPts val="600"/>
              </a:spcAft>
              <a:buNone/>
            </a:pPr>
            <a:r>
              <a:rPr lang="en-US" sz="1600" b="1" dirty="0">
                <a:solidFill>
                  <a:srgbClr val="D4943A"/>
                </a:solidFill>
                <a:latin typeface="Calibri" pitchFamily="34" charset="0"/>
                <a:ea typeface="Calibri" pitchFamily="34" charset="-122"/>
                <a:cs typeface="Calibri" pitchFamily="34" charset="-120"/>
              </a:rPr>
              <a:t>Northeast  &gt;  Southeast  &gt;  Midwest  &gt;  Southwest  &gt;  West</a:t>
            </a:r>
            <a:endParaRPr lang="en-US" sz="1600" dirty="0"/>
          </a:p>
          <a:p>
            <a:pPr algn="ctr" indent="0" marL="0">
              <a:buNone/>
            </a:pPr>
            <a:r>
              <a:rPr lang="en-US" sz="1400" i="1" dirty="0">
                <a:solidFill>
                  <a:srgbClr val="FFFFFF"/>
                </a:solidFill>
                <a:latin typeface="Calibri" pitchFamily="34" charset="0"/>
                <a:ea typeface="Calibri" pitchFamily="34" charset="-122"/>
                <a:cs typeface="Calibri" pitchFamily="34" charset="-120"/>
              </a:rPr>
              <a:t>Five regions, five alcoves, one amazing country!</a:t>
            </a:r>
            <a:endParaRPr lang="en-US" sz="1600" dirty="0"/>
          </a:p>
        </p:txBody>
      </p:sp>
      <p:sp>
        <p:nvSpPr>
          <p:cNvPr id="10" name="Text 7"/>
          <p:cNvSpPr/>
          <p:nvPr/>
        </p:nvSpPr>
        <p:spPr>
          <a:xfrm>
            <a:off x="975360" y="5730240"/>
            <a:ext cx="7315200" cy="42672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Coming Next: Putting It All Together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2026-07-11T08:35:11Z</dcterms:created>
  <dcterms:modified xsi:type="dcterms:W3CDTF">2026-07-11T08:35:11Z</dcterms:modified>
</cp:coreProperties>
</file>