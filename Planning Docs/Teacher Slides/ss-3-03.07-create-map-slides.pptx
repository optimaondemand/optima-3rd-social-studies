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The Great Map Room with a blank drafting table, compass rose on the wall, and the museum director standing nearby — cinematic, warm lightingSLIDE 1 — TITLE. Welcome curators. Read the Curator's Question aloud. IMAGE TO INSERT: Great Map Room with blank drafting table, cinematic warm lighting.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HOOK. Set the scene: you've been fixing maps, now the director wants you to BUILD one. Read the director's quote dramatically.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VIRTUE. Read the definition. Ask: 'What happens if a mapmaker skips a small step?' Connect responsibility to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DISCOVERY. Ask students: 'What's different about making vs. reading a map?' Let them notice the difference before you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CHAT FRAME. Read the mapmaker's question. Then pose the chat questions. Give 30 seconds for partner chat or whole-group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REVEAL: Title and Compass Rose. Point to each element on a sample map if possible. Ask: 'What would happen without a title?'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REVEAL: Scale and Legend. Emphasize: 'A map without a legend is like a book without words for the pictures.'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SOCRATIC. Use the questions to drive discussion. Thinking Move: Notice &gt; Name &gt; Narrate. Share the Mapmaker Secret tip. Mention the Then &amp; Now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MODEL. Walk through your thinking out loud: 'First I pick my title, then I draw the compass rose...' Show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WE TRY. Do this together as a class. Point to each element, ask students to name its job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YOUR TURN. Give students 2 minutes to jot answers in their notebooks. This previews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ERROR ANALYSIS. Show the flawed map. Ask students to spot errors BEFORE revealing the list. Connect to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WHY IT MATTERS. Read the exhibit label. Ask the Pause &amp; Think question. This preps students for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SELF-CHECK 1 &amp; 2. Have students vote or hold up fingers. Reveal answers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SELF-CHECK Q3. Reveal answer. Reinforce: clear &gt; fancy. Transition to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— EVIDENCE QUESTIONS. Read each question aloud. Model EQ1: 'I would say building is harder because the mapmaker has to decide what to include...' Discuss before students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— CURATOR TASK + CHRONICLE. Read the task aloud. Remind students: 3-4 sentences, include title, symbols, and how elements help. Chronicle = one sentence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 — CHECKLIST. Walk through each item. Students check off as they complete each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The Great Map Room with the director applauding, curators celebrating, and a glowing 'Map Skills Challenge' door visible in the backgroundSLIDE 19 — CLOSING. Celebrate! Preview the Map Skills Challenge. 'Get your Curator's Notebook ready!' IMAGE TO INSERT: Great Map Room celebration scene.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75360" y="1300480"/>
            <a:ext cx="1430528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MAP ROOM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75360" y="2113280"/>
            <a:ext cx="14305280" cy="227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Map with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Elements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975360" y="4551680"/>
            <a:ext cx="4064000" cy="65024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5"/>
          <p:cNvSpPr/>
          <p:nvPr/>
        </p:nvSpPr>
        <p:spPr>
          <a:xfrm>
            <a:off x="975360" y="4876800"/>
            <a:ext cx="1137920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mapmaker need to include so that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reader can understand the map?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75360" y="7477760"/>
            <a:ext cx="1300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3.03.07  |  Week 10  |  SS.3.G.1.1 / 1.2 / 1.4 / 1.5 / 1.6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75360" y="8046720"/>
            <a:ext cx="650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MUSEUM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Director's Challenge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12800" y="2032000"/>
            <a:ext cx="2926080" cy="56896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2438400"/>
            <a:ext cx="8940800" cy="4551680"/>
          </a:xfrm>
          <a:prstGeom prst="roundRect">
            <a:avLst>
              <a:gd name="adj" fmla="val 4286"/>
            </a:avLst>
          </a:prstGeom>
          <a:solidFill>
            <a:srgbClr val="FFF8F0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7920" y="2600960"/>
            <a:ext cx="8290560" cy="422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spent weeks repairing maps in the Great Map Room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fixing missing elements, correcting directions, sorting map types, measuring distances, comparing globes, and reading charts.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the museum director says:
</a:t>
            </a:r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know you can read a map.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can you make one?"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241280" y="2438400"/>
            <a:ext cx="5201920" cy="4551680"/>
          </a:xfrm>
          <a:prstGeom prst="roundRect">
            <a:avLst>
              <a:gd name="adj" fmla="val 428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241280" y="2438400"/>
            <a:ext cx="520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85120" y="2926080"/>
            <a:ext cx="4714240" cy="390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director standing by a blank drafting table, pointing at the empty paper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800" y="7315200"/>
            <a:ext cx="14955520" cy="1137920"/>
          </a:xfrm>
          <a:prstGeom prst="roundRect">
            <a:avLst>
              <a:gd name="adj" fmla="val 14286"/>
            </a:avLst>
          </a:prstGeom>
          <a:solidFill>
            <a:srgbClr val="EAF8FD"/>
          </a:solidFill>
          <a:ln/>
        </p:spPr>
      </p:sp>
      <p:sp>
        <p:nvSpPr>
          <p:cNvPr id="13" name="Text 11"/>
          <p:cNvSpPr/>
          <p:nvPr/>
        </p:nvSpPr>
        <p:spPr>
          <a:xfrm>
            <a:off x="1137920" y="7396480"/>
            <a:ext cx="14305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sheet of paper is waiting on the drafting table. Can you build a map from scratch?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975360"/>
            <a:ext cx="650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5360" y="1625600"/>
            <a:ext cx="130048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75360" y="2844800"/>
            <a:ext cx="3251200" cy="65024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975360" y="3251200"/>
            <a:ext cx="13817600" cy="2275840"/>
          </a:xfrm>
          <a:prstGeom prst="roundRect">
            <a:avLst>
              <a:gd name="adj" fmla="val 8571"/>
            </a:avLst>
          </a:prstGeom>
          <a:solidFill>
            <a:srgbClr val="162750"/>
          </a:solidFill>
          <a:ln/>
        </p:spPr>
      </p:sp>
      <p:sp>
        <p:nvSpPr>
          <p:cNvPr id="7" name="Text 5"/>
          <p:cNvSpPr/>
          <p:nvPr/>
        </p:nvSpPr>
        <p:spPr>
          <a:xfrm>
            <a:off x="1300480" y="3413760"/>
            <a:ext cx="131673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responsible person does what they're supposed to do -- even the parts that seem small. When a mapmaker skips the scale or forgets the legend, the whole map becomes harder to read.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75360" y="5852160"/>
            <a:ext cx="13817600" cy="1625600"/>
          </a:xfrm>
          <a:prstGeom prst="roundRect">
            <a:avLst>
              <a:gd name="adj" fmla="val 12000"/>
            </a:avLst>
          </a:prstGeom>
          <a:solidFill>
            <a:srgbClr val="D4943A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00480" y="6014720"/>
            <a:ext cx="131673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take responsibility for every part of your map so visitors can trust it.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5360" y="780288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Role: Map Curator + Mapmaker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DISCOVER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Map Reader to Mapmaker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2032000"/>
            <a:ext cx="2926080" cy="455168"/>
          </a:xfrm>
          <a:prstGeom prst="roundRect">
            <a:avLst>
              <a:gd name="adj" fmla="val 50000"/>
            </a:avLst>
          </a:prstGeom>
          <a:solidFill>
            <a:srgbClr val="EAF8FD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2032000"/>
            <a:ext cx="292608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12800" y="2763520"/>
            <a:ext cx="6827520" cy="4226560"/>
          </a:xfrm>
          <a:prstGeom prst="roundRect">
            <a:avLst>
              <a:gd name="adj" fmla="val 4615"/>
            </a:avLst>
          </a:prstGeom>
          <a:solidFill>
            <a:srgbClr val="EAF8FD"/>
          </a:solidFill>
          <a:ln/>
        </p:spPr>
      </p:sp>
      <p:sp>
        <p:nvSpPr>
          <p:cNvPr id="9" name="Text 7"/>
          <p:cNvSpPr/>
          <p:nvPr/>
        </p:nvSpPr>
        <p:spPr>
          <a:xfrm>
            <a:off x="1137920" y="2926080"/>
            <a:ext cx="617728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Map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7920" y="3576320"/>
            <a:ext cx="61772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follow what someone else drew.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the title, legend, and compass rose that are already there.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50720" y="5689600"/>
            <a:ext cx="4551680" cy="2438400"/>
          </a:xfrm>
          <a:prstGeom prst="roundRect">
            <a:avLst>
              <a:gd name="adj" fmla="val 8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950720" y="5689600"/>
            <a:ext cx="4551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6177280"/>
            <a:ext cx="4064000" cy="178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reading a finished map with all elements labeled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8000" y="2763520"/>
            <a:ext cx="7315200" cy="4226560"/>
          </a:xfrm>
          <a:prstGeom prst="roundRect">
            <a:avLst>
              <a:gd name="adj" fmla="val 4615"/>
            </a:avLst>
          </a:prstGeom>
          <a:solidFill>
            <a:srgbClr val="FFF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453120" y="2926080"/>
            <a:ext cx="66649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Map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3120" y="3576320"/>
            <a:ext cx="66649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to include.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think about what the reader will need -- and add it yourself. That's a bigger responsibility.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65920" y="5689600"/>
            <a:ext cx="4551680" cy="2438400"/>
          </a:xfrm>
          <a:prstGeom prst="roundRect">
            <a:avLst>
              <a:gd name="adj" fmla="val 8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265920" y="5689600"/>
            <a:ext cx="4551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0" y="6177280"/>
            <a:ext cx="4064000" cy="178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 a blank drafting table starting to draw a map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DISCUSS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Reader Test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2800" y="1950720"/>
            <a:ext cx="2926080" cy="455168"/>
          </a:xfrm>
          <a:prstGeom prst="roundRect">
            <a:avLst>
              <a:gd name="adj" fmla="val 50000"/>
            </a:avLst>
          </a:prstGeom>
          <a:solidFill>
            <a:srgbClr val="EAF8FD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950720"/>
            <a:ext cx="292608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12800" y="2682240"/>
            <a:ext cx="14630400" cy="2600960"/>
          </a:xfrm>
          <a:prstGeom prst="roundRect">
            <a:avLst>
              <a:gd name="adj" fmla="val 7500"/>
            </a:avLst>
          </a:prstGeom>
          <a:solidFill>
            <a:srgbClr val="FFF8F0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7920" y="2844800"/>
            <a:ext cx="139801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mapmaker asks: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7920" y="3495040"/>
            <a:ext cx="1398016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someone picked up this map and knew nothing about this place, could they understand it?"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7920" y="4632960"/>
            <a:ext cx="13980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no, something is missing.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5689600"/>
            <a:ext cx="14630400" cy="2763520"/>
          </a:xfrm>
          <a:prstGeom prst="roundRect">
            <a:avLst>
              <a:gd name="adj" fmla="val 7059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6640" y="5787136"/>
            <a:ext cx="1414272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6640" y="6144768"/>
            <a:ext cx="1414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would happen if your map had no title?"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if you used symbols but didn't explain them?"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would a visitor know which way is north?"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REVEAL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Mapmaker's Checklist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18694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Title and Compass Rose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600960"/>
            <a:ext cx="6990080" cy="4876800"/>
          </a:xfrm>
          <a:prstGeom prst="roundRect">
            <a:avLst>
              <a:gd name="adj" fmla="val 40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37920" y="2763520"/>
            <a:ext cx="633984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7920" y="3413760"/>
            <a:ext cx="633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a reader sees. It tells them what place or topic the map shows. Without it, they're guessing.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25600" y="5039360"/>
            <a:ext cx="5689600" cy="2113280"/>
          </a:xfrm>
          <a:prstGeom prst="roundRect">
            <a:avLst>
              <a:gd name="adj" fmla="val 923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625600" y="5039360"/>
            <a:ext cx="568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69440" y="5527040"/>
            <a:ext cx="520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 of a map title reading 'Map of Florida State Parks'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90560" y="2600960"/>
            <a:ext cx="6990080" cy="4876800"/>
          </a:xfrm>
          <a:prstGeom prst="roundRect">
            <a:avLst>
              <a:gd name="adj" fmla="val 400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15680" y="2763520"/>
            <a:ext cx="633984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ROSE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15680" y="3413760"/>
            <a:ext cx="633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eight directions (N, S, E, W, NE, SE, SW, NW). Readers need this to describe where things 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03360" y="5039360"/>
            <a:ext cx="5689600" cy="2113280"/>
          </a:xfrm>
          <a:prstGeom prst="roundRect">
            <a:avLst>
              <a:gd name="adj" fmla="val 923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103360" y="5039360"/>
            <a:ext cx="568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47200" y="5527040"/>
            <a:ext cx="520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compass rose showing all 8 directions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800" y="7802880"/>
            <a:ext cx="146304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 needs both of these so readers know WHAT they're looking at and WHICH WAY is which.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REVEAL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Mapmaker's Checklist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18694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Scale and Legend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600960"/>
            <a:ext cx="6990080" cy="4876800"/>
          </a:xfrm>
          <a:prstGeom prst="roundRect">
            <a:avLst>
              <a:gd name="adj" fmla="val 40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37920" y="2763520"/>
            <a:ext cx="633984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7920" y="3413760"/>
            <a:ext cx="633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readers how far apart things really are. Without a scale, two places might look close but be hundreds of miles apart.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25600" y="5039360"/>
            <a:ext cx="5689600" cy="2113280"/>
          </a:xfrm>
          <a:prstGeom prst="roundRect">
            <a:avLst>
              <a:gd name="adj" fmla="val 923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625600" y="5039360"/>
            <a:ext cx="568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69440" y="5527040"/>
            <a:ext cx="520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scale bar showing '1 inch = 50 miles'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90560" y="2600960"/>
            <a:ext cx="6990080" cy="4876800"/>
          </a:xfrm>
          <a:prstGeom prst="roundRect">
            <a:avLst>
              <a:gd name="adj" fmla="val 4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15680" y="2763520"/>
            <a:ext cx="633984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+ SYMBOLS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15680" y="3413760"/>
            <a:ext cx="633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symbol on the map must appear in the legend with its meaning. If you use a blue line for rivers, the legend says so.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03360" y="5039360"/>
            <a:ext cx="5689600" cy="2113280"/>
          </a:xfrm>
          <a:prstGeom prst="roundRect">
            <a:avLst>
              <a:gd name="adj" fmla="val 923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103360" y="5039360"/>
            <a:ext cx="568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47200" y="5527040"/>
            <a:ext cx="520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legend showing symbols: blue line = river, green area = park, red dot = city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800" y="7802880"/>
            <a:ext cx="146304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elements -- title, compass rose, scale, legend -- must be on every map you make.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DISCUSS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Every Element Matter?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2800" y="1950720"/>
            <a:ext cx="2926080" cy="455168"/>
          </a:xfrm>
          <a:prstGeom prst="roundRect">
            <a:avLst>
              <a:gd name="adj" fmla="val 50000"/>
            </a:avLst>
          </a:prstGeom>
          <a:solidFill>
            <a:srgbClr val="EAF8FD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950720"/>
            <a:ext cx="292608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12800" y="2682240"/>
            <a:ext cx="8940800" cy="4064000"/>
          </a:xfrm>
          <a:prstGeom prst="roundRect">
            <a:avLst>
              <a:gd name="adj" fmla="val 6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37920" y="2844800"/>
            <a:ext cx="829056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7920" y="3299968"/>
            <a:ext cx="8290560" cy="328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map show, and what choice or pattern does it help us explain?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removed the compass rose, what questions could a reader no longer answer?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building a map harder than reading one?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responsibility connect to being a good mapmaker?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241280" y="2682240"/>
            <a:ext cx="5364480" cy="4064000"/>
          </a:xfrm>
          <a:prstGeom prst="roundRect">
            <a:avLst>
              <a:gd name="adj" fmla="val 4800"/>
            </a:avLst>
          </a:prstGeom>
          <a:solidFill>
            <a:srgbClr val="E3F8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66400" y="2844800"/>
            <a:ext cx="47142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MAPMAKER SECRET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66400" y="3413760"/>
            <a:ext cx="4714240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compass rose and legend FIRST, before you add details. That way you won't run out of room for the most important parts.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mapmakers plan ahead!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800" y="7071360"/>
            <a:ext cx="14955520" cy="1463040"/>
          </a:xfrm>
          <a:prstGeom prst="roundRect">
            <a:avLst>
              <a:gd name="adj" fmla="val 11111"/>
            </a:avLst>
          </a:prstGeom>
          <a:solidFill>
            <a:srgbClr val="FFF8F0"/>
          </a:solidFill>
          <a:ln/>
        </p:spPr>
      </p:sp>
      <p:sp>
        <p:nvSpPr>
          <p:cNvPr id="15" name="Text 13"/>
          <p:cNvSpPr/>
          <p:nvPr/>
        </p:nvSpPr>
        <p:spPr>
          <a:xfrm>
            <a:off x="1137920" y="715264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and Now: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7920" y="7640320"/>
            <a:ext cx="1430528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years ago, mapmakers drew every map by hand -- it could take months. Today, computers build maps in seconds. What stayed the same about what a mapmaker has to include?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Me Plan a 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18694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models thinking step by step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600960"/>
            <a:ext cx="9428480" cy="5527040"/>
          </a:xfrm>
          <a:prstGeom prst="roundRect">
            <a:avLst>
              <a:gd name="adj" fmla="val 3529"/>
            </a:avLst>
          </a:prstGeom>
          <a:solidFill>
            <a:srgbClr val="F0F2F8"/>
          </a:solidFill>
          <a:ln/>
        </p:spPr>
      </p:sp>
      <p:sp>
        <p:nvSpPr>
          <p:cNvPr id="8" name="Text 6"/>
          <p:cNvSpPr/>
          <p:nvPr/>
        </p:nvSpPr>
        <p:spPr>
          <a:xfrm>
            <a:off x="1137920" y="2763520"/>
            <a:ext cx="8778240" cy="520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I were making a map of our school..."
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Title: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"Map of Sunshine Elementary"
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Compass Rose: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 first so I don't run out of room
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Symbols + Legend: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square = library, green circle = playground, red triangle = office
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Scale: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inch = 50 feet
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Check: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 map pass the Reader Test?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66400" y="2600960"/>
            <a:ext cx="5039360" cy="5527040"/>
          </a:xfrm>
          <a:prstGeom prst="roundRect">
            <a:avLst>
              <a:gd name="adj" fmla="val 387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566400" y="2600960"/>
            <a:ext cx="5039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10240" y="3088640"/>
            <a:ext cx="455168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Teacher-drawn example map of a school with all 4 elements labeled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WE TRY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Element to Its Job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18694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together -- can you match each element to what it does?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600960"/>
            <a:ext cx="4064000" cy="1137920"/>
          </a:xfrm>
          <a:prstGeom prst="roundRect">
            <a:avLst>
              <a:gd name="adj" fmla="val 14286"/>
            </a:avLst>
          </a:prstGeom>
          <a:solidFill>
            <a:srgbClr val="EAF8FD"/>
          </a:solidFill>
          <a:ln/>
        </p:spPr>
      </p:sp>
      <p:sp>
        <p:nvSpPr>
          <p:cNvPr id="8" name="Text 6"/>
          <p:cNvSpPr/>
          <p:nvPr/>
        </p:nvSpPr>
        <p:spPr>
          <a:xfrm>
            <a:off x="812800" y="2600960"/>
            <a:ext cx="40640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01920" y="3088640"/>
            <a:ext cx="975360" cy="65024"/>
          </a:xfrm>
          <a:prstGeom prst="rect">
            <a:avLst/>
          </a:prstGeom>
          <a:solidFill>
            <a:srgbClr val="7A88A8"/>
          </a:solidFill>
          <a:ln/>
        </p:spPr>
      </p:sp>
      <p:sp>
        <p:nvSpPr>
          <p:cNvPr id="10" name="Shape 8"/>
          <p:cNvSpPr/>
          <p:nvPr/>
        </p:nvSpPr>
        <p:spPr>
          <a:xfrm>
            <a:off x="6502400" y="2600960"/>
            <a:ext cx="8940800" cy="1137920"/>
          </a:xfrm>
          <a:prstGeom prst="roundRect">
            <a:avLst>
              <a:gd name="adj" fmla="val 14286"/>
            </a:avLst>
          </a:prstGeom>
          <a:solidFill>
            <a:srgbClr val="F0F2F8"/>
          </a:solidFill>
          <a:ln/>
        </p:spPr>
      </p:sp>
      <p:sp>
        <p:nvSpPr>
          <p:cNvPr id="11" name="Text 9"/>
          <p:cNvSpPr/>
          <p:nvPr/>
        </p:nvSpPr>
        <p:spPr>
          <a:xfrm>
            <a:off x="6827520" y="2600960"/>
            <a:ext cx="829056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place or topic the map shows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3982720"/>
            <a:ext cx="4064000" cy="1137920"/>
          </a:xfrm>
          <a:prstGeom prst="roundRect">
            <a:avLst>
              <a:gd name="adj" fmla="val 14286"/>
            </a:avLst>
          </a:prstGeom>
          <a:solidFill>
            <a:srgbClr val="FFF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" y="3982720"/>
            <a:ext cx="40640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Rose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01920" y="4470400"/>
            <a:ext cx="975360" cy="65024"/>
          </a:xfrm>
          <a:prstGeom prst="rect">
            <a:avLst/>
          </a:prstGeom>
          <a:solidFill>
            <a:srgbClr val="7A88A8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2400" y="3982720"/>
            <a:ext cx="8940800" cy="1137920"/>
          </a:xfrm>
          <a:prstGeom prst="roundRect">
            <a:avLst>
              <a:gd name="adj" fmla="val 14286"/>
            </a:avLst>
          </a:prstGeom>
          <a:solidFill>
            <a:srgbClr val="F0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6827520" y="3982720"/>
            <a:ext cx="829056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eight directions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800" y="5364480"/>
            <a:ext cx="4064000" cy="1137920"/>
          </a:xfrm>
          <a:prstGeom prst="roundRect">
            <a:avLst>
              <a:gd name="adj" fmla="val 14286"/>
            </a:avLst>
          </a:prstGeom>
          <a:solidFill>
            <a:srgbClr val="E3F8ED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" y="5364480"/>
            <a:ext cx="40640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01920" y="5852160"/>
            <a:ext cx="975360" cy="65024"/>
          </a:xfrm>
          <a:prstGeom prst="rect">
            <a:avLst/>
          </a:prstGeom>
          <a:solidFill>
            <a:srgbClr val="7A88A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02400" y="5364480"/>
            <a:ext cx="8940800" cy="1137920"/>
          </a:xfrm>
          <a:prstGeom prst="roundRect">
            <a:avLst>
              <a:gd name="adj" fmla="val 14286"/>
            </a:avLst>
          </a:prstGeom>
          <a:solidFill>
            <a:srgbClr val="F0F2F8"/>
          </a:solidFill>
          <a:ln/>
        </p:spPr>
      </p:sp>
      <p:sp>
        <p:nvSpPr>
          <p:cNvPr id="21" name="Text 19"/>
          <p:cNvSpPr/>
          <p:nvPr/>
        </p:nvSpPr>
        <p:spPr>
          <a:xfrm>
            <a:off x="6827520" y="5364480"/>
            <a:ext cx="829056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how far apart things really 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800" y="6746240"/>
            <a:ext cx="4064000" cy="1137920"/>
          </a:xfrm>
          <a:prstGeom prst="roundRect">
            <a:avLst>
              <a:gd name="adj" fmla="val 14286"/>
            </a:avLst>
          </a:prstGeom>
          <a:solidFill>
            <a:srgbClr val="F0E8FF"/>
          </a:solidFill>
          <a:ln/>
        </p:spPr>
      </p:sp>
      <p:sp>
        <p:nvSpPr>
          <p:cNvPr id="23" name="Text 21"/>
          <p:cNvSpPr/>
          <p:nvPr/>
        </p:nvSpPr>
        <p:spPr>
          <a:xfrm>
            <a:off x="812800" y="6746240"/>
            <a:ext cx="40640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01920" y="7233920"/>
            <a:ext cx="975360" cy="65024"/>
          </a:xfrm>
          <a:prstGeom prst="rect">
            <a:avLst/>
          </a:prstGeom>
          <a:solidFill>
            <a:srgbClr val="7A88A8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2400" y="6746240"/>
            <a:ext cx="8940800" cy="1137920"/>
          </a:xfrm>
          <a:prstGeom prst="roundRect">
            <a:avLst>
              <a:gd name="adj" fmla="val 14286"/>
            </a:avLst>
          </a:prstGeom>
          <a:solidFill>
            <a:srgbClr val="F0F2F8"/>
          </a:solidFill>
          <a:ln/>
        </p:spPr>
      </p:sp>
      <p:sp>
        <p:nvSpPr>
          <p:cNvPr id="26" name="Text 24"/>
          <p:cNvSpPr/>
          <p:nvPr/>
        </p:nvSpPr>
        <p:spPr>
          <a:xfrm>
            <a:off x="6827520" y="6746240"/>
            <a:ext cx="829056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what colors and symbols mean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YOUR TURN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Your Map Elements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18694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real place you know. In your Curator's Notebook, answer: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682240"/>
            <a:ext cx="731520" cy="731520"/>
          </a:xfrm>
          <a:prstGeom prst="roundRect">
            <a:avLst>
              <a:gd name="adj" fmla="val 48889"/>
            </a:avLst>
          </a:prstGeom>
          <a:solidFill>
            <a:srgbClr val="1A8A7D"/>
          </a:solidFill>
          <a:ln/>
        </p:spPr>
      </p:sp>
      <p:sp>
        <p:nvSpPr>
          <p:cNvPr id="8" name="Text 6"/>
          <p:cNvSpPr/>
          <p:nvPr/>
        </p:nvSpPr>
        <p:spPr>
          <a:xfrm>
            <a:off x="812800" y="2682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8160" y="2682240"/>
            <a:ext cx="138176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your map's TITLE be?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901440"/>
            <a:ext cx="731520" cy="731520"/>
          </a:xfrm>
          <a:prstGeom prst="roundRect">
            <a:avLst>
              <a:gd name="adj" fmla="val 48889"/>
            </a:avLst>
          </a:prstGeom>
          <a:solidFill>
            <a:srgbClr val="1A8A7D"/>
          </a:solidFill>
          <a:ln/>
        </p:spPr>
      </p:sp>
      <p:sp>
        <p:nvSpPr>
          <p:cNvPr id="11" name="Text 9"/>
          <p:cNvSpPr/>
          <p:nvPr/>
        </p:nvSpPr>
        <p:spPr>
          <a:xfrm>
            <a:off x="812800" y="3901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8160" y="3901440"/>
            <a:ext cx="138176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at least TWO symbols you'd use and what they mean.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5120640"/>
            <a:ext cx="731520" cy="731520"/>
          </a:xfrm>
          <a:prstGeom prst="roundRect">
            <a:avLst>
              <a:gd name="adj" fmla="val 48889"/>
            </a:avLst>
          </a:prstGeom>
          <a:solidFill>
            <a:srgbClr val="1A8A7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800" y="5120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8160" y="5120640"/>
            <a:ext cx="138176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put the compass rose?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6339840"/>
            <a:ext cx="731520" cy="731520"/>
          </a:xfrm>
          <a:prstGeom prst="roundRect">
            <a:avLst>
              <a:gd name="adj" fmla="val 48889"/>
            </a:avLst>
          </a:prstGeom>
          <a:solidFill>
            <a:srgbClr val="1A8A7D"/>
          </a:solidFill>
          <a:ln/>
        </p:spPr>
      </p:sp>
      <p:sp>
        <p:nvSpPr>
          <p:cNvPr id="17" name="Text 15"/>
          <p:cNvSpPr/>
          <p:nvPr/>
        </p:nvSpPr>
        <p:spPr>
          <a:xfrm>
            <a:off x="812800" y="6339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8160" y="6339840"/>
            <a:ext cx="138176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your scale say? (Example: 1 inch = 100 feet)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64000" y="7152640"/>
            <a:ext cx="8128000" cy="1137920"/>
          </a:xfrm>
          <a:prstGeom prst="roundRect">
            <a:avLst>
              <a:gd name="adj" fmla="val 14286"/>
            </a:avLst>
          </a:prstGeom>
          <a:solidFill>
            <a:srgbClr val="FFF3DC"/>
          </a:solidFill>
          <a:ln/>
        </p:spPr>
      </p:sp>
      <p:sp>
        <p:nvSpPr>
          <p:cNvPr id="20" name="Text 18"/>
          <p:cNvSpPr/>
          <p:nvPr/>
        </p:nvSpPr>
        <p:spPr>
          <a:xfrm>
            <a:off x="4064000" y="7152640"/>
            <a:ext cx="81280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-- write in your Curator's Notebook!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ERROR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Wrong with This Map?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18694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made this map. Can you spot what's missing or wrong?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600960"/>
            <a:ext cx="8940800" cy="48768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12800" y="2600960"/>
            <a:ext cx="894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640" y="3088640"/>
            <a:ext cx="8453120" cy="4226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student-drawn map with NO TITLE, a compass rose with only N/S/E/W (missing intermediate directions), symbols on the map but NO LEGEND, and no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241280" y="2600960"/>
            <a:ext cx="5364480" cy="4876800"/>
          </a:xfrm>
          <a:prstGeom prst="roundRect">
            <a:avLst>
              <a:gd name="adj" fmla="val 4000"/>
            </a:avLst>
          </a:prstGeom>
          <a:solidFill>
            <a:srgbClr val="FDE8E9"/>
          </a:solidFill>
          <a:ln/>
        </p:spPr>
      </p:sp>
      <p:sp>
        <p:nvSpPr>
          <p:cNvPr id="11" name="Text 9"/>
          <p:cNvSpPr/>
          <p:nvPr/>
        </p:nvSpPr>
        <p:spPr>
          <a:xfrm>
            <a:off x="10566400" y="2763520"/>
            <a:ext cx="47142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TO FIND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66400" y="3251200"/>
            <a:ext cx="471424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title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Reader doesn't know what the map shows
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Missing intermediate directions</a:t>
            </a:r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Can't describe NE, SE, SW, NW
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legend</a:t>
            </a:r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Symbols are meaningless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 scale</a:t>
            </a:r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Can't tell real distances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7802880"/>
            <a:ext cx="146304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responsible mapmaker checks ALL four elements before sharing!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Mapmakers Build Trust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2800" y="2194560"/>
            <a:ext cx="14630400" cy="3251200"/>
          </a:xfrm>
          <a:prstGeom prst="roundRect">
            <a:avLst>
              <a:gd name="adj" fmla="val 6000"/>
            </a:avLst>
          </a:prstGeom>
          <a:solidFill>
            <a:srgbClr val="F0F2F8"/>
          </a:solidFill>
          <a:ln w="12700">
            <a:solidFill>
              <a:srgbClr val="D0D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7920" y="2357120"/>
            <a:ext cx="32512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LABEL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7920" y="2844800"/>
            <a:ext cx="13980160" cy="227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responsible mapmaker includes a title, compass rose, scale, and legend with symbols so that any reader -- even someone who's never seen the place -- can understand the map. Building a map is harder than reading one, because the mapmaker has to think about what the reader needs.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5852160"/>
            <a:ext cx="14630400" cy="2113280"/>
          </a:xfrm>
          <a:prstGeom prst="roundRect">
            <a:avLst>
              <a:gd name="adj" fmla="val 9231"/>
            </a:avLst>
          </a:prstGeom>
          <a:solidFill>
            <a:srgbClr val="FFF3DC"/>
          </a:solidFill>
          <a:ln/>
        </p:spPr>
      </p:sp>
      <p:sp>
        <p:nvSpPr>
          <p:cNvPr id="10" name="Text 8"/>
          <p:cNvSpPr/>
          <p:nvPr/>
        </p:nvSpPr>
        <p:spPr>
          <a:xfrm>
            <a:off x="1137920" y="6014720"/>
            <a:ext cx="32512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THINK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7920" y="6502400"/>
            <a:ext cx="139801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making a map of your neighborhood. What three landmarks or features would you include? What symbols would you use for them?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2800" y="2113280"/>
            <a:ext cx="14630400" cy="308864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7" name="Text 5"/>
          <p:cNvSpPr/>
          <p:nvPr/>
        </p:nvSpPr>
        <p:spPr>
          <a:xfrm>
            <a:off x="975360" y="2194560"/>
            <a:ext cx="650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4080" y="2194560"/>
            <a:ext cx="650240" cy="487680"/>
          </a:xfrm>
          <a:prstGeom prst="roundRect">
            <a:avLst>
              <a:gd name="adj" fmla="val 26667"/>
            </a:avLst>
          </a:prstGeom>
          <a:solidFill>
            <a:srgbClr val="1A8A7D"/>
          </a:solidFill>
          <a:ln/>
        </p:spPr>
      </p:sp>
      <p:sp>
        <p:nvSpPr>
          <p:cNvPr id="9" name="Text 7"/>
          <p:cNvSpPr/>
          <p:nvPr/>
        </p:nvSpPr>
        <p:spPr>
          <a:xfrm>
            <a:off x="894080" y="2194560"/>
            <a:ext cx="650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8160" y="2194560"/>
            <a:ext cx="1332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building a map harder than reading one?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8160" y="2844800"/>
            <a:ext cx="1332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Because maps are always confusing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Because you need expensive tools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Because the mapmaker has to think about what the reader will need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192000" y="455168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2800" y="5527040"/>
            <a:ext cx="14630400" cy="2763520"/>
          </a:xfrm>
          <a:prstGeom prst="roundRect">
            <a:avLst>
              <a:gd name="adj" fmla="val 7059"/>
            </a:avLst>
          </a:prstGeom>
          <a:solidFill>
            <a:srgbClr val="F0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94080" y="5608320"/>
            <a:ext cx="650240" cy="487680"/>
          </a:xfrm>
          <a:prstGeom prst="roundRect">
            <a:avLst>
              <a:gd name="adj" fmla="val 26667"/>
            </a:avLst>
          </a:prstGeom>
          <a:solidFill>
            <a:srgbClr val="1A8A7D"/>
          </a:solidFill>
          <a:ln/>
        </p:spPr>
      </p:sp>
      <p:sp>
        <p:nvSpPr>
          <p:cNvPr id="15" name="Text 13"/>
          <p:cNvSpPr/>
          <p:nvPr/>
        </p:nvSpPr>
        <p:spPr>
          <a:xfrm>
            <a:off x="894080" y="5608320"/>
            <a:ext cx="650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8160" y="5608320"/>
            <a:ext cx="1332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draw a blue triangle for a lake. Where should you explain what it means?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8160" y="6258560"/>
            <a:ext cx="1332992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In the legend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In the title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On the compass rose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192000" y="772160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Check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2800" y="2113280"/>
            <a:ext cx="14630400" cy="3251200"/>
          </a:xfrm>
          <a:prstGeom prst="roundRect">
            <a:avLst>
              <a:gd name="adj" fmla="val 6000"/>
            </a:avLst>
          </a:prstGeom>
          <a:solidFill>
            <a:srgbClr val="F0F2F8"/>
          </a:solidFill>
          <a:ln/>
        </p:spPr>
      </p:sp>
      <p:sp>
        <p:nvSpPr>
          <p:cNvPr id="7" name="Shape 5"/>
          <p:cNvSpPr/>
          <p:nvPr/>
        </p:nvSpPr>
        <p:spPr>
          <a:xfrm>
            <a:off x="894080" y="2194560"/>
            <a:ext cx="650240" cy="487680"/>
          </a:xfrm>
          <a:prstGeom prst="roundRect">
            <a:avLst>
              <a:gd name="adj" fmla="val 26667"/>
            </a:avLst>
          </a:prstGeom>
          <a:solidFill>
            <a:srgbClr val="1A8A7D"/>
          </a:solidFill>
          <a:ln/>
        </p:spPr>
      </p:sp>
      <p:sp>
        <p:nvSpPr>
          <p:cNvPr id="8" name="Text 6"/>
          <p:cNvSpPr/>
          <p:nvPr/>
        </p:nvSpPr>
        <p:spPr>
          <a:xfrm>
            <a:off x="894080" y="2194560"/>
            <a:ext cx="650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8160" y="2194560"/>
            <a:ext cx="1332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responsible mapmaker should always check that their map has...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8160" y="2926080"/>
            <a:ext cx="1332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Bright colors and fancy borders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 title, compass rose, scale, and legend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At least ten symbols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192000" y="471424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800" y="5852160"/>
            <a:ext cx="14630400" cy="2438400"/>
          </a:xfrm>
          <a:prstGeom prst="roundRect">
            <a:avLst>
              <a:gd name="adj" fmla="val 8000"/>
            </a:avLst>
          </a:prstGeom>
          <a:solidFill>
            <a:srgbClr val="E3F8ED"/>
          </a:solidFill>
          <a:ln/>
        </p:spPr>
      </p:sp>
      <p:sp>
        <p:nvSpPr>
          <p:cNvPr id="13" name="Text 11"/>
          <p:cNvSpPr/>
          <p:nvPr/>
        </p:nvSpPr>
        <p:spPr>
          <a:xfrm>
            <a:off x="1137920" y="6014720"/>
            <a:ext cx="32512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7920" y="6502400"/>
            <a:ext cx="1398016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don't need to be fancy -- they need to be CLEAR. The four essential elements are title, compass rose, scale, and legend. A responsible mapmaker checks all four before sharing.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EVIDENCE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Turn 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18694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Questions -- answer using details from the lesson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600960"/>
            <a:ext cx="14630400" cy="2438400"/>
          </a:xfrm>
          <a:prstGeom prst="roundRect">
            <a:avLst>
              <a:gd name="adj" fmla="val 8000"/>
            </a:avLst>
          </a:prstGeom>
          <a:solidFill>
            <a:srgbClr val="EAF8FD"/>
          </a:solidFill>
          <a:ln/>
        </p:spPr>
      </p:sp>
      <p:sp>
        <p:nvSpPr>
          <p:cNvPr id="8" name="Shape 6"/>
          <p:cNvSpPr/>
          <p:nvPr/>
        </p:nvSpPr>
        <p:spPr>
          <a:xfrm>
            <a:off x="975360" y="2763520"/>
            <a:ext cx="650240" cy="568960"/>
          </a:xfrm>
          <a:prstGeom prst="roundRect">
            <a:avLst>
              <a:gd name="adj" fmla="val 22857"/>
            </a:avLst>
          </a:prstGeom>
          <a:solidFill>
            <a:srgbClr val="1A8A7D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" y="2763520"/>
            <a:ext cx="65024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69440" y="2763520"/>
            <a:ext cx="1332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building a map harder than just reading one? Use an example from the lesson to explain.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69440" y="3657600"/>
            <a:ext cx="133299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Think about what the mapmaker has to decide that the reader doesn't.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800" y="5364480"/>
            <a:ext cx="14630400" cy="2438400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/>
        </p:spPr>
      </p:sp>
      <p:sp>
        <p:nvSpPr>
          <p:cNvPr id="13" name="Shape 11"/>
          <p:cNvSpPr/>
          <p:nvPr/>
        </p:nvSpPr>
        <p:spPr>
          <a:xfrm>
            <a:off x="975360" y="5527040"/>
            <a:ext cx="650240" cy="568960"/>
          </a:xfrm>
          <a:prstGeom prst="roundRect">
            <a:avLst>
              <a:gd name="adj" fmla="val 22857"/>
            </a:avLst>
          </a:pr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" y="5527040"/>
            <a:ext cx="65024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69440" y="5527040"/>
            <a:ext cx="1332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being responsible connect to being a good mapmaker?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69440" y="6421120"/>
            <a:ext cx="133299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Connect the virtue of responsibility to what you learned about including map elements.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CURATOR TASK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Curator Task: My Map Plan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18694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map you would create for the museum.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600960"/>
            <a:ext cx="14630400" cy="3576320"/>
          </a:xfrm>
          <a:prstGeom prst="roundRect">
            <a:avLst>
              <a:gd name="adj" fmla="val 5455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7920" y="2763520"/>
            <a:ext cx="13980160" cy="260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director wants to see your map plan. Pick a real place you know -- your neighborhood, school, a park, or a town. Describe the map you would make. In 3-4 sentences, tell us: What is the title? What symbols would you use, and what would the legend say? How would the compass rose, scale, and legend help a visitor read your map?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7920" y="5445760"/>
            <a:ext cx="139801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3-4 sentences with the title, at least two symbols, and how the essential elements help readers.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800" y="6502400"/>
            <a:ext cx="14630400" cy="1463040"/>
          </a:xfrm>
          <a:prstGeom prst="roundRect">
            <a:avLst>
              <a:gd name="adj" fmla="val 13333"/>
            </a:avLst>
          </a:prstGeom>
          <a:solidFill>
            <a:srgbClr val="F0E8FF"/>
          </a:solidFill>
          <a:ln/>
        </p:spPr>
      </p:sp>
      <p:sp>
        <p:nvSpPr>
          <p:cNvPr id="11" name="Text 9"/>
          <p:cNvSpPr/>
          <p:nvPr/>
        </p:nvSpPr>
        <p:spPr>
          <a:xfrm>
            <a:off x="1137920" y="6583680"/>
            <a:ext cx="48768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CHRONICLE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7920" y="6990080"/>
            <a:ext cx="139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6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exhibit, I learned that ______ because ______.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128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30048"/>
            <a:ext cx="97536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329920" y="130048"/>
            <a:ext cx="243840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1379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Turn-In Checklist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438400" y="2438400"/>
            <a:ext cx="11379200" cy="975360"/>
          </a:xfrm>
          <a:prstGeom prst="roundRect">
            <a:avLst>
              <a:gd name="adj" fmla="val 16667"/>
            </a:avLst>
          </a:prstGeom>
          <a:solidFill>
            <a:srgbClr val="F0F2F8"/>
          </a:solidFill>
          <a:ln/>
        </p:spPr>
      </p:sp>
      <p:sp>
        <p:nvSpPr>
          <p:cNvPr id="7" name="Shape 5"/>
          <p:cNvSpPr/>
          <p:nvPr/>
        </p:nvSpPr>
        <p:spPr>
          <a:xfrm>
            <a:off x="2600960" y="2633472"/>
            <a:ext cx="585216" cy="5852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3760" y="2438400"/>
            <a:ext cx="1007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answered both evidence questions.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38400" y="3657600"/>
            <a:ext cx="11379200" cy="975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600960" y="3852672"/>
            <a:ext cx="585216" cy="5852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3760" y="3657600"/>
            <a:ext cx="1007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completed the Curator Task (my map plan).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38400" y="4876800"/>
            <a:ext cx="11379200" cy="975360"/>
          </a:xfrm>
          <a:prstGeom prst="roundRect">
            <a:avLst>
              <a:gd name="adj" fmla="val 16667"/>
            </a:avLst>
          </a:prstGeom>
          <a:solidFill>
            <a:srgbClr val="F0F2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0960" y="5071872"/>
            <a:ext cx="585216" cy="5852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3760" y="4876800"/>
            <a:ext cx="1007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my Curator's Chronicle.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38400" y="6096000"/>
            <a:ext cx="11379200" cy="975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0960" y="6291072"/>
            <a:ext cx="585216" cy="5852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3760" y="6096000"/>
            <a:ext cx="1007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copied or downloaded my work and submitted to Canvas.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51200" y="7477760"/>
            <a:ext cx="9753600" cy="975360"/>
          </a:xfrm>
          <a:prstGeom prst="roundRect">
            <a:avLst>
              <a:gd name="adj" fmla="val 16667"/>
            </a:avLst>
          </a:prstGeom>
          <a:solidFill>
            <a:srgbClr val="E3F8ED"/>
          </a:solidFill>
          <a:ln/>
        </p:spPr>
      </p:sp>
      <p:sp>
        <p:nvSpPr>
          <p:cNvPr id="19" name="Text 17"/>
          <p:cNvSpPr/>
          <p:nvPr/>
        </p:nvSpPr>
        <p:spPr>
          <a:xfrm>
            <a:off x="3251200" y="7477760"/>
            <a:ext cx="97536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boxes are checked, you're done!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75360" y="1625600"/>
            <a:ext cx="1430528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Work, Mapmaker!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75360" y="2926080"/>
            <a:ext cx="3251200" cy="65024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975360" y="3251200"/>
            <a:ext cx="113792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proved you can think like a mapmaker --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every element so a visitor can understand your map.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 is impressed!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75360" y="5364480"/>
            <a:ext cx="13817600" cy="2438400"/>
          </a:xfrm>
          <a:prstGeom prst="roundRect">
            <a:avLst>
              <a:gd name="adj" fmla="val 8000"/>
            </a:avLst>
          </a:prstGeom>
          <a:solidFill>
            <a:srgbClr val="162750"/>
          </a:solidFill>
          <a:ln/>
        </p:spPr>
      </p:sp>
      <p:sp>
        <p:nvSpPr>
          <p:cNvPr id="9" name="Text 6"/>
          <p:cNvSpPr/>
          <p:nvPr/>
        </p:nvSpPr>
        <p:spPr>
          <a:xfrm>
            <a:off x="1300480" y="5527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00480" y="6014720"/>
            <a:ext cx="1316736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Skills Challenge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00480" y="6664960"/>
            <a:ext cx="13167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task before the Great Map Room is officially ready for visitors: the final inspection! You'll use everything you've learned -- elements, directions, scale, map types, charts, and more. Get your Curator's Notebook ready!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75360" y="8290560"/>
            <a:ext cx="13004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|  Social Studies  |  Grade 3  |  Lesson 3.03.07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3.03.07 Create a Map with Essential Elements</dc:title>
  <dc:subject>PptxGenJS Presentation</dc:subject>
  <dc:creator>Optima Academy Online</dc:creator>
  <cp:lastModifiedBy>Optima Academy Online</cp:lastModifiedBy>
  <cp:revision>1</cp:revision>
  <dcterms:created xsi:type="dcterms:W3CDTF">2026-07-11T02:48:20Z</dcterms:created>
  <dcterms:modified xsi:type="dcterms:W3CDTF">2026-07-11T02:48:20Z</dcterms:modified>
</cp:coreProperties>
</file>