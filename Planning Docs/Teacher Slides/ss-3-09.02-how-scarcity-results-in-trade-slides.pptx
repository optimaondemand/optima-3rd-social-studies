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Marketplace scene with trade tables, bustling historical market, warm lantern lightTeacher: Welcome students to Marketplace Hall. Today we explore how scarcity drives people to trade with each other. Standards: SS.3.E.1.1-1.4.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Two long wooden trade tables side by side: one with fish and salt, the other with grain and bread loavesTeacher: Set the scene. Two trade tables appeared overnight in the museum. One from a coastal town, one from a valley farm. Ask students: What do you notice about what each table has?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Two people shaking hands across a market table with goods between them, honest exchangeTeacher: Introduce honesty as the virtue. Ask: Why would someone lie in a trade? What happens to trust? Emphasize that fair trade depends on both sides telling the truth about what they are offering.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Introduce the concept of trade with a simple definition. Use the apple/crackers example. Ask: Has anyone ever traded something at lunch? What did you give up, and what did you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Describe the coastal town. It is right by the ocean, so there is plenty of fish and salt. But the soil is sandy — no wheat grows there. Ask: What would you miss if you lived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Now describe the valley farm. It has rich soil and plenty of grain and bread. But it is far from the sea — no fish or salt. Ask: What would you miss if you lived here? How is this different from the coastal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the trade table row by row. Point to 'Has plenty of' — each town has something the other needs. Point to 'Scarce' — each town is missing something. Point to 'The trade' — they swap. Ask: Does this seem fair? Why or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the 3-step flow. Step 1: different scarcities create the need. Step 2: trade happens. Step 3: both are better off. Emphasize the honesty condition. Ask: What happens if one side lies about the quality of their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Display the historical trade scene. Use the three questions to guide discussion. What do I see? What does it mean? Why does it matter? Let students share observations before revealing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60-90 seconds of think time. Then discuss: What does each side gain? What do they give up? Could they survive without trading? Guide students toward understanding that trade makes both sides better off because each place has different scarcities.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Compare then and now. Long ago, people traded fish for grain face-to-face. Today, Florida oranges travel by truck and Maine lobsters fly on planes. The reason is the same: different places have different scarcities. Ask: Can you think of something your family buys that comes from another state or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Summarize the big picture before moving to the self-check. When two places have different scarcities, trade happens. Each side gives up what it has plenty of to get what it needs. Honesty is the key that makes it all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Go through Q1 first. The correct answer is B — trade is when two sides swap things, each gives up something to get something else. Ask students to explain why A and C are wrong. Then preview Q2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Q2 answer is C — each had plenty of one thing and scarcity of another. Q3 answer is A — if one side lies, the other gets cheated and trade breaks down. Connect back to the honesty virtue: honest trade builds trust, dishonest trade destroys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through each evidence question aloud. Then introduce the Curator Task. Explain the four-part frame: Choice, Scarcity, Benefit, Consequence. Students should write 4-5 sentences covering all four parts. Remind students to use specific details from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hallway with trade tables in background, warm lantern glow, path leading to next exhibitTeacher: Have students complete the Curator's Chronicle sentence stem. Call on 2-3 students to share. Preview the next lesson: we will look at choices people make when resources are limited. Thank students for their work in Marketplace Hall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097280"/>
            <a:ext cx="10698480" cy="457200"/>
          </a:xfrm>
          <a:prstGeom prst="rect">
            <a:avLst/>
          </a:prstGeom>
          <a:noFill/>
          <a:ln/>
        </p:spPr>
        <p:txBody>
          <a:bodyPr wrap="square" lIns="0" tIns="0" rIns="0" bIns="0" rtlCol="0" anchor="ctr"/>
          <a:lstStyle/>
          <a:p>
            <a:pPr indent="0" marL="0">
              <a:buNone/>
            </a:pPr>
            <a:r>
              <a:rPr lang="en-US" sz="1400" b="1" spc="300" kern="0" dirty="0">
                <a:solidFill>
                  <a:srgbClr val="D4943A"/>
                </a:solidFill>
                <a:latin typeface="Calibri" pitchFamily="34" charset="0"/>
                <a:ea typeface="Calibri" pitchFamily="34" charset="-122"/>
                <a:cs typeface="Calibri" pitchFamily="34" charset="-120"/>
              </a:rPr>
              <a:t>MARKETPLACE HALL</a:t>
            </a:r>
            <a:endParaRPr lang="en-US" sz="1400" dirty="0"/>
          </a:p>
        </p:txBody>
      </p:sp>
      <p:sp>
        <p:nvSpPr>
          <p:cNvPr id="6" name="Text 3"/>
          <p:cNvSpPr/>
          <p:nvPr/>
        </p:nvSpPr>
        <p:spPr>
          <a:xfrm>
            <a:off x="731520" y="1645920"/>
            <a:ext cx="7315200" cy="2194560"/>
          </a:xfrm>
          <a:prstGeom prst="rect">
            <a:avLst/>
          </a:prstGeom>
          <a:noFill/>
          <a:ln/>
        </p:spPr>
        <p:txBody>
          <a:bodyPr wrap="square" lIns="0" tIns="0" rIns="0" bIns="0" rtlCol="0" anchor="ctr"/>
          <a:lstStyle/>
          <a:p>
            <a:pPr indent="0" marL="0">
              <a:lnSpc>
                <a:spcPct val="90000"/>
              </a:lnSpc>
              <a:buNone/>
            </a:pPr>
            <a:r>
              <a:rPr lang="en-US" sz="4800" b="1" dirty="0">
                <a:solidFill>
                  <a:srgbClr val="FFFFFF"/>
                </a:solidFill>
                <a:latin typeface="Cambria" pitchFamily="34" charset="0"/>
                <a:ea typeface="Cambria" pitchFamily="34" charset="-122"/>
                <a:cs typeface="Cambria" pitchFamily="34" charset="-120"/>
              </a:rPr>
              <a:t>How Scarcity</a:t>
            </a:r>
            <a:endParaRPr lang="en-US" sz="4800" dirty="0"/>
          </a:p>
          <a:p>
            <a:pPr indent="0" marL="0">
              <a:lnSpc>
                <a:spcPct val="90000"/>
              </a:lnSpc>
              <a:buNone/>
            </a:pPr>
            <a:r>
              <a:rPr lang="en-US" sz="4800" b="1" dirty="0">
                <a:solidFill>
                  <a:srgbClr val="FFFFFF"/>
                </a:solidFill>
                <a:latin typeface="Cambria" pitchFamily="34" charset="0"/>
                <a:ea typeface="Cambria" pitchFamily="34" charset="-122"/>
                <a:cs typeface="Cambria" pitchFamily="34" charset="-120"/>
              </a:rPr>
              <a:t>Results in Trade</a:t>
            </a:r>
            <a:endParaRPr lang="en-US" sz="4800" dirty="0"/>
          </a:p>
        </p:txBody>
      </p:sp>
      <p:sp>
        <p:nvSpPr>
          <p:cNvPr id="7" name="Text 4"/>
          <p:cNvSpPr/>
          <p:nvPr/>
        </p:nvSpPr>
        <p:spPr>
          <a:xfrm>
            <a:off x="731520" y="3931920"/>
            <a:ext cx="3657600" cy="457200"/>
          </a:xfrm>
          <a:prstGeom prst="rect">
            <a:avLst/>
          </a:prstGeom>
          <a:noFill/>
          <a:ln/>
        </p:spPr>
        <p:txBody>
          <a:bodyPr wrap="square" lIns="0" tIns="0" rIns="0" bIns="0" rtlCol="0" anchor="ctr"/>
          <a:lstStyle/>
          <a:p>
            <a:pPr indent="0" marL="0">
              <a:buNone/>
            </a:pPr>
            <a:r>
              <a:rPr lang="en-US" sz="1600" dirty="0">
                <a:solidFill>
                  <a:srgbClr val="55C8E8"/>
                </a:solidFill>
                <a:latin typeface="Calibri" pitchFamily="34" charset="0"/>
                <a:ea typeface="Calibri" pitchFamily="34" charset="-122"/>
                <a:cs typeface="Calibri" pitchFamily="34" charset="-120"/>
              </a:rPr>
              <a:t>Lesson 3.09.02</a:t>
            </a:r>
            <a:endParaRPr lang="en-US" sz="1600" dirty="0"/>
          </a:p>
        </p:txBody>
      </p:sp>
      <p:sp>
        <p:nvSpPr>
          <p:cNvPr id="8" name="Text 5"/>
          <p:cNvSpPr/>
          <p:nvPr/>
        </p:nvSpPr>
        <p:spPr>
          <a:xfrm>
            <a:off x="731520" y="4389120"/>
            <a:ext cx="3657600" cy="36576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SS.3.E.1.1 – SS.3.E.1.4</a:t>
            </a:r>
            <a:endParaRPr lang="en-US" sz="1200" dirty="0"/>
          </a:p>
        </p:txBody>
      </p:sp>
      <p:sp>
        <p:nvSpPr>
          <p:cNvPr id="9" name="Shape 6"/>
          <p:cNvSpPr/>
          <p:nvPr/>
        </p:nvSpPr>
        <p:spPr>
          <a:xfrm>
            <a:off x="731520" y="5120640"/>
            <a:ext cx="2743200" cy="54864"/>
          </a:xfrm>
          <a:prstGeom prst="roundRect">
            <a:avLst>
              <a:gd name="adj" fmla="val 50000"/>
            </a:avLst>
          </a:prstGeom>
          <a:solidFill>
            <a:srgbClr val="D4943A"/>
          </a:solidFill>
          <a:ln/>
        </p:spPr>
      </p:sp>
      <p:sp>
        <p:nvSpPr>
          <p:cNvPr id="10" name="Text 7"/>
          <p:cNvSpPr/>
          <p:nvPr/>
        </p:nvSpPr>
        <p:spPr>
          <a:xfrm>
            <a:off x="731520" y="5303520"/>
            <a:ext cx="3657600" cy="36576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Week 24  |  Quarter 3</a:t>
            </a:r>
            <a:endParaRPr lang="en-US" sz="1200" dirty="0"/>
          </a:p>
        </p:txBody>
      </p:sp>
      <p:sp>
        <p:nvSpPr>
          <p:cNvPr id="11" name="Text 8"/>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 / 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731520"/>
            <a:ext cx="36576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THE SCENE</a:t>
            </a:r>
            <a:endParaRPr lang="en-US" sz="1200" dirty="0"/>
          </a:p>
        </p:txBody>
      </p:sp>
      <p:sp>
        <p:nvSpPr>
          <p:cNvPr id="6" name="Text 3"/>
          <p:cNvSpPr/>
          <p:nvPr/>
        </p:nvSpPr>
        <p:spPr>
          <a:xfrm>
            <a:off x="731520" y="1188720"/>
            <a:ext cx="73152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Two Trade Tables</a:t>
            </a:r>
            <a:endParaRPr lang="en-US" sz="4000" dirty="0"/>
          </a:p>
        </p:txBody>
      </p:sp>
      <p:sp>
        <p:nvSpPr>
          <p:cNvPr id="7" name="Shape 4"/>
          <p:cNvSpPr/>
          <p:nvPr/>
        </p:nvSpPr>
        <p:spPr>
          <a:xfrm>
            <a:off x="731520" y="2560320"/>
            <a:ext cx="5029200" cy="2011680"/>
          </a:xfrm>
          <a:prstGeom prst="roundRect">
            <a:avLst>
              <a:gd name="adj" fmla="val 6818"/>
            </a:avLst>
          </a:prstGeom>
          <a:solidFill>
            <a:srgbClr val="0B1835"/>
          </a:solidFill>
          <a:ln w="12700">
            <a:solidFill>
              <a:srgbClr val="55C8E8"/>
            </a:solidFill>
            <a:prstDash val="solid"/>
          </a:ln>
        </p:spPr>
      </p:sp>
      <p:sp>
        <p:nvSpPr>
          <p:cNvPr id="8" name="Text 5"/>
          <p:cNvSpPr/>
          <p:nvPr/>
        </p:nvSpPr>
        <p:spPr>
          <a:xfrm>
            <a:off x="914400" y="2651760"/>
            <a:ext cx="4663440" cy="27432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COASTAL TOWN TABLE</a:t>
            </a:r>
            <a:endParaRPr lang="en-US" sz="1000" dirty="0"/>
          </a:p>
        </p:txBody>
      </p:sp>
      <p:sp>
        <p:nvSpPr>
          <p:cNvPr id="9" name="Text 6"/>
          <p:cNvSpPr/>
          <p:nvPr/>
        </p:nvSpPr>
        <p:spPr>
          <a:xfrm>
            <a:off x="914400" y="3017520"/>
            <a:ext cx="4663440"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Fish and salt from the sea.</a:t>
            </a:r>
            <a:endParaRPr lang="en-US" sz="1600" dirty="0"/>
          </a:p>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Plenty of seafood — no wheat.</a:t>
            </a:r>
            <a:endParaRPr lang="en-US" sz="1600" dirty="0"/>
          </a:p>
        </p:txBody>
      </p:sp>
      <p:sp>
        <p:nvSpPr>
          <p:cNvPr id="10" name="Shape 7"/>
          <p:cNvSpPr/>
          <p:nvPr/>
        </p:nvSpPr>
        <p:spPr>
          <a:xfrm>
            <a:off x="6309360" y="2560320"/>
            <a:ext cx="5029200" cy="2011680"/>
          </a:xfrm>
          <a:prstGeom prst="roundRect">
            <a:avLst>
              <a:gd name="adj" fmla="val 6818"/>
            </a:avLst>
          </a:prstGeom>
          <a:solidFill>
            <a:srgbClr val="0B1835"/>
          </a:solidFill>
          <a:ln w="12700">
            <a:solidFill>
              <a:srgbClr val="D4943A"/>
            </a:solidFill>
            <a:prstDash val="solid"/>
          </a:ln>
        </p:spPr>
      </p:sp>
      <p:sp>
        <p:nvSpPr>
          <p:cNvPr id="11" name="Text 8"/>
          <p:cNvSpPr/>
          <p:nvPr/>
        </p:nvSpPr>
        <p:spPr>
          <a:xfrm>
            <a:off x="6492240" y="2651760"/>
            <a:ext cx="466344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VALLEY FARM TABLE</a:t>
            </a:r>
            <a:endParaRPr lang="en-US" sz="1000" dirty="0"/>
          </a:p>
        </p:txBody>
      </p:sp>
      <p:sp>
        <p:nvSpPr>
          <p:cNvPr id="12" name="Text 9"/>
          <p:cNvSpPr/>
          <p:nvPr/>
        </p:nvSpPr>
        <p:spPr>
          <a:xfrm>
            <a:off x="6492240" y="3017520"/>
            <a:ext cx="4663440"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Grain and bread from the fields.</a:t>
            </a:r>
            <a:endParaRPr lang="en-US" sz="1600" dirty="0"/>
          </a:p>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Plenty of bread — no fish.</a:t>
            </a:r>
            <a:endParaRPr lang="en-US" sz="1600" dirty="0"/>
          </a:p>
        </p:txBody>
      </p:sp>
      <p:sp>
        <p:nvSpPr>
          <p:cNvPr id="13" name="Shape 10"/>
          <p:cNvSpPr/>
          <p:nvPr/>
        </p:nvSpPr>
        <p:spPr>
          <a:xfrm>
            <a:off x="731520" y="4754880"/>
            <a:ext cx="10728960" cy="1341120"/>
          </a:xfrm>
          <a:prstGeom prst="roundRect">
            <a:avLst>
              <a:gd name="adj" fmla="val 8182"/>
            </a:avLst>
          </a:prstGeom>
          <a:solidFill>
            <a:srgbClr val="FFF3DC"/>
          </a:solidFill>
          <a:ln w="19050">
            <a:solidFill>
              <a:srgbClr val="F5E6C8"/>
            </a:solidFill>
            <a:prstDash val="solid"/>
          </a:ln>
        </p:spPr>
      </p:sp>
      <p:sp>
        <p:nvSpPr>
          <p:cNvPr id="14" name="Text 11"/>
          <p:cNvSpPr/>
          <p:nvPr/>
        </p:nvSpPr>
        <p:spPr>
          <a:xfrm>
            <a:off x="868680" y="4809744"/>
            <a:ext cx="1045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2"/>
          <p:cNvSpPr/>
          <p:nvPr/>
        </p:nvSpPr>
        <p:spPr>
          <a:xfrm>
            <a:off x="868680" y="5010912"/>
            <a:ext cx="10454640" cy="1021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"Yesterday, you learned about scarcity."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"Today, watch what scarcity quietly does to people."</a:t>
            </a:r>
            <a:endParaRPr lang="en-US" sz="1200" dirty="0"/>
          </a:p>
        </p:txBody>
      </p:sp>
      <p:sp>
        <p:nvSpPr>
          <p:cNvPr id="16" name="Text 13"/>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914400"/>
            <a:ext cx="36576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VIRTUE SPOTLIGHT</a:t>
            </a:r>
            <a:endParaRPr lang="en-US" sz="1200" dirty="0"/>
          </a:p>
        </p:txBody>
      </p:sp>
      <p:sp>
        <p:nvSpPr>
          <p:cNvPr id="6" name="Text 3"/>
          <p:cNvSpPr/>
          <p:nvPr/>
        </p:nvSpPr>
        <p:spPr>
          <a:xfrm>
            <a:off x="731520" y="1371600"/>
            <a:ext cx="73152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Honesty</a:t>
            </a:r>
            <a:endParaRPr lang="en-US" sz="4800" dirty="0"/>
          </a:p>
        </p:txBody>
      </p:sp>
      <p:sp>
        <p:nvSpPr>
          <p:cNvPr id="7" name="Shape 4"/>
          <p:cNvSpPr/>
          <p:nvPr/>
        </p:nvSpPr>
        <p:spPr>
          <a:xfrm>
            <a:off x="731520" y="2743200"/>
            <a:ext cx="9144000" cy="54864"/>
          </a:xfrm>
          <a:prstGeom prst="roundRect">
            <a:avLst>
              <a:gd name="adj" fmla="val 50000"/>
            </a:avLst>
          </a:prstGeom>
          <a:solidFill>
            <a:srgbClr val="D4943A"/>
          </a:solidFill>
          <a:ln/>
        </p:spPr>
      </p:sp>
      <p:sp>
        <p:nvSpPr>
          <p:cNvPr id="8" name="Text 5"/>
          <p:cNvSpPr/>
          <p:nvPr/>
        </p:nvSpPr>
        <p:spPr>
          <a:xfrm>
            <a:off x="731520" y="3017520"/>
            <a:ext cx="914400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Trade only works when both sides are honest.</a:t>
            </a:r>
            <a:endParaRPr lang="en-US" sz="2000" dirty="0"/>
          </a:p>
        </p:txBody>
      </p:sp>
      <p:sp>
        <p:nvSpPr>
          <p:cNvPr id="9" name="Shape 6"/>
          <p:cNvSpPr/>
          <p:nvPr/>
        </p:nvSpPr>
        <p:spPr>
          <a:xfrm>
            <a:off x="731520" y="3840480"/>
            <a:ext cx="9144000" cy="1463040"/>
          </a:xfrm>
          <a:prstGeom prst="roundRect">
            <a:avLst>
              <a:gd name="adj" fmla="val 9375"/>
            </a:avLst>
          </a:prstGeom>
          <a:solidFill>
            <a:srgbClr val="1A2D5A"/>
          </a:solidFill>
          <a:ln/>
        </p:spPr>
      </p:sp>
      <p:sp>
        <p:nvSpPr>
          <p:cNvPr id="10" name="Text 7"/>
          <p:cNvSpPr/>
          <p:nvPr/>
        </p:nvSpPr>
        <p:spPr>
          <a:xfrm>
            <a:off x="1005840" y="4023360"/>
            <a:ext cx="8595360" cy="10972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If the coastal town says </a:t>
            </a:r>
            <a:pPr indent="0" marL="0">
              <a:buNone/>
            </a:pPr>
            <a:r>
              <a:rPr lang="en-US" sz="1600" b="1" i="1" dirty="0">
                <a:solidFill>
                  <a:srgbClr val="D4943A"/>
                </a:solidFill>
                <a:latin typeface="Cambria" pitchFamily="34" charset="0"/>
                <a:ea typeface="Cambria" pitchFamily="34" charset="-122"/>
                <a:cs typeface="Cambria" pitchFamily="34" charset="-120"/>
              </a:rPr>
              <a:t>"These fish are fresh,"</a:t>
            </a:r>
            <a:pPr indent="0" marL="0">
              <a:buNone/>
            </a:pPr>
            <a:r>
              <a:rPr lang="en-US" sz="1600" dirty="0">
                <a:solidFill>
                  <a:srgbClr val="FFFFFF"/>
                </a:solidFill>
                <a:latin typeface="Calibri" pitchFamily="34" charset="0"/>
                <a:ea typeface="Calibri" pitchFamily="34" charset="-122"/>
                <a:cs typeface="Calibri" pitchFamily="34" charset="-120"/>
              </a:rPr>
              <a:t> they have to actually be fresh.</a:t>
            </a:r>
            <a:endParaRPr lang="en-US" sz="1600" dirty="0"/>
          </a:p>
        </p:txBody>
      </p:sp>
      <p:sp>
        <p:nvSpPr>
          <p:cNvPr id="11" name="Text 8"/>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DISCOVERY</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What Is Trade?</a:t>
            </a:r>
            <a:endParaRPr lang="en-US" sz="3600" dirty="0"/>
          </a:p>
        </p:txBody>
      </p:sp>
      <p:sp>
        <p:nvSpPr>
          <p:cNvPr id="6" name="Shape 4"/>
          <p:cNvSpPr/>
          <p:nvPr/>
        </p:nvSpPr>
        <p:spPr>
          <a:xfrm>
            <a:off x="975360" y="2072640"/>
            <a:ext cx="6705600" cy="1828800"/>
          </a:xfrm>
          <a:prstGeom prst="roundRect">
            <a:avLst>
              <a:gd name="adj" fmla="val 7500"/>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1219200" y="2194560"/>
            <a:ext cx="2438400" cy="3048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DEFINITION</a:t>
            </a:r>
            <a:endParaRPr lang="en-US" sz="900" dirty="0"/>
          </a:p>
        </p:txBody>
      </p:sp>
      <p:sp>
        <p:nvSpPr>
          <p:cNvPr id="8" name="Text 6"/>
          <p:cNvSpPr/>
          <p:nvPr/>
        </p:nvSpPr>
        <p:spPr>
          <a:xfrm>
            <a:off x="1219200" y="2560320"/>
            <a:ext cx="6217920" cy="1219200"/>
          </a:xfrm>
          <a:prstGeom prst="rect">
            <a:avLst/>
          </a:prstGeom>
          <a:noFill/>
          <a:ln/>
        </p:spPr>
        <p:txBody>
          <a:bodyPr wrap="square" lIns="0" tIns="0" rIns="0" bIns="0" rtlCol="0" anchor="ctr"/>
          <a:lstStyle/>
          <a:p>
            <a:pPr indent="0" marL="0">
              <a:lnSpc>
                <a:spcPct val="130000"/>
              </a:lnSpc>
              <a:buNone/>
            </a:pPr>
            <a:r>
              <a:rPr lang="en-US" sz="1600" dirty="0">
                <a:solidFill>
                  <a:srgbClr val="0E1C42"/>
                </a:solidFill>
                <a:latin typeface="Calibri" pitchFamily="34" charset="0"/>
                <a:ea typeface="Calibri" pitchFamily="34" charset="-122"/>
                <a:cs typeface="Calibri" pitchFamily="34" charset="-120"/>
              </a:rPr>
              <a:t>Trade is when two people swap things — each gives up something they have a lot of to get something they don't have.</a:t>
            </a:r>
            <a:endParaRPr lang="en-US" sz="1600" dirty="0"/>
          </a:p>
        </p:txBody>
      </p:sp>
      <p:sp>
        <p:nvSpPr>
          <p:cNvPr id="9" name="Shape 7"/>
          <p:cNvSpPr/>
          <p:nvPr/>
        </p:nvSpPr>
        <p:spPr>
          <a:xfrm>
            <a:off x="975360" y="4145280"/>
            <a:ext cx="6705600" cy="1463040"/>
          </a:xfrm>
          <a:prstGeom prst="roundRect">
            <a:avLst>
              <a:gd name="adj" fmla="val 9375"/>
            </a:avLst>
          </a:prstGeom>
          <a:solidFill>
            <a:srgbClr val="FFF3DC"/>
          </a:solidFill>
          <a:ln/>
          <a:effectLst>
            <a:outerShdw sx="100000" sy="100000" kx="0" ky="0" algn="bl" rotWithShape="0" blurRad="76200" dist="25400" dir="8100000">
              <a:srgbClr val="000000">
                <a:alpha val="10000"/>
              </a:srgbClr>
            </a:outerShdw>
          </a:effectLst>
        </p:spPr>
      </p:sp>
      <p:sp>
        <p:nvSpPr>
          <p:cNvPr id="10" name="Text 8"/>
          <p:cNvSpPr/>
          <p:nvPr/>
        </p:nvSpPr>
        <p:spPr>
          <a:xfrm>
            <a:off x="1219200" y="4267200"/>
            <a:ext cx="2438400" cy="3048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EXAMPLE</a:t>
            </a:r>
            <a:endParaRPr lang="en-US" sz="900" dirty="0"/>
          </a:p>
        </p:txBody>
      </p:sp>
      <p:sp>
        <p:nvSpPr>
          <p:cNvPr id="11" name="Text 9"/>
          <p:cNvSpPr/>
          <p:nvPr/>
        </p:nvSpPr>
        <p:spPr>
          <a:xfrm>
            <a:off x="1219200" y="4632960"/>
            <a:ext cx="6217920" cy="853440"/>
          </a:xfrm>
          <a:prstGeom prst="rect">
            <a:avLst/>
          </a:prstGeom>
          <a:noFill/>
          <a:ln/>
        </p:spPr>
        <p:txBody>
          <a:bodyPr wrap="square" lIns="0" tIns="0" rIns="0" bIns="0" rtlCol="0" anchor="ctr"/>
          <a:lstStyle/>
          <a:p>
            <a:pPr indent="0" marL="0">
              <a:lnSpc>
                <a:spcPct val="130000"/>
              </a:lnSpc>
              <a:buNone/>
            </a:pPr>
            <a:r>
              <a:rPr lang="en-US" sz="1400" dirty="0">
                <a:solidFill>
                  <a:srgbClr val="5A4A3A"/>
                </a:solidFill>
                <a:latin typeface="Calibri" pitchFamily="34" charset="0"/>
                <a:ea typeface="Calibri" pitchFamily="34" charset="-122"/>
                <a:cs typeface="Calibri" pitchFamily="34" charset="-120"/>
              </a:rPr>
              <a:t>You have ten apples but no crackers. Your friend has ten crackers but no apples. You swap — now both of you have a snack and a crunch.</a:t>
            </a:r>
            <a:endParaRPr lang="en-US" sz="1400" dirty="0"/>
          </a:p>
        </p:txBody>
      </p:sp>
      <p:sp>
        <p:nvSpPr>
          <p:cNvPr id="12" name="Shape 10"/>
          <p:cNvSpPr/>
          <p:nvPr/>
        </p:nvSpPr>
        <p:spPr>
          <a:xfrm>
            <a:off x="8290560" y="2072640"/>
            <a:ext cx="3413760" cy="3535680"/>
          </a:xfrm>
          <a:prstGeom prst="roundRect">
            <a:avLst>
              <a:gd name="adj" fmla="val 3214"/>
            </a:avLst>
          </a:prstGeom>
          <a:solidFill>
            <a:srgbClr val="E2E8F4"/>
          </a:solidFill>
          <a:ln w="19050">
            <a:solidFill>
              <a:srgbClr val="B0B8CC"/>
            </a:solidFill>
            <a:prstDash val="dash"/>
          </a:ln>
        </p:spPr>
      </p:sp>
      <p:sp>
        <p:nvSpPr>
          <p:cNvPr id="13" name="Text 11"/>
          <p:cNvSpPr/>
          <p:nvPr/>
        </p:nvSpPr>
        <p:spPr>
          <a:xfrm>
            <a:off x="8290560" y="2072640"/>
            <a:ext cx="34137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8473440" y="2438400"/>
            <a:ext cx="3048000" cy="3078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two children swapping apples and crackers</a:t>
            </a:r>
            <a:endParaRPr lang="en-US" sz="1100" dirty="0"/>
          </a:p>
        </p:txBody>
      </p:sp>
      <p:sp>
        <p:nvSpPr>
          <p:cNvPr id="15" name="Text 13"/>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DISCOVERY</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The Coastal Town</a:t>
            </a:r>
            <a:endParaRPr lang="en-US" sz="3600" dirty="0"/>
          </a:p>
        </p:txBody>
      </p:sp>
      <p:sp>
        <p:nvSpPr>
          <p:cNvPr id="6" name="Shape 4"/>
          <p:cNvSpPr/>
          <p:nvPr/>
        </p:nvSpPr>
        <p:spPr>
          <a:xfrm>
            <a:off x="731520" y="2072640"/>
            <a:ext cx="5120640" cy="3657600"/>
          </a:xfrm>
          <a:prstGeom prst="roundRect">
            <a:avLst>
              <a:gd name="adj" fmla="val 3000"/>
            </a:avLst>
          </a:prstGeom>
          <a:solidFill>
            <a:srgbClr val="E2E8F4"/>
          </a:solidFill>
          <a:ln w="19050">
            <a:solidFill>
              <a:srgbClr val="B0B8CC"/>
            </a:solidFill>
            <a:prstDash val="dash"/>
          </a:ln>
        </p:spPr>
      </p:sp>
      <p:sp>
        <p:nvSpPr>
          <p:cNvPr id="7" name="Text 5"/>
          <p:cNvSpPr/>
          <p:nvPr/>
        </p:nvSpPr>
        <p:spPr>
          <a:xfrm>
            <a:off x="731520" y="2072640"/>
            <a:ext cx="51206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914400" y="2438400"/>
            <a:ext cx="475488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Coastal town scene: fishing boats, docks, barrels of salt, sandy soil, no farmland</a:t>
            </a:r>
            <a:endParaRPr lang="en-US" sz="1100" dirty="0"/>
          </a:p>
        </p:txBody>
      </p:sp>
      <p:sp>
        <p:nvSpPr>
          <p:cNvPr id="9" name="Shape 7"/>
          <p:cNvSpPr/>
          <p:nvPr/>
        </p:nvSpPr>
        <p:spPr>
          <a:xfrm>
            <a:off x="6339840" y="2072640"/>
            <a:ext cx="5364480" cy="1584960"/>
          </a:xfrm>
          <a:prstGeom prst="roundRect">
            <a:avLst>
              <a:gd name="adj" fmla="val 8654"/>
            </a:avLst>
          </a:prstGeom>
          <a:solidFill>
            <a:srgbClr val="E3F8ED"/>
          </a:solidFill>
          <a:ln/>
          <a:effectLst>
            <a:outerShdw sx="100000" sy="100000" kx="0" ky="0" algn="bl" rotWithShape="0" blurRad="76200" dist="25400" dir="8100000">
              <a:srgbClr val="000000">
                <a:alpha val="10000"/>
              </a:srgbClr>
            </a:outerShdw>
          </a:effectLst>
        </p:spPr>
      </p:sp>
      <p:sp>
        <p:nvSpPr>
          <p:cNvPr id="10" name="Text 8"/>
          <p:cNvSpPr/>
          <p:nvPr/>
        </p:nvSpPr>
        <p:spPr>
          <a:xfrm>
            <a:off x="6583680" y="2194560"/>
            <a:ext cx="3657600" cy="3048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PLENTY OF</a:t>
            </a:r>
            <a:endParaRPr lang="en-US" sz="900" dirty="0"/>
          </a:p>
        </p:txBody>
      </p:sp>
      <p:sp>
        <p:nvSpPr>
          <p:cNvPr id="11" name="Text 9"/>
          <p:cNvSpPr/>
          <p:nvPr/>
        </p:nvSpPr>
        <p:spPr>
          <a:xfrm>
            <a:off x="6583680" y="2560320"/>
            <a:ext cx="4876800" cy="853440"/>
          </a:xfrm>
          <a:prstGeom prst="rect">
            <a:avLst/>
          </a:prstGeom>
          <a:noFill/>
          <a:ln/>
        </p:spPr>
        <p:txBody>
          <a:bodyPr wrap="square" lIns="0" tIns="0" rIns="0" bIns="0" rtlCol="0" anchor="ctr"/>
          <a:lstStyle/>
          <a:p>
            <a:pPr indent="0" marL="0">
              <a:buNone/>
            </a:pPr>
            <a:r>
              <a:rPr lang="en-US" sz="1800" b="1" dirty="0">
                <a:solidFill>
                  <a:srgbClr val="0E1C42"/>
                </a:solidFill>
                <a:latin typeface="Calibri" pitchFamily="34" charset="0"/>
                <a:ea typeface="Calibri" pitchFamily="34" charset="-122"/>
                <a:cs typeface="Calibri" pitchFamily="34" charset="-120"/>
              </a:rPr>
              <a:t>Fish and salt from the sea</a:t>
            </a:r>
            <a:endParaRPr lang="en-US" sz="1800" dirty="0"/>
          </a:p>
        </p:txBody>
      </p:sp>
      <p:sp>
        <p:nvSpPr>
          <p:cNvPr id="12" name="Shape 10"/>
          <p:cNvSpPr/>
          <p:nvPr/>
        </p:nvSpPr>
        <p:spPr>
          <a:xfrm>
            <a:off x="6339840" y="3901440"/>
            <a:ext cx="5364480" cy="1584960"/>
          </a:xfrm>
          <a:prstGeom prst="roundRect">
            <a:avLst>
              <a:gd name="adj" fmla="val 8654"/>
            </a:avLst>
          </a:prstGeom>
          <a:solidFill>
            <a:srgbClr val="FCE4E4"/>
          </a:solidFill>
          <a:ln/>
          <a:effectLst>
            <a:outerShdw sx="100000" sy="100000" kx="0" ky="0" algn="bl" rotWithShape="0" blurRad="76200" dist="25400" dir="8100000">
              <a:srgbClr val="000000">
                <a:alpha val="10000"/>
              </a:srgbClr>
            </a:outerShdw>
          </a:effectLst>
        </p:spPr>
      </p:sp>
      <p:sp>
        <p:nvSpPr>
          <p:cNvPr id="13" name="Text 11"/>
          <p:cNvSpPr/>
          <p:nvPr/>
        </p:nvSpPr>
        <p:spPr>
          <a:xfrm>
            <a:off x="6583680" y="4023360"/>
            <a:ext cx="3657600" cy="304800"/>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SCARCE</a:t>
            </a:r>
            <a:endParaRPr lang="en-US" sz="900" dirty="0"/>
          </a:p>
        </p:txBody>
      </p:sp>
      <p:sp>
        <p:nvSpPr>
          <p:cNvPr id="14" name="Text 12"/>
          <p:cNvSpPr/>
          <p:nvPr/>
        </p:nvSpPr>
        <p:spPr>
          <a:xfrm>
            <a:off x="6583680" y="4389120"/>
            <a:ext cx="4876800" cy="853440"/>
          </a:xfrm>
          <a:prstGeom prst="rect">
            <a:avLst/>
          </a:prstGeom>
          <a:noFill/>
          <a:ln/>
        </p:spPr>
        <p:txBody>
          <a:bodyPr wrap="square" lIns="0" tIns="0" rIns="0" bIns="0" rtlCol="0" anchor="ctr"/>
          <a:lstStyle/>
          <a:p>
            <a:pPr indent="0" marL="0">
              <a:lnSpc>
                <a:spcPct val="120000"/>
              </a:lnSpc>
              <a:buNone/>
            </a:pPr>
            <a:r>
              <a:rPr lang="en-US" sz="1800" dirty="0">
                <a:solidFill>
                  <a:srgbClr val="0E1C42"/>
                </a:solidFill>
                <a:latin typeface="Calibri" pitchFamily="34" charset="0"/>
                <a:ea typeface="Calibri" pitchFamily="34" charset="-122"/>
                <a:cs typeface="Calibri" pitchFamily="34" charset="-120"/>
              </a:rPr>
              <a:t>Wheat and grain — sandy soil,</a:t>
            </a:r>
            <a:endParaRPr lang="en-US" sz="1800" dirty="0"/>
          </a:p>
          <a:p>
            <a:pPr indent="0" marL="0">
              <a:lnSpc>
                <a:spcPct val="120000"/>
              </a:lnSpc>
              <a:buNone/>
            </a:pPr>
            <a:r>
              <a:rPr lang="en-US" sz="1800" dirty="0">
                <a:solidFill>
                  <a:srgbClr val="0E1C42"/>
                </a:solidFill>
                <a:latin typeface="Calibri" pitchFamily="34" charset="0"/>
                <a:ea typeface="Calibri" pitchFamily="34" charset="-122"/>
                <a:cs typeface="Calibri" pitchFamily="34" charset="-120"/>
              </a:rPr>
              <a:t>no farmland nearby</a:t>
            </a:r>
            <a:endParaRPr lang="en-US" sz="1800" dirty="0"/>
          </a:p>
        </p:txBody>
      </p:sp>
      <p:sp>
        <p:nvSpPr>
          <p:cNvPr id="15" name="Text 13"/>
          <p:cNvSpPr/>
          <p:nvPr/>
        </p:nvSpPr>
        <p:spPr>
          <a:xfrm>
            <a:off x="6583680" y="5486400"/>
            <a:ext cx="4876800" cy="48768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Result: No bread on the table.</a:t>
            </a:r>
            <a:endParaRPr lang="en-US" sz="1400" dirty="0"/>
          </a:p>
        </p:txBody>
      </p:sp>
      <p:sp>
        <p:nvSpPr>
          <p:cNvPr id="16" name="Text 14"/>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DISCOVERY</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The Valley Farm</a:t>
            </a:r>
            <a:endParaRPr lang="en-US" sz="3600" dirty="0"/>
          </a:p>
        </p:txBody>
      </p:sp>
      <p:sp>
        <p:nvSpPr>
          <p:cNvPr id="6" name="Shape 4"/>
          <p:cNvSpPr/>
          <p:nvPr/>
        </p:nvSpPr>
        <p:spPr>
          <a:xfrm>
            <a:off x="975360" y="2072640"/>
            <a:ext cx="5364480" cy="1584960"/>
          </a:xfrm>
          <a:prstGeom prst="roundRect">
            <a:avLst>
              <a:gd name="adj" fmla="val 8654"/>
            </a:avLst>
          </a:prstGeom>
          <a:solidFill>
            <a:srgbClr val="E3F8ED"/>
          </a:solidFill>
          <a:ln/>
          <a:effectLst>
            <a:outerShdw sx="100000" sy="100000" kx="0" ky="0" algn="bl" rotWithShape="0" blurRad="76200" dist="25400" dir="8100000">
              <a:srgbClr val="000000">
                <a:alpha val="10000"/>
              </a:srgbClr>
            </a:outerShdw>
          </a:effectLst>
        </p:spPr>
      </p:sp>
      <p:sp>
        <p:nvSpPr>
          <p:cNvPr id="7" name="Text 5"/>
          <p:cNvSpPr/>
          <p:nvPr/>
        </p:nvSpPr>
        <p:spPr>
          <a:xfrm>
            <a:off x="1219200" y="2194560"/>
            <a:ext cx="3657600" cy="3048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PLENTY OF</a:t>
            </a:r>
            <a:endParaRPr lang="en-US" sz="900" dirty="0"/>
          </a:p>
        </p:txBody>
      </p:sp>
      <p:sp>
        <p:nvSpPr>
          <p:cNvPr id="8" name="Text 6"/>
          <p:cNvSpPr/>
          <p:nvPr/>
        </p:nvSpPr>
        <p:spPr>
          <a:xfrm>
            <a:off x="1219200" y="2560320"/>
            <a:ext cx="4876800" cy="853440"/>
          </a:xfrm>
          <a:prstGeom prst="rect">
            <a:avLst/>
          </a:prstGeom>
          <a:noFill/>
          <a:ln/>
        </p:spPr>
        <p:txBody>
          <a:bodyPr wrap="square" lIns="0" tIns="0" rIns="0" bIns="0" rtlCol="0" anchor="ctr"/>
          <a:lstStyle/>
          <a:p>
            <a:pPr indent="0" marL="0">
              <a:buNone/>
            </a:pPr>
            <a:r>
              <a:rPr lang="en-US" sz="1800" b="1" dirty="0">
                <a:solidFill>
                  <a:srgbClr val="0E1C42"/>
                </a:solidFill>
                <a:latin typeface="Calibri" pitchFamily="34" charset="0"/>
                <a:ea typeface="Calibri" pitchFamily="34" charset="-122"/>
                <a:cs typeface="Calibri" pitchFamily="34" charset="-120"/>
              </a:rPr>
              <a:t>Grain and bread from the fields</a:t>
            </a:r>
            <a:endParaRPr lang="en-US" sz="1800" dirty="0"/>
          </a:p>
        </p:txBody>
      </p:sp>
      <p:sp>
        <p:nvSpPr>
          <p:cNvPr id="9" name="Shape 7"/>
          <p:cNvSpPr/>
          <p:nvPr/>
        </p:nvSpPr>
        <p:spPr>
          <a:xfrm>
            <a:off x="975360" y="3901440"/>
            <a:ext cx="5364480" cy="1584960"/>
          </a:xfrm>
          <a:prstGeom prst="roundRect">
            <a:avLst>
              <a:gd name="adj" fmla="val 8654"/>
            </a:avLst>
          </a:prstGeom>
          <a:solidFill>
            <a:srgbClr val="FCE4E4"/>
          </a:solidFill>
          <a:ln/>
          <a:effectLst>
            <a:outerShdw sx="100000" sy="100000" kx="0" ky="0" algn="bl" rotWithShape="0" blurRad="76200" dist="25400" dir="8100000">
              <a:srgbClr val="000000">
                <a:alpha val="10000"/>
              </a:srgbClr>
            </a:outerShdw>
          </a:effectLst>
        </p:spPr>
      </p:sp>
      <p:sp>
        <p:nvSpPr>
          <p:cNvPr id="10" name="Text 8"/>
          <p:cNvSpPr/>
          <p:nvPr/>
        </p:nvSpPr>
        <p:spPr>
          <a:xfrm>
            <a:off x="1219200" y="4023360"/>
            <a:ext cx="3657600" cy="304800"/>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SCARCE</a:t>
            </a:r>
            <a:endParaRPr lang="en-US" sz="900" dirty="0"/>
          </a:p>
        </p:txBody>
      </p:sp>
      <p:sp>
        <p:nvSpPr>
          <p:cNvPr id="11" name="Text 9"/>
          <p:cNvSpPr/>
          <p:nvPr/>
        </p:nvSpPr>
        <p:spPr>
          <a:xfrm>
            <a:off x="1219200" y="4389120"/>
            <a:ext cx="4876800" cy="853440"/>
          </a:xfrm>
          <a:prstGeom prst="rect">
            <a:avLst/>
          </a:prstGeom>
          <a:noFill/>
          <a:ln/>
        </p:spPr>
        <p:txBody>
          <a:bodyPr wrap="square" lIns="0" tIns="0" rIns="0" bIns="0" rtlCol="0" anchor="ctr"/>
          <a:lstStyle/>
          <a:p>
            <a:pPr indent="0" marL="0">
              <a:lnSpc>
                <a:spcPct val="120000"/>
              </a:lnSpc>
              <a:buNone/>
            </a:pPr>
            <a:r>
              <a:rPr lang="en-US" sz="1800" dirty="0">
                <a:solidFill>
                  <a:srgbClr val="0E1C42"/>
                </a:solidFill>
                <a:latin typeface="Calibri" pitchFamily="34" charset="0"/>
                <a:ea typeface="Calibri" pitchFamily="34" charset="-122"/>
                <a:cs typeface="Calibri" pitchFamily="34" charset="-120"/>
              </a:rPr>
              <a:t>Fish and salt — the valley</a:t>
            </a:r>
            <a:endParaRPr lang="en-US" sz="1800" dirty="0"/>
          </a:p>
          <a:p>
            <a:pPr indent="0" marL="0">
              <a:lnSpc>
                <a:spcPct val="120000"/>
              </a:lnSpc>
              <a:buNone/>
            </a:pPr>
            <a:r>
              <a:rPr lang="en-US" sz="1800" dirty="0">
                <a:solidFill>
                  <a:srgbClr val="0E1C42"/>
                </a:solidFill>
                <a:latin typeface="Calibri" pitchFamily="34" charset="0"/>
                <a:ea typeface="Calibri" pitchFamily="34" charset="-122"/>
                <a:cs typeface="Calibri" pitchFamily="34" charset="-120"/>
              </a:rPr>
              <a:t>is far from the sea</a:t>
            </a:r>
            <a:endParaRPr lang="en-US" sz="1800" dirty="0"/>
          </a:p>
        </p:txBody>
      </p:sp>
      <p:sp>
        <p:nvSpPr>
          <p:cNvPr id="12" name="Text 10"/>
          <p:cNvSpPr/>
          <p:nvPr/>
        </p:nvSpPr>
        <p:spPr>
          <a:xfrm>
            <a:off x="1219200" y="5486400"/>
            <a:ext cx="4876800" cy="48768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Result: No fish on the table.</a:t>
            </a:r>
            <a:endParaRPr lang="en-US" sz="1400" dirty="0"/>
          </a:p>
        </p:txBody>
      </p:sp>
      <p:sp>
        <p:nvSpPr>
          <p:cNvPr id="13" name="Shape 11"/>
          <p:cNvSpPr/>
          <p:nvPr/>
        </p:nvSpPr>
        <p:spPr>
          <a:xfrm>
            <a:off x="6705600" y="2072640"/>
            <a:ext cx="5120640" cy="3657600"/>
          </a:xfrm>
          <a:prstGeom prst="roundRect">
            <a:avLst>
              <a:gd name="adj" fmla="val 3000"/>
            </a:avLst>
          </a:prstGeom>
          <a:solidFill>
            <a:srgbClr val="E2E8F4"/>
          </a:solidFill>
          <a:ln w="19050">
            <a:solidFill>
              <a:srgbClr val="B0B8CC"/>
            </a:solidFill>
            <a:prstDash val="dash"/>
          </a:ln>
        </p:spPr>
      </p:sp>
      <p:sp>
        <p:nvSpPr>
          <p:cNvPr id="14" name="Text 12"/>
          <p:cNvSpPr/>
          <p:nvPr/>
        </p:nvSpPr>
        <p:spPr>
          <a:xfrm>
            <a:off x="6705600" y="2072640"/>
            <a:ext cx="51206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6888480" y="2438400"/>
            <a:ext cx="475488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Valley farm scene: golden wheat fields, a farmhouse, bread on a table, no ocean in sight</a:t>
            </a:r>
            <a:endParaRPr lang="en-US" sz="1100" dirty="0"/>
          </a:p>
        </p:txBody>
      </p:sp>
      <p:sp>
        <p:nvSpPr>
          <p:cNvPr id="16" name="Text 14"/>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TRADE TABLE</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Side by Side</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463040" y="2072640"/>
          <a:ext cx="9265920" cy="914400"/>
        </p:xfrm>
        <a:graphic>
          <a:graphicData uri="http://schemas.openxmlformats.org/drawingml/2006/table">
            <a:tbl>
              <a:tblPr/>
              <a:tblGrid>
                <a:gridCol w="2682240"/>
                <a:gridCol w="3291840"/>
                <a:gridCol w="3291840"/>
              </a:tblGrid>
              <a:tr h="457200">
                <a:tc>
                  <a:txBody>
                    <a:bodyPr/>
                    <a:lstStyle/>
                    <a:p>
                      <a:pPr indent="0" marL="0">
                        <a:buNone/>
                      </a:pPr>
                      <a:endParaRPr lang="en-US" sz="1200" dirty="0"/>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1C42"/>
                    </a:solidFill>
                  </a:tcPr>
                </a:tc>
                <a:tc>
                  <a:txBody>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Coastal Town</a:t>
                      </a:r>
                      <a:endParaRPr lang="en-US" sz="1400" dirty="0">
                        <a:latin typeface="Cambria" charset="0"/>
                        <a:ea typeface="Cambria" charset="0"/>
                        <a:cs typeface="Cambria"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1C42"/>
                    </a:solidFill>
                  </a:tcPr>
                </a:tc>
                <a:tc>
                  <a:txBody>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Valley Farm</a:t>
                      </a:r>
                      <a:endParaRPr lang="en-US" sz="1400" dirty="0">
                        <a:latin typeface="Cambria" charset="0"/>
                        <a:ea typeface="Cambria" charset="0"/>
                        <a:cs typeface="Cambria"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1C42"/>
                    </a:solidFill>
                  </a:tcPr>
                </a:tc>
              </a:tr>
              <a:tr h="502920">
                <a:tc>
                  <a:txBody>
                    <a:bodyPr/>
                    <a:lstStyle/>
                    <a:p>
                      <a:pPr indent="0" marL="0">
                        <a:buNone/>
                      </a:pPr>
                      <a:r>
                        <a:rPr lang="en-US" sz="1300" b="1" dirty="0">
                          <a:solidFill>
                            <a:srgbClr val="0E1C42"/>
                          </a:solidFill>
                          <a:latin typeface="Calibri" pitchFamily="34" charset="0"/>
                          <a:ea typeface="Calibri" pitchFamily="34" charset="-122"/>
                          <a:cs typeface="Calibri" pitchFamily="34" charset="-120"/>
                        </a:rPr>
                        <a:t>Has plenty of</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3F8ED"/>
                    </a:solidFill>
                  </a:tcPr>
                </a:tc>
                <a:tc>
                  <a:txBody>
                    <a:bodyPr/>
                    <a:lstStyle/>
                    <a:p>
                      <a:pPr algn="ctr" indent="0" marL="0">
                        <a:buNone/>
                      </a:pPr>
                      <a:r>
                        <a:rPr lang="en-US" sz="1300" dirty="0">
                          <a:solidFill>
                            <a:srgbClr val="0E1C42"/>
                          </a:solidFill>
                          <a:latin typeface="Calibri" pitchFamily="34" charset="0"/>
                          <a:ea typeface="Calibri" pitchFamily="34" charset="-122"/>
                          <a:cs typeface="Calibri" pitchFamily="34" charset="-120"/>
                        </a:rPr>
                        <a:t>Fish, salt</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3F8ED"/>
                    </a:solidFill>
                  </a:tcPr>
                </a:tc>
                <a:tc>
                  <a:txBody>
                    <a:bodyPr/>
                    <a:lstStyle/>
                    <a:p>
                      <a:pPr algn="ctr" indent="0" marL="0">
                        <a:buNone/>
                      </a:pPr>
                      <a:r>
                        <a:rPr lang="en-US" sz="1300" dirty="0">
                          <a:solidFill>
                            <a:srgbClr val="0E1C42"/>
                          </a:solidFill>
                          <a:latin typeface="Calibri" pitchFamily="34" charset="0"/>
                          <a:ea typeface="Calibri" pitchFamily="34" charset="-122"/>
                          <a:cs typeface="Calibri" pitchFamily="34" charset="-120"/>
                        </a:rPr>
                        <a:t>Grain, bread</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3F8ED"/>
                    </a:solidFill>
                  </a:tcPr>
                </a:tc>
              </a:tr>
              <a:tr h="502920">
                <a:tc>
                  <a:txBody>
                    <a:bodyPr/>
                    <a:lstStyle/>
                    <a:p>
                      <a:pPr indent="0" marL="0">
                        <a:buNone/>
                      </a:pPr>
                      <a:r>
                        <a:rPr lang="en-US" sz="1300" b="1" dirty="0">
                          <a:solidFill>
                            <a:srgbClr val="0E1C42"/>
                          </a:solidFill>
                          <a:latin typeface="Calibri" pitchFamily="34" charset="0"/>
                          <a:ea typeface="Calibri" pitchFamily="34" charset="-122"/>
                          <a:cs typeface="Calibri" pitchFamily="34" charset="-120"/>
                        </a:rPr>
                        <a:t>Scarce / wants</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CE4E4"/>
                    </a:solidFill>
                  </a:tcPr>
                </a:tc>
                <a:tc>
                  <a:txBody>
                    <a:bodyPr/>
                    <a:lstStyle/>
                    <a:p>
                      <a:pPr algn="ctr" indent="0" marL="0">
                        <a:buNone/>
                      </a:pPr>
                      <a:r>
                        <a:rPr lang="en-US" sz="1300" dirty="0">
                          <a:solidFill>
                            <a:srgbClr val="0E1C42"/>
                          </a:solidFill>
                          <a:latin typeface="Calibri" pitchFamily="34" charset="0"/>
                          <a:ea typeface="Calibri" pitchFamily="34" charset="-122"/>
                          <a:cs typeface="Calibri" pitchFamily="34" charset="-120"/>
                        </a:rPr>
                        <a:t>Grain and bread</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CE4E4"/>
                    </a:solidFill>
                  </a:tcPr>
                </a:tc>
                <a:tc>
                  <a:txBody>
                    <a:bodyPr/>
                    <a:lstStyle/>
                    <a:p>
                      <a:pPr algn="ctr" indent="0" marL="0">
                        <a:buNone/>
                      </a:pPr>
                      <a:r>
                        <a:rPr lang="en-US" sz="1300" dirty="0">
                          <a:solidFill>
                            <a:srgbClr val="0E1C42"/>
                          </a:solidFill>
                          <a:latin typeface="Calibri" pitchFamily="34" charset="0"/>
                          <a:ea typeface="Calibri" pitchFamily="34" charset="-122"/>
                          <a:cs typeface="Calibri" pitchFamily="34" charset="-120"/>
                        </a:rPr>
                        <a:t>Fish and salt</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CE4E4"/>
                    </a:solidFill>
                  </a:tcPr>
                </a:tc>
              </a:tr>
              <a:tr h="502920">
                <a:tc>
                  <a:txBody>
                    <a:bodyPr/>
                    <a:lstStyle/>
                    <a:p>
                      <a:pPr indent="0" marL="0">
                        <a:buNone/>
                      </a:pPr>
                      <a:r>
                        <a:rPr lang="en-US" sz="1300" b="1" dirty="0">
                          <a:solidFill>
                            <a:srgbClr val="0E1C42"/>
                          </a:solidFill>
                          <a:latin typeface="Calibri" pitchFamily="34" charset="0"/>
                          <a:ea typeface="Calibri" pitchFamily="34" charset="-122"/>
                          <a:cs typeface="Calibri" pitchFamily="34" charset="-120"/>
                        </a:rPr>
                        <a:t>The trade</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8FD"/>
                    </a:solidFill>
                  </a:tcPr>
                </a:tc>
                <a:tc>
                  <a:txBody>
                    <a:bodyPr/>
                    <a:lstStyle/>
                    <a:p>
                      <a:pPr algn="ctr" indent="0" marL="0">
                        <a:buNone/>
                      </a:pPr>
                      <a:r>
                        <a:rPr lang="en-US" sz="1300" dirty="0">
                          <a:solidFill>
                            <a:srgbClr val="0E1C42"/>
                          </a:solidFill>
                          <a:latin typeface="Calibri" pitchFamily="34" charset="0"/>
                          <a:ea typeface="Calibri" pitchFamily="34" charset="-122"/>
                          <a:cs typeface="Calibri" pitchFamily="34" charset="-120"/>
                        </a:rPr>
                        <a:t>Gives fish → Gets grain</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8FD"/>
                    </a:solidFill>
                  </a:tcPr>
                </a:tc>
                <a:tc>
                  <a:txBody>
                    <a:bodyPr/>
                    <a:lstStyle/>
                    <a:p>
                      <a:pPr algn="ctr" indent="0" marL="0">
                        <a:buNone/>
                      </a:pPr>
                      <a:r>
                        <a:rPr lang="en-US" sz="1300" dirty="0">
                          <a:solidFill>
                            <a:srgbClr val="0E1C42"/>
                          </a:solidFill>
                          <a:latin typeface="Calibri" pitchFamily="34" charset="0"/>
                          <a:ea typeface="Calibri" pitchFamily="34" charset="-122"/>
                          <a:cs typeface="Calibri" pitchFamily="34" charset="-120"/>
                        </a:rPr>
                        <a:t>Gives grain → Gets fish</a:t>
                      </a:r>
                      <a:endParaRPr lang="en-US" sz="1300" dirty="0">
                        <a:latin typeface="Calibri" charset="0"/>
                        <a:ea typeface="Calibri" charset="0"/>
                        <a:cs typeface="Calibri" charset="0"/>
                      </a:endParaRPr>
                    </a:p>
                  </a:txBody>
                  <a:tcPr marL="76200" marR="76200" marT="76200" marB="762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8FD"/>
                    </a:solidFill>
                  </a:tcPr>
                </a:tc>
              </a:tr>
            </a:tbl>
          </a:graphicData>
        </a:graphic>
      </p:graphicFrame>
      <p:sp>
        <p:nvSpPr>
          <p:cNvPr id="7" name="Text 4"/>
          <p:cNvSpPr/>
          <p:nvPr/>
        </p:nvSpPr>
        <p:spPr>
          <a:xfrm>
            <a:off x="7071360" y="4632960"/>
            <a:ext cx="1219200" cy="731520"/>
          </a:xfrm>
          <a:prstGeom prst="rect">
            <a:avLst/>
          </a:prstGeom>
          <a:noFill/>
          <a:ln/>
        </p:spPr>
        <p:txBody>
          <a:bodyPr wrap="square" lIns="0" tIns="0" rIns="0" bIns="0" rtlCol="0" anchor="ctr"/>
          <a:lstStyle/>
          <a:p>
            <a:pPr algn="ctr" indent="0" marL="0">
              <a:buNone/>
            </a:pPr>
            <a:r>
              <a:rPr lang="en-US" sz="3600" b="1" dirty="0">
                <a:solidFill>
                  <a:srgbClr val="D4943A"/>
                </a:solidFill>
                <a:latin typeface="Calibri" pitchFamily="34" charset="0"/>
                <a:ea typeface="Calibri" pitchFamily="34" charset="-122"/>
                <a:cs typeface="Calibri" pitchFamily="34" charset="-120"/>
              </a:rPr>
              <a:t>↔</a:t>
            </a:r>
            <a:endParaRPr lang="en-US" sz="3600" dirty="0"/>
          </a:p>
        </p:txBody>
      </p:sp>
      <p:sp>
        <p:nvSpPr>
          <p:cNvPr id="8" name="Text 5"/>
          <p:cNvSpPr/>
          <p:nvPr/>
        </p:nvSpPr>
        <p:spPr>
          <a:xfrm>
            <a:off x="2438400" y="5242560"/>
            <a:ext cx="7315200" cy="853440"/>
          </a:xfrm>
          <a:prstGeom prst="rect">
            <a:avLst/>
          </a:prstGeom>
          <a:noFill/>
          <a:ln/>
        </p:spPr>
        <p:txBody>
          <a:bodyPr wrap="square" lIns="0" tIns="0" rIns="0" bIns="0" rtlCol="0" anchor="ctr"/>
          <a:lstStyle/>
          <a:p>
            <a:pPr algn="ctr" indent="0" marL="0">
              <a:lnSpc>
                <a:spcPct val="120000"/>
              </a:lnSpc>
              <a:buNone/>
            </a:pPr>
            <a:r>
              <a:rPr lang="en-US" sz="1500" i="1" dirty="0">
                <a:solidFill>
                  <a:srgbClr val="0E1C42"/>
                </a:solidFill>
                <a:latin typeface="Calibri" pitchFamily="34" charset="0"/>
                <a:ea typeface="Calibri" pitchFamily="34" charset="-122"/>
                <a:cs typeface="Calibri" pitchFamily="34" charset="-120"/>
              </a:rPr>
              <a:t>Both sides give up what they have plenty of</a:t>
            </a:r>
            <a:endParaRPr lang="en-US" sz="1500" dirty="0"/>
          </a:p>
          <a:p>
            <a:pPr algn="ctr" indent="0" marL="0">
              <a:lnSpc>
                <a:spcPct val="120000"/>
              </a:lnSpc>
              <a:buNone/>
            </a:pPr>
            <a:r>
              <a:rPr lang="en-US" sz="1500" i="1" dirty="0">
                <a:solidFill>
                  <a:srgbClr val="0E1C42"/>
                </a:solidFill>
                <a:latin typeface="Calibri" pitchFamily="34" charset="0"/>
                <a:ea typeface="Calibri" pitchFamily="34" charset="-122"/>
                <a:cs typeface="Calibri" pitchFamily="34" charset="-120"/>
              </a:rPr>
              <a:t>to get what they are missing.</a:t>
            </a:r>
            <a:endParaRPr lang="en-US" sz="1500" dirty="0"/>
          </a:p>
        </p:txBody>
      </p:sp>
      <p:sp>
        <p:nvSpPr>
          <p:cNvPr id="9" name="Text 6"/>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KEY IDEA</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Why Trade Works</a:t>
            </a:r>
            <a:endParaRPr lang="en-US" sz="3600" dirty="0"/>
          </a:p>
        </p:txBody>
      </p:sp>
      <p:sp>
        <p:nvSpPr>
          <p:cNvPr id="6" name="Shape 4"/>
          <p:cNvSpPr/>
          <p:nvPr/>
        </p:nvSpPr>
        <p:spPr>
          <a:xfrm>
            <a:off x="1219200" y="2194560"/>
            <a:ext cx="3291840" cy="2438400"/>
          </a:xfrm>
          <a:prstGeom prst="roundRect">
            <a:avLst>
              <a:gd name="adj" fmla="val 5625"/>
            </a:avLst>
          </a:prstGeom>
          <a:solidFill>
            <a:srgbClr val="EAF8FD"/>
          </a:solidFill>
          <a:ln/>
          <a:effectLst>
            <a:outerShdw sx="100000" sy="100000" kx="0" ky="0" algn="bl" rotWithShape="0" blurRad="76200" dist="25400" dir="8100000">
              <a:srgbClr val="000000">
                <a:alpha val="10000"/>
              </a:srgbClr>
            </a:outerShdw>
          </a:effectLst>
        </p:spPr>
      </p:sp>
      <p:sp>
        <p:nvSpPr>
          <p:cNvPr id="7" name="Shape 5"/>
          <p:cNvSpPr/>
          <p:nvPr/>
        </p:nvSpPr>
        <p:spPr>
          <a:xfrm>
            <a:off x="1356360" y="2331720"/>
            <a:ext cx="457200" cy="457200"/>
          </a:xfrm>
          <a:prstGeom prst="ellipse">
            <a:avLst/>
          </a:prstGeom>
          <a:solidFill>
            <a:srgbClr val="1A8A7D"/>
          </a:solidFill>
          <a:ln/>
        </p:spPr>
      </p:sp>
      <p:sp>
        <p:nvSpPr>
          <p:cNvPr id="8" name="Text 6"/>
          <p:cNvSpPr/>
          <p:nvPr/>
        </p:nvSpPr>
        <p:spPr>
          <a:xfrm>
            <a:off x="1356360"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356360" y="2880360"/>
            <a:ext cx="301752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Different Scarcities</a:t>
            </a:r>
            <a:endParaRPr lang="en-US" sz="1600" dirty="0"/>
          </a:p>
        </p:txBody>
      </p:sp>
      <p:sp>
        <p:nvSpPr>
          <p:cNvPr id="10" name="Text 8"/>
          <p:cNvSpPr/>
          <p:nvPr/>
        </p:nvSpPr>
        <p:spPr>
          <a:xfrm>
            <a:off x="1356360" y="3246120"/>
            <a:ext cx="3017520" cy="640080"/>
          </a:xfrm>
          <a:prstGeom prst="rect">
            <a:avLst/>
          </a:prstGeom>
          <a:noFill/>
          <a:ln/>
        </p:spPr>
        <p:txBody>
          <a:bodyPr wrap="square" lIns="0" tIns="0" rIns="0" bIns="0"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Each place is missing something different.</a:t>
            </a:r>
            <a:endParaRPr lang="en-US" sz="1300" dirty="0"/>
          </a:p>
        </p:txBody>
      </p:sp>
      <p:sp>
        <p:nvSpPr>
          <p:cNvPr id="11" name="Shape 9"/>
          <p:cNvSpPr/>
          <p:nvPr/>
        </p:nvSpPr>
        <p:spPr>
          <a:xfrm>
            <a:off x="4998720" y="2194560"/>
            <a:ext cx="3291840" cy="2438400"/>
          </a:xfrm>
          <a:prstGeom prst="roundRect">
            <a:avLst>
              <a:gd name="adj" fmla="val 5625"/>
            </a:avLst>
          </a:prstGeom>
          <a:solidFill>
            <a:srgbClr val="FFF3DC"/>
          </a:solidFill>
          <a:ln/>
          <a:effectLst>
            <a:outerShdw sx="100000" sy="100000" kx="0" ky="0" algn="bl" rotWithShape="0" blurRad="76200" dist="25400" dir="8100000">
              <a:srgbClr val="000000">
                <a:alpha val="10000"/>
              </a:srgbClr>
            </a:outerShdw>
          </a:effectLst>
        </p:spPr>
      </p:sp>
      <p:sp>
        <p:nvSpPr>
          <p:cNvPr id="12" name="Shape 10"/>
          <p:cNvSpPr/>
          <p:nvPr/>
        </p:nvSpPr>
        <p:spPr>
          <a:xfrm>
            <a:off x="5135880" y="2331720"/>
            <a:ext cx="457200" cy="457200"/>
          </a:xfrm>
          <a:prstGeom prst="ellipse">
            <a:avLst/>
          </a:prstGeom>
          <a:solidFill>
            <a:srgbClr val="D4943A"/>
          </a:solidFill>
          <a:ln/>
        </p:spPr>
      </p:sp>
      <p:sp>
        <p:nvSpPr>
          <p:cNvPr id="13" name="Text 11"/>
          <p:cNvSpPr/>
          <p:nvPr/>
        </p:nvSpPr>
        <p:spPr>
          <a:xfrm>
            <a:off x="5135880"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5135880" y="2880360"/>
            <a:ext cx="301752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Trade Happens</a:t>
            </a:r>
            <a:endParaRPr lang="en-US" sz="1600" dirty="0"/>
          </a:p>
        </p:txBody>
      </p:sp>
      <p:sp>
        <p:nvSpPr>
          <p:cNvPr id="15" name="Text 13"/>
          <p:cNvSpPr/>
          <p:nvPr/>
        </p:nvSpPr>
        <p:spPr>
          <a:xfrm>
            <a:off x="5135880" y="3246120"/>
            <a:ext cx="3017520" cy="640080"/>
          </a:xfrm>
          <a:prstGeom prst="rect">
            <a:avLst/>
          </a:prstGeom>
          <a:noFill/>
          <a:ln/>
        </p:spPr>
        <p:txBody>
          <a:bodyPr wrap="square" lIns="0" tIns="0" rIns="0" bIns="0"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They swap what they have plenty of for what they need.</a:t>
            </a:r>
            <a:endParaRPr lang="en-US" sz="1300" dirty="0"/>
          </a:p>
        </p:txBody>
      </p:sp>
      <p:sp>
        <p:nvSpPr>
          <p:cNvPr id="16" name="Shape 14"/>
          <p:cNvSpPr/>
          <p:nvPr/>
        </p:nvSpPr>
        <p:spPr>
          <a:xfrm>
            <a:off x="8778240" y="2194560"/>
            <a:ext cx="3291840" cy="2438400"/>
          </a:xfrm>
          <a:prstGeom prst="roundRect">
            <a:avLst>
              <a:gd name="adj" fmla="val 5625"/>
            </a:avLst>
          </a:prstGeom>
          <a:solidFill>
            <a:srgbClr val="E3F8ED"/>
          </a:solidFill>
          <a:ln/>
          <a:effectLst>
            <a:outerShdw sx="100000" sy="100000" kx="0" ky="0" algn="bl" rotWithShape="0" blurRad="76200" dist="25400" dir="8100000">
              <a:srgbClr val="000000">
                <a:alpha val="10000"/>
              </a:srgbClr>
            </a:outerShdw>
          </a:effectLst>
        </p:spPr>
      </p:sp>
      <p:sp>
        <p:nvSpPr>
          <p:cNvPr id="17" name="Shape 15"/>
          <p:cNvSpPr/>
          <p:nvPr/>
        </p:nvSpPr>
        <p:spPr>
          <a:xfrm>
            <a:off x="8915400" y="2331720"/>
            <a:ext cx="457200" cy="457200"/>
          </a:xfrm>
          <a:prstGeom prst="ellipse">
            <a:avLst/>
          </a:prstGeom>
          <a:solidFill>
            <a:srgbClr val="34B76F"/>
          </a:solidFill>
          <a:ln/>
        </p:spPr>
      </p:sp>
      <p:sp>
        <p:nvSpPr>
          <p:cNvPr id="18" name="Text 16"/>
          <p:cNvSpPr/>
          <p:nvPr/>
        </p:nvSpPr>
        <p:spPr>
          <a:xfrm>
            <a:off x="8915400"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8915400" y="2880360"/>
            <a:ext cx="301752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Both Better Off</a:t>
            </a:r>
            <a:endParaRPr lang="en-US" sz="1600" dirty="0"/>
          </a:p>
        </p:txBody>
      </p:sp>
      <p:sp>
        <p:nvSpPr>
          <p:cNvPr id="20" name="Text 18"/>
          <p:cNvSpPr/>
          <p:nvPr/>
        </p:nvSpPr>
        <p:spPr>
          <a:xfrm>
            <a:off x="8915400" y="3246120"/>
            <a:ext cx="3017520" cy="640080"/>
          </a:xfrm>
          <a:prstGeom prst="rect">
            <a:avLst/>
          </a:prstGeom>
          <a:noFill/>
          <a:ln/>
        </p:spPr>
        <p:txBody>
          <a:bodyPr wrap="square" lIns="0" tIns="0" rIns="0" bIns="0"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Each side ends up with more than they started with.</a:t>
            </a:r>
            <a:endParaRPr lang="en-US" sz="1300" dirty="0"/>
          </a:p>
        </p:txBody>
      </p:sp>
      <p:sp>
        <p:nvSpPr>
          <p:cNvPr id="21" name="Shape 19"/>
          <p:cNvSpPr/>
          <p:nvPr/>
        </p:nvSpPr>
        <p:spPr>
          <a:xfrm>
            <a:off x="1219200" y="4998720"/>
            <a:ext cx="9753600" cy="975360"/>
          </a:xfrm>
          <a:prstGeom prst="roundRect">
            <a:avLst>
              <a:gd name="adj" fmla="val 11250"/>
            </a:avLst>
          </a:prstGeom>
          <a:solidFill>
            <a:srgbClr val="FFF8F0"/>
          </a:solidFill>
          <a:ln w="19050">
            <a:solidFill>
              <a:srgbClr val="D4943A"/>
            </a:solidFill>
            <a:prstDash val="solid"/>
          </a:ln>
        </p:spPr>
      </p:sp>
      <p:sp>
        <p:nvSpPr>
          <p:cNvPr id="22" name="Text 20"/>
          <p:cNvSpPr/>
          <p:nvPr/>
        </p:nvSpPr>
        <p:spPr>
          <a:xfrm>
            <a:off x="1463040" y="4998720"/>
            <a:ext cx="9265920" cy="97536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But only if both sides are honest. </a:t>
            </a:r>
            <a:pPr indent="0" marL="0">
              <a:buNone/>
            </a:pPr>
            <a:r>
              <a:rPr lang="en-US" sz="1400" dirty="0">
                <a:solidFill>
                  <a:srgbClr val="0E1C42"/>
                </a:solidFill>
                <a:latin typeface="Calibri" pitchFamily="34" charset="0"/>
                <a:ea typeface="Calibri" pitchFamily="34" charset="-122"/>
                <a:cs typeface="Calibri" pitchFamily="34" charset="-120"/>
              </a:rPr>
              <a:t>Fair + honest trade = both sides better off.</a:t>
            </a:r>
            <a:endParaRPr lang="en-US" sz="1400" dirty="0"/>
          </a:p>
        </p:txBody>
      </p:sp>
      <p:sp>
        <p:nvSpPr>
          <p:cNvPr id="23" name="Text 21"/>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SOURCE STUDY</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A Historical Trade Scene</a:t>
            </a:r>
            <a:endParaRPr lang="en-US" sz="3600" dirty="0"/>
          </a:p>
        </p:txBody>
      </p:sp>
      <p:sp>
        <p:nvSpPr>
          <p:cNvPr id="6" name="Shape 4"/>
          <p:cNvSpPr/>
          <p:nvPr/>
        </p:nvSpPr>
        <p:spPr>
          <a:xfrm>
            <a:off x="731520" y="2072640"/>
            <a:ext cx="5486400" cy="3901440"/>
          </a:xfrm>
          <a:prstGeom prst="roundRect">
            <a:avLst>
              <a:gd name="adj" fmla="val 2813"/>
            </a:avLst>
          </a:prstGeom>
          <a:solidFill>
            <a:srgbClr val="E2E8F4"/>
          </a:solidFill>
          <a:ln w="19050">
            <a:solidFill>
              <a:srgbClr val="B0B8CC"/>
            </a:solidFill>
            <a:prstDash val="dash"/>
          </a:ln>
        </p:spPr>
      </p:sp>
      <p:sp>
        <p:nvSpPr>
          <p:cNvPr id="7" name="Text 5"/>
          <p:cNvSpPr/>
          <p:nvPr/>
        </p:nvSpPr>
        <p:spPr>
          <a:xfrm>
            <a:off x="731520" y="2072640"/>
            <a:ext cx="54864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914400" y="2438400"/>
            <a:ext cx="5120640" cy="3444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marketplace painting or engraving showing goods from different places being exchanged</a:t>
            </a:r>
            <a:endParaRPr lang="en-US" sz="1100" dirty="0"/>
          </a:p>
        </p:txBody>
      </p:sp>
      <p:sp>
        <p:nvSpPr>
          <p:cNvPr id="9" name="Shape 7"/>
          <p:cNvSpPr/>
          <p:nvPr/>
        </p:nvSpPr>
        <p:spPr>
          <a:xfrm>
            <a:off x="6705600" y="2072640"/>
            <a:ext cx="5120640" cy="1097280"/>
          </a:xfrm>
          <a:prstGeom prst="roundRect">
            <a:avLst>
              <a:gd name="adj" fmla="val 10000"/>
            </a:avLst>
          </a:prstGeom>
          <a:solidFill>
            <a:srgbClr val="EAF8FD"/>
          </a:solidFill>
          <a:ln/>
          <a:effectLst>
            <a:outerShdw sx="100000" sy="100000" kx="0" ky="0" algn="bl" rotWithShape="0" blurRad="50800" dist="12700" dir="8100000">
              <a:srgbClr val="000000">
                <a:alpha val="8000"/>
              </a:srgbClr>
            </a:outerShdw>
          </a:effectLst>
        </p:spPr>
      </p:sp>
      <p:sp>
        <p:nvSpPr>
          <p:cNvPr id="10" name="Text 8"/>
          <p:cNvSpPr/>
          <p:nvPr/>
        </p:nvSpPr>
        <p:spPr>
          <a:xfrm>
            <a:off x="6949440" y="2118360"/>
            <a:ext cx="4632960" cy="18288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WHAT DO I SEE?</a:t>
            </a:r>
            <a:endParaRPr lang="en-US" sz="900" dirty="0"/>
          </a:p>
        </p:txBody>
      </p:sp>
      <p:sp>
        <p:nvSpPr>
          <p:cNvPr id="11" name="Text 9"/>
          <p:cNvSpPr/>
          <p:nvPr/>
        </p:nvSpPr>
        <p:spPr>
          <a:xfrm>
            <a:off x="6949440" y="2328672"/>
            <a:ext cx="4632960" cy="7315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Different kinds of items on tables — goods from faraway places being brought together.</a:t>
            </a:r>
            <a:endParaRPr lang="en-US" sz="1200" dirty="0"/>
          </a:p>
        </p:txBody>
      </p:sp>
      <p:sp>
        <p:nvSpPr>
          <p:cNvPr id="12" name="Shape 10"/>
          <p:cNvSpPr/>
          <p:nvPr/>
        </p:nvSpPr>
        <p:spPr>
          <a:xfrm>
            <a:off x="6705600" y="3413760"/>
            <a:ext cx="5120640" cy="1097280"/>
          </a:xfrm>
          <a:prstGeom prst="roundRect">
            <a:avLst>
              <a:gd name="adj" fmla="val 10000"/>
            </a:avLst>
          </a:prstGeom>
          <a:solidFill>
            <a:srgbClr val="E3F8ED"/>
          </a:solidFill>
          <a:ln/>
          <a:effectLst>
            <a:outerShdw sx="100000" sy="100000" kx="0" ky="0" algn="bl" rotWithShape="0" blurRad="50800" dist="12700" dir="8100000">
              <a:srgbClr val="000000">
                <a:alpha val="8000"/>
              </a:srgbClr>
            </a:outerShdw>
          </a:effectLst>
        </p:spPr>
      </p:sp>
      <p:sp>
        <p:nvSpPr>
          <p:cNvPr id="13" name="Text 11"/>
          <p:cNvSpPr/>
          <p:nvPr/>
        </p:nvSpPr>
        <p:spPr>
          <a:xfrm>
            <a:off x="6949440" y="3459480"/>
            <a:ext cx="4632960" cy="18288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DOES IT MEAN?</a:t>
            </a:r>
            <a:endParaRPr lang="en-US" sz="900" dirty="0"/>
          </a:p>
        </p:txBody>
      </p:sp>
      <p:sp>
        <p:nvSpPr>
          <p:cNvPr id="14" name="Text 12"/>
          <p:cNvSpPr/>
          <p:nvPr/>
        </p:nvSpPr>
        <p:spPr>
          <a:xfrm>
            <a:off x="6949440" y="3669792"/>
            <a:ext cx="4632960" cy="7315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Why would people walk a long way to meet at a market? What is each person hoping to get?</a:t>
            </a:r>
            <a:endParaRPr lang="en-US" sz="1200" dirty="0"/>
          </a:p>
        </p:txBody>
      </p:sp>
      <p:sp>
        <p:nvSpPr>
          <p:cNvPr id="15" name="Shape 13"/>
          <p:cNvSpPr/>
          <p:nvPr/>
        </p:nvSpPr>
        <p:spPr>
          <a:xfrm>
            <a:off x="6705600" y="4754880"/>
            <a:ext cx="5120640" cy="1097280"/>
          </a:xfrm>
          <a:prstGeom prst="roundRect">
            <a:avLst>
              <a:gd name="adj" fmla="val 10000"/>
            </a:avLst>
          </a:prstGeom>
          <a:solidFill>
            <a:srgbClr val="FFF3DC"/>
          </a:solidFill>
          <a:ln/>
          <a:effectLst>
            <a:outerShdw sx="100000" sy="100000" kx="0" ky="0" algn="bl" rotWithShape="0" blurRad="50800" dist="12700" dir="8100000">
              <a:srgbClr val="000000">
                <a:alpha val="8000"/>
              </a:srgbClr>
            </a:outerShdw>
          </a:effectLst>
        </p:spPr>
      </p:sp>
      <p:sp>
        <p:nvSpPr>
          <p:cNvPr id="16" name="Text 14"/>
          <p:cNvSpPr/>
          <p:nvPr/>
        </p:nvSpPr>
        <p:spPr>
          <a:xfrm>
            <a:off x="6949440" y="4800600"/>
            <a:ext cx="4632960" cy="18288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WHY DOES IT MATTER?</a:t>
            </a:r>
            <a:endParaRPr lang="en-US" sz="900" dirty="0"/>
          </a:p>
        </p:txBody>
      </p:sp>
      <p:sp>
        <p:nvSpPr>
          <p:cNvPr id="17" name="Text 15"/>
          <p:cNvSpPr/>
          <p:nvPr/>
        </p:nvSpPr>
        <p:spPr>
          <a:xfrm>
            <a:off x="6949440" y="5010912"/>
            <a:ext cx="4632960" cy="7315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Why is honesty important here? What would happen if people lied about their goods?</a:t>
            </a:r>
            <a:endParaRPr lang="en-US" sz="1200" dirty="0"/>
          </a:p>
        </p:txBody>
      </p:sp>
      <p:sp>
        <p:nvSpPr>
          <p:cNvPr id="18" name="Text 16"/>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PAUSE &amp; THINK</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Think About the Trade</a:t>
            </a:r>
            <a:endParaRPr lang="en-US" sz="3600" dirty="0"/>
          </a:p>
        </p:txBody>
      </p:sp>
      <p:sp>
        <p:nvSpPr>
          <p:cNvPr id="6" name="Shape 4"/>
          <p:cNvSpPr/>
          <p:nvPr/>
        </p:nvSpPr>
        <p:spPr>
          <a:xfrm>
            <a:off x="975360" y="2072640"/>
            <a:ext cx="10241280" cy="2682240"/>
          </a:xfrm>
          <a:prstGeom prst="roundRect">
            <a:avLst>
              <a:gd name="adj" fmla="val 5114"/>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1158240" y="2164080"/>
            <a:ext cx="98755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1158240" y="2420112"/>
            <a:ext cx="9875520" cy="2243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each side gain from this trade?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each side give up?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either place get what they need without trading?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trade fair? How can you tell?</a:t>
            </a:r>
            <a:endParaRPr lang="en-US" sz="1100" dirty="0"/>
          </a:p>
        </p:txBody>
      </p:sp>
      <p:sp>
        <p:nvSpPr>
          <p:cNvPr id="9" name="Shape 7"/>
          <p:cNvSpPr/>
          <p:nvPr/>
        </p:nvSpPr>
        <p:spPr>
          <a:xfrm>
            <a:off x="975360" y="3901440"/>
            <a:ext cx="10241280" cy="1463040"/>
          </a:xfrm>
          <a:prstGeom prst="roundRect">
            <a:avLst>
              <a:gd name="adj" fmla="val 7500"/>
            </a:avLst>
          </a:prstGeom>
          <a:solidFill>
            <a:srgbClr val="FFF3DC"/>
          </a:solidFill>
          <a:ln w="19050">
            <a:solidFill>
              <a:srgbClr val="F5E6C8"/>
            </a:solidFill>
            <a:prstDash val="solid"/>
          </a:ln>
        </p:spPr>
      </p:sp>
      <p:sp>
        <p:nvSpPr>
          <p:cNvPr id="10" name="Text 8"/>
          <p:cNvSpPr/>
          <p:nvPr/>
        </p:nvSpPr>
        <p:spPr>
          <a:xfrm>
            <a:off x="1112520" y="3956304"/>
            <a:ext cx="99669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1112520" y="4157472"/>
            <a:ext cx="996696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"Look at the trade table again. Think about what each side had to give up and what they got in return."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"Now ask yourself: could the coastal town grow its own wheat? Could the valley farm catch its own fish?"</a:t>
            </a:r>
            <a:endParaRPr lang="en-US" sz="1200" dirty="0"/>
          </a:p>
        </p:txBody>
      </p:sp>
      <p:sp>
        <p:nvSpPr>
          <p:cNvPr id="12" name="Text 10"/>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THEN &amp; NOW</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Trade Across Time</a:t>
            </a:r>
            <a:endParaRPr lang="en-US" sz="3600" dirty="0"/>
          </a:p>
        </p:txBody>
      </p:sp>
      <p:sp>
        <p:nvSpPr>
          <p:cNvPr id="6" name="Shape 4"/>
          <p:cNvSpPr/>
          <p:nvPr/>
        </p:nvSpPr>
        <p:spPr>
          <a:xfrm>
            <a:off x="975360" y="2072640"/>
            <a:ext cx="5120640" cy="3413760"/>
          </a:xfrm>
          <a:prstGeom prst="roundRect">
            <a:avLst>
              <a:gd name="adj" fmla="val 4018"/>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1219200" y="2194560"/>
            <a:ext cx="3657600" cy="3048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LONG AGO</a:t>
            </a:r>
            <a:endParaRPr lang="en-US" sz="900" dirty="0"/>
          </a:p>
        </p:txBody>
      </p:sp>
      <p:sp>
        <p:nvSpPr>
          <p:cNvPr id="8" name="Shape 6"/>
          <p:cNvSpPr/>
          <p:nvPr/>
        </p:nvSpPr>
        <p:spPr>
          <a:xfrm>
            <a:off x="975360" y="1889760"/>
            <a:ext cx="4632960" cy="1828800"/>
          </a:xfrm>
          <a:prstGeom prst="roundRect">
            <a:avLst>
              <a:gd name="adj" fmla="val 6000"/>
            </a:avLst>
          </a:prstGeom>
          <a:solidFill>
            <a:srgbClr val="E2E8F4"/>
          </a:solidFill>
          <a:ln w="19050">
            <a:solidFill>
              <a:srgbClr val="B0B8CC"/>
            </a:solidFill>
            <a:prstDash val="dash"/>
          </a:ln>
        </p:spPr>
      </p:sp>
      <p:sp>
        <p:nvSpPr>
          <p:cNvPr id="9" name="Text 7"/>
          <p:cNvSpPr/>
          <p:nvPr/>
        </p:nvSpPr>
        <p:spPr>
          <a:xfrm>
            <a:off x="975360" y="1889760"/>
            <a:ext cx="46329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158240" y="2255520"/>
            <a:ext cx="426720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People meeting at a crossroads to trade fish for grain, carts and baskets</a:t>
            </a:r>
            <a:endParaRPr lang="en-US" sz="1100" dirty="0"/>
          </a:p>
        </p:txBody>
      </p:sp>
      <p:sp>
        <p:nvSpPr>
          <p:cNvPr id="11" name="Text 9"/>
          <p:cNvSpPr/>
          <p:nvPr/>
        </p:nvSpPr>
        <p:spPr>
          <a:xfrm>
            <a:off x="1219200" y="4084320"/>
            <a:ext cx="4632960" cy="975360"/>
          </a:xfrm>
          <a:prstGeom prst="rect">
            <a:avLst/>
          </a:prstGeom>
          <a:noFill/>
          <a:ln/>
        </p:spPr>
        <p:txBody>
          <a:bodyPr wrap="square" lIns="0" tIns="0" rIns="0" bIns="0"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Fish for grain at a meeting place along a road. People carried goods by hand or by cart.</a:t>
            </a:r>
            <a:endParaRPr lang="en-US" sz="1300" dirty="0"/>
          </a:p>
        </p:txBody>
      </p:sp>
      <p:sp>
        <p:nvSpPr>
          <p:cNvPr id="12" name="Shape 10"/>
          <p:cNvSpPr/>
          <p:nvPr/>
        </p:nvSpPr>
        <p:spPr>
          <a:xfrm>
            <a:off x="6583680" y="2072640"/>
            <a:ext cx="5120640" cy="3413760"/>
          </a:xfrm>
          <a:prstGeom prst="roundRect">
            <a:avLst>
              <a:gd name="adj" fmla="val 4018"/>
            </a:avLst>
          </a:prstGeom>
          <a:solidFill>
            <a:srgbClr val="FFFFFF"/>
          </a:solidFill>
          <a:ln/>
          <a:effectLst>
            <a:outerShdw sx="100000" sy="100000" kx="0" ky="0" algn="bl" rotWithShape="0" blurRad="76200" dist="25400" dir="8100000">
              <a:srgbClr val="000000">
                <a:alpha val="12000"/>
              </a:srgbClr>
            </a:outerShdw>
          </a:effectLst>
        </p:spPr>
      </p:sp>
      <p:sp>
        <p:nvSpPr>
          <p:cNvPr id="13" name="Text 11"/>
          <p:cNvSpPr/>
          <p:nvPr/>
        </p:nvSpPr>
        <p:spPr>
          <a:xfrm>
            <a:off x="6827520" y="2194560"/>
            <a:ext cx="3657600" cy="3048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TODAY</a:t>
            </a:r>
            <a:endParaRPr lang="en-US" sz="900" dirty="0"/>
          </a:p>
        </p:txBody>
      </p:sp>
      <p:sp>
        <p:nvSpPr>
          <p:cNvPr id="14" name="Shape 12"/>
          <p:cNvSpPr/>
          <p:nvPr/>
        </p:nvSpPr>
        <p:spPr>
          <a:xfrm>
            <a:off x="6583680" y="1889760"/>
            <a:ext cx="4632960" cy="1828800"/>
          </a:xfrm>
          <a:prstGeom prst="roundRect">
            <a:avLst>
              <a:gd name="adj" fmla="val 6000"/>
            </a:avLst>
          </a:prstGeom>
          <a:solidFill>
            <a:srgbClr val="E2E8F4"/>
          </a:solidFill>
          <a:ln w="19050">
            <a:solidFill>
              <a:srgbClr val="B0B8CC"/>
            </a:solidFill>
            <a:prstDash val="dash"/>
          </a:ln>
        </p:spPr>
      </p:sp>
      <p:sp>
        <p:nvSpPr>
          <p:cNvPr id="15" name="Text 13"/>
          <p:cNvSpPr/>
          <p:nvPr/>
        </p:nvSpPr>
        <p:spPr>
          <a:xfrm>
            <a:off x="6583680" y="1889760"/>
            <a:ext cx="46329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6766560" y="2255520"/>
            <a:ext cx="426720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trade: Florida oranges loaded on a truck, Maine lobsters packed for air shipping</a:t>
            </a:r>
            <a:endParaRPr lang="en-US" sz="1100" dirty="0"/>
          </a:p>
        </p:txBody>
      </p:sp>
      <p:sp>
        <p:nvSpPr>
          <p:cNvPr id="17" name="Text 15"/>
          <p:cNvSpPr/>
          <p:nvPr/>
        </p:nvSpPr>
        <p:spPr>
          <a:xfrm>
            <a:off x="6827520" y="4084320"/>
            <a:ext cx="4632960" cy="975360"/>
          </a:xfrm>
          <a:prstGeom prst="rect">
            <a:avLst/>
          </a:prstGeom>
          <a:noFill/>
          <a:ln/>
        </p:spPr>
        <p:txBody>
          <a:bodyPr wrap="square" lIns="0" tIns="0" rIns="0" bIns="0"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Florida oranges travel by truck. Maine lobsters fly on planes. Same reason: places trade what they have for what they need.</a:t>
            </a:r>
            <a:endParaRPr lang="en-US" sz="1300" dirty="0"/>
          </a:p>
        </p:txBody>
      </p:sp>
      <p:sp>
        <p:nvSpPr>
          <p:cNvPr id="18" name="Shape 16"/>
          <p:cNvSpPr/>
          <p:nvPr/>
        </p:nvSpPr>
        <p:spPr>
          <a:xfrm>
            <a:off x="2438400" y="5669280"/>
            <a:ext cx="7315200" cy="609600"/>
          </a:xfrm>
          <a:prstGeom prst="roundRect">
            <a:avLst>
              <a:gd name="adj" fmla="val 18000"/>
            </a:avLst>
          </a:prstGeom>
          <a:solidFill>
            <a:srgbClr val="0E1C42"/>
          </a:solidFill>
          <a:ln/>
        </p:spPr>
      </p:sp>
      <p:sp>
        <p:nvSpPr>
          <p:cNvPr id="19" name="Text 17"/>
          <p:cNvSpPr/>
          <p:nvPr/>
        </p:nvSpPr>
        <p:spPr>
          <a:xfrm>
            <a:off x="2438400" y="5669280"/>
            <a:ext cx="7315200" cy="6096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Same reason, different century.</a:t>
            </a:r>
            <a:endParaRPr lang="en-US" sz="1500" dirty="0"/>
          </a:p>
        </p:txBody>
      </p:sp>
      <p:sp>
        <p:nvSpPr>
          <p:cNvPr id="20" name="Text 18"/>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EXHIBIT LABEL</a:t>
            </a:r>
            <a:endParaRPr lang="en-US" sz="900" dirty="0"/>
          </a:p>
        </p:txBody>
      </p:sp>
      <p:sp>
        <p:nvSpPr>
          <p:cNvPr id="5" name="Text 3"/>
          <p:cNvSpPr/>
          <p:nvPr/>
        </p:nvSpPr>
        <p:spPr>
          <a:xfrm>
            <a:off x="975360" y="1158240"/>
            <a:ext cx="73152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The Big Picture</a:t>
            </a:r>
            <a:endParaRPr lang="en-US" sz="3600" dirty="0"/>
          </a:p>
        </p:txBody>
      </p:sp>
      <p:sp>
        <p:nvSpPr>
          <p:cNvPr id="6" name="Shape 4"/>
          <p:cNvSpPr/>
          <p:nvPr/>
        </p:nvSpPr>
        <p:spPr>
          <a:xfrm>
            <a:off x="1828800" y="2072640"/>
            <a:ext cx="8534400" cy="3048000"/>
          </a:xfrm>
          <a:prstGeom prst="roundRect">
            <a:avLst>
              <a:gd name="adj" fmla="val 6000"/>
            </a:avLst>
          </a:prstGeom>
          <a:solidFill>
            <a:srgbClr val="FFFFFF"/>
          </a:solidFill>
          <a:ln/>
          <a:effectLst>
            <a:outerShdw sx="100000" sy="100000" kx="0" ky="0" algn="bl" rotWithShape="0" blurRad="127000" dist="50800" dir="8100000">
              <a:srgbClr val="000000">
                <a:alpha val="15000"/>
              </a:srgbClr>
            </a:outerShdw>
          </a:effectLst>
        </p:spPr>
      </p:sp>
      <p:sp>
        <p:nvSpPr>
          <p:cNvPr id="7" name="Text 5"/>
          <p:cNvSpPr/>
          <p:nvPr/>
        </p:nvSpPr>
        <p:spPr>
          <a:xfrm>
            <a:off x="2194560" y="2316480"/>
            <a:ext cx="7802880" cy="853440"/>
          </a:xfrm>
          <a:prstGeom prst="rect">
            <a:avLst/>
          </a:prstGeom>
          <a:noFill/>
          <a:ln/>
        </p:spPr>
        <p:txBody>
          <a:bodyPr wrap="square" lIns="0" tIns="0" rIns="0" bIns="0" rtlCol="0" anchor="ctr"/>
          <a:lstStyle/>
          <a:p>
            <a:pPr indent="0" marL="0">
              <a:lnSpc>
                <a:spcPct val="120000"/>
              </a:lnSpc>
              <a:buNone/>
            </a:pPr>
            <a:r>
              <a:rPr lang="en-US" sz="2000" b="1" dirty="0">
                <a:solidFill>
                  <a:srgbClr val="0E1C42"/>
                </a:solidFill>
                <a:latin typeface="Cambria" pitchFamily="34" charset="0"/>
                <a:ea typeface="Cambria" pitchFamily="34" charset="-122"/>
                <a:cs typeface="Cambria" pitchFamily="34" charset="-120"/>
              </a:rPr>
              <a:t>When two places have different scarcities, trade happens.</a:t>
            </a:r>
            <a:endParaRPr lang="en-US" sz="2000" dirty="0"/>
          </a:p>
        </p:txBody>
      </p:sp>
      <p:sp>
        <p:nvSpPr>
          <p:cNvPr id="8" name="Text 6"/>
          <p:cNvSpPr/>
          <p:nvPr/>
        </p:nvSpPr>
        <p:spPr>
          <a:xfrm>
            <a:off x="2194560" y="3169920"/>
            <a:ext cx="7802880" cy="1463040"/>
          </a:xfrm>
          <a:prstGeom prst="rect">
            <a:avLst/>
          </a:prstGeom>
          <a:noFill/>
          <a:ln/>
        </p:spPr>
        <p:txBody>
          <a:bodyPr wrap="square" lIns="0" tIns="0" rIns="0" bIns="0" rtlCol="0" anchor="ctr"/>
          <a:lstStyle/>
          <a:p>
            <a:pPr indent="0" marL="0">
              <a:lnSpc>
                <a:spcPct val="130000"/>
              </a:lnSpc>
              <a:buNone/>
            </a:pPr>
            <a:r>
              <a:rPr lang="en-US" sz="1600" dirty="0">
                <a:solidFill>
                  <a:srgbClr val="0E1C42"/>
                </a:solidFill>
                <a:latin typeface="Calibri" pitchFamily="34" charset="0"/>
                <a:ea typeface="Calibri" pitchFamily="34" charset="-122"/>
                <a:cs typeface="Calibri" pitchFamily="34" charset="-120"/>
              </a:rPr>
              <a:t>Each side gives up what it has plenty of to get what it needs. If the trade is fair and both sides are honest, everyone ends up better off.</a:t>
            </a:r>
            <a:endParaRPr lang="en-US" sz="1600" dirty="0"/>
          </a:p>
        </p:txBody>
      </p:sp>
      <p:sp>
        <p:nvSpPr>
          <p:cNvPr id="9" name="Shape 7"/>
          <p:cNvSpPr/>
          <p:nvPr/>
        </p:nvSpPr>
        <p:spPr>
          <a:xfrm>
            <a:off x="1828800" y="5364480"/>
            <a:ext cx="2682240" cy="548640"/>
          </a:xfrm>
          <a:prstGeom prst="roundRect">
            <a:avLst>
              <a:gd name="adj" fmla="val 36667"/>
            </a:avLst>
          </a:prstGeom>
          <a:solidFill>
            <a:srgbClr val="1A8A7D"/>
          </a:solidFill>
          <a:ln/>
        </p:spPr>
      </p:sp>
      <p:sp>
        <p:nvSpPr>
          <p:cNvPr id="10" name="Text 8"/>
          <p:cNvSpPr/>
          <p:nvPr/>
        </p:nvSpPr>
        <p:spPr>
          <a:xfrm>
            <a:off x="1828800" y="5364480"/>
            <a:ext cx="2682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Different scarcities create need</a:t>
            </a:r>
            <a:endParaRPr lang="en-US" sz="1100" dirty="0"/>
          </a:p>
        </p:txBody>
      </p:sp>
      <p:sp>
        <p:nvSpPr>
          <p:cNvPr id="11" name="Shape 9"/>
          <p:cNvSpPr/>
          <p:nvPr/>
        </p:nvSpPr>
        <p:spPr>
          <a:xfrm>
            <a:off x="4754880" y="5364480"/>
            <a:ext cx="2682240" cy="548640"/>
          </a:xfrm>
          <a:prstGeom prst="roundRect">
            <a:avLst>
              <a:gd name="adj" fmla="val 36667"/>
            </a:avLst>
          </a:prstGeom>
          <a:solidFill>
            <a:srgbClr val="D4943A"/>
          </a:solidFill>
          <a:ln/>
        </p:spPr>
      </p:sp>
      <p:sp>
        <p:nvSpPr>
          <p:cNvPr id="12" name="Text 10"/>
          <p:cNvSpPr/>
          <p:nvPr/>
        </p:nvSpPr>
        <p:spPr>
          <a:xfrm>
            <a:off x="4754880" y="5364480"/>
            <a:ext cx="2682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Trade fills the gap</a:t>
            </a:r>
            <a:endParaRPr lang="en-US" sz="1100" dirty="0"/>
          </a:p>
        </p:txBody>
      </p:sp>
      <p:sp>
        <p:nvSpPr>
          <p:cNvPr id="13" name="Shape 11"/>
          <p:cNvSpPr/>
          <p:nvPr/>
        </p:nvSpPr>
        <p:spPr>
          <a:xfrm>
            <a:off x="7680960" y="5364480"/>
            <a:ext cx="2682240" cy="548640"/>
          </a:xfrm>
          <a:prstGeom prst="roundRect">
            <a:avLst>
              <a:gd name="adj" fmla="val 36667"/>
            </a:avLst>
          </a:prstGeom>
          <a:solidFill>
            <a:srgbClr val="34B76F"/>
          </a:solidFill>
          <a:ln/>
        </p:spPr>
      </p:sp>
      <p:sp>
        <p:nvSpPr>
          <p:cNvPr id="14" name="Text 12"/>
          <p:cNvSpPr/>
          <p:nvPr/>
        </p:nvSpPr>
        <p:spPr>
          <a:xfrm>
            <a:off x="7680960" y="5364480"/>
            <a:ext cx="2682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Honesty makes it work</a:t>
            </a:r>
            <a:endParaRPr lang="en-US" sz="1100" dirty="0"/>
          </a:p>
        </p:txBody>
      </p:sp>
      <p:sp>
        <p:nvSpPr>
          <p:cNvPr id="15" name="Text 13"/>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SELF-CHECK</a:t>
            </a:r>
            <a:endParaRPr lang="en-US" sz="900" dirty="0"/>
          </a:p>
        </p:txBody>
      </p:sp>
      <p:sp>
        <p:nvSpPr>
          <p:cNvPr id="5" name="Text 3"/>
          <p:cNvSpPr/>
          <p:nvPr/>
        </p:nvSpPr>
        <p:spPr>
          <a:xfrm>
            <a:off x="975360" y="1158240"/>
            <a:ext cx="85344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Check Your Understanding</a:t>
            </a:r>
            <a:endParaRPr lang="en-US" sz="3600" dirty="0"/>
          </a:p>
        </p:txBody>
      </p:sp>
      <p:sp>
        <p:nvSpPr>
          <p:cNvPr id="6" name="Shape 4"/>
          <p:cNvSpPr/>
          <p:nvPr/>
        </p:nvSpPr>
        <p:spPr>
          <a:xfrm>
            <a:off x="975360" y="2072640"/>
            <a:ext cx="10241280" cy="853440"/>
          </a:xfrm>
          <a:prstGeom prst="roundRect">
            <a:avLst>
              <a:gd name="adj" fmla="val 12857"/>
            </a:avLst>
          </a:prstGeom>
          <a:solidFill>
            <a:srgbClr val="0E1C42"/>
          </a:solidFill>
          <a:ln/>
        </p:spPr>
      </p:sp>
      <p:sp>
        <p:nvSpPr>
          <p:cNvPr id="7" name="Text 5"/>
          <p:cNvSpPr/>
          <p:nvPr/>
        </p:nvSpPr>
        <p:spPr>
          <a:xfrm>
            <a:off x="1219200" y="2072640"/>
            <a:ext cx="9753600" cy="8534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 What is trade?</a:t>
            </a:r>
            <a:endParaRPr lang="en-US" sz="1600" dirty="0"/>
          </a:p>
        </p:txBody>
      </p:sp>
      <p:sp>
        <p:nvSpPr>
          <p:cNvPr id="8" name="Shape 6"/>
          <p:cNvSpPr/>
          <p:nvPr/>
        </p:nvSpPr>
        <p:spPr>
          <a:xfrm>
            <a:off x="1219200" y="3108960"/>
            <a:ext cx="9753600" cy="609600"/>
          </a:xfrm>
          <a:prstGeom prst="roundRect">
            <a:avLst>
              <a:gd name="adj" fmla="val 15000"/>
            </a:avLst>
          </a:prstGeom>
          <a:solidFill>
            <a:srgbClr val="FFFFFF"/>
          </a:solidFill>
          <a:ln w="12700">
            <a:solidFill>
              <a:srgbClr val="D0D5E0"/>
            </a:solidFill>
            <a:prstDash val="solid"/>
          </a:ln>
        </p:spPr>
      </p:sp>
      <p:sp>
        <p:nvSpPr>
          <p:cNvPr id="9" name="Text 7"/>
          <p:cNvSpPr/>
          <p:nvPr/>
        </p:nvSpPr>
        <p:spPr>
          <a:xfrm>
            <a:off x="1463040" y="3108960"/>
            <a:ext cx="487680" cy="60960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2072640" y="3108960"/>
            <a:ext cx="8656320" cy="60960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When one person takes something from another person</a:t>
            </a:r>
            <a:endParaRPr lang="en-US" sz="1400" dirty="0"/>
          </a:p>
        </p:txBody>
      </p:sp>
      <p:sp>
        <p:nvSpPr>
          <p:cNvPr id="11" name="Shape 9"/>
          <p:cNvSpPr/>
          <p:nvPr/>
        </p:nvSpPr>
        <p:spPr>
          <a:xfrm>
            <a:off x="1219200" y="3901440"/>
            <a:ext cx="9753600" cy="609600"/>
          </a:xfrm>
          <a:prstGeom prst="roundRect">
            <a:avLst>
              <a:gd name="adj" fmla="val 15000"/>
            </a:avLst>
          </a:prstGeom>
          <a:solidFill>
            <a:srgbClr val="E3F8ED"/>
          </a:solidFill>
          <a:ln w="12700">
            <a:solidFill>
              <a:srgbClr val="34B76F"/>
            </a:solidFill>
            <a:prstDash val="solid"/>
          </a:ln>
        </p:spPr>
      </p:sp>
      <p:sp>
        <p:nvSpPr>
          <p:cNvPr id="12" name="Text 10"/>
          <p:cNvSpPr/>
          <p:nvPr/>
        </p:nvSpPr>
        <p:spPr>
          <a:xfrm>
            <a:off x="1463040" y="3901440"/>
            <a:ext cx="487680" cy="60960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2072640" y="3901440"/>
            <a:ext cx="8656320" cy="60960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When two sides swap things — each gives up something to get something else</a:t>
            </a:r>
            <a:endParaRPr lang="en-US" sz="1400" dirty="0"/>
          </a:p>
        </p:txBody>
      </p:sp>
      <p:sp>
        <p:nvSpPr>
          <p:cNvPr id="14" name="Shape 12"/>
          <p:cNvSpPr/>
          <p:nvPr/>
        </p:nvSpPr>
        <p:spPr>
          <a:xfrm>
            <a:off x="1219200" y="4693920"/>
            <a:ext cx="9753600" cy="609600"/>
          </a:xfrm>
          <a:prstGeom prst="roundRect">
            <a:avLst>
              <a:gd name="adj" fmla="val 15000"/>
            </a:avLst>
          </a:prstGeom>
          <a:solidFill>
            <a:srgbClr val="FFFFFF"/>
          </a:solidFill>
          <a:ln w="12700">
            <a:solidFill>
              <a:srgbClr val="D0D5E0"/>
            </a:solidFill>
            <a:prstDash val="solid"/>
          </a:ln>
        </p:spPr>
      </p:sp>
      <p:sp>
        <p:nvSpPr>
          <p:cNvPr id="15" name="Text 13"/>
          <p:cNvSpPr/>
          <p:nvPr/>
        </p:nvSpPr>
        <p:spPr>
          <a:xfrm>
            <a:off x="1463040" y="4693920"/>
            <a:ext cx="487680" cy="60960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C.</a:t>
            </a:r>
            <a:endParaRPr lang="en-US" sz="1400" dirty="0"/>
          </a:p>
        </p:txBody>
      </p:sp>
      <p:sp>
        <p:nvSpPr>
          <p:cNvPr id="16" name="Text 14"/>
          <p:cNvSpPr/>
          <p:nvPr/>
        </p:nvSpPr>
        <p:spPr>
          <a:xfrm>
            <a:off x="2072640" y="4693920"/>
            <a:ext cx="8656320" cy="60960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When someone buys something at a store</a:t>
            </a:r>
            <a:endParaRPr lang="en-US" sz="1400" dirty="0"/>
          </a:p>
        </p:txBody>
      </p:sp>
      <p:sp>
        <p:nvSpPr>
          <p:cNvPr id="17" name="Shape 15"/>
          <p:cNvSpPr/>
          <p:nvPr/>
        </p:nvSpPr>
        <p:spPr>
          <a:xfrm>
            <a:off x="975360" y="5669280"/>
            <a:ext cx="10241280" cy="670560"/>
          </a:xfrm>
          <a:prstGeom prst="roundRect">
            <a:avLst>
              <a:gd name="adj" fmla="val 16364"/>
            </a:avLst>
          </a:prstGeom>
          <a:solidFill>
            <a:srgbClr val="0E1C42"/>
          </a:solidFill>
          <a:ln/>
        </p:spPr>
      </p:sp>
      <p:sp>
        <p:nvSpPr>
          <p:cNvPr id="18" name="Text 16"/>
          <p:cNvSpPr/>
          <p:nvPr/>
        </p:nvSpPr>
        <p:spPr>
          <a:xfrm>
            <a:off x="1219200" y="5669280"/>
            <a:ext cx="9753600" cy="6705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 Why did the coastal town and valley farm trade?</a:t>
            </a:r>
            <a:endParaRPr lang="en-US" sz="1600" dirty="0"/>
          </a:p>
        </p:txBody>
      </p:sp>
      <p:sp>
        <p:nvSpPr>
          <p:cNvPr id="19" name="Text 17"/>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SELF-CHECK</a:t>
            </a:r>
            <a:endParaRPr lang="en-US" sz="900" dirty="0"/>
          </a:p>
        </p:txBody>
      </p:sp>
      <p:sp>
        <p:nvSpPr>
          <p:cNvPr id="5" name="Text 3"/>
          <p:cNvSpPr/>
          <p:nvPr/>
        </p:nvSpPr>
        <p:spPr>
          <a:xfrm>
            <a:off x="975360" y="1158240"/>
            <a:ext cx="85344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Check Your Understanding</a:t>
            </a:r>
            <a:endParaRPr lang="en-US" sz="3600" dirty="0"/>
          </a:p>
        </p:txBody>
      </p:sp>
      <p:sp>
        <p:nvSpPr>
          <p:cNvPr id="6" name="Shape 4"/>
          <p:cNvSpPr/>
          <p:nvPr/>
        </p:nvSpPr>
        <p:spPr>
          <a:xfrm>
            <a:off x="975360" y="1950720"/>
            <a:ext cx="10241280" cy="670560"/>
          </a:xfrm>
          <a:prstGeom prst="roundRect">
            <a:avLst>
              <a:gd name="adj" fmla="val 16364"/>
            </a:avLst>
          </a:prstGeom>
          <a:solidFill>
            <a:srgbClr val="0E1C42"/>
          </a:solidFill>
          <a:ln/>
        </p:spPr>
      </p:sp>
      <p:sp>
        <p:nvSpPr>
          <p:cNvPr id="7" name="Text 5"/>
          <p:cNvSpPr/>
          <p:nvPr/>
        </p:nvSpPr>
        <p:spPr>
          <a:xfrm>
            <a:off x="1219200" y="1950720"/>
            <a:ext cx="9753600" cy="6705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 Why did the coastal town and valley farm trade?</a:t>
            </a:r>
            <a:endParaRPr lang="en-US" sz="1600" dirty="0"/>
          </a:p>
        </p:txBody>
      </p:sp>
      <p:sp>
        <p:nvSpPr>
          <p:cNvPr id="8" name="Shape 6"/>
          <p:cNvSpPr/>
          <p:nvPr/>
        </p:nvSpPr>
        <p:spPr>
          <a:xfrm>
            <a:off x="1219200" y="2804160"/>
            <a:ext cx="9753600" cy="548640"/>
          </a:xfrm>
          <a:prstGeom prst="roundRect">
            <a:avLst>
              <a:gd name="adj" fmla="val 16667"/>
            </a:avLst>
          </a:prstGeom>
          <a:solidFill>
            <a:srgbClr val="FFFFFF"/>
          </a:solidFill>
          <a:ln w="12700">
            <a:solidFill>
              <a:srgbClr val="D0D5E0"/>
            </a:solidFill>
            <a:prstDash val="solid"/>
          </a:ln>
        </p:spPr>
      </p:sp>
      <p:sp>
        <p:nvSpPr>
          <p:cNvPr id="9" name="Text 7"/>
          <p:cNvSpPr/>
          <p:nvPr/>
        </p:nvSpPr>
        <p:spPr>
          <a:xfrm>
            <a:off x="1463040" y="2804160"/>
            <a:ext cx="487680" cy="54864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2072640" y="2804160"/>
            <a:ext cx="865632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They were bored and wanted something to do</a:t>
            </a:r>
            <a:endParaRPr lang="en-US" sz="1400" dirty="0"/>
          </a:p>
        </p:txBody>
      </p:sp>
      <p:sp>
        <p:nvSpPr>
          <p:cNvPr id="11" name="Shape 9"/>
          <p:cNvSpPr/>
          <p:nvPr/>
        </p:nvSpPr>
        <p:spPr>
          <a:xfrm>
            <a:off x="1219200" y="3474720"/>
            <a:ext cx="9753600" cy="548640"/>
          </a:xfrm>
          <a:prstGeom prst="roundRect">
            <a:avLst>
              <a:gd name="adj" fmla="val 16667"/>
            </a:avLst>
          </a:prstGeom>
          <a:solidFill>
            <a:srgbClr val="FFFFFF"/>
          </a:solidFill>
          <a:ln w="12700">
            <a:solidFill>
              <a:srgbClr val="D0D5E0"/>
            </a:solidFill>
            <a:prstDash val="solid"/>
          </a:ln>
        </p:spPr>
      </p:sp>
      <p:sp>
        <p:nvSpPr>
          <p:cNvPr id="12" name="Text 10"/>
          <p:cNvSpPr/>
          <p:nvPr/>
        </p:nvSpPr>
        <p:spPr>
          <a:xfrm>
            <a:off x="1463040" y="3474720"/>
            <a:ext cx="487680" cy="54864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2072640" y="3474720"/>
            <a:ext cx="865632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 king told them they had to trade</a:t>
            </a:r>
            <a:endParaRPr lang="en-US" sz="1400" dirty="0"/>
          </a:p>
        </p:txBody>
      </p:sp>
      <p:sp>
        <p:nvSpPr>
          <p:cNvPr id="14" name="Shape 12"/>
          <p:cNvSpPr/>
          <p:nvPr/>
        </p:nvSpPr>
        <p:spPr>
          <a:xfrm>
            <a:off x="1219200" y="4145280"/>
            <a:ext cx="9753600" cy="548640"/>
          </a:xfrm>
          <a:prstGeom prst="roundRect">
            <a:avLst>
              <a:gd name="adj" fmla="val 16667"/>
            </a:avLst>
          </a:prstGeom>
          <a:solidFill>
            <a:srgbClr val="E3F8ED"/>
          </a:solidFill>
          <a:ln w="12700">
            <a:solidFill>
              <a:srgbClr val="34B76F"/>
            </a:solidFill>
            <a:prstDash val="solid"/>
          </a:ln>
        </p:spPr>
      </p:sp>
      <p:sp>
        <p:nvSpPr>
          <p:cNvPr id="15" name="Text 13"/>
          <p:cNvSpPr/>
          <p:nvPr/>
        </p:nvSpPr>
        <p:spPr>
          <a:xfrm>
            <a:off x="1463040" y="4145280"/>
            <a:ext cx="487680" cy="54864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C.</a:t>
            </a:r>
            <a:endParaRPr lang="en-US" sz="1400" dirty="0"/>
          </a:p>
        </p:txBody>
      </p:sp>
      <p:sp>
        <p:nvSpPr>
          <p:cNvPr id="16" name="Text 14"/>
          <p:cNvSpPr/>
          <p:nvPr/>
        </p:nvSpPr>
        <p:spPr>
          <a:xfrm>
            <a:off x="2072640" y="4145280"/>
            <a:ext cx="865632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Each had plenty of one thing and scarcity of another</a:t>
            </a:r>
            <a:endParaRPr lang="en-US" sz="1400" dirty="0"/>
          </a:p>
        </p:txBody>
      </p:sp>
      <p:sp>
        <p:nvSpPr>
          <p:cNvPr id="17" name="Shape 15"/>
          <p:cNvSpPr/>
          <p:nvPr/>
        </p:nvSpPr>
        <p:spPr>
          <a:xfrm>
            <a:off x="975360" y="4876800"/>
            <a:ext cx="10241280" cy="670560"/>
          </a:xfrm>
          <a:prstGeom prst="roundRect">
            <a:avLst>
              <a:gd name="adj" fmla="val 16364"/>
            </a:avLst>
          </a:prstGeom>
          <a:solidFill>
            <a:srgbClr val="0E1C42"/>
          </a:solidFill>
          <a:ln/>
        </p:spPr>
      </p:sp>
      <p:sp>
        <p:nvSpPr>
          <p:cNvPr id="18" name="Text 16"/>
          <p:cNvSpPr/>
          <p:nvPr/>
        </p:nvSpPr>
        <p:spPr>
          <a:xfrm>
            <a:off x="1219200" y="4876800"/>
            <a:ext cx="9753600" cy="6705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3. Why does trade depend on honesty?</a:t>
            </a:r>
            <a:endParaRPr lang="en-US" sz="1600" dirty="0"/>
          </a:p>
        </p:txBody>
      </p:sp>
      <p:sp>
        <p:nvSpPr>
          <p:cNvPr id="19" name="Shape 17"/>
          <p:cNvSpPr/>
          <p:nvPr/>
        </p:nvSpPr>
        <p:spPr>
          <a:xfrm>
            <a:off x="1219200" y="5669280"/>
            <a:ext cx="9753600" cy="548640"/>
          </a:xfrm>
          <a:prstGeom prst="roundRect">
            <a:avLst>
              <a:gd name="adj" fmla="val 16667"/>
            </a:avLst>
          </a:prstGeom>
          <a:solidFill>
            <a:srgbClr val="E3F8ED"/>
          </a:solidFill>
          <a:ln w="12700">
            <a:solidFill>
              <a:srgbClr val="34B76F"/>
            </a:solidFill>
            <a:prstDash val="solid"/>
          </a:ln>
        </p:spPr>
      </p:sp>
      <p:sp>
        <p:nvSpPr>
          <p:cNvPr id="20" name="Text 18"/>
          <p:cNvSpPr/>
          <p:nvPr/>
        </p:nvSpPr>
        <p:spPr>
          <a:xfrm>
            <a:off x="1463040" y="5669280"/>
            <a:ext cx="487680" cy="54864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A.</a:t>
            </a:r>
            <a:endParaRPr lang="en-US" sz="1400" dirty="0"/>
          </a:p>
        </p:txBody>
      </p:sp>
      <p:sp>
        <p:nvSpPr>
          <p:cNvPr id="21" name="Text 19"/>
          <p:cNvSpPr/>
          <p:nvPr/>
        </p:nvSpPr>
        <p:spPr>
          <a:xfrm>
            <a:off x="2072640" y="5669280"/>
            <a:ext cx="865632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If one side lies, the other gets cheated and trade breaks down</a:t>
            </a:r>
            <a:endParaRPr lang="en-US" sz="1400" dirty="0"/>
          </a:p>
        </p:txBody>
      </p:sp>
      <p:sp>
        <p:nvSpPr>
          <p:cNvPr id="22" name="Shape 20"/>
          <p:cNvSpPr/>
          <p:nvPr/>
        </p:nvSpPr>
        <p:spPr>
          <a:xfrm>
            <a:off x="1219200" y="6339840"/>
            <a:ext cx="9753600" cy="548640"/>
          </a:xfrm>
          <a:prstGeom prst="roundRect">
            <a:avLst>
              <a:gd name="adj" fmla="val 16667"/>
            </a:avLst>
          </a:prstGeom>
          <a:solidFill>
            <a:srgbClr val="FFFFFF"/>
          </a:solidFill>
          <a:ln w="12700">
            <a:solidFill>
              <a:srgbClr val="D0D5E0"/>
            </a:solidFill>
            <a:prstDash val="solid"/>
          </a:ln>
        </p:spPr>
      </p:sp>
      <p:sp>
        <p:nvSpPr>
          <p:cNvPr id="23" name="Text 21"/>
          <p:cNvSpPr/>
          <p:nvPr/>
        </p:nvSpPr>
        <p:spPr>
          <a:xfrm>
            <a:off x="1463040" y="6339840"/>
            <a:ext cx="487680" cy="54864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B.</a:t>
            </a:r>
            <a:endParaRPr lang="en-US" sz="1400" dirty="0"/>
          </a:p>
        </p:txBody>
      </p:sp>
      <p:sp>
        <p:nvSpPr>
          <p:cNvPr id="24" name="Text 22"/>
          <p:cNvSpPr/>
          <p:nvPr/>
        </p:nvSpPr>
        <p:spPr>
          <a:xfrm>
            <a:off x="2072640" y="6339840"/>
            <a:ext cx="865632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Honesty is only important in school, not in trade</a:t>
            </a:r>
            <a:endParaRPr lang="en-US" sz="1400" dirty="0"/>
          </a:p>
        </p:txBody>
      </p:sp>
      <p:sp>
        <p:nvSpPr>
          <p:cNvPr id="25" name="Shape 23"/>
          <p:cNvSpPr/>
          <p:nvPr/>
        </p:nvSpPr>
        <p:spPr>
          <a:xfrm>
            <a:off x="1219200" y="7010400"/>
            <a:ext cx="9753600" cy="548640"/>
          </a:xfrm>
          <a:prstGeom prst="roundRect">
            <a:avLst>
              <a:gd name="adj" fmla="val 16667"/>
            </a:avLst>
          </a:prstGeom>
          <a:solidFill>
            <a:srgbClr val="FFFFFF"/>
          </a:solidFill>
          <a:ln w="12700">
            <a:solidFill>
              <a:srgbClr val="D0D5E0"/>
            </a:solidFill>
            <a:prstDash val="solid"/>
          </a:ln>
        </p:spPr>
      </p:sp>
      <p:sp>
        <p:nvSpPr>
          <p:cNvPr id="26" name="Text 24"/>
          <p:cNvSpPr/>
          <p:nvPr/>
        </p:nvSpPr>
        <p:spPr>
          <a:xfrm>
            <a:off x="1463040" y="7010400"/>
            <a:ext cx="487680" cy="54864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C.</a:t>
            </a:r>
            <a:endParaRPr lang="en-US" sz="1400" dirty="0"/>
          </a:p>
        </p:txBody>
      </p:sp>
      <p:sp>
        <p:nvSpPr>
          <p:cNvPr id="27" name="Text 25"/>
          <p:cNvSpPr/>
          <p:nvPr/>
        </p:nvSpPr>
        <p:spPr>
          <a:xfrm>
            <a:off x="2072640" y="7010400"/>
            <a:ext cx="865632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It does not — people can trade even if they lie</a:t>
            </a:r>
            <a:endParaRPr lang="en-US" sz="1400" dirty="0"/>
          </a:p>
        </p:txBody>
      </p:sp>
      <p:sp>
        <p:nvSpPr>
          <p:cNvPr id="28" name="Text 26"/>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731520" y="548640"/>
            <a:ext cx="2194560" cy="292608"/>
          </a:xfrm>
          <a:prstGeom prst="roundRect">
            <a:avLst>
              <a:gd name="adj" fmla="val 50000"/>
            </a:avLst>
          </a:prstGeom>
          <a:solidFill>
            <a:srgbClr val="1A8A7D"/>
          </a:solidFill>
          <a:ln/>
        </p:spPr>
      </p:sp>
      <p:sp>
        <p:nvSpPr>
          <p:cNvPr id="4" name="Text 2"/>
          <p:cNvSpPr/>
          <p:nvPr/>
        </p:nvSpPr>
        <p:spPr>
          <a:xfrm>
            <a:off x="731520" y="54864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ASSIGNMENT</a:t>
            </a:r>
            <a:endParaRPr lang="en-US" sz="900" dirty="0"/>
          </a:p>
        </p:txBody>
      </p:sp>
      <p:sp>
        <p:nvSpPr>
          <p:cNvPr id="5" name="Text 3"/>
          <p:cNvSpPr/>
          <p:nvPr/>
        </p:nvSpPr>
        <p:spPr>
          <a:xfrm>
            <a:off x="975360" y="1158240"/>
            <a:ext cx="97536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Evidence Questions + Curator Task</a:t>
            </a:r>
            <a:endParaRPr lang="en-US" sz="3200" dirty="0"/>
          </a:p>
        </p:txBody>
      </p:sp>
      <p:sp>
        <p:nvSpPr>
          <p:cNvPr id="6" name="Shape 4"/>
          <p:cNvSpPr/>
          <p:nvPr/>
        </p:nvSpPr>
        <p:spPr>
          <a:xfrm>
            <a:off x="731520" y="2011680"/>
            <a:ext cx="10972800" cy="2682240"/>
          </a:xfrm>
          <a:prstGeom prst="roundRect">
            <a:avLst>
              <a:gd name="adj" fmla="val 5114"/>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975360" y="2097024"/>
            <a:ext cx="4876800" cy="3048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8" name="Text 6"/>
          <p:cNvSpPr/>
          <p:nvPr/>
        </p:nvSpPr>
        <p:spPr>
          <a:xfrm>
            <a:off x="975360" y="2438400"/>
            <a:ext cx="10485120" cy="2072640"/>
          </a:xfrm>
          <a:prstGeom prst="rect">
            <a:avLst/>
          </a:prstGeom>
          <a:noFill/>
          <a:ln/>
        </p:spPr>
        <p:txBody>
          <a:bodyPr wrap="square" lIns="0" tIns="0" rIns="0" bIns="0" rtlCol="0" anchor="t"/>
          <a:lstStyle/>
          <a:p>
            <a:pPr indent="0" marL="0">
              <a:lnSpc>
                <a:spcPct val="120000"/>
              </a:lnSpc>
              <a:spcAft>
                <a:spcPts val="600"/>
              </a:spcAft>
              <a:buNone/>
            </a:pPr>
            <a:r>
              <a:rPr lang="en-US" sz="1300" dirty="0">
                <a:solidFill>
                  <a:srgbClr val="0E1C42"/>
                </a:solidFill>
                <a:latin typeface="Calibri" pitchFamily="34" charset="0"/>
                <a:ea typeface="Calibri" pitchFamily="34" charset="-122"/>
                <a:cs typeface="Calibri" pitchFamily="34" charset="-120"/>
              </a:rPr>
              <a:t>1. What did each place have plenty of, and what was scarce for them? Use the coastal town and the valley farm in your answer.</a:t>
            </a:r>
            <a:endParaRPr lang="en-US" sz="1300" dirty="0"/>
          </a:p>
          <a:p>
            <a:pPr indent="0" marL="0">
              <a:lnSpc>
                <a:spcPct val="120000"/>
              </a:lnSpc>
              <a:spcAft>
                <a:spcPts val="600"/>
              </a:spcAft>
              <a:buNone/>
            </a:pPr>
            <a:r>
              <a:rPr lang="en-US" sz="1300" dirty="0">
                <a:solidFill>
                  <a:srgbClr val="0E1C42"/>
                </a:solidFill>
                <a:latin typeface="Calibri" pitchFamily="34" charset="0"/>
                <a:ea typeface="Calibri" pitchFamily="34" charset="-122"/>
                <a:cs typeface="Calibri" pitchFamily="34" charset="-120"/>
              </a:rPr>
              <a:t>2. Explain how scarcity led the two places to trade. Use a detail from the lesson.</a:t>
            </a:r>
            <a:endParaRPr lang="en-US" sz="1300" dirty="0"/>
          </a:p>
          <a:p>
            <a:pPr indent="0" marL="0">
              <a:lnSpc>
                <a:spcPct val="120000"/>
              </a:lnSpc>
              <a:spcAft>
                <a:spcPts val="600"/>
              </a:spcAft>
              <a:buNone/>
            </a:pPr>
            <a:r>
              <a:rPr lang="en-US" sz="1300" dirty="0">
                <a:solidFill>
                  <a:srgbClr val="0E1C42"/>
                </a:solidFill>
                <a:latin typeface="Calibri" pitchFamily="34" charset="0"/>
                <a:ea typeface="Calibri" pitchFamily="34" charset="-122"/>
                <a:cs typeface="Calibri" pitchFamily="34" charset="-120"/>
              </a:rPr>
              <a:t>3. Why is honesty important in a trade? What could go wrong if one side wasn't honest?</a:t>
            </a:r>
            <a:endParaRPr lang="en-US" sz="1300" dirty="0"/>
          </a:p>
        </p:txBody>
      </p:sp>
      <p:sp>
        <p:nvSpPr>
          <p:cNvPr id="9" name="Shape 7"/>
          <p:cNvSpPr/>
          <p:nvPr/>
        </p:nvSpPr>
        <p:spPr>
          <a:xfrm>
            <a:off x="731520" y="4815840"/>
            <a:ext cx="10972800" cy="3169920"/>
          </a:xfrm>
          <a:prstGeom prst="roundRect">
            <a:avLst>
              <a:gd name="adj" fmla="val 4327"/>
            </a:avLst>
          </a:prstGeom>
          <a:solidFill>
            <a:srgbClr val="FFF3DC"/>
          </a:solidFill>
          <a:ln/>
          <a:effectLst>
            <a:outerShdw sx="100000" sy="100000" kx="0" ky="0" algn="bl" rotWithShape="0" blurRad="76200" dist="25400" dir="8100000">
              <a:srgbClr val="000000">
                <a:alpha val="10000"/>
              </a:srgbClr>
            </a:outerShdw>
          </a:effectLst>
        </p:spPr>
      </p:sp>
      <p:sp>
        <p:nvSpPr>
          <p:cNvPr id="10" name="Text 8"/>
          <p:cNvSpPr/>
          <p:nvPr/>
        </p:nvSpPr>
        <p:spPr>
          <a:xfrm>
            <a:off x="975360" y="4901184"/>
            <a:ext cx="4876800" cy="3048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1" name="Text 9"/>
          <p:cNvSpPr/>
          <p:nvPr/>
        </p:nvSpPr>
        <p:spPr>
          <a:xfrm>
            <a:off x="975360" y="5242560"/>
            <a:ext cx="10485120" cy="1036320"/>
          </a:xfrm>
          <a:prstGeom prst="rect">
            <a:avLst/>
          </a:prstGeom>
          <a:noFill/>
          <a:ln/>
        </p:spPr>
        <p:txBody>
          <a:bodyPr wrap="square" lIns="0" tIns="0" rIns="0" bIns="0" rtlCol="0" anchor="ctr"/>
          <a:lstStyle/>
          <a:p>
            <a:pPr indent="0" marL="0">
              <a:lnSpc>
                <a:spcPct val="120000"/>
              </a:lnSpc>
              <a:buNone/>
            </a:pPr>
            <a:r>
              <a:rPr lang="en-US" sz="1200" dirty="0">
                <a:solidFill>
                  <a:srgbClr val="5A4A3A"/>
                </a:solidFill>
                <a:latin typeface="Calibri" pitchFamily="34" charset="0"/>
                <a:ea typeface="Calibri" pitchFamily="34" charset="-122"/>
                <a:cs typeface="Calibri" pitchFamily="34" charset="-120"/>
              </a:rPr>
              <a:t>Museum visitors are about to walk up to the trade tables. They need to understand what's really happening. Use the four-part frame below to write a short panel (4–5 sentences) that analyzes the trade between the coastal town and the valley farm.</a:t>
            </a:r>
            <a:endParaRPr lang="en-US" sz="1200" dirty="0"/>
          </a:p>
        </p:txBody>
      </p:sp>
      <p:sp>
        <p:nvSpPr>
          <p:cNvPr id="12" name="Shape 10"/>
          <p:cNvSpPr/>
          <p:nvPr/>
        </p:nvSpPr>
        <p:spPr>
          <a:xfrm>
            <a:off x="975360" y="6400800"/>
            <a:ext cx="2438400" cy="1097280"/>
          </a:xfrm>
          <a:prstGeom prst="roundRect">
            <a:avLst>
              <a:gd name="adj" fmla="val 8333"/>
            </a:avLst>
          </a:prstGeom>
          <a:solidFill>
            <a:srgbClr val="FFFFFF"/>
          </a:solidFill>
          <a:ln w="19050">
            <a:solidFill>
              <a:srgbClr val="1A8A7D"/>
            </a:solidFill>
            <a:prstDash val="solid"/>
          </a:ln>
        </p:spPr>
      </p:sp>
      <p:sp>
        <p:nvSpPr>
          <p:cNvPr id="13" name="Text 11"/>
          <p:cNvSpPr/>
          <p:nvPr/>
        </p:nvSpPr>
        <p:spPr>
          <a:xfrm>
            <a:off x="1066800" y="6446520"/>
            <a:ext cx="2194560" cy="365760"/>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Choice</a:t>
            </a:r>
            <a:endParaRPr lang="en-US" sz="1200" dirty="0"/>
          </a:p>
        </p:txBody>
      </p:sp>
      <p:sp>
        <p:nvSpPr>
          <p:cNvPr id="14" name="Text 12"/>
          <p:cNvSpPr/>
          <p:nvPr/>
        </p:nvSpPr>
        <p:spPr>
          <a:xfrm>
            <a:off x="1066800" y="6720840"/>
            <a:ext cx="2194560" cy="54864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What did each side decide to do?</a:t>
            </a:r>
            <a:endParaRPr lang="en-US" sz="1000" dirty="0"/>
          </a:p>
        </p:txBody>
      </p:sp>
      <p:sp>
        <p:nvSpPr>
          <p:cNvPr id="15" name="Shape 13"/>
          <p:cNvSpPr/>
          <p:nvPr/>
        </p:nvSpPr>
        <p:spPr>
          <a:xfrm>
            <a:off x="3596640" y="6400800"/>
            <a:ext cx="2438400" cy="1097280"/>
          </a:xfrm>
          <a:prstGeom prst="roundRect">
            <a:avLst>
              <a:gd name="adj" fmla="val 8333"/>
            </a:avLst>
          </a:prstGeom>
          <a:solidFill>
            <a:srgbClr val="FFFFFF"/>
          </a:solidFill>
          <a:ln w="19050">
            <a:solidFill>
              <a:srgbClr val="E8636B"/>
            </a:solidFill>
            <a:prstDash val="solid"/>
          </a:ln>
        </p:spPr>
      </p:sp>
      <p:sp>
        <p:nvSpPr>
          <p:cNvPr id="16" name="Text 14"/>
          <p:cNvSpPr/>
          <p:nvPr/>
        </p:nvSpPr>
        <p:spPr>
          <a:xfrm>
            <a:off x="3688080" y="6446520"/>
            <a:ext cx="2194560" cy="365760"/>
          </a:xfrm>
          <a:prstGeom prst="rect">
            <a:avLst/>
          </a:prstGeom>
          <a:noFill/>
          <a:ln/>
        </p:spPr>
        <p:txBody>
          <a:bodyPr wrap="square" lIns="0" tIns="0" rIns="0" bIns="0" rtlCol="0" anchor="ctr"/>
          <a:lstStyle/>
          <a:p>
            <a:pPr indent="0" marL="0">
              <a:buNone/>
            </a:pPr>
            <a:r>
              <a:rPr lang="en-US" sz="1200" b="1" dirty="0">
                <a:solidFill>
                  <a:srgbClr val="E8636B"/>
                </a:solidFill>
                <a:latin typeface="Calibri" pitchFamily="34" charset="0"/>
                <a:ea typeface="Calibri" pitchFamily="34" charset="-122"/>
                <a:cs typeface="Calibri" pitchFamily="34" charset="-120"/>
              </a:rPr>
              <a:t>Scarcity</a:t>
            </a:r>
            <a:endParaRPr lang="en-US" sz="1200" dirty="0"/>
          </a:p>
        </p:txBody>
      </p:sp>
      <p:sp>
        <p:nvSpPr>
          <p:cNvPr id="17" name="Text 15"/>
          <p:cNvSpPr/>
          <p:nvPr/>
        </p:nvSpPr>
        <p:spPr>
          <a:xfrm>
            <a:off x="3688080" y="6720840"/>
            <a:ext cx="2194560" cy="54864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What was missing in each place?</a:t>
            </a:r>
            <a:endParaRPr lang="en-US" sz="1000" dirty="0"/>
          </a:p>
        </p:txBody>
      </p:sp>
      <p:sp>
        <p:nvSpPr>
          <p:cNvPr id="18" name="Shape 16"/>
          <p:cNvSpPr/>
          <p:nvPr/>
        </p:nvSpPr>
        <p:spPr>
          <a:xfrm>
            <a:off x="6217920" y="6400800"/>
            <a:ext cx="2438400" cy="1097280"/>
          </a:xfrm>
          <a:prstGeom prst="roundRect">
            <a:avLst>
              <a:gd name="adj" fmla="val 8333"/>
            </a:avLst>
          </a:prstGeom>
          <a:solidFill>
            <a:srgbClr val="FFFFFF"/>
          </a:solidFill>
          <a:ln w="19050">
            <a:solidFill>
              <a:srgbClr val="34B76F"/>
            </a:solidFill>
            <a:prstDash val="solid"/>
          </a:ln>
        </p:spPr>
      </p:sp>
      <p:sp>
        <p:nvSpPr>
          <p:cNvPr id="19" name="Text 17"/>
          <p:cNvSpPr/>
          <p:nvPr/>
        </p:nvSpPr>
        <p:spPr>
          <a:xfrm>
            <a:off x="6309360" y="6446520"/>
            <a:ext cx="2194560" cy="36576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Benefit</a:t>
            </a:r>
            <a:endParaRPr lang="en-US" sz="1200" dirty="0"/>
          </a:p>
        </p:txBody>
      </p:sp>
      <p:sp>
        <p:nvSpPr>
          <p:cNvPr id="20" name="Text 18"/>
          <p:cNvSpPr/>
          <p:nvPr/>
        </p:nvSpPr>
        <p:spPr>
          <a:xfrm>
            <a:off x="6309360" y="6720840"/>
            <a:ext cx="2194560" cy="54864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What did each side gain?</a:t>
            </a:r>
            <a:endParaRPr lang="en-US" sz="1000" dirty="0"/>
          </a:p>
        </p:txBody>
      </p:sp>
      <p:sp>
        <p:nvSpPr>
          <p:cNvPr id="21" name="Shape 19"/>
          <p:cNvSpPr/>
          <p:nvPr/>
        </p:nvSpPr>
        <p:spPr>
          <a:xfrm>
            <a:off x="8839200" y="6400800"/>
            <a:ext cx="2438400" cy="1097280"/>
          </a:xfrm>
          <a:prstGeom prst="roundRect">
            <a:avLst>
              <a:gd name="adj" fmla="val 8333"/>
            </a:avLst>
          </a:prstGeom>
          <a:solidFill>
            <a:srgbClr val="FFFFFF"/>
          </a:solidFill>
          <a:ln w="19050">
            <a:solidFill>
              <a:srgbClr val="8B6FC0"/>
            </a:solidFill>
            <a:prstDash val="solid"/>
          </a:ln>
        </p:spPr>
      </p:sp>
      <p:sp>
        <p:nvSpPr>
          <p:cNvPr id="22" name="Text 20"/>
          <p:cNvSpPr/>
          <p:nvPr/>
        </p:nvSpPr>
        <p:spPr>
          <a:xfrm>
            <a:off x="8930640" y="6446520"/>
            <a:ext cx="2194560" cy="365760"/>
          </a:xfrm>
          <a:prstGeom prst="rect">
            <a:avLst/>
          </a:prstGeom>
          <a:noFill/>
          <a:ln/>
        </p:spPr>
        <p:txBody>
          <a:bodyPr wrap="square" lIns="0" tIns="0" rIns="0" bIns="0" rtlCol="0" anchor="ctr"/>
          <a:lstStyle/>
          <a:p>
            <a:pPr indent="0" marL="0">
              <a:buNone/>
            </a:pPr>
            <a:r>
              <a:rPr lang="en-US" sz="1200" b="1" dirty="0">
                <a:solidFill>
                  <a:srgbClr val="8B6FC0"/>
                </a:solidFill>
                <a:latin typeface="Calibri" pitchFamily="34" charset="0"/>
                <a:ea typeface="Calibri" pitchFamily="34" charset="-122"/>
                <a:cs typeface="Calibri" pitchFamily="34" charset="-120"/>
              </a:rPr>
              <a:t>Consequence</a:t>
            </a:r>
            <a:endParaRPr lang="en-US" sz="1200" dirty="0"/>
          </a:p>
        </p:txBody>
      </p:sp>
      <p:sp>
        <p:nvSpPr>
          <p:cNvPr id="23" name="Text 21"/>
          <p:cNvSpPr/>
          <p:nvPr/>
        </p:nvSpPr>
        <p:spPr>
          <a:xfrm>
            <a:off x="8930640" y="6720840"/>
            <a:ext cx="2194560" cy="54864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What happened because of the trade?</a:t>
            </a:r>
            <a:endParaRPr lang="en-US" sz="1000" dirty="0"/>
          </a:p>
        </p:txBody>
      </p:sp>
      <p:sp>
        <p:nvSpPr>
          <p:cNvPr id="24" name="Text 22"/>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731520"/>
            <a:ext cx="54864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CURATOR'S CHRONICLE</a:t>
            </a:r>
            <a:endParaRPr lang="en-US" sz="1200" dirty="0"/>
          </a:p>
        </p:txBody>
      </p:sp>
      <p:sp>
        <p:nvSpPr>
          <p:cNvPr id="6" name="Shape 3"/>
          <p:cNvSpPr/>
          <p:nvPr/>
        </p:nvSpPr>
        <p:spPr>
          <a:xfrm>
            <a:off x="731520" y="1371600"/>
            <a:ext cx="10515600" cy="164592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7" name="Text 4"/>
          <p:cNvSpPr/>
          <p:nvPr/>
        </p:nvSpPr>
        <p:spPr>
          <a:xfrm>
            <a:off x="1005840" y="1554480"/>
            <a:ext cx="9966960" cy="1280160"/>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"In this exhibit, I learned that </a:t>
            </a:r>
            <a:pPr indent="0" marL="0">
              <a:buNone/>
            </a:pPr>
            <a:r>
              <a:rPr lang="en-US" sz="2200" b="1" i="1" dirty="0">
                <a:solidFill>
                  <a:srgbClr val="D4943A"/>
                </a:solidFill>
                <a:latin typeface="Cambria" pitchFamily="34" charset="0"/>
                <a:ea typeface="Cambria" pitchFamily="34" charset="-122"/>
                <a:cs typeface="Cambria" pitchFamily="34" charset="-120"/>
              </a:rPr>
              <a:t>______</a:t>
            </a:r>
            <a:pPr indent="0" marL="0">
              <a:buNone/>
            </a:pPr>
            <a:r>
              <a:rPr lang="en-US" sz="2200" i="1" dirty="0">
                <a:solidFill>
                  <a:srgbClr val="FFFFFF"/>
                </a:solidFill>
                <a:latin typeface="Cambria" pitchFamily="34" charset="0"/>
                <a:ea typeface="Cambria" pitchFamily="34" charset="-122"/>
                <a:cs typeface="Cambria" pitchFamily="34" charset="-120"/>
              </a:rPr>
              <a:t> because </a:t>
            </a:r>
            <a:pPr indent="0" marL="0">
              <a:buNone/>
            </a:pPr>
            <a:r>
              <a:rPr lang="en-US" sz="2200" b="1" i="1" dirty="0">
                <a:solidFill>
                  <a:srgbClr val="D4943A"/>
                </a:solidFill>
                <a:latin typeface="Cambria" pitchFamily="34" charset="0"/>
                <a:ea typeface="Cambria" pitchFamily="34" charset="-122"/>
                <a:cs typeface="Cambria" pitchFamily="34" charset="-120"/>
              </a:rPr>
              <a:t>______."</a:t>
            </a:r>
            <a:endParaRPr lang="en-US" sz="2200" dirty="0"/>
          </a:p>
        </p:txBody>
      </p:sp>
      <p:sp>
        <p:nvSpPr>
          <p:cNvPr id="8" name="Shape 5"/>
          <p:cNvSpPr/>
          <p:nvPr/>
        </p:nvSpPr>
        <p:spPr>
          <a:xfrm>
            <a:off x="731520" y="3474720"/>
            <a:ext cx="10515600" cy="54864"/>
          </a:xfrm>
          <a:prstGeom prst="roundRect">
            <a:avLst>
              <a:gd name="adj" fmla="val 50000"/>
            </a:avLst>
          </a:prstGeom>
          <a:solidFill>
            <a:srgbClr val="D4943A"/>
          </a:solidFill>
          <a:ln/>
        </p:spPr>
      </p:sp>
      <p:sp>
        <p:nvSpPr>
          <p:cNvPr id="9" name="Text 6"/>
          <p:cNvSpPr/>
          <p:nvPr/>
        </p:nvSpPr>
        <p:spPr>
          <a:xfrm>
            <a:off x="731520" y="3840480"/>
            <a:ext cx="5486400" cy="457200"/>
          </a:xfrm>
          <a:prstGeom prst="rect">
            <a:avLst/>
          </a:prstGeom>
          <a:noFill/>
          <a:ln/>
        </p:spPr>
        <p:txBody>
          <a:bodyPr wrap="square" lIns="0" tIns="0" rIns="0" bIns="0" rtlCol="0" anchor="ctr"/>
          <a:lstStyle/>
          <a:p>
            <a:pPr indent="0" marL="0">
              <a:buNone/>
            </a:pPr>
            <a:r>
              <a:rPr lang="en-US" sz="1800" b="1" dirty="0">
                <a:solidFill>
                  <a:srgbClr val="55C8E8"/>
                </a:solidFill>
                <a:latin typeface="Cambria" pitchFamily="34" charset="0"/>
                <a:ea typeface="Cambria" pitchFamily="34" charset="-122"/>
                <a:cs typeface="Cambria" pitchFamily="34" charset="-120"/>
              </a:rPr>
              <a:t>Coming Next...</a:t>
            </a:r>
            <a:endParaRPr lang="en-US" sz="1800" dirty="0"/>
          </a:p>
        </p:txBody>
      </p:sp>
      <p:sp>
        <p:nvSpPr>
          <p:cNvPr id="10" name="Text 7"/>
          <p:cNvSpPr/>
          <p:nvPr/>
        </p:nvSpPr>
        <p:spPr>
          <a:xfrm>
            <a:off x="731520" y="4389120"/>
            <a:ext cx="9144000" cy="91440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We have seen how scarcity leads to trade. Next, we will explore what happens when people must choose how to use their limited resources.</a:t>
            </a:r>
            <a:endParaRPr lang="en-US" sz="1500" dirty="0"/>
          </a:p>
        </p:txBody>
      </p:sp>
      <p:sp>
        <p:nvSpPr>
          <p:cNvPr id="11" name="Text 8"/>
          <p:cNvSpPr/>
          <p:nvPr/>
        </p:nvSpPr>
        <p:spPr>
          <a:xfrm>
            <a:off x="731520" y="5760720"/>
            <a:ext cx="3657600" cy="36576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Optima Academy Online</a:t>
            </a:r>
            <a:endParaRPr lang="en-US" sz="1200" dirty="0"/>
          </a:p>
        </p:txBody>
      </p:sp>
      <p:sp>
        <p:nvSpPr>
          <p:cNvPr id="12" name="Text 9"/>
          <p:cNvSpPr/>
          <p:nvPr/>
        </p:nvSpPr>
        <p:spPr>
          <a:xfrm>
            <a:off x="10728655" y="6492240"/>
            <a:ext cx="1280160" cy="27432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2026-07-11T08:34:27Z</dcterms:created>
  <dcterms:modified xsi:type="dcterms:W3CDTF">2026-07-11T08:34:27Z</dcterms:modified>
</cp:coreProperties>
</file>