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grand museum hall with a large folded trade routes map on a wooden curator's desk, weighted with small stones at the corners, arrows curving between North America and the Caribbean, warm gallery lighting, museum atmosphere.Welcome students to Marketplace Hall. This deck follows the museum's Trade &amp; Choice routine: connecting what regions have to where goods end up. Today's virtue is honesty -- an honest map is what makes trade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an old folded paper map with small museum stones weighing down the corners, thin hand-drawn arrows curving from Canada down through the United States, into Mexico, and up from the Caribbean toward Florida.Say: 'You've read maps before -- back in Unit 2, when explorers were finding new routes. But this map is different. The arrows aren't ships sailing somewhere new -- they're goods moving from where they grow to where they're needed.' Read the Curator's Question aloud (next slide).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Curator's Question aloud. Preview the three objectives. Keep this brief -- students will build toward answering this question across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single old map label or hand-lettered tag reading 'HONEST MAP' resting beside a magnifying glass on a wooden desk, dramatic single spotlight, museum exhibit style.Mention today's virtue, honesty. This connects directly to evidence question 3 and the self-check question 3 -- keep this idea alive throughout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name or define resources yet. Give a 5-second silence cue, then invite chat responses. Students should just be noticing -- no vocabulary introduced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discussion using the Socratic panel. Let students connect land/climate to resources without yet naming 'regional resources' as a term. Push toward: land and climate decide what a region has plenty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labeled museum exhibit card showing five small icons -- forest/oil (Canada), wheat (U.S. Prairies), orange (Florida), silver/avocado (Mexico), sugarcane (Caribbean) -- arranged like museum specimen tags.You discovered that land and climate decide what a region has plenty of -- this is a resource. Frame it as their discovery, not new information. Run the retrieval challenge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source study image from the lesson. Do not name 'trade route' yet -- let students describe the arrows in their own words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scarcity from 3.09.01: scarcity in one region + plenty in another = trade. This discussion directly scaffolds Evidence Question 2 (arrow as scarcity + trade). Also raise the honesty question here to scaffold Evidence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stylized museum map legend card showing a single glowing arrow moving from a forest icon to a city icon, labeled 'TRADE ROUTE' in museum exhibit lettering.You discovered that a trade route is the path from plenty to scarcity. This is the core idea behind Evidence Question 2. Keep tying it to the scarcity concept students already learned in 3.09.01.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curator's quick-reference table from the lesson. This table is the direct source for Evidence Question 1 -- students will pick one region and cite one 'plenty' and one 'scarce' item. Give time to study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Evidence Question 1's reasoning pattern using Florida oranges -&gt; Canada exactly as the lesson instructs. Speak the think-aloud aloud, slowly, pointing to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Caribbean sugar -&gt; Florida route as a whole class, using the same four-step reasoning pattern modeled on the previous slide. This directly rehearses the reasoning needed for the Curator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work independently or in pairs using the checklist. Circulate and listen for the four-step reasoning pattern -- resource, plenty, scarcity, gain -- becoming automatic before the Curator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the student confused plenty and scarcity. Guide students to see that Canada has SCARCITY of oranges (too cold to grow them), not plenty. This misconception is common and directly relevant to Evidence Question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debate directly scaffolds Evidence Question 3 (honesty on trade maps) and Self-Check Question 3. Let students genuinely disagree about honest mistakes vs. dishonesty -- there isn't one clean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one at a time as you go. If missed: trade route = path from plenty to scarcity; climate and land decide what each region has; honest maps matter because they're evidence. Use Florida oranges -&gt; Canada as the touchstone.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For Q1, model: 'Florida grows oranges because of warm weather and good soil. Canada is too cold. So oranges travel from Florida north.' For the Curator Task, students pick one of the five trade routes and use the Trade and Choice frame: choice, scarcity, benefit, consequence.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finish this exact sentence frame in their own words. Remind them to complete the turn-in checklist before submitting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curator closing the trade routes map with a satisfied smile, museum hall in soft evening light, a new tall wooden board with two sliding columns faintly visible being wheeled into the hall in the background.Celebrate: 'You read a trade map as evidence. You connected region to resource to route, and you analyzed a real trade with choice, scarcity, benefit, and consequence.' Tease next lesson: tomorrow's Marketplace Decision Board with Costs and Benefits columns. Under 1 minute, warm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40080" y="228600"/>
            <a:ext cx="9144000" cy="27432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OPTIMA ACADEMY ONLINE  ·  GRADE 3 SOCIAL STUDIES  ·  MARKETPLACE HALL</a:t>
            </a:r>
            <a:endParaRPr lang="en-US" sz="1300" dirty="0"/>
          </a:p>
        </p:txBody>
      </p:sp>
      <p:sp>
        <p:nvSpPr>
          <p:cNvPr id="6" name="Text 3"/>
          <p:cNvSpPr/>
          <p:nvPr/>
        </p:nvSpPr>
        <p:spPr>
          <a:xfrm>
            <a:off x="640080" y="2377440"/>
            <a:ext cx="10972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Trade Routes &amp; Regional Resources</a:t>
            </a:r>
            <a:endParaRPr lang="en-US" sz="4000" dirty="0"/>
          </a:p>
        </p:txBody>
      </p:sp>
      <p:sp>
        <p:nvSpPr>
          <p:cNvPr id="7" name="Text 4"/>
          <p:cNvSpPr/>
          <p:nvPr/>
        </p:nvSpPr>
        <p:spPr>
          <a:xfrm>
            <a:off x="640080" y="3383280"/>
            <a:ext cx="9144000" cy="457200"/>
          </a:xfrm>
          <a:prstGeom prst="rect">
            <a:avLst/>
          </a:prstGeom>
          <a:noFill/>
          <a:ln/>
        </p:spPr>
        <p:txBody>
          <a:bodyPr wrap="square" lIns="0" tIns="0" rIns="0" bIns="0" rtlCol="0" anchor="ctr"/>
          <a:lstStyle/>
          <a:p>
            <a:pPr indent="0" marL="0">
              <a:buNone/>
            </a:pPr>
            <a:r>
              <a:rPr lang="en-US" sz="2000" b="1" dirty="0">
                <a:solidFill>
                  <a:srgbClr val="D4943A"/>
                </a:solidFill>
                <a:latin typeface="Calibri" pitchFamily="34" charset="0"/>
                <a:ea typeface="Calibri" pitchFamily="34" charset="-122"/>
                <a:cs typeface="Calibri" pitchFamily="34" charset="-120"/>
              </a:rPr>
              <a:t>Lesson 3.09.06</a:t>
            </a:r>
            <a:endParaRPr lang="en-US" sz="2000" dirty="0"/>
          </a:p>
        </p:txBody>
      </p:sp>
      <p:sp>
        <p:nvSpPr>
          <p:cNvPr id="8" name="Text 5"/>
          <p:cNvSpPr/>
          <p:nvPr/>
        </p:nvSpPr>
        <p:spPr>
          <a:xfrm>
            <a:off x="640080" y="3931920"/>
            <a:ext cx="9144000" cy="365760"/>
          </a:xfrm>
          <a:prstGeom prst="rect">
            <a:avLst/>
          </a:prstGeom>
          <a:noFill/>
          <a:ln/>
        </p:spPr>
        <p:txBody>
          <a:bodyPr wrap="square" lIns="0" tIns="0" rIns="0" bIns="0" rtlCol="0" anchor="ctr"/>
          <a:lstStyle/>
          <a:p>
            <a:pPr indent="0" marL="0">
              <a:buNone/>
            </a:pPr>
            <a:r>
              <a:rPr lang="en-US" sz="1500" i="1" dirty="0">
                <a:solidFill>
                  <a:srgbClr val="D6E4F5"/>
                </a:solidFill>
                <a:latin typeface="Calibri" pitchFamily="34" charset="0"/>
                <a:ea typeface="Calibri" pitchFamily="34" charset="-122"/>
                <a:cs typeface="Calibri" pitchFamily="34" charset="-120"/>
              </a:rPr>
              <a:t>Routine: Trade and Choice   |   Virtue Spotlight: Honesty</a:t>
            </a:r>
            <a:endParaRPr lang="en-US" sz="1500" dirty="0"/>
          </a:p>
        </p:txBody>
      </p:sp>
      <p:sp>
        <p:nvSpPr>
          <p:cNvPr id="9" name="Text 6"/>
          <p:cNvSpPr/>
          <p:nvPr/>
        </p:nvSpPr>
        <p:spPr>
          <a:xfrm>
            <a:off x="640080" y="5120640"/>
            <a:ext cx="10058400" cy="548640"/>
          </a:xfrm>
          <a:prstGeom prst="rect">
            <a:avLst/>
          </a:prstGeom>
          <a:noFill/>
          <a:ln/>
        </p:spPr>
        <p:txBody>
          <a:bodyPr wrap="square" lIns="0" tIns="0" rIns="0" bIns="0" rtlCol="0" anchor="ctr"/>
          <a:lstStyle/>
          <a:p>
            <a:pPr indent="0" marL="0">
              <a:buNone/>
            </a:pPr>
            <a:r>
              <a:rPr lang="en-US" sz="1500" i="1" dirty="0">
                <a:solidFill>
                  <a:srgbClr val="FFFFFF"/>
                </a:solidFill>
                <a:latin typeface="Cambria" pitchFamily="34" charset="0"/>
                <a:ea typeface="Cambria" pitchFamily="34" charset="-122"/>
                <a:cs typeface="Cambria" pitchFamily="34" charset="-120"/>
              </a:rPr>
              <a:t>"Once upon a time, this was a trade routes map." -- The Curator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40080" y="228600"/>
            <a:ext cx="9144000" cy="27432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ENTER THE MUSEUM</a:t>
            </a:r>
            <a:endParaRPr lang="en-US" sz="1300" dirty="0"/>
          </a:p>
        </p:txBody>
      </p:sp>
      <p:sp>
        <p:nvSpPr>
          <p:cNvPr id="6" name="Text 3"/>
          <p:cNvSpPr/>
          <p:nvPr/>
        </p:nvSpPr>
        <p:spPr>
          <a:xfrm>
            <a:off x="640080" y="1005840"/>
            <a:ext cx="109728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Map That Tells a Trade Story</a:t>
            </a:r>
            <a:endParaRPr lang="en-US" sz="3000" dirty="0"/>
          </a:p>
        </p:txBody>
      </p:sp>
      <p:sp>
        <p:nvSpPr>
          <p:cNvPr id="7" name="Text 4"/>
          <p:cNvSpPr/>
          <p:nvPr/>
        </p:nvSpPr>
        <p:spPr>
          <a:xfrm>
            <a:off x="640080" y="1920240"/>
            <a:ext cx="10515600" cy="3200400"/>
          </a:xfrm>
          <a:prstGeom prst="rect">
            <a:avLst/>
          </a:prstGeom>
          <a:noFill/>
          <a:ln/>
        </p:spPr>
        <p:txBody>
          <a:bodyPr wrap="square" lIns="0" tIns="0" rIns="0" bIns="0" rtlCol="0" anchor="t"/>
          <a:lstStyle/>
          <a:p>
            <a:pPr indent="0" marL="0">
              <a:spcAft>
                <a:spcPts val="1200"/>
              </a:spcAft>
              <a:buNone/>
            </a:pPr>
            <a:r>
              <a:rPr lang="en-US" sz="1600" dirty="0">
                <a:solidFill>
                  <a:srgbClr val="FFFFFF"/>
                </a:solidFill>
                <a:latin typeface="Calibri" pitchFamily="34" charset="0"/>
                <a:ea typeface="Calibri" pitchFamily="34" charset="-122"/>
                <a:cs typeface="Calibri" pitchFamily="34" charset="-120"/>
              </a:rPr>
              <a:t>A large folded map is open on the curator's desk this morning, weighted down at the corners with small museum stones. Thin arrows curve between regions of North America and the Caribbean -- Canada down to the United States, the U.S. down to Mexico, Mexico up to the U.S., and the Caribbean curving north toward Florida.</a:t>
            </a:r>
            <a:endParaRPr lang="en-US" sz="1600" dirty="0"/>
          </a:p>
          <a:p>
            <a:pPr indent="0" marL="0">
              <a:spcAft>
                <a:spcPts val="1200"/>
              </a:spcAft>
              <a:buNone/>
            </a:pPr>
            <a:r>
              <a:rPr lang="en-US" sz="1600" i="1" dirty="0">
                <a:solidFill>
                  <a:srgbClr val="FFFFFF"/>
                </a:solidFill>
                <a:latin typeface="Calibri" pitchFamily="34" charset="0"/>
                <a:ea typeface="Calibri" pitchFamily="34" charset="-122"/>
                <a:cs typeface="Calibri" pitchFamily="34" charset="-120"/>
              </a:rPr>
              <a:t>"Once upon a time, this was a trade routes map," the curator says. "Now I want you to read it the way an economist reads it."</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Today, Trade &amp; Choice Curators connect what places have to where it ends up -- and write the panel that explains why goods travel so far.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TODAY'S CURATOR'S QUESTION</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Why Do Resources End Up Somewhere Else?</a:t>
            </a:r>
            <a:endParaRPr lang="en-US" sz="2800" dirty="0"/>
          </a:p>
        </p:txBody>
      </p:sp>
      <p:sp>
        <p:nvSpPr>
          <p:cNvPr id="4" name="Shape 2"/>
          <p:cNvSpPr/>
          <p:nvPr/>
        </p:nvSpPr>
        <p:spPr>
          <a:xfrm>
            <a:off x="609600" y="1584960"/>
            <a:ext cx="10972800" cy="1950720"/>
          </a:xfrm>
          <a:prstGeom prst="roundRect">
            <a:avLst>
              <a:gd name="adj" fmla="val 7500"/>
            </a:avLst>
          </a:prstGeom>
          <a:solidFill>
            <a:srgbClr val="EAF8FD"/>
          </a:solidFill>
          <a:ln w="12700">
            <a:solidFill>
              <a:srgbClr val="D8DEEC"/>
            </a:solidFill>
            <a:prstDash val="solid"/>
          </a:ln>
        </p:spPr>
      </p:sp>
      <p:sp>
        <p:nvSpPr>
          <p:cNvPr id="5" name="Text 3"/>
          <p:cNvSpPr/>
          <p:nvPr/>
        </p:nvSpPr>
        <p:spPr>
          <a:xfrm>
            <a:off x="975360" y="1889760"/>
            <a:ext cx="10241280" cy="1341120"/>
          </a:xfrm>
          <a:prstGeom prst="rect">
            <a:avLst/>
          </a:prstGeom>
          <a:noFill/>
          <a:ln/>
        </p:spPr>
        <p:txBody>
          <a:bodyPr wrap="square" lIns="0" tIns="0" rIns="0" bIns="0" rtlCol="0" anchor="ctr"/>
          <a:lstStyle/>
          <a:p>
            <a:pPr algn="ctr" indent="0" marL="0">
              <a:buNone/>
            </a:pPr>
            <a:r>
              <a:rPr lang="en-US" sz="1700" b="1" i="1" dirty="0">
                <a:solidFill>
                  <a:srgbClr val="0E1C42"/>
                </a:solidFill>
                <a:latin typeface="Calibri" pitchFamily="34" charset="0"/>
                <a:ea typeface="Calibri" pitchFamily="34" charset="-122"/>
                <a:cs typeface="Calibri" pitchFamily="34" charset="-120"/>
              </a:rPr>
              <a:t>Why do the resources of one region end up on tables in another -- and what does a trade route map tell us about scarcity, choice, and trade?</a:t>
            </a:r>
            <a:endParaRPr lang="en-US" sz="1700" dirty="0"/>
          </a:p>
        </p:txBody>
      </p:sp>
      <p:sp>
        <p:nvSpPr>
          <p:cNvPr id="6" name="Shape 4"/>
          <p:cNvSpPr/>
          <p:nvPr/>
        </p:nvSpPr>
        <p:spPr>
          <a:xfrm>
            <a:off x="609600" y="3840480"/>
            <a:ext cx="10972800" cy="2438400"/>
          </a:xfrm>
          <a:prstGeom prst="roundRect">
            <a:avLst>
              <a:gd name="adj" fmla="val 6000"/>
            </a:avLst>
          </a:prstGeom>
          <a:solidFill>
            <a:srgbClr val="FFF8F0"/>
          </a:solidFill>
          <a:ln w="12700">
            <a:solidFill>
              <a:srgbClr val="D8DEEC"/>
            </a:solidFill>
            <a:prstDash val="solid"/>
          </a:ln>
        </p:spPr>
      </p:sp>
      <p:sp>
        <p:nvSpPr>
          <p:cNvPr id="7" name="Text 5"/>
          <p:cNvSpPr/>
          <p:nvPr/>
        </p:nvSpPr>
        <p:spPr>
          <a:xfrm>
            <a:off x="975360" y="4023360"/>
            <a:ext cx="10241280" cy="426720"/>
          </a:xfrm>
          <a:prstGeom prst="rect">
            <a:avLst/>
          </a:prstGeom>
          <a:noFill/>
          <a:ln/>
        </p:spPr>
        <p:txBody>
          <a:bodyPr wrap="square" lIns="0" tIns="0" rIns="0" bIns="0" rtlCol="0" anchor="t"/>
          <a:lstStyle/>
          <a:p>
            <a:pPr indent="0" marL="0">
              <a:buNone/>
            </a:pPr>
            <a:r>
              <a:rPr lang="en-US" sz="1400" b="1" dirty="0">
                <a:solidFill>
                  <a:srgbClr val="D4943A"/>
                </a:solidFill>
                <a:latin typeface="Calibri" pitchFamily="34" charset="0"/>
                <a:ea typeface="Calibri" pitchFamily="34" charset="-122"/>
                <a:cs typeface="Calibri" pitchFamily="34" charset="-120"/>
              </a:rPr>
              <a:t>What You'll Learn Today</a:t>
            </a:r>
            <a:endParaRPr lang="en-US" sz="1400" dirty="0"/>
          </a:p>
        </p:txBody>
      </p:sp>
      <p:sp>
        <p:nvSpPr>
          <p:cNvPr id="8" name="Text 6"/>
          <p:cNvSpPr/>
          <p:nvPr/>
        </p:nvSpPr>
        <p:spPr>
          <a:xfrm>
            <a:off x="1036320" y="4450080"/>
            <a:ext cx="10119360" cy="1706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Identify the main resources of regions in North America and the Caribbean.</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Read a trade route map as evidence of scarcity and choice.</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Analyze one trade route using the Trade and Choice frame.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40080" y="228600"/>
            <a:ext cx="9144000" cy="27432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VIRTUE SPOTLIGHT</a:t>
            </a:r>
            <a:endParaRPr lang="en-US" sz="1300" dirty="0"/>
          </a:p>
        </p:txBody>
      </p:sp>
      <p:sp>
        <p:nvSpPr>
          <p:cNvPr id="6" name="Text 3"/>
          <p:cNvSpPr/>
          <p:nvPr/>
        </p:nvSpPr>
        <p:spPr>
          <a:xfrm>
            <a:off x="640080" y="1005840"/>
            <a:ext cx="10972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Honesty</a:t>
            </a:r>
            <a:endParaRPr lang="en-US" sz="4000" dirty="0"/>
          </a:p>
        </p:txBody>
      </p:sp>
      <p:sp>
        <p:nvSpPr>
          <p:cNvPr id="7" name="Text 4"/>
          <p:cNvSpPr/>
          <p:nvPr/>
        </p:nvSpPr>
        <p:spPr>
          <a:xfrm>
            <a:off x="640080" y="2103120"/>
            <a:ext cx="10058400" cy="548640"/>
          </a:xfrm>
          <a:prstGeom prst="rect">
            <a:avLst/>
          </a:prstGeom>
          <a:noFill/>
          <a:ln/>
        </p:spPr>
        <p:txBody>
          <a:bodyPr wrap="square" lIns="0" tIns="0" rIns="0" bIns="0" rtlCol="0" anchor="ctr"/>
          <a:lstStyle/>
          <a:p>
            <a:pPr indent="0" marL="0">
              <a:buNone/>
            </a:pPr>
            <a:r>
              <a:rPr lang="en-US" sz="1800" i="1" dirty="0">
                <a:solidFill>
                  <a:srgbClr val="D4943A"/>
                </a:solidFill>
                <a:latin typeface="Cambria" pitchFamily="34" charset="0"/>
                <a:ea typeface="Cambria" pitchFamily="34" charset="-122"/>
                <a:cs typeface="Cambria" pitchFamily="34" charset="-120"/>
              </a:rPr>
              <a:t>An honest map tells the truth about what a place really has -- and what it doesn't.</a:t>
            </a:r>
            <a:endParaRPr lang="en-US" sz="1800" dirty="0"/>
          </a:p>
        </p:txBody>
      </p:sp>
      <p:sp>
        <p:nvSpPr>
          <p:cNvPr id="8" name="Text 5"/>
          <p:cNvSpPr/>
          <p:nvPr/>
        </p:nvSpPr>
        <p:spPr>
          <a:xfrm>
            <a:off x="640080" y="2926080"/>
            <a:ext cx="10058400" cy="14630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 trade map only works if the mapmaker is honest about each region. If Florida claims it grows wheat when it doesn't, or if the Caribbean hides that it has sugar, traders make bad deals. Today, notice how an honest map shows what each place really has -- and what it really needs.</a:t>
            </a:r>
            <a:endParaRPr lang="en-US" sz="1600" dirty="0"/>
          </a:p>
        </p:txBody>
      </p:sp>
      <p:sp>
        <p:nvSpPr>
          <p:cNvPr id="9" name="Text 6"/>
          <p:cNvSpPr/>
          <p:nvPr/>
        </p:nvSpPr>
        <p:spPr>
          <a:xfrm>
            <a:off x="640080" y="4663440"/>
            <a:ext cx="10058400" cy="731520"/>
          </a:xfrm>
          <a:prstGeom prst="rect">
            <a:avLst/>
          </a:prstGeom>
          <a:noFill/>
          <a:ln/>
        </p:spPr>
        <p:txBody>
          <a:bodyPr wrap="square" lIns="0" tIns="0" rIns="0" bIns="0" rtlCol="0" anchor="ctr"/>
          <a:lstStyle/>
          <a:p>
            <a:pPr indent="0" marL="0">
              <a:buNone/>
            </a:pPr>
            <a:r>
              <a:rPr lang="en-US" sz="1400" i="1" dirty="0">
                <a:solidFill>
                  <a:srgbClr val="D6E4F5"/>
                </a:solidFill>
                <a:latin typeface="Calibri" pitchFamily="34" charset="0"/>
                <a:ea typeface="Calibri" pitchFamily="34" charset="-122"/>
                <a:cs typeface="Calibri" pitchFamily="34" charset="-120"/>
              </a:rPr>
              <a:t>Maps and labels only tell the truth when the mapmaker is honest about what each region really has -- and what it doesn't.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CLUE BOX  ·  LOOK CLOSELY</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What Does Each Region Have Plenty Of?</a:t>
            </a:r>
            <a:endParaRPr lang="en-US" sz="2800" dirty="0"/>
          </a:p>
        </p:txBody>
      </p:sp>
      <p:sp>
        <p:nvSpPr>
          <p:cNvPr id="4" name="Shape 2"/>
          <p:cNvSpPr/>
          <p:nvPr/>
        </p:nvSpPr>
        <p:spPr>
          <a:xfrm>
            <a:off x="609600" y="1584960"/>
            <a:ext cx="6705600" cy="4267200"/>
          </a:xfrm>
          <a:prstGeom prst="roundRect">
            <a:avLst>
              <a:gd name="adj" fmla="val 3429"/>
            </a:avLst>
          </a:prstGeom>
          <a:solidFill>
            <a:srgbClr val="E2E8F4"/>
          </a:solidFill>
          <a:ln w="19050">
            <a:solidFill>
              <a:srgbClr val="B0B8CC"/>
            </a:solidFill>
            <a:prstDash val="dash"/>
          </a:ln>
        </p:spPr>
      </p:sp>
      <p:sp>
        <p:nvSpPr>
          <p:cNvPr id="5" name="Text 3"/>
          <p:cNvSpPr/>
          <p:nvPr/>
        </p:nvSpPr>
        <p:spPr>
          <a:xfrm>
            <a:off x="609600" y="1584960"/>
            <a:ext cx="67056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1950720"/>
            <a:ext cx="6339840" cy="37795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kid-friendly resource map of North America and the Caribbean showing oranges in Florida, wheat in the prairies, oil/timber in Canada, silver/avocados in Mexico, and sugarcane in the Caribbean.</a:t>
            </a:r>
            <a:endParaRPr lang="en-US" sz="1100" dirty="0"/>
          </a:p>
        </p:txBody>
      </p:sp>
      <p:sp>
        <p:nvSpPr>
          <p:cNvPr id="7" name="Shape 5"/>
          <p:cNvSpPr/>
          <p:nvPr/>
        </p:nvSpPr>
        <p:spPr>
          <a:xfrm>
            <a:off x="7559040" y="1584960"/>
            <a:ext cx="4023360" cy="1828800"/>
          </a:xfrm>
          <a:prstGeom prst="roundRect">
            <a:avLst>
              <a:gd name="adj" fmla="val 8000"/>
            </a:avLst>
          </a:prstGeom>
          <a:solidFill>
            <a:srgbClr val="FFF3DC"/>
          </a:solidFill>
          <a:ln w="12700">
            <a:solidFill>
              <a:srgbClr val="D8DEEC"/>
            </a:solidFill>
            <a:prstDash val="solid"/>
          </a:ln>
        </p:spPr>
      </p:sp>
      <p:sp>
        <p:nvSpPr>
          <p:cNvPr id="8" name="Text 6"/>
          <p:cNvSpPr/>
          <p:nvPr/>
        </p:nvSpPr>
        <p:spPr>
          <a:xfrm>
            <a:off x="7802880" y="1767840"/>
            <a:ext cx="3535680" cy="1463040"/>
          </a:xfrm>
          <a:prstGeom prst="rect">
            <a:avLst/>
          </a:prstGeom>
          <a:noFill/>
          <a:ln/>
        </p:spPr>
        <p:txBody>
          <a:bodyPr wrap="square" lIns="0" tIns="0" rIns="0" bIns="0" rtlCol="0" anchor="t"/>
          <a:lstStyle/>
          <a:p>
            <a:pPr indent="0" marL="0">
              <a:buNone/>
            </a:pPr>
            <a:r>
              <a:rPr lang="en-US" sz="1300" i="1" dirty="0">
                <a:solidFill>
                  <a:srgbClr val="0E1C42"/>
                </a:solidFill>
                <a:latin typeface="Calibri" pitchFamily="34" charset="0"/>
                <a:ea typeface="Calibri" pitchFamily="34" charset="-122"/>
                <a:cs typeface="Calibri" pitchFamily="34" charset="-120"/>
              </a:rPr>
              <a:t>Look at the map for 5 quiet seconds. What resource do you notice first? Where is it?</a:t>
            </a:r>
            <a:endParaRPr lang="en-US" sz="1300" dirty="0"/>
          </a:p>
        </p:txBody>
      </p:sp>
      <p:sp>
        <p:nvSpPr>
          <p:cNvPr id="9" name="Shape 7"/>
          <p:cNvSpPr/>
          <p:nvPr/>
        </p:nvSpPr>
        <p:spPr>
          <a:xfrm>
            <a:off x="7559040" y="3657600"/>
            <a:ext cx="4023360" cy="2194560"/>
          </a:xfrm>
          <a:prstGeom prst="roundRect">
            <a:avLst>
              <a:gd name="adj" fmla="val 6667"/>
            </a:avLst>
          </a:prstGeom>
          <a:solidFill>
            <a:srgbClr val="FFF3DC"/>
          </a:solidFill>
          <a:ln w="19050">
            <a:solidFill>
              <a:srgbClr val="F5E6C8"/>
            </a:solidFill>
            <a:prstDash val="solid"/>
          </a:ln>
        </p:spPr>
      </p:sp>
      <p:sp>
        <p:nvSpPr>
          <p:cNvPr id="10" name="Text 8"/>
          <p:cNvSpPr/>
          <p:nvPr/>
        </p:nvSpPr>
        <p:spPr>
          <a:xfrm>
            <a:off x="7741920" y="3730752"/>
            <a:ext cx="36576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7741920" y="3998976"/>
            <a:ext cx="3657600" cy="17678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resource I see is..."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DISCUSS  ·  TALK IT THROUGH</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Why Does Each Region Have Different Things?</a:t>
            </a:r>
            <a:endParaRPr lang="en-US" sz="2800" dirty="0"/>
          </a:p>
        </p:txBody>
      </p:sp>
      <p:sp>
        <p:nvSpPr>
          <p:cNvPr id="4" name="Shape 2"/>
          <p:cNvSpPr/>
          <p:nvPr/>
        </p:nvSpPr>
        <p:spPr>
          <a:xfrm>
            <a:off x="609600" y="1584960"/>
            <a:ext cx="5364480" cy="42672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853440" y="1706880"/>
            <a:ext cx="48768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853440" y="2048256"/>
            <a:ext cx="4876800" cy="36819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you notice on the map -- where was it located?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that region grow or make that particular resource?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a cold region grow oranges? Why or why 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someone else notice that you didn't?</a:t>
            </a:r>
            <a:endParaRPr lang="en-US" sz="1100" dirty="0"/>
          </a:p>
        </p:txBody>
      </p:sp>
      <p:sp>
        <p:nvSpPr>
          <p:cNvPr id="7" name="Shape 5"/>
          <p:cNvSpPr/>
          <p:nvPr/>
        </p:nvSpPr>
        <p:spPr>
          <a:xfrm>
            <a:off x="6278880" y="1584960"/>
            <a:ext cx="5303520" cy="4267200"/>
          </a:xfrm>
          <a:prstGeom prst="roundRect">
            <a:avLst>
              <a:gd name="adj" fmla="val 3429"/>
            </a:avLst>
          </a:prstGeom>
          <a:solidFill>
            <a:srgbClr val="FFF3DC"/>
          </a:solidFill>
          <a:ln w="19050">
            <a:solidFill>
              <a:srgbClr val="F5E6C8"/>
            </a:solidFill>
            <a:prstDash val="solid"/>
          </a:ln>
        </p:spPr>
      </p:sp>
      <p:sp>
        <p:nvSpPr>
          <p:cNvPr id="8" name="Text 6"/>
          <p:cNvSpPr/>
          <p:nvPr/>
        </p:nvSpPr>
        <p:spPr>
          <a:xfrm>
            <a:off x="6461760" y="1658112"/>
            <a:ext cx="493776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6461760" y="1926336"/>
            <a:ext cx="4937760" cy="38404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map shows...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"At first I thought... but now I notice..."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40080" y="228600"/>
            <a:ext cx="9144000" cy="27432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REVEAL  ·  YOU DISCOVERED IT</a:t>
            </a:r>
            <a:endParaRPr lang="en-US" sz="1300" dirty="0"/>
          </a:p>
        </p:txBody>
      </p:sp>
      <p:sp>
        <p:nvSpPr>
          <p:cNvPr id="6" name="Text 3"/>
          <p:cNvSpPr/>
          <p:nvPr/>
        </p:nvSpPr>
        <p:spPr>
          <a:xfrm>
            <a:off x="640080" y="100584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Regional Resources</a:t>
            </a:r>
            <a:endParaRPr lang="en-US" sz="3200" dirty="0"/>
          </a:p>
        </p:txBody>
      </p:sp>
      <p:sp>
        <p:nvSpPr>
          <p:cNvPr id="7" name="Text 4"/>
          <p:cNvSpPr/>
          <p:nvPr/>
        </p:nvSpPr>
        <p:spPr>
          <a:xfrm>
            <a:off x="640080" y="1920240"/>
            <a:ext cx="10332720" cy="640080"/>
          </a:xfrm>
          <a:prstGeom prst="rect">
            <a:avLst/>
          </a:prstGeom>
          <a:noFill/>
          <a:ln/>
        </p:spPr>
        <p:txBody>
          <a:bodyPr wrap="square" lIns="0" tIns="0" rIns="0" bIns="0" rtlCol="0" anchor="ctr"/>
          <a:lstStyle/>
          <a:p>
            <a:pPr indent="0" marL="0">
              <a:buNone/>
            </a:pPr>
            <a:r>
              <a:rPr lang="en-US" sz="1700" i="1" dirty="0">
                <a:solidFill>
                  <a:srgbClr val="D4943A"/>
                </a:solidFill>
                <a:latin typeface="Cambria" pitchFamily="34" charset="0"/>
                <a:ea typeface="Cambria" pitchFamily="34" charset="-122"/>
                <a:cs typeface="Cambria" pitchFamily="34" charset="-120"/>
              </a:rPr>
              <a:t>A resource is something the land or water of a region gives that people use to make goods.</a:t>
            </a:r>
            <a:endParaRPr lang="en-US" sz="1700" dirty="0"/>
          </a:p>
        </p:txBody>
      </p:sp>
      <p:sp>
        <p:nvSpPr>
          <p:cNvPr id="8" name="Text 5"/>
          <p:cNvSpPr/>
          <p:nvPr/>
        </p:nvSpPr>
        <p:spPr>
          <a:xfrm>
            <a:off x="640080" y="2697480"/>
            <a:ext cx="1033272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Canada -- huge forests and oil, so it sends timber and fuel south.</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U.S. Prairies -- grow wheat and corn for the whole country and beyond.</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Florida -- grows oranges that ship out far from any orange tree.</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Mexico -- grows avocados and peppers and has silver in its mountains.</a:t>
            </a:r>
            <a:endParaRPr lang="en-US" sz="1500" dirty="0"/>
          </a:p>
          <a:p>
            <a:pPr marL="342900" indent="-342900">
              <a:buSzPct val="100000"/>
              <a:buChar char="•"/>
            </a:pPr>
            <a:r>
              <a:rPr lang="en-US" sz="1500" dirty="0">
                <a:solidFill>
                  <a:srgbClr val="FFFFFF"/>
                </a:solidFill>
                <a:latin typeface="Calibri" pitchFamily="34" charset="0"/>
                <a:ea typeface="Calibri" pitchFamily="34" charset="-122"/>
                <a:cs typeface="Calibri" pitchFamily="34" charset="-120"/>
              </a:rPr>
              <a:t>Caribbean -- grows sugarcane, bananas, and coffee in warm weather no Northern region has.</a:t>
            </a:r>
            <a:endParaRPr lang="en-US" sz="1500" dirty="0"/>
          </a:p>
        </p:txBody>
      </p:sp>
      <p:sp>
        <p:nvSpPr>
          <p:cNvPr id="9" name="Text 6"/>
          <p:cNvSpPr/>
          <p:nvPr/>
        </p:nvSpPr>
        <p:spPr>
          <a:xfrm>
            <a:off x="640080" y="5029200"/>
            <a:ext cx="10332720" cy="548640"/>
          </a:xfrm>
          <a:prstGeom prst="rect">
            <a:avLst/>
          </a:prstGeom>
          <a:noFill/>
          <a:ln/>
        </p:spPr>
        <p:txBody>
          <a:bodyPr wrap="square" lIns="0" tIns="0" rIns="0" bIns="0" rtlCol="0" anchor="ctr"/>
          <a:lstStyle/>
          <a:p>
            <a:pPr indent="0" marL="0">
              <a:buNone/>
            </a:pPr>
            <a:r>
              <a:rPr lang="en-US" sz="1300" i="1" dirty="0">
                <a:solidFill>
                  <a:srgbClr val="D6E4F5"/>
                </a:solidFill>
                <a:latin typeface="Calibri" pitchFamily="34" charset="0"/>
                <a:ea typeface="Calibri" pitchFamily="34" charset="-122"/>
                <a:cs typeface="Calibri" pitchFamily="34" charset="-120"/>
              </a:rPr>
              <a:t>Retrieval Challenge: Cover your screen. Name two regions and one resource each, from memory.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CLUE BOX  ·  LOOK CLOSELY</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Follow One Arrow</a:t>
            </a:r>
            <a:endParaRPr lang="en-US" sz="2800" dirty="0"/>
          </a:p>
        </p:txBody>
      </p:sp>
      <p:sp>
        <p:nvSpPr>
          <p:cNvPr id="4" name="Shape 2"/>
          <p:cNvSpPr/>
          <p:nvPr/>
        </p:nvSpPr>
        <p:spPr>
          <a:xfrm>
            <a:off x="609600" y="1584960"/>
            <a:ext cx="6705600" cy="4267200"/>
          </a:xfrm>
          <a:prstGeom prst="roundRect">
            <a:avLst>
              <a:gd name="adj" fmla="val 3429"/>
            </a:avLst>
          </a:prstGeom>
          <a:solidFill>
            <a:srgbClr val="E2E8F4"/>
          </a:solidFill>
          <a:ln w="19050">
            <a:solidFill>
              <a:srgbClr val="B0B8CC"/>
            </a:solidFill>
            <a:prstDash val="dash"/>
          </a:ln>
        </p:spPr>
      </p:sp>
      <p:sp>
        <p:nvSpPr>
          <p:cNvPr id="5" name="Text 3"/>
          <p:cNvSpPr/>
          <p:nvPr/>
        </p:nvSpPr>
        <p:spPr>
          <a:xfrm>
            <a:off x="609600" y="1584960"/>
            <a:ext cx="67056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1950720"/>
            <a:ext cx="6339840" cy="37795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trade route map of North America and the Caribbean with arrows connecting Canada, the United States, Mexico, and the Caribbean islands -- some arrows labeled with tiny icons of timber, oranges, avocados, and sugar.</a:t>
            </a:r>
            <a:endParaRPr lang="en-US" sz="1100" dirty="0"/>
          </a:p>
        </p:txBody>
      </p:sp>
      <p:sp>
        <p:nvSpPr>
          <p:cNvPr id="7" name="Shape 5"/>
          <p:cNvSpPr/>
          <p:nvPr/>
        </p:nvSpPr>
        <p:spPr>
          <a:xfrm>
            <a:off x="7559040" y="1584960"/>
            <a:ext cx="4023360" cy="1828800"/>
          </a:xfrm>
          <a:prstGeom prst="roundRect">
            <a:avLst>
              <a:gd name="adj" fmla="val 8000"/>
            </a:avLst>
          </a:prstGeom>
          <a:solidFill>
            <a:srgbClr val="FFF3DC"/>
          </a:solidFill>
          <a:ln w="12700">
            <a:solidFill>
              <a:srgbClr val="D8DEEC"/>
            </a:solidFill>
            <a:prstDash val="solid"/>
          </a:ln>
        </p:spPr>
      </p:sp>
      <p:sp>
        <p:nvSpPr>
          <p:cNvPr id="8" name="Text 6"/>
          <p:cNvSpPr/>
          <p:nvPr/>
        </p:nvSpPr>
        <p:spPr>
          <a:xfrm>
            <a:off x="7802880" y="1767840"/>
            <a:ext cx="3535680" cy="1463040"/>
          </a:xfrm>
          <a:prstGeom prst="rect">
            <a:avLst/>
          </a:prstGeom>
          <a:noFill/>
          <a:ln/>
        </p:spPr>
        <p:txBody>
          <a:bodyPr wrap="square" lIns="0" tIns="0" rIns="0" bIns="0" rtlCol="0" anchor="t"/>
          <a:lstStyle/>
          <a:p>
            <a:pPr indent="0" marL="0">
              <a:buNone/>
            </a:pPr>
            <a:r>
              <a:rPr lang="en-US" sz="1300" i="1" dirty="0">
                <a:solidFill>
                  <a:srgbClr val="0E1C42"/>
                </a:solidFill>
                <a:latin typeface="Calibri" pitchFamily="34" charset="0"/>
                <a:ea typeface="Calibri" pitchFamily="34" charset="-122"/>
                <a:cs typeface="Calibri" pitchFamily="34" charset="-120"/>
              </a:rPr>
              <a:t>Pick one arrow. Where does it start? Where does it end? What might be traveling along it?</a:t>
            </a:r>
            <a:endParaRPr lang="en-US" sz="1300" dirty="0"/>
          </a:p>
        </p:txBody>
      </p:sp>
      <p:sp>
        <p:nvSpPr>
          <p:cNvPr id="9" name="Shape 7"/>
          <p:cNvSpPr/>
          <p:nvPr/>
        </p:nvSpPr>
        <p:spPr>
          <a:xfrm>
            <a:off x="7559040" y="3657600"/>
            <a:ext cx="4023360" cy="2194560"/>
          </a:xfrm>
          <a:prstGeom prst="roundRect">
            <a:avLst>
              <a:gd name="adj" fmla="val 6667"/>
            </a:avLst>
          </a:prstGeom>
          <a:solidFill>
            <a:srgbClr val="FFF3DC"/>
          </a:solidFill>
          <a:ln w="19050">
            <a:solidFill>
              <a:srgbClr val="F5E6C8"/>
            </a:solidFill>
            <a:prstDash val="solid"/>
          </a:ln>
        </p:spPr>
      </p:sp>
      <p:sp>
        <p:nvSpPr>
          <p:cNvPr id="10" name="Text 8"/>
          <p:cNvSpPr/>
          <p:nvPr/>
        </p:nvSpPr>
        <p:spPr>
          <a:xfrm>
            <a:off x="7741920" y="3730752"/>
            <a:ext cx="36576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7741920" y="3998976"/>
            <a:ext cx="3657600" cy="17678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followed the arrow from... to..."</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it's carrying..."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DISCUSS  ·  TALK IT THROUGH</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Why Does the Arrow Go There?</a:t>
            </a:r>
            <a:endParaRPr lang="en-US" sz="2800" dirty="0"/>
          </a:p>
        </p:txBody>
      </p:sp>
      <p:sp>
        <p:nvSpPr>
          <p:cNvPr id="4" name="Shape 2"/>
          <p:cNvSpPr/>
          <p:nvPr/>
        </p:nvSpPr>
        <p:spPr>
          <a:xfrm>
            <a:off x="609600" y="1584960"/>
            <a:ext cx="5364480" cy="42672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853440" y="1706880"/>
            <a:ext cx="48768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853440" y="2048256"/>
            <a:ext cx="4876800" cy="36819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the region at the end of the arrow need?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doesn't that region just grow or make it themselves?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happen if the mapmaker put the arrow in the wrong place?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 about where a good is really going?</a:t>
            </a:r>
            <a:endParaRPr lang="en-US" sz="1100" dirty="0"/>
          </a:p>
        </p:txBody>
      </p:sp>
      <p:sp>
        <p:nvSpPr>
          <p:cNvPr id="7" name="Shape 5"/>
          <p:cNvSpPr/>
          <p:nvPr/>
        </p:nvSpPr>
        <p:spPr>
          <a:xfrm>
            <a:off x="6278880" y="1584960"/>
            <a:ext cx="5303520" cy="4267200"/>
          </a:xfrm>
          <a:prstGeom prst="roundRect">
            <a:avLst>
              <a:gd name="adj" fmla="val 3429"/>
            </a:avLst>
          </a:prstGeom>
          <a:solidFill>
            <a:srgbClr val="FFF3DC"/>
          </a:solidFill>
          <a:ln w="19050">
            <a:solidFill>
              <a:srgbClr val="F5E6C8"/>
            </a:solidFill>
            <a:prstDash val="solid"/>
          </a:ln>
        </p:spPr>
      </p:sp>
      <p:sp>
        <p:nvSpPr>
          <p:cNvPr id="8" name="Text 6"/>
          <p:cNvSpPr/>
          <p:nvPr/>
        </p:nvSpPr>
        <p:spPr>
          <a:xfrm>
            <a:off x="6461760" y="1658112"/>
            <a:ext cx="493776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6461760" y="1926336"/>
            <a:ext cx="4937760" cy="38404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arrow means...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question I still have is..."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40080" y="228600"/>
            <a:ext cx="9144000" cy="27432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REVEAL  ·  YOU DISCOVERED IT</a:t>
            </a:r>
            <a:endParaRPr lang="en-US" sz="1300" dirty="0"/>
          </a:p>
        </p:txBody>
      </p:sp>
      <p:sp>
        <p:nvSpPr>
          <p:cNvPr id="6" name="Text 3"/>
          <p:cNvSpPr/>
          <p:nvPr/>
        </p:nvSpPr>
        <p:spPr>
          <a:xfrm>
            <a:off x="640080" y="100584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Trade Route</a:t>
            </a:r>
            <a:endParaRPr lang="en-US" sz="3200" dirty="0"/>
          </a:p>
        </p:txBody>
      </p:sp>
      <p:sp>
        <p:nvSpPr>
          <p:cNvPr id="7" name="Text 4"/>
          <p:cNvSpPr/>
          <p:nvPr/>
        </p:nvSpPr>
        <p:spPr>
          <a:xfrm>
            <a:off x="640080" y="1920240"/>
            <a:ext cx="10332720" cy="822960"/>
          </a:xfrm>
          <a:prstGeom prst="rect">
            <a:avLst/>
          </a:prstGeom>
          <a:noFill/>
          <a:ln/>
        </p:spPr>
        <p:txBody>
          <a:bodyPr wrap="square" lIns="0" tIns="0" rIns="0" bIns="0" rtlCol="0" anchor="ctr"/>
          <a:lstStyle/>
          <a:p>
            <a:pPr indent="0" marL="0">
              <a:buNone/>
            </a:pPr>
            <a:r>
              <a:rPr lang="en-US" sz="1800" i="1" dirty="0">
                <a:solidFill>
                  <a:srgbClr val="D4943A"/>
                </a:solidFill>
                <a:latin typeface="Cambria" pitchFamily="34" charset="0"/>
                <a:ea typeface="Cambria" pitchFamily="34" charset="-122"/>
                <a:cs typeface="Cambria" pitchFamily="34" charset="-120"/>
              </a:rPr>
              <a:t>A trade route is the path goods travel from where they come from to where they're wanted.</a:t>
            </a:r>
            <a:endParaRPr lang="en-US" sz="1800" dirty="0"/>
          </a:p>
        </p:txBody>
      </p:sp>
      <p:sp>
        <p:nvSpPr>
          <p:cNvPr id="8" name="Text 5"/>
          <p:cNvSpPr/>
          <p:nvPr/>
        </p:nvSpPr>
        <p:spPr>
          <a:xfrm>
            <a:off x="640080" y="2834640"/>
            <a:ext cx="10332720" cy="11887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Long ago the arrows were ships and wagons. Today they are trucks, trains, planes, and cargo ships -- but the reason the arrows exist hasn't changed: each region has scarcity of something, and somewhere else has plenty.</a:t>
            </a:r>
            <a:endParaRPr lang="en-US" sz="1600" dirty="0"/>
          </a:p>
        </p:txBody>
      </p:sp>
      <p:sp>
        <p:nvSpPr>
          <p:cNvPr id="9" name="Text 6"/>
          <p:cNvSpPr/>
          <p:nvPr/>
        </p:nvSpPr>
        <p:spPr>
          <a:xfrm>
            <a:off x="640080" y="4114800"/>
            <a:ext cx="10332720" cy="1005840"/>
          </a:xfrm>
          <a:prstGeom prst="rect">
            <a:avLst/>
          </a:prstGeom>
          <a:noFill/>
          <a:ln/>
        </p:spPr>
        <p:txBody>
          <a:bodyPr wrap="square" lIns="0" tIns="0" rIns="0" bIns="0" rtlCol="0" anchor="t"/>
          <a:lstStyle/>
          <a:p>
            <a:pPr indent="0" marL="0">
              <a:buNone/>
            </a:pPr>
            <a:r>
              <a:rPr lang="en-US" sz="1400" i="1" dirty="0">
                <a:solidFill>
                  <a:srgbClr val="D6E4F5"/>
                </a:solidFill>
                <a:latin typeface="Calibri" pitchFamily="34" charset="0"/>
                <a:ea typeface="Calibri" pitchFamily="34" charset="-122"/>
                <a:cs typeface="Calibri" pitchFamily="34" charset="-120"/>
              </a:rPr>
              <a:t>Exhibit Label: A trade route is the path a resource takes from a region of plenty to a region of scarcity. The arrows on the map are scarcity and choice, drawn on a much larger scale.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WHY IT MATTERS  ·  BIG PICTURE</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Regions and Their Main Resources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9600" y="1584960"/>
          <a:ext cx="10972800" cy="3535680"/>
        </p:xfrm>
        <a:graphic>
          <a:graphicData uri="http://schemas.openxmlformats.org/drawingml/2006/table">
            <a:tbl>
              <a:tblPr/>
              <a:tblGrid>
                <a:gridCol w="3657600"/>
                <a:gridCol w="3657600"/>
                <a:gridCol w="3657600"/>
              </a:tblGrid>
              <a:tr h="5892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Region</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solidFill>
                      <a:srgbClr val="0E1C4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Plenty of</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solidFill>
                      <a:srgbClr val="0E1C4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Scarce / Wants</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solidFill>
                      <a:srgbClr val="0E1C42"/>
                    </a:solidFill>
                  </a:tcPr>
                </a:tc>
              </a:tr>
              <a:tr h="589280">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Canada</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Timber, oil, wheat, fish</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Oranges, tropical fruit (too cold)</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r>
              <a:tr h="589280">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U.S. Prairies</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Wheat, corn, cattle</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Seafood, citrus, tropical fruit</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r>
              <a:tr h="589280">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Florida</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Oranges, citrus, seafood</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Wheat, timber</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r>
              <a:tr h="589280">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Mexico</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Silver, avocados, peppers</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Wheat from the north, electronics</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r>
              <a:tr h="589280">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Caribbean</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Sugarcane, bananas, coffee</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c>
                  <a:txBody>
                    <a:bodyPr/>
                    <a:lstStyle/>
                    <a:p>
                      <a:pPr indent="0" marL="0">
                        <a:buNone/>
                      </a:pPr>
                      <a:r>
                        <a:rPr lang="en-US" sz="1200" dirty="0">
                          <a:solidFill>
                            <a:srgbClr val="0E1C42"/>
                          </a:solidFill>
                          <a:latin typeface="Calibri" pitchFamily="34" charset="0"/>
                          <a:ea typeface="Calibri" pitchFamily="34" charset="-122"/>
                          <a:cs typeface="Calibri" pitchFamily="34" charset="-120"/>
                        </a:rPr>
                        <a:t>Wheat, manufactured goods</a:t>
                      </a:r>
                      <a:endParaRPr lang="en-US" sz="1200" dirty="0">
                        <a:latin typeface="Calibri" charset="0"/>
                        <a:ea typeface="Calibri" charset="0"/>
                        <a:cs typeface="Calibri" charset="0"/>
                      </a:endParaRPr>
                    </a:p>
                  </a:txBody>
                  <a:tcPr marL="91440" marR="91440" marT="45720" marB="45720">
                    <a:lnL w="12700" cap="flat" cmpd="sng" algn="ctr">
                      <a:solidFill>
                        <a:srgbClr val="D8DEEC"/>
                      </a:solidFill>
                      <a:prstDash val="solid"/>
                      <a:round/>
                      <a:headEnd type="none" w="med" len="med"/>
                      <a:tailEnd type="none" w="med" len="med"/>
                    </a:lnL>
                    <a:lnR w="12700" cap="flat" cmpd="sng" algn="ctr">
                      <a:solidFill>
                        <a:srgbClr val="D8DEEC"/>
                      </a:solidFill>
                      <a:prstDash val="solid"/>
                      <a:round/>
                      <a:headEnd type="none" w="med" len="med"/>
                      <a:tailEnd type="none" w="med" len="med"/>
                    </a:lnR>
                    <a:lnT w="12700" cap="flat" cmpd="sng" algn="ctr">
                      <a:solidFill>
                        <a:srgbClr val="D8DEEC"/>
                      </a:solidFill>
                      <a:prstDash val="solid"/>
                      <a:round/>
                      <a:headEnd type="none" w="med" len="med"/>
                      <a:tailEnd type="none" w="med" len="med"/>
                    </a:lnT>
                    <a:lnB w="12700" cap="flat" cmpd="sng" algn="ctr">
                      <a:solidFill>
                        <a:srgbClr val="D8DEEC"/>
                      </a:solidFill>
                      <a:prstDash val="solid"/>
                      <a:round/>
                      <a:headEnd type="none" w="med" len="med"/>
                      <a:tailEnd type="none" w="med" len="med"/>
                    </a:lnB>
                  </a:tcPr>
                </a:tc>
              </a:tr>
            </a:tbl>
          </a:graphicData>
        </a:graphic>
      </p:graphicFrame>
      <p:sp>
        <p:nvSpPr>
          <p:cNvPr id="5" name="Text 2"/>
          <p:cNvSpPr/>
          <p:nvPr/>
        </p:nvSpPr>
        <p:spPr>
          <a:xfrm>
            <a:off x="609600" y="5303520"/>
            <a:ext cx="10972800" cy="1097280"/>
          </a:xfrm>
          <a:prstGeom prst="rect">
            <a:avLst/>
          </a:prstGeom>
          <a:noFill/>
          <a:ln/>
        </p:spPr>
        <p:txBody>
          <a:bodyPr wrap="square" lIns="0" tIns="0" rIns="0" bIns="0" rtlCol="0" anchor="t"/>
          <a:lstStyle/>
          <a:p>
            <a:pPr indent="0" marL="0">
              <a:buNone/>
            </a:pPr>
            <a:r>
              <a:rPr lang="en-US" sz="1300" i="1" dirty="0">
                <a:solidFill>
                  <a:srgbClr val="0E1C42"/>
                </a:solidFill>
                <a:latin typeface="Calibri" pitchFamily="34" charset="0"/>
                <a:ea typeface="Calibri" pitchFamily="34" charset="-122"/>
                <a:cs typeface="Calibri" pitchFamily="34" charset="-120"/>
              </a:rPr>
              <a:t>Pause &amp; Think: Find a region with lots of one resource and pair it with a region that has scarcity of that same resource. What arrow would you draw between them?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GUIDED PRACTICE  ·  TEACHER MODELS</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Watch Me Analyze a Route</a:t>
            </a:r>
            <a:endParaRPr lang="en-US" sz="2800" dirty="0"/>
          </a:p>
        </p:txBody>
      </p:sp>
      <p:sp>
        <p:nvSpPr>
          <p:cNvPr id="4" name="Shape 2"/>
          <p:cNvSpPr/>
          <p:nvPr/>
        </p:nvSpPr>
        <p:spPr>
          <a:xfrm>
            <a:off x="609600" y="1584960"/>
            <a:ext cx="10972800" cy="1706880"/>
          </a:xfrm>
          <a:prstGeom prst="roundRect">
            <a:avLst>
              <a:gd name="adj" fmla="val 8571"/>
            </a:avLst>
          </a:prstGeom>
          <a:solidFill>
            <a:srgbClr val="FFF8F0"/>
          </a:solidFill>
          <a:ln w="12700">
            <a:solidFill>
              <a:srgbClr val="D8DEEC"/>
            </a:solidFill>
            <a:prstDash val="solid"/>
          </a:ln>
        </p:spPr>
      </p:sp>
      <p:sp>
        <p:nvSpPr>
          <p:cNvPr id="5" name="Text 3"/>
          <p:cNvSpPr/>
          <p:nvPr/>
        </p:nvSpPr>
        <p:spPr>
          <a:xfrm>
            <a:off x="975360" y="1828800"/>
            <a:ext cx="10241280" cy="1219200"/>
          </a:xfrm>
          <a:prstGeom prst="rect">
            <a:avLst/>
          </a:prstGeom>
          <a:noFill/>
          <a:ln/>
        </p:spPr>
        <p:txBody>
          <a:bodyPr wrap="square" lIns="0" tIns="0" rIns="0" bIns="0" rtlCol="0" anchor="ctr"/>
          <a:lstStyle/>
          <a:p>
            <a:pPr indent="0" marL="0">
              <a:buNone/>
            </a:pPr>
            <a:r>
              <a:rPr lang="en-US" sz="1500" i="1" dirty="0">
                <a:solidFill>
                  <a:srgbClr val="0E1C42"/>
                </a:solidFill>
                <a:latin typeface="Calibri" pitchFamily="34" charset="0"/>
                <a:ea typeface="Calibri" pitchFamily="34" charset="-122"/>
                <a:cs typeface="Calibri" pitchFamily="34" charset="-120"/>
              </a:rPr>
              <a:t>Think-Aloud: "Florida grows oranges because of warm weather and good soil. Canada is too cold. So oranges travel from Florida north."</a:t>
            </a:r>
            <a:endParaRPr lang="en-US" sz="1500" dirty="0"/>
          </a:p>
        </p:txBody>
      </p:sp>
      <p:sp>
        <p:nvSpPr>
          <p:cNvPr id="6" name="Shape 4"/>
          <p:cNvSpPr/>
          <p:nvPr/>
        </p:nvSpPr>
        <p:spPr>
          <a:xfrm>
            <a:off x="609600" y="3535680"/>
            <a:ext cx="10972800" cy="2316480"/>
          </a:xfrm>
          <a:prstGeom prst="roundRect">
            <a:avLst>
              <a:gd name="adj" fmla="val 6316"/>
            </a:avLst>
          </a:prstGeom>
          <a:solidFill>
            <a:srgbClr val="EAF8FD"/>
          </a:solidFill>
          <a:ln w="12700">
            <a:solidFill>
              <a:srgbClr val="D8DEEC"/>
            </a:solidFill>
            <a:prstDash val="solid"/>
          </a:ln>
        </p:spPr>
      </p:sp>
      <p:sp>
        <p:nvSpPr>
          <p:cNvPr id="7" name="Text 5"/>
          <p:cNvSpPr/>
          <p:nvPr/>
        </p:nvSpPr>
        <p:spPr>
          <a:xfrm>
            <a:off x="975360" y="3718560"/>
            <a:ext cx="10241280" cy="426720"/>
          </a:xfrm>
          <a:prstGeom prst="rect">
            <a:avLst/>
          </a:prstGeom>
          <a:noFill/>
          <a:ln/>
        </p:spPr>
        <p:txBody>
          <a:bodyPr wrap="square" lIns="0" tIns="0" rIns="0" bIns="0" rtlCol="0" anchor="t"/>
          <a:lstStyle/>
          <a:p>
            <a:pPr indent="0" marL="0">
              <a:buNone/>
            </a:pPr>
            <a:r>
              <a:rPr lang="en-US" sz="1400" b="1" dirty="0">
                <a:solidFill>
                  <a:srgbClr val="1A8A7D"/>
                </a:solidFill>
                <a:latin typeface="Calibri" pitchFamily="34" charset="0"/>
                <a:ea typeface="Calibri" pitchFamily="34" charset="-122"/>
                <a:cs typeface="Calibri" pitchFamily="34" charset="-120"/>
              </a:rPr>
              <a:t>My Reasoning Steps</a:t>
            </a:r>
            <a:endParaRPr lang="en-US" sz="1400" dirty="0"/>
          </a:p>
        </p:txBody>
      </p:sp>
      <p:sp>
        <p:nvSpPr>
          <p:cNvPr id="8" name="Text 6"/>
          <p:cNvSpPr/>
          <p:nvPr/>
        </p:nvSpPr>
        <p:spPr>
          <a:xfrm>
            <a:off x="1036320" y="4206240"/>
            <a:ext cx="10119360" cy="15849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Step 1: Name the resource -- oranges.</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Step 2: Name where it has plenty -- Florida.</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Step 3: Name where it is scarce -- Canada (too cold).</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Step 4: Draw the arrow -- Florida to Canada.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GUIDED PRACTICE  ·  WE TRY TOGETHER</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Let's Analyze Caribbean Sugar Together</a:t>
            </a:r>
            <a:endParaRPr lang="en-US" sz="2800" dirty="0"/>
          </a:p>
        </p:txBody>
      </p:sp>
      <p:sp>
        <p:nvSpPr>
          <p:cNvPr id="4" name="Shape 2"/>
          <p:cNvSpPr/>
          <p:nvPr/>
        </p:nvSpPr>
        <p:spPr>
          <a:xfrm>
            <a:off x="609600" y="1584960"/>
            <a:ext cx="5364480" cy="42672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853440" y="1706880"/>
            <a:ext cx="48768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853440" y="2048256"/>
            <a:ext cx="4876800" cy="36819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resource is traveling in this route?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region has plenty of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region is scarce in it,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Then &amp; Now: sailing ships vs. cargo ships -- what stayed the same about why sugar moves?</a:t>
            </a:r>
            <a:endParaRPr lang="en-US" sz="1100" dirty="0"/>
          </a:p>
        </p:txBody>
      </p:sp>
      <p:sp>
        <p:nvSpPr>
          <p:cNvPr id="7" name="Shape 5"/>
          <p:cNvSpPr/>
          <p:nvPr/>
        </p:nvSpPr>
        <p:spPr>
          <a:xfrm>
            <a:off x="6278880" y="1584960"/>
            <a:ext cx="5303520" cy="4267200"/>
          </a:xfrm>
          <a:prstGeom prst="roundRect">
            <a:avLst>
              <a:gd name="adj" fmla="val 3429"/>
            </a:avLst>
          </a:prstGeom>
          <a:solidFill>
            <a:srgbClr val="FFF3DC"/>
          </a:solidFill>
          <a:ln w="19050">
            <a:solidFill>
              <a:srgbClr val="F5E6C8"/>
            </a:solidFill>
            <a:prstDash val="solid"/>
          </a:ln>
        </p:spPr>
      </p:sp>
      <p:sp>
        <p:nvSpPr>
          <p:cNvPr id="8" name="Text 6"/>
          <p:cNvSpPr/>
          <p:nvPr/>
        </p:nvSpPr>
        <p:spPr>
          <a:xfrm>
            <a:off x="6461760" y="1658112"/>
            <a:ext cx="493776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6461760" y="1926336"/>
            <a:ext cx="4937760" cy="38404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resource is... it has plenty in... it is scarce in...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stayed the same is..."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GUIDED PRACTICE  ·  YOUR TURN</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Try One Route on Your Own</a:t>
            </a:r>
            <a:endParaRPr lang="en-US" sz="2800" dirty="0"/>
          </a:p>
        </p:txBody>
      </p:sp>
      <p:sp>
        <p:nvSpPr>
          <p:cNvPr id="4" name="Shape 2"/>
          <p:cNvSpPr/>
          <p:nvPr/>
        </p:nvSpPr>
        <p:spPr>
          <a:xfrm>
            <a:off x="609600" y="1584960"/>
            <a:ext cx="10972800" cy="4389120"/>
          </a:xfrm>
          <a:prstGeom prst="roundRect">
            <a:avLst>
              <a:gd name="adj" fmla="val 3333"/>
            </a:avLst>
          </a:prstGeom>
          <a:solidFill>
            <a:srgbClr val="FFF8F0"/>
          </a:solidFill>
          <a:ln w="12700">
            <a:solidFill>
              <a:srgbClr val="D8DEEC"/>
            </a:solidFill>
            <a:prstDash val="solid"/>
          </a:ln>
        </p:spPr>
      </p:sp>
      <p:sp>
        <p:nvSpPr>
          <p:cNvPr id="5" name="Text 3"/>
          <p:cNvSpPr/>
          <p:nvPr/>
        </p:nvSpPr>
        <p:spPr>
          <a:xfrm>
            <a:off x="975360" y="1828800"/>
            <a:ext cx="10241280" cy="609600"/>
          </a:xfrm>
          <a:prstGeom prst="rect">
            <a:avLst/>
          </a:prstGeom>
          <a:noFill/>
          <a:ln/>
        </p:spPr>
        <p:txBody>
          <a:bodyPr wrap="square" lIns="0" tIns="0" rIns="0" bIns="0" rtlCol="0" anchor="t"/>
          <a:lstStyle/>
          <a:p>
            <a:pPr indent="0" marL="0">
              <a:buNone/>
            </a:pPr>
            <a:r>
              <a:rPr lang="en-US" sz="1400" b="1" dirty="0">
                <a:solidFill>
                  <a:srgbClr val="0E1C42"/>
                </a:solidFill>
                <a:latin typeface="Calibri" pitchFamily="34" charset="0"/>
                <a:ea typeface="Calibri" pitchFamily="34" charset="-122"/>
                <a:cs typeface="Calibri" pitchFamily="34" charset="-120"/>
              </a:rPr>
              <a:t>Choose a route: Canadian timber to U.S. | Mexican avocados to U.S. | U.S. wheat to Mexico</a:t>
            </a:r>
            <a:endParaRPr lang="en-US" sz="1400" dirty="0"/>
          </a:p>
        </p:txBody>
      </p:sp>
      <p:sp>
        <p:nvSpPr>
          <p:cNvPr id="6" name="Text 4"/>
          <p:cNvSpPr/>
          <p:nvPr/>
        </p:nvSpPr>
        <p:spPr>
          <a:xfrm>
            <a:off x="1036320" y="2560320"/>
            <a:ext cx="10119360" cy="3048000"/>
          </a:xfrm>
          <a:prstGeom prst="rect">
            <a:avLst/>
          </a:prstGeom>
          <a:noFill/>
          <a:ln/>
        </p:spPr>
        <p:txBody>
          <a:bodyPr wrap="square"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Name the resource traveling on your route.</a:t>
            </a:r>
            <a:endParaRPr lang="en-US" sz="14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Name the region with plenty of it.</a:t>
            </a:r>
            <a:endParaRPr lang="en-US" sz="14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Name the region that is scarce in it -- and why.</a:t>
            </a:r>
            <a:endParaRPr lang="en-US" sz="14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Say what each region gains from the trade.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GUIDED PRACTICE  ·  ERROR ANALYSIS</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Find the Mistake</a:t>
            </a:r>
            <a:endParaRPr lang="en-US" sz="2800" dirty="0"/>
          </a:p>
        </p:txBody>
      </p:sp>
      <p:sp>
        <p:nvSpPr>
          <p:cNvPr id="4" name="Shape 2"/>
          <p:cNvSpPr/>
          <p:nvPr/>
        </p:nvSpPr>
        <p:spPr>
          <a:xfrm>
            <a:off x="609600" y="1584960"/>
            <a:ext cx="10972800" cy="1950720"/>
          </a:xfrm>
          <a:prstGeom prst="roundRect">
            <a:avLst>
              <a:gd name="adj" fmla="val 7500"/>
            </a:avLst>
          </a:prstGeom>
          <a:solidFill>
            <a:srgbClr val="F8E4E4"/>
          </a:solidFill>
          <a:ln w="12700">
            <a:solidFill>
              <a:srgbClr val="D8DEEC"/>
            </a:solidFill>
            <a:prstDash val="solid"/>
          </a:ln>
        </p:spPr>
      </p:sp>
      <p:sp>
        <p:nvSpPr>
          <p:cNvPr id="5" name="Text 3"/>
          <p:cNvSpPr/>
          <p:nvPr/>
        </p:nvSpPr>
        <p:spPr>
          <a:xfrm>
            <a:off x="975360" y="1828800"/>
            <a:ext cx="10241280" cy="1463040"/>
          </a:xfrm>
          <a:prstGeom prst="rect">
            <a:avLst/>
          </a:prstGeom>
          <a:noFill/>
          <a:ln/>
        </p:spPr>
        <p:txBody>
          <a:bodyPr wrap="square" lIns="0" tIns="0" rIns="0" bIns="0" rtlCol="0" anchor="ctr"/>
          <a:lstStyle/>
          <a:p>
            <a:pPr indent="0" marL="0">
              <a:buNone/>
            </a:pPr>
            <a:r>
              <a:rPr lang="en-US" sz="1400" i="1" dirty="0">
                <a:solidFill>
                  <a:srgbClr val="E8636B"/>
                </a:solidFill>
                <a:latin typeface="Calibri" pitchFamily="34" charset="0"/>
                <a:ea typeface="Calibri" pitchFamily="34" charset="-122"/>
                <a:cs typeface="Calibri" pitchFamily="34" charset="-120"/>
              </a:rPr>
              <a:t>A student wrote: "Florida sends oranges to Canada because Canada has too many oranges already and doesn't need more farms."</a:t>
            </a:r>
            <a:endParaRPr lang="en-US" sz="1400" dirty="0"/>
          </a:p>
        </p:txBody>
      </p:sp>
      <p:sp>
        <p:nvSpPr>
          <p:cNvPr id="6" name="Shape 4"/>
          <p:cNvSpPr/>
          <p:nvPr/>
        </p:nvSpPr>
        <p:spPr>
          <a:xfrm>
            <a:off x="609600" y="3840480"/>
            <a:ext cx="10972800" cy="24384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962400"/>
            <a:ext cx="104851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4303776"/>
            <a:ext cx="10485120" cy="18531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get backwards?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Canada have plenty of oranges, or scarcity of oranges?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fix this sentence using the scarcity idea?</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GUIDED PRACTICE  ·  THE TRICKY ONE</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What If the Map Is Wrong?</a:t>
            </a:r>
            <a:endParaRPr lang="en-US" sz="2800" dirty="0"/>
          </a:p>
        </p:txBody>
      </p:sp>
      <p:sp>
        <p:nvSpPr>
          <p:cNvPr id="4" name="Shape 2"/>
          <p:cNvSpPr/>
          <p:nvPr/>
        </p:nvSpPr>
        <p:spPr>
          <a:xfrm>
            <a:off x="609600" y="1584960"/>
            <a:ext cx="10972800" cy="1828800"/>
          </a:xfrm>
          <a:prstGeom prst="roundRect">
            <a:avLst>
              <a:gd name="adj" fmla="val 8000"/>
            </a:avLst>
          </a:prstGeom>
          <a:solidFill>
            <a:srgbClr val="FFF3DC"/>
          </a:solidFill>
          <a:ln w="12700">
            <a:solidFill>
              <a:srgbClr val="D8DEEC"/>
            </a:solidFill>
            <a:prstDash val="solid"/>
          </a:ln>
        </p:spPr>
      </p:sp>
      <p:sp>
        <p:nvSpPr>
          <p:cNvPr id="5" name="Text 3"/>
          <p:cNvSpPr/>
          <p:nvPr/>
        </p:nvSpPr>
        <p:spPr>
          <a:xfrm>
            <a:off x="975360" y="1767840"/>
            <a:ext cx="10241280" cy="14630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Imagine a mapmaker draws an arrow showing Caribbean sugar going to Canada instead of Florida -- but ships don't actually travel that route.</a:t>
            </a:r>
            <a:endParaRPr lang="en-US" sz="1400" dirty="0"/>
          </a:p>
        </p:txBody>
      </p:sp>
      <p:sp>
        <p:nvSpPr>
          <p:cNvPr id="6" name="Shape 4"/>
          <p:cNvSpPr/>
          <p:nvPr/>
        </p:nvSpPr>
        <p:spPr>
          <a:xfrm>
            <a:off x="609600" y="3657600"/>
            <a:ext cx="10972800" cy="2560320"/>
          </a:xfrm>
          <a:prstGeom prst="roundRect">
            <a:avLst>
              <a:gd name="adj" fmla="val 7143"/>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779520"/>
            <a:ext cx="104851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4120896"/>
            <a:ext cx="10485120" cy="19751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a trader followed this map, what would go wrong for them?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honesty about location just as important as honesty about resources?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there be another explanation for why the arrow is wrong -- an honest mistake vs. a dishonest one?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SELF-CHECK  ·  NOT GRADED</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Quick Self-Check</a:t>
            </a:r>
            <a:endParaRPr lang="en-US" sz="2800" dirty="0"/>
          </a:p>
        </p:txBody>
      </p:sp>
      <p:sp>
        <p:nvSpPr>
          <p:cNvPr id="4" name="Shape 2"/>
          <p:cNvSpPr/>
          <p:nvPr/>
        </p:nvSpPr>
        <p:spPr>
          <a:xfrm>
            <a:off x="609600" y="1584960"/>
            <a:ext cx="10972800" cy="1402080"/>
          </a:xfrm>
          <a:prstGeom prst="roundRect">
            <a:avLst>
              <a:gd name="adj" fmla="val 10435"/>
            </a:avLst>
          </a:prstGeom>
          <a:solidFill>
            <a:srgbClr val="F0F2F8"/>
          </a:solidFill>
          <a:ln w="12700">
            <a:solidFill>
              <a:srgbClr val="D8DEEC"/>
            </a:solidFill>
            <a:prstDash val="solid"/>
          </a:ln>
        </p:spPr>
      </p:sp>
      <p:sp>
        <p:nvSpPr>
          <p:cNvPr id="5" name="Text 3"/>
          <p:cNvSpPr/>
          <p:nvPr/>
        </p:nvSpPr>
        <p:spPr>
          <a:xfrm>
            <a:off x="914400" y="1706880"/>
            <a:ext cx="10363200" cy="60960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1. What is a trade route?</a:t>
            </a:r>
            <a:endParaRPr lang="en-US" sz="1300" dirty="0"/>
          </a:p>
        </p:txBody>
      </p:sp>
      <p:sp>
        <p:nvSpPr>
          <p:cNvPr id="6" name="Text 4"/>
          <p:cNvSpPr/>
          <p:nvPr/>
        </p:nvSpPr>
        <p:spPr>
          <a:xfrm>
            <a:off x="914400" y="2316480"/>
            <a:ext cx="10363200" cy="548640"/>
          </a:xfrm>
          <a:prstGeom prst="rect">
            <a:avLst/>
          </a:prstGeom>
          <a:noFill/>
          <a:ln/>
        </p:spPr>
        <p:txBody>
          <a:bodyPr wrap="square" lIns="0" tIns="0" rIns="0" bIns="0" rtlCol="0" anchor="t"/>
          <a:lstStyle/>
          <a:p>
            <a:pPr indent="0" marL="0">
              <a:buNone/>
            </a:pPr>
            <a:r>
              <a:rPr lang="en-US" sz="1200" b="1" dirty="0">
                <a:solidFill>
                  <a:srgbClr val="1A8A7D"/>
                </a:solidFill>
                <a:latin typeface="Calibri" pitchFamily="34" charset="0"/>
                <a:ea typeface="Calibri" pitchFamily="34" charset="-122"/>
                <a:cs typeface="Calibri" pitchFamily="34" charset="-120"/>
              </a:rPr>
              <a:t>Answer: B -- The path goods travel from a region with plenty to a region with scarcity.</a:t>
            </a:r>
            <a:endParaRPr lang="en-US" sz="1200" dirty="0"/>
          </a:p>
        </p:txBody>
      </p:sp>
      <p:sp>
        <p:nvSpPr>
          <p:cNvPr id="7" name="Shape 5"/>
          <p:cNvSpPr/>
          <p:nvPr/>
        </p:nvSpPr>
        <p:spPr>
          <a:xfrm>
            <a:off x="609600" y="3169920"/>
            <a:ext cx="10972800" cy="1402080"/>
          </a:xfrm>
          <a:prstGeom prst="roundRect">
            <a:avLst>
              <a:gd name="adj" fmla="val 10435"/>
            </a:avLst>
          </a:prstGeom>
          <a:solidFill>
            <a:srgbClr val="F0F2F8"/>
          </a:solidFill>
          <a:ln w="12700">
            <a:solidFill>
              <a:srgbClr val="D8DEEC"/>
            </a:solidFill>
            <a:prstDash val="solid"/>
          </a:ln>
        </p:spPr>
      </p:sp>
      <p:sp>
        <p:nvSpPr>
          <p:cNvPr id="8" name="Text 6"/>
          <p:cNvSpPr/>
          <p:nvPr/>
        </p:nvSpPr>
        <p:spPr>
          <a:xfrm>
            <a:off x="914400" y="3291840"/>
            <a:ext cx="10363200" cy="60960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2. Why don't Canadian shoppers grow their own oranges instead of buying them from Florida?</a:t>
            </a:r>
            <a:endParaRPr lang="en-US" sz="1300" dirty="0"/>
          </a:p>
        </p:txBody>
      </p:sp>
      <p:sp>
        <p:nvSpPr>
          <p:cNvPr id="9" name="Text 7"/>
          <p:cNvSpPr/>
          <p:nvPr/>
        </p:nvSpPr>
        <p:spPr>
          <a:xfrm>
            <a:off x="914400" y="3901440"/>
            <a:ext cx="10363200" cy="548640"/>
          </a:xfrm>
          <a:prstGeom prst="rect">
            <a:avLst/>
          </a:prstGeom>
          <a:noFill/>
          <a:ln/>
        </p:spPr>
        <p:txBody>
          <a:bodyPr wrap="square" lIns="0" tIns="0" rIns="0" bIns="0" rtlCol="0" anchor="t"/>
          <a:lstStyle/>
          <a:p>
            <a:pPr indent="0" marL="0">
              <a:buNone/>
            </a:pPr>
            <a:r>
              <a:rPr lang="en-US" sz="1200" b="1" dirty="0">
                <a:solidFill>
                  <a:srgbClr val="1A8A7D"/>
                </a:solidFill>
                <a:latin typeface="Calibri" pitchFamily="34" charset="0"/>
                <a:ea typeface="Calibri" pitchFamily="34" charset="-122"/>
                <a:cs typeface="Calibri" pitchFamily="34" charset="-120"/>
              </a:rPr>
              <a:t>Answer: C -- Because oranges don't grow well in Canada's cold climate -- that's a scarcity.</a:t>
            </a:r>
            <a:endParaRPr lang="en-US" sz="1200" dirty="0"/>
          </a:p>
        </p:txBody>
      </p:sp>
      <p:sp>
        <p:nvSpPr>
          <p:cNvPr id="10" name="Shape 8"/>
          <p:cNvSpPr/>
          <p:nvPr/>
        </p:nvSpPr>
        <p:spPr>
          <a:xfrm>
            <a:off x="609600" y="4754880"/>
            <a:ext cx="10972800" cy="1402080"/>
          </a:xfrm>
          <a:prstGeom prst="roundRect">
            <a:avLst>
              <a:gd name="adj" fmla="val 10435"/>
            </a:avLst>
          </a:prstGeom>
          <a:solidFill>
            <a:srgbClr val="F0F2F8"/>
          </a:solidFill>
          <a:ln w="12700">
            <a:solidFill>
              <a:srgbClr val="D8DEEC"/>
            </a:solidFill>
            <a:prstDash val="solid"/>
          </a:ln>
        </p:spPr>
      </p:sp>
      <p:sp>
        <p:nvSpPr>
          <p:cNvPr id="11" name="Text 9"/>
          <p:cNvSpPr/>
          <p:nvPr/>
        </p:nvSpPr>
        <p:spPr>
          <a:xfrm>
            <a:off x="914400" y="4876800"/>
            <a:ext cx="10363200" cy="60960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3. Why does honesty matter on a trade route map?</a:t>
            </a:r>
            <a:endParaRPr lang="en-US" sz="1300" dirty="0"/>
          </a:p>
        </p:txBody>
      </p:sp>
      <p:sp>
        <p:nvSpPr>
          <p:cNvPr id="12" name="Text 10"/>
          <p:cNvSpPr/>
          <p:nvPr/>
        </p:nvSpPr>
        <p:spPr>
          <a:xfrm>
            <a:off x="914400" y="5486400"/>
            <a:ext cx="10363200" cy="548640"/>
          </a:xfrm>
          <a:prstGeom prst="rect">
            <a:avLst/>
          </a:prstGeom>
          <a:noFill/>
          <a:ln/>
        </p:spPr>
        <p:txBody>
          <a:bodyPr wrap="square" lIns="0" tIns="0" rIns="0" bIns="0" rtlCol="0" anchor="t"/>
          <a:lstStyle/>
          <a:p>
            <a:pPr indent="0" marL="0">
              <a:buNone/>
            </a:pPr>
            <a:r>
              <a:rPr lang="en-US" sz="1200" b="1" dirty="0">
                <a:solidFill>
                  <a:srgbClr val="1A8A7D"/>
                </a:solidFill>
                <a:latin typeface="Calibri" pitchFamily="34" charset="0"/>
                <a:ea typeface="Calibri" pitchFamily="34" charset="-122"/>
                <a:cs typeface="Calibri" pitchFamily="34" charset="-120"/>
              </a:rPr>
              <a:t>Answer: A -- If the map shows a resource in the wrong place, traders make bad choices and lose time and money.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EVIDENCE &amp; ASSIGNMENT  ·  WHAT YOU'LL TURN IN</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Evidence Questions</a:t>
            </a:r>
            <a:endParaRPr lang="en-US" sz="2400" dirty="0"/>
          </a:p>
        </p:txBody>
      </p:sp>
      <p:sp>
        <p:nvSpPr>
          <p:cNvPr id="4" name="Shape 2"/>
          <p:cNvSpPr/>
          <p:nvPr/>
        </p:nvSpPr>
        <p:spPr>
          <a:xfrm>
            <a:off x="609600" y="1402080"/>
            <a:ext cx="10972800" cy="1219200"/>
          </a:xfrm>
          <a:prstGeom prst="roundRect">
            <a:avLst>
              <a:gd name="adj" fmla="val 12000"/>
            </a:avLst>
          </a:prstGeom>
          <a:solidFill>
            <a:srgbClr val="F0F2F8"/>
          </a:solidFill>
          <a:ln w="12700">
            <a:solidFill>
              <a:srgbClr val="D8DEEC"/>
            </a:solidFill>
            <a:prstDash val="solid"/>
          </a:ln>
        </p:spPr>
      </p:sp>
      <p:sp>
        <p:nvSpPr>
          <p:cNvPr id="5" name="Text 3"/>
          <p:cNvSpPr/>
          <p:nvPr/>
        </p:nvSpPr>
        <p:spPr>
          <a:xfrm>
            <a:off x="914400" y="1524000"/>
            <a:ext cx="10363200" cy="9753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1. Pick one region from the chart (Canada, U.S. Prairies, Florida, Mexico, or the Caribbean). Name one main resource it has plenty of, and one it is scarce in.</a:t>
            </a:r>
            <a:endParaRPr lang="en-US" sz="1200" dirty="0"/>
          </a:p>
        </p:txBody>
      </p:sp>
      <p:sp>
        <p:nvSpPr>
          <p:cNvPr id="6" name="Shape 4"/>
          <p:cNvSpPr/>
          <p:nvPr/>
        </p:nvSpPr>
        <p:spPr>
          <a:xfrm>
            <a:off x="609600" y="2743200"/>
            <a:ext cx="10972800" cy="1219200"/>
          </a:xfrm>
          <a:prstGeom prst="roundRect">
            <a:avLst>
              <a:gd name="adj" fmla="val 12000"/>
            </a:avLst>
          </a:prstGeom>
          <a:solidFill>
            <a:srgbClr val="F0F2F8"/>
          </a:solidFill>
          <a:ln w="12700">
            <a:solidFill>
              <a:srgbClr val="D8DEEC"/>
            </a:solidFill>
            <a:prstDash val="solid"/>
          </a:ln>
        </p:spPr>
      </p:sp>
      <p:sp>
        <p:nvSpPr>
          <p:cNvPr id="7" name="Text 5"/>
          <p:cNvSpPr/>
          <p:nvPr/>
        </p:nvSpPr>
        <p:spPr>
          <a:xfrm>
            <a:off x="914400" y="2865120"/>
            <a:ext cx="10363200" cy="9753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2. How is a trade route arrow on the map an example of scarcity and trade working together? Use one route from the lesson.</a:t>
            </a:r>
            <a:endParaRPr lang="en-US" sz="1200" dirty="0"/>
          </a:p>
        </p:txBody>
      </p:sp>
      <p:sp>
        <p:nvSpPr>
          <p:cNvPr id="8" name="Shape 6"/>
          <p:cNvSpPr/>
          <p:nvPr/>
        </p:nvSpPr>
        <p:spPr>
          <a:xfrm>
            <a:off x="609600" y="4084320"/>
            <a:ext cx="10972800" cy="1219200"/>
          </a:xfrm>
          <a:prstGeom prst="roundRect">
            <a:avLst>
              <a:gd name="adj" fmla="val 12000"/>
            </a:avLst>
          </a:prstGeom>
          <a:solidFill>
            <a:srgbClr val="F0F2F8"/>
          </a:solidFill>
          <a:ln w="12700">
            <a:solidFill>
              <a:srgbClr val="D8DEEC"/>
            </a:solidFill>
            <a:prstDash val="solid"/>
          </a:ln>
        </p:spPr>
      </p:sp>
      <p:sp>
        <p:nvSpPr>
          <p:cNvPr id="9" name="Text 7"/>
          <p:cNvSpPr/>
          <p:nvPr/>
        </p:nvSpPr>
        <p:spPr>
          <a:xfrm>
            <a:off x="914400" y="4206240"/>
            <a:ext cx="10363200" cy="9753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3. Why is it important for the people who make trade maps to be honest? Give one example of what could go wrong.</a:t>
            </a:r>
            <a:endParaRPr lang="en-US" sz="1200" dirty="0"/>
          </a:p>
        </p:txBody>
      </p:sp>
      <p:sp>
        <p:nvSpPr>
          <p:cNvPr id="10" name="Text 8"/>
          <p:cNvSpPr/>
          <p:nvPr/>
        </p:nvSpPr>
        <p:spPr>
          <a:xfrm>
            <a:off x="609600" y="5669280"/>
            <a:ext cx="10972800" cy="975360"/>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Curator Task: Analyze One Trade Route -- Pick one: Canadian timber to United States | Florida oranges to Canada | U.S. wheat to Mexico | Mexican avocados to United States | Caribbean sugar to Florida. Use the Trade and Choice frame: Choice, Scarcity, Benefit, Consequence.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CURATOR'S CHRONICLE</a:t>
            </a:r>
            <a:endParaRPr lang="en-US" sz="1100" dirty="0"/>
          </a:p>
        </p:txBody>
      </p:sp>
      <p:sp>
        <p:nvSpPr>
          <p:cNvPr id="3" name="Text 1"/>
          <p:cNvSpPr/>
          <p:nvPr/>
        </p:nvSpPr>
        <p:spPr>
          <a:xfrm>
            <a:off x="609600" y="36576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Finish the Sentence</a:t>
            </a:r>
            <a:endParaRPr lang="en-US" sz="2800" dirty="0"/>
          </a:p>
        </p:txBody>
      </p:sp>
      <p:sp>
        <p:nvSpPr>
          <p:cNvPr id="4" name="Shape 2"/>
          <p:cNvSpPr/>
          <p:nvPr/>
        </p:nvSpPr>
        <p:spPr>
          <a:xfrm>
            <a:off x="609600" y="1828800"/>
            <a:ext cx="10972800" cy="1950720"/>
          </a:xfrm>
          <a:prstGeom prst="roundRect">
            <a:avLst>
              <a:gd name="adj" fmla="val 7500"/>
            </a:avLst>
          </a:prstGeom>
          <a:solidFill>
            <a:srgbClr val="FFF3DC"/>
          </a:solidFill>
          <a:ln w="12700">
            <a:solidFill>
              <a:srgbClr val="D8DEEC"/>
            </a:solidFill>
            <a:prstDash val="solid"/>
          </a:ln>
        </p:spPr>
      </p:sp>
      <p:sp>
        <p:nvSpPr>
          <p:cNvPr id="5" name="Text 3"/>
          <p:cNvSpPr/>
          <p:nvPr/>
        </p:nvSpPr>
        <p:spPr>
          <a:xfrm>
            <a:off x="975360" y="2133600"/>
            <a:ext cx="10241280" cy="1341120"/>
          </a:xfrm>
          <a:prstGeom prst="rect">
            <a:avLst/>
          </a:prstGeom>
          <a:noFill/>
          <a:ln/>
        </p:spPr>
        <p:txBody>
          <a:bodyPr wrap="square" lIns="0" tIns="0" rIns="0" bIns="0" rtlCol="0" anchor="ctr"/>
          <a:lstStyle/>
          <a:p>
            <a:pPr algn="ctr" indent="0" marL="0">
              <a:buNone/>
            </a:pPr>
            <a:r>
              <a:rPr lang="en-US" sz="2000" b="1" i="1" dirty="0">
                <a:solidFill>
                  <a:srgbClr val="0E1C42"/>
                </a:solidFill>
                <a:latin typeface="Calibri" pitchFamily="34" charset="0"/>
                <a:ea typeface="Calibri" pitchFamily="34" charset="-122"/>
                <a:cs typeface="Calibri" pitchFamily="34" charset="-120"/>
              </a:rPr>
              <a:t>In this exhibit, I learned that ______ because ______.</a:t>
            </a:r>
            <a:endParaRPr lang="en-US" sz="2000" dirty="0"/>
          </a:p>
        </p:txBody>
      </p:sp>
      <p:sp>
        <p:nvSpPr>
          <p:cNvPr id="6" name="Shape 4"/>
          <p:cNvSpPr/>
          <p:nvPr/>
        </p:nvSpPr>
        <p:spPr>
          <a:xfrm>
            <a:off x="609600" y="4084320"/>
            <a:ext cx="10972800" cy="2194560"/>
          </a:xfrm>
          <a:prstGeom prst="roundRect">
            <a:avLst>
              <a:gd name="adj" fmla="val 6667"/>
            </a:avLst>
          </a:prstGeom>
          <a:solidFill>
            <a:srgbClr val="FFF8F0"/>
          </a:solidFill>
          <a:ln w="12700">
            <a:solidFill>
              <a:srgbClr val="D8DEEC"/>
            </a:solidFill>
            <a:prstDash val="solid"/>
          </a:ln>
        </p:spPr>
      </p:sp>
      <p:sp>
        <p:nvSpPr>
          <p:cNvPr id="7" name="Text 5"/>
          <p:cNvSpPr/>
          <p:nvPr/>
        </p:nvSpPr>
        <p:spPr>
          <a:xfrm>
            <a:off x="975360" y="4267200"/>
            <a:ext cx="10241280" cy="426720"/>
          </a:xfrm>
          <a:prstGeom prst="rect">
            <a:avLst/>
          </a:prstGeom>
          <a:noFill/>
          <a:ln/>
        </p:spPr>
        <p:txBody>
          <a:bodyPr wrap="square" lIns="0" tIns="0" rIns="0" bIns="0" rtlCol="0" anchor="t"/>
          <a:lstStyle/>
          <a:p>
            <a:pPr indent="0" marL="0">
              <a:buNone/>
            </a:pPr>
            <a:r>
              <a:rPr lang="en-US" sz="1400" b="1" dirty="0">
                <a:solidFill>
                  <a:srgbClr val="D4943A"/>
                </a:solidFill>
                <a:latin typeface="Calibri" pitchFamily="34" charset="0"/>
                <a:ea typeface="Calibri" pitchFamily="34" charset="-122"/>
                <a:cs typeface="Calibri" pitchFamily="34" charset="-120"/>
              </a:rPr>
              <a:t>Turn-In Checklist</a:t>
            </a:r>
            <a:endParaRPr lang="en-US" sz="1400" dirty="0"/>
          </a:p>
        </p:txBody>
      </p:sp>
      <p:sp>
        <p:nvSpPr>
          <p:cNvPr id="8" name="Text 6"/>
          <p:cNvSpPr/>
          <p:nvPr/>
        </p:nvSpPr>
        <p:spPr>
          <a:xfrm>
            <a:off x="1036320" y="4693920"/>
            <a:ext cx="10119360" cy="1463040"/>
          </a:xfrm>
          <a:prstGeom prst="rect">
            <a:avLst/>
          </a:prstGeom>
          <a:noFill/>
          <a:ln/>
        </p:spPr>
        <p:txBody>
          <a:bodyPr wrap="square"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I answered the evidence questions.</a:t>
            </a:r>
            <a:endParaRPr lang="en-US" sz="12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I picked one trade route and analyzed all four parts.</a:t>
            </a:r>
            <a:endParaRPr lang="en-US" sz="12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I wrote my Curator's Chronicle.</a:t>
            </a:r>
            <a:endParaRPr lang="en-US" sz="12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I copied or downloaded my work and submitted to Canvas.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40080" y="228600"/>
            <a:ext cx="9144000" cy="27432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CLOSING  ·  WRAP-UP</a:t>
            </a:r>
            <a:endParaRPr lang="en-US" sz="1300" dirty="0"/>
          </a:p>
        </p:txBody>
      </p:sp>
      <p:sp>
        <p:nvSpPr>
          <p:cNvPr id="6" name="Text 3"/>
          <p:cNvSpPr/>
          <p:nvPr/>
        </p:nvSpPr>
        <p:spPr>
          <a:xfrm>
            <a:off x="640080" y="128016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Great Work, Trade &amp; Choice Curator!</a:t>
            </a:r>
            <a:endParaRPr lang="en-US" sz="3200" dirty="0"/>
          </a:p>
        </p:txBody>
      </p:sp>
      <p:sp>
        <p:nvSpPr>
          <p:cNvPr id="7" name="Text 4"/>
          <p:cNvSpPr/>
          <p:nvPr/>
        </p:nvSpPr>
        <p:spPr>
          <a:xfrm>
            <a:off x="640080" y="2377440"/>
            <a:ext cx="10515600" cy="100584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You read a trade map as evidence. You connected region to resource to route, and you analyzed a real trade with choice, scarcity, benefit, and consequence.</a:t>
            </a:r>
            <a:endParaRPr lang="en-US" sz="1700" dirty="0"/>
          </a:p>
        </p:txBody>
      </p:sp>
      <p:sp>
        <p:nvSpPr>
          <p:cNvPr id="8" name="Text 5"/>
          <p:cNvSpPr/>
          <p:nvPr/>
        </p:nvSpPr>
        <p:spPr>
          <a:xfrm>
            <a:off x="640080" y="3749040"/>
            <a:ext cx="4572000" cy="32004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COMING NEXT</a:t>
            </a:r>
            <a:endParaRPr lang="en-US" sz="1300" dirty="0"/>
          </a:p>
        </p:txBody>
      </p:sp>
      <p:sp>
        <p:nvSpPr>
          <p:cNvPr id="9" name="Text 6"/>
          <p:cNvSpPr/>
          <p:nvPr/>
        </p:nvSpPr>
        <p:spPr>
          <a:xfrm>
            <a:off x="640080" y="4114800"/>
            <a:ext cx="10515600" cy="1280160"/>
          </a:xfrm>
          <a:prstGeom prst="rect">
            <a:avLst/>
          </a:prstGeom>
          <a:noFill/>
          <a:ln/>
        </p:spPr>
        <p:txBody>
          <a:bodyPr wrap="square" lIns="0" tIns="0" rIns="0" bIns="0" rtlCol="0" anchor="t"/>
          <a:lstStyle/>
          <a:p>
            <a:pPr indent="0" marL="0">
              <a:buNone/>
            </a:pPr>
            <a:r>
              <a:rPr lang="en-US" sz="1600" i="1" dirty="0">
                <a:solidFill>
                  <a:srgbClr val="D4943A"/>
                </a:solidFill>
                <a:latin typeface="Cambria" pitchFamily="34" charset="0"/>
                <a:ea typeface="Cambria" pitchFamily="34" charset="-122"/>
                <a:cs typeface="Cambria" pitchFamily="34" charset="-120"/>
              </a:rPr>
              <a:t>Tomorrow, a tall wooden board with two sliding columns -- Costs and Benefits -- arrives in the Marketplace Hall. You'll meet the Marketplace Decision Board and start weighing real economic choices like a curator.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2026-07-11T19:11:36Z</dcterms:created>
  <dcterms:modified xsi:type="dcterms:W3CDTF">2026-07-11T19:11:36Z</dcterms:modified>
</cp:coreProperties>
</file>