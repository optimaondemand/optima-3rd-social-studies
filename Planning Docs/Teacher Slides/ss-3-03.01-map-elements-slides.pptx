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Grand museum map room with high ceilings, four large ornate framed maps on the walls, warm golden lighting, dramatic atmosphere. Place full-bleed behind overlay.
Welcome students dramatically. Read the title aloud. Pause 5 full seconds. Say: 'In the Great Map Room, four maps are on the wall and every single one is missing a piece. Visitors are already arriving. Your job as Map Curators is to figure out what is missing from each map and explain why it matters.' Do NOT explain anything yet.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Curator's Question aloud. Pause. Do NOT answer it. Say: 'That is exactly what we are going to figure out today. Each broken map is a mystery case. Your job: study the clues, discover what is missing, and explain why it matters.' Maximum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 seconds here. Ask: 'What do YOU think it means to be honest?' Take 2 chat responses. Then connect: 'When a map is missing something important, an honest curator says so - they do not pretend it is ready. That is your job today.' Do not over-explain.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5 seconds of silence. Then say: 'Type one thing you cannot figure out from this map.' Read 3-4 responses. Lean into the confusion - the fact that students cannot read the map IS the lesson. Use the Socratic questions to surface exactly what is missing. Don't name the four parts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anticipation. Say: 'We have four locked cases. Each one holds a map element. We are going to figure out what each one does from the clues before I tell you what it is called.' Do NOT reveal any names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SAY 'TITLE' YET. Give 5 seconds of quiet. Then: 'Type what you think is missing from this map.' After reading responses, use the Socratic questions. Ask: 'What one word would you put at the top of this map to fix the visitor's confusion?' The word they are looking for is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Say: 'Hall 1 is the TITLE - you discovered it from the clues.' Quick connection: 'What is the title of a book we have read recently? What did that title tell you before you opened it?' Take one response. Then move to Case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SAY 'COMPASS ROSE' YET. Ask: 'If someone handed you this map, which way would you walk?' Let students feel the confusion of having no directions. After chat responses, ask: 'What symbol have you seen on other maps that shows direction?' Guide toward compass 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Hall 2! Quick retrieval: 'Without looking - name the TWO map parts we have discovered so far.' Give 5 seconds. Take 2 responses. Then say: 'Two down, two more broken maps to fix.' Move quickly to Case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SAY 'SCALE' YET. The family story usually lands well. Ask: 'Has anyone ever used a map and been surprised by how far something actually was?' Guide students toward the idea that maps shrink the real world onto paper - you need a way to decode the real distance. That is the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down, one to go! Quick retrieval: 'Cover your screen - name all THREE map parts we have discovered so far.' Give 10 seconds. Then: 'One more broken map to fix. This last one stumped Opti completely.' Move quickly to Case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SAY 'LEGEND' YET. The Opti quote usually gets a reaction - lean into it: 'A blue blob could be a lake OR a parking lot! Both are blue on this map.' Ask: 'What would fix this?' Guide toward the idea of a decoder or key. The formal name comes after they discover the need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BIG! Read the exhibit label together. Then do a choral retrieval: 'Everyone - all four parts on three: one, two, three!' Students call them out. This is a milestone moment. Honor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of actual notebook time. Do not rush this - the retrieval is the learning. After chat check, say: 'If you got all four and their jobs, you are ready to explain this to a visitor. That is exactly what the assignment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scaffolds Evidence Question 2 on the assignment. Students who can answer 'What is the worst mistake a visitor might make without a legend?' are ready to write their evidence response. Use the debate question to get strong reasoning going - there is no single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deepest learning moment. The error is very common - students list things without explaining them. The Socratic question about the difference between NAMING and EXPLAINING is crucial. Give 2 full minutes here. Do not rush to the correction box - let students diagnose the problem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VISIBLY and SLOWLY. Students need to hear the inside-your-head reasoning process. After modeling, give 90 seconds for students to try in chat. Read strong responses: 'Notice how [student] named the part AND explained the job AND said what happens without it - three pieces, one sentence. That is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single correct answer here - celebrate disagreement. Say: 'I love that some of you chose different elements. Let's hear the reasoning.' If a student can defend any of the four with a strong reason, that is excellent thinking. This debate also directly prepares students for the Curator Task on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question. Pause BEFORE showing the answer - ask students to type their choice in chat first. Then reveal the answer. For Q3, note that both 'legend' and 'map key' are acceptable. Celebrate: 'If you got all three, you are ready to write your Map Curator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assignment piece aloud. Model a strong Q1 answer: 'I might write: The scale shows how far apart things really are. Without it, visitors cannot tell if two cities are a short drive or a long trip.' For the Curator Task, point back to the debate on Slide 18 - they already practiced choosing an element and defending it! Their chat response can be the start of their written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map room with all four framed maps now complete and glowing - 'CERTIFIED' ribbon or stamp on each - celebratory warm lighting and atmosphere.
Say: 'You learned the four parts every map needs - title, compass rose, scale, and legend - and you can explain why each one matters for visitors. That is real Map Curator work.' Pause. 'Next time, we are STAYING in the Great Map Room but there is a new problem: the floor map's direction markers are wrong! You will need to learn cardinal and intermediate directions to fix them. See you then!'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1188720"/>
            <a:ext cx="9144000" cy="2743200"/>
          </a:xfrm>
          <a:prstGeom prst="rect">
            <a:avLst/>
          </a:prstGeom>
          <a:solidFill>
            <a:srgbClr val="0B1835">
              <a:alpha val="80000"/>
            </a:srgbClr>
          </a:solidFill>
          <a:ln/>
        </p:spPr>
      </p:sp>
      <p:sp>
        <p:nvSpPr>
          <p:cNvPr id="6" name="Text 3"/>
          <p:cNvSpPr/>
          <p:nvPr/>
        </p:nvSpPr>
        <p:spPr>
          <a:xfrm>
            <a:off x="457200" y="1325880"/>
            <a:ext cx="82296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LESSON 3.03.01  |  GRADE 3  |  BASICS OF MAPS</a:t>
            </a:r>
            <a:endParaRPr lang="en-US" sz="900" dirty="0"/>
          </a:p>
        </p:txBody>
      </p:sp>
      <p:sp>
        <p:nvSpPr>
          <p:cNvPr id="7" name="Text 4"/>
          <p:cNvSpPr/>
          <p:nvPr/>
        </p:nvSpPr>
        <p:spPr>
          <a:xfrm>
            <a:off x="457200" y="1664208"/>
            <a:ext cx="8229600" cy="658368"/>
          </a:xfrm>
          <a:prstGeom prst="rect">
            <a:avLst/>
          </a:prstGeom>
          <a:noFill/>
          <a:ln/>
        </p:spPr>
        <p:txBody>
          <a:bodyPr wrap="square" lIns="0" tIns="0" rIns="0" bIns="0" rtlCol="0" anchor="ctr"/>
          <a:lstStyle/>
          <a:p>
            <a:pPr algn="ctr" indent="0" marL="0">
              <a:buNone/>
            </a:pPr>
            <a:r>
              <a:rPr lang="en-US" sz="4400" b="1" dirty="0">
                <a:solidFill>
                  <a:srgbClr val="D4943A"/>
                </a:solidFill>
                <a:latin typeface="Cambria" pitchFamily="34" charset="0"/>
                <a:ea typeface="Cambria" pitchFamily="34" charset="-122"/>
                <a:cs typeface="Cambria" pitchFamily="34" charset="-120"/>
              </a:rPr>
              <a:t>Map Elements:</a:t>
            </a:r>
            <a:endParaRPr lang="en-US" sz="4400" dirty="0"/>
          </a:p>
        </p:txBody>
      </p:sp>
      <p:sp>
        <p:nvSpPr>
          <p:cNvPr id="8" name="Text 5"/>
          <p:cNvSpPr/>
          <p:nvPr/>
        </p:nvSpPr>
        <p:spPr>
          <a:xfrm>
            <a:off x="457200" y="2377440"/>
            <a:ext cx="822960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Title, Compass Rose, Scale &amp; Legend</a:t>
            </a:r>
            <a:endParaRPr lang="en-US" sz="2600" dirty="0"/>
          </a:p>
        </p:txBody>
      </p:sp>
      <p:sp>
        <p:nvSpPr>
          <p:cNvPr id="9" name="Text 6"/>
          <p:cNvSpPr/>
          <p:nvPr/>
        </p:nvSpPr>
        <p:spPr>
          <a:xfrm>
            <a:off x="457200" y="2971800"/>
            <a:ext cx="8229600" cy="320040"/>
          </a:xfrm>
          <a:prstGeom prst="rect">
            <a:avLst/>
          </a:prstGeom>
          <a:noFill/>
          <a:ln/>
        </p:spPr>
        <p:txBody>
          <a:bodyPr wrap="square" lIns="0" tIns="0" rIns="0" bIns="0" rtlCol="0" anchor="ctr"/>
          <a:lstStyle/>
          <a:p>
            <a:pPr algn="ctr" indent="0" marL="0">
              <a:buNone/>
            </a:pPr>
            <a:r>
              <a:rPr lang="en-US" sz="1300" i="1" dirty="0">
                <a:solidFill>
                  <a:srgbClr val="55C8E8"/>
                </a:solidFill>
                <a:latin typeface="Calibri" pitchFamily="34" charset="0"/>
                <a:ea typeface="Calibri" pitchFamily="34" charset="-122"/>
                <a:cs typeface="Calibri" pitchFamily="34" charset="-120"/>
              </a:rPr>
              <a:t>Great Map Room  |  Junior Curator Training Hall  |  Week 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65760" y="457200"/>
            <a:ext cx="4114800" cy="3657600"/>
          </a:xfrm>
          <a:prstGeom prst="roundRect">
            <a:avLst>
              <a:gd name="adj" fmla="val 3000"/>
            </a:avLst>
          </a:prstGeom>
          <a:solidFill>
            <a:srgbClr val="E2E8F4"/>
          </a:solidFill>
          <a:ln w="19050">
            <a:solidFill>
              <a:srgbClr val="B0B8CC"/>
            </a:solidFill>
            <a:prstDash val="dash"/>
          </a:ln>
        </p:spPr>
      </p:sp>
      <p:sp>
        <p:nvSpPr>
          <p:cNvPr id="5" name="Text 3"/>
          <p:cNvSpPr/>
          <p:nvPr/>
        </p:nvSpPr>
        <p:spPr>
          <a:xfrm>
            <a:off x="365760" y="45720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731520"/>
            <a:ext cx="3840480" cy="32918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wall with four large ornate map frames - some obviously incomplete (missing titles, symbols) - curious visitors looking puzzled, dramatic lighting</a:t>
            </a:r>
            <a:endParaRPr lang="en-US" sz="1100" dirty="0"/>
          </a:p>
        </p:txBody>
      </p:sp>
      <p:sp>
        <p:nvSpPr>
          <p:cNvPr id="7" name="Text 5"/>
          <p:cNvSpPr/>
          <p:nvPr/>
        </p:nvSpPr>
        <p:spPr>
          <a:xfrm>
            <a:off x="4709160" y="502920"/>
            <a:ext cx="40690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GREAT MAP ROOM  |  JUST OPENED</a:t>
            </a:r>
            <a:endParaRPr lang="en-US" sz="900" dirty="0"/>
          </a:p>
        </p:txBody>
      </p:sp>
      <p:sp>
        <p:nvSpPr>
          <p:cNvPr id="8" name="Text 6"/>
          <p:cNvSpPr/>
          <p:nvPr/>
        </p:nvSpPr>
        <p:spPr>
          <a:xfrm>
            <a:off x="4709160" y="822960"/>
            <a:ext cx="4069080" cy="594360"/>
          </a:xfrm>
          <a:prstGeom prst="rect">
            <a:avLst/>
          </a:prstGeom>
          <a:noFill/>
          <a:ln/>
        </p:spPr>
        <p:txBody>
          <a:bodyPr wrap="square" lIns="0" tIns="0" rIns="0" bIns="0"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Something is wrong.</a:t>
            </a:r>
            <a:endParaRPr lang="en-US" sz="2800" dirty="0"/>
          </a:p>
        </p:txBody>
      </p:sp>
      <p:sp>
        <p:nvSpPr>
          <p:cNvPr id="9" name="Text 7"/>
          <p:cNvSpPr/>
          <p:nvPr/>
        </p:nvSpPr>
        <p:spPr>
          <a:xfrm>
            <a:off x="4709160" y="1481328"/>
            <a:ext cx="4069080" cy="14630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Four maps are hanging on the wall.</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One has no title. One has no compass rose. One has no scale. One has no legend.</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Visitors are already arriving and they cannot read a single map.</a:t>
            </a:r>
            <a:endParaRPr lang="en-US" sz="1200" dirty="0"/>
          </a:p>
        </p:txBody>
      </p:sp>
      <p:sp>
        <p:nvSpPr>
          <p:cNvPr id="10" name="Shape 8"/>
          <p:cNvSpPr/>
          <p:nvPr/>
        </p:nvSpPr>
        <p:spPr>
          <a:xfrm>
            <a:off x="4709160" y="3017520"/>
            <a:ext cx="4069080" cy="777240"/>
          </a:xfrm>
          <a:prstGeom prst="roundRect">
            <a:avLst>
              <a:gd name="adj" fmla="val 11765"/>
            </a:avLst>
          </a:prstGeom>
          <a:solidFill>
            <a:srgbClr val="D4943A"/>
          </a:solidFill>
          <a:ln w="12700">
            <a:solidFill>
              <a:srgbClr val="F5C87A"/>
            </a:solidFill>
            <a:prstDash val="solid"/>
          </a:ln>
        </p:spPr>
      </p:sp>
      <p:sp>
        <p:nvSpPr>
          <p:cNvPr id="11" name="Text 9"/>
          <p:cNvSpPr/>
          <p:nvPr/>
        </p:nvSpPr>
        <p:spPr>
          <a:xfrm>
            <a:off x="4846320" y="3090672"/>
            <a:ext cx="3794760" cy="640080"/>
          </a:xfrm>
          <a:prstGeom prst="rect">
            <a:avLst/>
          </a:prstGeom>
          <a:noFill/>
          <a:ln/>
        </p:spPr>
        <p:txBody>
          <a:bodyPr wrap="square" lIns="0" tIns="0" rIns="0" bIns="0" rtlCol="0" anchor="ctr"/>
          <a:lstStyle/>
          <a:p>
            <a:pPr indent="0" marL="0">
              <a:buNone/>
            </a:pPr>
            <a:r>
              <a:rPr lang="en-US" sz="1100" b="1" i="1" dirty="0">
                <a:solidFill>
                  <a:srgbClr val="3A2000"/>
                </a:solidFill>
                <a:latin typeface="Cambria" pitchFamily="34" charset="0"/>
                <a:ea typeface="Cambria" pitchFamily="34" charset="-122"/>
                <a:cs typeface="Cambria" pitchFamily="34" charset="-120"/>
              </a:rPr>
              <a:t>Curator's Question: What are the four main parts of a map, and how does each one help visitors read it?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274320" y="365760"/>
            <a:ext cx="3840480" cy="402336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274320" y="36576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11480" y="640080"/>
            <a:ext cx="3566160" cy="3657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curator carefully examining a map on a table with a magnifying glass, thoughtful expression, warm lamp light - honest careful inspection</a:t>
            </a:r>
            <a:endParaRPr lang="en-US" sz="1100" dirty="0"/>
          </a:p>
        </p:txBody>
      </p:sp>
      <p:sp>
        <p:nvSpPr>
          <p:cNvPr id="7" name="Text 5"/>
          <p:cNvSpPr/>
          <p:nvPr/>
        </p:nvSpPr>
        <p:spPr>
          <a:xfrm>
            <a:off x="4343400" y="502920"/>
            <a:ext cx="4434840" cy="256032"/>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VIRTUE SPOTLIGHT</a:t>
            </a:r>
            <a:endParaRPr lang="en-US" sz="900" dirty="0"/>
          </a:p>
        </p:txBody>
      </p:sp>
      <p:sp>
        <p:nvSpPr>
          <p:cNvPr id="8" name="Text 6"/>
          <p:cNvSpPr/>
          <p:nvPr/>
        </p:nvSpPr>
        <p:spPr>
          <a:xfrm>
            <a:off x="4343400" y="822960"/>
            <a:ext cx="4434840" cy="731520"/>
          </a:xfrm>
          <a:prstGeom prst="rect">
            <a:avLst/>
          </a:prstGeom>
          <a:noFill/>
          <a:ln/>
        </p:spPr>
        <p:txBody>
          <a:bodyPr wrap="square" lIns="0" tIns="0" rIns="0" bIns="0" rtlCol="0" anchor="ctr"/>
          <a:lstStyle/>
          <a:p>
            <a:pPr indent="0" marL="0">
              <a:buNone/>
            </a:pPr>
            <a:r>
              <a:rPr lang="en-US" sz="4000" b="1" dirty="0">
                <a:solidFill>
                  <a:srgbClr val="D4943A"/>
                </a:solidFill>
                <a:latin typeface="Cambria" pitchFamily="34" charset="0"/>
                <a:ea typeface="Cambria" pitchFamily="34" charset="-122"/>
                <a:cs typeface="Cambria" pitchFamily="34" charset="-120"/>
              </a:rPr>
              <a:t>Honesty</a:t>
            </a:r>
            <a:endParaRPr lang="en-US" sz="4000" dirty="0"/>
          </a:p>
        </p:txBody>
      </p:sp>
      <p:sp>
        <p:nvSpPr>
          <p:cNvPr id="9" name="Text 7"/>
          <p:cNvSpPr/>
          <p:nvPr/>
        </p:nvSpPr>
        <p:spPr>
          <a:xfrm>
            <a:off x="4343400" y="1627632"/>
            <a:ext cx="4251960" cy="8686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Good curators are honest about what they see. If a map is missing something important, they say so - they do not pretend the map is fine when it is not.</a:t>
            </a:r>
            <a:endParaRPr lang="en-US" sz="1300" dirty="0"/>
          </a:p>
        </p:txBody>
      </p:sp>
      <p:sp>
        <p:nvSpPr>
          <p:cNvPr id="10" name="Text 8"/>
          <p:cNvSpPr/>
          <p:nvPr/>
        </p:nvSpPr>
        <p:spPr>
          <a:xfrm>
            <a:off x="4343400" y="2560320"/>
            <a:ext cx="4251960" cy="658368"/>
          </a:xfrm>
          <a:prstGeom prst="rect">
            <a:avLst/>
          </a:prstGeom>
          <a:noFill/>
          <a:ln/>
        </p:spPr>
        <p:txBody>
          <a:bodyPr wrap="square" lIns="0" tIns="0" rIns="0" bIns="0" rtlCol="0" anchor="ctr"/>
          <a:lstStyle/>
          <a:p>
            <a:pPr indent="0" marL="0">
              <a:buNone/>
            </a:pPr>
            <a:r>
              <a:rPr lang="en-US" sz="1200" i="1" dirty="0">
                <a:solidFill>
                  <a:srgbClr val="A0C0E8"/>
                </a:solidFill>
                <a:latin typeface="Calibri" pitchFamily="34" charset="0"/>
                <a:ea typeface="Calibri" pitchFamily="34" charset="-122"/>
                <a:cs typeface="Calibri" pitchFamily="34" charset="-120"/>
              </a:rPr>
              <a:t>Today, notice what each map needs before you call it ready for visitors. That is honest curator work.</a:t>
            </a:r>
            <a:endParaRPr lang="en-US" sz="1200" dirty="0"/>
          </a:p>
        </p:txBody>
      </p:sp>
      <p:sp>
        <p:nvSpPr>
          <p:cNvPr id="11" name="Shape 9"/>
          <p:cNvSpPr/>
          <p:nvPr/>
        </p:nvSpPr>
        <p:spPr>
          <a:xfrm>
            <a:off x="4343400" y="3273552"/>
            <a:ext cx="4251960" cy="1371600"/>
          </a:xfrm>
          <a:prstGeom prst="roundRect">
            <a:avLst>
              <a:gd name="adj" fmla="val 8000"/>
            </a:avLst>
          </a:prstGeom>
          <a:solidFill>
            <a:srgbClr val="FFF3DC"/>
          </a:solidFill>
          <a:ln w="19050">
            <a:solidFill>
              <a:srgbClr val="F5E6C8"/>
            </a:solidFill>
            <a:prstDash val="solid"/>
          </a:ln>
        </p:spPr>
      </p:sp>
      <p:sp>
        <p:nvSpPr>
          <p:cNvPr id="12" name="Text 10"/>
          <p:cNvSpPr/>
          <p:nvPr/>
        </p:nvSpPr>
        <p:spPr>
          <a:xfrm>
            <a:off x="4480560" y="3328416"/>
            <a:ext cx="3977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4480560" y="3529584"/>
            <a:ext cx="3977640" cy="10515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honesty matters for a map curator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a curator pretended a broken map was fine, visitors would..."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MYSTERY  |  PRIVATE THINKING</a:t>
            </a:r>
            <a:endParaRPr lang="en-US" sz="900" dirty="0"/>
          </a:p>
        </p:txBody>
      </p:sp>
      <p:sp>
        <p:nvSpPr>
          <p:cNvPr id="3" name="Text 1"/>
          <p:cNvSpPr/>
          <p:nvPr/>
        </p:nvSpPr>
        <p:spPr>
          <a:xfrm>
            <a:off x="365760" y="548640"/>
            <a:ext cx="8412480" cy="566928"/>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Could you use this map? Look carefully.</a:t>
            </a:r>
            <a:endParaRPr lang="en-US" sz="2600" dirty="0"/>
          </a:p>
        </p:txBody>
      </p:sp>
      <p:sp>
        <p:nvSpPr>
          <p:cNvPr id="4" name="Shape 2"/>
          <p:cNvSpPr/>
          <p:nvPr/>
        </p:nvSpPr>
        <p:spPr>
          <a:xfrm>
            <a:off x="365760" y="1188720"/>
            <a:ext cx="4206240" cy="2743200"/>
          </a:xfrm>
          <a:prstGeom prst="roundRect">
            <a:avLst>
              <a:gd name="adj" fmla="val 4000"/>
            </a:avLst>
          </a:prstGeom>
          <a:solidFill>
            <a:srgbClr val="E2E8F4"/>
          </a:solidFill>
          <a:ln w="19050">
            <a:solidFill>
              <a:srgbClr val="B0B8CC"/>
            </a:solidFill>
            <a:prstDash val="dash"/>
          </a:ln>
        </p:spPr>
      </p:sp>
      <p:sp>
        <p:nvSpPr>
          <p:cNvPr id="5" name="Text 3"/>
          <p:cNvSpPr/>
          <p:nvPr/>
        </p:nvSpPr>
        <p:spPr>
          <a:xfrm>
            <a:off x="365760" y="118872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63040"/>
            <a:ext cx="393192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simple map showing roads, blue areas, dotted symbols, and colored regions - but NO title, NO compass rose, NO scale bar, and NO legend. Just shapes and colors. No labels at all.</a:t>
            </a:r>
            <a:endParaRPr lang="en-US" sz="1100" dirty="0"/>
          </a:p>
        </p:txBody>
      </p:sp>
      <p:sp>
        <p:nvSpPr>
          <p:cNvPr id="7" name="Shape 5"/>
          <p:cNvSpPr/>
          <p:nvPr/>
        </p:nvSpPr>
        <p:spPr>
          <a:xfrm>
            <a:off x="4754880" y="1188720"/>
            <a:ext cx="3931920" cy="1371600"/>
          </a:xfrm>
          <a:prstGeom prst="roundRect">
            <a:avLst>
              <a:gd name="adj" fmla="val 8000"/>
            </a:avLst>
          </a:prstGeom>
          <a:solidFill>
            <a:srgbClr val="F0F2F8"/>
          </a:solidFill>
          <a:ln w="12700">
            <a:solidFill>
              <a:srgbClr val="D0D8E8"/>
            </a:solidFill>
            <a:prstDash val="solid"/>
          </a:ln>
        </p:spPr>
      </p:sp>
      <p:sp>
        <p:nvSpPr>
          <p:cNvPr id="8" name="Text 6"/>
          <p:cNvSpPr/>
          <p:nvPr/>
        </p:nvSpPr>
        <p:spPr>
          <a:xfrm>
            <a:off x="4892040" y="1298448"/>
            <a:ext cx="3657600" cy="1170432"/>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What questions would you have if this was the only map you had?</a:t>
            </a:r>
            <a:endParaRPr lang="en-US" sz="1400" dirty="0"/>
          </a:p>
        </p:txBody>
      </p:sp>
      <p:sp>
        <p:nvSpPr>
          <p:cNvPr id="9" name="Text 7"/>
          <p:cNvSpPr/>
          <p:nvPr/>
        </p:nvSpPr>
        <p:spPr>
          <a:xfrm>
            <a:off x="4754880" y="2633472"/>
            <a:ext cx="3931920" cy="256032"/>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Think quietly 5 seconds. Then type in chat.</a:t>
            </a:r>
            <a:endParaRPr lang="en-US" sz="1000" dirty="0"/>
          </a:p>
        </p:txBody>
      </p:sp>
      <p:sp>
        <p:nvSpPr>
          <p:cNvPr id="10" name="Shape 8"/>
          <p:cNvSpPr/>
          <p:nvPr/>
        </p:nvSpPr>
        <p:spPr>
          <a:xfrm>
            <a:off x="4754880" y="2944368"/>
            <a:ext cx="3931920" cy="1463040"/>
          </a:xfrm>
          <a:prstGeom prst="roundRect">
            <a:avLst>
              <a:gd name="adj" fmla="val 7500"/>
            </a:avLst>
          </a:prstGeom>
          <a:solidFill>
            <a:srgbClr val="FFF3DC"/>
          </a:solidFill>
          <a:ln w="19050">
            <a:solidFill>
              <a:srgbClr val="F5E6C8"/>
            </a:solidFill>
            <a:prstDash val="solid"/>
          </a:ln>
        </p:spPr>
      </p:sp>
      <p:sp>
        <p:nvSpPr>
          <p:cNvPr id="11" name="Text 9"/>
          <p:cNvSpPr/>
          <p:nvPr/>
        </p:nvSpPr>
        <p:spPr>
          <a:xfrm>
            <a:off x="4892040" y="2999232"/>
            <a:ext cx="3657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892040" y="3200400"/>
            <a:ext cx="365760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"Looking at this map, I cannot tell..."</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hardest thing to figure out would be..."</a:t>
            </a:r>
            <a:endParaRPr lang="en-US" sz="1200" dirty="0"/>
          </a:p>
        </p:txBody>
      </p:sp>
      <p:sp>
        <p:nvSpPr>
          <p:cNvPr id="13" name="Shape 11"/>
          <p:cNvSpPr/>
          <p:nvPr/>
        </p:nvSpPr>
        <p:spPr>
          <a:xfrm>
            <a:off x="365760" y="3977640"/>
            <a:ext cx="8412480" cy="100584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48640" y="406908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4325112"/>
            <a:ext cx="8046720" cy="566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want to know first?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if north was actually the RIGHT side of this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the blue blobs mean? Could they be lakes or parking lots?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92608"/>
            <a:ext cx="82296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GREAT MAP ROOM  |  INVESTIGATION</a:t>
            </a:r>
            <a:endParaRPr lang="en-US" sz="900" dirty="0"/>
          </a:p>
        </p:txBody>
      </p:sp>
      <p:sp>
        <p:nvSpPr>
          <p:cNvPr id="5" name="Text 3"/>
          <p:cNvSpPr/>
          <p:nvPr/>
        </p:nvSpPr>
        <p:spPr>
          <a:xfrm>
            <a:off x="457200" y="621792"/>
            <a:ext cx="8229600" cy="621792"/>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4 Broken Maps Are Waiting.</a:t>
            </a:r>
            <a:endParaRPr lang="en-US" sz="3400" dirty="0"/>
          </a:p>
        </p:txBody>
      </p:sp>
      <p:sp>
        <p:nvSpPr>
          <p:cNvPr id="6" name="Text 4"/>
          <p:cNvSpPr/>
          <p:nvPr/>
        </p:nvSpPr>
        <p:spPr>
          <a:xfrm>
            <a:off x="914400" y="1325880"/>
            <a:ext cx="7315200" cy="47548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Each map is missing a different essential element. Study the clues - discover what each map needs before we name it.</a:t>
            </a:r>
            <a:endParaRPr lang="en-US" sz="1300" dirty="0"/>
          </a:p>
        </p:txBody>
      </p:sp>
      <p:sp>
        <p:nvSpPr>
          <p:cNvPr id="7" name="Shape 5"/>
          <p:cNvSpPr/>
          <p:nvPr/>
        </p:nvSpPr>
        <p:spPr>
          <a:xfrm>
            <a:off x="365760" y="1920240"/>
            <a:ext cx="1920240" cy="1143000"/>
          </a:xfrm>
          <a:prstGeom prst="roundRect">
            <a:avLst>
              <a:gd name="adj" fmla="val 9600"/>
            </a:avLst>
          </a:prstGeom>
          <a:solidFill>
            <a:srgbClr val="3A4A6B"/>
          </a:solidFill>
          <a:ln/>
          <a:effectLst>
            <a:outerShdw sx="100000" sy="100000" kx="0" ky="0" algn="bl" rotWithShape="0" blurRad="63500" dist="25400" dir="8100000">
              <a:srgbClr val="000000">
                <a:alpha val="15000"/>
              </a:srgbClr>
            </a:outerShdw>
          </a:effectLst>
        </p:spPr>
      </p:sp>
      <p:sp>
        <p:nvSpPr>
          <p:cNvPr id="8" name="Text 6"/>
          <p:cNvSpPr/>
          <p:nvPr/>
        </p:nvSpPr>
        <p:spPr>
          <a:xfrm>
            <a:off x="365760" y="1975104"/>
            <a:ext cx="1920240" cy="201168"/>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1</a:t>
            </a:r>
            <a:endParaRPr lang="en-US" sz="900" dirty="0"/>
          </a:p>
        </p:txBody>
      </p:sp>
      <p:sp>
        <p:nvSpPr>
          <p:cNvPr id="9" name="Text 7"/>
          <p:cNvSpPr/>
          <p:nvPr/>
        </p:nvSpPr>
        <p:spPr>
          <a:xfrm>
            <a:off x="365760" y="2176272"/>
            <a:ext cx="1920240" cy="3474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0" name="Shape 8"/>
          <p:cNvSpPr/>
          <p:nvPr/>
        </p:nvSpPr>
        <p:spPr>
          <a:xfrm>
            <a:off x="2423160" y="1920240"/>
            <a:ext cx="1920240" cy="1143000"/>
          </a:xfrm>
          <a:prstGeom prst="roundRect">
            <a:avLst>
              <a:gd name="adj" fmla="val 9600"/>
            </a:avLst>
          </a:prstGeom>
          <a:solidFill>
            <a:srgbClr val="3A4A6B"/>
          </a:solidFill>
          <a:ln/>
          <a:effectLst>
            <a:outerShdw sx="100000" sy="100000" kx="0" ky="0" algn="bl" rotWithShape="0" blurRad="63500" dist="25400" dir="8100000">
              <a:srgbClr val="000000">
                <a:alpha val="15000"/>
              </a:srgbClr>
            </a:outerShdw>
          </a:effectLst>
        </p:spPr>
      </p:sp>
      <p:sp>
        <p:nvSpPr>
          <p:cNvPr id="11" name="Text 9"/>
          <p:cNvSpPr/>
          <p:nvPr/>
        </p:nvSpPr>
        <p:spPr>
          <a:xfrm>
            <a:off x="2423160" y="1975104"/>
            <a:ext cx="1920240" cy="201168"/>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2</a:t>
            </a:r>
            <a:endParaRPr lang="en-US" sz="900" dirty="0"/>
          </a:p>
        </p:txBody>
      </p:sp>
      <p:sp>
        <p:nvSpPr>
          <p:cNvPr id="12" name="Text 10"/>
          <p:cNvSpPr/>
          <p:nvPr/>
        </p:nvSpPr>
        <p:spPr>
          <a:xfrm>
            <a:off x="2423160" y="2176272"/>
            <a:ext cx="1920240" cy="3474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3" name="Shape 11"/>
          <p:cNvSpPr/>
          <p:nvPr/>
        </p:nvSpPr>
        <p:spPr>
          <a:xfrm>
            <a:off x="4480560" y="1920240"/>
            <a:ext cx="1920240" cy="1143000"/>
          </a:xfrm>
          <a:prstGeom prst="roundRect">
            <a:avLst>
              <a:gd name="adj" fmla="val 9600"/>
            </a:avLst>
          </a:prstGeom>
          <a:solidFill>
            <a:srgbClr val="3A4A6B"/>
          </a:solidFill>
          <a:ln/>
          <a:effectLst>
            <a:outerShdw sx="100000" sy="100000" kx="0" ky="0" algn="bl" rotWithShape="0" blurRad="63500" dist="25400" dir="8100000">
              <a:srgbClr val="000000">
                <a:alpha val="15000"/>
              </a:srgbClr>
            </a:outerShdw>
          </a:effectLst>
        </p:spPr>
      </p:sp>
      <p:sp>
        <p:nvSpPr>
          <p:cNvPr id="14" name="Text 12"/>
          <p:cNvSpPr/>
          <p:nvPr/>
        </p:nvSpPr>
        <p:spPr>
          <a:xfrm>
            <a:off x="4480560" y="1975104"/>
            <a:ext cx="1920240" cy="201168"/>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3</a:t>
            </a:r>
            <a:endParaRPr lang="en-US" sz="900" dirty="0"/>
          </a:p>
        </p:txBody>
      </p:sp>
      <p:sp>
        <p:nvSpPr>
          <p:cNvPr id="15" name="Text 13"/>
          <p:cNvSpPr/>
          <p:nvPr/>
        </p:nvSpPr>
        <p:spPr>
          <a:xfrm>
            <a:off x="4480560" y="2176272"/>
            <a:ext cx="1920240" cy="3474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6" name="Shape 14"/>
          <p:cNvSpPr/>
          <p:nvPr/>
        </p:nvSpPr>
        <p:spPr>
          <a:xfrm>
            <a:off x="6537960" y="1920240"/>
            <a:ext cx="1920240" cy="1143000"/>
          </a:xfrm>
          <a:prstGeom prst="roundRect">
            <a:avLst>
              <a:gd name="adj" fmla="val 9600"/>
            </a:avLst>
          </a:prstGeom>
          <a:solidFill>
            <a:srgbClr val="3A4A6B"/>
          </a:solidFill>
          <a:ln/>
          <a:effectLst>
            <a:outerShdw sx="100000" sy="100000" kx="0" ky="0" algn="bl" rotWithShape="0" blurRad="63500" dist="25400" dir="8100000">
              <a:srgbClr val="000000">
                <a:alpha val="15000"/>
              </a:srgbClr>
            </a:outerShdw>
          </a:effectLst>
        </p:spPr>
      </p:sp>
      <p:sp>
        <p:nvSpPr>
          <p:cNvPr id="17" name="Text 15"/>
          <p:cNvSpPr/>
          <p:nvPr/>
        </p:nvSpPr>
        <p:spPr>
          <a:xfrm>
            <a:off x="6537960" y="1975104"/>
            <a:ext cx="1920240" cy="201168"/>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4</a:t>
            </a:r>
            <a:endParaRPr lang="en-US" sz="900" dirty="0"/>
          </a:p>
        </p:txBody>
      </p:sp>
      <p:sp>
        <p:nvSpPr>
          <p:cNvPr id="18" name="Text 16"/>
          <p:cNvSpPr/>
          <p:nvPr/>
        </p:nvSpPr>
        <p:spPr>
          <a:xfrm>
            <a:off x="6537960" y="2176272"/>
            <a:ext cx="1920240" cy="3474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9" name="Text 17"/>
          <p:cNvSpPr/>
          <p:nvPr/>
        </p:nvSpPr>
        <p:spPr>
          <a:xfrm>
            <a:off x="457200" y="3200400"/>
            <a:ext cx="8229600" cy="320040"/>
          </a:xfrm>
          <a:prstGeom prst="rect">
            <a:avLst/>
          </a:prstGeom>
          <a:noFill/>
          <a:ln/>
        </p:spPr>
        <p:txBody>
          <a:bodyPr wrap="square" lIns="0" tIns="0" rIns="0" bIns="0" rtlCol="0" anchor="ctr"/>
          <a:lstStyle/>
          <a:p>
            <a:pPr algn="ctr" indent="0" marL="0">
              <a:buNone/>
            </a:pPr>
            <a:r>
              <a:rPr lang="en-US" sz="1200" i="1" dirty="0">
                <a:solidFill>
                  <a:srgbClr val="A0C0E8"/>
                </a:solidFill>
                <a:latin typeface="Calibri" pitchFamily="34" charset="0"/>
                <a:ea typeface="Calibri" pitchFamily="34" charset="-122"/>
                <a:cs typeface="Calibri" pitchFamily="34" charset="-120"/>
              </a:rPr>
              <a:t>We unlock each map part as we discover it together.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BROKEN MAP #1  |  WHAT IS MISSING?</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Study these clues. What does every map need at the top?</a:t>
            </a:r>
            <a:endParaRPr lang="en-US" sz="2200" dirty="0"/>
          </a:p>
        </p:txBody>
      </p:sp>
      <p:sp>
        <p:nvSpPr>
          <p:cNvPr id="4" name="Shape 2"/>
          <p:cNvSpPr/>
          <p:nvPr/>
        </p:nvSpPr>
        <p:spPr>
          <a:xfrm>
            <a:off x="365760" y="1143000"/>
            <a:ext cx="4206240" cy="292608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365760" y="114300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17320"/>
            <a:ext cx="393192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detailed road map of Florida showing highways, cities, colored regions - but the top of the map is completely BLANK where a title should be. No label saying what place or topic the map shows.</a:t>
            </a:r>
            <a:endParaRPr lang="en-US" sz="1100" dirty="0"/>
          </a:p>
        </p:txBody>
      </p:sp>
      <p:sp>
        <p:nvSpPr>
          <p:cNvPr id="7" name="Shape 5"/>
          <p:cNvSpPr/>
          <p:nvPr/>
        </p:nvSpPr>
        <p:spPr>
          <a:xfrm>
            <a:off x="4754880" y="1143000"/>
            <a:ext cx="3840480" cy="1417320"/>
          </a:xfrm>
          <a:prstGeom prst="roundRect">
            <a:avLst>
              <a:gd name="adj" fmla="val 7742"/>
            </a:avLst>
          </a:prstGeom>
          <a:solidFill>
            <a:srgbClr val="F0F2F8"/>
          </a:solidFill>
          <a:ln w="12700">
            <a:solidFill>
              <a:srgbClr val="D0D8E8"/>
            </a:solidFill>
            <a:prstDash val="solid"/>
          </a:ln>
        </p:spPr>
      </p:sp>
      <p:sp>
        <p:nvSpPr>
          <p:cNvPr id="8" name="Text 6"/>
          <p:cNvSpPr/>
          <p:nvPr/>
        </p:nvSpPr>
        <p:spPr>
          <a:xfrm>
            <a:off x="4892040" y="1234440"/>
            <a:ext cx="356616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Clues from Broken Map #1:</a:t>
            </a:r>
            <a:endParaRPr lang="en-US" sz="1100" dirty="0"/>
          </a:p>
        </p:txBody>
      </p:sp>
      <p:sp>
        <p:nvSpPr>
          <p:cNvPr id="9" name="Text 7"/>
          <p:cNvSpPr/>
          <p:nvPr/>
        </p:nvSpPr>
        <p:spPr>
          <a:xfrm>
            <a:off x="4892040" y="1536192"/>
            <a:ext cx="3566160" cy="96012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 A visitor asks: 'Is this Florida or Georgia?'</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The map shows roads, cities, and parks but nothing says what the place is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A book without a cover title tells you what it is about. A map needs the same thing.</a:t>
            </a:r>
            <a:endParaRPr lang="en-US" sz="1100" dirty="0"/>
          </a:p>
        </p:txBody>
      </p:sp>
      <p:sp>
        <p:nvSpPr>
          <p:cNvPr id="10" name="Shape 8"/>
          <p:cNvSpPr/>
          <p:nvPr/>
        </p:nvSpPr>
        <p:spPr>
          <a:xfrm>
            <a:off x="4754880" y="2633472"/>
            <a:ext cx="3840480" cy="1207008"/>
          </a:xfrm>
          <a:prstGeom prst="roundRect">
            <a:avLst>
              <a:gd name="adj" fmla="val 9091"/>
            </a:avLst>
          </a:prstGeom>
          <a:solidFill>
            <a:srgbClr val="FFF3DC"/>
          </a:solidFill>
          <a:ln w="19050">
            <a:solidFill>
              <a:srgbClr val="F5E6C8"/>
            </a:solidFill>
            <a:prstDash val="solid"/>
          </a:ln>
        </p:spPr>
      </p:sp>
      <p:sp>
        <p:nvSpPr>
          <p:cNvPr id="11" name="Text 9"/>
          <p:cNvSpPr/>
          <p:nvPr/>
        </p:nvSpPr>
        <p:spPr>
          <a:xfrm>
            <a:off x="4892040" y="2688336"/>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892040" y="2889504"/>
            <a:ext cx="356616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this map is missing..."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this piece, a visitor would..."</a:t>
            </a:r>
            <a:endParaRPr lang="en-US" sz="1200" dirty="0"/>
          </a:p>
        </p:txBody>
      </p:sp>
      <p:sp>
        <p:nvSpPr>
          <p:cNvPr id="13" name="Shape 11"/>
          <p:cNvSpPr/>
          <p:nvPr/>
        </p:nvSpPr>
        <p:spPr>
          <a:xfrm>
            <a:off x="365760" y="3977640"/>
            <a:ext cx="8412480" cy="100584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48640" y="406908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4325112"/>
            <a:ext cx="8046720" cy="566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a visitor's FIRST question be when looking at this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picked up a book with no cover title, how would you know what it was about?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one word or phrase would fix everything for this confused visitor?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65760" y="365760"/>
            <a:ext cx="3931920" cy="384048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365760" y="36576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640080"/>
            <a:ext cx="3657600" cy="3474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Beautiful framed map with a clear bold title at the top: 'Map of Florida' - ornate old-fashioned style with decorative border, warm museum lighting</a:t>
            </a:r>
            <a:endParaRPr lang="en-US" sz="1100" dirty="0"/>
          </a:p>
        </p:txBody>
      </p:sp>
      <p:sp>
        <p:nvSpPr>
          <p:cNvPr id="7" name="Text 5"/>
          <p:cNvSpPr/>
          <p:nvPr/>
        </p:nvSpPr>
        <p:spPr>
          <a:xfrm>
            <a:off x="4480560" y="457200"/>
            <a:ext cx="4389120" cy="256032"/>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HALL 1 UNLOCKED</a:t>
            </a:r>
            <a:endParaRPr lang="en-US" sz="900" dirty="0"/>
          </a:p>
        </p:txBody>
      </p:sp>
      <p:sp>
        <p:nvSpPr>
          <p:cNvPr id="8" name="Text 6"/>
          <p:cNvSpPr/>
          <p:nvPr/>
        </p:nvSpPr>
        <p:spPr>
          <a:xfrm>
            <a:off x="4480560" y="777240"/>
            <a:ext cx="4389120" cy="731520"/>
          </a:xfrm>
          <a:prstGeom prst="rect">
            <a:avLst/>
          </a:prstGeom>
          <a:noFill/>
          <a:ln/>
        </p:spPr>
        <p:txBody>
          <a:bodyPr wrap="square" lIns="0" tIns="0" rIns="0" bIns="0" rtlCol="0" anchor="ctr"/>
          <a:lstStyle/>
          <a:p>
            <a:pPr indent="0" marL="0">
              <a:buNone/>
            </a:pPr>
            <a:r>
              <a:rPr lang="en-US" sz="4200" b="1" dirty="0">
                <a:solidFill>
                  <a:srgbClr val="D4943A"/>
                </a:solidFill>
                <a:latin typeface="Cambria" pitchFamily="34" charset="0"/>
                <a:ea typeface="Cambria" pitchFamily="34" charset="-122"/>
                <a:cs typeface="Cambria" pitchFamily="34" charset="-120"/>
              </a:rPr>
              <a:t>Title</a:t>
            </a:r>
            <a:endParaRPr lang="en-US" sz="4200" dirty="0"/>
          </a:p>
        </p:txBody>
      </p:sp>
      <p:sp>
        <p:nvSpPr>
          <p:cNvPr id="9" name="Text 7"/>
          <p:cNvSpPr/>
          <p:nvPr/>
        </p:nvSpPr>
        <p:spPr>
          <a:xfrm>
            <a:off x="4480560" y="1572768"/>
            <a:ext cx="4206240" cy="8686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title tells you what the map is about. It might say 'North America,' 'Zoo Map,' or 'Routes of Exploration.' Without a title, visitors do not know what place or topic they are looking at.</a:t>
            </a:r>
            <a:endParaRPr lang="en-US" sz="1300" dirty="0"/>
          </a:p>
        </p:txBody>
      </p:sp>
      <p:sp>
        <p:nvSpPr>
          <p:cNvPr id="10" name="Text 8"/>
          <p:cNvSpPr/>
          <p:nvPr/>
        </p:nvSpPr>
        <p:spPr>
          <a:xfrm>
            <a:off x="4480560" y="2514600"/>
            <a:ext cx="4206240" cy="658368"/>
          </a:xfrm>
          <a:prstGeom prst="rect">
            <a:avLst/>
          </a:prstGeom>
          <a:noFill/>
          <a:ln/>
        </p:spPr>
        <p:txBody>
          <a:bodyPr wrap="square" lIns="0" tIns="0" rIns="0" bIns="0" rtlCol="0" anchor="ctr"/>
          <a:lstStyle/>
          <a:p>
            <a:pPr indent="0" marL="0">
              <a:buNone/>
            </a:pPr>
            <a:r>
              <a:rPr lang="en-US" sz="1200" i="1" dirty="0">
                <a:solidFill>
                  <a:srgbClr val="A0C0E8"/>
                </a:solidFill>
                <a:latin typeface="Calibri" pitchFamily="34" charset="0"/>
                <a:ea typeface="Calibri" pitchFamily="34" charset="-122"/>
                <a:cs typeface="Calibri" pitchFamily="34" charset="-120"/>
              </a:rPr>
              <a:t>Think of it like the cover of a book - the first thing a reader needs to make sense of everything else.</a:t>
            </a:r>
            <a:endParaRPr lang="en-US" sz="1200" dirty="0"/>
          </a:p>
        </p:txBody>
      </p:sp>
      <p:sp>
        <p:nvSpPr>
          <p:cNvPr id="11" name="Shape 9"/>
          <p:cNvSpPr/>
          <p:nvPr/>
        </p:nvSpPr>
        <p:spPr>
          <a:xfrm>
            <a:off x="4480560" y="3291840"/>
            <a:ext cx="182880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2" name="Text 10"/>
          <p:cNvSpPr/>
          <p:nvPr/>
        </p:nvSpPr>
        <p:spPr>
          <a:xfrm>
            <a:off x="4480560" y="3346704"/>
            <a:ext cx="182880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a:t>
            </a:r>
            <a:endParaRPr lang="en-US" sz="900" dirty="0"/>
          </a:p>
        </p:txBody>
      </p:sp>
      <p:sp>
        <p:nvSpPr>
          <p:cNvPr id="13" name="Text 11"/>
          <p:cNvSpPr/>
          <p:nvPr/>
        </p:nvSpPr>
        <p:spPr>
          <a:xfrm>
            <a:off x="4480560" y="3547872"/>
            <a:ext cx="182880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Title</a:t>
            </a:r>
            <a:endParaRPr lang="en-US" sz="1300" dirty="0"/>
          </a:p>
        </p:txBody>
      </p:sp>
      <p:sp>
        <p:nvSpPr>
          <p:cNvPr id="14" name="Shape 12"/>
          <p:cNvSpPr/>
          <p:nvPr/>
        </p:nvSpPr>
        <p:spPr>
          <a:xfrm>
            <a:off x="6400800" y="3291840"/>
            <a:ext cx="1828800" cy="1051560"/>
          </a:xfrm>
          <a:prstGeom prst="roundRect">
            <a:avLst>
              <a:gd name="adj" fmla="val 10435"/>
            </a:avLst>
          </a:prstGeom>
          <a:solidFill>
            <a:srgbClr val="3A4A6B"/>
          </a:solidFill>
          <a:ln/>
          <a:effectLst>
            <a:outerShdw sx="100000" sy="100000" kx="0" ky="0" algn="bl" rotWithShape="0" blurRad="63500" dist="25400" dir="8100000">
              <a:srgbClr val="000000">
                <a:alpha val="15000"/>
              </a:srgbClr>
            </a:outerShdw>
          </a:effectLst>
        </p:spPr>
      </p:sp>
      <p:sp>
        <p:nvSpPr>
          <p:cNvPr id="15" name="Text 13"/>
          <p:cNvSpPr/>
          <p:nvPr/>
        </p:nvSpPr>
        <p:spPr>
          <a:xfrm>
            <a:off x="6400800" y="3346704"/>
            <a:ext cx="1828800" cy="201168"/>
          </a:xfrm>
          <a:prstGeom prst="rect">
            <a:avLst/>
          </a:prstGeom>
          <a:noFill/>
          <a:ln/>
        </p:spPr>
        <p:txBody>
          <a:bodyPr wrap="square" lIns="0" tIns="0" rIns="0" bIns="0" rtlCol="0" anchor="ctr"/>
          <a:lstStyle/>
          <a:p>
            <a:pPr algn="ctr" indent="0" marL="0">
              <a:buNone/>
            </a:pPr>
            <a:r>
              <a:rPr lang="en-US" sz="900" b="1" spc="100" kern="0" dirty="0">
                <a:solidFill>
                  <a:srgbClr val="7A88A8"/>
                </a:solidFill>
                <a:latin typeface="Calibri" pitchFamily="34" charset="0"/>
                <a:ea typeface="Calibri" pitchFamily="34" charset="-122"/>
                <a:cs typeface="Calibri" pitchFamily="34" charset="-120"/>
              </a:rPr>
              <a:t>Hall 2</a:t>
            </a:r>
            <a:endParaRPr lang="en-US" sz="900" dirty="0"/>
          </a:p>
        </p:txBody>
      </p:sp>
      <p:sp>
        <p:nvSpPr>
          <p:cNvPr id="16" name="Text 14"/>
          <p:cNvSpPr/>
          <p:nvPr/>
        </p:nvSpPr>
        <p:spPr>
          <a:xfrm>
            <a:off x="6400800" y="3547872"/>
            <a:ext cx="1828800" cy="3474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BROKEN MAP #2  |  WHAT IS MISSING?</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Study these clues. Which direction is north on this map?</a:t>
            </a:r>
            <a:endParaRPr lang="en-US" sz="2200" dirty="0"/>
          </a:p>
        </p:txBody>
      </p:sp>
      <p:sp>
        <p:nvSpPr>
          <p:cNvPr id="4" name="Shape 2"/>
          <p:cNvSpPr/>
          <p:nvPr/>
        </p:nvSpPr>
        <p:spPr>
          <a:xfrm>
            <a:off x="365760" y="1143000"/>
            <a:ext cx="4206240" cy="292608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365760" y="114300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17320"/>
            <a:ext cx="393192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map of a neighborhood showing streets and buildings - but there is NO compass rose or direction indicator anywhere. Which way is north? The map gives no clue.</a:t>
            </a:r>
            <a:endParaRPr lang="en-US" sz="1100" dirty="0"/>
          </a:p>
        </p:txBody>
      </p:sp>
      <p:sp>
        <p:nvSpPr>
          <p:cNvPr id="7" name="Shape 5"/>
          <p:cNvSpPr/>
          <p:nvPr/>
        </p:nvSpPr>
        <p:spPr>
          <a:xfrm>
            <a:off x="4754880" y="1143000"/>
            <a:ext cx="3840480" cy="1417320"/>
          </a:xfrm>
          <a:prstGeom prst="roundRect">
            <a:avLst>
              <a:gd name="adj" fmla="val 7742"/>
            </a:avLst>
          </a:prstGeom>
          <a:solidFill>
            <a:srgbClr val="F0F2F8"/>
          </a:solidFill>
          <a:ln w="12700">
            <a:solidFill>
              <a:srgbClr val="D0D8E8"/>
            </a:solidFill>
            <a:prstDash val="solid"/>
          </a:ln>
        </p:spPr>
      </p:sp>
      <p:sp>
        <p:nvSpPr>
          <p:cNvPr id="8" name="Text 6"/>
          <p:cNvSpPr/>
          <p:nvPr/>
        </p:nvSpPr>
        <p:spPr>
          <a:xfrm>
            <a:off x="4892040" y="1234440"/>
            <a:ext cx="356616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Clues from Broken Map #2:</a:t>
            </a:r>
            <a:endParaRPr lang="en-US" sz="1100" dirty="0"/>
          </a:p>
        </p:txBody>
      </p:sp>
      <p:sp>
        <p:nvSpPr>
          <p:cNvPr id="9" name="Text 7"/>
          <p:cNvSpPr/>
          <p:nvPr/>
        </p:nvSpPr>
        <p:spPr>
          <a:xfrm>
            <a:off x="4892040" y="1536192"/>
            <a:ext cx="3566160" cy="96012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 Someone asks: 'Do I drive north or south to reach the school?'</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The map shows the school but which way is north?</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A hiker used this map and ended up walking the wrong direction for an hour</a:t>
            </a:r>
            <a:endParaRPr lang="en-US" sz="1100" dirty="0"/>
          </a:p>
        </p:txBody>
      </p:sp>
      <p:sp>
        <p:nvSpPr>
          <p:cNvPr id="10" name="Shape 8"/>
          <p:cNvSpPr/>
          <p:nvPr/>
        </p:nvSpPr>
        <p:spPr>
          <a:xfrm>
            <a:off x="4754880" y="2633472"/>
            <a:ext cx="3840480" cy="1207008"/>
          </a:xfrm>
          <a:prstGeom prst="roundRect">
            <a:avLst>
              <a:gd name="adj" fmla="val 9091"/>
            </a:avLst>
          </a:prstGeom>
          <a:solidFill>
            <a:srgbClr val="FFF3DC"/>
          </a:solidFill>
          <a:ln w="19050">
            <a:solidFill>
              <a:srgbClr val="F5E6C8"/>
            </a:solidFill>
            <a:prstDash val="solid"/>
          </a:ln>
        </p:spPr>
      </p:sp>
      <p:sp>
        <p:nvSpPr>
          <p:cNvPr id="11" name="Text 9"/>
          <p:cNvSpPr/>
          <p:nvPr/>
        </p:nvSpPr>
        <p:spPr>
          <a:xfrm>
            <a:off x="4892040" y="2688336"/>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892040" y="2889504"/>
            <a:ext cx="356616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this map is missing..."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this piece, someone trying to navigate would..."</a:t>
            </a:r>
            <a:endParaRPr lang="en-US" sz="1200" dirty="0"/>
          </a:p>
        </p:txBody>
      </p:sp>
      <p:sp>
        <p:nvSpPr>
          <p:cNvPr id="13" name="Shape 11"/>
          <p:cNvSpPr/>
          <p:nvPr/>
        </p:nvSpPr>
        <p:spPr>
          <a:xfrm>
            <a:off x="365760" y="3977640"/>
            <a:ext cx="8412480" cy="100584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48640" y="406908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4325112"/>
            <a:ext cx="8046720" cy="566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held this map upside down, how would you know?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knowing north, south, east, west have to do with reading a map?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symbol on a map shows you which way is up?</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65760" y="365760"/>
            <a:ext cx="3931920" cy="384048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365760" y="36576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640080"/>
            <a:ext cx="3657600" cy="3474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Beautiful ornate compass rose with N, S, E, W labels - detailed decorative points, warm golden color, on a vintage navy map background</a:t>
            </a:r>
            <a:endParaRPr lang="en-US" sz="1100" dirty="0"/>
          </a:p>
        </p:txBody>
      </p:sp>
      <p:sp>
        <p:nvSpPr>
          <p:cNvPr id="7" name="Text 5"/>
          <p:cNvSpPr/>
          <p:nvPr/>
        </p:nvSpPr>
        <p:spPr>
          <a:xfrm>
            <a:off x="4480560" y="457200"/>
            <a:ext cx="4389120" cy="256032"/>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HALL 2 UNLOCKED</a:t>
            </a:r>
            <a:endParaRPr lang="en-US" sz="900" dirty="0"/>
          </a:p>
        </p:txBody>
      </p:sp>
      <p:sp>
        <p:nvSpPr>
          <p:cNvPr id="8" name="Text 6"/>
          <p:cNvSpPr/>
          <p:nvPr/>
        </p:nvSpPr>
        <p:spPr>
          <a:xfrm>
            <a:off x="4480560" y="777240"/>
            <a:ext cx="4389120" cy="731520"/>
          </a:xfrm>
          <a:prstGeom prst="rect">
            <a:avLst/>
          </a:prstGeom>
          <a:noFill/>
          <a:ln/>
        </p:spPr>
        <p:txBody>
          <a:bodyPr wrap="square" lIns="0" tIns="0" rIns="0" bIns="0" rtlCol="0" anchor="ctr"/>
          <a:lstStyle/>
          <a:p>
            <a:pPr indent="0" marL="0">
              <a:buNone/>
            </a:pPr>
            <a:r>
              <a:rPr lang="en-US" sz="3400" b="1" dirty="0">
                <a:solidFill>
                  <a:srgbClr val="D4943A"/>
                </a:solidFill>
                <a:latin typeface="Cambria" pitchFamily="34" charset="0"/>
                <a:ea typeface="Cambria" pitchFamily="34" charset="-122"/>
                <a:cs typeface="Cambria" pitchFamily="34" charset="-120"/>
              </a:rPr>
              <a:t>Compass Rose</a:t>
            </a:r>
            <a:endParaRPr lang="en-US" sz="3400" dirty="0"/>
          </a:p>
        </p:txBody>
      </p:sp>
      <p:sp>
        <p:nvSpPr>
          <p:cNvPr id="9" name="Text 7"/>
          <p:cNvSpPr/>
          <p:nvPr/>
        </p:nvSpPr>
        <p:spPr>
          <a:xfrm>
            <a:off x="4480560" y="1572768"/>
            <a:ext cx="4206240" cy="8686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compass rose shows directions - north, south, east, and west. Without it, you cannot tell which way is 'up' on the map. You might walk in completely the wrong direction.</a:t>
            </a:r>
            <a:endParaRPr lang="en-US" sz="1300" dirty="0"/>
          </a:p>
        </p:txBody>
      </p:sp>
      <p:sp>
        <p:nvSpPr>
          <p:cNvPr id="10" name="Text 8"/>
          <p:cNvSpPr/>
          <p:nvPr/>
        </p:nvSpPr>
        <p:spPr>
          <a:xfrm>
            <a:off x="4480560" y="2514600"/>
            <a:ext cx="4206240" cy="658368"/>
          </a:xfrm>
          <a:prstGeom prst="rect">
            <a:avLst/>
          </a:prstGeom>
          <a:noFill/>
          <a:ln/>
        </p:spPr>
        <p:txBody>
          <a:bodyPr wrap="square" lIns="0" tIns="0" rIns="0" bIns="0" rtlCol="0" anchor="ctr"/>
          <a:lstStyle/>
          <a:p>
            <a:pPr indent="0" marL="0">
              <a:buNone/>
            </a:pPr>
            <a:r>
              <a:rPr lang="en-US" sz="1200" i="1" dirty="0">
                <a:solidFill>
                  <a:srgbClr val="A0C0E8"/>
                </a:solidFill>
                <a:latin typeface="Calibri" pitchFamily="34" charset="0"/>
                <a:ea typeface="Calibri" pitchFamily="34" charset="-122"/>
                <a:cs typeface="Calibri" pitchFamily="34" charset="-120"/>
              </a:rPr>
              <a:t>Long ago, mapmakers drew compass roses by hand - each one was a tiny work of art. Today, every useful map still has one.</a:t>
            </a:r>
            <a:endParaRPr lang="en-US" sz="1200" dirty="0"/>
          </a:p>
        </p:txBody>
      </p:sp>
      <p:sp>
        <p:nvSpPr>
          <p:cNvPr id="11" name="Shape 9"/>
          <p:cNvSpPr/>
          <p:nvPr/>
        </p:nvSpPr>
        <p:spPr>
          <a:xfrm>
            <a:off x="4480560" y="3291840"/>
            <a:ext cx="178308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2" name="Text 10"/>
          <p:cNvSpPr/>
          <p:nvPr/>
        </p:nvSpPr>
        <p:spPr>
          <a:xfrm>
            <a:off x="4480560" y="3346704"/>
            <a:ext cx="178308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a:t>
            </a:r>
            <a:endParaRPr lang="en-US" sz="900" dirty="0"/>
          </a:p>
        </p:txBody>
      </p:sp>
      <p:sp>
        <p:nvSpPr>
          <p:cNvPr id="13" name="Text 11"/>
          <p:cNvSpPr/>
          <p:nvPr/>
        </p:nvSpPr>
        <p:spPr>
          <a:xfrm>
            <a:off x="4480560" y="3547872"/>
            <a:ext cx="17830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Title</a:t>
            </a:r>
            <a:endParaRPr lang="en-US" sz="1300" dirty="0"/>
          </a:p>
        </p:txBody>
      </p:sp>
      <p:sp>
        <p:nvSpPr>
          <p:cNvPr id="14" name="Shape 12"/>
          <p:cNvSpPr/>
          <p:nvPr/>
        </p:nvSpPr>
        <p:spPr>
          <a:xfrm>
            <a:off x="6355080" y="3291840"/>
            <a:ext cx="178308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5" name="Text 13"/>
          <p:cNvSpPr/>
          <p:nvPr/>
        </p:nvSpPr>
        <p:spPr>
          <a:xfrm>
            <a:off x="6355080" y="3346704"/>
            <a:ext cx="178308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2</a:t>
            </a:r>
            <a:endParaRPr lang="en-US" sz="900" dirty="0"/>
          </a:p>
        </p:txBody>
      </p:sp>
      <p:sp>
        <p:nvSpPr>
          <p:cNvPr id="16" name="Text 14"/>
          <p:cNvSpPr/>
          <p:nvPr/>
        </p:nvSpPr>
        <p:spPr>
          <a:xfrm>
            <a:off x="6355080" y="3547872"/>
            <a:ext cx="17830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Compass Rose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BROKEN MAP #3  |  WHAT IS MISSING?</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Study these clues. How far apart are those two cities?</a:t>
            </a:r>
            <a:endParaRPr lang="en-US" sz="2200" dirty="0"/>
          </a:p>
        </p:txBody>
      </p:sp>
      <p:sp>
        <p:nvSpPr>
          <p:cNvPr id="4" name="Shape 2"/>
          <p:cNvSpPr/>
          <p:nvPr/>
        </p:nvSpPr>
        <p:spPr>
          <a:xfrm>
            <a:off x="365760" y="1143000"/>
            <a:ext cx="4206240" cy="292608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365760" y="114300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17320"/>
            <a:ext cx="393192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of Florida with two cities marked - Tampa and Miami - the cities look close on the map, but there is NO scale bar anywhere to tell you the real distance between them</a:t>
            </a:r>
            <a:endParaRPr lang="en-US" sz="1100" dirty="0"/>
          </a:p>
        </p:txBody>
      </p:sp>
      <p:sp>
        <p:nvSpPr>
          <p:cNvPr id="7" name="Shape 5"/>
          <p:cNvSpPr/>
          <p:nvPr/>
        </p:nvSpPr>
        <p:spPr>
          <a:xfrm>
            <a:off x="4754880" y="1143000"/>
            <a:ext cx="3840480" cy="1417320"/>
          </a:xfrm>
          <a:prstGeom prst="roundRect">
            <a:avLst>
              <a:gd name="adj" fmla="val 7742"/>
            </a:avLst>
          </a:prstGeom>
          <a:solidFill>
            <a:srgbClr val="F0F2F8"/>
          </a:solidFill>
          <a:ln w="12700">
            <a:solidFill>
              <a:srgbClr val="D0D8E8"/>
            </a:solidFill>
            <a:prstDash val="solid"/>
          </a:ln>
        </p:spPr>
      </p:sp>
      <p:sp>
        <p:nvSpPr>
          <p:cNvPr id="8" name="Text 6"/>
          <p:cNvSpPr/>
          <p:nvPr/>
        </p:nvSpPr>
        <p:spPr>
          <a:xfrm>
            <a:off x="4892040" y="1234440"/>
            <a:ext cx="356616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Clues from Broken Map #3:</a:t>
            </a:r>
            <a:endParaRPr lang="en-US" sz="1100" dirty="0"/>
          </a:p>
        </p:txBody>
      </p:sp>
      <p:sp>
        <p:nvSpPr>
          <p:cNvPr id="9" name="Text 7"/>
          <p:cNvSpPr/>
          <p:nvPr/>
        </p:nvSpPr>
        <p:spPr>
          <a:xfrm>
            <a:off x="4892040" y="1536192"/>
            <a:ext cx="3566160" cy="96012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 Tampa and Miami look about two inches apart on the map</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A family packed for a 2-hour drive but the trip took 4 hours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One inch on a map might equal 50 miles or 200 miles - there is no way to tell without this part</a:t>
            </a:r>
            <a:endParaRPr lang="en-US" sz="1100" dirty="0"/>
          </a:p>
        </p:txBody>
      </p:sp>
      <p:sp>
        <p:nvSpPr>
          <p:cNvPr id="10" name="Shape 8"/>
          <p:cNvSpPr/>
          <p:nvPr/>
        </p:nvSpPr>
        <p:spPr>
          <a:xfrm>
            <a:off x="4754880" y="2633472"/>
            <a:ext cx="3840480" cy="1207008"/>
          </a:xfrm>
          <a:prstGeom prst="roundRect">
            <a:avLst>
              <a:gd name="adj" fmla="val 9091"/>
            </a:avLst>
          </a:prstGeom>
          <a:solidFill>
            <a:srgbClr val="FFF3DC"/>
          </a:solidFill>
          <a:ln w="19050">
            <a:solidFill>
              <a:srgbClr val="F5E6C8"/>
            </a:solidFill>
            <a:prstDash val="solid"/>
          </a:ln>
        </p:spPr>
      </p:sp>
      <p:sp>
        <p:nvSpPr>
          <p:cNvPr id="11" name="Text 9"/>
          <p:cNvSpPr/>
          <p:nvPr/>
        </p:nvSpPr>
        <p:spPr>
          <a:xfrm>
            <a:off x="4892040" y="2688336"/>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892040" y="2889504"/>
            <a:ext cx="356616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this map is missing..."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this piece, someone planning a trip would..."</a:t>
            </a:r>
            <a:endParaRPr lang="en-US" sz="1200" dirty="0"/>
          </a:p>
        </p:txBody>
      </p:sp>
      <p:sp>
        <p:nvSpPr>
          <p:cNvPr id="13" name="Shape 11"/>
          <p:cNvSpPr/>
          <p:nvPr/>
        </p:nvSpPr>
        <p:spPr>
          <a:xfrm>
            <a:off x="365760" y="3977640"/>
            <a:ext cx="8412480" cy="100584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48640" y="406908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4325112"/>
            <a:ext cx="8046720" cy="566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the distance on paper NOT equal the real distance?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could two maps show the same area but look very different in size?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tool or marking would fix this problem for the family?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65760" y="365760"/>
            <a:ext cx="3931920" cy="384048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365760" y="36576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640080"/>
            <a:ext cx="3657600" cy="3474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of a map scale bar showing '1 inch = 100 miles' with a ruler graphic - on a colorful road map of Florida showing cities and highways</a:t>
            </a:r>
            <a:endParaRPr lang="en-US" sz="1100" dirty="0"/>
          </a:p>
        </p:txBody>
      </p:sp>
      <p:sp>
        <p:nvSpPr>
          <p:cNvPr id="7" name="Text 5"/>
          <p:cNvSpPr/>
          <p:nvPr/>
        </p:nvSpPr>
        <p:spPr>
          <a:xfrm>
            <a:off x="4480560" y="457200"/>
            <a:ext cx="4389120" cy="256032"/>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HALL 3 UNLOCKED</a:t>
            </a:r>
            <a:endParaRPr lang="en-US" sz="900" dirty="0"/>
          </a:p>
        </p:txBody>
      </p:sp>
      <p:sp>
        <p:nvSpPr>
          <p:cNvPr id="8" name="Text 6"/>
          <p:cNvSpPr/>
          <p:nvPr/>
        </p:nvSpPr>
        <p:spPr>
          <a:xfrm>
            <a:off x="4480560" y="777240"/>
            <a:ext cx="4389120" cy="731520"/>
          </a:xfrm>
          <a:prstGeom prst="rect">
            <a:avLst/>
          </a:prstGeom>
          <a:noFill/>
          <a:ln/>
        </p:spPr>
        <p:txBody>
          <a:bodyPr wrap="square" lIns="0" tIns="0" rIns="0" bIns="0" rtlCol="0" anchor="ctr"/>
          <a:lstStyle/>
          <a:p>
            <a:pPr indent="0" marL="0">
              <a:buNone/>
            </a:pPr>
            <a:r>
              <a:rPr lang="en-US" sz="4200" b="1" dirty="0">
                <a:solidFill>
                  <a:srgbClr val="D4943A"/>
                </a:solidFill>
                <a:latin typeface="Cambria" pitchFamily="34" charset="0"/>
                <a:ea typeface="Cambria" pitchFamily="34" charset="-122"/>
                <a:cs typeface="Cambria" pitchFamily="34" charset="-120"/>
              </a:rPr>
              <a:t>Scale</a:t>
            </a:r>
            <a:endParaRPr lang="en-US" sz="4200" dirty="0"/>
          </a:p>
        </p:txBody>
      </p:sp>
      <p:sp>
        <p:nvSpPr>
          <p:cNvPr id="9" name="Text 7"/>
          <p:cNvSpPr/>
          <p:nvPr/>
        </p:nvSpPr>
        <p:spPr>
          <a:xfrm>
            <a:off x="4480560" y="1572768"/>
            <a:ext cx="4206240" cy="8686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scale shows how far apart things really are. One inch on the map might equal 100 miles in real life. Without a scale, you cannot tell if two cities are a short drive or a cross-country trip apart.</a:t>
            </a:r>
            <a:endParaRPr lang="en-US" sz="1300" dirty="0"/>
          </a:p>
        </p:txBody>
      </p:sp>
      <p:sp>
        <p:nvSpPr>
          <p:cNvPr id="10" name="Text 8"/>
          <p:cNvSpPr/>
          <p:nvPr/>
        </p:nvSpPr>
        <p:spPr>
          <a:xfrm>
            <a:off x="4480560" y="2514600"/>
            <a:ext cx="4206240" cy="658368"/>
          </a:xfrm>
          <a:prstGeom prst="rect">
            <a:avLst/>
          </a:prstGeom>
          <a:noFill/>
          <a:ln/>
        </p:spPr>
        <p:txBody>
          <a:bodyPr wrap="square" lIns="0" tIns="0" rIns="0" bIns="0" rtlCol="0" anchor="ctr"/>
          <a:lstStyle/>
          <a:p>
            <a:pPr indent="0" marL="0">
              <a:buNone/>
            </a:pPr>
            <a:r>
              <a:rPr lang="en-US" sz="1200" i="1" dirty="0">
                <a:solidFill>
                  <a:srgbClr val="A0C0E8"/>
                </a:solidFill>
                <a:latin typeface="Calibri" pitchFamily="34" charset="0"/>
                <a:ea typeface="Calibri" pitchFamily="34" charset="-122"/>
                <a:cs typeface="Calibri" pitchFamily="34" charset="-120"/>
              </a:rPr>
              <a:t>The scale is like a decoder - it translates map distance into real-world distance.</a:t>
            </a:r>
            <a:endParaRPr lang="en-US" sz="1200" dirty="0"/>
          </a:p>
        </p:txBody>
      </p:sp>
      <p:sp>
        <p:nvSpPr>
          <p:cNvPr id="11" name="Shape 9"/>
          <p:cNvSpPr/>
          <p:nvPr/>
        </p:nvSpPr>
        <p:spPr>
          <a:xfrm>
            <a:off x="4480560" y="3291840"/>
            <a:ext cx="118872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2" name="Text 10"/>
          <p:cNvSpPr/>
          <p:nvPr/>
        </p:nvSpPr>
        <p:spPr>
          <a:xfrm>
            <a:off x="4480560" y="3346704"/>
            <a:ext cx="118872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a:t>
            </a:r>
            <a:endParaRPr lang="en-US" sz="900" dirty="0"/>
          </a:p>
        </p:txBody>
      </p:sp>
      <p:sp>
        <p:nvSpPr>
          <p:cNvPr id="13" name="Text 11"/>
          <p:cNvSpPr/>
          <p:nvPr/>
        </p:nvSpPr>
        <p:spPr>
          <a:xfrm>
            <a:off x="4480560" y="3547872"/>
            <a:ext cx="11887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Title</a:t>
            </a:r>
            <a:endParaRPr lang="en-US" sz="1300" dirty="0"/>
          </a:p>
        </p:txBody>
      </p:sp>
      <p:sp>
        <p:nvSpPr>
          <p:cNvPr id="14" name="Shape 12"/>
          <p:cNvSpPr/>
          <p:nvPr/>
        </p:nvSpPr>
        <p:spPr>
          <a:xfrm>
            <a:off x="5760720" y="3291840"/>
            <a:ext cx="118872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5" name="Text 13"/>
          <p:cNvSpPr/>
          <p:nvPr/>
        </p:nvSpPr>
        <p:spPr>
          <a:xfrm>
            <a:off x="5760720" y="3346704"/>
            <a:ext cx="118872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2</a:t>
            </a:r>
            <a:endParaRPr lang="en-US" sz="900" dirty="0"/>
          </a:p>
        </p:txBody>
      </p:sp>
      <p:sp>
        <p:nvSpPr>
          <p:cNvPr id="16" name="Text 14"/>
          <p:cNvSpPr/>
          <p:nvPr/>
        </p:nvSpPr>
        <p:spPr>
          <a:xfrm>
            <a:off x="5760720" y="3547872"/>
            <a:ext cx="11887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Compass Rose</a:t>
            </a:r>
            <a:endParaRPr lang="en-US" sz="1300" dirty="0"/>
          </a:p>
        </p:txBody>
      </p:sp>
      <p:sp>
        <p:nvSpPr>
          <p:cNvPr id="17" name="Shape 15"/>
          <p:cNvSpPr/>
          <p:nvPr/>
        </p:nvSpPr>
        <p:spPr>
          <a:xfrm>
            <a:off x="7040880" y="3291840"/>
            <a:ext cx="1417320" cy="1051560"/>
          </a:xfrm>
          <a:prstGeom prst="roundRect">
            <a:avLst>
              <a:gd name="adj" fmla="val 10435"/>
            </a:avLst>
          </a:prstGeom>
          <a:solidFill>
            <a:srgbClr val="1A8A7D"/>
          </a:solidFill>
          <a:ln/>
          <a:effectLst>
            <a:outerShdw sx="100000" sy="100000" kx="0" ky="0" algn="bl" rotWithShape="0" blurRad="63500" dist="25400" dir="8100000">
              <a:srgbClr val="000000">
                <a:alpha val="15000"/>
              </a:srgbClr>
            </a:outerShdw>
          </a:effectLst>
        </p:spPr>
      </p:sp>
      <p:sp>
        <p:nvSpPr>
          <p:cNvPr id="18" name="Text 16"/>
          <p:cNvSpPr/>
          <p:nvPr/>
        </p:nvSpPr>
        <p:spPr>
          <a:xfrm>
            <a:off x="7040880" y="3346704"/>
            <a:ext cx="141732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a:t>
            </a:r>
            <a:endParaRPr lang="en-US" sz="900" dirty="0"/>
          </a:p>
        </p:txBody>
      </p:sp>
      <p:sp>
        <p:nvSpPr>
          <p:cNvPr id="19" name="Text 17"/>
          <p:cNvSpPr/>
          <p:nvPr/>
        </p:nvSpPr>
        <p:spPr>
          <a:xfrm>
            <a:off x="7040880" y="3547872"/>
            <a:ext cx="14173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Scale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BROKEN MAP #4  |  WHAT IS MISSING?</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Study these clues. What do the symbols mean?</a:t>
            </a:r>
            <a:endParaRPr lang="en-US" sz="2200" dirty="0"/>
          </a:p>
        </p:txBody>
      </p:sp>
      <p:sp>
        <p:nvSpPr>
          <p:cNvPr id="4" name="Shape 2"/>
          <p:cNvSpPr/>
          <p:nvPr/>
        </p:nvSpPr>
        <p:spPr>
          <a:xfrm>
            <a:off x="365760" y="1143000"/>
            <a:ext cx="4206240" cy="2926080"/>
          </a:xfrm>
          <a:prstGeom prst="roundRect">
            <a:avLst>
              <a:gd name="adj" fmla="val 3750"/>
            </a:avLst>
          </a:prstGeom>
          <a:solidFill>
            <a:srgbClr val="E2E8F4"/>
          </a:solidFill>
          <a:ln w="19050">
            <a:solidFill>
              <a:srgbClr val="B0B8CC"/>
            </a:solidFill>
            <a:prstDash val="dash"/>
          </a:ln>
        </p:spPr>
      </p:sp>
      <p:sp>
        <p:nvSpPr>
          <p:cNvPr id="5" name="Text 3"/>
          <p:cNvSpPr/>
          <p:nvPr/>
        </p:nvSpPr>
        <p:spPr>
          <a:xfrm>
            <a:off x="365760" y="1143000"/>
            <a:ext cx="42062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17320"/>
            <a:ext cx="393192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city map covered in colored symbols - blue blobs, red dots, green areas, dotted lines, star shapes - but with NO legend or key anywhere explaining what any symbol means. Pure mystery.</a:t>
            </a:r>
            <a:endParaRPr lang="en-US" sz="1100" dirty="0"/>
          </a:p>
        </p:txBody>
      </p:sp>
      <p:sp>
        <p:nvSpPr>
          <p:cNvPr id="7" name="Shape 5"/>
          <p:cNvSpPr/>
          <p:nvPr/>
        </p:nvSpPr>
        <p:spPr>
          <a:xfrm>
            <a:off x="4754880" y="1143000"/>
            <a:ext cx="3840480" cy="1417320"/>
          </a:xfrm>
          <a:prstGeom prst="roundRect">
            <a:avLst>
              <a:gd name="adj" fmla="val 7742"/>
            </a:avLst>
          </a:prstGeom>
          <a:solidFill>
            <a:srgbClr val="F0F2F8"/>
          </a:solidFill>
          <a:ln w="12700">
            <a:solidFill>
              <a:srgbClr val="D0D8E8"/>
            </a:solidFill>
            <a:prstDash val="solid"/>
          </a:ln>
        </p:spPr>
      </p:sp>
      <p:sp>
        <p:nvSpPr>
          <p:cNvPr id="8" name="Text 6"/>
          <p:cNvSpPr/>
          <p:nvPr/>
        </p:nvSpPr>
        <p:spPr>
          <a:xfrm>
            <a:off x="4892040" y="1234440"/>
            <a:ext cx="356616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Clues from Broken Map #4:</a:t>
            </a:r>
            <a:endParaRPr lang="en-US" sz="1100" dirty="0"/>
          </a:p>
        </p:txBody>
      </p:sp>
      <p:sp>
        <p:nvSpPr>
          <p:cNvPr id="9" name="Text 7"/>
          <p:cNvSpPr/>
          <p:nvPr/>
        </p:nvSpPr>
        <p:spPr>
          <a:xfrm>
            <a:off x="4892040" y="1536192"/>
            <a:ext cx="3566160" cy="96012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 Opti sees a blue blob: 'Is that a lake... or a parking lot?'</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A red dot could mean capital city or dangerous area or pizza place</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 The green areas might be parks - or forests - or just empty land</a:t>
            </a:r>
            <a:endParaRPr lang="en-US" sz="1100" dirty="0"/>
          </a:p>
        </p:txBody>
      </p:sp>
      <p:sp>
        <p:nvSpPr>
          <p:cNvPr id="10" name="Shape 8"/>
          <p:cNvSpPr/>
          <p:nvPr/>
        </p:nvSpPr>
        <p:spPr>
          <a:xfrm>
            <a:off x="4754880" y="2633472"/>
            <a:ext cx="3840480" cy="1207008"/>
          </a:xfrm>
          <a:prstGeom prst="roundRect">
            <a:avLst>
              <a:gd name="adj" fmla="val 9091"/>
            </a:avLst>
          </a:prstGeom>
          <a:solidFill>
            <a:srgbClr val="FFF3DC"/>
          </a:solidFill>
          <a:ln w="19050">
            <a:solidFill>
              <a:srgbClr val="F5E6C8"/>
            </a:solidFill>
            <a:prstDash val="solid"/>
          </a:ln>
        </p:spPr>
      </p:sp>
      <p:sp>
        <p:nvSpPr>
          <p:cNvPr id="11" name="Text 9"/>
          <p:cNvSpPr/>
          <p:nvPr/>
        </p:nvSpPr>
        <p:spPr>
          <a:xfrm>
            <a:off x="4892040" y="2688336"/>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4892040" y="2889504"/>
            <a:ext cx="356616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this map is missing..."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this piece, the symbols are just..."</a:t>
            </a:r>
            <a:endParaRPr lang="en-US" sz="1200" dirty="0"/>
          </a:p>
        </p:txBody>
      </p:sp>
      <p:sp>
        <p:nvSpPr>
          <p:cNvPr id="13" name="Shape 11"/>
          <p:cNvSpPr/>
          <p:nvPr/>
        </p:nvSpPr>
        <p:spPr>
          <a:xfrm>
            <a:off x="365760" y="3977640"/>
            <a:ext cx="8412480" cy="100584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48640" y="406908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4325112"/>
            <a:ext cx="8046720" cy="566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can the same color or symbol mean different things on different maps?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call a list that explains what every symbol means?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have you seen a 'key' that unlocks the meaning of something?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457200" y="292608"/>
            <a:ext cx="82296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ALL 4 HALLS UNLOCKED</a:t>
            </a:r>
            <a:endParaRPr lang="en-US" sz="900" dirty="0"/>
          </a:p>
        </p:txBody>
      </p:sp>
      <p:sp>
        <p:nvSpPr>
          <p:cNvPr id="5" name="Text 3"/>
          <p:cNvSpPr/>
          <p:nvPr/>
        </p:nvSpPr>
        <p:spPr>
          <a:xfrm>
            <a:off x="457200" y="621792"/>
            <a:ext cx="8229600" cy="621792"/>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You repaired all four maps.</a:t>
            </a:r>
            <a:endParaRPr lang="en-US" sz="3200" dirty="0"/>
          </a:p>
        </p:txBody>
      </p:sp>
      <p:sp>
        <p:nvSpPr>
          <p:cNvPr id="6" name="Text 4"/>
          <p:cNvSpPr/>
          <p:nvPr/>
        </p:nvSpPr>
        <p:spPr>
          <a:xfrm>
            <a:off x="457200" y="1325880"/>
            <a:ext cx="8229600" cy="384048"/>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Every map needs these four parts. Now you can name them and explain why they matter.</a:t>
            </a:r>
            <a:endParaRPr lang="en-US" sz="1400" dirty="0"/>
          </a:p>
        </p:txBody>
      </p:sp>
      <p:sp>
        <p:nvSpPr>
          <p:cNvPr id="7" name="Shape 5"/>
          <p:cNvSpPr/>
          <p:nvPr/>
        </p:nvSpPr>
        <p:spPr>
          <a:xfrm>
            <a:off x="365760" y="1828800"/>
            <a:ext cx="1920240" cy="1280160"/>
          </a:xfrm>
          <a:prstGeom prst="roundRect">
            <a:avLst>
              <a:gd name="adj" fmla="val 8571"/>
            </a:avLst>
          </a:prstGeom>
          <a:solidFill>
            <a:srgbClr val="1A8A7D"/>
          </a:solidFill>
          <a:ln/>
          <a:effectLst>
            <a:outerShdw sx="100000" sy="100000" kx="0" ky="0" algn="bl" rotWithShape="0" blurRad="63500" dist="25400" dir="8100000">
              <a:srgbClr val="000000">
                <a:alpha val="15000"/>
              </a:srgbClr>
            </a:outerShdw>
          </a:effectLst>
        </p:spPr>
      </p:sp>
      <p:sp>
        <p:nvSpPr>
          <p:cNvPr id="8" name="Text 6"/>
          <p:cNvSpPr/>
          <p:nvPr/>
        </p:nvSpPr>
        <p:spPr>
          <a:xfrm>
            <a:off x="365760" y="1883664"/>
            <a:ext cx="192024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a:t>
            </a:r>
            <a:endParaRPr lang="en-US" sz="900" dirty="0"/>
          </a:p>
        </p:txBody>
      </p:sp>
      <p:sp>
        <p:nvSpPr>
          <p:cNvPr id="9" name="Text 7"/>
          <p:cNvSpPr/>
          <p:nvPr/>
        </p:nvSpPr>
        <p:spPr>
          <a:xfrm>
            <a:off x="365760" y="2084832"/>
            <a:ext cx="19202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Title</a:t>
            </a:r>
            <a:endParaRPr lang="en-US" sz="1300" dirty="0"/>
          </a:p>
        </p:txBody>
      </p:sp>
      <p:sp>
        <p:nvSpPr>
          <p:cNvPr id="10" name="Shape 8"/>
          <p:cNvSpPr/>
          <p:nvPr/>
        </p:nvSpPr>
        <p:spPr>
          <a:xfrm>
            <a:off x="2423160" y="1828800"/>
            <a:ext cx="1920240" cy="1280160"/>
          </a:xfrm>
          <a:prstGeom prst="roundRect">
            <a:avLst>
              <a:gd name="adj" fmla="val 8571"/>
            </a:avLst>
          </a:prstGeom>
          <a:solidFill>
            <a:srgbClr val="1A8A7D"/>
          </a:solidFill>
          <a:ln/>
          <a:effectLst>
            <a:outerShdw sx="100000" sy="100000" kx="0" ky="0" algn="bl" rotWithShape="0" blurRad="63500" dist="25400" dir="8100000">
              <a:srgbClr val="000000">
                <a:alpha val="15000"/>
              </a:srgbClr>
            </a:outerShdw>
          </a:effectLst>
        </p:spPr>
      </p:sp>
      <p:sp>
        <p:nvSpPr>
          <p:cNvPr id="11" name="Text 9"/>
          <p:cNvSpPr/>
          <p:nvPr/>
        </p:nvSpPr>
        <p:spPr>
          <a:xfrm>
            <a:off x="2423160" y="1883664"/>
            <a:ext cx="192024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2</a:t>
            </a:r>
            <a:endParaRPr lang="en-US" sz="900" dirty="0"/>
          </a:p>
        </p:txBody>
      </p:sp>
      <p:sp>
        <p:nvSpPr>
          <p:cNvPr id="12" name="Text 10"/>
          <p:cNvSpPr/>
          <p:nvPr/>
        </p:nvSpPr>
        <p:spPr>
          <a:xfrm>
            <a:off x="2423160" y="2084832"/>
            <a:ext cx="19202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Compass Rose</a:t>
            </a:r>
            <a:endParaRPr lang="en-US" sz="1300" dirty="0"/>
          </a:p>
        </p:txBody>
      </p:sp>
      <p:sp>
        <p:nvSpPr>
          <p:cNvPr id="13" name="Shape 11"/>
          <p:cNvSpPr/>
          <p:nvPr/>
        </p:nvSpPr>
        <p:spPr>
          <a:xfrm>
            <a:off x="4480560" y="1828800"/>
            <a:ext cx="1920240" cy="1280160"/>
          </a:xfrm>
          <a:prstGeom prst="roundRect">
            <a:avLst>
              <a:gd name="adj" fmla="val 8571"/>
            </a:avLst>
          </a:prstGeom>
          <a:solidFill>
            <a:srgbClr val="1A8A7D"/>
          </a:solidFill>
          <a:ln/>
          <a:effectLst>
            <a:outerShdw sx="100000" sy="100000" kx="0" ky="0" algn="bl" rotWithShape="0" blurRad="63500" dist="25400" dir="8100000">
              <a:srgbClr val="000000">
                <a:alpha val="15000"/>
              </a:srgbClr>
            </a:outerShdw>
          </a:effectLst>
        </p:spPr>
      </p:sp>
      <p:sp>
        <p:nvSpPr>
          <p:cNvPr id="14" name="Text 12"/>
          <p:cNvSpPr/>
          <p:nvPr/>
        </p:nvSpPr>
        <p:spPr>
          <a:xfrm>
            <a:off x="4480560" y="1883664"/>
            <a:ext cx="192024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a:t>
            </a:r>
            <a:endParaRPr lang="en-US" sz="900" dirty="0"/>
          </a:p>
        </p:txBody>
      </p:sp>
      <p:sp>
        <p:nvSpPr>
          <p:cNvPr id="15" name="Text 13"/>
          <p:cNvSpPr/>
          <p:nvPr/>
        </p:nvSpPr>
        <p:spPr>
          <a:xfrm>
            <a:off x="4480560" y="2084832"/>
            <a:ext cx="19202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Scale</a:t>
            </a:r>
            <a:endParaRPr lang="en-US" sz="1300" dirty="0"/>
          </a:p>
        </p:txBody>
      </p:sp>
      <p:sp>
        <p:nvSpPr>
          <p:cNvPr id="16" name="Shape 14"/>
          <p:cNvSpPr/>
          <p:nvPr/>
        </p:nvSpPr>
        <p:spPr>
          <a:xfrm>
            <a:off x="6537960" y="1828800"/>
            <a:ext cx="1920240" cy="1280160"/>
          </a:xfrm>
          <a:prstGeom prst="roundRect">
            <a:avLst>
              <a:gd name="adj" fmla="val 8571"/>
            </a:avLst>
          </a:prstGeom>
          <a:solidFill>
            <a:srgbClr val="1A8A7D"/>
          </a:solidFill>
          <a:ln/>
          <a:effectLst>
            <a:outerShdw sx="100000" sy="100000" kx="0" ky="0" algn="bl" rotWithShape="0" blurRad="63500" dist="25400" dir="8100000">
              <a:srgbClr val="000000">
                <a:alpha val="15000"/>
              </a:srgbClr>
            </a:outerShdw>
          </a:effectLst>
        </p:spPr>
      </p:sp>
      <p:sp>
        <p:nvSpPr>
          <p:cNvPr id="17" name="Text 15"/>
          <p:cNvSpPr/>
          <p:nvPr/>
        </p:nvSpPr>
        <p:spPr>
          <a:xfrm>
            <a:off x="6537960" y="1883664"/>
            <a:ext cx="1920240" cy="201168"/>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4</a:t>
            </a:r>
            <a:endParaRPr lang="en-US" sz="900" dirty="0"/>
          </a:p>
        </p:txBody>
      </p:sp>
      <p:sp>
        <p:nvSpPr>
          <p:cNvPr id="18" name="Text 16"/>
          <p:cNvSpPr/>
          <p:nvPr/>
        </p:nvSpPr>
        <p:spPr>
          <a:xfrm>
            <a:off x="6537960" y="2084832"/>
            <a:ext cx="19202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Legend</a:t>
            </a:r>
            <a:endParaRPr lang="en-US" sz="1300" dirty="0"/>
          </a:p>
        </p:txBody>
      </p:sp>
      <p:sp>
        <p:nvSpPr>
          <p:cNvPr id="19" name="Shape 17"/>
          <p:cNvSpPr/>
          <p:nvPr/>
        </p:nvSpPr>
        <p:spPr>
          <a:xfrm>
            <a:off x="457200" y="3246120"/>
            <a:ext cx="8229600" cy="1261872"/>
          </a:xfrm>
          <a:prstGeom prst="roundRect">
            <a:avLst>
              <a:gd name="adj" fmla="val 8696"/>
            </a:avLst>
          </a:prstGeom>
          <a:solidFill>
            <a:srgbClr val="1A2D5A"/>
          </a:solidFill>
          <a:ln/>
          <a:effectLst>
            <a:outerShdw sx="100000" sy="100000" kx="0" ky="0" algn="bl" rotWithShape="0" blurRad="101600" dist="38100" dir="8100000">
              <a:srgbClr val="000000">
                <a:alpha val="20000"/>
              </a:srgbClr>
            </a:outerShdw>
          </a:effectLst>
        </p:spPr>
      </p:sp>
      <p:sp>
        <p:nvSpPr>
          <p:cNvPr id="20" name="Text 18"/>
          <p:cNvSpPr/>
          <p:nvPr/>
        </p:nvSpPr>
        <p:spPr>
          <a:xfrm>
            <a:off x="640080" y="3328416"/>
            <a:ext cx="7863840" cy="228600"/>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EXHIBIT LABEL</a:t>
            </a:r>
            <a:endParaRPr lang="en-US" sz="900" dirty="0"/>
          </a:p>
        </p:txBody>
      </p:sp>
      <p:sp>
        <p:nvSpPr>
          <p:cNvPr id="21" name="Text 19"/>
          <p:cNvSpPr/>
          <p:nvPr/>
        </p:nvSpPr>
        <p:spPr>
          <a:xfrm>
            <a:off x="640080" y="3593592"/>
            <a:ext cx="7863840" cy="84124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Every map needs a title, compass rose, scale, and legend. These four parts tell readers what the map shows, which way is which, how far things are, and what the symbols mean.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RETRIEVAL CHALLENGE  |  MEMORY CHECK</a:t>
            </a:r>
            <a:endParaRPr lang="en-US" sz="900" dirty="0"/>
          </a:p>
        </p:txBody>
      </p:sp>
      <p:sp>
        <p:nvSpPr>
          <p:cNvPr id="3" name="Text 1"/>
          <p:cNvSpPr/>
          <p:nvPr/>
        </p:nvSpPr>
        <p:spPr>
          <a:xfrm>
            <a:off x="365760" y="548640"/>
            <a:ext cx="8412480" cy="566928"/>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Cover your screen. Name all four map parts from memory.</a:t>
            </a:r>
            <a:endParaRPr lang="en-US" sz="2400" dirty="0"/>
          </a:p>
        </p:txBody>
      </p:sp>
      <p:sp>
        <p:nvSpPr>
          <p:cNvPr id="4" name="Shape 2"/>
          <p:cNvSpPr/>
          <p:nvPr/>
        </p:nvSpPr>
        <p:spPr>
          <a:xfrm>
            <a:off x="365760" y="1234440"/>
            <a:ext cx="8412480" cy="1965960"/>
          </a:xfrm>
          <a:prstGeom prst="roundRect">
            <a:avLst>
              <a:gd name="adj" fmla="val 6977"/>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548640" y="1325880"/>
            <a:ext cx="8046720" cy="256032"/>
          </a:xfrm>
          <a:prstGeom prst="rect">
            <a:avLst/>
          </a:prstGeom>
          <a:noFill/>
          <a:ln/>
        </p:spPr>
        <p:txBody>
          <a:bodyPr wrap="square" lIns="0" tIns="0" rIns="0" bIns="0" rtlCol="0" anchor="ctr"/>
          <a:lstStyle/>
          <a:p>
            <a:pPr algn="ctr" indent="0" marL="0">
              <a:buNone/>
            </a:pPr>
            <a:r>
              <a:rPr lang="en-US" sz="1100" b="1" spc="200" kern="0" dirty="0">
                <a:solidFill>
                  <a:srgbClr val="55C8E8"/>
                </a:solidFill>
                <a:latin typeface="Calibri" pitchFamily="34" charset="0"/>
                <a:ea typeface="Calibri" pitchFamily="34" charset="-122"/>
                <a:cs typeface="Calibri" pitchFamily="34" charset="-120"/>
              </a:rPr>
              <a:t>CHALLENGE</a:t>
            </a:r>
            <a:endParaRPr lang="en-US" sz="1100" dirty="0"/>
          </a:p>
        </p:txBody>
      </p:sp>
      <p:sp>
        <p:nvSpPr>
          <p:cNvPr id="6" name="Text 4"/>
          <p:cNvSpPr/>
          <p:nvPr/>
        </p:nvSpPr>
        <p:spPr>
          <a:xfrm>
            <a:off x="640080" y="1627632"/>
            <a:ext cx="7863840" cy="1417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1. Cover or turn away from your screen.</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2. In your Curator's Notebook, write all four map parts.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3. Give each one its job: what does it DO for the map reader?</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4. Turn back and check.</a:t>
            </a:r>
            <a:endParaRPr lang="en-US" sz="1300" dirty="0"/>
          </a:p>
        </p:txBody>
      </p:sp>
      <p:sp>
        <p:nvSpPr>
          <p:cNvPr id="7" name="Shape 5"/>
          <p:cNvSpPr/>
          <p:nvPr/>
        </p:nvSpPr>
        <p:spPr>
          <a:xfrm>
            <a:off x="365760" y="3310128"/>
            <a:ext cx="8412480" cy="1463040"/>
          </a:xfrm>
          <a:prstGeom prst="roundRect">
            <a:avLst>
              <a:gd name="adj" fmla="val 7500"/>
            </a:avLst>
          </a:prstGeom>
          <a:solidFill>
            <a:srgbClr val="FFF3DC"/>
          </a:solidFill>
          <a:ln w="19050">
            <a:solidFill>
              <a:srgbClr val="F5E6C8"/>
            </a:solidFill>
            <a:prstDash val="solid"/>
          </a:ln>
        </p:spPr>
      </p:sp>
      <p:sp>
        <p:nvSpPr>
          <p:cNvPr id="8" name="Text 6"/>
          <p:cNvSpPr/>
          <p:nvPr/>
        </p:nvSpPr>
        <p:spPr>
          <a:xfrm>
            <a:off x="502920" y="336499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502920" y="3566160"/>
            <a:ext cx="813816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remembered all four: title, compass rose, scale, and legend"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one I almost forgot was...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most important one is... because..."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WHY IT MATTERS  |  MAKING CONNECTIONS</a:t>
            </a:r>
            <a:endParaRPr lang="en-US" sz="900" dirty="0"/>
          </a:p>
        </p:txBody>
      </p:sp>
      <p:sp>
        <p:nvSpPr>
          <p:cNvPr id="3" name="Text 1"/>
          <p:cNvSpPr/>
          <p:nvPr/>
        </p:nvSpPr>
        <p:spPr>
          <a:xfrm>
            <a:off x="365760" y="548640"/>
            <a:ext cx="8412480" cy="566928"/>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Imagine a visitor picks up a map with NO legend.</a:t>
            </a:r>
            <a:endParaRPr lang="en-US" sz="2400" dirty="0"/>
          </a:p>
        </p:txBody>
      </p:sp>
      <p:sp>
        <p:nvSpPr>
          <p:cNvPr id="4" name="Shape 2"/>
          <p:cNvSpPr/>
          <p:nvPr/>
        </p:nvSpPr>
        <p:spPr>
          <a:xfrm>
            <a:off x="365760" y="1188720"/>
            <a:ext cx="4114800" cy="2514600"/>
          </a:xfrm>
          <a:prstGeom prst="roundRect">
            <a:avLst>
              <a:gd name="adj" fmla="val 4364"/>
            </a:avLst>
          </a:prstGeom>
          <a:solidFill>
            <a:srgbClr val="E2E8F4"/>
          </a:solidFill>
          <a:ln w="19050">
            <a:solidFill>
              <a:srgbClr val="B0B8CC"/>
            </a:solidFill>
            <a:prstDash val="dash"/>
          </a:ln>
        </p:spPr>
      </p:sp>
      <p:sp>
        <p:nvSpPr>
          <p:cNvPr id="5" name="Text 3"/>
          <p:cNvSpPr/>
          <p:nvPr/>
        </p:nvSpPr>
        <p:spPr>
          <a:xfrm>
            <a:off x="365760" y="118872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463040"/>
            <a:ext cx="3840480" cy="21488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Confused visitor holding a map with colored blobs and symbols, looking puzzled - friendly illustration style</a:t>
            </a:r>
            <a:endParaRPr lang="en-US" sz="1100" dirty="0"/>
          </a:p>
        </p:txBody>
      </p:sp>
      <p:sp>
        <p:nvSpPr>
          <p:cNvPr id="7" name="Shape 5"/>
          <p:cNvSpPr/>
          <p:nvPr/>
        </p:nvSpPr>
        <p:spPr>
          <a:xfrm>
            <a:off x="4663440" y="1188720"/>
            <a:ext cx="3931920" cy="1325880"/>
          </a:xfrm>
          <a:prstGeom prst="roundRect">
            <a:avLst>
              <a:gd name="adj" fmla="val 8276"/>
            </a:avLst>
          </a:prstGeom>
          <a:solidFill>
            <a:srgbClr val="F0F2F8"/>
          </a:solidFill>
          <a:ln w="12700">
            <a:solidFill>
              <a:srgbClr val="D0D8E8"/>
            </a:solidFill>
            <a:prstDash val="solid"/>
          </a:ln>
        </p:spPr>
      </p:sp>
      <p:sp>
        <p:nvSpPr>
          <p:cNvPr id="8" name="Text 6"/>
          <p:cNvSpPr/>
          <p:nvPr/>
        </p:nvSpPr>
        <p:spPr>
          <a:xfrm>
            <a:off x="4800600" y="1280160"/>
            <a:ext cx="3657600" cy="117043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map shows: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Blue blobs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Red dots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Green shading</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Dotted lines</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...but NO explanation of any symbol.</a:t>
            </a:r>
            <a:endParaRPr lang="en-US" sz="1200" dirty="0"/>
          </a:p>
        </p:txBody>
      </p:sp>
      <p:sp>
        <p:nvSpPr>
          <p:cNvPr id="9" name="Shape 7"/>
          <p:cNvSpPr/>
          <p:nvPr/>
        </p:nvSpPr>
        <p:spPr>
          <a:xfrm>
            <a:off x="4663440" y="2587752"/>
            <a:ext cx="3931920" cy="1298448"/>
          </a:xfrm>
          <a:prstGeom prst="roundRect">
            <a:avLst>
              <a:gd name="adj" fmla="val 8451"/>
            </a:avLst>
          </a:prstGeom>
          <a:solidFill>
            <a:srgbClr val="FFF3DC"/>
          </a:solidFill>
          <a:ln w="19050">
            <a:solidFill>
              <a:srgbClr val="F5E6C8"/>
            </a:solidFill>
            <a:prstDash val="solid"/>
          </a:ln>
        </p:spPr>
      </p:sp>
      <p:sp>
        <p:nvSpPr>
          <p:cNvPr id="10" name="Text 8"/>
          <p:cNvSpPr/>
          <p:nvPr/>
        </p:nvSpPr>
        <p:spPr>
          <a:xfrm>
            <a:off x="4800600" y="2642616"/>
            <a:ext cx="3657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4800600" y="2843784"/>
            <a:ext cx="3657600" cy="97840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visitor's problem would be..."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legend matters because without it..."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tell this visitor to look for..."</a:t>
            </a:r>
            <a:endParaRPr lang="en-US" sz="1200" dirty="0"/>
          </a:p>
        </p:txBody>
      </p:sp>
      <p:sp>
        <p:nvSpPr>
          <p:cNvPr id="12" name="Shape 10"/>
          <p:cNvSpPr/>
          <p:nvPr/>
        </p:nvSpPr>
        <p:spPr>
          <a:xfrm>
            <a:off x="365760" y="3977640"/>
            <a:ext cx="8412480" cy="100584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48640" y="406908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48640" y="4325112"/>
            <a:ext cx="8046720" cy="566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WORST mistake a visitor might make without a legend?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map element is most important? Could you argue for any of the four?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a map work if it was missing just ONE of the four parts?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SPOT THE MISTAKE  |  ERROR ANALYSIS</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A student wrote this answer. What is wrong with it?</a:t>
            </a:r>
            <a:endParaRPr lang="en-US" sz="2400" dirty="0"/>
          </a:p>
        </p:txBody>
      </p:sp>
      <p:sp>
        <p:nvSpPr>
          <p:cNvPr id="4" name="Shape 2"/>
          <p:cNvSpPr/>
          <p:nvPr/>
        </p:nvSpPr>
        <p:spPr>
          <a:xfrm>
            <a:off x="365760" y="1143000"/>
            <a:ext cx="8412480" cy="1005840"/>
          </a:xfrm>
          <a:prstGeom prst="roundRect">
            <a:avLst>
              <a:gd name="adj" fmla="val 10909"/>
            </a:avLst>
          </a:prstGeom>
          <a:solidFill>
            <a:srgbClr val="FFF0F0"/>
          </a:solidFill>
          <a:ln w="25400">
            <a:solidFill>
              <a:srgbClr val="E8636B"/>
            </a:solidFill>
            <a:prstDash val="solid"/>
          </a:ln>
        </p:spPr>
      </p:sp>
      <p:sp>
        <p:nvSpPr>
          <p:cNvPr id="5" name="Text 3"/>
          <p:cNvSpPr/>
          <p:nvPr/>
        </p:nvSpPr>
        <p:spPr>
          <a:xfrm>
            <a:off x="548640" y="1216152"/>
            <a:ext cx="8046720" cy="201168"/>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 ANSWER</a:t>
            </a:r>
            <a:endParaRPr lang="en-US" sz="900" dirty="0"/>
          </a:p>
        </p:txBody>
      </p:sp>
      <p:sp>
        <p:nvSpPr>
          <p:cNvPr id="6" name="Text 4"/>
          <p:cNvSpPr/>
          <p:nvPr/>
        </p:nvSpPr>
        <p:spPr>
          <a:xfrm>
            <a:off x="548640" y="1444752"/>
            <a:ext cx="8046720" cy="640080"/>
          </a:xfrm>
          <a:prstGeom prst="rect">
            <a:avLst/>
          </a:prstGeom>
          <a:noFill/>
          <a:ln/>
        </p:spPr>
        <p:txBody>
          <a:bodyPr wrap="square" lIns="0" tIns="0" rIns="0" bIns="0" rtlCol="0" anchor="t"/>
          <a:lstStyle/>
          <a:p>
            <a:pPr indent="0" marL="0">
              <a:buNone/>
            </a:pPr>
            <a:r>
              <a:rPr lang="en-US" sz="1300" i="1" dirty="0">
                <a:solidFill>
                  <a:srgbClr val="5A0000"/>
                </a:solidFill>
                <a:latin typeface="Cambria" pitchFamily="34" charset="0"/>
                <a:ea typeface="Cambria" pitchFamily="34" charset="-122"/>
                <a:cs typeface="Cambria" pitchFamily="34" charset="-120"/>
              </a:rPr>
              <a:t>"Maps are important because they help you find places. The four parts are title, compass rose, scale, and legend. Every map needs these parts. That is why map elements are important."</a:t>
            </a:r>
            <a:endParaRPr lang="en-US" sz="1300" dirty="0"/>
          </a:p>
        </p:txBody>
      </p:sp>
      <p:sp>
        <p:nvSpPr>
          <p:cNvPr id="7" name="Shape 5"/>
          <p:cNvSpPr/>
          <p:nvPr/>
        </p:nvSpPr>
        <p:spPr>
          <a:xfrm>
            <a:off x="365760" y="2286000"/>
            <a:ext cx="4023360" cy="169164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548640" y="2377440"/>
            <a:ext cx="36576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48640" y="2633472"/>
            <a:ext cx="3657600" cy="12527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get right?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the student FORGET to explain?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difference between naming something and explaining what it DOES?</a:t>
            </a:r>
            <a:endParaRPr lang="en-US" sz="1100" dirty="0"/>
          </a:p>
        </p:txBody>
      </p:sp>
      <p:sp>
        <p:nvSpPr>
          <p:cNvPr id="10" name="Shape 8"/>
          <p:cNvSpPr/>
          <p:nvPr/>
        </p:nvSpPr>
        <p:spPr>
          <a:xfrm>
            <a:off x="4572000" y="2286000"/>
            <a:ext cx="4206240" cy="1691640"/>
          </a:xfrm>
          <a:prstGeom prst="roundRect">
            <a:avLst>
              <a:gd name="adj" fmla="val 6486"/>
            </a:avLst>
          </a:prstGeom>
          <a:solidFill>
            <a:srgbClr val="E3F8ED"/>
          </a:solidFill>
          <a:ln w="19050">
            <a:solidFill>
              <a:srgbClr val="34B76F"/>
            </a:solidFill>
            <a:prstDash val="solid"/>
          </a:ln>
        </p:spPr>
      </p:sp>
      <p:sp>
        <p:nvSpPr>
          <p:cNvPr id="11" name="Text 9"/>
          <p:cNvSpPr/>
          <p:nvPr/>
        </p:nvSpPr>
        <p:spPr>
          <a:xfrm>
            <a:off x="4754880" y="2359152"/>
            <a:ext cx="3840480" cy="22860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WHAT IS MISSING</a:t>
            </a:r>
            <a:endParaRPr lang="en-US" sz="900" dirty="0"/>
          </a:p>
        </p:txBody>
      </p:sp>
      <p:sp>
        <p:nvSpPr>
          <p:cNvPr id="12" name="Text 10"/>
          <p:cNvSpPr/>
          <p:nvPr/>
        </p:nvSpPr>
        <p:spPr>
          <a:xfrm>
            <a:off x="4754880" y="2633472"/>
            <a:ext cx="3840480" cy="1234440"/>
          </a:xfrm>
          <a:prstGeom prst="rect">
            <a:avLst/>
          </a:prstGeom>
          <a:noFill/>
          <a:ln/>
        </p:spPr>
        <p:txBody>
          <a:bodyPr wrap="square" lIns="0" tIns="0" rIns="0" bIns="0" rtlCol="0" anchor="t"/>
          <a:lstStyle/>
          <a:p>
            <a:pPr indent="0" marL="0">
              <a:buNone/>
            </a:pPr>
            <a:r>
              <a:rPr lang="en-US" sz="1100" dirty="0">
                <a:solidFill>
                  <a:srgbClr val="1A4A30"/>
                </a:solidFill>
                <a:latin typeface="Calibri" pitchFamily="34" charset="0"/>
                <a:ea typeface="Calibri" pitchFamily="34" charset="-122"/>
                <a:cs typeface="Calibri" pitchFamily="34" charset="-120"/>
              </a:rPr>
              <a:t>The student listed the four parts correctly but never explained what any of them DO. A strong answer names a part AND tells its job: 'The compass rose shows which direction is north so visitors know which way to travel.'</a:t>
            </a:r>
            <a:endParaRPr lang="en-US" sz="1100" dirty="0"/>
          </a:p>
        </p:txBody>
      </p:sp>
      <p:sp>
        <p:nvSpPr>
          <p:cNvPr id="13" name="Shape 11"/>
          <p:cNvSpPr/>
          <p:nvPr/>
        </p:nvSpPr>
        <p:spPr>
          <a:xfrm>
            <a:off x="365760" y="4041648"/>
            <a:ext cx="8412480" cy="960120"/>
          </a:xfrm>
          <a:prstGeom prst="roundRect">
            <a:avLst>
              <a:gd name="adj" fmla="val 11429"/>
            </a:avLst>
          </a:prstGeom>
          <a:solidFill>
            <a:srgbClr val="FFF3DC"/>
          </a:solidFill>
          <a:ln w="19050">
            <a:solidFill>
              <a:srgbClr val="F5E6C8"/>
            </a:solidFill>
            <a:prstDash val="solid"/>
          </a:ln>
        </p:spPr>
      </p:sp>
      <p:sp>
        <p:nvSpPr>
          <p:cNvPr id="14" name="Text 12"/>
          <p:cNvSpPr/>
          <p:nvPr/>
        </p:nvSpPr>
        <p:spPr>
          <a:xfrm>
            <a:off x="502920" y="409651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502920" y="4297680"/>
            <a:ext cx="813816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was right that..."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"But they forgot to explain..."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sentence would be: 'The [part] helps visitors because...'"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GUIDED PRACTICE  |  MAP CURATOR EXPLANATION</a:t>
            </a:r>
            <a:endParaRPr lang="en-US" sz="900" dirty="0"/>
          </a:p>
        </p:txBody>
      </p:sp>
      <p:sp>
        <p:nvSpPr>
          <p:cNvPr id="3" name="Text 1"/>
          <p:cNvSpPr/>
          <p:nvPr/>
        </p:nvSpPr>
        <p:spPr>
          <a:xfrm>
            <a:off x="365760" y="548640"/>
            <a:ext cx="8412480" cy="54864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Writing an Explanation Panel for Visitors</a:t>
            </a:r>
            <a:endParaRPr lang="en-US" sz="2400" dirty="0"/>
          </a:p>
        </p:txBody>
      </p:sp>
      <p:sp>
        <p:nvSpPr>
          <p:cNvPr id="4" name="Shape 2"/>
          <p:cNvSpPr/>
          <p:nvPr/>
        </p:nvSpPr>
        <p:spPr>
          <a:xfrm>
            <a:off x="365760" y="1188720"/>
            <a:ext cx="4114800" cy="2697480"/>
          </a:xfrm>
          <a:prstGeom prst="roundRect">
            <a:avLst>
              <a:gd name="adj" fmla="val 4068"/>
            </a:avLst>
          </a:prstGeom>
          <a:solidFill>
            <a:srgbClr val="EAF8FD"/>
          </a:solidFill>
          <a:ln w="25400">
            <a:solidFill>
              <a:srgbClr val="55C8E8"/>
            </a:solidFill>
            <a:prstDash val="solid"/>
          </a:ln>
        </p:spPr>
      </p:sp>
      <p:sp>
        <p:nvSpPr>
          <p:cNvPr id="5" name="Text 3"/>
          <p:cNvSpPr/>
          <p:nvPr/>
        </p:nvSpPr>
        <p:spPr>
          <a:xfrm>
            <a:off x="548640" y="1280160"/>
            <a:ext cx="3749040" cy="228600"/>
          </a:xfrm>
          <a:prstGeom prst="rect">
            <a:avLst/>
          </a:prstGeom>
          <a:noFill/>
          <a:ln/>
        </p:spPr>
        <p:txBody>
          <a:bodyPr wrap="square" lIns="0" tIns="0" rIns="0" bIns="0" rtlCol="0" anchor="ctr"/>
          <a:lstStyle/>
          <a:p>
            <a:pPr indent="0" marL="0">
              <a:buNone/>
            </a:pPr>
            <a:r>
              <a:rPr lang="en-US" sz="900" b="1" spc="150" kern="0" dirty="0">
                <a:solidFill>
                  <a:srgbClr val="1A6A8A"/>
                </a:solidFill>
                <a:latin typeface="Calibri" pitchFamily="34" charset="0"/>
                <a:ea typeface="Calibri" pitchFamily="34" charset="-122"/>
                <a:cs typeface="Calibri" pitchFamily="34" charset="-120"/>
              </a:rPr>
              <a:t>TEACHER MODELS</a:t>
            </a:r>
            <a:endParaRPr lang="en-US" sz="900" dirty="0"/>
          </a:p>
        </p:txBody>
      </p:sp>
      <p:sp>
        <p:nvSpPr>
          <p:cNvPr id="6" name="Text 4"/>
          <p:cNvSpPr/>
          <p:nvPr/>
        </p:nvSpPr>
        <p:spPr>
          <a:xfrm>
            <a:off x="548640" y="1554480"/>
            <a:ext cx="3749040" cy="25603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Watch how I think through it:</a:t>
            </a:r>
            <a:endParaRPr lang="en-US" sz="1200" dirty="0"/>
          </a:p>
        </p:txBody>
      </p:sp>
      <p:sp>
        <p:nvSpPr>
          <p:cNvPr id="7" name="Text 5"/>
          <p:cNvSpPr/>
          <p:nvPr/>
        </p:nvSpPr>
        <p:spPr>
          <a:xfrm>
            <a:off x="548640" y="1847088"/>
            <a:ext cx="3749040" cy="182880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First, I pick one map part - the scale. Then I ask: what does it DO? It shows how far apart things really are. Then: why does a visitor NEED it? Without it, you cannot tell if two cities are close or far. Now I write: 'The scale tells visitors how far apart things really are on the map, so they can plan how long a trip will take.'</a:t>
            </a:r>
            <a:endParaRPr lang="en-US" sz="1100" dirty="0"/>
          </a:p>
        </p:txBody>
      </p:sp>
      <p:sp>
        <p:nvSpPr>
          <p:cNvPr id="8" name="Shape 6"/>
          <p:cNvSpPr/>
          <p:nvPr/>
        </p:nvSpPr>
        <p:spPr>
          <a:xfrm>
            <a:off x="4663440" y="1188720"/>
            <a:ext cx="4114800" cy="2697480"/>
          </a:xfrm>
          <a:prstGeom prst="roundRect">
            <a:avLst>
              <a:gd name="adj" fmla="val 4068"/>
            </a:avLst>
          </a:prstGeom>
          <a:solidFill>
            <a:srgbClr val="FFF3DC"/>
          </a:solidFill>
          <a:ln w="25400">
            <a:solidFill>
              <a:srgbClr val="D4943A"/>
            </a:solidFill>
            <a:prstDash val="solid"/>
          </a:ln>
        </p:spPr>
      </p:sp>
      <p:sp>
        <p:nvSpPr>
          <p:cNvPr id="9" name="Text 7"/>
          <p:cNvSpPr/>
          <p:nvPr/>
        </p:nvSpPr>
        <p:spPr>
          <a:xfrm>
            <a:off x="4846320" y="1280160"/>
            <a:ext cx="3749040" cy="228600"/>
          </a:xfrm>
          <a:prstGeom prst="rect">
            <a:avLst/>
          </a:prstGeom>
          <a:noFill/>
          <a:ln/>
        </p:spPr>
        <p:txBody>
          <a:bodyPr wrap="square" lIns="0" tIns="0" rIns="0" bIns="0" rtlCol="0" anchor="ctr"/>
          <a:lstStyle/>
          <a:p>
            <a:pPr indent="0" marL="0">
              <a:buNone/>
            </a:pPr>
            <a:r>
              <a:rPr lang="en-US" sz="900" b="1" spc="150" kern="0" dirty="0">
                <a:solidFill>
                  <a:srgbClr val="8A5A00"/>
                </a:solidFill>
                <a:latin typeface="Calibri" pitchFamily="34" charset="0"/>
                <a:ea typeface="Calibri" pitchFamily="34" charset="-122"/>
                <a:cs typeface="Calibri" pitchFamily="34" charset="-120"/>
              </a:rPr>
              <a:t>YOUR TURN - WITH SUPPORT</a:t>
            </a:r>
            <a:endParaRPr lang="en-US" sz="900" dirty="0"/>
          </a:p>
        </p:txBody>
      </p:sp>
      <p:sp>
        <p:nvSpPr>
          <p:cNvPr id="10" name="Text 8"/>
          <p:cNvSpPr/>
          <p:nvPr/>
        </p:nvSpPr>
        <p:spPr>
          <a:xfrm>
            <a:off x="4846320" y="1554480"/>
            <a:ext cx="3749040" cy="25603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Use this checklist:</a:t>
            </a:r>
            <a:endParaRPr lang="en-US" sz="1200" dirty="0"/>
          </a:p>
        </p:txBody>
      </p:sp>
      <p:sp>
        <p:nvSpPr>
          <p:cNvPr id="11" name="Text 9"/>
          <p:cNvSpPr/>
          <p:nvPr/>
        </p:nvSpPr>
        <p:spPr>
          <a:xfrm>
            <a:off x="4846320" y="1847088"/>
            <a:ext cx="3749040" cy="10058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  1. Name ONE map element</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(title, compass rose, scale, or legend)</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2. Tell what it DOES for the reader</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3. Explain what would go WRONG without it</a:t>
            </a:r>
            <a:endParaRPr lang="en-US" sz="1200" dirty="0"/>
          </a:p>
        </p:txBody>
      </p:sp>
      <p:sp>
        <p:nvSpPr>
          <p:cNvPr id="12" name="Shape 10"/>
          <p:cNvSpPr/>
          <p:nvPr/>
        </p:nvSpPr>
        <p:spPr>
          <a:xfrm>
            <a:off x="4663440" y="2944368"/>
            <a:ext cx="4114800" cy="896112"/>
          </a:xfrm>
          <a:prstGeom prst="roundRect">
            <a:avLst>
              <a:gd name="adj" fmla="val 12245"/>
            </a:avLst>
          </a:prstGeom>
          <a:solidFill>
            <a:srgbClr val="FFF3DC"/>
          </a:solidFill>
          <a:ln w="19050">
            <a:solidFill>
              <a:srgbClr val="F5E6C8"/>
            </a:solidFill>
            <a:prstDash val="solid"/>
          </a:ln>
        </p:spPr>
      </p:sp>
      <p:sp>
        <p:nvSpPr>
          <p:cNvPr id="13" name="Text 11"/>
          <p:cNvSpPr/>
          <p:nvPr/>
        </p:nvSpPr>
        <p:spPr>
          <a:xfrm>
            <a:off x="4800600" y="2999232"/>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4800600" y="3200400"/>
            <a:ext cx="3840480" cy="57607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[map element] helps visitors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it, a visitor would..."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THE TRICKY ONE  |  LET'S DEBATE</a:t>
            </a:r>
            <a:endParaRPr lang="en-US" sz="900" dirty="0"/>
          </a:p>
        </p:txBody>
      </p:sp>
      <p:sp>
        <p:nvSpPr>
          <p:cNvPr id="3" name="Text 1"/>
          <p:cNvSpPr/>
          <p:nvPr/>
        </p:nvSpPr>
        <p:spPr>
          <a:xfrm>
            <a:off x="365760" y="548640"/>
            <a:ext cx="8412480" cy="566928"/>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Which ONE map element is most important for visitors?</a:t>
            </a:r>
            <a:endParaRPr lang="en-US" sz="2400" dirty="0"/>
          </a:p>
        </p:txBody>
      </p:sp>
      <p:sp>
        <p:nvSpPr>
          <p:cNvPr id="4" name="Shape 2"/>
          <p:cNvSpPr/>
          <p:nvPr/>
        </p:nvSpPr>
        <p:spPr>
          <a:xfrm>
            <a:off x="365760" y="1234440"/>
            <a:ext cx="1965960" cy="1691640"/>
          </a:xfrm>
          <a:prstGeom prst="roundRect">
            <a:avLst>
              <a:gd name="adj" fmla="val 6486"/>
            </a:avLst>
          </a:prstGeom>
          <a:solidFill>
            <a:srgbClr val="1A8A7D"/>
          </a:solidFill>
          <a:ln/>
          <a:effectLst>
            <a:outerShdw sx="100000" sy="100000" kx="0" ky="0" algn="bl" rotWithShape="0" blurRad="63500" dist="25400" dir="8100000">
              <a:srgbClr val="000000">
                <a:alpha val="15000"/>
              </a:srgbClr>
            </a:outerShdw>
          </a:effectLst>
        </p:spPr>
      </p:sp>
      <p:sp>
        <p:nvSpPr>
          <p:cNvPr id="5" name="Text 3"/>
          <p:cNvSpPr/>
          <p:nvPr/>
        </p:nvSpPr>
        <p:spPr>
          <a:xfrm>
            <a:off x="365760" y="1344168"/>
            <a:ext cx="19659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Title</a:t>
            </a:r>
            <a:endParaRPr lang="en-US" sz="1400" dirty="0"/>
          </a:p>
        </p:txBody>
      </p:sp>
      <p:sp>
        <p:nvSpPr>
          <p:cNvPr id="6" name="Text 4"/>
          <p:cNvSpPr/>
          <p:nvPr/>
        </p:nvSpPr>
        <p:spPr>
          <a:xfrm>
            <a:off x="457200" y="1737360"/>
            <a:ext cx="1783080" cy="107899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Without a title, visitors do not even know what place they are looking at.</a:t>
            </a:r>
            <a:endParaRPr lang="en-US" sz="1000" dirty="0"/>
          </a:p>
        </p:txBody>
      </p:sp>
      <p:sp>
        <p:nvSpPr>
          <p:cNvPr id="7" name="Shape 5"/>
          <p:cNvSpPr/>
          <p:nvPr/>
        </p:nvSpPr>
        <p:spPr>
          <a:xfrm>
            <a:off x="2468880" y="1234440"/>
            <a:ext cx="1965960" cy="1691640"/>
          </a:xfrm>
          <a:prstGeom prst="roundRect">
            <a:avLst>
              <a:gd name="adj" fmla="val 6486"/>
            </a:avLst>
          </a:prstGeom>
          <a:solidFill>
            <a:srgbClr val="D4943A"/>
          </a:solidFill>
          <a:ln/>
          <a:effectLst>
            <a:outerShdw sx="100000" sy="100000" kx="0" ky="0" algn="bl" rotWithShape="0" blurRad="63500" dist="25400" dir="8100000">
              <a:srgbClr val="000000">
                <a:alpha val="15000"/>
              </a:srgbClr>
            </a:outerShdw>
          </a:effectLst>
        </p:spPr>
      </p:sp>
      <p:sp>
        <p:nvSpPr>
          <p:cNvPr id="8" name="Text 6"/>
          <p:cNvSpPr/>
          <p:nvPr/>
        </p:nvSpPr>
        <p:spPr>
          <a:xfrm>
            <a:off x="2468880" y="1344168"/>
            <a:ext cx="19659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Compass Rose</a:t>
            </a:r>
            <a:endParaRPr lang="en-US" sz="1300" dirty="0"/>
          </a:p>
        </p:txBody>
      </p:sp>
      <p:sp>
        <p:nvSpPr>
          <p:cNvPr id="9" name="Text 7"/>
          <p:cNvSpPr/>
          <p:nvPr/>
        </p:nvSpPr>
        <p:spPr>
          <a:xfrm>
            <a:off x="2560320" y="1737360"/>
            <a:ext cx="1783080" cy="107899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Without directions, visitors might travel the completely wrong way.</a:t>
            </a:r>
            <a:endParaRPr lang="en-US" sz="1000" dirty="0"/>
          </a:p>
        </p:txBody>
      </p:sp>
      <p:sp>
        <p:nvSpPr>
          <p:cNvPr id="10" name="Shape 8"/>
          <p:cNvSpPr/>
          <p:nvPr/>
        </p:nvSpPr>
        <p:spPr>
          <a:xfrm>
            <a:off x="4572000" y="1234440"/>
            <a:ext cx="1965960" cy="1691640"/>
          </a:xfrm>
          <a:prstGeom prst="roundRect">
            <a:avLst>
              <a:gd name="adj" fmla="val 6486"/>
            </a:avLst>
          </a:prstGeom>
          <a:solidFill>
            <a:srgbClr val="8B6FC0"/>
          </a:solidFill>
          <a:ln/>
          <a:effectLst>
            <a:outerShdw sx="100000" sy="100000" kx="0" ky="0" algn="bl" rotWithShape="0" blurRad="63500" dist="25400" dir="8100000">
              <a:srgbClr val="000000">
                <a:alpha val="15000"/>
              </a:srgbClr>
            </a:outerShdw>
          </a:effectLst>
        </p:spPr>
      </p:sp>
      <p:sp>
        <p:nvSpPr>
          <p:cNvPr id="11" name="Text 9"/>
          <p:cNvSpPr/>
          <p:nvPr/>
        </p:nvSpPr>
        <p:spPr>
          <a:xfrm>
            <a:off x="4572000" y="1344168"/>
            <a:ext cx="19659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Scale</a:t>
            </a:r>
            <a:endParaRPr lang="en-US" sz="1400" dirty="0"/>
          </a:p>
        </p:txBody>
      </p:sp>
      <p:sp>
        <p:nvSpPr>
          <p:cNvPr id="12" name="Text 10"/>
          <p:cNvSpPr/>
          <p:nvPr/>
        </p:nvSpPr>
        <p:spPr>
          <a:xfrm>
            <a:off x="4663440" y="1737360"/>
            <a:ext cx="1783080" cy="107899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Without a scale, visitors cannot plan a trip or know how far to travel.</a:t>
            </a:r>
            <a:endParaRPr lang="en-US" sz="1000" dirty="0"/>
          </a:p>
        </p:txBody>
      </p:sp>
      <p:sp>
        <p:nvSpPr>
          <p:cNvPr id="13" name="Shape 11"/>
          <p:cNvSpPr/>
          <p:nvPr/>
        </p:nvSpPr>
        <p:spPr>
          <a:xfrm>
            <a:off x="6675120" y="1234440"/>
            <a:ext cx="1965960" cy="1691640"/>
          </a:xfrm>
          <a:prstGeom prst="roundRect">
            <a:avLst>
              <a:gd name="adj" fmla="val 6486"/>
            </a:avLst>
          </a:prstGeom>
          <a:solidFill>
            <a:srgbClr val="E8636B"/>
          </a:solidFill>
          <a:ln/>
          <a:effectLst>
            <a:outerShdw sx="100000" sy="100000" kx="0" ky="0" algn="bl" rotWithShape="0" blurRad="63500" dist="25400" dir="8100000">
              <a:srgbClr val="000000">
                <a:alpha val="15000"/>
              </a:srgbClr>
            </a:outerShdw>
          </a:effectLst>
        </p:spPr>
      </p:sp>
      <p:sp>
        <p:nvSpPr>
          <p:cNvPr id="14" name="Text 12"/>
          <p:cNvSpPr/>
          <p:nvPr/>
        </p:nvSpPr>
        <p:spPr>
          <a:xfrm>
            <a:off x="6675120" y="1344168"/>
            <a:ext cx="19659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Legend</a:t>
            </a:r>
            <a:endParaRPr lang="en-US" sz="1400" dirty="0"/>
          </a:p>
        </p:txBody>
      </p:sp>
      <p:sp>
        <p:nvSpPr>
          <p:cNvPr id="15" name="Text 13"/>
          <p:cNvSpPr/>
          <p:nvPr/>
        </p:nvSpPr>
        <p:spPr>
          <a:xfrm>
            <a:off x="6766560" y="1737360"/>
            <a:ext cx="1783080" cy="107899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Without a legend, symbols are meaningless - the whole map is unreadable.</a:t>
            </a:r>
            <a:endParaRPr lang="en-US" sz="1000" dirty="0"/>
          </a:p>
        </p:txBody>
      </p:sp>
      <p:sp>
        <p:nvSpPr>
          <p:cNvPr id="16" name="Shape 14"/>
          <p:cNvSpPr/>
          <p:nvPr/>
        </p:nvSpPr>
        <p:spPr>
          <a:xfrm>
            <a:off x="365760" y="3035808"/>
            <a:ext cx="8412480" cy="960120"/>
          </a:xfrm>
          <a:prstGeom prst="roundRect">
            <a:avLst>
              <a:gd name="adj" fmla="val 11429"/>
            </a:avLst>
          </a:prstGeom>
          <a:solidFill>
            <a:srgbClr val="FFF3DC"/>
          </a:solidFill>
          <a:ln w="19050">
            <a:solidFill>
              <a:srgbClr val="F5E6C8"/>
            </a:solidFill>
            <a:prstDash val="solid"/>
          </a:ln>
        </p:spPr>
      </p:sp>
      <p:sp>
        <p:nvSpPr>
          <p:cNvPr id="17" name="Text 15"/>
          <p:cNvSpPr/>
          <p:nvPr/>
        </p:nvSpPr>
        <p:spPr>
          <a:xfrm>
            <a:off x="502920" y="309067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502920" y="3291840"/>
            <a:ext cx="813816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[element] is most important because the strongest reason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might argue [element] instead because..."</a:t>
            </a:r>
            <a:endParaRPr lang="en-US" sz="1200" dirty="0"/>
          </a:p>
        </p:txBody>
      </p:sp>
      <p:sp>
        <p:nvSpPr>
          <p:cNvPr id="19" name="Shape 17"/>
          <p:cNvSpPr/>
          <p:nvPr/>
        </p:nvSpPr>
        <p:spPr>
          <a:xfrm>
            <a:off x="365760" y="4069080"/>
            <a:ext cx="8412480" cy="960120"/>
          </a:xfrm>
          <a:prstGeom prst="roundRect">
            <a:avLst>
              <a:gd name="adj" fmla="val 14286"/>
            </a:avLst>
          </a:prstGeom>
          <a:solidFill>
            <a:srgbClr val="1A2D5A"/>
          </a:solidFill>
          <a:ln/>
          <a:effectLst>
            <a:outerShdw sx="100000" sy="100000" kx="0" ky="0" algn="bl" rotWithShape="0" blurRad="101600" dist="38100" dir="8100000">
              <a:srgbClr val="000000">
                <a:alpha val="20000"/>
              </a:srgbClr>
            </a:outerShdw>
          </a:effectLst>
        </p:spPr>
      </p:sp>
      <p:sp>
        <p:nvSpPr>
          <p:cNvPr id="20" name="Text 18"/>
          <p:cNvSpPr/>
          <p:nvPr/>
        </p:nvSpPr>
        <p:spPr>
          <a:xfrm>
            <a:off x="548640" y="416052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1" name="Text 19"/>
          <p:cNvSpPr/>
          <p:nvPr/>
        </p:nvSpPr>
        <p:spPr>
          <a:xfrm>
            <a:off x="548640" y="4416552"/>
            <a:ext cx="8046720" cy="521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there one RIGHT answer to this question?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someone else chose a different element, could they also be right?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your choice tell you about what matters most on a map?</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SELF-CHECK REVIEW  |  PULSE CHECK</a:t>
            </a:r>
            <a:endParaRPr lang="en-US" sz="900" dirty="0"/>
          </a:p>
        </p:txBody>
      </p:sp>
      <p:sp>
        <p:nvSpPr>
          <p:cNvPr id="3" name="Text 1"/>
          <p:cNvSpPr/>
          <p:nvPr/>
        </p:nvSpPr>
        <p:spPr>
          <a:xfrm>
            <a:off x="365760" y="548640"/>
            <a:ext cx="8412480" cy="50292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Three questions - think first, then check.</a:t>
            </a:r>
            <a:endParaRPr lang="en-US" sz="2400" dirty="0"/>
          </a:p>
        </p:txBody>
      </p:sp>
      <p:sp>
        <p:nvSpPr>
          <p:cNvPr id="4" name="Shape 2"/>
          <p:cNvSpPr/>
          <p:nvPr/>
        </p:nvSpPr>
        <p:spPr>
          <a:xfrm>
            <a:off x="365760" y="1170432"/>
            <a:ext cx="8412480" cy="1005840"/>
          </a:xfrm>
          <a:prstGeom prst="roundRect">
            <a:avLst>
              <a:gd name="adj" fmla="val 9091"/>
            </a:avLst>
          </a:prstGeom>
          <a:solidFill>
            <a:srgbClr val="F0F2F8"/>
          </a:solidFill>
          <a:ln w="12700">
            <a:solidFill>
              <a:srgbClr val="D0D8E8"/>
            </a:solidFill>
            <a:prstDash val="solid"/>
          </a:ln>
        </p:spPr>
      </p:sp>
      <p:sp>
        <p:nvSpPr>
          <p:cNvPr id="5" name="Text 3"/>
          <p:cNvSpPr/>
          <p:nvPr/>
        </p:nvSpPr>
        <p:spPr>
          <a:xfrm>
            <a:off x="548640" y="1243584"/>
            <a:ext cx="8046720" cy="3200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Q1: What does the title of a map tell you?</a:t>
            </a:r>
            <a:endParaRPr lang="en-US" sz="1200" dirty="0"/>
          </a:p>
        </p:txBody>
      </p:sp>
      <p:sp>
        <p:nvSpPr>
          <p:cNvPr id="6" name="Text 4"/>
          <p:cNvSpPr/>
          <p:nvPr/>
        </p:nvSpPr>
        <p:spPr>
          <a:xfrm>
            <a:off x="548640" y="1591056"/>
            <a:ext cx="8046720" cy="5029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What the map is about - the place or topic it shows.</a:t>
            </a:r>
            <a:endParaRPr lang="en-US" sz="1100" dirty="0"/>
          </a:p>
        </p:txBody>
      </p:sp>
      <p:sp>
        <p:nvSpPr>
          <p:cNvPr id="7" name="Shape 5"/>
          <p:cNvSpPr/>
          <p:nvPr/>
        </p:nvSpPr>
        <p:spPr>
          <a:xfrm>
            <a:off x="365760" y="2267712"/>
            <a:ext cx="8412480" cy="1005840"/>
          </a:xfrm>
          <a:prstGeom prst="roundRect">
            <a:avLst>
              <a:gd name="adj" fmla="val 9091"/>
            </a:avLst>
          </a:prstGeom>
          <a:solidFill>
            <a:srgbClr val="F0F2F8"/>
          </a:solidFill>
          <a:ln w="12700">
            <a:solidFill>
              <a:srgbClr val="D0D8E8"/>
            </a:solidFill>
            <a:prstDash val="solid"/>
          </a:ln>
        </p:spPr>
      </p:sp>
      <p:sp>
        <p:nvSpPr>
          <p:cNvPr id="8" name="Text 6"/>
          <p:cNvSpPr/>
          <p:nvPr/>
        </p:nvSpPr>
        <p:spPr>
          <a:xfrm>
            <a:off x="548640" y="2340864"/>
            <a:ext cx="8046720" cy="3200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Q2: Which map element shows you which direction is north?</a:t>
            </a:r>
            <a:endParaRPr lang="en-US" sz="1200" dirty="0"/>
          </a:p>
        </p:txBody>
      </p:sp>
      <p:sp>
        <p:nvSpPr>
          <p:cNvPr id="9" name="Text 7"/>
          <p:cNvSpPr/>
          <p:nvPr/>
        </p:nvSpPr>
        <p:spPr>
          <a:xfrm>
            <a:off x="548640" y="2688336"/>
            <a:ext cx="8046720" cy="5029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The compass rose - it shows north, south, east, and west.</a:t>
            </a:r>
            <a:endParaRPr lang="en-US" sz="1100" dirty="0"/>
          </a:p>
        </p:txBody>
      </p:sp>
      <p:sp>
        <p:nvSpPr>
          <p:cNvPr id="10" name="Shape 8"/>
          <p:cNvSpPr/>
          <p:nvPr/>
        </p:nvSpPr>
        <p:spPr>
          <a:xfrm>
            <a:off x="365760" y="3364992"/>
            <a:ext cx="8412480" cy="1005840"/>
          </a:xfrm>
          <a:prstGeom prst="roundRect">
            <a:avLst>
              <a:gd name="adj" fmla="val 9091"/>
            </a:avLst>
          </a:prstGeom>
          <a:solidFill>
            <a:srgbClr val="F0F2F8"/>
          </a:solidFill>
          <a:ln w="12700">
            <a:solidFill>
              <a:srgbClr val="D0D8E8"/>
            </a:solidFill>
            <a:prstDash val="solid"/>
          </a:ln>
        </p:spPr>
      </p:sp>
      <p:sp>
        <p:nvSpPr>
          <p:cNvPr id="11" name="Text 9"/>
          <p:cNvSpPr/>
          <p:nvPr/>
        </p:nvSpPr>
        <p:spPr>
          <a:xfrm>
            <a:off x="548640" y="3438144"/>
            <a:ext cx="8046720" cy="3200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Q3: A map shows a star symbol next to a city. Where do you look to find out what the star means?</a:t>
            </a:r>
            <a:endParaRPr lang="en-US" sz="1200" dirty="0"/>
          </a:p>
        </p:txBody>
      </p:sp>
      <p:sp>
        <p:nvSpPr>
          <p:cNvPr id="12" name="Text 10"/>
          <p:cNvSpPr/>
          <p:nvPr/>
        </p:nvSpPr>
        <p:spPr>
          <a:xfrm>
            <a:off x="548640" y="3785616"/>
            <a:ext cx="8046720" cy="5029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The legend (also called the map key) - it explains what every symbol and color means.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ASSIGNMENT  |  MAP CURATOR EVIDENCE</a:t>
            </a:r>
            <a:endParaRPr lang="en-US" sz="900" dirty="0"/>
          </a:p>
        </p:txBody>
      </p:sp>
      <p:sp>
        <p:nvSpPr>
          <p:cNvPr id="3" name="Text 1"/>
          <p:cNvSpPr/>
          <p:nvPr/>
        </p:nvSpPr>
        <p:spPr>
          <a:xfrm>
            <a:off x="365760" y="548640"/>
            <a:ext cx="8412480" cy="530352"/>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Three things to complete in Canvas</a:t>
            </a:r>
            <a:endParaRPr lang="en-US" sz="2600" dirty="0"/>
          </a:p>
        </p:txBody>
      </p:sp>
      <p:sp>
        <p:nvSpPr>
          <p:cNvPr id="4" name="Shape 2"/>
          <p:cNvSpPr/>
          <p:nvPr/>
        </p:nvSpPr>
        <p:spPr>
          <a:xfrm>
            <a:off x="365760" y="1188720"/>
            <a:ext cx="4114800" cy="2651760"/>
          </a:xfrm>
          <a:prstGeom prst="roundRect">
            <a:avLst>
              <a:gd name="adj" fmla="val 4138"/>
            </a:avLst>
          </a:prstGeom>
          <a:solidFill>
            <a:srgbClr val="F0F2F8"/>
          </a:solidFill>
          <a:ln w="19050">
            <a:solidFill>
              <a:srgbClr val="D0D8E8"/>
            </a:solidFill>
            <a:prstDash val="solid"/>
          </a:ln>
        </p:spPr>
      </p:sp>
      <p:sp>
        <p:nvSpPr>
          <p:cNvPr id="5" name="Text 3"/>
          <p:cNvSpPr/>
          <p:nvPr/>
        </p:nvSpPr>
        <p:spPr>
          <a:xfrm>
            <a:off x="548640" y="1280160"/>
            <a:ext cx="3749040" cy="228600"/>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EVIDENCE QUESTIONS</a:t>
            </a:r>
            <a:endParaRPr lang="en-US" sz="900" dirty="0"/>
          </a:p>
        </p:txBody>
      </p:sp>
      <p:sp>
        <p:nvSpPr>
          <p:cNvPr id="6" name="Text 4"/>
          <p:cNvSpPr/>
          <p:nvPr/>
        </p:nvSpPr>
        <p:spPr>
          <a:xfrm>
            <a:off x="548640" y="1554480"/>
            <a:ext cx="3749040" cy="210312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Q1: Name the four parts every map needs. Why is each one important for the reader?</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List all four elements and tell what each one does.</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Q2: Imagine a visitor picks up a map that has no legend. What problem would they have?</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Describe what would happen and explain why the legend matters.</a:t>
            </a:r>
            <a:endParaRPr lang="en-US" sz="1100" dirty="0"/>
          </a:p>
        </p:txBody>
      </p:sp>
      <p:sp>
        <p:nvSpPr>
          <p:cNvPr id="7" name="Shape 5"/>
          <p:cNvSpPr/>
          <p:nvPr/>
        </p:nvSpPr>
        <p:spPr>
          <a:xfrm>
            <a:off x="4663440" y="1188720"/>
            <a:ext cx="4114800" cy="2651760"/>
          </a:xfrm>
          <a:prstGeom prst="roundRect">
            <a:avLst>
              <a:gd name="adj" fmla="val 4138"/>
            </a:avLst>
          </a:prstGeom>
          <a:solidFill>
            <a:srgbClr val="FFF3DC"/>
          </a:solidFill>
          <a:ln w="19050">
            <a:solidFill>
              <a:srgbClr val="D4943A"/>
            </a:solidFill>
            <a:prstDash val="solid"/>
          </a:ln>
        </p:spPr>
      </p:sp>
      <p:sp>
        <p:nvSpPr>
          <p:cNvPr id="8" name="Text 6"/>
          <p:cNvSpPr/>
          <p:nvPr/>
        </p:nvSpPr>
        <p:spPr>
          <a:xfrm>
            <a:off x="4846320" y="1280160"/>
            <a:ext cx="3749040" cy="228600"/>
          </a:xfrm>
          <a:prstGeom prst="rect">
            <a:avLst/>
          </a:prstGeom>
          <a:noFill/>
          <a:ln/>
        </p:spPr>
        <p:txBody>
          <a:bodyPr wrap="square" lIns="0" tIns="0" rIns="0" bIns="0" rtlCol="0" anchor="ctr"/>
          <a:lstStyle/>
          <a:p>
            <a:pPr indent="0" marL="0">
              <a:buNone/>
            </a:pPr>
            <a:r>
              <a:rPr lang="en-US" sz="900" b="1" spc="150" kern="0" dirty="0">
                <a:solidFill>
                  <a:srgbClr val="8A5A00"/>
                </a:solidFill>
                <a:latin typeface="Calibri" pitchFamily="34" charset="0"/>
                <a:ea typeface="Calibri" pitchFamily="34" charset="-122"/>
                <a:cs typeface="Calibri" pitchFamily="34" charset="-120"/>
              </a:rPr>
              <a:t>CURATOR TASK + CHRONICLE</a:t>
            </a:r>
            <a:endParaRPr lang="en-US" sz="900" dirty="0"/>
          </a:p>
        </p:txBody>
      </p:sp>
      <p:sp>
        <p:nvSpPr>
          <p:cNvPr id="9" name="Text 7"/>
          <p:cNvSpPr/>
          <p:nvPr/>
        </p:nvSpPr>
        <p:spPr>
          <a:xfrm>
            <a:off x="4846320" y="1554480"/>
            <a:ext cx="3749040" cy="210312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Curator Task: Choose ONE map element. Write 2-3 sentences: What does it do? Why do visitors need it to read the map?</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Curator's Chronicle: Finish this sentence:</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'In this exhibit, I learned that _____ because _____.</a:t>
            </a:r>
            <a:endParaRPr lang="en-US" sz="1100" dirty="0"/>
          </a:p>
          <a:p>
            <a:pPr indent="0" marL="0">
              <a:buNone/>
            </a:pP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Then: copy or download and submit to Canvas.</a:t>
            </a:r>
            <a:endParaRPr lang="en-US" sz="1100" dirty="0"/>
          </a:p>
        </p:txBody>
      </p:sp>
      <p:sp>
        <p:nvSpPr>
          <p:cNvPr id="10" name="Shape 8"/>
          <p:cNvSpPr/>
          <p:nvPr/>
        </p:nvSpPr>
        <p:spPr>
          <a:xfrm>
            <a:off x="365760" y="3977640"/>
            <a:ext cx="8412480" cy="100584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548640" y="406908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548640" y="4325112"/>
            <a:ext cx="8046720" cy="566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For Q1, what is the difference between listing and explaining?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For the Curator Task, which element would you choose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a Curator's Chronicle sentence strong?</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411480"/>
            <a:ext cx="82296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GREAT MAP ROOM  |  CERTIFIED</a:t>
            </a:r>
            <a:endParaRPr lang="en-US" sz="900" dirty="0"/>
          </a:p>
        </p:txBody>
      </p:sp>
      <p:sp>
        <p:nvSpPr>
          <p:cNvPr id="6" name="Text 3"/>
          <p:cNvSpPr/>
          <p:nvPr/>
        </p:nvSpPr>
        <p:spPr>
          <a:xfrm>
            <a:off x="457200" y="749808"/>
            <a:ext cx="8229600" cy="1280160"/>
          </a:xfrm>
          <a:prstGeom prst="rect">
            <a:avLst/>
          </a:prstGeom>
          <a:noFill/>
          <a:ln/>
        </p:spPr>
        <p:txBody>
          <a:bodyPr wrap="square" lIns="0" tIns="0" rIns="0" bIns="0" rtlCol="0" anchor="ctr"/>
          <a:lstStyle/>
          <a:p>
            <a:pPr algn="ctr" indent="0" marL="0">
              <a:buNone/>
            </a:pPr>
            <a:r>
              <a:rPr lang="en-US" sz="4400" b="1" dirty="0">
                <a:solidFill>
                  <a:srgbClr val="D4943A"/>
                </a:solidFill>
                <a:latin typeface="Cambria" pitchFamily="34" charset="0"/>
                <a:ea typeface="Cambria" pitchFamily="34" charset="-122"/>
                <a:cs typeface="Cambria" pitchFamily="34" charset="-120"/>
              </a:rPr>
              <a:t>Great Work,</a:t>
            </a:r>
            <a:endParaRPr lang="en-US" sz="4400" dirty="0"/>
          </a:p>
          <a:p>
            <a:pPr algn="ctr" indent="0" marL="0">
              <a:buNone/>
            </a:pPr>
            <a:r>
              <a:rPr lang="en-US" sz="4400" b="1" dirty="0">
                <a:solidFill>
                  <a:srgbClr val="D4943A"/>
                </a:solidFill>
                <a:latin typeface="Cambria" pitchFamily="34" charset="0"/>
                <a:ea typeface="Cambria" pitchFamily="34" charset="-122"/>
                <a:cs typeface="Cambria" pitchFamily="34" charset="-120"/>
              </a:rPr>
              <a:t>Map Curator!</a:t>
            </a:r>
            <a:endParaRPr lang="en-US" sz="4400" dirty="0"/>
          </a:p>
        </p:txBody>
      </p:sp>
      <p:sp>
        <p:nvSpPr>
          <p:cNvPr id="7" name="Shape 4"/>
          <p:cNvSpPr/>
          <p:nvPr/>
        </p:nvSpPr>
        <p:spPr>
          <a:xfrm>
            <a:off x="1371600" y="2148840"/>
            <a:ext cx="6400800" cy="1417320"/>
          </a:xfrm>
          <a:prstGeom prst="roundRect">
            <a:avLst>
              <a:gd name="adj" fmla="val 9677"/>
            </a:avLst>
          </a:prstGeom>
          <a:solidFill>
            <a:srgbClr val="1A2D5A"/>
          </a:solidFill>
          <a:ln/>
          <a:effectLst>
            <a:outerShdw sx="100000" sy="100000" kx="0" ky="0" algn="bl" rotWithShape="0" blurRad="101600" dist="38100" dir="8100000">
              <a:srgbClr val="000000">
                <a:alpha val="20000"/>
              </a:srgbClr>
            </a:outerShdw>
          </a:effectLst>
        </p:spPr>
      </p:sp>
      <p:sp>
        <p:nvSpPr>
          <p:cNvPr id="8" name="Text 5"/>
          <p:cNvSpPr/>
          <p:nvPr/>
        </p:nvSpPr>
        <p:spPr>
          <a:xfrm>
            <a:off x="1554480" y="2267712"/>
            <a:ext cx="6035040" cy="54864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You identified the four essential map elements and explained why visitors depend on them.</a:t>
            </a:r>
            <a:endParaRPr lang="en-US" sz="1400" dirty="0"/>
          </a:p>
        </p:txBody>
      </p:sp>
      <p:sp>
        <p:nvSpPr>
          <p:cNvPr id="9" name="Text 6"/>
          <p:cNvSpPr/>
          <p:nvPr/>
        </p:nvSpPr>
        <p:spPr>
          <a:xfrm>
            <a:off x="1554480" y="2834640"/>
            <a:ext cx="6035040" cy="594360"/>
          </a:xfrm>
          <a:prstGeom prst="rect">
            <a:avLst/>
          </a:prstGeom>
          <a:noFill/>
          <a:ln/>
        </p:spPr>
        <p:txBody>
          <a:bodyPr wrap="square" lIns="0" tIns="0" rIns="0" bIns="0" rtlCol="0" anchor="ctr"/>
          <a:lstStyle/>
          <a:p>
            <a:pPr algn="ctr" indent="0" marL="0">
              <a:buNone/>
            </a:pPr>
            <a:r>
              <a:rPr lang="en-US" sz="1800" b="1" dirty="0">
                <a:solidFill>
                  <a:srgbClr val="D4943A"/>
                </a:solidFill>
                <a:latin typeface="Cambria" pitchFamily="34" charset="0"/>
                <a:ea typeface="Cambria" pitchFamily="34" charset="-122"/>
                <a:cs typeface="Cambria" pitchFamily="34" charset="-120"/>
              </a:rPr>
              <a:t>Title  |  Compass Rose  |  Scale  |  Legend</a:t>
            </a:r>
            <a:endParaRPr lang="en-US" sz="1800" dirty="0"/>
          </a:p>
        </p:txBody>
      </p:sp>
      <p:sp>
        <p:nvSpPr>
          <p:cNvPr id="10" name="Text 7"/>
          <p:cNvSpPr/>
          <p:nvPr/>
        </p:nvSpPr>
        <p:spPr>
          <a:xfrm>
            <a:off x="731520" y="3749040"/>
            <a:ext cx="7680960" cy="457200"/>
          </a:xfrm>
          <a:prstGeom prst="rect">
            <a:avLst/>
          </a:prstGeom>
          <a:noFill/>
          <a:ln/>
        </p:spPr>
        <p:txBody>
          <a:bodyPr wrap="square" lIns="0" tIns="0" rIns="0" bIns="0" rtlCol="0" anchor="ctr"/>
          <a:lstStyle/>
          <a:p>
            <a:pPr algn="ctr" indent="0" marL="0">
              <a:buNone/>
            </a:pPr>
            <a:r>
              <a:rPr lang="en-US" sz="1300" i="1" dirty="0">
                <a:solidFill>
                  <a:srgbClr val="55C8E8"/>
                </a:solidFill>
                <a:latin typeface="Calibri" pitchFamily="34" charset="0"/>
                <a:ea typeface="Calibri" pitchFamily="34" charset="-122"/>
                <a:cs typeface="Calibri" pitchFamily="34" charset="-120"/>
              </a:rPr>
              <a:t>COMING NEXT: Cardinal and Intermediate Directions - the Great Map Room has a new problem!</a:t>
            </a:r>
            <a:endParaRPr lang="en-US" sz="1300" dirty="0"/>
          </a:p>
        </p:txBody>
      </p:sp>
      <p:sp>
        <p:nvSpPr>
          <p:cNvPr id="11" name="Text 8"/>
          <p:cNvSpPr/>
          <p:nvPr/>
        </p:nvSpPr>
        <p:spPr>
          <a:xfrm>
            <a:off x="457200" y="4370832"/>
            <a:ext cx="8229600" cy="256032"/>
          </a:xfrm>
          <a:prstGeom prst="rect">
            <a:avLst/>
          </a:prstGeom>
          <a:noFill/>
          <a:ln/>
        </p:spPr>
        <p:txBody>
          <a:bodyPr wrap="square" lIns="0" tIns="0" rIns="0" bIns="0"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Optima Academy Online  |  Social Studies  |  Grade 3  |  Lesson 3.03.01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2026-07-10T22:33:18Z</dcterms:created>
  <dcterms:modified xsi:type="dcterms:W3CDTF">2026-07-10T22:33:18Z</dcterms:modified>
</cp:coreProperties>
</file>