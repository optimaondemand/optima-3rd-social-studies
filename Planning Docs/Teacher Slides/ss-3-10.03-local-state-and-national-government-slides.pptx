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round museum platform holding a three-level model: a small city hall at the base, a state capitol with a small dome in the middle, and the white-domed U.S. Capitol on top. Scattered label cards lie knocked over at the base of the platform, warm gallery light overhead.Title slide. IMAGE TO INSERT: three-level model on round museum platform with spilled label cards. Greet students, introduce today's role as Civic Curator, read the Curator's Question aloud and pause for a moment of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Close-up of the three-level model: city hall base with tiny cars, a state capitol with a small dome in the middle, the giant white U.S. Capitol on top, and a scattered pile of label cards reading 'trash pickup', 'driver's licenses', 'making dollar bills', 'running your public school' at the base.Teacher recording notes: Greet students at the new three-level model. Describe it physically — round platform, city hall bottom, state capitol middle, U.S. Capitol top. Show your hand moving up the levels. Read the Curator's Question aloud and pause. Role is Civic Curator, virtue is service, job is to label the model. Under 2 minutes, warm and playful.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An aged parchment-style close-up of the opening words of the U.S. Constitution's Preamble, calligraphic period lettering, displayed like a museum artifact under glass with soft spotlight.IMAGE TO INSERT: aged Constitution Preamble parchment under museum glass. Read the Preamble aloud slowly. Note: this founding text is not printed in the source lesson HTML (which has no Founding Words excerpt); it is the authoritative founding document establishing the national tier being studied. Frame it as evidence -- this is the paperwork behind the Capitol dome atop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local city worker patching a pothole on one side and, mirrored on the other side, a legislator signing a document at a formal desk, both bathed in the same warm light -- symbolizing service at every level.Virtue spotlight: service. Connect the pothole worker and the senator as doing the same kind of job at different scales. Emphasize that today's sorting task is itself an act of noticing service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Discovery Fact bridge: the word locomotive also uses this root -- 'something that moves itself from place to place.' Have students say the word local aloud and guess what it might mean before revealing the definitions. Students respond in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Clue Box: show the bottom level of the model without naming it. 5 seconds of silence. Students observe fire truck, school bus, city hall flag -- all everyday, close-to-home things. Do not reveal the term 'local government'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guide students toward noticing these jobs are all handled close to home -- by a town or county, not the whole country. Do not yet say the words 'local government.' Let the chat responses drive toward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small brick city hall with a flagpole and a mayor's office sign, a fire station, a public library, and a public school -- a warm collage of local government buildings.Reveal: name the concept students discovered -- local government. Leader = mayor. Meets at city hall/county courthouse. Runs school, trash, fire, library, parks. This directly scaffolds Evidence Question 1 (leader + meeting place per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Clue Box: show the middle level of the model -- capitol with a small dome, state highway sign, driver's license. Students observe scale: bigger than one town, smaller than the whole country. Do not reveal 'state government'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guide students to notice this level handles things bigger than one town -- driver's licenses, state highways, state parks. Build toward the term 'state government' without naming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Florida State Capitol building in Tallahassee with its distinctive dome, palm trees in the foreground, a state flag flying.Reveal: name the concept -- state government. Leader = governor. Meets in Tallahassee. Runs driver's licenses, highways, state parks, fishing/hunting rules. Scaffolds Evidence Question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Clue Box: show the top level of the model -- U.S. Capitol, dollar bill, mail truck. Students observe: these need to be the same for the whole country. Do not reveal 'national government'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this directly scaffolds Evidence Question 2 (why only the national government prints money). Ask 'What would happen if every state could print its own money?' and let students reason through it before the reveal names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U.S. Capitol building in Washington, D.C. at golden hour, full white dome visible, broad front steps, American flag flying.Reveal: name the concept -- national/federal government. Leader = President. Meets in Washington, D.C. at the U.S. Capitol. Runs money, military, post office, foreign agreements. Fully scaffolds Evidence Question 1 and sets up Question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scaffolds Evidence Question 3 (a job that doesn't seem to belong to one level -- like running a school -- and which levels help). Discuss school as the clearest example: local runs the building and staff, state sets curriculum standards, national provides funding rules like Title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Models: think aloud through sorting the 'Fire station' card using the front-door-versus-far-away pattern. Model the exact reasoning process students will use on their own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Try Together: whole-class sort of 'Public library' card. Cold-call a few students for reasoning before revealing the answer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Turn: students sort driver's licenses (state), state highways (state), printing money (national), the post office (national) independently using the checklist. Error Analysis: a student wrongly placed driver's licenses at the national level, reasoning that 'a rule for driving must be country-wide.' Students find the mistake -- driver's licenses vary by state, and licenses say 'Florida' across the top, proving it is a state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not graded. Read each question aloud, give think time, reveal the answer shown here. Celebrate a perfect score: 'Three for three -- you sorted the model like a real Civic Curator.'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recording notes: Read each evidence question aloud. For question 3, think aloud through a strong notebook entry -- pick one example for each level and explain why it makes sense to handle it at that level. Walk through gather/copy/submit steps. Aim for 2-3 minutes. Curator Task requirements: 3-5 sentences, include the three levels, one job for each level, and one sentence on why three levels is helpful.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Curator's Chronicle sentence frame shown verbatim: 'In this exhibit, I learned that ______ because ______.' Review the turn-in checklist with students before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completed three-level model with all label cards correctly placed on their levels, gallery lights glowing warmly, and a glimpse of a new roped-off display case in the corner containing a small Florida state seal and a sabal palm, hinting at tomorrow's exhibit.Teacher recording notes: Celebrate that students put every label back on the model. Restate the Exhibit Label. Tease tomorrow's Florida case: state constitution, state seal, sabal palm, mockingbird, orange blossom. Keep under 1 minute, warm and encouraging.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609600"/>
            <a:ext cx="10363200" cy="426720"/>
          </a:xfrm>
          <a:prstGeom prst="rect">
            <a:avLst/>
          </a:prstGeom>
          <a:noFill/>
          <a:ln/>
        </p:spPr>
        <p:txBody>
          <a:bodyPr wrap="square" lIns="0" tIns="0" rIns="0" bIns="0" rtlCol="0" anchor="ctr"/>
          <a:lstStyle/>
          <a:p>
            <a:pPr indent="0" marL="0">
              <a:buNone/>
            </a:pPr>
            <a:r>
              <a:rPr lang="en-US" sz="1300" b="1" spc="300" kern="0" dirty="0">
                <a:solidFill>
                  <a:srgbClr val="55C8E8"/>
                </a:solidFill>
                <a:latin typeface="Calibri" pitchFamily="34" charset="0"/>
                <a:ea typeface="Calibri" pitchFamily="34" charset="-122"/>
                <a:cs typeface="Calibri" pitchFamily="34" charset="-120"/>
              </a:rPr>
              <a:t>CITIZENSHIP HALL</a:t>
            </a:r>
            <a:endParaRPr lang="en-US" sz="1300" dirty="0"/>
          </a:p>
        </p:txBody>
      </p:sp>
      <p:sp>
        <p:nvSpPr>
          <p:cNvPr id="6" name="Text 3"/>
          <p:cNvSpPr/>
          <p:nvPr/>
        </p:nvSpPr>
        <p:spPr>
          <a:xfrm>
            <a:off x="731520" y="1158240"/>
            <a:ext cx="10363200" cy="1584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Local, State, and National Government</a:t>
            </a:r>
            <a:endParaRPr lang="en-US" sz="3200" dirty="0"/>
          </a:p>
        </p:txBody>
      </p:sp>
      <p:sp>
        <p:nvSpPr>
          <p:cNvPr id="7" name="Text 4"/>
          <p:cNvSpPr/>
          <p:nvPr/>
        </p:nvSpPr>
        <p:spPr>
          <a:xfrm>
            <a:off x="731520" y="2621280"/>
            <a:ext cx="10363200" cy="487680"/>
          </a:xfrm>
          <a:prstGeom prst="rect">
            <a:avLst/>
          </a:prstGeom>
          <a:noFill/>
          <a:ln/>
        </p:spPr>
        <p:txBody>
          <a:bodyPr wrap="square" lIns="0" tIns="0" rIns="0" bIns="0" rtlCol="0" anchor="ctr"/>
          <a:lstStyle/>
          <a:p>
            <a:pPr indent="0" marL="0">
              <a:buNone/>
            </a:pPr>
            <a:r>
              <a:rPr lang="en-US" sz="1600" b="1" dirty="0">
                <a:solidFill>
                  <a:srgbClr val="D4943A"/>
                </a:solidFill>
                <a:latin typeface="Calibri" pitchFamily="34" charset="0"/>
                <a:ea typeface="Calibri" pitchFamily="34" charset="-122"/>
                <a:cs typeface="Calibri" pitchFamily="34" charset="-120"/>
              </a:rPr>
              <a:t>Lesson 3.10.03</a:t>
            </a:r>
            <a:endParaRPr lang="en-US" sz="1600" dirty="0"/>
          </a:p>
        </p:txBody>
      </p:sp>
      <p:sp>
        <p:nvSpPr>
          <p:cNvPr id="8" name="Shape 5"/>
          <p:cNvSpPr/>
          <p:nvPr/>
        </p:nvSpPr>
        <p:spPr>
          <a:xfrm>
            <a:off x="731520" y="3474720"/>
            <a:ext cx="10241280" cy="1828800"/>
          </a:xfrm>
          <a:prstGeom prst="roundRect">
            <a:avLst>
              <a:gd name="adj" fmla="val 8000"/>
            </a:avLst>
          </a:prstGeom>
          <a:solidFill>
            <a:srgbClr val="1A2D5A"/>
          </a:solidFill>
          <a:ln w="12700">
            <a:solidFill>
              <a:srgbClr val="3A5080"/>
            </a:solidFill>
            <a:prstDash val="solid"/>
          </a:ln>
        </p:spPr>
      </p:sp>
      <p:sp>
        <p:nvSpPr>
          <p:cNvPr id="9" name="Text 6"/>
          <p:cNvSpPr/>
          <p:nvPr/>
        </p:nvSpPr>
        <p:spPr>
          <a:xfrm>
            <a:off x="1036320" y="3657600"/>
            <a:ext cx="9631680" cy="365760"/>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TODAY'S BIG QUESTION</a:t>
            </a:r>
            <a:endParaRPr lang="en-US" sz="1100" dirty="0"/>
          </a:p>
        </p:txBody>
      </p:sp>
      <p:sp>
        <p:nvSpPr>
          <p:cNvPr id="10" name="Text 7"/>
          <p:cNvSpPr/>
          <p:nvPr/>
        </p:nvSpPr>
        <p:spPr>
          <a:xfrm>
            <a:off x="1036320" y="4023360"/>
            <a:ext cx="9631680" cy="1158240"/>
          </a:xfrm>
          <a:prstGeom prst="rect">
            <a:avLst/>
          </a:prstGeom>
          <a:noFill/>
          <a:ln/>
        </p:spPr>
        <p:txBody>
          <a:bodyPr wrap="square" lIns="0" tIns="0" rIns="0" bIns="0" rtlCol="0" anchor="t"/>
          <a:lstStyle/>
          <a:p>
            <a:pPr indent="0" marL="0">
              <a:buNone/>
            </a:pPr>
            <a:r>
              <a:rPr lang="en-US" sz="1500" i="1" dirty="0">
                <a:solidFill>
                  <a:srgbClr val="FFFFFF"/>
                </a:solidFill>
                <a:latin typeface="Calibri" pitchFamily="34" charset="0"/>
                <a:ea typeface="Calibri" pitchFamily="34" charset="-122"/>
                <a:cs typeface="Calibri" pitchFamily="34" charset="-120"/>
              </a:rPr>
              <a:t>Why does the United States have three levels of government — and what does each one do for the people who live here?</a:t>
            </a:r>
            <a:endParaRPr lang="en-US" sz="1500" dirty="0"/>
          </a:p>
        </p:txBody>
      </p:sp>
      <p:sp>
        <p:nvSpPr>
          <p:cNvPr id="11" name="Text 8"/>
          <p:cNvSpPr/>
          <p:nvPr/>
        </p:nvSpPr>
        <p:spPr>
          <a:xfrm>
            <a:off x="731520" y="5547360"/>
            <a:ext cx="10241280" cy="426720"/>
          </a:xfrm>
          <a:prstGeom prst="rect">
            <a:avLst/>
          </a:prstGeom>
          <a:noFill/>
          <a:ln/>
        </p:spPr>
        <p:txBody>
          <a:bodyPr wrap="square" lIns="0" tIns="0" rIns="0" bIns="0" rtlCol="0" anchor="ctr"/>
          <a:lstStyle/>
          <a:p>
            <a:pPr indent="0" marL="0">
              <a:buNone/>
            </a:pPr>
            <a:r>
              <a:rPr lang="en-US" sz="1300" i="1" dirty="0">
                <a:solidFill>
                  <a:srgbClr val="D6F2FB"/>
                </a:solidFill>
                <a:latin typeface="Calibri" pitchFamily="34" charset="0"/>
                <a:ea typeface="Calibri" pitchFamily="34" charset="-122"/>
                <a:cs typeface="Calibri" pitchFamily="34" charset="-120"/>
              </a:rPr>
              <a:t>Civic Curator  ·  Virtue: Service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ENTER THE SCENE</a:t>
            </a:r>
            <a:endParaRPr lang="en-US" sz="1200" dirty="0"/>
          </a:p>
        </p:txBody>
      </p:sp>
      <p:sp>
        <p:nvSpPr>
          <p:cNvPr id="6" name="Text 3"/>
          <p:cNvSpPr/>
          <p:nvPr/>
        </p:nvSpPr>
        <p:spPr>
          <a:xfrm>
            <a:off x="731520" y="670560"/>
            <a:ext cx="10363200" cy="975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 New Exhibit in Citizenship Hall</a:t>
            </a:r>
            <a:endParaRPr lang="en-US" sz="2800" dirty="0"/>
          </a:p>
        </p:txBody>
      </p:sp>
      <p:sp>
        <p:nvSpPr>
          <p:cNvPr id="7" name="Text 4"/>
          <p:cNvSpPr/>
          <p:nvPr/>
        </p:nvSpPr>
        <p:spPr>
          <a:xfrm>
            <a:off x="731520" y="1950720"/>
            <a:ext cx="10363200" cy="280416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Citizenship Hall has a brand-new exhibit. Right in the center of the room, on a wide round platform, stands a tall three-level model — a little city hall on the bottom, a state capitol with a small dome on the middle level, and the giant white U.S. Capitol on the top.
</a:t>
            </a:r>
            <a:endParaRPr lang="en-US" sz="1450" dirty="0"/>
          </a:p>
          <a:p>
            <a:pPr indent="0" marL="0">
              <a:buNone/>
            </a:pPr>
            <a:r>
              <a:rPr lang="en-US" sz="1450" dirty="0">
                <a:solidFill>
                  <a:srgbClr val="FFFFFF"/>
                </a:solidFill>
                <a:latin typeface="Calibri" pitchFamily="34" charset="0"/>
                <a:ea typeface="Calibri" pitchFamily="34" charset="-122"/>
                <a:cs typeface="Calibri" pitchFamily="34" charset="-120"/>
              </a:rPr>
              <a:t>Around the base, a stack of label cards has been knocked over: trash pickup, driver's licenses, making dollar bills, running your public school… all mixed up. The cards belong on the model, but no one knows which level.</a:t>
            </a:r>
            <a:endParaRPr lang="en-US" sz="1450" dirty="0"/>
          </a:p>
        </p:txBody>
      </p:sp>
      <p:sp>
        <p:nvSpPr>
          <p:cNvPr id="8" name="Shape 5"/>
          <p:cNvSpPr/>
          <p:nvPr/>
        </p:nvSpPr>
        <p:spPr>
          <a:xfrm>
            <a:off x="731520" y="4937760"/>
            <a:ext cx="10241280" cy="1280160"/>
          </a:xfrm>
          <a:prstGeom prst="roundRect">
            <a:avLst>
              <a:gd name="adj" fmla="val 11429"/>
            </a:avLst>
          </a:prstGeom>
          <a:solidFill>
            <a:srgbClr val="D4943A"/>
          </a:solidFill>
          <a:ln/>
        </p:spPr>
      </p:sp>
      <p:sp>
        <p:nvSpPr>
          <p:cNvPr id="9" name="Text 6"/>
          <p:cNvSpPr/>
          <p:nvPr/>
        </p:nvSpPr>
        <p:spPr>
          <a:xfrm>
            <a:off x="1036320" y="5059680"/>
            <a:ext cx="9631680" cy="103632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Today, your job as Civic Curator is to figure out who does what — local, state, or national — and get the labels back where they belong.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FOUNDING WORDS</a:t>
            </a:r>
            <a:endParaRPr lang="en-US" sz="1200" dirty="0"/>
          </a:p>
        </p:txBody>
      </p:sp>
      <p:sp>
        <p:nvSpPr>
          <p:cNvPr id="6" name="Text 3"/>
          <p:cNvSpPr/>
          <p:nvPr/>
        </p:nvSpPr>
        <p:spPr>
          <a:xfrm>
            <a:off x="731520" y="670560"/>
            <a:ext cx="10363200" cy="975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Evidence From the Constitution</a:t>
            </a:r>
            <a:endParaRPr lang="en-US" sz="2600" dirty="0"/>
          </a:p>
        </p:txBody>
      </p:sp>
      <p:sp>
        <p:nvSpPr>
          <p:cNvPr id="7" name="Shape 4"/>
          <p:cNvSpPr/>
          <p:nvPr/>
        </p:nvSpPr>
        <p:spPr>
          <a:xfrm>
            <a:off x="853440" y="1889760"/>
            <a:ext cx="10119360" cy="2560320"/>
          </a:xfrm>
          <a:prstGeom prst="roundRect">
            <a:avLst>
              <a:gd name="adj" fmla="val 5714"/>
            </a:avLst>
          </a:prstGeom>
          <a:solidFill>
            <a:srgbClr val="1A2D5A"/>
          </a:solidFill>
          <a:ln w="19050">
            <a:solidFill>
              <a:srgbClr val="D4943A"/>
            </a:solidFill>
            <a:prstDash val="solid"/>
          </a:ln>
        </p:spPr>
      </p:sp>
      <p:sp>
        <p:nvSpPr>
          <p:cNvPr id="8" name="Text 5"/>
          <p:cNvSpPr/>
          <p:nvPr/>
        </p:nvSpPr>
        <p:spPr>
          <a:xfrm>
            <a:off x="1158240" y="2133600"/>
            <a:ext cx="9509760" cy="1828800"/>
          </a:xfrm>
          <a:prstGeom prst="rect">
            <a:avLst/>
          </a:prstGeom>
          <a:noFill/>
          <a:ln/>
        </p:spPr>
        <p:txBody>
          <a:bodyPr wrap="square" lIns="0" tIns="0" rIns="0" bIns="0" rtlCol="0" anchor="t"/>
          <a:lstStyle/>
          <a:p>
            <a:pPr indent="0" marL="0">
              <a:buNone/>
            </a:pPr>
            <a:r>
              <a:rPr lang="en-US" sz="1400" i="1" dirty="0">
                <a:solidFill>
                  <a:srgbClr val="FFFFFF"/>
                </a:solidFill>
                <a:latin typeface="Cambria" pitchFamily="34" charset="0"/>
                <a:ea typeface="Cambria" pitchFamily="34" charset="-122"/>
                <a:cs typeface="Cambria" pitchFamily="34" charset="-120"/>
              </a:rPr>
              <a:t>“We the People of the United States, in Order to form a more perfect Union, establish Justice, insure domestic Tranquility, provide for the common defence, promote the general Welfare, and secure the Blessings of Liberty to ourselves and our Posterity, do ordain and establish this Constitution for the United States of America.”</a:t>
            </a:r>
            <a:endParaRPr lang="en-US" sz="1400" dirty="0"/>
          </a:p>
        </p:txBody>
      </p:sp>
      <p:sp>
        <p:nvSpPr>
          <p:cNvPr id="9" name="Text 6"/>
          <p:cNvSpPr/>
          <p:nvPr/>
        </p:nvSpPr>
        <p:spPr>
          <a:xfrm>
            <a:off x="1158240" y="4084320"/>
            <a:ext cx="9509760" cy="304800"/>
          </a:xfrm>
          <a:prstGeom prst="rect">
            <a:avLst/>
          </a:prstGeom>
          <a:noFill/>
          <a:ln/>
        </p:spPr>
        <p:txBody>
          <a:bodyPr wrap="square" lIns="0" tIns="0" rIns="0" bIns="0" rtlCol="0" anchor="ctr"/>
          <a:lstStyle/>
          <a:p>
            <a:pPr indent="0" marL="0">
              <a:buNone/>
            </a:pPr>
            <a:r>
              <a:rPr lang="en-US" sz="1100" i="1" dirty="0">
                <a:solidFill>
                  <a:srgbClr val="D4943A"/>
                </a:solidFill>
                <a:latin typeface="Calibri" pitchFamily="34" charset="0"/>
                <a:ea typeface="Calibri" pitchFamily="34" charset="-122"/>
                <a:cs typeface="Calibri" pitchFamily="34" charset="-120"/>
              </a:rPr>
              <a:t>— Preamble, United States Constitution, 1787</a:t>
            </a:r>
            <a:endParaRPr lang="en-US" sz="1100" dirty="0"/>
          </a:p>
        </p:txBody>
      </p:sp>
      <p:sp>
        <p:nvSpPr>
          <p:cNvPr id="10" name="Text 7"/>
          <p:cNvSpPr/>
          <p:nvPr/>
        </p:nvSpPr>
        <p:spPr>
          <a:xfrm>
            <a:off x="853440" y="4693920"/>
            <a:ext cx="10119360" cy="1341120"/>
          </a:xfrm>
          <a:prstGeom prst="rect">
            <a:avLst/>
          </a:prstGeom>
          <a:noFill/>
          <a:ln/>
        </p:spPr>
        <p:txBody>
          <a:bodyPr wrap="square" lIns="0" tIns="0" rIns="0" bIns="0" rtlCol="0" anchor="t"/>
          <a:lstStyle/>
          <a:p>
            <a:pPr indent="0" marL="0">
              <a:buNone/>
            </a:pPr>
            <a:r>
              <a:rPr lang="en-US" sz="1300" i="1" dirty="0">
                <a:solidFill>
                  <a:srgbClr val="D6F2FB"/>
                </a:solidFill>
                <a:latin typeface="Calibri" pitchFamily="34" charset="0"/>
                <a:ea typeface="Calibri" pitchFamily="34" charset="-122"/>
                <a:cs typeface="Calibri" pitchFamily="34" charset="-120"/>
              </a:rPr>
              <a:t>These founding words set up the national government that meets in the U.S. Capitol on the model. Today we find out what job it does — and what jobs belong to the state and local levels instead.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VIRTUE SPOTLIGHT</a:t>
            </a:r>
            <a:endParaRPr lang="en-US" sz="1200" dirty="0"/>
          </a:p>
        </p:txBody>
      </p:sp>
      <p:sp>
        <p:nvSpPr>
          <p:cNvPr id="6" name="Text 3"/>
          <p:cNvSpPr/>
          <p:nvPr/>
        </p:nvSpPr>
        <p:spPr>
          <a:xfrm>
            <a:off x="731520" y="670560"/>
            <a:ext cx="10363200" cy="975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Service</a:t>
            </a:r>
            <a:endParaRPr lang="en-US" sz="3200" dirty="0"/>
          </a:p>
        </p:txBody>
      </p:sp>
      <p:sp>
        <p:nvSpPr>
          <p:cNvPr id="7" name="Text 4"/>
          <p:cNvSpPr/>
          <p:nvPr/>
        </p:nvSpPr>
        <p:spPr>
          <a:xfrm>
            <a:off x="731520" y="1889760"/>
            <a:ext cx="10363200" cy="14630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At every level, government is people serving people. A city worker fixing a pothole and a senator passing a law are both doing the same kind of job — making the community a better place to live.</a:t>
            </a:r>
            <a:endParaRPr lang="en-US" sz="1500" dirty="0"/>
          </a:p>
        </p:txBody>
      </p:sp>
      <p:sp>
        <p:nvSpPr>
          <p:cNvPr id="8" name="Shape 5"/>
          <p:cNvSpPr/>
          <p:nvPr/>
        </p:nvSpPr>
        <p:spPr>
          <a:xfrm>
            <a:off x="731520" y="3596640"/>
            <a:ext cx="10241280" cy="2194560"/>
          </a:xfrm>
          <a:prstGeom prst="roundRect">
            <a:avLst>
              <a:gd name="adj" fmla="val 6667"/>
            </a:avLst>
          </a:prstGeom>
          <a:solidFill>
            <a:srgbClr val="1A2D5A"/>
          </a:solidFill>
          <a:ln w="12700">
            <a:solidFill>
              <a:srgbClr val="55C8E8"/>
            </a:solidFill>
            <a:prstDash val="solid"/>
          </a:ln>
        </p:spPr>
      </p:sp>
      <p:sp>
        <p:nvSpPr>
          <p:cNvPr id="9" name="Text 6"/>
          <p:cNvSpPr/>
          <p:nvPr/>
        </p:nvSpPr>
        <p:spPr>
          <a:xfrm>
            <a:off x="1036320" y="3779520"/>
            <a:ext cx="9631680" cy="609600"/>
          </a:xfrm>
          <a:prstGeom prst="rect">
            <a:avLst/>
          </a:prstGeom>
          <a:noFill/>
          <a:ln/>
        </p:spPr>
        <p:txBody>
          <a:bodyPr wrap="square" lIns="0" tIns="0" rIns="0" bIns="0" rtlCol="0" anchor="t"/>
          <a:lstStyle/>
          <a:p>
            <a:pPr indent="0" marL="0">
              <a:buNone/>
            </a:pPr>
            <a:r>
              <a:rPr lang="en-US" sz="1400" i="1" dirty="0">
                <a:solidFill>
                  <a:srgbClr val="55C8E8"/>
                </a:solidFill>
                <a:latin typeface="Calibri" pitchFamily="34" charset="0"/>
                <a:ea typeface="Calibri" pitchFamily="34" charset="-122"/>
                <a:cs typeface="Calibri" pitchFamily="34" charset="-120"/>
              </a:rPr>
              <a:t>Today, notice how each level serves you in a different way.</a:t>
            </a:r>
            <a:endParaRPr lang="en-US" sz="1400" dirty="0"/>
          </a:p>
        </p:txBody>
      </p:sp>
      <p:sp>
        <p:nvSpPr>
          <p:cNvPr id="10" name="Text 7"/>
          <p:cNvSpPr/>
          <p:nvPr/>
        </p:nvSpPr>
        <p:spPr>
          <a:xfrm>
            <a:off x="1036320" y="4389120"/>
            <a:ext cx="9631680" cy="128016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Your Role Today: You are still the Civic Curator — and today the work is hands-on. Your job is to sort the spilled label cards, place each responsibility on the right level of the model, and explain why each one belongs where it does.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WORD ROOTS</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Hidden Inside the Word "Local"</a:t>
            </a:r>
            <a:endParaRPr lang="en-US" sz="2600" dirty="0"/>
          </a:p>
        </p:txBody>
      </p:sp>
      <p:sp>
        <p:nvSpPr>
          <p:cNvPr id="4" name="Shape 2"/>
          <p:cNvSpPr/>
          <p:nvPr/>
        </p:nvSpPr>
        <p:spPr>
          <a:xfrm>
            <a:off x="731520" y="1645920"/>
            <a:ext cx="10241280" cy="1402080"/>
          </a:xfrm>
          <a:prstGeom prst="roundRect">
            <a:avLst>
              <a:gd name="adj" fmla="val 10435"/>
            </a:avLst>
          </a:prstGeom>
          <a:solidFill>
            <a:srgbClr val="EAF8FD"/>
          </a:solidFill>
          <a:ln w="12700">
            <a:solidFill>
              <a:srgbClr val="55C8E8"/>
            </a:solidFill>
            <a:prstDash val="solid"/>
          </a:ln>
        </p:spPr>
      </p:sp>
      <p:sp>
        <p:nvSpPr>
          <p:cNvPr id="5" name="Text 3"/>
          <p:cNvSpPr/>
          <p:nvPr/>
        </p:nvSpPr>
        <p:spPr>
          <a:xfrm>
            <a:off x="1036320" y="1767840"/>
            <a:ext cx="9631680" cy="36576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Latin Root: loc- — "place"</a:t>
            </a:r>
            <a:endParaRPr lang="en-US" sz="1400" dirty="0"/>
          </a:p>
        </p:txBody>
      </p:sp>
      <p:sp>
        <p:nvSpPr>
          <p:cNvPr id="6" name="Text 4"/>
          <p:cNvSpPr/>
          <p:nvPr/>
        </p:nvSpPr>
        <p:spPr>
          <a:xfrm>
            <a:off x="1036320" y="2133600"/>
            <a:ext cx="9631680" cy="85344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It's hiding inside the word local, which means "having to do with the place you live." A local government is the government for your place — your town or city.</a:t>
            </a:r>
            <a:endParaRPr lang="en-US" sz="1250" dirty="0"/>
          </a:p>
        </p:txBody>
      </p:sp>
      <p:sp>
        <p:nvSpPr>
          <p:cNvPr id="7" name="Shape 5"/>
          <p:cNvSpPr/>
          <p:nvPr/>
        </p:nvSpPr>
        <p:spPr>
          <a:xfrm>
            <a:off x="731520" y="3230880"/>
            <a:ext cx="10241280" cy="512064"/>
          </a:xfrm>
          <a:prstGeom prst="roundRect">
            <a:avLst>
              <a:gd name="adj" fmla="val 19048"/>
            </a:avLst>
          </a:prstGeom>
          <a:solidFill>
            <a:srgbClr val="F0F2F8"/>
          </a:solidFill>
          <a:ln/>
        </p:spPr>
      </p:sp>
      <p:sp>
        <p:nvSpPr>
          <p:cNvPr id="8" name="Text 6"/>
          <p:cNvSpPr/>
          <p:nvPr/>
        </p:nvSpPr>
        <p:spPr>
          <a:xfrm>
            <a:off x="975360" y="3279648"/>
            <a:ext cx="2438400" cy="414528"/>
          </a:xfrm>
          <a:prstGeom prst="rect">
            <a:avLst/>
          </a:prstGeom>
          <a:noFill/>
          <a:ln/>
        </p:spPr>
        <p:txBody>
          <a:bodyPr wrap="square" lIns="0" tIns="0" rIns="0" bIns="0" rtlCol="0" anchor="ctr"/>
          <a:lstStyle/>
          <a:p>
            <a:pPr indent="0" marL="0">
              <a:buNone/>
            </a:pPr>
            <a:r>
              <a:rPr lang="en-US" sz="1250" b="1" dirty="0">
                <a:solidFill>
                  <a:srgbClr val="1A8A7D"/>
                </a:solidFill>
                <a:latin typeface="Calibri" pitchFamily="34" charset="0"/>
                <a:ea typeface="Calibri" pitchFamily="34" charset="-122"/>
                <a:cs typeface="Calibri" pitchFamily="34" charset="-120"/>
              </a:rPr>
              <a:t>local</a:t>
            </a:r>
            <a:endParaRPr lang="en-US" sz="1250" dirty="0"/>
          </a:p>
        </p:txBody>
      </p:sp>
      <p:sp>
        <p:nvSpPr>
          <p:cNvPr id="9" name="Text 7"/>
          <p:cNvSpPr/>
          <p:nvPr/>
        </p:nvSpPr>
        <p:spPr>
          <a:xfrm>
            <a:off x="3535680" y="3279648"/>
            <a:ext cx="7315200" cy="414528"/>
          </a:xfrm>
          <a:prstGeom prst="rect">
            <a:avLst/>
          </a:prstGeom>
          <a:noFill/>
          <a:ln/>
        </p:spPr>
        <p:txBody>
          <a:bodyPr wrap="square" lIns="0" tIns="0" rIns="0" bIns="0" rtlCol="0" anchor="ctr"/>
          <a:lstStyle/>
          <a:p>
            <a:pPr indent="0" marL="0">
              <a:buNone/>
            </a:pPr>
            <a:r>
              <a:rPr lang="en-US" sz="1150" dirty="0">
                <a:solidFill>
                  <a:srgbClr val="0E1C42"/>
                </a:solidFill>
                <a:latin typeface="Calibri" pitchFamily="34" charset="0"/>
                <a:ea typeface="Calibri" pitchFamily="34" charset="-122"/>
                <a:cs typeface="Calibri" pitchFamily="34" charset="-120"/>
              </a:rPr>
              <a:t>having to do with your place or area</a:t>
            </a:r>
            <a:endParaRPr lang="en-US" sz="1150" dirty="0"/>
          </a:p>
        </p:txBody>
      </p:sp>
      <p:sp>
        <p:nvSpPr>
          <p:cNvPr id="10" name="Shape 8"/>
          <p:cNvSpPr/>
          <p:nvPr/>
        </p:nvSpPr>
        <p:spPr>
          <a:xfrm>
            <a:off x="731520" y="3840480"/>
            <a:ext cx="10241280" cy="512064"/>
          </a:xfrm>
          <a:prstGeom prst="roundRect">
            <a:avLst>
              <a:gd name="adj" fmla="val 19048"/>
            </a:avLst>
          </a:prstGeom>
          <a:solidFill>
            <a:srgbClr val="F0F2F8"/>
          </a:solidFill>
          <a:ln/>
        </p:spPr>
      </p:sp>
      <p:sp>
        <p:nvSpPr>
          <p:cNvPr id="11" name="Text 9"/>
          <p:cNvSpPr/>
          <p:nvPr/>
        </p:nvSpPr>
        <p:spPr>
          <a:xfrm>
            <a:off x="975360" y="3889248"/>
            <a:ext cx="2438400" cy="414528"/>
          </a:xfrm>
          <a:prstGeom prst="rect">
            <a:avLst/>
          </a:prstGeom>
          <a:noFill/>
          <a:ln/>
        </p:spPr>
        <p:txBody>
          <a:bodyPr wrap="square" lIns="0" tIns="0" rIns="0" bIns="0" rtlCol="0" anchor="ctr"/>
          <a:lstStyle/>
          <a:p>
            <a:pPr indent="0" marL="0">
              <a:buNone/>
            </a:pPr>
            <a:r>
              <a:rPr lang="en-US" sz="1250" b="1" dirty="0">
                <a:solidFill>
                  <a:srgbClr val="1A8A7D"/>
                </a:solidFill>
                <a:latin typeface="Calibri" pitchFamily="34" charset="0"/>
                <a:ea typeface="Calibri" pitchFamily="34" charset="-122"/>
                <a:cs typeface="Calibri" pitchFamily="34" charset="-120"/>
              </a:rPr>
              <a:t>location</a:t>
            </a:r>
            <a:endParaRPr lang="en-US" sz="1250" dirty="0"/>
          </a:p>
        </p:txBody>
      </p:sp>
      <p:sp>
        <p:nvSpPr>
          <p:cNvPr id="12" name="Text 10"/>
          <p:cNvSpPr/>
          <p:nvPr/>
        </p:nvSpPr>
        <p:spPr>
          <a:xfrm>
            <a:off x="3535680" y="3889248"/>
            <a:ext cx="7315200" cy="414528"/>
          </a:xfrm>
          <a:prstGeom prst="rect">
            <a:avLst/>
          </a:prstGeom>
          <a:noFill/>
          <a:ln/>
        </p:spPr>
        <p:txBody>
          <a:bodyPr wrap="square" lIns="0" tIns="0" rIns="0" bIns="0" rtlCol="0" anchor="ctr"/>
          <a:lstStyle/>
          <a:p>
            <a:pPr indent="0" marL="0">
              <a:buNone/>
            </a:pPr>
            <a:r>
              <a:rPr lang="en-US" sz="1150" dirty="0">
                <a:solidFill>
                  <a:srgbClr val="0E1C42"/>
                </a:solidFill>
                <a:latin typeface="Calibri" pitchFamily="34" charset="0"/>
                <a:ea typeface="Calibri" pitchFamily="34" charset="-122"/>
                <a:cs typeface="Calibri" pitchFamily="34" charset="-120"/>
              </a:rPr>
              <a:t>a specific place</a:t>
            </a:r>
            <a:endParaRPr lang="en-US" sz="1150" dirty="0"/>
          </a:p>
        </p:txBody>
      </p:sp>
      <p:sp>
        <p:nvSpPr>
          <p:cNvPr id="13" name="Shape 11"/>
          <p:cNvSpPr/>
          <p:nvPr/>
        </p:nvSpPr>
        <p:spPr>
          <a:xfrm>
            <a:off x="731520" y="4450080"/>
            <a:ext cx="10241280" cy="512064"/>
          </a:xfrm>
          <a:prstGeom prst="roundRect">
            <a:avLst>
              <a:gd name="adj" fmla="val 19048"/>
            </a:avLst>
          </a:prstGeom>
          <a:solidFill>
            <a:srgbClr val="F0F2F8"/>
          </a:solidFill>
          <a:ln/>
        </p:spPr>
      </p:sp>
      <p:sp>
        <p:nvSpPr>
          <p:cNvPr id="14" name="Text 12"/>
          <p:cNvSpPr/>
          <p:nvPr/>
        </p:nvSpPr>
        <p:spPr>
          <a:xfrm>
            <a:off x="975360" y="4498848"/>
            <a:ext cx="2438400" cy="414528"/>
          </a:xfrm>
          <a:prstGeom prst="rect">
            <a:avLst/>
          </a:prstGeom>
          <a:noFill/>
          <a:ln/>
        </p:spPr>
        <p:txBody>
          <a:bodyPr wrap="square" lIns="0" tIns="0" rIns="0" bIns="0" rtlCol="0" anchor="ctr"/>
          <a:lstStyle/>
          <a:p>
            <a:pPr indent="0" marL="0">
              <a:buNone/>
            </a:pPr>
            <a:r>
              <a:rPr lang="en-US" sz="1250" b="1" dirty="0">
                <a:solidFill>
                  <a:srgbClr val="1A8A7D"/>
                </a:solidFill>
                <a:latin typeface="Calibri" pitchFamily="34" charset="0"/>
                <a:ea typeface="Calibri" pitchFamily="34" charset="-122"/>
                <a:cs typeface="Calibri" pitchFamily="34" charset="-120"/>
              </a:rPr>
              <a:t>locate</a:t>
            </a:r>
            <a:endParaRPr lang="en-US" sz="1250" dirty="0"/>
          </a:p>
        </p:txBody>
      </p:sp>
      <p:sp>
        <p:nvSpPr>
          <p:cNvPr id="15" name="Text 13"/>
          <p:cNvSpPr/>
          <p:nvPr/>
        </p:nvSpPr>
        <p:spPr>
          <a:xfrm>
            <a:off x="3535680" y="4498848"/>
            <a:ext cx="7315200" cy="414528"/>
          </a:xfrm>
          <a:prstGeom prst="rect">
            <a:avLst/>
          </a:prstGeom>
          <a:noFill/>
          <a:ln/>
        </p:spPr>
        <p:txBody>
          <a:bodyPr wrap="square" lIns="0" tIns="0" rIns="0" bIns="0" rtlCol="0" anchor="ctr"/>
          <a:lstStyle/>
          <a:p>
            <a:pPr indent="0" marL="0">
              <a:buNone/>
            </a:pPr>
            <a:r>
              <a:rPr lang="en-US" sz="1150" dirty="0">
                <a:solidFill>
                  <a:srgbClr val="0E1C42"/>
                </a:solidFill>
                <a:latin typeface="Calibri" pitchFamily="34" charset="0"/>
                <a:ea typeface="Calibri" pitchFamily="34" charset="-122"/>
                <a:cs typeface="Calibri" pitchFamily="34" charset="-120"/>
              </a:rPr>
              <a:t>to find the place of something</a:t>
            </a:r>
            <a:endParaRPr lang="en-US" sz="1150" dirty="0"/>
          </a:p>
        </p:txBody>
      </p:sp>
      <p:sp>
        <p:nvSpPr>
          <p:cNvPr id="16" name="Shape 14"/>
          <p:cNvSpPr/>
          <p:nvPr/>
        </p:nvSpPr>
        <p:spPr>
          <a:xfrm>
            <a:off x="731520" y="5059680"/>
            <a:ext cx="10241280" cy="512064"/>
          </a:xfrm>
          <a:prstGeom prst="roundRect">
            <a:avLst>
              <a:gd name="adj" fmla="val 19048"/>
            </a:avLst>
          </a:prstGeom>
          <a:solidFill>
            <a:srgbClr val="F0F2F8"/>
          </a:solidFill>
          <a:ln/>
        </p:spPr>
      </p:sp>
      <p:sp>
        <p:nvSpPr>
          <p:cNvPr id="17" name="Text 15"/>
          <p:cNvSpPr/>
          <p:nvPr/>
        </p:nvSpPr>
        <p:spPr>
          <a:xfrm>
            <a:off x="975360" y="5108448"/>
            <a:ext cx="2438400" cy="414528"/>
          </a:xfrm>
          <a:prstGeom prst="rect">
            <a:avLst/>
          </a:prstGeom>
          <a:noFill/>
          <a:ln/>
        </p:spPr>
        <p:txBody>
          <a:bodyPr wrap="square" lIns="0" tIns="0" rIns="0" bIns="0" rtlCol="0" anchor="ctr"/>
          <a:lstStyle/>
          <a:p>
            <a:pPr indent="0" marL="0">
              <a:buNone/>
            </a:pPr>
            <a:r>
              <a:rPr lang="en-US" sz="1250" b="1" dirty="0">
                <a:solidFill>
                  <a:srgbClr val="1A8A7D"/>
                </a:solidFill>
                <a:latin typeface="Calibri" pitchFamily="34" charset="0"/>
                <a:ea typeface="Calibri" pitchFamily="34" charset="-122"/>
                <a:cs typeface="Calibri" pitchFamily="34" charset="-120"/>
              </a:rPr>
              <a:t>locality</a:t>
            </a:r>
            <a:endParaRPr lang="en-US" sz="1250" dirty="0"/>
          </a:p>
        </p:txBody>
      </p:sp>
      <p:sp>
        <p:nvSpPr>
          <p:cNvPr id="18" name="Text 16"/>
          <p:cNvSpPr/>
          <p:nvPr/>
        </p:nvSpPr>
        <p:spPr>
          <a:xfrm>
            <a:off x="3535680" y="5108448"/>
            <a:ext cx="7315200" cy="414528"/>
          </a:xfrm>
          <a:prstGeom prst="rect">
            <a:avLst/>
          </a:prstGeom>
          <a:noFill/>
          <a:ln/>
        </p:spPr>
        <p:txBody>
          <a:bodyPr wrap="square" lIns="0" tIns="0" rIns="0" bIns="0" rtlCol="0" anchor="ctr"/>
          <a:lstStyle/>
          <a:p>
            <a:pPr indent="0" marL="0">
              <a:buNone/>
            </a:pPr>
            <a:r>
              <a:rPr lang="en-US" sz="1150" dirty="0">
                <a:solidFill>
                  <a:srgbClr val="0E1C42"/>
                </a:solidFill>
                <a:latin typeface="Calibri" pitchFamily="34" charset="0"/>
                <a:ea typeface="Calibri" pitchFamily="34" charset="-122"/>
                <a:cs typeface="Calibri" pitchFamily="34" charset="-120"/>
              </a:rPr>
              <a:t>the area around a specific place</a:t>
            </a:r>
            <a:endParaRPr lang="en-US" sz="1150" dirty="0"/>
          </a:p>
        </p:txBody>
      </p:sp>
      <p:sp>
        <p:nvSpPr>
          <p:cNvPr id="19" name="Shape 17"/>
          <p:cNvSpPr/>
          <p:nvPr/>
        </p:nvSpPr>
        <p:spPr>
          <a:xfrm>
            <a:off x="731520" y="5730240"/>
            <a:ext cx="10241280" cy="792480"/>
          </a:xfrm>
          <a:prstGeom prst="roundRect">
            <a:avLst>
              <a:gd name="adj" fmla="val 18462"/>
            </a:avLst>
          </a:prstGeom>
          <a:solidFill>
            <a:srgbClr val="FFF3DC"/>
          </a:solidFill>
          <a:ln w="19050">
            <a:solidFill>
              <a:srgbClr val="F5E6C8"/>
            </a:solidFill>
            <a:prstDash val="solid"/>
          </a:ln>
        </p:spPr>
      </p:sp>
      <p:sp>
        <p:nvSpPr>
          <p:cNvPr id="20" name="Text 18"/>
          <p:cNvSpPr/>
          <p:nvPr/>
        </p:nvSpPr>
        <p:spPr>
          <a:xfrm>
            <a:off x="914400" y="5803392"/>
            <a:ext cx="98755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1" name="Text 19"/>
          <p:cNvSpPr/>
          <p:nvPr/>
        </p:nvSpPr>
        <p:spPr>
          <a:xfrm>
            <a:off x="914400" y="6071616"/>
            <a:ext cx="9875520" cy="3657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local means...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"Locomotive also has this root because..."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CLUE BOX · LEVEL ONE</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 Bottom Level of the Model</a:t>
            </a:r>
            <a:endParaRPr lang="en-US" sz="2600" dirty="0"/>
          </a:p>
        </p:txBody>
      </p:sp>
      <p:sp>
        <p:nvSpPr>
          <p:cNvPr id="4" name="Shape 2"/>
          <p:cNvSpPr/>
          <p:nvPr/>
        </p:nvSpPr>
        <p:spPr>
          <a:xfrm>
            <a:off x="731520" y="1584960"/>
            <a:ext cx="4876800" cy="3657600"/>
          </a:xfrm>
          <a:prstGeom prst="roundRect">
            <a:avLst>
              <a:gd name="adj" fmla="val 4000"/>
            </a:avLst>
          </a:prstGeom>
          <a:solidFill>
            <a:srgbClr val="E2E8F4"/>
          </a:solidFill>
          <a:ln w="19050">
            <a:solidFill>
              <a:srgbClr val="B0B8CC"/>
            </a:solidFill>
            <a:prstDash val="dash"/>
          </a:ln>
        </p:spPr>
      </p:sp>
      <p:sp>
        <p:nvSpPr>
          <p:cNvPr id="5" name="Text 3"/>
          <p:cNvSpPr/>
          <p:nvPr/>
        </p:nvSpPr>
        <p:spPr>
          <a:xfrm>
            <a:off x="731520" y="158496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914400" y="1950720"/>
            <a:ext cx="4511040" cy="3169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small city hall building with a flagpole, a fire truck parked outside, and a school bus driving past -- everyday local scenes.</a:t>
            </a:r>
            <a:endParaRPr lang="en-US" sz="1100" dirty="0"/>
          </a:p>
        </p:txBody>
      </p:sp>
      <p:sp>
        <p:nvSpPr>
          <p:cNvPr id="7" name="Shape 5"/>
          <p:cNvSpPr/>
          <p:nvPr/>
        </p:nvSpPr>
        <p:spPr>
          <a:xfrm>
            <a:off x="5974080" y="1584960"/>
            <a:ext cx="4998720" cy="3657600"/>
          </a:xfrm>
          <a:prstGeom prst="roundRect">
            <a:avLst>
              <a:gd name="adj" fmla="val 4000"/>
            </a:avLst>
          </a:prstGeom>
          <a:solidFill>
            <a:srgbClr val="FFF3DC"/>
          </a:solidFill>
          <a:ln w="12700">
            <a:solidFill>
              <a:srgbClr val="D4943A"/>
            </a:solidFill>
            <a:prstDash val="solid"/>
          </a:ln>
        </p:spPr>
      </p:sp>
      <p:sp>
        <p:nvSpPr>
          <p:cNvPr id="8" name="Text 6"/>
          <p:cNvSpPr/>
          <p:nvPr/>
        </p:nvSpPr>
        <p:spPr>
          <a:xfrm>
            <a:off x="6217920" y="1767840"/>
            <a:ext cx="4511040" cy="36576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LOOK CLOSELY</a:t>
            </a:r>
            <a:endParaRPr lang="en-US" sz="1100" dirty="0"/>
          </a:p>
        </p:txBody>
      </p:sp>
      <p:sp>
        <p:nvSpPr>
          <p:cNvPr id="9" name="Text 7"/>
          <p:cNvSpPr/>
          <p:nvPr/>
        </p:nvSpPr>
        <p:spPr>
          <a:xfrm>
            <a:off x="6217920" y="2194560"/>
            <a:ext cx="4511040" cy="286512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This is the bottom level of the three-level model. Look at the building, the flag, the fire truck, the school bus. Don't name it yet -- just observe.</a:t>
            </a:r>
            <a:endParaRPr lang="en-US" sz="1300" dirty="0"/>
          </a:p>
          <a:p>
            <a:pPr indent="0" marL="0">
              <a:buNone/>
            </a:pPr>
            <a:endParaRPr lang="en-US" sz="1300" dirty="0"/>
          </a:p>
          <a:p>
            <a:pPr indent="0" marL="0">
              <a:buNone/>
            </a:pPr>
            <a:r>
              <a:rPr lang="en-US" sz="1300" dirty="0">
                <a:solidFill>
                  <a:srgbClr val="0E1C42"/>
                </a:solidFill>
                <a:latin typeface="Calibri" pitchFamily="34" charset="0"/>
                <a:ea typeface="Calibri" pitchFamily="34" charset="-122"/>
                <a:cs typeface="Calibri" pitchFamily="34" charset="-120"/>
              </a:rPr>
              <a:t>Take 5 seconds of silence. What do all these things have in common?</a:t>
            </a:r>
            <a:endParaRPr lang="en-US" sz="1300" dirty="0"/>
          </a:p>
        </p:txBody>
      </p:sp>
      <p:sp>
        <p:nvSpPr>
          <p:cNvPr id="10" name="Shape 8"/>
          <p:cNvSpPr/>
          <p:nvPr/>
        </p:nvSpPr>
        <p:spPr>
          <a:xfrm>
            <a:off x="731520" y="5547360"/>
            <a:ext cx="10241280" cy="975360"/>
          </a:xfrm>
          <a:prstGeom prst="roundRect">
            <a:avLst>
              <a:gd name="adj" fmla="val 15000"/>
            </a:avLst>
          </a:prstGeom>
          <a:solidFill>
            <a:srgbClr val="FFF3DC"/>
          </a:solidFill>
          <a:ln w="19050">
            <a:solidFill>
              <a:srgbClr val="F5E6C8"/>
            </a:solidFill>
            <a:prstDash val="solid"/>
          </a:ln>
        </p:spPr>
      </p:sp>
      <p:sp>
        <p:nvSpPr>
          <p:cNvPr id="11" name="Text 9"/>
          <p:cNvSpPr/>
          <p:nvPr/>
        </p:nvSpPr>
        <p:spPr>
          <a:xfrm>
            <a:off x="914400" y="5620512"/>
            <a:ext cx="98755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914400" y="5888736"/>
            <a:ext cx="987552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all these things are..."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"These all seem close to..."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DISCUSSION · LEVEL ONE</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Who Runs the Things You See Every Day?</a:t>
            </a:r>
            <a:endParaRPr lang="en-US" sz="2600" dirty="0"/>
          </a:p>
        </p:txBody>
      </p:sp>
      <p:sp>
        <p:nvSpPr>
          <p:cNvPr id="4" name="Shape 2"/>
          <p:cNvSpPr/>
          <p:nvPr/>
        </p:nvSpPr>
        <p:spPr>
          <a:xfrm>
            <a:off x="731520" y="1645920"/>
            <a:ext cx="10241280" cy="2621280"/>
          </a:xfrm>
          <a:prstGeom prst="roundRect">
            <a:avLst>
              <a:gd name="adj" fmla="val 6977"/>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975360" y="1767840"/>
            <a:ext cx="97536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975360" y="2109216"/>
            <a:ext cx="9753600" cy="20360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see that makes you say these are all close to home?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do you think pays for the fire truck and the school bus?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someone else argue is different about these jobs?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there be another explanation for why they're grouped together?</a:t>
            </a:r>
            <a:endParaRPr lang="en-US" sz="1100" dirty="0"/>
          </a:p>
        </p:txBody>
      </p:sp>
      <p:sp>
        <p:nvSpPr>
          <p:cNvPr id="7" name="Shape 5"/>
          <p:cNvSpPr/>
          <p:nvPr/>
        </p:nvSpPr>
        <p:spPr>
          <a:xfrm>
            <a:off x="731520" y="4450080"/>
            <a:ext cx="10241280" cy="1950720"/>
          </a:xfrm>
          <a:prstGeom prst="roundRect">
            <a:avLst>
              <a:gd name="adj" fmla="val 7500"/>
            </a:avLst>
          </a:prstGeom>
          <a:solidFill>
            <a:srgbClr val="FFF3DC"/>
          </a:solidFill>
          <a:ln w="19050">
            <a:solidFill>
              <a:srgbClr val="F5E6C8"/>
            </a:solidFill>
            <a:prstDash val="solid"/>
          </a:ln>
        </p:spPr>
      </p:sp>
      <p:sp>
        <p:nvSpPr>
          <p:cNvPr id="8" name="Text 6"/>
          <p:cNvSpPr/>
          <p:nvPr/>
        </p:nvSpPr>
        <p:spPr>
          <a:xfrm>
            <a:off x="914400" y="4523232"/>
            <a:ext cx="98755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914400" y="4791456"/>
            <a:ext cx="9875520" cy="1524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these jobs are run by...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"At first I thought... but now I think..."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REVEAL · LEVEL ONE</a:t>
            </a:r>
            <a:endParaRPr lang="en-US" sz="1200" dirty="0"/>
          </a:p>
        </p:txBody>
      </p:sp>
      <p:sp>
        <p:nvSpPr>
          <p:cNvPr id="6" name="Text 3"/>
          <p:cNvSpPr/>
          <p:nvPr/>
        </p:nvSpPr>
        <p:spPr>
          <a:xfrm>
            <a:off x="731520" y="670560"/>
            <a:ext cx="10363200" cy="975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Local Government</a:t>
            </a:r>
            <a:endParaRPr lang="en-US" sz="3000" dirty="0"/>
          </a:p>
        </p:txBody>
      </p:sp>
      <p:sp>
        <p:nvSpPr>
          <p:cNvPr id="7" name="Text 4"/>
          <p:cNvSpPr/>
          <p:nvPr/>
        </p:nvSpPr>
        <p:spPr>
          <a:xfrm>
            <a:off x="731520" y="1828800"/>
            <a:ext cx="10363200"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Bottom level of the model. This is the government for your place — your city, town, or county.</a:t>
            </a:r>
            <a:endParaRPr lang="en-US" sz="1400" dirty="0"/>
          </a:p>
        </p:txBody>
      </p:sp>
      <p:sp>
        <p:nvSpPr>
          <p:cNvPr id="8" name="Shape 5"/>
          <p:cNvSpPr/>
          <p:nvPr/>
        </p:nvSpPr>
        <p:spPr>
          <a:xfrm>
            <a:off x="731520" y="2743200"/>
            <a:ext cx="10241280" cy="829056"/>
          </a:xfrm>
          <a:prstGeom prst="roundRect">
            <a:avLst>
              <a:gd name="adj" fmla="val 14706"/>
            </a:avLst>
          </a:prstGeom>
          <a:solidFill>
            <a:srgbClr val="1A2D5A"/>
          </a:solidFill>
          <a:ln/>
        </p:spPr>
      </p:sp>
      <p:sp>
        <p:nvSpPr>
          <p:cNvPr id="9" name="Text 6"/>
          <p:cNvSpPr/>
          <p:nvPr/>
        </p:nvSpPr>
        <p:spPr>
          <a:xfrm>
            <a:off x="975360" y="2816352"/>
            <a:ext cx="1828800" cy="682752"/>
          </a:xfrm>
          <a:prstGeom prst="rect">
            <a:avLst/>
          </a:prstGeom>
          <a:noFill/>
          <a:ln/>
        </p:spPr>
        <p:txBody>
          <a:bodyPr wrap="square" lIns="0" tIns="0" rIns="0" bIns="0" rtlCol="0" anchor="ctr"/>
          <a:lstStyle/>
          <a:p>
            <a:pPr indent="0" marL="0">
              <a:buNone/>
            </a:pPr>
            <a:r>
              <a:rPr lang="en-US" sz="1250" b="1" dirty="0">
                <a:solidFill>
                  <a:srgbClr val="55C8E8"/>
                </a:solidFill>
                <a:latin typeface="Calibri" pitchFamily="34" charset="0"/>
                <a:ea typeface="Calibri" pitchFamily="34" charset="-122"/>
                <a:cs typeface="Calibri" pitchFamily="34" charset="-120"/>
              </a:rPr>
              <a:t>Meets at:</a:t>
            </a:r>
            <a:endParaRPr lang="en-US" sz="1250" dirty="0"/>
          </a:p>
        </p:txBody>
      </p:sp>
      <p:sp>
        <p:nvSpPr>
          <p:cNvPr id="10" name="Text 7"/>
          <p:cNvSpPr/>
          <p:nvPr/>
        </p:nvSpPr>
        <p:spPr>
          <a:xfrm>
            <a:off x="2865120" y="2816352"/>
            <a:ext cx="7924800" cy="68275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 city hall or county courthouse</a:t>
            </a:r>
            <a:endParaRPr lang="en-US" sz="1250" dirty="0"/>
          </a:p>
        </p:txBody>
      </p:sp>
      <p:sp>
        <p:nvSpPr>
          <p:cNvPr id="11" name="Shape 8"/>
          <p:cNvSpPr/>
          <p:nvPr/>
        </p:nvSpPr>
        <p:spPr>
          <a:xfrm>
            <a:off x="731520" y="3718560"/>
            <a:ext cx="10241280" cy="829056"/>
          </a:xfrm>
          <a:prstGeom prst="roundRect">
            <a:avLst>
              <a:gd name="adj" fmla="val 14706"/>
            </a:avLst>
          </a:prstGeom>
          <a:solidFill>
            <a:srgbClr val="1A2D5A"/>
          </a:solidFill>
          <a:ln/>
        </p:spPr>
      </p:sp>
      <p:sp>
        <p:nvSpPr>
          <p:cNvPr id="12" name="Text 9"/>
          <p:cNvSpPr/>
          <p:nvPr/>
        </p:nvSpPr>
        <p:spPr>
          <a:xfrm>
            <a:off x="975360" y="3791712"/>
            <a:ext cx="1828800" cy="682752"/>
          </a:xfrm>
          <a:prstGeom prst="rect">
            <a:avLst/>
          </a:prstGeom>
          <a:noFill/>
          <a:ln/>
        </p:spPr>
        <p:txBody>
          <a:bodyPr wrap="square" lIns="0" tIns="0" rIns="0" bIns="0" rtlCol="0" anchor="ctr"/>
          <a:lstStyle/>
          <a:p>
            <a:pPr indent="0" marL="0">
              <a:buNone/>
            </a:pPr>
            <a:r>
              <a:rPr lang="en-US" sz="1250" b="1" dirty="0">
                <a:solidFill>
                  <a:srgbClr val="55C8E8"/>
                </a:solidFill>
                <a:latin typeface="Calibri" pitchFamily="34" charset="0"/>
                <a:ea typeface="Calibri" pitchFamily="34" charset="-122"/>
                <a:cs typeface="Calibri" pitchFamily="34" charset="-120"/>
              </a:rPr>
              <a:t>Leader:</a:t>
            </a:r>
            <a:endParaRPr lang="en-US" sz="1250" dirty="0"/>
          </a:p>
        </p:txBody>
      </p:sp>
      <p:sp>
        <p:nvSpPr>
          <p:cNvPr id="13" name="Text 10"/>
          <p:cNvSpPr/>
          <p:nvPr/>
        </p:nvSpPr>
        <p:spPr>
          <a:xfrm>
            <a:off x="2865120" y="3791712"/>
            <a:ext cx="7924800" cy="68275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Usually called a mayor</a:t>
            </a:r>
            <a:endParaRPr lang="en-US" sz="1250" dirty="0"/>
          </a:p>
        </p:txBody>
      </p:sp>
      <p:sp>
        <p:nvSpPr>
          <p:cNvPr id="14" name="Shape 11"/>
          <p:cNvSpPr/>
          <p:nvPr/>
        </p:nvSpPr>
        <p:spPr>
          <a:xfrm>
            <a:off x="731520" y="4693920"/>
            <a:ext cx="10241280" cy="829056"/>
          </a:xfrm>
          <a:prstGeom prst="roundRect">
            <a:avLst>
              <a:gd name="adj" fmla="val 14706"/>
            </a:avLst>
          </a:prstGeom>
          <a:solidFill>
            <a:srgbClr val="1A2D5A"/>
          </a:solidFill>
          <a:ln/>
        </p:spPr>
      </p:sp>
      <p:sp>
        <p:nvSpPr>
          <p:cNvPr id="15" name="Text 12"/>
          <p:cNvSpPr/>
          <p:nvPr/>
        </p:nvSpPr>
        <p:spPr>
          <a:xfrm>
            <a:off x="975360" y="4767072"/>
            <a:ext cx="1828800" cy="682752"/>
          </a:xfrm>
          <a:prstGeom prst="rect">
            <a:avLst/>
          </a:prstGeom>
          <a:noFill/>
          <a:ln/>
        </p:spPr>
        <p:txBody>
          <a:bodyPr wrap="square" lIns="0" tIns="0" rIns="0" bIns="0" rtlCol="0" anchor="ctr"/>
          <a:lstStyle/>
          <a:p>
            <a:pPr indent="0" marL="0">
              <a:buNone/>
            </a:pPr>
            <a:r>
              <a:rPr lang="en-US" sz="1250" b="1" dirty="0">
                <a:solidFill>
                  <a:srgbClr val="55C8E8"/>
                </a:solidFill>
                <a:latin typeface="Calibri" pitchFamily="34" charset="0"/>
                <a:ea typeface="Calibri" pitchFamily="34" charset="-122"/>
                <a:cs typeface="Calibri" pitchFamily="34" charset="-120"/>
              </a:rPr>
              <a:t>Runs:</a:t>
            </a:r>
            <a:endParaRPr lang="en-US" sz="1250" dirty="0"/>
          </a:p>
        </p:txBody>
      </p:sp>
      <p:sp>
        <p:nvSpPr>
          <p:cNvPr id="16" name="Text 13"/>
          <p:cNvSpPr/>
          <p:nvPr/>
        </p:nvSpPr>
        <p:spPr>
          <a:xfrm>
            <a:off x="2865120" y="4767072"/>
            <a:ext cx="7924800" cy="68275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Your public school, the trash truck, the fire station, the public library, and the parks where you play</a:t>
            </a:r>
            <a:endParaRPr lang="en-US" sz="1250" dirty="0"/>
          </a:p>
        </p:txBody>
      </p:sp>
      <p:sp>
        <p:nvSpPr>
          <p:cNvPr id="17" name="Text 14"/>
          <p:cNvSpPr/>
          <p:nvPr/>
        </p:nvSpPr>
        <p:spPr>
          <a:xfrm>
            <a:off x="731520" y="5791200"/>
            <a:ext cx="10241280" cy="609600"/>
          </a:xfrm>
          <a:prstGeom prst="rect">
            <a:avLst/>
          </a:prstGeom>
          <a:noFill/>
          <a:ln/>
        </p:spPr>
        <p:txBody>
          <a:bodyPr wrap="square" lIns="0" tIns="0" rIns="0" bIns="0" rtlCol="0" anchor="ctr"/>
          <a:lstStyle/>
          <a:p>
            <a:pPr indent="0" marL="0">
              <a:buNone/>
            </a:pPr>
            <a:r>
              <a:rPr lang="en-US" sz="1150" i="1" dirty="0">
                <a:solidFill>
                  <a:srgbClr val="D4943A"/>
                </a:solidFill>
                <a:latin typeface="Calibri" pitchFamily="34" charset="0"/>
                <a:ea typeface="Calibri" pitchFamily="34" charset="-122"/>
                <a:cs typeface="Calibri" pitchFamily="34" charset="-120"/>
              </a:rPr>
              <a:t>Retrieval: cover your screen. Say the leader's title and the meeting place for local government -- from memory.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CLUE BOX · LEVEL TWO</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 Middle Level of the Model</a:t>
            </a:r>
            <a:endParaRPr lang="en-US" sz="2600" dirty="0"/>
          </a:p>
        </p:txBody>
      </p:sp>
      <p:sp>
        <p:nvSpPr>
          <p:cNvPr id="4" name="Shape 2"/>
          <p:cNvSpPr/>
          <p:nvPr/>
        </p:nvSpPr>
        <p:spPr>
          <a:xfrm>
            <a:off x="731520" y="1584960"/>
            <a:ext cx="4876800" cy="3657600"/>
          </a:xfrm>
          <a:prstGeom prst="roundRect">
            <a:avLst>
              <a:gd name="adj" fmla="val 4000"/>
            </a:avLst>
          </a:prstGeom>
          <a:solidFill>
            <a:srgbClr val="E2E8F4"/>
          </a:solidFill>
          <a:ln w="19050">
            <a:solidFill>
              <a:srgbClr val="B0B8CC"/>
            </a:solidFill>
            <a:prstDash val="dash"/>
          </a:ln>
        </p:spPr>
      </p:sp>
      <p:sp>
        <p:nvSpPr>
          <p:cNvPr id="5" name="Text 3"/>
          <p:cNvSpPr/>
          <p:nvPr/>
        </p:nvSpPr>
        <p:spPr>
          <a:xfrm>
            <a:off x="731520" y="158496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914400" y="1950720"/>
            <a:ext cx="4511040" cy="3169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state capitol building with a small dome, a highway sign reading 'Florida State Road 50', and a driver's license card -- middle-level scenes.</a:t>
            </a:r>
            <a:endParaRPr lang="en-US" sz="1100" dirty="0"/>
          </a:p>
        </p:txBody>
      </p:sp>
      <p:sp>
        <p:nvSpPr>
          <p:cNvPr id="7" name="Shape 5"/>
          <p:cNvSpPr/>
          <p:nvPr/>
        </p:nvSpPr>
        <p:spPr>
          <a:xfrm>
            <a:off x="5974080" y="1584960"/>
            <a:ext cx="4998720" cy="3657600"/>
          </a:xfrm>
          <a:prstGeom prst="roundRect">
            <a:avLst>
              <a:gd name="adj" fmla="val 4000"/>
            </a:avLst>
          </a:prstGeom>
          <a:solidFill>
            <a:srgbClr val="FFF3DC"/>
          </a:solidFill>
          <a:ln w="12700">
            <a:solidFill>
              <a:srgbClr val="D4943A"/>
            </a:solidFill>
            <a:prstDash val="solid"/>
          </a:ln>
        </p:spPr>
      </p:sp>
      <p:sp>
        <p:nvSpPr>
          <p:cNvPr id="8" name="Text 6"/>
          <p:cNvSpPr/>
          <p:nvPr/>
        </p:nvSpPr>
        <p:spPr>
          <a:xfrm>
            <a:off x="6217920" y="1767840"/>
            <a:ext cx="4511040" cy="36576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LOOK CLOSELY</a:t>
            </a:r>
            <a:endParaRPr lang="en-US" sz="1100" dirty="0"/>
          </a:p>
        </p:txBody>
      </p:sp>
      <p:sp>
        <p:nvSpPr>
          <p:cNvPr id="9" name="Text 7"/>
          <p:cNvSpPr/>
          <p:nvPr/>
        </p:nvSpPr>
        <p:spPr>
          <a:xfrm>
            <a:off x="6217920" y="2194560"/>
            <a:ext cx="4511040" cy="286512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This is the middle level of the model -- a capitol building with a small dome, a state highway sign, a driver's license card. Don't name it yet -- just observe.</a:t>
            </a:r>
            <a:endParaRPr lang="en-US" sz="1250" dirty="0"/>
          </a:p>
          <a:p>
            <a:pPr indent="0" marL="0">
              <a:buNone/>
            </a:pP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Take 5 seconds of silence. How is this bigger than the local level, but smaller than the whole country?</a:t>
            </a:r>
            <a:endParaRPr lang="en-US" sz="1250" dirty="0"/>
          </a:p>
        </p:txBody>
      </p:sp>
      <p:sp>
        <p:nvSpPr>
          <p:cNvPr id="10" name="Shape 8"/>
          <p:cNvSpPr/>
          <p:nvPr/>
        </p:nvSpPr>
        <p:spPr>
          <a:xfrm>
            <a:off x="731520" y="5547360"/>
            <a:ext cx="10241280" cy="975360"/>
          </a:xfrm>
          <a:prstGeom prst="roundRect">
            <a:avLst>
              <a:gd name="adj" fmla="val 15000"/>
            </a:avLst>
          </a:prstGeom>
          <a:solidFill>
            <a:srgbClr val="FFF3DC"/>
          </a:solidFill>
          <a:ln w="19050">
            <a:solidFill>
              <a:srgbClr val="F5E6C8"/>
            </a:solidFill>
            <a:prstDash val="solid"/>
          </a:ln>
        </p:spPr>
      </p:sp>
      <p:sp>
        <p:nvSpPr>
          <p:cNvPr id="11" name="Text 9"/>
          <p:cNvSpPr/>
          <p:nvPr/>
        </p:nvSpPr>
        <p:spPr>
          <a:xfrm>
            <a:off x="914400" y="5620512"/>
            <a:ext cx="98755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914400" y="5888736"/>
            <a:ext cx="987552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this level covers more than..."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seems bigger than local because..."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DISCUSSION · LEVEL TWO</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Bigger Than a Town, Smaller Than a Country</a:t>
            </a:r>
            <a:endParaRPr lang="en-US" sz="2600" dirty="0"/>
          </a:p>
        </p:txBody>
      </p:sp>
      <p:sp>
        <p:nvSpPr>
          <p:cNvPr id="4" name="Shape 2"/>
          <p:cNvSpPr/>
          <p:nvPr/>
        </p:nvSpPr>
        <p:spPr>
          <a:xfrm>
            <a:off x="731520" y="1645920"/>
            <a:ext cx="10241280" cy="2621280"/>
          </a:xfrm>
          <a:prstGeom prst="roundRect">
            <a:avLst>
              <a:gd name="adj" fmla="val 6977"/>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975360" y="1767840"/>
            <a:ext cx="97536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975360" y="2109216"/>
            <a:ext cx="9753600" cy="20360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see that makes you say this covers more than one town?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a driver's license need to come from somewhere bigger than your city?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someone else argue makes this level different from local?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there be another explanation for why the capitol has a dome, like the local city hall doesn't?</a:t>
            </a:r>
            <a:endParaRPr lang="en-US" sz="1100" dirty="0"/>
          </a:p>
        </p:txBody>
      </p:sp>
      <p:sp>
        <p:nvSpPr>
          <p:cNvPr id="7" name="Shape 5"/>
          <p:cNvSpPr/>
          <p:nvPr/>
        </p:nvSpPr>
        <p:spPr>
          <a:xfrm>
            <a:off x="731520" y="4450080"/>
            <a:ext cx="10241280" cy="1950720"/>
          </a:xfrm>
          <a:prstGeom prst="roundRect">
            <a:avLst>
              <a:gd name="adj" fmla="val 7500"/>
            </a:avLst>
          </a:prstGeom>
          <a:solidFill>
            <a:srgbClr val="FFF3DC"/>
          </a:solidFill>
          <a:ln w="19050">
            <a:solidFill>
              <a:srgbClr val="F5E6C8"/>
            </a:solidFill>
            <a:prstDash val="solid"/>
          </a:ln>
        </p:spPr>
      </p:sp>
      <p:sp>
        <p:nvSpPr>
          <p:cNvPr id="8" name="Text 6"/>
          <p:cNvSpPr/>
          <p:nvPr/>
        </p:nvSpPr>
        <p:spPr>
          <a:xfrm>
            <a:off x="914400" y="4523232"/>
            <a:ext cx="98755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914400" y="4791456"/>
            <a:ext cx="9875520" cy="1524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level handles...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question I still have is..."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REVEAL · LEVEL TWO</a:t>
            </a:r>
            <a:endParaRPr lang="en-US" sz="1200" dirty="0"/>
          </a:p>
        </p:txBody>
      </p:sp>
      <p:sp>
        <p:nvSpPr>
          <p:cNvPr id="6" name="Text 3"/>
          <p:cNvSpPr/>
          <p:nvPr/>
        </p:nvSpPr>
        <p:spPr>
          <a:xfrm>
            <a:off x="731520" y="670560"/>
            <a:ext cx="10363200" cy="975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State Government</a:t>
            </a:r>
            <a:endParaRPr lang="en-US" sz="3000" dirty="0"/>
          </a:p>
        </p:txBody>
      </p:sp>
      <p:sp>
        <p:nvSpPr>
          <p:cNvPr id="7" name="Text 4"/>
          <p:cNvSpPr/>
          <p:nvPr/>
        </p:nvSpPr>
        <p:spPr>
          <a:xfrm>
            <a:off x="731520" y="1828800"/>
            <a:ext cx="10363200"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Middle level of the model. This is the government for a whole state.</a:t>
            </a:r>
            <a:endParaRPr lang="en-US" sz="1400" dirty="0"/>
          </a:p>
        </p:txBody>
      </p:sp>
      <p:sp>
        <p:nvSpPr>
          <p:cNvPr id="8" name="Shape 5"/>
          <p:cNvSpPr/>
          <p:nvPr/>
        </p:nvSpPr>
        <p:spPr>
          <a:xfrm>
            <a:off x="731520" y="2743200"/>
            <a:ext cx="10241280" cy="829056"/>
          </a:xfrm>
          <a:prstGeom prst="roundRect">
            <a:avLst>
              <a:gd name="adj" fmla="val 14706"/>
            </a:avLst>
          </a:prstGeom>
          <a:solidFill>
            <a:srgbClr val="1A2D5A"/>
          </a:solidFill>
          <a:ln/>
        </p:spPr>
      </p:sp>
      <p:sp>
        <p:nvSpPr>
          <p:cNvPr id="9" name="Text 6"/>
          <p:cNvSpPr/>
          <p:nvPr/>
        </p:nvSpPr>
        <p:spPr>
          <a:xfrm>
            <a:off x="975360" y="2816352"/>
            <a:ext cx="1828800" cy="682752"/>
          </a:xfrm>
          <a:prstGeom prst="rect">
            <a:avLst/>
          </a:prstGeom>
          <a:noFill/>
          <a:ln/>
        </p:spPr>
        <p:txBody>
          <a:bodyPr wrap="square" lIns="0" tIns="0" rIns="0" bIns="0" rtlCol="0" anchor="ctr"/>
          <a:lstStyle/>
          <a:p>
            <a:pPr indent="0" marL="0">
              <a:buNone/>
            </a:pPr>
            <a:r>
              <a:rPr lang="en-US" sz="1250" b="1" dirty="0">
                <a:solidFill>
                  <a:srgbClr val="55C8E8"/>
                </a:solidFill>
                <a:latin typeface="Calibri" pitchFamily="34" charset="0"/>
                <a:ea typeface="Calibri" pitchFamily="34" charset="-122"/>
                <a:cs typeface="Calibri" pitchFamily="34" charset="-120"/>
              </a:rPr>
              <a:t>Meets at:</a:t>
            </a:r>
            <a:endParaRPr lang="en-US" sz="1250" dirty="0"/>
          </a:p>
        </p:txBody>
      </p:sp>
      <p:sp>
        <p:nvSpPr>
          <p:cNvPr id="10" name="Text 7"/>
          <p:cNvSpPr/>
          <p:nvPr/>
        </p:nvSpPr>
        <p:spPr>
          <a:xfrm>
            <a:off x="2865120" y="2816352"/>
            <a:ext cx="7924800" cy="68275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Tallahassee, Florida's state capital</a:t>
            </a:r>
            <a:endParaRPr lang="en-US" sz="1250" dirty="0"/>
          </a:p>
        </p:txBody>
      </p:sp>
      <p:sp>
        <p:nvSpPr>
          <p:cNvPr id="11" name="Shape 8"/>
          <p:cNvSpPr/>
          <p:nvPr/>
        </p:nvSpPr>
        <p:spPr>
          <a:xfrm>
            <a:off x="731520" y="3718560"/>
            <a:ext cx="10241280" cy="829056"/>
          </a:xfrm>
          <a:prstGeom prst="roundRect">
            <a:avLst>
              <a:gd name="adj" fmla="val 14706"/>
            </a:avLst>
          </a:prstGeom>
          <a:solidFill>
            <a:srgbClr val="1A2D5A"/>
          </a:solidFill>
          <a:ln/>
        </p:spPr>
      </p:sp>
      <p:sp>
        <p:nvSpPr>
          <p:cNvPr id="12" name="Text 9"/>
          <p:cNvSpPr/>
          <p:nvPr/>
        </p:nvSpPr>
        <p:spPr>
          <a:xfrm>
            <a:off x="975360" y="3791712"/>
            <a:ext cx="1828800" cy="682752"/>
          </a:xfrm>
          <a:prstGeom prst="rect">
            <a:avLst/>
          </a:prstGeom>
          <a:noFill/>
          <a:ln/>
        </p:spPr>
        <p:txBody>
          <a:bodyPr wrap="square" lIns="0" tIns="0" rIns="0" bIns="0" rtlCol="0" anchor="ctr"/>
          <a:lstStyle/>
          <a:p>
            <a:pPr indent="0" marL="0">
              <a:buNone/>
            </a:pPr>
            <a:r>
              <a:rPr lang="en-US" sz="1250" b="1" dirty="0">
                <a:solidFill>
                  <a:srgbClr val="55C8E8"/>
                </a:solidFill>
                <a:latin typeface="Calibri" pitchFamily="34" charset="0"/>
                <a:ea typeface="Calibri" pitchFamily="34" charset="-122"/>
                <a:cs typeface="Calibri" pitchFamily="34" charset="-120"/>
              </a:rPr>
              <a:t>Leader:</a:t>
            </a:r>
            <a:endParaRPr lang="en-US" sz="1250" dirty="0"/>
          </a:p>
        </p:txBody>
      </p:sp>
      <p:sp>
        <p:nvSpPr>
          <p:cNvPr id="13" name="Text 10"/>
          <p:cNvSpPr/>
          <p:nvPr/>
        </p:nvSpPr>
        <p:spPr>
          <a:xfrm>
            <a:off x="2865120" y="3791712"/>
            <a:ext cx="7924800" cy="68275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Called a governor</a:t>
            </a:r>
            <a:endParaRPr lang="en-US" sz="1250" dirty="0"/>
          </a:p>
        </p:txBody>
      </p:sp>
      <p:sp>
        <p:nvSpPr>
          <p:cNvPr id="14" name="Shape 11"/>
          <p:cNvSpPr/>
          <p:nvPr/>
        </p:nvSpPr>
        <p:spPr>
          <a:xfrm>
            <a:off x="731520" y="4693920"/>
            <a:ext cx="10241280" cy="829056"/>
          </a:xfrm>
          <a:prstGeom prst="roundRect">
            <a:avLst>
              <a:gd name="adj" fmla="val 14706"/>
            </a:avLst>
          </a:prstGeom>
          <a:solidFill>
            <a:srgbClr val="1A2D5A"/>
          </a:solidFill>
          <a:ln/>
        </p:spPr>
      </p:sp>
      <p:sp>
        <p:nvSpPr>
          <p:cNvPr id="15" name="Text 12"/>
          <p:cNvSpPr/>
          <p:nvPr/>
        </p:nvSpPr>
        <p:spPr>
          <a:xfrm>
            <a:off x="975360" y="4767072"/>
            <a:ext cx="1828800" cy="682752"/>
          </a:xfrm>
          <a:prstGeom prst="rect">
            <a:avLst/>
          </a:prstGeom>
          <a:noFill/>
          <a:ln/>
        </p:spPr>
        <p:txBody>
          <a:bodyPr wrap="square" lIns="0" tIns="0" rIns="0" bIns="0" rtlCol="0" anchor="ctr"/>
          <a:lstStyle/>
          <a:p>
            <a:pPr indent="0" marL="0">
              <a:buNone/>
            </a:pPr>
            <a:r>
              <a:rPr lang="en-US" sz="1250" b="1" dirty="0">
                <a:solidFill>
                  <a:srgbClr val="55C8E8"/>
                </a:solidFill>
                <a:latin typeface="Calibri" pitchFamily="34" charset="0"/>
                <a:ea typeface="Calibri" pitchFamily="34" charset="-122"/>
                <a:cs typeface="Calibri" pitchFamily="34" charset="-120"/>
              </a:rPr>
              <a:t>Runs:</a:t>
            </a:r>
            <a:endParaRPr lang="en-US" sz="1250" dirty="0"/>
          </a:p>
        </p:txBody>
      </p:sp>
      <p:sp>
        <p:nvSpPr>
          <p:cNvPr id="16" name="Text 13"/>
          <p:cNvSpPr/>
          <p:nvPr/>
        </p:nvSpPr>
        <p:spPr>
          <a:xfrm>
            <a:off x="2865120" y="4767072"/>
            <a:ext cx="7924800" cy="68275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Driver's licenses, state highways, state parks (like the Everglades), and rules for fishing and hunting</a:t>
            </a:r>
            <a:endParaRPr lang="en-US" sz="1250" dirty="0"/>
          </a:p>
        </p:txBody>
      </p:sp>
      <p:sp>
        <p:nvSpPr>
          <p:cNvPr id="17" name="Text 14"/>
          <p:cNvSpPr/>
          <p:nvPr/>
        </p:nvSpPr>
        <p:spPr>
          <a:xfrm>
            <a:off x="731520" y="5791200"/>
            <a:ext cx="10241280" cy="609600"/>
          </a:xfrm>
          <a:prstGeom prst="rect">
            <a:avLst/>
          </a:prstGeom>
          <a:noFill/>
          <a:ln/>
        </p:spPr>
        <p:txBody>
          <a:bodyPr wrap="square" lIns="0" tIns="0" rIns="0" bIns="0" rtlCol="0" anchor="ctr"/>
          <a:lstStyle/>
          <a:p>
            <a:pPr indent="0" marL="0">
              <a:buNone/>
            </a:pPr>
            <a:r>
              <a:rPr lang="en-US" sz="1150" i="1" dirty="0">
                <a:solidFill>
                  <a:srgbClr val="D4943A"/>
                </a:solidFill>
                <a:latin typeface="Calibri" pitchFamily="34" charset="0"/>
                <a:ea typeface="Calibri" pitchFamily="34" charset="-122"/>
                <a:cs typeface="Calibri" pitchFamily="34" charset="-120"/>
              </a:rPr>
              <a:t>Retrieval: cover your screen. Say the leader's title and the meeting place for state government -- from memory.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CLUE BOX · LEVEL THREE</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 Top Level of the Model</a:t>
            </a:r>
            <a:endParaRPr lang="en-US" sz="2600" dirty="0"/>
          </a:p>
        </p:txBody>
      </p:sp>
      <p:sp>
        <p:nvSpPr>
          <p:cNvPr id="4" name="Shape 2"/>
          <p:cNvSpPr/>
          <p:nvPr/>
        </p:nvSpPr>
        <p:spPr>
          <a:xfrm>
            <a:off x="731520" y="1584960"/>
            <a:ext cx="4876800" cy="3657600"/>
          </a:xfrm>
          <a:prstGeom prst="roundRect">
            <a:avLst>
              <a:gd name="adj" fmla="val 4000"/>
            </a:avLst>
          </a:prstGeom>
          <a:solidFill>
            <a:srgbClr val="E2E8F4"/>
          </a:solidFill>
          <a:ln w="19050">
            <a:solidFill>
              <a:srgbClr val="B0B8CC"/>
            </a:solidFill>
            <a:prstDash val="dash"/>
          </a:ln>
        </p:spPr>
      </p:sp>
      <p:sp>
        <p:nvSpPr>
          <p:cNvPr id="5" name="Text 3"/>
          <p:cNvSpPr/>
          <p:nvPr/>
        </p:nvSpPr>
        <p:spPr>
          <a:xfrm>
            <a:off x="731520" y="1584960"/>
            <a:ext cx="48768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914400" y="1950720"/>
            <a:ext cx="4511040" cy="31699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The white-domed U.S. Capitol building, a U.S. dollar bill, a U.S. Postal Service mail truck -- top-level national scenes.</a:t>
            </a:r>
            <a:endParaRPr lang="en-US" sz="1100" dirty="0"/>
          </a:p>
        </p:txBody>
      </p:sp>
      <p:sp>
        <p:nvSpPr>
          <p:cNvPr id="7" name="Shape 5"/>
          <p:cNvSpPr/>
          <p:nvPr/>
        </p:nvSpPr>
        <p:spPr>
          <a:xfrm>
            <a:off x="5974080" y="1584960"/>
            <a:ext cx="4998720" cy="3657600"/>
          </a:xfrm>
          <a:prstGeom prst="roundRect">
            <a:avLst>
              <a:gd name="adj" fmla="val 4000"/>
            </a:avLst>
          </a:prstGeom>
          <a:solidFill>
            <a:srgbClr val="FFF3DC"/>
          </a:solidFill>
          <a:ln w="12700">
            <a:solidFill>
              <a:srgbClr val="D4943A"/>
            </a:solidFill>
            <a:prstDash val="solid"/>
          </a:ln>
        </p:spPr>
      </p:sp>
      <p:sp>
        <p:nvSpPr>
          <p:cNvPr id="8" name="Text 6"/>
          <p:cNvSpPr/>
          <p:nvPr/>
        </p:nvSpPr>
        <p:spPr>
          <a:xfrm>
            <a:off x="6217920" y="1767840"/>
            <a:ext cx="4511040" cy="365760"/>
          </a:xfrm>
          <a:prstGeom prst="rect">
            <a:avLst/>
          </a:prstGeom>
          <a:noFill/>
          <a:ln/>
        </p:spPr>
        <p:txBody>
          <a:bodyPr wrap="square" lIns="0" tIns="0" rIns="0" bIns="0" rtlCol="0" anchor="ctr"/>
          <a:lstStyle/>
          <a:p>
            <a:pPr indent="0" marL="0">
              <a:buNone/>
            </a:pPr>
            <a:r>
              <a:rPr lang="en-US" sz="1100" b="1" spc="150" kern="0" dirty="0">
                <a:solidFill>
                  <a:srgbClr val="D4943A"/>
                </a:solidFill>
                <a:latin typeface="Calibri" pitchFamily="34" charset="0"/>
                <a:ea typeface="Calibri" pitchFamily="34" charset="-122"/>
                <a:cs typeface="Calibri" pitchFamily="34" charset="-120"/>
              </a:rPr>
              <a:t>LOOK CLOSELY</a:t>
            </a:r>
            <a:endParaRPr lang="en-US" sz="1100" dirty="0"/>
          </a:p>
        </p:txBody>
      </p:sp>
      <p:sp>
        <p:nvSpPr>
          <p:cNvPr id="9" name="Text 7"/>
          <p:cNvSpPr/>
          <p:nvPr/>
        </p:nvSpPr>
        <p:spPr>
          <a:xfrm>
            <a:off x="6217920" y="2194560"/>
            <a:ext cx="4511040" cy="2865120"/>
          </a:xfrm>
          <a:prstGeom prst="rect">
            <a:avLst/>
          </a:prstGeom>
          <a:noFill/>
          <a:ln/>
        </p:spPr>
        <p:txBody>
          <a:bodyPr wrap="square" lIns="0" tIns="0" rIns="0" bIns="0" rtlCol="0" anchor="t"/>
          <a:lstStyle/>
          <a:p>
            <a:pPr indent="0" marL="0">
              <a:buNone/>
            </a:pPr>
            <a:r>
              <a:rPr lang="en-US" sz="1250" dirty="0">
                <a:solidFill>
                  <a:srgbClr val="0E1C42"/>
                </a:solidFill>
                <a:latin typeface="Calibri" pitchFamily="34" charset="0"/>
                <a:ea typeface="Calibri" pitchFamily="34" charset="-122"/>
                <a:cs typeface="Calibri" pitchFamily="34" charset="-120"/>
              </a:rPr>
              <a:t>This is the top level of the model -- the giant white-domed Capitol, a dollar bill, a mail truck. Don't name it yet -- just observe.</a:t>
            </a:r>
            <a:endParaRPr lang="en-US" sz="1250" dirty="0"/>
          </a:p>
          <a:p>
            <a:pPr indent="0" marL="0">
              <a:buNone/>
            </a:pPr>
            <a:endParaRPr lang="en-US" sz="1250" dirty="0"/>
          </a:p>
          <a:p>
            <a:pPr indent="0" marL="0">
              <a:buNone/>
            </a:pPr>
            <a:r>
              <a:rPr lang="en-US" sz="1250" dirty="0">
                <a:solidFill>
                  <a:srgbClr val="0E1C42"/>
                </a:solidFill>
                <a:latin typeface="Calibri" pitchFamily="34" charset="0"/>
                <a:ea typeface="Calibri" pitchFamily="34" charset="-122"/>
                <a:cs typeface="Calibri" pitchFamily="34" charset="-120"/>
              </a:rPr>
              <a:t>Take 5 seconds of silence. What do these three things have in common that makes them bigger than a state job?</a:t>
            </a:r>
            <a:endParaRPr lang="en-US" sz="1250" dirty="0"/>
          </a:p>
        </p:txBody>
      </p:sp>
      <p:sp>
        <p:nvSpPr>
          <p:cNvPr id="10" name="Shape 8"/>
          <p:cNvSpPr/>
          <p:nvPr/>
        </p:nvSpPr>
        <p:spPr>
          <a:xfrm>
            <a:off x="731520" y="5547360"/>
            <a:ext cx="10241280" cy="975360"/>
          </a:xfrm>
          <a:prstGeom prst="roundRect">
            <a:avLst>
              <a:gd name="adj" fmla="val 15000"/>
            </a:avLst>
          </a:prstGeom>
          <a:solidFill>
            <a:srgbClr val="FFF3DC"/>
          </a:solidFill>
          <a:ln w="19050">
            <a:solidFill>
              <a:srgbClr val="F5E6C8"/>
            </a:solidFill>
            <a:prstDash val="solid"/>
          </a:ln>
        </p:spPr>
      </p:sp>
      <p:sp>
        <p:nvSpPr>
          <p:cNvPr id="11" name="Text 9"/>
          <p:cNvSpPr/>
          <p:nvPr/>
        </p:nvSpPr>
        <p:spPr>
          <a:xfrm>
            <a:off x="914400" y="5620512"/>
            <a:ext cx="98755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914400" y="5888736"/>
            <a:ext cx="987552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these things all need to work..."</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must be bigger than state because..."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DISCUSSION · LEVEL THREE</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Jobs That Have to Be the Same for Everybody</a:t>
            </a:r>
            <a:endParaRPr lang="en-US" sz="2600" dirty="0"/>
          </a:p>
        </p:txBody>
      </p:sp>
      <p:sp>
        <p:nvSpPr>
          <p:cNvPr id="4" name="Shape 2"/>
          <p:cNvSpPr/>
          <p:nvPr/>
        </p:nvSpPr>
        <p:spPr>
          <a:xfrm>
            <a:off x="731520" y="1645920"/>
            <a:ext cx="10241280" cy="2621280"/>
          </a:xfrm>
          <a:prstGeom prst="roundRect">
            <a:avLst>
              <a:gd name="adj" fmla="val 6977"/>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975360" y="1767840"/>
            <a:ext cx="97536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975360" y="2109216"/>
            <a:ext cx="9753600" cy="20360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see that makes you say these jobs are the biggest of all?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happen if every state could print its own money?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someone else argue is the reason mail has to be a national job?</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there be another explanation for why the Capitol is the biggest building of the three?</a:t>
            </a:r>
            <a:endParaRPr lang="en-US" sz="1100" dirty="0"/>
          </a:p>
        </p:txBody>
      </p:sp>
      <p:sp>
        <p:nvSpPr>
          <p:cNvPr id="7" name="Shape 5"/>
          <p:cNvSpPr/>
          <p:nvPr/>
        </p:nvSpPr>
        <p:spPr>
          <a:xfrm>
            <a:off x="731520" y="4450080"/>
            <a:ext cx="10241280" cy="1950720"/>
          </a:xfrm>
          <a:prstGeom prst="roundRect">
            <a:avLst>
              <a:gd name="adj" fmla="val 7500"/>
            </a:avLst>
          </a:prstGeom>
          <a:solidFill>
            <a:srgbClr val="FFF3DC"/>
          </a:solidFill>
          <a:ln w="19050">
            <a:solidFill>
              <a:srgbClr val="F5E6C8"/>
            </a:solidFill>
            <a:prstDash val="solid"/>
          </a:ln>
        </p:spPr>
      </p:sp>
      <p:sp>
        <p:nvSpPr>
          <p:cNvPr id="8" name="Text 6"/>
          <p:cNvSpPr/>
          <p:nvPr/>
        </p:nvSpPr>
        <p:spPr>
          <a:xfrm>
            <a:off x="914400" y="4523232"/>
            <a:ext cx="98755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914400" y="4791456"/>
            <a:ext cx="9875520" cy="1524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money has to be national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that surprised me is..."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REVEAL · LEVEL THREE</a:t>
            </a:r>
            <a:endParaRPr lang="en-US" sz="1200" dirty="0"/>
          </a:p>
        </p:txBody>
      </p:sp>
      <p:sp>
        <p:nvSpPr>
          <p:cNvPr id="6" name="Text 3"/>
          <p:cNvSpPr/>
          <p:nvPr/>
        </p:nvSpPr>
        <p:spPr>
          <a:xfrm>
            <a:off x="731520" y="670560"/>
            <a:ext cx="10363200" cy="975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National Government</a:t>
            </a:r>
            <a:endParaRPr lang="en-US" sz="2800" dirty="0"/>
          </a:p>
        </p:txBody>
      </p:sp>
      <p:sp>
        <p:nvSpPr>
          <p:cNvPr id="7" name="Text 4"/>
          <p:cNvSpPr/>
          <p:nvPr/>
        </p:nvSpPr>
        <p:spPr>
          <a:xfrm>
            <a:off x="731520" y="1828800"/>
            <a:ext cx="10363200" cy="73152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Top level of the model. Also called the federal government. This one is for the whole United States.</a:t>
            </a:r>
            <a:endParaRPr lang="en-US" sz="1350" dirty="0"/>
          </a:p>
        </p:txBody>
      </p:sp>
      <p:sp>
        <p:nvSpPr>
          <p:cNvPr id="8" name="Shape 5"/>
          <p:cNvSpPr/>
          <p:nvPr/>
        </p:nvSpPr>
        <p:spPr>
          <a:xfrm>
            <a:off x="731520" y="2743200"/>
            <a:ext cx="10241280" cy="829056"/>
          </a:xfrm>
          <a:prstGeom prst="roundRect">
            <a:avLst>
              <a:gd name="adj" fmla="val 14706"/>
            </a:avLst>
          </a:prstGeom>
          <a:solidFill>
            <a:srgbClr val="1A2D5A"/>
          </a:solidFill>
          <a:ln/>
        </p:spPr>
      </p:sp>
      <p:sp>
        <p:nvSpPr>
          <p:cNvPr id="9" name="Text 6"/>
          <p:cNvSpPr/>
          <p:nvPr/>
        </p:nvSpPr>
        <p:spPr>
          <a:xfrm>
            <a:off x="975360" y="2816352"/>
            <a:ext cx="1828800" cy="682752"/>
          </a:xfrm>
          <a:prstGeom prst="rect">
            <a:avLst/>
          </a:prstGeom>
          <a:noFill/>
          <a:ln/>
        </p:spPr>
        <p:txBody>
          <a:bodyPr wrap="square" lIns="0" tIns="0" rIns="0" bIns="0" rtlCol="0" anchor="ctr"/>
          <a:lstStyle/>
          <a:p>
            <a:pPr indent="0" marL="0">
              <a:buNone/>
            </a:pPr>
            <a:r>
              <a:rPr lang="en-US" sz="1250" b="1" dirty="0">
                <a:solidFill>
                  <a:srgbClr val="55C8E8"/>
                </a:solidFill>
                <a:latin typeface="Calibri" pitchFamily="34" charset="0"/>
                <a:ea typeface="Calibri" pitchFamily="34" charset="-122"/>
                <a:cs typeface="Calibri" pitchFamily="34" charset="-120"/>
              </a:rPr>
              <a:t>Meets at:</a:t>
            </a:r>
            <a:endParaRPr lang="en-US" sz="1250" dirty="0"/>
          </a:p>
        </p:txBody>
      </p:sp>
      <p:sp>
        <p:nvSpPr>
          <p:cNvPr id="10" name="Text 7"/>
          <p:cNvSpPr/>
          <p:nvPr/>
        </p:nvSpPr>
        <p:spPr>
          <a:xfrm>
            <a:off x="2865120" y="2816352"/>
            <a:ext cx="7924800" cy="68275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Washington, D.C., in the U.S. Capitol</a:t>
            </a:r>
            <a:endParaRPr lang="en-US" sz="1250" dirty="0"/>
          </a:p>
        </p:txBody>
      </p:sp>
      <p:sp>
        <p:nvSpPr>
          <p:cNvPr id="11" name="Shape 8"/>
          <p:cNvSpPr/>
          <p:nvPr/>
        </p:nvSpPr>
        <p:spPr>
          <a:xfrm>
            <a:off x="731520" y="3718560"/>
            <a:ext cx="10241280" cy="829056"/>
          </a:xfrm>
          <a:prstGeom prst="roundRect">
            <a:avLst>
              <a:gd name="adj" fmla="val 14706"/>
            </a:avLst>
          </a:prstGeom>
          <a:solidFill>
            <a:srgbClr val="1A2D5A"/>
          </a:solidFill>
          <a:ln/>
        </p:spPr>
      </p:sp>
      <p:sp>
        <p:nvSpPr>
          <p:cNvPr id="12" name="Text 9"/>
          <p:cNvSpPr/>
          <p:nvPr/>
        </p:nvSpPr>
        <p:spPr>
          <a:xfrm>
            <a:off x="975360" y="3791712"/>
            <a:ext cx="1828800" cy="682752"/>
          </a:xfrm>
          <a:prstGeom prst="rect">
            <a:avLst/>
          </a:prstGeom>
          <a:noFill/>
          <a:ln/>
        </p:spPr>
        <p:txBody>
          <a:bodyPr wrap="square" lIns="0" tIns="0" rIns="0" bIns="0" rtlCol="0" anchor="ctr"/>
          <a:lstStyle/>
          <a:p>
            <a:pPr indent="0" marL="0">
              <a:buNone/>
            </a:pPr>
            <a:r>
              <a:rPr lang="en-US" sz="1250" b="1" dirty="0">
                <a:solidFill>
                  <a:srgbClr val="55C8E8"/>
                </a:solidFill>
                <a:latin typeface="Calibri" pitchFamily="34" charset="0"/>
                <a:ea typeface="Calibri" pitchFamily="34" charset="-122"/>
                <a:cs typeface="Calibri" pitchFamily="34" charset="-120"/>
              </a:rPr>
              <a:t>Leader:</a:t>
            </a:r>
            <a:endParaRPr lang="en-US" sz="1250" dirty="0"/>
          </a:p>
        </p:txBody>
      </p:sp>
      <p:sp>
        <p:nvSpPr>
          <p:cNvPr id="13" name="Text 10"/>
          <p:cNvSpPr/>
          <p:nvPr/>
        </p:nvSpPr>
        <p:spPr>
          <a:xfrm>
            <a:off x="2865120" y="3791712"/>
            <a:ext cx="7924800" cy="68275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Called the President</a:t>
            </a:r>
            <a:endParaRPr lang="en-US" sz="1250" dirty="0"/>
          </a:p>
        </p:txBody>
      </p:sp>
      <p:sp>
        <p:nvSpPr>
          <p:cNvPr id="14" name="Shape 11"/>
          <p:cNvSpPr/>
          <p:nvPr/>
        </p:nvSpPr>
        <p:spPr>
          <a:xfrm>
            <a:off x="731520" y="4693920"/>
            <a:ext cx="10241280" cy="829056"/>
          </a:xfrm>
          <a:prstGeom prst="roundRect">
            <a:avLst>
              <a:gd name="adj" fmla="val 14706"/>
            </a:avLst>
          </a:prstGeom>
          <a:solidFill>
            <a:srgbClr val="1A2D5A"/>
          </a:solidFill>
          <a:ln/>
        </p:spPr>
      </p:sp>
      <p:sp>
        <p:nvSpPr>
          <p:cNvPr id="15" name="Text 12"/>
          <p:cNvSpPr/>
          <p:nvPr/>
        </p:nvSpPr>
        <p:spPr>
          <a:xfrm>
            <a:off x="975360" y="4767072"/>
            <a:ext cx="1828800" cy="682752"/>
          </a:xfrm>
          <a:prstGeom prst="rect">
            <a:avLst/>
          </a:prstGeom>
          <a:noFill/>
          <a:ln/>
        </p:spPr>
        <p:txBody>
          <a:bodyPr wrap="square" lIns="0" tIns="0" rIns="0" bIns="0" rtlCol="0" anchor="ctr"/>
          <a:lstStyle/>
          <a:p>
            <a:pPr indent="0" marL="0">
              <a:buNone/>
            </a:pPr>
            <a:r>
              <a:rPr lang="en-US" sz="1250" b="1" dirty="0">
                <a:solidFill>
                  <a:srgbClr val="55C8E8"/>
                </a:solidFill>
                <a:latin typeface="Calibri" pitchFamily="34" charset="0"/>
                <a:ea typeface="Calibri" pitchFamily="34" charset="-122"/>
                <a:cs typeface="Calibri" pitchFamily="34" charset="-120"/>
              </a:rPr>
              <a:t>Runs:</a:t>
            </a:r>
            <a:endParaRPr lang="en-US" sz="1250" dirty="0"/>
          </a:p>
        </p:txBody>
      </p:sp>
      <p:sp>
        <p:nvSpPr>
          <p:cNvPr id="16" name="Text 13"/>
          <p:cNvSpPr/>
          <p:nvPr/>
        </p:nvSpPr>
        <p:spPr>
          <a:xfrm>
            <a:off x="2865120" y="4767072"/>
            <a:ext cx="7924800" cy="682752"/>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Printing money, running the military, the post office, and making agreements with other countries</a:t>
            </a:r>
            <a:endParaRPr lang="en-US" sz="1250" dirty="0"/>
          </a:p>
        </p:txBody>
      </p:sp>
      <p:sp>
        <p:nvSpPr>
          <p:cNvPr id="17" name="Text 14"/>
          <p:cNvSpPr/>
          <p:nvPr/>
        </p:nvSpPr>
        <p:spPr>
          <a:xfrm>
            <a:off x="731520" y="5791200"/>
            <a:ext cx="10241280" cy="609600"/>
          </a:xfrm>
          <a:prstGeom prst="rect">
            <a:avLst/>
          </a:prstGeom>
          <a:noFill/>
          <a:ln/>
        </p:spPr>
        <p:txBody>
          <a:bodyPr wrap="square" lIns="0" tIns="0" rIns="0" bIns="0" rtlCol="0" anchor="ctr"/>
          <a:lstStyle/>
          <a:p>
            <a:pPr indent="0" marL="0">
              <a:buNone/>
            </a:pPr>
            <a:r>
              <a:rPr lang="en-US" sz="1150" i="1" dirty="0">
                <a:solidFill>
                  <a:srgbClr val="D4943A"/>
                </a:solidFill>
                <a:latin typeface="Calibri" pitchFamily="34" charset="0"/>
                <a:ea typeface="Calibri" pitchFamily="34" charset="-122"/>
                <a:cs typeface="Calibri" pitchFamily="34" charset="-120"/>
              </a:rPr>
              <a:t>Retrieval: cover your screen. Name all three levels, leaders, and meeting places -- from memory.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 Levels Cooperate — They Don't Compete</a:t>
            </a:r>
            <a:endParaRPr lang="en-US" sz="2600" dirty="0"/>
          </a:p>
        </p:txBody>
      </p:sp>
      <p:sp>
        <p:nvSpPr>
          <p:cNvPr id="4" name="Text 2"/>
          <p:cNvSpPr/>
          <p:nvPr/>
        </p:nvSpPr>
        <p:spPr>
          <a:xfrm>
            <a:off x="731520" y="1584960"/>
            <a:ext cx="10241280" cy="1219200"/>
          </a:xfrm>
          <a:prstGeom prst="rect">
            <a:avLst/>
          </a:prstGeom>
          <a:noFill/>
          <a:ln/>
        </p:spPr>
        <p:txBody>
          <a:bodyPr wrap="square" lIns="0" tIns="0" rIns="0" bIns="0" rtlCol="0" anchor="t"/>
          <a:lstStyle/>
          <a:p>
            <a:pPr indent="0" marL="0">
              <a:buNone/>
            </a:pPr>
            <a:r>
              <a:rPr lang="en-US" sz="1400" dirty="0">
                <a:solidFill>
                  <a:srgbClr val="0E1C42"/>
                </a:solidFill>
                <a:latin typeface="Calibri" pitchFamily="34" charset="0"/>
                <a:ea typeface="Calibri" pitchFamily="34" charset="-122"/>
                <a:cs typeface="Calibri" pitchFamily="34" charset="-120"/>
              </a:rPr>
              <a:t>Your school is run locally — but it follows some state rules and some national rules at the same time. That's how three levels can serve one community.</a:t>
            </a:r>
            <a:endParaRPr lang="en-US" sz="1400" dirty="0"/>
          </a:p>
        </p:txBody>
      </p:sp>
      <p:sp>
        <p:nvSpPr>
          <p:cNvPr id="5" name="Shape 3"/>
          <p:cNvSpPr/>
          <p:nvPr/>
        </p:nvSpPr>
        <p:spPr>
          <a:xfrm>
            <a:off x="731520" y="2926080"/>
            <a:ext cx="10241280" cy="225552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975360" y="3048000"/>
            <a:ext cx="97536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975360" y="3389376"/>
            <a:ext cx="9753600" cy="16703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Picture your typical morning -- waking up, eating breakfast, riding to school. Which level of government showed up in your morning, and how?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you name a job that more than one level might help with, like running your school?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might it be helpful for three levels to share a job instead of just one?</a:t>
            </a:r>
            <a:endParaRPr lang="en-US" sz="1100" dirty="0"/>
          </a:p>
        </p:txBody>
      </p:sp>
      <p:sp>
        <p:nvSpPr>
          <p:cNvPr id="8" name="Shape 6"/>
          <p:cNvSpPr/>
          <p:nvPr/>
        </p:nvSpPr>
        <p:spPr>
          <a:xfrm>
            <a:off x="731520" y="5364480"/>
            <a:ext cx="10241280" cy="1036320"/>
          </a:xfrm>
          <a:prstGeom prst="roundRect">
            <a:avLst>
              <a:gd name="adj" fmla="val 14118"/>
            </a:avLst>
          </a:prstGeom>
          <a:solidFill>
            <a:srgbClr val="FFF3DC"/>
          </a:solidFill>
          <a:ln w="19050">
            <a:solidFill>
              <a:srgbClr val="F5E6C8"/>
            </a:solidFill>
            <a:prstDash val="solid"/>
          </a:ln>
        </p:spPr>
      </p:sp>
      <p:sp>
        <p:nvSpPr>
          <p:cNvPr id="9" name="Text 7"/>
          <p:cNvSpPr/>
          <p:nvPr/>
        </p:nvSpPr>
        <p:spPr>
          <a:xfrm>
            <a:off x="914400" y="5437632"/>
            <a:ext cx="98755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914400" y="5705856"/>
            <a:ext cx="9875520" cy="609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job that more than one level helps with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"In my morning, I saw..."</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GUIDED PRACTICE · TEACHER MODELS</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Sorting the Spilled Label Cards</a:t>
            </a:r>
            <a:endParaRPr lang="en-US" sz="2600" dirty="0"/>
          </a:p>
        </p:txBody>
      </p:sp>
      <p:sp>
        <p:nvSpPr>
          <p:cNvPr id="4" name="Shape 2"/>
          <p:cNvSpPr/>
          <p:nvPr/>
        </p:nvSpPr>
        <p:spPr>
          <a:xfrm>
            <a:off x="731520" y="1584960"/>
            <a:ext cx="10241280" cy="3779520"/>
          </a:xfrm>
          <a:prstGeom prst="roundRect">
            <a:avLst>
              <a:gd name="adj" fmla="val 3871"/>
            </a:avLst>
          </a:prstGeom>
          <a:solidFill>
            <a:srgbClr val="F0F2F8"/>
          </a:solidFill>
          <a:ln/>
        </p:spPr>
      </p:sp>
      <p:sp>
        <p:nvSpPr>
          <p:cNvPr id="5" name="Text 3"/>
          <p:cNvSpPr/>
          <p:nvPr/>
        </p:nvSpPr>
        <p:spPr>
          <a:xfrm>
            <a:off x="1036320" y="1767840"/>
            <a:ext cx="9631680" cy="42672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THINK-ALOUD: "Fire station"</a:t>
            </a:r>
            <a:endParaRPr lang="en-US" sz="1300" dirty="0"/>
          </a:p>
        </p:txBody>
      </p:sp>
      <p:sp>
        <p:nvSpPr>
          <p:cNvPr id="6" name="Text 4"/>
          <p:cNvSpPr/>
          <p:nvPr/>
        </p:nvSpPr>
        <p:spPr>
          <a:xfrm>
            <a:off x="1036320" y="2255520"/>
            <a:ext cx="9631680" cy="2926080"/>
          </a:xfrm>
          <a:prstGeom prst="rect">
            <a:avLst/>
          </a:prstGeom>
          <a:noFill/>
          <a:ln/>
        </p:spPr>
        <p:txBody>
          <a:bodyPr wrap="square" lIns="0" tIns="0" rIns="0" bIns="0" rtlCol="0" anchor="t"/>
          <a:lstStyle/>
          <a:p>
            <a:pPr indent="0" marL="0">
              <a:buNone/>
            </a:pPr>
            <a:r>
              <a:rPr lang="en-US" sz="1300" i="1" dirty="0">
                <a:solidFill>
                  <a:srgbClr val="0E1C42"/>
                </a:solidFill>
                <a:latin typeface="Calibri" pitchFamily="34" charset="0"/>
                <a:ea typeface="Calibri" pitchFamily="34" charset="-122"/>
                <a:cs typeface="Calibri" pitchFamily="34" charset="-120"/>
              </a:rPr>
              <a:t>"Let me think about this card: fire station. First, I ask myself -- is this a job for the whole country, one state, or just my town?
</a:t>
            </a:r>
            <a:endParaRPr lang="en-US" sz="1300" dirty="0"/>
          </a:p>
          <a:p>
            <a:pPr indent="0" marL="0">
              <a:buNone/>
            </a:pPr>
            <a:r>
              <a:rPr lang="en-US" sz="1300" i="1" dirty="0">
                <a:solidFill>
                  <a:srgbClr val="0E1C42"/>
                </a:solidFill>
                <a:latin typeface="Calibri" pitchFamily="34" charset="0"/>
                <a:ea typeface="Calibri" pitchFamily="34" charset="-122"/>
                <a:cs typeface="Calibri" pitchFamily="34" charset="-120"/>
              </a:rPr>
              <a:t>When you call 911, a firefighter from your own town or county comes. It's not a state job, and it's definitely not a national job -- the whole country doesn't share one fire department.
</a:t>
            </a:r>
            <a:endParaRPr lang="en-US" sz="1300" dirty="0"/>
          </a:p>
          <a:p>
            <a:pPr indent="0" marL="0">
              <a:buNone/>
            </a:pPr>
            <a:r>
              <a:rPr lang="en-US" sz="1300" i="1" dirty="0">
                <a:solidFill>
                  <a:srgbClr val="0E1C42"/>
                </a:solidFill>
                <a:latin typeface="Calibri" pitchFamily="34" charset="0"/>
                <a:ea typeface="Calibri" pitchFamily="34" charset="-122"/>
                <a:cs typeface="Calibri" pitchFamily="34" charset="-120"/>
              </a:rPr>
              <a:t>So I'm placing this card on the bottom level: Local government. Your city or county pays for the firefighters and the trucks."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GUIDED PRACTICE · WE TRY TOGETHER</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Let's Sort "Public Library" Together</a:t>
            </a:r>
            <a:endParaRPr lang="en-US" sz="2600" dirty="0"/>
          </a:p>
        </p:txBody>
      </p:sp>
      <p:sp>
        <p:nvSpPr>
          <p:cNvPr id="4" name="Shape 2"/>
          <p:cNvSpPr/>
          <p:nvPr/>
        </p:nvSpPr>
        <p:spPr>
          <a:xfrm>
            <a:off x="731520" y="1645920"/>
            <a:ext cx="10241280" cy="2133600"/>
          </a:xfrm>
          <a:prstGeom prst="roundRect">
            <a:avLst>
              <a:gd name="adj" fmla="val 8571"/>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975360" y="1767840"/>
            <a:ext cx="975360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975360" y="2109216"/>
            <a:ext cx="9753600" cy="154838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a library a job for the whole country, one state, or just your town?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pays for the books and the building?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see that makes you say that?</a:t>
            </a:r>
            <a:endParaRPr lang="en-US" sz="1100" dirty="0"/>
          </a:p>
        </p:txBody>
      </p:sp>
      <p:sp>
        <p:nvSpPr>
          <p:cNvPr id="7" name="Shape 5"/>
          <p:cNvSpPr/>
          <p:nvPr/>
        </p:nvSpPr>
        <p:spPr>
          <a:xfrm>
            <a:off x="731520" y="3962400"/>
            <a:ext cx="10241280" cy="1036320"/>
          </a:xfrm>
          <a:prstGeom prst="roundRect">
            <a:avLst>
              <a:gd name="adj" fmla="val 14118"/>
            </a:avLst>
          </a:prstGeom>
          <a:solidFill>
            <a:srgbClr val="FFF3DC"/>
          </a:solidFill>
          <a:ln w="19050">
            <a:solidFill>
              <a:srgbClr val="F5E6C8"/>
            </a:solidFill>
            <a:prstDash val="solid"/>
          </a:ln>
        </p:spPr>
      </p:sp>
      <p:sp>
        <p:nvSpPr>
          <p:cNvPr id="8" name="Text 6"/>
          <p:cNvSpPr/>
          <p:nvPr/>
        </p:nvSpPr>
        <p:spPr>
          <a:xfrm>
            <a:off x="914400" y="4035552"/>
            <a:ext cx="987552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914400" y="4303776"/>
            <a:ext cx="9875520" cy="609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public library belongs on...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reminds me of the fire station card because..."</a:t>
            </a:r>
            <a:endParaRPr lang="en-US" sz="1200" dirty="0"/>
          </a:p>
        </p:txBody>
      </p:sp>
      <p:sp>
        <p:nvSpPr>
          <p:cNvPr id="10" name="Shape 8"/>
          <p:cNvSpPr/>
          <p:nvPr/>
        </p:nvSpPr>
        <p:spPr>
          <a:xfrm>
            <a:off x="731520" y="5181600"/>
            <a:ext cx="10241280" cy="1036320"/>
          </a:xfrm>
          <a:prstGeom prst="roundRect">
            <a:avLst>
              <a:gd name="adj" fmla="val 11765"/>
            </a:avLst>
          </a:prstGeom>
          <a:solidFill>
            <a:srgbClr val="E3F8ED"/>
          </a:solidFill>
          <a:ln/>
        </p:spPr>
      </p:sp>
      <p:sp>
        <p:nvSpPr>
          <p:cNvPr id="11" name="Text 9"/>
          <p:cNvSpPr/>
          <p:nvPr/>
        </p:nvSpPr>
        <p:spPr>
          <a:xfrm>
            <a:off x="1036320" y="5303520"/>
            <a:ext cx="9631680" cy="792480"/>
          </a:xfrm>
          <a:prstGeom prst="rect">
            <a:avLst/>
          </a:prstGeom>
          <a:noFill/>
          <a:ln/>
        </p:spPr>
        <p:txBody>
          <a:bodyPr wrap="square" lIns="0" tIns="0" rIns="0" bIns="0" rtlCol="0" anchor="ctr"/>
          <a:lstStyle/>
          <a:p>
            <a:pPr indent="0" marL="0">
              <a:buNone/>
            </a:pPr>
            <a:r>
              <a:rPr lang="en-US" sz="1250" b="1" dirty="0">
                <a:solidFill>
                  <a:srgbClr val="1A8A7D"/>
                </a:solidFill>
                <a:latin typeface="Calibri" pitchFamily="34" charset="0"/>
                <a:ea typeface="Calibri" pitchFamily="34" charset="-122"/>
                <a:cs typeface="Calibri" pitchFamily="34" charset="-120"/>
              </a:rPr>
              <a:t>Answer: Local. Your town or county runs the library down the street and buys the books for it.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GUIDED PRACTICE · YOUR TURN &amp; ERROR ANALYSIS</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Your Turn, Then Find the Mistake</a:t>
            </a:r>
            <a:endParaRPr lang="en-US" sz="2600" dirty="0"/>
          </a:p>
        </p:txBody>
      </p:sp>
      <p:sp>
        <p:nvSpPr>
          <p:cNvPr id="4" name="Shape 2"/>
          <p:cNvSpPr/>
          <p:nvPr/>
        </p:nvSpPr>
        <p:spPr>
          <a:xfrm>
            <a:off x="731520" y="1584960"/>
            <a:ext cx="4937760" cy="3779520"/>
          </a:xfrm>
          <a:prstGeom prst="roundRect">
            <a:avLst>
              <a:gd name="adj" fmla="val 3871"/>
            </a:avLst>
          </a:prstGeom>
          <a:solidFill>
            <a:srgbClr val="EAF8FD"/>
          </a:solidFill>
          <a:ln/>
        </p:spPr>
      </p:sp>
      <p:sp>
        <p:nvSpPr>
          <p:cNvPr id="5" name="Text 3"/>
          <p:cNvSpPr/>
          <p:nvPr/>
        </p:nvSpPr>
        <p:spPr>
          <a:xfrm>
            <a:off x="975360" y="1767840"/>
            <a:ext cx="4450080" cy="365760"/>
          </a:xfrm>
          <a:prstGeom prst="rect">
            <a:avLst/>
          </a:prstGeom>
          <a:noFill/>
          <a:ln/>
        </p:spPr>
        <p:txBody>
          <a:bodyPr wrap="square" lIns="0" tIns="0" rIns="0" bIns="0" rtlCol="0" anchor="ctr"/>
          <a:lstStyle/>
          <a:p>
            <a:pPr indent="0" marL="0">
              <a:buNone/>
            </a:pPr>
            <a:r>
              <a:rPr lang="en-US" sz="1100" b="1" spc="100" kern="0" dirty="0">
                <a:solidFill>
                  <a:srgbClr val="0E1C42"/>
                </a:solidFill>
                <a:latin typeface="Calibri" pitchFamily="34" charset="0"/>
                <a:ea typeface="Calibri" pitchFamily="34" charset="-122"/>
                <a:cs typeface="Calibri" pitchFamily="34" charset="-120"/>
              </a:rPr>
              <a:t>YOUR TURN: SORT THESE CARDS</a:t>
            </a:r>
            <a:endParaRPr lang="en-US" sz="1100" dirty="0"/>
          </a:p>
        </p:txBody>
      </p:sp>
      <p:sp>
        <p:nvSpPr>
          <p:cNvPr id="6" name="Text 4"/>
          <p:cNvSpPr/>
          <p:nvPr/>
        </p:nvSpPr>
        <p:spPr>
          <a:xfrm>
            <a:off x="975360" y="2194560"/>
            <a:ext cx="4450080" cy="304800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Driver's licenses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State highways</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Printing money</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The Post Office</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Checklist:</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 Say the level out loud</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 Explain who pays for it</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 ] Check it against the model</a:t>
            </a:r>
            <a:endParaRPr lang="en-US" sz="1200" dirty="0"/>
          </a:p>
        </p:txBody>
      </p:sp>
      <p:sp>
        <p:nvSpPr>
          <p:cNvPr id="7" name="Shape 5"/>
          <p:cNvSpPr/>
          <p:nvPr/>
        </p:nvSpPr>
        <p:spPr>
          <a:xfrm>
            <a:off x="5913120" y="1584960"/>
            <a:ext cx="5059680" cy="3779520"/>
          </a:xfrm>
          <a:prstGeom prst="roundRect">
            <a:avLst>
              <a:gd name="adj" fmla="val 3871"/>
            </a:avLst>
          </a:prstGeom>
          <a:solidFill>
            <a:srgbClr val="F0E8FF"/>
          </a:solidFill>
          <a:ln/>
        </p:spPr>
      </p:sp>
      <p:sp>
        <p:nvSpPr>
          <p:cNvPr id="8" name="Text 6"/>
          <p:cNvSpPr/>
          <p:nvPr/>
        </p:nvSpPr>
        <p:spPr>
          <a:xfrm>
            <a:off x="6156960" y="1767840"/>
            <a:ext cx="4572000" cy="365760"/>
          </a:xfrm>
          <a:prstGeom prst="rect">
            <a:avLst/>
          </a:prstGeom>
          <a:noFill/>
          <a:ln/>
        </p:spPr>
        <p:txBody>
          <a:bodyPr wrap="square" lIns="0" tIns="0" rIns="0" bIns="0" rtlCol="0" anchor="ctr"/>
          <a:lstStyle/>
          <a:p>
            <a:pPr indent="0" marL="0">
              <a:buNone/>
            </a:pPr>
            <a:r>
              <a:rPr lang="en-US" sz="1100" b="1" spc="100" kern="0" dirty="0">
                <a:solidFill>
                  <a:srgbClr val="8B6FC0"/>
                </a:solidFill>
                <a:latin typeface="Calibri" pitchFamily="34" charset="0"/>
                <a:ea typeface="Calibri" pitchFamily="34" charset="-122"/>
                <a:cs typeface="Calibri" pitchFamily="34" charset="-120"/>
              </a:rPr>
              <a:t>ERROR ANALYSIS</a:t>
            </a:r>
            <a:endParaRPr lang="en-US" sz="1100" dirty="0"/>
          </a:p>
        </p:txBody>
      </p:sp>
      <p:sp>
        <p:nvSpPr>
          <p:cNvPr id="9" name="Text 7"/>
          <p:cNvSpPr/>
          <p:nvPr/>
        </p:nvSpPr>
        <p:spPr>
          <a:xfrm>
            <a:off x="6156960" y="2194560"/>
            <a:ext cx="4572000" cy="3048000"/>
          </a:xfrm>
          <a:prstGeom prst="rect">
            <a:avLst/>
          </a:prstGeom>
          <a:noFill/>
          <a:ln/>
        </p:spPr>
        <p:txBody>
          <a:bodyPr wrap="square" lIns="0" tIns="0" rIns="0" bIns="0" rtlCol="0" anchor="t"/>
          <a:lstStyle/>
          <a:p>
            <a:pPr indent="0" marL="0">
              <a:buNone/>
            </a:pPr>
            <a:r>
              <a:rPr lang="en-US" sz="1200" i="1" dirty="0">
                <a:solidFill>
                  <a:srgbClr val="0E1C42"/>
                </a:solidFill>
                <a:latin typeface="Calibri" pitchFamily="34" charset="0"/>
                <a:ea typeface="Calibri" pitchFamily="34" charset="-122"/>
                <a:cs typeface="Calibri" pitchFamily="34" charset="-120"/>
              </a:rPr>
              <a:t>A student sorted "Driver's licenses" onto the National level, saying, "It's a rule for driving, so it must be a country-wide rule."</a:t>
            </a:r>
            <a:endParaRPr lang="en-US" sz="1200" dirty="0"/>
          </a:p>
          <a:p>
            <a:pPr indent="0" marL="0">
              <a:buNone/>
            </a:pPr>
            <a:endParaRPr lang="en-US" sz="1200" dirty="0"/>
          </a:p>
          <a:p>
            <a:pPr indent="0" marL="0">
              <a:buNone/>
            </a:pPr>
            <a:r>
              <a:rPr lang="en-US" sz="1200" i="1" dirty="0">
                <a:solidFill>
                  <a:srgbClr val="0E1C42"/>
                </a:solidFill>
                <a:latin typeface="Calibri" pitchFamily="34" charset="0"/>
                <a:ea typeface="Calibri" pitchFamily="34" charset="-122"/>
                <a:cs typeface="Calibri" pitchFamily="34" charset="-120"/>
              </a:rPr>
              <a:t>What's the mistake in this thinking? What clue in the lesson proves the license is a state-level job instead?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QUICK SELF-CHECK</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Check What Stuck</a:t>
            </a:r>
            <a:endParaRPr lang="en-US" sz="2600" dirty="0"/>
          </a:p>
        </p:txBody>
      </p:sp>
      <p:sp>
        <p:nvSpPr>
          <p:cNvPr id="4" name="Shape 2"/>
          <p:cNvSpPr/>
          <p:nvPr/>
        </p:nvSpPr>
        <p:spPr>
          <a:xfrm>
            <a:off x="731520" y="1524000"/>
            <a:ext cx="10241280" cy="1560576"/>
          </a:xfrm>
          <a:prstGeom prst="roundRect">
            <a:avLst>
              <a:gd name="adj" fmla="val 7813"/>
            </a:avLst>
          </a:prstGeom>
          <a:solidFill>
            <a:srgbClr val="F0F2F8"/>
          </a:solidFill>
          <a:ln/>
        </p:spPr>
      </p:sp>
      <p:sp>
        <p:nvSpPr>
          <p:cNvPr id="5" name="Text 3"/>
          <p:cNvSpPr/>
          <p:nvPr/>
        </p:nvSpPr>
        <p:spPr>
          <a:xfrm>
            <a:off x="975360" y="1597152"/>
            <a:ext cx="9631680" cy="487680"/>
          </a:xfrm>
          <a:prstGeom prst="rect">
            <a:avLst/>
          </a:prstGeom>
          <a:noFill/>
          <a:ln/>
        </p:spPr>
        <p:txBody>
          <a:bodyPr wrap="square" lIns="0" tIns="0" rIns="0" bIns="0"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1. Which level of government runs your public school, the fire station, and the public library?</a:t>
            </a:r>
            <a:endParaRPr lang="en-US" sz="1200" dirty="0"/>
          </a:p>
        </p:txBody>
      </p:sp>
      <p:sp>
        <p:nvSpPr>
          <p:cNvPr id="6" name="Text 4"/>
          <p:cNvSpPr/>
          <p:nvPr/>
        </p:nvSpPr>
        <p:spPr>
          <a:xfrm>
            <a:off x="975360" y="2084832"/>
            <a:ext cx="9631680" cy="36576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A) National government   B) Local government   C) State government</a:t>
            </a:r>
            <a:endParaRPr lang="en-US" sz="1100" dirty="0"/>
          </a:p>
        </p:txBody>
      </p:sp>
      <p:sp>
        <p:nvSpPr>
          <p:cNvPr id="7" name="Text 5"/>
          <p:cNvSpPr/>
          <p:nvPr/>
        </p:nvSpPr>
        <p:spPr>
          <a:xfrm>
            <a:off x="975360" y="2474976"/>
            <a:ext cx="9631680" cy="548640"/>
          </a:xfrm>
          <a:prstGeom prst="rect">
            <a:avLst/>
          </a:prstGeom>
          <a:noFill/>
          <a:ln/>
        </p:spPr>
        <p:txBody>
          <a:bodyPr wrap="square" lIns="0" tIns="0" rIns="0" bIns="0" rtlCol="0" anchor="t"/>
          <a:lstStyle/>
          <a:p>
            <a:pPr indent="0" marL="0">
              <a:buNone/>
            </a:pPr>
            <a:r>
              <a:rPr lang="en-US" sz="1050" i="1" dirty="0">
                <a:solidFill>
                  <a:srgbClr val="1A8A7D"/>
                </a:solidFill>
                <a:latin typeface="Calibri" pitchFamily="34" charset="0"/>
                <a:ea typeface="Calibri" pitchFamily="34" charset="-122"/>
                <a:cs typeface="Calibri" pitchFamily="34" charset="-120"/>
              </a:rPr>
              <a:t>Answer: B -- these are everyday, close-to-home things, so they're handled by the local level.</a:t>
            </a:r>
            <a:endParaRPr lang="en-US" sz="1050" dirty="0"/>
          </a:p>
        </p:txBody>
      </p:sp>
      <p:sp>
        <p:nvSpPr>
          <p:cNvPr id="8" name="Shape 6"/>
          <p:cNvSpPr/>
          <p:nvPr/>
        </p:nvSpPr>
        <p:spPr>
          <a:xfrm>
            <a:off x="731520" y="3206496"/>
            <a:ext cx="10241280" cy="1560576"/>
          </a:xfrm>
          <a:prstGeom prst="roundRect">
            <a:avLst>
              <a:gd name="adj" fmla="val 7813"/>
            </a:avLst>
          </a:prstGeom>
          <a:solidFill>
            <a:srgbClr val="F0F2F8"/>
          </a:solidFill>
          <a:ln/>
        </p:spPr>
      </p:sp>
      <p:sp>
        <p:nvSpPr>
          <p:cNvPr id="9" name="Text 7"/>
          <p:cNvSpPr/>
          <p:nvPr/>
        </p:nvSpPr>
        <p:spPr>
          <a:xfrm>
            <a:off x="975360" y="3279648"/>
            <a:ext cx="9631680" cy="487680"/>
          </a:xfrm>
          <a:prstGeom prst="rect">
            <a:avLst/>
          </a:prstGeom>
          <a:noFill/>
          <a:ln/>
        </p:spPr>
        <p:txBody>
          <a:bodyPr wrap="square" lIns="0" tIns="0" rIns="0" bIns="0"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2. Where does Florida's state government meet?</a:t>
            </a:r>
            <a:endParaRPr lang="en-US" sz="1200" dirty="0"/>
          </a:p>
        </p:txBody>
      </p:sp>
      <p:sp>
        <p:nvSpPr>
          <p:cNvPr id="10" name="Text 8"/>
          <p:cNvSpPr/>
          <p:nvPr/>
        </p:nvSpPr>
        <p:spPr>
          <a:xfrm>
            <a:off x="975360" y="3767328"/>
            <a:ext cx="9631680" cy="36576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A) Washington, D.C.   B) Miami   C) Tallahassee</a:t>
            </a:r>
            <a:endParaRPr lang="en-US" sz="1100" dirty="0"/>
          </a:p>
        </p:txBody>
      </p:sp>
      <p:sp>
        <p:nvSpPr>
          <p:cNvPr id="11" name="Text 9"/>
          <p:cNvSpPr/>
          <p:nvPr/>
        </p:nvSpPr>
        <p:spPr>
          <a:xfrm>
            <a:off x="975360" y="4157472"/>
            <a:ext cx="9631680" cy="548640"/>
          </a:xfrm>
          <a:prstGeom prst="rect">
            <a:avLst/>
          </a:prstGeom>
          <a:noFill/>
          <a:ln/>
        </p:spPr>
        <p:txBody>
          <a:bodyPr wrap="square" lIns="0" tIns="0" rIns="0" bIns="0" rtlCol="0" anchor="t"/>
          <a:lstStyle/>
          <a:p>
            <a:pPr indent="0" marL="0">
              <a:buNone/>
            </a:pPr>
            <a:r>
              <a:rPr lang="en-US" sz="1050" i="1" dirty="0">
                <a:solidFill>
                  <a:srgbClr val="1A8A7D"/>
                </a:solidFill>
                <a:latin typeface="Calibri" pitchFamily="34" charset="0"/>
                <a:ea typeface="Calibri" pitchFamily="34" charset="-122"/>
                <a:cs typeface="Calibri" pitchFamily="34" charset="-120"/>
              </a:rPr>
              <a:t>Answer: C -- Tallahassee is Florida's state capital, where the governor and state lawmakers work.</a:t>
            </a:r>
            <a:endParaRPr lang="en-US" sz="1050" dirty="0"/>
          </a:p>
        </p:txBody>
      </p:sp>
      <p:sp>
        <p:nvSpPr>
          <p:cNvPr id="12" name="Shape 10"/>
          <p:cNvSpPr/>
          <p:nvPr/>
        </p:nvSpPr>
        <p:spPr>
          <a:xfrm>
            <a:off x="731520" y="4888992"/>
            <a:ext cx="10241280" cy="1560576"/>
          </a:xfrm>
          <a:prstGeom prst="roundRect">
            <a:avLst>
              <a:gd name="adj" fmla="val 7813"/>
            </a:avLst>
          </a:prstGeom>
          <a:solidFill>
            <a:srgbClr val="F0F2F8"/>
          </a:solidFill>
          <a:ln/>
        </p:spPr>
      </p:sp>
      <p:sp>
        <p:nvSpPr>
          <p:cNvPr id="13" name="Text 11"/>
          <p:cNvSpPr/>
          <p:nvPr/>
        </p:nvSpPr>
        <p:spPr>
          <a:xfrm>
            <a:off x="975360" y="4962144"/>
            <a:ext cx="9631680" cy="487680"/>
          </a:xfrm>
          <a:prstGeom prst="rect">
            <a:avLst/>
          </a:prstGeom>
          <a:noFill/>
          <a:ln/>
        </p:spPr>
        <p:txBody>
          <a:bodyPr wrap="square" lIns="0" tIns="0" rIns="0" bIns="0"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3. Which job belongs to the national government?</a:t>
            </a:r>
            <a:endParaRPr lang="en-US" sz="1200" dirty="0"/>
          </a:p>
        </p:txBody>
      </p:sp>
      <p:sp>
        <p:nvSpPr>
          <p:cNvPr id="14" name="Text 12"/>
          <p:cNvSpPr/>
          <p:nvPr/>
        </p:nvSpPr>
        <p:spPr>
          <a:xfrm>
            <a:off x="975360" y="5449824"/>
            <a:ext cx="9631680" cy="36576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A) Printing the dollar bills used in every state   B) Picking up the trash on your street   C) Giving out Florida driver's licenses</a:t>
            </a:r>
            <a:endParaRPr lang="en-US" sz="1100" dirty="0"/>
          </a:p>
        </p:txBody>
      </p:sp>
      <p:sp>
        <p:nvSpPr>
          <p:cNvPr id="15" name="Text 13"/>
          <p:cNvSpPr/>
          <p:nvPr/>
        </p:nvSpPr>
        <p:spPr>
          <a:xfrm>
            <a:off x="975360" y="5839968"/>
            <a:ext cx="9631680" cy="548640"/>
          </a:xfrm>
          <a:prstGeom prst="rect">
            <a:avLst/>
          </a:prstGeom>
          <a:noFill/>
          <a:ln/>
        </p:spPr>
        <p:txBody>
          <a:bodyPr wrap="square" lIns="0" tIns="0" rIns="0" bIns="0" rtlCol="0" anchor="t"/>
          <a:lstStyle/>
          <a:p>
            <a:pPr indent="0" marL="0">
              <a:buNone/>
            </a:pPr>
            <a:r>
              <a:rPr lang="en-US" sz="1050" i="1" dirty="0">
                <a:solidFill>
                  <a:srgbClr val="1A8A7D"/>
                </a:solidFill>
                <a:latin typeface="Calibri" pitchFamily="34" charset="0"/>
                <a:ea typeface="Calibri" pitchFamily="34" charset="-122"/>
                <a:cs typeface="Calibri" pitchFamily="34" charset="-120"/>
              </a:rPr>
              <a:t>Answer: A -- printing money is something only the national level can do, so one dollar works everywhere.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EVIDENCE &amp; ASSIGNMENT</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What You'll Turn In</a:t>
            </a:r>
            <a:endParaRPr lang="en-US" sz="2600" dirty="0"/>
          </a:p>
        </p:txBody>
      </p:sp>
      <p:sp>
        <p:nvSpPr>
          <p:cNvPr id="4" name="Text 2"/>
          <p:cNvSpPr/>
          <p:nvPr/>
        </p:nvSpPr>
        <p:spPr>
          <a:xfrm>
            <a:off x="731520" y="1402080"/>
            <a:ext cx="1024128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Evidence Questions -- answer using details from the lesson:</a:t>
            </a:r>
            <a:endParaRPr lang="en-US" sz="1200" dirty="0"/>
          </a:p>
        </p:txBody>
      </p:sp>
      <p:sp>
        <p:nvSpPr>
          <p:cNvPr id="5" name="Shape 3"/>
          <p:cNvSpPr/>
          <p:nvPr/>
        </p:nvSpPr>
        <p:spPr>
          <a:xfrm>
            <a:off x="731520" y="1828800"/>
            <a:ext cx="10241280" cy="755904"/>
          </a:xfrm>
          <a:prstGeom prst="roundRect">
            <a:avLst>
              <a:gd name="adj" fmla="val 12903"/>
            </a:avLst>
          </a:prstGeom>
          <a:solidFill>
            <a:srgbClr val="EAF8FD"/>
          </a:solidFill>
          <a:ln/>
        </p:spPr>
      </p:sp>
      <p:sp>
        <p:nvSpPr>
          <p:cNvPr id="6" name="Text 4"/>
          <p:cNvSpPr/>
          <p:nvPr/>
        </p:nvSpPr>
        <p:spPr>
          <a:xfrm>
            <a:off x="950976" y="1889760"/>
            <a:ext cx="9814560" cy="633984"/>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1. Name the three levels of government in the United States. For each one, name the leader and where it meets (for the state level, use Florida).</a:t>
            </a:r>
            <a:endParaRPr lang="en-US" sz="1100" dirty="0"/>
          </a:p>
        </p:txBody>
      </p:sp>
      <p:sp>
        <p:nvSpPr>
          <p:cNvPr id="7" name="Shape 5"/>
          <p:cNvSpPr/>
          <p:nvPr/>
        </p:nvSpPr>
        <p:spPr>
          <a:xfrm>
            <a:off x="731520" y="2706624"/>
            <a:ext cx="10241280" cy="755904"/>
          </a:xfrm>
          <a:prstGeom prst="roundRect">
            <a:avLst>
              <a:gd name="adj" fmla="val 12903"/>
            </a:avLst>
          </a:prstGeom>
          <a:solidFill>
            <a:srgbClr val="EAF8FD"/>
          </a:solidFill>
          <a:ln/>
        </p:spPr>
      </p:sp>
      <p:sp>
        <p:nvSpPr>
          <p:cNvPr id="8" name="Text 6"/>
          <p:cNvSpPr/>
          <p:nvPr/>
        </p:nvSpPr>
        <p:spPr>
          <a:xfrm>
            <a:off x="950976" y="2767584"/>
            <a:ext cx="9814560" cy="633984"/>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2. Why does it make sense that only the national government prints the money used in the United States?</a:t>
            </a:r>
            <a:endParaRPr lang="en-US" sz="1100" dirty="0"/>
          </a:p>
        </p:txBody>
      </p:sp>
      <p:sp>
        <p:nvSpPr>
          <p:cNvPr id="9" name="Shape 7"/>
          <p:cNvSpPr/>
          <p:nvPr/>
        </p:nvSpPr>
        <p:spPr>
          <a:xfrm>
            <a:off x="731520" y="3584448"/>
            <a:ext cx="10241280" cy="755904"/>
          </a:xfrm>
          <a:prstGeom prst="roundRect">
            <a:avLst>
              <a:gd name="adj" fmla="val 12903"/>
            </a:avLst>
          </a:prstGeom>
          <a:solidFill>
            <a:srgbClr val="EAF8FD"/>
          </a:solidFill>
          <a:ln/>
        </p:spPr>
      </p:sp>
      <p:sp>
        <p:nvSpPr>
          <p:cNvPr id="10" name="Text 8"/>
          <p:cNvSpPr/>
          <p:nvPr/>
        </p:nvSpPr>
        <p:spPr>
          <a:xfrm>
            <a:off x="950976" y="3645408"/>
            <a:ext cx="9814560" cy="633984"/>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3. Pick one job that doesn't seem to belong at any one level — something that more than one level helps with (like running your school). Which levels do you think help, and how?</a:t>
            </a:r>
            <a:endParaRPr lang="en-US" sz="1100" dirty="0"/>
          </a:p>
        </p:txBody>
      </p:sp>
      <p:sp>
        <p:nvSpPr>
          <p:cNvPr id="11" name="Shape 9"/>
          <p:cNvSpPr/>
          <p:nvPr/>
        </p:nvSpPr>
        <p:spPr>
          <a:xfrm>
            <a:off x="731520" y="4572000"/>
            <a:ext cx="10241280" cy="1767840"/>
          </a:xfrm>
          <a:prstGeom prst="roundRect">
            <a:avLst>
              <a:gd name="adj" fmla="val 6897"/>
            </a:avLst>
          </a:prstGeom>
          <a:solidFill>
            <a:srgbClr val="1A2D5A"/>
          </a:solidFill>
          <a:ln/>
        </p:spPr>
      </p:sp>
      <p:sp>
        <p:nvSpPr>
          <p:cNvPr id="12" name="Text 10"/>
          <p:cNvSpPr/>
          <p:nvPr/>
        </p:nvSpPr>
        <p:spPr>
          <a:xfrm>
            <a:off x="975360" y="4693920"/>
            <a:ext cx="9631680" cy="365760"/>
          </a:xfrm>
          <a:prstGeom prst="rect">
            <a:avLst/>
          </a:prstGeom>
          <a:noFill/>
          <a:ln/>
        </p:spPr>
        <p:txBody>
          <a:bodyPr wrap="square" lIns="0" tIns="0" rIns="0" bIns="0" rtlCol="0" anchor="ctr"/>
          <a:lstStyle/>
          <a:p>
            <a:pPr indent="0" marL="0">
              <a:buNone/>
            </a:pPr>
            <a:r>
              <a:rPr lang="en-US" sz="1250" b="1" dirty="0">
                <a:solidFill>
                  <a:srgbClr val="D4943A"/>
                </a:solidFill>
                <a:latin typeface="Calibri" pitchFamily="34" charset="0"/>
                <a:ea typeface="Calibri" pitchFamily="34" charset="-122"/>
                <a:cs typeface="Calibri" pitchFamily="34" charset="-120"/>
              </a:rPr>
              <a:t>Curator Task: Label the Three-Level Model</a:t>
            </a:r>
            <a:endParaRPr lang="en-US" sz="1250" dirty="0"/>
          </a:p>
        </p:txBody>
      </p:sp>
      <p:sp>
        <p:nvSpPr>
          <p:cNvPr id="13" name="Text 11"/>
          <p:cNvSpPr/>
          <p:nvPr/>
        </p:nvSpPr>
        <p:spPr>
          <a:xfrm>
            <a:off x="975360" y="5096256"/>
            <a:ext cx="9631680" cy="115824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You're the Civic Curator. Visitors are about to walk up to the three-level model and want to know why it has three levels at all. Write a short notebook entry — 3 to 5 sentences — explaining how three levels of government work together. Name one job from each level as your evidence.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1A8A7D"/>
                </a:solidFill>
                <a:latin typeface="Calibri" pitchFamily="34" charset="0"/>
                <a:ea typeface="Calibri" pitchFamily="34" charset="-122"/>
                <a:cs typeface="Calibri" pitchFamily="34" charset="-120"/>
              </a:rPr>
              <a:t>CURATOR'S CHRONICLE</a:t>
            </a:r>
            <a:endParaRPr lang="en-US" sz="1200" dirty="0"/>
          </a:p>
        </p:txBody>
      </p:sp>
      <p:sp>
        <p:nvSpPr>
          <p:cNvPr id="3" name="Text 1"/>
          <p:cNvSpPr/>
          <p:nvPr/>
        </p:nvSpPr>
        <p:spPr>
          <a:xfrm>
            <a:off x="609600" y="609600"/>
            <a:ext cx="10607040" cy="85344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One Sentence to Capture Today's Work</a:t>
            </a:r>
            <a:endParaRPr lang="en-US" sz="2600" dirty="0"/>
          </a:p>
        </p:txBody>
      </p:sp>
      <p:sp>
        <p:nvSpPr>
          <p:cNvPr id="4" name="Text 2"/>
          <p:cNvSpPr/>
          <p:nvPr/>
        </p:nvSpPr>
        <p:spPr>
          <a:xfrm>
            <a:off x="731520" y="1706880"/>
            <a:ext cx="10241280" cy="48768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Finish this sentence in your own words:</a:t>
            </a:r>
            <a:endParaRPr lang="en-US" sz="1400" dirty="0"/>
          </a:p>
        </p:txBody>
      </p:sp>
      <p:sp>
        <p:nvSpPr>
          <p:cNvPr id="5" name="Shape 3"/>
          <p:cNvSpPr/>
          <p:nvPr/>
        </p:nvSpPr>
        <p:spPr>
          <a:xfrm>
            <a:off x="731520" y="2377440"/>
            <a:ext cx="10241280" cy="1706880"/>
          </a:xfrm>
          <a:prstGeom prst="roundRect">
            <a:avLst>
              <a:gd name="adj" fmla="val 8571"/>
            </a:avLst>
          </a:prstGeom>
          <a:solidFill>
            <a:srgbClr val="FFF3DC"/>
          </a:solidFill>
          <a:ln w="19050">
            <a:solidFill>
              <a:srgbClr val="D4943A"/>
            </a:solidFill>
            <a:prstDash val="solid"/>
          </a:ln>
        </p:spPr>
      </p:sp>
      <p:sp>
        <p:nvSpPr>
          <p:cNvPr id="6" name="Text 4"/>
          <p:cNvSpPr/>
          <p:nvPr/>
        </p:nvSpPr>
        <p:spPr>
          <a:xfrm>
            <a:off x="1097280" y="2743200"/>
            <a:ext cx="9509760" cy="975360"/>
          </a:xfrm>
          <a:prstGeom prst="rect">
            <a:avLst/>
          </a:prstGeom>
          <a:noFill/>
          <a:ln/>
        </p:spPr>
        <p:txBody>
          <a:bodyPr wrap="square" lIns="0" tIns="0" rIns="0" bIns="0" rtlCol="0" anchor="ctr"/>
          <a:lstStyle/>
          <a:p>
            <a:pPr algn="ctr" indent="0" marL="0">
              <a:buNone/>
            </a:pPr>
            <a:r>
              <a:rPr lang="en-US" sz="1800" b="1" i="1" dirty="0">
                <a:solidFill>
                  <a:srgbClr val="0E1C42"/>
                </a:solidFill>
                <a:latin typeface="Cambria" pitchFamily="34" charset="0"/>
                <a:ea typeface="Cambria" pitchFamily="34" charset="-122"/>
                <a:cs typeface="Cambria" pitchFamily="34" charset="-120"/>
              </a:rPr>
              <a:t>In this exhibit, I learned that ______ because ______.</a:t>
            </a:r>
            <a:endParaRPr lang="en-US" sz="1800" dirty="0"/>
          </a:p>
        </p:txBody>
      </p:sp>
      <p:sp>
        <p:nvSpPr>
          <p:cNvPr id="7" name="Shape 5"/>
          <p:cNvSpPr/>
          <p:nvPr/>
        </p:nvSpPr>
        <p:spPr>
          <a:xfrm>
            <a:off x="731520" y="4389120"/>
            <a:ext cx="10241280" cy="1584960"/>
          </a:xfrm>
          <a:prstGeom prst="roundRect">
            <a:avLst>
              <a:gd name="adj" fmla="val 7692"/>
            </a:avLst>
          </a:prstGeom>
          <a:solidFill>
            <a:srgbClr val="F0F2F8"/>
          </a:solidFill>
          <a:ln/>
        </p:spPr>
      </p:sp>
      <p:sp>
        <p:nvSpPr>
          <p:cNvPr id="8" name="Text 6"/>
          <p:cNvSpPr/>
          <p:nvPr/>
        </p:nvSpPr>
        <p:spPr>
          <a:xfrm>
            <a:off x="975360" y="4511040"/>
            <a:ext cx="963168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Turn-In Checklist:</a:t>
            </a:r>
            <a:endParaRPr lang="en-US" sz="1200" dirty="0"/>
          </a:p>
        </p:txBody>
      </p:sp>
      <p:sp>
        <p:nvSpPr>
          <p:cNvPr id="9" name="Text 7"/>
          <p:cNvSpPr/>
          <p:nvPr/>
        </p:nvSpPr>
        <p:spPr>
          <a:xfrm>
            <a:off x="975360" y="4876800"/>
            <a:ext cx="9631680" cy="103632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I answered all three evidence questions.  ·  I wrote my notebook entry (3-5 sentences) with one job per level.  ·  I wrote my Curator's Chronicle.  ·  I copied or downloaded my work and submitted to Canvas.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731520" y="158496"/>
            <a:ext cx="10363200" cy="365760"/>
          </a:xfrm>
          <a:prstGeom prst="rect">
            <a:avLst/>
          </a:prstGeom>
          <a:noFill/>
          <a:ln/>
        </p:spPr>
        <p:txBody>
          <a:bodyPr wrap="square" lIns="0" tIns="0" rIns="0" bIns="0" rtlCol="0" anchor="ctr"/>
          <a:lstStyle/>
          <a:p>
            <a:pPr indent="0" marL="0">
              <a:buNone/>
            </a:pPr>
            <a:r>
              <a:rPr lang="en-US" sz="1200" b="1" spc="200" kern="0" dirty="0">
                <a:solidFill>
                  <a:srgbClr val="D4943A"/>
                </a:solidFill>
                <a:latin typeface="Calibri" pitchFamily="34" charset="0"/>
                <a:ea typeface="Calibri" pitchFamily="34" charset="-122"/>
                <a:cs typeface="Calibri" pitchFamily="34" charset="-120"/>
              </a:rPr>
              <a:t>CLOSING · WRAP-UP</a:t>
            </a:r>
            <a:endParaRPr lang="en-US" sz="1200" dirty="0"/>
          </a:p>
        </p:txBody>
      </p:sp>
      <p:sp>
        <p:nvSpPr>
          <p:cNvPr id="6" name="Text 3"/>
          <p:cNvSpPr/>
          <p:nvPr/>
        </p:nvSpPr>
        <p:spPr>
          <a:xfrm>
            <a:off x="731520" y="670560"/>
            <a:ext cx="10363200" cy="975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 Levels, Labeled</a:t>
            </a:r>
            <a:endParaRPr lang="en-US" sz="3000" dirty="0"/>
          </a:p>
        </p:txBody>
      </p:sp>
      <p:sp>
        <p:nvSpPr>
          <p:cNvPr id="7" name="Text 4"/>
          <p:cNvSpPr/>
          <p:nvPr/>
        </p:nvSpPr>
        <p:spPr>
          <a:xfrm>
            <a:off x="731520" y="2011680"/>
            <a:ext cx="10363200" cy="12192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You sorted the spilled labels, placed each one on the right level, and showed visitors how three governments cooperate to serve one community.</a:t>
            </a:r>
            <a:endParaRPr lang="en-US" sz="1500" dirty="0"/>
          </a:p>
        </p:txBody>
      </p:sp>
      <p:sp>
        <p:nvSpPr>
          <p:cNvPr id="8" name="Shape 5"/>
          <p:cNvSpPr/>
          <p:nvPr/>
        </p:nvSpPr>
        <p:spPr>
          <a:xfrm>
            <a:off x="731520" y="3474720"/>
            <a:ext cx="10241280" cy="1280160"/>
          </a:xfrm>
          <a:prstGeom prst="roundRect">
            <a:avLst>
              <a:gd name="adj" fmla="val 11429"/>
            </a:avLst>
          </a:prstGeom>
          <a:solidFill>
            <a:srgbClr val="D4943A"/>
          </a:solidFill>
          <a:ln/>
        </p:spPr>
      </p:sp>
      <p:sp>
        <p:nvSpPr>
          <p:cNvPr id="9" name="Text 6"/>
          <p:cNvSpPr/>
          <p:nvPr/>
        </p:nvSpPr>
        <p:spPr>
          <a:xfrm>
            <a:off x="1036320" y="3596640"/>
            <a:ext cx="9631680" cy="1036320"/>
          </a:xfrm>
          <a:prstGeom prst="rect">
            <a:avLst/>
          </a:prstGeom>
          <a:noFill/>
          <a:ln/>
        </p:spPr>
        <p:txBody>
          <a:bodyPr wrap="square" lIns="0" tIns="0" rIns="0" bIns="0" rtlCol="0" anchor="ctr"/>
          <a:lstStyle/>
          <a:p>
            <a:pPr indent="0" marL="0">
              <a:buNone/>
            </a:pPr>
            <a:r>
              <a:rPr lang="en-US" sz="1250" b="1" dirty="0">
                <a:solidFill>
                  <a:srgbClr val="0E1C42"/>
                </a:solidFill>
                <a:latin typeface="Calibri" pitchFamily="34" charset="0"/>
                <a:ea typeface="Calibri" pitchFamily="34" charset="-122"/>
                <a:cs typeface="Calibri" pitchFamily="34" charset="-120"/>
              </a:rPr>
              <a:t>Exhibit Label: The United States has three levels of government — local, state, and national. Each level takes care of different jobs, but they all work together to serve the same people.</a:t>
            </a:r>
            <a:endParaRPr lang="en-US" sz="1250" dirty="0"/>
          </a:p>
        </p:txBody>
      </p:sp>
      <p:sp>
        <p:nvSpPr>
          <p:cNvPr id="10" name="Text 7"/>
          <p:cNvSpPr/>
          <p:nvPr/>
        </p:nvSpPr>
        <p:spPr>
          <a:xfrm>
            <a:off x="731520" y="5059680"/>
            <a:ext cx="10241280" cy="365760"/>
          </a:xfrm>
          <a:prstGeom prst="rect">
            <a:avLst/>
          </a:prstGeom>
          <a:noFill/>
          <a:ln/>
        </p:spPr>
        <p:txBody>
          <a:bodyPr wrap="square" lIns="0" tIns="0" rIns="0" bIns="0" rtlCol="0" anchor="ctr"/>
          <a:lstStyle/>
          <a:p>
            <a:pPr indent="0" marL="0">
              <a:buNone/>
            </a:pPr>
            <a:r>
              <a:rPr lang="en-US" sz="1100" b="1" spc="150" kern="0" dirty="0">
                <a:solidFill>
                  <a:srgbClr val="55C8E8"/>
                </a:solidFill>
                <a:latin typeface="Calibri" pitchFamily="34" charset="0"/>
                <a:ea typeface="Calibri" pitchFamily="34" charset="-122"/>
                <a:cs typeface="Calibri" pitchFamily="34" charset="-120"/>
              </a:rPr>
              <a:t>COMING UP NEXT</a:t>
            </a:r>
            <a:endParaRPr lang="en-US" sz="1100" dirty="0"/>
          </a:p>
        </p:txBody>
      </p:sp>
      <p:sp>
        <p:nvSpPr>
          <p:cNvPr id="11" name="Text 8"/>
          <p:cNvSpPr/>
          <p:nvPr/>
        </p:nvSpPr>
        <p:spPr>
          <a:xfrm>
            <a:off x="731520" y="5425440"/>
            <a:ext cx="10241280" cy="1219200"/>
          </a:xfrm>
          <a:prstGeom prst="rect">
            <a:avLst/>
          </a:prstGeom>
          <a:noFill/>
          <a:ln/>
        </p:spPr>
        <p:txBody>
          <a:bodyPr wrap="square" lIns="0" tIns="0" rIns="0" bIns="0" rtlCol="0" anchor="t"/>
          <a:lstStyle/>
          <a:p>
            <a:pPr indent="0" marL="0">
              <a:buNone/>
            </a:pPr>
            <a:r>
              <a:rPr lang="en-US" sz="1200" i="1" dirty="0">
                <a:solidFill>
                  <a:srgbClr val="D6F2FB"/>
                </a:solidFill>
                <a:latin typeface="Calibri" pitchFamily="34" charset="0"/>
                <a:ea typeface="Calibri" pitchFamily="34" charset="-122"/>
                <a:cs typeface="Calibri" pitchFamily="34" charset="-120"/>
              </a:rPr>
              <a:t>Tomorrow the museum lights up a brand-new corner of Citizenship Hall — the Florida case. Inside: a copy of the Florida Constitution, a small bronze state seal, a sabal palm, a mockingbird statue, and an orange blossom under glass. The state level just got a lot more interesting.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2026-07-11T19:18:38Z</dcterms:created>
  <dcterms:modified xsi:type="dcterms:W3CDTF">2026-07-11T19:18:38Z</dcterms:modified>
</cp:coreProperties>
</file>