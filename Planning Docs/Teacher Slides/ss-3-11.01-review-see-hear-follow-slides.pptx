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vast new museum hall with soaring white walls and skylights, rows of empty glass display cases and blank brass label plates waiting to be filled, a single folder of colorful badges resting on a pedestal in the center of the room, warm late-afternoon light streaming in.Title slide. Welcome students to the brand-new Grand Exhibition Hall -- the final unit of the year. Read the Big Question aloud. Tell students today is a planning day: they'll walk back through everything they've learned to choose evidence for their final exhibit.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museum director standing in the center of the empty Grand Exhibition Hall, holding open a folder full of colorful badges, gesturing toward a long row of blank exhibit panels stretching into the distance, tall windows behind her.Be warm and a little excited -- this is the final unit. Say: 'Welcome to the Grand Exhibition Hall. This is the last room of the museum, and every panel is blank. That's because this one is yours to design.' Read the Curator's Question. Reassure: 'Today is the planning day. You're not building yet -- you're remembering and choosing.'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virtue: service. Say: 'Service means doing real work for people you may not meet. The visitors who walk in here will only know what you choose to show them.' Restate the Exhibit Designer role for today's planning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'See the Place' pillar: maps, titles, compass roses, scales, legends, continents, oceans, and regions. Don't name the pillar yet -- let students notice both badges are about place before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map tools: title, compass rose, scale, legend. Confirm regions are smaller areas inside a country shaped by land, climate, and people. This directly scaffolds the 'map' part of the Curator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first exhibit pillar: See the Place. This is where the map part of the final Curator Task plan comes from. Give the retrieval challenge before moving to Hear the Voices.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 the Voices' pillar: asking questions, sorting primary and secondary sources, looking closely before making a claim. Let students remember this from the very first room before naming the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scaffolds Evidence Question 2: what's one curator skill from the Curator Training Hall that still helps you today? Take several answers -- asking questions, sorting sources, looking closely before claiming.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second exhibit pillar: Hear the Voices. This is where the source part of the final Curator Task plan comes from. Give the retrieval challenge before moving to Follow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'Follow the Story' pillar: how a community's economy and government connect into one throughline across the year. In Marketplace Hall, students studied scarcity, trade, goods and services, and money. In Citizenship Hall, they studied government, leaders, and civic virtue.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scaffolds Evidence Question 1 (which room taught you the most) and Evidence Question 3 (what is a young geographer-citizen). Take several student answers -- there is no single right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third exhibit pillar: Follow the Story. This is where the community/region part of the final Curator Task plan comes from. Give the retrieval challenge -- all three pillars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scaffolds the Curator Task's four-part plan: the three pillars (map, source, community) plus virtue combine into one exhibit. You've walked back through the museum -- let's check what stuck before you pick your exhibit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Evidence Question 1 aloud exactly as written on the slide, using the Great Map Room. Emphasize: name the room, then give a real reason -- the exact scaffolding students need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version of Evidence Question 2. Build the answer together aloud, using a skill like asking good questions or sorting primary and secondary sources, before students write their own for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60-90 seconds to draft an independent answer using the checklist. This is direct rehearsal for Evidence Question 3, which asks students to define 'young geographer-citizen'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Curator Task's four required parts. Students should catch that the plan only names a map -- it's missing a source or image, a community or region, and a virtue. Have a few students suggest a fix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genuinely ambiguous case -- let students debate honestly. The Evidence Question asks students to name one room and tell why; the goal is a real, specific reason, not a rushed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take answers via chat or poll, then reveal the correct answer and explanation shown on the slide. Celebrate a perfect score: 'Three for three. You remembered the curator's job, what Marketplace Hall taught, and what service really means. You're ready to plan!' If students miss any, calmly review: a curator chooses evidence to help visitors; Marketplace Hall was about trade and scarcity; service means doing useful work for visitors you may never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exactly as written. Question 1 was scaffolded in Teacher Models and the Follow the Story discussion, Question 2 in We Try Together and Hear the Voices, Question 3 in Your Turn With Support and Follow the Story. Nothing here should be new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 Task aloud. Model briefly: 'For me, it would be the Great Map Room, because I never knew a compass rose mattered so much.' Explain the Exhibit Plan: pick a map, pick a source, pick a community or region, and pick a virtue. Write 3-4 sentences explaining the plan. Read the Curator's Chronicle frame and the turn-in checklist. Tease tomorrow: 'Tomorrow we build it. The visitors arrive at the end of the week.'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Grand Exhibition Hall at dusk, one blank panel now glowing faintly with a name plate silhouette, the rest of the hall still dark and waiting, a folder of badges resting closed on a nearby pedestal, a single set of footsteps leading toward the shadowed corridor beyond.Be warm and a little mysterious. Say: 'Look what you did today -- you walked back through ten rooms of the museum and chose what mattered. That's curator work.' Quietly tease the director's strange line about who we've become. End with: 'Tomorrow, you build. Bring your plan. Bring your Curator's Notebook. The visitors are coming.'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402080"/>
            <a:ext cx="9753600" cy="487680"/>
          </a:xfrm>
          <a:prstGeom prst="rect">
            <a:avLst/>
          </a:prstGeom>
          <a:noFill/>
          <a:ln/>
        </p:spPr>
        <p:txBody>
          <a:bodyPr wrap="square" lIns="0" tIns="0" rIns="0" bIns="0" rtlCol="0" anchor="ctr"/>
          <a:lstStyle/>
          <a:p>
            <a:pPr algn="ctr" indent="0" marL="0">
              <a:buNone/>
            </a:pPr>
            <a:r>
              <a:rPr lang="en-US" sz="1150" b="1" spc="160" kern="0" dirty="0">
                <a:solidFill>
                  <a:srgbClr val="55C8E8"/>
                </a:solidFill>
                <a:latin typeface="Calibri" pitchFamily="34" charset="0"/>
                <a:ea typeface="Calibri" pitchFamily="34" charset="-122"/>
                <a:cs typeface="Calibri" pitchFamily="34" charset="-120"/>
              </a:rPr>
              <a:t>GRAND EXHIBITION HALL  ·  LESSON 3.11.01  ·  HISTORIAN-CITIZEN EXHIBITION</a:t>
            </a:r>
            <a:endParaRPr lang="en-US" sz="1150" dirty="0"/>
          </a:p>
        </p:txBody>
      </p:sp>
      <p:sp>
        <p:nvSpPr>
          <p:cNvPr id="6" name="Text 3"/>
          <p:cNvSpPr/>
          <p:nvPr/>
        </p:nvSpPr>
        <p:spPr>
          <a:xfrm>
            <a:off x="731520" y="1950720"/>
            <a:ext cx="10241280" cy="18897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Review: See the Place,</a:t>
            </a:r>
            <a:endParaRPr lang="en-US" sz="3400" dirty="0"/>
          </a:p>
          <a:p>
            <a:pPr algn="ctr" indent="0" marL="0">
              <a:buNone/>
            </a:pPr>
            <a:r>
              <a:rPr lang="en-US" sz="3400" b="1" dirty="0">
                <a:solidFill>
                  <a:srgbClr val="FFFFFF"/>
                </a:solidFill>
                <a:latin typeface="Cambria" pitchFamily="34" charset="0"/>
                <a:ea typeface="Cambria" pitchFamily="34" charset="-122"/>
                <a:cs typeface="Cambria" pitchFamily="34" charset="-120"/>
              </a:rPr>
              <a:t>Hear the Voices, Follow the Story</a:t>
            </a:r>
            <a:endParaRPr lang="en-US" sz="3400" dirty="0"/>
          </a:p>
        </p:txBody>
      </p:sp>
      <p:sp>
        <p:nvSpPr>
          <p:cNvPr id="7" name="Text 4"/>
          <p:cNvSpPr/>
          <p:nvPr/>
        </p:nvSpPr>
        <p:spPr>
          <a:xfrm>
            <a:off x="1584960" y="4145280"/>
            <a:ext cx="8534400" cy="365760"/>
          </a:xfrm>
          <a:prstGeom prst="rect">
            <a:avLst/>
          </a:prstGeom>
          <a:noFill/>
          <a:ln/>
        </p:spPr>
        <p:txBody>
          <a:bodyPr wrap="square" lIns="0" tIns="0" rIns="0" bIns="0"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Today's Big Question</a:t>
            </a:r>
            <a:endParaRPr lang="en-US" sz="1100" dirty="0"/>
          </a:p>
        </p:txBody>
      </p:sp>
      <p:sp>
        <p:nvSpPr>
          <p:cNvPr id="8" name="Text 5"/>
          <p:cNvSpPr/>
          <p:nvPr/>
        </p:nvSpPr>
        <p:spPr>
          <a:xfrm>
            <a:off x="1219200" y="4572000"/>
            <a:ext cx="9387840" cy="1036320"/>
          </a:xfrm>
          <a:prstGeom prst="rect">
            <a:avLst/>
          </a:prstGeom>
          <a:noFill/>
          <a:ln/>
        </p:spPr>
        <p:txBody>
          <a:bodyPr wrap="square" lIns="0" tIns="0" rIns="0" bIns="0" rtlCol="0" anchor="t"/>
          <a:lstStyle/>
          <a:p>
            <a:pPr algn="ctr" indent="0" marL="0">
              <a:buNone/>
            </a:pPr>
            <a:r>
              <a:rPr lang="en-US" sz="1500" i="1" dirty="0">
                <a:solidFill>
                  <a:srgbClr val="FFFFFF"/>
                </a:solidFill>
                <a:latin typeface="Calibri" pitchFamily="34" charset="0"/>
                <a:ea typeface="Calibri" pitchFamily="34" charset="-122"/>
                <a:cs typeface="Calibri" pitchFamily="34" charset="-120"/>
              </a:rPr>
              <a:t>Looking back at every room you've visited, what evidence will you choose for your final exhibit?</a:t>
            </a:r>
            <a:endParaRPr lang="en-US" sz="1500" dirty="0"/>
          </a:p>
        </p:txBody>
      </p:sp>
      <p:sp>
        <p:nvSpPr>
          <p:cNvPr id="9" name="Text 6"/>
          <p:cNvSpPr/>
          <p:nvPr/>
        </p:nvSpPr>
        <p:spPr>
          <a:xfrm>
            <a:off x="1219200" y="5730240"/>
            <a:ext cx="9387840" cy="42672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This is the last room of the museum -- and it is yours to design.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853440"/>
            <a:ext cx="97536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ENTER THE MUSEUM · THE LAST ROOM</a:t>
            </a:r>
            <a:endParaRPr lang="en-US" sz="1100" dirty="0"/>
          </a:p>
        </p:txBody>
      </p:sp>
      <p:sp>
        <p:nvSpPr>
          <p:cNvPr id="6" name="Text 3"/>
          <p:cNvSpPr/>
          <p:nvPr/>
        </p:nvSpPr>
        <p:spPr>
          <a:xfrm>
            <a:off x="975360" y="1402080"/>
            <a:ext cx="9753600" cy="1097280"/>
          </a:xfrm>
          <a:prstGeom prst="rect">
            <a:avLst/>
          </a:prstGeom>
          <a:noFill/>
          <a:ln/>
        </p:spPr>
        <p:txBody>
          <a:bodyPr wrap="square" lIns="0" tIns="0" rIns="0" bIns="0" rtlCol="0" anchor="ctr"/>
          <a:lstStyle/>
          <a:p>
            <a:pPr algn="ctr" indent="0" marL="0">
              <a:buNone/>
            </a:pPr>
            <a:r>
              <a:rPr lang="en-US" sz="2000" b="1" i="1" dirty="0">
                <a:solidFill>
                  <a:srgbClr val="FFFFFF"/>
                </a:solidFill>
                <a:latin typeface="Cambria" pitchFamily="34" charset="0"/>
                <a:ea typeface="Cambria" pitchFamily="34" charset="-122"/>
                <a:cs typeface="Cambria" pitchFamily="34" charset="-120"/>
              </a:rPr>
              <a:t>"You've worked through ten rooms. This one is yours to design."</a:t>
            </a:r>
            <a:endParaRPr lang="en-US" sz="2000" dirty="0"/>
          </a:p>
        </p:txBody>
      </p:sp>
      <p:sp>
        <p:nvSpPr>
          <p:cNvPr id="7" name="Text 4"/>
          <p:cNvSpPr/>
          <p:nvPr/>
        </p:nvSpPr>
        <p:spPr>
          <a:xfrm>
            <a:off x="1219200" y="2560320"/>
            <a:ext cx="9387840" cy="1706880"/>
          </a:xfrm>
          <a:prstGeom prst="rect">
            <a:avLst/>
          </a:prstGeom>
          <a:noFill/>
          <a:ln/>
        </p:spPr>
        <p:txBody>
          <a:bodyPr wrap="square" lIns="0" tIns="0" rIns="0" bIns="0" rtlCol="0" anchor="t"/>
          <a:lstStyle/>
          <a:p>
            <a:pPr algn="ctr" indent="0" marL="0">
              <a:buNone/>
            </a:pPr>
            <a:r>
              <a:rPr lang="en-US" sz="1300" dirty="0">
                <a:solidFill>
                  <a:srgbClr val="EAF8FD"/>
                </a:solidFill>
                <a:latin typeface="Calibri" pitchFamily="34" charset="0"/>
                <a:ea typeface="Calibri" pitchFamily="34" charset="-122"/>
                <a:cs typeface="Calibri" pitchFamily="34" charset="-120"/>
              </a:rPr>
              <a:t>You walk into a brand-new room at the end of the museum -- the Grand Exhibition Hall. The walls are tall and bright, but every panel is blank. The museum director is waiting for you. "Maps, explorers, regions, marketplaces, civic halls," she says. "The museum needs one more exhibit -- and the visitors arrive in a few days." She hands you a folder full of the badges you've earned this year.</a:t>
            </a:r>
            <a:endParaRPr lang="en-US" sz="1300" dirty="0"/>
          </a:p>
        </p:txBody>
      </p:sp>
      <p:sp>
        <p:nvSpPr>
          <p:cNvPr id="8" name="Text 5"/>
          <p:cNvSpPr/>
          <p:nvPr/>
        </p:nvSpPr>
        <p:spPr>
          <a:xfrm>
            <a:off x="1219200" y="4328160"/>
            <a:ext cx="9387840" cy="1341120"/>
          </a:xfrm>
          <a:prstGeom prst="rect">
            <a:avLst/>
          </a:prstGeom>
          <a:noFill/>
          <a:ln/>
        </p:spPr>
        <p:txBody>
          <a:bodyPr wrap="square" lIns="0" tIns="0" rIns="0" bIns="0" rtlCol="0" anchor="t"/>
          <a:lstStyle/>
          <a:p>
            <a:pPr algn="ctr" indent="0" marL="0">
              <a:buNone/>
            </a:pPr>
            <a:r>
              <a:rPr lang="en-US" sz="1300" b="1" dirty="0">
                <a:solidFill>
                  <a:srgbClr val="D4943A"/>
                </a:solidFill>
                <a:latin typeface="Calibri" pitchFamily="34" charset="0"/>
                <a:ea typeface="Calibri" pitchFamily="34" charset="-122"/>
                <a:cs typeface="Calibri" pitchFamily="34" charset="-120"/>
              </a:rPr>
              <a:t>Today's routine is the Historian-Citizen Exhibition: you'll walk back through the museum three ways -- See the Place, Hear the Voices, and Follow the Story -- to choose what belongs in your final exhibit.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42672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VIRTUE SPOTLIGHT</a:t>
            </a:r>
            <a:endParaRPr lang="en-US" sz="1100" dirty="0"/>
          </a:p>
        </p:txBody>
      </p:sp>
      <p:sp>
        <p:nvSpPr>
          <p:cNvPr id="3" name="Text 1"/>
          <p:cNvSpPr/>
          <p:nvPr/>
        </p:nvSpPr>
        <p:spPr>
          <a:xfrm>
            <a:off x="609600" y="853440"/>
            <a:ext cx="10972800" cy="73152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Service</a:t>
            </a:r>
            <a:endParaRPr lang="en-US" sz="3200" dirty="0"/>
          </a:p>
        </p:txBody>
      </p:sp>
      <p:sp>
        <p:nvSpPr>
          <p:cNvPr id="4" name="Shape 2"/>
          <p:cNvSpPr/>
          <p:nvPr/>
        </p:nvSpPr>
        <p:spPr>
          <a:xfrm>
            <a:off x="609600" y="1889760"/>
            <a:ext cx="5242560" cy="4328160"/>
          </a:xfrm>
          <a:prstGeom prst="roundRect">
            <a:avLst>
              <a:gd name="adj" fmla="val 3380"/>
            </a:avLst>
          </a:prstGeom>
          <a:solidFill>
            <a:srgbClr val="1A2D5A"/>
          </a:solidFill>
          <a:ln/>
        </p:spPr>
      </p:sp>
      <p:sp>
        <p:nvSpPr>
          <p:cNvPr id="5" name="Text 3"/>
          <p:cNvSpPr/>
          <p:nvPr/>
        </p:nvSpPr>
        <p:spPr>
          <a:xfrm>
            <a:off x="853440" y="2072640"/>
            <a:ext cx="4754880" cy="36576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WHAT IT MEANS</a:t>
            </a:r>
            <a:endParaRPr lang="en-US" sz="1300" dirty="0"/>
          </a:p>
        </p:txBody>
      </p:sp>
      <p:sp>
        <p:nvSpPr>
          <p:cNvPr id="6" name="Text 4"/>
          <p:cNvSpPr/>
          <p:nvPr/>
        </p:nvSpPr>
        <p:spPr>
          <a:xfrm>
            <a:off x="853440" y="2499360"/>
            <a:ext cx="4754880" cy="1828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Service means doing real work for people you may never meet. When you design an exhibit, you're helping every visitor who walks in next week, next month, or years from now.</a:t>
            </a:r>
            <a:endParaRPr lang="en-US" sz="1300" dirty="0"/>
          </a:p>
        </p:txBody>
      </p:sp>
      <p:sp>
        <p:nvSpPr>
          <p:cNvPr id="7" name="Text 5"/>
          <p:cNvSpPr/>
          <p:nvPr/>
        </p:nvSpPr>
        <p:spPr>
          <a:xfrm>
            <a:off x="853440" y="4389120"/>
            <a:ext cx="4754880" cy="1584960"/>
          </a:xfrm>
          <a:prstGeom prst="rect">
            <a:avLst/>
          </a:prstGeom>
          <a:noFill/>
          <a:ln/>
        </p:spPr>
        <p:txBody>
          <a:bodyPr wrap="square" lIns="0" tIns="0" rIns="0" bIns="0" rtlCol="0" anchor="t"/>
          <a:lstStyle/>
          <a:p>
            <a:pPr indent="0" marL="0">
              <a:buNone/>
            </a:pPr>
            <a:r>
              <a:rPr lang="en-US" sz="1200" i="1" dirty="0">
                <a:solidFill>
                  <a:srgbClr val="EAF8FD"/>
                </a:solidFill>
                <a:latin typeface="Calibri" pitchFamily="34" charset="0"/>
                <a:ea typeface="Calibri" pitchFamily="34" charset="-122"/>
                <a:cs typeface="Calibri" pitchFamily="34" charset="-120"/>
              </a:rPr>
              <a:t>Good curators don't put their names in giant letters -- they put the evidence first, so the visitor can learn.</a:t>
            </a:r>
            <a:endParaRPr lang="en-US" sz="1200" dirty="0"/>
          </a:p>
        </p:txBody>
      </p:sp>
      <p:sp>
        <p:nvSpPr>
          <p:cNvPr id="8" name="Shape 6"/>
          <p:cNvSpPr/>
          <p:nvPr/>
        </p:nvSpPr>
        <p:spPr>
          <a:xfrm>
            <a:off x="6035040" y="1889760"/>
            <a:ext cx="5242560" cy="4328160"/>
          </a:xfrm>
          <a:prstGeom prst="roundRect">
            <a:avLst>
              <a:gd name="adj" fmla="val 3380"/>
            </a:avLst>
          </a:prstGeom>
          <a:solidFill>
            <a:srgbClr val="1A2D5A"/>
          </a:solidFill>
          <a:ln/>
        </p:spPr>
      </p:sp>
      <p:sp>
        <p:nvSpPr>
          <p:cNvPr id="9" name="Text 7"/>
          <p:cNvSpPr/>
          <p:nvPr/>
        </p:nvSpPr>
        <p:spPr>
          <a:xfrm>
            <a:off x="6278880" y="2072640"/>
            <a:ext cx="4754880" cy="365760"/>
          </a:xfrm>
          <a:prstGeom prst="rect">
            <a:avLst/>
          </a:prstGeom>
          <a:noFill/>
          <a:ln/>
        </p:spPr>
        <p:txBody>
          <a:bodyPr wrap="square" lIns="0" tIns="0" rIns="0" bIns="0" rtlCol="0" anchor="ctr"/>
          <a:lstStyle/>
          <a:p>
            <a:pPr indent="0" marL="0">
              <a:buNone/>
            </a:pPr>
            <a:r>
              <a:rPr lang="en-US" sz="1300" b="1" spc="150" kern="0" dirty="0">
                <a:solidFill>
                  <a:srgbClr val="55C8E8"/>
                </a:solidFill>
                <a:latin typeface="Calibri" pitchFamily="34" charset="0"/>
                <a:ea typeface="Calibri" pitchFamily="34" charset="-122"/>
                <a:cs typeface="Calibri" pitchFamily="34" charset="-120"/>
              </a:rPr>
              <a:t>YOUR ROLE TODAY</a:t>
            </a:r>
            <a:endParaRPr lang="en-US" sz="1300" dirty="0"/>
          </a:p>
        </p:txBody>
      </p:sp>
      <p:sp>
        <p:nvSpPr>
          <p:cNvPr id="10" name="Text 8"/>
          <p:cNvSpPr/>
          <p:nvPr/>
        </p:nvSpPr>
        <p:spPr>
          <a:xfrm>
            <a:off x="6278880" y="2499360"/>
            <a:ext cx="4754880" cy="1828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You are an Exhibit Designer -- the museum has given you a real job. Today, your work is to walk back through every room you've visited and decide which evidence belongs in your final exhibit.</a:t>
            </a:r>
            <a:endParaRPr lang="en-US" sz="1300" dirty="0"/>
          </a:p>
        </p:txBody>
      </p:sp>
      <p:sp>
        <p:nvSpPr>
          <p:cNvPr id="11" name="Text 9"/>
          <p:cNvSpPr/>
          <p:nvPr/>
        </p:nvSpPr>
        <p:spPr>
          <a:xfrm>
            <a:off x="6278880" y="4389120"/>
            <a:ext cx="4754880" cy="1584960"/>
          </a:xfrm>
          <a:prstGeom prst="rect">
            <a:avLst/>
          </a:prstGeom>
          <a:noFill/>
          <a:ln/>
        </p:spPr>
        <p:txBody>
          <a:bodyPr wrap="square" lIns="0" tIns="0" rIns="0" bIns="0" rtlCol="0" anchor="t"/>
          <a:lstStyle/>
          <a:p>
            <a:pPr indent="0" marL="0">
              <a:buNone/>
            </a:pPr>
            <a:r>
              <a:rPr lang="en-US" sz="1200" i="1" dirty="0">
                <a:solidFill>
                  <a:srgbClr val="EAF8FD"/>
                </a:solidFill>
                <a:latin typeface="Calibri" pitchFamily="34" charset="0"/>
                <a:ea typeface="Calibri" pitchFamily="34" charset="-122"/>
                <a:cs typeface="Calibri" pitchFamily="34" charset="-120"/>
              </a:rPr>
              <a:t>You won't use everything. A great curator chooses.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SEE THE PLACE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Back to the Map Rooms</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curator's badge board showing two earned badges side by side -- one stamped 'Great Map Room' with a small compass rose icon, one stamped 'North America Gallery / US Regions Gallery' with a small region-outline icon -- both badges shown without captions explaining what they mean.</a:t>
            </a:r>
            <a:endParaRPr lang="en-US" sz="1100" dirty="0"/>
          </a:p>
        </p:txBody>
      </p:sp>
      <p:sp>
        <p:nvSpPr>
          <p:cNvPr id="7" name="Text 5"/>
          <p:cNvSpPr/>
          <p:nvPr/>
        </p:nvSpPr>
        <p:spPr>
          <a:xfrm>
            <a:off x="7010400" y="1645920"/>
            <a:ext cx="4267200" cy="17068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Two badges from your folder: one from the Great Map Room and World Map Hall, one from the North America Gallery and United States Regions Gallery. Look at the icons. What do both of these rooms have in common?</a:t>
            </a:r>
            <a:endParaRPr lang="en-US" sz="1250" dirty="0"/>
          </a:p>
        </p:txBody>
      </p:sp>
      <p:sp>
        <p:nvSpPr>
          <p:cNvPr id="8" name="Shape 6"/>
          <p:cNvSpPr/>
          <p:nvPr/>
        </p:nvSpPr>
        <p:spPr>
          <a:xfrm>
            <a:off x="7010400" y="3474720"/>
            <a:ext cx="4206240" cy="1706880"/>
          </a:xfrm>
          <a:prstGeom prst="roundRect">
            <a:avLst>
              <a:gd name="adj" fmla="val 8571"/>
            </a:avLst>
          </a:prstGeom>
          <a:solidFill>
            <a:srgbClr val="FFF3DC"/>
          </a:solidFill>
          <a:ln w="19050">
            <a:solidFill>
              <a:srgbClr val="F5E6C8"/>
            </a:solidFill>
            <a:prstDash val="solid"/>
          </a:ln>
        </p:spPr>
      </p:sp>
      <p:sp>
        <p:nvSpPr>
          <p:cNvPr id="9" name="Text 7"/>
          <p:cNvSpPr/>
          <p:nvPr/>
        </p:nvSpPr>
        <p:spPr>
          <a:xfrm>
            <a:off x="7193280" y="35478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816096"/>
            <a:ext cx="384048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both badges..."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these rooms both taught me..."</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Look at both badges before we discuss.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SEE THE PLACE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Do Maps Teach a Curator?</a:t>
            </a:r>
            <a:endParaRPr lang="en-US" sz="2700" dirty="0"/>
          </a:p>
        </p:txBody>
      </p:sp>
      <p:sp>
        <p:nvSpPr>
          <p:cNvPr id="4" name="Text 2"/>
          <p:cNvSpPr/>
          <p:nvPr/>
        </p:nvSpPr>
        <p:spPr>
          <a:xfrm>
            <a:off x="609600" y="1584960"/>
            <a:ext cx="5974080" cy="42672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In the Great Map Room and the World Map Hall, you learned how to read a map -- titles, compass roses, scales, legends, continents, and oceans. In the North America Gallery and United States Regions Gallery, you saw how land, climate, and people fit together to make a region.</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Quick Review: Name two things every map needs. (A title, a compass rose, a scale, and a legend -- any two count.) What makes a region different from a country? (A region is a smaller area inside a country, shaped by the land, climate, and people who live there.)</a:t>
            </a:r>
            <a:endParaRPr lang="en-US" sz="1200" dirty="0"/>
          </a:p>
        </p:txBody>
      </p:sp>
      <p:sp>
        <p:nvSpPr>
          <p:cNvPr id="5" name="Shape 3"/>
          <p:cNvSpPr/>
          <p:nvPr/>
        </p:nvSpPr>
        <p:spPr>
          <a:xfrm>
            <a:off x="6827520" y="1584960"/>
            <a:ext cx="438912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map tool would you use to point out exactly where your exhibit's community is?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a region different from a whole country?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one map skill do you feel most confident about right now?</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a:t>
            </a:r>
            <a:endParaRPr lang="en-US" sz="1100" dirty="0"/>
          </a:p>
        </p:txBody>
      </p:sp>
      <p:sp>
        <p:nvSpPr>
          <p:cNvPr id="3" name="Text 1"/>
          <p:cNvSpPr/>
          <p:nvPr/>
        </p:nvSpPr>
        <p:spPr>
          <a:xfrm>
            <a:off x="609600" y="1036320"/>
            <a:ext cx="10972800" cy="73152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See the Place</a:t>
            </a:r>
            <a:endParaRPr lang="en-US" sz="3200" dirty="0"/>
          </a:p>
        </p:txBody>
      </p:sp>
      <p:sp>
        <p:nvSpPr>
          <p:cNvPr id="4" name="Text 2"/>
          <p:cNvSpPr/>
          <p:nvPr/>
        </p:nvSpPr>
        <p:spPr>
          <a:xfrm>
            <a:off x="1341120" y="2011680"/>
            <a:ext cx="9144000" cy="158496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Every good exhibit needs a place. That's why your Curator Task will ask you to name a map you'll use -- so a visitor can find exactly where your exhibit's community or region is, using titles, compass roses, scales, and legends.</a:t>
            </a:r>
            <a:endParaRPr lang="en-US" sz="1500" dirty="0"/>
          </a:p>
        </p:txBody>
      </p:sp>
      <p:sp>
        <p:nvSpPr>
          <p:cNvPr id="5" name="Shape 3"/>
          <p:cNvSpPr/>
          <p:nvPr/>
        </p:nvSpPr>
        <p:spPr>
          <a:xfrm>
            <a:off x="1584960" y="3779520"/>
            <a:ext cx="8656320" cy="1402080"/>
          </a:xfrm>
          <a:prstGeom prst="roundRect">
            <a:avLst>
              <a:gd name="adj" fmla="val 10435"/>
            </a:avLst>
          </a:prstGeom>
          <a:solidFill>
            <a:srgbClr val="1A2D5A"/>
          </a:solidFill>
          <a:ln w="19050">
            <a:solidFill>
              <a:srgbClr val="D4943A"/>
            </a:solidFill>
            <a:prstDash val="dash"/>
          </a:ln>
        </p:spPr>
      </p:sp>
      <p:sp>
        <p:nvSpPr>
          <p:cNvPr id="6" name="Text 4"/>
          <p:cNvSpPr/>
          <p:nvPr/>
        </p:nvSpPr>
        <p:spPr>
          <a:xfrm>
            <a:off x="1889760" y="3962400"/>
            <a:ext cx="8046720" cy="1036320"/>
          </a:xfrm>
          <a:prstGeom prst="rect">
            <a:avLst/>
          </a:prstGeom>
          <a:noFill/>
          <a:ln/>
        </p:spPr>
        <p:txBody>
          <a:bodyPr wrap="square" lIns="0" tIns="0" rIns="0" bIns="0" rtlCol="0" anchor="ctr"/>
          <a:lstStyle/>
          <a:p>
            <a:pPr algn="ctr" indent="0" marL="0">
              <a:buNone/>
            </a:pPr>
            <a:r>
              <a:rPr lang="en-US" sz="1400" i="1" dirty="0">
                <a:solidFill>
                  <a:srgbClr val="FFF3DC"/>
                </a:solidFill>
                <a:latin typeface="Cambria" pitchFamily="34" charset="0"/>
                <a:ea typeface="Cambria" pitchFamily="34" charset="-122"/>
                <a:cs typeface="Cambria" pitchFamily="34" charset="-120"/>
              </a:rPr>
              <a:t>Exhibit note: "A visitor can't understand your evidence until they know where it happened."</a:t>
            </a:r>
            <a:endParaRPr lang="en-US" sz="1400" dirty="0"/>
          </a:p>
        </p:txBody>
      </p:sp>
      <p:sp>
        <p:nvSpPr>
          <p:cNvPr id="7" name="Text 5"/>
          <p:cNvSpPr/>
          <p:nvPr/>
        </p:nvSpPr>
        <p:spPr>
          <a:xfrm>
            <a:off x="1341120" y="5486400"/>
            <a:ext cx="91440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two map tools you could use in your exhibit.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HEAR THE VOICES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Back to the Curator Training Hall</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single museum badge stamped 'Curator Training Hall' with a small magnifying glass icon over two overlapping documents -- one labeled with a faded handwritten look (primary source), one labeled with a clean printed look (secondary source) -- shown without captions explaining the difference.</a:t>
            </a:r>
            <a:endParaRPr lang="en-US" sz="1100" dirty="0"/>
          </a:p>
        </p:txBody>
      </p:sp>
      <p:sp>
        <p:nvSpPr>
          <p:cNvPr id="7" name="Text 5"/>
          <p:cNvSpPr/>
          <p:nvPr/>
        </p:nvSpPr>
        <p:spPr>
          <a:xfrm>
            <a:off x="7010400" y="1645920"/>
            <a:ext cx="4267200" cy="188976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This badge is from the very first room you visited: the Curator Training Hall. Look at the icon -- a magnifying glass over two kinds of documents. What was a curator supposed to do with sources like these, before making a claim?</a:t>
            </a:r>
            <a:endParaRPr lang="en-US" sz="1250" dirty="0"/>
          </a:p>
        </p:txBody>
      </p:sp>
      <p:sp>
        <p:nvSpPr>
          <p:cNvPr id="8" name="Shape 6"/>
          <p:cNvSpPr/>
          <p:nvPr/>
        </p:nvSpPr>
        <p:spPr>
          <a:xfrm>
            <a:off x="7010400" y="3657600"/>
            <a:ext cx="4206240" cy="1524000"/>
          </a:xfrm>
          <a:prstGeom prst="roundRect">
            <a:avLst>
              <a:gd name="adj" fmla="val 9600"/>
            </a:avLst>
          </a:prstGeom>
          <a:solidFill>
            <a:srgbClr val="FFF3DC"/>
          </a:solidFill>
          <a:ln w="19050">
            <a:solidFill>
              <a:srgbClr val="F5E6C8"/>
            </a:solidFill>
            <a:prstDash val="solid"/>
          </a:ln>
        </p:spPr>
      </p:sp>
      <p:sp>
        <p:nvSpPr>
          <p:cNvPr id="9" name="Text 7"/>
          <p:cNvSpPr/>
          <p:nvPr/>
        </p:nvSpPr>
        <p:spPr>
          <a:xfrm>
            <a:off x="7193280" y="373075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998976"/>
            <a:ext cx="38404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remember a curator..."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"Before making a claim, I think..."</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Think back to week one before we discuss.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HEAR THE VOICES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Does a Source Tell You?</a:t>
            </a:r>
            <a:endParaRPr lang="en-US" sz="2700" dirty="0"/>
          </a:p>
        </p:txBody>
      </p:sp>
      <p:sp>
        <p:nvSpPr>
          <p:cNvPr id="4" name="Text 2"/>
          <p:cNvSpPr/>
          <p:nvPr/>
        </p:nvSpPr>
        <p:spPr>
          <a:xfrm>
            <a:off x="609600" y="1584960"/>
            <a:ext cx="5974080" cy="42672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In the Curator Training Hall, you learned that a good curator asks before they answer. You sorted primary sources from secondary sources. You looked carefully before making a claim.</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Quick Review: What does a curator do before making a claim? (Asks questions and looks closely at the source before deciding what it means.)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 source or image in your exhibit gives the visitor a voice from that place or time to listen to.</a:t>
            </a:r>
            <a:endParaRPr lang="en-US" sz="1200" dirty="0"/>
          </a:p>
        </p:txBody>
      </p:sp>
      <p:sp>
        <p:nvSpPr>
          <p:cNvPr id="5" name="Shape 3"/>
          <p:cNvSpPr/>
          <p:nvPr/>
        </p:nvSpPr>
        <p:spPr>
          <a:xfrm>
            <a:off x="6827520" y="1584960"/>
            <a:ext cx="438912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one curator skill from that first room that still helps you today?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a curator ask questions before making a claim, instead of after?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 of source or image might you choose for your exhibit's voice?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a:t>
            </a:r>
            <a:endParaRPr lang="en-US" sz="1100" dirty="0"/>
          </a:p>
        </p:txBody>
      </p:sp>
      <p:sp>
        <p:nvSpPr>
          <p:cNvPr id="3" name="Text 1"/>
          <p:cNvSpPr/>
          <p:nvPr/>
        </p:nvSpPr>
        <p:spPr>
          <a:xfrm>
            <a:off x="609600" y="1036320"/>
            <a:ext cx="10972800" cy="73152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Hear the Voices</a:t>
            </a:r>
            <a:endParaRPr lang="en-US" sz="3200" dirty="0"/>
          </a:p>
        </p:txBody>
      </p:sp>
      <p:sp>
        <p:nvSpPr>
          <p:cNvPr id="4" name="Text 2"/>
          <p:cNvSpPr/>
          <p:nvPr/>
        </p:nvSpPr>
        <p:spPr>
          <a:xfrm>
            <a:off x="1341120" y="2011680"/>
            <a:ext cx="9144000" cy="158496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Every good exhibit needs a voice. That's why your Curator Task will ask you to name a source or image -- something real that lets a visitor hear or see evidence directly, the way a good curator always looks closely first.</a:t>
            </a:r>
            <a:endParaRPr lang="en-US" sz="1500" dirty="0"/>
          </a:p>
        </p:txBody>
      </p:sp>
      <p:sp>
        <p:nvSpPr>
          <p:cNvPr id="5" name="Shape 3"/>
          <p:cNvSpPr/>
          <p:nvPr/>
        </p:nvSpPr>
        <p:spPr>
          <a:xfrm>
            <a:off x="1584960" y="3779520"/>
            <a:ext cx="8656320" cy="1402080"/>
          </a:xfrm>
          <a:prstGeom prst="roundRect">
            <a:avLst>
              <a:gd name="adj" fmla="val 10435"/>
            </a:avLst>
          </a:prstGeom>
          <a:solidFill>
            <a:srgbClr val="1A2D5A"/>
          </a:solidFill>
          <a:ln w="19050">
            <a:solidFill>
              <a:srgbClr val="D4943A"/>
            </a:solidFill>
            <a:prstDash val="dash"/>
          </a:ln>
        </p:spPr>
      </p:sp>
      <p:sp>
        <p:nvSpPr>
          <p:cNvPr id="6" name="Text 4"/>
          <p:cNvSpPr/>
          <p:nvPr/>
        </p:nvSpPr>
        <p:spPr>
          <a:xfrm>
            <a:off x="1889760" y="3962400"/>
            <a:ext cx="8046720" cy="1036320"/>
          </a:xfrm>
          <a:prstGeom prst="rect">
            <a:avLst/>
          </a:prstGeom>
          <a:noFill/>
          <a:ln/>
        </p:spPr>
        <p:txBody>
          <a:bodyPr wrap="square" lIns="0" tIns="0" rIns="0" bIns="0" rtlCol="0" anchor="ctr"/>
          <a:lstStyle/>
          <a:p>
            <a:pPr algn="ctr" indent="0" marL="0">
              <a:buNone/>
            </a:pPr>
            <a:r>
              <a:rPr lang="en-US" sz="1400" i="1" dirty="0">
                <a:solidFill>
                  <a:srgbClr val="FFF3DC"/>
                </a:solidFill>
                <a:latin typeface="Cambria" pitchFamily="34" charset="0"/>
                <a:ea typeface="Cambria" pitchFamily="34" charset="-122"/>
                <a:cs typeface="Cambria" pitchFamily="34" charset="-120"/>
              </a:rPr>
              <a:t>Exhibit note: "A map shows where. A source shows what really happened there."</a:t>
            </a:r>
            <a:endParaRPr lang="en-US" sz="1400" dirty="0"/>
          </a:p>
        </p:txBody>
      </p:sp>
      <p:sp>
        <p:nvSpPr>
          <p:cNvPr id="7" name="Text 5"/>
          <p:cNvSpPr/>
          <p:nvPr/>
        </p:nvSpPr>
        <p:spPr>
          <a:xfrm>
            <a:off x="1341120" y="5486400"/>
            <a:ext cx="91440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one curator skill from the very first room.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FOLLOW THE STORY · CLUE BOX</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Back to Marketplace Hall &amp; Citizenship Hall</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Two more museum badges laid side by side -- one stamped 'Marketplace Hall' with a small coin and trade-goods icon, one stamped 'Citizenship Hall' with a small gavel and flag icon -- shown without captions explaining what each room taught.</a:t>
            </a:r>
            <a:endParaRPr lang="en-US" sz="1100" dirty="0"/>
          </a:p>
        </p:txBody>
      </p:sp>
      <p:sp>
        <p:nvSpPr>
          <p:cNvPr id="7" name="Text 5"/>
          <p:cNvSpPr/>
          <p:nvPr/>
        </p:nvSpPr>
        <p:spPr>
          <a:xfrm>
            <a:off x="7010400" y="1645920"/>
            <a:ext cx="4267200" cy="182880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Two more badges: Marketplace Hall and Citizenship Hall. One is about trade and choices. One is about government and civic virtues. How do these two rooms connect to build one bigger story about a community?</a:t>
            </a:r>
            <a:endParaRPr lang="en-US" sz="1250" dirty="0"/>
          </a:p>
        </p:txBody>
      </p:sp>
      <p:sp>
        <p:nvSpPr>
          <p:cNvPr id="8" name="Shape 6"/>
          <p:cNvSpPr/>
          <p:nvPr/>
        </p:nvSpPr>
        <p:spPr>
          <a:xfrm>
            <a:off x="7010400" y="3596640"/>
            <a:ext cx="4206240" cy="1584960"/>
          </a:xfrm>
          <a:prstGeom prst="roundRect">
            <a:avLst>
              <a:gd name="adj" fmla="val 9231"/>
            </a:avLst>
          </a:prstGeom>
          <a:solidFill>
            <a:srgbClr val="FFF3DC"/>
          </a:solidFill>
          <a:ln w="19050">
            <a:solidFill>
              <a:srgbClr val="F5E6C8"/>
            </a:solidFill>
            <a:prstDash val="solid"/>
          </a:ln>
        </p:spPr>
      </p:sp>
      <p:sp>
        <p:nvSpPr>
          <p:cNvPr id="9" name="Text 7"/>
          <p:cNvSpPr/>
          <p:nvPr/>
        </p:nvSpPr>
        <p:spPr>
          <a:xfrm>
            <a:off x="7193280" y="366979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938016"/>
            <a:ext cx="3840480" cy="1158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these two rooms connect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"Together, they tell the story of..."</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Think about both badges before we discuss.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FOLLOW THE STORY · DISCUSSION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How Does a Community's Story Connect?</a:t>
            </a:r>
            <a:endParaRPr lang="en-US" sz="2700" dirty="0"/>
          </a:p>
        </p:txBody>
      </p:sp>
      <p:sp>
        <p:nvSpPr>
          <p:cNvPr id="4" name="Text 2"/>
          <p:cNvSpPr/>
          <p:nvPr/>
        </p:nvSpPr>
        <p:spPr>
          <a:xfrm>
            <a:off x="609600" y="1584960"/>
            <a:ext cx="5974080" cy="4267200"/>
          </a:xfrm>
          <a:prstGeom prst="rect">
            <a:avLst/>
          </a:prstGeom>
          <a:noFill/>
          <a:ln/>
        </p:spPr>
        <p:txBody>
          <a:bodyPr wrap="square" lIns="0" tIns="0" rIns="0" bIns="0" rtlCol="0" anchor="t"/>
          <a:lstStyle/>
          <a:p>
            <a:pPr indent="0" marL="0">
              <a:buNone/>
            </a:pPr>
            <a:r>
              <a:rPr lang="en-US" sz="1150" dirty="0">
                <a:solidFill>
                  <a:srgbClr val="0E1C42"/>
                </a:solidFill>
                <a:latin typeface="Calibri" pitchFamily="34" charset="0"/>
                <a:ea typeface="Calibri" pitchFamily="34" charset="-122"/>
                <a:cs typeface="Calibri" pitchFamily="34" charset="-120"/>
              </a:rPr>
              <a:t>In Marketplace Hall, you studied scarcity, trade, goods and services, and money -- every choice has a cost and a benefit. In Citizenship Hall, you learned why communities need rules, leaders, and shared symbols -- and what civic virtues like honesty, courage, and service look like in real life.</a:t>
            </a:r>
            <a:endParaRPr lang="en-US" sz="1150" dirty="0"/>
          </a:p>
          <a:p>
            <a:pPr indent="0" marL="0">
              <a:buNone/>
            </a:pPr>
            <a:endParaRPr lang="en-US" sz="1150" dirty="0"/>
          </a:p>
          <a:p>
            <a:pPr indent="0" marL="0">
              <a:buNone/>
            </a:pPr>
            <a:r>
              <a:rPr lang="en-US" sz="1150" dirty="0">
                <a:solidFill>
                  <a:srgbClr val="0E1C42"/>
                </a:solidFill>
                <a:latin typeface="Calibri" pitchFamily="34" charset="0"/>
                <a:ea typeface="Calibri" pitchFamily="34" charset="-122"/>
                <a:cs typeface="Calibri" pitchFamily="34" charset="-120"/>
              </a:rPr>
              <a:t>Quick Review: What is scarcity? (When there isn't enough of something to go around, so people have to choose.) Why do communities need government? (To make rules, settle problems, and protect people's rights.)</a:t>
            </a:r>
            <a:endParaRPr lang="en-US" sz="1150" dirty="0"/>
          </a:p>
        </p:txBody>
      </p:sp>
      <p:sp>
        <p:nvSpPr>
          <p:cNvPr id="5" name="Shape 3"/>
          <p:cNvSpPr/>
          <p:nvPr/>
        </p:nvSpPr>
        <p:spPr>
          <a:xfrm>
            <a:off x="6827520" y="1584960"/>
            <a:ext cx="4389120" cy="42672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7071360" y="1706880"/>
            <a:ext cx="390144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7071360" y="2048256"/>
            <a:ext cx="3901440" cy="36819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Looking back at every room you visited, which one taught you the most --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a community's economy connect to its government?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In your own words, what does a young geographer-citizen know, see, and do for their community?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 FOUND IT</a:t>
            </a:r>
            <a:endParaRPr lang="en-US" sz="1100" dirty="0"/>
          </a:p>
        </p:txBody>
      </p:sp>
      <p:sp>
        <p:nvSpPr>
          <p:cNvPr id="3" name="Text 1"/>
          <p:cNvSpPr/>
          <p:nvPr/>
        </p:nvSpPr>
        <p:spPr>
          <a:xfrm>
            <a:off x="609600" y="1036320"/>
            <a:ext cx="10972800" cy="73152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Follow the Story</a:t>
            </a:r>
            <a:endParaRPr lang="en-US" sz="3200" dirty="0"/>
          </a:p>
        </p:txBody>
      </p:sp>
      <p:sp>
        <p:nvSpPr>
          <p:cNvPr id="4" name="Text 2"/>
          <p:cNvSpPr/>
          <p:nvPr/>
        </p:nvSpPr>
        <p:spPr>
          <a:xfrm>
            <a:off x="1341120" y="2011680"/>
            <a:ext cx="9144000" cy="158496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Every good exhibit needs a throughline. That's why your Curator Task will ask you to name a community or region -- the place where maps, sources, trade, and government all come together into one real story.</a:t>
            </a:r>
            <a:endParaRPr lang="en-US" sz="1500" dirty="0"/>
          </a:p>
        </p:txBody>
      </p:sp>
      <p:sp>
        <p:nvSpPr>
          <p:cNvPr id="5" name="Shape 3"/>
          <p:cNvSpPr/>
          <p:nvPr/>
        </p:nvSpPr>
        <p:spPr>
          <a:xfrm>
            <a:off x="1584960" y="3779520"/>
            <a:ext cx="8656320" cy="1402080"/>
          </a:xfrm>
          <a:prstGeom prst="roundRect">
            <a:avLst>
              <a:gd name="adj" fmla="val 10435"/>
            </a:avLst>
          </a:prstGeom>
          <a:solidFill>
            <a:srgbClr val="1A2D5A"/>
          </a:solidFill>
          <a:ln w="19050">
            <a:solidFill>
              <a:srgbClr val="D4943A"/>
            </a:solidFill>
            <a:prstDash val="dash"/>
          </a:ln>
        </p:spPr>
      </p:sp>
      <p:sp>
        <p:nvSpPr>
          <p:cNvPr id="6" name="Text 4"/>
          <p:cNvSpPr/>
          <p:nvPr/>
        </p:nvSpPr>
        <p:spPr>
          <a:xfrm>
            <a:off x="1889760" y="3962400"/>
            <a:ext cx="8046720" cy="1036320"/>
          </a:xfrm>
          <a:prstGeom prst="rect">
            <a:avLst/>
          </a:prstGeom>
          <a:noFill/>
          <a:ln/>
        </p:spPr>
        <p:txBody>
          <a:bodyPr wrap="square" lIns="0" tIns="0" rIns="0" bIns="0" rtlCol="0" anchor="ctr"/>
          <a:lstStyle/>
          <a:p>
            <a:pPr algn="ctr" indent="0" marL="0">
              <a:buNone/>
            </a:pPr>
            <a:r>
              <a:rPr lang="en-US" sz="1400" i="1" dirty="0">
                <a:solidFill>
                  <a:srgbClr val="FFF3DC"/>
                </a:solidFill>
                <a:latin typeface="Cambria" pitchFamily="34" charset="0"/>
                <a:ea typeface="Cambria" pitchFamily="34" charset="-122"/>
                <a:cs typeface="Cambria" pitchFamily="34" charset="-120"/>
              </a:rPr>
              <a:t>Exhibit note: "A young geographer-citizen sees a place, hears its voices, and follows its whole story."</a:t>
            </a:r>
            <a:endParaRPr lang="en-US" sz="1400" dirty="0"/>
          </a:p>
        </p:txBody>
      </p:sp>
      <p:sp>
        <p:nvSpPr>
          <p:cNvPr id="7" name="Text 5"/>
          <p:cNvSpPr/>
          <p:nvPr/>
        </p:nvSpPr>
        <p:spPr>
          <a:xfrm>
            <a:off x="1341120" y="5486400"/>
            <a:ext cx="914400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all three pillars: See, Hear, Follow.</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WHY IT MATTERS · BIG PICTURE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Choosing, Not Showing Everything</a:t>
            </a:r>
            <a:endParaRPr lang="en-US" sz="2700" dirty="0"/>
          </a:p>
        </p:txBody>
      </p:sp>
      <p:sp>
        <p:nvSpPr>
          <p:cNvPr id="4" name="Shape 2"/>
          <p:cNvSpPr/>
          <p:nvPr/>
        </p:nvSpPr>
        <p:spPr>
          <a:xfrm>
            <a:off x="609600" y="1584960"/>
            <a:ext cx="10607040" cy="1402080"/>
          </a:xfrm>
          <a:prstGeom prst="roundRect">
            <a:avLst>
              <a:gd name="adj" fmla="val 10435"/>
            </a:avLst>
          </a:prstGeom>
          <a:solidFill>
            <a:srgbClr val="F0F2F8"/>
          </a:solidFill>
          <a:ln w="12700">
            <a:solidFill>
              <a:srgbClr val="7A88A8"/>
            </a:solidFill>
            <a:prstDash val="solid"/>
          </a:ln>
        </p:spPr>
      </p:sp>
      <p:sp>
        <p:nvSpPr>
          <p:cNvPr id="5" name="Text 3"/>
          <p:cNvSpPr/>
          <p:nvPr/>
        </p:nvSpPr>
        <p:spPr>
          <a:xfrm>
            <a:off x="914400" y="1767840"/>
            <a:ext cx="9997440" cy="1097280"/>
          </a:xfrm>
          <a:prstGeom prst="rect">
            <a:avLst/>
          </a:prstGeom>
          <a:noFill/>
          <a:ln/>
        </p:spPr>
        <p:txBody>
          <a:bodyPr wrap="square" lIns="0" tIns="0" rIns="0" bIns="0"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Exhibit Label: A great curator doesn't try to show everything they know. They choose the evidence that helps visitors understand the world a little better than when they walked in.</a:t>
            </a:r>
            <a:endParaRPr lang="en-US" sz="1300" dirty="0"/>
          </a:p>
        </p:txBody>
      </p:sp>
      <p:sp>
        <p:nvSpPr>
          <p:cNvPr id="6" name="Shape 4"/>
          <p:cNvSpPr/>
          <p:nvPr/>
        </p:nvSpPr>
        <p:spPr>
          <a:xfrm>
            <a:off x="609600" y="3169920"/>
            <a:ext cx="10607040" cy="1280160"/>
          </a:xfrm>
          <a:prstGeom prst="roundRect">
            <a:avLst>
              <a:gd name="adj" fmla="val 11429"/>
            </a:avLst>
          </a:prstGeom>
          <a:solidFill>
            <a:srgbClr val="EAF8FD"/>
          </a:solidFill>
          <a:ln/>
        </p:spPr>
      </p:sp>
      <p:sp>
        <p:nvSpPr>
          <p:cNvPr id="7" name="Text 5"/>
          <p:cNvSpPr/>
          <p:nvPr/>
        </p:nvSpPr>
        <p:spPr>
          <a:xfrm>
            <a:off x="914400" y="3316224"/>
            <a:ext cx="9997440" cy="1036320"/>
          </a:xfrm>
          <a:prstGeom prst="rect">
            <a:avLst/>
          </a:prstGeom>
          <a:noFill/>
          <a:ln/>
        </p:spPr>
        <p:txBody>
          <a:bodyPr wrap="square" lIns="0" tIns="0" rIns="0" bIns="0" rtlCol="0" anchor="ctr"/>
          <a:lstStyle/>
          <a:p>
            <a:pPr indent="0" marL="0">
              <a:buNone/>
            </a:pPr>
            <a:r>
              <a:rPr lang="en-US" sz="1200" i="1" dirty="0">
                <a:solidFill>
                  <a:srgbClr val="1A8A7D"/>
                </a:solidFill>
                <a:latin typeface="Calibri" pitchFamily="34" charset="0"/>
                <a:ea typeface="Calibri" pitchFamily="34" charset="-122"/>
                <a:cs typeface="Calibri" pitchFamily="34" charset="-120"/>
              </a:rPr>
              <a:t>Opti says: I've been watching you all year -- building maps, tracing trade routes, explaining laws. You're not the same student who walked into the Curator Training Hall back in week one. You've got real evidence to show now. Choose carefully.</a:t>
            </a:r>
            <a:endParaRPr lang="en-US" sz="1200" dirty="0"/>
          </a:p>
        </p:txBody>
      </p:sp>
      <p:sp>
        <p:nvSpPr>
          <p:cNvPr id="8" name="Shape 6"/>
          <p:cNvSpPr/>
          <p:nvPr/>
        </p:nvSpPr>
        <p:spPr>
          <a:xfrm>
            <a:off x="609600" y="4693920"/>
            <a:ext cx="10607040" cy="1645920"/>
          </a:xfrm>
          <a:prstGeom prst="roundRect">
            <a:avLst>
              <a:gd name="adj" fmla="val 11111"/>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853440" y="481584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853440" y="5157216"/>
            <a:ext cx="10119360" cy="10607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are See the Place, Hear the Voices, and Follow the Story like three pieces of the same puzzle?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two students choose completely different evidence and both be right?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TEACHER MODELS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Which Room Taught Me Most?</a:t>
            </a:r>
            <a:endParaRPr lang="en-US" sz="2700" dirty="0"/>
          </a:p>
        </p:txBody>
      </p:sp>
      <p:sp>
        <p:nvSpPr>
          <p:cNvPr id="4" name="Shape 2"/>
          <p:cNvSpPr/>
          <p:nvPr/>
        </p:nvSpPr>
        <p:spPr>
          <a:xfrm>
            <a:off x="609600" y="1584960"/>
            <a:ext cx="10607040" cy="3657600"/>
          </a:xfrm>
          <a:prstGeom prst="roundRect">
            <a:avLst>
              <a:gd name="adj" fmla="val 4000"/>
            </a:avLst>
          </a:prstGeom>
          <a:solidFill>
            <a:srgbClr val="EAF8FD"/>
          </a:solidFill>
          <a:ln/>
        </p:spPr>
      </p:sp>
      <p:sp>
        <p:nvSpPr>
          <p:cNvPr id="5" name="Text 3"/>
          <p:cNvSpPr/>
          <p:nvPr/>
        </p:nvSpPr>
        <p:spPr>
          <a:xfrm>
            <a:off x="914400" y="1828800"/>
            <a:ext cx="9997440" cy="365760"/>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Think-Aloud:</a:t>
            </a:r>
            <a:endParaRPr lang="en-US" sz="1300" dirty="0"/>
          </a:p>
        </p:txBody>
      </p:sp>
      <p:sp>
        <p:nvSpPr>
          <p:cNvPr id="6" name="Text 4"/>
          <p:cNvSpPr/>
          <p:nvPr/>
        </p:nvSpPr>
        <p:spPr>
          <a:xfrm>
            <a:off x="914400" y="2316480"/>
            <a:ext cx="9997440" cy="268224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"Evidence Question 1 asks which room taught me the most, and why. Watch how I answer: for me, it would be the Great Map Room, because I never knew a compass rose mattered so much -- now I use it every time I read a map. I named the room, then gave a real reason. That's what your answer needs too."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WE TRY TOGETHER</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Let's Try a Curator Skill Together</a:t>
            </a:r>
            <a:endParaRPr lang="en-US" sz="2700" dirty="0"/>
          </a:p>
        </p:txBody>
      </p:sp>
      <p:sp>
        <p:nvSpPr>
          <p:cNvPr id="4" name="Text 2"/>
          <p:cNvSpPr/>
          <p:nvPr/>
        </p:nvSpPr>
        <p:spPr>
          <a:xfrm>
            <a:off x="609600" y="1584960"/>
            <a:ext cx="10607040" cy="73152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As a class, let's answer Evidence Question 2 together: what's one curator skill from the Curator Training Hall that still helps you today?</a:t>
            </a:r>
            <a:endParaRPr lang="en-US" sz="1400" dirty="0"/>
          </a:p>
        </p:txBody>
      </p:sp>
      <p:sp>
        <p:nvSpPr>
          <p:cNvPr id="5" name="Shape 3"/>
          <p:cNvSpPr/>
          <p:nvPr/>
        </p:nvSpPr>
        <p:spPr>
          <a:xfrm>
            <a:off x="609600" y="2499360"/>
            <a:ext cx="10607040" cy="225552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853440" y="262128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853440" y="2962656"/>
            <a:ext cx="10119360" cy="16703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are the curator skills we learned in that very first room? (Asking questions, sorting sources, looking closely.)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one have you used again this year, in a later room?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explain why that skill still matters, in your own words?</a:t>
            </a:r>
            <a:endParaRPr lang="en-US" sz="1100" dirty="0"/>
          </a:p>
        </p:txBody>
      </p:sp>
      <p:sp>
        <p:nvSpPr>
          <p:cNvPr id="8" name="Shape 6"/>
          <p:cNvSpPr/>
          <p:nvPr/>
        </p:nvSpPr>
        <p:spPr>
          <a:xfrm>
            <a:off x="609600" y="4876800"/>
            <a:ext cx="10607040" cy="1463040"/>
          </a:xfrm>
          <a:prstGeom prst="roundRect">
            <a:avLst>
              <a:gd name="adj" fmla="val 10000"/>
            </a:avLst>
          </a:prstGeom>
          <a:solidFill>
            <a:srgbClr val="FFF3DC"/>
          </a:solidFill>
          <a:ln w="19050">
            <a:solidFill>
              <a:srgbClr val="F5E6C8"/>
            </a:solidFill>
            <a:prstDash val="solid"/>
          </a:ln>
        </p:spPr>
      </p:sp>
      <p:sp>
        <p:nvSpPr>
          <p:cNvPr id="9" name="Text 7"/>
          <p:cNvSpPr/>
          <p:nvPr/>
        </p:nvSpPr>
        <p:spPr>
          <a:xfrm>
            <a:off x="792480" y="494995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92480" y="5218176"/>
            <a:ext cx="10241280" cy="10363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curator skill that still helps me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used this skill again when..."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YOUR TURN WITH SUPPORT</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Is a Young Geographer-Citizen?</a:t>
            </a:r>
            <a:endParaRPr lang="en-US" sz="2700" dirty="0"/>
          </a:p>
        </p:txBody>
      </p:sp>
      <p:sp>
        <p:nvSpPr>
          <p:cNvPr id="4" name="Text 2"/>
          <p:cNvSpPr/>
          <p:nvPr/>
        </p:nvSpPr>
        <p:spPr>
          <a:xfrm>
            <a:off x="609600" y="1584960"/>
            <a:ext cx="10607040" cy="48768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Try writing your own answer using this checklist:</a:t>
            </a:r>
            <a:endParaRPr lang="en-US" sz="1400" dirty="0"/>
          </a:p>
        </p:txBody>
      </p:sp>
      <p:sp>
        <p:nvSpPr>
          <p:cNvPr id="5" name="Text 3"/>
          <p:cNvSpPr/>
          <p:nvPr/>
        </p:nvSpPr>
        <p:spPr>
          <a:xfrm>
            <a:off x="853440" y="2255520"/>
            <a:ext cx="101193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explained what a young geographer-citizen knows (map skills, sources, community facts).</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explained what a young geographer-citizen sees (evidence, patterns, connections).</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explained what a young geographer-citizen does for their community.</a:t>
            </a:r>
            <a:endParaRPr lang="en-US" sz="1400" dirty="0"/>
          </a:p>
          <a:p>
            <a:pPr marL="342900" indent="-342900">
              <a:spcAft>
                <a:spcPts val="800"/>
              </a:spcAft>
              <a:buSzPct val="100000"/>
              <a:buChar char="•"/>
            </a:pPr>
            <a:r>
              <a:rPr lang="en-US" sz="1400" dirty="0">
                <a:solidFill>
                  <a:srgbClr val="0E1C42"/>
                </a:solidFill>
                <a:latin typeface="Calibri" pitchFamily="34" charset="0"/>
                <a:ea typeface="Calibri" pitchFamily="34" charset="-122"/>
                <a:cs typeface="Calibri" pitchFamily="34" charset="-120"/>
              </a:rPr>
              <a:t>I used my own words, not just the museum's words.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GUIDED PRACTICE · ERROR ANALYSIS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Find the Mistake</a:t>
            </a:r>
            <a:endParaRPr lang="en-US" sz="2700" dirty="0"/>
          </a:p>
        </p:txBody>
      </p:sp>
      <p:sp>
        <p:nvSpPr>
          <p:cNvPr id="4" name="Shape 2"/>
          <p:cNvSpPr/>
          <p:nvPr/>
        </p:nvSpPr>
        <p:spPr>
          <a:xfrm>
            <a:off x="609600" y="1584960"/>
            <a:ext cx="10607040" cy="1828800"/>
          </a:xfrm>
          <a:prstGeom prst="roundRect">
            <a:avLst>
              <a:gd name="adj" fmla="val 8000"/>
            </a:avLst>
          </a:prstGeom>
          <a:solidFill>
            <a:srgbClr val="FDEEEE"/>
          </a:solidFill>
          <a:ln w="19050">
            <a:solidFill>
              <a:srgbClr val="E8636B"/>
            </a:solidFill>
            <a:prstDash val="solid"/>
          </a:ln>
        </p:spPr>
      </p:sp>
      <p:sp>
        <p:nvSpPr>
          <p:cNvPr id="5" name="Text 3"/>
          <p:cNvSpPr/>
          <p:nvPr/>
        </p:nvSpPr>
        <p:spPr>
          <a:xfrm>
            <a:off x="914400" y="1828800"/>
            <a:ext cx="9997440" cy="134112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A student wrote: "My exhibit plan is: I will use a map. The end."</a:t>
            </a:r>
            <a:endParaRPr lang="en-US" sz="1400" dirty="0"/>
          </a:p>
        </p:txBody>
      </p:sp>
      <p:sp>
        <p:nvSpPr>
          <p:cNvPr id="6" name="Shape 4"/>
          <p:cNvSpPr/>
          <p:nvPr/>
        </p:nvSpPr>
        <p:spPr>
          <a:xfrm>
            <a:off x="609600" y="3657600"/>
            <a:ext cx="10607040" cy="2682240"/>
          </a:xfrm>
          <a:prstGeom prst="roundRect">
            <a:avLst>
              <a:gd name="adj" fmla="val 6818"/>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7795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4120896"/>
            <a:ext cx="10119360" cy="20970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many of the four required parts did this student actually name?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this plan missing -- source, community, or virtue?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rewrite this into a real 3-4 sentence exhibit plan?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THE TRICKY ONE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If Two Rooms Both Feel Best?</a:t>
            </a:r>
            <a:endParaRPr lang="en-US" sz="2700" dirty="0"/>
          </a:p>
        </p:txBody>
      </p:sp>
      <p:sp>
        <p:nvSpPr>
          <p:cNvPr id="4" name="Text 2"/>
          <p:cNvSpPr/>
          <p:nvPr/>
        </p:nvSpPr>
        <p:spPr>
          <a:xfrm>
            <a:off x="609600" y="1584960"/>
            <a:ext cx="10607040" cy="1584960"/>
          </a:xfrm>
          <a:prstGeom prst="rect">
            <a:avLst/>
          </a:prstGeom>
          <a:noFill/>
          <a:ln/>
        </p:spPr>
        <p:txBody>
          <a:bodyPr wrap="square" lIns="0" tIns="0" rIns="0" bIns="0" rtlCol="0" anchor="t"/>
          <a:lstStyle/>
          <a:p>
            <a:pPr indent="0" marL="0">
              <a:buNone/>
            </a:pPr>
            <a:r>
              <a:rPr lang="en-US" sz="1350" dirty="0">
                <a:solidFill>
                  <a:srgbClr val="0E1C42"/>
                </a:solidFill>
                <a:latin typeface="Calibri" pitchFamily="34" charset="0"/>
                <a:ea typeface="Calibri" pitchFamily="34" charset="-122"/>
                <a:cs typeface="Calibri" pitchFamily="34" charset="-120"/>
              </a:rPr>
              <a:t>Suppose a student loved both the Great Map Room and Marketplace Hall equally, and can't decide which one taught them the most. Is it okay to pick both? Is it okay to pick neither and choose something else entirely?</a:t>
            </a:r>
            <a:endParaRPr lang="en-US" sz="1350" dirty="0"/>
          </a:p>
        </p:txBody>
      </p:sp>
      <p:sp>
        <p:nvSpPr>
          <p:cNvPr id="5" name="Shape 3"/>
          <p:cNvSpPr/>
          <p:nvPr/>
        </p:nvSpPr>
        <p:spPr>
          <a:xfrm>
            <a:off x="609600" y="3352800"/>
            <a:ext cx="10607040" cy="2987040"/>
          </a:xfrm>
          <a:prstGeom prst="roundRect">
            <a:avLst>
              <a:gd name="adj" fmla="val 6122"/>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853440" y="34747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853440" y="3816096"/>
            <a:ext cx="10119360" cy="24018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the assignment require picking only one room, or could you explain why two rooms connect?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an honest answer better than a 'safe' answer here?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from today would you use to defend whichever room you pick?</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QUICK SELF-CHECK · NOT GRADED</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Check Your Understanding</a:t>
            </a:r>
            <a:endParaRPr lang="en-US" sz="2700" dirty="0"/>
          </a:p>
        </p:txBody>
      </p:sp>
      <p:sp>
        <p:nvSpPr>
          <p:cNvPr id="4" name="Shape 2"/>
          <p:cNvSpPr/>
          <p:nvPr/>
        </p:nvSpPr>
        <p:spPr>
          <a:xfrm>
            <a:off x="609600" y="1584960"/>
            <a:ext cx="10607040" cy="1560576"/>
          </a:xfrm>
          <a:prstGeom prst="roundRect">
            <a:avLst>
              <a:gd name="adj" fmla="val 7813"/>
            </a:avLst>
          </a:prstGeom>
          <a:solidFill>
            <a:srgbClr val="E3F8ED"/>
          </a:solidFill>
          <a:ln/>
        </p:spPr>
      </p:sp>
      <p:sp>
        <p:nvSpPr>
          <p:cNvPr id="5" name="Text 3"/>
          <p:cNvSpPr/>
          <p:nvPr/>
        </p:nvSpPr>
        <p:spPr>
          <a:xfrm>
            <a:off x="853440" y="1682496"/>
            <a:ext cx="10119360" cy="48768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1. Which is a job of a good curator?</a:t>
            </a:r>
            <a:endParaRPr lang="en-US" sz="1250" dirty="0"/>
          </a:p>
        </p:txBody>
      </p:sp>
      <p:sp>
        <p:nvSpPr>
          <p:cNvPr id="6" name="Text 4"/>
          <p:cNvSpPr/>
          <p:nvPr/>
        </p:nvSpPr>
        <p:spPr>
          <a:xfrm>
            <a:off x="853440" y="2194560"/>
            <a:ext cx="10119360" cy="42672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B) Choose the evidence that helps visitors understand.</a:t>
            </a:r>
            <a:endParaRPr lang="en-US" sz="1200" dirty="0"/>
          </a:p>
        </p:txBody>
      </p:sp>
      <p:sp>
        <p:nvSpPr>
          <p:cNvPr id="7" name="Text 5"/>
          <p:cNvSpPr/>
          <p:nvPr/>
        </p:nvSpPr>
        <p:spPr>
          <a:xfrm>
            <a:off x="853440" y="2645664"/>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 good curator chooses. They put the evidence first, so visitors can learn.</a:t>
            </a:r>
            <a:endParaRPr lang="en-US" sz="1100" dirty="0"/>
          </a:p>
        </p:txBody>
      </p:sp>
      <p:sp>
        <p:nvSpPr>
          <p:cNvPr id="8" name="Shape 6"/>
          <p:cNvSpPr/>
          <p:nvPr/>
        </p:nvSpPr>
        <p:spPr>
          <a:xfrm>
            <a:off x="609600" y="3267456"/>
            <a:ext cx="10607040" cy="1560576"/>
          </a:xfrm>
          <a:prstGeom prst="roundRect">
            <a:avLst>
              <a:gd name="adj" fmla="val 7813"/>
            </a:avLst>
          </a:prstGeom>
          <a:solidFill>
            <a:srgbClr val="E3F8ED"/>
          </a:solidFill>
          <a:ln/>
        </p:spPr>
      </p:sp>
      <p:sp>
        <p:nvSpPr>
          <p:cNvPr id="9" name="Text 7"/>
          <p:cNvSpPr/>
          <p:nvPr/>
        </p:nvSpPr>
        <p:spPr>
          <a:xfrm>
            <a:off x="853440" y="3364992"/>
            <a:ext cx="10119360" cy="48768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2. Which big idea did you study in Marketplace Hall?</a:t>
            </a:r>
            <a:endParaRPr lang="en-US" sz="1250" dirty="0"/>
          </a:p>
        </p:txBody>
      </p:sp>
      <p:sp>
        <p:nvSpPr>
          <p:cNvPr id="10" name="Text 8"/>
          <p:cNvSpPr/>
          <p:nvPr/>
        </p:nvSpPr>
        <p:spPr>
          <a:xfrm>
            <a:off x="853440" y="3877056"/>
            <a:ext cx="10119360" cy="42672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C) How people trade and make choices about scarce resources.</a:t>
            </a:r>
            <a:endParaRPr lang="en-US" sz="1200" dirty="0"/>
          </a:p>
        </p:txBody>
      </p:sp>
      <p:sp>
        <p:nvSpPr>
          <p:cNvPr id="11" name="Text 9"/>
          <p:cNvSpPr/>
          <p:nvPr/>
        </p:nvSpPr>
        <p:spPr>
          <a:xfrm>
            <a:off x="853440" y="4328160"/>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Marketplace Hall was about trade, money, scarcity, and the choices people make.</a:t>
            </a:r>
            <a:endParaRPr lang="en-US" sz="1100" dirty="0"/>
          </a:p>
        </p:txBody>
      </p:sp>
      <p:sp>
        <p:nvSpPr>
          <p:cNvPr id="12" name="Shape 10"/>
          <p:cNvSpPr/>
          <p:nvPr/>
        </p:nvSpPr>
        <p:spPr>
          <a:xfrm>
            <a:off x="609600" y="4949952"/>
            <a:ext cx="10607040" cy="1560576"/>
          </a:xfrm>
          <a:prstGeom prst="roundRect">
            <a:avLst>
              <a:gd name="adj" fmla="val 7813"/>
            </a:avLst>
          </a:prstGeom>
          <a:solidFill>
            <a:srgbClr val="E3F8ED"/>
          </a:solidFill>
          <a:ln/>
        </p:spPr>
      </p:sp>
      <p:sp>
        <p:nvSpPr>
          <p:cNvPr id="13" name="Text 11"/>
          <p:cNvSpPr/>
          <p:nvPr/>
        </p:nvSpPr>
        <p:spPr>
          <a:xfrm>
            <a:off x="853440" y="5047488"/>
            <a:ext cx="10119360" cy="48768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3. What does "service" mean for a curator?</a:t>
            </a:r>
            <a:endParaRPr lang="en-US" sz="1250" dirty="0"/>
          </a:p>
        </p:txBody>
      </p:sp>
      <p:sp>
        <p:nvSpPr>
          <p:cNvPr id="14" name="Text 12"/>
          <p:cNvSpPr/>
          <p:nvPr/>
        </p:nvSpPr>
        <p:spPr>
          <a:xfrm>
            <a:off x="853440" y="5559552"/>
            <a:ext cx="10119360" cy="42672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A) Doing useful work for visitors you may never meet.</a:t>
            </a:r>
            <a:endParaRPr lang="en-US" sz="1200" dirty="0"/>
          </a:p>
        </p:txBody>
      </p:sp>
      <p:sp>
        <p:nvSpPr>
          <p:cNvPr id="15" name="Text 13"/>
          <p:cNvSpPr/>
          <p:nvPr/>
        </p:nvSpPr>
        <p:spPr>
          <a:xfrm>
            <a:off x="853440" y="6010656"/>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Service means doing real work that helps others -- even people you'll never see.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WHAT YOU'LL TURN IN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Evidence Questions</a:t>
            </a:r>
            <a:endParaRPr lang="en-US" sz="2700" dirty="0"/>
          </a:p>
        </p:txBody>
      </p:sp>
      <p:sp>
        <p:nvSpPr>
          <p:cNvPr id="4" name="Text 2"/>
          <p:cNvSpPr/>
          <p:nvPr/>
        </p:nvSpPr>
        <p:spPr>
          <a:xfrm>
            <a:off x="609600" y="1584960"/>
            <a:ext cx="10607040" cy="3657600"/>
          </a:xfrm>
          <a:prstGeom prst="rect">
            <a:avLst/>
          </a:prstGeom>
          <a:noFill/>
          <a:ln/>
        </p:spPr>
        <p:txBody>
          <a:bodyPr wrap="square" lIns="0" tIns="0" rIns="0" bIns="0" rtlCol="0" anchor="t"/>
          <a:lstStyle/>
          <a:p>
            <a:pPr indent="0" marL="0">
              <a:spcAft>
                <a:spcPts val="1400"/>
              </a:spcAft>
              <a:buNone/>
            </a:pPr>
            <a:r>
              <a:rPr lang="en-US" sz="1350" dirty="0">
                <a:solidFill>
                  <a:srgbClr val="0E1C42"/>
                </a:solidFill>
                <a:latin typeface="Calibri" pitchFamily="34" charset="0"/>
                <a:ea typeface="Calibri" pitchFamily="34" charset="-122"/>
                <a:cs typeface="Calibri" pitchFamily="34" charset="-120"/>
              </a:rPr>
              <a:t>1. Looking back at every room you visited, which one taught you the most? Name the room and tell why.</a:t>
            </a:r>
            <a:endParaRPr lang="en-US" sz="1350" dirty="0"/>
          </a:p>
          <a:p>
            <a:pPr indent="0" marL="0">
              <a:spcAft>
                <a:spcPts val="1400"/>
              </a:spcAft>
              <a:buNone/>
            </a:pPr>
            <a:r>
              <a:rPr lang="en-US" sz="1350" dirty="0">
                <a:solidFill>
                  <a:srgbClr val="0E1C42"/>
                </a:solidFill>
                <a:latin typeface="Calibri" pitchFamily="34" charset="0"/>
                <a:ea typeface="Calibri" pitchFamily="34" charset="-122"/>
                <a:cs typeface="Calibri" pitchFamily="34" charset="-120"/>
              </a:rPr>
              <a:t>2. What's one curator skill from the Curator Training Hall that still helps you today?</a:t>
            </a:r>
            <a:endParaRPr lang="en-US" sz="1350" dirty="0"/>
          </a:p>
          <a:p>
            <a:pPr indent="0" marL="0">
              <a:spcAft>
                <a:spcPts val="1400"/>
              </a:spcAft>
              <a:buNone/>
            </a:pPr>
            <a:r>
              <a:rPr lang="en-US" sz="1350" dirty="0">
                <a:solidFill>
                  <a:srgbClr val="0E1C42"/>
                </a:solidFill>
                <a:latin typeface="Calibri" pitchFamily="34" charset="0"/>
                <a:ea typeface="Calibri" pitchFamily="34" charset="-122"/>
                <a:cs typeface="Calibri" pitchFamily="34" charset="-120"/>
              </a:rPr>
              <a:t>3. In your own words, what is a "young geographer-citizen"?</a:t>
            </a:r>
            <a:endParaRPr lang="en-US" sz="1350" dirty="0"/>
          </a:p>
        </p:txBody>
      </p:sp>
      <p:sp>
        <p:nvSpPr>
          <p:cNvPr id="5" name="Text 3"/>
          <p:cNvSpPr/>
          <p:nvPr/>
        </p:nvSpPr>
        <p:spPr>
          <a:xfrm>
            <a:off x="609600" y="5486400"/>
            <a:ext cx="1060704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Answer using what you remember from this year.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CURATOR TASK</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Plan Your Final Exhibit</a:t>
            </a:r>
            <a:endParaRPr lang="en-US" sz="2700" dirty="0"/>
          </a:p>
        </p:txBody>
      </p:sp>
      <p:sp>
        <p:nvSpPr>
          <p:cNvPr id="4" name="Shape 2"/>
          <p:cNvSpPr/>
          <p:nvPr/>
        </p:nvSpPr>
        <p:spPr>
          <a:xfrm>
            <a:off x="609600" y="1524000"/>
            <a:ext cx="10607040" cy="1889760"/>
          </a:xfrm>
          <a:prstGeom prst="roundRect">
            <a:avLst>
              <a:gd name="adj" fmla="val 7742"/>
            </a:avLst>
          </a:prstGeom>
          <a:solidFill>
            <a:srgbClr val="FFF3DC"/>
          </a:solidFill>
          <a:ln/>
        </p:spPr>
      </p:sp>
      <p:sp>
        <p:nvSpPr>
          <p:cNvPr id="5" name="Text 3"/>
          <p:cNvSpPr/>
          <p:nvPr/>
        </p:nvSpPr>
        <p:spPr>
          <a:xfrm>
            <a:off x="853440" y="1645920"/>
            <a:ext cx="10119360" cy="1645920"/>
          </a:xfrm>
          <a:prstGeom prst="rect">
            <a:avLst/>
          </a:prstGeom>
          <a:noFill/>
          <a:ln/>
        </p:spPr>
        <p:txBody>
          <a:bodyPr wrap="square" lIns="0" tIns="0" rIns="0" bIns="0" rtlCol="0" anchor="t"/>
          <a:lstStyle/>
          <a:p>
            <a:pPr indent="0" marL="0">
              <a:buNone/>
            </a:pPr>
            <a:r>
              <a:rPr lang="en-US" sz="1150" dirty="0">
                <a:solidFill>
                  <a:srgbClr val="0E1C42"/>
                </a:solidFill>
                <a:latin typeface="Calibri" pitchFamily="34" charset="0"/>
                <a:ea typeface="Calibri" pitchFamily="34" charset="-122"/>
                <a:cs typeface="Calibri" pitchFamily="34" charset="-120"/>
              </a:rPr>
              <a:t>Curator Task -- Exhibit Plan: The director wants your plan today, before you build tomorrow. Write 3-4 sentences. Name (1) a map you'll use, (2) a source or image, (3) a community or region your exhibit will be about, and (4) a virtue your exhibit will show.</a:t>
            </a:r>
            <a:endParaRPr lang="en-US" sz="1150" dirty="0"/>
          </a:p>
        </p:txBody>
      </p:sp>
      <p:sp>
        <p:nvSpPr>
          <p:cNvPr id="6" name="Shape 4"/>
          <p:cNvSpPr/>
          <p:nvPr/>
        </p:nvSpPr>
        <p:spPr>
          <a:xfrm>
            <a:off x="609600" y="3596640"/>
            <a:ext cx="5120640" cy="2072640"/>
          </a:xfrm>
          <a:prstGeom prst="roundRect">
            <a:avLst>
              <a:gd name="adj" fmla="val 7059"/>
            </a:avLst>
          </a:prstGeom>
          <a:solidFill>
            <a:srgbClr val="F0F2F8"/>
          </a:solidFill>
          <a:ln w="19050">
            <a:solidFill>
              <a:srgbClr val="D4943A"/>
            </a:solidFill>
            <a:prstDash val="dash"/>
          </a:ln>
        </p:spPr>
      </p:sp>
      <p:sp>
        <p:nvSpPr>
          <p:cNvPr id="7" name="Text 5"/>
          <p:cNvSpPr/>
          <p:nvPr/>
        </p:nvSpPr>
        <p:spPr>
          <a:xfrm>
            <a:off x="853440" y="3779520"/>
            <a:ext cx="4632960" cy="1706880"/>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Curator's Chronicle: "In this exhibit, I learned that ______ because ______."</a:t>
            </a:r>
            <a:endParaRPr lang="en-US" sz="1200" dirty="0"/>
          </a:p>
        </p:txBody>
      </p:sp>
      <p:sp>
        <p:nvSpPr>
          <p:cNvPr id="8" name="Text 6"/>
          <p:cNvSpPr/>
          <p:nvPr/>
        </p:nvSpPr>
        <p:spPr>
          <a:xfrm>
            <a:off x="5974080" y="3596640"/>
            <a:ext cx="5242560" cy="2133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answered all three evidence questions.</a:t>
            </a:r>
            <a:endParaRPr lang="en-US" sz="1050" dirty="0"/>
          </a:p>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wrote my Exhibit Plan with all four parts (map, source, community, virtue).</a:t>
            </a:r>
            <a:endParaRPr lang="en-US" sz="1050" dirty="0"/>
          </a:p>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wrote my Curator's Chronicle.</a:t>
            </a:r>
            <a:endParaRPr lang="en-US" sz="1050" dirty="0"/>
          </a:p>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copied or downloaded my work and submitted to Canvas.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731520"/>
            <a:ext cx="9753600" cy="36576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CLOSING · WRAP-UP</a:t>
            </a:r>
            <a:endParaRPr lang="en-US" sz="1200" dirty="0"/>
          </a:p>
        </p:txBody>
      </p:sp>
      <p:sp>
        <p:nvSpPr>
          <p:cNvPr id="6" name="Text 3"/>
          <p:cNvSpPr/>
          <p:nvPr/>
        </p:nvSpPr>
        <p:spPr>
          <a:xfrm>
            <a:off x="731520" y="1158240"/>
            <a:ext cx="10241280" cy="853440"/>
          </a:xfrm>
          <a:prstGeom prst="rect">
            <a:avLst/>
          </a:prstGeom>
          <a:noFill/>
          <a:ln/>
        </p:spPr>
        <p:txBody>
          <a:bodyPr wrap="square" lIns="0" tIns="0" rIns="0" bIns="0" rtlCol="0" anchor="ctr"/>
          <a:lstStyle/>
          <a:p>
            <a:pPr algn="ctr" indent="0" marL="0">
              <a:buNone/>
            </a:pPr>
            <a:r>
              <a:rPr lang="en-US" sz="2500" b="1" dirty="0">
                <a:solidFill>
                  <a:srgbClr val="D4943A"/>
                </a:solidFill>
                <a:latin typeface="Cambria" pitchFamily="34" charset="0"/>
                <a:ea typeface="Cambria" pitchFamily="34" charset="-122"/>
                <a:cs typeface="Cambria" pitchFamily="34" charset="-120"/>
              </a:rPr>
              <a:t>Your Plan Is on the Director's Desk</a:t>
            </a:r>
            <a:endParaRPr lang="en-US" sz="2500" dirty="0"/>
          </a:p>
        </p:txBody>
      </p:sp>
      <p:sp>
        <p:nvSpPr>
          <p:cNvPr id="7" name="Text 4"/>
          <p:cNvSpPr/>
          <p:nvPr/>
        </p:nvSpPr>
        <p:spPr>
          <a:xfrm>
            <a:off x="1219200" y="2133600"/>
            <a:ext cx="9387840" cy="121920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Look what you did today -- you walked back through ten rooms of the museum and chose what mattered. That's curator work.</a:t>
            </a:r>
            <a:endParaRPr lang="en-US" sz="1400" dirty="0"/>
          </a:p>
        </p:txBody>
      </p:sp>
      <p:sp>
        <p:nvSpPr>
          <p:cNvPr id="8" name="Shape 5"/>
          <p:cNvSpPr/>
          <p:nvPr/>
        </p:nvSpPr>
        <p:spPr>
          <a:xfrm>
            <a:off x="1463040" y="3474720"/>
            <a:ext cx="8900160" cy="2316480"/>
          </a:xfrm>
          <a:prstGeom prst="roundRect">
            <a:avLst>
              <a:gd name="adj" fmla="val 6316"/>
            </a:avLst>
          </a:prstGeom>
          <a:solidFill>
            <a:srgbClr val="0E1C42"/>
          </a:solidFill>
          <a:ln w="19050">
            <a:solidFill>
              <a:srgbClr val="1A8A7D"/>
            </a:solidFill>
            <a:prstDash val="solid"/>
          </a:ln>
        </p:spPr>
      </p:sp>
      <p:sp>
        <p:nvSpPr>
          <p:cNvPr id="9" name="Text 6"/>
          <p:cNvSpPr/>
          <p:nvPr/>
        </p:nvSpPr>
        <p:spPr>
          <a:xfrm>
            <a:off x="1706880" y="3657600"/>
            <a:ext cx="8412480" cy="365760"/>
          </a:xfrm>
          <a:prstGeom prst="rect">
            <a:avLst/>
          </a:prstGeom>
          <a:noFill/>
          <a:ln/>
        </p:spPr>
        <p:txBody>
          <a:bodyPr wrap="square" lIns="0" tIns="0" rIns="0" bIns="0" rtlCol="0" anchor="ctr"/>
          <a:lstStyle/>
          <a:p>
            <a:pPr algn="ctr" indent="0" marL="0">
              <a:buNone/>
            </a:pPr>
            <a:r>
              <a:rPr lang="en-US" sz="1100" b="1" spc="120" kern="0" dirty="0">
                <a:solidFill>
                  <a:srgbClr val="1A8A7D"/>
                </a:solidFill>
                <a:latin typeface="Calibri" pitchFamily="34" charset="0"/>
                <a:ea typeface="Calibri" pitchFamily="34" charset="-122"/>
                <a:cs typeface="Calibri" pitchFamily="34" charset="-120"/>
              </a:rPr>
              <a:t>COMING NEXT: YOU BUILD</a:t>
            </a:r>
            <a:endParaRPr lang="en-US" sz="1100" dirty="0"/>
          </a:p>
        </p:txBody>
      </p:sp>
      <p:sp>
        <p:nvSpPr>
          <p:cNvPr id="10" name="Text 7"/>
          <p:cNvSpPr/>
          <p:nvPr/>
        </p:nvSpPr>
        <p:spPr>
          <a:xfrm>
            <a:off x="1706880" y="4084320"/>
            <a:ext cx="8412480" cy="1584960"/>
          </a:xfrm>
          <a:prstGeom prst="rect">
            <a:avLst/>
          </a:prstGeom>
          <a:noFill/>
          <a:ln/>
        </p:spPr>
        <p:txBody>
          <a:bodyPr wrap="square" lIns="0" tIns="0" rIns="0" bIns="0" rtlCol="0" anchor="t"/>
          <a:lstStyle/>
          <a:p>
            <a:pPr algn="ctr" indent="0" marL="0">
              <a:buNone/>
            </a:pPr>
            <a:r>
              <a:rPr lang="en-US" sz="1250" i="1" dirty="0">
                <a:solidFill>
                  <a:srgbClr val="EAF8FD"/>
                </a:solidFill>
                <a:latin typeface="Calibri" pitchFamily="34" charset="0"/>
                <a:ea typeface="Calibri" pitchFamily="34" charset="-122"/>
                <a:cs typeface="Calibri" pitchFamily="34" charset="-120"/>
              </a:rPr>
              <a:t>The director said something strange before she left: "This exhibit isn't really about what we know. It's about who we've become." Tomorrow, you build your Community-in-the-World Exhibit on your blank panel -- the one with your name on it. The visitors arrive at the end of the week.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2026-07-11T19:28:48Z</dcterms:created>
  <dcterms:modified xsi:type="dcterms:W3CDTF">2026-07-11T19:28:48Z</dcterms:modified>
</cp:coreProperties>
</file>