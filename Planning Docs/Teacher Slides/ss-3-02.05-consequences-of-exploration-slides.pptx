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Wide museum hall with exploration artifacts — ship models, maps under glass, dim dramatic lighting.
TEACHER SCRIPT: Welcome back, Route Curators! You've spent two weeks building the Exploration Wing. Today the museum director walks you to a panel nobody has touched yet. Its title reads: 'After the Voyage.' It's empty. Your job today: fill in the part of the story most people skip.
[Under 2 minutes. Thoughtful, not heavy. Read the Curator's Question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Ornate empty gold-framed exhibit panel on a museum wall — blank inside, waiting to be filled.
TEACHER SCRIPT: (Point to the empty panel.) This is the section nobody wrote. Every visitor walks through and sees brave sailors and exciting discoveries... then reaches this — blank. Today you're the Route Curator who fills it in. Are you ready to tell the part of the story that's hardest to write?
[Pause. Build anticipation. Let the silence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SCRIPT: Before we dive into evidence, let's pause on something. It takes one kind of courage to sail into the unknown. The explorers had that. But it takes a DIFFERENT kind of courage to look at something uncomfortable and say: we need to tell the truth about this.
(Point to Kind 2) That is the courage we need today. As Route Curators, you are being asked to tell the full story — not just the exciting parts.
[Chat: Invite 2-3 students to share.]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Two side-by-side food plates. Left: Italian food (pasta, tomatoes, pizza). Right: Colonial American food (wheat bread, beef, apples). No labels.
TEACHER SCRIPT: (Put it up. Say NOTHING for 5 seconds. Let them look.) Now share in chat — what do you notice about these two plates?
[Read several chat responses aloud. Do NOT explain anything yet. Build curiosity.]
'Interesting. Several of you noticed ___. Hold onto that thought.'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SCRIPT: Here is our clue. Before Columbus's voyages: no tomatoes in Europe, no horses in the Americas. After exploration — things moved. Back and forth across the Atlantic.
(Point to boxes.) If you have never tasted a tomato and suddenly there are tomatoes everywhere — how does that change daily life? What about horses?
[Chat. Then Socratic: 'Could these changes ever cause problems? Who decides if this is a good thing?']
Don't reveal the name yet. Let students work toward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World map with arrows crossing the Atlantic — labeled plants/animals moving in each direction. Warm illustrated style.
TEACHER SCRIPT: Historians have a name for what you just discovered. (Reveal title.) The Columbian Exchange. The movement of plants, animals, and foods across the ocean — in BOTH directions — after exploration.
(Quick retrieval.) Everyone say it with me: 'The Columbian Exchange was...' (pause for completion.)
'Now here is the big question we will come back to: Were ALL these changes good?'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SCRIPT: Here is the amazing part — this exchange did not stop hundreds of years ago. It lives in every meal you eat.
(Left) Italian food is famous for tomatoes. But tomatoes did not exist in Europe until after Columbus. They came from the Americas.
(Right) American farms have cows and horses everywhere. But those animals were brought over from Europe — they were not originally here.
[Chat: Think about your lunch or dinner last night. Can you find one thing that may have traveled during the Columbian Exchange?]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Left — vibrant Native American village (people active, community thriving). Right — quieter, emptier version. Educational illustration. No labels.
TEACHER SCRIPT: (5 seconds of silence.) Look at these two scenes. What do you notice about the difference between Scene A and Scene B? Type in chat.
[Read responses. Build toward the conversation without revealing yet.]
'I am hearing things like ___. Let us find out what happened between Scene A and Scene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Age-appropriate educational illustration showing the three consequences for native peoples — disease (symbolic), land loss, forced labor. Dignified. Not graphic.
TEACHER SCRIPT: (Serious, honest tone — not heavy.) Here is the part the exhibit MUST include.
When explorers arrived, many native peoples were harmed in three serious ways. (Read each box carefully with students. Pause after each one.)
This is not about making explorers into villains. It is about being honest and complete.
[Chat: invite quiet reflection after reading.]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Age of Exploration-era world map with colored route lines connecting four continents. Educational illustration. No route labels visible.
TEACHER SCRIPT: (5 seconds of silence.) Look at this map. What do you notice about the lines? Type in chat: I notice lines connecting...
[Read responses. Build toward the idea of the world being linked.]
'What do you think these lines represent? What might be moving along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Stylized world map with glowing trade route lines connecting all four continents. Small goods icons (spices, silver, fabric) at key points.
TEACHER SCRIPT: The third consequence: the world became connected. Exploration built trade routes that linked Europe, the Americas, Africa, and Asia for the first time in history.
(Point to 'The Cost' box.) Read this carefully. It came at a very high cost.
[Chat: The world became connected, but...]
'Does connecting the world automatically make things better for everyone?'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Elegant museum wall-mounted exhibit placard — gold-framed on a dark museum wall.
TEACHER SCRIPT: Let us put it all together. (Read through each row with students.) Three consequences. Three things that happened after the voyage.
(Ask) Without looking at your notes — can you name all three?
[Cover each row one at a time and have students recall. This is the retrieval moment before the challenge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SCRIPT: Retrieval time! Before we move on, let us see what actually stuck.
(Ask students to cover their screens or look away.) Name all three consequences. Say them aloud.
(After students try.) Let us reveal. (Point to answer boxes.) Did you get all three? Which was trickiest?
[Chat frame.]
This is normal. The more we use these ideas, the better they stick — and we are about to use them in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SCRIPT: This is the most important question of today's lesson — and it is also one of your assignment questions. So we are going to think it through together BEFORE you write.
(Read question aloud.) Why should the exhibit include what happened to native peoples?
(Show scaffold.) Which idea is closest to what YOU think? You might have your own answer that is not on the list.
[Socratic: push students to explain their reasoning, not just choose a letter.]
After discussion: 'Good. When you write your answer, you will have something solid to say — not just because you memorized it, but because you thought it through.'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SCRIPT: Watch me think through Q1 out loud. (Read the think-aloud — do not just gesture at it.) Notice what I did: I named something specific, said which direction it traveled, and explained what changed.
(Point to criteria box.) These three things make a strong answer. The more you include, the stronger the writing.
[Chat: I would write about _____ because...]
'Who would write about something different? Let me hear a few ideas.'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SCRIPT: Let us try Q2 together before you write on your own. Read the question.
(Walk steps with students.) What IS an honest exhibit? (Wait.) Right — it tells the whole truth.
Step 2: What actually happened? Review the three things: disease, land, forced labor.
Step 3: Put those two ideas together. Try in chat: 'The museum director says to include it because...'
[Read 3-4 responses. Highlight strong reasoning. Build confidence before independent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SCRIPT: Here is a real answer. (Read it aloud.) Before you react — what did they get right? (Pause.) Yes, they tried to explain WHY. That is the right instinct.
But look more carefully. 'More interesting and exciting' — is that really why we include the consequences of exploration?
(Socratic: What is the REAL reason?) It is not entertainment. It is honesty. It is respect. It is accuracy.
[Chat: The student missed... | A stronger answer would say...]
This is exactly the error to avoid in your own writing. You know better. Show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SCRIPT: This is the main task. You are the Route Curator. That panel has been empty since the exhibit opened. You are the one who fills it in.
(Read the task.) 3 to 5 sentences. At least two consequences. Be honest.
(Point to checklist.) Use this to make sure your panel is complete. (Point to starters.) If you are not sure how to begin, try one of these.
[Give 8-10 minutes of independent writing. Circulate. For students who are stuck: 'Which consequence is easiest for you to explain? Start there.']
Remember: the full story is what makes this exhibit trustworthy.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SCRIPT: Last writing piece. One sentence — but it is the most important one. (Read the chronicle frame aloud.)
The word 'because' is where your thinking shows up. Do not skip it.
(Share a strong example.) 'In this exhibit, I learned that exploration caused serious harm to native peoples because they lost their land, their health, and their way of life — and an honest exhibit has to include that.'
That is a curator's voice. Not just facts — but WHY it matters.
[Give 3-4 minutes. Read several aloud. Celebrate strong reasoning.]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SCRIPT: Before you submit, run through this checklist. Do you have all four pieces?
(Go through each.) Q1 — one food or animal and what changed. Q2 — why honest exhibits include consequences. Curator Task — three to five sentences, two consequences. Chronicle — one sentence with a 'because.'
[Have students hold up fingers for how many pieces they have completed.]
'Copy or download your work from the lesson page and submit to Canvas. You did something important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Museum wall with a beautifully completed exhibit panel now mounted in the gold frame — 'After the Voyage' panel written and on display.
TEACHER SCRIPT: (Tone: proud, warm.) Look at what you did today. That panel has been empty since the exhibit opened. You filled it in.
(Go through three cards.) You named the Columbian Exchange. You told the truth about what happened to native peoples. You explained how exploration connected the world — and what that cost.
That is not just knowing facts. That is being honest. That is the second kind of courage.
(Point to Coming Next.) Next lesson is the final check — motives, tools, routes, explorers, consequences — all of it. Pass and you earn the Route Reader badge. I will see you there.
[Dismiss students warmly.]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4" name="Shape 2"/>
          <p:cNvSpPr/>
          <p:nvPr/>
        </p:nvSpPr>
        <p:spPr>
          <a:xfrm>
            <a:off x="3017520" y="292608"/>
            <a:ext cx="3108960" cy="292608"/>
          </a:xfrm>
          <a:prstGeom prst="roundRect">
            <a:avLst>
              <a:gd name="adj" fmla="val 31250"/>
            </a:avLst>
          </a:prstGeom>
          <a:solidFill>
            <a:srgbClr val="1A2D5A"/>
          </a:solidFill>
          <a:ln w="12700">
            <a:solidFill>
              <a:srgbClr val="55C8E8"/>
            </a:solidFill>
            <a:prstDash val="solid"/>
          </a:ln>
        </p:spPr>
      </p:sp>
      <p:sp>
        <p:nvSpPr>
          <p:cNvPr id="5" name="Text 3"/>
          <p:cNvSpPr/>
          <p:nvPr/>
        </p:nvSpPr>
        <p:spPr>
          <a:xfrm>
            <a:off x="3017520" y="320040"/>
            <a:ext cx="3108960" cy="201168"/>
          </a:xfrm>
          <a:prstGeom prst="rect">
            <a:avLst/>
          </a:prstGeom>
          <a:noFill/>
          <a:ln/>
        </p:spPr>
        <p:txBody>
          <a:bodyPr wrap="square" lIns="0" tIns="0" rIns="0" bIns="0" rtlCol="0" anchor="ctr"/>
          <a:lstStyle/>
          <a:p>
            <a:pPr algn="ctr" indent="0" marL="0">
              <a:buNone/>
            </a:pPr>
            <a:r>
              <a:rPr lang="en-US" sz="750" b="1" spc="120" kern="0" dirty="0">
                <a:solidFill>
                  <a:srgbClr val="55C8E8"/>
                </a:solidFill>
                <a:latin typeface="Calibri" pitchFamily="34" charset="0"/>
                <a:ea typeface="Calibri" pitchFamily="34" charset="-122"/>
                <a:cs typeface="Calibri" pitchFamily="34" charset="-120"/>
              </a:rPr>
              <a:t>CURATOR TRAINING HALL  ·  LESSON 3.02.05</a:t>
            </a:r>
            <a:endParaRPr lang="en-US" sz="750" dirty="0"/>
          </a:p>
        </p:txBody>
      </p:sp>
      <p:sp>
        <p:nvSpPr>
          <p:cNvPr id="6" name="Text 4"/>
          <p:cNvSpPr/>
          <p:nvPr/>
        </p:nvSpPr>
        <p:spPr>
          <a:xfrm>
            <a:off x="0" y="822960"/>
            <a:ext cx="9144000" cy="256032"/>
          </a:xfrm>
          <a:prstGeom prst="rect">
            <a:avLst/>
          </a:prstGeom>
          <a:noFill/>
          <a:ln/>
        </p:spPr>
        <p:txBody>
          <a:bodyPr wrap="square" lIns="0" tIns="0" rIns="0" bIns="0" rtlCol="0" anchor="ctr"/>
          <a:lstStyle/>
          <a:p>
            <a:pPr algn="ctr" indent="0" marL="0">
              <a:buNone/>
            </a:pPr>
            <a:r>
              <a:rPr lang="en-US" sz="1000" b="1" spc="200" kern="0" dirty="0">
                <a:solidFill>
                  <a:srgbClr val="D4943A"/>
                </a:solidFill>
                <a:latin typeface="Calibri" pitchFamily="34" charset="0"/>
                <a:ea typeface="Calibri" pitchFamily="34" charset="-122"/>
                <a:cs typeface="Calibri" pitchFamily="34" charset="-120"/>
              </a:rPr>
              <a:t>AGE OF EXPLORATION  ·  WEEK 6</a:t>
            </a:r>
            <a:endParaRPr lang="en-US" sz="1000" dirty="0"/>
          </a:p>
        </p:txBody>
      </p:sp>
      <p:sp>
        <p:nvSpPr>
          <p:cNvPr id="7" name="Text 5"/>
          <p:cNvSpPr/>
          <p:nvPr/>
        </p:nvSpPr>
        <p:spPr>
          <a:xfrm>
            <a:off x="914400" y="1280160"/>
            <a:ext cx="7315200" cy="685800"/>
          </a:xfrm>
          <a:prstGeom prst="rect">
            <a:avLst/>
          </a:prstGeom>
          <a:noFill/>
          <a:ln/>
        </p:spPr>
        <p:txBody>
          <a:bodyPr wrap="square" lIns="0" tIns="0" rIns="0" bIns="0" rtlCol="0" anchor="ctr"/>
          <a:lstStyle/>
          <a:p>
            <a:pPr algn="ctr" indent="0" marL="0">
              <a:buNone/>
            </a:pPr>
            <a:r>
              <a:rPr lang="en-US" sz="4400" b="1" dirty="0">
                <a:solidFill>
                  <a:srgbClr val="FFFFFF"/>
                </a:solidFill>
                <a:latin typeface="Cambria" pitchFamily="34" charset="0"/>
                <a:ea typeface="Cambria" pitchFamily="34" charset="-122"/>
                <a:cs typeface="Cambria" pitchFamily="34" charset="-120"/>
              </a:rPr>
              <a:t>Consequences of</a:t>
            </a:r>
            <a:endParaRPr lang="en-US" sz="4400" dirty="0"/>
          </a:p>
        </p:txBody>
      </p:sp>
      <p:sp>
        <p:nvSpPr>
          <p:cNvPr id="8" name="Text 6"/>
          <p:cNvSpPr/>
          <p:nvPr/>
        </p:nvSpPr>
        <p:spPr>
          <a:xfrm>
            <a:off x="914400" y="1920240"/>
            <a:ext cx="7315200" cy="685800"/>
          </a:xfrm>
          <a:prstGeom prst="rect">
            <a:avLst/>
          </a:prstGeom>
          <a:noFill/>
          <a:ln/>
        </p:spPr>
        <p:txBody>
          <a:bodyPr wrap="square" lIns="0" tIns="0" rIns="0" bIns="0" rtlCol="0" anchor="ctr"/>
          <a:lstStyle/>
          <a:p>
            <a:pPr algn="ctr" indent="0" marL="0">
              <a:buNone/>
            </a:pPr>
            <a:r>
              <a:rPr lang="en-US" sz="4400" b="1" dirty="0">
                <a:solidFill>
                  <a:srgbClr val="D4943A"/>
                </a:solidFill>
                <a:latin typeface="Cambria" pitchFamily="34" charset="0"/>
                <a:ea typeface="Cambria" pitchFamily="34" charset="-122"/>
                <a:cs typeface="Cambria" pitchFamily="34" charset="-120"/>
              </a:rPr>
              <a:t>Exploration</a:t>
            </a:r>
            <a:endParaRPr lang="en-US" sz="4400" dirty="0"/>
          </a:p>
        </p:txBody>
      </p:sp>
      <p:sp>
        <p:nvSpPr>
          <p:cNvPr id="9" name="Shape 7"/>
          <p:cNvSpPr/>
          <p:nvPr/>
        </p:nvSpPr>
        <p:spPr>
          <a:xfrm>
            <a:off x="2103120" y="2743200"/>
            <a:ext cx="4937760" cy="502920"/>
          </a:xfrm>
          <a:prstGeom prst="roundRect">
            <a:avLst>
              <a:gd name="adj" fmla="val 21818"/>
            </a:avLst>
          </a:prstGeom>
          <a:solidFill>
            <a:srgbClr val="1A2D5A"/>
          </a:solidFill>
          <a:ln w="12700">
            <a:solidFill>
              <a:srgbClr val="3A5080"/>
            </a:solidFill>
            <a:prstDash val="solid"/>
          </a:ln>
        </p:spPr>
      </p:sp>
      <p:sp>
        <p:nvSpPr>
          <p:cNvPr id="10" name="Text 8"/>
          <p:cNvSpPr/>
          <p:nvPr/>
        </p:nvSpPr>
        <p:spPr>
          <a:xfrm>
            <a:off x="2286000" y="2788920"/>
            <a:ext cx="4572000" cy="411480"/>
          </a:xfrm>
          <a:prstGeom prst="rect">
            <a:avLst/>
          </a:prstGeom>
          <a:noFill/>
          <a:ln/>
        </p:spPr>
        <p:txBody>
          <a:bodyPr wrap="square" lIns="0" tIns="0" rIns="0" bIns="0" rtlCol="0" anchor="ctr"/>
          <a:lstStyle/>
          <a:p>
            <a:pPr algn="ctr" indent="0" marL="0">
              <a:buNone/>
            </a:pPr>
            <a:r>
              <a:rPr lang="en-US" sz="1300" i="1" dirty="0">
                <a:solidFill>
                  <a:srgbClr val="F0F2F8"/>
                </a:solidFill>
                <a:latin typeface="Cambria" pitchFamily="34" charset="0"/>
                <a:ea typeface="Cambria" pitchFamily="34" charset="-122"/>
                <a:cs typeface="Cambria" pitchFamily="34" charset="-120"/>
              </a:rPr>
              <a:t>What happened to people and places after explorers arrived?</a:t>
            </a:r>
            <a:endParaRPr lang="en-US" sz="1300" dirty="0"/>
          </a:p>
        </p:txBody>
      </p:sp>
      <p:sp>
        <p:nvSpPr>
          <p:cNvPr id="11" name="Text 9"/>
          <p:cNvSpPr/>
          <p:nvPr/>
        </p:nvSpPr>
        <p:spPr>
          <a:xfrm>
            <a:off x="0" y="3429000"/>
            <a:ext cx="9144000" cy="256032"/>
          </a:xfrm>
          <a:prstGeom prst="rect">
            <a:avLst/>
          </a:prstGeom>
          <a:noFill/>
          <a:ln/>
        </p:spPr>
        <p:txBody>
          <a:bodyPr wrap="square" lIns="0" tIns="0" rIns="0" bIns="0" rtlCol="0" anchor="ctr"/>
          <a:lstStyle/>
          <a:p>
            <a:pPr algn="ctr" indent="0" marL="0">
              <a:buNone/>
            </a:pPr>
            <a:r>
              <a:rPr lang="en-US" sz="1100" dirty="0">
                <a:solidFill>
                  <a:srgbClr val="7A88A8"/>
                </a:solidFill>
                <a:latin typeface="Calibri" pitchFamily="34" charset="0"/>
                <a:ea typeface="Calibri" pitchFamily="34" charset="-122"/>
                <a:cs typeface="Calibri" pitchFamily="34" charset="-120"/>
              </a:rPr>
              <a:t>Your Role: Route Curator</a:t>
            </a:r>
            <a:endParaRPr lang="en-US" sz="1100" dirty="0"/>
          </a:p>
        </p:txBody>
      </p:sp>
      <p:sp>
        <p:nvSpPr>
          <p:cNvPr id="12" name="Text 10"/>
          <p:cNvSpPr/>
          <p:nvPr/>
        </p:nvSpPr>
        <p:spPr>
          <a:xfrm>
            <a:off x="0" y="4754880"/>
            <a:ext cx="9144000" cy="228600"/>
          </a:xfrm>
          <a:prstGeom prst="rect">
            <a:avLst/>
          </a:prstGeom>
          <a:noFill/>
          <a:ln/>
        </p:spPr>
        <p:txBody>
          <a:bodyPr wrap="square" lIns="0" tIns="0" rIns="0" bIns="0" rtlCol="0" anchor="ctr"/>
          <a:lstStyle/>
          <a:p>
            <a:pPr algn="ctr" indent="0" marL="0">
              <a:buNone/>
            </a:pPr>
            <a:r>
              <a:rPr lang="en-US" sz="900" dirty="0">
                <a:solidFill>
                  <a:srgbClr val="7A88A8"/>
                </a:solidFill>
                <a:latin typeface="Calibri" pitchFamily="34" charset="0"/>
                <a:ea typeface="Calibri" pitchFamily="34" charset="-122"/>
                <a:cs typeface="Calibri" pitchFamily="34" charset="-120"/>
              </a:rPr>
              <a:t>Social Studies  ·  Grade 3  ·  Optima Academy Online</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4" name="Text 2"/>
          <p:cNvSpPr/>
          <p:nvPr/>
        </p:nvSpPr>
        <p:spPr>
          <a:xfrm>
            <a:off x="0" y="292608"/>
            <a:ext cx="9144000" cy="256032"/>
          </a:xfrm>
          <a:prstGeom prst="rect">
            <a:avLst/>
          </a:prstGeom>
          <a:noFill/>
          <a:ln/>
        </p:spPr>
        <p:txBody>
          <a:bodyPr wrap="square" lIns="0" tIns="0" rIns="0" bIns="0" rtlCol="0" anchor="ctr"/>
          <a:lstStyle/>
          <a:p>
            <a:pPr algn="ctr" indent="0" marL="0">
              <a:buNone/>
            </a:pPr>
            <a:r>
              <a:rPr lang="en-US" sz="900" b="1" spc="200" kern="0" dirty="0">
                <a:solidFill>
                  <a:srgbClr val="55C8E8"/>
                </a:solidFill>
                <a:latin typeface="Calibri" pitchFamily="34" charset="0"/>
                <a:ea typeface="Calibri" pitchFamily="34" charset="-122"/>
                <a:cs typeface="Calibri" pitchFamily="34" charset="-120"/>
              </a:rPr>
              <a:t>THE PANEL NOBODY FILLED IN</a:t>
            </a:r>
            <a:endParaRPr lang="en-US" sz="900" dirty="0"/>
          </a:p>
        </p:txBody>
      </p:sp>
      <p:sp>
        <p:nvSpPr>
          <p:cNvPr id="5" name="Shape 3"/>
          <p:cNvSpPr/>
          <p:nvPr/>
        </p:nvSpPr>
        <p:spPr>
          <a:xfrm>
            <a:off x="2286000" y="713232"/>
            <a:ext cx="4572000" cy="2926080"/>
          </a:xfrm>
          <a:prstGeom prst="rect">
            <a:avLst/>
          </a:prstGeom>
          <a:solidFill>
            <a:srgbClr val="1A2D5A"/>
          </a:solidFill>
          <a:ln w="31750">
            <a:solidFill>
              <a:srgbClr val="D4943A"/>
            </a:solidFill>
            <a:prstDash val="solid"/>
          </a:ln>
        </p:spPr>
      </p:sp>
      <p:sp>
        <p:nvSpPr>
          <p:cNvPr id="6" name="Text 4"/>
          <p:cNvSpPr/>
          <p:nvPr/>
        </p:nvSpPr>
        <p:spPr>
          <a:xfrm>
            <a:off x="2468880" y="841248"/>
            <a:ext cx="4206240" cy="347472"/>
          </a:xfrm>
          <a:prstGeom prst="rect">
            <a:avLst/>
          </a:prstGeom>
          <a:noFill/>
          <a:ln/>
        </p:spPr>
        <p:txBody>
          <a:bodyPr wrap="square" lIns="0" tIns="0" rIns="0" bIns="0" rtlCol="0" anchor="ctr"/>
          <a:lstStyle/>
          <a:p>
            <a:pPr algn="ctr" indent="0" marL="0">
              <a:buNone/>
            </a:pPr>
            <a:r>
              <a:rPr lang="en-US" sz="1500" b="1" spc="150" kern="0" dirty="0">
                <a:solidFill>
                  <a:srgbClr val="D4943A"/>
                </a:solidFill>
                <a:latin typeface="Cambria" pitchFamily="34" charset="0"/>
                <a:ea typeface="Cambria" pitchFamily="34" charset="-122"/>
                <a:cs typeface="Cambria" pitchFamily="34" charset="-120"/>
              </a:rPr>
              <a:t>AFTER THE VOYAGE</a:t>
            </a:r>
            <a:endParaRPr lang="en-US" sz="1500" dirty="0"/>
          </a:p>
        </p:txBody>
      </p:sp>
      <p:sp>
        <p:nvSpPr>
          <p:cNvPr id="7" name="Text 5"/>
          <p:cNvSpPr/>
          <p:nvPr/>
        </p:nvSpPr>
        <p:spPr>
          <a:xfrm>
            <a:off x="2468880" y="1691640"/>
            <a:ext cx="4206240" cy="411480"/>
          </a:xfrm>
          <a:prstGeom prst="rect">
            <a:avLst/>
          </a:prstGeom>
          <a:noFill/>
          <a:ln/>
        </p:spPr>
        <p:txBody>
          <a:bodyPr wrap="square" lIns="0" tIns="0" rIns="0" bIns="0" rtlCol="0" anchor="ctr"/>
          <a:lstStyle/>
          <a:p>
            <a:pPr algn="ctr" indent="0" marL="0">
              <a:buNone/>
            </a:pPr>
            <a:r>
              <a:rPr lang="en-US" sz="2000" i="1" dirty="0">
                <a:solidFill>
                  <a:srgbClr val="3A5080"/>
                </a:solidFill>
                <a:latin typeface="Cambria" pitchFamily="34" charset="0"/>
                <a:ea typeface="Cambria" pitchFamily="34" charset="-122"/>
                <a:cs typeface="Cambria" pitchFamily="34" charset="-120"/>
              </a:rPr>
              <a:t>( empty )</a:t>
            </a:r>
            <a:endParaRPr lang="en-US" sz="2000" dirty="0"/>
          </a:p>
        </p:txBody>
      </p:sp>
      <p:sp>
        <p:nvSpPr>
          <p:cNvPr id="8" name="Shape 6"/>
          <p:cNvSpPr/>
          <p:nvPr/>
        </p:nvSpPr>
        <p:spPr>
          <a:xfrm>
            <a:off x="2743200" y="1554480"/>
            <a:ext cx="3657600" cy="0"/>
          </a:xfrm>
          <a:prstGeom prst="line">
            <a:avLst/>
          </a:prstGeom>
          <a:noFill/>
          <a:ln w="12700">
            <a:solidFill>
              <a:srgbClr val="3A5080"/>
            </a:solidFill>
            <a:prstDash val="dash"/>
          </a:ln>
        </p:spPr>
      </p:sp>
      <p:sp>
        <p:nvSpPr>
          <p:cNvPr id="9" name="Shape 7"/>
          <p:cNvSpPr/>
          <p:nvPr/>
        </p:nvSpPr>
        <p:spPr>
          <a:xfrm>
            <a:off x="2743200" y="2011680"/>
            <a:ext cx="3657600" cy="0"/>
          </a:xfrm>
          <a:prstGeom prst="line">
            <a:avLst/>
          </a:prstGeom>
          <a:noFill/>
          <a:ln w="12700">
            <a:solidFill>
              <a:srgbClr val="3A5080"/>
            </a:solidFill>
            <a:prstDash val="dash"/>
          </a:ln>
        </p:spPr>
      </p:sp>
      <p:sp>
        <p:nvSpPr>
          <p:cNvPr id="10" name="Shape 8"/>
          <p:cNvSpPr/>
          <p:nvPr/>
        </p:nvSpPr>
        <p:spPr>
          <a:xfrm>
            <a:off x="2743200" y="2468880"/>
            <a:ext cx="3657600" cy="0"/>
          </a:xfrm>
          <a:prstGeom prst="line">
            <a:avLst/>
          </a:prstGeom>
          <a:noFill/>
          <a:ln w="12700">
            <a:solidFill>
              <a:srgbClr val="3A5080"/>
            </a:solidFill>
            <a:prstDash val="dash"/>
          </a:ln>
        </p:spPr>
      </p:sp>
      <p:sp>
        <p:nvSpPr>
          <p:cNvPr id="11" name="Shape 9"/>
          <p:cNvSpPr/>
          <p:nvPr/>
        </p:nvSpPr>
        <p:spPr>
          <a:xfrm>
            <a:off x="2743200" y="2926080"/>
            <a:ext cx="3657600" cy="0"/>
          </a:xfrm>
          <a:prstGeom prst="line">
            <a:avLst/>
          </a:prstGeom>
          <a:noFill/>
          <a:ln w="12700">
            <a:solidFill>
              <a:srgbClr val="3A5080"/>
            </a:solidFill>
            <a:prstDash val="dash"/>
          </a:ln>
        </p:spPr>
      </p:sp>
      <p:sp>
        <p:nvSpPr>
          <p:cNvPr id="12" name="Shape 10"/>
          <p:cNvSpPr/>
          <p:nvPr/>
        </p:nvSpPr>
        <p:spPr>
          <a:xfrm>
            <a:off x="457200" y="3822192"/>
            <a:ext cx="8229600" cy="713232"/>
          </a:xfrm>
          <a:prstGeom prst="roundRect">
            <a:avLst>
              <a:gd name="adj" fmla="val 12821"/>
            </a:avLst>
          </a:prstGeom>
          <a:solidFill>
            <a:srgbClr val="1A2D5A"/>
          </a:solidFill>
          <a:ln w="12700">
            <a:solidFill>
              <a:srgbClr val="55C8E8"/>
            </a:solidFill>
            <a:prstDash val="solid"/>
          </a:ln>
        </p:spPr>
      </p:sp>
      <p:sp>
        <p:nvSpPr>
          <p:cNvPr id="13" name="Text 11"/>
          <p:cNvSpPr/>
          <p:nvPr/>
        </p:nvSpPr>
        <p:spPr>
          <a:xfrm>
            <a:off x="640080" y="3877056"/>
            <a:ext cx="7863840" cy="594360"/>
          </a:xfrm>
          <a:prstGeom prst="rect">
            <a:avLst/>
          </a:prstGeom>
          <a:noFill/>
          <a:ln/>
        </p:spPr>
        <p:txBody>
          <a:bodyPr wrap="square" lIns="0" tIns="0" rIns="0" bIns="0" rtlCol="0" anchor="ctr"/>
          <a:lstStyle/>
          <a:p>
            <a:pPr algn="ctr" indent="0" marL="0">
              <a:buNone/>
            </a:pPr>
            <a:r>
              <a:rPr lang="en-US" sz="1200" i="1" dirty="0">
                <a:solidFill>
                  <a:srgbClr val="F0F2F8"/>
                </a:solidFill>
                <a:latin typeface="Cambria" pitchFamily="34" charset="0"/>
                <a:ea typeface="Cambria" pitchFamily="34" charset="-122"/>
                <a:cs typeface="Cambria" pitchFamily="34" charset="-120"/>
              </a:rPr>
              <a:t>"An honest exhibit doesn't stop when the ships come home. What happened next? Route Curators need to tell that part of the story, too."</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E1C42"/>
          </a:solidFill>
          <a:ln w="12700">
            <a:solidFill>
              <a:srgbClr val="0E1C42"/>
            </a:solidFill>
            <a:prstDash val="solid"/>
          </a:ln>
        </p:spPr>
      </p:sp>
      <p:sp>
        <p:nvSpPr>
          <p:cNvPr id="3" name="Text 1"/>
          <p:cNvSpPr/>
          <p:nvPr/>
        </p:nvSpPr>
        <p:spPr>
          <a:xfrm>
            <a:off x="274320" y="109728"/>
            <a:ext cx="3657600" cy="274320"/>
          </a:xfrm>
          <a:prstGeom prst="rect">
            <a:avLst/>
          </a:prstGeom>
          <a:noFill/>
          <a:ln/>
        </p:spPr>
        <p:txBody>
          <a:bodyPr wrap="square" lIns="0" tIns="0" rIns="0" bIns="0" rtlCol="0" anchor="ctr"/>
          <a:lstStyle/>
          <a:p>
            <a:pPr indent="0" marL="0">
              <a:buNone/>
            </a:pPr>
            <a:r>
              <a:rPr lang="en-US" sz="900" b="1" spc="200" kern="0" dirty="0">
                <a:solidFill>
                  <a:srgbClr val="55C8E8"/>
                </a:solidFill>
                <a:latin typeface="Calibri" pitchFamily="34" charset="0"/>
                <a:ea typeface="Calibri" pitchFamily="34" charset="-122"/>
                <a:cs typeface="Calibri" pitchFamily="34" charset="-120"/>
              </a:rPr>
              <a:t>VIRTUE SPOTLIGHT</a:t>
            </a:r>
            <a:endParaRPr lang="en-US" sz="900" dirty="0"/>
          </a:p>
        </p:txBody>
      </p:sp>
      <p:sp>
        <p:nvSpPr>
          <p:cNvPr id="4" name="Text 2"/>
          <p:cNvSpPr/>
          <p:nvPr/>
        </p:nvSpPr>
        <p:spPr>
          <a:xfrm>
            <a:off x="0" y="109728"/>
            <a:ext cx="8778240" cy="274320"/>
          </a:xfrm>
          <a:prstGeom prst="rect">
            <a:avLst/>
          </a:prstGeom>
          <a:noFill/>
          <a:ln/>
        </p:spPr>
        <p:txBody>
          <a:bodyPr wrap="square" lIns="0" tIns="0" rIns="0" bIns="0" rtlCol="0" anchor="ctr"/>
          <a:lstStyle/>
          <a:p>
            <a:pPr algn="r" indent="0" marL="0">
              <a:buNone/>
            </a:pPr>
            <a:r>
              <a:rPr lang="en-US" sz="900" b="1" spc="150" kern="0" dirty="0">
                <a:solidFill>
                  <a:srgbClr val="D4943A"/>
                </a:solidFill>
                <a:latin typeface="Calibri" pitchFamily="34" charset="0"/>
                <a:ea typeface="Calibri" pitchFamily="34" charset="-122"/>
                <a:cs typeface="Calibri" pitchFamily="34" charset="-120"/>
              </a:rPr>
              <a:t>COURAGE</a:t>
            </a:r>
            <a:endParaRPr lang="en-US" sz="900" dirty="0"/>
          </a:p>
        </p:txBody>
      </p:sp>
      <p:sp>
        <p:nvSpPr>
          <p:cNvPr id="5" name="Text 3"/>
          <p:cNvSpPr/>
          <p:nvPr/>
        </p:nvSpPr>
        <p:spPr>
          <a:xfrm>
            <a:off x="457200" y="640080"/>
            <a:ext cx="8229600" cy="475488"/>
          </a:xfrm>
          <a:prstGeom prst="rect">
            <a:avLst/>
          </a:prstGeom>
          <a:noFill/>
          <a:ln/>
        </p:spPr>
        <p:txBody>
          <a:bodyPr wrap="square" lIns="0" tIns="0" rIns="0" bIns="0" rtlCol="0" anchor="ctr"/>
          <a:lstStyle/>
          <a:p>
            <a:pPr algn="ctr" indent="0" marL="0">
              <a:buNone/>
            </a:pPr>
            <a:r>
              <a:rPr lang="en-US" sz="3200" b="1" dirty="0">
                <a:solidFill>
                  <a:srgbClr val="0E1C42"/>
                </a:solidFill>
                <a:latin typeface="Cambria" pitchFamily="34" charset="0"/>
                <a:ea typeface="Cambria" pitchFamily="34" charset="-122"/>
                <a:cs typeface="Cambria" pitchFamily="34" charset="-120"/>
              </a:rPr>
              <a:t>Two Kinds of Courage</a:t>
            </a:r>
            <a:endParaRPr lang="en-US" sz="3200" dirty="0"/>
          </a:p>
        </p:txBody>
      </p:sp>
      <p:sp>
        <p:nvSpPr>
          <p:cNvPr id="6" name="Shape 4"/>
          <p:cNvSpPr/>
          <p:nvPr/>
        </p:nvSpPr>
        <p:spPr>
          <a:xfrm>
            <a:off x="365760" y="1234440"/>
            <a:ext cx="3931920" cy="2057400"/>
          </a:xfrm>
          <a:prstGeom prst="roundRect">
            <a:avLst>
              <a:gd name="adj" fmla="val 6667"/>
            </a:avLst>
          </a:prstGeom>
          <a:solidFill>
            <a:srgbClr val="EAF8FD"/>
          </a:solidFill>
          <a:ln w="25400">
            <a:solidFill>
              <a:srgbClr val="55C8E8"/>
            </a:solidFill>
            <a:prstDash val="solid"/>
          </a:ln>
        </p:spPr>
      </p:sp>
      <p:sp>
        <p:nvSpPr>
          <p:cNvPr id="7" name="Text 5"/>
          <p:cNvSpPr/>
          <p:nvPr/>
        </p:nvSpPr>
        <p:spPr>
          <a:xfrm>
            <a:off x="548640" y="1325880"/>
            <a:ext cx="3566160" cy="228600"/>
          </a:xfrm>
          <a:prstGeom prst="rect">
            <a:avLst/>
          </a:prstGeom>
          <a:noFill/>
          <a:ln/>
        </p:spPr>
        <p:txBody>
          <a:bodyPr wrap="square" lIns="0" tIns="0" rIns="0" bIns="0"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Kind 1</a:t>
            </a:r>
            <a:endParaRPr lang="en-US" sz="900" dirty="0"/>
          </a:p>
        </p:txBody>
      </p:sp>
      <p:sp>
        <p:nvSpPr>
          <p:cNvPr id="8" name="Text 6"/>
          <p:cNvSpPr/>
          <p:nvPr/>
        </p:nvSpPr>
        <p:spPr>
          <a:xfrm>
            <a:off x="548640" y="1554480"/>
            <a:ext cx="3566160" cy="411480"/>
          </a:xfrm>
          <a:prstGeom prst="rect">
            <a:avLst/>
          </a:prstGeom>
          <a:noFill/>
          <a:ln/>
        </p:spPr>
        <p:txBody>
          <a:bodyPr wrap="square" lIns="0" tIns="0" rIns="0" bIns="0" rtlCol="0" anchor="ctr"/>
          <a:lstStyle/>
          <a:p>
            <a:pPr indent="0" marL="0">
              <a:buNone/>
            </a:pPr>
            <a:r>
              <a:rPr lang="en-US" sz="1600" b="1" dirty="0">
                <a:solidFill>
                  <a:srgbClr val="0E1C42"/>
                </a:solidFill>
                <a:latin typeface="Cambria" pitchFamily="34" charset="0"/>
                <a:ea typeface="Cambria" pitchFamily="34" charset="-122"/>
                <a:cs typeface="Cambria" pitchFamily="34" charset="-120"/>
              </a:rPr>
              <a:t>Sailing into Unknown Waters</a:t>
            </a:r>
            <a:endParaRPr lang="en-US" sz="1600" dirty="0"/>
          </a:p>
        </p:txBody>
      </p:sp>
      <p:sp>
        <p:nvSpPr>
          <p:cNvPr id="9" name="Text 7"/>
          <p:cNvSpPr/>
          <p:nvPr/>
        </p:nvSpPr>
        <p:spPr>
          <a:xfrm>
            <a:off x="548640" y="1965960"/>
            <a:ext cx="3566160" cy="777240"/>
          </a:xfrm>
          <a:prstGeom prst="rect">
            <a:avLst/>
          </a:prstGeom>
          <a:noFill/>
          <a:ln/>
        </p:spPr>
        <p:txBody>
          <a:bodyPr wrap="square" lIns="0" tIns="0" rIns="0" bIns="0" rtlCol="0" anchor="t"/>
          <a:lstStyle/>
          <a:p>
            <a:pPr indent="0" marL="0">
              <a:buNone/>
            </a:pPr>
            <a:r>
              <a:rPr lang="en-US" sz="1300" dirty="0">
                <a:solidFill>
                  <a:srgbClr val="1A2D5A"/>
                </a:solidFill>
                <a:latin typeface="Calibri" pitchFamily="34" charset="0"/>
                <a:ea typeface="Calibri" pitchFamily="34" charset="-122"/>
                <a:cs typeface="Calibri" pitchFamily="34" charset="-120"/>
              </a:rPr>
              <a:t>The courage to go somewhere nobody has gone before. To face the unknown.</a:t>
            </a:r>
            <a:endParaRPr lang="en-US" sz="1300" dirty="0"/>
          </a:p>
        </p:txBody>
      </p:sp>
      <p:sp>
        <p:nvSpPr>
          <p:cNvPr id="10" name="Shape 8"/>
          <p:cNvSpPr/>
          <p:nvPr/>
        </p:nvSpPr>
        <p:spPr>
          <a:xfrm>
            <a:off x="4754880" y="1234440"/>
            <a:ext cx="3931920" cy="2057400"/>
          </a:xfrm>
          <a:prstGeom prst="roundRect">
            <a:avLst>
              <a:gd name="adj" fmla="val 6667"/>
            </a:avLst>
          </a:prstGeom>
          <a:solidFill>
            <a:srgbClr val="FFF3DC"/>
          </a:solidFill>
          <a:ln w="25400">
            <a:solidFill>
              <a:srgbClr val="D4943A"/>
            </a:solidFill>
            <a:prstDash val="solid"/>
          </a:ln>
        </p:spPr>
      </p:sp>
      <p:sp>
        <p:nvSpPr>
          <p:cNvPr id="11" name="Text 9"/>
          <p:cNvSpPr/>
          <p:nvPr/>
        </p:nvSpPr>
        <p:spPr>
          <a:xfrm>
            <a:off x="4937760" y="1325880"/>
            <a:ext cx="3566160" cy="228600"/>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Kind 2</a:t>
            </a:r>
            <a:endParaRPr lang="en-US" sz="900" dirty="0"/>
          </a:p>
        </p:txBody>
      </p:sp>
      <p:sp>
        <p:nvSpPr>
          <p:cNvPr id="12" name="Text 10"/>
          <p:cNvSpPr/>
          <p:nvPr/>
        </p:nvSpPr>
        <p:spPr>
          <a:xfrm>
            <a:off x="4937760" y="1554480"/>
            <a:ext cx="3566160" cy="411480"/>
          </a:xfrm>
          <a:prstGeom prst="rect">
            <a:avLst/>
          </a:prstGeom>
          <a:noFill/>
          <a:ln/>
        </p:spPr>
        <p:txBody>
          <a:bodyPr wrap="square" lIns="0" tIns="0" rIns="0" bIns="0" rtlCol="0" anchor="ctr"/>
          <a:lstStyle/>
          <a:p>
            <a:pPr indent="0" marL="0">
              <a:buNone/>
            </a:pPr>
            <a:r>
              <a:rPr lang="en-US" sz="1600" b="1" dirty="0">
                <a:solidFill>
                  <a:srgbClr val="0E1C42"/>
                </a:solidFill>
                <a:latin typeface="Cambria" pitchFamily="34" charset="0"/>
                <a:ea typeface="Cambria" pitchFamily="34" charset="-122"/>
                <a:cs typeface="Cambria" pitchFamily="34" charset="-120"/>
              </a:rPr>
              <a:t>Telling the Hard Truth</a:t>
            </a:r>
            <a:endParaRPr lang="en-US" sz="1600" dirty="0"/>
          </a:p>
        </p:txBody>
      </p:sp>
      <p:sp>
        <p:nvSpPr>
          <p:cNvPr id="13" name="Text 11"/>
          <p:cNvSpPr/>
          <p:nvPr/>
        </p:nvSpPr>
        <p:spPr>
          <a:xfrm>
            <a:off x="4937760" y="1965960"/>
            <a:ext cx="3566160" cy="777240"/>
          </a:xfrm>
          <a:prstGeom prst="rect">
            <a:avLst/>
          </a:prstGeom>
          <a:noFill/>
          <a:ln/>
        </p:spPr>
        <p:txBody>
          <a:bodyPr wrap="square" lIns="0" tIns="0" rIns="0" bIns="0" rtlCol="0" anchor="t"/>
          <a:lstStyle/>
          <a:p>
            <a:pPr indent="0" marL="0">
              <a:buNone/>
            </a:pPr>
            <a:r>
              <a:rPr lang="en-US" sz="1300" dirty="0">
                <a:solidFill>
                  <a:srgbClr val="5A4A3A"/>
                </a:solidFill>
                <a:latin typeface="Calibri" pitchFamily="34" charset="0"/>
                <a:ea typeface="Calibri" pitchFamily="34" charset="-122"/>
                <a:cs typeface="Calibri" pitchFamily="34" charset="-120"/>
              </a:rPr>
              <a:t>The courage to tell the full story — even when the truth is difficult to hear.</a:t>
            </a:r>
            <a:endParaRPr lang="en-US" sz="1300" dirty="0"/>
          </a:p>
        </p:txBody>
      </p:sp>
      <p:sp>
        <p:nvSpPr>
          <p:cNvPr id="14" name="Shape 12"/>
          <p:cNvSpPr/>
          <p:nvPr/>
        </p:nvSpPr>
        <p:spPr>
          <a:xfrm>
            <a:off x="1828800" y="3410712"/>
            <a:ext cx="5486400" cy="457200"/>
          </a:xfrm>
          <a:prstGeom prst="roundRect">
            <a:avLst>
              <a:gd name="adj" fmla="val 20000"/>
            </a:avLst>
          </a:prstGeom>
          <a:solidFill>
            <a:srgbClr val="0E1C42"/>
          </a:solidFill>
          <a:ln w="12700">
            <a:solidFill>
              <a:srgbClr val="0E1C42"/>
            </a:solidFill>
            <a:prstDash val="solid"/>
          </a:ln>
        </p:spPr>
      </p:sp>
      <p:sp>
        <p:nvSpPr>
          <p:cNvPr id="15" name="Text 13"/>
          <p:cNvSpPr/>
          <p:nvPr/>
        </p:nvSpPr>
        <p:spPr>
          <a:xfrm>
            <a:off x="1920240" y="3456432"/>
            <a:ext cx="530352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Today, you are using Kind 2. An honest curator tells the full story.</a:t>
            </a:r>
            <a:endParaRPr lang="en-US" sz="1300" dirty="0"/>
          </a:p>
        </p:txBody>
      </p:sp>
      <p:sp>
        <p:nvSpPr>
          <p:cNvPr id="16" name="Shape 14"/>
          <p:cNvSpPr/>
          <p:nvPr/>
        </p:nvSpPr>
        <p:spPr>
          <a:xfrm>
            <a:off x="365760" y="3977640"/>
            <a:ext cx="8412480" cy="685800"/>
          </a:xfrm>
          <a:prstGeom prst="roundRect">
            <a:avLst>
              <a:gd name="adj" fmla="val 16000"/>
            </a:avLst>
          </a:prstGeom>
          <a:solidFill>
            <a:srgbClr val="FFF3DC"/>
          </a:solidFill>
          <a:ln w="19050">
            <a:solidFill>
              <a:srgbClr val="F5E6C8"/>
            </a:solidFill>
            <a:prstDash val="solid"/>
          </a:ln>
        </p:spPr>
      </p:sp>
      <p:sp>
        <p:nvSpPr>
          <p:cNvPr id="17" name="Text 15"/>
          <p:cNvSpPr/>
          <p:nvPr/>
        </p:nvSpPr>
        <p:spPr>
          <a:xfrm>
            <a:off x="502920" y="4032504"/>
            <a:ext cx="813816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8" name="Text 16"/>
          <p:cNvSpPr/>
          <p:nvPr/>
        </p:nvSpPr>
        <p:spPr>
          <a:xfrm>
            <a:off x="502920" y="4233672"/>
            <a:ext cx="8138160" cy="36576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"Courage means..."</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"Using Kind 2 courage today looks like..."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E1C42"/>
          </a:solidFill>
          <a:ln w="12700">
            <a:solidFill>
              <a:srgbClr val="0E1C42"/>
            </a:solidFill>
            <a:prstDash val="solid"/>
          </a:ln>
        </p:spPr>
      </p:sp>
      <p:sp>
        <p:nvSpPr>
          <p:cNvPr id="3" name="Text 1"/>
          <p:cNvSpPr/>
          <p:nvPr/>
        </p:nvSpPr>
        <p:spPr>
          <a:xfrm>
            <a:off x="274320" y="109728"/>
            <a:ext cx="4572000" cy="274320"/>
          </a:xfrm>
          <a:prstGeom prst="rect">
            <a:avLst/>
          </a:prstGeom>
          <a:noFill/>
          <a:ln/>
        </p:spPr>
        <p:txBody>
          <a:bodyPr wrap="square" lIns="0" tIns="0" rIns="0" bIns="0" rtlCol="0" anchor="ctr"/>
          <a:lstStyle/>
          <a:p>
            <a:pPr indent="0" marL="0">
              <a:buNone/>
            </a:pPr>
            <a:r>
              <a:rPr lang="en-US" sz="900" b="1" spc="200" kern="0" dirty="0">
                <a:solidFill>
                  <a:srgbClr val="55C8E8"/>
                </a:solidFill>
                <a:latin typeface="Calibri" pitchFamily="34" charset="0"/>
                <a:ea typeface="Calibri" pitchFamily="34" charset="-122"/>
                <a:cs typeface="Calibri" pitchFamily="34" charset="-120"/>
              </a:rPr>
              <a:t>CLUE BOX  ·  CONSEQUENCE 1</a:t>
            </a:r>
            <a:endParaRPr lang="en-US" sz="900" dirty="0"/>
          </a:p>
        </p:txBody>
      </p:sp>
      <p:sp>
        <p:nvSpPr>
          <p:cNvPr id="4" name="Text 2"/>
          <p:cNvSpPr/>
          <p:nvPr/>
        </p:nvSpPr>
        <p:spPr>
          <a:xfrm>
            <a:off x="0" y="109728"/>
            <a:ext cx="8778240" cy="274320"/>
          </a:xfrm>
          <a:prstGeom prst="rect">
            <a:avLst/>
          </a:prstGeom>
          <a:noFill/>
          <a:ln/>
        </p:spPr>
        <p:txBody>
          <a:bodyPr wrap="square" lIns="0" tIns="0" rIns="0" bIns="0" rtlCol="0" anchor="ctr"/>
          <a:lstStyle/>
          <a:p>
            <a:pPr algn="r" indent="0" marL="0">
              <a:buNone/>
            </a:pPr>
            <a:r>
              <a:rPr lang="en-US" sz="1000" dirty="0">
                <a:solidFill>
                  <a:srgbClr val="7A88A8"/>
                </a:solidFill>
                <a:latin typeface="Calibri" pitchFamily="34" charset="0"/>
                <a:ea typeface="Calibri" pitchFamily="34" charset="-122"/>
                <a:cs typeface="Calibri" pitchFamily="34" charset="-120"/>
              </a:rPr>
              <a:t>5 seconds — observe quietly</a:t>
            </a:r>
            <a:endParaRPr lang="en-US" sz="1000" dirty="0"/>
          </a:p>
        </p:txBody>
      </p:sp>
      <p:sp>
        <p:nvSpPr>
          <p:cNvPr id="5" name="Text 3"/>
          <p:cNvSpPr/>
          <p:nvPr/>
        </p:nvSpPr>
        <p:spPr>
          <a:xfrm>
            <a:off x="457200" y="640080"/>
            <a:ext cx="8229600" cy="475488"/>
          </a:xfrm>
          <a:prstGeom prst="rect">
            <a:avLst/>
          </a:prstGeom>
          <a:noFill/>
          <a:ln/>
        </p:spPr>
        <p:txBody>
          <a:bodyPr wrap="square" lIns="0" tIns="0" rIns="0" bIns="0" rtlCol="0" anchor="ctr"/>
          <a:lstStyle/>
          <a:p>
            <a:pPr algn="ctr" indent="0" marL="0">
              <a:buNone/>
            </a:pPr>
            <a:r>
              <a:rPr lang="en-US" sz="2600" b="1" dirty="0">
                <a:solidFill>
                  <a:srgbClr val="0E1C42"/>
                </a:solidFill>
                <a:latin typeface="Cambria" pitchFamily="34" charset="0"/>
                <a:ea typeface="Cambria" pitchFamily="34" charset="-122"/>
                <a:cs typeface="Cambria" pitchFamily="34" charset="-120"/>
              </a:rPr>
              <a:t>What do you notice about these two plates of food?</a:t>
            </a:r>
            <a:endParaRPr lang="en-US" sz="2600" dirty="0"/>
          </a:p>
        </p:txBody>
      </p:sp>
      <p:sp>
        <p:nvSpPr>
          <p:cNvPr id="6" name="Shape 4"/>
          <p:cNvSpPr/>
          <p:nvPr/>
        </p:nvSpPr>
        <p:spPr>
          <a:xfrm>
            <a:off x="457200" y="1234440"/>
            <a:ext cx="8229600" cy="2514600"/>
          </a:xfrm>
          <a:prstGeom prst="roundRect">
            <a:avLst>
              <a:gd name="adj" fmla="val 4364"/>
            </a:avLst>
          </a:prstGeom>
          <a:solidFill>
            <a:srgbClr val="E2E8F4"/>
          </a:solidFill>
          <a:ln w="19050">
            <a:solidFill>
              <a:srgbClr val="B0B8CC"/>
            </a:solidFill>
            <a:prstDash val="dash"/>
          </a:ln>
        </p:spPr>
      </p:sp>
      <p:sp>
        <p:nvSpPr>
          <p:cNvPr id="7" name="Text 5"/>
          <p:cNvSpPr/>
          <p:nvPr/>
        </p:nvSpPr>
        <p:spPr>
          <a:xfrm>
            <a:off x="457200" y="1234440"/>
            <a:ext cx="822960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8" name="Text 6"/>
          <p:cNvSpPr/>
          <p:nvPr/>
        </p:nvSpPr>
        <p:spPr>
          <a:xfrm>
            <a:off x="594360" y="1508760"/>
            <a:ext cx="7955280" cy="214884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Left side: Traditional Italian meal — pasta, pizza, tomatoes. Right side: Early American colonial meal — wheat bread, beef, apples. No labels or captions.</a:t>
            </a:r>
            <a:endParaRPr lang="en-US" sz="1100" dirty="0"/>
          </a:p>
        </p:txBody>
      </p:sp>
      <p:sp>
        <p:nvSpPr>
          <p:cNvPr id="9" name="Shape 7"/>
          <p:cNvSpPr/>
          <p:nvPr/>
        </p:nvSpPr>
        <p:spPr>
          <a:xfrm>
            <a:off x="457200" y="3858768"/>
            <a:ext cx="8229600" cy="685800"/>
          </a:xfrm>
          <a:prstGeom prst="roundRect">
            <a:avLst>
              <a:gd name="adj" fmla="val 16000"/>
            </a:avLst>
          </a:prstGeom>
          <a:solidFill>
            <a:srgbClr val="FFF3DC"/>
          </a:solidFill>
          <a:ln w="19050">
            <a:solidFill>
              <a:srgbClr val="F5E6C8"/>
            </a:solidFill>
            <a:prstDash val="solid"/>
          </a:ln>
        </p:spPr>
      </p:sp>
      <p:sp>
        <p:nvSpPr>
          <p:cNvPr id="10" name="Text 8"/>
          <p:cNvSpPr/>
          <p:nvPr/>
        </p:nvSpPr>
        <p:spPr>
          <a:xfrm>
            <a:off x="594360" y="3913632"/>
            <a:ext cx="795528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1" name="Text 9"/>
          <p:cNvSpPr/>
          <p:nvPr/>
        </p:nvSpPr>
        <p:spPr>
          <a:xfrm>
            <a:off x="594360" y="4114800"/>
            <a:ext cx="7955280" cy="36576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notice..."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"One difference I see is..."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E1C42"/>
          </a:solidFill>
          <a:ln w="12700">
            <a:solidFill>
              <a:srgbClr val="0E1C42"/>
            </a:solidFill>
            <a:prstDash val="solid"/>
          </a:ln>
        </p:spPr>
      </p:sp>
      <p:sp>
        <p:nvSpPr>
          <p:cNvPr id="3" name="Text 1"/>
          <p:cNvSpPr/>
          <p:nvPr/>
        </p:nvSpPr>
        <p:spPr>
          <a:xfrm>
            <a:off x="274320" y="109728"/>
            <a:ext cx="4572000" cy="274320"/>
          </a:xfrm>
          <a:prstGeom prst="rect">
            <a:avLst/>
          </a:prstGeom>
          <a:noFill/>
          <a:ln/>
        </p:spPr>
        <p:txBody>
          <a:bodyPr wrap="square" lIns="0" tIns="0" rIns="0" bIns="0" rtlCol="0" anchor="ctr"/>
          <a:lstStyle/>
          <a:p>
            <a:pPr indent="0" marL="0">
              <a:buNone/>
            </a:pPr>
            <a:r>
              <a:rPr lang="en-US" sz="900" b="1" spc="200" kern="0" dirty="0">
                <a:solidFill>
                  <a:srgbClr val="55C8E8"/>
                </a:solidFill>
                <a:latin typeface="Calibri" pitchFamily="34" charset="0"/>
                <a:ea typeface="Calibri" pitchFamily="34" charset="-122"/>
                <a:cs typeface="Calibri" pitchFamily="34" charset="-120"/>
              </a:rPr>
              <a:t>DISCUSS  ·  CONSEQUENCE 1</a:t>
            </a:r>
            <a:endParaRPr lang="en-US" sz="900" dirty="0"/>
          </a:p>
        </p:txBody>
      </p:sp>
      <p:sp>
        <p:nvSpPr>
          <p:cNvPr id="4" name="Text 2"/>
          <p:cNvSpPr/>
          <p:nvPr/>
        </p:nvSpPr>
        <p:spPr>
          <a:xfrm>
            <a:off x="457200" y="640080"/>
            <a:ext cx="8229600" cy="457200"/>
          </a:xfrm>
          <a:prstGeom prst="rect">
            <a:avLst/>
          </a:prstGeom>
          <a:noFill/>
          <a:ln/>
        </p:spPr>
        <p:txBody>
          <a:bodyPr wrap="square" lIns="0" tIns="0" rIns="0" bIns="0" rtlCol="0" anchor="ctr"/>
          <a:lstStyle/>
          <a:p>
            <a:pPr algn="ctr" indent="0" marL="0">
              <a:buNone/>
            </a:pPr>
            <a:r>
              <a:rPr lang="en-US" sz="2100" b="1" dirty="0">
                <a:solidFill>
                  <a:srgbClr val="0E1C42"/>
                </a:solidFill>
                <a:latin typeface="Cambria" pitchFamily="34" charset="0"/>
                <a:ea typeface="Cambria" pitchFamily="34" charset="-122"/>
                <a:cs typeface="Cambria" pitchFamily="34" charset="-120"/>
              </a:rPr>
              <a:t>Before Columbus: no tomatoes in Europe. No horses in the Americas.</a:t>
            </a:r>
            <a:endParaRPr lang="en-US" sz="2100" dirty="0"/>
          </a:p>
        </p:txBody>
      </p:sp>
      <p:sp>
        <p:nvSpPr>
          <p:cNvPr id="5" name="Shape 3"/>
          <p:cNvSpPr/>
          <p:nvPr/>
        </p:nvSpPr>
        <p:spPr>
          <a:xfrm>
            <a:off x="365760" y="1234440"/>
            <a:ext cx="3840480" cy="1325880"/>
          </a:xfrm>
          <a:prstGeom prst="roundRect">
            <a:avLst>
              <a:gd name="adj" fmla="val 8276"/>
            </a:avLst>
          </a:prstGeom>
          <a:solidFill>
            <a:srgbClr val="EAF8FD"/>
          </a:solidFill>
          <a:ln w="19050">
            <a:solidFill>
              <a:srgbClr val="55C8E8"/>
            </a:solidFill>
            <a:prstDash val="solid"/>
          </a:ln>
        </p:spPr>
      </p:sp>
      <p:sp>
        <p:nvSpPr>
          <p:cNvPr id="6" name="Text 4"/>
          <p:cNvSpPr/>
          <p:nvPr/>
        </p:nvSpPr>
        <p:spPr>
          <a:xfrm>
            <a:off x="548640" y="1325880"/>
            <a:ext cx="3474720" cy="274320"/>
          </a:xfrm>
          <a:prstGeom prst="rect">
            <a:avLst/>
          </a:prstGeom>
          <a:noFill/>
          <a:ln/>
        </p:spPr>
        <p:txBody>
          <a:bodyPr wrap="square" lIns="0" tIns="0" rIns="0" bIns="0" rtlCol="0" anchor="ctr"/>
          <a:lstStyle/>
          <a:p>
            <a:pPr indent="0" marL="0">
              <a:buNone/>
            </a:pPr>
            <a:r>
              <a:rPr lang="en-US" sz="1200" b="1" dirty="0">
                <a:solidFill>
                  <a:srgbClr val="1A8A7D"/>
                </a:solidFill>
                <a:latin typeface="Calibri" pitchFamily="34" charset="0"/>
                <a:ea typeface="Calibri" pitchFamily="34" charset="-122"/>
                <a:cs typeface="Calibri" pitchFamily="34" charset="-120"/>
              </a:rPr>
              <a:t>Americas  to  Europe</a:t>
            </a:r>
            <a:endParaRPr lang="en-US" sz="1200" dirty="0"/>
          </a:p>
        </p:txBody>
      </p:sp>
      <p:sp>
        <p:nvSpPr>
          <p:cNvPr id="7" name="Text 5"/>
          <p:cNvSpPr/>
          <p:nvPr/>
        </p:nvSpPr>
        <p:spPr>
          <a:xfrm>
            <a:off x="548640" y="1618488"/>
            <a:ext cx="3474720" cy="685800"/>
          </a:xfrm>
          <a:prstGeom prst="rect">
            <a:avLst/>
          </a:prstGeom>
          <a:noFill/>
          <a:ln/>
        </p:spPr>
        <p:txBody>
          <a:bodyPr wrap="square" lIns="0" tIns="0" rIns="0" bIns="0" rtlCol="0" anchor="t"/>
          <a:lstStyle/>
          <a:p>
            <a:pPr indent="0" marL="0">
              <a:buNone/>
            </a:pPr>
            <a:r>
              <a:rPr lang="en-US" sz="1400" dirty="0">
                <a:solidFill>
                  <a:srgbClr val="0E1C42"/>
                </a:solidFill>
                <a:latin typeface="Calibri" pitchFamily="34" charset="0"/>
                <a:ea typeface="Calibri" pitchFamily="34" charset="-122"/>
                <a:cs typeface="Calibri" pitchFamily="34" charset="-120"/>
              </a:rPr>
              <a:t>Tomatoes, potatoes, corn,</a:t>
            </a:r>
            <a:endParaRPr lang="en-US" sz="1400" dirty="0"/>
          </a:p>
          <a:p>
            <a:pPr indent="0" marL="0">
              <a:buNone/>
            </a:pPr>
            <a:r>
              <a:rPr lang="en-US" sz="1400" dirty="0">
                <a:solidFill>
                  <a:srgbClr val="0E1C42"/>
                </a:solidFill>
                <a:latin typeface="Calibri" pitchFamily="34" charset="0"/>
                <a:ea typeface="Calibri" pitchFamily="34" charset="-122"/>
                <a:cs typeface="Calibri" pitchFamily="34" charset="-120"/>
              </a:rPr>
              <a:t>chocolate, peppers</a:t>
            </a:r>
            <a:endParaRPr lang="en-US" sz="1400" dirty="0"/>
          </a:p>
        </p:txBody>
      </p:sp>
      <p:sp>
        <p:nvSpPr>
          <p:cNvPr id="8" name="Shape 6"/>
          <p:cNvSpPr/>
          <p:nvPr/>
        </p:nvSpPr>
        <p:spPr>
          <a:xfrm>
            <a:off x="4846320" y="1234440"/>
            <a:ext cx="3840480" cy="1325880"/>
          </a:xfrm>
          <a:prstGeom prst="roundRect">
            <a:avLst>
              <a:gd name="adj" fmla="val 8276"/>
            </a:avLst>
          </a:prstGeom>
          <a:solidFill>
            <a:srgbClr val="FFF3DC"/>
          </a:solidFill>
          <a:ln w="19050">
            <a:solidFill>
              <a:srgbClr val="D4943A"/>
            </a:solidFill>
            <a:prstDash val="solid"/>
          </a:ln>
        </p:spPr>
      </p:sp>
      <p:sp>
        <p:nvSpPr>
          <p:cNvPr id="9" name="Text 7"/>
          <p:cNvSpPr/>
          <p:nvPr/>
        </p:nvSpPr>
        <p:spPr>
          <a:xfrm>
            <a:off x="5029200" y="1325880"/>
            <a:ext cx="3474720" cy="274320"/>
          </a:xfrm>
          <a:prstGeom prst="rect">
            <a:avLst/>
          </a:prstGeom>
          <a:noFill/>
          <a:ln/>
        </p:spPr>
        <p:txBody>
          <a:bodyPr wrap="square" lIns="0" tIns="0" rIns="0" bIns="0" rtlCol="0" anchor="ctr"/>
          <a:lstStyle/>
          <a:p>
            <a:pPr indent="0" marL="0">
              <a:buNone/>
            </a:pPr>
            <a:r>
              <a:rPr lang="en-US" sz="1200" b="1" dirty="0">
                <a:solidFill>
                  <a:srgbClr val="D4943A"/>
                </a:solidFill>
                <a:latin typeface="Calibri" pitchFamily="34" charset="0"/>
                <a:ea typeface="Calibri" pitchFamily="34" charset="-122"/>
                <a:cs typeface="Calibri" pitchFamily="34" charset="-120"/>
              </a:rPr>
              <a:t>Europe  to  Americas</a:t>
            </a:r>
            <a:endParaRPr lang="en-US" sz="1200" dirty="0"/>
          </a:p>
        </p:txBody>
      </p:sp>
      <p:sp>
        <p:nvSpPr>
          <p:cNvPr id="10" name="Text 8"/>
          <p:cNvSpPr/>
          <p:nvPr/>
        </p:nvSpPr>
        <p:spPr>
          <a:xfrm>
            <a:off x="5029200" y="1618488"/>
            <a:ext cx="3474720" cy="685800"/>
          </a:xfrm>
          <a:prstGeom prst="rect">
            <a:avLst/>
          </a:prstGeom>
          <a:noFill/>
          <a:ln/>
        </p:spPr>
        <p:txBody>
          <a:bodyPr wrap="square" lIns="0" tIns="0" rIns="0" bIns="0" rtlCol="0" anchor="t"/>
          <a:lstStyle/>
          <a:p>
            <a:pPr indent="0" marL="0">
              <a:buNone/>
            </a:pPr>
            <a:r>
              <a:rPr lang="en-US" sz="1400" dirty="0">
                <a:solidFill>
                  <a:srgbClr val="0E1C42"/>
                </a:solidFill>
                <a:latin typeface="Calibri" pitchFamily="34" charset="0"/>
                <a:ea typeface="Calibri" pitchFamily="34" charset="-122"/>
                <a:cs typeface="Calibri" pitchFamily="34" charset="-120"/>
              </a:rPr>
              <a:t>Horses, cows, sheep,</a:t>
            </a:r>
            <a:endParaRPr lang="en-US" sz="1400" dirty="0"/>
          </a:p>
          <a:p>
            <a:pPr indent="0" marL="0">
              <a:buNone/>
            </a:pPr>
            <a:r>
              <a:rPr lang="en-US" sz="1400" dirty="0">
                <a:solidFill>
                  <a:srgbClr val="0E1C42"/>
                </a:solidFill>
                <a:latin typeface="Calibri" pitchFamily="34" charset="0"/>
                <a:ea typeface="Calibri" pitchFamily="34" charset="-122"/>
                <a:cs typeface="Calibri" pitchFamily="34" charset="-120"/>
              </a:rPr>
              <a:t>wheat, sugarcane</a:t>
            </a:r>
            <a:endParaRPr lang="en-US" sz="1400" dirty="0"/>
          </a:p>
        </p:txBody>
      </p:sp>
      <p:sp>
        <p:nvSpPr>
          <p:cNvPr id="11" name="Shape 9"/>
          <p:cNvSpPr/>
          <p:nvPr/>
        </p:nvSpPr>
        <p:spPr>
          <a:xfrm>
            <a:off x="365760" y="2697480"/>
            <a:ext cx="5029200" cy="1691640"/>
          </a:xfrm>
          <a:prstGeom prst="roundRect">
            <a:avLst>
              <a:gd name="adj" fmla="val 8108"/>
            </a:avLst>
          </a:prstGeom>
          <a:solidFill>
            <a:srgbClr val="1A2D5A"/>
          </a:solidFill>
          <a:ln/>
          <a:effectLst>
            <a:outerShdw sx="100000" sy="100000" kx="0" ky="0" algn="bl" rotWithShape="0" blurRad="101600" dist="38100" dir="8100000">
              <a:srgbClr val="000000">
                <a:alpha val="20000"/>
              </a:srgbClr>
            </a:outerShdw>
          </a:effectLst>
        </p:spPr>
      </p:sp>
      <p:sp>
        <p:nvSpPr>
          <p:cNvPr id="12" name="Text 10"/>
          <p:cNvSpPr/>
          <p:nvPr/>
        </p:nvSpPr>
        <p:spPr>
          <a:xfrm>
            <a:off x="548640" y="2788920"/>
            <a:ext cx="466344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3" name="Text 11"/>
          <p:cNvSpPr/>
          <p:nvPr/>
        </p:nvSpPr>
        <p:spPr>
          <a:xfrm>
            <a:off x="548640" y="3044952"/>
            <a:ext cx="4663440" cy="125272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question do you have about how this happened?</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Why might moving plants and animals change daily life?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Could these changes ever be bad for someone?</a:t>
            </a:r>
            <a:endParaRPr lang="en-US" sz="1100" dirty="0"/>
          </a:p>
        </p:txBody>
      </p:sp>
      <p:sp>
        <p:nvSpPr>
          <p:cNvPr id="14" name="Shape 12"/>
          <p:cNvSpPr/>
          <p:nvPr/>
        </p:nvSpPr>
        <p:spPr>
          <a:xfrm>
            <a:off x="5577840" y="2697480"/>
            <a:ext cx="3200400" cy="1691640"/>
          </a:xfrm>
          <a:prstGeom prst="roundRect">
            <a:avLst>
              <a:gd name="adj" fmla="val 6486"/>
            </a:avLst>
          </a:prstGeom>
          <a:solidFill>
            <a:srgbClr val="FFF3DC"/>
          </a:solidFill>
          <a:ln w="19050">
            <a:solidFill>
              <a:srgbClr val="F5E6C8"/>
            </a:solidFill>
            <a:prstDash val="solid"/>
          </a:ln>
        </p:spPr>
      </p:sp>
      <p:sp>
        <p:nvSpPr>
          <p:cNvPr id="15" name="Text 13"/>
          <p:cNvSpPr/>
          <p:nvPr/>
        </p:nvSpPr>
        <p:spPr>
          <a:xfrm>
            <a:off x="5715000" y="2752344"/>
            <a:ext cx="292608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6" name="Text 14"/>
          <p:cNvSpPr/>
          <p:nvPr/>
        </p:nvSpPr>
        <p:spPr>
          <a:xfrm>
            <a:off x="5715000" y="2953512"/>
            <a:ext cx="2926080" cy="137160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think this changed daily life by..."</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wonder if..."</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4" name="Text 2"/>
          <p:cNvSpPr/>
          <p:nvPr/>
        </p:nvSpPr>
        <p:spPr>
          <a:xfrm>
            <a:off x="0" y="292608"/>
            <a:ext cx="9144000" cy="256032"/>
          </a:xfrm>
          <a:prstGeom prst="rect">
            <a:avLst/>
          </a:prstGeom>
          <a:noFill/>
          <a:ln/>
        </p:spPr>
        <p:txBody>
          <a:bodyPr wrap="square" lIns="0" tIns="0" rIns="0" bIns="0" rtlCol="0" anchor="ctr"/>
          <a:lstStyle/>
          <a:p>
            <a:pPr algn="ctr" indent="0" marL="0">
              <a:buNone/>
            </a:pPr>
            <a:r>
              <a:rPr lang="en-US" sz="900" b="1" spc="200" kern="0" dirty="0">
                <a:solidFill>
                  <a:srgbClr val="55C8E8"/>
                </a:solidFill>
                <a:latin typeface="Calibri" pitchFamily="34" charset="0"/>
                <a:ea typeface="Calibri" pitchFamily="34" charset="-122"/>
                <a:cs typeface="Calibri" pitchFamily="34" charset="-120"/>
              </a:rPr>
              <a:t>CONSEQUENCE 1  ·  UNLOCKED</a:t>
            </a:r>
            <a:endParaRPr lang="en-US" sz="900" dirty="0"/>
          </a:p>
        </p:txBody>
      </p:sp>
      <p:sp>
        <p:nvSpPr>
          <p:cNvPr id="5" name="Text 3"/>
          <p:cNvSpPr/>
          <p:nvPr/>
        </p:nvSpPr>
        <p:spPr>
          <a:xfrm>
            <a:off x="457200" y="685800"/>
            <a:ext cx="8229600" cy="640080"/>
          </a:xfrm>
          <a:prstGeom prst="rect">
            <a:avLst/>
          </a:prstGeom>
          <a:noFill/>
          <a:ln/>
        </p:spPr>
        <p:txBody>
          <a:bodyPr wrap="square" lIns="0" tIns="0" rIns="0" bIns="0" rtlCol="0" anchor="ctr"/>
          <a:lstStyle/>
          <a:p>
            <a:pPr algn="ctr" indent="0" marL="0">
              <a:buNone/>
            </a:pPr>
            <a:r>
              <a:rPr lang="en-US" sz="3800" b="1" dirty="0">
                <a:solidFill>
                  <a:srgbClr val="D4943A"/>
                </a:solidFill>
                <a:latin typeface="Cambria" pitchFamily="34" charset="0"/>
                <a:ea typeface="Cambria" pitchFamily="34" charset="-122"/>
                <a:cs typeface="Cambria" pitchFamily="34" charset="-120"/>
              </a:rPr>
              <a:t>The Columbian Exchange</a:t>
            </a:r>
            <a:endParaRPr lang="en-US" sz="3800" dirty="0"/>
          </a:p>
        </p:txBody>
      </p:sp>
      <p:sp>
        <p:nvSpPr>
          <p:cNvPr id="6" name="Shape 4"/>
          <p:cNvSpPr/>
          <p:nvPr/>
        </p:nvSpPr>
        <p:spPr>
          <a:xfrm>
            <a:off x="1371600" y="1463040"/>
            <a:ext cx="6400800" cy="566928"/>
          </a:xfrm>
          <a:prstGeom prst="roundRect">
            <a:avLst>
              <a:gd name="adj" fmla="val 19355"/>
            </a:avLst>
          </a:prstGeom>
          <a:solidFill>
            <a:srgbClr val="1A2D5A"/>
          </a:solidFill>
          <a:ln w="19050">
            <a:solidFill>
              <a:srgbClr val="D4943A"/>
            </a:solidFill>
            <a:prstDash val="solid"/>
          </a:ln>
        </p:spPr>
      </p:sp>
      <p:sp>
        <p:nvSpPr>
          <p:cNvPr id="7" name="Text 5"/>
          <p:cNvSpPr/>
          <p:nvPr/>
        </p:nvSpPr>
        <p:spPr>
          <a:xfrm>
            <a:off x="1554480" y="1508760"/>
            <a:ext cx="6035040" cy="475488"/>
          </a:xfrm>
          <a:prstGeom prst="rect">
            <a:avLst/>
          </a:prstGeom>
          <a:noFill/>
          <a:ln/>
        </p:spPr>
        <p:txBody>
          <a:bodyPr wrap="square" lIns="0" tIns="0" rIns="0" bIns="0" rtlCol="0" anchor="ctr"/>
          <a:lstStyle/>
          <a:p>
            <a:pPr algn="ctr" indent="0" marL="0">
              <a:buNone/>
            </a:pPr>
            <a:r>
              <a:rPr lang="en-US" sz="1400" i="1" dirty="0">
                <a:solidFill>
                  <a:srgbClr val="FFFFFF"/>
                </a:solidFill>
                <a:latin typeface="Cambria" pitchFamily="34" charset="0"/>
                <a:ea typeface="Cambria" pitchFamily="34" charset="-122"/>
                <a:cs typeface="Cambria" pitchFamily="34" charset="-120"/>
              </a:rPr>
              <a:t>The movement of plants, animals, and foods between the Americas and Europe after exploration.</a:t>
            </a:r>
            <a:endParaRPr lang="en-US" sz="1400" dirty="0"/>
          </a:p>
        </p:txBody>
      </p:sp>
      <p:sp>
        <p:nvSpPr>
          <p:cNvPr id="8" name="Shape 6"/>
          <p:cNvSpPr/>
          <p:nvPr/>
        </p:nvSpPr>
        <p:spPr>
          <a:xfrm>
            <a:off x="457200" y="2194560"/>
            <a:ext cx="2560320" cy="1417320"/>
          </a:xfrm>
          <a:prstGeom prst="roundRect">
            <a:avLst>
              <a:gd name="adj" fmla="val 7742"/>
            </a:avLst>
          </a:prstGeom>
          <a:solidFill>
            <a:srgbClr val="1A2D5A"/>
          </a:solidFill>
          <a:ln w="12700">
            <a:solidFill>
              <a:srgbClr val="55C8E8"/>
            </a:solidFill>
            <a:prstDash val="solid"/>
          </a:ln>
        </p:spPr>
      </p:sp>
      <p:sp>
        <p:nvSpPr>
          <p:cNvPr id="9" name="Text 7"/>
          <p:cNvSpPr/>
          <p:nvPr/>
        </p:nvSpPr>
        <p:spPr>
          <a:xfrm>
            <a:off x="594360" y="2286000"/>
            <a:ext cx="2286000" cy="274320"/>
          </a:xfrm>
          <a:prstGeom prst="rect">
            <a:avLst/>
          </a:prstGeom>
          <a:noFill/>
          <a:ln/>
        </p:spPr>
        <p:txBody>
          <a:bodyPr wrap="square" lIns="0" tIns="0" rIns="0" bIns="0" rtlCol="0" anchor="ctr"/>
          <a:lstStyle/>
          <a:p>
            <a:pPr algn="ctr" indent="0" marL="0">
              <a:buNone/>
            </a:pPr>
            <a:r>
              <a:rPr lang="en-US" sz="1300" b="1" dirty="0">
                <a:solidFill>
                  <a:srgbClr val="55C8E8"/>
                </a:solidFill>
                <a:latin typeface="Calibri" pitchFamily="34" charset="0"/>
                <a:ea typeface="Calibri" pitchFamily="34" charset="-122"/>
                <a:cs typeface="Calibri" pitchFamily="34" charset="-120"/>
              </a:rPr>
              <a:t>Tomatoes</a:t>
            </a:r>
            <a:endParaRPr lang="en-US" sz="1300" dirty="0"/>
          </a:p>
        </p:txBody>
      </p:sp>
      <p:sp>
        <p:nvSpPr>
          <p:cNvPr id="10" name="Text 8"/>
          <p:cNvSpPr/>
          <p:nvPr/>
        </p:nvSpPr>
        <p:spPr>
          <a:xfrm>
            <a:off x="594360" y="2578608"/>
            <a:ext cx="2286000" cy="777240"/>
          </a:xfrm>
          <a:prstGeom prst="rect">
            <a:avLst/>
          </a:prstGeom>
          <a:noFill/>
          <a:ln/>
        </p:spPr>
        <p:txBody>
          <a:bodyPr wrap="square" lIns="0" tIns="0" rIns="0" bIns="0" rtlCol="0" anchor="t"/>
          <a:lstStyle/>
          <a:p>
            <a:pPr algn="ctr" indent="0" marL="0">
              <a:buNone/>
            </a:pPr>
            <a:r>
              <a:rPr lang="en-US" sz="1200" dirty="0">
                <a:solidFill>
                  <a:srgbClr val="F0F2F8"/>
                </a:solidFill>
                <a:latin typeface="Calibri" pitchFamily="34" charset="0"/>
                <a:ea typeface="Calibri" pitchFamily="34" charset="-122"/>
                <a:cs typeface="Calibri" pitchFamily="34" charset="-120"/>
              </a:rPr>
              <a:t>Traveled FROM the Americas TO Europe</a:t>
            </a:r>
            <a:endParaRPr lang="en-US" sz="1200" dirty="0"/>
          </a:p>
        </p:txBody>
      </p:sp>
      <p:sp>
        <p:nvSpPr>
          <p:cNvPr id="11" name="Shape 9"/>
          <p:cNvSpPr/>
          <p:nvPr/>
        </p:nvSpPr>
        <p:spPr>
          <a:xfrm>
            <a:off x="3291840" y="2194560"/>
            <a:ext cx="2560320" cy="1417320"/>
          </a:xfrm>
          <a:prstGeom prst="roundRect">
            <a:avLst>
              <a:gd name="adj" fmla="val 7742"/>
            </a:avLst>
          </a:prstGeom>
          <a:solidFill>
            <a:srgbClr val="1A2D5A"/>
          </a:solidFill>
          <a:ln w="12700">
            <a:solidFill>
              <a:srgbClr val="D4943A"/>
            </a:solidFill>
            <a:prstDash val="solid"/>
          </a:ln>
        </p:spPr>
      </p:sp>
      <p:sp>
        <p:nvSpPr>
          <p:cNvPr id="12" name="Text 10"/>
          <p:cNvSpPr/>
          <p:nvPr/>
        </p:nvSpPr>
        <p:spPr>
          <a:xfrm>
            <a:off x="3429000" y="2286000"/>
            <a:ext cx="2286000" cy="274320"/>
          </a:xfrm>
          <a:prstGeom prst="rect">
            <a:avLst/>
          </a:prstGeom>
          <a:noFill/>
          <a:ln/>
        </p:spPr>
        <p:txBody>
          <a:bodyPr wrap="square" lIns="0" tIns="0" rIns="0" bIns="0" rtlCol="0" anchor="ctr"/>
          <a:lstStyle/>
          <a:p>
            <a:pPr algn="ctr" indent="0" marL="0">
              <a:buNone/>
            </a:pPr>
            <a:r>
              <a:rPr lang="en-US" sz="1300" b="1" dirty="0">
                <a:solidFill>
                  <a:srgbClr val="D4943A"/>
                </a:solidFill>
                <a:latin typeface="Calibri" pitchFamily="34" charset="0"/>
                <a:ea typeface="Calibri" pitchFamily="34" charset="-122"/>
                <a:cs typeface="Calibri" pitchFamily="34" charset="-120"/>
              </a:rPr>
              <a:t>Horses</a:t>
            </a:r>
            <a:endParaRPr lang="en-US" sz="1300" dirty="0"/>
          </a:p>
        </p:txBody>
      </p:sp>
      <p:sp>
        <p:nvSpPr>
          <p:cNvPr id="13" name="Text 11"/>
          <p:cNvSpPr/>
          <p:nvPr/>
        </p:nvSpPr>
        <p:spPr>
          <a:xfrm>
            <a:off x="3429000" y="2578608"/>
            <a:ext cx="2286000" cy="777240"/>
          </a:xfrm>
          <a:prstGeom prst="rect">
            <a:avLst/>
          </a:prstGeom>
          <a:noFill/>
          <a:ln/>
        </p:spPr>
        <p:txBody>
          <a:bodyPr wrap="square" lIns="0" tIns="0" rIns="0" bIns="0" rtlCol="0" anchor="t"/>
          <a:lstStyle/>
          <a:p>
            <a:pPr algn="ctr" indent="0" marL="0">
              <a:buNone/>
            </a:pPr>
            <a:r>
              <a:rPr lang="en-US" sz="1200" dirty="0">
                <a:solidFill>
                  <a:srgbClr val="F0F2F8"/>
                </a:solidFill>
                <a:latin typeface="Calibri" pitchFamily="34" charset="0"/>
                <a:ea typeface="Calibri" pitchFamily="34" charset="-122"/>
                <a:cs typeface="Calibri" pitchFamily="34" charset="-120"/>
              </a:rPr>
              <a:t>Traveled FROM Europe TO the Americas</a:t>
            </a:r>
            <a:endParaRPr lang="en-US" sz="1200" dirty="0"/>
          </a:p>
        </p:txBody>
      </p:sp>
      <p:sp>
        <p:nvSpPr>
          <p:cNvPr id="14" name="Shape 12"/>
          <p:cNvSpPr/>
          <p:nvPr/>
        </p:nvSpPr>
        <p:spPr>
          <a:xfrm>
            <a:off x="6126480" y="2194560"/>
            <a:ext cx="2560320" cy="1417320"/>
          </a:xfrm>
          <a:prstGeom prst="roundRect">
            <a:avLst>
              <a:gd name="adj" fmla="val 7742"/>
            </a:avLst>
          </a:prstGeom>
          <a:solidFill>
            <a:srgbClr val="1A2D5A"/>
          </a:solidFill>
          <a:ln w="12700">
            <a:solidFill>
              <a:srgbClr val="34B76F"/>
            </a:solidFill>
            <a:prstDash val="solid"/>
          </a:ln>
        </p:spPr>
      </p:sp>
      <p:sp>
        <p:nvSpPr>
          <p:cNvPr id="15" name="Text 13"/>
          <p:cNvSpPr/>
          <p:nvPr/>
        </p:nvSpPr>
        <p:spPr>
          <a:xfrm>
            <a:off x="6263640" y="2286000"/>
            <a:ext cx="2286000" cy="274320"/>
          </a:xfrm>
          <a:prstGeom prst="rect">
            <a:avLst/>
          </a:prstGeom>
          <a:noFill/>
          <a:ln/>
        </p:spPr>
        <p:txBody>
          <a:bodyPr wrap="square" lIns="0" tIns="0" rIns="0" bIns="0" rtlCol="0" anchor="ctr"/>
          <a:lstStyle/>
          <a:p>
            <a:pPr algn="ctr" indent="0" marL="0">
              <a:buNone/>
            </a:pPr>
            <a:r>
              <a:rPr lang="en-US" sz="1300" b="1" dirty="0">
                <a:solidFill>
                  <a:srgbClr val="34B76F"/>
                </a:solidFill>
                <a:latin typeface="Calibri" pitchFamily="34" charset="0"/>
                <a:ea typeface="Calibri" pitchFamily="34" charset="-122"/>
                <a:cs typeface="Calibri" pitchFamily="34" charset="-120"/>
              </a:rPr>
              <a:t>Daily Life</a:t>
            </a:r>
            <a:endParaRPr lang="en-US" sz="1300" dirty="0"/>
          </a:p>
        </p:txBody>
      </p:sp>
      <p:sp>
        <p:nvSpPr>
          <p:cNvPr id="16" name="Text 14"/>
          <p:cNvSpPr/>
          <p:nvPr/>
        </p:nvSpPr>
        <p:spPr>
          <a:xfrm>
            <a:off x="6263640" y="2578608"/>
            <a:ext cx="2286000" cy="777240"/>
          </a:xfrm>
          <a:prstGeom prst="rect">
            <a:avLst/>
          </a:prstGeom>
          <a:noFill/>
          <a:ln/>
        </p:spPr>
        <p:txBody>
          <a:bodyPr wrap="square" lIns="0" tIns="0" rIns="0" bIns="0" rtlCol="0" anchor="t"/>
          <a:lstStyle/>
          <a:p>
            <a:pPr algn="ctr" indent="0" marL="0">
              <a:buNone/>
            </a:pPr>
            <a:r>
              <a:rPr lang="en-US" sz="1200" dirty="0">
                <a:solidFill>
                  <a:srgbClr val="F0F2F8"/>
                </a:solidFill>
                <a:latin typeface="Calibri" pitchFamily="34" charset="0"/>
                <a:ea typeface="Calibri" pitchFamily="34" charset="-122"/>
                <a:cs typeface="Calibri" pitchFamily="34" charset="-120"/>
              </a:rPr>
              <a:t>Changed on BOTH sides of the ocean</a:t>
            </a:r>
            <a:endParaRPr lang="en-US" sz="1200" dirty="0"/>
          </a:p>
        </p:txBody>
      </p:sp>
      <p:sp>
        <p:nvSpPr>
          <p:cNvPr id="17" name="Text 15"/>
          <p:cNvSpPr/>
          <p:nvPr/>
        </p:nvSpPr>
        <p:spPr>
          <a:xfrm>
            <a:off x="0" y="3840480"/>
            <a:ext cx="9144000" cy="256032"/>
          </a:xfrm>
          <a:prstGeom prst="rect">
            <a:avLst/>
          </a:prstGeom>
          <a:noFill/>
          <a:ln/>
        </p:spPr>
        <p:txBody>
          <a:bodyPr wrap="square" lIns="0" tIns="0" rIns="0" bIns="0"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Say it aloud: The Columbian Exchange was...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A8A7D"/>
          </a:solidFill>
          <a:ln w="12700">
            <a:solidFill>
              <a:srgbClr val="1A8A7D"/>
            </a:solidFill>
            <a:prstDash val="solid"/>
          </a:ln>
        </p:spPr>
      </p:sp>
      <p:sp>
        <p:nvSpPr>
          <p:cNvPr id="3" name="Text 1"/>
          <p:cNvSpPr/>
          <p:nvPr/>
        </p:nvSpPr>
        <p:spPr>
          <a:xfrm>
            <a:off x="274320" y="109728"/>
            <a:ext cx="8595360" cy="274320"/>
          </a:xfrm>
          <a:prstGeom prst="rect">
            <a:avLst/>
          </a:prstGeom>
          <a:noFill/>
          <a:ln/>
        </p:spPr>
        <p:txBody>
          <a:bodyPr wrap="square" lIns="0" tIns="0" rIns="0" bIns="0" rtlCol="0" anchor="ctr"/>
          <a:lstStyle/>
          <a:p>
            <a:pPr indent="0" marL="0">
              <a:buNone/>
            </a:pPr>
            <a:r>
              <a:rPr lang="en-US" sz="900" b="1" spc="200" kern="0" dirty="0">
                <a:solidFill>
                  <a:srgbClr val="FFFFFF"/>
                </a:solidFill>
                <a:latin typeface="Calibri" pitchFamily="34" charset="0"/>
                <a:ea typeface="Calibri" pitchFamily="34" charset="-122"/>
                <a:cs typeface="Calibri" pitchFamily="34" charset="-120"/>
              </a:rPr>
              <a:t>THEN &amp; NOW  ·  THE COLUMBIAN EXCHANGE TODAY</a:t>
            </a:r>
            <a:endParaRPr lang="en-US" sz="900" dirty="0"/>
          </a:p>
        </p:txBody>
      </p:sp>
      <p:sp>
        <p:nvSpPr>
          <p:cNvPr id="4" name="Text 2"/>
          <p:cNvSpPr/>
          <p:nvPr/>
        </p:nvSpPr>
        <p:spPr>
          <a:xfrm>
            <a:off x="457200" y="640080"/>
            <a:ext cx="8229600" cy="411480"/>
          </a:xfrm>
          <a:prstGeom prst="rect">
            <a:avLst/>
          </a:prstGeom>
          <a:noFill/>
          <a:ln/>
        </p:spPr>
        <p:txBody>
          <a:bodyPr wrap="square" lIns="0" tIns="0" rIns="0" bIns="0" rtlCol="0" anchor="ctr"/>
          <a:lstStyle/>
          <a:p>
            <a:pPr algn="ctr" indent="0" marL="0">
              <a:buNone/>
            </a:pPr>
            <a:r>
              <a:rPr lang="en-US" sz="2200" b="1" dirty="0">
                <a:solidFill>
                  <a:srgbClr val="0E1C42"/>
                </a:solidFill>
                <a:latin typeface="Cambria" pitchFamily="34" charset="0"/>
                <a:ea typeface="Cambria" pitchFamily="34" charset="-122"/>
                <a:cs typeface="Cambria" pitchFamily="34" charset="-120"/>
              </a:rPr>
              <a:t>Every meal you eat has a connection to this exchange.</a:t>
            </a:r>
            <a:endParaRPr lang="en-US" sz="2200" dirty="0"/>
          </a:p>
        </p:txBody>
      </p:sp>
      <p:sp>
        <p:nvSpPr>
          <p:cNvPr id="5" name="Shape 3"/>
          <p:cNvSpPr/>
          <p:nvPr/>
        </p:nvSpPr>
        <p:spPr>
          <a:xfrm>
            <a:off x="365760" y="1188720"/>
            <a:ext cx="3931920" cy="2286000"/>
          </a:xfrm>
          <a:prstGeom prst="roundRect">
            <a:avLst>
              <a:gd name="adj" fmla="val 6000"/>
            </a:avLst>
          </a:prstGeom>
          <a:solidFill>
            <a:srgbClr val="F0F2F8"/>
          </a:solidFill>
          <a:ln w="25400">
            <a:solidFill>
              <a:srgbClr val="1A8A7D"/>
            </a:solidFill>
            <a:prstDash val="solid"/>
          </a:ln>
        </p:spPr>
      </p:sp>
      <p:sp>
        <p:nvSpPr>
          <p:cNvPr id="6" name="Text 4"/>
          <p:cNvSpPr/>
          <p:nvPr/>
        </p:nvSpPr>
        <p:spPr>
          <a:xfrm>
            <a:off x="548640" y="1280160"/>
            <a:ext cx="3566160" cy="274320"/>
          </a:xfrm>
          <a:prstGeom prst="rect">
            <a:avLst/>
          </a:prstGeom>
          <a:noFill/>
          <a:ln/>
        </p:spPr>
        <p:txBody>
          <a:bodyPr wrap="square" lIns="0" tIns="0" rIns="0" bIns="0" rtlCol="0" anchor="ctr"/>
          <a:lstStyle/>
          <a:p>
            <a:pPr algn="ctr" indent="0" marL="0">
              <a:buNone/>
            </a:pPr>
            <a:r>
              <a:rPr lang="en-US" sz="1300" b="1" dirty="0">
                <a:solidFill>
                  <a:srgbClr val="1A8A7D"/>
                </a:solidFill>
                <a:latin typeface="Calibri" pitchFamily="34" charset="0"/>
                <a:ea typeface="Calibri" pitchFamily="34" charset="-122"/>
                <a:cs typeface="Calibri" pitchFamily="34" charset="-120"/>
              </a:rPr>
              <a:t>Italian Food</a:t>
            </a:r>
            <a:endParaRPr lang="en-US" sz="1300" dirty="0"/>
          </a:p>
        </p:txBody>
      </p:sp>
      <p:sp>
        <p:nvSpPr>
          <p:cNvPr id="7" name="Text 5"/>
          <p:cNvSpPr/>
          <p:nvPr/>
        </p:nvSpPr>
        <p:spPr>
          <a:xfrm>
            <a:off x="548640" y="1572768"/>
            <a:ext cx="3566160" cy="594360"/>
          </a:xfrm>
          <a:prstGeom prst="rect">
            <a:avLst/>
          </a:prstGeom>
          <a:noFill/>
          <a:ln/>
        </p:spPr>
        <p:txBody>
          <a:bodyPr wrap="square" lIns="0" tIns="0" rIns="0" bIns="0" rtlCol="0" anchor="t"/>
          <a:lstStyle/>
          <a:p>
            <a:pPr indent="0" marL="0">
              <a:buNone/>
            </a:pPr>
            <a:r>
              <a:rPr lang="en-US" sz="1300" dirty="0">
                <a:solidFill>
                  <a:srgbClr val="0E1C42"/>
                </a:solidFill>
                <a:latin typeface="Calibri" pitchFamily="34" charset="0"/>
                <a:ea typeface="Calibri" pitchFamily="34" charset="-122"/>
                <a:cs typeface="Calibri" pitchFamily="34" charset="-120"/>
              </a:rPr>
              <a:t>Uses tomatoes that came FROM the Americas after the Columbian Exchange.</a:t>
            </a:r>
            <a:endParaRPr lang="en-US" sz="1300" dirty="0"/>
          </a:p>
        </p:txBody>
      </p:sp>
      <p:sp>
        <p:nvSpPr>
          <p:cNvPr id="8" name="Shape 6"/>
          <p:cNvSpPr/>
          <p:nvPr/>
        </p:nvSpPr>
        <p:spPr>
          <a:xfrm>
            <a:off x="548640" y="2194560"/>
            <a:ext cx="3566160" cy="1051560"/>
          </a:xfrm>
          <a:prstGeom prst="roundRect">
            <a:avLst>
              <a:gd name="adj" fmla="val 10435"/>
            </a:avLst>
          </a:prstGeom>
          <a:solidFill>
            <a:srgbClr val="E2E8F4"/>
          </a:solidFill>
          <a:ln w="19050">
            <a:solidFill>
              <a:srgbClr val="B0B8CC"/>
            </a:solidFill>
            <a:prstDash val="dash"/>
          </a:ln>
        </p:spPr>
      </p:sp>
      <p:sp>
        <p:nvSpPr>
          <p:cNvPr id="9" name="Text 7"/>
          <p:cNvSpPr/>
          <p:nvPr/>
        </p:nvSpPr>
        <p:spPr>
          <a:xfrm>
            <a:off x="548640" y="2194560"/>
            <a:ext cx="356616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0" name="Text 8"/>
          <p:cNvSpPr/>
          <p:nvPr/>
        </p:nvSpPr>
        <p:spPr>
          <a:xfrm>
            <a:off x="685800" y="2468880"/>
            <a:ext cx="3291840" cy="68580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Classic Italian pasta or pizza with tomatoes. No text overlay.</a:t>
            </a:r>
            <a:endParaRPr lang="en-US" sz="1100" dirty="0"/>
          </a:p>
        </p:txBody>
      </p:sp>
      <p:sp>
        <p:nvSpPr>
          <p:cNvPr id="11" name="Shape 9"/>
          <p:cNvSpPr/>
          <p:nvPr/>
        </p:nvSpPr>
        <p:spPr>
          <a:xfrm>
            <a:off x="4754880" y="1188720"/>
            <a:ext cx="3931920" cy="2286000"/>
          </a:xfrm>
          <a:prstGeom prst="roundRect">
            <a:avLst>
              <a:gd name="adj" fmla="val 6000"/>
            </a:avLst>
          </a:prstGeom>
          <a:solidFill>
            <a:srgbClr val="FFF3DC"/>
          </a:solidFill>
          <a:ln w="25400">
            <a:solidFill>
              <a:srgbClr val="D4943A"/>
            </a:solidFill>
            <a:prstDash val="solid"/>
          </a:ln>
        </p:spPr>
      </p:sp>
      <p:sp>
        <p:nvSpPr>
          <p:cNvPr id="12" name="Text 10"/>
          <p:cNvSpPr/>
          <p:nvPr/>
        </p:nvSpPr>
        <p:spPr>
          <a:xfrm>
            <a:off x="4937760" y="1280160"/>
            <a:ext cx="3566160" cy="274320"/>
          </a:xfrm>
          <a:prstGeom prst="rect">
            <a:avLst/>
          </a:prstGeom>
          <a:noFill/>
          <a:ln/>
        </p:spPr>
        <p:txBody>
          <a:bodyPr wrap="square" lIns="0" tIns="0" rIns="0" bIns="0" rtlCol="0" anchor="ctr"/>
          <a:lstStyle/>
          <a:p>
            <a:pPr algn="ctr" indent="0" marL="0">
              <a:buNone/>
            </a:pPr>
            <a:r>
              <a:rPr lang="en-US" sz="1300" b="1" dirty="0">
                <a:solidFill>
                  <a:srgbClr val="D4943A"/>
                </a:solidFill>
                <a:latin typeface="Calibri" pitchFamily="34" charset="0"/>
                <a:ea typeface="Calibri" pitchFamily="34" charset="-122"/>
                <a:cs typeface="Calibri" pitchFamily="34" charset="-120"/>
              </a:rPr>
              <a:t>American Farms</a:t>
            </a:r>
            <a:endParaRPr lang="en-US" sz="1300" dirty="0"/>
          </a:p>
        </p:txBody>
      </p:sp>
      <p:sp>
        <p:nvSpPr>
          <p:cNvPr id="13" name="Text 11"/>
          <p:cNvSpPr/>
          <p:nvPr/>
        </p:nvSpPr>
        <p:spPr>
          <a:xfrm>
            <a:off x="4937760" y="1572768"/>
            <a:ext cx="3566160" cy="594360"/>
          </a:xfrm>
          <a:prstGeom prst="rect">
            <a:avLst/>
          </a:prstGeom>
          <a:noFill/>
          <a:ln/>
        </p:spPr>
        <p:txBody>
          <a:bodyPr wrap="square" lIns="0" tIns="0" rIns="0" bIns="0" rtlCol="0" anchor="t"/>
          <a:lstStyle/>
          <a:p>
            <a:pPr indent="0" marL="0">
              <a:buNone/>
            </a:pPr>
            <a:r>
              <a:rPr lang="en-US" sz="1300" dirty="0">
                <a:solidFill>
                  <a:srgbClr val="5A4A3A"/>
                </a:solidFill>
                <a:latin typeface="Calibri" pitchFamily="34" charset="0"/>
                <a:ea typeface="Calibri" pitchFamily="34" charset="-122"/>
                <a:cs typeface="Calibri" pitchFamily="34" charset="-120"/>
              </a:rPr>
              <a:t>Raise cows and horses that arrived FROM Europe during the exchange.</a:t>
            </a:r>
            <a:endParaRPr lang="en-US" sz="1300" dirty="0"/>
          </a:p>
        </p:txBody>
      </p:sp>
      <p:sp>
        <p:nvSpPr>
          <p:cNvPr id="14" name="Shape 12"/>
          <p:cNvSpPr/>
          <p:nvPr/>
        </p:nvSpPr>
        <p:spPr>
          <a:xfrm>
            <a:off x="4937760" y="2194560"/>
            <a:ext cx="3566160" cy="1051560"/>
          </a:xfrm>
          <a:prstGeom prst="roundRect">
            <a:avLst>
              <a:gd name="adj" fmla="val 10435"/>
            </a:avLst>
          </a:prstGeom>
          <a:solidFill>
            <a:srgbClr val="E2E8F4"/>
          </a:solidFill>
          <a:ln w="19050">
            <a:solidFill>
              <a:srgbClr val="B0B8CC"/>
            </a:solidFill>
            <a:prstDash val="dash"/>
          </a:ln>
        </p:spPr>
      </p:sp>
      <p:sp>
        <p:nvSpPr>
          <p:cNvPr id="15" name="Text 13"/>
          <p:cNvSpPr/>
          <p:nvPr/>
        </p:nvSpPr>
        <p:spPr>
          <a:xfrm>
            <a:off x="4937760" y="2194560"/>
            <a:ext cx="356616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6" name="Text 14"/>
          <p:cNvSpPr/>
          <p:nvPr/>
        </p:nvSpPr>
        <p:spPr>
          <a:xfrm>
            <a:off x="5074920" y="2468880"/>
            <a:ext cx="3291840" cy="68580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American farm with cattle and horses in a field. No text overlay.</a:t>
            </a:r>
            <a:endParaRPr lang="en-US" sz="1100" dirty="0"/>
          </a:p>
        </p:txBody>
      </p:sp>
      <p:sp>
        <p:nvSpPr>
          <p:cNvPr id="17" name="Shape 15"/>
          <p:cNvSpPr/>
          <p:nvPr/>
        </p:nvSpPr>
        <p:spPr>
          <a:xfrm>
            <a:off x="365760" y="3593592"/>
            <a:ext cx="8412480" cy="685800"/>
          </a:xfrm>
          <a:prstGeom prst="roundRect">
            <a:avLst>
              <a:gd name="adj" fmla="val 16000"/>
            </a:avLst>
          </a:prstGeom>
          <a:solidFill>
            <a:srgbClr val="FFF3DC"/>
          </a:solidFill>
          <a:ln w="19050">
            <a:solidFill>
              <a:srgbClr val="F5E6C8"/>
            </a:solidFill>
            <a:prstDash val="solid"/>
          </a:ln>
        </p:spPr>
      </p:sp>
      <p:sp>
        <p:nvSpPr>
          <p:cNvPr id="18" name="Text 16"/>
          <p:cNvSpPr/>
          <p:nvPr/>
        </p:nvSpPr>
        <p:spPr>
          <a:xfrm>
            <a:off x="502920" y="3648456"/>
            <a:ext cx="813816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9" name="Text 17"/>
          <p:cNvSpPr/>
          <p:nvPr/>
        </p:nvSpPr>
        <p:spPr>
          <a:xfrm>
            <a:off x="502920" y="3849624"/>
            <a:ext cx="8138160" cy="36576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"Something I eat that came from the Columbian Exchange is..."</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never knew that... because..."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E1C42"/>
          </a:solidFill>
          <a:ln w="12700">
            <a:solidFill>
              <a:srgbClr val="0E1C42"/>
            </a:solidFill>
            <a:prstDash val="solid"/>
          </a:ln>
        </p:spPr>
      </p:sp>
      <p:sp>
        <p:nvSpPr>
          <p:cNvPr id="3" name="Text 1"/>
          <p:cNvSpPr/>
          <p:nvPr/>
        </p:nvSpPr>
        <p:spPr>
          <a:xfrm>
            <a:off x="274320" y="109728"/>
            <a:ext cx="4572000" cy="274320"/>
          </a:xfrm>
          <a:prstGeom prst="rect">
            <a:avLst/>
          </a:prstGeom>
          <a:noFill/>
          <a:ln/>
        </p:spPr>
        <p:txBody>
          <a:bodyPr wrap="square" lIns="0" tIns="0" rIns="0" bIns="0" rtlCol="0" anchor="ctr"/>
          <a:lstStyle/>
          <a:p>
            <a:pPr indent="0" marL="0">
              <a:buNone/>
            </a:pPr>
            <a:r>
              <a:rPr lang="en-US" sz="900" b="1" spc="200" kern="0" dirty="0">
                <a:solidFill>
                  <a:srgbClr val="55C8E8"/>
                </a:solidFill>
                <a:latin typeface="Calibri" pitchFamily="34" charset="0"/>
                <a:ea typeface="Calibri" pitchFamily="34" charset="-122"/>
                <a:cs typeface="Calibri" pitchFamily="34" charset="-120"/>
              </a:rPr>
              <a:t>CLUE BOX  ·  CONSEQUENCE 2</a:t>
            </a:r>
            <a:endParaRPr lang="en-US" sz="900" dirty="0"/>
          </a:p>
        </p:txBody>
      </p:sp>
      <p:sp>
        <p:nvSpPr>
          <p:cNvPr id="4" name="Text 2"/>
          <p:cNvSpPr/>
          <p:nvPr/>
        </p:nvSpPr>
        <p:spPr>
          <a:xfrm>
            <a:off x="0" y="109728"/>
            <a:ext cx="8778240" cy="274320"/>
          </a:xfrm>
          <a:prstGeom prst="rect">
            <a:avLst/>
          </a:prstGeom>
          <a:noFill/>
          <a:ln/>
        </p:spPr>
        <p:txBody>
          <a:bodyPr wrap="square" lIns="0" tIns="0" rIns="0" bIns="0" rtlCol="0" anchor="ctr"/>
          <a:lstStyle/>
          <a:p>
            <a:pPr algn="r" indent="0" marL="0">
              <a:buNone/>
            </a:pPr>
            <a:r>
              <a:rPr lang="en-US" sz="1000" dirty="0">
                <a:solidFill>
                  <a:srgbClr val="7A88A8"/>
                </a:solidFill>
                <a:latin typeface="Calibri" pitchFamily="34" charset="0"/>
                <a:ea typeface="Calibri" pitchFamily="34" charset="-122"/>
                <a:cs typeface="Calibri" pitchFamily="34" charset="-120"/>
              </a:rPr>
              <a:t>5 seconds — observe quietly</a:t>
            </a:r>
            <a:endParaRPr lang="en-US" sz="1000" dirty="0"/>
          </a:p>
        </p:txBody>
      </p:sp>
      <p:sp>
        <p:nvSpPr>
          <p:cNvPr id="5" name="Text 3"/>
          <p:cNvSpPr/>
          <p:nvPr/>
        </p:nvSpPr>
        <p:spPr>
          <a:xfrm>
            <a:off x="457200" y="640080"/>
            <a:ext cx="8229600" cy="457200"/>
          </a:xfrm>
          <a:prstGeom prst="rect">
            <a:avLst/>
          </a:prstGeom>
          <a:noFill/>
          <a:ln/>
        </p:spPr>
        <p:txBody>
          <a:bodyPr wrap="square" lIns="0" tIns="0" rIns="0" bIns="0" rtlCol="0" anchor="ctr"/>
          <a:lstStyle/>
          <a:p>
            <a:pPr algn="ctr" indent="0" marL="0">
              <a:buNone/>
            </a:pPr>
            <a:r>
              <a:rPr lang="en-US" sz="2600" b="1" dirty="0">
                <a:solidFill>
                  <a:srgbClr val="0E1C42"/>
                </a:solidFill>
                <a:latin typeface="Cambria" pitchFamily="34" charset="0"/>
                <a:ea typeface="Cambria" pitchFamily="34" charset="-122"/>
                <a:cs typeface="Cambria" pitchFamily="34" charset="-120"/>
              </a:rPr>
              <a:t>What do you notice about Scene A and Scene B?</a:t>
            </a:r>
            <a:endParaRPr lang="en-US" sz="2600" dirty="0"/>
          </a:p>
        </p:txBody>
      </p:sp>
      <p:sp>
        <p:nvSpPr>
          <p:cNvPr id="6" name="Shape 4"/>
          <p:cNvSpPr/>
          <p:nvPr/>
        </p:nvSpPr>
        <p:spPr>
          <a:xfrm>
            <a:off x="365760" y="1188720"/>
            <a:ext cx="3977640" cy="2468880"/>
          </a:xfrm>
          <a:prstGeom prst="roundRect">
            <a:avLst>
              <a:gd name="adj" fmla="val 4444"/>
            </a:avLst>
          </a:prstGeom>
          <a:solidFill>
            <a:srgbClr val="E2E8F4"/>
          </a:solidFill>
          <a:ln w="19050">
            <a:solidFill>
              <a:srgbClr val="B0B8CC"/>
            </a:solidFill>
            <a:prstDash val="dash"/>
          </a:ln>
        </p:spPr>
      </p:sp>
      <p:sp>
        <p:nvSpPr>
          <p:cNvPr id="7" name="Text 5"/>
          <p:cNvSpPr/>
          <p:nvPr/>
        </p:nvSpPr>
        <p:spPr>
          <a:xfrm>
            <a:off x="365760" y="1188720"/>
            <a:ext cx="397764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8" name="Text 6"/>
          <p:cNvSpPr/>
          <p:nvPr/>
        </p:nvSpPr>
        <p:spPr>
          <a:xfrm>
            <a:off x="502920" y="1463040"/>
            <a:ext cx="3703320" cy="210312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Scene A: Thriving Native American village — people farming, cooking, community life. Vibrant. No labels.</a:t>
            </a:r>
            <a:endParaRPr lang="en-US" sz="1100" dirty="0"/>
          </a:p>
        </p:txBody>
      </p:sp>
      <p:sp>
        <p:nvSpPr>
          <p:cNvPr id="9" name="Shape 7"/>
          <p:cNvSpPr/>
          <p:nvPr/>
        </p:nvSpPr>
        <p:spPr>
          <a:xfrm>
            <a:off x="4754880" y="1188720"/>
            <a:ext cx="3977640" cy="2468880"/>
          </a:xfrm>
          <a:prstGeom prst="roundRect">
            <a:avLst>
              <a:gd name="adj" fmla="val 4444"/>
            </a:avLst>
          </a:prstGeom>
          <a:solidFill>
            <a:srgbClr val="E2E8F4"/>
          </a:solidFill>
          <a:ln w="19050">
            <a:solidFill>
              <a:srgbClr val="B0B8CC"/>
            </a:solidFill>
            <a:prstDash val="dash"/>
          </a:ln>
        </p:spPr>
      </p:sp>
      <p:sp>
        <p:nvSpPr>
          <p:cNvPr id="10" name="Text 8"/>
          <p:cNvSpPr/>
          <p:nvPr/>
        </p:nvSpPr>
        <p:spPr>
          <a:xfrm>
            <a:off x="4754880" y="1188720"/>
            <a:ext cx="397764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1" name="Text 9"/>
          <p:cNvSpPr/>
          <p:nvPr/>
        </p:nvSpPr>
        <p:spPr>
          <a:xfrm>
            <a:off x="4892040" y="1463040"/>
            <a:ext cx="3703320" cy="210312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Scene B: Same type of village later — quieter, fewer people, some areas empty. Somber tone. No labels.</a:t>
            </a:r>
            <a:endParaRPr lang="en-US" sz="1100" dirty="0"/>
          </a:p>
        </p:txBody>
      </p:sp>
      <p:sp>
        <p:nvSpPr>
          <p:cNvPr id="12" name="Shape 10"/>
          <p:cNvSpPr/>
          <p:nvPr/>
        </p:nvSpPr>
        <p:spPr>
          <a:xfrm>
            <a:off x="365760" y="3730752"/>
            <a:ext cx="3977640" cy="256032"/>
          </a:xfrm>
          <a:prstGeom prst="roundRect">
            <a:avLst>
              <a:gd name="adj" fmla="val 28571"/>
            </a:avLst>
          </a:prstGeom>
          <a:solidFill>
            <a:srgbClr val="1A8A7D"/>
          </a:solidFill>
          <a:ln w="12700">
            <a:solidFill>
              <a:srgbClr val="1A8A7D"/>
            </a:solidFill>
            <a:prstDash val="solid"/>
          </a:ln>
        </p:spPr>
      </p:sp>
      <p:sp>
        <p:nvSpPr>
          <p:cNvPr id="13" name="Text 11"/>
          <p:cNvSpPr/>
          <p:nvPr/>
        </p:nvSpPr>
        <p:spPr>
          <a:xfrm>
            <a:off x="365760" y="3758184"/>
            <a:ext cx="3977640" cy="20116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Scene A</a:t>
            </a:r>
            <a:endParaRPr lang="en-US" sz="1000" dirty="0"/>
          </a:p>
        </p:txBody>
      </p:sp>
      <p:sp>
        <p:nvSpPr>
          <p:cNvPr id="14" name="Shape 12"/>
          <p:cNvSpPr/>
          <p:nvPr/>
        </p:nvSpPr>
        <p:spPr>
          <a:xfrm>
            <a:off x="4754880" y="3730752"/>
            <a:ext cx="3977640" cy="256032"/>
          </a:xfrm>
          <a:prstGeom prst="roundRect">
            <a:avLst>
              <a:gd name="adj" fmla="val 28571"/>
            </a:avLst>
          </a:prstGeom>
          <a:solidFill>
            <a:srgbClr val="E8636B"/>
          </a:solidFill>
          <a:ln w="12700">
            <a:solidFill>
              <a:srgbClr val="E8636B"/>
            </a:solidFill>
            <a:prstDash val="solid"/>
          </a:ln>
        </p:spPr>
      </p:sp>
      <p:sp>
        <p:nvSpPr>
          <p:cNvPr id="15" name="Text 13"/>
          <p:cNvSpPr/>
          <p:nvPr/>
        </p:nvSpPr>
        <p:spPr>
          <a:xfrm>
            <a:off x="4754880" y="3758184"/>
            <a:ext cx="3977640" cy="20116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Scene B</a:t>
            </a:r>
            <a:endParaRPr lang="en-US" sz="1000" dirty="0"/>
          </a:p>
        </p:txBody>
      </p:sp>
      <p:sp>
        <p:nvSpPr>
          <p:cNvPr id="16" name="Shape 14"/>
          <p:cNvSpPr/>
          <p:nvPr/>
        </p:nvSpPr>
        <p:spPr>
          <a:xfrm>
            <a:off x="365760" y="4087368"/>
            <a:ext cx="8412480" cy="685800"/>
          </a:xfrm>
          <a:prstGeom prst="roundRect">
            <a:avLst>
              <a:gd name="adj" fmla="val 16000"/>
            </a:avLst>
          </a:prstGeom>
          <a:solidFill>
            <a:srgbClr val="FFF3DC"/>
          </a:solidFill>
          <a:ln w="19050">
            <a:solidFill>
              <a:srgbClr val="F5E6C8"/>
            </a:solidFill>
            <a:prstDash val="solid"/>
          </a:ln>
        </p:spPr>
      </p:sp>
      <p:sp>
        <p:nvSpPr>
          <p:cNvPr id="17" name="Text 15"/>
          <p:cNvSpPr/>
          <p:nvPr/>
        </p:nvSpPr>
        <p:spPr>
          <a:xfrm>
            <a:off x="502920" y="4142232"/>
            <a:ext cx="813816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8" name="Text 16"/>
          <p:cNvSpPr/>
          <p:nvPr/>
        </p:nvSpPr>
        <p:spPr>
          <a:xfrm>
            <a:off x="502920" y="4343400"/>
            <a:ext cx="8138160" cy="36576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notice a difference between A and B..."</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wonder what happened because..."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4" name="Text 2"/>
          <p:cNvSpPr/>
          <p:nvPr/>
        </p:nvSpPr>
        <p:spPr>
          <a:xfrm>
            <a:off x="0" y="292608"/>
            <a:ext cx="9144000" cy="256032"/>
          </a:xfrm>
          <a:prstGeom prst="rect">
            <a:avLst/>
          </a:prstGeom>
          <a:noFill/>
          <a:ln/>
        </p:spPr>
        <p:txBody>
          <a:bodyPr wrap="square" lIns="0" tIns="0" rIns="0" bIns="0" rtlCol="0" anchor="ctr"/>
          <a:lstStyle/>
          <a:p>
            <a:pPr algn="ctr" indent="0" marL="0">
              <a:buNone/>
            </a:pPr>
            <a:r>
              <a:rPr lang="en-US" sz="900" b="1" spc="200" kern="0" dirty="0">
                <a:solidFill>
                  <a:srgbClr val="E8636B"/>
                </a:solidFill>
                <a:latin typeface="Calibri" pitchFamily="34" charset="0"/>
                <a:ea typeface="Calibri" pitchFamily="34" charset="-122"/>
                <a:cs typeface="Calibri" pitchFamily="34" charset="-120"/>
              </a:rPr>
              <a:t>CONSEQUENCE 2  ·  THE HARD TRUTH</a:t>
            </a:r>
            <a:endParaRPr lang="en-US" sz="900" dirty="0"/>
          </a:p>
        </p:txBody>
      </p:sp>
      <p:sp>
        <p:nvSpPr>
          <p:cNvPr id="5" name="Text 3"/>
          <p:cNvSpPr/>
          <p:nvPr/>
        </p:nvSpPr>
        <p:spPr>
          <a:xfrm>
            <a:off x="457200" y="658368"/>
            <a:ext cx="8229600" cy="658368"/>
          </a:xfrm>
          <a:prstGeom prst="rect">
            <a:avLst/>
          </a:prstGeom>
          <a:noFill/>
          <a:ln/>
        </p:spPr>
        <p:txBody>
          <a:bodyPr wrap="square" lIns="0" tIns="0" rIns="0" bIns="0" rtlCol="0" anchor="ctr"/>
          <a:lstStyle/>
          <a:p>
            <a:pPr algn="ctr" indent="0" marL="0">
              <a:buNone/>
            </a:pPr>
            <a:r>
              <a:rPr lang="en-US" sz="3400" b="1" dirty="0">
                <a:solidFill>
                  <a:srgbClr val="FFFFFF"/>
                </a:solidFill>
                <a:latin typeface="Cambria" pitchFamily="34" charset="0"/>
                <a:ea typeface="Cambria" pitchFamily="34" charset="-122"/>
                <a:cs typeface="Cambria" pitchFamily="34" charset="-120"/>
              </a:rPr>
              <a:t>Native Peoples Were Deeply Harmed</a:t>
            </a:r>
            <a:endParaRPr lang="en-US" sz="3400" dirty="0"/>
          </a:p>
        </p:txBody>
      </p:sp>
      <p:sp>
        <p:nvSpPr>
          <p:cNvPr id="6" name="Shape 4"/>
          <p:cNvSpPr/>
          <p:nvPr/>
        </p:nvSpPr>
        <p:spPr>
          <a:xfrm>
            <a:off x="365760" y="1463040"/>
            <a:ext cx="2606040" cy="1920240"/>
          </a:xfrm>
          <a:prstGeom prst="roundRect">
            <a:avLst>
              <a:gd name="adj" fmla="val 5714"/>
            </a:avLst>
          </a:prstGeom>
          <a:solidFill>
            <a:srgbClr val="1A2D5A"/>
          </a:solidFill>
          <a:ln w="19050">
            <a:solidFill>
              <a:srgbClr val="E8636B"/>
            </a:solidFill>
            <a:prstDash val="solid"/>
          </a:ln>
        </p:spPr>
      </p:sp>
      <p:sp>
        <p:nvSpPr>
          <p:cNvPr id="7" name="Text 5"/>
          <p:cNvSpPr/>
          <p:nvPr/>
        </p:nvSpPr>
        <p:spPr>
          <a:xfrm>
            <a:off x="502920" y="1554480"/>
            <a:ext cx="2331720" cy="274320"/>
          </a:xfrm>
          <a:prstGeom prst="rect">
            <a:avLst/>
          </a:prstGeom>
          <a:noFill/>
          <a:ln/>
        </p:spPr>
        <p:txBody>
          <a:bodyPr wrap="square" lIns="0" tIns="0" rIns="0" bIns="0" rtlCol="0" anchor="ctr"/>
          <a:lstStyle/>
          <a:p>
            <a:pPr algn="ctr" indent="0" marL="0">
              <a:buNone/>
            </a:pPr>
            <a:r>
              <a:rPr lang="en-US" sz="1400" b="1" dirty="0">
                <a:solidFill>
                  <a:srgbClr val="E8636B"/>
                </a:solidFill>
                <a:latin typeface="Calibri" pitchFamily="34" charset="0"/>
                <a:ea typeface="Calibri" pitchFamily="34" charset="-122"/>
                <a:cs typeface="Calibri" pitchFamily="34" charset="-120"/>
              </a:rPr>
              <a:t>Disease</a:t>
            </a:r>
            <a:endParaRPr lang="en-US" sz="1400" dirty="0"/>
          </a:p>
        </p:txBody>
      </p:sp>
      <p:sp>
        <p:nvSpPr>
          <p:cNvPr id="8" name="Text 6"/>
          <p:cNvSpPr/>
          <p:nvPr/>
        </p:nvSpPr>
        <p:spPr>
          <a:xfrm>
            <a:off x="502920" y="1847088"/>
            <a:ext cx="2331720" cy="1188720"/>
          </a:xfrm>
          <a:prstGeom prst="rect">
            <a:avLst/>
          </a:prstGeom>
          <a:noFill/>
          <a:ln/>
        </p:spPr>
        <p:txBody>
          <a:bodyPr wrap="square" lIns="0" tIns="0" rIns="0" bIns="0" rtlCol="0" anchor="t"/>
          <a:lstStyle/>
          <a:p>
            <a:pPr indent="0" marL="0">
              <a:buNone/>
            </a:pPr>
            <a:r>
              <a:rPr lang="en-US" sz="1200" dirty="0">
                <a:solidFill>
                  <a:srgbClr val="F0F2F8"/>
                </a:solidFill>
                <a:latin typeface="Calibri" pitchFamily="34" charset="0"/>
                <a:ea typeface="Calibri" pitchFamily="34" charset="-122"/>
                <a:cs typeface="Calibri" pitchFamily="34" charset="-120"/>
              </a:rPr>
              <a:t>Explorers brought diseases like smallpox. Native peoples had never been exposed, so many became very sick and died.</a:t>
            </a:r>
            <a:endParaRPr lang="en-US" sz="1200" dirty="0"/>
          </a:p>
        </p:txBody>
      </p:sp>
      <p:sp>
        <p:nvSpPr>
          <p:cNvPr id="9" name="Shape 7"/>
          <p:cNvSpPr/>
          <p:nvPr/>
        </p:nvSpPr>
        <p:spPr>
          <a:xfrm>
            <a:off x="3273552" y="1463040"/>
            <a:ext cx="2606040" cy="1920240"/>
          </a:xfrm>
          <a:prstGeom prst="roundRect">
            <a:avLst>
              <a:gd name="adj" fmla="val 5714"/>
            </a:avLst>
          </a:prstGeom>
          <a:solidFill>
            <a:srgbClr val="1A2D5A"/>
          </a:solidFill>
          <a:ln w="19050">
            <a:solidFill>
              <a:srgbClr val="E8636B"/>
            </a:solidFill>
            <a:prstDash val="solid"/>
          </a:ln>
        </p:spPr>
      </p:sp>
      <p:sp>
        <p:nvSpPr>
          <p:cNvPr id="10" name="Text 8"/>
          <p:cNvSpPr/>
          <p:nvPr/>
        </p:nvSpPr>
        <p:spPr>
          <a:xfrm>
            <a:off x="3410712" y="1554480"/>
            <a:ext cx="2331720" cy="274320"/>
          </a:xfrm>
          <a:prstGeom prst="rect">
            <a:avLst/>
          </a:prstGeom>
          <a:noFill/>
          <a:ln/>
        </p:spPr>
        <p:txBody>
          <a:bodyPr wrap="square" lIns="0" tIns="0" rIns="0" bIns="0" rtlCol="0" anchor="ctr"/>
          <a:lstStyle/>
          <a:p>
            <a:pPr algn="ctr" indent="0" marL="0">
              <a:buNone/>
            </a:pPr>
            <a:r>
              <a:rPr lang="en-US" sz="1400" b="1" dirty="0">
                <a:solidFill>
                  <a:srgbClr val="E8636B"/>
                </a:solidFill>
                <a:latin typeface="Calibri" pitchFamily="34" charset="0"/>
                <a:ea typeface="Calibri" pitchFamily="34" charset="-122"/>
                <a:cs typeface="Calibri" pitchFamily="34" charset="-120"/>
              </a:rPr>
              <a:t>Loss of Land</a:t>
            </a:r>
            <a:endParaRPr lang="en-US" sz="1400" dirty="0"/>
          </a:p>
        </p:txBody>
      </p:sp>
      <p:sp>
        <p:nvSpPr>
          <p:cNvPr id="11" name="Text 9"/>
          <p:cNvSpPr/>
          <p:nvPr/>
        </p:nvSpPr>
        <p:spPr>
          <a:xfrm>
            <a:off x="3410712" y="1847088"/>
            <a:ext cx="2331720" cy="1188720"/>
          </a:xfrm>
          <a:prstGeom prst="rect">
            <a:avLst/>
          </a:prstGeom>
          <a:noFill/>
          <a:ln/>
        </p:spPr>
        <p:txBody>
          <a:bodyPr wrap="square" lIns="0" tIns="0" rIns="0" bIns="0" rtlCol="0" anchor="t"/>
          <a:lstStyle/>
          <a:p>
            <a:pPr indent="0" marL="0">
              <a:buNone/>
            </a:pPr>
            <a:r>
              <a:rPr lang="en-US" sz="1200" dirty="0">
                <a:solidFill>
                  <a:srgbClr val="F0F2F8"/>
                </a:solidFill>
                <a:latin typeface="Calibri" pitchFamily="34" charset="0"/>
                <a:ea typeface="Calibri" pitchFamily="34" charset="-122"/>
                <a:cs typeface="Calibri" pitchFamily="34" charset="-120"/>
              </a:rPr>
              <a:t>Explorers took land that belonged to native peoples — land their families had lived on for generations.</a:t>
            </a:r>
            <a:endParaRPr lang="en-US" sz="1200" dirty="0"/>
          </a:p>
        </p:txBody>
      </p:sp>
      <p:sp>
        <p:nvSpPr>
          <p:cNvPr id="12" name="Shape 10"/>
          <p:cNvSpPr/>
          <p:nvPr/>
        </p:nvSpPr>
        <p:spPr>
          <a:xfrm>
            <a:off x="6172200" y="1463040"/>
            <a:ext cx="2606040" cy="1920240"/>
          </a:xfrm>
          <a:prstGeom prst="roundRect">
            <a:avLst>
              <a:gd name="adj" fmla="val 5714"/>
            </a:avLst>
          </a:prstGeom>
          <a:solidFill>
            <a:srgbClr val="1A2D5A"/>
          </a:solidFill>
          <a:ln w="19050">
            <a:solidFill>
              <a:srgbClr val="E8636B"/>
            </a:solidFill>
            <a:prstDash val="solid"/>
          </a:ln>
        </p:spPr>
      </p:sp>
      <p:sp>
        <p:nvSpPr>
          <p:cNvPr id="13" name="Text 11"/>
          <p:cNvSpPr/>
          <p:nvPr/>
        </p:nvSpPr>
        <p:spPr>
          <a:xfrm>
            <a:off x="6309360" y="1554480"/>
            <a:ext cx="2331720" cy="274320"/>
          </a:xfrm>
          <a:prstGeom prst="rect">
            <a:avLst/>
          </a:prstGeom>
          <a:noFill/>
          <a:ln/>
        </p:spPr>
        <p:txBody>
          <a:bodyPr wrap="square" lIns="0" tIns="0" rIns="0" bIns="0" rtlCol="0" anchor="ctr"/>
          <a:lstStyle/>
          <a:p>
            <a:pPr algn="ctr" indent="0" marL="0">
              <a:buNone/>
            </a:pPr>
            <a:r>
              <a:rPr lang="en-US" sz="1400" b="1" dirty="0">
                <a:solidFill>
                  <a:srgbClr val="E8636B"/>
                </a:solidFill>
                <a:latin typeface="Calibri" pitchFamily="34" charset="0"/>
                <a:ea typeface="Calibri" pitchFamily="34" charset="-122"/>
                <a:cs typeface="Calibri" pitchFamily="34" charset="-120"/>
              </a:rPr>
              <a:t>Forced Labor</a:t>
            </a:r>
            <a:endParaRPr lang="en-US" sz="1400" dirty="0"/>
          </a:p>
        </p:txBody>
      </p:sp>
      <p:sp>
        <p:nvSpPr>
          <p:cNvPr id="14" name="Text 12"/>
          <p:cNvSpPr/>
          <p:nvPr/>
        </p:nvSpPr>
        <p:spPr>
          <a:xfrm>
            <a:off x="6309360" y="1847088"/>
            <a:ext cx="2331720" cy="1188720"/>
          </a:xfrm>
          <a:prstGeom prst="rect">
            <a:avLst/>
          </a:prstGeom>
          <a:noFill/>
          <a:ln/>
        </p:spPr>
        <p:txBody>
          <a:bodyPr wrap="square" lIns="0" tIns="0" rIns="0" bIns="0" rtlCol="0" anchor="t"/>
          <a:lstStyle/>
          <a:p>
            <a:pPr indent="0" marL="0">
              <a:buNone/>
            </a:pPr>
            <a:r>
              <a:rPr lang="en-US" sz="1200" dirty="0">
                <a:solidFill>
                  <a:srgbClr val="F0F2F8"/>
                </a:solidFill>
                <a:latin typeface="Calibri" pitchFamily="34" charset="0"/>
                <a:ea typeface="Calibri" pitchFamily="34" charset="-122"/>
                <a:cs typeface="Calibri" pitchFamily="34" charset="-120"/>
              </a:rPr>
              <a:t>Some explorers forced native people to work or give up their way of life. This was wrong.</a:t>
            </a:r>
            <a:endParaRPr lang="en-US" sz="1200" dirty="0"/>
          </a:p>
        </p:txBody>
      </p:sp>
      <p:sp>
        <p:nvSpPr>
          <p:cNvPr id="15" name="Shape 13"/>
          <p:cNvSpPr/>
          <p:nvPr/>
        </p:nvSpPr>
        <p:spPr>
          <a:xfrm>
            <a:off x="914400" y="3538728"/>
            <a:ext cx="7315200" cy="502920"/>
          </a:xfrm>
          <a:prstGeom prst="roundRect">
            <a:avLst>
              <a:gd name="adj" fmla="val 18182"/>
            </a:avLst>
          </a:prstGeom>
          <a:solidFill>
            <a:srgbClr val="1A2D5A"/>
          </a:solidFill>
          <a:ln w="19050">
            <a:solidFill>
              <a:srgbClr val="E8636B"/>
            </a:solidFill>
            <a:prstDash val="solid"/>
          </a:ln>
        </p:spPr>
      </p:sp>
      <p:sp>
        <p:nvSpPr>
          <p:cNvPr id="16" name="Text 14"/>
          <p:cNvSpPr/>
          <p:nvPr/>
        </p:nvSpPr>
        <p:spPr>
          <a:xfrm>
            <a:off x="1005840" y="3584448"/>
            <a:ext cx="7132320" cy="411480"/>
          </a:xfrm>
          <a:prstGeom prst="rect">
            <a:avLst/>
          </a:prstGeom>
          <a:noFill/>
          <a:ln/>
        </p:spPr>
        <p:txBody>
          <a:bodyPr wrap="square" lIns="0" tIns="0" rIns="0" bIns="0" rtlCol="0" anchor="ctr"/>
          <a:lstStyle/>
          <a:p>
            <a:pPr algn="ctr" indent="0" marL="0">
              <a:buNone/>
            </a:pPr>
            <a:r>
              <a:rPr lang="en-US" sz="1500" b="1" i="1" dirty="0">
                <a:solidFill>
                  <a:srgbClr val="FFFFFF"/>
                </a:solidFill>
                <a:latin typeface="Cambria" pitchFamily="34" charset="0"/>
                <a:ea typeface="Cambria" pitchFamily="34" charset="-122"/>
                <a:cs typeface="Cambria" pitchFamily="34" charset="-120"/>
              </a:rPr>
              <a:t>These are facts that an honest exhibit must include.</a:t>
            </a:r>
            <a:endParaRPr lang="en-US" sz="1500" dirty="0"/>
          </a:p>
        </p:txBody>
      </p:sp>
      <p:sp>
        <p:nvSpPr>
          <p:cNvPr id="17" name="Shape 15"/>
          <p:cNvSpPr/>
          <p:nvPr/>
        </p:nvSpPr>
        <p:spPr>
          <a:xfrm>
            <a:off x="365760" y="4160520"/>
            <a:ext cx="8412480" cy="658368"/>
          </a:xfrm>
          <a:prstGeom prst="roundRect">
            <a:avLst>
              <a:gd name="adj" fmla="val 16667"/>
            </a:avLst>
          </a:prstGeom>
          <a:solidFill>
            <a:srgbClr val="FFF3DC"/>
          </a:solidFill>
          <a:ln w="19050">
            <a:solidFill>
              <a:srgbClr val="F5E6C8"/>
            </a:solidFill>
            <a:prstDash val="solid"/>
          </a:ln>
        </p:spPr>
      </p:sp>
      <p:sp>
        <p:nvSpPr>
          <p:cNvPr id="18" name="Text 16"/>
          <p:cNvSpPr/>
          <p:nvPr/>
        </p:nvSpPr>
        <p:spPr>
          <a:xfrm>
            <a:off x="502920" y="4215384"/>
            <a:ext cx="813816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9" name="Text 17"/>
          <p:cNvSpPr/>
          <p:nvPr/>
        </p:nvSpPr>
        <p:spPr>
          <a:xfrm>
            <a:off x="502920" y="4416552"/>
            <a:ext cx="8138160" cy="338328"/>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think it is important to include this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"An honest exhibit tells..."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E1C42"/>
          </a:solidFill>
          <a:ln w="12700">
            <a:solidFill>
              <a:srgbClr val="0E1C42"/>
            </a:solidFill>
            <a:prstDash val="solid"/>
          </a:ln>
        </p:spPr>
      </p:sp>
      <p:sp>
        <p:nvSpPr>
          <p:cNvPr id="3" name="Text 1"/>
          <p:cNvSpPr/>
          <p:nvPr/>
        </p:nvSpPr>
        <p:spPr>
          <a:xfrm>
            <a:off x="274320" y="109728"/>
            <a:ext cx="4572000" cy="274320"/>
          </a:xfrm>
          <a:prstGeom prst="rect">
            <a:avLst/>
          </a:prstGeom>
          <a:noFill/>
          <a:ln/>
        </p:spPr>
        <p:txBody>
          <a:bodyPr wrap="square" lIns="0" tIns="0" rIns="0" bIns="0" rtlCol="0" anchor="ctr"/>
          <a:lstStyle/>
          <a:p>
            <a:pPr indent="0" marL="0">
              <a:buNone/>
            </a:pPr>
            <a:r>
              <a:rPr lang="en-US" sz="900" b="1" spc="200" kern="0" dirty="0">
                <a:solidFill>
                  <a:srgbClr val="55C8E8"/>
                </a:solidFill>
                <a:latin typeface="Calibri" pitchFamily="34" charset="0"/>
                <a:ea typeface="Calibri" pitchFamily="34" charset="-122"/>
                <a:cs typeface="Calibri" pitchFamily="34" charset="-120"/>
              </a:rPr>
              <a:t>CLUE BOX  ·  CONSEQUENCE 3</a:t>
            </a:r>
            <a:endParaRPr lang="en-US" sz="900" dirty="0"/>
          </a:p>
        </p:txBody>
      </p:sp>
      <p:sp>
        <p:nvSpPr>
          <p:cNvPr id="4" name="Text 2"/>
          <p:cNvSpPr/>
          <p:nvPr/>
        </p:nvSpPr>
        <p:spPr>
          <a:xfrm>
            <a:off x="0" y="109728"/>
            <a:ext cx="8778240" cy="274320"/>
          </a:xfrm>
          <a:prstGeom prst="rect">
            <a:avLst/>
          </a:prstGeom>
          <a:noFill/>
          <a:ln/>
        </p:spPr>
        <p:txBody>
          <a:bodyPr wrap="square" lIns="0" tIns="0" rIns="0" bIns="0" rtlCol="0" anchor="ctr"/>
          <a:lstStyle/>
          <a:p>
            <a:pPr algn="r" indent="0" marL="0">
              <a:buNone/>
            </a:pPr>
            <a:r>
              <a:rPr lang="en-US" sz="1000" dirty="0">
                <a:solidFill>
                  <a:srgbClr val="7A88A8"/>
                </a:solidFill>
                <a:latin typeface="Calibri" pitchFamily="34" charset="0"/>
                <a:ea typeface="Calibri" pitchFamily="34" charset="-122"/>
                <a:cs typeface="Calibri" pitchFamily="34" charset="-120"/>
              </a:rPr>
              <a:t>What do you notice?</a:t>
            </a:r>
            <a:endParaRPr lang="en-US" sz="1000" dirty="0"/>
          </a:p>
        </p:txBody>
      </p:sp>
      <p:sp>
        <p:nvSpPr>
          <p:cNvPr id="5" name="Text 3"/>
          <p:cNvSpPr/>
          <p:nvPr/>
        </p:nvSpPr>
        <p:spPr>
          <a:xfrm>
            <a:off x="457200" y="640080"/>
            <a:ext cx="8229600" cy="457200"/>
          </a:xfrm>
          <a:prstGeom prst="rect">
            <a:avLst/>
          </a:prstGeom>
          <a:noFill/>
          <a:ln/>
        </p:spPr>
        <p:txBody>
          <a:bodyPr wrap="square" lIns="0" tIns="0" rIns="0" bIns="0" rtlCol="0" anchor="ctr"/>
          <a:lstStyle/>
          <a:p>
            <a:pPr algn="ctr" indent="0" marL="0">
              <a:buNone/>
            </a:pPr>
            <a:r>
              <a:rPr lang="en-US" sz="2600" b="1" dirty="0">
                <a:solidFill>
                  <a:srgbClr val="0E1C42"/>
                </a:solidFill>
                <a:latin typeface="Cambria" pitchFamily="34" charset="0"/>
                <a:ea typeface="Cambria" pitchFamily="34" charset="-122"/>
                <a:cs typeface="Cambria" pitchFamily="34" charset="-120"/>
              </a:rPr>
              <a:t>Look at this map. What connections do you see?</a:t>
            </a:r>
            <a:endParaRPr lang="en-US" sz="2600" dirty="0"/>
          </a:p>
        </p:txBody>
      </p:sp>
      <p:sp>
        <p:nvSpPr>
          <p:cNvPr id="6" name="Shape 4"/>
          <p:cNvSpPr/>
          <p:nvPr/>
        </p:nvSpPr>
        <p:spPr>
          <a:xfrm>
            <a:off x="457200" y="1188720"/>
            <a:ext cx="8229600" cy="2560320"/>
          </a:xfrm>
          <a:prstGeom prst="roundRect">
            <a:avLst>
              <a:gd name="adj" fmla="val 4286"/>
            </a:avLst>
          </a:prstGeom>
          <a:solidFill>
            <a:srgbClr val="E2E8F4"/>
          </a:solidFill>
          <a:ln w="19050">
            <a:solidFill>
              <a:srgbClr val="B0B8CC"/>
            </a:solidFill>
            <a:prstDash val="dash"/>
          </a:ln>
        </p:spPr>
      </p:sp>
      <p:sp>
        <p:nvSpPr>
          <p:cNvPr id="7" name="Text 5"/>
          <p:cNvSpPr/>
          <p:nvPr/>
        </p:nvSpPr>
        <p:spPr>
          <a:xfrm>
            <a:off x="457200" y="1188720"/>
            <a:ext cx="822960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8" name="Text 6"/>
          <p:cNvSpPr/>
          <p:nvPr/>
        </p:nvSpPr>
        <p:spPr>
          <a:xfrm>
            <a:off x="594360" y="1463040"/>
            <a:ext cx="7955280" cy="219456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World map showing Age of Exploration trade routes — thick lines connecting Europe, the Americas, Africa, and Asia. Clean, educational illustration. Route labels not yet visible.</a:t>
            </a:r>
            <a:endParaRPr lang="en-US" sz="1100" dirty="0"/>
          </a:p>
        </p:txBody>
      </p:sp>
      <p:sp>
        <p:nvSpPr>
          <p:cNvPr id="9" name="Shape 7"/>
          <p:cNvSpPr/>
          <p:nvPr/>
        </p:nvSpPr>
        <p:spPr>
          <a:xfrm>
            <a:off x="457200" y="3858768"/>
            <a:ext cx="8229600" cy="685800"/>
          </a:xfrm>
          <a:prstGeom prst="roundRect">
            <a:avLst>
              <a:gd name="adj" fmla="val 16000"/>
            </a:avLst>
          </a:prstGeom>
          <a:solidFill>
            <a:srgbClr val="FFF3DC"/>
          </a:solidFill>
          <a:ln w="19050">
            <a:solidFill>
              <a:srgbClr val="F5E6C8"/>
            </a:solidFill>
            <a:prstDash val="solid"/>
          </a:ln>
        </p:spPr>
      </p:sp>
      <p:sp>
        <p:nvSpPr>
          <p:cNvPr id="10" name="Text 8"/>
          <p:cNvSpPr/>
          <p:nvPr/>
        </p:nvSpPr>
        <p:spPr>
          <a:xfrm>
            <a:off x="594360" y="3913632"/>
            <a:ext cx="795528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1" name="Text 9"/>
          <p:cNvSpPr/>
          <p:nvPr/>
        </p:nvSpPr>
        <p:spPr>
          <a:xfrm>
            <a:off x="594360" y="4114800"/>
            <a:ext cx="7955280" cy="36576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notice lines connecting..."</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wonder what these routes were used for..."</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4" name="Text 2"/>
          <p:cNvSpPr/>
          <p:nvPr/>
        </p:nvSpPr>
        <p:spPr>
          <a:xfrm>
            <a:off x="0" y="292608"/>
            <a:ext cx="9144000" cy="256032"/>
          </a:xfrm>
          <a:prstGeom prst="rect">
            <a:avLst/>
          </a:prstGeom>
          <a:noFill/>
          <a:ln/>
        </p:spPr>
        <p:txBody>
          <a:bodyPr wrap="square" lIns="0" tIns="0" rIns="0" bIns="0" rtlCol="0" anchor="ctr"/>
          <a:lstStyle/>
          <a:p>
            <a:pPr algn="ctr" indent="0" marL="0">
              <a:buNone/>
            </a:pPr>
            <a:r>
              <a:rPr lang="en-US" sz="900" b="1" spc="200" kern="0" dirty="0">
                <a:solidFill>
                  <a:srgbClr val="55C8E8"/>
                </a:solidFill>
                <a:latin typeface="Calibri" pitchFamily="34" charset="0"/>
                <a:ea typeface="Calibri" pitchFamily="34" charset="-122"/>
                <a:cs typeface="Calibri" pitchFamily="34" charset="-120"/>
              </a:rPr>
              <a:t>CONSEQUENCE 3  ·  UNLOCKED</a:t>
            </a:r>
            <a:endParaRPr lang="en-US" sz="900" dirty="0"/>
          </a:p>
        </p:txBody>
      </p:sp>
      <p:sp>
        <p:nvSpPr>
          <p:cNvPr id="5" name="Text 3"/>
          <p:cNvSpPr/>
          <p:nvPr/>
        </p:nvSpPr>
        <p:spPr>
          <a:xfrm>
            <a:off x="457200" y="658368"/>
            <a:ext cx="8229600" cy="594360"/>
          </a:xfrm>
          <a:prstGeom prst="rect">
            <a:avLst/>
          </a:prstGeom>
          <a:noFill/>
          <a:ln/>
        </p:spPr>
        <p:txBody>
          <a:bodyPr wrap="square" lIns="0" tIns="0" rIns="0" bIns="0" rtlCol="0" anchor="ctr"/>
          <a:lstStyle/>
          <a:p>
            <a:pPr algn="ctr" indent="0" marL="0">
              <a:buNone/>
            </a:pPr>
            <a:r>
              <a:rPr lang="en-US" sz="3800" b="1" dirty="0">
                <a:solidFill>
                  <a:srgbClr val="D4943A"/>
                </a:solidFill>
                <a:latin typeface="Cambria" pitchFamily="34" charset="0"/>
                <a:ea typeface="Cambria" pitchFamily="34" charset="-122"/>
                <a:cs typeface="Cambria" pitchFamily="34" charset="-120"/>
              </a:rPr>
              <a:t>A Connected World</a:t>
            </a:r>
            <a:endParaRPr lang="en-US" sz="3800" dirty="0"/>
          </a:p>
        </p:txBody>
      </p:sp>
      <p:sp>
        <p:nvSpPr>
          <p:cNvPr id="6" name="Shape 4"/>
          <p:cNvSpPr/>
          <p:nvPr/>
        </p:nvSpPr>
        <p:spPr>
          <a:xfrm>
            <a:off x="1371600" y="1389888"/>
            <a:ext cx="6400800" cy="548640"/>
          </a:xfrm>
          <a:prstGeom prst="roundRect">
            <a:avLst>
              <a:gd name="adj" fmla="val 20000"/>
            </a:avLst>
          </a:prstGeom>
          <a:solidFill>
            <a:srgbClr val="1A2D5A"/>
          </a:solidFill>
          <a:ln w="19050">
            <a:solidFill>
              <a:srgbClr val="D4943A"/>
            </a:solidFill>
            <a:prstDash val="solid"/>
          </a:ln>
        </p:spPr>
      </p:sp>
      <p:sp>
        <p:nvSpPr>
          <p:cNvPr id="7" name="Text 5"/>
          <p:cNvSpPr/>
          <p:nvPr/>
        </p:nvSpPr>
        <p:spPr>
          <a:xfrm>
            <a:off x="1554480" y="1435608"/>
            <a:ext cx="6035040" cy="457200"/>
          </a:xfrm>
          <a:prstGeom prst="rect">
            <a:avLst/>
          </a:prstGeom>
          <a:noFill/>
          <a:ln/>
        </p:spPr>
        <p:txBody>
          <a:bodyPr wrap="square" lIns="0" tIns="0" rIns="0" bIns="0" rtlCol="0" anchor="ctr"/>
          <a:lstStyle/>
          <a:p>
            <a:pPr algn="ctr" indent="0" marL="0">
              <a:buNone/>
            </a:pPr>
            <a:r>
              <a:rPr lang="en-US" sz="1400" i="1" dirty="0">
                <a:solidFill>
                  <a:srgbClr val="FFFFFF"/>
                </a:solidFill>
                <a:latin typeface="Cambria" pitchFamily="34" charset="0"/>
                <a:ea typeface="Cambria" pitchFamily="34" charset="-122"/>
                <a:cs typeface="Cambria" pitchFamily="34" charset="-120"/>
              </a:rPr>
              <a:t>Exploration created trade routes linking Europe, the Americas, Africa, and Asia.</a:t>
            </a:r>
            <a:endParaRPr lang="en-US" sz="1400" dirty="0"/>
          </a:p>
        </p:txBody>
      </p:sp>
      <p:sp>
        <p:nvSpPr>
          <p:cNvPr id="8" name="Shape 6"/>
          <p:cNvSpPr/>
          <p:nvPr/>
        </p:nvSpPr>
        <p:spPr>
          <a:xfrm>
            <a:off x="365760" y="2084832"/>
            <a:ext cx="3931920" cy="1463040"/>
          </a:xfrm>
          <a:prstGeom prst="roundRect">
            <a:avLst>
              <a:gd name="adj" fmla="val 7500"/>
            </a:avLst>
          </a:prstGeom>
          <a:solidFill>
            <a:srgbClr val="1A2D5A"/>
          </a:solidFill>
          <a:ln w="12700">
            <a:solidFill>
              <a:srgbClr val="55C8E8"/>
            </a:solidFill>
            <a:prstDash val="solid"/>
          </a:ln>
        </p:spPr>
      </p:sp>
      <p:sp>
        <p:nvSpPr>
          <p:cNvPr id="9" name="Text 7"/>
          <p:cNvSpPr/>
          <p:nvPr/>
        </p:nvSpPr>
        <p:spPr>
          <a:xfrm>
            <a:off x="548640" y="2176272"/>
            <a:ext cx="3566160" cy="256032"/>
          </a:xfrm>
          <a:prstGeom prst="rect">
            <a:avLst/>
          </a:prstGeom>
          <a:noFill/>
          <a:ln/>
        </p:spPr>
        <p:txBody>
          <a:bodyPr wrap="square" lIns="0" tIns="0" rIns="0" bIns="0" rtlCol="0" anchor="ctr"/>
          <a:lstStyle/>
          <a:p>
            <a:pPr indent="0" marL="0">
              <a:buNone/>
            </a:pPr>
            <a:r>
              <a:rPr lang="en-US" sz="1200" b="1" dirty="0">
                <a:solidFill>
                  <a:srgbClr val="55C8E8"/>
                </a:solidFill>
                <a:latin typeface="Calibri" pitchFamily="34" charset="0"/>
                <a:ea typeface="Calibri" pitchFamily="34" charset="-122"/>
                <a:cs typeface="Calibri" pitchFamily="34" charset="-120"/>
              </a:rPr>
              <a:t>What Moved</a:t>
            </a:r>
            <a:endParaRPr lang="en-US" sz="1200" dirty="0"/>
          </a:p>
        </p:txBody>
      </p:sp>
      <p:sp>
        <p:nvSpPr>
          <p:cNvPr id="10" name="Text 8"/>
          <p:cNvSpPr/>
          <p:nvPr/>
        </p:nvSpPr>
        <p:spPr>
          <a:xfrm>
            <a:off x="548640" y="2450592"/>
            <a:ext cx="3566160" cy="914400"/>
          </a:xfrm>
          <a:prstGeom prst="rect">
            <a:avLst/>
          </a:prstGeom>
          <a:noFill/>
          <a:ln/>
        </p:spPr>
        <p:txBody>
          <a:bodyPr wrap="square" lIns="0" tIns="0" rIns="0" bIns="0" rtlCol="0" anchor="t"/>
          <a:lstStyle/>
          <a:p>
            <a:pPr indent="0" marL="0">
              <a:buNone/>
            </a:pPr>
            <a:r>
              <a:rPr lang="en-US" sz="1200" dirty="0">
                <a:solidFill>
                  <a:srgbClr val="F0F2F8"/>
                </a:solidFill>
                <a:latin typeface="Calibri" pitchFamily="34" charset="0"/>
                <a:ea typeface="Calibri" pitchFamily="34" charset="-122"/>
                <a:cs typeface="Calibri" pitchFamily="34" charset="-120"/>
              </a:rPr>
              <a:t>Goods, ideas, and people moved across oceans. Spices from Asia. Silver from the Americas. Fabrics from Africa.</a:t>
            </a:r>
            <a:endParaRPr lang="en-US" sz="1200" dirty="0"/>
          </a:p>
        </p:txBody>
      </p:sp>
      <p:sp>
        <p:nvSpPr>
          <p:cNvPr id="11" name="Shape 9"/>
          <p:cNvSpPr/>
          <p:nvPr/>
        </p:nvSpPr>
        <p:spPr>
          <a:xfrm>
            <a:off x="4572000" y="2084832"/>
            <a:ext cx="3931920" cy="1463040"/>
          </a:xfrm>
          <a:prstGeom prst="roundRect">
            <a:avLst>
              <a:gd name="adj" fmla="val 7500"/>
            </a:avLst>
          </a:prstGeom>
          <a:solidFill>
            <a:srgbClr val="1A2D5A"/>
          </a:solidFill>
          <a:ln w="12700">
            <a:solidFill>
              <a:srgbClr val="D4943A"/>
            </a:solidFill>
            <a:prstDash val="solid"/>
          </a:ln>
        </p:spPr>
      </p:sp>
      <p:sp>
        <p:nvSpPr>
          <p:cNvPr id="12" name="Text 10"/>
          <p:cNvSpPr/>
          <p:nvPr/>
        </p:nvSpPr>
        <p:spPr>
          <a:xfrm>
            <a:off x="4754880" y="2176272"/>
            <a:ext cx="3566160" cy="256032"/>
          </a:xfrm>
          <a:prstGeom prst="rect">
            <a:avLst/>
          </a:prstGeom>
          <a:noFill/>
          <a:ln/>
        </p:spPr>
        <p:txBody>
          <a:bodyPr wrap="square" lIns="0" tIns="0" rIns="0" bIns="0" rtlCol="0" anchor="ctr"/>
          <a:lstStyle/>
          <a:p>
            <a:pPr indent="0" marL="0">
              <a:buNone/>
            </a:pPr>
            <a:r>
              <a:rPr lang="en-US" sz="1200" b="1" dirty="0">
                <a:solidFill>
                  <a:srgbClr val="D4943A"/>
                </a:solidFill>
                <a:latin typeface="Calibri" pitchFamily="34" charset="0"/>
                <a:ea typeface="Calibri" pitchFamily="34" charset="-122"/>
                <a:cs typeface="Calibri" pitchFamily="34" charset="-120"/>
              </a:rPr>
              <a:t>The Cost</a:t>
            </a:r>
            <a:endParaRPr lang="en-US" sz="1200" dirty="0"/>
          </a:p>
        </p:txBody>
      </p:sp>
      <p:sp>
        <p:nvSpPr>
          <p:cNvPr id="13" name="Text 11"/>
          <p:cNvSpPr/>
          <p:nvPr/>
        </p:nvSpPr>
        <p:spPr>
          <a:xfrm>
            <a:off x="4754880" y="2450592"/>
            <a:ext cx="3566160" cy="914400"/>
          </a:xfrm>
          <a:prstGeom prst="rect">
            <a:avLst/>
          </a:prstGeom>
          <a:noFill/>
          <a:ln/>
        </p:spPr>
        <p:txBody>
          <a:bodyPr wrap="square" lIns="0" tIns="0" rIns="0" bIns="0" rtlCol="0" anchor="t"/>
          <a:lstStyle/>
          <a:p>
            <a:pPr indent="0" marL="0">
              <a:buNone/>
            </a:pPr>
            <a:r>
              <a:rPr lang="en-US" sz="1200" dirty="0">
                <a:solidFill>
                  <a:srgbClr val="F0F2F8"/>
                </a:solidFill>
                <a:latin typeface="Calibri" pitchFamily="34" charset="0"/>
                <a:ea typeface="Calibri" pitchFamily="34" charset="-122"/>
                <a:cs typeface="Calibri" pitchFamily="34" charset="-120"/>
              </a:rPr>
              <a:t>This connection shaped the world we live in today — but it came at a very high cost for many people.</a:t>
            </a:r>
            <a:endParaRPr lang="en-US" sz="1200" dirty="0"/>
          </a:p>
        </p:txBody>
      </p:sp>
      <p:sp>
        <p:nvSpPr>
          <p:cNvPr id="14" name="Shape 12"/>
          <p:cNvSpPr/>
          <p:nvPr/>
        </p:nvSpPr>
        <p:spPr>
          <a:xfrm>
            <a:off x="365760" y="3703320"/>
            <a:ext cx="8412480" cy="640080"/>
          </a:xfrm>
          <a:prstGeom prst="roundRect">
            <a:avLst>
              <a:gd name="adj" fmla="val 17143"/>
            </a:avLst>
          </a:prstGeom>
          <a:solidFill>
            <a:srgbClr val="FFF3DC"/>
          </a:solidFill>
          <a:ln w="19050">
            <a:solidFill>
              <a:srgbClr val="F5E6C8"/>
            </a:solidFill>
            <a:prstDash val="solid"/>
          </a:ln>
        </p:spPr>
      </p:sp>
      <p:sp>
        <p:nvSpPr>
          <p:cNvPr id="15" name="Text 13"/>
          <p:cNvSpPr/>
          <p:nvPr/>
        </p:nvSpPr>
        <p:spPr>
          <a:xfrm>
            <a:off x="502920" y="3758184"/>
            <a:ext cx="813816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6" name="Text 14"/>
          <p:cNvSpPr/>
          <p:nvPr/>
        </p:nvSpPr>
        <p:spPr>
          <a:xfrm>
            <a:off x="502920" y="3959352"/>
            <a:ext cx="8138160" cy="32004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world became connected, but..."</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think the 'high cost' means..."</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4" name="Text 2"/>
          <p:cNvSpPr/>
          <p:nvPr/>
        </p:nvSpPr>
        <p:spPr>
          <a:xfrm>
            <a:off x="0" y="292608"/>
            <a:ext cx="9144000" cy="256032"/>
          </a:xfrm>
          <a:prstGeom prst="rect">
            <a:avLst/>
          </a:prstGeom>
          <a:noFill/>
          <a:ln/>
        </p:spPr>
        <p:txBody>
          <a:bodyPr wrap="square" lIns="0" tIns="0" rIns="0" bIns="0" rtlCol="0" anchor="ctr"/>
          <a:lstStyle/>
          <a:p>
            <a:pPr algn="ctr" indent="0" marL="0">
              <a:buNone/>
            </a:pPr>
            <a:r>
              <a:rPr lang="en-US" sz="900" b="1" spc="200" kern="0" dirty="0">
                <a:solidFill>
                  <a:srgbClr val="55C8E8"/>
                </a:solidFill>
                <a:latin typeface="Calibri" pitchFamily="34" charset="0"/>
                <a:ea typeface="Calibri" pitchFamily="34" charset="-122"/>
                <a:cs typeface="Calibri" pitchFamily="34" charset="-120"/>
              </a:rPr>
              <a:t>EXHIBIT LABEL  ·  THE AFTER THE VOYAGE PANEL</a:t>
            </a:r>
            <a:endParaRPr lang="en-US" sz="900" dirty="0"/>
          </a:p>
        </p:txBody>
      </p:sp>
      <p:sp>
        <p:nvSpPr>
          <p:cNvPr id="5" name="Shape 3"/>
          <p:cNvSpPr/>
          <p:nvPr/>
        </p:nvSpPr>
        <p:spPr>
          <a:xfrm>
            <a:off x="914400" y="713232"/>
            <a:ext cx="7315200" cy="3749040"/>
          </a:xfrm>
          <a:prstGeom prst="rect">
            <a:avLst/>
          </a:prstGeom>
          <a:solidFill>
            <a:srgbClr val="0E1C42"/>
          </a:solidFill>
          <a:ln w="31750">
            <a:solidFill>
              <a:srgbClr val="D4943A"/>
            </a:solidFill>
            <a:prstDash val="solid"/>
          </a:ln>
        </p:spPr>
      </p:sp>
      <p:sp>
        <p:nvSpPr>
          <p:cNvPr id="6" name="Text 4"/>
          <p:cNvSpPr/>
          <p:nvPr/>
        </p:nvSpPr>
        <p:spPr>
          <a:xfrm>
            <a:off x="1097280" y="850392"/>
            <a:ext cx="6949440" cy="411480"/>
          </a:xfrm>
          <a:prstGeom prst="rect">
            <a:avLst/>
          </a:prstGeom>
          <a:noFill/>
          <a:ln/>
        </p:spPr>
        <p:txBody>
          <a:bodyPr wrap="square" lIns="0" tIns="0" rIns="0" bIns="0" rtlCol="0" anchor="ctr"/>
          <a:lstStyle/>
          <a:p>
            <a:pPr algn="ctr" indent="0" marL="0">
              <a:buNone/>
            </a:pPr>
            <a:r>
              <a:rPr lang="en-US" sz="2800" b="1" dirty="0">
                <a:solidFill>
                  <a:srgbClr val="D4943A"/>
                </a:solidFill>
                <a:latin typeface="Cambria" pitchFamily="34" charset="0"/>
                <a:ea typeface="Cambria" pitchFamily="34" charset="-122"/>
                <a:cs typeface="Cambria" pitchFamily="34" charset="-120"/>
              </a:rPr>
              <a:t>After the Voyage</a:t>
            </a:r>
            <a:endParaRPr lang="en-US" sz="2800" dirty="0"/>
          </a:p>
        </p:txBody>
      </p:sp>
      <p:sp>
        <p:nvSpPr>
          <p:cNvPr id="7" name="Shape 5"/>
          <p:cNvSpPr/>
          <p:nvPr/>
        </p:nvSpPr>
        <p:spPr>
          <a:xfrm>
            <a:off x="1097280" y="1417320"/>
            <a:ext cx="6858000" cy="502920"/>
          </a:xfrm>
          <a:prstGeom prst="roundRect">
            <a:avLst>
              <a:gd name="adj" fmla="val 14545"/>
            </a:avLst>
          </a:prstGeom>
          <a:solidFill>
            <a:srgbClr val="1A2D5A"/>
          </a:solidFill>
          <a:ln w="12700">
            <a:solidFill>
              <a:srgbClr val="55C8E8"/>
            </a:solidFill>
            <a:prstDash val="solid"/>
          </a:ln>
        </p:spPr>
      </p:sp>
      <p:sp>
        <p:nvSpPr>
          <p:cNvPr id="8" name="Text 6"/>
          <p:cNvSpPr/>
          <p:nvPr/>
        </p:nvSpPr>
        <p:spPr>
          <a:xfrm>
            <a:off x="1280160" y="1490472"/>
            <a:ext cx="3200400" cy="274320"/>
          </a:xfrm>
          <a:prstGeom prst="rect">
            <a:avLst/>
          </a:prstGeom>
          <a:noFill/>
          <a:ln/>
        </p:spPr>
        <p:txBody>
          <a:bodyPr wrap="square" lIns="0" tIns="0" rIns="0" bIns="0" rtlCol="0" anchor="ctr"/>
          <a:lstStyle/>
          <a:p>
            <a:pPr indent="0" marL="0">
              <a:buNone/>
            </a:pPr>
            <a:r>
              <a:rPr lang="en-US" sz="1200" b="1" dirty="0">
                <a:solidFill>
                  <a:srgbClr val="55C8E8"/>
                </a:solidFill>
                <a:latin typeface="Calibri" pitchFamily="34" charset="0"/>
                <a:ea typeface="Calibri" pitchFamily="34" charset="-122"/>
                <a:cs typeface="Calibri" pitchFamily="34" charset="-120"/>
              </a:rPr>
              <a:t>1   The Columbian Exchange</a:t>
            </a:r>
            <a:endParaRPr lang="en-US" sz="1200" dirty="0"/>
          </a:p>
        </p:txBody>
      </p:sp>
      <p:sp>
        <p:nvSpPr>
          <p:cNvPr id="9" name="Text 7"/>
          <p:cNvSpPr/>
          <p:nvPr/>
        </p:nvSpPr>
        <p:spPr>
          <a:xfrm>
            <a:off x="4663440" y="1490472"/>
            <a:ext cx="3200400" cy="274320"/>
          </a:xfrm>
          <a:prstGeom prst="rect">
            <a:avLst/>
          </a:prstGeom>
          <a:noFill/>
          <a:ln/>
        </p:spPr>
        <p:txBody>
          <a:bodyPr wrap="square" lIns="0" tIns="0" rIns="0" bIns="0" rtlCol="0" anchor="ctr"/>
          <a:lstStyle/>
          <a:p>
            <a:pPr indent="0" marL="0">
              <a:buNone/>
            </a:pPr>
            <a:r>
              <a:rPr lang="en-US" sz="1100" dirty="0">
                <a:solidFill>
                  <a:srgbClr val="F0F2F8"/>
                </a:solidFill>
                <a:latin typeface="Calibri" pitchFamily="34" charset="0"/>
                <a:ea typeface="Calibri" pitchFamily="34" charset="-122"/>
                <a:cs typeface="Calibri" pitchFamily="34" charset="-120"/>
              </a:rPr>
              <a:t>Plants, animals, and foods moved between the Americas and Europe.</a:t>
            </a:r>
            <a:endParaRPr lang="en-US" sz="1100" dirty="0"/>
          </a:p>
        </p:txBody>
      </p:sp>
      <p:sp>
        <p:nvSpPr>
          <p:cNvPr id="10" name="Shape 8"/>
          <p:cNvSpPr/>
          <p:nvPr/>
        </p:nvSpPr>
        <p:spPr>
          <a:xfrm>
            <a:off x="1097280" y="2057400"/>
            <a:ext cx="6858000" cy="502920"/>
          </a:xfrm>
          <a:prstGeom prst="roundRect">
            <a:avLst>
              <a:gd name="adj" fmla="val 14545"/>
            </a:avLst>
          </a:prstGeom>
          <a:solidFill>
            <a:srgbClr val="1A2D5A"/>
          </a:solidFill>
          <a:ln w="12700">
            <a:solidFill>
              <a:srgbClr val="E8636B"/>
            </a:solidFill>
            <a:prstDash val="solid"/>
          </a:ln>
        </p:spPr>
      </p:sp>
      <p:sp>
        <p:nvSpPr>
          <p:cNvPr id="11" name="Text 9"/>
          <p:cNvSpPr/>
          <p:nvPr/>
        </p:nvSpPr>
        <p:spPr>
          <a:xfrm>
            <a:off x="1280160" y="2130552"/>
            <a:ext cx="3200400" cy="274320"/>
          </a:xfrm>
          <a:prstGeom prst="rect">
            <a:avLst/>
          </a:prstGeom>
          <a:noFill/>
          <a:ln/>
        </p:spPr>
        <p:txBody>
          <a:bodyPr wrap="square" lIns="0" tIns="0" rIns="0" bIns="0" rtlCol="0" anchor="ctr"/>
          <a:lstStyle/>
          <a:p>
            <a:pPr indent="0" marL="0">
              <a:buNone/>
            </a:pPr>
            <a:r>
              <a:rPr lang="en-US" sz="1200" b="1" dirty="0">
                <a:solidFill>
                  <a:srgbClr val="E8636B"/>
                </a:solidFill>
                <a:latin typeface="Calibri" pitchFamily="34" charset="0"/>
                <a:ea typeface="Calibri" pitchFamily="34" charset="-122"/>
                <a:cs typeface="Calibri" pitchFamily="34" charset="-120"/>
              </a:rPr>
              <a:t>2   Native Peoples Were Harmed</a:t>
            </a:r>
            <a:endParaRPr lang="en-US" sz="1200" dirty="0"/>
          </a:p>
        </p:txBody>
      </p:sp>
      <p:sp>
        <p:nvSpPr>
          <p:cNvPr id="12" name="Text 10"/>
          <p:cNvSpPr/>
          <p:nvPr/>
        </p:nvSpPr>
        <p:spPr>
          <a:xfrm>
            <a:off x="4663440" y="2130552"/>
            <a:ext cx="3200400" cy="274320"/>
          </a:xfrm>
          <a:prstGeom prst="rect">
            <a:avLst/>
          </a:prstGeom>
          <a:noFill/>
          <a:ln/>
        </p:spPr>
        <p:txBody>
          <a:bodyPr wrap="square" lIns="0" tIns="0" rIns="0" bIns="0" rtlCol="0" anchor="ctr"/>
          <a:lstStyle/>
          <a:p>
            <a:pPr indent="0" marL="0">
              <a:buNone/>
            </a:pPr>
            <a:r>
              <a:rPr lang="en-US" sz="1100" dirty="0">
                <a:solidFill>
                  <a:srgbClr val="F0F2F8"/>
                </a:solidFill>
                <a:latin typeface="Calibri" pitchFamily="34" charset="0"/>
                <a:ea typeface="Calibri" pitchFamily="34" charset="-122"/>
                <a:cs typeface="Calibri" pitchFamily="34" charset="-120"/>
              </a:rPr>
              <a:t>Disease, loss of land, and forced labor — serious consequences.</a:t>
            </a:r>
            <a:endParaRPr lang="en-US" sz="1100" dirty="0"/>
          </a:p>
        </p:txBody>
      </p:sp>
      <p:sp>
        <p:nvSpPr>
          <p:cNvPr id="13" name="Shape 11"/>
          <p:cNvSpPr/>
          <p:nvPr/>
        </p:nvSpPr>
        <p:spPr>
          <a:xfrm>
            <a:off x="1097280" y="2697480"/>
            <a:ext cx="6858000" cy="502920"/>
          </a:xfrm>
          <a:prstGeom prst="roundRect">
            <a:avLst>
              <a:gd name="adj" fmla="val 14545"/>
            </a:avLst>
          </a:prstGeom>
          <a:solidFill>
            <a:srgbClr val="1A2D5A"/>
          </a:solidFill>
          <a:ln w="12700">
            <a:solidFill>
              <a:srgbClr val="D4943A"/>
            </a:solidFill>
            <a:prstDash val="solid"/>
          </a:ln>
        </p:spPr>
      </p:sp>
      <p:sp>
        <p:nvSpPr>
          <p:cNvPr id="14" name="Text 12"/>
          <p:cNvSpPr/>
          <p:nvPr/>
        </p:nvSpPr>
        <p:spPr>
          <a:xfrm>
            <a:off x="1280160" y="2770632"/>
            <a:ext cx="3200400" cy="274320"/>
          </a:xfrm>
          <a:prstGeom prst="rect">
            <a:avLst/>
          </a:prstGeom>
          <a:noFill/>
          <a:ln/>
        </p:spPr>
        <p:txBody>
          <a:bodyPr wrap="square" lIns="0" tIns="0" rIns="0" bIns="0" rtlCol="0" anchor="ctr"/>
          <a:lstStyle/>
          <a:p>
            <a:pPr indent="0" marL="0">
              <a:buNone/>
            </a:pPr>
            <a:r>
              <a:rPr lang="en-US" sz="1200" b="1" dirty="0">
                <a:solidFill>
                  <a:srgbClr val="D4943A"/>
                </a:solidFill>
                <a:latin typeface="Calibri" pitchFamily="34" charset="0"/>
                <a:ea typeface="Calibri" pitchFamily="34" charset="-122"/>
                <a:cs typeface="Calibri" pitchFamily="34" charset="-120"/>
              </a:rPr>
              <a:t>3   A Connected World</a:t>
            </a:r>
            <a:endParaRPr lang="en-US" sz="1200" dirty="0"/>
          </a:p>
        </p:txBody>
      </p:sp>
      <p:sp>
        <p:nvSpPr>
          <p:cNvPr id="15" name="Text 13"/>
          <p:cNvSpPr/>
          <p:nvPr/>
        </p:nvSpPr>
        <p:spPr>
          <a:xfrm>
            <a:off x="4663440" y="2770632"/>
            <a:ext cx="3200400" cy="274320"/>
          </a:xfrm>
          <a:prstGeom prst="rect">
            <a:avLst/>
          </a:prstGeom>
          <a:noFill/>
          <a:ln/>
        </p:spPr>
        <p:txBody>
          <a:bodyPr wrap="square" lIns="0" tIns="0" rIns="0" bIns="0" rtlCol="0" anchor="ctr"/>
          <a:lstStyle/>
          <a:p>
            <a:pPr indent="0" marL="0">
              <a:buNone/>
            </a:pPr>
            <a:r>
              <a:rPr lang="en-US" sz="1100" dirty="0">
                <a:solidFill>
                  <a:srgbClr val="F0F2F8"/>
                </a:solidFill>
                <a:latin typeface="Calibri" pitchFamily="34" charset="0"/>
                <a:ea typeface="Calibri" pitchFamily="34" charset="-122"/>
                <a:cs typeface="Calibri" pitchFamily="34" charset="-120"/>
              </a:rPr>
              <a:t>Trade routes linked continents — but at a very high cost.</a:t>
            </a:r>
            <a:endParaRPr lang="en-US" sz="1100" dirty="0"/>
          </a:p>
        </p:txBody>
      </p:sp>
      <p:sp>
        <p:nvSpPr>
          <p:cNvPr id="16" name="Shape 14"/>
          <p:cNvSpPr/>
          <p:nvPr/>
        </p:nvSpPr>
        <p:spPr>
          <a:xfrm>
            <a:off x="1097280" y="3337560"/>
            <a:ext cx="6858000" cy="658368"/>
          </a:xfrm>
          <a:prstGeom prst="roundRect">
            <a:avLst>
              <a:gd name="adj" fmla="val 11111"/>
            </a:avLst>
          </a:prstGeom>
          <a:solidFill>
            <a:srgbClr val="0B1835"/>
          </a:solidFill>
          <a:ln w="12700">
            <a:solidFill>
              <a:srgbClr val="7A88A8"/>
            </a:solidFill>
            <a:prstDash val="solid"/>
          </a:ln>
        </p:spPr>
      </p:sp>
      <p:sp>
        <p:nvSpPr>
          <p:cNvPr id="17" name="Text 15"/>
          <p:cNvSpPr/>
          <p:nvPr/>
        </p:nvSpPr>
        <p:spPr>
          <a:xfrm>
            <a:off x="1280160" y="3410712"/>
            <a:ext cx="6492240" cy="512064"/>
          </a:xfrm>
          <a:prstGeom prst="rect">
            <a:avLst/>
          </a:prstGeom>
          <a:noFill/>
          <a:ln/>
        </p:spPr>
        <p:txBody>
          <a:bodyPr wrap="square" lIns="0" tIns="0" rIns="0" bIns="0" rtlCol="0" anchor="ctr"/>
          <a:lstStyle/>
          <a:p>
            <a:pPr algn="ctr" indent="0" marL="0">
              <a:buNone/>
            </a:pPr>
            <a:r>
              <a:rPr lang="en-US" sz="1600" i="1" dirty="0">
                <a:solidFill>
                  <a:srgbClr val="D4943A"/>
                </a:solidFill>
                <a:latin typeface="Cambria" pitchFamily="34" charset="0"/>
                <a:ea typeface="Cambria" pitchFamily="34" charset="-122"/>
                <a:cs typeface="Cambria" pitchFamily="34" charset="-120"/>
              </a:rPr>
              <a:t>An honest exhibit tells all of it.</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E1C42"/>
          </a:solidFill>
          <a:ln w="12700">
            <a:solidFill>
              <a:srgbClr val="0E1C42"/>
            </a:solidFill>
            <a:prstDash val="solid"/>
          </a:ln>
        </p:spPr>
      </p:sp>
      <p:sp>
        <p:nvSpPr>
          <p:cNvPr id="3" name="Text 1"/>
          <p:cNvSpPr/>
          <p:nvPr/>
        </p:nvSpPr>
        <p:spPr>
          <a:xfrm>
            <a:off x="274320" y="109728"/>
            <a:ext cx="4572000" cy="274320"/>
          </a:xfrm>
          <a:prstGeom prst="rect">
            <a:avLst/>
          </a:prstGeom>
          <a:noFill/>
          <a:ln/>
        </p:spPr>
        <p:txBody>
          <a:bodyPr wrap="square" lIns="0" tIns="0" rIns="0" bIns="0" rtlCol="0" anchor="ctr"/>
          <a:lstStyle/>
          <a:p>
            <a:pPr indent="0" marL="0">
              <a:buNone/>
            </a:pPr>
            <a:r>
              <a:rPr lang="en-US" sz="900" b="1" spc="200" kern="0" dirty="0">
                <a:solidFill>
                  <a:srgbClr val="55C8E8"/>
                </a:solidFill>
                <a:latin typeface="Calibri" pitchFamily="34" charset="0"/>
                <a:ea typeface="Calibri" pitchFamily="34" charset="-122"/>
                <a:cs typeface="Calibri" pitchFamily="34" charset="-120"/>
              </a:rPr>
              <a:t>RETRIEVAL CHALLENGE</a:t>
            </a:r>
            <a:endParaRPr lang="en-US" sz="900" dirty="0"/>
          </a:p>
        </p:txBody>
      </p:sp>
      <p:sp>
        <p:nvSpPr>
          <p:cNvPr id="4" name="Text 2"/>
          <p:cNvSpPr/>
          <p:nvPr/>
        </p:nvSpPr>
        <p:spPr>
          <a:xfrm>
            <a:off x="0" y="109728"/>
            <a:ext cx="8778240" cy="274320"/>
          </a:xfrm>
          <a:prstGeom prst="rect">
            <a:avLst/>
          </a:prstGeom>
          <a:noFill/>
          <a:ln/>
        </p:spPr>
        <p:txBody>
          <a:bodyPr wrap="square" lIns="0" tIns="0" rIns="0" bIns="0" rtlCol="0" anchor="ctr"/>
          <a:lstStyle/>
          <a:p>
            <a:pPr algn="r" indent="0" marL="0">
              <a:buNone/>
            </a:pPr>
            <a:r>
              <a:rPr lang="en-US" sz="1000" dirty="0">
                <a:solidFill>
                  <a:srgbClr val="D4943A"/>
                </a:solidFill>
                <a:latin typeface="Calibri" pitchFamily="34" charset="0"/>
                <a:ea typeface="Calibri" pitchFamily="34" charset="-122"/>
                <a:cs typeface="Calibri" pitchFamily="34" charset="-120"/>
              </a:rPr>
              <a:t>Brain check — no peeking!</a:t>
            </a:r>
            <a:endParaRPr lang="en-US" sz="1000" dirty="0"/>
          </a:p>
        </p:txBody>
      </p:sp>
      <p:sp>
        <p:nvSpPr>
          <p:cNvPr id="5" name="Text 3"/>
          <p:cNvSpPr/>
          <p:nvPr/>
        </p:nvSpPr>
        <p:spPr>
          <a:xfrm>
            <a:off x="457200" y="640080"/>
            <a:ext cx="8229600" cy="594360"/>
          </a:xfrm>
          <a:prstGeom prst="rect">
            <a:avLst/>
          </a:prstGeom>
          <a:noFill/>
          <a:ln/>
        </p:spPr>
        <p:txBody>
          <a:bodyPr wrap="square" lIns="0" tIns="0" rIns="0" bIns="0" rtlCol="0" anchor="ctr"/>
          <a:lstStyle/>
          <a:p>
            <a:pPr algn="ctr" indent="0" marL="0">
              <a:buNone/>
            </a:pPr>
            <a:r>
              <a:rPr lang="en-US" sz="2500" b="1" dirty="0">
                <a:solidFill>
                  <a:srgbClr val="0E1C42"/>
                </a:solidFill>
                <a:latin typeface="Cambria" pitchFamily="34" charset="0"/>
                <a:ea typeface="Cambria" pitchFamily="34" charset="-122"/>
                <a:cs typeface="Cambria" pitchFamily="34" charset="-120"/>
              </a:rPr>
              <a:t>Cover your screen. Name all three consequences from memory.</a:t>
            </a:r>
            <a:endParaRPr lang="en-US" sz="2500" dirty="0"/>
          </a:p>
        </p:txBody>
      </p:sp>
      <p:sp>
        <p:nvSpPr>
          <p:cNvPr id="6" name="Shape 4"/>
          <p:cNvSpPr/>
          <p:nvPr/>
        </p:nvSpPr>
        <p:spPr>
          <a:xfrm>
            <a:off x="365760" y="1389888"/>
            <a:ext cx="2560320" cy="1353312"/>
          </a:xfrm>
          <a:prstGeom prst="roundRect">
            <a:avLst>
              <a:gd name="adj" fmla="val 10135"/>
            </a:avLst>
          </a:prstGeom>
          <a:solidFill>
            <a:srgbClr val="F0F2F8"/>
          </a:solidFill>
          <a:ln w="25400">
            <a:solidFill>
              <a:srgbClr val="55C8E8"/>
            </a:solidFill>
            <a:prstDash val="dash"/>
          </a:ln>
        </p:spPr>
      </p:sp>
      <p:sp>
        <p:nvSpPr>
          <p:cNvPr id="7" name="Text 5"/>
          <p:cNvSpPr/>
          <p:nvPr/>
        </p:nvSpPr>
        <p:spPr>
          <a:xfrm>
            <a:off x="457200" y="1481328"/>
            <a:ext cx="2377440" cy="256032"/>
          </a:xfrm>
          <a:prstGeom prst="rect">
            <a:avLst/>
          </a:prstGeom>
          <a:noFill/>
          <a:ln/>
        </p:spPr>
        <p:txBody>
          <a:bodyPr wrap="square" lIns="0" tIns="0" rIns="0" bIns="0" rtlCol="0" anchor="ctr"/>
          <a:lstStyle/>
          <a:p>
            <a:pPr algn="ctr" indent="0" marL="0">
              <a:buNone/>
            </a:pPr>
            <a:r>
              <a:rPr lang="en-US" sz="1000" b="1" spc="100" kern="0" dirty="0">
                <a:solidFill>
                  <a:srgbClr val="7A88A8"/>
                </a:solidFill>
                <a:latin typeface="Calibri" pitchFamily="34" charset="0"/>
                <a:ea typeface="Calibri" pitchFamily="34" charset="-122"/>
                <a:cs typeface="Calibri" pitchFamily="34" charset="-120"/>
              </a:rPr>
              <a:t>Consequence 1</a:t>
            </a:r>
            <a:endParaRPr lang="en-US" sz="1000" dirty="0"/>
          </a:p>
        </p:txBody>
      </p:sp>
      <p:sp>
        <p:nvSpPr>
          <p:cNvPr id="8" name="Text 6"/>
          <p:cNvSpPr/>
          <p:nvPr/>
        </p:nvSpPr>
        <p:spPr>
          <a:xfrm>
            <a:off x="457200" y="1737360"/>
            <a:ext cx="2377440" cy="777240"/>
          </a:xfrm>
          <a:prstGeom prst="rect">
            <a:avLst/>
          </a:prstGeom>
          <a:noFill/>
          <a:ln/>
        </p:spPr>
        <p:txBody>
          <a:bodyPr wrap="square" lIns="0" tIns="0" rIns="0" bIns="0" rtlCol="0" anchor="ctr"/>
          <a:lstStyle/>
          <a:p>
            <a:pPr algn="ctr" indent="0" marL="0">
              <a:buNone/>
            </a:pPr>
            <a:r>
              <a:rPr lang="en-US" sz="5200" dirty="0">
                <a:solidFill>
                  <a:srgbClr val="B0B8CC"/>
                </a:solidFill>
                <a:latin typeface="Cambria" pitchFamily="34" charset="0"/>
                <a:ea typeface="Cambria" pitchFamily="34" charset="-122"/>
                <a:cs typeface="Cambria" pitchFamily="34" charset="-120"/>
              </a:rPr>
              <a:t>?</a:t>
            </a:r>
            <a:endParaRPr lang="en-US" sz="5200" dirty="0"/>
          </a:p>
        </p:txBody>
      </p:sp>
      <p:sp>
        <p:nvSpPr>
          <p:cNvPr id="9" name="Shape 7"/>
          <p:cNvSpPr/>
          <p:nvPr/>
        </p:nvSpPr>
        <p:spPr>
          <a:xfrm>
            <a:off x="3291840" y="1389888"/>
            <a:ext cx="2560320" cy="1353312"/>
          </a:xfrm>
          <a:prstGeom prst="roundRect">
            <a:avLst>
              <a:gd name="adj" fmla="val 10135"/>
            </a:avLst>
          </a:prstGeom>
          <a:solidFill>
            <a:srgbClr val="F0F2F8"/>
          </a:solidFill>
          <a:ln w="25400">
            <a:solidFill>
              <a:srgbClr val="E8636B"/>
            </a:solidFill>
            <a:prstDash val="dash"/>
          </a:ln>
        </p:spPr>
      </p:sp>
      <p:sp>
        <p:nvSpPr>
          <p:cNvPr id="10" name="Text 8"/>
          <p:cNvSpPr/>
          <p:nvPr/>
        </p:nvSpPr>
        <p:spPr>
          <a:xfrm>
            <a:off x="3383280" y="1481328"/>
            <a:ext cx="2377440" cy="256032"/>
          </a:xfrm>
          <a:prstGeom prst="rect">
            <a:avLst/>
          </a:prstGeom>
          <a:noFill/>
          <a:ln/>
        </p:spPr>
        <p:txBody>
          <a:bodyPr wrap="square" lIns="0" tIns="0" rIns="0" bIns="0" rtlCol="0" anchor="ctr"/>
          <a:lstStyle/>
          <a:p>
            <a:pPr algn="ctr" indent="0" marL="0">
              <a:buNone/>
            </a:pPr>
            <a:r>
              <a:rPr lang="en-US" sz="1000" b="1" spc="100" kern="0" dirty="0">
                <a:solidFill>
                  <a:srgbClr val="7A88A8"/>
                </a:solidFill>
                <a:latin typeface="Calibri" pitchFamily="34" charset="0"/>
                <a:ea typeface="Calibri" pitchFamily="34" charset="-122"/>
                <a:cs typeface="Calibri" pitchFamily="34" charset="-120"/>
              </a:rPr>
              <a:t>Consequence 2</a:t>
            </a:r>
            <a:endParaRPr lang="en-US" sz="1000" dirty="0"/>
          </a:p>
        </p:txBody>
      </p:sp>
      <p:sp>
        <p:nvSpPr>
          <p:cNvPr id="11" name="Text 9"/>
          <p:cNvSpPr/>
          <p:nvPr/>
        </p:nvSpPr>
        <p:spPr>
          <a:xfrm>
            <a:off x="3383280" y="1737360"/>
            <a:ext cx="2377440" cy="777240"/>
          </a:xfrm>
          <a:prstGeom prst="rect">
            <a:avLst/>
          </a:prstGeom>
          <a:noFill/>
          <a:ln/>
        </p:spPr>
        <p:txBody>
          <a:bodyPr wrap="square" lIns="0" tIns="0" rIns="0" bIns="0" rtlCol="0" anchor="ctr"/>
          <a:lstStyle/>
          <a:p>
            <a:pPr algn="ctr" indent="0" marL="0">
              <a:buNone/>
            </a:pPr>
            <a:r>
              <a:rPr lang="en-US" sz="5200" dirty="0">
                <a:solidFill>
                  <a:srgbClr val="B0B8CC"/>
                </a:solidFill>
                <a:latin typeface="Cambria" pitchFamily="34" charset="0"/>
                <a:ea typeface="Cambria" pitchFamily="34" charset="-122"/>
                <a:cs typeface="Cambria" pitchFamily="34" charset="-120"/>
              </a:rPr>
              <a:t>?</a:t>
            </a:r>
            <a:endParaRPr lang="en-US" sz="5200" dirty="0"/>
          </a:p>
        </p:txBody>
      </p:sp>
      <p:sp>
        <p:nvSpPr>
          <p:cNvPr id="12" name="Shape 10"/>
          <p:cNvSpPr/>
          <p:nvPr/>
        </p:nvSpPr>
        <p:spPr>
          <a:xfrm>
            <a:off x="6217920" y="1389888"/>
            <a:ext cx="2560320" cy="1353312"/>
          </a:xfrm>
          <a:prstGeom prst="roundRect">
            <a:avLst>
              <a:gd name="adj" fmla="val 10135"/>
            </a:avLst>
          </a:prstGeom>
          <a:solidFill>
            <a:srgbClr val="F0F2F8"/>
          </a:solidFill>
          <a:ln w="25400">
            <a:solidFill>
              <a:srgbClr val="D4943A"/>
            </a:solidFill>
            <a:prstDash val="dash"/>
          </a:ln>
        </p:spPr>
      </p:sp>
      <p:sp>
        <p:nvSpPr>
          <p:cNvPr id="13" name="Text 11"/>
          <p:cNvSpPr/>
          <p:nvPr/>
        </p:nvSpPr>
        <p:spPr>
          <a:xfrm>
            <a:off x="6309360" y="1481328"/>
            <a:ext cx="2377440" cy="256032"/>
          </a:xfrm>
          <a:prstGeom prst="rect">
            <a:avLst/>
          </a:prstGeom>
          <a:noFill/>
          <a:ln/>
        </p:spPr>
        <p:txBody>
          <a:bodyPr wrap="square" lIns="0" tIns="0" rIns="0" bIns="0" rtlCol="0" anchor="ctr"/>
          <a:lstStyle/>
          <a:p>
            <a:pPr algn="ctr" indent="0" marL="0">
              <a:buNone/>
            </a:pPr>
            <a:r>
              <a:rPr lang="en-US" sz="1000" b="1" spc="100" kern="0" dirty="0">
                <a:solidFill>
                  <a:srgbClr val="7A88A8"/>
                </a:solidFill>
                <a:latin typeface="Calibri" pitchFamily="34" charset="0"/>
                <a:ea typeface="Calibri" pitchFamily="34" charset="-122"/>
                <a:cs typeface="Calibri" pitchFamily="34" charset="-120"/>
              </a:rPr>
              <a:t>Consequence 3</a:t>
            </a:r>
            <a:endParaRPr lang="en-US" sz="1000" dirty="0"/>
          </a:p>
        </p:txBody>
      </p:sp>
      <p:sp>
        <p:nvSpPr>
          <p:cNvPr id="14" name="Text 12"/>
          <p:cNvSpPr/>
          <p:nvPr/>
        </p:nvSpPr>
        <p:spPr>
          <a:xfrm>
            <a:off x="6309360" y="1737360"/>
            <a:ext cx="2377440" cy="777240"/>
          </a:xfrm>
          <a:prstGeom prst="rect">
            <a:avLst/>
          </a:prstGeom>
          <a:noFill/>
          <a:ln/>
        </p:spPr>
        <p:txBody>
          <a:bodyPr wrap="square" lIns="0" tIns="0" rIns="0" bIns="0" rtlCol="0" anchor="ctr"/>
          <a:lstStyle/>
          <a:p>
            <a:pPr algn="ctr" indent="0" marL="0">
              <a:buNone/>
            </a:pPr>
            <a:r>
              <a:rPr lang="en-US" sz="5200" dirty="0">
                <a:solidFill>
                  <a:srgbClr val="B0B8CC"/>
                </a:solidFill>
                <a:latin typeface="Cambria" pitchFamily="34" charset="0"/>
                <a:ea typeface="Cambria" pitchFamily="34" charset="-122"/>
                <a:cs typeface="Cambria" pitchFamily="34" charset="-120"/>
              </a:rPr>
              <a:t>?</a:t>
            </a:r>
            <a:endParaRPr lang="en-US" sz="5200" dirty="0"/>
          </a:p>
        </p:txBody>
      </p:sp>
      <p:sp>
        <p:nvSpPr>
          <p:cNvPr id="15" name="Shape 13"/>
          <p:cNvSpPr/>
          <p:nvPr/>
        </p:nvSpPr>
        <p:spPr>
          <a:xfrm>
            <a:off x="365760" y="2880360"/>
            <a:ext cx="2560320" cy="685800"/>
          </a:xfrm>
          <a:prstGeom prst="roundRect">
            <a:avLst>
              <a:gd name="adj" fmla="val 13333"/>
            </a:avLst>
          </a:prstGeom>
          <a:solidFill>
            <a:srgbClr val="EAF8FD"/>
          </a:solidFill>
          <a:ln w="19050">
            <a:solidFill>
              <a:srgbClr val="55C8E8"/>
            </a:solidFill>
            <a:prstDash val="solid"/>
          </a:ln>
        </p:spPr>
      </p:sp>
      <p:sp>
        <p:nvSpPr>
          <p:cNvPr id="16" name="Text 14"/>
          <p:cNvSpPr/>
          <p:nvPr/>
        </p:nvSpPr>
        <p:spPr>
          <a:xfrm>
            <a:off x="457200" y="2953512"/>
            <a:ext cx="2377440" cy="548640"/>
          </a:xfrm>
          <a:prstGeom prst="rect">
            <a:avLst/>
          </a:prstGeom>
          <a:noFill/>
          <a:ln/>
        </p:spPr>
        <p:txBody>
          <a:bodyPr wrap="square" lIns="0" tIns="0" rIns="0" bIns="0" rtlCol="0" anchor="ctr"/>
          <a:lstStyle/>
          <a:p>
            <a:pPr algn="ctr" indent="0" marL="0">
              <a:buNone/>
            </a:pPr>
            <a:r>
              <a:rPr lang="en-US" sz="1200" b="1" dirty="0">
                <a:solidFill>
                  <a:srgbClr val="1A8A7D"/>
                </a:solidFill>
                <a:latin typeface="Calibri" pitchFamily="34" charset="0"/>
                <a:ea typeface="Calibri" pitchFamily="34" charset="-122"/>
                <a:cs typeface="Calibri" pitchFamily="34" charset="-120"/>
              </a:rPr>
              <a:t>The Columbian Exchange</a:t>
            </a:r>
            <a:endParaRPr lang="en-US" sz="1200" dirty="0"/>
          </a:p>
        </p:txBody>
      </p:sp>
      <p:sp>
        <p:nvSpPr>
          <p:cNvPr id="17" name="Shape 15"/>
          <p:cNvSpPr/>
          <p:nvPr/>
        </p:nvSpPr>
        <p:spPr>
          <a:xfrm>
            <a:off x="3291840" y="2880360"/>
            <a:ext cx="2560320" cy="685800"/>
          </a:xfrm>
          <a:prstGeom prst="roundRect">
            <a:avLst>
              <a:gd name="adj" fmla="val 13333"/>
            </a:avLst>
          </a:prstGeom>
          <a:solidFill>
            <a:srgbClr val="FFF0EE"/>
          </a:solidFill>
          <a:ln w="19050">
            <a:solidFill>
              <a:srgbClr val="E8636B"/>
            </a:solidFill>
            <a:prstDash val="solid"/>
          </a:ln>
        </p:spPr>
      </p:sp>
      <p:sp>
        <p:nvSpPr>
          <p:cNvPr id="18" name="Text 16"/>
          <p:cNvSpPr/>
          <p:nvPr/>
        </p:nvSpPr>
        <p:spPr>
          <a:xfrm>
            <a:off x="3383280" y="2953512"/>
            <a:ext cx="2377440" cy="548640"/>
          </a:xfrm>
          <a:prstGeom prst="rect">
            <a:avLst/>
          </a:prstGeom>
          <a:noFill/>
          <a:ln/>
        </p:spPr>
        <p:txBody>
          <a:bodyPr wrap="square" lIns="0" tIns="0" rIns="0" bIns="0" rtlCol="0" anchor="ctr"/>
          <a:lstStyle/>
          <a:p>
            <a:pPr algn="ctr" indent="0" marL="0">
              <a:buNone/>
            </a:pPr>
            <a:r>
              <a:rPr lang="en-US" sz="1200" b="1" dirty="0">
                <a:solidFill>
                  <a:srgbClr val="E8636B"/>
                </a:solidFill>
                <a:latin typeface="Calibri" pitchFamily="34" charset="0"/>
                <a:ea typeface="Calibri" pitchFamily="34" charset="-122"/>
                <a:cs typeface="Calibri" pitchFamily="34" charset="-120"/>
              </a:rPr>
              <a:t>Harm to Native Peoples</a:t>
            </a:r>
            <a:endParaRPr lang="en-US" sz="1200" dirty="0"/>
          </a:p>
        </p:txBody>
      </p:sp>
      <p:sp>
        <p:nvSpPr>
          <p:cNvPr id="19" name="Shape 17"/>
          <p:cNvSpPr/>
          <p:nvPr/>
        </p:nvSpPr>
        <p:spPr>
          <a:xfrm>
            <a:off x="6217920" y="2880360"/>
            <a:ext cx="2560320" cy="685800"/>
          </a:xfrm>
          <a:prstGeom prst="roundRect">
            <a:avLst>
              <a:gd name="adj" fmla="val 13333"/>
            </a:avLst>
          </a:prstGeom>
          <a:solidFill>
            <a:srgbClr val="FFF3DC"/>
          </a:solidFill>
          <a:ln w="19050">
            <a:solidFill>
              <a:srgbClr val="D4943A"/>
            </a:solidFill>
            <a:prstDash val="solid"/>
          </a:ln>
        </p:spPr>
      </p:sp>
      <p:sp>
        <p:nvSpPr>
          <p:cNvPr id="20" name="Text 18"/>
          <p:cNvSpPr/>
          <p:nvPr/>
        </p:nvSpPr>
        <p:spPr>
          <a:xfrm>
            <a:off x="6309360" y="2953512"/>
            <a:ext cx="2377440" cy="548640"/>
          </a:xfrm>
          <a:prstGeom prst="rect">
            <a:avLst/>
          </a:prstGeom>
          <a:noFill/>
          <a:ln/>
        </p:spPr>
        <p:txBody>
          <a:bodyPr wrap="square" lIns="0" tIns="0" rIns="0" bIns="0" rtlCol="0" anchor="ctr"/>
          <a:lstStyle/>
          <a:p>
            <a:pPr algn="ctr" indent="0" marL="0">
              <a:buNone/>
            </a:pPr>
            <a:r>
              <a:rPr lang="en-US" sz="1200" b="1" dirty="0">
                <a:solidFill>
                  <a:srgbClr val="D4943A"/>
                </a:solidFill>
                <a:latin typeface="Calibri" pitchFamily="34" charset="0"/>
                <a:ea typeface="Calibri" pitchFamily="34" charset="-122"/>
                <a:cs typeface="Calibri" pitchFamily="34" charset="-120"/>
              </a:rPr>
              <a:t>A Connected World</a:t>
            </a:r>
            <a:endParaRPr lang="en-US" sz="1200" dirty="0"/>
          </a:p>
        </p:txBody>
      </p:sp>
      <p:sp>
        <p:nvSpPr>
          <p:cNvPr id="21" name="Shape 19"/>
          <p:cNvSpPr/>
          <p:nvPr/>
        </p:nvSpPr>
        <p:spPr>
          <a:xfrm>
            <a:off x="365760" y="3703320"/>
            <a:ext cx="8412480" cy="685800"/>
          </a:xfrm>
          <a:prstGeom prst="roundRect">
            <a:avLst>
              <a:gd name="adj" fmla="val 16000"/>
            </a:avLst>
          </a:prstGeom>
          <a:solidFill>
            <a:srgbClr val="FFF3DC"/>
          </a:solidFill>
          <a:ln w="19050">
            <a:solidFill>
              <a:srgbClr val="F5E6C8"/>
            </a:solidFill>
            <a:prstDash val="solid"/>
          </a:ln>
        </p:spPr>
      </p:sp>
      <p:sp>
        <p:nvSpPr>
          <p:cNvPr id="22" name="Text 20"/>
          <p:cNvSpPr/>
          <p:nvPr/>
        </p:nvSpPr>
        <p:spPr>
          <a:xfrm>
            <a:off x="502920" y="3758184"/>
            <a:ext cx="813816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23" name="Text 21"/>
          <p:cNvSpPr/>
          <p:nvPr/>
        </p:nvSpPr>
        <p:spPr>
          <a:xfrm>
            <a:off x="502920" y="3959352"/>
            <a:ext cx="8138160" cy="36576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remembered..."</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one I had to think hardest about was..."</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E1C42"/>
          </a:solidFill>
          <a:ln w="12700">
            <a:solidFill>
              <a:srgbClr val="0E1C42"/>
            </a:solidFill>
            <a:prstDash val="solid"/>
          </a:ln>
        </p:spPr>
      </p:sp>
      <p:sp>
        <p:nvSpPr>
          <p:cNvPr id="3" name="Text 1"/>
          <p:cNvSpPr/>
          <p:nvPr/>
        </p:nvSpPr>
        <p:spPr>
          <a:xfrm>
            <a:off x="274320" y="109728"/>
            <a:ext cx="8595360" cy="274320"/>
          </a:xfrm>
          <a:prstGeom prst="rect">
            <a:avLst/>
          </a:prstGeom>
          <a:noFill/>
          <a:ln/>
        </p:spPr>
        <p:txBody>
          <a:bodyPr wrap="square" lIns="0" tIns="0" rIns="0" bIns="0" rtlCol="0" anchor="ctr"/>
          <a:lstStyle/>
          <a:p>
            <a:pPr indent="0" marL="0">
              <a:buNone/>
            </a:pPr>
            <a:r>
              <a:rPr lang="en-US" sz="900" b="1" spc="200" kern="0" dirty="0">
                <a:solidFill>
                  <a:srgbClr val="55C8E8"/>
                </a:solidFill>
                <a:latin typeface="Calibri" pitchFamily="34" charset="0"/>
                <a:ea typeface="Calibri" pitchFamily="34" charset="-122"/>
                <a:cs typeface="Calibri" pitchFamily="34" charset="-120"/>
              </a:rPr>
              <a:t>PAUSE &amp; THINK  ·  WHY IT MATTERS</a:t>
            </a:r>
            <a:endParaRPr lang="en-US" sz="900" dirty="0"/>
          </a:p>
        </p:txBody>
      </p:sp>
      <p:sp>
        <p:nvSpPr>
          <p:cNvPr id="4" name="Text 2"/>
          <p:cNvSpPr/>
          <p:nvPr/>
        </p:nvSpPr>
        <p:spPr>
          <a:xfrm>
            <a:off x="457200" y="640080"/>
            <a:ext cx="8229600" cy="292608"/>
          </a:xfrm>
          <a:prstGeom prst="rect">
            <a:avLst/>
          </a:prstGeom>
          <a:noFill/>
          <a:ln/>
        </p:spPr>
        <p:txBody>
          <a:bodyPr wrap="square" lIns="0" tIns="0" rIns="0" bIns="0" rtlCol="0" anchor="ctr"/>
          <a:lstStyle/>
          <a:p>
            <a:pPr algn="ctr" indent="0" marL="0">
              <a:buNone/>
            </a:pPr>
            <a:r>
              <a:rPr lang="en-US" sz="1300" dirty="0">
                <a:solidFill>
                  <a:srgbClr val="7A88A8"/>
                </a:solidFill>
                <a:latin typeface="Calibri" pitchFamily="34" charset="0"/>
                <a:ea typeface="Calibri" pitchFamily="34" charset="-122"/>
                <a:cs typeface="Calibri" pitchFamily="34" charset="-120"/>
              </a:rPr>
              <a:t>The curator's most important question:</a:t>
            </a:r>
            <a:endParaRPr lang="en-US" sz="1300" dirty="0"/>
          </a:p>
        </p:txBody>
      </p:sp>
      <p:sp>
        <p:nvSpPr>
          <p:cNvPr id="5" name="Text 3"/>
          <p:cNvSpPr/>
          <p:nvPr/>
        </p:nvSpPr>
        <p:spPr>
          <a:xfrm>
            <a:off x="457200" y="960120"/>
            <a:ext cx="8229600" cy="749808"/>
          </a:xfrm>
          <a:prstGeom prst="rect">
            <a:avLst/>
          </a:prstGeom>
          <a:noFill/>
          <a:ln/>
        </p:spPr>
        <p:txBody>
          <a:bodyPr wrap="square" lIns="0" tIns="0" rIns="0" bIns="0" rtlCol="0" anchor="ctr"/>
          <a:lstStyle/>
          <a:p>
            <a:pPr algn="ctr" indent="0" marL="0">
              <a:buNone/>
            </a:pPr>
            <a:r>
              <a:rPr lang="en-US" sz="2400" b="1" dirty="0">
                <a:solidFill>
                  <a:srgbClr val="0E1C42"/>
                </a:solidFill>
                <a:latin typeface="Cambria" pitchFamily="34" charset="0"/>
                <a:ea typeface="Cambria" pitchFamily="34" charset="-122"/>
                <a:cs typeface="Cambria" pitchFamily="34" charset="-120"/>
              </a:rPr>
              <a:t>Why is it important for the exhibit to include what happened to native peoples — not just what explorers found?</a:t>
            </a:r>
            <a:endParaRPr lang="en-US" sz="2400" dirty="0"/>
          </a:p>
        </p:txBody>
      </p:sp>
      <p:sp>
        <p:nvSpPr>
          <p:cNvPr id="6" name="Shape 4"/>
          <p:cNvSpPr/>
          <p:nvPr/>
        </p:nvSpPr>
        <p:spPr>
          <a:xfrm>
            <a:off x="365760" y="1828800"/>
            <a:ext cx="8229600" cy="1463040"/>
          </a:xfrm>
          <a:prstGeom prst="roundRect">
            <a:avLst>
              <a:gd name="adj" fmla="val 7500"/>
            </a:avLst>
          </a:prstGeom>
          <a:solidFill>
            <a:srgbClr val="F0F2F8"/>
          </a:solidFill>
          <a:ln w="12700">
            <a:solidFill>
              <a:srgbClr val="B0B8CC"/>
            </a:solidFill>
            <a:prstDash val="solid"/>
          </a:ln>
        </p:spPr>
      </p:sp>
      <p:sp>
        <p:nvSpPr>
          <p:cNvPr id="7" name="Text 5"/>
          <p:cNvSpPr/>
          <p:nvPr/>
        </p:nvSpPr>
        <p:spPr>
          <a:xfrm>
            <a:off x="548640" y="1901952"/>
            <a:ext cx="7863840" cy="228600"/>
          </a:xfrm>
          <a:prstGeom prst="rect">
            <a:avLst/>
          </a:prstGeom>
          <a:noFill/>
          <a:ln/>
        </p:spPr>
        <p:txBody>
          <a:bodyPr wrap="square" lIns="0" tIns="0" rIns="0" bIns="0" rtlCol="0" anchor="ctr"/>
          <a:lstStyle/>
          <a:p>
            <a:pPr indent="0" marL="0">
              <a:buNone/>
            </a:pPr>
            <a:r>
              <a:rPr lang="en-US" sz="900" b="1" spc="100" kern="0" dirty="0">
                <a:solidFill>
                  <a:srgbClr val="7A88A8"/>
                </a:solidFill>
                <a:latin typeface="Calibri" pitchFamily="34" charset="0"/>
                <a:ea typeface="Calibri" pitchFamily="34" charset="-122"/>
                <a:cs typeface="Calibri" pitchFamily="34" charset="-120"/>
              </a:rPr>
              <a:t>Thinking scaffold — which idea is closest to yours?</a:t>
            </a:r>
            <a:endParaRPr lang="en-US" sz="900" dirty="0"/>
          </a:p>
        </p:txBody>
      </p:sp>
      <p:sp>
        <p:nvSpPr>
          <p:cNvPr id="8" name="Text 6"/>
          <p:cNvSpPr/>
          <p:nvPr/>
        </p:nvSpPr>
        <p:spPr>
          <a:xfrm>
            <a:off x="548640" y="2148840"/>
            <a:ext cx="7863840" cy="274320"/>
          </a:xfrm>
          <a:prstGeom prst="rect">
            <a:avLst/>
          </a:prstGeom>
          <a:noFill/>
          <a:ln/>
        </p:spPr>
        <p:txBody>
          <a:bodyPr wrap="square" lIns="0" tIns="0" rIns="0" bIns="0" rtlCol="0" anchor="ctr"/>
          <a:lstStyle/>
          <a:p>
            <a:pPr indent="0" marL="0">
              <a:buNone/>
            </a:pPr>
            <a:r>
              <a:rPr lang="en-US" sz="1300" dirty="0">
                <a:solidFill>
                  <a:srgbClr val="0E1C42"/>
                </a:solidFill>
                <a:latin typeface="Calibri" pitchFamily="34" charset="0"/>
                <a:ea typeface="Calibri" pitchFamily="34" charset="-122"/>
                <a:cs typeface="Calibri" pitchFamily="34" charset="-120"/>
              </a:rPr>
              <a:t>A)  Because visitors deserve to know the full truth about what happened.</a:t>
            </a:r>
            <a:endParaRPr lang="en-US" sz="1300" dirty="0"/>
          </a:p>
        </p:txBody>
      </p:sp>
      <p:sp>
        <p:nvSpPr>
          <p:cNvPr id="9" name="Text 7"/>
          <p:cNvSpPr/>
          <p:nvPr/>
        </p:nvSpPr>
        <p:spPr>
          <a:xfrm>
            <a:off x="548640" y="2441448"/>
            <a:ext cx="7863840" cy="274320"/>
          </a:xfrm>
          <a:prstGeom prst="rect">
            <a:avLst/>
          </a:prstGeom>
          <a:noFill/>
          <a:ln/>
        </p:spPr>
        <p:txBody>
          <a:bodyPr wrap="square" lIns="0" tIns="0" rIns="0" bIns="0" rtlCol="0" anchor="ctr"/>
          <a:lstStyle/>
          <a:p>
            <a:pPr indent="0" marL="0">
              <a:buNone/>
            </a:pPr>
            <a:r>
              <a:rPr lang="en-US" sz="1300" dirty="0">
                <a:solidFill>
                  <a:srgbClr val="0E1C42"/>
                </a:solidFill>
                <a:latin typeface="Calibri" pitchFamily="34" charset="0"/>
                <a:ea typeface="Calibri" pitchFamily="34" charset="-122"/>
                <a:cs typeface="Calibri" pitchFamily="34" charset="-120"/>
              </a:rPr>
              <a:t>B)  Because an exhibit that leaves out hard facts is not honest or trustworthy.</a:t>
            </a:r>
            <a:endParaRPr lang="en-US" sz="1300" dirty="0"/>
          </a:p>
        </p:txBody>
      </p:sp>
      <p:sp>
        <p:nvSpPr>
          <p:cNvPr id="10" name="Text 8"/>
          <p:cNvSpPr/>
          <p:nvPr/>
        </p:nvSpPr>
        <p:spPr>
          <a:xfrm>
            <a:off x="548640" y="2734056"/>
            <a:ext cx="7863840" cy="274320"/>
          </a:xfrm>
          <a:prstGeom prst="rect">
            <a:avLst/>
          </a:prstGeom>
          <a:noFill/>
          <a:ln/>
        </p:spPr>
        <p:txBody>
          <a:bodyPr wrap="square" lIns="0" tIns="0" rIns="0" bIns="0" rtlCol="0" anchor="ctr"/>
          <a:lstStyle/>
          <a:p>
            <a:pPr indent="0" marL="0">
              <a:buNone/>
            </a:pPr>
            <a:r>
              <a:rPr lang="en-US" sz="1300" dirty="0">
                <a:solidFill>
                  <a:srgbClr val="0E1C42"/>
                </a:solidFill>
                <a:latin typeface="Calibri" pitchFamily="34" charset="0"/>
                <a:ea typeface="Calibri" pitchFamily="34" charset="-122"/>
                <a:cs typeface="Calibri" pitchFamily="34" charset="-120"/>
              </a:rPr>
              <a:t>C)  Because native peoples are part of the story — leaving them out erases them.</a:t>
            </a:r>
            <a:endParaRPr lang="en-US" sz="1300" dirty="0"/>
          </a:p>
        </p:txBody>
      </p:sp>
      <p:sp>
        <p:nvSpPr>
          <p:cNvPr id="11" name="Shape 9"/>
          <p:cNvSpPr/>
          <p:nvPr/>
        </p:nvSpPr>
        <p:spPr>
          <a:xfrm>
            <a:off x="365760" y="3401568"/>
            <a:ext cx="5029200" cy="1298448"/>
          </a:xfrm>
          <a:prstGeom prst="roundRect">
            <a:avLst>
              <a:gd name="adj" fmla="val 10563"/>
            </a:avLst>
          </a:prstGeom>
          <a:solidFill>
            <a:srgbClr val="1A2D5A"/>
          </a:solidFill>
          <a:ln/>
          <a:effectLst>
            <a:outerShdw sx="100000" sy="100000" kx="0" ky="0" algn="bl" rotWithShape="0" blurRad="101600" dist="38100" dir="8100000">
              <a:srgbClr val="000000">
                <a:alpha val="20000"/>
              </a:srgbClr>
            </a:outerShdw>
          </a:effectLst>
        </p:spPr>
      </p:sp>
      <p:sp>
        <p:nvSpPr>
          <p:cNvPr id="12" name="Text 10"/>
          <p:cNvSpPr/>
          <p:nvPr/>
        </p:nvSpPr>
        <p:spPr>
          <a:xfrm>
            <a:off x="548640" y="3493008"/>
            <a:ext cx="466344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3" name="Text 11"/>
          <p:cNvSpPr/>
          <p:nvPr/>
        </p:nvSpPr>
        <p:spPr>
          <a:xfrm>
            <a:off x="548640" y="3749040"/>
            <a:ext cx="4663440" cy="859536"/>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Can A and B both be true at the same time?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makes an exhibit 'honest'?</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Why does leaving someone out of a story matter?</a:t>
            </a:r>
            <a:endParaRPr lang="en-US" sz="1100" dirty="0"/>
          </a:p>
        </p:txBody>
      </p:sp>
      <p:sp>
        <p:nvSpPr>
          <p:cNvPr id="14" name="Shape 12"/>
          <p:cNvSpPr/>
          <p:nvPr/>
        </p:nvSpPr>
        <p:spPr>
          <a:xfrm>
            <a:off x="5577840" y="3401568"/>
            <a:ext cx="3200400" cy="1298448"/>
          </a:xfrm>
          <a:prstGeom prst="roundRect">
            <a:avLst>
              <a:gd name="adj" fmla="val 8451"/>
            </a:avLst>
          </a:prstGeom>
          <a:solidFill>
            <a:srgbClr val="FFF3DC"/>
          </a:solidFill>
          <a:ln w="19050">
            <a:solidFill>
              <a:srgbClr val="F5E6C8"/>
            </a:solidFill>
            <a:prstDash val="solid"/>
          </a:ln>
        </p:spPr>
      </p:sp>
      <p:sp>
        <p:nvSpPr>
          <p:cNvPr id="15" name="Text 13"/>
          <p:cNvSpPr/>
          <p:nvPr/>
        </p:nvSpPr>
        <p:spPr>
          <a:xfrm>
            <a:off x="5715000" y="3456432"/>
            <a:ext cx="292608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6" name="Text 14"/>
          <p:cNvSpPr/>
          <p:nvPr/>
        </p:nvSpPr>
        <p:spPr>
          <a:xfrm>
            <a:off x="5715000" y="3657600"/>
            <a:ext cx="2926080" cy="978408"/>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think it is important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"Without this, the exhibit would be..."</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A8A7D"/>
          </a:solidFill>
          <a:ln w="12700">
            <a:solidFill>
              <a:srgbClr val="1A8A7D"/>
            </a:solidFill>
            <a:prstDash val="solid"/>
          </a:ln>
        </p:spPr>
      </p:sp>
      <p:sp>
        <p:nvSpPr>
          <p:cNvPr id="3" name="Text 1"/>
          <p:cNvSpPr/>
          <p:nvPr/>
        </p:nvSpPr>
        <p:spPr>
          <a:xfrm>
            <a:off x="274320" y="109728"/>
            <a:ext cx="8595360" cy="274320"/>
          </a:xfrm>
          <a:prstGeom prst="rect">
            <a:avLst/>
          </a:prstGeom>
          <a:noFill/>
          <a:ln/>
        </p:spPr>
        <p:txBody>
          <a:bodyPr wrap="square" lIns="0" tIns="0" rIns="0" bIns="0" rtlCol="0" anchor="ctr"/>
          <a:lstStyle/>
          <a:p>
            <a:pPr indent="0" marL="0">
              <a:buNone/>
            </a:pPr>
            <a:r>
              <a:rPr lang="en-US" sz="900" b="1" spc="200" kern="0" dirty="0">
                <a:solidFill>
                  <a:srgbClr val="FFFFFF"/>
                </a:solidFill>
                <a:latin typeface="Calibri" pitchFamily="34" charset="0"/>
                <a:ea typeface="Calibri" pitchFamily="34" charset="-122"/>
                <a:cs typeface="Calibri" pitchFamily="34" charset="-120"/>
              </a:rPr>
              <a:t>TEACHER MODEL  ·  ASSIGNMENT Q1</a:t>
            </a:r>
            <a:endParaRPr lang="en-US" sz="900" dirty="0"/>
          </a:p>
        </p:txBody>
      </p:sp>
      <p:sp>
        <p:nvSpPr>
          <p:cNvPr id="4" name="Shape 2"/>
          <p:cNvSpPr/>
          <p:nvPr/>
        </p:nvSpPr>
        <p:spPr>
          <a:xfrm>
            <a:off x="365760" y="621792"/>
            <a:ext cx="8412480" cy="566928"/>
          </a:xfrm>
          <a:prstGeom prst="roundRect">
            <a:avLst>
              <a:gd name="adj" fmla="val 16129"/>
            </a:avLst>
          </a:prstGeom>
          <a:solidFill>
            <a:srgbClr val="EAF8FD"/>
          </a:solidFill>
          <a:ln w="19050">
            <a:solidFill>
              <a:srgbClr val="1A8A7D"/>
            </a:solidFill>
            <a:prstDash val="solid"/>
          </a:ln>
        </p:spPr>
      </p:sp>
      <p:sp>
        <p:nvSpPr>
          <p:cNvPr id="5" name="Text 3"/>
          <p:cNvSpPr/>
          <p:nvPr/>
        </p:nvSpPr>
        <p:spPr>
          <a:xfrm>
            <a:off x="548640" y="658368"/>
            <a:ext cx="8046720" cy="502920"/>
          </a:xfrm>
          <a:prstGeom prst="rect">
            <a:avLst/>
          </a:prstGeom>
          <a:noFill/>
          <a:ln/>
        </p:spPr>
        <p:txBody>
          <a:bodyPr wrap="square" lIns="0" tIns="0" rIns="0" bIns="0"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Q1:  Name one way the Columbian Exchange changed daily life. Use a detail from the lesson.</a:t>
            </a:r>
            <a:endParaRPr lang="en-US" sz="1400" dirty="0"/>
          </a:p>
        </p:txBody>
      </p:sp>
      <p:sp>
        <p:nvSpPr>
          <p:cNvPr id="6" name="Shape 4"/>
          <p:cNvSpPr/>
          <p:nvPr/>
        </p:nvSpPr>
        <p:spPr>
          <a:xfrm>
            <a:off x="365760" y="1325880"/>
            <a:ext cx="8412480" cy="1783080"/>
          </a:xfrm>
          <a:prstGeom prst="roundRect">
            <a:avLst>
              <a:gd name="adj" fmla="val 6154"/>
            </a:avLst>
          </a:prstGeom>
          <a:solidFill>
            <a:srgbClr val="F0F8FF"/>
          </a:solidFill>
          <a:ln w="19050">
            <a:solidFill>
              <a:srgbClr val="1A8A7D"/>
            </a:solidFill>
            <a:prstDash val="solid"/>
          </a:ln>
        </p:spPr>
      </p:sp>
      <p:sp>
        <p:nvSpPr>
          <p:cNvPr id="7" name="Text 5"/>
          <p:cNvSpPr/>
          <p:nvPr/>
        </p:nvSpPr>
        <p:spPr>
          <a:xfrm>
            <a:off x="548640" y="1417320"/>
            <a:ext cx="3200400" cy="228600"/>
          </a:xfrm>
          <a:prstGeom prst="rect">
            <a:avLst/>
          </a:prstGeom>
          <a:noFill/>
          <a:ln/>
        </p:spPr>
        <p:txBody>
          <a:bodyPr wrap="square" lIns="0" tIns="0" rIns="0" bIns="0"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Teacher Think-Aloud</a:t>
            </a:r>
            <a:endParaRPr lang="en-US" sz="900" dirty="0"/>
          </a:p>
        </p:txBody>
      </p:sp>
      <p:sp>
        <p:nvSpPr>
          <p:cNvPr id="8" name="Text 6"/>
          <p:cNvSpPr/>
          <p:nvPr/>
        </p:nvSpPr>
        <p:spPr>
          <a:xfrm>
            <a:off x="548640" y="1645920"/>
            <a:ext cx="8046720" cy="1234440"/>
          </a:xfrm>
          <a:prstGeom prst="rect">
            <a:avLst/>
          </a:prstGeom>
          <a:noFill/>
          <a:ln/>
        </p:spPr>
        <p:txBody>
          <a:bodyPr wrap="square" lIns="0" tIns="0" rIns="0" bIns="0" rtlCol="0" anchor="t"/>
          <a:lstStyle/>
          <a:p>
            <a:pPr indent="0" marL="0">
              <a:buNone/>
            </a:pPr>
            <a:r>
              <a:rPr lang="en-US" sz="1250" i="1" dirty="0">
                <a:solidFill>
                  <a:srgbClr val="0E1C42"/>
                </a:solidFill>
                <a:latin typeface="Calibri" pitchFamily="34" charset="0"/>
                <a:ea typeface="Calibri" pitchFamily="34" charset="-122"/>
                <a:cs typeface="Calibri" pitchFamily="34" charset="-120"/>
              </a:rPr>
              <a:t>"First I ask: WHAT crossed the ocean? I remember tomatoes went to Europe, horses came to the Americas. I pick ONE and explain what changed. I would write: The Columbian Exchange changed daily life in Europe because tomatoes crossed the Atlantic from the Americas. Before this, Italian food had no tomatoes. After the exchange, tomatoes became a key ingredient in European cooking."</a:t>
            </a:r>
            <a:endParaRPr lang="en-US" sz="1250" dirty="0"/>
          </a:p>
        </p:txBody>
      </p:sp>
      <p:sp>
        <p:nvSpPr>
          <p:cNvPr id="9" name="Shape 7"/>
          <p:cNvSpPr/>
          <p:nvPr/>
        </p:nvSpPr>
        <p:spPr>
          <a:xfrm>
            <a:off x="365760" y="3227832"/>
            <a:ext cx="3931920" cy="1234440"/>
          </a:xfrm>
          <a:prstGeom prst="roundRect">
            <a:avLst>
              <a:gd name="adj" fmla="val 7407"/>
            </a:avLst>
          </a:prstGeom>
          <a:solidFill>
            <a:srgbClr val="E3F8ED"/>
          </a:solidFill>
          <a:ln w="19050">
            <a:solidFill>
              <a:srgbClr val="34B76F"/>
            </a:solidFill>
            <a:prstDash val="solid"/>
          </a:ln>
        </p:spPr>
      </p:sp>
      <p:sp>
        <p:nvSpPr>
          <p:cNvPr id="10" name="Text 8"/>
          <p:cNvSpPr/>
          <p:nvPr/>
        </p:nvSpPr>
        <p:spPr>
          <a:xfrm>
            <a:off x="548640" y="3310128"/>
            <a:ext cx="3566160" cy="256032"/>
          </a:xfrm>
          <a:prstGeom prst="rect">
            <a:avLst/>
          </a:prstGeom>
          <a:noFill/>
          <a:ln/>
        </p:spPr>
        <p:txBody>
          <a:bodyPr wrap="square" lIns="0" tIns="0" rIns="0" bIns="0" rtlCol="0" anchor="ctr"/>
          <a:lstStyle/>
          <a:p>
            <a:pPr indent="0" marL="0">
              <a:buNone/>
            </a:pPr>
            <a:r>
              <a:rPr lang="en-US" sz="1000" b="1" dirty="0">
                <a:solidFill>
                  <a:srgbClr val="34B76F"/>
                </a:solidFill>
                <a:latin typeface="Calibri" pitchFamily="34" charset="0"/>
                <a:ea typeface="Calibri" pitchFamily="34" charset="-122"/>
                <a:cs typeface="Calibri" pitchFamily="34" charset="-120"/>
              </a:rPr>
              <a:t>Strong Answer Has:</a:t>
            </a:r>
            <a:endParaRPr lang="en-US" sz="1000" dirty="0"/>
          </a:p>
        </p:txBody>
      </p:sp>
      <p:sp>
        <p:nvSpPr>
          <p:cNvPr id="11" name="Text 9"/>
          <p:cNvSpPr/>
          <p:nvPr/>
        </p:nvSpPr>
        <p:spPr>
          <a:xfrm>
            <a:off x="548640" y="3584448"/>
            <a:ext cx="3566160" cy="777240"/>
          </a:xfrm>
          <a:prstGeom prst="rect">
            <a:avLst/>
          </a:prstGeom>
          <a:noFill/>
          <a:ln/>
        </p:spPr>
        <p:txBody>
          <a:bodyPr wrap="square" lIns="0" tIns="0" rIns="0" bIns="0" rtlCol="0" anchor="t"/>
          <a:lstStyle/>
          <a:p>
            <a:pPr indent="0" marL="0">
              <a:buNone/>
            </a:pPr>
            <a:r>
              <a:rPr lang="en-US" sz="1200" dirty="0">
                <a:solidFill>
                  <a:srgbClr val="0E1C42"/>
                </a:solidFill>
                <a:latin typeface="Calibri" pitchFamily="34" charset="0"/>
                <a:ea typeface="Calibri" pitchFamily="34" charset="-122"/>
                <a:cs typeface="Calibri" pitchFamily="34" charset="-120"/>
              </a:rPr>
              <a:t>One specific food or animal</a:t>
            </a: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The direction it traveled</a:t>
            </a: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What changed as a result</a:t>
            </a:r>
            <a:endParaRPr lang="en-US" sz="1200" dirty="0"/>
          </a:p>
        </p:txBody>
      </p:sp>
      <p:sp>
        <p:nvSpPr>
          <p:cNvPr id="12" name="Shape 10"/>
          <p:cNvSpPr/>
          <p:nvPr/>
        </p:nvSpPr>
        <p:spPr>
          <a:xfrm>
            <a:off x="4572000" y="3227832"/>
            <a:ext cx="4297680" cy="1234440"/>
          </a:xfrm>
          <a:prstGeom prst="roundRect">
            <a:avLst>
              <a:gd name="adj" fmla="val 8889"/>
            </a:avLst>
          </a:prstGeom>
          <a:solidFill>
            <a:srgbClr val="FFF3DC"/>
          </a:solidFill>
          <a:ln w="19050">
            <a:solidFill>
              <a:srgbClr val="F5E6C8"/>
            </a:solidFill>
            <a:prstDash val="solid"/>
          </a:ln>
        </p:spPr>
      </p:sp>
      <p:sp>
        <p:nvSpPr>
          <p:cNvPr id="13" name="Text 11"/>
          <p:cNvSpPr/>
          <p:nvPr/>
        </p:nvSpPr>
        <p:spPr>
          <a:xfrm>
            <a:off x="4709160" y="3282696"/>
            <a:ext cx="402336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4" name="Text 12"/>
          <p:cNvSpPr/>
          <p:nvPr/>
        </p:nvSpPr>
        <p:spPr>
          <a:xfrm>
            <a:off x="4709160" y="3483864"/>
            <a:ext cx="4023360" cy="91440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would write about _____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"One detail I want to use is..."</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E1C42"/>
          </a:solidFill>
          <a:ln w="12700">
            <a:solidFill>
              <a:srgbClr val="0E1C42"/>
            </a:solidFill>
            <a:prstDash val="solid"/>
          </a:ln>
        </p:spPr>
      </p:sp>
      <p:sp>
        <p:nvSpPr>
          <p:cNvPr id="3" name="Text 1"/>
          <p:cNvSpPr/>
          <p:nvPr/>
        </p:nvSpPr>
        <p:spPr>
          <a:xfrm>
            <a:off x="274320" y="109728"/>
            <a:ext cx="8595360" cy="274320"/>
          </a:xfrm>
          <a:prstGeom prst="rect">
            <a:avLst/>
          </a:prstGeom>
          <a:noFill/>
          <a:ln/>
        </p:spPr>
        <p:txBody>
          <a:bodyPr wrap="square" lIns="0" tIns="0" rIns="0" bIns="0" rtlCol="0" anchor="ctr"/>
          <a:lstStyle/>
          <a:p>
            <a:pPr indent="0" marL="0">
              <a:buNone/>
            </a:pPr>
            <a:r>
              <a:rPr lang="en-US" sz="900" b="1" spc="200" kern="0" dirty="0">
                <a:solidFill>
                  <a:srgbClr val="55C8E8"/>
                </a:solidFill>
                <a:latin typeface="Calibri" pitchFamily="34" charset="0"/>
                <a:ea typeface="Calibri" pitchFamily="34" charset="-122"/>
                <a:cs typeface="Calibri" pitchFamily="34" charset="-120"/>
              </a:rPr>
              <a:t>WE TRY TOGETHER  ·  ASSIGNMENT Q2</a:t>
            </a:r>
            <a:endParaRPr lang="en-US" sz="900" dirty="0"/>
          </a:p>
        </p:txBody>
      </p:sp>
      <p:sp>
        <p:nvSpPr>
          <p:cNvPr id="4" name="Shape 2"/>
          <p:cNvSpPr/>
          <p:nvPr/>
        </p:nvSpPr>
        <p:spPr>
          <a:xfrm>
            <a:off x="365760" y="621792"/>
            <a:ext cx="8412480" cy="566928"/>
          </a:xfrm>
          <a:prstGeom prst="roundRect">
            <a:avLst>
              <a:gd name="adj" fmla="val 16129"/>
            </a:avLst>
          </a:prstGeom>
          <a:solidFill>
            <a:srgbClr val="EAF8FD"/>
          </a:solidFill>
          <a:ln w="19050">
            <a:solidFill>
              <a:srgbClr val="55C8E8"/>
            </a:solidFill>
            <a:prstDash val="solid"/>
          </a:ln>
        </p:spPr>
      </p:sp>
      <p:sp>
        <p:nvSpPr>
          <p:cNvPr id="5" name="Text 3"/>
          <p:cNvSpPr/>
          <p:nvPr/>
        </p:nvSpPr>
        <p:spPr>
          <a:xfrm>
            <a:off x="548640" y="658368"/>
            <a:ext cx="8046720" cy="502920"/>
          </a:xfrm>
          <a:prstGeom prst="rect">
            <a:avLst/>
          </a:prstGeom>
          <a:noFill/>
          <a:ln/>
        </p:spPr>
        <p:txBody>
          <a:bodyPr wrap="square" lIns="0" tIns="0" rIns="0" bIns="0"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Q2:  Why does the museum director say the After the Voyage panel needs to include what happened to native peoples?</a:t>
            </a:r>
            <a:endParaRPr lang="en-US" sz="1400" dirty="0"/>
          </a:p>
        </p:txBody>
      </p:sp>
      <p:sp>
        <p:nvSpPr>
          <p:cNvPr id="6" name="Shape 4"/>
          <p:cNvSpPr/>
          <p:nvPr/>
        </p:nvSpPr>
        <p:spPr>
          <a:xfrm>
            <a:off x="365760" y="1325880"/>
            <a:ext cx="4572000" cy="2560320"/>
          </a:xfrm>
          <a:prstGeom prst="roundRect">
            <a:avLst>
              <a:gd name="adj" fmla="val 4286"/>
            </a:avLst>
          </a:prstGeom>
          <a:solidFill>
            <a:srgbClr val="F0F2F8"/>
          </a:solidFill>
          <a:ln w="19050">
            <a:solidFill>
              <a:srgbClr val="55C8E8"/>
            </a:solidFill>
            <a:prstDash val="solid"/>
          </a:ln>
        </p:spPr>
      </p:sp>
      <p:sp>
        <p:nvSpPr>
          <p:cNvPr id="7" name="Text 5"/>
          <p:cNvSpPr/>
          <p:nvPr/>
        </p:nvSpPr>
        <p:spPr>
          <a:xfrm>
            <a:off x="548640" y="1417320"/>
            <a:ext cx="4206240" cy="256032"/>
          </a:xfrm>
          <a:prstGeom prst="rect">
            <a:avLst/>
          </a:prstGeom>
          <a:noFill/>
          <a:ln/>
        </p:spPr>
        <p:txBody>
          <a:bodyPr wrap="square" lIns="0" tIns="0" rIns="0" bIns="0" rtlCol="0" anchor="ctr"/>
          <a:lstStyle/>
          <a:p>
            <a:pPr indent="0" marL="0">
              <a:buNone/>
            </a:pPr>
            <a:r>
              <a:rPr lang="en-US" sz="1000" b="1" spc="120" kern="0" dirty="0">
                <a:solidFill>
                  <a:srgbClr val="1A8A7D"/>
                </a:solidFill>
                <a:latin typeface="Calibri" pitchFamily="34" charset="0"/>
                <a:ea typeface="Calibri" pitchFamily="34" charset="-122"/>
                <a:cs typeface="Calibri" pitchFamily="34" charset="-120"/>
              </a:rPr>
              <a:t>Step by Step</a:t>
            </a:r>
            <a:endParaRPr lang="en-US" sz="1000" dirty="0"/>
          </a:p>
        </p:txBody>
      </p:sp>
      <p:sp>
        <p:nvSpPr>
          <p:cNvPr id="8" name="Text 6"/>
          <p:cNvSpPr/>
          <p:nvPr/>
        </p:nvSpPr>
        <p:spPr>
          <a:xfrm>
            <a:off x="548640" y="1691640"/>
            <a:ext cx="4206240" cy="256032"/>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Step 1: What is an 'honest exhibit'?</a:t>
            </a:r>
            <a:endParaRPr lang="en-US" sz="1200" dirty="0"/>
          </a:p>
        </p:txBody>
      </p:sp>
      <p:sp>
        <p:nvSpPr>
          <p:cNvPr id="9" name="Text 7"/>
          <p:cNvSpPr/>
          <p:nvPr/>
        </p:nvSpPr>
        <p:spPr>
          <a:xfrm>
            <a:off x="548640" y="1965960"/>
            <a:ext cx="4206240" cy="411480"/>
          </a:xfrm>
          <a:prstGeom prst="rect">
            <a:avLst/>
          </a:prstGeom>
          <a:noFill/>
          <a:ln/>
        </p:spPr>
        <p:txBody>
          <a:bodyPr wrap="square" lIns="0" tIns="0" rIns="0" bIns="0" rtlCol="0" anchor="ctr"/>
          <a:lstStyle/>
          <a:p>
            <a:pPr indent="0" marL="0">
              <a:buNone/>
            </a:pPr>
            <a:r>
              <a:rPr lang="en-US" sz="1150" dirty="0">
                <a:solidFill>
                  <a:srgbClr val="1A2D5A"/>
                </a:solidFill>
                <a:latin typeface="Calibri" pitchFamily="34" charset="0"/>
                <a:ea typeface="Calibri" pitchFamily="34" charset="-122"/>
                <a:cs typeface="Calibri" pitchFamily="34" charset="-120"/>
              </a:rPr>
              <a:t>An honest exhibit tells the full story, including parts that are hard to hear.</a:t>
            </a:r>
            <a:endParaRPr lang="en-US" sz="1150" dirty="0"/>
          </a:p>
        </p:txBody>
      </p:sp>
      <p:sp>
        <p:nvSpPr>
          <p:cNvPr id="10" name="Text 8"/>
          <p:cNvSpPr/>
          <p:nvPr/>
        </p:nvSpPr>
        <p:spPr>
          <a:xfrm>
            <a:off x="548640" y="2395728"/>
            <a:ext cx="4206240" cy="256032"/>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Step 2: What happened to native peoples?</a:t>
            </a:r>
            <a:endParaRPr lang="en-US" sz="1200" dirty="0"/>
          </a:p>
        </p:txBody>
      </p:sp>
      <p:sp>
        <p:nvSpPr>
          <p:cNvPr id="11" name="Text 9"/>
          <p:cNvSpPr/>
          <p:nvPr/>
        </p:nvSpPr>
        <p:spPr>
          <a:xfrm>
            <a:off x="548640" y="2670048"/>
            <a:ext cx="4206240" cy="411480"/>
          </a:xfrm>
          <a:prstGeom prst="rect">
            <a:avLst/>
          </a:prstGeom>
          <a:noFill/>
          <a:ln/>
        </p:spPr>
        <p:txBody>
          <a:bodyPr wrap="square" lIns="0" tIns="0" rIns="0" bIns="0" rtlCol="0" anchor="ctr"/>
          <a:lstStyle/>
          <a:p>
            <a:pPr indent="0" marL="0">
              <a:buNone/>
            </a:pPr>
            <a:r>
              <a:rPr lang="en-US" sz="1150" dirty="0">
                <a:solidFill>
                  <a:srgbClr val="1A2D5A"/>
                </a:solidFill>
                <a:latin typeface="Calibri" pitchFamily="34" charset="0"/>
                <a:ea typeface="Calibri" pitchFamily="34" charset="-122"/>
                <a:cs typeface="Calibri" pitchFamily="34" charset="-120"/>
              </a:rPr>
              <a:t>Disease, loss of land, and forced labor — serious, lasting consequences.</a:t>
            </a:r>
            <a:endParaRPr lang="en-US" sz="1150" dirty="0"/>
          </a:p>
        </p:txBody>
      </p:sp>
      <p:sp>
        <p:nvSpPr>
          <p:cNvPr id="12" name="Text 10"/>
          <p:cNvSpPr/>
          <p:nvPr/>
        </p:nvSpPr>
        <p:spPr>
          <a:xfrm>
            <a:off x="548640" y="3090672"/>
            <a:ext cx="4206240" cy="256032"/>
          </a:xfrm>
          <a:prstGeom prst="rect">
            <a:avLst/>
          </a:prstGeom>
          <a:noFill/>
          <a:ln/>
        </p:spPr>
        <p:txBody>
          <a:bodyPr wrap="square" lIns="0" tIns="0" rIns="0" bIns="0" rtlCol="0" anchor="ctr"/>
          <a:lstStyle/>
          <a:p>
            <a:pPr indent="0" marL="0">
              <a:buNone/>
            </a:pPr>
            <a:r>
              <a:rPr lang="en-US" sz="1200" b="1" dirty="0">
                <a:solidFill>
                  <a:srgbClr val="D4943A"/>
                </a:solidFill>
                <a:latin typeface="Calibri" pitchFamily="34" charset="0"/>
                <a:ea typeface="Calibri" pitchFamily="34" charset="-122"/>
                <a:cs typeface="Calibri" pitchFamily="34" charset="-120"/>
              </a:rPr>
              <a:t>Step 3: Connect them. That is your answer.</a:t>
            </a:r>
            <a:endParaRPr lang="en-US" sz="1200" dirty="0"/>
          </a:p>
        </p:txBody>
      </p:sp>
      <p:sp>
        <p:nvSpPr>
          <p:cNvPr id="13" name="Shape 11"/>
          <p:cNvSpPr/>
          <p:nvPr/>
        </p:nvSpPr>
        <p:spPr>
          <a:xfrm>
            <a:off x="5120640" y="1325880"/>
            <a:ext cx="3566160" cy="2560320"/>
          </a:xfrm>
          <a:prstGeom prst="roundRect">
            <a:avLst>
              <a:gd name="adj" fmla="val 5357"/>
            </a:avLst>
          </a:prstGeom>
          <a:solidFill>
            <a:srgbClr val="1A2D5A"/>
          </a:solidFill>
          <a:ln/>
          <a:effectLst>
            <a:outerShdw sx="100000" sy="100000" kx="0" ky="0" algn="bl" rotWithShape="0" blurRad="101600" dist="38100" dir="8100000">
              <a:srgbClr val="000000">
                <a:alpha val="20000"/>
              </a:srgbClr>
            </a:outerShdw>
          </a:effectLst>
        </p:spPr>
      </p:sp>
      <p:sp>
        <p:nvSpPr>
          <p:cNvPr id="14" name="Text 12"/>
          <p:cNvSpPr/>
          <p:nvPr/>
        </p:nvSpPr>
        <p:spPr>
          <a:xfrm>
            <a:off x="5303520" y="1417320"/>
            <a:ext cx="320040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5" name="Text 13"/>
          <p:cNvSpPr/>
          <p:nvPr/>
        </p:nvSpPr>
        <p:spPr>
          <a:xfrm>
            <a:off x="5303520" y="1673352"/>
            <a:ext cx="3200400" cy="212140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would the exhibit be missing without this?</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Why does leaving someone out matter?</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Would you trust an exhibit that skipped this?</a:t>
            </a:r>
            <a:endParaRPr lang="en-US" sz="1100" dirty="0"/>
          </a:p>
        </p:txBody>
      </p:sp>
      <p:sp>
        <p:nvSpPr>
          <p:cNvPr id="16" name="Shape 14"/>
          <p:cNvSpPr/>
          <p:nvPr/>
        </p:nvSpPr>
        <p:spPr>
          <a:xfrm>
            <a:off x="365760" y="4041648"/>
            <a:ext cx="8412480" cy="685800"/>
          </a:xfrm>
          <a:prstGeom prst="roundRect">
            <a:avLst>
              <a:gd name="adj" fmla="val 16000"/>
            </a:avLst>
          </a:prstGeom>
          <a:solidFill>
            <a:srgbClr val="FFF3DC"/>
          </a:solidFill>
          <a:ln w="19050">
            <a:solidFill>
              <a:srgbClr val="F5E6C8"/>
            </a:solidFill>
            <a:prstDash val="solid"/>
          </a:ln>
        </p:spPr>
      </p:sp>
      <p:sp>
        <p:nvSpPr>
          <p:cNvPr id="17" name="Text 15"/>
          <p:cNvSpPr/>
          <p:nvPr/>
        </p:nvSpPr>
        <p:spPr>
          <a:xfrm>
            <a:off x="502920" y="4096512"/>
            <a:ext cx="813816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8" name="Text 16"/>
          <p:cNvSpPr/>
          <p:nvPr/>
        </p:nvSpPr>
        <p:spPr>
          <a:xfrm>
            <a:off x="502920" y="4297680"/>
            <a:ext cx="8138160" cy="36576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museum director says to include it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"Without this, visitors would think..."</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E8636B"/>
          </a:solidFill>
          <a:ln w="12700">
            <a:solidFill>
              <a:srgbClr val="E8636B"/>
            </a:solidFill>
            <a:prstDash val="solid"/>
          </a:ln>
        </p:spPr>
      </p:sp>
      <p:sp>
        <p:nvSpPr>
          <p:cNvPr id="3" name="Text 1"/>
          <p:cNvSpPr/>
          <p:nvPr/>
        </p:nvSpPr>
        <p:spPr>
          <a:xfrm>
            <a:off x="274320" y="109728"/>
            <a:ext cx="8595360" cy="274320"/>
          </a:xfrm>
          <a:prstGeom prst="rect">
            <a:avLst/>
          </a:prstGeom>
          <a:noFill/>
          <a:ln/>
        </p:spPr>
        <p:txBody>
          <a:bodyPr wrap="square" lIns="0" tIns="0" rIns="0" bIns="0" rtlCol="0" anchor="ctr"/>
          <a:lstStyle/>
          <a:p>
            <a:pPr indent="0" marL="0">
              <a:buNone/>
            </a:pPr>
            <a:r>
              <a:rPr lang="en-US" sz="900" b="1" spc="200" kern="0" dirty="0">
                <a:solidFill>
                  <a:srgbClr val="FFFFFF"/>
                </a:solidFill>
                <a:latin typeface="Calibri" pitchFamily="34" charset="0"/>
                <a:ea typeface="Calibri" pitchFamily="34" charset="-122"/>
                <a:cs typeface="Calibri" pitchFamily="34" charset="-120"/>
              </a:rPr>
              <a:t>ERROR ANALYSIS  ·  SPOT THE MISTAKE</a:t>
            </a:r>
            <a:endParaRPr lang="en-US" sz="900" dirty="0"/>
          </a:p>
        </p:txBody>
      </p:sp>
      <p:sp>
        <p:nvSpPr>
          <p:cNvPr id="4" name="Text 2"/>
          <p:cNvSpPr/>
          <p:nvPr/>
        </p:nvSpPr>
        <p:spPr>
          <a:xfrm>
            <a:off x="457200" y="621792"/>
            <a:ext cx="8229600" cy="411480"/>
          </a:xfrm>
          <a:prstGeom prst="rect">
            <a:avLst/>
          </a:prstGeom>
          <a:noFill/>
          <a:ln/>
        </p:spPr>
        <p:txBody>
          <a:bodyPr wrap="square" lIns="0" tIns="0" rIns="0" bIns="0" rtlCol="0" anchor="ctr"/>
          <a:lstStyle/>
          <a:p>
            <a:pPr algn="ctr" indent="0" marL="0">
              <a:buNone/>
            </a:pPr>
            <a:r>
              <a:rPr lang="en-US" sz="1900" b="1" dirty="0">
                <a:solidFill>
                  <a:srgbClr val="0E1C42"/>
                </a:solidFill>
                <a:latin typeface="Cambria" pitchFamily="34" charset="0"/>
                <a:ea typeface="Cambria" pitchFamily="34" charset="-122"/>
                <a:cs typeface="Cambria" pitchFamily="34" charset="-120"/>
              </a:rPr>
              <a:t>A student wrote this answer. What did they get right? What did they miss?</a:t>
            </a:r>
            <a:endParaRPr lang="en-US" sz="1900" dirty="0"/>
          </a:p>
        </p:txBody>
      </p:sp>
      <p:sp>
        <p:nvSpPr>
          <p:cNvPr id="5" name="Shape 3"/>
          <p:cNvSpPr/>
          <p:nvPr/>
        </p:nvSpPr>
        <p:spPr>
          <a:xfrm>
            <a:off x="914400" y="1170432"/>
            <a:ext cx="7315200" cy="1005840"/>
          </a:xfrm>
          <a:prstGeom prst="roundRect">
            <a:avLst>
              <a:gd name="adj" fmla="val 10909"/>
            </a:avLst>
          </a:prstGeom>
          <a:solidFill>
            <a:srgbClr val="FFF0EE"/>
          </a:solidFill>
          <a:ln w="25400">
            <a:solidFill>
              <a:srgbClr val="E8636B"/>
            </a:solidFill>
            <a:prstDash val="solid"/>
          </a:ln>
        </p:spPr>
      </p:sp>
      <p:sp>
        <p:nvSpPr>
          <p:cNvPr id="6" name="Text 4"/>
          <p:cNvSpPr/>
          <p:nvPr/>
        </p:nvSpPr>
        <p:spPr>
          <a:xfrm>
            <a:off x="1097280" y="1243584"/>
            <a:ext cx="2286000" cy="228600"/>
          </a:xfrm>
          <a:prstGeom prst="rect">
            <a:avLst/>
          </a:prstGeom>
          <a:noFill/>
          <a:ln/>
        </p:spPr>
        <p:txBody>
          <a:bodyPr wrap="square" lIns="0" tIns="0" rIns="0" bIns="0" rtlCol="0" anchor="ctr"/>
          <a:lstStyle/>
          <a:p>
            <a:pPr indent="0" marL="0">
              <a:buNone/>
            </a:pPr>
            <a:r>
              <a:rPr lang="en-US" sz="900" b="1" spc="100" kern="0" dirty="0">
                <a:solidFill>
                  <a:srgbClr val="E8636B"/>
                </a:solidFill>
                <a:latin typeface="Calibri" pitchFamily="34" charset="0"/>
                <a:ea typeface="Calibri" pitchFamily="34" charset="-122"/>
                <a:cs typeface="Calibri" pitchFamily="34" charset="-120"/>
              </a:rPr>
              <a:t>Student Answer:</a:t>
            </a:r>
            <a:endParaRPr lang="en-US" sz="900" dirty="0"/>
          </a:p>
        </p:txBody>
      </p:sp>
      <p:sp>
        <p:nvSpPr>
          <p:cNvPr id="7" name="Text 5"/>
          <p:cNvSpPr/>
          <p:nvPr/>
        </p:nvSpPr>
        <p:spPr>
          <a:xfrm>
            <a:off x="1097280" y="1463040"/>
            <a:ext cx="6949440" cy="594360"/>
          </a:xfrm>
          <a:prstGeom prst="rect">
            <a:avLst/>
          </a:prstGeom>
          <a:noFill/>
          <a:ln/>
        </p:spPr>
        <p:txBody>
          <a:bodyPr wrap="square" lIns="0" tIns="0" rIns="0" bIns="0" rtlCol="0" anchor="t"/>
          <a:lstStyle/>
          <a:p>
            <a:pPr indent="0" marL="0">
              <a:buNone/>
            </a:pPr>
            <a:r>
              <a:rPr lang="en-US" sz="1300" i="1" dirty="0">
                <a:solidFill>
                  <a:srgbClr val="5A4A3A"/>
                </a:solidFill>
                <a:latin typeface="Cambria" pitchFamily="34" charset="0"/>
                <a:ea typeface="Cambria" pitchFamily="34" charset="-122"/>
                <a:cs typeface="Cambria" pitchFamily="34" charset="-120"/>
              </a:rPr>
              <a:t>"The museum director wants to include what happened to native peoples because it makes the exhibit more interesting and exciting for visitors."</a:t>
            </a:r>
            <a:endParaRPr lang="en-US" sz="1300" dirty="0"/>
          </a:p>
        </p:txBody>
      </p:sp>
      <p:sp>
        <p:nvSpPr>
          <p:cNvPr id="8" name="Shape 6"/>
          <p:cNvSpPr/>
          <p:nvPr/>
        </p:nvSpPr>
        <p:spPr>
          <a:xfrm>
            <a:off x="365760" y="2304288"/>
            <a:ext cx="4846320" cy="1874520"/>
          </a:xfrm>
          <a:prstGeom prst="roundRect">
            <a:avLst>
              <a:gd name="adj" fmla="val 7317"/>
            </a:avLst>
          </a:prstGeom>
          <a:solidFill>
            <a:srgbClr val="1A2D5A"/>
          </a:solidFill>
          <a:ln/>
          <a:effectLst>
            <a:outerShdw sx="100000" sy="100000" kx="0" ky="0" algn="bl" rotWithShape="0" blurRad="101600" dist="38100" dir="8100000">
              <a:srgbClr val="000000">
                <a:alpha val="20000"/>
              </a:srgbClr>
            </a:outerShdw>
          </a:effectLst>
        </p:spPr>
      </p:sp>
      <p:sp>
        <p:nvSpPr>
          <p:cNvPr id="9" name="Text 7"/>
          <p:cNvSpPr/>
          <p:nvPr/>
        </p:nvSpPr>
        <p:spPr>
          <a:xfrm>
            <a:off x="548640" y="2395728"/>
            <a:ext cx="448056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0" name="Text 8"/>
          <p:cNvSpPr/>
          <p:nvPr/>
        </p:nvSpPr>
        <p:spPr>
          <a:xfrm>
            <a:off x="548640" y="2651760"/>
            <a:ext cx="4480560" cy="143560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did this student get right?</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is the problem with 'interesting and exciting'?</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is the REAL reason — what did they miss?</a:t>
            </a:r>
            <a:endParaRPr lang="en-US" sz="1100" dirty="0"/>
          </a:p>
        </p:txBody>
      </p:sp>
      <p:sp>
        <p:nvSpPr>
          <p:cNvPr id="11" name="Shape 9"/>
          <p:cNvSpPr/>
          <p:nvPr/>
        </p:nvSpPr>
        <p:spPr>
          <a:xfrm>
            <a:off x="5394960" y="2304288"/>
            <a:ext cx="3383280" cy="1874520"/>
          </a:xfrm>
          <a:prstGeom prst="roundRect">
            <a:avLst>
              <a:gd name="adj" fmla="val 4878"/>
            </a:avLst>
          </a:prstGeom>
          <a:solidFill>
            <a:srgbClr val="E3F8ED"/>
          </a:solidFill>
          <a:ln w="19050">
            <a:solidFill>
              <a:srgbClr val="34B76F"/>
            </a:solidFill>
            <a:prstDash val="solid"/>
          </a:ln>
        </p:spPr>
      </p:sp>
      <p:sp>
        <p:nvSpPr>
          <p:cNvPr id="12" name="Text 10"/>
          <p:cNvSpPr/>
          <p:nvPr/>
        </p:nvSpPr>
        <p:spPr>
          <a:xfrm>
            <a:off x="5577840" y="2395728"/>
            <a:ext cx="3017520" cy="256032"/>
          </a:xfrm>
          <a:prstGeom prst="rect">
            <a:avLst/>
          </a:prstGeom>
          <a:noFill/>
          <a:ln/>
        </p:spPr>
        <p:txBody>
          <a:bodyPr wrap="square" lIns="0" tIns="0" rIns="0" bIns="0" rtlCol="0" anchor="ctr"/>
          <a:lstStyle/>
          <a:p>
            <a:pPr indent="0" marL="0">
              <a:buNone/>
            </a:pPr>
            <a:r>
              <a:rPr lang="en-US" sz="900" b="1" spc="100" kern="0" dirty="0">
                <a:solidFill>
                  <a:srgbClr val="34B76F"/>
                </a:solidFill>
                <a:latin typeface="Calibri" pitchFamily="34" charset="0"/>
                <a:ea typeface="Calibri" pitchFamily="34" charset="-122"/>
                <a:cs typeface="Calibri" pitchFamily="34" charset="-120"/>
              </a:rPr>
              <a:t>Better Answer Has:</a:t>
            </a:r>
            <a:endParaRPr lang="en-US" sz="900" dirty="0"/>
          </a:p>
        </p:txBody>
      </p:sp>
      <p:sp>
        <p:nvSpPr>
          <p:cNvPr id="13" name="Text 11"/>
          <p:cNvSpPr/>
          <p:nvPr/>
        </p:nvSpPr>
        <p:spPr>
          <a:xfrm>
            <a:off x="5577840" y="2670048"/>
            <a:ext cx="3017520" cy="1234440"/>
          </a:xfrm>
          <a:prstGeom prst="rect">
            <a:avLst/>
          </a:prstGeom>
          <a:noFill/>
          <a:ln/>
        </p:spPr>
        <p:txBody>
          <a:bodyPr wrap="square" lIns="0" tIns="0" rIns="0" bIns="0" rtlCol="0" anchor="t"/>
          <a:lstStyle/>
          <a:p>
            <a:pPr indent="0" marL="0">
              <a:buNone/>
            </a:pPr>
            <a:r>
              <a:rPr lang="en-US" sz="1100" dirty="0">
                <a:solidFill>
                  <a:srgbClr val="0E1C42"/>
                </a:solidFill>
                <a:latin typeface="Calibri" pitchFamily="34" charset="0"/>
                <a:ea typeface="Calibri" pitchFamily="34" charset="-122"/>
                <a:cs typeface="Calibri" pitchFamily="34" charset="-120"/>
              </a:rPr>
              <a:t>Honesty — not entertainment</a:t>
            </a:r>
            <a:endParaRPr lang="en-US" sz="1100" dirty="0"/>
          </a:p>
          <a:p>
            <a:pPr indent="0" marL="0">
              <a:buNone/>
            </a:pPr>
            <a:r>
              <a:rPr lang="en-US" sz="1100" dirty="0">
                <a:solidFill>
                  <a:srgbClr val="0E1C42"/>
                </a:solidFill>
                <a:latin typeface="Calibri" pitchFamily="34" charset="0"/>
                <a:ea typeface="Calibri" pitchFamily="34" charset="-122"/>
                <a:cs typeface="Calibri" pitchFamily="34" charset="-120"/>
              </a:rPr>
              <a:t>The actual consequences</a:t>
            </a:r>
            <a:endParaRPr lang="en-US" sz="1100" dirty="0"/>
          </a:p>
          <a:p>
            <a:pPr indent="0" marL="0">
              <a:buNone/>
            </a:pPr>
            <a:r>
              <a:rPr lang="en-US" sz="1100" dirty="0">
                <a:solidFill>
                  <a:srgbClr val="0E1C42"/>
                </a:solidFill>
                <a:latin typeface="Calibri" pitchFamily="34" charset="0"/>
                <a:ea typeface="Calibri" pitchFamily="34" charset="-122"/>
                <a:cs typeface="Calibri" pitchFamily="34" charset="-120"/>
              </a:rPr>
              <a:t>(disease, land, labor)</a:t>
            </a:r>
            <a:endParaRPr lang="en-US" sz="1100" dirty="0"/>
          </a:p>
          <a:p>
            <a:pPr indent="0" marL="0">
              <a:buNone/>
            </a:pPr>
            <a:r>
              <a:rPr lang="en-US" sz="1100" dirty="0">
                <a:solidFill>
                  <a:srgbClr val="0E1C42"/>
                </a:solidFill>
                <a:latin typeface="Calibri" pitchFamily="34" charset="0"/>
                <a:ea typeface="Calibri" pitchFamily="34" charset="-122"/>
                <a:cs typeface="Calibri" pitchFamily="34" charset="-120"/>
              </a:rPr>
              <a:t>Why this makes the exhibit trustworthy</a:t>
            </a:r>
            <a:endParaRPr lang="en-US" sz="1100" dirty="0"/>
          </a:p>
        </p:txBody>
      </p:sp>
      <p:sp>
        <p:nvSpPr>
          <p:cNvPr id="14" name="Shape 12"/>
          <p:cNvSpPr/>
          <p:nvPr/>
        </p:nvSpPr>
        <p:spPr>
          <a:xfrm>
            <a:off x="365760" y="4270248"/>
            <a:ext cx="8412480" cy="594360"/>
          </a:xfrm>
          <a:prstGeom prst="roundRect">
            <a:avLst>
              <a:gd name="adj" fmla="val 18462"/>
            </a:avLst>
          </a:prstGeom>
          <a:solidFill>
            <a:srgbClr val="FFF3DC"/>
          </a:solidFill>
          <a:ln w="19050">
            <a:solidFill>
              <a:srgbClr val="F5E6C8"/>
            </a:solidFill>
            <a:prstDash val="solid"/>
          </a:ln>
        </p:spPr>
      </p:sp>
      <p:sp>
        <p:nvSpPr>
          <p:cNvPr id="15" name="Text 13"/>
          <p:cNvSpPr/>
          <p:nvPr/>
        </p:nvSpPr>
        <p:spPr>
          <a:xfrm>
            <a:off x="502920" y="4325112"/>
            <a:ext cx="813816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6" name="Text 14"/>
          <p:cNvSpPr/>
          <p:nvPr/>
        </p:nvSpPr>
        <p:spPr>
          <a:xfrm>
            <a:off x="502920" y="4526280"/>
            <a:ext cx="8138160" cy="27432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student missed..."</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"A stronger answer would say..."</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D4943A"/>
          </a:solidFill>
          <a:ln w="12700">
            <a:solidFill>
              <a:srgbClr val="D4943A"/>
            </a:solidFill>
            <a:prstDash val="solid"/>
          </a:ln>
        </p:spPr>
      </p:sp>
      <p:sp>
        <p:nvSpPr>
          <p:cNvPr id="3" name="Text 1"/>
          <p:cNvSpPr/>
          <p:nvPr/>
        </p:nvSpPr>
        <p:spPr>
          <a:xfrm>
            <a:off x="274320" y="109728"/>
            <a:ext cx="8595360" cy="274320"/>
          </a:xfrm>
          <a:prstGeom prst="rect">
            <a:avLst/>
          </a:prstGeom>
          <a:noFill/>
          <a:ln/>
        </p:spPr>
        <p:txBody>
          <a:bodyPr wrap="square" lIns="0" tIns="0" rIns="0" bIns="0" rtlCol="0" anchor="ctr"/>
          <a:lstStyle/>
          <a:p>
            <a:pPr indent="0" marL="0">
              <a:buNone/>
            </a:pPr>
            <a:r>
              <a:rPr lang="en-US" sz="900" b="1" spc="200" kern="0" dirty="0">
                <a:solidFill>
                  <a:srgbClr val="FFFFFF"/>
                </a:solidFill>
                <a:latin typeface="Calibri" pitchFamily="34" charset="0"/>
                <a:ea typeface="Calibri" pitchFamily="34" charset="-122"/>
                <a:cs typeface="Calibri" pitchFamily="34" charset="-120"/>
              </a:rPr>
              <a:t>YOUR TURN  ·  CURATOR TASK</a:t>
            </a:r>
            <a:endParaRPr lang="en-US" sz="900" dirty="0"/>
          </a:p>
        </p:txBody>
      </p:sp>
      <p:sp>
        <p:nvSpPr>
          <p:cNvPr id="4" name="Text 2"/>
          <p:cNvSpPr/>
          <p:nvPr/>
        </p:nvSpPr>
        <p:spPr>
          <a:xfrm>
            <a:off x="457200" y="640080"/>
            <a:ext cx="8229600" cy="475488"/>
          </a:xfrm>
          <a:prstGeom prst="rect">
            <a:avLst/>
          </a:prstGeom>
          <a:noFill/>
          <a:ln/>
        </p:spPr>
        <p:txBody>
          <a:bodyPr wrap="square" lIns="0" tIns="0" rIns="0" bIns="0" rtlCol="0" anchor="ctr"/>
          <a:lstStyle/>
          <a:p>
            <a:pPr algn="ctr" indent="0" marL="0">
              <a:buNone/>
            </a:pPr>
            <a:r>
              <a:rPr lang="en-US" sz="3000" b="1" dirty="0">
                <a:solidFill>
                  <a:srgbClr val="0E1C42"/>
                </a:solidFill>
                <a:latin typeface="Cambria" pitchFamily="34" charset="0"/>
                <a:ea typeface="Cambria" pitchFamily="34" charset="-122"/>
                <a:cs typeface="Cambria" pitchFamily="34" charset="-120"/>
              </a:rPr>
              <a:t>Write the "After the Voyage" Panel</a:t>
            </a:r>
            <a:endParaRPr lang="en-US" sz="3000" dirty="0"/>
          </a:p>
        </p:txBody>
      </p:sp>
      <p:sp>
        <p:nvSpPr>
          <p:cNvPr id="5" name="Shape 3"/>
          <p:cNvSpPr/>
          <p:nvPr/>
        </p:nvSpPr>
        <p:spPr>
          <a:xfrm>
            <a:off x="365760" y="1234440"/>
            <a:ext cx="8412480" cy="713232"/>
          </a:xfrm>
          <a:prstGeom prst="roundRect">
            <a:avLst>
              <a:gd name="adj" fmla="val 12821"/>
            </a:avLst>
          </a:prstGeom>
          <a:solidFill>
            <a:srgbClr val="FFF3DC"/>
          </a:solidFill>
          <a:ln w="19050">
            <a:solidFill>
              <a:srgbClr val="D4943A"/>
            </a:solidFill>
            <a:prstDash val="solid"/>
          </a:ln>
        </p:spPr>
      </p:sp>
      <p:sp>
        <p:nvSpPr>
          <p:cNvPr id="6" name="Text 4"/>
          <p:cNvSpPr/>
          <p:nvPr/>
        </p:nvSpPr>
        <p:spPr>
          <a:xfrm>
            <a:off x="548640" y="1307592"/>
            <a:ext cx="8046720" cy="594360"/>
          </a:xfrm>
          <a:prstGeom prst="rect">
            <a:avLst/>
          </a:prstGeom>
          <a:noFill/>
          <a:ln/>
        </p:spPr>
        <p:txBody>
          <a:bodyPr wrap="square" lIns="0" tIns="0" rIns="0" bIns="0" rtlCol="0" anchor="t"/>
          <a:lstStyle/>
          <a:p>
            <a:pPr indent="0" marL="0">
              <a:buNone/>
            </a:pPr>
            <a:r>
              <a:rPr lang="en-US" sz="1250" dirty="0">
                <a:solidFill>
                  <a:srgbClr val="5A4A3A"/>
                </a:solidFill>
                <a:latin typeface="Calibri" pitchFamily="34" charset="0"/>
                <a:ea typeface="Calibri" pitchFamily="34" charset="-122"/>
                <a:cs typeface="Calibri" pitchFamily="34" charset="-120"/>
              </a:rPr>
              <a:t>Write 3-5 sentences telling museum visitors what happened after explorers reached new lands. Include at least two consequences from today's lesson. Be honest — that is what curators do.</a:t>
            </a:r>
            <a:endParaRPr lang="en-US" sz="1250" dirty="0"/>
          </a:p>
        </p:txBody>
      </p:sp>
      <p:sp>
        <p:nvSpPr>
          <p:cNvPr id="7" name="Shape 5"/>
          <p:cNvSpPr/>
          <p:nvPr/>
        </p:nvSpPr>
        <p:spPr>
          <a:xfrm>
            <a:off x="365760" y="2075688"/>
            <a:ext cx="5029200" cy="1920240"/>
          </a:xfrm>
          <a:prstGeom prst="roundRect">
            <a:avLst>
              <a:gd name="adj" fmla="val 5714"/>
            </a:avLst>
          </a:prstGeom>
          <a:solidFill>
            <a:srgbClr val="F0F2F8"/>
          </a:solidFill>
          <a:ln w="12700">
            <a:solidFill>
              <a:srgbClr val="B0B8CC"/>
            </a:solidFill>
            <a:prstDash val="solid"/>
          </a:ln>
        </p:spPr>
      </p:sp>
      <p:sp>
        <p:nvSpPr>
          <p:cNvPr id="8" name="Text 6"/>
          <p:cNvSpPr/>
          <p:nvPr/>
        </p:nvSpPr>
        <p:spPr>
          <a:xfrm>
            <a:off x="548640" y="2167128"/>
            <a:ext cx="4663440" cy="256032"/>
          </a:xfrm>
          <a:prstGeom prst="rect">
            <a:avLst/>
          </a:prstGeom>
          <a:noFill/>
          <a:ln/>
        </p:spPr>
        <p:txBody>
          <a:bodyPr wrap="square" lIns="0" tIns="0" rIns="0" bIns="0" rtlCol="0" anchor="ctr"/>
          <a:lstStyle/>
          <a:p>
            <a:pPr indent="0" marL="0">
              <a:buNone/>
            </a:pPr>
            <a:r>
              <a:rPr lang="en-US" sz="1000" b="1" spc="120" kern="0" dirty="0">
                <a:solidFill>
                  <a:srgbClr val="7A88A8"/>
                </a:solidFill>
                <a:latin typeface="Calibri" pitchFamily="34" charset="0"/>
                <a:ea typeface="Calibri" pitchFamily="34" charset="-122"/>
                <a:cs typeface="Calibri" pitchFamily="34" charset="-120"/>
              </a:rPr>
              <a:t>Curator Checklist</a:t>
            </a:r>
            <a:endParaRPr lang="en-US" sz="1000" dirty="0"/>
          </a:p>
        </p:txBody>
      </p:sp>
      <p:sp>
        <p:nvSpPr>
          <p:cNvPr id="9" name="Text 7"/>
          <p:cNvSpPr/>
          <p:nvPr/>
        </p:nvSpPr>
        <p:spPr>
          <a:xfrm>
            <a:off x="548640" y="2441448"/>
            <a:ext cx="4663440" cy="1325880"/>
          </a:xfrm>
          <a:prstGeom prst="rect">
            <a:avLst/>
          </a:prstGeom>
          <a:noFill/>
          <a:ln/>
        </p:spPr>
        <p:txBody>
          <a:bodyPr wrap="square" lIns="0" tIns="0" rIns="0" bIns="0" rtlCol="0" anchor="t"/>
          <a:lstStyle/>
          <a:p>
            <a:pPr indent="0" marL="0">
              <a:buNone/>
            </a:pPr>
            <a:r>
              <a:rPr lang="en-US" sz="1200" dirty="0">
                <a:solidFill>
                  <a:srgbClr val="0E1C42"/>
                </a:solidFill>
                <a:latin typeface="Calibri" pitchFamily="34" charset="0"/>
                <a:ea typeface="Calibri" pitchFamily="34" charset="-122"/>
                <a:cs typeface="Calibri" pitchFamily="34" charset="-120"/>
              </a:rPr>
              <a:t>At least 2 consequences named</a:t>
            </a: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At least 3 sentences (aim for 5)</a:t>
            </a: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Who was affected? What changed?</a:t>
            </a: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Why does it matter?</a:t>
            </a: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Honest tone — not just exciting facts</a:t>
            </a:r>
            <a:endParaRPr lang="en-US" sz="1200" dirty="0"/>
          </a:p>
        </p:txBody>
      </p:sp>
      <p:sp>
        <p:nvSpPr>
          <p:cNvPr id="10" name="Shape 8"/>
          <p:cNvSpPr/>
          <p:nvPr/>
        </p:nvSpPr>
        <p:spPr>
          <a:xfrm>
            <a:off x="5669280" y="2075688"/>
            <a:ext cx="3108960" cy="1920240"/>
          </a:xfrm>
          <a:prstGeom prst="roundRect">
            <a:avLst>
              <a:gd name="adj" fmla="val 5714"/>
            </a:avLst>
          </a:prstGeom>
          <a:solidFill>
            <a:srgbClr val="EAF8FD"/>
          </a:solidFill>
          <a:ln w="19050">
            <a:solidFill>
              <a:srgbClr val="55C8E8"/>
            </a:solidFill>
            <a:prstDash val="solid"/>
          </a:ln>
        </p:spPr>
      </p:sp>
      <p:sp>
        <p:nvSpPr>
          <p:cNvPr id="11" name="Text 9"/>
          <p:cNvSpPr/>
          <p:nvPr/>
        </p:nvSpPr>
        <p:spPr>
          <a:xfrm>
            <a:off x="5852160" y="2167128"/>
            <a:ext cx="2743200" cy="256032"/>
          </a:xfrm>
          <a:prstGeom prst="rect">
            <a:avLst/>
          </a:prstGeom>
          <a:noFill/>
          <a:ln/>
        </p:spPr>
        <p:txBody>
          <a:bodyPr wrap="square" lIns="0" tIns="0" rIns="0" bIns="0" rtlCol="0" anchor="ctr"/>
          <a:lstStyle/>
          <a:p>
            <a:pPr indent="0" marL="0">
              <a:buNone/>
            </a:pPr>
            <a:r>
              <a:rPr lang="en-US" sz="1000" b="1" spc="120" kern="0" dirty="0">
                <a:solidFill>
                  <a:srgbClr val="1A8A7D"/>
                </a:solidFill>
                <a:latin typeface="Calibri" pitchFamily="34" charset="0"/>
                <a:ea typeface="Calibri" pitchFamily="34" charset="-122"/>
                <a:cs typeface="Calibri" pitchFamily="34" charset="-120"/>
              </a:rPr>
              <a:t>Starter Ideas</a:t>
            </a:r>
            <a:endParaRPr lang="en-US" sz="1000" dirty="0"/>
          </a:p>
        </p:txBody>
      </p:sp>
      <p:sp>
        <p:nvSpPr>
          <p:cNvPr id="12" name="Text 10"/>
          <p:cNvSpPr/>
          <p:nvPr/>
        </p:nvSpPr>
        <p:spPr>
          <a:xfrm>
            <a:off x="5852160" y="2441448"/>
            <a:ext cx="2743200" cy="1325880"/>
          </a:xfrm>
          <a:prstGeom prst="rect">
            <a:avLst/>
          </a:prstGeom>
          <a:noFill/>
          <a:ln/>
        </p:spPr>
        <p:txBody>
          <a:bodyPr wrap="square" lIns="0" tIns="0" rIns="0" bIns="0" rtlCol="0" anchor="t"/>
          <a:lstStyle/>
          <a:p>
            <a:pPr indent="0" marL="0">
              <a:buNone/>
            </a:pPr>
            <a:r>
              <a:rPr lang="en-US" sz="1100" i="1" dirty="0">
                <a:solidFill>
                  <a:srgbClr val="1A2D5A"/>
                </a:solidFill>
                <a:latin typeface="Calibri" pitchFamily="34" charset="0"/>
                <a:ea typeface="Calibri" pitchFamily="34" charset="-122"/>
                <a:cs typeface="Calibri" pitchFamily="34" charset="-120"/>
              </a:rPr>
              <a:t>"After explorers arrived..."</a:t>
            </a:r>
            <a:endParaRPr lang="en-US" sz="1100" dirty="0"/>
          </a:p>
          <a:p>
            <a:pPr indent="0" marL="0">
              <a:buNone/>
            </a:pPr>
            <a:r>
              <a:rPr lang="en-US" sz="1100" i="1" dirty="0">
                <a:solidFill>
                  <a:srgbClr val="1A2D5A"/>
                </a:solidFill>
                <a:latin typeface="Calibri" pitchFamily="34" charset="0"/>
                <a:ea typeface="Calibri" pitchFamily="34" charset="-122"/>
                <a:cs typeface="Calibri" pitchFamily="34" charset="-120"/>
              </a:rPr>
              <a:t>"One major consequence was..."</a:t>
            </a:r>
            <a:endParaRPr lang="en-US" sz="1100" dirty="0"/>
          </a:p>
          <a:p>
            <a:pPr indent="0" marL="0">
              <a:buNone/>
            </a:pPr>
            <a:r>
              <a:rPr lang="en-US" sz="1100" i="1" dirty="0">
                <a:solidFill>
                  <a:srgbClr val="1A2D5A"/>
                </a:solidFill>
                <a:latin typeface="Calibri" pitchFamily="34" charset="0"/>
                <a:ea typeface="Calibri" pitchFamily="34" charset="-122"/>
                <a:cs typeface="Calibri" pitchFamily="34" charset="-120"/>
              </a:rPr>
              <a:t>"Native peoples experienced..."</a:t>
            </a:r>
            <a:endParaRPr lang="en-US" sz="1100" dirty="0"/>
          </a:p>
          <a:p>
            <a:pPr indent="0" marL="0">
              <a:buNone/>
            </a:pPr>
            <a:r>
              <a:rPr lang="en-US" sz="1100" i="1" dirty="0">
                <a:solidFill>
                  <a:srgbClr val="1A2D5A"/>
                </a:solidFill>
                <a:latin typeface="Calibri" pitchFamily="34" charset="0"/>
                <a:ea typeface="Calibri" pitchFamily="34" charset="-122"/>
                <a:cs typeface="Calibri" pitchFamily="34" charset="-120"/>
              </a:rPr>
              <a:t>"The Columbian Exchange..."</a:t>
            </a:r>
            <a:endParaRPr lang="en-US" sz="1100" dirty="0"/>
          </a:p>
        </p:txBody>
      </p:sp>
      <p:sp>
        <p:nvSpPr>
          <p:cNvPr id="13" name="Shape 11"/>
          <p:cNvSpPr/>
          <p:nvPr/>
        </p:nvSpPr>
        <p:spPr>
          <a:xfrm>
            <a:off x="365760" y="4087368"/>
            <a:ext cx="8412480" cy="530352"/>
          </a:xfrm>
          <a:prstGeom prst="roundRect">
            <a:avLst>
              <a:gd name="adj" fmla="val 17241"/>
            </a:avLst>
          </a:prstGeom>
          <a:solidFill>
            <a:srgbClr val="0E1C42"/>
          </a:solidFill>
          <a:ln w="12700">
            <a:solidFill>
              <a:srgbClr val="0E1C42"/>
            </a:solidFill>
            <a:prstDash val="solid"/>
          </a:ln>
        </p:spPr>
      </p:sp>
      <p:sp>
        <p:nvSpPr>
          <p:cNvPr id="14" name="Text 12"/>
          <p:cNvSpPr/>
          <p:nvPr/>
        </p:nvSpPr>
        <p:spPr>
          <a:xfrm>
            <a:off x="548640" y="4133088"/>
            <a:ext cx="8046720" cy="438912"/>
          </a:xfrm>
          <a:prstGeom prst="rect">
            <a:avLst/>
          </a:prstGeom>
          <a:noFill/>
          <a:ln/>
        </p:spPr>
        <p:txBody>
          <a:bodyPr wrap="square" lIns="0" tIns="0" rIns="0" bIns="0" rtlCol="0" anchor="ctr"/>
          <a:lstStyle/>
          <a:p>
            <a:pPr algn="ctr" indent="0" marL="0">
              <a:buNone/>
            </a:pPr>
            <a:r>
              <a:rPr lang="en-US" sz="1300" b="1" i="1" dirty="0">
                <a:solidFill>
                  <a:srgbClr val="D4943A"/>
                </a:solidFill>
                <a:latin typeface="Cambria" pitchFamily="34" charset="0"/>
                <a:ea typeface="Cambria" pitchFamily="34" charset="-122"/>
                <a:cs typeface="Cambria" pitchFamily="34" charset="-120"/>
              </a:rPr>
              <a:t>Work independently. The panel has been empty long enough. Fill it in.</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E1C42"/>
          </a:solidFill>
          <a:ln w="12700">
            <a:solidFill>
              <a:srgbClr val="0E1C42"/>
            </a:solidFill>
            <a:prstDash val="solid"/>
          </a:ln>
        </p:spPr>
      </p:sp>
      <p:sp>
        <p:nvSpPr>
          <p:cNvPr id="3" name="Text 1"/>
          <p:cNvSpPr/>
          <p:nvPr/>
        </p:nvSpPr>
        <p:spPr>
          <a:xfrm>
            <a:off x="274320" y="109728"/>
            <a:ext cx="8595360" cy="274320"/>
          </a:xfrm>
          <a:prstGeom prst="rect">
            <a:avLst/>
          </a:prstGeom>
          <a:noFill/>
          <a:ln/>
        </p:spPr>
        <p:txBody>
          <a:bodyPr wrap="square" lIns="0" tIns="0" rIns="0" bIns="0" rtlCol="0" anchor="ctr"/>
          <a:lstStyle/>
          <a:p>
            <a:pPr indent="0" marL="0">
              <a:buNone/>
            </a:pPr>
            <a:r>
              <a:rPr lang="en-US" sz="900" b="1" spc="200" kern="0" dirty="0">
                <a:solidFill>
                  <a:srgbClr val="55C8E8"/>
                </a:solidFill>
                <a:latin typeface="Calibri" pitchFamily="34" charset="0"/>
                <a:ea typeface="Calibri" pitchFamily="34" charset="-122"/>
                <a:cs typeface="Calibri" pitchFamily="34" charset="-120"/>
              </a:rPr>
              <a:t>CURATOR'S CHRONICLE  ·  REFLECTION</a:t>
            </a:r>
            <a:endParaRPr lang="en-US" sz="900" dirty="0"/>
          </a:p>
        </p:txBody>
      </p:sp>
      <p:sp>
        <p:nvSpPr>
          <p:cNvPr id="4" name="Text 2"/>
          <p:cNvSpPr/>
          <p:nvPr/>
        </p:nvSpPr>
        <p:spPr>
          <a:xfrm>
            <a:off x="457200" y="640080"/>
            <a:ext cx="8229600" cy="384048"/>
          </a:xfrm>
          <a:prstGeom prst="rect">
            <a:avLst/>
          </a:prstGeom>
          <a:noFill/>
          <a:ln/>
        </p:spPr>
        <p:txBody>
          <a:bodyPr wrap="square" lIns="0" tIns="0" rIns="0" bIns="0" rtlCol="0" anchor="ctr"/>
          <a:lstStyle/>
          <a:p>
            <a:pPr algn="ctr" indent="0" marL="0">
              <a:buNone/>
            </a:pPr>
            <a:r>
              <a:rPr lang="en-US" sz="2200" b="1" dirty="0">
                <a:solidFill>
                  <a:srgbClr val="0E1C42"/>
                </a:solidFill>
                <a:latin typeface="Cambria" pitchFamily="34" charset="0"/>
                <a:ea typeface="Cambria" pitchFamily="34" charset="-122"/>
                <a:cs typeface="Cambria" pitchFamily="34" charset="-120"/>
              </a:rPr>
              <a:t>Finish the sentence in your own words.</a:t>
            </a:r>
            <a:endParaRPr lang="en-US" sz="2200" dirty="0"/>
          </a:p>
        </p:txBody>
      </p:sp>
      <p:sp>
        <p:nvSpPr>
          <p:cNvPr id="5" name="Shape 3"/>
          <p:cNvSpPr/>
          <p:nvPr/>
        </p:nvSpPr>
        <p:spPr>
          <a:xfrm>
            <a:off x="914400" y="1161288"/>
            <a:ext cx="7315200" cy="1143000"/>
          </a:xfrm>
          <a:prstGeom prst="roundRect">
            <a:avLst>
              <a:gd name="adj" fmla="val 12000"/>
            </a:avLst>
          </a:prstGeom>
          <a:solidFill>
            <a:srgbClr val="FFF3DC"/>
          </a:solidFill>
          <a:ln w="31750">
            <a:solidFill>
              <a:srgbClr val="D4943A"/>
            </a:solidFill>
            <a:prstDash val="solid"/>
          </a:ln>
        </p:spPr>
      </p:sp>
      <p:sp>
        <p:nvSpPr>
          <p:cNvPr id="6" name="Text 4"/>
          <p:cNvSpPr/>
          <p:nvPr/>
        </p:nvSpPr>
        <p:spPr>
          <a:xfrm>
            <a:off x="1097280" y="1252728"/>
            <a:ext cx="3200400" cy="256032"/>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Curator's Chronicle</a:t>
            </a:r>
            <a:endParaRPr lang="en-US" sz="900" dirty="0"/>
          </a:p>
        </p:txBody>
      </p:sp>
      <p:sp>
        <p:nvSpPr>
          <p:cNvPr id="7" name="Text 5"/>
          <p:cNvSpPr/>
          <p:nvPr/>
        </p:nvSpPr>
        <p:spPr>
          <a:xfrm>
            <a:off x="1097280" y="1508760"/>
            <a:ext cx="6949440" cy="658368"/>
          </a:xfrm>
          <a:prstGeom prst="rect">
            <a:avLst/>
          </a:prstGeom>
          <a:noFill/>
          <a:ln/>
        </p:spPr>
        <p:txBody>
          <a:bodyPr wrap="square" lIns="0" tIns="0" rIns="0" bIns="0" rtlCol="0" anchor="ctr"/>
          <a:lstStyle/>
          <a:p>
            <a:pPr algn="ctr" indent="0" marL="0">
              <a:buNone/>
            </a:pPr>
            <a:r>
              <a:rPr lang="en-US" sz="1700" i="1" dirty="0">
                <a:solidFill>
                  <a:srgbClr val="5A4A3A"/>
                </a:solidFill>
                <a:latin typeface="Cambria" pitchFamily="34" charset="0"/>
                <a:ea typeface="Cambria" pitchFamily="34" charset="-122"/>
                <a:cs typeface="Cambria" pitchFamily="34" charset="-120"/>
              </a:rPr>
              <a:t>"In this exhibit, I learned that _____________ because _____________."</a:t>
            </a:r>
            <a:endParaRPr lang="en-US" sz="1700" dirty="0"/>
          </a:p>
        </p:txBody>
      </p:sp>
      <p:sp>
        <p:nvSpPr>
          <p:cNvPr id="8" name="Shape 6"/>
          <p:cNvSpPr/>
          <p:nvPr/>
        </p:nvSpPr>
        <p:spPr>
          <a:xfrm>
            <a:off x="365760" y="2450592"/>
            <a:ext cx="8412480" cy="1371600"/>
          </a:xfrm>
          <a:prstGeom prst="roundRect">
            <a:avLst>
              <a:gd name="adj" fmla="val 8000"/>
            </a:avLst>
          </a:prstGeom>
          <a:solidFill>
            <a:srgbClr val="F0F2F8"/>
          </a:solidFill>
          <a:ln w="12700">
            <a:solidFill>
              <a:srgbClr val="B0B8CC"/>
            </a:solidFill>
            <a:prstDash val="solid"/>
          </a:ln>
        </p:spPr>
      </p:sp>
      <p:sp>
        <p:nvSpPr>
          <p:cNvPr id="9" name="Text 7"/>
          <p:cNvSpPr/>
          <p:nvPr/>
        </p:nvSpPr>
        <p:spPr>
          <a:xfrm>
            <a:off x="548640" y="2542032"/>
            <a:ext cx="8046720" cy="256032"/>
          </a:xfrm>
          <a:prstGeom prst="rect">
            <a:avLst/>
          </a:prstGeom>
          <a:noFill/>
          <a:ln/>
        </p:spPr>
        <p:txBody>
          <a:bodyPr wrap="square" lIns="0" tIns="0" rIns="0" bIns="0" rtlCol="0" anchor="ctr"/>
          <a:lstStyle/>
          <a:p>
            <a:pPr indent="0" marL="0">
              <a:buNone/>
            </a:pPr>
            <a:r>
              <a:rPr lang="en-US" sz="1000" b="1" spc="100" kern="0" dirty="0">
                <a:solidFill>
                  <a:srgbClr val="7A88A8"/>
                </a:solidFill>
                <a:latin typeface="Calibri" pitchFamily="34" charset="0"/>
                <a:ea typeface="Calibri" pitchFamily="34" charset="-122"/>
                <a:cs typeface="Calibri" pitchFamily="34" charset="-120"/>
              </a:rPr>
              <a:t>Why the 'because' matters:</a:t>
            </a:r>
            <a:endParaRPr lang="en-US" sz="1000" dirty="0"/>
          </a:p>
        </p:txBody>
      </p:sp>
      <p:sp>
        <p:nvSpPr>
          <p:cNvPr id="10" name="Text 8"/>
          <p:cNvSpPr/>
          <p:nvPr/>
        </p:nvSpPr>
        <p:spPr>
          <a:xfrm>
            <a:off x="548640" y="2816352"/>
            <a:ext cx="8046720" cy="896112"/>
          </a:xfrm>
          <a:prstGeom prst="rect">
            <a:avLst/>
          </a:prstGeom>
          <a:noFill/>
          <a:ln/>
        </p:spPr>
        <p:txBody>
          <a:bodyPr wrap="square" lIns="0" tIns="0" rIns="0" bIns="0" rtlCol="0" anchor="t"/>
          <a:lstStyle/>
          <a:p>
            <a:pPr indent="0" marL="0">
              <a:buNone/>
            </a:pPr>
            <a:r>
              <a:rPr lang="en-US" sz="1250" dirty="0">
                <a:solidFill>
                  <a:srgbClr val="0E1C42"/>
                </a:solidFill>
                <a:latin typeface="Calibri" pitchFamily="34" charset="0"/>
                <a:ea typeface="Calibri" pitchFamily="34" charset="-122"/>
                <a:cs typeface="Calibri" pitchFamily="34" charset="-120"/>
              </a:rPr>
              <a:t>A strong Curator's Chronicle does not just say WHAT you learned — it explains WHY it matters. The 'because' is the most important part. Push yourself: because an honest exhibit... because native peoples... because the world today is still...</a:t>
            </a:r>
            <a:endParaRPr lang="en-US" sz="1250" dirty="0"/>
          </a:p>
        </p:txBody>
      </p:sp>
      <p:sp>
        <p:nvSpPr>
          <p:cNvPr id="11" name="Shape 9"/>
          <p:cNvSpPr/>
          <p:nvPr/>
        </p:nvSpPr>
        <p:spPr>
          <a:xfrm>
            <a:off x="365760" y="3931920"/>
            <a:ext cx="8412480" cy="685800"/>
          </a:xfrm>
          <a:prstGeom prst="roundRect">
            <a:avLst>
              <a:gd name="adj" fmla="val 16000"/>
            </a:avLst>
          </a:prstGeom>
          <a:solidFill>
            <a:srgbClr val="FFF3DC"/>
          </a:solidFill>
          <a:ln w="19050">
            <a:solidFill>
              <a:srgbClr val="F5E6C8"/>
            </a:solidFill>
            <a:prstDash val="solid"/>
          </a:ln>
        </p:spPr>
      </p:sp>
      <p:sp>
        <p:nvSpPr>
          <p:cNvPr id="12" name="Text 10"/>
          <p:cNvSpPr/>
          <p:nvPr/>
        </p:nvSpPr>
        <p:spPr>
          <a:xfrm>
            <a:off x="502920" y="3986784"/>
            <a:ext cx="813816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3" name="Text 11"/>
          <p:cNvSpPr/>
          <p:nvPr/>
        </p:nvSpPr>
        <p:spPr>
          <a:xfrm>
            <a:off x="502920" y="4187952"/>
            <a:ext cx="8138160" cy="36576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"In this exhibit, I learned that...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'because' I chose is important because..."</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E1C42"/>
          </a:solidFill>
          <a:ln w="12700">
            <a:solidFill>
              <a:srgbClr val="0E1C42"/>
            </a:solidFill>
            <a:prstDash val="solid"/>
          </a:ln>
        </p:spPr>
      </p:sp>
      <p:sp>
        <p:nvSpPr>
          <p:cNvPr id="3" name="Text 1"/>
          <p:cNvSpPr/>
          <p:nvPr/>
        </p:nvSpPr>
        <p:spPr>
          <a:xfrm>
            <a:off x="274320" y="109728"/>
            <a:ext cx="8595360" cy="274320"/>
          </a:xfrm>
          <a:prstGeom prst="rect">
            <a:avLst/>
          </a:prstGeom>
          <a:noFill/>
          <a:ln/>
        </p:spPr>
        <p:txBody>
          <a:bodyPr wrap="square" lIns="0" tIns="0" rIns="0" bIns="0" rtlCol="0" anchor="ctr"/>
          <a:lstStyle/>
          <a:p>
            <a:pPr indent="0" marL="0">
              <a:buNone/>
            </a:pPr>
            <a:r>
              <a:rPr lang="en-US" sz="900" b="1" spc="200" kern="0" dirty="0">
                <a:solidFill>
                  <a:srgbClr val="55C8E8"/>
                </a:solidFill>
                <a:latin typeface="Calibri" pitchFamily="34" charset="0"/>
                <a:ea typeface="Calibri" pitchFamily="34" charset="-122"/>
                <a:cs typeface="Calibri" pitchFamily="34" charset="-120"/>
              </a:rPr>
              <a:t>ASSIGNMENT  ·  TURN-IN CHECKLIST</a:t>
            </a:r>
            <a:endParaRPr lang="en-US" sz="900" dirty="0"/>
          </a:p>
        </p:txBody>
      </p:sp>
      <p:sp>
        <p:nvSpPr>
          <p:cNvPr id="4" name="Text 2"/>
          <p:cNvSpPr/>
          <p:nvPr/>
        </p:nvSpPr>
        <p:spPr>
          <a:xfrm>
            <a:off x="457200" y="640080"/>
            <a:ext cx="8229600" cy="384048"/>
          </a:xfrm>
          <a:prstGeom prst="rect">
            <a:avLst/>
          </a:prstGeom>
          <a:noFill/>
          <a:ln/>
        </p:spPr>
        <p:txBody>
          <a:bodyPr wrap="square" lIns="0" tIns="0" rIns="0" bIns="0" rtlCol="0" anchor="ctr"/>
          <a:lstStyle/>
          <a:p>
            <a:pPr algn="ctr" indent="0" marL="0">
              <a:buNone/>
            </a:pPr>
            <a:r>
              <a:rPr lang="en-US" sz="2000" b="1" dirty="0">
                <a:solidFill>
                  <a:srgbClr val="0E1C42"/>
                </a:solidFill>
                <a:latin typeface="Cambria" pitchFamily="34" charset="0"/>
                <a:ea typeface="Cambria" pitchFamily="34" charset="-122"/>
                <a:cs typeface="Cambria" pitchFamily="34" charset="-120"/>
              </a:rPr>
              <a:t>Before you submit, make sure you have all four pieces.</a:t>
            </a:r>
            <a:endParaRPr lang="en-US" sz="2000" dirty="0"/>
          </a:p>
        </p:txBody>
      </p:sp>
      <p:sp>
        <p:nvSpPr>
          <p:cNvPr id="5" name="Shape 3"/>
          <p:cNvSpPr/>
          <p:nvPr/>
        </p:nvSpPr>
        <p:spPr>
          <a:xfrm>
            <a:off x="365760" y="1161288"/>
            <a:ext cx="8412480" cy="749808"/>
          </a:xfrm>
          <a:prstGeom prst="roundRect">
            <a:avLst>
              <a:gd name="adj" fmla="val 12195"/>
            </a:avLst>
          </a:prstGeom>
          <a:solidFill>
            <a:srgbClr val="EAF8FD"/>
          </a:solidFill>
          <a:ln w="19050">
            <a:solidFill>
              <a:srgbClr val="55C8E8"/>
            </a:solidFill>
            <a:prstDash val="solid"/>
          </a:ln>
        </p:spPr>
      </p:sp>
      <p:sp>
        <p:nvSpPr>
          <p:cNvPr id="6" name="Shape 4"/>
          <p:cNvSpPr/>
          <p:nvPr/>
        </p:nvSpPr>
        <p:spPr>
          <a:xfrm>
            <a:off x="502920" y="1325880"/>
            <a:ext cx="384048" cy="384048"/>
          </a:xfrm>
          <a:prstGeom prst="roundRect">
            <a:avLst>
              <a:gd name="adj" fmla="val 19048"/>
            </a:avLst>
          </a:prstGeom>
          <a:solidFill>
            <a:srgbClr val="55C8E8"/>
          </a:solidFill>
          <a:ln w="12700">
            <a:solidFill>
              <a:srgbClr val="55C8E8"/>
            </a:solidFill>
            <a:prstDash val="solid"/>
          </a:ln>
        </p:spPr>
      </p:sp>
      <p:sp>
        <p:nvSpPr>
          <p:cNvPr id="7" name="Text 5"/>
          <p:cNvSpPr/>
          <p:nvPr/>
        </p:nvSpPr>
        <p:spPr>
          <a:xfrm>
            <a:off x="502920" y="13258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p:nvPr/>
        </p:nvSpPr>
        <p:spPr>
          <a:xfrm>
            <a:off x="1005840" y="1234440"/>
            <a:ext cx="7589520" cy="274320"/>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Evidence Q1</a:t>
            </a:r>
            <a:endParaRPr lang="en-US" sz="1200" dirty="0"/>
          </a:p>
        </p:txBody>
      </p:sp>
      <p:sp>
        <p:nvSpPr>
          <p:cNvPr id="9" name="Text 7"/>
          <p:cNvSpPr/>
          <p:nvPr/>
        </p:nvSpPr>
        <p:spPr>
          <a:xfrm>
            <a:off x="1005840" y="1508760"/>
            <a:ext cx="7589520" cy="301752"/>
          </a:xfrm>
          <a:prstGeom prst="rect">
            <a:avLst/>
          </a:prstGeom>
          <a:noFill/>
          <a:ln/>
        </p:spPr>
        <p:txBody>
          <a:bodyPr wrap="square" lIns="0" tIns="0" rIns="0" bIns="0" rtlCol="0" anchor="ctr"/>
          <a:lstStyle/>
          <a:p>
            <a:pPr indent="0" marL="0">
              <a:buNone/>
            </a:pPr>
            <a:r>
              <a:rPr lang="en-US" sz="1100" dirty="0">
                <a:solidFill>
                  <a:srgbClr val="1A2D5A"/>
                </a:solidFill>
                <a:latin typeface="Calibri" pitchFamily="34" charset="0"/>
                <a:ea typeface="Calibri" pitchFamily="34" charset="-122"/>
                <a:cs typeface="Calibri" pitchFamily="34" charset="-120"/>
              </a:rPr>
              <a:t>Name one way the Columbian Exchange changed daily life. Use a specific food or animal from the lesson.</a:t>
            </a:r>
            <a:endParaRPr lang="en-US" sz="1100" dirty="0"/>
          </a:p>
        </p:txBody>
      </p:sp>
      <p:sp>
        <p:nvSpPr>
          <p:cNvPr id="10" name="Shape 8"/>
          <p:cNvSpPr/>
          <p:nvPr/>
        </p:nvSpPr>
        <p:spPr>
          <a:xfrm>
            <a:off x="365760" y="2011680"/>
            <a:ext cx="8412480" cy="749808"/>
          </a:xfrm>
          <a:prstGeom prst="roundRect">
            <a:avLst>
              <a:gd name="adj" fmla="val 12195"/>
            </a:avLst>
          </a:prstGeom>
          <a:solidFill>
            <a:srgbClr val="EAF8FD"/>
          </a:solidFill>
          <a:ln w="19050">
            <a:solidFill>
              <a:srgbClr val="55C8E8"/>
            </a:solidFill>
            <a:prstDash val="solid"/>
          </a:ln>
        </p:spPr>
      </p:sp>
      <p:sp>
        <p:nvSpPr>
          <p:cNvPr id="11" name="Shape 9"/>
          <p:cNvSpPr/>
          <p:nvPr/>
        </p:nvSpPr>
        <p:spPr>
          <a:xfrm>
            <a:off x="502920" y="2176272"/>
            <a:ext cx="384048" cy="384048"/>
          </a:xfrm>
          <a:prstGeom prst="roundRect">
            <a:avLst>
              <a:gd name="adj" fmla="val 19048"/>
            </a:avLst>
          </a:prstGeom>
          <a:solidFill>
            <a:srgbClr val="55C8E8"/>
          </a:solidFill>
          <a:ln w="12700">
            <a:solidFill>
              <a:srgbClr val="55C8E8"/>
            </a:solidFill>
            <a:prstDash val="solid"/>
          </a:ln>
        </p:spPr>
      </p:sp>
      <p:sp>
        <p:nvSpPr>
          <p:cNvPr id="12" name="Text 10"/>
          <p:cNvSpPr/>
          <p:nvPr/>
        </p:nvSpPr>
        <p:spPr>
          <a:xfrm>
            <a:off x="502920" y="21762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3" name="Text 11"/>
          <p:cNvSpPr/>
          <p:nvPr/>
        </p:nvSpPr>
        <p:spPr>
          <a:xfrm>
            <a:off x="1005840" y="2084832"/>
            <a:ext cx="7589520" cy="274320"/>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Evidence Q2</a:t>
            </a:r>
            <a:endParaRPr lang="en-US" sz="1200" dirty="0"/>
          </a:p>
        </p:txBody>
      </p:sp>
      <p:sp>
        <p:nvSpPr>
          <p:cNvPr id="14" name="Text 12"/>
          <p:cNvSpPr/>
          <p:nvPr/>
        </p:nvSpPr>
        <p:spPr>
          <a:xfrm>
            <a:off x="1005840" y="2359152"/>
            <a:ext cx="7589520" cy="301752"/>
          </a:xfrm>
          <a:prstGeom prst="rect">
            <a:avLst/>
          </a:prstGeom>
          <a:noFill/>
          <a:ln/>
        </p:spPr>
        <p:txBody>
          <a:bodyPr wrap="square" lIns="0" tIns="0" rIns="0" bIns="0" rtlCol="0" anchor="ctr"/>
          <a:lstStyle/>
          <a:p>
            <a:pPr indent="0" marL="0">
              <a:buNone/>
            </a:pPr>
            <a:r>
              <a:rPr lang="en-US" sz="1100" dirty="0">
                <a:solidFill>
                  <a:srgbClr val="1A2D5A"/>
                </a:solidFill>
                <a:latin typeface="Calibri" pitchFamily="34" charset="0"/>
                <a:ea typeface="Calibri" pitchFamily="34" charset="-122"/>
                <a:cs typeface="Calibri" pitchFamily="34" charset="-120"/>
              </a:rPr>
              <a:t>Explain why the museum director says the panel must include what happened to native peoples.</a:t>
            </a:r>
            <a:endParaRPr lang="en-US" sz="1100" dirty="0"/>
          </a:p>
        </p:txBody>
      </p:sp>
      <p:sp>
        <p:nvSpPr>
          <p:cNvPr id="15" name="Shape 13"/>
          <p:cNvSpPr/>
          <p:nvPr/>
        </p:nvSpPr>
        <p:spPr>
          <a:xfrm>
            <a:off x="365760" y="2862072"/>
            <a:ext cx="8412480" cy="749808"/>
          </a:xfrm>
          <a:prstGeom prst="roundRect">
            <a:avLst>
              <a:gd name="adj" fmla="val 12195"/>
            </a:avLst>
          </a:prstGeom>
          <a:solidFill>
            <a:srgbClr val="FFF3DC"/>
          </a:solidFill>
          <a:ln w="19050">
            <a:solidFill>
              <a:srgbClr val="D4943A"/>
            </a:solidFill>
            <a:prstDash val="solid"/>
          </a:ln>
        </p:spPr>
      </p:sp>
      <p:sp>
        <p:nvSpPr>
          <p:cNvPr id="16" name="Shape 14"/>
          <p:cNvSpPr/>
          <p:nvPr/>
        </p:nvSpPr>
        <p:spPr>
          <a:xfrm>
            <a:off x="502920" y="3026664"/>
            <a:ext cx="384048" cy="384048"/>
          </a:xfrm>
          <a:prstGeom prst="roundRect">
            <a:avLst>
              <a:gd name="adj" fmla="val 19048"/>
            </a:avLst>
          </a:prstGeom>
          <a:solidFill>
            <a:srgbClr val="D4943A"/>
          </a:solidFill>
          <a:ln w="12700">
            <a:solidFill>
              <a:srgbClr val="D4943A"/>
            </a:solidFill>
            <a:prstDash val="solid"/>
          </a:ln>
        </p:spPr>
      </p:sp>
      <p:sp>
        <p:nvSpPr>
          <p:cNvPr id="17" name="Text 15"/>
          <p:cNvSpPr/>
          <p:nvPr/>
        </p:nvSpPr>
        <p:spPr>
          <a:xfrm>
            <a:off x="502920" y="302666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8" name="Text 16"/>
          <p:cNvSpPr/>
          <p:nvPr/>
        </p:nvSpPr>
        <p:spPr>
          <a:xfrm>
            <a:off x="1005840" y="2935224"/>
            <a:ext cx="7589520" cy="274320"/>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Curator Task: "After the Voyage" Panel</a:t>
            </a:r>
            <a:endParaRPr lang="en-US" sz="1200" dirty="0"/>
          </a:p>
        </p:txBody>
      </p:sp>
      <p:sp>
        <p:nvSpPr>
          <p:cNvPr id="19" name="Text 17"/>
          <p:cNvSpPr/>
          <p:nvPr/>
        </p:nvSpPr>
        <p:spPr>
          <a:xfrm>
            <a:off x="1005840" y="3209544"/>
            <a:ext cx="7589520" cy="301752"/>
          </a:xfrm>
          <a:prstGeom prst="rect">
            <a:avLst/>
          </a:prstGeom>
          <a:noFill/>
          <a:ln/>
        </p:spPr>
        <p:txBody>
          <a:bodyPr wrap="square" lIns="0" tIns="0" rIns="0" bIns="0" rtlCol="0" anchor="ctr"/>
          <a:lstStyle/>
          <a:p>
            <a:pPr indent="0" marL="0">
              <a:buNone/>
            </a:pPr>
            <a:r>
              <a:rPr lang="en-US" sz="1100" dirty="0">
                <a:solidFill>
                  <a:srgbClr val="1A2D5A"/>
                </a:solidFill>
                <a:latin typeface="Calibri" pitchFamily="34" charset="0"/>
                <a:ea typeface="Calibri" pitchFamily="34" charset="-122"/>
                <a:cs typeface="Calibri" pitchFamily="34" charset="-120"/>
              </a:rPr>
              <a:t>3-5 sentences, at least 2 consequences, honest tone. Tell visitors what really happened.</a:t>
            </a:r>
            <a:endParaRPr lang="en-US" sz="1100" dirty="0"/>
          </a:p>
        </p:txBody>
      </p:sp>
      <p:sp>
        <p:nvSpPr>
          <p:cNvPr id="20" name="Shape 18"/>
          <p:cNvSpPr/>
          <p:nvPr/>
        </p:nvSpPr>
        <p:spPr>
          <a:xfrm>
            <a:off x="365760" y="3712464"/>
            <a:ext cx="8412480" cy="749808"/>
          </a:xfrm>
          <a:prstGeom prst="roundRect">
            <a:avLst>
              <a:gd name="adj" fmla="val 12195"/>
            </a:avLst>
          </a:prstGeom>
          <a:solidFill>
            <a:srgbClr val="E3F8ED"/>
          </a:solidFill>
          <a:ln w="19050">
            <a:solidFill>
              <a:srgbClr val="34B76F"/>
            </a:solidFill>
            <a:prstDash val="solid"/>
          </a:ln>
        </p:spPr>
      </p:sp>
      <p:sp>
        <p:nvSpPr>
          <p:cNvPr id="21" name="Shape 19"/>
          <p:cNvSpPr/>
          <p:nvPr/>
        </p:nvSpPr>
        <p:spPr>
          <a:xfrm>
            <a:off x="502920" y="3877056"/>
            <a:ext cx="384048" cy="384048"/>
          </a:xfrm>
          <a:prstGeom prst="roundRect">
            <a:avLst>
              <a:gd name="adj" fmla="val 19048"/>
            </a:avLst>
          </a:prstGeom>
          <a:solidFill>
            <a:srgbClr val="34B76F"/>
          </a:solidFill>
          <a:ln w="12700">
            <a:solidFill>
              <a:srgbClr val="34B76F"/>
            </a:solidFill>
            <a:prstDash val="solid"/>
          </a:ln>
        </p:spPr>
      </p:sp>
      <p:sp>
        <p:nvSpPr>
          <p:cNvPr id="22" name="Text 20"/>
          <p:cNvSpPr/>
          <p:nvPr/>
        </p:nvSpPr>
        <p:spPr>
          <a:xfrm>
            <a:off x="502920" y="387705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23" name="Text 21"/>
          <p:cNvSpPr/>
          <p:nvPr/>
        </p:nvSpPr>
        <p:spPr>
          <a:xfrm>
            <a:off x="1005840" y="3785616"/>
            <a:ext cx="7589520" cy="274320"/>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Curator's Chronicle</a:t>
            </a:r>
            <a:endParaRPr lang="en-US" sz="1200" dirty="0"/>
          </a:p>
        </p:txBody>
      </p:sp>
      <p:sp>
        <p:nvSpPr>
          <p:cNvPr id="24" name="Text 22"/>
          <p:cNvSpPr/>
          <p:nvPr/>
        </p:nvSpPr>
        <p:spPr>
          <a:xfrm>
            <a:off x="1005840" y="4059936"/>
            <a:ext cx="7589520" cy="301752"/>
          </a:xfrm>
          <a:prstGeom prst="rect">
            <a:avLst/>
          </a:prstGeom>
          <a:noFill/>
          <a:ln/>
        </p:spPr>
        <p:txBody>
          <a:bodyPr wrap="square" lIns="0" tIns="0" rIns="0" bIns="0" rtlCol="0" anchor="ctr"/>
          <a:lstStyle/>
          <a:p>
            <a:pPr indent="0" marL="0">
              <a:buNone/>
            </a:pPr>
            <a:r>
              <a:rPr lang="en-US" sz="1100" dirty="0">
                <a:solidFill>
                  <a:srgbClr val="1A2D5A"/>
                </a:solidFill>
                <a:latin typeface="Calibri" pitchFamily="34" charset="0"/>
                <a:ea typeface="Calibri" pitchFamily="34" charset="-122"/>
                <a:cs typeface="Calibri" pitchFamily="34" charset="-120"/>
              </a:rPr>
              <a:t>One sentence: 'In this exhibit, I learned that _____ because _____.'</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4" name="Text 2"/>
          <p:cNvSpPr/>
          <p:nvPr/>
        </p:nvSpPr>
        <p:spPr>
          <a:xfrm>
            <a:off x="0" y="347472"/>
            <a:ext cx="9144000" cy="274320"/>
          </a:xfrm>
          <a:prstGeom prst="rect">
            <a:avLst/>
          </a:prstGeom>
          <a:noFill/>
          <a:ln/>
        </p:spPr>
        <p:txBody>
          <a:bodyPr wrap="square" lIns="0" tIns="0" rIns="0" bIns="0" rtlCol="0" anchor="ctr"/>
          <a:lstStyle/>
          <a:p>
            <a:pPr algn="ctr" indent="0" marL="0">
              <a:buNone/>
            </a:pPr>
            <a:r>
              <a:rPr lang="en-US" sz="1000" b="1" spc="250" kern="0" dirty="0">
                <a:solidFill>
                  <a:srgbClr val="D4943A"/>
                </a:solidFill>
                <a:latin typeface="Calibri" pitchFamily="34" charset="0"/>
                <a:ea typeface="Calibri" pitchFamily="34" charset="-122"/>
                <a:cs typeface="Calibri" pitchFamily="34" charset="-120"/>
              </a:rPr>
              <a:t>THE PANEL IS NO LONGER EMPTY</a:t>
            </a:r>
            <a:endParaRPr lang="en-US" sz="1000" dirty="0"/>
          </a:p>
        </p:txBody>
      </p:sp>
      <p:sp>
        <p:nvSpPr>
          <p:cNvPr id="5" name="Text 3"/>
          <p:cNvSpPr/>
          <p:nvPr/>
        </p:nvSpPr>
        <p:spPr>
          <a:xfrm>
            <a:off x="914400" y="749808"/>
            <a:ext cx="7315200" cy="50292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You wrote the hardest panel in the exhibit.</a:t>
            </a:r>
            <a:endParaRPr lang="en-US" sz="2600" dirty="0"/>
          </a:p>
        </p:txBody>
      </p:sp>
      <p:sp>
        <p:nvSpPr>
          <p:cNvPr id="6" name="Shape 4"/>
          <p:cNvSpPr/>
          <p:nvPr/>
        </p:nvSpPr>
        <p:spPr>
          <a:xfrm>
            <a:off x="365760" y="1417320"/>
            <a:ext cx="2560320" cy="1298448"/>
          </a:xfrm>
          <a:prstGeom prst="roundRect">
            <a:avLst>
              <a:gd name="adj" fmla="val 8451"/>
            </a:avLst>
          </a:prstGeom>
          <a:solidFill>
            <a:srgbClr val="1A2D5A"/>
          </a:solidFill>
          <a:ln w="19050">
            <a:solidFill>
              <a:srgbClr val="55C8E8"/>
            </a:solidFill>
            <a:prstDash val="solid"/>
          </a:ln>
        </p:spPr>
      </p:sp>
      <p:sp>
        <p:nvSpPr>
          <p:cNvPr id="7" name="Text 5"/>
          <p:cNvSpPr/>
          <p:nvPr/>
        </p:nvSpPr>
        <p:spPr>
          <a:xfrm>
            <a:off x="502920" y="1508760"/>
            <a:ext cx="2286000" cy="1024128"/>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You named the Columbian Exchange and how it changed daily life.</a:t>
            </a:r>
            <a:endParaRPr lang="en-US" sz="1200" dirty="0"/>
          </a:p>
        </p:txBody>
      </p:sp>
      <p:sp>
        <p:nvSpPr>
          <p:cNvPr id="8" name="Shape 6"/>
          <p:cNvSpPr/>
          <p:nvPr/>
        </p:nvSpPr>
        <p:spPr>
          <a:xfrm>
            <a:off x="3291840" y="1417320"/>
            <a:ext cx="2560320" cy="1298448"/>
          </a:xfrm>
          <a:prstGeom prst="roundRect">
            <a:avLst>
              <a:gd name="adj" fmla="val 8451"/>
            </a:avLst>
          </a:prstGeom>
          <a:solidFill>
            <a:srgbClr val="1A2D5A"/>
          </a:solidFill>
          <a:ln w="19050">
            <a:solidFill>
              <a:srgbClr val="E8636B"/>
            </a:solidFill>
            <a:prstDash val="solid"/>
          </a:ln>
        </p:spPr>
      </p:sp>
      <p:sp>
        <p:nvSpPr>
          <p:cNvPr id="9" name="Text 7"/>
          <p:cNvSpPr/>
          <p:nvPr/>
        </p:nvSpPr>
        <p:spPr>
          <a:xfrm>
            <a:off x="3429000" y="1508760"/>
            <a:ext cx="2286000" cy="1024128"/>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You told the truth about what happened to native peoples.</a:t>
            </a:r>
            <a:endParaRPr lang="en-US" sz="1200" dirty="0"/>
          </a:p>
        </p:txBody>
      </p:sp>
      <p:sp>
        <p:nvSpPr>
          <p:cNvPr id="10" name="Shape 8"/>
          <p:cNvSpPr/>
          <p:nvPr/>
        </p:nvSpPr>
        <p:spPr>
          <a:xfrm>
            <a:off x="6217920" y="1417320"/>
            <a:ext cx="2560320" cy="1298448"/>
          </a:xfrm>
          <a:prstGeom prst="roundRect">
            <a:avLst>
              <a:gd name="adj" fmla="val 8451"/>
            </a:avLst>
          </a:prstGeom>
          <a:solidFill>
            <a:srgbClr val="1A2D5A"/>
          </a:solidFill>
          <a:ln w="19050">
            <a:solidFill>
              <a:srgbClr val="D4943A"/>
            </a:solidFill>
            <a:prstDash val="solid"/>
          </a:ln>
        </p:spPr>
      </p:sp>
      <p:sp>
        <p:nvSpPr>
          <p:cNvPr id="11" name="Text 9"/>
          <p:cNvSpPr/>
          <p:nvPr/>
        </p:nvSpPr>
        <p:spPr>
          <a:xfrm>
            <a:off x="6355080" y="1508760"/>
            <a:ext cx="2286000" cy="1024128"/>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You explained how exploration connected the world — and at what cost.</a:t>
            </a:r>
            <a:endParaRPr lang="en-US" sz="1200" dirty="0"/>
          </a:p>
        </p:txBody>
      </p:sp>
      <p:sp>
        <p:nvSpPr>
          <p:cNvPr id="12" name="Shape 10"/>
          <p:cNvSpPr/>
          <p:nvPr/>
        </p:nvSpPr>
        <p:spPr>
          <a:xfrm>
            <a:off x="1188720" y="2862072"/>
            <a:ext cx="6766560" cy="713232"/>
          </a:xfrm>
          <a:prstGeom prst="roundRect">
            <a:avLst>
              <a:gd name="adj" fmla="val 15385"/>
            </a:avLst>
          </a:prstGeom>
          <a:solidFill>
            <a:srgbClr val="1A2D5A"/>
          </a:solidFill>
          <a:ln w="12700">
            <a:solidFill>
              <a:srgbClr val="D4943A"/>
            </a:solidFill>
            <a:prstDash val="solid"/>
          </a:ln>
        </p:spPr>
      </p:sp>
      <p:sp>
        <p:nvSpPr>
          <p:cNvPr id="13" name="Text 11"/>
          <p:cNvSpPr/>
          <p:nvPr/>
        </p:nvSpPr>
        <p:spPr>
          <a:xfrm>
            <a:off x="1371600" y="2926080"/>
            <a:ext cx="6400800" cy="594360"/>
          </a:xfrm>
          <a:prstGeom prst="rect">
            <a:avLst/>
          </a:prstGeom>
          <a:noFill/>
          <a:ln/>
        </p:spPr>
        <p:txBody>
          <a:bodyPr wrap="square" lIns="0" tIns="0" rIns="0" bIns="0" rtlCol="0" anchor="ctr"/>
          <a:lstStyle/>
          <a:p>
            <a:pPr algn="ctr" indent="0" marL="0">
              <a:buNone/>
            </a:pPr>
            <a:r>
              <a:rPr lang="en-US" sz="1150" i="1" dirty="0">
                <a:solidFill>
                  <a:srgbClr val="F0F2F8"/>
                </a:solidFill>
                <a:latin typeface="Cambria" pitchFamily="34" charset="0"/>
                <a:ea typeface="Cambria" pitchFamily="34" charset="-122"/>
                <a:cs typeface="Cambria" pitchFamily="34" charset="-120"/>
              </a:rPr>
              <a:t>"You know what makes a great curator? Being willing to tell the parts of the story that are harder to hear. That takes a different kind of courage. And it matters just as much." — Opti</a:t>
            </a:r>
            <a:endParaRPr lang="en-US" sz="1150" dirty="0"/>
          </a:p>
        </p:txBody>
      </p:sp>
      <p:sp>
        <p:nvSpPr>
          <p:cNvPr id="14" name="Shape 12"/>
          <p:cNvSpPr/>
          <p:nvPr/>
        </p:nvSpPr>
        <p:spPr>
          <a:xfrm>
            <a:off x="2286000" y="3703320"/>
            <a:ext cx="4572000" cy="914400"/>
          </a:xfrm>
          <a:prstGeom prst="roundRect">
            <a:avLst>
              <a:gd name="adj" fmla="val 12000"/>
            </a:avLst>
          </a:prstGeom>
          <a:solidFill>
            <a:srgbClr val="D4943A"/>
          </a:solidFill>
          <a:ln w="12700">
            <a:solidFill>
              <a:srgbClr val="D4943A"/>
            </a:solidFill>
            <a:prstDash val="solid"/>
          </a:ln>
        </p:spPr>
      </p:sp>
      <p:sp>
        <p:nvSpPr>
          <p:cNvPr id="15" name="Text 13"/>
          <p:cNvSpPr/>
          <p:nvPr/>
        </p:nvSpPr>
        <p:spPr>
          <a:xfrm>
            <a:off x="2377440" y="3776472"/>
            <a:ext cx="4389120" cy="201168"/>
          </a:xfrm>
          <a:prstGeom prst="rect">
            <a:avLst/>
          </a:prstGeom>
          <a:noFill/>
          <a:ln/>
        </p:spPr>
        <p:txBody>
          <a:bodyPr wrap="square" lIns="0" tIns="0" rIns="0" bIns="0" rtlCol="0" anchor="ctr"/>
          <a:lstStyle/>
          <a:p>
            <a:pPr algn="ctr" indent="0" marL="0">
              <a:buNone/>
            </a:pPr>
            <a:r>
              <a:rPr lang="en-US" sz="800" b="1" spc="200" kern="0" dirty="0">
                <a:solidFill>
                  <a:srgbClr val="FFFFFF"/>
                </a:solidFill>
                <a:latin typeface="Calibri" pitchFamily="34" charset="0"/>
                <a:ea typeface="Calibri" pitchFamily="34" charset="-122"/>
                <a:cs typeface="Calibri" pitchFamily="34" charset="-120"/>
              </a:rPr>
              <a:t>COMING NEXT</a:t>
            </a:r>
            <a:endParaRPr lang="en-US" sz="800" dirty="0"/>
          </a:p>
        </p:txBody>
      </p:sp>
      <p:sp>
        <p:nvSpPr>
          <p:cNvPr id="16" name="Text 14"/>
          <p:cNvSpPr/>
          <p:nvPr/>
        </p:nvSpPr>
        <p:spPr>
          <a:xfrm>
            <a:off x="2377440" y="3977640"/>
            <a:ext cx="4389120" cy="530352"/>
          </a:xfrm>
          <a:prstGeom prst="rect">
            <a:avLst/>
          </a:prstGeom>
          <a:noFill/>
          <a:ln/>
        </p:spPr>
        <p:txBody>
          <a:bodyPr wrap="square" lIns="0" tIns="0" rIns="0" bIns="0" rtlCol="0" anchor="t"/>
          <a:lstStyle/>
          <a:p>
            <a:pPr algn="ctr" indent="0" marL="0">
              <a:buNone/>
            </a:pPr>
            <a:r>
              <a:rPr lang="en-US" sz="1200" dirty="0">
                <a:solidFill>
                  <a:srgbClr val="FFFFFF"/>
                </a:solidFill>
                <a:latin typeface="Calibri" pitchFamily="34" charset="0"/>
                <a:ea typeface="Calibri" pitchFamily="34" charset="-122"/>
                <a:cs typeface="Calibri" pitchFamily="34" charset="-120"/>
              </a:rPr>
              <a:t>Lesson 3.02.06: The Exploration Wing Final Check — earn the Route Reader badge!</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Optima Academy Online</dc:creator>
  <cp:lastModifiedBy>Optima Academy Online</cp:lastModifiedBy>
  <cp:revision>1</cp:revision>
  <dcterms:created xsi:type="dcterms:W3CDTF">2026-07-10T22:36:43Z</dcterms:created>
  <dcterms:modified xsi:type="dcterms:W3CDTF">2026-07-10T22:36:43Z</dcterms:modified>
</cp:coreProperties>
</file>