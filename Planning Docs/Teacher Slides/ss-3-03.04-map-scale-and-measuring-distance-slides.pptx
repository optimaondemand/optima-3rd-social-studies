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bird's-eye view of an antique map room with large maps on walls, wooden map drawers, globe, warm amber museum lighting.
TEACHER SCRIPT: Welcome, Map Curators! Today we are working in the Great Map Room. Yesterday you sorted the map drawers. But something is wrong with one of our newest displays. Let us find out what the problem is.
TIMING: Under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Explorer route map with visible dotted route lines and distance numbers written near the routes but clearly missing a scale bar at the bottom corner.
TEACHER SCRIPT: Yesterday a visitor came into the Great Map Room and looked at the explorer route display. The route lines are there. Some distance numbers are written down. But the visitor could not figure out what those numbers meant. She asked: Did this explorer go 100 miles or 1,000 miles? Our docent had no answer. That is our problem today. Your Curator's Question is on screen. Think about it for a moment. Do not answer yet.
TIMING: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Look at this map. Take 5 seconds of quiet time. Notice what is there and what is missing.
[5 second pause]
Now type one thing in chat using one of those frames. I will read some responses out loud.
TIMING: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 us look at what you noticed. Read some chat responses. Compare ideas. Guide toward: the map has route lines and numbers but we do not know what those numbers MEAN in real life. Build toward the need for a scale bar but do not name it yet.
KEY: Several of you noticed the numbers. What is frustrating about those numbers? If I told you two cities were 3 units apart what else would you need to know?
TIMING: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Clean illustration of a scale bar showing a horizontal bar divided into sections labeled 0, 200, 400 miles. Classic map scale graphic, clear and simple.
TEACHER SCRIPT: You found it. The map is missing a SCALE BAR and that is exactly what tells visitors what the distance numbers mean. A scale bar is like a secret decoder printed right on the map. Write the formula in your Curator's Notebook: MAP INCHES times SCALE VALUE equals REAL DISTANCE.
TIMING: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 us use the scale bar. Look at Port A and Port B. Count the sections: 1, 2. Each section equals 200 miles. So 2 times 200 equals 400 miles. That is the power of a scale bar!
Now Pause and Think: if 1 inch equals 100 miles and two cities are 3 inches apart, how far apart are they? Think, then type in chat.
ANSWER: 3 x 100 = 300 miles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I am going to think out loud so you can see exactly how my brain works. Watch how I go step by step. [Walk through each step slowly.] Notice I did not just look at the numbers and guess. I followed the steps every time.
After: Why do I multiply and not add? Can someone explain that in their own words?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Now let us do one together. I will ask questions and you help fill in the steps. [Work through the blanks together. Do not fill them in yourself.]
Guide: Where do we start? Scale. What does the scale say? 1 inch = 100 miles. How far on the map? 4 inches. So we multiply: 4 x 100 = 400 miles!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Now it is your turn but you have the checklist. Use every step. Work through it then type your answer in chat.
ANSWER: 4 x 50 = 200 miles.
After chat: Did everyone get 200? Did you write miles? Units matter. Map Curators are precise!
TIMING: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Try all four. Use your formula every time. When you have answers type all four in chat.
ANSWERS: 200, 600, 200, 500.
NOTE: Problems 1 and 3 both equal 200 miles. Different scales same real distance. Ask: How is that possible? Great discussion.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A student turned in this work. Something is wrong. Can you find it? [30 seconds to read.]
What did they do right? They read the scale correctly. Where did it go wrong? They added 100 + 3 instead of multiplying 3 x 100. Why does that make no sense? You cannot add inches to miles. They are different units!
This is one of the most common mistakes. Make sure students understand WHY we multiply.
TIMING: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is the tricky one. Both teams have a point. Scale WAS used correctly: 6 x 200 = 1,200 straight-line miles. But Team Not So Fast is also right: a curved route is always longer than the straight-line measurement.
This is real cartography! Celebrate disagreement. Key takeaway: scale gives straight-line distance; curved routes are always longer.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Stylized illustration of Columbus's 1492 Atlantic map showing his misshapen route and incorrect position of Asia to the west of Spain. Or a side-by-side of his map vs a modern world map.
TEACHER SCRIPT: Now that you know how important scale is let me tell you about the most famous scale mistake in history. Columbus thought Asia was only 2,500 miles west of Spain. He was wrong by more than 9,000 miles! He did not find Asia. He found the Americas. What stayed the same between then and now?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Even with completely different tools the need to know how far away things really are never changed. Chat: what stayed the same? What changed the most?
Follow-up: Why does it still matter to understand how far apart places are even when your phone tells you automatically?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we write this exhibit label in our Curator's Notebook: retrieval check. Cover your screen for 10 seconds. Name the three steps for using a scale bar from memory.
[10 second pause]
Reveal! Were you right? Now read the exhibit label. This is what visitors will see when they look at the scale bar we added to the display.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Opti has a wild discovery. Two maps. Same size on paper. But completely different scales. On a globe map one inch equals 500 miles. But on a map of your town one inch might be half a mile. If you did not check the scale first you could say a store is 500 miles away when it is really just down the street!
That is why Map Curators always check the scale bar before they measure anything.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Today's virtue is service. When you add a clear scale bar explanation to a museum display you make confusing information understandable for someone else. That is service. Think about a time you helped someone understand something. Type in chat.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 us look at your assignment. Three evidence questions and a Curator Task. [Read each question aloud.]
For Q1: use the exhibit label as a guide.
For Q2: show every step. 3 x 200 = 600 miles.
For Q3: think back to the explorer routes from earlier units.
For the Curator Task: write in plain friendly language like talking to a visitor.
Model for Q2: 3 inches times 200 miles equals 600 miles. I found this by reading the scale and multiplying.
TIMING: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Finish your Curator's Chronicle. This is your one sentence that captures what you discovered today. [1-2 minutes to write.] Then check everything on the checklist before you submit.
Type in chat: At first I thought... but now I know... Show me how your thinking grew today.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shot of an antique map room with a large world map on the wall, globe on a stand, warm amber museum lighting. Or silhouette of a student curator looking at a lit map display.
TEACHER SCRIPT: Amazing work, Map Curators! You solved the mystery, learned how scale works, fixed the display, and now visitors know exactly how far those explorers sailed. Next time something strange is waiting: a flat map and a globe show the same places but completely different sizes. Greenland looks enormous on the flat map and tiny on the globe. What is going on? You will investigate that mystery next class. See you then, Map Curator!
TIMING: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411480"/>
            <a:ext cx="8229600" cy="27432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GREAT MAP ROOM  |  GRADE 3 SOCIAL STUDIES</a:t>
            </a:r>
            <a:endParaRPr lang="en-US" sz="1000" dirty="0"/>
          </a:p>
        </p:txBody>
      </p:sp>
      <p:sp>
        <p:nvSpPr>
          <p:cNvPr id="5" name="Text 3"/>
          <p:cNvSpPr/>
          <p:nvPr/>
        </p:nvSpPr>
        <p:spPr>
          <a:xfrm>
            <a:off x="457200" y="1097280"/>
            <a:ext cx="8229600" cy="1051560"/>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The Missing Scale Bar</a:t>
            </a:r>
            <a:endParaRPr lang="en-US" sz="4400" dirty="0"/>
          </a:p>
        </p:txBody>
      </p:sp>
      <p:sp>
        <p:nvSpPr>
          <p:cNvPr id="6" name="Text 4"/>
          <p:cNvSpPr/>
          <p:nvPr/>
        </p:nvSpPr>
        <p:spPr>
          <a:xfrm>
            <a:off x="457200" y="2286000"/>
            <a:ext cx="8229600" cy="3840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Lesson 3.03.04  |  Map Scale and Measuring Distance</a:t>
            </a:r>
            <a:endParaRPr lang="en-US" sz="1600" dirty="0"/>
          </a:p>
        </p:txBody>
      </p:sp>
      <p:sp>
        <p:nvSpPr>
          <p:cNvPr id="7" name="Text 5"/>
          <p:cNvSpPr/>
          <p:nvPr/>
        </p:nvSpPr>
        <p:spPr>
          <a:xfrm>
            <a:off x="457200" y="2743200"/>
            <a:ext cx="8229600" cy="27432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Week 8  |  Q1  |  SS.3.G.1.1  |  SS.3.G.1.2  |  SS.3.G.1.4-1.6</a:t>
            </a:r>
            <a:endParaRPr lang="en-US" sz="1100" dirty="0"/>
          </a:p>
        </p:txBody>
      </p:sp>
      <p:sp>
        <p:nvSpPr>
          <p:cNvPr id="8" name="Shape 6"/>
          <p:cNvSpPr/>
          <p:nvPr/>
        </p:nvSpPr>
        <p:spPr>
          <a:xfrm>
            <a:off x="1371600" y="3127248"/>
            <a:ext cx="6400800" cy="18288"/>
          </a:xfrm>
          <a:prstGeom prst="rect">
            <a:avLst/>
          </a:prstGeom>
          <a:solidFill>
            <a:srgbClr val="3A5080"/>
          </a:solidFill>
          <a:ln w="12700">
            <a:solidFill>
              <a:srgbClr val="3A5080"/>
            </a:solidFill>
            <a:prstDash val="solid"/>
          </a:ln>
        </p:spPr>
      </p:sp>
      <p:sp>
        <p:nvSpPr>
          <p:cNvPr id="9" name="Text 7"/>
          <p:cNvSpPr/>
          <p:nvPr/>
        </p:nvSpPr>
        <p:spPr>
          <a:xfrm>
            <a:off x="457200" y="3246120"/>
            <a:ext cx="8229600" cy="274320"/>
          </a:xfrm>
          <a:prstGeom prst="rect">
            <a:avLst/>
          </a:prstGeom>
          <a:noFill/>
          <a:ln/>
        </p:spPr>
        <p:txBody>
          <a:bodyPr wrap="square" lIns="0" tIns="0" rIns="0" bIns="0" rtlCol="0" anchor="ctr"/>
          <a:lstStyle/>
          <a:p>
            <a:pPr algn="ctr" indent="0" marL="0">
              <a:buNone/>
            </a:pPr>
            <a:r>
              <a:rPr lang="en-US" sz="1300" i="1" dirty="0">
                <a:solidFill>
                  <a:srgbClr val="1A8A7D"/>
                </a:solidFill>
                <a:latin typeface="Cambria" pitchFamily="34" charset="0"/>
                <a:ea typeface="Cambria" pitchFamily="34" charset="-122"/>
                <a:cs typeface="Cambria" pitchFamily="34" charset="-120"/>
              </a:rPr>
              <a:t>Today's Virtue: Service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THE CURATOR'S MYSTERY</a:t>
            </a:r>
            <a:endParaRPr lang="en-US" sz="1000" dirty="0"/>
          </a:p>
        </p:txBody>
      </p:sp>
      <p:sp>
        <p:nvSpPr>
          <p:cNvPr id="5" name="Text 3"/>
          <p:cNvSpPr/>
          <p:nvPr/>
        </p:nvSpPr>
        <p:spPr>
          <a:xfrm>
            <a:off x="457200" y="658368"/>
            <a:ext cx="82296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 Visitor Asked a Question...</a:t>
            </a:r>
            <a:endParaRPr lang="en-US" sz="3000" dirty="0"/>
          </a:p>
        </p:txBody>
      </p:sp>
      <p:sp>
        <p:nvSpPr>
          <p:cNvPr id="6" name="Shape 4"/>
          <p:cNvSpPr/>
          <p:nvPr/>
        </p:nvSpPr>
        <p:spPr>
          <a:xfrm>
            <a:off x="731520" y="1444752"/>
            <a:ext cx="7680960" cy="1005840"/>
          </a:xfrm>
          <a:prstGeom prst="roundRect">
            <a:avLst>
              <a:gd name="adj" fmla="val 10909"/>
            </a:avLst>
          </a:prstGeom>
          <a:solidFill>
            <a:srgbClr val="1A2D5A"/>
          </a:solidFill>
          <a:ln w="12700">
            <a:solidFill>
              <a:srgbClr val="3A5080"/>
            </a:solidFill>
            <a:prstDash val="solid"/>
          </a:ln>
        </p:spPr>
      </p:sp>
      <p:sp>
        <p:nvSpPr>
          <p:cNvPr id="7" name="Text 5"/>
          <p:cNvSpPr/>
          <p:nvPr/>
        </p:nvSpPr>
        <p:spPr>
          <a:xfrm>
            <a:off x="822960" y="1481328"/>
            <a:ext cx="7498080" cy="914400"/>
          </a:xfrm>
          <a:prstGeom prst="rect">
            <a:avLst/>
          </a:prstGeom>
          <a:noFill/>
          <a:ln/>
        </p:spPr>
        <p:txBody>
          <a:bodyPr wrap="square" lIns="0" tIns="0" rIns="0" bIns="0" rtlCol="0" anchor="ctr"/>
          <a:lstStyle/>
          <a:p>
            <a:pPr algn="ctr" indent="0" marL="0">
              <a:buNone/>
            </a:pPr>
            <a:r>
              <a:rPr lang="en-US" sz="2200" i="1" dirty="0">
                <a:solidFill>
                  <a:srgbClr val="D4943A"/>
                </a:solidFill>
                <a:latin typeface="Cambria" pitchFamily="34" charset="0"/>
                <a:ea typeface="Cambria" pitchFamily="34" charset="-122"/>
                <a:cs typeface="Cambria" pitchFamily="34" charset="-120"/>
              </a:rPr>
              <a:t>"Did the explorer go 100 miles or 1,000 miles?"</a:t>
            </a:r>
            <a:endParaRPr lang="en-US" sz="2200" dirty="0"/>
          </a:p>
        </p:txBody>
      </p:sp>
      <p:sp>
        <p:nvSpPr>
          <p:cNvPr id="8" name="Shape 6"/>
          <p:cNvSpPr/>
          <p:nvPr/>
        </p:nvSpPr>
        <p:spPr>
          <a:xfrm>
            <a:off x="1097280" y="2606040"/>
            <a:ext cx="6949440" cy="1325880"/>
          </a:xfrm>
          <a:prstGeom prst="roundRect">
            <a:avLst>
              <a:gd name="adj" fmla="val 8276"/>
            </a:avLst>
          </a:prstGeom>
          <a:solidFill>
            <a:srgbClr val="1A8A7D"/>
          </a:solidFill>
          <a:ln/>
          <a:effectLst>
            <a:outerShdw sx="100000" sy="100000" kx="0" ky="0" algn="bl" rotWithShape="0" blurRad="76200" dist="25400" dir="8100000">
              <a:srgbClr val="000000">
                <a:alpha val="20000"/>
              </a:srgbClr>
            </a:outerShdw>
          </a:effectLst>
        </p:spPr>
      </p:sp>
      <p:sp>
        <p:nvSpPr>
          <p:cNvPr id="9" name="Text 7"/>
          <p:cNvSpPr/>
          <p:nvPr/>
        </p:nvSpPr>
        <p:spPr>
          <a:xfrm>
            <a:off x="1234440" y="2679192"/>
            <a:ext cx="6675120" cy="219456"/>
          </a:xfrm>
          <a:prstGeom prst="rect">
            <a:avLst/>
          </a:prstGeom>
          <a:noFill/>
          <a:ln/>
        </p:spPr>
        <p:txBody>
          <a:bodyPr wrap="square" lIns="0" tIns="0" rIns="0" bIns="0" rtlCol="0" anchor="ctr"/>
          <a:lstStyle/>
          <a:p>
            <a:pPr algn="ctr" indent="0" marL="0">
              <a:buNone/>
            </a:pPr>
            <a:r>
              <a:rPr lang="en-US" sz="900" b="1" spc="150" kern="0" dirty="0">
                <a:solidFill>
                  <a:srgbClr val="A0E8DA"/>
                </a:solidFill>
                <a:latin typeface="Calibri" pitchFamily="34" charset="0"/>
                <a:ea typeface="Calibri" pitchFamily="34" charset="-122"/>
                <a:cs typeface="Calibri" pitchFamily="34" charset="-120"/>
              </a:rPr>
              <a:t>TODAY'S CURATOR'S QUESTION</a:t>
            </a:r>
            <a:endParaRPr lang="en-US" sz="900" dirty="0"/>
          </a:p>
        </p:txBody>
      </p:sp>
      <p:sp>
        <p:nvSpPr>
          <p:cNvPr id="10" name="Text 8"/>
          <p:cNvSpPr/>
          <p:nvPr/>
        </p:nvSpPr>
        <p:spPr>
          <a:xfrm>
            <a:off x="1234440" y="2916936"/>
            <a:ext cx="6675120" cy="89611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How does a map scale help visitors figure out real distances between places?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Something Is Missing from This Display...</a:t>
            </a:r>
            <a:endParaRPr lang="en-US" sz="2600" dirty="0"/>
          </a:p>
        </p:txBody>
      </p:sp>
      <p:sp>
        <p:nvSpPr>
          <p:cNvPr id="3" name="Shape 1"/>
          <p:cNvSpPr/>
          <p:nvPr/>
        </p:nvSpPr>
        <p:spPr>
          <a:xfrm>
            <a:off x="457200" y="804672"/>
            <a:ext cx="4389120" cy="2834640"/>
          </a:xfrm>
          <a:prstGeom prst="roundRect">
            <a:avLst>
              <a:gd name="adj" fmla="val 3871"/>
            </a:avLst>
          </a:prstGeom>
          <a:solidFill>
            <a:srgbClr val="E2E8F4"/>
          </a:solidFill>
          <a:ln w="19050">
            <a:solidFill>
              <a:srgbClr val="B0B8CC"/>
            </a:solidFill>
            <a:prstDash val="dash"/>
          </a:ln>
        </p:spPr>
      </p:sp>
      <p:sp>
        <p:nvSpPr>
          <p:cNvPr id="4" name="Text 2"/>
          <p:cNvSpPr/>
          <p:nvPr/>
        </p:nvSpPr>
        <p:spPr>
          <a:xfrm>
            <a:off x="457200" y="804672"/>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594360" y="1078992"/>
            <a:ext cx="4114800" cy="24688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route map with route lines and distance numbers beside routes but NO scale bar in the corner. Ports labeled. Numbers present but unexplained.</a:t>
            </a:r>
            <a:endParaRPr lang="en-US" sz="1100" dirty="0"/>
          </a:p>
        </p:txBody>
      </p:sp>
      <p:sp>
        <p:nvSpPr>
          <p:cNvPr id="6" name="Text 4"/>
          <p:cNvSpPr/>
          <p:nvPr/>
        </p:nvSpPr>
        <p:spPr>
          <a:xfrm>
            <a:off x="5029200" y="804672"/>
            <a:ext cx="356616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5 seconds of private thinking</a:t>
            </a:r>
            <a:endParaRPr lang="en-US" sz="1000" dirty="0"/>
          </a:p>
        </p:txBody>
      </p:sp>
      <p:sp>
        <p:nvSpPr>
          <p:cNvPr id="7" name="Shape 5"/>
          <p:cNvSpPr/>
          <p:nvPr/>
        </p:nvSpPr>
        <p:spPr>
          <a:xfrm>
            <a:off x="5029200" y="1115568"/>
            <a:ext cx="3566160" cy="1325880"/>
          </a:xfrm>
          <a:prstGeom prst="roundRect">
            <a:avLst>
              <a:gd name="adj" fmla="val 8276"/>
            </a:avLst>
          </a:prstGeom>
          <a:solidFill>
            <a:srgbClr val="EAF8FD"/>
          </a:solidFill>
          <a:ln w="19050">
            <a:solidFill>
              <a:srgbClr val="55C8E8"/>
            </a:solidFill>
            <a:prstDash val="solid"/>
          </a:ln>
        </p:spPr>
      </p:sp>
      <p:sp>
        <p:nvSpPr>
          <p:cNvPr id="8" name="Text 6"/>
          <p:cNvSpPr/>
          <p:nvPr/>
        </p:nvSpPr>
        <p:spPr>
          <a:xfrm>
            <a:off x="5166360" y="1188720"/>
            <a:ext cx="329184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LOOK CLOSELY:</a:t>
            </a:r>
            <a:endParaRPr lang="en-US" sz="900" dirty="0"/>
          </a:p>
        </p:txBody>
      </p:sp>
      <p:sp>
        <p:nvSpPr>
          <p:cNvPr id="9" name="Text 7"/>
          <p:cNvSpPr/>
          <p:nvPr/>
        </p:nvSpPr>
        <p:spPr>
          <a:xfrm>
            <a:off x="5166360" y="1426464"/>
            <a:ext cx="3291840" cy="9144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What information is on this map?</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What seems to be missing?</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What would a visitor want to know?</a:t>
            </a:r>
            <a:endParaRPr lang="en-US" sz="1300" dirty="0"/>
          </a:p>
        </p:txBody>
      </p:sp>
      <p:sp>
        <p:nvSpPr>
          <p:cNvPr id="10" name="Shape 8"/>
          <p:cNvSpPr/>
          <p:nvPr/>
        </p:nvSpPr>
        <p:spPr>
          <a:xfrm>
            <a:off x="5029200" y="2542032"/>
            <a:ext cx="3566160" cy="1115568"/>
          </a:xfrm>
          <a:prstGeom prst="roundRect">
            <a:avLst>
              <a:gd name="adj" fmla="val 9836"/>
            </a:avLst>
          </a:prstGeom>
          <a:solidFill>
            <a:srgbClr val="FFF3DC"/>
          </a:solidFill>
          <a:ln w="19050">
            <a:solidFill>
              <a:srgbClr val="F5E6C8"/>
            </a:solidFill>
            <a:prstDash val="solid"/>
          </a:ln>
        </p:spPr>
      </p:sp>
      <p:sp>
        <p:nvSpPr>
          <p:cNvPr id="11" name="Text 9"/>
          <p:cNvSpPr/>
          <p:nvPr/>
        </p:nvSpPr>
        <p:spPr>
          <a:xfrm>
            <a:off x="5166360" y="2596896"/>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166360" y="2798064"/>
            <a:ext cx="3291840" cy="7955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problem is..."</a:t>
            </a:r>
            <a:endParaRPr lang="en-US" sz="1200" dirty="0"/>
          </a:p>
        </p:txBody>
      </p:sp>
      <p:sp>
        <p:nvSpPr>
          <p:cNvPr id="13" name="Text 11"/>
          <p:cNvSpPr/>
          <p:nvPr/>
        </p:nvSpPr>
        <p:spPr>
          <a:xfrm>
            <a:off x="5029200" y="3730752"/>
            <a:ext cx="3566160" cy="256032"/>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Type in chat before we discuss!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Did You Notice?</a:t>
            </a:r>
            <a:endParaRPr lang="en-US" sz="2800" dirty="0"/>
          </a:p>
        </p:txBody>
      </p:sp>
      <p:sp>
        <p:nvSpPr>
          <p:cNvPr id="3" name="Shape 1"/>
          <p:cNvSpPr/>
          <p:nvPr/>
        </p:nvSpPr>
        <p:spPr>
          <a:xfrm>
            <a:off x="457200" y="777240"/>
            <a:ext cx="4846320" cy="2331720"/>
          </a:xfrm>
          <a:prstGeom prst="roundRect">
            <a:avLst>
              <a:gd name="adj" fmla="val 4706"/>
            </a:avLst>
          </a:prstGeom>
          <a:solidFill>
            <a:srgbClr val="F0F2F8"/>
          </a:solidFill>
          <a:ln w="12700">
            <a:solidFill>
              <a:srgbClr val="B0B8CC"/>
            </a:solidFill>
            <a:prstDash val="solid"/>
          </a:ln>
        </p:spPr>
      </p:sp>
      <p:sp>
        <p:nvSpPr>
          <p:cNvPr id="4" name="Text 2"/>
          <p:cNvSpPr/>
          <p:nvPr/>
        </p:nvSpPr>
        <p:spPr>
          <a:xfrm>
            <a:off x="594360" y="850392"/>
            <a:ext cx="4572000" cy="237744"/>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What the map HAS:</a:t>
            </a:r>
            <a:endParaRPr lang="en-US" sz="1200" dirty="0"/>
          </a:p>
        </p:txBody>
      </p:sp>
      <p:sp>
        <p:nvSpPr>
          <p:cNvPr id="5" name="Text 3"/>
          <p:cNvSpPr/>
          <p:nvPr/>
        </p:nvSpPr>
        <p:spPr>
          <a:xfrm>
            <a:off x="594360" y="1106424"/>
            <a:ext cx="4572000" cy="804672"/>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  Route lines showing where the explorer went</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Cities and ports labeled</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Distance numbers written near the routes</a:t>
            </a:r>
            <a:endParaRPr lang="en-US" sz="1300" dirty="0"/>
          </a:p>
        </p:txBody>
      </p:sp>
      <p:sp>
        <p:nvSpPr>
          <p:cNvPr id="6" name="Text 4"/>
          <p:cNvSpPr/>
          <p:nvPr/>
        </p:nvSpPr>
        <p:spPr>
          <a:xfrm>
            <a:off x="594360" y="1938528"/>
            <a:ext cx="4572000" cy="237744"/>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What the map is MISSING:</a:t>
            </a:r>
            <a:endParaRPr lang="en-US" sz="1200" dirty="0"/>
          </a:p>
        </p:txBody>
      </p:sp>
      <p:sp>
        <p:nvSpPr>
          <p:cNvPr id="7" name="Text 5"/>
          <p:cNvSpPr/>
          <p:nvPr/>
        </p:nvSpPr>
        <p:spPr>
          <a:xfrm>
            <a:off x="594360" y="2194560"/>
            <a:ext cx="4572000" cy="804672"/>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  Something to explain what the numbers mean</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Without it: how far is 'far'?</a:t>
            </a:r>
            <a:endParaRPr lang="en-US" sz="1300" dirty="0"/>
          </a:p>
        </p:txBody>
      </p:sp>
      <p:sp>
        <p:nvSpPr>
          <p:cNvPr id="8" name="Shape 6"/>
          <p:cNvSpPr/>
          <p:nvPr/>
        </p:nvSpPr>
        <p:spPr>
          <a:xfrm>
            <a:off x="5394960" y="777240"/>
            <a:ext cx="3291840"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577840" y="868680"/>
            <a:ext cx="29260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577840" y="1124712"/>
            <a:ext cx="2926080"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those distance numbers hard to understand?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map said '500' what else would you need to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map missing that would tell you what '500' means?</a:t>
            </a:r>
            <a:endParaRPr lang="en-US" sz="1100" dirty="0"/>
          </a:p>
        </p:txBody>
      </p:sp>
      <p:sp>
        <p:nvSpPr>
          <p:cNvPr id="11" name="Shape 9"/>
          <p:cNvSpPr/>
          <p:nvPr/>
        </p:nvSpPr>
        <p:spPr>
          <a:xfrm>
            <a:off x="457200" y="3246120"/>
            <a:ext cx="8229600" cy="1024128"/>
          </a:xfrm>
          <a:prstGeom prst="roundRect">
            <a:avLst>
              <a:gd name="adj" fmla="val 10714"/>
            </a:avLst>
          </a:prstGeom>
          <a:solidFill>
            <a:srgbClr val="FFF3DC"/>
          </a:solidFill>
          <a:ln w="19050">
            <a:solidFill>
              <a:srgbClr val="F5E6C8"/>
            </a:solidFill>
            <a:prstDash val="solid"/>
          </a:ln>
        </p:spPr>
      </p:sp>
      <p:sp>
        <p:nvSpPr>
          <p:cNvPr id="12" name="Text 10"/>
          <p:cNvSpPr/>
          <p:nvPr/>
        </p:nvSpPr>
        <p:spPr>
          <a:xfrm>
            <a:off x="594360" y="330098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94360" y="3502152"/>
            <a:ext cx="7955280" cy="7040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it, visitors can't..."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1000" b="1" spc="200" kern="0" dirty="0">
                <a:solidFill>
                  <a:srgbClr val="34B76F"/>
                </a:solidFill>
                <a:latin typeface="Calibri" pitchFamily="34" charset="0"/>
                <a:ea typeface="Calibri" pitchFamily="34" charset="-122"/>
                <a:cs typeface="Calibri" pitchFamily="34" charset="-120"/>
              </a:rPr>
              <a:t>DISCOVERY UNLOCKED</a:t>
            </a:r>
            <a:endParaRPr lang="en-US" sz="1000" dirty="0"/>
          </a:p>
        </p:txBody>
      </p:sp>
      <p:sp>
        <p:nvSpPr>
          <p:cNvPr id="5" name="Text 3"/>
          <p:cNvSpPr/>
          <p:nvPr/>
        </p:nvSpPr>
        <p:spPr>
          <a:xfrm>
            <a:off x="457200" y="658368"/>
            <a:ext cx="8229600" cy="804672"/>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The Scale Bar Is the Decoder!</a:t>
            </a:r>
            <a:endParaRPr lang="en-US" sz="3800" dirty="0"/>
          </a:p>
        </p:txBody>
      </p:sp>
      <p:sp>
        <p:nvSpPr>
          <p:cNvPr id="6" name="Shape 4"/>
          <p:cNvSpPr/>
          <p:nvPr/>
        </p:nvSpPr>
        <p:spPr>
          <a:xfrm>
            <a:off x="1371600" y="1536192"/>
            <a:ext cx="6400800" cy="18288"/>
          </a:xfrm>
          <a:prstGeom prst="rect">
            <a:avLst/>
          </a:prstGeom>
          <a:solidFill>
            <a:srgbClr val="D4943A"/>
          </a:solidFill>
          <a:ln w="12700">
            <a:solidFill>
              <a:srgbClr val="D4943A"/>
            </a:solidFill>
            <a:prstDash val="solid"/>
          </a:ln>
        </p:spPr>
      </p:sp>
      <p:sp>
        <p:nvSpPr>
          <p:cNvPr id="7" name="Shape 5"/>
          <p:cNvSpPr/>
          <p:nvPr/>
        </p:nvSpPr>
        <p:spPr>
          <a:xfrm>
            <a:off x="731520" y="1691640"/>
            <a:ext cx="768096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914400" y="1737360"/>
            <a:ext cx="7315200" cy="12984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 scale bar is a measuring tool printed right on the map.</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It might say: 1 inch = 200 miles.</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That means two cities 1 inch apart on the map are really 200 miles apart in real life.</a:t>
            </a:r>
            <a:endParaRPr lang="en-US" sz="1600" dirty="0"/>
          </a:p>
        </p:txBody>
      </p:sp>
      <p:sp>
        <p:nvSpPr>
          <p:cNvPr id="9" name="Shape 7"/>
          <p:cNvSpPr/>
          <p:nvPr/>
        </p:nvSpPr>
        <p:spPr>
          <a:xfrm>
            <a:off x="1828800" y="3246120"/>
            <a:ext cx="5486400" cy="713232"/>
          </a:xfrm>
          <a:prstGeom prst="roundRect">
            <a:avLst>
              <a:gd name="adj" fmla="val 15385"/>
            </a:avLst>
          </a:prstGeom>
          <a:solidFill>
            <a:srgbClr val="D4943A"/>
          </a:solidFill>
          <a:ln/>
        </p:spPr>
      </p:sp>
      <p:sp>
        <p:nvSpPr>
          <p:cNvPr id="10" name="Text 8"/>
          <p:cNvSpPr/>
          <p:nvPr/>
        </p:nvSpPr>
        <p:spPr>
          <a:xfrm>
            <a:off x="1828800" y="3246120"/>
            <a:ext cx="5486400" cy="713232"/>
          </a:xfrm>
          <a:prstGeom prst="rect">
            <a:avLst/>
          </a:prstGeom>
          <a:noFill/>
          <a:ln/>
        </p:spPr>
        <p:txBody>
          <a:bodyPr wrap="square" lIns="0" tIns="0" rIns="0" bIns="0" rtlCol="0" anchor="ctr"/>
          <a:lstStyle/>
          <a:p>
            <a:pPr algn="ctr" indent="0" marL="0">
              <a:buNone/>
            </a:pPr>
            <a:r>
              <a:rPr lang="en-US" sz="1700" b="1" dirty="0">
                <a:solidFill>
                  <a:srgbClr val="0E1C42"/>
                </a:solidFill>
                <a:latin typeface="Cambria" pitchFamily="34" charset="0"/>
                <a:ea typeface="Cambria" pitchFamily="34" charset="-122"/>
                <a:cs typeface="Cambria" pitchFamily="34" charset="-120"/>
              </a:rPr>
              <a:t>MAP INCHES  x  SCALE VALUE  =  REAL DISTANCE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Reading a Scale Bar</a:t>
            </a:r>
            <a:endParaRPr lang="en-US" sz="2800" dirty="0"/>
          </a:p>
        </p:txBody>
      </p:sp>
      <p:sp>
        <p:nvSpPr>
          <p:cNvPr id="3" name="Shape 1"/>
          <p:cNvSpPr/>
          <p:nvPr/>
        </p:nvSpPr>
        <p:spPr>
          <a:xfrm>
            <a:off x="457200" y="777240"/>
            <a:ext cx="4389120" cy="2560320"/>
          </a:xfrm>
          <a:prstGeom prst="roundRect">
            <a:avLst>
              <a:gd name="adj" fmla="val 4286"/>
            </a:avLst>
          </a:prstGeom>
          <a:solidFill>
            <a:srgbClr val="E2E8F4"/>
          </a:solidFill>
          <a:ln w="19050">
            <a:solidFill>
              <a:srgbClr val="B0B8CC"/>
            </a:solidFill>
            <a:prstDash val="dash"/>
          </a:ln>
        </p:spPr>
      </p:sp>
      <p:sp>
        <p:nvSpPr>
          <p:cNvPr id="4" name="Text 2"/>
          <p:cNvSpPr/>
          <p:nvPr/>
        </p:nvSpPr>
        <p:spPr>
          <a:xfrm>
            <a:off x="457200" y="777240"/>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594360" y="1051560"/>
            <a:ext cx="411480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Scale bar diagram with sections labeled 0, 200, 400 miles. Port A on the left, Port B on the right. Dotted measurement line showing 2 sections between them.</a:t>
            </a:r>
            <a:endParaRPr lang="en-US" sz="1100" dirty="0"/>
          </a:p>
        </p:txBody>
      </p:sp>
      <p:sp>
        <p:nvSpPr>
          <p:cNvPr id="6" name="Shape 4"/>
          <p:cNvSpPr/>
          <p:nvPr/>
        </p:nvSpPr>
        <p:spPr>
          <a:xfrm>
            <a:off x="5029200" y="777240"/>
            <a:ext cx="3657600" cy="2560320"/>
          </a:xfrm>
          <a:prstGeom prst="roundRect">
            <a:avLst>
              <a:gd name="adj" fmla="val 4286"/>
            </a:avLst>
          </a:prstGeom>
          <a:solidFill>
            <a:srgbClr val="EAF8FD"/>
          </a:solidFill>
          <a:ln w="19050">
            <a:solidFill>
              <a:srgbClr val="55C8E8"/>
            </a:solidFill>
            <a:prstDash val="solid"/>
          </a:ln>
        </p:spPr>
      </p:sp>
      <p:sp>
        <p:nvSpPr>
          <p:cNvPr id="7" name="Text 5"/>
          <p:cNvSpPr/>
          <p:nvPr/>
        </p:nvSpPr>
        <p:spPr>
          <a:xfrm>
            <a:off x="5166360" y="850392"/>
            <a:ext cx="338328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HOW TO USE THE SCALE BAR</a:t>
            </a:r>
            <a:endParaRPr lang="en-US" sz="900" dirty="0"/>
          </a:p>
        </p:txBody>
      </p:sp>
      <p:sp>
        <p:nvSpPr>
          <p:cNvPr id="8" name="Text 6"/>
          <p:cNvSpPr/>
          <p:nvPr/>
        </p:nvSpPr>
        <p:spPr>
          <a:xfrm>
            <a:off x="5166360" y="1097280"/>
            <a:ext cx="3383280" cy="21488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Step 1: Read the scale</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Each section = 200 miles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Step 2: Count sections between places</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Port A to Port B = 2 sections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Step 3: Multiply!</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2 x 200 miles = 400 miles</a:t>
            </a:r>
            <a:endParaRPr lang="en-US" sz="1300" dirty="0"/>
          </a:p>
        </p:txBody>
      </p:sp>
      <p:sp>
        <p:nvSpPr>
          <p:cNvPr id="9" name="Shape 7"/>
          <p:cNvSpPr/>
          <p:nvPr/>
        </p:nvSpPr>
        <p:spPr>
          <a:xfrm>
            <a:off x="5029200" y="3429000"/>
            <a:ext cx="3657600" cy="502920"/>
          </a:xfrm>
          <a:prstGeom prst="roundRect">
            <a:avLst>
              <a:gd name="adj" fmla="val 18182"/>
            </a:avLst>
          </a:prstGeom>
          <a:solidFill>
            <a:srgbClr val="34B76F"/>
          </a:solidFill>
          <a:ln/>
        </p:spPr>
      </p:sp>
      <p:sp>
        <p:nvSpPr>
          <p:cNvPr id="10" name="Text 8"/>
          <p:cNvSpPr/>
          <p:nvPr/>
        </p:nvSpPr>
        <p:spPr>
          <a:xfrm>
            <a:off x="5029200" y="3429000"/>
            <a:ext cx="36576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Port A to Port B = 400 miles!</a:t>
            </a:r>
            <a:endParaRPr lang="en-US" sz="1500" dirty="0"/>
          </a:p>
        </p:txBody>
      </p:sp>
      <p:sp>
        <p:nvSpPr>
          <p:cNvPr id="11" name="Shape 9"/>
          <p:cNvSpPr/>
          <p:nvPr/>
        </p:nvSpPr>
        <p:spPr>
          <a:xfrm>
            <a:off x="457200" y="4041648"/>
            <a:ext cx="8229600" cy="713232"/>
          </a:xfrm>
          <a:prstGeom prst="roundRect">
            <a:avLst>
              <a:gd name="adj" fmla="val 12821"/>
            </a:avLst>
          </a:prstGeom>
          <a:solidFill>
            <a:srgbClr val="FFF3DC"/>
          </a:solidFill>
          <a:ln w="12700">
            <a:solidFill>
              <a:srgbClr val="F5E6C8"/>
            </a:solidFill>
            <a:prstDash val="solid"/>
          </a:ln>
        </p:spPr>
      </p:sp>
      <p:sp>
        <p:nvSpPr>
          <p:cNvPr id="12" name="Text 10"/>
          <p:cNvSpPr/>
          <p:nvPr/>
        </p:nvSpPr>
        <p:spPr>
          <a:xfrm>
            <a:off x="594360" y="4114800"/>
            <a:ext cx="201168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PAUSE &amp; THINK:</a:t>
            </a:r>
            <a:endParaRPr lang="en-US" sz="900" dirty="0"/>
          </a:p>
        </p:txBody>
      </p:sp>
      <p:sp>
        <p:nvSpPr>
          <p:cNvPr id="13" name="Text 11"/>
          <p:cNvSpPr/>
          <p:nvPr/>
        </p:nvSpPr>
        <p:spPr>
          <a:xfrm>
            <a:off x="2651760" y="4096512"/>
            <a:ext cx="5852160" cy="548640"/>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If 1 inch = 100 miles and two cities are 3 inches apart, how many miles apart are they?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Watch Me Figure It Out</a:t>
            </a:r>
            <a:endParaRPr lang="en-US" sz="2800" dirty="0"/>
          </a:p>
        </p:txBody>
      </p:sp>
      <p:sp>
        <p:nvSpPr>
          <p:cNvPr id="3" name="Shape 1"/>
          <p:cNvSpPr/>
          <p:nvPr/>
        </p:nvSpPr>
        <p:spPr>
          <a:xfrm>
            <a:off x="457200" y="731520"/>
            <a:ext cx="1691640" cy="329184"/>
          </a:xfrm>
          <a:prstGeom prst="roundRect">
            <a:avLst>
              <a:gd name="adj" fmla="val 27778"/>
            </a:avLst>
          </a:prstGeom>
          <a:solidFill>
            <a:srgbClr val="8B6FC0"/>
          </a:solidFill>
          <a:ln/>
        </p:spPr>
      </p:sp>
      <p:sp>
        <p:nvSpPr>
          <p:cNvPr id="4" name="Text 2"/>
          <p:cNvSpPr/>
          <p:nvPr/>
        </p:nvSpPr>
        <p:spPr>
          <a:xfrm>
            <a:off x="457200" y="731520"/>
            <a:ext cx="169164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MODEL</a:t>
            </a:r>
            <a:endParaRPr lang="en-US" sz="900" dirty="0"/>
          </a:p>
        </p:txBody>
      </p:sp>
      <p:sp>
        <p:nvSpPr>
          <p:cNvPr id="5" name="Shape 3"/>
          <p:cNvSpPr/>
          <p:nvPr/>
        </p:nvSpPr>
        <p:spPr>
          <a:xfrm>
            <a:off x="457200" y="1143000"/>
            <a:ext cx="4663440" cy="621792"/>
          </a:xfrm>
          <a:prstGeom prst="roundRect">
            <a:avLst>
              <a:gd name="adj" fmla="val 14706"/>
            </a:avLst>
          </a:prstGeom>
          <a:solidFill>
            <a:srgbClr val="F0F2F8"/>
          </a:solidFill>
          <a:ln w="12700">
            <a:solidFill>
              <a:srgbClr val="B0B8CC"/>
            </a:solidFill>
            <a:prstDash val="solid"/>
          </a:ln>
        </p:spPr>
      </p:sp>
      <p:sp>
        <p:nvSpPr>
          <p:cNvPr id="6" name="Text 4"/>
          <p:cNvSpPr/>
          <p:nvPr/>
        </p:nvSpPr>
        <p:spPr>
          <a:xfrm>
            <a:off x="548640" y="1143000"/>
            <a:ext cx="4480560" cy="621792"/>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Scale: 1 inch = 200 miles   |   Port A and Port B are 3 inches apart</a:t>
            </a:r>
            <a:endParaRPr lang="en-US" sz="1400" dirty="0"/>
          </a:p>
        </p:txBody>
      </p:sp>
      <p:sp>
        <p:nvSpPr>
          <p:cNvPr id="7" name="Shape 5"/>
          <p:cNvSpPr/>
          <p:nvPr/>
        </p:nvSpPr>
        <p:spPr>
          <a:xfrm>
            <a:off x="457200" y="1874520"/>
            <a:ext cx="4663440" cy="640080"/>
          </a:xfrm>
          <a:prstGeom prst="roundRect">
            <a:avLst>
              <a:gd name="adj" fmla="val 14286"/>
            </a:avLst>
          </a:prstGeom>
          <a:solidFill>
            <a:srgbClr val="FFFFFF"/>
          </a:solidFill>
          <a:ln w="19050">
            <a:solidFill>
              <a:srgbClr val="B0B8CC"/>
            </a:solidFill>
            <a:prstDash val="solid"/>
          </a:ln>
        </p:spPr>
      </p:sp>
      <p:sp>
        <p:nvSpPr>
          <p:cNvPr id="8" name="Text 6"/>
          <p:cNvSpPr/>
          <p:nvPr/>
        </p:nvSpPr>
        <p:spPr>
          <a:xfrm>
            <a:off x="594360" y="1911096"/>
            <a:ext cx="4389120" cy="201168"/>
          </a:xfrm>
          <a:prstGeom prst="rect">
            <a:avLst/>
          </a:prstGeom>
          <a:noFill/>
          <a:ln/>
        </p:spPr>
        <p:txBody>
          <a:bodyPr wrap="square" lIns="0" tIns="0" rIns="0" bIns="0" rtlCol="0" anchor="ctr"/>
          <a:lstStyle/>
          <a:p>
            <a:pPr indent="0" marL="0">
              <a:buNone/>
            </a:pPr>
            <a:r>
              <a:rPr lang="en-US" sz="1100" b="1" dirty="0">
                <a:solidFill>
                  <a:srgbClr val="1A2D5A"/>
                </a:solidFill>
                <a:latin typeface="Calibri" pitchFamily="34" charset="0"/>
                <a:ea typeface="Calibri" pitchFamily="34" charset="-122"/>
                <a:cs typeface="Calibri" pitchFamily="34" charset="-120"/>
              </a:rPr>
              <a:t>Step 1: Read the Scale</a:t>
            </a:r>
            <a:endParaRPr lang="en-US" sz="1100" dirty="0"/>
          </a:p>
        </p:txBody>
      </p:sp>
      <p:sp>
        <p:nvSpPr>
          <p:cNvPr id="9" name="Text 7"/>
          <p:cNvSpPr/>
          <p:nvPr/>
        </p:nvSpPr>
        <p:spPr>
          <a:xfrm>
            <a:off x="594360" y="2130552"/>
            <a:ext cx="4389120" cy="347472"/>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'The scale says 1 inch = 200 miles. Each inch stands for 200 real miles.'</a:t>
            </a:r>
            <a:endParaRPr lang="en-US" sz="1200" dirty="0"/>
          </a:p>
        </p:txBody>
      </p:sp>
      <p:sp>
        <p:nvSpPr>
          <p:cNvPr id="10" name="Shape 8"/>
          <p:cNvSpPr/>
          <p:nvPr/>
        </p:nvSpPr>
        <p:spPr>
          <a:xfrm>
            <a:off x="457200" y="2624328"/>
            <a:ext cx="4663440" cy="640080"/>
          </a:xfrm>
          <a:prstGeom prst="roundRect">
            <a:avLst>
              <a:gd name="adj" fmla="val 14286"/>
            </a:avLst>
          </a:prstGeom>
          <a:solidFill>
            <a:srgbClr val="FFFFFF"/>
          </a:solidFill>
          <a:ln w="19050">
            <a:solidFill>
              <a:srgbClr val="B0B8CC"/>
            </a:solidFill>
            <a:prstDash val="solid"/>
          </a:ln>
        </p:spPr>
      </p:sp>
      <p:sp>
        <p:nvSpPr>
          <p:cNvPr id="11" name="Text 9"/>
          <p:cNvSpPr/>
          <p:nvPr/>
        </p:nvSpPr>
        <p:spPr>
          <a:xfrm>
            <a:off x="594360" y="2660904"/>
            <a:ext cx="4389120" cy="201168"/>
          </a:xfrm>
          <a:prstGeom prst="rect">
            <a:avLst/>
          </a:prstGeom>
          <a:noFill/>
          <a:ln/>
        </p:spPr>
        <p:txBody>
          <a:bodyPr wrap="square" lIns="0" tIns="0" rIns="0" bIns="0" rtlCol="0" anchor="ctr"/>
          <a:lstStyle/>
          <a:p>
            <a:pPr indent="0" marL="0">
              <a:buNone/>
            </a:pPr>
            <a:r>
              <a:rPr lang="en-US" sz="1100" b="1" dirty="0">
                <a:solidFill>
                  <a:srgbClr val="1A2D5A"/>
                </a:solidFill>
                <a:latin typeface="Calibri" pitchFamily="34" charset="0"/>
                <a:ea typeface="Calibri" pitchFamily="34" charset="-122"/>
                <a:cs typeface="Calibri" pitchFamily="34" charset="-120"/>
              </a:rPr>
              <a:t>Step 2: Find the Map Distance</a:t>
            </a:r>
            <a:endParaRPr lang="en-US" sz="1100" dirty="0"/>
          </a:p>
        </p:txBody>
      </p:sp>
      <p:sp>
        <p:nvSpPr>
          <p:cNvPr id="12" name="Text 10"/>
          <p:cNvSpPr/>
          <p:nvPr/>
        </p:nvSpPr>
        <p:spPr>
          <a:xfrm>
            <a:off x="594360" y="2880360"/>
            <a:ext cx="4389120" cy="347472"/>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'I measure Port A to Port B: that is 3 inches on the map.'</a:t>
            </a:r>
            <a:endParaRPr lang="en-US" sz="1200" dirty="0"/>
          </a:p>
        </p:txBody>
      </p:sp>
      <p:sp>
        <p:nvSpPr>
          <p:cNvPr id="13" name="Shape 11"/>
          <p:cNvSpPr/>
          <p:nvPr/>
        </p:nvSpPr>
        <p:spPr>
          <a:xfrm>
            <a:off x="457200" y="3374136"/>
            <a:ext cx="4663440" cy="640080"/>
          </a:xfrm>
          <a:prstGeom prst="roundRect">
            <a:avLst>
              <a:gd name="adj" fmla="val 14286"/>
            </a:avLst>
          </a:prstGeom>
          <a:solidFill>
            <a:srgbClr val="E3F8ED"/>
          </a:solidFill>
          <a:ln w="19050">
            <a:solidFill>
              <a:srgbClr val="34B76F"/>
            </a:solidFill>
            <a:prstDash val="solid"/>
          </a:ln>
        </p:spPr>
      </p:sp>
      <p:sp>
        <p:nvSpPr>
          <p:cNvPr id="14" name="Text 12"/>
          <p:cNvSpPr/>
          <p:nvPr/>
        </p:nvSpPr>
        <p:spPr>
          <a:xfrm>
            <a:off x="594360" y="3410712"/>
            <a:ext cx="4389120" cy="201168"/>
          </a:xfrm>
          <a:prstGeom prst="rect">
            <a:avLst/>
          </a:prstGeom>
          <a:noFill/>
          <a:ln/>
        </p:spPr>
        <p:txBody>
          <a:bodyPr wrap="square" lIns="0" tIns="0" rIns="0" bIns="0" rtlCol="0" anchor="ctr"/>
          <a:lstStyle/>
          <a:p>
            <a:pPr indent="0" marL="0">
              <a:buNone/>
            </a:pPr>
            <a:r>
              <a:rPr lang="en-US" sz="1100" b="1" dirty="0">
                <a:solidFill>
                  <a:srgbClr val="1A6A3A"/>
                </a:solidFill>
                <a:latin typeface="Calibri" pitchFamily="34" charset="0"/>
                <a:ea typeface="Calibri" pitchFamily="34" charset="-122"/>
                <a:cs typeface="Calibri" pitchFamily="34" charset="-120"/>
              </a:rPr>
              <a:t>Step 3: Multiply!</a:t>
            </a:r>
            <a:endParaRPr lang="en-US" sz="1100" dirty="0"/>
          </a:p>
        </p:txBody>
      </p:sp>
      <p:sp>
        <p:nvSpPr>
          <p:cNvPr id="15" name="Text 13"/>
          <p:cNvSpPr/>
          <p:nvPr/>
        </p:nvSpPr>
        <p:spPr>
          <a:xfrm>
            <a:off x="594360" y="3630168"/>
            <a:ext cx="4389120" cy="347472"/>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'3 inches x 200 miles = 600 miles. They are 600 miles apart!'</a:t>
            </a:r>
            <a:endParaRPr lang="en-US" sz="1200" dirty="0"/>
          </a:p>
        </p:txBody>
      </p:sp>
      <p:sp>
        <p:nvSpPr>
          <p:cNvPr id="16" name="Shape 14"/>
          <p:cNvSpPr/>
          <p:nvPr/>
        </p:nvSpPr>
        <p:spPr>
          <a:xfrm>
            <a:off x="5303520" y="1143000"/>
            <a:ext cx="3383280" cy="2926080"/>
          </a:xfrm>
          <a:prstGeom prst="roundRect">
            <a:avLst>
              <a:gd name="adj" fmla="val 4688"/>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486400" y="1234440"/>
            <a:ext cx="30175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486400" y="1490472"/>
            <a:ext cx="3017520" cy="24871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we multiply instead of add?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we forgot to read the scale first?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step matters most and why?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Let's Try One Together</a:t>
            </a:r>
            <a:endParaRPr lang="en-US" sz="2800" dirty="0"/>
          </a:p>
        </p:txBody>
      </p:sp>
      <p:sp>
        <p:nvSpPr>
          <p:cNvPr id="3" name="Shape 1"/>
          <p:cNvSpPr/>
          <p:nvPr/>
        </p:nvSpPr>
        <p:spPr>
          <a:xfrm>
            <a:off x="457200" y="749808"/>
            <a:ext cx="8229600" cy="621792"/>
          </a:xfrm>
          <a:prstGeom prst="roundRect">
            <a:avLst>
              <a:gd name="adj" fmla="val 14706"/>
            </a:avLst>
          </a:prstGeom>
          <a:solidFill>
            <a:srgbClr val="0E1C42"/>
          </a:solidFill>
          <a:ln/>
        </p:spPr>
      </p:sp>
      <p:sp>
        <p:nvSpPr>
          <p:cNvPr id="4" name="Text 2"/>
          <p:cNvSpPr/>
          <p:nvPr/>
        </p:nvSpPr>
        <p:spPr>
          <a:xfrm>
            <a:off x="548640" y="749808"/>
            <a:ext cx="8046720" cy="621792"/>
          </a:xfrm>
          <a:prstGeom prst="rect">
            <a:avLst/>
          </a:prstGeom>
          <a:noFill/>
          <a:ln/>
        </p:spPr>
        <p:txBody>
          <a:bodyPr wrap="square" lIns="0" tIns="0" rIns="0" bIns="0" rtlCol="0" anchor="ctr"/>
          <a:lstStyle/>
          <a:p>
            <a:pPr algn="ctr" indent="0" marL="0">
              <a:buNone/>
            </a:pPr>
            <a:r>
              <a:rPr lang="en-US" sz="1500" b="1" dirty="0">
                <a:solidFill>
                  <a:srgbClr val="D4943A"/>
                </a:solidFill>
                <a:latin typeface="Cambria" pitchFamily="34" charset="0"/>
                <a:ea typeface="Cambria" pitchFamily="34" charset="-122"/>
                <a:cs typeface="Cambria" pitchFamily="34" charset="-120"/>
              </a:rPr>
              <a:t>Scale: 1 inch = 100 miles   |   Two cities are 4 inches apart   |   How far apart are they?</a:t>
            </a:r>
            <a:endParaRPr lang="en-US" sz="1500" dirty="0"/>
          </a:p>
        </p:txBody>
      </p:sp>
      <p:sp>
        <p:nvSpPr>
          <p:cNvPr id="5" name="Shape 3"/>
          <p:cNvSpPr/>
          <p:nvPr/>
        </p:nvSpPr>
        <p:spPr>
          <a:xfrm>
            <a:off x="457200" y="1508760"/>
            <a:ext cx="4389120" cy="2240280"/>
          </a:xfrm>
          <a:prstGeom prst="roundRect">
            <a:avLst>
              <a:gd name="adj" fmla="val 4898"/>
            </a:avLst>
          </a:prstGeom>
          <a:solidFill>
            <a:srgbClr val="EAF8FD"/>
          </a:solidFill>
          <a:ln w="25400">
            <a:solidFill>
              <a:srgbClr val="55C8E8"/>
            </a:solidFill>
            <a:prstDash val="solid"/>
          </a:ln>
        </p:spPr>
      </p:sp>
      <p:sp>
        <p:nvSpPr>
          <p:cNvPr id="6" name="Text 4"/>
          <p:cNvSpPr/>
          <p:nvPr/>
        </p:nvSpPr>
        <p:spPr>
          <a:xfrm>
            <a:off x="594360" y="1581912"/>
            <a:ext cx="411480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WE FIGURE OUT TOGETHER</a:t>
            </a:r>
            <a:endParaRPr lang="en-US" sz="900" dirty="0"/>
          </a:p>
        </p:txBody>
      </p:sp>
      <p:sp>
        <p:nvSpPr>
          <p:cNvPr id="7" name="Text 5"/>
          <p:cNvSpPr/>
          <p:nvPr/>
        </p:nvSpPr>
        <p:spPr>
          <a:xfrm>
            <a:off x="594360" y="1828800"/>
            <a:ext cx="4114800" cy="18288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Step 1: Scale says ___ miles per inch</a:t>
            </a:r>
            <a:endParaRPr lang="en-US" sz="1400" dirty="0"/>
          </a:p>
          <a:p>
            <a:pPr indent="0" marL="0">
              <a:buNone/>
            </a:pP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Step 2: Map distance = ___ inches apart</a:t>
            </a:r>
            <a:endParaRPr lang="en-US" sz="1400" dirty="0"/>
          </a:p>
          <a:p>
            <a:pPr indent="0" marL="0">
              <a:buNone/>
            </a:pP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Step 3: ___ x ___ = ___ ?</a:t>
            </a:r>
            <a:endParaRPr lang="en-US" sz="1400" dirty="0"/>
          </a:p>
          <a:p>
            <a:pPr indent="0" marL="0">
              <a:buNone/>
            </a:pP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Answer: The cities are ___ miles apart!</a:t>
            </a:r>
            <a:endParaRPr lang="en-US" sz="1400" dirty="0"/>
          </a:p>
        </p:txBody>
      </p:sp>
      <p:sp>
        <p:nvSpPr>
          <p:cNvPr id="8" name="Shape 6"/>
          <p:cNvSpPr/>
          <p:nvPr/>
        </p:nvSpPr>
        <p:spPr>
          <a:xfrm>
            <a:off x="5029200" y="1508760"/>
            <a:ext cx="365760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212080" y="1600200"/>
            <a:ext cx="3291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212080" y="1856232"/>
            <a:ext cx="3291840" cy="1801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do we look first: the map or the scale?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inches apart are the cities?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multiplication actually tell us?</a:t>
            </a:r>
            <a:endParaRPr lang="en-US" sz="1100" dirty="0"/>
          </a:p>
        </p:txBody>
      </p:sp>
      <p:sp>
        <p:nvSpPr>
          <p:cNvPr id="11" name="Shape 9"/>
          <p:cNvSpPr/>
          <p:nvPr/>
        </p:nvSpPr>
        <p:spPr>
          <a:xfrm>
            <a:off x="457200" y="3886200"/>
            <a:ext cx="8229600" cy="914400"/>
          </a:xfrm>
          <a:prstGeom prst="roundRect">
            <a:avLst>
              <a:gd name="adj" fmla="val 12000"/>
            </a:avLst>
          </a:prstGeom>
          <a:solidFill>
            <a:srgbClr val="FFF3DC"/>
          </a:solidFill>
          <a:ln w="19050">
            <a:solidFill>
              <a:srgbClr val="F5E6C8"/>
            </a:solidFill>
            <a:prstDash val="solid"/>
          </a:ln>
        </p:spPr>
      </p:sp>
      <p:sp>
        <p:nvSpPr>
          <p:cNvPr id="12" name="Text 10"/>
          <p:cNvSpPr/>
          <p:nvPr/>
        </p:nvSpPr>
        <p:spPr>
          <a:xfrm>
            <a:off x="594360" y="394106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94360" y="4142232"/>
            <a:ext cx="795528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"Our answer is ___ miles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multiplied ___ x ___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Turn! Use the Checklist</a:t>
            </a:r>
            <a:endParaRPr lang="en-US" sz="2800" dirty="0"/>
          </a:p>
        </p:txBody>
      </p:sp>
      <p:sp>
        <p:nvSpPr>
          <p:cNvPr id="3" name="Shape 1"/>
          <p:cNvSpPr/>
          <p:nvPr/>
        </p:nvSpPr>
        <p:spPr>
          <a:xfrm>
            <a:off x="457200" y="749808"/>
            <a:ext cx="8229600" cy="621792"/>
          </a:xfrm>
          <a:prstGeom prst="roundRect">
            <a:avLst>
              <a:gd name="adj" fmla="val 14706"/>
            </a:avLst>
          </a:prstGeom>
          <a:solidFill>
            <a:srgbClr val="1A8A7D"/>
          </a:solidFill>
          <a:ln/>
        </p:spPr>
      </p:sp>
      <p:sp>
        <p:nvSpPr>
          <p:cNvPr id="4" name="Text 2"/>
          <p:cNvSpPr/>
          <p:nvPr/>
        </p:nvSpPr>
        <p:spPr>
          <a:xfrm>
            <a:off x="548640" y="749808"/>
            <a:ext cx="8046720"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Scale: 1 inch = 50 miles   |   Two towns are 4 inches apart   |   How far is that?</a:t>
            </a:r>
            <a:endParaRPr lang="en-US" sz="1500" dirty="0"/>
          </a:p>
        </p:txBody>
      </p:sp>
      <p:sp>
        <p:nvSpPr>
          <p:cNvPr id="5" name="Shape 3"/>
          <p:cNvSpPr/>
          <p:nvPr/>
        </p:nvSpPr>
        <p:spPr>
          <a:xfrm>
            <a:off x="457200" y="1508760"/>
            <a:ext cx="4389120" cy="2240280"/>
          </a:xfrm>
          <a:prstGeom prst="roundRect">
            <a:avLst>
              <a:gd name="adj" fmla="val 4898"/>
            </a:avLst>
          </a:prstGeom>
          <a:solidFill>
            <a:srgbClr val="E3F8ED"/>
          </a:solidFill>
          <a:ln w="19050">
            <a:solidFill>
              <a:srgbClr val="34B76F"/>
            </a:solidFill>
            <a:prstDash val="solid"/>
          </a:ln>
        </p:spPr>
      </p:sp>
      <p:sp>
        <p:nvSpPr>
          <p:cNvPr id="6" name="Text 4"/>
          <p:cNvSpPr/>
          <p:nvPr/>
        </p:nvSpPr>
        <p:spPr>
          <a:xfrm>
            <a:off x="594360" y="1581912"/>
            <a:ext cx="4114800" cy="219456"/>
          </a:xfrm>
          <a:prstGeom prst="rect">
            <a:avLst/>
          </a:prstGeom>
          <a:noFill/>
          <a:ln/>
        </p:spPr>
        <p:txBody>
          <a:bodyPr wrap="square" lIns="0" tIns="0" rIns="0" bIns="0" rtlCol="0" anchor="ctr"/>
          <a:lstStyle/>
          <a:p>
            <a:pPr indent="0" marL="0">
              <a:buNone/>
            </a:pPr>
            <a:r>
              <a:rPr lang="en-US" sz="900" b="1" spc="150" kern="0" dirty="0">
                <a:solidFill>
                  <a:srgbClr val="1A6A3A"/>
                </a:solidFill>
                <a:latin typeface="Calibri" pitchFamily="34" charset="0"/>
                <a:ea typeface="Calibri" pitchFamily="34" charset="-122"/>
                <a:cs typeface="Calibri" pitchFamily="34" charset="-120"/>
              </a:rPr>
              <a:t>CURATOR'S CHECKLIST</a:t>
            </a:r>
            <a:endParaRPr lang="en-US" sz="900" dirty="0"/>
          </a:p>
        </p:txBody>
      </p:sp>
      <p:sp>
        <p:nvSpPr>
          <p:cNvPr id="7" name="Text 5"/>
          <p:cNvSpPr/>
          <p:nvPr/>
        </p:nvSpPr>
        <p:spPr>
          <a:xfrm>
            <a:off x="594360" y="1828800"/>
            <a:ext cx="4114800" cy="1828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 Step 1: Read the scale - 1 inch = ___ miles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Step 2: Map distance - ___ inches apart</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Step 3: Multiply - ___ x ___ = ___</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Step 4: Write your answer with units (miles)!</a:t>
            </a:r>
            <a:endParaRPr lang="en-US" sz="1300" dirty="0"/>
          </a:p>
        </p:txBody>
      </p:sp>
      <p:sp>
        <p:nvSpPr>
          <p:cNvPr id="8" name="Shape 6"/>
          <p:cNvSpPr/>
          <p:nvPr/>
        </p:nvSpPr>
        <p:spPr>
          <a:xfrm>
            <a:off x="5029200" y="1508760"/>
            <a:ext cx="3657600" cy="2240280"/>
          </a:xfrm>
          <a:prstGeom prst="roundRect">
            <a:avLst>
              <a:gd name="adj" fmla="val 4898"/>
            </a:avLst>
          </a:prstGeom>
          <a:solidFill>
            <a:srgbClr val="E2E8F4"/>
          </a:solidFill>
          <a:ln w="19050">
            <a:solidFill>
              <a:srgbClr val="B0B8CC"/>
            </a:solidFill>
            <a:prstDash val="dash"/>
          </a:ln>
        </p:spPr>
      </p:sp>
      <p:sp>
        <p:nvSpPr>
          <p:cNvPr id="9" name="Text 7"/>
          <p:cNvSpPr/>
          <p:nvPr/>
        </p:nvSpPr>
        <p:spPr>
          <a:xfrm>
            <a:off x="5029200" y="150876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5166360" y="1783080"/>
            <a:ext cx="3383280" cy="1874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map showing Town A and Town B with a measurement line showing 4 inches between them. Scale bar labeled 1 inch = 50 miles in corner.</a:t>
            </a:r>
            <a:endParaRPr lang="en-US" sz="1100" dirty="0"/>
          </a:p>
        </p:txBody>
      </p:sp>
      <p:sp>
        <p:nvSpPr>
          <p:cNvPr id="11" name="Shape 9"/>
          <p:cNvSpPr/>
          <p:nvPr/>
        </p:nvSpPr>
        <p:spPr>
          <a:xfrm>
            <a:off x="457200" y="3886200"/>
            <a:ext cx="8229600" cy="914400"/>
          </a:xfrm>
          <a:prstGeom prst="roundRect">
            <a:avLst>
              <a:gd name="adj" fmla="val 12000"/>
            </a:avLst>
          </a:prstGeom>
          <a:solidFill>
            <a:srgbClr val="FFF3DC"/>
          </a:solidFill>
          <a:ln w="19050">
            <a:solidFill>
              <a:srgbClr val="F5E6C8"/>
            </a:solidFill>
            <a:prstDash val="solid"/>
          </a:ln>
        </p:spPr>
      </p:sp>
      <p:sp>
        <p:nvSpPr>
          <p:cNvPr id="12" name="Text 10"/>
          <p:cNvSpPr/>
          <p:nvPr/>
        </p:nvSpPr>
        <p:spPr>
          <a:xfrm>
            <a:off x="594360" y="394106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94360" y="4142232"/>
            <a:ext cx="795528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answer is ___ miles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found it by..."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Scale Practice: Four Problems</a:t>
            </a:r>
            <a:endParaRPr lang="en-US" sz="26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Use the formula each time: MAP INCHES x SCALE = REAL DISTANCE</a:t>
            </a:r>
            <a:endParaRPr lang="en-US" sz="1300" dirty="0"/>
          </a:p>
        </p:txBody>
      </p:sp>
      <p:sp>
        <p:nvSpPr>
          <p:cNvPr id="4" name="Shape 2"/>
          <p:cNvSpPr/>
          <p:nvPr/>
        </p:nvSpPr>
        <p:spPr>
          <a:xfrm>
            <a:off x="457200" y="1078992"/>
            <a:ext cx="3931920" cy="1371600"/>
          </a:xfrm>
          <a:prstGeom prst="roundRect">
            <a:avLst>
              <a:gd name="adj" fmla="val 8000"/>
            </a:avLst>
          </a:prstGeom>
          <a:solidFill>
            <a:srgbClr val="F0F2F8"/>
          </a:solidFill>
          <a:ln w="19050">
            <a:solidFill>
              <a:srgbClr val="B0B8CC"/>
            </a:solidFill>
            <a:prstDash val="solid"/>
          </a:ln>
        </p:spPr>
      </p:sp>
      <p:sp>
        <p:nvSpPr>
          <p:cNvPr id="5" name="Text 3"/>
          <p:cNvSpPr/>
          <p:nvPr/>
        </p:nvSpPr>
        <p:spPr>
          <a:xfrm>
            <a:off x="594360" y="1170432"/>
            <a:ext cx="3657600" cy="219456"/>
          </a:xfrm>
          <a:prstGeom prst="rect">
            <a:avLst/>
          </a:prstGeom>
          <a:noFill/>
          <a:ln/>
        </p:spPr>
        <p:txBody>
          <a:bodyPr wrap="square" lIns="0" tIns="0" rIns="0" bIns="0"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Problem 1:</a:t>
            </a:r>
            <a:endParaRPr lang="en-US" sz="1000" dirty="0"/>
          </a:p>
        </p:txBody>
      </p:sp>
      <p:sp>
        <p:nvSpPr>
          <p:cNvPr id="6" name="Text 4"/>
          <p:cNvSpPr/>
          <p:nvPr/>
        </p:nvSpPr>
        <p:spPr>
          <a:xfrm>
            <a:off x="594360" y="1399032"/>
            <a:ext cx="3657600" cy="3291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1 in = 100 mi,  2 inches apart</a:t>
            </a:r>
            <a:endParaRPr lang="en-US" sz="1400" dirty="0"/>
          </a:p>
        </p:txBody>
      </p:sp>
      <p:sp>
        <p:nvSpPr>
          <p:cNvPr id="7" name="Text 5"/>
          <p:cNvSpPr/>
          <p:nvPr/>
        </p:nvSpPr>
        <p:spPr>
          <a:xfrm>
            <a:off x="594360" y="1792224"/>
            <a:ext cx="3657600" cy="512064"/>
          </a:xfrm>
          <a:prstGeom prst="rect">
            <a:avLst/>
          </a:prstGeom>
          <a:noFill/>
          <a:ln/>
        </p:spPr>
        <p:txBody>
          <a:bodyPr wrap="square" lIns="0" tIns="0" rIns="0" bIns="0" rtlCol="0" anchor="ctr"/>
          <a:lstStyle/>
          <a:p>
            <a:pPr indent="0" marL="0">
              <a:buNone/>
            </a:pPr>
            <a:r>
              <a:rPr lang="en-US" sz="1500" b="1" dirty="0">
                <a:solidFill>
                  <a:srgbClr val="34B76F"/>
                </a:solidFill>
                <a:latin typeface="Cambria" pitchFamily="34" charset="0"/>
                <a:ea typeface="Cambria" pitchFamily="34" charset="-122"/>
                <a:cs typeface="Cambria" pitchFamily="34" charset="-120"/>
              </a:rPr>
              <a:t>2 x 100 = 200 miles</a:t>
            </a:r>
            <a:endParaRPr lang="en-US" sz="1500" dirty="0"/>
          </a:p>
        </p:txBody>
      </p:sp>
      <p:sp>
        <p:nvSpPr>
          <p:cNvPr id="8" name="Shape 6"/>
          <p:cNvSpPr/>
          <p:nvPr/>
        </p:nvSpPr>
        <p:spPr>
          <a:xfrm>
            <a:off x="4617720" y="1078992"/>
            <a:ext cx="3931920" cy="1371600"/>
          </a:xfrm>
          <a:prstGeom prst="roundRect">
            <a:avLst>
              <a:gd name="adj" fmla="val 8000"/>
            </a:avLst>
          </a:prstGeom>
          <a:solidFill>
            <a:srgbClr val="F0F2F8"/>
          </a:solidFill>
          <a:ln w="19050">
            <a:solidFill>
              <a:srgbClr val="B0B8CC"/>
            </a:solidFill>
            <a:prstDash val="solid"/>
          </a:ln>
        </p:spPr>
      </p:sp>
      <p:sp>
        <p:nvSpPr>
          <p:cNvPr id="9" name="Text 7"/>
          <p:cNvSpPr/>
          <p:nvPr/>
        </p:nvSpPr>
        <p:spPr>
          <a:xfrm>
            <a:off x="4754880" y="1170432"/>
            <a:ext cx="3657600" cy="219456"/>
          </a:xfrm>
          <a:prstGeom prst="rect">
            <a:avLst/>
          </a:prstGeom>
          <a:noFill/>
          <a:ln/>
        </p:spPr>
        <p:txBody>
          <a:bodyPr wrap="square" lIns="0" tIns="0" rIns="0" bIns="0"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Problem 2:</a:t>
            </a:r>
            <a:endParaRPr lang="en-US" sz="1000" dirty="0"/>
          </a:p>
        </p:txBody>
      </p:sp>
      <p:sp>
        <p:nvSpPr>
          <p:cNvPr id="10" name="Text 8"/>
          <p:cNvSpPr/>
          <p:nvPr/>
        </p:nvSpPr>
        <p:spPr>
          <a:xfrm>
            <a:off x="4754880" y="1399032"/>
            <a:ext cx="3657600" cy="3291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1 in = 200 mi,  3 inches apart</a:t>
            </a:r>
            <a:endParaRPr lang="en-US" sz="1400" dirty="0"/>
          </a:p>
        </p:txBody>
      </p:sp>
      <p:sp>
        <p:nvSpPr>
          <p:cNvPr id="11" name="Text 9"/>
          <p:cNvSpPr/>
          <p:nvPr/>
        </p:nvSpPr>
        <p:spPr>
          <a:xfrm>
            <a:off x="4754880" y="1792224"/>
            <a:ext cx="3657600" cy="512064"/>
          </a:xfrm>
          <a:prstGeom prst="rect">
            <a:avLst/>
          </a:prstGeom>
          <a:noFill/>
          <a:ln/>
        </p:spPr>
        <p:txBody>
          <a:bodyPr wrap="square" lIns="0" tIns="0" rIns="0" bIns="0" rtlCol="0" anchor="ctr"/>
          <a:lstStyle/>
          <a:p>
            <a:pPr indent="0" marL="0">
              <a:buNone/>
            </a:pPr>
            <a:r>
              <a:rPr lang="en-US" sz="1500" b="1" dirty="0">
                <a:solidFill>
                  <a:srgbClr val="34B76F"/>
                </a:solidFill>
                <a:latin typeface="Cambria" pitchFamily="34" charset="0"/>
                <a:ea typeface="Cambria" pitchFamily="34" charset="-122"/>
                <a:cs typeface="Cambria" pitchFamily="34" charset="-120"/>
              </a:rPr>
              <a:t>3 x 200 = 600 miles</a:t>
            </a:r>
            <a:endParaRPr lang="en-US" sz="1500" dirty="0"/>
          </a:p>
        </p:txBody>
      </p:sp>
      <p:sp>
        <p:nvSpPr>
          <p:cNvPr id="12" name="Shape 10"/>
          <p:cNvSpPr/>
          <p:nvPr/>
        </p:nvSpPr>
        <p:spPr>
          <a:xfrm>
            <a:off x="457200" y="2697480"/>
            <a:ext cx="3931920" cy="1371600"/>
          </a:xfrm>
          <a:prstGeom prst="roundRect">
            <a:avLst>
              <a:gd name="adj" fmla="val 8000"/>
            </a:avLst>
          </a:prstGeom>
          <a:solidFill>
            <a:srgbClr val="F0F2F8"/>
          </a:solidFill>
          <a:ln w="19050">
            <a:solidFill>
              <a:srgbClr val="B0B8CC"/>
            </a:solidFill>
            <a:prstDash val="solid"/>
          </a:ln>
        </p:spPr>
      </p:sp>
      <p:sp>
        <p:nvSpPr>
          <p:cNvPr id="13" name="Text 11"/>
          <p:cNvSpPr/>
          <p:nvPr/>
        </p:nvSpPr>
        <p:spPr>
          <a:xfrm>
            <a:off x="594360" y="2788920"/>
            <a:ext cx="3657600" cy="219456"/>
          </a:xfrm>
          <a:prstGeom prst="rect">
            <a:avLst/>
          </a:prstGeom>
          <a:noFill/>
          <a:ln/>
        </p:spPr>
        <p:txBody>
          <a:bodyPr wrap="square" lIns="0" tIns="0" rIns="0" bIns="0"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Problem 3:</a:t>
            </a:r>
            <a:endParaRPr lang="en-US" sz="1000" dirty="0"/>
          </a:p>
        </p:txBody>
      </p:sp>
      <p:sp>
        <p:nvSpPr>
          <p:cNvPr id="14" name="Text 12"/>
          <p:cNvSpPr/>
          <p:nvPr/>
        </p:nvSpPr>
        <p:spPr>
          <a:xfrm>
            <a:off x="594360" y="3017520"/>
            <a:ext cx="3657600" cy="3291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1 in = 50 mi,   4 inches apart</a:t>
            </a:r>
            <a:endParaRPr lang="en-US" sz="1400" dirty="0"/>
          </a:p>
        </p:txBody>
      </p:sp>
      <p:sp>
        <p:nvSpPr>
          <p:cNvPr id="15" name="Text 13"/>
          <p:cNvSpPr/>
          <p:nvPr/>
        </p:nvSpPr>
        <p:spPr>
          <a:xfrm>
            <a:off x="594360" y="3410712"/>
            <a:ext cx="3657600" cy="512064"/>
          </a:xfrm>
          <a:prstGeom prst="rect">
            <a:avLst/>
          </a:prstGeom>
          <a:noFill/>
          <a:ln/>
        </p:spPr>
        <p:txBody>
          <a:bodyPr wrap="square" lIns="0" tIns="0" rIns="0" bIns="0" rtlCol="0" anchor="ctr"/>
          <a:lstStyle/>
          <a:p>
            <a:pPr indent="0" marL="0">
              <a:buNone/>
            </a:pPr>
            <a:r>
              <a:rPr lang="en-US" sz="1500" b="1" dirty="0">
                <a:solidFill>
                  <a:srgbClr val="34B76F"/>
                </a:solidFill>
                <a:latin typeface="Cambria" pitchFamily="34" charset="0"/>
                <a:ea typeface="Cambria" pitchFamily="34" charset="-122"/>
                <a:cs typeface="Cambria" pitchFamily="34" charset="-120"/>
              </a:rPr>
              <a:t>4 x 50 = 200 miles</a:t>
            </a:r>
            <a:endParaRPr lang="en-US" sz="1500" dirty="0"/>
          </a:p>
        </p:txBody>
      </p:sp>
      <p:sp>
        <p:nvSpPr>
          <p:cNvPr id="16" name="Shape 14"/>
          <p:cNvSpPr/>
          <p:nvPr/>
        </p:nvSpPr>
        <p:spPr>
          <a:xfrm>
            <a:off x="4617720" y="2697480"/>
            <a:ext cx="3931920" cy="1371600"/>
          </a:xfrm>
          <a:prstGeom prst="roundRect">
            <a:avLst>
              <a:gd name="adj" fmla="val 8000"/>
            </a:avLst>
          </a:prstGeom>
          <a:solidFill>
            <a:srgbClr val="F0F2F8"/>
          </a:solidFill>
          <a:ln w="19050">
            <a:solidFill>
              <a:srgbClr val="B0B8CC"/>
            </a:solidFill>
            <a:prstDash val="solid"/>
          </a:ln>
        </p:spPr>
      </p:sp>
      <p:sp>
        <p:nvSpPr>
          <p:cNvPr id="17" name="Text 15"/>
          <p:cNvSpPr/>
          <p:nvPr/>
        </p:nvSpPr>
        <p:spPr>
          <a:xfrm>
            <a:off x="4754880" y="2788920"/>
            <a:ext cx="3657600" cy="219456"/>
          </a:xfrm>
          <a:prstGeom prst="rect">
            <a:avLst/>
          </a:prstGeom>
          <a:noFill/>
          <a:ln/>
        </p:spPr>
        <p:txBody>
          <a:bodyPr wrap="square" lIns="0" tIns="0" rIns="0" bIns="0"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Problem 4:</a:t>
            </a:r>
            <a:endParaRPr lang="en-US" sz="1000" dirty="0"/>
          </a:p>
        </p:txBody>
      </p:sp>
      <p:sp>
        <p:nvSpPr>
          <p:cNvPr id="18" name="Text 16"/>
          <p:cNvSpPr/>
          <p:nvPr/>
        </p:nvSpPr>
        <p:spPr>
          <a:xfrm>
            <a:off x="4754880" y="3017520"/>
            <a:ext cx="3657600" cy="3291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1 in = 100 mi,  5 inches apart</a:t>
            </a:r>
            <a:endParaRPr lang="en-US" sz="1400" dirty="0"/>
          </a:p>
        </p:txBody>
      </p:sp>
      <p:sp>
        <p:nvSpPr>
          <p:cNvPr id="19" name="Text 17"/>
          <p:cNvSpPr/>
          <p:nvPr/>
        </p:nvSpPr>
        <p:spPr>
          <a:xfrm>
            <a:off x="4754880" y="3410712"/>
            <a:ext cx="3657600" cy="512064"/>
          </a:xfrm>
          <a:prstGeom prst="rect">
            <a:avLst/>
          </a:prstGeom>
          <a:noFill/>
          <a:ln/>
        </p:spPr>
        <p:txBody>
          <a:bodyPr wrap="square" lIns="0" tIns="0" rIns="0" bIns="0" rtlCol="0" anchor="ctr"/>
          <a:lstStyle/>
          <a:p>
            <a:pPr indent="0" marL="0">
              <a:buNone/>
            </a:pPr>
            <a:r>
              <a:rPr lang="en-US" sz="1500" b="1" dirty="0">
                <a:solidFill>
                  <a:srgbClr val="34B76F"/>
                </a:solidFill>
                <a:latin typeface="Cambria" pitchFamily="34" charset="0"/>
                <a:ea typeface="Cambria" pitchFamily="34" charset="-122"/>
                <a:cs typeface="Cambria" pitchFamily="34" charset="-120"/>
              </a:rPr>
              <a:t>5 x 100 = 500 miles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A Student Made a Mistake. Find It!</a:t>
            </a:r>
            <a:endParaRPr lang="en-US" sz="2600" dirty="0"/>
          </a:p>
        </p:txBody>
      </p:sp>
      <p:sp>
        <p:nvSpPr>
          <p:cNvPr id="3" name="Shape 1"/>
          <p:cNvSpPr/>
          <p:nvPr/>
        </p:nvSpPr>
        <p:spPr>
          <a:xfrm>
            <a:off x="457200" y="777240"/>
            <a:ext cx="8229600" cy="1188720"/>
          </a:xfrm>
          <a:prstGeom prst="roundRect">
            <a:avLst>
              <a:gd name="adj" fmla="val 9231"/>
            </a:avLst>
          </a:prstGeom>
          <a:solidFill>
            <a:srgbClr val="FFF0F0"/>
          </a:solidFill>
          <a:ln w="25400">
            <a:solidFill>
              <a:srgbClr val="E8636B"/>
            </a:solidFill>
            <a:prstDash val="solid"/>
          </a:ln>
        </p:spPr>
      </p:sp>
      <p:sp>
        <p:nvSpPr>
          <p:cNvPr id="4" name="Text 2"/>
          <p:cNvSpPr/>
          <p:nvPr/>
        </p:nvSpPr>
        <p:spPr>
          <a:xfrm>
            <a:off x="594360" y="850392"/>
            <a:ext cx="3200400" cy="219456"/>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STUDENT'S WORK:</a:t>
            </a:r>
            <a:endParaRPr lang="en-US" sz="900" dirty="0"/>
          </a:p>
        </p:txBody>
      </p:sp>
      <p:sp>
        <p:nvSpPr>
          <p:cNvPr id="5" name="Text 3"/>
          <p:cNvSpPr/>
          <p:nvPr/>
        </p:nvSpPr>
        <p:spPr>
          <a:xfrm>
            <a:off x="594360" y="1078992"/>
            <a:ext cx="7772400" cy="804672"/>
          </a:xfrm>
          <a:prstGeom prst="rect">
            <a:avLst/>
          </a:prstGeom>
          <a:noFill/>
          <a:ln/>
        </p:spPr>
        <p:txBody>
          <a:bodyPr wrap="square" lIns="0" tIns="0" rIns="0" bIns="0" rtlCol="0" anchor="t"/>
          <a:lstStyle/>
          <a:p>
            <a:pPr indent="0" marL="0">
              <a:buNone/>
            </a:pPr>
            <a:r>
              <a:rPr lang="en-US" sz="1400" i="1" dirty="0">
                <a:solidFill>
                  <a:srgbClr val="5A4A3A"/>
                </a:solidFill>
                <a:latin typeface="Cambria" pitchFamily="34" charset="0"/>
                <a:ea typeface="Cambria" pitchFamily="34" charset="-122"/>
                <a:cs typeface="Cambria" pitchFamily="34" charset="-120"/>
              </a:rPr>
              <a:t>Scale says 1 inch = 100 miles. The cities are 3 inches apart. So I added: 100 + 3 = 103. The cities are 103 miles apart.</a:t>
            </a:r>
            <a:endParaRPr lang="en-US" sz="1400" dirty="0"/>
          </a:p>
        </p:txBody>
      </p:sp>
      <p:sp>
        <p:nvSpPr>
          <p:cNvPr id="6" name="Shape 4"/>
          <p:cNvSpPr/>
          <p:nvPr/>
        </p:nvSpPr>
        <p:spPr>
          <a:xfrm>
            <a:off x="457200" y="2084832"/>
            <a:ext cx="4297680" cy="2176272"/>
          </a:xfrm>
          <a:prstGeom prst="roundRect">
            <a:avLst>
              <a:gd name="adj" fmla="val 6303"/>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2176272"/>
            <a:ext cx="39319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0080" y="2432304"/>
            <a:ext cx="3931920" cy="17373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do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exactly did the thinking go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can you not add inches to miles?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explain the fix to this student?</a:t>
            </a:r>
            <a:endParaRPr lang="en-US" sz="1100" dirty="0"/>
          </a:p>
        </p:txBody>
      </p:sp>
      <p:sp>
        <p:nvSpPr>
          <p:cNvPr id="9" name="Shape 7"/>
          <p:cNvSpPr/>
          <p:nvPr/>
        </p:nvSpPr>
        <p:spPr>
          <a:xfrm>
            <a:off x="4937760" y="2084832"/>
            <a:ext cx="3657600" cy="2176272"/>
          </a:xfrm>
          <a:prstGeom prst="roundRect">
            <a:avLst>
              <a:gd name="adj" fmla="val 5042"/>
            </a:avLst>
          </a:prstGeom>
          <a:solidFill>
            <a:srgbClr val="E3F8ED"/>
          </a:solidFill>
          <a:ln w="25400">
            <a:solidFill>
              <a:srgbClr val="34B76F"/>
            </a:solidFill>
            <a:prstDash val="solid"/>
          </a:ln>
        </p:spPr>
      </p:sp>
      <p:sp>
        <p:nvSpPr>
          <p:cNvPr id="10" name="Text 8"/>
          <p:cNvSpPr/>
          <p:nvPr/>
        </p:nvSpPr>
        <p:spPr>
          <a:xfrm>
            <a:off x="5074920" y="2157984"/>
            <a:ext cx="3383280" cy="219456"/>
          </a:xfrm>
          <a:prstGeom prst="rect">
            <a:avLst/>
          </a:prstGeom>
          <a:noFill/>
          <a:ln/>
        </p:spPr>
        <p:txBody>
          <a:bodyPr wrap="square" lIns="0" tIns="0" rIns="0" bIns="0" rtlCol="0" anchor="ctr"/>
          <a:lstStyle/>
          <a:p>
            <a:pPr indent="0" marL="0">
              <a:buNone/>
            </a:pPr>
            <a:r>
              <a:rPr lang="en-US" sz="900" b="1" spc="150" kern="0" dirty="0">
                <a:solidFill>
                  <a:srgbClr val="1A6A3A"/>
                </a:solidFill>
                <a:latin typeface="Calibri" pitchFamily="34" charset="0"/>
                <a:ea typeface="Calibri" pitchFamily="34" charset="-122"/>
                <a:cs typeface="Calibri" pitchFamily="34" charset="-120"/>
              </a:rPr>
              <a:t>THE FIX:</a:t>
            </a:r>
            <a:endParaRPr lang="en-US" sz="900" dirty="0"/>
          </a:p>
        </p:txBody>
      </p:sp>
      <p:sp>
        <p:nvSpPr>
          <p:cNvPr id="11" name="Text 9"/>
          <p:cNvSpPr/>
          <p:nvPr/>
        </p:nvSpPr>
        <p:spPr>
          <a:xfrm>
            <a:off x="5074920" y="2395728"/>
            <a:ext cx="3383280" cy="1755648"/>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Do not ADD - MULTIPLY!</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1 inch = 100 miles</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3 inches on the map</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3 x 100 = 300 miles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You cannot add inches to miles.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Tricky One - You Decide!</a:t>
            </a:r>
            <a:endParaRPr lang="en-US" sz="2600" dirty="0"/>
          </a:p>
        </p:txBody>
      </p:sp>
      <p:sp>
        <p:nvSpPr>
          <p:cNvPr id="3" name="Shape 1"/>
          <p:cNvSpPr/>
          <p:nvPr/>
        </p:nvSpPr>
        <p:spPr>
          <a:xfrm>
            <a:off x="457200" y="749808"/>
            <a:ext cx="8229600" cy="1143000"/>
          </a:xfrm>
          <a:prstGeom prst="roundRect">
            <a:avLst>
              <a:gd name="adj" fmla="val 9600"/>
            </a:avLst>
          </a:prstGeom>
          <a:solidFill>
            <a:srgbClr val="FFF3DC"/>
          </a:solidFill>
          <a:ln w="19050">
            <a:solidFill>
              <a:srgbClr val="D4943A"/>
            </a:solidFill>
            <a:prstDash val="solid"/>
          </a:ln>
        </p:spPr>
      </p:sp>
      <p:sp>
        <p:nvSpPr>
          <p:cNvPr id="4" name="Text 2"/>
          <p:cNvSpPr/>
          <p:nvPr/>
        </p:nvSpPr>
        <p:spPr>
          <a:xfrm>
            <a:off x="594360" y="822960"/>
            <a:ext cx="182880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SCENARIO:</a:t>
            </a:r>
            <a:endParaRPr lang="en-US" sz="900" dirty="0"/>
          </a:p>
        </p:txBody>
      </p:sp>
      <p:sp>
        <p:nvSpPr>
          <p:cNvPr id="5" name="Text 3"/>
          <p:cNvSpPr/>
          <p:nvPr/>
        </p:nvSpPr>
        <p:spPr>
          <a:xfrm>
            <a:off x="594360" y="1060704"/>
            <a:ext cx="7772400" cy="749808"/>
          </a:xfrm>
          <a:prstGeom prst="rect">
            <a:avLst/>
          </a:prstGeom>
          <a:noFill/>
          <a:ln/>
        </p:spPr>
        <p:txBody>
          <a:bodyPr wrap="square" lIns="0" tIns="0" rIns="0" bIns="0" rtlCol="0" anchor="t"/>
          <a:lstStyle/>
          <a:p>
            <a:pPr indent="0" marL="0">
              <a:buNone/>
            </a:pPr>
            <a:r>
              <a:rPr lang="en-US" sz="1300" i="1" dirty="0">
                <a:solidFill>
                  <a:srgbClr val="5A4A3A"/>
                </a:solidFill>
                <a:latin typeface="Cambria" pitchFamily="34" charset="0"/>
                <a:ea typeface="Cambria" pitchFamily="34" charset="-122"/>
                <a:cs typeface="Cambria" pitchFamily="34" charset="-120"/>
              </a:rPr>
              <a:t>An explorer's route CURVES across the ocean - not a straight line. You measure straight from start to end: 6 inches. Scale: 1 inch = 200 miles. A student says the explorer sailed 1,200 miles. Is that right?</a:t>
            </a:r>
            <a:endParaRPr lang="en-US" sz="1300" dirty="0"/>
          </a:p>
        </p:txBody>
      </p:sp>
      <p:sp>
        <p:nvSpPr>
          <p:cNvPr id="6" name="Shape 4"/>
          <p:cNvSpPr/>
          <p:nvPr/>
        </p:nvSpPr>
        <p:spPr>
          <a:xfrm>
            <a:off x="457200" y="1993392"/>
            <a:ext cx="3977640" cy="1719072"/>
          </a:xfrm>
          <a:prstGeom prst="roundRect">
            <a:avLst>
              <a:gd name="adj" fmla="val 6383"/>
            </a:avLst>
          </a:prstGeom>
          <a:solidFill>
            <a:srgbClr val="EAF8FD"/>
          </a:solidFill>
          <a:ln w="19050">
            <a:solidFill>
              <a:srgbClr val="55C8E8"/>
            </a:solidFill>
            <a:prstDash val="solid"/>
          </a:ln>
        </p:spPr>
      </p:sp>
      <p:sp>
        <p:nvSpPr>
          <p:cNvPr id="7" name="Text 5"/>
          <p:cNvSpPr/>
          <p:nvPr/>
        </p:nvSpPr>
        <p:spPr>
          <a:xfrm>
            <a:off x="594360" y="2066544"/>
            <a:ext cx="3703320" cy="21945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TEAM YES</a:t>
            </a:r>
            <a:endParaRPr lang="en-US" sz="1000" dirty="0"/>
          </a:p>
        </p:txBody>
      </p:sp>
      <p:sp>
        <p:nvSpPr>
          <p:cNvPr id="8" name="Text 6"/>
          <p:cNvSpPr/>
          <p:nvPr/>
        </p:nvSpPr>
        <p:spPr>
          <a:xfrm>
            <a:off x="594360" y="2304288"/>
            <a:ext cx="3703320" cy="1298448"/>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You used the scale correctly. 6 x 200 = 1,200 miles. That is the straight-line distance between start and finish.</a:t>
            </a:r>
            <a:endParaRPr lang="en-US" sz="1300" dirty="0"/>
          </a:p>
        </p:txBody>
      </p:sp>
      <p:sp>
        <p:nvSpPr>
          <p:cNvPr id="9" name="Shape 7"/>
          <p:cNvSpPr/>
          <p:nvPr/>
        </p:nvSpPr>
        <p:spPr>
          <a:xfrm>
            <a:off x="4617720" y="1993392"/>
            <a:ext cx="3977640" cy="1719072"/>
          </a:xfrm>
          <a:prstGeom prst="roundRect">
            <a:avLst>
              <a:gd name="adj" fmla="val 6383"/>
            </a:avLst>
          </a:prstGeom>
          <a:solidFill>
            <a:srgbClr val="FFF0F0"/>
          </a:solidFill>
          <a:ln w="19050">
            <a:solidFill>
              <a:srgbClr val="E8636B"/>
            </a:solidFill>
            <a:prstDash val="solid"/>
          </a:ln>
        </p:spPr>
      </p:sp>
      <p:sp>
        <p:nvSpPr>
          <p:cNvPr id="10" name="Text 8"/>
          <p:cNvSpPr/>
          <p:nvPr/>
        </p:nvSpPr>
        <p:spPr>
          <a:xfrm>
            <a:off x="4754880" y="2066544"/>
            <a:ext cx="3703320" cy="21945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TEAM NOT SO FAST</a:t>
            </a:r>
            <a:endParaRPr lang="en-US" sz="1000" dirty="0"/>
          </a:p>
        </p:txBody>
      </p:sp>
      <p:sp>
        <p:nvSpPr>
          <p:cNvPr id="11" name="Text 9"/>
          <p:cNvSpPr/>
          <p:nvPr/>
        </p:nvSpPr>
        <p:spPr>
          <a:xfrm>
            <a:off x="4754880" y="2304288"/>
            <a:ext cx="3703320" cy="1298448"/>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The route CURVES. The straight-line distance is shorter than the path actually sailed. The explorer traveled MORE than 1,200 miles.</a:t>
            </a:r>
            <a:endParaRPr lang="en-US" sz="1300" dirty="0"/>
          </a:p>
        </p:txBody>
      </p:sp>
      <p:sp>
        <p:nvSpPr>
          <p:cNvPr id="12" name="Shape 10"/>
          <p:cNvSpPr/>
          <p:nvPr/>
        </p:nvSpPr>
        <p:spPr>
          <a:xfrm>
            <a:off x="457200" y="3822192"/>
            <a:ext cx="8229600" cy="960120"/>
          </a:xfrm>
          <a:prstGeom prst="roundRect">
            <a:avLst>
              <a:gd name="adj" fmla="val 11429"/>
            </a:avLst>
          </a:prstGeom>
          <a:solidFill>
            <a:srgbClr val="FFF3DC"/>
          </a:solidFill>
          <a:ln w="19050">
            <a:solidFill>
              <a:srgbClr val="F5E6C8"/>
            </a:solidFill>
            <a:prstDash val="solid"/>
          </a:ln>
        </p:spPr>
      </p:sp>
      <p:sp>
        <p:nvSpPr>
          <p:cNvPr id="13" name="Text 11"/>
          <p:cNvSpPr/>
          <p:nvPr/>
        </p:nvSpPr>
        <p:spPr>
          <a:xfrm>
            <a:off x="594360" y="3877056"/>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94360" y="4078224"/>
            <a:ext cx="795528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tricky part 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DISCOVERY FACT</a:t>
            </a:r>
            <a:endParaRPr lang="en-US" sz="1000" dirty="0"/>
          </a:p>
        </p:txBody>
      </p:sp>
      <p:sp>
        <p:nvSpPr>
          <p:cNvPr id="5" name="Text 3"/>
          <p:cNvSpPr/>
          <p:nvPr/>
        </p:nvSpPr>
        <p:spPr>
          <a:xfrm>
            <a:off x="457200" y="658368"/>
            <a:ext cx="8229600" cy="71323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Columbus's Biggest Measurement Error</a:t>
            </a:r>
            <a:endParaRPr lang="en-US" sz="3000" dirty="0"/>
          </a:p>
        </p:txBody>
      </p:sp>
      <p:sp>
        <p:nvSpPr>
          <p:cNvPr id="6" name="Shape 4"/>
          <p:cNvSpPr/>
          <p:nvPr/>
        </p:nvSpPr>
        <p:spPr>
          <a:xfrm>
            <a:off x="731520" y="1481328"/>
            <a:ext cx="7680960" cy="1389888"/>
          </a:xfrm>
          <a:prstGeom prst="roundRect">
            <a:avLst>
              <a:gd name="adj" fmla="val 986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68680" y="1554480"/>
            <a:ext cx="7406640" cy="420624"/>
          </a:xfrm>
          <a:prstGeom prst="rect">
            <a:avLst/>
          </a:prstGeom>
          <a:noFill/>
          <a:ln/>
        </p:spPr>
        <p:txBody>
          <a:bodyPr wrap="square" lIns="0" tIns="0" rIns="0" bIns="0" rtlCol="0" anchor="ctr"/>
          <a:lstStyle/>
          <a:p>
            <a:pPr algn="ctr" indent="0" marL="0">
              <a:buNone/>
            </a:pPr>
            <a:r>
              <a:rPr lang="en-US" sz="1600" dirty="0">
                <a:solidFill>
                  <a:srgbClr val="55C8E8"/>
                </a:solidFill>
                <a:latin typeface="Calibri" pitchFamily="34" charset="0"/>
                <a:ea typeface="Calibri" pitchFamily="34" charset="-122"/>
                <a:cs typeface="Calibri" pitchFamily="34" charset="-120"/>
              </a:rPr>
              <a:t>Columbus thought Asia was about 2,500 miles west of Spain.</a:t>
            </a:r>
            <a:endParaRPr lang="en-US" sz="1600" dirty="0"/>
          </a:p>
        </p:txBody>
      </p:sp>
      <p:sp>
        <p:nvSpPr>
          <p:cNvPr id="8" name="Text 6"/>
          <p:cNvSpPr/>
          <p:nvPr/>
        </p:nvSpPr>
        <p:spPr>
          <a:xfrm>
            <a:off x="868680" y="1993392"/>
            <a:ext cx="7406640" cy="384048"/>
          </a:xfrm>
          <a:prstGeom prst="rect">
            <a:avLst/>
          </a:prstGeom>
          <a:noFill/>
          <a:ln/>
        </p:spPr>
        <p:txBody>
          <a:bodyPr wrap="square" lIns="0" tIns="0" rIns="0" bIns="0" rtlCol="0" anchor="ctr"/>
          <a:lstStyle/>
          <a:p>
            <a:pPr algn="ctr" indent="0" marL="0">
              <a:buNone/>
            </a:pPr>
            <a:r>
              <a:rPr lang="en-US" sz="2000" b="1" dirty="0">
                <a:solidFill>
                  <a:srgbClr val="D4943A"/>
                </a:solidFill>
                <a:latin typeface="Cambria" pitchFamily="34" charset="0"/>
                <a:ea typeface="Cambria" pitchFamily="34" charset="-122"/>
                <a:cs typeface="Cambria" pitchFamily="34" charset="-120"/>
              </a:rPr>
              <a:t>The real distance? Over 12,000 miles!</a:t>
            </a:r>
            <a:endParaRPr lang="en-US" sz="2000" dirty="0"/>
          </a:p>
        </p:txBody>
      </p:sp>
      <p:sp>
        <p:nvSpPr>
          <p:cNvPr id="9" name="Text 7"/>
          <p:cNvSpPr/>
          <p:nvPr/>
        </p:nvSpPr>
        <p:spPr>
          <a:xfrm>
            <a:off x="868680" y="2395728"/>
            <a:ext cx="7406640" cy="365760"/>
          </a:xfrm>
          <a:prstGeom prst="rect">
            <a:avLst/>
          </a:prstGeom>
          <a:noFill/>
          <a:ln/>
        </p:spPr>
        <p:txBody>
          <a:bodyPr wrap="square" lIns="0" tIns="0" rIns="0" bIns="0" rtlCol="0" anchor="ctr"/>
          <a:lstStyle/>
          <a:p>
            <a:pPr algn="ctr" indent="0" marL="0">
              <a:buNone/>
            </a:pPr>
            <a:r>
              <a:rPr lang="en-US" sz="1300" i="1" dirty="0">
                <a:solidFill>
                  <a:srgbClr val="7A88A8"/>
                </a:solidFill>
                <a:latin typeface="Cambria" pitchFamily="34" charset="0"/>
                <a:ea typeface="Cambria" pitchFamily="34" charset="-122"/>
                <a:cs typeface="Cambria" pitchFamily="34" charset="-120"/>
              </a:rPr>
              <a:t>If he had had a better scale on his map, he might have packed a lot more food.</a:t>
            </a:r>
            <a:endParaRPr lang="en-US" sz="1300" dirty="0"/>
          </a:p>
        </p:txBody>
      </p:sp>
      <p:sp>
        <p:nvSpPr>
          <p:cNvPr id="10" name="Shape 8"/>
          <p:cNvSpPr/>
          <p:nvPr/>
        </p:nvSpPr>
        <p:spPr>
          <a:xfrm>
            <a:off x="731520" y="2971800"/>
            <a:ext cx="7680960" cy="141732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11" name="Text 9"/>
          <p:cNvSpPr/>
          <p:nvPr/>
        </p:nvSpPr>
        <p:spPr>
          <a:xfrm>
            <a:off x="868680" y="3044952"/>
            <a:ext cx="7406640" cy="219456"/>
          </a:xfrm>
          <a:prstGeom prst="rect">
            <a:avLst/>
          </a:prstGeom>
          <a:noFill/>
          <a:ln/>
        </p:spPr>
        <p:txBody>
          <a:bodyPr wrap="square" lIns="0" tIns="0" rIns="0" bIns="0" rtlCol="0" anchor="ctr"/>
          <a:lstStyle/>
          <a:p>
            <a:pPr algn="ctr" indent="0" marL="0">
              <a:buNone/>
            </a:pPr>
            <a:r>
              <a:rPr lang="en-US" sz="900" b="1" spc="150" kern="0" dirty="0">
                <a:solidFill>
                  <a:srgbClr val="A0E8DA"/>
                </a:solidFill>
                <a:latin typeface="Calibri" pitchFamily="34" charset="0"/>
                <a:ea typeface="Calibri" pitchFamily="34" charset="-122"/>
                <a:cs typeface="Calibri" pitchFamily="34" charset="-120"/>
              </a:rPr>
              <a:t>THEN &amp; NOW</a:t>
            </a:r>
            <a:endParaRPr lang="en-US" sz="900" dirty="0"/>
          </a:p>
        </p:txBody>
      </p:sp>
      <p:sp>
        <p:nvSpPr>
          <p:cNvPr id="12" name="Text 10"/>
          <p:cNvSpPr/>
          <p:nvPr/>
        </p:nvSpPr>
        <p:spPr>
          <a:xfrm>
            <a:off x="868680" y="3273552"/>
            <a:ext cx="7406640" cy="100584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THEN: Explorers counted sailing days to estimate distance.</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NOW: GPS calculates exact distances in seconds.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Measuring Distance: Then &amp; Now</a:t>
            </a:r>
            <a:endParaRPr lang="en-US" sz="2600" dirty="0"/>
          </a:p>
        </p:txBody>
      </p:sp>
      <p:sp>
        <p:nvSpPr>
          <p:cNvPr id="3" name="Shape 1"/>
          <p:cNvSpPr/>
          <p:nvPr/>
        </p:nvSpPr>
        <p:spPr>
          <a:xfrm>
            <a:off x="457200" y="777240"/>
            <a:ext cx="3977640" cy="2651760"/>
          </a:xfrm>
          <a:prstGeom prst="roundRect">
            <a:avLst>
              <a:gd name="adj" fmla="val 4138"/>
            </a:avLst>
          </a:prstGeom>
          <a:solidFill>
            <a:srgbClr val="FFF8F0"/>
          </a:solidFill>
          <a:ln w="19050">
            <a:solidFill>
              <a:srgbClr val="D4943A"/>
            </a:solidFill>
            <a:prstDash val="solid"/>
          </a:ln>
        </p:spPr>
      </p:sp>
      <p:sp>
        <p:nvSpPr>
          <p:cNvPr id="4" name="Text 2"/>
          <p:cNvSpPr/>
          <p:nvPr/>
        </p:nvSpPr>
        <p:spPr>
          <a:xfrm>
            <a:off x="594360" y="850392"/>
            <a:ext cx="3703320" cy="256032"/>
          </a:xfrm>
          <a:prstGeom prst="rect">
            <a:avLst/>
          </a:prstGeom>
          <a:noFill/>
          <a:ln/>
        </p:spPr>
        <p:txBody>
          <a:bodyPr wrap="square" lIns="0" tIns="0" rIns="0" bIns="0"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THEN</a:t>
            </a:r>
            <a:endParaRPr lang="en-US" sz="1400" dirty="0"/>
          </a:p>
        </p:txBody>
      </p:sp>
      <p:sp>
        <p:nvSpPr>
          <p:cNvPr id="5" name="Shape 3"/>
          <p:cNvSpPr/>
          <p:nvPr/>
        </p:nvSpPr>
        <p:spPr>
          <a:xfrm>
            <a:off x="548640" y="1143000"/>
            <a:ext cx="3767328" cy="1371600"/>
          </a:xfrm>
          <a:prstGeom prst="roundRect">
            <a:avLst>
              <a:gd name="adj" fmla="val 8000"/>
            </a:avLst>
          </a:prstGeom>
          <a:solidFill>
            <a:srgbClr val="E2E8F4"/>
          </a:solidFill>
          <a:ln w="19050">
            <a:solidFill>
              <a:srgbClr val="B0B8CC"/>
            </a:solidFill>
            <a:prstDash val="dash"/>
          </a:ln>
        </p:spPr>
      </p:sp>
      <p:sp>
        <p:nvSpPr>
          <p:cNvPr id="6" name="Text 4"/>
          <p:cNvSpPr/>
          <p:nvPr/>
        </p:nvSpPr>
        <p:spPr>
          <a:xfrm>
            <a:off x="548640" y="1143000"/>
            <a:ext cx="3767328"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685800" y="1417320"/>
            <a:ext cx="3493008"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illustration of sailors using a knotted rope or sandglass to estimate speed and distance at sea. Warm aged-paper tones.</a:t>
            </a:r>
            <a:endParaRPr lang="en-US" sz="1100" dirty="0"/>
          </a:p>
        </p:txBody>
      </p:sp>
      <p:sp>
        <p:nvSpPr>
          <p:cNvPr id="8" name="Text 6"/>
          <p:cNvSpPr/>
          <p:nvPr/>
        </p:nvSpPr>
        <p:spPr>
          <a:xfrm>
            <a:off x="594360" y="2542032"/>
            <a:ext cx="3703320" cy="777240"/>
          </a:xfrm>
          <a:prstGeom prst="rect">
            <a:avLst/>
          </a:prstGeom>
          <a:noFill/>
          <a:ln/>
        </p:spPr>
        <p:txBody>
          <a:bodyPr wrap="square" lIns="0" tIns="0" rIns="0" bIns="0" rtlCol="0" anchor="t"/>
          <a:lstStyle/>
          <a:p>
            <a:pPr indent="0" marL="0">
              <a:buNone/>
            </a:pPr>
            <a:r>
              <a:rPr lang="en-US" sz="1200" dirty="0">
                <a:solidFill>
                  <a:srgbClr val="5A4A3A"/>
                </a:solidFill>
                <a:latin typeface="Calibri" pitchFamily="34" charset="0"/>
                <a:ea typeface="Calibri" pitchFamily="34" charset="-122"/>
                <a:cs typeface="Calibri" pitchFamily="34" charset="-120"/>
              </a:rPr>
              <a:t>Explorers counted sailing days, measured knotted ropes, or used the stars. All estimates.</a:t>
            </a:r>
            <a:endParaRPr lang="en-US" sz="1200" dirty="0"/>
          </a:p>
        </p:txBody>
      </p:sp>
      <p:sp>
        <p:nvSpPr>
          <p:cNvPr id="9" name="Shape 7"/>
          <p:cNvSpPr/>
          <p:nvPr/>
        </p:nvSpPr>
        <p:spPr>
          <a:xfrm>
            <a:off x="4645152" y="777240"/>
            <a:ext cx="3977640" cy="2651760"/>
          </a:xfrm>
          <a:prstGeom prst="roundRect">
            <a:avLst>
              <a:gd name="adj" fmla="val 4138"/>
            </a:avLst>
          </a:prstGeom>
          <a:solidFill>
            <a:srgbClr val="EAF8FD"/>
          </a:solidFill>
          <a:ln w="19050">
            <a:solidFill>
              <a:srgbClr val="55C8E8"/>
            </a:solidFill>
            <a:prstDash val="solid"/>
          </a:ln>
        </p:spPr>
      </p:sp>
      <p:sp>
        <p:nvSpPr>
          <p:cNvPr id="10" name="Text 8"/>
          <p:cNvSpPr/>
          <p:nvPr/>
        </p:nvSpPr>
        <p:spPr>
          <a:xfrm>
            <a:off x="4782312" y="850392"/>
            <a:ext cx="3703320" cy="256032"/>
          </a:xfrm>
          <a:prstGeom prst="rect">
            <a:avLst/>
          </a:prstGeom>
          <a:noFill/>
          <a:ln/>
        </p:spPr>
        <p:txBody>
          <a:bodyPr wrap="square" lIns="0" tIns="0" rIns="0" bIns="0" rtlCol="0" anchor="ctr"/>
          <a:lstStyle/>
          <a:p>
            <a:pPr indent="0" marL="0">
              <a:buNone/>
            </a:pPr>
            <a:r>
              <a:rPr lang="en-US" sz="1400" b="1" dirty="0">
                <a:solidFill>
                  <a:srgbClr val="1A8A7D"/>
                </a:solidFill>
                <a:latin typeface="Cambria" pitchFamily="34" charset="0"/>
                <a:ea typeface="Cambria" pitchFamily="34" charset="-122"/>
                <a:cs typeface="Cambria" pitchFamily="34" charset="-120"/>
              </a:rPr>
              <a:t>NOW</a:t>
            </a:r>
            <a:endParaRPr lang="en-US" sz="1400" dirty="0"/>
          </a:p>
        </p:txBody>
      </p:sp>
      <p:sp>
        <p:nvSpPr>
          <p:cNvPr id="11" name="Shape 9"/>
          <p:cNvSpPr/>
          <p:nvPr/>
        </p:nvSpPr>
        <p:spPr>
          <a:xfrm>
            <a:off x="4736592" y="1143000"/>
            <a:ext cx="3767328" cy="1371600"/>
          </a:xfrm>
          <a:prstGeom prst="roundRect">
            <a:avLst>
              <a:gd name="adj" fmla="val 8000"/>
            </a:avLst>
          </a:prstGeom>
          <a:solidFill>
            <a:srgbClr val="E2E8F4"/>
          </a:solidFill>
          <a:ln w="19050">
            <a:solidFill>
              <a:srgbClr val="B0B8CC"/>
            </a:solidFill>
            <a:prstDash val="dash"/>
          </a:ln>
        </p:spPr>
      </p:sp>
      <p:sp>
        <p:nvSpPr>
          <p:cNvPr id="12" name="Text 10"/>
          <p:cNvSpPr/>
          <p:nvPr/>
        </p:nvSpPr>
        <p:spPr>
          <a:xfrm>
            <a:off x="4736592" y="1143000"/>
            <a:ext cx="3767328"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4873752" y="1417320"/>
            <a:ext cx="3493008"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smartphone showing a navigation app with a mapped route and distance measurement displayed. Clean bright graphic.</a:t>
            </a:r>
            <a:endParaRPr lang="en-US" sz="1100" dirty="0"/>
          </a:p>
        </p:txBody>
      </p:sp>
      <p:sp>
        <p:nvSpPr>
          <p:cNvPr id="14" name="Text 12"/>
          <p:cNvSpPr/>
          <p:nvPr/>
        </p:nvSpPr>
        <p:spPr>
          <a:xfrm>
            <a:off x="4782312" y="2542032"/>
            <a:ext cx="3703320" cy="7772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GPS satellites calculate exact positions and distances in milliseconds. Accurate to within feet.</a:t>
            </a:r>
            <a:endParaRPr lang="en-US" sz="1200" dirty="0"/>
          </a:p>
        </p:txBody>
      </p:sp>
      <p:sp>
        <p:nvSpPr>
          <p:cNvPr id="15" name="Shape 13"/>
          <p:cNvSpPr/>
          <p:nvPr/>
        </p:nvSpPr>
        <p:spPr>
          <a:xfrm>
            <a:off x="457200" y="3547872"/>
            <a:ext cx="8229600" cy="960120"/>
          </a:xfrm>
          <a:prstGeom prst="roundRect">
            <a:avLst>
              <a:gd name="adj" fmla="val 11429"/>
            </a:avLst>
          </a:prstGeom>
          <a:solidFill>
            <a:srgbClr val="FFF3DC"/>
          </a:solidFill>
          <a:ln w="19050">
            <a:solidFill>
              <a:srgbClr val="F5E6C8"/>
            </a:solidFill>
            <a:prstDash val="solid"/>
          </a:ln>
        </p:spPr>
      </p:sp>
      <p:sp>
        <p:nvSpPr>
          <p:cNvPr id="16" name="Text 14"/>
          <p:cNvSpPr/>
          <p:nvPr/>
        </p:nvSpPr>
        <p:spPr>
          <a:xfrm>
            <a:off x="594360" y="3602736"/>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94360" y="3803904"/>
            <a:ext cx="795528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stayed the same about needing distances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biggest change is..."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320040"/>
            <a:ext cx="8229600" cy="237744"/>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EXHIBIT LABEL  |  GREAT MAP ROOM</a:t>
            </a:r>
            <a:endParaRPr lang="en-US" sz="900" dirty="0"/>
          </a:p>
        </p:txBody>
      </p:sp>
      <p:sp>
        <p:nvSpPr>
          <p:cNvPr id="5" name="Shape 3"/>
          <p:cNvSpPr/>
          <p:nvPr/>
        </p:nvSpPr>
        <p:spPr>
          <a:xfrm>
            <a:off x="822960" y="658368"/>
            <a:ext cx="7498080" cy="2743200"/>
          </a:xfrm>
          <a:prstGeom prst="roundRect">
            <a:avLst>
              <a:gd name="adj" fmla="val 6000"/>
            </a:avLst>
          </a:prstGeom>
          <a:solidFill>
            <a:srgbClr val="1A2D5A"/>
          </a:solidFill>
          <a:ln w="25400">
            <a:solidFill>
              <a:srgbClr val="D4943A"/>
            </a:solidFill>
            <a:prstDash val="solid"/>
          </a:ln>
          <a:effectLst>
            <a:outerShdw sx="100000" sy="100000" kx="0" ky="0" algn="bl" rotWithShape="0" blurRad="152400" dist="50800" dir="8100000">
              <a:srgbClr val="000000">
                <a:alpha val="25000"/>
              </a:srgbClr>
            </a:outerShdw>
          </a:effectLst>
        </p:spPr>
      </p:sp>
      <p:sp>
        <p:nvSpPr>
          <p:cNvPr id="6" name="Text 4"/>
          <p:cNvSpPr/>
          <p:nvPr/>
        </p:nvSpPr>
        <p:spPr>
          <a:xfrm>
            <a:off x="822960" y="731520"/>
            <a:ext cx="7498080" cy="438912"/>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Map Scale</a:t>
            </a:r>
            <a:endParaRPr lang="en-US" sz="2800" dirty="0"/>
          </a:p>
        </p:txBody>
      </p:sp>
      <p:sp>
        <p:nvSpPr>
          <p:cNvPr id="7" name="Shape 5"/>
          <p:cNvSpPr/>
          <p:nvPr/>
        </p:nvSpPr>
        <p:spPr>
          <a:xfrm>
            <a:off x="1371600" y="1225296"/>
            <a:ext cx="6400800" cy="18288"/>
          </a:xfrm>
          <a:prstGeom prst="rect">
            <a:avLst/>
          </a:prstGeom>
          <a:solidFill>
            <a:srgbClr val="D4943A"/>
          </a:solidFill>
          <a:ln w="12700">
            <a:solidFill>
              <a:srgbClr val="D4943A"/>
            </a:solidFill>
            <a:prstDash val="solid"/>
          </a:ln>
        </p:spPr>
      </p:sp>
      <p:sp>
        <p:nvSpPr>
          <p:cNvPr id="8" name="Text 6"/>
          <p:cNvSpPr/>
          <p:nvPr/>
        </p:nvSpPr>
        <p:spPr>
          <a:xfrm>
            <a:off x="1005840" y="1298448"/>
            <a:ext cx="7132320" cy="1993392"/>
          </a:xfrm>
          <a:prstGeom prst="rect">
            <a:avLst/>
          </a:prstGeom>
          <a:noFill/>
          <a:ln/>
        </p:spPr>
        <p:txBody>
          <a:bodyPr wrap="square" lIns="0" tIns="0" rIns="0" bIns="0" rtlCol="0" anchor="ctr"/>
          <a:lstStyle/>
          <a:p>
            <a:pPr algn="ctr" indent="0" marL="0">
              <a:buNone/>
            </a:pPr>
            <a:r>
              <a:rPr lang="en-US" sz="1700" dirty="0">
                <a:solidFill>
                  <a:srgbClr val="FFFFFF"/>
                </a:solidFill>
                <a:latin typeface="Cambria" pitchFamily="34" charset="0"/>
                <a:ea typeface="Cambria" pitchFamily="34" charset="-122"/>
                <a:cs typeface="Cambria" pitchFamily="34" charset="-120"/>
              </a:rPr>
              <a:t>A map scale bar shows how much the real world has been shrunk to fit on a map. It tells readers what a certain distance on the map equals in real life, so they can figure out how far apart places really are.</a:t>
            </a:r>
            <a:endParaRPr lang="en-US" sz="1700" dirty="0"/>
          </a:p>
        </p:txBody>
      </p:sp>
      <p:sp>
        <p:nvSpPr>
          <p:cNvPr id="9" name="Shape 7"/>
          <p:cNvSpPr/>
          <p:nvPr/>
        </p:nvSpPr>
        <p:spPr>
          <a:xfrm>
            <a:off x="822960" y="3520440"/>
            <a:ext cx="7498080" cy="822960"/>
          </a:xfrm>
          <a:prstGeom prst="roundRect">
            <a:avLst>
              <a:gd name="adj" fmla="val 11111"/>
            </a:avLst>
          </a:prstGeom>
          <a:solidFill>
            <a:srgbClr val="D4943A"/>
          </a:solidFill>
          <a:ln/>
        </p:spPr>
      </p:sp>
      <p:sp>
        <p:nvSpPr>
          <p:cNvPr id="10" name="Text 8"/>
          <p:cNvSpPr/>
          <p:nvPr/>
        </p:nvSpPr>
        <p:spPr>
          <a:xfrm>
            <a:off x="960120" y="3520440"/>
            <a:ext cx="7223760" cy="8229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RETRIEVAL CHECK: Without looking at your notes - what are the three steps for using a scale bar?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Opti's Surprising Discovery</a:t>
            </a:r>
            <a:endParaRPr lang="en-US" sz="2600" dirty="0"/>
          </a:p>
        </p:txBody>
      </p:sp>
      <p:sp>
        <p:nvSpPr>
          <p:cNvPr id="3" name="Shape 1"/>
          <p:cNvSpPr/>
          <p:nvPr/>
        </p:nvSpPr>
        <p:spPr>
          <a:xfrm>
            <a:off x="457200" y="777240"/>
            <a:ext cx="3108960" cy="2788920"/>
          </a:xfrm>
          <a:prstGeom prst="roundRect">
            <a:avLst>
              <a:gd name="adj" fmla="val 3934"/>
            </a:avLst>
          </a:prstGeom>
          <a:solidFill>
            <a:srgbClr val="E2E8F4"/>
          </a:solidFill>
          <a:ln w="19050">
            <a:solidFill>
              <a:srgbClr val="B0B8CC"/>
            </a:solidFill>
            <a:prstDash val="dash"/>
          </a:ln>
        </p:spPr>
      </p:sp>
      <p:sp>
        <p:nvSpPr>
          <p:cNvPr id="4" name="Text 2"/>
          <p:cNvSpPr/>
          <p:nvPr/>
        </p:nvSpPr>
        <p:spPr>
          <a:xfrm>
            <a:off x="457200" y="777240"/>
            <a:ext cx="31089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594360" y="1051560"/>
            <a:ext cx="283464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Opti the museum guide character looking curious and surprised, pointing at two maps side by side</a:t>
            </a:r>
            <a:endParaRPr lang="en-US" sz="1100" dirty="0"/>
          </a:p>
        </p:txBody>
      </p:sp>
      <p:sp>
        <p:nvSpPr>
          <p:cNvPr id="6" name="Shape 4"/>
          <p:cNvSpPr/>
          <p:nvPr/>
        </p:nvSpPr>
        <p:spPr>
          <a:xfrm>
            <a:off x="3749040" y="777240"/>
            <a:ext cx="4937760" cy="1353312"/>
          </a:xfrm>
          <a:prstGeom prst="roundRect">
            <a:avLst>
              <a:gd name="adj" fmla="val 8108"/>
            </a:avLst>
          </a:prstGeom>
          <a:solidFill>
            <a:srgbClr val="EAF8FD"/>
          </a:solidFill>
          <a:ln w="19050">
            <a:solidFill>
              <a:srgbClr val="55C8E8"/>
            </a:solidFill>
            <a:prstDash val="solid"/>
          </a:ln>
        </p:spPr>
      </p:sp>
      <p:sp>
        <p:nvSpPr>
          <p:cNvPr id="7" name="Text 5"/>
          <p:cNvSpPr/>
          <p:nvPr/>
        </p:nvSpPr>
        <p:spPr>
          <a:xfrm>
            <a:off x="3886200" y="850392"/>
            <a:ext cx="4663440" cy="118872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Map A: Globe  -&gt;  1 inch = 500 miles</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Map B: Classroom town map  -&gt;  1 inch = 0.5 miles</a:t>
            </a:r>
            <a:endParaRPr lang="en-US" sz="1400" dirty="0"/>
          </a:p>
          <a:p>
            <a:pPr indent="0" marL="0">
              <a:buNone/>
            </a:pP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Both maps are about the same size on paper.</a:t>
            </a:r>
            <a:endParaRPr lang="en-US" sz="1400" dirty="0"/>
          </a:p>
        </p:txBody>
      </p:sp>
      <p:sp>
        <p:nvSpPr>
          <p:cNvPr id="8" name="Shape 6"/>
          <p:cNvSpPr/>
          <p:nvPr/>
        </p:nvSpPr>
        <p:spPr>
          <a:xfrm>
            <a:off x="3749040" y="2240280"/>
            <a:ext cx="4937760" cy="1325880"/>
          </a:xfrm>
          <a:prstGeom prst="roundRect">
            <a:avLst>
              <a:gd name="adj" fmla="val 8276"/>
            </a:avLst>
          </a:prstGeom>
          <a:solidFill>
            <a:srgbClr val="FFF3DC"/>
          </a:solidFill>
          <a:ln w="19050">
            <a:solidFill>
              <a:srgbClr val="D4943A"/>
            </a:solidFill>
            <a:prstDash val="solid"/>
          </a:ln>
        </p:spPr>
      </p:sp>
      <p:sp>
        <p:nvSpPr>
          <p:cNvPr id="9" name="Text 7"/>
          <p:cNvSpPr/>
          <p:nvPr/>
        </p:nvSpPr>
        <p:spPr>
          <a:xfrm>
            <a:off x="3886200" y="2313432"/>
            <a:ext cx="466344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10" name="Text 8"/>
          <p:cNvSpPr/>
          <p:nvPr/>
        </p:nvSpPr>
        <p:spPr>
          <a:xfrm>
            <a:off x="3886200" y="2542032"/>
            <a:ext cx="4663440" cy="914400"/>
          </a:xfrm>
          <a:prstGeom prst="rect">
            <a:avLst/>
          </a:prstGeom>
          <a:noFill/>
          <a:ln/>
        </p:spPr>
        <p:txBody>
          <a:bodyPr wrap="square" lIns="0" tIns="0" rIns="0" bIns="0" rtlCol="0" anchor="t"/>
          <a:lstStyle/>
          <a:p>
            <a:pPr indent="0" marL="0">
              <a:buNone/>
            </a:pPr>
            <a:r>
              <a:rPr lang="en-US" sz="1300" i="1" dirty="0">
                <a:solidFill>
                  <a:srgbClr val="5A4A3A"/>
                </a:solidFill>
                <a:latin typeface="Cambria" pitchFamily="34" charset="0"/>
                <a:ea typeface="Cambria" pitchFamily="34" charset="-122"/>
                <a:cs typeface="Cambria" pitchFamily="34" charset="-120"/>
              </a:rPr>
              <a:t>Same-sized maps, totally different scales. That is why curators ALWAYS check the scale bar before measuring anything!</a:t>
            </a:r>
            <a:endParaRPr lang="en-US" sz="1300" dirty="0"/>
          </a:p>
        </p:txBody>
      </p:sp>
      <p:sp>
        <p:nvSpPr>
          <p:cNvPr id="11" name="Shape 9"/>
          <p:cNvSpPr/>
          <p:nvPr/>
        </p:nvSpPr>
        <p:spPr>
          <a:xfrm>
            <a:off x="457200" y="3703320"/>
            <a:ext cx="8229600" cy="1051560"/>
          </a:xfrm>
          <a:prstGeom prst="roundRect">
            <a:avLst>
              <a:gd name="adj" fmla="val 10435"/>
            </a:avLst>
          </a:prstGeom>
          <a:solidFill>
            <a:srgbClr val="FFF3DC"/>
          </a:solidFill>
          <a:ln w="19050">
            <a:solidFill>
              <a:srgbClr val="F5E6C8"/>
            </a:solidFill>
            <a:prstDash val="solid"/>
          </a:ln>
        </p:spPr>
      </p:sp>
      <p:sp>
        <p:nvSpPr>
          <p:cNvPr id="12" name="Text 10"/>
          <p:cNvSpPr/>
          <p:nvPr/>
        </p:nvSpPr>
        <p:spPr>
          <a:xfrm>
            <a:off x="594360" y="375818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94360" y="3959352"/>
            <a:ext cx="7955280" cy="731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"Curators always check the scale first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checking, you could..."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Today's Virtue: Service</a:t>
            </a:r>
            <a:endParaRPr lang="en-US" sz="2800" dirty="0"/>
          </a:p>
        </p:txBody>
      </p:sp>
      <p:sp>
        <p:nvSpPr>
          <p:cNvPr id="3" name="Shape 1"/>
          <p:cNvSpPr/>
          <p:nvPr/>
        </p:nvSpPr>
        <p:spPr>
          <a:xfrm>
            <a:off x="457200" y="777240"/>
            <a:ext cx="8229600" cy="1389888"/>
          </a:xfrm>
          <a:prstGeom prst="roundRect">
            <a:avLst>
              <a:gd name="adj" fmla="val 9211"/>
            </a:avLst>
          </a:prstGeom>
          <a:solidFill>
            <a:srgbClr val="1A8A7D"/>
          </a:solidFill>
          <a:ln/>
          <a:effectLst>
            <a:outerShdw sx="100000" sy="100000" kx="0" ky="0" algn="bl" rotWithShape="0" blurRad="76200" dist="25400" dir="8100000">
              <a:srgbClr val="000000">
                <a:alpha val="15000"/>
              </a:srgbClr>
            </a:outerShdw>
          </a:effectLst>
        </p:spPr>
      </p:sp>
      <p:sp>
        <p:nvSpPr>
          <p:cNvPr id="4" name="Text 2"/>
          <p:cNvSpPr/>
          <p:nvPr/>
        </p:nvSpPr>
        <p:spPr>
          <a:xfrm>
            <a:off x="594360" y="841248"/>
            <a:ext cx="7955280" cy="274320"/>
          </a:xfrm>
          <a:prstGeom prst="rect">
            <a:avLst/>
          </a:prstGeom>
          <a:noFill/>
          <a:ln/>
        </p:spPr>
        <p:txBody>
          <a:bodyPr wrap="square" lIns="0" tIns="0" rIns="0" bIns="0" rtlCol="0" anchor="ctr"/>
          <a:lstStyle/>
          <a:p>
            <a:pPr algn="ctr" indent="0" marL="0">
              <a:buNone/>
            </a:pPr>
            <a:r>
              <a:rPr lang="en-US" sz="1100" b="1" spc="250" kern="0" dirty="0">
                <a:solidFill>
                  <a:srgbClr val="A0E8DA"/>
                </a:solidFill>
                <a:latin typeface="Calibri" pitchFamily="34" charset="0"/>
                <a:ea typeface="Calibri" pitchFamily="34" charset="-122"/>
                <a:cs typeface="Calibri" pitchFamily="34" charset="-120"/>
              </a:rPr>
              <a:t>SERVICE</a:t>
            </a:r>
            <a:endParaRPr lang="en-US" sz="1100" dirty="0"/>
          </a:p>
        </p:txBody>
      </p:sp>
      <p:sp>
        <p:nvSpPr>
          <p:cNvPr id="5" name="Text 3"/>
          <p:cNvSpPr/>
          <p:nvPr/>
        </p:nvSpPr>
        <p:spPr>
          <a:xfrm>
            <a:off x="594360" y="1133856"/>
            <a:ext cx="7955280" cy="914400"/>
          </a:xfrm>
          <a:prstGeom prst="rect">
            <a:avLst/>
          </a:prstGeom>
          <a:noFill/>
          <a:ln/>
        </p:spPr>
        <p:txBody>
          <a:bodyPr wrap="square" lIns="0" tIns="0" rIns="0" bIns="0"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Service means helping others. When curators add clear labels and scale bars to displays, they serve every visitor who walks in and wants to learn.</a:t>
            </a:r>
            <a:endParaRPr lang="en-US" sz="1600" dirty="0"/>
          </a:p>
        </p:txBody>
      </p:sp>
      <p:sp>
        <p:nvSpPr>
          <p:cNvPr id="6" name="Shape 4"/>
          <p:cNvSpPr/>
          <p:nvPr/>
        </p:nvSpPr>
        <p:spPr>
          <a:xfrm>
            <a:off x="457200" y="2304288"/>
            <a:ext cx="8229600" cy="822960"/>
          </a:xfrm>
          <a:prstGeom prst="roundRect">
            <a:avLst>
              <a:gd name="adj" fmla="val 11111"/>
            </a:avLst>
          </a:prstGeom>
          <a:solidFill>
            <a:srgbClr val="F0F2F8"/>
          </a:solidFill>
          <a:ln w="12700">
            <a:solidFill>
              <a:srgbClr val="B0B8CC"/>
            </a:solidFill>
            <a:prstDash val="solid"/>
          </a:ln>
        </p:spPr>
      </p:sp>
      <p:sp>
        <p:nvSpPr>
          <p:cNvPr id="7" name="Text 5"/>
          <p:cNvSpPr/>
          <p:nvPr/>
        </p:nvSpPr>
        <p:spPr>
          <a:xfrm>
            <a:off x="594360" y="2359152"/>
            <a:ext cx="7955280" cy="7132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Your Role Today: Making information easy to understand is one of the most helpful things a Map Curator can do. You served visitors today by solving the missing scale bar mystery.</a:t>
            </a:r>
            <a:endParaRPr lang="en-US" sz="1300" dirty="0"/>
          </a:p>
        </p:txBody>
      </p:sp>
      <p:sp>
        <p:nvSpPr>
          <p:cNvPr id="8" name="Shape 6"/>
          <p:cNvSpPr/>
          <p:nvPr/>
        </p:nvSpPr>
        <p:spPr>
          <a:xfrm>
            <a:off x="457200" y="3273552"/>
            <a:ext cx="8229600" cy="1005840"/>
          </a:xfrm>
          <a:prstGeom prst="roundRect">
            <a:avLst>
              <a:gd name="adj" fmla="val 10909"/>
            </a:avLst>
          </a:prstGeom>
          <a:solidFill>
            <a:srgbClr val="FFF3DC"/>
          </a:solidFill>
          <a:ln w="19050">
            <a:solidFill>
              <a:srgbClr val="F5E6C8"/>
            </a:solidFill>
            <a:prstDash val="solid"/>
          </a:ln>
        </p:spPr>
      </p:sp>
      <p:sp>
        <p:nvSpPr>
          <p:cNvPr id="9" name="Text 7"/>
          <p:cNvSpPr/>
          <p:nvPr/>
        </p:nvSpPr>
        <p:spPr>
          <a:xfrm>
            <a:off x="594360" y="3328416"/>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94360" y="3529584"/>
            <a:ext cx="795528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show service when I..."</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"Curators serve visitors by..."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Your Scale Bar Evidence</a:t>
            </a:r>
            <a:endParaRPr lang="en-US" sz="2600" dirty="0"/>
          </a:p>
        </p:txBody>
      </p:sp>
      <p:sp>
        <p:nvSpPr>
          <p:cNvPr id="3" name="Shape 1"/>
          <p:cNvSpPr/>
          <p:nvPr/>
        </p:nvSpPr>
        <p:spPr>
          <a:xfrm>
            <a:off x="457200" y="777240"/>
            <a:ext cx="5029200" cy="3273552"/>
          </a:xfrm>
          <a:prstGeom prst="roundRect">
            <a:avLst>
              <a:gd name="adj" fmla="val 3352"/>
            </a:avLst>
          </a:prstGeom>
          <a:solidFill>
            <a:srgbClr val="EAF8FD"/>
          </a:solidFill>
          <a:ln w="19050">
            <a:solidFill>
              <a:srgbClr val="55C8E8"/>
            </a:solidFill>
            <a:prstDash val="solid"/>
          </a:ln>
        </p:spPr>
      </p:sp>
      <p:sp>
        <p:nvSpPr>
          <p:cNvPr id="4" name="Text 2"/>
          <p:cNvSpPr/>
          <p:nvPr/>
        </p:nvSpPr>
        <p:spPr>
          <a:xfrm>
            <a:off x="594360" y="850392"/>
            <a:ext cx="4754880" cy="219456"/>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5" name="Text 3"/>
          <p:cNvSpPr/>
          <p:nvPr/>
        </p:nvSpPr>
        <p:spPr>
          <a:xfrm>
            <a:off x="594360" y="1097280"/>
            <a:ext cx="4754880" cy="285292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1.  In your own words, explain what a map scale bar does. Why do maps need one?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2.  If 1 inch = 200 miles and two ports are 3 inches apart, how far apart are they? Show your thinking.</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  How does the scale bar connect to explorer routes? Why would a visitor want to know the real distance an explorer traveled?</a:t>
            </a:r>
            <a:endParaRPr lang="en-US" sz="1200" dirty="0"/>
          </a:p>
        </p:txBody>
      </p:sp>
      <p:sp>
        <p:nvSpPr>
          <p:cNvPr id="6" name="Shape 4"/>
          <p:cNvSpPr/>
          <p:nvPr/>
        </p:nvSpPr>
        <p:spPr>
          <a:xfrm>
            <a:off x="5669280" y="777240"/>
            <a:ext cx="2971800" cy="3273552"/>
          </a:xfrm>
          <a:prstGeom prst="roundRect">
            <a:avLst>
              <a:gd name="adj" fmla="val 3692"/>
            </a:avLst>
          </a:prstGeom>
          <a:solidFill>
            <a:srgbClr val="FFF3DC"/>
          </a:solidFill>
          <a:ln w="19050">
            <a:solidFill>
              <a:srgbClr val="D4943A"/>
            </a:solidFill>
            <a:prstDash val="solid"/>
          </a:ln>
        </p:spPr>
      </p:sp>
      <p:sp>
        <p:nvSpPr>
          <p:cNvPr id="7" name="Text 5"/>
          <p:cNvSpPr/>
          <p:nvPr/>
        </p:nvSpPr>
        <p:spPr>
          <a:xfrm>
            <a:off x="5806440" y="850392"/>
            <a:ext cx="269748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8" name="Text 6"/>
          <p:cNvSpPr/>
          <p:nvPr/>
        </p:nvSpPr>
        <p:spPr>
          <a:xfrm>
            <a:off x="5806440" y="1097280"/>
            <a:ext cx="2697480" cy="2852928"/>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Scale Bar Explanation Card</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Write 2-3 sentences a visitor could read.</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What the scale bar is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How to use it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Why it matters for explorer routes</a:t>
            </a:r>
            <a:endParaRPr lang="en-US" sz="1100" dirty="0"/>
          </a:p>
        </p:txBody>
      </p:sp>
      <p:sp>
        <p:nvSpPr>
          <p:cNvPr id="9" name="Shape 7"/>
          <p:cNvSpPr/>
          <p:nvPr/>
        </p:nvSpPr>
        <p:spPr>
          <a:xfrm>
            <a:off x="457200" y="4187952"/>
            <a:ext cx="8229600" cy="594360"/>
          </a:xfrm>
          <a:prstGeom prst="roundRect">
            <a:avLst>
              <a:gd name="adj" fmla="val 15385"/>
            </a:avLst>
          </a:prstGeom>
          <a:solidFill>
            <a:srgbClr val="0E1C42"/>
          </a:solidFill>
          <a:ln/>
        </p:spPr>
      </p:sp>
      <p:sp>
        <p:nvSpPr>
          <p:cNvPr id="10" name="Text 8"/>
          <p:cNvSpPr/>
          <p:nvPr/>
        </p:nvSpPr>
        <p:spPr>
          <a:xfrm>
            <a:off x="594360" y="4187952"/>
            <a:ext cx="7955280" cy="5943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Complete all questions + Curator Task in your Canvas lesson. Copy or download to submit.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Curator's Chronicle</a:t>
            </a:r>
            <a:endParaRPr lang="en-US" sz="2800" dirty="0"/>
          </a:p>
        </p:txBody>
      </p:sp>
      <p:sp>
        <p:nvSpPr>
          <p:cNvPr id="3" name="Shape 1"/>
          <p:cNvSpPr/>
          <p:nvPr/>
        </p:nvSpPr>
        <p:spPr>
          <a:xfrm>
            <a:off x="457200" y="777240"/>
            <a:ext cx="8229600" cy="1261872"/>
          </a:xfrm>
          <a:prstGeom prst="roundRect">
            <a:avLst>
              <a:gd name="adj" fmla="val 10145"/>
            </a:avLst>
          </a:prstGeom>
          <a:solidFill>
            <a:srgbClr val="0E1C42"/>
          </a:solidFill>
          <a:ln/>
          <a:effectLst>
            <a:outerShdw sx="100000" sy="100000" kx="0" ky="0" algn="bl" rotWithShape="0" blurRad="76200" dist="25400" dir="8100000">
              <a:srgbClr val="000000">
                <a:alpha val="15000"/>
              </a:srgbClr>
            </a:outerShdw>
          </a:effectLst>
        </p:spPr>
      </p:sp>
      <p:sp>
        <p:nvSpPr>
          <p:cNvPr id="4" name="Text 2"/>
          <p:cNvSpPr/>
          <p:nvPr/>
        </p:nvSpPr>
        <p:spPr>
          <a:xfrm>
            <a:off x="594360" y="850392"/>
            <a:ext cx="7955280" cy="219456"/>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CURATOR'S CHRONICLE FRAME</a:t>
            </a:r>
            <a:endParaRPr lang="en-US" sz="900" dirty="0"/>
          </a:p>
        </p:txBody>
      </p:sp>
      <p:sp>
        <p:nvSpPr>
          <p:cNvPr id="5" name="Text 3"/>
          <p:cNvSpPr/>
          <p:nvPr/>
        </p:nvSpPr>
        <p:spPr>
          <a:xfrm>
            <a:off x="594360" y="1078992"/>
            <a:ext cx="7955280" cy="868680"/>
          </a:xfrm>
          <a:prstGeom prst="rect">
            <a:avLst/>
          </a:prstGeom>
          <a:noFill/>
          <a:ln/>
        </p:spPr>
        <p:txBody>
          <a:bodyPr wrap="square" lIns="0" tIns="0" rIns="0" bIns="0" rtlCol="0" anchor="ctr"/>
          <a:lstStyle/>
          <a:p>
            <a:pPr algn="ctr" indent="0" marL="0">
              <a:buNone/>
            </a:pPr>
            <a:r>
              <a:rPr lang="en-US" sz="1700" i="1" dirty="0">
                <a:solidFill>
                  <a:srgbClr val="D4943A"/>
                </a:solidFill>
                <a:latin typeface="Cambria" pitchFamily="34" charset="0"/>
                <a:ea typeface="Cambria" pitchFamily="34" charset="-122"/>
                <a:cs typeface="Cambria" pitchFamily="34" charset="-120"/>
              </a:rPr>
              <a:t>In this exhibit, I learned that ____________ because ____________.</a:t>
            </a:r>
            <a:endParaRPr lang="en-US" sz="1700" dirty="0"/>
          </a:p>
        </p:txBody>
      </p:sp>
      <p:sp>
        <p:nvSpPr>
          <p:cNvPr id="6" name="Shape 4"/>
          <p:cNvSpPr/>
          <p:nvPr/>
        </p:nvSpPr>
        <p:spPr>
          <a:xfrm>
            <a:off x="457200" y="2176272"/>
            <a:ext cx="8229600" cy="1627632"/>
          </a:xfrm>
          <a:prstGeom prst="roundRect">
            <a:avLst>
              <a:gd name="adj" fmla="val 6742"/>
            </a:avLst>
          </a:prstGeom>
          <a:solidFill>
            <a:srgbClr val="E3F8ED"/>
          </a:solidFill>
          <a:ln w="19050">
            <a:solidFill>
              <a:srgbClr val="34B76F"/>
            </a:solidFill>
            <a:prstDash val="solid"/>
          </a:ln>
        </p:spPr>
      </p:sp>
      <p:sp>
        <p:nvSpPr>
          <p:cNvPr id="7" name="Text 5"/>
          <p:cNvSpPr/>
          <p:nvPr/>
        </p:nvSpPr>
        <p:spPr>
          <a:xfrm>
            <a:off x="594360" y="2249424"/>
            <a:ext cx="7955280" cy="219456"/>
          </a:xfrm>
          <a:prstGeom prst="rect">
            <a:avLst/>
          </a:prstGeom>
          <a:noFill/>
          <a:ln/>
        </p:spPr>
        <p:txBody>
          <a:bodyPr wrap="square" lIns="0" tIns="0" rIns="0" bIns="0" rtlCol="0" anchor="ctr"/>
          <a:lstStyle/>
          <a:p>
            <a:pPr indent="0" marL="0">
              <a:buNone/>
            </a:pPr>
            <a:r>
              <a:rPr lang="en-US" sz="900" b="1" spc="150" kern="0" dirty="0">
                <a:solidFill>
                  <a:srgbClr val="1A6A3A"/>
                </a:solidFill>
                <a:latin typeface="Calibri" pitchFamily="34" charset="0"/>
                <a:ea typeface="Calibri" pitchFamily="34" charset="-122"/>
                <a:cs typeface="Calibri" pitchFamily="34" charset="-120"/>
              </a:rPr>
              <a:t>TURN-IN CHECKLIST</a:t>
            </a:r>
            <a:endParaRPr lang="en-US" sz="900" dirty="0"/>
          </a:p>
        </p:txBody>
      </p:sp>
      <p:sp>
        <p:nvSpPr>
          <p:cNvPr id="8" name="Text 6"/>
          <p:cNvSpPr/>
          <p:nvPr/>
        </p:nvSpPr>
        <p:spPr>
          <a:xfrm>
            <a:off x="594360" y="2487168"/>
            <a:ext cx="7955280" cy="1243584"/>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[x]  I answered all three evidence questions.</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[x]  I completed the Curator Task: Scale Bar Explanation Card.</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[x]  I wrote my Curator's Chronicle sentence.</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[x]  I copied or downloaded my work and submitted to Canvas.</a:t>
            </a:r>
            <a:endParaRPr lang="en-US" sz="1300" dirty="0"/>
          </a:p>
        </p:txBody>
      </p:sp>
      <p:sp>
        <p:nvSpPr>
          <p:cNvPr id="9" name="Shape 7"/>
          <p:cNvSpPr/>
          <p:nvPr/>
        </p:nvSpPr>
        <p:spPr>
          <a:xfrm>
            <a:off x="457200" y="3931920"/>
            <a:ext cx="8229600" cy="868680"/>
          </a:xfrm>
          <a:prstGeom prst="roundRect">
            <a:avLst>
              <a:gd name="adj" fmla="val 12632"/>
            </a:avLst>
          </a:prstGeom>
          <a:solidFill>
            <a:srgbClr val="FFF3DC"/>
          </a:solidFill>
          <a:ln w="19050">
            <a:solidFill>
              <a:srgbClr val="F5E6C8"/>
            </a:solidFill>
            <a:prstDash val="solid"/>
          </a:ln>
        </p:spPr>
      </p:sp>
      <p:sp>
        <p:nvSpPr>
          <p:cNvPr id="10" name="Text 8"/>
          <p:cNvSpPr/>
          <p:nvPr/>
        </p:nvSpPr>
        <p:spPr>
          <a:xfrm>
            <a:off x="594360" y="398678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4187952"/>
            <a:ext cx="795528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hardest part was... I figured it out by..."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1000" b="1" spc="200" kern="0" dirty="0">
                <a:solidFill>
                  <a:srgbClr val="34B76F"/>
                </a:solidFill>
                <a:latin typeface="Calibri" pitchFamily="34" charset="0"/>
                <a:ea typeface="Calibri" pitchFamily="34" charset="-122"/>
                <a:cs typeface="Calibri" pitchFamily="34" charset="-120"/>
              </a:rPr>
              <a:t>GREAT MAP ROOM  |  MISSION COMPLETE</a:t>
            </a:r>
            <a:endParaRPr lang="en-US" sz="1000" dirty="0"/>
          </a:p>
        </p:txBody>
      </p:sp>
      <p:sp>
        <p:nvSpPr>
          <p:cNvPr id="5" name="Text 3"/>
          <p:cNvSpPr/>
          <p:nvPr/>
        </p:nvSpPr>
        <p:spPr>
          <a:xfrm>
            <a:off x="457200" y="658368"/>
            <a:ext cx="8229600" cy="804672"/>
          </a:xfrm>
          <a:prstGeom prst="rect">
            <a:avLst/>
          </a:prstGeom>
          <a:noFill/>
          <a:ln/>
        </p:spPr>
        <p:txBody>
          <a:bodyPr wrap="square" lIns="0" tIns="0" rIns="0" bIns="0"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Great Work, Map Curator!</a:t>
            </a:r>
            <a:endParaRPr lang="en-US" sz="4000" dirty="0"/>
          </a:p>
        </p:txBody>
      </p:sp>
      <p:sp>
        <p:nvSpPr>
          <p:cNvPr id="6" name="Shape 4"/>
          <p:cNvSpPr/>
          <p:nvPr/>
        </p:nvSpPr>
        <p:spPr>
          <a:xfrm>
            <a:off x="731520" y="1572768"/>
            <a:ext cx="7680960" cy="896112"/>
          </a:xfrm>
          <a:prstGeom prst="roundRect">
            <a:avLst>
              <a:gd name="adj" fmla="val 12245"/>
            </a:avLst>
          </a:prstGeom>
          <a:solidFill>
            <a:srgbClr val="1A2D5A"/>
          </a:solidFill>
          <a:ln/>
          <a:effectLst>
            <a:outerShdw sx="100000" sy="100000" kx="0" ky="0" algn="bl" rotWithShape="0" blurRad="76200" dist="25400" dir="8100000">
              <a:srgbClr val="000000">
                <a:alpha val="18000"/>
              </a:srgbClr>
            </a:outerShdw>
          </a:effectLst>
        </p:spPr>
      </p:sp>
      <p:sp>
        <p:nvSpPr>
          <p:cNvPr id="7" name="Text 5"/>
          <p:cNvSpPr/>
          <p:nvPr/>
        </p:nvSpPr>
        <p:spPr>
          <a:xfrm>
            <a:off x="868680" y="1572768"/>
            <a:ext cx="7406640" cy="896112"/>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You fixed the route display! Visitors can now see exactly how far those explorers really sailed. The Great Map Room is coming together.</a:t>
            </a:r>
            <a:endParaRPr lang="en-US" sz="1400" dirty="0"/>
          </a:p>
        </p:txBody>
      </p:sp>
      <p:sp>
        <p:nvSpPr>
          <p:cNvPr id="8" name="Shape 6"/>
          <p:cNvSpPr/>
          <p:nvPr/>
        </p:nvSpPr>
        <p:spPr>
          <a:xfrm>
            <a:off x="731520" y="2606040"/>
            <a:ext cx="7680960" cy="1938528"/>
          </a:xfrm>
          <a:prstGeom prst="roundRect">
            <a:avLst>
              <a:gd name="adj" fmla="val 6604"/>
            </a:avLst>
          </a:prstGeom>
          <a:solidFill>
            <a:srgbClr val="1A8A7D"/>
          </a:solidFill>
          <a:ln/>
          <a:effectLst>
            <a:outerShdw sx="100000" sy="100000" kx="0" ky="0" algn="bl" rotWithShape="0" blurRad="101600" dist="38100" dir="8100000">
              <a:srgbClr val="000000">
                <a:alpha val="20000"/>
              </a:srgbClr>
            </a:outerShdw>
          </a:effectLst>
        </p:spPr>
      </p:sp>
      <p:sp>
        <p:nvSpPr>
          <p:cNvPr id="9" name="Text 7"/>
          <p:cNvSpPr/>
          <p:nvPr/>
        </p:nvSpPr>
        <p:spPr>
          <a:xfrm>
            <a:off x="868680" y="2679192"/>
            <a:ext cx="7406640" cy="256032"/>
          </a:xfrm>
          <a:prstGeom prst="rect">
            <a:avLst/>
          </a:prstGeom>
          <a:noFill/>
          <a:ln/>
        </p:spPr>
        <p:txBody>
          <a:bodyPr wrap="square" lIns="0" tIns="0" rIns="0" bIns="0" rtlCol="0" anchor="ctr"/>
          <a:lstStyle/>
          <a:p>
            <a:pPr algn="ctr" indent="0" marL="0">
              <a:buNone/>
            </a:pPr>
            <a:r>
              <a:rPr lang="en-US" sz="900" b="1" spc="200" kern="0" dirty="0">
                <a:solidFill>
                  <a:srgbClr val="A0E8DA"/>
                </a:solidFill>
                <a:latin typeface="Calibri" pitchFamily="34" charset="0"/>
                <a:ea typeface="Calibri" pitchFamily="34" charset="-122"/>
                <a:cs typeface="Calibri" pitchFamily="34" charset="-120"/>
              </a:rPr>
              <a:t>COMING NEXT</a:t>
            </a:r>
            <a:endParaRPr lang="en-US" sz="900" dirty="0"/>
          </a:p>
        </p:txBody>
      </p:sp>
      <p:sp>
        <p:nvSpPr>
          <p:cNvPr id="10" name="Text 8"/>
          <p:cNvSpPr/>
          <p:nvPr/>
        </p:nvSpPr>
        <p:spPr>
          <a:xfrm>
            <a:off x="868680" y="2962656"/>
            <a:ext cx="740664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Flat Maps vs. Globes: The Distortion Mystery</a:t>
            </a:r>
            <a:endParaRPr lang="en-US" sz="2200" dirty="0"/>
          </a:p>
        </p:txBody>
      </p:sp>
      <p:sp>
        <p:nvSpPr>
          <p:cNvPr id="11" name="Text 9"/>
          <p:cNvSpPr/>
          <p:nvPr/>
        </p:nvSpPr>
        <p:spPr>
          <a:xfrm>
            <a:off x="868680" y="3493008"/>
            <a:ext cx="7406640" cy="932688"/>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Something strange is happening: Greenland looks HUGE on the flat map but small on the globe. Same place, completely different sizes. What is going on? Investigate next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2026-07-10T22:41:33Z</dcterms:created>
  <dcterms:modified xsi:type="dcterms:W3CDTF">2026-07-10T22:41:33Z</dcterms:modified>
</cp:coreProperties>
</file>