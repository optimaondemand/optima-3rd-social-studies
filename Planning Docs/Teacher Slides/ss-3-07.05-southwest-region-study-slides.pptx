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Aerial photo of Southwest red rock desert canyons, mesas, clear sky, possibly Grand Canyon or Monument Valley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1219200" y="1706880"/>
            <a:ext cx="9753600" cy="1097280"/>
          </a:xfrm>
          <a:prstGeom prst="rect">
            <a:avLst/>
          </a:prstGeom>
          <a:noFill/>
          <a:ln/>
          <a:effectLst>
            <a:outerShdw sx="100000" sy="100000" kx="0" ky="0" algn="bl" rotWithShape="0" blurRad="127000" dist="38100" dir="8100000">
              <a:srgbClr val="000000">
                <a:alpha val="40000"/>
              </a:srgbClr>
            </a:outerShdw>
          </a:effectLst>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Southwest Region Study</a:t>
            </a:r>
            <a:endParaRPr lang="en-US" sz="4000" dirty="0"/>
          </a:p>
        </p:txBody>
      </p:sp>
      <p:sp>
        <p:nvSpPr>
          <p:cNvPr id="6" name="Text 3"/>
          <p:cNvSpPr/>
          <p:nvPr/>
        </p:nvSpPr>
        <p:spPr>
          <a:xfrm>
            <a:off x="1219200" y="2865120"/>
            <a:ext cx="9753600" cy="548640"/>
          </a:xfrm>
          <a:prstGeom prst="rect">
            <a:avLst/>
          </a:prstGeom>
          <a:noFill/>
          <a:ln/>
        </p:spPr>
        <p:txBody>
          <a:bodyPr wrap="square" lIns="0" tIns="0" rIns="0" bIns="0" rtlCol="0" anchor="ctr"/>
          <a:lstStyle/>
          <a:p>
            <a:pPr indent="0" marL="0">
              <a:buNone/>
            </a:pPr>
            <a:r>
              <a:rPr lang="en-US" sz="2000" dirty="0">
                <a:solidFill>
                  <a:srgbClr val="D4943A"/>
                </a:solidFill>
                <a:latin typeface="Calibri" pitchFamily="34" charset="0"/>
                <a:ea typeface="Calibri" pitchFamily="34" charset="-122"/>
                <a:cs typeface="Calibri" pitchFamily="34" charset="-120"/>
              </a:rPr>
              <a:t>Lesson 3.07.05  |  Week 21  |  The Great Map Room</a:t>
            </a:r>
            <a:endParaRPr lang="en-US" sz="2000" dirty="0"/>
          </a:p>
        </p:txBody>
      </p:sp>
      <p:sp>
        <p:nvSpPr>
          <p:cNvPr id="7" name="Shape 4"/>
          <p:cNvSpPr/>
          <p:nvPr/>
        </p:nvSpPr>
        <p:spPr>
          <a:xfrm>
            <a:off x="1219200" y="3657600"/>
            <a:ext cx="3048000" cy="48768"/>
          </a:xfrm>
          <a:prstGeom prst="rect">
            <a:avLst/>
          </a:prstGeom>
          <a:solidFill>
            <a:srgbClr val="D4943A"/>
          </a:solidFill>
          <a:ln/>
        </p:spPr>
      </p:sp>
      <p:sp>
        <p:nvSpPr>
          <p:cNvPr id="8" name="Text 5"/>
          <p:cNvSpPr/>
          <p:nvPr/>
        </p:nvSpPr>
        <p:spPr>
          <a:xfrm>
            <a:off x="1219200" y="3901440"/>
            <a:ext cx="9753600" cy="731520"/>
          </a:xfrm>
          <a:prstGeom prst="rect">
            <a:avLst/>
          </a:prstGeom>
          <a:noFill/>
          <a:ln/>
        </p:spPr>
        <p:txBody>
          <a:bodyPr wrap="square" lIns="0" tIns="0" rIns="0" bIns="0" rtlCol="0" anchor="ctr"/>
          <a:lstStyle/>
          <a:p>
            <a:pPr indent="0" marL="0">
              <a:lnSpc>
                <a:spcPct val="130000"/>
              </a:lnSpc>
              <a:buNone/>
            </a:pPr>
            <a:r>
              <a:rPr lang="en-US" sz="1300" dirty="0">
                <a:solidFill>
                  <a:srgbClr val="55C8E8"/>
                </a:solidFill>
                <a:latin typeface="Calibri" pitchFamily="34" charset="0"/>
                <a:ea typeface="Calibri" pitchFamily="34" charset="-122"/>
                <a:cs typeface="Calibri" pitchFamily="34" charset="-120"/>
              </a:rPr>
              <a:t>SS.3.G.2.2 | SS.3.G.2.3 | SS.3.G.2.5 | SS.3.G.2.6</a:t>
            </a:r>
            <a:endParaRPr lang="en-US" sz="1300" dirty="0"/>
          </a:p>
          <a:p>
            <a:pPr indent="0" marL="0">
              <a:lnSpc>
                <a:spcPct val="130000"/>
              </a:lnSpc>
              <a:buNone/>
            </a:pPr>
            <a:r>
              <a:rPr lang="en-US" sz="1300" dirty="0">
                <a:solidFill>
                  <a:srgbClr val="55C8E8"/>
                </a:solidFill>
                <a:latin typeface="Calibri" pitchFamily="34" charset="0"/>
                <a:ea typeface="Calibri" pitchFamily="34" charset="-122"/>
                <a:cs typeface="Calibri" pitchFamily="34" charset="-120"/>
              </a:rPr>
              <a:t>SS.3.G.4.1 | SS.3.G.4.4 | SS.3.AA.1.1</a:t>
            </a:r>
            <a:endParaRPr lang="en-US" sz="1300" dirty="0"/>
          </a:p>
        </p:txBody>
      </p:sp>
      <p:sp>
        <p:nvSpPr>
          <p:cNvPr id="9" name="Text 6"/>
          <p:cNvSpPr/>
          <p:nvPr/>
        </p:nvSpPr>
        <p:spPr>
          <a:xfrm>
            <a:off x="1219200" y="4998720"/>
            <a:ext cx="6096000" cy="487680"/>
          </a:xfrm>
          <a:prstGeom prst="rect">
            <a:avLst/>
          </a:prstGeom>
          <a:noFill/>
          <a:ln/>
        </p:spPr>
        <p:txBody>
          <a:bodyPr wrap="square" lIns="0" tIns="0" rIns="0" bIns="0" rtlCol="0" anchor="ctr"/>
          <a:lstStyle/>
          <a:p>
            <a:pPr indent="0" marL="0">
              <a:buNone/>
            </a:pPr>
            <a:r>
              <a:rPr lang="en-US" sz="1600" i="1" dirty="0">
                <a:solidFill>
                  <a:srgbClr val="7A88A8"/>
                </a:solidFill>
                <a:latin typeface="Calibri" pitchFamily="34" charset="0"/>
                <a:ea typeface="Calibri" pitchFamily="34" charset="-122"/>
                <a:cs typeface="Calibri" pitchFamily="34" charset="-120"/>
              </a:rPr>
              <a:t>Grade 3 Social Studies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04800"/>
            <a:ext cx="2926080" cy="463296"/>
          </a:xfrm>
          <a:prstGeom prst="roundRect">
            <a:avLst>
              <a:gd name="adj" fmla="val 19737"/>
            </a:avLst>
          </a:prstGeom>
          <a:solidFill>
            <a:srgbClr val="D4943A"/>
          </a:solidFill>
          <a:ln/>
        </p:spPr>
      </p:sp>
      <p:sp>
        <p:nvSpPr>
          <p:cNvPr id="4" name="Text 2"/>
          <p:cNvSpPr/>
          <p:nvPr/>
        </p:nvSpPr>
        <p:spPr>
          <a:xfrm>
            <a:off x="487680" y="304800"/>
            <a:ext cx="2926080" cy="463296"/>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ESSENTIAL QUESTION</a:t>
            </a:r>
            <a:endParaRPr lang="en-US" sz="1200" dirty="0"/>
          </a:p>
        </p:txBody>
      </p:sp>
      <p:sp>
        <p:nvSpPr>
          <p:cNvPr id="5" name="Shape 3"/>
          <p:cNvSpPr/>
          <p:nvPr/>
        </p:nvSpPr>
        <p:spPr>
          <a:xfrm>
            <a:off x="1463040" y="1341120"/>
            <a:ext cx="9265920" cy="3048000"/>
          </a:xfrm>
          <a:prstGeom prst="roundRect">
            <a:avLst>
              <a:gd name="adj" fmla="val 6000"/>
            </a:avLst>
          </a:prstGeom>
          <a:solidFill>
            <a:srgbClr val="FFFFFF"/>
          </a:solidFill>
          <a:ln/>
          <a:effectLst>
            <a:outerShdw sx="100000" sy="100000" kx="0" ky="0" algn="bl" rotWithShape="0" blurRad="127000" dist="38100" dir="8100000">
              <a:srgbClr val="000000">
                <a:alpha val="12000"/>
              </a:srgbClr>
            </a:outerShdw>
          </a:effectLst>
        </p:spPr>
      </p:sp>
      <p:sp>
        <p:nvSpPr>
          <p:cNvPr id="6" name="Text 4"/>
          <p:cNvSpPr/>
          <p:nvPr/>
        </p:nvSpPr>
        <p:spPr>
          <a:xfrm>
            <a:off x="1828800" y="1584960"/>
            <a:ext cx="8534400" cy="2560320"/>
          </a:xfrm>
          <a:prstGeom prst="rect">
            <a:avLst/>
          </a:prstGeom>
          <a:noFill/>
          <a:ln/>
        </p:spPr>
        <p:txBody>
          <a:bodyPr wrap="square" lIns="0" tIns="0" rIns="0" bIns="0" rtlCol="0" anchor="ctr"/>
          <a:lstStyle/>
          <a:p>
            <a:pPr indent="0" marL="0">
              <a:lnSpc>
                <a:spcPct val="130000"/>
              </a:lnSpc>
              <a:buNone/>
            </a:pPr>
            <a:r>
              <a:rPr lang="en-US" sz="2400" i="1" dirty="0">
                <a:solidFill>
                  <a:srgbClr val="0E1C42"/>
                </a:solidFill>
                <a:latin typeface="Cambria" pitchFamily="34" charset="0"/>
                <a:ea typeface="Cambria" pitchFamily="34" charset="-122"/>
                <a:cs typeface="Cambria" pitchFamily="34" charset="-120"/>
              </a:rPr>
              <a:t>What land, weather, and ways of life make the Southwest its own region -- and how does it differ from the regions you have already studied?</a:t>
            </a:r>
            <a:endParaRPr lang="en-US" sz="2400" dirty="0"/>
          </a:p>
        </p:txBody>
      </p:sp>
      <p:sp>
        <p:nvSpPr>
          <p:cNvPr id="7" name="Shape 5"/>
          <p:cNvSpPr/>
          <p:nvPr/>
        </p:nvSpPr>
        <p:spPr>
          <a:xfrm>
            <a:off x="487680" y="3779520"/>
            <a:ext cx="11216640" cy="2560320"/>
          </a:xfrm>
          <a:prstGeom prst="roundRect">
            <a:avLst>
              <a:gd name="adj" fmla="val 5714"/>
            </a:avLst>
          </a:prstGeom>
          <a:solidFill>
            <a:srgbClr val="FFF3DC"/>
          </a:solidFill>
          <a:ln w="19050">
            <a:solidFill>
              <a:srgbClr val="F5E6C8"/>
            </a:solidFill>
            <a:prstDash val="solid"/>
          </a:ln>
        </p:spPr>
      </p:sp>
      <p:sp>
        <p:nvSpPr>
          <p:cNvPr id="8" name="Text 6"/>
          <p:cNvSpPr/>
          <p:nvPr/>
        </p:nvSpPr>
        <p:spPr>
          <a:xfrm>
            <a:off x="670560" y="3852672"/>
            <a:ext cx="10850880" cy="265176"/>
          </a:xfrm>
          <a:prstGeom prst="rect">
            <a:avLst/>
          </a:prstGeom>
          <a:noFill/>
          <a:ln/>
        </p:spPr>
        <p:txBody>
          <a:bodyPr wrap="square" lIns="0" tIns="0" rIns="0" bIns="0" rtlCol="0" anchor="ctr"/>
          <a:lstStyle/>
          <a:p>
            <a:pPr indent="0" marL="0">
              <a:buNone/>
            </a:pPr>
            <a:r>
              <a:rPr lang="en-US" sz="1200" b="1" spc="150" kern="0" dirty="0">
                <a:solidFill>
                  <a:srgbClr val="D4943A"/>
                </a:solidFill>
                <a:latin typeface="Calibri" pitchFamily="34" charset="0"/>
                <a:ea typeface="Calibri" pitchFamily="34" charset="-122"/>
                <a:cs typeface="Calibri" pitchFamily="34" charset="-120"/>
              </a:rPr>
              <a:t>CHAT FRAME</a:t>
            </a:r>
            <a:endParaRPr lang="en-US" sz="1200" dirty="0"/>
          </a:p>
        </p:txBody>
      </p:sp>
      <p:sp>
        <p:nvSpPr>
          <p:cNvPr id="9" name="Text 7"/>
          <p:cNvSpPr/>
          <p:nvPr/>
        </p:nvSpPr>
        <p:spPr>
          <a:xfrm>
            <a:off x="670560" y="4117848"/>
            <a:ext cx="10850880" cy="2130552"/>
          </a:xfrm>
          <a:prstGeom prst="rect">
            <a:avLst/>
          </a:prstGeom>
          <a:noFill/>
          <a:ln/>
        </p:spPr>
        <p:txBody>
          <a:bodyPr wrap="square" lIns="0" tIns="0" rIns="0" bIns="0" rtlCol="0" anchor="t"/>
          <a:lstStyle/>
          <a:p>
            <a:pPr indent="0" marL="0">
              <a:spcAft>
                <a:spcPts val="700"/>
              </a:spcAft>
              <a:buNone/>
            </a:pPr>
            <a:r>
              <a:rPr lang="en-US" sz="1600" i="1" dirty="0">
                <a:solidFill>
                  <a:srgbClr val="5A4A3A"/>
                </a:solidFill>
                <a:latin typeface="Cambria" pitchFamily="34" charset="0"/>
                <a:ea typeface="Cambria" pitchFamily="34" charset="-122"/>
                <a:cs typeface="Cambria" pitchFamily="34" charset="-120"/>
              </a:rPr>
              <a:t>"A crate arrives labeled DESERT &amp; CANYON. Inside: a chunk of red rock, a tiny cactus in a clay pot, a photograph of a canyon at sunset, and a folded map of the Rio Grande."</a:t>
            </a:r>
            <a:endParaRPr lang="en-US" sz="1600" dirty="0"/>
          </a:p>
          <a:p>
            <a:pPr indent="0" marL="0">
              <a:spcAft>
                <a:spcPts val="700"/>
              </a:spcAft>
              <a:buNone/>
            </a:pPr>
            <a:r>
              <a:rPr lang="en-US" sz="1600" i="1" dirty="0">
                <a:solidFill>
                  <a:srgbClr val="5A4A3A"/>
                </a:solidFill>
                <a:latin typeface="Cambria" pitchFamily="34" charset="0"/>
                <a:ea typeface="Cambria" pitchFamily="34" charset="-122"/>
                <a:cs typeface="Cambria" pitchFamily="34" charset="-120"/>
              </a:rPr>
              <a:t>"The museum director says: Get ready. The Southwest looks very different from anything you have seen so far."</a:t>
            </a:r>
            <a:endParaRPr lang="en-US" sz="1600" dirty="0"/>
          </a:p>
        </p:txBody>
      </p:sp>
      <p:sp>
        <p:nvSpPr>
          <p:cNvPr id="10" name="Text 8"/>
          <p:cNvSpPr/>
          <p:nvPr/>
        </p:nvSpPr>
        <p:spPr>
          <a:xfrm>
            <a:off x="365760" y="6278880"/>
            <a:ext cx="3657600" cy="304800"/>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Optima Academy Online</a:t>
            </a:r>
            <a:endParaRPr lang="en-US" sz="900" dirty="0"/>
          </a:p>
        </p:txBody>
      </p:sp>
      <p:sp>
        <p:nvSpPr>
          <p:cNvPr id="11" name="Text 9"/>
          <p:cNvSpPr/>
          <p:nvPr/>
        </p:nvSpPr>
        <p:spPr>
          <a:xfrm>
            <a:off x="8290560" y="6278880"/>
            <a:ext cx="3413760" cy="30480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Lesson 3.07.05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8F0"/>
          </a:solidFill>
          <a:ln/>
        </p:spPr>
      </p:sp>
      <p:sp>
        <p:nvSpPr>
          <p:cNvPr id="3" name="Shape 1"/>
          <p:cNvSpPr/>
          <p:nvPr/>
        </p:nvSpPr>
        <p:spPr>
          <a:xfrm>
            <a:off x="487680" y="304800"/>
            <a:ext cx="2926080" cy="463296"/>
          </a:xfrm>
          <a:prstGeom prst="roundRect">
            <a:avLst>
              <a:gd name="adj" fmla="val 19737"/>
            </a:avLst>
          </a:prstGeom>
          <a:solidFill>
            <a:srgbClr val="1A8A7D"/>
          </a:solidFill>
          <a:ln/>
        </p:spPr>
      </p:sp>
      <p:sp>
        <p:nvSpPr>
          <p:cNvPr id="4" name="Text 2"/>
          <p:cNvSpPr/>
          <p:nvPr/>
        </p:nvSpPr>
        <p:spPr>
          <a:xfrm>
            <a:off x="487680" y="304800"/>
            <a:ext cx="2926080" cy="463296"/>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VIRTUE SPOTLIGHT</a:t>
            </a:r>
            <a:endParaRPr lang="en-US" sz="1200" dirty="0"/>
          </a:p>
        </p:txBody>
      </p:sp>
      <p:sp>
        <p:nvSpPr>
          <p:cNvPr id="5" name="Text 3"/>
          <p:cNvSpPr/>
          <p:nvPr/>
        </p:nvSpPr>
        <p:spPr>
          <a:xfrm>
            <a:off x="609600" y="1036320"/>
            <a:ext cx="10972800" cy="853440"/>
          </a:xfrm>
          <a:prstGeom prst="rect">
            <a:avLst/>
          </a:prstGeom>
          <a:noFill/>
          <a:ln/>
        </p:spPr>
        <p:txBody>
          <a:bodyPr wrap="square" lIns="0" tIns="0" rIns="0" bIns="0" rtlCol="0" anchor="ctr"/>
          <a:lstStyle/>
          <a:p>
            <a:pPr indent="0" marL="0">
              <a:buNone/>
            </a:pPr>
            <a:r>
              <a:rPr lang="en-US" sz="3400" b="1" dirty="0">
                <a:solidFill>
                  <a:srgbClr val="1A8A7D"/>
                </a:solidFill>
                <a:latin typeface="Cambria" pitchFamily="34" charset="0"/>
                <a:ea typeface="Cambria" pitchFamily="34" charset="-122"/>
                <a:cs typeface="Cambria" pitchFamily="34" charset="-120"/>
              </a:rPr>
              <a:t>Courtesy</a:t>
            </a:r>
            <a:endParaRPr lang="en-US" sz="3400" dirty="0"/>
          </a:p>
        </p:txBody>
      </p:sp>
      <p:sp>
        <p:nvSpPr>
          <p:cNvPr id="6" name="Text 4"/>
          <p:cNvSpPr/>
          <p:nvPr/>
        </p:nvSpPr>
        <p:spPr>
          <a:xfrm>
            <a:off x="609600" y="2011680"/>
            <a:ext cx="6705600" cy="1950720"/>
          </a:xfrm>
          <a:prstGeom prst="rect">
            <a:avLst/>
          </a:prstGeom>
          <a:noFill/>
          <a:ln/>
        </p:spPr>
        <p:txBody>
          <a:bodyPr wrap="square" lIns="0" tIns="0" rIns="0" bIns="0" rtlCol="0" anchor="t"/>
          <a:lstStyle/>
          <a:p>
            <a:pPr indent="0" marL="0">
              <a:lnSpc>
                <a:spcPct val="125000"/>
              </a:lnSpc>
              <a:buNone/>
            </a:pPr>
            <a:r>
              <a:rPr lang="en-US" sz="1700" dirty="0">
                <a:solidFill>
                  <a:srgbClr val="0E1C42"/>
                </a:solidFill>
                <a:latin typeface="Calibri" pitchFamily="34" charset="0"/>
                <a:ea typeface="Calibri" pitchFamily="34" charset="-122"/>
                <a:cs typeface="Calibri" pitchFamily="34" charset="-120"/>
              </a:rPr>
              <a:t>Speaking and writing about real places and real people with respect and care. The Southwest is home to many Native nations and Mexican-American families -- we honor them with courteous, accurate language.</a:t>
            </a:r>
            <a:endParaRPr lang="en-US" sz="1700" dirty="0"/>
          </a:p>
        </p:txBody>
      </p:sp>
      <p:sp>
        <p:nvSpPr>
          <p:cNvPr id="7" name="Shape 5"/>
          <p:cNvSpPr/>
          <p:nvPr/>
        </p:nvSpPr>
        <p:spPr>
          <a:xfrm>
            <a:off x="609600" y="4267200"/>
            <a:ext cx="10972800" cy="1828800"/>
          </a:xfrm>
          <a:prstGeom prst="roundRect">
            <a:avLst>
              <a:gd name="adj" fmla="val 8000"/>
            </a:avLst>
          </a:prstGeom>
          <a:solidFill>
            <a:srgbClr val="FFFFFF"/>
          </a:solidFill>
          <a:ln/>
          <a:effectLst>
            <a:outerShdw sx="100000" sy="100000" kx="0" ky="0" algn="bl" rotWithShape="0" blurRad="76200" dist="25400" dir="8100000">
              <a:srgbClr val="000000">
                <a:alpha val="10000"/>
              </a:srgbClr>
            </a:outerShdw>
          </a:effectLst>
        </p:spPr>
      </p:sp>
      <p:sp>
        <p:nvSpPr>
          <p:cNvPr id="8" name="Text 6"/>
          <p:cNvSpPr/>
          <p:nvPr/>
        </p:nvSpPr>
        <p:spPr>
          <a:xfrm>
            <a:off x="853440" y="4389120"/>
            <a:ext cx="4876800" cy="426720"/>
          </a:xfrm>
          <a:prstGeom prst="rect">
            <a:avLst/>
          </a:prstGeom>
          <a:noFill/>
          <a:ln/>
        </p:spPr>
        <p:txBody>
          <a:bodyPr wrap="square" lIns="0" tIns="0" rIns="0" bIns="0" rtlCol="0" anchor="ctr"/>
          <a:lstStyle/>
          <a:p>
            <a:pPr indent="0" marL="0">
              <a:buNone/>
            </a:pPr>
            <a:r>
              <a:rPr lang="en-US" sz="1200" b="1" spc="150" kern="0" dirty="0">
                <a:solidFill>
                  <a:srgbClr val="D4943A"/>
                </a:solidFill>
                <a:latin typeface="Calibri" pitchFamily="34" charset="0"/>
                <a:ea typeface="Calibri" pitchFamily="34" charset="-122"/>
                <a:cs typeface="Calibri" pitchFamily="34" charset="-120"/>
              </a:rPr>
              <a:t>YOUR ROLE TODAY</a:t>
            </a:r>
            <a:endParaRPr lang="en-US" sz="1200" dirty="0"/>
          </a:p>
        </p:txBody>
      </p:sp>
      <p:sp>
        <p:nvSpPr>
          <p:cNvPr id="9" name="Text 7"/>
          <p:cNvSpPr/>
          <p:nvPr/>
        </p:nvSpPr>
        <p:spPr>
          <a:xfrm>
            <a:off x="853440" y="4815840"/>
            <a:ext cx="10485120" cy="1097280"/>
          </a:xfrm>
          <a:prstGeom prst="rect">
            <a:avLst/>
          </a:prstGeom>
          <a:noFill/>
          <a:ln/>
        </p:spPr>
        <p:txBody>
          <a:bodyPr wrap="square" lIns="0" tIns="0" rIns="0" bIns="0" rtlCol="0" anchor="t"/>
          <a:lstStyle/>
          <a:p>
            <a:pPr indent="0" marL="0">
              <a:lnSpc>
                <a:spcPct val="120000"/>
              </a:lnSpc>
              <a:buNone/>
            </a:pPr>
            <a:r>
              <a:rPr lang="en-US" sz="1700" dirty="0">
                <a:solidFill>
                  <a:srgbClr val="0E1C42"/>
                </a:solidFill>
                <a:latin typeface="Calibri" pitchFamily="34" charset="0"/>
                <a:ea typeface="Calibri" pitchFamily="34" charset="-122"/>
                <a:cs typeface="Calibri" pitchFamily="34" charset="-120"/>
              </a:rPr>
              <a:t>You are a museum curator building the Southwest alcove. Notice the land, name the features and peoples, then narrate the exhibit label visitors will read.</a:t>
            </a:r>
            <a:endParaRPr lang="en-US" sz="1700" dirty="0"/>
          </a:p>
        </p:txBody>
      </p:sp>
      <p:sp>
        <p:nvSpPr>
          <p:cNvPr id="10" name="Text 8"/>
          <p:cNvSpPr/>
          <p:nvPr/>
        </p:nvSpPr>
        <p:spPr>
          <a:xfrm>
            <a:off x="7924800" y="1097280"/>
            <a:ext cx="3901440" cy="609600"/>
          </a:xfrm>
          <a:prstGeom prst="rect">
            <a:avLst/>
          </a:prstGeom>
          <a:noFill/>
          <a:ln/>
        </p:spPr>
        <p:txBody>
          <a:bodyPr wrap="square" lIns="0" tIns="0" rIns="0" bIns="0" rtlCol="0" anchor="ctr"/>
          <a:lstStyle/>
          <a:p>
            <a:pPr algn="ctr" indent="0" marL="0">
              <a:buNone/>
            </a:pPr>
            <a:r>
              <a:rPr lang="en-US" sz="1600" b="1" dirty="0">
                <a:solidFill>
                  <a:srgbClr val="0E1C42"/>
                </a:solidFill>
                <a:latin typeface="Calibri" pitchFamily="34" charset="0"/>
                <a:ea typeface="Calibri" pitchFamily="34" charset="-122"/>
                <a:cs typeface="Calibri" pitchFamily="34" charset="-120"/>
              </a:rPr>
              <a:t>NOTICE  --&gt;  NAME  --&gt;  NARRATE</a:t>
            </a:r>
            <a:endParaRPr lang="en-US" sz="1600" dirty="0"/>
          </a:p>
        </p:txBody>
      </p:sp>
      <p:sp>
        <p:nvSpPr>
          <p:cNvPr id="11" name="Text 9"/>
          <p:cNvSpPr/>
          <p:nvPr/>
        </p:nvSpPr>
        <p:spPr>
          <a:xfrm>
            <a:off x="365760" y="6278880"/>
            <a:ext cx="3657600" cy="304800"/>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Optima Academy Online</a:t>
            </a:r>
            <a:endParaRPr lang="en-US" sz="900" dirty="0"/>
          </a:p>
        </p:txBody>
      </p:sp>
      <p:sp>
        <p:nvSpPr>
          <p:cNvPr id="12" name="Text 10"/>
          <p:cNvSpPr/>
          <p:nvPr/>
        </p:nvSpPr>
        <p:spPr>
          <a:xfrm>
            <a:off x="8290560" y="6278880"/>
            <a:ext cx="3413760" cy="30480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Lesson 3.07.05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04800"/>
            <a:ext cx="2926080" cy="463296"/>
          </a:xfrm>
          <a:prstGeom prst="roundRect">
            <a:avLst>
              <a:gd name="adj" fmla="val 19737"/>
            </a:avLst>
          </a:prstGeom>
          <a:solidFill>
            <a:srgbClr val="55C8E8"/>
          </a:solidFill>
          <a:ln/>
        </p:spPr>
      </p:sp>
      <p:sp>
        <p:nvSpPr>
          <p:cNvPr id="4" name="Text 2"/>
          <p:cNvSpPr/>
          <p:nvPr/>
        </p:nvSpPr>
        <p:spPr>
          <a:xfrm>
            <a:off x="487680" y="304800"/>
            <a:ext cx="2926080" cy="463296"/>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NOTICE</a:t>
            </a:r>
            <a:endParaRPr lang="en-US" sz="1200" dirty="0"/>
          </a:p>
        </p:txBody>
      </p:sp>
      <p:sp>
        <p:nvSpPr>
          <p:cNvPr id="5" name="Text 3"/>
          <p:cNvSpPr/>
          <p:nvPr/>
        </p:nvSpPr>
        <p:spPr>
          <a:xfrm>
            <a:off x="487680" y="914400"/>
            <a:ext cx="11216640" cy="67056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Where Is the Southwest?</a:t>
            </a:r>
            <a:endParaRPr lang="en-US" sz="2800" dirty="0"/>
          </a:p>
        </p:txBody>
      </p:sp>
      <p:sp>
        <p:nvSpPr>
          <p:cNvPr id="6" name="Shape 4"/>
          <p:cNvSpPr/>
          <p:nvPr/>
        </p:nvSpPr>
        <p:spPr>
          <a:xfrm>
            <a:off x="487680" y="1828800"/>
            <a:ext cx="6096000" cy="3901440"/>
          </a:xfrm>
          <a:prstGeom prst="roundRect">
            <a:avLst>
              <a:gd name="adj" fmla="val 3750"/>
            </a:avLst>
          </a:prstGeom>
          <a:solidFill>
            <a:srgbClr val="E2E8F4"/>
          </a:solidFill>
          <a:ln w="19050">
            <a:solidFill>
              <a:srgbClr val="B0B8CC"/>
            </a:solidFill>
            <a:prstDash val="dash"/>
          </a:ln>
        </p:spPr>
      </p:sp>
      <p:sp>
        <p:nvSpPr>
          <p:cNvPr id="7" name="Text 5"/>
          <p:cNvSpPr/>
          <p:nvPr/>
        </p:nvSpPr>
        <p:spPr>
          <a:xfrm>
            <a:off x="487680" y="1828800"/>
            <a:ext cx="6096000" cy="365760"/>
          </a:xfrm>
          <a:prstGeom prst="rect">
            <a:avLst/>
          </a:prstGeom>
          <a:noFill/>
          <a:ln/>
        </p:spPr>
        <p:txBody>
          <a:bodyPr wrap="square" lIns="0" tIns="0" rIns="0" bIns="0" rtlCol="0" anchor="ctr"/>
          <a:lstStyle/>
          <a:p>
            <a:pPr algn="ctr" indent="0" marL="0">
              <a:buNone/>
            </a:pPr>
            <a:r>
              <a:rPr lang="en-US" sz="1200" b="1" spc="150" kern="0" dirty="0">
                <a:solidFill>
                  <a:srgbClr val="7A88A8"/>
                </a:solidFill>
                <a:latin typeface="Calibri" pitchFamily="34" charset="0"/>
                <a:ea typeface="Calibri" pitchFamily="34" charset="-122"/>
                <a:cs typeface="Calibri" pitchFamily="34" charset="-120"/>
              </a:rPr>
              <a:t>INSERT IMAGE</a:t>
            </a:r>
            <a:endParaRPr lang="en-US" sz="1200" dirty="0"/>
          </a:p>
        </p:txBody>
      </p:sp>
      <p:sp>
        <p:nvSpPr>
          <p:cNvPr id="8" name="Text 6"/>
          <p:cNvSpPr/>
          <p:nvPr/>
        </p:nvSpPr>
        <p:spPr>
          <a:xfrm>
            <a:off x="670560" y="2194560"/>
            <a:ext cx="5730240" cy="3416808"/>
          </a:xfrm>
          <a:prstGeom prst="rect">
            <a:avLst/>
          </a:prstGeom>
          <a:noFill/>
          <a:ln/>
        </p:spPr>
        <p:txBody>
          <a:bodyPr wrap="square"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U.S. map with Southwest region highlighted -- Texas, Oklahoma, New Mexico, Arizona labeled</a:t>
            </a:r>
            <a:endParaRPr lang="en-US" sz="1400" dirty="0"/>
          </a:p>
        </p:txBody>
      </p:sp>
      <p:sp>
        <p:nvSpPr>
          <p:cNvPr id="9" name="Shape 7"/>
          <p:cNvSpPr/>
          <p:nvPr/>
        </p:nvSpPr>
        <p:spPr>
          <a:xfrm>
            <a:off x="7071360" y="1828800"/>
            <a:ext cx="4632960" cy="3901440"/>
          </a:xfrm>
          <a:prstGeom prst="roundRect">
            <a:avLst>
              <a:gd name="adj" fmla="val 3750"/>
            </a:avLst>
          </a:prstGeom>
          <a:solidFill>
            <a:srgbClr val="FFFFFF"/>
          </a:solidFill>
          <a:ln/>
          <a:effectLst>
            <a:outerShdw sx="100000" sy="100000" kx="0" ky="0" algn="bl" rotWithShape="0" blurRad="76200" dist="25400" dir="8100000">
              <a:srgbClr val="000000">
                <a:alpha val="10000"/>
              </a:srgbClr>
            </a:outerShdw>
          </a:effectLst>
        </p:spPr>
      </p:sp>
      <p:sp>
        <p:nvSpPr>
          <p:cNvPr id="10" name="Text 8"/>
          <p:cNvSpPr/>
          <p:nvPr/>
        </p:nvSpPr>
        <p:spPr>
          <a:xfrm>
            <a:off x="7315200" y="1950720"/>
            <a:ext cx="4145280" cy="42672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Four States of the Southwest</a:t>
            </a:r>
            <a:endParaRPr lang="en-US" sz="1400" dirty="0"/>
          </a:p>
        </p:txBody>
      </p:sp>
      <p:sp>
        <p:nvSpPr>
          <p:cNvPr id="11" name="Text 9"/>
          <p:cNvSpPr/>
          <p:nvPr/>
        </p:nvSpPr>
        <p:spPr>
          <a:xfrm>
            <a:off x="7315200" y="2560320"/>
            <a:ext cx="4145280" cy="18288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0E1C42"/>
                </a:solidFill>
                <a:latin typeface="Calibri" pitchFamily="34" charset="0"/>
                <a:ea typeface="Calibri" pitchFamily="34" charset="-122"/>
                <a:cs typeface="Calibri" pitchFamily="34" charset="-120"/>
              </a:rPr>
              <a:t>Texas</a:t>
            </a:r>
            <a:endParaRPr lang="en-US" sz="1800" dirty="0"/>
          </a:p>
          <a:p>
            <a:pPr marL="342900" indent="-342900">
              <a:spcAft>
                <a:spcPts val="600"/>
              </a:spcAft>
              <a:buSzPct val="100000"/>
              <a:buChar char="•"/>
            </a:pPr>
            <a:r>
              <a:rPr lang="en-US" sz="1800" dirty="0">
                <a:solidFill>
                  <a:srgbClr val="0E1C42"/>
                </a:solidFill>
                <a:latin typeface="Calibri" pitchFamily="34" charset="0"/>
                <a:ea typeface="Calibri" pitchFamily="34" charset="-122"/>
                <a:cs typeface="Calibri" pitchFamily="34" charset="-120"/>
              </a:rPr>
              <a:t>Oklahoma</a:t>
            </a:r>
            <a:endParaRPr lang="en-US" sz="1800" dirty="0"/>
          </a:p>
          <a:p>
            <a:pPr marL="342900" indent="-342900">
              <a:spcAft>
                <a:spcPts val="600"/>
              </a:spcAft>
              <a:buSzPct val="100000"/>
              <a:buChar char="•"/>
            </a:pPr>
            <a:r>
              <a:rPr lang="en-US" sz="1800" dirty="0">
                <a:solidFill>
                  <a:srgbClr val="0E1C42"/>
                </a:solidFill>
                <a:latin typeface="Calibri" pitchFamily="34" charset="0"/>
                <a:ea typeface="Calibri" pitchFamily="34" charset="-122"/>
                <a:cs typeface="Calibri" pitchFamily="34" charset="-120"/>
              </a:rPr>
              <a:t>New Mexico</a:t>
            </a:r>
            <a:endParaRPr lang="en-US" sz="1800" dirty="0"/>
          </a:p>
          <a:p>
            <a:pPr marL="342900" indent="-342900">
              <a:spcAft>
                <a:spcPts val="600"/>
              </a:spcAft>
              <a:buSzPct val="100000"/>
              <a:buChar char="•"/>
            </a:pPr>
            <a:r>
              <a:rPr lang="en-US" sz="1800" dirty="0">
                <a:solidFill>
                  <a:srgbClr val="0E1C42"/>
                </a:solidFill>
                <a:latin typeface="Calibri" pitchFamily="34" charset="0"/>
                <a:ea typeface="Calibri" pitchFamily="34" charset="-122"/>
                <a:cs typeface="Calibri" pitchFamily="34" charset="-120"/>
              </a:rPr>
              <a:t>Arizona</a:t>
            </a:r>
            <a:endParaRPr lang="en-US" sz="1800" dirty="0"/>
          </a:p>
        </p:txBody>
      </p:sp>
      <p:sp>
        <p:nvSpPr>
          <p:cNvPr id="12" name="Text 10"/>
          <p:cNvSpPr/>
          <p:nvPr/>
        </p:nvSpPr>
        <p:spPr>
          <a:xfrm>
            <a:off x="7315200" y="4267200"/>
            <a:ext cx="4145280" cy="1341120"/>
          </a:xfrm>
          <a:prstGeom prst="rect">
            <a:avLst/>
          </a:prstGeom>
          <a:noFill/>
          <a:ln/>
        </p:spPr>
        <p:txBody>
          <a:bodyPr wrap="square" lIns="0" tIns="0" rIns="0" bIns="0" rtlCol="0" anchor="t"/>
          <a:lstStyle/>
          <a:p>
            <a:pPr indent="0" marL="0">
              <a:lnSpc>
                <a:spcPct val="120000"/>
              </a:lnSpc>
              <a:buNone/>
            </a:pPr>
            <a:r>
              <a:rPr lang="en-US" sz="1400" dirty="0">
                <a:solidFill>
                  <a:srgbClr val="0E1C42"/>
                </a:solidFill>
                <a:latin typeface="Calibri" pitchFamily="34" charset="0"/>
                <a:ea typeface="Calibri" pitchFamily="34" charset="-122"/>
                <a:cs typeface="Calibri" pitchFamily="34" charset="-120"/>
              </a:rPr>
              <a:t>Lower-middle part of the United States. The southern edge borders Mexico. Texas reaches the Gulf of Mexico, but most of the Southwest is far from the ocean.</a:t>
            </a:r>
            <a:endParaRPr lang="en-US" sz="1400" dirty="0"/>
          </a:p>
        </p:txBody>
      </p:sp>
      <p:sp>
        <p:nvSpPr>
          <p:cNvPr id="13" name="Shape 11"/>
          <p:cNvSpPr/>
          <p:nvPr/>
        </p:nvSpPr>
        <p:spPr>
          <a:xfrm>
            <a:off x="487680" y="4998720"/>
            <a:ext cx="11216640" cy="1341120"/>
          </a:xfrm>
          <a:prstGeom prst="roundRect">
            <a:avLst>
              <a:gd name="adj" fmla="val 13636"/>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734568" y="5117592"/>
            <a:ext cx="10732008" cy="338328"/>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SOCRATIC QUESTIONS</a:t>
            </a:r>
            <a:endParaRPr lang="en-US" sz="1200" dirty="0"/>
          </a:p>
        </p:txBody>
      </p:sp>
      <p:sp>
        <p:nvSpPr>
          <p:cNvPr id="15" name="Text 13"/>
          <p:cNvSpPr/>
          <p:nvPr/>
        </p:nvSpPr>
        <p:spPr>
          <a:xfrm>
            <a:off x="734568" y="5465064"/>
            <a:ext cx="10732008" cy="755904"/>
          </a:xfrm>
          <a:prstGeom prst="rect">
            <a:avLst/>
          </a:prstGeom>
          <a:noFill/>
          <a:ln/>
        </p:spPr>
        <p:txBody>
          <a:bodyPr wrap="square" lIns="0" tIns="0" rIns="0" bIns="0" rtlCol="0" anchor="t"/>
          <a:lstStyle/>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Can you point to the Southwest on the map?</a:t>
            </a:r>
            <a:endParaRPr lang="en-US" sz="1400" dirty="0"/>
          </a:p>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Which state looks the biggest?</a:t>
            </a:r>
            <a:endParaRPr lang="en-US" sz="1400" dirty="0"/>
          </a:p>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What country is just below the border?</a:t>
            </a:r>
            <a:endParaRPr lang="en-US" sz="1400" dirty="0"/>
          </a:p>
        </p:txBody>
      </p:sp>
      <p:sp>
        <p:nvSpPr>
          <p:cNvPr id="16" name="Text 14"/>
          <p:cNvSpPr/>
          <p:nvPr/>
        </p:nvSpPr>
        <p:spPr>
          <a:xfrm>
            <a:off x="365760" y="6278880"/>
            <a:ext cx="3657600" cy="304800"/>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Optima Academy Online</a:t>
            </a:r>
            <a:endParaRPr lang="en-US" sz="900" dirty="0"/>
          </a:p>
        </p:txBody>
      </p:sp>
      <p:sp>
        <p:nvSpPr>
          <p:cNvPr id="17" name="Text 15"/>
          <p:cNvSpPr/>
          <p:nvPr/>
        </p:nvSpPr>
        <p:spPr>
          <a:xfrm>
            <a:off x="8290560" y="6278880"/>
            <a:ext cx="3413760" cy="30480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Lesson 3.07.05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04800"/>
            <a:ext cx="2926080" cy="463296"/>
          </a:xfrm>
          <a:prstGeom prst="roundRect">
            <a:avLst>
              <a:gd name="adj" fmla="val 19737"/>
            </a:avLst>
          </a:prstGeom>
          <a:solidFill>
            <a:srgbClr val="1A8A7D"/>
          </a:solidFill>
          <a:ln/>
        </p:spPr>
      </p:sp>
      <p:sp>
        <p:nvSpPr>
          <p:cNvPr id="4" name="Text 2"/>
          <p:cNvSpPr/>
          <p:nvPr/>
        </p:nvSpPr>
        <p:spPr>
          <a:xfrm>
            <a:off x="487680" y="304800"/>
            <a:ext cx="2926080" cy="463296"/>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NAME</a:t>
            </a:r>
            <a:endParaRPr lang="en-US" sz="1200" dirty="0"/>
          </a:p>
        </p:txBody>
      </p:sp>
      <p:sp>
        <p:nvSpPr>
          <p:cNvPr id="5" name="Text 3"/>
          <p:cNvSpPr/>
          <p:nvPr/>
        </p:nvSpPr>
        <p:spPr>
          <a:xfrm>
            <a:off x="487680" y="914400"/>
            <a:ext cx="11216640" cy="67056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The Land: Deserts, Mesas, and Buttes</a:t>
            </a:r>
            <a:endParaRPr lang="en-US" sz="2800" dirty="0"/>
          </a:p>
        </p:txBody>
      </p:sp>
      <p:sp>
        <p:nvSpPr>
          <p:cNvPr id="6" name="Shape 4"/>
          <p:cNvSpPr/>
          <p:nvPr/>
        </p:nvSpPr>
        <p:spPr>
          <a:xfrm>
            <a:off x="487680" y="1828800"/>
            <a:ext cx="5486400" cy="3413760"/>
          </a:xfrm>
          <a:prstGeom prst="roundRect">
            <a:avLst>
              <a:gd name="adj" fmla="val 4286"/>
            </a:avLst>
          </a:prstGeom>
          <a:solidFill>
            <a:srgbClr val="E2E8F4"/>
          </a:solidFill>
          <a:ln w="19050">
            <a:solidFill>
              <a:srgbClr val="B0B8CC"/>
            </a:solidFill>
            <a:prstDash val="dash"/>
          </a:ln>
        </p:spPr>
      </p:sp>
      <p:sp>
        <p:nvSpPr>
          <p:cNvPr id="7" name="Text 5"/>
          <p:cNvSpPr/>
          <p:nvPr/>
        </p:nvSpPr>
        <p:spPr>
          <a:xfrm>
            <a:off x="487680" y="1828800"/>
            <a:ext cx="5486400" cy="365760"/>
          </a:xfrm>
          <a:prstGeom prst="rect">
            <a:avLst/>
          </a:prstGeom>
          <a:noFill/>
          <a:ln/>
        </p:spPr>
        <p:txBody>
          <a:bodyPr wrap="square" lIns="0" tIns="0" rIns="0" bIns="0" rtlCol="0" anchor="ctr"/>
          <a:lstStyle/>
          <a:p>
            <a:pPr algn="ctr" indent="0" marL="0">
              <a:buNone/>
            </a:pPr>
            <a:r>
              <a:rPr lang="en-US" sz="1200" b="1" spc="150" kern="0" dirty="0">
                <a:solidFill>
                  <a:srgbClr val="7A88A8"/>
                </a:solidFill>
                <a:latin typeface="Calibri" pitchFamily="34" charset="0"/>
                <a:ea typeface="Calibri" pitchFamily="34" charset="-122"/>
                <a:cs typeface="Calibri" pitchFamily="34" charset="-120"/>
              </a:rPr>
              <a:t>INSERT IMAGE</a:t>
            </a:r>
            <a:endParaRPr lang="en-US" sz="1200" dirty="0"/>
          </a:p>
        </p:txBody>
      </p:sp>
      <p:sp>
        <p:nvSpPr>
          <p:cNvPr id="8" name="Text 6"/>
          <p:cNvSpPr/>
          <p:nvPr/>
        </p:nvSpPr>
        <p:spPr>
          <a:xfrm>
            <a:off x="670560" y="2194560"/>
            <a:ext cx="5120640" cy="2929128"/>
          </a:xfrm>
          <a:prstGeom prst="rect">
            <a:avLst/>
          </a:prstGeom>
          <a:noFill/>
          <a:ln/>
        </p:spPr>
        <p:txBody>
          <a:bodyPr wrap="square"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Photo of Sonoran Desert landscape with saguaro cacti, mesas and buttes in background</a:t>
            </a:r>
            <a:endParaRPr lang="en-US" sz="1400" dirty="0"/>
          </a:p>
        </p:txBody>
      </p:sp>
      <p:sp>
        <p:nvSpPr>
          <p:cNvPr id="9" name="Shape 7"/>
          <p:cNvSpPr/>
          <p:nvPr/>
        </p:nvSpPr>
        <p:spPr>
          <a:xfrm>
            <a:off x="6339840" y="1828800"/>
            <a:ext cx="5486400" cy="3413760"/>
          </a:xfrm>
          <a:prstGeom prst="roundRect">
            <a:avLst>
              <a:gd name="adj" fmla="val 4286"/>
            </a:avLst>
          </a:prstGeom>
          <a:solidFill>
            <a:srgbClr val="FFFFFF"/>
          </a:solidFill>
          <a:ln/>
          <a:effectLst>
            <a:outerShdw sx="100000" sy="100000" kx="0" ky="0" algn="bl" rotWithShape="0" blurRad="76200" dist="25400" dir="8100000">
              <a:srgbClr val="000000">
                <a:alpha val="10000"/>
              </a:srgbClr>
            </a:outerShdw>
          </a:effectLst>
        </p:spPr>
      </p:sp>
      <p:sp>
        <p:nvSpPr>
          <p:cNvPr id="10" name="Text 8"/>
          <p:cNvSpPr/>
          <p:nvPr/>
        </p:nvSpPr>
        <p:spPr>
          <a:xfrm>
            <a:off x="6583680" y="2072640"/>
            <a:ext cx="4998720" cy="2926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Sonoran Desert stretches across Arizona</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Chihuahuan Desert covers parts of New Mexico and Texas</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Mesas: flat-topped hills with steep sides</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Buttes: smaller, tower-like formations</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Dry, rocky, sandy land -- very different from eastern forests or midwestern prairies</a:t>
            </a:r>
            <a:endParaRPr lang="en-US" sz="1500" dirty="0"/>
          </a:p>
        </p:txBody>
      </p:sp>
      <p:sp>
        <p:nvSpPr>
          <p:cNvPr id="11" name="Shape 9"/>
          <p:cNvSpPr/>
          <p:nvPr/>
        </p:nvSpPr>
        <p:spPr>
          <a:xfrm>
            <a:off x="487680" y="4876800"/>
            <a:ext cx="11216640" cy="731520"/>
          </a:xfrm>
          <a:prstGeom prst="roundRect">
            <a:avLst>
              <a:gd name="adj" fmla="val 20000"/>
            </a:avLst>
          </a:prstGeom>
          <a:solidFill>
            <a:srgbClr val="FFF3DC"/>
          </a:solidFill>
          <a:ln/>
          <a:effectLst>
            <a:outerShdw sx="100000" sy="100000" kx="0" ky="0" algn="bl" rotWithShape="0" blurRad="76200" dist="25400" dir="8100000">
              <a:srgbClr val="000000">
                <a:alpha val="12000"/>
              </a:srgbClr>
            </a:outerShdw>
          </a:effectLst>
        </p:spPr>
      </p:sp>
      <p:sp>
        <p:nvSpPr>
          <p:cNvPr id="12" name="Text 10"/>
          <p:cNvSpPr/>
          <p:nvPr/>
        </p:nvSpPr>
        <p:spPr>
          <a:xfrm>
            <a:off x="670560" y="4998720"/>
            <a:ext cx="10850880" cy="487680"/>
          </a:xfrm>
          <a:prstGeom prst="rect">
            <a:avLst/>
          </a:prstGeom>
          <a:noFill/>
          <a:ln/>
        </p:spPr>
        <p:txBody>
          <a:bodyPr wrap="square" lIns="0" tIns="0" rIns="0" bIns="0" rtlCol="0" anchor="ctr"/>
          <a:lstStyle/>
          <a:p>
            <a:pPr indent="0" marL="0">
              <a:lnSpc>
                <a:spcPct val="115000"/>
              </a:lnSpc>
              <a:buNone/>
            </a:pPr>
            <a:r>
              <a:rPr lang="en-US" sz="1600" dirty="0">
                <a:solidFill>
                  <a:srgbClr val="0E1C42"/>
                </a:solidFill>
                <a:latin typeface="Calibri" pitchFamily="34" charset="0"/>
                <a:ea typeface="Calibri" pitchFamily="34" charset="-122"/>
                <a:cs typeface="Calibri" pitchFamily="34" charset="-120"/>
              </a:rPr>
              <a:t>The word mesa comes from Spanish and means table -- because the top is flat like a tabletop!</a:t>
            </a:r>
            <a:endParaRPr lang="en-US" sz="1600" dirty="0"/>
          </a:p>
        </p:txBody>
      </p:sp>
      <p:sp>
        <p:nvSpPr>
          <p:cNvPr id="13" name="Text 11"/>
          <p:cNvSpPr/>
          <p:nvPr/>
        </p:nvSpPr>
        <p:spPr>
          <a:xfrm>
            <a:off x="365760" y="6278880"/>
            <a:ext cx="3657600" cy="304800"/>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Optima Academy Online</a:t>
            </a:r>
            <a:endParaRPr lang="en-US" sz="900" dirty="0"/>
          </a:p>
        </p:txBody>
      </p:sp>
      <p:sp>
        <p:nvSpPr>
          <p:cNvPr id="14" name="Text 12"/>
          <p:cNvSpPr/>
          <p:nvPr/>
        </p:nvSpPr>
        <p:spPr>
          <a:xfrm>
            <a:off x="8290560" y="6278880"/>
            <a:ext cx="3413760" cy="30480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Lesson 3.07.05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04800"/>
            <a:ext cx="2926080" cy="463296"/>
          </a:xfrm>
          <a:prstGeom prst="roundRect">
            <a:avLst>
              <a:gd name="adj" fmla="val 19737"/>
            </a:avLst>
          </a:prstGeom>
          <a:solidFill>
            <a:srgbClr val="1A8A7D"/>
          </a:solidFill>
          <a:ln/>
        </p:spPr>
      </p:sp>
      <p:sp>
        <p:nvSpPr>
          <p:cNvPr id="4" name="Text 2"/>
          <p:cNvSpPr/>
          <p:nvPr/>
        </p:nvSpPr>
        <p:spPr>
          <a:xfrm>
            <a:off x="487680" y="304800"/>
            <a:ext cx="2926080" cy="463296"/>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NAME</a:t>
            </a:r>
            <a:endParaRPr lang="en-US" sz="1200" dirty="0"/>
          </a:p>
        </p:txBody>
      </p:sp>
      <p:sp>
        <p:nvSpPr>
          <p:cNvPr id="5" name="Text 3"/>
          <p:cNvSpPr/>
          <p:nvPr/>
        </p:nvSpPr>
        <p:spPr>
          <a:xfrm>
            <a:off x="487680" y="914400"/>
            <a:ext cx="11216640" cy="67056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The Grand Canyon</a:t>
            </a:r>
            <a:endParaRPr lang="en-US" sz="2800" dirty="0"/>
          </a:p>
        </p:txBody>
      </p:sp>
      <p:sp>
        <p:nvSpPr>
          <p:cNvPr id="6" name="Shape 4"/>
          <p:cNvSpPr/>
          <p:nvPr/>
        </p:nvSpPr>
        <p:spPr>
          <a:xfrm>
            <a:off x="487680" y="1828800"/>
            <a:ext cx="6096000" cy="3657600"/>
          </a:xfrm>
          <a:prstGeom prst="roundRect">
            <a:avLst>
              <a:gd name="adj" fmla="val 4000"/>
            </a:avLst>
          </a:prstGeom>
          <a:solidFill>
            <a:srgbClr val="E2E8F4"/>
          </a:solidFill>
          <a:ln w="19050">
            <a:solidFill>
              <a:srgbClr val="B0B8CC"/>
            </a:solidFill>
            <a:prstDash val="dash"/>
          </a:ln>
        </p:spPr>
      </p:sp>
      <p:sp>
        <p:nvSpPr>
          <p:cNvPr id="7" name="Text 5"/>
          <p:cNvSpPr/>
          <p:nvPr/>
        </p:nvSpPr>
        <p:spPr>
          <a:xfrm>
            <a:off x="487680" y="1828800"/>
            <a:ext cx="6096000" cy="365760"/>
          </a:xfrm>
          <a:prstGeom prst="rect">
            <a:avLst/>
          </a:prstGeom>
          <a:noFill/>
          <a:ln/>
        </p:spPr>
        <p:txBody>
          <a:bodyPr wrap="square" lIns="0" tIns="0" rIns="0" bIns="0" rtlCol="0" anchor="ctr"/>
          <a:lstStyle/>
          <a:p>
            <a:pPr algn="ctr" indent="0" marL="0">
              <a:buNone/>
            </a:pPr>
            <a:r>
              <a:rPr lang="en-US" sz="1200" b="1" spc="150" kern="0" dirty="0">
                <a:solidFill>
                  <a:srgbClr val="7A88A8"/>
                </a:solidFill>
                <a:latin typeface="Calibri" pitchFamily="34" charset="0"/>
                <a:ea typeface="Calibri" pitchFamily="34" charset="-122"/>
                <a:cs typeface="Calibri" pitchFamily="34" charset="-120"/>
              </a:rPr>
              <a:t>INSERT IMAGE</a:t>
            </a:r>
            <a:endParaRPr lang="en-US" sz="1200" dirty="0"/>
          </a:p>
        </p:txBody>
      </p:sp>
      <p:sp>
        <p:nvSpPr>
          <p:cNvPr id="8" name="Text 6"/>
          <p:cNvSpPr/>
          <p:nvPr/>
        </p:nvSpPr>
        <p:spPr>
          <a:xfrm>
            <a:off x="670560" y="2194560"/>
            <a:ext cx="5730240" cy="3172968"/>
          </a:xfrm>
          <a:prstGeom prst="rect">
            <a:avLst/>
          </a:prstGeom>
          <a:noFill/>
          <a:ln/>
        </p:spPr>
        <p:txBody>
          <a:bodyPr wrap="square"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Photo of Grand Canyon showing depth and layers of rock, Colorado River visible at bottom</a:t>
            </a:r>
            <a:endParaRPr lang="en-US" sz="1400" dirty="0"/>
          </a:p>
        </p:txBody>
      </p:sp>
      <p:sp>
        <p:nvSpPr>
          <p:cNvPr id="9" name="Shape 7"/>
          <p:cNvSpPr/>
          <p:nvPr/>
        </p:nvSpPr>
        <p:spPr>
          <a:xfrm>
            <a:off x="6949440" y="1828800"/>
            <a:ext cx="4876800" cy="3657600"/>
          </a:xfrm>
          <a:prstGeom prst="roundRect">
            <a:avLst>
              <a:gd name="adj" fmla="val 4000"/>
            </a:avLst>
          </a:prstGeom>
          <a:solidFill>
            <a:srgbClr val="FFFFFF"/>
          </a:solidFill>
          <a:ln/>
          <a:effectLst>
            <a:outerShdw sx="100000" sy="100000" kx="0" ky="0" algn="bl" rotWithShape="0" blurRad="76200" dist="25400" dir="8100000">
              <a:srgbClr val="000000">
                <a:alpha val="10000"/>
              </a:srgbClr>
            </a:outerShdw>
          </a:effectLst>
        </p:spPr>
      </p:sp>
      <p:sp>
        <p:nvSpPr>
          <p:cNvPr id="10" name="Text 8"/>
          <p:cNvSpPr/>
          <p:nvPr/>
        </p:nvSpPr>
        <p:spPr>
          <a:xfrm>
            <a:off x="7193280" y="1950720"/>
            <a:ext cx="4389120" cy="426720"/>
          </a:xfrm>
          <a:prstGeom prst="rect">
            <a:avLst/>
          </a:prstGeom>
          <a:noFill/>
          <a:ln/>
        </p:spPr>
        <p:txBody>
          <a:bodyPr wrap="square" lIns="0" tIns="0" rIns="0" bIns="0" rtlCol="0" anchor="ctr"/>
          <a:lstStyle/>
          <a:p>
            <a:pPr indent="0" marL="0">
              <a:buNone/>
            </a:pPr>
            <a:r>
              <a:rPr lang="en-US" sz="1400" b="1" dirty="0">
                <a:solidFill>
                  <a:srgbClr val="E8636B"/>
                </a:solidFill>
                <a:latin typeface="Calibri" pitchFamily="34" charset="0"/>
                <a:ea typeface="Calibri" pitchFamily="34" charset="-122"/>
                <a:cs typeface="Calibri" pitchFamily="34" charset="-120"/>
              </a:rPr>
              <a:t>By the Numbers</a:t>
            </a:r>
            <a:endParaRPr lang="en-US" sz="1400" dirty="0"/>
          </a:p>
        </p:txBody>
      </p:sp>
      <p:sp>
        <p:nvSpPr>
          <p:cNvPr id="11" name="Text 9"/>
          <p:cNvSpPr/>
          <p:nvPr/>
        </p:nvSpPr>
        <p:spPr>
          <a:xfrm>
            <a:off x="7193280" y="2560320"/>
            <a:ext cx="4389120" cy="26822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0E1C42"/>
                </a:solidFill>
                <a:latin typeface="Calibri" pitchFamily="34" charset="0"/>
                <a:ea typeface="Calibri" pitchFamily="34" charset="-122"/>
                <a:cs typeface="Calibri" pitchFamily="34" charset="-120"/>
              </a:rPr>
              <a:t>Over 1 mile deep</a:t>
            </a:r>
            <a:endParaRPr lang="en-US" sz="1600" dirty="0"/>
          </a:p>
          <a:p>
            <a:pPr marL="342900" indent="-342900">
              <a:spcAft>
                <a:spcPts val="600"/>
              </a:spcAft>
              <a:buSzPct val="100000"/>
              <a:buChar char="•"/>
            </a:pPr>
            <a:r>
              <a:rPr lang="en-US" sz="1600" dirty="0">
                <a:solidFill>
                  <a:srgbClr val="0E1C42"/>
                </a:solidFill>
                <a:latin typeface="Calibri" pitchFamily="34" charset="0"/>
                <a:ea typeface="Calibri" pitchFamily="34" charset="-122"/>
                <a:cs typeface="Calibri" pitchFamily="34" charset="-120"/>
              </a:rPr>
              <a:t>277 miles long</a:t>
            </a:r>
            <a:endParaRPr lang="en-US" sz="1600" dirty="0"/>
          </a:p>
          <a:p>
            <a:pPr marL="342900" indent="-342900">
              <a:spcAft>
                <a:spcPts val="600"/>
              </a:spcAft>
              <a:buSzPct val="100000"/>
              <a:buChar char="•"/>
            </a:pPr>
            <a:r>
              <a:rPr lang="en-US" sz="1600" dirty="0">
                <a:solidFill>
                  <a:srgbClr val="0E1C42"/>
                </a:solidFill>
                <a:latin typeface="Calibri" pitchFamily="34" charset="0"/>
                <a:ea typeface="Calibri" pitchFamily="34" charset="-122"/>
                <a:cs typeface="Calibri" pitchFamily="34" charset="-120"/>
              </a:rPr>
              <a:t>Located in Arizona</a:t>
            </a:r>
            <a:endParaRPr lang="en-US" sz="1600" dirty="0"/>
          </a:p>
          <a:p>
            <a:pPr marL="342900" indent="-342900">
              <a:spcAft>
                <a:spcPts val="600"/>
              </a:spcAft>
              <a:buSzPct val="100000"/>
              <a:buChar char="•"/>
            </a:pPr>
            <a:r>
              <a:rPr lang="en-US" sz="1600" dirty="0">
                <a:solidFill>
                  <a:srgbClr val="0E1C42"/>
                </a:solidFill>
                <a:latin typeface="Calibri" pitchFamily="34" charset="0"/>
                <a:ea typeface="Calibri" pitchFamily="34" charset="-122"/>
                <a:cs typeface="Calibri" pitchFamily="34" charset="-120"/>
              </a:rPr>
              <a:t>Carved by the Colorado River over millions of years</a:t>
            </a:r>
            <a:endParaRPr lang="en-US" sz="1600" dirty="0"/>
          </a:p>
          <a:p>
            <a:pPr marL="342900" indent="-342900">
              <a:spcAft>
                <a:spcPts val="600"/>
              </a:spcAft>
              <a:buSzPct val="100000"/>
              <a:buChar char="•"/>
            </a:pPr>
            <a:r>
              <a:rPr lang="en-US" sz="1600" dirty="0">
                <a:solidFill>
                  <a:srgbClr val="0E1C42"/>
                </a:solidFill>
                <a:latin typeface="Calibri" pitchFamily="34" charset="0"/>
                <a:ea typeface="Calibri" pitchFamily="34" charset="-122"/>
                <a:cs typeface="Calibri" pitchFamily="34" charset="-120"/>
              </a:rPr>
              <a:t>Layers of rock tell Earth's story</a:t>
            </a:r>
            <a:endParaRPr lang="en-US" sz="1600" dirty="0"/>
          </a:p>
        </p:txBody>
      </p:sp>
      <p:sp>
        <p:nvSpPr>
          <p:cNvPr id="12" name="Shape 10"/>
          <p:cNvSpPr/>
          <p:nvPr/>
        </p:nvSpPr>
        <p:spPr>
          <a:xfrm>
            <a:off x="487680" y="5059680"/>
            <a:ext cx="11216640" cy="1158240"/>
          </a:xfrm>
          <a:prstGeom prst="roundRect">
            <a:avLst>
              <a:gd name="adj" fmla="val 15789"/>
            </a:avLst>
          </a:prstGeom>
          <a:solidFill>
            <a:srgbClr val="1A2D5A"/>
          </a:solidFill>
          <a:ln/>
          <a:effectLst>
            <a:outerShdw sx="100000" sy="100000" kx="0" ky="0" algn="bl" rotWithShape="0" blurRad="101600" dist="38100" dir="8100000">
              <a:srgbClr val="000000">
                <a:alpha val="20000"/>
              </a:srgbClr>
            </a:outerShdw>
          </a:effectLst>
        </p:spPr>
      </p:sp>
      <p:sp>
        <p:nvSpPr>
          <p:cNvPr id="13" name="Text 11"/>
          <p:cNvSpPr/>
          <p:nvPr/>
        </p:nvSpPr>
        <p:spPr>
          <a:xfrm>
            <a:off x="734568" y="5178552"/>
            <a:ext cx="10732008" cy="338328"/>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SOCRATIC QUESTIONS</a:t>
            </a:r>
            <a:endParaRPr lang="en-US" sz="1200" dirty="0"/>
          </a:p>
        </p:txBody>
      </p:sp>
      <p:sp>
        <p:nvSpPr>
          <p:cNvPr id="14" name="Text 12"/>
          <p:cNvSpPr/>
          <p:nvPr/>
        </p:nvSpPr>
        <p:spPr>
          <a:xfrm>
            <a:off x="734568" y="5526024"/>
            <a:ext cx="10732008" cy="573024"/>
          </a:xfrm>
          <a:prstGeom prst="rect">
            <a:avLst/>
          </a:prstGeom>
          <a:noFill/>
          <a:ln/>
        </p:spPr>
        <p:txBody>
          <a:bodyPr wrap="square" lIns="0" tIns="0" rIns="0" bIns="0" rtlCol="0" anchor="t"/>
          <a:lstStyle/>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How does a river carve through solid rock?</a:t>
            </a:r>
            <a:endParaRPr lang="en-US" sz="1400" dirty="0"/>
          </a:p>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What would it feel like to stand at the rim and look down one whole mile?</a:t>
            </a:r>
            <a:endParaRPr lang="en-US" sz="1400" dirty="0"/>
          </a:p>
        </p:txBody>
      </p:sp>
      <p:sp>
        <p:nvSpPr>
          <p:cNvPr id="15" name="Text 13"/>
          <p:cNvSpPr/>
          <p:nvPr/>
        </p:nvSpPr>
        <p:spPr>
          <a:xfrm>
            <a:off x="365760" y="6278880"/>
            <a:ext cx="3657600" cy="304800"/>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Optima Academy Online</a:t>
            </a:r>
            <a:endParaRPr lang="en-US" sz="900" dirty="0"/>
          </a:p>
        </p:txBody>
      </p:sp>
      <p:sp>
        <p:nvSpPr>
          <p:cNvPr id="16" name="Text 14"/>
          <p:cNvSpPr/>
          <p:nvPr/>
        </p:nvSpPr>
        <p:spPr>
          <a:xfrm>
            <a:off x="8290560" y="6278880"/>
            <a:ext cx="3413760" cy="30480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Lesson 3.07.05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8F0"/>
          </a:solidFill>
          <a:ln/>
        </p:spPr>
      </p:sp>
      <p:sp>
        <p:nvSpPr>
          <p:cNvPr id="3" name="Shape 1"/>
          <p:cNvSpPr/>
          <p:nvPr/>
        </p:nvSpPr>
        <p:spPr>
          <a:xfrm>
            <a:off x="487680" y="304800"/>
            <a:ext cx="2926080" cy="463296"/>
          </a:xfrm>
          <a:prstGeom prst="roundRect">
            <a:avLst>
              <a:gd name="adj" fmla="val 19737"/>
            </a:avLst>
          </a:prstGeom>
          <a:solidFill>
            <a:srgbClr val="D4943A"/>
          </a:solidFill>
          <a:ln/>
        </p:spPr>
      </p:sp>
      <p:sp>
        <p:nvSpPr>
          <p:cNvPr id="4" name="Text 2"/>
          <p:cNvSpPr/>
          <p:nvPr/>
        </p:nvSpPr>
        <p:spPr>
          <a:xfrm>
            <a:off x="487680" y="304800"/>
            <a:ext cx="2926080" cy="463296"/>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PAUSE &amp; THINK</a:t>
            </a:r>
            <a:endParaRPr lang="en-US" sz="1200" dirty="0"/>
          </a:p>
        </p:txBody>
      </p:sp>
      <p:sp>
        <p:nvSpPr>
          <p:cNvPr id="5" name="Text 3"/>
          <p:cNvSpPr/>
          <p:nvPr/>
        </p:nvSpPr>
        <p:spPr>
          <a:xfrm>
            <a:off x="487680" y="1036320"/>
            <a:ext cx="11216640" cy="670560"/>
          </a:xfrm>
          <a:prstGeom prst="rect">
            <a:avLst/>
          </a:prstGeom>
          <a:noFill/>
          <a:ln/>
        </p:spPr>
        <p:txBody>
          <a:bodyPr wrap="square" lIns="0" tIns="0" rIns="0" bIns="0" rtlCol="0" anchor="ctr"/>
          <a:lstStyle/>
          <a:p>
            <a:pPr indent="0" marL="0">
              <a:buNone/>
            </a:pPr>
            <a:r>
              <a:rPr lang="en-US" sz="2800" b="1" dirty="0">
                <a:solidFill>
                  <a:srgbClr val="D4943A"/>
                </a:solidFill>
                <a:latin typeface="Cambria" pitchFamily="34" charset="0"/>
                <a:ea typeface="Cambria" pitchFamily="34" charset="-122"/>
                <a:cs typeface="Cambria" pitchFamily="34" charset="-120"/>
              </a:rPr>
              <a:t>If You Could Visit the Southwest...</a:t>
            </a:r>
            <a:endParaRPr lang="en-US" sz="2800" dirty="0"/>
          </a:p>
        </p:txBody>
      </p:sp>
      <p:sp>
        <p:nvSpPr>
          <p:cNvPr id="6" name="Shape 4"/>
          <p:cNvSpPr/>
          <p:nvPr/>
        </p:nvSpPr>
        <p:spPr>
          <a:xfrm>
            <a:off x="609600" y="1950720"/>
            <a:ext cx="10972800" cy="3657600"/>
          </a:xfrm>
          <a:prstGeom prst="roundRect">
            <a:avLst>
              <a:gd name="adj" fmla="val 5000"/>
            </a:avLst>
          </a:prstGeom>
          <a:solidFill>
            <a:srgbClr val="FFFFFF"/>
          </a:solidFill>
          <a:ln/>
          <a:effectLst>
            <a:outerShdw sx="100000" sy="100000" kx="0" ky="0" algn="bl" rotWithShape="0" blurRad="101600" dist="38100" dir="8100000">
              <a:srgbClr val="000000">
                <a:alpha val="12000"/>
              </a:srgbClr>
            </a:outerShdw>
          </a:effectLst>
        </p:spPr>
      </p:sp>
      <p:sp>
        <p:nvSpPr>
          <p:cNvPr id="7" name="Text 5"/>
          <p:cNvSpPr/>
          <p:nvPr/>
        </p:nvSpPr>
        <p:spPr>
          <a:xfrm>
            <a:off x="853440" y="2133600"/>
            <a:ext cx="10485120" cy="487680"/>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Which would you choose?</a:t>
            </a:r>
            <a:endParaRPr lang="en-US" sz="2000" dirty="0"/>
          </a:p>
        </p:txBody>
      </p:sp>
      <p:sp>
        <p:nvSpPr>
          <p:cNvPr id="8" name="Shape 6"/>
          <p:cNvSpPr/>
          <p:nvPr/>
        </p:nvSpPr>
        <p:spPr>
          <a:xfrm>
            <a:off x="1219200" y="2865120"/>
            <a:ext cx="548640" cy="548640"/>
          </a:xfrm>
          <a:prstGeom prst="roundRect">
            <a:avLst>
              <a:gd name="adj" fmla="val 13333"/>
            </a:avLst>
          </a:prstGeom>
          <a:solidFill>
            <a:srgbClr val="E8636B"/>
          </a:solidFill>
          <a:ln/>
        </p:spPr>
      </p:sp>
      <p:sp>
        <p:nvSpPr>
          <p:cNvPr id="9" name="Text 7"/>
          <p:cNvSpPr/>
          <p:nvPr/>
        </p:nvSpPr>
        <p:spPr>
          <a:xfrm>
            <a:off x="1219200" y="2865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0" name="Text 8"/>
          <p:cNvSpPr/>
          <p:nvPr/>
        </p:nvSpPr>
        <p:spPr>
          <a:xfrm>
            <a:off x="1950720" y="2865120"/>
            <a:ext cx="9144000" cy="548640"/>
          </a:xfrm>
          <a:prstGeom prst="rect">
            <a:avLst/>
          </a:prstGeom>
          <a:noFill/>
          <a:ln/>
        </p:spPr>
        <p:txBody>
          <a:bodyPr wrap="square" lIns="0" tIns="0" rIns="0" bIns="0" rtlCol="0" anchor="ctr"/>
          <a:lstStyle/>
          <a:p>
            <a:pPr indent="0" marL="0">
              <a:buNone/>
            </a:pPr>
            <a:r>
              <a:rPr lang="en-US" sz="1800" dirty="0">
                <a:solidFill>
                  <a:srgbClr val="0E1C42"/>
                </a:solidFill>
                <a:latin typeface="Calibri" pitchFamily="34" charset="0"/>
                <a:ea typeface="Calibri" pitchFamily="34" charset="-122"/>
                <a:cs typeface="Calibri" pitchFamily="34" charset="-120"/>
              </a:rPr>
              <a:t>Hike along the rim of the Grand Canyon</a:t>
            </a:r>
            <a:endParaRPr lang="en-US" sz="1800" dirty="0"/>
          </a:p>
        </p:txBody>
      </p:sp>
      <p:sp>
        <p:nvSpPr>
          <p:cNvPr id="11" name="Shape 9"/>
          <p:cNvSpPr/>
          <p:nvPr/>
        </p:nvSpPr>
        <p:spPr>
          <a:xfrm>
            <a:off x="1219200" y="3718560"/>
            <a:ext cx="548640" cy="548640"/>
          </a:xfrm>
          <a:prstGeom prst="roundRect">
            <a:avLst>
              <a:gd name="adj" fmla="val 13333"/>
            </a:avLst>
          </a:prstGeom>
          <a:solidFill>
            <a:srgbClr val="1A8A7D"/>
          </a:solidFill>
          <a:ln/>
        </p:spPr>
      </p:sp>
      <p:sp>
        <p:nvSpPr>
          <p:cNvPr id="12" name="Text 10"/>
          <p:cNvSpPr/>
          <p:nvPr/>
        </p:nvSpPr>
        <p:spPr>
          <a:xfrm>
            <a:off x="1219200" y="3718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3" name="Text 11"/>
          <p:cNvSpPr/>
          <p:nvPr/>
        </p:nvSpPr>
        <p:spPr>
          <a:xfrm>
            <a:off x="1950720" y="3718560"/>
            <a:ext cx="9144000" cy="548640"/>
          </a:xfrm>
          <a:prstGeom prst="rect">
            <a:avLst/>
          </a:prstGeom>
          <a:noFill/>
          <a:ln/>
        </p:spPr>
        <p:txBody>
          <a:bodyPr wrap="square" lIns="0" tIns="0" rIns="0" bIns="0" rtlCol="0" anchor="ctr"/>
          <a:lstStyle/>
          <a:p>
            <a:pPr indent="0" marL="0">
              <a:buNone/>
            </a:pPr>
            <a:r>
              <a:rPr lang="en-US" sz="1800" dirty="0">
                <a:solidFill>
                  <a:srgbClr val="0E1C42"/>
                </a:solidFill>
                <a:latin typeface="Calibri" pitchFamily="34" charset="0"/>
                <a:ea typeface="Calibri" pitchFamily="34" charset="-122"/>
                <a:cs typeface="Calibri" pitchFamily="34" charset="-120"/>
              </a:rPr>
              <a:t>Walk through an adobe village and learn how it was built</a:t>
            </a:r>
            <a:endParaRPr lang="en-US" sz="1800" dirty="0"/>
          </a:p>
        </p:txBody>
      </p:sp>
      <p:sp>
        <p:nvSpPr>
          <p:cNvPr id="14" name="Shape 12"/>
          <p:cNvSpPr/>
          <p:nvPr/>
        </p:nvSpPr>
        <p:spPr>
          <a:xfrm>
            <a:off x="1219200" y="4572000"/>
            <a:ext cx="548640" cy="548640"/>
          </a:xfrm>
          <a:prstGeom prst="roundRect">
            <a:avLst>
              <a:gd name="adj" fmla="val 13333"/>
            </a:avLst>
          </a:prstGeom>
          <a:solidFill>
            <a:srgbClr val="D4943A"/>
          </a:solidFill>
          <a:ln/>
        </p:spPr>
      </p:sp>
      <p:sp>
        <p:nvSpPr>
          <p:cNvPr id="15" name="Text 13"/>
          <p:cNvSpPr/>
          <p:nvPr/>
        </p:nvSpPr>
        <p:spPr>
          <a:xfrm>
            <a:off x="1219200" y="45720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6" name="Text 14"/>
          <p:cNvSpPr/>
          <p:nvPr/>
        </p:nvSpPr>
        <p:spPr>
          <a:xfrm>
            <a:off x="1950720" y="4572000"/>
            <a:ext cx="9144000" cy="548640"/>
          </a:xfrm>
          <a:prstGeom prst="rect">
            <a:avLst/>
          </a:prstGeom>
          <a:noFill/>
          <a:ln/>
        </p:spPr>
        <p:txBody>
          <a:bodyPr wrap="square" lIns="0" tIns="0" rIns="0" bIns="0" rtlCol="0" anchor="ctr"/>
          <a:lstStyle/>
          <a:p>
            <a:pPr indent="0" marL="0">
              <a:buNone/>
            </a:pPr>
            <a:r>
              <a:rPr lang="en-US" sz="1800" dirty="0">
                <a:solidFill>
                  <a:srgbClr val="0E1C42"/>
                </a:solidFill>
                <a:latin typeface="Calibri" pitchFamily="34" charset="0"/>
                <a:ea typeface="Calibri" pitchFamily="34" charset="-122"/>
                <a:cs typeface="Calibri" pitchFamily="34" charset="-120"/>
              </a:rPr>
              <a:t>Watch a rodeo at a Texas cattle ranch</a:t>
            </a:r>
            <a:endParaRPr lang="en-US" sz="1800" dirty="0"/>
          </a:p>
        </p:txBody>
      </p:sp>
      <p:sp>
        <p:nvSpPr>
          <p:cNvPr id="17" name="Text 15"/>
          <p:cNvSpPr/>
          <p:nvPr/>
        </p:nvSpPr>
        <p:spPr>
          <a:xfrm>
            <a:off x="853440" y="5242560"/>
            <a:ext cx="10485120" cy="426720"/>
          </a:xfrm>
          <a:prstGeom prst="rect">
            <a:avLst/>
          </a:prstGeom>
          <a:noFill/>
          <a:ln/>
        </p:spPr>
        <p:txBody>
          <a:bodyPr wrap="square" lIns="0" tIns="0" rIns="0" bIns="0" rtlCol="0" anchor="ctr"/>
          <a:lstStyle/>
          <a:p>
            <a:pPr indent="0" marL="0">
              <a:buNone/>
            </a:pPr>
            <a:r>
              <a:rPr lang="en-US" sz="1500" i="1" dirty="0">
                <a:solidFill>
                  <a:srgbClr val="7A88A8"/>
                </a:solidFill>
                <a:latin typeface="Calibri" pitchFamily="34" charset="0"/>
                <a:ea typeface="Calibri" pitchFamily="34" charset="-122"/>
                <a:cs typeface="Calibri" pitchFamily="34" charset="-120"/>
              </a:rPr>
              <a:t>Share your choice and explain why in the chat!</a:t>
            </a:r>
            <a:endParaRPr lang="en-US" sz="1500" dirty="0"/>
          </a:p>
        </p:txBody>
      </p:sp>
      <p:sp>
        <p:nvSpPr>
          <p:cNvPr id="18" name="Text 16"/>
          <p:cNvSpPr/>
          <p:nvPr/>
        </p:nvSpPr>
        <p:spPr>
          <a:xfrm>
            <a:off x="365760" y="6278880"/>
            <a:ext cx="3657600" cy="304800"/>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Optima Academy Online</a:t>
            </a:r>
            <a:endParaRPr lang="en-US" sz="900" dirty="0"/>
          </a:p>
        </p:txBody>
      </p:sp>
      <p:sp>
        <p:nvSpPr>
          <p:cNvPr id="19" name="Text 17"/>
          <p:cNvSpPr/>
          <p:nvPr/>
        </p:nvSpPr>
        <p:spPr>
          <a:xfrm>
            <a:off x="8290560" y="6278880"/>
            <a:ext cx="3413760" cy="30480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Lesson 3.07.05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04800"/>
            <a:ext cx="2926080" cy="463296"/>
          </a:xfrm>
          <a:prstGeom prst="roundRect">
            <a:avLst>
              <a:gd name="adj" fmla="val 19737"/>
            </a:avLst>
          </a:prstGeom>
          <a:solidFill>
            <a:srgbClr val="1A8A7D"/>
          </a:solidFill>
          <a:ln/>
        </p:spPr>
      </p:sp>
      <p:sp>
        <p:nvSpPr>
          <p:cNvPr id="4" name="Text 2"/>
          <p:cNvSpPr/>
          <p:nvPr/>
        </p:nvSpPr>
        <p:spPr>
          <a:xfrm>
            <a:off x="487680" y="304800"/>
            <a:ext cx="2926080" cy="463296"/>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NAME</a:t>
            </a:r>
            <a:endParaRPr lang="en-US" sz="1200" dirty="0"/>
          </a:p>
        </p:txBody>
      </p:sp>
      <p:sp>
        <p:nvSpPr>
          <p:cNvPr id="5" name="Text 3"/>
          <p:cNvSpPr/>
          <p:nvPr/>
        </p:nvSpPr>
        <p:spPr>
          <a:xfrm>
            <a:off x="487680" y="914400"/>
            <a:ext cx="11216640" cy="67056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Water in the Southwest</a:t>
            </a:r>
            <a:endParaRPr lang="en-US" sz="2800" dirty="0"/>
          </a:p>
        </p:txBody>
      </p:sp>
      <p:sp>
        <p:nvSpPr>
          <p:cNvPr id="6" name="Shape 4"/>
          <p:cNvSpPr/>
          <p:nvPr/>
        </p:nvSpPr>
        <p:spPr>
          <a:xfrm>
            <a:off x="487680" y="1828800"/>
            <a:ext cx="5486400" cy="3048000"/>
          </a:xfrm>
          <a:prstGeom prst="roundRect">
            <a:avLst>
              <a:gd name="adj" fmla="val 4800"/>
            </a:avLst>
          </a:prstGeom>
          <a:solidFill>
            <a:srgbClr val="E2E8F4"/>
          </a:solidFill>
          <a:ln w="19050">
            <a:solidFill>
              <a:srgbClr val="B0B8CC"/>
            </a:solidFill>
            <a:prstDash val="dash"/>
          </a:ln>
        </p:spPr>
      </p:sp>
      <p:sp>
        <p:nvSpPr>
          <p:cNvPr id="7" name="Text 5"/>
          <p:cNvSpPr/>
          <p:nvPr/>
        </p:nvSpPr>
        <p:spPr>
          <a:xfrm>
            <a:off x="487680" y="1828800"/>
            <a:ext cx="5486400" cy="365760"/>
          </a:xfrm>
          <a:prstGeom prst="rect">
            <a:avLst/>
          </a:prstGeom>
          <a:noFill/>
          <a:ln/>
        </p:spPr>
        <p:txBody>
          <a:bodyPr wrap="square" lIns="0" tIns="0" rIns="0" bIns="0" rtlCol="0" anchor="ctr"/>
          <a:lstStyle/>
          <a:p>
            <a:pPr algn="ctr" indent="0" marL="0">
              <a:buNone/>
            </a:pPr>
            <a:r>
              <a:rPr lang="en-US" sz="1200" b="1" spc="150" kern="0" dirty="0">
                <a:solidFill>
                  <a:srgbClr val="7A88A8"/>
                </a:solidFill>
                <a:latin typeface="Calibri" pitchFamily="34" charset="0"/>
                <a:ea typeface="Calibri" pitchFamily="34" charset="-122"/>
                <a:cs typeface="Calibri" pitchFamily="34" charset="-120"/>
              </a:rPr>
              <a:t>INSERT IMAGE</a:t>
            </a:r>
            <a:endParaRPr lang="en-US" sz="1200" dirty="0"/>
          </a:p>
        </p:txBody>
      </p:sp>
      <p:sp>
        <p:nvSpPr>
          <p:cNvPr id="8" name="Text 6"/>
          <p:cNvSpPr/>
          <p:nvPr/>
        </p:nvSpPr>
        <p:spPr>
          <a:xfrm>
            <a:off x="670560" y="2194560"/>
            <a:ext cx="5120640" cy="2563368"/>
          </a:xfrm>
          <a:prstGeom prst="rect">
            <a:avLst/>
          </a:prstGeom>
          <a:noFill/>
          <a:ln/>
        </p:spPr>
        <p:txBody>
          <a:bodyPr wrap="square"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Photo of Rio Grande river flowing through desert landscape, or aerial view of Colorado River and dam</a:t>
            </a:r>
            <a:endParaRPr lang="en-US" sz="1400" dirty="0"/>
          </a:p>
        </p:txBody>
      </p:sp>
      <p:sp>
        <p:nvSpPr>
          <p:cNvPr id="9" name="Shape 7"/>
          <p:cNvSpPr/>
          <p:nvPr/>
        </p:nvSpPr>
        <p:spPr>
          <a:xfrm>
            <a:off x="6339840" y="1828800"/>
            <a:ext cx="5486400" cy="3048000"/>
          </a:xfrm>
          <a:prstGeom prst="roundRect">
            <a:avLst>
              <a:gd name="adj" fmla="val 4800"/>
            </a:avLst>
          </a:prstGeom>
          <a:solidFill>
            <a:srgbClr val="FFFFFF"/>
          </a:solidFill>
          <a:ln/>
          <a:effectLst>
            <a:outerShdw sx="100000" sy="100000" kx="0" ky="0" algn="bl" rotWithShape="0" blurRad="76200" dist="25400" dir="8100000">
              <a:srgbClr val="000000">
                <a:alpha val="10000"/>
              </a:srgbClr>
            </a:outerShdw>
          </a:effectLst>
        </p:spPr>
      </p:sp>
      <p:sp>
        <p:nvSpPr>
          <p:cNvPr id="10" name="Text 8"/>
          <p:cNvSpPr/>
          <p:nvPr/>
        </p:nvSpPr>
        <p:spPr>
          <a:xfrm>
            <a:off x="6583680" y="2011680"/>
            <a:ext cx="4998720" cy="2682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Water is precious -- very little rain</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Rio Grande: forms border between Texas and Mexico</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Colorado River carved the Grand Canyon</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Dams and canals save and share water</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People must plan carefully to have enough water</a:t>
            </a:r>
            <a:endParaRPr lang="en-US" sz="1500" dirty="0"/>
          </a:p>
        </p:txBody>
      </p:sp>
      <p:sp>
        <p:nvSpPr>
          <p:cNvPr id="11" name="Shape 9"/>
          <p:cNvSpPr/>
          <p:nvPr/>
        </p:nvSpPr>
        <p:spPr>
          <a:xfrm>
            <a:off x="487680" y="4511040"/>
            <a:ext cx="11216640" cy="853440"/>
          </a:xfrm>
          <a:prstGeom prst="roundRect">
            <a:avLst>
              <a:gd name="adj" fmla="val 17143"/>
            </a:avLst>
          </a:prstGeom>
          <a:solidFill>
            <a:srgbClr val="EAF8FD"/>
          </a:solidFill>
          <a:ln/>
          <a:effectLst>
            <a:outerShdw sx="100000" sy="100000" kx="0" ky="0" algn="bl" rotWithShape="0" blurRad="76200" dist="25400" dir="8100000">
              <a:srgbClr val="000000">
                <a:alpha val="12000"/>
              </a:srgbClr>
            </a:outerShdw>
          </a:effectLst>
        </p:spPr>
      </p:sp>
      <p:sp>
        <p:nvSpPr>
          <p:cNvPr id="12" name="Text 10"/>
          <p:cNvSpPr/>
          <p:nvPr/>
        </p:nvSpPr>
        <p:spPr>
          <a:xfrm>
            <a:off x="670560" y="4632960"/>
            <a:ext cx="10850880" cy="609600"/>
          </a:xfrm>
          <a:prstGeom prst="rect">
            <a:avLst/>
          </a:prstGeom>
          <a:noFill/>
          <a:ln/>
        </p:spPr>
        <p:txBody>
          <a:bodyPr wrap="square" lIns="0" tIns="0" rIns="0" bIns="0" rtlCol="0" anchor="ctr"/>
          <a:lstStyle/>
          <a:p>
            <a:pPr indent="0" marL="0">
              <a:lnSpc>
                <a:spcPct val="115000"/>
              </a:lnSpc>
              <a:buNone/>
            </a:pPr>
            <a:r>
              <a:rPr lang="en-US" sz="1600" dirty="0">
                <a:solidFill>
                  <a:srgbClr val="0E1C42"/>
                </a:solidFill>
                <a:latin typeface="Calibri" pitchFamily="34" charset="0"/>
                <a:ea typeface="Calibri" pitchFamily="34" charset="-122"/>
                <a:cs typeface="Calibri" pitchFamily="34" charset="-120"/>
              </a:rPr>
              <a:t>In the desert, water is life. Communities build dams to store river water and canals to carry it to farms and cities far away.</a:t>
            </a:r>
            <a:endParaRPr lang="en-US" sz="1600" dirty="0"/>
          </a:p>
        </p:txBody>
      </p:sp>
      <p:sp>
        <p:nvSpPr>
          <p:cNvPr id="13" name="Shape 11"/>
          <p:cNvSpPr/>
          <p:nvPr/>
        </p:nvSpPr>
        <p:spPr>
          <a:xfrm>
            <a:off x="487680" y="5059680"/>
            <a:ext cx="11216640" cy="1158240"/>
          </a:xfrm>
          <a:prstGeom prst="roundRect">
            <a:avLst>
              <a:gd name="adj" fmla="val 15789"/>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734568" y="5178552"/>
            <a:ext cx="10732008" cy="338328"/>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SOCRATIC QUESTIONS</a:t>
            </a:r>
            <a:endParaRPr lang="en-US" sz="1200" dirty="0"/>
          </a:p>
        </p:txBody>
      </p:sp>
      <p:sp>
        <p:nvSpPr>
          <p:cNvPr id="15" name="Text 13"/>
          <p:cNvSpPr/>
          <p:nvPr/>
        </p:nvSpPr>
        <p:spPr>
          <a:xfrm>
            <a:off x="734568" y="5526024"/>
            <a:ext cx="10732008" cy="573024"/>
          </a:xfrm>
          <a:prstGeom prst="rect">
            <a:avLst/>
          </a:prstGeom>
          <a:noFill/>
          <a:ln/>
        </p:spPr>
        <p:txBody>
          <a:bodyPr wrap="square" lIns="0" tIns="0" rIns="0" bIns="0" rtlCol="0" anchor="t"/>
          <a:lstStyle/>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Why would water be more precious here than in the Southeast?</a:t>
            </a:r>
            <a:endParaRPr lang="en-US" sz="1400" dirty="0"/>
          </a:p>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What happens if a river is the only water source for millions of people?</a:t>
            </a:r>
            <a:endParaRPr lang="en-US" sz="1400" dirty="0"/>
          </a:p>
        </p:txBody>
      </p:sp>
      <p:sp>
        <p:nvSpPr>
          <p:cNvPr id="16" name="Text 14"/>
          <p:cNvSpPr/>
          <p:nvPr/>
        </p:nvSpPr>
        <p:spPr>
          <a:xfrm>
            <a:off x="365760" y="6278880"/>
            <a:ext cx="3657600" cy="304800"/>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Optima Academy Online</a:t>
            </a:r>
            <a:endParaRPr lang="en-US" sz="900" dirty="0"/>
          </a:p>
        </p:txBody>
      </p:sp>
      <p:sp>
        <p:nvSpPr>
          <p:cNvPr id="17" name="Text 15"/>
          <p:cNvSpPr/>
          <p:nvPr/>
        </p:nvSpPr>
        <p:spPr>
          <a:xfrm>
            <a:off x="8290560" y="6278880"/>
            <a:ext cx="3413760" cy="30480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Lesson 3.07.05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04800"/>
            <a:ext cx="2926080" cy="463296"/>
          </a:xfrm>
          <a:prstGeom prst="roundRect">
            <a:avLst>
              <a:gd name="adj" fmla="val 19737"/>
            </a:avLst>
          </a:prstGeom>
          <a:solidFill>
            <a:srgbClr val="1A8A7D"/>
          </a:solidFill>
          <a:ln/>
        </p:spPr>
      </p:sp>
      <p:sp>
        <p:nvSpPr>
          <p:cNvPr id="4" name="Text 2"/>
          <p:cNvSpPr/>
          <p:nvPr/>
        </p:nvSpPr>
        <p:spPr>
          <a:xfrm>
            <a:off x="487680" y="304800"/>
            <a:ext cx="2926080" cy="463296"/>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NAME</a:t>
            </a:r>
            <a:endParaRPr lang="en-US" sz="1200" dirty="0"/>
          </a:p>
        </p:txBody>
      </p:sp>
      <p:sp>
        <p:nvSpPr>
          <p:cNvPr id="5" name="Text 3"/>
          <p:cNvSpPr/>
          <p:nvPr/>
        </p:nvSpPr>
        <p:spPr>
          <a:xfrm>
            <a:off x="487680" y="914400"/>
            <a:ext cx="11216640" cy="67056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Southwest Weather</a:t>
            </a:r>
            <a:endParaRPr lang="en-US" sz="2800" dirty="0"/>
          </a:p>
        </p:txBody>
      </p:sp>
      <p:sp>
        <p:nvSpPr>
          <p:cNvPr id="6" name="Shape 4"/>
          <p:cNvSpPr/>
          <p:nvPr/>
        </p:nvSpPr>
        <p:spPr>
          <a:xfrm>
            <a:off x="487680" y="1828800"/>
            <a:ext cx="5242560" cy="3413760"/>
          </a:xfrm>
          <a:prstGeom prst="roundRect">
            <a:avLst>
              <a:gd name="adj" fmla="val 4286"/>
            </a:avLst>
          </a:prstGeom>
          <a:solidFill>
            <a:srgbClr val="FFFFFF"/>
          </a:solidFill>
          <a:ln/>
          <a:effectLst>
            <a:outerShdw sx="100000" sy="100000" kx="0" ky="0" algn="bl" rotWithShape="0" blurRad="76200" dist="25400" dir="8100000">
              <a:srgbClr val="000000">
                <a:alpha val="10000"/>
              </a:srgbClr>
            </a:outerShdw>
          </a:effectLst>
        </p:spPr>
      </p:sp>
      <p:sp>
        <p:nvSpPr>
          <p:cNvPr id="7" name="Text 5"/>
          <p:cNvSpPr/>
          <p:nvPr/>
        </p:nvSpPr>
        <p:spPr>
          <a:xfrm>
            <a:off x="731520" y="1950720"/>
            <a:ext cx="4754880" cy="426720"/>
          </a:xfrm>
          <a:prstGeom prst="rect">
            <a:avLst/>
          </a:prstGeom>
          <a:noFill/>
          <a:ln/>
        </p:spPr>
        <p:txBody>
          <a:bodyPr wrap="square" lIns="0" tIns="0" rIns="0" bIns="0" rtlCol="0" anchor="ctr"/>
          <a:lstStyle/>
          <a:p>
            <a:pPr indent="0" marL="0">
              <a:buNone/>
            </a:pPr>
            <a:r>
              <a:rPr lang="en-US" sz="1400" b="1" dirty="0">
                <a:solidFill>
                  <a:srgbClr val="E8636B"/>
                </a:solidFill>
                <a:latin typeface="Calibri" pitchFamily="34" charset="0"/>
                <a:ea typeface="Calibri" pitchFamily="34" charset="-122"/>
                <a:cs typeface="Calibri" pitchFamily="34" charset="-120"/>
              </a:rPr>
              <a:t>Hot Summers</a:t>
            </a:r>
            <a:endParaRPr lang="en-US" sz="1400" dirty="0"/>
          </a:p>
        </p:txBody>
      </p:sp>
      <p:sp>
        <p:nvSpPr>
          <p:cNvPr id="8" name="Text 6"/>
          <p:cNvSpPr/>
          <p:nvPr/>
        </p:nvSpPr>
        <p:spPr>
          <a:xfrm>
            <a:off x="731520" y="2499360"/>
            <a:ext cx="4754880" cy="1219200"/>
          </a:xfrm>
          <a:prstGeom prst="rect">
            <a:avLst/>
          </a:prstGeom>
          <a:noFill/>
          <a:ln/>
        </p:spPr>
        <p:txBody>
          <a:bodyPr wrap="square" lIns="0" tIns="0" rIns="0" bIns="0" rtlCol="0" anchor="t"/>
          <a:lstStyle/>
          <a:p>
            <a:pPr indent="0" marL="0">
              <a:lnSpc>
                <a:spcPct val="120000"/>
              </a:lnSpc>
              <a:buNone/>
            </a:pPr>
            <a:r>
              <a:rPr lang="en-US" sz="1500" dirty="0">
                <a:solidFill>
                  <a:srgbClr val="0E1C42"/>
                </a:solidFill>
                <a:latin typeface="Calibri" pitchFamily="34" charset="0"/>
                <a:ea typeface="Calibri" pitchFamily="34" charset="-122"/>
                <a:cs typeface="Calibri" pitchFamily="34" charset="-120"/>
              </a:rPr>
              <a:t>Temperatures often soar above 100 degrees Fahrenheit in summer. The sun beats down on open desert with little shade.</a:t>
            </a:r>
            <a:endParaRPr lang="en-US" sz="1500" dirty="0"/>
          </a:p>
        </p:txBody>
      </p:sp>
      <p:sp>
        <p:nvSpPr>
          <p:cNvPr id="9" name="Text 7"/>
          <p:cNvSpPr/>
          <p:nvPr/>
        </p:nvSpPr>
        <p:spPr>
          <a:xfrm>
            <a:off x="731520" y="3718560"/>
            <a:ext cx="4754880" cy="426720"/>
          </a:xfrm>
          <a:prstGeom prst="rect">
            <a:avLst/>
          </a:prstGeom>
          <a:noFill/>
          <a:ln/>
        </p:spPr>
        <p:txBody>
          <a:bodyPr wrap="square" lIns="0" tIns="0" rIns="0" bIns="0" rtlCol="0" anchor="ctr"/>
          <a:lstStyle/>
          <a:p>
            <a:pPr indent="0" marL="0">
              <a:buNone/>
            </a:pPr>
            <a:r>
              <a:rPr lang="en-US" sz="1400" b="1" dirty="0">
                <a:solidFill>
                  <a:srgbClr val="55C8E8"/>
                </a:solidFill>
                <a:latin typeface="Calibri" pitchFamily="34" charset="0"/>
                <a:ea typeface="Calibri" pitchFamily="34" charset="-122"/>
                <a:cs typeface="Calibri" pitchFamily="34" charset="-120"/>
              </a:rPr>
              <a:t>Mild Winters</a:t>
            </a:r>
            <a:endParaRPr lang="en-US" sz="1400" dirty="0"/>
          </a:p>
        </p:txBody>
      </p:sp>
      <p:sp>
        <p:nvSpPr>
          <p:cNvPr id="10" name="Text 8"/>
          <p:cNvSpPr/>
          <p:nvPr/>
        </p:nvSpPr>
        <p:spPr>
          <a:xfrm>
            <a:off x="731520" y="4145280"/>
            <a:ext cx="4754880" cy="853440"/>
          </a:xfrm>
          <a:prstGeom prst="rect">
            <a:avLst/>
          </a:prstGeom>
          <a:noFill/>
          <a:ln/>
        </p:spPr>
        <p:txBody>
          <a:bodyPr wrap="square" lIns="0" tIns="0" rIns="0" bIns="0" rtlCol="0" anchor="t"/>
          <a:lstStyle/>
          <a:p>
            <a:pPr indent="0" marL="0">
              <a:lnSpc>
                <a:spcPct val="120000"/>
              </a:lnSpc>
              <a:buNone/>
            </a:pPr>
            <a:r>
              <a:rPr lang="en-US" sz="1500" dirty="0">
                <a:solidFill>
                  <a:srgbClr val="0E1C42"/>
                </a:solidFill>
                <a:latin typeface="Calibri" pitchFamily="34" charset="0"/>
                <a:ea typeface="Calibri" pitchFamily="34" charset="-122"/>
                <a:cs typeface="Calibri" pitchFamily="34" charset="-120"/>
              </a:rPr>
              <a:t>Winters are mild and sunny. Many people visit in winter to escape cold weather elsewhere.</a:t>
            </a:r>
            <a:endParaRPr lang="en-US" sz="1500" dirty="0"/>
          </a:p>
        </p:txBody>
      </p:sp>
      <p:sp>
        <p:nvSpPr>
          <p:cNvPr id="11" name="Shape 9"/>
          <p:cNvSpPr/>
          <p:nvPr/>
        </p:nvSpPr>
        <p:spPr>
          <a:xfrm>
            <a:off x="6096000" y="1828800"/>
            <a:ext cx="5730240" cy="3413760"/>
          </a:xfrm>
          <a:prstGeom prst="roundRect">
            <a:avLst>
              <a:gd name="adj" fmla="val 4286"/>
            </a:avLst>
          </a:prstGeom>
          <a:solidFill>
            <a:srgbClr val="FFF3DC"/>
          </a:solidFill>
          <a:ln/>
          <a:effectLst>
            <a:outerShdw sx="100000" sy="100000" kx="0" ky="0" algn="bl" rotWithShape="0" blurRad="76200" dist="25400" dir="8100000">
              <a:srgbClr val="000000">
                <a:alpha val="10000"/>
              </a:srgbClr>
            </a:outerShdw>
          </a:effectLst>
        </p:spPr>
      </p:sp>
      <p:sp>
        <p:nvSpPr>
          <p:cNvPr id="12" name="Text 10"/>
          <p:cNvSpPr/>
          <p:nvPr/>
        </p:nvSpPr>
        <p:spPr>
          <a:xfrm>
            <a:off x="6339840" y="1950720"/>
            <a:ext cx="5242560" cy="426720"/>
          </a:xfrm>
          <a:prstGeom prst="rect">
            <a:avLst/>
          </a:prstGeom>
          <a:noFill/>
          <a:ln/>
        </p:spPr>
        <p:txBody>
          <a:bodyPr wrap="square" lIns="0" tIns="0" rIns="0" bIns="0" rtlCol="0" anchor="ctr"/>
          <a:lstStyle/>
          <a:p>
            <a:pPr indent="0" marL="0">
              <a:buNone/>
            </a:pPr>
            <a:r>
              <a:rPr lang="en-US" sz="1400" b="1" dirty="0">
                <a:solidFill>
                  <a:srgbClr val="E8636B"/>
                </a:solidFill>
                <a:latin typeface="Calibri" pitchFamily="34" charset="0"/>
                <a:ea typeface="Calibri" pitchFamily="34" charset="-122"/>
                <a:cs typeface="Calibri" pitchFamily="34" charset="-120"/>
              </a:rPr>
              <a:t>Watch Out: Flash Floods!</a:t>
            </a:r>
            <a:endParaRPr lang="en-US" sz="1400" dirty="0"/>
          </a:p>
        </p:txBody>
      </p:sp>
      <p:sp>
        <p:nvSpPr>
          <p:cNvPr id="13" name="Text 11"/>
          <p:cNvSpPr/>
          <p:nvPr/>
        </p:nvSpPr>
        <p:spPr>
          <a:xfrm>
            <a:off x="6339840" y="2560320"/>
            <a:ext cx="5242560" cy="2438400"/>
          </a:xfrm>
          <a:prstGeom prst="rect">
            <a:avLst/>
          </a:prstGeom>
          <a:noFill/>
          <a:ln/>
        </p:spPr>
        <p:txBody>
          <a:bodyPr wrap="square" lIns="0" tIns="0" rIns="0" bIns="0" rtlCol="0" anchor="t"/>
          <a:lstStyle/>
          <a:p>
            <a:pPr indent="0" marL="0">
              <a:lnSpc>
                <a:spcPct val="120000"/>
              </a:lnSpc>
              <a:buNone/>
            </a:pPr>
            <a:r>
              <a:rPr lang="en-US" sz="1500" dirty="0">
                <a:solidFill>
                  <a:srgbClr val="0E1C42"/>
                </a:solidFill>
                <a:latin typeface="Calibri" pitchFamily="34" charset="0"/>
                <a:ea typeface="Calibri" pitchFamily="34" charset="-122"/>
                <a:cs typeface="Calibri" pitchFamily="34" charset="-120"/>
              </a:rPr>
              <a:t>Rain is rare, but when it comes it can be sudden and heavy. Dry creek beds fill with rushing water in minutes. These flash floods can be dangerous because the hard, dry ground cannot absorb water quickly.</a:t>
            </a:r>
            <a:endParaRPr lang="en-US" sz="1500" dirty="0"/>
          </a:p>
        </p:txBody>
      </p:sp>
      <p:sp>
        <p:nvSpPr>
          <p:cNvPr id="14" name="Shape 12"/>
          <p:cNvSpPr/>
          <p:nvPr/>
        </p:nvSpPr>
        <p:spPr>
          <a:xfrm>
            <a:off x="487680" y="4998720"/>
            <a:ext cx="11216640" cy="1219200"/>
          </a:xfrm>
          <a:prstGeom prst="roundRect">
            <a:avLst>
              <a:gd name="adj" fmla="val 15000"/>
            </a:avLst>
          </a:prstGeom>
          <a:solidFill>
            <a:srgbClr val="1A2D5A"/>
          </a:solidFill>
          <a:ln/>
          <a:effectLst>
            <a:outerShdw sx="100000" sy="100000" kx="0" ky="0" algn="bl" rotWithShape="0" blurRad="101600" dist="38100" dir="8100000">
              <a:srgbClr val="000000">
                <a:alpha val="20000"/>
              </a:srgbClr>
            </a:outerShdw>
          </a:effectLst>
        </p:spPr>
      </p:sp>
      <p:sp>
        <p:nvSpPr>
          <p:cNvPr id="15" name="Text 13"/>
          <p:cNvSpPr/>
          <p:nvPr/>
        </p:nvSpPr>
        <p:spPr>
          <a:xfrm>
            <a:off x="734568" y="5117592"/>
            <a:ext cx="10732008" cy="338328"/>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SOCRATIC QUESTIONS</a:t>
            </a:r>
            <a:endParaRPr lang="en-US" sz="1200" dirty="0"/>
          </a:p>
        </p:txBody>
      </p:sp>
      <p:sp>
        <p:nvSpPr>
          <p:cNvPr id="16" name="Text 14"/>
          <p:cNvSpPr/>
          <p:nvPr/>
        </p:nvSpPr>
        <p:spPr>
          <a:xfrm>
            <a:off x="734568" y="5465064"/>
            <a:ext cx="10732008" cy="633984"/>
          </a:xfrm>
          <a:prstGeom prst="rect">
            <a:avLst/>
          </a:prstGeom>
          <a:noFill/>
          <a:ln/>
        </p:spPr>
        <p:txBody>
          <a:bodyPr wrap="square" lIns="0" tIns="0" rIns="0" bIns="0" rtlCol="0" anchor="t"/>
          <a:lstStyle/>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How is Southwest weather different from the Midwest or Northeast?</a:t>
            </a:r>
            <a:endParaRPr lang="en-US" sz="1400" dirty="0"/>
          </a:p>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Why would flash floods happen in a place that hardly ever rains?</a:t>
            </a:r>
            <a:endParaRPr lang="en-US" sz="1400" dirty="0"/>
          </a:p>
        </p:txBody>
      </p:sp>
      <p:sp>
        <p:nvSpPr>
          <p:cNvPr id="17" name="Text 15"/>
          <p:cNvSpPr/>
          <p:nvPr/>
        </p:nvSpPr>
        <p:spPr>
          <a:xfrm>
            <a:off x="365760" y="6278880"/>
            <a:ext cx="3657600" cy="304800"/>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Optima Academy Online</a:t>
            </a:r>
            <a:endParaRPr lang="en-US" sz="900" dirty="0"/>
          </a:p>
        </p:txBody>
      </p:sp>
      <p:sp>
        <p:nvSpPr>
          <p:cNvPr id="18" name="Text 16"/>
          <p:cNvSpPr/>
          <p:nvPr/>
        </p:nvSpPr>
        <p:spPr>
          <a:xfrm>
            <a:off x="8290560" y="6278880"/>
            <a:ext cx="3413760" cy="30480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Lesson 3.07.05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04800"/>
            <a:ext cx="2926080" cy="463296"/>
          </a:xfrm>
          <a:prstGeom prst="roundRect">
            <a:avLst>
              <a:gd name="adj" fmla="val 19737"/>
            </a:avLst>
          </a:prstGeom>
          <a:solidFill>
            <a:srgbClr val="1A8A7D"/>
          </a:solidFill>
          <a:ln/>
        </p:spPr>
      </p:sp>
      <p:sp>
        <p:nvSpPr>
          <p:cNvPr id="4" name="Text 2"/>
          <p:cNvSpPr/>
          <p:nvPr/>
        </p:nvSpPr>
        <p:spPr>
          <a:xfrm>
            <a:off x="487680" y="304800"/>
            <a:ext cx="2926080" cy="463296"/>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NAME</a:t>
            </a:r>
            <a:endParaRPr lang="en-US" sz="1200" dirty="0"/>
          </a:p>
        </p:txBody>
      </p:sp>
      <p:sp>
        <p:nvSpPr>
          <p:cNvPr id="5" name="Text 3"/>
          <p:cNvSpPr/>
          <p:nvPr/>
        </p:nvSpPr>
        <p:spPr>
          <a:xfrm>
            <a:off x="487680" y="914400"/>
            <a:ext cx="11216640" cy="67056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People of the Southwest: Native Nations</a:t>
            </a:r>
            <a:endParaRPr lang="en-US" sz="2800" dirty="0"/>
          </a:p>
        </p:txBody>
      </p:sp>
      <p:sp>
        <p:nvSpPr>
          <p:cNvPr id="6" name="Shape 4"/>
          <p:cNvSpPr/>
          <p:nvPr/>
        </p:nvSpPr>
        <p:spPr>
          <a:xfrm>
            <a:off x="487680" y="1828800"/>
            <a:ext cx="5486400" cy="3413760"/>
          </a:xfrm>
          <a:prstGeom prst="roundRect">
            <a:avLst>
              <a:gd name="adj" fmla="val 4286"/>
            </a:avLst>
          </a:prstGeom>
          <a:solidFill>
            <a:srgbClr val="E2E8F4"/>
          </a:solidFill>
          <a:ln w="19050">
            <a:solidFill>
              <a:srgbClr val="B0B8CC"/>
            </a:solidFill>
            <a:prstDash val="dash"/>
          </a:ln>
        </p:spPr>
      </p:sp>
      <p:sp>
        <p:nvSpPr>
          <p:cNvPr id="7" name="Text 5"/>
          <p:cNvSpPr/>
          <p:nvPr/>
        </p:nvSpPr>
        <p:spPr>
          <a:xfrm>
            <a:off x="487680" y="1828800"/>
            <a:ext cx="5486400" cy="365760"/>
          </a:xfrm>
          <a:prstGeom prst="rect">
            <a:avLst/>
          </a:prstGeom>
          <a:noFill/>
          <a:ln/>
        </p:spPr>
        <p:txBody>
          <a:bodyPr wrap="square" lIns="0" tIns="0" rIns="0" bIns="0" rtlCol="0" anchor="ctr"/>
          <a:lstStyle/>
          <a:p>
            <a:pPr algn="ctr" indent="0" marL="0">
              <a:buNone/>
            </a:pPr>
            <a:r>
              <a:rPr lang="en-US" sz="1200" b="1" spc="150" kern="0" dirty="0">
                <a:solidFill>
                  <a:srgbClr val="7A88A8"/>
                </a:solidFill>
                <a:latin typeface="Calibri" pitchFamily="34" charset="0"/>
                <a:ea typeface="Calibri" pitchFamily="34" charset="-122"/>
                <a:cs typeface="Calibri" pitchFamily="34" charset="-120"/>
              </a:rPr>
              <a:t>INSERT IMAGE</a:t>
            </a:r>
            <a:endParaRPr lang="en-US" sz="1200" dirty="0"/>
          </a:p>
        </p:txBody>
      </p:sp>
      <p:sp>
        <p:nvSpPr>
          <p:cNvPr id="8" name="Text 6"/>
          <p:cNvSpPr/>
          <p:nvPr/>
        </p:nvSpPr>
        <p:spPr>
          <a:xfrm>
            <a:off x="670560" y="2194560"/>
            <a:ext cx="5120640" cy="2929128"/>
          </a:xfrm>
          <a:prstGeom prst="rect">
            <a:avLst/>
          </a:prstGeom>
          <a:noFill/>
          <a:ln/>
        </p:spPr>
        <p:txBody>
          <a:bodyPr wrap="square"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Photo of adobe pueblo village or traditional Southwest Native American architecture</a:t>
            </a:r>
            <a:endParaRPr lang="en-US" sz="1400" dirty="0"/>
          </a:p>
        </p:txBody>
      </p:sp>
      <p:sp>
        <p:nvSpPr>
          <p:cNvPr id="9" name="Shape 7"/>
          <p:cNvSpPr/>
          <p:nvPr/>
        </p:nvSpPr>
        <p:spPr>
          <a:xfrm>
            <a:off x="6339840" y="1828800"/>
            <a:ext cx="5486400" cy="3413760"/>
          </a:xfrm>
          <a:prstGeom prst="roundRect">
            <a:avLst>
              <a:gd name="adj" fmla="val 4286"/>
            </a:avLst>
          </a:prstGeom>
          <a:solidFill>
            <a:srgbClr val="FFFFFF"/>
          </a:solidFill>
          <a:ln/>
          <a:effectLst>
            <a:outerShdw sx="100000" sy="100000" kx="0" ky="0" algn="bl" rotWithShape="0" blurRad="76200" dist="25400" dir="8100000">
              <a:srgbClr val="000000">
                <a:alpha val="10000"/>
              </a:srgbClr>
            </a:outerShdw>
          </a:effectLst>
        </p:spPr>
      </p:sp>
      <p:sp>
        <p:nvSpPr>
          <p:cNvPr id="10" name="Text 8"/>
          <p:cNvSpPr/>
          <p:nvPr/>
        </p:nvSpPr>
        <p:spPr>
          <a:xfrm>
            <a:off x="6583680" y="2011680"/>
            <a:ext cx="4998720" cy="3048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Pueblo, Navajo, Hopi, and other Native nations have lived here for thousands of years</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Pueblo families built adobe villages from mud bricks</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Adobe stays cool in summer heat and warm in winter cold</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These nations named the mesas, canyons, and rivers long before European explorers arrived</a:t>
            </a:r>
            <a:endParaRPr lang="en-US" sz="1500" dirty="0"/>
          </a:p>
        </p:txBody>
      </p:sp>
      <p:sp>
        <p:nvSpPr>
          <p:cNvPr id="11" name="Shape 9"/>
          <p:cNvSpPr/>
          <p:nvPr/>
        </p:nvSpPr>
        <p:spPr>
          <a:xfrm>
            <a:off x="487680" y="4876800"/>
            <a:ext cx="11216640" cy="792480"/>
          </a:xfrm>
          <a:prstGeom prst="roundRect">
            <a:avLst>
              <a:gd name="adj" fmla="val 18462"/>
            </a:avLst>
          </a:prstGeom>
          <a:solidFill>
            <a:srgbClr val="E3F8ED"/>
          </a:solidFill>
          <a:ln/>
          <a:effectLst>
            <a:outerShdw sx="100000" sy="100000" kx="0" ky="0" algn="bl" rotWithShape="0" blurRad="76200" dist="25400" dir="8100000">
              <a:srgbClr val="000000">
                <a:alpha val="12000"/>
              </a:srgbClr>
            </a:outerShdw>
          </a:effectLst>
        </p:spPr>
      </p:sp>
      <p:sp>
        <p:nvSpPr>
          <p:cNvPr id="12" name="Text 10"/>
          <p:cNvSpPr/>
          <p:nvPr/>
        </p:nvSpPr>
        <p:spPr>
          <a:xfrm>
            <a:off x="670560" y="4998720"/>
            <a:ext cx="10850880" cy="548640"/>
          </a:xfrm>
          <a:prstGeom prst="rect">
            <a:avLst/>
          </a:prstGeom>
          <a:noFill/>
          <a:ln/>
        </p:spPr>
        <p:txBody>
          <a:bodyPr wrap="square" lIns="0" tIns="0" rIns="0" bIns="0" rtlCol="0" anchor="ctr"/>
          <a:lstStyle/>
          <a:p>
            <a:pPr indent="0" marL="0">
              <a:lnSpc>
                <a:spcPct val="115000"/>
              </a:lnSpc>
              <a:buNone/>
            </a:pPr>
            <a:r>
              <a:rPr lang="en-US" sz="1600" dirty="0">
                <a:solidFill>
                  <a:srgbClr val="0E1C42"/>
                </a:solidFill>
                <a:latin typeface="Calibri" pitchFamily="34" charset="0"/>
                <a:ea typeface="Calibri" pitchFamily="34" charset="-122"/>
                <a:cs typeface="Calibri" pitchFamily="34" charset="-120"/>
              </a:rPr>
              <a:t>Adobe is made from sun-dried mud and straw. Some pueblo buildings have stood for over 1,000 years -- older than most castles in Europe!</a:t>
            </a:r>
            <a:endParaRPr lang="en-US" sz="1600" dirty="0"/>
          </a:p>
        </p:txBody>
      </p:sp>
      <p:sp>
        <p:nvSpPr>
          <p:cNvPr id="13" name="Text 11"/>
          <p:cNvSpPr/>
          <p:nvPr/>
        </p:nvSpPr>
        <p:spPr>
          <a:xfrm>
            <a:off x="365760" y="6278880"/>
            <a:ext cx="3657600" cy="304800"/>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Optima Academy Online</a:t>
            </a:r>
            <a:endParaRPr lang="en-US" sz="900" dirty="0"/>
          </a:p>
        </p:txBody>
      </p:sp>
      <p:sp>
        <p:nvSpPr>
          <p:cNvPr id="14" name="Text 12"/>
          <p:cNvSpPr/>
          <p:nvPr/>
        </p:nvSpPr>
        <p:spPr>
          <a:xfrm>
            <a:off x="8290560" y="6278880"/>
            <a:ext cx="3413760" cy="30480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Lesson 3.07.05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04800"/>
            <a:ext cx="2926080" cy="463296"/>
          </a:xfrm>
          <a:prstGeom prst="roundRect">
            <a:avLst>
              <a:gd name="adj" fmla="val 19737"/>
            </a:avLst>
          </a:prstGeom>
          <a:solidFill>
            <a:srgbClr val="1A8A7D"/>
          </a:solidFill>
          <a:ln/>
        </p:spPr>
      </p:sp>
      <p:sp>
        <p:nvSpPr>
          <p:cNvPr id="4" name="Text 2"/>
          <p:cNvSpPr/>
          <p:nvPr/>
        </p:nvSpPr>
        <p:spPr>
          <a:xfrm>
            <a:off x="487680" y="304800"/>
            <a:ext cx="2926080" cy="463296"/>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NAME</a:t>
            </a:r>
            <a:endParaRPr lang="en-US" sz="1200" dirty="0"/>
          </a:p>
        </p:txBody>
      </p:sp>
      <p:sp>
        <p:nvSpPr>
          <p:cNvPr id="5" name="Text 3"/>
          <p:cNvSpPr/>
          <p:nvPr/>
        </p:nvSpPr>
        <p:spPr>
          <a:xfrm>
            <a:off x="487680" y="914400"/>
            <a:ext cx="11216640" cy="67056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Communities and Work</a:t>
            </a:r>
            <a:endParaRPr lang="en-US" sz="2800" dirty="0"/>
          </a:p>
        </p:txBody>
      </p:sp>
      <p:sp>
        <p:nvSpPr>
          <p:cNvPr id="6" name="Shape 4"/>
          <p:cNvSpPr/>
          <p:nvPr/>
        </p:nvSpPr>
        <p:spPr>
          <a:xfrm>
            <a:off x="487680" y="1828800"/>
            <a:ext cx="5486400" cy="3048000"/>
          </a:xfrm>
          <a:prstGeom prst="roundRect">
            <a:avLst>
              <a:gd name="adj" fmla="val 4800"/>
            </a:avLst>
          </a:prstGeom>
          <a:solidFill>
            <a:srgbClr val="E2E8F4"/>
          </a:solidFill>
          <a:ln w="19050">
            <a:solidFill>
              <a:srgbClr val="B0B8CC"/>
            </a:solidFill>
            <a:prstDash val="dash"/>
          </a:ln>
        </p:spPr>
      </p:sp>
      <p:sp>
        <p:nvSpPr>
          <p:cNvPr id="7" name="Text 5"/>
          <p:cNvSpPr/>
          <p:nvPr/>
        </p:nvSpPr>
        <p:spPr>
          <a:xfrm>
            <a:off x="487680" y="1828800"/>
            <a:ext cx="5486400" cy="365760"/>
          </a:xfrm>
          <a:prstGeom prst="rect">
            <a:avLst/>
          </a:prstGeom>
          <a:noFill/>
          <a:ln/>
        </p:spPr>
        <p:txBody>
          <a:bodyPr wrap="square" lIns="0" tIns="0" rIns="0" bIns="0" rtlCol="0" anchor="ctr"/>
          <a:lstStyle/>
          <a:p>
            <a:pPr algn="ctr" indent="0" marL="0">
              <a:buNone/>
            </a:pPr>
            <a:r>
              <a:rPr lang="en-US" sz="1200" b="1" spc="150" kern="0" dirty="0">
                <a:solidFill>
                  <a:srgbClr val="7A88A8"/>
                </a:solidFill>
                <a:latin typeface="Calibri" pitchFamily="34" charset="0"/>
                <a:ea typeface="Calibri" pitchFamily="34" charset="-122"/>
                <a:cs typeface="Calibri" pitchFamily="34" charset="-120"/>
              </a:rPr>
              <a:t>INSERT IMAGE</a:t>
            </a:r>
            <a:endParaRPr lang="en-US" sz="1200" dirty="0"/>
          </a:p>
        </p:txBody>
      </p:sp>
      <p:sp>
        <p:nvSpPr>
          <p:cNvPr id="8" name="Text 6"/>
          <p:cNvSpPr/>
          <p:nvPr/>
        </p:nvSpPr>
        <p:spPr>
          <a:xfrm>
            <a:off x="670560" y="2194560"/>
            <a:ext cx="5120640" cy="2563368"/>
          </a:xfrm>
          <a:prstGeom prst="rect">
            <a:avLst/>
          </a:prstGeom>
          <a:noFill/>
          <a:ln/>
        </p:spPr>
        <p:txBody>
          <a:bodyPr wrap="square"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Photo collage: Texas cattle ranch, oil derricks, Grand Canyon tourists, Southwest farming</a:t>
            </a:r>
            <a:endParaRPr lang="en-US" sz="1400" dirty="0"/>
          </a:p>
        </p:txBody>
      </p:sp>
      <p:sp>
        <p:nvSpPr>
          <p:cNvPr id="9" name="Shape 7"/>
          <p:cNvSpPr/>
          <p:nvPr/>
        </p:nvSpPr>
        <p:spPr>
          <a:xfrm>
            <a:off x="6339840" y="1828800"/>
            <a:ext cx="5486400" cy="3048000"/>
          </a:xfrm>
          <a:prstGeom prst="roundRect">
            <a:avLst>
              <a:gd name="adj" fmla="val 4800"/>
            </a:avLst>
          </a:prstGeom>
          <a:solidFill>
            <a:srgbClr val="FFFFFF"/>
          </a:solidFill>
          <a:ln/>
          <a:effectLst>
            <a:outerShdw sx="100000" sy="100000" kx="0" ky="0" algn="bl" rotWithShape="0" blurRad="76200" dist="25400" dir="8100000">
              <a:srgbClr val="000000">
                <a:alpha val="10000"/>
              </a:srgbClr>
            </a:outerShdw>
          </a:effectLst>
        </p:spPr>
      </p:sp>
      <p:sp>
        <p:nvSpPr>
          <p:cNvPr id="10" name="Text 8"/>
          <p:cNvSpPr/>
          <p:nvPr/>
        </p:nvSpPr>
        <p:spPr>
          <a:xfrm>
            <a:off x="6583680" y="2011680"/>
            <a:ext cx="4998720" cy="2682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Mexican-American families have lived here for generations</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Cattle ranching -- especially in Texas</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Oil and natural gas production</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Cotton farming in irrigated fields</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Tourism -- millions visit the Grand Canyon every year</a:t>
            </a:r>
            <a:endParaRPr lang="en-US" sz="1500" dirty="0"/>
          </a:p>
        </p:txBody>
      </p:sp>
      <p:sp>
        <p:nvSpPr>
          <p:cNvPr id="11" name="Shape 9"/>
          <p:cNvSpPr/>
          <p:nvPr/>
        </p:nvSpPr>
        <p:spPr>
          <a:xfrm>
            <a:off x="487680" y="4572000"/>
            <a:ext cx="11216640" cy="792480"/>
          </a:xfrm>
          <a:prstGeom prst="roundRect">
            <a:avLst>
              <a:gd name="adj" fmla="val 18462"/>
            </a:avLst>
          </a:prstGeom>
          <a:solidFill>
            <a:srgbClr val="F0E8FF"/>
          </a:solidFill>
          <a:ln/>
          <a:effectLst>
            <a:outerShdw sx="100000" sy="100000" kx="0" ky="0" algn="bl" rotWithShape="0" blurRad="76200" dist="25400" dir="8100000">
              <a:srgbClr val="000000">
                <a:alpha val="12000"/>
              </a:srgbClr>
            </a:outerShdw>
          </a:effectLst>
        </p:spPr>
      </p:sp>
      <p:sp>
        <p:nvSpPr>
          <p:cNvPr id="12" name="Text 10"/>
          <p:cNvSpPr/>
          <p:nvPr/>
        </p:nvSpPr>
        <p:spPr>
          <a:xfrm>
            <a:off x="670560" y="4693920"/>
            <a:ext cx="10850880" cy="548640"/>
          </a:xfrm>
          <a:prstGeom prst="rect">
            <a:avLst/>
          </a:prstGeom>
          <a:noFill/>
          <a:ln/>
        </p:spPr>
        <p:txBody>
          <a:bodyPr wrap="square" lIns="0" tIns="0" rIns="0" bIns="0" rtlCol="0" anchor="ctr"/>
          <a:lstStyle/>
          <a:p>
            <a:pPr indent="0" marL="0">
              <a:lnSpc>
                <a:spcPct val="115000"/>
              </a:lnSpc>
              <a:buNone/>
            </a:pPr>
            <a:r>
              <a:rPr lang="en-US" sz="1600" dirty="0">
                <a:solidFill>
                  <a:srgbClr val="0E1C42"/>
                </a:solidFill>
                <a:latin typeface="Calibri" pitchFamily="34" charset="0"/>
                <a:ea typeface="Calibri" pitchFamily="34" charset="-122"/>
                <a:cs typeface="Calibri" pitchFamily="34" charset="-120"/>
              </a:rPr>
              <a:t>The Southwest blends Native, Mexican, and American traditions in food, architecture, art, and language -- a culture unlike any other U.S. region.</a:t>
            </a:r>
            <a:endParaRPr lang="en-US" sz="1600" dirty="0"/>
          </a:p>
        </p:txBody>
      </p:sp>
      <p:sp>
        <p:nvSpPr>
          <p:cNvPr id="13" name="Shape 11"/>
          <p:cNvSpPr/>
          <p:nvPr/>
        </p:nvSpPr>
        <p:spPr>
          <a:xfrm>
            <a:off x="487680" y="5059680"/>
            <a:ext cx="11216640" cy="1158240"/>
          </a:xfrm>
          <a:prstGeom prst="roundRect">
            <a:avLst>
              <a:gd name="adj" fmla="val 15789"/>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734568" y="5178552"/>
            <a:ext cx="10732008" cy="338328"/>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SOCRATIC QUESTIONS</a:t>
            </a:r>
            <a:endParaRPr lang="en-US" sz="1200" dirty="0"/>
          </a:p>
        </p:txBody>
      </p:sp>
      <p:sp>
        <p:nvSpPr>
          <p:cNvPr id="15" name="Text 13"/>
          <p:cNvSpPr/>
          <p:nvPr/>
        </p:nvSpPr>
        <p:spPr>
          <a:xfrm>
            <a:off x="734568" y="5526024"/>
            <a:ext cx="10732008" cy="573024"/>
          </a:xfrm>
          <a:prstGeom prst="rect">
            <a:avLst/>
          </a:prstGeom>
          <a:noFill/>
          <a:ln/>
        </p:spPr>
        <p:txBody>
          <a:bodyPr wrap="square" lIns="0" tIns="0" rIns="0" bIns="0" rtlCol="0" anchor="t"/>
          <a:lstStyle/>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How do the land and weather shape the kinds of work people do here?</a:t>
            </a:r>
            <a:endParaRPr lang="en-US" sz="1400" dirty="0"/>
          </a:p>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What would it be like to grow up where three cultures blend together?</a:t>
            </a:r>
            <a:endParaRPr lang="en-US" sz="1400" dirty="0"/>
          </a:p>
        </p:txBody>
      </p:sp>
      <p:sp>
        <p:nvSpPr>
          <p:cNvPr id="16" name="Text 14"/>
          <p:cNvSpPr/>
          <p:nvPr/>
        </p:nvSpPr>
        <p:spPr>
          <a:xfrm>
            <a:off x="365760" y="6278880"/>
            <a:ext cx="3657600" cy="304800"/>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Optima Academy Online</a:t>
            </a:r>
            <a:endParaRPr lang="en-US" sz="900" dirty="0"/>
          </a:p>
        </p:txBody>
      </p:sp>
      <p:sp>
        <p:nvSpPr>
          <p:cNvPr id="17" name="Text 15"/>
          <p:cNvSpPr/>
          <p:nvPr/>
        </p:nvSpPr>
        <p:spPr>
          <a:xfrm>
            <a:off x="8290560" y="6278880"/>
            <a:ext cx="3413760" cy="30480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Lesson 3.07.05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04800"/>
            <a:ext cx="2926080" cy="463296"/>
          </a:xfrm>
          <a:prstGeom prst="roundRect">
            <a:avLst>
              <a:gd name="adj" fmla="val 19737"/>
            </a:avLst>
          </a:prstGeom>
          <a:solidFill>
            <a:srgbClr val="55C8E8"/>
          </a:solidFill>
          <a:ln/>
        </p:spPr>
      </p:sp>
      <p:sp>
        <p:nvSpPr>
          <p:cNvPr id="4" name="Text 2"/>
          <p:cNvSpPr/>
          <p:nvPr/>
        </p:nvSpPr>
        <p:spPr>
          <a:xfrm>
            <a:off x="487680" y="304800"/>
            <a:ext cx="2926080" cy="463296"/>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MAP QUEST</a:t>
            </a:r>
            <a:endParaRPr lang="en-US" sz="1200" dirty="0"/>
          </a:p>
        </p:txBody>
      </p:sp>
      <p:sp>
        <p:nvSpPr>
          <p:cNvPr id="5" name="Text 3"/>
          <p:cNvSpPr/>
          <p:nvPr/>
        </p:nvSpPr>
        <p:spPr>
          <a:xfrm>
            <a:off x="487680" y="914400"/>
            <a:ext cx="11216640" cy="67056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Southwest Feature Match</a:t>
            </a:r>
            <a:endParaRPr lang="en-US" sz="2800" dirty="0"/>
          </a:p>
        </p:txBody>
      </p:sp>
      <p:sp>
        <p:nvSpPr>
          <p:cNvPr id="6" name="Shape 4"/>
          <p:cNvSpPr/>
          <p:nvPr/>
        </p:nvSpPr>
        <p:spPr>
          <a:xfrm>
            <a:off x="487680" y="1828800"/>
            <a:ext cx="5364480" cy="4267200"/>
          </a:xfrm>
          <a:prstGeom prst="roundRect">
            <a:avLst>
              <a:gd name="adj" fmla="val 3429"/>
            </a:avLst>
          </a:prstGeom>
          <a:solidFill>
            <a:srgbClr val="FFFFFF"/>
          </a:solidFill>
          <a:ln/>
          <a:effectLst>
            <a:outerShdw sx="100000" sy="100000" kx="0" ky="0" algn="bl" rotWithShape="0" blurRad="76200" dist="25400" dir="8100000">
              <a:srgbClr val="000000">
                <a:alpha val="10000"/>
              </a:srgbClr>
            </a:outerShdw>
          </a:effectLst>
        </p:spPr>
      </p:sp>
      <p:sp>
        <p:nvSpPr>
          <p:cNvPr id="7" name="Text 5"/>
          <p:cNvSpPr/>
          <p:nvPr/>
        </p:nvSpPr>
        <p:spPr>
          <a:xfrm>
            <a:off x="731520" y="1950720"/>
            <a:ext cx="4876800" cy="42672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Match the feature to the state:</a:t>
            </a:r>
            <a:endParaRPr lang="en-US" sz="1400" dirty="0"/>
          </a:p>
        </p:txBody>
      </p:sp>
      <p:sp>
        <p:nvSpPr>
          <p:cNvPr id="8" name="Text 6"/>
          <p:cNvSpPr/>
          <p:nvPr/>
        </p:nvSpPr>
        <p:spPr>
          <a:xfrm>
            <a:off x="731520" y="2560320"/>
            <a:ext cx="4876800" cy="30480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0E1C42"/>
                </a:solidFill>
                <a:latin typeface="Calibri" pitchFamily="34" charset="0"/>
                <a:ea typeface="Calibri" pitchFamily="34" charset="-122"/>
                <a:cs typeface="Calibri" pitchFamily="34" charset="-120"/>
              </a:rPr>
              <a:t>1. Grand Canyon  --&gt;  ___</a:t>
            </a:r>
            <a:endParaRPr lang="en-US" sz="1600" dirty="0"/>
          </a:p>
          <a:p>
            <a:pPr marL="342900" indent="-342900">
              <a:spcAft>
                <a:spcPts val="600"/>
              </a:spcAft>
              <a:buSzPct val="100000"/>
              <a:buChar char="•"/>
            </a:pPr>
            <a:r>
              <a:rPr lang="en-US" sz="1600" dirty="0">
                <a:solidFill>
                  <a:srgbClr val="0E1C42"/>
                </a:solidFill>
                <a:latin typeface="Calibri" pitchFamily="34" charset="0"/>
                <a:ea typeface="Calibri" pitchFamily="34" charset="-122"/>
                <a:cs typeface="Calibri" pitchFamily="34" charset="-120"/>
              </a:rPr>
              <a:t>2. Rio Grande border  --&gt;  ___</a:t>
            </a:r>
            <a:endParaRPr lang="en-US" sz="1600" dirty="0"/>
          </a:p>
          <a:p>
            <a:pPr marL="342900" indent="-342900">
              <a:spcAft>
                <a:spcPts val="600"/>
              </a:spcAft>
              <a:buSzPct val="100000"/>
              <a:buChar char="•"/>
            </a:pPr>
            <a:r>
              <a:rPr lang="en-US" sz="1600" dirty="0">
                <a:solidFill>
                  <a:srgbClr val="0E1C42"/>
                </a:solidFill>
                <a:latin typeface="Calibri" pitchFamily="34" charset="0"/>
                <a:ea typeface="Calibri" pitchFamily="34" charset="-122"/>
                <a:cs typeface="Calibri" pitchFamily="34" charset="-120"/>
              </a:rPr>
              <a:t>3. Sonoran Desert  --&gt;  ___</a:t>
            </a:r>
            <a:endParaRPr lang="en-US" sz="1600" dirty="0"/>
          </a:p>
          <a:p>
            <a:pPr marL="342900" indent="-342900">
              <a:spcAft>
                <a:spcPts val="600"/>
              </a:spcAft>
              <a:buSzPct val="100000"/>
              <a:buChar char="•"/>
            </a:pPr>
            <a:r>
              <a:rPr lang="en-US" sz="1600" dirty="0">
                <a:solidFill>
                  <a:srgbClr val="0E1C42"/>
                </a:solidFill>
                <a:latin typeface="Calibri" pitchFamily="34" charset="0"/>
                <a:ea typeface="Calibri" pitchFamily="34" charset="-122"/>
                <a:cs typeface="Calibri" pitchFamily="34" charset="-120"/>
              </a:rPr>
              <a:t>4. Cattle ranching capital  --&gt;  ___</a:t>
            </a:r>
            <a:endParaRPr lang="en-US" sz="1600" dirty="0"/>
          </a:p>
          <a:p>
            <a:pPr marL="342900" indent="-342900">
              <a:spcAft>
                <a:spcPts val="600"/>
              </a:spcAft>
              <a:buSzPct val="100000"/>
              <a:buChar char="•"/>
            </a:pPr>
            <a:r>
              <a:rPr lang="en-US" sz="1600" dirty="0">
                <a:solidFill>
                  <a:srgbClr val="0E1C42"/>
                </a:solidFill>
                <a:latin typeface="Calibri" pitchFamily="34" charset="0"/>
                <a:ea typeface="Calibri" pitchFamily="34" charset="-122"/>
                <a:cs typeface="Calibri" pitchFamily="34" charset="-120"/>
              </a:rPr>
              <a:t>5. Chihuahuan Desert  --&gt;  ___</a:t>
            </a:r>
            <a:endParaRPr lang="en-US" sz="1600" dirty="0"/>
          </a:p>
        </p:txBody>
      </p:sp>
      <p:sp>
        <p:nvSpPr>
          <p:cNvPr id="9" name="Shape 7"/>
          <p:cNvSpPr/>
          <p:nvPr/>
        </p:nvSpPr>
        <p:spPr>
          <a:xfrm>
            <a:off x="6339840" y="1828800"/>
            <a:ext cx="5486400" cy="1950720"/>
          </a:xfrm>
          <a:prstGeom prst="roundRect">
            <a:avLst>
              <a:gd name="adj" fmla="val 7500"/>
            </a:avLst>
          </a:prstGeom>
          <a:solidFill>
            <a:srgbClr val="EAF8FD"/>
          </a:solidFill>
          <a:ln/>
        </p:spPr>
      </p:sp>
      <p:sp>
        <p:nvSpPr>
          <p:cNvPr id="10" name="Text 8"/>
          <p:cNvSpPr/>
          <p:nvPr/>
        </p:nvSpPr>
        <p:spPr>
          <a:xfrm>
            <a:off x="6583680" y="1950720"/>
            <a:ext cx="4998720" cy="426720"/>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WORD BANK</a:t>
            </a:r>
            <a:endParaRPr lang="en-US" sz="1200" dirty="0"/>
          </a:p>
        </p:txBody>
      </p:sp>
      <p:sp>
        <p:nvSpPr>
          <p:cNvPr id="11" name="Text 9"/>
          <p:cNvSpPr/>
          <p:nvPr/>
        </p:nvSpPr>
        <p:spPr>
          <a:xfrm>
            <a:off x="6583680" y="2499360"/>
            <a:ext cx="4998720" cy="1097280"/>
          </a:xfrm>
          <a:prstGeom prst="rect">
            <a:avLst/>
          </a:prstGeom>
          <a:noFill/>
          <a:ln/>
        </p:spPr>
        <p:txBody>
          <a:bodyPr wrap="square" lIns="0" tIns="0" rIns="0" bIns="0" rtlCol="0" anchor="ctr"/>
          <a:lstStyle/>
          <a:p>
            <a:pPr algn="ctr" indent="0" marL="0">
              <a:buNone/>
            </a:pPr>
            <a:r>
              <a:rPr lang="en-US" sz="1700" dirty="0">
                <a:solidFill>
                  <a:srgbClr val="0E1C42"/>
                </a:solidFill>
                <a:latin typeface="Calibri" pitchFamily="34" charset="0"/>
                <a:ea typeface="Calibri" pitchFamily="34" charset="-122"/>
                <a:cs typeface="Calibri" pitchFamily="34" charset="-120"/>
              </a:rPr>
              <a:t>Arizona    |    Texas    |    New Mexico</a:t>
            </a:r>
            <a:endParaRPr lang="en-US" sz="1700" dirty="0"/>
          </a:p>
          <a:p>
            <a:pPr algn="ctr" indent="0" marL="0">
              <a:buNone/>
            </a:pPr>
            <a:r>
              <a:rPr lang="en-US" sz="1700" dirty="0">
                <a:solidFill>
                  <a:srgbClr val="0E1C42"/>
                </a:solidFill>
                <a:latin typeface="Calibri" pitchFamily="34" charset="0"/>
                <a:ea typeface="Calibri" pitchFamily="34" charset="-122"/>
                <a:cs typeface="Calibri" pitchFamily="34" charset="-120"/>
              </a:rPr>
              <a:t>Arizona    |    Texas</a:t>
            </a:r>
            <a:endParaRPr lang="en-US" sz="1700" dirty="0"/>
          </a:p>
        </p:txBody>
      </p:sp>
      <p:sp>
        <p:nvSpPr>
          <p:cNvPr id="12" name="Shape 10"/>
          <p:cNvSpPr/>
          <p:nvPr/>
        </p:nvSpPr>
        <p:spPr>
          <a:xfrm>
            <a:off x="6339840" y="4023360"/>
            <a:ext cx="5486400" cy="2194560"/>
          </a:xfrm>
          <a:prstGeom prst="roundRect">
            <a:avLst>
              <a:gd name="adj" fmla="val 6667"/>
            </a:avLst>
          </a:prstGeom>
          <a:solidFill>
            <a:srgbClr val="E2E8F4"/>
          </a:solidFill>
          <a:ln w="19050">
            <a:solidFill>
              <a:srgbClr val="B0B8CC"/>
            </a:solidFill>
            <a:prstDash val="dash"/>
          </a:ln>
        </p:spPr>
      </p:sp>
      <p:sp>
        <p:nvSpPr>
          <p:cNvPr id="13" name="Text 11"/>
          <p:cNvSpPr/>
          <p:nvPr/>
        </p:nvSpPr>
        <p:spPr>
          <a:xfrm>
            <a:off x="6339840" y="4023360"/>
            <a:ext cx="5486400" cy="365760"/>
          </a:xfrm>
          <a:prstGeom prst="rect">
            <a:avLst/>
          </a:prstGeom>
          <a:noFill/>
          <a:ln/>
        </p:spPr>
        <p:txBody>
          <a:bodyPr wrap="square" lIns="0" tIns="0" rIns="0" bIns="0" rtlCol="0" anchor="ctr"/>
          <a:lstStyle/>
          <a:p>
            <a:pPr algn="ctr" indent="0" marL="0">
              <a:buNone/>
            </a:pPr>
            <a:r>
              <a:rPr lang="en-US" sz="1200" b="1" spc="150" kern="0" dirty="0">
                <a:solidFill>
                  <a:srgbClr val="7A88A8"/>
                </a:solidFill>
                <a:latin typeface="Calibri" pitchFamily="34" charset="0"/>
                <a:ea typeface="Calibri" pitchFamily="34" charset="-122"/>
                <a:cs typeface="Calibri" pitchFamily="34" charset="-120"/>
              </a:rPr>
              <a:t>INSERT IMAGE</a:t>
            </a:r>
            <a:endParaRPr lang="en-US" sz="1200" dirty="0"/>
          </a:p>
        </p:txBody>
      </p:sp>
      <p:sp>
        <p:nvSpPr>
          <p:cNvPr id="14" name="Text 12"/>
          <p:cNvSpPr/>
          <p:nvPr/>
        </p:nvSpPr>
        <p:spPr>
          <a:xfrm>
            <a:off x="6522720" y="4389120"/>
            <a:ext cx="5120640" cy="1709928"/>
          </a:xfrm>
          <a:prstGeom prst="rect">
            <a:avLst/>
          </a:prstGeom>
          <a:noFill/>
          <a:ln/>
        </p:spPr>
        <p:txBody>
          <a:bodyPr wrap="square"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Blank outline map of Southwest states for students to label</a:t>
            </a:r>
            <a:endParaRPr lang="en-US" sz="1400" dirty="0"/>
          </a:p>
        </p:txBody>
      </p:sp>
      <p:sp>
        <p:nvSpPr>
          <p:cNvPr id="15" name="Text 13"/>
          <p:cNvSpPr/>
          <p:nvPr/>
        </p:nvSpPr>
        <p:spPr>
          <a:xfrm>
            <a:off x="487680" y="5913120"/>
            <a:ext cx="11216640" cy="365760"/>
          </a:xfrm>
          <a:prstGeom prst="rect">
            <a:avLst/>
          </a:prstGeom>
          <a:noFill/>
          <a:ln/>
        </p:spPr>
        <p:txBody>
          <a:bodyPr wrap="square" lIns="0" tIns="0" rIns="0" bIns="0"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Type your answers in the chat!</a:t>
            </a:r>
            <a:endParaRPr lang="en-US" sz="1400" dirty="0"/>
          </a:p>
        </p:txBody>
      </p:sp>
      <p:sp>
        <p:nvSpPr>
          <p:cNvPr id="16" name="Text 14"/>
          <p:cNvSpPr/>
          <p:nvPr/>
        </p:nvSpPr>
        <p:spPr>
          <a:xfrm>
            <a:off x="365760" y="6278880"/>
            <a:ext cx="3657600" cy="304800"/>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Optima Academy Online</a:t>
            </a:r>
            <a:endParaRPr lang="en-US" sz="900" dirty="0"/>
          </a:p>
        </p:txBody>
      </p:sp>
      <p:sp>
        <p:nvSpPr>
          <p:cNvPr id="17" name="Text 15"/>
          <p:cNvSpPr/>
          <p:nvPr/>
        </p:nvSpPr>
        <p:spPr>
          <a:xfrm>
            <a:off x="8290560" y="6278880"/>
            <a:ext cx="3413760" cy="30480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Lesson 3.07.05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04800"/>
            <a:ext cx="2926080" cy="463296"/>
          </a:xfrm>
          <a:prstGeom prst="roundRect">
            <a:avLst>
              <a:gd name="adj" fmla="val 19737"/>
            </a:avLst>
          </a:prstGeom>
          <a:solidFill>
            <a:srgbClr val="34B76F"/>
          </a:solidFill>
          <a:ln/>
        </p:spPr>
      </p:sp>
      <p:sp>
        <p:nvSpPr>
          <p:cNvPr id="4" name="Text 2"/>
          <p:cNvSpPr/>
          <p:nvPr/>
        </p:nvSpPr>
        <p:spPr>
          <a:xfrm>
            <a:off x="487680" y="304800"/>
            <a:ext cx="2926080" cy="463296"/>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DISCOVERY FACT</a:t>
            </a:r>
            <a:endParaRPr lang="en-US" sz="1200" dirty="0"/>
          </a:p>
        </p:txBody>
      </p:sp>
      <p:sp>
        <p:nvSpPr>
          <p:cNvPr id="5" name="Text 3"/>
          <p:cNvSpPr/>
          <p:nvPr/>
        </p:nvSpPr>
        <p:spPr>
          <a:xfrm>
            <a:off x="487680" y="914400"/>
            <a:ext cx="11216640" cy="67056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The Mighty Saguaro Cactus</a:t>
            </a:r>
            <a:endParaRPr lang="en-US" sz="2800" dirty="0"/>
          </a:p>
        </p:txBody>
      </p:sp>
      <p:sp>
        <p:nvSpPr>
          <p:cNvPr id="6" name="Shape 4"/>
          <p:cNvSpPr/>
          <p:nvPr/>
        </p:nvSpPr>
        <p:spPr>
          <a:xfrm>
            <a:off x="487680" y="1828800"/>
            <a:ext cx="4876800" cy="3657600"/>
          </a:xfrm>
          <a:prstGeom prst="roundRect">
            <a:avLst>
              <a:gd name="adj" fmla="val 4000"/>
            </a:avLst>
          </a:prstGeom>
          <a:solidFill>
            <a:srgbClr val="E2E8F4"/>
          </a:solidFill>
          <a:ln w="19050">
            <a:solidFill>
              <a:srgbClr val="B0B8CC"/>
            </a:solidFill>
            <a:prstDash val="dash"/>
          </a:ln>
        </p:spPr>
      </p:sp>
      <p:sp>
        <p:nvSpPr>
          <p:cNvPr id="7" name="Text 5"/>
          <p:cNvSpPr/>
          <p:nvPr/>
        </p:nvSpPr>
        <p:spPr>
          <a:xfrm>
            <a:off x="487680" y="1828800"/>
            <a:ext cx="4876800" cy="365760"/>
          </a:xfrm>
          <a:prstGeom prst="rect">
            <a:avLst/>
          </a:prstGeom>
          <a:noFill/>
          <a:ln/>
        </p:spPr>
        <p:txBody>
          <a:bodyPr wrap="square" lIns="0" tIns="0" rIns="0" bIns="0" rtlCol="0" anchor="ctr"/>
          <a:lstStyle/>
          <a:p>
            <a:pPr algn="ctr" indent="0" marL="0">
              <a:buNone/>
            </a:pPr>
            <a:r>
              <a:rPr lang="en-US" sz="1200" b="1" spc="150" kern="0" dirty="0">
                <a:solidFill>
                  <a:srgbClr val="7A88A8"/>
                </a:solidFill>
                <a:latin typeface="Calibri" pitchFamily="34" charset="0"/>
                <a:ea typeface="Calibri" pitchFamily="34" charset="-122"/>
                <a:cs typeface="Calibri" pitchFamily="34" charset="-120"/>
              </a:rPr>
              <a:t>INSERT IMAGE</a:t>
            </a:r>
            <a:endParaRPr lang="en-US" sz="1200" dirty="0"/>
          </a:p>
        </p:txBody>
      </p:sp>
      <p:sp>
        <p:nvSpPr>
          <p:cNvPr id="8" name="Text 6"/>
          <p:cNvSpPr/>
          <p:nvPr/>
        </p:nvSpPr>
        <p:spPr>
          <a:xfrm>
            <a:off x="670560" y="2194560"/>
            <a:ext cx="4511040" cy="3172968"/>
          </a:xfrm>
          <a:prstGeom prst="rect">
            <a:avLst/>
          </a:prstGeom>
          <a:noFill/>
          <a:ln/>
        </p:spPr>
        <p:txBody>
          <a:bodyPr wrap="square"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Photo of a giant saguaro cactus with arms, person standing next to it for scale</a:t>
            </a:r>
            <a:endParaRPr lang="en-US" sz="1400" dirty="0"/>
          </a:p>
        </p:txBody>
      </p:sp>
      <p:sp>
        <p:nvSpPr>
          <p:cNvPr id="9" name="Shape 7"/>
          <p:cNvSpPr/>
          <p:nvPr/>
        </p:nvSpPr>
        <p:spPr>
          <a:xfrm>
            <a:off x="5730240" y="1828800"/>
            <a:ext cx="6096000" cy="3657600"/>
          </a:xfrm>
          <a:prstGeom prst="roundRect">
            <a:avLst>
              <a:gd name="adj" fmla="val 5000"/>
            </a:avLst>
          </a:prstGeom>
          <a:solidFill>
            <a:srgbClr val="E3F8ED"/>
          </a:solidFill>
          <a:ln/>
          <a:effectLst>
            <a:outerShdw sx="100000" sy="100000" kx="0" ky="0" algn="bl" rotWithShape="0" blurRad="101600" dist="38100" dir="8100000">
              <a:srgbClr val="000000">
                <a:alpha val="12000"/>
              </a:srgbClr>
            </a:outerShdw>
          </a:effectLst>
        </p:spPr>
      </p:sp>
      <p:sp>
        <p:nvSpPr>
          <p:cNvPr id="10" name="Text 8"/>
          <p:cNvSpPr/>
          <p:nvPr/>
        </p:nvSpPr>
        <p:spPr>
          <a:xfrm>
            <a:off x="5974080" y="2011680"/>
            <a:ext cx="5608320" cy="487680"/>
          </a:xfrm>
          <a:prstGeom prst="rect">
            <a:avLst/>
          </a:prstGeom>
          <a:noFill/>
          <a:ln/>
        </p:spPr>
        <p:txBody>
          <a:bodyPr wrap="square" lIns="0" tIns="0" rIns="0" bIns="0" rtlCol="0" anchor="ctr"/>
          <a:lstStyle/>
          <a:p>
            <a:pPr indent="0" marL="0">
              <a:buNone/>
            </a:pPr>
            <a:r>
              <a:rPr lang="en-US" sz="1800" b="1" dirty="0">
                <a:solidFill>
                  <a:srgbClr val="34B76F"/>
                </a:solidFill>
                <a:latin typeface="Cambria" pitchFamily="34" charset="0"/>
                <a:ea typeface="Cambria" pitchFamily="34" charset="-122"/>
                <a:cs typeface="Cambria" pitchFamily="34" charset="-120"/>
              </a:rPr>
              <a:t>Saguaro Stats</a:t>
            </a:r>
            <a:endParaRPr lang="en-US" sz="1800" dirty="0"/>
          </a:p>
        </p:txBody>
      </p:sp>
      <p:sp>
        <p:nvSpPr>
          <p:cNvPr id="11" name="Text 9"/>
          <p:cNvSpPr/>
          <p:nvPr/>
        </p:nvSpPr>
        <p:spPr>
          <a:xfrm>
            <a:off x="5974080" y="2621280"/>
            <a:ext cx="5608320" cy="26822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0E1C42"/>
                </a:solidFill>
                <a:latin typeface="Calibri" pitchFamily="34" charset="0"/>
                <a:ea typeface="Calibri" pitchFamily="34" charset="-122"/>
                <a:cs typeface="Calibri" pitchFamily="34" charset="-120"/>
              </a:rPr>
              <a:t>Can grow over 40 feet tall</a:t>
            </a:r>
            <a:endParaRPr lang="en-US" sz="1600" dirty="0"/>
          </a:p>
          <a:p>
            <a:pPr marL="342900" indent="-342900">
              <a:spcAft>
                <a:spcPts val="600"/>
              </a:spcAft>
              <a:buSzPct val="100000"/>
              <a:buChar char="•"/>
            </a:pPr>
            <a:r>
              <a:rPr lang="en-US" sz="1600" dirty="0">
                <a:solidFill>
                  <a:srgbClr val="0E1C42"/>
                </a:solidFill>
                <a:latin typeface="Calibri" pitchFamily="34" charset="0"/>
                <a:ea typeface="Calibri" pitchFamily="34" charset="-122"/>
                <a:cs typeface="Calibri" pitchFamily="34" charset="-120"/>
              </a:rPr>
              <a:t>Can live more than 150 years</a:t>
            </a:r>
            <a:endParaRPr lang="en-US" sz="1600" dirty="0"/>
          </a:p>
          <a:p>
            <a:pPr marL="342900" indent="-342900">
              <a:spcAft>
                <a:spcPts val="600"/>
              </a:spcAft>
              <a:buSzPct val="100000"/>
              <a:buChar char="•"/>
            </a:pPr>
            <a:r>
              <a:rPr lang="en-US" sz="1600" dirty="0">
                <a:solidFill>
                  <a:srgbClr val="0E1C42"/>
                </a:solidFill>
                <a:latin typeface="Calibri" pitchFamily="34" charset="0"/>
                <a:ea typeface="Calibri" pitchFamily="34" charset="-122"/>
                <a:cs typeface="Calibri" pitchFamily="34" charset="-120"/>
              </a:rPr>
              <a:t>Does not grow its first arm until about age 70!</a:t>
            </a:r>
            <a:endParaRPr lang="en-US" sz="1600" dirty="0"/>
          </a:p>
          <a:p>
            <a:pPr marL="342900" indent="-342900">
              <a:spcAft>
                <a:spcPts val="600"/>
              </a:spcAft>
              <a:buSzPct val="100000"/>
              <a:buChar char="•"/>
            </a:pPr>
            <a:r>
              <a:rPr lang="en-US" sz="1600" dirty="0">
                <a:solidFill>
                  <a:srgbClr val="0E1C42"/>
                </a:solidFill>
                <a:latin typeface="Calibri" pitchFamily="34" charset="0"/>
                <a:ea typeface="Calibri" pitchFamily="34" charset="-122"/>
                <a:cs typeface="Calibri" pitchFamily="34" charset="-120"/>
              </a:rPr>
              <a:t>Found only in the Sonoran Desert</a:t>
            </a:r>
            <a:endParaRPr lang="en-US" sz="1600" dirty="0"/>
          </a:p>
          <a:p>
            <a:pPr marL="342900" indent="-342900">
              <a:spcAft>
                <a:spcPts val="600"/>
              </a:spcAft>
              <a:buSzPct val="100000"/>
              <a:buChar char="•"/>
            </a:pPr>
            <a:r>
              <a:rPr lang="en-US" sz="1600" dirty="0">
                <a:solidFill>
                  <a:srgbClr val="0E1C42"/>
                </a:solidFill>
                <a:latin typeface="Calibri" pitchFamily="34" charset="0"/>
                <a:ea typeface="Calibri" pitchFamily="34" charset="-122"/>
                <a:cs typeface="Calibri" pitchFamily="34" charset="-120"/>
              </a:rPr>
              <a:t>Provides food and shelter for desert animals</a:t>
            </a:r>
            <a:endParaRPr lang="en-US" sz="1600" dirty="0"/>
          </a:p>
        </p:txBody>
      </p:sp>
      <p:sp>
        <p:nvSpPr>
          <p:cNvPr id="12" name="Shape 10"/>
          <p:cNvSpPr/>
          <p:nvPr/>
        </p:nvSpPr>
        <p:spPr>
          <a:xfrm>
            <a:off x="487680" y="5120640"/>
            <a:ext cx="11216640" cy="1097280"/>
          </a:xfrm>
          <a:prstGeom prst="roundRect">
            <a:avLst>
              <a:gd name="adj" fmla="val 13333"/>
            </a:avLst>
          </a:prstGeom>
          <a:solidFill>
            <a:srgbClr val="FFF3DC"/>
          </a:solidFill>
          <a:ln w="19050">
            <a:solidFill>
              <a:srgbClr val="F5E6C8"/>
            </a:solidFill>
            <a:prstDash val="solid"/>
          </a:ln>
        </p:spPr>
      </p:sp>
      <p:sp>
        <p:nvSpPr>
          <p:cNvPr id="13" name="Text 11"/>
          <p:cNvSpPr/>
          <p:nvPr/>
        </p:nvSpPr>
        <p:spPr>
          <a:xfrm>
            <a:off x="670560" y="5193792"/>
            <a:ext cx="10850880" cy="265176"/>
          </a:xfrm>
          <a:prstGeom prst="rect">
            <a:avLst/>
          </a:prstGeom>
          <a:noFill/>
          <a:ln/>
        </p:spPr>
        <p:txBody>
          <a:bodyPr wrap="square" lIns="0" tIns="0" rIns="0" bIns="0" rtlCol="0" anchor="ctr"/>
          <a:lstStyle/>
          <a:p>
            <a:pPr indent="0" marL="0">
              <a:buNone/>
            </a:pPr>
            <a:r>
              <a:rPr lang="en-US" sz="1200" b="1" spc="150" kern="0" dirty="0">
                <a:solidFill>
                  <a:srgbClr val="D4943A"/>
                </a:solidFill>
                <a:latin typeface="Calibri" pitchFamily="34" charset="0"/>
                <a:ea typeface="Calibri" pitchFamily="34" charset="-122"/>
                <a:cs typeface="Calibri" pitchFamily="34" charset="-120"/>
              </a:rPr>
              <a:t>CHAT FRAME</a:t>
            </a:r>
            <a:endParaRPr lang="en-US" sz="1200" dirty="0"/>
          </a:p>
        </p:txBody>
      </p:sp>
      <p:sp>
        <p:nvSpPr>
          <p:cNvPr id="14" name="Text 12"/>
          <p:cNvSpPr/>
          <p:nvPr/>
        </p:nvSpPr>
        <p:spPr>
          <a:xfrm>
            <a:off x="670560" y="5458968"/>
            <a:ext cx="10850880" cy="667512"/>
          </a:xfrm>
          <a:prstGeom prst="rect">
            <a:avLst/>
          </a:prstGeom>
          <a:noFill/>
          <a:ln/>
        </p:spPr>
        <p:txBody>
          <a:bodyPr wrap="square" lIns="0" tIns="0" rIns="0" bIns="0" rtlCol="0" anchor="t"/>
          <a:lstStyle/>
          <a:p>
            <a:pPr indent="0" marL="0">
              <a:spcAft>
                <a:spcPts val="700"/>
              </a:spcAft>
              <a:buNone/>
            </a:pPr>
            <a:r>
              <a:rPr lang="en-US" sz="1600" i="1" dirty="0">
                <a:solidFill>
                  <a:srgbClr val="5A4A3A"/>
                </a:solidFill>
                <a:latin typeface="Cambria" pitchFamily="34" charset="0"/>
                <a:ea typeface="Cambria" pitchFamily="34" charset="-122"/>
                <a:cs typeface="Cambria" pitchFamily="34" charset="-120"/>
              </a:rPr>
              <a:t>"Some saguaro cactuses are older than the United States itself. Native peoples have lived alongside them, mapped canyons, and named mesas long before other regions had cities."</a:t>
            </a:r>
            <a:endParaRPr lang="en-US" sz="1600" dirty="0"/>
          </a:p>
        </p:txBody>
      </p:sp>
      <p:sp>
        <p:nvSpPr>
          <p:cNvPr id="15" name="Text 13"/>
          <p:cNvSpPr/>
          <p:nvPr/>
        </p:nvSpPr>
        <p:spPr>
          <a:xfrm>
            <a:off x="365760" y="6278880"/>
            <a:ext cx="3657600" cy="304800"/>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Optima Academy Online</a:t>
            </a:r>
            <a:endParaRPr lang="en-US" sz="900" dirty="0"/>
          </a:p>
        </p:txBody>
      </p:sp>
      <p:sp>
        <p:nvSpPr>
          <p:cNvPr id="16" name="Text 14"/>
          <p:cNvSpPr/>
          <p:nvPr/>
        </p:nvSpPr>
        <p:spPr>
          <a:xfrm>
            <a:off x="8290560" y="6278880"/>
            <a:ext cx="3413760" cy="30480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Lesson 3.07.05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04800"/>
            <a:ext cx="2926080" cy="463296"/>
          </a:xfrm>
          <a:prstGeom prst="roundRect">
            <a:avLst>
              <a:gd name="adj" fmla="val 19737"/>
            </a:avLst>
          </a:prstGeom>
          <a:solidFill>
            <a:srgbClr val="8B6FC0"/>
          </a:solidFill>
          <a:ln/>
        </p:spPr>
      </p:sp>
      <p:sp>
        <p:nvSpPr>
          <p:cNvPr id="4" name="Text 2"/>
          <p:cNvSpPr/>
          <p:nvPr/>
        </p:nvSpPr>
        <p:spPr>
          <a:xfrm>
            <a:off x="487680" y="304800"/>
            <a:ext cx="2926080" cy="463296"/>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SOURCE STUDY</a:t>
            </a:r>
            <a:endParaRPr lang="en-US" sz="1200" dirty="0"/>
          </a:p>
        </p:txBody>
      </p:sp>
      <p:sp>
        <p:nvSpPr>
          <p:cNvPr id="5" name="Text 3"/>
          <p:cNvSpPr/>
          <p:nvPr/>
        </p:nvSpPr>
        <p:spPr>
          <a:xfrm>
            <a:off x="487680" y="914400"/>
            <a:ext cx="11216640" cy="67056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Analyze This Photo</a:t>
            </a:r>
            <a:endParaRPr lang="en-US" sz="2800" dirty="0"/>
          </a:p>
        </p:txBody>
      </p:sp>
      <p:sp>
        <p:nvSpPr>
          <p:cNvPr id="6" name="Shape 4"/>
          <p:cNvSpPr/>
          <p:nvPr/>
        </p:nvSpPr>
        <p:spPr>
          <a:xfrm>
            <a:off x="487680" y="1828800"/>
            <a:ext cx="6096000" cy="3657600"/>
          </a:xfrm>
          <a:prstGeom prst="roundRect">
            <a:avLst>
              <a:gd name="adj" fmla="val 4000"/>
            </a:avLst>
          </a:prstGeom>
          <a:solidFill>
            <a:srgbClr val="E2E8F4"/>
          </a:solidFill>
          <a:ln w="19050">
            <a:solidFill>
              <a:srgbClr val="B0B8CC"/>
            </a:solidFill>
            <a:prstDash val="dash"/>
          </a:ln>
        </p:spPr>
      </p:sp>
      <p:sp>
        <p:nvSpPr>
          <p:cNvPr id="7" name="Text 5"/>
          <p:cNvSpPr/>
          <p:nvPr/>
        </p:nvSpPr>
        <p:spPr>
          <a:xfrm>
            <a:off x="487680" y="1828800"/>
            <a:ext cx="6096000" cy="365760"/>
          </a:xfrm>
          <a:prstGeom prst="rect">
            <a:avLst/>
          </a:prstGeom>
          <a:noFill/>
          <a:ln/>
        </p:spPr>
        <p:txBody>
          <a:bodyPr wrap="square" lIns="0" tIns="0" rIns="0" bIns="0" rtlCol="0" anchor="ctr"/>
          <a:lstStyle/>
          <a:p>
            <a:pPr algn="ctr" indent="0" marL="0">
              <a:buNone/>
            </a:pPr>
            <a:r>
              <a:rPr lang="en-US" sz="1200" b="1" spc="150" kern="0" dirty="0">
                <a:solidFill>
                  <a:srgbClr val="7A88A8"/>
                </a:solidFill>
                <a:latin typeface="Calibri" pitchFamily="34" charset="0"/>
                <a:ea typeface="Calibri" pitchFamily="34" charset="-122"/>
                <a:cs typeface="Calibri" pitchFamily="34" charset="-120"/>
              </a:rPr>
              <a:t>INSERT IMAGE</a:t>
            </a:r>
            <a:endParaRPr lang="en-US" sz="1200" dirty="0"/>
          </a:p>
        </p:txBody>
      </p:sp>
      <p:sp>
        <p:nvSpPr>
          <p:cNvPr id="8" name="Text 6"/>
          <p:cNvSpPr/>
          <p:nvPr/>
        </p:nvSpPr>
        <p:spPr>
          <a:xfrm>
            <a:off x="670560" y="2194560"/>
            <a:ext cx="5730240" cy="3172968"/>
          </a:xfrm>
          <a:prstGeom prst="rect">
            <a:avLst/>
          </a:prstGeom>
          <a:noFill/>
          <a:ln/>
        </p:spPr>
        <p:txBody>
          <a:bodyPr wrap="square"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Historic or modern photograph of Southwest landscape or community -- adobe buildings, desert ranch, canyon overlook, or Native art market</a:t>
            </a:r>
            <a:endParaRPr lang="en-US" sz="1400" dirty="0"/>
          </a:p>
        </p:txBody>
      </p:sp>
      <p:sp>
        <p:nvSpPr>
          <p:cNvPr id="9" name="Shape 7"/>
          <p:cNvSpPr/>
          <p:nvPr/>
        </p:nvSpPr>
        <p:spPr>
          <a:xfrm>
            <a:off x="6949440" y="1828800"/>
            <a:ext cx="4876800" cy="3657600"/>
          </a:xfrm>
          <a:prstGeom prst="roundRect">
            <a:avLst>
              <a:gd name="adj" fmla="val 4000"/>
            </a:avLst>
          </a:prstGeom>
          <a:solidFill>
            <a:srgbClr val="F0E8FF"/>
          </a:solidFill>
          <a:ln/>
          <a:effectLst>
            <a:outerShdw sx="100000" sy="100000" kx="0" ky="0" algn="bl" rotWithShape="0" blurRad="76200" dist="25400" dir="8100000">
              <a:srgbClr val="000000">
                <a:alpha val="10000"/>
              </a:srgbClr>
            </a:outerShdw>
          </a:effectLst>
        </p:spPr>
      </p:sp>
      <p:sp>
        <p:nvSpPr>
          <p:cNvPr id="10" name="Text 8"/>
          <p:cNvSpPr/>
          <p:nvPr/>
        </p:nvSpPr>
        <p:spPr>
          <a:xfrm>
            <a:off x="7193280" y="1950720"/>
            <a:ext cx="4389120" cy="426720"/>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Look Closely</a:t>
            </a:r>
            <a:endParaRPr lang="en-US" sz="1400" dirty="0"/>
          </a:p>
        </p:txBody>
      </p:sp>
      <p:sp>
        <p:nvSpPr>
          <p:cNvPr id="11" name="Text 9"/>
          <p:cNvSpPr/>
          <p:nvPr/>
        </p:nvSpPr>
        <p:spPr>
          <a:xfrm>
            <a:off x="7193280" y="2560320"/>
            <a:ext cx="4389120" cy="2682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What do you see in this photo?</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What clues tell you this is the Southwest?</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Name two things you would NOT see in the Northeast, Southeast, or Midwest.</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How does this photo connect to what we learned today?</a:t>
            </a:r>
            <a:endParaRPr lang="en-US" sz="1500" dirty="0"/>
          </a:p>
        </p:txBody>
      </p:sp>
      <p:sp>
        <p:nvSpPr>
          <p:cNvPr id="12" name="Text 10"/>
          <p:cNvSpPr/>
          <p:nvPr/>
        </p:nvSpPr>
        <p:spPr>
          <a:xfrm>
            <a:off x="487680" y="5913120"/>
            <a:ext cx="11216640" cy="365760"/>
          </a:xfrm>
          <a:prstGeom prst="rect">
            <a:avLst/>
          </a:prstGeom>
          <a:noFill/>
          <a:ln/>
        </p:spPr>
        <p:txBody>
          <a:bodyPr wrap="square" lIns="0" tIns="0" rIns="0" bIns="0"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Share your observations in the chat.</a:t>
            </a:r>
            <a:endParaRPr lang="en-US" sz="1400" dirty="0"/>
          </a:p>
        </p:txBody>
      </p:sp>
      <p:sp>
        <p:nvSpPr>
          <p:cNvPr id="13" name="Text 11"/>
          <p:cNvSpPr/>
          <p:nvPr/>
        </p:nvSpPr>
        <p:spPr>
          <a:xfrm>
            <a:off x="365760" y="6278880"/>
            <a:ext cx="3657600" cy="304800"/>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Optima Academy Online</a:t>
            </a:r>
            <a:endParaRPr lang="en-US" sz="900" dirty="0"/>
          </a:p>
        </p:txBody>
      </p:sp>
      <p:sp>
        <p:nvSpPr>
          <p:cNvPr id="14" name="Text 12"/>
          <p:cNvSpPr/>
          <p:nvPr/>
        </p:nvSpPr>
        <p:spPr>
          <a:xfrm>
            <a:off x="8290560" y="6278880"/>
            <a:ext cx="3413760" cy="30480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Lesson 3.07.05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04800"/>
            <a:ext cx="2926080" cy="463296"/>
          </a:xfrm>
          <a:prstGeom prst="roundRect">
            <a:avLst>
              <a:gd name="adj" fmla="val 19737"/>
            </a:avLst>
          </a:prstGeom>
          <a:solidFill>
            <a:srgbClr val="D4943A"/>
          </a:solidFill>
          <a:ln/>
        </p:spPr>
      </p:sp>
      <p:sp>
        <p:nvSpPr>
          <p:cNvPr id="4" name="Text 2"/>
          <p:cNvSpPr/>
          <p:nvPr/>
        </p:nvSpPr>
        <p:spPr>
          <a:xfrm>
            <a:off x="487680" y="304800"/>
            <a:ext cx="2926080" cy="463296"/>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ARTIFACT TABLE</a:t>
            </a:r>
            <a:endParaRPr lang="en-US" sz="1200" dirty="0"/>
          </a:p>
        </p:txBody>
      </p:sp>
      <p:sp>
        <p:nvSpPr>
          <p:cNvPr id="5" name="Text 3"/>
          <p:cNvSpPr/>
          <p:nvPr/>
        </p:nvSpPr>
        <p:spPr>
          <a:xfrm>
            <a:off x="487680" y="914400"/>
            <a:ext cx="11216640" cy="67056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Adobe Building: Then and Now</a:t>
            </a:r>
            <a:endParaRPr lang="en-US" sz="2800" dirty="0"/>
          </a:p>
        </p:txBody>
      </p:sp>
      <p:sp>
        <p:nvSpPr>
          <p:cNvPr id="6" name="Shape 4"/>
          <p:cNvSpPr/>
          <p:nvPr/>
        </p:nvSpPr>
        <p:spPr>
          <a:xfrm>
            <a:off x="487680" y="1828800"/>
            <a:ext cx="5486400" cy="4145280"/>
          </a:xfrm>
          <a:prstGeom prst="roundRect">
            <a:avLst>
              <a:gd name="adj" fmla="val 3529"/>
            </a:avLst>
          </a:prstGeom>
          <a:solidFill>
            <a:srgbClr val="FFF8F0"/>
          </a:solidFill>
          <a:ln/>
          <a:effectLst>
            <a:outerShdw sx="100000" sy="100000" kx="0" ky="0" algn="bl" rotWithShape="0" blurRad="76200" dist="25400" dir="8100000">
              <a:srgbClr val="000000">
                <a:alpha val="10000"/>
              </a:srgbClr>
            </a:outerShdw>
          </a:effectLst>
        </p:spPr>
      </p:sp>
      <p:sp>
        <p:nvSpPr>
          <p:cNvPr id="7" name="Text 5"/>
          <p:cNvSpPr/>
          <p:nvPr/>
        </p:nvSpPr>
        <p:spPr>
          <a:xfrm>
            <a:off x="731520" y="1950720"/>
            <a:ext cx="4998720" cy="426720"/>
          </a:xfrm>
          <a:prstGeom prst="rect">
            <a:avLst/>
          </a:prstGeom>
          <a:noFill/>
          <a:ln/>
        </p:spPr>
        <p:txBody>
          <a:bodyPr wrap="square" lIns="0" tIns="0" rIns="0" bIns="0" rtlCol="0" anchor="ctr"/>
          <a:lstStyle/>
          <a:p>
            <a:pPr indent="0" marL="0">
              <a:buNone/>
            </a:pPr>
            <a:r>
              <a:rPr lang="en-US" sz="1400" b="1" spc="150" kern="0" dirty="0">
                <a:solidFill>
                  <a:srgbClr val="D4943A"/>
                </a:solidFill>
                <a:latin typeface="Calibri" pitchFamily="34" charset="0"/>
                <a:ea typeface="Calibri" pitchFamily="34" charset="-122"/>
                <a:cs typeface="Calibri" pitchFamily="34" charset="-120"/>
              </a:rPr>
              <a:t>THEN</a:t>
            </a:r>
            <a:endParaRPr lang="en-US" sz="1400" dirty="0"/>
          </a:p>
        </p:txBody>
      </p:sp>
      <p:sp>
        <p:nvSpPr>
          <p:cNvPr id="8" name="Text 6"/>
          <p:cNvSpPr/>
          <p:nvPr/>
        </p:nvSpPr>
        <p:spPr>
          <a:xfrm>
            <a:off x="731520" y="2560320"/>
            <a:ext cx="4998720" cy="3048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Pueblo people mixed mud, water, and straw by hand</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Sun-dried bricks stacked into thick walls</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Kept cool in 100+ degree heat</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Kept warm in cold desert nights</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Some structures still standing after 1,000 years</a:t>
            </a:r>
            <a:endParaRPr lang="en-US" sz="1500" dirty="0"/>
          </a:p>
        </p:txBody>
      </p:sp>
      <p:sp>
        <p:nvSpPr>
          <p:cNvPr id="9" name="Shape 7"/>
          <p:cNvSpPr/>
          <p:nvPr/>
        </p:nvSpPr>
        <p:spPr>
          <a:xfrm>
            <a:off x="6339840" y="1828800"/>
            <a:ext cx="5486400" cy="4145280"/>
          </a:xfrm>
          <a:prstGeom prst="roundRect">
            <a:avLst>
              <a:gd name="adj" fmla="val 3529"/>
            </a:avLst>
          </a:prstGeom>
          <a:solidFill>
            <a:srgbClr val="EAF8FD"/>
          </a:solidFill>
          <a:ln/>
          <a:effectLst>
            <a:outerShdw sx="100000" sy="100000" kx="0" ky="0" algn="bl" rotWithShape="0" blurRad="76200" dist="25400" dir="8100000">
              <a:srgbClr val="000000">
                <a:alpha val="10000"/>
              </a:srgbClr>
            </a:outerShdw>
          </a:effectLst>
        </p:spPr>
      </p:sp>
      <p:sp>
        <p:nvSpPr>
          <p:cNvPr id="10" name="Text 8"/>
          <p:cNvSpPr/>
          <p:nvPr/>
        </p:nvSpPr>
        <p:spPr>
          <a:xfrm>
            <a:off x="6583680" y="1950720"/>
            <a:ext cx="4998720" cy="426720"/>
          </a:xfrm>
          <a:prstGeom prst="rect">
            <a:avLst/>
          </a:prstGeom>
          <a:noFill/>
          <a:ln/>
        </p:spPr>
        <p:txBody>
          <a:bodyPr wrap="square" lIns="0" tIns="0" rIns="0" bIns="0" rtlCol="0" anchor="ctr"/>
          <a:lstStyle/>
          <a:p>
            <a:pPr indent="0" marL="0">
              <a:buNone/>
            </a:pPr>
            <a:r>
              <a:rPr lang="en-US" sz="1400" b="1" spc="150" kern="0" dirty="0">
                <a:solidFill>
                  <a:srgbClr val="55C8E8"/>
                </a:solidFill>
                <a:latin typeface="Calibri" pitchFamily="34" charset="0"/>
                <a:ea typeface="Calibri" pitchFamily="34" charset="-122"/>
                <a:cs typeface="Calibri" pitchFamily="34" charset="-120"/>
              </a:rPr>
              <a:t>NOW</a:t>
            </a:r>
            <a:endParaRPr lang="en-US" sz="1400" dirty="0"/>
          </a:p>
        </p:txBody>
      </p:sp>
      <p:sp>
        <p:nvSpPr>
          <p:cNvPr id="11" name="Text 9"/>
          <p:cNvSpPr/>
          <p:nvPr/>
        </p:nvSpPr>
        <p:spPr>
          <a:xfrm>
            <a:off x="6583680" y="2560320"/>
            <a:ext cx="4998720" cy="3048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Modern adobe homes still built in New Mexico and Arizona</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Updated with insulation and plumbing</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Adobe style remains popular for its beauty and efficiency</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Museums preserve ancient pueblo sites</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Builders study ancient techniques to improve modern designs</a:t>
            </a:r>
            <a:endParaRPr lang="en-US" sz="1500" dirty="0"/>
          </a:p>
        </p:txBody>
      </p:sp>
      <p:sp>
        <p:nvSpPr>
          <p:cNvPr id="12" name="Shape 10"/>
          <p:cNvSpPr/>
          <p:nvPr/>
        </p:nvSpPr>
        <p:spPr>
          <a:xfrm>
            <a:off x="487680" y="5608320"/>
            <a:ext cx="11216640" cy="975360"/>
          </a:xfrm>
          <a:prstGeom prst="roundRect">
            <a:avLst>
              <a:gd name="adj" fmla="val 18750"/>
            </a:avLst>
          </a:prstGeom>
          <a:solidFill>
            <a:srgbClr val="1A2D5A"/>
          </a:solidFill>
          <a:ln/>
          <a:effectLst>
            <a:outerShdw sx="100000" sy="100000" kx="0" ky="0" algn="bl" rotWithShape="0" blurRad="101600" dist="38100" dir="8100000">
              <a:srgbClr val="000000">
                <a:alpha val="20000"/>
              </a:srgbClr>
            </a:outerShdw>
          </a:effectLst>
        </p:spPr>
      </p:sp>
      <p:sp>
        <p:nvSpPr>
          <p:cNvPr id="13" name="Text 11"/>
          <p:cNvSpPr/>
          <p:nvPr/>
        </p:nvSpPr>
        <p:spPr>
          <a:xfrm>
            <a:off x="734568" y="5727192"/>
            <a:ext cx="10732008" cy="338328"/>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SOCRATIC QUESTIONS</a:t>
            </a:r>
            <a:endParaRPr lang="en-US" sz="1200" dirty="0"/>
          </a:p>
        </p:txBody>
      </p:sp>
      <p:sp>
        <p:nvSpPr>
          <p:cNvPr id="14" name="Text 12"/>
          <p:cNvSpPr/>
          <p:nvPr/>
        </p:nvSpPr>
        <p:spPr>
          <a:xfrm>
            <a:off x="734568" y="6074664"/>
            <a:ext cx="10732008" cy="390144"/>
          </a:xfrm>
          <a:prstGeom prst="rect">
            <a:avLst/>
          </a:prstGeom>
          <a:noFill/>
          <a:ln/>
        </p:spPr>
        <p:txBody>
          <a:bodyPr wrap="square" lIns="0" tIns="0" rIns="0" bIns="0" rtlCol="0" anchor="t"/>
          <a:lstStyle/>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Why would people still choose to build with adobe today?</a:t>
            </a:r>
            <a:endParaRPr lang="en-US" sz="1400" dirty="0"/>
          </a:p>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What does it tell us when a building method lasts over 1,000 years?</a:t>
            </a:r>
            <a:endParaRPr lang="en-US" sz="1400" dirty="0"/>
          </a:p>
        </p:txBody>
      </p:sp>
      <p:sp>
        <p:nvSpPr>
          <p:cNvPr id="15" name="Text 13"/>
          <p:cNvSpPr/>
          <p:nvPr/>
        </p:nvSpPr>
        <p:spPr>
          <a:xfrm>
            <a:off x="365760" y="6278880"/>
            <a:ext cx="3657600" cy="304800"/>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Optima Academy Online</a:t>
            </a:r>
            <a:endParaRPr lang="en-US" sz="900" dirty="0"/>
          </a:p>
        </p:txBody>
      </p:sp>
      <p:sp>
        <p:nvSpPr>
          <p:cNvPr id="16" name="Text 14"/>
          <p:cNvSpPr/>
          <p:nvPr/>
        </p:nvSpPr>
        <p:spPr>
          <a:xfrm>
            <a:off x="8290560" y="6278880"/>
            <a:ext cx="3413760" cy="30480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Lesson 3.07.05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04800"/>
            <a:ext cx="2926080" cy="463296"/>
          </a:xfrm>
          <a:prstGeom prst="roundRect">
            <a:avLst>
              <a:gd name="adj" fmla="val 19737"/>
            </a:avLst>
          </a:prstGeom>
          <a:solidFill>
            <a:srgbClr val="0E1C42"/>
          </a:solidFill>
          <a:ln/>
        </p:spPr>
      </p:sp>
      <p:sp>
        <p:nvSpPr>
          <p:cNvPr id="4" name="Text 2"/>
          <p:cNvSpPr/>
          <p:nvPr/>
        </p:nvSpPr>
        <p:spPr>
          <a:xfrm>
            <a:off x="487680" y="304800"/>
            <a:ext cx="2926080" cy="463296"/>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NARRATE</a:t>
            </a:r>
            <a:endParaRPr lang="en-US" sz="1200" dirty="0"/>
          </a:p>
        </p:txBody>
      </p:sp>
      <p:sp>
        <p:nvSpPr>
          <p:cNvPr id="5" name="Text 3"/>
          <p:cNvSpPr/>
          <p:nvPr/>
        </p:nvSpPr>
        <p:spPr>
          <a:xfrm>
            <a:off x="487680" y="914400"/>
            <a:ext cx="11216640" cy="67056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The Big Picture: Southwest Exhibit Label</a:t>
            </a:r>
            <a:endParaRPr lang="en-US" sz="2800" dirty="0"/>
          </a:p>
        </p:txBody>
      </p:sp>
      <p:sp>
        <p:nvSpPr>
          <p:cNvPr id="6" name="Shape 4"/>
          <p:cNvSpPr/>
          <p:nvPr/>
        </p:nvSpPr>
        <p:spPr>
          <a:xfrm>
            <a:off x="487680" y="1828800"/>
            <a:ext cx="11216640" cy="2438400"/>
          </a:xfrm>
          <a:prstGeom prst="roundRect">
            <a:avLst>
              <a:gd name="adj" fmla="val 6000"/>
            </a:avLst>
          </a:prstGeom>
          <a:solidFill>
            <a:srgbClr val="FFFFFF"/>
          </a:solidFill>
          <a:ln/>
          <a:effectLst>
            <a:outerShdw sx="100000" sy="100000" kx="0" ky="0" algn="bl" rotWithShape="0" blurRad="101600" dist="38100" dir="8100000">
              <a:srgbClr val="000000">
                <a:alpha val="12000"/>
              </a:srgbClr>
            </a:outerShdw>
          </a:effectLst>
        </p:spPr>
      </p:sp>
      <p:sp>
        <p:nvSpPr>
          <p:cNvPr id="7" name="Text 5"/>
          <p:cNvSpPr/>
          <p:nvPr/>
        </p:nvSpPr>
        <p:spPr>
          <a:xfrm>
            <a:off x="731520" y="2011680"/>
            <a:ext cx="10728960" cy="2072640"/>
          </a:xfrm>
          <a:prstGeom prst="rect">
            <a:avLst/>
          </a:prstGeom>
          <a:noFill/>
          <a:ln/>
        </p:spPr>
        <p:txBody>
          <a:bodyPr wrap="square" lIns="0" tIns="0" rIns="0" bIns="0" rtlCol="0" anchor="t"/>
          <a:lstStyle/>
          <a:p>
            <a:pPr indent="0" marL="0">
              <a:lnSpc>
                <a:spcPct val="125000"/>
              </a:lnSpc>
              <a:buNone/>
            </a:pPr>
            <a:r>
              <a:rPr lang="en-US" sz="1600" dirty="0">
                <a:solidFill>
                  <a:srgbClr val="0E1C42"/>
                </a:solidFill>
                <a:latin typeface="Calibri" pitchFamily="34" charset="0"/>
                <a:ea typeface="Calibri" pitchFamily="34" charset="-122"/>
                <a:cs typeface="Calibri" pitchFamily="34" charset="-120"/>
              </a:rPr>
              <a:t>The Southwest is a region of extremes: scorching deserts, mile-deep canyons, and precious water carried through canals. For thousands of years, Pueblo, Navajo, Hopi, and other Native nations built lives here -- shaping adobe villages, naming landmarks, and respecting the land. Mexican-American families added their own traditions. Today, ranching, oil, cotton, and tourism keep the region thriving.</a:t>
            </a:r>
            <a:endParaRPr lang="en-US" sz="1600" dirty="0"/>
          </a:p>
        </p:txBody>
      </p:sp>
      <p:sp>
        <p:nvSpPr>
          <p:cNvPr id="8" name="Shape 6"/>
          <p:cNvSpPr/>
          <p:nvPr/>
        </p:nvSpPr>
        <p:spPr>
          <a:xfrm>
            <a:off x="487680" y="4023360"/>
            <a:ext cx="11216640" cy="1706880"/>
          </a:xfrm>
          <a:prstGeom prst="roundRect">
            <a:avLst>
              <a:gd name="adj" fmla="val 8571"/>
            </a:avLst>
          </a:prstGeom>
          <a:solidFill>
            <a:srgbClr val="FFF3DC"/>
          </a:solidFill>
          <a:ln w="19050">
            <a:solidFill>
              <a:srgbClr val="F5E6C8"/>
            </a:solidFill>
            <a:prstDash val="solid"/>
          </a:ln>
        </p:spPr>
      </p:sp>
      <p:sp>
        <p:nvSpPr>
          <p:cNvPr id="9" name="Text 7"/>
          <p:cNvSpPr/>
          <p:nvPr/>
        </p:nvSpPr>
        <p:spPr>
          <a:xfrm>
            <a:off x="670560" y="4096512"/>
            <a:ext cx="10850880" cy="265176"/>
          </a:xfrm>
          <a:prstGeom prst="rect">
            <a:avLst/>
          </a:prstGeom>
          <a:noFill/>
          <a:ln/>
        </p:spPr>
        <p:txBody>
          <a:bodyPr wrap="square" lIns="0" tIns="0" rIns="0" bIns="0" rtlCol="0" anchor="ctr"/>
          <a:lstStyle/>
          <a:p>
            <a:pPr indent="0" marL="0">
              <a:buNone/>
            </a:pPr>
            <a:r>
              <a:rPr lang="en-US" sz="1200" b="1" spc="150" kern="0" dirty="0">
                <a:solidFill>
                  <a:srgbClr val="D4943A"/>
                </a:solidFill>
                <a:latin typeface="Calibri" pitchFamily="34" charset="0"/>
                <a:ea typeface="Calibri" pitchFamily="34" charset="-122"/>
                <a:cs typeface="Calibri" pitchFamily="34" charset="-120"/>
              </a:rPr>
              <a:t>CHAT FRAME</a:t>
            </a:r>
            <a:endParaRPr lang="en-US" sz="1200" dirty="0"/>
          </a:p>
        </p:txBody>
      </p:sp>
      <p:sp>
        <p:nvSpPr>
          <p:cNvPr id="10" name="Text 8"/>
          <p:cNvSpPr/>
          <p:nvPr/>
        </p:nvSpPr>
        <p:spPr>
          <a:xfrm>
            <a:off x="670560" y="4361688"/>
            <a:ext cx="10850880" cy="1277112"/>
          </a:xfrm>
          <a:prstGeom prst="rect">
            <a:avLst/>
          </a:prstGeom>
          <a:noFill/>
          <a:ln/>
        </p:spPr>
        <p:txBody>
          <a:bodyPr wrap="square" lIns="0" tIns="0" rIns="0" bIns="0" rtlCol="0" anchor="t"/>
          <a:lstStyle/>
          <a:p>
            <a:pPr indent="0" marL="0">
              <a:spcAft>
                <a:spcPts val="700"/>
              </a:spcAft>
              <a:buNone/>
            </a:pPr>
            <a:r>
              <a:rPr lang="en-US" sz="1600" i="1" dirty="0">
                <a:solidFill>
                  <a:srgbClr val="5A4A3A"/>
                </a:solidFill>
                <a:latin typeface="Cambria" pitchFamily="34" charset="0"/>
                <a:ea typeface="Cambria" pitchFamily="34" charset="-122"/>
                <a:cs typeface="Cambria" pitchFamily="34" charset="-120"/>
              </a:rPr>
              <a:t>"Some saguaro cactuses are older than the United States. Native peoples have lived alongside them, mapped canyons, and named mesas long before other regions had cities."</a:t>
            </a:r>
            <a:endParaRPr lang="en-US" sz="1600" dirty="0"/>
          </a:p>
          <a:p>
            <a:pPr indent="0" marL="0">
              <a:spcAft>
                <a:spcPts val="700"/>
              </a:spcAft>
              <a:buNone/>
            </a:pPr>
            <a:r>
              <a:rPr lang="en-US" sz="1600" i="1" dirty="0">
                <a:solidFill>
                  <a:srgbClr val="5A4A3A"/>
                </a:solidFill>
                <a:latin typeface="Cambria" pitchFamily="34" charset="0"/>
                <a:ea typeface="Cambria" pitchFamily="34" charset="-122"/>
                <a:cs typeface="Cambria" pitchFamily="34" charset="-120"/>
              </a:rPr>
              <a:t>"The Southwest teaches us that people can build incredible lives even in the harshest places -- if they respect the land and each other."</a:t>
            </a:r>
            <a:endParaRPr lang="en-US" sz="1600" dirty="0"/>
          </a:p>
        </p:txBody>
      </p:sp>
      <p:sp>
        <p:nvSpPr>
          <p:cNvPr id="11" name="Shape 9"/>
          <p:cNvSpPr/>
          <p:nvPr/>
        </p:nvSpPr>
        <p:spPr>
          <a:xfrm>
            <a:off x="487680" y="5425440"/>
            <a:ext cx="11216640" cy="975360"/>
          </a:xfrm>
          <a:prstGeom prst="roundRect">
            <a:avLst>
              <a:gd name="adj" fmla="val 18750"/>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734568" y="5544312"/>
            <a:ext cx="10732008" cy="338328"/>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SOCRATIC QUESTIONS</a:t>
            </a:r>
            <a:endParaRPr lang="en-US" sz="1200" dirty="0"/>
          </a:p>
        </p:txBody>
      </p:sp>
      <p:sp>
        <p:nvSpPr>
          <p:cNvPr id="13" name="Text 11"/>
          <p:cNvSpPr/>
          <p:nvPr/>
        </p:nvSpPr>
        <p:spPr>
          <a:xfrm>
            <a:off x="734568" y="5891784"/>
            <a:ext cx="10732008" cy="390144"/>
          </a:xfrm>
          <a:prstGeom prst="rect">
            <a:avLst/>
          </a:prstGeom>
          <a:noFill/>
          <a:ln/>
        </p:spPr>
        <p:txBody>
          <a:bodyPr wrap="square" lIns="0" tIns="0" rIns="0" bIns="0" rtlCol="0" anchor="t"/>
          <a:lstStyle/>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What makes the Southwest different from every other region we have studied?</a:t>
            </a:r>
            <a:endParaRPr lang="en-US" sz="1400" dirty="0"/>
          </a:p>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What surprised you most about this region?</a:t>
            </a:r>
            <a:endParaRPr lang="en-US" sz="1400" dirty="0"/>
          </a:p>
        </p:txBody>
      </p:sp>
      <p:sp>
        <p:nvSpPr>
          <p:cNvPr id="14" name="Text 12"/>
          <p:cNvSpPr/>
          <p:nvPr/>
        </p:nvSpPr>
        <p:spPr>
          <a:xfrm>
            <a:off x="365760" y="6278880"/>
            <a:ext cx="3657600" cy="304800"/>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Optima Academy Online</a:t>
            </a:r>
            <a:endParaRPr lang="en-US" sz="900" dirty="0"/>
          </a:p>
        </p:txBody>
      </p:sp>
      <p:sp>
        <p:nvSpPr>
          <p:cNvPr id="15" name="Text 13"/>
          <p:cNvSpPr/>
          <p:nvPr/>
        </p:nvSpPr>
        <p:spPr>
          <a:xfrm>
            <a:off x="8290560" y="6278880"/>
            <a:ext cx="3413760" cy="30480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Lesson 3.07.05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04800"/>
            <a:ext cx="2926080" cy="463296"/>
          </a:xfrm>
          <a:prstGeom prst="roundRect">
            <a:avLst>
              <a:gd name="adj" fmla="val 19737"/>
            </a:avLst>
          </a:prstGeom>
          <a:solidFill>
            <a:srgbClr val="34B76F"/>
          </a:solidFill>
          <a:ln/>
        </p:spPr>
      </p:sp>
      <p:sp>
        <p:nvSpPr>
          <p:cNvPr id="4" name="Text 2"/>
          <p:cNvSpPr/>
          <p:nvPr/>
        </p:nvSpPr>
        <p:spPr>
          <a:xfrm>
            <a:off x="487680" y="304800"/>
            <a:ext cx="2926080" cy="463296"/>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SELF-CHECK</a:t>
            </a:r>
            <a:endParaRPr lang="en-US" sz="1200" dirty="0"/>
          </a:p>
        </p:txBody>
      </p:sp>
      <p:sp>
        <p:nvSpPr>
          <p:cNvPr id="5" name="Text 3"/>
          <p:cNvSpPr/>
          <p:nvPr/>
        </p:nvSpPr>
        <p:spPr>
          <a:xfrm>
            <a:off x="487680" y="914400"/>
            <a:ext cx="11216640" cy="67056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Check Your Understanding</a:t>
            </a:r>
            <a:endParaRPr lang="en-US" sz="2800" dirty="0"/>
          </a:p>
        </p:txBody>
      </p:sp>
      <p:sp>
        <p:nvSpPr>
          <p:cNvPr id="6" name="Shape 4"/>
          <p:cNvSpPr/>
          <p:nvPr/>
        </p:nvSpPr>
        <p:spPr>
          <a:xfrm>
            <a:off x="487680" y="1706880"/>
            <a:ext cx="11216640" cy="1280160"/>
          </a:xfrm>
          <a:prstGeom prst="roundRect">
            <a:avLst>
              <a:gd name="adj" fmla="val 8571"/>
            </a:avLst>
          </a:prstGeom>
          <a:solidFill>
            <a:srgbClr val="FFFFFF"/>
          </a:solidFill>
          <a:ln/>
          <a:effectLst>
            <a:outerShdw sx="100000" sy="100000" kx="0" ky="0" algn="bl" rotWithShape="0" blurRad="50800" dist="12700" dir="8100000">
              <a:srgbClr val="000000">
                <a:alpha val="8000"/>
              </a:srgbClr>
            </a:outerShdw>
          </a:effectLst>
        </p:spPr>
      </p:sp>
      <p:sp>
        <p:nvSpPr>
          <p:cNvPr id="7" name="Text 5"/>
          <p:cNvSpPr/>
          <p:nvPr/>
        </p:nvSpPr>
        <p:spPr>
          <a:xfrm>
            <a:off x="731520" y="1767840"/>
            <a:ext cx="10728960" cy="36576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1. What kind of land covers most of the Southwest?</a:t>
            </a:r>
            <a:endParaRPr lang="en-US" sz="1400" dirty="0"/>
          </a:p>
        </p:txBody>
      </p:sp>
      <p:sp>
        <p:nvSpPr>
          <p:cNvPr id="8" name="Text 6"/>
          <p:cNvSpPr/>
          <p:nvPr/>
        </p:nvSpPr>
        <p:spPr>
          <a:xfrm>
            <a:off x="975360" y="2133600"/>
            <a:ext cx="10241280" cy="268224"/>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A) Flat grassy prairies</a:t>
            </a:r>
            <a:endParaRPr lang="en-US" sz="1300" dirty="0"/>
          </a:p>
        </p:txBody>
      </p:sp>
      <p:sp>
        <p:nvSpPr>
          <p:cNvPr id="9" name="Text 7"/>
          <p:cNvSpPr/>
          <p:nvPr/>
        </p:nvSpPr>
        <p:spPr>
          <a:xfrm>
            <a:off x="975360" y="2401824"/>
            <a:ext cx="10241280" cy="268224"/>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B) Hot, dry deserts with mesas and canyons</a:t>
            </a:r>
            <a:endParaRPr lang="en-US" sz="1300" dirty="0"/>
          </a:p>
        </p:txBody>
      </p:sp>
      <p:sp>
        <p:nvSpPr>
          <p:cNvPr id="10" name="Text 8"/>
          <p:cNvSpPr/>
          <p:nvPr/>
        </p:nvSpPr>
        <p:spPr>
          <a:xfrm>
            <a:off x="975360" y="2670048"/>
            <a:ext cx="10241280" cy="268224"/>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C) Cold, rocky beaches</a:t>
            </a:r>
            <a:endParaRPr lang="en-US" sz="1300" dirty="0"/>
          </a:p>
        </p:txBody>
      </p:sp>
      <p:sp>
        <p:nvSpPr>
          <p:cNvPr id="11" name="Shape 9"/>
          <p:cNvSpPr/>
          <p:nvPr/>
        </p:nvSpPr>
        <p:spPr>
          <a:xfrm>
            <a:off x="487680" y="3108960"/>
            <a:ext cx="11216640" cy="1280160"/>
          </a:xfrm>
          <a:prstGeom prst="roundRect">
            <a:avLst>
              <a:gd name="adj" fmla="val 8571"/>
            </a:avLst>
          </a:prstGeom>
          <a:solidFill>
            <a:srgbClr val="F0F2F8"/>
          </a:solidFill>
          <a:ln/>
          <a:effectLst>
            <a:outerShdw sx="100000" sy="100000" kx="0" ky="0" algn="bl" rotWithShape="0" blurRad="50800" dist="12700" dir="8100000">
              <a:srgbClr val="000000">
                <a:alpha val="8000"/>
              </a:srgbClr>
            </a:outerShdw>
          </a:effectLst>
        </p:spPr>
      </p:sp>
      <p:sp>
        <p:nvSpPr>
          <p:cNvPr id="12" name="Text 10"/>
          <p:cNvSpPr/>
          <p:nvPr/>
        </p:nvSpPr>
        <p:spPr>
          <a:xfrm>
            <a:off x="731520" y="3169920"/>
            <a:ext cx="10728960" cy="36576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2. Which country shares a long border with the Southwest?</a:t>
            </a:r>
            <a:endParaRPr lang="en-US" sz="1400" dirty="0"/>
          </a:p>
        </p:txBody>
      </p:sp>
      <p:sp>
        <p:nvSpPr>
          <p:cNvPr id="13" name="Text 11"/>
          <p:cNvSpPr/>
          <p:nvPr/>
        </p:nvSpPr>
        <p:spPr>
          <a:xfrm>
            <a:off x="975360" y="3535680"/>
            <a:ext cx="10241280" cy="268224"/>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A) Canada</a:t>
            </a:r>
            <a:endParaRPr lang="en-US" sz="1300" dirty="0"/>
          </a:p>
        </p:txBody>
      </p:sp>
      <p:sp>
        <p:nvSpPr>
          <p:cNvPr id="14" name="Text 12"/>
          <p:cNvSpPr/>
          <p:nvPr/>
        </p:nvSpPr>
        <p:spPr>
          <a:xfrm>
            <a:off x="975360" y="3803904"/>
            <a:ext cx="10241280" cy="268224"/>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B) Cuba</a:t>
            </a:r>
            <a:endParaRPr lang="en-US" sz="1300" dirty="0"/>
          </a:p>
        </p:txBody>
      </p:sp>
      <p:sp>
        <p:nvSpPr>
          <p:cNvPr id="15" name="Text 13"/>
          <p:cNvSpPr/>
          <p:nvPr/>
        </p:nvSpPr>
        <p:spPr>
          <a:xfrm>
            <a:off x="975360" y="4072128"/>
            <a:ext cx="10241280" cy="268224"/>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C) Mexico</a:t>
            </a:r>
            <a:endParaRPr lang="en-US" sz="1300" dirty="0"/>
          </a:p>
        </p:txBody>
      </p:sp>
      <p:sp>
        <p:nvSpPr>
          <p:cNvPr id="16" name="Shape 14"/>
          <p:cNvSpPr/>
          <p:nvPr/>
        </p:nvSpPr>
        <p:spPr>
          <a:xfrm>
            <a:off x="487680" y="4511040"/>
            <a:ext cx="11216640" cy="1280160"/>
          </a:xfrm>
          <a:prstGeom prst="roundRect">
            <a:avLst>
              <a:gd name="adj" fmla="val 8571"/>
            </a:avLst>
          </a:prstGeom>
          <a:solidFill>
            <a:srgbClr val="FFFFFF"/>
          </a:solidFill>
          <a:ln/>
          <a:effectLst>
            <a:outerShdw sx="100000" sy="100000" kx="0" ky="0" algn="bl" rotWithShape="0" blurRad="50800" dist="12700" dir="8100000">
              <a:srgbClr val="000000">
                <a:alpha val="8000"/>
              </a:srgbClr>
            </a:outerShdw>
          </a:effectLst>
        </p:spPr>
      </p:sp>
      <p:sp>
        <p:nvSpPr>
          <p:cNvPr id="17" name="Text 15"/>
          <p:cNvSpPr/>
          <p:nvPr/>
        </p:nvSpPr>
        <p:spPr>
          <a:xfrm>
            <a:off x="731520" y="4572000"/>
            <a:ext cx="10728960" cy="36576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3. Which groups have lived in the Southwest for hundreds or thousands of years?</a:t>
            </a:r>
            <a:endParaRPr lang="en-US" sz="1400" dirty="0"/>
          </a:p>
        </p:txBody>
      </p:sp>
      <p:sp>
        <p:nvSpPr>
          <p:cNvPr id="18" name="Text 16"/>
          <p:cNvSpPr/>
          <p:nvPr/>
        </p:nvSpPr>
        <p:spPr>
          <a:xfrm>
            <a:off x="975360" y="4937760"/>
            <a:ext cx="10241280" cy="268224"/>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A) Pueblo, Navajo, and Hopi nations, along with Mexican-American families</a:t>
            </a:r>
            <a:endParaRPr lang="en-US" sz="1300" dirty="0"/>
          </a:p>
        </p:txBody>
      </p:sp>
      <p:sp>
        <p:nvSpPr>
          <p:cNvPr id="19" name="Text 17"/>
          <p:cNvSpPr/>
          <p:nvPr/>
        </p:nvSpPr>
        <p:spPr>
          <a:xfrm>
            <a:off x="975360" y="5205984"/>
            <a:ext cx="10241280" cy="268224"/>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B) Only people who arrived in the last 100 years</a:t>
            </a:r>
            <a:endParaRPr lang="en-US" sz="1300" dirty="0"/>
          </a:p>
        </p:txBody>
      </p:sp>
      <p:sp>
        <p:nvSpPr>
          <p:cNvPr id="20" name="Text 18"/>
          <p:cNvSpPr/>
          <p:nvPr/>
        </p:nvSpPr>
        <p:spPr>
          <a:xfrm>
            <a:off x="975360" y="5474208"/>
            <a:ext cx="10241280" cy="268224"/>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C) Nobody -- the Southwest is too hot to live in</a:t>
            </a:r>
            <a:endParaRPr lang="en-US" sz="1300" dirty="0"/>
          </a:p>
        </p:txBody>
      </p:sp>
      <p:sp>
        <p:nvSpPr>
          <p:cNvPr id="21" name="Text 19"/>
          <p:cNvSpPr/>
          <p:nvPr/>
        </p:nvSpPr>
        <p:spPr>
          <a:xfrm>
            <a:off x="487680" y="5974080"/>
            <a:ext cx="11216640" cy="304800"/>
          </a:xfrm>
          <a:prstGeom prst="rect">
            <a:avLst/>
          </a:prstGeom>
          <a:noFill/>
          <a:ln/>
        </p:spPr>
        <p:txBody>
          <a:bodyPr wrap="square" lIns="0" tIns="0" rIns="0" bIns="0" rtlCol="0" anchor="ctr"/>
          <a:lstStyle/>
          <a:p>
            <a:pPr algn="r" indent="0" marL="0">
              <a:buNone/>
            </a:pPr>
            <a:r>
              <a:rPr lang="en-US" sz="1100" i="1" dirty="0">
                <a:solidFill>
                  <a:srgbClr val="7A88A8"/>
                </a:solidFill>
                <a:latin typeface="Calibri" pitchFamily="34" charset="0"/>
                <a:ea typeface="Calibri" pitchFamily="34" charset="-122"/>
                <a:cs typeface="Calibri" pitchFamily="34" charset="-120"/>
              </a:rPr>
              <a:t>Answers: 1-B, 2-C, 3-A</a:t>
            </a:r>
            <a:endParaRPr lang="en-US" sz="1100" dirty="0"/>
          </a:p>
        </p:txBody>
      </p:sp>
      <p:sp>
        <p:nvSpPr>
          <p:cNvPr id="22" name="Text 20"/>
          <p:cNvSpPr/>
          <p:nvPr/>
        </p:nvSpPr>
        <p:spPr>
          <a:xfrm>
            <a:off x="365760" y="6278880"/>
            <a:ext cx="3657600" cy="304800"/>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Optima Academy Online</a:t>
            </a:r>
            <a:endParaRPr lang="en-US" sz="900" dirty="0"/>
          </a:p>
        </p:txBody>
      </p:sp>
      <p:sp>
        <p:nvSpPr>
          <p:cNvPr id="23" name="Text 21"/>
          <p:cNvSpPr/>
          <p:nvPr/>
        </p:nvSpPr>
        <p:spPr>
          <a:xfrm>
            <a:off x="8290560" y="6278880"/>
            <a:ext cx="3413760" cy="30480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Lesson 3.07.05</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04800"/>
            <a:ext cx="2926080" cy="463296"/>
          </a:xfrm>
          <a:prstGeom prst="roundRect">
            <a:avLst>
              <a:gd name="adj" fmla="val 19737"/>
            </a:avLst>
          </a:prstGeom>
          <a:solidFill>
            <a:srgbClr val="E8636B"/>
          </a:solidFill>
          <a:ln/>
        </p:spPr>
      </p:sp>
      <p:sp>
        <p:nvSpPr>
          <p:cNvPr id="4" name="Text 2"/>
          <p:cNvSpPr/>
          <p:nvPr/>
        </p:nvSpPr>
        <p:spPr>
          <a:xfrm>
            <a:off x="487680" y="304800"/>
            <a:ext cx="2926080" cy="463296"/>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ERROR ANALYSIS</a:t>
            </a:r>
            <a:endParaRPr lang="en-US" sz="1200" dirty="0"/>
          </a:p>
        </p:txBody>
      </p:sp>
      <p:sp>
        <p:nvSpPr>
          <p:cNvPr id="5" name="Text 3"/>
          <p:cNvSpPr/>
          <p:nvPr/>
        </p:nvSpPr>
        <p:spPr>
          <a:xfrm>
            <a:off x="487680" y="914400"/>
            <a:ext cx="11216640" cy="67056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Spot the Mistake</a:t>
            </a:r>
            <a:endParaRPr lang="en-US" sz="2800" dirty="0"/>
          </a:p>
        </p:txBody>
      </p:sp>
      <p:sp>
        <p:nvSpPr>
          <p:cNvPr id="6" name="Shape 4"/>
          <p:cNvSpPr/>
          <p:nvPr/>
        </p:nvSpPr>
        <p:spPr>
          <a:xfrm>
            <a:off x="609600" y="1828800"/>
            <a:ext cx="10972800" cy="1584960"/>
          </a:xfrm>
          <a:prstGeom prst="roundRect">
            <a:avLst>
              <a:gd name="adj" fmla="val 9231"/>
            </a:avLst>
          </a:prstGeom>
          <a:solidFill>
            <a:srgbClr val="FDE8E8"/>
          </a:solidFill>
          <a:ln/>
          <a:effectLst>
            <a:outerShdw sx="100000" sy="100000" kx="0" ky="0" algn="bl" rotWithShape="0" blurRad="76200" dist="25400" dir="8100000">
              <a:srgbClr val="000000">
                <a:alpha val="10000"/>
              </a:srgbClr>
            </a:outerShdw>
          </a:effectLst>
        </p:spPr>
      </p:sp>
      <p:sp>
        <p:nvSpPr>
          <p:cNvPr id="7" name="Text 5"/>
          <p:cNvSpPr/>
          <p:nvPr/>
        </p:nvSpPr>
        <p:spPr>
          <a:xfrm>
            <a:off x="853440" y="1926336"/>
            <a:ext cx="4876800" cy="365760"/>
          </a:xfrm>
          <a:prstGeom prst="rect">
            <a:avLst/>
          </a:prstGeom>
          <a:noFill/>
          <a:ln/>
        </p:spPr>
        <p:txBody>
          <a:bodyPr wrap="square" lIns="0" tIns="0" rIns="0" bIns="0" rtlCol="0" anchor="ctr"/>
          <a:lstStyle/>
          <a:p>
            <a:pPr indent="0" marL="0">
              <a:buNone/>
            </a:pPr>
            <a:r>
              <a:rPr lang="en-US" sz="1200" b="1" spc="150" kern="0" dirty="0">
                <a:solidFill>
                  <a:srgbClr val="E8636B"/>
                </a:solidFill>
                <a:latin typeface="Calibri" pitchFamily="34" charset="0"/>
                <a:ea typeface="Calibri" pitchFamily="34" charset="-122"/>
                <a:cs typeface="Calibri" pitchFamily="34" charset="-120"/>
              </a:rPr>
              <a:t>INCORRECT CLAIM</a:t>
            </a:r>
            <a:endParaRPr lang="en-US" sz="1200" dirty="0"/>
          </a:p>
        </p:txBody>
      </p:sp>
      <p:sp>
        <p:nvSpPr>
          <p:cNvPr id="8" name="Text 6"/>
          <p:cNvSpPr/>
          <p:nvPr/>
        </p:nvSpPr>
        <p:spPr>
          <a:xfrm>
            <a:off x="853440" y="2377440"/>
            <a:ext cx="10485120" cy="853440"/>
          </a:xfrm>
          <a:prstGeom prst="rect">
            <a:avLst/>
          </a:prstGeom>
          <a:noFill/>
          <a:ln/>
        </p:spPr>
        <p:txBody>
          <a:bodyPr wrap="square" lIns="0" tIns="0" rIns="0" bIns="0" rtlCol="0" anchor="t"/>
          <a:lstStyle/>
          <a:p>
            <a:pPr indent="0" marL="0">
              <a:buNone/>
            </a:pPr>
            <a:r>
              <a:rPr lang="en-US" sz="1800" i="1" dirty="0">
                <a:solidFill>
                  <a:srgbClr val="E8636B"/>
                </a:solidFill>
                <a:latin typeface="Cambria" pitchFamily="34" charset="0"/>
                <a:ea typeface="Cambria" pitchFamily="34" charset="-122"/>
                <a:cs typeface="Cambria" pitchFamily="34" charset="-120"/>
              </a:rPr>
              <a:t>"The Southwest has lots of rain and green forests. People there do not need to worry about water."</a:t>
            </a:r>
            <a:endParaRPr lang="en-US" sz="1800" dirty="0"/>
          </a:p>
        </p:txBody>
      </p:sp>
      <p:sp>
        <p:nvSpPr>
          <p:cNvPr id="9" name="Shape 7"/>
          <p:cNvSpPr/>
          <p:nvPr/>
        </p:nvSpPr>
        <p:spPr>
          <a:xfrm>
            <a:off x="609600" y="3657600"/>
            <a:ext cx="10972800" cy="2194560"/>
          </a:xfrm>
          <a:prstGeom prst="roundRect">
            <a:avLst>
              <a:gd name="adj" fmla="val 6667"/>
            </a:avLst>
          </a:prstGeom>
          <a:solidFill>
            <a:srgbClr val="E3F8ED"/>
          </a:solidFill>
          <a:ln/>
          <a:effectLst>
            <a:outerShdw sx="100000" sy="100000" kx="0" ky="0" algn="bl" rotWithShape="0" blurRad="76200" dist="25400" dir="8100000">
              <a:srgbClr val="000000">
                <a:alpha val="10000"/>
              </a:srgbClr>
            </a:outerShdw>
          </a:effectLst>
        </p:spPr>
      </p:sp>
      <p:sp>
        <p:nvSpPr>
          <p:cNvPr id="10" name="Text 8"/>
          <p:cNvSpPr/>
          <p:nvPr/>
        </p:nvSpPr>
        <p:spPr>
          <a:xfrm>
            <a:off x="853440" y="3755136"/>
            <a:ext cx="4876800" cy="365760"/>
          </a:xfrm>
          <a:prstGeom prst="rect">
            <a:avLst/>
          </a:prstGeom>
          <a:noFill/>
          <a:ln/>
        </p:spPr>
        <p:txBody>
          <a:bodyPr wrap="square" lIns="0" tIns="0" rIns="0" bIns="0" rtlCol="0" anchor="ctr"/>
          <a:lstStyle/>
          <a:p>
            <a:pPr indent="0" marL="0">
              <a:buNone/>
            </a:pPr>
            <a:r>
              <a:rPr lang="en-US" sz="1200" b="1" spc="150" kern="0" dirty="0">
                <a:solidFill>
                  <a:srgbClr val="34B76F"/>
                </a:solidFill>
                <a:latin typeface="Calibri" pitchFamily="34" charset="0"/>
                <a:ea typeface="Calibri" pitchFamily="34" charset="-122"/>
                <a:cs typeface="Calibri" pitchFamily="34" charset="-120"/>
              </a:rPr>
              <a:t>WHAT IS WRONG?</a:t>
            </a:r>
            <a:endParaRPr lang="en-US" sz="1200" dirty="0"/>
          </a:p>
        </p:txBody>
      </p:sp>
      <p:sp>
        <p:nvSpPr>
          <p:cNvPr id="11" name="Text 9"/>
          <p:cNvSpPr/>
          <p:nvPr/>
        </p:nvSpPr>
        <p:spPr>
          <a:xfrm>
            <a:off x="853440" y="4206240"/>
            <a:ext cx="1048512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The Southwest is mostly dry desert with very little rain.</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Water is precious -- not plentiful. Communities build dams and canals.</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Flash floods happen because the ground is too dry to absorb sudden rain.</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There are no green forests -- the landscape is sandy, rocky, and dry.</a:t>
            </a:r>
            <a:endParaRPr lang="en-US" sz="1500" dirty="0"/>
          </a:p>
        </p:txBody>
      </p:sp>
      <p:sp>
        <p:nvSpPr>
          <p:cNvPr id="12" name="Shape 10"/>
          <p:cNvSpPr/>
          <p:nvPr/>
        </p:nvSpPr>
        <p:spPr>
          <a:xfrm>
            <a:off x="487680" y="5608320"/>
            <a:ext cx="11216640" cy="914400"/>
          </a:xfrm>
          <a:prstGeom prst="roundRect">
            <a:avLst>
              <a:gd name="adj" fmla="val 20000"/>
            </a:avLst>
          </a:prstGeom>
          <a:solidFill>
            <a:srgbClr val="1A2D5A"/>
          </a:solidFill>
          <a:ln/>
          <a:effectLst>
            <a:outerShdw sx="100000" sy="100000" kx="0" ky="0" algn="bl" rotWithShape="0" blurRad="101600" dist="38100" dir="8100000">
              <a:srgbClr val="000000">
                <a:alpha val="20000"/>
              </a:srgbClr>
            </a:outerShdw>
          </a:effectLst>
        </p:spPr>
      </p:sp>
      <p:sp>
        <p:nvSpPr>
          <p:cNvPr id="13" name="Text 11"/>
          <p:cNvSpPr/>
          <p:nvPr/>
        </p:nvSpPr>
        <p:spPr>
          <a:xfrm>
            <a:off x="734568" y="5727192"/>
            <a:ext cx="10732008" cy="338328"/>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SOCRATIC QUESTIONS</a:t>
            </a:r>
            <a:endParaRPr lang="en-US" sz="1200" dirty="0"/>
          </a:p>
        </p:txBody>
      </p:sp>
      <p:sp>
        <p:nvSpPr>
          <p:cNvPr id="14" name="Text 12"/>
          <p:cNvSpPr/>
          <p:nvPr/>
        </p:nvSpPr>
        <p:spPr>
          <a:xfrm>
            <a:off x="734568" y="6074664"/>
            <a:ext cx="10732008" cy="329184"/>
          </a:xfrm>
          <a:prstGeom prst="rect">
            <a:avLst/>
          </a:prstGeom>
          <a:noFill/>
          <a:ln/>
        </p:spPr>
        <p:txBody>
          <a:bodyPr wrap="square" lIns="0" tIns="0" rIns="0" bIns="0" rtlCol="0" anchor="t"/>
          <a:lstStyle/>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Why is this mistake easy to make if you have never visited the Southwest?</a:t>
            </a:r>
            <a:endParaRPr lang="en-US" sz="1400" dirty="0"/>
          </a:p>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How could you use evidence from today's lesson to correct this claim?</a:t>
            </a:r>
            <a:endParaRPr lang="en-US" sz="1400" dirty="0"/>
          </a:p>
        </p:txBody>
      </p:sp>
      <p:sp>
        <p:nvSpPr>
          <p:cNvPr id="15" name="Text 13"/>
          <p:cNvSpPr/>
          <p:nvPr/>
        </p:nvSpPr>
        <p:spPr>
          <a:xfrm>
            <a:off x="365760" y="6278880"/>
            <a:ext cx="3657600" cy="304800"/>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Optima Academy Online</a:t>
            </a:r>
            <a:endParaRPr lang="en-US" sz="900" dirty="0"/>
          </a:p>
        </p:txBody>
      </p:sp>
      <p:sp>
        <p:nvSpPr>
          <p:cNvPr id="16" name="Text 14"/>
          <p:cNvSpPr/>
          <p:nvPr/>
        </p:nvSpPr>
        <p:spPr>
          <a:xfrm>
            <a:off x="8290560" y="6278880"/>
            <a:ext cx="3413760" cy="30480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Lesson 3.07.05</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04800"/>
            <a:ext cx="2926080" cy="463296"/>
          </a:xfrm>
          <a:prstGeom prst="roundRect">
            <a:avLst>
              <a:gd name="adj" fmla="val 19737"/>
            </a:avLst>
          </a:prstGeom>
          <a:solidFill>
            <a:srgbClr val="0E1C42"/>
          </a:solidFill>
          <a:ln/>
        </p:spPr>
      </p:sp>
      <p:sp>
        <p:nvSpPr>
          <p:cNvPr id="4" name="Text 2"/>
          <p:cNvSpPr/>
          <p:nvPr/>
        </p:nvSpPr>
        <p:spPr>
          <a:xfrm>
            <a:off x="487680" y="304800"/>
            <a:ext cx="2926080" cy="463296"/>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EVIDENCE QUESTIONS</a:t>
            </a:r>
            <a:endParaRPr lang="en-US" sz="1200" dirty="0"/>
          </a:p>
        </p:txBody>
      </p:sp>
      <p:sp>
        <p:nvSpPr>
          <p:cNvPr id="5" name="Text 3"/>
          <p:cNvSpPr/>
          <p:nvPr/>
        </p:nvSpPr>
        <p:spPr>
          <a:xfrm>
            <a:off x="487680" y="914400"/>
            <a:ext cx="11216640" cy="67056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Show What You Know</a:t>
            </a:r>
            <a:endParaRPr lang="en-US" sz="2800" dirty="0"/>
          </a:p>
        </p:txBody>
      </p:sp>
      <p:sp>
        <p:nvSpPr>
          <p:cNvPr id="6" name="Shape 4"/>
          <p:cNvSpPr/>
          <p:nvPr/>
        </p:nvSpPr>
        <p:spPr>
          <a:xfrm>
            <a:off x="487680" y="1706880"/>
            <a:ext cx="11216640" cy="1158240"/>
          </a:xfrm>
          <a:prstGeom prst="roundRect">
            <a:avLst>
              <a:gd name="adj" fmla="val 11053"/>
            </a:avLst>
          </a:prstGeom>
          <a:solidFill>
            <a:srgbClr val="EAF8FD"/>
          </a:solidFill>
          <a:ln/>
          <a:effectLst>
            <a:outerShdw sx="100000" sy="100000" kx="0" ky="0" algn="bl" rotWithShape="0" blurRad="50800" dist="12700" dir="8100000">
              <a:srgbClr val="000000">
                <a:alpha val="8000"/>
              </a:srgbClr>
            </a:outerShdw>
          </a:effectLst>
        </p:spPr>
      </p:sp>
      <p:sp>
        <p:nvSpPr>
          <p:cNvPr id="7" name="Shape 5"/>
          <p:cNvSpPr/>
          <p:nvPr/>
        </p:nvSpPr>
        <p:spPr>
          <a:xfrm>
            <a:off x="609600" y="1804416"/>
            <a:ext cx="487680" cy="487680"/>
          </a:xfrm>
          <a:prstGeom prst="roundRect">
            <a:avLst>
              <a:gd name="adj" fmla="val 15000"/>
            </a:avLst>
          </a:prstGeom>
          <a:solidFill>
            <a:srgbClr val="0E1C42"/>
          </a:solidFill>
          <a:ln/>
        </p:spPr>
      </p:sp>
      <p:sp>
        <p:nvSpPr>
          <p:cNvPr id="8" name="Text 6"/>
          <p:cNvSpPr/>
          <p:nvPr/>
        </p:nvSpPr>
        <p:spPr>
          <a:xfrm>
            <a:off x="609600" y="1804416"/>
            <a:ext cx="487680" cy="4876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280160" y="1767840"/>
            <a:ext cx="10180320" cy="5486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Where is the Southwest located on a U.S. map? Name the country to the south.</a:t>
            </a:r>
            <a:endParaRPr lang="en-US" sz="1600" dirty="0"/>
          </a:p>
        </p:txBody>
      </p:sp>
      <p:sp>
        <p:nvSpPr>
          <p:cNvPr id="10" name="Text 8"/>
          <p:cNvSpPr/>
          <p:nvPr/>
        </p:nvSpPr>
        <p:spPr>
          <a:xfrm>
            <a:off x="1280160" y="2316480"/>
            <a:ext cx="10180320" cy="426720"/>
          </a:xfrm>
          <a:prstGeom prst="rect">
            <a:avLst/>
          </a:prstGeom>
          <a:noFill/>
          <a:ln/>
        </p:spPr>
        <p:txBody>
          <a:bodyPr wrap="square" lIns="0" tIns="0" rIns="0" bIns="0" rtlCol="0" anchor="t"/>
          <a:lstStyle/>
          <a:p>
            <a:pPr indent="0" marL="0">
              <a:buNone/>
            </a:pPr>
            <a:r>
              <a:rPr lang="en-US" sz="1300" i="1" dirty="0">
                <a:solidFill>
                  <a:srgbClr val="7A88A8"/>
                </a:solidFill>
                <a:latin typeface="Calibri" pitchFamily="34" charset="0"/>
                <a:ea typeface="Calibri" pitchFamily="34" charset="-122"/>
                <a:cs typeface="Calibri" pitchFamily="34" charset="-120"/>
              </a:rPr>
              <a:t>Hint: Think about which part of the U.S. and which border.</a:t>
            </a:r>
            <a:endParaRPr lang="en-US" sz="1300" dirty="0"/>
          </a:p>
        </p:txBody>
      </p:sp>
      <p:sp>
        <p:nvSpPr>
          <p:cNvPr id="11" name="Shape 9"/>
          <p:cNvSpPr/>
          <p:nvPr/>
        </p:nvSpPr>
        <p:spPr>
          <a:xfrm>
            <a:off x="487680" y="3048000"/>
            <a:ext cx="11216640" cy="1158240"/>
          </a:xfrm>
          <a:prstGeom prst="roundRect">
            <a:avLst>
              <a:gd name="adj" fmla="val 11053"/>
            </a:avLst>
          </a:prstGeom>
          <a:solidFill>
            <a:srgbClr val="E3F8ED"/>
          </a:solidFill>
          <a:ln/>
          <a:effectLst>
            <a:outerShdw sx="100000" sy="100000" kx="0" ky="0" algn="bl" rotWithShape="0" blurRad="50800" dist="12700" dir="8100000">
              <a:srgbClr val="000000">
                <a:alpha val="8000"/>
              </a:srgbClr>
            </a:outerShdw>
          </a:effectLst>
        </p:spPr>
      </p:sp>
      <p:sp>
        <p:nvSpPr>
          <p:cNvPr id="12" name="Shape 10"/>
          <p:cNvSpPr/>
          <p:nvPr/>
        </p:nvSpPr>
        <p:spPr>
          <a:xfrm>
            <a:off x="609600" y="3145536"/>
            <a:ext cx="487680" cy="487680"/>
          </a:xfrm>
          <a:prstGeom prst="roundRect">
            <a:avLst>
              <a:gd name="adj" fmla="val 15000"/>
            </a:avLst>
          </a:prstGeom>
          <a:solidFill>
            <a:srgbClr val="0E1C42"/>
          </a:solidFill>
          <a:ln/>
        </p:spPr>
      </p:sp>
      <p:sp>
        <p:nvSpPr>
          <p:cNvPr id="13" name="Text 11"/>
          <p:cNvSpPr/>
          <p:nvPr/>
        </p:nvSpPr>
        <p:spPr>
          <a:xfrm>
            <a:off x="609600" y="3145536"/>
            <a:ext cx="487680" cy="4876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1280160" y="3108960"/>
            <a:ext cx="10180320" cy="5486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Name one Southwest state and one landform or feature found there.</a:t>
            </a:r>
            <a:endParaRPr lang="en-US" sz="1600" dirty="0"/>
          </a:p>
        </p:txBody>
      </p:sp>
      <p:sp>
        <p:nvSpPr>
          <p:cNvPr id="15" name="Text 13"/>
          <p:cNvSpPr/>
          <p:nvPr/>
        </p:nvSpPr>
        <p:spPr>
          <a:xfrm>
            <a:off x="1280160" y="3657600"/>
            <a:ext cx="10180320" cy="426720"/>
          </a:xfrm>
          <a:prstGeom prst="rect">
            <a:avLst/>
          </a:prstGeom>
          <a:noFill/>
          <a:ln/>
        </p:spPr>
        <p:txBody>
          <a:bodyPr wrap="square" lIns="0" tIns="0" rIns="0" bIns="0" rtlCol="0" anchor="t"/>
          <a:lstStyle/>
          <a:p>
            <a:pPr indent="0" marL="0">
              <a:buNone/>
            </a:pPr>
            <a:r>
              <a:rPr lang="en-US" sz="1300" i="1" dirty="0">
                <a:solidFill>
                  <a:srgbClr val="7A88A8"/>
                </a:solidFill>
                <a:latin typeface="Calibri" pitchFamily="34" charset="0"/>
                <a:ea typeface="Calibri" pitchFamily="34" charset="-122"/>
                <a:cs typeface="Calibri" pitchFamily="34" charset="-120"/>
              </a:rPr>
              <a:t>Hint: Pick a state, then match it to a desert, canyon, or river.</a:t>
            </a:r>
            <a:endParaRPr lang="en-US" sz="1300" dirty="0"/>
          </a:p>
        </p:txBody>
      </p:sp>
      <p:sp>
        <p:nvSpPr>
          <p:cNvPr id="16" name="Shape 14"/>
          <p:cNvSpPr/>
          <p:nvPr/>
        </p:nvSpPr>
        <p:spPr>
          <a:xfrm>
            <a:off x="487680" y="4389120"/>
            <a:ext cx="11216640" cy="1158240"/>
          </a:xfrm>
          <a:prstGeom prst="roundRect">
            <a:avLst>
              <a:gd name="adj" fmla="val 11053"/>
            </a:avLst>
          </a:prstGeom>
          <a:solidFill>
            <a:srgbClr val="F0E8FF"/>
          </a:solidFill>
          <a:ln/>
          <a:effectLst>
            <a:outerShdw sx="100000" sy="100000" kx="0" ky="0" algn="bl" rotWithShape="0" blurRad="50800" dist="12700" dir="8100000">
              <a:srgbClr val="000000">
                <a:alpha val="8000"/>
              </a:srgbClr>
            </a:outerShdw>
          </a:effectLst>
        </p:spPr>
      </p:sp>
      <p:sp>
        <p:nvSpPr>
          <p:cNvPr id="17" name="Shape 15"/>
          <p:cNvSpPr/>
          <p:nvPr/>
        </p:nvSpPr>
        <p:spPr>
          <a:xfrm>
            <a:off x="609600" y="4486656"/>
            <a:ext cx="487680" cy="487680"/>
          </a:xfrm>
          <a:prstGeom prst="roundRect">
            <a:avLst>
              <a:gd name="adj" fmla="val 15000"/>
            </a:avLst>
          </a:prstGeom>
          <a:solidFill>
            <a:srgbClr val="0E1C42"/>
          </a:solidFill>
          <a:ln/>
        </p:spPr>
      </p:sp>
      <p:sp>
        <p:nvSpPr>
          <p:cNvPr id="18" name="Text 16"/>
          <p:cNvSpPr/>
          <p:nvPr/>
        </p:nvSpPr>
        <p:spPr>
          <a:xfrm>
            <a:off x="609600" y="4486656"/>
            <a:ext cx="487680" cy="4876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p:nvPr/>
        </p:nvSpPr>
        <p:spPr>
          <a:xfrm>
            <a:off x="1280160" y="4450080"/>
            <a:ext cx="10180320" cy="5486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Name one group of people who have lived in the Southwest for a long time and one thing about them.</a:t>
            </a:r>
            <a:endParaRPr lang="en-US" sz="1600" dirty="0"/>
          </a:p>
        </p:txBody>
      </p:sp>
      <p:sp>
        <p:nvSpPr>
          <p:cNvPr id="20" name="Text 18"/>
          <p:cNvSpPr/>
          <p:nvPr/>
        </p:nvSpPr>
        <p:spPr>
          <a:xfrm>
            <a:off x="1280160" y="4998720"/>
            <a:ext cx="10180320" cy="426720"/>
          </a:xfrm>
          <a:prstGeom prst="rect">
            <a:avLst/>
          </a:prstGeom>
          <a:noFill/>
          <a:ln/>
        </p:spPr>
        <p:txBody>
          <a:bodyPr wrap="square" lIns="0" tIns="0" rIns="0" bIns="0" rtlCol="0" anchor="t"/>
          <a:lstStyle/>
          <a:p>
            <a:pPr indent="0" marL="0">
              <a:buNone/>
            </a:pPr>
            <a:r>
              <a:rPr lang="en-US" sz="1300" i="1" dirty="0">
                <a:solidFill>
                  <a:srgbClr val="7A88A8"/>
                </a:solidFill>
                <a:latin typeface="Calibri" pitchFamily="34" charset="0"/>
                <a:ea typeface="Calibri" pitchFamily="34" charset="-122"/>
                <a:cs typeface="Calibri" pitchFamily="34" charset="-120"/>
              </a:rPr>
              <a:t>Hint: Think about Native nations or Mexican-American families and how they lived.</a:t>
            </a:r>
            <a:endParaRPr lang="en-US" sz="1300" dirty="0"/>
          </a:p>
        </p:txBody>
      </p:sp>
      <p:sp>
        <p:nvSpPr>
          <p:cNvPr id="21" name="Text 19"/>
          <p:cNvSpPr/>
          <p:nvPr/>
        </p:nvSpPr>
        <p:spPr>
          <a:xfrm>
            <a:off x="487680" y="5913120"/>
            <a:ext cx="11216640" cy="365760"/>
          </a:xfrm>
          <a:prstGeom prst="rect">
            <a:avLst/>
          </a:prstGeom>
          <a:noFill/>
          <a:ln/>
        </p:spPr>
        <p:txBody>
          <a:bodyPr wrap="square" lIns="0" tIns="0" rIns="0" bIns="0"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Write your answers in complete sentences using evidence from today's lesson.</a:t>
            </a:r>
            <a:endParaRPr lang="en-US" sz="1400" dirty="0"/>
          </a:p>
        </p:txBody>
      </p:sp>
      <p:sp>
        <p:nvSpPr>
          <p:cNvPr id="22" name="Text 20"/>
          <p:cNvSpPr/>
          <p:nvPr/>
        </p:nvSpPr>
        <p:spPr>
          <a:xfrm>
            <a:off x="365760" y="6278880"/>
            <a:ext cx="3657600" cy="304800"/>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Optima Academy Online</a:t>
            </a:r>
            <a:endParaRPr lang="en-US" sz="900" dirty="0"/>
          </a:p>
        </p:txBody>
      </p:sp>
      <p:sp>
        <p:nvSpPr>
          <p:cNvPr id="23" name="Text 21"/>
          <p:cNvSpPr/>
          <p:nvPr/>
        </p:nvSpPr>
        <p:spPr>
          <a:xfrm>
            <a:off x="8290560" y="6278880"/>
            <a:ext cx="3413760" cy="30480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Lesson 3.07.05</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04800"/>
            <a:ext cx="2926080" cy="463296"/>
          </a:xfrm>
          <a:prstGeom prst="roundRect">
            <a:avLst>
              <a:gd name="adj" fmla="val 19737"/>
            </a:avLst>
          </a:prstGeom>
          <a:solidFill>
            <a:srgbClr val="D4943A"/>
          </a:solidFill>
          <a:ln/>
        </p:spPr>
      </p:sp>
      <p:sp>
        <p:nvSpPr>
          <p:cNvPr id="4" name="Text 2"/>
          <p:cNvSpPr/>
          <p:nvPr/>
        </p:nvSpPr>
        <p:spPr>
          <a:xfrm>
            <a:off x="487680" y="304800"/>
            <a:ext cx="2926080" cy="463296"/>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CURATOR TASK</a:t>
            </a:r>
            <a:endParaRPr lang="en-US" sz="1200" dirty="0"/>
          </a:p>
        </p:txBody>
      </p:sp>
      <p:sp>
        <p:nvSpPr>
          <p:cNvPr id="5" name="Shape 3"/>
          <p:cNvSpPr/>
          <p:nvPr/>
        </p:nvSpPr>
        <p:spPr>
          <a:xfrm>
            <a:off x="487680" y="914400"/>
            <a:ext cx="11216640" cy="1889760"/>
          </a:xfrm>
          <a:prstGeom prst="roundRect">
            <a:avLst>
              <a:gd name="adj" fmla="val 7742"/>
            </a:avLst>
          </a:prstGeom>
          <a:solidFill>
            <a:srgbClr val="FFF8F0"/>
          </a:solidFill>
          <a:ln/>
          <a:effectLst>
            <a:outerShdw sx="100000" sy="100000" kx="0" ky="0" algn="bl" rotWithShape="0" blurRad="76200" dist="25400" dir="8100000">
              <a:srgbClr val="000000">
                <a:alpha val="10000"/>
              </a:srgbClr>
            </a:outerShdw>
          </a:effectLst>
        </p:spPr>
      </p:sp>
      <p:sp>
        <p:nvSpPr>
          <p:cNvPr id="6" name="Text 4"/>
          <p:cNvSpPr/>
          <p:nvPr/>
        </p:nvSpPr>
        <p:spPr>
          <a:xfrm>
            <a:off x="731520" y="1011936"/>
            <a:ext cx="4876800" cy="341376"/>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EXHIBIT LABEL</a:t>
            </a:r>
            <a:endParaRPr lang="en-US" sz="1100" dirty="0"/>
          </a:p>
        </p:txBody>
      </p:sp>
      <p:sp>
        <p:nvSpPr>
          <p:cNvPr id="7" name="Text 5"/>
          <p:cNvSpPr/>
          <p:nvPr/>
        </p:nvSpPr>
        <p:spPr>
          <a:xfrm>
            <a:off x="731520" y="1365504"/>
            <a:ext cx="10728960" cy="1280160"/>
          </a:xfrm>
          <a:prstGeom prst="rect">
            <a:avLst/>
          </a:prstGeom>
          <a:noFill/>
          <a:ln/>
        </p:spPr>
        <p:txBody>
          <a:bodyPr wrap="square" lIns="0" tIns="0" rIns="0" bIns="0" rtlCol="0" anchor="t"/>
          <a:lstStyle/>
          <a:p>
            <a:pPr indent="0" marL="0">
              <a:lnSpc>
                <a:spcPct val="120000"/>
              </a:lnSpc>
              <a:buNone/>
            </a:pPr>
            <a:r>
              <a:rPr lang="en-US" sz="1500" dirty="0">
                <a:solidFill>
                  <a:srgbClr val="0E1C42"/>
                </a:solidFill>
                <a:latin typeface="Calibri" pitchFamily="34" charset="0"/>
                <a:ea typeface="Calibri" pitchFamily="34" charset="-122"/>
                <a:cs typeface="Calibri" pitchFamily="34" charset="-120"/>
              </a:rPr>
              <a:t>Visitors will read this sign as they walk into the Southwest alcove. Write 3-4 sentences telling them where the Southwest is, what the land looks like, and one thing about the people who live there. Use kind, careful words -- this is a real region where real people live.</a:t>
            </a:r>
            <a:endParaRPr lang="en-US" sz="1500" dirty="0"/>
          </a:p>
        </p:txBody>
      </p:sp>
      <p:sp>
        <p:nvSpPr>
          <p:cNvPr id="8" name="Shape 6"/>
          <p:cNvSpPr/>
          <p:nvPr/>
        </p:nvSpPr>
        <p:spPr>
          <a:xfrm>
            <a:off x="487680" y="3048000"/>
            <a:ext cx="11216640" cy="914400"/>
          </a:xfrm>
          <a:prstGeom prst="roundRect">
            <a:avLst>
              <a:gd name="adj" fmla="val 12000"/>
            </a:avLst>
          </a:prstGeom>
          <a:solidFill>
            <a:srgbClr val="EAF8FD"/>
          </a:solidFill>
          <a:ln/>
        </p:spPr>
      </p:sp>
      <p:sp>
        <p:nvSpPr>
          <p:cNvPr id="9" name="Text 7"/>
          <p:cNvSpPr/>
          <p:nvPr/>
        </p:nvSpPr>
        <p:spPr>
          <a:xfrm>
            <a:off x="731520" y="3108960"/>
            <a:ext cx="2438400" cy="304800"/>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CHRONICLE</a:t>
            </a:r>
            <a:endParaRPr lang="en-US" sz="1100" dirty="0"/>
          </a:p>
        </p:txBody>
      </p:sp>
      <p:sp>
        <p:nvSpPr>
          <p:cNvPr id="10" name="Text 8"/>
          <p:cNvSpPr/>
          <p:nvPr/>
        </p:nvSpPr>
        <p:spPr>
          <a:xfrm>
            <a:off x="731520" y="3438144"/>
            <a:ext cx="10728960" cy="426720"/>
          </a:xfrm>
          <a:prstGeom prst="rect">
            <a:avLst/>
          </a:prstGeom>
          <a:noFill/>
          <a:ln/>
        </p:spPr>
        <p:txBody>
          <a:bodyPr wrap="square" lIns="0" tIns="0" rIns="0" bIns="0" rtlCol="0" anchor="ctr"/>
          <a:lstStyle/>
          <a:p>
            <a:pPr indent="0" marL="0">
              <a:buNone/>
            </a:pPr>
            <a:r>
              <a:rPr lang="en-US" sz="1600" i="1" dirty="0">
                <a:solidFill>
                  <a:srgbClr val="0E1C42"/>
                </a:solidFill>
                <a:latin typeface="Cambria" pitchFamily="34" charset="0"/>
                <a:ea typeface="Cambria" pitchFamily="34" charset="-122"/>
                <a:cs typeface="Cambria" pitchFamily="34" charset="-120"/>
              </a:rPr>
              <a:t>In this exhibit, I learned that ______ because ______.</a:t>
            </a:r>
            <a:endParaRPr lang="en-US" sz="1600" dirty="0"/>
          </a:p>
        </p:txBody>
      </p:sp>
      <p:sp>
        <p:nvSpPr>
          <p:cNvPr id="11" name="Shape 9"/>
          <p:cNvSpPr/>
          <p:nvPr/>
        </p:nvSpPr>
        <p:spPr>
          <a:xfrm>
            <a:off x="487680" y="4267200"/>
            <a:ext cx="11216640" cy="2072640"/>
          </a:xfrm>
          <a:prstGeom prst="roundRect">
            <a:avLst>
              <a:gd name="adj" fmla="val 7059"/>
            </a:avLst>
          </a:prstGeom>
          <a:solidFill>
            <a:srgbClr val="1A2D5A"/>
          </a:solidFill>
          <a:ln/>
          <a:effectLst>
            <a:outerShdw sx="100000" sy="100000" kx="0" ky="0" algn="bl" rotWithShape="0" blurRad="101600" dist="38100" dir="8100000">
              <a:srgbClr val="000000">
                <a:alpha val="15000"/>
              </a:srgbClr>
            </a:outerShdw>
          </a:effectLst>
        </p:spPr>
      </p:sp>
      <p:sp>
        <p:nvSpPr>
          <p:cNvPr id="12" name="Text 10"/>
          <p:cNvSpPr/>
          <p:nvPr/>
        </p:nvSpPr>
        <p:spPr>
          <a:xfrm>
            <a:off x="731520" y="4364736"/>
            <a:ext cx="4876800" cy="365760"/>
          </a:xfrm>
          <a:prstGeom prst="rect">
            <a:avLst/>
          </a:prstGeom>
          <a:noFill/>
          <a:ln/>
        </p:spPr>
        <p:txBody>
          <a:bodyPr wrap="square" lIns="0" tIns="0" rIns="0" bIns="0" rtlCol="0" anchor="ctr"/>
          <a:lstStyle/>
          <a:p>
            <a:pPr indent="0" marL="0">
              <a:buNone/>
            </a:pPr>
            <a:r>
              <a:rPr lang="en-US" sz="1200" b="1" spc="150" kern="0" dirty="0">
                <a:solidFill>
                  <a:srgbClr val="D4943A"/>
                </a:solidFill>
                <a:latin typeface="Calibri" pitchFamily="34" charset="0"/>
                <a:ea typeface="Calibri" pitchFamily="34" charset="-122"/>
                <a:cs typeface="Calibri" pitchFamily="34" charset="-120"/>
              </a:rPr>
              <a:t>COMING NEXT</a:t>
            </a:r>
            <a:endParaRPr lang="en-US" sz="1200" dirty="0"/>
          </a:p>
        </p:txBody>
      </p:sp>
      <p:sp>
        <p:nvSpPr>
          <p:cNvPr id="13" name="Text 11"/>
          <p:cNvSpPr/>
          <p:nvPr/>
        </p:nvSpPr>
        <p:spPr>
          <a:xfrm>
            <a:off x="731520" y="4754880"/>
            <a:ext cx="10728960" cy="4876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The West: Mountains, Coast, and Far Reaches</a:t>
            </a:r>
            <a:endParaRPr lang="en-US" sz="2000" dirty="0"/>
          </a:p>
        </p:txBody>
      </p:sp>
      <p:sp>
        <p:nvSpPr>
          <p:cNvPr id="14" name="Text 12"/>
          <p:cNvSpPr/>
          <p:nvPr/>
        </p:nvSpPr>
        <p:spPr>
          <a:xfrm>
            <a:off x="731520" y="5242560"/>
            <a:ext cx="10728960" cy="975360"/>
          </a:xfrm>
          <a:prstGeom prst="rect">
            <a:avLst/>
          </a:prstGeom>
          <a:noFill/>
          <a:ln/>
        </p:spPr>
        <p:txBody>
          <a:bodyPr wrap="square" lIns="0" tIns="0" rIns="0" bIns="0" rtlCol="0" anchor="t"/>
          <a:lstStyle/>
          <a:p>
            <a:pPr indent="0" marL="0">
              <a:lnSpc>
                <a:spcPct val="120000"/>
              </a:lnSpc>
              <a:buNone/>
            </a:pPr>
            <a:r>
              <a:rPr lang="en-US" sz="1400" dirty="0">
                <a:solidFill>
                  <a:srgbClr val="55C8E8"/>
                </a:solidFill>
                <a:latin typeface="Calibri" pitchFamily="34" charset="0"/>
                <a:ea typeface="Calibri" pitchFamily="34" charset="-122"/>
                <a:cs typeface="Calibri" pitchFamily="34" charset="-120"/>
              </a:rPr>
              <a:t>The last alcove -- and the biggest region of them all. The biggest crate arrives: MOUNTAINS, COAST, &amp; FAR REACHES. Inside: a fir-cone branch, a piece of cooled black lava, a photograph of a snowy mountain peak, and a map showing California, Hawaii, and Alaska.</a:t>
            </a:r>
            <a:endParaRPr lang="en-US" sz="1400" dirty="0"/>
          </a:p>
        </p:txBody>
      </p:sp>
      <p:sp>
        <p:nvSpPr>
          <p:cNvPr id="15" name="Text 13"/>
          <p:cNvSpPr/>
          <p:nvPr/>
        </p:nvSpPr>
        <p:spPr>
          <a:xfrm>
            <a:off x="365760" y="6278880"/>
            <a:ext cx="3657600" cy="304800"/>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Optima Academy Online</a:t>
            </a:r>
            <a:endParaRPr lang="en-US" sz="900" dirty="0"/>
          </a:p>
        </p:txBody>
      </p:sp>
      <p:sp>
        <p:nvSpPr>
          <p:cNvPr id="16" name="Text 14"/>
          <p:cNvSpPr/>
          <p:nvPr/>
        </p:nvSpPr>
        <p:spPr>
          <a:xfrm>
            <a:off x="8290560" y="6278880"/>
            <a:ext cx="3413760" cy="30480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Lesson 3.07.05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2026-07-11T03:47:11Z</dcterms:created>
  <dcterms:modified xsi:type="dcterms:W3CDTF">2026-07-11T03:47:11Z</dcterms:modified>
</cp:coreProperties>
</file>