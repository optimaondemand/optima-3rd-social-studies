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Grand Regional Council Chamber — long table with evidence cards from all five regions, dramatic lightingIMAGE TO INSERT: Grand Regional Council Chamber with long table, evidence cards from all five regions, dramatic warm lighting
Teacher: Welcome students! Today we move from the Great Map Room gallery alcoves into a brand-new space: the Regional Council Chamber. Five regions studied, five alcoves completed. Now we gather all our evidence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Council Chamber door opening — long table with five stacks of evidence cards, each labeled by regionIMAGE TO INSERT: Council Chamber door opening, long table with five labeled stacks of evidence cards
Teacher: Set the scene. The gallery work is done — all five region alcoves are complete. The Director leads us to a new room: the Regional Council Chamber. There is a long table with seats and stacks of evidence cards from every region. Tomorrow the council will pose a tough question about resources. Today we review and organize our evidence so we are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Warm spotlight on a scroll reading Honesty in an elegant museum council chamber settingIMAGE TO INSERT: Warm spotlight on a scroll reading Honesty in the council chamber
Teacher: Introduce the virtue of honesty. At the council, curators must report what the evidence actually shows — not what they wish were true. This means using facts, admitting gaps, and being willing to change our thinking. Ask: Why is honesty especially important when a council is making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Review the Northeast. Location: upper-right, Atlantic coast. Landforms: Appalachians, harbors, rivers. Resources: fishing, maple syrup, coal. Key fact: oldest cities. Ask students to recall details from their gallery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Review the Southeast. Location: lower-right, Gulf + Atlantic. Landforms: coastal plains, Everglades, Mississippi outlet. Resources: citrus, peaches, cotton, fishing. Key fact: warm/humid, hurricanes. Ask: What makes the Southeast climate both helpful and dangerous?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Review the Midwest. Location: center, interior plains. Landforms: Great Lakes (21% of world freshwater!), Mississippi River. Resources: corn, soybeans, wheat = Breadbasket. Key fact: feeds the nation but faces harsh winters and tornadoes.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Review the Southwest. Location: lower-center. Landforms: Sonoran/Chihuahuan deserts, Rio Grande, Grand Canyon. Resources: oil/gas, cattle, irrigated cotton, tourism. Key fact: hot and dry, water is scarce.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Review the West. Location: left side, Pacific to Rockies. Landforms: Rocky Mtns, Cascades, Pacific coast. Resources: timber, salmon, tech, tourism. Key fact: most diverse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Display the five-region map. Have students identify which regions border oceans (Northeast + Southeast = Atlantic; West = Pacific; Southeast + Southwest = Gulf). The Midwest is the most landlocked. Ask: Why might ocean access matter for resources? (Fishing, shipping,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Discussion questions to prepare for the council. Give think time, then partner talk, then whole-class share. Q1: Which region has the MOST resources? (Many answers work — Midwest for food, Southwest for oil/gas, West for variety.) Push for evidence. Q2: Hardest time? (Midwest — no ocean; or Southwest — little water.) Q3: What do ALL five share? (All have water, all adapted, all produce something others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Compare past and present. THEN: Early travelers had incomplete, inaccurate maps — could not know what resources lay ahead. NOW: Satellite images and databases show exact resources. Ask: How does accurate information change what the council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Summarize the big picture. No region has everything. Northeast = harbors but not farmland. Midwest = food but no ocean. Southwest = oil but little water. This is WHY the council needs evidence from all five regions before making a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The Ogallala Aquifer is a massive underground water source under 8 Great Plains states. It irrigates millions of acres. But it is being used faster than it refills. Ask: What happens if it runs out? This connects to the big lesson — no region has unlimited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The Midwest grows corn, soybeans, and wheat — earning it the nickname Breadbasket of America.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The Northeast and Southeast both border the Atlantic Ocean. The Midwest is landlocked, the Southwest borders the Gulf, and the West borders the Pacific.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Today's lesson is about gathering and organizing evidence from all five regions to prepare for the Regional Council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Walk through each part. Evidence Q1: Choose TWO regions, name a resource + why it matters. Evidence Q2: Which region has the hardest time getting a resource it needs — push for evidence. Curator Task: Name all five regions, one resource each, one commonality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Give students a minute to write their Curator's Chronicle entry. This is a personal reflection — they complete the sentence frame with something specific they learned. Ask a few students to share. Connect to honesty: we write what we actually learned, not what sounds impressive.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Regional Council Chamber at dusk — evidence cards neatly organized on the table, chairs pushed in, ready for tomorrowIMAGE TO INSERT: Regional Council Chamber at dusk — evidence cards neatly organized, ready for tomorrow
Teacher: Wrap up. Students reviewed all five region evidence cards, practiced thinking like council members, and learned about the Ogallala Aquifer. Tomorrow the council meets. Build anticipation!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1219200"/>
            <a:ext cx="10363200" cy="365760"/>
          </a:xfrm>
          <a:prstGeom prst="rect">
            <a:avLst/>
          </a:prstGeom>
          <a:noFill/>
          <a:ln/>
        </p:spPr>
        <p:txBody>
          <a:bodyPr wrap="square" lIns="0" tIns="0" rIns="0" bIns="0" rtlCol="0" anchor="ctr"/>
          <a:lstStyle/>
          <a:p>
            <a:pPr indent="0" marL="0">
              <a:buNone/>
            </a:pPr>
            <a:r>
              <a:rPr lang="en-US" sz="1000" b="1" spc="250" kern="0" dirty="0">
                <a:solidFill>
                  <a:srgbClr val="D4943A"/>
                </a:solidFill>
                <a:latin typeface="Calibri" pitchFamily="34" charset="0"/>
                <a:ea typeface="Calibri" pitchFamily="34" charset="-122"/>
                <a:cs typeface="Calibri" pitchFamily="34" charset="-120"/>
              </a:rPr>
              <a:t>LESSON 3.08.01</a:t>
            </a:r>
            <a:endParaRPr lang="en-US" sz="1000" dirty="0"/>
          </a:p>
        </p:txBody>
      </p:sp>
      <p:sp>
        <p:nvSpPr>
          <p:cNvPr id="6" name="Text 3"/>
          <p:cNvSpPr/>
          <p:nvPr/>
        </p:nvSpPr>
        <p:spPr>
          <a:xfrm>
            <a:off x="975360" y="1706880"/>
            <a:ext cx="9753600" cy="1463040"/>
          </a:xfrm>
          <a:prstGeom prst="rect">
            <a:avLst/>
          </a:prstGeom>
          <a:noFill/>
          <a:ln/>
        </p:spPr>
        <p:txBody>
          <a:bodyPr wrap="square" lIns="0" tIns="0" rIns="0" bIns="0" rtlCol="0" anchor="ctr"/>
          <a:lstStyle/>
          <a:p>
            <a:pPr indent="0" marL="0">
              <a:lnSpc>
                <a:spcPct val="90000"/>
              </a:lnSpc>
              <a:buNone/>
            </a:pPr>
            <a:r>
              <a:rPr lang="en-US" sz="4200" b="1" dirty="0">
                <a:solidFill>
                  <a:srgbClr val="FFFFFF"/>
                </a:solidFill>
                <a:latin typeface="Cambria" pitchFamily="34" charset="0"/>
                <a:ea typeface="Cambria" pitchFamily="34" charset="-122"/>
                <a:cs typeface="Cambria" pitchFamily="34" charset="-120"/>
              </a:rPr>
              <a:t>Regional Evidence</a:t>
            </a:r>
            <a:endParaRPr lang="en-US" sz="4200" dirty="0"/>
          </a:p>
          <a:p>
            <a:pPr indent="0" marL="0">
              <a:lnSpc>
                <a:spcPct val="90000"/>
              </a:lnSpc>
              <a:buNone/>
            </a:pPr>
            <a:r>
              <a:rPr lang="en-US" sz="4200" b="1" dirty="0">
                <a:solidFill>
                  <a:srgbClr val="FFFFFF"/>
                </a:solidFill>
                <a:latin typeface="Cambria" pitchFamily="34" charset="0"/>
                <a:ea typeface="Cambria" pitchFamily="34" charset="-122"/>
                <a:cs typeface="Cambria" pitchFamily="34" charset="-120"/>
              </a:rPr>
              <a:t>Review</a:t>
            </a:r>
            <a:endParaRPr lang="en-US" sz="4200" dirty="0"/>
          </a:p>
        </p:txBody>
      </p:sp>
      <p:sp>
        <p:nvSpPr>
          <p:cNvPr id="7" name="Text 4"/>
          <p:cNvSpPr/>
          <p:nvPr/>
        </p:nvSpPr>
        <p:spPr>
          <a:xfrm>
            <a:off x="975360" y="3413760"/>
            <a:ext cx="7315200" cy="365760"/>
          </a:xfrm>
          <a:prstGeom prst="rect">
            <a:avLst/>
          </a:prstGeom>
          <a:noFill/>
          <a:ln/>
        </p:spPr>
        <p:txBody>
          <a:bodyPr wrap="square" lIns="0" tIns="0" rIns="0" bIns="0" rtlCol="0" anchor="ctr"/>
          <a:lstStyle/>
          <a:p>
            <a:pPr indent="0" marL="0">
              <a:buNone/>
            </a:pPr>
            <a:r>
              <a:rPr lang="en-US" sz="1100" b="1" spc="200" kern="0" dirty="0">
                <a:solidFill>
                  <a:srgbClr val="55C8E8"/>
                </a:solidFill>
                <a:latin typeface="Calibri" pitchFamily="34" charset="0"/>
                <a:ea typeface="Calibri" pitchFamily="34" charset="-122"/>
                <a:cs typeface="Calibri" pitchFamily="34" charset="-120"/>
              </a:rPr>
              <a:t>REGIONAL COUNCIL CHAMBER</a:t>
            </a:r>
            <a:endParaRPr lang="en-US" sz="1100" dirty="0"/>
          </a:p>
        </p:txBody>
      </p:sp>
      <p:sp>
        <p:nvSpPr>
          <p:cNvPr id="8" name="Text 5"/>
          <p:cNvSpPr/>
          <p:nvPr/>
        </p:nvSpPr>
        <p:spPr>
          <a:xfrm>
            <a:off x="975360" y="5608320"/>
            <a:ext cx="7315200" cy="304800"/>
          </a:xfrm>
          <a:prstGeom prst="rect">
            <a:avLst/>
          </a:prstGeom>
          <a:noFill/>
          <a:ln/>
        </p:spPr>
        <p:txBody>
          <a:bodyPr wrap="square" lIns="0" tIns="0" rIns="0" bIns="0" rtlCol="0" anchor="ctr"/>
          <a:lstStyle/>
          <a:p>
            <a:pPr indent="0" marL="0">
              <a:buNone/>
            </a:pPr>
            <a:r>
              <a:rPr lang="en-US" sz="1100" dirty="0">
                <a:solidFill>
                  <a:srgbClr val="7A88A8"/>
                </a:solidFill>
                <a:latin typeface="Calibri" pitchFamily="34" charset="0"/>
                <a:ea typeface="Calibri" pitchFamily="34" charset="-122"/>
                <a:cs typeface="Calibri" pitchFamily="34" charset="-120"/>
              </a:rPr>
              <a:t>Optima Academy Online  |  Grade 3 Social Studies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609600"/>
            <a:ext cx="97536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Council Chamber Opens</a:t>
            </a:r>
            <a:endParaRPr lang="en-US" sz="3000" dirty="0"/>
          </a:p>
        </p:txBody>
      </p:sp>
      <p:sp>
        <p:nvSpPr>
          <p:cNvPr id="6" name="Text 3"/>
          <p:cNvSpPr/>
          <p:nvPr/>
        </p:nvSpPr>
        <p:spPr>
          <a:xfrm>
            <a:off x="975360" y="1158240"/>
            <a:ext cx="7315200" cy="365760"/>
          </a:xfrm>
          <a:prstGeom prst="rect">
            <a:avLst/>
          </a:prstGeom>
          <a:noFill/>
          <a:ln/>
        </p:spPr>
        <p:txBody>
          <a:bodyPr wrap="square" lIns="0" tIns="0" rIns="0" bIns="0" rtlCol="0" anchor="ctr"/>
          <a:lstStyle/>
          <a:p>
            <a:pPr indent="0" marL="0">
              <a:buNone/>
            </a:pPr>
            <a:r>
              <a:rPr lang="en-US" sz="1400" dirty="0">
                <a:solidFill>
                  <a:srgbClr val="55C8E8"/>
                </a:solidFill>
                <a:latin typeface="Calibri" pitchFamily="34" charset="0"/>
                <a:ea typeface="Calibri" pitchFamily="34" charset="-122"/>
                <a:cs typeface="Calibri" pitchFamily="34" charset="-120"/>
              </a:rPr>
              <a:t>A New Room in the Museum</a:t>
            </a:r>
            <a:endParaRPr lang="en-US" sz="1400" dirty="0"/>
          </a:p>
        </p:txBody>
      </p:sp>
      <p:sp>
        <p:nvSpPr>
          <p:cNvPr id="7" name="Shape 4"/>
          <p:cNvSpPr/>
          <p:nvPr/>
        </p:nvSpPr>
        <p:spPr>
          <a:xfrm>
            <a:off x="731520" y="1950720"/>
            <a:ext cx="5120640" cy="2438400"/>
          </a:xfrm>
          <a:prstGeom prst="roundRect">
            <a:avLst>
              <a:gd name="adj" fmla="val 4500"/>
            </a:avLst>
          </a:prstGeom>
          <a:solidFill>
            <a:srgbClr val="FFF3DC"/>
          </a:solidFill>
          <a:ln w="19050">
            <a:solidFill>
              <a:srgbClr val="F5E6C8"/>
            </a:solidFill>
            <a:prstDash val="solid"/>
          </a:ln>
        </p:spPr>
      </p:sp>
      <p:sp>
        <p:nvSpPr>
          <p:cNvPr id="8" name="Text 5"/>
          <p:cNvSpPr/>
          <p:nvPr/>
        </p:nvSpPr>
        <p:spPr>
          <a:xfrm>
            <a:off x="868680" y="2005584"/>
            <a:ext cx="48463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6"/>
          <p:cNvSpPr/>
          <p:nvPr/>
        </p:nvSpPr>
        <p:spPr>
          <a:xfrm>
            <a:off x="868680" y="2206752"/>
            <a:ext cx="4846320" cy="21183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"Your gallery is finished — five alcoves, five regions."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Director has opened a new door: the Regional Council Chamber."</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"Look — a long table with stacks of evidence cards from every region."</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"Tomorrow the council will ask a hard question. Today we gather the evidence."</a:t>
            </a:r>
            <a:endParaRPr lang="en-US" sz="1200" dirty="0"/>
          </a:p>
        </p:txBody>
      </p:sp>
      <p:sp>
        <p:nvSpPr>
          <p:cNvPr id="10" name="Shape 7"/>
          <p:cNvSpPr/>
          <p:nvPr/>
        </p:nvSpPr>
        <p:spPr>
          <a:xfrm>
            <a:off x="6339840" y="1950720"/>
            <a:ext cx="5120640" cy="1828800"/>
          </a:xfrm>
          <a:prstGeom prst="roundRect">
            <a:avLst>
              <a:gd name="adj" fmla="val 7500"/>
            </a:avLst>
          </a:prstGeom>
          <a:solidFill>
            <a:srgbClr val="1A2D5A"/>
          </a:solidFill>
          <a:ln/>
          <a:effectLst>
            <a:outerShdw sx="100000" sy="100000" kx="0" ky="0" algn="bl" rotWithShape="0" blurRad="101600" dist="38100" dir="8100000">
              <a:srgbClr val="000000">
                <a:alpha val="20000"/>
              </a:srgbClr>
            </a:outerShdw>
          </a:effectLst>
        </p:spPr>
      </p:sp>
      <p:sp>
        <p:nvSpPr>
          <p:cNvPr id="11" name="Text 8"/>
          <p:cNvSpPr/>
          <p:nvPr/>
        </p:nvSpPr>
        <p:spPr>
          <a:xfrm>
            <a:off x="6522720" y="2042160"/>
            <a:ext cx="47548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2" name="Text 9"/>
          <p:cNvSpPr/>
          <p:nvPr/>
        </p:nvSpPr>
        <p:spPr>
          <a:xfrm>
            <a:off x="6522720" y="2298192"/>
            <a:ext cx="4754880" cy="13898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would the museum have a council chamber?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kind of hard question might the council ask?</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 we need to gather evidence before answering?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731520"/>
            <a:ext cx="6096000" cy="36576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VIRTUE SPOTLIGHT</a:t>
            </a:r>
            <a:endParaRPr lang="en-US" sz="1000" dirty="0"/>
          </a:p>
        </p:txBody>
      </p:sp>
      <p:sp>
        <p:nvSpPr>
          <p:cNvPr id="6" name="Text 3"/>
          <p:cNvSpPr/>
          <p:nvPr/>
        </p:nvSpPr>
        <p:spPr>
          <a:xfrm>
            <a:off x="975360" y="1158240"/>
            <a:ext cx="7315200" cy="6096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Honesty</a:t>
            </a:r>
            <a:endParaRPr lang="en-US" sz="3600" dirty="0"/>
          </a:p>
        </p:txBody>
      </p:sp>
      <p:sp>
        <p:nvSpPr>
          <p:cNvPr id="7" name="Text 4"/>
          <p:cNvSpPr/>
          <p:nvPr/>
        </p:nvSpPr>
        <p:spPr>
          <a:xfrm>
            <a:off x="975360" y="1950720"/>
            <a:ext cx="6705600" cy="853440"/>
          </a:xfrm>
          <a:prstGeom prst="rect">
            <a:avLst/>
          </a:prstGeom>
          <a:noFill/>
          <a:ln/>
        </p:spPr>
        <p:txBody>
          <a:bodyPr wrap="square" lIns="0" tIns="0" rIns="0" bIns="0" rtlCol="0" anchor="ctr"/>
          <a:lstStyle/>
          <a:p>
            <a:pPr indent="0" marL="0">
              <a:buNone/>
            </a:pPr>
            <a:r>
              <a:rPr lang="en-US" sz="1500" dirty="0">
                <a:solidFill>
                  <a:srgbClr val="B8C4E0"/>
                </a:solidFill>
                <a:latin typeface="Calibri" pitchFamily="34" charset="0"/>
                <a:ea typeface="Calibri" pitchFamily="34" charset="-122"/>
                <a:cs typeface="Calibri" pitchFamily="34" charset="-120"/>
              </a:rPr>
              <a:t>At the Regional Council, we report what the evidence actually shows — not what we wish were true.</a:t>
            </a:r>
            <a:endParaRPr lang="en-US" sz="1500" dirty="0"/>
          </a:p>
        </p:txBody>
      </p:sp>
      <p:sp>
        <p:nvSpPr>
          <p:cNvPr id="8" name="Shape 5"/>
          <p:cNvSpPr/>
          <p:nvPr/>
        </p:nvSpPr>
        <p:spPr>
          <a:xfrm>
            <a:off x="975360" y="3169920"/>
            <a:ext cx="6705600" cy="2194560"/>
          </a:xfrm>
          <a:prstGeom prst="roundRect">
            <a:avLst>
              <a:gd name="adj" fmla="val 5000"/>
            </a:avLst>
          </a:prstGeom>
          <a:solidFill>
            <a:srgbClr val="1A2D5A"/>
          </a:solidFill>
          <a:ln/>
        </p:spPr>
      </p:sp>
      <p:sp>
        <p:nvSpPr>
          <p:cNvPr id="9" name="Text 6"/>
          <p:cNvSpPr/>
          <p:nvPr/>
        </p:nvSpPr>
        <p:spPr>
          <a:xfrm>
            <a:off x="1158240" y="3267456"/>
            <a:ext cx="6339840" cy="256032"/>
          </a:xfrm>
          <a:prstGeom prst="rect">
            <a:avLst/>
          </a:prstGeom>
          <a:noFill/>
          <a:ln/>
        </p:spPr>
        <p:txBody>
          <a:bodyPr wrap="square" lIns="0" tIns="0" rIns="0" bIns="0" rtlCol="0" anchor="ctr"/>
          <a:lstStyle/>
          <a:p>
            <a:pPr indent="0" marL="0">
              <a:buNone/>
            </a:pPr>
            <a:r>
              <a:rPr lang="en-US" sz="1000" b="1" spc="100" kern="0" dirty="0">
                <a:solidFill>
                  <a:srgbClr val="55C8E8"/>
                </a:solidFill>
                <a:latin typeface="Calibri" pitchFamily="34" charset="0"/>
                <a:ea typeface="Calibri" pitchFamily="34" charset="-122"/>
                <a:cs typeface="Calibri" pitchFamily="34" charset="-120"/>
              </a:rPr>
              <a:t>What does honesty look like at the council?</a:t>
            </a:r>
            <a:endParaRPr lang="en-US" sz="1000" dirty="0"/>
          </a:p>
        </p:txBody>
      </p:sp>
      <p:sp>
        <p:nvSpPr>
          <p:cNvPr id="10" name="Text 7"/>
          <p:cNvSpPr/>
          <p:nvPr/>
        </p:nvSpPr>
        <p:spPr>
          <a:xfrm>
            <a:off x="1219200" y="3633216"/>
            <a:ext cx="6096000" cy="15849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Using facts from our region studies, not guesses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Saying 'I don't have evidence for that' when unsure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Reporting challenges a region faces, not just strengths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Changing our minds when new evidence appears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731520" y="365760"/>
            <a:ext cx="4876800" cy="30480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EVIDENCE CARD 1</a:t>
            </a:r>
            <a:endParaRPr lang="en-US" sz="1000" dirty="0"/>
          </a:p>
        </p:txBody>
      </p:sp>
      <p:sp>
        <p:nvSpPr>
          <p:cNvPr id="4" name="Text 2"/>
          <p:cNvSpPr/>
          <p:nvPr/>
        </p:nvSpPr>
        <p:spPr>
          <a:xfrm>
            <a:off x="731520" y="670560"/>
            <a:ext cx="7315200" cy="5486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NORTHEAST Region</a:t>
            </a:r>
            <a:endParaRPr lang="en-US" sz="2800" dirty="0"/>
          </a:p>
        </p:txBody>
      </p:sp>
      <p:sp>
        <p:nvSpPr>
          <p:cNvPr id="5" name="Shape 3"/>
          <p:cNvSpPr/>
          <p:nvPr/>
        </p:nvSpPr>
        <p:spPr>
          <a:xfrm>
            <a:off x="731520" y="1584960"/>
            <a:ext cx="5486400" cy="3413760"/>
          </a:xfrm>
          <a:prstGeom prst="roundRect">
            <a:avLst>
              <a:gd name="adj" fmla="val 4018"/>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841248" y="1694688"/>
            <a:ext cx="5266944" cy="365760"/>
          </a:xfrm>
          <a:prstGeom prst="roundRect">
            <a:avLst>
              <a:gd name="adj" fmla="val 20000"/>
            </a:avLst>
          </a:prstGeom>
          <a:solidFill>
            <a:srgbClr val="1A8A7D"/>
          </a:solidFill>
          <a:ln/>
        </p:spPr>
      </p:sp>
      <p:sp>
        <p:nvSpPr>
          <p:cNvPr id="7" name="Text 5"/>
          <p:cNvSpPr/>
          <p:nvPr/>
        </p:nvSpPr>
        <p:spPr>
          <a:xfrm>
            <a:off x="841248" y="1694688"/>
            <a:ext cx="5266944"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NORTHEAST</a:t>
            </a:r>
            <a:endParaRPr lang="en-US" sz="1400" dirty="0"/>
          </a:p>
        </p:txBody>
      </p:sp>
      <p:sp>
        <p:nvSpPr>
          <p:cNvPr id="8" name="Text 6"/>
          <p:cNvSpPr/>
          <p:nvPr/>
        </p:nvSpPr>
        <p:spPr>
          <a:xfrm>
            <a:off x="914400" y="2133600"/>
            <a:ext cx="5120640" cy="292608"/>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Location: </a:t>
            </a:r>
            <a:pPr indent="0" marL="0">
              <a:buNone/>
            </a:pPr>
            <a:r>
              <a:rPr lang="en-US" sz="1100" dirty="0">
                <a:solidFill>
                  <a:srgbClr val="3A4A6A"/>
                </a:solidFill>
                <a:latin typeface="Calibri" pitchFamily="34" charset="0"/>
                <a:ea typeface="Calibri" pitchFamily="34" charset="-122"/>
                <a:cs typeface="Calibri" pitchFamily="34" charset="-120"/>
              </a:rPr>
              <a:t>Upper-right corner of the U.S., Atlantic coast</a:t>
            </a:r>
            <a:endParaRPr lang="en-US" sz="1100" dirty="0"/>
          </a:p>
        </p:txBody>
      </p:sp>
      <p:sp>
        <p:nvSpPr>
          <p:cNvPr id="9" name="Text 7"/>
          <p:cNvSpPr/>
          <p:nvPr/>
        </p:nvSpPr>
        <p:spPr>
          <a:xfrm>
            <a:off x="914400" y="2444496"/>
            <a:ext cx="5120640" cy="292608"/>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Landforms: </a:t>
            </a:r>
            <a:pPr indent="0" marL="0">
              <a:buNone/>
            </a:pPr>
            <a:r>
              <a:rPr lang="en-US" sz="1100" dirty="0">
                <a:solidFill>
                  <a:srgbClr val="3A4A6A"/>
                </a:solidFill>
                <a:latin typeface="Calibri" pitchFamily="34" charset="0"/>
                <a:ea typeface="Calibri" pitchFamily="34" charset="-122"/>
                <a:cs typeface="Calibri" pitchFamily="34" charset="-120"/>
              </a:rPr>
              <a:t>Appalachian Mountains, natural harbors, rivers</a:t>
            </a:r>
            <a:endParaRPr lang="en-US" sz="1100" dirty="0"/>
          </a:p>
        </p:txBody>
      </p:sp>
      <p:sp>
        <p:nvSpPr>
          <p:cNvPr id="10" name="Text 8"/>
          <p:cNvSpPr/>
          <p:nvPr/>
        </p:nvSpPr>
        <p:spPr>
          <a:xfrm>
            <a:off x="914400" y="2755392"/>
            <a:ext cx="5120640" cy="292608"/>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Resources: </a:t>
            </a:r>
            <a:pPr indent="0" marL="0">
              <a:buNone/>
            </a:pPr>
            <a:r>
              <a:rPr lang="en-US" sz="1100" dirty="0">
                <a:solidFill>
                  <a:srgbClr val="3A4A6A"/>
                </a:solidFill>
                <a:latin typeface="Calibri" pitchFamily="34" charset="0"/>
                <a:ea typeface="Calibri" pitchFamily="34" charset="-122"/>
                <a:cs typeface="Calibri" pitchFamily="34" charset="-120"/>
              </a:rPr>
              <a:t>Fishing, maple syrup, coal</a:t>
            </a:r>
            <a:endParaRPr lang="en-US" sz="1100" dirty="0"/>
          </a:p>
        </p:txBody>
      </p:sp>
      <p:sp>
        <p:nvSpPr>
          <p:cNvPr id="11" name="Text 9"/>
          <p:cNvSpPr/>
          <p:nvPr/>
        </p:nvSpPr>
        <p:spPr>
          <a:xfrm>
            <a:off x="914400" y="3066288"/>
            <a:ext cx="5120640" cy="292608"/>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Key Fact: </a:t>
            </a:r>
            <a:pPr indent="0" marL="0">
              <a:buNone/>
            </a:pPr>
            <a:r>
              <a:rPr lang="en-US" sz="1100" dirty="0">
                <a:solidFill>
                  <a:srgbClr val="3A4A6A"/>
                </a:solidFill>
                <a:latin typeface="Calibri" pitchFamily="34" charset="0"/>
                <a:ea typeface="Calibri" pitchFamily="34" charset="-122"/>
                <a:cs typeface="Calibri" pitchFamily="34" charset="-120"/>
              </a:rPr>
              <a:t>Oldest cities in the U.S. (Boston, NYC, Philadelphia)</a:t>
            </a:r>
            <a:endParaRPr lang="en-US" sz="1100" dirty="0"/>
          </a:p>
        </p:txBody>
      </p:sp>
      <p:sp>
        <p:nvSpPr>
          <p:cNvPr id="12" name="Shape 10"/>
          <p:cNvSpPr/>
          <p:nvPr/>
        </p:nvSpPr>
        <p:spPr>
          <a:xfrm>
            <a:off x="6705600" y="1584960"/>
            <a:ext cx="4876800" cy="3413760"/>
          </a:xfrm>
          <a:prstGeom prst="roundRect">
            <a:avLst>
              <a:gd name="adj" fmla="val 3214"/>
            </a:avLst>
          </a:prstGeom>
          <a:solidFill>
            <a:srgbClr val="E2E8F4"/>
          </a:solidFill>
          <a:ln w="19050">
            <a:solidFill>
              <a:srgbClr val="B0B8CC"/>
            </a:solidFill>
            <a:prstDash val="dash"/>
          </a:ln>
        </p:spPr>
      </p:sp>
      <p:sp>
        <p:nvSpPr>
          <p:cNvPr id="13" name="Text 11"/>
          <p:cNvSpPr/>
          <p:nvPr/>
        </p:nvSpPr>
        <p:spPr>
          <a:xfrm>
            <a:off x="6705600" y="1584960"/>
            <a:ext cx="48768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4" name="Text 12"/>
          <p:cNvSpPr/>
          <p:nvPr/>
        </p:nvSpPr>
        <p:spPr>
          <a:xfrm>
            <a:off x="6888480" y="1950720"/>
            <a:ext cx="4511040" cy="29565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Northeast region — map snippet showing upper-right U.S. + harbor + Appalachian mountains</a:t>
            </a:r>
            <a:endParaRPr lang="en-US" sz="1100" dirty="0"/>
          </a:p>
        </p:txBody>
      </p:sp>
      <p:sp>
        <p:nvSpPr>
          <p:cNvPr id="15" name="Shape 13"/>
          <p:cNvSpPr/>
          <p:nvPr/>
        </p:nvSpPr>
        <p:spPr>
          <a:xfrm>
            <a:off x="731520" y="5364480"/>
            <a:ext cx="10728960" cy="609600"/>
          </a:xfrm>
          <a:prstGeom prst="roundRect">
            <a:avLst>
              <a:gd name="adj" fmla="val 12000"/>
            </a:avLst>
          </a:prstGeom>
          <a:solidFill>
            <a:srgbClr val="FFF8F0"/>
          </a:solidFill>
          <a:ln/>
        </p:spPr>
      </p:sp>
      <p:sp>
        <p:nvSpPr>
          <p:cNvPr id="16" name="Text 14"/>
          <p:cNvSpPr/>
          <p:nvPr/>
        </p:nvSpPr>
        <p:spPr>
          <a:xfrm>
            <a:off x="975360" y="5364480"/>
            <a:ext cx="10241280" cy="609600"/>
          </a:xfrm>
          <a:prstGeom prst="rect">
            <a:avLst/>
          </a:prstGeom>
          <a:noFill/>
          <a:ln/>
        </p:spPr>
        <p:txBody>
          <a:bodyPr wrap="square" lIns="0" tIns="0" rIns="0" bIns="0"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Quick Recall: </a:t>
            </a:r>
            <a:pPr indent="0" marL="0">
              <a:buNone/>
            </a:pPr>
            <a:r>
              <a:rPr lang="en-US" sz="1200" dirty="0">
                <a:solidFill>
                  <a:srgbClr val="5A4A3A"/>
                </a:solidFill>
                <a:latin typeface="Calibri" pitchFamily="34" charset="0"/>
                <a:ea typeface="Calibri" pitchFamily="34" charset="-122"/>
                <a:cs typeface="Calibri" pitchFamily="34" charset="-120"/>
              </a:rPr>
              <a:t>Oldest cities in the U.S. (Boston, NYC, Philadelphia)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731520" y="365760"/>
            <a:ext cx="4876800" cy="30480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EVIDENCE CARD 2</a:t>
            </a:r>
            <a:endParaRPr lang="en-US" sz="1000" dirty="0"/>
          </a:p>
        </p:txBody>
      </p:sp>
      <p:sp>
        <p:nvSpPr>
          <p:cNvPr id="4" name="Text 2"/>
          <p:cNvSpPr/>
          <p:nvPr/>
        </p:nvSpPr>
        <p:spPr>
          <a:xfrm>
            <a:off x="731520" y="670560"/>
            <a:ext cx="7315200" cy="5486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SOUTHEAST Region</a:t>
            </a:r>
            <a:endParaRPr lang="en-US" sz="2800" dirty="0"/>
          </a:p>
        </p:txBody>
      </p:sp>
      <p:sp>
        <p:nvSpPr>
          <p:cNvPr id="5" name="Shape 3"/>
          <p:cNvSpPr/>
          <p:nvPr/>
        </p:nvSpPr>
        <p:spPr>
          <a:xfrm>
            <a:off x="731520" y="1584960"/>
            <a:ext cx="5486400" cy="3413760"/>
          </a:xfrm>
          <a:prstGeom prst="roundRect">
            <a:avLst>
              <a:gd name="adj" fmla="val 4018"/>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841248" y="1694688"/>
            <a:ext cx="5266944" cy="365760"/>
          </a:xfrm>
          <a:prstGeom prst="roundRect">
            <a:avLst>
              <a:gd name="adj" fmla="val 20000"/>
            </a:avLst>
          </a:prstGeom>
          <a:solidFill>
            <a:srgbClr val="E8636B"/>
          </a:solidFill>
          <a:ln/>
        </p:spPr>
      </p:sp>
      <p:sp>
        <p:nvSpPr>
          <p:cNvPr id="7" name="Text 5"/>
          <p:cNvSpPr/>
          <p:nvPr/>
        </p:nvSpPr>
        <p:spPr>
          <a:xfrm>
            <a:off x="841248" y="1694688"/>
            <a:ext cx="5266944"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SOUTHEAST</a:t>
            </a:r>
            <a:endParaRPr lang="en-US" sz="1400" dirty="0"/>
          </a:p>
        </p:txBody>
      </p:sp>
      <p:sp>
        <p:nvSpPr>
          <p:cNvPr id="8" name="Text 6"/>
          <p:cNvSpPr/>
          <p:nvPr/>
        </p:nvSpPr>
        <p:spPr>
          <a:xfrm>
            <a:off x="914400" y="2133600"/>
            <a:ext cx="5120640" cy="292608"/>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Location: </a:t>
            </a:r>
            <a:pPr indent="0" marL="0">
              <a:buNone/>
            </a:pPr>
            <a:r>
              <a:rPr lang="en-US" sz="1100" dirty="0">
                <a:solidFill>
                  <a:srgbClr val="3A4A6A"/>
                </a:solidFill>
                <a:latin typeface="Calibri" pitchFamily="34" charset="0"/>
                <a:ea typeface="Calibri" pitchFamily="34" charset="-122"/>
                <a:cs typeface="Calibri" pitchFamily="34" charset="-120"/>
              </a:rPr>
              <a:t>Lower-right, borders Gulf of Mexico and Atlantic Ocean</a:t>
            </a:r>
            <a:endParaRPr lang="en-US" sz="1100" dirty="0"/>
          </a:p>
        </p:txBody>
      </p:sp>
      <p:sp>
        <p:nvSpPr>
          <p:cNvPr id="9" name="Text 7"/>
          <p:cNvSpPr/>
          <p:nvPr/>
        </p:nvSpPr>
        <p:spPr>
          <a:xfrm>
            <a:off x="914400" y="2444496"/>
            <a:ext cx="5120640" cy="292608"/>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Landforms: </a:t>
            </a:r>
            <a:pPr indent="0" marL="0">
              <a:buNone/>
            </a:pPr>
            <a:r>
              <a:rPr lang="en-US" sz="1100" dirty="0">
                <a:solidFill>
                  <a:srgbClr val="3A4A6A"/>
                </a:solidFill>
                <a:latin typeface="Calibri" pitchFamily="34" charset="0"/>
                <a:ea typeface="Calibri" pitchFamily="34" charset="-122"/>
                <a:cs typeface="Calibri" pitchFamily="34" charset="-120"/>
              </a:rPr>
              <a:t>Coastal plains, southern Appalachians, Everglades, Mississippi outlet</a:t>
            </a:r>
            <a:endParaRPr lang="en-US" sz="1100" dirty="0"/>
          </a:p>
        </p:txBody>
      </p:sp>
      <p:sp>
        <p:nvSpPr>
          <p:cNvPr id="10" name="Text 8"/>
          <p:cNvSpPr/>
          <p:nvPr/>
        </p:nvSpPr>
        <p:spPr>
          <a:xfrm>
            <a:off x="914400" y="2755392"/>
            <a:ext cx="5120640" cy="292608"/>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Resources: </a:t>
            </a:r>
            <a:pPr indent="0" marL="0">
              <a:buNone/>
            </a:pPr>
            <a:r>
              <a:rPr lang="en-US" sz="1100" dirty="0">
                <a:solidFill>
                  <a:srgbClr val="3A4A6A"/>
                </a:solidFill>
                <a:latin typeface="Calibri" pitchFamily="34" charset="0"/>
                <a:ea typeface="Calibri" pitchFamily="34" charset="-122"/>
                <a:cs typeface="Calibri" pitchFamily="34" charset="-120"/>
              </a:rPr>
              <a:t>Citrus, peaches, cotton, fishing</a:t>
            </a:r>
            <a:endParaRPr lang="en-US" sz="1100" dirty="0"/>
          </a:p>
        </p:txBody>
      </p:sp>
      <p:sp>
        <p:nvSpPr>
          <p:cNvPr id="11" name="Text 9"/>
          <p:cNvSpPr/>
          <p:nvPr/>
        </p:nvSpPr>
        <p:spPr>
          <a:xfrm>
            <a:off x="914400" y="3066288"/>
            <a:ext cx="5120640" cy="292608"/>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Key Fact: </a:t>
            </a:r>
            <a:pPr indent="0" marL="0">
              <a:buNone/>
            </a:pPr>
            <a:r>
              <a:rPr lang="en-US" sz="1100" dirty="0">
                <a:solidFill>
                  <a:srgbClr val="3A4A6A"/>
                </a:solidFill>
                <a:latin typeface="Calibri" pitchFamily="34" charset="0"/>
                <a:ea typeface="Calibri" pitchFamily="34" charset="-122"/>
                <a:cs typeface="Calibri" pitchFamily="34" charset="-120"/>
              </a:rPr>
              <a:t>Warm and humid climate; vulnerable to hurricanes</a:t>
            </a:r>
            <a:endParaRPr lang="en-US" sz="1100" dirty="0"/>
          </a:p>
        </p:txBody>
      </p:sp>
      <p:sp>
        <p:nvSpPr>
          <p:cNvPr id="12" name="Shape 10"/>
          <p:cNvSpPr/>
          <p:nvPr/>
        </p:nvSpPr>
        <p:spPr>
          <a:xfrm>
            <a:off x="6705600" y="1584960"/>
            <a:ext cx="4876800" cy="3413760"/>
          </a:xfrm>
          <a:prstGeom prst="roundRect">
            <a:avLst>
              <a:gd name="adj" fmla="val 3214"/>
            </a:avLst>
          </a:prstGeom>
          <a:solidFill>
            <a:srgbClr val="E2E8F4"/>
          </a:solidFill>
          <a:ln w="19050">
            <a:solidFill>
              <a:srgbClr val="B0B8CC"/>
            </a:solidFill>
            <a:prstDash val="dash"/>
          </a:ln>
        </p:spPr>
      </p:sp>
      <p:sp>
        <p:nvSpPr>
          <p:cNvPr id="13" name="Text 11"/>
          <p:cNvSpPr/>
          <p:nvPr/>
        </p:nvSpPr>
        <p:spPr>
          <a:xfrm>
            <a:off x="6705600" y="1584960"/>
            <a:ext cx="48768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4" name="Text 12"/>
          <p:cNvSpPr/>
          <p:nvPr/>
        </p:nvSpPr>
        <p:spPr>
          <a:xfrm>
            <a:off x="6888480" y="1950720"/>
            <a:ext cx="4511040" cy="29565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Southeast region — map snippet showing lower-right U.S. + Everglades + citrus groves</a:t>
            </a:r>
            <a:endParaRPr lang="en-US" sz="1100" dirty="0"/>
          </a:p>
        </p:txBody>
      </p:sp>
      <p:sp>
        <p:nvSpPr>
          <p:cNvPr id="15" name="Shape 13"/>
          <p:cNvSpPr/>
          <p:nvPr/>
        </p:nvSpPr>
        <p:spPr>
          <a:xfrm>
            <a:off x="731520" y="5364480"/>
            <a:ext cx="10728960" cy="609600"/>
          </a:xfrm>
          <a:prstGeom prst="roundRect">
            <a:avLst>
              <a:gd name="adj" fmla="val 12000"/>
            </a:avLst>
          </a:prstGeom>
          <a:solidFill>
            <a:srgbClr val="FFF8F0"/>
          </a:solidFill>
          <a:ln/>
        </p:spPr>
      </p:sp>
      <p:sp>
        <p:nvSpPr>
          <p:cNvPr id="16" name="Text 14"/>
          <p:cNvSpPr/>
          <p:nvPr/>
        </p:nvSpPr>
        <p:spPr>
          <a:xfrm>
            <a:off x="975360" y="5364480"/>
            <a:ext cx="10241280" cy="609600"/>
          </a:xfrm>
          <a:prstGeom prst="rect">
            <a:avLst/>
          </a:prstGeom>
          <a:noFill/>
          <a:ln/>
        </p:spPr>
        <p:txBody>
          <a:bodyPr wrap="square" lIns="0" tIns="0" rIns="0" bIns="0"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Quick Recall: </a:t>
            </a:r>
            <a:pPr indent="0" marL="0">
              <a:buNone/>
            </a:pPr>
            <a:r>
              <a:rPr lang="en-US" sz="1200" dirty="0">
                <a:solidFill>
                  <a:srgbClr val="5A4A3A"/>
                </a:solidFill>
                <a:latin typeface="Calibri" pitchFamily="34" charset="0"/>
                <a:ea typeface="Calibri" pitchFamily="34" charset="-122"/>
                <a:cs typeface="Calibri" pitchFamily="34" charset="-120"/>
              </a:rPr>
              <a:t>Warm and humid climate; vulnerable to hurricanes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731520" y="365760"/>
            <a:ext cx="4876800" cy="30480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EVIDENCE CARD 3</a:t>
            </a:r>
            <a:endParaRPr lang="en-US" sz="1000" dirty="0"/>
          </a:p>
        </p:txBody>
      </p:sp>
      <p:sp>
        <p:nvSpPr>
          <p:cNvPr id="4" name="Text 2"/>
          <p:cNvSpPr/>
          <p:nvPr/>
        </p:nvSpPr>
        <p:spPr>
          <a:xfrm>
            <a:off x="731520" y="670560"/>
            <a:ext cx="7315200" cy="5486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MIDWEST Region</a:t>
            </a:r>
            <a:endParaRPr lang="en-US" sz="2800" dirty="0"/>
          </a:p>
        </p:txBody>
      </p:sp>
      <p:sp>
        <p:nvSpPr>
          <p:cNvPr id="5" name="Shape 3"/>
          <p:cNvSpPr/>
          <p:nvPr/>
        </p:nvSpPr>
        <p:spPr>
          <a:xfrm>
            <a:off x="731520" y="1584960"/>
            <a:ext cx="5486400" cy="3413760"/>
          </a:xfrm>
          <a:prstGeom prst="roundRect">
            <a:avLst>
              <a:gd name="adj" fmla="val 4018"/>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841248" y="1694688"/>
            <a:ext cx="5266944" cy="365760"/>
          </a:xfrm>
          <a:prstGeom prst="roundRect">
            <a:avLst>
              <a:gd name="adj" fmla="val 20000"/>
            </a:avLst>
          </a:prstGeom>
          <a:solidFill>
            <a:srgbClr val="34B76F"/>
          </a:solidFill>
          <a:ln/>
        </p:spPr>
      </p:sp>
      <p:sp>
        <p:nvSpPr>
          <p:cNvPr id="7" name="Text 5"/>
          <p:cNvSpPr/>
          <p:nvPr/>
        </p:nvSpPr>
        <p:spPr>
          <a:xfrm>
            <a:off x="841248" y="1694688"/>
            <a:ext cx="5266944"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MIDWEST</a:t>
            </a:r>
            <a:endParaRPr lang="en-US" sz="1400" dirty="0"/>
          </a:p>
        </p:txBody>
      </p:sp>
      <p:sp>
        <p:nvSpPr>
          <p:cNvPr id="8" name="Text 6"/>
          <p:cNvSpPr/>
          <p:nvPr/>
        </p:nvSpPr>
        <p:spPr>
          <a:xfrm>
            <a:off x="914400" y="2133600"/>
            <a:ext cx="5120640" cy="292608"/>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Location: </a:t>
            </a:r>
            <a:pPr indent="0" marL="0">
              <a:buNone/>
            </a:pPr>
            <a:r>
              <a:rPr lang="en-US" sz="1100" dirty="0">
                <a:solidFill>
                  <a:srgbClr val="3A4A6A"/>
                </a:solidFill>
                <a:latin typeface="Calibri" pitchFamily="34" charset="0"/>
                <a:ea typeface="Calibri" pitchFamily="34" charset="-122"/>
                <a:cs typeface="Calibri" pitchFamily="34" charset="-120"/>
              </a:rPr>
              <a:t>Center of the U.S., interior plains</a:t>
            </a:r>
            <a:endParaRPr lang="en-US" sz="1100" dirty="0"/>
          </a:p>
        </p:txBody>
      </p:sp>
      <p:sp>
        <p:nvSpPr>
          <p:cNvPr id="9" name="Text 7"/>
          <p:cNvSpPr/>
          <p:nvPr/>
        </p:nvSpPr>
        <p:spPr>
          <a:xfrm>
            <a:off x="914400" y="2444496"/>
            <a:ext cx="5120640" cy="292608"/>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Landforms: </a:t>
            </a:r>
            <a:pPr indent="0" marL="0">
              <a:buNone/>
            </a:pPr>
            <a:r>
              <a:rPr lang="en-US" sz="1100" dirty="0">
                <a:solidFill>
                  <a:srgbClr val="3A4A6A"/>
                </a:solidFill>
                <a:latin typeface="Calibri" pitchFamily="34" charset="0"/>
                <a:ea typeface="Calibri" pitchFamily="34" charset="-122"/>
                <a:cs typeface="Calibri" pitchFamily="34" charset="-120"/>
              </a:rPr>
              <a:t>Great Lakes (21% of world's freshwater), Mississippi River</a:t>
            </a:r>
            <a:endParaRPr lang="en-US" sz="1100" dirty="0"/>
          </a:p>
        </p:txBody>
      </p:sp>
      <p:sp>
        <p:nvSpPr>
          <p:cNvPr id="10" name="Text 8"/>
          <p:cNvSpPr/>
          <p:nvPr/>
        </p:nvSpPr>
        <p:spPr>
          <a:xfrm>
            <a:off x="914400" y="2755392"/>
            <a:ext cx="5120640" cy="292608"/>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Resources: </a:t>
            </a:r>
            <a:pPr indent="0" marL="0">
              <a:buNone/>
            </a:pPr>
            <a:r>
              <a:rPr lang="en-US" sz="1100" dirty="0">
                <a:solidFill>
                  <a:srgbClr val="3A4A6A"/>
                </a:solidFill>
                <a:latin typeface="Calibri" pitchFamily="34" charset="0"/>
                <a:ea typeface="Calibri" pitchFamily="34" charset="-122"/>
                <a:cs typeface="Calibri" pitchFamily="34" charset="-120"/>
              </a:rPr>
              <a:t>Corn, soybeans, wheat — the Breadbasket of America</a:t>
            </a:r>
            <a:endParaRPr lang="en-US" sz="1100" dirty="0"/>
          </a:p>
        </p:txBody>
      </p:sp>
      <p:sp>
        <p:nvSpPr>
          <p:cNvPr id="11" name="Text 9"/>
          <p:cNvSpPr/>
          <p:nvPr/>
        </p:nvSpPr>
        <p:spPr>
          <a:xfrm>
            <a:off x="914400" y="3066288"/>
            <a:ext cx="5120640" cy="292608"/>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Key Fact: </a:t>
            </a:r>
            <a:pPr indent="0" marL="0">
              <a:buNone/>
            </a:pPr>
            <a:r>
              <a:rPr lang="en-US" sz="1100" dirty="0">
                <a:solidFill>
                  <a:srgbClr val="3A4A6A"/>
                </a:solidFill>
                <a:latin typeface="Calibri" pitchFamily="34" charset="0"/>
                <a:ea typeface="Calibri" pitchFamily="34" charset="-122"/>
                <a:cs typeface="Calibri" pitchFamily="34" charset="-120"/>
              </a:rPr>
              <a:t>Feeds much of the nation; harsh winters and tornadoes</a:t>
            </a:r>
            <a:endParaRPr lang="en-US" sz="1100" dirty="0"/>
          </a:p>
        </p:txBody>
      </p:sp>
      <p:sp>
        <p:nvSpPr>
          <p:cNvPr id="12" name="Shape 10"/>
          <p:cNvSpPr/>
          <p:nvPr/>
        </p:nvSpPr>
        <p:spPr>
          <a:xfrm>
            <a:off x="6705600" y="1584960"/>
            <a:ext cx="4876800" cy="3413760"/>
          </a:xfrm>
          <a:prstGeom prst="roundRect">
            <a:avLst>
              <a:gd name="adj" fmla="val 3214"/>
            </a:avLst>
          </a:prstGeom>
          <a:solidFill>
            <a:srgbClr val="E2E8F4"/>
          </a:solidFill>
          <a:ln w="19050">
            <a:solidFill>
              <a:srgbClr val="B0B8CC"/>
            </a:solidFill>
            <a:prstDash val="dash"/>
          </a:ln>
        </p:spPr>
      </p:sp>
      <p:sp>
        <p:nvSpPr>
          <p:cNvPr id="13" name="Text 11"/>
          <p:cNvSpPr/>
          <p:nvPr/>
        </p:nvSpPr>
        <p:spPr>
          <a:xfrm>
            <a:off x="6705600" y="1584960"/>
            <a:ext cx="48768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4" name="Text 12"/>
          <p:cNvSpPr/>
          <p:nvPr/>
        </p:nvSpPr>
        <p:spPr>
          <a:xfrm>
            <a:off x="6888480" y="1950720"/>
            <a:ext cx="4511040" cy="29565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Midwest region — map snippet showing central U.S. + Great Lakes + golden wheat fields</a:t>
            </a:r>
            <a:endParaRPr lang="en-US" sz="1100" dirty="0"/>
          </a:p>
        </p:txBody>
      </p:sp>
      <p:sp>
        <p:nvSpPr>
          <p:cNvPr id="15" name="Shape 13"/>
          <p:cNvSpPr/>
          <p:nvPr/>
        </p:nvSpPr>
        <p:spPr>
          <a:xfrm>
            <a:off x="731520" y="5364480"/>
            <a:ext cx="10728960" cy="609600"/>
          </a:xfrm>
          <a:prstGeom prst="roundRect">
            <a:avLst>
              <a:gd name="adj" fmla="val 12000"/>
            </a:avLst>
          </a:prstGeom>
          <a:solidFill>
            <a:srgbClr val="FFF8F0"/>
          </a:solidFill>
          <a:ln/>
        </p:spPr>
      </p:sp>
      <p:sp>
        <p:nvSpPr>
          <p:cNvPr id="16" name="Text 14"/>
          <p:cNvSpPr/>
          <p:nvPr/>
        </p:nvSpPr>
        <p:spPr>
          <a:xfrm>
            <a:off x="975360" y="5364480"/>
            <a:ext cx="10241280" cy="609600"/>
          </a:xfrm>
          <a:prstGeom prst="rect">
            <a:avLst/>
          </a:prstGeom>
          <a:noFill/>
          <a:ln/>
        </p:spPr>
        <p:txBody>
          <a:bodyPr wrap="square" lIns="0" tIns="0" rIns="0" bIns="0"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Quick Recall: </a:t>
            </a:r>
            <a:pPr indent="0" marL="0">
              <a:buNone/>
            </a:pPr>
            <a:r>
              <a:rPr lang="en-US" sz="1200" dirty="0">
                <a:solidFill>
                  <a:srgbClr val="5A4A3A"/>
                </a:solidFill>
                <a:latin typeface="Calibri" pitchFamily="34" charset="0"/>
                <a:ea typeface="Calibri" pitchFamily="34" charset="-122"/>
                <a:cs typeface="Calibri" pitchFamily="34" charset="-120"/>
              </a:rPr>
              <a:t>Feeds much of the nation; harsh winters and tornadoes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731520" y="365760"/>
            <a:ext cx="4876800" cy="30480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EVIDENCE CARD 4</a:t>
            </a:r>
            <a:endParaRPr lang="en-US" sz="1000" dirty="0"/>
          </a:p>
        </p:txBody>
      </p:sp>
      <p:sp>
        <p:nvSpPr>
          <p:cNvPr id="4" name="Text 2"/>
          <p:cNvSpPr/>
          <p:nvPr/>
        </p:nvSpPr>
        <p:spPr>
          <a:xfrm>
            <a:off x="731520" y="670560"/>
            <a:ext cx="7315200" cy="5486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SOUTHWEST Region</a:t>
            </a:r>
            <a:endParaRPr lang="en-US" sz="2800" dirty="0"/>
          </a:p>
        </p:txBody>
      </p:sp>
      <p:sp>
        <p:nvSpPr>
          <p:cNvPr id="5" name="Shape 3"/>
          <p:cNvSpPr/>
          <p:nvPr/>
        </p:nvSpPr>
        <p:spPr>
          <a:xfrm>
            <a:off x="731520" y="1584960"/>
            <a:ext cx="5486400" cy="3413760"/>
          </a:xfrm>
          <a:prstGeom prst="roundRect">
            <a:avLst>
              <a:gd name="adj" fmla="val 4018"/>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841248" y="1694688"/>
            <a:ext cx="5266944" cy="365760"/>
          </a:xfrm>
          <a:prstGeom prst="roundRect">
            <a:avLst>
              <a:gd name="adj" fmla="val 20000"/>
            </a:avLst>
          </a:prstGeom>
          <a:solidFill>
            <a:srgbClr val="D4943A"/>
          </a:solidFill>
          <a:ln/>
        </p:spPr>
      </p:sp>
      <p:sp>
        <p:nvSpPr>
          <p:cNvPr id="7" name="Text 5"/>
          <p:cNvSpPr/>
          <p:nvPr/>
        </p:nvSpPr>
        <p:spPr>
          <a:xfrm>
            <a:off x="841248" y="1694688"/>
            <a:ext cx="5266944"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SOUTHWEST</a:t>
            </a:r>
            <a:endParaRPr lang="en-US" sz="1400" dirty="0"/>
          </a:p>
        </p:txBody>
      </p:sp>
      <p:sp>
        <p:nvSpPr>
          <p:cNvPr id="8" name="Text 6"/>
          <p:cNvSpPr/>
          <p:nvPr/>
        </p:nvSpPr>
        <p:spPr>
          <a:xfrm>
            <a:off x="914400" y="2133600"/>
            <a:ext cx="5120640" cy="292608"/>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Location: </a:t>
            </a:r>
            <a:pPr indent="0" marL="0">
              <a:buNone/>
            </a:pPr>
            <a:r>
              <a:rPr lang="en-US" sz="1100" dirty="0">
                <a:solidFill>
                  <a:srgbClr val="3A4A6A"/>
                </a:solidFill>
                <a:latin typeface="Calibri" pitchFamily="34" charset="0"/>
                <a:ea typeface="Calibri" pitchFamily="34" charset="-122"/>
                <a:cs typeface="Calibri" pitchFamily="34" charset="-120"/>
              </a:rPr>
              <a:t>Lower-center of the U.S., desert and canyon country</a:t>
            </a:r>
            <a:endParaRPr lang="en-US" sz="1100" dirty="0"/>
          </a:p>
        </p:txBody>
      </p:sp>
      <p:sp>
        <p:nvSpPr>
          <p:cNvPr id="9" name="Text 7"/>
          <p:cNvSpPr/>
          <p:nvPr/>
        </p:nvSpPr>
        <p:spPr>
          <a:xfrm>
            <a:off x="914400" y="2444496"/>
            <a:ext cx="5120640" cy="292608"/>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Landforms: </a:t>
            </a:r>
            <a:pPr indent="0" marL="0">
              <a:buNone/>
            </a:pPr>
            <a:r>
              <a:rPr lang="en-US" sz="1100" dirty="0">
                <a:solidFill>
                  <a:srgbClr val="3A4A6A"/>
                </a:solidFill>
                <a:latin typeface="Calibri" pitchFamily="34" charset="0"/>
                <a:ea typeface="Calibri" pitchFamily="34" charset="-122"/>
                <a:cs typeface="Calibri" pitchFamily="34" charset="-120"/>
              </a:rPr>
              <a:t>Sonoran and Chihuahuan deserts, Rio Grande, Grand Canyon</a:t>
            </a:r>
            <a:endParaRPr lang="en-US" sz="1100" dirty="0"/>
          </a:p>
        </p:txBody>
      </p:sp>
      <p:sp>
        <p:nvSpPr>
          <p:cNvPr id="10" name="Text 8"/>
          <p:cNvSpPr/>
          <p:nvPr/>
        </p:nvSpPr>
        <p:spPr>
          <a:xfrm>
            <a:off x="914400" y="2755392"/>
            <a:ext cx="5120640" cy="292608"/>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Resources: </a:t>
            </a:r>
            <a:pPr indent="0" marL="0">
              <a:buNone/>
            </a:pPr>
            <a:r>
              <a:rPr lang="en-US" sz="1100" dirty="0">
                <a:solidFill>
                  <a:srgbClr val="3A4A6A"/>
                </a:solidFill>
                <a:latin typeface="Calibri" pitchFamily="34" charset="0"/>
                <a:ea typeface="Calibri" pitchFamily="34" charset="-122"/>
                <a:cs typeface="Calibri" pitchFamily="34" charset="-120"/>
              </a:rPr>
              <a:t>Oil and gas, cattle, irrigated cotton, Grand Canyon tourism</a:t>
            </a:r>
            <a:endParaRPr lang="en-US" sz="1100" dirty="0"/>
          </a:p>
        </p:txBody>
      </p:sp>
      <p:sp>
        <p:nvSpPr>
          <p:cNvPr id="11" name="Text 9"/>
          <p:cNvSpPr/>
          <p:nvPr/>
        </p:nvSpPr>
        <p:spPr>
          <a:xfrm>
            <a:off x="914400" y="3066288"/>
            <a:ext cx="5120640" cy="292608"/>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Key Fact: </a:t>
            </a:r>
            <a:pPr indent="0" marL="0">
              <a:buNone/>
            </a:pPr>
            <a:r>
              <a:rPr lang="en-US" sz="1100" dirty="0">
                <a:solidFill>
                  <a:srgbClr val="3A4A6A"/>
                </a:solidFill>
                <a:latin typeface="Calibri" pitchFamily="34" charset="0"/>
                <a:ea typeface="Calibri" pitchFamily="34" charset="-122"/>
                <a:cs typeface="Calibri" pitchFamily="34" charset="-120"/>
              </a:rPr>
              <a:t>Hot and dry climate; water is scarce and precious</a:t>
            </a:r>
            <a:endParaRPr lang="en-US" sz="1100" dirty="0"/>
          </a:p>
        </p:txBody>
      </p:sp>
      <p:sp>
        <p:nvSpPr>
          <p:cNvPr id="12" name="Shape 10"/>
          <p:cNvSpPr/>
          <p:nvPr/>
        </p:nvSpPr>
        <p:spPr>
          <a:xfrm>
            <a:off x="6705600" y="1584960"/>
            <a:ext cx="4876800" cy="3413760"/>
          </a:xfrm>
          <a:prstGeom prst="roundRect">
            <a:avLst>
              <a:gd name="adj" fmla="val 3214"/>
            </a:avLst>
          </a:prstGeom>
          <a:solidFill>
            <a:srgbClr val="E2E8F4"/>
          </a:solidFill>
          <a:ln w="19050">
            <a:solidFill>
              <a:srgbClr val="B0B8CC"/>
            </a:solidFill>
            <a:prstDash val="dash"/>
          </a:ln>
        </p:spPr>
      </p:sp>
      <p:sp>
        <p:nvSpPr>
          <p:cNvPr id="13" name="Text 11"/>
          <p:cNvSpPr/>
          <p:nvPr/>
        </p:nvSpPr>
        <p:spPr>
          <a:xfrm>
            <a:off x="6705600" y="1584960"/>
            <a:ext cx="48768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4" name="Text 12"/>
          <p:cNvSpPr/>
          <p:nvPr/>
        </p:nvSpPr>
        <p:spPr>
          <a:xfrm>
            <a:off x="6888480" y="1950720"/>
            <a:ext cx="4511040" cy="29565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Southwest region — map snippet showing lower-center U.S. + Grand Canyon + desert landscape</a:t>
            </a:r>
            <a:endParaRPr lang="en-US" sz="1100" dirty="0"/>
          </a:p>
        </p:txBody>
      </p:sp>
      <p:sp>
        <p:nvSpPr>
          <p:cNvPr id="15" name="Shape 13"/>
          <p:cNvSpPr/>
          <p:nvPr/>
        </p:nvSpPr>
        <p:spPr>
          <a:xfrm>
            <a:off x="731520" y="5364480"/>
            <a:ext cx="10728960" cy="609600"/>
          </a:xfrm>
          <a:prstGeom prst="roundRect">
            <a:avLst>
              <a:gd name="adj" fmla="val 12000"/>
            </a:avLst>
          </a:prstGeom>
          <a:solidFill>
            <a:srgbClr val="FFF8F0"/>
          </a:solidFill>
          <a:ln/>
        </p:spPr>
      </p:sp>
      <p:sp>
        <p:nvSpPr>
          <p:cNvPr id="16" name="Text 14"/>
          <p:cNvSpPr/>
          <p:nvPr/>
        </p:nvSpPr>
        <p:spPr>
          <a:xfrm>
            <a:off x="975360" y="5364480"/>
            <a:ext cx="10241280" cy="609600"/>
          </a:xfrm>
          <a:prstGeom prst="rect">
            <a:avLst/>
          </a:prstGeom>
          <a:noFill/>
          <a:ln/>
        </p:spPr>
        <p:txBody>
          <a:bodyPr wrap="square" lIns="0" tIns="0" rIns="0" bIns="0"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Quick Recall: </a:t>
            </a:r>
            <a:pPr indent="0" marL="0">
              <a:buNone/>
            </a:pPr>
            <a:r>
              <a:rPr lang="en-US" sz="1200" dirty="0">
                <a:solidFill>
                  <a:srgbClr val="5A4A3A"/>
                </a:solidFill>
                <a:latin typeface="Calibri" pitchFamily="34" charset="0"/>
                <a:ea typeface="Calibri" pitchFamily="34" charset="-122"/>
                <a:cs typeface="Calibri" pitchFamily="34" charset="-120"/>
              </a:rPr>
              <a:t>Hot and dry climate; water is scarce and precious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731520" y="365760"/>
            <a:ext cx="4876800" cy="30480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EVIDENCE CARD 5</a:t>
            </a:r>
            <a:endParaRPr lang="en-US" sz="1000" dirty="0"/>
          </a:p>
        </p:txBody>
      </p:sp>
      <p:sp>
        <p:nvSpPr>
          <p:cNvPr id="4" name="Text 2"/>
          <p:cNvSpPr/>
          <p:nvPr/>
        </p:nvSpPr>
        <p:spPr>
          <a:xfrm>
            <a:off x="731520" y="670560"/>
            <a:ext cx="7315200" cy="5486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WEST Region</a:t>
            </a:r>
            <a:endParaRPr lang="en-US" sz="2800" dirty="0"/>
          </a:p>
        </p:txBody>
      </p:sp>
      <p:sp>
        <p:nvSpPr>
          <p:cNvPr id="5" name="Shape 3"/>
          <p:cNvSpPr/>
          <p:nvPr/>
        </p:nvSpPr>
        <p:spPr>
          <a:xfrm>
            <a:off x="731520" y="1584960"/>
            <a:ext cx="5486400" cy="3413760"/>
          </a:xfrm>
          <a:prstGeom prst="roundRect">
            <a:avLst>
              <a:gd name="adj" fmla="val 4018"/>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841248" y="1694688"/>
            <a:ext cx="5266944" cy="365760"/>
          </a:xfrm>
          <a:prstGeom prst="roundRect">
            <a:avLst>
              <a:gd name="adj" fmla="val 20000"/>
            </a:avLst>
          </a:prstGeom>
          <a:solidFill>
            <a:srgbClr val="8B6FC0"/>
          </a:solidFill>
          <a:ln/>
        </p:spPr>
      </p:sp>
      <p:sp>
        <p:nvSpPr>
          <p:cNvPr id="7" name="Text 5"/>
          <p:cNvSpPr/>
          <p:nvPr/>
        </p:nvSpPr>
        <p:spPr>
          <a:xfrm>
            <a:off x="841248" y="1694688"/>
            <a:ext cx="5266944"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WEST</a:t>
            </a:r>
            <a:endParaRPr lang="en-US" sz="1400" dirty="0"/>
          </a:p>
        </p:txBody>
      </p:sp>
      <p:sp>
        <p:nvSpPr>
          <p:cNvPr id="8" name="Text 6"/>
          <p:cNvSpPr/>
          <p:nvPr/>
        </p:nvSpPr>
        <p:spPr>
          <a:xfrm>
            <a:off x="914400" y="2133600"/>
            <a:ext cx="5120640" cy="292608"/>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Location: </a:t>
            </a:r>
            <a:pPr indent="0" marL="0">
              <a:buNone/>
            </a:pPr>
            <a:r>
              <a:rPr lang="en-US" sz="1100" dirty="0">
                <a:solidFill>
                  <a:srgbClr val="3A4A6A"/>
                </a:solidFill>
                <a:latin typeface="Calibri" pitchFamily="34" charset="0"/>
                <a:ea typeface="Calibri" pitchFamily="34" charset="-122"/>
                <a:cs typeface="Calibri" pitchFamily="34" charset="-120"/>
              </a:rPr>
              <a:t>Left side of the U.S., Pacific coast to Rocky Mountains</a:t>
            </a:r>
            <a:endParaRPr lang="en-US" sz="1100" dirty="0"/>
          </a:p>
        </p:txBody>
      </p:sp>
      <p:sp>
        <p:nvSpPr>
          <p:cNvPr id="9" name="Text 7"/>
          <p:cNvSpPr/>
          <p:nvPr/>
        </p:nvSpPr>
        <p:spPr>
          <a:xfrm>
            <a:off x="914400" y="2444496"/>
            <a:ext cx="5120640" cy="292608"/>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Landforms: </a:t>
            </a:r>
            <a:pPr indent="0" marL="0">
              <a:buNone/>
            </a:pPr>
            <a:r>
              <a:rPr lang="en-US" sz="1100" dirty="0">
                <a:solidFill>
                  <a:srgbClr val="3A4A6A"/>
                </a:solidFill>
                <a:latin typeface="Calibri" pitchFamily="34" charset="0"/>
                <a:ea typeface="Calibri" pitchFamily="34" charset="-122"/>
                <a:cs typeface="Calibri" pitchFamily="34" charset="-120"/>
              </a:rPr>
              <a:t>Rocky Mountains, Cascades, Pacific coast, volcanoes, tundra</a:t>
            </a:r>
            <a:endParaRPr lang="en-US" sz="1100" dirty="0"/>
          </a:p>
        </p:txBody>
      </p:sp>
      <p:sp>
        <p:nvSpPr>
          <p:cNvPr id="10" name="Text 8"/>
          <p:cNvSpPr/>
          <p:nvPr/>
        </p:nvSpPr>
        <p:spPr>
          <a:xfrm>
            <a:off x="914400" y="2755392"/>
            <a:ext cx="5120640" cy="292608"/>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Resources: </a:t>
            </a:r>
            <a:pPr indent="0" marL="0">
              <a:buNone/>
            </a:pPr>
            <a:r>
              <a:rPr lang="en-US" sz="1100" dirty="0">
                <a:solidFill>
                  <a:srgbClr val="3A4A6A"/>
                </a:solidFill>
                <a:latin typeface="Calibri" pitchFamily="34" charset="0"/>
                <a:ea typeface="Calibri" pitchFamily="34" charset="-122"/>
                <a:cs typeface="Calibri" pitchFamily="34" charset="-120"/>
              </a:rPr>
              <a:t>Timber, salmon, technology, tourism, farming</a:t>
            </a:r>
            <a:endParaRPr lang="en-US" sz="1100" dirty="0"/>
          </a:p>
        </p:txBody>
      </p:sp>
      <p:sp>
        <p:nvSpPr>
          <p:cNvPr id="11" name="Text 9"/>
          <p:cNvSpPr/>
          <p:nvPr/>
        </p:nvSpPr>
        <p:spPr>
          <a:xfrm>
            <a:off x="914400" y="3066288"/>
            <a:ext cx="5120640" cy="292608"/>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Key Fact: </a:t>
            </a:r>
            <a:pPr indent="0" marL="0">
              <a:buNone/>
            </a:pPr>
            <a:r>
              <a:rPr lang="en-US" sz="1100" dirty="0">
                <a:solidFill>
                  <a:srgbClr val="3A4A6A"/>
                </a:solidFill>
                <a:latin typeface="Calibri" pitchFamily="34" charset="0"/>
                <a:ea typeface="Calibri" pitchFamily="34" charset="-122"/>
                <a:cs typeface="Calibri" pitchFamily="34" charset="-120"/>
              </a:rPr>
              <a:t>Most diverse climate of any region (desert to tundra to tropical)</a:t>
            </a:r>
            <a:endParaRPr lang="en-US" sz="1100" dirty="0"/>
          </a:p>
        </p:txBody>
      </p:sp>
      <p:sp>
        <p:nvSpPr>
          <p:cNvPr id="12" name="Shape 10"/>
          <p:cNvSpPr/>
          <p:nvPr/>
        </p:nvSpPr>
        <p:spPr>
          <a:xfrm>
            <a:off x="6705600" y="1584960"/>
            <a:ext cx="4876800" cy="3413760"/>
          </a:xfrm>
          <a:prstGeom prst="roundRect">
            <a:avLst>
              <a:gd name="adj" fmla="val 3214"/>
            </a:avLst>
          </a:prstGeom>
          <a:solidFill>
            <a:srgbClr val="E2E8F4"/>
          </a:solidFill>
          <a:ln w="19050">
            <a:solidFill>
              <a:srgbClr val="B0B8CC"/>
            </a:solidFill>
            <a:prstDash val="dash"/>
          </a:ln>
        </p:spPr>
      </p:sp>
      <p:sp>
        <p:nvSpPr>
          <p:cNvPr id="13" name="Text 11"/>
          <p:cNvSpPr/>
          <p:nvPr/>
        </p:nvSpPr>
        <p:spPr>
          <a:xfrm>
            <a:off x="6705600" y="1584960"/>
            <a:ext cx="48768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4" name="Text 12"/>
          <p:cNvSpPr/>
          <p:nvPr/>
        </p:nvSpPr>
        <p:spPr>
          <a:xfrm>
            <a:off x="6888480" y="1950720"/>
            <a:ext cx="4511040" cy="29565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West region — map snippet showing left U.S. + Rocky Mountains + Pacific coast</a:t>
            </a:r>
            <a:endParaRPr lang="en-US" sz="1100" dirty="0"/>
          </a:p>
        </p:txBody>
      </p:sp>
      <p:sp>
        <p:nvSpPr>
          <p:cNvPr id="15" name="Shape 13"/>
          <p:cNvSpPr/>
          <p:nvPr/>
        </p:nvSpPr>
        <p:spPr>
          <a:xfrm>
            <a:off x="731520" y="5364480"/>
            <a:ext cx="10728960" cy="609600"/>
          </a:xfrm>
          <a:prstGeom prst="roundRect">
            <a:avLst>
              <a:gd name="adj" fmla="val 12000"/>
            </a:avLst>
          </a:prstGeom>
          <a:solidFill>
            <a:srgbClr val="FFF8F0"/>
          </a:solidFill>
          <a:ln/>
        </p:spPr>
      </p:sp>
      <p:sp>
        <p:nvSpPr>
          <p:cNvPr id="16" name="Text 14"/>
          <p:cNvSpPr/>
          <p:nvPr/>
        </p:nvSpPr>
        <p:spPr>
          <a:xfrm>
            <a:off x="975360" y="5364480"/>
            <a:ext cx="10241280" cy="609600"/>
          </a:xfrm>
          <a:prstGeom prst="rect">
            <a:avLst/>
          </a:prstGeom>
          <a:noFill/>
          <a:ln/>
        </p:spPr>
        <p:txBody>
          <a:bodyPr wrap="square" lIns="0" tIns="0" rIns="0" bIns="0"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Quick Recall: </a:t>
            </a:r>
            <a:pPr indent="0" marL="0">
              <a:buNone/>
            </a:pPr>
            <a:r>
              <a:rPr lang="en-US" sz="1200" dirty="0">
                <a:solidFill>
                  <a:srgbClr val="5A4A3A"/>
                </a:solidFill>
                <a:latin typeface="Calibri" pitchFamily="34" charset="0"/>
                <a:ea typeface="Calibri" pitchFamily="34" charset="-122"/>
                <a:cs typeface="Calibri" pitchFamily="34" charset="-120"/>
              </a:rPr>
              <a:t>Most diverse climate of any region (desert to tundra to tropical)</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731520" y="365760"/>
            <a:ext cx="4876800" cy="30480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SOURCE STUDY</a:t>
            </a:r>
            <a:endParaRPr lang="en-US" sz="1000" dirty="0"/>
          </a:p>
        </p:txBody>
      </p:sp>
      <p:sp>
        <p:nvSpPr>
          <p:cNvPr id="4" name="Text 2"/>
          <p:cNvSpPr/>
          <p:nvPr/>
        </p:nvSpPr>
        <p:spPr>
          <a:xfrm>
            <a:off x="731520" y="670560"/>
            <a:ext cx="9753600" cy="54864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U.S. Five Regions Overview Map</a:t>
            </a:r>
            <a:endParaRPr lang="en-US" sz="2600" dirty="0"/>
          </a:p>
        </p:txBody>
      </p:sp>
      <p:sp>
        <p:nvSpPr>
          <p:cNvPr id="5" name="Shape 3"/>
          <p:cNvSpPr/>
          <p:nvPr/>
        </p:nvSpPr>
        <p:spPr>
          <a:xfrm>
            <a:off x="731520" y="1463040"/>
            <a:ext cx="6096000" cy="3657600"/>
          </a:xfrm>
          <a:prstGeom prst="roundRect">
            <a:avLst>
              <a:gd name="adj" fmla="val 3000"/>
            </a:avLst>
          </a:prstGeom>
          <a:solidFill>
            <a:srgbClr val="E2E8F4"/>
          </a:solidFill>
          <a:ln w="19050">
            <a:solidFill>
              <a:srgbClr val="B0B8CC"/>
            </a:solidFill>
            <a:prstDash val="dash"/>
          </a:ln>
        </p:spPr>
      </p:sp>
      <p:sp>
        <p:nvSpPr>
          <p:cNvPr id="6" name="Text 4"/>
          <p:cNvSpPr/>
          <p:nvPr/>
        </p:nvSpPr>
        <p:spPr>
          <a:xfrm>
            <a:off x="731520" y="146304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914400" y="1828800"/>
            <a:ext cx="5730240" cy="32004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Color-coded U.S. map showing all five regions</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(Northeast, Southeast, Midwest, Southwest, West)</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with region labels and ocean labels</a:t>
            </a:r>
            <a:endParaRPr lang="en-US" sz="1100" dirty="0"/>
          </a:p>
        </p:txBody>
      </p:sp>
      <p:sp>
        <p:nvSpPr>
          <p:cNvPr id="8" name="Shape 6"/>
          <p:cNvSpPr/>
          <p:nvPr/>
        </p:nvSpPr>
        <p:spPr>
          <a:xfrm>
            <a:off x="7315200" y="1463040"/>
            <a:ext cx="4389120" cy="2194560"/>
          </a:xfrm>
          <a:prstGeom prst="roundRect">
            <a:avLst>
              <a:gd name="adj" fmla="val 5000"/>
            </a:avLst>
          </a:prstGeom>
          <a:solidFill>
            <a:srgbClr val="FFFFFF"/>
          </a:solidFill>
          <a:ln/>
          <a:effectLst>
            <a:outerShdw sx="100000" sy="100000" kx="0" ky="0" algn="bl" rotWithShape="0" blurRad="63500" dist="25400" dir="8100000">
              <a:srgbClr val="000000">
                <a:alpha val="10000"/>
              </a:srgbClr>
            </a:outerShdw>
          </a:effectLst>
        </p:spPr>
      </p:sp>
      <p:sp>
        <p:nvSpPr>
          <p:cNvPr id="9" name="Text 7"/>
          <p:cNvSpPr/>
          <p:nvPr/>
        </p:nvSpPr>
        <p:spPr>
          <a:xfrm>
            <a:off x="7498080" y="1560576"/>
            <a:ext cx="4023360" cy="365760"/>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Think About It</a:t>
            </a:r>
            <a:endParaRPr lang="en-US" sz="1400" dirty="0"/>
          </a:p>
        </p:txBody>
      </p:sp>
      <p:sp>
        <p:nvSpPr>
          <p:cNvPr id="10" name="Text 8"/>
          <p:cNvSpPr/>
          <p:nvPr/>
        </p:nvSpPr>
        <p:spPr>
          <a:xfrm>
            <a:off x="7559040" y="1950720"/>
            <a:ext cx="3901440" cy="15849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3A4A6A"/>
                </a:solidFill>
                <a:latin typeface="Calibri" pitchFamily="34" charset="0"/>
                <a:ea typeface="Calibri" pitchFamily="34" charset="-122"/>
                <a:cs typeface="Calibri" pitchFamily="34" charset="-120"/>
              </a:rPr>
              <a:t>Which regions touch the Atlantic Ocean?</a:t>
            </a:r>
            <a:endParaRPr lang="en-US" sz="1200" dirty="0"/>
          </a:p>
          <a:p>
            <a:pPr marL="342900" indent="-342900">
              <a:spcAft>
                <a:spcPts val="400"/>
              </a:spcAft>
              <a:buSzPct val="100000"/>
              <a:buChar char="•"/>
            </a:pPr>
            <a:r>
              <a:rPr lang="en-US" sz="1200" dirty="0">
                <a:solidFill>
                  <a:srgbClr val="3A4A6A"/>
                </a:solidFill>
                <a:latin typeface="Calibri" pitchFamily="34" charset="0"/>
                <a:ea typeface="Calibri" pitchFamily="34" charset="-122"/>
                <a:cs typeface="Calibri" pitchFamily="34" charset="-120"/>
              </a:rPr>
              <a:t>Which regions touch the Pacific Ocean?</a:t>
            </a:r>
            <a:endParaRPr lang="en-US" sz="1200" dirty="0"/>
          </a:p>
          <a:p>
            <a:pPr marL="342900" indent="-342900">
              <a:spcAft>
                <a:spcPts val="400"/>
              </a:spcAft>
              <a:buSzPct val="100000"/>
              <a:buChar char="•"/>
            </a:pPr>
            <a:r>
              <a:rPr lang="en-US" sz="1200" dirty="0">
                <a:solidFill>
                  <a:srgbClr val="3A4A6A"/>
                </a:solidFill>
                <a:latin typeface="Calibri" pitchFamily="34" charset="0"/>
                <a:ea typeface="Calibri" pitchFamily="34" charset="-122"/>
                <a:cs typeface="Calibri" pitchFamily="34" charset="-120"/>
              </a:rPr>
              <a:t>Which region is landlocked (no ocean border)?</a:t>
            </a:r>
            <a:endParaRPr lang="en-US" sz="1200" dirty="0"/>
          </a:p>
          <a:p>
            <a:pPr marL="342900" indent="-342900">
              <a:spcAft>
                <a:spcPts val="400"/>
              </a:spcAft>
              <a:buSzPct val="100000"/>
              <a:buChar char="•"/>
            </a:pPr>
            <a:r>
              <a:rPr lang="en-US" sz="1200" dirty="0">
                <a:solidFill>
                  <a:srgbClr val="3A4A6A"/>
                </a:solidFill>
                <a:latin typeface="Calibri" pitchFamily="34" charset="0"/>
                <a:ea typeface="Calibri" pitchFamily="34" charset="-122"/>
                <a:cs typeface="Calibri" pitchFamily="34" charset="-120"/>
              </a:rPr>
              <a:t>Which region touches the Gulf of Mexico?</a:t>
            </a:r>
            <a:endParaRPr lang="en-US" sz="1200" dirty="0"/>
          </a:p>
        </p:txBody>
      </p:sp>
      <p:sp>
        <p:nvSpPr>
          <p:cNvPr id="11" name="Shape 9"/>
          <p:cNvSpPr/>
          <p:nvPr/>
        </p:nvSpPr>
        <p:spPr>
          <a:xfrm>
            <a:off x="7315200" y="3901440"/>
            <a:ext cx="4389120" cy="1584960"/>
          </a:xfrm>
          <a:prstGeom prst="roundRect">
            <a:avLst>
              <a:gd name="adj" fmla="val 8654"/>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7498080" y="3992880"/>
            <a:ext cx="40233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7498080" y="4248912"/>
            <a:ext cx="4023360" cy="11460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regions share a border with each other?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region is farthest from the ocean?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a region near the ocean have different resources?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731520" y="365760"/>
            <a:ext cx="6096000" cy="30480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SOCRATIC SEMINAR PREP</a:t>
            </a:r>
            <a:endParaRPr lang="en-US" sz="1000" dirty="0"/>
          </a:p>
        </p:txBody>
      </p:sp>
      <p:sp>
        <p:nvSpPr>
          <p:cNvPr id="4" name="Text 2"/>
          <p:cNvSpPr/>
          <p:nvPr/>
        </p:nvSpPr>
        <p:spPr>
          <a:xfrm>
            <a:off x="731520" y="670560"/>
            <a:ext cx="9753600" cy="54864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Practice Thinking Like a Council Member</a:t>
            </a:r>
            <a:endParaRPr lang="en-US" sz="2600" dirty="0"/>
          </a:p>
        </p:txBody>
      </p:sp>
      <p:sp>
        <p:nvSpPr>
          <p:cNvPr id="5" name="Shape 3"/>
          <p:cNvSpPr/>
          <p:nvPr/>
        </p:nvSpPr>
        <p:spPr>
          <a:xfrm>
            <a:off x="975360" y="1463040"/>
            <a:ext cx="9753600" cy="1097280"/>
          </a:xfrm>
          <a:prstGeom prst="roundRect">
            <a:avLst>
              <a:gd name="adj" fmla="val 10000"/>
            </a:avLst>
          </a:prstGeom>
          <a:solidFill>
            <a:srgbClr val="EAF8FD"/>
          </a:solidFill>
          <a:ln/>
          <a:effectLst>
            <a:outerShdw sx="100000" sy="100000" kx="0" ky="0" algn="bl" rotWithShape="0" blurRad="50800" dist="25400" dir="8100000">
              <a:srgbClr val="000000">
                <a:alpha val="8000"/>
              </a:srgbClr>
            </a:outerShdw>
          </a:effectLst>
        </p:spPr>
      </p:sp>
      <p:sp>
        <p:nvSpPr>
          <p:cNvPr id="6" name="Shape 4"/>
          <p:cNvSpPr/>
          <p:nvPr/>
        </p:nvSpPr>
        <p:spPr>
          <a:xfrm>
            <a:off x="1219200" y="1609344"/>
            <a:ext cx="548640" cy="548640"/>
          </a:xfrm>
          <a:prstGeom prst="ellipse">
            <a:avLst/>
          </a:prstGeom>
          <a:solidFill>
            <a:srgbClr val="1A8A7D"/>
          </a:solidFill>
          <a:ln/>
        </p:spPr>
      </p:sp>
      <p:sp>
        <p:nvSpPr>
          <p:cNvPr id="7" name="Text 5"/>
          <p:cNvSpPr/>
          <p:nvPr/>
        </p:nvSpPr>
        <p:spPr>
          <a:xfrm>
            <a:off x="1219200" y="160934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950720" y="1560576"/>
            <a:ext cx="8290560" cy="85344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Which region has the MOST natural resources? What evidence supports your answer?</a:t>
            </a:r>
            <a:endParaRPr lang="en-US" sz="1400" dirty="0"/>
          </a:p>
        </p:txBody>
      </p:sp>
      <p:sp>
        <p:nvSpPr>
          <p:cNvPr id="9" name="Shape 7"/>
          <p:cNvSpPr/>
          <p:nvPr/>
        </p:nvSpPr>
        <p:spPr>
          <a:xfrm>
            <a:off x="975360" y="2865120"/>
            <a:ext cx="9753600" cy="1097280"/>
          </a:xfrm>
          <a:prstGeom prst="roundRect">
            <a:avLst>
              <a:gd name="adj" fmla="val 10000"/>
            </a:avLst>
          </a:prstGeom>
          <a:solidFill>
            <a:srgbClr val="E3F8ED"/>
          </a:solidFill>
          <a:ln/>
          <a:effectLst>
            <a:outerShdw sx="100000" sy="100000" kx="0" ky="0" algn="bl" rotWithShape="0" blurRad="50800" dist="25400" dir="8100000">
              <a:srgbClr val="000000">
                <a:alpha val="8000"/>
              </a:srgbClr>
            </a:outerShdw>
          </a:effectLst>
        </p:spPr>
      </p:sp>
      <p:sp>
        <p:nvSpPr>
          <p:cNvPr id="10" name="Shape 8"/>
          <p:cNvSpPr/>
          <p:nvPr/>
        </p:nvSpPr>
        <p:spPr>
          <a:xfrm>
            <a:off x="1219200" y="3011424"/>
            <a:ext cx="548640" cy="548640"/>
          </a:xfrm>
          <a:prstGeom prst="ellipse">
            <a:avLst/>
          </a:prstGeom>
          <a:solidFill>
            <a:srgbClr val="34B76F"/>
          </a:solidFill>
          <a:ln/>
        </p:spPr>
      </p:sp>
      <p:sp>
        <p:nvSpPr>
          <p:cNvPr id="11" name="Text 9"/>
          <p:cNvSpPr/>
          <p:nvPr/>
        </p:nvSpPr>
        <p:spPr>
          <a:xfrm>
            <a:off x="1219200" y="301142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950720" y="2962656"/>
            <a:ext cx="8290560" cy="85344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Which region has the HARDEST TIME getting resources it doesn't produce? Why?</a:t>
            </a:r>
            <a:endParaRPr lang="en-US" sz="1400" dirty="0"/>
          </a:p>
        </p:txBody>
      </p:sp>
      <p:sp>
        <p:nvSpPr>
          <p:cNvPr id="13" name="Shape 11"/>
          <p:cNvSpPr/>
          <p:nvPr/>
        </p:nvSpPr>
        <p:spPr>
          <a:xfrm>
            <a:off x="975360" y="4267200"/>
            <a:ext cx="9753600" cy="1097280"/>
          </a:xfrm>
          <a:prstGeom prst="roundRect">
            <a:avLst>
              <a:gd name="adj" fmla="val 10000"/>
            </a:avLst>
          </a:prstGeom>
          <a:solidFill>
            <a:srgbClr val="F0E8FF"/>
          </a:solidFill>
          <a:ln/>
          <a:effectLst>
            <a:outerShdw sx="100000" sy="100000" kx="0" ky="0" algn="bl" rotWithShape="0" blurRad="50800" dist="25400" dir="8100000">
              <a:srgbClr val="000000">
                <a:alpha val="8000"/>
              </a:srgbClr>
            </a:outerShdw>
          </a:effectLst>
        </p:spPr>
      </p:sp>
      <p:sp>
        <p:nvSpPr>
          <p:cNvPr id="14" name="Shape 12"/>
          <p:cNvSpPr/>
          <p:nvPr/>
        </p:nvSpPr>
        <p:spPr>
          <a:xfrm>
            <a:off x="1219200" y="4413504"/>
            <a:ext cx="548640" cy="548640"/>
          </a:xfrm>
          <a:prstGeom prst="ellipse">
            <a:avLst/>
          </a:prstGeom>
          <a:solidFill>
            <a:srgbClr val="8B6FC0"/>
          </a:solidFill>
          <a:ln/>
        </p:spPr>
      </p:sp>
      <p:sp>
        <p:nvSpPr>
          <p:cNvPr id="15" name="Text 13"/>
          <p:cNvSpPr/>
          <p:nvPr/>
        </p:nvSpPr>
        <p:spPr>
          <a:xfrm>
            <a:off x="1219200" y="441350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p:nvPr/>
        </p:nvSpPr>
        <p:spPr>
          <a:xfrm>
            <a:off x="1950720" y="4364736"/>
            <a:ext cx="8290560" cy="85344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What do ALL FIVE regions have in common?</a:t>
            </a:r>
            <a:endParaRPr lang="en-US" sz="1400" dirty="0"/>
          </a:p>
        </p:txBody>
      </p:sp>
      <p:sp>
        <p:nvSpPr>
          <p:cNvPr id="17" name="Shape 15"/>
          <p:cNvSpPr/>
          <p:nvPr/>
        </p:nvSpPr>
        <p:spPr>
          <a:xfrm>
            <a:off x="975360" y="5547360"/>
            <a:ext cx="9753600" cy="609600"/>
          </a:xfrm>
          <a:prstGeom prst="roundRect">
            <a:avLst>
              <a:gd name="adj" fmla="val 12000"/>
            </a:avLst>
          </a:prstGeom>
          <a:solidFill>
            <a:srgbClr val="FFF8F0"/>
          </a:solidFill>
          <a:ln/>
        </p:spPr>
      </p:sp>
      <p:sp>
        <p:nvSpPr>
          <p:cNvPr id="18" name="Text 16"/>
          <p:cNvSpPr/>
          <p:nvPr/>
        </p:nvSpPr>
        <p:spPr>
          <a:xfrm>
            <a:off x="1219200" y="5547360"/>
            <a:ext cx="9265920" cy="609600"/>
          </a:xfrm>
          <a:prstGeom prst="rect">
            <a:avLst/>
          </a:prstGeom>
          <a:noFill/>
          <a:ln/>
        </p:spPr>
        <p:txBody>
          <a:bodyPr wrap="square" lIns="0" tIns="0" rIns="0" bIns="0"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Council Tip: </a:t>
            </a:r>
            <a:pPr indent="0" marL="0">
              <a:buNone/>
            </a:pPr>
            <a:r>
              <a:rPr lang="en-US" sz="1200" dirty="0">
                <a:solidFill>
                  <a:srgbClr val="5A4A3A"/>
                </a:solidFill>
                <a:latin typeface="Calibri" pitchFamily="34" charset="0"/>
                <a:ea typeface="Calibri" pitchFamily="34" charset="-122"/>
                <a:cs typeface="Calibri" pitchFamily="34" charset="-120"/>
              </a:rPr>
              <a:t>Use your evidence cards! Good council members back up their answers with facts.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731520" y="365760"/>
            <a:ext cx="4876800" cy="30480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THEN AND NOW</a:t>
            </a:r>
            <a:endParaRPr lang="en-US" sz="1000" dirty="0"/>
          </a:p>
        </p:txBody>
      </p:sp>
      <p:sp>
        <p:nvSpPr>
          <p:cNvPr id="4" name="Text 2"/>
          <p:cNvSpPr/>
          <p:nvPr/>
        </p:nvSpPr>
        <p:spPr>
          <a:xfrm>
            <a:off x="731520" y="670560"/>
            <a:ext cx="9753600" cy="54864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Mapping Resources Across Regions</a:t>
            </a:r>
            <a:endParaRPr lang="en-US" sz="2600" dirty="0"/>
          </a:p>
        </p:txBody>
      </p:sp>
      <p:sp>
        <p:nvSpPr>
          <p:cNvPr id="5" name="Text 3"/>
          <p:cNvSpPr/>
          <p:nvPr/>
        </p:nvSpPr>
        <p:spPr>
          <a:xfrm>
            <a:off x="975360" y="1402080"/>
            <a:ext cx="2438400" cy="365760"/>
          </a:xfrm>
          <a:prstGeom prst="rect">
            <a:avLst/>
          </a:prstGeom>
          <a:noFill/>
          <a:ln/>
        </p:spPr>
        <p:txBody>
          <a:bodyPr wrap="square" lIns="0" tIns="0" rIns="0" bIns="0" rtlCol="0" anchor="ctr"/>
          <a:lstStyle/>
          <a:p>
            <a:pPr indent="0" marL="0">
              <a:buNone/>
            </a:pPr>
            <a:r>
              <a:rPr lang="en-US" sz="1200" b="1" spc="150" kern="0" dirty="0">
                <a:solidFill>
                  <a:srgbClr val="E8636B"/>
                </a:solidFill>
                <a:latin typeface="Calibri" pitchFamily="34" charset="0"/>
                <a:ea typeface="Calibri" pitchFamily="34" charset="-122"/>
                <a:cs typeface="Calibri" pitchFamily="34" charset="-120"/>
              </a:rPr>
              <a:t>THEN</a:t>
            </a:r>
            <a:endParaRPr lang="en-US" sz="1200" dirty="0"/>
          </a:p>
        </p:txBody>
      </p:sp>
      <p:sp>
        <p:nvSpPr>
          <p:cNvPr id="6" name="Shape 4"/>
          <p:cNvSpPr/>
          <p:nvPr/>
        </p:nvSpPr>
        <p:spPr>
          <a:xfrm>
            <a:off x="975360" y="1828800"/>
            <a:ext cx="4632960" cy="2438400"/>
          </a:xfrm>
          <a:prstGeom prst="roundRect">
            <a:avLst>
              <a:gd name="adj" fmla="val 4500"/>
            </a:avLst>
          </a:prstGeom>
          <a:solidFill>
            <a:srgbClr val="E2E8F4"/>
          </a:solidFill>
          <a:ln w="19050">
            <a:solidFill>
              <a:srgbClr val="B0B8CC"/>
            </a:solidFill>
            <a:prstDash val="dash"/>
          </a:ln>
        </p:spPr>
      </p:sp>
      <p:sp>
        <p:nvSpPr>
          <p:cNvPr id="7" name="Text 5"/>
          <p:cNvSpPr/>
          <p:nvPr/>
        </p:nvSpPr>
        <p:spPr>
          <a:xfrm>
            <a:off x="975360" y="1828800"/>
            <a:ext cx="463296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1158240" y="2194560"/>
            <a:ext cx="4267200" cy="19812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Historical illustration of early</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American travelers with an incomplete</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or inaccurate hand-drawn map</a:t>
            </a:r>
            <a:endParaRPr lang="en-US" sz="1100" dirty="0"/>
          </a:p>
        </p:txBody>
      </p:sp>
      <p:sp>
        <p:nvSpPr>
          <p:cNvPr id="9" name="Text 7"/>
          <p:cNvSpPr/>
          <p:nvPr/>
        </p:nvSpPr>
        <p:spPr>
          <a:xfrm>
            <a:off x="975360" y="4389120"/>
            <a:ext cx="4632960" cy="975360"/>
          </a:xfrm>
          <a:prstGeom prst="rect">
            <a:avLst/>
          </a:prstGeom>
          <a:noFill/>
          <a:ln/>
        </p:spPr>
        <p:txBody>
          <a:bodyPr wrap="square" lIns="0" tIns="0" rIns="0" bIns="0" rtlCol="0" anchor="ctr"/>
          <a:lstStyle/>
          <a:p>
            <a:pPr indent="0" marL="0">
              <a:buNone/>
            </a:pPr>
            <a:r>
              <a:rPr lang="en-US" sz="1200" dirty="0">
                <a:solidFill>
                  <a:srgbClr val="3A4A6A"/>
                </a:solidFill>
                <a:latin typeface="Calibri" pitchFamily="34" charset="0"/>
                <a:ea typeface="Calibri" pitchFamily="34" charset="-122"/>
                <a:cs typeface="Calibri" pitchFamily="34" charset="-120"/>
              </a:rPr>
              <a:t>Before accurate maps, travelers could not know what resources they would find in a new region. They relied on word of mouth and guesswork.</a:t>
            </a:r>
            <a:endParaRPr lang="en-US" sz="1200" dirty="0"/>
          </a:p>
        </p:txBody>
      </p:sp>
      <p:sp>
        <p:nvSpPr>
          <p:cNvPr id="10" name="Text 8"/>
          <p:cNvSpPr/>
          <p:nvPr/>
        </p:nvSpPr>
        <p:spPr>
          <a:xfrm>
            <a:off x="6339840" y="1402080"/>
            <a:ext cx="2438400" cy="365760"/>
          </a:xfrm>
          <a:prstGeom prst="rect">
            <a:avLst/>
          </a:prstGeom>
          <a:noFill/>
          <a:ln/>
        </p:spPr>
        <p:txBody>
          <a:bodyPr wrap="square" lIns="0" tIns="0" rIns="0" bIns="0" rtlCol="0" anchor="ctr"/>
          <a:lstStyle/>
          <a:p>
            <a:pPr indent="0" marL="0">
              <a:buNone/>
            </a:pPr>
            <a:r>
              <a:rPr lang="en-US" sz="1200" b="1" spc="150" kern="0" dirty="0">
                <a:solidFill>
                  <a:srgbClr val="34B76F"/>
                </a:solidFill>
                <a:latin typeface="Calibri" pitchFamily="34" charset="0"/>
                <a:ea typeface="Calibri" pitchFamily="34" charset="-122"/>
                <a:cs typeface="Calibri" pitchFamily="34" charset="-120"/>
              </a:rPr>
              <a:t>NOW</a:t>
            </a:r>
            <a:endParaRPr lang="en-US" sz="1200" dirty="0"/>
          </a:p>
        </p:txBody>
      </p:sp>
      <p:sp>
        <p:nvSpPr>
          <p:cNvPr id="11" name="Shape 9"/>
          <p:cNvSpPr/>
          <p:nvPr/>
        </p:nvSpPr>
        <p:spPr>
          <a:xfrm>
            <a:off x="6339840" y="1828800"/>
            <a:ext cx="4632960" cy="2438400"/>
          </a:xfrm>
          <a:prstGeom prst="roundRect">
            <a:avLst>
              <a:gd name="adj" fmla="val 4500"/>
            </a:avLst>
          </a:prstGeom>
          <a:solidFill>
            <a:srgbClr val="E2E8F4"/>
          </a:solidFill>
          <a:ln w="19050">
            <a:solidFill>
              <a:srgbClr val="B0B8CC"/>
            </a:solidFill>
            <a:prstDash val="dash"/>
          </a:ln>
        </p:spPr>
      </p:sp>
      <p:sp>
        <p:nvSpPr>
          <p:cNvPr id="12" name="Text 10"/>
          <p:cNvSpPr/>
          <p:nvPr/>
        </p:nvSpPr>
        <p:spPr>
          <a:xfrm>
            <a:off x="6339840" y="1828800"/>
            <a:ext cx="463296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3" name="Text 11"/>
          <p:cNvSpPr/>
          <p:nvPr/>
        </p:nvSpPr>
        <p:spPr>
          <a:xfrm>
            <a:off x="6522720" y="2194560"/>
            <a:ext cx="4267200" cy="19812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Modern satellite image of the U.S.</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showing terrain, vegetation, and</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resource data overlays</a:t>
            </a:r>
            <a:endParaRPr lang="en-US" sz="1100" dirty="0"/>
          </a:p>
        </p:txBody>
      </p:sp>
      <p:sp>
        <p:nvSpPr>
          <p:cNvPr id="14" name="Text 12"/>
          <p:cNvSpPr/>
          <p:nvPr/>
        </p:nvSpPr>
        <p:spPr>
          <a:xfrm>
            <a:off x="6339840" y="4389120"/>
            <a:ext cx="4632960" cy="975360"/>
          </a:xfrm>
          <a:prstGeom prst="rect">
            <a:avLst/>
          </a:prstGeom>
          <a:noFill/>
          <a:ln/>
        </p:spPr>
        <p:txBody>
          <a:bodyPr wrap="square" lIns="0" tIns="0" rIns="0" bIns="0" rtlCol="0" anchor="ctr"/>
          <a:lstStyle/>
          <a:p>
            <a:pPr indent="0" marL="0">
              <a:buNone/>
            </a:pPr>
            <a:r>
              <a:rPr lang="en-US" sz="1200" dirty="0">
                <a:solidFill>
                  <a:srgbClr val="3A4A6A"/>
                </a:solidFill>
                <a:latin typeface="Calibri" pitchFamily="34" charset="0"/>
                <a:ea typeface="Calibri" pitchFamily="34" charset="-122"/>
                <a:cs typeface="Calibri" pitchFamily="34" charset="-120"/>
              </a:rPr>
              <a:t>Today, satellite images and databases show us exactly what resources each region has — from underground minerals to cropland to water supplies.</a:t>
            </a:r>
            <a:endParaRPr lang="en-US" sz="1200" dirty="0"/>
          </a:p>
        </p:txBody>
      </p:sp>
      <p:sp>
        <p:nvSpPr>
          <p:cNvPr id="15" name="Shape 13"/>
          <p:cNvSpPr/>
          <p:nvPr/>
        </p:nvSpPr>
        <p:spPr>
          <a:xfrm>
            <a:off x="1828800" y="5608320"/>
            <a:ext cx="7924800" cy="1097280"/>
          </a:xfrm>
          <a:prstGeom prst="roundRect">
            <a:avLst>
              <a:gd name="adj" fmla="val 12500"/>
            </a:avLst>
          </a:prstGeom>
          <a:solidFill>
            <a:srgbClr val="1A2D5A"/>
          </a:solidFill>
          <a:ln/>
          <a:effectLst>
            <a:outerShdw sx="100000" sy="100000" kx="0" ky="0" algn="bl" rotWithShape="0" blurRad="101600" dist="38100" dir="8100000">
              <a:srgbClr val="000000">
                <a:alpha val="20000"/>
              </a:srgbClr>
            </a:outerShdw>
          </a:effectLst>
        </p:spPr>
      </p:sp>
      <p:sp>
        <p:nvSpPr>
          <p:cNvPr id="16" name="Text 14"/>
          <p:cNvSpPr/>
          <p:nvPr/>
        </p:nvSpPr>
        <p:spPr>
          <a:xfrm>
            <a:off x="2011680" y="5699760"/>
            <a:ext cx="7559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7" name="Text 15"/>
          <p:cNvSpPr/>
          <p:nvPr/>
        </p:nvSpPr>
        <p:spPr>
          <a:xfrm>
            <a:off x="2011680" y="5955792"/>
            <a:ext cx="7559040" cy="65836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it change your council advice if you had no maps?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can satellites show that old maps could not?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is accurate information important for making decisions?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731520" y="365760"/>
            <a:ext cx="4876800" cy="30480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EXHIBIT LABEL</a:t>
            </a:r>
            <a:endParaRPr lang="en-US" sz="1000" dirty="0"/>
          </a:p>
        </p:txBody>
      </p:sp>
      <p:sp>
        <p:nvSpPr>
          <p:cNvPr id="4" name="Text 2"/>
          <p:cNvSpPr/>
          <p:nvPr/>
        </p:nvSpPr>
        <p:spPr>
          <a:xfrm>
            <a:off x="731520" y="670560"/>
            <a:ext cx="10363200" cy="54864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The Big Picture: Five Regions, One Country</a:t>
            </a:r>
            <a:endParaRPr lang="en-US" sz="2600" dirty="0"/>
          </a:p>
        </p:txBody>
      </p:sp>
      <p:sp>
        <p:nvSpPr>
          <p:cNvPr id="5" name="Shape 3"/>
          <p:cNvSpPr/>
          <p:nvPr/>
        </p:nvSpPr>
        <p:spPr>
          <a:xfrm>
            <a:off x="731520" y="1402080"/>
            <a:ext cx="10363200" cy="1706880"/>
          </a:xfrm>
          <a:prstGeom prst="roundRect">
            <a:avLst>
              <a:gd name="adj" fmla="val 6429"/>
            </a:avLst>
          </a:prstGeom>
          <a:solidFill>
            <a:srgbClr val="FFFFFF"/>
          </a:solidFill>
          <a:ln/>
          <a:effectLst>
            <a:outerShdw sx="100000" sy="100000" kx="0" ky="0" algn="bl" rotWithShape="0" blurRad="63500" dist="25400" dir="8100000">
              <a:srgbClr val="000000">
                <a:alpha val="10000"/>
              </a:srgbClr>
            </a:outerShdw>
          </a:effectLst>
        </p:spPr>
      </p:sp>
      <p:sp>
        <p:nvSpPr>
          <p:cNvPr id="6" name="Text 4"/>
          <p:cNvSpPr/>
          <p:nvPr/>
        </p:nvSpPr>
        <p:spPr>
          <a:xfrm>
            <a:off x="975360" y="1524000"/>
            <a:ext cx="9875520" cy="1463040"/>
          </a:xfrm>
          <a:prstGeom prst="rect">
            <a:avLst/>
          </a:prstGeom>
          <a:noFill/>
          <a:ln/>
        </p:spPr>
        <p:txBody>
          <a:bodyPr wrap="square" lIns="0" tIns="0" rIns="0" bIns="0" rtlCol="0" anchor="ctr"/>
          <a:lstStyle/>
          <a:p>
            <a:pPr indent="0" marL="0">
              <a:lnSpc>
                <a:spcPct val="120000"/>
              </a:lnSpc>
              <a:buNone/>
            </a:pPr>
            <a:r>
              <a:rPr lang="en-US" sz="1400" dirty="0">
                <a:solidFill>
                  <a:srgbClr val="3A4A6A"/>
                </a:solidFill>
                <a:latin typeface="Calibri" pitchFamily="34" charset="0"/>
                <a:ea typeface="Calibri" pitchFamily="34" charset="-122"/>
                <a:cs typeface="Calibri" pitchFamily="34" charset="-120"/>
              </a:rPr>
              <a:t>No single region has everything it needs. The Northeast has harbors but not vast farmland. The Midwest grows food for the nation but has no ocean port. The Southwest has oil but little water. Each region has strengths — and each has gaps. That is why we gather evidence before advising the council.</a:t>
            </a:r>
            <a:endParaRPr lang="en-US" sz="1400" dirty="0"/>
          </a:p>
        </p:txBody>
      </p:sp>
      <p:sp>
        <p:nvSpPr>
          <p:cNvPr id="7" name="Shape 5"/>
          <p:cNvSpPr/>
          <p:nvPr/>
        </p:nvSpPr>
        <p:spPr>
          <a:xfrm>
            <a:off x="731520" y="3535680"/>
            <a:ext cx="2011680" cy="1828800"/>
          </a:xfrm>
          <a:prstGeom prst="roundRect">
            <a:avLst>
              <a:gd name="adj" fmla="val 5000"/>
            </a:avLst>
          </a:prstGeom>
          <a:solidFill>
            <a:srgbClr val="FFFFFF"/>
          </a:solidFill>
          <a:ln/>
          <a:effectLst>
            <a:outerShdw sx="100000" sy="100000" kx="0" ky="0" algn="bl" rotWithShape="0" blurRad="50800" dist="25400" dir="8100000">
              <a:srgbClr val="000000">
                <a:alpha val="8000"/>
              </a:srgbClr>
            </a:outerShdw>
          </a:effectLst>
        </p:spPr>
      </p:sp>
      <p:sp>
        <p:nvSpPr>
          <p:cNvPr id="8" name="Shape 6"/>
          <p:cNvSpPr/>
          <p:nvPr/>
        </p:nvSpPr>
        <p:spPr>
          <a:xfrm>
            <a:off x="829056" y="3633216"/>
            <a:ext cx="1816608" cy="426720"/>
          </a:xfrm>
          <a:prstGeom prst="roundRect">
            <a:avLst>
              <a:gd name="adj" fmla="val 12857"/>
            </a:avLst>
          </a:prstGeom>
          <a:solidFill>
            <a:srgbClr val="1A8A7D"/>
          </a:solidFill>
          <a:ln/>
        </p:spPr>
      </p:sp>
      <p:sp>
        <p:nvSpPr>
          <p:cNvPr id="9" name="Text 7"/>
          <p:cNvSpPr/>
          <p:nvPr/>
        </p:nvSpPr>
        <p:spPr>
          <a:xfrm>
            <a:off x="829056" y="3633216"/>
            <a:ext cx="1816608" cy="4267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Northeast</a:t>
            </a:r>
            <a:endParaRPr lang="en-US" sz="1100" dirty="0"/>
          </a:p>
        </p:txBody>
      </p:sp>
      <p:sp>
        <p:nvSpPr>
          <p:cNvPr id="10" name="Text 8"/>
          <p:cNvSpPr/>
          <p:nvPr/>
        </p:nvSpPr>
        <p:spPr>
          <a:xfrm>
            <a:off x="853440" y="4145280"/>
            <a:ext cx="1767840" cy="1097280"/>
          </a:xfrm>
          <a:prstGeom prst="rect">
            <a:avLst/>
          </a:prstGeom>
          <a:noFill/>
          <a:ln/>
        </p:spPr>
        <p:txBody>
          <a:bodyPr wrap="square" lIns="0" tIns="0" rIns="0" bIns="0" rtlCol="0" anchor="t"/>
          <a:lstStyle/>
          <a:p>
            <a:pPr algn="ctr" indent="0" marL="0">
              <a:buNone/>
            </a:pPr>
            <a:r>
              <a:rPr lang="en-US" sz="1100" dirty="0">
                <a:solidFill>
                  <a:srgbClr val="3A4A6A"/>
                </a:solidFill>
                <a:latin typeface="Calibri" pitchFamily="34" charset="0"/>
                <a:ea typeface="Calibri" pitchFamily="34" charset="-122"/>
                <a:cs typeface="Calibri" pitchFamily="34" charset="-120"/>
              </a:rPr>
              <a:t>Harbors</a:t>
            </a:r>
            <a:endParaRPr lang="en-US" sz="1100" dirty="0"/>
          </a:p>
          <a:p>
            <a:pPr algn="ctr" indent="0" marL="0">
              <a:buNone/>
            </a:pPr>
            <a:r>
              <a:rPr lang="en-US" sz="1100" dirty="0">
                <a:solidFill>
                  <a:srgbClr val="3A4A6A"/>
                </a:solidFill>
                <a:latin typeface="Calibri" pitchFamily="34" charset="0"/>
                <a:ea typeface="Calibri" pitchFamily="34" charset="-122"/>
                <a:cs typeface="Calibri" pitchFamily="34" charset="-120"/>
              </a:rPr>
              <a:t>Oldest Cities</a:t>
            </a:r>
            <a:endParaRPr lang="en-US" sz="1100" dirty="0"/>
          </a:p>
        </p:txBody>
      </p:sp>
      <p:sp>
        <p:nvSpPr>
          <p:cNvPr id="11" name="Shape 9"/>
          <p:cNvSpPr/>
          <p:nvPr/>
        </p:nvSpPr>
        <p:spPr>
          <a:xfrm>
            <a:off x="2987040" y="3535680"/>
            <a:ext cx="2011680" cy="1828800"/>
          </a:xfrm>
          <a:prstGeom prst="roundRect">
            <a:avLst>
              <a:gd name="adj" fmla="val 5000"/>
            </a:avLst>
          </a:prstGeom>
          <a:solidFill>
            <a:srgbClr val="FFFFFF"/>
          </a:solidFill>
          <a:ln/>
          <a:effectLst>
            <a:outerShdw sx="100000" sy="100000" kx="0" ky="0" algn="bl" rotWithShape="0" blurRad="50800" dist="25400" dir="8100000">
              <a:srgbClr val="000000">
                <a:alpha val="8000"/>
              </a:srgbClr>
            </a:outerShdw>
          </a:effectLst>
        </p:spPr>
      </p:sp>
      <p:sp>
        <p:nvSpPr>
          <p:cNvPr id="12" name="Shape 10"/>
          <p:cNvSpPr/>
          <p:nvPr/>
        </p:nvSpPr>
        <p:spPr>
          <a:xfrm>
            <a:off x="3084576" y="3633216"/>
            <a:ext cx="1816608" cy="426720"/>
          </a:xfrm>
          <a:prstGeom prst="roundRect">
            <a:avLst>
              <a:gd name="adj" fmla="val 12857"/>
            </a:avLst>
          </a:prstGeom>
          <a:solidFill>
            <a:srgbClr val="E8636B"/>
          </a:solidFill>
          <a:ln/>
        </p:spPr>
      </p:sp>
      <p:sp>
        <p:nvSpPr>
          <p:cNvPr id="13" name="Text 11"/>
          <p:cNvSpPr/>
          <p:nvPr/>
        </p:nvSpPr>
        <p:spPr>
          <a:xfrm>
            <a:off x="3084576" y="3633216"/>
            <a:ext cx="1816608" cy="4267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Southeast</a:t>
            </a:r>
            <a:endParaRPr lang="en-US" sz="1100" dirty="0"/>
          </a:p>
        </p:txBody>
      </p:sp>
      <p:sp>
        <p:nvSpPr>
          <p:cNvPr id="14" name="Text 12"/>
          <p:cNvSpPr/>
          <p:nvPr/>
        </p:nvSpPr>
        <p:spPr>
          <a:xfrm>
            <a:off x="3108960" y="4145280"/>
            <a:ext cx="1767840" cy="1097280"/>
          </a:xfrm>
          <a:prstGeom prst="rect">
            <a:avLst/>
          </a:prstGeom>
          <a:noFill/>
          <a:ln/>
        </p:spPr>
        <p:txBody>
          <a:bodyPr wrap="square" lIns="0" tIns="0" rIns="0" bIns="0" rtlCol="0" anchor="t"/>
          <a:lstStyle/>
          <a:p>
            <a:pPr algn="ctr" indent="0" marL="0">
              <a:buNone/>
            </a:pPr>
            <a:r>
              <a:rPr lang="en-US" sz="1100" dirty="0">
                <a:solidFill>
                  <a:srgbClr val="3A4A6A"/>
                </a:solidFill>
                <a:latin typeface="Calibri" pitchFamily="34" charset="0"/>
                <a:ea typeface="Calibri" pitchFamily="34" charset="-122"/>
                <a:cs typeface="Calibri" pitchFamily="34" charset="-120"/>
              </a:rPr>
              <a:t>Warm Climate</a:t>
            </a:r>
            <a:endParaRPr lang="en-US" sz="1100" dirty="0"/>
          </a:p>
          <a:p>
            <a:pPr algn="ctr" indent="0" marL="0">
              <a:buNone/>
            </a:pPr>
            <a:r>
              <a:rPr lang="en-US" sz="1100" dirty="0">
                <a:solidFill>
                  <a:srgbClr val="3A4A6A"/>
                </a:solidFill>
                <a:latin typeface="Calibri" pitchFamily="34" charset="0"/>
                <a:ea typeface="Calibri" pitchFamily="34" charset="-122"/>
                <a:cs typeface="Calibri" pitchFamily="34" charset="-120"/>
              </a:rPr>
              <a:t>Citrus &amp; Cotton</a:t>
            </a:r>
            <a:endParaRPr lang="en-US" sz="1100" dirty="0"/>
          </a:p>
        </p:txBody>
      </p:sp>
      <p:sp>
        <p:nvSpPr>
          <p:cNvPr id="15" name="Shape 13"/>
          <p:cNvSpPr/>
          <p:nvPr/>
        </p:nvSpPr>
        <p:spPr>
          <a:xfrm>
            <a:off x="5242560" y="3535680"/>
            <a:ext cx="2011680" cy="1828800"/>
          </a:xfrm>
          <a:prstGeom prst="roundRect">
            <a:avLst>
              <a:gd name="adj" fmla="val 5000"/>
            </a:avLst>
          </a:prstGeom>
          <a:solidFill>
            <a:srgbClr val="FFFFFF"/>
          </a:solidFill>
          <a:ln/>
          <a:effectLst>
            <a:outerShdw sx="100000" sy="100000" kx="0" ky="0" algn="bl" rotWithShape="0" blurRad="50800" dist="25400" dir="8100000">
              <a:srgbClr val="000000">
                <a:alpha val="8000"/>
              </a:srgbClr>
            </a:outerShdw>
          </a:effectLst>
        </p:spPr>
      </p:sp>
      <p:sp>
        <p:nvSpPr>
          <p:cNvPr id="16" name="Shape 14"/>
          <p:cNvSpPr/>
          <p:nvPr/>
        </p:nvSpPr>
        <p:spPr>
          <a:xfrm>
            <a:off x="5340096" y="3633216"/>
            <a:ext cx="1816608" cy="426720"/>
          </a:xfrm>
          <a:prstGeom prst="roundRect">
            <a:avLst>
              <a:gd name="adj" fmla="val 12857"/>
            </a:avLst>
          </a:prstGeom>
          <a:solidFill>
            <a:srgbClr val="34B76F"/>
          </a:solidFill>
          <a:ln/>
        </p:spPr>
      </p:sp>
      <p:sp>
        <p:nvSpPr>
          <p:cNvPr id="17" name="Text 15"/>
          <p:cNvSpPr/>
          <p:nvPr/>
        </p:nvSpPr>
        <p:spPr>
          <a:xfrm>
            <a:off x="5340096" y="3633216"/>
            <a:ext cx="1816608" cy="4267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Midwest</a:t>
            </a:r>
            <a:endParaRPr lang="en-US" sz="1100" dirty="0"/>
          </a:p>
        </p:txBody>
      </p:sp>
      <p:sp>
        <p:nvSpPr>
          <p:cNvPr id="18" name="Text 16"/>
          <p:cNvSpPr/>
          <p:nvPr/>
        </p:nvSpPr>
        <p:spPr>
          <a:xfrm>
            <a:off x="5364480" y="4145280"/>
            <a:ext cx="1767840" cy="1097280"/>
          </a:xfrm>
          <a:prstGeom prst="rect">
            <a:avLst/>
          </a:prstGeom>
          <a:noFill/>
          <a:ln/>
        </p:spPr>
        <p:txBody>
          <a:bodyPr wrap="square" lIns="0" tIns="0" rIns="0" bIns="0" rtlCol="0" anchor="t"/>
          <a:lstStyle/>
          <a:p>
            <a:pPr algn="ctr" indent="0" marL="0">
              <a:buNone/>
            </a:pPr>
            <a:r>
              <a:rPr lang="en-US" sz="1100" dirty="0">
                <a:solidFill>
                  <a:srgbClr val="3A4A6A"/>
                </a:solidFill>
                <a:latin typeface="Calibri" pitchFamily="34" charset="0"/>
                <a:ea typeface="Calibri" pitchFamily="34" charset="-122"/>
                <a:cs typeface="Calibri" pitchFamily="34" charset="-120"/>
              </a:rPr>
              <a:t>Great Lakes</a:t>
            </a:r>
            <a:endParaRPr lang="en-US" sz="1100" dirty="0"/>
          </a:p>
          <a:p>
            <a:pPr algn="ctr" indent="0" marL="0">
              <a:buNone/>
            </a:pPr>
            <a:r>
              <a:rPr lang="en-US" sz="1100" dirty="0">
                <a:solidFill>
                  <a:srgbClr val="3A4A6A"/>
                </a:solidFill>
                <a:latin typeface="Calibri" pitchFamily="34" charset="0"/>
                <a:ea typeface="Calibri" pitchFamily="34" charset="-122"/>
                <a:cs typeface="Calibri" pitchFamily="34" charset="-120"/>
              </a:rPr>
              <a:t>Breadbasket</a:t>
            </a:r>
            <a:endParaRPr lang="en-US" sz="1100" dirty="0"/>
          </a:p>
        </p:txBody>
      </p:sp>
      <p:sp>
        <p:nvSpPr>
          <p:cNvPr id="19" name="Shape 17"/>
          <p:cNvSpPr/>
          <p:nvPr/>
        </p:nvSpPr>
        <p:spPr>
          <a:xfrm>
            <a:off x="7498080" y="3535680"/>
            <a:ext cx="2011680" cy="1828800"/>
          </a:xfrm>
          <a:prstGeom prst="roundRect">
            <a:avLst>
              <a:gd name="adj" fmla="val 5000"/>
            </a:avLst>
          </a:prstGeom>
          <a:solidFill>
            <a:srgbClr val="FFFFFF"/>
          </a:solidFill>
          <a:ln/>
          <a:effectLst>
            <a:outerShdw sx="100000" sy="100000" kx="0" ky="0" algn="bl" rotWithShape="0" blurRad="50800" dist="25400" dir="8100000">
              <a:srgbClr val="000000">
                <a:alpha val="8000"/>
              </a:srgbClr>
            </a:outerShdw>
          </a:effectLst>
        </p:spPr>
      </p:sp>
      <p:sp>
        <p:nvSpPr>
          <p:cNvPr id="20" name="Shape 18"/>
          <p:cNvSpPr/>
          <p:nvPr/>
        </p:nvSpPr>
        <p:spPr>
          <a:xfrm>
            <a:off x="7595616" y="3633216"/>
            <a:ext cx="1816608" cy="426720"/>
          </a:xfrm>
          <a:prstGeom prst="roundRect">
            <a:avLst>
              <a:gd name="adj" fmla="val 12857"/>
            </a:avLst>
          </a:prstGeom>
          <a:solidFill>
            <a:srgbClr val="D4943A"/>
          </a:solidFill>
          <a:ln/>
        </p:spPr>
      </p:sp>
      <p:sp>
        <p:nvSpPr>
          <p:cNvPr id="21" name="Text 19"/>
          <p:cNvSpPr/>
          <p:nvPr/>
        </p:nvSpPr>
        <p:spPr>
          <a:xfrm>
            <a:off x="7595616" y="3633216"/>
            <a:ext cx="1816608" cy="4267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Southwest</a:t>
            </a:r>
            <a:endParaRPr lang="en-US" sz="1100" dirty="0"/>
          </a:p>
        </p:txBody>
      </p:sp>
      <p:sp>
        <p:nvSpPr>
          <p:cNvPr id="22" name="Text 20"/>
          <p:cNvSpPr/>
          <p:nvPr/>
        </p:nvSpPr>
        <p:spPr>
          <a:xfrm>
            <a:off x="7620000" y="4145280"/>
            <a:ext cx="1767840" cy="1097280"/>
          </a:xfrm>
          <a:prstGeom prst="rect">
            <a:avLst/>
          </a:prstGeom>
          <a:noFill/>
          <a:ln/>
        </p:spPr>
        <p:txBody>
          <a:bodyPr wrap="square" lIns="0" tIns="0" rIns="0" bIns="0" rtlCol="0" anchor="t"/>
          <a:lstStyle/>
          <a:p>
            <a:pPr algn="ctr" indent="0" marL="0">
              <a:buNone/>
            </a:pPr>
            <a:r>
              <a:rPr lang="en-US" sz="1100" dirty="0">
                <a:solidFill>
                  <a:srgbClr val="3A4A6A"/>
                </a:solidFill>
                <a:latin typeface="Calibri" pitchFamily="34" charset="0"/>
                <a:ea typeface="Calibri" pitchFamily="34" charset="-122"/>
                <a:cs typeface="Calibri" pitchFamily="34" charset="-120"/>
              </a:rPr>
              <a:t>Oil &amp; Gas</a:t>
            </a:r>
            <a:endParaRPr lang="en-US" sz="1100" dirty="0"/>
          </a:p>
          <a:p>
            <a:pPr algn="ctr" indent="0" marL="0">
              <a:buNone/>
            </a:pPr>
            <a:r>
              <a:rPr lang="en-US" sz="1100" dirty="0">
                <a:solidFill>
                  <a:srgbClr val="3A4A6A"/>
                </a:solidFill>
                <a:latin typeface="Calibri" pitchFamily="34" charset="0"/>
                <a:ea typeface="Calibri" pitchFamily="34" charset="-122"/>
                <a:cs typeface="Calibri" pitchFamily="34" charset="-120"/>
              </a:rPr>
              <a:t>Desert Tourism</a:t>
            </a:r>
            <a:endParaRPr lang="en-US" sz="1100" dirty="0"/>
          </a:p>
        </p:txBody>
      </p:sp>
      <p:sp>
        <p:nvSpPr>
          <p:cNvPr id="23" name="Shape 21"/>
          <p:cNvSpPr/>
          <p:nvPr/>
        </p:nvSpPr>
        <p:spPr>
          <a:xfrm>
            <a:off x="9753600" y="3535680"/>
            <a:ext cx="2011680" cy="1828800"/>
          </a:xfrm>
          <a:prstGeom prst="roundRect">
            <a:avLst>
              <a:gd name="adj" fmla="val 5000"/>
            </a:avLst>
          </a:prstGeom>
          <a:solidFill>
            <a:srgbClr val="FFFFFF"/>
          </a:solidFill>
          <a:ln/>
          <a:effectLst>
            <a:outerShdw sx="100000" sy="100000" kx="0" ky="0" algn="bl" rotWithShape="0" blurRad="50800" dist="25400" dir="8100000">
              <a:srgbClr val="000000">
                <a:alpha val="8000"/>
              </a:srgbClr>
            </a:outerShdw>
          </a:effectLst>
        </p:spPr>
      </p:sp>
      <p:sp>
        <p:nvSpPr>
          <p:cNvPr id="24" name="Shape 22"/>
          <p:cNvSpPr/>
          <p:nvPr/>
        </p:nvSpPr>
        <p:spPr>
          <a:xfrm>
            <a:off x="9851136" y="3633216"/>
            <a:ext cx="1816608" cy="426720"/>
          </a:xfrm>
          <a:prstGeom prst="roundRect">
            <a:avLst>
              <a:gd name="adj" fmla="val 12857"/>
            </a:avLst>
          </a:prstGeom>
          <a:solidFill>
            <a:srgbClr val="8B6FC0"/>
          </a:solidFill>
          <a:ln/>
        </p:spPr>
      </p:sp>
      <p:sp>
        <p:nvSpPr>
          <p:cNvPr id="25" name="Text 23"/>
          <p:cNvSpPr/>
          <p:nvPr/>
        </p:nvSpPr>
        <p:spPr>
          <a:xfrm>
            <a:off x="9851136" y="3633216"/>
            <a:ext cx="1816608" cy="4267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West</a:t>
            </a:r>
            <a:endParaRPr lang="en-US" sz="1100" dirty="0"/>
          </a:p>
        </p:txBody>
      </p:sp>
      <p:sp>
        <p:nvSpPr>
          <p:cNvPr id="26" name="Text 24"/>
          <p:cNvSpPr/>
          <p:nvPr/>
        </p:nvSpPr>
        <p:spPr>
          <a:xfrm>
            <a:off x="9875520" y="4145280"/>
            <a:ext cx="1767840" cy="1097280"/>
          </a:xfrm>
          <a:prstGeom prst="rect">
            <a:avLst/>
          </a:prstGeom>
          <a:noFill/>
          <a:ln/>
        </p:spPr>
        <p:txBody>
          <a:bodyPr wrap="square" lIns="0" tIns="0" rIns="0" bIns="0" rtlCol="0" anchor="t"/>
          <a:lstStyle/>
          <a:p>
            <a:pPr algn="ctr" indent="0" marL="0">
              <a:buNone/>
            </a:pPr>
            <a:r>
              <a:rPr lang="en-US" sz="1100" dirty="0">
                <a:solidFill>
                  <a:srgbClr val="3A4A6A"/>
                </a:solidFill>
                <a:latin typeface="Calibri" pitchFamily="34" charset="0"/>
                <a:ea typeface="Calibri" pitchFamily="34" charset="-122"/>
                <a:cs typeface="Calibri" pitchFamily="34" charset="-120"/>
              </a:rPr>
              <a:t>Timber &amp; Tech</a:t>
            </a:r>
            <a:endParaRPr lang="en-US" sz="1100" dirty="0"/>
          </a:p>
          <a:p>
            <a:pPr algn="ctr" indent="0" marL="0">
              <a:buNone/>
            </a:pPr>
            <a:r>
              <a:rPr lang="en-US" sz="1100" dirty="0">
                <a:solidFill>
                  <a:srgbClr val="3A4A6A"/>
                </a:solidFill>
                <a:latin typeface="Calibri" pitchFamily="34" charset="0"/>
                <a:ea typeface="Calibri" pitchFamily="34" charset="-122"/>
                <a:cs typeface="Calibri" pitchFamily="34" charset="-120"/>
              </a:rPr>
              <a:t>Diverse Climate</a:t>
            </a:r>
            <a:endParaRPr lang="en-US" sz="1100" dirty="0"/>
          </a:p>
        </p:txBody>
      </p:sp>
      <p:sp>
        <p:nvSpPr>
          <p:cNvPr id="27" name="Shape 25"/>
          <p:cNvSpPr/>
          <p:nvPr/>
        </p:nvSpPr>
        <p:spPr>
          <a:xfrm>
            <a:off x="731520" y="5608320"/>
            <a:ext cx="5486400" cy="1097280"/>
          </a:xfrm>
          <a:prstGeom prst="roundRect">
            <a:avLst>
              <a:gd name="adj" fmla="val 10000"/>
            </a:avLst>
          </a:prstGeom>
          <a:solidFill>
            <a:srgbClr val="FFF3DC"/>
          </a:solidFill>
          <a:ln w="19050">
            <a:solidFill>
              <a:srgbClr val="F5E6C8"/>
            </a:solidFill>
            <a:prstDash val="solid"/>
          </a:ln>
        </p:spPr>
      </p:sp>
      <p:sp>
        <p:nvSpPr>
          <p:cNvPr id="28" name="Text 26"/>
          <p:cNvSpPr/>
          <p:nvPr/>
        </p:nvSpPr>
        <p:spPr>
          <a:xfrm>
            <a:off x="868680" y="5663184"/>
            <a:ext cx="52120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9" name="Text 27"/>
          <p:cNvSpPr/>
          <p:nvPr/>
        </p:nvSpPr>
        <p:spPr>
          <a:xfrm>
            <a:off x="868680" y="5864352"/>
            <a:ext cx="5212080" cy="777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"Every region has something special — and something it lacks."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good council member knows both the strengths and the gaps."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"That is what makes our evidence cards so important!"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731520" y="365760"/>
            <a:ext cx="4876800" cy="30480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OPTI SAYS</a:t>
            </a:r>
            <a:endParaRPr lang="en-US" sz="1000" dirty="0"/>
          </a:p>
        </p:txBody>
      </p:sp>
      <p:sp>
        <p:nvSpPr>
          <p:cNvPr id="4" name="Text 2"/>
          <p:cNvSpPr/>
          <p:nvPr/>
        </p:nvSpPr>
        <p:spPr>
          <a:xfrm>
            <a:off x="731520" y="670560"/>
            <a:ext cx="9753600" cy="54864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The Ogallala Aquifer</a:t>
            </a:r>
            <a:endParaRPr lang="en-US" sz="2600" dirty="0"/>
          </a:p>
        </p:txBody>
      </p:sp>
      <p:sp>
        <p:nvSpPr>
          <p:cNvPr id="5" name="Shape 3"/>
          <p:cNvSpPr/>
          <p:nvPr/>
        </p:nvSpPr>
        <p:spPr>
          <a:xfrm>
            <a:off x="731520" y="1463040"/>
            <a:ext cx="5120640" cy="3048000"/>
          </a:xfrm>
          <a:prstGeom prst="roundRect">
            <a:avLst>
              <a:gd name="adj" fmla="val 3600"/>
            </a:avLst>
          </a:prstGeom>
          <a:solidFill>
            <a:srgbClr val="E2E8F4"/>
          </a:solidFill>
          <a:ln w="19050">
            <a:solidFill>
              <a:srgbClr val="B0B8CC"/>
            </a:solidFill>
            <a:prstDash val="dash"/>
          </a:ln>
        </p:spPr>
      </p:sp>
      <p:sp>
        <p:nvSpPr>
          <p:cNvPr id="6" name="Text 4"/>
          <p:cNvSpPr/>
          <p:nvPr/>
        </p:nvSpPr>
        <p:spPr>
          <a:xfrm>
            <a:off x="731520" y="1463040"/>
            <a:ext cx="512064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914400" y="1828800"/>
            <a:ext cx="4754880" cy="25908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Map or diagram of the Ogallala Aquifer</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showing its extent under 8 Great Plains states</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(SD, NE, WY, CO, KS, OK, NM, TX)</a:t>
            </a:r>
            <a:endParaRPr lang="en-US" sz="1100" dirty="0"/>
          </a:p>
        </p:txBody>
      </p:sp>
      <p:sp>
        <p:nvSpPr>
          <p:cNvPr id="8" name="Shape 6"/>
          <p:cNvSpPr/>
          <p:nvPr/>
        </p:nvSpPr>
        <p:spPr>
          <a:xfrm>
            <a:off x="6339840" y="1463040"/>
            <a:ext cx="5120640" cy="3048000"/>
          </a:xfrm>
          <a:prstGeom prst="roundRect">
            <a:avLst>
              <a:gd name="adj" fmla="val 3600"/>
            </a:avLst>
          </a:prstGeom>
          <a:solidFill>
            <a:srgbClr val="EAF8FD"/>
          </a:solidFill>
          <a:ln/>
        </p:spPr>
      </p:sp>
      <p:sp>
        <p:nvSpPr>
          <p:cNvPr id="9" name="Text 7"/>
          <p:cNvSpPr/>
          <p:nvPr/>
        </p:nvSpPr>
        <p:spPr>
          <a:xfrm>
            <a:off x="6522720" y="1584960"/>
            <a:ext cx="4754880" cy="365760"/>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Underground Water Under 8 States</a:t>
            </a:r>
            <a:endParaRPr lang="en-US" sz="1400" dirty="0"/>
          </a:p>
        </p:txBody>
      </p:sp>
      <p:sp>
        <p:nvSpPr>
          <p:cNvPr id="10" name="Text 8"/>
          <p:cNvSpPr/>
          <p:nvPr/>
        </p:nvSpPr>
        <p:spPr>
          <a:xfrm>
            <a:off x="6522720" y="2072640"/>
            <a:ext cx="4754880" cy="1097280"/>
          </a:xfrm>
          <a:prstGeom prst="rect">
            <a:avLst/>
          </a:prstGeom>
          <a:noFill/>
          <a:ln/>
        </p:spPr>
        <p:txBody>
          <a:bodyPr wrap="square" lIns="0" tIns="0" rIns="0" bIns="0" rtlCol="0" anchor="ctr"/>
          <a:lstStyle/>
          <a:p>
            <a:pPr indent="0" marL="0">
              <a:lnSpc>
                <a:spcPct val="115000"/>
              </a:lnSpc>
              <a:buNone/>
            </a:pPr>
            <a:r>
              <a:rPr lang="en-US" sz="1300" dirty="0">
                <a:solidFill>
                  <a:srgbClr val="3A4A6A"/>
                </a:solidFill>
                <a:latin typeface="Calibri" pitchFamily="34" charset="0"/>
                <a:ea typeface="Calibri" pitchFamily="34" charset="-122"/>
                <a:cs typeface="Calibri" pitchFamily="34" charset="-120"/>
              </a:rPr>
              <a:t>The Ogallala Aquifer is like a giant underground lake stretching beneath parts of eight states — from South Dakota to Texas. Farmers pump water from it to irrigate millions of acres of crops.</a:t>
            </a:r>
            <a:endParaRPr lang="en-US" sz="1300" dirty="0"/>
          </a:p>
        </p:txBody>
      </p:sp>
      <p:sp>
        <p:nvSpPr>
          <p:cNvPr id="11" name="Text 9"/>
          <p:cNvSpPr/>
          <p:nvPr/>
        </p:nvSpPr>
        <p:spPr>
          <a:xfrm>
            <a:off x="6522720" y="3230880"/>
            <a:ext cx="4754880" cy="426720"/>
          </a:xfrm>
          <a:prstGeom prst="rect">
            <a:avLst/>
          </a:prstGeom>
          <a:noFill/>
          <a:ln/>
        </p:spPr>
        <p:txBody>
          <a:bodyPr wrap="square" lIns="0" tIns="0" rIns="0" bIns="0" rtlCol="0" anchor="ctr"/>
          <a:lstStyle/>
          <a:p>
            <a:pPr indent="0" marL="0">
              <a:buNone/>
            </a:pPr>
            <a:r>
              <a:rPr lang="en-US" sz="1300" b="1" dirty="0">
                <a:solidFill>
                  <a:srgbClr val="E8636B"/>
                </a:solidFill>
                <a:latin typeface="Calibri" pitchFamily="34" charset="0"/>
                <a:ea typeface="Calibri" pitchFamily="34" charset="-122"/>
                <a:cs typeface="Calibri" pitchFamily="34" charset="-120"/>
              </a:rPr>
              <a:t>But the water is being used faster than nature can refill it.</a:t>
            </a:r>
            <a:endParaRPr lang="en-US" sz="1300" dirty="0"/>
          </a:p>
        </p:txBody>
      </p:sp>
      <p:sp>
        <p:nvSpPr>
          <p:cNvPr id="12" name="Shape 10"/>
          <p:cNvSpPr/>
          <p:nvPr/>
        </p:nvSpPr>
        <p:spPr>
          <a:xfrm>
            <a:off x="6522720" y="3718560"/>
            <a:ext cx="4511040" cy="609600"/>
          </a:xfrm>
          <a:prstGeom prst="roundRect">
            <a:avLst>
              <a:gd name="adj" fmla="val 12000"/>
            </a:avLst>
          </a:prstGeom>
          <a:solidFill>
            <a:srgbClr val="FFF8F0"/>
          </a:solidFill>
          <a:ln/>
        </p:spPr>
      </p:sp>
      <p:sp>
        <p:nvSpPr>
          <p:cNvPr id="13" name="Text 11"/>
          <p:cNvSpPr/>
          <p:nvPr/>
        </p:nvSpPr>
        <p:spPr>
          <a:xfrm>
            <a:off x="6644640" y="3718560"/>
            <a:ext cx="4267200" cy="609600"/>
          </a:xfrm>
          <a:prstGeom prst="rect">
            <a:avLst/>
          </a:prstGeom>
          <a:noFill/>
          <a:ln/>
        </p:spPr>
        <p:txBody>
          <a:bodyPr wrap="square" lIns="0" tIns="0" rIns="0" bIns="0"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Big Question: </a:t>
            </a:r>
            <a:pPr indent="0" marL="0">
              <a:buNone/>
            </a:pPr>
            <a:r>
              <a:rPr lang="en-US" sz="1200" i="1" dirty="0">
                <a:solidFill>
                  <a:srgbClr val="5A4A3A"/>
                </a:solidFill>
                <a:latin typeface="Calibri" pitchFamily="34" charset="0"/>
                <a:ea typeface="Calibri" pitchFamily="34" charset="-122"/>
                <a:cs typeface="Calibri" pitchFamily="34" charset="-120"/>
              </a:rPr>
              <a:t>How long can that last?</a:t>
            </a:r>
            <a:endParaRPr lang="en-US" sz="1200" dirty="0"/>
          </a:p>
        </p:txBody>
      </p:sp>
      <p:sp>
        <p:nvSpPr>
          <p:cNvPr id="14" name="Shape 12"/>
          <p:cNvSpPr/>
          <p:nvPr/>
        </p:nvSpPr>
        <p:spPr>
          <a:xfrm>
            <a:off x="1828800" y="5120640"/>
            <a:ext cx="7924800" cy="1341120"/>
          </a:xfrm>
          <a:prstGeom prst="roundRect">
            <a:avLst>
              <a:gd name="adj" fmla="val 10227"/>
            </a:avLst>
          </a:prstGeom>
          <a:solidFill>
            <a:srgbClr val="1A2D5A"/>
          </a:solidFill>
          <a:ln/>
          <a:effectLst>
            <a:outerShdw sx="100000" sy="100000" kx="0" ky="0" algn="bl" rotWithShape="0" blurRad="101600" dist="38100" dir="8100000">
              <a:srgbClr val="000000">
                <a:alpha val="20000"/>
              </a:srgbClr>
            </a:outerShdw>
          </a:effectLst>
        </p:spPr>
      </p:sp>
      <p:sp>
        <p:nvSpPr>
          <p:cNvPr id="15" name="Text 13"/>
          <p:cNvSpPr/>
          <p:nvPr/>
        </p:nvSpPr>
        <p:spPr>
          <a:xfrm>
            <a:off x="2011680" y="5212080"/>
            <a:ext cx="7559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6" name="Text 14"/>
          <p:cNvSpPr/>
          <p:nvPr/>
        </p:nvSpPr>
        <p:spPr>
          <a:xfrm>
            <a:off x="2011680" y="5468112"/>
            <a:ext cx="7559040" cy="9022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happens to farms if the aquifer runs dry?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regions depend on this water?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does this connect to the idea that no region has everything?</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731520" y="365760"/>
            <a:ext cx="4876800" cy="36576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SELF-CHECK</a:t>
            </a:r>
            <a:endParaRPr lang="en-US" sz="1000" dirty="0"/>
          </a:p>
        </p:txBody>
      </p:sp>
      <p:sp>
        <p:nvSpPr>
          <p:cNvPr id="4" name="Text 2"/>
          <p:cNvSpPr/>
          <p:nvPr/>
        </p:nvSpPr>
        <p:spPr>
          <a:xfrm>
            <a:off x="731520" y="670560"/>
            <a:ext cx="9753600" cy="42672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Question 1</a:t>
            </a:r>
            <a:endParaRPr lang="en-US" sz="2400" dirty="0"/>
          </a:p>
        </p:txBody>
      </p:sp>
      <p:sp>
        <p:nvSpPr>
          <p:cNvPr id="5" name="Text 3"/>
          <p:cNvSpPr/>
          <p:nvPr/>
        </p:nvSpPr>
        <p:spPr>
          <a:xfrm>
            <a:off x="731520" y="1158240"/>
            <a:ext cx="10363200" cy="548640"/>
          </a:xfrm>
          <a:prstGeom prst="rect">
            <a:avLst/>
          </a:prstGeom>
          <a:noFill/>
          <a:ln/>
        </p:spPr>
        <p:txBody>
          <a:bodyPr wrap="square" lIns="0" tIns="0" rIns="0" bIns="0" rtlCol="0" anchor="ctr"/>
          <a:lstStyle/>
          <a:p>
            <a:pPr indent="0" marL="0">
              <a:buNone/>
            </a:pPr>
            <a:r>
              <a:rPr lang="en-US" sz="1500" dirty="0">
                <a:solidFill>
                  <a:srgbClr val="3A4A6A"/>
                </a:solidFill>
                <a:latin typeface="Calibri" pitchFamily="34" charset="0"/>
                <a:ea typeface="Calibri" pitchFamily="34" charset="-122"/>
                <a:cs typeface="Calibri" pitchFamily="34" charset="-120"/>
              </a:rPr>
              <a:t>Which region is known as the 'Breadbasket of America'?</a:t>
            </a:r>
            <a:endParaRPr lang="en-US" sz="1500" dirty="0"/>
          </a:p>
        </p:txBody>
      </p:sp>
      <p:sp>
        <p:nvSpPr>
          <p:cNvPr id="6" name="Shape 4"/>
          <p:cNvSpPr/>
          <p:nvPr/>
        </p:nvSpPr>
        <p:spPr>
          <a:xfrm>
            <a:off x="975360" y="1950720"/>
            <a:ext cx="9144000" cy="548640"/>
          </a:xfrm>
          <a:prstGeom prst="roundRect">
            <a:avLst>
              <a:gd name="adj" fmla="val 16667"/>
            </a:avLst>
          </a:prstGeom>
          <a:solidFill>
            <a:srgbClr val="EAF8FD"/>
          </a:solidFill>
          <a:ln/>
        </p:spPr>
      </p:sp>
      <p:sp>
        <p:nvSpPr>
          <p:cNvPr id="7" name="Text 5"/>
          <p:cNvSpPr/>
          <p:nvPr/>
        </p:nvSpPr>
        <p:spPr>
          <a:xfrm>
            <a:off x="1036320" y="1950720"/>
            <a:ext cx="548640" cy="548640"/>
          </a:xfrm>
          <a:prstGeom prst="rect">
            <a:avLst/>
          </a:prstGeom>
          <a:noFill/>
          <a:ln/>
        </p:spPr>
        <p:txBody>
          <a:bodyPr wrap="square" lIns="0" tIns="0" rIns="0" bIns="0"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A</a:t>
            </a:r>
            <a:endParaRPr lang="en-US" sz="1400" dirty="0"/>
          </a:p>
        </p:txBody>
      </p:sp>
      <p:sp>
        <p:nvSpPr>
          <p:cNvPr id="8" name="Text 6"/>
          <p:cNvSpPr/>
          <p:nvPr/>
        </p:nvSpPr>
        <p:spPr>
          <a:xfrm>
            <a:off x="1645920" y="1950720"/>
            <a:ext cx="8290560" cy="54864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Northeast</a:t>
            </a:r>
            <a:endParaRPr lang="en-US" sz="1400" dirty="0"/>
          </a:p>
        </p:txBody>
      </p:sp>
      <p:sp>
        <p:nvSpPr>
          <p:cNvPr id="9" name="Shape 7"/>
          <p:cNvSpPr/>
          <p:nvPr/>
        </p:nvSpPr>
        <p:spPr>
          <a:xfrm>
            <a:off x="975360" y="2682240"/>
            <a:ext cx="9144000" cy="548640"/>
          </a:xfrm>
          <a:prstGeom prst="roundRect">
            <a:avLst>
              <a:gd name="adj" fmla="val 16667"/>
            </a:avLst>
          </a:prstGeom>
          <a:solidFill>
            <a:srgbClr val="E3F8ED"/>
          </a:solidFill>
          <a:ln/>
        </p:spPr>
      </p:sp>
      <p:sp>
        <p:nvSpPr>
          <p:cNvPr id="10" name="Text 8"/>
          <p:cNvSpPr/>
          <p:nvPr/>
        </p:nvSpPr>
        <p:spPr>
          <a:xfrm>
            <a:off x="1036320" y="2682240"/>
            <a:ext cx="548640" cy="548640"/>
          </a:xfrm>
          <a:prstGeom prst="rect">
            <a:avLst/>
          </a:prstGeom>
          <a:noFill/>
          <a:ln/>
        </p:spPr>
        <p:txBody>
          <a:bodyPr wrap="square" lIns="0" tIns="0" rIns="0" bIns="0"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B</a:t>
            </a:r>
            <a:endParaRPr lang="en-US" sz="1400" dirty="0"/>
          </a:p>
        </p:txBody>
      </p:sp>
      <p:sp>
        <p:nvSpPr>
          <p:cNvPr id="11" name="Text 9"/>
          <p:cNvSpPr/>
          <p:nvPr/>
        </p:nvSpPr>
        <p:spPr>
          <a:xfrm>
            <a:off x="1645920" y="2682240"/>
            <a:ext cx="8290560" cy="54864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Southeast</a:t>
            </a:r>
            <a:endParaRPr lang="en-US" sz="1400" dirty="0"/>
          </a:p>
        </p:txBody>
      </p:sp>
      <p:sp>
        <p:nvSpPr>
          <p:cNvPr id="12" name="Shape 10"/>
          <p:cNvSpPr/>
          <p:nvPr/>
        </p:nvSpPr>
        <p:spPr>
          <a:xfrm>
            <a:off x="975360" y="3413760"/>
            <a:ext cx="9144000" cy="548640"/>
          </a:xfrm>
          <a:prstGeom prst="roundRect">
            <a:avLst>
              <a:gd name="adj" fmla="val 16667"/>
            </a:avLst>
          </a:prstGeom>
          <a:solidFill>
            <a:srgbClr val="F0E8FF"/>
          </a:solidFill>
          <a:ln/>
        </p:spPr>
      </p:sp>
      <p:sp>
        <p:nvSpPr>
          <p:cNvPr id="13" name="Text 11"/>
          <p:cNvSpPr/>
          <p:nvPr/>
        </p:nvSpPr>
        <p:spPr>
          <a:xfrm>
            <a:off x="1036320" y="3413760"/>
            <a:ext cx="548640" cy="548640"/>
          </a:xfrm>
          <a:prstGeom prst="rect">
            <a:avLst/>
          </a:prstGeom>
          <a:noFill/>
          <a:ln/>
        </p:spPr>
        <p:txBody>
          <a:bodyPr wrap="square" lIns="0" tIns="0" rIns="0" bIns="0"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C</a:t>
            </a:r>
            <a:endParaRPr lang="en-US" sz="1400" dirty="0"/>
          </a:p>
        </p:txBody>
      </p:sp>
      <p:sp>
        <p:nvSpPr>
          <p:cNvPr id="14" name="Text 12"/>
          <p:cNvSpPr/>
          <p:nvPr/>
        </p:nvSpPr>
        <p:spPr>
          <a:xfrm>
            <a:off x="1645920" y="3413760"/>
            <a:ext cx="8290560" cy="54864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Midwest</a:t>
            </a:r>
            <a:endParaRPr lang="en-US" sz="1400" dirty="0"/>
          </a:p>
        </p:txBody>
      </p:sp>
      <p:sp>
        <p:nvSpPr>
          <p:cNvPr id="15" name="Shape 13"/>
          <p:cNvSpPr/>
          <p:nvPr/>
        </p:nvSpPr>
        <p:spPr>
          <a:xfrm>
            <a:off x="975360" y="4145280"/>
            <a:ext cx="9144000" cy="548640"/>
          </a:xfrm>
          <a:prstGeom prst="roundRect">
            <a:avLst>
              <a:gd name="adj" fmla="val 16667"/>
            </a:avLst>
          </a:prstGeom>
          <a:solidFill>
            <a:srgbClr val="FFF3DC"/>
          </a:solidFill>
          <a:ln/>
        </p:spPr>
      </p:sp>
      <p:sp>
        <p:nvSpPr>
          <p:cNvPr id="16" name="Text 14"/>
          <p:cNvSpPr/>
          <p:nvPr/>
        </p:nvSpPr>
        <p:spPr>
          <a:xfrm>
            <a:off x="1036320" y="4145280"/>
            <a:ext cx="548640" cy="548640"/>
          </a:xfrm>
          <a:prstGeom prst="rect">
            <a:avLst/>
          </a:prstGeom>
          <a:noFill/>
          <a:ln/>
        </p:spPr>
        <p:txBody>
          <a:bodyPr wrap="square" lIns="0" tIns="0" rIns="0" bIns="0"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D</a:t>
            </a:r>
            <a:endParaRPr lang="en-US" sz="1400" dirty="0"/>
          </a:p>
        </p:txBody>
      </p:sp>
      <p:sp>
        <p:nvSpPr>
          <p:cNvPr id="17" name="Text 15"/>
          <p:cNvSpPr/>
          <p:nvPr/>
        </p:nvSpPr>
        <p:spPr>
          <a:xfrm>
            <a:off x="1645920" y="4145280"/>
            <a:ext cx="8290560" cy="54864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Southwest</a:t>
            </a:r>
            <a:endParaRPr lang="en-US" sz="1400" dirty="0"/>
          </a:p>
        </p:txBody>
      </p:sp>
      <p:sp>
        <p:nvSpPr>
          <p:cNvPr id="18" name="Text 16"/>
          <p:cNvSpPr/>
          <p:nvPr/>
        </p:nvSpPr>
        <p:spPr>
          <a:xfrm>
            <a:off x="975360" y="4998720"/>
            <a:ext cx="3657600" cy="36576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Click to reveal answer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731520" y="365760"/>
            <a:ext cx="4876800" cy="36576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SELF-CHECK</a:t>
            </a:r>
            <a:endParaRPr lang="en-US" sz="1000" dirty="0"/>
          </a:p>
        </p:txBody>
      </p:sp>
      <p:sp>
        <p:nvSpPr>
          <p:cNvPr id="4" name="Text 2"/>
          <p:cNvSpPr/>
          <p:nvPr/>
        </p:nvSpPr>
        <p:spPr>
          <a:xfrm>
            <a:off x="731520" y="670560"/>
            <a:ext cx="9753600" cy="42672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Question 2</a:t>
            </a:r>
            <a:endParaRPr lang="en-US" sz="2400" dirty="0"/>
          </a:p>
        </p:txBody>
      </p:sp>
      <p:sp>
        <p:nvSpPr>
          <p:cNvPr id="5" name="Text 3"/>
          <p:cNvSpPr/>
          <p:nvPr/>
        </p:nvSpPr>
        <p:spPr>
          <a:xfrm>
            <a:off x="731520" y="1158240"/>
            <a:ext cx="10363200" cy="548640"/>
          </a:xfrm>
          <a:prstGeom prst="rect">
            <a:avLst/>
          </a:prstGeom>
          <a:noFill/>
          <a:ln/>
        </p:spPr>
        <p:txBody>
          <a:bodyPr wrap="square" lIns="0" tIns="0" rIns="0" bIns="0" rtlCol="0" anchor="ctr"/>
          <a:lstStyle/>
          <a:p>
            <a:pPr indent="0" marL="0">
              <a:buNone/>
            </a:pPr>
            <a:r>
              <a:rPr lang="en-US" sz="1500" dirty="0">
                <a:solidFill>
                  <a:srgbClr val="3A4A6A"/>
                </a:solidFill>
                <a:latin typeface="Calibri" pitchFamily="34" charset="0"/>
                <a:ea typeface="Calibri" pitchFamily="34" charset="-122"/>
                <a:cs typeface="Calibri" pitchFamily="34" charset="-120"/>
              </a:rPr>
              <a:t>Which TWO regions border the Atlantic Ocean?</a:t>
            </a:r>
            <a:endParaRPr lang="en-US" sz="1500" dirty="0"/>
          </a:p>
        </p:txBody>
      </p:sp>
      <p:sp>
        <p:nvSpPr>
          <p:cNvPr id="6" name="Shape 4"/>
          <p:cNvSpPr/>
          <p:nvPr/>
        </p:nvSpPr>
        <p:spPr>
          <a:xfrm>
            <a:off x="975360" y="1950720"/>
            <a:ext cx="9144000" cy="548640"/>
          </a:xfrm>
          <a:prstGeom prst="roundRect">
            <a:avLst>
              <a:gd name="adj" fmla="val 16667"/>
            </a:avLst>
          </a:prstGeom>
          <a:solidFill>
            <a:srgbClr val="EAF8FD"/>
          </a:solidFill>
          <a:ln/>
        </p:spPr>
      </p:sp>
      <p:sp>
        <p:nvSpPr>
          <p:cNvPr id="7" name="Text 5"/>
          <p:cNvSpPr/>
          <p:nvPr/>
        </p:nvSpPr>
        <p:spPr>
          <a:xfrm>
            <a:off x="1036320" y="1950720"/>
            <a:ext cx="548640" cy="548640"/>
          </a:xfrm>
          <a:prstGeom prst="rect">
            <a:avLst/>
          </a:prstGeom>
          <a:noFill/>
          <a:ln/>
        </p:spPr>
        <p:txBody>
          <a:bodyPr wrap="square" lIns="0" tIns="0" rIns="0" bIns="0"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A</a:t>
            </a:r>
            <a:endParaRPr lang="en-US" sz="1400" dirty="0"/>
          </a:p>
        </p:txBody>
      </p:sp>
      <p:sp>
        <p:nvSpPr>
          <p:cNvPr id="8" name="Text 6"/>
          <p:cNvSpPr/>
          <p:nvPr/>
        </p:nvSpPr>
        <p:spPr>
          <a:xfrm>
            <a:off x="1645920" y="1950720"/>
            <a:ext cx="8290560" cy="54864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Midwest and West</a:t>
            </a:r>
            <a:endParaRPr lang="en-US" sz="1400" dirty="0"/>
          </a:p>
        </p:txBody>
      </p:sp>
      <p:sp>
        <p:nvSpPr>
          <p:cNvPr id="9" name="Shape 7"/>
          <p:cNvSpPr/>
          <p:nvPr/>
        </p:nvSpPr>
        <p:spPr>
          <a:xfrm>
            <a:off x="975360" y="2682240"/>
            <a:ext cx="9144000" cy="548640"/>
          </a:xfrm>
          <a:prstGeom prst="roundRect">
            <a:avLst>
              <a:gd name="adj" fmla="val 16667"/>
            </a:avLst>
          </a:prstGeom>
          <a:solidFill>
            <a:srgbClr val="E3F8ED"/>
          </a:solidFill>
          <a:ln/>
        </p:spPr>
      </p:sp>
      <p:sp>
        <p:nvSpPr>
          <p:cNvPr id="10" name="Text 8"/>
          <p:cNvSpPr/>
          <p:nvPr/>
        </p:nvSpPr>
        <p:spPr>
          <a:xfrm>
            <a:off x="1036320" y="2682240"/>
            <a:ext cx="548640" cy="548640"/>
          </a:xfrm>
          <a:prstGeom prst="rect">
            <a:avLst/>
          </a:prstGeom>
          <a:noFill/>
          <a:ln/>
        </p:spPr>
        <p:txBody>
          <a:bodyPr wrap="square" lIns="0" tIns="0" rIns="0" bIns="0"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B</a:t>
            </a:r>
            <a:endParaRPr lang="en-US" sz="1400" dirty="0"/>
          </a:p>
        </p:txBody>
      </p:sp>
      <p:sp>
        <p:nvSpPr>
          <p:cNvPr id="11" name="Text 9"/>
          <p:cNvSpPr/>
          <p:nvPr/>
        </p:nvSpPr>
        <p:spPr>
          <a:xfrm>
            <a:off x="1645920" y="2682240"/>
            <a:ext cx="8290560" cy="54864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Northeast and Southeast</a:t>
            </a:r>
            <a:endParaRPr lang="en-US" sz="1400" dirty="0"/>
          </a:p>
        </p:txBody>
      </p:sp>
      <p:sp>
        <p:nvSpPr>
          <p:cNvPr id="12" name="Shape 10"/>
          <p:cNvSpPr/>
          <p:nvPr/>
        </p:nvSpPr>
        <p:spPr>
          <a:xfrm>
            <a:off x="975360" y="3413760"/>
            <a:ext cx="9144000" cy="548640"/>
          </a:xfrm>
          <a:prstGeom prst="roundRect">
            <a:avLst>
              <a:gd name="adj" fmla="val 16667"/>
            </a:avLst>
          </a:prstGeom>
          <a:solidFill>
            <a:srgbClr val="F0E8FF"/>
          </a:solidFill>
          <a:ln/>
        </p:spPr>
      </p:sp>
      <p:sp>
        <p:nvSpPr>
          <p:cNvPr id="13" name="Text 11"/>
          <p:cNvSpPr/>
          <p:nvPr/>
        </p:nvSpPr>
        <p:spPr>
          <a:xfrm>
            <a:off x="1036320" y="3413760"/>
            <a:ext cx="548640" cy="548640"/>
          </a:xfrm>
          <a:prstGeom prst="rect">
            <a:avLst/>
          </a:prstGeom>
          <a:noFill/>
          <a:ln/>
        </p:spPr>
        <p:txBody>
          <a:bodyPr wrap="square" lIns="0" tIns="0" rIns="0" bIns="0"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C</a:t>
            </a:r>
            <a:endParaRPr lang="en-US" sz="1400" dirty="0"/>
          </a:p>
        </p:txBody>
      </p:sp>
      <p:sp>
        <p:nvSpPr>
          <p:cNvPr id="14" name="Text 12"/>
          <p:cNvSpPr/>
          <p:nvPr/>
        </p:nvSpPr>
        <p:spPr>
          <a:xfrm>
            <a:off x="1645920" y="3413760"/>
            <a:ext cx="8290560" cy="54864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Southwest and West</a:t>
            </a:r>
            <a:endParaRPr lang="en-US" sz="1400" dirty="0"/>
          </a:p>
        </p:txBody>
      </p:sp>
      <p:sp>
        <p:nvSpPr>
          <p:cNvPr id="15" name="Shape 13"/>
          <p:cNvSpPr/>
          <p:nvPr/>
        </p:nvSpPr>
        <p:spPr>
          <a:xfrm>
            <a:off x="975360" y="4145280"/>
            <a:ext cx="9144000" cy="548640"/>
          </a:xfrm>
          <a:prstGeom prst="roundRect">
            <a:avLst>
              <a:gd name="adj" fmla="val 16667"/>
            </a:avLst>
          </a:prstGeom>
          <a:solidFill>
            <a:srgbClr val="FFF3DC"/>
          </a:solidFill>
          <a:ln/>
        </p:spPr>
      </p:sp>
      <p:sp>
        <p:nvSpPr>
          <p:cNvPr id="16" name="Text 14"/>
          <p:cNvSpPr/>
          <p:nvPr/>
        </p:nvSpPr>
        <p:spPr>
          <a:xfrm>
            <a:off x="1036320" y="4145280"/>
            <a:ext cx="548640" cy="548640"/>
          </a:xfrm>
          <a:prstGeom prst="rect">
            <a:avLst/>
          </a:prstGeom>
          <a:noFill/>
          <a:ln/>
        </p:spPr>
        <p:txBody>
          <a:bodyPr wrap="square" lIns="0" tIns="0" rIns="0" bIns="0"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D</a:t>
            </a:r>
            <a:endParaRPr lang="en-US" sz="1400" dirty="0"/>
          </a:p>
        </p:txBody>
      </p:sp>
      <p:sp>
        <p:nvSpPr>
          <p:cNvPr id="17" name="Text 15"/>
          <p:cNvSpPr/>
          <p:nvPr/>
        </p:nvSpPr>
        <p:spPr>
          <a:xfrm>
            <a:off x="1645920" y="4145280"/>
            <a:ext cx="8290560" cy="54864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Midwest and Northeast</a:t>
            </a:r>
            <a:endParaRPr lang="en-US" sz="1400" dirty="0"/>
          </a:p>
        </p:txBody>
      </p:sp>
      <p:sp>
        <p:nvSpPr>
          <p:cNvPr id="18" name="Text 16"/>
          <p:cNvSpPr/>
          <p:nvPr/>
        </p:nvSpPr>
        <p:spPr>
          <a:xfrm>
            <a:off x="975360" y="4998720"/>
            <a:ext cx="3657600" cy="36576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Click to reveal answer</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731520" y="365760"/>
            <a:ext cx="4876800" cy="36576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SELF-CHECK</a:t>
            </a:r>
            <a:endParaRPr lang="en-US" sz="1000" dirty="0"/>
          </a:p>
        </p:txBody>
      </p:sp>
      <p:sp>
        <p:nvSpPr>
          <p:cNvPr id="4" name="Text 2"/>
          <p:cNvSpPr/>
          <p:nvPr/>
        </p:nvSpPr>
        <p:spPr>
          <a:xfrm>
            <a:off x="731520" y="670560"/>
            <a:ext cx="9753600" cy="42672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Question 3</a:t>
            </a:r>
            <a:endParaRPr lang="en-US" sz="2400" dirty="0"/>
          </a:p>
        </p:txBody>
      </p:sp>
      <p:sp>
        <p:nvSpPr>
          <p:cNvPr id="5" name="Text 3"/>
          <p:cNvSpPr/>
          <p:nvPr/>
        </p:nvSpPr>
        <p:spPr>
          <a:xfrm>
            <a:off x="731520" y="1158240"/>
            <a:ext cx="10363200" cy="548640"/>
          </a:xfrm>
          <a:prstGeom prst="rect">
            <a:avLst/>
          </a:prstGeom>
          <a:noFill/>
          <a:ln/>
        </p:spPr>
        <p:txBody>
          <a:bodyPr wrap="square" lIns="0" tIns="0" rIns="0" bIns="0" rtlCol="0" anchor="ctr"/>
          <a:lstStyle/>
          <a:p>
            <a:pPr indent="0" marL="0">
              <a:buNone/>
            </a:pPr>
            <a:r>
              <a:rPr lang="en-US" sz="1500" dirty="0">
                <a:solidFill>
                  <a:srgbClr val="3A4A6A"/>
                </a:solidFill>
                <a:latin typeface="Calibri" pitchFamily="34" charset="0"/>
                <a:ea typeface="Calibri" pitchFamily="34" charset="-122"/>
                <a:cs typeface="Calibri" pitchFamily="34" charset="-120"/>
              </a:rPr>
              <a:t>What is the MAIN purpose of today's lesson?</a:t>
            </a:r>
            <a:endParaRPr lang="en-US" sz="1500" dirty="0"/>
          </a:p>
        </p:txBody>
      </p:sp>
      <p:sp>
        <p:nvSpPr>
          <p:cNvPr id="6" name="Shape 4"/>
          <p:cNvSpPr/>
          <p:nvPr/>
        </p:nvSpPr>
        <p:spPr>
          <a:xfrm>
            <a:off x="975360" y="1950720"/>
            <a:ext cx="9144000" cy="548640"/>
          </a:xfrm>
          <a:prstGeom prst="roundRect">
            <a:avLst>
              <a:gd name="adj" fmla="val 16667"/>
            </a:avLst>
          </a:prstGeom>
          <a:solidFill>
            <a:srgbClr val="EAF8FD"/>
          </a:solidFill>
          <a:ln/>
        </p:spPr>
      </p:sp>
      <p:sp>
        <p:nvSpPr>
          <p:cNvPr id="7" name="Text 5"/>
          <p:cNvSpPr/>
          <p:nvPr/>
        </p:nvSpPr>
        <p:spPr>
          <a:xfrm>
            <a:off x="1036320" y="1950720"/>
            <a:ext cx="548640" cy="548640"/>
          </a:xfrm>
          <a:prstGeom prst="rect">
            <a:avLst/>
          </a:prstGeom>
          <a:noFill/>
          <a:ln/>
        </p:spPr>
        <p:txBody>
          <a:bodyPr wrap="square" lIns="0" tIns="0" rIns="0" bIns="0"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A</a:t>
            </a:r>
            <a:endParaRPr lang="en-US" sz="1400" dirty="0"/>
          </a:p>
        </p:txBody>
      </p:sp>
      <p:sp>
        <p:nvSpPr>
          <p:cNvPr id="8" name="Text 6"/>
          <p:cNvSpPr/>
          <p:nvPr/>
        </p:nvSpPr>
        <p:spPr>
          <a:xfrm>
            <a:off x="1645920" y="1950720"/>
            <a:ext cx="8290560" cy="54864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Learn about one new region</a:t>
            </a:r>
            <a:endParaRPr lang="en-US" sz="1400" dirty="0"/>
          </a:p>
        </p:txBody>
      </p:sp>
      <p:sp>
        <p:nvSpPr>
          <p:cNvPr id="9" name="Shape 7"/>
          <p:cNvSpPr/>
          <p:nvPr/>
        </p:nvSpPr>
        <p:spPr>
          <a:xfrm>
            <a:off x="975360" y="2682240"/>
            <a:ext cx="9144000" cy="548640"/>
          </a:xfrm>
          <a:prstGeom prst="roundRect">
            <a:avLst>
              <a:gd name="adj" fmla="val 16667"/>
            </a:avLst>
          </a:prstGeom>
          <a:solidFill>
            <a:srgbClr val="E3F8ED"/>
          </a:solidFill>
          <a:ln/>
        </p:spPr>
      </p:sp>
      <p:sp>
        <p:nvSpPr>
          <p:cNvPr id="10" name="Text 8"/>
          <p:cNvSpPr/>
          <p:nvPr/>
        </p:nvSpPr>
        <p:spPr>
          <a:xfrm>
            <a:off x="1036320" y="2682240"/>
            <a:ext cx="548640" cy="548640"/>
          </a:xfrm>
          <a:prstGeom prst="rect">
            <a:avLst/>
          </a:prstGeom>
          <a:noFill/>
          <a:ln/>
        </p:spPr>
        <p:txBody>
          <a:bodyPr wrap="square" lIns="0" tIns="0" rIns="0" bIns="0"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B</a:t>
            </a:r>
            <a:endParaRPr lang="en-US" sz="1400" dirty="0"/>
          </a:p>
        </p:txBody>
      </p:sp>
      <p:sp>
        <p:nvSpPr>
          <p:cNvPr id="11" name="Text 9"/>
          <p:cNvSpPr/>
          <p:nvPr/>
        </p:nvSpPr>
        <p:spPr>
          <a:xfrm>
            <a:off x="1645920" y="2682240"/>
            <a:ext cx="8290560" cy="54864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Gather and organize evidence for the Regional Council</a:t>
            </a:r>
            <a:endParaRPr lang="en-US" sz="1400" dirty="0"/>
          </a:p>
        </p:txBody>
      </p:sp>
      <p:sp>
        <p:nvSpPr>
          <p:cNvPr id="12" name="Shape 10"/>
          <p:cNvSpPr/>
          <p:nvPr/>
        </p:nvSpPr>
        <p:spPr>
          <a:xfrm>
            <a:off x="975360" y="3413760"/>
            <a:ext cx="9144000" cy="548640"/>
          </a:xfrm>
          <a:prstGeom prst="roundRect">
            <a:avLst>
              <a:gd name="adj" fmla="val 16667"/>
            </a:avLst>
          </a:prstGeom>
          <a:solidFill>
            <a:srgbClr val="F0E8FF"/>
          </a:solidFill>
          <a:ln/>
        </p:spPr>
      </p:sp>
      <p:sp>
        <p:nvSpPr>
          <p:cNvPr id="13" name="Text 11"/>
          <p:cNvSpPr/>
          <p:nvPr/>
        </p:nvSpPr>
        <p:spPr>
          <a:xfrm>
            <a:off x="1036320" y="3413760"/>
            <a:ext cx="548640" cy="548640"/>
          </a:xfrm>
          <a:prstGeom prst="rect">
            <a:avLst/>
          </a:prstGeom>
          <a:noFill/>
          <a:ln/>
        </p:spPr>
        <p:txBody>
          <a:bodyPr wrap="square" lIns="0" tIns="0" rIns="0" bIns="0"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C</a:t>
            </a:r>
            <a:endParaRPr lang="en-US" sz="1400" dirty="0"/>
          </a:p>
        </p:txBody>
      </p:sp>
      <p:sp>
        <p:nvSpPr>
          <p:cNvPr id="14" name="Text 12"/>
          <p:cNvSpPr/>
          <p:nvPr/>
        </p:nvSpPr>
        <p:spPr>
          <a:xfrm>
            <a:off x="1645920" y="3413760"/>
            <a:ext cx="8290560" cy="54864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Take a test on all five regions</a:t>
            </a:r>
            <a:endParaRPr lang="en-US" sz="1400" dirty="0"/>
          </a:p>
        </p:txBody>
      </p:sp>
      <p:sp>
        <p:nvSpPr>
          <p:cNvPr id="15" name="Shape 13"/>
          <p:cNvSpPr/>
          <p:nvPr/>
        </p:nvSpPr>
        <p:spPr>
          <a:xfrm>
            <a:off x="975360" y="4145280"/>
            <a:ext cx="9144000" cy="548640"/>
          </a:xfrm>
          <a:prstGeom prst="roundRect">
            <a:avLst>
              <a:gd name="adj" fmla="val 16667"/>
            </a:avLst>
          </a:prstGeom>
          <a:solidFill>
            <a:srgbClr val="FFF3DC"/>
          </a:solidFill>
          <a:ln/>
        </p:spPr>
      </p:sp>
      <p:sp>
        <p:nvSpPr>
          <p:cNvPr id="16" name="Text 14"/>
          <p:cNvSpPr/>
          <p:nvPr/>
        </p:nvSpPr>
        <p:spPr>
          <a:xfrm>
            <a:off x="1036320" y="4145280"/>
            <a:ext cx="548640" cy="548640"/>
          </a:xfrm>
          <a:prstGeom prst="rect">
            <a:avLst/>
          </a:prstGeom>
          <a:noFill/>
          <a:ln/>
        </p:spPr>
        <p:txBody>
          <a:bodyPr wrap="square" lIns="0" tIns="0" rIns="0" bIns="0"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D</a:t>
            </a:r>
            <a:endParaRPr lang="en-US" sz="1400" dirty="0"/>
          </a:p>
        </p:txBody>
      </p:sp>
      <p:sp>
        <p:nvSpPr>
          <p:cNvPr id="17" name="Text 15"/>
          <p:cNvSpPr/>
          <p:nvPr/>
        </p:nvSpPr>
        <p:spPr>
          <a:xfrm>
            <a:off x="1645920" y="4145280"/>
            <a:ext cx="8290560" cy="54864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Draw a map of the United States</a:t>
            </a:r>
            <a:endParaRPr lang="en-US" sz="1400" dirty="0"/>
          </a:p>
        </p:txBody>
      </p:sp>
      <p:sp>
        <p:nvSpPr>
          <p:cNvPr id="18" name="Text 16"/>
          <p:cNvSpPr/>
          <p:nvPr/>
        </p:nvSpPr>
        <p:spPr>
          <a:xfrm>
            <a:off x="975360" y="4998720"/>
            <a:ext cx="3657600" cy="36576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Click to reveal answer</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731520" y="365760"/>
            <a:ext cx="4876800" cy="30480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ASSIGNMENT</a:t>
            </a:r>
            <a:endParaRPr lang="en-US" sz="1000" dirty="0"/>
          </a:p>
        </p:txBody>
      </p:sp>
      <p:sp>
        <p:nvSpPr>
          <p:cNvPr id="4" name="Text 2"/>
          <p:cNvSpPr/>
          <p:nvPr/>
        </p:nvSpPr>
        <p:spPr>
          <a:xfrm>
            <a:off x="731520" y="670560"/>
            <a:ext cx="10363200" cy="54864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Evidence Questions and Curator Task</a:t>
            </a:r>
            <a:endParaRPr lang="en-US" sz="2600" dirty="0"/>
          </a:p>
        </p:txBody>
      </p:sp>
      <p:sp>
        <p:nvSpPr>
          <p:cNvPr id="5" name="Shape 3"/>
          <p:cNvSpPr/>
          <p:nvPr/>
        </p:nvSpPr>
        <p:spPr>
          <a:xfrm>
            <a:off x="731520" y="1402080"/>
            <a:ext cx="10363200" cy="1584960"/>
          </a:xfrm>
          <a:prstGeom prst="roundRect">
            <a:avLst>
              <a:gd name="adj" fmla="val 6923"/>
            </a:avLst>
          </a:prstGeom>
          <a:solidFill>
            <a:srgbClr val="FFFFFF"/>
          </a:solidFill>
          <a:ln/>
          <a:effectLst>
            <a:outerShdw sx="100000" sy="100000" kx="0" ky="0" algn="bl" rotWithShape="0" blurRad="63500" dist="25400" dir="8100000">
              <a:srgbClr val="000000">
                <a:alpha val="10000"/>
              </a:srgbClr>
            </a:outerShdw>
          </a:effectLst>
        </p:spPr>
      </p:sp>
      <p:sp>
        <p:nvSpPr>
          <p:cNvPr id="6" name="Text 4"/>
          <p:cNvSpPr/>
          <p:nvPr/>
        </p:nvSpPr>
        <p:spPr>
          <a:xfrm>
            <a:off x="914400" y="1487424"/>
            <a:ext cx="3657600" cy="304800"/>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Evidence Question 1</a:t>
            </a:r>
            <a:endParaRPr lang="en-US" sz="1000" dirty="0"/>
          </a:p>
        </p:txBody>
      </p:sp>
      <p:sp>
        <p:nvSpPr>
          <p:cNvPr id="7" name="Text 5"/>
          <p:cNvSpPr/>
          <p:nvPr/>
        </p:nvSpPr>
        <p:spPr>
          <a:xfrm>
            <a:off x="914400" y="1828800"/>
            <a:ext cx="9875520" cy="48768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Choose TWO regions you studied. For each one, name one resource it has and explain why that resource matters to people.</a:t>
            </a:r>
            <a:endParaRPr lang="en-US" sz="1300" dirty="0"/>
          </a:p>
        </p:txBody>
      </p:sp>
      <p:sp>
        <p:nvSpPr>
          <p:cNvPr id="8" name="Shape 6"/>
          <p:cNvSpPr/>
          <p:nvPr/>
        </p:nvSpPr>
        <p:spPr>
          <a:xfrm>
            <a:off x="1036320" y="2377440"/>
            <a:ext cx="9753600" cy="487680"/>
          </a:xfrm>
          <a:prstGeom prst="roundRect">
            <a:avLst>
              <a:gd name="adj" fmla="val 11250"/>
            </a:avLst>
          </a:prstGeom>
          <a:solidFill>
            <a:srgbClr val="FFF3DC"/>
          </a:solidFill>
          <a:ln/>
        </p:spPr>
      </p:sp>
      <p:sp>
        <p:nvSpPr>
          <p:cNvPr id="9" name="Text 7"/>
          <p:cNvSpPr/>
          <p:nvPr/>
        </p:nvSpPr>
        <p:spPr>
          <a:xfrm>
            <a:off x="1158240" y="2377440"/>
            <a:ext cx="9509760" cy="487680"/>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Starter: </a:t>
            </a:r>
            <a:pPr indent="0" marL="0">
              <a:buNone/>
            </a:pPr>
            <a:r>
              <a:rPr lang="en-US" sz="1100" i="1" dirty="0">
                <a:solidFill>
                  <a:srgbClr val="5A4A3A"/>
                </a:solidFill>
                <a:latin typeface="Calibri" pitchFamily="34" charset="0"/>
                <a:ea typeface="Calibri" pitchFamily="34" charset="-122"/>
                <a:cs typeface="Calibri" pitchFamily="34" charset="-120"/>
              </a:rPr>
              <a:t>"The ____ region has ____. This matters because ____."</a:t>
            </a:r>
            <a:endParaRPr lang="en-US" sz="1100" dirty="0"/>
          </a:p>
        </p:txBody>
      </p:sp>
      <p:sp>
        <p:nvSpPr>
          <p:cNvPr id="10" name="Shape 8"/>
          <p:cNvSpPr/>
          <p:nvPr/>
        </p:nvSpPr>
        <p:spPr>
          <a:xfrm>
            <a:off x="731520" y="3169920"/>
            <a:ext cx="10363200" cy="1584960"/>
          </a:xfrm>
          <a:prstGeom prst="roundRect">
            <a:avLst>
              <a:gd name="adj" fmla="val 6923"/>
            </a:avLst>
          </a:prstGeom>
          <a:solidFill>
            <a:srgbClr val="FFFFFF"/>
          </a:solidFill>
          <a:ln/>
          <a:effectLst>
            <a:outerShdw sx="100000" sy="100000" kx="0" ky="0" algn="bl" rotWithShape="0" blurRad="63500" dist="25400" dir="8100000">
              <a:srgbClr val="000000">
                <a:alpha val="10000"/>
              </a:srgbClr>
            </a:outerShdw>
          </a:effectLst>
        </p:spPr>
      </p:sp>
      <p:sp>
        <p:nvSpPr>
          <p:cNvPr id="11" name="Text 9"/>
          <p:cNvSpPr/>
          <p:nvPr/>
        </p:nvSpPr>
        <p:spPr>
          <a:xfrm>
            <a:off x="914400" y="3255264"/>
            <a:ext cx="3657600" cy="304800"/>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Evidence Question 2</a:t>
            </a:r>
            <a:endParaRPr lang="en-US" sz="1000" dirty="0"/>
          </a:p>
        </p:txBody>
      </p:sp>
      <p:sp>
        <p:nvSpPr>
          <p:cNvPr id="12" name="Text 10"/>
          <p:cNvSpPr/>
          <p:nvPr/>
        </p:nvSpPr>
        <p:spPr>
          <a:xfrm>
            <a:off x="914400" y="3596640"/>
            <a:ext cx="9875520" cy="48768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Which region do you think might have the hardest time getting a resource it needs? Use evidence to explain your thinking.</a:t>
            </a:r>
            <a:endParaRPr lang="en-US" sz="1300" dirty="0"/>
          </a:p>
        </p:txBody>
      </p:sp>
      <p:sp>
        <p:nvSpPr>
          <p:cNvPr id="13" name="Shape 11"/>
          <p:cNvSpPr/>
          <p:nvPr/>
        </p:nvSpPr>
        <p:spPr>
          <a:xfrm>
            <a:off x="1036320" y="4145280"/>
            <a:ext cx="9753600" cy="487680"/>
          </a:xfrm>
          <a:prstGeom prst="roundRect">
            <a:avLst>
              <a:gd name="adj" fmla="val 11250"/>
            </a:avLst>
          </a:prstGeom>
          <a:solidFill>
            <a:srgbClr val="FFF3DC"/>
          </a:solidFill>
          <a:ln/>
        </p:spPr>
      </p:sp>
      <p:sp>
        <p:nvSpPr>
          <p:cNvPr id="14" name="Text 12"/>
          <p:cNvSpPr/>
          <p:nvPr/>
        </p:nvSpPr>
        <p:spPr>
          <a:xfrm>
            <a:off x="1158240" y="4145280"/>
            <a:ext cx="9509760" cy="487680"/>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Starter: </a:t>
            </a:r>
            <a:pPr indent="0" marL="0">
              <a:buNone/>
            </a:pPr>
            <a:r>
              <a:rPr lang="en-US" sz="1100" i="1" dirty="0">
                <a:solidFill>
                  <a:srgbClr val="5A4A3A"/>
                </a:solidFill>
                <a:latin typeface="Calibri" pitchFamily="34" charset="0"/>
                <a:ea typeface="Calibri" pitchFamily="34" charset="-122"/>
                <a:cs typeface="Calibri" pitchFamily="34" charset="-120"/>
              </a:rPr>
              <a:t>"I think the ____ region might have a harder time getting ____ because ____."</a:t>
            </a:r>
            <a:endParaRPr lang="en-US" sz="1100" dirty="0"/>
          </a:p>
        </p:txBody>
      </p:sp>
      <p:sp>
        <p:nvSpPr>
          <p:cNvPr id="15" name="Shape 13"/>
          <p:cNvSpPr/>
          <p:nvPr/>
        </p:nvSpPr>
        <p:spPr>
          <a:xfrm>
            <a:off x="731520" y="4937760"/>
            <a:ext cx="10363200" cy="1341120"/>
          </a:xfrm>
          <a:prstGeom prst="roundRect">
            <a:avLst>
              <a:gd name="adj" fmla="val 8182"/>
            </a:avLst>
          </a:prstGeom>
          <a:solidFill>
            <a:srgbClr val="1A2D5A"/>
          </a:solidFill>
          <a:ln/>
          <a:effectLst>
            <a:outerShdw sx="100000" sy="100000" kx="0" ky="0" algn="bl" rotWithShape="0" blurRad="63500" dist="25400" dir="8100000">
              <a:srgbClr val="000000">
                <a:alpha val="15000"/>
              </a:srgbClr>
            </a:outerShdw>
          </a:effectLst>
        </p:spPr>
      </p:sp>
      <p:sp>
        <p:nvSpPr>
          <p:cNvPr id="16" name="Text 14"/>
          <p:cNvSpPr/>
          <p:nvPr/>
        </p:nvSpPr>
        <p:spPr>
          <a:xfrm>
            <a:off x="914400" y="5023104"/>
            <a:ext cx="3657600" cy="30480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CURATOR TASK</a:t>
            </a:r>
            <a:endParaRPr lang="en-US" sz="1000" dirty="0"/>
          </a:p>
        </p:txBody>
      </p:sp>
      <p:sp>
        <p:nvSpPr>
          <p:cNvPr id="17" name="Text 15"/>
          <p:cNvSpPr/>
          <p:nvPr/>
        </p:nvSpPr>
        <p:spPr>
          <a:xfrm>
            <a:off x="914400" y="5364480"/>
            <a:ext cx="9875520" cy="792480"/>
          </a:xfrm>
          <a:prstGeom prst="rect">
            <a:avLst/>
          </a:prstGeom>
          <a:noFill/>
          <a:ln/>
        </p:spPr>
        <p:txBody>
          <a:bodyPr wrap="square" lIns="0" tIns="0" rIns="0" bIns="0" rtlCol="0" anchor="ctr"/>
          <a:lstStyle/>
          <a:p>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Name all five regions, list one key resource each, and write one sentence about what all five have in common.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731520" y="365760"/>
            <a:ext cx="6096000" cy="30480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CURATOR'S CHRONICLE</a:t>
            </a:r>
            <a:endParaRPr lang="en-US" sz="1000" dirty="0"/>
          </a:p>
        </p:txBody>
      </p:sp>
      <p:sp>
        <p:nvSpPr>
          <p:cNvPr id="4" name="Text 2"/>
          <p:cNvSpPr/>
          <p:nvPr/>
        </p:nvSpPr>
        <p:spPr>
          <a:xfrm>
            <a:off x="731520" y="670560"/>
            <a:ext cx="9753600" cy="54864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Reflect on Your Learning</a:t>
            </a:r>
            <a:endParaRPr lang="en-US" sz="2600" dirty="0"/>
          </a:p>
        </p:txBody>
      </p:sp>
      <p:sp>
        <p:nvSpPr>
          <p:cNvPr id="5" name="Shape 3"/>
          <p:cNvSpPr/>
          <p:nvPr/>
        </p:nvSpPr>
        <p:spPr>
          <a:xfrm>
            <a:off x="1828800" y="1584960"/>
            <a:ext cx="7924800" cy="1950720"/>
          </a:xfrm>
          <a:prstGeom prst="roundRect">
            <a:avLst>
              <a:gd name="adj" fmla="val 7031"/>
            </a:avLst>
          </a:prstGeom>
          <a:solidFill>
            <a:srgbClr val="FFFFFF"/>
          </a:solidFill>
          <a:ln/>
          <a:effectLst>
            <a:outerShdw sx="100000" sy="100000" kx="0" ky="0" algn="bl" rotWithShape="0" blurRad="76200" dist="38100" dir="8100000">
              <a:srgbClr val="000000">
                <a:alpha val="10000"/>
              </a:srgbClr>
            </a:outerShdw>
          </a:effectLst>
        </p:spPr>
      </p:sp>
      <p:sp>
        <p:nvSpPr>
          <p:cNvPr id="6" name="Text 4"/>
          <p:cNvSpPr/>
          <p:nvPr/>
        </p:nvSpPr>
        <p:spPr>
          <a:xfrm>
            <a:off x="2072640" y="1706880"/>
            <a:ext cx="7315200" cy="36576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Complete the sentence:</a:t>
            </a:r>
            <a:endParaRPr lang="en-US" sz="1300" dirty="0"/>
          </a:p>
        </p:txBody>
      </p:sp>
      <p:sp>
        <p:nvSpPr>
          <p:cNvPr id="7" name="Text 5"/>
          <p:cNvSpPr/>
          <p:nvPr/>
        </p:nvSpPr>
        <p:spPr>
          <a:xfrm>
            <a:off x="2072640" y="2133600"/>
            <a:ext cx="7315200" cy="487680"/>
          </a:xfrm>
          <a:prstGeom prst="rect">
            <a:avLst/>
          </a:prstGeom>
          <a:noFill/>
          <a:ln/>
        </p:spPr>
        <p:txBody>
          <a:bodyPr wrap="square" lIns="0" tIns="0" rIns="0" bIns="0" rtlCol="0" anchor="ctr"/>
          <a:lstStyle/>
          <a:p>
            <a:pPr indent="0" marL="0">
              <a:buNone/>
            </a:pPr>
            <a:r>
              <a:rPr lang="en-US" sz="1600" i="1" dirty="0">
                <a:solidFill>
                  <a:srgbClr val="0E1C42"/>
                </a:solidFill>
                <a:latin typeface="Cambria" pitchFamily="34" charset="0"/>
                <a:ea typeface="Cambria" pitchFamily="34" charset="-122"/>
                <a:cs typeface="Cambria" pitchFamily="34" charset="-120"/>
              </a:rPr>
              <a:t>In this exhibit, I learned that ______ because ______.</a:t>
            </a:r>
            <a:endParaRPr lang="en-US" sz="1600" dirty="0"/>
          </a:p>
        </p:txBody>
      </p:sp>
      <p:sp>
        <p:nvSpPr>
          <p:cNvPr id="8" name="Shape 6"/>
          <p:cNvSpPr/>
          <p:nvPr/>
        </p:nvSpPr>
        <p:spPr>
          <a:xfrm>
            <a:off x="1828800" y="2926080"/>
            <a:ext cx="7924800" cy="487680"/>
          </a:xfrm>
          <a:prstGeom prst="roundRect">
            <a:avLst>
              <a:gd name="adj" fmla="val 11250"/>
            </a:avLst>
          </a:prstGeom>
          <a:solidFill>
            <a:srgbClr val="E3F8ED"/>
          </a:solidFill>
          <a:ln/>
        </p:spPr>
      </p:sp>
      <p:sp>
        <p:nvSpPr>
          <p:cNvPr id="9" name="Text 7"/>
          <p:cNvSpPr/>
          <p:nvPr/>
        </p:nvSpPr>
        <p:spPr>
          <a:xfrm>
            <a:off x="2011680" y="2926080"/>
            <a:ext cx="7559040" cy="48768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Example: </a:t>
            </a:r>
            <a:pPr indent="0" marL="0">
              <a:buNone/>
            </a:pPr>
            <a:r>
              <a:rPr lang="en-US" sz="1100" i="1" dirty="0">
                <a:solidFill>
                  <a:srgbClr val="3A4A6A"/>
                </a:solidFill>
                <a:latin typeface="Calibri" pitchFamily="34" charset="0"/>
                <a:ea typeface="Calibri" pitchFamily="34" charset="-122"/>
                <a:cs typeface="Calibri" pitchFamily="34" charset="-120"/>
              </a:rPr>
              <a:t>"In this exhibit, I learned that no region has everything it needs because each one is missing something another region has."</a:t>
            </a:r>
            <a:endParaRPr lang="en-US" sz="1100" dirty="0"/>
          </a:p>
        </p:txBody>
      </p:sp>
      <p:sp>
        <p:nvSpPr>
          <p:cNvPr id="10" name="Shape 8"/>
          <p:cNvSpPr/>
          <p:nvPr/>
        </p:nvSpPr>
        <p:spPr>
          <a:xfrm>
            <a:off x="3048000" y="4023360"/>
            <a:ext cx="5486400" cy="1219200"/>
          </a:xfrm>
          <a:prstGeom prst="roundRect">
            <a:avLst>
              <a:gd name="adj" fmla="val 9000"/>
            </a:avLst>
          </a:prstGeom>
          <a:solidFill>
            <a:srgbClr val="FFF3DC"/>
          </a:solidFill>
          <a:ln w="19050">
            <a:solidFill>
              <a:srgbClr val="F5E6C8"/>
            </a:solidFill>
            <a:prstDash val="solid"/>
          </a:ln>
        </p:spPr>
      </p:sp>
      <p:sp>
        <p:nvSpPr>
          <p:cNvPr id="11" name="Text 9"/>
          <p:cNvSpPr/>
          <p:nvPr/>
        </p:nvSpPr>
        <p:spPr>
          <a:xfrm>
            <a:off x="3185160" y="4078224"/>
            <a:ext cx="52120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3185160" y="4279392"/>
            <a:ext cx="5212080" cy="8991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"Think about what surprised you most today."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"Which evidence card taught you something new?"</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 will you remember for the council tomorrow?"</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1463040"/>
            <a:ext cx="9753600" cy="6096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Evidence Gathered</a:t>
            </a:r>
            <a:endParaRPr lang="en-US" sz="3800" dirty="0"/>
          </a:p>
        </p:txBody>
      </p:sp>
      <p:sp>
        <p:nvSpPr>
          <p:cNvPr id="6" name="Text 3"/>
          <p:cNvSpPr/>
          <p:nvPr/>
        </p:nvSpPr>
        <p:spPr>
          <a:xfrm>
            <a:off x="975360" y="2133600"/>
            <a:ext cx="7315200" cy="426720"/>
          </a:xfrm>
          <a:prstGeom prst="rect">
            <a:avLst/>
          </a:prstGeom>
          <a:noFill/>
          <a:ln/>
        </p:spPr>
        <p:txBody>
          <a:bodyPr wrap="square" lIns="0" tIns="0" rIns="0" bIns="0" rtlCol="0" anchor="ctr"/>
          <a:lstStyle/>
          <a:p>
            <a:pPr indent="0" marL="0">
              <a:buNone/>
            </a:pPr>
            <a:r>
              <a:rPr lang="en-US" sz="1600" dirty="0">
                <a:solidFill>
                  <a:srgbClr val="55C8E8"/>
                </a:solidFill>
                <a:latin typeface="Calibri" pitchFamily="34" charset="0"/>
                <a:ea typeface="Calibri" pitchFamily="34" charset="-122"/>
                <a:cs typeface="Calibri" pitchFamily="34" charset="-120"/>
              </a:rPr>
              <a:t>The Council Meets Tomorrow</a:t>
            </a:r>
            <a:endParaRPr lang="en-US" sz="1600" dirty="0"/>
          </a:p>
        </p:txBody>
      </p:sp>
      <p:sp>
        <p:nvSpPr>
          <p:cNvPr id="7" name="Shape 4"/>
          <p:cNvSpPr/>
          <p:nvPr/>
        </p:nvSpPr>
        <p:spPr>
          <a:xfrm>
            <a:off x="1219200" y="3169920"/>
            <a:ext cx="1706880" cy="487680"/>
          </a:xfrm>
          <a:prstGeom prst="roundRect">
            <a:avLst>
              <a:gd name="adj" fmla="val 15000"/>
            </a:avLst>
          </a:prstGeom>
          <a:solidFill>
            <a:srgbClr val="1A8A7D"/>
          </a:solidFill>
          <a:ln/>
        </p:spPr>
      </p:sp>
      <p:sp>
        <p:nvSpPr>
          <p:cNvPr id="8" name="Text 5"/>
          <p:cNvSpPr/>
          <p:nvPr/>
        </p:nvSpPr>
        <p:spPr>
          <a:xfrm>
            <a:off x="1219200" y="3169920"/>
            <a:ext cx="1706880" cy="4876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Northeast</a:t>
            </a:r>
            <a:endParaRPr lang="en-US" sz="1100" dirty="0"/>
          </a:p>
        </p:txBody>
      </p:sp>
      <p:sp>
        <p:nvSpPr>
          <p:cNvPr id="9" name="Text 6"/>
          <p:cNvSpPr/>
          <p:nvPr/>
        </p:nvSpPr>
        <p:spPr>
          <a:xfrm>
            <a:off x="2926080" y="3169920"/>
            <a:ext cx="243840" cy="487680"/>
          </a:xfrm>
          <a:prstGeom prst="rect">
            <a:avLst/>
          </a:prstGeom>
          <a:noFill/>
          <a:ln/>
        </p:spPr>
        <p:txBody>
          <a:bodyPr wrap="square" lIns="0" tIns="0" rIns="0" bIns="0" rtlCol="0" anchor="ctr"/>
          <a:lstStyle/>
          <a:p>
            <a:pPr algn="ctr" indent="0" marL="0">
              <a:buNone/>
            </a:pPr>
            <a:r>
              <a:rPr lang="en-US" sz="1400" b="1" dirty="0">
                <a:solidFill>
                  <a:srgbClr val="7A88A8"/>
                </a:solidFill>
                <a:latin typeface="Calibri" pitchFamily="34" charset="0"/>
                <a:ea typeface="Calibri" pitchFamily="34" charset="-122"/>
                <a:cs typeface="Calibri" pitchFamily="34" charset="-120"/>
              </a:rPr>
              <a:t>&gt;</a:t>
            </a:r>
            <a:endParaRPr lang="en-US" sz="1400" dirty="0"/>
          </a:p>
        </p:txBody>
      </p:sp>
      <p:sp>
        <p:nvSpPr>
          <p:cNvPr id="10" name="Shape 7"/>
          <p:cNvSpPr/>
          <p:nvPr/>
        </p:nvSpPr>
        <p:spPr>
          <a:xfrm>
            <a:off x="3169920" y="3169920"/>
            <a:ext cx="1706880" cy="487680"/>
          </a:xfrm>
          <a:prstGeom prst="roundRect">
            <a:avLst>
              <a:gd name="adj" fmla="val 15000"/>
            </a:avLst>
          </a:prstGeom>
          <a:solidFill>
            <a:srgbClr val="E8636B"/>
          </a:solidFill>
          <a:ln/>
        </p:spPr>
      </p:sp>
      <p:sp>
        <p:nvSpPr>
          <p:cNvPr id="11" name="Text 8"/>
          <p:cNvSpPr/>
          <p:nvPr/>
        </p:nvSpPr>
        <p:spPr>
          <a:xfrm>
            <a:off x="3169920" y="3169920"/>
            <a:ext cx="1706880" cy="4876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Southeast</a:t>
            </a:r>
            <a:endParaRPr lang="en-US" sz="1100" dirty="0"/>
          </a:p>
        </p:txBody>
      </p:sp>
      <p:sp>
        <p:nvSpPr>
          <p:cNvPr id="12" name="Text 9"/>
          <p:cNvSpPr/>
          <p:nvPr/>
        </p:nvSpPr>
        <p:spPr>
          <a:xfrm>
            <a:off x="4876800" y="3169920"/>
            <a:ext cx="243840" cy="487680"/>
          </a:xfrm>
          <a:prstGeom prst="rect">
            <a:avLst/>
          </a:prstGeom>
          <a:noFill/>
          <a:ln/>
        </p:spPr>
        <p:txBody>
          <a:bodyPr wrap="square" lIns="0" tIns="0" rIns="0" bIns="0" rtlCol="0" anchor="ctr"/>
          <a:lstStyle/>
          <a:p>
            <a:pPr algn="ctr" indent="0" marL="0">
              <a:buNone/>
            </a:pPr>
            <a:r>
              <a:rPr lang="en-US" sz="1400" b="1" dirty="0">
                <a:solidFill>
                  <a:srgbClr val="7A88A8"/>
                </a:solidFill>
                <a:latin typeface="Calibri" pitchFamily="34" charset="0"/>
                <a:ea typeface="Calibri" pitchFamily="34" charset="-122"/>
                <a:cs typeface="Calibri" pitchFamily="34" charset="-120"/>
              </a:rPr>
              <a:t>&gt;</a:t>
            </a:r>
            <a:endParaRPr lang="en-US" sz="1400" dirty="0"/>
          </a:p>
        </p:txBody>
      </p:sp>
      <p:sp>
        <p:nvSpPr>
          <p:cNvPr id="13" name="Shape 10"/>
          <p:cNvSpPr/>
          <p:nvPr/>
        </p:nvSpPr>
        <p:spPr>
          <a:xfrm>
            <a:off x="5120640" y="3169920"/>
            <a:ext cx="1706880" cy="487680"/>
          </a:xfrm>
          <a:prstGeom prst="roundRect">
            <a:avLst>
              <a:gd name="adj" fmla="val 15000"/>
            </a:avLst>
          </a:prstGeom>
          <a:solidFill>
            <a:srgbClr val="34B76F"/>
          </a:solidFill>
          <a:ln/>
        </p:spPr>
      </p:sp>
      <p:sp>
        <p:nvSpPr>
          <p:cNvPr id="14" name="Text 11"/>
          <p:cNvSpPr/>
          <p:nvPr/>
        </p:nvSpPr>
        <p:spPr>
          <a:xfrm>
            <a:off x="5120640" y="3169920"/>
            <a:ext cx="1706880" cy="4876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Midwest</a:t>
            </a:r>
            <a:endParaRPr lang="en-US" sz="1100" dirty="0"/>
          </a:p>
        </p:txBody>
      </p:sp>
      <p:sp>
        <p:nvSpPr>
          <p:cNvPr id="15" name="Text 12"/>
          <p:cNvSpPr/>
          <p:nvPr/>
        </p:nvSpPr>
        <p:spPr>
          <a:xfrm>
            <a:off x="6827520" y="3169920"/>
            <a:ext cx="243840" cy="487680"/>
          </a:xfrm>
          <a:prstGeom prst="rect">
            <a:avLst/>
          </a:prstGeom>
          <a:noFill/>
          <a:ln/>
        </p:spPr>
        <p:txBody>
          <a:bodyPr wrap="square" lIns="0" tIns="0" rIns="0" bIns="0" rtlCol="0" anchor="ctr"/>
          <a:lstStyle/>
          <a:p>
            <a:pPr algn="ctr" indent="0" marL="0">
              <a:buNone/>
            </a:pPr>
            <a:r>
              <a:rPr lang="en-US" sz="1400" b="1" dirty="0">
                <a:solidFill>
                  <a:srgbClr val="7A88A8"/>
                </a:solidFill>
                <a:latin typeface="Calibri" pitchFamily="34" charset="0"/>
                <a:ea typeface="Calibri" pitchFamily="34" charset="-122"/>
                <a:cs typeface="Calibri" pitchFamily="34" charset="-120"/>
              </a:rPr>
              <a:t>&gt;</a:t>
            </a:r>
            <a:endParaRPr lang="en-US" sz="1400" dirty="0"/>
          </a:p>
        </p:txBody>
      </p:sp>
      <p:sp>
        <p:nvSpPr>
          <p:cNvPr id="16" name="Shape 13"/>
          <p:cNvSpPr/>
          <p:nvPr/>
        </p:nvSpPr>
        <p:spPr>
          <a:xfrm>
            <a:off x="7071360" y="3169920"/>
            <a:ext cx="1706880" cy="487680"/>
          </a:xfrm>
          <a:prstGeom prst="roundRect">
            <a:avLst>
              <a:gd name="adj" fmla="val 15000"/>
            </a:avLst>
          </a:prstGeom>
          <a:solidFill>
            <a:srgbClr val="D4943A"/>
          </a:solidFill>
          <a:ln/>
        </p:spPr>
      </p:sp>
      <p:sp>
        <p:nvSpPr>
          <p:cNvPr id="17" name="Text 14"/>
          <p:cNvSpPr/>
          <p:nvPr/>
        </p:nvSpPr>
        <p:spPr>
          <a:xfrm>
            <a:off x="7071360" y="3169920"/>
            <a:ext cx="1706880" cy="4876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Southwest</a:t>
            </a:r>
            <a:endParaRPr lang="en-US" sz="1100" dirty="0"/>
          </a:p>
        </p:txBody>
      </p:sp>
      <p:sp>
        <p:nvSpPr>
          <p:cNvPr id="18" name="Text 15"/>
          <p:cNvSpPr/>
          <p:nvPr/>
        </p:nvSpPr>
        <p:spPr>
          <a:xfrm>
            <a:off x="8778240" y="3169920"/>
            <a:ext cx="243840" cy="487680"/>
          </a:xfrm>
          <a:prstGeom prst="rect">
            <a:avLst/>
          </a:prstGeom>
          <a:noFill/>
          <a:ln/>
        </p:spPr>
        <p:txBody>
          <a:bodyPr wrap="square" lIns="0" tIns="0" rIns="0" bIns="0" rtlCol="0" anchor="ctr"/>
          <a:lstStyle/>
          <a:p>
            <a:pPr algn="ctr" indent="0" marL="0">
              <a:buNone/>
            </a:pPr>
            <a:r>
              <a:rPr lang="en-US" sz="1400" b="1" dirty="0">
                <a:solidFill>
                  <a:srgbClr val="7A88A8"/>
                </a:solidFill>
                <a:latin typeface="Calibri" pitchFamily="34" charset="0"/>
                <a:ea typeface="Calibri" pitchFamily="34" charset="-122"/>
                <a:cs typeface="Calibri" pitchFamily="34" charset="-120"/>
              </a:rPr>
              <a:t>&gt;</a:t>
            </a:r>
            <a:endParaRPr lang="en-US" sz="1400" dirty="0"/>
          </a:p>
        </p:txBody>
      </p:sp>
      <p:sp>
        <p:nvSpPr>
          <p:cNvPr id="19" name="Shape 16"/>
          <p:cNvSpPr/>
          <p:nvPr/>
        </p:nvSpPr>
        <p:spPr>
          <a:xfrm>
            <a:off x="9022080" y="3169920"/>
            <a:ext cx="1706880" cy="487680"/>
          </a:xfrm>
          <a:prstGeom prst="roundRect">
            <a:avLst>
              <a:gd name="adj" fmla="val 15000"/>
            </a:avLst>
          </a:prstGeom>
          <a:solidFill>
            <a:srgbClr val="8B6FC0"/>
          </a:solidFill>
          <a:ln/>
        </p:spPr>
      </p:sp>
      <p:sp>
        <p:nvSpPr>
          <p:cNvPr id="20" name="Text 17"/>
          <p:cNvSpPr/>
          <p:nvPr/>
        </p:nvSpPr>
        <p:spPr>
          <a:xfrm>
            <a:off x="9022080" y="3169920"/>
            <a:ext cx="1706880" cy="4876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West</a:t>
            </a:r>
            <a:endParaRPr lang="en-US" sz="1100" dirty="0"/>
          </a:p>
        </p:txBody>
      </p:sp>
      <p:sp>
        <p:nvSpPr>
          <p:cNvPr id="21" name="Text 18"/>
          <p:cNvSpPr/>
          <p:nvPr/>
        </p:nvSpPr>
        <p:spPr>
          <a:xfrm>
            <a:off x="975360" y="4145280"/>
            <a:ext cx="8534400" cy="731520"/>
          </a:xfrm>
          <a:prstGeom prst="rect">
            <a:avLst/>
          </a:prstGeom>
          <a:noFill/>
          <a:ln/>
        </p:spPr>
        <p:txBody>
          <a:bodyPr wrap="square" lIns="0" tIns="0" rIns="0" bIns="0" rtlCol="0" anchor="ctr"/>
          <a:lstStyle/>
          <a:p>
            <a:pPr indent="0" marL="0">
              <a:lnSpc>
                <a:spcPct val="130000"/>
              </a:lnSpc>
              <a:buNone/>
            </a:pPr>
            <a:r>
              <a:rPr lang="en-US" sz="1400" dirty="0">
                <a:solidFill>
                  <a:srgbClr val="B8C4E0"/>
                </a:solidFill>
                <a:latin typeface="Calibri" pitchFamily="34" charset="0"/>
                <a:ea typeface="Calibri" pitchFamily="34" charset="-122"/>
                <a:cs typeface="Calibri" pitchFamily="34" charset="-120"/>
              </a:rPr>
              <a:t>Five regions reviewed. Evidence organized.</a:t>
            </a:r>
            <a:endParaRPr lang="en-US" sz="1400" dirty="0"/>
          </a:p>
          <a:p>
            <a:pPr indent="0" marL="0">
              <a:lnSpc>
                <a:spcPct val="130000"/>
              </a:lnSpc>
              <a:buNone/>
            </a:pPr>
            <a:r>
              <a:rPr lang="en-US" sz="1400" dirty="0">
                <a:solidFill>
                  <a:srgbClr val="B8C4E0"/>
                </a:solidFill>
                <a:latin typeface="Calibri" pitchFamily="34" charset="0"/>
                <a:ea typeface="Calibri" pitchFamily="34" charset="-122"/>
                <a:cs typeface="Calibri" pitchFamily="34" charset="-120"/>
              </a:rPr>
              <a:t>The Regional Council convenes in Lesson 3.08.02.</a:t>
            </a:r>
            <a:endParaRPr lang="en-US" sz="1400" dirty="0"/>
          </a:p>
        </p:txBody>
      </p:sp>
      <p:sp>
        <p:nvSpPr>
          <p:cNvPr id="22" name="Text 19"/>
          <p:cNvSpPr/>
          <p:nvPr/>
        </p:nvSpPr>
        <p:spPr>
          <a:xfrm>
            <a:off x="975360" y="5242560"/>
            <a:ext cx="7315200" cy="365760"/>
          </a:xfrm>
          <a:prstGeom prst="rect">
            <a:avLst/>
          </a:prstGeom>
          <a:noFill/>
          <a:ln/>
        </p:spPr>
        <p:txBody>
          <a:bodyPr wrap="square" lIns="0" tIns="0" rIns="0" bIns="0" rtlCol="0" anchor="ctr"/>
          <a:lstStyle/>
          <a:p>
            <a:pPr indent="0" marL="0">
              <a:buNone/>
            </a:pPr>
            <a:r>
              <a:rPr lang="en-US" sz="1200" i="1" dirty="0">
                <a:solidFill>
                  <a:srgbClr val="D4943A"/>
                </a:solidFill>
                <a:latin typeface="Calibri" pitchFamily="34" charset="0"/>
                <a:ea typeface="Calibri" pitchFamily="34" charset="-122"/>
                <a:cs typeface="Calibri" pitchFamily="34" charset="-120"/>
              </a:rPr>
              <a:t>Coming Next: 3.08.02 — The Regional Council Question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2026-07-11T18:55:16Z</dcterms:created>
  <dcterms:modified xsi:type="dcterms:W3CDTF">2026-07-11T18:55:16Z</dcterms:modified>
</cp:coreProperties>
</file>