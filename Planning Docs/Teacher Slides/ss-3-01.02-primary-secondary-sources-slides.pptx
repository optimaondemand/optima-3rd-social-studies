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(slide 1): Museum evidence table with a mixed tray containing old photographs, handwritten letters, maps, and small artifacts arranged for sorting. Warm amber museum lighting.
TEACHER SCRIPT: Welcome, Junior Curators! Today we're working in the Curator Training Hall. A mixed tray has just arrived at the evidence table — photographs, maps, textbook pages, letters, and old objects, all jumbled together. Before we can write a single exhibit label, we need to learn the curator's most important skill. Here's today's big question: [read question aloud]. That's what we're going to figure out together.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(slide 2): Close-up overhead view of a sorting tray with an old black-and-white photograph, handwritten letter with wax seal, colorful encyclopedia page, and old coin — all unlabeled.
TEACHER SCRIPT: Look at this tray. The museum director sent it over and said 'Sort these before you label anything!' [pause for drama] Some were made by people who were THERE during the events. Others were made by people who studied those events LATER. Can you tell the difference? That's what real curators have to figure out. Today, you become a Source Scholar.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Welcome back, Junior Curators! Today you have a special role — you are a SOURCE SCHOLAR. [point to objectives] By the end of today, you'll be able to sort sources into two groups that curators use every day. Our path: discover what sources are, then sort them, then practice like real curators, then prove what you know.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we start sorting, let's talk about the curator's most important quality — HONESTY. Real curators are honest about what the evidence shows, even when it surprises them. Instead of guessing, a curator says 'I'm not sure — I need more clues.' Today, practice being honest about what you see AND about what you're not sure about yet. Type in the chat: 'I practice honesty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Do NOT explain anything yet — let them look first!
Here are 4 items from the evidence tray. [pause 5-7 seconds] Look carefully at each one. Don't sort yet. Don't label yet. Just look. What do you notice? What's the same? What's different? [let students observe silently] In a moment I'll ask you to type one thing you notice in the chat.
IMAGE NOTES: Top-left: sepia 1910 photograph. Top-right: modern colorful textbook cover. Bottom-left: aged handwritten letter with ink stains. Bottom-right: movie/documentary case clearly from modern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5 seconds of private thinking. Eyes on screen. Look at all 4 items. [wait 5-7 seconds in silence] Now — type ONE thing you notice in the chat. Just one. [read 3-4 responses] Interesting! Several of you noticed ___. Which of these feels like it came from someone who was actually THERE during the event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Let's focus on just two items: the old photograph and the textbook about ancient Egypt. [pause] Which one was made DURING the time it shows? [take responses] Right! The photograph was taken in 1910, during that time. The textbook was written recently by someone who studied ancient Egypt but was never there! What rule can we start to make? [draw out: something about WHEN it was made] You're about to name something real curators use every day. Let's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You found the pattern — the photograph was made DURING that time. The person who took it was THERE. Historians have a name for this: [dramatic pause] a PRIMARY SOURCE! Hall 1 is now UNLOCKED! [celebrate] A primary source is created DURING the time it describes — by someone who was actually there. Old photograph? Primary. Soldier's letter? Primary. They were made by people who lived through those moments. That's what makes them firsthand clues.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we unlock Hall 2, let's make sure Hall 1 is locked in memory. Cover your screen — yes, really! — and say out loud: what is a primary source? [pause 3-5 seconds] Okay, uncover and check. How did you do? Type in the chat: 'A primary source is...' [read responses] Great. Now — you know the textbook about ancient Egypt is NOT a primary source. What IS it? We're about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That textbook about ancient Egypt has a name: [dramatic pause] a SECONDARY source! Hall 2 unlocked! A secondary source is created AFTER the time it describes — by someone who STUDIED the past. The textbook author learned about ancient Egypt, but was never there! Same with a documentary about the moon landing — made years later. Encyclopedias, biographies, documentaries — all secondary sources. Helpful, but one step removed from the actual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Let's put them side by side. [gesture to both panels] Primary — made DURING, by someone who was THERE. Secondary — made AFTER, by someone who STUDIED it. [pause] What is the ONE biggest difference? Not two things — just one. Type in the chat: 'The biggest difference is...' [read responses] Yes — it comes down to WHEN it was made and WHETHER the person was there. That's the curator's sorting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(slide 12): Opti mascot holding a notebook and magnifying glass, looking excited.
TEACHER SCRIPT: Here's something cool — Opti wants to share a fun fact! Does a primary source have to be old? [take answers] Nope! If you wrote a diary entry tonight about what you learned today, THAT would be a primary source for a future historian. You are making history right now! [Then &amp; Now] Humans have always felt the need to record their lives. That's why primary sources are so valuable — they're windows into real moments. Now let's start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Watch how I think through sorting this one. I'll use 3 questions. [point to each question and answer out loud, slowly] Q1: Was this made DURING or AFTER? The photo was taken IN 1910 — during that time. Q2: Was the person who made it there? Yes — the photographer was standing right there on that street. Q3: So this is... [pause, let students say it] PRIMARY SOURCE! [celebrate] See my 3-question process: WHEN was it made? Was the person THERE? That gives you the answer. Now let's try one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Let's do this one together. [show letter] A soldier wrote this letter home — look at the questions. [Q1] When was it written? During the war! [Q2] Was the soldier there? He was IN the war writing home. [Q3] Primary source? [take chat] Yes! [Socratic] Here's an interesting question: if a family member COPIED the letter 50 years later, would it still be primary? [discuss — the original is primary; a copy made later would be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time YOU do the sorting — checklist helps. [show documentary] Work through your checklist. [30-45 seconds] Was it made during or after? Were the filmmakers there? Type your answer: 'I think this is a ___ source because...' [read responses] Right — made YEARS AFTER the moon landing by filmmakers who researched it. SECONDARY source. Now I have one to trip you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Here's a mistake a student made. [read it aloud] This student says the textbook is a primary source because it has lots of facts about ancient times. Hmm. [pause] Where did this student go wrong? Type in the chat: 'The mistake is...' [read responses] Exactly — having facts about a time period doesn't make something primary! The student confused CONTENT with ORIGIN. The question is WHEN was it made and was the person THERE — not how many facts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Here's the tricky one — historians actually debate this! A news reporter filmed the moon landing LIVE in 1969. Primary or secondary? [let students pick a side] Type PRIMARY or SECONDARY in the chat, then give one reason. [read responses, facilitate mini-debate]
For what it's worth: original unedited footage is considered primary because it was created at the time of the event. But if that footage is edited and narrated in a documentary made later, the documentary becomes secondary even though it CONTAINS primary footage! Sources can contain other sources. That's what makes this work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Exhibit label time! [read each card] Primary — made during, by someone who was there. Secondary — made after, by someone who studied the past. And the curator's rule: [read rule] ask what kind of source it is BEFORE you decide what it proves. [Quick self-check] Fast! Type A, B, or C: which is primary? [read answers] Answer is B — the soldier's letter was written by someone who was THERE. Textbook and movie are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you open Canvas, let's prep for the two evidence questions. [Q1] You'll need to explain the difference AND give one example of each. Use 'during' and 'after' — and 'was there' vs. 'studied it.' Practice in the chat: 'Primary sources are different from secondary sources because...' [Q2] Why do curators prefer primary sources? Think about WHY firsthand clues matter more than a summary. [take chat responses] For your assignment, you'll also study a brand new source you haven't seen — use your 3 questions: What do I see? What does it mean? Why does it matter? Don't forget your Curator's Chronicle!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(slide 20): Junior Curator celebrating, possibly receiving a badge or completing their exhibit label in the Curator Training Hall.
TEACHER SCRIPT: You have officially earned the title of Certified Source Scholar! [celebrate] You walked into this lesson with a mixed tray of evidence and no way to sort it. Now you know the curator's rule — ask what kind of source it is BEFORE you decide what it proves. Primary: made during, by someone who was there. Secondary: made after, by someone who studied it. That is a real skill historians, journalists, and detectives use every day. [coming next] Next time, the museum director is bringing in an unlabeled exhibit case. Before anyone writes a single label, you'll generate the right questions first — thinking like a historian-citizen. See you then, Source Scholars!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 y="548640"/>
            <a:ext cx="411480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20040" y="54864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822960"/>
            <a:ext cx="384048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evidence table with mixed tray of photographs, letters, maps, and artifacts in warm amber museum lighting</a:t>
            </a:r>
            <a:endParaRPr lang="en-US" sz="1100" dirty="0"/>
          </a:p>
        </p:txBody>
      </p:sp>
      <p:sp>
        <p:nvSpPr>
          <p:cNvPr id="7" name="Text 5"/>
          <p:cNvSpPr/>
          <p:nvPr/>
        </p:nvSpPr>
        <p:spPr>
          <a:xfrm>
            <a:off x="4663440" y="640080"/>
            <a:ext cx="393192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CURATOR TRAINING HALL</a:t>
            </a:r>
            <a:endParaRPr lang="en-US" sz="900" dirty="0"/>
          </a:p>
        </p:txBody>
      </p:sp>
      <p:sp>
        <p:nvSpPr>
          <p:cNvPr id="8" name="Text 6"/>
          <p:cNvSpPr/>
          <p:nvPr/>
        </p:nvSpPr>
        <p:spPr>
          <a:xfrm>
            <a:off x="4663440" y="960120"/>
            <a:ext cx="3931920" cy="13258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Primary &amp;</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Secondary Sources</a:t>
            </a:r>
            <a:endParaRPr lang="en-US" sz="3400" dirty="0"/>
          </a:p>
        </p:txBody>
      </p:sp>
      <p:sp>
        <p:nvSpPr>
          <p:cNvPr id="9" name="Text 7"/>
          <p:cNvSpPr/>
          <p:nvPr/>
        </p:nvSpPr>
        <p:spPr>
          <a:xfrm>
            <a:off x="4663440" y="2377440"/>
            <a:ext cx="3931920" cy="274320"/>
          </a:xfrm>
          <a:prstGeom prst="rect">
            <a:avLst/>
          </a:prstGeom>
          <a:noFill/>
          <a:ln/>
        </p:spPr>
        <p:txBody>
          <a:bodyPr wrap="square" lIns="0" tIns="0" rIns="0" bIns="0" rtlCol="0" anchor="ctr"/>
          <a:lstStyle/>
          <a:p>
            <a:pPr indent="0" marL="0">
              <a:buNone/>
            </a:pPr>
            <a:r>
              <a:rPr lang="en-US" sz="1300" dirty="0">
                <a:solidFill>
                  <a:srgbClr val="D4943A"/>
                </a:solidFill>
                <a:latin typeface="Calibri" pitchFamily="34" charset="0"/>
                <a:ea typeface="Calibri" pitchFamily="34" charset="-122"/>
                <a:cs typeface="Calibri" pitchFamily="34" charset="-120"/>
              </a:rPr>
              <a:t>Lesson 3.01.02</a:t>
            </a:r>
            <a:endParaRPr lang="en-US" sz="1300" dirty="0"/>
          </a:p>
        </p:txBody>
      </p:sp>
      <p:sp>
        <p:nvSpPr>
          <p:cNvPr id="10" name="Text 8"/>
          <p:cNvSpPr/>
          <p:nvPr/>
        </p:nvSpPr>
        <p:spPr>
          <a:xfrm>
            <a:off x="4663440" y="2697480"/>
            <a:ext cx="3931920" cy="228600"/>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Grade 3 Social Studies  ·  Quarter 1, Week 1</a:t>
            </a:r>
            <a:endParaRPr lang="en-US" sz="1000" dirty="0"/>
          </a:p>
        </p:txBody>
      </p:sp>
      <p:sp>
        <p:nvSpPr>
          <p:cNvPr id="11" name="Shape 9"/>
          <p:cNvSpPr/>
          <p:nvPr/>
        </p:nvSpPr>
        <p:spPr>
          <a:xfrm>
            <a:off x="4663440" y="3035808"/>
            <a:ext cx="3931920" cy="1371600"/>
          </a:xfrm>
          <a:prstGeom prst="roundRect">
            <a:avLst>
              <a:gd name="adj" fmla="val 8000"/>
            </a:avLst>
          </a:prstGeom>
          <a:solidFill>
            <a:srgbClr val="1A2D5A"/>
          </a:solidFill>
          <a:ln w="19050">
            <a:solidFill>
              <a:srgbClr val="D4943A"/>
            </a:solidFill>
            <a:prstDash val="solid"/>
          </a:ln>
        </p:spPr>
      </p:sp>
      <p:sp>
        <p:nvSpPr>
          <p:cNvPr id="12" name="Text 10"/>
          <p:cNvSpPr/>
          <p:nvPr/>
        </p:nvSpPr>
        <p:spPr>
          <a:xfrm>
            <a:off x="4846320" y="3108960"/>
            <a:ext cx="3566160" cy="201168"/>
          </a:xfrm>
          <a:prstGeom prst="rect">
            <a:avLst/>
          </a:prstGeom>
          <a:noFill/>
          <a:ln/>
        </p:spPr>
        <p:txBody>
          <a:bodyPr wrap="square" lIns="0" tIns="0" rIns="0" bIns="0" rtlCol="0" anchor="ctr"/>
          <a:lstStyle/>
          <a:p>
            <a:pPr indent="0" marL="0">
              <a:buNone/>
            </a:pPr>
            <a:r>
              <a:rPr lang="en-US" sz="800" b="1" spc="150" kern="0" dirty="0">
                <a:solidFill>
                  <a:srgbClr val="D4943A"/>
                </a:solidFill>
                <a:latin typeface="Calibri" pitchFamily="34" charset="0"/>
                <a:ea typeface="Calibri" pitchFamily="34" charset="-122"/>
                <a:cs typeface="Calibri" pitchFamily="34" charset="-120"/>
              </a:rPr>
              <a:t>TODAY'S QUESTION</a:t>
            </a:r>
            <a:endParaRPr lang="en-US" sz="800" dirty="0"/>
          </a:p>
        </p:txBody>
      </p:sp>
      <p:sp>
        <p:nvSpPr>
          <p:cNvPr id="13" name="Text 11"/>
          <p:cNvSpPr/>
          <p:nvPr/>
        </p:nvSpPr>
        <p:spPr>
          <a:xfrm>
            <a:off x="4846320" y="3337560"/>
            <a:ext cx="3566160" cy="1005840"/>
          </a:xfrm>
          <a:prstGeom prst="rect">
            <a:avLst/>
          </a:prstGeom>
          <a:noFill/>
          <a:ln/>
        </p:spPr>
        <p:txBody>
          <a:bodyPr wrap="square" lIns="0" tIns="0" rIns="0" bIns="0"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How do curators know what kind of source they're looking at — and why does it matter before they write a label?</a:t>
            </a:r>
            <a:endParaRPr lang="en-US" sz="1200" dirty="0"/>
          </a:p>
        </p:txBody>
      </p:sp>
      <p:sp>
        <p:nvSpPr>
          <p:cNvPr id="14" name="Text 12"/>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 y="502920"/>
            <a:ext cx="4206240" cy="3794760"/>
          </a:xfrm>
          <a:prstGeom prst="roundRect">
            <a:avLst>
              <a:gd name="adj" fmla="val 2892"/>
            </a:avLst>
          </a:prstGeom>
          <a:solidFill>
            <a:srgbClr val="E2E8F4"/>
          </a:solidFill>
          <a:ln w="19050">
            <a:solidFill>
              <a:srgbClr val="B0B8CC"/>
            </a:solidFill>
            <a:prstDash val="dash"/>
          </a:ln>
        </p:spPr>
      </p:sp>
      <p:sp>
        <p:nvSpPr>
          <p:cNvPr id="5" name="Text 3"/>
          <p:cNvSpPr/>
          <p:nvPr/>
        </p:nvSpPr>
        <p:spPr>
          <a:xfrm>
            <a:off x="320040" y="50292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777240"/>
            <a:ext cx="3931920" cy="3429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mixed evidence tray: old photo, handwritten letter, encyclopedia page, old coin — all unlabeled</a:t>
            </a:r>
            <a:endParaRPr lang="en-US" sz="1100" dirty="0"/>
          </a:p>
        </p:txBody>
      </p:sp>
      <p:sp>
        <p:nvSpPr>
          <p:cNvPr id="7" name="Text 5"/>
          <p:cNvSpPr/>
          <p:nvPr/>
        </p:nvSpPr>
        <p:spPr>
          <a:xfrm>
            <a:off x="4800600" y="548640"/>
            <a:ext cx="3840480" cy="256032"/>
          </a:xfrm>
          <a:prstGeom prst="rect">
            <a:avLst/>
          </a:prstGeom>
          <a:noFill/>
          <a:ln/>
        </p:spPr>
        <p:txBody>
          <a:bodyPr wrap="square" lIns="0" tIns="0" rIns="0" bIns="0"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MUSEUM MEMO</a:t>
            </a:r>
            <a:endParaRPr lang="en-US" sz="900" dirty="0"/>
          </a:p>
        </p:txBody>
      </p:sp>
      <p:sp>
        <p:nvSpPr>
          <p:cNvPr id="8" name="Text 6"/>
          <p:cNvSpPr/>
          <p:nvPr/>
        </p:nvSpPr>
        <p:spPr>
          <a:xfrm>
            <a:off x="4800600" y="841248"/>
            <a:ext cx="38404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Mixed Tray Has Arrived!</a:t>
            </a:r>
            <a:endParaRPr lang="en-US" sz="2600" dirty="0"/>
          </a:p>
        </p:txBody>
      </p:sp>
      <p:sp>
        <p:nvSpPr>
          <p:cNvPr id="9" name="Text 7"/>
          <p:cNvSpPr/>
          <p:nvPr/>
        </p:nvSpPr>
        <p:spPr>
          <a:xfrm>
            <a:off x="4800600" y="1463040"/>
            <a:ext cx="3840480" cy="1965960"/>
          </a:xfrm>
          <a:prstGeom prst="rect">
            <a:avLst/>
          </a:prstGeom>
          <a:noFill/>
          <a:ln/>
        </p:spPr>
        <p:txBody>
          <a:bodyPr wrap="square" lIns="0" tIns="0" rIns="0" bIns="0" rtlCol="0" anchor="t"/>
          <a:lstStyle/>
          <a:p>
            <a:pPr indent="0" marL="0">
              <a:buNone/>
            </a:pPr>
            <a:r>
              <a:rPr lang="en-US" sz="1200" dirty="0">
                <a:solidFill>
                  <a:srgbClr val="D6D8E8"/>
                </a:solidFill>
                <a:latin typeface="Calibri" pitchFamily="34" charset="0"/>
                <a:ea typeface="Calibri" pitchFamily="34" charset="-122"/>
                <a:cs typeface="Calibri" pitchFamily="34" charset="-120"/>
              </a:rPr>
              <a:t>Inside: photographs, maps, textbook pages, letters, and old objects — all jumbled.
</a:t>
            </a:r>
            <a:pPr indent="0" marL="0">
              <a:buNone/>
            </a:pPr>
            <a:r>
              <a:rPr lang="en-US" sz="1200" dirty="0">
                <a:solidFill>
                  <a:srgbClr val="D6D8E8"/>
                </a:solidFill>
                <a:latin typeface="Calibri" pitchFamily="34" charset="0"/>
                <a:ea typeface="Calibri" pitchFamily="34" charset="-122"/>
                <a:cs typeface="Calibri" pitchFamily="34" charset="-120"/>
              </a:rPr>
              <a:t>Before writing any exhibit label, sort them:
</a:t>
            </a:r>
            <a:pPr indent="0" marL="0">
              <a:buNone/>
            </a:pPr>
            <a:r>
              <a:rPr lang="en-US" sz="1200" b="1" dirty="0">
                <a:solidFill>
                  <a:srgbClr val="55C8E8"/>
                </a:solidFill>
                <a:latin typeface="Calibri" pitchFamily="34" charset="0"/>
                <a:ea typeface="Calibri" pitchFamily="34" charset="-122"/>
                <a:cs typeface="Calibri" pitchFamily="34" charset="-120"/>
              </a:rPr>
              <a:t>•  Sources made DURING the time they describe
</a:t>
            </a:r>
            <a:pPr indent="0" marL="0">
              <a:buNone/>
            </a:pPr>
            <a:r>
              <a:rPr lang="en-US" sz="1200" b="1" dirty="0">
                <a:solidFill>
                  <a:srgbClr val="D4943A"/>
                </a:solidFill>
                <a:latin typeface="Calibri" pitchFamily="34" charset="0"/>
                <a:ea typeface="Calibri" pitchFamily="34" charset="-122"/>
                <a:cs typeface="Calibri" pitchFamily="34" charset="-120"/>
              </a:rPr>
              <a:t>•  Sources made AFTER</a:t>
            </a:r>
            <a:endParaRPr lang="en-US" sz="1200" dirty="0"/>
          </a:p>
        </p:txBody>
      </p:sp>
      <p:sp>
        <p:nvSpPr>
          <p:cNvPr id="10" name="Shape 8"/>
          <p:cNvSpPr/>
          <p:nvPr/>
        </p:nvSpPr>
        <p:spPr>
          <a:xfrm>
            <a:off x="4800600" y="3520440"/>
            <a:ext cx="3840480" cy="749808"/>
          </a:xfrm>
          <a:prstGeom prst="roundRect">
            <a:avLst>
              <a:gd name="adj" fmla="val 12195"/>
            </a:avLst>
          </a:prstGeom>
          <a:solidFill>
            <a:srgbClr val="1A2D5A"/>
          </a:solidFill>
          <a:ln w="12700">
            <a:solidFill>
              <a:srgbClr val="55C8E8"/>
            </a:solidFill>
            <a:prstDash val="solid"/>
          </a:ln>
        </p:spPr>
      </p:sp>
      <p:sp>
        <p:nvSpPr>
          <p:cNvPr id="11" name="Text 9"/>
          <p:cNvSpPr/>
          <p:nvPr/>
        </p:nvSpPr>
        <p:spPr>
          <a:xfrm>
            <a:off x="4983480" y="3584448"/>
            <a:ext cx="3474720" cy="621792"/>
          </a:xfrm>
          <a:prstGeom prst="rect">
            <a:avLst/>
          </a:prstGeom>
          <a:noFill/>
          <a:ln/>
        </p:spPr>
        <p:txBody>
          <a:bodyPr wrap="square" lIns="0" tIns="0" rIns="0" bIns="0"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The curator's rule: ask what kind of source it is BEFORE you decide what it proves.</a:t>
            </a:r>
            <a:endParaRPr lang="en-US" sz="1200" dirty="0"/>
          </a:p>
        </p:txBody>
      </p:sp>
      <p:sp>
        <p:nvSpPr>
          <p:cNvPr id="12" name="Text 10"/>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TODAY'S MISSION</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Role Today: Source Scholar</a:t>
            </a:r>
            <a:endParaRPr lang="en-US" sz="2800" dirty="0"/>
          </a:p>
        </p:txBody>
      </p:sp>
      <p:sp>
        <p:nvSpPr>
          <p:cNvPr id="4" name="Shape 2"/>
          <p:cNvSpPr/>
          <p:nvPr/>
        </p:nvSpPr>
        <p:spPr>
          <a:xfrm>
            <a:off x="320040" y="914400"/>
            <a:ext cx="2560320" cy="1645920"/>
          </a:xfrm>
          <a:prstGeom prst="roundRect">
            <a:avLst>
              <a:gd name="adj" fmla="val 8333"/>
            </a:avLst>
          </a:prstGeom>
          <a:solidFill>
            <a:srgbClr val="EAF8FD"/>
          </a:solidFill>
          <a:ln w="25400">
            <a:solidFill>
              <a:srgbClr val="55C8E8"/>
            </a:solidFill>
            <a:prstDash val="solid"/>
          </a:ln>
        </p:spPr>
      </p:sp>
      <p:sp>
        <p:nvSpPr>
          <p:cNvPr id="5" name="Text 3"/>
          <p:cNvSpPr/>
          <p:nvPr/>
        </p:nvSpPr>
        <p:spPr>
          <a:xfrm>
            <a:off x="320040" y="1005840"/>
            <a:ext cx="2560320" cy="804672"/>
          </a:xfrm>
          <a:prstGeom prst="rect">
            <a:avLst/>
          </a:prstGeom>
          <a:noFill/>
          <a:ln/>
        </p:spPr>
        <p:txBody>
          <a:bodyPr wrap="square" lIns="0" tIns="0" rIns="0" bIns="0" rtlCol="0" anchor="ctr"/>
          <a:lstStyle/>
          <a:p>
            <a:pPr algn="ctr" indent="0" marL="0">
              <a:buNone/>
            </a:pPr>
            <a:r>
              <a:rPr lang="en-US" sz="2200" b="1" dirty="0">
                <a:solidFill>
                  <a:srgbClr val="1A8A7D"/>
                </a:solidFill>
                <a:latin typeface="Cambria" pitchFamily="34" charset="0"/>
                <a:ea typeface="Cambria" pitchFamily="34" charset="-122"/>
                <a:cs typeface="Cambria" pitchFamily="34" charset="-120"/>
              </a:rPr>
              <a:t>SOURCE</a:t>
            </a:r>
            <a:endParaRPr lang="en-US" sz="2200" dirty="0"/>
          </a:p>
          <a:p>
            <a:pPr algn="ctr" indent="0" marL="0">
              <a:buNone/>
            </a:pPr>
            <a:r>
              <a:rPr lang="en-US" sz="2200" b="1" dirty="0">
                <a:solidFill>
                  <a:srgbClr val="1A8A7D"/>
                </a:solidFill>
                <a:latin typeface="Cambria" pitchFamily="34" charset="0"/>
                <a:ea typeface="Cambria" pitchFamily="34" charset="-122"/>
                <a:cs typeface="Cambria" pitchFamily="34" charset="-120"/>
              </a:rPr>
              <a:t>SCHOLAR</a:t>
            </a:r>
            <a:endParaRPr lang="en-US" sz="2200" dirty="0"/>
          </a:p>
        </p:txBody>
      </p:sp>
      <p:sp>
        <p:nvSpPr>
          <p:cNvPr id="6" name="Text 4"/>
          <p:cNvSpPr/>
          <p:nvPr/>
        </p:nvSpPr>
        <p:spPr>
          <a:xfrm>
            <a:off x="457200" y="1856232"/>
            <a:ext cx="2286000" cy="621792"/>
          </a:xfrm>
          <a:prstGeom prst="rect">
            <a:avLst/>
          </a:prstGeom>
          <a:noFill/>
          <a:ln/>
        </p:spPr>
        <p:txBody>
          <a:bodyPr wrap="square" lIns="0" tIns="0" rIns="0" bIns="0" rtlCol="0" anchor="ctr"/>
          <a:lstStyle/>
          <a:p>
            <a:pPr algn="ctr" indent="0" marL="0">
              <a:buNone/>
            </a:pPr>
            <a:r>
              <a:rPr lang="en-US" sz="1000" i="1" dirty="0">
                <a:solidFill>
                  <a:srgbClr val="3A5080"/>
                </a:solidFill>
                <a:latin typeface="Calibri" pitchFamily="34" charset="0"/>
                <a:ea typeface="Calibri" pitchFamily="34" charset="-122"/>
                <a:cs typeface="Calibri" pitchFamily="34" charset="-120"/>
              </a:rPr>
              <a:t>Examine old objects, letters, and photographs to learn what they tell us about the past.</a:t>
            </a:r>
            <a:endParaRPr lang="en-US" sz="1000" dirty="0"/>
          </a:p>
        </p:txBody>
      </p:sp>
      <p:sp>
        <p:nvSpPr>
          <p:cNvPr id="7" name="Shape 5"/>
          <p:cNvSpPr/>
          <p:nvPr/>
        </p:nvSpPr>
        <p:spPr>
          <a:xfrm>
            <a:off x="3108960" y="914400"/>
            <a:ext cx="5486400" cy="1645920"/>
          </a:xfrm>
          <a:prstGeom prst="roundRect">
            <a:avLst>
              <a:gd name="adj" fmla="val 6667"/>
            </a:avLst>
          </a:prstGeom>
          <a:solidFill>
            <a:srgbClr val="F0F2F8"/>
          </a:solidFill>
          <a:ln w="12700">
            <a:solidFill>
              <a:srgbClr val="B0B8CC"/>
            </a:solidFill>
            <a:prstDash val="solid"/>
          </a:ln>
        </p:spPr>
      </p:sp>
      <p:sp>
        <p:nvSpPr>
          <p:cNvPr id="8" name="Text 6"/>
          <p:cNvSpPr/>
          <p:nvPr/>
        </p:nvSpPr>
        <p:spPr>
          <a:xfrm>
            <a:off x="3291840" y="987552"/>
            <a:ext cx="512064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WHAT YOU'LL LEARN TODAY</a:t>
            </a:r>
            <a:endParaRPr lang="en-US" sz="900" dirty="0"/>
          </a:p>
        </p:txBody>
      </p:sp>
      <p:sp>
        <p:nvSpPr>
          <p:cNvPr id="9" name="Text 7"/>
          <p:cNvSpPr/>
          <p:nvPr/>
        </p:nvSpPr>
        <p:spPr>
          <a:xfrm>
            <a:off x="3291840" y="1261872"/>
            <a:ext cx="5120640" cy="1234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I can explain the difference between a primary and a secondary source.</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I can examine a source and describe what it tells us.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I can sort examples into primary or secondary sources.</a:t>
            </a:r>
            <a:endParaRPr lang="en-US" sz="1200" dirty="0"/>
          </a:p>
        </p:txBody>
      </p:sp>
      <p:sp>
        <p:nvSpPr>
          <p:cNvPr id="10" name="Text 8"/>
          <p:cNvSpPr/>
          <p:nvPr/>
        </p:nvSpPr>
        <p:spPr>
          <a:xfrm>
            <a:off x="320040" y="2697480"/>
            <a:ext cx="850392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TODAY'S PATH</a:t>
            </a:r>
            <a:endParaRPr lang="en-US" sz="900" dirty="0"/>
          </a:p>
        </p:txBody>
      </p:sp>
      <p:sp>
        <p:nvSpPr>
          <p:cNvPr id="11" name="Shape 9"/>
          <p:cNvSpPr/>
          <p:nvPr/>
        </p:nvSpPr>
        <p:spPr>
          <a:xfrm>
            <a:off x="320040" y="2971800"/>
            <a:ext cx="1920240" cy="1691640"/>
          </a:xfrm>
          <a:prstGeom prst="roundRect">
            <a:avLst>
              <a:gd name="adj" fmla="val 6486"/>
            </a:avLst>
          </a:prstGeom>
          <a:solidFill>
            <a:srgbClr val="EAF8FD"/>
          </a:solidFill>
          <a:ln w="25400">
            <a:solidFill>
              <a:srgbClr val="55C8E8"/>
            </a:solidFill>
            <a:prstDash val="solid"/>
          </a:ln>
        </p:spPr>
      </p:sp>
      <p:sp>
        <p:nvSpPr>
          <p:cNvPr id="12" name="Text 10"/>
          <p:cNvSpPr/>
          <p:nvPr/>
        </p:nvSpPr>
        <p:spPr>
          <a:xfrm>
            <a:off x="320040" y="3035808"/>
            <a:ext cx="19202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320040" y="3566160"/>
            <a:ext cx="1920240" cy="320040"/>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Discover</a:t>
            </a:r>
            <a:endParaRPr lang="en-US" sz="1400" dirty="0"/>
          </a:p>
        </p:txBody>
      </p:sp>
      <p:sp>
        <p:nvSpPr>
          <p:cNvPr id="14" name="Text 12"/>
          <p:cNvSpPr/>
          <p:nvPr/>
        </p:nvSpPr>
        <p:spPr>
          <a:xfrm>
            <a:off x="411480" y="3913632"/>
            <a:ext cx="1737360" cy="658368"/>
          </a:xfrm>
          <a:prstGeom prst="rect">
            <a:avLst/>
          </a:prstGeom>
          <a:noFill/>
          <a:ln/>
        </p:spPr>
        <p:txBody>
          <a:bodyPr wrap="square" lIns="0" tIns="0" rIns="0" bIns="0"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What is a source?</a:t>
            </a:r>
            <a:endParaRPr lang="en-US" sz="1000" dirty="0"/>
          </a:p>
        </p:txBody>
      </p:sp>
      <p:sp>
        <p:nvSpPr>
          <p:cNvPr id="15" name="Shape 13"/>
          <p:cNvSpPr/>
          <p:nvPr/>
        </p:nvSpPr>
        <p:spPr>
          <a:xfrm>
            <a:off x="2468880" y="2971800"/>
            <a:ext cx="1920240" cy="1691640"/>
          </a:xfrm>
          <a:prstGeom prst="roundRect">
            <a:avLst>
              <a:gd name="adj" fmla="val 6486"/>
            </a:avLst>
          </a:prstGeom>
          <a:solidFill>
            <a:srgbClr val="F0F2F8"/>
          </a:solidFill>
          <a:ln w="12700">
            <a:solidFill>
              <a:srgbClr val="B0B8CC"/>
            </a:solidFill>
            <a:prstDash val="solid"/>
          </a:ln>
        </p:spPr>
      </p:sp>
      <p:sp>
        <p:nvSpPr>
          <p:cNvPr id="16" name="Text 14"/>
          <p:cNvSpPr/>
          <p:nvPr/>
        </p:nvSpPr>
        <p:spPr>
          <a:xfrm>
            <a:off x="2468880" y="3035808"/>
            <a:ext cx="19202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2468880" y="3566160"/>
            <a:ext cx="1920240" cy="32004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Sort</a:t>
            </a:r>
            <a:endParaRPr lang="en-US" sz="1400" dirty="0"/>
          </a:p>
        </p:txBody>
      </p:sp>
      <p:sp>
        <p:nvSpPr>
          <p:cNvPr id="18" name="Text 16"/>
          <p:cNvSpPr/>
          <p:nvPr/>
        </p:nvSpPr>
        <p:spPr>
          <a:xfrm>
            <a:off x="2560320" y="3913632"/>
            <a:ext cx="1737360" cy="658368"/>
          </a:xfrm>
          <a:prstGeom prst="rect">
            <a:avLst/>
          </a:prstGeom>
          <a:noFill/>
          <a:ln/>
        </p:spPr>
        <p:txBody>
          <a:bodyPr wrap="square" lIns="0" tIns="0" rIns="0" bIns="0"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Primary or Secondary?</a:t>
            </a:r>
            <a:endParaRPr lang="en-US" sz="1000" dirty="0"/>
          </a:p>
        </p:txBody>
      </p:sp>
      <p:sp>
        <p:nvSpPr>
          <p:cNvPr id="19" name="Shape 17"/>
          <p:cNvSpPr/>
          <p:nvPr/>
        </p:nvSpPr>
        <p:spPr>
          <a:xfrm>
            <a:off x="4617720" y="2971800"/>
            <a:ext cx="1920240" cy="1691640"/>
          </a:xfrm>
          <a:prstGeom prst="roundRect">
            <a:avLst>
              <a:gd name="adj" fmla="val 6486"/>
            </a:avLst>
          </a:prstGeom>
          <a:solidFill>
            <a:srgbClr val="F0F2F8"/>
          </a:solidFill>
          <a:ln w="12700">
            <a:solidFill>
              <a:srgbClr val="B0B8CC"/>
            </a:solidFill>
            <a:prstDash val="solid"/>
          </a:ln>
        </p:spPr>
      </p:sp>
      <p:sp>
        <p:nvSpPr>
          <p:cNvPr id="20" name="Text 18"/>
          <p:cNvSpPr/>
          <p:nvPr/>
        </p:nvSpPr>
        <p:spPr>
          <a:xfrm>
            <a:off x="4617720" y="3035808"/>
            <a:ext cx="19202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4617720" y="3566160"/>
            <a:ext cx="1920240" cy="32004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Practice</a:t>
            </a:r>
            <a:endParaRPr lang="en-US" sz="1400" dirty="0"/>
          </a:p>
        </p:txBody>
      </p:sp>
      <p:sp>
        <p:nvSpPr>
          <p:cNvPr id="22" name="Text 20"/>
          <p:cNvSpPr/>
          <p:nvPr/>
        </p:nvSpPr>
        <p:spPr>
          <a:xfrm>
            <a:off x="4709160" y="3913632"/>
            <a:ext cx="1737360" cy="658368"/>
          </a:xfrm>
          <a:prstGeom prst="rect">
            <a:avLst/>
          </a:prstGeom>
          <a:noFill/>
          <a:ln/>
        </p:spPr>
        <p:txBody>
          <a:bodyPr wrap="square" lIns="0" tIns="0" rIns="0" bIns="0"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Think like a curator</a:t>
            </a:r>
            <a:endParaRPr lang="en-US" sz="1000" dirty="0"/>
          </a:p>
        </p:txBody>
      </p:sp>
      <p:sp>
        <p:nvSpPr>
          <p:cNvPr id="23" name="Shape 21"/>
          <p:cNvSpPr/>
          <p:nvPr/>
        </p:nvSpPr>
        <p:spPr>
          <a:xfrm>
            <a:off x="6766560" y="2971800"/>
            <a:ext cx="1920240" cy="1691640"/>
          </a:xfrm>
          <a:prstGeom prst="roundRect">
            <a:avLst>
              <a:gd name="adj" fmla="val 6486"/>
            </a:avLst>
          </a:prstGeom>
          <a:solidFill>
            <a:srgbClr val="F0F2F8"/>
          </a:solidFill>
          <a:ln w="12700">
            <a:solidFill>
              <a:srgbClr val="B0B8CC"/>
            </a:solidFill>
            <a:prstDash val="solid"/>
          </a:ln>
        </p:spPr>
      </p:sp>
      <p:sp>
        <p:nvSpPr>
          <p:cNvPr id="24" name="Text 22"/>
          <p:cNvSpPr/>
          <p:nvPr/>
        </p:nvSpPr>
        <p:spPr>
          <a:xfrm>
            <a:off x="6766560" y="3035808"/>
            <a:ext cx="19202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6766560" y="3566160"/>
            <a:ext cx="1920240" cy="32004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Prove It</a:t>
            </a:r>
            <a:endParaRPr lang="en-US" sz="1400" dirty="0"/>
          </a:p>
        </p:txBody>
      </p:sp>
      <p:sp>
        <p:nvSpPr>
          <p:cNvPr id="26" name="Text 24"/>
          <p:cNvSpPr/>
          <p:nvPr/>
        </p:nvSpPr>
        <p:spPr>
          <a:xfrm>
            <a:off x="6858000" y="3913632"/>
            <a:ext cx="1737360" cy="658368"/>
          </a:xfrm>
          <a:prstGeom prst="rect">
            <a:avLst/>
          </a:prstGeom>
          <a:noFill/>
          <a:ln/>
        </p:spPr>
        <p:txBody>
          <a:bodyPr wrap="square" lIns="0" tIns="0" rIns="0" bIns="0"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Write your evidence</a:t>
            </a:r>
            <a:endParaRPr lang="en-US" sz="1000" dirty="0"/>
          </a:p>
        </p:txBody>
      </p:sp>
      <p:sp>
        <p:nvSpPr>
          <p:cNvPr id="27" name="Text 25"/>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VIRTUE SPOTLIGHT</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Honesty — The Curator's Code</a:t>
            </a:r>
            <a:endParaRPr lang="en-US" sz="2800" dirty="0"/>
          </a:p>
        </p:txBody>
      </p:sp>
      <p:sp>
        <p:nvSpPr>
          <p:cNvPr id="4" name="Shape 2"/>
          <p:cNvSpPr/>
          <p:nvPr/>
        </p:nvSpPr>
        <p:spPr>
          <a:xfrm>
            <a:off x="320040" y="960120"/>
            <a:ext cx="4023360" cy="3200400"/>
          </a:xfrm>
          <a:prstGeom prst="roundRect">
            <a:avLst>
              <a:gd name="adj" fmla="val 4286"/>
            </a:avLst>
          </a:prstGeom>
          <a:solidFill>
            <a:srgbClr val="FFF3DC"/>
          </a:solidFill>
          <a:ln w="25400">
            <a:solidFill>
              <a:srgbClr val="D4943A"/>
            </a:solidFill>
            <a:prstDash val="solid"/>
          </a:ln>
        </p:spPr>
      </p:sp>
      <p:sp>
        <p:nvSpPr>
          <p:cNvPr id="5" name="Text 3"/>
          <p:cNvSpPr/>
          <p:nvPr/>
        </p:nvSpPr>
        <p:spPr>
          <a:xfrm>
            <a:off x="320040" y="1024128"/>
            <a:ext cx="4023360" cy="566928"/>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6" name="Text 4"/>
          <p:cNvSpPr/>
          <p:nvPr/>
        </p:nvSpPr>
        <p:spPr>
          <a:xfrm>
            <a:off x="320040" y="1600200"/>
            <a:ext cx="4023360" cy="365760"/>
          </a:xfrm>
          <a:prstGeom prst="rect">
            <a:avLst/>
          </a:prstGeom>
          <a:noFill/>
          <a:ln/>
        </p:spPr>
        <p:txBody>
          <a:bodyPr wrap="square" lIns="0" tIns="0" rIns="0" bIns="0"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HONESTY</a:t>
            </a:r>
            <a:endParaRPr lang="en-US" sz="2200" dirty="0"/>
          </a:p>
        </p:txBody>
      </p:sp>
      <p:sp>
        <p:nvSpPr>
          <p:cNvPr id="7" name="Text 5"/>
          <p:cNvSpPr/>
          <p:nvPr/>
        </p:nvSpPr>
        <p:spPr>
          <a:xfrm>
            <a:off x="502920" y="2011680"/>
            <a:ext cx="3657600" cy="594360"/>
          </a:xfrm>
          <a:prstGeom prst="rect">
            <a:avLst/>
          </a:prstGeom>
          <a:noFill/>
          <a:ln/>
        </p:spPr>
        <p:txBody>
          <a:bodyPr wrap="square" lIns="0" tIns="0" rIns="0" bIns="0" rtlCol="0" anchor="ctr"/>
          <a:lstStyle/>
          <a:p>
            <a:pPr algn="ctr" indent="0" marL="0">
              <a:buNone/>
            </a:pPr>
            <a:r>
              <a:rPr lang="en-US" sz="1200" i="1" dirty="0">
                <a:solidFill>
                  <a:srgbClr val="5A4A3A"/>
                </a:solidFill>
                <a:latin typeface="Cambria" pitchFamily="34" charset="0"/>
                <a:ea typeface="Cambria" pitchFamily="34" charset="-122"/>
                <a:cs typeface="Cambria" pitchFamily="34" charset="-120"/>
              </a:rPr>
              <a:t>Curators are honest about what the evidence shows — even when it's surprising.</a:t>
            </a:r>
            <a:endParaRPr lang="en-US" sz="1200" dirty="0"/>
          </a:p>
        </p:txBody>
      </p:sp>
      <p:sp>
        <p:nvSpPr>
          <p:cNvPr id="8" name="Shape 6"/>
          <p:cNvSpPr/>
          <p:nvPr/>
        </p:nvSpPr>
        <p:spPr>
          <a:xfrm>
            <a:off x="777240" y="2670048"/>
            <a:ext cx="3108960" cy="0"/>
          </a:xfrm>
          <a:prstGeom prst="line">
            <a:avLst/>
          </a:prstGeom>
          <a:noFill/>
          <a:ln w="12700">
            <a:solidFill>
              <a:srgbClr val="F5E6C8"/>
            </a:solidFill>
            <a:prstDash val="solid"/>
          </a:ln>
        </p:spPr>
      </p:sp>
      <p:sp>
        <p:nvSpPr>
          <p:cNvPr id="9" name="Text 7"/>
          <p:cNvSpPr/>
          <p:nvPr/>
        </p:nvSpPr>
        <p:spPr>
          <a:xfrm>
            <a:off x="502920" y="2761488"/>
            <a:ext cx="3657600" cy="804672"/>
          </a:xfrm>
          <a:prstGeom prst="rect">
            <a:avLst/>
          </a:prstGeom>
          <a:noFill/>
          <a:ln/>
        </p:spPr>
        <p:txBody>
          <a:bodyPr wrap="square" lIns="0" tIns="0" rIns="0" bIns="0" rtlCol="0" anchor="ctr"/>
          <a:lstStyle/>
          <a:p>
            <a:pPr algn="ctr" indent="0" marL="0">
              <a:buNone/>
            </a:pPr>
            <a:r>
              <a:rPr lang="en-US" sz="1200" dirty="0">
                <a:solidFill>
                  <a:srgbClr val="0E1C42"/>
                </a:solidFill>
                <a:latin typeface="Calibri" pitchFamily="34" charset="0"/>
                <a:ea typeface="Calibri" pitchFamily="34" charset="-122"/>
                <a:cs typeface="Calibri" pitchFamily="34" charset="-120"/>
              </a:rPr>
              <a:t>Good curators don't guess.</a:t>
            </a:r>
            <a:endParaRPr lang="en-US" sz="1200" dirty="0"/>
          </a:p>
          <a:p>
            <a:pPr algn="ctr" indent="0" marL="0">
              <a:buNone/>
            </a:pPr>
            <a:r>
              <a:rPr lang="en-US" sz="1200" dirty="0">
                <a:solidFill>
                  <a:srgbClr val="0E1C42"/>
                </a:solidFill>
                <a:latin typeface="Calibri" pitchFamily="34" charset="0"/>
                <a:ea typeface="Calibri" pitchFamily="34" charset="-122"/>
                <a:cs typeface="Calibri" pitchFamily="34" charset="-120"/>
              </a:rPr>
              <a:t>They look carefully and tell the truth.</a:t>
            </a:r>
            <a:endParaRPr lang="en-US" sz="1200" dirty="0"/>
          </a:p>
        </p:txBody>
      </p:sp>
      <p:sp>
        <p:nvSpPr>
          <p:cNvPr id="10" name="Shape 8"/>
          <p:cNvSpPr/>
          <p:nvPr/>
        </p:nvSpPr>
        <p:spPr>
          <a:xfrm>
            <a:off x="4617720" y="960120"/>
            <a:ext cx="4114800" cy="1600200"/>
          </a:xfrm>
          <a:prstGeom prst="roundRect">
            <a:avLst>
              <a:gd name="adj" fmla="val 6857"/>
            </a:avLst>
          </a:prstGeom>
          <a:solidFill>
            <a:srgbClr val="E3F8ED"/>
          </a:solidFill>
          <a:ln w="19050">
            <a:solidFill>
              <a:srgbClr val="34B76F"/>
            </a:solidFill>
            <a:prstDash val="solid"/>
          </a:ln>
        </p:spPr>
      </p:sp>
      <p:sp>
        <p:nvSpPr>
          <p:cNvPr id="11" name="Text 9"/>
          <p:cNvSpPr/>
          <p:nvPr/>
        </p:nvSpPr>
        <p:spPr>
          <a:xfrm>
            <a:off x="4800600" y="1033272"/>
            <a:ext cx="374904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HONESTY IN ACTION</a:t>
            </a:r>
            <a:endParaRPr lang="en-US" sz="900" dirty="0"/>
          </a:p>
        </p:txBody>
      </p:sp>
      <p:sp>
        <p:nvSpPr>
          <p:cNvPr id="12" name="Text 10"/>
          <p:cNvSpPr/>
          <p:nvPr/>
        </p:nvSpPr>
        <p:spPr>
          <a:xfrm>
            <a:off x="4800600" y="1298448"/>
            <a:ext cx="3749040" cy="1170432"/>
          </a:xfrm>
          <a:prstGeom prst="rect">
            <a:avLst/>
          </a:prstGeom>
          <a:noFill/>
          <a:ln/>
        </p:spPr>
        <p:txBody>
          <a:bodyPr wrap="square" lIns="0" tIns="0" rIns="0" bIns="0"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A curator sees an old photograph and says: "I'm not sure exactly when this was taken — I need more clues before I write the label."</a:t>
            </a:r>
            <a:endParaRPr lang="en-US" sz="1200" dirty="0"/>
          </a:p>
        </p:txBody>
      </p:sp>
      <p:sp>
        <p:nvSpPr>
          <p:cNvPr id="13" name="Shape 11"/>
          <p:cNvSpPr/>
          <p:nvPr/>
        </p:nvSpPr>
        <p:spPr>
          <a:xfrm>
            <a:off x="4617720" y="2633472"/>
            <a:ext cx="4114800" cy="1527048"/>
          </a:xfrm>
          <a:prstGeom prst="roundRect">
            <a:avLst>
              <a:gd name="adj" fmla="val 7186"/>
            </a:avLst>
          </a:prstGeom>
          <a:solidFill>
            <a:srgbClr val="FFF3DC"/>
          </a:solidFill>
          <a:ln w="19050">
            <a:solidFill>
              <a:srgbClr val="F5E6C8"/>
            </a:solidFill>
            <a:prstDash val="solid"/>
          </a:ln>
        </p:spPr>
      </p:sp>
      <p:sp>
        <p:nvSpPr>
          <p:cNvPr id="14" name="Text 12"/>
          <p:cNvSpPr/>
          <p:nvPr/>
        </p:nvSpPr>
        <p:spPr>
          <a:xfrm>
            <a:off x="4754880" y="2688336"/>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754880" y="2889504"/>
            <a:ext cx="3840480" cy="12070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practice honesty when..."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"I'm not sure, so I would..."</a:t>
            </a:r>
            <a:endParaRPr lang="en-US" sz="1200" dirty="0"/>
          </a:p>
        </p:txBody>
      </p:sp>
      <p:sp>
        <p:nvSpPr>
          <p:cNvPr id="16" name="Text 14"/>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 — DO NOT LABEL YET</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Look Carefully — What Do You Notice?</a:t>
            </a:r>
            <a:endParaRPr lang="en-US" sz="26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Four items from the evidence tray. NO labels yet. Just observe.</a:t>
            </a:r>
            <a:endParaRPr lang="en-US" sz="1300" dirty="0"/>
          </a:p>
        </p:txBody>
      </p:sp>
      <p:sp>
        <p:nvSpPr>
          <p:cNvPr id="5" name="Shape 3"/>
          <p:cNvSpPr/>
          <p:nvPr/>
        </p:nvSpPr>
        <p:spPr>
          <a:xfrm>
            <a:off x="320040" y="1170432"/>
            <a:ext cx="4114800" cy="1481328"/>
          </a:xfrm>
          <a:prstGeom prst="roundRect">
            <a:avLst>
              <a:gd name="adj" fmla="val 7407"/>
            </a:avLst>
          </a:prstGeom>
          <a:solidFill>
            <a:srgbClr val="E2E8F4"/>
          </a:solidFill>
          <a:ln w="19050">
            <a:solidFill>
              <a:srgbClr val="B0B8CC"/>
            </a:solidFill>
            <a:prstDash val="dash"/>
          </a:ln>
        </p:spPr>
      </p:sp>
      <p:sp>
        <p:nvSpPr>
          <p:cNvPr id="6" name="Text 4"/>
          <p:cNvSpPr/>
          <p:nvPr/>
        </p:nvSpPr>
        <p:spPr>
          <a:xfrm>
            <a:off x="320040" y="117043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444752"/>
            <a:ext cx="3840480" cy="111556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 old black-and-white photograph from ~1910 showing everyday life (city street, family, or classroom)</a:t>
            </a:r>
            <a:endParaRPr lang="en-US" sz="1100" dirty="0"/>
          </a:p>
        </p:txBody>
      </p:sp>
      <p:sp>
        <p:nvSpPr>
          <p:cNvPr id="8" name="Shape 6"/>
          <p:cNvSpPr/>
          <p:nvPr/>
        </p:nvSpPr>
        <p:spPr>
          <a:xfrm>
            <a:off x="4663440" y="1170432"/>
            <a:ext cx="4114800" cy="1481328"/>
          </a:xfrm>
          <a:prstGeom prst="roundRect">
            <a:avLst>
              <a:gd name="adj" fmla="val 7407"/>
            </a:avLst>
          </a:prstGeom>
          <a:solidFill>
            <a:srgbClr val="E2E8F4"/>
          </a:solidFill>
          <a:ln w="19050">
            <a:solidFill>
              <a:srgbClr val="B0B8CC"/>
            </a:solidFill>
            <a:prstDash val="dash"/>
          </a:ln>
        </p:spPr>
      </p:sp>
      <p:sp>
        <p:nvSpPr>
          <p:cNvPr id="9" name="Text 7"/>
          <p:cNvSpPr/>
          <p:nvPr/>
        </p:nvSpPr>
        <p:spPr>
          <a:xfrm>
            <a:off x="4663440" y="117043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800600" y="1444752"/>
            <a:ext cx="3840480" cy="111556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colorful modern textbook chapter about ancient Egypt with illustrations</a:t>
            </a:r>
            <a:endParaRPr lang="en-US" sz="1100" dirty="0"/>
          </a:p>
        </p:txBody>
      </p:sp>
      <p:sp>
        <p:nvSpPr>
          <p:cNvPr id="11" name="Shape 9"/>
          <p:cNvSpPr/>
          <p:nvPr/>
        </p:nvSpPr>
        <p:spPr>
          <a:xfrm>
            <a:off x="320040" y="2816352"/>
            <a:ext cx="4114800" cy="1481328"/>
          </a:xfrm>
          <a:prstGeom prst="roundRect">
            <a:avLst>
              <a:gd name="adj" fmla="val 7407"/>
            </a:avLst>
          </a:prstGeom>
          <a:solidFill>
            <a:srgbClr val="E2E8F4"/>
          </a:solidFill>
          <a:ln w="19050">
            <a:solidFill>
              <a:srgbClr val="B0B8CC"/>
            </a:solidFill>
            <a:prstDash val="dash"/>
          </a:ln>
        </p:spPr>
      </p:sp>
      <p:sp>
        <p:nvSpPr>
          <p:cNvPr id="12" name="Text 10"/>
          <p:cNvSpPr/>
          <p:nvPr/>
        </p:nvSpPr>
        <p:spPr>
          <a:xfrm>
            <a:off x="320040" y="281635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457200" y="3090672"/>
            <a:ext cx="3840480" cy="111556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handwritten letter on aged paper from a soldier to his family — visible date from wartime</a:t>
            </a:r>
            <a:endParaRPr lang="en-US" sz="1100" dirty="0"/>
          </a:p>
        </p:txBody>
      </p:sp>
      <p:sp>
        <p:nvSpPr>
          <p:cNvPr id="14" name="Shape 12"/>
          <p:cNvSpPr/>
          <p:nvPr/>
        </p:nvSpPr>
        <p:spPr>
          <a:xfrm>
            <a:off x="4663440" y="2816352"/>
            <a:ext cx="4114800" cy="1481328"/>
          </a:xfrm>
          <a:prstGeom prst="roundRect">
            <a:avLst>
              <a:gd name="adj" fmla="val 7407"/>
            </a:avLst>
          </a:prstGeom>
          <a:solidFill>
            <a:srgbClr val="E2E8F4"/>
          </a:solidFill>
          <a:ln w="19050">
            <a:solidFill>
              <a:srgbClr val="B0B8CC"/>
            </a:solidFill>
            <a:prstDash val="dash"/>
          </a:ln>
        </p:spPr>
      </p:sp>
      <p:sp>
        <p:nvSpPr>
          <p:cNvPr id="15" name="Text 13"/>
          <p:cNvSpPr/>
          <p:nvPr/>
        </p:nvSpPr>
        <p:spPr>
          <a:xfrm>
            <a:off x="4663440" y="281635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4800600" y="3090672"/>
            <a:ext cx="3840480" cy="111556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DVD cover or film still from a documentary about the moon landing — clearly modern production</a:t>
            </a:r>
            <a:endParaRPr lang="en-US" sz="1100" dirty="0"/>
          </a:p>
        </p:txBody>
      </p:sp>
      <p:sp>
        <p:nvSpPr>
          <p:cNvPr id="17" name="Text 15"/>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OBSERVE &amp; NOTICE</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5 Seconds of Private Thinking</a:t>
            </a:r>
            <a:endParaRPr lang="en-US" sz="2600" dirty="0"/>
          </a:p>
        </p:txBody>
      </p:sp>
      <p:sp>
        <p:nvSpPr>
          <p:cNvPr id="4" name="Shape 2"/>
          <p:cNvSpPr/>
          <p:nvPr/>
        </p:nvSpPr>
        <p:spPr>
          <a:xfrm>
            <a:off x="320040" y="914400"/>
            <a:ext cx="4114800" cy="1874520"/>
          </a:xfrm>
          <a:prstGeom prst="roundRect">
            <a:avLst>
              <a:gd name="adj" fmla="val 7317"/>
            </a:avLst>
          </a:prstGeom>
          <a:solidFill>
            <a:srgbClr val="EAF8FD"/>
          </a:solidFill>
          <a:ln w="25400">
            <a:solidFill>
              <a:srgbClr val="55C8E8"/>
            </a:solidFill>
            <a:prstDash val="solid"/>
          </a:ln>
        </p:spPr>
      </p:sp>
      <p:sp>
        <p:nvSpPr>
          <p:cNvPr id="5" name="Text 3"/>
          <p:cNvSpPr/>
          <p:nvPr/>
        </p:nvSpPr>
        <p:spPr>
          <a:xfrm>
            <a:off x="320040" y="960120"/>
            <a:ext cx="4114800" cy="6400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6" name="Text 4"/>
          <p:cNvSpPr/>
          <p:nvPr/>
        </p:nvSpPr>
        <p:spPr>
          <a:xfrm>
            <a:off x="502920" y="1645920"/>
            <a:ext cx="3749040" cy="804672"/>
          </a:xfrm>
          <a:prstGeom prst="rect">
            <a:avLst/>
          </a:prstGeom>
          <a:noFill/>
          <a:ln/>
        </p:spPr>
        <p:txBody>
          <a:bodyPr wrap="square" lIns="0" tIns="0" rIns="0" bIns="0" rtlCol="0" anchor="ctr"/>
          <a:lstStyle/>
          <a:p>
            <a:pPr algn="ctr" indent="0" marL="0">
              <a:buNone/>
            </a:pPr>
            <a:r>
              <a:rPr lang="en-US" sz="1400" b="1" dirty="0">
                <a:solidFill>
                  <a:srgbClr val="1A8A7D"/>
                </a:solidFill>
                <a:latin typeface="Calibri" pitchFamily="34" charset="0"/>
                <a:ea typeface="Calibri" pitchFamily="34" charset="-122"/>
                <a:cs typeface="Calibri" pitchFamily="34" charset="-120"/>
              </a:rPr>
              <a:t>Look at all 4 items.</a:t>
            </a:r>
            <a:endParaRPr lang="en-US" sz="1400" dirty="0"/>
          </a:p>
          <a:p>
            <a:pPr algn="ctr" indent="0" marL="0">
              <a:buNone/>
            </a:pPr>
            <a:r>
              <a:rPr lang="en-US" sz="1400" b="1" dirty="0">
                <a:solidFill>
                  <a:srgbClr val="1A8A7D"/>
                </a:solidFill>
                <a:latin typeface="Calibri" pitchFamily="34" charset="0"/>
                <a:ea typeface="Calibri" pitchFamily="34" charset="-122"/>
                <a:cs typeface="Calibri" pitchFamily="34" charset="-120"/>
              </a:rPr>
              <a:t>Don't type yet.</a:t>
            </a:r>
            <a:endParaRPr lang="en-US" sz="1400" dirty="0"/>
          </a:p>
          <a:p>
            <a:pPr algn="ctr" indent="0" marL="0">
              <a:buNone/>
            </a:pPr>
            <a:r>
              <a:rPr lang="en-US" sz="1400" b="1" dirty="0">
                <a:solidFill>
                  <a:srgbClr val="1A8A7D"/>
                </a:solidFill>
                <a:latin typeface="Calibri" pitchFamily="34" charset="0"/>
                <a:ea typeface="Calibri" pitchFamily="34" charset="-122"/>
                <a:cs typeface="Calibri" pitchFamily="34" charset="-120"/>
              </a:rPr>
              <a:t>Just think.</a:t>
            </a:r>
            <a:endParaRPr lang="en-US" sz="1400" dirty="0"/>
          </a:p>
        </p:txBody>
      </p:sp>
      <p:sp>
        <p:nvSpPr>
          <p:cNvPr id="7" name="Shape 5"/>
          <p:cNvSpPr/>
          <p:nvPr/>
        </p:nvSpPr>
        <p:spPr>
          <a:xfrm>
            <a:off x="320040" y="2880360"/>
            <a:ext cx="4114800" cy="1371600"/>
          </a:xfrm>
          <a:prstGeom prst="roundRect">
            <a:avLst>
              <a:gd name="adj" fmla="val 8000"/>
            </a:avLst>
          </a:prstGeom>
          <a:solidFill>
            <a:srgbClr val="F0F2F8"/>
          </a:solidFill>
          <a:ln w="12700">
            <a:solidFill>
              <a:srgbClr val="B0B8CC"/>
            </a:solidFill>
            <a:prstDash val="solid"/>
          </a:ln>
        </p:spPr>
      </p:sp>
      <p:sp>
        <p:nvSpPr>
          <p:cNvPr id="8" name="Text 6"/>
          <p:cNvSpPr/>
          <p:nvPr/>
        </p:nvSpPr>
        <p:spPr>
          <a:xfrm>
            <a:off x="502920" y="2953512"/>
            <a:ext cx="374904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THINK ABOUT:</a:t>
            </a:r>
            <a:endParaRPr lang="en-US" sz="900" dirty="0"/>
          </a:p>
        </p:txBody>
      </p:sp>
      <p:sp>
        <p:nvSpPr>
          <p:cNvPr id="9" name="Text 7"/>
          <p:cNvSpPr/>
          <p:nvPr/>
        </p:nvSpPr>
        <p:spPr>
          <a:xfrm>
            <a:off x="502920" y="3218688"/>
            <a:ext cx="3749040" cy="9601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Which items look really OLD?</a:t>
            </a:r>
            <a:endParaRPr lang="en-US" sz="1100" dirty="0"/>
          </a:p>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Which look like they were made MORE RECENTLY?</a:t>
            </a:r>
            <a:endParaRPr lang="en-US" sz="1100" dirty="0"/>
          </a:p>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Does anything look like it came from someone who was THERE?</a:t>
            </a:r>
            <a:endParaRPr lang="en-US" sz="1100" dirty="0"/>
          </a:p>
        </p:txBody>
      </p:sp>
      <p:sp>
        <p:nvSpPr>
          <p:cNvPr id="10" name="Shape 8"/>
          <p:cNvSpPr/>
          <p:nvPr/>
        </p:nvSpPr>
        <p:spPr>
          <a:xfrm>
            <a:off x="4663440" y="914400"/>
            <a:ext cx="4114800" cy="2423160"/>
          </a:xfrm>
          <a:prstGeom prst="roundRect">
            <a:avLst>
              <a:gd name="adj" fmla="val 4528"/>
            </a:avLst>
          </a:prstGeom>
          <a:solidFill>
            <a:srgbClr val="FFF3DC"/>
          </a:solidFill>
          <a:ln w="19050">
            <a:solidFill>
              <a:srgbClr val="F5E6C8"/>
            </a:solidFill>
            <a:prstDash val="solid"/>
          </a:ln>
        </p:spPr>
      </p:sp>
      <p:sp>
        <p:nvSpPr>
          <p:cNvPr id="11" name="Text 9"/>
          <p:cNvSpPr/>
          <p:nvPr/>
        </p:nvSpPr>
        <p:spPr>
          <a:xfrm>
            <a:off x="4800600" y="96926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00600" y="1170432"/>
            <a:ext cx="3840480" cy="2103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something that looks old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"I'm wondering..."</a:t>
            </a:r>
            <a:endParaRPr lang="en-US" sz="1200" dirty="0"/>
          </a:p>
        </p:txBody>
      </p:sp>
      <p:sp>
        <p:nvSpPr>
          <p:cNvPr id="13" name="Shape 11"/>
          <p:cNvSpPr/>
          <p:nvPr/>
        </p:nvSpPr>
        <p:spPr>
          <a:xfrm>
            <a:off x="4663440" y="3429000"/>
            <a:ext cx="411480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846320" y="3520440"/>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846320" y="3776472"/>
            <a:ext cx="3749040" cy="932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these feels like it came from someone who was actually THERE?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know to sort these?</a:t>
            </a:r>
            <a:endParaRPr lang="en-US" sz="1100" dirty="0"/>
          </a:p>
        </p:txBody>
      </p:sp>
      <p:sp>
        <p:nvSpPr>
          <p:cNvPr id="16" name="Text 14"/>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DISCUSSION — FIND THE PATTERN</a:t>
            </a:r>
            <a:endParaRPr lang="en-US" sz="900" dirty="0"/>
          </a:p>
        </p:txBody>
      </p:sp>
      <p:sp>
        <p:nvSpPr>
          <p:cNvPr id="3" name="Text 1"/>
          <p:cNvSpPr/>
          <p:nvPr/>
        </p:nvSpPr>
        <p:spPr>
          <a:xfrm>
            <a:off x="320040" y="320040"/>
            <a:ext cx="502920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What's the Pattern?</a:t>
            </a:r>
            <a:endParaRPr lang="en-US" sz="2800" dirty="0"/>
          </a:p>
        </p:txBody>
      </p:sp>
      <p:sp>
        <p:nvSpPr>
          <p:cNvPr id="4" name="Text 2"/>
          <p:cNvSpPr/>
          <p:nvPr/>
        </p:nvSpPr>
        <p:spPr>
          <a:xfrm>
            <a:off x="320040" y="914400"/>
            <a:ext cx="5029200" cy="10058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Compare these two:</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The old photograph vs. the textbook about ancient Egypt.</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One was made DURING the time. One was made AFTER.</a:t>
            </a:r>
            <a:endParaRPr lang="en-US" sz="1300" dirty="0"/>
          </a:p>
        </p:txBody>
      </p:sp>
      <p:sp>
        <p:nvSpPr>
          <p:cNvPr id="5" name="Shape 3"/>
          <p:cNvSpPr/>
          <p:nvPr/>
        </p:nvSpPr>
        <p:spPr>
          <a:xfrm>
            <a:off x="320040" y="2011680"/>
            <a:ext cx="2377440" cy="1389888"/>
          </a:xfrm>
          <a:prstGeom prst="roundRect">
            <a:avLst>
              <a:gd name="adj" fmla="val 7895"/>
            </a:avLst>
          </a:prstGeom>
          <a:solidFill>
            <a:srgbClr val="E2E8F4"/>
          </a:solidFill>
          <a:ln w="19050">
            <a:solidFill>
              <a:srgbClr val="B0B8CC"/>
            </a:solidFill>
            <a:prstDash val="dash"/>
          </a:ln>
        </p:spPr>
      </p:sp>
      <p:sp>
        <p:nvSpPr>
          <p:cNvPr id="6" name="Text 4"/>
          <p:cNvSpPr/>
          <p:nvPr/>
        </p:nvSpPr>
        <p:spPr>
          <a:xfrm>
            <a:off x="320040" y="2011680"/>
            <a:ext cx="2377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2286000"/>
            <a:ext cx="2103120" cy="10241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Old 1910 photograph</a:t>
            </a:r>
            <a:endParaRPr lang="en-US" sz="1100" dirty="0"/>
          </a:p>
        </p:txBody>
      </p:sp>
      <p:sp>
        <p:nvSpPr>
          <p:cNvPr id="8" name="Shape 6"/>
          <p:cNvSpPr/>
          <p:nvPr/>
        </p:nvSpPr>
        <p:spPr>
          <a:xfrm>
            <a:off x="2834640" y="2011680"/>
            <a:ext cx="2377440" cy="1389888"/>
          </a:xfrm>
          <a:prstGeom prst="roundRect">
            <a:avLst>
              <a:gd name="adj" fmla="val 7895"/>
            </a:avLst>
          </a:prstGeom>
          <a:solidFill>
            <a:srgbClr val="E2E8F4"/>
          </a:solidFill>
          <a:ln w="19050">
            <a:solidFill>
              <a:srgbClr val="B0B8CC"/>
            </a:solidFill>
            <a:prstDash val="dash"/>
          </a:ln>
        </p:spPr>
      </p:sp>
      <p:sp>
        <p:nvSpPr>
          <p:cNvPr id="9" name="Text 7"/>
          <p:cNvSpPr/>
          <p:nvPr/>
        </p:nvSpPr>
        <p:spPr>
          <a:xfrm>
            <a:off x="2834640" y="2011680"/>
            <a:ext cx="2377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2971800" y="2286000"/>
            <a:ext cx="2103120" cy="10241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textbook — Ancient Egypt chapter</a:t>
            </a:r>
            <a:endParaRPr lang="en-US" sz="1100" dirty="0"/>
          </a:p>
        </p:txBody>
      </p:sp>
      <p:sp>
        <p:nvSpPr>
          <p:cNvPr id="11" name="Text 9"/>
          <p:cNvSpPr/>
          <p:nvPr/>
        </p:nvSpPr>
        <p:spPr>
          <a:xfrm>
            <a:off x="320040" y="3456432"/>
            <a:ext cx="2377440" cy="274320"/>
          </a:xfrm>
          <a:prstGeom prst="rect">
            <a:avLst/>
          </a:prstGeom>
          <a:noFill/>
          <a:ln/>
        </p:spPr>
        <p:txBody>
          <a:bodyPr wrap="square" lIns="0" tIns="0" rIns="0" bIns="0"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DURING</a:t>
            </a:r>
            <a:endParaRPr lang="en-US" sz="1200" dirty="0"/>
          </a:p>
        </p:txBody>
      </p:sp>
      <p:sp>
        <p:nvSpPr>
          <p:cNvPr id="12" name="Text 10"/>
          <p:cNvSpPr/>
          <p:nvPr/>
        </p:nvSpPr>
        <p:spPr>
          <a:xfrm>
            <a:off x="2834640" y="3456432"/>
            <a:ext cx="2377440" cy="274320"/>
          </a:xfrm>
          <a:prstGeom prst="rect">
            <a:avLst/>
          </a:prstGeom>
          <a:noFill/>
          <a:ln/>
        </p:spPr>
        <p:txBody>
          <a:bodyPr wrap="square" lIns="0" tIns="0" rIns="0" bIns="0"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AFTER</a:t>
            </a:r>
            <a:endParaRPr lang="en-US" sz="1200" dirty="0"/>
          </a:p>
        </p:txBody>
      </p:sp>
      <p:sp>
        <p:nvSpPr>
          <p:cNvPr id="13" name="Shape 11"/>
          <p:cNvSpPr/>
          <p:nvPr/>
        </p:nvSpPr>
        <p:spPr>
          <a:xfrm>
            <a:off x="320040" y="3794760"/>
            <a:ext cx="5029200" cy="1005840"/>
          </a:xfrm>
          <a:prstGeom prst="roundRect">
            <a:avLst>
              <a:gd name="adj" fmla="val 10909"/>
            </a:avLst>
          </a:prstGeom>
          <a:solidFill>
            <a:srgbClr val="FFF3DC"/>
          </a:solidFill>
          <a:ln w="19050">
            <a:solidFill>
              <a:srgbClr val="F5E6C8"/>
            </a:solidFill>
            <a:prstDash val="solid"/>
          </a:ln>
        </p:spPr>
      </p:sp>
      <p:sp>
        <p:nvSpPr>
          <p:cNvPr id="14" name="Text 12"/>
          <p:cNvSpPr/>
          <p:nvPr/>
        </p:nvSpPr>
        <p:spPr>
          <a:xfrm>
            <a:off x="457200" y="3849624"/>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57200" y="4050792"/>
            <a:ext cx="475488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photograph is different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textbook belongs in the AFTER group because..."</a:t>
            </a:r>
            <a:endParaRPr lang="en-US" sz="1200" dirty="0"/>
          </a:p>
        </p:txBody>
      </p:sp>
      <p:sp>
        <p:nvSpPr>
          <p:cNvPr id="16" name="Shape 14"/>
          <p:cNvSpPr/>
          <p:nvPr/>
        </p:nvSpPr>
        <p:spPr>
          <a:xfrm>
            <a:off x="5577840" y="914400"/>
            <a:ext cx="3246120" cy="2606040"/>
          </a:xfrm>
          <a:prstGeom prst="roundRect">
            <a:avLst>
              <a:gd name="adj" fmla="val 5263"/>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760720" y="1005840"/>
            <a:ext cx="28803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760720" y="1261872"/>
            <a:ext cx="2880360" cy="2167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the photograph feel different from the textbook?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person who made the textbook have been at ancient Egypt?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rule can we start to make from this pattern?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a:t>
            </a:r>
            <a:endParaRPr lang="en-US" sz="1100" dirty="0"/>
          </a:p>
        </p:txBody>
      </p:sp>
      <p:sp>
        <p:nvSpPr>
          <p:cNvPr id="19" name="Shape 17"/>
          <p:cNvSpPr/>
          <p:nvPr/>
        </p:nvSpPr>
        <p:spPr>
          <a:xfrm>
            <a:off x="5577840" y="3593592"/>
            <a:ext cx="3246120" cy="1207008"/>
          </a:xfrm>
          <a:prstGeom prst="roundRect">
            <a:avLst>
              <a:gd name="adj" fmla="val 9091"/>
            </a:avLst>
          </a:prstGeom>
          <a:solidFill>
            <a:srgbClr val="F0F2F8"/>
          </a:solidFill>
          <a:ln w="12700">
            <a:solidFill>
              <a:srgbClr val="B0B8CC"/>
            </a:solidFill>
            <a:prstDash val="solid"/>
          </a:ln>
        </p:spPr>
      </p:sp>
      <p:sp>
        <p:nvSpPr>
          <p:cNvPr id="20" name="Text 18"/>
          <p:cNvSpPr/>
          <p:nvPr/>
        </p:nvSpPr>
        <p:spPr>
          <a:xfrm>
            <a:off x="5760720" y="3666744"/>
            <a:ext cx="288036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WHAT'S THE RULE?</a:t>
            </a:r>
            <a:endParaRPr lang="en-US" sz="900" dirty="0"/>
          </a:p>
        </p:txBody>
      </p:sp>
      <p:sp>
        <p:nvSpPr>
          <p:cNvPr id="21" name="Text 19"/>
          <p:cNvSpPr/>
          <p:nvPr/>
        </p:nvSpPr>
        <p:spPr>
          <a:xfrm>
            <a:off x="5760720" y="3931920"/>
            <a:ext cx="2880360" cy="795528"/>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"The photograph is different from the textbook because the photograph was made ______."</a:t>
            </a:r>
            <a:endParaRPr lang="en-US" sz="1100" dirty="0"/>
          </a:p>
        </p:txBody>
      </p:sp>
      <p:sp>
        <p:nvSpPr>
          <p:cNvPr id="22" name="Text 20"/>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 y="457200"/>
            <a:ext cx="3840480" cy="393192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20040" y="4572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731520"/>
            <a:ext cx="3566160" cy="3566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Dramatic museum reveal: spotlight on a framed old photograph and handwritten letter on a velvet exhibit stand</a:t>
            </a:r>
            <a:endParaRPr lang="en-US" sz="1100" dirty="0"/>
          </a:p>
        </p:txBody>
      </p:sp>
      <p:sp>
        <p:nvSpPr>
          <p:cNvPr id="7" name="Shape 5"/>
          <p:cNvSpPr/>
          <p:nvPr/>
        </p:nvSpPr>
        <p:spPr>
          <a:xfrm>
            <a:off x="4389120" y="502920"/>
            <a:ext cx="4434840" cy="457200"/>
          </a:xfrm>
          <a:prstGeom prst="roundRect">
            <a:avLst>
              <a:gd name="adj" fmla="val 16000"/>
            </a:avLst>
          </a:prstGeom>
          <a:solidFill>
            <a:srgbClr val="D4943A"/>
          </a:solidFill>
          <a:ln/>
        </p:spPr>
      </p:sp>
      <p:sp>
        <p:nvSpPr>
          <p:cNvPr id="8" name="Text 6"/>
          <p:cNvSpPr/>
          <p:nvPr/>
        </p:nvSpPr>
        <p:spPr>
          <a:xfrm>
            <a:off x="4389120" y="530352"/>
            <a:ext cx="4434840" cy="402336"/>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HALL 1 — UNLOCKED!</a:t>
            </a:r>
            <a:endParaRPr lang="en-US" sz="1400" dirty="0"/>
          </a:p>
        </p:txBody>
      </p:sp>
      <p:sp>
        <p:nvSpPr>
          <p:cNvPr id="9" name="Text 7"/>
          <p:cNvSpPr/>
          <p:nvPr/>
        </p:nvSpPr>
        <p:spPr>
          <a:xfrm>
            <a:off x="4389120" y="1078992"/>
            <a:ext cx="443484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  Primary Source</a:t>
            </a:r>
            <a:endParaRPr lang="en-US" sz="3200" dirty="0"/>
          </a:p>
        </p:txBody>
      </p:sp>
      <p:sp>
        <p:nvSpPr>
          <p:cNvPr id="10" name="Shape 8"/>
          <p:cNvSpPr/>
          <p:nvPr/>
        </p:nvSpPr>
        <p:spPr>
          <a:xfrm>
            <a:off x="4389120" y="1755648"/>
            <a:ext cx="4434840" cy="960120"/>
          </a:xfrm>
          <a:prstGeom prst="roundRect">
            <a:avLst>
              <a:gd name="adj" fmla="val 9524"/>
            </a:avLst>
          </a:prstGeom>
          <a:solidFill>
            <a:srgbClr val="1A2D5A"/>
          </a:solidFill>
          <a:ln w="19050">
            <a:solidFill>
              <a:srgbClr val="55C8E8"/>
            </a:solidFill>
            <a:prstDash val="solid"/>
          </a:ln>
        </p:spPr>
      </p:sp>
      <p:sp>
        <p:nvSpPr>
          <p:cNvPr id="11" name="Text 9"/>
          <p:cNvSpPr/>
          <p:nvPr/>
        </p:nvSpPr>
        <p:spPr>
          <a:xfrm>
            <a:off x="4572000" y="1810512"/>
            <a:ext cx="4069080" cy="82296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Created DURING the time it describes.</a:t>
            </a:r>
            <a:endParaRPr lang="en-US" sz="1500" dirty="0"/>
          </a:p>
          <a:p>
            <a:pPr indent="0" marL="0">
              <a:buNone/>
            </a:pPr>
            <a:r>
              <a:rPr lang="en-US" sz="1500" i="1" dirty="0">
                <a:solidFill>
                  <a:srgbClr val="FFFFFF"/>
                </a:solidFill>
                <a:latin typeface="Cambria" pitchFamily="34" charset="0"/>
                <a:ea typeface="Cambria" pitchFamily="34" charset="-122"/>
                <a:cs typeface="Cambria" pitchFamily="34" charset="-120"/>
              </a:rPr>
              <a:t>Made by someone who was actually there.</a:t>
            </a:r>
            <a:endParaRPr lang="en-US" sz="1500" dirty="0"/>
          </a:p>
        </p:txBody>
      </p:sp>
      <p:sp>
        <p:nvSpPr>
          <p:cNvPr id="12" name="Text 10"/>
          <p:cNvSpPr/>
          <p:nvPr/>
        </p:nvSpPr>
        <p:spPr>
          <a:xfrm>
            <a:off x="4389120" y="2816352"/>
            <a:ext cx="44348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EXAMPLES:</a:t>
            </a:r>
            <a:endParaRPr lang="en-US" sz="900" dirty="0"/>
          </a:p>
        </p:txBody>
      </p:sp>
      <p:sp>
        <p:nvSpPr>
          <p:cNvPr id="13" name="Text 11"/>
          <p:cNvSpPr/>
          <p:nvPr/>
        </p:nvSpPr>
        <p:spPr>
          <a:xfrm>
            <a:off x="4389120" y="3108960"/>
            <a:ext cx="4434840" cy="1325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An old photograph taken in 1910</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letter written by a soldier during a war</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tool or coin from ancient times</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diary entry written at the time of the event</a:t>
            </a:r>
            <a:endParaRPr lang="en-US" sz="1200" dirty="0"/>
          </a:p>
        </p:txBody>
      </p:sp>
      <p:sp>
        <p:nvSpPr>
          <p:cNvPr id="14" name="Text 12"/>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RETRIEVAL CHALLENGE</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Quick Memory Check!</a:t>
            </a:r>
            <a:endParaRPr lang="en-US" sz="2800" dirty="0"/>
          </a:p>
        </p:txBody>
      </p:sp>
      <p:sp>
        <p:nvSpPr>
          <p:cNvPr id="4" name="Shape 2"/>
          <p:cNvSpPr/>
          <p:nvPr/>
        </p:nvSpPr>
        <p:spPr>
          <a:xfrm>
            <a:off x="320040" y="960120"/>
            <a:ext cx="8503920" cy="1170432"/>
          </a:xfrm>
          <a:prstGeom prst="roundRect">
            <a:avLst>
              <a:gd name="adj" fmla="val 11719"/>
            </a:avLst>
          </a:prstGeom>
          <a:solidFill>
            <a:srgbClr val="EAF8FD"/>
          </a:solidFill>
          <a:ln w="25400">
            <a:solidFill>
              <a:srgbClr val="55C8E8"/>
            </a:solidFill>
            <a:prstDash val="solid"/>
          </a:ln>
        </p:spPr>
      </p:sp>
      <p:sp>
        <p:nvSpPr>
          <p:cNvPr id="5" name="Text 3"/>
          <p:cNvSpPr/>
          <p:nvPr/>
        </p:nvSpPr>
        <p:spPr>
          <a:xfrm>
            <a:off x="502920" y="1033272"/>
            <a:ext cx="82296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  RETRIEVAL CHALLENGE</a:t>
            </a:r>
            <a:endParaRPr lang="en-US" sz="900" dirty="0"/>
          </a:p>
        </p:txBody>
      </p:sp>
      <p:sp>
        <p:nvSpPr>
          <p:cNvPr id="6" name="Text 4"/>
          <p:cNvSpPr/>
          <p:nvPr/>
        </p:nvSpPr>
        <p:spPr>
          <a:xfrm>
            <a:off x="502920" y="1325880"/>
            <a:ext cx="8229600" cy="713232"/>
          </a:xfrm>
          <a:prstGeom prst="rect">
            <a:avLst/>
          </a:prstGeom>
          <a:noFill/>
          <a:ln/>
        </p:spPr>
        <p:txBody>
          <a:bodyPr wrap="square" lIns="0" tIns="0" rIns="0" bIns="0" rtlCol="0" anchor="t"/>
          <a:lstStyle/>
          <a:p>
            <a:pPr indent="0" marL="0">
              <a:buNone/>
            </a:pPr>
            <a:r>
              <a:rPr lang="en-US" sz="1500" i="1" dirty="0">
                <a:solidFill>
                  <a:srgbClr val="0E1C42"/>
                </a:solidFill>
                <a:latin typeface="Cambria" pitchFamily="34" charset="0"/>
                <a:ea typeface="Cambria" pitchFamily="34" charset="-122"/>
                <a:cs typeface="Cambria" pitchFamily="34" charset="-120"/>
              </a:rPr>
              <a:t>Cover your screen. Say the definition of a primary source from memory. Then uncover and check.</a:t>
            </a:r>
            <a:endParaRPr lang="en-US" sz="1500" dirty="0"/>
          </a:p>
        </p:txBody>
      </p:sp>
      <p:sp>
        <p:nvSpPr>
          <p:cNvPr id="7" name="Shape 5"/>
          <p:cNvSpPr/>
          <p:nvPr/>
        </p:nvSpPr>
        <p:spPr>
          <a:xfrm>
            <a:off x="320040" y="2240280"/>
            <a:ext cx="5029200" cy="118872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457200" y="2295144"/>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457200" y="2496312"/>
            <a:ext cx="475488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primary source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example of a primary source is..."</a:t>
            </a:r>
            <a:endParaRPr lang="en-US" sz="1200" dirty="0"/>
          </a:p>
        </p:txBody>
      </p:sp>
      <p:sp>
        <p:nvSpPr>
          <p:cNvPr id="10" name="Shape 8"/>
          <p:cNvSpPr/>
          <p:nvPr/>
        </p:nvSpPr>
        <p:spPr>
          <a:xfrm>
            <a:off x="5577840" y="2240280"/>
            <a:ext cx="3246120" cy="1188720"/>
          </a:xfrm>
          <a:prstGeom prst="roundRect">
            <a:avLst>
              <a:gd name="adj" fmla="val 9231"/>
            </a:avLst>
          </a:prstGeom>
          <a:solidFill>
            <a:srgbClr val="E3F8ED"/>
          </a:solidFill>
          <a:ln w="19050">
            <a:solidFill>
              <a:srgbClr val="34B76F"/>
            </a:solidFill>
            <a:prstDash val="solid"/>
          </a:ln>
        </p:spPr>
      </p:sp>
      <p:sp>
        <p:nvSpPr>
          <p:cNvPr id="11" name="Text 9"/>
          <p:cNvSpPr/>
          <p:nvPr/>
        </p:nvSpPr>
        <p:spPr>
          <a:xfrm>
            <a:off x="5760720" y="2313432"/>
            <a:ext cx="28803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CHECK YOURSELF</a:t>
            </a:r>
            <a:endParaRPr lang="en-US" sz="900" dirty="0"/>
          </a:p>
        </p:txBody>
      </p:sp>
      <p:sp>
        <p:nvSpPr>
          <p:cNvPr id="12" name="Text 10"/>
          <p:cNvSpPr/>
          <p:nvPr/>
        </p:nvSpPr>
        <p:spPr>
          <a:xfrm>
            <a:off x="5760720" y="2578608"/>
            <a:ext cx="2880360" cy="777240"/>
          </a:xfrm>
          <a:prstGeom prst="rect">
            <a:avLst/>
          </a:prstGeom>
          <a:noFill/>
          <a:ln/>
        </p:spPr>
        <p:txBody>
          <a:bodyPr wrap="square" lIns="0" tIns="0" rIns="0" bIns="0" rtlCol="0" anchor="t"/>
          <a:lstStyle/>
          <a:p>
            <a:pPr indent="0" marL="0">
              <a:buNone/>
            </a:pPr>
            <a:r>
              <a:rPr lang="en-US" sz="1100" i="1" dirty="0">
                <a:solidFill>
                  <a:srgbClr val="0E1C42"/>
                </a:solidFill>
                <a:latin typeface="Cambria" pitchFamily="34" charset="0"/>
                <a:ea typeface="Cambria" pitchFamily="34" charset="-122"/>
                <a:cs typeface="Cambria" pitchFamily="34" charset="-120"/>
              </a:rPr>
              <a:t>"Created DURING the time — by someone who was actually there."</a:t>
            </a:r>
            <a:endParaRPr lang="en-US" sz="1100" dirty="0"/>
          </a:p>
        </p:txBody>
      </p:sp>
      <p:sp>
        <p:nvSpPr>
          <p:cNvPr id="13" name="Text 11"/>
          <p:cNvSpPr/>
          <p:nvPr/>
        </p:nvSpPr>
        <p:spPr>
          <a:xfrm>
            <a:off x="320040" y="3547872"/>
            <a:ext cx="8503920" cy="41148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Now let's unlock the SECOND type of source...</a:t>
            </a:r>
            <a:endParaRPr lang="en-US" sz="1600" dirty="0"/>
          </a:p>
        </p:txBody>
      </p:sp>
      <p:sp>
        <p:nvSpPr>
          <p:cNvPr id="14" name="Shape 12"/>
          <p:cNvSpPr/>
          <p:nvPr/>
        </p:nvSpPr>
        <p:spPr>
          <a:xfrm>
            <a:off x="3200400" y="4023360"/>
            <a:ext cx="2743200" cy="548640"/>
          </a:xfrm>
          <a:prstGeom prst="roundRect">
            <a:avLst>
              <a:gd name="adj" fmla="val 16667"/>
            </a:avLst>
          </a:prstGeom>
          <a:solidFill>
            <a:srgbClr val="0E1C42"/>
          </a:solidFill>
          <a:ln/>
        </p:spPr>
      </p:sp>
      <p:sp>
        <p:nvSpPr>
          <p:cNvPr id="15" name="Text 13"/>
          <p:cNvSpPr/>
          <p:nvPr/>
        </p:nvSpPr>
        <p:spPr>
          <a:xfrm>
            <a:off x="3200400" y="4023360"/>
            <a:ext cx="27432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Ready? →</a:t>
            </a:r>
            <a:endParaRPr lang="en-US" sz="1500" dirty="0"/>
          </a:p>
        </p:txBody>
      </p:sp>
      <p:sp>
        <p:nvSpPr>
          <p:cNvPr id="16" name="Text 14"/>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 y="457200"/>
            <a:ext cx="3840480" cy="393192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20040" y="4572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731520"/>
            <a:ext cx="3566160" cy="3566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shelf display: modern textbook, encyclopedia volume, documentary film case — Secondary Sources exhibit area</a:t>
            </a:r>
            <a:endParaRPr lang="en-US" sz="1100" dirty="0"/>
          </a:p>
        </p:txBody>
      </p:sp>
      <p:sp>
        <p:nvSpPr>
          <p:cNvPr id="7" name="Shape 5"/>
          <p:cNvSpPr/>
          <p:nvPr/>
        </p:nvSpPr>
        <p:spPr>
          <a:xfrm>
            <a:off x="4389120" y="502920"/>
            <a:ext cx="4434840" cy="457200"/>
          </a:xfrm>
          <a:prstGeom prst="roundRect">
            <a:avLst>
              <a:gd name="adj" fmla="val 16000"/>
            </a:avLst>
          </a:prstGeom>
          <a:solidFill>
            <a:srgbClr val="1A8A7D"/>
          </a:solidFill>
          <a:ln/>
        </p:spPr>
      </p:sp>
      <p:sp>
        <p:nvSpPr>
          <p:cNvPr id="8" name="Text 6"/>
          <p:cNvSpPr/>
          <p:nvPr/>
        </p:nvSpPr>
        <p:spPr>
          <a:xfrm>
            <a:off x="4389120" y="530352"/>
            <a:ext cx="4434840" cy="402336"/>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HALL 2 — UNLOCKED!</a:t>
            </a:r>
            <a:endParaRPr lang="en-US" sz="1400" dirty="0"/>
          </a:p>
        </p:txBody>
      </p:sp>
      <p:sp>
        <p:nvSpPr>
          <p:cNvPr id="9" name="Text 7"/>
          <p:cNvSpPr/>
          <p:nvPr/>
        </p:nvSpPr>
        <p:spPr>
          <a:xfrm>
            <a:off x="4389120" y="1078992"/>
            <a:ext cx="443484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  Secondary Source</a:t>
            </a:r>
            <a:endParaRPr lang="en-US" sz="3000" dirty="0"/>
          </a:p>
        </p:txBody>
      </p:sp>
      <p:sp>
        <p:nvSpPr>
          <p:cNvPr id="10" name="Shape 8"/>
          <p:cNvSpPr/>
          <p:nvPr/>
        </p:nvSpPr>
        <p:spPr>
          <a:xfrm>
            <a:off x="4389120" y="1755648"/>
            <a:ext cx="4434840" cy="960120"/>
          </a:xfrm>
          <a:prstGeom prst="roundRect">
            <a:avLst>
              <a:gd name="adj" fmla="val 9524"/>
            </a:avLst>
          </a:prstGeom>
          <a:solidFill>
            <a:srgbClr val="1A2D5A"/>
          </a:solidFill>
          <a:ln w="19050">
            <a:solidFill>
              <a:srgbClr val="1A8A7D"/>
            </a:solidFill>
            <a:prstDash val="solid"/>
          </a:ln>
        </p:spPr>
      </p:sp>
      <p:sp>
        <p:nvSpPr>
          <p:cNvPr id="11" name="Text 9"/>
          <p:cNvSpPr/>
          <p:nvPr/>
        </p:nvSpPr>
        <p:spPr>
          <a:xfrm>
            <a:off x="4572000" y="1810512"/>
            <a:ext cx="4069080" cy="82296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Created AFTER the time it describes.</a:t>
            </a:r>
            <a:endParaRPr lang="en-US" sz="1500" dirty="0"/>
          </a:p>
          <a:p>
            <a:pPr indent="0" marL="0">
              <a:buNone/>
            </a:pPr>
            <a:r>
              <a:rPr lang="en-US" sz="1500" i="1" dirty="0">
                <a:solidFill>
                  <a:srgbClr val="FFFFFF"/>
                </a:solidFill>
                <a:latin typeface="Cambria" pitchFamily="34" charset="0"/>
                <a:ea typeface="Cambria" pitchFamily="34" charset="-122"/>
                <a:cs typeface="Cambria" pitchFamily="34" charset="-120"/>
              </a:rPr>
              <a:t>Made by someone who STUDIED the past.</a:t>
            </a:r>
            <a:endParaRPr lang="en-US" sz="1500" dirty="0"/>
          </a:p>
        </p:txBody>
      </p:sp>
      <p:sp>
        <p:nvSpPr>
          <p:cNvPr id="12" name="Text 10"/>
          <p:cNvSpPr/>
          <p:nvPr/>
        </p:nvSpPr>
        <p:spPr>
          <a:xfrm>
            <a:off x="4389120" y="2816352"/>
            <a:ext cx="4434840" cy="256032"/>
          </a:xfrm>
          <a:prstGeom prst="rect">
            <a:avLst/>
          </a:prstGeom>
          <a:noFill/>
          <a:ln/>
        </p:spPr>
        <p:txBody>
          <a:bodyPr wrap="square" lIns="0" tIns="0" rIns="0" bIns="0" rtlCol="0" anchor="ctr"/>
          <a:lstStyle/>
          <a:p>
            <a:pPr indent="0" marL="0">
              <a:buNone/>
            </a:pPr>
            <a:r>
              <a:rPr lang="en-US" sz="900" b="1" spc="150" kern="0" dirty="0">
                <a:solidFill>
                  <a:srgbClr val="A0E8DA"/>
                </a:solidFill>
                <a:latin typeface="Calibri" pitchFamily="34" charset="0"/>
                <a:ea typeface="Calibri" pitchFamily="34" charset="-122"/>
                <a:cs typeface="Calibri" pitchFamily="34" charset="-120"/>
              </a:rPr>
              <a:t>EXAMPLES:</a:t>
            </a:r>
            <a:endParaRPr lang="en-US" sz="900" dirty="0"/>
          </a:p>
        </p:txBody>
      </p:sp>
      <p:sp>
        <p:nvSpPr>
          <p:cNvPr id="13" name="Text 11"/>
          <p:cNvSpPr/>
          <p:nvPr/>
        </p:nvSpPr>
        <p:spPr>
          <a:xfrm>
            <a:off x="4389120" y="3108960"/>
            <a:ext cx="4434840" cy="1325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textbook chapter about ancient Egypt</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An encyclopedia article about explorers</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documentary film about the moon landing</a:t>
            </a:r>
            <a:endParaRPr lang="en-US" sz="1200" dirty="0"/>
          </a:p>
          <a:p>
            <a:pPr marL="342900" indent="-342900">
              <a:spcAft>
                <a:spcPts val="300"/>
              </a:spcAft>
              <a:buSzPct val="100000"/>
              <a:buChar char="•"/>
            </a:pPr>
            <a:r>
              <a:rPr lang="en-US" sz="1200" dirty="0">
                <a:solidFill>
                  <a:srgbClr val="A0E8DA"/>
                </a:solidFill>
                <a:latin typeface="Calibri" pitchFamily="34" charset="0"/>
                <a:ea typeface="Calibri" pitchFamily="34" charset="-122"/>
                <a:cs typeface="Calibri" pitchFamily="34" charset="-120"/>
              </a:rPr>
              <a:t>A biography written about someone from history</a:t>
            </a:r>
            <a:endParaRPr lang="en-US" sz="1200" dirty="0"/>
          </a:p>
        </p:txBody>
      </p:sp>
      <p:sp>
        <p:nvSpPr>
          <p:cNvPr id="14" name="Text 12"/>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PRIMARY vs. SECONDARY — SIDE BY SIDE</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What's the ONE Big Difference?</a:t>
            </a:r>
            <a:endParaRPr lang="en-US" sz="2600" dirty="0"/>
          </a:p>
        </p:txBody>
      </p:sp>
      <p:sp>
        <p:nvSpPr>
          <p:cNvPr id="4" name="Shape 2"/>
          <p:cNvSpPr/>
          <p:nvPr/>
        </p:nvSpPr>
        <p:spPr>
          <a:xfrm>
            <a:off x="320040" y="914400"/>
            <a:ext cx="4023360" cy="2926080"/>
          </a:xfrm>
          <a:prstGeom prst="roundRect">
            <a:avLst>
              <a:gd name="adj" fmla="val 4688"/>
            </a:avLst>
          </a:prstGeom>
          <a:solidFill>
            <a:srgbClr val="EAF8FD"/>
          </a:solidFill>
          <a:ln w="31750">
            <a:solidFill>
              <a:srgbClr val="55C8E8"/>
            </a:solidFill>
            <a:prstDash val="solid"/>
          </a:ln>
        </p:spPr>
      </p:sp>
      <p:sp>
        <p:nvSpPr>
          <p:cNvPr id="5" name="Text 3"/>
          <p:cNvSpPr/>
          <p:nvPr/>
        </p:nvSpPr>
        <p:spPr>
          <a:xfrm>
            <a:off x="320040" y="987552"/>
            <a:ext cx="4023360" cy="347472"/>
          </a:xfrm>
          <a:prstGeom prst="rect">
            <a:avLst/>
          </a:prstGeom>
          <a:noFill/>
          <a:ln/>
        </p:spPr>
        <p:txBody>
          <a:bodyPr wrap="square" lIns="0" tIns="0" rIns="0" bIns="0" rtlCol="0" anchor="ctr"/>
          <a:lstStyle/>
          <a:p>
            <a:pPr algn="ctr" indent="0" marL="0">
              <a:buNone/>
            </a:pPr>
            <a:r>
              <a:rPr lang="en-US" sz="1600" b="1" dirty="0">
                <a:solidFill>
                  <a:srgbClr val="1A8A7D"/>
                </a:solidFill>
                <a:latin typeface="Cambria" pitchFamily="34" charset="0"/>
                <a:ea typeface="Cambria" pitchFamily="34" charset="-122"/>
                <a:cs typeface="Cambria" pitchFamily="34" charset="-120"/>
              </a:rPr>
              <a:t>⭐ PRIMARY SOURCE</a:t>
            </a:r>
            <a:endParaRPr lang="en-US" sz="1600" dirty="0"/>
          </a:p>
        </p:txBody>
      </p:sp>
      <p:sp>
        <p:nvSpPr>
          <p:cNvPr id="6" name="Shape 4"/>
          <p:cNvSpPr/>
          <p:nvPr/>
        </p:nvSpPr>
        <p:spPr>
          <a:xfrm>
            <a:off x="594360" y="1389888"/>
            <a:ext cx="3474720" cy="0"/>
          </a:xfrm>
          <a:prstGeom prst="line">
            <a:avLst/>
          </a:prstGeom>
          <a:noFill/>
          <a:ln w="12700">
            <a:solidFill>
              <a:srgbClr val="55C8E8"/>
            </a:solidFill>
            <a:prstDash val="solid"/>
          </a:ln>
        </p:spPr>
      </p:sp>
      <p:sp>
        <p:nvSpPr>
          <p:cNvPr id="7" name="Text 5"/>
          <p:cNvSpPr/>
          <p:nvPr/>
        </p:nvSpPr>
        <p:spPr>
          <a:xfrm>
            <a:off x="502920" y="1481328"/>
            <a:ext cx="3657600" cy="14173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Made DURING the time it describes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Created by someone who was THERE</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Firsthand — like being a witness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Examples: old photos, letters, diaries, coins</a:t>
            </a:r>
            <a:endParaRPr lang="en-US" sz="1200" dirty="0"/>
          </a:p>
        </p:txBody>
      </p:sp>
      <p:sp>
        <p:nvSpPr>
          <p:cNvPr id="8" name="Shape 6"/>
          <p:cNvSpPr/>
          <p:nvPr/>
        </p:nvSpPr>
        <p:spPr>
          <a:xfrm>
            <a:off x="502920" y="2953512"/>
            <a:ext cx="3657600" cy="777240"/>
          </a:xfrm>
          <a:prstGeom prst="roundRect">
            <a:avLst>
              <a:gd name="adj" fmla="val 14118"/>
            </a:avLst>
          </a:prstGeom>
          <a:solidFill>
            <a:srgbClr val="E2E8F4"/>
          </a:solidFill>
          <a:ln w="19050">
            <a:solidFill>
              <a:srgbClr val="B0B8CC"/>
            </a:solidFill>
            <a:prstDash val="dash"/>
          </a:ln>
        </p:spPr>
      </p:sp>
      <p:sp>
        <p:nvSpPr>
          <p:cNvPr id="9" name="Text 7"/>
          <p:cNvSpPr/>
          <p:nvPr/>
        </p:nvSpPr>
        <p:spPr>
          <a:xfrm>
            <a:off x="502920" y="2953512"/>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640080" y="3227832"/>
            <a:ext cx="3383280" cy="411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Soldier's handwritten letter — primary source</a:t>
            </a:r>
            <a:endParaRPr lang="en-US" sz="1100" dirty="0"/>
          </a:p>
        </p:txBody>
      </p:sp>
      <p:sp>
        <p:nvSpPr>
          <p:cNvPr id="11" name="Shape 9"/>
          <p:cNvSpPr/>
          <p:nvPr/>
        </p:nvSpPr>
        <p:spPr>
          <a:xfrm>
            <a:off x="4800600" y="914400"/>
            <a:ext cx="4023360" cy="2926080"/>
          </a:xfrm>
          <a:prstGeom prst="roundRect">
            <a:avLst>
              <a:gd name="adj" fmla="val 4688"/>
            </a:avLst>
          </a:prstGeom>
          <a:solidFill>
            <a:srgbClr val="FFF3DC"/>
          </a:solidFill>
          <a:ln w="31750">
            <a:solidFill>
              <a:srgbClr val="D4943A"/>
            </a:solidFill>
            <a:prstDash val="solid"/>
          </a:ln>
        </p:spPr>
      </p:sp>
      <p:sp>
        <p:nvSpPr>
          <p:cNvPr id="12" name="Text 10"/>
          <p:cNvSpPr/>
          <p:nvPr/>
        </p:nvSpPr>
        <p:spPr>
          <a:xfrm>
            <a:off x="4800600" y="987552"/>
            <a:ext cx="4023360" cy="347472"/>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 SECONDARY SOURCE</a:t>
            </a:r>
            <a:endParaRPr lang="en-US" sz="1600" dirty="0"/>
          </a:p>
        </p:txBody>
      </p:sp>
      <p:sp>
        <p:nvSpPr>
          <p:cNvPr id="13" name="Shape 11"/>
          <p:cNvSpPr/>
          <p:nvPr/>
        </p:nvSpPr>
        <p:spPr>
          <a:xfrm>
            <a:off x="5074920" y="1389888"/>
            <a:ext cx="3474720" cy="0"/>
          </a:xfrm>
          <a:prstGeom prst="line">
            <a:avLst/>
          </a:prstGeom>
          <a:noFill/>
          <a:ln w="12700">
            <a:solidFill>
              <a:srgbClr val="D4943A"/>
            </a:solidFill>
            <a:prstDash val="solid"/>
          </a:ln>
        </p:spPr>
      </p:sp>
      <p:sp>
        <p:nvSpPr>
          <p:cNvPr id="14" name="Text 12"/>
          <p:cNvSpPr/>
          <p:nvPr/>
        </p:nvSpPr>
        <p:spPr>
          <a:xfrm>
            <a:off x="4983480" y="1481328"/>
            <a:ext cx="3657600" cy="14173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Made AFTER the time it describes</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Created by someone who STUDIED the past</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Secondhand — like reading a summary</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Examples: textbooks, encyclopedias, documentaries</a:t>
            </a:r>
            <a:endParaRPr lang="en-US" sz="1200" dirty="0"/>
          </a:p>
        </p:txBody>
      </p:sp>
      <p:sp>
        <p:nvSpPr>
          <p:cNvPr id="15" name="Shape 13"/>
          <p:cNvSpPr/>
          <p:nvPr/>
        </p:nvSpPr>
        <p:spPr>
          <a:xfrm>
            <a:off x="4983480" y="2953512"/>
            <a:ext cx="3657600" cy="777240"/>
          </a:xfrm>
          <a:prstGeom prst="roundRect">
            <a:avLst>
              <a:gd name="adj" fmla="val 14118"/>
            </a:avLst>
          </a:prstGeom>
          <a:solidFill>
            <a:srgbClr val="E2E8F4"/>
          </a:solidFill>
          <a:ln w="19050">
            <a:solidFill>
              <a:srgbClr val="B0B8CC"/>
            </a:solidFill>
            <a:prstDash val="dash"/>
          </a:ln>
        </p:spPr>
      </p:sp>
      <p:sp>
        <p:nvSpPr>
          <p:cNvPr id="16" name="Text 14"/>
          <p:cNvSpPr/>
          <p:nvPr/>
        </p:nvSpPr>
        <p:spPr>
          <a:xfrm>
            <a:off x="4983480" y="2953512"/>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5120640" y="3227832"/>
            <a:ext cx="3383280" cy="411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colorful history textbook — secondary source</a:t>
            </a:r>
            <a:endParaRPr lang="en-US" sz="1100" dirty="0"/>
          </a:p>
        </p:txBody>
      </p:sp>
      <p:sp>
        <p:nvSpPr>
          <p:cNvPr id="18" name="Shape 16"/>
          <p:cNvSpPr/>
          <p:nvPr/>
        </p:nvSpPr>
        <p:spPr>
          <a:xfrm>
            <a:off x="320040" y="3913632"/>
            <a:ext cx="8503920" cy="896112"/>
          </a:xfrm>
          <a:prstGeom prst="roundRect">
            <a:avLst>
              <a:gd name="adj" fmla="val 12245"/>
            </a:avLst>
          </a:prstGeom>
          <a:solidFill>
            <a:srgbClr val="FFF3DC"/>
          </a:solidFill>
          <a:ln w="19050">
            <a:solidFill>
              <a:srgbClr val="F5E6C8"/>
            </a:solidFill>
            <a:prstDash val="solid"/>
          </a:ln>
        </p:spPr>
      </p:sp>
      <p:sp>
        <p:nvSpPr>
          <p:cNvPr id="19" name="Text 17"/>
          <p:cNvSpPr/>
          <p:nvPr/>
        </p:nvSpPr>
        <p:spPr>
          <a:xfrm>
            <a:off x="457200" y="3968496"/>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457200" y="4169664"/>
            <a:ext cx="822960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biggest difference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"I'd rather use a primary source to... because..."</a:t>
            </a:r>
            <a:endParaRPr lang="en-US" sz="1200" dirty="0"/>
          </a:p>
        </p:txBody>
      </p:sp>
      <p:sp>
        <p:nvSpPr>
          <p:cNvPr id="21" name="Text 19"/>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OPTI SAYS...</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You're Making History Right Now!</a:t>
            </a:r>
            <a:endParaRPr lang="en-US" sz="2800" dirty="0"/>
          </a:p>
        </p:txBody>
      </p:sp>
      <p:sp>
        <p:nvSpPr>
          <p:cNvPr id="4" name="Shape 2"/>
          <p:cNvSpPr/>
          <p:nvPr/>
        </p:nvSpPr>
        <p:spPr>
          <a:xfrm>
            <a:off x="320040" y="960120"/>
            <a:ext cx="2743200" cy="32004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320040" y="960120"/>
            <a:ext cx="2743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1234440"/>
            <a:ext cx="246888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Opti (Optima Academy mascot) holding a notebook and magnifying glass, looking excited and pointing</a:t>
            </a:r>
            <a:endParaRPr lang="en-US" sz="1100" dirty="0"/>
          </a:p>
        </p:txBody>
      </p:sp>
      <p:sp>
        <p:nvSpPr>
          <p:cNvPr id="7" name="Shape 5"/>
          <p:cNvSpPr/>
          <p:nvPr/>
        </p:nvSpPr>
        <p:spPr>
          <a:xfrm>
            <a:off x="3291840" y="960120"/>
            <a:ext cx="5440680" cy="2331720"/>
          </a:xfrm>
          <a:prstGeom prst="roundRect">
            <a:avLst>
              <a:gd name="adj" fmla="val 5882"/>
            </a:avLst>
          </a:prstGeom>
          <a:solidFill>
            <a:srgbClr val="FFF3DC"/>
          </a:solidFill>
          <a:ln w="25400">
            <a:solidFill>
              <a:srgbClr val="D4943A"/>
            </a:solidFill>
            <a:prstDash val="solid"/>
          </a:ln>
        </p:spPr>
      </p:sp>
      <p:sp>
        <p:nvSpPr>
          <p:cNvPr id="8" name="Text 6"/>
          <p:cNvSpPr/>
          <p:nvPr/>
        </p:nvSpPr>
        <p:spPr>
          <a:xfrm>
            <a:off x="3474720" y="1033272"/>
            <a:ext cx="50749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9" name="Text 7"/>
          <p:cNvSpPr/>
          <p:nvPr/>
        </p:nvSpPr>
        <p:spPr>
          <a:xfrm>
            <a:off x="3474720" y="1325880"/>
            <a:ext cx="5074920" cy="41148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 primary source doesn't have to be old!"</a:t>
            </a:r>
            <a:endParaRPr lang="en-US" sz="1800" dirty="0"/>
          </a:p>
        </p:txBody>
      </p:sp>
      <p:sp>
        <p:nvSpPr>
          <p:cNvPr id="10" name="Text 8"/>
          <p:cNvSpPr/>
          <p:nvPr/>
        </p:nvSpPr>
        <p:spPr>
          <a:xfrm>
            <a:off x="3474720" y="1783080"/>
            <a:ext cx="5074920" cy="1389888"/>
          </a:xfrm>
          <a:prstGeom prst="rect">
            <a:avLst/>
          </a:prstGeom>
          <a:noFill/>
          <a:ln/>
        </p:spPr>
        <p:txBody>
          <a:bodyPr wrap="square" lIns="0" tIns="0" rIns="0" bIns="0" rtlCol="0" anchor="t"/>
          <a:lstStyle/>
          <a:p>
            <a:pPr indent="0" marL="0">
              <a:buNone/>
            </a:pPr>
            <a:r>
              <a:rPr lang="en-US" sz="1300" dirty="0">
                <a:solidFill>
                  <a:srgbClr val="5A4A3A"/>
                </a:solidFill>
                <a:latin typeface="Calibri" pitchFamily="34" charset="0"/>
                <a:ea typeface="Calibri" pitchFamily="34" charset="-122"/>
                <a:cs typeface="Calibri" pitchFamily="34" charset="-120"/>
              </a:rPr>
              <a:t>If you wrote a diary entry about your day TODAY, it would be a primary source for future historians studying life in the 2020s.</a:t>
            </a:r>
            <a:endParaRPr lang="en-US" sz="1300" dirty="0"/>
          </a:p>
          <a:p>
            <a:pPr indent="0" marL="0">
              <a:buNone/>
            </a:pPr>
            <a:endParaRPr lang="en-US" sz="1300" dirty="0"/>
          </a:p>
          <a:p>
            <a:pPr indent="0" marL="0">
              <a:buNone/>
            </a:pPr>
            <a:r>
              <a:rPr lang="en-US" sz="1300" dirty="0">
                <a:solidFill>
                  <a:srgbClr val="5A4A3A"/>
                </a:solidFill>
                <a:latin typeface="Calibri" pitchFamily="34" charset="0"/>
                <a:ea typeface="Calibri" pitchFamily="34" charset="-122"/>
                <a:cs typeface="Calibri" pitchFamily="34" charset="-120"/>
              </a:rPr>
              <a:t>You're creating primary sources right now!</a:t>
            </a:r>
            <a:endParaRPr lang="en-US" sz="1300" dirty="0"/>
          </a:p>
        </p:txBody>
      </p:sp>
      <p:sp>
        <p:nvSpPr>
          <p:cNvPr id="11" name="Shape 9"/>
          <p:cNvSpPr/>
          <p:nvPr/>
        </p:nvSpPr>
        <p:spPr>
          <a:xfrm>
            <a:off x="3291840" y="3383280"/>
            <a:ext cx="5440680" cy="1298448"/>
          </a:xfrm>
          <a:prstGeom prst="roundRect">
            <a:avLst>
              <a:gd name="adj" fmla="val 8451"/>
            </a:avLst>
          </a:prstGeom>
          <a:solidFill>
            <a:srgbClr val="E3F8ED"/>
          </a:solidFill>
          <a:ln w="19050">
            <a:solidFill>
              <a:srgbClr val="34B76F"/>
            </a:solidFill>
            <a:prstDash val="solid"/>
          </a:ln>
        </p:spPr>
      </p:sp>
      <p:sp>
        <p:nvSpPr>
          <p:cNvPr id="12" name="Text 10"/>
          <p:cNvSpPr/>
          <p:nvPr/>
        </p:nvSpPr>
        <p:spPr>
          <a:xfrm>
            <a:off x="3474720" y="3456432"/>
            <a:ext cx="507492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THEN &amp; NOW</a:t>
            </a:r>
            <a:endParaRPr lang="en-US" sz="900" dirty="0"/>
          </a:p>
        </p:txBody>
      </p:sp>
      <p:sp>
        <p:nvSpPr>
          <p:cNvPr id="13" name="Text 11"/>
          <p:cNvSpPr/>
          <p:nvPr/>
        </p:nvSpPr>
        <p:spPr>
          <a:xfrm>
            <a:off x="3474720" y="3721608"/>
            <a:ext cx="5074920" cy="88696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In the past, families kept diaries and photo albums. Today, people post photos online and send texts. What stayed the SAME about the human need to keep records?</a:t>
            </a:r>
            <a:endParaRPr lang="en-US" sz="1200" dirty="0"/>
          </a:p>
        </p:txBody>
      </p:sp>
      <p:sp>
        <p:nvSpPr>
          <p:cNvPr id="14" name="Text 12"/>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TEACHER MODEL — WATCH ME THINK</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Watch Me Sort This One</a:t>
            </a:r>
            <a:endParaRPr lang="en-US" sz="2700" dirty="0"/>
          </a:p>
        </p:txBody>
      </p:sp>
      <p:sp>
        <p:nvSpPr>
          <p:cNvPr id="4" name="Shape 2"/>
          <p:cNvSpPr/>
          <p:nvPr/>
        </p:nvSpPr>
        <p:spPr>
          <a:xfrm>
            <a:off x="320040" y="914400"/>
            <a:ext cx="3474720" cy="3017520"/>
          </a:xfrm>
          <a:prstGeom prst="roundRect">
            <a:avLst>
              <a:gd name="adj" fmla="val 3636"/>
            </a:avLst>
          </a:prstGeom>
          <a:solidFill>
            <a:srgbClr val="E2E8F4"/>
          </a:solidFill>
          <a:ln w="19050">
            <a:solidFill>
              <a:srgbClr val="B0B8CC"/>
            </a:solidFill>
            <a:prstDash val="dash"/>
          </a:ln>
        </p:spPr>
      </p:sp>
      <p:sp>
        <p:nvSpPr>
          <p:cNvPr id="5" name="Text 3"/>
          <p:cNvSpPr/>
          <p:nvPr/>
        </p:nvSpPr>
        <p:spPr>
          <a:xfrm>
            <a:off x="320040" y="91440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1188720"/>
            <a:ext cx="3200400" cy="2651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Black-and-white photograph from 1910 — everyday life scene: city street, classroom, or family gathering</a:t>
            </a:r>
            <a:endParaRPr lang="en-US" sz="1100" dirty="0"/>
          </a:p>
        </p:txBody>
      </p:sp>
      <p:sp>
        <p:nvSpPr>
          <p:cNvPr id="7" name="Text 5"/>
          <p:cNvSpPr/>
          <p:nvPr/>
        </p:nvSpPr>
        <p:spPr>
          <a:xfrm>
            <a:off x="320040" y="3977640"/>
            <a:ext cx="3474720" cy="347472"/>
          </a:xfrm>
          <a:prstGeom prst="rect">
            <a:avLst/>
          </a:prstGeom>
          <a:noFill/>
          <a:ln/>
        </p:spPr>
        <p:txBody>
          <a:bodyPr wrap="square" lIns="0" tIns="0" rIns="0" bIns="0" rtlCol="0" anchor="ctr"/>
          <a:lstStyle/>
          <a:p>
            <a:pPr algn="ctr" indent="0" marL="0">
              <a:buNone/>
            </a:pPr>
            <a:r>
              <a:rPr lang="en-US" sz="1300" b="1" dirty="0">
                <a:solidFill>
                  <a:srgbClr val="1A8A7D"/>
                </a:solidFill>
                <a:latin typeface="Cambria" pitchFamily="34" charset="0"/>
                <a:ea typeface="Cambria" pitchFamily="34" charset="-122"/>
                <a:cs typeface="Cambria" pitchFamily="34" charset="-120"/>
              </a:rPr>
              <a:t>An old photograph from 1910</a:t>
            </a:r>
            <a:endParaRPr lang="en-US" sz="1300" dirty="0"/>
          </a:p>
        </p:txBody>
      </p:sp>
      <p:sp>
        <p:nvSpPr>
          <p:cNvPr id="8" name="Shape 6"/>
          <p:cNvSpPr/>
          <p:nvPr/>
        </p:nvSpPr>
        <p:spPr>
          <a:xfrm>
            <a:off x="4023360" y="914400"/>
            <a:ext cx="4709160" cy="2377440"/>
          </a:xfrm>
          <a:prstGeom prst="roundRect">
            <a:avLst>
              <a:gd name="adj" fmla="val 4615"/>
            </a:avLst>
          </a:prstGeom>
          <a:solidFill>
            <a:srgbClr val="EAF8FD"/>
          </a:solidFill>
          <a:ln w="25400">
            <a:solidFill>
              <a:srgbClr val="55C8E8"/>
            </a:solidFill>
            <a:prstDash val="solid"/>
          </a:ln>
        </p:spPr>
      </p:sp>
      <p:sp>
        <p:nvSpPr>
          <p:cNvPr id="9" name="Text 7"/>
          <p:cNvSpPr/>
          <p:nvPr/>
        </p:nvSpPr>
        <p:spPr>
          <a:xfrm>
            <a:off x="4206240" y="987552"/>
            <a:ext cx="43434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ALOUD — Teacher's 3 Questions</a:t>
            </a:r>
            <a:endParaRPr lang="en-US" sz="900" dirty="0"/>
          </a:p>
        </p:txBody>
      </p:sp>
      <p:sp>
        <p:nvSpPr>
          <p:cNvPr id="10" name="Text 8"/>
          <p:cNvSpPr/>
          <p:nvPr/>
        </p:nvSpPr>
        <p:spPr>
          <a:xfrm>
            <a:off x="4206240" y="1298448"/>
            <a:ext cx="4343400" cy="256032"/>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1. Was it made DURING or AFTER the time it shows?</a:t>
            </a:r>
            <a:endParaRPr lang="en-US" sz="1100" dirty="0"/>
          </a:p>
        </p:txBody>
      </p:sp>
      <p:sp>
        <p:nvSpPr>
          <p:cNvPr id="11" name="Text 9"/>
          <p:cNvSpPr/>
          <p:nvPr/>
        </p:nvSpPr>
        <p:spPr>
          <a:xfrm>
            <a:off x="4206240" y="1572768"/>
            <a:ext cx="4343400" cy="2743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This photo was taken IN 1910 — during that time. ✓ DURING</a:t>
            </a:r>
            <a:endParaRPr lang="en-US" sz="1100" dirty="0"/>
          </a:p>
        </p:txBody>
      </p:sp>
      <p:sp>
        <p:nvSpPr>
          <p:cNvPr id="12" name="Text 10"/>
          <p:cNvSpPr/>
          <p:nvPr/>
        </p:nvSpPr>
        <p:spPr>
          <a:xfrm>
            <a:off x="4206240" y="1965960"/>
            <a:ext cx="4343400" cy="256032"/>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2. Was the person who made it actually THERE?</a:t>
            </a:r>
            <a:endParaRPr lang="en-US" sz="1100" dirty="0"/>
          </a:p>
        </p:txBody>
      </p:sp>
      <p:sp>
        <p:nvSpPr>
          <p:cNvPr id="13" name="Text 11"/>
          <p:cNvSpPr/>
          <p:nvPr/>
        </p:nvSpPr>
        <p:spPr>
          <a:xfrm>
            <a:off x="4206240" y="2240280"/>
            <a:ext cx="4343400" cy="2743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Yes — the photographer was standing right there. ✓ THERE</a:t>
            </a:r>
            <a:endParaRPr lang="en-US" sz="1100" dirty="0"/>
          </a:p>
        </p:txBody>
      </p:sp>
      <p:sp>
        <p:nvSpPr>
          <p:cNvPr id="14" name="Text 12"/>
          <p:cNvSpPr/>
          <p:nvPr/>
        </p:nvSpPr>
        <p:spPr>
          <a:xfrm>
            <a:off x="4206240" y="2633472"/>
            <a:ext cx="4343400" cy="256032"/>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3. So this is a...</a:t>
            </a:r>
            <a:endParaRPr lang="en-US" sz="1100" dirty="0"/>
          </a:p>
        </p:txBody>
      </p:sp>
      <p:sp>
        <p:nvSpPr>
          <p:cNvPr id="15" name="Text 13"/>
          <p:cNvSpPr/>
          <p:nvPr/>
        </p:nvSpPr>
        <p:spPr>
          <a:xfrm>
            <a:off x="4206240" y="2907792"/>
            <a:ext cx="4343400" cy="2743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PRIMARY SOURCE! ⭐ Firsthand clue from 1910.</a:t>
            </a:r>
            <a:endParaRPr lang="en-US" sz="1100" dirty="0"/>
          </a:p>
        </p:txBody>
      </p:sp>
      <p:sp>
        <p:nvSpPr>
          <p:cNvPr id="16" name="Shape 14"/>
          <p:cNvSpPr/>
          <p:nvPr/>
        </p:nvSpPr>
        <p:spPr>
          <a:xfrm>
            <a:off x="4023360" y="3364992"/>
            <a:ext cx="4709160" cy="1298448"/>
          </a:xfrm>
          <a:prstGeom prst="roundRect">
            <a:avLst>
              <a:gd name="adj" fmla="val 10563"/>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4206240" y="3456432"/>
            <a:ext cx="43434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4206240" y="3712464"/>
            <a:ext cx="4343400" cy="85953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I miss any steps?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I have sorted this differently?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 mattered MOST in my decision?</a:t>
            </a:r>
            <a:endParaRPr lang="en-US" sz="1100" dirty="0"/>
          </a:p>
        </p:txBody>
      </p:sp>
      <p:sp>
        <p:nvSpPr>
          <p:cNvPr id="19" name="Text 17"/>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WE TRY TOGETHER</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Let's Sort This One Together</a:t>
            </a:r>
            <a:endParaRPr lang="en-US" sz="2700" dirty="0"/>
          </a:p>
        </p:txBody>
      </p:sp>
      <p:sp>
        <p:nvSpPr>
          <p:cNvPr id="4" name="Shape 2"/>
          <p:cNvSpPr/>
          <p:nvPr/>
        </p:nvSpPr>
        <p:spPr>
          <a:xfrm>
            <a:off x="320040" y="914400"/>
            <a:ext cx="3474720" cy="2487168"/>
          </a:xfrm>
          <a:prstGeom prst="roundRect">
            <a:avLst>
              <a:gd name="adj" fmla="val 4412"/>
            </a:avLst>
          </a:prstGeom>
          <a:solidFill>
            <a:srgbClr val="E2E8F4"/>
          </a:solidFill>
          <a:ln w="19050">
            <a:solidFill>
              <a:srgbClr val="B0B8CC"/>
            </a:solidFill>
            <a:prstDash val="dash"/>
          </a:ln>
        </p:spPr>
      </p:sp>
      <p:sp>
        <p:nvSpPr>
          <p:cNvPr id="5" name="Text 3"/>
          <p:cNvSpPr/>
          <p:nvPr/>
        </p:nvSpPr>
        <p:spPr>
          <a:xfrm>
            <a:off x="320040" y="91440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1188720"/>
            <a:ext cx="3200400" cy="212140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Aged handwritten letter on yellowed paper — soldier's letter home from wartime, visible handwriting and date</a:t>
            </a:r>
            <a:endParaRPr lang="en-US" sz="1100" dirty="0"/>
          </a:p>
        </p:txBody>
      </p:sp>
      <p:sp>
        <p:nvSpPr>
          <p:cNvPr id="7" name="Text 5"/>
          <p:cNvSpPr/>
          <p:nvPr/>
        </p:nvSpPr>
        <p:spPr>
          <a:xfrm>
            <a:off x="320040" y="3447288"/>
            <a:ext cx="3474720" cy="365760"/>
          </a:xfrm>
          <a:prstGeom prst="rect">
            <a:avLst/>
          </a:prstGeom>
          <a:noFill/>
          <a:ln/>
        </p:spPr>
        <p:txBody>
          <a:bodyPr wrap="square" lIns="0" tIns="0" rIns="0" bIns="0"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A letter a soldier wrote home during the war</a:t>
            </a:r>
            <a:endParaRPr lang="en-US" sz="1200" dirty="0"/>
          </a:p>
        </p:txBody>
      </p:sp>
      <p:sp>
        <p:nvSpPr>
          <p:cNvPr id="8" name="Shape 6"/>
          <p:cNvSpPr/>
          <p:nvPr/>
        </p:nvSpPr>
        <p:spPr>
          <a:xfrm>
            <a:off x="4023360" y="914400"/>
            <a:ext cx="4709160" cy="2057400"/>
          </a:xfrm>
          <a:prstGeom prst="roundRect">
            <a:avLst>
              <a:gd name="adj" fmla="val 5333"/>
            </a:avLst>
          </a:prstGeom>
          <a:solidFill>
            <a:srgbClr val="F0F2F8"/>
          </a:solidFill>
          <a:ln w="19050">
            <a:solidFill>
              <a:srgbClr val="B0B8CC"/>
            </a:solidFill>
            <a:prstDash val="solid"/>
          </a:ln>
        </p:spPr>
      </p:sp>
      <p:sp>
        <p:nvSpPr>
          <p:cNvPr id="9" name="Text 7"/>
          <p:cNvSpPr/>
          <p:nvPr/>
        </p:nvSpPr>
        <p:spPr>
          <a:xfrm>
            <a:off x="4206240" y="987552"/>
            <a:ext cx="434340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SORT IT TOGETHER</a:t>
            </a:r>
            <a:endParaRPr lang="en-US" sz="900" dirty="0"/>
          </a:p>
        </p:txBody>
      </p:sp>
      <p:sp>
        <p:nvSpPr>
          <p:cNvPr id="10" name="Text 8"/>
          <p:cNvSpPr/>
          <p:nvPr/>
        </p:nvSpPr>
        <p:spPr>
          <a:xfrm>
            <a:off x="4206240" y="1280160"/>
            <a:ext cx="4343400" cy="1618488"/>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0E1C42"/>
                </a:solidFill>
                <a:latin typeface="Calibri" pitchFamily="34" charset="0"/>
                <a:ea typeface="Calibri" pitchFamily="34" charset="-122"/>
                <a:cs typeface="Calibri" pitchFamily="34" charset="-120"/>
              </a:rPr>
              <a:t>Q1: Was this letter written during or after the war?</a:t>
            </a:r>
            <a:endParaRPr lang="en-US" sz="1200" dirty="0"/>
          </a:p>
          <a:p>
            <a:pPr marL="342900" indent="-342900">
              <a:spcAft>
                <a:spcPts val="900"/>
              </a:spcAft>
              <a:buSzPct val="100000"/>
              <a:buChar char="•"/>
            </a:pPr>
            <a:r>
              <a:rPr lang="en-US" sz="1200" dirty="0">
                <a:solidFill>
                  <a:srgbClr val="0E1C42"/>
                </a:solidFill>
                <a:latin typeface="Calibri" pitchFamily="34" charset="0"/>
                <a:ea typeface="Calibri" pitchFamily="34" charset="-122"/>
                <a:cs typeface="Calibri" pitchFamily="34" charset="-120"/>
              </a:rPr>
              <a:t>Q2: Was the soldier there when he wrote it?</a:t>
            </a:r>
            <a:endParaRPr lang="en-US" sz="1200" dirty="0"/>
          </a:p>
          <a:p>
            <a:pPr marL="342900" indent="-342900">
              <a:spcAft>
                <a:spcPts val="900"/>
              </a:spcAft>
              <a:buSzPct val="100000"/>
              <a:buChar char="•"/>
            </a:pPr>
            <a:r>
              <a:rPr lang="en-US" sz="1200" dirty="0">
                <a:solidFill>
                  <a:srgbClr val="0E1C42"/>
                </a:solidFill>
                <a:latin typeface="Calibri" pitchFamily="34" charset="0"/>
                <a:ea typeface="Calibri" pitchFamily="34" charset="-122"/>
                <a:cs typeface="Calibri" pitchFamily="34" charset="-120"/>
              </a:rPr>
              <a:t>Q3: Does this meet the test for a primary source?</a:t>
            </a:r>
            <a:endParaRPr lang="en-US" sz="1200" dirty="0"/>
          </a:p>
        </p:txBody>
      </p:sp>
      <p:sp>
        <p:nvSpPr>
          <p:cNvPr id="11" name="Shape 9"/>
          <p:cNvSpPr/>
          <p:nvPr/>
        </p:nvSpPr>
        <p:spPr>
          <a:xfrm>
            <a:off x="4023360" y="3044952"/>
            <a:ext cx="4709160" cy="1188720"/>
          </a:xfrm>
          <a:prstGeom prst="roundRect">
            <a:avLst>
              <a:gd name="adj" fmla="val 9231"/>
            </a:avLst>
          </a:prstGeom>
          <a:solidFill>
            <a:srgbClr val="FFF3DC"/>
          </a:solidFill>
          <a:ln w="19050">
            <a:solidFill>
              <a:srgbClr val="F5E6C8"/>
            </a:solidFill>
            <a:prstDash val="solid"/>
          </a:ln>
        </p:spPr>
      </p:sp>
      <p:sp>
        <p:nvSpPr>
          <p:cNvPr id="12" name="Text 10"/>
          <p:cNvSpPr/>
          <p:nvPr/>
        </p:nvSpPr>
        <p:spPr>
          <a:xfrm>
            <a:off x="4160520" y="3099816"/>
            <a:ext cx="4434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160520" y="3300984"/>
            <a:ext cx="443484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sort this as a ___ source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clue is..."</a:t>
            </a:r>
            <a:endParaRPr lang="en-US" sz="1200" dirty="0"/>
          </a:p>
        </p:txBody>
      </p:sp>
      <p:sp>
        <p:nvSpPr>
          <p:cNvPr id="14" name="Shape 12"/>
          <p:cNvSpPr/>
          <p:nvPr/>
        </p:nvSpPr>
        <p:spPr>
          <a:xfrm>
            <a:off x="320040" y="3886200"/>
            <a:ext cx="850392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02920" y="3977640"/>
            <a:ext cx="8138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02920" y="4233672"/>
            <a:ext cx="813816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 tells you WHEN it was written?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soldier writing it mean he was there?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family member copied it 50 years later, would it still be primary?</a:t>
            </a:r>
            <a:endParaRPr lang="en-US" sz="1100" dirty="0"/>
          </a:p>
        </p:txBody>
      </p:sp>
      <p:sp>
        <p:nvSpPr>
          <p:cNvPr id="17" name="Text 15"/>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YOUR TURN — WITH SUPPORT</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Now You Try — Use Your Checklist</a:t>
            </a:r>
            <a:endParaRPr lang="en-US" sz="2700" dirty="0"/>
          </a:p>
        </p:txBody>
      </p:sp>
      <p:sp>
        <p:nvSpPr>
          <p:cNvPr id="4" name="Shape 2"/>
          <p:cNvSpPr/>
          <p:nvPr/>
        </p:nvSpPr>
        <p:spPr>
          <a:xfrm>
            <a:off x="320040" y="914400"/>
            <a:ext cx="3474720" cy="2487168"/>
          </a:xfrm>
          <a:prstGeom prst="roundRect">
            <a:avLst>
              <a:gd name="adj" fmla="val 4412"/>
            </a:avLst>
          </a:prstGeom>
          <a:solidFill>
            <a:srgbClr val="E2E8F4"/>
          </a:solidFill>
          <a:ln w="19050">
            <a:solidFill>
              <a:srgbClr val="B0B8CC"/>
            </a:solidFill>
            <a:prstDash val="dash"/>
          </a:ln>
        </p:spPr>
      </p:sp>
      <p:sp>
        <p:nvSpPr>
          <p:cNvPr id="5" name="Text 3"/>
          <p:cNvSpPr/>
          <p:nvPr/>
        </p:nvSpPr>
        <p:spPr>
          <a:xfrm>
            <a:off x="320040" y="91440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1188720"/>
            <a:ext cx="3200400" cy="212140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DVD case or movie poster for a documentary about the Apollo moon landing — clearly a modern production</a:t>
            </a:r>
            <a:endParaRPr lang="en-US" sz="1100" dirty="0"/>
          </a:p>
        </p:txBody>
      </p:sp>
      <p:sp>
        <p:nvSpPr>
          <p:cNvPr id="7" name="Text 5"/>
          <p:cNvSpPr/>
          <p:nvPr/>
        </p:nvSpPr>
        <p:spPr>
          <a:xfrm>
            <a:off x="320040" y="3447288"/>
            <a:ext cx="3474720" cy="365760"/>
          </a:xfrm>
          <a:prstGeom prst="rect">
            <a:avLst/>
          </a:prstGeom>
          <a:noFill/>
          <a:ln/>
        </p:spPr>
        <p:txBody>
          <a:bodyPr wrap="square" lIns="0" tIns="0" rIns="0" bIns="0"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A documentary about the moon landing</a:t>
            </a:r>
            <a:endParaRPr lang="en-US" sz="1200" dirty="0"/>
          </a:p>
        </p:txBody>
      </p:sp>
      <p:sp>
        <p:nvSpPr>
          <p:cNvPr id="8" name="Shape 6"/>
          <p:cNvSpPr/>
          <p:nvPr/>
        </p:nvSpPr>
        <p:spPr>
          <a:xfrm>
            <a:off x="4023360" y="914400"/>
            <a:ext cx="4709160" cy="2377440"/>
          </a:xfrm>
          <a:prstGeom prst="roundRect">
            <a:avLst>
              <a:gd name="adj" fmla="val 4615"/>
            </a:avLst>
          </a:prstGeom>
          <a:solidFill>
            <a:srgbClr val="FFF3DC"/>
          </a:solidFill>
          <a:ln w="19050">
            <a:solidFill>
              <a:srgbClr val="D4943A"/>
            </a:solidFill>
            <a:prstDash val="solid"/>
          </a:ln>
        </p:spPr>
      </p:sp>
      <p:sp>
        <p:nvSpPr>
          <p:cNvPr id="9" name="Text 7"/>
          <p:cNvSpPr/>
          <p:nvPr/>
        </p:nvSpPr>
        <p:spPr>
          <a:xfrm>
            <a:off x="4206240" y="987552"/>
            <a:ext cx="43434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SORTING CHECKLIST</a:t>
            </a:r>
            <a:endParaRPr lang="en-US" sz="900" dirty="0"/>
          </a:p>
        </p:txBody>
      </p:sp>
      <p:sp>
        <p:nvSpPr>
          <p:cNvPr id="10" name="Text 8"/>
          <p:cNvSpPr/>
          <p:nvPr/>
        </p:nvSpPr>
        <p:spPr>
          <a:xfrm>
            <a:off x="4206240" y="1280160"/>
            <a:ext cx="4343400" cy="1920240"/>
          </a:xfrm>
          <a:prstGeom prst="rect">
            <a:avLst/>
          </a:prstGeom>
          <a:noFill/>
          <a:ln/>
        </p:spPr>
        <p:txBody>
          <a:bodyPr wrap="square" lIns="0" tIns="0" rIns="0" bIns="0" rtlCol="0" anchor="t"/>
          <a:lstStyle/>
          <a:p>
            <a:pPr indent="0" marL="0">
              <a:spcAft>
                <a:spcPts val="900"/>
              </a:spcAft>
              <a:buNone/>
            </a:pPr>
            <a:r>
              <a:rPr lang="en-US" sz="1200" dirty="0">
                <a:solidFill>
                  <a:srgbClr val="0E1C42"/>
                </a:solidFill>
                <a:latin typeface="Calibri" pitchFamily="34" charset="0"/>
                <a:ea typeface="Calibri" pitchFamily="34" charset="-122"/>
                <a:cs typeface="Calibri" pitchFamily="34" charset="-120"/>
              </a:rPr>
              <a:t>□  Was this made DURING or AFTER the moon landing?</a:t>
            </a:r>
            <a:endParaRPr lang="en-US" sz="1200" dirty="0"/>
          </a:p>
          <a:p>
            <a:pPr indent="0" marL="0">
              <a:spcAft>
                <a:spcPts val="900"/>
              </a:spcAft>
              <a:buNone/>
            </a:pPr>
            <a:r>
              <a:rPr lang="en-US" sz="1200" dirty="0">
                <a:solidFill>
                  <a:srgbClr val="0E1C42"/>
                </a:solidFill>
                <a:latin typeface="Calibri" pitchFamily="34" charset="0"/>
                <a:ea typeface="Calibri" pitchFamily="34" charset="-122"/>
                <a:cs typeface="Calibri" pitchFamily="34" charset="-120"/>
              </a:rPr>
              <a:t>□  Were the filmmakers actually AT the moon landing?</a:t>
            </a:r>
            <a:endParaRPr lang="en-US" sz="1200" dirty="0"/>
          </a:p>
          <a:p>
            <a:pPr indent="0" marL="0">
              <a:spcAft>
                <a:spcPts val="900"/>
              </a:spcAft>
              <a:buNone/>
            </a:pPr>
            <a:r>
              <a:rPr lang="en-US" sz="1200" dirty="0">
                <a:solidFill>
                  <a:srgbClr val="0E1C42"/>
                </a:solidFill>
                <a:latin typeface="Calibri" pitchFamily="34" charset="0"/>
                <a:ea typeface="Calibri" pitchFamily="34" charset="-122"/>
                <a:cs typeface="Calibri" pitchFamily="34" charset="-120"/>
              </a:rPr>
              <a:t>□  Does it pass the primary source test?</a:t>
            </a:r>
            <a:endParaRPr lang="en-US" sz="1200" dirty="0"/>
          </a:p>
          <a:p>
            <a:pPr indent="0" marL="0">
              <a:spcAft>
                <a:spcPts val="900"/>
              </a:spcAft>
              <a:buNone/>
            </a:pPr>
            <a:r>
              <a:rPr lang="en-US" sz="1200" dirty="0">
                <a:solidFill>
                  <a:srgbClr val="0E1C42"/>
                </a:solidFill>
                <a:latin typeface="Calibri" pitchFamily="34" charset="0"/>
                <a:ea typeface="Calibri" pitchFamily="34" charset="-122"/>
                <a:cs typeface="Calibri" pitchFamily="34" charset="-120"/>
              </a:rPr>
              <a:t>□  So I sort it as: ___ source.</a:t>
            </a:r>
            <a:endParaRPr lang="en-US" sz="1200" dirty="0"/>
          </a:p>
        </p:txBody>
      </p:sp>
      <p:sp>
        <p:nvSpPr>
          <p:cNvPr id="11" name="Shape 9"/>
          <p:cNvSpPr/>
          <p:nvPr/>
        </p:nvSpPr>
        <p:spPr>
          <a:xfrm>
            <a:off x="4023360" y="3364992"/>
            <a:ext cx="4709160" cy="960120"/>
          </a:xfrm>
          <a:prstGeom prst="roundRect">
            <a:avLst>
              <a:gd name="adj" fmla="val 11429"/>
            </a:avLst>
          </a:prstGeom>
          <a:solidFill>
            <a:srgbClr val="FFF3DC"/>
          </a:solidFill>
          <a:ln w="19050">
            <a:solidFill>
              <a:srgbClr val="F5E6C8"/>
            </a:solidFill>
            <a:prstDash val="solid"/>
          </a:ln>
        </p:spPr>
      </p:sp>
      <p:sp>
        <p:nvSpPr>
          <p:cNvPr id="12" name="Text 10"/>
          <p:cNvSpPr/>
          <p:nvPr/>
        </p:nvSpPr>
        <p:spPr>
          <a:xfrm>
            <a:off x="4160520" y="3419856"/>
            <a:ext cx="4434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160520" y="3621024"/>
            <a:ext cx="443484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is a ___ source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clue that helped me most was..."</a:t>
            </a:r>
            <a:endParaRPr lang="en-US" sz="1200" dirty="0"/>
          </a:p>
        </p:txBody>
      </p:sp>
      <p:sp>
        <p:nvSpPr>
          <p:cNvPr id="14" name="Text 12"/>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SPOT THE MISTAKE — ERROR ANALYSIS</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Error in This Thinking</a:t>
            </a:r>
            <a:endParaRPr lang="en-US" sz="2700" dirty="0"/>
          </a:p>
        </p:txBody>
      </p:sp>
      <p:sp>
        <p:nvSpPr>
          <p:cNvPr id="4" name="Shape 2"/>
          <p:cNvSpPr/>
          <p:nvPr/>
        </p:nvSpPr>
        <p:spPr>
          <a:xfrm>
            <a:off x="320040" y="914400"/>
            <a:ext cx="8503920" cy="1389888"/>
          </a:xfrm>
          <a:prstGeom prst="roundRect">
            <a:avLst>
              <a:gd name="adj" fmla="val 7895"/>
            </a:avLst>
          </a:prstGeom>
          <a:solidFill>
            <a:srgbClr val="FFF0F0"/>
          </a:solidFill>
          <a:ln w="25400">
            <a:solidFill>
              <a:srgbClr val="E8636B"/>
            </a:solidFill>
            <a:prstDash val="solid"/>
          </a:ln>
        </p:spPr>
      </p:sp>
      <p:sp>
        <p:nvSpPr>
          <p:cNvPr id="5" name="Text 3"/>
          <p:cNvSpPr/>
          <p:nvPr/>
        </p:nvSpPr>
        <p:spPr>
          <a:xfrm>
            <a:off x="502920" y="987552"/>
            <a:ext cx="8138160" cy="2286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STUDENT'S CLAIM:</a:t>
            </a:r>
            <a:endParaRPr lang="en-US" sz="900" dirty="0"/>
          </a:p>
        </p:txBody>
      </p:sp>
      <p:sp>
        <p:nvSpPr>
          <p:cNvPr id="6" name="Text 4"/>
          <p:cNvSpPr/>
          <p:nvPr/>
        </p:nvSpPr>
        <p:spPr>
          <a:xfrm>
            <a:off x="502920" y="1252728"/>
            <a:ext cx="8138160" cy="960120"/>
          </a:xfrm>
          <a:prstGeom prst="rect">
            <a:avLst/>
          </a:prstGeom>
          <a:noFill/>
          <a:ln/>
        </p:spPr>
        <p:txBody>
          <a:bodyPr wrap="square" lIns="0" tIns="0" rIns="0" bIns="0" rtlCol="0" anchor="t"/>
          <a:lstStyle/>
          <a:p>
            <a:pPr indent="0" marL="0">
              <a:buNone/>
            </a:pPr>
            <a:r>
              <a:rPr lang="en-US" sz="1500" i="1" dirty="0">
                <a:solidFill>
                  <a:srgbClr val="5A0A0A"/>
                </a:solidFill>
                <a:latin typeface="Cambria" pitchFamily="34" charset="0"/>
                <a:ea typeface="Cambria" pitchFamily="34" charset="-122"/>
                <a:cs typeface="Cambria" pitchFamily="34" charset="-120"/>
              </a:rPr>
              <a:t>"A textbook about ancient Egypt is a primary source because it has lots of facts about ancient times. It tells you what really happened."</a:t>
            </a:r>
            <a:endParaRPr lang="en-US" sz="1500" dirty="0"/>
          </a:p>
        </p:txBody>
      </p:sp>
      <p:sp>
        <p:nvSpPr>
          <p:cNvPr id="7" name="Shape 5"/>
          <p:cNvSpPr/>
          <p:nvPr/>
        </p:nvSpPr>
        <p:spPr>
          <a:xfrm>
            <a:off x="320040" y="2404872"/>
            <a:ext cx="5029200" cy="1207008"/>
          </a:xfrm>
          <a:prstGeom prst="roundRect">
            <a:avLst>
              <a:gd name="adj" fmla="val 9091"/>
            </a:avLst>
          </a:prstGeom>
          <a:solidFill>
            <a:srgbClr val="FFF3DC"/>
          </a:solidFill>
          <a:ln w="19050">
            <a:solidFill>
              <a:srgbClr val="F5E6C8"/>
            </a:solidFill>
            <a:prstDash val="solid"/>
          </a:ln>
        </p:spPr>
      </p:sp>
      <p:sp>
        <p:nvSpPr>
          <p:cNvPr id="8" name="Text 6"/>
          <p:cNvSpPr/>
          <p:nvPr/>
        </p:nvSpPr>
        <p:spPr>
          <a:xfrm>
            <a:off x="457200" y="2459736"/>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457200" y="2660904"/>
            <a:ext cx="475488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 but they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mistake is... because a primary source must..."</a:t>
            </a:r>
            <a:endParaRPr lang="en-US" sz="1200" dirty="0"/>
          </a:p>
        </p:txBody>
      </p:sp>
      <p:sp>
        <p:nvSpPr>
          <p:cNvPr id="10" name="Shape 8"/>
          <p:cNvSpPr/>
          <p:nvPr/>
        </p:nvSpPr>
        <p:spPr>
          <a:xfrm>
            <a:off x="5577840" y="2404872"/>
            <a:ext cx="3246120" cy="1207008"/>
          </a:xfrm>
          <a:prstGeom prst="roundRect">
            <a:avLst>
              <a:gd name="adj" fmla="val 11364"/>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760720" y="2496312"/>
            <a:ext cx="28803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760720" y="2752344"/>
            <a:ext cx="2880360" cy="76809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get confused about?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having lots of facts the same as being primary?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question should the student have asked first?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explain the error to a younger student?</a:t>
            </a:r>
            <a:endParaRPr lang="en-US" sz="1100" dirty="0"/>
          </a:p>
        </p:txBody>
      </p:sp>
      <p:sp>
        <p:nvSpPr>
          <p:cNvPr id="13" name="Shape 11"/>
          <p:cNvSpPr/>
          <p:nvPr/>
        </p:nvSpPr>
        <p:spPr>
          <a:xfrm>
            <a:off x="320040" y="3721608"/>
            <a:ext cx="8503920" cy="1078992"/>
          </a:xfrm>
          <a:prstGeom prst="roundRect">
            <a:avLst>
              <a:gd name="adj" fmla="val 10169"/>
            </a:avLst>
          </a:prstGeom>
          <a:solidFill>
            <a:srgbClr val="E3F8ED"/>
          </a:solidFill>
          <a:ln w="19050">
            <a:solidFill>
              <a:srgbClr val="34B76F"/>
            </a:solidFill>
            <a:prstDash val="solid"/>
          </a:ln>
        </p:spPr>
      </p:sp>
      <p:sp>
        <p:nvSpPr>
          <p:cNvPr id="14" name="Text 12"/>
          <p:cNvSpPr/>
          <p:nvPr/>
        </p:nvSpPr>
        <p:spPr>
          <a:xfrm>
            <a:off x="502920" y="3794760"/>
            <a:ext cx="8138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CORRECTION:</a:t>
            </a:r>
            <a:endParaRPr lang="en-US" sz="900" dirty="0"/>
          </a:p>
        </p:txBody>
      </p:sp>
      <p:sp>
        <p:nvSpPr>
          <p:cNvPr id="15" name="Text 13"/>
          <p:cNvSpPr/>
          <p:nvPr/>
        </p:nvSpPr>
        <p:spPr>
          <a:xfrm>
            <a:off x="502920" y="4059936"/>
            <a:ext cx="8138160" cy="65836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 textbook is SECONDARY because it was written AFTER ancient Egypt by someone who studied it — not someone who lived then. Having facts doesn't make it primary.</a:t>
            </a:r>
            <a:endParaRPr lang="en-US" sz="1200" dirty="0"/>
          </a:p>
        </p:txBody>
      </p:sp>
      <p:sp>
        <p:nvSpPr>
          <p:cNvPr id="16" name="Text 14"/>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THE TRICKY ONE — DEBATE!</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 YOU Think? Debate Time!</a:t>
            </a:r>
            <a:endParaRPr lang="en-US" sz="2700" dirty="0"/>
          </a:p>
        </p:txBody>
      </p:sp>
      <p:sp>
        <p:nvSpPr>
          <p:cNvPr id="4" name="Shape 2"/>
          <p:cNvSpPr/>
          <p:nvPr/>
        </p:nvSpPr>
        <p:spPr>
          <a:xfrm>
            <a:off x="320040" y="914400"/>
            <a:ext cx="8503920" cy="1170432"/>
          </a:xfrm>
          <a:prstGeom prst="roundRect">
            <a:avLst>
              <a:gd name="adj" fmla="val 9375"/>
            </a:avLst>
          </a:prstGeom>
          <a:solidFill>
            <a:srgbClr val="F0E8FF"/>
          </a:solidFill>
          <a:ln w="25400">
            <a:solidFill>
              <a:srgbClr val="8B6FC0"/>
            </a:solidFill>
            <a:prstDash val="solid"/>
          </a:ln>
        </p:spPr>
      </p:sp>
      <p:sp>
        <p:nvSpPr>
          <p:cNvPr id="5" name="Text 3"/>
          <p:cNvSpPr/>
          <p:nvPr/>
        </p:nvSpPr>
        <p:spPr>
          <a:xfrm>
            <a:off x="502920" y="987552"/>
            <a:ext cx="8138160" cy="2286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TRICKY SOURCE:</a:t>
            </a:r>
            <a:endParaRPr lang="en-US" sz="900" dirty="0"/>
          </a:p>
        </p:txBody>
      </p:sp>
      <p:sp>
        <p:nvSpPr>
          <p:cNvPr id="6" name="Text 4"/>
          <p:cNvSpPr/>
          <p:nvPr/>
        </p:nvSpPr>
        <p:spPr>
          <a:xfrm>
            <a:off x="502920" y="1234440"/>
            <a:ext cx="8138160" cy="749808"/>
          </a:xfrm>
          <a:prstGeom prst="rect">
            <a:avLst/>
          </a:prstGeom>
          <a:noFill/>
          <a:ln/>
        </p:spPr>
        <p:txBody>
          <a:bodyPr wrap="square" lIns="0" tIns="0" rIns="0" bIns="0" rtlCol="0" anchor="t"/>
          <a:lstStyle/>
          <a:p>
            <a:pPr indent="0" marL="0">
              <a:buNone/>
            </a:pPr>
            <a:r>
              <a:rPr lang="en-US" sz="1600" i="1" dirty="0">
                <a:solidFill>
                  <a:srgbClr val="2A1A5A"/>
                </a:solidFill>
                <a:latin typeface="Cambria" pitchFamily="34" charset="0"/>
                <a:ea typeface="Cambria" pitchFamily="34" charset="-122"/>
                <a:cs typeface="Cambria" pitchFamily="34" charset="-120"/>
              </a:rPr>
              <a:t>A news reporter filmed video footage AT the moon landing in 1969. Is this footage a primary or secondary source?</a:t>
            </a:r>
            <a:endParaRPr lang="en-US" sz="1600" dirty="0"/>
          </a:p>
        </p:txBody>
      </p:sp>
      <p:sp>
        <p:nvSpPr>
          <p:cNvPr id="7" name="Shape 5"/>
          <p:cNvSpPr/>
          <p:nvPr/>
        </p:nvSpPr>
        <p:spPr>
          <a:xfrm>
            <a:off x="320040" y="2176272"/>
            <a:ext cx="4023360" cy="1600200"/>
          </a:xfrm>
          <a:prstGeom prst="roundRect">
            <a:avLst>
              <a:gd name="adj" fmla="val 6857"/>
            </a:avLst>
          </a:prstGeom>
          <a:solidFill>
            <a:srgbClr val="EAF8FD"/>
          </a:solidFill>
          <a:ln w="25400">
            <a:solidFill>
              <a:srgbClr val="55C8E8"/>
            </a:solidFill>
            <a:prstDash val="solid"/>
          </a:ln>
        </p:spPr>
      </p:sp>
      <p:sp>
        <p:nvSpPr>
          <p:cNvPr id="8" name="Text 6"/>
          <p:cNvSpPr/>
          <p:nvPr/>
        </p:nvSpPr>
        <p:spPr>
          <a:xfrm>
            <a:off x="502920" y="2249424"/>
            <a:ext cx="3657600" cy="27432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TEAM PRIMARY ⭐</a:t>
            </a:r>
            <a:endParaRPr lang="en-US" sz="1200" dirty="0"/>
          </a:p>
        </p:txBody>
      </p:sp>
      <p:sp>
        <p:nvSpPr>
          <p:cNvPr id="9" name="Text 7"/>
          <p:cNvSpPr/>
          <p:nvPr/>
        </p:nvSpPr>
        <p:spPr>
          <a:xfrm>
            <a:off x="502920" y="2578608"/>
            <a:ext cx="3657600" cy="111556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reporter was THERE in 1969 filming it live. The footage was created AT THE TIME of the event.</a:t>
            </a:r>
            <a:endParaRPr lang="en-US" sz="1200" dirty="0"/>
          </a:p>
        </p:txBody>
      </p:sp>
      <p:sp>
        <p:nvSpPr>
          <p:cNvPr id="10" name="Shape 8"/>
          <p:cNvSpPr/>
          <p:nvPr/>
        </p:nvSpPr>
        <p:spPr>
          <a:xfrm>
            <a:off x="4800600" y="2176272"/>
            <a:ext cx="4023360" cy="1600200"/>
          </a:xfrm>
          <a:prstGeom prst="roundRect">
            <a:avLst>
              <a:gd name="adj" fmla="val 6857"/>
            </a:avLst>
          </a:prstGeom>
          <a:solidFill>
            <a:srgbClr val="FFF3DC"/>
          </a:solidFill>
          <a:ln w="25400">
            <a:solidFill>
              <a:srgbClr val="D4943A"/>
            </a:solidFill>
            <a:prstDash val="solid"/>
          </a:ln>
        </p:spPr>
      </p:sp>
      <p:sp>
        <p:nvSpPr>
          <p:cNvPr id="11" name="Text 9"/>
          <p:cNvSpPr/>
          <p:nvPr/>
        </p:nvSpPr>
        <p:spPr>
          <a:xfrm>
            <a:off x="4983480" y="2249424"/>
            <a:ext cx="3657600" cy="27432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TEAM SECONDARY 📚</a:t>
            </a:r>
            <a:endParaRPr lang="en-US" sz="1200" dirty="0"/>
          </a:p>
        </p:txBody>
      </p:sp>
      <p:sp>
        <p:nvSpPr>
          <p:cNvPr id="12" name="Text 10"/>
          <p:cNvSpPr/>
          <p:nvPr/>
        </p:nvSpPr>
        <p:spPr>
          <a:xfrm>
            <a:off x="4983480" y="2578608"/>
            <a:ext cx="3657600" cy="111556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Documentaries use old footage but add narration made later. Maybe it depends on how it's used?</a:t>
            </a:r>
            <a:endParaRPr lang="en-US" sz="1200" dirty="0"/>
          </a:p>
        </p:txBody>
      </p:sp>
      <p:sp>
        <p:nvSpPr>
          <p:cNvPr id="13" name="Shape 11"/>
          <p:cNvSpPr/>
          <p:nvPr/>
        </p:nvSpPr>
        <p:spPr>
          <a:xfrm>
            <a:off x="320040" y="3858768"/>
            <a:ext cx="5029200" cy="987552"/>
          </a:xfrm>
          <a:prstGeom prst="roundRect">
            <a:avLst>
              <a:gd name="adj" fmla="val 13889"/>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02920" y="395020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02920" y="4206240"/>
            <a:ext cx="4663440" cy="54864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this harder to sort than the others?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Would your answer change if the footage was UNEDITED?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something be BOTH? Why or why not?</a:t>
            </a:r>
            <a:endParaRPr lang="en-US" sz="1100" dirty="0"/>
          </a:p>
        </p:txBody>
      </p:sp>
      <p:sp>
        <p:nvSpPr>
          <p:cNvPr id="16" name="Shape 14"/>
          <p:cNvSpPr/>
          <p:nvPr/>
        </p:nvSpPr>
        <p:spPr>
          <a:xfrm>
            <a:off x="5577840" y="3858768"/>
            <a:ext cx="3246120" cy="987552"/>
          </a:xfrm>
          <a:prstGeom prst="roundRect">
            <a:avLst>
              <a:gd name="adj" fmla="val 11111"/>
            </a:avLst>
          </a:prstGeom>
          <a:solidFill>
            <a:srgbClr val="FFF3DC"/>
          </a:solidFill>
          <a:ln w="19050">
            <a:solidFill>
              <a:srgbClr val="F5E6C8"/>
            </a:solidFill>
            <a:prstDash val="solid"/>
          </a:ln>
        </p:spPr>
      </p:sp>
      <p:sp>
        <p:nvSpPr>
          <p:cNvPr id="17" name="Text 15"/>
          <p:cNvSpPr/>
          <p:nvPr/>
        </p:nvSpPr>
        <p:spPr>
          <a:xfrm>
            <a:off x="5715000" y="3913632"/>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715000" y="4114800"/>
            <a:ext cx="2971800" cy="66751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sort this as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 the strongest clue is..."</a:t>
            </a:r>
            <a:endParaRPr lang="en-US" sz="1200" dirty="0"/>
          </a:p>
        </p:txBody>
      </p:sp>
      <p:sp>
        <p:nvSpPr>
          <p:cNvPr id="19" name="Text 17"/>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2286000" y="320040"/>
            <a:ext cx="4572000" cy="457200"/>
          </a:xfrm>
          <a:prstGeom prst="roundRect">
            <a:avLst>
              <a:gd name="adj" fmla="val 16000"/>
            </a:avLst>
          </a:prstGeom>
          <a:solidFill>
            <a:srgbClr val="D4943A"/>
          </a:solidFill>
          <a:ln/>
        </p:spPr>
      </p:sp>
      <p:sp>
        <p:nvSpPr>
          <p:cNvPr id="5" name="Text 3"/>
          <p:cNvSpPr/>
          <p:nvPr/>
        </p:nvSpPr>
        <p:spPr>
          <a:xfrm>
            <a:off x="2286000" y="347472"/>
            <a:ext cx="4572000" cy="402336"/>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EXHIBIT LABEL — HALL 1 &amp; 2</a:t>
            </a:r>
            <a:endParaRPr lang="en-US" sz="1200" dirty="0"/>
          </a:p>
        </p:txBody>
      </p:sp>
      <p:sp>
        <p:nvSpPr>
          <p:cNvPr id="6" name="Text 4"/>
          <p:cNvSpPr/>
          <p:nvPr/>
        </p:nvSpPr>
        <p:spPr>
          <a:xfrm>
            <a:off x="457200" y="896112"/>
            <a:ext cx="822960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The Curator's Sorting Rule</a:t>
            </a:r>
            <a:endParaRPr lang="en-US" sz="2800" dirty="0"/>
          </a:p>
        </p:txBody>
      </p:sp>
      <p:sp>
        <p:nvSpPr>
          <p:cNvPr id="7" name="Shape 5"/>
          <p:cNvSpPr/>
          <p:nvPr/>
        </p:nvSpPr>
        <p:spPr>
          <a:xfrm>
            <a:off x="457200" y="1508760"/>
            <a:ext cx="3749040" cy="1572768"/>
          </a:xfrm>
          <a:prstGeom prst="roundRect">
            <a:avLst>
              <a:gd name="adj" fmla="val 6977"/>
            </a:avLst>
          </a:prstGeom>
          <a:solidFill>
            <a:srgbClr val="1A2D5A"/>
          </a:solidFill>
          <a:ln w="19050">
            <a:solidFill>
              <a:srgbClr val="55C8E8"/>
            </a:solidFill>
            <a:prstDash val="solid"/>
          </a:ln>
        </p:spPr>
      </p:sp>
      <p:sp>
        <p:nvSpPr>
          <p:cNvPr id="8" name="Text 6"/>
          <p:cNvSpPr/>
          <p:nvPr/>
        </p:nvSpPr>
        <p:spPr>
          <a:xfrm>
            <a:off x="457200" y="1581912"/>
            <a:ext cx="3749040" cy="347472"/>
          </a:xfrm>
          <a:prstGeom prst="rect">
            <a:avLst/>
          </a:prstGeom>
          <a:noFill/>
          <a:ln/>
        </p:spPr>
        <p:txBody>
          <a:bodyPr wrap="square" lIns="0" tIns="0" rIns="0" bIns="0" rtlCol="0" anchor="ctr"/>
          <a:lstStyle/>
          <a:p>
            <a:pPr algn="ctr" indent="0" marL="0">
              <a:buNone/>
            </a:pPr>
            <a:r>
              <a:rPr lang="en-US" sz="1600" b="1" dirty="0">
                <a:solidFill>
                  <a:srgbClr val="55C8E8"/>
                </a:solidFill>
                <a:latin typeface="Cambria" pitchFamily="34" charset="0"/>
                <a:ea typeface="Cambria" pitchFamily="34" charset="-122"/>
                <a:cs typeface="Cambria" pitchFamily="34" charset="-120"/>
              </a:rPr>
              <a:t>⭐ PRIMARY SOURCE</a:t>
            </a:r>
            <a:endParaRPr lang="en-US" sz="1600" dirty="0"/>
          </a:p>
        </p:txBody>
      </p:sp>
      <p:sp>
        <p:nvSpPr>
          <p:cNvPr id="9" name="Text 7"/>
          <p:cNvSpPr/>
          <p:nvPr/>
        </p:nvSpPr>
        <p:spPr>
          <a:xfrm>
            <a:off x="640080" y="1975104"/>
            <a:ext cx="3383280" cy="1024128"/>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Made DURING the time.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By someone who was THERE.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Old photos, letters, diaries, tools.</a:t>
            </a:r>
            <a:endParaRPr lang="en-US" sz="1300" dirty="0"/>
          </a:p>
        </p:txBody>
      </p:sp>
      <p:sp>
        <p:nvSpPr>
          <p:cNvPr id="10" name="Shape 8"/>
          <p:cNvSpPr/>
          <p:nvPr/>
        </p:nvSpPr>
        <p:spPr>
          <a:xfrm>
            <a:off x="4937760" y="1508760"/>
            <a:ext cx="3749040" cy="1572768"/>
          </a:xfrm>
          <a:prstGeom prst="roundRect">
            <a:avLst>
              <a:gd name="adj" fmla="val 6977"/>
            </a:avLst>
          </a:prstGeom>
          <a:solidFill>
            <a:srgbClr val="1A2D5A"/>
          </a:solidFill>
          <a:ln w="19050">
            <a:solidFill>
              <a:srgbClr val="1A8A7D"/>
            </a:solidFill>
            <a:prstDash val="solid"/>
          </a:ln>
        </p:spPr>
      </p:sp>
      <p:sp>
        <p:nvSpPr>
          <p:cNvPr id="11" name="Text 9"/>
          <p:cNvSpPr/>
          <p:nvPr/>
        </p:nvSpPr>
        <p:spPr>
          <a:xfrm>
            <a:off x="4937760" y="1581912"/>
            <a:ext cx="3749040" cy="347472"/>
          </a:xfrm>
          <a:prstGeom prst="rect">
            <a:avLst/>
          </a:prstGeom>
          <a:noFill/>
          <a:ln/>
        </p:spPr>
        <p:txBody>
          <a:bodyPr wrap="square" lIns="0" tIns="0" rIns="0" bIns="0" rtlCol="0" anchor="ctr"/>
          <a:lstStyle/>
          <a:p>
            <a:pPr algn="ctr" indent="0" marL="0">
              <a:buNone/>
            </a:pPr>
            <a:r>
              <a:rPr lang="en-US" sz="1600" b="1" dirty="0">
                <a:solidFill>
                  <a:srgbClr val="A0E8DA"/>
                </a:solidFill>
                <a:latin typeface="Cambria" pitchFamily="34" charset="0"/>
                <a:ea typeface="Cambria" pitchFamily="34" charset="-122"/>
                <a:cs typeface="Cambria" pitchFamily="34" charset="-120"/>
              </a:rPr>
              <a:t>📚 SECONDARY SOURCE</a:t>
            </a:r>
            <a:endParaRPr lang="en-US" sz="1600" dirty="0"/>
          </a:p>
        </p:txBody>
      </p:sp>
      <p:sp>
        <p:nvSpPr>
          <p:cNvPr id="12" name="Text 10"/>
          <p:cNvSpPr/>
          <p:nvPr/>
        </p:nvSpPr>
        <p:spPr>
          <a:xfrm>
            <a:off x="5120640" y="1975104"/>
            <a:ext cx="3383280" cy="1024128"/>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Made AFTER the time.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By someone who STUDIED the past.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Textbooks, encyclopedias, documentaries.</a:t>
            </a:r>
            <a:endParaRPr lang="en-US" sz="1300" dirty="0"/>
          </a:p>
        </p:txBody>
      </p:sp>
      <p:sp>
        <p:nvSpPr>
          <p:cNvPr id="13" name="Shape 11"/>
          <p:cNvSpPr/>
          <p:nvPr/>
        </p:nvSpPr>
        <p:spPr>
          <a:xfrm>
            <a:off x="457200" y="3182112"/>
            <a:ext cx="8229600" cy="594360"/>
          </a:xfrm>
          <a:prstGeom prst="roundRect">
            <a:avLst>
              <a:gd name="adj" fmla="val 15385"/>
            </a:avLst>
          </a:prstGeom>
          <a:solidFill>
            <a:srgbClr val="D4943A"/>
          </a:solidFill>
          <a:ln/>
        </p:spPr>
      </p:sp>
      <p:sp>
        <p:nvSpPr>
          <p:cNvPr id="14" name="Text 12"/>
          <p:cNvSpPr/>
          <p:nvPr/>
        </p:nvSpPr>
        <p:spPr>
          <a:xfrm>
            <a:off x="640080" y="3227832"/>
            <a:ext cx="7863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Curator's Rule: Ask what kind of source it is BEFORE you decide what it proves.</a:t>
            </a:r>
            <a:endParaRPr lang="en-US" sz="1400" dirty="0"/>
          </a:p>
        </p:txBody>
      </p:sp>
      <p:sp>
        <p:nvSpPr>
          <p:cNvPr id="15" name="Text 13"/>
          <p:cNvSpPr/>
          <p:nvPr/>
        </p:nvSpPr>
        <p:spPr>
          <a:xfrm>
            <a:off x="457200" y="3886200"/>
            <a:ext cx="82296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QUICK SELF-CHECK: Which is a primary source? Type A, B, or C in the chat.</a:t>
            </a:r>
            <a:endParaRPr lang="en-US" sz="1100" dirty="0"/>
          </a:p>
        </p:txBody>
      </p:sp>
      <p:sp>
        <p:nvSpPr>
          <p:cNvPr id="16" name="Text 14"/>
          <p:cNvSpPr/>
          <p:nvPr/>
        </p:nvSpPr>
        <p:spPr>
          <a:xfrm>
            <a:off x="457200" y="4178808"/>
            <a:ext cx="8229600" cy="365760"/>
          </a:xfrm>
          <a:prstGeom prst="rect">
            <a:avLst/>
          </a:prstGeom>
          <a:noFill/>
          <a:ln/>
        </p:spPr>
        <p:txBody>
          <a:bodyPr wrap="square" lIns="0" tIns="0" rIns="0" bIns="0" rtlCol="0" anchor="ctr"/>
          <a:lstStyle/>
          <a:p>
            <a:pPr algn="ctr" indent="0" marL="0">
              <a:buNone/>
            </a:pPr>
            <a:r>
              <a:rPr lang="en-US" sz="1200" dirty="0">
                <a:solidFill>
                  <a:srgbClr val="D6D8E8"/>
                </a:solidFill>
                <a:latin typeface="Calibri" pitchFamily="34" charset="0"/>
                <a:ea typeface="Calibri" pitchFamily="34" charset="-122"/>
                <a:cs typeface="Calibri" pitchFamily="34" charset="-120"/>
              </a:rPr>
              <a:t>A — A textbook about the Civil War     B — A letter written by a Civil War soldier     C — A movie about the Civil War</a:t>
            </a:r>
            <a:endParaRPr lang="en-US" sz="1200" dirty="0"/>
          </a:p>
        </p:txBody>
      </p:sp>
      <p:sp>
        <p:nvSpPr>
          <p:cNvPr id="17" name="Text 15"/>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91440"/>
            <a:ext cx="457200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ASSIGNMENT PREP</a:t>
            </a:r>
            <a:endParaRPr lang="en-US" sz="900" dirty="0"/>
          </a:p>
        </p:txBody>
      </p:sp>
      <p:sp>
        <p:nvSpPr>
          <p:cNvPr id="3" name="Text 1"/>
          <p:cNvSpPr/>
          <p:nvPr/>
        </p:nvSpPr>
        <p:spPr>
          <a:xfrm>
            <a:off x="320040" y="320040"/>
            <a:ext cx="850392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Before You Go — Practice Your Evidence</a:t>
            </a:r>
            <a:endParaRPr lang="en-US" sz="2600" dirty="0"/>
          </a:p>
        </p:txBody>
      </p:sp>
      <p:sp>
        <p:nvSpPr>
          <p:cNvPr id="4" name="Shape 2"/>
          <p:cNvSpPr/>
          <p:nvPr/>
        </p:nvSpPr>
        <p:spPr>
          <a:xfrm>
            <a:off x="320040" y="914400"/>
            <a:ext cx="5303520" cy="1353312"/>
          </a:xfrm>
          <a:prstGeom prst="roundRect">
            <a:avLst>
              <a:gd name="adj" fmla="val 8108"/>
            </a:avLst>
          </a:prstGeom>
          <a:solidFill>
            <a:srgbClr val="F0F2F8"/>
          </a:solidFill>
          <a:ln w="12700">
            <a:solidFill>
              <a:srgbClr val="B0B8CC"/>
            </a:solidFill>
            <a:prstDash val="solid"/>
          </a:ln>
        </p:spPr>
      </p:sp>
      <p:sp>
        <p:nvSpPr>
          <p:cNvPr id="5" name="Text 3"/>
          <p:cNvSpPr/>
          <p:nvPr/>
        </p:nvSpPr>
        <p:spPr>
          <a:xfrm>
            <a:off x="502920" y="987552"/>
            <a:ext cx="493776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EVIDENCE QUESTION 1</a:t>
            </a:r>
            <a:endParaRPr lang="en-US" sz="900" dirty="0"/>
          </a:p>
        </p:txBody>
      </p:sp>
      <p:sp>
        <p:nvSpPr>
          <p:cNvPr id="6" name="Text 4"/>
          <p:cNvSpPr/>
          <p:nvPr/>
        </p:nvSpPr>
        <p:spPr>
          <a:xfrm>
            <a:off x="502920" y="1252728"/>
            <a:ext cx="4937760" cy="475488"/>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What is the difference between a primary and secondary source? Give one example of each.</a:t>
            </a:r>
            <a:endParaRPr lang="en-US" sz="1300" dirty="0"/>
          </a:p>
        </p:txBody>
      </p:sp>
      <p:sp>
        <p:nvSpPr>
          <p:cNvPr id="7" name="Text 5"/>
          <p:cNvSpPr/>
          <p:nvPr/>
        </p:nvSpPr>
        <p:spPr>
          <a:xfrm>
            <a:off x="502920" y="1764792"/>
            <a:ext cx="4937760" cy="34747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Tip: Use 'during/after' and 'was there/studied it' in your answer.</a:t>
            </a:r>
            <a:endParaRPr lang="en-US" sz="1000" dirty="0"/>
          </a:p>
        </p:txBody>
      </p:sp>
      <p:sp>
        <p:nvSpPr>
          <p:cNvPr id="8" name="Shape 6"/>
          <p:cNvSpPr/>
          <p:nvPr/>
        </p:nvSpPr>
        <p:spPr>
          <a:xfrm>
            <a:off x="320040" y="2359152"/>
            <a:ext cx="5303520" cy="1353312"/>
          </a:xfrm>
          <a:prstGeom prst="roundRect">
            <a:avLst>
              <a:gd name="adj" fmla="val 8108"/>
            </a:avLst>
          </a:prstGeom>
          <a:solidFill>
            <a:srgbClr val="F0F2F8"/>
          </a:solidFill>
          <a:ln w="12700">
            <a:solidFill>
              <a:srgbClr val="B0B8CC"/>
            </a:solidFill>
            <a:prstDash val="solid"/>
          </a:ln>
        </p:spPr>
      </p:sp>
      <p:sp>
        <p:nvSpPr>
          <p:cNvPr id="9" name="Text 7"/>
          <p:cNvSpPr/>
          <p:nvPr/>
        </p:nvSpPr>
        <p:spPr>
          <a:xfrm>
            <a:off x="502920" y="2432304"/>
            <a:ext cx="493776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EVIDENCE QUESTION 2</a:t>
            </a:r>
            <a:endParaRPr lang="en-US" sz="900" dirty="0"/>
          </a:p>
        </p:txBody>
      </p:sp>
      <p:sp>
        <p:nvSpPr>
          <p:cNvPr id="10" name="Text 8"/>
          <p:cNvSpPr/>
          <p:nvPr/>
        </p:nvSpPr>
        <p:spPr>
          <a:xfrm>
            <a:off x="502920" y="2697480"/>
            <a:ext cx="4937760" cy="475488"/>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Why do you think curators study primary sources instead of just reading textbooks about the past?</a:t>
            </a:r>
            <a:endParaRPr lang="en-US" sz="1300" dirty="0"/>
          </a:p>
        </p:txBody>
      </p:sp>
      <p:sp>
        <p:nvSpPr>
          <p:cNvPr id="11" name="Text 9"/>
          <p:cNvSpPr/>
          <p:nvPr/>
        </p:nvSpPr>
        <p:spPr>
          <a:xfrm>
            <a:off x="502920" y="3209544"/>
            <a:ext cx="4937760" cy="34747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Tip: Think about WHY firsthand clues are more valuable than summaries.</a:t>
            </a:r>
            <a:endParaRPr lang="en-US" sz="1000" dirty="0"/>
          </a:p>
        </p:txBody>
      </p:sp>
      <p:sp>
        <p:nvSpPr>
          <p:cNvPr id="12" name="Shape 10"/>
          <p:cNvSpPr/>
          <p:nvPr/>
        </p:nvSpPr>
        <p:spPr>
          <a:xfrm>
            <a:off x="320040" y="3794760"/>
            <a:ext cx="5303520" cy="1024128"/>
          </a:xfrm>
          <a:prstGeom prst="roundRect">
            <a:avLst>
              <a:gd name="adj" fmla="val 10714"/>
            </a:avLst>
          </a:prstGeom>
          <a:solidFill>
            <a:srgbClr val="FFF3DC"/>
          </a:solidFill>
          <a:ln w="19050">
            <a:solidFill>
              <a:srgbClr val="F5E6C8"/>
            </a:solidFill>
            <a:prstDash val="solid"/>
          </a:ln>
        </p:spPr>
      </p:sp>
      <p:sp>
        <p:nvSpPr>
          <p:cNvPr id="13" name="Text 11"/>
          <p:cNvSpPr/>
          <p:nvPr/>
        </p:nvSpPr>
        <p:spPr>
          <a:xfrm>
            <a:off x="457200" y="3849624"/>
            <a:ext cx="5029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57200" y="4050792"/>
            <a:ext cx="5029200" cy="7040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"Primary sources are different from secondary sources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"Curators prefer primary sources because..."</a:t>
            </a:r>
            <a:endParaRPr lang="en-US" sz="1200" dirty="0"/>
          </a:p>
        </p:txBody>
      </p:sp>
      <p:sp>
        <p:nvSpPr>
          <p:cNvPr id="15" name="Shape 13"/>
          <p:cNvSpPr/>
          <p:nvPr/>
        </p:nvSpPr>
        <p:spPr>
          <a:xfrm>
            <a:off x="5852160" y="914400"/>
            <a:ext cx="2971800" cy="1920240"/>
          </a:xfrm>
          <a:prstGeom prst="roundRect">
            <a:avLst>
              <a:gd name="adj" fmla="val 5714"/>
            </a:avLst>
          </a:prstGeom>
          <a:solidFill>
            <a:srgbClr val="FFF3DC"/>
          </a:solidFill>
          <a:ln w="19050">
            <a:solidFill>
              <a:srgbClr val="D4943A"/>
            </a:solidFill>
            <a:prstDash val="solid"/>
          </a:ln>
        </p:spPr>
      </p:sp>
      <p:sp>
        <p:nvSpPr>
          <p:cNvPr id="16" name="Text 14"/>
          <p:cNvSpPr/>
          <p:nvPr/>
        </p:nvSpPr>
        <p:spPr>
          <a:xfrm>
            <a:off x="6035040" y="987552"/>
            <a:ext cx="260604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17" name="Text 15"/>
          <p:cNvSpPr/>
          <p:nvPr/>
        </p:nvSpPr>
        <p:spPr>
          <a:xfrm>
            <a:off x="6035040" y="1252728"/>
            <a:ext cx="2606040" cy="475488"/>
          </a:xfrm>
          <a:prstGeom prst="rect">
            <a:avLst/>
          </a:prstGeom>
          <a:noFill/>
          <a:ln/>
        </p:spPr>
        <p:txBody>
          <a:bodyPr wrap="square" lIns="0" tIns="0" rIns="0" bIns="0" rtlCol="0" anchor="t"/>
          <a:lstStyle/>
          <a:p>
            <a:pPr indent="0" marL="0">
              <a:buNone/>
            </a:pPr>
            <a:r>
              <a:rPr lang="en-US" sz="1100" i="1" dirty="0">
                <a:solidFill>
                  <a:srgbClr val="5A4A3A"/>
                </a:solidFill>
                <a:latin typeface="Calibri" pitchFamily="34" charset="0"/>
                <a:ea typeface="Calibri" pitchFamily="34" charset="-122"/>
                <a:cs typeface="Calibri" pitchFamily="34" charset="-120"/>
              </a:rPr>
              <a:t>Finish this sentence in your Curator's Notebook:</a:t>
            </a:r>
            <a:endParaRPr lang="en-US" sz="1100" dirty="0"/>
          </a:p>
        </p:txBody>
      </p:sp>
      <p:sp>
        <p:nvSpPr>
          <p:cNvPr id="18" name="Text 16"/>
          <p:cNvSpPr/>
          <p:nvPr/>
        </p:nvSpPr>
        <p:spPr>
          <a:xfrm>
            <a:off x="6035040" y="1783080"/>
            <a:ext cx="2606040" cy="914400"/>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"In this exhibit, I learned that _____ because _____."</a:t>
            </a:r>
            <a:endParaRPr lang="en-US" sz="1200" dirty="0"/>
          </a:p>
        </p:txBody>
      </p:sp>
      <p:sp>
        <p:nvSpPr>
          <p:cNvPr id="19" name="Shape 17"/>
          <p:cNvSpPr/>
          <p:nvPr/>
        </p:nvSpPr>
        <p:spPr>
          <a:xfrm>
            <a:off x="5852160" y="2926080"/>
            <a:ext cx="2971800" cy="1892808"/>
          </a:xfrm>
          <a:prstGeom prst="roundRect">
            <a:avLst>
              <a:gd name="adj" fmla="val 5797"/>
            </a:avLst>
          </a:prstGeom>
          <a:solidFill>
            <a:srgbClr val="E3F8ED"/>
          </a:solidFill>
          <a:ln w="19050">
            <a:solidFill>
              <a:srgbClr val="34B76F"/>
            </a:solidFill>
            <a:prstDash val="solid"/>
          </a:ln>
        </p:spPr>
      </p:sp>
      <p:sp>
        <p:nvSpPr>
          <p:cNvPr id="20" name="Text 18"/>
          <p:cNvSpPr/>
          <p:nvPr/>
        </p:nvSpPr>
        <p:spPr>
          <a:xfrm>
            <a:off x="6035040" y="2999232"/>
            <a:ext cx="260604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TURN-IN CHECKLIST</a:t>
            </a:r>
            <a:endParaRPr lang="en-US" sz="900" dirty="0"/>
          </a:p>
        </p:txBody>
      </p:sp>
      <p:sp>
        <p:nvSpPr>
          <p:cNvPr id="21" name="Text 19"/>
          <p:cNvSpPr/>
          <p:nvPr/>
        </p:nvSpPr>
        <p:spPr>
          <a:xfrm>
            <a:off x="6035040" y="3264408"/>
            <a:ext cx="2606040" cy="148132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Answered both evidence questions</a:t>
            </a:r>
            <a:endParaRPr lang="en-US" sz="1100" dirty="0"/>
          </a:p>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Completed Source Study (new source)</a:t>
            </a:r>
            <a:endParaRPr lang="en-US" sz="1100" dirty="0"/>
          </a:p>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Wrote Curator's Chronicle</a:t>
            </a:r>
            <a:endParaRPr lang="en-US" sz="1100" dirty="0"/>
          </a:p>
          <a:p>
            <a:pPr marL="342900" indent="-342900">
              <a:spcAft>
                <a:spcPts val="400"/>
              </a:spcAft>
              <a:buSzPct val="100000"/>
              <a:buChar char="•"/>
            </a:pPr>
            <a:r>
              <a:rPr lang="en-US" sz="1100" dirty="0">
                <a:solidFill>
                  <a:srgbClr val="0E1C42"/>
                </a:solidFill>
                <a:latin typeface="Calibri" pitchFamily="34" charset="0"/>
                <a:ea typeface="Calibri" pitchFamily="34" charset="-122"/>
                <a:cs typeface="Calibri" pitchFamily="34" charset="-120"/>
              </a:rPr>
              <a:t>Copied/downloaded &amp; submitted to Canvas</a:t>
            </a:r>
            <a:endParaRPr lang="en-US" sz="1100" dirty="0"/>
          </a:p>
        </p:txBody>
      </p:sp>
      <p:sp>
        <p:nvSpPr>
          <p:cNvPr id="22" name="Text 20"/>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B0B8CC"/>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 y="457200"/>
            <a:ext cx="3840480" cy="393192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20040" y="45720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731520"/>
            <a:ext cx="3566160" cy="3566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Junior Curator celebrating in the Curator Training Hall — receiving a badge or completing an exhibit label, warm celebration scene</a:t>
            </a:r>
            <a:endParaRPr lang="en-US" sz="1100" dirty="0"/>
          </a:p>
        </p:txBody>
      </p:sp>
      <p:sp>
        <p:nvSpPr>
          <p:cNvPr id="7" name="Shape 5"/>
          <p:cNvSpPr/>
          <p:nvPr/>
        </p:nvSpPr>
        <p:spPr>
          <a:xfrm>
            <a:off x="4389120" y="502920"/>
            <a:ext cx="4434840" cy="457200"/>
          </a:xfrm>
          <a:prstGeom prst="roundRect">
            <a:avLst>
              <a:gd name="adj" fmla="val 16000"/>
            </a:avLst>
          </a:prstGeom>
          <a:solidFill>
            <a:srgbClr val="34B76F"/>
          </a:solidFill>
          <a:ln/>
        </p:spPr>
      </p:sp>
      <p:sp>
        <p:nvSpPr>
          <p:cNvPr id="8" name="Text 6"/>
          <p:cNvSpPr/>
          <p:nvPr/>
        </p:nvSpPr>
        <p:spPr>
          <a:xfrm>
            <a:off x="4389120" y="530352"/>
            <a:ext cx="4434840" cy="402336"/>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CERTIFIED SOURCE SCHOLAR!</a:t>
            </a:r>
            <a:endParaRPr lang="en-US" sz="1300" dirty="0"/>
          </a:p>
        </p:txBody>
      </p:sp>
      <p:sp>
        <p:nvSpPr>
          <p:cNvPr id="9" name="Text 7"/>
          <p:cNvSpPr/>
          <p:nvPr/>
        </p:nvSpPr>
        <p:spPr>
          <a:xfrm>
            <a:off x="4389120" y="1024128"/>
            <a:ext cx="4434840" cy="10058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You're Thinking</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Like a Curator!</a:t>
            </a:r>
            <a:endParaRPr lang="en-US" sz="3000" dirty="0"/>
          </a:p>
        </p:txBody>
      </p:sp>
      <p:sp>
        <p:nvSpPr>
          <p:cNvPr id="10" name="Shape 8"/>
          <p:cNvSpPr/>
          <p:nvPr/>
        </p:nvSpPr>
        <p:spPr>
          <a:xfrm>
            <a:off x="4389120" y="2103120"/>
            <a:ext cx="4434840" cy="1097280"/>
          </a:xfrm>
          <a:prstGeom prst="roundRect">
            <a:avLst>
              <a:gd name="adj" fmla="val 8333"/>
            </a:avLst>
          </a:prstGeom>
          <a:solidFill>
            <a:srgbClr val="1A2D5A"/>
          </a:solidFill>
          <a:ln w="19050">
            <a:solidFill>
              <a:srgbClr val="D4943A"/>
            </a:solidFill>
            <a:prstDash val="solid"/>
          </a:ln>
        </p:spPr>
      </p:sp>
      <p:sp>
        <p:nvSpPr>
          <p:cNvPr id="11" name="Text 9"/>
          <p:cNvSpPr/>
          <p:nvPr/>
        </p:nvSpPr>
        <p:spPr>
          <a:xfrm>
            <a:off x="4572000" y="2176272"/>
            <a:ext cx="4069080" cy="256032"/>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You can now:</a:t>
            </a:r>
            <a:endParaRPr lang="en-US" sz="1000" dirty="0"/>
          </a:p>
        </p:txBody>
      </p:sp>
      <p:sp>
        <p:nvSpPr>
          <p:cNvPr id="12" name="Text 10"/>
          <p:cNvSpPr/>
          <p:nvPr/>
        </p:nvSpPr>
        <p:spPr>
          <a:xfrm>
            <a:off x="4572000" y="2468880"/>
            <a:ext cx="4069080" cy="658368"/>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Tell primary from secondary — every time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Sort sources using the curator's 3 questions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Explain WHY primary sources are firsthand clues</a:t>
            </a:r>
            <a:endParaRPr lang="en-US" sz="1100" dirty="0"/>
          </a:p>
        </p:txBody>
      </p:sp>
      <p:sp>
        <p:nvSpPr>
          <p:cNvPr id="13" name="Shape 11"/>
          <p:cNvSpPr/>
          <p:nvPr/>
        </p:nvSpPr>
        <p:spPr>
          <a:xfrm>
            <a:off x="4389120" y="3310128"/>
            <a:ext cx="4434840" cy="1353312"/>
          </a:xfrm>
          <a:prstGeom prst="roundRect">
            <a:avLst>
              <a:gd name="adj" fmla="val 8108"/>
            </a:avLst>
          </a:prstGeom>
          <a:solidFill>
            <a:srgbClr val="0E1C42"/>
          </a:solidFill>
          <a:ln w="19050">
            <a:solidFill>
              <a:srgbClr val="55C8E8"/>
            </a:solidFill>
            <a:prstDash val="solid"/>
          </a:ln>
        </p:spPr>
      </p:sp>
      <p:sp>
        <p:nvSpPr>
          <p:cNvPr id="14" name="Text 12"/>
          <p:cNvSpPr/>
          <p:nvPr/>
        </p:nvSpPr>
        <p:spPr>
          <a:xfrm>
            <a:off x="4572000" y="3383280"/>
            <a:ext cx="40690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COMING NEXT — LESSON 3.01.03</a:t>
            </a:r>
            <a:endParaRPr lang="en-US" sz="900" dirty="0"/>
          </a:p>
        </p:txBody>
      </p:sp>
      <p:sp>
        <p:nvSpPr>
          <p:cNvPr id="15" name="Text 13"/>
          <p:cNvSpPr/>
          <p:nvPr/>
        </p:nvSpPr>
        <p:spPr>
          <a:xfrm>
            <a:off x="4572000" y="3675888"/>
            <a:ext cx="4069080" cy="914400"/>
          </a:xfrm>
          <a:prstGeom prst="rect">
            <a:avLst/>
          </a:prstGeom>
          <a:noFill/>
          <a:ln/>
        </p:spPr>
        <p:txBody>
          <a:bodyPr wrap="square" lIns="0" tIns="0" rIns="0" bIns="0" rtlCol="0" anchor="t"/>
          <a:lstStyle/>
          <a:p>
            <a:pPr indent="0" marL="0">
              <a:buNone/>
            </a:pPr>
            <a:r>
              <a:rPr lang="en-US" sz="1100" i="1" dirty="0">
                <a:solidFill>
                  <a:srgbClr val="D6D8E8"/>
                </a:solidFill>
                <a:latin typeface="Calibri" pitchFamily="34" charset="0"/>
                <a:ea typeface="Calibri" pitchFamily="34" charset="-122"/>
                <a:cs typeface="Calibri" pitchFamily="34" charset="-120"/>
              </a:rPr>
              <a:t>The museum director has an UNLABELED exhibit case. Before anyone writes a label, you'll generate questions — thinking like a historian-citizen.</a:t>
            </a:r>
            <a:endParaRPr lang="en-US" sz="1100" dirty="0"/>
          </a:p>
        </p:txBody>
      </p:sp>
      <p:sp>
        <p:nvSpPr>
          <p:cNvPr id="16" name="Text 14"/>
          <p:cNvSpPr/>
          <p:nvPr/>
        </p:nvSpPr>
        <p:spPr>
          <a:xfrm>
            <a:off x="0" y="4892040"/>
            <a:ext cx="9144000" cy="22860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SS 3.01.02  ·  Curator Training Hall  ·  Grade 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 3.01.02 — Primary &amp; Secondary Sources</dc:title>
  <dc:subject>Grade 3 Social Studies Live Lesson</dc:subject>
  <dc:creator>Optima Academy Online</dc:creator>
  <cp:lastModifiedBy>Optima Academy Online</cp:lastModifiedBy>
  <cp:revision>1</cp:revision>
  <dcterms:created xsi:type="dcterms:W3CDTF">2026-07-10T22:11:11Z</dcterms:created>
  <dcterms:modified xsi:type="dcterms:W3CDTF">2026-07-10T22:11:11Z</dcterms:modified>
</cp:coreProperties>
</file>