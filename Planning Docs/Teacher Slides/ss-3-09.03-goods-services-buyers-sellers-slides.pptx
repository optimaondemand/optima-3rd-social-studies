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A grand museum hall entrance with four back-wall market booths visible in silhouette -- a bakery counter, a barber chair, a cobbler's bench, and a piano -- warm lamplight, early 1900s Main Street aesthetic.Teacher: Welcome students as Trade &amp; Choice Curators. Today's Big Question is on screen -- read it aloud. Standards: SS.3.E.1.1-1.4.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"Last lesson, you analyzed a trade between two towns. Today, four brand-new booths opened along the back wall -- a bakery, a barber, a shoe repair shop, and a piano teacher. The curator says visitors keep walking up to the wrong booth. Why? Because two of those booths sell things, and two sell help." Keep under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Mention service as today's virtue -- a service is literally something one person does to help another. Connect to the four booths students will label.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5 silent seconds to look at the image before taking chat responses. Do not name goods/services yet -- this is pure observation.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the Enter the Scene image: 'I see a counter, a bench, a tool -- that tells me something is being made or fixed there.' Guide toward the idea of things you can hold vs. help you receive, but do not name 'goods' or 'services'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as discovery: 'You just figured out the difference yourselves -- a good is a thing, a service is help.' Unlock the Bakery hall card mentally as goods, Barber as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say 'buyer' or 'seller' yet. Let students sort using their own words for who pays vs. who provides.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sure students hear: 'Every market has all four -- goods, services, buyers, sellers. You can't have only goods and no sellers.' 3-5 minutes total for this 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as discovery: students just sorted these themselves. Unlock the Cobbler and Piano Teacher booths mentally as services now that all four words are named.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scaffolds assignment thinking directly -- students should leave able to explain why a market needs both goods and services, which supports evidence question reasoning.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the full reasoning chain: identify if it's a thing or help, then identify buyer/seller. Keep pace slow and explicit.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Whole-class discussion. Cold-call a few students before revealing: fixing the shoe is a service; the customer is the buyer, the cobbler is the seller.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60-90 seconds of independent work time before taking chat answers. Support struggling students by pointing back to the checklist.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misconception moment: students often confuse 'given' with 'good.' The test is whether it can be held/carried, not whether it's handed 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genuine disagreement happen for a minute or two before resolving: the good/service label depends on what is actually being provided in that moment, not the object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graded -- reveal each answer after taking student guesses via chat or thumbs up/down. Celebrate: 'You've got it -- goods, services, buyers, sellers. You're ready to label the back-wall display.'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evidence question aloud. Model for Q1: 'A good is a thing you can hold -- like a loaf of bread. A service is help -- like a haircut.' Students already discussed both concepts in the discovery and guided practice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labeling job: 'You'll write the four labels that go above the booths -- Goods, Services, Buyer, Seller. Each label needs one or two sentences so visitors aren't confused.' 2-3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copy/download options. Remind students all four checklist items must be complete before they're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A glass display case rolling into the center of a grand museum hall, containing coins, bills, a large polished shell, and a small block of salt, warm dramatic lighting, museum-exhibit style.Celebrate: 'You labeled all four back-wall booths. Visitors can now walk in and know exactly which booth sells things and which booth sells help.' Tease next lesson about money. Under 1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835"/>
          </a:solidFill>
          <a:ln w="19050">
            <a:solidFill>
              <a:srgbClr val="3A5080"/>
            </a:solidFill>
            <a:prstDash val="dash"/>
          </a:ln>
        </p:spPr>
      </p:sp>
      <p:sp>
        <p:nvSpPr>
          <p:cNvPr id="3" name="Shape 1"/>
          <p:cNvSpPr/>
          <p:nvPr/>
        </p:nvSpPr>
        <p:spPr>
          <a:xfrm>
            <a:off x="0" y="0"/>
            <a:ext cx="12191695" cy="6858000"/>
          </a:xfrm>
          <a:prstGeom prst="rect">
            <a:avLst/>
          </a:prstGeom>
          <a:solidFill>
            <a:srgbClr val="0E1C42">
              <a:alpha val="62000"/>
            </a:srgbClr>
          </a:solidFill>
          <a:ln/>
        </p:spPr>
      </p:sp>
      <p:sp>
        <p:nvSpPr>
          <p:cNvPr id="5" name="Text 2"/>
          <p:cNvSpPr/>
          <p:nvPr/>
        </p:nvSpPr>
        <p:spPr>
          <a:xfrm>
            <a:off x="1219200" y="1889760"/>
            <a:ext cx="9753600" cy="487680"/>
          </a:xfrm>
          <a:prstGeom prst="rect">
            <a:avLst/>
          </a:prstGeom>
          <a:noFill/>
          <a:ln/>
        </p:spPr>
        <p:txBody>
          <a:bodyPr wrap="square" lIns="0" tIns="0" rIns="0" bIns="0" rtlCol="0" anchor="ctr"/>
          <a:lstStyle/>
          <a:p>
            <a:pPr algn="ctr" indent="0" marL="0">
              <a:buNone/>
            </a:pPr>
            <a:r>
              <a:rPr lang="en-US" sz="1300" b="1" spc="200" kern="0" dirty="0">
                <a:solidFill>
                  <a:srgbClr val="55C8E8"/>
                </a:solidFill>
                <a:latin typeface="Calibri" pitchFamily="34" charset="0"/>
                <a:ea typeface="Calibri" pitchFamily="34" charset="-122"/>
                <a:cs typeface="Calibri" pitchFamily="34" charset="-120"/>
              </a:rPr>
              <a:t>MARKETPLACE HALL  ·  LESSON 3.09.03</a:t>
            </a:r>
            <a:endParaRPr lang="en-US" sz="1300" dirty="0"/>
          </a:p>
        </p:txBody>
      </p:sp>
      <p:sp>
        <p:nvSpPr>
          <p:cNvPr id="6" name="Text 3"/>
          <p:cNvSpPr/>
          <p:nvPr/>
        </p:nvSpPr>
        <p:spPr>
          <a:xfrm>
            <a:off x="1219200" y="2499360"/>
            <a:ext cx="9753600" cy="1828800"/>
          </a:xfrm>
          <a:prstGeom prst="rect">
            <a:avLst/>
          </a:prstGeom>
          <a:noFill/>
          <a:ln/>
        </p:spPr>
        <p:txBody>
          <a:bodyPr wrap="square" lIns="0" tIns="0" rIns="0" bIns="0" rtlCol="0" anchor="t"/>
          <a:lstStyle/>
          <a:p>
            <a:pPr algn="ctr" indent="0" marL="0">
              <a:buNone/>
            </a:pPr>
            <a:r>
              <a:rPr lang="en-US" sz="4000" b="1" dirty="0">
                <a:solidFill>
                  <a:srgbClr val="FFFFFF"/>
                </a:solidFill>
                <a:latin typeface="Cambria" pitchFamily="34" charset="0"/>
                <a:ea typeface="Cambria" pitchFamily="34" charset="-122"/>
                <a:cs typeface="Cambria" pitchFamily="34" charset="-120"/>
              </a:rPr>
              <a:t>Goods, Services,</a:t>
            </a:r>
            <a:endParaRPr lang="en-US" sz="4000" dirty="0"/>
          </a:p>
          <a:p>
            <a:pPr algn="ctr" indent="0" marL="0">
              <a:buNone/>
            </a:pPr>
            <a:r>
              <a:rPr lang="en-US" sz="4000" b="1" dirty="0">
                <a:solidFill>
                  <a:srgbClr val="FFFFFF"/>
                </a:solidFill>
                <a:latin typeface="Cambria" pitchFamily="34" charset="0"/>
                <a:ea typeface="Cambria" pitchFamily="34" charset="-122"/>
                <a:cs typeface="Cambria" pitchFamily="34" charset="-120"/>
              </a:rPr>
              <a:t>Buyers &amp; Sellers</a:t>
            </a:r>
            <a:endParaRPr lang="en-US" sz="4000" dirty="0"/>
          </a:p>
        </p:txBody>
      </p:sp>
      <p:sp>
        <p:nvSpPr>
          <p:cNvPr id="7" name="Text 4"/>
          <p:cNvSpPr/>
          <p:nvPr/>
        </p:nvSpPr>
        <p:spPr>
          <a:xfrm>
            <a:off x="1219200" y="4328160"/>
            <a:ext cx="9753600" cy="426720"/>
          </a:xfrm>
          <a:prstGeom prst="rect">
            <a:avLst/>
          </a:prstGeom>
          <a:noFill/>
          <a:ln/>
        </p:spPr>
        <p:txBody>
          <a:bodyPr wrap="square" lIns="0" tIns="0" rIns="0" bIns="0" rtlCol="0" anchor="ctr"/>
          <a:lstStyle/>
          <a:p>
            <a:pPr algn="ctr" indent="0" marL="0">
              <a:buNone/>
            </a:pPr>
            <a:r>
              <a:rPr lang="en-US" sz="1300" dirty="0">
                <a:solidFill>
                  <a:srgbClr val="7A88A8"/>
                </a:solidFill>
                <a:latin typeface="Calibri" pitchFamily="34" charset="0"/>
                <a:ea typeface="Calibri" pitchFamily="34" charset="-122"/>
                <a:cs typeface="Calibri" pitchFamily="34" charset="-120"/>
              </a:rPr>
              <a:t>Basics of Economics  ·  Week 25  ·  Q4</a:t>
            </a:r>
            <a:endParaRPr lang="en-US" sz="1300" dirty="0"/>
          </a:p>
        </p:txBody>
      </p:sp>
      <p:sp>
        <p:nvSpPr>
          <p:cNvPr id="8" name="Text 5"/>
          <p:cNvSpPr/>
          <p:nvPr/>
        </p:nvSpPr>
        <p:spPr>
          <a:xfrm>
            <a:off x="1463040" y="5059680"/>
            <a:ext cx="9265920" cy="975360"/>
          </a:xfrm>
          <a:prstGeom prst="rect">
            <a:avLst/>
          </a:prstGeom>
          <a:noFill/>
          <a:ln/>
        </p:spPr>
        <p:txBody>
          <a:bodyPr wrap="square" lIns="0" tIns="0" rIns="0" bIns="0" rtlCol="0" anchor="t"/>
          <a:lstStyle/>
          <a:p>
            <a:pPr algn="ctr" indent="0" marL="0">
              <a:buNone/>
            </a:pPr>
            <a:r>
              <a:rPr lang="en-US" sz="1400" i="1" dirty="0">
                <a:solidFill>
                  <a:srgbClr val="D4943A"/>
                </a:solidFill>
                <a:latin typeface="Cambria" pitchFamily="34" charset="0"/>
                <a:ea typeface="Cambria" pitchFamily="34" charset="-122"/>
                <a:cs typeface="Cambria" pitchFamily="34" charset="-120"/>
              </a:rPr>
              <a:t>"What's the difference between something you can hold and help you can use --</a:t>
            </a:r>
            <a:endParaRPr lang="en-US" sz="1400" dirty="0"/>
          </a:p>
          <a:p>
            <a:pPr algn="ctr" indent="0" marL="0">
              <a:buNone/>
            </a:pPr>
            <a:r>
              <a:rPr lang="en-US" sz="1400" i="1" dirty="0">
                <a:solidFill>
                  <a:srgbClr val="D4943A"/>
                </a:solidFill>
                <a:latin typeface="Cambria" pitchFamily="34" charset="0"/>
                <a:ea typeface="Cambria" pitchFamily="34" charset="-122"/>
                <a:cs typeface="Cambria" pitchFamily="34" charset="-120"/>
              </a:rPr>
              <a:t>and who buys and sells each one?"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1C42"/>
        </a:solidFill>
      </p:bgPr>
    </p:bg>
    <p:spTree>
      <p:nvGrpSpPr>
        <p:cNvPr id="1" name=""/>
        <p:cNvGrpSpPr/>
        <p:nvPr/>
      </p:nvGrpSpPr>
      <p:grpSpPr>
        <a:xfrm>
          <a:off x="0" y="0"/>
          <a:ext cx="0" cy="0"/>
          <a:chOff x="0" y="0"/>
          <a:chExt cx="0" cy="0"/>
        </a:xfrm>
      </p:grpSpPr>
      <p:sp>
        <p:nvSpPr>
          <p:cNvPr id="2" name="Text 0"/>
          <p:cNvSpPr/>
          <p:nvPr/>
        </p:nvSpPr>
        <p:spPr>
          <a:xfrm>
            <a:off x="487680" y="36576"/>
            <a:ext cx="10972800" cy="304800"/>
          </a:xfrm>
          <a:prstGeom prst="rect">
            <a:avLst/>
          </a:prstGeom>
          <a:noFill/>
          <a:ln/>
        </p:spPr>
        <p:txBody>
          <a:bodyPr wrap="square" lIns="0" tIns="0" rIns="0" bIns="0" rtlCol="0" anchor="ctr"/>
          <a:lstStyle/>
          <a:p>
            <a:pPr indent="0" marL="0">
              <a:buNone/>
            </a:pPr>
            <a:r>
              <a:rPr lang="en-US" sz="1000" b="1" spc="150" kern="0" dirty="0">
                <a:solidFill>
                  <a:srgbClr val="55C8E8"/>
                </a:solidFill>
                <a:latin typeface="Calibri" pitchFamily="34" charset="0"/>
                <a:ea typeface="Calibri" pitchFamily="34" charset="-122"/>
                <a:cs typeface="Calibri" pitchFamily="34" charset="-120"/>
              </a:rPr>
              <a:t>ENTER THE MUSEUM</a:t>
            </a:r>
            <a:endParaRPr lang="en-US" sz="1000" dirty="0"/>
          </a:p>
        </p:txBody>
      </p:sp>
      <p:sp>
        <p:nvSpPr>
          <p:cNvPr id="3" name="Text 1"/>
          <p:cNvSpPr/>
          <p:nvPr/>
        </p:nvSpPr>
        <p:spPr>
          <a:xfrm>
            <a:off x="487680" y="341376"/>
            <a:ext cx="10972800" cy="8534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Four New Booths, One Big Problem</a:t>
            </a:r>
            <a:endParaRPr lang="en-US" sz="3000" dirty="0"/>
          </a:p>
        </p:txBody>
      </p:sp>
      <p:sp>
        <p:nvSpPr>
          <p:cNvPr id="4" name="Text 2"/>
          <p:cNvSpPr/>
          <p:nvPr/>
        </p:nvSpPr>
        <p:spPr>
          <a:xfrm>
            <a:off x="487680" y="1280160"/>
            <a:ext cx="10972800" cy="1341120"/>
          </a:xfrm>
          <a:prstGeom prst="rect">
            <a:avLst/>
          </a:prstGeom>
          <a:noFill/>
          <a:ln/>
        </p:spPr>
        <p:txBody>
          <a:bodyPr wrap="square" lIns="0" tIns="0" rIns="0" bIns="0" rtlCol="0" anchor="t"/>
          <a:lstStyle/>
          <a:p>
            <a:pPr indent="0" marL="0">
              <a:buNone/>
            </a:pPr>
            <a:r>
              <a:rPr lang="en-US" sz="1400" dirty="0">
                <a:solidFill>
                  <a:srgbClr val="F0F2F8"/>
                </a:solidFill>
                <a:latin typeface="Calibri" pitchFamily="34" charset="0"/>
                <a:ea typeface="Calibri" pitchFamily="34" charset="-122"/>
                <a:cs typeface="Calibri" pitchFamily="34" charset="-120"/>
              </a:rPr>
              <a:t>The bakery is busy. The barber has a line. The cobbler is hammering. The piano teacher is tuning. "Two of these sell things," says the head curator. "Two sell help. And visitors keep walking up to the wrong one."</a:t>
            </a:r>
            <a:endParaRPr lang="en-US" sz="1400" dirty="0"/>
          </a:p>
        </p:txBody>
      </p:sp>
      <p:sp>
        <p:nvSpPr>
          <p:cNvPr id="5" name="Shape 3"/>
          <p:cNvSpPr/>
          <p:nvPr/>
        </p:nvSpPr>
        <p:spPr>
          <a:xfrm>
            <a:off x="487680" y="2743200"/>
            <a:ext cx="2621280" cy="1219200"/>
          </a:xfrm>
          <a:prstGeom prst="roundRect">
            <a:avLst>
              <a:gd name="adj" fmla="val 12000"/>
            </a:avLst>
          </a:prstGeom>
          <a:solidFill>
            <a:srgbClr val="1A8A7D"/>
          </a:solidFill>
          <a:ln/>
          <a:effectLst>
            <a:outerShdw sx="100000" sy="100000" kx="0" ky="0" algn="bl" rotWithShape="0" blurRad="63500" dist="25400" dir="8100000">
              <a:srgbClr val="000000">
                <a:alpha val="15000"/>
              </a:srgbClr>
            </a:outerShdw>
          </a:effectLst>
        </p:spPr>
      </p:sp>
      <p:sp>
        <p:nvSpPr>
          <p:cNvPr id="6" name="Text 4"/>
          <p:cNvSpPr/>
          <p:nvPr/>
        </p:nvSpPr>
        <p:spPr>
          <a:xfrm>
            <a:off x="487680" y="2816352"/>
            <a:ext cx="2621280" cy="304800"/>
          </a:xfrm>
          <a:prstGeom prst="rect">
            <a:avLst/>
          </a:prstGeom>
          <a:noFill/>
          <a:ln/>
        </p:spPr>
        <p:txBody>
          <a:bodyPr wrap="square" lIns="0" tIns="0" rIns="0" bIns="0" rtlCol="0" anchor="ctr"/>
          <a:lstStyle/>
          <a:p>
            <a:pPr algn="ctr" indent="0" marL="0">
              <a:buNone/>
            </a:pPr>
            <a:r>
              <a:rPr lang="en-US" sz="900" b="1" spc="100" kern="0" dirty="0">
                <a:solidFill>
                  <a:srgbClr val="A0E8DA"/>
                </a:solidFill>
                <a:latin typeface="Calibri" pitchFamily="34" charset="0"/>
                <a:ea typeface="Calibri" pitchFamily="34" charset="-122"/>
                <a:cs typeface="Calibri" pitchFamily="34" charset="-120"/>
              </a:rPr>
              <a:t>Hall 1</a:t>
            </a:r>
            <a:endParaRPr lang="en-US" sz="900" dirty="0"/>
          </a:p>
        </p:txBody>
      </p:sp>
      <p:sp>
        <p:nvSpPr>
          <p:cNvPr id="7" name="Text 5"/>
          <p:cNvSpPr/>
          <p:nvPr/>
        </p:nvSpPr>
        <p:spPr>
          <a:xfrm>
            <a:off x="487680" y="3084576"/>
            <a:ext cx="2621280" cy="4267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Bakery</a:t>
            </a:r>
            <a:endParaRPr lang="en-US" sz="1600" dirty="0"/>
          </a:p>
        </p:txBody>
      </p:sp>
      <p:sp>
        <p:nvSpPr>
          <p:cNvPr id="8" name="Text 6"/>
          <p:cNvSpPr/>
          <p:nvPr/>
        </p:nvSpPr>
        <p:spPr>
          <a:xfrm>
            <a:off x="585216" y="3511296"/>
            <a:ext cx="2426208" cy="304800"/>
          </a:xfrm>
          <a:prstGeom prst="rect">
            <a:avLst/>
          </a:prstGeom>
          <a:noFill/>
          <a:ln/>
        </p:spPr>
        <p:txBody>
          <a:bodyPr wrap="square" lIns="0" tIns="0" rIns="0" bIns="0" rtlCol="0" anchor="ctr"/>
          <a:lstStyle/>
          <a:p>
            <a:pPr algn="ctr" indent="0" marL="0">
              <a:buNone/>
            </a:pPr>
            <a:r>
              <a:rPr lang="en-US" sz="900" dirty="0">
                <a:solidFill>
                  <a:srgbClr val="D6F2FB"/>
                </a:solidFill>
                <a:latin typeface="Calibri" pitchFamily="34" charset="0"/>
                <a:ea typeface="Calibri" pitchFamily="34" charset="-122"/>
                <a:cs typeface="Calibri" pitchFamily="34" charset="-120"/>
              </a:rPr>
              <a:t>sells a thing</a:t>
            </a:r>
            <a:endParaRPr lang="en-US" sz="900" dirty="0"/>
          </a:p>
        </p:txBody>
      </p:sp>
      <p:sp>
        <p:nvSpPr>
          <p:cNvPr id="9" name="Shape 7"/>
          <p:cNvSpPr/>
          <p:nvPr/>
        </p:nvSpPr>
        <p:spPr>
          <a:xfrm>
            <a:off x="3291840" y="2743200"/>
            <a:ext cx="2621280" cy="1219200"/>
          </a:xfrm>
          <a:prstGeom prst="roundRect">
            <a:avLst>
              <a:gd name="adj" fmla="val 12000"/>
            </a:avLst>
          </a:prstGeom>
          <a:solidFill>
            <a:srgbClr val="3A4A6B"/>
          </a:solidFill>
          <a:ln/>
          <a:effectLst>
            <a:outerShdw sx="100000" sy="100000" kx="0" ky="0" algn="bl" rotWithShape="0" blurRad="63500" dist="25400" dir="8100000">
              <a:srgbClr val="000000">
                <a:alpha val="15000"/>
              </a:srgbClr>
            </a:outerShdw>
          </a:effectLst>
        </p:spPr>
      </p:sp>
      <p:sp>
        <p:nvSpPr>
          <p:cNvPr id="10" name="Text 8"/>
          <p:cNvSpPr/>
          <p:nvPr/>
        </p:nvSpPr>
        <p:spPr>
          <a:xfrm>
            <a:off x="3291840" y="2816352"/>
            <a:ext cx="2621280" cy="304800"/>
          </a:xfrm>
          <a:prstGeom prst="rect">
            <a:avLst/>
          </a:prstGeom>
          <a:noFill/>
          <a:ln/>
        </p:spPr>
        <p:txBody>
          <a:bodyPr wrap="square" lIns="0" tIns="0" rIns="0" bIns="0" rtlCol="0" anchor="ctr"/>
          <a:lstStyle/>
          <a:p>
            <a:pPr algn="ctr" indent="0" marL="0">
              <a:buNone/>
            </a:pPr>
            <a:r>
              <a:rPr lang="en-US" sz="900" b="1" spc="100" kern="0" dirty="0">
                <a:solidFill>
                  <a:srgbClr val="7A88A8"/>
                </a:solidFill>
                <a:latin typeface="Calibri" pitchFamily="34" charset="0"/>
                <a:ea typeface="Calibri" pitchFamily="34" charset="-122"/>
                <a:cs typeface="Calibri" pitchFamily="34" charset="-120"/>
              </a:rPr>
              <a:t>Hall 2</a:t>
            </a:r>
            <a:endParaRPr lang="en-US" sz="900" dirty="0"/>
          </a:p>
        </p:txBody>
      </p:sp>
      <p:sp>
        <p:nvSpPr>
          <p:cNvPr id="11" name="Text 9"/>
          <p:cNvSpPr/>
          <p:nvPr/>
        </p:nvSpPr>
        <p:spPr>
          <a:xfrm>
            <a:off x="3291840" y="3084576"/>
            <a:ext cx="2621280" cy="426720"/>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a:t>
            </a:r>
            <a:endParaRPr lang="en-US" sz="2800" dirty="0"/>
          </a:p>
        </p:txBody>
      </p:sp>
      <p:sp>
        <p:nvSpPr>
          <p:cNvPr id="12" name="Shape 10"/>
          <p:cNvSpPr/>
          <p:nvPr/>
        </p:nvSpPr>
        <p:spPr>
          <a:xfrm>
            <a:off x="6096000" y="2743200"/>
            <a:ext cx="2621280" cy="1219200"/>
          </a:xfrm>
          <a:prstGeom prst="roundRect">
            <a:avLst>
              <a:gd name="adj" fmla="val 12000"/>
            </a:avLst>
          </a:prstGeom>
          <a:solidFill>
            <a:srgbClr val="3A4A6B"/>
          </a:solidFill>
          <a:ln/>
          <a:effectLst>
            <a:outerShdw sx="100000" sy="100000" kx="0" ky="0" algn="bl" rotWithShape="0" blurRad="63500" dist="25400" dir="8100000">
              <a:srgbClr val="000000">
                <a:alpha val="15000"/>
              </a:srgbClr>
            </a:outerShdw>
          </a:effectLst>
        </p:spPr>
      </p:sp>
      <p:sp>
        <p:nvSpPr>
          <p:cNvPr id="13" name="Text 11"/>
          <p:cNvSpPr/>
          <p:nvPr/>
        </p:nvSpPr>
        <p:spPr>
          <a:xfrm>
            <a:off x="6096000" y="2816352"/>
            <a:ext cx="2621280" cy="304800"/>
          </a:xfrm>
          <a:prstGeom prst="rect">
            <a:avLst/>
          </a:prstGeom>
          <a:noFill/>
          <a:ln/>
        </p:spPr>
        <p:txBody>
          <a:bodyPr wrap="square" lIns="0" tIns="0" rIns="0" bIns="0" rtlCol="0" anchor="ctr"/>
          <a:lstStyle/>
          <a:p>
            <a:pPr algn="ctr" indent="0" marL="0">
              <a:buNone/>
            </a:pPr>
            <a:r>
              <a:rPr lang="en-US" sz="900" b="1" spc="100" kern="0" dirty="0">
                <a:solidFill>
                  <a:srgbClr val="7A88A8"/>
                </a:solidFill>
                <a:latin typeface="Calibri" pitchFamily="34" charset="0"/>
                <a:ea typeface="Calibri" pitchFamily="34" charset="-122"/>
                <a:cs typeface="Calibri" pitchFamily="34" charset="-120"/>
              </a:rPr>
              <a:t>Hall 3</a:t>
            </a:r>
            <a:endParaRPr lang="en-US" sz="900" dirty="0"/>
          </a:p>
        </p:txBody>
      </p:sp>
      <p:sp>
        <p:nvSpPr>
          <p:cNvPr id="14" name="Text 12"/>
          <p:cNvSpPr/>
          <p:nvPr/>
        </p:nvSpPr>
        <p:spPr>
          <a:xfrm>
            <a:off x="6096000" y="3084576"/>
            <a:ext cx="2621280" cy="426720"/>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a:t>
            </a:r>
            <a:endParaRPr lang="en-US" sz="2800" dirty="0"/>
          </a:p>
        </p:txBody>
      </p:sp>
      <p:sp>
        <p:nvSpPr>
          <p:cNvPr id="15" name="Shape 13"/>
          <p:cNvSpPr/>
          <p:nvPr/>
        </p:nvSpPr>
        <p:spPr>
          <a:xfrm>
            <a:off x="8900160" y="2743200"/>
            <a:ext cx="2621280" cy="1219200"/>
          </a:xfrm>
          <a:prstGeom prst="roundRect">
            <a:avLst>
              <a:gd name="adj" fmla="val 12000"/>
            </a:avLst>
          </a:prstGeom>
          <a:solidFill>
            <a:srgbClr val="3A4A6B"/>
          </a:solidFill>
          <a:ln/>
          <a:effectLst>
            <a:outerShdw sx="100000" sy="100000" kx="0" ky="0" algn="bl" rotWithShape="0" blurRad="63500" dist="25400" dir="8100000">
              <a:srgbClr val="000000">
                <a:alpha val="15000"/>
              </a:srgbClr>
            </a:outerShdw>
          </a:effectLst>
        </p:spPr>
      </p:sp>
      <p:sp>
        <p:nvSpPr>
          <p:cNvPr id="16" name="Text 14"/>
          <p:cNvSpPr/>
          <p:nvPr/>
        </p:nvSpPr>
        <p:spPr>
          <a:xfrm>
            <a:off x="8900160" y="2816352"/>
            <a:ext cx="2621280" cy="304800"/>
          </a:xfrm>
          <a:prstGeom prst="rect">
            <a:avLst/>
          </a:prstGeom>
          <a:noFill/>
          <a:ln/>
        </p:spPr>
        <p:txBody>
          <a:bodyPr wrap="square" lIns="0" tIns="0" rIns="0" bIns="0" rtlCol="0" anchor="ctr"/>
          <a:lstStyle/>
          <a:p>
            <a:pPr algn="ctr" indent="0" marL="0">
              <a:buNone/>
            </a:pPr>
            <a:r>
              <a:rPr lang="en-US" sz="900" b="1" spc="100" kern="0" dirty="0">
                <a:solidFill>
                  <a:srgbClr val="7A88A8"/>
                </a:solidFill>
                <a:latin typeface="Calibri" pitchFamily="34" charset="0"/>
                <a:ea typeface="Calibri" pitchFamily="34" charset="-122"/>
                <a:cs typeface="Calibri" pitchFamily="34" charset="-120"/>
              </a:rPr>
              <a:t>Hall 4</a:t>
            </a:r>
            <a:endParaRPr lang="en-US" sz="900" dirty="0"/>
          </a:p>
        </p:txBody>
      </p:sp>
      <p:sp>
        <p:nvSpPr>
          <p:cNvPr id="17" name="Text 15"/>
          <p:cNvSpPr/>
          <p:nvPr/>
        </p:nvSpPr>
        <p:spPr>
          <a:xfrm>
            <a:off x="8900160" y="3084576"/>
            <a:ext cx="2621280" cy="426720"/>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a:t>
            </a:r>
            <a:endParaRPr lang="en-US" sz="2800" dirty="0"/>
          </a:p>
        </p:txBody>
      </p:sp>
      <p:sp>
        <p:nvSpPr>
          <p:cNvPr id="18" name="Text 16"/>
          <p:cNvSpPr/>
          <p:nvPr/>
        </p:nvSpPr>
        <p:spPr>
          <a:xfrm>
            <a:off x="487680" y="4206240"/>
            <a:ext cx="10972800" cy="609600"/>
          </a:xfrm>
          <a:prstGeom prst="rect">
            <a:avLst/>
          </a:prstGeom>
          <a:noFill/>
          <a:ln/>
        </p:spPr>
        <p:txBody>
          <a:bodyPr wrap="square" lIns="0" tIns="0" rIns="0" bIns="0" rtlCol="0" anchor="t"/>
          <a:lstStyle/>
          <a:p>
            <a:pPr indent="0" marL="0">
              <a:buNone/>
            </a:pPr>
            <a:r>
              <a:rPr lang="en-US" sz="1300" i="1" dirty="0">
                <a:solidFill>
                  <a:srgbClr val="D4943A"/>
                </a:solidFill>
                <a:latin typeface="Cambria" pitchFamily="34" charset="0"/>
                <a:ea typeface="Cambria" pitchFamily="34" charset="-122"/>
                <a:cs typeface="Cambria" pitchFamily="34" charset="-120"/>
              </a:rPr>
              <a:t>Your job as Trade &amp; Choice Curator: label these booths so visitors never get confused again.</a:t>
            </a:r>
            <a:endParaRPr lang="en-US" sz="1300" dirty="0"/>
          </a:p>
        </p:txBody>
      </p:sp>
      <p:sp>
        <p:nvSpPr>
          <p:cNvPr id="19" name="Text 17"/>
          <p:cNvSpPr/>
          <p:nvPr/>
        </p:nvSpPr>
        <p:spPr>
          <a:xfrm>
            <a:off x="487680" y="5059680"/>
            <a:ext cx="10972800" cy="487680"/>
          </a:xfrm>
          <a:prstGeom prst="rect">
            <a:avLst/>
          </a:prstGeom>
          <a:noFill/>
          <a:ln/>
        </p:spPr>
        <p:txBody>
          <a:bodyPr wrap="square" lIns="0" tIns="0" rIns="0" bIns="0" rtlCol="0" anchor="ctr"/>
          <a:lstStyle/>
          <a:p>
            <a:pPr indent="0" marL="0">
              <a:buNone/>
            </a:pPr>
            <a:r>
              <a:rPr lang="en-US" sz="1200" dirty="0">
                <a:solidFill>
                  <a:srgbClr val="7A88A8"/>
                </a:solidFill>
                <a:latin typeface="Calibri" pitchFamily="34" charset="0"/>
                <a:ea typeface="Calibri" pitchFamily="34" charset="-122"/>
                <a:cs typeface="Calibri" pitchFamily="34" charset="-120"/>
              </a:rPr>
              <a:t>Watch for it: by the end of today, all four booths will unlock.</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1C42"/>
        </a:solidFill>
      </p:bgPr>
    </p:bg>
    <p:spTree>
      <p:nvGrpSpPr>
        <p:cNvPr id="1" name=""/>
        <p:cNvGrpSpPr/>
        <p:nvPr/>
      </p:nvGrpSpPr>
      <p:grpSpPr>
        <a:xfrm>
          <a:off x="0" y="0"/>
          <a:ext cx="0" cy="0"/>
          <a:chOff x="0" y="0"/>
          <a:chExt cx="0" cy="0"/>
        </a:xfrm>
      </p:grpSpPr>
      <p:sp>
        <p:nvSpPr>
          <p:cNvPr id="2" name="Text 0"/>
          <p:cNvSpPr/>
          <p:nvPr/>
        </p:nvSpPr>
        <p:spPr>
          <a:xfrm>
            <a:off x="487680" y="36576"/>
            <a:ext cx="10972800" cy="304800"/>
          </a:xfrm>
          <a:prstGeom prst="rect">
            <a:avLst/>
          </a:prstGeom>
          <a:noFill/>
          <a:ln/>
        </p:spPr>
        <p:txBody>
          <a:bodyPr wrap="square" lIns="0" tIns="0" rIns="0" bIns="0" rtlCol="0" anchor="ctr"/>
          <a:lstStyle/>
          <a:p>
            <a:pPr indent="0" marL="0">
              <a:buNone/>
            </a:pPr>
            <a:r>
              <a:rPr lang="en-US" sz="1000" b="1" spc="150" kern="0" dirty="0">
                <a:solidFill>
                  <a:srgbClr val="D4943A"/>
                </a:solidFill>
                <a:latin typeface="Calibri" pitchFamily="34" charset="0"/>
                <a:ea typeface="Calibri" pitchFamily="34" charset="-122"/>
                <a:cs typeface="Calibri" pitchFamily="34" charset="-120"/>
              </a:rPr>
              <a:t>VIRTUE SPOTLIGHT</a:t>
            </a:r>
            <a:endParaRPr lang="en-US" sz="1000" dirty="0"/>
          </a:p>
        </p:txBody>
      </p:sp>
      <p:sp>
        <p:nvSpPr>
          <p:cNvPr id="3" name="Text 1"/>
          <p:cNvSpPr/>
          <p:nvPr/>
        </p:nvSpPr>
        <p:spPr>
          <a:xfrm>
            <a:off x="1219200" y="1158240"/>
            <a:ext cx="9753600" cy="1097280"/>
          </a:xfrm>
          <a:prstGeom prst="rect">
            <a:avLst/>
          </a:prstGeom>
          <a:noFill/>
          <a:ln/>
        </p:spPr>
        <p:txBody>
          <a:bodyPr wrap="square" lIns="0" tIns="0" rIns="0" bIns="0" rtlCol="0" anchor="ctr"/>
          <a:lstStyle/>
          <a:p>
            <a:pPr algn="ctr" indent="0" marL="0">
              <a:buNone/>
            </a:pPr>
            <a:r>
              <a:rPr lang="en-US" sz="4000" b="1" dirty="0">
                <a:solidFill>
                  <a:srgbClr val="D4943A"/>
                </a:solidFill>
                <a:latin typeface="Cambria" pitchFamily="34" charset="0"/>
                <a:ea typeface="Cambria" pitchFamily="34" charset="-122"/>
                <a:cs typeface="Cambria" pitchFamily="34" charset="-120"/>
              </a:rPr>
              <a:t>Service</a:t>
            </a:r>
            <a:endParaRPr lang="en-US" sz="4000" dirty="0"/>
          </a:p>
        </p:txBody>
      </p:sp>
      <p:sp>
        <p:nvSpPr>
          <p:cNvPr id="4" name="Text 2"/>
          <p:cNvSpPr/>
          <p:nvPr/>
        </p:nvSpPr>
        <p:spPr>
          <a:xfrm>
            <a:off x="1463040" y="2377440"/>
            <a:ext cx="9265920" cy="609600"/>
          </a:xfrm>
          <a:prstGeom prst="rect">
            <a:avLst/>
          </a:prstGeom>
          <a:noFill/>
          <a:ln/>
        </p:spPr>
        <p:txBody>
          <a:bodyPr wrap="square" lIns="0" tIns="0" rIns="0" bIns="0" rtlCol="0" anchor="ctr"/>
          <a:lstStyle/>
          <a:p>
            <a:pPr algn="ctr" indent="0" marL="0">
              <a:buNone/>
            </a:pPr>
            <a:r>
              <a:rPr lang="en-US" sz="1700" i="1" dirty="0">
                <a:solidFill>
                  <a:srgbClr val="FFFFFF"/>
                </a:solidFill>
                <a:latin typeface="Cambria" pitchFamily="34" charset="0"/>
                <a:ea typeface="Cambria" pitchFamily="34" charset="-122"/>
                <a:cs typeface="Cambria" pitchFamily="34" charset="-120"/>
              </a:rPr>
              <a:t>A service is help one person gives to another.</a:t>
            </a:r>
            <a:endParaRPr lang="en-US" sz="1700" dirty="0"/>
          </a:p>
        </p:txBody>
      </p:sp>
      <p:sp>
        <p:nvSpPr>
          <p:cNvPr id="5" name="Text 3"/>
          <p:cNvSpPr/>
          <p:nvPr/>
        </p:nvSpPr>
        <p:spPr>
          <a:xfrm>
            <a:off x="1706880" y="3230880"/>
            <a:ext cx="8778240" cy="1463040"/>
          </a:xfrm>
          <a:prstGeom prst="rect">
            <a:avLst/>
          </a:prstGeom>
          <a:noFill/>
          <a:ln/>
        </p:spPr>
        <p:txBody>
          <a:bodyPr wrap="square" lIns="0" tIns="0" rIns="0" bIns="0" rtlCol="0" anchor="t"/>
          <a:lstStyle/>
          <a:p>
            <a:pPr algn="ctr" indent="0" marL="0">
              <a:buNone/>
            </a:pPr>
            <a:r>
              <a:rPr lang="en-US" sz="1300" dirty="0">
                <a:solidFill>
                  <a:srgbClr val="F0F2F8"/>
                </a:solidFill>
                <a:latin typeface="Calibri" pitchFamily="34" charset="0"/>
                <a:ea typeface="Calibri" pitchFamily="34" charset="-122"/>
                <a:cs typeface="Calibri" pitchFamily="34" charset="-120"/>
              </a:rPr>
              <a:t>Cutting hair, fixing shoes, teaching piano -- these are all ways people serve their neighbors. Today, notice how a marketplace runs on more than things -- it runs on people willing to use their time and skill to help others.</a:t>
            </a:r>
            <a:endParaRPr lang="en-US" sz="1300" dirty="0"/>
          </a:p>
        </p:txBody>
      </p:sp>
      <p:sp>
        <p:nvSpPr>
          <p:cNvPr id="6" name="Shape 4"/>
          <p:cNvSpPr/>
          <p:nvPr/>
        </p:nvSpPr>
        <p:spPr>
          <a:xfrm>
            <a:off x="1706880" y="4937760"/>
            <a:ext cx="8778240" cy="1158240"/>
          </a:xfrm>
          <a:prstGeom prst="roundRect">
            <a:avLst>
              <a:gd name="adj" fmla="val 12632"/>
            </a:avLst>
          </a:prstGeom>
          <a:solidFill>
            <a:srgbClr val="1A2D5A"/>
          </a:solidFill>
          <a:ln/>
        </p:spPr>
      </p:sp>
      <p:sp>
        <p:nvSpPr>
          <p:cNvPr id="7" name="Text 5"/>
          <p:cNvSpPr/>
          <p:nvPr/>
        </p:nvSpPr>
        <p:spPr>
          <a:xfrm>
            <a:off x="1950720" y="5096256"/>
            <a:ext cx="8290560" cy="853440"/>
          </a:xfrm>
          <a:prstGeom prst="rect">
            <a:avLst/>
          </a:prstGeom>
          <a:noFill/>
          <a:ln/>
        </p:spPr>
        <p:txBody>
          <a:bodyPr wrap="square" lIns="0" tIns="0" rIns="0" bIns="0" rtlCol="0" anchor="ctr"/>
          <a:lstStyle/>
          <a:p>
            <a:pPr algn="ctr" indent="0" marL="0">
              <a:buNone/>
            </a:pPr>
            <a:r>
              <a:rPr lang="en-US" sz="1200" dirty="0">
                <a:solidFill>
                  <a:srgbClr val="55C8E8"/>
                </a:solidFill>
                <a:latin typeface="Calibri" pitchFamily="34" charset="0"/>
                <a:ea typeface="Calibri" pitchFamily="34" charset="-122"/>
                <a:cs typeface="Calibri" pitchFamily="34" charset="-120"/>
              </a:rPr>
              <a:t>Your Role Today: You are a Trade &amp; Choice Curator -- your job is to label the back-wall booths so museum visitors don't mix them up.</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87680" y="36576"/>
            <a:ext cx="10972800" cy="304800"/>
          </a:xfrm>
          <a:prstGeom prst="rect">
            <a:avLst/>
          </a:prstGeom>
          <a:noFill/>
          <a:ln/>
        </p:spPr>
        <p:txBody>
          <a:bodyPr wrap="square" lIns="0" tIns="0" rIns="0" bIns="0" rtlCol="0" anchor="ctr"/>
          <a:lstStyle/>
          <a:p>
            <a:pPr indent="0" marL="0">
              <a:buNone/>
            </a:pPr>
            <a:r>
              <a:rPr lang="en-US" sz="1000" b="1" spc="150" kern="0" dirty="0">
                <a:solidFill>
                  <a:srgbClr val="1A8A7D"/>
                </a:solidFill>
                <a:latin typeface="Calibri" pitchFamily="34" charset="0"/>
                <a:ea typeface="Calibri" pitchFamily="34" charset="-122"/>
                <a:cs typeface="Calibri" pitchFamily="34" charset="-120"/>
              </a:rPr>
              <a:t>EXPLORE  ·  CLUE 1</a:t>
            </a:r>
            <a:endParaRPr lang="en-US" sz="1000" dirty="0"/>
          </a:p>
        </p:txBody>
      </p:sp>
      <p:sp>
        <p:nvSpPr>
          <p:cNvPr id="3" name="Text 1"/>
          <p:cNvSpPr/>
          <p:nvPr/>
        </p:nvSpPr>
        <p:spPr>
          <a:xfrm>
            <a:off x="487680" y="341376"/>
            <a:ext cx="10972800" cy="853440"/>
          </a:xfrm>
          <a:prstGeom prst="rect">
            <a:avLst/>
          </a:prstGeom>
          <a:noFill/>
          <a:ln/>
        </p:spPr>
        <p:txBody>
          <a:bodyPr wrap="square" lIns="0" tIns="0" rIns="0" bIns="0" rtlCol="0" anchor="ctr"/>
          <a:lstStyle/>
          <a:p>
            <a:pPr indent="0" marL="0">
              <a:buNone/>
            </a:pPr>
            <a:r>
              <a:rPr lang="en-US" sz="3000" b="1" dirty="0">
                <a:solidFill>
                  <a:srgbClr val="0E1C42"/>
                </a:solidFill>
                <a:latin typeface="Cambria" pitchFamily="34" charset="0"/>
                <a:ea typeface="Cambria" pitchFamily="34" charset="-122"/>
                <a:cs typeface="Cambria" pitchFamily="34" charset="-120"/>
              </a:rPr>
              <a:t>Enter the Scene: A Mixed Marketplace</a:t>
            </a:r>
            <a:endParaRPr lang="en-US" sz="3000" dirty="0"/>
          </a:p>
        </p:txBody>
      </p:sp>
      <p:sp>
        <p:nvSpPr>
          <p:cNvPr id="4" name="Shape 2"/>
          <p:cNvSpPr/>
          <p:nvPr/>
        </p:nvSpPr>
        <p:spPr>
          <a:xfrm>
            <a:off x="487680" y="1158240"/>
            <a:ext cx="6217920" cy="3474720"/>
          </a:xfrm>
          <a:prstGeom prst="roundRect">
            <a:avLst>
              <a:gd name="adj" fmla="val 4211"/>
            </a:avLst>
          </a:prstGeom>
          <a:solidFill>
            <a:srgbClr val="E2E8F4"/>
          </a:solidFill>
          <a:ln w="19050">
            <a:solidFill>
              <a:srgbClr val="B0B8CC"/>
            </a:solidFill>
            <a:prstDash val="dash"/>
          </a:ln>
        </p:spPr>
      </p:sp>
      <p:sp>
        <p:nvSpPr>
          <p:cNvPr id="5" name="Text 3"/>
          <p:cNvSpPr/>
          <p:nvPr/>
        </p:nvSpPr>
        <p:spPr>
          <a:xfrm>
            <a:off x="487680" y="1158240"/>
            <a:ext cx="6217920" cy="36576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6" name="Text 4"/>
          <p:cNvSpPr/>
          <p:nvPr/>
        </p:nvSpPr>
        <p:spPr>
          <a:xfrm>
            <a:off x="670560" y="1524000"/>
            <a:ext cx="5852160" cy="298704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A bright historical Main Street photo/painting (early 1900s) showing BOTH goods shops (bakery, fruit stand, grocer, butcher) and service shops (barber pole, cobbler, blacksmith, tailor) at the same time. No close-up faces -- focus on storefronts and signs.</a:t>
            </a:r>
            <a:endParaRPr lang="en-US" sz="1100" dirty="0"/>
          </a:p>
        </p:txBody>
      </p:sp>
      <p:sp>
        <p:nvSpPr>
          <p:cNvPr id="7" name="Text 5"/>
          <p:cNvSpPr/>
          <p:nvPr/>
        </p:nvSpPr>
        <p:spPr>
          <a:xfrm>
            <a:off x="7010400" y="1158240"/>
            <a:ext cx="4328160" cy="426720"/>
          </a:xfrm>
          <a:prstGeom prst="rect">
            <a:avLst/>
          </a:prstGeom>
          <a:noFill/>
          <a:ln/>
        </p:spPr>
        <p:txBody>
          <a:bodyPr wrap="square" lIns="0" tIns="0" rIns="0" bIns="0" rtlCol="0" anchor="ctr"/>
          <a:lstStyle/>
          <a:p>
            <a:pPr indent="0" marL="0">
              <a:buNone/>
            </a:pPr>
            <a:r>
              <a:rPr lang="en-US" sz="1500" b="1" dirty="0">
                <a:solidFill>
                  <a:srgbClr val="0E1C42"/>
                </a:solidFill>
                <a:latin typeface="Cambria" pitchFamily="34" charset="0"/>
                <a:ea typeface="Cambria" pitchFamily="34" charset="-122"/>
                <a:cs typeface="Cambria" pitchFamily="34" charset="-120"/>
              </a:rPr>
              <a:t>What do you notice?</a:t>
            </a:r>
            <a:endParaRPr lang="en-US" sz="1500" dirty="0"/>
          </a:p>
        </p:txBody>
      </p:sp>
      <p:sp>
        <p:nvSpPr>
          <p:cNvPr id="8" name="Text 6"/>
          <p:cNvSpPr/>
          <p:nvPr/>
        </p:nvSpPr>
        <p:spPr>
          <a:xfrm>
            <a:off x="7010400" y="1645920"/>
            <a:ext cx="4328160" cy="1219200"/>
          </a:xfrm>
          <a:prstGeom prst="rect">
            <a:avLst/>
          </a:prstGeom>
          <a:noFill/>
          <a:ln/>
        </p:spPr>
        <p:txBody>
          <a:bodyPr wrap="square" lIns="0" tIns="0" rIns="0" bIns="0" rtlCol="0" anchor="t"/>
          <a:lstStyle/>
          <a:p>
            <a:pPr indent="0" marL="0">
              <a:buNone/>
            </a:pPr>
            <a:r>
              <a:rPr lang="en-US" sz="1200" dirty="0">
                <a:solidFill>
                  <a:srgbClr val="0E1C42"/>
                </a:solidFill>
                <a:latin typeface="Calibri" pitchFamily="34" charset="0"/>
                <a:ea typeface="Calibri" pitchFamily="34" charset="-122"/>
                <a:cs typeface="Calibri" pitchFamily="34" charset="-120"/>
              </a:rPr>
              <a:t>Look closely at the shop signs and storefronts for 5 quiet seconds. Which ones sell things you can carry home? Which ones offer help you'd walk in for?</a:t>
            </a:r>
            <a:endParaRPr lang="en-US" sz="1200" dirty="0"/>
          </a:p>
        </p:txBody>
      </p:sp>
      <p:sp>
        <p:nvSpPr>
          <p:cNvPr id="9" name="Shape 7"/>
          <p:cNvSpPr/>
          <p:nvPr/>
        </p:nvSpPr>
        <p:spPr>
          <a:xfrm>
            <a:off x="7010400" y="2987040"/>
            <a:ext cx="4328160" cy="1645920"/>
          </a:xfrm>
          <a:prstGeom prst="roundRect">
            <a:avLst>
              <a:gd name="adj" fmla="val 8889"/>
            </a:avLst>
          </a:prstGeom>
          <a:solidFill>
            <a:srgbClr val="FFF3DC"/>
          </a:solidFill>
          <a:ln w="19050">
            <a:solidFill>
              <a:srgbClr val="F5E6C8"/>
            </a:solidFill>
            <a:prstDash val="solid"/>
          </a:ln>
        </p:spPr>
      </p:sp>
      <p:sp>
        <p:nvSpPr>
          <p:cNvPr id="10" name="Text 8"/>
          <p:cNvSpPr/>
          <p:nvPr/>
        </p:nvSpPr>
        <p:spPr>
          <a:xfrm>
            <a:off x="7193280" y="3060192"/>
            <a:ext cx="3962400" cy="268224"/>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1" name="Text 9"/>
          <p:cNvSpPr/>
          <p:nvPr/>
        </p:nvSpPr>
        <p:spPr>
          <a:xfrm>
            <a:off x="7193280" y="3328416"/>
            <a:ext cx="3962400" cy="121920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notice..."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think that shop sells... because..."</a:t>
            </a:r>
            <a:endParaRPr lang="en-US" sz="1200" dirty="0"/>
          </a:p>
        </p:txBody>
      </p:sp>
      <p:sp>
        <p:nvSpPr>
          <p:cNvPr id="12" name="Text 10"/>
          <p:cNvSpPr/>
          <p:nvPr/>
        </p:nvSpPr>
        <p:spPr>
          <a:xfrm>
            <a:off x="487680" y="4815840"/>
            <a:ext cx="10972800" cy="426720"/>
          </a:xfrm>
          <a:prstGeom prst="rect">
            <a:avLst/>
          </a:prstGeom>
          <a:noFill/>
          <a:ln/>
        </p:spPr>
        <p:txBody>
          <a:bodyPr wrap="square" lIns="0" tIns="0" rIns="0" bIns="0" rtlCol="0" anchor="ctr"/>
          <a:lstStyle/>
          <a:p>
            <a:pPr indent="0" marL="0">
              <a:buNone/>
            </a:pPr>
            <a:r>
              <a:rPr lang="en-US" sz="1100" i="1" dirty="0">
                <a:solidFill>
                  <a:srgbClr val="7A88A8"/>
                </a:solidFill>
                <a:latin typeface="Calibri" pitchFamily="34" charset="0"/>
                <a:ea typeface="Calibri" pitchFamily="34" charset="-122"/>
                <a:cs typeface="Calibri" pitchFamily="34" charset="-120"/>
              </a:rPr>
              <a:t>Silent observation: 5 seconds. No labels yet -- just look.</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87680" y="36576"/>
            <a:ext cx="10972800" cy="304800"/>
          </a:xfrm>
          <a:prstGeom prst="rect">
            <a:avLst/>
          </a:prstGeom>
          <a:noFill/>
          <a:ln/>
        </p:spPr>
        <p:txBody>
          <a:bodyPr wrap="square" lIns="0" tIns="0" rIns="0" bIns="0" rtlCol="0" anchor="ctr"/>
          <a:lstStyle/>
          <a:p>
            <a:pPr indent="0" marL="0">
              <a:buNone/>
            </a:pPr>
            <a:r>
              <a:rPr lang="en-US" sz="1000" b="1" spc="150" kern="0" dirty="0">
                <a:solidFill>
                  <a:srgbClr val="1A8A7D"/>
                </a:solidFill>
                <a:latin typeface="Calibri" pitchFamily="34" charset="0"/>
                <a:ea typeface="Calibri" pitchFamily="34" charset="-122"/>
                <a:cs typeface="Calibri" pitchFamily="34" charset="-120"/>
              </a:rPr>
              <a:t>EXPLORE  ·  DISCUSS</a:t>
            </a:r>
            <a:endParaRPr lang="en-US" sz="1000" dirty="0"/>
          </a:p>
        </p:txBody>
      </p:sp>
      <p:sp>
        <p:nvSpPr>
          <p:cNvPr id="3" name="Text 1"/>
          <p:cNvSpPr/>
          <p:nvPr/>
        </p:nvSpPr>
        <p:spPr>
          <a:xfrm>
            <a:off x="487680" y="341376"/>
            <a:ext cx="10972800" cy="853440"/>
          </a:xfrm>
          <a:prstGeom prst="rect">
            <a:avLst/>
          </a:prstGeom>
          <a:noFill/>
          <a:ln/>
        </p:spPr>
        <p:txBody>
          <a:bodyPr wrap="square" lIns="0" tIns="0" rIns="0" bIns="0" rtlCol="0" anchor="ctr"/>
          <a:lstStyle/>
          <a:p>
            <a:pPr indent="0" marL="0">
              <a:buNone/>
            </a:pPr>
            <a:r>
              <a:rPr lang="en-US" sz="3000" b="1" dirty="0">
                <a:solidFill>
                  <a:srgbClr val="0E1C42"/>
                </a:solidFill>
                <a:latin typeface="Cambria" pitchFamily="34" charset="0"/>
                <a:ea typeface="Cambria" pitchFamily="34" charset="-122"/>
                <a:cs typeface="Cambria" pitchFamily="34" charset="-120"/>
              </a:rPr>
              <a:t>A Barber and a Bakery, Same Street</a:t>
            </a:r>
            <a:endParaRPr lang="en-US" sz="3000" dirty="0"/>
          </a:p>
        </p:txBody>
      </p:sp>
      <p:sp>
        <p:nvSpPr>
          <p:cNvPr id="4" name="Text 2"/>
          <p:cNvSpPr/>
          <p:nvPr/>
        </p:nvSpPr>
        <p:spPr>
          <a:xfrm>
            <a:off x="487680" y="1280160"/>
            <a:ext cx="5974080" cy="1584960"/>
          </a:xfrm>
          <a:prstGeom prst="rect">
            <a:avLst/>
          </a:prstGeom>
          <a:noFill/>
          <a:ln/>
        </p:spPr>
        <p:txBody>
          <a:bodyPr wrap="square" lIns="0" tIns="0" rIns="0" bIns="0" rtlCol="0" anchor="t"/>
          <a:lstStyle/>
          <a:p>
            <a:pPr indent="0" marL="0">
              <a:buNone/>
            </a:pPr>
            <a:r>
              <a:rPr lang="en-US" sz="1300" dirty="0">
                <a:solidFill>
                  <a:srgbClr val="0E1C42"/>
                </a:solidFill>
                <a:latin typeface="Calibri" pitchFamily="34" charset="0"/>
                <a:ea typeface="Calibri" pitchFamily="34" charset="-122"/>
                <a:cs typeface="Calibri" pitchFamily="34" charset="-120"/>
              </a:rPr>
              <a:t>Both the barber and the bakery are businesses on the same street. Both have customers. Both take payment. But what a customer walks away with is very different.</a:t>
            </a:r>
            <a:endParaRPr lang="en-US" sz="1300" dirty="0"/>
          </a:p>
        </p:txBody>
      </p:sp>
      <p:sp>
        <p:nvSpPr>
          <p:cNvPr id="5" name="Shape 3"/>
          <p:cNvSpPr/>
          <p:nvPr/>
        </p:nvSpPr>
        <p:spPr>
          <a:xfrm>
            <a:off x="487680" y="2987040"/>
            <a:ext cx="5974080" cy="1828800"/>
          </a:xfrm>
          <a:prstGeom prst="roundRect">
            <a:avLst>
              <a:gd name="adj" fmla="val 8000"/>
            </a:avLst>
          </a:prstGeom>
          <a:solidFill>
            <a:srgbClr val="FFF3DC"/>
          </a:solidFill>
          <a:ln w="19050">
            <a:solidFill>
              <a:srgbClr val="F5E6C8"/>
            </a:solidFill>
            <a:prstDash val="solid"/>
          </a:ln>
        </p:spPr>
      </p:sp>
      <p:sp>
        <p:nvSpPr>
          <p:cNvPr id="6" name="Text 4"/>
          <p:cNvSpPr/>
          <p:nvPr/>
        </p:nvSpPr>
        <p:spPr>
          <a:xfrm>
            <a:off x="670560" y="3060192"/>
            <a:ext cx="5608320" cy="268224"/>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7" name="Text 5"/>
          <p:cNvSpPr/>
          <p:nvPr/>
        </p:nvSpPr>
        <p:spPr>
          <a:xfrm>
            <a:off x="670560" y="3328416"/>
            <a:ext cx="5608320" cy="140208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"At the bakery, you leave with..."</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"At the barber, you leave with..."</a:t>
            </a:r>
            <a:endParaRPr lang="en-US" sz="1200" dirty="0"/>
          </a:p>
        </p:txBody>
      </p:sp>
      <p:sp>
        <p:nvSpPr>
          <p:cNvPr id="8" name="Shape 6"/>
          <p:cNvSpPr/>
          <p:nvPr/>
        </p:nvSpPr>
        <p:spPr>
          <a:xfrm>
            <a:off x="6705600" y="1280160"/>
            <a:ext cx="4632960" cy="3657600"/>
          </a:xfrm>
          <a:prstGeom prst="roundRect">
            <a:avLst>
              <a:gd name="adj" fmla="val 5000"/>
            </a:avLst>
          </a:prstGeom>
          <a:solidFill>
            <a:srgbClr val="1A2D5A"/>
          </a:solidFill>
          <a:ln/>
          <a:effectLst>
            <a:outerShdw sx="100000" sy="100000" kx="0" ky="0" algn="bl" rotWithShape="0" blurRad="101600" dist="38100" dir="8100000">
              <a:srgbClr val="000000">
                <a:alpha val="20000"/>
              </a:srgbClr>
            </a:outerShdw>
          </a:effectLst>
        </p:spPr>
      </p:sp>
      <p:sp>
        <p:nvSpPr>
          <p:cNvPr id="9" name="Text 7"/>
          <p:cNvSpPr/>
          <p:nvPr/>
        </p:nvSpPr>
        <p:spPr>
          <a:xfrm>
            <a:off x="6949440" y="1402080"/>
            <a:ext cx="4145280" cy="341376"/>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0" name="Text 8"/>
          <p:cNvSpPr/>
          <p:nvPr/>
        </p:nvSpPr>
        <p:spPr>
          <a:xfrm>
            <a:off x="6949440" y="1743456"/>
            <a:ext cx="4145280" cy="3072384"/>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does it mean? What's different about what each one gives a customer?</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Could you carry one of these home in a bag? Which one, and why not the other?</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might someone argue is the same about both shops?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1C42"/>
        </a:solidFill>
      </p:bgPr>
    </p:bg>
    <p:spTree>
      <p:nvGrpSpPr>
        <p:cNvPr id="1" name=""/>
        <p:cNvGrpSpPr/>
        <p:nvPr/>
      </p:nvGrpSpPr>
      <p:grpSpPr>
        <a:xfrm>
          <a:off x="0" y="0"/>
          <a:ext cx="0" cy="0"/>
          <a:chOff x="0" y="0"/>
          <a:chExt cx="0" cy="0"/>
        </a:xfrm>
      </p:grpSpPr>
      <p:sp>
        <p:nvSpPr>
          <p:cNvPr id="2" name="Text 0"/>
          <p:cNvSpPr/>
          <p:nvPr/>
        </p:nvSpPr>
        <p:spPr>
          <a:xfrm>
            <a:off x="487680" y="36576"/>
            <a:ext cx="10972800" cy="304800"/>
          </a:xfrm>
          <a:prstGeom prst="rect">
            <a:avLst/>
          </a:prstGeom>
          <a:noFill/>
          <a:ln/>
        </p:spPr>
        <p:txBody>
          <a:bodyPr wrap="square" lIns="0" tIns="0" rIns="0" bIns="0" rtlCol="0" anchor="ctr"/>
          <a:lstStyle/>
          <a:p>
            <a:pPr indent="0" marL="0">
              <a:buNone/>
            </a:pPr>
            <a:r>
              <a:rPr lang="en-US" sz="1000" b="1" spc="150" kern="0" dirty="0">
                <a:solidFill>
                  <a:srgbClr val="D4943A"/>
                </a:solidFill>
                <a:latin typeface="Calibri" pitchFamily="34" charset="0"/>
                <a:ea typeface="Calibri" pitchFamily="34" charset="-122"/>
                <a:cs typeface="Calibri" pitchFamily="34" charset="-120"/>
              </a:rPr>
              <a:t>YOU DISCOVERED IT</a:t>
            </a:r>
            <a:endParaRPr lang="en-US" sz="1000" dirty="0"/>
          </a:p>
        </p:txBody>
      </p:sp>
      <p:sp>
        <p:nvSpPr>
          <p:cNvPr id="3" name="Text 1"/>
          <p:cNvSpPr/>
          <p:nvPr/>
        </p:nvSpPr>
        <p:spPr>
          <a:xfrm>
            <a:off x="609600" y="1036320"/>
            <a:ext cx="10972800" cy="914400"/>
          </a:xfrm>
          <a:prstGeom prst="rect">
            <a:avLst/>
          </a:prstGeom>
          <a:noFill/>
          <a:ln/>
        </p:spPr>
        <p:txBody>
          <a:bodyPr wrap="square" lIns="0" tIns="0" rIns="0" bIns="0" rtlCol="0" anchor="ctr"/>
          <a:lstStyle/>
          <a:p>
            <a:pPr algn="ctr" indent="0" marL="0">
              <a:buNone/>
            </a:pPr>
            <a:r>
              <a:rPr lang="en-US" sz="3400" b="1" dirty="0">
                <a:solidFill>
                  <a:srgbClr val="D4943A"/>
                </a:solidFill>
                <a:latin typeface="Cambria" pitchFamily="34" charset="0"/>
                <a:ea typeface="Cambria" pitchFamily="34" charset="-122"/>
                <a:cs typeface="Cambria" pitchFamily="34" charset="-120"/>
              </a:rPr>
              <a:t>Goods &amp; Services</a:t>
            </a:r>
            <a:endParaRPr lang="en-US" sz="3400" dirty="0"/>
          </a:p>
        </p:txBody>
      </p:sp>
      <p:sp>
        <p:nvSpPr>
          <p:cNvPr id="4" name="Shape 2"/>
          <p:cNvSpPr/>
          <p:nvPr/>
        </p:nvSpPr>
        <p:spPr>
          <a:xfrm>
            <a:off x="731520" y="2133600"/>
            <a:ext cx="4998720" cy="2255520"/>
          </a:xfrm>
          <a:prstGeom prst="roundRect">
            <a:avLst>
              <a:gd name="adj" fmla="val 6486"/>
            </a:avLst>
          </a:prstGeom>
          <a:solidFill>
            <a:srgbClr val="1A2D5A"/>
          </a:solidFill>
          <a:ln/>
        </p:spPr>
      </p:sp>
      <p:sp>
        <p:nvSpPr>
          <p:cNvPr id="5" name="Text 3"/>
          <p:cNvSpPr/>
          <p:nvPr/>
        </p:nvSpPr>
        <p:spPr>
          <a:xfrm>
            <a:off x="914400" y="2292096"/>
            <a:ext cx="4632960" cy="426720"/>
          </a:xfrm>
          <a:prstGeom prst="rect">
            <a:avLst/>
          </a:prstGeom>
          <a:noFill/>
          <a:ln/>
        </p:spPr>
        <p:txBody>
          <a:bodyPr wrap="square" lIns="0" tIns="0" rIns="0" bIns="0" rtlCol="0" anchor="ctr"/>
          <a:lstStyle/>
          <a:p>
            <a:pPr indent="0" marL="0">
              <a:buNone/>
            </a:pPr>
            <a:r>
              <a:rPr lang="en-US" sz="1500" b="1" spc="150" kern="0" dirty="0">
                <a:solidFill>
                  <a:srgbClr val="55C8E8"/>
                </a:solidFill>
                <a:latin typeface="Calibri" pitchFamily="34" charset="0"/>
                <a:ea typeface="Calibri" pitchFamily="34" charset="-122"/>
                <a:cs typeface="Calibri" pitchFamily="34" charset="-120"/>
              </a:rPr>
              <a:t>GOODS</a:t>
            </a:r>
            <a:endParaRPr lang="en-US" sz="1500" dirty="0"/>
          </a:p>
        </p:txBody>
      </p:sp>
      <p:sp>
        <p:nvSpPr>
          <p:cNvPr id="6" name="Text 4"/>
          <p:cNvSpPr/>
          <p:nvPr/>
        </p:nvSpPr>
        <p:spPr>
          <a:xfrm>
            <a:off x="914400" y="2743200"/>
            <a:ext cx="4632960" cy="1524000"/>
          </a:xfrm>
          <a:prstGeom prst="rect">
            <a:avLst/>
          </a:prstGeom>
          <a:noFill/>
          <a:ln/>
        </p:spPr>
        <p:txBody>
          <a:bodyPr wrap="square" lIns="0" tIns="0" rIns="0" bIns="0" rtlCol="0" anchor="t"/>
          <a:lstStyle/>
          <a:p>
            <a:pPr indent="0" marL="0">
              <a:buNone/>
            </a:pPr>
            <a:r>
              <a:rPr lang="en-US" sz="1250" dirty="0">
                <a:solidFill>
                  <a:srgbClr val="FFFFFF"/>
                </a:solidFill>
                <a:latin typeface="Calibri" pitchFamily="34" charset="0"/>
                <a:ea typeface="Calibri" pitchFamily="34" charset="-122"/>
                <a:cs typeface="Calibri" pitchFamily="34" charset="-120"/>
              </a:rPr>
              <a:t>Things you can hold. Bread, apples, shoes, books, and toys are all goods -- you can take them home and use them.</a:t>
            </a:r>
            <a:endParaRPr lang="en-US" sz="1250" dirty="0"/>
          </a:p>
        </p:txBody>
      </p:sp>
      <p:sp>
        <p:nvSpPr>
          <p:cNvPr id="7" name="Shape 5"/>
          <p:cNvSpPr/>
          <p:nvPr/>
        </p:nvSpPr>
        <p:spPr>
          <a:xfrm>
            <a:off x="6461760" y="2133600"/>
            <a:ext cx="4998720" cy="2255520"/>
          </a:xfrm>
          <a:prstGeom prst="roundRect">
            <a:avLst>
              <a:gd name="adj" fmla="val 6486"/>
            </a:avLst>
          </a:prstGeom>
          <a:solidFill>
            <a:srgbClr val="1A2D5A"/>
          </a:solidFill>
          <a:ln/>
        </p:spPr>
      </p:sp>
      <p:sp>
        <p:nvSpPr>
          <p:cNvPr id="8" name="Text 6"/>
          <p:cNvSpPr/>
          <p:nvPr/>
        </p:nvSpPr>
        <p:spPr>
          <a:xfrm>
            <a:off x="6644640" y="2292096"/>
            <a:ext cx="4632960" cy="426720"/>
          </a:xfrm>
          <a:prstGeom prst="rect">
            <a:avLst/>
          </a:prstGeom>
          <a:noFill/>
          <a:ln/>
        </p:spPr>
        <p:txBody>
          <a:bodyPr wrap="square" lIns="0" tIns="0" rIns="0" bIns="0" rtlCol="0" anchor="ctr"/>
          <a:lstStyle/>
          <a:p>
            <a:pPr indent="0" marL="0">
              <a:buNone/>
            </a:pPr>
            <a:r>
              <a:rPr lang="en-US" sz="1500" b="1" spc="150" kern="0" dirty="0">
                <a:solidFill>
                  <a:srgbClr val="55C8E8"/>
                </a:solidFill>
                <a:latin typeface="Calibri" pitchFamily="34" charset="0"/>
                <a:ea typeface="Calibri" pitchFamily="34" charset="-122"/>
                <a:cs typeface="Calibri" pitchFamily="34" charset="-120"/>
              </a:rPr>
              <a:t>SERVICES</a:t>
            </a:r>
            <a:endParaRPr lang="en-US" sz="1500" dirty="0"/>
          </a:p>
        </p:txBody>
      </p:sp>
      <p:sp>
        <p:nvSpPr>
          <p:cNvPr id="9" name="Text 7"/>
          <p:cNvSpPr/>
          <p:nvPr/>
        </p:nvSpPr>
        <p:spPr>
          <a:xfrm>
            <a:off x="6644640" y="2743200"/>
            <a:ext cx="4632960" cy="1524000"/>
          </a:xfrm>
          <a:prstGeom prst="rect">
            <a:avLst/>
          </a:prstGeom>
          <a:noFill/>
          <a:ln/>
        </p:spPr>
        <p:txBody>
          <a:bodyPr wrap="square" lIns="0" tIns="0" rIns="0" bIns="0" rtlCol="0" anchor="t"/>
          <a:lstStyle/>
          <a:p>
            <a:pPr indent="0" marL="0">
              <a:buNone/>
            </a:pPr>
            <a:r>
              <a:rPr lang="en-US" sz="1250" dirty="0">
                <a:solidFill>
                  <a:srgbClr val="FFFFFF"/>
                </a:solidFill>
                <a:latin typeface="Calibri" pitchFamily="34" charset="0"/>
                <a:ea typeface="Calibri" pitchFamily="34" charset="-122"/>
                <a:cs typeface="Calibri" pitchFamily="34" charset="-120"/>
              </a:rPr>
              <a:t>Help someone does for you. A haircut, a piano lesson, and fixing a broken shoe are all services -- you can't put one in your backpack, but you can tell when you've gotten one.</a:t>
            </a:r>
            <a:endParaRPr lang="en-US" sz="1250" dirty="0"/>
          </a:p>
        </p:txBody>
      </p:sp>
      <p:sp>
        <p:nvSpPr>
          <p:cNvPr id="10" name="Text 8"/>
          <p:cNvSpPr/>
          <p:nvPr/>
        </p:nvSpPr>
        <p:spPr>
          <a:xfrm>
            <a:off x="731520" y="4693920"/>
            <a:ext cx="10728960" cy="731520"/>
          </a:xfrm>
          <a:prstGeom prst="rect">
            <a:avLst/>
          </a:prstGeom>
          <a:noFill/>
          <a:ln/>
        </p:spPr>
        <p:txBody>
          <a:bodyPr wrap="square" lIns="0" tIns="0" rIns="0" bIns="0" rtlCol="0" anchor="t"/>
          <a:lstStyle/>
          <a:p>
            <a:pPr algn="ctr" indent="0" marL="0">
              <a:buNone/>
            </a:pPr>
            <a:r>
              <a:rPr lang="en-US" sz="1200" i="1" dirty="0">
                <a:solidFill>
                  <a:srgbClr val="7A88A8"/>
                </a:solidFill>
                <a:latin typeface="Calibri" pitchFamily="34" charset="0"/>
                <a:ea typeface="Calibri" pitchFamily="34" charset="-122"/>
                <a:cs typeface="Calibri" pitchFamily="34" charset="-120"/>
              </a:rPr>
              <a:t>Retrieval challenge: Cover your screen. Name one good and one service from the marketplace image -- from memory.</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87680" y="36576"/>
            <a:ext cx="10972800" cy="304800"/>
          </a:xfrm>
          <a:prstGeom prst="rect">
            <a:avLst/>
          </a:prstGeom>
          <a:noFill/>
          <a:ln/>
        </p:spPr>
        <p:txBody>
          <a:bodyPr wrap="square" lIns="0" tIns="0" rIns="0" bIns="0" rtlCol="0" anchor="ctr"/>
          <a:lstStyle/>
          <a:p>
            <a:pPr indent="0" marL="0">
              <a:buNone/>
            </a:pPr>
            <a:r>
              <a:rPr lang="en-US" sz="1000" b="1" spc="150" kern="0" dirty="0">
                <a:solidFill>
                  <a:srgbClr val="1A8A7D"/>
                </a:solidFill>
                <a:latin typeface="Calibri" pitchFamily="34" charset="0"/>
                <a:ea typeface="Calibri" pitchFamily="34" charset="-122"/>
                <a:cs typeface="Calibri" pitchFamily="34" charset="-120"/>
              </a:rPr>
              <a:t>EXPLORE  ·  CLUE 2</a:t>
            </a:r>
            <a:endParaRPr lang="en-US" sz="1000" dirty="0"/>
          </a:p>
        </p:txBody>
      </p:sp>
      <p:sp>
        <p:nvSpPr>
          <p:cNvPr id="3" name="Text 1"/>
          <p:cNvSpPr/>
          <p:nvPr/>
        </p:nvSpPr>
        <p:spPr>
          <a:xfrm>
            <a:off x="487680" y="341376"/>
            <a:ext cx="10972800" cy="853440"/>
          </a:xfrm>
          <a:prstGeom prst="rect">
            <a:avLst/>
          </a:prstGeom>
          <a:noFill/>
          <a:ln/>
        </p:spPr>
        <p:txBody>
          <a:bodyPr wrap="square" lIns="0" tIns="0" rIns="0" bIns="0" rtlCol="0" anchor="ctr"/>
          <a:lstStyle/>
          <a:p>
            <a:pPr indent="0" marL="0">
              <a:buNone/>
            </a:pPr>
            <a:r>
              <a:rPr lang="en-US" sz="3000" b="1" dirty="0">
                <a:solidFill>
                  <a:srgbClr val="0E1C42"/>
                </a:solidFill>
                <a:latin typeface="Cambria" pitchFamily="34" charset="0"/>
                <a:ea typeface="Cambria" pitchFamily="34" charset="-122"/>
                <a:cs typeface="Cambria" pitchFamily="34" charset="-120"/>
              </a:rPr>
              <a:t>Who Pays? Who Provides?</a:t>
            </a:r>
            <a:endParaRPr lang="en-US" sz="3000" dirty="0"/>
          </a:p>
        </p:txBody>
      </p:sp>
      <p:sp>
        <p:nvSpPr>
          <p:cNvPr id="4" name="Text 2"/>
          <p:cNvSpPr/>
          <p:nvPr/>
        </p:nvSpPr>
        <p:spPr>
          <a:xfrm>
            <a:off x="487680" y="1219200"/>
            <a:ext cx="5608320" cy="426720"/>
          </a:xfrm>
          <a:prstGeom prst="rect">
            <a:avLst/>
          </a:prstGeom>
          <a:noFill/>
          <a:ln/>
        </p:spPr>
        <p:txBody>
          <a:bodyPr wrap="square" lIns="0" tIns="0" rIns="0" bIns="0" rtlCol="0" anchor="ctr"/>
          <a:lstStyle/>
          <a:p>
            <a:pPr indent="0" marL="0">
              <a:buNone/>
            </a:pPr>
            <a:r>
              <a:rPr lang="en-US" sz="1500" b="1" dirty="0">
                <a:solidFill>
                  <a:srgbClr val="0E1C42"/>
                </a:solidFill>
                <a:latin typeface="Cambria" pitchFamily="34" charset="0"/>
                <a:ea typeface="Cambria" pitchFamily="34" charset="-122"/>
                <a:cs typeface="Cambria" pitchFamily="34" charset="-120"/>
              </a:rPr>
              <a:t>Sort the Marketplace</a:t>
            </a:r>
            <a:endParaRPr lang="en-US" sz="1500" dirty="0"/>
          </a:p>
        </p:txBody>
      </p:sp>
      <p:sp>
        <p:nvSpPr>
          <p:cNvPr id="5" name="Shape 3"/>
          <p:cNvSpPr/>
          <p:nvPr/>
        </p:nvSpPr>
        <p:spPr>
          <a:xfrm>
            <a:off x="487680" y="1767840"/>
            <a:ext cx="5608320" cy="670560"/>
          </a:xfrm>
          <a:prstGeom prst="roundRect">
            <a:avLst>
              <a:gd name="adj" fmla="val 14545"/>
            </a:avLst>
          </a:prstGeom>
          <a:solidFill>
            <a:srgbClr val="F0F2F8"/>
          </a:solidFill>
          <a:ln w="12700">
            <a:solidFill>
              <a:srgbClr val="B0B8CC"/>
            </a:solidFill>
            <a:prstDash val="solid"/>
          </a:ln>
        </p:spPr>
      </p:sp>
      <p:sp>
        <p:nvSpPr>
          <p:cNvPr id="6" name="Text 4"/>
          <p:cNvSpPr/>
          <p:nvPr/>
        </p:nvSpPr>
        <p:spPr>
          <a:xfrm>
            <a:off x="670560" y="1767840"/>
            <a:ext cx="5242560" cy="670560"/>
          </a:xfrm>
          <a:prstGeom prst="rect">
            <a:avLst/>
          </a:prstGeom>
          <a:noFill/>
          <a:ln/>
        </p:spPr>
        <p:txBody>
          <a:bodyPr wrap="square" lIns="0" tIns="0" rIns="0" bIns="0" rtlCol="0" anchor="ctr"/>
          <a:lstStyle/>
          <a:p>
            <a:pPr indent="0" marL="0">
              <a:buNone/>
            </a:pPr>
            <a:r>
              <a:rPr lang="en-US" sz="1200" dirty="0">
                <a:solidFill>
                  <a:srgbClr val="0E1C42"/>
                </a:solidFill>
                <a:latin typeface="Calibri" pitchFamily="34" charset="0"/>
                <a:ea typeface="Calibri" pitchFamily="34" charset="-122"/>
                <a:cs typeface="Calibri" pitchFamily="34" charset="-120"/>
              </a:rPr>
              <a:t>A loaf of bread</a:t>
            </a:r>
            <a:endParaRPr lang="en-US" sz="1200" dirty="0"/>
          </a:p>
        </p:txBody>
      </p:sp>
      <p:sp>
        <p:nvSpPr>
          <p:cNvPr id="7" name="Shape 5"/>
          <p:cNvSpPr/>
          <p:nvPr/>
        </p:nvSpPr>
        <p:spPr>
          <a:xfrm>
            <a:off x="487680" y="2560320"/>
            <a:ext cx="5608320" cy="670560"/>
          </a:xfrm>
          <a:prstGeom prst="roundRect">
            <a:avLst>
              <a:gd name="adj" fmla="val 14545"/>
            </a:avLst>
          </a:prstGeom>
          <a:solidFill>
            <a:srgbClr val="F0F2F8"/>
          </a:solidFill>
          <a:ln w="12700">
            <a:solidFill>
              <a:srgbClr val="B0B8CC"/>
            </a:solidFill>
            <a:prstDash val="solid"/>
          </a:ln>
        </p:spPr>
      </p:sp>
      <p:sp>
        <p:nvSpPr>
          <p:cNvPr id="8" name="Text 6"/>
          <p:cNvSpPr/>
          <p:nvPr/>
        </p:nvSpPr>
        <p:spPr>
          <a:xfrm>
            <a:off x="670560" y="2560320"/>
            <a:ext cx="5242560" cy="670560"/>
          </a:xfrm>
          <a:prstGeom prst="rect">
            <a:avLst/>
          </a:prstGeom>
          <a:noFill/>
          <a:ln/>
        </p:spPr>
        <p:txBody>
          <a:bodyPr wrap="square" lIns="0" tIns="0" rIns="0" bIns="0" rtlCol="0" anchor="ctr"/>
          <a:lstStyle/>
          <a:p>
            <a:pPr indent="0" marL="0">
              <a:buNone/>
            </a:pPr>
            <a:r>
              <a:rPr lang="en-US" sz="1200" dirty="0">
                <a:solidFill>
                  <a:srgbClr val="0E1C42"/>
                </a:solidFill>
                <a:latin typeface="Calibri" pitchFamily="34" charset="0"/>
                <a:ea typeface="Calibri" pitchFamily="34" charset="-122"/>
                <a:cs typeface="Calibri" pitchFamily="34" charset="-120"/>
              </a:rPr>
              <a:t>A kid paying for apples</a:t>
            </a:r>
            <a:endParaRPr lang="en-US" sz="1200" dirty="0"/>
          </a:p>
        </p:txBody>
      </p:sp>
      <p:sp>
        <p:nvSpPr>
          <p:cNvPr id="9" name="Shape 7"/>
          <p:cNvSpPr/>
          <p:nvPr/>
        </p:nvSpPr>
        <p:spPr>
          <a:xfrm>
            <a:off x="487680" y="3352800"/>
            <a:ext cx="5608320" cy="670560"/>
          </a:xfrm>
          <a:prstGeom prst="roundRect">
            <a:avLst>
              <a:gd name="adj" fmla="val 14545"/>
            </a:avLst>
          </a:prstGeom>
          <a:solidFill>
            <a:srgbClr val="F0F2F8"/>
          </a:solidFill>
          <a:ln w="12700">
            <a:solidFill>
              <a:srgbClr val="B0B8CC"/>
            </a:solidFill>
            <a:prstDash val="solid"/>
          </a:ln>
        </p:spPr>
      </p:sp>
      <p:sp>
        <p:nvSpPr>
          <p:cNvPr id="10" name="Text 8"/>
          <p:cNvSpPr/>
          <p:nvPr/>
        </p:nvSpPr>
        <p:spPr>
          <a:xfrm>
            <a:off x="670560" y="3352800"/>
            <a:ext cx="5242560" cy="670560"/>
          </a:xfrm>
          <a:prstGeom prst="rect">
            <a:avLst/>
          </a:prstGeom>
          <a:noFill/>
          <a:ln/>
        </p:spPr>
        <p:txBody>
          <a:bodyPr wrap="square" lIns="0" tIns="0" rIns="0" bIns="0" rtlCol="0" anchor="ctr"/>
          <a:lstStyle/>
          <a:p>
            <a:pPr indent="0" marL="0">
              <a:buNone/>
            </a:pPr>
            <a:r>
              <a:rPr lang="en-US" sz="1200" dirty="0">
                <a:solidFill>
                  <a:srgbClr val="0E1C42"/>
                </a:solidFill>
                <a:latin typeface="Calibri" pitchFamily="34" charset="0"/>
                <a:ea typeface="Calibri" pitchFamily="34" charset="-122"/>
                <a:cs typeface="Calibri" pitchFamily="34" charset="-120"/>
              </a:rPr>
              <a:t>A baker at the booth</a:t>
            </a:r>
            <a:endParaRPr lang="en-US" sz="1200" dirty="0"/>
          </a:p>
        </p:txBody>
      </p:sp>
      <p:sp>
        <p:nvSpPr>
          <p:cNvPr id="11" name="Shape 9"/>
          <p:cNvSpPr/>
          <p:nvPr/>
        </p:nvSpPr>
        <p:spPr>
          <a:xfrm>
            <a:off x="487680" y="4145280"/>
            <a:ext cx="5608320" cy="670560"/>
          </a:xfrm>
          <a:prstGeom prst="roundRect">
            <a:avLst>
              <a:gd name="adj" fmla="val 14545"/>
            </a:avLst>
          </a:prstGeom>
          <a:solidFill>
            <a:srgbClr val="F0F2F8"/>
          </a:solidFill>
          <a:ln w="12700">
            <a:solidFill>
              <a:srgbClr val="B0B8CC"/>
            </a:solidFill>
            <a:prstDash val="solid"/>
          </a:ln>
        </p:spPr>
      </p:sp>
      <p:sp>
        <p:nvSpPr>
          <p:cNvPr id="12" name="Text 10"/>
          <p:cNvSpPr/>
          <p:nvPr/>
        </p:nvSpPr>
        <p:spPr>
          <a:xfrm>
            <a:off x="670560" y="4145280"/>
            <a:ext cx="5242560" cy="670560"/>
          </a:xfrm>
          <a:prstGeom prst="rect">
            <a:avLst/>
          </a:prstGeom>
          <a:noFill/>
          <a:ln/>
        </p:spPr>
        <p:txBody>
          <a:bodyPr wrap="square" lIns="0" tIns="0" rIns="0" bIns="0" rtlCol="0" anchor="ctr"/>
          <a:lstStyle/>
          <a:p>
            <a:pPr indent="0" marL="0">
              <a:buNone/>
            </a:pPr>
            <a:r>
              <a:rPr lang="en-US" sz="1200" dirty="0">
                <a:solidFill>
                  <a:srgbClr val="0E1C42"/>
                </a:solidFill>
                <a:latin typeface="Calibri" pitchFamily="34" charset="0"/>
                <a:ea typeface="Calibri" pitchFamily="34" charset="-122"/>
                <a:cs typeface="Calibri" pitchFamily="34" charset="-120"/>
              </a:rPr>
              <a:t>A cobbler fixing a shoe</a:t>
            </a:r>
            <a:endParaRPr lang="en-US" sz="1200" dirty="0"/>
          </a:p>
        </p:txBody>
      </p:sp>
      <p:sp>
        <p:nvSpPr>
          <p:cNvPr id="13" name="Text 11"/>
          <p:cNvSpPr/>
          <p:nvPr/>
        </p:nvSpPr>
        <p:spPr>
          <a:xfrm>
            <a:off x="6461760" y="1219200"/>
            <a:ext cx="4876800" cy="1097280"/>
          </a:xfrm>
          <a:prstGeom prst="rect">
            <a:avLst/>
          </a:prstGeom>
          <a:noFill/>
          <a:ln/>
        </p:spPr>
        <p:txBody>
          <a:bodyPr wrap="square" lIns="0" tIns="0" rIns="0" bIns="0" rtlCol="0" anchor="t"/>
          <a:lstStyle/>
          <a:p>
            <a:pPr indent="0" marL="0">
              <a:buNone/>
            </a:pPr>
            <a:r>
              <a:rPr lang="en-US" sz="1250" dirty="0">
                <a:solidFill>
                  <a:srgbClr val="0E1C42"/>
                </a:solidFill>
                <a:latin typeface="Calibri" pitchFamily="34" charset="0"/>
                <a:ea typeface="Calibri" pitchFamily="34" charset="-122"/>
                <a:cs typeface="Calibri" pitchFamily="34" charset="-120"/>
              </a:rPr>
              <a:t>Look at each card. Who is paying? Who is providing? Which cards feel like a matching pair?</a:t>
            </a:r>
            <a:endParaRPr lang="en-US" sz="1250" dirty="0"/>
          </a:p>
        </p:txBody>
      </p:sp>
      <p:sp>
        <p:nvSpPr>
          <p:cNvPr id="14" name="Shape 12"/>
          <p:cNvSpPr/>
          <p:nvPr/>
        </p:nvSpPr>
        <p:spPr>
          <a:xfrm>
            <a:off x="6461760" y="2438400"/>
            <a:ext cx="4876800" cy="1828800"/>
          </a:xfrm>
          <a:prstGeom prst="roundRect">
            <a:avLst>
              <a:gd name="adj" fmla="val 8000"/>
            </a:avLst>
          </a:prstGeom>
          <a:solidFill>
            <a:srgbClr val="FFF3DC"/>
          </a:solidFill>
          <a:ln w="19050">
            <a:solidFill>
              <a:srgbClr val="F5E6C8"/>
            </a:solidFill>
            <a:prstDash val="solid"/>
          </a:ln>
        </p:spPr>
      </p:sp>
      <p:sp>
        <p:nvSpPr>
          <p:cNvPr id="15" name="Text 13"/>
          <p:cNvSpPr/>
          <p:nvPr/>
        </p:nvSpPr>
        <p:spPr>
          <a:xfrm>
            <a:off x="6644640" y="2511552"/>
            <a:ext cx="4511040" cy="268224"/>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6" name="Text 14"/>
          <p:cNvSpPr/>
          <p:nvPr/>
        </p:nvSpPr>
        <p:spPr>
          <a:xfrm>
            <a:off x="6644640" y="2779776"/>
            <a:ext cx="4511040" cy="140208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think the baker is the...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think the kid paying for apples is the... because..."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87680" y="36576"/>
            <a:ext cx="10972800" cy="304800"/>
          </a:xfrm>
          <a:prstGeom prst="rect">
            <a:avLst/>
          </a:prstGeom>
          <a:noFill/>
          <a:ln/>
        </p:spPr>
        <p:txBody>
          <a:bodyPr wrap="square" lIns="0" tIns="0" rIns="0" bIns="0" rtlCol="0" anchor="ctr"/>
          <a:lstStyle/>
          <a:p>
            <a:pPr indent="0" marL="0">
              <a:buNone/>
            </a:pPr>
            <a:r>
              <a:rPr lang="en-US" sz="1000" b="1" spc="150" kern="0" dirty="0">
                <a:solidFill>
                  <a:srgbClr val="1A8A7D"/>
                </a:solidFill>
                <a:latin typeface="Calibri" pitchFamily="34" charset="0"/>
                <a:ea typeface="Calibri" pitchFamily="34" charset="-122"/>
                <a:cs typeface="Calibri" pitchFamily="34" charset="-120"/>
              </a:rPr>
              <a:t>EXPLORE  ·  DISCUSS</a:t>
            </a:r>
            <a:endParaRPr lang="en-US" sz="1000" dirty="0"/>
          </a:p>
        </p:txBody>
      </p:sp>
      <p:sp>
        <p:nvSpPr>
          <p:cNvPr id="3" name="Text 1"/>
          <p:cNvSpPr/>
          <p:nvPr/>
        </p:nvSpPr>
        <p:spPr>
          <a:xfrm>
            <a:off x="487680" y="341376"/>
            <a:ext cx="10972800" cy="853440"/>
          </a:xfrm>
          <a:prstGeom prst="rect">
            <a:avLst/>
          </a:prstGeom>
          <a:noFill/>
          <a:ln/>
        </p:spPr>
        <p:txBody>
          <a:bodyPr wrap="square" lIns="0" tIns="0" rIns="0" bIns="0" rtlCol="0" anchor="ctr"/>
          <a:lstStyle/>
          <a:p>
            <a:pPr indent="0" marL="0">
              <a:buNone/>
            </a:pPr>
            <a:r>
              <a:rPr lang="en-US" sz="3000" b="1" dirty="0">
                <a:solidFill>
                  <a:srgbClr val="0E1C42"/>
                </a:solidFill>
                <a:latin typeface="Cambria" pitchFamily="34" charset="0"/>
                <a:ea typeface="Cambria" pitchFamily="34" charset="-122"/>
                <a:cs typeface="Cambria" pitchFamily="34" charset="-120"/>
              </a:rPr>
              <a:t>Two Kinds of People at Every Booth</a:t>
            </a:r>
            <a:endParaRPr lang="en-US" sz="3000" dirty="0"/>
          </a:p>
        </p:txBody>
      </p:sp>
      <p:sp>
        <p:nvSpPr>
          <p:cNvPr id="4" name="Shape 2"/>
          <p:cNvSpPr/>
          <p:nvPr/>
        </p:nvSpPr>
        <p:spPr>
          <a:xfrm>
            <a:off x="487680" y="1219200"/>
            <a:ext cx="5486400" cy="3535680"/>
          </a:xfrm>
          <a:prstGeom prst="roundRect">
            <a:avLst>
              <a:gd name="adj" fmla="val 5172"/>
            </a:avLst>
          </a:prstGeom>
          <a:solidFill>
            <a:srgbClr val="1A2D5A"/>
          </a:solidFill>
          <a:ln/>
          <a:effectLst>
            <a:outerShdw sx="100000" sy="100000" kx="0" ky="0" algn="bl" rotWithShape="0" blurRad="101600" dist="38100" dir="8100000">
              <a:srgbClr val="000000">
                <a:alpha val="20000"/>
              </a:srgbClr>
            </a:outerShdw>
          </a:effectLst>
        </p:spPr>
      </p:sp>
      <p:sp>
        <p:nvSpPr>
          <p:cNvPr id="5" name="Text 3"/>
          <p:cNvSpPr/>
          <p:nvPr/>
        </p:nvSpPr>
        <p:spPr>
          <a:xfrm>
            <a:off x="731520" y="1341120"/>
            <a:ext cx="4998720" cy="341376"/>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6" name="Text 4"/>
          <p:cNvSpPr/>
          <p:nvPr/>
        </p:nvSpPr>
        <p:spPr>
          <a:xfrm>
            <a:off x="731520" y="1682496"/>
            <a:ext cx="4998720" cy="2950464"/>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do you see that makes you say the baker is providing something?</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would change your mind about who is paying?</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Could the same person be both on different days?</a:t>
            </a:r>
            <a:endParaRPr lang="en-US" sz="1100" dirty="0"/>
          </a:p>
        </p:txBody>
      </p:sp>
      <p:sp>
        <p:nvSpPr>
          <p:cNvPr id="7" name="Shape 5"/>
          <p:cNvSpPr/>
          <p:nvPr/>
        </p:nvSpPr>
        <p:spPr>
          <a:xfrm>
            <a:off x="6217920" y="1219200"/>
            <a:ext cx="5120640" cy="1584960"/>
          </a:xfrm>
          <a:prstGeom prst="roundRect">
            <a:avLst>
              <a:gd name="adj" fmla="val 9231"/>
            </a:avLst>
          </a:prstGeom>
          <a:solidFill>
            <a:srgbClr val="FFF3DC"/>
          </a:solidFill>
          <a:ln w="19050">
            <a:solidFill>
              <a:srgbClr val="F5E6C8"/>
            </a:solidFill>
            <a:prstDash val="solid"/>
          </a:ln>
        </p:spPr>
      </p:sp>
      <p:sp>
        <p:nvSpPr>
          <p:cNvPr id="8" name="Text 6"/>
          <p:cNvSpPr/>
          <p:nvPr/>
        </p:nvSpPr>
        <p:spPr>
          <a:xfrm>
            <a:off x="6400800" y="1292352"/>
            <a:ext cx="4754880" cy="268224"/>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9" name="Text 7"/>
          <p:cNvSpPr/>
          <p:nvPr/>
        </p:nvSpPr>
        <p:spPr>
          <a:xfrm>
            <a:off x="6400800" y="1560576"/>
            <a:ext cx="4754880" cy="115824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person who pays is the..."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person who provides is the..."</a:t>
            </a:r>
            <a:endParaRPr lang="en-US" sz="1200" dirty="0"/>
          </a:p>
        </p:txBody>
      </p:sp>
      <p:sp>
        <p:nvSpPr>
          <p:cNvPr id="10" name="Text 8"/>
          <p:cNvSpPr/>
          <p:nvPr/>
        </p:nvSpPr>
        <p:spPr>
          <a:xfrm>
            <a:off x="6217920" y="3048000"/>
            <a:ext cx="5120640" cy="1584960"/>
          </a:xfrm>
          <a:prstGeom prst="rect">
            <a:avLst/>
          </a:prstGeom>
          <a:noFill/>
          <a:ln/>
        </p:spPr>
        <p:txBody>
          <a:bodyPr wrap="square" lIns="0" tIns="0" rIns="0" bIns="0" rtlCol="0" anchor="t"/>
          <a:lstStyle/>
          <a:p>
            <a:pPr indent="0" marL="0">
              <a:buNone/>
            </a:pPr>
            <a:r>
              <a:rPr lang="en-US" sz="1250" dirty="0">
                <a:solidFill>
                  <a:srgbClr val="0E1C42"/>
                </a:solidFill>
                <a:latin typeface="Calibri" pitchFamily="34" charset="0"/>
                <a:ea typeface="Calibri" pitchFamily="34" charset="-122"/>
                <a:cs typeface="Calibri" pitchFamily="34" charset="-120"/>
              </a:rPr>
              <a:t>Every market needs both kinds of people. Sellers need buyers, and buyers need sellers -- that's why they meet at the booth and make a deal.</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E1C42"/>
        </a:solidFill>
      </p:bgPr>
    </p:bg>
    <p:spTree>
      <p:nvGrpSpPr>
        <p:cNvPr id="1" name=""/>
        <p:cNvGrpSpPr/>
        <p:nvPr/>
      </p:nvGrpSpPr>
      <p:grpSpPr>
        <a:xfrm>
          <a:off x="0" y="0"/>
          <a:ext cx="0" cy="0"/>
          <a:chOff x="0" y="0"/>
          <a:chExt cx="0" cy="0"/>
        </a:xfrm>
      </p:grpSpPr>
      <p:sp>
        <p:nvSpPr>
          <p:cNvPr id="2" name="Text 0"/>
          <p:cNvSpPr/>
          <p:nvPr/>
        </p:nvSpPr>
        <p:spPr>
          <a:xfrm>
            <a:off x="487680" y="36576"/>
            <a:ext cx="10972800" cy="304800"/>
          </a:xfrm>
          <a:prstGeom prst="rect">
            <a:avLst/>
          </a:prstGeom>
          <a:noFill/>
          <a:ln/>
        </p:spPr>
        <p:txBody>
          <a:bodyPr wrap="square" lIns="0" tIns="0" rIns="0" bIns="0" rtlCol="0" anchor="ctr"/>
          <a:lstStyle/>
          <a:p>
            <a:pPr indent="0" marL="0">
              <a:buNone/>
            </a:pPr>
            <a:r>
              <a:rPr lang="en-US" sz="1000" b="1" spc="150" kern="0" dirty="0">
                <a:solidFill>
                  <a:srgbClr val="D4943A"/>
                </a:solidFill>
                <a:latin typeface="Calibri" pitchFamily="34" charset="0"/>
                <a:ea typeface="Calibri" pitchFamily="34" charset="-122"/>
                <a:cs typeface="Calibri" pitchFamily="34" charset="-120"/>
              </a:rPr>
              <a:t>YOU DISCOVERED IT</a:t>
            </a:r>
            <a:endParaRPr lang="en-US" sz="1000" dirty="0"/>
          </a:p>
        </p:txBody>
      </p:sp>
      <p:sp>
        <p:nvSpPr>
          <p:cNvPr id="3" name="Text 1"/>
          <p:cNvSpPr/>
          <p:nvPr/>
        </p:nvSpPr>
        <p:spPr>
          <a:xfrm>
            <a:off x="609600" y="1036320"/>
            <a:ext cx="10972800" cy="914400"/>
          </a:xfrm>
          <a:prstGeom prst="rect">
            <a:avLst/>
          </a:prstGeom>
          <a:noFill/>
          <a:ln/>
        </p:spPr>
        <p:txBody>
          <a:bodyPr wrap="square" lIns="0" tIns="0" rIns="0" bIns="0" rtlCol="0" anchor="ctr"/>
          <a:lstStyle/>
          <a:p>
            <a:pPr algn="ctr" indent="0" marL="0">
              <a:buNone/>
            </a:pPr>
            <a:r>
              <a:rPr lang="en-US" sz="3400" b="1" dirty="0">
                <a:solidFill>
                  <a:srgbClr val="D4943A"/>
                </a:solidFill>
                <a:latin typeface="Cambria" pitchFamily="34" charset="0"/>
                <a:ea typeface="Cambria" pitchFamily="34" charset="-122"/>
                <a:cs typeface="Cambria" pitchFamily="34" charset="-120"/>
              </a:rPr>
              <a:t>Buyer &amp; Seller</a:t>
            </a:r>
            <a:endParaRPr lang="en-US" sz="3400" dirty="0"/>
          </a:p>
        </p:txBody>
      </p:sp>
      <p:sp>
        <p:nvSpPr>
          <p:cNvPr id="4" name="Shape 2"/>
          <p:cNvSpPr/>
          <p:nvPr/>
        </p:nvSpPr>
        <p:spPr>
          <a:xfrm>
            <a:off x="731520" y="2133600"/>
            <a:ext cx="4998720" cy="2255520"/>
          </a:xfrm>
          <a:prstGeom prst="roundRect">
            <a:avLst>
              <a:gd name="adj" fmla="val 6486"/>
            </a:avLst>
          </a:prstGeom>
          <a:solidFill>
            <a:srgbClr val="1A2D5A"/>
          </a:solidFill>
          <a:ln/>
        </p:spPr>
      </p:sp>
      <p:sp>
        <p:nvSpPr>
          <p:cNvPr id="5" name="Text 3"/>
          <p:cNvSpPr/>
          <p:nvPr/>
        </p:nvSpPr>
        <p:spPr>
          <a:xfrm>
            <a:off x="914400" y="2292096"/>
            <a:ext cx="4632960" cy="426720"/>
          </a:xfrm>
          <a:prstGeom prst="rect">
            <a:avLst/>
          </a:prstGeom>
          <a:noFill/>
          <a:ln/>
        </p:spPr>
        <p:txBody>
          <a:bodyPr wrap="square" lIns="0" tIns="0" rIns="0" bIns="0" rtlCol="0" anchor="ctr"/>
          <a:lstStyle/>
          <a:p>
            <a:pPr indent="0" marL="0">
              <a:buNone/>
            </a:pPr>
            <a:r>
              <a:rPr lang="en-US" sz="1500" b="1" spc="150" kern="0" dirty="0">
                <a:solidFill>
                  <a:srgbClr val="55C8E8"/>
                </a:solidFill>
                <a:latin typeface="Calibri" pitchFamily="34" charset="0"/>
                <a:ea typeface="Calibri" pitchFamily="34" charset="-122"/>
                <a:cs typeface="Calibri" pitchFamily="34" charset="-120"/>
              </a:rPr>
              <a:t>BUYER</a:t>
            </a:r>
            <a:endParaRPr lang="en-US" sz="1500" dirty="0"/>
          </a:p>
        </p:txBody>
      </p:sp>
      <p:sp>
        <p:nvSpPr>
          <p:cNvPr id="6" name="Text 4"/>
          <p:cNvSpPr/>
          <p:nvPr/>
        </p:nvSpPr>
        <p:spPr>
          <a:xfrm>
            <a:off x="914400" y="2743200"/>
            <a:ext cx="4632960" cy="1524000"/>
          </a:xfrm>
          <a:prstGeom prst="rect">
            <a:avLst/>
          </a:prstGeom>
          <a:noFill/>
          <a:ln/>
        </p:spPr>
        <p:txBody>
          <a:bodyPr wrap="square" lIns="0" tIns="0" rIns="0" bIns="0" rtlCol="0" anchor="t"/>
          <a:lstStyle/>
          <a:p>
            <a:pPr indent="0" marL="0">
              <a:buNone/>
            </a:pPr>
            <a:r>
              <a:rPr lang="en-US" sz="1250" dirty="0">
                <a:solidFill>
                  <a:srgbClr val="FFFFFF"/>
                </a:solidFill>
                <a:latin typeface="Calibri" pitchFamily="34" charset="0"/>
                <a:ea typeface="Calibri" pitchFamily="34" charset="-122"/>
                <a:cs typeface="Calibri" pitchFamily="34" charset="-120"/>
              </a:rPr>
              <a:t>The person who pays. If you hand over a coin to get something, you're the buyer.</a:t>
            </a:r>
            <a:endParaRPr lang="en-US" sz="1250" dirty="0"/>
          </a:p>
        </p:txBody>
      </p:sp>
      <p:sp>
        <p:nvSpPr>
          <p:cNvPr id="7" name="Shape 5"/>
          <p:cNvSpPr/>
          <p:nvPr/>
        </p:nvSpPr>
        <p:spPr>
          <a:xfrm>
            <a:off x="6461760" y="2133600"/>
            <a:ext cx="4998720" cy="2255520"/>
          </a:xfrm>
          <a:prstGeom prst="roundRect">
            <a:avLst>
              <a:gd name="adj" fmla="val 6486"/>
            </a:avLst>
          </a:prstGeom>
          <a:solidFill>
            <a:srgbClr val="1A2D5A"/>
          </a:solidFill>
          <a:ln/>
        </p:spPr>
      </p:sp>
      <p:sp>
        <p:nvSpPr>
          <p:cNvPr id="8" name="Text 6"/>
          <p:cNvSpPr/>
          <p:nvPr/>
        </p:nvSpPr>
        <p:spPr>
          <a:xfrm>
            <a:off x="6644640" y="2292096"/>
            <a:ext cx="4632960" cy="426720"/>
          </a:xfrm>
          <a:prstGeom prst="rect">
            <a:avLst/>
          </a:prstGeom>
          <a:noFill/>
          <a:ln/>
        </p:spPr>
        <p:txBody>
          <a:bodyPr wrap="square" lIns="0" tIns="0" rIns="0" bIns="0" rtlCol="0" anchor="ctr"/>
          <a:lstStyle/>
          <a:p>
            <a:pPr indent="0" marL="0">
              <a:buNone/>
            </a:pPr>
            <a:r>
              <a:rPr lang="en-US" sz="1500" b="1" spc="150" kern="0" dirty="0">
                <a:solidFill>
                  <a:srgbClr val="55C8E8"/>
                </a:solidFill>
                <a:latin typeface="Calibri" pitchFamily="34" charset="0"/>
                <a:ea typeface="Calibri" pitchFamily="34" charset="-122"/>
                <a:cs typeface="Calibri" pitchFamily="34" charset="-120"/>
              </a:rPr>
              <a:t>SELLER</a:t>
            </a:r>
            <a:endParaRPr lang="en-US" sz="1500" dirty="0"/>
          </a:p>
        </p:txBody>
      </p:sp>
      <p:sp>
        <p:nvSpPr>
          <p:cNvPr id="9" name="Text 7"/>
          <p:cNvSpPr/>
          <p:nvPr/>
        </p:nvSpPr>
        <p:spPr>
          <a:xfrm>
            <a:off x="6644640" y="2743200"/>
            <a:ext cx="4632960" cy="1524000"/>
          </a:xfrm>
          <a:prstGeom prst="rect">
            <a:avLst/>
          </a:prstGeom>
          <a:noFill/>
          <a:ln/>
        </p:spPr>
        <p:txBody>
          <a:bodyPr wrap="square" lIns="0" tIns="0" rIns="0" bIns="0" rtlCol="0" anchor="t"/>
          <a:lstStyle/>
          <a:p>
            <a:pPr indent="0" marL="0">
              <a:buNone/>
            </a:pPr>
            <a:r>
              <a:rPr lang="en-US" sz="1250" dirty="0">
                <a:solidFill>
                  <a:srgbClr val="FFFFFF"/>
                </a:solidFill>
                <a:latin typeface="Calibri" pitchFamily="34" charset="0"/>
                <a:ea typeface="Calibri" pitchFamily="34" charset="-122"/>
                <a:cs typeface="Calibri" pitchFamily="34" charset="-120"/>
              </a:rPr>
              <a:t>The person who provides the good or the service. The baker makes and hands over the bread.</a:t>
            </a:r>
            <a:endParaRPr lang="en-US" sz="1250" dirty="0"/>
          </a:p>
        </p:txBody>
      </p:sp>
      <p:sp>
        <p:nvSpPr>
          <p:cNvPr id="10" name="Text 8"/>
          <p:cNvSpPr/>
          <p:nvPr/>
        </p:nvSpPr>
        <p:spPr>
          <a:xfrm>
            <a:off x="731520" y="4693920"/>
            <a:ext cx="10728960" cy="731520"/>
          </a:xfrm>
          <a:prstGeom prst="rect">
            <a:avLst/>
          </a:prstGeom>
          <a:noFill/>
          <a:ln/>
        </p:spPr>
        <p:txBody>
          <a:bodyPr wrap="square" lIns="0" tIns="0" rIns="0" bIns="0" rtlCol="0" anchor="t"/>
          <a:lstStyle/>
          <a:p>
            <a:pPr algn="ctr" indent="0" marL="0">
              <a:buNone/>
            </a:pPr>
            <a:r>
              <a:rPr lang="en-US" sz="1200" i="1" dirty="0">
                <a:solidFill>
                  <a:srgbClr val="7A88A8"/>
                </a:solidFill>
                <a:latin typeface="Calibri" pitchFamily="34" charset="0"/>
                <a:ea typeface="Calibri" pitchFamily="34" charset="-122"/>
                <a:cs typeface="Calibri" pitchFamily="34" charset="-120"/>
              </a:rPr>
              <a:t>Retrieval challenge: Cover your screen. Name the buyer and the seller in the bread example -- from memory.</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87680" y="36576"/>
            <a:ext cx="10972800" cy="304800"/>
          </a:xfrm>
          <a:prstGeom prst="rect">
            <a:avLst/>
          </a:prstGeom>
          <a:noFill/>
          <a:ln/>
        </p:spPr>
        <p:txBody>
          <a:bodyPr wrap="square" lIns="0" tIns="0" rIns="0" bIns="0" rtlCol="0" anchor="ctr"/>
          <a:lstStyle/>
          <a:p>
            <a:pPr indent="0" marL="0">
              <a:buNone/>
            </a:pPr>
            <a:r>
              <a:rPr lang="en-US" sz="1000" b="1" spc="150" kern="0" dirty="0">
                <a:solidFill>
                  <a:srgbClr val="8B6FC0"/>
                </a:solidFill>
                <a:latin typeface="Calibri" pitchFamily="34" charset="0"/>
                <a:ea typeface="Calibri" pitchFamily="34" charset="-122"/>
                <a:cs typeface="Calibri" pitchFamily="34" charset="-120"/>
              </a:rPr>
              <a:t>WHY IT MATTERS</a:t>
            </a:r>
            <a:endParaRPr lang="en-US" sz="1000" dirty="0"/>
          </a:p>
        </p:txBody>
      </p:sp>
      <p:sp>
        <p:nvSpPr>
          <p:cNvPr id="3" name="Text 1"/>
          <p:cNvSpPr/>
          <p:nvPr/>
        </p:nvSpPr>
        <p:spPr>
          <a:xfrm>
            <a:off x="487680" y="341376"/>
            <a:ext cx="10972800" cy="853440"/>
          </a:xfrm>
          <a:prstGeom prst="rect">
            <a:avLst/>
          </a:prstGeom>
          <a:noFill/>
          <a:ln/>
        </p:spPr>
        <p:txBody>
          <a:bodyPr wrap="square" lIns="0" tIns="0" rIns="0" bIns="0" rtlCol="0" anchor="ctr"/>
          <a:lstStyle/>
          <a:p>
            <a:pPr indent="0" marL="0">
              <a:buNone/>
            </a:pPr>
            <a:r>
              <a:rPr lang="en-US" sz="3000" b="1" dirty="0">
                <a:solidFill>
                  <a:srgbClr val="0E1C42"/>
                </a:solidFill>
                <a:latin typeface="Cambria" pitchFamily="34" charset="0"/>
                <a:ea typeface="Cambria" pitchFamily="34" charset="-122"/>
                <a:cs typeface="Cambria" pitchFamily="34" charset="-120"/>
              </a:rPr>
              <a:t>Same Words, Different Deal</a:t>
            </a:r>
            <a:endParaRPr lang="en-US" sz="3000" dirty="0"/>
          </a:p>
        </p:txBody>
      </p:sp>
      <p:sp>
        <p:nvSpPr>
          <p:cNvPr id="4" name="Shape 2"/>
          <p:cNvSpPr/>
          <p:nvPr/>
        </p:nvSpPr>
        <p:spPr>
          <a:xfrm>
            <a:off x="487680" y="1219200"/>
            <a:ext cx="10972800" cy="1402080"/>
          </a:xfrm>
          <a:prstGeom prst="roundRect">
            <a:avLst>
              <a:gd name="adj" fmla="val 10435"/>
            </a:avLst>
          </a:prstGeom>
          <a:solidFill>
            <a:srgbClr val="F0E8FF"/>
          </a:solidFill>
          <a:ln/>
        </p:spPr>
      </p:sp>
      <p:sp>
        <p:nvSpPr>
          <p:cNvPr id="5" name="Text 3"/>
          <p:cNvSpPr/>
          <p:nvPr/>
        </p:nvSpPr>
        <p:spPr>
          <a:xfrm>
            <a:off x="731520" y="1341120"/>
            <a:ext cx="10485120" cy="1158240"/>
          </a:xfrm>
          <a:prstGeom prst="rect">
            <a:avLst/>
          </a:prstGeom>
          <a:noFill/>
          <a:ln/>
        </p:spPr>
        <p:txBody>
          <a:bodyPr wrap="square" lIns="0" tIns="0" rIns="0" bIns="0" rtlCol="0" anchor="ctr"/>
          <a:lstStyle/>
          <a:p>
            <a:pPr indent="0" marL="0">
              <a:buNone/>
            </a:pPr>
            <a:r>
              <a:rPr lang="en-US" sz="1300" i="1" dirty="0">
                <a:solidFill>
                  <a:srgbClr val="0E1C42"/>
                </a:solidFill>
                <a:latin typeface="Cambria" pitchFamily="34" charset="0"/>
                <a:ea typeface="Cambria" pitchFamily="34" charset="-122"/>
                <a:cs typeface="Cambria" pitchFamily="34" charset="-120"/>
              </a:rPr>
              <a:t>Opti says: A book is a good, but a teacher reading the book to you out loud is a service. Same words, totally different deal. Once you start spotting the difference, you'll see it everywhere.</a:t>
            </a:r>
            <a:endParaRPr lang="en-US" sz="1300" dirty="0"/>
          </a:p>
        </p:txBody>
      </p:sp>
      <p:sp>
        <p:nvSpPr>
          <p:cNvPr id="6" name="Text 4"/>
          <p:cNvSpPr/>
          <p:nvPr/>
        </p:nvSpPr>
        <p:spPr>
          <a:xfrm>
            <a:off x="487680" y="2865120"/>
            <a:ext cx="5364480" cy="426720"/>
          </a:xfrm>
          <a:prstGeom prst="rect">
            <a:avLst/>
          </a:prstGeom>
          <a:noFill/>
          <a:ln/>
        </p:spPr>
        <p:txBody>
          <a:bodyPr wrap="square" lIns="0" tIns="0" rIns="0" bIns="0" rtlCol="0" anchor="ctr"/>
          <a:lstStyle/>
          <a:p>
            <a:pPr indent="0" marL="0">
              <a:buNone/>
            </a:pPr>
            <a:r>
              <a:rPr lang="en-US" sz="1400" b="1" dirty="0">
                <a:solidFill>
                  <a:srgbClr val="0E1C42"/>
                </a:solidFill>
                <a:latin typeface="Cambria" pitchFamily="34" charset="0"/>
                <a:ea typeface="Cambria" pitchFamily="34" charset="-122"/>
                <a:cs typeface="Cambria" pitchFamily="34" charset="-120"/>
              </a:rPr>
              <a:t>Then &amp; Now</a:t>
            </a:r>
            <a:endParaRPr lang="en-US" sz="1400" dirty="0"/>
          </a:p>
        </p:txBody>
      </p:sp>
      <p:sp>
        <p:nvSpPr>
          <p:cNvPr id="7" name="Text 5"/>
          <p:cNvSpPr/>
          <p:nvPr/>
        </p:nvSpPr>
        <p:spPr>
          <a:xfrm>
            <a:off x="487680" y="3352800"/>
            <a:ext cx="5364480" cy="1950720"/>
          </a:xfrm>
          <a:prstGeom prst="rect">
            <a:avLst/>
          </a:prstGeom>
          <a:noFill/>
          <a:ln/>
        </p:spPr>
        <p:txBody>
          <a:bodyPr wrap="square" lIns="0" tIns="0" rIns="0" bIns="0" rtlCol="0" anchor="t"/>
          <a:lstStyle/>
          <a:p>
            <a:pPr indent="0" marL="0">
              <a:buNone/>
            </a:pPr>
            <a:r>
              <a:rPr lang="en-US" sz="1200" dirty="0">
                <a:solidFill>
                  <a:srgbClr val="0E1C42"/>
                </a:solidFill>
                <a:latin typeface="Calibri" pitchFamily="34" charset="0"/>
                <a:ea typeface="Calibri" pitchFamily="34" charset="-122"/>
                <a:cs typeface="Calibri" pitchFamily="34" charset="-120"/>
              </a:rPr>
              <a:t>Long ago, a town might have a baker, a cobbler, and a blacksmith -- some sold goods, some sold services. Today, towns still have grocery stores (goods) and dentists, hair stylists, and mechanics (services).</a:t>
            </a:r>
            <a:endParaRPr lang="en-US" sz="1200" dirty="0"/>
          </a:p>
        </p:txBody>
      </p:sp>
      <p:sp>
        <p:nvSpPr>
          <p:cNvPr id="8" name="Shape 6"/>
          <p:cNvSpPr/>
          <p:nvPr/>
        </p:nvSpPr>
        <p:spPr>
          <a:xfrm>
            <a:off x="6217920" y="2865120"/>
            <a:ext cx="5242560" cy="3535680"/>
          </a:xfrm>
          <a:prstGeom prst="roundRect">
            <a:avLst>
              <a:gd name="adj" fmla="val 5172"/>
            </a:avLst>
          </a:prstGeom>
          <a:solidFill>
            <a:srgbClr val="1A2D5A"/>
          </a:solidFill>
          <a:ln/>
          <a:effectLst>
            <a:outerShdw sx="100000" sy="100000" kx="0" ky="0" algn="bl" rotWithShape="0" blurRad="101600" dist="38100" dir="8100000">
              <a:srgbClr val="000000">
                <a:alpha val="20000"/>
              </a:srgbClr>
            </a:outerShdw>
          </a:effectLst>
        </p:spPr>
      </p:sp>
      <p:sp>
        <p:nvSpPr>
          <p:cNvPr id="9" name="Text 7"/>
          <p:cNvSpPr/>
          <p:nvPr/>
        </p:nvSpPr>
        <p:spPr>
          <a:xfrm>
            <a:off x="6461760" y="2987040"/>
            <a:ext cx="4754880" cy="341376"/>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0" name="Text 8"/>
          <p:cNvSpPr/>
          <p:nvPr/>
        </p:nvSpPr>
        <p:spPr>
          <a:xfrm>
            <a:off x="6461760" y="3328416"/>
            <a:ext cx="4754880" cy="2950464"/>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stayed the same about how a community needs both goods and services?</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Why does a marketplace need both goods and services, not just one?</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87680" y="36576"/>
            <a:ext cx="10972800" cy="304800"/>
          </a:xfrm>
          <a:prstGeom prst="rect">
            <a:avLst/>
          </a:prstGeom>
          <a:noFill/>
          <a:ln/>
        </p:spPr>
        <p:txBody>
          <a:bodyPr wrap="square" lIns="0" tIns="0" rIns="0" bIns="0" rtlCol="0" anchor="ctr"/>
          <a:lstStyle/>
          <a:p>
            <a:pPr indent="0" marL="0">
              <a:buNone/>
            </a:pPr>
            <a:r>
              <a:rPr lang="en-US" sz="1000" b="1" spc="150" kern="0" dirty="0">
                <a:solidFill>
                  <a:srgbClr val="1A8A7D"/>
                </a:solidFill>
                <a:latin typeface="Calibri" pitchFamily="34" charset="0"/>
                <a:ea typeface="Calibri" pitchFamily="34" charset="-122"/>
                <a:cs typeface="Calibri" pitchFamily="34" charset="-120"/>
              </a:rPr>
              <a:t>GUIDED PRACTICE  ·  TEACHER MODELS</a:t>
            </a:r>
            <a:endParaRPr lang="en-US" sz="1000" dirty="0"/>
          </a:p>
        </p:txBody>
      </p:sp>
      <p:sp>
        <p:nvSpPr>
          <p:cNvPr id="3" name="Text 1"/>
          <p:cNvSpPr/>
          <p:nvPr/>
        </p:nvSpPr>
        <p:spPr>
          <a:xfrm>
            <a:off x="487680" y="341376"/>
            <a:ext cx="10972800" cy="853440"/>
          </a:xfrm>
          <a:prstGeom prst="rect">
            <a:avLst/>
          </a:prstGeom>
          <a:noFill/>
          <a:ln/>
        </p:spPr>
        <p:txBody>
          <a:bodyPr wrap="square" lIns="0" tIns="0" rIns="0" bIns="0" rtlCol="0" anchor="ctr"/>
          <a:lstStyle/>
          <a:p>
            <a:pPr indent="0" marL="0">
              <a:buNone/>
            </a:pPr>
            <a:r>
              <a:rPr lang="en-US" sz="3000" b="1" dirty="0">
                <a:solidFill>
                  <a:srgbClr val="0E1C42"/>
                </a:solidFill>
                <a:latin typeface="Cambria" pitchFamily="34" charset="0"/>
                <a:ea typeface="Cambria" pitchFamily="34" charset="-122"/>
                <a:cs typeface="Cambria" pitchFamily="34" charset="-120"/>
              </a:rPr>
              <a:t>Watch Me Sort One First</a:t>
            </a:r>
            <a:endParaRPr lang="en-US" sz="3000" dirty="0"/>
          </a:p>
        </p:txBody>
      </p:sp>
      <p:sp>
        <p:nvSpPr>
          <p:cNvPr id="4" name="Shape 2"/>
          <p:cNvSpPr/>
          <p:nvPr/>
        </p:nvSpPr>
        <p:spPr>
          <a:xfrm>
            <a:off x="487680" y="1219200"/>
            <a:ext cx="10972800" cy="3169920"/>
          </a:xfrm>
          <a:prstGeom prst="roundRect">
            <a:avLst>
              <a:gd name="adj" fmla="val 4615"/>
            </a:avLst>
          </a:prstGeom>
          <a:solidFill>
            <a:srgbClr val="F0F2F8"/>
          </a:solidFill>
          <a:ln/>
        </p:spPr>
      </p:sp>
      <p:sp>
        <p:nvSpPr>
          <p:cNvPr id="5" name="Text 3"/>
          <p:cNvSpPr/>
          <p:nvPr/>
        </p:nvSpPr>
        <p:spPr>
          <a:xfrm>
            <a:off x="792480" y="1463040"/>
            <a:ext cx="10363200" cy="2682240"/>
          </a:xfrm>
          <a:prstGeom prst="rect">
            <a:avLst/>
          </a:prstGeom>
          <a:noFill/>
          <a:ln/>
        </p:spPr>
        <p:txBody>
          <a:bodyPr wrap="square" lIns="0" tIns="0" rIns="0" bIns="0" rtlCol="0" anchor="t"/>
          <a:lstStyle/>
          <a:p>
            <a:pPr indent="0" marL="0">
              <a:buNone/>
            </a:pPr>
            <a:r>
              <a:rPr lang="en-US" sz="1400" i="1" dirty="0">
                <a:solidFill>
                  <a:srgbClr val="0E1C42"/>
                </a:solidFill>
                <a:latin typeface="Cambria" pitchFamily="34" charset="0"/>
                <a:ea typeface="Cambria" pitchFamily="34" charset="-122"/>
                <a:cs typeface="Cambria" pitchFamily="34" charset="-120"/>
              </a:rPr>
              <a:t>"A new backpack. Let me think out loud: Can I hold it? Yes. Can I carry it home and use it? Yes. That means it's a thing -- so it's a good, not a service. Now: who would be the buyer here? The kid handing over money. Who's the seller? The shopkeeper handing over the backpack."</a:t>
            </a:r>
            <a:endParaRPr lang="en-US" sz="1400" dirty="0"/>
          </a:p>
        </p:txBody>
      </p:sp>
      <p:sp>
        <p:nvSpPr>
          <p:cNvPr id="6" name="Text 4"/>
          <p:cNvSpPr/>
          <p:nvPr/>
        </p:nvSpPr>
        <p:spPr>
          <a:xfrm>
            <a:off x="487680" y="4632960"/>
            <a:ext cx="10972800" cy="487680"/>
          </a:xfrm>
          <a:prstGeom prst="rect">
            <a:avLst/>
          </a:prstGeom>
          <a:noFill/>
          <a:ln/>
        </p:spPr>
        <p:txBody>
          <a:bodyPr wrap="square" lIns="0" tIns="0" rIns="0" bIns="0" rtlCol="0" anchor="ctr"/>
          <a:lstStyle/>
          <a:p>
            <a:pPr indent="0" marL="0">
              <a:buNone/>
            </a:pPr>
            <a:r>
              <a:rPr lang="en-US" sz="1100" dirty="0">
                <a:solidFill>
                  <a:srgbClr val="7A88A8"/>
                </a:solidFill>
                <a:latin typeface="Calibri" pitchFamily="34" charset="0"/>
                <a:ea typeface="Calibri" pitchFamily="34" charset="-122"/>
                <a:cs typeface="Calibri" pitchFamily="34" charset="-120"/>
              </a:rPr>
              <a:t>Say this think-aloud out loud, slowly, before students try one themselves.</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87680" y="36576"/>
            <a:ext cx="10972800" cy="304800"/>
          </a:xfrm>
          <a:prstGeom prst="rect">
            <a:avLst/>
          </a:prstGeom>
          <a:noFill/>
          <a:ln/>
        </p:spPr>
        <p:txBody>
          <a:bodyPr wrap="square" lIns="0" tIns="0" rIns="0" bIns="0" rtlCol="0" anchor="ctr"/>
          <a:lstStyle/>
          <a:p>
            <a:pPr indent="0" marL="0">
              <a:buNone/>
            </a:pPr>
            <a:r>
              <a:rPr lang="en-US" sz="1000" b="1" spc="150" kern="0" dirty="0">
                <a:solidFill>
                  <a:srgbClr val="1A8A7D"/>
                </a:solidFill>
                <a:latin typeface="Calibri" pitchFamily="34" charset="0"/>
                <a:ea typeface="Calibri" pitchFamily="34" charset="-122"/>
                <a:cs typeface="Calibri" pitchFamily="34" charset="-120"/>
              </a:rPr>
              <a:t>GUIDED PRACTICE  ·  WE TRY TOGETHER</a:t>
            </a:r>
            <a:endParaRPr lang="en-US" sz="1000" dirty="0"/>
          </a:p>
        </p:txBody>
      </p:sp>
      <p:sp>
        <p:nvSpPr>
          <p:cNvPr id="3" name="Text 1"/>
          <p:cNvSpPr/>
          <p:nvPr/>
        </p:nvSpPr>
        <p:spPr>
          <a:xfrm>
            <a:off x="487680" y="341376"/>
            <a:ext cx="10972800" cy="853440"/>
          </a:xfrm>
          <a:prstGeom prst="rect">
            <a:avLst/>
          </a:prstGeom>
          <a:noFill/>
          <a:ln/>
        </p:spPr>
        <p:txBody>
          <a:bodyPr wrap="square" lIns="0" tIns="0" rIns="0" bIns="0" rtlCol="0" anchor="ctr"/>
          <a:lstStyle/>
          <a:p>
            <a:pPr indent="0" marL="0">
              <a:buNone/>
            </a:pPr>
            <a:r>
              <a:rPr lang="en-US" sz="3000" b="1" dirty="0">
                <a:solidFill>
                  <a:srgbClr val="0E1C42"/>
                </a:solidFill>
                <a:latin typeface="Cambria" pitchFamily="34" charset="0"/>
                <a:ea typeface="Cambria" pitchFamily="34" charset="-122"/>
                <a:cs typeface="Cambria" pitchFamily="34" charset="-120"/>
              </a:rPr>
              <a:t>A Cobbler Fixing a Shoe</a:t>
            </a:r>
            <a:endParaRPr lang="en-US" sz="3000" dirty="0"/>
          </a:p>
        </p:txBody>
      </p:sp>
      <p:sp>
        <p:nvSpPr>
          <p:cNvPr id="4" name="Text 2"/>
          <p:cNvSpPr/>
          <p:nvPr/>
        </p:nvSpPr>
        <p:spPr>
          <a:xfrm>
            <a:off x="487680" y="1219200"/>
            <a:ext cx="10972800" cy="731520"/>
          </a:xfrm>
          <a:prstGeom prst="rect">
            <a:avLst/>
          </a:prstGeom>
          <a:noFill/>
          <a:ln/>
        </p:spPr>
        <p:txBody>
          <a:bodyPr wrap="square" lIns="0" tIns="0" rIns="0" bIns="0" rtlCol="0" anchor="t"/>
          <a:lstStyle/>
          <a:p>
            <a:pPr indent="0" marL="0">
              <a:buNone/>
            </a:pPr>
            <a:r>
              <a:rPr lang="en-US" sz="1300" dirty="0">
                <a:solidFill>
                  <a:srgbClr val="0E1C42"/>
                </a:solidFill>
                <a:latin typeface="Calibri" pitchFamily="34" charset="0"/>
                <a:ea typeface="Calibri" pitchFamily="34" charset="-122"/>
                <a:cs typeface="Calibri" pitchFamily="34" charset="-120"/>
              </a:rPr>
              <a:t>The cobbler doesn't sell you a new shoe -- they fix the one you brought in. As a class, let's sort it together.</a:t>
            </a:r>
            <a:endParaRPr lang="en-US" sz="1300" dirty="0"/>
          </a:p>
        </p:txBody>
      </p:sp>
      <p:sp>
        <p:nvSpPr>
          <p:cNvPr id="5" name="Shape 3"/>
          <p:cNvSpPr/>
          <p:nvPr/>
        </p:nvSpPr>
        <p:spPr>
          <a:xfrm>
            <a:off x="487680" y="2133600"/>
            <a:ext cx="5486400" cy="3169920"/>
          </a:xfrm>
          <a:prstGeom prst="roundRect">
            <a:avLst>
              <a:gd name="adj" fmla="val 5769"/>
            </a:avLst>
          </a:prstGeom>
          <a:solidFill>
            <a:srgbClr val="1A2D5A"/>
          </a:solidFill>
          <a:ln/>
          <a:effectLst>
            <a:outerShdw sx="100000" sy="100000" kx="0" ky="0" algn="bl" rotWithShape="0" blurRad="101600" dist="38100" dir="8100000">
              <a:srgbClr val="000000">
                <a:alpha val="20000"/>
              </a:srgbClr>
            </a:outerShdw>
          </a:effectLst>
        </p:spPr>
      </p:sp>
      <p:sp>
        <p:nvSpPr>
          <p:cNvPr id="6" name="Text 4"/>
          <p:cNvSpPr/>
          <p:nvPr/>
        </p:nvSpPr>
        <p:spPr>
          <a:xfrm>
            <a:off x="731520" y="2255520"/>
            <a:ext cx="4998720" cy="341376"/>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7" name="Text 5"/>
          <p:cNvSpPr/>
          <p:nvPr/>
        </p:nvSpPr>
        <p:spPr>
          <a:xfrm>
            <a:off x="731520" y="2596896"/>
            <a:ext cx="4998720" cy="2584704"/>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Is the fix itself something you can hold, or something someone does for you?</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So is this a good or a service? What do you see that makes you say that?</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Who is the buyer in this scene? Who is the seller?</a:t>
            </a:r>
            <a:endParaRPr lang="en-US" sz="1100" dirty="0"/>
          </a:p>
        </p:txBody>
      </p:sp>
      <p:sp>
        <p:nvSpPr>
          <p:cNvPr id="8" name="Shape 6"/>
          <p:cNvSpPr/>
          <p:nvPr/>
        </p:nvSpPr>
        <p:spPr>
          <a:xfrm>
            <a:off x="6217920" y="2133600"/>
            <a:ext cx="5242560" cy="3169920"/>
          </a:xfrm>
          <a:prstGeom prst="roundRect">
            <a:avLst>
              <a:gd name="adj" fmla="val 4615"/>
            </a:avLst>
          </a:prstGeom>
          <a:solidFill>
            <a:srgbClr val="FFF3DC"/>
          </a:solidFill>
          <a:ln w="19050">
            <a:solidFill>
              <a:srgbClr val="F5E6C8"/>
            </a:solidFill>
            <a:prstDash val="solid"/>
          </a:ln>
        </p:spPr>
      </p:sp>
      <p:sp>
        <p:nvSpPr>
          <p:cNvPr id="9" name="Text 7"/>
          <p:cNvSpPr/>
          <p:nvPr/>
        </p:nvSpPr>
        <p:spPr>
          <a:xfrm>
            <a:off x="6400800" y="2206752"/>
            <a:ext cx="4876800" cy="268224"/>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0" name="Text 8"/>
          <p:cNvSpPr/>
          <p:nvPr/>
        </p:nvSpPr>
        <p:spPr>
          <a:xfrm>
            <a:off x="6400800" y="2474976"/>
            <a:ext cx="4876800" cy="274320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think fixing the shoe is a...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buyer is... and the seller is..."</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87680" y="36576"/>
            <a:ext cx="10972800" cy="304800"/>
          </a:xfrm>
          <a:prstGeom prst="rect">
            <a:avLst/>
          </a:prstGeom>
          <a:noFill/>
          <a:ln/>
        </p:spPr>
        <p:txBody>
          <a:bodyPr wrap="square" lIns="0" tIns="0" rIns="0" bIns="0" rtlCol="0" anchor="ctr"/>
          <a:lstStyle/>
          <a:p>
            <a:pPr indent="0" marL="0">
              <a:buNone/>
            </a:pPr>
            <a:r>
              <a:rPr lang="en-US" sz="1000" b="1" spc="150" kern="0" dirty="0">
                <a:solidFill>
                  <a:srgbClr val="1A8A7D"/>
                </a:solidFill>
                <a:latin typeface="Calibri" pitchFamily="34" charset="0"/>
                <a:ea typeface="Calibri" pitchFamily="34" charset="-122"/>
                <a:cs typeface="Calibri" pitchFamily="34" charset="-120"/>
              </a:rPr>
              <a:t>GUIDED PRACTICE  ·  YOUR TURN</a:t>
            </a:r>
            <a:endParaRPr lang="en-US" sz="1000" dirty="0"/>
          </a:p>
        </p:txBody>
      </p:sp>
      <p:sp>
        <p:nvSpPr>
          <p:cNvPr id="3" name="Text 1"/>
          <p:cNvSpPr/>
          <p:nvPr/>
        </p:nvSpPr>
        <p:spPr>
          <a:xfrm>
            <a:off x="487680" y="341376"/>
            <a:ext cx="10972800" cy="853440"/>
          </a:xfrm>
          <a:prstGeom prst="rect">
            <a:avLst/>
          </a:prstGeom>
          <a:noFill/>
          <a:ln/>
        </p:spPr>
        <p:txBody>
          <a:bodyPr wrap="square" lIns="0" tIns="0" rIns="0" bIns="0" rtlCol="0" anchor="ctr"/>
          <a:lstStyle/>
          <a:p>
            <a:pPr indent="0" marL="0">
              <a:buNone/>
            </a:pPr>
            <a:r>
              <a:rPr lang="en-US" sz="3000" b="1" dirty="0">
                <a:solidFill>
                  <a:srgbClr val="0E1C42"/>
                </a:solidFill>
                <a:latin typeface="Cambria" pitchFamily="34" charset="0"/>
                <a:ea typeface="Cambria" pitchFamily="34" charset="-122"/>
                <a:cs typeface="Cambria" pitchFamily="34" charset="-120"/>
              </a:rPr>
              <a:t>Sort It Yourself: Piano Lesson</a:t>
            </a:r>
            <a:endParaRPr lang="en-US" sz="3000" dirty="0"/>
          </a:p>
        </p:txBody>
      </p:sp>
      <p:sp>
        <p:nvSpPr>
          <p:cNvPr id="4" name="Text 2"/>
          <p:cNvSpPr/>
          <p:nvPr/>
        </p:nvSpPr>
        <p:spPr>
          <a:xfrm>
            <a:off x="487680" y="1219200"/>
            <a:ext cx="10972800" cy="548640"/>
          </a:xfrm>
          <a:prstGeom prst="rect">
            <a:avLst/>
          </a:prstGeom>
          <a:noFill/>
          <a:ln/>
        </p:spPr>
        <p:txBody>
          <a:bodyPr wrap="square" lIns="0" tIns="0" rIns="0" bIns="0" rtlCol="0" anchor="t"/>
          <a:lstStyle/>
          <a:p>
            <a:pPr indent="0" marL="0">
              <a:buNone/>
            </a:pPr>
            <a:r>
              <a:rPr lang="en-US" sz="1300" dirty="0">
                <a:solidFill>
                  <a:srgbClr val="0E1C42"/>
                </a:solidFill>
                <a:latin typeface="Calibri" pitchFamily="34" charset="0"/>
                <a:ea typeface="Calibri" pitchFamily="34" charset="-122"/>
                <a:cs typeface="Calibri" pitchFamily="34" charset="-120"/>
              </a:rPr>
              <a:t>Use your Curator's Notebook. Work through the checklist for a piano lesson.</a:t>
            </a:r>
            <a:endParaRPr lang="en-US" sz="1300" dirty="0"/>
          </a:p>
        </p:txBody>
      </p:sp>
      <p:sp>
        <p:nvSpPr>
          <p:cNvPr id="5" name="Text 3"/>
          <p:cNvSpPr/>
          <p:nvPr/>
        </p:nvSpPr>
        <p:spPr>
          <a:xfrm>
            <a:off x="731520" y="1950720"/>
            <a:ext cx="10485120" cy="609600"/>
          </a:xfrm>
          <a:prstGeom prst="rect">
            <a:avLst/>
          </a:prstGeom>
          <a:noFill/>
          <a:ln/>
        </p:spPr>
        <p:txBody>
          <a:bodyPr wrap="square" lIns="0" tIns="0" rIns="0" bIns="0" rtlCol="0" anchor="ctr"/>
          <a:lstStyle/>
          <a:p>
            <a:pPr indent="0" marL="0">
              <a:buNone/>
            </a:pPr>
            <a:r>
              <a:rPr lang="en-US" sz="1400" dirty="0">
                <a:solidFill>
                  <a:srgbClr val="0E1C42"/>
                </a:solidFill>
                <a:latin typeface="Calibri" pitchFamily="34" charset="0"/>
                <a:ea typeface="Calibri" pitchFamily="34" charset="-122"/>
                <a:cs typeface="Calibri" pitchFamily="34" charset="-120"/>
              </a:rPr>
              <a:t>[ ]  Can I hold it and carry it home?</a:t>
            </a:r>
            <a:endParaRPr lang="en-US" sz="1400" dirty="0"/>
          </a:p>
        </p:txBody>
      </p:sp>
      <p:sp>
        <p:nvSpPr>
          <p:cNvPr id="6" name="Text 4"/>
          <p:cNvSpPr/>
          <p:nvPr/>
        </p:nvSpPr>
        <p:spPr>
          <a:xfrm>
            <a:off x="731520" y="2682240"/>
            <a:ext cx="10485120" cy="609600"/>
          </a:xfrm>
          <a:prstGeom prst="rect">
            <a:avLst/>
          </a:prstGeom>
          <a:noFill/>
          <a:ln/>
        </p:spPr>
        <p:txBody>
          <a:bodyPr wrap="square" lIns="0" tIns="0" rIns="0" bIns="0" rtlCol="0" anchor="ctr"/>
          <a:lstStyle/>
          <a:p>
            <a:pPr indent="0" marL="0">
              <a:buNone/>
            </a:pPr>
            <a:r>
              <a:rPr lang="en-US" sz="1400" dirty="0">
                <a:solidFill>
                  <a:srgbClr val="0E1C42"/>
                </a:solidFill>
                <a:latin typeface="Calibri" pitchFamily="34" charset="0"/>
                <a:ea typeface="Calibri" pitchFamily="34" charset="-122"/>
                <a:cs typeface="Calibri" pitchFamily="34" charset="-120"/>
              </a:rPr>
              <a:t>[ ]  Is it a thing (good) or help (service)?</a:t>
            </a:r>
            <a:endParaRPr lang="en-US" sz="1400" dirty="0"/>
          </a:p>
        </p:txBody>
      </p:sp>
      <p:sp>
        <p:nvSpPr>
          <p:cNvPr id="7" name="Text 5"/>
          <p:cNvSpPr/>
          <p:nvPr/>
        </p:nvSpPr>
        <p:spPr>
          <a:xfrm>
            <a:off x="731520" y="3413760"/>
            <a:ext cx="10485120" cy="609600"/>
          </a:xfrm>
          <a:prstGeom prst="rect">
            <a:avLst/>
          </a:prstGeom>
          <a:noFill/>
          <a:ln/>
        </p:spPr>
        <p:txBody>
          <a:bodyPr wrap="square" lIns="0" tIns="0" rIns="0" bIns="0" rtlCol="0" anchor="ctr"/>
          <a:lstStyle/>
          <a:p>
            <a:pPr indent="0" marL="0">
              <a:buNone/>
            </a:pPr>
            <a:r>
              <a:rPr lang="en-US" sz="1400" dirty="0">
                <a:solidFill>
                  <a:srgbClr val="0E1C42"/>
                </a:solidFill>
                <a:latin typeface="Calibri" pitchFamily="34" charset="0"/>
                <a:ea typeface="Calibri" pitchFamily="34" charset="-122"/>
                <a:cs typeface="Calibri" pitchFamily="34" charset="-120"/>
              </a:rPr>
              <a:t>[ ]  Who is paying? That's the buyer.</a:t>
            </a:r>
            <a:endParaRPr lang="en-US" sz="1400" dirty="0"/>
          </a:p>
        </p:txBody>
      </p:sp>
      <p:sp>
        <p:nvSpPr>
          <p:cNvPr id="8" name="Text 6"/>
          <p:cNvSpPr/>
          <p:nvPr/>
        </p:nvSpPr>
        <p:spPr>
          <a:xfrm>
            <a:off x="731520" y="4145280"/>
            <a:ext cx="10485120" cy="609600"/>
          </a:xfrm>
          <a:prstGeom prst="rect">
            <a:avLst/>
          </a:prstGeom>
          <a:noFill/>
          <a:ln/>
        </p:spPr>
        <p:txBody>
          <a:bodyPr wrap="square" lIns="0" tIns="0" rIns="0" bIns="0" rtlCol="0" anchor="ctr"/>
          <a:lstStyle/>
          <a:p>
            <a:pPr indent="0" marL="0">
              <a:buNone/>
            </a:pPr>
            <a:r>
              <a:rPr lang="en-US" sz="1400" dirty="0">
                <a:solidFill>
                  <a:srgbClr val="0E1C42"/>
                </a:solidFill>
                <a:latin typeface="Calibri" pitchFamily="34" charset="0"/>
                <a:ea typeface="Calibri" pitchFamily="34" charset="-122"/>
                <a:cs typeface="Calibri" pitchFamily="34" charset="-120"/>
              </a:rPr>
              <a:t>[ ]  Who is providing it? That's the seller.</a:t>
            </a:r>
            <a:endParaRPr lang="en-US" sz="1400" dirty="0"/>
          </a:p>
        </p:txBody>
      </p:sp>
      <p:sp>
        <p:nvSpPr>
          <p:cNvPr id="9" name="Shape 7"/>
          <p:cNvSpPr/>
          <p:nvPr/>
        </p:nvSpPr>
        <p:spPr>
          <a:xfrm>
            <a:off x="731520" y="4876800"/>
            <a:ext cx="10485120" cy="1097280"/>
          </a:xfrm>
          <a:prstGeom prst="roundRect">
            <a:avLst>
              <a:gd name="adj" fmla="val 13333"/>
            </a:avLst>
          </a:prstGeom>
          <a:solidFill>
            <a:srgbClr val="FFF3DC"/>
          </a:solidFill>
          <a:ln w="19050">
            <a:solidFill>
              <a:srgbClr val="F5E6C8"/>
            </a:solidFill>
            <a:prstDash val="solid"/>
          </a:ln>
        </p:spPr>
      </p:sp>
      <p:sp>
        <p:nvSpPr>
          <p:cNvPr id="10" name="Text 8"/>
          <p:cNvSpPr/>
          <p:nvPr/>
        </p:nvSpPr>
        <p:spPr>
          <a:xfrm>
            <a:off x="914400" y="4949952"/>
            <a:ext cx="10119360" cy="268224"/>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1" name="Text 9"/>
          <p:cNvSpPr/>
          <p:nvPr/>
        </p:nvSpPr>
        <p:spPr>
          <a:xfrm>
            <a:off x="914400" y="5218176"/>
            <a:ext cx="10119360" cy="67056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sorted piano lesson as a... The buyer is... The seller is..."</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87680" y="36576"/>
            <a:ext cx="10972800" cy="304800"/>
          </a:xfrm>
          <a:prstGeom prst="rect">
            <a:avLst/>
          </a:prstGeom>
          <a:noFill/>
          <a:ln/>
        </p:spPr>
        <p:txBody>
          <a:bodyPr wrap="square" lIns="0" tIns="0" rIns="0" bIns="0" rtlCol="0" anchor="ctr"/>
          <a:lstStyle/>
          <a:p>
            <a:pPr indent="0" marL="0">
              <a:buNone/>
            </a:pPr>
            <a:r>
              <a:rPr lang="en-US" sz="1000" b="1" spc="150" kern="0" dirty="0">
                <a:solidFill>
                  <a:srgbClr val="E8636B"/>
                </a:solidFill>
                <a:latin typeface="Calibri" pitchFamily="34" charset="0"/>
                <a:ea typeface="Calibri" pitchFamily="34" charset="-122"/>
                <a:cs typeface="Calibri" pitchFamily="34" charset="-120"/>
              </a:rPr>
              <a:t>GUIDED PRACTICE  ·  ERROR ANALYSIS</a:t>
            </a:r>
            <a:endParaRPr lang="en-US" sz="1000" dirty="0"/>
          </a:p>
        </p:txBody>
      </p:sp>
      <p:sp>
        <p:nvSpPr>
          <p:cNvPr id="3" name="Text 1"/>
          <p:cNvSpPr/>
          <p:nvPr/>
        </p:nvSpPr>
        <p:spPr>
          <a:xfrm>
            <a:off x="487680" y="341376"/>
            <a:ext cx="10972800" cy="853440"/>
          </a:xfrm>
          <a:prstGeom prst="rect">
            <a:avLst/>
          </a:prstGeom>
          <a:noFill/>
          <a:ln/>
        </p:spPr>
        <p:txBody>
          <a:bodyPr wrap="square" lIns="0" tIns="0" rIns="0" bIns="0" rtlCol="0" anchor="ctr"/>
          <a:lstStyle/>
          <a:p>
            <a:pPr indent="0" marL="0">
              <a:buNone/>
            </a:pPr>
            <a:r>
              <a:rPr lang="en-US" sz="3000" b="1" dirty="0">
                <a:solidFill>
                  <a:srgbClr val="0E1C42"/>
                </a:solidFill>
                <a:latin typeface="Cambria" pitchFamily="34" charset="0"/>
                <a:ea typeface="Cambria" pitchFamily="34" charset="-122"/>
                <a:cs typeface="Cambria" pitchFamily="34" charset="-120"/>
              </a:rPr>
              <a:t>Find the Mistake</a:t>
            </a:r>
            <a:endParaRPr lang="en-US" sz="3000" dirty="0"/>
          </a:p>
        </p:txBody>
      </p:sp>
      <p:sp>
        <p:nvSpPr>
          <p:cNvPr id="4" name="Shape 2"/>
          <p:cNvSpPr/>
          <p:nvPr/>
        </p:nvSpPr>
        <p:spPr>
          <a:xfrm>
            <a:off x="487680" y="1219200"/>
            <a:ext cx="10972800" cy="1402080"/>
          </a:xfrm>
          <a:prstGeom prst="roundRect">
            <a:avLst>
              <a:gd name="adj" fmla="val 10435"/>
            </a:avLst>
          </a:prstGeom>
          <a:solidFill>
            <a:srgbClr val="FBE7E8"/>
          </a:solidFill>
          <a:ln/>
        </p:spPr>
      </p:sp>
      <p:sp>
        <p:nvSpPr>
          <p:cNvPr id="5" name="Text 3"/>
          <p:cNvSpPr/>
          <p:nvPr/>
        </p:nvSpPr>
        <p:spPr>
          <a:xfrm>
            <a:off x="731520" y="1341120"/>
            <a:ext cx="10485120" cy="1158240"/>
          </a:xfrm>
          <a:prstGeom prst="rect">
            <a:avLst/>
          </a:prstGeom>
          <a:noFill/>
          <a:ln/>
        </p:spPr>
        <p:txBody>
          <a:bodyPr wrap="square" lIns="0" tIns="0" rIns="0" bIns="0" rtlCol="0" anchor="ctr"/>
          <a:lstStyle/>
          <a:p>
            <a:pPr indent="0" marL="0">
              <a:buNone/>
            </a:pPr>
            <a:r>
              <a:rPr lang="en-US" sz="1300" i="1" dirty="0">
                <a:solidFill>
                  <a:srgbClr val="E8636B"/>
                </a:solidFill>
                <a:latin typeface="Cambria" pitchFamily="34" charset="0"/>
                <a:ea typeface="Cambria" pitchFamily="34" charset="-122"/>
                <a:cs typeface="Cambria" pitchFamily="34" charset="-120"/>
              </a:rPr>
              <a:t>A student wrote: "A haircut is a good because the barber gives it to you and you walk out looking different."</a:t>
            </a:r>
            <a:endParaRPr lang="en-US" sz="1300" dirty="0"/>
          </a:p>
        </p:txBody>
      </p:sp>
      <p:sp>
        <p:nvSpPr>
          <p:cNvPr id="6" name="Shape 4"/>
          <p:cNvSpPr/>
          <p:nvPr/>
        </p:nvSpPr>
        <p:spPr>
          <a:xfrm>
            <a:off x="487680" y="2865120"/>
            <a:ext cx="5486400" cy="3169920"/>
          </a:xfrm>
          <a:prstGeom prst="roundRect">
            <a:avLst>
              <a:gd name="adj" fmla="val 5769"/>
            </a:avLst>
          </a:prstGeom>
          <a:solidFill>
            <a:srgbClr val="1A2D5A"/>
          </a:solidFill>
          <a:ln/>
          <a:effectLst>
            <a:outerShdw sx="100000" sy="100000" kx="0" ky="0" algn="bl" rotWithShape="0" blurRad="101600" dist="38100" dir="8100000">
              <a:srgbClr val="000000">
                <a:alpha val="20000"/>
              </a:srgbClr>
            </a:outerShdw>
          </a:effectLst>
        </p:spPr>
      </p:sp>
      <p:sp>
        <p:nvSpPr>
          <p:cNvPr id="7" name="Text 5"/>
          <p:cNvSpPr/>
          <p:nvPr/>
        </p:nvSpPr>
        <p:spPr>
          <a:xfrm>
            <a:off x="731520" y="2987040"/>
            <a:ext cx="4998720" cy="341376"/>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8" name="Text 6"/>
          <p:cNvSpPr/>
          <p:nvPr/>
        </p:nvSpPr>
        <p:spPr>
          <a:xfrm>
            <a:off x="731520" y="3328416"/>
            <a:ext cx="4998720" cy="2584704"/>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did this student get right?</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Can you hold a haircut, carry it home, and put it in a bag?</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word should replace 'good' in that sentence, and why?</a:t>
            </a:r>
            <a:endParaRPr lang="en-US" sz="1100" dirty="0"/>
          </a:p>
        </p:txBody>
      </p:sp>
      <p:sp>
        <p:nvSpPr>
          <p:cNvPr id="9" name="Shape 7"/>
          <p:cNvSpPr/>
          <p:nvPr/>
        </p:nvSpPr>
        <p:spPr>
          <a:xfrm>
            <a:off x="6217920" y="2865120"/>
            <a:ext cx="5242560" cy="3169920"/>
          </a:xfrm>
          <a:prstGeom prst="roundRect">
            <a:avLst>
              <a:gd name="adj" fmla="val 4615"/>
            </a:avLst>
          </a:prstGeom>
          <a:solidFill>
            <a:srgbClr val="FFF3DC"/>
          </a:solidFill>
          <a:ln w="19050">
            <a:solidFill>
              <a:srgbClr val="F5E6C8"/>
            </a:solidFill>
            <a:prstDash val="solid"/>
          </a:ln>
        </p:spPr>
      </p:sp>
      <p:sp>
        <p:nvSpPr>
          <p:cNvPr id="10" name="Text 8"/>
          <p:cNvSpPr/>
          <p:nvPr/>
        </p:nvSpPr>
        <p:spPr>
          <a:xfrm>
            <a:off x="6400800" y="2938272"/>
            <a:ext cx="4876800" cy="268224"/>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1" name="Text 9"/>
          <p:cNvSpPr/>
          <p:nvPr/>
        </p:nvSpPr>
        <p:spPr>
          <a:xfrm>
            <a:off x="6400800" y="3206496"/>
            <a:ext cx="4876800" cy="274320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mistake is...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correct word is..."</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87680" y="36576"/>
            <a:ext cx="10972800" cy="304800"/>
          </a:xfrm>
          <a:prstGeom prst="rect">
            <a:avLst/>
          </a:prstGeom>
          <a:noFill/>
          <a:ln/>
        </p:spPr>
        <p:txBody>
          <a:bodyPr wrap="square" lIns="0" tIns="0" rIns="0" bIns="0" rtlCol="0" anchor="ctr"/>
          <a:lstStyle/>
          <a:p>
            <a:pPr indent="0" marL="0">
              <a:buNone/>
            </a:pPr>
            <a:r>
              <a:rPr lang="en-US" sz="1000" b="1" spc="150" kern="0" dirty="0">
                <a:solidFill>
                  <a:srgbClr val="D4943A"/>
                </a:solidFill>
                <a:latin typeface="Calibri" pitchFamily="34" charset="0"/>
                <a:ea typeface="Calibri" pitchFamily="34" charset="-122"/>
                <a:cs typeface="Calibri" pitchFamily="34" charset="-120"/>
              </a:rPr>
              <a:t>GUIDED PRACTICE  ·  THE TRICKY ONE</a:t>
            </a:r>
            <a:endParaRPr lang="en-US" sz="1000" dirty="0"/>
          </a:p>
        </p:txBody>
      </p:sp>
      <p:sp>
        <p:nvSpPr>
          <p:cNvPr id="3" name="Text 1"/>
          <p:cNvSpPr/>
          <p:nvPr/>
        </p:nvSpPr>
        <p:spPr>
          <a:xfrm>
            <a:off x="487680" y="341376"/>
            <a:ext cx="10972800" cy="853440"/>
          </a:xfrm>
          <a:prstGeom prst="rect">
            <a:avLst/>
          </a:prstGeom>
          <a:noFill/>
          <a:ln/>
        </p:spPr>
        <p:txBody>
          <a:bodyPr wrap="square" lIns="0" tIns="0" rIns="0" bIns="0" rtlCol="0" anchor="ctr"/>
          <a:lstStyle/>
          <a:p>
            <a:pPr indent="0" marL="0">
              <a:buNone/>
            </a:pPr>
            <a:r>
              <a:rPr lang="en-US" sz="3000" b="1" dirty="0">
                <a:solidFill>
                  <a:srgbClr val="0E1C42"/>
                </a:solidFill>
                <a:latin typeface="Cambria" pitchFamily="34" charset="0"/>
                <a:ea typeface="Cambria" pitchFamily="34" charset="-122"/>
                <a:cs typeface="Cambria" pitchFamily="34" charset="-120"/>
              </a:rPr>
              <a:t>Same Book, Two Different Deals</a:t>
            </a:r>
            <a:endParaRPr lang="en-US" sz="3000" dirty="0"/>
          </a:p>
        </p:txBody>
      </p:sp>
      <p:sp>
        <p:nvSpPr>
          <p:cNvPr id="4" name="Shape 2"/>
          <p:cNvSpPr/>
          <p:nvPr/>
        </p:nvSpPr>
        <p:spPr>
          <a:xfrm>
            <a:off x="487680" y="1219200"/>
            <a:ext cx="10972800" cy="1219200"/>
          </a:xfrm>
          <a:prstGeom prst="roundRect">
            <a:avLst>
              <a:gd name="adj" fmla="val 12000"/>
            </a:avLst>
          </a:prstGeom>
          <a:solidFill>
            <a:srgbClr val="FFF3DC"/>
          </a:solidFill>
          <a:ln/>
        </p:spPr>
      </p:sp>
      <p:sp>
        <p:nvSpPr>
          <p:cNvPr id="5" name="Text 3"/>
          <p:cNvSpPr/>
          <p:nvPr/>
        </p:nvSpPr>
        <p:spPr>
          <a:xfrm>
            <a:off x="731520" y="1341120"/>
            <a:ext cx="10485120" cy="975360"/>
          </a:xfrm>
          <a:prstGeom prst="rect">
            <a:avLst/>
          </a:prstGeom>
          <a:noFill/>
          <a:ln/>
        </p:spPr>
        <p:txBody>
          <a:bodyPr wrap="square" lIns="0" tIns="0" rIns="0" bIns="0" rtlCol="0" anchor="ctr"/>
          <a:lstStyle/>
          <a:p>
            <a:pPr indent="0" marL="0">
              <a:buNone/>
            </a:pPr>
            <a:r>
              <a:rPr lang="en-US" sz="1300" i="1" dirty="0">
                <a:solidFill>
                  <a:srgbClr val="5A4A3A"/>
                </a:solidFill>
                <a:latin typeface="Cambria" pitchFamily="34" charset="0"/>
                <a:ea typeface="Cambria" pitchFamily="34" charset="-122"/>
                <a:cs typeface="Cambria" pitchFamily="34" charset="-120"/>
              </a:rPr>
              <a:t>A book is a good. But a teacher reading that same book to you out loud is a service. It's the exact same book both times.</a:t>
            </a:r>
            <a:endParaRPr lang="en-US" sz="1300" dirty="0"/>
          </a:p>
        </p:txBody>
      </p:sp>
      <p:sp>
        <p:nvSpPr>
          <p:cNvPr id="6" name="Shape 4"/>
          <p:cNvSpPr/>
          <p:nvPr/>
        </p:nvSpPr>
        <p:spPr>
          <a:xfrm>
            <a:off x="487680" y="2621280"/>
            <a:ext cx="5486400" cy="3535680"/>
          </a:xfrm>
          <a:prstGeom prst="roundRect">
            <a:avLst>
              <a:gd name="adj" fmla="val 5172"/>
            </a:avLst>
          </a:prstGeom>
          <a:solidFill>
            <a:srgbClr val="1A2D5A"/>
          </a:solidFill>
          <a:ln/>
          <a:effectLst>
            <a:outerShdw sx="100000" sy="100000" kx="0" ky="0" algn="bl" rotWithShape="0" blurRad="101600" dist="38100" dir="8100000">
              <a:srgbClr val="000000">
                <a:alpha val="20000"/>
              </a:srgbClr>
            </a:outerShdw>
          </a:effectLst>
        </p:spPr>
      </p:sp>
      <p:sp>
        <p:nvSpPr>
          <p:cNvPr id="7" name="Text 5"/>
          <p:cNvSpPr/>
          <p:nvPr/>
        </p:nvSpPr>
        <p:spPr>
          <a:xfrm>
            <a:off x="731520" y="2743200"/>
            <a:ext cx="4998720" cy="341376"/>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8" name="Text 6"/>
          <p:cNvSpPr/>
          <p:nvPr/>
        </p:nvSpPr>
        <p:spPr>
          <a:xfrm>
            <a:off x="731520" y="3084576"/>
            <a:ext cx="4998720" cy="2950464"/>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changed between the two situations if the book stayed the same?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might someone argue who thinks it's still a good either way?</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would change your mind about which one it is?</a:t>
            </a:r>
            <a:endParaRPr lang="en-US" sz="1100" dirty="0"/>
          </a:p>
        </p:txBody>
      </p:sp>
      <p:sp>
        <p:nvSpPr>
          <p:cNvPr id="9" name="Shape 7"/>
          <p:cNvSpPr/>
          <p:nvPr/>
        </p:nvSpPr>
        <p:spPr>
          <a:xfrm>
            <a:off x="6217920" y="2621280"/>
            <a:ext cx="5242560" cy="1706880"/>
          </a:xfrm>
          <a:prstGeom prst="roundRect">
            <a:avLst>
              <a:gd name="adj" fmla="val 8571"/>
            </a:avLst>
          </a:prstGeom>
          <a:solidFill>
            <a:srgbClr val="FFF3DC"/>
          </a:solidFill>
          <a:ln w="19050">
            <a:solidFill>
              <a:srgbClr val="F5E6C8"/>
            </a:solidFill>
            <a:prstDash val="solid"/>
          </a:ln>
        </p:spPr>
      </p:sp>
      <p:sp>
        <p:nvSpPr>
          <p:cNvPr id="10" name="Text 8"/>
          <p:cNvSpPr/>
          <p:nvPr/>
        </p:nvSpPr>
        <p:spPr>
          <a:xfrm>
            <a:off x="6400800" y="2694432"/>
            <a:ext cx="4876800" cy="268224"/>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1" name="Text 9"/>
          <p:cNvSpPr/>
          <p:nvPr/>
        </p:nvSpPr>
        <p:spPr>
          <a:xfrm>
            <a:off x="6400800" y="2962656"/>
            <a:ext cx="4876800" cy="128016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used to think... but now I think... because..."</a:t>
            </a:r>
            <a:endParaRPr lang="en-US" sz="1200" dirty="0"/>
          </a:p>
        </p:txBody>
      </p:sp>
      <p:sp>
        <p:nvSpPr>
          <p:cNvPr id="12" name="Text 10"/>
          <p:cNvSpPr/>
          <p:nvPr/>
        </p:nvSpPr>
        <p:spPr>
          <a:xfrm>
            <a:off x="6217920" y="4511040"/>
            <a:ext cx="5242560" cy="1645920"/>
          </a:xfrm>
          <a:prstGeom prst="rect">
            <a:avLst/>
          </a:prstGeom>
          <a:noFill/>
          <a:ln/>
        </p:spPr>
        <p:txBody>
          <a:bodyPr wrap="square" lIns="0" tIns="0" rIns="0" bIns="0" rtlCol="0" anchor="t"/>
          <a:lstStyle/>
          <a:p>
            <a:pPr indent="0" marL="0">
              <a:buNone/>
            </a:pPr>
            <a:r>
              <a:rPr lang="en-US" sz="1100" dirty="0">
                <a:solidFill>
                  <a:srgbClr val="7A88A8"/>
                </a:solidFill>
                <a:latin typeface="Calibri" pitchFamily="34" charset="0"/>
                <a:ea typeface="Calibri" pitchFamily="34" charset="-122"/>
                <a:cs typeface="Calibri" pitchFamily="34" charset="-120"/>
              </a:rPr>
              <a:t>This one sparks real debate -- let students disagree before you settle it: it's not the object, it's what's being provided (the thing vs. the reading-aloud action).</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87680" y="36576"/>
            <a:ext cx="10972800" cy="304800"/>
          </a:xfrm>
          <a:prstGeom prst="rect">
            <a:avLst/>
          </a:prstGeom>
          <a:noFill/>
          <a:ln/>
        </p:spPr>
        <p:txBody>
          <a:bodyPr wrap="square" lIns="0" tIns="0" rIns="0" bIns="0" rtlCol="0" anchor="ctr"/>
          <a:lstStyle/>
          <a:p>
            <a:pPr indent="0" marL="0">
              <a:buNone/>
            </a:pPr>
            <a:r>
              <a:rPr lang="en-US" sz="1000" b="1" spc="150" kern="0" dirty="0">
                <a:solidFill>
                  <a:srgbClr val="34B76F"/>
                </a:solidFill>
                <a:latin typeface="Calibri" pitchFamily="34" charset="0"/>
                <a:ea typeface="Calibri" pitchFamily="34" charset="-122"/>
                <a:cs typeface="Calibri" pitchFamily="34" charset="-120"/>
              </a:rPr>
              <a:t>SELF-CHECK</a:t>
            </a:r>
            <a:endParaRPr lang="en-US" sz="1000" dirty="0"/>
          </a:p>
        </p:txBody>
      </p:sp>
      <p:sp>
        <p:nvSpPr>
          <p:cNvPr id="3" name="Text 1"/>
          <p:cNvSpPr/>
          <p:nvPr/>
        </p:nvSpPr>
        <p:spPr>
          <a:xfrm>
            <a:off x="487680" y="341376"/>
            <a:ext cx="10972800" cy="853440"/>
          </a:xfrm>
          <a:prstGeom prst="rect">
            <a:avLst/>
          </a:prstGeom>
          <a:noFill/>
          <a:ln/>
        </p:spPr>
        <p:txBody>
          <a:bodyPr wrap="square" lIns="0" tIns="0" rIns="0" bIns="0" rtlCol="0" anchor="ctr"/>
          <a:lstStyle/>
          <a:p>
            <a:pPr indent="0" marL="0">
              <a:buNone/>
            </a:pPr>
            <a:r>
              <a:rPr lang="en-US" sz="3000" b="1" dirty="0">
                <a:solidFill>
                  <a:srgbClr val="0E1C42"/>
                </a:solidFill>
                <a:latin typeface="Cambria" pitchFamily="34" charset="0"/>
                <a:ea typeface="Cambria" pitchFamily="34" charset="-122"/>
                <a:cs typeface="Cambria" pitchFamily="34" charset="-120"/>
              </a:rPr>
              <a:t>Quick Self-Check: Did It Stick?</a:t>
            </a:r>
            <a:endParaRPr lang="en-US" sz="3000" dirty="0"/>
          </a:p>
        </p:txBody>
      </p:sp>
      <p:sp>
        <p:nvSpPr>
          <p:cNvPr id="4" name="Text 2"/>
          <p:cNvSpPr/>
          <p:nvPr/>
        </p:nvSpPr>
        <p:spPr>
          <a:xfrm>
            <a:off x="487680" y="1219200"/>
            <a:ext cx="10972800" cy="365760"/>
          </a:xfrm>
          <a:prstGeom prst="rect">
            <a:avLst/>
          </a:prstGeom>
          <a:noFill/>
          <a:ln/>
        </p:spPr>
        <p:txBody>
          <a:bodyPr wrap="square" lIns="0" tIns="0" rIns="0" bIns="0" rtlCol="0" anchor="ctr"/>
          <a:lstStyle/>
          <a:p>
            <a:pPr indent="0" marL="0">
              <a:buNone/>
            </a:pPr>
            <a:r>
              <a:rPr lang="en-US" sz="1250" b="1" dirty="0">
                <a:solidFill>
                  <a:srgbClr val="0E1C42"/>
                </a:solidFill>
                <a:latin typeface="Calibri" pitchFamily="34" charset="0"/>
                <a:ea typeface="Calibri" pitchFamily="34" charset="-122"/>
                <a:cs typeface="Calibri" pitchFamily="34" charset="-120"/>
              </a:rPr>
              <a:t>1. Which one of these is a service?</a:t>
            </a:r>
            <a:endParaRPr lang="en-US" sz="1250" dirty="0"/>
          </a:p>
        </p:txBody>
      </p:sp>
      <p:sp>
        <p:nvSpPr>
          <p:cNvPr id="5" name="Text 3"/>
          <p:cNvSpPr/>
          <p:nvPr/>
        </p:nvSpPr>
        <p:spPr>
          <a:xfrm>
            <a:off x="487680" y="1609344"/>
            <a:ext cx="10972800" cy="365760"/>
          </a:xfrm>
          <a:prstGeom prst="rect">
            <a:avLst/>
          </a:prstGeom>
          <a:noFill/>
          <a:ln/>
        </p:spPr>
        <p:txBody>
          <a:bodyPr wrap="square" lIns="0" tIns="0" rIns="0" bIns="0" rtlCol="0" anchor="ctr"/>
          <a:lstStyle/>
          <a:p>
            <a:pPr indent="0" marL="0">
              <a:buNone/>
            </a:pPr>
            <a:r>
              <a:rPr lang="en-US" sz="1050" dirty="0">
                <a:solidFill>
                  <a:srgbClr val="0E1C42"/>
                </a:solidFill>
                <a:latin typeface="Calibri" pitchFamily="34" charset="0"/>
                <a:ea typeface="Calibri" pitchFamily="34" charset="-122"/>
                <a:cs typeface="Calibri" pitchFamily="34" charset="-120"/>
              </a:rPr>
              <a:t>A. A cobbler fixing your broken shoe.    B. A loaf of bread on the counter.    C. An apple from the fruit booth.</a:t>
            </a:r>
            <a:endParaRPr lang="en-US" sz="1050" dirty="0"/>
          </a:p>
        </p:txBody>
      </p:sp>
      <p:sp>
        <p:nvSpPr>
          <p:cNvPr id="6" name="Text 4"/>
          <p:cNvSpPr/>
          <p:nvPr/>
        </p:nvSpPr>
        <p:spPr>
          <a:xfrm>
            <a:off x="487680" y="1975104"/>
            <a:ext cx="10972800" cy="365760"/>
          </a:xfrm>
          <a:prstGeom prst="rect">
            <a:avLst/>
          </a:prstGeom>
          <a:noFill/>
          <a:ln/>
        </p:spPr>
        <p:txBody>
          <a:bodyPr wrap="square" lIns="0" tIns="0" rIns="0" bIns="0" rtlCol="0" anchor="ctr"/>
          <a:lstStyle/>
          <a:p>
            <a:pPr indent="0" marL="0">
              <a:buNone/>
            </a:pPr>
            <a:r>
              <a:rPr lang="en-US" sz="1050" i="1" dirty="0">
                <a:solidFill>
                  <a:srgbClr val="34B76F"/>
                </a:solidFill>
                <a:latin typeface="Calibri" pitchFamily="34" charset="0"/>
                <a:ea typeface="Calibri" pitchFamily="34" charset="-122"/>
                <a:cs typeface="Calibri" pitchFamily="34" charset="-120"/>
              </a:rPr>
              <a:t>Correct answer: A -- Fixing a shoe is help someone does for you -- that's a service.</a:t>
            </a:r>
            <a:endParaRPr lang="en-US" sz="1050" dirty="0"/>
          </a:p>
        </p:txBody>
      </p:sp>
      <p:sp>
        <p:nvSpPr>
          <p:cNvPr id="7" name="Text 5"/>
          <p:cNvSpPr/>
          <p:nvPr/>
        </p:nvSpPr>
        <p:spPr>
          <a:xfrm>
            <a:off x="487680" y="2499360"/>
            <a:ext cx="10972800" cy="365760"/>
          </a:xfrm>
          <a:prstGeom prst="rect">
            <a:avLst/>
          </a:prstGeom>
          <a:noFill/>
          <a:ln/>
        </p:spPr>
        <p:txBody>
          <a:bodyPr wrap="square" lIns="0" tIns="0" rIns="0" bIns="0" rtlCol="0" anchor="ctr"/>
          <a:lstStyle/>
          <a:p>
            <a:pPr indent="0" marL="0">
              <a:buNone/>
            </a:pPr>
            <a:r>
              <a:rPr lang="en-US" sz="1250" b="1" dirty="0">
                <a:solidFill>
                  <a:srgbClr val="0E1C42"/>
                </a:solidFill>
                <a:latin typeface="Calibri" pitchFamily="34" charset="0"/>
                <a:ea typeface="Calibri" pitchFamily="34" charset="-122"/>
                <a:cs typeface="Calibri" pitchFamily="34" charset="-120"/>
              </a:rPr>
              <a:t>2. In a marketplace, who is the seller?</a:t>
            </a:r>
            <a:endParaRPr lang="en-US" sz="1250" dirty="0"/>
          </a:p>
        </p:txBody>
      </p:sp>
      <p:sp>
        <p:nvSpPr>
          <p:cNvPr id="8" name="Text 6"/>
          <p:cNvSpPr/>
          <p:nvPr/>
        </p:nvSpPr>
        <p:spPr>
          <a:xfrm>
            <a:off x="487680" y="2889504"/>
            <a:ext cx="10972800" cy="365760"/>
          </a:xfrm>
          <a:prstGeom prst="rect">
            <a:avLst/>
          </a:prstGeom>
          <a:noFill/>
          <a:ln/>
        </p:spPr>
        <p:txBody>
          <a:bodyPr wrap="square" lIns="0" tIns="0" rIns="0" bIns="0" rtlCol="0" anchor="ctr"/>
          <a:lstStyle/>
          <a:p>
            <a:pPr indent="0" marL="0">
              <a:buNone/>
            </a:pPr>
            <a:r>
              <a:rPr lang="en-US" sz="1050" dirty="0">
                <a:solidFill>
                  <a:srgbClr val="0E1C42"/>
                </a:solidFill>
                <a:latin typeface="Calibri" pitchFamily="34" charset="0"/>
                <a:ea typeface="Calibri" pitchFamily="34" charset="-122"/>
                <a:cs typeface="Calibri" pitchFamily="34" charset="-120"/>
              </a:rPr>
              <a:t>A. The person walking into the shop with money.    B. The person who provides the good or service and gets paid.    C. The person who builds the booth.</a:t>
            </a:r>
            <a:endParaRPr lang="en-US" sz="1050" dirty="0"/>
          </a:p>
        </p:txBody>
      </p:sp>
      <p:sp>
        <p:nvSpPr>
          <p:cNvPr id="9" name="Text 7"/>
          <p:cNvSpPr/>
          <p:nvPr/>
        </p:nvSpPr>
        <p:spPr>
          <a:xfrm>
            <a:off x="487680" y="3255264"/>
            <a:ext cx="10972800" cy="365760"/>
          </a:xfrm>
          <a:prstGeom prst="rect">
            <a:avLst/>
          </a:prstGeom>
          <a:noFill/>
          <a:ln/>
        </p:spPr>
        <p:txBody>
          <a:bodyPr wrap="square" lIns="0" tIns="0" rIns="0" bIns="0" rtlCol="0" anchor="ctr"/>
          <a:lstStyle/>
          <a:p>
            <a:pPr indent="0" marL="0">
              <a:buNone/>
            </a:pPr>
            <a:r>
              <a:rPr lang="en-US" sz="1050" i="1" dirty="0">
                <a:solidFill>
                  <a:srgbClr val="34B76F"/>
                </a:solidFill>
                <a:latin typeface="Calibri" pitchFamily="34" charset="0"/>
                <a:ea typeface="Calibri" pitchFamily="34" charset="-122"/>
                <a:cs typeface="Calibri" pitchFamily="34" charset="-120"/>
              </a:rPr>
              <a:t>Correct answer: B -- The seller provides what's being sold and takes the payment.</a:t>
            </a:r>
            <a:endParaRPr lang="en-US" sz="1050" dirty="0"/>
          </a:p>
        </p:txBody>
      </p:sp>
      <p:sp>
        <p:nvSpPr>
          <p:cNvPr id="10" name="Text 8"/>
          <p:cNvSpPr/>
          <p:nvPr/>
        </p:nvSpPr>
        <p:spPr>
          <a:xfrm>
            <a:off x="487680" y="3779520"/>
            <a:ext cx="10972800" cy="365760"/>
          </a:xfrm>
          <a:prstGeom prst="rect">
            <a:avLst/>
          </a:prstGeom>
          <a:noFill/>
          <a:ln/>
        </p:spPr>
        <p:txBody>
          <a:bodyPr wrap="square" lIns="0" tIns="0" rIns="0" bIns="0" rtlCol="0" anchor="ctr"/>
          <a:lstStyle/>
          <a:p>
            <a:pPr indent="0" marL="0">
              <a:buNone/>
            </a:pPr>
            <a:r>
              <a:rPr lang="en-US" sz="1250" b="1" dirty="0">
                <a:solidFill>
                  <a:srgbClr val="0E1C42"/>
                </a:solidFill>
                <a:latin typeface="Calibri" pitchFamily="34" charset="0"/>
                <a:ea typeface="Calibri" pitchFamily="34" charset="-122"/>
                <a:cs typeface="Calibri" pitchFamily="34" charset="-120"/>
              </a:rPr>
              <a:t>3. Why does a marketplace need both goods and services?</a:t>
            </a:r>
            <a:endParaRPr lang="en-US" sz="1250" dirty="0"/>
          </a:p>
        </p:txBody>
      </p:sp>
      <p:sp>
        <p:nvSpPr>
          <p:cNvPr id="11" name="Text 9"/>
          <p:cNvSpPr/>
          <p:nvPr/>
        </p:nvSpPr>
        <p:spPr>
          <a:xfrm>
            <a:off x="487680" y="4169664"/>
            <a:ext cx="10972800" cy="365760"/>
          </a:xfrm>
          <a:prstGeom prst="rect">
            <a:avLst/>
          </a:prstGeom>
          <a:noFill/>
          <a:ln/>
        </p:spPr>
        <p:txBody>
          <a:bodyPr wrap="square" lIns="0" tIns="0" rIns="0" bIns="0" rtlCol="0" anchor="ctr"/>
          <a:lstStyle/>
          <a:p>
            <a:pPr indent="0" marL="0">
              <a:buNone/>
            </a:pPr>
            <a:r>
              <a:rPr lang="en-US" sz="1050" dirty="0">
                <a:solidFill>
                  <a:srgbClr val="0E1C42"/>
                </a:solidFill>
                <a:latin typeface="Calibri" pitchFamily="34" charset="0"/>
                <a:ea typeface="Calibri" pitchFamily="34" charset="-122"/>
                <a:cs typeface="Calibri" pitchFamily="34" charset="-120"/>
              </a:rPr>
              <a:t>A. Because services are more expensive than goods.    B. Because services are the only thing buyers care about.    C. Because people need both things they can hold and help they can use to live well.</a:t>
            </a:r>
            <a:endParaRPr lang="en-US" sz="1050" dirty="0"/>
          </a:p>
        </p:txBody>
      </p:sp>
      <p:sp>
        <p:nvSpPr>
          <p:cNvPr id="12" name="Text 10"/>
          <p:cNvSpPr/>
          <p:nvPr/>
        </p:nvSpPr>
        <p:spPr>
          <a:xfrm>
            <a:off x="487680" y="4535424"/>
            <a:ext cx="10972800" cy="365760"/>
          </a:xfrm>
          <a:prstGeom prst="rect">
            <a:avLst/>
          </a:prstGeom>
          <a:noFill/>
          <a:ln/>
        </p:spPr>
        <p:txBody>
          <a:bodyPr wrap="square" lIns="0" tIns="0" rIns="0" bIns="0" rtlCol="0" anchor="ctr"/>
          <a:lstStyle/>
          <a:p>
            <a:pPr indent="0" marL="0">
              <a:buNone/>
            </a:pPr>
            <a:r>
              <a:rPr lang="en-US" sz="1050" i="1" dirty="0">
                <a:solidFill>
                  <a:srgbClr val="34B76F"/>
                </a:solidFill>
                <a:latin typeface="Calibri" pitchFamily="34" charset="0"/>
                <a:ea typeface="Calibri" pitchFamily="34" charset="-122"/>
                <a:cs typeface="Calibri" pitchFamily="34" charset="-120"/>
              </a:rPr>
              <a:t>Correct answer: C -- People need food and shoes (goods) and haircuts, repairs, and lessons (services).</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87680" y="36576"/>
            <a:ext cx="10972800" cy="304800"/>
          </a:xfrm>
          <a:prstGeom prst="rect">
            <a:avLst/>
          </a:prstGeom>
          <a:noFill/>
          <a:ln/>
        </p:spPr>
        <p:txBody>
          <a:bodyPr wrap="square" lIns="0" tIns="0" rIns="0" bIns="0" rtlCol="0" anchor="ctr"/>
          <a:lstStyle/>
          <a:p>
            <a:pPr indent="0" marL="0">
              <a:buNone/>
            </a:pPr>
            <a:r>
              <a:rPr lang="en-US" sz="1000" b="1" spc="150" kern="0" dirty="0">
                <a:solidFill>
                  <a:srgbClr val="8B6FC0"/>
                </a:solidFill>
                <a:latin typeface="Calibri" pitchFamily="34" charset="0"/>
                <a:ea typeface="Calibri" pitchFamily="34" charset="-122"/>
                <a:cs typeface="Calibri" pitchFamily="34" charset="-120"/>
              </a:rPr>
              <a:t>EVIDENCE &amp; ASSIGNMENT</a:t>
            </a:r>
            <a:endParaRPr lang="en-US" sz="1000" dirty="0"/>
          </a:p>
        </p:txBody>
      </p:sp>
      <p:sp>
        <p:nvSpPr>
          <p:cNvPr id="3" name="Text 1"/>
          <p:cNvSpPr/>
          <p:nvPr/>
        </p:nvSpPr>
        <p:spPr>
          <a:xfrm>
            <a:off x="487680" y="341376"/>
            <a:ext cx="10972800" cy="853440"/>
          </a:xfrm>
          <a:prstGeom prst="rect">
            <a:avLst/>
          </a:prstGeom>
          <a:noFill/>
          <a:ln/>
        </p:spPr>
        <p:txBody>
          <a:bodyPr wrap="square" lIns="0" tIns="0" rIns="0" bIns="0" rtlCol="0" anchor="ctr"/>
          <a:lstStyle/>
          <a:p>
            <a:pPr indent="0" marL="0">
              <a:buNone/>
            </a:pPr>
            <a:r>
              <a:rPr lang="en-US" sz="3000" b="1" dirty="0">
                <a:solidFill>
                  <a:srgbClr val="0E1C42"/>
                </a:solidFill>
                <a:latin typeface="Cambria" pitchFamily="34" charset="0"/>
                <a:ea typeface="Cambria" pitchFamily="34" charset="-122"/>
                <a:cs typeface="Cambria" pitchFamily="34" charset="-120"/>
              </a:rPr>
              <a:t>Evidence Questions</a:t>
            </a:r>
            <a:endParaRPr lang="en-US" sz="3000" dirty="0"/>
          </a:p>
        </p:txBody>
      </p:sp>
      <p:sp>
        <p:nvSpPr>
          <p:cNvPr id="4" name="Text 2"/>
          <p:cNvSpPr/>
          <p:nvPr/>
        </p:nvSpPr>
        <p:spPr>
          <a:xfrm>
            <a:off x="487680" y="1158240"/>
            <a:ext cx="10972800" cy="365760"/>
          </a:xfrm>
          <a:prstGeom prst="rect">
            <a:avLst/>
          </a:prstGeom>
          <a:noFill/>
          <a:ln/>
        </p:spPr>
        <p:txBody>
          <a:bodyPr wrap="square" lIns="0" tIns="0" rIns="0" bIns="0" rtlCol="0" anchor="ctr"/>
          <a:lstStyle/>
          <a:p>
            <a:pPr indent="0" marL="0">
              <a:buNone/>
            </a:pPr>
            <a:r>
              <a:rPr lang="en-US" sz="1200" i="1" dirty="0">
                <a:solidFill>
                  <a:srgbClr val="7A88A8"/>
                </a:solidFill>
                <a:latin typeface="Calibri" pitchFamily="34" charset="0"/>
                <a:ea typeface="Calibri" pitchFamily="34" charset="-122"/>
                <a:cs typeface="Calibri" pitchFamily="34" charset="-120"/>
              </a:rPr>
              <a:t>Answer using details from the lesson.</a:t>
            </a:r>
            <a:endParaRPr lang="en-US" sz="1200" dirty="0"/>
          </a:p>
        </p:txBody>
      </p:sp>
      <p:sp>
        <p:nvSpPr>
          <p:cNvPr id="5" name="Shape 3"/>
          <p:cNvSpPr/>
          <p:nvPr/>
        </p:nvSpPr>
        <p:spPr>
          <a:xfrm>
            <a:off x="487680" y="1645920"/>
            <a:ext cx="10972800" cy="1889760"/>
          </a:xfrm>
          <a:prstGeom prst="roundRect">
            <a:avLst>
              <a:gd name="adj" fmla="val 7742"/>
            </a:avLst>
          </a:prstGeom>
          <a:solidFill>
            <a:srgbClr val="F0F2F8"/>
          </a:solidFill>
          <a:ln/>
        </p:spPr>
      </p:sp>
      <p:sp>
        <p:nvSpPr>
          <p:cNvPr id="6" name="Text 4"/>
          <p:cNvSpPr/>
          <p:nvPr/>
        </p:nvSpPr>
        <p:spPr>
          <a:xfrm>
            <a:off x="731520" y="1828800"/>
            <a:ext cx="10485120" cy="914400"/>
          </a:xfrm>
          <a:prstGeom prst="rect">
            <a:avLst/>
          </a:prstGeom>
          <a:noFill/>
          <a:ln/>
        </p:spPr>
        <p:txBody>
          <a:bodyPr wrap="square" lIns="0" tIns="0" rIns="0" bIns="0" rtlCol="0" anchor="t"/>
          <a:lstStyle/>
          <a:p>
            <a:pPr indent="0" marL="0">
              <a:buNone/>
            </a:pPr>
            <a:r>
              <a:rPr lang="en-US" sz="1350" dirty="0">
                <a:solidFill>
                  <a:srgbClr val="0E1C42"/>
                </a:solidFill>
                <a:latin typeface="Calibri" pitchFamily="34" charset="0"/>
                <a:ea typeface="Calibri" pitchFamily="34" charset="-122"/>
                <a:cs typeface="Calibri" pitchFamily="34" charset="-120"/>
              </a:rPr>
              <a:t>1  What is the difference between a good and a service? Give one example of each from the lesson.</a:t>
            </a:r>
            <a:endParaRPr lang="en-US" sz="1350" dirty="0"/>
          </a:p>
        </p:txBody>
      </p:sp>
      <p:sp>
        <p:nvSpPr>
          <p:cNvPr id="7" name="Text 5"/>
          <p:cNvSpPr/>
          <p:nvPr/>
        </p:nvSpPr>
        <p:spPr>
          <a:xfrm>
            <a:off x="731520" y="2743200"/>
            <a:ext cx="10485120" cy="609600"/>
          </a:xfrm>
          <a:prstGeom prst="rect">
            <a:avLst/>
          </a:prstGeom>
          <a:noFill/>
          <a:ln/>
        </p:spPr>
        <p:txBody>
          <a:bodyPr wrap="square" lIns="0" tIns="0" rIns="0" bIns="0" rtlCol="0" anchor="ctr"/>
          <a:lstStyle/>
          <a:p>
            <a:pPr indent="0" marL="0">
              <a:buNone/>
            </a:pPr>
            <a:r>
              <a:rPr lang="en-US" sz="1100" i="1" dirty="0">
                <a:solidFill>
                  <a:srgbClr val="7A88A8"/>
                </a:solidFill>
                <a:latin typeface="Calibri" pitchFamily="34" charset="0"/>
                <a:ea typeface="Calibri" pitchFamily="34" charset="-122"/>
                <a:cs typeface="Calibri" pitchFamily="34" charset="-120"/>
              </a:rPr>
              <a:t>Use details from the lesson to support your answer.</a:t>
            </a:r>
            <a:endParaRPr lang="en-US" sz="1100" dirty="0"/>
          </a:p>
        </p:txBody>
      </p:sp>
      <p:sp>
        <p:nvSpPr>
          <p:cNvPr id="8" name="Shape 6"/>
          <p:cNvSpPr/>
          <p:nvPr/>
        </p:nvSpPr>
        <p:spPr>
          <a:xfrm>
            <a:off x="487680" y="3718560"/>
            <a:ext cx="10972800" cy="1889760"/>
          </a:xfrm>
          <a:prstGeom prst="roundRect">
            <a:avLst>
              <a:gd name="adj" fmla="val 7742"/>
            </a:avLst>
          </a:prstGeom>
          <a:solidFill>
            <a:srgbClr val="F0F2F8"/>
          </a:solidFill>
          <a:ln/>
        </p:spPr>
      </p:sp>
      <p:sp>
        <p:nvSpPr>
          <p:cNvPr id="9" name="Text 7"/>
          <p:cNvSpPr/>
          <p:nvPr/>
        </p:nvSpPr>
        <p:spPr>
          <a:xfrm>
            <a:off x="731520" y="3901440"/>
            <a:ext cx="10485120" cy="914400"/>
          </a:xfrm>
          <a:prstGeom prst="rect">
            <a:avLst/>
          </a:prstGeom>
          <a:noFill/>
          <a:ln/>
        </p:spPr>
        <p:txBody>
          <a:bodyPr wrap="square" lIns="0" tIns="0" rIns="0" bIns="0" rtlCol="0" anchor="t"/>
          <a:lstStyle/>
          <a:p>
            <a:pPr indent="0" marL="0">
              <a:buNone/>
            </a:pPr>
            <a:r>
              <a:rPr lang="en-US" sz="1350" dirty="0">
                <a:solidFill>
                  <a:srgbClr val="0E1C42"/>
                </a:solidFill>
                <a:latin typeface="Calibri" pitchFamily="34" charset="0"/>
                <a:ea typeface="Calibri" pitchFamily="34" charset="-122"/>
                <a:cs typeface="Calibri" pitchFamily="34" charset="-120"/>
              </a:rPr>
              <a:t>2  What does a buyer do, and what does a seller do? Why do they need each other?</a:t>
            </a:r>
            <a:endParaRPr lang="en-US" sz="1350" dirty="0"/>
          </a:p>
        </p:txBody>
      </p:sp>
      <p:sp>
        <p:nvSpPr>
          <p:cNvPr id="10" name="Text 8"/>
          <p:cNvSpPr/>
          <p:nvPr/>
        </p:nvSpPr>
        <p:spPr>
          <a:xfrm>
            <a:off x="731520" y="4815840"/>
            <a:ext cx="10485120" cy="609600"/>
          </a:xfrm>
          <a:prstGeom prst="rect">
            <a:avLst/>
          </a:prstGeom>
          <a:noFill/>
          <a:ln/>
        </p:spPr>
        <p:txBody>
          <a:bodyPr wrap="square" lIns="0" tIns="0" rIns="0" bIns="0" rtlCol="0" anchor="ctr"/>
          <a:lstStyle/>
          <a:p>
            <a:pPr indent="0" marL="0">
              <a:buNone/>
            </a:pPr>
            <a:r>
              <a:rPr lang="en-US" sz="1100" i="1" dirty="0">
                <a:solidFill>
                  <a:srgbClr val="7A88A8"/>
                </a:solidFill>
                <a:latin typeface="Calibri" pitchFamily="34" charset="0"/>
                <a:ea typeface="Calibri" pitchFamily="34" charset="-122"/>
                <a:cs typeface="Calibri" pitchFamily="34" charset="-120"/>
              </a:rPr>
              <a:t>Explain using a real example from a booth or shop.</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87680" y="36576"/>
            <a:ext cx="10972800" cy="304800"/>
          </a:xfrm>
          <a:prstGeom prst="rect">
            <a:avLst/>
          </a:prstGeom>
          <a:noFill/>
          <a:ln/>
        </p:spPr>
        <p:txBody>
          <a:bodyPr wrap="square" lIns="0" tIns="0" rIns="0" bIns="0" rtlCol="0" anchor="ctr"/>
          <a:lstStyle/>
          <a:p>
            <a:pPr indent="0" marL="0">
              <a:buNone/>
            </a:pPr>
            <a:r>
              <a:rPr lang="en-US" sz="1000" b="1" spc="150" kern="0" dirty="0">
                <a:solidFill>
                  <a:srgbClr val="8B6FC0"/>
                </a:solidFill>
                <a:latin typeface="Calibri" pitchFamily="34" charset="0"/>
                <a:ea typeface="Calibri" pitchFamily="34" charset="-122"/>
                <a:cs typeface="Calibri" pitchFamily="34" charset="-120"/>
              </a:rPr>
              <a:t>EVIDENCE &amp; ASSIGNMENT</a:t>
            </a:r>
            <a:endParaRPr lang="en-US" sz="1000" dirty="0"/>
          </a:p>
        </p:txBody>
      </p:sp>
      <p:sp>
        <p:nvSpPr>
          <p:cNvPr id="3" name="Text 1"/>
          <p:cNvSpPr/>
          <p:nvPr/>
        </p:nvSpPr>
        <p:spPr>
          <a:xfrm>
            <a:off x="487680" y="341376"/>
            <a:ext cx="10972800" cy="853440"/>
          </a:xfrm>
          <a:prstGeom prst="rect">
            <a:avLst/>
          </a:prstGeom>
          <a:noFill/>
          <a:ln/>
        </p:spPr>
        <p:txBody>
          <a:bodyPr wrap="square" lIns="0" tIns="0" rIns="0" bIns="0" rtlCol="0" anchor="ctr"/>
          <a:lstStyle/>
          <a:p>
            <a:pPr indent="0" marL="0">
              <a:buNone/>
            </a:pPr>
            <a:r>
              <a:rPr lang="en-US" sz="3000" b="1" dirty="0">
                <a:solidFill>
                  <a:srgbClr val="0E1C42"/>
                </a:solidFill>
                <a:latin typeface="Cambria" pitchFamily="34" charset="0"/>
                <a:ea typeface="Cambria" pitchFamily="34" charset="-122"/>
                <a:cs typeface="Cambria" pitchFamily="34" charset="-120"/>
              </a:rPr>
              <a:t>Curator Task: Four Booth Labels</a:t>
            </a:r>
            <a:endParaRPr lang="en-US" sz="3000" dirty="0"/>
          </a:p>
        </p:txBody>
      </p:sp>
      <p:sp>
        <p:nvSpPr>
          <p:cNvPr id="4" name="Text 2"/>
          <p:cNvSpPr/>
          <p:nvPr/>
        </p:nvSpPr>
        <p:spPr>
          <a:xfrm>
            <a:off x="487680" y="1158240"/>
            <a:ext cx="10972800" cy="365760"/>
          </a:xfrm>
          <a:prstGeom prst="rect">
            <a:avLst/>
          </a:prstGeom>
          <a:noFill/>
          <a:ln/>
        </p:spPr>
        <p:txBody>
          <a:bodyPr wrap="square" lIns="0" tIns="0" rIns="0" bIns="0" rtlCol="0" anchor="ctr"/>
          <a:lstStyle/>
          <a:p>
            <a:pPr indent="0" marL="0">
              <a:buNone/>
            </a:pPr>
            <a:r>
              <a:rPr lang="en-US" sz="1200" i="1" dirty="0">
                <a:solidFill>
                  <a:srgbClr val="7A88A8"/>
                </a:solidFill>
                <a:latin typeface="Calibri" pitchFamily="34" charset="0"/>
                <a:ea typeface="Calibri" pitchFamily="34" charset="-122"/>
                <a:cs typeface="Calibri" pitchFamily="34" charset="-120"/>
              </a:rPr>
              <a:t>Write the four labels visitors will read at the back-wall display.</a:t>
            </a:r>
            <a:endParaRPr lang="en-US" sz="1200" dirty="0"/>
          </a:p>
        </p:txBody>
      </p:sp>
      <p:sp>
        <p:nvSpPr>
          <p:cNvPr id="5" name="Shape 3"/>
          <p:cNvSpPr/>
          <p:nvPr/>
        </p:nvSpPr>
        <p:spPr>
          <a:xfrm>
            <a:off x="487680" y="1584960"/>
            <a:ext cx="10972800" cy="1158240"/>
          </a:xfrm>
          <a:prstGeom prst="roundRect">
            <a:avLst>
              <a:gd name="adj" fmla="val 12632"/>
            </a:avLst>
          </a:prstGeom>
          <a:solidFill>
            <a:srgbClr val="F0E8FF"/>
          </a:solidFill>
          <a:ln/>
        </p:spPr>
      </p:sp>
      <p:sp>
        <p:nvSpPr>
          <p:cNvPr id="6" name="Text 4"/>
          <p:cNvSpPr/>
          <p:nvPr/>
        </p:nvSpPr>
        <p:spPr>
          <a:xfrm>
            <a:off x="731520" y="1706880"/>
            <a:ext cx="10485120" cy="914400"/>
          </a:xfrm>
          <a:prstGeom prst="rect">
            <a:avLst/>
          </a:prstGeom>
          <a:noFill/>
          <a:ln/>
        </p:spPr>
        <p:txBody>
          <a:bodyPr wrap="square" lIns="0" tIns="0" rIns="0" bIns="0" rtlCol="0" anchor="t"/>
          <a:lstStyle/>
          <a:p>
            <a:pPr indent="0" marL="0">
              <a:buNone/>
            </a:pPr>
            <a:r>
              <a:rPr lang="en-US" sz="1200" dirty="0">
                <a:solidFill>
                  <a:srgbClr val="0E1C42"/>
                </a:solidFill>
                <a:latin typeface="Calibri" pitchFamily="34" charset="0"/>
                <a:ea typeface="Calibri" pitchFamily="34" charset="-122"/>
                <a:cs typeface="Calibri" pitchFamily="34" charset="-120"/>
              </a:rPr>
              <a:t>The head curator is waiting for the labels. Write one short sentence (or two) for each of the four words below. Each label should help a visitor understand what the word means using an example from a real market.</a:t>
            </a:r>
            <a:endParaRPr lang="en-US" sz="1200" dirty="0"/>
          </a:p>
        </p:txBody>
      </p:sp>
      <p:sp>
        <p:nvSpPr>
          <p:cNvPr id="7" name="Shape 5"/>
          <p:cNvSpPr/>
          <p:nvPr/>
        </p:nvSpPr>
        <p:spPr>
          <a:xfrm>
            <a:off x="487680" y="2926080"/>
            <a:ext cx="10972800" cy="670560"/>
          </a:xfrm>
          <a:prstGeom prst="roundRect">
            <a:avLst>
              <a:gd name="adj" fmla="val 14545"/>
            </a:avLst>
          </a:prstGeom>
          <a:solidFill>
            <a:srgbClr val="F0F2F8"/>
          </a:solidFill>
          <a:ln w="12700">
            <a:solidFill>
              <a:srgbClr val="B0B8CC"/>
            </a:solidFill>
            <a:prstDash val="solid"/>
          </a:ln>
        </p:spPr>
      </p:sp>
      <p:sp>
        <p:nvSpPr>
          <p:cNvPr id="8" name="Text 6"/>
          <p:cNvSpPr/>
          <p:nvPr/>
        </p:nvSpPr>
        <p:spPr>
          <a:xfrm>
            <a:off x="731520" y="2926080"/>
            <a:ext cx="10485120" cy="67056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Label 1 -- Goods:</a:t>
            </a:r>
            <a:endParaRPr lang="en-US" sz="1300" dirty="0"/>
          </a:p>
        </p:txBody>
      </p:sp>
      <p:sp>
        <p:nvSpPr>
          <p:cNvPr id="9" name="Shape 7"/>
          <p:cNvSpPr/>
          <p:nvPr/>
        </p:nvSpPr>
        <p:spPr>
          <a:xfrm>
            <a:off x="487680" y="3718560"/>
            <a:ext cx="10972800" cy="670560"/>
          </a:xfrm>
          <a:prstGeom prst="roundRect">
            <a:avLst>
              <a:gd name="adj" fmla="val 14545"/>
            </a:avLst>
          </a:prstGeom>
          <a:solidFill>
            <a:srgbClr val="F0F2F8"/>
          </a:solidFill>
          <a:ln w="12700">
            <a:solidFill>
              <a:srgbClr val="B0B8CC"/>
            </a:solidFill>
            <a:prstDash val="solid"/>
          </a:ln>
        </p:spPr>
      </p:sp>
      <p:sp>
        <p:nvSpPr>
          <p:cNvPr id="10" name="Text 8"/>
          <p:cNvSpPr/>
          <p:nvPr/>
        </p:nvSpPr>
        <p:spPr>
          <a:xfrm>
            <a:off x="731520" y="3718560"/>
            <a:ext cx="10485120" cy="67056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Label 2 -- Services:</a:t>
            </a:r>
            <a:endParaRPr lang="en-US" sz="1300" dirty="0"/>
          </a:p>
        </p:txBody>
      </p:sp>
      <p:sp>
        <p:nvSpPr>
          <p:cNvPr id="11" name="Shape 9"/>
          <p:cNvSpPr/>
          <p:nvPr/>
        </p:nvSpPr>
        <p:spPr>
          <a:xfrm>
            <a:off x="487680" y="4511040"/>
            <a:ext cx="10972800" cy="670560"/>
          </a:xfrm>
          <a:prstGeom prst="roundRect">
            <a:avLst>
              <a:gd name="adj" fmla="val 14545"/>
            </a:avLst>
          </a:prstGeom>
          <a:solidFill>
            <a:srgbClr val="F0F2F8"/>
          </a:solidFill>
          <a:ln w="12700">
            <a:solidFill>
              <a:srgbClr val="B0B8CC"/>
            </a:solidFill>
            <a:prstDash val="solid"/>
          </a:ln>
        </p:spPr>
      </p:sp>
      <p:sp>
        <p:nvSpPr>
          <p:cNvPr id="12" name="Text 10"/>
          <p:cNvSpPr/>
          <p:nvPr/>
        </p:nvSpPr>
        <p:spPr>
          <a:xfrm>
            <a:off x="731520" y="4511040"/>
            <a:ext cx="10485120" cy="67056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Label 3 -- Buyer:</a:t>
            </a:r>
            <a:endParaRPr lang="en-US" sz="1300" dirty="0"/>
          </a:p>
        </p:txBody>
      </p:sp>
      <p:sp>
        <p:nvSpPr>
          <p:cNvPr id="13" name="Shape 11"/>
          <p:cNvSpPr/>
          <p:nvPr/>
        </p:nvSpPr>
        <p:spPr>
          <a:xfrm>
            <a:off x="487680" y="5303520"/>
            <a:ext cx="10972800" cy="670560"/>
          </a:xfrm>
          <a:prstGeom prst="roundRect">
            <a:avLst>
              <a:gd name="adj" fmla="val 14545"/>
            </a:avLst>
          </a:prstGeom>
          <a:solidFill>
            <a:srgbClr val="F0F2F8"/>
          </a:solidFill>
          <a:ln w="12700">
            <a:solidFill>
              <a:srgbClr val="B0B8CC"/>
            </a:solidFill>
            <a:prstDash val="solid"/>
          </a:ln>
        </p:spPr>
      </p:sp>
      <p:sp>
        <p:nvSpPr>
          <p:cNvPr id="14" name="Text 12"/>
          <p:cNvSpPr/>
          <p:nvPr/>
        </p:nvSpPr>
        <p:spPr>
          <a:xfrm>
            <a:off x="731520" y="5303520"/>
            <a:ext cx="10485120" cy="67056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Label 4 -- Seller:</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87680" y="36576"/>
            <a:ext cx="10972800" cy="304800"/>
          </a:xfrm>
          <a:prstGeom prst="rect">
            <a:avLst/>
          </a:prstGeom>
          <a:noFill/>
          <a:ln/>
        </p:spPr>
        <p:txBody>
          <a:bodyPr wrap="square" lIns="0" tIns="0" rIns="0" bIns="0" rtlCol="0" anchor="ctr"/>
          <a:lstStyle/>
          <a:p>
            <a:pPr indent="0" marL="0">
              <a:buNone/>
            </a:pPr>
            <a:r>
              <a:rPr lang="en-US" sz="1000" b="1" spc="150" kern="0" dirty="0">
                <a:solidFill>
                  <a:srgbClr val="D4943A"/>
                </a:solidFill>
                <a:latin typeface="Calibri" pitchFamily="34" charset="0"/>
                <a:ea typeface="Calibri" pitchFamily="34" charset="-122"/>
                <a:cs typeface="Calibri" pitchFamily="34" charset="-120"/>
              </a:rPr>
              <a:t>CURATOR'S CHRONICLE</a:t>
            </a:r>
            <a:endParaRPr lang="en-US" sz="1000" dirty="0"/>
          </a:p>
        </p:txBody>
      </p:sp>
      <p:sp>
        <p:nvSpPr>
          <p:cNvPr id="3" name="Text 1"/>
          <p:cNvSpPr/>
          <p:nvPr/>
        </p:nvSpPr>
        <p:spPr>
          <a:xfrm>
            <a:off x="487680" y="341376"/>
            <a:ext cx="10972800" cy="853440"/>
          </a:xfrm>
          <a:prstGeom prst="rect">
            <a:avLst/>
          </a:prstGeom>
          <a:noFill/>
          <a:ln/>
        </p:spPr>
        <p:txBody>
          <a:bodyPr wrap="square" lIns="0" tIns="0" rIns="0" bIns="0" rtlCol="0" anchor="ctr"/>
          <a:lstStyle/>
          <a:p>
            <a:pPr indent="0" marL="0">
              <a:buNone/>
            </a:pPr>
            <a:r>
              <a:rPr lang="en-US" sz="3000" b="1" dirty="0">
                <a:solidFill>
                  <a:srgbClr val="0E1C42"/>
                </a:solidFill>
                <a:latin typeface="Cambria" pitchFamily="34" charset="0"/>
                <a:ea typeface="Cambria" pitchFamily="34" charset="-122"/>
                <a:cs typeface="Cambria" pitchFamily="34" charset="-120"/>
              </a:rPr>
              <a:t>Capture Today's Exhibit Work</a:t>
            </a:r>
            <a:endParaRPr lang="en-US" sz="3000" dirty="0"/>
          </a:p>
        </p:txBody>
      </p:sp>
      <p:sp>
        <p:nvSpPr>
          <p:cNvPr id="4" name="Text 2"/>
          <p:cNvSpPr/>
          <p:nvPr/>
        </p:nvSpPr>
        <p:spPr>
          <a:xfrm>
            <a:off x="487680" y="1158240"/>
            <a:ext cx="10972800" cy="487680"/>
          </a:xfrm>
          <a:prstGeom prst="rect">
            <a:avLst/>
          </a:prstGeom>
          <a:noFill/>
          <a:ln/>
        </p:spPr>
        <p:txBody>
          <a:bodyPr wrap="square" lIns="0" tIns="0" rIns="0" bIns="0" rtlCol="0" anchor="t"/>
          <a:lstStyle/>
          <a:p>
            <a:pPr indent="0" marL="0">
              <a:buNone/>
            </a:pPr>
            <a:r>
              <a:rPr lang="en-US" sz="1250" dirty="0">
                <a:solidFill>
                  <a:srgbClr val="0E1C42"/>
                </a:solidFill>
                <a:latin typeface="Calibri" pitchFamily="34" charset="0"/>
                <a:ea typeface="Calibri" pitchFamily="34" charset="-122"/>
                <a:cs typeface="Calibri" pitchFamily="34" charset="-120"/>
              </a:rPr>
              <a:t>One sentence to capture today's exhibit work. Finish this sentence in your own words:</a:t>
            </a:r>
            <a:endParaRPr lang="en-US" sz="1250" dirty="0"/>
          </a:p>
        </p:txBody>
      </p:sp>
      <p:sp>
        <p:nvSpPr>
          <p:cNvPr id="5" name="Shape 3"/>
          <p:cNvSpPr/>
          <p:nvPr/>
        </p:nvSpPr>
        <p:spPr>
          <a:xfrm>
            <a:off x="487680" y="1706880"/>
            <a:ext cx="10972800" cy="1219200"/>
          </a:xfrm>
          <a:prstGeom prst="roundRect">
            <a:avLst>
              <a:gd name="adj" fmla="val 12000"/>
            </a:avLst>
          </a:prstGeom>
          <a:solidFill>
            <a:srgbClr val="FFF3DC"/>
          </a:solidFill>
          <a:ln/>
        </p:spPr>
      </p:sp>
      <p:sp>
        <p:nvSpPr>
          <p:cNvPr id="6" name="Text 4"/>
          <p:cNvSpPr/>
          <p:nvPr/>
        </p:nvSpPr>
        <p:spPr>
          <a:xfrm>
            <a:off x="731520" y="1828800"/>
            <a:ext cx="10485120" cy="975360"/>
          </a:xfrm>
          <a:prstGeom prst="rect">
            <a:avLst/>
          </a:prstGeom>
          <a:noFill/>
          <a:ln/>
        </p:spPr>
        <p:txBody>
          <a:bodyPr wrap="square" lIns="0" tIns="0" rIns="0" bIns="0" rtlCol="0" anchor="ctr"/>
          <a:lstStyle/>
          <a:p>
            <a:pPr indent="0" marL="0">
              <a:buNone/>
            </a:pPr>
            <a:r>
              <a:rPr lang="en-US" sz="1600" i="1" dirty="0">
                <a:solidFill>
                  <a:srgbClr val="5A4A3A"/>
                </a:solidFill>
                <a:latin typeface="Cambria" pitchFamily="34" charset="0"/>
                <a:ea typeface="Cambria" pitchFamily="34" charset="-122"/>
                <a:cs typeface="Cambria" pitchFamily="34" charset="-120"/>
              </a:rPr>
              <a:t>In this exhibit, I learned that ______ because ______.</a:t>
            </a:r>
            <a:endParaRPr lang="en-US" sz="1600" dirty="0"/>
          </a:p>
        </p:txBody>
      </p:sp>
      <p:sp>
        <p:nvSpPr>
          <p:cNvPr id="7" name="Text 5"/>
          <p:cNvSpPr/>
          <p:nvPr/>
        </p:nvSpPr>
        <p:spPr>
          <a:xfrm>
            <a:off x="487680" y="3169920"/>
            <a:ext cx="10972800" cy="426720"/>
          </a:xfrm>
          <a:prstGeom prst="rect">
            <a:avLst/>
          </a:prstGeom>
          <a:noFill/>
          <a:ln/>
        </p:spPr>
        <p:txBody>
          <a:bodyPr wrap="square" lIns="0" tIns="0" rIns="0" bIns="0" rtlCol="0" anchor="ctr"/>
          <a:lstStyle/>
          <a:p>
            <a:pPr indent="0" marL="0">
              <a:buNone/>
            </a:pPr>
            <a:r>
              <a:rPr lang="en-US" sz="1400" b="1" dirty="0">
                <a:solidFill>
                  <a:srgbClr val="0E1C42"/>
                </a:solidFill>
                <a:latin typeface="Cambria" pitchFamily="34" charset="0"/>
                <a:ea typeface="Cambria" pitchFamily="34" charset="-122"/>
                <a:cs typeface="Cambria" pitchFamily="34" charset="-120"/>
              </a:rPr>
              <a:t>Turn-In Checklist</a:t>
            </a:r>
            <a:endParaRPr lang="en-US" sz="1400" dirty="0"/>
          </a:p>
        </p:txBody>
      </p:sp>
      <p:sp>
        <p:nvSpPr>
          <p:cNvPr id="8" name="Text 6"/>
          <p:cNvSpPr/>
          <p:nvPr/>
        </p:nvSpPr>
        <p:spPr>
          <a:xfrm>
            <a:off x="731520" y="3718560"/>
            <a:ext cx="10485120" cy="487680"/>
          </a:xfrm>
          <a:prstGeom prst="rect">
            <a:avLst/>
          </a:prstGeom>
          <a:noFill/>
          <a:ln/>
        </p:spPr>
        <p:txBody>
          <a:bodyPr wrap="square" lIns="0" tIns="0" rIns="0" bIns="0" rtlCol="0" anchor="ctr"/>
          <a:lstStyle/>
          <a:p>
            <a:pPr indent="0" marL="0">
              <a:buNone/>
            </a:pPr>
            <a:r>
              <a:rPr lang="en-US" sz="1250" dirty="0">
                <a:solidFill>
                  <a:srgbClr val="0E1C42"/>
                </a:solidFill>
                <a:latin typeface="Calibri" pitchFamily="34" charset="0"/>
                <a:ea typeface="Calibri" pitchFamily="34" charset="-122"/>
                <a:cs typeface="Calibri" pitchFamily="34" charset="-120"/>
              </a:rPr>
              <a:t>[ ]  I answered the evidence questions.</a:t>
            </a:r>
            <a:endParaRPr lang="en-US" sz="1250" dirty="0"/>
          </a:p>
        </p:txBody>
      </p:sp>
      <p:sp>
        <p:nvSpPr>
          <p:cNvPr id="9" name="Text 7"/>
          <p:cNvSpPr/>
          <p:nvPr/>
        </p:nvSpPr>
        <p:spPr>
          <a:xfrm>
            <a:off x="731520" y="4267200"/>
            <a:ext cx="10485120" cy="487680"/>
          </a:xfrm>
          <a:prstGeom prst="rect">
            <a:avLst/>
          </a:prstGeom>
          <a:noFill/>
          <a:ln/>
        </p:spPr>
        <p:txBody>
          <a:bodyPr wrap="square" lIns="0" tIns="0" rIns="0" bIns="0" rtlCol="0" anchor="ctr"/>
          <a:lstStyle/>
          <a:p>
            <a:pPr indent="0" marL="0">
              <a:buNone/>
            </a:pPr>
            <a:r>
              <a:rPr lang="en-US" sz="1250" dirty="0">
                <a:solidFill>
                  <a:srgbClr val="0E1C42"/>
                </a:solidFill>
                <a:latin typeface="Calibri" pitchFamily="34" charset="0"/>
                <a:ea typeface="Calibri" pitchFamily="34" charset="-122"/>
                <a:cs typeface="Calibri" pitchFamily="34" charset="-120"/>
              </a:rPr>
              <a:t>[ ]  I wrote all four booth labels.</a:t>
            </a:r>
            <a:endParaRPr lang="en-US" sz="1250" dirty="0"/>
          </a:p>
        </p:txBody>
      </p:sp>
      <p:sp>
        <p:nvSpPr>
          <p:cNvPr id="10" name="Text 8"/>
          <p:cNvSpPr/>
          <p:nvPr/>
        </p:nvSpPr>
        <p:spPr>
          <a:xfrm>
            <a:off x="731520" y="4815840"/>
            <a:ext cx="10485120" cy="487680"/>
          </a:xfrm>
          <a:prstGeom prst="rect">
            <a:avLst/>
          </a:prstGeom>
          <a:noFill/>
          <a:ln/>
        </p:spPr>
        <p:txBody>
          <a:bodyPr wrap="square" lIns="0" tIns="0" rIns="0" bIns="0" rtlCol="0" anchor="ctr"/>
          <a:lstStyle/>
          <a:p>
            <a:pPr indent="0" marL="0">
              <a:buNone/>
            </a:pPr>
            <a:r>
              <a:rPr lang="en-US" sz="1250" dirty="0">
                <a:solidFill>
                  <a:srgbClr val="0E1C42"/>
                </a:solidFill>
                <a:latin typeface="Calibri" pitchFamily="34" charset="0"/>
                <a:ea typeface="Calibri" pitchFamily="34" charset="-122"/>
                <a:cs typeface="Calibri" pitchFamily="34" charset="-120"/>
              </a:rPr>
              <a:t>[ ]  I wrote my Curator's Chronicle.</a:t>
            </a:r>
            <a:endParaRPr lang="en-US" sz="1250" dirty="0"/>
          </a:p>
        </p:txBody>
      </p:sp>
      <p:sp>
        <p:nvSpPr>
          <p:cNvPr id="11" name="Text 9"/>
          <p:cNvSpPr/>
          <p:nvPr/>
        </p:nvSpPr>
        <p:spPr>
          <a:xfrm>
            <a:off x="731520" y="5364480"/>
            <a:ext cx="10485120" cy="487680"/>
          </a:xfrm>
          <a:prstGeom prst="rect">
            <a:avLst/>
          </a:prstGeom>
          <a:noFill/>
          <a:ln/>
        </p:spPr>
        <p:txBody>
          <a:bodyPr wrap="square" lIns="0" tIns="0" rIns="0" bIns="0" rtlCol="0" anchor="ctr"/>
          <a:lstStyle/>
          <a:p>
            <a:pPr indent="0" marL="0">
              <a:buNone/>
            </a:pPr>
            <a:r>
              <a:rPr lang="en-US" sz="1250" dirty="0">
                <a:solidFill>
                  <a:srgbClr val="0E1C42"/>
                </a:solidFill>
                <a:latin typeface="Calibri" pitchFamily="34" charset="0"/>
                <a:ea typeface="Calibri" pitchFamily="34" charset="-122"/>
                <a:cs typeface="Calibri" pitchFamily="34" charset="-120"/>
              </a:rPr>
              <a:t>[ ]  I copied or downloaded my work and submitted to Canvas.</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835"/>
          </a:solidFill>
          <a:ln w="19050">
            <a:solidFill>
              <a:srgbClr val="3A5080"/>
            </a:solidFill>
            <a:prstDash val="dash"/>
          </a:ln>
        </p:spPr>
      </p:sp>
      <p:sp>
        <p:nvSpPr>
          <p:cNvPr id="3" name="Shape 1"/>
          <p:cNvSpPr/>
          <p:nvPr/>
        </p:nvSpPr>
        <p:spPr>
          <a:xfrm>
            <a:off x="0" y="0"/>
            <a:ext cx="12191695" cy="6858000"/>
          </a:xfrm>
          <a:prstGeom prst="rect">
            <a:avLst/>
          </a:prstGeom>
          <a:solidFill>
            <a:srgbClr val="0E1C42">
              <a:alpha val="62000"/>
            </a:srgbClr>
          </a:solidFill>
          <a:ln/>
        </p:spPr>
      </p:sp>
      <p:sp>
        <p:nvSpPr>
          <p:cNvPr id="5" name="Text 2"/>
          <p:cNvSpPr/>
          <p:nvPr/>
        </p:nvSpPr>
        <p:spPr>
          <a:xfrm>
            <a:off x="1219200" y="1097280"/>
            <a:ext cx="9753600" cy="548640"/>
          </a:xfrm>
          <a:prstGeom prst="rect">
            <a:avLst/>
          </a:prstGeom>
          <a:noFill/>
          <a:ln/>
        </p:spPr>
        <p:txBody>
          <a:bodyPr wrap="square" lIns="0" tIns="0" rIns="0" bIns="0" rtlCol="0" anchor="ctr"/>
          <a:lstStyle/>
          <a:p>
            <a:pPr algn="ctr" indent="0" marL="0">
              <a:buNone/>
            </a:pPr>
            <a:r>
              <a:rPr lang="en-US" sz="1500" b="1" spc="150" kern="0" dirty="0">
                <a:solidFill>
                  <a:srgbClr val="D4943A"/>
                </a:solidFill>
                <a:latin typeface="Calibri" pitchFamily="34" charset="0"/>
                <a:ea typeface="Calibri" pitchFamily="34" charset="-122"/>
                <a:cs typeface="Calibri" pitchFamily="34" charset="-120"/>
              </a:rPr>
              <a:t>GREAT WORK, TRADE &amp; CHOICE CURATOR!</a:t>
            </a:r>
            <a:endParaRPr lang="en-US" sz="1500" dirty="0"/>
          </a:p>
        </p:txBody>
      </p:sp>
      <p:sp>
        <p:nvSpPr>
          <p:cNvPr id="6" name="Text 3"/>
          <p:cNvSpPr/>
          <p:nvPr/>
        </p:nvSpPr>
        <p:spPr>
          <a:xfrm>
            <a:off x="1463040" y="1889760"/>
            <a:ext cx="9265920" cy="1097280"/>
          </a:xfrm>
          <a:prstGeom prst="rect">
            <a:avLst/>
          </a:prstGeom>
          <a:noFill/>
          <a:ln/>
        </p:spPr>
        <p:txBody>
          <a:bodyPr wrap="square" lIns="0" tIns="0" rIns="0" bIns="0" rtlCol="0" anchor="t"/>
          <a:lstStyle/>
          <a:p>
            <a:pPr algn="ctr" indent="0" marL="0">
              <a:buNone/>
            </a:pPr>
            <a:r>
              <a:rPr lang="en-US" sz="1500" dirty="0">
                <a:solidFill>
                  <a:srgbClr val="FFFFFF"/>
                </a:solidFill>
                <a:latin typeface="Cambria" pitchFamily="34" charset="0"/>
                <a:ea typeface="Cambria" pitchFamily="34" charset="-122"/>
                <a:cs typeface="Cambria" pitchFamily="34" charset="-120"/>
              </a:rPr>
              <a:t>You labeled all four back-wall booths and explained the difference between goods, services, buyers, and sellers.</a:t>
            </a:r>
            <a:endParaRPr lang="en-US" sz="1500" dirty="0"/>
          </a:p>
        </p:txBody>
      </p:sp>
      <p:sp>
        <p:nvSpPr>
          <p:cNvPr id="7" name="Shape 4"/>
          <p:cNvSpPr/>
          <p:nvPr/>
        </p:nvSpPr>
        <p:spPr>
          <a:xfrm>
            <a:off x="1463040" y="3352800"/>
            <a:ext cx="9265920" cy="2072640"/>
          </a:xfrm>
          <a:prstGeom prst="roundRect">
            <a:avLst>
              <a:gd name="adj" fmla="val 7059"/>
            </a:avLst>
          </a:prstGeom>
          <a:solidFill>
            <a:srgbClr val="1A2D5A"/>
          </a:solidFill>
          <a:ln/>
        </p:spPr>
      </p:sp>
      <p:sp>
        <p:nvSpPr>
          <p:cNvPr id="8" name="Text 5"/>
          <p:cNvSpPr/>
          <p:nvPr/>
        </p:nvSpPr>
        <p:spPr>
          <a:xfrm>
            <a:off x="1706880" y="3535680"/>
            <a:ext cx="8778240" cy="365760"/>
          </a:xfrm>
          <a:prstGeom prst="rect">
            <a:avLst/>
          </a:prstGeom>
          <a:noFill/>
          <a:ln/>
        </p:spPr>
        <p:txBody>
          <a:bodyPr wrap="square" lIns="0" tIns="0" rIns="0" bIns="0" rtlCol="0" anchor="ctr"/>
          <a:lstStyle/>
          <a:p>
            <a:pPr indent="0" marL="0">
              <a:buNone/>
            </a:pPr>
            <a:r>
              <a:rPr lang="en-US" sz="1100" b="1" spc="150" kern="0" dirty="0">
                <a:solidFill>
                  <a:srgbClr val="55C8E8"/>
                </a:solidFill>
                <a:latin typeface="Calibri" pitchFamily="34" charset="0"/>
                <a:ea typeface="Calibri" pitchFamily="34" charset="-122"/>
                <a:cs typeface="Calibri" pitchFamily="34" charset="-120"/>
              </a:rPr>
              <a:t>COMING NEXT</a:t>
            </a:r>
            <a:endParaRPr lang="en-US" sz="1100" dirty="0"/>
          </a:p>
        </p:txBody>
      </p:sp>
      <p:sp>
        <p:nvSpPr>
          <p:cNvPr id="9" name="Text 6"/>
          <p:cNvSpPr/>
          <p:nvPr/>
        </p:nvSpPr>
        <p:spPr>
          <a:xfrm>
            <a:off x="1706880" y="3925824"/>
            <a:ext cx="8778240" cy="1402080"/>
          </a:xfrm>
          <a:prstGeom prst="rect">
            <a:avLst/>
          </a:prstGeom>
          <a:noFill/>
          <a:ln/>
        </p:spPr>
        <p:txBody>
          <a:bodyPr wrap="square" lIns="0" tIns="0" rIns="0" bIns="0" rtlCol="0" anchor="t"/>
          <a:lstStyle/>
          <a:p>
            <a:pPr indent="0" marL="0">
              <a:buNone/>
            </a:pPr>
            <a:r>
              <a:rPr lang="en-US" sz="1200" dirty="0">
                <a:solidFill>
                  <a:srgbClr val="F0F2F8"/>
                </a:solidFill>
                <a:latin typeface="Calibri" pitchFamily="34" charset="0"/>
                <a:ea typeface="Calibri" pitchFamily="34" charset="-122"/>
                <a:cs typeface="Calibri" pitchFamily="34" charset="-120"/>
              </a:rPr>
              <a:t>A long glass case just rolled into the middle of the Marketplace Hall. Inside, the head curator carefully arranges coins, bills, and a few oddly shaped objects from long ago -- including a thick, polished shell and a small block of salt. "All of these," he says, "are money. Or at least, they used to be." Tomorrow you'll figure out what makes something work as money, and what doesn't.</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Optima Academy Online</dc:creator>
  <cp:lastModifiedBy>Optima Academy Online</cp:lastModifiedBy>
  <cp:revision>1</cp:revision>
  <dcterms:created xsi:type="dcterms:W3CDTF">2026-07-11T19:11:44Z</dcterms:created>
  <dcterms:modified xsi:type="dcterms:W3CDTF">2026-07-11T19:11:44Z</dcterms:modified>
</cp:coreProperties>
</file>