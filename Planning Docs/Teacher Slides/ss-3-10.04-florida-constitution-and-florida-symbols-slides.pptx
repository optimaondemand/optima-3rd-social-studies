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dramatic museum display case in Citizenship Hall holding a green-and-gold bound Florida Constitution, a small bronze state seal medallion, a sabal palm leaf pressed under glass, a tiny mockingbird statue, and a single fresh orange blossom, warmly spotlit -- Sunshine State museum aesthetic.Title slide. Welcome students to the Florida case in Citizenship Hall. Read the Big Question aloud. Today's virtue is honesty -- students will act as Civic Curator and study Florida's Constitution and state symbols.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of the glowing new Florida display case in Citizenship Hall -- the bound green-and-gold Florida Constitution, small bronze state seal, pressed sabal palm leaf, tiny mockingbird statue, and single fresh orange blossom arranged inside the glass under a spotlight.Greet students at the new Florida case. Point to each item as you name it: the bound Florida Constitution, the state seal, the sabal palm leaf, the mockingbird statue, the orange blossom. Mention that today's virtue is honesty -- a state's symbols only matter if they honestly tell the truth about who the people are. Keep under 2 minutes. Warm and curious.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Big Question aloud. Walk through the three objectives -- explain the Constitution, identify symbols, and recommend the best symbol with evidence. Note the standards briefly for your own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today's virtue: honesty. Say -- a state's symbols only count if they honestly tell the truth about the land and the people. Remind students of their role: Civic Curator, studying the Florida case, working toward an honest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four words first and let students guess in chat what flor- might mean before revealing. Then reveal: flor- means flower, and Florida itself comes from this root -- Ponce de León named it La Florida, 'the flowered place,' in 1513. Have students copy the sentence into their Curator's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Florida Constitution in the case. Give 5 seconds of silent observation. Ask what a state's own constitution might be for, before revealing what it actually does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just like the U.S. has a constitution for the whole country, every state has its own constitution too. Ask the Socratic questions aloud and take chat responses. This scaffolds Evidence Question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definition of Florida's Constitution -- named as what students discovered. Retrieval challenge: cover your screen and name one thing it sets up (governor, legislature, courts, or rights).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sabal palm leaf, mockingbird statue, orange blossom, and state seal in the case. Give 5 seconds of silent observation. Do not name what each stands for yet -- let students guess first in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elements of the seal: sabal palm (land), sun (climate), Seminole woman (native people), steamboat (water travel and trade). A state's seal goes on its most important documents -- that is a quiet but powerful choice about what matters. This scaffolds Evidence Question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genuine council debate. Read both sides aloud. Honest curators admit both choices have something going for them -- Florida actually uses both, in different places. But in this Council Chamber, students must pick one and explain why. This directly scaffolds the Curator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all four symbols named and defined together. Then share the Then &amp; Now facts -- statehood 1845, mockingbird 1927, orange blossom 1909. Retrieval challenge: cover screens and name all four symbols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Exhibit Label and Opti's observation aloud. Use the Socratic questions to bridge directly into the Curator Task -- students should start forming their own honest opinion about what Florida's symbols say about the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Curator Task aloud exactly as written on the slide: name your choice, give two reasons, use one piece of evidence. This is the exact scaffolding students need before writing their own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Whole-class version of the Curator Task, arguing the opposite side from the Teacher Models slide. Build the answer together aloud, using the Socratic questions, before students choose their own side on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a common shortcut students take -- picking a symbol based on personal preference instead of lesson evidence. Have students suggest a fix aloud that uses a real detail from the case (hurricanes, salt spray, or a seal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progress recap -- walk through each unlocked piece of the Florida case. This is a brief celebration break before the self-check and assignment. Keep under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take answers via chat or poll, then reveal the correct answer and explanation shown on the slide. Celebrate a perfect score before moving into the Evidence &amp; Assignment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exactly as written. Question 1 was scaffolded in Word Roots, Question 2 in the Constitution discovery cycle, and Question 3 in the Symbols and Source Study slides. Nothing here should feel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part aloud exactly as written. Think aloud through a strong answer -- pick the palm or the seal, give two honest reasons, and use one specific detail from the lesson as evidence. Remind students that honest means saying why, not just what. Aim for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finish the sentence frame exactly as shown, in their own words. Then walk through the turn-in checklist so everyone knows what a complete submission looks like before class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Students exiting the glowing Florida case in Citizenship Hall while museum workers wheel a tall blue voting booth with a small curtain, a ballot card, and a stamp on a chain into the corridor ahead.Celebrate that students opened the Florida case and made an honest pick in the Council Chamber. Restate the Exhibit Label. Then tease tomorrow's voting booth exhibit and its question: how do citizens make decisions together? Keep under 1 minute. Warm, a little proud of the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1524000"/>
            <a:ext cx="9753600" cy="42672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CITIZENSHIP HALL  ·  LESSON 3.10.04  ·  THE FLORIDA CASE</a:t>
            </a:r>
            <a:endParaRPr lang="en-US" sz="1200" dirty="0"/>
          </a:p>
        </p:txBody>
      </p:sp>
      <p:sp>
        <p:nvSpPr>
          <p:cNvPr id="6" name="Text 3"/>
          <p:cNvSpPr/>
          <p:nvPr/>
        </p:nvSpPr>
        <p:spPr>
          <a:xfrm>
            <a:off x="975360" y="2072640"/>
            <a:ext cx="9753600" cy="182880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The Florida Constitution</a:t>
            </a:r>
            <a:endParaRPr lang="en-US" sz="3800" dirty="0"/>
          </a:p>
          <a:p>
            <a:pPr algn="ctr" indent="0" marL="0">
              <a:buNone/>
            </a:pPr>
            <a:r>
              <a:rPr lang="en-US" sz="3800" b="1" dirty="0">
                <a:solidFill>
                  <a:srgbClr val="FFFFFF"/>
                </a:solidFill>
                <a:latin typeface="Cambria" pitchFamily="34" charset="0"/>
                <a:ea typeface="Cambria" pitchFamily="34" charset="-122"/>
                <a:cs typeface="Cambria" pitchFamily="34" charset="-120"/>
              </a:rPr>
              <a:t>&amp; Florida Symbols</a:t>
            </a:r>
            <a:endParaRPr lang="en-US" sz="3800" dirty="0"/>
          </a:p>
        </p:txBody>
      </p:sp>
      <p:sp>
        <p:nvSpPr>
          <p:cNvPr id="7" name="Text 4"/>
          <p:cNvSpPr/>
          <p:nvPr/>
        </p:nvSpPr>
        <p:spPr>
          <a:xfrm>
            <a:off x="1584960" y="4084320"/>
            <a:ext cx="8534400" cy="365760"/>
          </a:xfrm>
          <a:prstGeom prst="rect">
            <a:avLst/>
          </a:prstGeom>
          <a:noFill/>
          <a:ln/>
        </p:spPr>
        <p:txBody>
          <a:bodyPr wrap="square" lIns="0" tIns="0" rIns="0" bIns="0" rtlCol="0" anchor="ctr"/>
          <a:lstStyle/>
          <a:p>
            <a:pPr algn="ctr" indent="0" marL="0">
              <a:buNone/>
            </a:pPr>
            <a:r>
              <a:rPr lang="en-US" sz="1100" b="1" spc="150" kern="0" dirty="0">
                <a:solidFill>
                  <a:srgbClr val="D4943A"/>
                </a:solidFill>
                <a:latin typeface="Calibri" pitchFamily="34" charset="0"/>
                <a:ea typeface="Calibri" pitchFamily="34" charset="-122"/>
                <a:cs typeface="Calibri" pitchFamily="34" charset="-120"/>
              </a:rPr>
              <a:t>Today's Big Question</a:t>
            </a:r>
            <a:endParaRPr lang="en-US" sz="1100" dirty="0"/>
          </a:p>
        </p:txBody>
      </p:sp>
      <p:sp>
        <p:nvSpPr>
          <p:cNvPr id="8" name="Text 5"/>
          <p:cNvSpPr/>
          <p:nvPr/>
        </p:nvSpPr>
        <p:spPr>
          <a:xfrm>
            <a:off x="1219200" y="4511040"/>
            <a:ext cx="9387840" cy="1219200"/>
          </a:xfrm>
          <a:prstGeom prst="rect">
            <a:avLst/>
          </a:prstGeom>
          <a:noFill/>
          <a:ln/>
        </p:spPr>
        <p:txBody>
          <a:bodyPr wrap="square" lIns="0" tIns="0" rIns="0" bIns="0" rtlCol="0" anchor="t"/>
          <a:lstStyle/>
          <a:p>
            <a:pPr algn="ctr" indent="0" marL="0">
              <a:buNone/>
            </a:pPr>
            <a:r>
              <a:rPr lang="en-US" sz="1500" i="1" dirty="0">
                <a:solidFill>
                  <a:srgbClr val="FFFFFF"/>
                </a:solidFill>
                <a:latin typeface="Calibri" pitchFamily="34" charset="0"/>
                <a:ea typeface="Calibri" pitchFamily="34" charset="-122"/>
                <a:cs typeface="Calibri" pitchFamily="34" charset="-120"/>
              </a:rPr>
              <a:t>How do Florida's Constitution and symbols show what our state remembers, honors, and stands for?</a:t>
            </a:r>
            <a:endParaRPr lang="en-US" sz="1500" dirty="0"/>
          </a:p>
        </p:txBody>
      </p:sp>
      <p:sp>
        <p:nvSpPr>
          <p:cNvPr id="9" name="Text 6"/>
          <p:cNvSpPr/>
          <p:nvPr/>
        </p:nvSpPr>
        <p:spPr>
          <a:xfrm>
            <a:off x="1219200" y="5791200"/>
            <a:ext cx="9387840" cy="426720"/>
          </a:xfrm>
          <a:prstGeom prst="rect">
            <a:avLst/>
          </a:prstGeom>
          <a:noFill/>
          <a:ln/>
        </p:spPr>
        <p:txBody>
          <a:bodyPr wrap="square" lIns="0" tIns="0" rIns="0" bIns="0" rtlCol="0" anchor="ctr"/>
          <a:lstStyle/>
          <a:p>
            <a:pPr algn="ctr" indent="0" marL="0">
              <a:buNone/>
            </a:pPr>
            <a:r>
              <a:rPr lang="en-US" sz="1200" i="1" dirty="0">
                <a:solidFill>
                  <a:srgbClr val="EAF8FD"/>
                </a:solidFill>
                <a:latin typeface="Calibri" pitchFamily="34" charset="0"/>
                <a:ea typeface="Calibri" pitchFamily="34" charset="-122"/>
                <a:cs typeface="Calibri" pitchFamily="34" charset="-120"/>
              </a:rPr>
              <a:t>You are the Civic Curator -- and today you open the Florida case.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731520"/>
            <a:ext cx="97536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ENTER THE MUSEUM · THE FLORIDA CASE OPENS</a:t>
            </a:r>
            <a:endParaRPr lang="en-US" sz="1100" dirty="0"/>
          </a:p>
        </p:txBody>
      </p:sp>
      <p:sp>
        <p:nvSpPr>
          <p:cNvPr id="6" name="Text 3"/>
          <p:cNvSpPr/>
          <p:nvPr/>
        </p:nvSpPr>
        <p:spPr>
          <a:xfrm>
            <a:off x="975360" y="1280160"/>
            <a:ext cx="9753600" cy="1219200"/>
          </a:xfrm>
          <a:prstGeom prst="rect">
            <a:avLst/>
          </a:prstGeom>
          <a:noFill/>
          <a:ln/>
        </p:spPr>
        <p:txBody>
          <a:bodyPr wrap="square" lIns="0" tIns="0" rIns="0" bIns="0" rtlCol="0" anchor="ctr"/>
          <a:lstStyle/>
          <a:p>
            <a:pPr algn="ctr" indent="0" marL="0">
              <a:buNone/>
            </a:pPr>
            <a:r>
              <a:rPr lang="en-US" sz="2000" b="1" i="1" dirty="0">
                <a:solidFill>
                  <a:srgbClr val="FFFFFF"/>
                </a:solidFill>
                <a:latin typeface="Cambria" pitchFamily="34" charset="0"/>
                <a:ea typeface="Cambria" pitchFamily="34" charset="-122"/>
                <a:cs typeface="Cambria" pitchFamily="34" charset="-120"/>
              </a:rPr>
              <a:t>"A piece of paper, a tree, a bird, and a flower -- can they really stand for a whole state?"</a:t>
            </a:r>
            <a:endParaRPr lang="en-US" sz="2000" dirty="0"/>
          </a:p>
        </p:txBody>
      </p:sp>
      <p:sp>
        <p:nvSpPr>
          <p:cNvPr id="7" name="Text 4"/>
          <p:cNvSpPr/>
          <p:nvPr/>
        </p:nvSpPr>
        <p:spPr>
          <a:xfrm>
            <a:off x="1219200" y="2621280"/>
            <a:ext cx="9387840" cy="1584960"/>
          </a:xfrm>
          <a:prstGeom prst="rect">
            <a:avLst/>
          </a:prstGeom>
          <a:noFill/>
          <a:ln/>
        </p:spPr>
        <p:txBody>
          <a:bodyPr wrap="square" lIns="0" tIns="0" rIns="0" bIns="0" rtlCol="0" anchor="t"/>
          <a:lstStyle/>
          <a:p>
            <a:pPr algn="ctr" indent="0" marL="0">
              <a:buNone/>
            </a:pPr>
            <a:r>
              <a:rPr lang="en-US" sz="1300" dirty="0">
                <a:solidFill>
                  <a:srgbClr val="EAF8FD"/>
                </a:solidFill>
                <a:latin typeface="Calibri" pitchFamily="34" charset="0"/>
                <a:ea typeface="Calibri" pitchFamily="34" charset="-122"/>
                <a:cs typeface="Calibri" pitchFamily="34" charset="-120"/>
              </a:rPr>
              <a:t>The three-level model is now perfectly labeled -- local, state, and national. But the lights have come up over a brand-new corner of Citizenship Hall: the Florida case. Inside the glass sits a green-and-gold bound copy of the Florida Constitution, a small bronze state seal, a sabal palm leaf pressed under museum glass, a tiny mockingbird statue, and a single orange blossom kept fresh by some museum trick.</a:t>
            </a:r>
            <a:endParaRPr lang="en-US" sz="1300" dirty="0"/>
          </a:p>
        </p:txBody>
      </p:sp>
      <p:sp>
        <p:nvSpPr>
          <p:cNvPr id="8" name="Text 5"/>
          <p:cNvSpPr/>
          <p:nvPr/>
        </p:nvSpPr>
        <p:spPr>
          <a:xfrm>
            <a:off x="1219200" y="4328160"/>
            <a:ext cx="9387840" cy="1219200"/>
          </a:xfrm>
          <a:prstGeom prst="rect">
            <a:avLst/>
          </a:prstGeom>
          <a:noFill/>
          <a:ln/>
        </p:spPr>
        <p:txBody>
          <a:bodyPr wrap="square" lIns="0" tIns="0" rIns="0" bIns="0" rtlCol="0" anchor="t"/>
          <a:lstStyle/>
          <a:p>
            <a:pPr algn="ctr" indent="0" marL="0">
              <a:buNone/>
            </a:pPr>
            <a:r>
              <a:rPr lang="en-US" sz="1350" b="1" dirty="0">
                <a:solidFill>
                  <a:srgbClr val="D4943A"/>
                </a:solidFill>
                <a:latin typeface="Calibri" pitchFamily="34" charset="0"/>
                <a:ea typeface="Calibri" pitchFamily="34" charset="-122"/>
                <a:cs typeface="Calibri" pitchFamily="34" charset="-120"/>
              </a:rPr>
              <a:t>Today your job as Civic Curator is to figure out what Florida chooses to remember -- and why a piece of paper, a tree, a bird, and a flower can stand for a whole state.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TODAY'S CURATOR'S QUESTION &amp; OBJECTIVES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What You'll Learn Today</a:t>
            </a:r>
            <a:endParaRPr lang="en-US" sz="2700" dirty="0"/>
          </a:p>
        </p:txBody>
      </p:sp>
      <p:sp>
        <p:nvSpPr>
          <p:cNvPr id="4" name="Shape 2"/>
          <p:cNvSpPr/>
          <p:nvPr/>
        </p:nvSpPr>
        <p:spPr>
          <a:xfrm>
            <a:off x="609600" y="1584960"/>
            <a:ext cx="10607040" cy="1280160"/>
          </a:xfrm>
          <a:prstGeom prst="roundRect">
            <a:avLst>
              <a:gd name="adj" fmla="val 11429"/>
            </a:avLst>
          </a:prstGeom>
          <a:solidFill>
            <a:srgbClr val="EAF8FD"/>
          </a:solidFill>
          <a:ln/>
        </p:spPr>
      </p:sp>
      <p:sp>
        <p:nvSpPr>
          <p:cNvPr id="5" name="Text 3"/>
          <p:cNvSpPr/>
          <p:nvPr/>
        </p:nvSpPr>
        <p:spPr>
          <a:xfrm>
            <a:off x="914400" y="1731264"/>
            <a:ext cx="9997440" cy="1036320"/>
          </a:xfrm>
          <a:prstGeom prst="rect">
            <a:avLst/>
          </a:prstGeom>
          <a:noFill/>
          <a:ln/>
        </p:spPr>
        <p:txBody>
          <a:bodyPr wrap="square" lIns="0" tIns="0" rIns="0" bIns="0" rtlCol="0" anchor="ctr"/>
          <a:lstStyle/>
          <a:p>
            <a:pPr algn="ctr" indent="0" marL="0">
              <a:buNone/>
            </a:pPr>
            <a:r>
              <a:rPr lang="en-US" sz="1600" b="1" i="1" dirty="0">
                <a:solidFill>
                  <a:srgbClr val="0E1C42"/>
                </a:solidFill>
                <a:latin typeface="Cambria" pitchFamily="34" charset="0"/>
                <a:ea typeface="Cambria" pitchFamily="34" charset="-122"/>
                <a:cs typeface="Cambria" pitchFamily="34" charset="-120"/>
              </a:rPr>
              <a:t>How do Florida's Constitution and symbols show what our state remembers, honors, and stands for?</a:t>
            </a:r>
            <a:endParaRPr lang="en-US" sz="1600" dirty="0"/>
          </a:p>
        </p:txBody>
      </p:sp>
      <p:sp>
        <p:nvSpPr>
          <p:cNvPr id="6" name="Text 4"/>
          <p:cNvSpPr/>
          <p:nvPr/>
        </p:nvSpPr>
        <p:spPr>
          <a:xfrm>
            <a:off x="914400" y="3169920"/>
            <a:ext cx="9997440" cy="219456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0E1C42"/>
                </a:solidFill>
                <a:latin typeface="Calibri" pitchFamily="34" charset="0"/>
                <a:ea typeface="Calibri" pitchFamily="34" charset="-122"/>
                <a:cs typeface="Calibri" pitchFamily="34" charset="-120"/>
              </a:rPr>
              <a:t>Explain what the Florida Constitution is and what it does.</a:t>
            </a:r>
            <a:endParaRPr lang="en-US" sz="1500" dirty="0"/>
          </a:p>
          <a:p>
            <a:pPr marL="342900" indent="-342900">
              <a:spcAft>
                <a:spcPts val="1200"/>
              </a:spcAft>
              <a:buSzPct val="100000"/>
              <a:buChar char="•"/>
            </a:pPr>
            <a:r>
              <a:rPr lang="en-US" sz="1500" dirty="0">
                <a:solidFill>
                  <a:srgbClr val="0E1C42"/>
                </a:solidFill>
                <a:latin typeface="Calibri" pitchFamily="34" charset="0"/>
                <a:ea typeface="Calibri" pitchFamily="34" charset="-122"/>
                <a:cs typeface="Calibri" pitchFamily="34" charset="-120"/>
              </a:rPr>
              <a:t>Identify key Florida symbols and what each stands for.</a:t>
            </a:r>
            <a:endParaRPr lang="en-US" sz="1500" dirty="0"/>
          </a:p>
          <a:p>
            <a:pPr marL="342900" indent="-342900">
              <a:spcAft>
                <a:spcPts val="1200"/>
              </a:spcAft>
              <a:buSzPct val="100000"/>
              <a:buChar char="•"/>
            </a:pPr>
            <a:r>
              <a:rPr lang="en-US" sz="1500" dirty="0">
                <a:solidFill>
                  <a:srgbClr val="0E1C42"/>
                </a:solidFill>
                <a:latin typeface="Calibri" pitchFamily="34" charset="0"/>
                <a:ea typeface="Calibri" pitchFamily="34" charset="-122"/>
                <a:cs typeface="Calibri" pitchFamily="34" charset="-120"/>
              </a:rPr>
              <a:t>Recommend the symbol that best represents Florida, with evidence.</a:t>
            </a:r>
            <a:endParaRPr lang="en-US" sz="1500" dirty="0"/>
          </a:p>
        </p:txBody>
      </p:sp>
      <p:sp>
        <p:nvSpPr>
          <p:cNvPr id="7" name="Text 5"/>
          <p:cNvSpPr/>
          <p:nvPr/>
        </p:nvSpPr>
        <p:spPr>
          <a:xfrm>
            <a:off x="609600" y="560832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Standards: SS.3.CG.1.2  ·  SS.3.CG.2.3  ·  SS.3.AA.1.1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42672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VIRTUE SPOTLIGHT</a:t>
            </a:r>
            <a:endParaRPr lang="en-US" sz="1100" dirty="0"/>
          </a:p>
        </p:txBody>
      </p:sp>
      <p:sp>
        <p:nvSpPr>
          <p:cNvPr id="3" name="Text 1"/>
          <p:cNvSpPr/>
          <p:nvPr/>
        </p:nvSpPr>
        <p:spPr>
          <a:xfrm>
            <a:off x="609600" y="853440"/>
            <a:ext cx="10972800" cy="731520"/>
          </a:xfrm>
          <a:prstGeom prst="rect">
            <a:avLst/>
          </a:prstGeom>
          <a:noFill/>
          <a:ln/>
        </p:spPr>
        <p:txBody>
          <a:bodyPr wrap="square" lIns="0" tIns="0" rIns="0" bIns="0" rtlCol="0" anchor="ctr"/>
          <a:lstStyle/>
          <a:p>
            <a:pPr algn="ctr" indent="0" marL="0">
              <a:buNone/>
            </a:pPr>
            <a:r>
              <a:rPr lang="en-US" sz="3200" b="1" dirty="0">
                <a:solidFill>
                  <a:srgbClr val="D4943A"/>
                </a:solidFill>
                <a:latin typeface="Cambria" pitchFamily="34" charset="0"/>
                <a:ea typeface="Cambria" pitchFamily="34" charset="-122"/>
                <a:cs typeface="Cambria" pitchFamily="34" charset="-120"/>
              </a:rPr>
              <a:t>Honesty</a:t>
            </a:r>
            <a:endParaRPr lang="en-US" sz="3200" dirty="0"/>
          </a:p>
        </p:txBody>
      </p:sp>
      <p:sp>
        <p:nvSpPr>
          <p:cNvPr id="4" name="Shape 2"/>
          <p:cNvSpPr/>
          <p:nvPr/>
        </p:nvSpPr>
        <p:spPr>
          <a:xfrm>
            <a:off x="609600" y="1889760"/>
            <a:ext cx="5242560" cy="4328160"/>
          </a:xfrm>
          <a:prstGeom prst="roundRect">
            <a:avLst>
              <a:gd name="adj" fmla="val 3380"/>
            </a:avLst>
          </a:prstGeom>
          <a:solidFill>
            <a:srgbClr val="1A2D5A"/>
          </a:solidFill>
          <a:ln/>
        </p:spPr>
      </p:sp>
      <p:sp>
        <p:nvSpPr>
          <p:cNvPr id="5" name="Text 3"/>
          <p:cNvSpPr/>
          <p:nvPr/>
        </p:nvSpPr>
        <p:spPr>
          <a:xfrm>
            <a:off x="853440" y="2072640"/>
            <a:ext cx="4754880" cy="365760"/>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WHY IT MATTERS HERE</a:t>
            </a:r>
            <a:endParaRPr lang="en-US" sz="1200" dirty="0"/>
          </a:p>
        </p:txBody>
      </p:sp>
      <p:sp>
        <p:nvSpPr>
          <p:cNvPr id="6" name="Text 4"/>
          <p:cNvSpPr/>
          <p:nvPr/>
        </p:nvSpPr>
        <p:spPr>
          <a:xfrm>
            <a:off x="853440" y="2499360"/>
            <a:ext cx="4754880" cy="35356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symbol is supposed to tell the truth. Florida's mockingbird is real. Florida's orange blossoms are real. Florida's beaches and palms are real. An honest state picks symbols that say something true about its land and its people -- not just something pretty.</a:t>
            </a:r>
            <a:endParaRPr lang="en-US" sz="1300" dirty="0"/>
          </a:p>
        </p:txBody>
      </p:sp>
      <p:sp>
        <p:nvSpPr>
          <p:cNvPr id="7" name="Shape 5"/>
          <p:cNvSpPr/>
          <p:nvPr/>
        </p:nvSpPr>
        <p:spPr>
          <a:xfrm>
            <a:off x="6035040" y="1889760"/>
            <a:ext cx="5242560" cy="4328160"/>
          </a:xfrm>
          <a:prstGeom prst="roundRect">
            <a:avLst>
              <a:gd name="adj" fmla="val 3380"/>
            </a:avLst>
          </a:prstGeom>
          <a:solidFill>
            <a:srgbClr val="1A2D5A"/>
          </a:solidFill>
          <a:ln/>
        </p:spPr>
      </p:sp>
      <p:sp>
        <p:nvSpPr>
          <p:cNvPr id="8" name="Text 6"/>
          <p:cNvSpPr/>
          <p:nvPr/>
        </p:nvSpPr>
        <p:spPr>
          <a:xfrm>
            <a:off x="6278880" y="2072640"/>
            <a:ext cx="4754880" cy="365760"/>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YOUR ROLE TODAY</a:t>
            </a:r>
            <a:endParaRPr lang="en-US" sz="1200" dirty="0"/>
          </a:p>
        </p:txBody>
      </p:sp>
      <p:sp>
        <p:nvSpPr>
          <p:cNvPr id="9" name="Text 7"/>
          <p:cNvSpPr/>
          <p:nvPr/>
        </p:nvSpPr>
        <p:spPr>
          <a:xfrm>
            <a:off x="6278880" y="2499360"/>
            <a:ext cx="4754880" cy="35356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You are still the Civic Curator -- but this time you're working in the Florida corner of the hall. Your job is to study the case, learn what each Florida symbol stands for, and then make an honest recommendation about which one best represents the state.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8B6FC0"/>
                </a:solidFill>
                <a:latin typeface="Calibri" pitchFamily="34" charset="0"/>
                <a:ea typeface="Calibri" pitchFamily="34" charset="-122"/>
                <a:cs typeface="Calibri" pitchFamily="34" charset="-120"/>
              </a:rPr>
              <a:t>WORD ROOTS · DISCOVER THE ROOT</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Meet the Root: flor-</a:t>
            </a:r>
            <a:endParaRPr lang="en-US" sz="2700" dirty="0"/>
          </a:p>
        </p:txBody>
      </p:sp>
      <p:sp>
        <p:nvSpPr>
          <p:cNvPr id="4" name="Shape 2"/>
          <p:cNvSpPr/>
          <p:nvPr/>
        </p:nvSpPr>
        <p:spPr>
          <a:xfrm>
            <a:off x="609600" y="1584960"/>
            <a:ext cx="5486400" cy="2621280"/>
          </a:xfrm>
          <a:prstGeom prst="roundRect">
            <a:avLst>
              <a:gd name="adj" fmla="val 5581"/>
            </a:avLst>
          </a:prstGeom>
          <a:solidFill>
            <a:srgbClr val="F0E8FF"/>
          </a:solidFill>
          <a:ln/>
        </p:spPr>
      </p:sp>
      <p:sp>
        <p:nvSpPr>
          <p:cNvPr id="5" name="Text 3"/>
          <p:cNvSpPr/>
          <p:nvPr/>
        </p:nvSpPr>
        <p:spPr>
          <a:xfrm>
            <a:off x="853440" y="1731264"/>
            <a:ext cx="4998720" cy="42672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Four words share this hidden root:</a:t>
            </a:r>
            <a:endParaRPr lang="en-US" sz="1200" dirty="0"/>
          </a:p>
        </p:txBody>
      </p:sp>
      <p:sp>
        <p:nvSpPr>
          <p:cNvPr id="6" name="Text 4"/>
          <p:cNvSpPr/>
          <p:nvPr/>
        </p:nvSpPr>
        <p:spPr>
          <a:xfrm>
            <a:off x="1097280" y="2194560"/>
            <a:ext cx="4754880" cy="188976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rgbClr val="8B6FC0"/>
                </a:solidFill>
                <a:latin typeface="Cambria" pitchFamily="34" charset="0"/>
                <a:ea typeface="Cambria" pitchFamily="34" charset="-122"/>
                <a:cs typeface="Cambria" pitchFamily="34" charset="-120"/>
              </a:rPr>
              <a:t>Florida</a:t>
            </a:r>
            <a:endParaRPr lang="en-US" sz="1500" dirty="0"/>
          </a:p>
          <a:p>
            <a:pPr marL="342900" indent="-342900">
              <a:spcAft>
                <a:spcPts val="600"/>
              </a:spcAft>
              <a:buSzPct val="100000"/>
              <a:buChar char="•"/>
            </a:pPr>
            <a:r>
              <a:rPr lang="en-US" sz="1500" b="1" dirty="0">
                <a:solidFill>
                  <a:srgbClr val="8B6FC0"/>
                </a:solidFill>
                <a:latin typeface="Cambria" pitchFamily="34" charset="0"/>
                <a:ea typeface="Cambria" pitchFamily="34" charset="-122"/>
                <a:cs typeface="Cambria" pitchFamily="34" charset="-120"/>
              </a:rPr>
              <a:t>floral</a:t>
            </a:r>
            <a:endParaRPr lang="en-US" sz="1500" dirty="0"/>
          </a:p>
          <a:p>
            <a:pPr marL="342900" indent="-342900">
              <a:spcAft>
                <a:spcPts val="600"/>
              </a:spcAft>
              <a:buSzPct val="100000"/>
              <a:buChar char="•"/>
            </a:pPr>
            <a:r>
              <a:rPr lang="en-US" sz="1500" b="1" dirty="0">
                <a:solidFill>
                  <a:srgbClr val="8B6FC0"/>
                </a:solidFill>
                <a:latin typeface="Cambria" pitchFamily="34" charset="0"/>
                <a:ea typeface="Cambria" pitchFamily="34" charset="-122"/>
                <a:cs typeface="Cambria" pitchFamily="34" charset="-120"/>
              </a:rPr>
              <a:t>florist</a:t>
            </a:r>
            <a:endParaRPr lang="en-US" sz="1500" dirty="0"/>
          </a:p>
          <a:p>
            <a:pPr marL="342900" indent="-342900">
              <a:spcAft>
                <a:spcPts val="600"/>
              </a:spcAft>
              <a:buSzPct val="100000"/>
              <a:buChar char="•"/>
            </a:pPr>
            <a:r>
              <a:rPr lang="en-US" sz="1500" b="1" dirty="0">
                <a:solidFill>
                  <a:srgbClr val="8B6FC0"/>
                </a:solidFill>
                <a:latin typeface="Cambria" pitchFamily="34" charset="0"/>
                <a:ea typeface="Cambria" pitchFamily="34" charset="-122"/>
                <a:cs typeface="Cambria" pitchFamily="34" charset="-120"/>
              </a:rPr>
              <a:t>flourish</a:t>
            </a:r>
            <a:endParaRPr lang="en-US" sz="1500" dirty="0"/>
          </a:p>
        </p:txBody>
      </p:sp>
      <p:sp>
        <p:nvSpPr>
          <p:cNvPr id="7" name="Shape 5"/>
          <p:cNvSpPr/>
          <p:nvPr/>
        </p:nvSpPr>
        <p:spPr>
          <a:xfrm>
            <a:off x="6339840" y="1584960"/>
            <a:ext cx="4876800" cy="2621280"/>
          </a:xfrm>
          <a:prstGeom prst="roundRect">
            <a:avLst>
              <a:gd name="adj" fmla="val 5581"/>
            </a:avLst>
          </a:prstGeom>
          <a:solidFill>
            <a:srgbClr val="FFF3DC"/>
          </a:solidFill>
          <a:ln w="19050">
            <a:solidFill>
              <a:srgbClr val="F5E6C8"/>
            </a:solidFill>
            <a:prstDash val="solid"/>
          </a:ln>
        </p:spPr>
      </p:sp>
      <p:sp>
        <p:nvSpPr>
          <p:cNvPr id="8" name="Text 6"/>
          <p:cNvSpPr/>
          <p:nvPr/>
        </p:nvSpPr>
        <p:spPr>
          <a:xfrm>
            <a:off x="6522720" y="1658112"/>
            <a:ext cx="451104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6522720" y="1926336"/>
            <a:ext cx="4511040" cy="21945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flor- means..."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clue that helped me was..."</a:t>
            </a:r>
            <a:endParaRPr lang="en-US" sz="1200" dirty="0"/>
          </a:p>
        </p:txBody>
      </p:sp>
      <p:sp>
        <p:nvSpPr>
          <p:cNvPr id="10" name="Shape 8"/>
          <p:cNvSpPr/>
          <p:nvPr/>
        </p:nvSpPr>
        <p:spPr>
          <a:xfrm>
            <a:off x="609600" y="4450080"/>
            <a:ext cx="10607040" cy="1889760"/>
          </a:xfrm>
          <a:prstGeom prst="roundRect">
            <a:avLst>
              <a:gd name="adj" fmla="val 7742"/>
            </a:avLst>
          </a:prstGeom>
          <a:solidFill>
            <a:srgbClr val="F0F2F8"/>
          </a:solidFill>
          <a:ln w="19050">
            <a:solidFill>
              <a:srgbClr val="8B6FC0"/>
            </a:solidFill>
            <a:prstDash val="dash"/>
          </a:ln>
        </p:spPr>
      </p:sp>
      <p:sp>
        <p:nvSpPr>
          <p:cNvPr id="11" name="Text 9"/>
          <p:cNvSpPr/>
          <p:nvPr/>
        </p:nvSpPr>
        <p:spPr>
          <a:xfrm>
            <a:off x="914400" y="4608576"/>
            <a:ext cx="9997440" cy="103632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flor- means "flower." When Spanish explorer Juan Ponce de León first arrived in 1513, the land was full of flowers and bright spring blooms -- so he called it La Florida, meaning "the flowered place."</a:t>
            </a:r>
            <a:endParaRPr lang="en-US" sz="1250" dirty="0"/>
          </a:p>
        </p:txBody>
      </p:sp>
      <p:sp>
        <p:nvSpPr>
          <p:cNvPr id="12" name="Text 10"/>
          <p:cNvSpPr/>
          <p:nvPr/>
        </p:nvSpPr>
        <p:spPr>
          <a:xfrm>
            <a:off x="914400" y="5669280"/>
            <a:ext cx="9997440" cy="609600"/>
          </a:xfrm>
          <a:prstGeom prst="rect">
            <a:avLst/>
          </a:prstGeom>
          <a:noFill/>
          <a:ln/>
        </p:spPr>
        <p:txBody>
          <a:bodyPr wrap="square" lIns="0" tIns="0" rIns="0" bIns="0" rtlCol="0" anchor="t"/>
          <a:lstStyle/>
          <a:p>
            <a:pPr indent="0" marL="0">
              <a:buNone/>
            </a:pPr>
            <a:r>
              <a:rPr lang="en-US" sz="1150" i="1" dirty="0">
                <a:solidFill>
                  <a:srgbClr val="8B6FC0"/>
                </a:solidFill>
                <a:latin typeface="Cambria" pitchFamily="34" charset="0"/>
                <a:ea typeface="Cambria" pitchFamily="34" charset="-122"/>
                <a:cs typeface="Cambria" pitchFamily="34" charset="-120"/>
              </a:rPr>
              <a:t>Copywork: "Florida means 'land of flowers,' and our state symbols honor what grows, sings, and shines here."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CLUE BOX</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A State-Sized "We the People"</a:t>
            </a:r>
            <a:endParaRPr lang="en-US" sz="27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of a bound green-and-gold Florida Constitution book displayed open under glass in a museum case, spotlight highlighting the title page and an official state seal stamp.</a:t>
            </a:r>
            <a:endParaRPr lang="en-US" sz="1100" dirty="0"/>
          </a:p>
        </p:txBody>
      </p:sp>
      <p:sp>
        <p:nvSpPr>
          <p:cNvPr id="7" name="Text 5"/>
          <p:cNvSpPr/>
          <p:nvPr/>
        </p:nvSpPr>
        <p:spPr>
          <a:xfrm>
            <a:off x="7010400" y="1645920"/>
            <a:ext cx="4267200" cy="164592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The United States has one constitution for the whole country. This case holds something different -- Florida's own copy. Look closely. What do you think a state's own constitution might be for?</a:t>
            </a:r>
            <a:endParaRPr lang="en-US" sz="1300" dirty="0"/>
          </a:p>
        </p:txBody>
      </p:sp>
      <p:sp>
        <p:nvSpPr>
          <p:cNvPr id="8" name="Shape 6"/>
          <p:cNvSpPr/>
          <p:nvPr/>
        </p:nvSpPr>
        <p:spPr>
          <a:xfrm>
            <a:off x="7010400" y="3413760"/>
            <a:ext cx="4206240" cy="1706880"/>
          </a:xfrm>
          <a:prstGeom prst="roundRect">
            <a:avLst>
              <a:gd name="adj" fmla="val 8571"/>
            </a:avLst>
          </a:prstGeom>
          <a:solidFill>
            <a:srgbClr val="FFF3DC"/>
          </a:solidFill>
          <a:ln w="19050">
            <a:solidFill>
              <a:srgbClr val="F5E6C8"/>
            </a:solidFill>
            <a:prstDash val="solid"/>
          </a:ln>
        </p:spPr>
      </p:sp>
      <p:sp>
        <p:nvSpPr>
          <p:cNvPr id="9" name="Text 7"/>
          <p:cNvSpPr/>
          <p:nvPr/>
        </p:nvSpPr>
        <p:spPr>
          <a:xfrm>
            <a:off x="7193280" y="348691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755136"/>
            <a:ext cx="3840480" cy="1280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a state constitution might..."</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Look closely before we discuss.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COUNCIL CHAMBER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What Does a State's Own Rulebook Do?</a:t>
            </a:r>
            <a:endParaRPr lang="en-US" sz="2700" dirty="0"/>
          </a:p>
        </p:txBody>
      </p:sp>
      <p:sp>
        <p:nvSpPr>
          <p:cNvPr id="4" name="Text 2"/>
          <p:cNvSpPr/>
          <p:nvPr/>
        </p:nvSpPr>
        <p:spPr>
          <a:xfrm>
            <a:off x="609600" y="1584960"/>
            <a:ext cx="5974080" cy="390144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Florida's Constitution sets up our state's government in Tallahassee -- how laws are made, who the governor is, how courts work, and what rights Floridians have. It was rewritten in 1968, much newer than the U.S. Constitution, but it does the same job: it puts power in the hands of the people.</a:t>
            </a:r>
            <a:endParaRPr lang="en-US" sz="1250" dirty="0"/>
          </a:p>
        </p:txBody>
      </p:sp>
      <p:sp>
        <p:nvSpPr>
          <p:cNvPr id="5" name="Shape 3"/>
          <p:cNvSpPr/>
          <p:nvPr/>
        </p:nvSpPr>
        <p:spPr>
          <a:xfrm>
            <a:off x="6827520" y="1584960"/>
            <a:ext cx="4389120" cy="390144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7071360" y="1706880"/>
            <a:ext cx="390144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7071360" y="2048256"/>
            <a:ext cx="3901440" cy="33162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a state need its own constitution, on top of the U.S. Constitution?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change if Florida had no constitution of its own?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Florida's Constitution like the U.S. Constitution? How might it be different?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73152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 FOUND IT</a:t>
            </a:r>
            <a:endParaRPr lang="en-US" sz="1100" dirty="0"/>
          </a:p>
        </p:txBody>
      </p:sp>
      <p:sp>
        <p:nvSpPr>
          <p:cNvPr id="3" name="Text 1"/>
          <p:cNvSpPr/>
          <p:nvPr/>
        </p:nvSpPr>
        <p:spPr>
          <a:xfrm>
            <a:off x="609600" y="1219200"/>
            <a:ext cx="10972800" cy="853440"/>
          </a:xfrm>
          <a:prstGeom prst="rect">
            <a:avLst/>
          </a:prstGeom>
          <a:noFill/>
          <a:ln/>
        </p:spPr>
        <p:txBody>
          <a:bodyPr wrap="square" lIns="0" tIns="0" rIns="0" bIns="0"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Florida's Constitution</a:t>
            </a:r>
            <a:endParaRPr lang="en-US" sz="3400" dirty="0"/>
          </a:p>
        </p:txBody>
      </p:sp>
      <p:sp>
        <p:nvSpPr>
          <p:cNvPr id="4" name="Text 2"/>
          <p:cNvSpPr/>
          <p:nvPr/>
        </p:nvSpPr>
        <p:spPr>
          <a:xfrm>
            <a:off x="1341120" y="2255520"/>
            <a:ext cx="9144000" cy="2194560"/>
          </a:xfrm>
          <a:prstGeom prst="rect">
            <a:avLst/>
          </a:prstGeom>
          <a:noFill/>
          <a:ln/>
        </p:spPr>
        <p:txBody>
          <a:bodyPr wrap="square" lIns="0" tIns="0" rIns="0" bIns="0" rtlCol="0" anchor="t"/>
          <a:lstStyle/>
          <a:p>
            <a:pPr algn="ctr" indent="0" marL="0">
              <a:buNone/>
            </a:pPr>
            <a:r>
              <a:rPr lang="en-US" sz="1450" dirty="0">
                <a:solidFill>
                  <a:srgbClr val="FFFFFF"/>
                </a:solidFill>
                <a:latin typeface="Calibri" pitchFamily="34" charset="0"/>
                <a:ea typeface="Calibri" pitchFamily="34" charset="-122"/>
                <a:cs typeface="Calibri" pitchFamily="34" charset="-120"/>
              </a:rPr>
              <a:t>Florida's Constitution is the written rules that set up our state's government in Tallahassee. It says how laws are made, who the governor is, how courts work, and what rights Floridians have. It was rewritten in 1968 -- but it does the same job as the U.S. Constitution: it puts power in the hands of the people of Florida.</a:t>
            </a:r>
            <a:endParaRPr lang="en-US" sz="1450" dirty="0"/>
          </a:p>
        </p:txBody>
      </p:sp>
      <p:sp>
        <p:nvSpPr>
          <p:cNvPr id="5" name="Text 3"/>
          <p:cNvSpPr/>
          <p:nvPr/>
        </p:nvSpPr>
        <p:spPr>
          <a:xfrm>
            <a:off x="1341120" y="5547360"/>
            <a:ext cx="9144000" cy="48768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Cover your screen. Name one thing Florida's Constitution sets up.</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CLUE BOX</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Four More Items in the Case</a:t>
            </a:r>
            <a:endParaRPr lang="en-US" sz="27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Four-panel museum photograph: a sabal palm leaf pressed under glass, a small mockingbird statue, a single white orange blossom, and a bronze Florida state seal medallion, each under its own small spotlight.</a:t>
            </a:r>
            <a:endParaRPr lang="en-US" sz="1100" dirty="0"/>
          </a:p>
        </p:txBody>
      </p:sp>
      <p:sp>
        <p:nvSpPr>
          <p:cNvPr id="7" name="Text 5"/>
          <p:cNvSpPr/>
          <p:nvPr/>
        </p:nvSpPr>
        <p:spPr>
          <a:xfrm>
            <a:off x="7010400" y="1645920"/>
            <a:ext cx="4267200" cy="170688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A symbol is something simple -- a tree, a bird, a flower, a picture -- that stands for something bigger. Look at these four items. What might Florida be trying to say about itself with each one?</a:t>
            </a:r>
            <a:endParaRPr lang="en-US" sz="1300" dirty="0"/>
          </a:p>
        </p:txBody>
      </p:sp>
      <p:sp>
        <p:nvSpPr>
          <p:cNvPr id="8" name="Shape 6"/>
          <p:cNvSpPr/>
          <p:nvPr/>
        </p:nvSpPr>
        <p:spPr>
          <a:xfrm>
            <a:off x="7010400" y="3474720"/>
            <a:ext cx="4206240" cy="1706880"/>
          </a:xfrm>
          <a:prstGeom prst="roundRect">
            <a:avLst>
              <a:gd name="adj" fmla="val 8571"/>
            </a:avLst>
          </a:prstGeom>
          <a:solidFill>
            <a:srgbClr val="FFF3DC"/>
          </a:solidFill>
          <a:ln w="19050">
            <a:solidFill>
              <a:srgbClr val="F5E6C8"/>
            </a:solidFill>
            <a:prstDash val="solid"/>
          </a:ln>
        </p:spPr>
      </p:sp>
      <p:sp>
        <p:nvSpPr>
          <p:cNvPr id="9" name="Text 7"/>
          <p:cNvSpPr/>
          <p:nvPr/>
        </p:nvSpPr>
        <p:spPr>
          <a:xfrm>
            <a:off x="7193280" y="354787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816096"/>
            <a:ext cx="3840480" cy="1280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 ___ might stand for..."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Florida picked this because..."</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Study all four items before we discuss.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SOURCE STUDY</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The Great Seal of the State of Florida</a:t>
            </a:r>
            <a:endParaRPr lang="en-US" sz="27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The Great Seal of the State of Florida -- the round official seal showing a sabal palm tree, a rising sun, a Seminole woman scattering flowers, and a steamboat on the water. Current design adopted 1985. Save as source-3-10-04-florida-state-seal.jpg</a:t>
            </a:r>
            <a:endParaRPr lang="en-US" sz="1100" dirty="0"/>
          </a:p>
        </p:txBody>
      </p:sp>
      <p:sp>
        <p:nvSpPr>
          <p:cNvPr id="7" name="Shape 5"/>
          <p:cNvSpPr/>
          <p:nvPr/>
        </p:nvSpPr>
        <p:spPr>
          <a:xfrm>
            <a:off x="7010400" y="1645920"/>
            <a:ext cx="4206240" cy="1402080"/>
          </a:xfrm>
          <a:prstGeom prst="roundRect">
            <a:avLst>
              <a:gd name="adj" fmla="val 10435"/>
            </a:avLst>
          </a:prstGeom>
          <a:solidFill>
            <a:srgbClr val="FFF3DC"/>
          </a:solidFill>
          <a:ln w="19050">
            <a:solidFill>
              <a:srgbClr val="F5E6C8"/>
            </a:solidFill>
            <a:prstDash val="solid"/>
          </a:ln>
        </p:spPr>
      </p:sp>
      <p:sp>
        <p:nvSpPr>
          <p:cNvPr id="8" name="Text 6"/>
          <p:cNvSpPr/>
          <p:nvPr/>
        </p:nvSpPr>
        <p:spPr>
          <a:xfrm>
            <a:off x="7193280" y="171907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7193280" y="1987296"/>
            <a:ext cx="3840480" cy="975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see..."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"That tells me the seal cares about..."</a:t>
            </a:r>
            <a:endParaRPr lang="en-US" sz="1200" dirty="0"/>
          </a:p>
        </p:txBody>
      </p:sp>
      <p:sp>
        <p:nvSpPr>
          <p:cNvPr id="10" name="Shape 8"/>
          <p:cNvSpPr/>
          <p:nvPr/>
        </p:nvSpPr>
        <p:spPr>
          <a:xfrm>
            <a:off x="7010400" y="3169920"/>
            <a:ext cx="4206240" cy="2011680"/>
          </a:xfrm>
          <a:prstGeom prst="roundRect">
            <a:avLst>
              <a:gd name="adj" fmla="val 9091"/>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7254240" y="3291840"/>
            <a:ext cx="37185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7254240" y="3633216"/>
            <a:ext cx="3718560" cy="14264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I see? List the four big things inside the circle.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it mean? Land, climate, native people, water travel -- what does the whole picture say together?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it matter? Why would a state put these four things on its most official papers?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COUNCIL CHAMBER · MAKE YOUR CASE</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Sabal Palm or State Seal?</a:t>
            </a:r>
            <a:endParaRPr lang="en-US" sz="2700" dirty="0"/>
          </a:p>
        </p:txBody>
      </p:sp>
      <p:sp>
        <p:nvSpPr>
          <p:cNvPr id="4" name="Text 2"/>
          <p:cNvSpPr/>
          <p:nvPr/>
        </p:nvSpPr>
        <p:spPr>
          <a:xfrm>
            <a:off x="609600" y="1280160"/>
            <a:ext cx="10607040" cy="670560"/>
          </a:xfrm>
          <a:prstGeom prst="rect">
            <a:avLst/>
          </a:prstGeom>
          <a:noFill/>
          <a:ln/>
        </p:spPr>
        <p:txBody>
          <a:bodyPr wrap="square" lIns="0" tIns="0" rIns="0" bIns="0" rtlCol="0" anchor="ctr"/>
          <a:lstStyle/>
          <a:p>
            <a:pPr indent="0" marL="0">
              <a:buNone/>
            </a:pPr>
            <a:r>
              <a:rPr lang="en-US" sz="1250" b="1" i="1" dirty="0">
                <a:solidFill>
                  <a:srgbClr val="0E1C42"/>
                </a:solidFill>
                <a:latin typeface="Calibri" pitchFamily="34" charset="0"/>
                <a:ea typeface="Calibri" pitchFamily="34" charset="-122"/>
                <a:cs typeface="Calibri" pitchFamily="34" charset="-120"/>
              </a:rPr>
              <a:t>If Florida had to pick ONE symbol for every license plate, postcard, and welcome sign -- should it be a natural thing (the sabal palm) or a piece of history (the state seal)?</a:t>
            </a:r>
            <a:endParaRPr lang="en-US" sz="1250" dirty="0"/>
          </a:p>
        </p:txBody>
      </p:sp>
      <p:sp>
        <p:nvSpPr>
          <p:cNvPr id="5" name="Shape 3"/>
          <p:cNvSpPr/>
          <p:nvPr/>
        </p:nvSpPr>
        <p:spPr>
          <a:xfrm>
            <a:off x="609600" y="2072640"/>
            <a:ext cx="4876800" cy="1645920"/>
          </a:xfrm>
          <a:prstGeom prst="roundRect">
            <a:avLst>
              <a:gd name="adj" fmla="val 7407"/>
            </a:avLst>
          </a:prstGeom>
          <a:solidFill>
            <a:srgbClr val="E3F8ED"/>
          </a:solidFill>
          <a:ln/>
        </p:spPr>
      </p:sp>
      <p:sp>
        <p:nvSpPr>
          <p:cNvPr id="6" name="Text 4"/>
          <p:cNvSpPr/>
          <p:nvPr/>
        </p:nvSpPr>
        <p:spPr>
          <a:xfrm>
            <a:off x="792480" y="2170176"/>
            <a:ext cx="4511040" cy="365760"/>
          </a:xfrm>
          <a:prstGeom prst="rect">
            <a:avLst/>
          </a:prstGeom>
          <a:noFill/>
          <a:ln/>
        </p:spPr>
        <p:txBody>
          <a:bodyPr wrap="square" lIns="0" tIns="0" rIns="0" bIns="0" rtlCol="0" anchor="ctr"/>
          <a:lstStyle/>
          <a:p>
            <a:pPr indent="0" marL="0">
              <a:buNone/>
            </a:pPr>
            <a:r>
              <a:rPr lang="en-US" sz="1200" b="1" dirty="0">
                <a:solidFill>
                  <a:srgbClr val="1A8A7D"/>
                </a:solidFill>
                <a:latin typeface="Calibri" pitchFamily="34" charset="0"/>
                <a:ea typeface="Calibri" pitchFamily="34" charset="-122"/>
                <a:cs typeface="Calibri" pitchFamily="34" charset="-120"/>
              </a:rPr>
              <a:t>Side A: The Sabal Palm</a:t>
            </a:r>
            <a:endParaRPr lang="en-US" sz="1200" dirty="0"/>
          </a:p>
        </p:txBody>
      </p:sp>
      <p:sp>
        <p:nvSpPr>
          <p:cNvPr id="7" name="Text 5"/>
          <p:cNvSpPr/>
          <p:nvPr/>
        </p:nvSpPr>
        <p:spPr>
          <a:xfrm>
            <a:off x="792480" y="2560320"/>
            <a:ext cx="4511040" cy="1097280"/>
          </a:xfrm>
          <a:prstGeom prst="rect">
            <a:avLst/>
          </a:prstGeom>
          <a:noFill/>
          <a:ln/>
        </p:spPr>
        <p:txBody>
          <a:bodyPr wrap="square" lIns="0" tIns="0" rIns="0" bIns="0" rtlCol="0" anchor="t"/>
          <a:lstStyle/>
          <a:p>
            <a:pPr indent="0" marL="0">
              <a:buNone/>
            </a:pPr>
            <a:r>
              <a:rPr lang="en-US" sz="1050" dirty="0">
                <a:solidFill>
                  <a:srgbClr val="0E1C42"/>
                </a:solidFill>
                <a:latin typeface="Calibri" pitchFamily="34" charset="0"/>
                <a:ea typeface="Calibri" pitchFamily="34" charset="-122"/>
                <a:cs typeface="Calibri" pitchFamily="34" charset="-120"/>
              </a:rPr>
              <a:t>Real, alive, and everywhere in Florida. A kid in Pensacola and a kid in Key West both grow up near sabal palms. It tells the truth about our land -- tough, green, and salty.</a:t>
            </a:r>
            <a:endParaRPr lang="en-US" sz="1050" dirty="0"/>
          </a:p>
        </p:txBody>
      </p:sp>
      <p:sp>
        <p:nvSpPr>
          <p:cNvPr id="8" name="Shape 6"/>
          <p:cNvSpPr/>
          <p:nvPr/>
        </p:nvSpPr>
        <p:spPr>
          <a:xfrm>
            <a:off x="6339840" y="2072640"/>
            <a:ext cx="4876800" cy="1645920"/>
          </a:xfrm>
          <a:prstGeom prst="roundRect">
            <a:avLst>
              <a:gd name="adj" fmla="val 7407"/>
            </a:avLst>
          </a:prstGeom>
          <a:solidFill>
            <a:srgbClr val="EAF8FD"/>
          </a:solidFill>
          <a:ln/>
        </p:spPr>
      </p:sp>
      <p:sp>
        <p:nvSpPr>
          <p:cNvPr id="9" name="Text 7"/>
          <p:cNvSpPr/>
          <p:nvPr/>
        </p:nvSpPr>
        <p:spPr>
          <a:xfrm>
            <a:off x="6522720" y="2170176"/>
            <a:ext cx="4511040" cy="365760"/>
          </a:xfrm>
          <a:prstGeom prst="rect">
            <a:avLst/>
          </a:prstGeom>
          <a:noFill/>
          <a:ln/>
        </p:spPr>
        <p:txBody>
          <a:bodyPr wrap="square" lIns="0" tIns="0" rIns="0" bIns="0" rtlCol="0" anchor="ctr"/>
          <a:lstStyle/>
          <a:p>
            <a:pPr indent="0" marL="0">
              <a:buNone/>
            </a:pPr>
            <a:r>
              <a:rPr lang="en-US" sz="1200" b="1" dirty="0">
                <a:solidFill>
                  <a:srgbClr val="1A6B8A"/>
                </a:solidFill>
                <a:latin typeface="Calibri" pitchFamily="34" charset="0"/>
                <a:ea typeface="Calibri" pitchFamily="34" charset="-122"/>
                <a:cs typeface="Calibri" pitchFamily="34" charset="-120"/>
              </a:rPr>
              <a:t>Side B: The State Seal</a:t>
            </a:r>
            <a:endParaRPr lang="en-US" sz="1200" dirty="0"/>
          </a:p>
        </p:txBody>
      </p:sp>
      <p:sp>
        <p:nvSpPr>
          <p:cNvPr id="10" name="Text 8"/>
          <p:cNvSpPr/>
          <p:nvPr/>
        </p:nvSpPr>
        <p:spPr>
          <a:xfrm>
            <a:off x="6522720" y="2560320"/>
            <a:ext cx="4511040" cy="1097280"/>
          </a:xfrm>
          <a:prstGeom prst="rect">
            <a:avLst/>
          </a:prstGeom>
          <a:noFill/>
          <a:ln/>
        </p:spPr>
        <p:txBody>
          <a:bodyPr wrap="square" lIns="0" tIns="0" rIns="0" bIns="0" rtlCol="0" anchor="t"/>
          <a:lstStyle/>
          <a:p>
            <a:pPr indent="0" marL="0">
              <a:buNone/>
            </a:pPr>
            <a:r>
              <a:rPr lang="en-US" sz="1050" dirty="0">
                <a:solidFill>
                  <a:srgbClr val="0E1C42"/>
                </a:solidFill>
                <a:latin typeface="Calibri" pitchFamily="34" charset="0"/>
                <a:ea typeface="Calibri" pitchFamily="34" charset="-122"/>
                <a:cs typeface="Calibri" pitchFamily="34" charset="-120"/>
              </a:rPr>
              <a:t>Carries more meaning. It honors the Seminole people who lived here long before statehood, our sunshine, our sabal palm, AND our history of water travel -- all in one image.</a:t>
            </a:r>
            <a:endParaRPr lang="en-US" sz="1050" dirty="0"/>
          </a:p>
        </p:txBody>
      </p:sp>
      <p:sp>
        <p:nvSpPr>
          <p:cNvPr id="11" name="Shape 9"/>
          <p:cNvSpPr/>
          <p:nvPr/>
        </p:nvSpPr>
        <p:spPr>
          <a:xfrm>
            <a:off x="609600" y="3901440"/>
            <a:ext cx="10607040" cy="1889760"/>
          </a:xfrm>
          <a:prstGeom prst="roundRect">
            <a:avLst>
              <a:gd name="adj" fmla="val 9677"/>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853440" y="402336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853440" y="4364736"/>
            <a:ext cx="10119360" cy="130454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Honest curators admit both sides have something going for them -- what is your honest answer?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side uses more evidence from the case?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change your mind about which one to pick?</a:t>
            </a:r>
            <a:endParaRPr lang="en-US" sz="1100" dirty="0"/>
          </a:p>
        </p:txBody>
      </p:sp>
      <p:sp>
        <p:nvSpPr>
          <p:cNvPr id="14" name="Shape 12"/>
          <p:cNvSpPr/>
          <p:nvPr/>
        </p:nvSpPr>
        <p:spPr>
          <a:xfrm>
            <a:off x="609600" y="5913120"/>
            <a:ext cx="10607040" cy="609600"/>
          </a:xfrm>
          <a:prstGeom prst="roundRect">
            <a:avLst>
              <a:gd name="adj" fmla="val 24000"/>
            </a:avLst>
          </a:prstGeom>
          <a:solidFill>
            <a:srgbClr val="FFF3DC"/>
          </a:solidFill>
          <a:ln w="19050">
            <a:solidFill>
              <a:srgbClr val="F5E6C8"/>
            </a:solidFill>
            <a:prstDash val="solid"/>
          </a:ln>
        </p:spPr>
      </p:sp>
      <p:sp>
        <p:nvSpPr>
          <p:cNvPr id="15" name="Text 13"/>
          <p:cNvSpPr/>
          <p:nvPr/>
        </p:nvSpPr>
        <p:spPr>
          <a:xfrm>
            <a:off x="792480" y="598627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792480" y="6254496"/>
            <a:ext cx="10241280" cy="1828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pick Side ___ because..."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42672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 FOUND THEM</a:t>
            </a:r>
            <a:endParaRPr lang="en-US" sz="1100" dirty="0"/>
          </a:p>
        </p:txBody>
      </p:sp>
      <p:sp>
        <p:nvSpPr>
          <p:cNvPr id="3" name="Text 1"/>
          <p:cNvSpPr/>
          <p:nvPr/>
        </p:nvSpPr>
        <p:spPr>
          <a:xfrm>
            <a:off x="609600" y="829056"/>
            <a:ext cx="10972800" cy="731520"/>
          </a:xfrm>
          <a:prstGeom prst="rect">
            <a:avLst/>
          </a:prstGeom>
          <a:noFill/>
          <a:ln/>
        </p:spPr>
        <p:txBody>
          <a:bodyPr wrap="square" lIns="0" tIns="0" rIns="0" bIns="0"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Florida's Symbols</a:t>
            </a:r>
            <a:endParaRPr lang="en-US" sz="3000" dirty="0"/>
          </a:p>
        </p:txBody>
      </p:sp>
      <p:sp>
        <p:nvSpPr>
          <p:cNvPr id="4" name="Text 2"/>
          <p:cNvSpPr/>
          <p:nvPr/>
        </p:nvSpPr>
        <p:spPr>
          <a:xfrm>
            <a:off x="1097280" y="1645920"/>
            <a:ext cx="9997440" cy="121920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Sabal palm (state tree) · Mockingbird (state bird) · Orange blossom (state flower) · State seal (palm, sun, Seminole woman, steamboat) -- each one honors something real about our land, our wildlife, and our history.</a:t>
            </a:r>
            <a:endParaRPr lang="en-US" sz="1300" dirty="0"/>
          </a:p>
        </p:txBody>
      </p:sp>
      <p:sp>
        <p:nvSpPr>
          <p:cNvPr id="5" name="Shape 3"/>
          <p:cNvSpPr/>
          <p:nvPr/>
        </p:nvSpPr>
        <p:spPr>
          <a:xfrm>
            <a:off x="1097280" y="3048000"/>
            <a:ext cx="9997440" cy="2438400"/>
          </a:xfrm>
          <a:prstGeom prst="roundRect">
            <a:avLst>
              <a:gd name="adj" fmla="val 6000"/>
            </a:avLst>
          </a:prstGeom>
          <a:solidFill>
            <a:srgbClr val="1A2D5A"/>
          </a:solidFill>
          <a:ln/>
        </p:spPr>
      </p:sp>
      <p:sp>
        <p:nvSpPr>
          <p:cNvPr id="6" name="Text 4"/>
          <p:cNvSpPr/>
          <p:nvPr/>
        </p:nvSpPr>
        <p:spPr>
          <a:xfrm>
            <a:off x="1341120" y="3194304"/>
            <a:ext cx="9509760" cy="365760"/>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THEN &amp; NOW</a:t>
            </a:r>
            <a:endParaRPr lang="en-US" sz="1100" dirty="0"/>
          </a:p>
        </p:txBody>
      </p:sp>
      <p:sp>
        <p:nvSpPr>
          <p:cNvPr id="7" name="Text 5"/>
          <p:cNvSpPr/>
          <p:nvPr/>
        </p:nvSpPr>
        <p:spPr>
          <a:xfrm>
            <a:off x="1341120" y="3633216"/>
            <a:ext cx="9509760" cy="1706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Florida became a state in 1845 -- the first state seal looked totally different. The mockingbird wasn't picked as state bird until 1927. The orange blossom became state flower in 1909. State symbols can change -- a good state keeps asking honest questions about what it wants to honor.</a:t>
            </a:r>
            <a:endParaRPr lang="en-US" sz="1250" dirty="0"/>
          </a:p>
        </p:txBody>
      </p:sp>
      <p:sp>
        <p:nvSpPr>
          <p:cNvPr id="8" name="Text 6"/>
          <p:cNvSpPr/>
          <p:nvPr/>
        </p:nvSpPr>
        <p:spPr>
          <a:xfrm>
            <a:off x="1097280" y="5669280"/>
            <a:ext cx="9997440" cy="487680"/>
          </a:xfrm>
          <a:prstGeom prst="rect">
            <a:avLst/>
          </a:prstGeom>
          <a:noFill/>
          <a:ln/>
        </p:spPr>
        <p:txBody>
          <a:bodyPr wrap="square" lIns="0" tIns="0" rIns="0" bIns="0" rtlCol="0" anchor="ctr"/>
          <a:lstStyle/>
          <a:p>
            <a:pPr algn="ctr" indent="0" marL="0">
              <a:buNone/>
            </a:pPr>
            <a:r>
              <a:rPr lang="en-US" sz="1200" i="1" dirty="0">
                <a:solidFill>
                  <a:srgbClr val="EAF8FD"/>
                </a:solidFill>
                <a:latin typeface="Calibri" pitchFamily="34" charset="0"/>
                <a:ea typeface="Calibri" pitchFamily="34" charset="-122"/>
                <a:cs typeface="Calibri" pitchFamily="34" charset="-120"/>
              </a:rPr>
              <a:t>Cover your screen. Name all four Florida symbols from memory.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WHY IT MATTERS · EXHIBIT LABEL</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What Florida Chooses to Remember</a:t>
            </a:r>
            <a:endParaRPr lang="en-US" sz="2700" dirty="0"/>
          </a:p>
        </p:txBody>
      </p:sp>
      <p:sp>
        <p:nvSpPr>
          <p:cNvPr id="4" name="Shape 2"/>
          <p:cNvSpPr/>
          <p:nvPr/>
        </p:nvSpPr>
        <p:spPr>
          <a:xfrm>
            <a:off x="609600" y="1584960"/>
            <a:ext cx="10607040" cy="1584960"/>
          </a:xfrm>
          <a:prstGeom prst="roundRect">
            <a:avLst>
              <a:gd name="adj" fmla="val 9231"/>
            </a:avLst>
          </a:prstGeom>
          <a:solidFill>
            <a:srgbClr val="FFFFFF"/>
          </a:solidFill>
          <a:ln w="12700">
            <a:solidFill>
              <a:srgbClr val="7A88A8"/>
            </a:solidFill>
            <a:prstDash val="solid"/>
          </a:ln>
        </p:spPr>
      </p:sp>
      <p:sp>
        <p:nvSpPr>
          <p:cNvPr id="5" name="Text 3"/>
          <p:cNvSpPr/>
          <p:nvPr/>
        </p:nvSpPr>
        <p:spPr>
          <a:xfrm>
            <a:off x="914400" y="1731264"/>
            <a:ext cx="9997440" cy="1292352"/>
          </a:xfrm>
          <a:prstGeom prst="rect">
            <a:avLst/>
          </a:prstGeom>
          <a:noFill/>
          <a:ln/>
        </p:spPr>
        <p:txBody>
          <a:bodyPr wrap="square" lIns="0" tIns="0" rIns="0" bIns="0" rtlCol="0" anchor="ctr"/>
          <a:lstStyle/>
          <a:p>
            <a:pPr indent="0" marL="0">
              <a:buNone/>
            </a:pPr>
            <a:r>
              <a:rPr lang="en-US" sz="1350" dirty="0">
                <a:solidFill>
                  <a:srgbClr val="0E1C42"/>
                </a:solidFill>
                <a:latin typeface="Calibri" pitchFamily="34" charset="0"/>
                <a:ea typeface="Calibri" pitchFamily="34" charset="-122"/>
                <a:cs typeface="Calibri" pitchFamily="34" charset="-120"/>
              </a:rPr>
              <a:t>Florida has its own constitution for state government and a small family of symbols -- the sabal palm, the mockingbird, the orange blossom, and the state seal -- that honor our land, our wildlife, and our history.</a:t>
            </a:r>
            <a:endParaRPr lang="en-US" sz="1350" dirty="0"/>
          </a:p>
        </p:txBody>
      </p:sp>
      <p:sp>
        <p:nvSpPr>
          <p:cNvPr id="6" name="Text 4"/>
          <p:cNvSpPr/>
          <p:nvPr/>
        </p:nvSpPr>
        <p:spPr>
          <a:xfrm>
            <a:off x="609600" y="3352800"/>
            <a:ext cx="10607040" cy="103632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Opti says: Did you catch that the orange blossom is the start of an orange? Florida picked the blossom -- the little promise -- instead of the finished fruit. There's something honest about that: it says our state is always growing into what it will be next.</a:t>
            </a:r>
            <a:endParaRPr lang="en-US" sz="1200" dirty="0"/>
          </a:p>
        </p:txBody>
      </p:sp>
      <p:sp>
        <p:nvSpPr>
          <p:cNvPr id="7" name="Shape 5"/>
          <p:cNvSpPr/>
          <p:nvPr/>
        </p:nvSpPr>
        <p:spPr>
          <a:xfrm>
            <a:off x="609600" y="4511040"/>
            <a:ext cx="10607040" cy="1828800"/>
          </a:xfrm>
          <a:prstGeom prst="roundRect">
            <a:avLst>
              <a:gd name="adj" fmla="val 10000"/>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853440" y="463296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853440" y="4974336"/>
            <a:ext cx="10119360" cy="12435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Florida choose a beginning (a blossom) instead of a finished thing (an orange)?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a state's choice of symbols tell visitors about what that state values?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were an honest curator, what would you want visitors to remember about Florida?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TEACHER MODELS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Modeling a Council Chamber Recommendation</a:t>
            </a:r>
            <a:endParaRPr lang="en-US" sz="2700" dirty="0"/>
          </a:p>
        </p:txBody>
      </p:sp>
      <p:sp>
        <p:nvSpPr>
          <p:cNvPr id="4" name="Shape 2"/>
          <p:cNvSpPr/>
          <p:nvPr/>
        </p:nvSpPr>
        <p:spPr>
          <a:xfrm>
            <a:off x="609600" y="1584960"/>
            <a:ext cx="10607040" cy="3657600"/>
          </a:xfrm>
          <a:prstGeom prst="roundRect">
            <a:avLst>
              <a:gd name="adj" fmla="val 4000"/>
            </a:avLst>
          </a:prstGeom>
          <a:solidFill>
            <a:srgbClr val="EAF8FD"/>
          </a:solidFill>
          <a:ln/>
        </p:spPr>
      </p:sp>
      <p:sp>
        <p:nvSpPr>
          <p:cNvPr id="5" name="Text 3"/>
          <p:cNvSpPr/>
          <p:nvPr/>
        </p:nvSpPr>
        <p:spPr>
          <a:xfrm>
            <a:off x="914400" y="1828800"/>
            <a:ext cx="9997440" cy="365760"/>
          </a:xfrm>
          <a:prstGeom prst="rect">
            <a:avLst/>
          </a:prstGeom>
          <a:noFill/>
          <a:ln/>
        </p:spPr>
        <p:txBody>
          <a:bodyPr wrap="square" lIns="0" tIns="0" rIns="0" bIns="0" rtlCol="0" anchor="ctr"/>
          <a:lstStyle/>
          <a:p>
            <a:pPr indent="0" marL="0">
              <a:buNone/>
            </a:pPr>
            <a:r>
              <a:rPr lang="en-US" sz="1300" b="1" spc="100" kern="0" dirty="0">
                <a:solidFill>
                  <a:srgbClr val="1A8A7D"/>
                </a:solidFill>
                <a:latin typeface="Calibri" pitchFamily="34" charset="0"/>
                <a:ea typeface="Calibri" pitchFamily="34" charset="-122"/>
                <a:cs typeface="Calibri" pitchFamily="34" charset="-120"/>
              </a:rPr>
              <a:t>Think-Aloud:</a:t>
            </a:r>
            <a:endParaRPr lang="en-US" sz="1300" dirty="0"/>
          </a:p>
        </p:txBody>
      </p:sp>
      <p:sp>
        <p:nvSpPr>
          <p:cNvPr id="6" name="Text 4"/>
          <p:cNvSpPr/>
          <p:nvPr/>
        </p:nvSpPr>
        <p:spPr>
          <a:xfrm>
            <a:off x="914400" y="2316480"/>
            <a:ext cx="9997440" cy="2682240"/>
          </a:xfrm>
          <a:prstGeom prst="rect">
            <a:avLst/>
          </a:prstGeom>
          <a:noFill/>
          <a:ln/>
        </p:spPr>
        <p:txBody>
          <a:bodyPr wrap="square" lIns="0" tIns="0" rIns="0" bIns="0"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"I'll pick the sabal palm. My first reason: it's real, alive, and every single Floridian has seen one -- from Pensacola to Key West. My second reason: it tells the truth about our land without needing an explanation. My evidence: the lesson says the palm survives hurricanes, salt spray, and hot sun -- tough, green, and everywhere. That's my honest recommendation."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WE TRY TOGETHER</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Now Let's Try the State Seal Side</a:t>
            </a:r>
            <a:endParaRPr lang="en-US" sz="2700" dirty="0"/>
          </a:p>
        </p:txBody>
      </p:sp>
      <p:sp>
        <p:nvSpPr>
          <p:cNvPr id="4" name="Text 2"/>
          <p:cNvSpPr/>
          <p:nvPr/>
        </p:nvSpPr>
        <p:spPr>
          <a:xfrm>
            <a:off x="609600" y="1584960"/>
            <a:ext cx="10607040" cy="60960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As a class, build the seal argument together -- out loud, before anyone writes.</a:t>
            </a:r>
            <a:endParaRPr lang="en-US" sz="1400" dirty="0"/>
          </a:p>
        </p:txBody>
      </p:sp>
      <p:sp>
        <p:nvSpPr>
          <p:cNvPr id="5" name="Shape 3"/>
          <p:cNvSpPr/>
          <p:nvPr/>
        </p:nvSpPr>
        <p:spPr>
          <a:xfrm>
            <a:off x="609600" y="2377440"/>
            <a:ext cx="10607040" cy="2316480"/>
          </a:xfrm>
          <a:prstGeom prst="roundRect">
            <a:avLst>
              <a:gd name="adj" fmla="val 7895"/>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853440" y="249936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853440" y="2840736"/>
            <a:ext cx="10119360" cy="17312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one piece of the seal's story -- land, climate, people, or history?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that piece matter more than a single tree?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one detail from the case we could use as evidence?</a:t>
            </a:r>
            <a:endParaRPr lang="en-US" sz="1100" dirty="0"/>
          </a:p>
        </p:txBody>
      </p:sp>
      <p:sp>
        <p:nvSpPr>
          <p:cNvPr id="8" name="Shape 6"/>
          <p:cNvSpPr/>
          <p:nvPr/>
        </p:nvSpPr>
        <p:spPr>
          <a:xfrm>
            <a:off x="609600" y="4815840"/>
            <a:ext cx="10607040" cy="1524000"/>
          </a:xfrm>
          <a:prstGeom prst="roundRect">
            <a:avLst>
              <a:gd name="adj" fmla="val 9600"/>
            </a:avLst>
          </a:prstGeom>
          <a:solidFill>
            <a:srgbClr val="FFF3DC"/>
          </a:solidFill>
          <a:ln w="19050">
            <a:solidFill>
              <a:srgbClr val="F5E6C8"/>
            </a:solidFill>
            <a:prstDash val="solid"/>
          </a:ln>
        </p:spPr>
      </p:sp>
      <p:sp>
        <p:nvSpPr>
          <p:cNvPr id="9" name="Text 7"/>
          <p:cNvSpPr/>
          <p:nvPr/>
        </p:nvSpPr>
        <p:spPr>
          <a:xfrm>
            <a:off x="792480" y="488899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92480" y="5157216"/>
            <a:ext cx="1024128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I picked the seal, my first reason would be..."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evidence would be..."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E8636B"/>
                </a:solidFill>
                <a:latin typeface="Calibri" pitchFamily="34" charset="0"/>
                <a:ea typeface="Calibri" pitchFamily="34" charset="-122"/>
                <a:cs typeface="Calibri" pitchFamily="34" charset="-120"/>
              </a:rPr>
              <a:t>GUIDED PRACTICE · ERROR ANALYSIS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Find the Mistake</a:t>
            </a:r>
            <a:endParaRPr lang="en-US" sz="2700" dirty="0"/>
          </a:p>
        </p:txBody>
      </p:sp>
      <p:sp>
        <p:nvSpPr>
          <p:cNvPr id="4" name="Shape 2"/>
          <p:cNvSpPr/>
          <p:nvPr/>
        </p:nvSpPr>
        <p:spPr>
          <a:xfrm>
            <a:off x="609600" y="1584960"/>
            <a:ext cx="10607040" cy="1402080"/>
          </a:xfrm>
          <a:prstGeom prst="roundRect">
            <a:avLst>
              <a:gd name="adj" fmla="val 10435"/>
            </a:avLst>
          </a:prstGeom>
          <a:solidFill>
            <a:srgbClr val="FDEEEE"/>
          </a:solidFill>
          <a:ln w="19050">
            <a:solidFill>
              <a:srgbClr val="E8636B"/>
            </a:solidFill>
            <a:prstDash val="solid"/>
          </a:ln>
        </p:spPr>
      </p:sp>
      <p:sp>
        <p:nvSpPr>
          <p:cNvPr id="5" name="Text 3"/>
          <p:cNvSpPr/>
          <p:nvPr/>
        </p:nvSpPr>
        <p:spPr>
          <a:xfrm>
            <a:off x="914400" y="1767840"/>
            <a:ext cx="9997440" cy="1036320"/>
          </a:xfrm>
          <a:prstGeom prst="rect">
            <a:avLst/>
          </a:prstGeom>
          <a:noFill/>
          <a:ln/>
        </p:spPr>
        <p:txBody>
          <a:bodyPr wrap="square" lIns="0" tIns="0" rIns="0" bIns="0" rtlCol="0" anchor="ctr"/>
          <a:lstStyle/>
          <a:p>
            <a:pPr indent="0" marL="0">
              <a:buNone/>
            </a:pPr>
            <a:r>
              <a:rPr lang="en-US" sz="1400" i="1" dirty="0">
                <a:solidFill>
                  <a:srgbClr val="0E1C42"/>
                </a:solidFill>
                <a:latin typeface="Cambria" pitchFamily="34" charset="0"/>
                <a:ea typeface="Cambria" pitchFamily="34" charset="-122"/>
                <a:cs typeface="Cambria" pitchFamily="34" charset="-120"/>
              </a:rPr>
              <a:t>A student wrote: "Florida should use the sabal palm because it's my favorite tree."</a:t>
            </a:r>
            <a:endParaRPr lang="en-US" sz="1400" dirty="0"/>
          </a:p>
        </p:txBody>
      </p:sp>
      <p:sp>
        <p:nvSpPr>
          <p:cNvPr id="6" name="Shape 4"/>
          <p:cNvSpPr/>
          <p:nvPr/>
        </p:nvSpPr>
        <p:spPr>
          <a:xfrm>
            <a:off x="609600" y="3352800"/>
            <a:ext cx="10607040" cy="2987040"/>
          </a:xfrm>
          <a:prstGeom prst="roundRect">
            <a:avLst>
              <a:gd name="adj" fmla="val 6122"/>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347472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3816096"/>
            <a:ext cx="10119360" cy="24018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this student leave out?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"my favorite" the same as honest evidence from the lesson?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fix this sentence so it uses real evidence?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36576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CITIZENSHIP HALL · PROGRESS CHECK</a:t>
            </a:r>
            <a:endParaRPr lang="en-US" sz="1100" dirty="0"/>
          </a:p>
        </p:txBody>
      </p:sp>
      <p:sp>
        <p:nvSpPr>
          <p:cNvPr id="3" name="Text 1"/>
          <p:cNvSpPr/>
          <p:nvPr/>
        </p:nvSpPr>
        <p:spPr>
          <a:xfrm>
            <a:off x="609600" y="792480"/>
            <a:ext cx="10972800" cy="6705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Your Florida Case, Unlocked</a:t>
            </a:r>
            <a:endParaRPr lang="en-US" sz="2600" dirty="0"/>
          </a:p>
        </p:txBody>
      </p:sp>
      <p:sp>
        <p:nvSpPr>
          <p:cNvPr id="4" name="Shape 2"/>
          <p:cNvSpPr/>
          <p:nvPr/>
        </p:nvSpPr>
        <p:spPr>
          <a:xfrm>
            <a:off x="609600" y="1828800"/>
            <a:ext cx="2072640" cy="3901440"/>
          </a:xfrm>
          <a:prstGeom prst="roundRect">
            <a:avLst>
              <a:gd name="adj" fmla="val 7059"/>
            </a:avLst>
          </a:prstGeom>
          <a:solidFill>
            <a:srgbClr val="1A8A7D"/>
          </a:solidFill>
          <a:ln/>
          <a:effectLst>
            <a:outerShdw sx="100000" sy="100000" kx="0" ky="0" algn="bl" rotWithShape="0" blurRad="63500" dist="25400" dir="8100000">
              <a:srgbClr val="000000">
                <a:alpha val="15000"/>
              </a:srgbClr>
            </a:outerShdw>
          </a:effectLst>
        </p:spPr>
      </p:sp>
      <p:sp>
        <p:nvSpPr>
          <p:cNvPr id="5" name="Text 3"/>
          <p:cNvSpPr/>
          <p:nvPr/>
        </p:nvSpPr>
        <p:spPr>
          <a:xfrm>
            <a:off x="609600" y="1901952"/>
            <a:ext cx="207264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1</a:t>
            </a:r>
            <a:endParaRPr lang="en-US" sz="900" dirty="0"/>
          </a:p>
        </p:txBody>
      </p:sp>
      <p:sp>
        <p:nvSpPr>
          <p:cNvPr id="6" name="Text 4"/>
          <p:cNvSpPr/>
          <p:nvPr/>
        </p:nvSpPr>
        <p:spPr>
          <a:xfrm>
            <a:off x="609600" y="2170176"/>
            <a:ext cx="207264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Constitution</a:t>
            </a:r>
            <a:endParaRPr lang="en-US" sz="1600" dirty="0"/>
          </a:p>
        </p:txBody>
      </p:sp>
      <p:sp>
        <p:nvSpPr>
          <p:cNvPr id="7" name="Text 5"/>
          <p:cNvSpPr/>
          <p:nvPr/>
        </p:nvSpPr>
        <p:spPr>
          <a:xfrm>
            <a:off x="707136" y="2596896"/>
            <a:ext cx="1877568"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Sets up state government</a:t>
            </a:r>
            <a:endParaRPr lang="en-US" sz="900" dirty="0"/>
          </a:p>
        </p:txBody>
      </p:sp>
      <p:sp>
        <p:nvSpPr>
          <p:cNvPr id="8" name="Shape 6"/>
          <p:cNvSpPr/>
          <p:nvPr/>
        </p:nvSpPr>
        <p:spPr>
          <a:xfrm>
            <a:off x="2804160" y="1828800"/>
            <a:ext cx="2072640" cy="3901440"/>
          </a:xfrm>
          <a:prstGeom prst="roundRect">
            <a:avLst>
              <a:gd name="adj" fmla="val 7059"/>
            </a:avLst>
          </a:prstGeom>
          <a:solidFill>
            <a:srgbClr val="1A8A7D"/>
          </a:solidFill>
          <a:ln/>
          <a:effectLst>
            <a:outerShdw sx="100000" sy="100000" kx="0" ky="0" algn="bl" rotWithShape="0" blurRad="63500" dist="25400" dir="8100000">
              <a:srgbClr val="000000">
                <a:alpha val="15000"/>
              </a:srgbClr>
            </a:outerShdw>
          </a:effectLst>
        </p:spPr>
      </p:sp>
      <p:sp>
        <p:nvSpPr>
          <p:cNvPr id="9" name="Text 7"/>
          <p:cNvSpPr/>
          <p:nvPr/>
        </p:nvSpPr>
        <p:spPr>
          <a:xfrm>
            <a:off x="2804160" y="1901952"/>
            <a:ext cx="207264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2</a:t>
            </a:r>
            <a:endParaRPr lang="en-US" sz="900" dirty="0"/>
          </a:p>
        </p:txBody>
      </p:sp>
      <p:sp>
        <p:nvSpPr>
          <p:cNvPr id="10" name="Text 8"/>
          <p:cNvSpPr/>
          <p:nvPr/>
        </p:nvSpPr>
        <p:spPr>
          <a:xfrm>
            <a:off x="2804160" y="2170176"/>
            <a:ext cx="207264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Sabal Palm</a:t>
            </a:r>
            <a:endParaRPr lang="en-US" sz="1600" dirty="0"/>
          </a:p>
        </p:txBody>
      </p:sp>
      <p:sp>
        <p:nvSpPr>
          <p:cNvPr id="11" name="Text 9"/>
          <p:cNvSpPr/>
          <p:nvPr/>
        </p:nvSpPr>
        <p:spPr>
          <a:xfrm>
            <a:off x="2901696" y="2596896"/>
            <a:ext cx="1877568"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State tree -- tough &amp; green</a:t>
            </a:r>
            <a:endParaRPr lang="en-US" sz="900" dirty="0"/>
          </a:p>
        </p:txBody>
      </p:sp>
      <p:sp>
        <p:nvSpPr>
          <p:cNvPr id="12" name="Shape 10"/>
          <p:cNvSpPr/>
          <p:nvPr/>
        </p:nvSpPr>
        <p:spPr>
          <a:xfrm>
            <a:off x="4998720" y="1828800"/>
            <a:ext cx="2072640" cy="3901440"/>
          </a:xfrm>
          <a:prstGeom prst="roundRect">
            <a:avLst>
              <a:gd name="adj" fmla="val 7059"/>
            </a:avLst>
          </a:prstGeom>
          <a:solidFill>
            <a:srgbClr val="1A8A7D"/>
          </a:solidFill>
          <a:ln/>
          <a:effectLst>
            <a:outerShdw sx="100000" sy="100000" kx="0" ky="0" algn="bl" rotWithShape="0" blurRad="63500" dist="25400" dir="8100000">
              <a:srgbClr val="000000">
                <a:alpha val="15000"/>
              </a:srgbClr>
            </a:outerShdw>
          </a:effectLst>
        </p:spPr>
      </p:sp>
      <p:sp>
        <p:nvSpPr>
          <p:cNvPr id="13" name="Text 11"/>
          <p:cNvSpPr/>
          <p:nvPr/>
        </p:nvSpPr>
        <p:spPr>
          <a:xfrm>
            <a:off x="4998720" y="1901952"/>
            <a:ext cx="207264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3</a:t>
            </a:r>
            <a:endParaRPr lang="en-US" sz="900" dirty="0"/>
          </a:p>
        </p:txBody>
      </p:sp>
      <p:sp>
        <p:nvSpPr>
          <p:cNvPr id="14" name="Text 12"/>
          <p:cNvSpPr/>
          <p:nvPr/>
        </p:nvSpPr>
        <p:spPr>
          <a:xfrm>
            <a:off x="4998720" y="2170176"/>
            <a:ext cx="207264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Mockingbird</a:t>
            </a:r>
            <a:endParaRPr lang="en-US" sz="1600" dirty="0"/>
          </a:p>
        </p:txBody>
      </p:sp>
      <p:sp>
        <p:nvSpPr>
          <p:cNvPr id="15" name="Text 13"/>
          <p:cNvSpPr/>
          <p:nvPr/>
        </p:nvSpPr>
        <p:spPr>
          <a:xfrm>
            <a:off x="5096256" y="2596896"/>
            <a:ext cx="1877568"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State bird -- bold singer</a:t>
            </a:r>
            <a:endParaRPr lang="en-US" sz="900" dirty="0"/>
          </a:p>
        </p:txBody>
      </p:sp>
      <p:sp>
        <p:nvSpPr>
          <p:cNvPr id="16" name="Shape 14"/>
          <p:cNvSpPr/>
          <p:nvPr/>
        </p:nvSpPr>
        <p:spPr>
          <a:xfrm>
            <a:off x="7193280" y="1828800"/>
            <a:ext cx="2072640" cy="3901440"/>
          </a:xfrm>
          <a:prstGeom prst="roundRect">
            <a:avLst>
              <a:gd name="adj" fmla="val 7059"/>
            </a:avLst>
          </a:prstGeom>
          <a:solidFill>
            <a:srgbClr val="1A8A7D"/>
          </a:solidFill>
          <a:ln/>
          <a:effectLst>
            <a:outerShdw sx="100000" sy="100000" kx="0" ky="0" algn="bl" rotWithShape="0" blurRad="63500" dist="25400" dir="8100000">
              <a:srgbClr val="000000">
                <a:alpha val="15000"/>
              </a:srgbClr>
            </a:outerShdw>
          </a:effectLst>
        </p:spPr>
      </p:sp>
      <p:sp>
        <p:nvSpPr>
          <p:cNvPr id="17" name="Text 15"/>
          <p:cNvSpPr/>
          <p:nvPr/>
        </p:nvSpPr>
        <p:spPr>
          <a:xfrm>
            <a:off x="7193280" y="1901952"/>
            <a:ext cx="207264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4</a:t>
            </a:r>
            <a:endParaRPr lang="en-US" sz="900" dirty="0"/>
          </a:p>
        </p:txBody>
      </p:sp>
      <p:sp>
        <p:nvSpPr>
          <p:cNvPr id="18" name="Text 16"/>
          <p:cNvSpPr/>
          <p:nvPr/>
        </p:nvSpPr>
        <p:spPr>
          <a:xfrm>
            <a:off x="7193280" y="2170176"/>
            <a:ext cx="207264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Orange Blossom</a:t>
            </a:r>
            <a:endParaRPr lang="en-US" sz="1600" dirty="0"/>
          </a:p>
        </p:txBody>
      </p:sp>
      <p:sp>
        <p:nvSpPr>
          <p:cNvPr id="19" name="Text 17"/>
          <p:cNvSpPr/>
          <p:nvPr/>
        </p:nvSpPr>
        <p:spPr>
          <a:xfrm>
            <a:off x="7290816" y="2596896"/>
            <a:ext cx="1877568"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State flower -- the start of an orange</a:t>
            </a:r>
            <a:endParaRPr lang="en-US" sz="900" dirty="0"/>
          </a:p>
        </p:txBody>
      </p:sp>
      <p:sp>
        <p:nvSpPr>
          <p:cNvPr id="20" name="Shape 18"/>
          <p:cNvSpPr/>
          <p:nvPr/>
        </p:nvSpPr>
        <p:spPr>
          <a:xfrm>
            <a:off x="9387840" y="1828800"/>
            <a:ext cx="2072640" cy="3901440"/>
          </a:xfrm>
          <a:prstGeom prst="roundRect">
            <a:avLst>
              <a:gd name="adj" fmla="val 7059"/>
            </a:avLst>
          </a:prstGeom>
          <a:solidFill>
            <a:srgbClr val="1A8A7D"/>
          </a:solidFill>
          <a:ln/>
          <a:effectLst>
            <a:outerShdw sx="100000" sy="100000" kx="0" ky="0" algn="bl" rotWithShape="0" blurRad="63500" dist="25400" dir="8100000">
              <a:srgbClr val="000000">
                <a:alpha val="15000"/>
              </a:srgbClr>
            </a:outerShdw>
          </a:effectLst>
        </p:spPr>
      </p:sp>
      <p:sp>
        <p:nvSpPr>
          <p:cNvPr id="21" name="Text 19"/>
          <p:cNvSpPr/>
          <p:nvPr/>
        </p:nvSpPr>
        <p:spPr>
          <a:xfrm>
            <a:off x="9387840" y="1901952"/>
            <a:ext cx="207264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5</a:t>
            </a:r>
            <a:endParaRPr lang="en-US" sz="900" dirty="0"/>
          </a:p>
        </p:txBody>
      </p:sp>
      <p:sp>
        <p:nvSpPr>
          <p:cNvPr id="22" name="Text 20"/>
          <p:cNvSpPr/>
          <p:nvPr/>
        </p:nvSpPr>
        <p:spPr>
          <a:xfrm>
            <a:off x="9387840" y="2170176"/>
            <a:ext cx="207264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State Seal</a:t>
            </a:r>
            <a:endParaRPr lang="en-US" sz="1600" dirty="0"/>
          </a:p>
        </p:txBody>
      </p:sp>
      <p:sp>
        <p:nvSpPr>
          <p:cNvPr id="23" name="Text 21"/>
          <p:cNvSpPr/>
          <p:nvPr/>
        </p:nvSpPr>
        <p:spPr>
          <a:xfrm>
            <a:off x="9485376" y="2596896"/>
            <a:ext cx="1877568"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Palm, sun, Seminole woman, steamboat</a:t>
            </a:r>
            <a:endParaRPr lang="en-US" sz="900" dirty="0"/>
          </a:p>
        </p:txBody>
      </p:sp>
      <p:sp>
        <p:nvSpPr>
          <p:cNvPr id="24" name="Text 22"/>
          <p:cNvSpPr/>
          <p:nvPr/>
        </p:nvSpPr>
        <p:spPr>
          <a:xfrm>
            <a:off x="609600" y="6035040"/>
            <a:ext cx="10972800" cy="48768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Five pieces of the Florida case -- now it's time to make your honest recommendation.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QUICK SELF-CHECK · NOT GRADED</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Check Your Understanding</a:t>
            </a:r>
            <a:endParaRPr lang="en-US" sz="2700" dirty="0"/>
          </a:p>
        </p:txBody>
      </p:sp>
      <p:sp>
        <p:nvSpPr>
          <p:cNvPr id="4" name="Shape 2"/>
          <p:cNvSpPr/>
          <p:nvPr/>
        </p:nvSpPr>
        <p:spPr>
          <a:xfrm>
            <a:off x="609600" y="1584960"/>
            <a:ext cx="10607040" cy="1560576"/>
          </a:xfrm>
          <a:prstGeom prst="roundRect">
            <a:avLst>
              <a:gd name="adj" fmla="val 7813"/>
            </a:avLst>
          </a:prstGeom>
          <a:solidFill>
            <a:srgbClr val="E3F8ED"/>
          </a:solidFill>
          <a:ln/>
        </p:spPr>
      </p:sp>
      <p:sp>
        <p:nvSpPr>
          <p:cNvPr id="5" name="Text 3"/>
          <p:cNvSpPr/>
          <p:nvPr/>
        </p:nvSpPr>
        <p:spPr>
          <a:xfrm>
            <a:off x="853440" y="1682496"/>
            <a:ext cx="1011936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1. What does the word Florida actually mean?</a:t>
            </a:r>
            <a:endParaRPr lang="en-US" sz="1300" dirty="0"/>
          </a:p>
        </p:txBody>
      </p:sp>
      <p:sp>
        <p:nvSpPr>
          <p:cNvPr id="6" name="Text 4"/>
          <p:cNvSpPr/>
          <p:nvPr/>
        </p:nvSpPr>
        <p:spPr>
          <a:xfrm>
            <a:off x="853440" y="2194560"/>
            <a:ext cx="10119360" cy="42672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C) "The flowered place" -- land of flowers.</a:t>
            </a:r>
            <a:endParaRPr lang="en-US" sz="1250" dirty="0"/>
          </a:p>
        </p:txBody>
      </p:sp>
      <p:sp>
        <p:nvSpPr>
          <p:cNvPr id="7" name="Text 5"/>
          <p:cNvSpPr/>
          <p:nvPr/>
        </p:nvSpPr>
        <p:spPr>
          <a:xfrm>
            <a:off x="853440" y="2645664"/>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From the Latin root flor-, meaning flower. Juan Ponce de León gave it that name in 1513.</a:t>
            </a:r>
            <a:endParaRPr lang="en-US" sz="1100" dirty="0"/>
          </a:p>
        </p:txBody>
      </p:sp>
      <p:sp>
        <p:nvSpPr>
          <p:cNvPr id="8" name="Shape 6"/>
          <p:cNvSpPr/>
          <p:nvPr/>
        </p:nvSpPr>
        <p:spPr>
          <a:xfrm>
            <a:off x="609600" y="3267456"/>
            <a:ext cx="10607040" cy="1560576"/>
          </a:xfrm>
          <a:prstGeom prst="roundRect">
            <a:avLst>
              <a:gd name="adj" fmla="val 7813"/>
            </a:avLst>
          </a:prstGeom>
          <a:solidFill>
            <a:srgbClr val="E3F8ED"/>
          </a:solidFill>
          <a:ln/>
        </p:spPr>
      </p:sp>
      <p:sp>
        <p:nvSpPr>
          <p:cNvPr id="9" name="Text 7"/>
          <p:cNvSpPr/>
          <p:nvPr/>
        </p:nvSpPr>
        <p:spPr>
          <a:xfrm>
            <a:off x="853440" y="3364992"/>
            <a:ext cx="1011936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What is the Florida Constitution?</a:t>
            </a:r>
            <a:endParaRPr lang="en-US" sz="1300" dirty="0"/>
          </a:p>
        </p:txBody>
      </p:sp>
      <p:sp>
        <p:nvSpPr>
          <p:cNvPr id="10" name="Text 8"/>
          <p:cNvSpPr/>
          <p:nvPr/>
        </p:nvSpPr>
        <p:spPr>
          <a:xfrm>
            <a:off x="853440" y="3877056"/>
            <a:ext cx="10119360" cy="42672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A) The written rules that set up Florida's state government.</a:t>
            </a:r>
            <a:endParaRPr lang="en-US" sz="1250" dirty="0"/>
          </a:p>
        </p:txBody>
      </p:sp>
      <p:sp>
        <p:nvSpPr>
          <p:cNvPr id="11" name="Text 9"/>
          <p:cNvSpPr/>
          <p:nvPr/>
        </p:nvSpPr>
        <p:spPr>
          <a:xfrm>
            <a:off x="853440" y="4328160"/>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Just like the U.S. Constitution, but for Florida -- it sets up the state's government.</a:t>
            </a:r>
            <a:endParaRPr lang="en-US" sz="1100" dirty="0"/>
          </a:p>
        </p:txBody>
      </p:sp>
      <p:sp>
        <p:nvSpPr>
          <p:cNvPr id="12" name="Shape 10"/>
          <p:cNvSpPr/>
          <p:nvPr/>
        </p:nvSpPr>
        <p:spPr>
          <a:xfrm>
            <a:off x="609600" y="4949952"/>
            <a:ext cx="10607040" cy="1560576"/>
          </a:xfrm>
          <a:prstGeom prst="roundRect">
            <a:avLst>
              <a:gd name="adj" fmla="val 7813"/>
            </a:avLst>
          </a:prstGeom>
          <a:solidFill>
            <a:srgbClr val="E3F8ED"/>
          </a:solidFill>
          <a:ln/>
        </p:spPr>
      </p:sp>
      <p:sp>
        <p:nvSpPr>
          <p:cNvPr id="13" name="Text 11"/>
          <p:cNvSpPr/>
          <p:nvPr/>
        </p:nvSpPr>
        <p:spPr>
          <a:xfrm>
            <a:off x="853440" y="5047488"/>
            <a:ext cx="1011936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Which four things appear together on the Great Seal of Florida?</a:t>
            </a:r>
            <a:endParaRPr lang="en-US" sz="1300" dirty="0"/>
          </a:p>
        </p:txBody>
      </p:sp>
      <p:sp>
        <p:nvSpPr>
          <p:cNvPr id="14" name="Text 12"/>
          <p:cNvSpPr/>
          <p:nvPr/>
        </p:nvSpPr>
        <p:spPr>
          <a:xfrm>
            <a:off x="853440" y="5559552"/>
            <a:ext cx="10119360" cy="42672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B) Sabal palm, sunshine, Seminole woman, and steamboat.</a:t>
            </a:r>
            <a:endParaRPr lang="en-US" sz="1250" dirty="0"/>
          </a:p>
        </p:txBody>
      </p:sp>
      <p:sp>
        <p:nvSpPr>
          <p:cNvPr id="15" name="Text 13"/>
          <p:cNvSpPr/>
          <p:nvPr/>
        </p:nvSpPr>
        <p:spPr>
          <a:xfrm>
            <a:off x="853440" y="6010656"/>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Land (palm), climate (sun), people (Seminole woman), and history (steamboat).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EVIDENCE &amp; ASSIGNMENT · WHAT YOU'LL TURN IN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Evidence Questions</a:t>
            </a:r>
            <a:endParaRPr lang="en-US" sz="2700" dirty="0"/>
          </a:p>
        </p:txBody>
      </p:sp>
      <p:sp>
        <p:nvSpPr>
          <p:cNvPr id="4" name="Text 2"/>
          <p:cNvSpPr/>
          <p:nvPr/>
        </p:nvSpPr>
        <p:spPr>
          <a:xfrm>
            <a:off x="609600" y="1584960"/>
            <a:ext cx="10607040" cy="4389120"/>
          </a:xfrm>
          <a:prstGeom prst="rect">
            <a:avLst/>
          </a:prstGeom>
          <a:noFill/>
          <a:ln/>
        </p:spPr>
        <p:txBody>
          <a:bodyPr wrap="square" lIns="0" tIns="0" rIns="0" bIns="0" rtlCol="0" anchor="t"/>
          <a:lstStyle/>
          <a:p>
            <a:pPr indent="0" marL="0">
              <a:spcAft>
                <a:spcPts val="1400"/>
              </a:spcAft>
              <a:buNone/>
            </a:pPr>
            <a:r>
              <a:rPr lang="en-US" sz="1350" dirty="0">
                <a:solidFill>
                  <a:srgbClr val="0E1C42"/>
                </a:solidFill>
                <a:latin typeface="Calibri" pitchFamily="34" charset="0"/>
                <a:ea typeface="Calibri" pitchFamily="34" charset="-122"/>
                <a:cs typeface="Calibri" pitchFamily="34" charset="-120"/>
              </a:rPr>
              <a:t>1. What does Florida mean, and who gave the state that name? Use the meaning of the word AND name the explorer.</a:t>
            </a:r>
            <a:endParaRPr lang="en-US" sz="1350" dirty="0"/>
          </a:p>
          <a:p>
            <a:pPr indent="0" marL="0">
              <a:spcAft>
                <a:spcPts val="1400"/>
              </a:spcAft>
              <a:buNone/>
            </a:pPr>
            <a:r>
              <a:rPr lang="en-US" sz="1350" dirty="0">
                <a:solidFill>
                  <a:srgbClr val="0E1C42"/>
                </a:solidFill>
                <a:latin typeface="Calibri" pitchFamily="34" charset="0"/>
                <a:ea typeface="Calibri" pitchFamily="34" charset="-122"/>
                <a:cs typeface="Calibri" pitchFamily="34" charset="-120"/>
              </a:rPr>
              <a:t>2. What is the Florida Constitution, and how is it like the U.S. Constitution? Name one thing the Florida Constitution does. Then name one way it is similar to the U.S. Constitution.</a:t>
            </a:r>
            <a:endParaRPr lang="en-US" sz="1350" dirty="0"/>
          </a:p>
          <a:p>
            <a:pPr indent="0" marL="0">
              <a:spcAft>
                <a:spcPts val="1400"/>
              </a:spcAft>
              <a:buNone/>
            </a:pPr>
            <a:r>
              <a:rPr lang="en-US" sz="1350" dirty="0">
                <a:solidFill>
                  <a:srgbClr val="0E1C42"/>
                </a:solidFill>
                <a:latin typeface="Calibri" pitchFamily="34" charset="0"/>
                <a:ea typeface="Calibri" pitchFamily="34" charset="-122"/>
                <a:cs typeface="Calibri" pitchFamily="34" charset="-120"/>
              </a:rPr>
              <a:t>3. Pick one Florida symbol from the case -- sabal palm, mockingbird, orange blossom, or the state seal -- and explain what it stands for and why Florida chose it. Name the symbol, say what it stands for, say why Florida picked it.</a:t>
            </a:r>
            <a:endParaRPr lang="en-US" sz="1350" dirty="0"/>
          </a:p>
        </p:txBody>
      </p:sp>
      <p:sp>
        <p:nvSpPr>
          <p:cNvPr id="5" name="Text 3"/>
          <p:cNvSpPr/>
          <p:nvPr/>
        </p:nvSpPr>
        <p:spPr>
          <a:xfrm>
            <a:off x="609600" y="6156960"/>
            <a:ext cx="10607040" cy="3657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Answer using details from the lesson.</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EVIDENCE &amp; ASSIGNMENT · CURATOR TASK</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Council Chamber Recommendation</a:t>
            </a:r>
            <a:endParaRPr lang="en-US" sz="2700" dirty="0"/>
          </a:p>
        </p:txBody>
      </p:sp>
      <p:sp>
        <p:nvSpPr>
          <p:cNvPr id="4" name="Text 2"/>
          <p:cNvSpPr/>
          <p:nvPr/>
        </p:nvSpPr>
        <p:spPr>
          <a:xfrm>
            <a:off x="609600" y="1524000"/>
            <a:ext cx="10607040" cy="487680"/>
          </a:xfrm>
          <a:prstGeom prst="rect">
            <a:avLst/>
          </a:prstGeom>
          <a:noFill/>
          <a:ln/>
        </p:spPr>
        <p:txBody>
          <a:bodyPr wrap="square" lIns="0" tIns="0" rIns="0" bIns="0" rtlCol="0" anchor="ctr"/>
          <a:lstStyle/>
          <a:p>
            <a:pPr indent="0" marL="0">
              <a:buNone/>
            </a:pPr>
            <a:r>
              <a:rPr lang="en-US" sz="1400" b="1" dirty="0">
                <a:solidFill>
                  <a:srgbClr val="1A8A7D"/>
                </a:solidFill>
                <a:latin typeface="Calibri" pitchFamily="34" charset="0"/>
                <a:ea typeface="Calibri" pitchFamily="34" charset="-122"/>
                <a:cs typeface="Calibri" pitchFamily="34" charset="-120"/>
              </a:rPr>
              <a:t>Pick the best symbol for Florida. Defend it honestly.</a:t>
            </a:r>
            <a:endParaRPr lang="en-US" sz="1400" dirty="0"/>
          </a:p>
        </p:txBody>
      </p:sp>
      <p:sp>
        <p:nvSpPr>
          <p:cNvPr id="5" name="Text 3"/>
          <p:cNvSpPr/>
          <p:nvPr/>
        </p:nvSpPr>
        <p:spPr>
          <a:xfrm>
            <a:off x="609600" y="2072640"/>
            <a:ext cx="10607040" cy="134112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You're back in the Council Chamber. The question on the wall: "If Florida had to pick one symbol to put on every license plate, every postcard, and every welcome sign -- should it be the sabal palm or the state seal?"</a:t>
            </a:r>
            <a:endParaRPr lang="en-US" sz="1300" dirty="0"/>
          </a:p>
        </p:txBody>
      </p:sp>
      <p:sp>
        <p:nvSpPr>
          <p:cNvPr id="6" name="Shape 4"/>
          <p:cNvSpPr/>
          <p:nvPr/>
        </p:nvSpPr>
        <p:spPr>
          <a:xfrm>
            <a:off x="609600" y="3535680"/>
            <a:ext cx="10607040" cy="2804160"/>
          </a:xfrm>
          <a:prstGeom prst="roundRect">
            <a:avLst>
              <a:gd name="adj" fmla="val 5217"/>
            </a:avLst>
          </a:prstGeom>
          <a:solidFill>
            <a:srgbClr val="FFF3DC"/>
          </a:solidFill>
          <a:ln/>
        </p:spPr>
      </p:sp>
      <p:sp>
        <p:nvSpPr>
          <p:cNvPr id="7" name="Text 5"/>
          <p:cNvSpPr/>
          <p:nvPr/>
        </p:nvSpPr>
        <p:spPr>
          <a:xfrm>
            <a:off x="914400" y="3718560"/>
            <a:ext cx="9997440" cy="170688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Write your recommendation in 3-5 sentences. Start by naming your choice. Then give two reasons, and use at least one piece of evidence from today's lesson -- a detail about the palm, a piece of the seal, or something the case told you about Florida.</a:t>
            </a:r>
            <a:endParaRPr lang="en-US" sz="1300" dirty="0"/>
          </a:p>
        </p:txBody>
      </p:sp>
      <p:sp>
        <p:nvSpPr>
          <p:cNvPr id="8" name="Text 6"/>
          <p:cNvSpPr/>
          <p:nvPr/>
        </p:nvSpPr>
        <p:spPr>
          <a:xfrm>
            <a:off x="914400" y="5486400"/>
            <a:ext cx="9997440" cy="670560"/>
          </a:xfrm>
          <a:prstGeom prst="rect">
            <a:avLst/>
          </a:prstGeom>
          <a:noFill/>
          <a:ln/>
        </p:spPr>
        <p:txBody>
          <a:bodyPr wrap="square" lIns="0" tIns="0" rIns="0" bIns="0" rtlCol="0" anchor="t"/>
          <a:lstStyle/>
          <a:p>
            <a:pPr indent="0" marL="0">
              <a:buNone/>
            </a:pPr>
            <a:r>
              <a:rPr lang="en-US" sz="1200" b="1" i="1" dirty="0">
                <a:solidFill>
                  <a:srgbClr val="D4943A"/>
                </a:solidFill>
                <a:latin typeface="Calibri" pitchFamily="34" charset="0"/>
                <a:ea typeface="Calibri" pitchFamily="34" charset="-122"/>
                <a:cs typeface="Calibri" pitchFamily="34" charset="-120"/>
              </a:rPr>
              <a:t>3-5 sentences. Choose a side -&gt; give 2 reasons -&gt; use 1 piece of evidence.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CURATOR'S CHRONICLE · ONE SENTENCE</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One Sentence to Capture Today's Work</a:t>
            </a:r>
            <a:endParaRPr lang="en-US" sz="2700" dirty="0"/>
          </a:p>
        </p:txBody>
      </p:sp>
      <p:sp>
        <p:nvSpPr>
          <p:cNvPr id="4" name="Shape 2"/>
          <p:cNvSpPr/>
          <p:nvPr/>
        </p:nvSpPr>
        <p:spPr>
          <a:xfrm>
            <a:off x="1097280" y="1584960"/>
            <a:ext cx="9631680" cy="1889760"/>
          </a:xfrm>
          <a:prstGeom prst="roundRect">
            <a:avLst>
              <a:gd name="adj" fmla="val 9677"/>
            </a:avLst>
          </a:prstGeom>
          <a:solidFill>
            <a:srgbClr val="FFFFFF"/>
          </a:solidFill>
          <a:ln w="19050">
            <a:solidFill>
              <a:srgbClr val="D4943A"/>
            </a:solidFill>
            <a:prstDash val="dash"/>
          </a:ln>
        </p:spPr>
      </p:sp>
      <p:sp>
        <p:nvSpPr>
          <p:cNvPr id="5" name="Text 3"/>
          <p:cNvSpPr/>
          <p:nvPr/>
        </p:nvSpPr>
        <p:spPr>
          <a:xfrm>
            <a:off x="1463040" y="1584960"/>
            <a:ext cx="8900160" cy="1889760"/>
          </a:xfrm>
          <a:prstGeom prst="rect">
            <a:avLst/>
          </a:prstGeom>
          <a:noFill/>
          <a:ln/>
        </p:spPr>
        <p:txBody>
          <a:bodyPr wrap="square" lIns="0" tIns="0" rIns="0" bIns="0" rtlCol="0" anchor="ctr"/>
          <a:lstStyle/>
          <a:p>
            <a:pPr algn="ctr" indent="0" marL="0">
              <a:buNone/>
            </a:pPr>
            <a:r>
              <a:rPr lang="en-US" sz="1900" i="1" dirty="0">
                <a:solidFill>
                  <a:srgbClr val="0E1C42"/>
                </a:solidFill>
                <a:latin typeface="Cambria" pitchFamily="34" charset="0"/>
                <a:ea typeface="Cambria" pitchFamily="34" charset="-122"/>
                <a:cs typeface="Cambria" pitchFamily="34" charset="-120"/>
              </a:rPr>
              <a:t>In this exhibit, I learned that ______ because ______.</a:t>
            </a:r>
            <a:endParaRPr lang="en-US" sz="1900" dirty="0"/>
          </a:p>
        </p:txBody>
      </p:sp>
      <p:sp>
        <p:nvSpPr>
          <p:cNvPr id="6" name="Shape 4"/>
          <p:cNvSpPr/>
          <p:nvPr/>
        </p:nvSpPr>
        <p:spPr>
          <a:xfrm>
            <a:off x="1097280" y="3718560"/>
            <a:ext cx="9631680" cy="1036320"/>
          </a:xfrm>
          <a:prstGeom prst="roundRect">
            <a:avLst>
              <a:gd name="adj" fmla="val 14118"/>
            </a:avLst>
          </a:prstGeom>
          <a:solidFill>
            <a:srgbClr val="FFF3DC"/>
          </a:solidFill>
          <a:ln w="19050">
            <a:solidFill>
              <a:srgbClr val="F5E6C8"/>
            </a:solidFill>
            <a:prstDash val="solid"/>
          </a:ln>
        </p:spPr>
      </p:sp>
      <p:sp>
        <p:nvSpPr>
          <p:cNvPr id="7" name="Text 5"/>
          <p:cNvSpPr/>
          <p:nvPr/>
        </p:nvSpPr>
        <p:spPr>
          <a:xfrm>
            <a:off x="1280160" y="3791712"/>
            <a:ext cx="92659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8" name="Text 6"/>
          <p:cNvSpPr/>
          <p:nvPr/>
        </p:nvSpPr>
        <p:spPr>
          <a:xfrm>
            <a:off x="1280160" y="4059936"/>
            <a:ext cx="9265920" cy="6096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"In this exhibit, I learned that... because..."</a:t>
            </a:r>
            <a:endParaRPr lang="en-US" sz="1200" dirty="0"/>
          </a:p>
        </p:txBody>
      </p:sp>
      <p:sp>
        <p:nvSpPr>
          <p:cNvPr id="9" name="Text 7"/>
          <p:cNvSpPr/>
          <p:nvPr/>
        </p:nvSpPr>
        <p:spPr>
          <a:xfrm>
            <a:off x="1097280" y="4937760"/>
            <a:ext cx="963168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Turn-In Checklist:</a:t>
            </a:r>
            <a:endParaRPr lang="en-US" sz="1200" dirty="0"/>
          </a:p>
        </p:txBody>
      </p:sp>
      <p:sp>
        <p:nvSpPr>
          <p:cNvPr id="10" name="Text 8"/>
          <p:cNvSpPr/>
          <p:nvPr/>
        </p:nvSpPr>
        <p:spPr>
          <a:xfrm>
            <a:off x="1341120" y="5303520"/>
            <a:ext cx="9265920" cy="12192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0E1C42"/>
                </a:solidFill>
                <a:latin typeface="Calibri" pitchFamily="34" charset="0"/>
                <a:ea typeface="Calibri" pitchFamily="34" charset="-122"/>
                <a:cs typeface="Calibri" pitchFamily="34" charset="-120"/>
              </a:rPr>
              <a:t>I answered all three evidence questions.</a:t>
            </a:r>
            <a:endParaRPr lang="en-US" sz="1050" dirty="0"/>
          </a:p>
          <a:p>
            <a:pPr marL="342900" indent="-342900">
              <a:spcAft>
                <a:spcPts val="400"/>
              </a:spcAft>
              <a:buSzPct val="100000"/>
              <a:buChar char="•"/>
            </a:pPr>
            <a:r>
              <a:rPr lang="en-US" sz="1050" dirty="0">
                <a:solidFill>
                  <a:srgbClr val="0E1C42"/>
                </a:solidFill>
                <a:latin typeface="Calibri" pitchFamily="34" charset="0"/>
                <a:ea typeface="Calibri" pitchFamily="34" charset="-122"/>
                <a:cs typeface="Calibri" pitchFamily="34" charset="-120"/>
              </a:rPr>
              <a:t>I wrote my Council Chamber recommendation with 2 reasons and 1 piece of evidence.</a:t>
            </a:r>
            <a:endParaRPr lang="en-US" sz="1050" dirty="0"/>
          </a:p>
          <a:p>
            <a:pPr marL="342900" indent="-342900">
              <a:spcAft>
                <a:spcPts val="400"/>
              </a:spcAft>
              <a:buSzPct val="100000"/>
              <a:buChar char="•"/>
            </a:pPr>
            <a:r>
              <a:rPr lang="en-US" sz="1050" dirty="0">
                <a:solidFill>
                  <a:srgbClr val="0E1C42"/>
                </a:solidFill>
                <a:latin typeface="Calibri" pitchFamily="34" charset="0"/>
                <a:ea typeface="Calibri" pitchFamily="34" charset="-122"/>
                <a:cs typeface="Calibri" pitchFamily="34" charset="-120"/>
              </a:rPr>
              <a:t>I wrote my Curator's Chronicle.</a:t>
            </a:r>
            <a:endParaRPr lang="en-US" sz="1050" dirty="0"/>
          </a:p>
          <a:p>
            <a:pPr marL="342900" indent="-342900">
              <a:spcAft>
                <a:spcPts val="400"/>
              </a:spcAft>
              <a:buSzPct val="100000"/>
              <a:buChar char="•"/>
            </a:pPr>
            <a:r>
              <a:rPr lang="en-US" sz="1050" dirty="0">
                <a:solidFill>
                  <a:srgbClr val="0E1C42"/>
                </a:solidFill>
                <a:latin typeface="Calibri" pitchFamily="34" charset="0"/>
                <a:ea typeface="Calibri" pitchFamily="34" charset="-122"/>
                <a:cs typeface="Calibri" pitchFamily="34" charset="-120"/>
              </a:rPr>
              <a:t>I copied or downloaded my work and submitted to Canvas.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731520"/>
            <a:ext cx="9753600" cy="36576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CLOSING · WRAP-UP</a:t>
            </a:r>
            <a:endParaRPr lang="en-US" sz="1200" dirty="0"/>
          </a:p>
        </p:txBody>
      </p:sp>
      <p:sp>
        <p:nvSpPr>
          <p:cNvPr id="6" name="Text 3"/>
          <p:cNvSpPr/>
          <p:nvPr/>
        </p:nvSpPr>
        <p:spPr>
          <a:xfrm>
            <a:off x="975360" y="1158240"/>
            <a:ext cx="9753600" cy="853440"/>
          </a:xfrm>
          <a:prstGeom prst="rect">
            <a:avLst/>
          </a:prstGeom>
          <a:noFill/>
          <a:ln/>
        </p:spPr>
        <p:txBody>
          <a:bodyPr wrap="square" lIns="0" tIns="0" rIns="0" bIns="0"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The Florida Case Is Open</a:t>
            </a:r>
            <a:endParaRPr lang="en-US" sz="3000" dirty="0"/>
          </a:p>
        </p:txBody>
      </p:sp>
      <p:sp>
        <p:nvSpPr>
          <p:cNvPr id="7" name="Text 4"/>
          <p:cNvSpPr/>
          <p:nvPr/>
        </p:nvSpPr>
        <p:spPr>
          <a:xfrm>
            <a:off x="1219200" y="2255520"/>
            <a:ext cx="9387840" cy="1341120"/>
          </a:xfrm>
          <a:prstGeom prst="rect">
            <a:avLst/>
          </a:prstGeom>
          <a:noFill/>
          <a:ln/>
        </p:spPr>
        <p:txBody>
          <a:bodyPr wrap="square" lIns="0" tIns="0" rIns="0" bIns="0" rtlCol="0" anchor="t"/>
          <a:lstStyle/>
          <a:p>
            <a:pPr algn="ctr" indent="0" marL="0">
              <a:buNone/>
            </a:pPr>
            <a:r>
              <a:rPr lang="en-US" sz="1350" dirty="0">
                <a:solidFill>
                  <a:srgbClr val="FFFFFF"/>
                </a:solidFill>
                <a:latin typeface="Calibri" pitchFamily="34" charset="0"/>
                <a:ea typeface="Calibri" pitchFamily="34" charset="-122"/>
                <a:cs typeface="Calibri" pitchFamily="34" charset="-120"/>
              </a:rPr>
              <a:t>You opened the Florida case, met our state's constitution and symbols, and made an honest recommendation about what best represents Florida. Florida has its own constitution and a family of symbols that honor land, wildlife, and history.</a:t>
            </a:r>
            <a:endParaRPr lang="en-US" sz="1350" dirty="0"/>
          </a:p>
        </p:txBody>
      </p:sp>
      <p:sp>
        <p:nvSpPr>
          <p:cNvPr id="8" name="Shape 5"/>
          <p:cNvSpPr/>
          <p:nvPr/>
        </p:nvSpPr>
        <p:spPr>
          <a:xfrm>
            <a:off x="1463040" y="3718560"/>
            <a:ext cx="8900160" cy="2072640"/>
          </a:xfrm>
          <a:prstGeom prst="roundRect">
            <a:avLst>
              <a:gd name="adj" fmla="val 7059"/>
            </a:avLst>
          </a:prstGeom>
          <a:solidFill>
            <a:srgbClr val="0E1C42"/>
          </a:solidFill>
          <a:ln w="19050">
            <a:solidFill>
              <a:srgbClr val="1A8A7D"/>
            </a:solidFill>
            <a:prstDash val="solid"/>
          </a:ln>
        </p:spPr>
      </p:sp>
      <p:sp>
        <p:nvSpPr>
          <p:cNvPr id="9" name="Text 6"/>
          <p:cNvSpPr/>
          <p:nvPr/>
        </p:nvSpPr>
        <p:spPr>
          <a:xfrm>
            <a:off x="1706880" y="3901440"/>
            <a:ext cx="8412480" cy="365760"/>
          </a:xfrm>
          <a:prstGeom prst="rect">
            <a:avLst/>
          </a:prstGeom>
          <a:noFill/>
          <a:ln/>
        </p:spPr>
        <p:txBody>
          <a:bodyPr wrap="square" lIns="0" tIns="0" rIns="0" bIns="0" rtlCol="0" anchor="ctr"/>
          <a:lstStyle/>
          <a:p>
            <a:pPr algn="ctr" indent="0" marL="0">
              <a:buNone/>
            </a:pPr>
            <a:r>
              <a:rPr lang="en-US" sz="1100" b="1" spc="120" kern="0" dirty="0">
                <a:solidFill>
                  <a:srgbClr val="1A8A7D"/>
                </a:solidFill>
                <a:latin typeface="Calibri" pitchFamily="34" charset="0"/>
                <a:ea typeface="Calibri" pitchFamily="34" charset="-122"/>
                <a:cs typeface="Calibri" pitchFamily="34" charset="-120"/>
              </a:rPr>
              <a:t>COMING NEXT: A STRANGE NEW EXHIBIT</a:t>
            </a:r>
            <a:endParaRPr lang="en-US" sz="1100" dirty="0"/>
          </a:p>
        </p:txBody>
      </p:sp>
      <p:sp>
        <p:nvSpPr>
          <p:cNvPr id="10" name="Text 7"/>
          <p:cNvSpPr/>
          <p:nvPr/>
        </p:nvSpPr>
        <p:spPr>
          <a:xfrm>
            <a:off x="1706880" y="4328160"/>
            <a:ext cx="8412480" cy="1341120"/>
          </a:xfrm>
          <a:prstGeom prst="rect">
            <a:avLst/>
          </a:prstGeom>
          <a:noFill/>
          <a:ln/>
        </p:spPr>
        <p:txBody>
          <a:bodyPr wrap="square" lIns="0" tIns="0" rIns="0" bIns="0" rtlCol="0" anchor="t"/>
          <a:lstStyle/>
          <a:p>
            <a:pPr algn="ctr" indent="0" marL="0">
              <a:buNone/>
            </a:pPr>
            <a:r>
              <a:rPr lang="en-US" sz="1250" i="1" dirty="0">
                <a:solidFill>
                  <a:srgbClr val="EAF8FD"/>
                </a:solidFill>
                <a:latin typeface="Calibri" pitchFamily="34" charset="0"/>
                <a:ea typeface="Calibri" pitchFamily="34" charset="-122"/>
                <a:cs typeface="Calibri" pitchFamily="34" charset="-120"/>
              </a:rPr>
              <a:t>Tomorrow, a tall blue box with a small curtain, a ballot card, and a stamp on a chain appears between the Florida case and the three-level model. It's a voting booth. The question on the wall: "How do citizens make decisions together?"</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2026-07-11T19:19:53Z</dcterms:created>
  <dcterms:modified xsi:type="dcterms:W3CDTF">2026-07-11T19:19:53Z</dcterms:modified>
</cp:coreProperties>
</file>