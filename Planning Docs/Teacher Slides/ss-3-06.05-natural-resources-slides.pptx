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museum gallery shelf displaying natural resources — timber, wheat, water jar, fish, copper ore, oil barrel — with warm exhibit lightingIMAGE TO INSERT: Museum gallery shelf with natural resources. Welcome students.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Close-up of a wooden museum shelf with labeled compartments — timber stack, wheat bundle, jar of clear water, fish, copper chunk, oil barrelHook: Describe the shelf. Each compartment holds something the land gives. Labels exist but stories are missing. 1-2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Curator's Question aloud. Read objectives. Explain thinking routine: Notice what resources exist, Name them, Narrate how people use them.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museum exhibit label being written with a fountain pen, warm lighting on parchment paperSpotlight honesty. A label that only brags ('Texas has lots of oil!') skips the tricky part. Good curators tell both sides. 1-2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natural resource. Brainstorm examples. Emphasize: from nature, not a factory.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six resources. Show where each is found and how people use it.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renewable. Walk through 4 examples. Stress the 'IF people are careful' part.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nonrenewable. Walk through examples. Stress millions of years — can't make more.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wheat farm photo. Ask analysis questions. Model: 'Wheat is renewable, but only if farmers take care of the soil.'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sort 6 resources. Call on pairs to share and explain. Reveal correct answers. 3-4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renewable does NOT mean unlimited. Discuss the fish example.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past and present resource use. Same rule applies: care for it or lose it.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honest labels tell both sides. Opti's gold vs. sunshine comparison. 1-2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analysis: fish ARE renewable but you CAN'T catch unlimited. Students fix the statement.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Self-check: Q1=B, Q2=C, Q3=A. Poll students or thumbs up/down. Reteach if needed.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 Evidence Q1. Model answer: oil formed over millions of years, can't be made again.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 Evidence Q2. Model: trees grow back IF replanted; cut too fast = 30+ years. 2-3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slide. Read task aloud. Remind: 3-4 sentences, be honest about limits. Chronicle: one sentence.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checklist. Remind students to submit to Canvas.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Museum gallery wall with culture display cases visible in the distance — longhouse, pyramid, mission, shield, drum — warm lighting, slightly mysteriousClosing. Celebrate. Tease next lesson: Culture Cases.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9753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3.06.05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600" y="1584960"/>
            <a:ext cx="975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Resources and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People Use Them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09600" y="402336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  |  The Great Map Room  |  Map Curator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600" y="463296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Grade 3 Social Studies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7315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RESOURCES SHELF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600" y="1463040"/>
            <a:ext cx="975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 wooden shelf has been wheeled into the gallery.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each compartment sits something the land gives.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09600" y="3413760"/>
            <a:ext cx="10972800" cy="1706880"/>
          </a:xfrm>
          <a:prstGeom prst="roundRect">
            <a:avLst>
              <a:gd name="adj" fmla="val 8571"/>
            </a:avLst>
          </a:prstGeom>
          <a:solidFill>
            <a:srgbClr val="1A2D5A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3440" y="3535680"/>
            <a:ext cx="1048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   |   Wheat   |   Water   |   Fish   |   Copper   |   Oil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 has labels — but not the stories behind them.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CURATOR'S QUESTION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3440" y="134112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natural resources does this region have, how do people use them — and what happens when a resource runs low?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31699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3440" y="3779520"/>
            <a:ext cx="104851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natural resources found in North America and the Caribbean.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difference between renewable and nonrenewable resources.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honestly how people use one resource — and its limits.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5974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Routine: Notice → Name → Narrate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7315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600" y="13411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609600" y="2682240"/>
            <a:ext cx="10972800" cy="2682240"/>
          </a:xfrm>
          <a:prstGeom prst="roundRect">
            <a:avLst>
              <a:gd name="adj" fmla="val 5455"/>
            </a:avLst>
          </a:prstGeom>
          <a:solidFill>
            <a:srgbClr val="1A2D5A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3440" y="2804160"/>
            <a:ext cx="1048512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curator tells the whole story: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resource is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use it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thing about its limits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labels help visitors understand the real choices people make.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Natural Resource?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6705600" cy="121920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72640"/>
            <a:ext cx="62179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useful that comes from nature — not from a factory.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535680"/>
            <a:ext cx="67056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water, fish, soil, oil, copper, sunlight, wind, and gold are all natural resources.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and the Caribbean is rich in natural resources.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924800" y="1950720"/>
            <a:ext cx="3901440" cy="3413760"/>
          </a:xfrm>
          <a:prstGeom prst="roundRect">
            <a:avLst>
              <a:gd name="adj" fmla="val 428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924800" y="1950720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07680" y="2316480"/>
            <a:ext cx="3535680" cy="2929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natural resources — logs, wheat, water, copper nugget, oil drum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" y="5608320"/>
            <a:ext cx="10972800" cy="1463040"/>
          </a:xfrm>
          <a:prstGeom prst="roundRect">
            <a:avLst>
              <a:gd name="adj" fmla="val 12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6488" y="572719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6488" y="6074664"/>
            <a:ext cx="10488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something useful from nature near where you live?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 natural resource and not a product?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Across the Region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9507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901440"/>
                <a:gridCol w="341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People Use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C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Forests (Timber)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and northern U.S.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Lumber, paper, furniture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Crops (Wheat, Corn)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Plains of the U.S. and Canada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for people worldwide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Freshwater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Lakes, rivers, Canadian lakes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Drinking, farming, electricity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Atlantic, Pacific, Caribbean coasts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and jobs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Minerals (Copper, Silver)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Mexico and the U.S.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Wires, pipes, coins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Petroleum (Oil)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Texas, Gulf of Mexico, Canada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Gasoline, heating, plastic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Resources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6705600" cy="1097280"/>
          </a:xfrm>
          <a:prstGeom prst="roundRect">
            <a:avLst>
              <a:gd name="adj" fmla="val 13333"/>
            </a:avLst>
          </a:prstGeom>
          <a:solidFill>
            <a:srgbClr val="E3F8ED"/>
          </a:solidFill>
          <a:ln w="19050">
            <a:solidFill>
              <a:srgbClr val="A8E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11680"/>
            <a:ext cx="62179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grow back or refill — IF people are careful.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413760"/>
            <a:ext cx="6705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— trees grow back if new ones are planted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— wheat fields grow again every year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— refilled by rain and snow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— can have more babies if enough adults are left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24800" y="1950720"/>
            <a:ext cx="3901440" cy="2926080"/>
          </a:xfrm>
          <a:prstGeom prst="roundRect">
            <a:avLst>
              <a:gd name="adj" fmla="val 5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924800" y="1950720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07680" y="2316480"/>
            <a:ext cx="3535680" cy="244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image: young tree seedling growing / wheat field / flowing river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" y="5364480"/>
            <a:ext cx="10972800" cy="975360"/>
          </a:xfrm>
          <a:prstGeom prst="roundRect">
            <a:avLst>
              <a:gd name="adj" fmla="val 11250"/>
            </a:avLst>
          </a:prstGeom>
          <a:solidFill>
            <a:srgbClr val="FFF8F0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440" y="542544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A forest cut down too fast doesn't grow back in one year — it takes 30 or more. Renewable comes with a rule: take care of it, or you'll lose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Nonrenewable Resources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6705600" cy="1097280"/>
          </a:xfrm>
          <a:prstGeom prst="roundRect">
            <a:avLst>
              <a:gd name="adj" fmla="val 13333"/>
            </a:avLst>
          </a:prstGeom>
          <a:solidFill>
            <a:srgbClr val="F0E8FF"/>
          </a:solidFill>
          <a:ln w="19050">
            <a:solidFill>
              <a:srgbClr val="D4C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11680"/>
            <a:ext cx="62179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Nonrenewable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used up, gone for a very long time — millions of years.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413760"/>
            <a:ext cx="6705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(petroleum) — formed deep in the Earth over millions of years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— also formed over millions of years underground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and silver — mined from rock formed long ago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— found deep in the Earth, cannot be made again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24800" y="1950720"/>
            <a:ext cx="3901440" cy="2926080"/>
          </a:xfrm>
          <a:prstGeom prst="roundRect">
            <a:avLst>
              <a:gd name="adj" fmla="val 5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924800" y="1950720"/>
            <a:ext cx="390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07680" y="2316480"/>
            <a:ext cx="3535680" cy="244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well or copper mine — showing extraction of nonrenewable resource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" y="5364480"/>
            <a:ext cx="10972800" cy="975360"/>
          </a:xfrm>
          <a:prstGeom prst="roundRect">
            <a:avLst>
              <a:gd name="adj" fmla="val 11250"/>
            </a:avLst>
          </a:prstGeom>
          <a:solidFill>
            <a:srgbClr val="FFF8F0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440" y="542544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barrel of oil pumped is one less in the ground forever. A label that says 'Texas has plenty of oil!' leaves out the most important part.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PHOTO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853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Wheat Farm on the Great Plains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6705600" cy="3657600"/>
          </a:xfrm>
          <a:prstGeom prst="roundRect">
            <a:avLst>
              <a:gd name="adj" fmla="val 4000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09600" y="1950720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480" y="2316480"/>
            <a:ext cx="633984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of a wheat farm on the Great Plains — wide golden fields stretching to the horizon, tractor or combine harvester, farmhouse or grain silos (USDA or Library of Congress public domain)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24800" y="1950720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24800" y="2560320"/>
            <a:ext cx="390144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see?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wide are the fields? What color is the wheat?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mean?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wheat renewable? What does the wheat become?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Plains are called the 'breadbasket of the world.' What if the soil got too tired?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ACTIVITY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the Shelf: Renewable or Nonrenewable?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5242560" cy="4267200"/>
          </a:xfrm>
          <a:prstGeom prst="roundRect">
            <a:avLst>
              <a:gd name="adj" fmla="val 3429"/>
            </a:avLst>
          </a:prstGeom>
          <a:solidFill>
            <a:srgbClr val="E3F8ED"/>
          </a:solidFill>
          <a:ln w="19050">
            <a:solidFill>
              <a:srgbClr val="A8E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07264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2560320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grow back or refill with care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3440" y="3169920"/>
            <a:ext cx="475488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(timber)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(wheat)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39840" y="1950720"/>
            <a:ext cx="5242560" cy="4267200"/>
          </a:xfrm>
          <a:prstGeom prst="roundRect">
            <a:avLst>
              <a:gd name="adj" fmla="val 3429"/>
            </a:avLst>
          </a:prstGeom>
          <a:solidFill>
            <a:srgbClr val="F0E8FF"/>
          </a:solidFill>
          <a:ln w="19050">
            <a:solidFill>
              <a:srgbClr val="D4C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9840" y="207264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NONRENEWABLE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9840" y="2560320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for a very long time once used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169920"/>
            <a:ext cx="475488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(petroleum)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(copper, silver)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600" y="6461760"/>
            <a:ext cx="10972800" cy="1097280"/>
          </a:xfrm>
          <a:prstGeom prst="roundRect">
            <a:avLst>
              <a:gd name="adj" fmla="val 1333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480" y="6534912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2480" y="6800088"/>
            <a:ext cx="10607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"Sort each resource on the shelf into the right group."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"Share one with your partner and explain WHY it belongs there."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"Renewable" Comes with a Rule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2072640"/>
            <a:ext cx="10972800" cy="1706880"/>
          </a:xfrm>
          <a:prstGeom prst="roundRect">
            <a:avLst>
              <a:gd name="adj" fmla="val 8571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194560"/>
            <a:ext cx="1048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renewable resources can still run out if people use them too fast.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too many fish are caught one year, there aren't enough adults left to make babies.</a:t>
            </a:r>
            <a:endParaRPr lang="en-US" sz="20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care of it, or you'll lose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600" y="4267200"/>
            <a:ext cx="10972800" cy="1584960"/>
          </a:xfrm>
          <a:prstGeom prst="roundRect">
            <a:avLst>
              <a:gd name="adj" fmla="val 11538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6488" y="438607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6488" y="4733544"/>
            <a:ext cx="10488168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forest is renewable, but only if people give it time to grow back. What does that tell you about how people should use renewable resources?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saying 'It's renewable, so we can use as much as we want' a mistake?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AND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Resource Use Has Changed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5242560" cy="3048000"/>
          </a:xfrm>
          <a:prstGeom prst="roundRect">
            <a:avLst>
              <a:gd name="adj" fmla="val 4800"/>
            </a:avLst>
          </a:prstGeom>
          <a:solidFill>
            <a:srgbClr val="FFF8F0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07264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3440" y="2682240"/>
            <a:ext cx="47548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peoples across this region used resources carefully because they had to — they couldn't replace what they wasted.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9840" y="1950720"/>
            <a:ext cx="5242560" cy="3048000"/>
          </a:xfrm>
          <a:prstGeom prst="roundRect">
            <a:avLst>
              <a:gd name="adj" fmla="val 4800"/>
            </a:avLst>
          </a:prstGeom>
          <a:solidFill>
            <a:srgbClr val="EAF8FD"/>
          </a:solidFill>
          <a:ln w="19050">
            <a:solidFill>
              <a:srgbClr val="B8E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9840" y="207264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682240"/>
            <a:ext cx="475488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machines let us use much more, much faster. But resources still run out if they're not cared for.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5364480"/>
            <a:ext cx="10972800" cy="853440"/>
          </a:xfrm>
          <a:prstGeom prst="roundRect">
            <a:avLst>
              <a:gd name="adj" fmla="val 12857"/>
            </a:avLst>
          </a:prstGeom>
          <a:solidFill>
            <a:srgbClr val="FFF3DC"/>
          </a:solidFill>
          <a:ln/>
        </p:spPr>
      </p:sp>
      <p:sp>
        <p:nvSpPr>
          <p:cNvPr id="12" name="Text 10"/>
          <p:cNvSpPr/>
          <p:nvPr/>
        </p:nvSpPr>
        <p:spPr>
          <a:xfrm>
            <a:off x="853440" y="5425440"/>
            <a:ext cx="1048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stayed the same? Resources still run out if they're not cared for. Curators tell this story honestly.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Honest Labels Matter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AF8FD"/>
          </a:solidFill>
          <a:ln w="19050">
            <a:solidFill>
              <a:srgbClr val="B8E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7264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 says... </a:t>
            </a:r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is rare, but it's nonrenewable — once dug up, no more is made. Sunshine is everywhere and free, and it's renewable — it shines again tomorrow. "Rare" and "renewable" aren't the same thing! That's why we always check honestly.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3779520"/>
            <a:ext cx="10972800" cy="19507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3440" y="3901440"/>
            <a:ext cx="1048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LABEL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3440" y="432816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resource is something useful that comes from nature. North America and the Caribbean is rich in resources — forests, crops, freshwater, fish, minerals, and oil. Renewable resources can grow back or refill with care. Nonrenewable resources are gone for a very long time once used. Honest curators describe both.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Mistake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FFF0F0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7264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wrote: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"Fish are renewable, so we can catch as many as we want and there will always be more."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600" y="3779520"/>
            <a:ext cx="10972800" cy="1828800"/>
          </a:xfrm>
          <a:prstGeom prst="roundRect">
            <a:avLst>
              <a:gd name="adj" fmla="val 100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6488" y="3898392"/>
            <a:ext cx="10488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6488" y="4245864"/>
            <a:ext cx="10488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of this statement is correct?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 is wrong or missing?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fix this to be honest about the limits of renewable resources?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" y="5852160"/>
            <a:ext cx="10972800" cy="853440"/>
          </a:xfrm>
          <a:prstGeom prst="roundRect">
            <a:avLst>
              <a:gd name="adj" fmla="val 1714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480" y="5925312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480" y="6190488"/>
            <a:ext cx="1060704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"Turn to your partner. Find the mistake and rewrite the sentence to be more honest."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134112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0D4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201168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a natural resource?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Anything sold at a store    B. Something useful that comes from nature    C. A kind of map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3535680"/>
            <a:ext cx="10972800" cy="134112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0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440" y="359664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of these is a NONrenewable resource?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Wheat    B. Forests    C. Oil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5120640"/>
            <a:ext cx="109728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0D4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440" y="5181600"/>
            <a:ext cx="104851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honesty matter when describing a natural resource?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Visitors need to understand both the gifts and the limits    B. So curators sound smart    C. Because it makes the label longer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EVIDENCE QUESTION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3440" y="1280160"/>
            <a:ext cx="1048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oil a nonrenewable resource? Use one detail from the lesson.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280416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3291840"/>
            <a:ext cx="670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oil made? (deep in the Earth)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it take? (millions of years)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make more? (no — once pumped, it's gone)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24800" y="3291840"/>
            <a:ext cx="3657600" cy="219456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68640" y="3413760"/>
            <a:ext cx="31699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</a:t>
            </a:r>
            <a:endParaRPr lang="en-US" sz="1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is nonrenewable because it formed over millions of years deep in the Earth and can't be made again.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5730240"/>
            <a:ext cx="10972800" cy="853440"/>
          </a:xfrm>
          <a:prstGeom prst="roundRect">
            <a:avLst>
              <a:gd name="adj" fmla="val 1714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480" y="5803392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480" y="6068568"/>
            <a:ext cx="1060704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"Talk with your partner: What detail from the lesson proves oil is nonrenewable?"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— EVIDENCE QUESTION 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09600" y="1219200"/>
            <a:ext cx="10972800" cy="121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3440" y="1280160"/>
            <a:ext cx="1048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Forests are a renewable resource — but only with care. What does that mean? Use today's lesson.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280416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3291840"/>
            <a:ext cx="670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trees grow back? (yes)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people need to do? (plant new ones)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they cut too fast? (takes 30+ years to grow back)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24800" y="3291840"/>
            <a:ext cx="3657600" cy="2194560"/>
          </a:xfrm>
          <a:prstGeom prst="roundRect">
            <a:avLst>
              <a:gd name="adj" fmla="val 666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68640" y="3413760"/>
            <a:ext cx="31699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</a:t>
            </a:r>
            <a:endParaRPr lang="en-US" sz="1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are renewable because trees can grow back if people plant new ones, but a forest cut too fast takes 30 or more years to return.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5730240"/>
            <a:ext cx="10972800" cy="853440"/>
          </a:xfrm>
          <a:prstGeom prst="roundRect">
            <a:avLst>
              <a:gd name="adj" fmla="val 1714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480" y="5803392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2480" y="6068568"/>
            <a:ext cx="1060704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"What's the 'with care' part? Why can't you just say 'forests are renewable' and stop?"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Exhibit Label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243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3440" y="2072640"/>
            <a:ext cx="1048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resource from today's lesson (Forests, Crops, Freshwater, Fish, Minerals, or Oil). Write a 3–4 sentence exhibit label. Be honest — include: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found in North America or the Caribbean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use it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limit (renewable with care, or nonrenewable, or runs out if overused)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600" y="4754880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440" y="4815840"/>
            <a:ext cx="10485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Curator's Chronicle: </a:t>
            </a:r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this sentence: "In this exhibit, I learned that ______ because ______."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487680"/>
            <a:ext cx="6096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Turn-In Checklist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950720"/>
            <a:ext cx="10972800" cy="3413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3440" y="2194560"/>
            <a:ext cx="1048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☑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answered the evidence questions.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☑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completed the Curator Task: Honest Exhibit Label.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☑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my Curator's Chronicle.</a:t>
            </a:r>
            <a:endParaRPr lang="en-US" sz="1800" dirty="0"/>
          </a:p>
          <a:p>
            <a:pPr marL="342900" indent="-342900">
              <a:buSzPct val="100000"/>
              <a:buChar char="☑"/>
            </a:pPr>
            <a:r>
              <a:rPr lang="en-US" sz="18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copied or downloaded my work and submitted to Canvas.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97536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WORK, REGIONAL CURATOR!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1828800"/>
            <a:ext cx="975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walked the Natural Resources Shelf, sorted renewable from nonrenewable, and wrote an honest label that tells the whole story.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09600" y="3657600"/>
            <a:ext cx="10972800" cy="2194560"/>
          </a:xfrm>
          <a:prstGeom prst="roundRect">
            <a:avLst>
              <a:gd name="adj" fmla="val 6667"/>
            </a:avLst>
          </a:prstGeom>
          <a:solidFill>
            <a:srgbClr val="1A2D5A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3440" y="377952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3440" y="4267200"/>
            <a:ext cx="1048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culture cases opens against the far wall — each holding something a different group of people brought to this region: a longhouse, a pyramid, a mission, a shield, a drum. The story turns from what the land gives to who came here, and what they brought with them.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9600" y="609600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Grade 3 Social Studies  |  Lesson 3.06.05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2026-07-11T03:42:26Z</dcterms:created>
  <dcterms:modified xsi:type="dcterms:W3CDTF">2026-07-11T03:42:26Z</dcterms:modified>
</cp:coreProperties>
</file>