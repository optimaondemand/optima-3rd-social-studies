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dramatic aerial view of a settlement map with red flag pins marking cities across North America and the Caribbean — vintage map feel, warm lightingTitle slide. Welcome students to the Settlement Map exhibit.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Curator's Question aloud. Discuss courtesy virtue. Under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objectives and materials. Introduce the Notice-Name-Narrate thinking routine.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gallery wall with a large vintage-style settlement map showing red flag pins on six cities across North America, warm museum lighting, visitors lookingSet the scene. Under 2 minutes. 'We've learned the land, the climate, the resources, and the cultures. Today we tie it all together.'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Think-pair-share. Let students notice patterns on the map before teaching.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four big reasons. These repeat throughout history.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Orleans = river mouth trade. This city is referenced in Evidence Q1.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Mexico City = soil + freshwater. Referenced in Evidence Q2.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Denver = resource access (gold). Self-check Q2.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Quebec City = defense + trade. Self-check Q3. Note dual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 Francisco and Havana both = water for trade. Discovery Fact about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Map analysis. Students examine the map and answer See/Mean/Matter questions. 2-3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Do this matching on the lesson page. Discuss answers as a class.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past to present. Opti's curator secret.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Exhibit Label together. This is the key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Students answer on lesson page, then reveal answers together.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Q1 aloud. Give hint. Model the answer. Students write independently.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Q2. Hint. Students write.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Independent writing. 3-5 min. Walk and confer.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Error analysis discussion. Have students find what's missing.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Chronicle + submit. Students finish sentence and check off items.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Four large cultural panels on a gallery wall — one each for Canada, United States, Mexico, Caribbean — warm museum lightingCLOSING. Celebrate: 'You tied features, climate, resources, and cultures together.' Tease next lesson. Under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463040" y="1219200"/>
            <a:ext cx="9144000" cy="2438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Environment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Influences Settlement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463040" y="377952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3.06.07  |  Week 18  |  The Great Map Room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3040" y="451104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SS.3.G.2.4  |  SS.3.G.4.1  |  SS.3.G.4.3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8768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Curator's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463040"/>
            <a:ext cx="10363200" cy="219456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6459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people build their biggest cities in some places and not others — and what does the environment have to do with it?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75360" y="4145280"/>
            <a:ext cx="10363200" cy="1950720"/>
          </a:xfrm>
          <a:prstGeom prst="roundRect">
            <a:avLst>
              <a:gd name="adj" fmla="val 75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4267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Spotlight: Courtesy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4815840"/>
            <a:ext cx="987552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communities chose their spot for trade, some for safety, some for farming. None of those reasons is "better" than the others — they were the right choice for the right place. Courtesy means describing each settlement on its own terms, not ranking them.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8768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19200" y="1463040"/>
            <a:ext cx="97536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main reasons people settled where they did.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cities to the environmental advantages that helped them grow.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one community grew where it did, using two clues.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75360" y="4389120"/>
            <a:ext cx="4876800" cy="1706880"/>
          </a:xfrm>
          <a:prstGeom prst="roundRect">
            <a:avLst>
              <a:gd name="adj" fmla="val 6429"/>
            </a:avLst>
          </a:prstGeom>
          <a:solidFill>
            <a:srgbClr val="FFF3DC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4511040"/>
            <a:ext cx="4389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19200" y="4937760"/>
            <a:ext cx="43891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Notebook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39840" y="4632960"/>
            <a:ext cx="5120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Routine: Notice → Name → Narrate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19200" y="731520"/>
            <a:ext cx="975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 Museum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219200" y="158496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Settlement Map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19200" y="2682240"/>
            <a:ext cx="792480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map has been unveiled in the center of the gallery — the Settlement Map. It's covered with six red flag pins, each marking a city.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keep asking the same question: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HERE? Why did people build in this exact spot, and not somewhere else?"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19200" y="6217920"/>
            <a:ext cx="8534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today: tie together everything you've learned — features, climate, resources — and explain the choices.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87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12192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Before We Learn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75360" y="2072640"/>
            <a:ext cx="6705600" cy="3901440"/>
          </a:xfrm>
          <a:prstGeom prst="roundRect">
            <a:avLst>
              <a:gd name="adj" fmla="val 375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75360" y="2072640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8240" y="2438400"/>
            <a:ext cx="6339840" cy="3416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map of North America showing six city pins — project or display for students to observe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90560" y="2072640"/>
            <a:ext cx="3657600" cy="3901440"/>
          </a:xfrm>
          <a:prstGeom prst="roundRect">
            <a:avLst>
              <a:gd name="adj" fmla="val 5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37448" y="2191512"/>
            <a:ext cx="3172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37448" y="2538984"/>
            <a:ext cx="3172968" cy="3316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leading a group of families looking for a place to start a new town 1,000 years ago, what would you want the land around you to have?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map. What do most of the big cities seem to be near?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no one built a giant city in the middle of a desert?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Big Reasons People Settle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1158240"/>
            <a:ext cx="1036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don't just appear randomly. People settle in places that give them something the land around them needs.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75360" y="2072640"/>
            <a:ext cx="5120640" cy="2072640"/>
          </a:xfrm>
          <a:prstGeom prst="roundRect">
            <a:avLst>
              <a:gd name="adj" fmla="val 6176"/>
            </a:avLst>
          </a:prstGeom>
          <a:solidFill>
            <a:srgbClr val="EAF8FD"/>
          </a:solidFill>
          <a:ln w="19050">
            <a:solidFill>
              <a:srgbClr val="B8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240" y="2209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for Trade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240" y="2621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river or natural harbor lets boats bring goods in and carry goods out.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2072640"/>
            <a:ext cx="5120640" cy="2072640"/>
          </a:xfrm>
          <a:prstGeom prst="roundRect">
            <a:avLst>
              <a:gd name="adj" fmla="val 6176"/>
            </a:avLst>
          </a:prstGeom>
          <a:solidFill>
            <a:srgbClr val="E3F8ED"/>
          </a:solidFill>
          <a:ln w="19050">
            <a:solidFill>
              <a:srgbClr val="A8D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209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Soil + Freshwater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66560" y="2621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farmland and a lake or river to drink from can feed a lot of people.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75360" y="4511040"/>
            <a:ext cx="5120640" cy="2072640"/>
          </a:xfrm>
          <a:prstGeom prst="roundRect">
            <a:avLst>
              <a:gd name="adj" fmla="val 6176"/>
            </a:avLst>
          </a:prstGeom>
          <a:solidFill>
            <a:srgbClr val="F0E8FF"/>
          </a:solidFill>
          <a:ln w="19050">
            <a:solidFill>
              <a:srgbClr val="D0C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8240" y="4648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Access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240" y="5059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valuable nearby — minerals, forests, or a mountain pass to wealth.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4511040"/>
            <a:ext cx="5120640" cy="2072640"/>
          </a:xfrm>
          <a:prstGeom prst="roundRect">
            <a:avLst>
              <a:gd name="adj" fmla="val 617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4648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Defend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66560" y="5059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cliff or a peninsula makes a town much easier to protect from attack.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NAME: New Orleans, Louisiana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5360" y="1219200"/>
            <a:ext cx="2438400" cy="548640"/>
          </a:xfrm>
          <a:prstGeom prst="roundRect">
            <a:avLst>
              <a:gd name="adj" fmla="val 16667"/>
            </a:avLst>
          </a:prstGeom>
          <a:solidFill>
            <a:srgbClr val="EAF8FD"/>
          </a:solidFill>
          <a:ln/>
        </p:spPr>
      </p:sp>
      <p:sp>
        <p:nvSpPr>
          <p:cNvPr id="5" name="Text 3"/>
          <p:cNvSpPr/>
          <p:nvPr/>
        </p:nvSpPr>
        <p:spPr>
          <a:xfrm>
            <a:off x="975360" y="1219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for Trade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5360" y="2072640"/>
            <a:ext cx="5852160" cy="36576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75360" y="2072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8240" y="2438400"/>
            <a:ext cx="5486400" cy="3172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photo of New Orleans at the mouth of the Mississippi River meeting the Gulf of Mexico — showing the river, delta, and city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2072640"/>
            <a:ext cx="4632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Orleans sits right where the giant Mississippi River meets the Gulf of Mexico. Boats can come up the river from the ocean and travel deep into North America.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0" y="4145280"/>
            <a:ext cx="463296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mouth of the Mississippi makes New Orleans a crossroads for trade — food, supplies, and goods come right to the city.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NAME: Mexico City, Mexico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5360" y="1219200"/>
            <a:ext cx="3048000" cy="548640"/>
          </a:xfrm>
          <a:prstGeom prst="roundRect">
            <a:avLst>
              <a:gd name="adj" fmla="val 16667"/>
            </a:avLst>
          </a:prstGeom>
          <a:solidFill>
            <a:srgbClr val="E3F8ED"/>
          </a:solidFill>
          <a:ln/>
        </p:spPr>
      </p:sp>
      <p:sp>
        <p:nvSpPr>
          <p:cNvPr id="5" name="Text 3"/>
          <p:cNvSpPr/>
          <p:nvPr/>
        </p:nvSpPr>
        <p:spPr>
          <a:xfrm>
            <a:off x="975360" y="1219200"/>
            <a:ext cx="304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Soil + Freshwater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5360" y="2072640"/>
            <a:ext cx="5852160" cy="36576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75360" y="2072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8240" y="2438400"/>
            <a:ext cx="5486400" cy="3172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or photo of the Valley of Mexico with a lake and rich farmland — Aztec Tenochtitlan or modern Mexico City in a valley setting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2072640"/>
            <a:ext cx="4632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Aztec people built their capital — what we now call Mexico City — in a high valley with rich volcanic soil and a freshwater lake. It could feed a huge city.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0" y="4145280"/>
            <a:ext cx="463296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700 years ago, the Aztecs chose this spot because the land could grow enough food for everyone.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NAME: Denver, Colorado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5360" y="1219200"/>
            <a:ext cx="268224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/>
        </p:spPr>
      </p:sp>
      <p:sp>
        <p:nvSpPr>
          <p:cNvPr id="5" name="Text 3"/>
          <p:cNvSpPr/>
          <p:nvPr/>
        </p:nvSpPr>
        <p:spPr>
          <a:xfrm>
            <a:off x="975360" y="121920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5360" y="2072640"/>
            <a:ext cx="5852160" cy="36576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75360" y="2072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8240" y="2438400"/>
            <a:ext cx="5486400" cy="3172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Denver skyline with the Rocky Mountains behind it — showing the city at the foot of the mountain range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2072640"/>
            <a:ext cx="4632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sits at the foot of the Rocky Mountains, where the plains meet the peaks. When gold was discovered nearby in 1858, miners flooded in, and the city boomed.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0" y="4145280"/>
            <a:ext cx="463296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mountains held the resource; Denver was the doorway.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NAME: Quebec City, Canada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5360" y="1219200"/>
            <a:ext cx="2438400" cy="548640"/>
          </a:xfrm>
          <a:prstGeom prst="roundRect">
            <a:avLst>
              <a:gd name="adj" fmla="val 16667"/>
            </a:avLst>
          </a:prstGeom>
          <a:solidFill>
            <a:srgbClr val="FFF3DC"/>
          </a:solidFill>
          <a:ln/>
        </p:spPr>
      </p:sp>
      <p:sp>
        <p:nvSpPr>
          <p:cNvPr id="5" name="Text 3"/>
          <p:cNvSpPr/>
          <p:nvPr/>
        </p:nvSpPr>
        <p:spPr>
          <a:xfrm>
            <a:off x="975360" y="1219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Defend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5360" y="2072640"/>
            <a:ext cx="5852160" cy="36576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75360" y="2072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8240" y="2438400"/>
            <a:ext cx="5486400" cy="3172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Quebec City's cliff above the St. Lawrence River — Chateau Frontenac or the old citadel showing the high ground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2072640"/>
            <a:ext cx="4632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Quebec City was built on a tall rocky cliff high above the St. Lawrence River. French settlers chose the spot in 1608 partly because it was nearly impossible to attack.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0" y="4145280"/>
            <a:ext cx="463296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cliff gave defense AND the river gave trade — many cities have more than one reason.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NAME: Two More Trade Cities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5486400" cy="4267200"/>
          </a:xfrm>
          <a:prstGeom prst="roundRect">
            <a:avLst>
              <a:gd name="adj" fmla="val 30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Francisco, California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19200" y="2072640"/>
            <a:ext cx="4998720" cy="1584960"/>
          </a:xfrm>
          <a:prstGeom prst="roundRect">
            <a:avLst>
              <a:gd name="adj" fmla="val 923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19200" y="207264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02080" y="2438400"/>
            <a:ext cx="4632960" cy="1100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Bay — showing the deep natural harbor with the Golden Gate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9200" y="2880360"/>
            <a:ext cx="4998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around one of the largest deep natural harbors in the Pacific. Big ships from across the world can dock right at the city.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27520" y="1341120"/>
            <a:ext cx="5486400" cy="4267200"/>
          </a:xfrm>
          <a:prstGeom prst="roundRect">
            <a:avLst>
              <a:gd name="adj" fmla="val 30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1360" y="146304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Havana, Cuba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71360" y="2072640"/>
            <a:ext cx="4998720" cy="1584960"/>
          </a:xfrm>
          <a:prstGeom prst="roundRect">
            <a:avLst>
              <a:gd name="adj" fmla="val 923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071360" y="207264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54240" y="2438400"/>
            <a:ext cx="4632960" cy="1100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Havana harbor — narrow protected harbor opening to the Caribbean Sea, colorful buildings along the waterfront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71360" y="2880360"/>
            <a:ext cx="4998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long, narrow harbor that opens to the Caribbean Sea. The shape protects boats from storms. For over 500 years, Havana has been a busy trade port.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5360" y="585216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six cities grew up next to water — that's not an accident. Around the world, most of the biggest cities are still on a river or a coast.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Settlement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6705600" cy="4632960"/>
          </a:xfrm>
          <a:prstGeom prst="roundRect">
            <a:avLst>
              <a:gd name="adj" fmla="val 315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5360" y="1341120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8240" y="1706880"/>
            <a:ext cx="6339840" cy="414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source-3-06-07-settlement-map-north-america.jpg — Clear public-domain map of North America and the Caribbean showing Quebec City, San Francisco, Denver, New Orleans, Mexico City, Havana with major physical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68640" y="1341120"/>
            <a:ext cx="3901440" cy="4632960"/>
          </a:xfrm>
          <a:prstGeom prst="roundRect">
            <a:avLst>
              <a:gd name="adj" fmla="val 375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46304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Source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2072640"/>
            <a:ext cx="341376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see?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big city. Look around it — river? Coast? Mountains?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cities. What does the land near each one offer?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why a city grew helps us understand why people still live there today.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Quest: Match the City to Its Reason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5360" y="11582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cities, four big reasons. What is the STRONGEST environmental reason each city became a major settlement?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75360" y="1950720"/>
            <a:ext cx="5608320" cy="1524000"/>
          </a:xfrm>
          <a:prstGeom prst="roundRect">
            <a:avLst>
              <a:gd name="adj" fmla="val 7200"/>
            </a:avLst>
          </a:prstGeom>
          <a:solidFill>
            <a:srgbClr val="EAF8FD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240" y="2060448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Orleans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240" y="24536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for Trade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71360" y="1950720"/>
            <a:ext cx="5608320" cy="1524000"/>
          </a:xfrm>
          <a:prstGeom prst="roundRect">
            <a:avLst>
              <a:gd name="adj" fmla="val 7200"/>
            </a:avLst>
          </a:prstGeom>
          <a:solidFill>
            <a:srgbClr val="E3F8ED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4240" y="2060448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City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54240" y="24536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Soil + Freshwater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75360" y="3779520"/>
            <a:ext cx="5608320" cy="1524000"/>
          </a:xfrm>
          <a:prstGeom prst="roundRect">
            <a:avLst>
              <a:gd name="adj" fmla="val 7200"/>
            </a:avLst>
          </a:prstGeom>
          <a:solidFill>
            <a:srgbClr val="F0E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8240" y="3889248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240" y="42824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Access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71360" y="3779520"/>
            <a:ext cx="5608320" cy="1524000"/>
          </a:xfrm>
          <a:prstGeom prst="roundRect">
            <a:avLst>
              <a:gd name="adj" fmla="val 7200"/>
            </a:avLst>
          </a:prstGeom>
          <a:solidFill>
            <a:srgbClr val="FFF3D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4240" y="3889248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Quebec City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254240" y="42824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Defend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75360" y="5608320"/>
            <a:ext cx="5608320" cy="1524000"/>
          </a:xfrm>
          <a:prstGeom prst="roundRect">
            <a:avLst>
              <a:gd name="adj" fmla="val 7200"/>
            </a:avLst>
          </a:prstGeom>
          <a:solidFill>
            <a:srgbClr val="EAF8FD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8240" y="5718048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58240" y="61112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for Trade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071360" y="5608320"/>
            <a:ext cx="5608320" cy="1524000"/>
          </a:xfrm>
          <a:prstGeom prst="roundRect">
            <a:avLst>
              <a:gd name="adj" fmla="val 7200"/>
            </a:avLst>
          </a:prstGeom>
          <a:solidFill>
            <a:srgbClr val="EAF8FD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4240" y="5718048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Havana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54240" y="611124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for Trade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and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121920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reasons people chose these spots hundreds of years ago still matter today.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19200" y="2072640"/>
            <a:ext cx="914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Orleans is still a giant shipping port.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City still has farmland feeding it.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still serves the Rocky Mountain region.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shaped where cities grew, and the cities then shaped how people live there.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75360" y="4632960"/>
            <a:ext cx="9144000" cy="1584960"/>
          </a:xfrm>
          <a:prstGeom prst="roundRect">
            <a:avLst>
              <a:gd name="adj" fmla="val 923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8240" y="4706112"/>
            <a:ext cx="8778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8240" y="4971288"/>
            <a:ext cx="8778240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"Pick almost any city on a world map, and you can usually guess why it grew where it did. Look for a river, a coast, a mountain pass, or a flat valley."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Label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463040"/>
            <a:ext cx="8534400" cy="3413760"/>
          </a:xfrm>
          <a:prstGeom prst="roundRect">
            <a:avLst>
              <a:gd name="adj" fmla="val 5357"/>
            </a:avLst>
          </a:prstGeom>
          <a:solidFill>
            <a:srgbClr val="FFF8F0"/>
          </a:solidFill>
          <a:ln w="25400">
            <a:solidFill>
              <a:srgbClr val="F5E6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1706880"/>
            <a:ext cx="7802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settle where the land gives them something they need — water for trade, soil and freshwater for farming, resources to use or sell, or high ground to defend.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 doesn't pick the place for them, but it makes some places much better than others.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settlement on this map can be explained.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1097280"/>
            <a:ext cx="1036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graded — just for you!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75360" y="1706880"/>
            <a:ext cx="10363200" cy="1524000"/>
          </a:xfrm>
          <a:prstGeom prst="roundRect">
            <a:avLst>
              <a:gd name="adj" fmla="val 72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1780032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did so many big cities grow next to a river or harbor?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2255520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Boats let goods move in and out — water means trade.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75360" y="3535680"/>
            <a:ext cx="10363200" cy="1524000"/>
          </a:xfrm>
          <a:prstGeom prst="roundRect">
            <a:avLst>
              <a:gd name="adj" fmla="val 7200"/>
            </a:avLst>
          </a:prstGeom>
          <a:solidFill>
            <a:srgbClr val="E3F8ED"/>
          </a:solidFill>
          <a:ln w="12700">
            <a:solidFill>
              <a:srgbClr val="A8D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9200" y="3608832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did Denver grow into a big city?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4084320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Gold was discovered in the nearby Rocky Mountains.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75360" y="5364480"/>
            <a:ext cx="10363200" cy="1524000"/>
          </a:xfrm>
          <a:prstGeom prst="roundRect">
            <a:avLst>
              <a:gd name="adj" fmla="val 72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9200" y="5437632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was Quebec City built on top of a tall cliff?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5913120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It was easier to defend from attack.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Question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10363200" cy="1463040"/>
          </a:xfrm>
          <a:prstGeom prst="roundRect">
            <a:avLst>
              <a:gd name="adj" fmla="val 875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New Orleans grow into a major city? Use one detail from the lesson.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75360" y="3169920"/>
            <a:ext cx="1036320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329184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— Help students start: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3901440"/>
            <a:ext cx="98755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Think about where the Mississippi River meets the ocean.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"New Orleans grew into a major city because..."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answer: "New Orleans grew because the Mississippi River meets the ocean there — boats can go from the sea deep into North America."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Question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10363200" cy="1463040"/>
          </a:xfrm>
          <a:prstGeom prst="roundRect">
            <a:avLst>
              <a:gd name="adj" fmla="val 875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Aztec people built Mexico City in a high valley with rich soil and a freshwater lake. Why was that a smart choice?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75360" y="3169920"/>
            <a:ext cx="1036320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329184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3901440"/>
            <a:ext cx="98755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A growing city needs to feed a lot of people.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"It was a smart choice because..."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Rich soil + freshwater = food for a huge city.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Curator Task: Settlement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10363200" cy="2438400"/>
          </a:xfrm>
          <a:prstGeom prst="roundRect">
            <a:avLst>
              <a:gd name="adj" fmla="val 525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9875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city from today's lesson (Quebec City, San Francisco, Denver, New Orleans, Mexico City, or Havana). Write a 3–4 sentence "settlement story" that visitors will read by its pin. Include: the city's name and country, and two environmental clues that helped it grow (like a river PLUS fertile soil, or a harbor PLUS easy defense).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75360" y="4145280"/>
            <a:ext cx="10363200" cy="1950720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4267200"/>
            <a:ext cx="98755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should answer: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4754880"/>
            <a:ext cx="98755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city?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environment clues helped it grow?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those clues matter?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1158240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wrote this settlement story. What went wrong?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75360" y="1950720"/>
            <a:ext cx="10363200" cy="1950720"/>
          </a:xfrm>
          <a:prstGeom prst="roundRect">
            <a:avLst>
              <a:gd name="adj" fmla="val 6563"/>
            </a:avLst>
          </a:prstGeom>
          <a:solidFill>
            <a:srgbClr val="FFF0F0"/>
          </a:solidFill>
          <a:ln w="19050">
            <a:solidFill>
              <a:srgbClr val="E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2072640"/>
            <a:ext cx="9875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"Denver is a city in Colorado. People moved there because it is cool. The mountains are really big and pretty. I would like to visit someday."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75360" y="4389120"/>
            <a:ext cx="10972800" cy="1950720"/>
          </a:xfrm>
          <a:prstGeom prst="roundRect">
            <a:avLst>
              <a:gd name="adj" fmla="val 937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22248" y="4507992"/>
            <a:ext cx="10488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2248" y="4855464"/>
            <a:ext cx="1048816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story name TWO environmental clues? What clues are missing?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'cool' and 'pretty' explain WHY people settled there?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you fix it to include the real reason — resource access (gold)?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Curator's Chronicle + Submit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10363200" cy="1463040"/>
          </a:xfrm>
          <a:prstGeom prst="roundRect">
            <a:avLst>
              <a:gd name="adj" fmla="val 875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this sentence in your own words: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9200" y="2011680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exhibit, I learned that ______ because ______.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75360" y="3169920"/>
            <a:ext cx="10363200" cy="268224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9200" y="329184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Turn-In Checklist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3901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answered the evidence questions.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completed the Curator Task: Settlement Story.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my Curator's Chronicle.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copied or downloaded my work and submitted to Canvas.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19200" y="1219200"/>
            <a:ext cx="975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Up Next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219200" y="207264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Regional Cultural Characteristics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19200" y="3048000"/>
            <a:ext cx="853440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Settlement Map is labeled and the gallery is almost complete. Next time, you'll take the final step — comparing the cultural characteristics of Canada, the United States, Mexico, and the Caribbean side by side.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last exhibit before the Regional Observer badge is awarded... and then a new gallery opens.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2026-07-11T03:45:17Z</dcterms:created>
  <dcterms:modified xsi:type="dcterms:W3CDTF">2026-07-11T03:45:17Z</dcterms:modified>
</cp:coreProperties>
</file>