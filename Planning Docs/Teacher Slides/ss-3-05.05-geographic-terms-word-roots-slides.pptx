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aerial view of a world map table with word root cards scattered on it, warm museum lighting, dark backgroundTitle slide. Welcome students to Lesson 3.05.05 on Geographic Terms Word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rolling wooden cabinet with small drawers being wheeled into a museum hall with a large world map on the wall, warm amber lightingMuseum hook. Read the story aloud. Emphasize: the word itself is a description.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Curator's Question aloud. Spotlight honesty -- honest thinkers look carefully and share what's real.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objectives. Thinking move: Notice roots, Name them, Narrate what they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first! Show how peninsula breaks apart. Ask: 'What do you notice about this word?' Before giving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If geo- means 'earth' and -graphy means 'writing,' what does geography really mean? Can you hear terra- hiding inside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aqua- and pen- roots. Ask students: Can you think of any English words with aqua in them? What do they all have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Give 1-2 minutes to think-pair-share. Then reveal answers on next slide. Students act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Celebrate correct matches. Emphasize: the root IS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Walk through the three questions with the class. Model thinking aloud.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about Arctic and Greek roots. Then &amp; Now connects ancient naming to modern terms. Quick engagement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The exhibit label captures the big idea. Opti adds a fun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and Q2. Have students answer before revealing. Use thumbs up/down.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Q3 and Q4. Pause for student answers. Celebrate: 'You know your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slide. Student wrote 'terrain comes from aqua.' The real root is terra- (land), not aqua- (water). Give 1 minute to discuss. Ties back to honesty 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Q1. Read aloud. Model answering with peninsula. Students pick their own word. EXACT wording from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Q2. Discuss as a class: why would visitors benefit from seeing word roots? EXACT wording from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assignment. Read Curator Task aloud. Model the first sentence. Walk through turn-in checklist. EXACT wording from HTML.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completed World Map Hall with word root cards displayed beside map terms, warm museum glow, a blank frame visible by the entranceClosing slide. Celebrate: 'You cracked open word roots and now you know what geographic terms actually mean!' Tease Lesson 3.05.06.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C4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0F2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950720"/>
            <a:ext cx="14305280" cy="3251200"/>
          </a:xfrm>
          <a:prstGeom prst="rect">
            <a:avLst/>
          </a:prstGeom>
          <a:noFill/>
          <a:ln/>
        </p:spPr>
        <p:txBody>
          <a:bodyPr wrap="square" rtlCol="0" anchor="ctr"/>
          <a:lstStyle/>
          <a:p>
            <a:pPr algn="ctr" indent="0" marL="0">
              <a:lnSpc>
                <a:spcPct val="110000"/>
              </a:lnSpc>
              <a:buNone/>
            </a:pPr>
            <a:r>
              <a:rPr lang="en-US" sz="4000" b="1" dirty="0">
                <a:solidFill>
                  <a:srgbClr val="FFFFFF"/>
                </a:solidFill>
                <a:latin typeface="Cambria" pitchFamily="34" charset="0"/>
                <a:ea typeface="Cambria" pitchFamily="34" charset="-122"/>
                <a:cs typeface="Cambria" pitchFamily="34" charset="-120"/>
              </a:rPr>
              <a:t>Geographic Terms</a:t>
            </a:r>
            <a:endParaRPr lang="en-US" sz="4000" dirty="0"/>
          </a:p>
          <a:p>
            <a:pPr algn="ctr" indent="0" marL="0">
              <a:lnSpc>
                <a:spcPct val="110000"/>
              </a:lnSpc>
              <a:buNone/>
            </a:pPr>
            <a:r>
              <a:rPr lang="en-US" sz="4000" b="1" dirty="0">
                <a:solidFill>
                  <a:srgbClr val="FFFFFF"/>
                </a:solidFill>
                <a:latin typeface="Cambria" pitchFamily="34" charset="0"/>
                <a:ea typeface="Cambria" pitchFamily="34" charset="-122"/>
                <a:cs typeface="Cambria" pitchFamily="34" charset="-120"/>
              </a:rPr>
              <a:t>Word Roots</a:t>
            </a:r>
            <a:endParaRPr lang="en-US" sz="4000" dirty="0"/>
          </a:p>
        </p:txBody>
      </p:sp>
      <p:sp>
        <p:nvSpPr>
          <p:cNvPr id="6" name="Text 3"/>
          <p:cNvSpPr/>
          <p:nvPr/>
        </p:nvSpPr>
        <p:spPr>
          <a:xfrm>
            <a:off x="975360" y="5201920"/>
            <a:ext cx="14305280" cy="812800"/>
          </a:xfrm>
          <a:prstGeom prst="rect">
            <a:avLst/>
          </a:prstGeom>
          <a:noFill/>
          <a:ln/>
        </p:spPr>
        <p:txBody>
          <a:bodyPr wrap="square" rtlCol="0" anchor="ctr"/>
          <a:lstStyle/>
          <a:p>
            <a:pPr algn="ctr" indent="0" marL="0">
              <a:buNone/>
            </a:pPr>
            <a:r>
              <a:rPr lang="en-US" sz="1600" dirty="0">
                <a:solidFill>
                  <a:srgbClr val="55C8E8"/>
                </a:solidFill>
                <a:latin typeface="Calibri" pitchFamily="34" charset="0"/>
                <a:ea typeface="Calibri" pitchFamily="34" charset="-122"/>
                <a:cs typeface="Calibri" pitchFamily="34" charset="-120"/>
              </a:rPr>
              <a:t>Lesson 3.05.05  |  Week 14  |  Great Map Room</a:t>
            </a:r>
            <a:endParaRPr lang="en-US" sz="1600" dirty="0"/>
          </a:p>
        </p:txBody>
      </p:sp>
      <p:sp>
        <p:nvSpPr>
          <p:cNvPr id="7" name="Text 4"/>
          <p:cNvSpPr/>
          <p:nvPr/>
        </p:nvSpPr>
        <p:spPr>
          <a:xfrm>
            <a:off x="975360" y="6014720"/>
            <a:ext cx="14305280" cy="65024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SS.3.G.1.3 | SS.3.G.1.4 | SS.3.G.2.1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812800" y="650240"/>
            <a:ext cx="14630400" cy="2600960"/>
          </a:xfrm>
          <a:prstGeom prst="roundRect">
            <a:avLst>
              <a:gd name="adj" fmla="val 9375"/>
            </a:avLst>
          </a:prstGeom>
          <a:solidFill>
            <a:srgbClr val="0E1C42">
              <a:alpha val="75000"/>
            </a:srgbClr>
          </a:solidFill>
          <a:ln/>
        </p:spPr>
      </p:sp>
      <p:sp>
        <p:nvSpPr>
          <p:cNvPr id="6" name="Text 3"/>
          <p:cNvSpPr/>
          <p:nvPr/>
        </p:nvSpPr>
        <p:spPr>
          <a:xfrm>
            <a:off x="1137920" y="812800"/>
            <a:ext cx="13980160" cy="2275840"/>
          </a:xfrm>
          <a:prstGeom prst="rect">
            <a:avLst/>
          </a:prstGeom>
          <a:noFill/>
          <a:ln/>
        </p:spPr>
        <p:txBody>
          <a:bodyPr wrap="square" rtlCol="0" anchor="ctr"/>
          <a:lstStyle/>
          <a:p>
            <a:pPr algn="ctr" indent="0" marL="0">
              <a:lnSpc>
                <a:spcPct val="120000"/>
              </a:lnSpc>
              <a:buNone/>
            </a:pPr>
            <a:r>
              <a:rPr lang="en-US" sz="1600" i="1" dirty="0">
                <a:solidFill>
                  <a:srgbClr val="FFFFFF"/>
                </a:solidFill>
                <a:latin typeface="Cambria" pitchFamily="34" charset="0"/>
                <a:ea typeface="Cambria" pitchFamily="34" charset="-122"/>
                <a:cs typeface="Cambria" pitchFamily="34" charset="-120"/>
              </a:rPr>
              <a:t>A rolling cabinet appears outside the World Map Hall with a note:</a:t>
            </a:r>
            <a:endParaRPr lang="en-US" sz="1600" dirty="0"/>
          </a:p>
          <a:p>
            <a:pPr algn="ctr" indent="0" marL="0">
              <a:lnSpc>
                <a:spcPct val="120000"/>
              </a:lnSpc>
              <a:buNone/>
            </a:pPr>
            <a:r>
              <a:rPr lang="en-US" sz="1600" i="1" dirty="0">
                <a:solidFill>
                  <a:srgbClr val="FFFFFF"/>
                </a:solidFill>
                <a:latin typeface="Cambria" pitchFamily="34" charset="0"/>
                <a:ea typeface="Cambria" pitchFamily="34" charset="-122"/>
                <a:cs typeface="Cambria" pitchFamily="34" charset="-120"/>
              </a:rPr>
              <a:t>"For the Word Roots Collection -- please deliver to the World Geography Curators."</a:t>
            </a:r>
            <a:endParaRPr lang="en-US" sz="1600" dirty="0"/>
          </a:p>
        </p:txBody>
      </p:sp>
      <p:sp>
        <p:nvSpPr>
          <p:cNvPr id="7" name="Shape 4"/>
          <p:cNvSpPr/>
          <p:nvPr/>
        </p:nvSpPr>
        <p:spPr>
          <a:xfrm>
            <a:off x="812800" y="3738880"/>
            <a:ext cx="14630400" cy="4714240"/>
          </a:xfrm>
          <a:prstGeom prst="roundRect">
            <a:avLst>
              <a:gd name="adj" fmla="val 4138"/>
            </a:avLst>
          </a:prstGeom>
          <a:solidFill>
            <a:srgbClr val="FFF3DC"/>
          </a:solidFill>
          <a:ln w="19050">
            <a:solidFill>
              <a:srgbClr val="F5E6C8"/>
            </a:solidFill>
            <a:prstDash val="solid"/>
          </a:ln>
        </p:spPr>
      </p:sp>
      <p:sp>
        <p:nvSpPr>
          <p:cNvPr id="8" name="Text 5"/>
          <p:cNvSpPr/>
          <p:nvPr/>
        </p:nvSpPr>
        <p:spPr>
          <a:xfrm>
            <a:off x="1056640" y="383641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6"/>
          <p:cNvSpPr/>
          <p:nvPr/>
        </p:nvSpPr>
        <p:spPr>
          <a:xfrm>
            <a:off x="1056640" y="4194048"/>
            <a:ext cx="14142720" cy="4145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volunteer picks up a card that says peninsula and squints. 'Pen-in-su-la. Is that even English?'"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head curator smiles. 'It's Latin. Pen means almost and insula means island. A peninsula is almost an island -- land surrounded by water on three sides.'"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volunteer's eyes go wide. 'So the word actually tells you what it looks like?'"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E1C42"/>
          </a:solidFill>
          <a:ln/>
        </p:spPr>
      </p:sp>
      <p:sp>
        <p:nvSpPr>
          <p:cNvPr id="3" name="Text 1"/>
          <p:cNvSpPr/>
          <p:nvPr/>
        </p:nvSpPr>
        <p:spPr>
          <a:xfrm>
            <a:off x="975360" y="487680"/>
            <a:ext cx="14305280" cy="56896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CURATOR'S QUESTION</a:t>
            </a:r>
            <a:endParaRPr lang="en-US" sz="1000" dirty="0"/>
          </a:p>
        </p:txBody>
      </p:sp>
      <p:sp>
        <p:nvSpPr>
          <p:cNvPr id="4" name="Shape 2"/>
          <p:cNvSpPr/>
          <p:nvPr/>
        </p:nvSpPr>
        <p:spPr>
          <a:xfrm>
            <a:off x="1625600" y="1300480"/>
            <a:ext cx="13004800" cy="211328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1950720" y="1463040"/>
            <a:ext cx="12354560" cy="1788160"/>
          </a:xfrm>
          <a:prstGeom prst="rect">
            <a:avLst/>
          </a:prstGeom>
          <a:noFill/>
          <a:ln/>
        </p:spPr>
        <p:txBody>
          <a:bodyPr wrap="square" rtlCol="0" anchor="ctr"/>
          <a:lstStyle/>
          <a:p>
            <a:pPr algn="ctr" indent="0" marL="0">
              <a:buNone/>
            </a:pPr>
            <a:r>
              <a:rPr lang="en-US" sz="2000" b="1" dirty="0">
                <a:solidFill>
                  <a:srgbClr val="D4943A"/>
                </a:solidFill>
                <a:latin typeface="Cambria" pitchFamily="34" charset="0"/>
                <a:ea typeface="Cambria" pitchFamily="34" charset="-122"/>
                <a:cs typeface="Cambria" pitchFamily="34" charset="-120"/>
              </a:rPr>
              <a:t>How do Latin and Greek word roots help us understand what geographic terms really mean?</a:t>
            </a:r>
            <a:endParaRPr lang="en-US" sz="2000" dirty="0"/>
          </a:p>
        </p:txBody>
      </p:sp>
      <p:sp>
        <p:nvSpPr>
          <p:cNvPr id="6" name="Text 4"/>
          <p:cNvSpPr/>
          <p:nvPr/>
        </p:nvSpPr>
        <p:spPr>
          <a:xfrm>
            <a:off x="975360" y="3901440"/>
            <a:ext cx="14305280" cy="568960"/>
          </a:xfrm>
          <a:prstGeom prst="rect">
            <a:avLst/>
          </a:prstGeom>
          <a:noFill/>
          <a:ln/>
        </p:spPr>
        <p:txBody>
          <a:bodyPr wrap="square" rtlCol="0" anchor="ctr"/>
          <a:lstStyle/>
          <a:p>
            <a:pPr algn="ctr" indent="0" marL="0">
              <a:buNone/>
            </a:pPr>
            <a:r>
              <a:rPr lang="en-US" sz="1000" b="1" spc="200" kern="0" dirty="0">
                <a:solidFill>
                  <a:srgbClr val="34B76F"/>
                </a:solidFill>
                <a:latin typeface="Calibri" pitchFamily="34" charset="0"/>
                <a:ea typeface="Calibri" pitchFamily="34" charset="-122"/>
                <a:cs typeface="Calibri" pitchFamily="34" charset="-120"/>
              </a:rPr>
              <a:t>VIRTUE SPOTLIGHT -- HONESTY</a:t>
            </a:r>
            <a:endParaRPr lang="en-US" sz="1000" dirty="0"/>
          </a:p>
        </p:txBody>
      </p:sp>
      <p:sp>
        <p:nvSpPr>
          <p:cNvPr id="7" name="Shape 5"/>
          <p:cNvSpPr/>
          <p:nvPr/>
        </p:nvSpPr>
        <p:spPr>
          <a:xfrm>
            <a:off x="1625600" y="4714240"/>
            <a:ext cx="13004800" cy="2275840"/>
          </a:xfrm>
          <a:prstGeom prst="roundRect">
            <a:avLst>
              <a:gd name="adj" fmla="val 10714"/>
            </a:avLst>
          </a:prstGeom>
          <a:solidFill>
            <a:srgbClr val="1A2D5A"/>
          </a:solidFill>
          <a:ln/>
        </p:spPr>
      </p:sp>
      <p:sp>
        <p:nvSpPr>
          <p:cNvPr id="8" name="Text 6"/>
          <p:cNvSpPr/>
          <p:nvPr/>
        </p:nvSpPr>
        <p:spPr>
          <a:xfrm>
            <a:off x="1950720" y="4876800"/>
            <a:ext cx="12354560" cy="1950720"/>
          </a:xfrm>
          <a:prstGeom prst="rect">
            <a:avLst/>
          </a:prstGeom>
          <a:noFill/>
          <a:ln/>
        </p:spPr>
        <p:txBody>
          <a:bodyPr wrap="square" rtlCol="0" anchor="ctr"/>
          <a:lstStyle/>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Honest thinkers don't just guess -- they look carefully and tell the truth about what they find. Today, you'll be honest about what word roots actually tell us. Some roots might surprise you, and that's a good thing. The best curators share what's real, not what's easy.</a:t>
            </a:r>
            <a:endParaRPr lang="en-US" sz="1400" dirty="0"/>
          </a:p>
        </p:txBody>
      </p:sp>
      <p:sp>
        <p:nvSpPr>
          <p:cNvPr id="9" name="Text 7"/>
          <p:cNvSpPr/>
          <p:nvPr/>
        </p:nvSpPr>
        <p:spPr>
          <a:xfrm>
            <a:off x="975360" y="7477760"/>
            <a:ext cx="14305280" cy="65024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Your Role: World Geography Curator -- building the Word Roots Collection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Today's Path</a:t>
            </a:r>
            <a:endParaRPr lang="en-US" sz="2600" dirty="0"/>
          </a:p>
        </p:txBody>
      </p:sp>
      <p:sp>
        <p:nvSpPr>
          <p:cNvPr id="3" name="Text 1"/>
          <p:cNvSpPr/>
          <p:nvPr/>
        </p:nvSpPr>
        <p:spPr>
          <a:xfrm>
            <a:off x="812800" y="1381760"/>
            <a:ext cx="146304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THINKING MOVE: NOTICE   &gt;   NAME   &gt;   NARRATE</a:t>
            </a:r>
            <a:endParaRPr lang="en-US" sz="1000" dirty="0"/>
          </a:p>
        </p:txBody>
      </p:sp>
      <p:sp>
        <p:nvSpPr>
          <p:cNvPr id="4" name="Shape 2"/>
          <p:cNvSpPr/>
          <p:nvPr/>
        </p:nvSpPr>
        <p:spPr>
          <a:xfrm>
            <a:off x="975360" y="2275840"/>
            <a:ext cx="14305280" cy="1544320"/>
          </a:xfrm>
          <a:prstGeom prst="roundRect">
            <a:avLst>
              <a:gd name="adj" fmla="val 12632"/>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1300480" y="2568448"/>
            <a:ext cx="975360" cy="975360"/>
          </a:xfrm>
          <a:prstGeom prst="roundRect">
            <a:avLst>
              <a:gd name="adj" fmla="val 13333"/>
            </a:avLst>
          </a:prstGeom>
          <a:solidFill>
            <a:srgbClr val="EAF8FD"/>
          </a:solidFill>
          <a:ln/>
        </p:spPr>
      </p:sp>
      <p:sp>
        <p:nvSpPr>
          <p:cNvPr id="6" name="Text 4"/>
          <p:cNvSpPr/>
          <p:nvPr/>
        </p:nvSpPr>
        <p:spPr>
          <a:xfrm>
            <a:off x="1300480" y="2568448"/>
            <a:ext cx="975360" cy="97536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ABC</a:t>
            </a:r>
            <a:endParaRPr lang="en-US" sz="1100" dirty="0"/>
          </a:p>
        </p:txBody>
      </p:sp>
      <p:sp>
        <p:nvSpPr>
          <p:cNvPr id="7" name="Text 5"/>
          <p:cNvSpPr/>
          <p:nvPr/>
        </p:nvSpPr>
        <p:spPr>
          <a:xfrm>
            <a:off x="2600960" y="2438400"/>
            <a:ext cx="12354560" cy="1219200"/>
          </a:xfrm>
          <a:prstGeom prst="rect">
            <a:avLst/>
          </a:prstGeom>
          <a:noFill/>
          <a:ln/>
        </p:spPr>
        <p:txBody>
          <a:bodyPr wrap="square" rtlCol="0" anchor="ctr"/>
          <a:lstStyle/>
          <a:p>
            <a:pPr indent="0" marL="0">
              <a:buNone/>
            </a:pPr>
            <a:r>
              <a:rPr lang="en-US" sz="1600" dirty="0">
                <a:solidFill>
                  <a:srgbClr val="0E1C42"/>
                </a:solidFill>
                <a:latin typeface="Calibri" pitchFamily="34" charset="0"/>
                <a:ea typeface="Calibri" pitchFamily="34" charset="-122"/>
                <a:cs typeface="Calibri" pitchFamily="34" charset="-120"/>
              </a:rPr>
              <a:t>Break apart geographic terms to find their Latin and Greek roots.</a:t>
            </a:r>
            <a:endParaRPr lang="en-US" sz="1600" dirty="0"/>
          </a:p>
        </p:txBody>
      </p:sp>
      <p:sp>
        <p:nvSpPr>
          <p:cNvPr id="8" name="Shape 6"/>
          <p:cNvSpPr/>
          <p:nvPr/>
        </p:nvSpPr>
        <p:spPr>
          <a:xfrm>
            <a:off x="975360" y="4145280"/>
            <a:ext cx="14305280" cy="1544320"/>
          </a:xfrm>
          <a:prstGeom prst="roundRect">
            <a:avLst>
              <a:gd name="adj" fmla="val 12632"/>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1300480" y="4437888"/>
            <a:ext cx="975360" cy="975360"/>
          </a:xfrm>
          <a:prstGeom prst="roundRect">
            <a:avLst>
              <a:gd name="adj" fmla="val 13333"/>
            </a:avLst>
          </a:prstGeom>
          <a:solidFill>
            <a:srgbClr val="EAF8FD"/>
          </a:solidFill>
          <a:ln/>
        </p:spPr>
      </p:sp>
      <p:sp>
        <p:nvSpPr>
          <p:cNvPr id="10" name="Text 8"/>
          <p:cNvSpPr/>
          <p:nvPr/>
        </p:nvSpPr>
        <p:spPr>
          <a:xfrm>
            <a:off x="1300480" y="4437888"/>
            <a:ext cx="975360" cy="97536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MAP</a:t>
            </a:r>
            <a:endParaRPr lang="en-US" sz="1100" dirty="0"/>
          </a:p>
        </p:txBody>
      </p:sp>
      <p:sp>
        <p:nvSpPr>
          <p:cNvPr id="11" name="Text 9"/>
          <p:cNvSpPr/>
          <p:nvPr/>
        </p:nvSpPr>
        <p:spPr>
          <a:xfrm>
            <a:off x="2600960" y="4307840"/>
            <a:ext cx="12354560" cy="1219200"/>
          </a:xfrm>
          <a:prstGeom prst="rect">
            <a:avLst/>
          </a:prstGeom>
          <a:noFill/>
          <a:ln/>
        </p:spPr>
        <p:txBody>
          <a:bodyPr wrap="square" rtlCol="0" anchor="ctr"/>
          <a:lstStyle/>
          <a:p>
            <a:pPr indent="0" marL="0">
              <a:buNone/>
            </a:pPr>
            <a:r>
              <a:rPr lang="en-US" sz="1600" dirty="0">
                <a:solidFill>
                  <a:srgbClr val="0E1C42"/>
                </a:solidFill>
                <a:latin typeface="Calibri" pitchFamily="34" charset="0"/>
                <a:ea typeface="Calibri" pitchFamily="34" charset="-122"/>
                <a:cs typeface="Calibri" pitchFamily="34" charset="-120"/>
              </a:rPr>
              <a:t>Use word roots to figure out what a geographic term describes.</a:t>
            </a:r>
            <a:endParaRPr lang="en-US" sz="1600" dirty="0"/>
          </a:p>
        </p:txBody>
      </p:sp>
      <p:sp>
        <p:nvSpPr>
          <p:cNvPr id="12" name="Shape 10"/>
          <p:cNvSpPr/>
          <p:nvPr/>
        </p:nvSpPr>
        <p:spPr>
          <a:xfrm>
            <a:off x="975360" y="6014720"/>
            <a:ext cx="14305280" cy="1544320"/>
          </a:xfrm>
          <a:prstGeom prst="roundRect">
            <a:avLst>
              <a:gd name="adj" fmla="val 12632"/>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1300480" y="6307328"/>
            <a:ext cx="975360" cy="975360"/>
          </a:xfrm>
          <a:prstGeom prst="roundRect">
            <a:avLst>
              <a:gd name="adj" fmla="val 13333"/>
            </a:avLst>
          </a:prstGeom>
          <a:solidFill>
            <a:srgbClr val="EAF8FD"/>
          </a:solidFill>
          <a:ln/>
        </p:spPr>
      </p:sp>
      <p:sp>
        <p:nvSpPr>
          <p:cNvPr id="14" name="Text 12"/>
          <p:cNvSpPr/>
          <p:nvPr/>
        </p:nvSpPr>
        <p:spPr>
          <a:xfrm>
            <a:off x="1300480" y="6307328"/>
            <a:ext cx="975360" cy="97536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PEN</a:t>
            </a:r>
            <a:endParaRPr lang="en-US" sz="1100" dirty="0"/>
          </a:p>
        </p:txBody>
      </p:sp>
      <p:sp>
        <p:nvSpPr>
          <p:cNvPr id="15" name="Text 13"/>
          <p:cNvSpPr/>
          <p:nvPr/>
        </p:nvSpPr>
        <p:spPr>
          <a:xfrm>
            <a:off x="2600960" y="6177280"/>
            <a:ext cx="12354560" cy="1219200"/>
          </a:xfrm>
          <a:prstGeom prst="rect">
            <a:avLst/>
          </a:prstGeom>
          <a:noFill/>
          <a:ln/>
        </p:spPr>
        <p:txBody>
          <a:bodyPr wrap="square" rtlCol="0" anchor="ctr"/>
          <a:lstStyle/>
          <a:p>
            <a:pPr indent="0" marL="0">
              <a:buNone/>
            </a:pPr>
            <a:r>
              <a:rPr lang="en-US" sz="1600" dirty="0">
                <a:solidFill>
                  <a:srgbClr val="0E1C42"/>
                </a:solidFill>
                <a:latin typeface="Calibri" pitchFamily="34" charset="0"/>
                <a:ea typeface="Calibri" pitchFamily="34" charset="-122"/>
                <a:cs typeface="Calibri" pitchFamily="34" charset="-120"/>
              </a:rPr>
              <a:t>Write a root-based explanation for a geographic term.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Are Word Roots?</a:t>
            </a:r>
            <a:endParaRPr lang="en-US" sz="2600" dirty="0"/>
          </a:p>
        </p:txBody>
      </p:sp>
      <p:sp>
        <p:nvSpPr>
          <p:cNvPr id="3" name="Text 1"/>
          <p:cNvSpPr/>
          <p:nvPr/>
        </p:nvSpPr>
        <p:spPr>
          <a:xfrm>
            <a:off x="812800" y="1381760"/>
            <a:ext cx="195072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NOTICE</a:t>
            </a:r>
            <a:endParaRPr lang="en-US" sz="1000" dirty="0"/>
          </a:p>
        </p:txBody>
      </p:sp>
      <p:sp>
        <p:nvSpPr>
          <p:cNvPr id="4" name="Shape 2"/>
          <p:cNvSpPr/>
          <p:nvPr/>
        </p:nvSpPr>
        <p:spPr>
          <a:xfrm>
            <a:off x="812800" y="1950720"/>
            <a:ext cx="8940800" cy="5689600"/>
          </a:xfrm>
          <a:prstGeom prst="roundRect">
            <a:avLst>
              <a:gd name="adj" fmla="val 4286"/>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1137920" y="2113280"/>
            <a:ext cx="8290560" cy="5364480"/>
          </a:xfrm>
          <a:prstGeom prst="rect">
            <a:avLst/>
          </a:prstGeom>
          <a:noFill/>
          <a:ln/>
        </p:spPr>
        <p:txBody>
          <a:bodyPr wrap="square" rtlCol="0" anchor="t"/>
          <a:lstStyle/>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Many geographic terms come from Latin and Greek.</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If you know the root, you can figure out what a word means -- even if you've never seen it before.</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People didn't just make up the word "peninsula" because it sounded nice. They put two Latin pieces together:</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paene (almost) + insula (island)</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The word itself is a description!</a:t>
            </a:r>
            <a:endParaRPr lang="en-US" sz="1400" dirty="0"/>
          </a:p>
        </p:txBody>
      </p:sp>
      <p:sp>
        <p:nvSpPr>
          <p:cNvPr id="6" name="Shape 4"/>
          <p:cNvSpPr/>
          <p:nvPr/>
        </p:nvSpPr>
        <p:spPr>
          <a:xfrm>
            <a:off x="10078720" y="1950720"/>
            <a:ext cx="5364480" cy="5689600"/>
          </a:xfrm>
          <a:prstGeom prst="roundRect">
            <a:avLst>
              <a:gd name="adj" fmla="val 3636"/>
            </a:avLst>
          </a:prstGeom>
          <a:solidFill>
            <a:srgbClr val="E2E8F4"/>
          </a:solidFill>
          <a:ln w="19050">
            <a:solidFill>
              <a:srgbClr val="B0B8CC"/>
            </a:solidFill>
            <a:prstDash val="dash"/>
          </a:ln>
        </p:spPr>
      </p:sp>
      <p:sp>
        <p:nvSpPr>
          <p:cNvPr id="7" name="Text 5"/>
          <p:cNvSpPr/>
          <p:nvPr/>
        </p:nvSpPr>
        <p:spPr>
          <a:xfrm>
            <a:off x="10078720" y="1950720"/>
            <a:ext cx="53644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0322560" y="2438400"/>
            <a:ext cx="4876800" cy="5039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Diagram showing 'peninsula' split into 'paene' (almost) + 'insula' (island) with arrows pointing to a peninsula shape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Word Root Cards</a:t>
            </a:r>
            <a:endParaRPr lang="en-US" sz="2600" dirty="0"/>
          </a:p>
        </p:txBody>
      </p:sp>
      <p:sp>
        <p:nvSpPr>
          <p:cNvPr id="3" name="Text 1"/>
          <p:cNvSpPr/>
          <p:nvPr/>
        </p:nvSpPr>
        <p:spPr>
          <a:xfrm>
            <a:off x="812800" y="1381760"/>
            <a:ext cx="195072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NAME</a:t>
            </a:r>
            <a:endParaRPr lang="en-US" sz="1000" dirty="0"/>
          </a:p>
        </p:txBody>
      </p:sp>
      <p:sp>
        <p:nvSpPr>
          <p:cNvPr id="4" name="Shape 2"/>
          <p:cNvSpPr/>
          <p:nvPr/>
        </p:nvSpPr>
        <p:spPr>
          <a:xfrm>
            <a:off x="812800" y="1950720"/>
            <a:ext cx="6990080" cy="5852160"/>
          </a:xfrm>
          <a:prstGeom prst="roundRect">
            <a:avLst>
              <a:gd name="adj" fmla="val 4167"/>
            </a:avLst>
          </a:prstGeom>
          <a:solidFill>
            <a:srgbClr val="EAF8FD"/>
          </a:solidFill>
          <a:ln/>
          <a:effectLst>
            <a:outerShdw sx="100000" sy="100000" kx="0" ky="0" algn="bl" rotWithShape="0" blurRad="76200" dist="25400" dir="8100000">
              <a:srgbClr val="000000">
                <a:alpha val="12000"/>
              </a:srgbClr>
            </a:outerShdw>
          </a:effectLst>
        </p:spPr>
      </p:sp>
      <p:sp>
        <p:nvSpPr>
          <p:cNvPr id="5" name="Text 3"/>
          <p:cNvSpPr/>
          <p:nvPr/>
        </p:nvSpPr>
        <p:spPr>
          <a:xfrm>
            <a:off x="812800" y="2113280"/>
            <a:ext cx="6990080" cy="975360"/>
          </a:xfrm>
          <a:prstGeom prst="rect">
            <a:avLst/>
          </a:prstGeom>
          <a:noFill/>
          <a:ln/>
        </p:spPr>
        <p:txBody>
          <a:bodyPr wrap="square" rtlCol="0" anchor="ctr"/>
          <a:lstStyle/>
          <a:p>
            <a:pPr algn="ctr" indent="0" marL="0">
              <a:buNone/>
            </a:pPr>
            <a:r>
              <a:rPr lang="en-US" sz="3200" b="1" dirty="0">
                <a:solidFill>
                  <a:srgbClr val="1A8A7D"/>
                </a:solidFill>
                <a:latin typeface="Cambria" pitchFamily="34" charset="0"/>
                <a:ea typeface="Cambria" pitchFamily="34" charset="-122"/>
                <a:cs typeface="Cambria" pitchFamily="34" charset="-120"/>
              </a:rPr>
              <a:t>geo-</a:t>
            </a:r>
            <a:endParaRPr lang="en-US" sz="3200" dirty="0"/>
          </a:p>
        </p:txBody>
      </p:sp>
      <p:sp>
        <p:nvSpPr>
          <p:cNvPr id="6" name="Text 4"/>
          <p:cNvSpPr/>
          <p:nvPr/>
        </p:nvSpPr>
        <p:spPr>
          <a:xfrm>
            <a:off x="812800" y="3088640"/>
            <a:ext cx="6990080" cy="65024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Greek  --  means "earth"</a:t>
            </a:r>
            <a:endParaRPr lang="en-US" sz="1400" dirty="0"/>
          </a:p>
        </p:txBody>
      </p:sp>
      <p:sp>
        <p:nvSpPr>
          <p:cNvPr id="7" name="Shape 5"/>
          <p:cNvSpPr/>
          <p:nvPr/>
        </p:nvSpPr>
        <p:spPr>
          <a:xfrm>
            <a:off x="1950720" y="3820160"/>
            <a:ext cx="4551680" cy="0"/>
          </a:xfrm>
          <a:prstGeom prst="line">
            <a:avLst/>
          </a:prstGeom>
          <a:noFill/>
          <a:ln w="12700">
            <a:solidFill>
              <a:srgbClr val="1A8A7D"/>
            </a:solidFill>
            <a:prstDash val="solid"/>
          </a:ln>
        </p:spPr>
      </p:sp>
      <p:sp>
        <p:nvSpPr>
          <p:cNvPr id="8" name="Text 6"/>
          <p:cNvSpPr/>
          <p:nvPr/>
        </p:nvSpPr>
        <p:spPr>
          <a:xfrm>
            <a:off x="1137920" y="4064000"/>
            <a:ext cx="6339840" cy="3251200"/>
          </a:xfrm>
          <a:prstGeom prst="rect">
            <a:avLst/>
          </a:prstGeom>
          <a:noFill/>
          <a:ln/>
        </p:spPr>
        <p:txBody>
          <a:bodyPr wrap="square" rtlCol="0" anchor="t"/>
          <a:lstStyle/>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geography -- writing about the earth</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geology -- study of earth's rocks</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geographer -- a person who studies earth</a:t>
            </a:r>
            <a:endParaRPr lang="en-US" sz="1400" dirty="0"/>
          </a:p>
        </p:txBody>
      </p:sp>
      <p:sp>
        <p:nvSpPr>
          <p:cNvPr id="9" name="Shape 7"/>
          <p:cNvSpPr/>
          <p:nvPr/>
        </p:nvSpPr>
        <p:spPr>
          <a:xfrm>
            <a:off x="8453120" y="1950720"/>
            <a:ext cx="6990080" cy="5852160"/>
          </a:xfrm>
          <a:prstGeom prst="roundRect">
            <a:avLst>
              <a:gd name="adj" fmla="val 4167"/>
            </a:avLst>
          </a:prstGeom>
          <a:solidFill>
            <a:srgbClr val="E3F8ED"/>
          </a:solidFill>
          <a:ln/>
          <a:effectLst>
            <a:outerShdw sx="100000" sy="100000" kx="0" ky="0" algn="bl" rotWithShape="0" blurRad="76200" dist="25400" dir="8100000">
              <a:srgbClr val="000000">
                <a:alpha val="12000"/>
              </a:srgbClr>
            </a:outerShdw>
          </a:effectLst>
        </p:spPr>
      </p:sp>
      <p:sp>
        <p:nvSpPr>
          <p:cNvPr id="10" name="Text 8"/>
          <p:cNvSpPr/>
          <p:nvPr/>
        </p:nvSpPr>
        <p:spPr>
          <a:xfrm>
            <a:off x="8453120" y="2113280"/>
            <a:ext cx="6990080" cy="975360"/>
          </a:xfrm>
          <a:prstGeom prst="rect">
            <a:avLst/>
          </a:prstGeom>
          <a:noFill/>
          <a:ln/>
        </p:spPr>
        <p:txBody>
          <a:bodyPr wrap="square" rtlCol="0" anchor="ctr"/>
          <a:lstStyle/>
          <a:p>
            <a:pPr algn="ctr" indent="0" marL="0">
              <a:buNone/>
            </a:pPr>
            <a:r>
              <a:rPr lang="en-US" sz="3200" b="1" dirty="0">
                <a:solidFill>
                  <a:srgbClr val="34B76F"/>
                </a:solidFill>
                <a:latin typeface="Cambria" pitchFamily="34" charset="0"/>
                <a:ea typeface="Cambria" pitchFamily="34" charset="-122"/>
                <a:cs typeface="Cambria" pitchFamily="34" charset="-120"/>
              </a:rPr>
              <a:t>terra-</a:t>
            </a:r>
            <a:endParaRPr lang="en-US" sz="3200" dirty="0"/>
          </a:p>
        </p:txBody>
      </p:sp>
      <p:sp>
        <p:nvSpPr>
          <p:cNvPr id="11" name="Text 9"/>
          <p:cNvSpPr/>
          <p:nvPr/>
        </p:nvSpPr>
        <p:spPr>
          <a:xfrm>
            <a:off x="8453120" y="3088640"/>
            <a:ext cx="6990080" cy="65024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Latin  --  means "land"</a:t>
            </a:r>
            <a:endParaRPr lang="en-US" sz="1400" dirty="0"/>
          </a:p>
        </p:txBody>
      </p:sp>
      <p:sp>
        <p:nvSpPr>
          <p:cNvPr id="12" name="Shape 10"/>
          <p:cNvSpPr/>
          <p:nvPr/>
        </p:nvSpPr>
        <p:spPr>
          <a:xfrm>
            <a:off x="9591040" y="3820160"/>
            <a:ext cx="4551680" cy="0"/>
          </a:xfrm>
          <a:prstGeom prst="line">
            <a:avLst/>
          </a:prstGeom>
          <a:noFill/>
          <a:ln w="12700">
            <a:solidFill>
              <a:srgbClr val="34B76F"/>
            </a:solidFill>
            <a:prstDash val="solid"/>
          </a:ln>
        </p:spPr>
      </p:sp>
      <p:sp>
        <p:nvSpPr>
          <p:cNvPr id="13" name="Text 11"/>
          <p:cNvSpPr/>
          <p:nvPr/>
        </p:nvSpPr>
        <p:spPr>
          <a:xfrm>
            <a:off x="8778240" y="4064000"/>
            <a:ext cx="6339840" cy="3251200"/>
          </a:xfrm>
          <a:prstGeom prst="rect">
            <a:avLst/>
          </a:prstGeom>
          <a:noFill/>
          <a:ln/>
        </p:spPr>
        <p:txBody>
          <a:bodyPr wrap="square" rtlCol="0" anchor="t"/>
          <a:lstStyle/>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terrain -- the surface of the land</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territory -- an area of land</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terrace -- a flat raised area of land</a:t>
            </a:r>
            <a:endParaRPr lang="en-US" sz="1400" dirty="0"/>
          </a:p>
        </p:txBody>
      </p:sp>
      <p:sp>
        <p:nvSpPr>
          <p:cNvPr id="14" name="Shape 12"/>
          <p:cNvSpPr/>
          <p:nvPr/>
        </p:nvSpPr>
        <p:spPr>
          <a:xfrm>
            <a:off x="812800" y="7965440"/>
            <a:ext cx="14630400" cy="0"/>
          </a:xfrm>
          <a:prstGeom prst="roundRect">
            <a:avLst>
              <a:gd name="adj" fmla="val Infinity"/>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1137920" y="812800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1137920" y="8583168"/>
            <a:ext cx="13980160" cy="-780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geo- means 'earth' and -graphy means 'writing,' what does geography really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hear terra- hiding inside 'terrain'? What does the land look like?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Word Root Cards</a:t>
            </a:r>
            <a:endParaRPr lang="en-US" sz="2600" dirty="0"/>
          </a:p>
        </p:txBody>
      </p:sp>
      <p:sp>
        <p:nvSpPr>
          <p:cNvPr id="3" name="Text 1"/>
          <p:cNvSpPr/>
          <p:nvPr/>
        </p:nvSpPr>
        <p:spPr>
          <a:xfrm>
            <a:off x="812800" y="1381760"/>
            <a:ext cx="195072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NAME</a:t>
            </a:r>
            <a:endParaRPr lang="en-US" sz="1000" dirty="0"/>
          </a:p>
        </p:txBody>
      </p:sp>
      <p:sp>
        <p:nvSpPr>
          <p:cNvPr id="4" name="Shape 2"/>
          <p:cNvSpPr/>
          <p:nvPr/>
        </p:nvSpPr>
        <p:spPr>
          <a:xfrm>
            <a:off x="812800" y="1950720"/>
            <a:ext cx="6990080" cy="5852160"/>
          </a:xfrm>
          <a:prstGeom prst="roundRect">
            <a:avLst>
              <a:gd name="adj" fmla="val 4167"/>
            </a:avLst>
          </a:prstGeom>
          <a:solidFill>
            <a:srgbClr val="EAF8FD"/>
          </a:solidFill>
          <a:ln/>
          <a:effectLst>
            <a:outerShdw sx="100000" sy="100000" kx="0" ky="0" algn="bl" rotWithShape="0" blurRad="76200" dist="25400" dir="8100000">
              <a:srgbClr val="000000">
                <a:alpha val="12000"/>
              </a:srgbClr>
            </a:outerShdw>
          </a:effectLst>
        </p:spPr>
      </p:sp>
      <p:sp>
        <p:nvSpPr>
          <p:cNvPr id="5" name="Text 3"/>
          <p:cNvSpPr/>
          <p:nvPr/>
        </p:nvSpPr>
        <p:spPr>
          <a:xfrm>
            <a:off x="812800" y="2113280"/>
            <a:ext cx="6990080" cy="975360"/>
          </a:xfrm>
          <a:prstGeom prst="rect">
            <a:avLst/>
          </a:prstGeom>
          <a:noFill/>
          <a:ln/>
        </p:spPr>
        <p:txBody>
          <a:bodyPr wrap="square" rtlCol="0" anchor="ctr"/>
          <a:lstStyle/>
          <a:p>
            <a:pPr algn="ctr" indent="0" marL="0">
              <a:buNone/>
            </a:pPr>
            <a:r>
              <a:rPr lang="en-US" sz="3200" b="1" dirty="0">
                <a:solidFill>
                  <a:srgbClr val="55C8E8"/>
                </a:solidFill>
                <a:latin typeface="Cambria" pitchFamily="34" charset="0"/>
                <a:ea typeface="Cambria" pitchFamily="34" charset="-122"/>
                <a:cs typeface="Cambria" pitchFamily="34" charset="-120"/>
              </a:rPr>
              <a:t>aqua-</a:t>
            </a:r>
            <a:endParaRPr lang="en-US" sz="3200" dirty="0"/>
          </a:p>
        </p:txBody>
      </p:sp>
      <p:sp>
        <p:nvSpPr>
          <p:cNvPr id="6" name="Text 4"/>
          <p:cNvSpPr/>
          <p:nvPr/>
        </p:nvSpPr>
        <p:spPr>
          <a:xfrm>
            <a:off x="812800" y="3088640"/>
            <a:ext cx="6990080" cy="65024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Latin  --  means "water"</a:t>
            </a:r>
            <a:endParaRPr lang="en-US" sz="1400" dirty="0"/>
          </a:p>
        </p:txBody>
      </p:sp>
      <p:sp>
        <p:nvSpPr>
          <p:cNvPr id="7" name="Shape 5"/>
          <p:cNvSpPr/>
          <p:nvPr/>
        </p:nvSpPr>
        <p:spPr>
          <a:xfrm>
            <a:off x="1950720" y="3820160"/>
            <a:ext cx="4551680" cy="0"/>
          </a:xfrm>
          <a:prstGeom prst="line">
            <a:avLst/>
          </a:prstGeom>
          <a:noFill/>
          <a:ln w="12700">
            <a:solidFill>
              <a:srgbClr val="55C8E8"/>
            </a:solidFill>
            <a:prstDash val="solid"/>
          </a:ln>
        </p:spPr>
      </p:sp>
      <p:sp>
        <p:nvSpPr>
          <p:cNvPr id="8" name="Text 6"/>
          <p:cNvSpPr/>
          <p:nvPr/>
        </p:nvSpPr>
        <p:spPr>
          <a:xfrm>
            <a:off x="1137920" y="4064000"/>
            <a:ext cx="6339840" cy="3251200"/>
          </a:xfrm>
          <a:prstGeom prst="rect">
            <a:avLst/>
          </a:prstGeom>
          <a:noFill/>
          <a:ln/>
        </p:spPr>
        <p:txBody>
          <a:bodyPr wrap="square" rtlCol="0" anchor="t"/>
          <a:lstStyle/>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aquatic -- related to water</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aqueduct -- a structure that carries water</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aquarium -- a tank of water for animals</a:t>
            </a:r>
            <a:endParaRPr lang="en-US" sz="1400" dirty="0"/>
          </a:p>
        </p:txBody>
      </p:sp>
      <p:sp>
        <p:nvSpPr>
          <p:cNvPr id="9" name="Shape 7"/>
          <p:cNvSpPr/>
          <p:nvPr/>
        </p:nvSpPr>
        <p:spPr>
          <a:xfrm>
            <a:off x="8453120" y="1950720"/>
            <a:ext cx="6990080" cy="5852160"/>
          </a:xfrm>
          <a:prstGeom prst="roundRect">
            <a:avLst>
              <a:gd name="adj" fmla="val 4167"/>
            </a:avLst>
          </a:prstGeom>
          <a:solidFill>
            <a:srgbClr val="F0E8FF"/>
          </a:solidFill>
          <a:ln/>
          <a:effectLst>
            <a:outerShdw sx="100000" sy="100000" kx="0" ky="0" algn="bl" rotWithShape="0" blurRad="76200" dist="25400" dir="8100000">
              <a:srgbClr val="000000">
                <a:alpha val="12000"/>
              </a:srgbClr>
            </a:outerShdw>
          </a:effectLst>
        </p:spPr>
      </p:sp>
      <p:sp>
        <p:nvSpPr>
          <p:cNvPr id="10" name="Text 8"/>
          <p:cNvSpPr/>
          <p:nvPr/>
        </p:nvSpPr>
        <p:spPr>
          <a:xfrm>
            <a:off x="8453120" y="2113280"/>
            <a:ext cx="6990080" cy="975360"/>
          </a:xfrm>
          <a:prstGeom prst="rect">
            <a:avLst/>
          </a:prstGeom>
          <a:noFill/>
          <a:ln/>
        </p:spPr>
        <p:txBody>
          <a:bodyPr wrap="square" rtlCol="0" anchor="ctr"/>
          <a:lstStyle/>
          <a:p>
            <a:pPr algn="ctr" indent="0" marL="0">
              <a:buNone/>
            </a:pPr>
            <a:r>
              <a:rPr lang="en-US" sz="2800" b="1" dirty="0">
                <a:solidFill>
                  <a:srgbClr val="8B6FC0"/>
                </a:solidFill>
                <a:latin typeface="Cambria" pitchFamily="34" charset="0"/>
                <a:ea typeface="Cambria" pitchFamily="34" charset="-122"/>
                <a:cs typeface="Cambria" pitchFamily="34" charset="-120"/>
              </a:rPr>
              <a:t>pen- / paene-</a:t>
            </a:r>
            <a:endParaRPr lang="en-US" sz="2800" dirty="0"/>
          </a:p>
        </p:txBody>
      </p:sp>
      <p:sp>
        <p:nvSpPr>
          <p:cNvPr id="11" name="Text 9"/>
          <p:cNvSpPr/>
          <p:nvPr/>
        </p:nvSpPr>
        <p:spPr>
          <a:xfrm>
            <a:off x="8453120" y="3088640"/>
            <a:ext cx="6990080" cy="65024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Latin  --  means "almost"</a:t>
            </a:r>
            <a:endParaRPr lang="en-US" sz="1400" dirty="0"/>
          </a:p>
        </p:txBody>
      </p:sp>
      <p:sp>
        <p:nvSpPr>
          <p:cNvPr id="12" name="Shape 10"/>
          <p:cNvSpPr/>
          <p:nvPr/>
        </p:nvSpPr>
        <p:spPr>
          <a:xfrm>
            <a:off x="9591040" y="3820160"/>
            <a:ext cx="4551680" cy="0"/>
          </a:xfrm>
          <a:prstGeom prst="line">
            <a:avLst/>
          </a:prstGeom>
          <a:noFill/>
          <a:ln w="12700">
            <a:solidFill>
              <a:srgbClr val="8B6FC0"/>
            </a:solidFill>
            <a:prstDash val="solid"/>
          </a:ln>
        </p:spPr>
      </p:sp>
      <p:sp>
        <p:nvSpPr>
          <p:cNvPr id="13" name="Text 11"/>
          <p:cNvSpPr/>
          <p:nvPr/>
        </p:nvSpPr>
        <p:spPr>
          <a:xfrm>
            <a:off x="8778240" y="4064000"/>
            <a:ext cx="6339840" cy="3251200"/>
          </a:xfrm>
          <a:prstGeom prst="rect">
            <a:avLst/>
          </a:prstGeom>
          <a:noFill/>
          <a:ln/>
        </p:spPr>
        <p:txBody>
          <a:bodyPr wrap="square" rtlCol="0" anchor="t"/>
          <a:lstStyle/>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peninsula -- almost an island</a:t>
            </a: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(land with water on 3 sides)</a:t>
            </a:r>
            <a:endParaRPr lang="en-US" sz="1400" dirty="0"/>
          </a:p>
          <a:p>
            <a:pPr indent="0" marL="0">
              <a:lnSpc>
                <a:spcPct val="140000"/>
              </a:lnSpc>
              <a:buNone/>
            </a:pPr>
            <a:endParaRPr lang="en-US" sz="1400" dirty="0"/>
          </a:p>
          <a:p>
            <a:pPr indent="0" marL="0">
              <a:lnSpc>
                <a:spcPct val="140000"/>
              </a:lnSpc>
              <a:buNone/>
            </a:pPr>
            <a:r>
              <a:rPr lang="en-US" sz="1400" dirty="0">
                <a:solidFill>
                  <a:srgbClr val="0E1C42"/>
                </a:solidFill>
                <a:latin typeface="Calibri" pitchFamily="34" charset="0"/>
                <a:ea typeface="Calibri" pitchFamily="34" charset="-122"/>
                <a:cs typeface="Calibri" pitchFamily="34" charset="-120"/>
              </a:rPr>
              <a:t>penultimate -- almost the last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Root Match Challenge</a:t>
            </a:r>
            <a:endParaRPr lang="en-US" sz="2600" dirty="0"/>
          </a:p>
        </p:txBody>
      </p:sp>
      <p:sp>
        <p:nvSpPr>
          <p:cNvPr id="3" name="Text 1"/>
          <p:cNvSpPr/>
          <p:nvPr/>
        </p:nvSpPr>
        <p:spPr>
          <a:xfrm>
            <a:off x="812800" y="1381760"/>
            <a:ext cx="32512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YOUR TURN</a:t>
            </a:r>
            <a:endParaRPr lang="en-US" sz="1000" dirty="0"/>
          </a:p>
        </p:txBody>
      </p:sp>
      <p:sp>
        <p:nvSpPr>
          <p:cNvPr id="4" name="Text 2"/>
          <p:cNvSpPr/>
          <p:nvPr/>
        </p:nvSpPr>
        <p:spPr>
          <a:xfrm>
            <a:off x="812800" y="1788160"/>
            <a:ext cx="14630400" cy="65024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Match each word to its meaning. Use the roots as your clues!</a:t>
            </a:r>
            <a:endParaRPr lang="en-US" sz="1400" dirty="0"/>
          </a:p>
        </p:txBody>
      </p:sp>
      <p:sp>
        <p:nvSpPr>
          <p:cNvPr id="5" name="Shape 3"/>
          <p:cNvSpPr/>
          <p:nvPr/>
        </p:nvSpPr>
        <p:spPr>
          <a:xfrm>
            <a:off x="975360" y="2763520"/>
            <a:ext cx="5201920" cy="1056640"/>
          </a:xfrm>
          <a:prstGeom prst="roundRect">
            <a:avLst>
              <a:gd name="adj" fmla="val 15385"/>
            </a:avLst>
          </a:prstGeom>
          <a:solidFill>
            <a:srgbClr val="1A2D5A"/>
          </a:solidFill>
          <a:ln/>
        </p:spPr>
      </p:sp>
      <p:sp>
        <p:nvSpPr>
          <p:cNvPr id="6" name="Text 4"/>
          <p:cNvSpPr/>
          <p:nvPr/>
        </p:nvSpPr>
        <p:spPr>
          <a:xfrm>
            <a:off x="975360" y="2763520"/>
            <a:ext cx="5201920" cy="1056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geography</a:t>
            </a:r>
            <a:endParaRPr lang="en-US" sz="1800" dirty="0"/>
          </a:p>
        </p:txBody>
      </p:sp>
      <p:sp>
        <p:nvSpPr>
          <p:cNvPr id="7" name="Shape 5"/>
          <p:cNvSpPr/>
          <p:nvPr/>
        </p:nvSpPr>
        <p:spPr>
          <a:xfrm>
            <a:off x="975360" y="4145280"/>
            <a:ext cx="5201920" cy="1056640"/>
          </a:xfrm>
          <a:prstGeom prst="roundRect">
            <a:avLst>
              <a:gd name="adj" fmla="val 15385"/>
            </a:avLst>
          </a:prstGeom>
          <a:solidFill>
            <a:srgbClr val="1A2D5A"/>
          </a:solidFill>
          <a:ln/>
        </p:spPr>
      </p:sp>
      <p:sp>
        <p:nvSpPr>
          <p:cNvPr id="8" name="Text 6"/>
          <p:cNvSpPr/>
          <p:nvPr/>
        </p:nvSpPr>
        <p:spPr>
          <a:xfrm>
            <a:off x="975360" y="4145280"/>
            <a:ext cx="5201920" cy="1056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terrain</a:t>
            </a:r>
            <a:endParaRPr lang="en-US" sz="1800" dirty="0"/>
          </a:p>
        </p:txBody>
      </p:sp>
      <p:sp>
        <p:nvSpPr>
          <p:cNvPr id="9" name="Shape 7"/>
          <p:cNvSpPr/>
          <p:nvPr/>
        </p:nvSpPr>
        <p:spPr>
          <a:xfrm>
            <a:off x="975360" y="5527040"/>
            <a:ext cx="5201920" cy="1056640"/>
          </a:xfrm>
          <a:prstGeom prst="roundRect">
            <a:avLst>
              <a:gd name="adj" fmla="val 15385"/>
            </a:avLst>
          </a:prstGeom>
          <a:solidFill>
            <a:srgbClr val="1A2D5A"/>
          </a:solidFill>
          <a:ln/>
        </p:spPr>
      </p:sp>
      <p:sp>
        <p:nvSpPr>
          <p:cNvPr id="10" name="Text 8"/>
          <p:cNvSpPr/>
          <p:nvPr/>
        </p:nvSpPr>
        <p:spPr>
          <a:xfrm>
            <a:off x="975360" y="5527040"/>
            <a:ext cx="5201920" cy="1056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peninsula</a:t>
            </a:r>
            <a:endParaRPr lang="en-US" sz="1800" dirty="0"/>
          </a:p>
        </p:txBody>
      </p:sp>
      <p:sp>
        <p:nvSpPr>
          <p:cNvPr id="11" name="Shape 9"/>
          <p:cNvSpPr/>
          <p:nvPr/>
        </p:nvSpPr>
        <p:spPr>
          <a:xfrm>
            <a:off x="975360" y="6908800"/>
            <a:ext cx="5201920" cy="1056640"/>
          </a:xfrm>
          <a:prstGeom prst="roundRect">
            <a:avLst>
              <a:gd name="adj" fmla="val 15385"/>
            </a:avLst>
          </a:prstGeom>
          <a:solidFill>
            <a:srgbClr val="1A2D5A"/>
          </a:solidFill>
          <a:ln/>
        </p:spPr>
      </p:sp>
      <p:sp>
        <p:nvSpPr>
          <p:cNvPr id="12" name="Text 10"/>
          <p:cNvSpPr/>
          <p:nvPr/>
        </p:nvSpPr>
        <p:spPr>
          <a:xfrm>
            <a:off x="975360" y="6908800"/>
            <a:ext cx="5201920" cy="1056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aquatic</a:t>
            </a:r>
            <a:endParaRPr lang="en-US" sz="1800" dirty="0"/>
          </a:p>
        </p:txBody>
      </p:sp>
      <p:sp>
        <p:nvSpPr>
          <p:cNvPr id="13" name="Shape 11"/>
          <p:cNvSpPr/>
          <p:nvPr/>
        </p:nvSpPr>
        <p:spPr>
          <a:xfrm>
            <a:off x="9428480" y="2763520"/>
            <a:ext cx="5852160" cy="1056640"/>
          </a:xfrm>
          <a:prstGeom prst="roundRect">
            <a:avLst>
              <a:gd name="adj" fmla="val 15385"/>
            </a:avLst>
          </a:prstGeom>
          <a:solidFill>
            <a:srgbClr val="FFF3DC"/>
          </a:solidFill>
          <a:ln/>
        </p:spPr>
      </p:sp>
      <p:sp>
        <p:nvSpPr>
          <p:cNvPr id="14" name="Text 12"/>
          <p:cNvSpPr/>
          <p:nvPr/>
        </p:nvSpPr>
        <p:spPr>
          <a:xfrm>
            <a:off x="9428480" y="2763520"/>
            <a:ext cx="5852160" cy="1056640"/>
          </a:xfrm>
          <a:prstGeom prst="rect">
            <a:avLst/>
          </a:prstGeom>
          <a:noFill/>
          <a:ln/>
        </p:spPr>
        <p:txBody>
          <a:bodyPr wrap="square" rtlCol="0" anchor="ctr"/>
          <a:lstStyle/>
          <a:p>
            <a:pPr algn="ctr" indent="0" marL="0">
              <a:buNone/>
            </a:pPr>
            <a:r>
              <a:rPr lang="en-US" sz="1500" dirty="0">
                <a:solidFill>
                  <a:srgbClr val="0E1C42"/>
                </a:solidFill>
                <a:latin typeface="Calibri" pitchFamily="34" charset="0"/>
                <a:ea typeface="Calibri" pitchFamily="34" charset="-122"/>
                <a:cs typeface="Calibri" pitchFamily="34" charset="-120"/>
              </a:rPr>
              <a:t>writing about the earth</a:t>
            </a:r>
            <a:endParaRPr lang="en-US" sz="1500" dirty="0"/>
          </a:p>
        </p:txBody>
      </p:sp>
      <p:sp>
        <p:nvSpPr>
          <p:cNvPr id="15" name="Shape 13"/>
          <p:cNvSpPr/>
          <p:nvPr/>
        </p:nvSpPr>
        <p:spPr>
          <a:xfrm>
            <a:off x="9428480" y="4145280"/>
            <a:ext cx="5852160" cy="1056640"/>
          </a:xfrm>
          <a:prstGeom prst="roundRect">
            <a:avLst>
              <a:gd name="adj" fmla="val 15385"/>
            </a:avLst>
          </a:prstGeom>
          <a:solidFill>
            <a:srgbClr val="FFF3DC"/>
          </a:solidFill>
          <a:ln/>
        </p:spPr>
      </p:sp>
      <p:sp>
        <p:nvSpPr>
          <p:cNvPr id="16" name="Text 14"/>
          <p:cNvSpPr/>
          <p:nvPr/>
        </p:nvSpPr>
        <p:spPr>
          <a:xfrm>
            <a:off x="9428480" y="4145280"/>
            <a:ext cx="5852160" cy="1056640"/>
          </a:xfrm>
          <a:prstGeom prst="rect">
            <a:avLst/>
          </a:prstGeom>
          <a:noFill/>
          <a:ln/>
        </p:spPr>
        <p:txBody>
          <a:bodyPr wrap="square" rtlCol="0" anchor="ctr"/>
          <a:lstStyle/>
          <a:p>
            <a:pPr algn="ctr" indent="0" marL="0">
              <a:buNone/>
            </a:pPr>
            <a:r>
              <a:rPr lang="en-US" sz="1500" dirty="0">
                <a:solidFill>
                  <a:srgbClr val="0E1C42"/>
                </a:solidFill>
                <a:latin typeface="Calibri" pitchFamily="34" charset="0"/>
                <a:ea typeface="Calibri" pitchFamily="34" charset="-122"/>
                <a:cs typeface="Calibri" pitchFamily="34" charset="-120"/>
              </a:rPr>
              <a:t>land or ground surface</a:t>
            </a:r>
            <a:endParaRPr lang="en-US" sz="1500" dirty="0"/>
          </a:p>
        </p:txBody>
      </p:sp>
      <p:sp>
        <p:nvSpPr>
          <p:cNvPr id="17" name="Shape 15"/>
          <p:cNvSpPr/>
          <p:nvPr/>
        </p:nvSpPr>
        <p:spPr>
          <a:xfrm>
            <a:off x="9428480" y="5527040"/>
            <a:ext cx="5852160" cy="1056640"/>
          </a:xfrm>
          <a:prstGeom prst="roundRect">
            <a:avLst>
              <a:gd name="adj" fmla="val 15385"/>
            </a:avLst>
          </a:prstGeom>
          <a:solidFill>
            <a:srgbClr val="FFF3DC"/>
          </a:solidFill>
          <a:ln/>
        </p:spPr>
      </p:sp>
      <p:sp>
        <p:nvSpPr>
          <p:cNvPr id="18" name="Text 16"/>
          <p:cNvSpPr/>
          <p:nvPr/>
        </p:nvSpPr>
        <p:spPr>
          <a:xfrm>
            <a:off x="9428480" y="5527040"/>
            <a:ext cx="5852160" cy="1056640"/>
          </a:xfrm>
          <a:prstGeom prst="rect">
            <a:avLst/>
          </a:prstGeom>
          <a:noFill/>
          <a:ln/>
        </p:spPr>
        <p:txBody>
          <a:bodyPr wrap="square" rtlCol="0" anchor="ctr"/>
          <a:lstStyle/>
          <a:p>
            <a:pPr algn="ctr" indent="0" marL="0">
              <a:buNone/>
            </a:pPr>
            <a:r>
              <a:rPr lang="en-US" sz="1500" dirty="0">
                <a:solidFill>
                  <a:srgbClr val="0E1C42"/>
                </a:solidFill>
                <a:latin typeface="Calibri" pitchFamily="34" charset="0"/>
                <a:ea typeface="Calibri" pitchFamily="34" charset="-122"/>
                <a:cs typeface="Calibri" pitchFamily="34" charset="-120"/>
              </a:rPr>
              <a:t>almost an island</a:t>
            </a:r>
            <a:endParaRPr lang="en-US" sz="1500" dirty="0"/>
          </a:p>
        </p:txBody>
      </p:sp>
      <p:sp>
        <p:nvSpPr>
          <p:cNvPr id="19" name="Shape 17"/>
          <p:cNvSpPr/>
          <p:nvPr/>
        </p:nvSpPr>
        <p:spPr>
          <a:xfrm>
            <a:off x="9428480" y="6908800"/>
            <a:ext cx="5852160" cy="1056640"/>
          </a:xfrm>
          <a:prstGeom prst="roundRect">
            <a:avLst>
              <a:gd name="adj" fmla="val 15385"/>
            </a:avLst>
          </a:prstGeom>
          <a:solidFill>
            <a:srgbClr val="FFF3DC"/>
          </a:solidFill>
          <a:ln/>
        </p:spPr>
      </p:sp>
      <p:sp>
        <p:nvSpPr>
          <p:cNvPr id="20" name="Text 18"/>
          <p:cNvSpPr/>
          <p:nvPr/>
        </p:nvSpPr>
        <p:spPr>
          <a:xfrm>
            <a:off x="9428480" y="6908800"/>
            <a:ext cx="5852160" cy="1056640"/>
          </a:xfrm>
          <a:prstGeom prst="rect">
            <a:avLst/>
          </a:prstGeom>
          <a:noFill/>
          <a:ln/>
        </p:spPr>
        <p:txBody>
          <a:bodyPr wrap="square" rtlCol="0" anchor="ctr"/>
          <a:lstStyle/>
          <a:p>
            <a:pPr algn="ctr" indent="0" marL="0">
              <a:buNone/>
            </a:pPr>
            <a:r>
              <a:rPr lang="en-US" sz="1500" dirty="0">
                <a:solidFill>
                  <a:srgbClr val="0E1C42"/>
                </a:solidFill>
                <a:latin typeface="Calibri" pitchFamily="34" charset="0"/>
                <a:ea typeface="Calibri" pitchFamily="34" charset="-122"/>
                <a:cs typeface="Calibri" pitchFamily="34" charset="-120"/>
              </a:rPr>
              <a:t>related to water</a:t>
            </a:r>
            <a:endParaRPr lang="en-US" sz="1500" dirty="0"/>
          </a:p>
        </p:txBody>
      </p:sp>
      <p:sp>
        <p:nvSpPr>
          <p:cNvPr id="21" name="Text 19"/>
          <p:cNvSpPr/>
          <p:nvPr/>
        </p:nvSpPr>
        <p:spPr>
          <a:xfrm>
            <a:off x="812800" y="8128000"/>
            <a:ext cx="14630400" cy="56896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Think-Pair-Share: Discuss with a partner before we reveal answers!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Root Match -- Answers</a:t>
            </a:r>
            <a:endParaRPr lang="en-US" sz="2600" dirty="0"/>
          </a:p>
        </p:txBody>
      </p:sp>
      <p:sp>
        <p:nvSpPr>
          <p:cNvPr id="3" name="Shape 1"/>
          <p:cNvSpPr/>
          <p:nvPr/>
        </p:nvSpPr>
        <p:spPr>
          <a:xfrm>
            <a:off x="812800" y="1625600"/>
            <a:ext cx="14630400" cy="1381760"/>
          </a:xfrm>
          <a:prstGeom prst="roundRect">
            <a:avLst>
              <a:gd name="adj" fmla="val 11765"/>
            </a:avLst>
          </a:prstGeom>
          <a:solidFill>
            <a:srgbClr val="EAF8FD"/>
          </a:solidFill>
          <a:ln/>
        </p:spPr>
      </p:sp>
      <p:sp>
        <p:nvSpPr>
          <p:cNvPr id="4" name="Text 2"/>
          <p:cNvSpPr/>
          <p:nvPr/>
        </p:nvSpPr>
        <p:spPr>
          <a:xfrm>
            <a:off x="1137920" y="1706880"/>
            <a:ext cx="3576320" cy="1219200"/>
          </a:xfrm>
          <a:prstGeom prst="rect">
            <a:avLst/>
          </a:prstGeom>
          <a:noFill/>
          <a:ln/>
        </p:spPr>
        <p:txBody>
          <a:bodyPr wrap="square"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geography</a:t>
            </a:r>
            <a:endParaRPr lang="en-US" sz="1700" dirty="0"/>
          </a:p>
        </p:txBody>
      </p:sp>
      <p:sp>
        <p:nvSpPr>
          <p:cNvPr id="5" name="Text 3"/>
          <p:cNvSpPr/>
          <p:nvPr/>
        </p:nvSpPr>
        <p:spPr>
          <a:xfrm>
            <a:off x="4876800" y="1706880"/>
            <a:ext cx="5689600" cy="121920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geo- (earth) + -graphy (writing)</a:t>
            </a:r>
            <a:endParaRPr lang="en-US" sz="1300" dirty="0"/>
          </a:p>
        </p:txBody>
      </p:sp>
      <p:sp>
        <p:nvSpPr>
          <p:cNvPr id="6" name="Text 4"/>
          <p:cNvSpPr/>
          <p:nvPr/>
        </p:nvSpPr>
        <p:spPr>
          <a:xfrm>
            <a:off x="10728960" y="1706880"/>
            <a:ext cx="4389120" cy="12192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writing about the earth</a:t>
            </a:r>
            <a:endParaRPr lang="en-US" sz="1400" dirty="0"/>
          </a:p>
        </p:txBody>
      </p:sp>
      <p:sp>
        <p:nvSpPr>
          <p:cNvPr id="7" name="Shape 5"/>
          <p:cNvSpPr/>
          <p:nvPr/>
        </p:nvSpPr>
        <p:spPr>
          <a:xfrm>
            <a:off x="812800" y="3332480"/>
            <a:ext cx="14630400" cy="1381760"/>
          </a:xfrm>
          <a:prstGeom prst="roundRect">
            <a:avLst>
              <a:gd name="adj" fmla="val 11765"/>
            </a:avLst>
          </a:prstGeom>
          <a:solidFill>
            <a:srgbClr val="E3F8ED"/>
          </a:solidFill>
          <a:ln/>
        </p:spPr>
      </p:sp>
      <p:sp>
        <p:nvSpPr>
          <p:cNvPr id="8" name="Text 6"/>
          <p:cNvSpPr/>
          <p:nvPr/>
        </p:nvSpPr>
        <p:spPr>
          <a:xfrm>
            <a:off x="1137920" y="3413760"/>
            <a:ext cx="3576320" cy="1219200"/>
          </a:xfrm>
          <a:prstGeom prst="rect">
            <a:avLst/>
          </a:prstGeom>
          <a:noFill/>
          <a:ln/>
        </p:spPr>
        <p:txBody>
          <a:bodyPr wrap="square"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terrain</a:t>
            </a:r>
            <a:endParaRPr lang="en-US" sz="1700" dirty="0"/>
          </a:p>
        </p:txBody>
      </p:sp>
      <p:sp>
        <p:nvSpPr>
          <p:cNvPr id="9" name="Text 7"/>
          <p:cNvSpPr/>
          <p:nvPr/>
        </p:nvSpPr>
        <p:spPr>
          <a:xfrm>
            <a:off x="4876800" y="3413760"/>
            <a:ext cx="5689600" cy="121920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terra- (land)</a:t>
            </a:r>
            <a:endParaRPr lang="en-US" sz="1300" dirty="0"/>
          </a:p>
        </p:txBody>
      </p:sp>
      <p:sp>
        <p:nvSpPr>
          <p:cNvPr id="10" name="Text 8"/>
          <p:cNvSpPr/>
          <p:nvPr/>
        </p:nvSpPr>
        <p:spPr>
          <a:xfrm>
            <a:off x="10728960" y="3413760"/>
            <a:ext cx="4389120" cy="12192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land or ground surface</a:t>
            </a:r>
            <a:endParaRPr lang="en-US" sz="1400" dirty="0"/>
          </a:p>
        </p:txBody>
      </p:sp>
      <p:sp>
        <p:nvSpPr>
          <p:cNvPr id="11" name="Shape 9"/>
          <p:cNvSpPr/>
          <p:nvPr/>
        </p:nvSpPr>
        <p:spPr>
          <a:xfrm>
            <a:off x="812800" y="5039360"/>
            <a:ext cx="14630400" cy="1381760"/>
          </a:xfrm>
          <a:prstGeom prst="roundRect">
            <a:avLst>
              <a:gd name="adj" fmla="val 11765"/>
            </a:avLst>
          </a:prstGeom>
          <a:solidFill>
            <a:srgbClr val="EAF8FD"/>
          </a:solidFill>
          <a:ln/>
        </p:spPr>
      </p:sp>
      <p:sp>
        <p:nvSpPr>
          <p:cNvPr id="12" name="Text 10"/>
          <p:cNvSpPr/>
          <p:nvPr/>
        </p:nvSpPr>
        <p:spPr>
          <a:xfrm>
            <a:off x="1137920" y="5120640"/>
            <a:ext cx="3576320" cy="1219200"/>
          </a:xfrm>
          <a:prstGeom prst="rect">
            <a:avLst/>
          </a:prstGeom>
          <a:noFill/>
          <a:ln/>
        </p:spPr>
        <p:txBody>
          <a:bodyPr wrap="square"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peninsula</a:t>
            </a:r>
            <a:endParaRPr lang="en-US" sz="1700" dirty="0"/>
          </a:p>
        </p:txBody>
      </p:sp>
      <p:sp>
        <p:nvSpPr>
          <p:cNvPr id="13" name="Text 11"/>
          <p:cNvSpPr/>
          <p:nvPr/>
        </p:nvSpPr>
        <p:spPr>
          <a:xfrm>
            <a:off x="4876800" y="5120640"/>
            <a:ext cx="5689600" cy="121920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pen- (almost) + insula (island)</a:t>
            </a:r>
            <a:endParaRPr lang="en-US" sz="1300" dirty="0"/>
          </a:p>
        </p:txBody>
      </p:sp>
      <p:sp>
        <p:nvSpPr>
          <p:cNvPr id="14" name="Text 12"/>
          <p:cNvSpPr/>
          <p:nvPr/>
        </p:nvSpPr>
        <p:spPr>
          <a:xfrm>
            <a:off x="10728960" y="5120640"/>
            <a:ext cx="4389120" cy="12192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almost an island</a:t>
            </a:r>
            <a:endParaRPr lang="en-US" sz="1400" dirty="0"/>
          </a:p>
        </p:txBody>
      </p:sp>
      <p:sp>
        <p:nvSpPr>
          <p:cNvPr id="15" name="Shape 13"/>
          <p:cNvSpPr/>
          <p:nvPr/>
        </p:nvSpPr>
        <p:spPr>
          <a:xfrm>
            <a:off x="812800" y="6746240"/>
            <a:ext cx="14630400" cy="1381760"/>
          </a:xfrm>
          <a:prstGeom prst="roundRect">
            <a:avLst>
              <a:gd name="adj" fmla="val 11765"/>
            </a:avLst>
          </a:prstGeom>
          <a:solidFill>
            <a:srgbClr val="E3F8ED"/>
          </a:solidFill>
          <a:ln/>
        </p:spPr>
      </p:sp>
      <p:sp>
        <p:nvSpPr>
          <p:cNvPr id="16" name="Text 14"/>
          <p:cNvSpPr/>
          <p:nvPr/>
        </p:nvSpPr>
        <p:spPr>
          <a:xfrm>
            <a:off x="1137920" y="6827520"/>
            <a:ext cx="3576320" cy="1219200"/>
          </a:xfrm>
          <a:prstGeom prst="rect">
            <a:avLst/>
          </a:prstGeom>
          <a:noFill/>
          <a:ln/>
        </p:spPr>
        <p:txBody>
          <a:bodyPr wrap="square"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aquatic</a:t>
            </a:r>
            <a:endParaRPr lang="en-US" sz="1700" dirty="0"/>
          </a:p>
        </p:txBody>
      </p:sp>
      <p:sp>
        <p:nvSpPr>
          <p:cNvPr id="17" name="Text 15"/>
          <p:cNvSpPr/>
          <p:nvPr/>
        </p:nvSpPr>
        <p:spPr>
          <a:xfrm>
            <a:off x="4876800" y="6827520"/>
            <a:ext cx="5689600" cy="121920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aqua- (water)</a:t>
            </a:r>
            <a:endParaRPr lang="en-US" sz="1300" dirty="0"/>
          </a:p>
        </p:txBody>
      </p:sp>
      <p:sp>
        <p:nvSpPr>
          <p:cNvPr id="18" name="Text 16"/>
          <p:cNvSpPr/>
          <p:nvPr/>
        </p:nvSpPr>
        <p:spPr>
          <a:xfrm>
            <a:off x="10728960" y="6827520"/>
            <a:ext cx="4389120" cy="12192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related to water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Source Study: See the Root in Action</a:t>
            </a:r>
            <a:endParaRPr lang="en-US" sz="2400" dirty="0"/>
          </a:p>
        </p:txBody>
      </p:sp>
      <p:sp>
        <p:nvSpPr>
          <p:cNvPr id="3" name="Text 1"/>
          <p:cNvSpPr/>
          <p:nvPr/>
        </p:nvSpPr>
        <p:spPr>
          <a:xfrm>
            <a:off x="812800" y="1381760"/>
            <a:ext cx="24384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NARRATE</a:t>
            </a:r>
            <a:endParaRPr lang="en-US" sz="1000" dirty="0"/>
          </a:p>
        </p:txBody>
      </p:sp>
      <p:sp>
        <p:nvSpPr>
          <p:cNvPr id="4" name="Shape 2"/>
          <p:cNvSpPr/>
          <p:nvPr/>
        </p:nvSpPr>
        <p:spPr>
          <a:xfrm>
            <a:off x="812800" y="1950720"/>
            <a:ext cx="7315200" cy="520192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812800" y="195072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056640" y="2438400"/>
            <a:ext cx="682752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Real photograph of a peninsula (aerial view showing land surrounded by water on three sides), or a Roman aqueduct, or terraced farmland -- source: Library of Congress, Wikimedia Commons, or NASA Earth Observatory. Save as source-3-05-05-root-feature.jpg</a:t>
            </a:r>
            <a:endParaRPr lang="en-US" sz="1100" dirty="0"/>
          </a:p>
        </p:txBody>
      </p:sp>
      <p:sp>
        <p:nvSpPr>
          <p:cNvPr id="7" name="Shape 5"/>
          <p:cNvSpPr/>
          <p:nvPr/>
        </p:nvSpPr>
        <p:spPr>
          <a:xfrm>
            <a:off x="8615680" y="1950720"/>
            <a:ext cx="6827520" cy="5201920"/>
          </a:xfrm>
          <a:prstGeom prst="roundRect">
            <a:avLst>
              <a:gd name="adj" fmla="val 3750"/>
            </a:avLst>
          </a:prstGeom>
          <a:solidFill>
            <a:srgbClr val="FFFFFF"/>
          </a:solidFill>
          <a:ln/>
          <a:effectLst>
            <a:outerShdw sx="100000" sy="100000" kx="0" ky="0" algn="bl" rotWithShape="0" blurRad="50800" dist="25400" dir="8100000">
              <a:srgbClr val="000000">
                <a:alpha val="10000"/>
              </a:srgbClr>
            </a:outerShdw>
          </a:effectLst>
        </p:spPr>
      </p:sp>
      <p:sp>
        <p:nvSpPr>
          <p:cNvPr id="8" name="Text 6"/>
          <p:cNvSpPr/>
          <p:nvPr/>
        </p:nvSpPr>
        <p:spPr>
          <a:xfrm>
            <a:off x="8940800" y="2113280"/>
            <a:ext cx="617728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QUESTION LIKE A GEOGRAPHER</a:t>
            </a:r>
            <a:endParaRPr lang="en-US" sz="900" dirty="0"/>
          </a:p>
        </p:txBody>
      </p:sp>
      <p:sp>
        <p:nvSpPr>
          <p:cNvPr id="9" name="Text 7"/>
          <p:cNvSpPr/>
          <p:nvPr/>
        </p:nvSpPr>
        <p:spPr>
          <a:xfrm>
            <a:off x="8940800" y="2682240"/>
            <a:ext cx="6177280" cy="4226560"/>
          </a:xfrm>
          <a:prstGeom prst="rect">
            <a:avLst/>
          </a:prstGeom>
          <a:noFill/>
          <a:ln/>
        </p:spPr>
        <p:txBody>
          <a:bodyPr wrap="square" rtlCol="0" anchor="t"/>
          <a:lstStyle/>
          <a:p>
            <a:pPr indent="0" marL="0">
              <a:lnSpc>
                <a:spcPct val="115000"/>
              </a:lnSpc>
              <a:buNone/>
            </a:pPr>
            <a:r>
              <a:rPr lang="en-US" sz="1300" b="1" dirty="0">
                <a:solidFill>
                  <a:srgbClr val="0E1C42"/>
                </a:solidFill>
                <a:latin typeface="Calibri" pitchFamily="34" charset="0"/>
                <a:ea typeface="Calibri" pitchFamily="34" charset="-122"/>
                <a:cs typeface="Calibri" pitchFamily="34" charset="-120"/>
              </a:rPr>
              <a:t>What do I see?
</a:t>
            </a:r>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What kind of place is it? What does the name tell you to expect?
</a:t>
            </a:r>
            <a:pPr indent="0" marL="0">
              <a:lnSpc>
                <a:spcPct val="115000"/>
              </a:lnSpc>
              <a:buNone/>
            </a:pPr>
            <a:r>
              <a:rPr lang="en-US" sz="1300" b="1" dirty="0">
                <a:solidFill>
                  <a:srgbClr val="0E1C42"/>
                </a:solidFill>
                <a:latin typeface="Calibri" pitchFamily="34" charset="0"/>
                <a:ea typeface="Calibri" pitchFamily="34" charset="-122"/>
                <a:cs typeface="Calibri" pitchFamily="34" charset="-120"/>
              </a:rPr>
              <a:t>What does it mean?
</a:t>
            </a:r>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What root is hiding inside the name? How does it match what you see?
</a:t>
            </a:r>
            <a:pPr indent="0" marL="0">
              <a:lnSpc>
                <a:spcPct val="115000"/>
              </a:lnSpc>
              <a:buNone/>
            </a:pPr>
            <a:r>
              <a:rPr lang="en-US" sz="1300" b="1" dirty="0">
                <a:solidFill>
                  <a:srgbClr val="0E1C42"/>
                </a:solidFill>
                <a:latin typeface="Calibri" pitchFamily="34" charset="0"/>
                <a:ea typeface="Calibri" pitchFamily="34" charset="-122"/>
                <a:cs typeface="Calibri" pitchFamily="34" charset="-120"/>
              </a:rPr>
              <a:t>Why does it matter?
</a:t>
            </a:r>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Why did the people who named this place choose that root?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Discovery Fact</a:t>
            </a:r>
            <a:endParaRPr lang="en-US" sz="2600" dirty="0"/>
          </a:p>
        </p:txBody>
      </p:sp>
      <p:sp>
        <p:nvSpPr>
          <p:cNvPr id="3" name="Shape 1"/>
          <p:cNvSpPr/>
          <p:nvPr/>
        </p:nvSpPr>
        <p:spPr>
          <a:xfrm>
            <a:off x="812800" y="1625600"/>
            <a:ext cx="14630400" cy="2600960"/>
          </a:xfrm>
          <a:prstGeom prst="roundRect">
            <a:avLst>
              <a:gd name="adj" fmla="val 9375"/>
            </a:avLst>
          </a:prstGeom>
          <a:solidFill>
            <a:srgbClr val="EAF8FD"/>
          </a:solidFill>
          <a:ln/>
          <a:effectLst>
            <a:outerShdw sx="100000" sy="100000" kx="0" ky="0" algn="bl" rotWithShape="0" blurRad="50800" dist="25400" dir="8100000">
              <a:srgbClr val="000000">
                <a:alpha val="10000"/>
              </a:srgbClr>
            </a:outerShdw>
          </a:effectLst>
        </p:spPr>
      </p:sp>
      <p:sp>
        <p:nvSpPr>
          <p:cNvPr id="4" name="Text 2"/>
          <p:cNvSpPr/>
          <p:nvPr/>
        </p:nvSpPr>
        <p:spPr>
          <a:xfrm>
            <a:off x="1300480" y="1788160"/>
            <a:ext cx="13655040" cy="2275840"/>
          </a:xfrm>
          <a:prstGeom prst="rect">
            <a:avLst/>
          </a:prstGeom>
          <a:noFill/>
          <a:ln/>
        </p:spPr>
        <p:txBody>
          <a:bodyPr wrap="square" rtlCol="0" anchor="ctr"/>
          <a:lstStyle/>
          <a:p>
            <a:pPr algn="ctr" indent="0" marL="0">
              <a:lnSpc>
                <a:spcPct val="125000"/>
              </a:lnSpc>
              <a:buNone/>
            </a:pPr>
            <a:r>
              <a:rPr lang="en-US" sz="1600" dirty="0">
                <a:solidFill>
                  <a:srgbClr val="0E1C42"/>
                </a:solidFill>
                <a:latin typeface="Calibri" pitchFamily="34" charset="0"/>
                <a:ea typeface="Calibri" pitchFamily="34" charset="-122"/>
                <a:cs typeface="Calibri" pitchFamily="34" charset="-120"/>
              </a:rPr>
              <a:t>The word "Arctic" comes from the Greek word arktos, meaning "bear" -- because the northern sky has the constellation Ursa Major, the Great Bear!</a:t>
            </a:r>
            <a:endParaRPr lang="en-US" sz="1600" dirty="0"/>
          </a:p>
        </p:txBody>
      </p:sp>
      <p:sp>
        <p:nvSpPr>
          <p:cNvPr id="5" name="Text 3"/>
          <p:cNvSpPr/>
          <p:nvPr/>
        </p:nvSpPr>
        <p:spPr>
          <a:xfrm>
            <a:off x="812800" y="4714240"/>
            <a:ext cx="146304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THEN AND NOW</a:t>
            </a:r>
            <a:endParaRPr lang="en-US" sz="1000" dirty="0"/>
          </a:p>
        </p:txBody>
      </p:sp>
      <p:sp>
        <p:nvSpPr>
          <p:cNvPr id="6" name="Shape 4"/>
          <p:cNvSpPr/>
          <p:nvPr/>
        </p:nvSpPr>
        <p:spPr>
          <a:xfrm>
            <a:off x="812800" y="5364480"/>
            <a:ext cx="14630400" cy="2600960"/>
          </a:xfrm>
          <a:prstGeom prst="roundRect">
            <a:avLst>
              <a:gd name="adj" fmla="val 9375"/>
            </a:avLst>
          </a:prstGeom>
          <a:solidFill>
            <a:srgbClr val="FFF8F0"/>
          </a:solidFill>
          <a:ln/>
        </p:spPr>
      </p:sp>
      <p:sp>
        <p:nvSpPr>
          <p:cNvPr id="7" name="Text 5"/>
          <p:cNvSpPr/>
          <p:nvPr/>
        </p:nvSpPr>
        <p:spPr>
          <a:xfrm>
            <a:off x="1300480" y="5527040"/>
            <a:ext cx="13655040" cy="2275840"/>
          </a:xfrm>
          <a:prstGeom prst="rect">
            <a:avLst/>
          </a:prstGeom>
          <a:noFill/>
          <a:ln/>
        </p:spPr>
        <p:txBody>
          <a:bodyPr wrap="square" rtlCol="0" anchor="ctr"/>
          <a:lstStyle/>
          <a:p>
            <a:pPr algn="ctr" indent="0" marL="0">
              <a:lnSpc>
                <a:spcPct val="120000"/>
              </a:lnSpc>
              <a:buNone/>
            </a:pPr>
            <a:r>
              <a:rPr lang="en-US" sz="1400" dirty="0">
                <a:solidFill>
                  <a:srgbClr val="0E1C42"/>
                </a:solidFill>
                <a:latin typeface="Calibri" pitchFamily="34" charset="0"/>
                <a:ea typeface="Calibri" pitchFamily="34" charset="-122"/>
                <a:cs typeface="Calibri" pitchFamily="34" charset="-120"/>
              </a:rPr>
              <a:t>Ancient Romans and Greeks named the places they discovered using their own languages. Thousands of years later, we still use those roots.</a:t>
            </a:r>
            <a:endParaRPr lang="en-US" sz="1400" dirty="0"/>
          </a:p>
          <a:p>
            <a:pPr algn="ctr" indent="0" marL="0">
              <a:lnSpc>
                <a:spcPct val="120000"/>
              </a:lnSpc>
              <a:buNone/>
            </a:pPr>
            <a:endParaRPr lang="en-US" sz="1400" dirty="0"/>
          </a:p>
          <a:p>
            <a:pPr algn="ctr" indent="0" marL="0">
              <a:lnSpc>
                <a:spcPct val="120000"/>
              </a:lnSpc>
              <a:buNone/>
            </a:pPr>
            <a:r>
              <a:rPr lang="en-US" sz="1400" dirty="0">
                <a:solidFill>
                  <a:srgbClr val="0E1C42"/>
                </a:solidFill>
                <a:latin typeface="Calibri" pitchFamily="34" charset="0"/>
                <a:ea typeface="Calibri" pitchFamily="34" charset="-122"/>
                <a:cs typeface="Calibri" pitchFamily="34" charset="-120"/>
              </a:rPr>
              <a:t>The word Mediterranean literally means "middle of the land."</a:t>
            </a:r>
            <a:endParaRPr lang="en-US" sz="1400" dirty="0"/>
          </a:p>
          <a:p>
            <a:pPr algn="ctr" indent="0" marL="0">
              <a:lnSpc>
                <a:spcPct val="120000"/>
              </a:lnSpc>
              <a:buNone/>
            </a:pPr>
            <a:r>
              <a:rPr lang="en-US" sz="1400" dirty="0">
                <a:solidFill>
                  <a:srgbClr val="0E1C42"/>
                </a:solidFill>
                <a:latin typeface="Calibri" pitchFamily="34" charset="0"/>
                <a:ea typeface="Calibri" pitchFamily="34" charset="-122"/>
                <a:cs typeface="Calibri" pitchFamily="34" charset="-120"/>
              </a:rPr>
              <a:t>Some names never change.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Why Word Roots Matter</a:t>
            </a:r>
            <a:endParaRPr lang="en-US" sz="2600" dirty="0"/>
          </a:p>
        </p:txBody>
      </p:sp>
      <p:sp>
        <p:nvSpPr>
          <p:cNvPr id="3" name="Shape 1"/>
          <p:cNvSpPr/>
          <p:nvPr/>
        </p:nvSpPr>
        <p:spPr>
          <a:xfrm>
            <a:off x="812800" y="1625600"/>
            <a:ext cx="14630400" cy="3576320"/>
          </a:xfrm>
          <a:prstGeom prst="roundRect">
            <a:avLst>
              <a:gd name="adj" fmla="val 6818"/>
            </a:avLst>
          </a:prstGeom>
          <a:solidFill>
            <a:srgbClr val="FFFFFF"/>
          </a:solidFill>
          <a:ln/>
          <a:effectLst>
            <a:outerShdw sx="100000" sy="100000" kx="0" ky="0" algn="bl" rotWithShape="0" blurRad="76200" dist="25400" dir="8100000">
              <a:srgbClr val="000000">
                <a:alpha val="12000"/>
              </a:srgbClr>
            </a:outerShdw>
          </a:effectLst>
        </p:spPr>
      </p:sp>
      <p:sp>
        <p:nvSpPr>
          <p:cNvPr id="4" name="Text 2"/>
          <p:cNvSpPr/>
          <p:nvPr/>
        </p:nvSpPr>
        <p:spPr>
          <a:xfrm>
            <a:off x="1137920" y="1788160"/>
            <a:ext cx="1398016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EXHIBIT LABEL</a:t>
            </a:r>
            <a:endParaRPr lang="en-US" sz="900" dirty="0"/>
          </a:p>
        </p:txBody>
      </p:sp>
      <p:sp>
        <p:nvSpPr>
          <p:cNvPr id="5" name="Text 3"/>
          <p:cNvSpPr/>
          <p:nvPr/>
        </p:nvSpPr>
        <p:spPr>
          <a:xfrm>
            <a:off x="1137920" y="2438400"/>
            <a:ext cx="13980160" cy="1625600"/>
          </a:xfrm>
          <a:prstGeom prst="rect">
            <a:avLst/>
          </a:prstGeom>
          <a:noFill/>
          <a:ln/>
        </p:spPr>
        <p:txBody>
          <a:bodyPr wrap="square" rtlCol="0" anchor="ctr"/>
          <a:lstStyle/>
          <a:p>
            <a:pPr algn="ctr" indent="0" marL="0">
              <a:lnSpc>
                <a:spcPct val="120000"/>
              </a:lnSpc>
              <a:buNone/>
            </a:pPr>
            <a:r>
              <a:rPr lang="en-US" sz="1800" b="1" dirty="0">
                <a:solidFill>
                  <a:srgbClr val="0E1C42"/>
                </a:solidFill>
                <a:latin typeface="Cambria" pitchFamily="34" charset="0"/>
                <a:ea typeface="Cambria" pitchFamily="34" charset="-122"/>
                <a:cs typeface="Cambria" pitchFamily="34" charset="-120"/>
              </a:rPr>
              <a:t>Latin and Greek word roots are hidden inside geographic terms. Knowing the root helps you understand -- and explain -- what a term really describes.</a:t>
            </a:r>
            <a:endParaRPr lang="en-US" sz="1800" dirty="0"/>
          </a:p>
        </p:txBody>
      </p:sp>
      <p:sp>
        <p:nvSpPr>
          <p:cNvPr id="6" name="Text 4"/>
          <p:cNvSpPr/>
          <p:nvPr/>
        </p:nvSpPr>
        <p:spPr>
          <a:xfrm>
            <a:off x="1137920" y="4064000"/>
            <a:ext cx="13980160" cy="81280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When you write a label for the map, you can use roots to explain terms clearly.</a:t>
            </a:r>
            <a:endParaRPr lang="en-US" sz="1400" dirty="0"/>
          </a:p>
        </p:txBody>
      </p:sp>
      <p:sp>
        <p:nvSpPr>
          <p:cNvPr id="7" name="Shape 5"/>
          <p:cNvSpPr/>
          <p:nvPr/>
        </p:nvSpPr>
        <p:spPr>
          <a:xfrm>
            <a:off x="2438400" y="5689600"/>
            <a:ext cx="11379200" cy="2113280"/>
          </a:xfrm>
          <a:prstGeom prst="roundRect">
            <a:avLst>
              <a:gd name="adj" fmla="val 9231"/>
            </a:avLst>
          </a:prstGeom>
          <a:solidFill>
            <a:srgbClr val="FFF3DC"/>
          </a:solidFill>
          <a:ln/>
        </p:spPr>
      </p:sp>
      <p:sp>
        <p:nvSpPr>
          <p:cNvPr id="8" name="Text 6"/>
          <p:cNvSpPr/>
          <p:nvPr/>
        </p:nvSpPr>
        <p:spPr>
          <a:xfrm>
            <a:off x="2763520" y="5852160"/>
            <a:ext cx="1072896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9" name="Text 7"/>
          <p:cNvSpPr/>
          <p:nvPr/>
        </p:nvSpPr>
        <p:spPr>
          <a:xfrm>
            <a:off x="2763520" y="6339840"/>
            <a:ext cx="10728960" cy="130048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The word "volcano" comes from Vulcan, the Roman god of fire. Even the name tells you what happens there!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Self-Check</a:t>
            </a:r>
            <a:endParaRPr lang="en-US" sz="2600" dirty="0"/>
          </a:p>
        </p:txBody>
      </p:sp>
      <p:sp>
        <p:nvSpPr>
          <p:cNvPr id="3" name="Text 1"/>
          <p:cNvSpPr/>
          <p:nvPr/>
        </p:nvSpPr>
        <p:spPr>
          <a:xfrm>
            <a:off x="812800" y="1300480"/>
            <a:ext cx="14630400" cy="48768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Not graded -- just for you!</a:t>
            </a:r>
            <a:endParaRPr lang="en-US" sz="1200" dirty="0"/>
          </a:p>
        </p:txBody>
      </p:sp>
      <p:sp>
        <p:nvSpPr>
          <p:cNvPr id="4" name="Shape 2"/>
          <p:cNvSpPr/>
          <p:nvPr/>
        </p:nvSpPr>
        <p:spPr>
          <a:xfrm>
            <a:off x="812800" y="1950720"/>
            <a:ext cx="14630400" cy="2926080"/>
          </a:xfrm>
          <a:prstGeom prst="roundRect">
            <a:avLst>
              <a:gd name="adj" fmla="val 6667"/>
            </a:avLst>
          </a:prstGeom>
          <a:solidFill>
            <a:srgbClr val="FFFFFF"/>
          </a:solidFill>
          <a:ln/>
          <a:effectLst>
            <a:outerShdw sx="100000" sy="100000" kx="0" ky="0" algn="bl" rotWithShape="0" blurRad="50800" dist="25400" dir="8100000">
              <a:srgbClr val="000000">
                <a:alpha val="10000"/>
              </a:srgbClr>
            </a:outerShdw>
          </a:effectLst>
        </p:spPr>
      </p:sp>
      <p:sp>
        <p:nvSpPr>
          <p:cNvPr id="5" name="Text 3"/>
          <p:cNvSpPr/>
          <p:nvPr/>
        </p:nvSpPr>
        <p:spPr>
          <a:xfrm>
            <a:off x="1137920" y="2113280"/>
            <a:ext cx="650240" cy="650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056640" y="2080768"/>
            <a:ext cx="731520" cy="731520"/>
          </a:xfrm>
          <a:prstGeom prst="ellipse">
            <a:avLst/>
          </a:prstGeom>
          <a:solidFill>
            <a:srgbClr val="1A8A7D"/>
          </a:solidFill>
          <a:ln/>
        </p:spPr>
      </p:sp>
      <p:sp>
        <p:nvSpPr>
          <p:cNvPr id="7" name="Text 5"/>
          <p:cNvSpPr/>
          <p:nvPr/>
        </p:nvSpPr>
        <p:spPr>
          <a:xfrm>
            <a:off x="1056640" y="2080768"/>
            <a:ext cx="7315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2113280" y="2113280"/>
            <a:ext cx="13004800" cy="6502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root geo- means "earth." What does a geographer study?</a:t>
            </a:r>
            <a:endParaRPr lang="en-US" sz="1400" dirty="0"/>
          </a:p>
        </p:txBody>
      </p:sp>
      <p:sp>
        <p:nvSpPr>
          <p:cNvPr id="9" name="Text 7"/>
          <p:cNvSpPr/>
          <p:nvPr/>
        </p:nvSpPr>
        <p:spPr>
          <a:xfrm>
            <a:off x="2113280" y="2844800"/>
            <a:ext cx="13004800" cy="56896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The ocean floor      B. The earth and its features      C. Outer space</a:t>
            </a:r>
            <a:endParaRPr lang="en-US" sz="1300" dirty="0"/>
          </a:p>
        </p:txBody>
      </p:sp>
      <p:sp>
        <p:nvSpPr>
          <p:cNvPr id="10" name="Text 8"/>
          <p:cNvSpPr/>
          <p:nvPr/>
        </p:nvSpPr>
        <p:spPr>
          <a:xfrm>
            <a:off x="2113280" y="3576320"/>
            <a:ext cx="13004800" cy="81280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B -- geo- means earth, so a geographer studies the earth and its features.</a:t>
            </a:r>
            <a:endParaRPr lang="en-US" sz="1200" dirty="0"/>
          </a:p>
        </p:txBody>
      </p:sp>
      <p:sp>
        <p:nvSpPr>
          <p:cNvPr id="11" name="Shape 9"/>
          <p:cNvSpPr/>
          <p:nvPr/>
        </p:nvSpPr>
        <p:spPr>
          <a:xfrm>
            <a:off x="812800" y="5201920"/>
            <a:ext cx="14630400" cy="2926080"/>
          </a:xfrm>
          <a:prstGeom prst="roundRect">
            <a:avLst>
              <a:gd name="adj" fmla="val 6667"/>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1056640" y="5364480"/>
            <a:ext cx="731520" cy="731520"/>
          </a:xfrm>
          <a:prstGeom prst="ellipse">
            <a:avLst/>
          </a:prstGeom>
          <a:solidFill>
            <a:srgbClr val="1A8A7D"/>
          </a:solidFill>
          <a:ln/>
        </p:spPr>
      </p:sp>
      <p:sp>
        <p:nvSpPr>
          <p:cNvPr id="13" name="Text 11"/>
          <p:cNvSpPr/>
          <p:nvPr/>
        </p:nvSpPr>
        <p:spPr>
          <a:xfrm>
            <a:off x="1056640" y="5364480"/>
            <a:ext cx="7315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113280" y="5445760"/>
            <a:ext cx="13004800" cy="6502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root terra- means "land." Which word most likely describes the surface of the land?</a:t>
            </a:r>
            <a:endParaRPr lang="en-US" sz="1400" dirty="0"/>
          </a:p>
        </p:txBody>
      </p:sp>
      <p:sp>
        <p:nvSpPr>
          <p:cNvPr id="15" name="Text 13"/>
          <p:cNvSpPr/>
          <p:nvPr/>
        </p:nvSpPr>
        <p:spPr>
          <a:xfrm>
            <a:off x="2113280" y="6177280"/>
            <a:ext cx="13004800" cy="56896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Terrain      B. Aquarium      C. Compass</a:t>
            </a:r>
            <a:endParaRPr lang="en-US" sz="1300" dirty="0"/>
          </a:p>
        </p:txBody>
      </p:sp>
      <p:sp>
        <p:nvSpPr>
          <p:cNvPr id="16" name="Text 14"/>
          <p:cNvSpPr/>
          <p:nvPr/>
        </p:nvSpPr>
        <p:spPr>
          <a:xfrm>
            <a:off x="2113280" y="6908800"/>
            <a:ext cx="13004800" cy="81280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A -- Terrain contains the root terra- (land). It describes the land's surface.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Self-Check (continued)</a:t>
            </a:r>
            <a:endParaRPr lang="en-US" sz="2600" dirty="0"/>
          </a:p>
        </p:txBody>
      </p:sp>
      <p:sp>
        <p:nvSpPr>
          <p:cNvPr id="3" name="Shape 1"/>
          <p:cNvSpPr/>
          <p:nvPr/>
        </p:nvSpPr>
        <p:spPr>
          <a:xfrm>
            <a:off x="812800" y="1625600"/>
            <a:ext cx="14630400" cy="2926080"/>
          </a:xfrm>
          <a:prstGeom prst="roundRect">
            <a:avLst>
              <a:gd name="adj" fmla="val 6667"/>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1056640" y="1788160"/>
            <a:ext cx="731520" cy="731520"/>
          </a:xfrm>
          <a:prstGeom prst="ellipse">
            <a:avLst/>
          </a:prstGeom>
          <a:solidFill>
            <a:srgbClr val="1A8A7D"/>
          </a:solidFill>
          <a:ln/>
        </p:spPr>
      </p:sp>
      <p:sp>
        <p:nvSpPr>
          <p:cNvPr id="5" name="Text 3"/>
          <p:cNvSpPr/>
          <p:nvPr/>
        </p:nvSpPr>
        <p:spPr>
          <a:xfrm>
            <a:off x="1056640" y="1788160"/>
            <a:ext cx="7315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6" name="Text 4"/>
          <p:cNvSpPr/>
          <p:nvPr/>
        </p:nvSpPr>
        <p:spPr>
          <a:xfrm>
            <a:off x="2113280" y="1869440"/>
            <a:ext cx="13004800" cy="6502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If pen- means "almost" and insula means "island," what is a peninsula?</a:t>
            </a:r>
            <a:endParaRPr lang="en-US" sz="1400" dirty="0"/>
          </a:p>
        </p:txBody>
      </p:sp>
      <p:sp>
        <p:nvSpPr>
          <p:cNvPr id="7" name="Text 5"/>
          <p:cNvSpPr/>
          <p:nvPr/>
        </p:nvSpPr>
        <p:spPr>
          <a:xfrm>
            <a:off x="2113280" y="2600960"/>
            <a:ext cx="13004800" cy="97536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A. A small island far from shore</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B. Land surrounded by water on three sides</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C. A deep ocean trench</a:t>
            </a:r>
            <a:endParaRPr lang="en-US" sz="1300" dirty="0"/>
          </a:p>
        </p:txBody>
      </p:sp>
      <p:sp>
        <p:nvSpPr>
          <p:cNvPr id="8" name="Text 6"/>
          <p:cNvSpPr/>
          <p:nvPr/>
        </p:nvSpPr>
        <p:spPr>
          <a:xfrm>
            <a:off x="2113280" y="3738880"/>
            <a:ext cx="1300480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B -- A peninsula is "almost" an island -- land with water on three sides.</a:t>
            </a:r>
            <a:endParaRPr lang="en-US" sz="1200" dirty="0"/>
          </a:p>
        </p:txBody>
      </p:sp>
      <p:sp>
        <p:nvSpPr>
          <p:cNvPr id="9" name="Shape 7"/>
          <p:cNvSpPr/>
          <p:nvPr/>
        </p:nvSpPr>
        <p:spPr>
          <a:xfrm>
            <a:off x="812800" y="4876800"/>
            <a:ext cx="14630400" cy="2926080"/>
          </a:xfrm>
          <a:prstGeom prst="roundRect">
            <a:avLst>
              <a:gd name="adj" fmla="val 6667"/>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1056640" y="5039360"/>
            <a:ext cx="731520" cy="731520"/>
          </a:xfrm>
          <a:prstGeom prst="ellipse">
            <a:avLst/>
          </a:prstGeom>
          <a:solidFill>
            <a:srgbClr val="1A8A7D"/>
          </a:solidFill>
          <a:ln/>
        </p:spPr>
      </p:sp>
      <p:sp>
        <p:nvSpPr>
          <p:cNvPr id="11" name="Text 9"/>
          <p:cNvSpPr/>
          <p:nvPr/>
        </p:nvSpPr>
        <p:spPr>
          <a:xfrm>
            <a:off x="1056640" y="5039360"/>
            <a:ext cx="7315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2" name="Text 10"/>
          <p:cNvSpPr/>
          <p:nvPr/>
        </p:nvSpPr>
        <p:spPr>
          <a:xfrm>
            <a:off x="2113280" y="5120640"/>
            <a:ext cx="13004800" cy="6502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root aqua- means "water." An aqueduct is a structure that ___.</a:t>
            </a:r>
            <a:endParaRPr lang="en-US" sz="1400" dirty="0"/>
          </a:p>
        </p:txBody>
      </p:sp>
      <p:sp>
        <p:nvSpPr>
          <p:cNvPr id="13" name="Text 11"/>
          <p:cNvSpPr/>
          <p:nvPr/>
        </p:nvSpPr>
        <p:spPr>
          <a:xfrm>
            <a:off x="2113280" y="5852160"/>
            <a:ext cx="13004800" cy="97536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A. Grows crops on dry land</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B. Carries water from one place to another</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C. Measures temperature</a:t>
            </a:r>
            <a:endParaRPr lang="en-US" sz="1300" dirty="0"/>
          </a:p>
        </p:txBody>
      </p:sp>
      <p:sp>
        <p:nvSpPr>
          <p:cNvPr id="14" name="Text 12"/>
          <p:cNvSpPr/>
          <p:nvPr/>
        </p:nvSpPr>
        <p:spPr>
          <a:xfrm>
            <a:off x="2113280" y="6990080"/>
            <a:ext cx="1300480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B -- An aqueduct carries water. The aqua- root is your clue.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Error Analysis: Spot the Mistake</a:t>
            </a:r>
            <a:endParaRPr lang="en-US" sz="2400" dirty="0"/>
          </a:p>
        </p:txBody>
      </p:sp>
      <p:sp>
        <p:nvSpPr>
          <p:cNvPr id="3" name="Text 1"/>
          <p:cNvSpPr/>
          <p:nvPr/>
        </p:nvSpPr>
        <p:spPr>
          <a:xfrm>
            <a:off x="812800" y="1381760"/>
            <a:ext cx="3251200" cy="487680"/>
          </a:xfrm>
          <a:prstGeom prst="rect">
            <a:avLst/>
          </a:prstGeom>
          <a:noFill/>
          <a:ln/>
        </p:spPr>
        <p:txBody>
          <a:bodyPr wrap="square"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YOUR TURN</a:t>
            </a:r>
            <a:endParaRPr lang="en-US" sz="1000" dirty="0"/>
          </a:p>
        </p:txBody>
      </p:sp>
      <p:sp>
        <p:nvSpPr>
          <p:cNvPr id="4" name="Shape 2"/>
          <p:cNvSpPr/>
          <p:nvPr/>
        </p:nvSpPr>
        <p:spPr>
          <a:xfrm>
            <a:off x="812800" y="1950720"/>
            <a:ext cx="14630400" cy="2926080"/>
          </a:xfrm>
          <a:prstGeom prst="roundRect">
            <a:avLst>
              <a:gd name="adj" fmla="val 8333"/>
            </a:avLst>
          </a:prstGeom>
          <a:solidFill>
            <a:srgbClr val="FFF0F0"/>
          </a:solidFill>
          <a:ln w="19050">
            <a:solidFill>
              <a:srgbClr val="E8636B"/>
            </a:solidFill>
            <a:prstDash val="solid"/>
          </a:ln>
        </p:spPr>
      </p:sp>
      <p:sp>
        <p:nvSpPr>
          <p:cNvPr id="5" name="Text 3"/>
          <p:cNvSpPr/>
          <p:nvPr/>
        </p:nvSpPr>
        <p:spPr>
          <a:xfrm>
            <a:off x="1137920" y="2113280"/>
            <a:ext cx="13980160" cy="487680"/>
          </a:xfrm>
          <a:prstGeom prst="rect">
            <a:avLst/>
          </a:prstGeom>
          <a:noFill/>
          <a:ln/>
        </p:spPr>
        <p:txBody>
          <a:bodyPr wrap="square" rtlCol="0" anchor="ctr"/>
          <a:lstStyle/>
          <a:p>
            <a:pPr indent="0" marL="0">
              <a:buNone/>
            </a:pPr>
            <a:r>
              <a:rPr lang="en-US" sz="1200" dirty="0">
                <a:solidFill>
                  <a:srgbClr val="7A88A8"/>
                </a:solidFill>
                <a:latin typeface="Calibri" pitchFamily="34" charset="0"/>
                <a:ea typeface="Calibri" pitchFamily="34" charset="-122"/>
                <a:cs typeface="Calibri" pitchFamily="34" charset="-120"/>
              </a:rPr>
              <a:t>A student wrote:</a:t>
            </a:r>
            <a:endParaRPr lang="en-US" sz="1200" dirty="0"/>
          </a:p>
        </p:txBody>
      </p:sp>
      <p:sp>
        <p:nvSpPr>
          <p:cNvPr id="6" name="Text 4"/>
          <p:cNvSpPr/>
          <p:nvPr/>
        </p:nvSpPr>
        <p:spPr>
          <a:xfrm>
            <a:off x="1137920" y="2763520"/>
            <a:ext cx="13980160" cy="1625600"/>
          </a:xfrm>
          <a:prstGeom prst="rect">
            <a:avLst/>
          </a:prstGeom>
          <a:noFill/>
          <a:ln/>
        </p:spPr>
        <p:txBody>
          <a:bodyPr wrap="square" rtlCol="0" anchor="ctr"/>
          <a:lstStyle/>
          <a:p>
            <a:pPr algn="ctr" indent="0" marL="0">
              <a:buNone/>
            </a:pPr>
            <a:r>
              <a:rPr lang="en-US" sz="1600" i="1" dirty="0">
                <a:solidFill>
                  <a:srgbClr val="0E1C42"/>
                </a:solidFill>
                <a:latin typeface="Cambria" pitchFamily="34" charset="0"/>
                <a:ea typeface="Cambria" pitchFamily="34" charset="-122"/>
                <a:cs typeface="Cambria" pitchFamily="34" charset="-120"/>
              </a:rPr>
              <a:t>"The word terrain comes from the root aqua, which means land. That's why terrain describes the surface of the ground."</a:t>
            </a:r>
            <a:endParaRPr lang="en-US" sz="1600" dirty="0"/>
          </a:p>
        </p:txBody>
      </p:sp>
      <p:sp>
        <p:nvSpPr>
          <p:cNvPr id="7" name="Shape 5"/>
          <p:cNvSpPr/>
          <p:nvPr/>
        </p:nvSpPr>
        <p:spPr>
          <a:xfrm>
            <a:off x="812800" y="5364480"/>
            <a:ext cx="14630400" cy="24384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1137920" y="552704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1137920" y="5982208"/>
            <a:ext cx="13980160" cy="16581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wrong with this explanation?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root does terrain actually come from?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to make it honest and accurate?</a:t>
            </a:r>
            <a:endParaRPr lang="en-US" sz="1100" dirty="0"/>
          </a:p>
        </p:txBody>
      </p:sp>
      <p:sp>
        <p:nvSpPr>
          <p:cNvPr id="10" name="Text 8"/>
          <p:cNvSpPr/>
          <p:nvPr/>
        </p:nvSpPr>
        <p:spPr>
          <a:xfrm>
            <a:off x="812800" y="8128000"/>
            <a:ext cx="14630400" cy="487680"/>
          </a:xfrm>
          <a:prstGeom prst="rect">
            <a:avLst/>
          </a:prstGeom>
          <a:noFill/>
          <a:ln/>
        </p:spPr>
        <p:txBody>
          <a:bodyPr wrap="square" rtlCol="0" anchor="ctr"/>
          <a:lstStyle/>
          <a:p>
            <a:pPr algn="ctr" indent="0" marL="0">
              <a:buNone/>
            </a:pPr>
            <a:r>
              <a:rPr lang="en-US" sz="1200" i="1" dirty="0">
                <a:solidFill>
                  <a:srgbClr val="D4943A"/>
                </a:solidFill>
                <a:latin typeface="Calibri" pitchFamily="34" charset="0"/>
                <a:ea typeface="Calibri" pitchFamily="34" charset="-122"/>
                <a:cs typeface="Calibri" pitchFamily="34" charset="-120"/>
              </a:rPr>
              <a:t>Remember: Honest curators share what's real, not what's easy!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Question 1</a:t>
            </a:r>
            <a:endParaRPr lang="en-US" sz="2400" dirty="0"/>
          </a:p>
        </p:txBody>
      </p:sp>
      <p:sp>
        <p:nvSpPr>
          <p:cNvPr id="3" name="Text 1"/>
          <p:cNvSpPr/>
          <p:nvPr/>
        </p:nvSpPr>
        <p:spPr>
          <a:xfrm>
            <a:off x="812800" y="1381760"/>
            <a:ext cx="40640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PREP</a:t>
            </a:r>
            <a:endParaRPr lang="en-US" sz="1000" dirty="0"/>
          </a:p>
        </p:txBody>
      </p:sp>
      <p:sp>
        <p:nvSpPr>
          <p:cNvPr id="4" name="Shape 2"/>
          <p:cNvSpPr/>
          <p:nvPr/>
        </p:nvSpPr>
        <p:spPr>
          <a:xfrm>
            <a:off x="812800" y="1950720"/>
            <a:ext cx="14630400" cy="1950720"/>
          </a:xfrm>
          <a:prstGeom prst="roundRect">
            <a:avLst>
              <a:gd name="adj" fmla="val 10000"/>
            </a:avLst>
          </a:prstGeom>
          <a:solidFill>
            <a:srgbClr val="1A2D5A"/>
          </a:solidFill>
          <a:ln/>
        </p:spPr>
      </p:sp>
      <p:sp>
        <p:nvSpPr>
          <p:cNvPr id="5" name="Text 3"/>
          <p:cNvSpPr/>
          <p:nvPr/>
        </p:nvSpPr>
        <p:spPr>
          <a:xfrm>
            <a:off x="1137920" y="2113280"/>
            <a:ext cx="13980160" cy="16256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Pick one geographic term from this lesson (geography, terrain, peninsula, or aquatic). What root does it come from, and what does that root mean?</a:t>
            </a:r>
            <a:endParaRPr lang="en-US" sz="1500" dirty="0"/>
          </a:p>
        </p:txBody>
      </p:sp>
      <p:sp>
        <p:nvSpPr>
          <p:cNvPr id="6" name="Shape 4"/>
          <p:cNvSpPr/>
          <p:nvPr/>
        </p:nvSpPr>
        <p:spPr>
          <a:xfrm>
            <a:off x="812800" y="4226560"/>
            <a:ext cx="14630400" cy="3901440"/>
          </a:xfrm>
          <a:prstGeom prst="roundRect">
            <a:avLst>
              <a:gd name="adj" fmla="val 5000"/>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1137920" y="4389120"/>
            <a:ext cx="1398016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MODEL ANSWER:</a:t>
            </a:r>
            <a:endParaRPr lang="en-US" sz="900" dirty="0"/>
          </a:p>
        </p:txBody>
      </p:sp>
      <p:sp>
        <p:nvSpPr>
          <p:cNvPr id="8" name="Text 6"/>
          <p:cNvSpPr/>
          <p:nvPr/>
        </p:nvSpPr>
        <p:spPr>
          <a:xfrm>
            <a:off x="1137920" y="5039360"/>
            <a:ext cx="13980160" cy="1950720"/>
          </a:xfrm>
          <a:prstGeom prst="rect">
            <a:avLst/>
          </a:prstGeom>
          <a:noFill/>
          <a:ln/>
        </p:spPr>
        <p:txBody>
          <a:bodyPr wrap="square" rtlCol="0" anchor="t"/>
          <a:lstStyle/>
          <a:p>
            <a:pPr indent="0" marL="0">
              <a:lnSpc>
                <a:spcPct val="130000"/>
              </a:lnSpc>
              <a:buNone/>
            </a:pPr>
            <a:r>
              <a:rPr lang="en-US" sz="1500" i="1" dirty="0">
                <a:solidFill>
                  <a:srgbClr val="0E1C42"/>
                </a:solidFill>
                <a:latin typeface="Cambria" pitchFamily="34" charset="0"/>
                <a:ea typeface="Cambria" pitchFamily="34" charset="-122"/>
                <a:cs typeface="Cambria" pitchFamily="34" charset="-120"/>
              </a:rPr>
              <a:t>"I pick the word peninsula. It comes from the Latin roots pen- (almost) and insula (island). These roots mean that a peninsula is almost an island -- land with water on three sides."</a:t>
            </a:r>
            <a:endParaRPr lang="en-US" sz="1500" dirty="0"/>
          </a:p>
        </p:txBody>
      </p:sp>
      <p:sp>
        <p:nvSpPr>
          <p:cNvPr id="9" name="Text 7"/>
          <p:cNvSpPr/>
          <p:nvPr/>
        </p:nvSpPr>
        <p:spPr>
          <a:xfrm>
            <a:off x="1137920" y="7152640"/>
            <a:ext cx="13980160" cy="65024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Your turn: Name the word, its root, and the root's meaning.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Question 2</a:t>
            </a:r>
            <a:endParaRPr lang="en-US" sz="2400" dirty="0"/>
          </a:p>
        </p:txBody>
      </p:sp>
      <p:sp>
        <p:nvSpPr>
          <p:cNvPr id="3" name="Text 1"/>
          <p:cNvSpPr/>
          <p:nvPr/>
        </p:nvSpPr>
        <p:spPr>
          <a:xfrm>
            <a:off x="812800" y="1381760"/>
            <a:ext cx="40640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PREP</a:t>
            </a:r>
            <a:endParaRPr lang="en-US" sz="1000" dirty="0"/>
          </a:p>
        </p:txBody>
      </p:sp>
      <p:sp>
        <p:nvSpPr>
          <p:cNvPr id="4" name="Shape 2"/>
          <p:cNvSpPr/>
          <p:nvPr/>
        </p:nvSpPr>
        <p:spPr>
          <a:xfrm>
            <a:off x="812800" y="1950720"/>
            <a:ext cx="14630400" cy="1625600"/>
          </a:xfrm>
          <a:prstGeom prst="roundRect">
            <a:avLst>
              <a:gd name="adj" fmla="val 12000"/>
            </a:avLst>
          </a:prstGeom>
          <a:solidFill>
            <a:srgbClr val="1A2D5A"/>
          </a:solidFill>
          <a:ln/>
        </p:spPr>
      </p:sp>
      <p:sp>
        <p:nvSpPr>
          <p:cNvPr id="5" name="Text 3"/>
          <p:cNvSpPr/>
          <p:nvPr/>
        </p:nvSpPr>
        <p:spPr>
          <a:xfrm>
            <a:off x="1137920" y="2113280"/>
            <a:ext cx="13980160" cy="1300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Why would it help museum visitors to know the word roots of geographic terms? Give a reason.</a:t>
            </a:r>
            <a:endParaRPr lang="en-US" sz="1500" dirty="0"/>
          </a:p>
        </p:txBody>
      </p:sp>
      <p:sp>
        <p:nvSpPr>
          <p:cNvPr id="6" name="Shape 4"/>
          <p:cNvSpPr/>
          <p:nvPr/>
        </p:nvSpPr>
        <p:spPr>
          <a:xfrm>
            <a:off x="812800" y="4064000"/>
            <a:ext cx="14630400" cy="3251200"/>
          </a:xfrm>
          <a:prstGeom prst="roundRect">
            <a:avLst>
              <a:gd name="adj" fmla="val 6000"/>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1137920" y="4226560"/>
            <a:ext cx="1398016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ABOUT IT:</a:t>
            </a:r>
            <a:endParaRPr lang="en-US" sz="900" dirty="0"/>
          </a:p>
        </p:txBody>
      </p:sp>
      <p:sp>
        <p:nvSpPr>
          <p:cNvPr id="8" name="Text 6"/>
          <p:cNvSpPr/>
          <p:nvPr/>
        </p:nvSpPr>
        <p:spPr>
          <a:xfrm>
            <a:off x="1137920" y="4876800"/>
            <a:ext cx="13980160" cy="2275840"/>
          </a:xfrm>
          <a:prstGeom prst="rect">
            <a:avLst/>
          </a:prstGeom>
          <a:noFill/>
          <a:ln/>
        </p:spPr>
        <p:txBody>
          <a:bodyPr wrap="square" rtlCol="0" anchor="t"/>
          <a:lstStyle/>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Imagine a visitor sees the word "peninsula" on a museum label but doesn't know what it means.</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If the label also showed the roots pen- (almost) + insula (island), the visitor could figure it out on their own.</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Word roots help visitors understand tricky terms without needing someone to explain every word.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Curator Task: "Did You Know?" Card</a:t>
            </a:r>
            <a:endParaRPr lang="en-US" sz="2400" dirty="0"/>
          </a:p>
        </p:txBody>
      </p:sp>
      <p:sp>
        <p:nvSpPr>
          <p:cNvPr id="3" name="Text 1"/>
          <p:cNvSpPr/>
          <p:nvPr/>
        </p:nvSpPr>
        <p:spPr>
          <a:xfrm>
            <a:off x="812800" y="1381760"/>
            <a:ext cx="32512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a:t>
            </a:r>
            <a:endParaRPr lang="en-US" sz="1000" dirty="0"/>
          </a:p>
        </p:txBody>
      </p:sp>
      <p:sp>
        <p:nvSpPr>
          <p:cNvPr id="4" name="Shape 2"/>
          <p:cNvSpPr/>
          <p:nvPr/>
        </p:nvSpPr>
        <p:spPr>
          <a:xfrm>
            <a:off x="812800" y="1950720"/>
            <a:ext cx="14630400" cy="4064000"/>
          </a:xfrm>
          <a:prstGeom prst="roundRect">
            <a:avLst>
              <a:gd name="adj" fmla="val 4800"/>
            </a:avLst>
          </a:prstGeom>
          <a:solidFill>
            <a:srgbClr val="FFF8F0"/>
          </a:solidFill>
          <a:ln w="19050">
            <a:solidFill>
              <a:srgbClr val="F5E6C8"/>
            </a:solidFill>
            <a:prstDash val="solid"/>
          </a:ln>
        </p:spPr>
      </p:sp>
      <p:sp>
        <p:nvSpPr>
          <p:cNvPr id="5" name="Text 3"/>
          <p:cNvSpPr/>
          <p:nvPr/>
        </p:nvSpPr>
        <p:spPr>
          <a:xfrm>
            <a:off x="1137920" y="2113280"/>
            <a:ext cx="13980160" cy="1300480"/>
          </a:xfrm>
          <a:prstGeom prst="rect">
            <a:avLst/>
          </a:prstGeom>
          <a:noFill/>
          <a:ln/>
        </p:spPr>
        <p:txBody>
          <a:bodyPr wrap="square" rtlCol="0" anchor="t"/>
          <a:lstStyle/>
          <a:p>
            <a:pPr indent="0" marL="0">
              <a:lnSpc>
                <a:spcPct val="120000"/>
              </a:lnSpc>
              <a:buNone/>
            </a:pPr>
            <a:r>
              <a:rPr lang="en-US" sz="1400" dirty="0">
                <a:solidFill>
                  <a:srgbClr val="0E1C42"/>
                </a:solidFill>
                <a:latin typeface="Calibri" pitchFamily="34" charset="0"/>
                <a:ea typeface="Calibri" pitchFamily="34" charset="-122"/>
                <a:cs typeface="Calibri" pitchFamily="34" charset="-120"/>
              </a:rPr>
              <a:t>The head curator wants to add "Did You Know?" cards next to tricky terms on the World Map. These cards explain the word root so visitors can see what the term really means.</a:t>
            </a:r>
            <a:endParaRPr lang="en-US" sz="1400" dirty="0"/>
          </a:p>
        </p:txBody>
      </p:sp>
      <p:sp>
        <p:nvSpPr>
          <p:cNvPr id="6" name="Text 4"/>
          <p:cNvSpPr/>
          <p:nvPr/>
        </p:nvSpPr>
        <p:spPr>
          <a:xfrm>
            <a:off x="1137920" y="3413760"/>
            <a:ext cx="13980160" cy="8128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Pick one geographic term from the Word Roots cabinet. Write a short "Did You Know?" card (3-5 sentences) that explains:</a:t>
            </a:r>
            <a:endParaRPr lang="en-US" sz="1400" dirty="0"/>
          </a:p>
        </p:txBody>
      </p:sp>
      <p:sp>
        <p:nvSpPr>
          <p:cNvPr id="7" name="Text 5"/>
          <p:cNvSpPr/>
          <p:nvPr/>
        </p:nvSpPr>
        <p:spPr>
          <a:xfrm>
            <a:off x="1463040" y="4226560"/>
            <a:ext cx="13329920" cy="146304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1. The term</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2. What root it comes from</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3. What that root means</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4. How knowing the root helps someone picture the term</a:t>
            </a:r>
            <a:endParaRPr lang="en-US" sz="1300" dirty="0"/>
          </a:p>
        </p:txBody>
      </p:sp>
      <p:sp>
        <p:nvSpPr>
          <p:cNvPr id="8" name="Shape 6"/>
          <p:cNvSpPr/>
          <p:nvPr/>
        </p:nvSpPr>
        <p:spPr>
          <a:xfrm>
            <a:off x="812800" y="6502400"/>
            <a:ext cx="14630400" cy="1625600"/>
          </a:xfrm>
          <a:prstGeom prst="roundRect">
            <a:avLst>
              <a:gd name="adj" fmla="val 12000"/>
            </a:avLst>
          </a:prstGeom>
          <a:solidFill>
            <a:srgbClr val="F0E8FF"/>
          </a:solidFill>
          <a:ln/>
        </p:spPr>
      </p:sp>
      <p:sp>
        <p:nvSpPr>
          <p:cNvPr id="9" name="Text 7"/>
          <p:cNvSpPr/>
          <p:nvPr/>
        </p:nvSpPr>
        <p:spPr>
          <a:xfrm>
            <a:off x="1137920" y="6664960"/>
            <a:ext cx="13980160" cy="4064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0" name="Text 8"/>
          <p:cNvSpPr/>
          <p:nvPr/>
        </p:nvSpPr>
        <p:spPr>
          <a:xfrm>
            <a:off x="1137920" y="7152640"/>
            <a:ext cx="13980160" cy="812800"/>
          </a:xfrm>
          <a:prstGeom prst="rect">
            <a:avLst/>
          </a:prstGeom>
          <a:noFill/>
          <a:ln/>
        </p:spPr>
        <p:txBody>
          <a:bodyPr wrap="square"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Finish this sentence: "In this exhibit, I learned that ______ because ______."</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300480"/>
            <a:ext cx="14305280" cy="2600960"/>
          </a:xfrm>
          <a:prstGeom prst="rect">
            <a:avLst/>
          </a:prstGeom>
          <a:noFill/>
          <a:ln/>
        </p:spPr>
        <p:txBody>
          <a:bodyPr wrap="square" rtlCol="0" anchor="ctr"/>
          <a:lstStyle/>
          <a:p>
            <a:pPr algn="ctr" indent="0" marL="0">
              <a:lnSpc>
                <a:spcPct val="115000"/>
              </a:lnSpc>
              <a:buNone/>
            </a:pPr>
            <a:r>
              <a:rPr lang="en-US" sz="3400" b="1" dirty="0">
                <a:solidFill>
                  <a:srgbClr val="FFFFFF"/>
                </a:solidFill>
                <a:latin typeface="Cambria" pitchFamily="34" charset="0"/>
                <a:ea typeface="Cambria" pitchFamily="34" charset="-122"/>
                <a:cs typeface="Cambria" pitchFamily="34" charset="-120"/>
              </a:rPr>
              <a:t>Great Work,</a:t>
            </a:r>
            <a:endParaRPr lang="en-US" sz="3400" dirty="0"/>
          </a:p>
          <a:p>
            <a:pPr algn="ctr" indent="0" marL="0">
              <a:lnSpc>
                <a:spcPct val="115000"/>
              </a:lnSpc>
              <a:buNone/>
            </a:pPr>
            <a:r>
              <a:rPr lang="en-US" sz="3400" b="1" dirty="0">
                <a:solidFill>
                  <a:srgbClr val="FFFFFF"/>
                </a:solidFill>
                <a:latin typeface="Cambria" pitchFamily="34" charset="0"/>
                <a:ea typeface="Cambria" pitchFamily="34" charset="-122"/>
                <a:cs typeface="Cambria" pitchFamily="34" charset="-120"/>
              </a:rPr>
              <a:t>World Geography Curator!</a:t>
            </a:r>
            <a:endParaRPr lang="en-US" sz="3400" dirty="0"/>
          </a:p>
        </p:txBody>
      </p:sp>
      <p:sp>
        <p:nvSpPr>
          <p:cNvPr id="6" name="Shape 3"/>
          <p:cNvSpPr/>
          <p:nvPr/>
        </p:nvSpPr>
        <p:spPr>
          <a:xfrm>
            <a:off x="2438400" y="4389120"/>
            <a:ext cx="11379200" cy="3738880"/>
          </a:xfrm>
          <a:prstGeom prst="roundRect">
            <a:avLst>
              <a:gd name="adj" fmla="val 6522"/>
            </a:avLst>
          </a:prstGeom>
          <a:solidFill>
            <a:srgbClr val="1A2D5A">
              <a:alpha val="80000"/>
            </a:srgbClr>
          </a:solidFill>
          <a:ln/>
        </p:spPr>
      </p:sp>
      <p:sp>
        <p:nvSpPr>
          <p:cNvPr id="7" name="Text 4"/>
          <p:cNvSpPr/>
          <p:nvPr/>
        </p:nvSpPr>
        <p:spPr>
          <a:xfrm>
            <a:off x="2763520" y="4551680"/>
            <a:ext cx="10728960" cy="487680"/>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8" name="Text 5"/>
          <p:cNvSpPr/>
          <p:nvPr/>
        </p:nvSpPr>
        <p:spPr>
          <a:xfrm>
            <a:off x="2763520" y="5120640"/>
            <a:ext cx="10728960" cy="2763520"/>
          </a:xfrm>
          <a:prstGeom prst="rect">
            <a:avLst/>
          </a:prstGeom>
          <a:noFill/>
          <a:ln/>
        </p:spPr>
        <p:txBody>
          <a:bodyPr wrap="square" rtlCol="0" anchor="t"/>
          <a:lstStyle/>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Opening Night is tomorrow -- and one frame by the entrance is still blank. The head curator says: "Every exhibit starts with an explanation. Visitors need a label that tells them what this whole room is about."</a:t>
            </a:r>
            <a:endParaRPr lang="en-US" sz="1400" dirty="0"/>
          </a:p>
          <a:p>
            <a:pPr algn="ctr" indent="0" marL="0">
              <a:lnSpc>
                <a:spcPct val="120000"/>
              </a:lnSpc>
              <a:buNone/>
            </a:pPr>
            <a:endParaRPr lang="en-US" sz="1400" dirty="0"/>
          </a:p>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Tomorrow you'll write the most important label in the World Map Hall.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2026-07-11T02:48:53Z</dcterms:created>
  <dcterms:modified xsi:type="dcterms:W3CDTF">2026-07-11T02:48:53Z</dcterms:modified>
</cp:coreProperties>
</file>