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view of the Rocky Mountains, Great Plains, and Caribbean islands — showing varied physical geography of North America from mountains to plains to tropical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gallery wall map with country labels already up (Canada, US, Mexico, Caribbean), and a curator wheeling in a tray of new labels that read 'Rocky Mountains,' 'Great Plains,' 'Mississippi River,' 'Caribbean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respectful museum curator carefully writing the names 'Appalachian' and 'Mississippi' on exhibit labels — showing care and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gallery wall map now showing both country labels AND physical feature labels — Rocky Mountains, Appalachian Mountains, Mississippi River, Great Plains, Caribbean Islands — all pinned on the map, gallery looking rich and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OPTIMA ACADEMY ONLINE  |  GRADE 3 SOCIAL STUDIES</a:t>
            </a:r>
            <a:endParaRPr lang="en-US" sz="1000" dirty="0"/>
          </a:p>
        </p:txBody>
      </p:sp>
      <p:sp>
        <p:nvSpPr>
          <p:cNvPr id="6" name="Text 3"/>
          <p:cNvSpPr/>
          <p:nvPr/>
        </p:nvSpPr>
        <p:spPr>
          <a:xfrm>
            <a:off x="812800" y="1950720"/>
            <a:ext cx="11379200" cy="260096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Physical Features of</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North America &amp; the Caribbean</a:t>
            </a:r>
            <a:endParaRPr lang="en-US" sz="3400" dirty="0"/>
          </a:p>
        </p:txBody>
      </p:sp>
      <p:sp>
        <p:nvSpPr>
          <p:cNvPr id="7" name="Text 4"/>
          <p:cNvSpPr/>
          <p:nvPr/>
        </p:nvSpPr>
        <p:spPr>
          <a:xfrm>
            <a:off x="812800" y="4714240"/>
            <a:ext cx="11379200" cy="568960"/>
          </a:xfrm>
          <a:prstGeom prst="rect">
            <a:avLst/>
          </a:prstGeom>
          <a:noFill/>
          <a:ln/>
        </p:spPr>
        <p:txBody>
          <a:bodyPr wrap="square" lIns="0" tIns="0" rIns="0" bIns="0" rtlCol="0" anchor="ctr"/>
          <a:lstStyle/>
          <a:p>
            <a:pPr indent="0" marL="0">
              <a:buNone/>
            </a:pPr>
            <a:r>
              <a:rPr lang="en-US" sz="1400" dirty="0">
                <a:solidFill>
                  <a:srgbClr val="D4943A"/>
                </a:solidFill>
                <a:latin typeface="Calibri" pitchFamily="34" charset="0"/>
                <a:ea typeface="Calibri" pitchFamily="34" charset="-122"/>
                <a:cs typeface="Calibri" pitchFamily="34" charset="-120"/>
              </a:rPr>
              <a:t>Lesson 3.06.02  |  Unit 6: North America and the Caribbean</a:t>
            </a:r>
            <a:endParaRPr lang="en-US" sz="1400" dirty="0"/>
          </a:p>
        </p:txBody>
      </p:sp>
      <p:sp>
        <p:nvSpPr>
          <p:cNvPr id="8" name="Shape 5"/>
          <p:cNvSpPr/>
          <p:nvPr/>
        </p:nvSpPr>
        <p:spPr>
          <a:xfrm>
            <a:off x="812800" y="5527040"/>
            <a:ext cx="1950720" cy="65024"/>
          </a:xfrm>
          <a:prstGeom prst="rect">
            <a:avLst/>
          </a:prstGeom>
          <a:solidFill>
            <a:srgbClr val="D4943A"/>
          </a:solidFill>
          <a:ln/>
        </p:spPr>
      </p:sp>
      <p:sp>
        <p:nvSpPr>
          <p:cNvPr id="9" name="Text 6"/>
          <p:cNvSpPr/>
          <p:nvPr/>
        </p:nvSpPr>
        <p:spPr>
          <a:xfrm>
            <a:off x="812800" y="5852160"/>
            <a:ext cx="11379200" cy="4876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Week 15  |  Great Map Room  |  Thinking Move: Sort → Compare → Explain</a:t>
            </a:r>
            <a:endParaRPr lang="en-US" sz="1100" dirty="0"/>
          </a:p>
        </p:txBody>
      </p:sp>
      <p:sp>
        <p:nvSpPr>
          <p:cNvPr id="10" name="Text 7"/>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 / 21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FROM COUNTRY LABELS TO THE LAND ITSELF</a:t>
            </a:r>
            <a:endParaRPr lang="en-US" sz="1000" dirty="0"/>
          </a:p>
        </p:txBody>
      </p:sp>
      <p:sp>
        <p:nvSpPr>
          <p:cNvPr id="6" name="Text 3"/>
          <p:cNvSpPr/>
          <p:nvPr/>
        </p:nvSpPr>
        <p:spPr>
          <a:xfrm>
            <a:off x="812800" y="1625600"/>
            <a:ext cx="8940800" cy="162560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What Does the</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Land Look Like?</a:t>
            </a:r>
            <a:endParaRPr lang="en-US" sz="3000" dirty="0"/>
          </a:p>
        </p:txBody>
      </p:sp>
      <p:sp>
        <p:nvSpPr>
          <p:cNvPr id="7" name="Text 4"/>
          <p:cNvSpPr/>
          <p:nvPr/>
        </p:nvSpPr>
        <p:spPr>
          <a:xfrm>
            <a:off x="812800" y="3576320"/>
            <a:ext cx="8940800" cy="1137920"/>
          </a:xfrm>
          <a:prstGeom prst="rect">
            <a:avLst/>
          </a:prstGeom>
          <a:noFill/>
          <a:ln/>
        </p:spPr>
        <p:txBody>
          <a:bodyPr wrap="square" lIns="0" tIns="0" rIns="0" bIns="0" rtlCol="0" anchor="ctr"/>
          <a:lstStyle/>
          <a:p>
            <a:pPr indent="0" marL="0">
              <a:lnSpc>
                <a:spcPct val="120000"/>
              </a:lnSpc>
              <a:buNone/>
            </a:pPr>
            <a:r>
              <a:rPr lang="en-US" sz="1300" dirty="0">
                <a:solidFill>
                  <a:srgbClr val="B8C4E0"/>
                </a:solidFill>
                <a:latin typeface="Calibri" pitchFamily="34" charset="0"/>
                <a:ea typeface="Calibri" pitchFamily="34" charset="-122"/>
                <a:cs typeface="Calibri" pitchFamily="34" charset="-120"/>
              </a:rPr>
              <a:t>The country labels you placed last time are up on the wall map. Now a curator has wheeled in a tray of physical feature labels — mountains, rivers, plains, and islands.</a:t>
            </a:r>
            <a:endParaRPr lang="en-US" sz="1300" dirty="0"/>
          </a:p>
        </p:txBody>
      </p:sp>
      <p:sp>
        <p:nvSpPr>
          <p:cNvPr id="8" name="Shape 5"/>
          <p:cNvSpPr/>
          <p:nvPr/>
        </p:nvSpPr>
        <p:spPr>
          <a:xfrm>
            <a:off x="812800" y="5039360"/>
            <a:ext cx="8940800" cy="1463040"/>
          </a:xfrm>
          <a:prstGeom prst="roundRect">
            <a:avLst>
              <a:gd name="adj" fmla="val 13333"/>
            </a:avLst>
          </a:prstGeom>
          <a:solidFill>
            <a:srgbClr val="1A2D5A"/>
          </a:solidFill>
          <a:ln w="19050">
            <a:solidFill>
              <a:srgbClr val="D4943A"/>
            </a:solidFill>
            <a:prstDash val="solid"/>
          </a:ln>
        </p:spPr>
      </p:sp>
      <p:sp>
        <p:nvSpPr>
          <p:cNvPr id="9" name="Text 6"/>
          <p:cNvSpPr/>
          <p:nvPr/>
        </p:nvSpPr>
        <p:spPr>
          <a:xfrm>
            <a:off x="1137920" y="5120640"/>
            <a:ext cx="812800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QUESTION</a:t>
            </a:r>
            <a:endParaRPr lang="en-US" sz="900" dirty="0"/>
          </a:p>
        </p:txBody>
      </p:sp>
      <p:sp>
        <p:nvSpPr>
          <p:cNvPr id="10" name="Text 7"/>
          <p:cNvSpPr/>
          <p:nvPr/>
        </p:nvSpPr>
        <p:spPr>
          <a:xfrm>
            <a:off x="1137920" y="5527040"/>
            <a:ext cx="8128000" cy="894080"/>
          </a:xfrm>
          <a:prstGeom prst="rect">
            <a:avLst/>
          </a:prstGeom>
          <a:noFill/>
          <a:ln/>
        </p:spPr>
        <p:txBody>
          <a:bodyPr wrap="square" lIns="0" tIns="0" rIns="0" bIns="0" rtlCol="0" anchor="ctr"/>
          <a:lstStyle/>
          <a:p>
            <a:pPr indent="0" marL="0">
              <a:lnSpc>
                <a:spcPct val="120000"/>
              </a:lnSpc>
              <a:buNone/>
            </a:pPr>
            <a:r>
              <a:rPr lang="en-US" sz="1200" i="1" dirty="0">
                <a:solidFill>
                  <a:srgbClr val="FFFFFF"/>
                </a:solidFill>
                <a:latin typeface="Cambria" pitchFamily="34" charset="0"/>
                <a:ea typeface="Cambria" pitchFamily="34" charset="-122"/>
                <a:cs typeface="Cambria" pitchFamily="34" charset="-120"/>
              </a:rPr>
              <a:t>What does the land of North America and the Caribbean actually look like — and where are the biggest mountains, rivers, plains, and islands?</a:t>
            </a:r>
            <a:endParaRPr lang="en-US" sz="1200" dirty="0"/>
          </a:p>
        </p:txBody>
      </p:sp>
      <p:sp>
        <p:nvSpPr>
          <p:cNvPr id="11" name="Text 8"/>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 / 21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650240"/>
            <a:ext cx="146304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Text 3"/>
          <p:cNvSpPr/>
          <p:nvPr/>
        </p:nvSpPr>
        <p:spPr>
          <a:xfrm>
            <a:off x="812800" y="1950720"/>
            <a:ext cx="8128000" cy="11379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Courtesy</a:t>
            </a:r>
            <a:endParaRPr lang="en-US" sz="3600" dirty="0"/>
          </a:p>
        </p:txBody>
      </p:sp>
      <p:sp>
        <p:nvSpPr>
          <p:cNvPr id="7" name="Text 4"/>
          <p:cNvSpPr/>
          <p:nvPr/>
        </p:nvSpPr>
        <p:spPr>
          <a:xfrm>
            <a:off x="812800" y="3251200"/>
            <a:ext cx="8940800" cy="1137920"/>
          </a:xfrm>
          <a:prstGeom prst="rect">
            <a:avLst/>
          </a:prstGeom>
          <a:noFill/>
          <a:ln/>
        </p:spPr>
        <p:txBody>
          <a:bodyPr wrap="square" lIns="0" tIns="0" rIns="0" bIns="0" rtlCol="0" anchor="ctr"/>
          <a:lstStyle/>
          <a:p>
            <a:pPr indent="0" marL="0">
              <a:lnSpc>
                <a:spcPct val="125000"/>
              </a:lnSpc>
              <a:buNone/>
            </a:pPr>
            <a:r>
              <a:rPr lang="en-US" sz="1400" dirty="0">
                <a:solidFill>
                  <a:srgbClr val="B8C4E0"/>
                </a:solidFill>
                <a:latin typeface="Calibri" pitchFamily="34" charset="0"/>
                <a:ea typeface="Calibri" pitchFamily="34" charset="-122"/>
                <a:cs typeface="Calibri" pitchFamily="34" charset="-120"/>
              </a:rPr>
              <a:t>Many of the names you will learn today come from the peoples who lived here long before there were countries — Mississippi, Appalachian, and many others.</a:t>
            </a:r>
            <a:endParaRPr lang="en-US" sz="1400" dirty="0"/>
          </a:p>
        </p:txBody>
      </p:sp>
      <p:sp>
        <p:nvSpPr>
          <p:cNvPr id="8" name="Text 5"/>
          <p:cNvSpPr/>
          <p:nvPr/>
        </p:nvSpPr>
        <p:spPr>
          <a:xfrm>
            <a:off x="812800" y="4551680"/>
            <a:ext cx="8940800" cy="812800"/>
          </a:xfrm>
          <a:prstGeom prst="rect">
            <a:avLst/>
          </a:prstGeom>
          <a:noFill/>
          <a:ln/>
        </p:spPr>
        <p:txBody>
          <a:bodyPr wrap="square" lIns="0" tIns="0" rIns="0" bIns="0" rtlCol="0" anchor="ctr"/>
          <a:lstStyle/>
          <a:p>
            <a:pPr indent="0" marL="0">
              <a:lnSpc>
                <a:spcPct val="125000"/>
              </a:lnSpc>
              <a:buNone/>
            </a:pPr>
            <a:r>
              <a:rPr lang="en-US" sz="1400" b="1" dirty="0">
                <a:solidFill>
                  <a:srgbClr val="D4943A"/>
                </a:solidFill>
                <a:latin typeface="Calibri" pitchFamily="34" charset="0"/>
                <a:ea typeface="Calibri" pitchFamily="34" charset="-122"/>
                <a:cs typeface="Calibri" pitchFamily="34" charset="-120"/>
              </a:rPr>
              <a:t>Saying these names carefully and getting them right is one way curators show courtesy to the places we study.</a:t>
            </a:r>
            <a:endParaRPr lang="en-US" sz="1400" dirty="0"/>
          </a:p>
        </p:txBody>
      </p:sp>
      <p:sp>
        <p:nvSpPr>
          <p:cNvPr id="9" name="Shape 6"/>
          <p:cNvSpPr/>
          <p:nvPr/>
        </p:nvSpPr>
        <p:spPr>
          <a:xfrm>
            <a:off x="812800" y="5852160"/>
            <a:ext cx="8940800" cy="975360"/>
          </a:xfrm>
          <a:prstGeom prst="roundRect">
            <a:avLst>
              <a:gd name="adj" fmla="val 16667"/>
            </a:avLst>
          </a:prstGeom>
          <a:solidFill>
            <a:srgbClr val="1A2D5A"/>
          </a:solidFill>
          <a:ln/>
        </p:spPr>
      </p:sp>
      <p:sp>
        <p:nvSpPr>
          <p:cNvPr id="10" name="Text 7"/>
          <p:cNvSpPr/>
          <p:nvPr/>
        </p:nvSpPr>
        <p:spPr>
          <a:xfrm>
            <a:off x="1137920" y="5933440"/>
            <a:ext cx="8290560" cy="812800"/>
          </a:xfrm>
          <a:prstGeom prst="rect">
            <a:avLst/>
          </a:prstGeom>
          <a:noFill/>
          <a:ln/>
        </p:spPr>
        <p:txBody>
          <a:bodyPr wrap="square" lIns="0" tIns="0" rIns="0" bIns="0" rtlCol="0" anchor="ctr"/>
          <a:lstStyle/>
          <a:p>
            <a:pPr indent="0" marL="0">
              <a:lnSpc>
                <a:spcPct val="120000"/>
              </a:lnSpc>
              <a:buNone/>
            </a:pPr>
            <a:r>
              <a:rPr lang="en-US" sz="1100" i="1" dirty="0">
                <a:solidFill>
                  <a:srgbClr val="55C8E8"/>
                </a:solidFill>
                <a:latin typeface="Calibri" pitchFamily="34" charset="0"/>
                <a:ea typeface="Calibri" pitchFamily="34" charset="-122"/>
                <a:cs typeface="Calibri" pitchFamily="34" charset="-120"/>
              </a:rPr>
              <a:t>Your Role: You are a Regional Curator — your job is to help visitors understand what makes this region's land special.</a:t>
            </a:r>
            <a:endParaRPr lang="en-US" sz="1100" dirty="0"/>
          </a:p>
        </p:txBody>
      </p:sp>
      <p:sp>
        <p:nvSpPr>
          <p:cNvPr id="11" name="Text 8"/>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3 / 21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SORT</a:t>
            </a:r>
            <a:endParaRPr lang="en-US" sz="1000" dirty="0"/>
          </a:p>
        </p:txBody>
      </p:sp>
      <p:sp>
        <p:nvSpPr>
          <p:cNvPr id="5" name="Text 3"/>
          <p:cNvSpPr/>
          <p:nvPr/>
        </p:nvSpPr>
        <p:spPr>
          <a:xfrm>
            <a:off x="812800" y="975360"/>
            <a:ext cx="113792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Are Physical Features?</a:t>
            </a:r>
            <a:endParaRPr lang="en-US" sz="2600" dirty="0"/>
          </a:p>
        </p:txBody>
      </p:sp>
      <p:sp>
        <p:nvSpPr>
          <p:cNvPr id="6" name="Shape 4"/>
          <p:cNvSpPr/>
          <p:nvPr/>
        </p:nvSpPr>
        <p:spPr>
          <a:xfrm>
            <a:off x="812800" y="2032000"/>
            <a:ext cx="8453120" cy="2438400"/>
          </a:xfrm>
          <a:prstGeom prst="roundRect">
            <a:avLst>
              <a:gd name="adj" fmla="val 8000"/>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7802880" cy="975360"/>
          </a:xfrm>
          <a:prstGeom prst="rect">
            <a:avLst/>
          </a:prstGeom>
          <a:noFill/>
          <a:ln/>
        </p:spPr>
        <p:txBody>
          <a:bodyPr wrap="square" lIns="0" tIns="0" rIns="0" bIns="0" rtlCol="0" anchor="ctr"/>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If you flew over North America and the Caribbean, you would not see country borders from the sky — but you would see the shape of the land.</a:t>
            </a:r>
            <a:endParaRPr lang="en-US" sz="1300" dirty="0"/>
          </a:p>
        </p:txBody>
      </p:sp>
      <p:sp>
        <p:nvSpPr>
          <p:cNvPr id="8" name="Text 6"/>
          <p:cNvSpPr/>
          <p:nvPr/>
        </p:nvSpPr>
        <p:spPr>
          <a:xfrm>
            <a:off x="1137920" y="3169920"/>
            <a:ext cx="7802880" cy="812800"/>
          </a:xfrm>
          <a:prstGeom prst="rect">
            <a:avLst/>
          </a:prstGeom>
          <a:noFill/>
          <a:ln/>
        </p:spPr>
        <p:txBody>
          <a:bodyPr wrap="square" lIns="0" tIns="0" rIns="0" bIns="0" rtlCol="0" anchor="ctr"/>
          <a:lstStyle/>
          <a:p>
            <a:pPr indent="0" marL="0">
              <a:lnSpc>
                <a:spcPct val="125000"/>
              </a:lnSpc>
              <a:buNone/>
            </a:pPr>
            <a:r>
              <a:rPr lang="en-US" sz="1300" b="1" dirty="0">
                <a:solidFill>
                  <a:srgbClr val="1A8A7D"/>
                </a:solidFill>
                <a:latin typeface="Calibri" pitchFamily="34" charset="0"/>
                <a:ea typeface="Calibri" pitchFamily="34" charset="-122"/>
                <a:cs typeface="Calibri" pitchFamily="34" charset="-120"/>
              </a:rPr>
              <a:t>Curators call these shapes physical features. There are four big kinds in this region:</a:t>
            </a:r>
            <a:endParaRPr lang="en-US" sz="1300" dirty="0"/>
          </a:p>
        </p:txBody>
      </p:sp>
      <p:sp>
        <p:nvSpPr>
          <p:cNvPr id="9" name="Shape 7"/>
          <p:cNvSpPr/>
          <p:nvPr/>
        </p:nvSpPr>
        <p:spPr>
          <a:xfrm>
            <a:off x="9916160" y="975360"/>
            <a:ext cx="5527040" cy="3576320"/>
          </a:xfrm>
          <a:prstGeom prst="roundRect">
            <a:avLst>
              <a:gd name="adj" fmla="val 5455"/>
            </a:avLst>
          </a:prstGeom>
          <a:solidFill>
            <a:srgbClr val="E2E8F4"/>
          </a:solidFill>
          <a:ln w="19050">
            <a:solidFill>
              <a:srgbClr val="B0B8CC"/>
            </a:solidFill>
            <a:prstDash val="dash"/>
          </a:ln>
        </p:spPr>
      </p:sp>
      <p:sp>
        <p:nvSpPr>
          <p:cNvPr id="10" name="Text 8"/>
          <p:cNvSpPr/>
          <p:nvPr/>
        </p:nvSpPr>
        <p:spPr>
          <a:xfrm>
            <a:off x="9916160" y="975360"/>
            <a:ext cx="55270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0160000" y="1463040"/>
            <a:ext cx="503936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Four-panel icon grid: mountain peak, winding river, flat grassland, tropical island — simple icons showing the four types of physical features</a:t>
            </a:r>
            <a:endParaRPr lang="en-US" sz="1100" dirty="0"/>
          </a:p>
        </p:txBody>
      </p:sp>
      <p:sp>
        <p:nvSpPr>
          <p:cNvPr id="12" name="Shape 10"/>
          <p:cNvSpPr/>
          <p:nvPr/>
        </p:nvSpPr>
        <p:spPr>
          <a:xfrm>
            <a:off x="812800" y="4876800"/>
            <a:ext cx="3495040" cy="1300480"/>
          </a:xfrm>
          <a:prstGeom prst="roundRect">
            <a:avLst>
              <a:gd name="adj" fmla="val 12500"/>
            </a:avLst>
          </a:prstGeom>
          <a:solidFill>
            <a:srgbClr val="EAF8FD"/>
          </a:solidFill>
          <a:ln/>
          <a:effectLst>
            <a:outerShdw sx="100000" sy="100000" kx="0" ky="0" algn="bl" rotWithShape="0" blurRad="50800" dist="12700" dir="8100000">
              <a:srgbClr val="000000">
                <a:alpha val="8000"/>
              </a:srgbClr>
            </a:outerShdw>
          </a:effectLst>
        </p:spPr>
      </p:sp>
      <p:sp>
        <p:nvSpPr>
          <p:cNvPr id="13" name="Text 11"/>
          <p:cNvSpPr/>
          <p:nvPr/>
        </p:nvSpPr>
        <p:spPr>
          <a:xfrm>
            <a:off x="975360" y="4958080"/>
            <a:ext cx="3169920" cy="487680"/>
          </a:xfrm>
          <a:prstGeom prst="rect">
            <a:avLst/>
          </a:prstGeom>
          <a:noFill/>
          <a:ln/>
        </p:spPr>
        <p:txBody>
          <a:bodyPr wrap="square" lIns="0" tIns="0" rIns="0" bIns="0" rtlCol="0" anchor="ctr"/>
          <a:lstStyle/>
          <a:p>
            <a:pPr algn="ctr" indent="0" marL="0">
              <a:buNone/>
            </a:pPr>
            <a:r>
              <a:rPr lang="en-US" sz="1000" b="1" spc="100" kern="0" dirty="0">
                <a:solidFill>
                  <a:srgbClr val="0E1C42"/>
                </a:solidFill>
                <a:latin typeface="Calibri" pitchFamily="34" charset="0"/>
                <a:ea typeface="Calibri" pitchFamily="34" charset="-122"/>
                <a:cs typeface="Calibri" pitchFamily="34" charset="-120"/>
              </a:rPr>
              <a:t>MOUNTAINS</a:t>
            </a:r>
            <a:endParaRPr lang="en-US" sz="1000" dirty="0"/>
          </a:p>
        </p:txBody>
      </p:sp>
      <p:sp>
        <p:nvSpPr>
          <p:cNvPr id="14" name="Text 12"/>
          <p:cNvSpPr/>
          <p:nvPr/>
        </p:nvSpPr>
        <p:spPr>
          <a:xfrm>
            <a:off x="975360" y="5445760"/>
            <a:ext cx="3169920" cy="56896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Tallest land</a:t>
            </a:r>
            <a:endParaRPr lang="en-US" sz="1100" dirty="0"/>
          </a:p>
        </p:txBody>
      </p:sp>
      <p:sp>
        <p:nvSpPr>
          <p:cNvPr id="15" name="Shape 13"/>
          <p:cNvSpPr/>
          <p:nvPr/>
        </p:nvSpPr>
        <p:spPr>
          <a:xfrm>
            <a:off x="4632960" y="4876800"/>
            <a:ext cx="3495040" cy="1300480"/>
          </a:xfrm>
          <a:prstGeom prst="roundRect">
            <a:avLst>
              <a:gd name="adj" fmla="val 12500"/>
            </a:avLst>
          </a:prstGeom>
          <a:solidFill>
            <a:srgbClr val="E3F8ED"/>
          </a:solidFill>
          <a:ln/>
          <a:effectLst>
            <a:outerShdw sx="100000" sy="100000" kx="0" ky="0" algn="bl" rotWithShape="0" blurRad="50800" dist="12700" dir="8100000">
              <a:srgbClr val="000000">
                <a:alpha val="8000"/>
              </a:srgbClr>
            </a:outerShdw>
          </a:effectLst>
        </p:spPr>
      </p:sp>
      <p:sp>
        <p:nvSpPr>
          <p:cNvPr id="16" name="Text 14"/>
          <p:cNvSpPr/>
          <p:nvPr/>
        </p:nvSpPr>
        <p:spPr>
          <a:xfrm>
            <a:off x="4795520" y="4958080"/>
            <a:ext cx="3169920" cy="487680"/>
          </a:xfrm>
          <a:prstGeom prst="rect">
            <a:avLst/>
          </a:prstGeom>
          <a:noFill/>
          <a:ln/>
        </p:spPr>
        <p:txBody>
          <a:bodyPr wrap="square" lIns="0" tIns="0" rIns="0" bIns="0" rtlCol="0" anchor="ctr"/>
          <a:lstStyle/>
          <a:p>
            <a:pPr algn="ctr" indent="0" marL="0">
              <a:buNone/>
            </a:pPr>
            <a:r>
              <a:rPr lang="en-US" sz="1000" b="1" spc="100" kern="0" dirty="0">
                <a:solidFill>
                  <a:srgbClr val="0E1C42"/>
                </a:solidFill>
                <a:latin typeface="Calibri" pitchFamily="34" charset="0"/>
                <a:ea typeface="Calibri" pitchFamily="34" charset="-122"/>
                <a:cs typeface="Calibri" pitchFamily="34" charset="-120"/>
              </a:rPr>
              <a:t>RIVERS</a:t>
            </a:r>
            <a:endParaRPr lang="en-US" sz="1000" dirty="0"/>
          </a:p>
        </p:txBody>
      </p:sp>
      <p:sp>
        <p:nvSpPr>
          <p:cNvPr id="17" name="Text 15"/>
          <p:cNvSpPr/>
          <p:nvPr/>
        </p:nvSpPr>
        <p:spPr>
          <a:xfrm>
            <a:off x="4795520" y="5445760"/>
            <a:ext cx="3169920" cy="56896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Water across land</a:t>
            </a:r>
            <a:endParaRPr lang="en-US" sz="1100" dirty="0"/>
          </a:p>
        </p:txBody>
      </p:sp>
      <p:sp>
        <p:nvSpPr>
          <p:cNvPr id="18" name="Shape 16"/>
          <p:cNvSpPr/>
          <p:nvPr/>
        </p:nvSpPr>
        <p:spPr>
          <a:xfrm>
            <a:off x="8453120" y="4876800"/>
            <a:ext cx="3495040" cy="1300480"/>
          </a:xfrm>
          <a:prstGeom prst="roundRect">
            <a:avLst>
              <a:gd name="adj" fmla="val 12500"/>
            </a:avLst>
          </a:prstGeom>
          <a:solidFill>
            <a:srgbClr val="FFF8F0"/>
          </a:solidFill>
          <a:ln/>
          <a:effectLst>
            <a:outerShdw sx="100000" sy="100000" kx="0" ky="0" algn="bl" rotWithShape="0" blurRad="50800" dist="12700" dir="8100000">
              <a:srgbClr val="000000">
                <a:alpha val="8000"/>
              </a:srgbClr>
            </a:outerShdw>
          </a:effectLst>
        </p:spPr>
      </p:sp>
      <p:sp>
        <p:nvSpPr>
          <p:cNvPr id="19" name="Text 17"/>
          <p:cNvSpPr/>
          <p:nvPr/>
        </p:nvSpPr>
        <p:spPr>
          <a:xfrm>
            <a:off x="8615680" y="4958080"/>
            <a:ext cx="3169920" cy="487680"/>
          </a:xfrm>
          <a:prstGeom prst="rect">
            <a:avLst/>
          </a:prstGeom>
          <a:noFill/>
          <a:ln/>
        </p:spPr>
        <p:txBody>
          <a:bodyPr wrap="square" lIns="0" tIns="0" rIns="0" bIns="0" rtlCol="0" anchor="ctr"/>
          <a:lstStyle/>
          <a:p>
            <a:pPr algn="ctr" indent="0" marL="0">
              <a:buNone/>
            </a:pPr>
            <a:r>
              <a:rPr lang="en-US" sz="1000" b="1" spc="100" kern="0" dirty="0">
                <a:solidFill>
                  <a:srgbClr val="0E1C42"/>
                </a:solidFill>
                <a:latin typeface="Calibri" pitchFamily="34" charset="0"/>
                <a:ea typeface="Calibri" pitchFamily="34" charset="-122"/>
                <a:cs typeface="Calibri" pitchFamily="34" charset="-120"/>
              </a:rPr>
              <a:t>PLAINS</a:t>
            </a:r>
            <a:endParaRPr lang="en-US" sz="1000" dirty="0"/>
          </a:p>
        </p:txBody>
      </p:sp>
      <p:sp>
        <p:nvSpPr>
          <p:cNvPr id="20" name="Text 18"/>
          <p:cNvSpPr/>
          <p:nvPr/>
        </p:nvSpPr>
        <p:spPr>
          <a:xfrm>
            <a:off x="8615680" y="5445760"/>
            <a:ext cx="3169920" cy="56896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Wide, flat lands</a:t>
            </a:r>
            <a:endParaRPr lang="en-US" sz="1100" dirty="0"/>
          </a:p>
        </p:txBody>
      </p:sp>
      <p:sp>
        <p:nvSpPr>
          <p:cNvPr id="21" name="Shape 19"/>
          <p:cNvSpPr/>
          <p:nvPr/>
        </p:nvSpPr>
        <p:spPr>
          <a:xfrm>
            <a:off x="12273280" y="4876800"/>
            <a:ext cx="3495040" cy="1300480"/>
          </a:xfrm>
          <a:prstGeom prst="roundRect">
            <a:avLst>
              <a:gd name="adj" fmla="val 12500"/>
            </a:avLst>
          </a:prstGeom>
          <a:solidFill>
            <a:srgbClr val="F0E8FF"/>
          </a:solidFill>
          <a:ln/>
          <a:effectLst>
            <a:outerShdw sx="100000" sy="100000" kx="0" ky="0" algn="bl" rotWithShape="0" blurRad="50800" dist="12700" dir="8100000">
              <a:srgbClr val="000000">
                <a:alpha val="8000"/>
              </a:srgbClr>
            </a:outerShdw>
          </a:effectLst>
        </p:spPr>
      </p:sp>
      <p:sp>
        <p:nvSpPr>
          <p:cNvPr id="22" name="Text 20"/>
          <p:cNvSpPr/>
          <p:nvPr/>
        </p:nvSpPr>
        <p:spPr>
          <a:xfrm>
            <a:off x="12435840" y="4958080"/>
            <a:ext cx="3169920" cy="487680"/>
          </a:xfrm>
          <a:prstGeom prst="rect">
            <a:avLst/>
          </a:prstGeom>
          <a:noFill/>
          <a:ln/>
        </p:spPr>
        <p:txBody>
          <a:bodyPr wrap="square" lIns="0" tIns="0" rIns="0" bIns="0" rtlCol="0" anchor="ctr"/>
          <a:lstStyle/>
          <a:p>
            <a:pPr algn="ctr" indent="0" marL="0">
              <a:buNone/>
            </a:pPr>
            <a:r>
              <a:rPr lang="en-US" sz="1000" b="1" spc="100" kern="0" dirty="0">
                <a:solidFill>
                  <a:srgbClr val="0E1C42"/>
                </a:solidFill>
                <a:latin typeface="Calibri" pitchFamily="34" charset="0"/>
                <a:ea typeface="Calibri" pitchFamily="34" charset="-122"/>
                <a:cs typeface="Calibri" pitchFamily="34" charset="-120"/>
              </a:rPr>
              <a:t>ISLANDS</a:t>
            </a:r>
            <a:endParaRPr lang="en-US" sz="1000" dirty="0"/>
          </a:p>
        </p:txBody>
      </p:sp>
      <p:sp>
        <p:nvSpPr>
          <p:cNvPr id="23" name="Text 21"/>
          <p:cNvSpPr/>
          <p:nvPr/>
        </p:nvSpPr>
        <p:spPr>
          <a:xfrm>
            <a:off x="12435840" y="5445760"/>
            <a:ext cx="3169920" cy="56896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Land in water</a:t>
            </a:r>
            <a:endParaRPr lang="en-US" sz="1100" dirty="0"/>
          </a:p>
        </p:txBody>
      </p:sp>
      <p:sp>
        <p:nvSpPr>
          <p:cNvPr id="24" name="Shape 22"/>
          <p:cNvSpPr/>
          <p:nvPr/>
        </p:nvSpPr>
        <p:spPr>
          <a:xfrm>
            <a:off x="812800" y="6502400"/>
            <a:ext cx="14630400" cy="195072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25" name="Text 23"/>
          <p:cNvSpPr/>
          <p:nvPr/>
        </p:nvSpPr>
        <p:spPr>
          <a:xfrm>
            <a:off x="1137920" y="66649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6" name="Text 24"/>
          <p:cNvSpPr/>
          <p:nvPr/>
        </p:nvSpPr>
        <p:spPr>
          <a:xfrm>
            <a:off x="1137920" y="7120128"/>
            <a:ext cx="13980160" cy="11704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see from a plane that you cannot see on a political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name one mountain, river, or island you already know?</a:t>
            </a:r>
            <a:endParaRPr lang="en-US" sz="1100" dirty="0"/>
          </a:p>
        </p:txBody>
      </p:sp>
      <p:sp>
        <p:nvSpPr>
          <p:cNvPr id="27" name="Text 25"/>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4 / 21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SORT</a:t>
            </a:r>
            <a:endParaRPr lang="en-US" sz="1000" dirty="0"/>
          </a:p>
        </p:txBody>
      </p:sp>
      <p:sp>
        <p:nvSpPr>
          <p:cNvPr id="5" name="Text 3"/>
          <p:cNvSpPr/>
          <p:nvPr/>
        </p:nvSpPr>
        <p:spPr>
          <a:xfrm>
            <a:off x="812800" y="975360"/>
            <a:ext cx="113792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Mountains: Two Great Ranges</a:t>
            </a:r>
            <a:endParaRPr lang="en-US" sz="2600" dirty="0"/>
          </a:p>
        </p:txBody>
      </p:sp>
      <p:sp>
        <p:nvSpPr>
          <p:cNvPr id="6" name="Shape 4"/>
          <p:cNvSpPr/>
          <p:nvPr/>
        </p:nvSpPr>
        <p:spPr>
          <a:xfrm>
            <a:off x="812800" y="2032000"/>
            <a:ext cx="6990080" cy="3738880"/>
          </a:xfrm>
          <a:prstGeom prst="roundRect">
            <a:avLst>
              <a:gd name="adj" fmla="val 5217"/>
            </a:avLst>
          </a:prstGeom>
          <a:solidFill>
            <a:srgbClr val="EAF8F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6339840" cy="4064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ROCKY MOUNTAINS</a:t>
            </a:r>
            <a:endParaRPr lang="en-US" sz="1000" dirty="0"/>
          </a:p>
        </p:txBody>
      </p:sp>
      <p:sp>
        <p:nvSpPr>
          <p:cNvPr id="8" name="Text 6"/>
          <p:cNvSpPr/>
          <p:nvPr/>
        </p:nvSpPr>
        <p:spPr>
          <a:xfrm>
            <a:off x="1137920" y="2682240"/>
            <a:ext cx="6339840" cy="195072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Run down the WESTERN side</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All the way from Canada through the US and into Mexico</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Tall, rugged peaks</a:t>
            </a:r>
            <a:endParaRPr lang="en-US" sz="1300" dirty="0"/>
          </a:p>
        </p:txBody>
      </p:sp>
      <p:sp>
        <p:nvSpPr>
          <p:cNvPr id="9" name="Shape 7"/>
          <p:cNvSpPr/>
          <p:nvPr/>
        </p:nvSpPr>
        <p:spPr>
          <a:xfrm>
            <a:off x="1625600" y="4632960"/>
            <a:ext cx="5364480" cy="975360"/>
          </a:xfrm>
          <a:prstGeom prst="roundRect">
            <a:avLst>
              <a:gd name="adj" fmla="val 20000"/>
            </a:avLst>
          </a:prstGeom>
          <a:solidFill>
            <a:srgbClr val="E2E8F4"/>
          </a:solidFill>
          <a:ln w="19050">
            <a:solidFill>
              <a:srgbClr val="B0B8CC"/>
            </a:solidFill>
            <a:prstDash val="dash"/>
          </a:ln>
        </p:spPr>
      </p:sp>
      <p:sp>
        <p:nvSpPr>
          <p:cNvPr id="10" name="Text 8"/>
          <p:cNvSpPr/>
          <p:nvPr/>
        </p:nvSpPr>
        <p:spPr>
          <a:xfrm>
            <a:off x="1625600" y="4632960"/>
            <a:ext cx="53644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869440" y="5120640"/>
            <a:ext cx="4876800" cy="325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of the Rocky Mountains — tall, snow-capped peaks, rugged terrain</a:t>
            </a:r>
            <a:endParaRPr lang="en-US" sz="1100" dirty="0"/>
          </a:p>
        </p:txBody>
      </p:sp>
      <p:sp>
        <p:nvSpPr>
          <p:cNvPr id="12" name="Shape 10"/>
          <p:cNvSpPr/>
          <p:nvPr/>
        </p:nvSpPr>
        <p:spPr>
          <a:xfrm>
            <a:off x="8453120" y="2032000"/>
            <a:ext cx="6990080" cy="3738880"/>
          </a:xfrm>
          <a:prstGeom prst="roundRect">
            <a:avLst>
              <a:gd name="adj" fmla="val 5217"/>
            </a:avLst>
          </a:prstGeom>
          <a:solidFill>
            <a:srgbClr val="E3F8ED"/>
          </a:solidFill>
          <a:ln/>
          <a:effectLst>
            <a:outerShdw sx="100000" sy="100000" kx="0" ky="0" algn="bl" rotWithShape="0" blurRad="76200" dist="25400" dir="8100000">
              <a:srgbClr val="000000">
                <a:alpha val="10000"/>
              </a:srgbClr>
            </a:outerShdw>
          </a:effectLst>
        </p:spPr>
      </p:sp>
      <p:sp>
        <p:nvSpPr>
          <p:cNvPr id="13" name="Text 11"/>
          <p:cNvSpPr/>
          <p:nvPr/>
        </p:nvSpPr>
        <p:spPr>
          <a:xfrm>
            <a:off x="8778240" y="2194560"/>
            <a:ext cx="6339840" cy="406400"/>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APPALACHIAN MOUNTAINS</a:t>
            </a:r>
            <a:endParaRPr lang="en-US" sz="1000" dirty="0"/>
          </a:p>
        </p:txBody>
      </p:sp>
      <p:sp>
        <p:nvSpPr>
          <p:cNvPr id="14" name="Text 12"/>
          <p:cNvSpPr/>
          <p:nvPr/>
        </p:nvSpPr>
        <p:spPr>
          <a:xfrm>
            <a:off x="8778240" y="2682240"/>
            <a:ext cx="6339840" cy="195072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Run down the EASTERN side</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Through Canada and the US</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Older and lower than the Rockies</a:t>
            </a:r>
            <a:endParaRPr lang="en-US" sz="1300" dirty="0"/>
          </a:p>
        </p:txBody>
      </p:sp>
      <p:sp>
        <p:nvSpPr>
          <p:cNvPr id="15" name="Shape 13"/>
          <p:cNvSpPr/>
          <p:nvPr/>
        </p:nvSpPr>
        <p:spPr>
          <a:xfrm>
            <a:off x="9265920" y="4632960"/>
            <a:ext cx="5364480" cy="975360"/>
          </a:xfrm>
          <a:prstGeom prst="roundRect">
            <a:avLst>
              <a:gd name="adj" fmla="val 20000"/>
            </a:avLst>
          </a:prstGeom>
          <a:solidFill>
            <a:srgbClr val="E2E8F4"/>
          </a:solidFill>
          <a:ln w="19050">
            <a:solidFill>
              <a:srgbClr val="B0B8CC"/>
            </a:solidFill>
            <a:prstDash val="dash"/>
          </a:ln>
        </p:spPr>
      </p:sp>
      <p:sp>
        <p:nvSpPr>
          <p:cNvPr id="16" name="Text 14"/>
          <p:cNvSpPr/>
          <p:nvPr/>
        </p:nvSpPr>
        <p:spPr>
          <a:xfrm>
            <a:off x="9265920" y="4632960"/>
            <a:ext cx="53644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9509760" y="5120640"/>
            <a:ext cx="4876800" cy="325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of the Appalachian Mountains — green, rounded, older-looking mountains</a:t>
            </a:r>
            <a:endParaRPr lang="en-US" sz="1100" dirty="0"/>
          </a:p>
        </p:txBody>
      </p:sp>
      <p:sp>
        <p:nvSpPr>
          <p:cNvPr id="18" name="Shape 16"/>
          <p:cNvSpPr/>
          <p:nvPr/>
        </p:nvSpPr>
        <p:spPr>
          <a:xfrm>
            <a:off x="812800" y="6096000"/>
            <a:ext cx="14630400" cy="2113280"/>
          </a:xfrm>
          <a:prstGeom prst="roundRect">
            <a:avLst>
              <a:gd name="adj" fmla="val 9231"/>
            </a:avLst>
          </a:prstGeom>
          <a:solidFill>
            <a:srgbClr val="FFF3DC"/>
          </a:solidFill>
          <a:ln w="19050">
            <a:solidFill>
              <a:srgbClr val="F5E6C8"/>
            </a:solidFill>
            <a:prstDash val="solid"/>
          </a:ln>
        </p:spPr>
      </p:sp>
      <p:sp>
        <p:nvSpPr>
          <p:cNvPr id="19" name="Text 17"/>
          <p:cNvSpPr/>
          <p:nvPr/>
        </p:nvSpPr>
        <p:spPr>
          <a:xfrm>
            <a:off x="1056640" y="619353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1056640" y="6551168"/>
            <a:ext cx="14142720" cy="154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range is on the west? Which is on the east?"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mountains are taller — the Rockies or the Appalachians?"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"Can you show me where each one is on the map?"</a:t>
            </a:r>
            <a:endParaRPr lang="en-US" sz="1200" dirty="0"/>
          </a:p>
        </p:txBody>
      </p:sp>
      <p:sp>
        <p:nvSpPr>
          <p:cNvPr id="21" name="Text 19"/>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5 / 21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SORT</a:t>
            </a:r>
            <a:endParaRPr lang="en-US" sz="1000" dirty="0"/>
          </a:p>
        </p:txBody>
      </p:sp>
      <p:sp>
        <p:nvSpPr>
          <p:cNvPr id="5" name="Text 3"/>
          <p:cNvSpPr/>
          <p:nvPr/>
        </p:nvSpPr>
        <p:spPr>
          <a:xfrm>
            <a:off x="812800" y="975360"/>
            <a:ext cx="113792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Rivers: Highways of Water</a:t>
            </a:r>
            <a:endParaRPr lang="en-US" sz="2600" dirty="0"/>
          </a:p>
        </p:txBody>
      </p:sp>
      <p:sp>
        <p:nvSpPr>
          <p:cNvPr id="6" name="Shape 4"/>
          <p:cNvSpPr/>
          <p:nvPr/>
        </p:nvSpPr>
        <p:spPr>
          <a:xfrm>
            <a:off x="812800" y="2032000"/>
            <a:ext cx="6990080" cy="3251200"/>
          </a:xfrm>
          <a:prstGeom prst="roundRect">
            <a:avLst>
              <a:gd name="adj" fmla="val 6000"/>
            </a:avLst>
          </a:prstGeom>
          <a:solidFill>
            <a:srgbClr val="EAF8F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6339840" cy="4064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MISSISSIPPI RIVER</a:t>
            </a:r>
            <a:endParaRPr lang="en-US" sz="1000" dirty="0"/>
          </a:p>
        </p:txBody>
      </p:sp>
      <p:sp>
        <p:nvSpPr>
          <p:cNvPr id="8" name="Text 6"/>
          <p:cNvSpPr/>
          <p:nvPr/>
        </p:nvSpPr>
        <p:spPr>
          <a:xfrm>
            <a:off x="1137920" y="2682240"/>
            <a:ext cx="6339840" cy="21132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Longest river in the region</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Cuts right through the middle of the United States</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Over 2,300 miles long — passes through 10 states!</a:t>
            </a:r>
            <a:endParaRPr lang="en-US" sz="1300" dirty="0"/>
          </a:p>
        </p:txBody>
      </p:sp>
      <p:sp>
        <p:nvSpPr>
          <p:cNvPr id="9" name="Shape 7"/>
          <p:cNvSpPr/>
          <p:nvPr/>
        </p:nvSpPr>
        <p:spPr>
          <a:xfrm>
            <a:off x="8453120" y="2032000"/>
            <a:ext cx="6990080" cy="3251200"/>
          </a:xfrm>
          <a:prstGeom prst="roundRect">
            <a:avLst>
              <a:gd name="adj" fmla="val 6000"/>
            </a:avLst>
          </a:prstGeom>
          <a:solidFill>
            <a:srgbClr val="FFF8F0"/>
          </a:solidFill>
          <a:ln/>
          <a:effectLst>
            <a:outerShdw sx="100000" sy="100000" kx="0" ky="0" algn="bl" rotWithShape="0" blurRad="76200" dist="25400" dir="8100000">
              <a:srgbClr val="000000">
                <a:alpha val="10000"/>
              </a:srgbClr>
            </a:outerShdw>
          </a:effectLst>
        </p:spPr>
      </p:sp>
      <p:sp>
        <p:nvSpPr>
          <p:cNvPr id="10" name="Text 8"/>
          <p:cNvSpPr/>
          <p:nvPr/>
        </p:nvSpPr>
        <p:spPr>
          <a:xfrm>
            <a:off x="8778240" y="2194560"/>
            <a:ext cx="6339840" cy="4064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RIO GRANDE</a:t>
            </a:r>
            <a:endParaRPr lang="en-US" sz="1000" dirty="0"/>
          </a:p>
        </p:txBody>
      </p:sp>
      <p:sp>
        <p:nvSpPr>
          <p:cNvPr id="11" name="Text 9"/>
          <p:cNvSpPr/>
          <p:nvPr/>
        </p:nvSpPr>
        <p:spPr>
          <a:xfrm>
            <a:off x="8778240" y="2682240"/>
            <a:ext cx="6339840" cy="21132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Forms part of the border between the US and Mexico</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Runs along the southern edge</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A river as a boundary between two countries</a:t>
            </a:r>
            <a:endParaRPr lang="en-US" sz="1300" dirty="0"/>
          </a:p>
        </p:txBody>
      </p:sp>
      <p:sp>
        <p:nvSpPr>
          <p:cNvPr id="12" name="Shape 10"/>
          <p:cNvSpPr/>
          <p:nvPr/>
        </p:nvSpPr>
        <p:spPr>
          <a:xfrm>
            <a:off x="812800" y="5689600"/>
            <a:ext cx="8128000" cy="2600960"/>
          </a:xfrm>
          <a:prstGeom prst="roundRect">
            <a:avLst>
              <a:gd name="adj" fmla="val 7500"/>
            </a:avLst>
          </a:prstGeom>
          <a:solidFill>
            <a:srgbClr val="E2E8F4"/>
          </a:solidFill>
          <a:ln w="19050">
            <a:solidFill>
              <a:srgbClr val="B0B8CC"/>
            </a:solidFill>
            <a:prstDash val="dash"/>
          </a:ln>
        </p:spPr>
      </p:sp>
      <p:sp>
        <p:nvSpPr>
          <p:cNvPr id="13" name="Text 11"/>
          <p:cNvSpPr/>
          <p:nvPr/>
        </p:nvSpPr>
        <p:spPr>
          <a:xfrm>
            <a:off x="812800" y="5689600"/>
            <a:ext cx="81280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1056640" y="6177280"/>
            <a:ext cx="7640320" cy="1950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showing Mississippi River running through the middle of the US and Rio Grande along the US-Mexico border — both rivers clearly labeled</a:t>
            </a:r>
            <a:endParaRPr lang="en-US" sz="1100" dirty="0"/>
          </a:p>
        </p:txBody>
      </p:sp>
      <p:sp>
        <p:nvSpPr>
          <p:cNvPr id="15" name="Shape 13"/>
          <p:cNvSpPr/>
          <p:nvPr/>
        </p:nvSpPr>
        <p:spPr>
          <a:xfrm>
            <a:off x="9428480" y="5689600"/>
            <a:ext cx="6014720" cy="260096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9753600" y="5852160"/>
            <a:ext cx="536448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9753600" y="6307328"/>
            <a:ext cx="5364480" cy="18206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the Mississippi called the 'longest river in the region'?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can a river be a border between two countries?</a:t>
            </a:r>
            <a:endParaRPr lang="en-US" sz="1100" dirty="0"/>
          </a:p>
        </p:txBody>
      </p:sp>
      <p:sp>
        <p:nvSpPr>
          <p:cNvPr id="18" name="Text 16"/>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6 / 21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95072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SORT</a:t>
            </a:r>
            <a:endParaRPr lang="en-US" sz="1000" dirty="0"/>
          </a:p>
        </p:txBody>
      </p:sp>
      <p:sp>
        <p:nvSpPr>
          <p:cNvPr id="5" name="Text 3"/>
          <p:cNvSpPr/>
          <p:nvPr/>
        </p:nvSpPr>
        <p:spPr>
          <a:xfrm>
            <a:off x="812800" y="975360"/>
            <a:ext cx="113792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Plains and Islands</a:t>
            </a:r>
            <a:endParaRPr lang="en-US" sz="2600" dirty="0"/>
          </a:p>
        </p:txBody>
      </p:sp>
      <p:sp>
        <p:nvSpPr>
          <p:cNvPr id="6" name="Shape 4"/>
          <p:cNvSpPr/>
          <p:nvPr/>
        </p:nvSpPr>
        <p:spPr>
          <a:xfrm>
            <a:off x="812800" y="2032000"/>
            <a:ext cx="6990080" cy="3576320"/>
          </a:xfrm>
          <a:prstGeom prst="roundRect">
            <a:avLst>
              <a:gd name="adj" fmla="val 5455"/>
            </a:avLst>
          </a:prstGeom>
          <a:solidFill>
            <a:srgbClr val="E3F8ED"/>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94560"/>
            <a:ext cx="6339840" cy="406400"/>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GREAT PLAINS</a:t>
            </a:r>
            <a:endParaRPr lang="en-US" sz="1000" dirty="0"/>
          </a:p>
        </p:txBody>
      </p:sp>
      <p:sp>
        <p:nvSpPr>
          <p:cNvPr id="8" name="Text 6"/>
          <p:cNvSpPr/>
          <p:nvPr/>
        </p:nvSpPr>
        <p:spPr>
          <a:xfrm>
            <a:off x="1137920" y="2682240"/>
            <a:ext cx="6339840" cy="243840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Wide, flat lands in the MIDDLE of the region</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Stretch across the central US and into Canada</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Mostly flat with grass and farms</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Very different from the mountains!</a:t>
            </a:r>
            <a:endParaRPr lang="en-US" sz="1300" dirty="0"/>
          </a:p>
        </p:txBody>
      </p:sp>
      <p:sp>
        <p:nvSpPr>
          <p:cNvPr id="9" name="Shape 7"/>
          <p:cNvSpPr/>
          <p:nvPr/>
        </p:nvSpPr>
        <p:spPr>
          <a:xfrm>
            <a:off x="8453120" y="2032000"/>
            <a:ext cx="6990080" cy="3576320"/>
          </a:xfrm>
          <a:prstGeom prst="roundRect">
            <a:avLst>
              <a:gd name="adj" fmla="val 5455"/>
            </a:avLst>
          </a:prstGeom>
          <a:solidFill>
            <a:srgbClr val="F0E8FF"/>
          </a:solidFill>
          <a:ln/>
          <a:effectLst>
            <a:outerShdw sx="100000" sy="100000" kx="0" ky="0" algn="bl" rotWithShape="0" blurRad="76200" dist="25400" dir="8100000">
              <a:srgbClr val="000000">
                <a:alpha val="10000"/>
              </a:srgbClr>
            </a:outerShdw>
          </a:effectLst>
        </p:spPr>
      </p:sp>
      <p:sp>
        <p:nvSpPr>
          <p:cNvPr id="10" name="Text 8"/>
          <p:cNvSpPr/>
          <p:nvPr/>
        </p:nvSpPr>
        <p:spPr>
          <a:xfrm>
            <a:off x="8778240" y="2194560"/>
            <a:ext cx="6339840" cy="406400"/>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CARIBBEAN ISLANDS</a:t>
            </a:r>
            <a:endParaRPr lang="en-US" sz="1000" dirty="0"/>
          </a:p>
        </p:txBody>
      </p:sp>
      <p:sp>
        <p:nvSpPr>
          <p:cNvPr id="11" name="Text 9"/>
          <p:cNvSpPr/>
          <p:nvPr/>
        </p:nvSpPr>
        <p:spPr>
          <a:xfrm>
            <a:off x="8778240" y="2682240"/>
            <a:ext cx="6339840" cy="243840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0E1C42"/>
                </a:solidFill>
                <a:latin typeface="Calibri" pitchFamily="34" charset="0"/>
                <a:ea typeface="Calibri" pitchFamily="34" charset="-122"/>
                <a:cs typeface="Calibri" pitchFamily="34" charset="-120"/>
              </a:rPr>
              <a:t>Land surrounded by water</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Mostly made of islands — big and small</a:t>
            </a:r>
            <a:endParaRPr lang="en-US" sz="13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Cuba, Hispaniola, Jamaica, Puerto Rico</a:t>
            </a:r>
            <a:endParaRPr lang="en-US" sz="13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Warm tropical sea</a:t>
            </a:r>
            <a:endParaRPr lang="en-US" sz="1300" dirty="0"/>
          </a:p>
        </p:txBody>
      </p:sp>
      <p:sp>
        <p:nvSpPr>
          <p:cNvPr id="12" name="Shape 10"/>
          <p:cNvSpPr/>
          <p:nvPr/>
        </p:nvSpPr>
        <p:spPr>
          <a:xfrm>
            <a:off x="812800" y="6014720"/>
            <a:ext cx="14630400" cy="2275840"/>
          </a:xfrm>
          <a:prstGeom prst="roundRect">
            <a:avLst>
              <a:gd name="adj" fmla="val 8571"/>
            </a:avLst>
          </a:prstGeom>
          <a:solidFill>
            <a:srgbClr val="FFF3DC"/>
          </a:solidFill>
          <a:ln w="19050">
            <a:solidFill>
              <a:srgbClr val="F5E6C8"/>
            </a:solidFill>
            <a:prstDash val="solid"/>
          </a:ln>
        </p:spPr>
      </p:sp>
      <p:sp>
        <p:nvSpPr>
          <p:cNvPr id="13" name="Text 11"/>
          <p:cNvSpPr/>
          <p:nvPr/>
        </p:nvSpPr>
        <p:spPr>
          <a:xfrm>
            <a:off x="1056640" y="611225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1056640" y="6469888"/>
            <a:ext cx="1414272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is the Great Plains different from the Rocky Mountains?"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would it feel like to walk across the Great Plains versus a Caribbean island?"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feature type is mostly water — plains or islands?"</a:t>
            </a:r>
            <a:endParaRPr lang="en-US" sz="1200" dirty="0"/>
          </a:p>
        </p:txBody>
      </p:sp>
      <p:sp>
        <p:nvSpPr>
          <p:cNvPr id="15" name="Text 13"/>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7 / 21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8F0"/>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PAUSE &amp; THINK</a:t>
            </a:r>
            <a:endParaRPr lang="en-US" sz="1000" dirty="0"/>
          </a:p>
        </p:txBody>
      </p:sp>
      <p:sp>
        <p:nvSpPr>
          <p:cNvPr id="5" name="Text 3"/>
          <p:cNvSpPr/>
          <p:nvPr/>
        </p:nvSpPr>
        <p:spPr>
          <a:xfrm>
            <a:off x="812800" y="113792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Mountains vs. Plains</a:t>
            </a:r>
            <a:endParaRPr lang="en-US" sz="2600" dirty="0"/>
          </a:p>
        </p:txBody>
      </p:sp>
      <p:sp>
        <p:nvSpPr>
          <p:cNvPr id="6" name="Shape 4"/>
          <p:cNvSpPr/>
          <p:nvPr/>
        </p:nvSpPr>
        <p:spPr>
          <a:xfrm>
            <a:off x="2438400" y="2275840"/>
            <a:ext cx="11379200" cy="1625600"/>
          </a:xfrm>
          <a:prstGeom prst="roundRect">
            <a:avLst>
              <a:gd name="adj" fmla="val 15000"/>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2763520" y="2357120"/>
            <a:ext cx="10728960" cy="1463040"/>
          </a:xfrm>
          <a:prstGeom prst="rect">
            <a:avLst/>
          </a:prstGeom>
          <a:noFill/>
          <a:ln/>
        </p:spPr>
        <p:txBody>
          <a:bodyPr wrap="square" lIns="0" tIns="0" rIns="0" bIns="0" rtlCol="0" anchor="ctr"/>
          <a:lstStyle/>
          <a:p>
            <a:pPr algn="ctr" indent="0" marL="0">
              <a:lnSpc>
                <a:spcPct val="130000"/>
              </a:lnSpc>
              <a:buNone/>
            </a:pPr>
            <a:r>
              <a:rPr lang="en-US" sz="1400" i="1" dirty="0">
                <a:solidFill>
                  <a:srgbClr val="0E1C42"/>
                </a:solidFill>
                <a:latin typeface="Cambria" pitchFamily="34" charset="0"/>
                <a:ea typeface="Cambria" pitchFamily="34" charset="-122"/>
                <a:cs typeface="Cambria" pitchFamily="34" charset="-120"/>
              </a:rPr>
              <a:t>The Rocky Mountains and the Great Plains sit right next to each other. How do you think the land feels different if you are walking in the mountains versus walking across the plains?</a:t>
            </a:r>
            <a:endParaRPr lang="en-US" sz="1400" dirty="0"/>
          </a:p>
        </p:txBody>
      </p:sp>
      <p:sp>
        <p:nvSpPr>
          <p:cNvPr id="8" name="Text 6"/>
          <p:cNvSpPr/>
          <p:nvPr/>
        </p:nvSpPr>
        <p:spPr>
          <a:xfrm>
            <a:off x="2438400" y="4226560"/>
            <a:ext cx="11379200" cy="568960"/>
          </a:xfrm>
          <a:prstGeom prst="rect">
            <a:avLst/>
          </a:prstGeom>
          <a:noFill/>
          <a:ln/>
        </p:spPr>
        <p:txBody>
          <a:bodyPr wrap="square" lIns="0" tIns="0" rIns="0" bIns="0"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TURN &amp; TALK  —  Share your thinking with a partner for 30 seconds.</a:t>
            </a:r>
            <a:endParaRPr lang="en-US" sz="1200" dirty="0"/>
          </a:p>
        </p:txBody>
      </p:sp>
      <p:sp>
        <p:nvSpPr>
          <p:cNvPr id="9" name="Shape 7"/>
          <p:cNvSpPr/>
          <p:nvPr/>
        </p:nvSpPr>
        <p:spPr>
          <a:xfrm>
            <a:off x="1625600" y="5120640"/>
            <a:ext cx="5689600" cy="2275840"/>
          </a:xfrm>
          <a:prstGeom prst="roundRect">
            <a:avLst>
              <a:gd name="adj" fmla="val 8571"/>
            </a:avLst>
          </a:prstGeom>
          <a:solidFill>
            <a:srgbClr val="EAF8FD"/>
          </a:solidFill>
          <a:ln/>
        </p:spPr>
      </p:sp>
      <p:sp>
        <p:nvSpPr>
          <p:cNvPr id="10" name="Text 8"/>
          <p:cNvSpPr/>
          <p:nvPr/>
        </p:nvSpPr>
        <p:spPr>
          <a:xfrm>
            <a:off x="1950720" y="5201920"/>
            <a:ext cx="5039360" cy="406400"/>
          </a:xfrm>
          <a:prstGeom prst="rect">
            <a:avLst/>
          </a:prstGeom>
          <a:noFill/>
          <a:ln/>
        </p:spPr>
        <p:txBody>
          <a:bodyPr wrap="square" lIns="0" tIns="0" rIns="0" bIns="0" rtlCol="0" anchor="ctr"/>
          <a:lstStyle/>
          <a:p>
            <a:pPr algn="ctr" indent="0" marL="0">
              <a:buNone/>
            </a:pPr>
            <a:r>
              <a:rPr lang="en-US" sz="1000" b="1" spc="100" kern="0" dirty="0">
                <a:solidFill>
                  <a:srgbClr val="1A8A7D"/>
                </a:solidFill>
                <a:latin typeface="Calibri" pitchFamily="34" charset="0"/>
                <a:ea typeface="Calibri" pitchFamily="34" charset="-122"/>
                <a:cs typeface="Calibri" pitchFamily="34" charset="-120"/>
              </a:rPr>
              <a:t>MOUNTAINS</a:t>
            </a:r>
            <a:endParaRPr lang="en-US" sz="1000" dirty="0"/>
          </a:p>
        </p:txBody>
      </p:sp>
      <p:sp>
        <p:nvSpPr>
          <p:cNvPr id="11" name="Text 9"/>
          <p:cNvSpPr/>
          <p:nvPr/>
        </p:nvSpPr>
        <p:spPr>
          <a:xfrm>
            <a:off x="1950720" y="5689600"/>
            <a:ext cx="5039360" cy="1463040"/>
          </a:xfrm>
          <a:prstGeom prst="rect">
            <a:avLst/>
          </a:prstGeom>
          <a:noFill/>
          <a:ln/>
        </p:spPr>
        <p:txBody>
          <a:bodyPr wrap="square" lIns="0" tIns="0" rIns="0" bIns="0" rtlCol="0" anchor="ctr"/>
          <a:lstStyle/>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Steep, tall, rugged</a:t>
            </a:r>
            <a:endParaRPr lang="en-US" sz="1200" dirty="0"/>
          </a:p>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Hard to walk across</a:t>
            </a:r>
            <a:endParaRPr lang="en-US" sz="1200" dirty="0"/>
          </a:p>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Rocky terrain</a:t>
            </a:r>
            <a:endParaRPr lang="en-US" sz="1200" dirty="0"/>
          </a:p>
        </p:txBody>
      </p:sp>
      <p:sp>
        <p:nvSpPr>
          <p:cNvPr id="12" name="Shape 10"/>
          <p:cNvSpPr/>
          <p:nvPr/>
        </p:nvSpPr>
        <p:spPr>
          <a:xfrm>
            <a:off x="8940800" y="5120640"/>
            <a:ext cx="5689600" cy="2275840"/>
          </a:xfrm>
          <a:prstGeom prst="roundRect">
            <a:avLst>
              <a:gd name="adj" fmla="val 8571"/>
            </a:avLst>
          </a:prstGeom>
          <a:solidFill>
            <a:srgbClr val="E3F8ED"/>
          </a:solidFill>
          <a:ln/>
        </p:spPr>
      </p:sp>
      <p:sp>
        <p:nvSpPr>
          <p:cNvPr id="13" name="Text 11"/>
          <p:cNvSpPr/>
          <p:nvPr/>
        </p:nvSpPr>
        <p:spPr>
          <a:xfrm>
            <a:off x="9265920" y="5201920"/>
            <a:ext cx="5039360" cy="406400"/>
          </a:xfrm>
          <a:prstGeom prst="rect">
            <a:avLst/>
          </a:prstGeom>
          <a:noFill/>
          <a:ln/>
        </p:spPr>
        <p:txBody>
          <a:bodyPr wrap="square" lIns="0" tIns="0" rIns="0" bIns="0" rtlCol="0" anchor="ctr"/>
          <a:lstStyle/>
          <a:p>
            <a:pPr algn="ctr" indent="0" marL="0">
              <a:buNone/>
            </a:pPr>
            <a:r>
              <a:rPr lang="en-US" sz="1000" b="1" spc="100" kern="0" dirty="0">
                <a:solidFill>
                  <a:srgbClr val="34B76F"/>
                </a:solidFill>
                <a:latin typeface="Calibri" pitchFamily="34" charset="0"/>
                <a:ea typeface="Calibri" pitchFamily="34" charset="-122"/>
                <a:cs typeface="Calibri" pitchFamily="34" charset="-120"/>
              </a:rPr>
              <a:t>PLAINS</a:t>
            </a:r>
            <a:endParaRPr lang="en-US" sz="1000" dirty="0"/>
          </a:p>
        </p:txBody>
      </p:sp>
      <p:sp>
        <p:nvSpPr>
          <p:cNvPr id="14" name="Text 12"/>
          <p:cNvSpPr/>
          <p:nvPr/>
        </p:nvSpPr>
        <p:spPr>
          <a:xfrm>
            <a:off x="9265920" y="5689600"/>
            <a:ext cx="5039360" cy="1463040"/>
          </a:xfrm>
          <a:prstGeom prst="rect">
            <a:avLst/>
          </a:prstGeom>
          <a:noFill/>
          <a:ln/>
        </p:spPr>
        <p:txBody>
          <a:bodyPr wrap="square" lIns="0" tIns="0" rIns="0" bIns="0" rtlCol="0" anchor="ctr"/>
          <a:lstStyle/>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Flat, wide, open</a:t>
            </a:r>
            <a:endParaRPr lang="en-US" sz="1200" dirty="0"/>
          </a:p>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Easy to walk across</a:t>
            </a:r>
            <a:endParaRPr lang="en-US" sz="1200" dirty="0"/>
          </a:p>
          <a:p>
            <a:pPr algn="ctr" indent="0" marL="0">
              <a:lnSpc>
                <a:spcPct val="140000"/>
              </a:lnSpc>
              <a:buNone/>
            </a:pPr>
            <a:r>
              <a:rPr lang="en-US" sz="1200" dirty="0">
                <a:solidFill>
                  <a:srgbClr val="0E1C42"/>
                </a:solidFill>
                <a:latin typeface="Calibri" pitchFamily="34" charset="0"/>
                <a:ea typeface="Calibri" pitchFamily="34" charset="-122"/>
                <a:cs typeface="Calibri" pitchFamily="34" charset="-120"/>
              </a:rPr>
              <a:t>Grass and farmland</a:t>
            </a:r>
            <a:endParaRPr lang="en-US" sz="1200" dirty="0"/>
          </a:p>
        </p:txBody>
      </p:sp>
      <p:sp>
        <p:nvSpPr>
          <p:cNvPr id="15" name="Text 13"/>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8 / 21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MAP INVESTIGATION</a:t>
            </a:r>
            <a:endParaRPr lang="en-US" sz="1000" dirty="0"/>
          </a:p>
        </p:txBody>
      </p:sp>
      <p:sp>
        <p:nvSpPr>
          <p:cNvPr id="5" name="Text 3"/>
          <p:cNvSpPr/>
          <p:nvPr/>
        </p:nvSpPr>
        <p:spPr>
          <a:xfrm>
            <a:off x="812800" y="975360"/>
            <a:ext cx="7315200" cy="1137920"/>
          </a:xfrm>
          <a:prstGeom prst="rect">
            <a:avLst/>
          </a:prstGeom>
          <a:noFill/>
          <a:ln/>
        </p:spPr>
        <p:txBody>
          <a:bodyPr wrap="square" lIns="0" tIns="0" rIns="0" bIns="0" rtlCol="0" anchor="ctr"/>
          <a:lstStyle/>
          <a:p>
            <a:pPr indent="0" marL="0">
              <a:lnSpc>
                <a:spcPct val="110000"/>
              </a:lnSpc>
              <a:buNone/>
            </a:pPr>
            <a:r>
              <a:rPr lang="en-US" sz="2200" b="1" dirty="0">
                <a:solidFill>
                  <a:srgbClr val="0E1C42"/>
                </a:solidFill>
                <a:latin typeface="Cambria" pitchFamily="34" charset="0"/>
                <a:ea typeface="Cambria" pitchFamily="34" charset="-122"/>
                <a:cs typeface="Cambria" pitchFamily="34" charset="-120"/>
              </a:rPr>
              <a:t>Physical Map of North America</a:t>
            </a:r>
            <a:endParaRPr lang="en-US" sz="2200" dirty="0"/>
          </a:p>
          <a:p>
            <a:pPr indent="0" marL="0">
              <a:lnSpc>
                <a:spcPct val="110000"/>
              </a:lnSpc>
              <a:buNone/>
            </a:pPr>
            <a:r>
              <a:rPr lang="en-US" sz="2200" b="1" dirty="0">
                <a:solidFill>
                  <a:srgbClr val="0E1C42"/>
                </a:solidFill>
                <a:latin typeface="Cambria" pitchFamily="34" charset="0"/>
                <a:ea typeface="Cambria" pitchFamily="34" charset="-122"/>
                <a:cs typeface="Cambria" pitchFamily="34" charset="-120"/>
              </a:rPr>
              <a:t>&amp; the Caribbean</a:t>
            </a:r>
            <a:endParaRPr lang="en-US" sz="2200" dirty="0"/>
          </a:p>
        </p:txBody>
      </p:sp>
      <p:sp>
        <p:nvSpPr>
          <p:cNvPr id="6" name="Shape 4"/>
          <p:cNvSpPr/>
          <p:nvPr/>
        </p:nvSpPr>
        <p:spPr>
          <a:xfrm>
            <a:off x="812800" y="2438400"/>
            <a:ext cx="8128000" cy="56896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812800" y="2438400"/>
            <a:ext cx="81280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056640" y="2926080"/>
            <a:ext cx="7640320" cy="5039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(relief) map of North America and the Caribbean — showing elevation with colors: brown/gray for mountains, green for lowlands, blue for water. Labels: Rocky Mountains, Appalachian Mountains, Mississippi River, Rio Grande, Great Plains, Caribbean islands. Source: USGS, CIA World Factbook, or Wikimedia Commons (public domain)</a:t>
            </a:r>
            <a:endParaRPr lang="en-US" sz="1100" dirty="0"/>
          </a:p>
        </p:txBody>
      </p:sp>
      <p:sp>
        <p:nvSpPr>
          <p:cNvPr id="9" name="Shape 7"/>
          <p:cNvSpPr/>
          <p:nvPr/>
        </p:nvSpPr>
        <p:spPr>
          <a:xfrm>
            <a:off x="9428480" y="2438400"/>
            <a:ext cx="6177280" cy="5689600"/>
          </a:xfrm>
          <a:prstGeom prst="roundRect">
            <a:avLst>
              <a:gd name="adj" fmla="val 3429"/>
            </a:avLst>
          </a:prstGeom>
          <a:solidFill>
            <a:srgbClr val="F0F2F8"/>
          </a:solidFill>
          <a:ln/>
          <a:effectLst>
            <a:outerShdw sx="100000" sy="100000" kx="0" ky="0" algn="bl" rotWithShape="0" blurRad="76200" dist="25400" dir="8100000">
              <a:srgbClr val="000000">
                <a:alpha val="10000"/>
              </a:srgbClr>
            </a:outerShdw>
          </a:effectLst>
        </p:spPr>
      </p:sp>
      <p:sp>
        <p:nvSpPr>
          <p:cNvPr id="10" name="Text 8"/>
          <p:cNvSpPr/>
          <p:nvPr/>
        </p:nvSpPr>
        <p:spPr>
          <a:xfrm>
            <a:off x="9753600" y="2600960"/>
            <a:ext cx="55270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SORT  |  COMPARE  |  EXPLAIN</a:t>
            </a:r>
            <a:endParaRPr lang="en-US" sz="900" dirty="0"/>
          </a:p>
        </p:txBody>
      </p:sp>
      <p:sp>
        <p:nvSpPr>
          <p:cNvPr id="11" name="Text 9"/>
          <p:cNvSpPr/>
          <p:nvPr/>
        </p:nvSpPr>
        <p:spPr>
          <a:xfrm>
            <a:off x="9753600" y="3088640"/>
            <a:ext cx="5527040" cy="4876800"/>
          </a:xfrm>
          <a:prstGeom prst="rect">
            <a:avLst/>
          </a:prstGeom>
          <a:noFill/>
          <a:ln/>
        </p:spPr>
        <p:txBody>
          <a:bodyPr wrap="square" lIns="0" tIns="0" rIns="0" bIns="0" rtlCol="0" anchor="t"/>
          <a:lstStyle/>
          <a:p>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What do I see?</a:t>
            </a:r>
            <a:pPr indent="0" marL="0">
              <a:spcAft>
                <a:spcPts val="800"/>
              </a:spcAft>
              <a:buNone/>
            </a:pPr>
            <a:r>
              <a:rPr lang="en-US" sz="1100" dirty="0">
                <a:solidFill>
                  <a:srgbClr val="0E1C42"/>
                </a:solidFill>
                <a:latin typeface="Calibri" pitchFamily="34" charset="0"/>
                <a:ea typeface="Calibri" pitchFamily="34" charset="-122"/>
                <a:cs typeface="Calibri" pitchFamily="34" charset="-120"/>
              </a:rPr>
              <a:t>What colors do you notice? Where is brown/gray (mountains)? Green (lower land)? Blue (water)?</a:t>
            </a:r>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What does it mean?</a:t>
            </a:r>
            <a:pPr indent="0" marL="0">
              <a:spcAft>
                <a:spcPts val="800"/>
              </a:spcAft>
              <a:buNone/>
            </a:pPr>
            <a:r>
              <a:rPr lang="en-US" sz="1100" dirty="0">
                <a:solidFill>
                  <a:srgbClr val="0E1C42"/>
                </a:solidFill>
                <a:latin typeface="Calibri" pitchFamily="34" charset="0"/>
                <a:ea typeface="Calibri" pitchFamily="34" charset="-122"/>
                <a:cs typeface="Calibri" pitchFamily="34" charset="-120"/>
              </a:rPr>
              <a:t>Find the Rocky Mountains on the west. Find the Appalachians on the east. What is between them?</a:t>
            </a:r>
            <a:pPr indent="0" marL="0">
              <a:spcAft>
                <a:spcPts val="200"/>
              </a:spcAft>
              <a:buNone/>
            </a:pPr>
            <a:r>
              <a:rPr lang="en-US" sz="1200" b="1" dirty="0">
                <a:solidFill>
                  <a:srgbClr val="0E1C42"/>
                </a:solidFill>
                <a:latin typeface="Calibri" pitchFamily="34" charset="0"/>
                <a:ea typeface="Calibri" pitchFamily="34" charset="-122"/>
                <a:cs typeface="Calibri" pitchFamily="34" charset="-120"/>
              </a:rPr>
              <a:t>Why does it matter?</a:t>
            </a:r>
            <a:pPr indent="0" marL="0">
              <a:spcAft>
                <a:spcPts val="400"/>
              </a:spcAft>
              <a:buNone/>
            </a:pPr>
            <a:r>
              <a:rPr lang="en-US" sz="1100" dirty="0">
                <a:solidFill>
                  <a:srgbClr val="0E1C42"/>
                </a:solidFill>
                <a:latin typeface="Calibri" pitchFamily="34" charset="0"/>
                <a:ea typeface="Calibri" pitchFamily="34" charset="-122"/>
                <a:cs typeface="Calibri" pitchFamily="34" charset="-120"/>
              </a:rPr>
              <a:t>Why is a physical map helpful even if a political map already shows country borders?</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9 / 21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9753600" cy="48768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SORT THE FEATURES  |  CLASS ACTIVITY</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Which Type Is It?</a:t>
            </a:r>
            <a:endParaRPr lang="en-US" sz="2400" dirty="0"/>
          </a:p>
        </p:txBody>
      </p:sp>
      <p:sp>
        <p:nvSpPr>
          <p:cNvPr id="6" name="Text 4"/>
          <p:cNvSpPr/>
          <p:nvPr/>
        </p:nvSpPr>
        <p:spPr>
          <a:xfrm>
            <a:off x="812800" y="1788160"/>
            <a:ext cx="14630400" cy="4876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Read each feature aloud. Students call out: Mountain, River, Plain, or Island!</a:t>
            </a:r>
            <a:endParaRPr lang="en-US" sz="1300" dirty="0"/>
          </a:p>
        </p:txBody>
      </p:sp>
      <p:sp>
        <p:nvSpPr>
          <p:cNvPr id="7" name="Shape 5"/>
          <p:cNvSpPr/>
          <p:nvPr/>
        </p:nvSpPr>
        <p:spPr>
          <a:xfrm>
            <a:off x="812800" y="2600960"/>
            <a:ext cx="6990080" cy="1463040"/>
          </a:xfrm>
          <a:prstGeom prst="roundRect">
            <a:avLst>
              <a:gd name="adj" fmla="val 11111"/>
            </a:avLst>
          </a:prstGeom>
          <a:solidFill>
            <a:srgbClr val="EAF8FD"/>
          </a:solidFill>
          <a:ln/>
          <a:effectLst>
            <a:outerShdw sx="100000" sy="100000" kx="0" ky="0" algn="bl" rotWithShape="0" blurRad="50800" dist="12700" dir="8100000">
              <a:srgbClr val="000000">
                <a:alpha val="8000"/>
              </a:srgbClr>
            </a:outerShdw>
          </a:effectLst>
        </p:spPr>
      </p:sp>
      <p:sp>
        <p:nvSpPr>
          <p:cNvPr id="8" name="Text 6"/>
          <p:cNvSpPr/>
          <p:nvPr/>
        </p:nvSpPr>
        <p:spPr>
          <a:xfrm>
            <a:off x="1056640" y="268224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Rocky Mountains</a:t>
            </a:r>
            <a:endParaRPr lang="en-US" sz="1300" dirty="0"/>
          </a:p>
        </p:txBody>
      </p:sp>
      <p:sp>
        <p:nvSpPr>
          <p:cNvPr id="9" name="Text 7"/>
          <p:cNvSpPr/>
          <p:nvPr/>
        </p:nvSpPr>
        <p:spPr>
          <a:xfrm>
            <a:off x="1056640" y="316992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Long range, western side of Canada &amp; US</a:t>
            </a:r>
            <a:endParaRPr lang="en-US" sz="1000" dirty="0"/>
          </a:p>
        </p:txBody>
      </p:sp>
      <p:sp>
        <p:nvSpPr>
          <p:cNvPr id="10" name="Text 8"/>
          <p:cNvSpPr/>
          <p:nvPr/>
        </p:nvSpPr>
        <p:spPr>
          <a:xfrm>
            <a:off x="6014720" y="268224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Mountain</a:t>
            </a:r>
            <a:endParaRPr lang="en-US" sz="1100" dirty="0"/>
          </a:p>
        </p:txBody>
      </p:sp>
      <p:sp>
        <p:nvSpPr>
          <p:cNvPr id="11" name="Shape 9"/>
          <p:cNvSpPr/>
          <p:nvPr/>
        </p:nvSpPr>
        <p:spPr>
          <a:xfrm>
            <a:off x="8453120" y="2600960"/>
            <a:ext cx="6990080" cy="1463040"/>
          </a:xfrm>
          <a:prstGeom prst="roundRect">
            <a:avLst>
              <a:gd name="adj" fmla="val 11111"/>
            </a:avLst>
          </a:prstGeom>
          <a:solidFill>
            <a:srgbClr val="E3F8ED"/>
          </a:solidFill>
          <a:ln/>
          <a:effectLst>
            <a:outerShdw sx="100000" sy="100000" kx="0" ky="0" algn="bl" rotWithShape="0" blurRad="50800" dist="12700" dir="8100000">
              <a:srgbClr val="000000">
                <a:alpha val="8000"/>
              </a:srgbClr>
            </a:outerShdw>
          </a:effectLst>
        </p:spPr>
      </p:sp>
      <p:sp>
        <p:nvSpPr>
          <p:cNvPr id="12" name="Text 10"/>
          <p:cNvSpPr/>
          <p:nvPr/>
        </p:nvSpPr>
        <p:spPr>
          <a:xfrm>
            <a:off x="8696960" y="268224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Mississippi River</a:t>
            </a:r>
            <a:endParaRPr lang="en-US" sz="1300" dirty="0"/>
          </a:p>
        </p:txBody>
      </p:sp>
      <p:sp>
        <p:nvSpPr>
          <p:cNvPr id="13" name="Text 11"/>
          <p:cNvSpPr/>
          <p:nvPr/>
        </p:nvSpPr>
        <p:spPr>
          <a:xfrm>
            <a:off x="8696960" y="316992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Cuts through the middle of the US</a:t>
            </a:r>
            <a:endParaRPr lang="en-US" sz="1000" dirty="0"/>
          </a:p>
        </p:txBody>
      </p:sp>
      <p:sp>
        <p:nvSpPr>
          <p:cNvPr id="14" name="Text 12"/>
          <p:cNvSpPr/>
          <p:nvPr/>
        </p:nvSpPr>
        <p:spPr>
          <a:xfrm>
            <a:off x="13655040" y="268224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River</a:t>
            </a:r>
            <a:endParaRPr lang="en-US" sz="1100" dirty="0"/>
          </a:p>
        </p:txBody>
      </p:sp>
      <p:sp>
        <p:nvSpPr>
          <p:cNvPr id="15" name="Shape 13"/>
          <p:cNvSpPr/>
          <p:nvPr/>
        </p:nvSpPr>
        <p:spPr>
          <a:xfrm>
            <a:off x="812800" y="4389120"/>
            <a:ext cx="6990080" cy="1463040"/>
          </a:xfrm>
          <a:prstGeom prst="roundRect">
            <a:avLst>
              <a:gd name="adj" fmla="val 11111"/>
            </a:avLst>
          </a:prstGeom>
          <a:solidFill>
            <a:srgbClr val="FFF8F0"/>
          </a:solidFill>
          <a:ln/>
          <a:effectLst>
            <a:outerShdw sx="100000" sy="100000" kx="0" ky="0" algn="bl" rotWithShape="0" blurRad="50800" dist="12700" dir="8100000">
              <a:srgbClr val="000000">
                <a:alpha val="8000"/>
              </a:srgbClr>
            </a:outerShdw>
          </a:effectLst>
        </p:spPr>
      </p:sp>
      <p:sp>
        <p:nvSpPr>
          <p:cNvPr id="16" name="Text 14"/>
          <p:cNvSpPr/>
          <p:nvPr/>
        </p:nvSpPr>
        <p:spPr>
          <a:xfrm>
            <a:off x="1056640" y="447040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Great Plains</a:t>
            </a:r>
            <a:endParaRPr lang="en-US" sz="1300" dirty="0"/>
          </a:p>
        </p:txBody>
      </p:sp>
      <p:sp>
        <p:nvSpPr>
          <p:cNvPr id="17" name="Text 15"/>
          <p:cNvSpPr/>
          <p:nvPr/>
        </p:nvSpPr>
        <p:spPr>
          <a:xfrm>
            <a:off x="1056640" y="495808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Wide, flat grassland in the middle</a:t>
            </a:r>
            <a:endParaRPr lang="en-US" sz="1000" dirty="0"/>
          </a:p>
        </p:txBody>
      </p:sp>
      <p:sp>
        <p:nvSpPr>
          <p:cNvPr id="18" name="Text 16"/>
          <p:cNvSpPr/>
          <p:nvPr/>
        </p:nvSpPr>
        <p:spPr>
          <a:xfrm>
            <a:off x="6014720" y="447040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Plain</a:t>
            </a:r>
            <a:endParaRPr lang="en-US" sz="1100" dirty="0"/>
          </a:p>
        </p:txBody>
      </p:sp>
      <p:sp>
        <p:nvSpPr>
          <p:cNvPr id="19" name="Shape 17"/>
          <p:cNvSpPr/>
          <p:nvPr/>
        </p:nvSpPr>
        <p:spPr>
          <a:xfrm>
            <a:off x="8453120" y="4389120"/>
            <a:ext cx="6990080" cy="1463040"/>
          </a:xfrm>
          <a:prstGeom prst="roundRect">
            <a:avLst>
              <a:gd name="adj" fmla="val 11111"/>
            </a:avLst>
          </a:prstGeom>
          <a:solidFill>
            <a:srgbClr val="F0E8FF"/>
          </a:solidFill>
          <a:ln/>
          <a:effectLst>
            <a:outerShdw sx="100000" sy="100000" kx="0" ky="0" algn="bl" rotWithShape="0" blurRad="50800" dist="12700" dir="8100000">
              <a:srgbClr val="000000">
                <a:alpha val="8000"/>
              </a:srgbClr>
            </a:outerShdw>
          </a:effectLst>
        </p:spPr>
      </p:sp>
      <p:sp>
        <p:nvSpPr>
          <p:cNvPr id="20" name="Text 18"/>
          <p:cNvSpPr/>
          <p:nvPr/>
        </p:nvSpPr>
        <p:spPr>
          <a:xfrm>
            <a:off x="8696960" y="447040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Cuba</a:t>
            </a:r>
            <a:endParaRPr lang="en-US" sz="1300" dirty="0"/>
          </a:p>
        </p:txBody>
      </p:sp>
      <p:sp>
        <p:nvSpPr>
          <p:cNvPr id="21" name="Text 19"/>
          <p:cNvSpPr/>
          <p:nvPr/>
        </p:nvSpPr>
        <p:spPr>
          <a:xfrm>
            <a:off x="8696960" y="495808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Largest land in the Caribbean Sea</a:t>
            </a:r>
            <a:endParaRPr lang="en-US" sz="1000" dirty="0"/>
          </a:p>
        </p:txBody>
      </p:sp>
      <p:sp>
        <p:nvSpPr>
          <p:cNvPr id="22" name="Text 20"/>
          <p:cNvSpPr/>
          <p:nvPr/>
        </p:nvSpPr>
        <p:spPr>
          <a:xfrm>
            <a:off x="13655040" y="447040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Island</a:t>
            </a:r>
            <a:endParaRPr lang="en-US" sz="1100" dirty="0"/>
          </a:p>
        </p:txBody>
      </p:sp>
      <p:sp>
        <p:nvSpPr>
          <p:cNvPr id="23" name="Shape 21"/>
          <p:cNvSpPr/>
          <p:nvPr/>
        </p:nvSpPr>
        <p:spPr>
          <a:xfrm>
            <a:off x="812800" y="6177280"/>
            <a:ext cx="6990080" cy="1463040"/>
          </a:xfrm>
          <a:prstGeom prst="roundRect">
            <a:avLst>
              <a:gd name="adj" fmla="val 11111"/>
            </a:avLst>
          </a:prstGeom>
          <a:solidFill>
            <a:srgbClr val="EAF8FD"/>
          </a:solidFill>
          <a:ln/>
          <a:effectLst>
            <a:outerShdw sx="100000" sy="100000" kx="0" ky="0" algn="bl" rotWithShape="0" blurRad="50800" dist="12700" dir="8100000">
              <a:srgbClr val="000000">
                <a:alpha val="8000"/>
              </a:srgbClr>
            </a:outerShdw>
          </a:effectLst>
        </p:spPr>
      </p:sp>
      <p:sp>
        <p:nvSpPr>
          <p:cNvPr id="24" name="Text 22"/>
          <p:cNvSpPr/>
          <p:nvPr/>
        </p:nvSpPr>
        <p:spPr>
          <a:xfrm>
            <a:off x="1056640" y="625856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Appalachian Mountains</a:t>
            </a:r>
            <a:endParaRPr lang="en-US" sz="1300" dirty="0"/>
          </a:p>
        </p:txBody>
      </p:sp>
      <p:sp>
        <p:nvSpPr>
          <p:cNvPr id="25" name="Text 23"/>
          <p:cNvSpPr/>
          <p:nvPr/>
        </p:nvSpPr>
        <p:spPr>
          <a:xfrm>
            <a:off x="1056640" y="674624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Older, lower range on the eastern side</a:t>
            </a:r>
            <a:endParaRPr lang="en-US" sz="1000" dirty="0"/>
          </a:p>
        </p:txBody>
      </p:sp>
      <p:sp>
        <p:nvSpPr>
          <p:cNvPr id="26" name="Text 24"/>
          <p:cNvSpPr/>
          <p:nvPr/>
        </p:nvSpPr>
        <p:spPr>
          <a:xfrm>
            <a:off x="6014720" y="625856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Mountain</a:t>
            </a:r>
            <a:endParaRPr lang="en-US" sz="1100" dirty="0"/>
          </a:p>
        </p:txBody>
      </p:sp>
      <p:sp>
        <p:nvSpPr>
          <p:cNvPr id="27" name="Shape 25"/>
          <p:cNvSpPr/>
          <p:nvPr/>
        </p:nvSpPr>
        <p:spPr>
          <a:xfrm>
            <a:off x="8453120" y="6177280"/>
            <a:ext cx="6990080" cy="1463040"/>
          </a:xfrm>
          <a:prstGeom prst="roundRect">
            <a:avLst>
              <a:gd name="adj" fmla="val 11111"/>
            </a:avLst>
          </a:prstGeom>
          <a:solidFill>
            <a:srgbClr val="E3F8ED"/>
          </a:solidFill>
          <a:ln/>
          <a:effectLst>
            <a:outerShdw sx="100000" sy="100000" kx="0" ky="0" algn="bl" rotWithShape="0" blurRad="50800" dist="12700" dir="8100000">
              <a:srgbClr val="000000">
                <a:alpha val="8000"/>
              </a:srgbClr>
            </a:outerShdw>
          </a:effectLst>
        </p:spPr>
      </p:sp>
      <p:sp>
        <p:nvSpPr>
          <p:cNvPr id="28" name="Text 26"/>
          <p:cNvSpPr/>
          <p:nvPr/>
        </p:nvSpPr>
        <p:spPr>
          <a:xfrm>
            <a:off x="8696960" y="6258560"/>
            <a:ext cx="487680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Rio Grande</a:t>
            </a:r>
            <a:endParaRPr lang="en-US" sz="1300" dirty="0"/>
          </a:p>
        </p:txBody>
      </p:sp>
      <p:sp>
        <p:nvSpPr>
          <p:cNvPr id="29" name="Text 27"/>
          <p:cNvSpPr/>
          <p:nvPr/>
        </p:nvSpPr>
        <p:spPr>
          <a:xfrm>
            <a:off x="8696960" y="6746240"/>
            <a:ext cx="4876800" cy="487680"/>
          </a:xfrm>
          <a:prstGeom prst="rect">
            <a:avLst/>
          </a:prstGeom>
          <a:noFill/>
          <a:ln/>
        </p:spPr>
        <p:txBody>
          <a:bodyPr wrap="square" lIns="0" tIns="0" rIns="0" bIns="0" rtlCol="0" anchor="ctr"/>
          <a:lstStyle/>
          <a:p>
            <a:pPr indent="0" marL="0">
              <a:buNone/>
            </a:pPr>
            <a:r>
              <a:rPr lang="en-US" sz="1000" i="1" dirty="0">
                <a:solidFill>
                  <a:srgbClr val="0E1C42"/>
                </a:solidFill>
                <a:latin typeface="Calibri" pitchFamily="34" charset="0"/>
                <a:ea typeface="Calibri" pitchFamily="34" charset="-122"/>
                <a:cs typeface="Calibri" pitchFamily="34" charset="-120"/>
              </a:rPr>
              <a:t>Forms part of the US-Mexico border</a:t>
            </a:r>
            <a:endParaRPr lang="en-US" sz="1000" dirty="0"/>
          </a:p>
        </p:txBody>
      </p:sp>
      <p:sp>
        <p:nvSpPr>
          <p:cNvPr id="30" name="Text 28"/>
          <p:cNvSpPr/>
          <p:nvPr/>
        </p:nvSpPr>
        <p:spPr>
          <a:xfrm>
            <a:off x="13655040" y="6258560"/>
            <a:ext cx="1544320" cy="1300480"/>
          </a:xfrm>
          <a:prstGeom prst="rect">
            <a:avLst/>
          </a:prstGeom>
          <a:noFill/>
          <a:ln/>
        </p:spPr>
        <p:txBody>
          <a:bodyPr wrap="square" lIns="0" tIns="0" rIns="0" bIns="0"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River</a:t>
            </a:r>
            <a:endParaRPr lang="en-US" sz="1100" dirty="0"/>
          </a:p>
        </p:txBody>
      </p:sp>
      <p:sp>
        <p:nvSpPr>
          <p:cNvPr id="31" name="Text 29"/>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10 / 21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812800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DISCOVERY FACT + THEN &amp; NOW</a:t>
            </a:r>
            <a:endParaRPr lang="en-US" sz="1000" dirty="0"/>
          </a:p>
        </p:txBody>
      </p:sp>
      <p:sp>
        <p:nvSpPr>
          <p:cNvPr id="5" name="Shape 3"/>
          <p:cNvSpPr/>
          <p:nvPr/>
        </p:nvSpPr>
        <p:spPr>
          <a:xfrm>
            <a:off x="812800" y="1300480"/>
            <a:ext cx="6990080" cy="3576320"/>
          </a:xfrm>
          <a:prstGeom prst="roundRect">
            <a:avLst>
              <a:gd name="adj" fmla="val 5455"/>
            </a:avLst>
          </a:prstGeom>
          <a:solidFill>
            <a:srgbClr val="EAF8FD"/>
          </a:solidFill>
          <a:ln/>
          <a:effectLst>
            <a:outerShdw sx="100000" sy="100000" kx="0" ky="0" algn="bl" rotWithShape="0" blurRad="76200" dist="25400" dir="8100000">
              <a:srgbClr val="000000">
                <a:alpha val="10000"/>
              </a:srgbClr>
            </a:outerShdw>
          </a:effectLst>
        </p:spPr>
      </p:sp>
      <p:sp>
        <p:nvSpPr>
          <p:cNvPr id="6" name="Text 4"/>
          <p:cNvSpPr/>
          <p:nvPr/>
        </p:nvSpPr>
        <p:spPr>
          <a:xfrm>
            <a:off x="1137920" y="1463040"/>
            <a:ext cx="6339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DISCOVERY FACT</a:t>
            </a:r>
            <a:endParaRPr lang="en-US" sz="900" dirty="0"/>
          </a:p>
        </p:txBody>
      </p:sp>
      <p:sp>
        <p:nvSpPr>
          <p:cNvPr id="7" name="Text 5"/>
          <p:cNvSpPr/>
          <p:nvPr/>
        </p:nvSpPr>
        <p:spPr>
          <a:xfrm>
            <a:off x="1137920" y="1950720"/>
            <a:ext cx="6339840" cy="2600960"/>
          </a:xfrm>
          <a:prstGeom prst="rect">
            <a:avLst/>
          </a:prstGeom>
          <a:noFill/>
          <a:ln/>
        </p:spPr>
        <p:txBody>
          <a:bodyPr wrap="square" lIns="0" tIns="0" rIns="0" bIns="0"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The Mississippi River is over 2,300 miles long — water that starts as a small stream in northern Minnesota travels all the way to the Gulf of Mexico, passing through ten states on the way.</a:t>
            </a:r>
            <a:endParaRPr lang="en-US" sz="1300" dirty="0"/>
          </a:p>
        </p:txBody>
      </p:sp>
      <p:sp>
        <p:nvSpPr>
          <p:cNvPr id="8" name="Shape 6"/>
          <p:cNvSpPr/>
          <p:nvPr/>
        </p:nvSpPr>
        <p:spPr>
          <a:xfrm>
            <a:off x="8453120" y="1300480"/>
            <a:ext cx="6990080" cy="3576320"/>
          </a:xfrm>
          <a:prstGeom prst="roundRect">
            <a:avLst>
              <a:gd name="adj" fmla="val 5455"/>
            </a:avLst>
          </a:prstGeom>
          <a:solidFill>
            <a:srgbClr val="FFF8F0"/>
          </a:solidFill>
          <a:ln/>
          <a:effectLst>
            <a:outerShdw sx="100000" sy="100000" kx="0" ky="0" algn="bl" rotWithShape="0" blurRad="76200" dist="25400" dir="8100000">
              <a:srgbClr val="000000">
                <a:alpha val="10000"/>
              </a:srgbClr>
            </a:outerShdw>
          </a:effectLst>
        </p:spPr>
      </p:sp>
      <p:sp>
        <p:nvSpPr>
          <p:cNvPr id="9" name="Text 7"/>
          <p:cNvSpPr/>
          <p:nvPr/>
        </p:nvSpPr>
        <p:spPr>
          <a:xfrm>
            <a:off x="8778240" y="1463040"/>
            <a:ext cx="6339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THEN &amp; NOW</a:t>
            </a:r>
            <a:endParaRPr lang="en-US" sz="900" dirty="0"/>
          </a:p>
        </p:txBody>
      </p:sp>
      <p:sp>
        <p:nvSpPr>
          <p:cNvPr id="10" name="Text 8"/>
          <p:cNvSpPr/>
          <p:nvPr/>
        </p:nvSpPr>
        <p:spPr>
          <a:xfrm>
            <a:off x="8778240" y="1950720"/>
            <a:ext cx="6339840" cy="260096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In the past, the Mississippi River was the main highway for moving people and goods — boats carried everything from food to mail.</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Today, we mostly use trucks, trains, and planes. What stayed the same? Rivers still water the farms on the Great Plains.</a:t>
            </a:r>
            <a:endParaRPr lang="en-US" sz="1200" dirty="0"/>
          </a:p>
        </p:txBody>
      </p:sp>
      <p:sp>
        <p:nvSpPr>
          <p:cNvPr id="11" name="Shape 9"/>
          <p:cNvSpPr/>
          <p:nvPr/>
        </p:nvSpPr>
        <p:spPr>
          <a:xfrm>
            <a:off x="812800" y="5364480"/>
            <a:ext cx="14630400" cy="24384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1137920" y="552704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13" name="Text 11"/>
          <p:cNvSpPr/>
          <p:nvPr/>
        </p:nvSpPr>
        <p:spPr>
          <a:xfrm>
            <a:off x="1137920" y="6014720"/>
            <a:ext cx="13980160" cy="1463040"/>
          </a:xfrm>
          <a:prstGeom prst="rect">
            <a:avLst/>
          </a:prstGeom>
          <a:noFill/>
          <a:ln/>
        </p:spPr>
        <p:txBody>
          <a:bodyPr wrap="square" lIns="0" tIns="0" rIns="0" bIns="0" rtlCol="0" anchor="ctr"/>
          <a:lstStyle/>
          <a:p>
            <a:pPr indent="0" marL="0">
              <a:lnSpc>
                <a:spcPct val="125000"/>
              </a:lnSpc>
              <a:buNone/>
            </a:pPr>
            <a:r>
              <a:rPr lang="en-US" sz="1200" dirty="0">
                <a:solidFill>
                  <a:srgbClr val="5A4A3A"/>
                </a:solidFill>
                <a:latin typeface="Calibri" pitchFamily="34" charset="0"/>
                <a:ea typeface="Calibri" pitchFamily="34" charset="-122"/>
                <a:cs typeface="Calibri" pitchFamily="34" charset="-120"/>
              </a:rPr>
              <a:t>Here is a curator's eye trick: when you look at a physical map, follow the color from west to east across the United States. Brown mountains, then green plains, then brown mountains again. The land tells you a story before you even read a label.</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11 / 21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WHY IT MATTERS</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Physical Maps vs. Political Maps</a:t>
            </a:r>
            <a:endParaRPr lang="en-US" sz="2600" dirty="0"/>
          </a:p>
        </p:txBody>
      </p:sp>
      <p:sp>
        <p:nvSpPr>
          <p:cNvPr id="6" name="Shape 4"/>
          <p:cNvSpPr/>
          <p:nvPr/>
        </p:nvSpPr>
        <p:spPr>
          <a:xfrm>
            <a:off x="812800" y="2113280"/>
            <a:ext cx="6990080" cy="2438400"/>
          </a:xfrm>
          <a:prstGeom prst="roundRect">
            <a:avLst>
              <a:gd name="adj" fmla="val 8000"/>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275840"/>
            <a:ext cx="6339840" cy="406400"/>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POLITICAL MAP</a:t>
            </a:r>
            <a:endParaRPr lang="en-US" sz="900" dirty="0"/>
          </a:p>
        </p:txBody>
      </p:sp>
      <p:sp>
        <p:nvSpPr>
          <p:cNvPr id="8" name="Text 6"/>
          <p:cNvSpPr/>
          <p:nvPr/>
        </p:nvSpPr>
        <p:spPr>
          <a:xfrm>
            <a:off x="1137920" y="2763520"/>
            <a:ext cx="6339840" cy="146304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Shows country borders and names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Tells you WHERE countries are</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Does NOT show what the land looks like</a:t>
            </a:r>
            <a:endParaRPr lang="en-US" sz="1200" dirty="0"/>
          </a:p>
        </p:txBody>
      </p:sp>
      <p:sp>
        <p:nvSpPr>
          <p:cNvPr id="9" name="Shape 7"/>
          <p:cNvSpPr/>
          <p:nvPr/>
        </p:nvSpPr>
        <p:spPr>
          <a:xfrm>
            <a:off x="8453120" y="2113280"/>
            <a:ext cx="6990080" cy="2438400"/>
          </a:xfrm>
          <a:prstGeom prst="roundRect">
            <a:avLst>
              <a:gd name="adj" fmla="val 8000"/>
            </a:avLst>
          </a:prstGeom>
          <a:solidFill>
            <a:srgbClr val="E3F8ED"/>
          </a:solidFill>
          <a:ln/>
          <a:effectLst>
            <a:outerShdw sx="100000" sy="100000" kx="0" ky="0" algn="bl" rotWithShape="0" blurRad="76200" dist="25400" dir="8100000">
              <a:srgbClr val="000000">
                <a:alpha val="10000"/>
              </a:srgbClr>
            </a:outerShdw>
          </a:effectLst>
        </p:spPr>
      </p:sp>
      <p:sp>
        <p:nvSpPr>
          <p:cNvPr id="10" name="Text 8"/>
          <p:cNvSpPr/>
          <p:nvPr/>
        </p:nvSpPr>
        <p:spPr>
          <a:xfrm>
            <a:off x="8778240" y="2275840"/>
            <a:ext cx="6339840" cy="4064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PHYSICAL MAP</a:t>
            </a:r>
            <a:endParaRPr lang="en-US" sz="900" dirty="0"/>
          </a:p>
        </p:txBody>
      </p:sp>
      <p:sp>
        <p:nvSpPr>
          <p:cNvPr id="11" name="Text 9"/>
          <p:cNvSpPr/>
          <p:nvPr/>
        </p:nvSpPr>
        <p:spPr>
          <a:xfrm>
            <a:off x="8778240" y="2763520"/>
            <a:ext cx="6339840" cy="146304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Shows mountains, rivers, plains, and islands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Uses colors for elevation</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Tells you what the LAND really looks like</a:t>
            </a:r>
            <a:endParaRPr lang="en-US" sz="1200" dirty="0"/>
          </a:p>
        </p:txBody>
      </p:sp>
      <p:sp>
        <p:nvSpPr>
          <p:cNvPr id="12" name="Shape 10"/>
          <p:cNvSpPr/>
          <p:nvPr/>
        </p:nvSpPr>
        <p:spPr>
          <a:xfrm>
            <a:off x="812800" y="4958080"/>
            <a:ext cx="14630400" cy="2113280"/>
          </a:xfrm>
          <a:prstGeom prst="roundRect">
            <a:avLst>
              <a:gd name="adj" fmla="val 9231"/>
            </a:avLst>
          </a:prstGeom>
          <a:solidFill>
            <a:srgbClr val="EAF8FD"/>
          </a:solidFill>
          <a:ln/>
        </p:spPr>
      </p:sp>
      <p:sp>
        <p:nvSpPr>
          <p:cNvPr id="13" name="Text 11"/>
          <p:cNvSpPr/>
          <p:nvPr/>
        </p:nvSpPr>
        <p:spPr>
          <a:xfrm>
            <a:off x="1137920" y="5120640"/>
            <a:ext cx="139801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14" name="Text 12"/>
          <p:cNvSpPr/>
          <p:nvPr/>
        </p:nvSpPr>
        <p:spPr>
          <a:xfrm>
            <a:off x="1137920" y="5608320"/>
            <a:ext cx="13980160" cy="1300480"/>
          </a:xfrm>
          <a:prstGeom prst="rect">
            <a:avLst/>
          </a:prstGeom>
          <a:noFill/>
          <a:ln/>
        </p:spPr>
        <p:txBody>
          <a:bodyPr wrap="square" lIns="0" tIns="0" rIns="0" bIns="0"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The land of North America and the Caribbean is made of four big kinds of physical features: mountains on the eastern and western sides, plains in the middle, rivers cutting across, and islands in the warm Caribbean Sea. Each part of the region looks and feels different.</a:t>
            </a:r>
            <a:endParaRPr lang="en-US" sz="1300" dirty="0"/>
          </a:p>
        </p:txBody>
      </p:sp>
      <p:sp>
        <p:nvSpPr>
          <p:cNvPr id="15" name="Text 13"/>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12 / 21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ERROR ANALYSIS</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Catch the Mistake!</a:t>
            </a:r>
            <a:endParaRPr lang="en-US" sz="26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student sorted these features into the wrong categories. Can you fix them?</a:t>
            </a:r>
            <a:endParaRPr lang="en-US" sz="1300" dirty="0"/>
          </a:p>
        </p:txBody>
      </p:sp>
      <p:sp>
        <p:nvSpPr>
          <p:cNvPr id="7" name="Shape 5"/>
          <p:cNvSpPr/>
          <p:nvPr/>
        </p:nvSpPr>
        <p:spPr>
          <a:xfrm>
            <a:off x="1625600" y="2600960"/>
            <a:ext cx="13004800" cy="2113280"/>
          </a:xfrm>
          <a:prstGeom prst="roundRect">
            <a:avLst>
              <a:gd name="adj" fmla="val 9231"/>
            </a:avLst>
          </a:prstGeom>
          <a:solidFill>
            <a:srgbClr val="FFF8F0"/>
          </a:solidFill>
          <a:ln w="25400">
            <a:solidFill>
              <a:srgbClr val="E8636B"/>
            </a:solidFill>
            <a:prstDash val="dash"/>
          </a:ln>
        </p:spPr>
      </p:sp>
      <p:sp>
        <p:nvSpPr>
          <p:cNvPr id="8" name="Text 6"/>
          <p:cNvSpPr/>
          <p:nvPr/>
        </p:nvSpPr>
        <p:spPr>
          <a:xfrm>
            <a:off x="1950720" y="2682240"/>
            <a:ext cx="12354560" cy="1950720"/>
          </a:xfrm>
          <a:prstGeom prst="rect">
            <a:avLst/>
          </a:prstGeom>
          <a:noFill/>
          <a:ln/>
        </p:spPr>
        <p:txBody>
          <a:bodyPr wrap="square" lIns="0" tIns="0" rIns="0" bIns="0" rtlCol="0" anchor="ctr"/>
          <a:lstStyle/>
          <a:p>
            <a:pPr marL="342900" indent="-342900">
              <a:spcAft>
                <a:spcPts val="600"/>
              </a:spcAft>
              <a:buSzPct val="100000"/>
              <a:buChar char="•"/>
            </a:pPr>
            <a:r>
              <a:rPr lang="en-US" sz="1300" i="1" dirty="0">
                <a:solidFill>
                  <a:srgbClr val="0E1C42"/>
                </a:solidFill>
                <a:latin typeface="Cambria" pitchFamily="34" charset="0"/>
                <a:ea typeface="Cambria" pitchFamily="34" charset="-122"/>
                <a:cs typeface="Cambria" pitchFamily="34" charset="-120"/>
              </a:rPr>
              <a:t>"The Great Plains is a mountain range in the middle of the US."</a:t>
            </a:r>
            <a:endParaRPr lang="en-US" sz="1300" dirty="0"/>
          </a:p>
          <a:p>
            <a:pPr marL="342900" indent="-342900">
              <a:spcAft>
                <a:spcPts val="600"/>
              </a:spcAft>
              <a:buSzPct val="100000"/>
              <a:buChar char="•"/>
            </a:pPr>
            <a:r>
              <a:rPr lang="en-US" sz="1300" i="1" dirty="0">
                <a:solidFill>
                  <a:srgbClr val="0E1C42"/>
                </a:solidFill>
                <a:latin typeface="Cambria" pitchFamily="34" charset="0"/>
                <a:ea typeface="Cambria" pitchFamily="34" charset="-122"/>
                <a:cs typeface="Cambria" pitchFamily="34" charset="-120"/>
              </a:rPr>
              <a:t>"The Appalachian Mountains run down the western side."</a:t>
            </a:r>
            <a:endParaRPr lang="en-US" sz="1300" dirty="0"/>
          </a:p>
          <a:p>
            <a:pPr marL="342900" indent="-342900">
              <a:spcAft>
                <a:spcPts val="400"/>
              </a:spcAft>
              <a:buSzPct val="100000"/>
              <a:buChar char="•"/>
            </a:pPr>
            <a:r>
              <a:rPr lang="en-US" sz="1300" i="1" dirty="0">
                <a:solidFill>
                  <a:srgbClr val="0E1C42"/>
                </a:solidFill>
                <a:latin typeface="Cambria" pitchFamily="34" charset="0"/>
                <a:ea typeface="Cambria" pitchFamily="34" charset="-122"/>
                <a:cs typeface="Cambria" pitchFamily="34" charset="-120"/>
              </a:rPr>
              <a:t>"Cuba is a river in the Caribbean."</a:t>
            </a:r>
            <a:endParaRPr lang="en-US" sz="1300" dirty="0"/>
          </a:p>
        </p:txBody>
      </p:sp>
      <p:sp>
        <p:nvSpPr>
          <p:cNvPr id="9" name="Shape 7"/>
          <p:cNvSpPr/>
          <p:nvPr/>
        </p:nvSpPr>
        <p:spPr>
          <a:xfrm>
            <a:off x="1625600" y="5120640"/>
            <a:ext cx="13004800" cy="3251200"/>
          </a:xfrm>
          <a:prstGeom prst="roundRect">
            <a:avLst>
              <a:gd name="adj" fmla="val 6000"/>
            </a:avLst>
          </a:prstGeom>
          <a:solidFill>
            <a:srgbClr val="E3F8ED"/>
          </a:solidFill>
          <a:ln/>
          <a:effectLst>
            <a:outerShdw sx="100000" sy="100000" kx="0" ky="0" algn="bl" rotWithShape="0" blurRad="76200" dist="25400" dir="8100000">
              <a:srgbClr val="000000">
                <a:alpha val="10000"/>
              </a:srgbClr>
            </a:outerShdw>
          </a:effectLst>
        </p:spPr>
      </p:sp>
      <p:sp>
        <p:nvSpPr>
          <p:cNvPr id="10" name="Text 8"/>
          <p:cNvSpPr/>
          <p:nvPr/>
        </p:nvSpPr>
        <p:spPr>
          <a:xfrm>
            <a:off x="1950720" y="5283200"/>
            <a:ext cx="12354560" cy="4064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THREE CORRECTIONS</a:t>
            </a:r>
            <a:endParaRPr lang="en-US" sz="900" dirty="0"/>
          </a:p>
        </p:txBody>
      </p:sp>
      <p:sp>
        <p:nvSpPr>
          <p:cNvPr id="11" name="Text 9"/>
          <p:cNvSpPr/>
          <p:nvPr/>
        </p:nvSpPr>
        <p:spPr>
          <a:xfrm>
            <a:off x="1950720" y="5770880"/>
            <a:ext cx="12354560" cy="2438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The Great Plains is NOT a mountain range — it is a wide, flat area of land.</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The Appalachians run down the EASTERN side, not the western side. (The Rockies are on the west!)</a:t>
            </a:r>
            <a:endParaRPr lang="en-US" sz="12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Cuba is NOT a river — it is an ISLAND, the largest in the Caribbean Sea.</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13 / 21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QUESTION 1</a:t>
            </a:r>
            <a:endParaRPr lang="en-US" sz="1000" dirty="0"/>
          </a:p>
        </p:txBody>
      </p:sp>
      <p:sp>
        <p:nvSpPr>
          <p:cNvPr id="5" name="Shape 3"/>
          <p:cNvSpPr/>
          <p:nvPr/>
        </p:nvSpPr>
        <p:spPr>
          <a:xfrm>
            <a:off x="812800" y="1219200"/>
            <a:ext cx="14630400" cy="1300480"/>
          </a:xfrm>
          <a:prstGeom prst="roundRect">
            <a:avLst>
              <a:gd name="adj" fmla="val 15000"/>
            </a:avLst>
          </a:prstGeom>
          <a:solidFill>
            <a:srgbClr val="FFF3DC"/>
          </a:solidFill>
          <a:ln w="19050">
            <a:solidFill>
              <a:srgbClr val="F5E6C8"/>
            </a:solidFill>
            <a:prstDash val="solid"/>
          </a:ln>
        </p:spPr>
      </p:sp>
      <p:sp>
        <p:nvSpPr>
          <p:cNvPr id="6" name="Text 4"/>
          <p:cNvSpPr/>
          <p:nvPr/>
        </p:nvSpPr>
        <p:spPr>
          <a:xfrm>
            <a:off x="1137920" y="1300480"/>
            <a:ext cx="13980160" cy="1137920"/>
          </a:xfrm>
          <a:prstGeom prst="rect">
            <a:avLst/>
          </a:prstGeom>
          <a:noFill/>
          <a:ln/>
        </p:spPr>
        <p:txBody>
          <a:bodyPr wrap="square" lIns="0" tIns="0" rIns="0" bIns="0" rtlCol="0" anchor="ctr"/>
          <a:lstStyle/>
          <a:p>
            <a:pPr indent="0" marL="0">
              <a:lnSpc>
                <a:spcPct val="125000"/>
              </a:lnSpc>
              <a:buNone/>
            </a:pPr>
            <a:r>
              <a:rPr lang="en-US" sz="1400" b="1" dirty="0">
                <a:solidFill>
                  <a:srgbClr val="0E1C42"/>
                </a:solidFill>
                <a:latin typeface="Cambria" pitchFamily="34" charset="0"/>
                <a:ea typeface="Cambria" pitchFamily="34" charset="-122"/>
                <a:cs typeface="Cambria" pitchFamily="34" charset="-120"/>
              </a:rPr>
              <a:t>Name two mountain ranges in this region. Tell where each one is -- eastern side or western side.</a:t>
            </a:r>
            <a:endParaRPr lang="en-US" sz="1400" dirty="0"/>
          </a:p>
        </p:txBody>
      </p:sp>
      <p:sp>
        <p:nvSpPr>
          <p:cNvPr id="7" name="Text 5"/>
          <p:cNvSpPr/>
          <p:nvPr/>
        </p:nvSpPr>
        <p:spPr>
          <a:xfrm>
            <a:off x="812800" y="284480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 NAME + LOCATION</a:t>
            </a:r>
            <a:endParaRPr lang="en-US" sz="900" dirty="0"/>
          </a:p>
        </p:txBody>
      </p:sp>
      <p:sp>
        <p:nvSpPr>
          <p:cNvPr id="8" name="Shape 6"/>
          <p:cNvSpPr/>
          <p:nvPr/>
        </p:nvSpPr>
        <p:spPr>
          <a:xfrm>
            <a:off x="812800" y="3413760"/>
            <a:ext cx="14630400" cy="2438400"/>
          </a:xfrm>
          <a:prstGeom prst="roundRect">
            <a:avLst>
              <a:gd name="adj" fmla="val 8000"/>
            </a:avLst>
          </a:prstGeom>
          <a:solidFill>
            <a:srgbClr val="FFFFFF"/>
          </a:solidFill>
          <a:ln/>
          <a:effectLst>
            <a:outerShdw sx="100000" sy="100000" kx="0" ky="0" algn="bl" rotWithShape="0" blurRad="76200" dist="25400" dir="8100000">
              <a:srgbClr val="000000">
                <a:alpha val="10000"/>
              </a:srgbClr>
            </a:outerShdw>
          </a:effectLst>
        </p:spPr>
      </p:sp>
      <p:sp>
        <p:nvSpPr>
          <p:cNvPr id="9" name="Text 7"/>
          <p:cNvSpPr/>
          <p:nvPr/>
        </p:nvSpPr>
        <p:spPr>
          <a:xfrm>
            <a:off x="1137920" y="3576320"/>
            <a:ext cx="13980160" cy="1625600"/>
          </a:xfrm>
          <a:prstGeom prst="rect">
            <a:avLst/>
          </a:prstGeom>
          <a:noFill/>
          <a:ln/>
        </p:spPr>
        <p:txBody>
          <a:bodyPr wrap="square" lIns="0" tIns="0" rIns="0" bIns="0" rtlCol="0" anchor="ctr"/>
          <a:lstStyle/>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The _______ Mountains run down the _______ side.</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The _______ Mountains run down the _______ side.</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I know this because _______.</a:t>
            </a:r>
            <a:endParaRPr lang="en-US" sz="1500" dirty="0"/>
          </a:p>
        </p:txBody>
      </p:sp>
      <p:sp>
        <p:nvSpPr>
          <p:cNvPr id="10" name="Text 8"/>
          <p:cNvSpPr/>
          <p:nvPr/>
        </p:nvSpPr>
        <p:spPr>
          <a:xfrm>
            <a:off x="1137920" y="5201920"/>
            <a:ext cx="13980160" cy="4876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Hint: Use the physical map! One range is on the left (west), one is on the right (east).</a:t>
            </a:r>
            <a:endParaRPr lang="en-US" sz="1100" dirty="0"/>
          </a:p>
        </p:txBody>
      </p:sp>
      <p:sp>
        <p:nvSpPr>
          <p:cNvPr id="11" name="Shape 9"/>
          <p:cNvSpPr/>
          <p:nvPr/>
        </p:nvSpPr>
        <p:spPr>
          <a:xfrm>
            <a:off x="812800" y="6177280"/>
            <a:ext cx="14630400" cy="2113280"/>
          </a:xfrm>
          <a:prstGeom prst="roundRect">
            <a:avLst>
              <a:gd name="adj" fmla="val 9231"/>
            </a:avLst>
          </a:prstGeom>
          <a:solidFill>
            <a:srgbClr val="FFF3DC"/>
          </a:solidFill>
          <a:ln w="19050">
            <a:solidFill>
              <a:srgbClr val="F5E6C8"/>
            </a:solidFill>
            <a:prstDash val="solid"/>
          </a:ln>
        </p:spPr>
      </p:sp>
      <p:sp>
        <p:nvSpPr>
          <p:cNvPr id="12" name="Text 10"/>
          <p:cNvSpPr/>
          <p:nvPr/>
        </p:nvSpPr>
        <p:spPr>
          <a:xfrm>
            <a:off x="1056640" y="627481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1056640" y="6632448"/>
            <a:ext cx="14142720" cy="154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mountain range do you see on the west side of the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one is on the east side?"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one is taller — and how does the map show that?"</a:t>
            </a:r>
            <a:endParaRPr lang="en-US" sz="12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14 / 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QUESTION 2</a:t>
            </a:r>
            <a:endParaRPr lang="en-US" sz="1000" dirty="0"/>
          </a:p>
        </p:txBody>
      </p:sp>
      <p:sp>
        <p:nvSpPr>
          <p:cNvPr id="5" name="Shape 3"/>
          <p:cNvSpPr/>
          <p:nvPr/>
        </p:nvSpPr>
        <p:spPr>
          <a:xfrm>
            <a:off x="812800" y="1219200"/>
            <a:ext cx="14630400" cy="1300480"/>
          </a:xfrm>
          <a:prstGeom prst="roundRect">
            <a:avLst>
              <a:gd name="adj" fmla="val 15000"/>
            </a:avLst>
          </a:prstGeom>
          <a:solidFill>
            <a:srgbClr val="FFF3DC"/>
          </a:solidFill>
          <a:ln w="19050">
            <a:solidFill>
              <a:srgbClr val="F5E6C8"/>
            </a:solidFill>
            <a:prstDash val="solid"/>
          </a:ln>
        </p:spPr>
      </p:sp>
      <p:sp>
        <p:nvSpPr>
          <p:cNvPr id="6" name="Text 4"/>
          <p:cNvSpPr/>
          <p:nvPr/>
        </p:nvSpPr>
        <p:spPr>
          <a:xfrm>
            <a:off x="1137920" y="1300480"/>
            <a:ext cx="13980160" cy="1137920"/>
          </a:xfrm>
          <a:prstGeom prst="rect">
            <a:avLst/>
          </a:prstGeom>
          <a:noFill/>
          <a:ln/>
        </p:spPr>
        <p:txBody>
          <a:bodyPr wrap="square" lIns="0" tIns="0" rIns="0" bIns="0" rtlCol="0" anchor="ctr"/>
          <a:lstStyle/>
          <a:p>
            <a:pPr indent="0" marL="0">
              <a:lnSpc>
                <a:spcPct val="125000"/>
              </a:lnSpc>
              <a:buNone/>
            </a:pPr>
            <a:r>
              <a:rPr lang="en-US" sz="1400" b="1" dirty="0">
                <a:solidFill>
                  <a:srgbClr val="0E1C42"/>
                </a:solidFill>
                <a:latin typeface="Cambria" pitchFamily="34" charset="0"/>
                <a:ea typeface="Cambria" pitchFamily="34" charset="-122"/>
                <a:cs typeface="Cambria" pitchFamily="34" charset="-120"/>
              </a:rPr>
              <a:t>What kind of land is the Great Plains, and where in the region is it? Give one detail from the lesson.</a:t>
            </a:r>
            <a:endParaRPr lang="en-US" sz="1400" dirty="0"/>
          </a:p>
        </p:txBody>
      </p:sp>
      <p:sp>
        <p:nvSpPr>
          <p:cNvPr id="7" name="Text 5"/>
          <p:cNvSpPr/>
          <p:nvPr/>
        </p:nvSpPr>
        <p:spPr>
          <a:xfrm>
            <a:off x="812800" y="284480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 DESCRIBE + LOCATE + EVIDENCE</a:t>
            </a:r>
            <a:endParaRPr lang="en-US" sz="900" dirty="0"/>
          </a:p>
        </p:txBody>
      </p:sp>
      <p:sp>
        <p:nvSpPr>
          <p:cNvPr id="8" name="Shape 6"/>
          <p:cNvSpPr/>
          <p:nvPr/>
        </p:nvSpPr>
        <p:spPr>
          <a:xfrm>
            <a:off x="812800" y="3413760"/>
            <a:ext cx="14630400" cy="2438400"/>
          </a:xfrm>
          <a:prstGeom prst="roundRect">
            <a:avLst>
              <a:gd name="adj" fmla="val 8000"/>
            </a:avLst>
          </a:prstGeom>
          <a:solidFill>
            <a:srgbClr val="F0F2F8"/>
          </a:solidFill>
          <a:ln/>
          <a:effectLst>
            <a:outerShdw sx="100000" sy="100000" kx="0" ky="0" algn="bl" rotWithShape="0" blurRad="76200" dist="25400" dir="8100000">
              <a:srgbClr val="000000">
                <a:alpha val="10000"/>
              </a:srgbClr>
            </a:outerShdw>
          </a:effectLst>
        </p:spPr>
      </p:sp>
      <p:sp>
        <p:nvSpPr>
          <p:cNvPr id="9" name="Text 7"/>
          <p:cNvSpPr/>
          <p:nvPr/>
        </p:nvSpPr>
        <p:spPr>
          <a:xfrm>
            <a:off x="1137920" y="3576320"/>
            <a:ext cx="13980160" cy="1625600"/>
          </a:xfrm>
          <a:prstGeom prst="rect">
            <a:avLst/>
          </a:prstGeom>
          <a:noFill/>
          <a:ln/>
        </p:spPr>
        <p:txBody>
          <a:bodyPr wrap="square" lIns="0" tIns="0" rIns="0" bIns="0" rtlCol="0" anchor="ctr"/>
          <a:lstStyle/>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The Great Plains is _______. (Describe the land.)</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It is in the _______ of the region. (Where?)</a:t>
            </a:r>
            <a:endParaRPr lang="en-US" sz="1500" dirty="0"/>
          </a:p>
          <a:p>
            <a:pPr indent="0" marL="0">
              <a:lnSpc>
                <a:spcPct val="140000"/>
              </a:lnSpc>
              <a:buNone/>
            </a:pPr>
            <a:r>
              <a:rPr lang="en-US" sz="1500" i="1" dirty="0">
                <a:solidFill>
                  <a:srgbClr val="0E1C42"/>
                </a:solidFill>
                <a:latin typeface="Cambria" pitchFamily="34" charset="0"/>
                <a:ea typeface="Cambria" pitchFamily="34" charset="-122"/>
                <a:cs typeface="Cambria" pitchFamily="34" charset="-120"/>
              </a:rPr>
              <a:t>The lesson says _______. (One detail.)</a:t>
            </a:r>
            <a:endParaRPr lang="en-US" sz="1500" dirty="0"/>
          </a:p>
        </p:txBody>
      </p:sp>
      <p:sp>
        <p:nvSpPr>
          <p:cNvPr id="10" name="Text 8"/>
          <p:cNvSpPr/>
          <p:nvPr/>
        </p:nvSpPr>
        <p:spPr>
          <a:xfrm>
            <a:off x="1137920" y="5201920"/>
            <a:ext cx="13980160" cy="48768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Key words to use: flat, wide, grass, farms, middle, central</a:t>
            </a:r>
            <a:endParaRPr lang="en-US" sz="1100" dirty="0"/>
          </a:p>
        </p:txBody>
      </p:sp>
      <p:sp>
        <p:nvSpPr>
          <p:cNvPr id="11" name="Shape 9"/>
          <p:cNvSpPr/>
          <p:nvPr/>
        </p:nvSpPr>
        <p:spPr>
          <a:xfrm>
            <a:off x="812800" y="6177280"/>
            <a:ext cx="14630400" cy="211328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137920" y="63398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137920" y="6795008"/>
            <a:ext cx="13980160" cy="13329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land is it — flat, hilly, or mountainous?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on the eastern side, western side, or in the middle?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grows there — forests, grass, or coral?</a:t>
            </a:r>
            <a:endParaRPr lang="en-US" sz="11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15 / 21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EVIDENCE QUESTION 3</a:t>
            </a:r>
            <a:endParaRPr lang="en-US" sz="1000" dirty="0"/>
          </a:p>
        </p:txBody>
      </p:sp>
      <p:sp>
        <p:nvSpPr>
          <p:cNvPr id="5" name="Shape 3"/>
          <p:cNvSpPr/>
          <p:nvPr/>
        </p:nvSpPr>
        <p:spPr>
          <a:xfrm>
            <a:off x="812800" y="1219200"/>
            <a:ext cx="14630400" cy="1300480"/>
          </a:xfrm>
          <a:prstGeom prst="roundRect">
            <a:avLst>
              <a:gd name="adj" fmla="val 15000"/>
            </a:avLst>
          </a:prstGeom>
          <a:solidFill>
            <a:srgbClr val="FFF3DC"/>
          </a:solidFill>
          <a:ln w="19050">
            <a:solidFill>
              <a:srgbClr val="F5E6C8"/>
            </a:solidFill>
            <a:prstDash val="solid"/>
          </a:ln>
        </p:spPr>
      </p:sp>
      <p:sp>
        <p:nvSpPr>
          <p:cNvPr id="6" name="Text 4"/>
          <p:cNvSpPr/>
          <p:nvPr/>
        </p:nvSpPr>
        <p:spPr>
          <a:xfrm>
            <a:off x="1137920" y="1300480"/>
            <a:ext cx="13980160" cy="1137920"/>
          </a:xfrm>
          <a:prstGeom prst="rect">
            <a:avLst/>
          </a:prstGeom>
          <a:noFill/>
          <a:ln/>
        </p:spPr>
        <p:txBody>
          <a:bodyPr wrap="square" lIns="0" tIns="0" rIns="0" bIns="0" rtlCol="0" anchor="ctr"/>
          <a:lstStyle/>
          <a:p>
            <a:pPr indent="0" marL="0">
              <a:lnSpc>
                <a:spcPct val="125000"/>
              </a:lnSpc>
              <a:buNone/>
            </a:pPr>
            <a:r>
              <a:rPr lang="en-US" sz="1400" b="1" dirty="0">
                <a:solidFill>
                  <a:srgbClr val="0E1C42"/>
                </a:solidFill>
                <a:latin typeface="Cambria" pitchFamily="34" charset="0"/>
                <a:ea typeface="Cambria" pitchFamily="34" charset="-122"/>
                <a:cs typeface="Cambria" pitchFamily="34" charset="-120"/>
              </a:rPr>
              <a:t>How is the land in the Caribbean different from the land in the middle of the United States? Use evidence from today's lesson.</a:t>
            </a:r>
            <a:endParaRPr lang="en-US" sz="1400" dirty="0"/>
          </a:p>
        </p:txBody>
      </p:sp>
      <p:sp>
        <p:nvSpPr>
          <p:cNvPr id="7" name="Text 5"/>
          <p:cNvSpPr/>
          <p:nvPr/>
        </p:nvSpPr>
        <p:spPr>
          <a:xfrm>
            <a:off x="812800" y="284480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 COMPARE TWO PLACES</a:t>
            </a:r>
            <a:endParaRPr lang="en-US" sz="900" dirty="0"/>
          </a:p>
        </p:txBody>
      </p:sp>
      <p:sp>
        <p:nvSpPr>
          <p:cNvPr id="8" name="Shape 6"/>
          <p:cNvSpPr/>
          <p:nvPr/>
        </p:nvSpPr>
        <p:spPr>
          <a:xfrm>
            <a:off x="812800" y="3413760"/>
            <a:ext cx="6827520" cy="2438400"/>
          </a:xfrm>
          <a:prstGeom prst="roundRect">
            <a:avLst>
              <a:gd name="adj" fmla="val 8000"/>
            </a:avLst>
          </a:prstGeom>
          <a:solidFill>
            <a:srgbClr val="E3F8ED"/>
          </a:solidFill>
          <a:ln/>
        </p:spPr>
      </p:sp>
      <p:sp>
        <p:nvSpPr>
          <p:cNvPr id="9" name="Text 7"/>
          <p:cNvSpPr/>
          <p:nvPr/>
        </p:nvSpPr>
        <p:spPr>
          <a:xfrm>
            <a:off x="1137920" y="3576320"/>
            <a:ext cx="6177280" cy="406400"/>
          </a:xfrm>
          <a:prstGeom prst="rect">
            <a:avLst/>
          </a:prstGeom>
          <a:noFill/>
          <a:ln/>
        </p:spPr>
        <p:txBody>
          <a:bodyPr wrap="square" lIns="0" tIns="0" rIns="0" bIns="0"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MIDDLE OF THE US</a:t>
            </a:r>
            <a:endParaRPr lang="en-US" sz="900" dirty="0"/>
          </a:p>
        </p:txBody>
      </p:sp>
      <p:sp>
        <p:nvSpPr>
          <p:cNvPr id="10" name="Text 8"/>
          <p:cNvSpPr/>
          <p:nvPr/>
        </p:nvSpPr>
        <p:spPr>
          <a:xfrm>
            <a:off x="1137920" y="4064000"/>
            <a:ext cx="6177280" cy="162560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Great Plains</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Flat, wide grassland</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Farms and open land</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One big connected area</a:t>
            </a:r>
            <a:endParaRPr lang="en-US" sz="1200" dirty="0"/>
          </a:p>
        </p:txBody>
      </p:sp>
      <p:sp>
        <p:nvSpPr>
          <p:cNvPr id="11" name="Shape 9"/>
          <p:cNvSpPr/>
          <p:nvPr/>
        </p:nvSpPr>
        <p:spPr>
          <a:xfrm>
            <a:off x="8615680" y="3413760"/>
            <a:ext cx="6827520" cy="2438400"/>
          </a:xfrm>
          <a:prstGeom prst="roundRect">
            <a:avLst>
              <a:gd name="adj" fmla="val 8000"/>
            </a:avLst>
          </a:prstGeom>
          <a:solidFill>
            <a:srgbClr val="F0E8FF"/>
          </a:solidFill>
          <a:ln/>
        </p:spPr>
      </p:sp>
      <p:sp>
        <p:nvSpPr>
          <p:cNvPr id="12" name="Text 10"/>
          <p:cNvSpPr/>
          <p:nvPr/>
        </p:nvSpPr>
        <p:spPr>
          <a:xfrm>
            <a:off x="8940800" y="3576320"/>
            <a:ext cx="6177280" cy="406400"/>
          </a:xfrm>
          <a:prstGeom prst="rect">
            <a:avLst/>
          </a:prstGeom>
          <a:noFill/>
          <a:ln/>
        </p:spPr>
        <p:txBody>
          <a:bodyPr wrap="square" lIns="0" tIns="0" rIns="0" bIns="0" rtlCol="0" anchor="ctr"/>
          <a:lstStyle/>
          <a:p>
            <a:pPr indent="0" marL="0">
              <a:buNone/>
            </a:pPr>
            <a:r>
              <a:rPr lang="en-US" sz="900" b="1" spc="100" kern="0" dirty="0">
                <a:solidFill>
                  <a:srgbClr val="8B6FC0"/>
                </a:solidFill>
                <a:latin typeface="Calibri" pitchFamily="34" charset="0"/>
                <a:ea typeface="Calibri" pitchFamily="34" charset="-122"/>
                <a:cs typeface="Calibri" pitchFamily="34" charset="-120"/>
              </a:rPr>
              <a:t>THE CARIBBEAN</a:t>
            </a:r>
            <a:endParaRPr lang="en-US" sz="900" dirty="0"/>
          </a:p>
        </p:txBody>
      </p:sp>
      <p:sp>
        <p:nvSpPr>
          <p:cNvPr id="13" name="Text 11"/>
          <p:cNvSpPr/>
          <p:nvPr/>
        </p:nvSpPr>
        <p:spPr>
          <a:xfrm>
            <a:off x="8940800" y="4064000"/>
            <a:ext cx="6177280" cy="1625600"/>
          </a:xfrm>
          <a:prstGeom prst="rect">
            <a:avLst/>
          </a:prstGeom>
          <a:noFill/>
          <a:ln/>
        </p:spPr>
        <p:txBody>
          <a:bodyPr wrap="square" lIns="0" tIns="0" rIns="0" bIns="0"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Islands in a warm sea</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Scattered, surrounded by water</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Tropical, smaller pieces of land</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Many separate islands</a:t>
            </a:r>
            <a:endParaRPr lang="en-US" sz="1200" dirty="0"/>
          </a:p>
        </p:txBody>
      </p:sp>
      <p:sp>
        <p:nvSpPr>
          <p:cNvPr id="14" name="Shape 12"/>
          <p:cNvSpPr/>
          <p:nvPr/>
        </p:nvSpPr>
        <p:spPr>
          <a:xfrm>
            <a:off x="812800" y="6258560"/>
            <a:ext cx="14630400" cy="1788160"/>
          </a:xfrm>
          <a:prstGeom prst="roundRect">
            <a:avLst>
              <a:gd name="adj" fmla="val 10909"/>
            </a:avLst>
          </a:prstGeom>
          <a:solidFill>
            <a:srgbClr val="FFFFFF"/>
          </a:solidFill>
          <a:ln/>
        </p:spPr>
      </p:sp>
      <p:sp>
        <p:nvSpPr>
          <p:cNvPr id="15" name="Text 13"/>
          <p:cNvSpPr/>
          <p:nvPr/>
        </p:nvSpPr>
        <p:spPr>
          <a:xfrm>
            <a:off x="1137920" y="6339840"/>
            <a:ext cx="13980160" cy="406400"/>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Sentence Frame:</a:t>
            </a:r>
            <a:endParaRPr lang="en-US" sz="1000" dirty="0"/>
          </a:p>
        </p:txBody>
      </p:sp>
      <p:sp>
        <p:nvSpPr>
          <p:cNvPr id="16" name="Text 14"/>
          <p:cNvSpPr/>
          <p:nvPr/>
        </p:nvSpPr>
        <p:spPr>
          <a:xfrm>
            <a:off x="1137920" y="6746240"/>
            <a:ext cx="13980160" cy="975360"/>
          </a:xfrm>
          <a:prstGeom prst="rect">
            <a:avLst/>
          </a:prstGeom>
          <a:noFill/>
          <a:ln/>
        </p:spPr>
        <p:txBody>
          <a:bodyPr wrap="square" lIns="0" tIns="0" rIns="0" bIns="0" rtlCol="0" anchor="ctr"/>
          <a:lstStyle/>
          <a:p>
            <a:pPr indent="0" marL="0">
              <a:lnSpc>
                <a:spcPct val="130000"/>
              </a:lnSpc>
              <a:buNone/>
            </a:pPr>
            <a:r>
              <a:rPr lang="en-US" sz="1400" i="1" dirty="0">
                <a:solidFill>
                  <a:srgbClr val="0E1C42"/>
                </a:solidFill>
                <a:latin typeface="Cambria" pitchFamily="34" charset="0"/>
                <a:ea typeface="Cambria" pitchFamily="34" charset="-122"/>
                <a:cs typeface="Cambria" pitchFamily="34" charset="-120"/>
              </a:rPr>
              <a:t>The Caribbean is different because _______. The middle of the US is _______ instead. The lesson says _______.</a:t>
            </a:r>
            <a:endParaRPr lang="en-US" sz="1400" dirty="0"/>
          </a:p>
        </p:txBody>
      </p:sp>
      <p:sp>
        <p:nvSpPr>
          <p:cNvPr id="17" name="Text 15"/>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16 / 21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CURATOR TASK</a:t>
            </a:r>
            <a:endParaRPr lang="en-US" sz="1000" dirty="0"/>
          </a:p>
        </p:txBody>
      </p:sp>
      <p:sp>
        <p:nvSpPr>
          <p:cNvPr id="5" name="Shape 3"/>
          <p:cNvSpPr/>
          <p:nvPr/>
        </p:nvSpPr>
        <p:spPr>
          <a:xfrm>
            <a:off x="812800" y="1219200"/>
            <a:ext cx="14630400" cy="2113280"/>
          </a:xfrm>
          <a:prstGeom prst="roundRect">
            <a:avLst>
              <a:gd name="adj" fmla="val 9231"/>
            </a:avLst>
          </a:prstGeom>
          <a:solidFill>
            <a:srgbClr val="FFF3DC"/>
          </a:solidFill>
          <a:ln w="19050">
            <a:solidFill>
              <a:srgbClr val="F5E6C8"/>
            </a:solidFill>
            <a:prstDash val="solid"/>
          </a:ln>
        </p:spPr>
      </p:sp>
      <p:sp>
        <p:nvSpPr>
          <p:cNvPr id="6" name="Text 4"/>
          <p:cNvSpPr/>
          <p:nvPr/>
        </p:nvSpPr>
        <p:spPr>
          <a:xfrm>
            <a:off x="1137920" y="1300480"/>
            <a:ext cx="13980160" cy="56896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Physical Features Display Label</a:t>
            </a:r>
            <a:endParaRPr lang="en-US" sz="1600" dirty="0"/>
          </a:p>
        </p:txBody>
      </p:sp>
      <p:sp>
        <p:nvSpPr>
          <p:cNvPr id="7" name="Text 5"/>
          <p:cNvSpPr/>
          <p:nvPr/>
        </p:nvSpPr>
        <p:spPr>
          <a:xfrm>
            <a:off x="1137920" y="1869440"/>
            <a:ext cx="13980160" cy="138176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Write a 3-4 sentence label for the physical map display. Name at least three physical features from today's lesson (one mountain range, one river, and one more feature of your choice -- a plain, an island, or another mountain range). For each one, say where it is in the region. End with one sentence about why studying the land matters.</a:t>
            </a:r>
            <a:endParaRPr lang="en-US" sz="1100" dirty="0"/>
          </a:p>
        </p:txBody>
      </p:sp>
      <p:sp>
        <p:nvSpPr>
          <p:cNvPr id="8" name="Text 6"/>
          <p:cNvSpPr/>
          <p:nvPr/>
        </p:nvSpPr>
        <p:spPr>
          <a:xfrm>
            <a:off x="812800" y="3576320"/>
            <a:ext cx="1463040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LABEL MUST ANSWER:</a:t>
            </a:r>
            <a:endParaRPr lang="en-US" sz="900" dirty="0"/>
          </a:p>
        </p:txBody>
      </p:sp>
      <p:sp>
        <p:nvSpPr>
          <p:cNvPr id="9" name="Shape 7"/>
          <p:cNvSpPr/>
          <p:nvPr/>
        </p:nvSpPr>
        <p:spPr>
          <a:xfrm>
            <a:off x="812800" y="4064000"/>
            <a:ext cx="14630400" cy="2113280"/>
          </a:xfrm>
          <a:prstGeom prst="roundRect">
            <a:avLst>
              <a:gd name="adj" fmla="val 9231"/>
            </a:avLst>
          </a:prstGeom>
          <a:solidFill>
            <a:srgbClr val="F0F2F8"/>
          </a:solidFill>
          <a:ln/>
        </p:spPr>
      </p:sp>
      <p:sp>
        <p:nvSpPr>
          <p:cNvPr id="10" name="Text 8"/>
          <p:cNvSpPr/>
          <p:nvPr/>
        </p:nvSpPr>
        <p:spPr>
          <a:xfrm>
            <a:off x="1137920" y="4226560"/>
            <a:ext cx="13980160" cy="1788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Which physical features are in this region? (Name at least 3)</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Where is each one?</a:t>
            </a:r>
            <a:endParaRPr lang="en-US" sz="12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Why should visitors care about the land, not just the borders?</a:t>
            </a:r>
            <a:endParaRPr lang="en-US" sz="1200" dirty="0"/>
          </a:p>
        </p:txBody>
      </p:sp>
      <p:sp>
        <p:nvSpPr>
          <p:cNvPr id="11" name="Shape 9"/>
          <p:cNvSpPr/>
          <p:nvPr/>
        </p:nvSpPr>
        <p:spPr>
          <a:xfrm>
            <a:off x="812800" y="6502400"/>
            <a:ext cx="14630400" cy="1625600"/>
          </a:xfrm>
          <a:prstGeom prst="roundRect">
            <a:avLst>
              <a:gd name="adj" fmla="val 12000"/>
            </a:avLst>
          </a:prstGeom>
          <a:solidFill>
            <a:srgbClr val="E3F8ED"/>
          </a:solidFill>
          <a:ln/>
        </p:spPr>
      </p:sp>
      <p:sp>
        <p:nvSpPr>
          <p:cNvPr id="12" name="Text 10"/>
          <p:cNvSpPr/>
          <p:nvPr/>
        </p:nvSpPr>
        <p:spPr>
          <a:xfrm>
            <a:off x="1137920" y="6583680"/>
            <a:ext cx="1398016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MODEL START</a:t>
            </a:r>
            <a:endParaRPr lang="en-US" sz="900" dirty="0"/>
          </a:p>
        </p:txBody>
      </p:sp>
      <p:sp>
        <p:nvSpPr>
          <p:cNvPr id="13" name="Text 11"/>
          <p:cNvSpPr/>
          <p:nvPr/>
        </p:nvSpPr>
        <p:spPr>
          <a:xfrm>
            <a:off x="1137920" y="6990080"/>
            <a:ext cx="13980160" cy="975360"/>
          </a:xfrm>
          <a:prstGeom prst="rect">
            <a:avLst/>
          </a:prstGeom>
          <a:noFill/>
          <a:ln/>
        </p:spPr>
        <p:txBody>
          <a:bodyPr wrap="square" lIns="0" tIns="0" rIns="0" bIns="0" rtlCol="0" anchor="ctr"/>
          <a:lstStyle/>
          <a:p>
            <a:pPr indent="0" marL="0">
              <a:lnSpc>
                <a:spcPct val="120000"/>
              </a:lnSpc>
              <a:buNone/>
            </a:pPr>
            <a:r>
              <a:rPr lang="en-US" sz="1300" i="1" dirty="0">
                <a:solidFill>
                  <a:srgbClr val="0E1C42"/>
                </a:solidFill>
                <a:latin typeface="Cambria" pitchFamily="34" charset="0"/>
                <a:ea typeface="Cambria" pitchFamily="34" charset="-122"/>
                <a:cs typeface="Cambria" pitchFamily="34" charset="-120"/>
              </a:rPr>
              <a:t>"This region has many physical features. The Rocky Mountains run down the western side of..."  (Continue from here!)</a:t>
            </a:r>
            <a:endParaRPr lang="en-US" sz="1300" dirty="0"/>
          </a:p>
        </p:txBody>
      </p:sp>
      <p:sp>
        <p:nvSpPr>
          <p:cNvPr id="14" name="Text 12"/>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17 / 21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8F0"/>
          </a:solidFill>
          <a:ln/>
        </p:spPr>
      </p:sp>
      <p:sp>
        <p:nvSpPr>
          <p:cNvPr id="4" name="Text 2"/>
          <p:cNvSpPr/>
          <p:nvPr/>
        </p:nvSpPr>
        <p:spPr>
          <a:xfrm>
            <a:off x="812800" y="487680"/>
            <a:ext cx="8128000" cy="48768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5" name="Text 3"/>
          <p:cNvSpPr/>
          <p:nvPr/>
        </p:nvSpPr>
        <p:spPr>
          <a:xfrm>
            <a:off x="812800" y="113792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Capture Today's Learning</a:t>
            </a:r>
            <a:endParaRPr lang="en-US" sz="2600" dirty="0"/>
          </a:p>
        </p:txBody>
      </p:sp>
      <p:sp>
        <p:nvSpPr>
          <p:cNvPr id="6" name="Shape 4"/>
          <p:cNvSpPr/>
          <p:nvPr/>
        </p:nvSpPr>
        <p:spPr>
          <a:xfrm>
            <a:off x="2438400" y="2438400"/>
            <a:ext cx="11379200" cy="1950720"/>
          </a:xfrm>
          <a:prstGeom prst="roundRect">
            <a:avLst>
              <a:gd name="adj" fmla="val 12500"/>
            </a:avLst>
          </a:prstGeom>
          <a:solidFill>
            <a:srgbClr val="FFFFFF"/>
          </a:solidFill>
          <a:ln/>
          <a:effectLst>
            <a:outerShdw sx="100000" sy="100000" kx="0" ky="0" algn="bl" rotWithShape="0" blurRad="101600" dist="38100" dir="8100000">
              <a:srgbClr val="000000">
                <a:alpha val="15000"/>
              </a:srgbClr>
            </a:outerShdw>
          </a:effectLst>
        </p:spPr>
      </p:sp>
      <p:sp>
        <p:nvSpPr>
          <p:cNvPr id="7" name="Text 5"/>
          <p:cNvSpPr/>
          <p:nvPr/>
        </p:nvSpPr>
        <p:spPr>
          <a:xfrm>
            <a:off x="2763520" y="2519680"/>
            <a:ext cx="10728960" cy="48768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Finish this sentence in your own words:</a:t>
            </a:r>
            <a:endParaRPr lang="en-US" sz="1200" dirty="0"/>
          </a:p>
        </p:txBody>
      </p:sp>
      <p:sp>
        <p:nvSpPr>
          <p:cNvPr id="8" name="Text 6"/>
          <p:cNvSpPr/>
          <p:nvPr/>
        </p:nvSpPr>
        <p:spPr>
          <a:xfrm>
            <a:off x="2763520" y="3088640"/>
            <a:ext cx="10728960" cy="975360"/>
          </a:xfrm>
          <a:prstGeom prst="rect">
            <a:avLst/>
          </a:prstGeom>
          <a:noFill/>
          <a:ln/>
        </p:spPr>
        <p:txBody>
          <a:bodyPr wrap="square" lIns="0" tIns="0" rIns="0" bIns="0" rtlCol="0" anchor="ctr"/>
          <a:lstStyle/>
          <a:p>
            <a:pPr indent="0" marL="0">
              <a:lnSpc>
                <a:spcPct val="130000"/>
              </a:lnSpc>
              <a:buNone/>
            </a:pPr>
            <a:r>
              <a:rPr lang="en-US" sz="1600" b="1" i="1" dirty="0">
                <a:solidFill>
                  <a:srgbClr val="0E1C42"/>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9" name="Shape 7"/>
          <p:cNvSpPr/>
          <p:nvPr/>
        </p:nvSpPr>
        <p:spPr>
          <a:xfrm>
            <a:off x="2438400" y="4876800"/>
            <a:ext cx="11379200" cy="2275840"/>
          </a:xfrm>
          <a:prstGeom prst="roundRect">
            <a:avLst>
              <a:gd name="adj" fmla="val 8571"/>
            </a:avLst>
          </a:prstGeom>
          <a:solidFill>
            <a:srgbClr val="FFF3DC"/>
          </a:solidFill>
          <a:ln w="19050">
            <a:solidFill>
              <a:srgbClr val="F5E6C8"/>
            </a:solidFill>
            <a:prstDash val="solid"/>
          </a:ln>
        </p:spPr>
      </p:sp>
      <p:sp>
        <p:nvSpPr>
          <p:cNvPr id="10" name="Text 8"/>
          <p:cNvSpPr/>
          <p:nvPr/>
        </p:nvSpPr>
        <p:spPr>
          <a:xfrm>
            <a:off x="2682240" y="4974336"/>
            <a:ext cx="108915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2682240" y="5331968"/>
            <a:ext cx="1089152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is one physical feature you will remember after today?"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"Where is that feature on the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"Say your Chronicle sentence out loud before writing it."</a:t>
            </a:r>
            <a:endParaRPr lang="en-US" sz="1200" dirty="0"/>
          </a:p>
        </p:txBody>
      </p:sp>
      <p:sp>
        <p:nvSpPr>
          <p:cNvPr id="12" name="Text 10"/>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18 / 21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0F2F8"/>
          </a:solidFill>
          <a:ln/>
        </p:spPr>
      </p:sp>
      <p:sp>
        <p:nvSpPr>
          <p:cNvPr id="4" name="Text 2"/>
          <p:cNvSpPr/>
          <p:nvPr/>
        </p:nvSpPr>
        <p:spPr>
          <a:xfrm>
            <a:off x="812800" y="487680"/>
            <a:ext cx="4876800" cy="48768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812800" y="1056640"/>
            <a:ext cx="14630400" cy="8128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Test Your Memory</a:t>
            </a:r>
            <a:endParaRPr lang="en-US" sz="2400" dirty="0"/>
          </a:p>
        </p:txBody>
      </p:sp>
      <p:sp>
        <p:nvSpPr>
          <p:cNvPr id="6" name="Shape 4"/>
          <p:cNvSpPr/>
          <p:nvPr/>
        </p:nvSpPr>
        <p:spPr>
          <a:xfrm>
            <a:off x="812800" y="203200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7" name="Text 5"/>
          <p:cNvSpPr/>
          <p:nvPr/>
        </p:nvSpPr>
        <p:spPr>
          <a:xfrm>
            <a:off x="1137920" y="211328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Which mountain range runs down the western side of Canada and the US?</a:t>
            </a:r>
            <a:endParaRPr lang="en-US" sz="1200" dirty="0"/>
          </a:p>
        </p:txBody>
      </p:sp>
      <p:sp>
        <p:nvSpPr>
          <p:cNvPr id="8" name="Text 6"/>
          <p:cNvSpPr/>
          <p:nvPr/>
        </p:nvSpPr>
        <p:spPr>
          <a:xfrm>
            <a:off x="1137920" y="268224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The Appalachian Mountains     B) The Rocky Mountains     C) The Great Plains</a:t>
            </a:r>
            <a:endParaRPr lang="en-US" sz="1100" dirty="0"/>
          </a:p>
        </p:txBody>
      </p:sp>
      <p:sp>
        <p:nvSpPr>
          <p:cNvPr id="9" name="Text 7"/>
          <p:cNvSpPr/>
          <p:nvPr/>
        </p:nvSpPr>
        <p:spPr>
          <a:xfrm>
            <a:off x="1137920" y="316992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B — The Rocky Mountains</a:t>
            </a:r>
            <a:endParaRPr lang="en-US" sz="1100" dirty="0"/>
          </a:p>
        </p:txBody>
      </p:sp>
      <p:sp>
        <p:nvSpPr>
          <p:cNvPr id="10" name="Shape 8"/>
          <p:cNvSpPr/>
          <p:nvPr/>
        </p:nvSpPr>
        <p:spPr>
          <a:xfrm>
            <a:off x="812800" y="414528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11" name="Text 9"/>
          <p:cNvSpPr/>
          <p:nvPr/>
        </p:nvSpPr>
        <p:spPr>
          <a:xfrm>
            <a:off x="1137920" y="422656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What kind of physical feature is the Great Plains?</a:t>
            </a:r>
            <a:endParaRPr lang="en-US" sz="1200" dirty="0"/>
          </a:p>
        </p:txBody>
      </p:sp>
      <p:sp>
        <p:nvSpPr>
          <p:cNvPr id="12" name="Text 10"/>
          <p:cNvSpPr/>
          <p:nvPr/>
        </p:nvSpPr>
        <p:spPr>
          <a:xfrm>
            <a:off x="1137920" y="479552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A mountain range     B) A group of islands     C) A wide, flat area of land</a:t>
            </a:r>
            <a:endParaRPr lang="en-US" sz="1100" dirty="0"/>
          </a:p>
        </p:txBody>
      </p:sp>
      <p:sp>
        <p:nvSpPr>
          <p:cNvPr id="13" name="Text 11"/>
          <p:cNvSpPr/>
          <p:nvPr/>
        </p:nvSpPr>
        <p:spPr>
          <a:xfrm>
            <a:off x="1137920" y="528320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C — A wide, flat area of land</a:t>
            </a:r>
            <a:endParaRPr lang="en-US" sz="1100" dirty="0"/>
          </a:p>
        </p:txBody>
      </p:sp>
      <p:sp>
        <p:nvSpPr>
          <p:cNvPr id="14" name="Shape 12"/>
          <p:cNvSpPr/>
          <p:nvPr/>
        </p:nvSpPr>
        <p:spPr>
          <a:xfrm>
            <a:off x="812800" y="6258560"/>
            <a:ext cx="14630400" cy="1869440"/>
          </a:xfrm>
          <a:prstGeom prst="roundRect">
            <a:avLst>
              <a:gd name="adj" fmla="val 8696"/>
            </a:avLst>
          </a:prstGeom>
          <a:solidFill>
            <a:srgbClr val="FFFFFF"/>
          </a:solidFill>
          <a:ln/>
          <a:effectLst>
            <a:outerShdw sx="100000" sy="100000" kx="0" ky="0" algn="bl" rotWithShape="0" blurRad="50800" dist="12700" dir="8100000">
              <a:srgbClr val="000000">
                <a:alpha val="8000"/>
              </a:srgbClr>
            </a:outerShdw>
          </a:effectLst>
        </p:spPr>
      </p:sp>
      <p:sp>
        <p:nvSpPr>
          <p:cNvPr id="15" name="Text 13"/>
          <p:cNvSpPr/>
          <p:nvPr/>
        </p:nvSpPr>
        <p:spPr>
          <a:xfrm>
            <a:off x="1137920" y="633984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is a physical map helpful even if you already have a political map?</a:t>
            </a:r>
            <a:endParaRPr lang="en-US" sz="1200" dirty="0"/>
          </a:p>
        </p:txBody>
      </p:sp>
      <p:sp>
        <p:nvSpPr>
          <p:cNvPr id="16" name="Text 14"/>
          <p:cNvSpPr/>
          <p:nvPr/>
        </p:nvSpPr>
        <p:spPr>
          <a:xfrm>
            <a:off x="1137920" y="6908800"/>
            <a:ext cx="13980160" cy="4064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Shows the land     B) Shows city names     C) Shows languages</a:t>
            </a:r>
            <a:endParaRPr lang="en-US" sz="1100" dirty="0"/>
          </a:p>
        </p:txBody>
      </p:sp>
      <p:sp>
        <p:nvSpPr>
          <p:cNvPr id="17" name="Text 15"/>
          <p:cNvSpPr/>
          <p:nvPr/>
        </p:nvSpPr>
        <p:spPr>
          <a:xfrm>
            <a:off x="1137920" y="7396480"/>
            <a:ext cx="13980160" cy="40640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Answer: A — It shows what the land actually looks like.</a:t>
            </a:r>
            <a:endParaRPr lang="en-US" sz="1100" dirty="0"/>
          </a:p>
        </p:txBody>
      </p:sp>
      <p:sp>
        <p:nvSpPr>
          <p:cNvPr id="18" name="Text 16"/>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19 / 21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81280"/>
          </a:xfrm>
          <a:prstGeom prst="rect">
            <a:avLst/>
          </a:prstGeom>
          <a:solidFill>
            <a:srgbClr val="D4943A"/>
          </a:solidFill>
          <a:ln/>
        </p:spPr>
      </p:sp>
      <p:sp>
        <p:nvSpPr>
          <p:cNvPr id="3" name="Shape 1"/>
          <p:cNvSpPr/>
          <p:nvPr/>
        </p:nvSpPr>
        <p:spPr>
          <a:xfrm>
            <a:off x="0" y="81280"/>
            <a:ext cx="16256000" cy="9062720"/>
          </a:xfrm>
          <a:prstGeom prst="rect">
            <a:avLst/>
          </a:prstGeom>
          <a:solidFill>
            <a:srgbClr val="FFFFFF"/>
          </a:solidFill>
          <a:ln/>
        </p:spPr>
      </p:sp>
      <p:sp>
        <p:nvSpPr>
          <p:cNvPr id="4" name="Text 2"/>
          <p:cNvSpPr/>
          <p:nvPr/>
        </p:nvSpPr>
        <p:spPr>
          <a:xfrm>
            <a:off x="812800" y="487680"/>
            <a:ext cx="11379200" cy="48768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WHAT YOU'LL TURN IN</a:t>
            </a:r>
            <a:endParaRPr lang="en-US" sz="1000" dirty="0"/>
          </a:p>
        </p:txBody>
      </p:sp>
      <p:sp>
        <p:nvSpPr>
          <p:cNvPr id="5" name="Text 3"/>
          <p:cNvSpPr/>
          <p:nvPr/>
        </p:nvSpPr>
        <p:spPr>
          <a:xfrm>
            <a:off x="812800" y="105664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Complete on Your Lesson Page</a:t>
            </a:r>
            <a:endParaRPr lang="en-US" sz="2200" dirty="0"/>
          </a:p>
        </p:txBody>
      </p:sp>
      <p:sp>
        <p:nvSpPr>
          <p:cNvPr id="6" name="Shape 4"/>
          <p:cNvSpPr/>
          <p:nvPr/>
        </p:nvSpPr>
        <p:spPr>
          <a:xfrm>
            <a:off x="812800" y="1950720"/>
            <a:ext cx="6990080" cy="4551680"/>
          </a:xfrm>
          <a:prstGeom prst="roundRect">
            <a:avLst>
              <a:gd name="adj" fmla="val 4286"/>
            </a:avLst>
          </a:prstGeom>
          <a:solidFill>
            <a:srgbClr val="F0F2F8"/>
          </a:solidFill>
          <a:ln/>
          <a:effectLst>
            <a:outerShdw sx="100000" sy="100000" kx="0" ky="0" algn="bl" rotWithShape="0" blurRad="76200" dist="25400" dir="8100000">
              <a:srgbClr val="000000">
                <a:alpha val="10000"/>
              </a:srgbClr>
            </a:outerShdw>
          </a:effectLst>
        </p:spPr>
      </p:sp>
      <p:sp>
        <p:nvSpPr>
          <p:cNvPr id="7" name="Text 5"/>
          <p:cNvSpPr/>
          <p:nvPr/>
        </p:nvSpPr>
        <p:spPr>
          <a:xfrm>
            <a:off x="1137920" y="2113280"/>
            <a:ext cx="633984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1137920" y="2600960"/>
            <a:ext cx="6339840" cy="3738880"/>
          </a:xfrm>
          <a:prstGeom prst="rect">
            <a:avLst/>
          </a:prstGeom>
          <a:noFill/>
          <a:ln/>
        </p:spPr>
        <p:txBody>
          <a:bodyPr wrap="square" lIns="0" tIns="0" rIns="0" bIns="0" rtlCol="0" anchor="t"/>
          <a:lstStyle/>
          <a:p>
            <a:pPr indent="0" marL="0">
              <a:spcAft>
                <a:spcPts val="600"/>
              </a:spcAft>
              <a:buNone/>
            </a:pPr>
            <a:r>
              <a:rPr lang="en-US" sz="1000" dirty="0">
                <a:solidFill>
                  <a:srgbClr val="0E1C42"/>
                </a:solidFill>
                <a:latin typeface="Calibri" pitchFamily="34" charset="0"/>
                <a:ea typeface="Calibri" pitchFamily="34" charset="-122"/>
                <a:cs typeface="Calibri" pitchFamily="34" charset="-120"/>
              </a:rPr>
              <a:t>1. Name two mountain ranges in this region. Tell where each one is -- eastern side or western side.</a:t>
            </a:r>
            <a:pPr indent="0" marL="0">
              <a:spcAft>
                <a:spcPts val="600"/>
              </a:spcAft>
              <a:buNone/>
            </a:pPr>
            <a:r>
              <a:rPr lang="en-US" sz="1000" dirty="0">
                <a:solidFill>
                  <a:srgbClr val="0E1C42"/>
                </a:solidFill>
                <a:latin typeface="Calibri" pitchFamily="34" charset="0"/>
                <a:ea typeface="Calibri" pitchFamily="34" charset="-122"/>
                <a:cs typeface="Calibri" pitchFamily="34" charset="-120"/>
              </a:rPr>
              <a:t>2. What kind of land is the Great Plains, and where in the region is it? Give one detail from the lesson.</a:t>
            </a:r>
            <a:pPr indent="0" marL="0">
              <a:spcAft>
                <a:spcPts val="400"/>
              </a:spcAft>
              <a:buNone/>
            </a:pPr>
            <a:r>
              <a:rPr lang="en-US" sz="1000" dirty="0">
                <a:solidFill>
                  <a:srgbClr val="0E1C42"/>
                </a:solidFill>
                <a:latin typeface="Calibri" pitchFamily="34" charset="0"/>
                <a:ea typeface="Calibri" pitchFamily="34" charset="-122"/>
                <a:cs typeface="Calibri" pitchFamily="34" charset="-120"/>
              </a:rPr>
              <a:t>3. How is the land in the Caribbean different from the land in the middle of the United States? Use evidence from today's lesson.</a:t>
            </a:r>
            <a:endParaRPr lang="en-US" sz="1000" dirty="0"/>
          </a:p>
        </p:txBody>
      </p:sp>
      <p:sp>
        <p:nvSpPr>
          <p:cNvPr id="9" name="Shape 7"/>
          <p:cNvSpPr/>
          <p:nvPr/>
        </p:nvSpPr>
        <p:spPr>
          <a:xfrm>
            <a:off x="8453120" y="1950720"/>
            <a:ext cx="6990080" cy="4551680"/>
          </a:xfrm>
          <a:prstGeom prst="roundRect">
            <a:avLst>
              <a:gd name="adj" fmla="val 4286"/>
            </a:avLst>
          </a:prstGeom>
          <a:solidFill>
            <a:srgbClr val="FFF3DC"/>
          </a:solidFill>
          <a:ln/>
          <a:effectLst>
            <a:outerShdw sx="100000" sy="100000" kx="0" ky="0" algn="bl" rotWithShape="0" blurRad="76200" dist="25400" dir="8100000">
              <a:srgbClr val="000000">
                <a:alpha val="10000"/>
              </a:srgbClr>
            </a:outerShdw>
          </a:effectLst>
        </p:spPr>
      </p:sp>
      <p:sp>
        <p:nvSpPr>
          <p:cNvPr id="10" name="Text 8"/>
          <p:cNvSpPr/>
          <p:nvPr/>
        </p:nvSpPr>
        <p:spPr>
          <a:xfrm>
            <a:off x="8778240" y="2113280"/>
            <a:ext cx="63398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1" name="Text 9"/>
          <p:cNvSpPr/>
          <p:nvPr/>
        </p:nvSpPr>
        <p:spPr>
          <a:xfrm>
            <a:off x="8778240" y="2600960"/>
            <a:ext cx="6339840" cy="3738880"/>
          </a:xfrm>
          <a:prstGeom prst="rect">
            <a:avLst/>
          </a:prstGeom>
          <a:noFill/>
          <a:ln/>
        </p:spPr>
        <p:txBody>
          <a:bodyPr wrap="square" lIns="0" tIns="0" rIns="0" bIns="0" rtlCol="0" anchor="ctr"/>
          <a:lstStyle/>
          <a:p>
            <a:pPr indent="0" marL="0">
              <a:lnSpc>
                <a:spcPct val="130000"/>
              </a:lnSpc>
              <a:buNone/>
            </a:pPr>
            <a:r>
              <a:rPr lang="en-US" sz="1000" dirty="0">
                <a:solidFill>
                  <a:srgbClr val="0E1C42"/>
                </a:solidFill>
                <a:latin typeface="Calibri" pitchFamily="34" charset="0"/>
                <a:ea typeface="Calibri" pitchFamily="34" charset="-122"/>
                <a:cs typeface="Calibri" pitchFamily="34" charset="-120"/>
              </a:rPr>
              <a:t>Physical Features Display Label</a:t>
            </a:r>
            <a:endParaRPr lang="en-US" sz="1000" dirty="0"/>
          </a:p>
          <a:p>
            <a:pPr indent="0" marL="0">
              <a:lnSpc>
                <a:spcPct val="130000"/>
              </a:lnSpc>
              <a:buNone/>
            </a:pPr>
            <a:endParaRPr lang="en-US" sz="1000" dirty="0"/>
          </a:p>
          <a:p>
            <a:pPr indent="0" marL="0">
              <a:lnSpc>
                <a:spcPct val="130000"/>
              </a:lnSpc>
              <a:buNone/>
            </a:pPr>
            <a:r>
              <a:rPr lang="en-US" sz="1000" dirty="0">
                <a:solidFill>
                  <a:srgbClr val="0E1C42"/>
                </a:solidFill>
                <a:latin typeface="Calibri" pitchFamily="34" charset="0"/>
                <a:ea typeface="Calibri" pitchFamily="34" charset="-122"/>
                <a:cs typeface="Calibri" pitchFamily="34" charset="-120"/>
              </a:rPr>
              <a:t>Write 3-4 sentences. Name at least three physical features (one mountain range, one river, one more). Say where each one is. End with one sentence about why studying the land matters.</a:t>
            </a:r>
            <a:endParaRPr lang="en-US" sz="1000" dirty="0"/>
          </a:p>
        </p:txBody>
      </p:sp>
      <p:sp>
        <p:nvSpPr>
          <p:cNvPr id="12" name="Shape 10"/>
          <p:cNvSpPr/>
          <p:nvPr/>
        </p:nvSpPr>
        <p:spPr>
          <a:xfrm>
            <a:off x="812800" y="6827520"/>
            <a:ext cx="14630400" cy="1625600"/>
          </a:xfrm>
          <a:prstGeom prst="roundRect">
            <a:avLst>
              <a:gd name="adj" fmla="val 12000"/>
            </a:avLst>
          </a:prstGeom>
          <a:solidFill>
            <a:srgbClr val="FFF8F0"/>
          </a:solidFill>
          <a:ln/>
        </p:spPr>
      </p:sp>
      <p:sp>
        <p:nvSpPr>
          <p:cNvPr id="13" name="Text 11"/>
          <p:cNvSpPr/>
          <p:nvPr/>
        </p:nvSpPr>
        <p:spPr>
          <a:xfrm>
            <a:off x="1137920" y="6908800"/>
            <a:ext cx="139801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14" name="Text 12"/>
          <p:cNvSpPr/>
          <p:nvPr/>
        </p:nvSpPr>
        <p:spPr>
          <a:xfrm>
            <a:off x="1137920" y="7315200"/>
            <a:ext cx="13980160" cy="56896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In this exhibit, I learned that ______ because ______.</a:t>
            </a:r>
            <a:endParaRPr lang="en-US" sz="1300" dirty="0"/>
          </a:p>
        </p:txBody>
      </p:sp>
      <p:sp>
        <p:nvSpPr>
          <p:cNvPr id="15" name="Text 13"/>
          <p:cNvSpPr/>
          <p:nvPr/>
        </p:nvSpPr>
        <p:spPr>
          <a:xfrm>
            <a:off x="1137920" y="7884160"/>
            <a:ext cx="13980160" cy="4064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Copy or download your answers and submit to Canvas.</a:t>
            </a:r>
            <a:endParaRPr lang="en-US" sz="1100" dirty="0"/>
          </a:p>
        </p:txBody>
      </p:sp>
      <p:sp>
        <p:nvSpPr>
          <p:cNvPr id="16" name="Text 14"/>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20 / 21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812800" y="812800"/>
            <a:ext cx="14630400" cy="568960"/>
          </a:xfrm>
          <a:prstGeom prst="rect">
            <a:avLst/>
          </a:prstGeom>
          <a:noFill/>
          <a:ln/>
        </p:spPr>
        <p:txBody>
          <a:bodyPr wrap="square" lIns="0" tIns="0" rIns="0" bIns="0" rtlCol="0" anchor="ctr"/>
          <a:lstStyle/>
          <a:p>
            <a:pPr indent="0" marL="0">
              <a:buNone/>
            </a:pPr>
            <a:r>
              <a:rPr lang="en-US" sz="1200" b="1" spc="200" kern="0" dirty="0">
                <a:solidFill>
                  <a:srgbClr val="55C8E8"/>
                </a:solidFill>
                <a:latin typeface="Calibri" pitchFamily="34" charset="0"/>
                <a:ea typeface="Calibri" pitchFamily="34" charset="-122"/>
                <a:cs typeface="Calibri" pitchFamily="34" charset="-120"/>
              </a:rPr>
              <a:t>GREAT WORK, REGIONAL CURATOR!</a:t>
            </a:r>
            <a:endParaRPr lang="en-US" sz="1200" dirty="0"/>
          </a:p>
        </p:txBody>
      </p:sp>
      <p:sp>
        <p:nvSpPr>
          <p:cNvPr id="6" name="Text 3"/>
          <p:cNvSpPr/>
          <p:nvPr/>
        </p:nvSpPr>
        <p:spPr>
          <a:xfrm>
            <a:off x="812800" y="1950720"/>
            <a:ext cx="11379200" cy="13004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You read the land.</a:t>
            </a:r>
            <a:endParaRPr lang="en-US" sz="3000" dirty="0"/>
          </a:p>
        </p:txBody>
      </p:sp>
      <p:sp>
        <p:nvSpPr>
          <p:cNvPr id="7" name="Text 4"/>
          <p:cNvSpPr/>
          <p:nvPr/>
        </p:nvSpPr>
        <p:spPr>
          <a:xfrm>
            <a:off x="812800" y="3413760"/>
            <a:ext cx="9753600" cy="1463040"/>
          </a:xfrm>
          <a:prstGeom prst="rect">
            <a:avLst/>
          </a:prstGeom>
          <a:noFill/>
          <a:ln/>
        </p:spPr>
        <p:txBody>
          <a:bodyPr wrap="square" lIns="0" tIns="0" rIns="0" bIns="0" rtlCol="0" anchor="ctr"/>
          <a:lstStyle/>
          <a:p>
            <a:pPr indent="0" marL="0">
              <a:lnSpc>
                <a:spcPct val="130000"/>
              </a:lnSpc>
              <a:buNone/>
            </a:pPr>
            <a:r>
              <a:rPr lang="en-US" sz="1300" dirty="0">
                <a:solidFill>
                  <a:srgbClr val="B8C4E0"/>
                </a:solidFill>
                <a:latin typeface="Calibri" pitchFamily="34" charset="0"/>
                <a:ea typeface="Calibri" pitchFamily="34" charset="-122"/>
                <a:cs typeface="Calibri" pitchFamily="34" charset="-120"/>
              </a:rPr>
              <a:t>You read a physical map, sorted the region's mountains, rivers, plains, and islands, and wrote a label that shows visitors what the land really looks like.</a:t>
            </a:r>
            <a:endParaRPr lang="en-US" sz="1300" dirty="0"/>
          </a:p>
        </p:txBody>
      </p:sp>
      <p:sp>
        <p:nvSpPr>
          <p:cNvPr id="8" name="Shape 5"/>
          <p:cNvSpPr/>
          <p:nvPr/>
        </p:nvSpPr>
        <p:spPr>
          <a:xfrm>
            <a:off x="812800" y="5201920"/>
            <a:ext cx="1950720" cy="65024"/>
          </a:xfrm>
          <a:prstGeom prst="rect">
            <a:avLst/>
          </a:prstGeom>
          <a:solidFill>
            <a:srgbClr val="D4943A"/>
          </a:solidFill>
          <a:ln/>
        </p:spPr>
      </p:sp>
      <p:sp>
        <p:nvSpPr>
          <p:cNvPr id="9" name="Shape 6"/>
          <p:cNvSpPr/>
          <p:nvPr/>
        </p:nvSpPr>
        <p:spPr>
          <a:xfrm>
            <a:off x="812800" y="5689600"/>
            <a:ext cx="9753600" cy="1950720"/>
          </a:xfrm>
          <a:prstGeom prst="roundRect">
            <a:avLst>
              <a:gd name="adj" fmla="val 10000"/>
            </a:avLst>
          </a:prstGeom>
          <a:solidFill>
            <a:srgbClr val="1A2D5A"/>
          </a:solidFill>
          <a:ln w="12700">
            <a:solidFill>
              <a:srgbClr val="D4943A"/>
            </a:solidFill>
            <a:prstDash val="solid"/>
          </a:ln>
        </p:spPr>
      </p:sp>
      <p:sp>
        <p:nvSpPr>
          <p:cNvPr id="10" name="Text 7"/>
          <p:cNvSpPr/>
          <p:nvPr/>
        </p:nvSpPr>
        <p:spPr>
          <a:xfrm>
            <a:off x="1137920" y="5770880"/>
            <a:ext cx="910336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1" name="Text 8"/>
          <p:cNvSpPr/>
          <p:nvPr/>
        </p:nvSpPr>
        <p:spPr>
          <a:xfrm>
            <a:off x="1137920" y="6258560"/>
            <a:ext cx="9103360" cy="12192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Next time, we will meet the most famous landmarks in the region — some are natural like the Grand Canyon, and some are built by people like the Statue of Liberty. You will help sort them on the Landmark Photo Wall.</a:t>
            </a:r>
            <a:endParaRPr lang="en-US" sz="1200" dirty="0"/>
          </a:p>
        </p:txBody>
      </p:sp>
      <p:sp>
        <p:nvSpPr>
          <p:cNvPr id="12" name="Text 9"/>
          <p:cNvSpPr/>
          <p:nvPr/>
        </p:nvSpPr>
        <p:spPr>
          <a:xfrm>
            <a:off x="14305280" y="8534400"/>
            <a:ext cx="1463040" cy="40640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21 /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Grade 3 Social Studies — Lesson 3.06.02</dc:subject>
  <dc:creator>Optima Academy Online</dc:creator>
  <cp:lastModifiedBy>Optima Academy Online</cp:lastModifiedBy>
  <cp:revision>1</cp:revision>
  <dcterms:created xsi:type="dcterms:W3CDTF">2026-07-11T02:54:04Z</dcterms:created>
  <dcterms:modified xsi:type="dcterms:W3CDTF">2026-07-11T02:54:04Z</dcterms:modified>
</cp:coreProperties>
</file>