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wide, warmly lit museum panel wall in the Grand Exhibition Hall -- rows of blank white exhibit panels, one with a small name card already pinned to it, surrounded by scattered map cut-outs, photographs, and index cards waiting to be arranged, morning light through tall windows.Title slide. Welcome students to the Grand Exhibition Hall. Read the Big Question aloud. Preview: today students learn the four parts of a strong exhibit, then build all four for their own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busy museum workroom -- other student Exhibit Designers sketching, pinning, and labeling their panels, a director figure walking the row checking details, and one blank white panel in the foreground with a single name card pinned to the top corner.Start with energy: 'Yesterday you planned. Today you build. The visitors arrive in a few days.' Read the Curator's Question. Then explain the day: 'We're going to learn the four parts of a strong exhibit, and then you'll build all four for your panel.' Hint at the bigger reveal for later in the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Curator's Question aloud. Preview the three objectives -- learn the four parts, build all four, write labels a visitor could actually read. Note materials needed for building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virtue: courtesy. 'Courtesy at a museum means making your work easy for the visitor to read. Big labels. Clear words. No showing off.' This virtue will guide every label students write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map evidence: 'A map of the place your exhibit is about.' A visitor should be able to find the spot in seconds. This directly scaffolds Evidence Question 1 about map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one strong label vs. one weak label for map evidence. Weak just names the object; strong tells the visitor where and why it matters. Give the retrieval challenge before moving to Station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source evidence: 'A photo, chart, quote, or document that shows the place is real.' Real curators back up their claims. This scaffolds Evidence Question 2 about source type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weak source label just names the object. A strong one explains what the source proves and why it matters. Remind students: photo, chart, quote, or document -- all four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community connection: work, food, traditions, or government -- what does this place have to do with real people? This scaffolds Evidence Question 3 about which community or region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examples of weak vs. strong community connection labels -- one about work, one about government. Both show how a strong label ties a fact to why it matters to real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civic virtue: pick a virtue and explain how the people or place show it. Remind students today's virtue is courtesy -- but their exhibit's virtue can be any virtue that fits their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weak virtue label just names the virtue. A strong one shows the virtue in action with a real detail. All four stations are now revealed: map, source, community connection, virtue.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panel follows the same four-part shape so visitors can compare exhibits and learn quickly. Ask students which part they feel confident about and which needs more thought before assignment time -- this scaffolds their approach to all three evidence questions plus the four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filling in the Map Label sentence starter exactly as it will appear on the assignment slide. Emphasize the two-blank pattern -- what it shows, then why it matters -- which repeats across all four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class Source Label out loud together, using a class-chosen example -- for instance a chart showing rainfall. This is direct rehearsal for Evidence Question 2 and the Source Label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60-90 seconds to draft their own Community Connection Label using the checklist. This is direct rehearsal for Evidence Question 3 and the Community Connection Label on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 named the virtue but never finished the 'because' -- there's no evidence a visitor could check. This mirrors Self-Check Question 2's contrast between naming something and explaining it. Have students suggest a fixed version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take answers via chat or poll, then reveal the correct answer and explanation shown on the slide. Celebrate a perfect score: 'Three for three. Four parts, strong labels, courtesy. Take that into your exhibit.' If missed, review answers and encourage: 'You can still build a great exhibit. Just check your labels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exactly as written. Question 1 was scaffolded at Station 1, Question 2 at Station 2, Question 3 at Station 3. Model briefly: 'A compass rose so visitors know which way is north.' Nothing here should be new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Curator Task aloud. Model briefly: 'Write four short labels -- one for the map, one for the source, one for the community connection, one for the virtue. Each label is one or two sentences a visitor could read.' Walk through turn-in checklist. Read the Curator's Chronicle frame. Tease tomorrow: 'Tomorrow you'll present your exhibit out loud.' Aim for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now-full exhibit panel in the Grand Exhibition Hall -- a labeled map, a labeled source, a labeled community photo, and a small labeled plaque, all pinned neatly in place, with the director's silhouette walking away down a dim corridor beyond.Celebrate warmly: 'Look at what's on your panel now -- map, source, community, virtue, all labeled. That's a real exhibit.' Then quietly deepen the story: the director said the museum was never really about the exhibits. Tease tomorrow's presentation.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158496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GRAND EXHIBITION HALL  ·  LESSON 3.11.02  ·  HISTORIAN-CITIZEN EXHIBITION</a:t>
            </a:r>
            <a:endParaRPr lang="en-US" sz="1200" dirty="0"/>
          </a:p>
        </p:txBody>
      </p:sp>
      <p:sp>
        <p:nvSpPr>
          <p:cNvPr id="6" name="Text 3"/>
          <p:cNvSpPr/>
          <p:nvPr/>
        </p:nvSpPr>
        <p:spPr>
          <a:xfrm>
            <a:off x="975360" y="2194560"/>
            <a:ext cx="9753600" cy="195072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Build the Final</a:t>
            </a:r>
            <a:endParaRPr lang="en-US" sz="3600" dirty="0"/>
          </a:p>
          <a:p>
            <a:pPr algn="ctr" indent="0" marL="0">
              <a:buNone/>
            </a:pPr>
            <a:r>
              <a:rPr lang="en-US" sz="3600" b="1" dirty="0">
                <a:solidFill>
                  <a:srgbClr val="FFFFFF"/>
                </a:solidFill>
                <a:latin typeface="Cambria" pitchFamily="34" charset="0"/>
                <a:ea typeface="Cambria" pitchFamily="34" charset="-122"/>
                <a:cs typeface="Cambria" pitchFamily="34" charset="-120"/>
              </a:rPr>
              <a:t>Community-in-the-World Exhibit</a:t>
            </a:r>
            <a:endParaRPr lang="en-US" sz="3600" dirty="0"/>
          </a:p>
        </p:txBody>
      </p:sp>
      <p:sp>
        <p:nvSpPr>
          <p:cNvPr id="7" name="Text 4"/>
          <p:cNvSpPr/>
          <p:nvPr/>
        </p:nvSpPr>
        <p:spPr>
          <a:xfrm>
            <a:off x="1584960" y="4267200"/>
            <a:ext cx="8534400" cy="365760"/>
          </a:xfrm>
          <a:prstGeom prst="rect">
            <a:avLst/>
          </a:prstGeom>
          <a:noFill/>
          <a:ln/>
        </p:spPr>
        <p:txBody>
          <a:bodyPr wrap="square" lIns="0" tIns="0" rIns="0" bIns="0" rtlCol="0" anchor="ctr"/>
          <a:lstStyle/>
          <a:p>
            <a:pPr algn="ctr" indent="0" marL="0">
              <a:buNone/>
            </a:pPr>
            <a:r>
              <a:rPr lang="en-US" sz="1100" b="1" spc="150" kern="0" dirty="0">
                <a:solidFill>
                  <a:srgbClr val="D4943A"/>
                </a:solidFill>
                <a:latin typeface="Calibri" pitchFamily="34" charset="0"/>
                <a:ea typeface="Calibri" pitchFamily="34" charset="-122"/>
                <a:cs typeface="Calibri" pitchFamily="34" charset="-120"/>
              </a:rPr>
              <a:t>Today's Big Question</a:t>
            </a:r>
            <a:endParaRPr lang="en-US" sz="1100" dirty="0"/>
          </a:p>
        </p:txBody>
      </p:sp>
      <p:sp>
        <p:nvSpPr>
          <p:cNvPr id="8" name="Text 5"/>
          <p:cNvSpPr/>
          <p:nvPr/>
        </p:nvSpPr>
        <p:spPr>
          <a:xfrm>
            <a:off x="1219200" y="4693920"/>
            <a:ext cx="9387840" cy="1158240"/>
          </a:xfrm>
          <a:prstGeom prst="rect">
            <a:avLst/>
          </a:prstGeom>
          <a:noFill/>
          <a:ln/>
        </p:spPr>
        <p:txBody>
          <a:bodyPr wrap="square" lIns="0" tIns="0" rIns="0" bIns="0" rtlCol="0" anchor="t"/>
          <a:lstStyle/>
          <a:p>
            <a:pPr algn="ctr" indent="0" marL="0">
              <a:buNone/>
            </a:pPr>
            <a:r>
              <a:rPr lang="en-US" sz="1500" i="1" dirty="0">
                <a:solidFill>
                  <a:srgbClr val="FFFFFF"/>
                </a:solidFill>
                <a:latin typeface="Calibri" pitchFamily="34" charset="0"/>
                <a:ea typeface="Calibri" pitchFamily="34" charset="-122"/>
                <a:cs typeface="Calibri" pitchFamily="34" charset="-120"/>
              </a:rPr>
              <a:t>How can your exhibit show a visitor what a young geographer-citizen sees, knows, and chooses?</a:t>
            </a:r>
            <a:endParaRPr lang="en-US" sz="1500" dirty="0"/>
          </a:p>
        </p:txBody>
      </p:sp>
      <p:sp>
        <p:nvSpPr>
          <p:cNvPr id="9" name="Text 6"/>
          <p:cNvSpPr/>
          <p:nvPr/>
        </p:nvSpPr>
        <p:spPr>
          <a:xfrm>
            <a:off x="1219200" y="5913120"/>
            <a:ext cx="9387840" cy="42672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You are still an Exhibit Designer -- but today, it's building day.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853440"/>
            <a:ext cx="97536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ENTER THE MUSEUM · BUILDING DAY</a:t>
            </a:r>
            <a:endParaRPr lang="en-US" sz="1100" dirty="0"/>
          </a:p>
        </p:txBody>
      </p:sp>
      <p:sp>
        <p:nvSpPr>
          <p:cNvPr id="6" name="Text 3"/>
          <p:cNvSpPr/>
          <p:nvPr/>
        </p:nvSpPr>
        <p:spPr>
          <a:xfrm>
            <a:off x="975360" y="1402080"/>
            <a:ext cx="9753600" cy="853440"/>
          </a:xfrm>
          <a:prstGeom prst="rect">
            <a:avLst/>
          </a:prstGeom>
          <a:noFill/>
          <a:ln/>
        </p:spPr>
        <p:txBody>
          <a:bodyPr wrap="square" lIns="0" tIns="0" rIns="0" bIns="0" rtlCol="0" anchor="ctr"/>
          <a:lstStyle/>
          <a:p>
            <a:pPr algn="ctr" indent="0" marL="0">
              <a:buNone/>
            </a:pPr>
            <a:r>
              <a:rPr lang="en-US" sz="2100" b="1" i="1" dirty="0">
                <a:solidFill>
                  <a:srgbClr val="FFFFFF"/>
                </a:solidFill>
                <a:latin typeface="Cambria" pitchFamily="34" charset="0"/>
                <a:ea typeface="Cambria" pitchFamily="34" charset="-122"/>
                <a:cs typeface="Cambria" pitchFamily="34" charset="-120"/>
              </a:rPr>
              <a:t>"Visitors will be here in a few days."</a:t>
            </a:r>
            <a:endParaRPr lang="en-US" sz="2100" dirty="0"/>
          </a:p>
        </p:txBody>
      </p:sp>
      <p:sp>
        <p:nvSpPr>
          <p:cNvPr id="7" name="Text 4"/>
          <p:cNvSpPr/>
          <p:nvPr/>
        </p:nvSpPr>
        <p:spPr>
          <a:xfrm>
            <a:off x="1219200" y="2377440"/>
            <a:ext cx="9387840" cy="231648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The Grand Exhibition Hall is busy this morning. Other Exhibit Designers are sketching, pinning, and labeling. The director walks the row, checking every detail. "Your exhibit needs four things: a map, a source, a community connection, and a virtue. Don't worry about being fancy. Worry about being clear." She points to your blank panel. Your name is already on it. Time to build.</a:t>
            </a:r>
            <a:endParaRPr lang="en-US" sz="1400" dirty="0"/>
          </a:p>
        </p:txBody>
      </p:sp>
      <p:sp>
        <p:nvSpPr>
          <p:cNvPr id="8" name="Text 5"/>
          <p:cNvSpPr/>
          <p:nvPr/>
        </p:nvSpPr>
        <p:spPr>
          <a:xfrm>
            <a:off x="1219200" y="5059680"/>
            <a:ext cx="9387840" cy="48768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Four things. One panel. Let's learn what each one needs.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TODAY'S CURATOR'S QUESTION &amp; OBJECTIVES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You'll Learn Today</a:t>
            </a:r>
            <a:endParaRPr lang="en-US" sz="2700" dirty="0"/>
          </a:p>
        </p:txBody>
      </p:sp>
      <p:sp>
        <p:nvSpPr>
          <p:cNvPr id="4" name="Shape 2"/>
          <p:cNvSpPr/>
          <p:nvPr/>
        </p:nvSpPr>
        <p:spPr>
          <a:xfrm>
            <a:off x="609600" y="1584960"/>
            <a:ext cx="10607040" cy="1280160"/>
          </a:xfrm>
          <a:prstGeom prst="roundRect">
            <a:avLst>
              <a:gd name="adj" fmla="val 11429"/>
            </a:avLst>
          </a:prstGeom>
          <a:solidFill>
            <a:srgbClr val="EAF8FD"/>
          </a:solidFill>
          <a:ln/>
        </p:spPr>
      </p:sp>
      <p:sp>
        <p:nvSpPr>
          <p:cNvPr id="5" name="Text 3"/>
          <p:cNvSpPr/>
          <p:nvPr/>
        </p:nvSpPr>
        <p:spPr>
          <a:xfrm>
            <a:off x="914400" y="1767840"/>
            <a:ext cx="9997440" cy="975360"/>
          </a:xfrm>
          <a:prstGeom prst="rect">
            <a:avLst/>
          </a:prstGeom>
          <a:noFill/>
          <a:ln/>
        </p:spPr>
        <p:txBody>
          <a:bodyPr wrap="square" lIns="0" tIns="0" rIns="0" bIns="0" rtlCol="0" anchor="ctr"/>
          <a:lstStyle/>
          <a:p>
            <a:pPr indent="0" marL="0">
              <a:buNone/>
            </a:pPr>
            <a:r>
              <a:rPr lang="en-US" sz="1350" b="1" i="1" dirty="0">
                <a:solidFill>
                  <a:srgbClr val="0E1C42"/>
                </a:solidFill>
                <a:latin typeface="Calibri" pitchFamily="34" charset="0"/>
                <a:ea typeface="Calibri" pitchFamily="34" charset="-122"/>
                <a:cs typeface="Calibri" pitchFamily="34" charset="-120"/>
              </a:rPr>
              <a:t>Today's Big Question: How can your exhibit show a visitor what a young geographer-citizen sees, knows, and chooses?</a:t>
            </a:r>
            <a:endParaRPr lang="en-US" sz="1350" dirty="0"/>
          </a:p>
        </p:txBody>
      </p:sp>
      <p:sp>
        <p:nvSpPr>
          <p:cNvPr id="6" name="Text 4"/>
          <p:cNvSpPr/>
          <p:nvPr/>
        </p:nvSpPr>
        <p:spPr>
          <a:xfrm>
            <a:off x="853440" y="3169920"/>
            <a:ext cx="10119360" cy="20726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0E1C42"/>
                </a:solidFill>
                <a:latin typeface="Calibri" pitchFamily="34" charset="0"/>
                <a:ea typeface="Calibri" pitchFamily="34" charset="-122"/>
                <a:cs typeface="Calibri" pitchFamily="34" charset="-120"/>
              </a:rPr>
              <a:t>Learn the four parts of a strong museum exhibit.</a:t>
            </a:r>
            <a:endParaRPr lang="en-US" sz="1450" dirty="0"/>
          </a:p>
          <a:p>
            <a:pPr marL="342900" indent="-342900">
              <a:spcAft>
                <a:spcPts val="1000"/>
              </a:spcAft>
              <a:buSzPct val="100000"/>
              <a:buChar char="•"/>
            </a:pPr>
            <a:r>
              <a:rPr lang="en-US" sz="1450" dirty="0">
                <a:solidFill>
                  <a:srgbClr val="0E1C42"/>
                </a:solidFill>
                <a:latin typeface="Calibri" pitchFamily="34" charset="0"/>
                <a:ea typeface="Calibri" pitchFamily="34" charset="-122"/>
                <a:cs typeface="Calibri" pitchFamily="34" charset="-120"/>
              </a:rPr>
              <a:t>Build map, source, community, and virtue pieces into your panel.</a:t>
            </a:r>
            <a:endParaRPr lang="en-US" sz="1450" dirty="0"/>
          </a:p>
          <a:p>
            <a:pPr marL="342900" indent="-342900">
              <a:spcAft>
                <a:spcPts val="1000"/>
              </a:spcAft>
              <a:buSzPct val="100000"/>
              <a:buChar char="•"/>
            </a:pPr>
            <a:r>
              <a:rPr lang="en-US" sz="1450" dirty="0">
                <a:solidFill>
                  <a:srgbClr val="0E1C42"/>
                </a:solidFill>
                <a:latin typeface="Calibri" pitchFamily="34" charset="0"/>
                <a:ea typeface="Calibri" pitchFamily="34" charset="-122"/>
                <a:cs typeface="Calibri" pitchFamily="34" charset="-120"/>
              </a:rPr>
              <a:t>Write short labels a real visitor could read and understand.</a:t>
            </a:r>
            <a:endParaRPr lang="en-US" sz="1450" dirty="0"/>
          </a:p>
        </p:txBody>
      </p:sp>
      <p:sp>
        <p:nvSpPr>
          <p:cNvPr id="7" name="Text 5"/>
          <p:cNvSpPr/>
          <p:nvPr/>
        </p:nvSpPr>
        <p:spPr>
          <a:xfrm>
            <a:off x="609600" y="554736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You'll need: Curator's Notebook, a pencil, and today's Lesson Page.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7056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VIRTUE SPOTLIGHT</a:t>
            </a:r>
            <a:endParaRPr lang="en-US" sz="1100" dirty="0"/>
          </a:p>
        </p:txBody>
      </p:sp>
      <p:sp>
        <p:nvSpPr>
          <p:cNvPr id="3" name="Text 1"/>
          <p:cNvSpPr/>
          <p:nvPr/>
        </p:nvSpPr>
        <p:spPr>
          <a:xfrm>
            <a:off x="609600" y="1158240"/>
            <a:ext cx="10972800" cy="79248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Courtesy</a:t>
            </a:r>
            <a:endParaRPr lang="en-US" sz="3400" dirty="0"/>
          </a:p>
        </p:txBody>
      </p:sp>
      <p:sp>
        <p:nvSpPr>
          <p:cNvPr id="4" name="Text 2"/>
          <p:cNvSpPr/>
          <p:nvPr/>
        </p:nvSpPr>
        <p:spPr>
          <a:xfrm>
            <a:off x="1341120" y="2133600"/>
            <a:ext cx="9144000" cy="103632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Courtesy at a museum means making your work easy for the visitor to read. Big labels. Clear words. No showing off.</a:t>
            </a:r>
            <a:endParaRPr lang="en-US" sz="1500" dirty="0"/>
          </a:p>
        </p:txBody>
      </p:sp>
      <p:sp>
        <p:nvSpPr>
          <p:cNvPr id="5" name="Shape 3"/>
          <p:cNvSpPr/>
          <p:nvPr/>
        </p:nvSpPr>
        <p:spPr>
          <a:xfrm>
            <a:off x="1584960" y="3352800"/>
            <a:ext cx="8656320" cy="1889760"/>
          </a:xfrm>
          <a:prstGeom prst="roundRect">
            <a:avLst>
              <a:gd name="adj" fmla="val 7742"/>
            </a:avLst>
          </a:prstGeom>
          <a:solidFill>
            <a:srgbClr val="1A2D5A"/>
          </a:solidFill>
          <a:ln w="19050">
            <a:solidFill>
              <a:srgbClr val="D4943A"/>
            </a:solidFill>
            <a:prstDash val="dash"/>
          </a:ln>
        </p:spPr>
      </p:sp>
      <p:sp>
        <p:nvSpPr>
          <p:cNvPr id="6" name="Text 4"/>
          <p:cNvSpPr/>
          <p:nvPr/>
        </p:nvSpPr>
        <p:spPr>
          <a:xfrm>
            <a:off x="1889760" y="3535680"/>
            <a:ext cx="8046720" cy="1524000"/>
          </a:xfrm>
          <a:prstGeom prst="rect">
            <a:avLst/>
          </a:prstGeom>
          <a:noFill/>
          <a:ln/>
        </p:spPr>
        <p:txBody>
          <a:bodyPr wrap="square" lIns="0" tIns="0" rIns="0" bIns="0" rtlCol="0" anchor="ctr"/>
          <a:lstStyle/>
          <a:p>
            <a:pPr algn="ctr" indent="0" marL="0">
              <a:buNone/>
            </a:pPr>
            <a:r>
              <a:rPr lang="en-US" sz="1350" i="1" dirty="0">
                <a:solidFill>
                  <a:srgbClr val="FFF3DC"/>
                </a:solidFill>
                <a:latin typeface="Cambria" pitchFamily="34" charset="0"/>
                <a:ea typeface="Cambria" pitchFamily="34" charset="-122"/>
                <a:cs typeface="Cambria" pitchFamily="34" charset="-120"/>
              </a:rPr>
              <a:t>Curators write for the visitor, not for themselves. That's what courtesy looks like at the museum. Every label you build today should follow this rule -- clear, kind, and easy to read.</a:t>
            </a:r>
            <a:endParaRPr lang="en-US" sz="1350" dirty="0"/>
          </a:p>
        </p:txBody>
      </p:sp>
      <p:sp>
        <p:nvSpPr>
          <p:cNvPr id="7" name="Text 5"/>
          <p:cNvSpPr/>
          <p:nvPr/>
        </p:nvSpPr>
        <p:spPr>
          <a:xfrm>
            <a:off x="1341120" y="5547360"/>
            <a:ext cx="9144000" cy="548640"/>
          </a:xfrm>
          <a:prstGeom prst="rect">
            <a:avLst/>
          </a:prstGeom>
          <a:noFill/>
          <a:ln/>
        </p:spPr>
        <p:txBody>
          <a:bodyPr wrap="square" lIns="0" tIns="0" rIns="0" bIns="0" rtlCol="0" anchor="ctr"/>
          <a:lstStyle/>
          <a:p>
            <a:pPr algn="ctr" indent="0" marL="0">
              <a:buNone/>
            </a:pPr>
            <a:r>
              <a:rPr lang="en-US" sz="1250" i="1" dirty="0">
                <a:solidFill>
                  <a:srgbClr val="EAF8FD"/>
                </a:solidFill>
                <a:latin typeface="Calibri" pitchFamily="34" charset="0"/>
                <a:ea typeface="Calibri" pitchFamily="34" charset="-122"/>
                <a:cs typeface="Calibri" pitchFamily="34" charset="-120"/>
              </a:rPr>
              <a:t>Your Role Today: still an Exhibit Designer -- but today, hands-on. Build all four parts of your panel.</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WORKSHOP STATION 1 · MAP EVIDENCE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Does "Where" Look Like?</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close-up of a student's blank exhibit panel with a taped map cut-out, a small compass-rose sticker, and a red push-pin marking one spot -- no labels written yet.</a:t>
            </a:r>
            <a:endParaRPr lang="en-US" sz="1100" dirty="0"/>
          </a:p>
        </p:txBody>
      </p:sp>
      <p:sp>
        <p:nvSpPr>
          <p:cNvPr id="7" name="Text 5"/>
          <p:cNvSpPr/>
          <p:nvPr/>
        </p:nvSpPr>
        <p:spPr>
          <a:xfrm>
            <a:off x="7010400" y="1645920"/>
            <a:ext cx="4267200" cy="158496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Map evidence shows the visitor where. Pick a place you've studied -- a country, a region, a city, or even a continent. Add a title, a compass rose, and a small label pointing to the spot.</a:t>
            </a:r>
            <a:endParaRPr lang="en-US" sz="1250" dirty="0"/>
          </a:p>
        </p:txBody>
      </p:sp>
      <p:sp>
        <p:nvSpPr>
          <p:cNvPr id="8" name="Shape 6"/>
          <p:cNvSpPr/>
          <p:nvPr/>
        </p:nvSpPr>
        <p:spPr>
          <a:xfrm>
            <a:off x="7010400" y="3352800"/>
            <a:ext cx="4206240" cy="1767840"/>
          </a:xfrm>
          <a:prstGeom prst="roundRect">
            <a:avLst>
              <a:gd name="adj" fmla="val 8276"/>
            </a:avLst>
          </a:prstGeom>
          <a:solidFill>
            <a:srgbClr val="FFF3DC"/>
          </a:solidFill>
          <a:ln w="19050">
            <a:solidFill>
              <a:srgbClr val="F5E6C8"/>
            </a:solidFill>
            <a:prstDash val="solid"/>
          </a:ln>
        </p:spPr>
      </p:sp>
      <p:sp>
        <p:nvSpPr>
          <p:cNvPr id="9" name="Text 7"/>
          <p:cNvSpPr/>
          <p:nvPr/>
        </p:nvSpPr>
        <p:spPr>
          <a:xfrm>
            <a:off x="7193280" y="342595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694176"/>
            <a:ext cx="3840480" cy="1341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place my map will show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map skill I'll use is..."</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Picture your own map before we discuss.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YOU'VE GOT IT: MAP EVIDENCE</a:t>
            </a:r>
            <a:endParaRPr lang="en-US" sz="1100" dirty="0"/>
          </a:p>
        </p:txBody>
      </p:sp>
      <p:sp>
        <p:nvSpPr>
          <p:cNvPr id="3" name="Text 1"/>
          <p:cNvSpPr/>
          <p:nvPr/>
        </p:nvSpPr>
        <p:spPr>
          <a:xfrm>
            <a:off x="609600" y="1097280"/>
            <a:ext cx="10972800" cy="67056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Weak Label vs. Strong Label</a:t>
            </a:r>
            <a:endParaRPr lang="en-US" sz="2600" dirty="0"/>
          </a:p>
        </p:txBody>
      </p:sp>
      <p:sp>
        <p:nvSpPr>
          <p:cNvPr id="4" name="Shape 2"/>
          <p:cNvSpPr/>
          <p:nvPr/>
        </p:nvSpPr>
        <p:spPr>
          <a:xfrm>
            <a:off x="609600" y="1950720"/>
            <a:ext cx="5242560" cy="3169920"/>
          </a:xfrm>
          <a:prstGeom prst="roundRect">
            <a:avLst>
              <a:gd name="adj" fmla="val 4615"/>
            </a:avLst>
          </a:prstGeom>
          <a:solidFill>
            <a:srgbClr val="1A2D5A"/>
          </a:solidFill>
          <a:ln/>
        </p:spPr>
      </p:sp>
      <p:sp>
        <p:nvSpPr>
          <p:cNvPr id="5" name="Text 3"/>
          <p:cNvSpPr/>
          <p:nvPr/>
        </p:nvSpPr>
        <p:spPr>
          <a:xfrm>
            <a:off x="853440" y="2133600"/>
            <a:ext cx="4754880" cy="365760"/>
          </a:xfrm>
          <a:prstGeom prst="rect">
            <a:avLst/>
          </a:prstGeom>
          <a:noFill/>
          <a:ln/>
        </p:spPr>
        <p:txBody>
          <a:bodyPr wrap="square" lIns="0" tIns="0" rIns="0" bIns="0" rtlCol="0" anchor="ctr"/>
          <a:lstStyle/>
          <a:p>
            <a:pPr indent="0" marL="0">
              <a:buNone/>
            </a:pPr>
            <a:r>
              <a:rPr lang="en-US" sz="1300" b="1" spc="150" kern="0" dirty="0">
                <a:solidFill>
                  <a:srgbClr val="E8636B"/>
                </a:solidFill>
                <a:latin typeface="Calibri" pitchFamily="34" charset="0"/>
                <a:ea typeface="Calibri" pitchFamily="34" charset="-122"/>
                <a:cs typeface="Calibri" pitchFamily="34" charset="-120"/>
              </a:rPr>
              <a:t>WEAK</a:t>
            </a:r>
            <a:endParaRPr lang="en-US" sz="1300" dirty="0"/>
          </a:p>
        </p:txBody>
      </p:sp>
      <p:sp>
        <p:nvSpPr>
          <p:cNvPr id="6" name="Text 4"/>
          <p:cNvSpPr/>
          <p:nvPr/>
        </p:nvSpPr>
        <p:spPr>
          <a:xfrm>
            <a:off x="853440" y="2560320"/>
            <a:ext cx="4754880" cy="243840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"This is a map."</a:t>
            </a:r>
            <a:endParaRPr lang="en-US" sz="1400" dirty="0"/>
          </a:p>
        </p:txBody>
      </p:sp>
      <p:sp>
        <p:nvSpPr>
          <p:cNvPr id="7" name="Shape 5"/>
          <p:cNvSpPr/>
          <p:nvPr/>
        </p:nvSpPr>
        <p:spPr>
          <a:xfrm>
            <a:off x="6035040" y="1950720"/>
            <a:ext cx="5242560" cy="3169920"/>
          </a:xfrm>
          <a:prstGeom prst="roundRect">
            <a:avLst>
              <a:gd name="adj" fmla="val 4615"/>
            </a:avLst>
          </a:prstGeom>
          <a:solidFill>
            <a:srgbClr val="1A2D5A"/>
          </a:solidFill>
          <a:ln w="19050">
            <a:solidFill>
              <a:srgbClr val="D4943A"/>
            </a:solidFill>
            <a:prstDash val="solid"/>
          </a:ln>
        </p:spPr>
      </p:sp>
      <p:sp>
        <p:nvSpPr>
          <p:cNvPr id="8" name="Text 6"/>
          <p:cNvSpPr/>
          <p:nvPr/>
        </p:nvSpPr>
        <p:spPr>
          <a:xfrm>
            <a:off x="6278880" y="2133600"/>
            <a:ext cx="4754880" cy="365760"/>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libri" pitchFamily="34" charset="0"/>
                <a:ea typeface="Calibri" pitchFamily="34" charset="-122"/>
                <a:cs typeface="Calibri" pitchFamily="34" charset="-120"/>
              </a:rPr>
              <a:t>STRONG</a:t>
            </a:r>
            <a:endParaRPr lang="en-US" sz="1300" dirty="0"/>
          </a:p>
        </p:txBody>
      </p:sp>
      <p:sp>
        <p:nvSpPr>
          <p:cNvPr id="9" name="Text 7"/>
          <p:cNvSpPr/>
          <p:nvPr/>
        </p:nvSpPr>
        <p:spPr>
          <a:xfrm>
            <a:off x="6278880" y="2560320"/>
            <a:ext cx="4754880" cy="2438400"/>
          </a:xfrm>
          <a:prstGeom prst="rect">
            <a:avLst/>
          </a:prstGeom>
          <a:noFill/>
          <a:ln/>
        </p:spPr>
        <p:txBody>
          <a:bodyPr wrap="square" lIns="0" tIns="0" rIns="0" bIns="0" rtlCol="0" anchor="t"/>
          <a:lstStyle/>
          <a:p>
            <a:pPr indent="0" marL="0">
              <a:buNone/>
            </a:pPr>
            <a:r>
              <a:rPr lang="en-US" sz="1300" i="1" dirty="0">
                <a:solidFill>
                  <a:srgbClr val="FFF3DC"/>
                </a:solidFill>
                <a:latin typeface="Cambria" pitchFamily="34" charset="0"/>
                <a:ea typeface="Cambria" pitchFamily="34" charset="-122"/>
                <a:cs typeface="Cambria" pitchFamily="34" charset="-120"/>
              </a:rPr>
              <a:t>"This map shows the Northeast Region of the U.S. -- where many big cities and old harbors are."</a:t>
            </a:r>
            <a:endParaRPr lang="en-US" sz="1300" dirty="0"/>
          </a:p>
        </p:txBody>
      </p:sp>
      <p:sp>
        <p:nvSpPr>
          <p:cNvPr id="10" name="Text 8"/>
          <p:cNvSpPr/>
          <p:nvPr/>
        </p:nvSpPr>
        <p:spPr>
          <a:xfrm>
            <a:off x="1341120" y="5486400"/>
            <a:ext cx="9144000" cy="60960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one map skill you could add to your own exhibit.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WORKSHOP STATION 2 · SOURCE EVIDENCE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Does "Who Said So" Look Like?</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close-up of a curator's workspace with a photograph, a small bar-chart printout, a quote card, and an old document spread out side by side -- four kinds of sources, unlabeled, waiting to be chosen.</a:t>
            </a:r>
            <a:endParaRPr lang="en-US" sz="1100" dirty="0"/>
          </a:p>
        </p:txBody>
      </p:sp>
      <p:sp>
        <p:nvSpPr>
          <p:cNvPr id="7" name="Text 5"/>
          <p:cNvSpPr/>
          <p:nvPr/>
        </p:nvSpPr>
        <p:spPr>
          <a:xfrm>
            <a:off x="7010400" y="1645920"/>
            <a:ext cx="4267200" cy="170688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Source evidence shows the visitor who said so. A photo, a chart, a quote, or a primary document proves your exhibit isn't just a story -- it's about a real place with real people.</a:t>
            </a:r>
            <a:endParaRPr lang="en-US" sz="1250" dirty="0"/>
          </a:p>
        </p:txBody>
      </p:sp>
      <p:sp>
        <p:nvSpPr>
          <p:cNvPr id="8" name="Shape 6"/>
          <p:cNvSpPr/>
          <p:nvPr/>
        </p:nvSpPr>
        <p:spPr>
          <a:xfrm>
            <a:off x="7010400" y="3474720"/>
            <a:ext cx="4206240" cy="1645920"/>
          </a:xfrm>
          <a:prstGeom prst="roundRect">
            <a:avLst>
              <a:gd name="adj" fmla="val 8889"/>
            </a:avLst>
          </a:prstGeom>
          <a:solidFill>
            <a:srgbClr val="FFF3DC"/>
          </a:solidFill>
          <a:ln w="19050">
            <a:solidFill>
              <a:srgbClr val="F5E6C8"/>
            </a:solidFill>
            <a:prstDash val="solid"/>
          </a:ln>
        </p:spPr>
      </p:sp>
      <p:sp>
        <p:nvSpPr>
          <p:cNvPr id="9" name="Text 7"/>
          <p:cNvSpPr/>
          <p:nvPr/>
        </p:nvSpPr>
        <p:spPr>
          <a:xfrm>
            <a:off x="7193280" y="354787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3816096"/>
            <a:ext cx="384048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source I'll use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picked it because..."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Decide which kind of source fits your exhibit.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YOU'VE GOT IT: SOURCE EVIDENCE</a:t>
            </a:r>
            <a:endParaRPr lang="en-US" sz="1100" dirty="0"/>
          </a:p>
        </p:txBody>
      </p:sp>
      <p:sp>
        <p:nvSpPr>
          <p:cNvPr id="3" name="Text 1"/>
          <p:cNvSpPr/>
          <p:nvPr/>
        </p:nvSpPr>
        <p:spPr>
          <a:xfrm>
            <a:off x="609600" y="1097280"/>
            <a:ext cx="10972800" cy="67056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Weak Label vs. Strong Label</a:t>
            </a:r>
            <a:endParaRPr lang="en-US" sz="2600" dirty="0"/>
          </a:p>
        </p:txBody>
      </p:sp>
      <p:sp>
        <p:nvSpPr>
          <p:cNvPr id="4" name="Shape 2"/>
          <p:cNvSpPr/>
          <p:nvPr/>
        </p:nvSpPr>
        <p:spPr>
          <a:xfrm>
            <a:off x="609600" y="1950720"/>
            <a:ext cx="5242560" cy="3169920"/>
          </a:xfrm>
          <a:prstGeom prst="roundRect">
            <a:avLst>
              <a:gd name="adj" fmla="val 4615"/>
            </a:avLst>
          </a:prstGeom>
          <a:solidFill>
            <a:srgbClr val="1A2D5A"/>
          </a:solidFill>
          <a:ln/>
        </p:spPr>
      </p:sp>
      <p:sp>
        <p:nvSpPr>
          <p:cNvPr id="5" name="Text 3"/>
          <p:cNvSpPr/>
          <p:nvPr/>
        </p:nvSpPr>
        <p:spPr>
          <a:xfrm>
            <a:off x="853440" y="2133600"/>
            <a:ext cx="4754880" cy="365760"/>
          </a:xfrm>
          <a:prstGeom prst="rect">
            <a:avLst/>
          </a:prstGeom>
          <a:noFill/>
          <a:ln/>
        </p:spPr>
        <p:txBody>
          <a:bodyPr wrap="square" lIns="0" tIns="0" rIns="0" bIns="0" rtlCol="0" anchor="ctr"/>
          <a:lstStyle/>
          <a:p>
            <a:pPr indent="0" marL="0">
              <a:buNone/>
            </a:pPr>
            <a:r>
              <a:rPr lang="en-US" sz="1300" b="1" spc="150" kern="0" dirty="0">
                <a:solidFill>
                  <a:srgbClr val="E8636B"/>
                </a:solidFill>
                <a:latin typeface="Calibri" pitchFamily="34" charset="0"/>
                <a:ea typeface="Calibri" pitchFamily="34" charset="-122"/>
                <a:cs typeface="Calibri" pitchFamily="34" charset="-120"/>
              </a:rPr>
              <a:t>WEAK</a:t>
            </a:r>
            <a:endParaRPr lang="en-US" sz="1300" dirty="0"/>
          </a:p>
        </p:txBody>
      </p:sp>
      <p:sp>
        <p:nvSpPr>
          <p:cNvPr id="6" name="Text 4"/>
          <p:cNvSpPr/>
          <p:nvPr/>
        </p:nvSpPr>
        <p:spPr>
          <a:xfrm>
            <a:off x="853440" y="2560320"/>
            <a:ext cx="4754880" cy="243840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"A chart of stuff."</a:t>
            </a:r>
            <a:endParaRPr lang="en-US" sz="1400" dirty="0"/>
          </a:p>
        </p:txBody>
      </p:sp>
      <p:sp>
        <p:nvSpPr>
          <p:cNvPr id="7" name="Shape 5"/>
          <p:cNvSpPr/>
          <p:nvPr/>
        </p:nvSpPr>
        <p:spPr>
          <a:xfrm>
            <a:off x="6035040" y="1950720"/>
            <a:ext cx="5242560" cy="3169920"/>
          </a:xfrm>
          <a:prstGeom prst="roundRect">
            <a:avLst>
              <a:gd name="adj" fmla="val 4615"/>
            </a:avLst>
          </a:prstGeom>
          <a:solidFill>
            <a:srgbClr val="1A2D5A"/>
          </a:solidFill>
          <a:ln w="19050">
            <a:solidFill>
              <a:srgbClr val="D4943A"/>
            </a:solidFill>
            <a:prstDash val="solid"/>
          </a:ln>
        </p:spPr>
      </p:sp>
      <p:sp>
        <p:nvSpPr>
          <p:cNvPr id="8" name="Text 6"/>
          <p:cNvSpPr/>
          <p:nvPr/>
        </p:nvSpPr>
        <p:spPr>
          <a:xfrm>
            <a:off x="6278880" y="2133600"/>
            <a:ext cx="4754880" cy="365760"/>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libri" pitchFamily="34" charset="0"/>
                <a:ea typeface="Calibri" pitchFamily="34" charset="-122"/>
                <a:cs typeface="Calibri" pitchFamily="34" charset="-120"/>
              </a:rPr>
              <a:t>STRONG</a:t>
            </a:r>
            <a:endParaRPr lang="en-US" sz="1300" dirty="0"/>
          </a:p>
        </p:txBody>
      </p:sp>
      <p:sp>
        <p:nvSpPr>
          <p:cNvPr id="9" name="Text 7"/>
          <p:cNvSpPr/>
          <p:nvPr/>
        </p:nvSpPr>
        <p:spPr>
          <a:xfrm>
            <a:off x="6278880" y="2560320"/>
            <a:ext cx="4754880" cy="2438400"/>
          </a:xfrm>
          <a:prstGeom prst="rect">
            <a:avLst/>
          </a:prstGeom>
          <a:noFill/>
          <a:ln/>
        </p:spPr>
        <p:txBody>
          <a:bodyPr wrap="square" lIns="0" tIns="0" rIns="0" bIns="0" rtlCol="0" anchor="t"/>
          <a:lstStyle/>
          <a:p>
            <a:pPr indent="0" marL="0">
              <a:buNone/>
            </a:pPr>
            <a:r>
              <a:rPr lang="en-US" sz="1250" i="1" dirty="0">
                <a:solidFill>
                  <a:srgbClr val="FFF3DC"/>
                </a:solidFill>
                <a:latin typeface="Cambria" pitchFamily="34" charset="0"/>
                <a:ea typeface="Cambria" pitchFamily="34" charset="-122"/>
                <a:cs typeface="Cambria" pitchFamily="34" charset="-120"/>
              </a:rPr>
              <a:t>"A chart showing how much rain the Caribbean gets each month -- it explains why some crops grow well there."</a:t>
            </a:r>
            <a:endParaRPr lang="en-US" sz="1250" dirty="0"/>
          </a:p>
        </p:txBody>
      </p:sp>
      <p:sp>
        <p:nvSpPr>
          <p:cNvPr id="10" name="Text 8"/>
          <p:cNvSpPr/>
          <p:nvPr/>
        </p:nvSpPr>
        <p:spPr>
          <a:xfrm>
            <a:off x="1341120" y="5486400"/>
            <a:ext cx="9144000" cy="60960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the four kinds of sources a curator can 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WORKSHOP STATION 3 · COMMUNITY CONNECTION</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Does "Why It Matters" Look Like?</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corkboard collage with a photo of local farmers, a folded ballot, a plate of a holiday food, and a small government-building icon -- representing work, government, food, and celebration.</a:t>
            </a:r>
            <a:endParaRPr lang="en-US" sz="1100" dirty="0"/>
          </a:p>
        </p:txBody>
      </p:sp>
      <p:sp>
        <p:nvSpPr>
          <p:cNvPr id="7" name="Text 5"/>
          <p:cNvSpPr/>
          <p:nvPr/>
        </p:nvSpPr>
        <p:spPr>
          <a:xfrm>
            <a:off x="7010400" y="1645920"/>
            <a:ext cx="4267200" cy="21336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Community connection shows the visitor why it matters to people. What do people do for work? What do they eat? What do they celebrate? How is their government different from yours? This is the heart of the exhibit.</a:t>
            </a:r>
            <a:endParaRPr lang="en-US" sz="1200" dirty="0"/>
          </a:p>
        </p:txBody>
      </p:sp>
      <p:sp>
        <p:nvSpPr>
          <p:cNvPr id="8" name="Shape 6"/>
          <p:cNvSpPr/>
          <p:nvPr/>
        </p:nvSpPr>
        <p:spPr>
          <a:xfrm>
            <a:off x="7010400" y="3901440"/>
            <a:ext cx="4206240" cy="1280160"/>
          </a:xfrm>
          <a:prstGeom prst="roundRect">
            <a:avLst>
              <a:gd name="adj" fmla="val 11429"/>
            </a:avLst>
          </a:prstGeom>
          <a:solidFill>
            <a:srgbClr val="FFF3DC"/>
          </a:solidFill>
          <a:ln w="19050">
            <a:solidFill>
              <a:srgbClr val="F5E6C8"/>
            </a:solidFill>
            <a:prstDash val="solid"/>
          </a:ln>
        </p:spPr>
      </p:sp>
      <p:sp>
        <p:nvSpPr>
          <p:cNvPr id="9" name="Text 7"/>
          <p:cNvSpPr/>
          <p:nvPr/>
        </p:nvSpPr>
        <p:spPr>
          <a:xfrm>
            <a:off x="7193280" y="397459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4242816"/>
            <a:ext cx="3840480" cy="853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community or region my exhibit teaches about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it because..."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Think of one detail that makes your place feel real.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512064"/>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YOU'VE GOT IT: COMMUNITY CONNECTION</a:t>
            </a:r>
            <a:endParaRPr lang="en-US" sz="1100" dirty="0"/>
          </a:p>
        </p:txBody>
      </p:sp>
      <p:sp>
        <p:nvSpPr>
          <p:cNvPr id="3" name="Text 1"/>
          <p:cNvSpPr/>
          <p:nvPr/>
        </p:nvSpPr>
        <p:spPr>
          <a:xfrm>
            <a:off x="609600" y="975360"/>
            <a:ext cx="10972800" cy="609600"/>
          </a:xfrm>
          <a:prstGeom prst="rect">
            <a:avLst/>
          </a:prstGeom>
          <a:noFill/>
          <a:ln/>
        </p:spPr>
        <p:txBody>
          <a:bodyPr wrap="square" lIns="0" tIns="0" rIns="0" bIns="0"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Weak Label vs. Strong Label</a:t>
            </a:r>
            <a:endParaRPr lang="en-US" sz="2400" dirty="0"/>
          </a:p>
        </p:txBody>
      </p:sp>
      <p:sp>
        <p:nvSpPr>
          <p:cNvPr id="4" name="Shape 2"/>
          <p:cNvSpPr/>
          <p:nvPr/>
        </p:nvSpPr>
        <p:spPr>
          <a:xfrm>
            <a:off x="609600" y="1767840"/>
            <a:ext cx="10607040" cy="1767840"/>
          </a:xfrm>
          <a:prstGeom prst="roundRect">
            <a:avLst>
              <a:gd name="adj" fmla="val 8276"/>
            </a:avLst>
          </a:prstGeom>
          <a:solidFill>
            <a:srgbClr val="1A2D5A"/>
          </a:solidFill>
          <a:ln/>
        </p:spPr>
      </p:sp>
      <p:sp>
        <p:nvSpPr>
          <p:cNvPr id="5" name="Text 3"/>
          <p:cNvSpPr/>
          <p:nvPr/>
        </p:nvSpPr>
        <p:spPr>
          <a:xfrm>
            <a:off x="853440" y="1926336"/>
            <a:ext cx="10119360" cy="365760"/>
          </a:xfrm>
          <a:prstGeom prst="rect">
            <a:avLst/>
          </a:prstGeom>
          <a:noFill/>
          <a:ln/>
        </p:spPr>
        <p:txBody>
          <a:bodyPr wrap="square" lIns="0" tIns="0" rIns="0" bIns="0" rtlCol="0" anchor="ctr"/>
          <a:lstStyle/>
          <a:p>
            <a:pPr indent="0" marL="0">
              <a:buNone/>
            </a:pPr>
            <a:r>
              <a:rPr lang="en-US" sz="1250" b="1" dirty="0">
                <a:solidFill>
                  <a:srgbClr val="E8636B"/>
                </a:solidFill>
                <a:latin typeface="Calibri" pitchFamily="34" charset="0"/>
                <a:ea typeface="Calibri" pitchFamily="34" charset="-122"/>
                <a:cs typeface="Calibri" pitchFamily="34" charset="-120"/>
              </a:rPr>
              <a:t>WEAK: "People live here."</a:t>
            </a:r>
            <a:endParaRPr lang="en-US" sz="1250" dirty="0"/>
          </a:p>
        </p:txBody>
      </p:sp>
      <p:sp>
        <p:nvSpPr>
          <p:cNvPr id="6" name="Text 4"/>
          <p:cNvSpPr/>
          <p:nvPr/>
        </p:nvSpPr>
        <p:spPr>
          <a:xfrm>
            <a:off x="853440" y="2377440"/>
            <a:ext cx="10119360" cy="1036320"/>
          </a:xfrm>
          <a:prstGeom prst="rect">
            <a:avLst/>
          </a:prstGeom>
          <a:noFill/>
          <a:ln/>
        </p:spPr>
        <p:txBody>
          <a:bodyPr wrap="square" lIns="0" tIns="0" rIns="0" bIns="0" rtlCol="0" anchor="t"/>
          <a:lstStyle/>
          <a:p>
            <a:pPr indent="0" marL="0">
              <a:buNone/>
            </a:pPr>
            <a:r>
              <a:rPr lang="en-US" sz="1300" i="1" dirty="0">
                <a:solidFill>
                  <a:srgbClr val="FFF3DC"/>
                </a:solidFill>
                <a:latin typeface="Cambria" pitchFamily="34" charset="0"/>
                <a:ea typeface="Cambria" pitchFamily="34" charset="-122"/>
                <a:cs typeface="Cambria" pitchFamily="34" charset="-120"/>
              </a:rPr>
              <a:t>STRONG: "Farmers in the Midwest grow food that travels all over the country -- so their work feeds far away communities."</a:t>
            </a:r>
            <a:endParaRPr lang="en-US" sz="1300" dirty="0"/>
          </a:p>
        </p:txBody>
      </p:sp>
      <p:sp>
        <p:nvSpPr>
          <p:cNvPr id="7" name="Shape 5"/>
          <p:cNvSpPr/>
          <p:nvPr/>
        </p:nvSpPr>
        <p:spPr>
          <a:xfrm>
            <a:off x="609600" y="3718560"/>
            <a:ext cx="10607040" cy="1767840"/>
          </a:xfrm>
          <a:prstGeom prst="roundRect">
            <a:avLst>
              <a:gd name="adj" fmla="val 8276"/>
            </a:avLst>
          </a:prstGeom>
          <a:solidFill>
            <a:srgbClr val="1A2D5A"/>
          </a:solidFill>
          <a:ln w="19050">
            <a:solidFill>
              <a:srgbClr val="D4943A"/>
            </a:solidFill>
            <a:prstDash val="solid"/>
          </a:ln>
        </p:spPr>
      </p:sp>
      <p:sp>
        <p:nvSpPr>
          <p:cNvPr id="8" name="Text 6"/>
          <p:cNvSpPr/>
          <p:nvPr/>
        </p:nvSpPr>
        <p:spPr>
          <a:xfrm>
            <a:off x="853440" y="3877056"/>
            <a:ext cx="10119360" cy="365760"/>
          </a:xfrm>
          <a:prstGeom prst="rect">
            <a:avLst/>
          </a:prstGeom>
          <a:noFill/>
          <a:ln/>
        </p:spPr>
        <p:txBody>
          <a:bodyPr wrap="square" lIns="0" tIns="0" rIns="0" bIns="0" rtlCol="0" anchor="ctr"/>
          <a:lstStyle/>
          <a:p>
            <a:pPr indent="0" marL="0">
              <a:buNone/>
            </a:pPr>
            <a:r>
              <a:rPr lang="en-US" sz="1250" b="1" dirty="0">
                <a:solidFill>
                  <a:srgbClr val="E8636B"/>
                </a:solidFill>
                <a:latin typeface="Calibri" pitchFamily="34" charset="0"/>
                <a:ea typeface="Calibri" pitchFamily="34" charset="-122"/>
                <a:cs typeface="Calibri" pitchFamily="34" charset="-120"/>
              </a:rPr>
              <a:t>WEAK: "This is important."</a:t>
            </a:r>
            <a:endParaRPr lang="en-US" sz="1250" dirty="0"/>
          </a:p>
        </p:txBody>
      </p:sp>
      <p:sp>
        <p:nvSpPr>
          <p:cNvPr id="9" name="Text 7"/>
          <p:cNvSpPr/>
          <p:nvPr/>
        </p:nvSpPr>
        <p:spPr>
          <a:xfrm>
            <a:off x="853440" y="4328160"/>
            <a:ext cx="10119360" cy="1036320"/>
          </a:xfrm>
          <a:prstGeom prst="rect">
            <a:avLst/>
          </a:prstGeom>
          <a:noFill/>
          <a:ln/>
        </p:spPr>
        <p:txBody>
          <a:bodyPr wrap="square" lIns="0" tIns="0" rIns="0" bIns="0" rtlCol="0" anchor="t"/>
          <a:lstStyle/>
          <a:p>
            <a:pPr indent="0" marL="0">
              <a:buNone/>
            </a:pPr>
            <a:r>
              <a:rPr lang="en-US" sz="1300" i="1" dirty="0">
                <a:solidFill>
                  <a:srgbClr val="FFF3DC"/>
                </a:solidFill>
                <a:latin typeface="Cambria" pitchFamily="34" charset="0"/>
                <a:ea typeface="Cambria" pitchFamily="34" charset="-122"/>
                <a:cs typeface="Cambria" pitchFamily="34" charset="-120"/>
              </a:rPr>
              <a:t>STRONG: "Voting matters because it lets a whole community choose who makes the rules -- not just one person."</a:t>
            </a:r>
            <a:endParaRPr lang="en-US" sz="1300" dirty="0"/>
          </a:p>
        </p:txBody>
      </p:sp>
      <p:sp>
        <p:nvSpPr>
          <p:cNvPr id="10" name="Text 8"/>
          <p:cNvSpPr/>
          <p:nvPr/>
        </p:nvSpPr>
        <p:spPr>
          <a:xfrm>
            <a:off x="1219200" y="5669280"/>
            <a:ext cx="9387840" cy="609600"/>
          </a:xfrm>
          <a:prstGeom prst="rect">
            <a:avLst/>
          </a:prstGeom>
          <a:noFill/>
          <a:ln/>
        </p:spPr>
        <p:txBody>
          <a:bodyPr wrap="square" lIns="0" tIns="0" rIns="0" bIns="0" rtlCol="0" anchor="ctr"/>
          <a:lstStyle/>
          <a:p>
            <a:pPr algn="ctr" indent="0" marL="0">
              <a:buNone/>
            </a:pPr>
            <a:r>
              <a:rPr lang="en-US" sz="1200" i="1" dirty="0">
                <a:solidFill>
                  <a:srgbClr val="EAF8FD"/>
                </a:solidFill>
                <a:latin typeface="Calibri" pitchFamily="34" charset="0"/>
                <a:ea typeface="Calibri" pitchFamily="34" charset="-122"/>
                <a:cs typeface="Calibri" pitchFamily="34" charset="-120"/>
              </a:rPr>
              <a:t>Cover your screen. Name one thing a community label could describe -- work, food, celebration, or government.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WORKSHOP STATION 4 · CIVIC VIRTUE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What Does "What We Can Learn" Look Like?</a:t>
            </a:r>
            <a:endParaRPr lang="en-US" sz="2700" dirty="0"/>
          </a:p>
        </p:txBody>
      </p:sp>
      <p:sp>
        <p:nvSpPr>
          <p:cNvPr id="4" name="Shape 2"/>
          <p:cNvSpPr/>
          <p:nvPr/>
        </p:nvSpPr>
        <p:spPr>
          <a:xfrm>
            <a:off x="609600" y="1645920"/>
            <a:ext cx="6096000" cy="3535680"/>
          </a:xfrm>
          <a:prstGeom prst="roundRect">
            <a:avLst>
              <a:gd name="adj" fmla="val 4138"/>
            </a:avLst>
          </a:prstGeom>
          <a:solidFill>
            <a:srgbClr val="E2E8F4"/>
          </a:solidFill>
          <a:ln w="19050">
            <a:solidFill>
              <a:srgbClr val="B0B8CC"/>
            </a:solidFill>
            <a:prstDash val="dash"/>
          </a:ln>
        </p:spPr>
      </p:sp>
      <p:sp>
        <p:nvSpPr>
          <p:cNvPr id="5" name="Text 3"/>
          <p:cNvSpPr/>
          <p:nvPr/>
        </p:nvSpPr>
        <p:spPr>
          <a:xfrm>
            <a:off x="609600" y="164592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201168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close-up of a blank bronze-style plaque on an exhibit panel, waiting for one word to be engraved -- honesty, courage, service, or courtesy -- with a pencil resting nearby.</a:t>
            </a:r>
            <a:endParaRPr lang="en-US" sz="1100" dirty="0"/>
          </a:p>
        </p:txBody>
      </p:sp>
      <p:sp>
        <p:nvSpPr>
          <p:cNvPr id="7" name="Text 5"/>
          <p:cNvSpPr/>
          <p:nvPr/>
        </p:nvSpPr>
        <p:spPr>
          <a:xfrm>
            <a:off x="7010400" y="1645920"/>
            <a:ext cx="4267200" cy="21336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Civic virtue shows the visitor what we can learn. Pick a virtue -- honesty, courage, service, courtesy -- and explain how the people or the place show it. This is your invitation to the visitor: "Look here. See what we can be."</a:t>
            </a:r>
            <a:endParaRPr lang="en-US" sz="1200" dirty="0"/>
          </a:p>
        </p:txBody>
      </p:sp>
      <p:sp>
        <p:nvSpPr>
          <p:cNvPr id="8" name="Shape 6"/>
          <p:cNvSpPr/>
          <p:nvPr/>
        </p:nvSpPr>
        <p:spPr>
          <a:xfrm>
            <a:off x="7010400" y="3901440"/>
            <a:ext cx="4206240" cy="1280160"/>
          </a:xfrm>
          <a:prstGeom prst="roundRect">
            <a:avLst>
              <a:gd name="adj" fmla="val 11429"/>
            </a:avLst>
          </a:prstGeom>
          <a:solidFill>
            <a:srgbClr val="FFF3DC"/>
          </a:solidFill>
          <a:ln w="19050">
            <a:solidFill>
              <a:srgbClr val="F5E6C8"/>
            </a:solidFill>
            <a:prstDash val="solid"/>
          </a:ln>
        </p:spPr>
      </p:sp>
      <p:sp>
        <p:nvSpPr>
          <p:cNvPr id="9" name="Text 7"/>
          <p:cNvSpPr/>
          <p:nvPr/>
        </p:nvSpPr>
        <p:spPr>
          <a:xfrm>
            <a:off x="7193280" y="3974592"/>
            <a:ext cx="38404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193280" y="4242816"/>
            <a:ext cx="3840480" cy="853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virtue my exhibit will show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know this because..."</a:t>
            </a:r>
            <a:endParaRPr lang="en-US" sz="1200" dirty="0"/>
          </a:p>
        </p:txBody>
      </p:sp>
      <p:sp>
        <p:nvSpPr>
          <p:cNvPr id="11" name="Text 9"/>
          <p:cNvSpPr/>
          <p:nvPr/>
        </p:nvSpPr>
        <p:spPr>
          <a:xfrm>
            <a:off x="609600" y="5364480"/>
            <a:ext cx="10607040" cy="42672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Pause 5 seconds. Choose the virtue your exhibit will teach.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0"/>
            <a:ext cx="10972800" cy="365760"/>
          </a:xfrm>
          <a:prstGeom prst="rect">
            <a:avLst/>
          </a:prstGeom>
          <a:noFill/>
          <a:ln/>
        </p:spPr>
        <p:txBody>
          <a:bodyPr wrap="square" lIns="0" tIns="0" rIns="0" bIns="0" rtlCol="0" anchor="ctr"/>
          <a:lstStyle/>
          <a:p>
            <a:pPr algn="ctr" indent="0" marL="0">
              <a:buNone/>
            </a:pPr>
            <a:r>
              <a:rPr lang="en-US" sz="1100" b="1" spc="150" kern="0" dirty="0">
                <a:solidFill>
                  <a:srgbClr val="55C8E8"/>
                </a:solidFill>
                <a:latin typeface="Calibri" pitchFamily="34" charset="0"/>
                <a:ea typeface="Calibri" pitchFamily="34" charset="-122"/>
                <a:cs typeface="Calibri" pitchFamily="34" charset="-120"/>
              </a:rPr>
              <a:t>YOU'VE GOT IT: CIVIC VIRTUE</a:t>
            </a:r>
            <a:endParaRPr lang="en-US" sz="1100" dirty="0"/>
          </a:p>
        </p:txBody>
      </p:sp>
      <p:sp>
        <p:nvSpPr>
          <p:cNvPr id="3" name="Text 1"/>
          <p:cNvSpPr/>
          <p:nvPr/>
        </p:nvSpPr>
        <p:spPr>
          <a:xfrm>
            <a:off x="609600" y="1097280"/>
            <a:ext cx="10972800" cy="67056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Weak Label vs. Strong Label</a:t>
            </a:r>
            <a:endParaRPr lang="en-US" sz="2600" dirty="0"/>
          </a:p>
        </p:txBody>
      </p:sp>
      <p:sp>
        <p:nvSpPr>
          <p:cNvPr id="4" name="Shape 2"/>
          <p:cNvSpPr/>
          <p:nvPr/>
        </p:nvSpPr>
        <p:spPr>
          <a:xfrm>
            <a:off x="609600" y="1950720"/>
            <a:ext cx="5242560" cy="3169920"/>
          </a:xfrm>
          <a:prstGeom prst="roundRect">
            <a:avLst>
              <a:gd name="adj" fmla="val 4615"/>
            </a:avLst>
          </a:prstGeom>
          <a:solidFill>
            <a:srgbClr val="1A2D5A"/>
          </a:solidFill>
          <a:ln/>
        </p:spPr>
      </p:sp>
      <p:sp>
        <p:nvSpPr>
          <p:cNvPr id="5" name="Text 3"/>
          <p:cNvSpPr/>
          <p:nvPr/>
        </p:nvSpPr>
        <p:spPr>
          <a:xfrm>
            <a:off x="853440" y="2133600"/>
            <a:ext cx="4754880" cy="365760"/>
          </a:xfrm>
          <a:prstGeom prst="rect">
            <a:avLst/>
          </a:prstGeom>
          <a:noFill/>
          <a:ln/>
        </p:spPr>
        <p:txBody>
          <a:bodyPr wrap="square" lIns="0" tIns="0" rIns="0" bIns="0" rtlCol="0" anchor="ctr"/>
          <a:lstStyle/>
          <a:p>
            <a:pPr indent="0" marL="0">
              <a:buNone/>
            </a:pPr>
            <a:r>
              <a:rPr lang="en-US" sz="1300" b="1" spc="150" kern="0" dirty="0">
                <a:solidFill>
                  <a:srgbClr val="E8636B"/>
                </a:solidFill>
                <a:latin typeface="Calibri" pitchFamily="34" charset="0"/>
                <a:ea typeface="Calibri" pitchFamily="34" charset="-122"/>
                <a:cs typeface="Calibri" pitchFamily="34" charset="-120"/>
              </a:rPr>
              <a:t>WEAK</a:t>
            </a:r>
            <a:endParaRPr lang="en-US" sz="1300" dirty="0"/>
          </a:p>
        </p:txBody>
      </p:sp>
      <p:sp>
        <p:nvSpPr>
          <p:cNvPr id="6" name="Text 4"/>
          <p:cNvSpPr/>
          <p:nvPr/>
        </p:nvSpPr>
        <p:spPr>
          <a:xfrm>
            <a:off x="853440" y="2560320"/>
            <a:ext cx="4754880" cy="243840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"They show courage."</a:t>
            </a:r>
            <a:endParaRPr lang="en-US" sz="1400" dirty="0"/>
          </a:p>
        </p:txBody>
      </p:sp>
      <p:sp>
        <p:nvSpPr>
          <p:cNvPr id="7" name="Shape 5"/>
          <p:cNvSpPr/>
          <p:nvPr/>
        </p:nvSpPr>
        <p:spPr>
          <a:xfrm>
            <a:off x="6035040" y="1950720"/>
            <a:ext cx="5242560" cy="3169920"/>
          </a:xfrm>
          <a:prstGeom prst="roundRect">
            <a:avLst>
              <a:gd name="adj" fmla="val 4615"/>
            </a:avLst>
          </a:prstGeom>
          <a:solidFill>
            <a:srgbClr val="1A2D5A"/>
          </a:solidFill>
          <a:ln w="19050">
            <a:solidFill>
              <a:srgbClr val="D4943A"/>
            </a:solidFill>
            <a:prstDash val="solid"/>
          </a:ln>
        </p:spPr>
      </p:sp>
      <p:sp>
        <p:nvSpPr>
          <p:cNvPr id="8" name="Text 6"/>
          <p:cNvSpPr/>
          <p:nvPr/>
        </p:nvSpPr>
        <p:spPr>
          <a:xfrm>
            <a:off x="6278880" y="2133600"/>
            <a:ext cx="4754880" cy="365760"/>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libri" pitchFamily="34" charset="0"/>
                <a:ea typeface="Calibri" pitchFamily="34" charset="-122"/>
                <a:cs typeface="Calibri" pitchFamily="34" charset="-120"/>
              </a:rPr>
              <a:t>STRONG</a:t>
            </a:r>
            <a:endParaRPr lang="en-US" sz="1300" dirty="0"/>
          </a:p>
        </p:txBody>
      </p:sp>
      <p:sp>
        <p:nvSpPr>
          <p:cNvPr id="9" name="Text 7"/>
          <p:cNvSpPr/>
          <p:nvPr/>
        </p:nvSpPr>
        <p:spPr>
          <a:xfrm>
            <a:off x="6278880" y="2560320"/>
            <a:ext cx="4754880" cy="2438400"/>
          </a:xfrm>
          <a:prstGeom prst="rect">
            <a:avLst/>
          </a:prstGeom>
          <a:noFill/>
          <a:ln/>
        </p:spPr>
        <p:txBody>
          <a:bodyPr wrap="square" lIns="0" tIns="0" rIns="0" bIns="0" rtlCol="0" anchor="t"/>
          <a:lstStyle/>
          <a:p>
            <a:pPr indent="0" marL="0">
              <a:buNone/>
            </a:pPr>
            <a:r>
              <a:rPr lang="en-US" sz="1300" i="1" dirty="0">
                <a:solidFill>
                  <a:srgbClr val="FFF3DC"/>
                </a:solidFill>
                <a:latin typeface="Cambria" pitchFamily="34" charset="0"/>
                <a:ea typeface="Cambria" pitchFamily="34" charset="-122"/>
                <a:cs typeface="Cambria" pitchFamily="34" charset="-120"/>
              </a:rPr>
              <a:t>"This community shows courage by helping each other rebuild after hurricanes."</a:t>
            </a:r>
            <a:endParaRPr lang="en-US" sz="1300" dirty="0"/>
          </a:p>
        </p:txBody>
      </p:sp>
      <p:sp>
        <p:nvSpPr>
          <p:cNvPr id="10" name="Text 8"/>
          <p:cNvSpPr/>
          <p:nvPr/>
        </p:nvSpPr>
        <p:spPr>
          <a:xfrm>
            <a:off x="1341120" y="5486400"/>
            <a:ext cx="9144000" cy="609600"/>
          </a:xfrm>
          <a:prstGeom prst="rect">
            <a:avLst/>
          </a:prstGeom>
          <a:noFill/>
          <a:ln/>
        </p:spPr>
        <p:txBody>
          <a:bodyPr wrap="square" lIns="0" tIns="0" rIns="0" bIns="0" rtlCol="0" anchor="ctr"/>
          <a:lstStyle/>
          <a:p>
            <a:pPr algn="ctr" indent="0" marL="0">
              <a:buNone/>
            </a:pPr>
            <a:r>
              <a:rPr lang="en-US" sz="1300" i="1" dirty="0">
                <a:solidFill>
                  <a:srgbClr val="EAF8FD"/>
                </a:solidFill>
                <a:latin typeface="Calibri" pitchFamily="34" charset="0"/>
                <a:ea typeface="Calibri" pitchFamily="34" charset="-122"/>
                <a:cs typeface="Calibri" pitchFamily="34" charset="-120"/>
              </a:rPr>
              <a:t>Cover your screen. Name a virtue you could use in your own virtue label.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WHY IT MATTERS · BIG PICTURE</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Four Parts. Four Labels.</a:t>
            </a:r>
            <a:endParaRPr lang="en-US" sz="2700" dirty="0"/>
          </a:p>
        </p:txBody>
      </p:sp>
      <p:sp>
        <p:nvSpPr>
          <p:cNvPr id="4" name="Shape 2"/>
          <p:cNvSpPr/>
          <p:nvPr/>
        </p:nvSpPr>
        <p:spPr>
          <a:xfrm>
            <a:off x="609600" y="1584960"/>
            <a:ext cx="10607040" cy="1645920"/>
          </a:xfrm>
          <a:prstGeom prst="roundRect">
            <a:avLst>
              <a:gd name="adj" fmla="val 8889"/>
            </a:avLst>
          </a:prstGeom>
          <a:solidFill>
            <a:srgbClr val="F0F2F8"/>
          </a:solidFill>
          <a:ln w="12700">
            <a:solidFill>
              <a:srgbClr val="7A88A8"/>
            </a:solidFill>
            <a:prstDash val="solid"/>
          </a:ln>
        </p:spPr>
      </p:sp>
      <p:sp>
        <p:nvSpPr>
          <p:cNvPr id="5" name="Text 3"/>
          <p:cNvSpPr/>
          <p:nvPr/>
        </p:nvSpPr>
        <p:spPr>
          <a:xfrm>
            <a:off x="914400" y="1767840"/>
            <a:ext cx="9997440" cy="128016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Exhibit Label: A complete exhibit answers four questions for the visitor -- Where? (map) Who said so? (source) Why does it matter for a community? (connection) What virtue does it show? (virtue)</a:t>
            </a:r>
            <a:endParaRPr lang="en-US" sz="1250" dirty="0"/>
          </a:p>
        </p:txBody>
      </p:sp>
      <p:sp>
        <p:nvSpPr>
          <p:cNvPr id="6" name="Shape 4"/>
          <p:cNvSpPr/>
          <p:nvPr/>
        </p:nvSpPr>
        <p:spPr>
          <a:xfrm>
            <a:off x="609600" y="3474720"/>
            <a:ext cx="10607040" cy="2865120"/>
          </a:xfrm>
          <a:prstGeom prst="roundRect">
            <a:avLst>
              <a:gd name="adj" fmla="val 6383"/>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59664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938016"/>
            <a:ext cx="10119360" cy="22799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your four parts do you already feel sure about?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 needs more thinking before you write the label?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Opti says: you've already done the hard work in every other room -- today you just put it together. Why does that make today easier, not harder?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Building a Label With a Sentence Starter</a:t>
            </a:r>
            <a:endParaRPr lang="en-US" sz="2700" dirty="0"/>
          </a:p>
        </p:txBody>
      </p:sp>
      <p:sp>
        <p:nvSpPr>
          <p:cNvPr id="4" name="Shape 2"/>
          <p:cNvSpPr/>
          <p:nvPr/>
        </p:nvSpPr>
        <p:spPr>
          <a:xfrm>
            <a:off x="609600" y="1584960"/>
            <a:ext cx="10607040" cy="3657600"/>
          </a:xfrm>
          <a:prstGeom prst="roundRect">
            <a:avLst>
              <a:gd name="adj" fmla="val 4000"/>
            </a:avLst>
          </a:prstGeom>
          <a:solidFill>
            <a:srgbClr val="EAF8FD"/>
          </a:solidFill>
          <a:ln/>
        </p:spPr>
      </p:sp>
      <p:sp>
        <p:nvSpPr>
          <p:cNvPr id="5" name="Text 3"/>
          <p:cNvSpPr/>
          <p:nvPr/>
        </p:nvSpPr>
        <p:spPr>
          <a:xfrm>
            <a:off x="914400" y="1828800"/>
            <a:ext cx="9997440" cy="365760"/>
          </a:xfrm>
          <a:prstGeom prst="rect">
            <a:avLst/>
          </a:prstGeom>
          <a:noFill/>
          <a:ln/>
        </p:spPr>
        <p:txBody>
          <a:bodyPr wrap="square" lIns="0" tIns="0" rIns="0" bIns="0" rtlCol="0" anchor="ctr"/>
          <a:lstStyle/>
          <a:p>
            <a:pPr indent="0" marL="0">
              <a:buNone/>
            </a:pPr>
            <a:r>
              <a:rPr lang="en-US" sz="1300" b="1" spc="100" kern="0" dirty="0">
                <a:solidFill>
                  <a:srgbClr val="1A8A7D"/>
                </a:solidFill>
                <a:latin typeface="Calibri" pitchFamily="34" charset="0"/>
                <a:ea typeface="Calibri" pitchFamily="34" charset="-122"/>
                <a:cs typeface="Calibri" pitchFamily="34" charset="-120"/>
              </a:rPr>
              <a:t>Think-Aloud:</a:t>
            </a:r>
            <a:endParaRPr lang="en-US" sz="1300" dirty="0"/>
          </a:p>
        </p:txBody>
      </p:sp>
      <p:sp>
        <p:nvSpPr>
          <p:cNvPr id="6" name="Text 4"/>
          <p:cNvSpPr/>
          <p:nvPr/>
        </p:nvSpPr>
        <p:spPr>
          <a:xfrm>
            <a:off x="914400" y="2316480"/>
            <a:ext cx="9997440" cy="2682240"/>
          </a:xfrm>
          <a:prstGeom prst="rect">
            <a:avLst/>
          </a:prstGeom>
          <a:noFill/>
          <a:ln/>
        </p:spPr>
        <p:txBody>
          <a:bodyPr wrap="square" lIns="0" tIns="0" rIns="0" bIns="0" rtlCol="0" anchor="t"/>
          <a:lstStyle/>
          <a:p>
            <a:pPr indent="0" marL="0">
              <a:buNone/>
            </a:pPr>
            <a:r>
              <a:rPr lang="en-US" sz="1300" i="1" dirty="0">
                <a:solidFill>
                  <a:srgbClr val="0E1C42"/>
                </a:solidFill>
                <a:latin typeface="Cambria" pitchFamily="34" charset="0"/>
                <a:ea typeface="Cambria" pitchFamily="34" charset="-122"/>
                <a:cs typeface="Cambria" pitchFamily="34" charset="-120"/>
              </a:rPr>
              <a:t>"My Map Label starter is: 'This map shows ____, where ____.' Watch me fill it in. First blank -- the place: 'the Caribbean.' Second blank -- why it matters: 'where many sea trade routes meet.' Put together: 'This map shows the Caribbean, where many sea trade routes meet.' One sentence. Clear words. That's courtesy."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Let's Build a Source Label Together</a:t>
            </a:r>
            <a:endParaRPr lang="en-US" sz="2700" dirty="0"/>
          </a:p>
        </p:txBody>
      </p:sp>
      <p:sp>
        <p:nvSpPr>
          <p:cNvPr id="4" name="Text 2"/>
          <p:cNvSpPr/>
          <p:nvPr/>
        </p:nvSpPr>
        <p:spPr>
          <a:xfrm>
            <a:off x="609600" y="1584960"/>
            <a:ext cx="10607040" cy="731520"/>
          </a:xfrm>
          <a:prstGeom prst="rect">
            <a:avLst/>
          </a:prstGeom>
          <a:noFill/>
          <a:ln/>
        </p:spPr>
        <p:txBody>
          <a:bodyPr wrap="square" lIns="0" tIns="0" rIns="0" bIns="0" rtlCol="0" anchor="t"/>
          <a:lstStyle/>
          <a:p>
            <a:pPr indent="0" marL="0">
              <a:buNone/>
            </a:pPr>
            <a:r>
              <a:rPr lang="en-US" sz="1350" b="1" dirty="0">
                <a:solidFill>
                  <a:srgbClr val="0E1C42"/>
                </a:solidFill>
                <a:latin typeface="Calibri" pitchFamily="34" charset="0"/>
                <a:ea typeface="Calibri" pitchFamily="34" charset="-122"/>
                <a:cs typeface="Calibri" pitchFamily="34" charset="-120"/>
              </a:rPr>
              <a:t>As a class, let's fill in the Source Label starter: "This ____ (photo / chart / quote / document) shows ____."</a:t>
            </a:r>
            <a:endParaRPr lang="en-US" sz="1350" dirty="0"/>
          </a:p>
        </p:txBody>
      </p:sp>
      <p:sp>
        <p:nvSpPr>
          <p:cNvPr id="5" name="Shape 3"/>
          <p:cNvSpPr/>
          <p:nvPr/>
        </p:nvSpPr>
        <p:spPr>
          <a:xfrm>
            <a:off x="609600" y="2438400"/>
            <a:ext cx="10607040" cy="2194560"/>
          </a:xfrm>
          <a:prstGeom prst="roundRect">
            <a:avLst>
              <a:gd name="adj" fmla="val 8333"/>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853440" y="256032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853440" y="2901696"/>
            <a:ext cx="10119360" cy="160934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source could we imagine -- a photo, a chart, a quote, or a document?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that source need to show a visitor to prove it's real?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 we say that in one clear sentence?</a:t>
            </a:r>
            <a:endParaRPr lang="en-US" sz="1100" dirty="0"/>
          </a:p>
        </p:txBody>
      </p:sp>
      <p:sp>
        <p:nvSpPr>
          <p:cNvPr id="8" name="Shape 6"/>
          <p:cNvSpPr/>
          <p:nvPr/>
        </p:nvSpPr>
        <p:spPr>
          <a:xfrm>
            <a:off x="609600" y="4754880"/>
            <a:ext cx="10607040" cy="1584960"/>
          </a:xfrm>
          <a:prstGeom prst="roundRect">
            <a:avLst>
              <a:gd name="adj" fmla="val 9231"/>
            </a:avLst>
          </a:prstGeom>
          <a:solidFill>
            <a:srgbClr val="FFF3DC"/>
          </a:solidFill>
          <a:ln w="19050">
            <a:solidFill>
              <a:srgbClr val="F5E6C8"/>
            </a:solidFill>
            <a:prstDash val="solid"/>
          </a:ln>
        </p:spPr>
      </p:sp>
      <p:sp>
        <p:nvSpPr>
          <p:cNvPr id="9" name="Text 7"/>
          <p:cNvSpPr/>
          <p:nvPr/>
        </p:nvSpPr>
        <p:spPr>
          <a:xfrm>
            <a:off x="792480" y="482803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792480" y="5096256"/>
            <a:ext cx="1024128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photo shows..."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chart shows..."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GUIDED PRACTICE · YOUR TURN WITH SUPPORT</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Try Your Own Community Label</a:t>
            </a:r>
            <a:endParaRPr lang="en-US" sz="2700" dirty="0"/>
          </a:p>
        </p:txBody>
      </p:sp>
      <p:sp>
        <p:nvSpPr>
          <p:cNvPr id="4" name="Text 2"/>
          <p:cNvSpPr/>
          <p:nvPr/>
        </p:nvSpPr>
        <p:spPr>
          <a:xfrm>
            <a:off x="609600" y="1584960"/>
            <a:ext cx="10607040" cy="670560"/>
          </a:xfrm>
          <a:prstGeom prst="rect">
            <a:avLst/>
          </a:prstGeom>
          <a:noFill/>
          <a:ln/>
        </p:spPr>
        <p:txBody>
          <a:bodyPr wrap="square" lIns="0" tIns="0" rIns="0" bIns="0" rtlCol="0" anchor="t"/>
          <a:lstStyle/>
          <a:p>
            <a:pPr indent="0" marL="0">
              <a:buNone/>
            </a:pPr>
            <a:r>
              <a:rPr lang="en-US" sz="1350" b="1" dirty="0">
                <a:solidFill>
                  <a:srgbClr val="0E1C42"/>
                </a:solidFill>
                <a:latin typeface="Calibri" pitchFamily="34" charset="0"/>
                <a:ea typeface="Calibri" pitchFamily="34" charset="-122"/>
                <a:cs typeface="Calibri" pitchFamily="34" charset="-120"/>
              </a:rPr>
              <a:t>Use this checklist to draft your Community Connection Label: "In this community, people ____ because ____."</a:t>
            </a:r>
            <a:endParaRPr lang="en-US" sz="1350" dirty="0"/>
          </a:p>
        </p:txBody>
      </p:sp>
      <p:sp>
        <p:nvSpPr>
          <p:cNvPr id="5" name="Text 3"/>
          <p:cNvSpPr/>
          <p:nvPr/>
        </p:nvSpPr>
        <p:spPr>
          <a:xfrm>
            <a:off x="853440" y="2438400"/>
            <a:ext cx="10119360" cy="35356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0E1C42"/>
                </a:solidFill>
                <a:latin typeface="Calibri" pitchFamily="34" charset="0"/>
                <a:ea typeface="Calibri" pitchFamily="34" charset="-122"/>
                <a:cs typeface="Calibri" pitchFamily="34" charset="-120"/>
              </a:rPr>
              <a:t>I named a real thing people in my community or region do, eat, celebrate, or build.</a:t>
            </a:r>
            <a:endParaRPr lang="en-US" sz="1350" dirty="0"/>
          </a:p>
          <a:p>
            <a:pPr marL="342900" indent="-342900">
              <a:spcAft>
                <a:spcPts val="800"/>
              </a:spcAft>
              <a:buSzPct val="100000"/>
              <a:buChar char="•"/>
            </a:pPr>
            <a:r>
              <a:rPr lang="en-US" sz="1350" dirty="0">
                <a:solidFill>
                  <a:srgbClr val="0E1C42"/>
                </a:solidFill>
                <a:latin typeface="Calibri" pitchFamily="34" charset="0"/>
                <a:ea typeface="Calibri" pitchFamily="34" charset="-122"/>
                <a:cs typeface="Calibri" pitchFamily="34" charset="-120"/>
              </a:rPr>
              <a:t>I explained why that detail matters -- not just what it is.</a:t>
            </a:r>
            <a:endParaRPr lang="en-US" sz="1350" dirty="0"/>
          </a:p>
          <a:p>
            <a:pPr marL="342900" indent="-342900">
              <a:spcAft>
                <a:spcPts val="800"/>
              </a:spcAft>
              <a:buSzPct val="100000"/>
              <a:buChar char="•"/>
            </a:pPr>
            <a:r>
              <a:rPr lang="en-US" sz="1350" dirty="0">
                <a:solidFill>
                  <a:srgbClr val="0E1C42"/>
                </a:solidFill>
                <a:latin typeface="Calibri" pitchFamily="34" charset="0"/>
                <a:ea typeface="Calibri" pitchFamily="34" charset="-122"/>
                <a:cs typeface="Calibri" pitchFamily="34" charset="-120"/>
              </a:rPr>
              <a:t>I used one or two clear sentences, no fancy or hard words.</a:t>
            </a:r>
            <a:endParaRPr lang="en-US" sz="1350" dirty="0"/>
          </a:p>
          <a:p>
            <a:pPr marL="342900" indent="-342900">
              <a:spcAft>
                <a:spcPts val="800"/>
              </a:spcAft>
              <a:buSzPct val="100000"/>
              <a:buChar char="•"/>
            </a:pPr>
            <a:r>
              <a:rPr lang="en-US" sz="1350" dirty="0">
                <a:solidFill>
                  <a:srgbClr val="0E1C42"/>
                </a:solidFill>
                <a:latin typeface="Calibri" pitchFamily="34" charset="0"/>
                <a:ea typeface="Calibri" pitchFamily="34" charset="-122"/>
                <a:cs typeface="Calibri" pitchFamily="34" charset="-120"/>
              </a:rPr>
              <a:t>A visitor who has never been here could understand my label.</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Find the Mistake</a:t>
            </a:r>
            <a:endParaRPr lang="en-US" sz="2700" dirty="0"/>
          </a:p>
        </p:txBody>
      </p:sp>
      <p:sp>
        <p:nvSpPr>
          <p:cNvPr id="4" name="Shape 2"/>
          <p:cNvSpPr/>
          <p:nvPr/>
        </p:nvSpPr>
        <p:spPr>
          <a:xfrm>
            <a:off x="609600" y="1584960"/>
            <a:ext cx="10607040" cy="1645920"/>
          </a:xfrm>
          <a:prstGeom prst="roundRect">
            <a:avLst>
              <a:gd name="adj" fmla="val 8889"/>
            </a:avLst>
          </a:prstGeom>
          <a:solidFill>
            <a:srgbClr val="FDEEEE"/>
          </a:solidFill>
          <a:ln w="19050">
            <a:solidFill>
              <a:srgbClr val="E8636B"/>
            </a:solidFill>
            <a:prstDash val="solid"/>
          </a:ln>
        </p:spPr>
      </p:sp>
      <p:sp>
        <p:nvSpPr>
          <p:cNvPr id="5" name="Text 3"/>
          <p:cNvSpPr/>
          <p:nvPr/>
        </p:nvSpPr>
        <p:spPr>
          <a:xfrm>
            <a:off x="914400" y="1767840"/>
            <a:ext cx="9997440" cy="1280160"/>
          </a:xfrm>
          <a:prstGeom prst="rect">
            <a:avLst/>
          </a:prstGeom>
          <a:noFill/>
          <a:ln/>
        </p:spPr>
        <p:txBody>
          <a:bodyPr wrap="square" lIns="0" tIns="0" rIns="0" bIns="0"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A student wrote this Virtue Label: "This exhibit shows the virtue of honesty."</a:t>
            </a:r>
            <a:endParaRPr lang="en-US" sz="1400" dirty="0"/>
          </a:p>
        </p:txBody>
      </p:sp>
      <p:sp>
        <p:nvSpPr>
          <p:cNvPr id="6" name="Shape 4"/>
          <p:cNvSpPr/>
          <p:nvPr/>
        </p:nvSpPr>
        <p:spPr>
          <a:xfrm>
            <a:off x="609600" y="3535680"/>
            <a:ext cx="10607040" cy="2804160"/>
          </a:xfrm>
          <a:prstGeom prst="roundRect">
            <a:avLst>
              <a:gd name="adj" fmla="val 652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853440" y="3657600"/>
            <a:ext cx="10119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853440" y="3998976"/>
            <a:ext cx="10119360" cy="221894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part of the sentence starter is missing?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this label need to actually prove the exhibit shows honesty?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rewrite it so a visitor understands why, not just what?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Check Your Understanding</a:t>
            </a:r>
            <a:endParaRPr lang="en-US" sz="2700" dirty="0"/>
          </a:p>
        </p:txBody>
      </p:sp>
      <p:sp>
        <p:nvSpPr>
          <p:cNvPr id="4" name="Shape 2"/>
          <p:cNvSpPr/>
          <p:nvPr/>
        </p:nvSpPr>
        <p:spPr>
          <a:xfrm>
            <a:off x="609600" y="1584960"/>
            <a:ext cx="10607040" cy="1560576"/>
          </a:xfrm>
          <a:prstGeom prst="roundRect">
            <a:avLst>
              <a:gd name="adj" fmla="val 7813"/>
            </a:avLst>
          </a:prstGeom>
          <a:solidFill>
            <a:srgbClr val="E3F8ED"/>
          </a:solidFill>
          <a:ln/>
        </p:spPr>
      </p:sp>
      <p:sp>
        <p:nvSpPr>
          <p:cNvPr id="5" name="Text 3"/>
          <p:cNvSpPr/>
          <p:nvPr/>
        </p:nvSpPr>
        <p:spPr>
          <a:xfrm>
            <a:off x="853440" y="1682496"/>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1. How many parts does a strong exhibit have?</a:t>
            </a:r>
            <a:endParaRPr lang="en-US" sz="1250" dirty="0"/>
          </a:p>
        </p:txBody>
      </p:sp>
      <p:sp>
        <p:nvSpPr>
          <p:cNvPr id="6" name="Text 4"/>
          <p:cNvSpPr/>
          <p:nvPr/>
        </p:nvSpPr>
        <p:spPr>
          <a:xfrm>
            <a:off x="853440" y="2194560"/>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C) Four -- map, source, community connection, and virtue.</a:t>
            </a:r>
            <a:endParaRPr lang="en-US" sz="1200" dirty="0"/>
          </a:p>
        </p:txBody>
      </p:sp>
      <p:sp>
        <p:nvSpPr>
          <p:cNvPr id="7" name="Text 5"/>
          <p:cNvSpPr/>
          <p:nvPr/>
        </p:nvSpPr>
        <p:spPr>
          <a:xfrm>
            <a:off x="853440" y="2645664"/>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 map (where), a source (who said so), a community connection (why it matters), and a virtue (what we can learn).</a:t>
            </a:r>
            <a:endParaRPr lang="en-US" sz="1100" dirty="0"/>
          </a:p>
        </p:txBody>
      </p:sp>
      <p:sp>
        <p:nvSpPr>
          <p:cNvPr id="8" name="Shape 6"/>
          <p:cNvSpPr/>
          <p:nvPr/>
        </p:nvSpPr>
        <p:spPr>
          <a:xfrm>
            <a:off x="609600" y="3267456"/>
            <a:ext cx="10607040" cy="1560576"/>
          </a:xfrm>
          <a:prstGeom prst="roundRect">
            <a:avLst>
              <a:gd name="adj" fmla="val 7813"/>
            </a:avLst>
          </a:prstGeom>
          <a:solidFill>
            <a:srgbClr val="E3F8ED"/>
          </a:solidFill>
          <a:ln/>
        </p:spPr>
      </p:sp>
      <p:sp>
        <p:nvSpPr>
          <p:cNvPr id="9" name="Text 7"/>
          <p:cNvSpPr/>
          <p:nvPr/>
        </p:nvSpPr>
        <p:spPr>
          <a:xfrm>
            <a:off x="853440" y="3364992"/>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2. Which is a strong exhibit label?</a:t>
            </a:r>
            <a:endParaRPr lang="en-US" sz="1250" dirty="0"/>
          </a:p>
        </p:txBody>
      </p:sp>
      <p:sp>
        <p:nvSpPr>
          <p:cNvPr id="10" name="Text 8"/>
          <p:cNvSpPr/>
          <p:nvPr/>
        </p:nvSpPr>
        <p:spPr>
          <a:xfrm>
            <a:off x="853440" y="3877056"/>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B) "This map shows the Southeast Region -- where warm weather lets farmers grow oranges and peaches."</a:t>
            </a:r>
            <a:endParaRPr lang="en-US" sz="1200" dirty="0"/>
          </a:p>
        </p:txBody>
      </p:sp>
      <p:sp>
        <p:nvSpPr>
          <p:cNvPr id="11" name="Text 9"/>
          <p:cNvSpPr/>
          <p:nvPr/>
        </p:nvSpPr>
        <p:spPr>
          <a:xfrm>
            <a:off x="853440" y="4328160"/>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 strong label tells the visitor what they're seeing, where it is, and why it matters -- all in one sentence.</a:t>
            </a:r>
            <a:endParaRPr lang="en-US" sz="1100" dirty="0"/>
          </a:p>
        </p:txBody>
      </p:sp>
      <p:sp>
        <p:nvSpPr>
          <p:cNvPr id="12" name="Shape 10"/>
          <p:cNvSpPr/>
          <p:nvPr/>
        </p:nvSpPr>
        <p:spPr>
          <a:xfrm>
            <a:off x="609600" y="4949952"/>
            <a:ext cx="10607040" cy="1560576"/>
          </a:xfrm>
          <a:prstGeom prst="roundRect">
            <a:avLst>
              <a:gd name="adj" fmla="val 7813"/>
            </a:avLst>
          </a:prstGeom>
          <a:solidFill>
            <a:srgbClr val="E3F8ED"/>
          </a:solidFill>
          <a:ln/>
        </p:spPr>
      </p:sp>
      <p:sp>
        <p:nvSpPr>
          <p:cNvPr id="13" name="Text 11"/>
          <p:cNvSpPr/>
          <p:nvPr/>
        </p:nvSpPr>
        <p:spPr>
          <a:xfrm>
            <a:off x="853440" y="5047488"/>
            <a:ext cx="10119360" cy="48768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3. What does "courtesy" mean for an exhibit designer?</a:t>
            </a:r>
            <a:endParaRPr lang="en-US" sz="1250" dirty="0"/>
          </a:p>
        </p:txBody>
      </p:sp>
      <p:sp>
        <p:nvSpPr>
          <p:cNvPr id="14" name="Text 12"/>
          <p:cNvSpPr/>
          <p:nvPr/>
        </p:nvSpPr>
        <p:spPr>
          <a:xfrm>
            <a:off x="853440" y="5559552"/>
            <a:ext cx="10119360" cy="4267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A) Writing labels that are clear and easy for visitors to read.</a:t>
            </a:r>
            <a:endParaRPr lang="en-US" sz="1200" dirty="0"/>
          </a:p>
        </p:txBody>
      </p:sp>
      <p:sp>
        <p:nvSpPr>
          <p:cNvPr id="15" name="Text 13"/>
          <p:cNvSpPr/>
          <p:nvPr/>
        </p:nvSpPr>
        <p:spPr>
          <a:xfrm>
            <a:off x="853440" y="6010656"/>
            <a:ext cx="10119360" cy="42672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Courtesy means writing for the visitor -- clear, kind, easy to read. No showing off.</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BUILD DAY</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Evidence Questions</a:t>
            </a:r>
            <a:endParaRPr lang="en-US" sz="2700" dirty="0"/>
          </a:p>
        </p:txBody>
      </p:sp>
      <p:sp>
        <p:nvSpPr>
          <p:cNvPr id="4" name="Text 2"/>
          <p:cNvSpPr/>
          <p:nvPr/>
        </p:nvSpPr>
        <p:spPr>
          <a:xfrm>
            <a:off x="609600" y="1584960"/>
            <a:ext cx="10607040" cy="4389120"/>
          </a:xfrm>
          <a:prstGeom prst="rect">
            <a:avLst/>
          </a:prstGeom>
          <a:noFill/>
          <a:ln/>
        </p:spPr>
        <p:txBody>
          <a:bodyPr wrap="square" lIns="0" tIns="0" rIns="0" bIns="0" rtlCol="0" anchor="t"/>
          <a:lstStyle/>
          <a:p>
            <a:pPr indent="0" marL="0">
              <a:spcAft>
                <a:spcPts val="1400"/>
              </a:spcAft>
              <a:buNone/>
            </a:pPr>
            <a:r>
              <a:rPr lang="en-US" sz="1300" dirty="0">
                <a:solidFill>
                  <a:srgbClr val="0E1C42"/>
                </a:solidFill>
                <a:latin typeface="Calibri" pitchFamily="34" charset="0"/>
                <a:ea typeface="Calibri" pitchFamily="34" charset="-122"/>
                <a:cs typeface="Calibri" pitchFamily="34" charset="-120"/>
              </a:rPr>
              <a:t>1. What's one map skill you'll use in your exhibit? (Title, compass rose, scale, legend, or a kind of map?) Pick one map skill and tell how it will help your visitor understand the place.</a:t>
            </a:r>
            <a:endParaRPr lang="en-US" sz="1300" dirty="0"/>
          </a:p>
          <a:p>
            <a:pPr indent="0" marL="0">
              <a:spcAft>
                <a:spcPts val="1400"/>
              </a:spcAft>
              <a:buNone/>
            </a:pPr>
            <a:r>
              <a:rPr lang="en-US" sz="1300" dirty="0">
                <a:solidFill>
                  <a:srgbClr val="0E1C42"/>
                </a:solidFill>
                <a:latin typeface="Calibri" pitchFamily="34" charset="0"/>
                <a:ea typeface="Calibri" pitchFamily="34" charset="-122"/>
                <a:cs typeface="Calibri" pitchFamily="34" charset="-120"/>
              </a:rPr>
              <a:t>2. What kind of source will your exhibit use -- a photo, a chart, a quote, or a primary document? Why did you pick it? Name the source type and tell why it's a good match for your exhibit.</a:t>
            </a:r>
            <a:endParaRPr lang="en-US" sz="1300" dirty="0"/>
          </a:p>
          <a:p>
            <a:pPr indent="0" marL="0">
              <a:spcAft>
                <a:spcPts val="1400"/>
              </a:spcAft>
              <a:buNone/>
            </a:pPr>
            <a:r>
              <a:rPr lang="en-US" sz="1300" dirty="0">
                <a:solidFill>
                  <a:srgbClr val="0E1C42"/>
                </a:solidFill>
                <a:latin typeface="Calibri" pitchFamily="34" charset="0"/>
                <a:ea typeface="Calibri" pitchFamily="34" charset="-122"/>
                <a:cs typeface="Calibri" pitchFamily="34" charset="-120"/>
              </a:rPr>
              <a:t>3. What community or region does your exhibit teach about? Why did you choose it? Name the community or region -- could be your own, or one you studied -- and tell why it matters to you.</a:t>
            </a:r>
            <a:endParaRPr lang="en-US" sz="1300" dirty="0"/>
          </a:p>
        </p:txBody>
      </p:sp>
      <p:sp>
        <p:nvSpPr>
          <p:cNvPr id="5" name="Text 3"/>
          <p:cNvSpPr/>
          <p:nvPr/>
        </p:nvSpPr>
        <p:spPr>
          <a:xfrm>
            <a:off x="609600" y="6156960"/>
            <a:ext cx="10607040" cy="36576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Answer these before you write your four labels.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2F8"/>
        </a:solidFill>
      </p:bgPr>
    </p:bg>
    <p:spTree>
      <p:nvGrpSpPr>
        <p:cNvPr id="1" name=""/>
        <p:cNvGrpSpPr/>
        <p:nvPr/>
      </p:nvGrpSpPr>
      <p:grpSpPr>
        <a:xfrm>
          <a:off x="0" y="0"/>
          <a:ext cx="0" cy="0"/>
          <a:chOff x="0" y="0"/>
          <a:chExt cx="0" cy="0"/>
        </a:xfrm>
      </p:grpSpPr>
      <p:sp>
        <p:nvSpPr>
          <p:cNvPr id="2" name="Text 0"/>
          <p:cNvSpPr/>
          <p:nvPr/>
        </p:nvSpPr>
        <p:spPr>
          <a:xfrm>
            <a:off x="487680" y="97536"/>
            <a:ext cx="10972800" cy="341376"/>
          </a:xfrm>
          <a:prstGeom prst="rect">
            <a:avLst/>
          </a:prstGeom>
          <a:noFill/>
          <a:ln/>
        </p:spPr>
        <p:txBody>
          <a:bodyPr wrap="square" lIns="0" tIns="0" rIns="0" bIns="0" rtlCol="0" anchor="ctr"/>
          <a:lstStyle/>
          <a:p>
            <a:pPr indent="0" marL="0">
              <a:buNone/>
            </a:pPr>
            <a:r>
              <a:rPr lang="en-US" sz="1000" b="1" spc="150" kern="0" dirty="0">
                <a:solidFill>
                  <a:srgbClr val="1A8A7D"/>
                </a:solidFill>
                <a:latin typeface="Calibri" pitchFamily="34" charset="0"/>
                <a:ea typeface="Calibri" pitchFamily="34" charset="-122"/>
                <a:cs typeface="Calibri" pitchFamily="34" charset="-120"/>
              </a:rPr>
              <a:t>EVIDENCE &amp; ASSIGNMENT · CURATOR TASK</a:t>
            </a:r>
            <a:endParaRPr lang="en-US" sz="1000" dirty="0"/>
          </a:p>
        </p:txBody>
      </p:sp>
      <p:sp>
        <p:nvSpPr>
          <p:cNvPr id="3" name="Text 1"/>
          <p:cNvSpPr/>
          <p:nvPr/>
        </p:nvSpPr>
        <p:spPr>
          <a:xfrm>
            <a:off x="487680" y="426720"/>
            <a:ext cx="10972800" cy="853440"/>
          </a:xfrm>
          <a:prstGeom prst="rect">
            <a:avLst/>
          </a:prstGeom>
          <a:noFill/>
          <a:ln/>
        </p:spPr>
        <p:txBody>
          <a:bodyPr wrap="square" lIns="0" tIns="0" rIns="0" bIns="0" rtlCol="0" anchor="ctr"/>
          <a:lstStyle/>
          <a:p>
            <a:pPr indent="0" marL="0">
              <a:buNone/>
            </a:pPr>
            <a:r>
              <a:rPr lang="en-US" sz="2700" b="1" dirty="0">
                <a:solidFill>
                  <a:srgbClr val="0E1C42"/>
                </a:solidFill>
                <a:latin typeface="Cambria" pitchFamily="34" charset="0"/>
                <a:ea typeface="Cambria" pitchFamily="34" charset="-122"/>
                <a:cs typeface="Cambria" pitchFamily="34" charset="-120"/>
              </a:rPr>
              <a:t>Build the Exhibit: Your Four Labels</a:t>
            </a:r>
            <a:endParaRPr lang="en-US" sz="2700" dirty="0"/>
          </a:p>
        </p:txBody>
      </p:sp>
      <p:sp>
        <p:nvSpPr>
          <p:cNvPr id="4" name="Shape 2"/>
          <p:cNvSpPr/>
          <p:nvPr/>
        </p:nvSpPr>
        <p:spPr>
          <a:xfrm>
            <a:off x="609600" y="1524000"/>
            <a:ext cx="10607040" cy="2377440"/>
          </a:xfrm>
          <a:prstGeom prst="roundRect">
            <a:avLst>
              <a:gd name="adj" fmla="val 6154"/>
            </a:avLst>
          </a:prstGeom>
          <a:solidFill>
            <a:srgbClr val="FFF3DC"/>
          </a:solidFill>
          <a:ln/>
        </p:spPr>
      </p:sp>
      <p:sp>
        <p:nvSpPr>
          <p:cNvPr id="5" name="Text 3"/>
          <p:cNvSpPr/>
          <p:nvPr/>
        </p:nvSpPr>
        <p:spPr>
          <a:xfrm>
            <a:off x="853440" y="1645920"/>
            <a:ext cx="10119360" cy="219456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Write four short labels -- one for each part of your Community-in-the-World Exhibit. Each label is one or two clear sentences a visitor could read. Use the sentence starters to help you:</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1. Map Label -- "This map shows ____, where ____."</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2. Source Label -- "This ____ (photo / chart / quote / document) shows ____."</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3. Community Connection Label -- "In this community, people ____ because ____."</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4. Virtue Label -- "This exhibit shows the virtue of ____ because ____."</a:t>
            </a:r>
            <a:endParaRPr lang="en-US" sz="1100" dirty="0"/>
          </a:p>
        </p:txBody>
      </p:sp>
      <p:sp>
        <p:nvSpPr>
          <p:cNvPr id="6" name="Shape 4"/>
          <p:cNvSpPr/>
          <p:nvPr/>
        </p:nvSpPr>
        <p:spPr>
          <a:xfrm>
            <a:off x="609600" y="4084320"/>
            <a:ext cx="5120640" cy="2133600"/>
          </a:xfrm>
          <a:prstGeom prst="roundRect">
            <a:avLst>
              <a:gd name="adj" fmla="val 6857"/>
            </a:avLst>
          </a:prstGeom>
          <a:solidFill>
            <a:srgbClr val="FFFFFF"/>
          </a:solidFill>
          <a:ln w="19050">
            <a:solidFill>
              <a:srgbClr val="D4943A"/>
            </a:solidFill>
            <a:prstDash val="dash"/>
          </a:ln>
        </p:spPr>
      </p:sp>
      <p:sp>
        <p:nvSpPr>
          <p:cNvPr id="7" name="Text 5"/>
          <p:cNvSpPr/>
          <p:nvPr/>
        </p:nvSpPr>
        <p:spPr>
          <a:xfrm>
            <a:off x="853440" y="4267200"/>
            <a:ext cx="4632960" cy="176784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Curator's Chronicle: "In this exhibit, I learned that ______ because ______."</a:t>
            </a:r>
            <a:endParaRPr lang="en-US" sz="1200" dirty="0"/>
          </a:p>
        </p:txBody>
      </p:sp>
      <p:sp>
        <p:nvSpPr>
          <p:cNvPr id="8" name="Text 6"/>
          <p:cNvSpPr/>
          <p:nvPr/>
        </p:nvSpPr>
        <p:spPr>
          <a:xfrm>
            <a:off x="5974080" y="4084320"/>
            <a:ext cx="5242560" cy="219456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answered all three evidence questions.</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wrote all four exhibit labels (map, source, community, virtue).</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wrote my Curator's Chronicle.</a:t>
            </a:r>
            <a:endParaRPr lang="en-US" sz="1050" dirty="0"/>
          </a:p>
          <a:p>
            <a:pPr marL="342900" indent="-342900">
              <a:spcAft>
                <a:spcPts val="600"/>
              </a:spcAft>
              <a:buSzPct val="100000"/>
              <a:buChar char="•"/>
            </a:pPr>
            <a:r>
              <a:rPr lang="en-US" sz="1050" dirty="0">
                <a:solidFill>
                  <a:srgbClr val="0E1C42"/>
                </a:solidFill>
                <a:latin typeface="Calibri" pitchFamily="34" charset="0"/>
                <a:ea typeface="Calibri" pitchFamily="34" charset="-122"/>
                <a:cs typeface="Calibri" pitchFamily="34" charset="-120"/>
              </a:rPr>
              <a:t>I copied or downloaded my work and submitted to Canvas.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975360" y="670560"/>
            <a:ext cx="9753600" cy="36576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975360" y="1097280"/>
            <a:ext cx="9753600" cy="79248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Your Panel Is Filling Up</a:t>
            </a:r>
            <a:endParaRPr lang="en-US" sz="2800" dirty="0"/>
          </a:p>
        </p:txBody>
      </p:sp>
      <p:sp>
        <p:nvSpPr>
          <p:cNvPr id="7" name="Text 4"/>
          <p:cNvSpPr/>
          <p:nvPr/>
        </p:nvSpPr>
        <p:spPr>
          <a:xfrm>
            <a:off x="1219200" y="2072640"/>
            <a:ext cx="9387840" cy="1645920"/>
          </a:xfrm>
          <a:prstGeom prst="rect">
            <a:avLst/>
          </a:prstGeom>
          <a:noFill/>
          <a:ln/>
        </p:spPr>
        <p:txBody>
          <a:bodyPr wrap="square" lIns="0" tIns="0" rIns="0" bIns="0" rtlCol="0" anchor="t"/>
          <a:lstStyle/>
          <a:p>
            <a:pPr algn="ctr" indent="0" marL="0">
              <a:buNone/>
            </a:pPr>
            <a:r>
              <a:rPr lang="en-US" sz="1350" dirty="0">
                <a:solidFill>
                  <a:srgbClr val="FFFFFF"/>
                </a:solidFill>
                <a:latin typeface="Calibri" pitchFamily="34" charset="0"/>
                <a:ea typeface="Calibri" pitchFamily="34" charset="-122"/>
                <a:cs typeface="Calibri" pitchFamily="34" charset="-120"/>
              </a:rPr>
              <a:t>Nice work, Exhibit Designer! Map, source, community, virtue -- all labeled. The director stopped at your panel, looked at your work, then looked at you. "You know," she said quietly, "this museum was never really about the exhibits." She walked away before you could ask what she meant.</a:t>
            </a:r>
            <a:endParaRPr lang="en-US" sz="1350" dirty="0"/>
          </a:p>
        </p:txBody>
      </p:sp>
      <p:sp>
        <p:nvSpPr>
          <p:cNvPr id="8" name="Shape 5"/>
          <p:cNvSpPr/>
          <p:nvPr/>
        </p:nvSpPr>
        <p:spPr>
          <a:xfrm>
            <a:off x="1463040" y="3962400"/>
            <a:ext cx="8900160" cy="1950720"/>
          </a:xfrm>
          <a:prstGeom prst="roundRect">
            <a:avLst>
              <a:gd name="adj" fmla="val 7500"/>
            </a:avLst>
          </a:prstGeom>
          <a:solidFill>
            <a:srgbClr val="0E1C42"/>
          </a:solidFill>
          <a:ln w="19050">
            <a:solidFill>
              <a:srgbClr val="1A8A7D"/>
            </a:solidFill>
            <a:prstDash val="solid"/>
          </a:ln>
        </p:spPr>
      </p:sp>
      <p:sp>
        <p:nvSpPr>
          <p:cNvPr id="9" name="Text 6"/>
          <p:cNvSpPr/>
          <p:nvPr/>
        </p:nvSpPr>
        <p:spPr>
          <a:xfrm>
            <a:off x="1706880" y="4145280"/>
            <a:ext cx="8412480" cy="365760"/>
          </a:xfrm>
          <a:prstGeom prst="rect">
            <a:avLst/>
          </a:prstGeom>
          <a:noFill/>
          <a:ln/>
        </p:spPr>
        <p:txBody>
          <a:bodyPr wrap="square" lIns="0" tIns="0" rIns="0" bIns="0" rtlCol="0" anchor="ctr"/>
          <a:lstStyle/>
          <a:p>
            <a:pPr algn="ctr" indent="0" marL="0">
              <a:buNone/>
            </a:pPr>
            <a:r>
              <a:rPr lang="en-US" sz="1100" b="1" spc="120" kern="0" dirty="0">
                <a:solidFill>
                  <a:srgbClr val="1A8A7D"/>
                </a:solidFill>
                <a:latin typeface="Calibri" pitchFamily="34" charset="0"/>
                <a:ea typeface="Calibri" pitchFamily="34" charset="-122"/>
                <a:cs typeface="Calibri" pitchFamily="34" charset="-120"/>
              </a:rPr>
              <a:t>COMING NEXT: YOU PRESENT</a:t>
            </a:r>
            <a:endParaRPr lang="en-US" sz="1100" dirty="0"/>
          </a:p>
        </p:txBody>
      </p:sp>
      <p:sp>
        <p:nvSpPr>
          <p:cNvPr id="10" name="Text 7"/>
          <p:cNvSpPr/>
          <p:nvPr/>
        </p:nvSpPr>
        <p:spPr>
          <a:xfrm>
            <a:off x="1706880" y="4572000"/>
            <a:ext cx="8412480" cy="1219200"/>
          </a:xfrm>
          <a:prstGeom prst="rect">
            <a:avLst/>
          </a:prstGeom>
          <a:noFill/>
          <a:ln/>
        </p:spPr>
        <p:txBody>
          <a:bodyPr wrap="square" lIns="0" tIns="0" rIns="0" bIns="0" rtlCol="0" anchor="t"/>
          <a:lstStyle/>
          <a:p>
            <a:pPr algn="ctr" indent="0" marL="0">
              <a:buNone/>
            </a:pPr>
            <a:r>
              <a:rPr lang="en-US" sz="1250" i="1" dirty="0">
                <a:solidFill>
                  <a:srgbClr val="EAF8FD"/>
                </a:solidFill>
                <a:latin typeface="Calibri" pitchFamily="34" charset="0"/>
                <a:ea typeface="Calibri" pitchFamily="34" charset="-122"/>
                <a:cs typeface="Calibri" pitchFamily="34" charset="-120"/>
              </a:rPr>
              <a:t>Next time, you'll present your work to visitors -- and you'll start to see what the museum was really teaching you all year. Bring your panel and your voice. The visitors are almost here.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2026-07-11T19:29:59Z</dcterms:created>
  <dcterms:modified xsi:type="dcterms:W3CDTF">2026-07-11T19:29:59Z</dcterms:modified>
</cp:coreProperties>
</file>