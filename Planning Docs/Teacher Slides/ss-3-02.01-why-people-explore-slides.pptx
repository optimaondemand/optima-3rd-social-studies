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Read the title aloud dramatically. Then pause 5 full seconds before speaking. Say: 'We have one job today — figure out why people left everything they knew to sail into the unknown.' Don't explain anything yet. Build the mystery.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Curator's Question aloud. Pause after reading it. Do NOT answer it. Say: 'That is what we are going to figure out together today. Your job as Route Curators is to investigate and explain it.' Maximum 90 seconds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 seconds here. Ask: 'What do YOU think courage means?' Take 2-3 chat responses. Then say: 'Today we are going to see exactly what courage looked like for real explorers.' Don't define courage for them yet — let it come out through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5 seconds of silence. Then say: 'Type one thing you'd want to know.' Read 3-4 responses aloud. Use Socratic questions to draw out that people needed a REASON strong enough to make the risk worth it. That is the key idea for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anticipation. Say: 'We have four locked cases. Each one holds a reason people explored. We are going to figure out each reason from the clues before I tell you what it is.' Do NOT reveal the reason names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SAY 'CURIOSITY' YET. Give 5 seconds of silence. Then say: 'Type what you notice about these clues.' After reading responses, use the Socratic questions to guide students toward the idea of curiosity. Ask: 'What word describes someone who HAS to know what's in that blank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'You figured it out — Hall 1 is CURIOSITY.' Ask: 'Can you remember a time you were so curious about something you just HAD to find out?' Take one response. Then say: 'The next case file is waiting.' Move quickly to Case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spice clue usually gets a strong reaction. If students are confused, ask: 'What is pepper worth TODAY? Now imagine paying as much as a house for it. Would you take a risk to find a faster way to get it?' Don't name the concept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Hall 2! Quick retrieval: 'Without looking — name the two reasons we've discovered so far.' Take one or two responses. Then move to Case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here is that sometimes it was RULERS, not the explorers themselves, who drove exploration. Ask: 'Who is making the decision in these clues — the explorer or someone else?' This sets up the idea that exploration had multiple 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down, one to go. Quick retrieval: 'Cover your screen — can you name all THREE reasons so far?' Give 10 seconds. Then say: 'One more case file is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hardest one for students. Scaffold with: 'The priest is not looking for gold. He is not looking for new lands. He is going because he wants to SHARE something. What is it?' If students are stuck, point to 'our faith' in the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Say the exhibit label aloud together. Then do a quick choral retrieval: 'Everyone — all four reasons, on three: one, two, three...' Students shout them out. This is a big moment — honor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connection slide. The goal is for students to see that the HUMAN reasons haven't changed. Ask: 'Are scientists exploring space because of curiosity? Trade? What about claiming territory?' This previews Unit concepts and deepens the 4-reasons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deep learning happens. Don't jump to the correction box too fast. Ask the Socratic questions first. Many students also write 'brave' as their only answer — this error analysis will help them see why motives matter. Give 2 minutes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VISIBLY — students need to hear the 'inside your head' process. After modeling, give 90 seconds for students to try in chat. Read strong responses: 'Notice how [student] named a specific reason AND gave evidence. That is what makes an answer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together. For Q3, ask: 'What made exploration dangerous?' Let students name the risks (ships sinking, food running out, wrong maps). Then say: 'And yet they went anyway. That IS courage.'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Model thinking for Q1: 'I would pick trade routes because the lesson said spices were worth a fortune — that's my evidence.' Walk through the Curator Task: 'Imagine you are writing the panel that goes next to the crate. Tell visitors what you discovered.' Give 8 minutes for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15 seconds of silence. No hints. Then read out answers. Ask: 'Hands up — who got all four?' Celebrate. For any missed, say: 'That one will be on the lesson page too — let it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enthusiastically: 'You opened the exploration crate and wrote exhibit explanations about why people explored. You named real motives — curiosity, trade, land, religion — and you connected courage to the risks explorers faced.' Tease next lesson: 'Next time, we look at the tools explorers used — compasses, astrolabes, maps. The exhibit is just getting started.'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5143500"/>
          </a:xfrm>
          <a:prstGeom prst="roundRect">
            <a:avLst>
              <a:gd name="adj" fmla="val 2133"/>
            </a:avLst>
          </a:prstGeom>
          <a:solidFill>
            <a:srgbClr val="E2E8F4"/>
          </a:solidFill>
          <a:ln w="19050">
            <a:solidFill>
              <a:srgbClr val="B0B8CC"/>
            </a:solidFill>
            <a:prstDash val="dash"/>
          </a:ln>
        </p:spPr>
      </p:sp>
      <p:sp>
        <p:nvSpPr>
          <p:cNvPr id="5" name="Text 3"/>
          <p:cNvSpPr/>
          <p:nvPr/>
        </p:nvSpPr>
        <p:spPr>
          <a:xfrm>
            <a:off x="0" y="0"/>
            <a:ext cx="9144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137160" y="274320"/>
            <a:ext cx="8869680" cy="47777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 sailing ship on open ocean, dramatic sky, Age of Exploration era</a:t>
            </a:r>
            <a:endParaRPr lang="en-US" sz="1100" dirty="0"/>
          </a:p>
        </p:txBody>
      </p:sp>
      <p:sp>
        <p:nvSpPr>
          <p:cNvPr id="7" name="Shape 5"/>
          <p:cNvSpPr/>
          <p:nvPr/>
        </p:nvSpPr>
        <p:spPr>
          <a:xfrm>
            <a:off x="0" y="1280160"/>
            <a:ext cx="9144000" cy="2560320"/>
          </a:xfrm>
          <a:prstGeom prst="rect">
            <a:avLst/>
          </a:prstGeom>
          <a:solidFill>
            <a:srgbClr val="0B1835">
              <a:alpha val="80000"/>
            </a:srgbClr>
          </a:solidFill>
          <a:ln/>
        </p:spPr>
      </p:sp>
      <p:sp>
        <p:nvSpPr>
          <p:cNvPr id="8" name="Text 6"/>
          <p:cNvSpPr/>
          <p:nvPr/>
        </p:nvSpPr>
        <p:spPr>
          <a:xfrm>
            <a:off x="457200" y="1417320"/>
            <a:ext cx="82296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LESSON 3.02.01  ·  GRADE 3  ·  AGE OF EXPLORATION</a:t>
            </a:r>
            <a:endParaRPr lang="en-US" sz="900" dirty="0"/>
          </a:p>
        </p:txBody>
      </p:sp>
      <p:sp>
        <p:nvSpPr>
          <p:cNvPr id="9" name="Text 7"/>
          <p:cNvSpPr/>
          <p:nvPr/>
        </p:nvSpPr>
        <p:spPr>
          <a:xfrm>
            <a:off x="457200" y="1737360"/>
            <a:ext cx="8229600" cy="1005840"/>
          </a:xfrm>
          <a:prstGeom prst="rect">
            <a:avLst/>
          </a:prstGeom>
          <a:noFill/>
          <a:ln/>
        </p:spPr>
        <p:txBody>
          <a:bodyPr wrap="square" lIns="0" tIns="0" rIns="0" bIns="0" rtlCol="0" anchor="ctr"/>
          <a:lstStyle/>
          <a:p>
            <a:pPr algn="ctr" indent="0" marL="0">
              <a:buNone/>
            </a:pPr>
            <a:r>
              <a:rPr lang="en-US" sz="4400" b="1" dirty="0">
                <a:solidFill>
                  <a:srgbClr val="D4943A"/>
                </a:solidFill>
                <a:latin typeface="Cambria" pitchFamily="34" charset="0"/>
                <a:ea typeface="Cambria" pitchFamily="34" charset="-122"/>
                <a:cs typeface="Cambria" pitchFamily="34" charset="-120"/>
              </a:rPr>
              <a:t>Why People Explore</a:t>
            </a:r>
            <a:endParaRPr lang="en-US" sz="4400" dirty="0"/>
          </a:p>
        </p:txBody>
      </p:sp>
      <p:sp>
        <p:nvSpPr>
          <p:cNvPr id="10" name="Text 8"/>
          <p:cNvSpPr/>
          <p:nvPr/>
        </p:nvSpPr>
        <p:spPr>
          <a:xfrm>
            <a:off x="457200" y="2834640"/>
            <a:ext cx="8229600" cy="32004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Exploration Wing  ·  Junior Curator Training Hall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65760" y="457200"/>
            <a:ext cx="4114800" cy="3474720"/>
          </a:xfrm>
          <a:prstGeom prst="roundRect">
            <a:avLst>
              <a:gd name="adj" fmla="val 3158"/>
            </a:avLst>
          </a:prstGeom>
          <a:solidFill>
            <a:srgbClr val="E2E8F4"/>
          </a:solidFill>
          <a:ln w="19050">
            <a:solidFill>
              <a:srgbClr val="B0B8CC"/>
            </a:solidFill>
            <a:prstDash val="dash"/>
          </a:ln>
        </p:spPr>
      </p:sp>
      <p:sp>
        <p:nvSpPr>
          <p:cNvPr id="5" name="Text 3"/>
          <p:cNvSpPr/>
          <p:nvPr/>
        </p:nvSpPr>
        <p:spPr>
          <a:xfrm>
            <a:off x="365760" y="45720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731520"/>
            <a:ext cx="384048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Old wooden crate, partially opened, spilling maps and artifacts — dramatic museum lighting</a:t>
            </a:r>
            <a:endParaRPr lang="en-US" sz="1100" dirty="0"/>
          </a:p>
        </p:txBody>
      </p:sp>
      <p:sp>
        <p:nvSpPr>
          <p:cNvPr id="7" name="Text 5"/>
          <p:cNvSpPr/>
          <p:nvPr/>
        </p:nvSpPr>
        <p:spPr>
          <a:xfrm>
            <a:off x="4754880" y="502920"/>
            <a:ext cx="39319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EXPLORATION WING — JUST OPENED</a:t>
            </a:r>
            <a:endParaRPr lang="en-US" sz="900" dirty="0"/>
          </a:p>
        </p:txBody>
      </p:sp>
      <p:sp>
        <p:nvSpPr>
          <p:cNvPr id="8" name="Text 6"/>
          <p:cNvSpPr/>
          <p:nvPr/>
        </p:nvSpPr>
        <p:spPr>
          <a:xfrm>
            <a:off x="4754880" y="822960"/>
            <a:ext cx="3931920" cy="640080"/>
          </a:xfrm>
          <a:prstGeom prst="rect">
            <a:avLst/>
          </a:prstGeom>
          <a:noFill/>
          <a:ln/>
        </p:spPr>
        <p:txBody>
          <a:bodyPr wrap="square" lIns="0" tIns="0" rIns="0" bIns="0"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The Crate is Open.</a:t>
            </a:r>
            <a:endParaRPr lang="en-US" sz="2800" dirty="0"/>
          </a:p>
        </p:txBody>
      </p:sp>
      <p:sp>
        <p:nvSpPr>
          <p:cNvPr id="9" name="Text 7"/>
          <p:cNvSpPr/>
          <p:nvPr/>
        </p:nvSpPr>
        <p:spPr>
          <a:xfrm>
            <a:off x="4754880" y="1536192"/>
            <a:ext cx="3931920" cy="12344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Inside: route sketches, trade goods, and cards covered with questions.</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Before Route Curators can build the exhibit, one question must be answered first.</a:t>
            </a:r>
            <a:endParaRPr lang="en-US" sz="1300" dirty="0"/>
          </a:p>
        </p:txBody>
      </p:sp>
      <p:sp>
        <p:nvSpPr>
          <p:cNvPr id="10" name="Shape 8"/>
          <p:cNvSpPr/>
          <p:nvPr/>
        </p:nvSpPr>
        <p:spPr>
          <a:xfrm>
            <a:off x="4754880" y="2880360"/>
            <a:ext cx="3931920" cy="777240"/>
          </a:xfrm>
          <a:prstGeom prst="roundRect">
            <a:avLst>
              <a:gd name="adj" fmla="val 11765"/>
            </a:avLst>
          </a:prstGeom>
          <a:solidFill>
            <a:srgbClr val="D4943A"/>
          </a:solidFill>
          <a:ln w="12700">
            <a:solidFill>
              <a:srgbClr val="F5C87A"/>
            </a:solidFill>
            <a:prstDash val="solid"/>
          </a:ln>
        </p:spPr>
      </p:sp>
      <p:sp>
        <p:nvSpPr>
          <p:cNvPr id="11" name="Text 9"/>
          <p:cNvSpPr/>
          <p:nvPr/>
        </p:nvSpPr>
        <p:spPr>
          <a:xfrm>
            <a:off x="4892040" y="2944368"/>
            <a:ext cx="3657600" cy="658368"/>
          </a:xfrm>
          <a:prstGeom prst="rect">
            <a:avLst/>
          </a:prstGeom>
          <a:noFill/>
          <a:ln/>
        </p:spPr>
        <p:txBody>
          <a:bodyPr wrap="square" lIns="0" tIns="0" rIns="0" bIns="0" rtlCol="0" anchor="ctr"/>
          <a:lstStyle/>
          <a:p>
            <a:pPr indent="0" marL="0">
              <a:buNone/>
            </a:pPr>
            <a:r>
              <a:rPr lang="en-US" sz="1200" b="1" i="1" dirty="0">
                <a:solidFill>
                  <a:srgbClr val="3A2000"/>
                </a:solidFill>
                <a:latin typeface="Cambria" pitchFamily="34" charset="0"/>
                <a:ea typeface="Cambria" pitchFamily="34" charset="-122"/>
                <a:cs typeface="Cambria" pitchFamily="34" charset="-120"/>
              </a:rPr>
              <a:t>Why would people leave their homes and risk everything to explore places they had never seen?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274320" y="365760"/>
            <a:ext cx="3840480" cy="402336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274320" y="36576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11480" y="640080"/>
            <a:ext cx="3566160" cy="3657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Explorer standing at ship bow looking toward horizon, sense of courage and adventure</a:t>
            </a:r>
            <a:endParaRPr lang="en-US" sz="1100" dirty="0"/>
          </a:p>
        </p:txBody>
      </p:sp>
      <p:sp>
        <p:nvSpPr>
          <p:cNvPr id="7" name="Text 5"/>
          <p:cNvSpPr/>
          <p:nvPr/>
        </p:nvSpPr>
        <p:spPr>
          <a:xfrm>
            <a:off x="4389120" y="502920"/>
            <a:ext cx="4389120" cy="256032"/>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VIRTUE SPOTLIGHT</a:t>
            </a:r>
            <a:endParaRPr lang="en-US" sz="900" dirty="0"/>
          </a:p>
        </p:txBody>
      </p:sp>
      <p:sp>
        <p:nvSpPr>
          <p:cNvPr id="8" name="Text 6"/>
          <p:cNvSpPr/>
          <p:nvPr/>
        </p:nvSpPr>
        <p:spPr>
          <a:xfrm>
            <a:off x="4389120" y="822960"/>
            <a:ext cx="4389120" cy="731520"/>
          </a:xfrm>
          <a:prstGeom prst="rect">
            <a:avLst/>
          </a:prstGeom>
          <a:noFill/>
          <a:ln/>
        </p:spPr>
        <p:txBody>
          <a:bodyPr wrap="square" lIns="0" tIns="0" rIns="0" bIns="0" rtlCol="0" anchor="ctr"/>
          <a:lstStyle/>
          <a:p>
            <a:pPr indent="0" marL="0">
              <a:buNone/>
            </a:pPr>
            <a:r>
              <a:rPr lang="en-US" sz="4000" b="1" dirty="0">
                <a:solidFill>
                  <a:srgbClr val="D4943A"/>
                </a:solidFill>
                <a:latin typeface="Cambria" pitchFamily="34" charset="0"/>
                <a:ea typeface="Cambria" pitchFamily="34" charset="-122"/>
                <a:cs typeface="Cambria" pitchFamily="34" charset="-120"/>
              </a:rPr>
              <a:t>Courage</a:t>
            </a:r>
            <a:endParaRPr lang="en-US" sz="4000" dirty="0"/>
          </a:p>
        </p:txBody>
      </p:sp>
      <p:sp>
        <p:nvSpPr>
          <p:cNvPr id="9" name="Text 7"/>
          <p:cNvSpPr/>
          <p:nvPr/>
        </p:nvSpPr>
        <p:spPr>
          <a:xfrm>
            <a:off x="4389120" y="1645920"/>
            <a:ext cx="420624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Explorers left behind everything they knew — their homes, families, and safety — to sail into the unknown.</a:t>
            </a:r>
            <a:endParaRPr lang="en-US" sz="1300" dirty="0"/>
          </a:p>
        </p:txBody>
      </p:sp>
      <p:sp>
        <p:nvSpPr>
          <p:cNvPr id="10" name="Text 8"/>
          <p:cNvSpPr/>
          <p:nvPr/>
        </p:nvSpPr>
        <p:spPr>
          <a:xfrm>
            <a:off x="4389120" y="2487168"/>
            <a:ext cx="4206240" cy="685800"/>
          </a:xfrm>
          <a:prstGeom prst="rect">
            <a:avLst/>
          </a:prstGeom>
          <a:noFill/>
          <a:ln/>
        </p:spPr>
        <p:txBody>
          <a:bodyPr wrap="square" lIns="0" tIns="0" rIns="0" bIns="0" rtlCol="0" anchor="ctr"/>
          <a:lstStyle/>
          <a:p>
            <a:pPr indent="0" marL="0">
              <a:buNone/>
            </a:pPr>
            <a:r>
              <a:rPr lang="en-US" sz="1200" i="1" dirty="0">
                <a:solidFill>
                  <a:srgbClr val="A0C0E8"/>
                </a:solidFill>
                <a:latin typeface="Calibri" pitchFamily="34" charset="0"/>
                <a:ea typeface="Calibri" pitchFamily="34" charset="-122"/>
                <a:cs typeface="Calibri" pitchFamily="34" charset="-120"/>
              </a:rPr>
              <a:t>As you study why people explored today, ask yourself: what risks were they willing to take, and why did they think it was worth it?</a:t>
            </a:r>
            <a:endParaRPr lang="en-US" sz="1200" dirty="0"/>
          </a:p>
        </p:txBody>
      </p:sp>
      <p:sp>
        <p:nvSpPr>
          <p:cNvPr id="11" name="Shape 9"/>
          <p:cNvSpPr/>
          <p:nvPr/>
        </p:nvSpPr>
        <p:spPr>
          <a:xfrm>
            <a:off x="4389120" y="3246120"/>
            <a:ext cx="4206240" cy="1371600"/>
          </a:xfrm>
          <a:prstGeom prst="roundRect">
            <a:avLst>
              <a:gd name="adj" fmla="val 8000"/>
            </a:avLst>
          </a:prstGeom>
          <a:solidFill>
            <a:srgbClr val="FFF3DC"/>
          </a:solidFill>
          <a:ln w="19050">
            <a:solidFill>
              <a:srgbClr val="F5E6C8"/>
            </a:solidFill>
            <a:prstDash val="solid"/>
          </a:ln>
        </p:spPr>
      </p:sp>
      <p:sp>
        <p:nvSpPr>
          <p:cNvPr id="12" name="Text 10"/>
          <p:cNvSpPr/>
          <p:nvPr/>
        </p:nvSpPr>
        <p:spPr>
          <a:xfrm>
            <a:off x="4526280" y="3300984"/>
            <a:ext cx="39319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4526280" y="3502152"/>
            <a:ext cx="3931920" cy="10515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courage means..."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"An explorer would need courage when..."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CURATOR'S QUESTION</a:t>
            </a:r>
            <a:endParaRPr lang="en-US" sz="900" dirty="0"/>
          </a:p>
        </p:txBody>
      </p:sp>
      <p:sp>
        <p:nvSpPr>
          <p:cNvPr id="3" name="Text 1"/>
          <p:cNvSpPr/>
          <p:nvPr/>
        </p:nvSpPr>
        <p:spPr>
          <a:xfrm>
            <a:off x="365760" y="548640"/>
            <a:ext cx="8412480" cy="64008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Imagine: Someone offers you a spot on an explorer's ship.</a:t>
            </a:r>
            <a:endParaRPr lang="en-US" sz="2800" dirty="0"/>
          </a:p>
        </p:txBody>
      </p:sp>
      <p:sp>
        <p:nvSpPr>
          <p:cNvPr id="4" name="Shape 2"/>
          <p:cNvSpPr/>
          <p:nvPr/>
        </p:nvSpPr>
        <p:spPr>
          <a:xfrm>
            <a:off x="365760" y="1325880"/>
            <a:ext cx="4114800" cy="2560320"/>
          </a:xfrm>
          <a:prstGeom prst="roundRect">
            <a:avLst>
              <a:gd name="adj" fmla="val 4286"/>
            </a:avLst>
          </a:prstGeom>
          <a:solidFill>
            <a:srgbClr val="E2E8F4"/>
          </a:solidFill>
          <a:ln w="19050">
            <a:solidFill>
              <a:srgbClr val="B0B8CC"/>
            </a:solidFill>
            <a:prstDash val="dash"/>
          </a:ln>
        </p:spPr>
      </p:sp>
      <p:sp>
        <p:nvSpPr>
          <p:cNvPr id="5" name="Text 3"/>
          <p:cNvSpPr/>
          <p:nvPr/>
        </p:nvSpPr>
        <p:spPr>
          <a:xfrm>
            <a:off x="365760" y="132588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600200"/>
            <a:ext cx="3840480" cy="2194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15th-century sailing ship (caravel) in harbor, crew preparing to depart</a:t>
            </a:r>
            <a:endParaRPr lang="en-US" sz="1100" dirty="0"/>
          </a:p>
        </p:txBody>
      </p:sp>
      <p:sp>
        <p:nvSpPr>
          <p:cNvPr id="7" name="Shape 5"/>
          <p:cNvSpPr/>
          <p:nvPr/>
        </p:nvSpPr>
        <p:spPr>
          <a:xfrm>
            <a:off x="4663440" y="1325880"/>
            <a:ext cx="3840480" cy="1234440"/>
          </a:xfrm>
          <a:prstGeom prst="roundRect">
            <a:avLst>
              <a:gd name="adj" fmla="val 8889"/>
            </a:avLst>
          </a:prstGeom>
          <a:solidFill>
            <a:srgbClr val="F0F2F8"/>
          </a:solidFill>
          <a:ln w="12700">
            <a:solidFill>
              <a:srgbClr val="D0D8E8"/>
            </a:solidFill>
            <a:prstDash val="solid"/>
          </a:ln>
        </p:spPr>
      </p:sp>
      <p:sp>
        <p:nvSpPr>
          <p:cNvPr id="8" name="Text 6"/>
          <p:cNvSpPr/>
          <p:nvPr/>
        </p:nvSpPr>
        <p:spPr>
          <a:xfrm>
            <a:off x="4800600" y="1463040"/>
            <a:ext cx="3566160" cy="96012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What would you want to know before saying YES?</a:t>
            </a:r>
            <a:endParaRPr lang="en-US" sz="1400" dirty="0"/>
          </a:p>
        </p:txBody>
      </p:sp>
      <p:sp>
        <p:nvSpPr>
          <p:cNvPr id="9" name="Text 7"/>
          <p:cNvSpPr/>
          <p:nvPr/>
        </p:nvSpPr>
        <p:spPr>
          <a:xfrm>
            <a:off x="4663440" y="2633472"/>
            <a:ext cx="3840480" cy="25603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Think quietly for 5 seconds. Then type in chat.</a:t>
            </a:r>
            <a:endParaRPr lang="en-US" sz="1000" dirty="0"/>
          </a:p>
        </p:txBody>
      </p:sp>
      <p:sp>
        <p:nvSpPr>
          <p:cNvPr id="10" name="Shape 8"/>
          <p:cNvSpPr/>
          <p:nvPr/>
        </p:nvSpPr>
        <p:spPr>
          <a:xfrm>
            <a:off x="4663440" y="2926080"/>
            <a:ext cx="3840480" cy="1463040"/>
          </a:xfrm>
          <a:prstGeom prst="roundRect">
            <a:avLst>
              <a:gd name="adj" fmla="val 7500"/>
            </a:avLst>
          </a:prstGeom>
          <a:solidFill>
            <a:srgbClr val="FFF3DC"/>
          </a:solidFill>
          <a:ln w="19050">
            <a:solidFill>
              <a:srgbClr val="F5E6C8"/>
            </a:solidFill>
            <a:prstDash val="solid"/>
          </a:ln>
        </p:spPr>
      </p:sp>
      <p:sp>
        <p:nvSpPr>
          <p:cNvPr id="11" name="Text 9"/>
          <p:cNvSpPr/>
          <p:nvPr/>
        </p:nvSpPr>
        <p:spPr>
          <a:xfrm>
            <a:off x="4800600" y="2980944"/>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800600" y="3182112"/>
            <a:ext cx="356616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"Before I said yes, I would want to know..."</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 would not go because..."</a:t>
            </a:r>
            <a:endParaRPr lang="en-US" sz="1200" dirty="0"/>
          </a:p>
        </p:txBody>
      </p:sp>
      <p:sp>
        <p:nvSpPr>
          <p:cNvPr id="13" name="Shape 11"/>
          <p:cNvSpPr/>
          <p:nvPr/>
        </p:nvSpPr>
        <p:spPr>
          <a:xfrm>
            <a:off x="365760" y="3950208"/>
            <a:ext cx="8412480" cy="1051560"/>
          </a:xfrm>
          <a:prstGeom prst="roundRect">
            <a:avLst>
              <a:gd name="adj" fmla="val 13043"/>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48640" y="4041648"/>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4297680"/>
            <a:ext cx="8046720" cy="6126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worries you most about the voyage?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make the risk worth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your answer tell us about WHY people explored?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74320"/>
            <a:ext cx="82296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EXPLORATION WING · INVESTIGATION</a:t>
            </a:r>
            <a:endParaRPr lang="en-US" sz="900" dirty="0"/>
          </a:p>
        </p:txBody>
      </p:sp>
      <p:sp>
        <p:nvSpPr>
          <p:cNvPr id="5" name="Text 3"/>
          <p:cNvSpPr/>
          <p:nvPr/>
        </p:nvSpPr>
        <p:spPr>
          <a:xfrm>
            <a:off x="457200" y="621792"/>
            <a:ext cx="8229600" cy="64008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4 Mystery Cases Are Waiting.</a:t>
            </a:r>
            <a:endParaRPr lang="en-US" sz="3400" dirty="0"/>
          </a:p>
        </p:txBody>
      </p:sp>
      <p:sp>
        <p:nvSpPr>
          <p:cNvPr id="6" name="Text 4"/>
          <p:cNvSpPr/>
          <p:nvPr/>
        </p:nvSpPr>
        <p:spPr>
          <a:xfrm>
            <a:off x="914400" y="1353312"/>
            <a:ext cx="731520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Each case holds clues about a different reason people explored. Your job: study the clues and name the reason before we reveal it.</a:t>
            </a:r>
            <a:endParaRPr lang="en-US" sz="1300" dirty="0"/>
          </a:p>
        </p:txBody>
      </p:sp>
      <p:sp>
        <p:nvSpPr>
          <p:cNvPr id="7" name="Shape 5"/>
          <p:cNvSpPr/>
          <p:nvPr/>
        </p:nvSpPr>
        <p:spPr>
          <a:xfrm>
            <a:off x="365760" y="2011680"/>
            <a:ext cx="1920240" cy="1097280"/>
          </a:xfrm>
          <a:prstGeom prst="roundRect">
            <a:avLst>
              <a:gd name="adj" fmla="val 10000"/>
            </a:avLst>
          </a:prstGeom>
          <a:solidFill>
            <a:srgbClr val="3A4A6B"/>
          </a:solidFill>
          <a:ln/>
          <a:effectLst>
            <a:outerShdw sx="100000" sy="100000" kx="0" ky="0" algn="bl" rotWithShape="0" blurRad="63500" dist="25400" dir="8100000">
              <a:srgbClr val="000000">
                <a:alpha val="15000"/>
              </a:srgbClr>
            </a:outerShdw>
          </a:effectLst>
        </p:spPr>
      </p:sp>
      <p:sp>
        <p:nvSpPr>
          <p:cNvPr id="8" name="Text 6"/>
          <p:cNvSpPr/>
          <p:nvPr/>
        </p:nvSpPr>
        <p:spPr>
          <a:xfrm>
            <a:off x="365760" y="2066544"/>
            <a:ext cx="1920240" cy="201168"/>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1</a:t>
            </a:r>
            <a:endParaRPr lang="en-US" sz="900" dirty="0"/>
          </a:p>
        </p:txBody>
      </p:sp>
      <p:sp>
        <p:nvSpPr>
          <p:cNvPr id="9" name="Text 7"/>
          <p:cNvSpPr/>
          <p:nvPr/>
        </p:nvSpPr>
        <p:spPr>
          <a:xfrm>
            <a:off x="365760" y="2267712"/>
            <a:ext cx="1920240" cy="3474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0" name="Shape 8"/>
          <p:cNvSpPr/>
          <p:nvPr/>
        </p:nvSpPr>
        <p:spPr>
          <a:xfrm>
            <a:off x="2423160" y="2011680"/>
            <a:ext cx="1920240" cy="1097280"/>
          </a:xfrm>
          <a:prstGeom prst="roundRect">
            <a:avLst>
              <a:gd name="adj" fmla="val 10000"/>
            </a:avLst>
          </a:prstGeom>
          <a:solidFill>
            <a:srgbClr val="3A4A6B"/>
          </a:solidFill>
          <a:ln/>
          <a:effectLst>
            <a:outerShdw sx="100000" sy="100000" kx="0" ky="0" algn="bl" rotWithShape="0" blurRad="63500" dist="25400" dir="8100000">
              <a:srgbClr val="000000">
                <a:alpha val="15000"/>
              </a:srgbClr>
            </a:outerShdw>
          </a:effectLst>
        </p:spPr>
      </p:sp>
      <p:sp>
        <p:nvSpPr>
          <p:cNvPr id="11" name="Text 9"/>
          <p:cNvSpPr/>
          <p:nvPr/>
        </p:nvSpPr>
        <p:spPr>
          <a:xfrm>
            <a:off x="2423160" y="2066544"/>
            <a:ext cx="1920240" cy="201168"/>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2</a:t>
            </a:r>
            <a:endParaRPr lang="en-US" sz="900" dirty="0"/>
          </a:p>
        </p:txBody>
      </p:sp>
      <p:sp>
        <p:nvSpPr>
          <p:cNvPr id="12" name="Text 10"/>
          <p:cNvSpPr/>
          <p:nvPr/>
        </p:nvSpPr>
        <p:spPr>
          <a:xfrm>
            <a:off x="2423160" y="2267712"/>
            <a:ext cx="1920240" cy="3474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3" name="Shape 11"/>
          <p:cNvSpPr/>
          <p:nvPr/>
        </p:nvSpPr>
        <p:spPr>
          <a:xfrm>
            <a:off x="4480560" y="2011680"/>
            <a:ext cx="1920240" cy="1097280"/>
          </a:xfrm>
          <a:prstGeom prst="roundRect">
            <a:avLst>
              <a:gd name="adj" fmla="val 10000"/>
            </a:avLst>
          </a:prstGeom>
          <a:solidFill>
            <a:srgbClr val="3A4A6B"/>
          </a:solidFill>
          <a:ln/>
          <a:effectLst>
            <a:outerShdw sx="100000" sy="100000" kx="0" ky="0" algn="bl" rotWithShape="0" blurRad="63500" dist="25400" dir="8100000">
              <a:srgbClr val="000000">
                <a:alpha val="15000"/>
              </a:srgbClr>
            </a:outerShdw>
          </a:effectLst>
        </p:spPr>
      </p:sp>
      <p:sp>
        <p:nvSpPr>
          <p:cNvPr id="14" name="Text 12"/>
          <p:cNvSpPr/>
          <p:nvPr/>
        </p:nvSpPr>
        <p:spPr>
          <a:xfrm>
            <a:off x="4480560" y="2066544"/>
            <a:ext cx="1920240" cy="201168"/>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3</a:t>
            </a:r>
            <a:endParaRPr lang="en-US" sz="900" dirty="0"/>
          </a:p>
        </p:txBody>
      </p:sp>
      <p:sp>
        <p:nvSpPr>
          <p:cNvPr id="15" name="Text 13"/>
          <p:cNvSpPr/>
          <p:nvPr/>
        </p:nvSpPr>
        <p:spPr>
          <a:xfrm>
            <a:off x="4480560" y="2267712"/>
            <a:ext cx="1920240" cy="3474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6" name="Shape 14"/>
          <p:cNvSpPr/>
          <p:nvPr/>
        </p:nvSpPr>
        <p:spPr>
          <a:xfrm>
            <a:off x="6537960" y="2011680"/>
            <a:ext cx="1920240" cy="1097280"/>
          </a:xfrm>
          <a:prstGeom prst="roundRect">
            <a:avLst>
              <a:gd name="adj" fmla="val 10000"/>
            </a:avLst>
          </a:prstGeom>
          <a:solidFill>
            <a:srgbClr val="3A4A6B"/>
          </a:solidFill>
          <a:ln/>
          <a:effectLst>
            <a:outerShdw sx="100000" sy="100000" kx="0" ky="0" algn="bl" rotWithShape="0" blurRad="63500" dist="25400" dir="8100000">
              <a:srgbClr val="000000">
                <a:alpha val="15000"/>
              </a:srgbClr>
            </a:outerShdw>
          </a:effectLst>
        </p:spPr>
      </p:sp>
      <p:sp>
        <p:nvSpPr>
          <p:cNvPr id="17" name="Text 15"/>
          <p:cNvSpPr/>
          <p:nvPr/>
        </p:nvSpPr>
        <p:spPr>
          <a:xfrm>
            <a:off x="6537960" y="2066544"/>
            <a:ext cx="1920240" cy="201168"/>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4</a:t>
            </a:r>
            <a:endParaRPr lang="en-US" sz="900" dirty="0"/>
          </a:p>
        </p:txBody>
      </p:sp>
      <p:sp>
        <p:nvSpPr>
          <p:cNvPr id="18" name="Text 16"/>
          <p:cNvSpPr/>
          <p:nvPr/>
        </p:nvSpPr>
        <p:spPr>
          <a:xfrm>
            <a:off x="6537960" y="2267712"/>
            <a:ext cx="1920240" cy="3474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9" name="Text 17"/>
          <p:cNvSpPr/>
          <p:nvPr/>
        </p:nvSpPr>
        <p:spPr>
          <a:xfrm>
            <a:off x="457200" y="3291840"/>
            <a:ext cx="8229600" cy="320040"/>
          </a:xfrm>
          <a:prstGeom prst="rect">
            <a:avLst/>
          </a:prstGeom>
          <a:noFill/>
          <a:ln/>
        </p:spPr>
        <p:txBody>
          <a:bodyPr wrap="square" lIns="0" tIns="0" rIns="0" bIns="0" rtlCol="0" anchor="ctr"/>
          <a:lstStyle/>
          <a:p>
            <a:pPr algn="ctr" indent="0" marL="0">
              <a:buNone/>
            </a:pPr>
            <a:r>
              <a:rPr lang="en-US" sz="1200" i="1" dirty="0">
                <a:solidFill>
                  <a:srgbClr val="A0C0E8"/>
                </a:solidFill>
                <a:latin typeface="Calibri" pitchFamily="34" charset="0"/>
                <a:ea typeface="Calibri" pitchFamily="34" charset="-122"/>
                <a:cs typeface="Calibri" pitchFamily="34" charset="-120"/>
              </a:rPr>
              <a:t>We will unlock each hall as we discover the reason together.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CASE FILE #1  ·  WHAT DO YOU NOTICE?</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Study these clues. What reason for exploring do you see?</a:t>
            </a:r>
            <a:endParaRPr lang="en-US" sz="2200" dirty="0"/>
          </a:p>
        </p:txBody>
      </p:sp>
      <p:sp>
        <p:nvSpPr>
          <p:cNvPr id="4" name="Shape 2"/>
          <p:cNvSpPr/>
          <p:nvPr/>
        </p:nvSpPr>
        <p:spPr>
          <a:xfrm>
            <a:off x="365760" y="1143000"/>
            <a:ext cx="4206240" cy="292608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365760" y="114300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17320"/>
            <a:ext cx="393192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Explorer's journal open to sketches of unknown animals, plants, and coastlines — no labels, sense of wonder and discovery</a:t>
            </a:r>
            <a:endParaRPr lang="en-US" sz="1100" dirty="0"/>
          </a:p>
        </p:txBody>
      </p:sp>
      <p:sp>
        <p:nvSpPr>
          <p:cNvPr id="7" name="Shape 5"/>
          <p:cNvSpPr/>
          <p:nvPr/>
        </p:nvSpPr>
        <p:spPr>
          <a:xfrm>
            <a:off x="4754880" y="1143000"/>
            <a:ext cx="3840480" cy="1371600"/>
          </a:xfrm>
          <a:prstGeom prst="roundRect">
            <a:avLst>
              <a:gd name="adj" fmla="val 8000"/>
            </a:avLst>
          </a:prstGeom>
          <a:solidFill>
            <a:srgbClr val="F0F2F8"/>
          </a:solidFill>
          <a:ln w="12700">
            <a:solidFill>
              <a:srgbClr val="D0D8E8"/>
            </a:solidFill>
            <a:prstDash val="solid"/>
          </a:ln>
        </p:spPr>
      </p:sp>
      <p:sp>
        <p:nvSpPr>
          <p:cNvPr id="8" name="Text 6"/>
          <p:cNvSpPr/>
          <p:nvPr/>
        </p:nvSpPr>
        <p:spPr>
          <a:xfrm>
            <a:off x="4892040" y="1234440"/>
            <a:ext cx="356616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Clues from Case #1:</a:t>
            </a:r>
            <a:endParaRPr lang="en-US" sz="1100" dirty="0"/>
          </a:p>
        </p:txBody>
      </p:sp>
      <p:sp>
        <p:nvSpPr>
          <p:cNvPr id="9" name="Text 7"/>
          <p:cNvSpPr/>
          <p:nvPr/>
        </p:nvSpPr>
        <p:spPr>
          <a:xfrm>
            <a:off x="4892040" y="1536192"/>
            <a:ext cx="3566160" cy="91440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 An explorer fills notebooks with sketches of strange animals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A sailor stares at the horizon and wonders what lies beyond it</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A mapmaker leaves blank space on his map labeled 'Unknown'</a:t>
            </a:r>
            <a:endParaRPr lang="en-US" sz="1100" dirty="0"/>
          </a:p>
        </p:txBody>
      </p:sp>
      <p:sp>
        <p:nvSpPr>
          <p:cNvPr id="10" name="Shape 8"/>
          <p:cNvSpPr/>
          <p:nvPr/>
        </p:nvSpPr>
        <p:spPr>
          <a:xfrm>
            <a:off x="4754880" y="2606040"/>
            <a:ext cx="3840480" cy="1234440"/>
          </a:xfrm>
          <a:prstGeom prst="roundRect">
            <a:avLst>
              <a:gd name="adj" fmla="val 8889"/>
            </a:avLst>
          </a:prstGeom>
          <a:solidFill>
            <a:srgbClr val="FFF3DC"/>
          </a:solidFill>
          <a:ln w="19050">
            <a:solidFill>
              <a:srgbClr val="F5E6C8"/>
            </a:solidFill>
            <a:prstDash val="solid"/>
          </a:ln>
        </p:spPr>
      </p:sp>
      <p:sp>
        <p:nvSpPr>
          <p:cNvPr id="11" name="Text 9"/>
          <p:cNvSpPr/>
          <p:nvPr/>
        </p:nvSpPr>
        <p:spPr>
          <a:xfrm>
            <a:off x="4892040" y="2660904"/>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892040" y="2862072"/>
            <a:ext cx="356616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reason is... because..."</a:t>
            </a:r>
            <a:endParaRPr lang="en-US" sz="1200" dirty="0"/>
          </a:p>
        </p:txBody>
      </p:sp>
      <p:sp>
        <p:nvSpPr>
          <p:cNvPr id="13" name="Shape 11"/>
          <p:cNvSpPr/>
          <p:nvPr/>
        </p:nvSpPr>
        <p:spPr>
          <a:xfrm>
            <a:off x="365760" y="4041648"/>
            <a:ext cx="8412480" cy="914400"/>
          </a:xfrm>
          <a:prstGeom prst="roundRect">
            <a:avLst>
              <a:gd name="adj" fmla="val 15000"/>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48640" y="4133088"/>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4389120"/>
            <a:ext cx="8046720" cy="4754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these clues have in common?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feeling might make someone keep a notebook like this?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the blank space on the map tell you?</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65760" y="365760"/>
            <a:ext cx="3931920" cy="384048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365760" y="36576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640080"/>
            <a:ext cx="3657600" cy="3474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Explorer's compass and open journal with sketches of new lands and creatures, warm candlelight</a:t>
            </a:r>
            <a:endParaRPr lang="en-US" sz="1100" dirty="0"/>
          </a:p>
        </p:txBody>
      </p:sp>
      <p:sp>
        <p:nvSpPr>
          <p:cNvPr id="7" name="Text 5"/>
          <p:cNvSpPr/>
          <p:nvPr/>
        </p:nvSpPr>
        <p:spPr>
          <a:xfrm>
            <a:off x="4480560" y="457200"/>
            <a:ext cx="4389120" cy="256032"/>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HALL 1 UNLOCKED</a:t>
            </a:r>
            <a:endParaRPr lang="en-US" sz="900" dirty="0"/>
          </a:p>
        </p:txBody>
      </p:sp>
      <p:sp>
        <p:nvSpPr>
          <p:cNvPr id="8" name="Text 6"/>
          <p:cNvSpPr/>
          <p:nvPr/>
        </p:nvSpPr>
        <p:spPr>
          <a:xfrm>
            <a:off x="4480560" y="777240"/>
            <a:ext cx="4389120" cy="731520"/>
          </a:xfrm>
          <a:prstGeom prst="rect">
            <a:avLst/>
          </a:prstGeom>
          <a:noFill/>
          <a:ln/>
        </p:spPr>
        <p:txBody>
          <a:bodyPr wrap="square" lIns="0" tIns="0" rIns="0" bIns="0" rtlCol="0" anchor="ctr"/>
          <a:lstStyle/>
          <a:p>
            <a:pPr indent="0" marL="0">
              <a:buNone/>
            </a:pPr>
            <a:r>
              <a:rPr lang="en-US" sz="3800" b="1" dirty="0">
                <a:solidFill>
                  <a:srgbClr val="D4943A"/>
                </a:solidFill>
                <a:latin typeface="Cambria" pitchFamily="34" charset="0"/>
                <a:ea typeface="Cambria" pitchFamily="34" charset="-122"/>
                <a:cs typeface="Cambria" pitchFamily="34" charset="-120"/>
              </a:rPr>
              <a:t>Curiosity</a:t>
            </a:r>
            <a:endParaRPr lang="en-US" sz="3800" dirty="0"/>
          </a:p>
        </p:txBody>
      </p:sp>
      <p:sp>
        <p:nvSpPr>
          <p:cNvPr id="9" name="Text 7"/>
          <p:cNvSpPr/>
          <p:nvPr/>
        </p:nvSpPr>
        <p:spPr>
          <a:xfrm>
            <a:off x="4480560" y="1572768"/>
            <a:ext cx="420624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Some explorers simply HAD to know what was out there. They wondered about new lands, animals, and people beyond the horizon.</a:t>
            </a:r>
            <a:endParaRPr lang="en-US" sz="1300" dirty="0"/>
          </a:p>
        </p:txBody>
      </p:sp>
      <p:sp>
        <p:nvSpPr>
          <p:cNvPr id="10" name="Text 8"/>
          <p:cNvSpPr/>
          <p:nvPr/>
        </p:nvSpPr>
        <p:spPr>
          <a:xfrm>
            <a:off x="4480560" y="2468880"/>
            <a:ext cx="4206240" cy="731520"/>
          </a:xfrm>
          <a:prstGeom prst="rect">
            <a:avLst/>
          </a:prstGeom>
          <a:noFill/>
          <a:ln/>
        </p:spPr>
        <p:txBody>
          <a:bodyPr wrap="square" lIns="0" tIns="0" rIns="0" bIns="0" rtlCol="0" anchor="ctr"/>
          <a:lstStyle/>
          <a:p>
            <a:pPr indent="0" marL="0">
              <a:buNone/>
            </a:pPr>
            <a:r>
              <a:rPr lang="en-US" sz="1200" i="1" dirty="0">
                <a:solidFill>
                  <a:srgbClr val="A0C0E8"/>
                </a:solidFill>
                <a:latin typeface="Calibri" pitchFamily="34" charset="0"/>
                <a:ea typeface="Calibri" pitchFamily="34" charset="-122"/>
                <a:cs typeface="Calibri" pitchFamily="34" charset="-120"/>
              </a:rPr>
              <a:t>"What is beyond the horizon?" was a question some people could not stop asking — until they sailed to find out.</a:t>
            </a:r>
            <a:endParaRPr lang="en-US" sz="1200" dirty="0"/>
          </a:p>
        </p:txBody>
      </p:sp>
      <p:sp>
        <p:nvSpPr>
          <p:cNvPr id="11" name="Shape 9"/>
          <p:cNvSpPr/>
          <p:nvPr/>
        </p:nvSpPr>
        <p:spPr>
          <a:xfrm>
            <a:off x="4480560" y="3291840"/>
            <a:ext cx="182880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2" name="Text 10"/>
          <p:cNvSpPr/>
          <p:nvPr/>
        </p:nvSpPr>
        <p:spPr>
          <a:xfrm>
            <a:off x="4480560" y="3346704"/>
            <a:ext cx="182880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a:t>
            </a:r>
            <a:endParaRPr lang="en-US" sz="900" dirty="0"/>
          </a:p>
        </p:txBody>
      </p:sp>
      <p:sp>
        <p:nvSpPr>
          <p:cNvPr id="13" name="Text 11"/>
          <p:cNvSpPr/>
          <p:nvPr/>
        </p:nvSpPr>
        <p:spPr>
          <a:xfrm>
            <a:off x="4480560" y="3547872"/>
            <a:ext cx="182880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Curiosity</a:t>
            </a:r>
            <a:endParaRPr lang="en-US" sz="1300" dirty="0"/>
          </a:p>
        </p:txBody>
      </p:sp>
      <p:sp>
        <p:nvSpPr>
          <p:cNvPr id="14" name="Shape 12"/>
          <p:cNvSpPr/>
          <p:nvPr/>
        </p:nvSpPr>
        <p:spPr>
          <a:xfrm>
            <a:off x="6400800" y="3291840"/>
            <a:ext cx="1828800" cy="1051560"/>
          </a:xfrm>
          <a:prstGeom prst="roundRect">
            <a:avLst>
              <a:gd name="adj" fmla="val 10435"/>
            </a:avLst>
          </a:prstGeom>
          <a:solidFill>
            <a:srgbClr val="3A4A6B"/>
          </a:solidFill>
          <a:ln/>
          <a:effectLst>
            <a:outerShdw sx="100000" sy="100000" kx="0" ky="0" algn="bl" rotWithShape="0" blurRad="63500" dist="25400" dir="8100000">
              <a:srgbClr val="000000">
                <a:alpha val="15000"/>
              </a:srgbClr>
            </a:outerShdw>
          </a:effectLst>
        </p:spPr>
      </p:sp>
      <p:sp>
        <p:nvSpPr>
          <p:cNvPr id="15" name="Text 13"/>
          <p:cNvSpPr/>
          <p:nvPr/>
        </p:nvSpPr>
        <p:spPr>
          <a:xfrm>
            <a:off x="6400800" y="3346704"/>
            <a:ext cx="1828800" cy="201168"/>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2</a:t>
            </a:r>
            <a:endParaRPr lang="en-US" sz="900" dirty="0"/>
          </a:p>
        </p:txBody>
      </p:sp>
      <p:sp>
        <p:nvSpPr>
          <p:cNvPr id="16" name="Text 14"/>
          <p:cNvSpPr/>
          <p:nvPr/>
        </p:nvSpPr>
        <p:spPr>
          <a:xfrm>
            <a:off x="6400800" y="3547872"/>
            <a:ext cx="1828800" cy="3474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CASE FILE #2  ·  WHAT DO YOU NOTICE?</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Study these clues. What reason for exploring do you see?</a:t>
            </a:r>
            <a:endParaRPr lang="en-US" sz="2200" dirty="0"/>
          </a:p>
        </p:txBody>
      </p:sp>
      <p:sp>
        <p:nvSpPr>
          <p:cNvPr id="4" name="Shape 2"/>
          <p:cNvSpPr/>
          <p:nvPr/>
        </p:nvSpPr>
        <p:spPr>
          <a:xfrm>
            <a:off x="365760" y="1143000"/>
            <a:ext cx="4206240" cy="292608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365760" y="114300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17320"/>
            <a:ext cx="393192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Colorful spices in market — pepper, cinnamon, saffron — gold coins beside them, 15th century trading scene</a:t>
            </a:r>
            <a:endParaRPr lang="en-US" sz="1100" dirty="0"/>
          </a:p>
        </p:txBody>
      </p:sp>
      <p:sp>
        <p:nvSpPr>
          <p:cNvPr id="7" name="Shape 5"/>
          <p:cNvSpPr/>
          <p:nvPr/>
        </p:nvSpPr>
        <p:spPr>
          <a:xfrm>
            <a:off x="4754880" y="1143000"/>
            <a:ext cx="3840480" cy="1371600"/>
          </a:xfrm>
          <a:prstGeom prst="roundRect">
            <a:avLst>
              <a:gd name="adj" fmla="val 8000"/>
            </a:avLst>
          </a:prstGeom>
          <a:solidFill>
            <a:srgbClr val="F0F2F8"/>
          </a:solidFill>
          <a:ln w="12700">
            <a:solidFill>
              <a:srgbClr val="D0D8E8"/>
            </a:solidFill>
            <a:prstDash val="solid"/>
          </a:ln>
        </p:spPr>
      </p:sp>
      <p:sp>
        <p:nvSpPr>
          <p:cNvPr id="8" name="Text 6"/>
          <p:cNvSpPr/>
          <p:nvPr/>
        </p:nvSpPr>
        <p:spPr>
          <a:xfrm>
            <a:off x="4892040" y="1234440"/>
            <a:ext cx="356616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Clues from Case #2:</a:t>
            </a:r>
            <a:endParaRPr lang="en-US" sz="1100" dirty="0"/>
          </a:p>
        </p:txBody>
      </p:sp>
      <p:sp>
        <p:nvSpPr>
          <p:cNvPr id="9" name="Text 7"/>
          <p:cNvSpPr/>
          <p:nvPr/>
        </p:nvSpPr>
        <p:spPr>
          <a:xfrm>
            <a:off x="4892040" y="1536192"/>
            <a:ext cx="3566160" cy="91440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 A single bag of pepper was worth as much as a house in 1400s Europe</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The land route to Asia was long and dangerous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Merchants wanted a faster way to bring silk and spices from Asia</a:t>
            </a:r>
            <a:endParaRPr lang="en-US" sz="1100" dirty="0"/>
          </a:p>
        </p:txBody>
      </p:sp>
      <p:sp>
        <p:nvSpPr>
          <p:cNvPr id="10" name="Shape 8"/>
          <p:cNvSpPr/>
          <p:nvPr/>
        </p:nvSpPr>
        <p:spPr>
          <a:xfrm>
            <a:off x="4754880" y="2606040"/>
            <a:ext cx="3840480" cy="1234440"/>
          </a:xfrm>
          <a:prstGeom prst="roundRect">
            <a:avLst>
              <a:gd name="adj" fmla="val 8889"/>
            </a:avLst>
          </a:prstGeom>
          <a:solidFill>
            <a:srgbClr val="FFF3DC"/>
          </a:solidFill>
          <a:ln w="19050">
            <a:solidFill>
              <a:srgbClr val="F5E6C8"/>
            </a:solidFill>
            <a:prstDash val="solid"/>
          </a:ln>
        </p:spPr>
      </p:sp>
      <p:sp>
        <p:nvSpPr>
          <p:cNvPr id="11" name="Text 9"/>
          <p:cNvSpPr/>
          <p:nvPr/>
        </p:nvSpPr>
        <p:spPr>
          <a:xfrm>
            <a:off x="4892040" y="2660904"/>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892040" y="2862072"/>
            <a:ext cx="356616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reason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most important clue is..."</a:t>
            </a:r>
            <a:endParaRPr lang="en-US" sz="1200" dirty="0"/>
          </a:p>
        </p:txBody>
      </p:sp>
      <p:sp>
        <p:nvSpPr>
          <p:cNvPr id="13" name="Shape 11"/>
          <p:cNvSpPr/>
          <p:nvPr/>
        </p:nvSpPr>
        <p:spPr>
          <a:xfrm>
            <a:off x="365760" y="4041648"/>
            <a:ext cx="8412480" cy="914400"/>
          </a:xfrm>
          <a:prstGeom prst="roundRect">
            <a:avLst>
              <a:gd name="adj" fmla="val 15000"/>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48640" y="4133088"/>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4389120"/>
            <a:ext cx="8046720" cy="4754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merchants take a dangerous sea voyage if land routes existed?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'a bag of pepper worth a house' tell you about their motivation?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were they hoping to find?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65760" y="365760"/>
            <a:ext cx="3931920" cy="384048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365760" y="36576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640080"/>
            <a:ext cx="3657600" cy="3474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Treasure chest open with gold coins and spice bags, trading ships in harbor background</a:t>
            </a:r>
            <a:endParaRPr lang="en-US" sz="1100" dirty="0"/>
          </a:p>
        </p:txBody>
      </p:sp>
      <p:sp>
        <p:nvSpPr>
          <p:cNvPr id="7" name="Text 5"/>
          <p:cNvSpPr/>
          <p:nvPr/>
        </p:nvSpPr>
        <p:spPr>
          <a:xfrm>
            <a:off x="4480560" y="457200"/>
            <a:ext cx="4389120" cy="256032"/>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HALL 2 UNLOCKED</a:t>
            </a:r>
            <a:endParaRPr lang="en-US" sz="900" dirty="0"/>
          </a:p>
        </p:txBody>
      </p:sp>
      <p:sp>
        <p:nvSpPr>
          <p:cNvPr id="8" name="Text 6"/>
          <p:cNvSpPr/>
          <p:nvPr/>
        </p:nvSpPr>
        <p:spPr>
          <a:xfrm>
            <a:off x="4480560" y="777240"/>
            <a:ext cx="4389120" cy="731520"/>
          </a:xfrm>
          <a:prstGeom prst="rect">
            <a:avLst/>
          </a:prstGeom>
          <a:noFill/>
          <a:ln/>
        </p:spPr>
        <p:txBody>
          <a:bodyPr wrap="square" lIns="0" tIns="0" rIns="0" bIns="0" rtlCol="0" anchor="ctr"/>
          <a:lstStyle/>
          <a:p>
            <a:pPr indent="0" marL="0">
              <a:buNone/>
            </a:pPr>
            <a:r>
              <a:rPr lang="en-US" sz="3400" b="1" dirty="0">
                <a:solidFill>
                  <a:srgbClr val="D4943A"/>
                </a:solidFill>
                <a:latin typeface="Cambria" pitchFamily="34" charset="0"/>
                <a:ea typeface="Cambria" pitchFamily="34" charset="-122"/>
                <a:cs typeface="Cambria" pitchFamily="34" charset="-120"/>
              </a:rPr>
              <a:t>Trade &amp; Riches</a:t>
            </a:r>
            <a:endParaRPr lang="en-US" sz="3400" dirty="0"/>
          </a:p>
        </p:txBody>
      </p:sp>
      <p:sp>
        <p:nvSpPr>
          <p:cNvPr id="9" name="Text 7"/>
          <p:cNvSpPr/>
          <p:nvPr/>
        </p:nvSpPr>
        <p:spPr>
          <a:xfrm>
            <a:off x="4480560" y="1572768"/>
            <a:ext cx="420624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Spices, silk, and gold were extremely valuable in Europe. Explorers searched for faster sea routes to bring these goods back without long overland journeys.</a:t>
            </a:r>
            <a:endParaRPr lang="en-US" sz="1300" dirty="0"/>
          </a:p>
        </p:txBody>
      </p:sp>
      <p:sp>
        <p:nvSpPr>
          <p:cNvPr id="10" name="Text 8"/>
          <p:cNvSpPr/>
          <p:nvPr/>
        </p:nvSpPr>
        <p:spPr>
          <a:xfrm>
            <a:off x="4480560" y="2468880"/>
            <a:ext cx="4206240" cy="731520"/>
          </a:xfrm>
          <a:prstGeom prst="rect">
            <a:avLst/>
          </a:prstGeom>
          <a:noFill/>
          <a:ln/>
        </p:spPr>
        <p:txBody>
          <a:bodyPr wrap="square" lIns="0" tIns="0" rIns="0" bIns="0" rtlCol="0" anchor="ctr"/>
          <a:lstStyle/>
          <a:p>
            <a:pPr indent="0" marL="0">
              <a:buNone/>
            </a:pPr>
            <a:r>
              <a:rPr lang="en-US" sz="1200" i="1" dirty="0">
                <a:solidFill>
                  <a:srgbClr val="FFD080"/>
                </a:solidFill>
                <a:latin typeface="Calibri" pitchFamily="34" charset="0"/>
                <a:ea typeface="Calibri" pitchFamily="34" charset="-122"/>
                <a:cs typeface="Calibri" pitchFamily="34" charset="-120"/>
              </a:rPr>
              <a:t>Opti says: A bag of pepper could pay for an entire house. No wonder people risked ocean voyages to find faster trade routes!</a:t>
            </a:r>
            <a:endParaRPr lang="en-US" sz="1200" dirty="0"/>
          </a:p>
        </p:txBody>
      </p:sp>
      <p:sp>
        <p:nvSpPr>
          <p:cNvPr id="11" name="Shape 9"/>
          <p:cNvSpPr/>
          <p:nvPr/>
        </p:nvSpPr>
        <p:spPr>
          <a:xfrm>
            <a:off x="4480560" y="3291840"/>
            <a:ext cx="178308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2" name="Text 10"/>
          <p:cNvSpPr/>
          <p:nvPr/>
        </p:nvSpPr>
        <p:spPr>
          <a:xfrm>
            <a:off x="4480560" y="3346704"/>
            <a:ext cx="178308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a:t>
            </a:r>
            <a:endParaRPr lang="en-US" sz="900" dirty="0"/>
          </a:p>
        </p:txBody>
      </p:sp>
      <p:sp>
        <p:nvSpPr>
          <p:cNvPr id="13" name="Text 11"/>
          <p:cNvSpPr/>
          <p:nvPr/>
        </p:nvSpPr>
        <p:spPr>
          <a:xfrm>
            <a:off x="4480560" y="3547872"/>
            <a:ext cx="17830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Curiosity</a:t>
            </a:r>
            <a:endParaRPr lang="en-US" sz="1300" dirty="0"/>
          </a:p>
        </p:txBody>
      </p:sp>
      <p:sp>
        <p:nvSpPr>
          <p:cNvPr id="14" name="Shape 12"/>
          <p:cNvSpPr/>
          <p:nvPr/>
        </p:nvSpPr>
        <p:spPr>
          <a:xfrm>
            <a:off x="6355080" y="3291840"/>
            <a:ext cx="178308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5" name="Text 13"/>
          <p:cNvSpPr/>
          <p:nvPr/>
        </p:nvSpPr>
        <p:spPr>
          <a:xfrm>
            <a:off x="6355080" y="3346704"/>
            <a:ext cx="178308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2</a:t>
            </a:r>
            <a:endParaRPr lang="en-US" sz="900" dirty="0"/>
          </a:p>
        </p:txBody>
      </p:sp>
      <p:sp>
        <p:nvSpPr>
          <p:cNvPr id="16" name="Text 14"/>
          <p:cNvSpPr/>
          <p:nvPr/>
        </p:nvSpPr>
        <p:spPr>
          <a:xfrm>
            <a:off x="6355080" y="3547872"/>
            <a:ext cx="17830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Trade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CASE FILE #3  ·  WHAT DO YOU NOTICE?</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Study these clues. What reason for exploring do you see?</a:t>
            </a:r>
            <a:endParaRPr lang="en-US" sz="2200" dirty="0"/>
          </a:p>
        </p:txBody>
      </p:sp>
      <p:sp>
        <p:nvSpPr>
          <p:cNvPr id="4" name="Shape 2"/>
          <p:cNvSpPr/>
          <p:nvPr/>
        </p:nvSpPr>
        <p:spPr>
          <a:xfrm>
            <a:off x="365760" y="1143000"/>
            <a:ext cx="4206240" cy="292608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365760" y="114300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17320"/>
            <a:ext cx="393192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King and queen in royal court sending off an explorer with a flag to plant, map on the table, royal seal</a:t>
            </a:r>
            <a:endParaRPr lang="en-US" sz="1100" dirty="0"/>
          </a:p>
        </p:txBody>
      </p:sp>
      <p:sp>
        <p:nvSpPr>
          <p:cNvPr id="7" name="Shape 5"/>
          <p:cNvSpPr/>
          <p:nvPr/>
        </p:nvSpPr>
        <p:spPr>
          <a:xfrm>
            <a:off x="4754880" y="1143000"/>
            <a:ext cx="3840480" cy="1371600"/>
          </a:xfrm>
          <a:prstGeom prst="roundRect">
            <a:avLst>
              <a:gd name="adj" fmla="val 8000"/>
            </a:avLst>
          </a:prstGeom>
          <a:solidFill>
            <a:srgbClr val="F0F2F8"/>
          </a:solidFill>
          <a:ln w="12700">
            <a:solidFill>
              <a:srgbClr val="D0D8E8"/>
            </a:solidFill>
            <a:prstDash val="solid"/>
          </a:ln>
        </p:spPr>
      </p:sp>
      <p:sp>
        <p:nvSpPr>
          <p:cNvPr id="8" name="Text 6"/>
          <p:cNvSpPr/>
          <p:nvPr/>
        </p:nvSpPr>
        <p:spPr>
          <a:xfrm>
            <a:off x="4892040" y="1234440"/>
            <a:ext cx="356616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Clues from Case #3:</a:t>
            </a:r>
            <a:endParaRPr lang="en-US" sz="1100" dirty="0"/>
          </a:p>
        </p:txBody>
      </p:sp>
      <p:sp>
        <p:nvSpPr>
          <p:cNvPr id="9" name="Text 7"/>
          <p:cNvSpPr/>
          <p:nvPr/>
        </p:nvSpPr>
        <p:spPr>
          <a:xfrm>
            <a:off x="4892040" y="1536192"/>
            <a:ext cx="3566160" cy="91440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 A king points to a blank spot on a map and says 'That belongs to us'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An explorer plants a flag on a new shore for his country</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A queen wants more territory, more resources, more power</a:t>
            </a:r>
            <a:endParaRPr lang="en-US" sz="1100" dirty="0"/>
          </a:p>
        </p:txBody>
      </p:sp>
      <p:sp>
        <p:nvSpPr>
          <p:cNvPr id="10" name="Shape 8"/>
          <p:cNvSpPr/>
          <p:nvPr/>
        </p:nvSpPr>
        <p:spPr>
          <a:xfrm>
            <a:off x="4754880" y="2606040"/>
            <a:ext cx="3840480" cy="1234440"/>
          </a:xfrm>
          <a:prstGeom prst="roundRect">
            <a:avLst>
              <a:gd name="adj" fmla="val 8889"/>
            </a:avLst>
          </a:prstGeom>
          <a:solidFill>
            <a:srgbClr val="FFF3DC"/>
          </a:solidFill>
          <a:ln w="19050">
            <a:solidFill>
              <a:srgbClr val="F5E6C8"/>
            </a:solidFill>
            <a:prstDash val="solid"/>
          </a:ln>
        </p:spPr>
      </p:sp>
      <p:sp>
        <p:nvSpPr>
          <p:cNvPr id="11" name="Text 9"/>
          <p:cNvSpPr/>
          <p:nvPr/>
        </p:nvSpPr>
        <p:spPr>
          <a:xfrm>
            <a:off x="4892040" y="2660904"/>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892040" y="2862072"/>
            <a:ext cx="356616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reason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ruler wanted..."</a:t>
            </a:r>
            <a:endParaRPr lang="en-US" sz="1200" dirty="0"/>
          </a:p>
        </p:txBody>
      </p:sp>
      <p:sp>
        <p:nvSpPr>
          <p:cNvPr id="13" name="Shape 11"/>
          <p:cNvSpPr/>
          <p:nvPr/>
        </p:nvSpPr>
        <p:spPr>
          <a:xfrm>
            <a:off x="365760" y="4041648"/>
            <a:ext cx="8412480" cy="914400"/>
          </a:xfrm>
          <a:prstGeom prst="roundRect">
            <a:avLst>
              <a:gd name="adj" fmla="val 15000"/>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48640" y="4133088"/>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4389120"/>
            <a:ext cx="8046720" cy="4754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a king care about land he's never visited?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'more territory' mean for a country's power?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makes the decision to explore in these clues?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65760" y="365760"/>
            <a:ext cx="3931920" cy="384048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365760" y="36576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640080"/>
            <a:ext cx="3657600" cy="3474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Explorer planting country's flag on newly discovered shoreline, dramatic scene</a:t>
            </a:r>
            <a:endParaRPr lang="en-US" sz="1100" dirty="0"/>
          </a:p>
        </p:txBody>
      </p:sp>
      <p:sp>
        <p:nvSpPr>
          <p:cNvPr id="7" name="Text 5"/>
          <p:cNvSpPr/>
          <p:nvPr/>
        </p:nvSpPr>
        <p:spPr>
          <a:xfrm>
            <a:off x="4480560" y="457200"/>
            <a:ext cx="4389120" cy="256032"/>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HALL 3 UNLOCKED</a:t>
            </a:r>
            <a:endParaRPr lang="en-US" sz="900" dirty="0"/>
          </a:p>
        </p:txBody>
      </p:sp>
      <p:sp>
        <p:nvSpPr>
          <p:cNvPr id="8" name="Text 6"/>
          <p:cNvSpPr/>
          <p:nvPr/>
        </p:nvSpPr>
        <p:spPr>
          <a:xfrm>
            <a:off x="4480560" y="777240"/>
            <a:ext cx="4389120" cy="731520"/>
          </a:xfrm>
          <a:prstGeom prst="rect">
            <a:avLst/>
          </a:prstGeom>
          <a:noFill/>
          <a:ln/>
        </p:spPr>
        <p:txBody>
          <a:bodyPr wrap="square" lIns="0" tIns="0" rIns="0" bIns="0" rtlCol="0" anchor="ctr"/>
          <a:lstStyle/>
          <a:p>
            <a:pPr indent="0" marL="0">
              <a:buNone/>
            </a:pPr>
            <a:r>
              <a:rPr lang="en-US" sz="3400" b="1" dirty="0">
                <a:solidFill>
                  <a:srgbClr val="D4943A"/>
                </a:solidFill>
                <a:latin typeface="Cambria" pitchFamily="34" charset="0"/>
                <a:ea typeface="Cambria" pitchFamily="34" charset="-122"/>
                <a:cs typeface="Cambria" pitchFamily="34" charset="-120"/>
              </a:rPr>
              <a:t>Claiming Land</a:t>
            </a:r>
            <a:endParaRPr lang="en-US" sz="3400" dirty="0"/>
          </a:p>
        </p:txBody>
      </p:sp>
      <p:sp>
        <p:nvSpPr>
          <p:cNvPr id="9" name="Text 7"/>
          <p:cNvSpPr/>
          <p:nvPr/>
        </p:nvSpPr>
        <p:spPr>
          <a:xfrm>
            <a:off x="4480560" y="1572768"/>
            <a:ext cx="420624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Kings and queens sent explorers to claim new territory. More land meant more power and more resources for their country.</a:t>
            </a:r>
            <a:endParaRPr lang="en-US" sz="1300" dirty="0"/>
          </a:p>
        </p:txBody>
      </p:sp>
      <p:sp>
        <p:nvSpPr>
          <p:cNvPr id="10" name="Text 8"/>
          <p:cNvSpPr/>
          <p:nvPr/>
        </p:nvSpPr>
        <p:spPr>
          <a:xfrm>
            <a:off x="4480560" y="2468880"/>
            <a:ext cx="4206240" cy="640080"/>
          </a:xfrm>
          <a:prstGeom prst="rect">
            <a:avLst/>
          </a:prstGeom>
          <a:noFill/>
          <a:ln/>
        </p:spPr>
        <p:txBody>
          <a:bodyPr wrap="square" lIns="0" tIns="0" rIns="0" bIns="0" rtlCol="0" anchor="ctr"/>
          <a:lstStyle/>
          <a:p>
            <a:pPr indent="0" marL="0">
              <a:buNone/>
            </a:pPr>
            <a:r>
              <a:rPr lang="en-US" sz="1200" i="1" dirty="0">
                <a:solidFill>
                  <a:srgbClr val="A0C0E8"/>
                </a:solidFill>
                <a:latin typeface="Calibri" pitchFamily="34" charset="0"/>
                <a:ea typeface="Calibri" pitchFamily="34" charset="-122"/>
                <a:cs typeface="Calibri" pitchFamily="34" charset="-120"/>
              </a:rPr>
              <a:t>The explorer planted a flag — but it was really the ruler's ambition that drove the voyage.</a:t>
            </a:r>
            <a:endParaRPr lang="en-US" sz="1200" dirty="0"/>
          </a:p>
        </p:txBody>
      </p:sp>
      <p:sp>
        <p:nvSpPr>
          <p:cNvPr id="11" name="Shape 9"/>
          <p:cNvSpPr/>
          <p:nvPr/>
        </p:nvSpPr>
        <p:spPr>
          <a:xfrm>
            <a:off x="4480560" y="3291840"/>
            <a:ext cx="118872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2" name="Text 10"/>
          <p:cNvSpPr/>
          <p:nvPr/>
        </p:nvSpPr>
        <p:spPr>
          <a:xfrm>
            <a:off x="4480560" y="3346704"/>
            <a:ext cx="118872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a:t>
            </a:r>
            <a:endParaRPr lang="en-US" sz="900" dirty="0"/>
          </a:p>
        </p:txBody>
      </p:sp>
      <p:sp>
        <p:nvSpPr>
          <p:cNvPr id="13" name="Text 11"/>
          <p:cNvSpPr/>
          <p:nvPr/>
        </p:nvSpPr>
        <p:spPr>
          <a:xfrm>
            <a:off x="4480560" y="3547872"/>
            <a:ext cx="11887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Curiosity</a:t>
            </a:r>
            <a:endParaRPr lang="en-US" sz="1300" dirty="0"/>
          </a:p>
        </p:txBody>
      </p:sp>
      <p:sp>
        <p:nvSpPr>
          <p:cNvPr id="14" name="Shape 12"/>
          <p:cNvSpPr/>
          <p:nvPr/>
        </p:nvSpPr>
        <p:spPr>
          <a:xfrm>
            <a:off x="5760720" y="3291840"/>
            <a:ext cx="118872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5" name="Text 13"/>
          <p:cNvSpPr/>
          <p:nvPr/>
        </p:nvSpPr>
        <p:spPr>
          <a:xfrm>
            <a:off x="5760720" y="3346704"/>
            <a:ext cx="118872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2</a:t>
            </a:r>
            <a:endParaRPr lang="en-US" sz="900" dirty="0"/>
          </a:p>
        </p:txBody>
      </p:sp>
      <p:sp>
        <p:nvSpPr>
          <p:cNvPr id="16" name="Text 14"/>
          <p:cNvSpPr/>
          <p:nvPr/>
        </p:nvSpPr>
        <p:spPr>
          <a:xfrm>
            <a:off x="5760720" y="3547872"/>
            <a:ext cx="11887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Trade</a:t>
            </a:r>
            <a:endParaRPr lang="en-US" sz="1300" dirty="0"/>
          </a:p>
        </p:txBody>
      </p:sp>
      <p:sp>
        <p:nvSpPr>
          <p:cNvPr id="17" name="Shape 15"/>
          <p:cNvSpPr/>
          <p:nvPr/>
        </p:nvSpPr>
        <p:spPr>
          <a:xfrm>
            <a:off x="7040880" y="3291840"/>
            <a:ext cx="141732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8" name="Text 16"/>
          <p:cNvSpPr/>
          <p:nvPr/>
        </p:nvSpPr>
        <p:spPr>
          <a:xfrm>
            <a:off x="7040880" y="3346704"/>
            <a:ext cx="141732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a:t>
            </a:r>
            <a:endParaRPr lang="en-US" sz="900" dirty="0"/>
          </a:p>
        </p:txBody>
      </p:sp>
      <p:sp>
        <p:nvSpPr>
          <p:cNvPr id="19" name="Text 17"/>
          <p:cNvSpPr/>
          <p:nvPr/>
        </p:nvSpPr>
        <p:spPr>
          <a:xfrm>
            <a:off x="7040880" y="3547872"/>
            <a:ext cx="14173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Land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CASE FILE #4  ·  WHAT DO YOU NOTICE?</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Study these clues. What reason for exploring do you see?</a:t>
            </a:r>
            <a:endParaRPr lang="en-US" sz="2200" dirty="0"/>
          </a:p>
        </p:txBody>
      </p:sp>
      <p:sp>
        <p:nvSpPr>
          <p:cNvPr id="4" name="Shape 2"/>
          <p:cNvSpPr/>
          <p:nvPr/>
        </p:nvSpPr>
        <p:spPr>
          <a:xfrm>
            <a:off x="365760" y="1143000"/>
            <a:ext cx="4206240" cy="292608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365760" y="114300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17320"/>
            <a:ext cx="393192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Missionary with explorers arriving at new land, meeting local people — respectful historical illustration</a:t>
            </a:r>
            <a:endParaRPr lang="en-US" sz="1100" dirty="0"/>
          </a:p>
        </p:txBody>
      </p:sp>
      <p:sp>
        <p:nvSpPr>
          <p:cNvPr id="7" name="Shape 5"/>
          <p:cNvSpPr/>
          <p:nvPr/>
        </p:nvSpPr>
        <p:spPr>
          <a:xfrm>
            <a:off x="4754880" y="1143000"/>
            <a:ext cx="3840480" cy="1371600"/>
          </a:xfrm>
          <a:prstGeom prst="roundRect">
            <a:avLst>
              <a:gd name="adj" fmla="val 8000"/>
            </a:avLst>
          </a:prstGeom>
          <a:solidFill>
            <a:srgbClr val="F0F2F8"/>
          </a:solidFill>
          <a:ln w="12700">
            <a:solidFill>
              <a:srgbClr val="D0D8E8"/>
            </a:solidFill>
            <a:prstDash val="solid"/>
          </a:ln>
        </p:spPr>
      </p:sp>
      <p:sp>
        <p:nvSpPr>
          <p:cNvPr id="8" name="Text 6"/>
          <p:cNvSpPr/>
          <p:nvPr/>
        </p:nvSpPr>
        <p:spPr>
          <a:xfrm>
            <a:off x="4892040" y="1234440"/>
            <a:ext cx="356616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Clues from Case #4:</a:t>
            </a:r>
            <a:endParaRPr lang="en-US" sz="1100" dirty="0"/>
          </a:p>
        </p:txBody>
      </p:sp>
      <p:sp>
        <p:nvSpPr>
          <p:cNvPr id="9" name="Text 7"/>
          <p:cNvSpPr/>
          <p:nvPr/>
        </p:nvSpPr>
        <p:spPr>
          <a:xfrm>
            <a:off x="4892040" y="1536192"/>
            <a:ext cx="3566160" cy="91440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 A priest joins the crew even though he's never sailed before</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The mission document says 'bring our faith to new peoples'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Church leaders provided money to fund voyages</a:t>
            </a:r>
            <a:endParaRPr lang="en-US" sz="1100" dirty="0"/>
          </a:p>
        </p:txBody>
      </p:sp>
      <p:sp>
        <p:nvSpPr>
          <p:cNvPr id="10" name="Shape 8"/>
          <p:cNvSpPr/>
          <p:nvPr/>
        </p:nvSpPr>
        <p:spPr>
          <a:xfrm>
            <a:off x="4754880" y="2606040"/>
            <a:ext cx="3840480" cy="1234440"/>
          </a:xfrm>
          <a:prstGeom prst="roundRect">
            <a:avLst>
              <a:gd name="adj" fmla="val 8889"/>
            </a:avLst>
          </a:prstGeom>
          <a:solidFill>
            <a:srgbClr val="FFF3DC"/>
          </a:solidFill>
          <a:ln w="19050">
            <a:solidFill>
              <a:srgbClr val="F5E6C8"/>
            </a:solidFill>
            <a:prstDash val="solid"/>
          </a:ln>
        </p:spPr>
      </p:sp>
      <p:sp>
        <p:nvSpPr>
          <p:cNvPr id="11" name="Text 9"/>
          <p:cNvSpPr/>
          <p:nvPr/>
        </p:nvSpPr>
        <p:spPr>
          <a:xfrm>
            <a:off x="4892040" y="2660904"/>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892040" y="2862072"/>
            <a:ext cx="356616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reason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reason is different from the others because..."</a:t>
            </a:r>
            <a:endParaRPr lang="en-US" sz="1200" dirty="0"/>
          </a:p>
        </p:txBody>
      </p:sp>
      <p:sp>
        <p:nvSpPr>
          <p:cNvPr id="13" name="Shape 11"/>
          <p:cNvSpPr/>
          <p:nvPr/>
        </p:nvSpPr>
        <p:spPr>
          <a:xfrm>
            <a:off x="365760" y="4041648"/>
            <a:ext cx="8412480" cy="914400"/>
          </a:xfrm>
          <a:prstGeom prst="roundRect">
            <a:avLst>
              <a:gd name="adj" fmla="val 15000"/>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48640" y="4133088"/>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4389120"/>
            <a:ext cx="8046720" cy="4754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a priest take the risk of an ocean voyage?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is paying for the voyage in this clue? Why does that matter?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this reason different from curiosity or trade?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320040"/>
            <a:ext cx="82296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ALL 4 HALLS UNLOCKED</a:t>
            </a:r>
            <a:endParaRPr lang="en-US" sz="900" dirty="0"/>
          </a:p>
        </p:txBody>
      </p:sp>
      <p:sp>
        <p:nvSpPr>
          <p:cNvPr id="5" name="Text 3"/>
          <p:cNvSpPr/>
          <p:nvPr/>
        </p:nvSpPr>
        <p:spPr>
          <a:xfrm>
            <a:off x="457200" y="658368"/>
            <a:ext cx="8229600" cy="640080"/>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You cracked all four cases.</a:t>
            </a:r>
            <a:endParaRPr lang="en-US" sz="3200" dirty="0"/>
          </a:p>
        </p:txBody>
      </p:sp>
      <p:sp>
        <p:nvSpPr>
          <p:cNvPr id="6" name="Text 4"/>
          <p:cNvSpPr/>
          <p:nvPr/>
        </p:nvSpPr>
        <p:spPr>
          <a:xfrm>
            <a:off x="457200" y="1371600"/>
            <a:ext cx="8229600" cy="347472"/>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People explored for four big reasons. Now you can name them.</a:t>
            </a:r>
            <a:endParaRPr lang="en-US" sz="1400" dirty="0"/>
          </a:p>
        </p:txBody>
      </p:sp>
      <p:sp>
        <p:nvSpPr>
          <p:cNvPr id="7" name="Shape 5"/>
          <p:cNvSpPr/>
          <p:nvPr/>
        </p:nvSpPr>
        <p:spPr>
          <a:xfrm>
            <a:off x="365760" y="1828800"/>
            <a:ext cx="1920240" cy="1280160"/>
          </a:xfrm>
          <a:prstGeom prst="roundRect">
            <a:avLst>
              <a:gd name="adj" fmla="val 8571"/>
            </a:avLst>
          </a:prstGeom>
          <a:solidFill>
            <a:srgbClr val="1A8A7D"/>
          </a:solidFill>
          <a:ln/>
          <a:effectLst>
            <a:outerShdw sx="100000" sy="100000" kx="0" ky="0" algn="bl" rotWithShape="0" blurRad="63500" dist="25400" dir="8100000">
              <a:srgbClr val="000000">
                <a:alpha val="15000"/>
              </a:srgbClr>
            </a:outerShdw>
          </a:effectLst>
        </p:spPr>
      </p:sp>
      <p:sp>
        <p:nvSpPr>
          <p:cNvPr id="8" name="Text 6"/>
          <p:cNvSpPr/>
          <p:nvPr/>
        </p:nvSpPr>
        <p:spPr>
          <a:xfrm>
            <a:off x="365760" y="1883664"/>
            <a:ext cx="192024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a:t>
            </a:r>
            <a:endParaRPr lang="en-US" sz="900" dirty="0"/>
          </a:p>
        </p:txBody>
      </p:sp>
      <p:sp>
        <p:nvSpPr>
          <p:cNvPr id="9" name="Text 7"/>
          <p:cNvSpPr/>
          <p:nvPr/>
        </p:nvSpPr>
        <p:spPr>
          <a:xfrm>
            <a:off x="365760" y="2084832"/>
            <a:ext cx="19202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Curiosity</a:t>
            </a:r>
            <a:endParaRPr lang="en-US" sz="1300" dirty="0"/>
          </a:p>
        </p:txBody>
      </p:sp>
      <p:sp>
        <p:nvSpPr>
          <p:cNvPr id="10" name="Shape 8"/>
          <p:cNvSpPr/>
          <p:nvPr/>
        </p:nvSpPr>
        <p:spPr>
          <a:xfrm>
            <a:off x="2423160" y="1828800"/>
            <a:ext cx="1920240" cy="1280160"/>
          </a:xfrm>
          <a:prstGeom prst="roundRect">
            <a:avLst>
              <a:gd name="adj" fmla="val 8571"/>
            </a:avLst>
          </a:prstGeom>
          <a:solidFill>
            <a:srgbClr val="1A8A7D"/>
          </a:solidFill>
          <a:ln/>
          <a:effectLst>
            <a:outerShdw sx="100000" sy="100000" kx="0" ky="0" algn="bl" rotWithShape="0" blurRad="63500" dist="25400" dir="8100000">
              <a:srgbClr val="000000">
                <a:alpha val="15000"/>
              </a:srgbClr>
            </a:outerShdw>
          </a:effectLst>
        </p:spPr>
      </p:sp>
      <p:sp>
        <p:nvSpPr>
          <p:cNvPr id="11" name="Text 9"/>
          <p:cNvSpPr/>
          <p:nvPr/>
        </p:nvSpPr>
        <p:spPr>
          <a:xfrm>
            <a:off x="2423160" y="1883664"/>
            <a:ext cx="192024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2</a:t>
            </a:r>
            <a:endParaRPr lang="en-US" sz="900" dirty="0"/>
          </a:p>
        </p:txBody>
      </p:sp>
      <p:sp>
        <p:nvSpPr>
          <p:cNvPr id="12" name="Text 10"/>
          <p:cNvSpPr/>
          <p:nvPr/>
        </p:nvSpPr>
        <p:spPr>
          <a:xfrm>
            <a:off x="2423160" y="2084832"/>
            <a:ext cx="19202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Trade &amp; Riches</a:t>
            </a:r>
            <a:endParaRPr lang="en-US" sz="1300" dirty="0"/>
          </a:p>
        </p:txBody>
      </p:sp>
      <p:sp>
        <p:nvSpPr>
          <p:cNvPr id="13" name="Shape 11"/>
          <p:cNvSpPr/>
          <p:nvPr/>
        </p:nvSpPr>
        <p:spPr>
          <a:xfrm>
            <a:off x="4480560" y="1828800"/>
            <a:ext cx="1920240" cy="1280160"/>
          </a:xfrm>
          <a:prstGeom prst="roundRect">
            <a:avLst>
              <a:gd name="adj" fmla="val 8571"/>
            </a:avLst>
          </a:prstGeom>
          <a:solidFill>
            <a:srgbClr val="1A8A7D"/>
          </a:solidFill>
          <a:ln/>
          <a:effectLst>
            <a:outerShdw sx="100000" sy="100000" kx="0" ky="0" algn="bl" rotWithShape="0" blurRad="63500" dist="25400" dir="8100000">
              <a:srgbClr val="000000">
                <a:alpha val="15000"/>
              </a:srgbClr>
            </a:outerShdw>
          </a:effectLst>
        </p:spPr>
      </p:sp>
      <p:sp>
        <p:nvSpPr>
          <p:cNvPr id="14" name="Text 12"/>
          <p:cNvSpPr/>
          <p:nvPr/>
        </p:nvSpPr>
        <p:spPr>
          <a:xfrm>
            <a:off x="4480560" y="1883664"/>
            <a:ext cx="192024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a:t>
            </a:r>
            <a:endParaRPr lang="en-US" sz="900" dirty="0"/>
          </a:p>
        </p:txBody>
      </p:sp>
      <p:sp>
        <p:nvSpPr>
          <p:cNvPr id="15" name="Text 13"/>
          <p:cNvSpPr/>
          <p:nvPr/>
        </p:nvSpPr>
        <p:spPr>
          <a:xfrm>
            <a:off x="4480560" y="2084832"/>
            <a:ext cx="19202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Claiming Land</a:t>
            </a:r>
            <a:endParaRPr lang="en-US" sz="1300" dirty="0"/>
          </a:p>
        </p:txBody>
      </p:sp>
      <p:sp>
        <p:nvSpPr>
          <p:cNvPr id="16" name="Shape 14"/>
          <p:cNvSpPr/>
          <p:nvPr/>
        </p:nvSpPr>
        <p:spPr>
          <a:xfrm>
            <a:off x="6537960" y="1828800"/>
            <a:ext cx="1920240" cy="1280160"/>
          </a:xfrm>
          <a:prstGeom prst="roundRect">
            <a:avLst>
              <a:gd name="adj" fmla="val 8571"/>
            </a:avLst>
          </a:prstGeom>
          <a:solidFill>
            <a:srgbClr val="1A8A7D"/>
          </a:solidFill>
          <a:ln/>
          <a:effectLst>
            <a:outerShdw sx="100000" sy="100000" kx="0" ky="0" algn="bl" rotWithShape="0" blurRad="63500" dist="25400" dir="8100000">
              <a:srgbClr val="000000">
                <a:alpha val="15000"/>
              </a:srgbClr>
            </a:outerShdw>
          </a:effectLst>
        </p:spPr>
      </p:sp>
      <p:sp>
        <p:nvSpPr>
          <p:cNvPr id="17" name="Text 15"/>
          <p:cNvSpPr/>
          <p:nvPr/>
        </p:nvSpPr>
        <p:spPr>
          <a:xfrm>
            <a:off x="6537960" y="1883664"/>
            <a:ext cx="192024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4</a:t>
            </a:r>
            <a:endParaRPr lang="en-US" sz="900" dirty="0"/>
          </a:p>
        </p:txBody>
      </p:sp>
      <p:sp>
        <p:nvSpPr>
          <p:cNvPr id="18" name="Text 16"/>
          <p:cNvSpPr/>
          <p:nvPr/>
        </p:nvSpPr>
        <p:spPr>
          <a:xfrm>
            <a:off x="6537960" y="2084832"/>
            <a:ext cx="19202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Religion</a:t>
            </a:r>
            <a:endParaRPr lang="en-US" sz="1300" dirty="0"/>
          </a:p>
        </p:txBody>
      </p:sp>
      <p:sp>
        <p:nvSpPr>
          <p:cNvPr id="19" name="Shape 17"/>
          <p:cNvSpPr/>
          <p:nvPr/>
        </p:nvSpPr>
        <p:spPr>
          <a:xfrm>
            <a:off x="457200" y="3246120"/>
            <a:ext cx="8229600" cy="1280160"/>
          </a:xfrm>
          <a:prstGeom prst="roundRect">
            <a:avLst>
              <a:gd name="adj" fmla="val 8571"/>
            </a:avLst>
          </a:prstGeom>
          <a:solidFill>
            <a:srgbClr val="1A2D5A"/>
          </a:solidFill>
          <a:ln/>
          <a:effectLst>
            <a:outerShdw sx="100000" sy="100000" kx="0" ky="0" algn="bl" rotWithShape="0" blurRad="101600" dist="38100" dir="8100000">
              <a:srgbClr val="000000">
                <a:alpha val="20000"/>
              </a:srgbClr>
            </a:outerShdw>
          </a:effectLst>
        </p:spPr>
      </p:sp>
      <p:sp>
        <p:nvSpPr>
          <p:cNvPr id="20" name="Text 18"/>
          <p:cNvSpPr/>
          <p:nvPr/>
        </p:nvSpPr>
        <p:spPr>
          <a:xfrm>
            <a:off x="640080" y="3337560"/>
            <a:ext cx="7863840" cy="228600"/>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EXHIBIT LABEL</a:t>
            </a:r>
            <a:endParaRPr lang="en-US" sz="900" dirty="0"/>
          </a:p>
        </p:txBody>
      </p:sp>
      <p:sp>
        <p:nvSpPr>
          <p:cNvPr id="21" name="Text 19"/>
          <p:cNvSpPr/>
          <p:nvPr/>
        </p:nvSpPr>
        <p:spPr>
          <a:xfrm>
            <a:off x="640080" y="3611880"/>
            <a:ext cx="7863840" cy="8229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People explored for many reasons — curiosity, trade, land, and religion. Every explorer faced danger, but their motives were strong enough to make them try.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THEN &amp; NOW  ·  MAKING CONNECTIONS</a:t>
            </a:r>
            <a:endParaRPr lang="en-US" sz="900" dirty="0"/>
          </a:p>
        </p:txBody>
      </p:sp>
      <p:sp>
        <p:nvSpPr>
          <p:cNvPr id="3" name="Text 1"/>
          <p:cNvSpPr/>
          <p:nvPr/>
        </p:nvSpPr>
        <p:spPr>
          <a:xfrm>
            <a:off x="365760" y="548640"/>
            <a:ext cx="8412480" cy="566928"/>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What stayed the same about exploring?</a:t>
            </a:r>
            <a:endParaRPr lang="en-US" sz="2600" dirty="0"/>
          </a:p>
        </p:txBody>
      </p:sp>
      <p:sp>
        <p:nvSpPr>
          <p:cNvPr id="4" name="Shape 2"/>
          <p:cNvSpPr/>
          <p:nvPr/>
        </p:nvSpPr>
        <p:spPr>
          <a:xfrm>
            <a:off x="365760" y="1207008"/>
            <a:ext cx="4114800" cy="2468880"/>
          </a:xfrm>
          <a:prstGeom prst="roundRect">
            <a:avLst>
              <a:gd name="adj" fmla="val 4444"/>
            </a:avLst>
          </a:prstGeom>
          <a:solidFill>
            <a:srgbClr val="E2E8F4"/>
          </a:solidFill>
          <a:ln w="19050">
            <a:solidFill>
              <a:srgbClr val="B0B8CC"/>
            </a:solidFill>
            <a:prstDash val="dash"/>
          </a:ln>
        </p:spPr>
      </p:sp>
      <p:sp>
        <p:nvSpPr>
          <p:cNvPr id="5" name="Text 3"/>
          <p:cNvSpPr/>
          <p:nvPr/>
        </p:nvSpPr>
        <p:spPr>
          <a:xfrm>
            <a:off x="365760" y="1207008"/>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81328"/>
            <a:ext cx="3840480" cy="2103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Split image: left = 15th century sailing ship; right = modern rocket launching into space</a:t>
            </a:r>
            <a:endParaRPr lang="en-US" sz="1100" dirty="0"/>
          </a:p>
        </p:txBody>
      </p:sp>
      <p:sp>
        <p:nvSpPr>
          <p:cNvPr id="7" name="Shape 5"/>
          <p:cNvSpPr/>
          <p:nvPr/>
        </p:nvSpPr>
        <p:spPr>
          <a:xfrm>
            <a:off x="4663440" y="1207008"/>
            <a:ext cx="3840480" cy="1234440"/>
          </a:xfrm>
          <a:prstGeom prst="roundRect">
            <a:avLst>
              <a:gd name="adj" fmla="val 8889"/>
            </a:avLst>
          </a:prstGeom>
          <a:solidFill>
            <a:srgbClr val="F0F2F8"/>
          </a:solidFill>
          <a:ln w="12700">
            <a:solidFill>
              <a:srgbClr val="D0D8E8"/>
            </a:solidFill>
            <a:prstDash val="solid"/>
          </a:ln>
        </p:spPr>
      </p:sp>
      <p:sp>
        <p:nvSpPr>
          <p:cNvPr id="8" name="Text 6"/>
          <p:cNvSpPr/>
          <p:nvPr/>
        </p:nvSpPr>
        <p:spPr>
          <a:xfrm>
            <a:off x="4800600" y="1298448"/>
            <a:ext cx="3566160" cy="10515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Then: Wooden ships, unknown oceans, blank maps</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Now: Submarines exploring deep oceans, rockets exploring outer space</a:t>
            </a:r>
            <a:endParaRPr lang="en-US" sz="1200" dirty="0"/>
          </a:p>
        </p:txBody>
      </p:sp>
      <p:sp>
        <p:nvSpPr>
          <p:cNvPr id="9" name="Shape 7"/>
          <p:cNvSpPr/>
          <p:nvPr/>
        </p:nvSpPr>
        <p:spPr>
          <a:xfrm>
            <a:off x="4663440" y="2514600"/>
            <a:ext cx="3840480" cy="1325880"/>
          </a:xfrm>
          <a:prstGeom prst="roundRect">
            <a:avLst>
              <a:gd name="adj" fmla="val 8276"/>
            </a:avLst>
          </a:prstGeom>
          <a:solidFill>
            <a:srgbClr val="FFF3DC"/>
          </a:solidFill>
          <a:ln w="19050">
            <a:solidFill>
              <a:srgbClr val="F5E6C8"/>
            </a:solidFill>
            <a:prstDash val="solid"/>
          </a:ln>
        </p:spPr>
      </p:sp>
      <p:sp>
        <p:nvSpPr>
          <p:cNvPr id="10" name="Text 8"/>
          <p:cNvSpPr/>
          <p:nvPr/>
        </p:nvSpPr>
        <p:spPr>
          <a:xfrm>
            <a:off x="4800600" y="2569464"/>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4800600" y="2770632"/>
            <a:ext cx="3566160" cy="1005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stayed the same about exploring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"Explorers then and now both needed courage because..."</a:t>
            </a:r>
            <a:endParaRPr lang="en-US" sz="1200" dirty="0"/>
          </a:p>
        </p:txBody>
      </p:sp>
      <p:sp>
        <p:nvSpPr>
          <p:cNvPr id="12" name="Shape 10"/>
          <p:cNvSpPr/>
          <p:nvPr/>
        </p:nvSpPr>
        <p:spPr>
          <a:xfrm>
            <a:off x="365760" y="3931920"/>
            <a:ext cx="8412480" cy="1051560"/>
          </a:xfrm>
          <a:prstGeom prst="roundRect">
            <a:avLst>
              <a:gd name="adj" fmla="val 13043"/>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48640" y="402336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48640" y="4279392"/>
            <a:ext cx="8046720" cy="6126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the four reasons still drives exploration today?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has changed — the tools, or the human desire?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explore for ALL four reasons at once?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SPOT THE MISTAKE  ·  ERROR ANALYSIS</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A student wrote this answer. What's wrong with it?</a:t>
            </a:r>
            <a:endParaRPr lang="en-US" sz="2400" dirty="0"/>
          </a:p>
        </p:txBody>
      </p:sp>
      <p:sp>
        <p:nvSpPr>
          <p:cNvPr id="4" name="Shape 2"/>
          <p:cNvSpPr/>
          <p:nvPr/>
        </p:nvSpPr>
        <p:spPr>
          <a:xfrm>
            <a:off x="365760" y="1143000"/>
            <a:ext cx="8412480" cy="1005840"/>
          </a:xfrm>
          <a:prstGeom prst="roundRect">
            <a:avLst>
              <a:gd name="adj" fmla="val 10909"/>
            </a:avLst>
          </a:prstGeom>
          <a:solidFill>
            <a:srgbClr val="FFF0F0"/>
          </a:solidFill>
          <a:ln w="25400">
            <a:solidFill>
              <a:srgbClr val="E8636B"/>
            </a:solidFill>
            <a:prstDash val="solid"/>
          </a:ln>
        </p:spPr>
      </p:sp>
      <p:sp>
        <p:nvSpPr>
          <p:cNvPr id="5" name="Text 3"/>
          <p:cNvSpPr/>
          <p:nvPr/>
        </p:nvSpPr>
        <p:spPr>
          <a:xfrm>
            <a:off x="548640" y="1216152"/>
            <a:ext cx="8046720" cy="201168"/>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 ANSWER</a:t>
            </a:r>
            <a:endParaRPr lang="en-US" sz="900" dirty="0"/>
          </a:p>
        </p:txBody>
      </p:sp>
      <p:sp>
        <p:nvSpPr>
          <p:cNvPr id="6" name="Text 4"/>
          <p:cNvSpPr/>
          <p:nvPr/>
        </p:nvSpPr>
        <p:spPr>
          <a:xfrm>
            <a:off x="548640" y="1444752"/>
            <a:ext cx="8046720" cy="640080"/>
          </a:xfrm>
          <a:prstGeom prst="rect">
            <a:avLst/>
          </a:prstGeom>
          <a:noFill/>
          <a:ln/>
        </p:spPr>
        <p:txBody>
          <a:bodyPr wrap="square" lIns="0" tIns="0" rIns="0" bIns="0" rtlCol="0" anchor="t"/>
          <a:lstStyle/>
          <a:p>
            <a:pPr indent="0" marL="0">
              <a:buNone/>
            </a:pPr>
            <a:r>
              <a:rPr lang="en-US" sz="1300" i="1" dirty="0">
                <a:solidFill>
                  <a:srgbClr val="5A0000"/>
                </a:solidFill>
                <a:latin typeface="Cambria" pitchFamily="34" charset="0"/>
                <a:ea typeface="Cambria" pitchFamily="34" charset="-122"/>
                <a:cs typeface="Cambria" pitchFamily="34" charset="-120"/>
              </a:rPr>
              <a:t>"People explored because they were brave. Explorers were very brave people who liked adventure. That is why they went on voyages."</a:t>
            </a:r>
            <a:endParaRPr lang="en-US" sz="1300" dirty="0"/>
          </a:p>
        </p:txBody>
      </p:sp>
      <p:sp>
        <p:nvSpPr>
          <p:cNvPr id="7" name="Shape 5"/>
          <p:cNvSpPr/>
          <p:nvPr/>
        </p:nvSpPr>
        <p:spPr>
          <a:xfrm>
            <a:off x="365760" y="2286000"/>
            <a:ext cx="4023360" cy="169164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548640" y="2377440"/>
            <a:ext cx="36576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48640" y="2633472"/>
            <a:ext cx="3657600" cy="12527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the student get right?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important information is MISSING from this answer?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word did we learn today that the student forgot to use?</a:t>
            </a:r>
            <a:endParaRPr lang="en-US" sz="1100" dirty="0"/>
          </a:p>
        </p:txBody>
      </p:sp>
      <p:sp>
        <p:nvSpPr>
          <p:cNvPr id="10" name="Shape 8"/>
          <p:cNvSpPr/>
          <p:nvPr/>
        </p:nvSpPr>
        <p:spPr>
          <a:xfrm>
            <a:off x="4572000" y="2286000"/>
            <a:ext cx="4206240" cy="1691640"/>
          </a:xfrm>
          <a:prstGeom prst="roundRect">
            <a:avLst>
              <a:gd name="adj" fmla="val 6486"/>
            </a:avLst>
          </a:prstGeom>
          <a:solidFill>
            <a:srgbClr val="E3F8ED"/>
          </a:solidFill>
          <a:ln w="19050">
            <a:solidFill>
              <a:srgbClr val="34B76F"/>
            </a:solidFill>
            <a:prstDash val="solid"/>
          </a:ln>
        </p:spPr>
      </p:sp>
      <p:sp>
        <p:nvSpPr>
          <p:cNvPr id="11" name="Text 9"/>
          <p:cNvSpPr/>
          <p:nvPr/>
        </p:nvSpPr>
        <p:spPr>
          <a:xfrm>
            <a:off x="4754880" y="2359152"/>
            <a:ext cx="384048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WHAT'S MISSING</a:t>
            </a:r>
            <a:endParaRPr lang="en-US" sz="900" dirty="0"/>
          </a:p>
        </p:txBody>
      </p:sp>
      <p:sp>
        <p:nvSpPr>
          <p:cNvPr id="12" name="Text 10"/>
          <p:cNvSpPr/>
          <p:nvPr/>
        </p:nvSpPr>
        <p:spPr>
          <a:xfrm>
            <a:off x="4754880" y="2633472"/>
            <a:ext cx="3840480" cy="1234440"/>
          </a:xfrm>
          <a:prstGeom prst="rect">
            <a:avLst/>
          </a:prstGeom>
          <a:noFill/>
          <a:ln/>
        </p:spPr>
        <p:txBody>
          <a:bodyPr wrap="square" lIns="0" tIns="0" rIns="0" bIns="0" rtlCol="0" anchor="t"/>
          <a:lstStyle/>
          <a:p>
            <a:pPr indent="0" marL="0">
              <a:buNone/>
            </a:pPr>
            <a:r>
              <a:rPr lang="en-US" sz="1100" dirty="0">
                <a:solidFill>
                  <a:srgbClr val="1A4A30"/>
                </a:solidFill>
                <a:latin typeface="Calibri" pitchFamily="34" charset="0"/>
                <a:ea typeface="Calibri" pitchFamily="34" charset="-122"/>
                <a:cs typeface="Calibri" pitchFamily="34" charset="-120"/>
              </a:rPr>
              <a:t>The answer says 'brave' but never explains the MOTIVES — the specific reasons why explorers went. A strong answer names at least one reason: curiosity, trade, land, or religion, AND uses evidence from the lesson.</a:t>
            </a:r>
            <a:endParaRPr lang="en-US" sz="1100" dirty="0"/>
          </a:p>
        </p:txBody>
      </p:sp>
      <p:sp>
        <p:nvSpPr>
          <p:cNvPr id="13" name="Shape 11"/>
          <p:cNvSpPr/>
          <p:nvPr/>
        </p:nvSpPr>
        <p:spPr>
          <a:xfrm>
            <a:off x="365760" y="4041648"/>
            <a:ext cx="8412480" cy="960120"/>
          </a:xfrm>
          <a:prstGeom prst="roundRect">
            <a:avLst>
              <a:gd name="adj" fmla="val 11429"/>
            </a:avLst>
          </a:prstGeom>
          <a:solidFill>
            <a:srgbClr val="FFF3DC"/>
          </a:solidFill>
          <a:ln w="19050">
            <a:solidFill>
              <a:srgbClr val="F5E6C8"/>
            </a:solidFill>
            <a:prstDash val="solid"/>
          </a:ln>
        </p:spPr>
      </p:sp>
      <p:sp>
        <p:nvSpPr>
          <p:cNvPr id="14" name="Text 12"/>
          <p:cNvSpPr/>
          <p:nvPr/>
        </p:nvSpPr>
        <p:spPr>
          <a:xfrm>
            <a:off x="502920" y="409651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502920" y="4297680"/>
            <a:ext cx="813816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was partly right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"But they missed..."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answer would say..."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GUIDED PRACTICE  ·  EXHIBIT EXPLANATION</a:t>
            </a:r>
            <a:endParaRPr lang="en-US" sz="900" dirty="0"/>
          </a:p>
        </p:txBody>
      </p:sp>
      <p:sp>
        <p:nvSpPr>
          <p:cNvPr id="3" name="Text 1"/>
          <p:cNvSpPr/>
          <p:nvPr/>
        </p:nvSpPr>
        <p:spPr>
          <a:xfrm>
            <a:off x="365760" y="5486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Writing the Explanation Panel</a:t>
            </a:r>
            <a:endParaRPr lang="en-US" sz="2600" dirty="0"/>
          </a:p>
        </p:txBody>
      </p:sp>
      <p:sp>
        <p:nvSpPr>
          <p:cNvPr id="4" name="Shape 2"/>
          <p:cNvSpPr/>
          <p:nvPr/>
        </p:nvSpPr>
        <p:spPr>
          <a:xfrm>
            <a:off x="365760" y="1188720"/>
            <a:ext cx="4023360" cy="2651760"/>
          </a:xfrm>
          <a:prstGeom prst="roundRect">
            <a:avLst>
              <a:gd name="adj" fmla="val 4138"/>
            </a:avLst>
          </a:prstGeom>
          <a:solidFill>
            <a:srgbClr val="EAF8FD"/>
          </a:solidFill>
          <a:ln w="25400">
            <a:solidFill>
              <a:srgbClr val="55C8E8"/>
            </a:solidFill>
            <a:prstDash val="solid"/>
          </a:ln>
        </p:spPr>
      </p:sp>
      <p:sp>
        <p:nvSpPr>
          <p:cNvPr id="5" name="Text 3"/>
          <p:cNvSpPr/>
          <p:nvPr/>
        </p:nvSpPr>
        <p:spPr>
          <a:xfrm>
            <a:off x="548640" y="1280160"/>
            <a:ext cx="3657600" cy="228600"/>
          </a:xfrm>
          <a:prstGeom prst="rect">
            <a:avLst/>
          </a:prstGeom>
          <a:noFill/>
          <a:ln/>
        </p:spPr>
        <p:txBody>
          <a:bodyPr wrap="square" lIns="0" tIns="0" rIns="0" bIns="0" rtlCol="0" anchor="ctr"/>
          <a:lstStyle/>
          <a:p>
            <a:pPr indent="0" marL="0">
              <a:buNone/>
            </a:pPr>
            <a:r>
              <a:rPr lang="en-US" sz="900" b="1" spc="150" kern="0" dirty="0">
                <a:solidFill>
                  <a:srgbClr val="1A6A8A"/>
                </a:solidFill>
                <a:latin typeface="Calibri" pitchFamily="34" charset="0"/>
                <a:ea typeface="Calibri" pitchFamily="34" charset="-122"/>
                <a:cs typeface="Calibri" pitchFamily="34" charset="-120"/>
              </a:rPr>
              <a:t>TEACHER MODELS</a:t>
            </a:r>
            <a:endParaRPr lang="en-US" sz="900" dirty="0"/>
          </a:p>
        </p:txBody>
      </p:sp>
      <p:sp>
        <p:nvSpPr>
          <p:cNvPr id="6" name="Text 4"/>
          <p:cNvSpPr/>
          <p:nvPr/>
        </p:nvSpPr>
        <p:spPr>
          <a:xfrm>
            <a:off x="548640" y="1554480"/>
            <a:ext cx="3657600" cy="25603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Watch how I think through it:</a:t>
            </a:r>
            <a:endParaRPr lang="en-US" sz="1200" dirty="0"/>
          </a:p>
        </p:txBody>
      </p:sp>
      <p:sp>
        <p:nvSpPr>
          <p:cNvPr id="7" name="Text 5"/>
          <p:cNvSpPr/>
          <p:nvPr/>
        </p:nvSpPr>
        <p:spPr>
          <a:xfrm>
            <a:off x="548640" y="1828800"/>
            <a:ext cx="3657600" cy="178308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First, I ask: 'Why did people explore?' I know four reasons. I'll pick one: trade. Then I ask: 'What evidence from the lesson supports this?' Spices were worth as much as a house. That's my evidence. Now I write: 'People explored to find faster trade routes because spices like pepper were extremely valuable in Europe.'</a:t>
            </a:r>
            <a:endParaRPr lang="en-US" sz="1100" dirty="0"/>
          </a:p>
        </p:txBody>
      </p:sp>
      <p:sp>
        <p:nvSpPr>
          <p:cNvPr id="8" name="Shape 6"/>
          <p:cNvSpPr/>
          <p:nvPr/>
        </p:nvSpPr>
        <p:spPr>
          <a:xfrm>
            <a:off x="4572000" y="1188720"/>
            <a:ext cx="4206240" cy="2651760"/>
          </a:xfrm>
          <a:prstGeom prst="roundRect">
            <a:avLst>
              <a:gd name="adj" fmla="val 4138"/>
            </a:avLst>
          </a:prstGeom>
          <a:solidFill>
            <a:srgbClr val="FFF3DC"/>
          </a:solidFill>
          <a:ln w="25400">
            <a:solidFill>
              <a:srgbClr val="D4943A"/>
            </a:solidFill>
            <a:prstDash val="solid"/>
          </a:ln>
        </p:spPr>
      </p:sp>
      <p:sp>
        <p:nvSpPr>
          <p:cNvPr id="9" name="Text 7"/>
          <p:cNvSpPr/>
          <p:nvPr/>
        </p:nvSpPr>
        <p:spPr>
          <a:xfrm>
            <a:off x="4754880" y="1280160"/>
            <a:ext cx="3840480" cy="228600"/>
          </a:xfrm>
          <a:prstGeom prst="rect">
            <a:avLst/>
          </a:prstGeom>
          <a:noFill/>
          <a:ln/>
        </p:spPr>
        <p:txBody>
          <a:bodyPr wrap="square" lIns="0" tIns="0" rIns="0" bIns="0" rtlCol="0" anchor="ctr"/>
          <a:lstStyle/>
          <a:p>
            <a:pPr indent="0" marL="0">
              <a:buNone/>
            </a:pPr>
            <a:r>
              <a:rPr lang="en-US" sz="900" b="1" spc="150" kern="0" dirty="0">
                <a:solidFill>
                  <a:srgbClr val="8A5A00"/>
                </a:solidFill>
                <a:latin typeface="Calibri" pitchFamily="34" charset="0"/>
                <a:ea typeface="Calibri" pitchFamily="34" charset="-122"/>
                <a:cs typeface="Calibri" pitchFamily="34" charset="-120"/>
              </a:rPr>
              <a:t>YOUR TURN — WITH SUPPORT</a:t>
            </a:r>
            <a:endParaRPr lang="en-US" sz="900" dirty="0"/>
          </a:p>
        </p:txBody>
      </p:sp>
      <p:sp>
        <p:nvSpPr>
          <p:cNvPr id="10" name="Text 8"/>
          <p:cNvSpPr/>
          <p:nvPr/>
        </p:nvSpPr>
        <p:spPr>
          <a:xfrm>
            <a:off x="4754880" y="1554480"/>
            <a:ext cx="3840480" cy="25603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Use this checklist:</a:t>
            </a:r>
            <a:endParaRPr lang="en-US" sz="1200" dirty="0"/>
          </a:p>
        </p:txBody>
      </p:sp>
      <p:sp>
        <p:nvSpPr>
          <p:cNvPr id="11" name="Text 9"/>
          <p:cNvSpPr/>
          <p:nvPr/>
        </p:nvSpPr>
        <p:spPr>
          <a:xfrm>
            <a:off x="4754880" y="1828800"/>
            <a:ext cx="3840480" cy="10058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  1. Name ONE reason people explored</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2. Give ONE detail from the lesson as evidence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3. Explain WHY that reason made the risk worth it</a:t>
            </a:r>
            <a:endParaRPr lang="en-US" sz="1200" dirty="0"/>
          </a:p>
        </p:txBody>
      </p:sp>
      <p:sp>
        <p:nvSpPr>
          <p:cNvPr id="12" name="Shape 10"/>
          <p:cNvSpPr/>
          <p:nvPr/>
        </p:nvSpPr>
        <p:spPr>
          <a:xfrm>
            <a:off x="4572000" y="2926080"/>
            <a:ext cx="4206240" cy="868680"/>
          </a:xfrm>
          <a:prstGeom prst="roundRect">
            <a:avLst>
              <a:gd name="adj" fmla="val 12632"/>
            </a:avLst>
          </a:prstGeom>
          <a:solidFill>
            <a:srgbClr val="FFF3DC"/>
          </a:solidFill>
          <a:ln w="19050">
            <a:solidFill>
              <a:srgbClr val="F5E6C8"/>
            </a:solidFill>
            <a:prstDash val="solid"/>
          </a:ln>
        </p:spPr>
      </p:sp>
      <p:sp>
        <p:nvSpPr>
          <p:cNvPr id="13" name="Text 11"/>
          <p:cNvSpPr/>
          <p:nvPr/>
        </p:nvSpPr>
        <p:spPr>
          <a:xfrm>
            <a:off x="4709160" y="2980944"/>
            <a:ext cx="39319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4709160" y="3182112"/>
            <a:ext cx="393192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"People explored to...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detail from the lesson that proves this is..."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SELF-CHECK PREVIEW  ·  BEFORE YOU WRITE</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Three quick questions to check your readiness.</a:t>
            </a:r>
            <a:endParaRPr lang="en-US" sz="2200" dirty="0"/>
          </a:p>
        </p:txBody>
      </p:sp>
      <p:sp>
        <p:nvSpPr>
          <p:cNvPr id="4" name="Shape 2"/>
          <p:cNvSpPr/>
          <p:nvPr/>
        </p:nvSpPr>
        <p:spPr>
          <a:xfrm>
            <a:off x="365760" y="1143000"/>
            <a:ext cx="4023360" cy="1371600"/>
          </a:xfrm>
          <a:prstGeom prst="roundRect">
            <a:avLst>
              <a:gd name="adj" fmla="val 6667"/>
            </a:avLst>
          </a:prstGeom>
          <a:solidFill>
            <a:srgbClr val="F0F2F8"/>
          </a:solidFill>
          <a:ln w="12700">
            <a:solidFill>
              <a:srgbClr val="D0D8E8"/>
            </a:solidFill>
            <a:prstDash val="solid"/>
          </a:ln>
        </p:spPr>
      </p:sp>
      <p:sp>
        <p:nvSpPr>
          <p:cNvPr id="5" name="Text 3"/>
          <p:cNvSpPr/>
          <p:nvPr/>
        </p:nvSpPr>
        <p:spPr>
          <a:xfrm>
            <a:off x="548640" y="1216152"/>
            <a:ext cx="3657600" cy="3200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Q1: Which was a reason people explored?</a:t>
            </a:r>
            <a:endParaRPr lang="en-US" sz="1200" dirty="0"/>
          </a:p>
        </p:txBody>
      </p:sp>
      <p:sp>
        <p:nvSpPr>
          <p:cNvPr id="6" name="Text 4"/>
          <p:cNvSpPr/>
          <p:nvPr/>
        </p:nvSpPr>
        <p:spPr>
          <a:xfrm>
            <a:off x="548640" y="1554480"/>
            <a:ext cx="3657600" cy="82296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Build taller buildings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B  Find faster trade routes to Asia</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C  Invent new board games</a:t>
            </a:r>
            <a:endParaRPr lang="en-US" sz="1100" dirty="0"/>
          </a:p>
        </p:txBody>
      </p:sp>
      <p:sp>
        <p:nvSpPr>
          <p:cNvPr id="7" name="Shape 5"/>
          <p:cNvSpPr/>
          <p:nvPr/>
        </p:nvSpPr>
        <p:spPr>
          <a:xfrm>
            <a:off x="365760" y="2578608"/>
            <a:ext cx="4023360" cy="347472"/>
          </a:xfrm>
          <a:prstGeom prst="roundRect">
            <a:avLst>
              <a:gd name="adj" fmla="val 21053"/>
            </a:avLst>
          </a:prstGeom>
          <a:solidFill>
            <a:srgbClr val="E3F8ED"/>
          </a:solidFill>
          <a:ln w="12700">
            <a:solidFill>
              <a:srgbClr val="34B76F"/>
            </a:solidFill>
            <a:prstDash val="solid"/>
          </a:ln>
        </p:spPr>
      </p:sp>
      <p:sp>
        <p:nvSpPr>
          <p:cNvPr id="8" name="Text 6"/>
          <p:cNvSpPr/>
          <p:nvPr/>
        </p:nvSpPr>
        <p:spPr>
          <a:xfrm>
            <a:off x="548640" y="2633472"/>
            <a:ext cx="3749040" cy="256032"/>
          </a:xfrm>
          <a:prstGeom prst="rect">
            <a:avLst/>
          </a:prstGeom>
          <a:noFill/>
          <a:ln/>
        </p:spPr>
        <p:txBody>
          <a:bodyPr wrap="square" lIns="0" tIns="0" rIns="0" bIns="0" rtlCol="0" anchor="ctr"/>
          <a:lstStyle/>
          <a:p>
            <a:pPr indent="0" marL="0">
              <a:buNone/>
            </a:pPr>
            <a:r>
              <a:rPr lang="en-US" sz="1100" i="1" dirty="0">
                <a:solidFill>
                  <a:srgbClr val="1A4A30"/>
                </a:solidFill>
                <a:latin typeface="Calibri" pitchFamily="34" charset="0"/>
                <a:ea typeface="Calibri" pitchFamily="34" charset="-122"/>
                <a:cs typeface="Calibri" pitchFamily="34" charset="-120"/>
              </a:rPr>
              <a:t>Answer: B — Trade routes to Asia for spices, silk, and gold</a:t>
            </a:r>
            <a:endParaRPr lang="en-US" sz="1100" dirty="0"/>
          </a:p>
        </p:txBody>
      </p:sp>
      <p:sp>
        <p:nvSpPr>
          <p:cNvPr id="9" name="Shape 7"/>
          <p:cNvSpPr/>
          <p:nvPr/>
        </p:nvSpPr>
        <p:spPr>
          <a:xfrm>
            <a:off x="4572000" y="1143000"/>
            <a:ext cx="4206240" cy="1371600"/>
          </a:xfrm>
          <a:prstGeom prst="roundRect">
            <a:avLst>
              <a:gd name="adj" fmla="val 6667"/>
            </a:avLst>
          </a:prstGeom>
          <a:solidFill>
            <a:srgbClr val="F0F2F8"/>
          </a:solidFill>
          <a:ln w="12700">
            <a:solidFill>
              <a:srgbClr val="D0D8E8"/>
            </a:solidFill>
            <a:prstDash val="solid"/>
          </a:ln>
        </p:spPr>
      </p:sp>
      <p:sp>
        <p:nvSpPr>
          <p:cNvPr id="10" name="Text 8"/>
          <p:cNvSpPr/>
          <p:nvPr/>
        </p:nvSpPr>
        <p:spPr>
          <a:xfrm>
            <a:off x="4754880" y="1216152"/>
            <a:ext cx="3840480" cy="3200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Q2: Why did rulers send explorers on voyages?</a:t>
            </a:r>
            <a:endParaRPr lang="en-US" sz="1200" dirty="0"/>
          </a:p>
        </p:txBody>
      </p:sp>
      <p:sp>
        <p:nvSpPr>
          <p:cNvPr id="11" name="Text 9"/>
          <p:cNvSpPr/>
          <p:nvPr/>
        </p:nvSpPr>
        <p:spPr>
          <a:xfrm>
            <a:off x="4754880" y="1554480"/>
            <a:ext cx="3840480" cy="82296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Claim land and gain resources and power</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B  Give explorers a vacation</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C  Test if the earth was round</a:t>
            </a:r>
            <a:endParaRPr lang="en-US" sz="1100" dirty="0"/>
          </a:p>
        </p:txBody>
      </p:sp>
      <p:sp>
        <p:nvSpPr>
          <p:cNvPr id="12" name="Shape 10"/>
          <p:cNvSpPr/>
          <p:nvPr/>
        </p:nvSpPr>
        <p:spPr>
          <a:xfrm>
            <a:off x="4572000" y="2578608"/>
            <a:ext cx="4206240" cy="347472"/>
          </a:xfrm>
          <a:prstGeom prst="roundRect">
            <a:avLst>
              <a:gd name="adj" fmla="val 21053"/>
            </a:avLst>
          </a:prstGeom>
          <a:solidFill>
            <a:srgbClr val="E3F8ED"/>
          </a:solidFill>
          <a:ln w="12700">
            <a:solidFill>
              <a:srgbClr val="34B76F"/>
            </a:solidFill>
            <a:prstDash val="solid"/>
          </a:ln>
        </p:spPr>
      </p:sp>
      <p:sp>
        <p:nvSpPr>
          <p:cNvPr id="13" name="Text 11"/>
          <p:cNvSpPr/>
          <p:nvPr/>
        </p:nvSpPr>
        <p:spPr>
          <a:xfrm>
            <a:off x="4754880" y="2633472"/>
            <a:ext cx="3931920" cy="256032"/>
          </a:xfrm>
          <a:prstGeom prst="rect">
            <a:avLst/>
          </a:prstGeom>
          <a:noFill/>
          <a:ln/>
        </p:spPr>
        <p:txBody>
          <a:bodyPr wrap="square" lIns="0" tIns="0" rIns="0" bIns="0" rtlCol="0" anchor="ctr"/>
          <a:lstStyle/>
          <a:p>
            <a:pPr indent="0" marL="0">
              <a:buNone/>
            </a:pPr>
            <a:r>
              <a:rPr lang="en-US" sz="1100" i="1" dirty="0">
                <a:solidFill>
                  <a:srgbClr val="1A4A30"/>
                </a:solidFill>
                <a:latin typeface="Calibri" pitchFamily="34" charset="0"/>
                <a:ea typeface="Calibri" pitchFamily="34" charset="-122"/>
                <a:cs typeface="Calibri" pitchFamily="34" charset="-120"/>
              </a:rPr>
              <a:t>Answer: A — More territory = more power and resources</a:t>
            </a:r>
            <a:endParaRPr lang="en-US" sz="1100" dirty="0"/>
          </a:p>
        </p:txBody>
      </p:sp>
      <p:sp>
        <p:nvSpPr>
          <p:cNvPr id="14" name="Shape 12"/>
          <p:cNvSpPr/>
          <p:nvPr/>
        </p:nvSpPr>
        <p:spPr>
          <a:xfrm>
            <a:off x="365760" y="2999232"/>
            <a:ext cx="8412480" cy="822960"/>
          </a:xfrm>
          <a:prstGeom prst="roundRect">
            <a:avLst>
              <a:gd name="adj" fmla="val 11111"/>
            </a:avLst>
          </a:prstGeom>
          <a:solidFill>
            <a:srgbClr val="F0F2F8"/>
          </a:solidFill>
          <a:ln w="12700">
            <a:solidFill>
              <a:srgbClr val="D0D8E8"/>
            </a:solidFill>
            <a:prstDash val="solid"/>
          </a:ln>
        </p:spPr>
      </p:sp>
      <p:sp>
        <p:nvSpPr>
          <p:cNvPr id="15" name="Text 13"/>
          <p:cNvSpPr/>
          <p:nvPr/>
        </p:nvSpPr>
        <p:spPr>
          <a:xfrm>
            <a:off x="548640" y="3072384"/>
            <a:ext cx="3657600" cy="292608"/>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Q3: What virtue did every explorer need?</a:t>
            </a:r>
            <a:endParaRPr lang="en-US" sz="1200" dirty="0"/>
          </a:p>
        </p:txBody>
      </p:sp>
      <p:sp>
        <p:nvSpPr>
          <p:cNvPr id="16" name="Shape 14"/>
          <p:cNvSpPr/>
          <p:nvPr/>
        </p:nvSpPr>
        <p:spPr>
          <a:xfrm>
            <a:off x="4572000" y="3072384"/>
            <a:ext cx="4114800" cy="640080"/>
          </a:xfrm>
          <a:prstGeom prst="roundRect">
            <a:avLst>
              <a:gd name="adj" fmla="val 11429"/>
            </a:avLst>
          </a:prstGeom>
          <a:solidFill>
            <a:srgbClr val="E3F8ED"/>
          </a:solidFill>
          <a:ln w="12700">
            <a:solidFill>
              <a:srgbClr val="34B76F"/>
            </a:solidFill>
            <a:prstDash val="solid"/>
          </a:ln>
        </p:spPr>
      </p:sp>
      <p:sp>
        <p:nvSpPr>
          <p:cNvPr id="17" name="Text 15"/>
          <p:cNvSpPr/>
          <p:nvPr/>
        </p:nvSpPr>
        <p:spPr>
          <a:xfrm>
            <a:off x="4754880" y="3127248"/>
            <a:ext cx="3840480" cy="530352"/>
          </a:xfrm>
          <a:prstGeom prst="rect">
            <a:avLst/>
          </a:prstGeom>
          <a:noFill/>
          <a:ln/>
        </p:spPr>
        <p:txBody>
          <a:bodyPr wrap="square" lIns="0" tIns="0" rIns="0" bIns="0" rtlCol="0" anchor="ctr"/>
          <a:lstStyle/>
          <a:p>
            <a:pPr indent="0" marL="0">
              <a:buNone/>
            </a:pPr>
            <a:r>
              <a:rPr lang="en-US" sz="1100" i="1" dirty="0">
                <a:solidFill>
                  <a:srgbClr val="1A4A30"/>
                </a:solidFill>
                <a:latin typeface="Calibri" pitchFamily="34" charset="0"/>
                <a:ea typeface="Calibri" pitchFamily="34" charset="-122"/>
                <a:cs typeface="Calibri" pitchFamily="34" charset="-120"/>
              </a:rPr>
              <a:t>Answer: Courage — Ships could sink, food could run out, maps were incomplete. It took real courage to set sail into the unknown.</a:t>
            </a:r>
            <a:endParaRPr lang="en-US" sz="1100" dirty="0"/>
          </a:p>
        </p:txBody>
      </p:sp>
      <p:sp>
        <p:nvSpPr>
          <p:cNvPr id="18" name="Shape 16"/>
          <p:cNvSpPr/>
          <p:nvPr/>
        </p:nvSpPr>
        <p:spPr>
          <a:xfrm>
            <a:off x="365760" y="3886200"/>
            <a:ext cx="8412480" cy="1051560"/>
          </a:xfrm>
          <a:prstGeom prst="roundRect">
            <a:avLst>
              <a:gd name="adj" fmla="val 13043"/>
            </a:avLst>
          </a:prstGeom>
          <a:solidFill>
            <a:srgbClr val="1A2D5A"/>
          </a:solidFill>
          <a:ln/>
          <a:effectLst>
            <a:outerShdw sx="100000" sy="100000" kx="0" ky="0" algn="bl" rotWithShape="0" blurRad="101600" dist="38100" dir="8100000">
              <a:srgbClr val="000000">
                <a:alpha val="20000"/>
              </a:srgbClr>
            </a:outerShdw>
          </a:effectLst>
        </p:spPr>
      </p:sp>
      <p:sp>
        <p:nvSpPr>
          <p:cNvPr id="19" name="Text 17"/>
          <p:cNvSpPr/>
          <p:nvPr/>
        </p:nvSpPr>
        <p:spPr>
          <a:xfrm>
            <a:off x="548640" y="397764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0" name="Text 18"/>
          <p:cNvSpPr/>
          <p:nvPr/>
        </p:nvSpPr>
        <p:spPr>
          <a:xfrm>
            <a:off x="548640" y="4233672"/>
            <a:ext cx="8046720" cy="6126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question was trickiest —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clue in the lesson helped you answer Q3?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EVIDENCE &amp; ASSIGNMENT  ·  YOUR TURN</a:t>
            </a:r>
            <a:endParaRPr lang="en-US" sz="900" dirty="0"/>
          </a:p>
        </p:txBody>
      </p:sp>
      <p:sp>
        <p:nvSpPr>
          <p:cNvPr id="3" name="Text 1"/>
          <p:cNvSpPr/>
          <p:nvPr/>
        </p:nvSpPr>
        <p:spPr>
          <a:xfrm>
            <a:off x="365760" y="5486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What You Will Turn In</a:t>
            </a:r>
            <a:endParaRPr lang="en-US" sz="2600" dirty="0"/>
          </a:p>
        </p:txBody>
      </p:sp>
      <p:sp>
        <p:nvSpPr>
          <p:cNvPr id="4" name="Shape 2"/>
          <p:cNvSpPr/>
          <p:nvPr/>
        </p:nvSpPr>
        <p:spPr>
          <a:xfrm>
            <a:off x="365760" y="1188720"/>
            <a:ext cx="4023360" cy="2560320"/>
          </a:xfrm>
          <a:prstGeom prst="roundRect">
            <a:avLst>
              <a:gd name="adj" fmla="val 4286"/>
            </a:avLst>
          </a:prstGeom>
          <a:solidFill>
            <a:srgbClr val="EAF8FD"/>
          </a:solidFill>
          <a:ln w="25400">
            <a:solidFill>
              <a:srgbClr val="55C8E8"/>
            </a:solidFill>
            <a:prstDash val="solid"/>
          </a:ln>
        </p:spPr>
      </p:sp>
      <p:sp>
        <p:nvSpPr>
          <p:cNvPr id="5" name="Text 3"/>
          <p:cNvSpPr/>
          <p:nvPr/>
        </p:nvSpPr>
        <p:spPr>
          <a:xfrm>
            <a:off x="548640" y="1280160"/>
            <a:ext cx="3657600" cy="228600"/>
          </a:xfrm>
          <a:prstGeom prst="rect">
            <a:avLst/>
          </a:prstGeom>
          <a:noFill/>
          <a:ln/>
        </p:spPr>
        <p:txBody>
          <a:bodyPr wrap="square" lIns="0" tIns="0" rIns="0" bIns="0" rtlCol="0" anchor="ctr"/>
          <a:lstStyle/>
          <a:p>
            <a:pPr indent="0" marL="0">
              <a:buNone/>
            </a:pPr>
            <a:r>
              <a:rPr lang="en-US" sz="900" b="1" spc="150" kern="0" dirty="0">
                <a:solidFill>
                  <a:srgbClr val="1A6A8A"/>
                </a:solidFill>
                <a:latin typeface="Calibri" pitchFamily="34" charset="0"/>
                <a:ea typeface="Calibri" pitchFamily="34" charset="-122"/>
                <a:cs typeface="Calibri" pitchFamily="34" charset="-120"/>
              </a:rPr>
              <a:t>EVIDENCE QUESTIONS</a:t>
            </a:r>
            <a:endParaRPr lang="en-US" sz="900" dirty="0"/>
          </a:p>
        </p:txBody>
      </p:sp>
      <p:sp>
        <p:nvSpPr>
          <p:cNvPr id="6" name="Text 4"/>
          <p:cNvSpPr/>
          <p:nvPr/>
        </p:nvSpPr>
        <p:spPr>
          <a:xfrm>
            <a:off x="548640" y="1572768"/>
            <a:ext cx="3657600" cy="210312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Q1: Name ONE reason people explored new lands. Use a detail from the lesson to explain why that reason was important.</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Q2: Why did exploration require courage? Use evidence from the lesson to explain the risks explorers faced.</a:t>
            </a:r>
            <a:endParaRPr lang="en-US" sz="1200" dirty="0"/>
          </a:p>
        </p:txBody>
      </p:sp>
      <p:sp>
        <p:nvSpPr>
          <p:cNvPr id="7" name="Shape 5"/>
          <p:cNvSpPr/>
          <p:nvPr/>
        </p:nvSpPr>
        <p:spPr>
          <a:xfrm>
            <a:off x="4572000" y="1188720"/>
            <a:ext cx="4206240" cy="2560320"/>
          </a:xfrm>
          <a:prstGeom prst="roundRect">
            <a:avLst>
              <a:gd name="adj" fmla="val 4286"/>
            </a:avLst>
          </a:prstGeom>
          <a:solidFill>
            <a:srgbClr val="FFF3DC"/>
          </a:solidFill>
          <a:ln w="25400">
            <a:solidFill>
              <a:srgbClr val="D4943A"/>
            </a:solidFill>
            <a:prstDash val="solid"/>
          </a:ln>
        </p:spPr>
      </p:sp>
      <p:sp>
        <p:nvSpPr>
          <p:cNvPr id="8" name="Text 6"/>
          <p:cNvSpPr/>
          <p:nvPr/>
        </p:nvSpPr>
        <p:spPr>
          <a:xfrm>
            <a:off x="4754880" y="1280160"/>
            <a:ext cx="3840480" cy="228600"/>
          </a:xfrm>
          <a:prstGeom prst="rect">
            <a:avLst/>
          </a:prstGeom>
          <a:noFill/>
          <a:ln/>
        </p:spPr>
        <p:txBody>
          <a:bodyPr wrap="square" lIns="0" tIns="0" rIns="0" bIns="0" rtlCol="0" anchor="ctr"/>
          <a:lstStyle/>
          <a:p>
            <a:pPr indent="0" marL="0">
              <a:buNone/>
            </a:pPr>
            <a:r>
              <a:rPr lang="en-US" sz="900" b="1" spc="150" kern="0" dirty="0">
                <a:solidFill>
                  <a:srgbClr val="8A5A00"/>
                </a:solidFill>
                <a:latin typeface="Calibri" pitchFamily="34" charset="0"/>
                <a:ea typeface="Calibri" pitchFamily="34" charset="-122"/>
                <a:cs typeface="Calibri" pitchFamily="34" charset="-120"/>
              </a:rPr>
              <a:t>CURATOR TASK</a:t>
            </a:r>
            <a:endParaRPr lang="en-US" sz="900" dirty="0"/>
          </a:p>
        </p:txBody>
      </p:sp>
      <p:sp>
        <p:nvSpPr>
          <p:cNvPr id="9" name="Text 7"/>
          <p:cNvSpPr/>
          <p:nvPr/>
        </p:nvSpPr>
        <p:spPr>
          <a:xfrm>
            <a:off x="4754880" y="1572768"/>
            <a:ext cx="3840480" cy="210312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Write the EXHIBIT EXPLANATION PANEL that goes next to the exploration crate.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3–4 sentences. Must include: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Why people explored (at least one specific reason)</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What made it risky</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Why they went anyway</a:t>
            </a:r>
            <a:endParaRPr lang="en-US" sz="1200" dirty="0"/>
          </a:p>
        </p:txBody>
      </p:sp>
      <p:sp>
        <p:nvSpPr>
          <p:cNvPr id="10" name="Shape 8"/>
          <p:cNvSpPr/>
          <p:nvPr/>
        </p:nvSpPr>
        <p:spPr>
          <a:xfrm>
            <a:off x="0" y="3840480"/>
            <a:ext cx="9144000" cy="658368"/>
          </a:xfrm>
          <a:prstGeom prst="rect">
            <a:avLst/>
          </a:prstGeom>
          <a:solidFill>
            <a:srgbClr val="1A2D5A"/>
          </a:solidFill>
          <a:ln/>
        </p:spPr>
      </p:sp>
      <p:sp>
        <p:nvSpPr>
          <p:cNvPr id="11" name="Text 9"/>
          <p:cNvSpPr/>
          <p:nvPr/>
        </p:nvSpPr>
        <p:spPr>
          <a:xfrm>
            <a:off x="365760" y="3913632"/>
            <a:ext cx="8412480" cy="512064"/>
          </a:xfrm>
          <a:prstGeom prst="rect">
            <a:avLst/>
          </a:prstGeom>
          <a:noFill/>
          <a:ln/>
        </p:spPr>
        <p:txBody>
          <a:bodyPr wrap="square" lIns="0" tIns="0" rIns="0" bIns="0"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CURATOR'S CHRONICLE: In this exhibit, I learned that _______ because _______.</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502920"/>
            <a:ext cx="8229600" cy="320040"/>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RETRIEVAL CHALLENGE</a:t>
            </a:r>
            <a:endParaRPr lang="en-US" sz="900" dirty="0"/>
          </a:p>
        </p:txBody>
      </p:sp>
      <p:sp>
        <p:nvSpPr>
          <p:cNvPr id="5" name="Text 3"/>
          <p:cNvSpPr/>
          <p:nvPr/>
        </p:nvSpPr>
        <p:spPr>
          <a:xfrm>
            <a:off x="457200" y="960120"/>
            <a:ext cx="8229600" cy="640080"/>
          </a:xfrm>
          <a:prstGeom prst="rect">
            <a:avLst/>
          </a:prstGeom>
          <a:noFill/>
          <a:ln/>
        </p:spPr>
        <p:txBody>
          <a:bodyPr wrap="square" lIns="0" tIns="0" rIns="0" bIns="0" rtlCol="0" anchor="ctr"/>
          <a:lstStyle/>
          <a:p>
            <a:pPr algn="ctr" indent="0" marL="0">
              <a:buNone/>
            </a:pPr>
            <a:r>
              <a:rPr lang="en-US" sz="3600" b="1" dirty="0">
                <a:solidFill>
                  <a:srgbClr val="D4943A"/>
                </a:solidFill>
                <a:latin typeface="Cambria" pitchFamily="34" charset="0"/>
                <a:ea typeface="Cambria" pitchFamily="34" charset="-122"/>
                <a:cs typeface="Cambria" pitchFamily="34" charset="-120"/>
              </a:rPr>
              <a:t>Cover your screen.</a:t>
            </a:r>
            <a:endParaRPr lang="en-US" sz="3600" dirty="0"/>
          </a:p>
        </p:txBody>
      </p:sp>
      <p:sp>
        <p:nvSpPr>
          <p:cNvPr id="6" name="Text 4"/>
          <p:cNvSpPr/>
          <p:nvPr/>
        </p:nvSpPr>
        <p:spPr>
          <a:xfrm>
            <a:off x="457200" y="1691640"/>
            <a:ext cx="82296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From memory — name all FOUR reasons people explored.</a:t>
            </a:r>
            <a:endParaRPr lang="en-US" sz="1600" dirty="0"/>
          </a:p>
        </p:txBody>
      </p:sp>
      <p:sp>
        <p:nvSpPr>
          <p:cNvPr id="7" name="Shape 5"/>
          <p:cNvSpPr/>
          <p:nvPr/>
        </p:nvSpPr>
        <p:spPr>
          <a:xfrm>
            <a:off x="1371600" y="2240280"/>
            <a:ext cx="6400800" cy="548640"/>
          </a:xfrm>
          <a:prstGeom prst="roundRect">
            <a:avLst>
              <a:gd name="adj" fmla="val 16667"/>
            </a:avLst>
          </a:prstGeom>
          <a:solidFill>
            <a:srgbClr val="1A2D5A"/>
          </a:solidFill>
          <a:ln/>
        </p:spPr>
      </p:sp>
      <p:sp>
        <p:nvSpPr>
          <p:cNvPr id="8" name="Text 6"/>
          <p:cNvSpPr/>
          <p:nvPr/>
        </p:nvSpPr>
        <p:spPr>
          <a:xfrm>
            <a:off x="1554480" y="2331720"/>
            <a:ext cx="6035040" cy="365760"/>
          </a:xfrm>
          <a:prstGeom prst="rect">
            <a:avLst/>
          </a:prstGeom>
          <a:noFill/>
          <a:ln/>
        </p:spPr>
        <p:txBody>
          <a:bodyPr wrap="square" lIns="0" tIns="0" rIns="0" bIns="0" rtlCol="0" anchor="ctr"/>
          <a:lstStyle/>
          <a:p>
            <a:pPr algn="ctr" indent="0" marL="0">
              <a:buNone/>
            </a:pPr>
            <a:r>
              <a:rPr lang="en-US" sz="1300" i="1" dirty="0">
                <a:solidFill>
                  <a:srgbClr val="55C8E8"/>
                </a:solidFill>
                <a:latin typeface="Calibri" pitchFamily="34" charset="0"/>
                <a:ea typeface="Calibri" pitchFamily="34" charset="-122"/>
                <a:cs typeface="Calibri" pitchFamily="34" charset="-120"/>
              </a:rPr>
              <a:t>You have 15 seconds. Write them down — or type them in chat.</a:t>
            </a:r>
            <a:endParaRPr lang="en-US" sz="1300" dirty="0"/>
          </a:p>
        </p:txBody>
      </p:sp>
      <p:sp>
        <p:nvSpPr>
          <p:cNvPr id="9" name="Shape 7"/>
          <p:cNvSpPr/>
          <p:nvPr/>
        </p:nvSpPr>
        <p:spPr>
          <a:xfrm>
            <a:off x="914400" y="2926080"/>
            <a:ext cx="7315200" cy="1645920"/>
          </a:xfrm>
          <a:prstGeom prst="roundRect">
            <a:avLst>
              <a:gd name="adj" fmla="val 8333"/>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1097280" y="3017520"/>
            <a:ext cx="6949440" cy="228600"/>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ANSWERS — REVEAL AFTER STUDENTS TRY</a:t>
            </a:r>
            <a:endParaRPr lang="en-US" sz="900" dirty="0"/>
          </a:p>
        </p:txBody>
      </p:sp>
      <p:sp>
        <p:nvSpPr>
          <p:cNvPr id="11" name="Text 9"/>
          <p:cNvSpPr/>
          <p:nvPr/>
        </p:nvSpPr>
        <p:spPr>
          <a:xfrm>
            <a:off x="1097280" y="3310128"/>
            <a:ext cx="6949440" cy="457200"/>
          </a:xfrm>
          <a:prstGeom prst="rect">
            <a:avLst/>
          </a:prstGeom>
          <a:noFill/>
          <a:ln/>
        </p:spPr>
        <p:txBody>
          <a:bodyPr wrap="square" lIns="0" tIns="0" rIns="0" bIns="0"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1. Curiosity   2. Trade &amp; Riches   3. Claiming Land   4. Spreading Religion</a:t>
            </a:r>
            <a:endParaRPr lang="en-US" sz="1400" dirty="0"/>
          </a:p>
        </p:txBody>
      </p:sp>
      <p:sp>
        <p:nvSpPr>
          <p:cNvPr id="12" name="Text 10"/>
          <p:cNvSpPr/>
          <p:nvPr/>
        </p:nvSpPr>
        <p:spPr>
          <a:xfrm>
            <a:off x="1097280" y="3822192"/>
            <a:ext cx="6949440" cy="594360"/>
          </a:xfrm>
          <a:prstGeom prst="rect">
            <a:avLst/>
          </a:prstGeom>
          <a:noFill/>
          <a:ln/>
        </p:spPr>
        <p:txBody>
          <a:bodyPr wrap="square" lIns="0" tIns="0" rIns="0" bIns="0"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Every explorer faced danger — but their motive was strong enough to make the risk worth it.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5143500"/>
          </a:xfrm>
          <a:prstGeom prst="roundRect">
            <a:avLst>
              <a:gd name="adj" fmla="val 2133"/>
            </a:avLst>
          </a:prstGeom>
          <a:solidFill>
            <a:srgbClr val="E2E8F4"/>
          </a:solidFill>
          <a:ln w="19050">
            <a:solidFill>
              <a:srgbClr val="B0B8CC"/>
            </a:solidFill>
            <a:prstDash val="dash"/>
          </a:ln>
        </p:spPr>
      </p:sp>
      <p:sp>
        <p:nvSpPr>
          <p:cNvPr id="5" name="Text 3"/>
          <p:cNvSpPr/>
          <p:nvPr/>
        </p:nvSpPr>
        <p:spPr>
          <a:xfrm>
            <a:off x="0" y="0"/>
            <a:ext cx="9144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137160" y="274320"/>
            <a:ext cx="8869680" cy="47777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Exploration Wing exhibit hall, wall panels lit up, crates and maps displayed proudly</a:t>
            </a:r>
            <a:endParaRPr lang="en-US" sz="1100" dirty="0"/>
          </a:p>
        </p:txBody>
      </p:sp>
      <p:sp>
        <p:nvSpPr>
          <p:cNvPr id="7" name="Shape 5"/>
          <p:cNvSpPr/>
          <p:nvPr/>
        </p:nvSpPr>
        <p:spPr>
          <a:xfrm>
            <a:off x="0" y="731520"/>
            <a:ext cx="9144000" cy="3291840"/>
          </a:xfrm>
          <a:prstGeom prst="rect">
            <a:avLst/>
          </a:prstGeom>
          <a:solidFill>
            <a:srgbClr val="0B1835">
              <a:alpha val="85000"/>
            </a:srgbClr>
          </a:solidFill>
          <a:ln/>
        </p:spPr>
      </p:sp>
      <p:sp>
        <p:nvSpPr>
          <p:cNvPr id="8" name="Text 6"/>
          <p:cNvSpPr/>
          <p:nvPr/>
        </p:nvSpPr>
        <p:spPr>
          <a:xfrm>
            <a:off x="457200" y="914400"/>
            <a:ext cx="8229600" cy="274320"/>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GREAT WORK, ROUTE CURATORS!</a:t>
            </a:r>
            <a:endParaRPr lang="en-US" sz="900" dirty="0"/>
          </a:p>
        </p:txBody>
      </p:sp>
      <p:sp>
        <p:nvSpPr>
          <p:cNvPr id="9" name="Text 7"/>
          <p:cNvSpPr/>
          <p:nvPr/>
        </p:nvSpPr>
        <p:spPr>
          <a:xfrm>
            <a:off x="457200" y="1280160"/>
            <a:ext cx="8229600" cy="777240"/>
          </a:xfrm>
          <a:prstGeom prst="rect">
            <a:avLst/>
          </a:prstGeom>
          <a:noFill/>
          <a:ln/>
        </p:spPr>
        <p:txBody>
          <a:bodyPr wrap="square" lIns="0" tIns="0" rIns="0" bIns="0" rtlCol="0" anchor="ctr"/>
          <a:lstStyle/>
          <a:p>
            <a:pPr algn="ctr" indent="0" marL="0">
              <a:buNone/>
            </a:pPr>
            <a:r>
              <a:rPr lang="en-US" sz="3800" b="1" dirty="0">
                <a:solidFill>
                  <a:srgbClr val="D4943A"/>
                </a:solidFill>
                <a:latin typeface="Cambria" pitchFamily="34" charset="0"/>
                <a:ea typeface="Cambria" pitchFamily="34" charset="-122"/>
                <a:cs typeface="Cambria" pitchFamily="34" charset="-120"/>
              </a:rPr>
              <a:t>The Exploration Wing is Open.</a:t>
            </a:r>
            <a:endParaRPr lang="en-US" sz="3800" dirty="0"/>
          </a:p>
        </p:txBody>
      </p:sp>
      <p:sp>
        <p:nvSpPr>
          <p:cNvPr id="10" name="Text 8"/>
          <p:cNvSpPr/>
          <p:nvPr/>
        </p:nvSpPr>
        <p:spPr>
          <a:xfrm>
            <a:off x="914400" y="2176272"/>
            <a:ext cx="7315200" cy="9144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You opened the crate and named the four reasons people explored — curiosity, trade, land, and religion. You explained the risks, connected courage to the voyage, and wrote an exhibit panel visitors will read.</a:t>
            </a:r>
            <a:endParaRPr lang="en-US" sz="1300" dirty="0"/>
          </a:p>
        </p:txBody>
      </p:sp>
      <p:sp>
        <p:nvSpPr>
          <p:cNvPr id="11" name="Shape 9"/>
          <p:cNvSpPr/>
          <p:nvPr/>
        </p:nvSpPr>
        <p:spPr>
          <a:xfrm>
            <a:off x="1371600" y="3200400"/>
            <a:ext cx="6400800" cy="13716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1554480" y="3291840"/>
            <a:ext cx="6035040" cy="256032"/>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COMING NEXT — LESSON 3.02.02</a:t>
            </a:r>
            <a:endParaRPr lang="en-US" sz="900" dirty="0"/>
          </a:p>
        </p:txBody>
      </p:sp>
      <p:sp>
        <p:nvSpPr>
          <p:cNvPr id="13" name="Text 11"/>
          <p:cNvSpPr/>
          <p:nvPr/>
        </p:nvSpPr>
        <p:spPr>
          <a:xfrm>
            <a:off x="1554480" y="3602736"/>
            <a:ext cx="6035040" cy="86868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Explorer Tools: How did they navigate? Compass, astrolabe, and the maps that changed the world.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2026-07-10T22:19:16Z</dcterms:created>
  <dcterms:modified xsi:type="dcterms:W3CDTF">2026-07-10T22:19:16Z</dcterms:modified>
</cp:coreProperties>
</file>