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painting or engraving of tall-masted European sailing ships at sea. Suggested sources: Wikimedia Commons (Age of Exploration), Library of Congress Prints &amp; Photographs.
Welcome students back. 'We know WHY people explored and HOW they navigated. Now it's time to meet the explorers by name.' Read the Curator's Question. Tell students that portraits and route cards are unpacked but nothing is matched yet. Their job as Route Curators is to fix that with evidence, not guesses. Mention courage.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chat frame first — activate prior knowledge. Look for students who mention Asia, Spain, trade routes. Bridge: 'Those motives sent real people on real ships. Let's meet three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5-second private thinking. Then invite 1-2 guesses aloud. Do NOT confirm or correct. 'Hold that idea. We will build the evidence one explorer at a time.' This sets up the discovery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private thinking before chat. Students observe the map and clue cards without names. After chat: 'What makes you say that? What is the strongest clue?' Do NOT confirm the name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2-3 students share reasoning. Compare answers: 'Two of you named different explorers. Let us look at the evidence together.' Celebrate careful thinking. The reasoning process is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reveal: 'Did the evidence match your prediction?' Name it as a discovery: 'You found Columbus through evidence.' Quick verbal retrieval (Spain to Caribbean, thought it was Asia)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circular route on the map. 5 seconds private thinking. Ask: 'What is different about this route compared to Columbus?' The full loop around the globe is the key visual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the crew completed the circumnavigation — exploration was not a solo hero story. If students focus only on Magellan: 'What happens to that story if we leave the crew out?' Good bridge to the evidence-not-legends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1519, first circumnavigation, proved oceans connected. Before moving on: 'Two route cards matched. One left.' Build suspense.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Florida shape on the map is the key clue. Many students will recognize it. The legend vs. evidence angle (fountain of youth) sets up the assignment Q2. Let students wrestle with the two clues that seem to tell different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Assignment Q2. The bottom question IS what the assignment asks. Scaffold it here without giving the answer away. 'What would visitors be missing?' is exactly what students will need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'You matched all three portraits using evidence!' Quick verbal retrieval of all three names and discoveries. Then bridge: 'What do all three have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together. Ask: 'Which of the three would you most want to write about for the assignment? Start forming your thinking.' This bridges directly to the guided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bridges directly to Assignment Q2. Let 2-3 students explain in their own words. 'What could go wrong if a museum relied only on Columbus's belief that he was in Asia?' Scaffold but do not give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every step. Name the question parts you are answering: 'Explorer? Check. Route? Check. What they found? Check. Lesson detail? Check.' Students use the chat frame to pick their explorer before we try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answer together using student chat responses. Capture 2-3 strong responses: 'She said evidence shows the real motive. He said legends leave out what actually happened. Can we put those together into one strong answer?' Model combining ideas into a complete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clear errors: (1) Columbus reached the Caribbean, NOT Asia; (2) Magellan did not invent the compass — his crew completed the first circumnavigation; (3) Ponce de Leon did not find a fountain of youth — that is the legend. Let students find errors before you name them. If they miss one, guide with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1-2 student responses. 'Columbus kept going even when he was wrong about where he was headed. Is that still courage?' This sparks genuine ethical reasoning. Keep it brief —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Model Q1: 'I'd pick Columbus — he sailed west from Spain in 1492, landed in the Caribbean thinking he had reached Asia. That is my detail.' For the Curator Task: 'Museum visitors will read your label. Make it accurate — use evidence, not legends.'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private thinking. Then chat responses. Challenge 3 scaffolds Assignment Q2. If a student answers Challenge 3 well, name it: 'That is assignment-quality thinking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Heroic painting or illustration of Age of Exploration sailing ships at sea, dramatic ocean light. Suggested sources: Wikimedia Commons, Library of Congress Prints &amp; Photographs.
Celebrate: 'You matched portraits to routes, studied three famous explorers, and wrote a portrait label using real evidence.' Tease next: 'Next time we look at the actual ships they sailed and the science that made ocean travel possible.'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1463040"/>
            <a:ext cx="164592" cy="1828800"/>
          </a:xfrm>
          <a:prstGeom prst="rect">
            <a:avLst/>
          </a:prstGeom>
          <a:solidFill>
            <a:srgbClr val="D4943A"/>
          </a:solidFill>
          <a:ln/>
        </p:spPr>
      </p:sp>
      <p:sp>
        <p:nvSpPr>
          <p:cNvPr id="5" name="Shape 3"/>
          <p:cNvSpPr/>
          <p:nvPr/>
        </p:nvSpPr>
        <p:spPr>
          <a:xfrm>
            <a:off x="457200" y="292608"/>
            <a:ext cx="2468880" cy="347472"/>
          </a:xfrm>
          <a:prstGeom prst="roundRect">
            <a:avLst>
              <a:gd name="adj" fmla="val 47368"/>
            </a:avLst>
          </a:prstGeom>
          <a:solidFill>
            <a:srgbClr val="1A8A7D"/>
          </a:solidFill>
          <a:ln/>
        </p:spPr>
      </p:sp>
      <p:sp>
        <p:nvSpPr>
          <p:cNvPr id="6" name="Text 4"/>
          <p:cNvSpPr/>
          <p:nvPr/>
        </p:nvSpPr>
        <p:spPr>
          <a:xfrm>
            <a:off x="457200" y="292608"/>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Exploration Wing  •  Grade 3</a:t>
            </a:r>
            <a:endParaRPr lang="en-US" sz="1100" dirty="0"/>
          </a:p>
        </p:txBody>
      </p:sp>
      <p:sp>
        <p:nvSpPr>
          <p:cNvPr id="7" name="Text 5"/>
          <p:cNvSpPr/>
          <p:nvPr/>
        </p:nvSpPr>
        <p:spPr>
          <a:xfrm>
            <a:off x="457200" y="1325880"/>
            <a:ext cx="8046720" cy="192024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Famous Explorers</a:t>
            </a:r>
            <a:endParaRPr lang="en-US" sz="4400" dirty="0"/>
          </a:p>
          <a:p>
            <a:pPr algn="l" indent="0" marL="0">
              <a:buNone/>
            </a:pPr>
            <a:r>
              <a:rPr lang="en-US" sz="4400" b="1" dirty="0">
                <a:solidFill>
                  <a:srgbClr val="FFFFFF"/>
                </a:solidFill>
                <a:latin typeface="Cambria" pitchFamily="34" charset="0"/>
                <a:ea typeface="Cambria" pitchFamily="34" charset="-122"/>
                <a:cs typeface="Cambria" pitchFamily="34" charset="-120"/>
              </a:rPr>
              <a:t>and Discoveries</a:t>
            </a:r>
            <a:endParaRPr lang="en-US" sz="4400" dirty="0"/>
          </a:p>
        </p:txBody>
      </p:sp>
      <p:sp>
        <p:nvSpPr>
          <p:cNvPr id="8" name="Text 6"/>
          <p:cNvSpPr/>
          <p:nvPr/>
        </p:nvSpPr>
        <p:spPr>
          <a:xfrm>
            <a:off x="457200" y="3337560"/>
            <a:ext cx="7772400" cy="365760"/>
          </a:xfrm>
          <a:prstGeom prst="rect">
            <a:avLst/>
          </a:prstGeom>
          <a:noFill/>
          <a:ln/>
        </p:spPr>
        <p:txBody>
          <a:bodyPr wrap="square" lIns="0" tIns="0" rIns="0" bIns="0" rtlCol="0" anchor="ctr"/>
          <a:lstStyle/>
          <a:p>
            <a:pPr algn="l" indent="0" marL="0">
              <a:buNone/>
            </a:pPr>
            <a:r>
              <a:rPr lang="en-US" sz="1300" dirty="0">
                <a:solidFill>
                  <a:srgbClr val="55C8E8"/>
                </a:solidFill>
                <a:latin typeface="Calibri" pitchFamily="34" charset="0"/>
                <a:ea typeface="Calibri" pitchFamily="34" charset="-122"/>
                <a:cs typeface="Calibri" pitchFamily="34" charset="-120"/>
              </a:rPr>
              <a:t>Lesson 3.02.03  •  Age of Exploration  •  Week 5  •  Q1</a:t>
            </a:r>
            <a:endParaRPr lang="en-US" sz="1300" dirty="0"/>
          </a:p>
        </p:txBody>
      </p:sp>
      <p:sp>
        <p:nvSpPr>
          <p:cNvPr id="9" name="Shape 7"/>
          <p:cNvSpPr/>
          <p:nvPr/>
        </p:nvSpPr>
        <p:spPr>
          <a:xfrm>
            <a:off x="457200" y="3794760"/>
            <a:ext cx="8229600" cy="685800"/>
          </a:xfrm>
          <a:prstGeom prst="roundRect">
            <a:avLst>
              <a:gd name="adj" fmla="val 13333"/>
            </a:avLst>
          </a:prstGeom>
          <a:solidFill>
            <a:srgbClr val="112255"/>
          </a:solidFill>
          <a:ln/>
        </p:spPr>
      </p:sp>
      <p:sp>
        <p:nvSpPr>
          <p:cNvPr id="10" name="Text 8"/>
          <p:cNvSpPr/>
          <p:nvPr/>
        </p:nvSpPr>
        <p:spPr>
          <a:xfrm>
            <a:off x="658368" y="3858768"/>
            <a:ext cx="1920240" cy="237744"/>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Curator's Question:</a:t>
            </a:r>
            <a:endParaRPr lang="en-US" sz="900" dirty="0"/>
          </a:p>
        </p:txBody>
      </p:sp>
      <p:sp>
        <p:nvSpPr>
          <p:cNvPr id="11" name="Text 9"/>
          <p:cNvSpPr/>
          <p:nvPr/>
        </p:nvSpPr>
        <p:spPr>
          <a:xfrm>
            <a:off x="658368" y="4096512"/>
            <a:ext cx="7772400" cy="32004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Who were some of the most famous explorers, and what did their voyages discover?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1A8A7D"/>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ENTER THE EXPLORATION WING  •  ROUTE CURATOR MISSION</a:t>
            </a:r>
            <a:endParaRPr lang="en-US" sz="1100" dirty="0"/>
          </a:p>
        </p:txBody>
      </p:sp>
      <p:sp>
        <p:nvSpPr>
          <p:cNvPr id="5" name="Text 3"/>
          <p:cNvSpPr/>
          <p:nvPr/>
        </p:nvSpPr>
        <p:spPr>
          <a:xfrm>
            <a:off x="365760" y="594360"/>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Portraits Are Unpacked — Nothing Is Matched Yet</a:t>
            </a:r>
            <a:endParaRPr lang="en-US" sz="2400" dirty="0"/>
          </a:p>
        </p:txBody>
      </p:sp>
      <p:sp>
        <p:nvSpPr>
          <p:cNvPr id="6" name="Shape 4"/>
          <p:cNvSpPr/>
          <p:nvPr/>
        </p:nvSpPr>
        <p:spPr>
          <a:xfrm>
            <a:off x="365760" y="1170432"/>
            <a:ext cx="4206240" cy="2651760"/>
          </a:xfrm>
          <a:prstGeom prst="roundRect">
            <a:avLst>
              <a:gd name="adj" fmla="val 4138"/>
            </a:avLst>
          </a:prstGeom>
          <a:solidFill>
            <a:srgbClr val="E8ECF5"/>
          </a:solidFill>
          <a:ln w="12700">
            <a:solidFill>
              <a:srgbClr val="C0C8DC"/>
            </a:solidFill>
            <a:prstDash val="solid"/>
          </a:ln>
        </p:spPr>
      </p:sp>
      <p:sp>
        <p:nvSpPr>
          <p:cNvPr id="7" name="Text 5"/>
          <p:cNvSpPr/>
          <p:nvPr/>
        </p:nvSpPr>
        <p:spPr>
          <a:xfrm>
            <a:off x="548640" y="1261872"/>
            <a:ext cx="3840480" cy="256032"/>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YOUR MISSION</a:t>
            </a:r>
            <a:endParaRPr lang="en-US" sz="1000" dirty="0"/>
          </a:p>
        </p:txBody>
      </p:sp>
      <p:sp>
        <p:nvSpPr>
          <p:cNvPr id="8" name="Text 6"/>
          <p:cNvSpPr/>
          <p:nvPr/>
        </p:nvSpPr>
        <p:spPr>
          <a:xfrm>
            <a:off x="548640" y="1572768"/>
            <a:ext cx="3840480" cy="2084832"/>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Exploration Wing received portraits and route cards for three famous explorers.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None are matched yet.</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As a Route Curator, you will study the evidence and get the exhibit right.</a:t>
            </a:r>
            <a:endParaRPr lang="en-US" sz="1300" dirty="0"/>
          </a:p>
        </p:txBody>
      </p:sp>
      <p:sp>
        <p:nvSpPr>
          <p:cNvPr id="9" name="Shape 7"/>
          <p:cNvSpPr/>
          <p:nvPr/>
        </p:nvSpPr>
        <p:spPr>
          <a:xfrm>
            <a:off x="4754880" y="1170432"/>
            <a:ext cx="3840480" cy="2651760"/>
          </a:xfrm>
          <a:prstGeom prst="roundRect">
            <a:avLst>
              <a:gd name="adj" fmla="val 4138"/>
            </a:avLst>
          </a:prstGeom>
          <a:solidFill>
            <a:srgbClr val="FFF3DC"/>
          </a:solidFill>
          <a:ln w="19050">
            <a:solidFill>
              <a:srgbClr val="F5E6C8"/>
            </a:solidFill>
            <a:prstDash val="solid"/>
          </a:ln>
        </p:spPr>
      </p:sp>
      <p:sp>
        <p:nvSpPr>
          <p:cNvPr id="10" name="Text 8"/>
          <p:cNvSpPr/>
          <p:nvPr/>
        </p:nvSpPr>
        <p:spPr>
          <a:xfrm>
            <a:off x="4937760" y="1261872"/>
            <a:ext cx="347472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LAST TIME</a:t>
            </a:r>
            <a:endParaRPr lang="en-US" sz="1000" dirty="0"/>
          </a:p>
        </p:txBody>
      </p:sp>
      <p:sp>
        <p:nvSpPr>
          <p:cNvPr id="11" name="Text 9"/>
          <p:cNvSpPr/>
          <p:nvPr/>
        </p:nvSpPr>
        <p:spPr>
          <a:xfrm>
            <a:off x="4937760" y="1572768"/>
            <a:ext cx="3474720" cy="2084832"/>
          </a:xfrm>
          <a:prstGeom prst="rect">
            <a:avLst/>
          </a:prstGeom>
          <a:noFill/>
          <a:ln/>
        </p:spPr>
        <p:txBody>
          <a:bodyPr wrap="square" lIns="0" tIns="0" rIns="0" bIns="0" rtlCol="0" anchor="t"/>
          <a:lstStyle/>
          <a:p>
            <a:pPr indent="0" marL="0">
              <a:buNone/>
            </a:pPr>
            <a:r>
              <a:rPr lang="en-US" sz="1300" dirty="0">
                <a:solidFill>
                  <a:srgbClr val="5A4A3A"/>
                </a:solidFill>
                <a:latin typeface="Calibri" pitchFamily="34" charset="0"/>
                <a:ea typeface="Calibri" pitchFamily="34" charset="-122"/>
                <a:cs typeface="Calibri" pitchFamily="34" charset="-120"/>
              </a:rPr>
              <a:t>You learned:</a:t>
            </a:r>
            <a:endParaRPr lang="en-US" sz="1300" dirty="0"/>
          </a:p>
          <a:p>
            <a:pPr indent="0" marL="0">
              <a:buNone/>
            </a:pPr>
            <a:r>
              <a:rPr lang="en-US" sz="1300" dirty="0">
                <a:solidFill>
                  <a:srgbClr val="5A4A3A"/>
                </a:solidFill>
                <a:latin typeface="Calibri" pitchFamily="34" charset="0"/>
                <a:ea typeface="Calibri" pitchFamily="34" charset="-122"/>
                <a:cs typeface="Calibri" pitchFamily="34" charset="-120"/>
              </a:rPr>
              <a:t>• Why explorers set out (motives)</a:t>
            </a:r>
            <a:endParaRPr lang="en-US" sz="1300" dirty="0"/>
          </a:p>
          <a:p>
            <a:pPr indent="0" marL="0">
              <a:buNone/>
            </a:pPr>
            <a:r>
              <a:rPr lang="en-US" sz="1300" dirty="0">
                <a:solidFill>
                  <a:srgbClr val="5A4A3A"/>
                </a:solidFill>
                <a:latin typeface="Calibri" pitchFamily="34" charset="0"/>
                <a:ea typeface="Calibri" pitchFamily="34" charset="-122"/>
                <a:cs typeface="Calibri" pitchFamily="34" charset="-120"/>
              </a:rPr>
              <a:t>• Navigation tools they used</a:t>
            </a:r>
            <a:endParaRPr lang="en-US" sz="1300" dirty="0"/>
          </a:p>
          <a:p>
            <a:pPr indent="0" marL="0">
              <a:buNone/>
            </a:pPr>
            <a:r>
              <a:rPr lang="en-US" sz="1300" dirty="0">
                <a:solidFill>
                  <a:srgbClr val="5A4A3A"/>
                </a:solidFill>
                <a:latin typeface="Calibri" pitchFamily="34" charset="0"/>
                <a:ea typeface="Calibri" pitchFamily="34" charset="-122"/>
                <a:cs typeface="Calibri" pitchFamily="34" charset="-120"/>
              </a:rPr>
              <a:t>• How maps recorded routes</a:t>
            </a:r>
            <a:endParaRPr lang="en-US" sz="1300" dirty="0"/>
          </a:p>
          <a:p>
            <a:pPr indent="0" marL="0">
              <a:buNone/>
            </a:pPr>
            <a:endParaRPr lang="en-US" sz="1300" dirty="0"/>
          </a:p>
          <a:p>
            <a:pPr indent="0" marL="0">
              <a:buNone/>
            </a:pPr>
            <a:r>
              <a:rPr lang="en-US" sz="1300" dirty="0">
                <a:solidFill>
                  <a:srgbClr val="5A4A3A"/>
                </a:solidFill>
                <a:latin typeface="Calibri" pitchFamily="34" charset="0"/>
                <a:ea typeface="Calibri" pitchFamily="34" charset="-122"/>
                <a:cs typeface="Calibri" pitchFamily="34" charset="-120"/>
              </a:rPr>
              <a:t>TODAY: Put names and routes to the story.</a:t>
            </a:r>
            <a:endParaRPr lang="en-US" sz="1300" dirty="0"/>
          </a:p>
        </p:txBody>
      </p:sp>
      <p:sp>
        <p:nvSpPr>
          <p:cNvPr id="12" name="Shape 10"/>
          <p:cNvSpPr/>
          <p:nvPr/>
        </p:nvSpPr>
        <p:spPr>
          <a:xfrm>
            <a:off x="365760" y="3950208"/>
            <a:ext cx="8412480" cy="804672"/>
          </a:xfrm>
          <a:prstGeom prst="roundRect">
            <a:avLst>
              <a:gd name="adj" fmla="val 13636"/>
            </a:avLst>
          </a:prstGeom>
          <a:solidFill>
            <a:srgbClr val="FFF3DC"/>
          </a:solidFill>
          <a:ln w="19050">
            <a:solidFill>
              <a:srgbClr val="F5E6C8"/>
            </a:solidFill>
            <a:prstDash val="solid"/>
          </a:ln>
        </p:spPr>
      </p:sp>
      <p:sp>
        <p:nvSpPr>
          <p:cNvPr id="13" name="Text 11"/>
          <p:cNvSpPr/>
          <p:nvPr/>
        </p:nvSpPr>
        <p:spPr>
          <a:xfrm>
            <a:off x="502920" y="40050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4206240"/>
            <a:ext cx="813816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remember from last lesson..."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"Today I predict we will learn about..."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457200" y="201168"/>
            <a:ext cx="8229600" cy="47548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Three Explorers. Three Routes. Zero Labels.</a:t>
            </a:r>
            <a:endParaRPr lang="en-US" sz="2600" dirty="0"/>
          </a:p>
        </p:txBody>
      </p:sp>
      <p:sp>
        <p:nvSpPr>
          <p:cNvPr id="4" name="Text 2"/>
          <p:cNvSpPr/>
          <p:nvPr/>
        </p:nvSpPr>
        <p:spPr>
          <a:xfrm>
            <a:off x="457200" y="713232"/>
            <a:ext cx="8229600" cy="32004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Look at the clues. Think before you name.</a:t>
            </a:r>
            <a:endParaRPr lang="en-US" sz="1400" dirty="0"/>
          </a:p>
        </p:txBody>
      </p:sp>
      <p:sp>
        <p:nvSpPr>
          <p:cNvPr id="5" name="Shape 3"/>
          <p:cNvSpPr/>
          <p:nvPr/>
        </p:nvSpPr>
        <p:spPr>
          <a:xfrm>
            <a:off x="365760" y="1143000"/>
            <a:ext cx="2468880" cy="2743200"/>
          </a:xfrm>
          <a:prstGeom prst="roundRect">
            <a:avLst>
              <a:gd name="adj" fmla="val 4444"/>
            </a:avLst>
          </a:prstGeom>
          <a:solidFill>
            <a:srgbClr val="E2E8F4"/>
          </a:solidFill>
          <a:ln w="19050">
            <a:solidFill>
              <a:srgbClr val="B0B8CC"/>
            </a:solidFill>
            <a:prstDash val="dash"/>
          </a:ln>
        </p:spPr>
      </p:sp>
      <p:sp>
        <p:nvSpPr>
          <p:cNvPr id="6" name="Text 4"/>
          <p:cNvSpPr/>
          <p:nvPr/>
        </p:nvSpPr>
        <p:spPr>
          <a:xfrm>
            <a:off x="365760" y="1143000"/>
            <a:ext cx="2468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417320"/>
            <a:ext cx="21945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silhouette or unlabeled portrait #1 (Columbus) — no name shown</a:t>
            </a:r>
            <a:endParaRPr lang="en-US" sz="1100" dirty="0"/>
          </a:p>
        </p:txBody>
      </p:sp>
      <p:sp>
        <p:nvSpPr>
          <p:cNvPr id="8" name="Shape 6"/>
          <p:cNvSpPr/>
          <p:nvPr/>
        </p:nvSpPr>
        <p:spPr>
          <a:xfrm>
            <a:off x="3337560" y="1143000"/>
            <a:ext cx="2468880" cy="2743200"/>
          </a:xfrm>
          <a:prstGeom prst="roundRect">
            <a:avLst>
              <a:gd name="adj" fmla="val 4444"/>
            </a:avLst>
          </a:prstGeom>
          <a:solidFill>
            <a:srgbClr val="E2E8F4"/>
          </a:solidFill>
          <a:ln w="19050">
            <a:solidFill>
              <a:srgbClr val="B0B8CC"/>
            </a:solidFill>
            <a:prstDash val="dash"/>
          </a:ln>
        </p:spPr>
      </p:sp>
      <p:sp>
        <p:nvSpPr>
          <p:cNvPr id="9" name="Text 7"/>
          <p:cNvSpPr/>
          <p:nvPr/>
        </p:nvSpPr>
        <p:spPr>
          <a:xfrm>
            <a:off x="3337560" y="1143000"/>
            <a:ext cx="2468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3474720" y="1417320"/>
            <a:ext cx="21945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silhouette or unlabeled portrait #2 (Magellan) — no name shown</a:t>
            </a:r>
            <a:endParaRPr lang="en-US" sz="1100" dirty="0"/>
          </a:p>
        </p:txBody>
      </p:sp>
      <p:sp>
        <p:nvSpPr>
          <p:cNvPr id="11" name="Shape 9"/>
          <p:cNvSpPr/>
          <p:nvPr/>
        </p:nvSpPr>
        <p:spPr>
          <a:xfrm>
            <a:off x="6309360" y="1143000"/>
            <a:ext cx="2468880" cy="2743200"/>
          </a:xfrm>
          <a:prstGeom prst="roundRect">
            <a:avLst>
              <a:gd name="adj" fmla="val 4444"/>
            </a:avLst>
          </a:prstGeom>
          <a:solidFill>
            <a:srgbClr val="E2E8F4"/>
          </a:solidFill>
          <a:ln w="19050">
            <a:solidFill>
              <a:srgbClr val="B0B8CC"/>
            </a:solidFill>
            <a:prstDash val="dash"/>
          </a:ln>
        </p:spPr>
      </p:sp>
      <p:sp>
        <p:nvSpPr>
          <p:cNvPr id="12" name="Text 10"/>
          <p:cNvSpPr/>
          <p:nvPr/>
        </p:nvSpPr>
        <p:spPr>
          <a:xfrm>
            <a:off x="6309360" y="1143000"/>
            <a:ext cx="2468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6446520" y="1417320"/>
            <a:ext cx="219456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silhouette or unlabeled portrait #3 (Ponce de Leon) — no name shown</a:t>
            </a:r>
            <a:endParaRPr lang="en-US" sz="1100" dirty="0"/>
          </a:p>
        </p:txBody>
      </p:sp>
      <p:sp>
        <p:nvSpPr>
          <p:cNvPr id="14" name="Shape 12"/>
          <p:cNvSpPr/>
          <p:nvPr/>
        </p:nvSpPr>
        <p:spPr>
          <a:xfrm>
            <a:off x="365760" y="4005072"/>
            <a:ext cx="8412480" cy="685800"/>
          </a:xfrm>
          <a:prstGeom prst="roundRect">
            <a:avLst>
              <a:gd name="adj" fmla="val 13333"/>
            </a:avLst>
          </a:prstGeom>
          <a:solidFill>
            <a:srgbClr val="1A2D5A"/>
          </a:solidFill>
          <a:ln/>
        </p:spPr>
      </p:sp>
      <p:sp>
        <p:nvSpPr>
          <p:cNvPr id="15" name="Text 13"/>
          <p:cNvSpPr/>
          <p:nvPr/>
        </p:nvSpPr>
        <p:spPr>
          <a:xfrm>
            <a:off x="548640" y="4059936"/>
            <a:ext cx="8046720" cy="54864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Look carefully. What clues might help you figure out who these explorers are — before I tell you anything?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CLUE BOX — EXPLORER #1  •  WHAT DO YOU NOTICE?</a:t>
            </a:r>
            <a:endParaRPr lang="en-US" sz="1100" dirty="0"/>
          </a:p>
        </p:txBody>
      </p:sp>
      <p:sp>
        <p:nvSpPr>
          <p:cNvPr id="5" name="Shape 3"/>
          <p:cNvSpPr/>
          <p:nvPr/>
        </p:nvSpPr>
        <p:spPr>
          <a:xfrm>
            <a:off x="365760" y="594360"/>
            <a:ext cx="4754880" cy="2926080"/>
          </a:xfrm>
          <a:prstGeom prst="roundRect">
            <a:avLst>
              <a:gd name="adj" fmla="val 3750"/>
            </a:avLst>
          </a:prstGeom>
          <a:solidFill>
            <a:srgbClr val="E2E8F4"/>
          </a:solidFill>
          <a:ln w="19050">
            <a:solidFill>
              <a:srgbClr val="B0B8CC"/>
            </a:solidFill>
            <a:prstDash val="dash"/>
          </a:ln>
        </p:spPr>
      </p:sp>
      <p:sp>
        <p:nvSpPr>
          <p:cNvPr id="6" name="Text 4"/>
          <p:cNvSpPr/>
          <p:nvPr/>
        </p:nvSpPr>
        <p:spPr>
          <a:xfrm>
            <a:off x="365760" y="5943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868680"/>
            <a:ext cx="448056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westward Atlantic route from Spain to the Caribbean, 1490s era — unlabeled, no explorer name</a:t>
            </a:r>
            <a:endParaRPr lang="en-US" sz="1100" dirty="0"/>
          </a:p>
        </p:txBody>
      </p:sp>
      <p:sp>
        <p:nvSpPr>
          <p:cNvPr id="8" name="Shape 6"/>
          <p:cNvSpPr/>
          <p:nvPr/>
        </p:nvSpPr>
        <p:spPr>
          <a:xfrm>
            <a:off x="5303520" y="594360"/>
            <a:ext cx="3383280" cy="1298448"/>
          </a:xfrm>
          <a:prstGeom prst="roundRect">
            <a:avLst>
              <a:gd name="adj" fmla="val 7042"/>
            </a:avLst>
          </a:prstGeom>
          <a:solidFill>
            <a:srgbClr val="E8ECF5"/>
          </a:solidFill>
          <a:ln w="12700">
            <a:solidFill>
              <a:srgbClr val="C0C8DC"/>
            </a:solidFill>
            <a:prstDash val="solid"/>
          </a:ln>
        </p:spPr>
      </p:sp>
      <p:sp>
        <p:nvSpPr>
          <p:cNvPr id="9" name="Text 7"/>
          <p:cNvSpPr/>
          <p:nvPr/>
        </p:nvSpPr>
        <p:spPr>
          <a:xfrm>
            <a:off x="5486400" y="667512"/>
            <a:ext cx="3017520" cy="237744"/>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1</a:t>
            </a:r>
            <a:endParaRPr lang="en-US" sz="900" dirty="0"/>
          </a:p>
        </p:txBody>
      </p:sp>
      <p:sp>
        <p:nvSpPr>
          <p:cNvPr id="10" name="Text 8"/>
          <p:cNvSpPr/>
          <p:nvPr/>
        </p:nvSpPr>
        <p:spPr>
          <a:xfrm>
            <a:off x="5486400" y="932688"/>
            <a:ext cx="301752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Sailed west from Spain.</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Year: 1492.</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Believed destination: Asia.</a:t>
            </a:r>
            <a:endParaRPr lang="en-US" sz="1300" dirty="0"/>
          </a:p>
        </p:txBody>
      </p:sp>
      <p:sp>
        <p:nvSpPr>
          <p:cNvPr id="11" name="Shape 9"/>
          <p:cNvSpPr/>
          <p:nvPr/>
        </p:nvSpPr>
        <p:spPr>
          <a:xfrm>
            <a:off x="5303520" y="1993392"/>
            <a:ext cx="3383280" cy="1298448"/>
          </a:xfrm>
          <a:prstGeom prst="roundRect">
            <a:avLst>
              <a:gd name="adj" fmla="val 7042"/>
            </a:avLst>
          </a:prstGeom>
          <a:solidFill>
            <a:srgbClr val="E8ECF5"/>
          </a:solidFill>
          <a:ln w="12700">
            <a:solidFill>
              <a:srgbClr val="C0C8DC"/>
            </a:solidFill>
            <a:prstDash val="solid"/>
          </a:ln>
        </p:spPr>
      </p:sp>
      <p:sp>
        <p:nvSpPr>
          <p:cNvPr id="12" name="Text 10"/>
          <p:cNvSpPr/>
          <p:nvPr/>
        </p:nvSpPr>
        <p:spPr>
          <a:xfrm>
            <a:off x="5486400" y="2066544"/>
            <a:ext cx="3017520" cy="237744"/>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2</a:t>
            </a:r>
            <a:endParaRPr lang="en-US" sz="900" dirty="0"/>
          </a:p>
        </p:txBody>
      </p:sp>
      <p:sp>
        <p:nvSpPr>
          <p:cNvPr id="13" name="Text 11"/>
          <p:cNvSpPr/>
          <p:nvPr/>
        </p:nvSpPr>
        <p:spPr>
          <a:xfrm>
            <a:off x="5486400" y="2331720"/>
            <a:ext cx="301752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Landed in the Caribbean.</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Believed he had reached Asia.</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Opened the Americas to Europeans.</a:t>
            </a:r>
            <a:endParaRPr lang="en-US" sz="1300" dirty="0"/>
          </a:p>
        </p:txBody>
      </p:sp>
      <p:sp>
        <p:nvSpPr>
          <p:cNvPr id="14" name="Shape 12"/>
          <p:cNvSpPr/>
          <p:nvPr/>
        </p:nvSpPr>
        <p:spPr>
          <a:xfrm>
            <a:off x="365760" y="3675888"/>
            <a:ext cx="8412480" cy="896112"/>
          </a:xfrm>
          <a:prstGeom prst="roundRect">
            <a:avLst>
              <a:gd name="adj" fmla="val 12245"/>
            </a:avLst>
          </a:prstGeom>
          <a:solidFill>
            <a:srgbClr val="FFF3DC"/>
          </a:solidFill>
          <a:ln w="19050">
            <a:solidFill>
              <a:srgbClr val="F5E6C8"/>
            </a:solidFill>
            <a:prstDash val="solid"/>
          </a:ln>
        </p:spPr>
      </p:sp>
      <p:sp>
        <p:nvSpPr>
          <p:cNvPr id="15" name="Text 13"/>
          <p:cNvSpPr/>
          <p:nvPr/>
        </p:nvSpPr>
        <p:spPr>
          <a:xfrm>
            <a:off x="502920" y="373075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3931920"/>
            <a:ext cx="8138160" cy="5760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explorer might be...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457200" y="22860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Think It Through — Explorer #1</a:t>
            </a:r>
            <a:endParaRPr lang="en-US" sz="26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He sailed west looking for Asia. He found something he never expected.</a:t>
            </a:r>
            <a:endParaRPr lang="en-US" sz="1400" dirty="0"/>
          </a:p>
        </p:txBody>
      </p:sp>
      <p:sp>
        <p:nvSpPr>
          <p:cNvPr id="5" name="Shape 3"/>
          <p:cNvSpPr/>
          <p:nvPr/>
        </p:nvSpPr>
        <p:spPr>
          <a:xfrm>
            <a:off x="365760" y="1207008"/>
            <a:ext cx="4937760" cy="242316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98448"/>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554480"/>
            <a:ext cx="4572000" cy="1984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clue is most useful: the route, the year, or where he believed he was going?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He landed in the Caribbean but thought he was in Asia. How is that possible?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a legend say about this explorer vs. what the evidence shows?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guess right now?</a:t>
            </a:r>
            <a:endParaRPr lang="en-US" sz="1100" dirty="0"/>
          </a:p>
        </p:txBody>
      </p:sp>
      <p:sp>
        <p:nvSpPr>
          <p:cNvPr id="8" name="Shape 6"/>
          <p:cNvSpPr/>
          <p:nvPr/>
        </p:nvSpPr>
        <p:spPr>
          <a:xfrm>
            <a:off x="5486400" y="1207008"/>
            <a:ext cx="3291840" cy="2423160"/>
          </a:xfrm>
          <a:prstGeom prst="roundRect">
            <a:avLst>
              <a:gd name="adj" fmla="val 4528"/>
            </a:avLst>
          </a:prstGeom>
          <a:solidFill>
            <a:srgbClr val="FFF3DC"/>
          </a:solidFill>
          <a:ln w="19050">
            <a:solidFill>
              <a:srgbClr val="F5E6C8"/>
            </a:solidFill>
            <a:prstDash val="solid"/>
          </a:ln>
        </p:spPr>
      </p:sp>
      <p:sp>
        <p:nvSpPr>
          <p:cNvPr id="9" name="Text 7"/>
          <p:cNvSpPr/>
          <p:nvPr/>
        </p:nvSpPr>
        <p:spPr>
          <a:xfrm>
            <a:off x="5623560" y="1261872"/>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623560" y="1463040"/>
            <a:ext cx="3017520" cy="2103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clue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he expected... but actually found..."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legend might say... but the evidence shows..."</a:t>
            </a:r>
            <a:endParaRPr lang="en-US" sz="1200" dirty="0"/>
          </a:p>
        </p:txBody>
      </p:sp>
      <p:sp>
        <p:nvSpPr>
          <p:cNvPr id="11" name="Shape 9"/>
          <p:cNvSpPr/>
          <p:nvPr/>
        </p:nvSpPr>
        <p:spPr>
          <a:xfrm>
            <a:off x="365760" y="3749040"/>
            <a:ext cx="8412480" cy="658368"/>
          </a:xfrm>
          <a:prstGeom prst="roundRect">
            <a:avLst>
              <a:gd name="adj" fmla="val 13889"/>
            </a:avLst>
          </a:prstGeom>
          <a:solidFill>
            <a:srgbClr val="1A2D5A"/>
          </a:solidFill>
          <a:ln/>
        </p:spPr>
      </p:sp>
      <p:sp>
        <p:nvSpPr>
          <p:cNvPr id="12" name="Text 10"/>
          <p:cNvSpPr/>
          <p:nvPr/>
        </p:nvSpPr>
        <p:spPr>
          <a:xfrm>
            <a:off x="548640" y="3803904"/>
            <a:ext cx="8046720" cy="530352"/>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Before I name him: What evidence would you need to be certain?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75488"/>
          </a:xfrm>
          <a:prstGeom prst="rect">
            <a:avLst/>
          </a:prstGeom>
          <a:solidFill>
            <a:srgbClr val="D4943A"/>
          </a:solidFill>
          <a:ln/>
        </p:spPr>
      </p:sp>
      <p:sp>
        <p:nvSpPr>
          <p:cNvPr id="5" name="Text 3"/>
          <p:cNvSpPr/>
          <p:nvPr/>
        </p:nvSpPr>
        <p:spPr>
          <a:xfrm>
            <a:off x="365760" y="0"/>
            <a:ext cx="8412480" cy="475488"/>
          </a:xfrm>
          <a:prstGeom prst="rect">
            <a:avLst/>
          </a:prstGeom>
          <a:noFill/>
          <a:ln/>
        </p:spPr>
        <p:txBody>
          <a:bodyPr wrap="square" lIns="0" tIns="0" rIns="0" bIns="0" rtlCol="0" anchor="ctr"/>
          <a:lstStyle/>
          <a:p>
            <a:pPr algn="ctr" indent="0" marL="0">
              <a:buNone/>
            </a:pPr>
            <a:r>
              <a:rPr lang="en-US" sz="1200" b="1" spc="150" kern="0" dirty="0">
                <a:solidFill>
                  <a:srgbClr val="0E1C42"/>
                </a:solidFill>
                <a:latin typeface="Calibri" pitchFamily="34" charset="0"/>
                <a:ea typeface="Calibri" pitchFamily="34" charset="-122"/>
                <a:cs typeface="Calibri" pitchFamily="34" charset="-120"/>
              </a:rPr>
              <a:t>ROUTE CARD UNLOCKED  •  EXPLORER #1</a:t>
            </a:r>
            <a:endParaRPr lang="en-US" sz="1200" dirty="0"/>
          </a:p>
        </p:txBody>
      </p:sp>
      <p:sp>
        <p:nvSpPr>
          <p:cNvPr id="6" name="Shape 4"/>
          <p:cNvSpPr/>
          <p:nvPr/>
        </p:nvSpPr>
        <p:spPr>
          <a:xfrm>
            <a:off x="457200" y="658368"/>
            <a:ext cx="2926080" cy="352044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457200" y="658368"/>
            <a:ext cx="2926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932688"/>
            <a:ext cx="2651760" cy="3154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Portrait of Christopher Columbus, historical painting or engraving, 15th-16th century</a:t>
            </a:r>
            <a:endParaRPr lang="en-US" sz="1100" dirty="0"/>
          </a:p>
        </p:txBody>
      </p:sp>
      <p:sp>
        <p:nvSpPr>
          <p:cNvPr id="9" name="Text 7"/>
          <p:cNvSpPr/>
          <p:nvPr/>
        </p:nvSpPr>
        <p:spPr>
          <a:xfrm>
            <a:off x="3657600" y="658368"/>
            <a:ext cx="5029200" cy="1325880"/>
          </a:xfrm>
          <a:prstGeom prst="rect">
            <a:avLst/>
          </a:prstGeom>
          <a:noFill/>
          <a:ln/>
        </p:spPr>
        <p:txBody>
          <a:bodyPr wrap="square" lIns="0" tIns="0" rIns="0" bIns="0" rtlCol="0" anchor="ctr"/>
          <a:lstStyle/>
          <a:p>
            <a:pPr indent="0" marL="0">
              <a:buNone/>
            </a:pPr>
            <a:r>
              <a:rPr lang="en-US" sz="3800" b="1" dirty="0">
                <a:solidFill>
                  <a:srgbClr val="D4943A"/>
                </a:solidFill>
                <a:latin typeface="Cambria" pitchFamily="34" charset="0"/>
                <a:ea typeface="Cambria" pitchFamily="34" charset="-122"/>
                <a:cs typeface="Cambria" pitchFamily="34" charset="-120"/>
              </a:rPr>
              <a:t>Christopher</a:t>
            </a:r>
            <a:endParaRPr lang="en-US" sz="3800" dirty="0"/>
          </a:p>
          <a:p>
            <a:pPr indent="0" marL="0">
              <a:buNone/>
            </a:pPr>
            <a:r>
              <a:rPr lang="en-US" sz="3800" b="1" dirty="0">
                <a:solidFill>
                  <a:srgbClr val="D4943A"/>
                </a:solidFill>
                <a:latin typeface="Cambria" pitchFamily="34" charset="0"/>
                <a:ea typeface="Cambria" pitchFamily="34" charset="-122"/>
                <a:cs typeface="Cambria" pitchFamily="34" charset="-120"/>
              </a:rPr>
              <a:t>Columbus</a:t>
            </a:r>
            <a:endParaRPr lang="en-US" sz="3800" dirty="0"/>
          </a:p>
        </p:txBody>
      </p:sp>
      <p:sp>
        <p:nvSpPr>
          <p:cNvPr id="10" name="Shape 8"/>
          <p:cNvSpPr/>
          <p:nvPr/>
        </p:nvSpPr>
        <p:spPr>
          <a:xfrm>
            <a:off x="3657600" y="2084832"/>
            <a:ext cx="5029200" cy="1828800"/>
          </a:xfrm>
          <a:prstGeom prst="roundRect">
            <a:avLst>
              <a:gd name="adj" fmla="val 6000"/>
            </a:avLst>
          </a:prstGeom>
          <a:solidFill>
            <a:srgbClr val="1A2D5A"/>
          </a:solidFill>
          <a:ln/>
        </p:spPr>
      </p:sp>
      <p:sp>
        <p:nvSpPr>
          <p:cNvPr id="11" name="Text 9"/>
          <p:cNvSpPr/>
          <p:nvPr/>
        </p:nvSpPr>
        <p:spPr>
          <a:xfrm>
            <a:off x="3840480" y="2157984"/>
            <a:ext cx="4663440" cy="237744"/>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ROUTE CARD</a:t>
            </a:r>
            <a:endParaRPr lang="en-US" sz="900" dirty="0"/>
          </a:p>
        </p:txBody>
      </p:sp>
      <p:sp>
        <p:nvSpPr>
          <p:cNvPr id="12" name="Text 10"/>
          <p:cNvSpPr/>
          <p:nvPr/>
        </p:nvSpPr>
        <p:spPr>
          <a:xfrm>
            <a:off x="3840480" y="2423160"/>
            <a:ext cx="466344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Sailed west from Spain in 1492.</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Landed in the Caribbean — believed it was Asia.</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His voyages opened the Americas to European exploration.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He never realized what he had actually found.</a:t>
            </a:r>
            <a:endParaRPr lang="en-US" sz="1200" dirty="0"/>
          </a:p>
        </p:txBody>
      </p:sp>
      <p:sp>
        <p:nvSpPr>
          <p:cNvPr id="13" name="Shape 11"/>
          <p:cNvSpPr/>
          <p:nvPr/>
        </p:nvSpPr>
        <p:spPr>
          <a:xfrm>
            <a:off x="457200" y="4315968"/>
            <a:ext cx="8229600" cy="475488"/>
          </a:xfrm>
          <a:prstGeom prst="roundRect">
            <a:avLst>
              <a:gd name="adj" fmla="val 19231"/>
            </a:avLst>
          </a:prstGeom>
          <a:solidFill>
            <a:srgbClr val="183060"/>
          </a:solidFill>
          <a:ln/>
        </p:spPr>
      </p:sp>
      <p:sp>
        <p:nvSpPr>
          <p:cNvPr id="14" name="Text 12"/>
          <p:cNvSpPr/>
          <p:nvPr/>
        </p:nvSpPr>
        <p:spPr>
          <a:xfrm>
            <a:off x="640080" y="4352544"/>
            <a:ext cx="7863840" cy="384048"/>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Quick check: Where did Columbus sail FROM? Where did he land? What did he believe?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CLUE BOX — EXPLORER #2  •  WHAT DO YOU NOTICE?</a:t>
            </a:r>
            <a:endParaRPr lang="en-US" sz="1100" dirty="0"/>
          </a:p>
        </p:txBody>
      </p:sp>
      <p:sp>
        <p:nvSpPr>
          <p:cNvPr id="5" name="Shape 3"/>
          <p:cNvSpPr/>
          <p:nvPr/>
        </p:nvSpPr>
        <p:spPr>
          <a:xfrm>
            <a:off x="365760" y="594360"/>
            <a:ext cx="4754880" cy="2926080"/>
          </a:xfrm>
          <a:prstGeom prst="roundRect">
            <a:avLst>
              <a:gd name="adj" fmla="val 3750"/>
            </a:avLst>
          </a:prstGeom>
          <a:solidFill>
            <a:srgbClr val="E2E8F4"/>
          </a:solidFill>
          <a:ln w="19050">
            <a:solidFill>
              <a:srgbClr val="B0B8CC"/>
            </a:solidFill>
            <a:prstDash val="dash"/>
          </a:ln>
        </p:spPr>
      </p:sp>
      <p:sp>
        <p:nvSpPr>
          <p:cNvPr id="6" name="Text 4"/>
          <p:cNvSpPr/>
          <p:nvPr/>
        </p:nvSpPr>
        <p:spPr>
          <a:xfrm>
            <a:off x="365760" y="5943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868680"/>
            <a:ext cx="448056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World map showing a complete circumnavigation route — one continuous line going all the way around the globe from Spain, 1519-1522 era — unlabeled</a:t>
            </a:r>
            <a:endParaRPr lang="en-US" sz="1100" dirty="0"/>
          </a:p>
        </p:txBody>
      </p:sp>
      <p:sp>
        <p:nvSpPr>
          <p:cNvPr id="8" name="Shape 6"/>
          <p:cNvSpPr/>
          <p:nvPr/>
        </p:nvSpPr>
        <p:spPr>
          <a:xfrm>
            <a:off x="5303520" y="594360"/>
            <a:ext cx="3383280" cy="1298448"/>
          </a:xfrm>
          <a:prstGeom prst="roundRect">
            <a:avLst>
              <a:gd name="adj" fmla="val 7042"/>
            </a:avLst>
          </a:prstGeom>
          <a:solidFill>
            <a:srgbClr val="E8ECF5"/>
          </a:solidFill>
          <a:ln w="12700">
            <a:solidFill>
              <a:srgbClr val="C0C8DC"/>
            </a:solidFill>
            <a:prstDash val="solid"/>
          </a:ln>
        </p:spPr>
      </p:sp>
      <p:sp>
        <p:nvSpPr>
          <p:cNvPr id="9" name="Text 7"/>
          <p:cNvSpPr/>
          <p:nvPr/>
        </p:nvSpPr>
        <p:spPr>
          <a:xfrm>
            <a:off x="5486400" y="667512"/>
            <a:ext cx="3017520" cy="237744"/>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1</a:t>
            </a:r>
            <a:endParaRPr lang="en-US" sz="900" dirty="0"/>
          </a:p>
        </p:txBody>
      </p:sp>
      <p:sp>
        <p:nvSpPr>
          <p:cNvPr id="10" name="Text 8"/>
          <p:cNvSpPr/>
          <p:nvPr/>
        </p:nvSpPr>
        <p:spPr>
          <a:xfrm>
            <a:off x="5486400" y="932688"/>
            <a:ext cx="301752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Left Spain in 1519.</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Route goal: Spice Islands.</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The captain did NOT finish.</a:t>
            </a:r>
            <a:endParaRPr lang="en-US" sz="1300" dirty="0"/>
          </a:p>
        </p:txBody>
      </p:sp>
      <p:sp>
        <p:nvSpPr>
          <p:cNvPr id="11" name="Shape 9"/>
          <p:cNvSpPr/>
          <p:nvPr/>
        </p:nvSpPr>
        <p:spPr>
          <a:xfrm>
            <a:off x="5303520" y="1993392"/>
            <a:ext cx="3383280" cy="1298448"/>
          </a:xfrm>
          <a:prstGeom prst="roundRect">
            <a:avLst>
              <a:gd name="adj" fmla="val 7042"/>
            </a:avLst>
          </a:prstGeom>
          <a:solidFill>
            <a:srgbClr val="E8ECF5"/>
          </a:solidFill>
          <a:ln w="12700">
            <a:solidFill>
              <a:srgbClr val="C0C8DC"/>
            </a:solidFill>
            <a:prstDash val="solid"/>
          </a:ln>
        </p:spPr>
      </p:sp>
      <p:sp>
        <p:nvSpPr>
          <p:cNvPr id="12" name="Text 10"/>
          <p:cNvSpPr/>
          <p:nvPr/>
        </p:nvSpPr>
        <p:spPr>
          <a:xfrm>
            <a:off x="5486400" y="2066544"/>
            <a:ext cx="3017520" cy="237744"/>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2</a:t>
            </a:r>
            <a:endParaRPr lang="en-US" sz="900" dirty="0"/>
          </a:p>
        </p:txBody>
      </p:sp>
      <p:sp>
        <p:nvSpPr>
          <p:cNvPr id="13" name="Text 11"/>
          <p:cNvSpPr/>
          <p:nvPr/>
        </p:nvSpPr>
        <p:spPr>
          <a:xfrm>
            <a:off x="5486400" y="2331720"/>
            <a:ext cx="301752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His crew kept going.</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First to sail all the way around the world.</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Proved the earth's oceans are connected.</a:t>
            </a:r>
            <a:endParaRPr lang="en-US" sz="1300" dirty="0"/>
          </a:p>
        </p:txBody>
      </p:sp>
      <p:sp>
        <p:nvSpPr>
          <p:cNvPr id="14" name="Shape 12"/>
          <p:cNvSpPr/>
          <p:nvPr/>
        </p:nvSpPr>
        <p:spPr>
          <a:xfrm>
            <a:off x="365760" y="3675888"/>
            <a:ext cx="8412480" cy="896112"/>
          </a:xfrm>
          <a:prstGeom prst="roundRect">
            <a:avLst>
              <a:gd name="adj" fmla="val 12245"/>
            </a:avLst>
          </a:prstGeom>
          <a:solidFill>
            <a:srgbClr val="FFF3DC"/>
          </a:solidFill>
          <a:ln w="19050">
            <a:solidFill>
              <a:srgbClr val="F5E6C8"/>
            </a:solidFill>
            <a:prstDash val="solid"/>
          </a:ln>
        </p:spPr>
      </p:sp>
      <p:sp>
        <p:nvSpPr>
          <p:cNvPr id="15" name="Text 13"/>
          <p:cNvSpPr/>
          <p:nvPr/>
        </p:nvSpPr>
        <p:spPr>
          <a:xfrm>
            <a:off x="502920" y="373075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3931920"/>
            <a:ext cx="8138160" cy="5760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explorer might be...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457200" y="22860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Think It Through — Explorer #2</a:t>
            </a:r>
            <a:endParaRPr lang="en-US" sz="26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He did not finish the voyage. His crew did something no one had ever done.</a:t>
            </a:r>
            <a:endParaRPr lang="en-US" sz="1400" dirty="0"/>
          </a:p>
        </p:txBody>
      </p:sp>
      <p:sp>
        <p:nvSpPr>
          <p:cNvPr id="5" name="Shape 3"/>
          <p:cNvSpPr/>
          <p:nvPr/>
        </p:nvSpPr>
        <p:spPr>
          <a:xfrm>
            <a:off x="365760" y="1207008"/>
            <a:ext cx="4937760" cy="242316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98448"/>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554480"/>
            <a:ext cx="4572000" cy="1984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different about this route compared to Columbus's?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captain did not survive. His crew did. Why does this voyage still carry his name?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sailing all the way around the world prove that Columbus never proved?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it matter that the earth's oceans are connected?</a:t>
            </a:r>
            <a:endParaRPr lang="en-US" sz="1100" dirty="0"/>
          </a:p>
        </p:txBody>
      </p:sp>
      <p:sp>
        <p:nvSpPr>
          <p:cNvPr id="8" name="Shape 6"/>
          <p:cNvSpPr/>
          <p:nvPr/>
        </p:nvSpPr>
        <p:spPr>
          <a:xfrm>
            <a:off x="5486400" y="1207008"/>
            <a:ext cx="3291840" cy="2423160"/>
          </a:xfrm>
          <a:prstGeom prst="roundRect">
            <a:avLst>
              <a:gd name="adj" fmla="val 4528"/>
            </a:avLst>
          </a:prstGeom>
          <a:solidFill>
            <a:srgbClr val="FFF3DC"/>
          </a:solidFill>
          <a:ln w="19050">
            <a:solidFill>
              <a:srgbClr val="F5E6C8"/>
            </a:solidFill>
            <a:prstDash val="solid"/>
          </a:ln>
        </p:spPr>
      </p:sp>
      <p:sp>
        <p:nvSpPr>
          <p:cNvPr id="9" name="Text 7"/>
          <p:cNvSpPr/>
          <p:nvPr/>
        </p:nvSpPr>
        <p:spPr>
          <a:xfrm>
            <a:off x="5623560" y="1261872"/>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623560" y="1463040"/>
            <a:ext cx="3017520" cy="2103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clue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"His crew proved that... which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different from Columbus because..."</a:t>
            </a:r>
            <a:endParaRPr lang="en-US" sz="1200" dirty="0"/>
          </a:p>
        </p:txBody>
      </p:sp>
      <p:sp>
        <p:nvSpPr>
          <p:cNvPr id="11" name="Shape 9"/>
          <p:cNvSpPr/>
          <p:nvPr/>
        </p:nvSpPr>
        <p:spPr>
          <a:xfrm>
            <a:off x="365760" y="3749040"/>
            <a:ext cx="8412480" cy="658368"/>
          </a:xfrm>
          <a:prstGeom prst="roundRect">
            <a:avLst>
              <a:gd name="adj" fmla="val 13889"/>
            </a:avLst>
          </a:prstGeom>
          <a:solidFill>
            <a:srgbClr val="1A2D5A"/>
          </a:solidFill>
          <a:ln/>
        </p:spPr>
      </p:sp>
      <p:sp>
        <p:nvSpPr>
          <p:cNvPr id="12" name="Text 10"/>
          <p:cNvSpPr/>
          <p:nvPr/>
        </p:nvSpPr>
        <p:spPr>
          <a:xfrm>
            <a:off x="548640" y="3803904"/>
            <a:ext cx="8046720" cy="530352"/>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His crew finished what he started. What does that tell us about exploration as a team effort?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75488"/>
          </a:xfrm>
          <a:prstGeom prst="rect">
            <a:avLst/>
          </a:prstGeom>
          <a:solidFill>
            <a:srgbClr val="1A8A7D"/>
          </a:solidFill>
          <a:ln/>
        </p:spPr>
      </p:sp>
      <p:sp>
        <p:nvSpPr>
          <p:cNvPr id="5" name="Text 3"/>
          <p:cNvSpPr/>
          <p:nvPr/>
        </p:nvSpPr>
        <p:spPr>
          <a:xfrm>
            <a:off x="365760" y="0"/>
            <a:ext cx="8412480" cy="475488"/>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ROUTE CARD UNLOCKED  •  EXPLORER #2</a:t>
            </a:r>
            <a:endParaRPr lang="en-US" sz="1200" dirty="0"/>
          </a:p>
        </p:txBody>
      </p:sp>
      <p:sp>
        <p:nvSpPr>
          <p:cNvPr id="6" name="Shape 4"/>
          <p:cNvSpPr/>
          <p:nvPr/>
        </p:nvSpPr>
        <p:spPr>
          <a:xfrm>
            <a:off x="457200" y="658368"/>
            <a:ext cx="2926080" cy="352044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457200" y="658368"/>
            <a:ext cx="2926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932688"/>
            <a:ext cx="2651760" cy="3154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Portrait of Ferdinand Magellan, historical painting or engraving, 16th century</a:t>
            </a:r>
            <a:endParaRPr lang="en-US" sz="1100" dirty="0"/>
          </a:p>
        </p:txBody>
      </p:sp>
      <p:sp>
        <p:nvSpPr>
          <p:cNvPr id="9" name="Text 7"/>
          <p:cNvSpPr/>
          <p:nvPr/>
        </p:nvSpPr>
        <p:spPr>
          <a:xfrm>
            <a:off x="3657600" y="658368"/>
            <a:ext cx="5029200" cy="1325880"/>
          </a:xfrm>
          <a:prstGeom prst="rect">
            <a:avLst/>
          </a:prstGeom>
          <a:noFill/>
          <a:ln/>
        </p:spPr>
        <p:txBody>
          <a:bodyPr wrap="square" lIns="0" tIns="0" rIns="0" bIns="0" rtlCol="0" anchor="ctr"/>
          <a:lstStyle/>
          <a:p>
            <a:pPr indent="0" marL="0">
              <a:buNone/>
            </a:pPr>
            <a:r>
              <a:rPr lang="en-US" sz="3800" b="1" dirty="0">
                <a:solidFill>
                  <a:srgbClr val="55C8E8"/>
                </a:solidFill>
                <a:latin typeface="Cambria" pitchFamily="34" charset="0"/>
                <a:ea typeface="Cambria" pitchFamily="34" charset="-122"/>
                <a:cs typeface="Cambria" pitchFamily="34" charset="-120"/>
              </a:rPr>
              <a:t>Ferdinand</a:t>
            </a:r>
            <a:endParaRPr lang="en-US" sz="3800" dirty="0"/>
          </a:p>
          <a:p>
            <a:pPr indent="0" marL="0">
              <a:buNone/>
            </a:pPr>
            <a:r>
              <a:rPr lang="en-US" sz="3800" b="1" dirty="0">
                <a:solidFill>
                  <a:srgbClr val="55C8E8"/>
                </a:solidFill>
                <a:latin typeface="Cambria" pitchFamily="34" charset="0"/>
                <a:ea typeface="Cambria" pitchFamily="34" charset="-122"/>
                <a:cs typeface="Cambria" pitchFamily="34" charset="-120"/>
              </a:rPr>
              <a:t>Magellan</a:t>
            </a:r>
            <a:endParaRPr lang="en-US" sz="3800" dirty="0"/>
          </a:p>
        </p:txBody>
      </p:sp>
      <p:sp>
        <p:nvSpPr>
          <p:cNvPr id="10" name="Shape 8"/>
          <p:cNvSpPr/>
          <p:nvPr/>
        </p:nvSpPr>
        <p:spPr>
          <a:xfrm>
            <a:off x="3657600" y="2084832"/>
            <a:ext cx="5029200" cy="1828800"/>
          </a:xfrm>
          <a:prstGeom prst="roundRect">
            <a:avLst>
              <a:gd name="adj" fmla="val 6000"/>
            </a:avLst>
          </a:prstGeom>
          <a:solidFill>
            <a:srgbClr val="1A2D5A"/>
          </a:solidFill>
          <a:ln/>
        </p:spPr>
      </p:sp>
      <p:sp>
        <p:nvSpPr>
          <p:cNvPr id="11" name="Text 9"/>
          <p:cNvSpPr/>
          <p:nvPr/>
        </p:nvSpPr>
        <p:spPr>
          <a:xfrm>
            <a:off x="3840480" y="2157984"/>
            <a:ext cx="4663440" cy="237744"/>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ROUTE CARD</a:t>
            </a:r>
            <a:endParaRPr lang="en-US" sz="900" dirty="0"/>
          </a:p>
        </p:txBody>
      </p:sp>
      <p:sp>
        <p:nvSpPr>
          <p:cNvPr id="12" name="Text 10"/>
          <p:cNvSpPr/>
          <p:nvPr/>
        </p:nvSpPr>
        <p:spPr>
          <a:xfrm>
            <a:off x="3840480" y="2423160"/>
            <a:ext cx="466344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Left Spain in 1519 seeking the Spice Islands.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Magellan was killed during the voyage.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His crew kept going — completing the first circumnavigation.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proved the earth's oceans were connected.</a:t>
            </a:r>
            <a:endParaRPr lang="en-US" sz="1200" dirty="0"/>
          </a:p>
        </p:txBody>
      </p:sp>
      <p:sp>
        <p:nvSpPr>
          <p:cNvPr id="13" name="Shape 11"/>
          <p:cNvSpPr/>
          <p:nvPr/>
        </p:nvSpPr>
        <p:spPr>
          <a:xfrm>
            <a:off x="457200" y="4315968"/>
            <a:ext cx="8229600" cy="475488"/>
          </a:xfrm>
          <a:prstGeom prst="roundRect">
            <a:avLst>
              <a:gd name="adj" fmla="val 19231"/>
            </a:avLst>
          </a:prstGeom>
          <a:solidFill>
            <a:srgbClr val="183060"/>
          </a:solidFill>
          <a:ln/>
        </p:spPr>
      </p:sp>
      <p:sp>
        <p:nvSpPr>
          <p:cNvPr id="14" name="Text 12"/>
          <p:cNvSpPr/>
          <p:nvPr/>
        </p:nvSpPr>
        <p:spPr>
          <a:xfrm>
            <a:off x="640080" y="4352544"/>
            <a:ext cx="7863840" cy="384048"/>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Cover your screen: When did Magellan leave? What did his crew prove? Why does it matter?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CLUE BOX — EXPLORER #3  •  WHAT DO YOU NOTICE?</a:t>
            </a:r>
            <a:endParaRPr lang="en-US" sz="1100" dirty="0"/>
          </a:p>
        </p:txBody>
      </p:sp>
      <p:sp>
        <p:nvSpPr>
          <p:cNvPr id="5" name="Shape 3"/>
          <p:cNvSpPr/>
          <p:nvPr/>
        </p:nvSpPr>
        <p:spPr>
          <a:xfrm>
            <a:off x="365760" y="594360"/>
            <a:ext cx="4754880" cy="2926080"/>
          </a:xfrm>
          <a:prstGeom prst="roundRect">
            <a:avLst>
              <a:gd name="adj" fmla="val 3750"/>
            </a:avLst>
          </a:prstGeom>
          <a:solidFill>
            <a:srgbClr val="E2E8F4"/>
          </a:solidFill>
          <a:ln w="19050">
            <a:solidFill>
              <a:srgbClr val="B0B8CC"/>
            </a:solidFill>
            <a:prstDash val="dash"/>
          </a:ln>
        </p:spPr>
      </p:sp>
      <p:sp>
        <p:nvSpPr>
          <p:cNvPr id="6" name="Text 4"/>
          <p:cNvSpPr/>
          <p:nvPr/>
        </p:nvSpPr>
        <p:spPr>
          <a:xfrm>
            <a:off x="365760" y="5943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868680"/>
            <a:ext cx="448056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showing Caribbean and southeast peninsula of North America (Florida), 1513 era, unlabeled route reaching the Florida coast — no explorer name</a:t>
            </a:r>
            <a:endParaRPr lang="en-US" sz="1100" dirty="0"/>
          </a:p>
        </p:txBody>
      </p:sp>
      <p:sp>
        <p:nvSpPr>
          <p:cNvPr id="8" name="Shape 6"/>
          <p:cNvSpPr/>
          <p:nvPr/>
        </p:nvSpPr>
        <p:spPr>
          <a:xfrm>
            <a:off x="5303520" y="594360"/>
            <a:ext cx="3383280" cy="1298448"/>
          </a:xfrm>
          <a:prstGeom prst="roundRect">
            <a:avLst>
              <a:gd name="adj" fmla="val 7042"/>
            </a:avLst>
          </a:prstGeom>
          <a:solidFill>
            <a:srgbClr val="E8ECF5"/>
          </a:solidFill>
          <a:ln w="12700">
            <a:solidFill>
              <a:srgbClr val="C0C8DC"/>
            </a:solidFill>
            <a:prstDash val="solid"/>
          </a:ln>
        </p:spPr>
      </p:sp>
      <p:sp>
        <p:nvSpPr>
          <p:cNvPr id="9" name="Text 7"/>
          <p:cNvSpPr/>
          <p:nvPr/>
        </p:nvSpPr>
        <p:spPr>
          <a:xfrm>
            <a:off x="5486400" y="667512"/>
            <a:ext cx="3017520" cy="237744"/>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1</a:t>
            </a:r>
            <a:endParaRPr lang="en-US" sz="900" dirty="0"/>
          </a:p>
        </p:txBody>
      </p:sp>
      <p:sp>
        <p:nvSpPr>
          <p:cNvPr id="10" name="Text 8"/>
          <p:cNvSpPr/>
          <p:nvPr/>
        </p:nvSpPr>
        <p:spPr>
          <a:xfrm>
            <a:off x="5486400" y="932688"/>
            <a:ext cx="301752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Explored the Caribbean for Spain.</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Year: 1513.</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First known European to reach a large peninsula to the north.</a:t>
            </a:r>
            <a:endParaRPr lang="en-US" sz="1300" dirty="0"/>
          </a:p>
        </p:txBody>
      </p:sp>
      <p:sp>
        <p:nvSpPr>
          <p:cNvPr id="11" name="Shape 9"/>
          <p:cNvSpPr/>
          <p:nvPr/>
        </p:nvSpPr>
        <p:spPr>
          <a:xfrm>
            <a:off x="5303520" y="1993392"/>
            <a:ext cx="3383280" cy="1298448"/>
          </a:xfrm>
          <a:prstGeom prst="roundRect">
            <a:avLst>
              <a:gd name="adj" fmla="val 7042"/>
            </a:avLst>
          </a:prstGeom>
          <a:solidFill>
            <a:srgbClr val="E8ECF5"/>
          </a:solidFill>
          <a:ln w="12700">
            <a:solidFill>
              <a:srgbClr val="C0C8DC"/>
            </a:solidFill>
            <a:prstDash val="solid"/>
          </a:ln>
        </p:spPr>
      </p:sp>
      <p:sp>
        <p:nvSpPr>
          <p:cNvPr id="12" name="Text 10"/>
          <p:cNvSpPr/>
          <p:nvPr/>
        </p:nvSpPr>
        <p:spPr>
          <a:xfrm>
            <a:off x="5486400" y="2066544"/>
            <a:ext cx="3017520" cy="237744"/>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2</a:t>
            </a:r>
            <a:endParaRPr lang="en-US" sz="900" dirty="0"/>
          </a:p>
        </p:txBody>
      </p:sp>
      <p:sp>
        <p:nvSpPr>
          <p:cNvPr id="13" name="Text 11"/>
          <p:cNvSpPr/>
          <p:nvPr/>
        </p:nvSpPr>
        <p:spPr>
          <a:xfrm>
            <a:off x="5486400" y="2331720"/>
            <a:ext cx="3017520" cy="822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Legends say: searching for a fountain of youth.</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Evidence says: searching for land and riches for Spain.</a:t>
            </a:r>
            <a:endParaRPr lang="en-US" sz="1300" dirty="0"/>
          </a:p>
        </p:txBody>
      </p:sp>
      <p:sp>
        <p:nvSpPr>
          <p:cNvPr id="14" name="Shape 12"/>
          <p:cNvSpPr/>
          <p:nvPr/>
        </p:nvSpPr>
        <p:spPr>
          <a:xfrm>
            <a:off x="365760" y="3675888"/>
            <a:ext cx="8412480" cy="896112"/>
          </a:xfrm>
          <a:prstGeom prst="roundRect">
            <a:avLst>
              <a:gd name="adj" fmla="val 12245"/>
            </a:avLst>
          </a:prstGeom>
          <a:solidFill>
            <a:srgbClr val="FFF3DC"/>
          </a:solidFill>
          <a:ln w="19050">
            <a:solidFill>
              <a:srgbClr val="F5E6C8"/>
            </a:solidFill>
            <a:prstDash val="solid"/>
          </a:ln>
        </p:spPr>
      </p:sp>
      <p:sp>
        <p:nvSpPr>
          <p:cNvPr id="15" name="Text 13"/>
          <p:cNvSpPr/>
          <p:nvPr/>
        </p:nvSpPr>
        <p:spPr>
          <a:xfrm>
            <a:off x="502920" y="373075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3931920"/>
            <a:ext cx="8138160" cy="5760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explorer might be...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457200" y="228600"/>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Think It Through — Explorer #3</a:t>
            </a:r>
            <a:endParaRPr lang="en-US" sz="2600" dirty="0"/>
          </a:p>
        </p:txBody>
      </p:sp>
      <p:sp>
        <p:nvSpPr>
          <p:cNvPr id="4" name="Text 2"/>
          <p:cNvSpPr/>
          <p:nvPr/>
        </p:nvSpPr>
        <p:spPr>
          <a:xfrm>
            <a:off x="457200" y="749808"/>
            <a:ext cx="8229600" cy="32004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The legend says one thing. The evidence says another.</a:t>
            </a:r>
            <a:endParaRPr lang="en-US" sz="1400" dirty="0"/>
          </a:p>
        </p:txBody>
      </p:sp>
      <p:sp>
        <p:nvSpPr>
          <p:cNvPr id="5" name="Shape 3"/>
          <p:cNvSpPr/>
          <p:nvPr/>
        </p:nvSpPr>
        <p:spPr>
          <a:xfrm>
            <a:off x="365760" y="1207008"/>
            <a:ext cx="4937760" cy="242316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98448"/>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554480"/>
            <a:ext cx="4572000" cy="1984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map shape tell you about where this explorer arrived?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difference between 'legends say' and 'evidence says'?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 fountain of youth story have spread even if it was not true?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clue is stronger — the legend or the map evidence?</a:t>
            </a:r>
            <a:endParaRPr lang="en-US" sz="1100" dirty="0"/>
          </a:p>
        </p:txBody>
      </p:sp>
      <p:sp>
        <p:nvSpPr>
          <p:cNvPr id="8" name="Shape 6"/>
          <p:cNvSpPr/>
          <p:nvPr/>
        </p:nvSpPr>
        <p:spPr>
          <a:xfrm>
            <a:off x="5486400" y="1207008"/>
            <a:ext cx="3291840" cy="2423160"/>
          </a:xfrm>
          <a:prstGeom prst="roundRect">
            <a:avLst>
              <a:gd name="adj" fmla="val 4528"/>
            </a:avLst>
          </a:prstGeom>
          <a:solidFill>
            <a:srgbClr val="FFF3DC"/>
          </a:solidFill>
          <a:ln w="19050">
            <a:solidFill>
              <a:srgbClr val="F5E6C8"/>
            </a:solidFill>
            <a:prstDash val="solid"/>
          </a:ln>
        </p:spPr>
      </p:sp>
      <p:sp>
        <p:nvSpPr>
          <p:cNvPr id="9" name="Text 7"/>
          <p:cNvSpPr/>
          <p:nvPr/>
        </p:nvSpPr>
        <p:spPr>
          <a:xfrm>
            <a:off x="5623560" y="1261872"/>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623560" y="1463040"/>
            <a:ext cx="3017520" cy="2103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legend spread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map evidence tells me..."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clue is... because..."</a:t>
            </a:r>
            <a:endParaRPr lang="en-US" sz="1200" dirty="0"/>
          </a:p>
        </p:txBody>
      </p:sp>
      <p:sp>
        <p:nvSpPr>
          <p:cNvPr id="11" name="Shape 9"/>
          <p:cNvSpPr/>
          <p:nvPr/>
        </p:nvSpPr>
        <p:spPr>
          <a:xfrm>
            <a:off x="365760" y="3749040"/>
            <a:ext cx="8412480" cy="658368"/>
          </a:xfrm>
          <a:prstGeom prst="roundRect">
            <a:avLst>
              <a:gd name="adj" fmla="val 13889"/>
            </a:avLst>
          </a:prstGeom>
          <a:solidFill>
            <a:srgbClr val="1A2D5A"/>
          </a:solidFill>
          <a:ln/>
        </p:spPr>
      </p:sp>
      <p:sp>
        <p:nvSpPr>
          <p:cNvPr id="12" name="Text 10"/>
          <p:cNvSpPr/>
          <p:nvPr/>
        </p:nvSpPr>
        <p:spPr>
          <a:xfrm>
            <a:off x="548640" y="3803904"/>
            <a:ext cx="8046720" cy="530352"/>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If a museum used only the legend, what would visitors think? What would they be missing?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475488"/>
          </a:xfrm>
          <a:prstGeom prst="rect">
            <a:avLst/>
          </a:prstGeom>
          <a:solidFill>
            <a:srgbClr val="8B6FC0"/>
          </a:solidFill>
          <a:ln/>
        </p:spPr>
      </p:sp>
      <p:sp>
        <p:nvSpPr>
          <p:cNvPr id="5" name="Text 3"/>
          <p:cNvSpPr/>
          <p:nvPr/>
        </p:nvSpPr>
        <p:spPr>
          <a:xfrm>
            <a:off x="365760" y="0"/>
            <a:ext cx="8412480" cy="475488"/>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ROUTE CARD UNLOCKED  •  EXPLORER #3</a:t>
            </a:r>
            <a:endParaRPr lang="en-US" sz="1200" dirty="0"/>
          </a:p>
        </p:txBody>
      </p:sp>
      <p:sp>
        <p:nvSpPr>
          <p:cNvPr id="6" name="Shape 4"/>
          <p:cNvSpPr/>
          <p:nvPr/>
        </p:nvSpPr>
        <p:spPr>
          <a:xfrm>
            <a:off x="457200" y="658368"/>
            <a:ext cx="2926080" cy="352044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457200" y="658368"/>
            <a:ext cx="2926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932688"/>
            <a:ext cx="2651760" cy="3154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Portrait of Juan Ponce de Leon, historical painting or engraving, 16th century</a:t>
            </a:r>
            <a:endParaRPr lang="en-US" sz="1100" dirty="0"/>
          </a:p>
        </p:txBody>
      </p:sp>
      <p:sp>
        <p:nvSpPr>
          <p:cNvPr id="9" name="Text 7"/>
          <p:cNvSpPr/>
          <p:nvPr/>
        </p:nvSpPr>
        <p:spPr>
          <a:xfrm>
            <a:off x="3657600" y="658368"/>
            <a:ext cx="5029200" cy="1325880"/>
          </a:xfrm>
          <a:prstGeom prst="rect">
            <a:avLst/>
          </a:prstGeom>
          <a:noFill/>
          <a:ln/>
        </p:spPr>
        <p:txBody>
          <a:bodyPr wrap="square" lIns="0" tIns="0" rIns="0" bIns="0" rtlCol="0" anchor="ctr"/>
          <a:lstStyle/>
          <a:p>
            <a:pPr indent="0" marL="0">
              <a:buNone/>
            </a:pPr>
            <a:r>
              <a:rPr lang="en-US" sz="3800" b="1" dirty="0">
                <a:solidFill>
                  <a:srgbClr val="D4943A"/>
                </a:solidFill>
                <a:latin typeface="Cambria" pitchFamily="34" charset="0"/>
                <a:ea typeface="Cambria" pitchFamily="34" charset="-122"/>
                <a:cs typeface="Cambria" pitchFamily="34" charset="-120"/>
              </a:rPr>
              <a:t>Juan Ponce</a:t>
            </a:r>
            <a:endParaRPr lang="en-US" sz="3800" dirty="0"/>
          </a:p>
          <a:p>
            <a:pPr indent="0" marL="0">
              <a:buNone/>
            </a:pPr>
            <a:r>
              <a:rPr lang="en-US" sz="3800" b="1" dirty="0">
                <a:solidFill>
                  <a:srgbClr val="D4943A"/>
                </a:solidFill>
                <a:latin typeface="Cambria" pitchFamily="34" charset="0"/>
                <a:ea typeface="Cambria" pitchFamily="34" charset="-122"/>
                <a:cs typeface="Cambria" pitchFamily="34" charset="-120"/>
              </a:rPr>
              <a:t>de León</a:t>
            </a:r>
            <a:endParaRPr lang="en-US" sz="3800" dirty="0"/>
          </a:p>
        </p:txBody>
      </p:sp>
      <p:sp>
        <p:nvSpPr>
          <p:cNvPr id="10" name="Shape 8"/>
          <p:cNvSpPr/>
          <p:nvPr/>
        </p:nvSpPr>
        <p:spPr>
          <a:xfrm>
            <a:off x="3657600" y="2084832"/>
            <a:ext cx="5029200" cy="1828800"/>
          </a:xfrm>
          <a:prstGeom prst="roundRect">
            <a:avLst>
              <a:gd name="adj" fmla="val 6000"/>
            </a:avLst>
          </a:prstGeom>
          <a:solidFill>
            <a:srgbClr val="1A2D5A"/>
          </a:solidFill>
          <a:ln/>
        </p:spPr>
      </p:sp>
      <p:sp>
        <p:nvSpPr>
          <p:cNvPr id="11" name="Text 9"/>
          <p:cNvSpPr/>
          <p:nvPr/>
        </p:nvSpPr>
        <p:spPr>
          <a:xfrm>
            <a:off x="3840480" y="2157984"/>
            <a:ext cx="4663440" cy="237744"/>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ROUTE CARD</a:t>
            </a:r>
            <a:endParaRPr lang="en-US" sz="900" dirty="0"/>
          </a:p>
        </p:txBody>
      </p:sp>
      <p:sp>
        <p:nvSpPr>
          <p:cNvPr id="12" name="Text 10"/>
          <p:cNvSpPr/>
          <p:nvPr/>
        </p:nvSpPr>
        <p:spPr>
          <a:xfrm>
            <a:off x="3840480" y="2423160"/>
            <a:ext cx="466344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First known European to reach Florida in 1513.</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Explored the Caribbean for Spain.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Legend: searching for a fountain of youth.</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Evidence: searching for land and riches for Spain.</a:t>
            </a:r>
            <a:endParaRPr lang="en-US" sz="1200" dirty="0"/>
          </a:p>
        </p:txBody>
      </p:sp>
      <p:sp>
        <p:nvSpPr>
          <p:cNvPr id="13" name="Shape 11"/>
          <p:cNvSpPr/>
          <p:nvPr/>
        </p:nvSpPr>
        <p:spPr>
          <a:xfrm>
            <a:off x="457200" y="4315968"/>
            <a:ext cx="8229600" cy="475488"/>
          </a:xfrm>
          <a:prstGeom prst="roundRect">
            <a:avLst>
              <a:gd name="adj" fmla="val 19231"/>
            </a:avLst>
          </a:prstGeom>
          <a:solidFill>
            <a:srgbClr val="183060"/>
          </a:solidFill>
          <a:ln/>
        </p:spPr>
      </p:sp>
      <p:sp>
        <p:nvSpPr>
          <p:cNvPr id="14" name="Text 12"/>
          <p:cNvSpPr/>
          <p:nvPr/>
        </p:nvSpPr>
        <p:spPr>
          <a:xfrm>
            <a:off x="640080" y="4352544"/>
            <a:ext cx="7863840" cy="384048"/>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All three route cards matched! Can you name all three explorers and their main discovery?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1A8A7D"/>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EXHIBIT LABEL  •  EXPLORATION WING</a:t>
            </a:r>
            <a:endParaRPr lang="en-US" sz="1100" dirty="0"/>
          </a:p>
        </p:txBody>
      </p:sp>
      <p:sp>
        <p:nvSpPr>
          <p:cNvPr id="5" name="Text 3"/>
          <p:cNvSpPr/>
          <p:nvPr/>
        </p:nvSpPr>
        <p:spPr>
          <a:xfrm>
            <a:off x="457200" y="621792"/>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Three Explorers. One Pattern.</a:t>
            </a:r>
            <a:endParaRPr lang="en-US" sz="2800" dirty="0"/>
          </a:p>
        </p:txBody>
      </p:sp>
      <p:sp>
        <p:nvSpPr>
          <p:cNvPr id="6" name="Shape 4"/>
          <p:cNvSpPr/>
          <p:nvPr/>
        </p:nvSpPr>
        <p:spPr>
          <a:xfrm>
            <a:off x="365760" y="1188720"/>
            <a:ext cx="2578608" cy="2331720"/>
          </a:xfrm>
          <a:prstGeom prst="roundRect">
            <a:avLst>
              <a:gd name="adj" fmla="val 4706"/>
            </a:avLst>
          </a:prstGeom>
          <a:solidFill>
            <a:srgbClr val="EAF8FD"/>
          </a:solidFill>
          <a:ln w="19050">
            <a:solidFill>
              <a:srgbClr val="B0D8EC"/>
            </a:solidFill>
            <a:prstDash val="solid"/>
          </a:ln>
        </p:spPr>
      </p:sp>
      <p:sp>
        <p:nvSpPr>
          <p:cNvPr id="7" name="Text 5"/>
          <p:cNvSpPr/>
          <p:nvPr/>
        </p:nvSpPr>
        <p:spPr>
          <a:xfrm>
            <a:off x="502920" y="1280160"/>
            <a:ext cx="2304288" cy="32004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Columbus</a:t>
            </a:r>
            <a:endParaRPr lang="en-US" sz="1500" dirty="0"/>
          </a:p>
        </p:txBody>
      </p:sp>
      <p:sp>
        <p:nvSpPr>
          <p:cNvPr id="8" name="Text 6"/>
          <p:cNvSpPr/>
          <p:nvPr/>
        </p:nvSpPr>
        <p:spPr>
          <a:xfrm>
            <a:off x="502920" y="1645920"/>
            <a:ext cx="2304288" cy="1737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Route: West from Spain</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Year: 1492</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Found: Caribbean</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Believed: Had reached Asia</a:t>
            </a:r>
            <a:endParaRPr lang="en-US" sz="1200" dirty="0"/>
          </a:p>
        </p:txBody>
      </p:sp>
      <p:sp>
        <p:nvSpPr>
          <p:cNvPr id="9" name="Shape 7"/>
          <p:cNvSpPr/>
          <p:nvPr/>
        </p:nvSpPr>
        <p:spPr>
          <a:xfrm>
            <a:off x="3246120" y="1188720"/>
            <a:ext cx="2578608" cy="2331720"/>
          </a:xfrm>
          <a:prstGeom prst="roundRect">
            <a:avLst>
              <a:gd name="adj" fmla="val 4706"/>
            </a:avLst>
          </a:prstGeom>
          <a:solidFill>
            <a:srgbClr val="EAF8FD"/>
          </a:solidFill>
          <a:ln w="19050">
            <a:solidFill>
              <a:srgbClr val="B0D8EC"/>
            </a:solidFill>
            <a:prstDash val="solid"/>
          </a:ln>
        </p:spPr>
      </p:sp>
      <p:sp>
        <p:nvSpPr>
          <p:cNvPr id="10" name="Text 8"/>
          <p:cNvSpPr/>
          <p:nvPr/>
        </p:nvSpPr>
        <p:spPr>
          <a:xfrm>
            <a:off x="3383280" y="1280160"/>
            <a:ext cx="2304288" cy="32004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Magellan</a:t>
            </a:r>
            <a:endParaRPr lang="en-US" sz="1500" dirty="0"/>
          </a:p>
        </p:txBody>
      </p:sp>
      <p:sp>
        <p:nvSpPr>
          <p:cNvPr id="11" name="Text 9"/>
          <p:cNvSpPr/>
          <p:nvPr/>
        </p:nvSpPr>
        <p:spPr>
          <a:xfrm>
            <a:off x="3383280" y="1645920"/>
            <a:ext cx="2304288" cy="1737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Route: Around the world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Year: 1519</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Found: Oceans connected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Crew: First circumnavigation</a:t>
            </a:r>
            <a:endParaRPr lang="en-US" sz="1200" dirty="0"/>
          </a:p>
        </p:txBody>
      </p:sp>
      <p:sp>
        <p:nvSpPr>
          <p:cNvPr id="12" name="Shape 10"/>
          <p:cNvSpPr/>
          <p:nvPr/>
        </p:nvSpPr>
        <p:spPr>
          <a:xfrm>
            <a:off x="6126480" y="1188720"/>
            <a:ext cx="2578608" cy="2331720"/>
          </a:xfrm>
          <a:prstGeom prst="roundRect">
            <a:avLst>
              <a:gd name="adj" fmla="val 4706"/>
            </a:avLst>
          </a:prstGeom>
          <a:solidFill>
            <a:srgbClr val="EAF8FD"/>
          </a:solidFill>
          <a:ln w="19050">
            <a:solidFill>
              <a:srgbClr val="B0D8EC"/>
            </a:solidFill>
            <a:prstDash val="solid"/>
          </a:ln>
        </p:spPr>
      </p:sp>
      <p:sp>
        <p:nvSpPr>
          <p:cNvPr id="13" name="Text 11"/>
          <p:cNvSpPr/>
          <p:nvPr/>
        </p:nvSpPr>
        <p:spPr>
          <a:xfrm>
            <a:off x="6263640" y="1280160"/>
            <a:ext cx="2304288" cy="32004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Ponce de León</a:t>
            </a:r>
            <a:endParaRPr lang="en-US" sz="1500" dirty="0"/>
          </a:p>
        </p:txBody>
      </p:sp>
      <p:sp>
        <p:nvSpPr>
          <p:cNvPr id="14" name="Text 12"/>
          <p:cNvSpPr/>
          <p:nvPr/>
        </p:nvSpPr>
        <p:spPr>
          <a:xfrm>
            <a:off x="6263640" y="1645920"/>
            <a:ext cx="2304288" cy="17373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Route: Caribbean/Florida</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Year: 1513</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Found: Florida</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Legend vs. evidence</a:t>
            </a:r>
            <a:endParaRPr lang="en-US" sz="1200" dirty="0"/>
          </a:p>
        </p:txBody>
      </p:sp>
      <p:sp>
        <p:nvSpPr>
          <p:cNvPr id="15" name="Shape 13"/>
          <p:cNvSpPr/>
          <p:nvPr/>
        </p:nvSpPr>
        <p:spPr>
          <a:xfrm>
            <a:off x="365760" y="3657600"/>
            <a:ext cx="8412480" cy="804672"/>
          </a:xfrm>
          <a:prstGeom prst="roundRect">
            <a:avLst>
              <a:gd name="adj" fmla="val 11364"/>
            </a:avLst>
          </a:prstGeom>
          <a:solidFill>
            <a:srgbClr val="1A2D5A"/>
          </a:solidFill>
          <a:ln/>
        </p:spPr>
      </p:sp>
      <p:sp>
        <p:nvSpPr>
          <p:cNvPr id="16" name="Text 14"/>
          <p:cNvSpPr/>
          <p:nvPr/>
        </p:nvSpPr>
        <p:spPr>
          <a:xfrm>
            <a:off x="548640" y="3730752"/>
            <a:ext cx="8046720" cy="658368"/>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Famous explorers like Columbus, Magellan, and Ponce de León each followed a route for a reason. Studying them means looking at evidence — their motives, tools, routes, and what they actually found.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457200" y="201168"/>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Here's Something to Think About...</a:t>
            </a:r>
            <a:endParaRPr lang="en-US" sz="2600" dirty="0"/>
          </a:p>
        </p:txBody>
      </p:sp>
      <p:sp>
        <p:nvSpPr>
          <p:cNvPr id="4" name="Shape 2"/>
          <p:cNvSpPr/>
          <p:nvPr/>
        </p:nvSpPr>
        <p:spPr>
          <a:xfrm>
            <a:off x="457200" y="777240"/>
            <a:ext cx="8229600" cy="1554480"/>
          </a:xfrm>
          <a:prstGeom prst="roundRect">
            <a:avLst>
              <a:gd name="adj" fmla="val 8824"/>
            </a:avLst>
          </a:prstGeom>
          <a:solidFill>
            <a:srgbClr val="FFF3DC"/>
          </a:solidFill>
          <a:ln w="25400">
            <a:solidFill>
              <a:srgbClr val="D4943A"/>
            </a:solidFill>
            <a:prstDash val="solid"/>
          </a:ln>
        </p:spPr>
      </p:sp>
      <p:sp>
        <p:nvSpPr>
          <p:cNvPr id="5" name="Text 3"/>
          <p:cNvSpPr/>
          <p:nvPr/>
        </p:nvSpPr>
        <p:spPr>
          <a:xfrm>
            <a:off x="658368" y="850392"/>
            <a:ext cx="2286000" cy="27432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Opti says...</a:t>
            </a:r>
            <a:endParaRPr lang="en-US" sz="1100" dirty="0"/>
          </a:p>
        </p:txBody>
      </p:sp>
      <p:sp>
        <p:nvSpPr>
          <p:cNvPr id="6" name="Text 4"/>
          <p:cNvSpPr/>
          <p:nvPr/>
        </p:nvSpPr>
        <p:spPr>
          <a:xfrm>
            <a:off x="658368" y="1152144"/>
            <a:ext cx="7827264" cy="1024128"/>
          </a:xfrm>
          <a:prstGeom prst="rect">
            <a:avLst/>
          </a:prstGeom>
          <a:noFill/>
          <a:ln/>
        </p:spPr>
        <p:txBody>
          <a:bodyPr wrap="square" lIns="0" tIns="0" rIns="0" bIns="0" rtlCol="0" anchor="ctr"/>
          <a:lstStyle/>
          <a:p>
            <a:pPr indent="0" marL="0">
              <a:buNone/>
            </a:pPr>
            <a:r>
              <a:rPr lang="en-US" sz="1500" i="1" dirty="0">
                <a:solidFill>
                  <a:srgbClr val="5A4A3A"/>
                </a:solidFill>
                <a:latin typeface="Cambria" pitchFamily="34" charset="0"/>
                <a:ea typeface="Cambria" pitchFamily="34" charset="-122"/>
                <a:cs typeface="Cambria" pitchFamily="34" charset="-120"/>
              </a:rPr>
              <a:t>"Columbus made four voyages to the Americas and never once realized he had not reached Asia. Sometimes even famous explorers got the big picture wrong. That's why curators check the evidence!"</a:t>
            </a:r>
            <a:endParaRPr lang="en-US" sz="1500" dirty="0"/>
          </a:p>
        </p:txBody>
      </p:sp>
      <p:sp>
        <p:nvSpPr>
          <p:cNvPr id="7" name="Shape 5"/>
          <p:cNvSpPr/>
          <p:nvPr/>
        </p:nvSpPr>
        <p:spPr>
          <a:xfrm>
            <a:off x="457200" y="2468880"/>
            <a:ext cx="4937760" cy="224028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640080" y="256032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640080" y="2816352"/>
            <a:ext cx="4572000" cy="1801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Columbus believed he was in Asia — what might he have written in his journal?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knowing he was wrong change how we read his records?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an exhibit if curators use Columbus's wrong belief as fact?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studying explorers harder than just repeating exciting stories?</a:t>
            </a:r>
            <a:endParaRPr lang="en-US" sz="1100" dirty="0"/>
          </a:p>
        </p:txBody>
      </p:sp>
      <p:sp>
        <p:nvSpPr>
          <p:cNvPr id="10" name="Shape 8"/>
          <p:cNvSpPr/>
          <p:nvPr/>
        </p:nvSpPr>
        <p:spPr>
          <a:xfrm>
            <a:off x="5577840" y="2468880"/>
            <a:ext cx="3108960" cy="2240280"/>
          </a:xfrm>
          <a:prstGeom prst="roundRect">
            <a:avLst>
              <a:gd name="adj" fmla="val 4898"/>
            </a:avLst>
          </a:prstGeom>
          <a:solidFill>
            <a:srgbClr val="FFF3DC"/>
          </a:solidFill>
          <a:ln w="19050">
            <a:solidFill>
              <a:srgbClr val="F5E6C8"/>
            </a:solidFill>
            <a:prstDash val="solid"/>
          </a:ln>
        </p:spPr>
      </p:sp>
      <p:sp>
        <p:nvSpPr>
          <p:cNvPr id="11" name="Text 9"/>
          <p:cNvSpPr/>
          <p:nvPr/>
        </p:nvSpPr>
        <p:spPr>
          <a:xfrm>
            <a:off x="5715000" y="252374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15000" y="2724912"/>
            <a:ext cx="2834640" cy="1920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"Columbus was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matters for curators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"Evidence matters more than legends because..."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GUIDED PRACTICE  •  ASSIGNMENT Q1  •  I DO</a:t>
            </a:r>
            <a:endParaRPr lang="en-US" sz="1100" dirty="0"/>
          </a:p>
        </p:txBody>
      </p:sp>
      <p:sp>
        <p:nvSpPr>
          <p:cNvPr id="5" name="Text 3"/>
          <p:cNvSpPr/>
          <p:nvPr/>
        </p:nvSpPr>
        <p:spPr>
          <a:xfrm>
            <a:off x="457200" y="594360"/>
            <a:ext cx="8229600" cy="530352"/>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Q1: Choose one explorer. Describe where they traveled and what they found. Use a detail from the lesson.</a:t>
            </a:r>
            <a:endParaRPr lang="en-US" sz="1500" dirty="0"/>
          </a:p>
        </p:txBody>
      </p:sp>
      <p:sp>
        <p:nvSpPr>
          <p:cNvPr id="6" name="Shape 4"/>
          <p:cNvSpPr/>
          <p:nvPr/>
        </p:nvSpPr>
        <p:spPr>
          <a:xfrm>
            <a:off x="457200" y="1234440"/>
            <a:ext cx="4846320" cy="2377440"/>
          </a:xfrm>
          <a:prstGeom prst="roundRect">
            <a:avLst>
              <a:gd name="adj" fmla="val 4615"/>
            </a:avLst>
          </a:prstGeom>
          <a:solidFill>
            <a:srgbClr val="E3F8ED"/>
          </a:solidFill>
          <a:ln w="19050">
            <a:solidFill>
              <a:srgbClr val="B8E8CF"/>
            </a:solidFill>
            <a:prstDash val="solid"/>
          </a:ln>
        </p:spPr>
      </p:sp>
      <p:sp>
        <p:nvSpPr>
          <p:cNvPr id="7" name="Text 5"/>
          <p:cNvSpPr/>
          <p:nvPr/>
        </p:nvSpPr>
        <p:spPr>
          <a:xfrm>
            <a:off x="640080" y="1307592"/>
            <a:ext cx="448056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TEACHER MODEL</a:t>
            </a:r>
            <a:endParaRPr lang="en-US" sz="900" dirty="0"/>
          </a:p>
        </p:txBody>
      </p:sp>
      <p:sp>
        <p:nvSpPr>
          <p:cNvPr id="8" name="Text 6"/>
          <p:cNvSpPr/>
          <p:nvPr/>
        </p:nvSpPr>
        <p:spPr>
          <a:xfrm>
            <a:off x="640080" y="1600200"/>
            <a:ext cx="4480560" cy="1828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I'll pick Columbus.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"Columbus sailed west from Spain in 1492 hoping to reach Asia. Instead, he landed in the Caribbean. The lesson tells us he never realized he had reached lands that Europeans did not know about — that is my evidence detail."</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Notice: explorer named, route stated, what he found, one lesson detail.</a:t>
            </a:r>
            <a:endParaRPr lang="en-US" sz="1200" dirty="0"/>
          </a:p>
        </p:txBody>
      </p:sp>
      <p:sp>
        <p:nvSpPr>
          <p:cNvPr id="9" name="Shape 7"/>
          <p:cNvSpPr/>
          <p:nvPr/>
        </p:nvSpPr>
        <p:spPr>
          <a:xfrm>
            <a:off x="5486400" y="1234440"/>
            <a:ext cx="3291840" cy="2377440"/>
          </a:xfrm>
          <a:prstGeom prst="roundRect">
            <a:avLst>
              <a:gd name="adj" fmla="val 4615"/>
            </a:avLst>
          </a:prstGeom>
          <a:solidFill>
            <a:srgbClr val="FFF3DC"/>
          </a:solidFill>
          <a:ln w="19050">
            <a:solidFill>
              <a:srgbClr val="F5E6C8"/>
            </a:solidFill>
            <a:prstDash val="solid"/>
          </a:ln>
        </p:spPr>
      </p:sp>
      <p:sp>
        <p:nvSpPr>
          <p:cNvPr id="10" name="Text 8"/>
          <p:cNvSpPr/>
          <p:nvPr/>
        </p:nvSpPr>
        <p:spPr>
          <a:xfrm>
            <a:off x="5669280" y="1307592"/>
            <a:ext cx="292608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ANSWER CHECKLIST</a:t>
            </a:r>
            <a:endParaRPr lang="en-US" sz="900" dirty="0"/>
          </a:p>
        </p:txBody>
      </p:sp>
      <p:sp>
        <p:nvSpPr>
          <p:cNvPr id="11" name="Text 9"/>
          <p:cNvSpPr/>
          <p:nvPr/>
        </p:nvSpPr>
        <p:spPr>
          <a:xfrm>
            <a:off x="5669280" y="1600200"/>
            <a:ext cx="2926080" cy="1828800"/>
          </a:xfrm>
          <a:prstGeom prst="rect">
            <a:avLst/>
          </a:prstGeom>
          <a:noFill/>
          <a:ln/>
        </p:spPr>
        <p:txBody>
          <a:bodyPr wrap="square" lIns="0" tIns="0" rIns="0" bIns="0" rtlCol="0" anchor="t"/>
          <a:lstStyle/>
          <a:p>
            <a:pPr indent="0" marL="0">
              <a:buNone/>
            </a:pPr>
            <a:r>
              <a:rPr lang="en-US" sz="1200" dirty="0">
                <a:solidFill>
                  <a:srgbClr val="5A4A3A"/>
                </a:solidFill>
                <a:latin typeface="Calibri" pitchFamily="34" charset="0"/>
                <a:ea typeface="Calibri" pitchFamily="34" charset="-122"/>
                <a:cs typeface="Calibri" pitchFamily="34" charset="-120"/>
              </a:rPr>
              <a:t>__ Name the explorer</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__ Say where they sailed FROM</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__ Say where they ended up</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__ Name what they found</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__ Use ONE detail from the lesson</a:t>
            </a:r>
            <a:endParaRPr lang="en-US" sz="1200" dirty="0"/>
          </a:p>
        </p:txBody>
      </p:sp>
      <p:sp>
        <p:nvSpPr>
          <p:cNvPr id="12" name="Shape 10"/>
          <p:cNvSpPr/>
          <p:nvPr/>
        </p:nvSpPr>
        <p:spPr>
          <a:xfrm>
            <a:off x="457200" y="3749040"/>
            <a:ext cx="8321040" cy="804672"/>
          </a:xfrm>
          <a:prstGeom prst="roundRect">
            <a:avLst>
              <a:gd name="adj" fmla="val 13636"/>
            </a:avLst>
          </a:prstGeom>
          <a:solidFill>
            <a:srgbClr val="FFF3DC"/>
          </a:solidFill>
          <a:ln w="19050">
            <a:solidFill>
              <a:srgbClr val="F5E6C8"/>
            </a:solidFill>
            <a:prstDash val="solid"/>
          </a:ln>
        </p:spPr>
      </p:sp>
      <p:sp>
        <p:nvSpPr>
          <p:cNvPr id="13" name="Text 11"/>
          <p:cNvSpPr/>
          <p:nvPr/>
        </p:nvSpPr>
        <p:spPr>
          <a:xfrm>
            <a:off x="594360" y="3803904"/>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94360" y="4005072"/>
            <a:ext cx="804672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lesson detail I would use is..."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1A8A7D"/>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GUIDED PRACTICE  •  ASSIGNMENT Q2  •  WE TRY TOGETHER</a:t>
            </a:r>
            <a:endParaRPr lang="en-US" sz="1100" dirty="0"/>
          </a:p>
        </p:txBody>
      </p:sp>
      <p:sp>
        <p:nvSpPr>
          <p:cNvPr id="5" name="Text 3"/>
          <p:cNvSpPr/>
          <p:nvPr/>
        </p:nvSpPr>
        <p:spPr>
          <a:xfrm>
            <a:off x="457200" y="594360"/>
            <a:ext cx="8229600" cy="530352"/>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Q2: Why is it important for Route Curators to use evidence? What could go wrong if they relied only on legends?</a:t>
            </a:r>
            <a:endParaRPr lang="en-US" sz="1500" dirty="0"/>
          </a:p>
        </p:txBody>
      </p:sp>
      <p:sp>
        <p:nvSpPr>
          <p:cNvPr id="6" name="Shape 4"/>
          <p:cNvSpPr/>
          <p:nvPr/>
        </p:nvSpPr>
        <p:spPr>
          <a:xfrm>
            <a:off x="457200" y="1234440"/>
            <a:ext cx="4754880" cy="2331720"/>
          </a:xfrm>
          <a:prstGeom prst="roundRect">
            <a:avLst>
              <a:gd name="adj" fmla="val 4706"/>
            </a:avLst>
          </a:prstGeom>
          <a:solidFill>
            <a:srgbClr val="EAF8FD"/>
          </a:solidFill>
          <a:ln w="19050">
            <a:solidFill>
              <a:srgbClr val="B0D8EC"/>
            </a:solidFill>
            <a:prstDash val="solid"/>
          </a:ln>
        </p:spPr>
      </p:sp>
      <p:sp>
        <p:nvSpPr>
          <p:cNvPr id="7" name="Text 5"/>
          <p:cNvSpPr/>
          <p:nvPr/>
        </p:nvSpPr>
        <p:spPr>
          <a:xfrm>
            <a:off x="640080" y="1307592"/>
            <a:ext cx="438912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WE TRY TOGETHER</a:t>
            </a:r>
            <a:endParaRPr lang="en-US" sz="900" dirty="0"/>
          </a:p>
        </p:txBody>
      </p:sp>
      <p:sp>
        <p:nvSpPr>
          <p:cNvPr id="8" name="Text 6"/>
          <p:cNvSpPr/>
          <p:nvPr/>
        </p:nvSpPr>
        <p:spPr>
          <a:xfrm>
            <a:off x="640080" y="1600200"/>
            <a:ext cx="4389120" cy="18288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Think about Ponce de León's fountain of youth legend.</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If the museum used only that story: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What would visitors believe?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What would they NOT know?</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Would the exhibit be accurate?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does evidence give us that legends cannot?</a:t>
            </a:r>
            <a:endParaRPr lang="en-US" sz="1200" dirty="0"/>
          </a:p>
        </p:txBody>
      </p:sp>
      <p:sp>
        <p:nvSpPr>
          <p:cNvPr id="9" name="Shape 7"/>
          <p:cNvSpPr/>
          <p:nvPr/>
        </p:nvSpPr>
        <p:spPr>
          <a:xfrm>
            <a:off x="5394960" y="1234440"/>
            <a:ext cx="3383280" cy="2331720"/>
          </a:xfrm>
          <a:prstGeom prst="roundRect">
            <a:avLst>
              <a:gd name="adj" fmla="val 5882"/>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577840" y="1325880"/>
            <a:ext cx="30175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577840" y="1581912"/>
            <a:ext cx="3017520" cy="1892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goes wrong when a legend leaves out the real motive?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the fountain of youth story different from the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 legend tell us something useful even if it is not completely true?</a:t>
            </a:r>
            <a:endParaRPr lang="en-US" sz="1100" dirty="0"/>
          </a:p>
        </p:txBody>
      </p:sp>
      <p:sp>
        <p:nvSpPr>
          <p:cNvPr id="12" name="Shape 10"/>
          <p:cNvSpPr/>
          <p:nvPr/>
        </p:nvSpPr>
        <p:spPr>
          <a:xfrm>
            <a:off x="457200" y="3703320"/>
            <a:ext cx="8321040" cy="804672"/>
          </a:xfrm>
          <a:prstGeom prst="roundRect">
            <a:avLst>
              <a:gd name="adj" fmla="val 13636"/>
            </a:avLst>
          </a:prstGeom>
          <a:solidFill>
            <a:srgbClr val="FFF3DC"/>
          </a:solidFill>
          <a:ln w="19050">
            <a:solidFill>
              <a:srgbClr val="F5E6C8"/>
            </a:solidFill>
            <a:prstDash val="solid"/>
          </a:ln>
        </p:spPr>
      </p:sp>
      <p:sp>
        <p:nvSpPr>
          <p:cNvPr id="13" name="Text 11"/>
          <p:cNvSpPr/>
          <p:nvPr/>
        </p:nvSpPr>
        <p:spPr>
          <a:xfrm>
            <a:off x="594360" y="3758184"/>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94360" y="3959352"/>
            <a:ext cx="804672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"Evidence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curators used only legends, visitors would think... but not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problem with relying on legends 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E8636B"/>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SPOT THE MISTAKE  •  WHERE DID THIS CURATOR GO WRONG?</a:t>
            </a:r>
            <a:endParaRPr lang="en-US" sz="1100" dirty="0"/>
          </a:p>
        </p:txBody>
      </p:sp>
      <p:sp>
        <p:nvSpPr>
          <p:cNvPr id="5" name="Text 3"/>
          <p:cNvSpPr/>
          <p:nvPr/>
        </p:nvSpPr>
        <p:spPr>
          <a:xfrm>
            <a:off x="457200" y="594360"/>
            <a:ext cx="8229600" cy="32004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A student wrote this for the assignment:</a:t>
            </a:r>
            <a:endParaRPr lang="en-US" sz="1400" dirty="0"/>
          </a:p>
        </p:txBody>
      </p:sp>
      <p:sp>
        <p:nvSpPr>
          <p:cNvPr id="6" name="Shape 4"/>
          <p:cNvSpPr/>
          <p:nvPr/>
        </p:nvSpPr>
        <p:spPr>
          <a:xfrm>
            <a:off x="457200" y="1005840"/>
            <a:ext cx="8229600" cy="1188720"/>
          </a:xfrm>
          <a:prstGeom prst="roundRect">
            <a:avLst>
              <a:gd name="adj" fmla="val 9231"/>
            </a:avLst>
          </a:prstGeom>
          <a:solidFill>
            <a:srgbClr val="FFF0F0"/>
          </a:solidFill>
          <a:ln w="25400">
            <a:solidFill>
              <a:srgbClr val="F5C0C0"/>
            </a:solidFill>
            <a:prstDash val="solid"/>
          </a:ln>
        </p:spPr>
      </p:sp>
      <p:sp>
        <p:nvSpPr>
          <p:cNvPr id="7" name="Text 5"/>
          <p:cNvSpPr/>
          <p:nvPr/>
        </p:nvSpPr>
        <p:spPr>
          <a:xfrm>
            <a:off x="640080" y="1078992"/>
            <a:ext cx="7863840" cy="1024128"/>
          </a:xfrm>
          <a:prstGeom prst="rect">
            <a:avLst/>
          </a:prstGeom>
          <a:noFill/>
          <a:ln/>
        </p:spPr>
        <p:txBody>
          <a:bodyPr wrap="square" lIns="0" tIns="0" rIns="0" bIns="0" rtlCol="0" anchor="ctr"/>
          <a:lstStyle/>
          <a:p>
            <a:pPr indent="0" marL="0">
              <a:buNone/>
            </a:pPr>
            <a:r>
              <a:rPr lang="en-US" sz="1300" i="1" dirty="0">
                <a:solidFill>
                  <a:srgbClr val="7A1A1A"/>
                </a:solidFill>
                <a:latin typeface="Cambria" pitchFamily="34" charset="0"/>
                <a:ea typeface="Cambria" pitchFamily="34" charset="-122"/>
                <a:cs typeface="Cambria" pitchFamily="34" charset="-120"/>
              </a:rPr>
              <a:t>"Columbus sailed across the ocean and reached Asia in 1492. He was brave and discovered the whole New World. Magellan was famous because he invented the compass. Ponce de León found the fountain of youth in Florida."</a:t>
            </a:r>
            <a:endParaRPr lang="en-US" sz="1300" dirty="0"/>
          </a:p>
        </p:txBody>
      </p:sp>
      <p:sp>
        <p:nvSpPr>
          <p:cNvPr id="8" name="Shape 6"/>
          <p:cNvSpPr/>
          <p:nvPr/>
        </p:nvSpPr>
        <p:spPr>
          <a:xfrm>
            <a:off x="457200" y="2331720"/>
            <a:ext cx="4937760" cy="2423160"/>
          </a:xfrm>
          <a:prstGeom prst="roundRect">
            <a:avLst>
              <a:gd name="adj" fmla="val 566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42316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2679192"/>
            <a:ext cx="4572000" cy="1984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Find at least THREE errors. What lesson evidence proves each one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error would cause the most harm to a museum exhibit?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part of this response, if any, could be kept?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a museum visitor who reads these mistakes?</a:t>
            </a:r>
            <a:endParaRPr lang="en-US" sz="1100" dirty="0"/>
          </a:p>
        </p:txBody>
      </p:sp>
      <p:sp>
        <p:nvSpPr>
          <p:cNvPr id="11" name="Shape 9"/>
          <p:cNvSpPr/>
          <p:nvPr/>
        </p:nvSpPr>
        <p:spPr>
          <a:xfrm>
            <a:off x="5577840" y="2331720"/>
            <a:ext cx="3200400" cy="2423160"/>
          </a:xfrm>
          <a:prstGeom prst="roundRect">
            <a:avLst>
              <a:gd name="adj" fmla="val 4528"/>
            </a:avLst>
          </a:prstGeom>
          <a:solidFill>
            <a:srgbClr val="FFF3DC"/>
          </a:solidFill>
          <a:ln w="19050">
            <a:solidFill>
              <a:srgbClr val="F5E6C8"/>
            </a:solidFill>
            <a:prstDash val="solid"/>
          </a:ln>
        </p:spPr>
      </p:sp>
      <p:sp>
        <p:nvSpPr>
          <p:cNvPr id="12" name="Text 10"/>
          <p:cNvSpPr/>
          <p:nvPr/>
        </p:nvSpPr>
        <p:spPr>
          <a:xfrm>
            <a:off x="5715000" y="238658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587752"/>
            <a:ext cx="2926080" cy="2103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found a mistake: it says... but the lesson says..."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serious error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about... but missed..."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1188720"/>
            <a:ext cx="164592" cy="2194560"/>
          </a:xfrm>
          <a:prstGeom prst="rect">
            <a:avLst/>
          </a:prstGeom>
          <a:solidFill>
            <a:srgbClr val="D4943A"/>
          </a:solidFill>
          <a:ln/>
        </p:spPr>
      </p:sp>
      <p:sp>
        <p:nvSpPr>
          <p:cNvPr id="5" name="Shape 3"/>
          <p:cNvSpPr/>
          <p:nvPr/>
        </p:nvSpPr>
        <p:spPr>
          <a:xfrm>
            <a:off x="457200" y="274320"/>
            <a:ext cx="2103120" cy="347472"/>
          </a:xfrm>
          <a:prstGeom prst="roundRect">
            <a:avLst>
              <a:gd name="adj" fmla="val 47368"/>
            </a:avLst>
          </a:prstGeom>
          <a:solidFill>
            <a:srgbClr val="D4943A"/>
          </a:solidFill>
          <a:ln/>
        </p:spPr>
      </p:sp>
      <p:sp>
        <p:nvSpPr>
          <p:cNvPr id="6" name="Text 4"/>
          <p:cNvSpPr/>
          <p:nvPr/>
        </p:nvSpPr>
        <p:spPr>
          <a:xfrm>
            <a:off x="457200" y="274320"/>
            <a:ext cx="2103120" cy="347472"/>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VIRTUE SPOTLIGHT</a:t>
            </a:r>
            <a:endParaRPr lang="en-US" sz="1000" dirty="0"/>
          </a:p>
        </p:txBody>
      </p:sp>
      <p:sp>
        <p:nvSpPr>
          <p:cNvPr id="7" name="Text 5"/>
          <p:cNvSpPr/>
          <p:nvPr/>
        </p:nvSpPr>
        <p:spPr>
          <a:xfrm>
            <a:off x="457200" y="804672"/>
            <a:ext cx="8229600" cy="1005840"/>
          </a:xfrm>
          <a:prstGeom prst="rect">
            <a:avLst/>
          </a:prstGeom>
          <a:noFill/>
          <a:ln/>
        </p:spPr>
        <p:txBody>
          <a:bodyPr wrap="square" lIns="0" tIns="0" rIns="0" bIns="0" rtlCol="0" anchor="ctr"/>
          <a:lstStyle/>
          <a:p>
            <a:pPr indent="0" marL="0">
              <a:buNone/>
            </a:pPr>
            <a:r>
              <a:rPr lang="en-US" sz="5600" b="1" dirty="0">
                <a:solidFill>
                  <a:srgbClr val="D4943A"/>
                </a:solidFill>
                <a:latin typeface="Cambria" pitchFamily="34" charset="0"/>
                <a:ea typeface="Cambria" pitchFamily="34" charset="-122"/>
                <a:cs typeface="Cambria" pitchFamily="34" charset="-120"/>
              </a:rPr>
              <a:t>Courage</a:t>
            </a:r>
            <a:endParaRPr lang="en-US" sz="5600" dirty="0"/>
          </a:p>
        </p:txBody>
      </p:sp>
      <p:sp>
        <p:nvSpPr>
          <p:cNvPr id="8" name="Shape 6"/>
          <p:cNvSpPr/>
          <p:nvPr/>
        </p:nvSpPr>
        <p:spPr>
          <a:xfrm>
            <a:off x="457200" y="1920240"/>
            <a:ext cx="5486400" cy="1828800"/>
          </a:xfrm>
          <a:prstGeom prst="roundRect">
            <a:avLst>
              <a:gd name="adj" fmla="val 6000"/>
            </a:avLst>
          </a:prstGeom>
          <a:solidFill>
            <a:srgbClr val="1A2D5A"/>
          </a:solidFill>
          <a:ln/>
        </p:spPr>
      </p:sp>
      <p:sp>
        <p:nvSpPr>
          <p:cNvPr id="9" name="Text 7"/>
          <p:cNvSpPr/>
          <p:nvPr/>
        </p:nvSpPr>
        <p:spPr>
          <a:xfrm>
            <a:off x="640080" y="2011680"/>
            <a:ext cx="5120640" cy="16276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Each explorer we studied made a choice to face the unknown.</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Whether they sailed west across the Atlantic or south around Africa, they kept going when most people would have turned back.</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That is courage — even when their actions had complicated consequences.</a:t>
            </a:r>
            <a:endParaRPr lang="en-US" sz="1200" dirty="0"/>
          </a:p>
        </p:txBody>
      </p:sp>
      <p:sp>
        <p:nvSpPr>
          <p:cNvPr id="10" name="Shape 8"/>
          <p:cNvSpPr/>
          <p:nvPr/>
        </p:nvSpPr>
        <p:spPr>
          <a:xfrm>
            <a:off x="6126480" y="1920240"/>
            <a:ext cx="2743200"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6309360" y="2011680"/>
            <a:ext cx="2377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6309360" y="2267712"/>
            <a:ext cx="2377440"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show courage even if your actions turn out to be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explorer required the most courage? What is your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the crew's courage different from the captain's courage?</a:t>
            </a:r>
            <a:endParaRPr lang="en-US" sz="1100" dirty="0"/>
          </a:p>
        </p:txBody>
      </p:sp>
      <p:sp>
        <p:nvSpPr>
          <p:cNvPr id="13" name="Shape 11"/>
          <p:cNvSpPr/>
          <p:nvPr/>
        </p:nvSpPr>
        <p:spPr>
          <a:xfrm>
            <a:off x="457200" y="3913632"/>
            <a:ext cx="8229600" cy="594360"/>
          </a:xfrm>
          <a:prstGeom prst="roundRect">
            <a:avLst>
              <a:gd name="adj" fmla="val 15385"/>
            </a:avLst>
          </a:prstGeom>
          <a:solidFill>
            <a:srgbClr val="183060"/>
          </a:solidFill>
          <a:ln/>
        </p:spPr>
      </p:sp>
      <p:sp>
        <p:nvSpPr>
          <p:cNvPr id="14" name="Text 12"/>
          <p:cNvSpPr/>
          <p:nvPr/>
        </p:nvSpPr>
        <p:spPr>
          <a:xfrm>
            <a:off x="640080" y="3968496"/>
            <a:ext cx="7863840" cy="475488"/>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Think: Can you show courage even when the outcome is uncertain — or even wrong?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0E1C42"/>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ASSIGNMENT  •  EVIDENCE &amp; ASSIGNMENT TAB</a:t>
            </a:r>
            <a:endParaRPr lang="en-US" sz="1100" dirty="0"/>
          </a:p>
        </p:txBody>
      </p:sp>
      <p:sp>
        <p:nvSpPr>
          <p:cNvPr id="5" name="Text 3"/>
          <p:cNvSpPr/>
          <p:nvPr/>
        </p:nvSpPr>
        <p:spPr>
          <a:xfrm>
            <a:off x="457200" y="566928"/>
            <a:ext cx="8229600" cy="41148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Your Curator Tasks</a:t>
            </a:r>
            <a:endParaRPr lang="en-US" sz="2600" dirty="0"/>
          </a:p>
        </p:txBody>
      </p:sp>
      <p:sp>
        <p:nvSpPr>
          <p:cNvPr id="6" name="Shape 4"/>
          <p:cNvSpPr/>
          <p:nvPr/>
        </p:nvSpPr>
        <p:spPr>
          <a:xfrm>
            <a:off x="365760" y="1078992"/>
            <a:ext cx="4846320" cy="2834640"/>
          </a:xfrm>
          <a:prstGeom prst="roundRect">
            <a:avLst>
              <a:gd name="adj" fmla="val 3871"/>
            </a:avLst>
          </a:prstGeom>
          <a:solidFill>
            <a:srgbClr val="EAF8FD"/>
          </a:solidFill>
          <a:ln w="25400">
            <a:solidFill>
              <a:srgbClr val="B0D8EC"/>
            </a:solidFill>
            <a:prstDash val="solid"/>
          </a:ln>
        </p:spPr>
      </p:sp>
      <p:sp>
        <p:nvSpPr>
          <p:cNvPr id="7" name="Text 5"/>
          <p:cNvSpPr/>
          <p:nvPr/>
        </p:nvSpPr>
        <p:spPr>
          <a:xfrm>
            <a:off x="548640" y="1152144"/>
            <a:ext cx="448056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8" name="Text 6"/>
          <p:cNvSpPr/>
          <p:nvPr/>
        </p:nvSpPr>
        <p:spPr>
          <a:xfrm>
            <a:off x="548640" y="1444752"/>
            <a:ext cx="4480560" cy="8229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Q1: Choose one explorer from today's lesson. Describe where they traveled and what they found. Use a detail from the lesson.</a:t>
            </a:r>
            <a:endParaRPr lang="en-US" sz="1200" dirty="0"/>
          </a:p>
        </p:txBody>
      </p:sp>
      <p:sp>
        <p:nvSpPr>
          <p:cNvPr id="9" name="Shape 7"/>
          <p:cNvSpPr/>
          <p:nvPr/>
        </p:nvSpPr>
        <p:spPr>
          <a:xfrm>
            <a:off x="594360" y="2304288"/>
            <a:ext cx="4389120" cy="22860"/>
          </a:xfrm>
          <a:prstGeom prst="roundRect">
            <a:avLst/>
          </a:prstGeom>
          <a:solidFill>
            <a:srgbClr val="C0D8EC"/>
          </a:solidFill>
          <a:ln/>
        </p:spPr>
      </p:sp>
      <p:sp>
        <p:nvSpPr>
          <p:cNvPr id="10" name="Text 8"/>
          <p:cNvSpPr/>
          <p:nvPr/>
        </p:nvSpPr>
        <p:spPr>
          <a:xfrm>
            <a:off x="548640" y="2377440"/>
            <a:ext cx="4480560" cy="138988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Q2: Why is it important for Route Curators to use evidence when building an explorer exhibit? What could go wrong if they relied only on legends?</a:t>
            </a:r>
            <a:endParaRPr lang="en-US" sz="1200" dirty="0"/>
          </a:p>
        </p:txBody>
      </p:sp>
      <p:sp>
        <p:nvSpPr>
          <p:cNvPr id="11" name="Shape 9"/>
          <p:cNvSpPr/>
          <p:nvPr/>
        </p:nvSpPr>
        <p:spPr>
          <a:xfrm>
            <a:off x="5394960" y="1078992"/>
            <a:ext cx="3383280" cy="2834640"/>
          </a:xfrm>
          <a:prstGeom prst="roundRect">
            <a:avLst>
              <a:gd name="adj" fmla="val 3871"/>
            </a:avLst>
          </a:prstGeom>
          <a:solidFill>
            <a:srgbClr val="FFF3DC"/>
          </a:solidFill>
          <a:ln w="25400">
            <a:solidFill>
              <a:srgbClr val="F5E6C8"/>
            </a:solidFill>
            <a:prstDash val="solid"/>
          </a:ln>
        </p:spPr>
      </p:sp>
      <p:sp>
        <p:nvSpPr>
          <p:cNvPr id="12" name="Text 10"/>
          <p:cNvSpPr/>
          <p:nvPr/>
        </p:nvSpPr>
        <p:spPr>
          <a:xfrm>
            <a:off x="5577840" y="1152144"/>
            <a:ext cx="30175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13" name="Text 11"/>
          <p:cNvSpPr/>
          <p:nvPr/>
        </p:nvSpPr>
        <p:spPr>
          <a:xfrm>
            <a:off x="5577840" y="1444752"/>
            <a:ext cx="3017520" cy="2331720"/>
          </a:xfrm>
          <a:prstGeom prst="rect">
            <a:avLst/>
          </a:prstGeom>
          <a:noFill/>
          <a:ln/>
        </p:spPr>
        <p:txBody>
          <a:bodyPr wrap="square" lIns="0" tIns="0" rIns="0" bIns="0" rtlCol="0" anchor="t"/>
          <a:lstStyle/>
          <a:p>
            <a:pPr indent="0" marL="0">
              <a:buNone/>
            </a:pPr>
            <a:r>
              <a:rPr lang="en-US" sz="1200" dirty="0">
                <a:solidFill>
                  <a:srgbClr val="5A4A3A"/>
                </a:solidFill>
                <a:latin typeface="Calibri" pitchFamily="34" charset="0"/>
                <a:ea typeface="Calibri" pitchFamily="34" charset="-122"/>
                <a:cs typeface="Calibri" pitchFamily="34" charset="-120"/>
              </a:rPr>
              <a:t>Explorer Portrait Label</a:t>
            </a:r>
            <a:endParaRPr lang="en-US" sz="1200" dirty="0"/>
          </a:p>
          <a:p>
            <a:pPr indent="0" marL="0">
              <a:buNone/>
            </a:pP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Choose one explorer. Write 3-4 sentences for the Exploration Wing portrait label. Include:</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 Who they were</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 Where they traveled</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 What they discovered</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 One specific lesson detail</a:t>
            </a:r>
            <a:endParaRPr lang="en-US" sz="1200" dirty="0"/>
          </a:p>
        </p:txBody>
      </p:sp>
      <p:sp>
        <p:nvSpPr>
          <p:cNvPr id="14" name="Shape 12"/>
          <p:cNvSpPr/>
          <p:nvPr/>
        </p:nvSpPr>
        <p:spPr>
          <a:xfrm>
            <a:off x="365760" y="4041648"/>
            <a:ext cx="8412480" cy="685800"/>
          </a:xfrm>
          <a:prstGeom prst="roundRect">
            <a:avLst>
              <a:gd name="adj" fmla="val 13333"/>
            </a:avLst>
          </a:prstGeom>
          <a:solidFill>
            <a:srgbClr val="1A2D5A"/>
          </a:solidFill>
          <a:ln/>
        </p:spPr>
      </p:sp>
      <p:sp>
        <p:nvSpPr>
          <p:cNvPr id="15" name="Text 13"/>
          <p:cNvSpPr/>
          <p:nvPr/>
        </p:nvSpPr>
        <p:spPr>
          <a:xfrm>
            <a:off x="548640" y="4105656"/>
            <a:ext cx="8046720" cy="54864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Curator's Chronicle: "In this exhibit, I learned that _______ because _______."</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75488"/>
          </a:xfrm>
          <a:prstGeom prst="rect">
            <a:avLst/>
          </a:prstGeom>
          <a:solidFill>
            <a:srgbClr val="8B6FC0"/>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RETRIEVAL CHALLENGE  •  CLOSE YOUR NOTES</a:t>
            </a:r>
            <a:endParaRPr lang="en-US" sz="1100" dirty="0"/>
          </a:p>
        </p:txBody>
      </p:sp>
      <p:sp>
        <p:nvSpPr>
          <p:cNvPr id="5" name="Text 3"/>
          <p:cNvSpPr/>
          <p:nvPr/>
        </p:nvSpPr>
        <p:spPr>
          <a:xfrm>
            <a:off x="457200" y="621792"/>
            <a:ext cx="8229600" cy="438912"/>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From Memory — Three Questions</a:t>
            </a:r>
            <a:endParaRPr lang="en-US" sz="2600" dirty="0"/>
          </a:p>
        </p:txBody>
      </p:sp>
      <p:sp>
        <p:nvSpPr>
          <p:cNvPr id="6" name="Shape 4"/>
          <p:cNvSpPr/>
          <p:nvPr/>
        </p:nvSpPr>
        <p:spPr>
          <a:xfrm>
            <a:off x="365760" y="1170432"/>
            <a:ext cx="2578608" cy="2331720"/>
          </a:xfrm>
          <a:prstGeom prst="roundRect">
            <a:avLst>
              <a:gd name="adj" fmla="val 4706"/>
            </a:avLst>
          </a:prstGeom>
          <a:solidFill>
            <a:srgbClr val="F0E8FF"/>
          </a:solidFill>
          <a:ln w="19050">
            <a:solidFill>
              <a:srgbClr val="C0A8E8"/>
            </a:solidFill>
            <a:prstDash val="solid"/>
          </a:ln>
        </p:spPr>
      </p:sp>
      <p:sp>
        <p:nvSpPr>
          <p:cNvPr id="7" name="Text 5"/>
          <p:cNvSpPr/>
          <p:nvPr/>
        </p:nvSpPr>
        <p:spPr>
          <a:xfrm>
            <a:off x="502920" y="1243584"/>
            <a:ext cx="2304288"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CHALLENGE 1</a:t>
            </a:r>
            <a:endParaRPr lang="en-US" sz="900" dirty="0"/>
          </a:p>
        </p:txBody>
      </p:sp>
      <p:sp>
        <p:nvSpPr>
          <p:cNvPr id="8" name="Text 6"/>
          <p:cNvSpPr/>
          <p:nvPr/>
        </p:nvSpPr>
        <p:spPr>
          <a:xfrm>
            <a:off x="502920" y="1554480"/>
            <a:ext cx="2304288" cy="1691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Name all three explorers and one discovery for each.</a:t>
            </a:r>
            <a:endParaRPr lang="en-US" sz="1400" dirty="0"/>
          </a:p>
        </p:txBody>
      </p:sp>
      <p:sp>
        <p:nvSpPr>
          <p:cNvPr id="9" name="Shape 7"/>
          <p:cNvSpPr/>
          <p:nvPr/>
        </p:nvSpPr>
        <p:spPr>
          <a:xfrm>
            <a:off x="3246120" y="1170432"/>
            <a:ext cx="2578608" cy="2331720"/>
          </a:xfrm>
          <a:prstGeom prst="roundRect">
            <a:avLst>
              <a:gd name="adj" fmla="val 4706"/>
            </a:avLst>
          </a:prstGeom>
          <a:solidFill>
            <a:srgbClr val="F0E8FF"/>
          </a:solidFill>
          <a:ln w="19050">
            <a:solidFill>
              <a:srgbClr val="C0A8E8"/>
            </a:solidFill>
            <a:prstDash val="solid"/>
          </a:ln>
        </p:spPr>
      </p:sp>
      <p:sp>
        <p:nvSpPr>
          <p:cNvPr id="10" name="Text 8"/>
          <p:cNvSpPr/>
          <p:nvPr/>
        </p:nvSpPr>
        <p:spPr>
          <a:xfrm>
            <a:off x="3383280" y="1243584"/>
            <a:ext cx="2304288"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CHALLENGE 2</a:t>
            </a:r>
            <a:endParaRPr lang="en-US" sz="900" dirty="0"/>
          </a:p>
        </p:txBody>
      </p:sp>
      <p:sp>
        <p:nvSpPr>
          <p:cNvPr id="11" name="Text 9"/>
          <p:cNvSpPr/>
          <p:nvPr/>
        </p:nvSpPr>
        <p:spPr>
          <a:xfrm>
            <a:off x="3383280" y="1554480"/>
            <a:ext cx="2304288" cy="169164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Which explorer's crew completed the first circumnavigation? What does circumnavigation mean?</a:t>
            </a:r>
            <a:endParaRPr lang="en-US" sz="1300" dirty="0"/>
          </a:p>
        </p:txBody>
      </p:sp>
      <p:sp>
        <p:nvSpPr>
          <p:cNvPr id="12" name="Shape 10"/>
          <p:cNvSpPr/>
          <p:nvPr/>
        </p:nvSpPr>
        <p:spPr>
          <a:xfrm>
            <a:off x="6126480" y="1170432"/>
            <a:ext cx="2578608" cy="2331720"/>
          </a:xfrm>
          <a:prstGeom prst="roundRect">
            <a:avLst>
              <a:gd name="adj" fmla="val 4706"/>
            </a:avLst>
          </a:prstGeom>
          <a:solidFill>
            <a:srgbClr val="F0E8FF"/>
          </a:solidFill>
          <a:ln w="19050">
            <a:solidFill>
              <a:srgbClr val="C0A8E8"/>
            </a:solidFill>
            <a:prstDash val="solid"/>
          </a:ln>
        </p:spPr>
      </p:sp>
      <p:sp>
        <p:nvSpPr>
          <p:cNvPr id="13" name="Text 11"/>
          <p:cNvSpPr/>
          <p:nvPr/>
        </p:nvSpPr>
        <p:spPr>
          <a:xfrm>
            <a:off x="6263640" y="1243584"/>
            <a:ext cx="2304288"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CHALLENGE 3</a:t>
            </a:r>
            <a:endParaRPr lang="en-US" sz="900" dirty="0"/>
          </a:p>
        </p:txBody>
      </p:sp>
      <p:sp>
        <p:nvSpPr>
          <p:cNvPr id="14" name="Text 12"/>
          <p:cNvSpPr/>
          <p:nvPr/>
        </p:nvSpPr>
        <p:spPr>
          <a:xfrm>
            <a:off x="6263640" y="1554480"/>
            <a:ext cx="2304288" cy="1691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Why do curators use evidence instead of legends? Give one reason.</a:t>
            </a:r>
            <a:endParaRPr lang="en-US" sz="1400" dirty="0"/>
          </a:p>
        </p:txBody>
      </p:sp>
      <p:sp>
        <p:nvSpPr>
          <p:cNvPr id="15" name="Shape 13"/>
          <p:cNvSpPr/>
          <p:nvPr/>
        </p:nvSpPr>
        <p:spPr>
          <a:xfrm>
            <a:off x="365760" y="3630168"/>
            <a:ext cx="8412480" cy="804672"/>
          </a:xfrm>
          <a:prstGeom prst="roundRect">
            <a:avLst>
              <a:gd name="adj" fmla="val 13636"/>
            </a:avLst>
          </a:prstGeom>
          <a:solidFill>
            <a:srgbClr val="FFF3DC"/>
          </a:solidFill>
          <a:ln w="19050">
            <a:solidFill>
              <a:srgbClr val="F5E6C8"/>
            </a:solidFill>
            <a:prstDash val="solid"/>
          </a:ln>
        </p:spPr>
      </p:sp>
      <p:sp>
        <p:nvSpPr>
          <p:cNvPr id="16" name="Text 14"/>
          <p:cNvSpPr/>
          <p:nvPr/>
        </p:nvSpPr>
        <p:spPr>
          <a:xfrm>
            <a:off x="502920" y="368503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3886200"/>
            <a:ext cx="813816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remember...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evidence today was..."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1920240"/>
            <a:ext cx="164592" cy="1280160"/>
          </a:xfrm>
          <a:prstGeom prst="rect">
            <a:avLst/>
          </a:prstGeom>
          <a:solidFill>
            <a:srgbClr val="D4943A"/>
          </a:solidFill>
          <a:ln/>
        </p:spPr>
      </p:sp>
      <p:sp>
        <p:nvSpPr>
          <p:cNvPr id="5" name="Shape 3"/>
          <p:cNvSpPr/>
          <p:nvPr/>
        </p:nvSpPr>
        <p:spPr>
          <a:xfrm>
            <a:off x="457200" y="274320"/>
            <a:ext cx="2926080" cy="365760"/>
          </a:xfrm>
          <a:prstGeom prst="roundRect">
            <a:avLst>
              <a:gd name="adj" fmla="val 45000"/>
            </a:avLst>
          </a:prstGeom>
          <a:solidFill>
            <a:srgbClr val="1A8A7D"/>
          </a:solidFill>
          <a:ln/>
        </p:spPr>
      </p:sp>
      <p:sp>
        <p:nvSpPr>
          <p:cNvPr id="6" name="Text 4"/>
          <p:cNvSpPr/>
          <p:nvPr/>
        </p:nvSpPr>
        <p:spPr>
          <a:xfrm>
            <a:off x="457200" y="274320"/>
            <a:ext cx="29260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Route Curator  •  Mission Complete</a:t>
            </a:r>
            <a:endParaRPr lang="en-US" sz="1100" dirty="0"/>
          </a:p>
        </p:txBody>
      </p:sp>
      <p:sp>
        <p:nvSpPr>
          <p:cNvPr id="7" name="Text 5"/>
          <p:cNvSpPr/>
          <p:nvPr/>
        </p:nvSpPr>
        <p:spPr>
          <a:xfrm>
            <a:off x="457200" y="822960"/>
            <a:ext cx="8229600" cy="1554480"/>
          </a:xfrm>
          <a:prstGeom prst="rect">
            <a:avLst/>
          </a:prstGeom>
          <a:noFill/>
          <a:ln/>
        </p:spPr>
        <p:txBody>
          <a:bodyPr wrap="square" lIns="0" tIns="0" rIns="0" bIns="0" rtlCol="0" anchor="ctr"/>
          <a:lstStyle/>
          <a:p>
            <a:pPr indent="0" marL="0">
              <a:buNone/>
            </a:pPr>
            <a:r>
              <a:rPr lang="en-US" sz="4600" b="1" dirty="0">
                <a:solidFill>
                  <a:srgbClr val="D4943A"/>
                </a:solidFill>
                <a:latin typeface="Cambria" pitchFamily="34" charset="0"/>
                <a:ea typeface="Cambria" pitchFamily="34" charset="-122"/>
                <a:cs typeface="Cambria" pitchFamily="34" charset="-120"/>
              </a:rPr>
              <a:t>Great Work,</a:t>
            </a:r>
            <a:endParaRPr lang="en-US" sz="4600" dirty="0"/>
          </a:p>
          <a:p>
            <a:pPr indent="0" marL="0">
              <a:buNone/>
            </a:pPr>
            <a:r>
              <a:rPr lang="en-US" sz="4600" b="1" dirty="0">
                <a:solidFill>
                  <a:srgbClr val="D4943A"/>
                </a:solidFill>
                <a:latin typeface="Cambria" pitchFamily="34" charset="0"/>
                <a:ea typeface="Cambria" pitchFamily="34" charset="-122"/>
                <a:cs typeface="Cambria" pitchFamily="34" charset="-120"/>
              </a:rPr>
              <a:t>Route Curator!</a:t>
            </a:r>
            <a:endParaRPr lang="en-US" sz="4600" dirty="0"/>
          </a:p>
        </p:txBody>
      </p:sp>
      <p:sp>
        <p:nvSpPr>
          <p:cNvPr id="8" name="Shape 6"/>
          <p:cNvSpPr/>
          <p:nvPr/>
        </p:nvSpPr>
        <p:spPr>
          <a:xfrm>
            <a:off x="457200" y="2487168"/>
            <a:ext cx="5303520" cy="1389888"/>
          </a:xfrm>
          <a:prstGeom prst="roundRect">
            <a:avLst>
              <a:gd name="adj" fmla="val 7895"/>
            </a:avLst>
          </a:prstGeom>
          <a:solidFill>
            <a:srgbClr val="1A2D5A"/>
          </a:solidFill>
          <a:ln/>
        </p:spPr>
      </p:sp>
      <p:sp>
        <p:nvSpPr>
          <p:cNvPr id="9" name="Text 7"/>
          <p:cNvSpPr/>
          <p:nvPr/>
        </p:nvSpPr>
        <p:spPr>
          <a:xfrm>
            <a:off x="640080" y="2560320"/>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 YOU:</a:t>
            </a:r>
            <a:endParaRPr lang="en-US" sz="900" dirty="0"/>
          </a:p>
        </p:txBody>
      </p:sp>
      <p:sp>
        <p:nvSpPr>
          <p:cNvPr id="10" name="Text 8"/>
          <p:cNvSpPr/>
          <p:nvPr/>
        </p:nvSpPr>
        <p:spPr>
          <a:xfrm>
            <a:off x="640080" y="2852928"/>
            <a:ext cx="493776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Matched portraits to route cards using evidence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Studied Columbus, Magellan, and Ponce de León</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Wrote a portrait label for the Exploration Wing</a:t>
            </a:r>
            <a:endParaRPr lang="en-US" sz="1300" dirty="0"/>
          </a:p>
        </p:txBody>
      </p:sp>
      <p:sp>
        <p:nvSpPr>
          <p:cNvPr id="11" name="Shape 9"/>
          <p:cNvSpPr/>
          <p:nvPr/>
        </p:nvSpPr>
        <p:spPr>
          <a:xfrm>
            <a:off x="5943600" y="2487168"/>
            <a:ext cx="2834640" cy="1389888"/>
          </a:xfrm>
          <a:prstGeom prst="roundRect">
            <a:avLst>
              <a:gd name="adj" fmla="val 7895"/>
            </a:avLst>
          </a:prstGeom>
          <a:solidFill>
            <a:srgbClr val="183060"/>
          </a:solidFill>
          <a:ln/>
        </p:spPr>
      </p:sp>
      <p:sp>
        <p:nvSpPr>
          <p:cNvPr id="12" name="Text 10"/>
          <p:cNvSpPr/>
          <p:nvPr/>
        </p:nvSpPr>
        <p:spPr>
          <a:xfrm>
            <a:off x="6126480" y="2560320"/>
            <a:ext cx="246888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3" name="Text 11"/>
          <p:cNvSpPr/>
          <p:nvPr/>
        </p:nvSpPr>
        <p:spPr>
          <a:xfrm>
            <a:off x="6126480" y="2852928"/>
            <a:ext cx="2468880" cy="9144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ships these explorers sailed and the science that made ocean travel possible.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ship-and-science display needs your help!</a:t>
            </a:r>
            <a:endParaRPr lang="en-US" sz="1100" dirty="0"/>
          </a:p>
        </p:txBody>
      </p:sp>
      <p:sp>
        <p:nvSpPr>
          <p:cNvPr id="14" name="Shape 12"/>
          <p:cNvSpPr/>
          <p:nvPr/>
        </p:nvSpPr>
        <p:spPr>
          <a:xfrm>
            <a:off x="457200" y="4023360"/>
            <a:ext cx="8229600" cy="594360"/>
          </a:xfrm>
          <a:prstGeom prst="roundRect">
            <a:avLst>
              <a:gd name="adj" fmla="val 15385"/>
            </a:avLst>
          </a:prstGeom>
          <a:solidFill>
            <a:srgbClr val="183060"/>
          </a:solidFill>
          <a:ln/>
        </p:spPr>
      </p:sp>
      <p:sp>
        <p:nvSpPr>
          <p:cNvPr id="15" name="Text 13"/>
          <p:cNvSpPr/>
          <p:nvPr/>
        </p:nvSpPr>
        <p:spPr>
          <a:xfrm>
            <a:off x="457200" y="4078224"/>
            <a:ext cx="8229600" cy="475488"/>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Lesson 3.02.03 complete  •  Optima Academy Online  •  Social Studies Grade 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2026-07-10T22:33:20Z</dcterms:created>
  <dcterms:modified xsi:type="dcterms:W3CDTF">2026-07-10T22:33:20Z</dcterms:modified>
</cp:coreProperties>
</file>