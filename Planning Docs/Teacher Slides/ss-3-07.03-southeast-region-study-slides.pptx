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IMAGE TO INSERT: Southeast US region -- orange groves, coastal beaches, Appalachian foothills at golden hour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IMAGE TO INSERT: Midwest region teaser -- golden wheat field, Great Lakes aerial, red barn, corn stalks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835"/>
          </a:solidFill>
          <a:ln w="19050">
            <a:solidFill>
              <a:srgbClr val="3A5080"/>
            </a:solidFill>
            <a:prstDash val="dash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C42">
              <a:alpha val="62000"/>
            </a:srgbClr>
          </a:solidFill>
          <a:ln/>
        </p:spPr>
      </p:sp>
      <p:sp>
        <p:nvSpPr>
          <p:cNvPr id="5" name="Text 2"/>
          <p:cNvSpPr/>
          <p:nvPr/>
        </p:nvSpPr>
        <p:spPr>
          <a:xfrm>
            <a:off x="1463040" y="1950720"/>
            <a:ext cx="9144000" cy="1463040"/>
          </a:xfrm>
          <a:prstGeom prst="rect">
            <a:avLst/>
          </a:prstGeom>
          <a:noFill/>
          <a:ln/>
          <a:effectLst>
            <a:outerShdw sx="100000" sy="100000" kx="0" ky="0" algn="bl" rotWithShape="0" blurRad="76200" dist="25400" dir="8100000">
              <a:srgbClr val="000000">
                <a:alpha val="35000"/>
              </a:srgbClr>
            </a:outerShdw>
          </a:effectLst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D494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Southeast Region Study</a:t>
            </a:r>
            <a:endParaRPr lang="en-US" sz="4200" dirty="0"/>
          </a:p>
        </p:txBody>
      </p:sp>
      <p:sp>
        <p:nvSpPr>
          <p:cNvPr id="6" name="Text 3"/>
          <p:cNvSpPr/>
          <p:nvPr/>
        </p:nvSpPr>
        <p:spPr>
          <a:xfrm>
            <a:off x="1463040" y="3291840"/>
            <a:ext cx="9144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Great Map Room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1463040" y="4023360"/>
            <a:ext cx="91440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3.07.03  |  Week 20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975360" y="6096000"/>
            <a:ext cx="975360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8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SS.3.G.2.2 | SS.3.G.2.3 | SS.3.G.2.5 | SS.3.G.2.6 | SS.3.G.4.1 | SS.3.G.4.4 | SS.3.AA.1.1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2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0E1C42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91440"/>
            <a:ext cx="4876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49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Optima Academy Online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9265615" y="9144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3.07.03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31520" y="853440"/>
            <a:ext cx="1036320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E1C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Curator's Question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731520" y="1828800"/>
            <a:ext cx="10363200" cy="3901440"/>
          </a:xfrm>
          <a:prstGeom prst="roundRect">
            <a:avLst>
              <a:gd name="adj" fmla="val 3750"/>
            </a:avLst>
          </a:prstGeom>
          <a:solidFill>
            <a:srgbClr val="FFF3DC"/>
          </a:solidFill>
          <a:ln w="19050">
            <a:solidFill>
              <a:srgbClr val="F5E6C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1901952"/>
            <a:ext cx="999744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D49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FRAME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14400" y="2167128"/>
            <a:ext cx="9997440" cy="3471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700"/>
              </a:spcAft>
              <a:buNone/>
            </a:pPr>
            <a:r>
              <a:rPr lang="en-US" sz="1600" i="1" dirty="0">
                <a:solidFill>
                  <a:srgbClr val="5A4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"A new crate just arrived, labeled GULF &amp; ATLANTIC. Inside: orange grove photos, peanuts, a Florida coast map, and a jar of swamp water."</a:t>
            </a:r>
            <a:endParaRPr lang="en-US" sz="16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600" i="1" dirty="0">
                <a:solidFill>
                  <a:srgbClr val="5A4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"Different region, different story. Tell me -- how is the Southeast like the Northeast, and how is it different?"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7071360" y="5974080"/>
            <a:ext cx="4876800" cy="2194560"/>
          </a:xfrm>
          <a:prstGeom prst="roundRect">
            <a:avLst>
              <a:gd name="adj" fmla="val 6667"/>
            </a:avLst>
          </a:prstGeom>
          <a:solidFill>
            <a:srgbClr val="E2E8F4"/>
          </a:solidFill>
          <a:ln w="19050">
            <a:solidFill>
              <a:srgbClr val="B0B8CC"/>
            </a:solidFill>
            <a:prstDash val="dash"/>
          </a:ln>
        </p:spPr>
      </p:sp>
      <p:sp>
        <p:nvSpPr>
          <p:cNvPr id="11" name="Text 9"/>
          <p:cNvSpPr/>
          <p:nvPr/>
        </p:nvSpPr>
        <p:spPr>
          <a:xfrm>
            <a:off x="7071360" y="5974080"/>
            <a:ext cx="487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50" kern="0" dirty="0">
                <a:solidFill>
                  <a:srgbClr val="7A8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IMAGE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254240" y="6339840"/>
            <a:ext cx="4511040" cy="1709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7A8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Wooden museum crate with Southeast artifacts: oranges, peanut bag, Florida map, jar of green water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731520" y="6217920"/>
            <a:ext cx="609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1A8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Think: What clues do these artifacts give you about this new region?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2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0E1C42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91440"/>
            <a:ext cx="4876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49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Optima Academy Online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9265615" y="9144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3.07.03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31520" y="853440"/>
            <a:ext cx="1036320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E1C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Virtue Spotlight: Courtesy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731520" y="1950720"/>
            <a:ext cx="5120640" cy="4389120"/>
          </a:xfrm>
          <a:prstGeom prst="roundRect">
            <a:avLst>
              <a:gd name="adj" fmla="val 3333"/>
            </a:avLst>
          </a:prstGeom>
          <a:solidFill>
            <a:srgbClr val="FFF8F0"/>
          </a:solidFill>
          <a:ln w="15240">
            <a:solidFill>
              <a:srgbClr val="F5E6C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1097280" y="2194560"/>
            <a:ext cx="4389120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D494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Courtesy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1097280" y="2865120"/>
            <a:ext cx="4389120" cy="3169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160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Courtesy means using kind, careful words -- especially when we talk about real places where real people live.</a:t>
            </a:r>
            <a:endParaRPr lang="en-US" sz="16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60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 we study the Southeast. The people, land, and traditions there matter. We describe them with respect.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1A8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Role Today: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 a courteous museum curator -- share facts with care and respect.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339840" y="1950720"/>
            <a:ext cx="5486400" cy="4389120"/>
          </a:xfrm>
          <a:prstGeom prst="roundRect">
            <a:avLst>
              <a:gd name="adj" fmla="val 3333"/>
            </a:avLst>
          </a:prstGeom>
          <a:solidFill>
            <a:srgbClr val="EAF8FD"/>
          </a:solidFill>
          <a:ln w="15240">
            <a:solidFill>
              <a:srgbClr val="B8DF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705600" y="2194560"/>
            <a:ext cx="4876800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8A7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Thinking Routine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6705600" y="2865120"/>
            <a:ext cx="4876800" cy="3413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800" b="1" dirty="0">
                <a:solidFill>
                  <a:srgbClr val="1A8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NOTICE</a:t>
            </a:r>
            <a:endParaRPr lang="en-US" sz="18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is the Southeast? What do you see on the map?</a:t>
            </a:r>
            <a:endParaRPr lang="en-US" sz="18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800" b="1" dirty="0">
                <a:solidFill>
                  <a:srgbClr val="1A8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</a:t>
            </a:r>
            <a:endParaRPr lang="en-US" sz="18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the land, water, weather, and ways of life.</a:t>
            </a:r>
            <a:endParaRPr lang="en-US" sz="18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800" b="1" dirty="0">
                <a:solidFill>
                  <a:srgbClr val="1A8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NARRATE</a:t>
            </a:r>
            <a:endParaRPr lang="en-US" sz="1800" dirty="0"/>
          </a:p>
          <a:p>
            <a:pPr indent="0" marL="0">
              <a:buNone/>
            </a:pPr>
            <a:r>
              <a:rPr lang="en-US" sz="150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Tell the story of the Southeast in your own words.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2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0E1C42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91440"/>
            <a:ext cx="4876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49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Optima Academy Online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9265615" y="9144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3.07.03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731520" y="792480"/>
            <a:ext cx="1828800" cy="365760"/>
          </a:xfrm>
          <a:prstGeom prst="roundRect">
            <a:avLst>
              <a:gd name="adj" fmla="val 30000"/>
            </a:avLst>
          </a:prstGeom>
          <a:solidFill>
            <a:srgbClr val="1A8A7D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7924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NOTICE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2926080" y="792480"/>
            <a:ext cx="7315200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E1C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Is the Southeast?</a:t>
            </a:r>
            <a:endParaRPr lang="en-US" sz="2600" dirty="0"/>
          </a:p>
        </p:txBody>
      </p:sp>
      <p:sp>
        <p:nvSpPr>
          <p:cNvPr id="9" name="Shape 7"/>
          <p:cNvSpPr/>
          <p:nvPr/>
        </p:nvSpPr>
        <p:spPr>
          <a:xfrm>
            <a:off x="731520" y="1828800"/>
            <a:ext cx="6705600" cy="5120640"/>
          </a:xfrm>
          <a:prstGeom prst="roundRect">
            <a:avLst>
              <a:gd name="adj" fmla="val 2857"/>
            </a:avLst>
          </a:prstGeom>
          <a:solidFill>
            <a:srgbClr val="E2E8F4"/>
          </a:solidFill>
          <a:ln w="19050">
            <a:solidFill>
              <a:srgbClr val="B0B8CC"/>
            </a:solidFill>
            <a:prstDash val="dash"/>
          </a:ln>
        </p:spPr>
      </p:sp>
      <p:sp>
        <p:nvSpPr>
          <p:cNvPr id="10" name="Text 8"/>
          <p:cNvSpPr/>
          <p:nvPr/>
        </p:nvSpPr>
        <p:spPr>
          <a:xfrm>
            <a:off x="731520" y="1828800"/>
            <a:ext cx="670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50" kern="0" dirty="0">
                <a:solidFill>
                  <a:srgbClr val="7A8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IMAGE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914400" y="2194560"/>
            <a:ext cx="6339840" cy="46360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7A8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U.S. map with Southeast region highlighted in warm orange/coral, Atlantic Ocean and Gulf of Mexico labeled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7924800" y="1828800"/>
            <a:ext cx="4023360" cy="512064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5240">
            <a:solidFill>
              <a:srgbClr val="D6DAE6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168640" y="2072640"/>
            <a:ext cx="3657600" cy="463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2000" b="1" dirty="0">
                <a:solidFill>
                  <a:srgbClr val="0E1C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Southeast Region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Lower-right corner of the United States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Touches the Atlantic Ocean on the east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Touches the Gulf of Mexico on the south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1600" b="1" dirty="0">
                <a:solidFill>
                  <a:srgbClr val="1A8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bodies of water border this region!</a:t>
            </a:r>
            <a:endParaRPr lang="en-US" sz="2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2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0E1C42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91440"/>
            <a:ext cx="4876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49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Optima Academy Online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9265615" y="9144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3.07.03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731520" y="792480"/>
            <a:ext cx="1828800" cy="365760"/>
          </a:xfrm>
          <a:prstGeom prst="roundRect">
            <a:avLst>
              <a:gd name="adj" fmla="val 30000"/>
            </a:avLst>
          </a:prstGeom>
          <a:solidFill>
            <a:srgbClr val="1A8A7D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7924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NOTICE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2926080" y="792480"/>
            <a:ext cx="7315200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E1C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12 Southeast States</a:t>
            </a:r>
            <a:endParaRPr lang="en-US" sz="2600" dirty="0"/>
          </a:p>
        </p:txBody>
      </p:sp>
      <p:sp>
        <p:nvSpPr>
          <p:cNvPr id="9" name="Shape 7"/>
          <p:cNvSpPr/>
          <p:nvPr/>
        </p:nvSpPr>
        <p:spPr>
          <a:xfrm>
            <a:off x="731520" y="1828800"/>
            <a:ext cx="5486400" cy="4876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5240">
            <a:solidFill>
              <a:srgbClr val="D6DAE6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1219200" y="2072640"/>
            <a:ext cx="4632960" cy="426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Florida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Georgia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Alabama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Mississippi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Louisiana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South Carolina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6583680" y="1828800"/>
            <a:ext cx="5486400" cy="4876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5240">
            <a:solidFill>
              <a:srgbClr val="D6DAE6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7071360" y="2072640"/>
            <a:ext cx="4632960" cy="426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North Carolina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Tennessee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Kentucky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Virginia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West Virginia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Arkansas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731520" y="6827520"/>
            <a:ext cx="109728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1A8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you find all 12 on a map? That is your challenge today!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2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0E1C42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91440"/>
            <a:ext cx="4876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49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Optima Academy Online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9265615" y="9144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3.07.03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731520" y="792480"/>
            <a:ext cx="1828800" cy="365760"/>
          </a:xfrm>
          <a:prstGeom prst="roundRect">
            <a:avLst>
              <a:gd name="adj" fmla="val 30000"/>
            </a:avLst>
          </a:prstGeom>
          <a:solidFill>
            <a:srgbClr val="1A8A7D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7924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2926080" y="792480"/>
            <a:ext cx="7315200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E1C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Land of the Southeast</a:t>
            </a:r>
            <a:endParaRPr lang="en-US" sz="2600" dirty="0"/>
          </a:p>
        </p:txBody>
      </p:sp>
      <p:sp>
        <p:nvSpPr>
          <p:cNvPr id="9" name="Shape 7"/>
          <p:cNvSpPr/>
          <p:nvPr/>
        </p:nvSpPr>
        <p:spPr>
          <a:xfrm>
            <a:off x="731520" y="1828800"/>
            <a:ext cx="3779520" cy="2560320"/>
          </a:xfrm>
          <a:prstGeom prst="roundRect">
            <a:avLst>
              <a:gd name="adj" fmla="val 5714"/>
            </a:avLst>
          </a:prstGeom>
          <a:solidFill>
            <a:srgbClr val="E3F8ED"/>
          </a:solidFill>
          <a:ln w="15240">
            <a:solidFill>
              <a:srgbClr val="A8D8B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975360" y="1950720"/>
            <a:ext cx="329184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8A7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Southern Appalachians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975360" y="2499360"/>
            <a:ext cx="32918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mountain chain that runs through the Northeast continues into the Southeast -- from Maine all the way to Alabama!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754880" y="1828800"/>
            <a:ext cx="3779520" cy="2560320"/>
          </a:xfrm>
          <a:prstGeom prst="roundRect">
            <a:avLst>
              <a:gd name="adj" fmla="val 5714"/>
            </a:avLst>
          </a:prstGeom>
          <a:solidFill>
            <a:srgbClr val="EAF8FD"/>
          </a:solidFill>
          <a:ln w="15240">
            <a:solidFill>
              <a:srgbClr val="B8DF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998720" y="1950720"/>
            <a:ext cx="329184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8A7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Coastal Plain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998720" y="2499360"/>
            <a:ext cx="32918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Flat, low land stretching along the Atlantic coast and Gulf coast. Sandy beaches and barrier islands line the shore.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8778240" y="1828800"/>
            <a:ext cx="3291840" cy="2560320"/>
          </a:xfrm>
          <a:prstGeom prst="roundRect">
            <a:avLst>
              <a:gd name="adj" fmla="val 5714"/>
            </a:avLst>
          </a:prstGeom>
          <a:solidFill>
            <a:srgbClr val="FFF8F0"/>
          </a:solidFill>
          <a:ln w="15240">
            <a:solidFill>
              <a:srgbClr val="F5E6C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9022080" y="1950720"/>
            <a:ext cx="280416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494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Everglades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9022080" y="2499360"/>
            <a:ext cx="28041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vast swamp and wetland in southern Florida. Home to alligators, manatees, and rare birds.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731520" y="4632960"/>
            <a:ext cx="11338560" cy="2560320"/>
          </a:xfrm>
          <a:prstGeom prst="roundRect">
            <a:avLst>
              <a:gd name="adj" fmla="val 5714"/>
            </a:avLst>
          </a:prstGeom>
          <a:solidFill>
            <a:srgbClr val="E2E8F4"/>
          </a:solidFill>
          <a:ln w="19050">
            <a:solidFill>
              <a:srgbClr val="B0B8CC"/>
            </a:solidFill>
            <a:prstDash val="dash"/>
          </a:ln>
        </p:spPr>
      </p:sp>
      <p:sp>
        <p:nvSpPr>
          <p:cNvPr id="19" name="Text 17"/>
          <p:cNvSpPr/>
          <p:nvPr/>
        </p:nvSpPr>
        <p:spPr>
          <a:xfrm>
            <a:off x="731520" y="4632960"/>
            <a:ext cx="11338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50" kern="0" dirty="0">
                <a:solidFill>
                  <a:srgbClr val="7A8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IMAGE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914400" y="4998720"/>
            <a:ext cx="10972800" cy="2075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7A8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Three-panel: Smoky Mountains, coastal plain with beach, Everglades wetland with cypress trees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2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0E1C42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91440"/>
            <a:ext cx="4876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49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Optima Academy Online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9265615" y="9144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3.07.03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731520" y="792480"/>
            <a:ext cx="1828800" cy="365760"/>
          </a:xfrm>
          <a:prstGeom prst="roundRect">
            <a:avLst>
              <a:gd name="adj" fmla="val 30000"/>
            </a:avLst>
          </a:prstGeom>
          <a:solidFill>
            <a:srgbClr val="1A8A7D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7924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2926080" y="792480"/>
            <a:ext cx="7315200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E1C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Water of the Southeast</a:t>
            </a:r>
            <a:endParaRPr lang="en-US" sz="2600" dirty="0"/>
          </a:p>
        </p:txBody>
      </p:sp>
      <p:sp>
        <p:nvSpPr>
          <p:cNvPr id="9" name="Shape 7"/>
          <p:cNvSpPr/>
          <p:nvPr/>
        </p:nvSpPr>
        <p:spPr>
          <a:xfrm>
            <a:off x="731520" y="1828800"/>
            <a:ext cx="6096000" cy="3048000"/>
          </a:xfrm>
          <a:prstGeom prst="roundRect">
            <a:avLst>
              <a:gd name="adj" fmla="val 4800"/>
            </a:avLst>
          </a:prstGeom>
          <a:solidFill>
            <a:srgbClr val="EAF8FD"/>
          </a:solidFill>
          <a:ln w="15240">
            <a:solidFill>
              <a:srgbClr val="B8DF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1097280" y="2011680"/>
            <a:ext cx="536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E1C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Major Waterways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097280" y="2621280"/>
            <a:ext cx="5364480" cy="1950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Mississippi River -- flows through Louisiana to the Gulf of Mexico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Atlantic Ocean -- borders the east coast with sandy beaches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Gulf of Mexico -- warm waters along the southern coast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7315200" y="1828800"/>
            <a:ext cx="4632960" cy="3048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15240">
            <a:solidFill>
              <a:srgbClr val="D6DAE6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7559040" y="2011680"/>
            <a:ext cx="4145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E1C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Cities Near Water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7559040" y="2621280"/>
            <a:ext cx="4145280" cy="1950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Charleston -- Atlantic coast harbor city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Miami -- Atlantic coast, southern tip of Florida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Orleans -- on the Mississippi River near the Gulf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731520" y="5120640"/>
            <a:ext cx="11338560" cy="2194560"/>
          </a:xfrm>
          <a:prstGeom prst="roundRect">
            <a:avLst>
              <a:gd name="adj" fmla="val 6667"/>
            </a:avLst>
          </a:prstGeom>
          <a:solidFill>
            <a:srgbClr val="E2E8F4"/>
          </a:solidFill>
          <a:ln w="19050">
            <a:solidFill>
              <a:srgbClr val="B0B8CC"/>
            </a:solidFill>
            <a:prstDash val="dash"/>
          </a:ln>
        </p:spPr>
      </p:sp>
      <p:sp>
        <p:nvSpPr>
          <p:cNvPr id="16" name="Text 14"/>
          <p:cNvSpPr/>
          <p:nvPr/>
        </p:nvSpPr>
        <p:spPr>
          <a:xfrm>
            <a:off x="731520" y="5120640"/>
            <a:ext cx="11338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50" kern="0" dirty="0">
                <a:solidFill>
                  <a:srgbClr val="7A8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IMAGE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914400" y="5486400"/>
            <a:ext cx="10972800" cy="1709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7A8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 showing Mississippi River route from north to Gulf of Mexico, with Charleston, Miami, New Orleans marked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2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0E1C42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91440"/>
            <a:ext cx="4876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49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Optima Academy Online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9265615" y="9144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3.07.03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31520" y="853440"/>
            <a:ext cx="1036320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E1C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Pause &amp; Think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1828800" y="2194560"/>
            <a:ext cx="8534400" cy="4267200"/>
          </a:xfrm>
          <a:prstGeom prst="roundRect">
            <a:avLst>
              <a:gd name="adj" fmla="val 3429"/>
            </a:avLst>
          </a:prstGeom>
          <a:solidFill>
            <a:srgbClr val="FFF8F0"/>
          </a:solidFill>
          <a:ln w="15240">
            <a:solidFill>
              <a:srgbClr val="F5E6C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194560" y="2438400"/>
            <a:ext cx="780288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D494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Turn &amp; Talk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2438400" y="3291840"/>
            <a:ext cx="7315200" cy="2682240"/>
          </a:xfrm>
          <a:prstGeom prst="roundRect">
            <a:avLst>
              <a:gd name="adj" fmla="val 6818"/>
            </a:avLst>
          </a:prstGeom>
          <a:solidFill>
            <a:srgbClr val="1A2D5A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685288" y="3410712"/>
            <a:ext cx="683056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SOCRATIC QUESTIONS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685288" y="3758184"/>
            <a:ext cx="6830568" cy="2097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said the Southeast touches TWO bodies of water. Can you name them both?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Appalachian Mountains appear in TWO alcoves now. Why might that matter?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clues from the crate (oranges, swamp water) match what we just learned?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828800" y="6705600"/>
            <a:ext cx="85344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1A8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your ideas with a partner or type them in the chat!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2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0E1C42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91440"/>
            <a:ext cx="4876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49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Optima Academy Online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9265615" y="9144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3.07.03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731520" y="792480"/>
            <a:ext cx="1828800" cy="365760"/>
          </a:xfrm>
          <a:prstGeom prst="roundRect">
            <a:avLst>
              <a:gd name="adj" fmla="val 30000"/>
            </a:avLst>
          </a:prstGeom>
          <a:solidFill>
            <a:srgbClr val="1A8A7D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7924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2926080" y="792480"/>
            <a:ext cx="7924800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E1C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Weather of the Southeast</a:t>
            </a:r>
            <a:endParaRPr lang="en-US" sz="2600" dirty="0"/>
          </a:p>
        </p:txBody>
      </p:sp>
      <p:sp>
        <p:nvSpPr>
          <p:cNvPr id="9" name="Shape 7"/>
          <p:cNvSpPr/>
          <p:nvPr/>
        </p:nvSpPr>
        <p:spPr>
          <a:xfrm>
            <a:off x="731520" y="1828800"/>
            <a:ext cx="3657600" cy="46329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240">
            <a:solidFill>
              <a:srgbClr val="D6DAE6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975360" y="2011680"/>
            <a:ext cx="316992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8A7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Mild Winters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975360" y="2560320"/>
            <a:ext cx="3169920" cy="1950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Winters are warmer than the Northeast. Snow is rare in most Southeast states. Many people from colder states visit in winter!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4632960" y="1828800"/>
            <a:ext cx="3657600" cy="46329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240">
            <a:solidFill>
              <a:srgbClr val="D6DAE6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76800" y="2011680"/>
            <a:ext cx="316992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863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Hot, Humid Summers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4876800" y="2560320"/>
            <a:ext cx="3169920" cy="1950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Summers are hot and sticky. The air holds lots of moisture from the ocean and the Gulf. Thunderstorms pop up almost every afternoon!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8534400" y="1828800"/>
            <a:ext cx="3413760" cy="463296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5240">
            <a:solidFill>
              <a:srgbClr val="D6DAE6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8778240" y="2011680"/>
            <a:ext cx="292608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863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Hurricane Season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8778240" y="2560320"/>
            <a:ext cx="2926080" cy="1950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June through November. Powerful storms form over warm ocean water and can bring heavy rain, strong winds, and flooding to coastal areas.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731520" y="6705600"/>
            <a:ext cx="109728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Difference: The Northeast has cold, snowy winters. The Southeast has mild winters and a hurricane season instead.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2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0E1C42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91440"/>
            <a:ext cx="4876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49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Optima Academy Online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9265615" y="9144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3.07.03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731520" y="792480"/>
            <a:ext cx="1828800" cy="365760"/>
          </a:xfrm>
          <a:prstGeom prst="roundRect">
            <a:avLst>
              <a:gd name="adj" fmla="val 30000"/>
            </a:avLst>
          </a:prstGeom>
          <a:solidFill>
            <a:srgbClr val="1A8A7D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7924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2926080" y="792480"/>
            <a:ext cx="8534400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E1C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People &amp; Work in the Southeast</a:t>
            </a:r>
            <a:endParaRPr lang="en-US" sz="2600" dirty="0"/>
          </a:p>
        </p:txBody>
      </p:sp>
      <p:sp>
        <p:nvSpPr>
          <p:cNvPr id="9" name="Shape 7"/>
          <p:cNvSpPr/>
          <p:nvPr/>
        </p:nvSpPr>
        <p:spPr>
          <a:xfrm>
            <a:off x="731520" y="1828800"/>
            <a:ext cx="5730240" cy="2438400"/>
          </a:xfrm>
          <a:prstGeom prst="roundRect">
            <a:avLst>
              <a:gd name="adj" fmla="val 6000"/>
            </a:avLst>
          </a:prstGeom>
          <a:solidFill>
            <a:srgbClr val="E3F8ED"/>
          </a:solidFill>
          <a:ln w="15240">
            <a:solidFill>
              <a:srgbClr val="A8D8B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1097280" y="2011680"/>
            <a:ext cx="499872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8A7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Farming &amp; Agriculture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097280" y="2560320"/>
            <a:ext cx="49987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Oranges &amp; grapefruit -- Florida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Peaches -- Georgia (the Peach State!)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Peanuts -- Alabama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Cotton -- grown across many Southeast states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827520" y="1828800"/>
            <a:ext cx="5120640" cy="2438400"/>
          </a:xfrm>
          <a:prstGeom prst="roundRect">
            <a:avLst>
              <a:gd name="adj" fmla="val 6000"/>
            </a:avLst>
          </a:prstGeom>
          <a:solidFill>
            <a:srgbClr val="F0E8FF"/>
          </a:solidFill>
          <a:ln w="15240">
            <a:solidFill>
              <a:srgbClr val="C8B8E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7071360" y="2011680"/>
            <a:ext cx="463296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8B6FC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Culture &amp; History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7071360" y="2560320"/>
            <a:ext cx="46329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Jazz music was born in New Orleans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Civil Rights Movement fought for fairness and equality across the Southeast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Rich traditions of food, music, and storytelling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731520" y="4511040"/>
            <a:ext cx="11338560" cy="2682240"/>
          </a:xfrm>
          <a:prstGeom prst="roundRect">
            <a:avLst>
              <a:gd name="adj" fmla="val 5455"/>
            </a:avLst>
          </a:prstGeom>
          <a:solidFill>
            <a:srgbClr val="E2E8F4"/>
          </a:solidFill>
          <a:ln w="19050">
            <a:solidFill>
              <a:srgbClr val="B0B8CC"/>
            </a:solidFill>
            <a:prstDash val="dash"/>
          </a:ln>
        </p:spPr>
      </p:sp>
      <p:sp>
        <p:nvSpPr>
          <p:cNvPr id="16" name="Text 14"/>
          <p:cNvSpPr/>
          <p:nvPr/>
        </p:nvSpPr>
        <p:spPr>
          <a:xfrm>
            <a:off x="731520" y="4511040"/>
            <a:ext cx="11338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50" kern="0" dirty="0">
                <a:solidFill>
                  <a:srgbClr val="7A8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IMAGE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914400" y="4876800"/>
            <a:ext cx="10972800" cy="2197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7A8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Collage: orange grove, Georgia peaches, cotton field, jazz musicians in New Orleans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2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0E1C42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91440"/>
            <a:ext cx="4876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49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Optima Academy Online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9265615" y="9144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3.07.03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31520" y="853440"/>
            <a:ext cx="1036320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E1C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Map Quest: Southeast Challenge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731520" y="1828800"/>
            <a:ext cx="6096000" cy="5120640"/>
          </a:xfrm>
          <a:prstGeom prst="roundRect">
            <a:avLst>
              <a:gd name="adj" fmla="val 2857"/>
            </a:avLst>
          </a:prstGeom>
          <a:solidFill>
            <a:srgbClr val="E2E8F4"/>
          </a:solidFill>
          <a:ln w="19050">
            <a:solidFill>
              <a:srgbClr val="B0B8CC"/>
            </a:solidFill>
            <a:prstDash val="dash"/>
          </a:ln>
        </p:spPr>
      </p:sp>
      <p:sp>
        <p:nvSpPr>
          <p:cNvPr id="8" name="Text 6"/>
          <p:cNvSpPr/>
          <p:nvPr/>
        </p:nvSpPr>
        <p:spPr>
          <a:xfrm>
            <a:off x="731520" y="1828800"/>
            <a:ext cx="609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50" kern="0" dirty="0">
                <a:solidFill>
                  <a:srgbClr val="7A8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IMAGE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14400" y="2194560"/>
            <a:ext cx="5730240" cy="46360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7A8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Blank outline map of the Southeast region with state borders but no labels, numbered 1-12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7193280" y="1828800"/>
            <a:ext cx="4754880" cy="5120640"/>
          </a:xfrm>
          <a:prstGeom prst="roundRect">
            <a:avLst>
              <a:gd name="adj" fmla="val 3077"/>
            </a:avLst>
          </a:prstGeom>
          <a:solidFill>
            <a:srgbClr val="FFF3DC"/>
          </a:solidFill>
          <a:ln w="15240">
            <a:solidFill>
              <a:srgbClr val="F5E6C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7437120" y="2011680"/>
            <a:ext cx="426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D494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Can You Match Them?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7437120" y="2621280"/>
            <a:ext cx="4267200" cy="3901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the two bodies of water that border the Southeast.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 to Florida on the map. What ocean is on its east side?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state is farthest west in this region?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would the Appalachian Mountains be on this map?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2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0E1C42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91440"/>
            <a:ext cx="4876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49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Optima Academy Online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9265615" y="9144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3.07.03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31520" y="853440"/>
            <a:ext cx="1036320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E1C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Discovery Fact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1219200" y="1950720"/>
            <a:ext cx="9753600" cy="4267200"/>
          </a:xfrm>
          <a:prstGeom prst="roundRect">
            <a:avLst>
              <a:gd name="adj" fmla="val 3429"/>
            </a:avLst>
          </a:prstGeom>
          <a:solidFill>
            <a:srgbClr val="EAF8FD"/>
          </a:solidFill>
          <a:ln w="15240">
            <a:solidFill>
              <a:srgbClr val="B8DF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1584960" y="2194560"/>
            <a:ext cx="9022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E1C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Mighty Mississippi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1828800" y="3048000"/>
            <a:ext cx="8534400" cy="2682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1200"/>
              </a:spcAft>
              <a:buNone/>
            </a:pPr>
            <a:r>
              <a:rPr lang="en-US" sz="180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Mississippi River is the 2nd longest river in North America -- about 2,340 miles long!</a:t>
            </a:r>
            <a:endParaRPr lang="en-US" sz="1800" dirty="0"/>
          </a:p>
          <a:p>
            <a:pPr algn="ctr" indent="0" marL="0">
              <a:spcAft>
                <a:spcPts val="1200"/>
              </a:spcAft>
              <a:buNone/>
            </a:pPr>
            <a:r>
              <a:rPr lang="en-US" sz="180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drop of water takes about 90 days to travel from Minnesota all the way down to the Gulf of Mexico.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1A8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is like a three-month road trip -- but for water!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3048000" y="6461760"/>
            <a:ext cx="6096000" cy="1219200"/>
          </a:xfrm>
          <a:prstGeom prst="roundRect">
            <a:avLst>
              <a:gd name="adj" fmla="val 15000"/>
            </a:avLst>
          </a:prstGeom>
          <a:solidFill>
            <a:srgbClr val="1A2D5A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294888" y="6580632"/>
            <a:ext cx="561136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SOCRATIC QUESTIONS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294888" y="6928104"/>
            <a:ext cx="5611368" cy="633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a drop of water takes 90 days, how many months is that journey?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do you think so many cities grew up along this river?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2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0E1C42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91440"/>
            <a:ext cx="4876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49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Optima Academy Online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9265615" y="9144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3.07.03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31520" y="853440"/>
            <a:ext cx="1036320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E1C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Source Photo Analysis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731520" y="1828800"/>
            <a:ext cx="6339840" cy="4876800"/>
          </a:xfrm>
          <a:prstGeom prst="roundRect">
            <a:avLst>
              <a:gd name="adj" fmla="val 3000"/>
            </a:avLst>
          </a:prstGeom>
          <a:solidFill>
            <a:srgbClr val="E2E8F4"/>
          </a:solidFill>
          <a:ln w="19050">
            <a:solidFill>
              <a:srgbClr val="B0B8CC"/>
            </a:solidFill>
            <a:prstDash val="dash"/>
          </a:ln>
        </p:spPr>
      </p:sp>
      <p:sp>
        <p:nvSpPr>
          <p:cNvPr id="8" name="Text 6"/>
          <p:cNvSpPr/>
          <p:nvPr/>
        </p:nvSpPr>
        <p:spPr>
          <a:xfrm>
            <a:off x="731520" y="1828800"/>
            <a:ext cx="6339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50" kern="0" dirty="0">
                <a:solidFill>
                  <a:srgbClr val="7A8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IMAGE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14400" y="2194560"/>
            <a:ext cx="5974080" cy="4392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7A8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Historic or modern photograph of a Southeast scene -- orange grove, Everglades, or coastal city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7437120" y="1828800"/>
            <a:ext cx="4511040" cy="4876800"/>
          </a:xfrm>
          <a:prstGeom prst="roundRect">
            <a:avLst>
              <a:gd name="adj" fmla="val 3243"/>
            </a:avLst>
          </a:prstGeom>
          <a:solidFill>
            <a:srgbClr val="FFF8F0"/>
          </a:solidFill>
          <a:ln w="15240">
            <a:solidFill>
              <a:srgbClr val="F5E6C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7680960" y="2011680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D494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Look Closely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7680960" y="2621280"/>
            <a:ext cx="402336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 you NOTICE in this photo?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details tell you this is the Southeast and NOT the Northeast?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would you NOT see in the Northeast? Why?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questions does this photo raise for you?</a:t>
            </a:r>
            <a:endParaRPr lang="en-US" sz="16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2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0E1C42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91440"/>
            <a:ext cx="4876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49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Optima Academy Online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9265615" y="9144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3.07.03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31520" y="853440"/>
            <a:ext cx="1036320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E1C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Then &amp; Now: The Mississippi River</a:t>
            </a:r>
            <a:endParaRPr lang="en-US" sz="26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75360" y="1828800"/>
          <a:ext cx="10241280" cy="3413760"/>
        </p:xfrm>
        <a:graphic>
          <a:graphicData uri="http://schemas.openxmlformats.org/drawingml/2006/table">
            <a:tbl>
              <a:tblPr/>
              <a:tblGrid>
                <a:gridCol w="1828800"/>
                <a:gridCol w="4206240"/>
                <a:gridCol w="420624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76200" marR="76200" marT="50800" marB="50800">
                    <a:lnL w="12700" cap="flat" cmpd="sng" algn="ctr">
                      <a:solidFill>
                        <a:srgbClr val="D6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C4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THEN (Long Ago)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12700" cap="flat" cmpd="sng" algn="ctr">
                      <a:solidFill>
                        <a:srgbClr val="D6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C4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NOW (Today)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12700" cap="flat" cmpd="sng" algn="ctr">
                      <a:solidFill>
                        <a:srgbClr val="D6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C42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E1C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Travel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12700" cap="flat" cmpd="sng" algn="ctr">
                      <a:solidFill>
                        <a:srgbClr val="D6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E1C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Steamboats carried people and goods up and down the river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12700" cap="flat" cmpd="sng" algn="ctr">
                      <a:solidFill>
                        <a:srgbClr val="D6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E1C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Barges carry cargo; bridges and highways cross the river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12700" cap="flat" cmpd="sng" algn="ctr">
                      <a:solidFill>
                        <a:srgbClr val="D6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E1C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Trade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12700" cap="flat" cmpd="sng" algn="ctr">
                      <a:solidFill>
                        <a:srgbClr val="D6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E1C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New Orleans was a busy trading port for cotton and sugar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12700" cap="flat" cmpd="sng" algn="ctr">
                      <a:solidFill>
                        <a:srgbClr val="D6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E1C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Still a major port -- one of the busiest in the U.S.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12700" cap="flat" cmpd="sng" algn="ctr">
                      <a:solidFill>
                        <a:srgbClr val="D6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E1C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Flooding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12700" cap="flat" cmpd="sng" algn="ctr">
                      <a:solidFill>
                        <a:srgbClr val="D6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E1C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Floods destroyed crops and homes along the banks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12700" cap="flat" cmpd="sng" algn="ctr">
                      <a:solidFill>
                        <a:srgbClr val="D6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E1C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Levees and dams help control flooding, but risks remain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12700" cap="flat" cmpd="sng" algn="ctr">
                      <a:solidFill>
                        <a:srgbClr val="D6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1828800" y="5730240"/>
            <a:ext cx="8534400" cy="1341120"/>
          </a:xfrm>
          <a:prstGeom prst="roundRect">
            <a:avLst>
              <a:gd name="adj" fmla="val 13636"/>
            </a:avLst>
          </a:prstGeom>
          <a:solidFill>
            <a:srgbClr val="1A2D5A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2075688" y="5849112"/>
            <a:ext cx="804976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SOCRATIC QUESTIONS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2075688" y="6196584"/>
            <a:ext cx="8049768" cy="755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stayed the SAME about how people use the Mississippi River?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CHANGED? Why do you think it changed?</a:t>
            </a:r>
            <a:endParaRPr lang="en-US" sz="1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2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0E1C42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91440"/>
            <a:ext cx="4876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49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Optima Academy Online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9265615" y="9144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3.07.03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731520" y="792480"/>
            <a:ext cx="2194560" cy="365760"/>
          </a:xfrm>
          <a:prstGeom prst="roundRect">
            <a:avLst>
              <a:gd name="adj" fmla="val 30000"/>
            </a:avLst>
          </a:prstGeom>
          <a:solidFill>
            <a:srgbClr val="1A8A7D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7924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NARRATE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291840" y="792480"/>
            <a:ext cx="7315200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E1C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Big Picture</a:t>
            </a:r>
            <a:endParaRPr lang="en-US" sz="2600" dirty="0"/>
          </a:p>
        </p:txBody>
      </p:sp>
      <p:sp>
        <p:nvSpPr>
          <p:cNvPr id="9" name="Shape 7"/>
          <p:cNvSpPr/>
          <p:nvPr/>
        </p:nvSpPr>
        <p:spPr>
          <a:xfrm>
            <a:off x="731520" y="1828800"/>
            <a:ext cx="6096000" cy="512064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5240">
            <a:solidFill>
              <a:srgbClr val="D6DAE6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1097280" y="2011680"/>
            <a:ext cx="536448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E1C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Exhibit Label: The Southeast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097280" y="2682240"/>
            <a:ext cx="5364480" cy="3901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Southeast region sits in the lower-right part of the U.S., bordered by the Atlantic Ocean and the Gulf of Mexico.</a:t>
            </a: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Its land ranges from the Southern Appalachians to flat coastal plains to the Everglades swamp.</a:t>
            </a: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mighty Mississippi River flows through to the Gulf. Mild winters, hot summers, and hurricane season shape life here.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People grow oranges, peaches, peanuts, and cotton. Jazz music and the Civil Rights Movement are part of its rich story.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7193280" y="1828800"/>
            <a:ext cx="4754880" cy="5120640"/>
          </a:xfrm>
          <a:prstGeom prst="roundRect">
            <a:avLst>
              <a:gd name="adj" fmla="val 3077"/>
            </a:avLst>
          </a:prstGeom>
          <a:solidFill>
            <a:srgbClr val="FFF3DC"/>
          </a:solidFill>
          <a:ln w="15240">
            <a:solidFill>
              <a:srgbClr val="F5E6C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7437120" y="2011680"/>
            <a:ext cx="42672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D494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Opti Connection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7437120" y="2682240"/>
            <a:ext cx="4267200" cy="3901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16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Appalachian Mountains touch BOTH alcoves -- Northeast AND Southeast!</a:t>
            </a:r>
            <a:endParaRPr lang="en-US" sz="16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60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same mountain chain runs from Maine all the way to Alabama.</a:t>
            </a:r>
            <a:endParaRPr lang="en-US" sz="1600" dirty="0"/>
          </a:p>
          <a:p>
            <a:pPr indent="0" marL="0">
              <a:buNone/>
            </a:pPr>
            <a:r>
              <a:rPr lang="en-US" sz="1600" i="1" dirty="0">
                <a:solidFill>
                  <a:srgbClr val="1A8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Regions are not islands -- they connect to each other through land, water, and the people who move between them.</a:t>
            </a:r>
            <a:endParaRPr lang="en-US" sz="16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2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0E1C42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91440"/>
            <a:ext cx="4876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49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Optima Academy Online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9265615" y="9144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3.07.03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31520" y="853440"/>
            <a:ext cx="1036320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E1C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Self-Check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731520" y="1706880"/>
            <a:ext cx="11338560" cy="170688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5240">
            <a:solidFill>
              <a:srgbClr val="D6DAE6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1097280" y="1828800"/>
            <a:ext cx="1060704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Which TWO bodies of water touch the Southeast region?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463040" y="2377440"/>
            <a:ext cx="987552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A) The Pacific Ocean and the Atlantic Ocean</a:t>
            </a:r>
            <a:endParaRPr lang="en-US" sz="14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B) The Great Lakes and the Pacific Ocean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C) The Atlantic Ocean and the Gulf of Mexico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731520" y="3596640"/>
            <a:ext cx="11338560" cy="170688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5240">
            <a:solidFill>
              <a:srgbClr val="D6DAE6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1097280" y="3718560"/>
            <a:ext cx="1060704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Which big river flows through the Southeast and empties into the Gulf of Mexico?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463040" y="4267200"/>
            <a:ext cx="987552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A) The Hudson River</a:t>
            </a:r>
            <a:endParaRPr lang="en-US" sz="14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B) The Mississippi River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C) The Delaware River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731520" y="5486400"/>
            <a:ext cx="11338560" cy="188976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 w="15240">
            <a:solidFill>
              <a:srgbClr val="D6DAE6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1097280" y="5608320"/>
            <a:ext cx="1060704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How is the Southeast's weather different from the Northeast's?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463040" y="6156960"/>
            <a:ext cx="9875520" cy="1036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A) The Southeast has milder winters and hot, humid summers -- plus hurricane season.</a:t>
            </a:r>
            <a:endParaRPr lang="en-US" sz="14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B) The Southeast is colder than the Northeast all year.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C) The Southeast has snow most of the year.</a:t>
            </a:r>
            <a:endParaRPr lang="en-US" sz="14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2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0E1C42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91440"/>
            <a:ext cx="4876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49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Optima Academy Online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9265615" y="9144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3.07.03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31520" y="853440"/>
            <a:ext cx="1036320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E1C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Error Analysis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731520" y="1828800"/>
            <a:ext cx="11338560" cy="2682240"/>
          </a:xfrm>
          <a:prstGeom prst="roundRect">
            <a:avLst>
              <a:gd name="adj" fmla="val 5455"/>
            </a:avLst>
          </a:prstGeom>
          <a:solidFill>
            <a:srgbClr val="FFF8F0"/>
          </a:solidFill>
          <a:ln w="15240">
            <a:solidFill>
              <a:srgbClr val="F5E6C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1097280" y="2011680"/>
            <a:ext cx="1060704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49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student wrote: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219200" y="2560320"/>
            <a:ext cx="10241280" cy="792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E863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"The Southeast is bordered by the Pacific Ocean and has cold, snowy winters like the Northeast."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097280" y="3413760"/>
            <a:ext cx="1060704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mistakes did this student make? How would you fix them?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731520" y="4754880"/>
            <a:ext cx="11338560" cy="2682240"/>
          </a:xfrm>
          <a:prstGeom prst="roundRect">
            <a:avLst>
              <a:gd name="adj" fmla="val 5455"/>
            </a:avLst>
          </a:prstGeom>
          <a:solidFill>
            <a:srgbClr val="E3F8ED"/>
          </a:solidFill>
          <a:ln w="15240">
            <a:solidFill>
              <a:srgbClr val="A8D8B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1097280" y="4937760"/>
            <a:ext cx="1060704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8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Corrected Version: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097280" y="5486400"/>
            <a:ext cx="10607040" cy="1706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Mistake 1: The Southeast is bordered by the Atlantic Ocean and the Gulf of Mexico -- NOT the Pacific Ocean. The Pacific is on the other side of the country!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Mistake 2: The Southeast has MILD winters, not cold and snowy ones. That is how it DIFFERS from the Northeast.</a:t>
            </a:r>
            <a:endParaRPr lang="en-US" sz="15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2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0E1C42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91440"/>
            <a:ext cx="4876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49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Optima Academy Online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9265615" y="9144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3.07.03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31520" y="853440"/>
            <a:ext cx="1036320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E1C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Evidence Questions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731520" y="1828800"/>
            <a:ext cx="11338560" cy="1463040"/>
          </a:xfrm>
          <a:prstGeom prst="roundRect">
            <a:avLst>
              <a:gd name="adj" fmla="val 10000"/>
            </a:avLst>
          </a:prstGeom>
          <a:solidFill>
            <a:srgbClr val="EAF8FD"/>
          </a:solidFill>
          <a:ln w="15240">
            <a:solidFill>
              <a:srgbClr val="B8DF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1097280" y="1950720"/>
            <a:ext cx="195072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8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Q1: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097280" y="2377440"/>
            <a:ext cx="10607040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is the Southeast located on a U.S. map? Name the two bodies of water that border it.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731520" y="3474720"/>
            <a:ext cx="11338560" cy="1463040"/>
          </a:xfrm>
          <a:prstGeom prst="roundRect">
            <a:avLst>
              <a:gd name="adj" fmla="val 10000"/>
            </a:avLst>
          </a:prstGeom>
          <a:solidFill>
            <a:srgbClr val="EAF8FD"/>
          </a:solidFill>
          <a:ln w="15240">
            <a:solidFill>
              <a:srgbClr val="B8DF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1097280" y="3596640"/>
            <a:ext cx="195072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8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Q2: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097280" y="4023360"/>
            <a:ext cx="10607040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one Southeast state and one thing that makes it interesting.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731520" y="5120640"/>
            <a:ext cx="11338560" cy="1463040"/>
          </a:xfrm>
          <a:prstGeom prst="roundRect">
            <a:avLst>
              <a:gd name="adj" fmla="val 10000"/>
            </a:avLst>
          </a:prstGeom>
          <a:solidFill>
            <a:srgbClr val="EAF8FD"/>
          </a:solidFill>
          <a:ln w="15240">
            <a:solidFill>
              <a:srgbClr val="B8DF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1097280" y="5242560"/>
            <a:ext cx="195072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8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Q3: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097280" y="5669280"/>
            <a:ext cx="10607040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one thing that is the SAME and one thing that is DIFFERENT between the Northeast and the Southeast.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731520" y="6827520"/>
            <a:ext cx="1097280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details from the lesson to support your answers.</a:t>
            </a:r>
            <a:endParaRPr lang="en-US" sz="14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2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0E1C42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91440"/>
            <a:ext cx="4876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49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Optima Academy Online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9265615" y="9144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3.07.03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31520" y="853440"/>
            <a:ext cx="1036320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E1C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Curator Task &amp; Chronicle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731520" y="1828800"/>
            <a:ext cx="11338560" cy="3169920"/>
          </a:xfrm>
          <a:prstGeom prst="roundRect">
            <a:avLst>
              <a:gd name="adj" fmla="val 4615"/>
            </a:avLst>
          </a:prstGeom>
          <a:solidFill>
            <a:srgbClr val="FFF3DC"/>
          </a:solidFill>
          <a:ln w="15240">
            <a:solidFill>
              <a:srgbClr val="F5E6C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1097280" y="1950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D494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Curator Task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097280" y="2560320"/>
            <a:ext cx="10607040" cy="2072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Visitors will read this sign as they walk into the Southeast alcove. Write 3-4 sentences telling them where the Southeast is, what the land and water are like, and one thing people grow or do here. Use kind, careful words -- this is a real region where real people live.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731520" y="5242560"/>
            <a:ext cx="11338560" cy="1950720"/>
          </a:xfrm>
          <a:prstGeom prst="roundRect">
            <a:avLst>
              <a:gd name="adj" fmla="val 7500"/>
            </a:avLst>
          </a:prstGeom>
          <a:solidFill>
            <a:srgbClr val="F0E8FF"/>
          </a:solidFill>
          <a:ln w="15240">
            <a:solidFill>
              <a:srgbClr val="C8B8E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1097280" y="536448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8B6FC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Chronicle Entry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097280" y="5974080"/>
            <a:ext cx="1060704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0E1C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 this exhibit, I learned that ______ because ______.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097280" y="6705600"/>
            <a:ext cx="1060704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A8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 in both blanks with details from today's lesson.</a:t>
            </a:r>
            <a:endParaRPr lang="en-US" sz="14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835"/>
          </a:solidFill>
          <a:ln w="19050">
            <a:solidFill>
              <a:srgbClr val="3A5080"/>
            </a:solidFill>
            <a:prstDash val="dash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C42">
              <a:alpha val="62000"/>
            </a:srgbClr>
          </a:solidFill>
          <a:ln/>
        </p:spPr>
      </p:sp>
      <p:sp>
        <p:nvSpPr>
          <p:cNvPr id="5" name="Text 2"/>
          <p:cNvSpPr/>
          <p:nvPr/>
        </p:nvSpPr>
        <p:spPr>
          <a:xfrm>
            <a:off x="1463040" y="1463040"/>
            <a:ext cx="9144000" cy="975360"/>
          </a:xfrm>
          <a:prstGeom prst="rect">
            <a:avLst/>
          </a:prstGeom>
          <a:noFill/>
          <a:ln/>
          <a:effectLst>
            <a:outerShdw sx="100000" sy="100000" kx="0" ky="0" algn="bl" rotWithShape="0" blurRad="76200" dist="25400" dir="8100000">
              <a:srgbClr val="000000">
                <a:alpha val="35000"/>
              </a:srgbClr>
            </a:outerShdw>
          </a:effectLst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D494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Coming Next...</a:t>
            </a:r>
            <a:endParaRPr lang="en-US" sz="3200" dirty="0"/>
          </a:p>
        </p:txBody>
      </p:sp>
      <p:sp>
        <p:nvSpPr>
          <p:cNvPr id="6" name="Text 3"/>
          <p:cNvSpPr/>
          <p:nvPr/>
        </p:nvSpPr>
        <p:spPr>
          <a:xfrm>
            <a:off x="1463040" y="2438400"/>
            <a:ext cx="914400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i="1" dirty="0">
                <a:solidFill>
                  <a:srgbClr val="55C8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Midwest Alcove</a:t>
            </a:r>
            <a:endParaRPr lang="en-US" sz="2600" dirty="0"/>
          </a:p>
        </p:txBody>
      </p:sp>
      <p:sp>
        <p:nvSpPr>
          <p:cNvPr id="7" name="Shape 4"/>
          <p:cNvSpPr/>
          <p:nvPr/>
        </p:nvSpPr>
        <p:spPr>
          <a:xfrm>
            <a:off x="1463040" y="3657600"/>
            <a:ext cx="9144000" cy="3048000"/>
          </a:xfrm>
          <a:prstGeom prst="roundRect">
            <a:avLst>
              <a:gd name="adj" fmla="val 4800"/>
            </a:avLst>
          </a:prstGeom>
          <a:solidFill>
            <a:srgbClr val="FFF3DC"/>
          </a:solidFill>
          <a:ln w="19050">
            <a:solidFill>
              <a:srgbClr val="F5E6C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645920" y="3730752"/>
            <a:ext cx="877824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D49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FRAME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1645920" y="3995928"/>
            <a:ext cx="8778240" cy="2618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700"/>
              </a:spcAft>
              <a:buNone/>
            </a:pPr>
            <a:r>
              <a:rPr lang="en-US" sz="1600" i="1" dirty="0">
                <a:solidFill>
                  <a:srgbClr val="5A4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"A new crate just arrived: GREAT LAKES &amp; PLAINS."</a:t>
            </a:r>
            <a:endParaRPr lang="en-US" sz="16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600" i="1" dirty="0">
                <a:solidFill>
                  <a:srgbClr val="5A4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"Inside: an ear of corn, a jar of wheat berries, a photo of a red barn, and a folded map of the Great Lakes."</a:t>
            </a:r>
            <a:endParaRPr lang="en-US" sz="16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600" i="1" dirty="0">
                <a:solidFill>
                  <a:srgbClr val="5A4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"What story will these artifacts tell?"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1463040" y="6949440"/>
            <a:ext cx="91440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you next lesson, curators!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Optima Academy Online</dc:creator>
  <cp:lastModifiedBy>Optima Academy Online</cp:lastModifiedBy>
  <cp:revision>1</cp:revision>
  <dcterms:created xsi:type="dcterms:W3CDTF">2026-07-11T03:46:37Z</dcterms:created>
  <dcterms:modified xsi:type="dcterms:W3CDTF">2026-07-11T03:46:37Z</dcterms:modified>
</cp:coreProperties>
</file>