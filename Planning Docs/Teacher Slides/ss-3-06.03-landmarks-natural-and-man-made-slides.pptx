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students. Transition: 'Today we step up to the Landmark Photo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grand museum gallery wall with framed photos of famous landmarks — Grand Canyon, Niagara Falls, Statue of Liberty, Chichen Itza pyramid, CN Tower, Caribbean coral reef — hung in no particular order on a long wall. Warm gallery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first — ask students what famous places they've heard of BEFORE giving definitions. Let them notice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SCAFFOLDING for Evidence Q2: Students will need to write about what the Chichen Itza pyramid tells us about the Maya. Drive discussion toward: they had building knowledge, the pyramid mattered to them, it took great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Students often want to call Mount Rushmore natural because it is a mountain. Push them to think about what makes it FAMOUS — the carved faces, which are man-made.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SCAFFOLDING for Evidence Q1: Natural = shaped by nature, man-made = built by people. Students need to give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model. Then let students write their own version. Remind them they can pick different examples than the model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975360"/>
            <a:ext cx="14305280" cy="48768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OPTIMA ACADEMY ONLINE</a:t>
            </a:r>
            <a:endParaRPr lang="en-US" sz="1000" dirty="0"/>
          </a:p>
        </p:txBody>
      </p:sp>
      <p:sp>
        <p:nvSpPr>
          <p:cNvPr id="3" name="Text 1"/>
          <p:cNvSpPr/>
          <p:nvPr/>
        </p:nvSpPr>
        <p:spPr>
          <a:xfrm>
            <a:off x="975360" y="1950720"/>
            <a:ext cx="14305280" cy="260096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Landmarks: Natural</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and Man-Made</a:t>
            </a:r>
            <a:endParaRPr lang="en-US" sz="3600" dirty="0"/>
          </a:p>
        </p:txBody>
      </p:sp>
      <p:sp>
        <p:nvSpPr>
          <p:cNvPr id="4" name="Text 2"/>
          <p:cNvSpPr/>
          <p:nvPr/>
        </p:nvSpPr>
        <p:spPr>
          <a:xfrm>
            <a:off x="975360" y="4876800"/>
            <a:ext cx="14305280" cy="568960"/>
          </a:xfrm>
          <a:prstGeom prst="rect">
            <a:avLst/>
          </a:prstGeom>
          <a:noFill/>
          <a:ln/>
        </p:spPr>
        <p:txBody>
          <a:bodyPr wrap="square" rtlCol="0" anchor="ctr"/>
          <a:lstStyle/>
          <a:p>
            <a:pPr indent="0" marL="0">
              <a:buNone/>
            </a:pPr>
            <a:r>
              <a:rPr lang="en-US" sz="1300" dirty="0">
                <a:solidFill>
                  <a:srgbClr val="55C8E8"/>
                </a:solidFill>
                <a:latin typeface="Calibri" pitchFamily="34" charset="0"/>
                <a:ea typeface="Calibri" pitchFamily="34" charset="-122"/>
                <a:cs typeface="Calibri" pitchFamily="34" charset="-120"/>
              </a:rPr>
              <a:t>Lesson 3.06.03  |  Week 16  |  The Great Map Room</a:t>
            </a:r>
            <a:endParaRPr lang="en-US" sz="1300" dirty="0"/>
          </a:p>
        </p:txBody>
      </p:sp>
      <p:sp>
        <p:nvSpPr>
          <p:cNvPr id="5" name="Text 3"/>
          <p:cNvSpPr/>
          <p:nvPr/>
        </p:nvSpPr>
        <p:spPr>
          <a:xfrm>
            <a:off x="975360" y="5608320"/>
            <a:ext cx="14305280" cy="487680"/>
          </a:xfrm>
          <a:prstGeom prst="rect">
            <a:avLst/>
          </a:prstGeom>
          <a:noFill/>
          <a:ln/>
        </p:spPr>
        <p:txBody>
          <a:bodyPr wrap="square" rtlCol="0" anchor="ctr"/>
          <a:lstStyle/>
          <a:p>
            <a:pPr indent="0" marL="0">
              <a:buNone/>
            </a:pPr>
            <a:r>
              <a:rPr lang="en-US" sz="1000" dirty="0">
                <a:solidFill>
                  <a:srgbClr val="7A88A8"/>
                </a:solidFill>
                <a:latin typeface="Calibri" pitchFamily="34" charset="0"/>
                <a:ea typeface="Calibri" pitchFamily="34" charset="-122"/>
                <a:cs typeface="Calibri" pitchFamily="34" charset="-120"/>
              </a:rPr>
              <a:t>SS.3.G.2.1  |  SS.3.G.2.4  |  SS.3.G.4.1</a:t>
            </a:r>
            <a:endParaRPr lang="en-US" sz="1000" dirty="0"/>
          </a:p>
        </p:txBody>
      </p:sp>
      <p:sp>
        <p:nvSpPr>
          <p:cNvPr id="6" name="Shape 4"/>
          <p:cNvSpPr/>
          <p:nvPr/>
        </p:nvSpPr>
        <p:spPr>
          <a:xfrm>
            <a:off x="975360" y="7152640"/>
            <a:ext cx="3251200" cy="65024"/>
          </a:xfrm>
          <a:prstGeom prst="rect">
            <a:avLst/>
          </a:prstGeom>
          <a:solidFill>
            <a:srgbClr val="D4943A"/>
          </a:solidFill>
          <a:ln/>
        </p:spPr>
      </p:sp>
      <p:sp>
        <p:nvSpPr>
          <p:cNvPr id="7" name="Text 5"/>
          <p:cNvSpPr/>
          <p:nvPr/>
        </p:nvSpPr>
        <p:spPr>
          <a:xfrm>
            <a:off x="975360" y="7396480"/>
            <a:ext cx="8128000" cy="487680"/>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Thinking Move:  Notice  |  Name  |  Narrate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812800"/>
            <a:ext cx="14305280" cy="568960"/>
          </a:xfrm>
          <a:prstGeom prst="rect">
            <a:avLst/>
          </a:prstGeom>
          <a:noFill/>
          <a:ln/>
        </p:spPr>
        <p:txBody>
          <a:bodyPr wrap="square" rtlCol="0" anchor="ctr"/>
          <a:lstStyle/>
          <a:p>
            <a:pPr indent="0" marL="0">
              <a:buNone/>
            </a:pPr>
            <a:r>
              <a:rPr lang="en-US" sz="1100" b="1" spc="200" kern="0" dirty="0">
                <a:solidFill>
                  <a:srgbClr val="D4943A"/>
                </a:solidFill>
                <a:latin typeface="Calibri" pitchFamily="34" charset="0"/>
                <a:ea typeface="Calibri" pitchFamily="34" charset="-122"/>
                <a:cs typeface="Calibri" pitchFamily="34" charset="-120"/>
              </a:rPr>
              <a:t>THE LANDMARK PHOTO WALL</a:t>
            </a:r>
            <a:endParaRPr lang="en-US" sz="1100" dirty="0"/>
          </a:p>
        </p:txBody>
      </p:sp>
      <p:sp>
        <p:nvSpPr>
          <p:cNvPr id="6" name="Text 3"/>
          <p:cNvSpPr/>
          <p:nvPr/>
        </p:nvSpPr>
        <p:spPr>
          <a:xfrm>
            <a:off x="975360" y="1950720"/>
            <a:ext cx="10566400" cy="1300480"/>
          </a:xfrm>
          <a:prstGeom prst="rect">
            <a:avLst/>
          </a:prstGeom>
          <a:noFill/>
          <a:ln/>
        </p:spPr>
        <p:txBody>
          <a:bodyPr wrap="square" rtlCol="0" anchor="ctr"/>
          <a:lstStyle/>
          <a:p>
            <a:pPr indent="0" marL="0">
              <a:lnSpc>
                <a:spcPct val="115000"/>
              </a:lnSpc>
              <a:buNone/>
            </a:pPr>
            <a:r>
              <a:rPr lang="en-US" sz="2200" b="1" dirty="0">
                <a:solidFill>
                  <a:srgbClr val="FFFFFF"/>
                </a:solidFill>
                <a:latin typeface="Cambria" pitchFamily="34" charset="0"/>
                <a:ea typeface="Cambria" pitchFamily="34" charset="-122"/>
                <a:cs typeface="Cambria" pitchFamily="34" charset="-120"/>
              </a:rPr>
              <a:t>A long wall of framed photos has just been unveiled.</a:t>
            </a:r>
            <a:endParaRPr lang="en-US" sz="2200" dirty="0"/>
          </a:p>
        </p:txBody>
      </p:sp>
      <p:sp>
        <p:nvSpPr>
          <p:cNvPr id="7" name="Text 4"/>
          <p:cNvSpPr/>
          <p:nvPr/>
        </p:nvSpPr>
        <p:spPr>
          <a:xfrm>
            <a:off x="975360" y="3576320"/>
            <a:ext cx="10566400" cy="1950720"/>
          </a:xfrm>
          <a:prstGeom prst="rect">
            <a:avLst/>
          </a:prstGeom>
          <a:noFill/>
          <a:ln/>
        </p:spPr>
        <p:txBody>
          <a:bodyPr wrap="square" rtlCol="0" anchor="ctr"/>
          <a:lstStyle/>
          <a:p>
            <a:pPr indent="0" marL="0">
              <a:lnSpc>
                <a:spcPct val="140000"/>
              </a:lnSpc>
              <a:buNone/>
            </a:pPr>
            <a:r>
              <a:rPr lang="en-US" sz="1400" dirty="0">
                <a:solidFill>
                  <a:srgbClr val="B8C4E0"/>
                </a:solidFill>
                <a:latin typeface="Calibri" pitchFamily="34" charset="0"/>
                <a:ea typeface="Calibri" pitchFamily="34" charset="-122"/>
                <a:cs typeface="Calibri" pitchFamily="34" charset="-120"/>
              </a:rPr>
              <a:t>Some photos show land that nature shaped over millions of years.</a:t>
            </a:r>
            <a:endParaRPr lang="en-US" sz="1400" dirty="0"/>
          </a:p>
          <a:p>
            <a:pPr indent="0" marL="0">
              <a:lnSpc>
                <a:spcPct val="140000"/>
              </a:lnSpc>
              <a:buNone/>
            </a:pPr>
            <a:r>
              <a:rPr lang="en-US" sz="1400" dirty="0">
                <a:solidFill>
                  <a:srgbClr val="B8C4E0"/>
                </a:solidFill>
                <a:latin typeface="Calibri" pitchFamily="34" charset="0"/>
                <a:ea typeface="Calibri" pitchFamily="34" charset="-122"/>
                <a:cs typeface="Calibri" pitchFamily="34" charset="-120"/>
              </a:rPr>
              <a:t>Others show places people built.</a:t>
            </a:r>
            <a:endParaRPr lang="en-US" sz="1400" dirty="0"/>
          </a:p>
          <a:p>
            <a:pPr indent="0" marL="0">
              <a:lnSpc>
                <a:spcPct val="140000"/>
              </a:lnSpc>
              <a:buNone/>
            </a:pPr>
            <a:r>
              <a:rPr lang="en-US" sz="1400" dirty="0">
                <a:solidFill>
                  <a:srgbClr val="B8C4E0"/>
                </a:solidFill>
                <a:latin typeface="Calibri" pitchFamily="34" charset="0"/>
                <a:ea typeface="Calibri" pitchFamily="34" charset="-122"/>
                <a:cs typeface="Calibri" pitchFamily="34" charset="-120"/>
              </a:rPr>
              <a:t>Right now they're hung in no particular order.</a:t>
            </a:r>
            <a:endParaRPr lang="en-US" sz="1400" dirty="0"/>
          </a:p>
        </p:txBody>
      </p:sp>
      <p:sp>
        <p:nvSpPr>
          <p:cNvPr id="8" name="Shape 5"/>
          <p:cNvSpPr/>
          <p:nvPr/>
        </p:nvSpPr>
        <p:spPr>
          <a:xfrm>
            <a:off x="975360" y="5852160"/>
            <a:ext cx="8940800" cy="2600960"/>
          </a:xfrm>
          <a:prstGeom prst="roundRect">
            <a:avLst>
              <a:gd name="adj" fmla="val 7500"/>
            </a:avLst>
          </a:prstGeom>
          <a:solidFill>
            <a:srgbClr val="FFF3DC"/>
          </a:solidFill>
          <a:ln w="19050">
            <a:solidFill>
              <a:srgbClr val="F5E6C8"/>
            </a:solidFill>
            <a:prstDash val="solid"/>
          </a:ln>
        </p:spPr>
      </p:sp>
      <p:sp>
        <p:nvSpPr>
          <p:cNvPr id="9" name="Text 6"/>
          <p:cNvSpPr/>
          <p:nvPr/>
        </p:nvSpPr>
        <p:spPr>
          <a:xfrm>
            <a:off x="1219200" y="594969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7"/>
          <p:cNvSpPr/>
          <p:nvPr/>
        </p:nvSpPr>
        <p:spPr>
          <a:xfrm>
            <a:off x="1219200" y="6307328"/>
            <a:ext cx="8453120" cy="2032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"Last time we learned the land -- mountains, rivers, plains, islands."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"Now we're going to study famous spots inside that land."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 were made by nature, some were built by people."</a:t>
            </a:r>
            <a:endParaRPr lang="en-US" sz="1200" dirty="0"/>
          </a:p>
        </p:txBody>
      </p:sp>
      <p:sp>
        <p:nvSpPr>
          <p:cNvPr id="11" name="Text 8"/>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D5A"/>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4" name="Text 2"/>
          <p:cNvSpPr/>
          <p:nvPr/>
        </p:nvSpPr>
        <p:spPr>
          <a:xfrm>
            <a:off x="975360" y="1300480"/>
            <a:ext cx="14305280" cy="975360"/>
          </a:xfrm>
          <a:prstGeom prst="rect">
            <a:avLst/>
          </a:prstGeom>
          <a:noFill/>
          <a:ln/>
        </p:spPr>
        <p:txBody>
          <a:bodyPr wrap="square"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Courtesy</a:t>
            </a:r>
            <a:endParaRPr lang="en-US" sz="2800" dirty="0"/>
          </a:p>
        </p:txBody>
      </p:sp>
      <p:sp>
        <p:nvSpPr>
          <p:cNvPr id="5" name="Text 3"/>
          <p:cNvSpPr/>
          <p:nvPr/>
        </p:nvSpPr>
        <p:spPr>
          <a:xfrm>
            <a:off x="975360" y="2438400"/>
            <a:ext cx="8940800" cy="812800"/>
          </a:xfrm>
          <a:prstGeom prst="rect">
            <a:avLst/>
          </a:prstGeom>
          <a:noFill/>
          <a:ln/>
        </p:spPr>
        <p:txBody>
          <a:bodyPr wrap="square"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Many landmarks are sacred or important to the people who live near them.</a:t>
            </a:r>
            <a:endParaRPr lang="en-US" sz="1400" dirty="0"/>
          </a:p>
        </p:txBody>
      </p:sp>
      <p:sp>
        <p:nvSpPr>
          <p:cNvPr id="6" name="Text 4"/>
          <p:cNvSpPr/>
          <p:nvPr/>
        </p:nvSpPr>
        <p:spPr>
          <a:xfrm>
            <a:off x="975360" y="3576320"/>
            <a:ext cx="8940800" cy="812800"/>
          </a:xfrm>
          <a:prstGeom prst="rect">
            <a:avLst/>
          </a:prstGeom>
          <a:noFill/>
          <a:ln/>
        </p:spPr>
        <p:txBody>
          <a:bodyPr wrap="square" rtlCol="0" anchor="ctr"/>
          <a:lstStyle/>
          <a:p>
            <a:pPr indent="0" marL="0">
              <a:buNone/>
            </a:pPr>
            <a:r>
              <a:rPr lang="en-US" sz="1300" dirty="0">
                <a:solidFill>
                  <a:srgbClr val="B8C4E0"/>
                </a:solidFill>
                <a:latin typeface="Calibri" pitchFamily="34" charset="0"/>
                <a:ea typeface="Calibri" pitchFamily="34" charset="-122"/>
                <a:cs typeface="Calibri" pitchFamily="34" charset="-120"/>
              </a:rPr>
              <a:t>The pyramid of Chichen Itza </a:t>
            </a:r>
            <a:pPr indent="0" marL="0">
              <a:buNone/>
            </a:pPr>
            <a:r>
              <a:rPr lang="en-US" sz="1300" dirty="0">
                <a:solidFill>
                  <a:srgbClr val="B8C4E0"/>
                </a:solidFill>
                <a:latin typeface="Calibri" pitchFamily="34" charset="0"/>
                <a:ea typeface="Calibri" pitchFamily="34" charset="-122"/>
                <a:cs typeface="Calibri" pitchFamily="34" charset="-120"/>
              </a:rPr>
              <a:t>was built by the Maya people more than 1,000 years ago.</a:t>
            </a:r>
            <a:endParaRPr lang="en-US" sz="1300" dirty="0"/>
          </a:p>
        </p:txBody>
      </p:sp>
      <p:sp>
        <p:nvSpPr>
          <p:cNvPr id="7" name="Text 5"/>
          <p:cNvSpPr/>
          <p:nvPr/>
        </p:nvSpPr>
        <p:spPr>
          <a:xfrm>
            <a:off x="975360" y="4470400"/>
            <a:ext cx="8940800" cy="812800"/>
          </a:xfrm>
          <a:prstGeom prst="rect">
            <a:avLst/>
          </a:prstGeom>
          <a:noFill/>
          <a:ln/>
        </p:spPr>
        <p:txBody>
          <a:bodyPr wrap="square" rtlCol="0" anchor="ctr"/>
          <a:lstStyle/>
          <a:p>
            <a:pPr indent="0" marL="0">
              <a:buNone/>
            </a:pPr>
            <a:r>
              <a:rPr lang="en-US" sz="1300" dirty="0">
                <a:solidFill>
                  <a:srgbClr val="B8C4E0"/>
                </a:solidFill>
                <a:latin typeface="Calibri" pitchFamily="34" charset="0"/>
                <a:ea typeface="Calibri" pitchFamily="34" charset="-122"/>
                <a:cs typeface="Calibri" pitchFamily="34" charset="-120"/>
              </a:rPr>
              <a:t>The Statue of Liberty </a:t>
            </a:r>
            <a:pPr indent="0" marL="0">
              <a:buNone/>
            </a:pPr>
            <a:r>
              <a:rPr lang="en-US" sz="1300" dirty="0">
                <a:solidFill>
                  <a:srgbClr val="B8C4E0"/>
                </a:solidFill>
                <a:latin typeface="Calibri" pitchFamily="34" charset="0"/>
                <a:ea typeface="Calibri" pitchFamily="34" charset="-122"/>
                <a:cs typeface="Calibri" pitchFamily="34" charset="-120"/>
              </a:rPr>
              <a:t>welcomes new neighbors to the United States.</a:t>
            </a:r>
            <a:endParaRPr lang="en-US" sz="1300" dirty="0"/>
          </a:p>
        </p:txBody>
      </p:sp>
      <p:sp>
        <p:nvSpPr>
          <p:cNvPr id="8" name="Text 6"/>
          <p:cNvSpPr/>
          <p:nvPr/>
        </p:nvSpPr>
        <p:spPr>
          <a:xfrm>
            <a:off x="975360" y="5527040"/>
            <a:ext cx="8940800" cy="650240"/>
          </a:xfrm>
          <a:prstGeom prst="rect">
            <a:avLst/>
          </a:prstGeom>
          <a:noFill/>
          <a:ln/>
        </p:spPr>
        <p:txBody>
          <a:bodyPr wrap="square"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Curators study these places carefully -- and respectfully.</a:t>
            </a:r>
            <a:endParaRPr lang="en-US" sz="1300" dirty="0"/>
          </a:p>
        </p:txBody>
      </p:sp>
      <p:sp>
        <p:nvSpPr>
          <p:cNvPr id="9" name="Shape 7"/>
          <p:cNvSpPr/>
          <p:nvPr/>
        </p:nvSpPr>
        <p:spPr>
          <a:xfrm>
            <a:off x="10566400" y="1950720"/>
            <a:ext cx="4876800" cy="4551680"/>
          </a:xfrm>
          <a:prstGeom prst="roundRect">
            <a:avLst>
              <a:gd name="adj" fmla="val 4286"/>
            </a:avLst>
          </a:prstGeom>
          <a:solidFill>
            <a:srgbClr val="0E1C42"/>
          </a:solidFill>
          <a:ln w="12700">
            <a:solidFill>
              <a:srgbClr val="D4943A"/>
            </a:solidFill>
            <a:prstDash val="solid"/>
          </a:ln>
        </p:spPr>
      </p:sp>
      <p:sp>
        <p:nvSpPr>
          <p:cNvPr id="10" name="Text 8"/>
          <p:cNvSpPr/>
          <p:nvPr/>
        </p:nvSpPr>
        <p:spPr>
          <a:xfrm>
            <a:off x="10891520" y="2194560"/>
            <a:ext cx="422656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ROLE</a:t>
            </a:r>
            <a:endParaRPr lang="en-US" sz="900" dirty="0"/>
          </a:p>
        </p:txBody>
      </p:sp>
      <p:sp>
        <p:nvSpPr>
          <p:cNvPr id="11" name="Text 9"/>
          <p:cNvSpPr/>
          <p:nvPr/>
        </p:nvSpPr>
        <p:spPr>
          <a:xfrm>
            <a:off x="10891520" y="2682240"/>
            <a:ext cx="4226560" cy="5689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Regional Curator</a:t>
            </a:r>
            <a:endParaRPr lang="en-US" sz="1600" dirty="0"/>
          </a:p>
        </p:txBody>
      </p:sp>
      <p:sp>
        <p:nvSpPr>
          <p:cNvPr id="12" name="Text 10"/>
          <p:cNvSpPr/>
          <p:nvPr/>
        </p:nvSpPr>
        <p:spPr>
          <a:xfrm>
            <a:off x="10891520" y="3413760"/>
            <a:ext cx="4226560" cy="2438400"/>
          </a:xfrm>
          <a:prstGeom prst="rect">
            <a:avLst/>
          </a:prstGeom>
          <a:noFill/>
          <a:ln/>
        </p:spPr>
        <p:txBody>
          <a:bodyPr wrap="square" rtlCol="0" anchor="t"/>
          <a:lstStyle/>
          <a:p>
            <a:pPr indent="0" marL="0">
              <a:lnSpc>
                <a:spcPct val="130000"/>
              </a:lnSpc>
              <a:buNone/>
            </a:pPr>
            <a:r>
              <a:rPr lang="en-US" sz="1100" dirty="0">
                <a:solidFill>
                  <a:srgbClr val="B8C4E0"/>
                </a:solidFill>
                <a:latin typeface="Calibri" pitchFamily="34" charset="0"/>
                <a:ea typeface="Calibri" pitchFamily="34" charset="-122"/>
                <a:cs typeface="Calibri" pitchFamily="34" charset="-120"/>
              </a:rPr>
              <a:t>Your job: help visitors recognize the famous places that make this region special. Today you'll sort landmark photos and write a caption.</a:t>
            </a:r>
            <a:endParaRPr lang="en-US" sz="1100" dirty="0"/>
          </a:p>
        </p:txBody>
      </p:sp>
      <p:sp>
        <p:nvSpPr>
          <p:cNvPr id="13" name="Text 11"/>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3 / 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CURATOR'S QUESTION</a:t>
            </a:r>
            <a:endParaRPr lang="en-US" sz="1000" dirty="0"/>
          </a:p>
        </p:txBody>
      </p:sp>
      <p:sp>
        <p:nvSpPr>
          <p:cNvPr id="4" name="Shape 2"/>
          <p:cNvSpPr/>
          <p:nvPr/>
        </p:nvSpPr>
        <p:spPr>
          <a:xfrm>
            <a:off x="812800" y="1219200"/>
            <a:ext cx="14630400" cy="1788160"/>
          </a:xfrm>
          <a:prstGeom prst="roundRect">
            <a:avLst>
              <a:gd name="adj" fmla="val 10909"/>
            </a:avLst>
          </a:prstGeom>
          <a:solidFill>
            <a:srgbClr val="FFFFFF"/>
          </a:solidFill>
          <a:ln/>
          <a:effectLst>
            <a:outerShdw sx="100000" sy="100000" kx="0" ky="0" algn="bl" rotWithShape="0" blurRad="76200" dist="25400" dir="8100000">
              <a:srgbClr val="000000">
                <a:alpha val="10000"/>
              </a:srgbClr>
            </a:outerShdw>
          </a:effectLst>
        </p:spPr>
      </p:sp>
      <p:sp>
        <p:nvSpPr>
          <p:cNvPr id="5" name="Text 3"/>
          <p:cNvSpPr/>
          <p:nvPr/>
        </p:nvSpPr>
        <p:spPr>
          <a:xfrm>
            <a:off x="1137920" y="1381760"/>
            <a:ext cx="13980160" cy="1463040"/>
          </a:xfrm>
          <a:prstGeom prst="rect">
            <a:avLst/>
          </a:prstGeom>
          <a:noFill/>
          <a:ln/>
        </p:spPr>
        <p:txBody>
          <a:bodyPr wrap="square" rtlCol="0" anchor="ctr"/>
          <a:lstStyle/>
          <a:p>
            <a:pPr indent="0" marL="0">
              <a:buNone/>
            </a:pPr>
            <a:r>
              <a:rPr lang="en-US" sz="1600" b="1" i="1" dirty="0">
                <a:solidFill>
                  <a:srgbClr val="0E1C42"/>
                </a:solidFill>
                <a:latin typeface="Cambria" pitchFamily="34" charset="0"/>
                <a:ea typeface="Cambria" pitchFamily="34" charset="-122"/>
                <a:cs typeface="Cambria" pitchFamily="34" charset="-120"/>
              </a:rPr>
              <a:t>What is the difference between a natural landmark and a man-made landmark -- and what can landmarks tell us about a place?</a:t>
            </a:r>
            <a:endParaRPr lang="en-US" sz="1600" dirty="0"/>
          </a:p>
        </p:txBody>
      </p:sp>
      <p:sp>
        <p:nvSpPr>
          <p:cNvPr id="6" name="Text 4"/>
          <p:cNvSpPr/>
          <p:nvPr/>
        </p:nvSpPr>
        <p:spPr>
          <a:xfrm>
            <a:off x="812800" y="3495040"/>
            <a:ext cx="6502400" cy="455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TODAY'S OBJECTIVES</a:t>
            </a:r>
            <a:endParaRPr lang="en-US" sz="900" dirty="0"/>
          </a:p>
        </p:txBody>
      </p:sp>
      <p:sp>
        <p:nvSpPr>
          <p:cNvPr id="7" name="Shape 5"/>
          <p:cNvSpPr/>
          <p:nvPr/>
        </p:nvSpPr>
        <p:spPr>
          <a:xfrm>
            <a:off x="812800" y="4145280"/>
            <a:ext cx="8940800" cy="894080"/>
          </a:xfrm>
          <a:prstGeom prst="roundRect">
            <a:avLst>
              <a:gd name="adj" fmla="val 14545"/>
            </a:avLst>
          </a:prstGeom>
          <a:solidFill>
            <a:srgbClr val="FFFFFF"/>
          </a:solidFill>
          <a:ln w="12700">
            <a:solidFill>
              <a:srgbClr val="D8DDE8"/>
            </a:solidFill>
            <a:prstDash val="solid"/>
          </a:ln>
        </p:spPr>
      </p:sp>
      <p:sp>
        <p:nvSpPr>
          <p:cNvPr id="8" name="Text 6"/>
          <p:cNvSpPr/>
          <p:nvPr/>
        </p:nvSpPr>
        <p:spPr>
          <a:xfrm>
            <a:off x="1219200" y="4145280"/>
            <a:ext cx="812800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Tell the difference between natural and man-made landmarks.</a:t>
            </a:r>
            <a:endParaRPr lang="en-US" sz="1300" dirty="0"/>
          </a:p>
        </p:txBody>
      </p:sp>
      <p:sp>
        <p:nvSpPr>
          <p:cNvPr id="9" name="Shape 7"/>
          <p:cNvSpPr/>
          <p:nvPr/>
        </p:nvSpPr>
        <p:spPr>
          <a:xfrm>
            <a:off x="812800" y="5201920"/>
            <a:ext cx="8940800" cy="894080"/>
          </a:xfrm>
          <a:prstGeom prst="roundRect">
            <a:avLst>
              <a:gd name="adj" fmla="val 14545"/>
            </a:avLst>
          </a:prstGeom>
          <a:solidFill>
            <a:srgbClr val="FFFFFF"/>
          </a:solidFill>
          <a:ln w="12700">
            <a:solidFill>
              <a:srgbClr val="D8DDE8"/>
            </a:solidFill>
            <a:prstDash val="solid"/>
          </a:ln>
        </p:spPr>
      </p:sp>
      <p:sp>
        <p:nvSpPr>
          <p:cNvPr id="10" name="Text 8"/>
          <p:cNvSpPr/>
          <p:nvPr/>
        </p:nvSpPr>
        <p:spPr>
          <a:xfrm>
            <a:off x="1219200" y="5201920"/>
            <a:ext cx="812800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Name famous landmarks from North America and the Caribbean.</a:t>
            </a:r>
            <a:endParaRPr lang="en-US" sz="1300" dirty="0"/>
          </a:p>
        </p:txBody>
      </p:sp>
      <p:sp>
        <p:nvSpPr>
          <p:cNvPr id="11" name="Shape 9"/>
          <p:cNvSpPr/>
          <p:nvPr/>
        </p:nvSpPr>
        <p:spPr>
          <a:xfrm>
            <a:off x="812800" y="6258560"/>
            <a:ext cx="8940800" cy="894080"/>
          </a:xfrm>
          <a:prstGeom prst="roundRect">
            <a:avLst>
              <a:gd name="adj" fmla="val 14545"/>
            </a:avLst>
          </a:prstGeom>
          <a:solidFill>
            <a:srgbClr val="FFFFFF"/>
          </a:solidFill>
          <a:ln w="12700">
            <a:solidFill>
              <a:srgbClr val="D8DDE8"/>
            </a:solidFill>
            <a:prstDash val="solid"/>
          </a:ln>
        </p:spPr>
      </p:sp>
      <p:sp>
        <p:nvSpPr>
          <p:cNvPr id="12" name="Text 10"/>
          <p:cNvSpPr/>
          <p:nvPr/>
        </p:nvSpPr>
        <p:spPr>
          <a:xfrm>
            <a:off x="1219200" y="6258560"/>
            <a:ext cx="812800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Explain what one landmark tells us about its place.</a:t>
            </a:r>
            <a:endParaRPr lang="en-US" sz="1300" dirty="0"/>
          </a:p>
        </p:txBody>
      </p:sp>
      <p:sp>
        <p:nvSpPr>
          <p:cNvPr id="13" name="Shape 11"/>
          <p:cNvSpPr/>
          <p:nvPr/>
        </p:nvSpPr>
        <p:spPr>
          <a:xfrm>
            <a:off x="10566400" y="4145280"/>
            <a:ext cx="4876800" cy="3169920"/>
          </a:xfrm>
          <a:prstGeom prst="roundRect">
            <a:avLst>
              <a:gd name="adj" fmla="val 5128"/>
            </a:avLst>
          </a:prstGeom>
          <a:solidFill>
            <a:srgbClr val="FFF3DC"/>
          </a:solidFill>
          <a:ln w="12700">
            <a:solidFill>
              <a:srgbClr val="F5E6C8"/>
            </a:solidFill>
            <a:prstDash val="solid"/>
          </a:ln>
        </p:spPr>
      </p:sp>
      <p:sp>
        <p:nvSpPr>
          <p:cNvPr id="14" name="Text 12"/>
          <p:cNvSpPr/>
          <p:nvPr/>
        </p:nvSpPr>
        <p:spPr>
          <a:xfrm>
            <a:off x="10891520" y="4307840"/>
            <a:ext cx="422656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YOU'LL NEED</a:t>
            </a:r>
            <a:endParaRPr lang="en-US" sz="900" dirty="0"/>
          </a:p>
        </p:txBody>
      </p:sp>
      <p:sp>
        <p:nvSpPr>
          <p:cNvPr id="15" name="Text 13"/>
          <p:cNvSpPr/>
          <p:nvPr/>
        </p:nvSpPr>
        <p:spPr>
          <a:xfrm>
            <a:off x="10891520" y="4876800"/>
            <a:ext cx="4226560" cy="1950720"/>
          </a:xfrm>
          <a:prstGeom prst="rect">
            <a:avLst/>
          </a:prstGeom>
          <a:noFill/>
          <a:ln/>
        </p:spPr>
        <p:txBody>
          <a:bodyPr wrap="square" rtlCol="0" anchor="t"/>
          <a:lstStyle/>
          <a:p>
            <a:pPr indent="0" marL="0">
              <a:lnSpc>
                <a:spcPct val="150000"/>
              </a:lnSpc>
              <a:buNone/>
            </a:pPr>
            <a:r>
              <a:rPr lang="en-US" sz="1200" dirty="0">
                <a:solidFill>
                  <a:srgbClr val="5A4A3A"/>
                </a:solidFill>
                <a:latin typeface="Calibri" pitchFamily="34" charset="0"/>
                <a:ea typeface="Calibri" pitchFamily="34" charset="-122"/>
                <a:cs typeface="Calibri" pitchFamily="34" charset="-120"/>
              </a:rPr>
              <a:t>Curator's Notebook</a:t>
            </a:r>
            <a:endParaRPr lang="en-US" sz="1200" dirty="0"/>
          </a:p>
          <a:p>
            <a:pPr indent="0" marL="0">
              <a:lnSpc>
                <a:spcPct val="150000"/>
              </a:lnSpc>
              <a:buNone/>
            </a:pPr>
            <a:r>
              <a:rPr lang="en-US" sz="1200" dirty="0">
                <a:solidFill>
                  <a:srgbClr val="5A4A3A"/>
                </a:solidFill>
                <a:latin typeface="Calibri" pitchFamily="34" charset="0"/>
                <a:ea typeface="Calibri" pitchFamily="34" charset="-122"/>
                <a:cs typeface="Calibri" pitchFamily="34" charset="-120"/>
              </a:rPr>
              <a:t>Pencil</a:t>
            </a:r>
            <a:endParaRPr lang="en-US" sz="1200" dirty="0"/>
          </a:p>
          <a:p>
            <a:pPr indent="0" marL="0">
              <a:lnSpc>
                <a:spcPct val="150000"/>
              </a:lnSpc>
              <a:buNone/>
            </a:pPr>
            <a:r>
              <a:rPr lang="en-US" sz="1200" dirty="0">
                <a:solidFill>
                  <a:srgbClr val="5A4A3A"/>
                </a:solidFill>
                <a:latin typeface="Calibri" pitchFamily="34" charset="0"/>
                <a:ea typeface="Calibri" pitchFamily="34" charset="-122"/>
                <a:cs typeface="Calibri" pitchFamily="34" charset="-120"/>
              </a:rPr>
              <a:t>Lesson Page</a:t>
            </a:r>
            <a:endParaRPr lang="en-US" sz="1200" dirty="0"/>
          </a:p>
        </p:txBody>
      </p:sp>
      <p:sp>
        <p:nvSpPr>
          <p:cNvPr id="16" name="Text 14"/>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4 / 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NOTICE — WHAT IS A LANDMARK?</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a Landmark?</a:t>
            </a:r>
            <a:endParaRPr lang="en-US" sz="2400" dirty="0"/>
          </a:p>
        </p:txBody>
      </p:sp>
      <p:sp>
        <p:nvSpPr>
          <p:cNvPr id="5" name="Shape 3"/>
          <p:cNvSpPr/>
          <p:nvPr/>
        </p:nvSpPr>
        <p:spPr>
          <a:xfrm>
            <a:off x="812800" y="2275840"/>
            <a:ext cx="8940800" cy="1950720"/>
          </a:xfrm>
          <a:prstGeom prst="roundRect">
            <a:avLst>
              <a:gd name="adj" fmla="val 8333"/>
            </a:avLst>
          </a:prstGeom>
          <a:solidFill>
            <a:srgbClr val="EAF8FD"/>
          </a:solidFill>
          <a:ln w="12700">
            <a:solidFill>
              <a:srgbClr val="C8E8F4"/>
            </a:solidFill>
            <a:prstDash val="solid"/>
          </a:ln>
        </p:spPr>
      </p:sp>
      <p:sp>
        <p:nvSpPr>
          <p:cNvPr id="6" name="Text 4"/>
          <p:cNvSpPr/>
          <p:nvPr/>
        </p:nvSpPr>
        <p:spPr>
          <a:xfrm>
            <a:off x="1137920" y="2438400"/>
            <a:ext cx="8290560" cy="1625600"/>
          </a:xfrm>
          <a:prstGeom prst="rect">
            <a:avLst/>
          </a:prstGeom>
          <a:noFill/>
          <a:ln/>
        </p:spPr>
        <p:txBody>
          <a:bodyPr wrap="square" rtlCol="0" anchor="ctr"/>
          <a:lstStyle/>
          <a:p>
            <a:pPr indent="0" marL="0">
              <a:lnSpc>
                <a:spcPct val="130000"/>
              </a:lnSpc>
              <a:buNone/>
            </a:pPr>
            <a:r>
              <a:rPr lang="en-US" sz="1400" b="1" dirty="0">
                <a:solidFill>
                  <a:srgbClr val="0E1C42"/>
                </a:solidFill>
                <a:latin typeface="Calibri" pitchFamily="34" charset="0"/>
                <a:ea typeface="Calibri" pitchFamily="34" charset="-122"/>
                <a:cs typeface="Calibri" pitchFamily="34" charset="-120"/>
              </a:rPr>
              <a:t>A landmark </a:t>
            </a:r>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is a place so famous, important, or unique that people travel from far away just to see it.</a:t>
            </a:r>
            <a:endParaRPr lang="en-US" sz="1400" dirty="0"/>
          </a:p>
        </p:txBody>
      </p:sp>
      <p:sp>
        <p:nvSpPr>
          <p:cNvPr id="7" name="Text 5"/>
          <p:cNvSpPr/>
          <p:nvPr/>
        </p:nvSpPr>
        <p:spPr>
          <a:xfrm>
            <a:off x="812800" y="4551680"/>
            <a:ext cx="8940800" cy="97536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Every region has landmarks. They help visitors recognize a place the moment they see a photo of it.</a:t>
            </a:r>
            <a:endParaRPr lang="en-US" sz="1300" dirty="0"/>
          </a:p>
        </p:txBody>
      </p:sp>
      <p:sp>
        <p:nvSpPr>
          <p:cNvPr id="8" name="Shape 6"/>
          <p:cNvSpPr/>
          <p:nvPr/>
        </p:nvSpPr>
        <p:spPr>
          <a:xfrm>
            <a:off x="10241280" y="1137920"/>
            <a:ext cx="520192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10241280" y="113792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485120" y="1625600"/>
            <a:ext cx="471424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Collage of 6 landmark thumbnails: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Grand Canyon, Niagara Falls, Caribbean Coral Reef,</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Statue of Liberty, Chichen Itza, CN Tower</a:t>
            </a:r>
            <a:endParaRPr lang="en-US" sz="1100" dirty="0"/>
          </a:p>
        </p:txBody>
      </p:sp>
      <p:sp>
        <p:nvSpPr>
          <p:cNvPr id="11" name="Shape 9"/>
          <p:cNvSpPr/>
          <p:nvPr/>
        </p:nvSpPr>
        <p:spPr>
          <a:xfrm>
            <a:off x="812800" y="5852160"/>
            <a:ext cx="894080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137920" y="6014720"/>
            <a:ext cx="82905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137920" y="6469888"/>
            <a:ext cx="829056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famous places have you heard of or seen in photos?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people travel a long way to stand in front of a place?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recognize a place just from its photo?</a:t>
            </a:r>
            <a:endParaRPr lang="en-US" sz="1100" dirty="0"/>
          </a:p>
        </p:txBody>
      </p:sp>
      <p:sp>
        <p:nvSpPr>
          <p:cNvPr id="14" name="Text 12"/>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5 / 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NAME — TWO KINDS OF LANDMARKS</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Two Kinds of Landmarks</a:t>
            </a:r>
            <a:endParaRPr lang="en-US" sz="2400" dirty="0"/>
          </a:p>
        </p:txBody>
      </p:sp>
      <p:sp>
        <p:nvSpPr>
          <p:cNvPr id="5" name="Shape 3"/>
          <p:cNvSpPr/>
          <p:nvPr/>
        </p:nvSpPr>
        <p:spPr>
          <a:xfrm>
            <a:off x="812800" y="2275840"/>
            <a:ext cx="6908800" cy="4876800"/>
          </a:xfrm>
          <a:prstGeom prst="roundRect">
            <a:avLst>
              <a:gd name="adj" fmla="val 4000"/>
            </a:avLst>
          </a:prstGeom>
          <a:solidFill>
            <a:srgbClr val="E3F8ED"/>
          </a:solidFill>
          <a:ln w="12700">
            <a:solidFill>
              <a:srgbClr val="A8D8B8"/>
            </a:solidFill>
            <a:prstDash val="solid"/>
          </a:ln>
        </p:spPr>
      </p:sp>
      <p:sp>
        <p:nvSpPr>
          <p:cNvPr id="6" name="Text 4"/>
          <p:cNvSpPr/>
          <p:nvPr/>
        </p:nvSpPr>
        <p:spPr>
          <a:xfrm>
            <a:off x="1137920" y="2438400"/>
            <a:ext cx="6258560" cy="455168"/>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NATURAL LANDMARKS</a:t>
            </a:r>
            <a:endParaRPr lang="en-US" sz="1000" dirty="0"/>
          </a:p>
        </p:txBody>
      </p:sp>
      <p:sp>
        <p:nvSpPr>
          <p:cNvPr id="7" name="Text 5"/>
          <p:cNvSpPr/>
          <p:nvPr/>
        </p:nvSpPr>
        <p:spPr>
          <a:xfrm>
            <a:off x="1137920" y="3007360"/>
            <a:ext cx="6258560" cy="1300480"/>
          </a:xfrm>
          <a:prstGeom prst="rect">
            <a:avLst/>
          </a:prstGeom>
          <a:noFill/>
          <a:ln/>
        </p:spPr>
        <p:txBody>
          <a:bodyPr wrap="square"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Made by nature over a very long time -- wind, water, ice, or movement deep inside the Earth. People did not build them.</a:t>
            </a:r>
            <a:endParaRPr lang="en-US" sz="1200" dirty="0"/>
          </a:p>
        </p:txBody>
      </p:sp>
      <p:sp>
        <p:nvSpPr>
          <p:cNvPr id="8" name="Text 6"/>
          <p:cNvSpPr/>
          <p:nvPr/>
        </p:nvSpPr>
        <p:spPr>
          <a:xfrm>
            <a:off x="1137920" y="4470400"/>
            <a:ext cx="6258560" cy="2438400"/>
          </a:xfrm>
          <a:prstGeom prst="rect">
            <a:avLst/>
          </a:prstGeom>
          <a:noFill/>
          <a:ln/>
        </p:spPr>
        <p:txBody>
          <a:bodyPr wrap="square" rtlCol="0" anchor="t"/>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Grand Canyon -- carved by the Colorado River over millions of years</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Niagara Falls -- shaped by water flowing over a cliff edge</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Caribbean Coral Reefs -- built by tiny sea creatures over thousands of years</a:t>
            </a:r>
            <a:endParaRPr lang="en-US" sz="1100" dirty="0"/>
          </a:p>
        </p:txBody>
      </p:sp>
      <p:sp>
        <p:nvSpPr>
          <p:cNvPr id="9" name="Shape 7"/>
          <p:cNvSpPr/>
          <p:nvPr/>
        </p:nvSpPr>
        <p:spPr>
          <a:xfrm>
            <a:off x="8534400" y="2275840"/>
            <a:ext cx="6908800" cy="4876800"/>
          </a:xfrm>
          <a:prstGeom prst="roundRect">
            <a:avLst>
              <a:gd name="adj" fmla="val 4000"/>
            </a:avLst>
          </a:prstGeom>
          <a:solidFill>
            <a:srgbClr val="F0E8FF"/>
          </a:solidFill>
          <a:ln w="12700">
            <a:solidFill>
              <a:srgbClr val="C8B8E0"/>
            </a:solidFill>
            <a:prstDash val="solid"/>
          </a:ln>
        </p:spPr>
      </p:sp>
      <p:sp>
        <p:nvSpPr>
          <p:cNvPr id="10" name="Text 8"/>
          <p:cNvSpPr/>
          <p:nvPr/>
        </p:nvSpPr>
        <p:spPr>
          <a:xfrm>
            <a:off x="8859520" y="2438400"/>
            <a:ext cx="6258560" cy="455168"/>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MAN-MADE LANDMARKS</a:t>
            </a:r>
            <a:endParaRPr lang="en-US" sz="1000" dirty="0"/>
          </a:p>
        </p:txBody>
      </p:sp>
      <p:sp>
        <p:nvSpPr>
          <p:cNvPr id="11" name="Text 9"/>
          <p:cNvSpPr/>
          <p:nvPr/>
        </p:nvSpPr>
        <p:spPr>
          <a:xfrm>
            <a:off x="8859520" y="3007360"/>
            <a:ext cx="6258560" cy="975360"/>
          </a:xfrm>
          <a:prstGeom prst="rect">
            <a:avLst/>
          </a:prstGeom>
          <a:noFill/>
          <a:ln/>
        </p:spPr>
        <p:txBody>
          <a:bodyPr wrap="square"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Built by people. Someone designed and constructed them on purpose.</a:t>
            </a:r>
            <a:endParaRPr lang="en-US" sz="1200" dirty="0"/>
          </a:p>
        </p:txBody>
      </p:sp>
      <p:sp>
        <p:nvSpPr>
          <p:cNvPr id="12" name="Text 10"/>
          <p:cNvSpPr/>
          <p:nvPr/>
        </p:nvSpPr>
        <p:spPr>
          <a:xfrm>
            <a:off x="8859520" y="4145280"/>
            <a:ext cx="6258560" cy="2763520"/>
          </a:xfrm>
          <a:prstGeom prst="rect">
            <a:avLst/>
          </a:prstGeom>
          <a:noFill/>
          <a:ln/>
        </p:spPr>
        <p:txBody>
          <a:bodyPr wrap="square" rtlCol="0" anchor="t"/>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Statue of Liberty -- a gift from France in 1886</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Chichen Itza Pyramid -- built by the Maya people over 1,000 years ago</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CN Tower -- finished in Toronto in 1976; once the tallest building on Earth</a:t>
            </a:r>
            <a:endParaRPr lang="en-US" sz="1100" dirty="0"/>
          </a:p>
        </p:txBody>
      </p:sp>
      <p:sp>
        <p:nvSpPr>
          <p:cNvPr id="13" name="Shape 11"/>
          <p:cNvSpPr/>
          <p:nvPr/>
        </p:nvSpPr>
        <p:spPr>
          <a:xfrm>
            <a:off x="812800" y="7477760"/>
            <a:ext cx="14630400" cy="975360"/>
          </a:xfrm>
          <a:prstGeom prst="roundRect">
            <a:avLst>
              <a:gd name="adj" fmla="val 13333"/>
            </a:avLst>
          </a:prstGeom>
          <a:solidFill>
            <a:srgbClr val="FFF3DC"/>
          </a:solidFill>
          <a:ln/>
        </p:spPr>
      </p:sp>
      <p:sp>
        <p:nvSpPr>
          <p:cNvPr id="14" name="Text 12"/>
          <p:cNvSpPr/>
          <p:nvPr/>
        </p:nvSpPr>
        <p:spPr>
          <a:xfrm>
            <a:off x="1137920" y="7559040"/>
            <a:ext cx="13980160" cy="812800"/>
          </a:xfrm>
          <a:prstGeom prst="rect">
            <a:avLst/>
          </a:prstGeom>
          <a:noFill/>
          <a:ln/>
        </p:spPr>
        <p:txBody>
          <a:bodyPr wrap="square" rtlCol="0" anchor="ctr"/>
          <a:lstStyle/>
          <a:p>
            <a:pPr indent="0" marL="0">
              <a:buNone/>
            </a:pPr>
            <a:r>
              <a:rPr lang="en-US" sz="1200" b="1" i="1" dirty="0">
                <a:solidFill>
                  <a:srgbClr val="0E1C42"/>
                </a:solidFill>
                <a:latin typeface="Calibri" pitchFamily="34" charset="0"/>
                <a:ea typeface="Calibri" pitchFamily="34" charset="-122"/>
                <a:cs typeface="Calibri" pitchFamily="34" charset="-120"/>
              </a:rPr>
              <a:t>A natural landmark tells us what the land does. A man-made landmark tells us what the people valued enough to build.</a:t>
            </a:r>
            <a:endParaRPr lang="en-US" sz="1200" dirty="0"/>
          </a:p>
        </p:txBody>
      </p:sp>
      <p:sp>
        <p:nvSpPr>
          <p:cNvPr id="15" name="Text 13"/>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6 / 20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SOURCE 1 — NATURAL LANDMARK</a:t>
            </a:r>
            <a:endParaRPr lang="en-US" sz="1000" dirty="0"/>
          </a:p>
        </p:txBody>
      </p:sp>
      <p:sp>
        <p:nvSpPr>
          <p:cNvPr id="4" name="Shape 2"/>
          <p:cNvSpPr/>
          <p:nvPr/>
        </p:nvSpPr>
        <p:spPr>
          <a:xfrm>
            <a:off x="812800" y="1137920"/>
            <a:ext cx="8940800" cy="6177280"/>
          </a:xfrm>
          <a:prstGeom prst="roundRect">
            <a:avLst>
              <a:gd name="adj" fmla="val 3158"/>
            </a:avLst>
          </a:prstGeom>
          <a:solidFill>
            <a:srgbClr val="E2E8F4"/>
          </a:solidFill>
          <a:ln w="19050">
            <a:solidFill>
              <a:srgbClr val="B0B8CC"/>
            </a:solidFill>
            <a:prstDash val="dash"/>
          </a:ln>
        </p:spPr>
      </p:sp>
      <p:sp>
        <p:nvSpPr>
          <p:cNvPr id="5" name="Text 3"/>
          <p:cNvSpPr/>
          <p:nvPr/>
        </p:nvSpPr>
        <p:spPr>
          <a:xfrm>
            <a:off x="812800" y="1137920"/>
            <a:ext cx="89408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056640" y="1625600"/>
            <a:ext cx="845312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Wide photograph of the Grand Canyon, Arizona --</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layered red and orange rock walls cut deep into the Earth,</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with the Colorado River visible at the bottom.</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Source: nps.gov/grca, Library of Congress,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USGS, or Wikimedia Commons (public domain)</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source-3-06-03-grand-canyon.jpg</a:t>
            </a:r>
            <a:endParaRPr lang="en-US" sz="1100" dirty="0"/>
          </a:p>
        </p:txBody>
      </p:sp>
      <p:sp>
        <p:nvSpPr>
          <p:cNvPr id="7" name="Shape 5"/>
          <p:cNvSpPr/>
          <p:nvPr/>
        </p:nvSpPr>
        <p:spPr>
          <a:xfrm>
            <a:off x="10241280" y="1137920"/>
            <a:ext cx="5364480" cy="2926080"/>
          </a:xfrm>
          <a:prstGeom prst="roundRect">
            <a:avLst>
              <a:gd name="adj" fmla="val 5556"/>
            </a:avLst>
          </a:prstGeom>
          <a:solidFill>
            <a:srgbClr val="E3F8ED"/>
          </a:solidFill>
          <a:ln w="12700">
            <a:solidFill>
              <a:srgbClr val="A8D8B8"/>
            </a:solidFill>
            <a:prstDash val="solid"/>
          </a:ln>
        </p:spPr>
      </p:sp>
      <p:sp>
        <p:nvSpPr>
          <p:cNvPr id="8" name="Text 6"/>
          <p:cNvSpPr/>
          <p:nvPr/>
        </p:nvSpPr>
        <p:spPr>
          <a:xfrm>
            <a:off x="10566400" y="1300480"/>
            <a:ext cx="4714240" cy="568960"/>
          </a:xfrm>
          <a:prstGeom prst="rect">
            <a:avLst/>
          </a:prstGeom>
          <a:noFill/>
          <a:ln/>
        </p:spPr>
        <p:txBody>
          <a:bodyPr wrap="square"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The Grand Canyon</a:t>
            </a:r>
            <a:endParaRPr lang="en-US" sz="1500" dirty="0"/>
          </a:p>
        </p:txBody>
      </p:sp>
      <p:sp>
        <p:nvSpPr>
          <p:cNvPr id="9" name="Text 7"/>
          <p:cNvSpPr/>
          <p:nvPr/>
        </p:nvSpPr>
        <p:spPr>
          <a:xfrm>
            <a:off x="10566400" y="1869440"/>
            <a:ext cx="4714240" cy="406400"/>
          </a:xfrm>
          <a:prstGeom prst="rect">
            <a:avLst/>
          </a:prstGeom>
          <a:noFill/>
          <a:ln/>
        </p:spPr>
        <p:txBody>
          <a:bodyPr wrap="square" rtlCol="0" anchor="ctr"/>
          <a:lstStyle/>
          <a:p>
            <a:pPr indent="0" marL="0">
              <a:buNone/>
            </a:pPr>
            <a:r>
              <a:rPr lang="en-US" sz="1100" dirty="0">
                <a:solidFill>
                  <a:srgbClr val="1A8A7D"/>
                </a:solidFill>
                <a:latin typeface="Calibri" pitchFamily="34" charset="0"/>
                <a:ea typeface="Calibri" pitchFamily="34" charset="-122"/>
                <a:cs typeface="Calibri" pitchFamily="34" charset="-120"/>
              </a:rPr>
              <a:t>Arizona, United States</a:t>
            </a:r>
            <a:endParaRPr lang="en-US" sz="1100" dirty="0"/>
          </a:p>
        </p:txBody>
      </p:sp>
      <p:sp>
        <p:nvSpPr>
          <p:cNvPr id="10" name="Text 8"/>
          <p:cNvSpPr/>
          <p:nvPr/>
        </p:nvSpPr>
        <p:spPr>
          <a:xfrm>
            <a:off x="10566400" y="2438400"/>
            <a:ext cx="4714240" cy="1381760"/>
          </a:xfrm>
          <a:prstGeom prst="rect">
            <a:avLst/>
          </a:prstGeom>
          <a:noFill/>
          <a:ln/>
        </p:spPr>
        <p:txBody>
          <a:bodyPr wrap="square"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Natural Landmark</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Carved by the Colorado River over millions of years</a:t>
            </a:r>
            <a:endParaRPr lang="en-US" sz="1100" dirty="0"/>
          </a:p>
        </p:txBody>
      </p:sp>
      <p:sp>
        <p:nvSpPr>
          <p:cNvPr id="11" name="Shape 9"/>
          <p:cNvSpPr/>
          <p:nvPr/>
        </p:nvSpPr>
        <p:spPr>
          <a:xfrm>
            <a:off x="10241280" y="4389120"/>
            <a:ext cx="536448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0566400" y="4551680"/>
            <a:ext cx="47142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0566400" y="5006848"/>
            <a:ext cx="471424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layers of color can you spot in the rock walls?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at the very bottom of the canyon?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people build this? What do you think shaped it?</a:t>
            </a:r>
            <a:endParaRPr lang="en-US" sz="1100" dirty="0"/>
          </a:p>
        </p:txBody>
      </p:sp>
      <p:sp>
        <p:nvSpPr>
          <p:cNvPr id="14" name="Text 12"/>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7 / 20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SOURCE 2 — MAN-MADE LANDMARK</a:t>
            </a:r>
            <a:endParaRPr lang="en-US" sz="1000" dirty="0"/>
          </a:p>
        </p:txBody>
      </p:sp>
      <p:sp>
        <p:nvSpPr>
          <p:cNvPr id="4" name="Shape 2"/>
          <p:cNvSpPr/>
          <p:nvPr/>
        </p:nvSpPr>
        <p:spPr>
          <a:xfrm>
            <a:off x="812800" y="1137920"/>
            <a:ext cx="8940800" cy="6177280"/>
          </a:xfrm>
          <a:prstGeom prst="roundRect">
            <a:avLst>
              <a:gd name="adj" fmla="val 3158"/>
            </a:avLst>
          </a:prstGeom>
          <a:solidFill>
            <a:srgbClr val="E2E8F4"/>
          </a:solidFill>
          <a:ln w="19050">
            <a:solidFill>
              <a:srgbClr val="B0B8CC"/>
            </a:solidFill>
            <a:prstDash val="dash"/>
          </a:ln>
        </p:spPr>
      </p:sp>
      <p:sp>
        <p:nvSpPr>
          <p:cNvPr id="5" name="Text 3"/>
          <p:cNvSpPr/>
          <p:nvPr/>
        </p:nvSpPr>
        <p:spPr>
          <a:xfrm>
            <a:off x="812800" y="1137920"/>
            <a:ext cx="89408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056640" y="1625600"/>
            <a:ext cx="845312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El Castillo, the great stepped pyramid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at Chichen Itza, Yucatan, Mexico -- tall stone pyramid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with stairs running up the front to a small temple on top.</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Source: UNESCO (whc.unesco.org), Smithsonian,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Library of Congress, or Wikimedia Commons</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source-3-06-03-chichen-itza.jpg</a:t>
            </a:r>
            <a:endParaRPr lang="en-US" sz="1100" dirty="0"/>
          </a:p>
        </p:txBody>
      </p:sp>
      <p:sp>
        <p:nvSpPr>
          <p:cNvPr id="7" name="Shape 5"/>
          <p:cNvSpPr/>
          <p:nvPr/>
        </p:nvSpPr>
        <p:spPr>
          <a:xfrm>
            <a:off x="10241280" y="1137920"/>
            <a:ext cx="5364480" cy="2926080"/>
          </a:xfrm>
          <a:prstGeom prst="roundRect">
            <a:avLst>
              <a:gd name="adj" fmla="val 5556"/>
            </a:avLst>
          </a:prstGeom>
          <a:solidFill>
            <a:srgbClr val="F0E8FF"/>
          </a:solidFill>
          <a:ln w="12700">
            <a:solidFill>
              <a:srgbClr val="C8B8E0"/>
            </a:solidFill>
            <a:prstDash val="solid"/>
          </a:ln>
        </p:spPr>
      </p:sp>
      <p:sp>
        <p:nvSpPr>
          <p:cNvPr id="8" name="Text 6"/>
          <p:cNvSpPr/>
          <p:nvPr/>
        </p:nvSpPr>
        <p:spPr>
          <a:xfrm>
            <a:off x="10566400" y="1300480"/>
            <a:ext cx="4714240" cy="568960"/>
          </a:xfrm>
          <a:prstGeom prst="rect">
            <a:avLst/>
          </a:prstGeom>
          <a:noFill/>
          <a:ln/>
        </p:spPr>
        <p:txBody>
          <a:bodyPr wrap="square"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Chichen Itza Pyramid</a:t>
            </a:r>
            <a:endParaRPr lang="en-US" sz="1500" dirty="0"/>
          </a:p>
        </p:txBody>
      </p:sp>
      <p:sp>
        <p:nvSpPr>
          <p:cNvPr id="9" name="Text 7"/>
          <p:cNvSpPr/>
          <p:nvPr/>
        </p:nvSpPr>
        <p:spPr>
          <a:xfrm>
            <a:off x="10566400" y="1869440"/>
            <a:ext cx="4714240" cy="406400"/>
          </a:xfrm>
          <a:prstGeom prst="rect">
            <a:avLst/>
          </a:prstGeom>
          <a:noFill/>
          <a:ln/>
        </p:spPr>
        <p:txBody>
          <a:bodyPr wrap="square" rtlCol="0" anchor="ctr"/>
          <a:lstStyle/>
          <a:p>
            <a:pPr indent="0" marL="0">
              <a:buNone/>
            </a:pPr>
            <a:r>
              <a:rPr lang="en-US" sz="1100" dirty="0">
                <a:solidFill>
                  <a:srgbClr val="8B6FC0"/>
                </a:solidFill>
                <a:latin typeface="Calibri" pitchFamily="34" charset="0"/>
                <a:ea typeface="Calibri" pitchFamily="34" charset="-122"/>
                <a:cs typeface="Calibri" pitchFamily="34" charset="-120"/>
              </a:rPr>
              <a:t>Yucatan, Mexico</a:t>
            </a:r>
            <a:endParaRPr lang="en-US" sz="1100" dirty="0"/>
          </a:p>
        </p:txBody>
      </p:sp>
      <p:sp>
        <p:nvSpPr>
          <p:cNvPr id="10" name="Text 8"/>
          <p:cNvSpPr/>
          <p:nvPr/>
        </p:nvSpPr>
        <p:spPr>
          <a:xfrm>
            <a:off x="10566400" y="2438400"/>
            <a:ext cx="4714240" cy="1381760"/>
          </a:xfrm>
          <a:prstGeom prst="rect">
            <a:avLst/>
          </a:prstGeom>
          <a:noFill/>
          <a:ln/>
        </p:spPr>
        <p:txBody>
          <a:bodyPr wrap="square"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Man-Made Landmark</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Built by the Maya people</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over 1,000 years ago</a:t>
            </a:r>
            <a:endParaRPr lang="en-US" sz="1100" dirty="0"/>
          </a:p>
        </p:txBody>
      </p:sp>
      <p:sp>
        <p:nvSpPr>
          <p:cNvPr id="11" name="Shape 9"/>
          <p:cNvSpPr/>
          <p:nvPr/>
        </p:nvSpPr>
        <p:spPr>
          <a:xfrm>
            <a:off x="10241280" y="4389120"/>
            <a:ext cx="536448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0566400" y="4551680"/>
            <a:ext cx="47142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0566400" y="5006848"/>
            <a:ext cx="471424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the pyramid shaped? How many sides does it have?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kinds of tools and effort would it take to build this from stone?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tell us about what the Maya people knew how to do?</a:t>
            </a:r>
            <a:endParaRPr lang="en-US" sz="1100" dirty="0"/>
          </a:p>
        </p:txBody>
      </p:sp>
      <p:sp>
        <p:nvSpPr>
          <p:cNvPr id="14" name="Text 12"/>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ACTIVE PRACTICE — SORT THE PHOTO WALL</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Natural or Man-Made?</a:t>
            </a:r>
            <a:endParaRPr lang="en-US" sz="2200" dirty="0"/>
          </a:p>
        </p:txBody>
      </p:sp>
      <p:sp>
        <p:nvSpPr>
          <p:cNvPr id="5" name="Text 3"/>
          <p:cNvSpPr/>
          <p:nvPr/>
        </p:nvSpPr>
        <p:spPr>
          <a:xfrm>
            <a:off x="812800" y="1950720"/>
            <a:ext cx="1463040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Call out NATURAL or MAN-MADE for each landmark. Explain how you know.</a:t>
            </a:r>
            <a:endParaRPr lang="en-US" sz="1300" dirty="0"/>
          </a:p>
        </p:txBody>
      </p:sp>
      <p:sp>
        <p:nvSpPr>
          <p:cNvPr id="6" name="Shape 4"/>
          <p:cNvSpPr/>
          <p:nvPr/>
        </p:nvSpPr>
        <p:spPr>
          <a:xfrm>
            <a:off x="812800" y="2844800"/>
            <a:ext cx="7315200" cy="1625600"/>
          </a:xfrm>
          <a:prstGeom prst="roundRect">
            <a:avLst>
              <a:gd name="adj" fmla="val 8000"/>
            </a:avLst>
          </a:prstGeom>
          <a:solidFill>
            <a:srgbClr val="E3F8ED"/>
          </a:solidFill>
          <a:ln w="12700">
            <a:solidFill>
              <a:srgbClr val="D0D8E0"/>
            </a:solidFill>
            <a:prstDash val="solid"/>
          </a:ln>
        </p:spPr>
      </p:sp>
      <p:sp>
        <p:nvSpPr>
          <p:cNvPr id="7" name="Text 5"/>
          <p:cNvSpPr/>
          <p:nvPr/>
        </p:nvSpPr>
        <p:spPr>
          <a:xfrm>
            <a:off x="1056640" y="297484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Grand Canyon</a:t>
            </a:r>
            <a:endParaRPr lang="en-US" sz="1300" dirty="0"/>
          </a:p>
        </p:txBody>
      </p:sp>
      <p:sp>
        <p:nvSpPr>
          <p:cNvPr id="8" name="Text 6"/>
          <p:cNvSpPr/>
          <p:nvPr/>
        </p:nvSpPr>
        <p:spPr>
          <a:xfrm>
            <a:off x="1056640" y="349504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Carved by the Colorado River over millions of years</a:t>
            </a:r>
            <a:endParaRPr lang="en-US" sz="1000" dirty="0"/>
          </a:p>
        </p:txBody>
      </p:sp>
      <p:sp>
        <p:nvSpPr>
          <p:cNvPr id="9" name="Text 7"/>
          <p:cNvSpPr/>
          <p:nvPr/>
        </p:nvSpPr>
        <p:spPr>
          <a:xfrm>
            <a:off x="6339840" y="2974848"/>
            <a:ext cx="1544320" cy="487680"/>
          </a:xfrm>
          <a:prstGeom prst="rect">
            <a:avLst/>
          </a:prstGeom>
          <a:noFill/>
          <a:ln/>
        </p:spPr>
        <p:txBody>
          <a:bodyPr wrap="square" rtlCol="0" anchor="ctr"/>
          <a:lstStyle/>
          <a:p>
            <a:pPr algn="r" indent="0" marL="0">
              <a:buNone/>
            </a:pPr>
            <a:r>
              <a:rPr lang="en-US" sz="800" b="1" spc="100" kern="0" dirty="0">
                <a:solidFill>
                  <a:srgbClr val="1A8A7D"/>
                </a:solidFill>
                <a:latin typeface="Calibri" pitchFamily="34" charset="0"/>
                <a:ea typeface="Calibri" pitchFamily="34" charset="-122"/>
                <a:cs typeface="Calibri" pitchFamily="34" charset="-120"/>
              </a:rPr>
              <a:t>NATURAL</a:t>
            </a:r>
            <a:endParaRPr lang="en-US" sz="800" dirty="0"/>
          </a:p>
        </p:txBody>
      </p:sp>
      <p:sp>
        <p:nvSpPr>
          <p:cNvPr id="10" name="Shape 8"/>
          <p:cNvSpPr/>
          <p:nvPr/>
        </p:nvSpPr>
        <p:spPr>
          <a:xfrm>
            <a:off x="8534400" y="2844800"/>
            <a:ext cx="7315200" cy="1625600"/>
          </a:xfrm>
          <a:prstGeom prst="roundRect">
            <a:avLst>
              <a:gd name="adj" fmla="val 8000"/>
            </a:avLst>
          </a:prstGeom>
          <a:solidFill>
            <a:srgbClr val="F0E8FF"/>
          </a:solidFill>
          <a:ln w="12700">
            <a:solidFill>
              <a:srgbClr val="D0D8E0"/>
            </a:solidFill>
            <a:prstDash val="solid"/>
          </a:ln>
        </p:spPr>
      </p:sp>
      <p:sp>
        <p:nvSpPr>
          <p:cNvPr id="11" name="Text 9"/>
          <p:cNvSpPr/>
          <p:nvPr/>
        </p:nvSpPr>
        <p:spPr>
          <a:xfrm>
            <a:off x="8778240" y="297484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Statue of Liberty</a:t>
            </a:r>
            <a:endParaRPr lang="en-US" sz="1300" dirty="0"/>
          </a:p>
        </p:txBody>
      </p:sp>
      <p:sp>
        <p:nvSpPr>
          <p:cNvPr id="12" name="Text 10"/>
          <p:cNvSpPr/>
          <p:nvPr/>
        </p:nvSpPr>
        <p:spPr>
          <a:xfrm>
            <a:off x="8778240" y="349504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A 305-foot copper statue; gift from France, 1886</a:t>
            </a:r>
            <a:endParaRPr lang="en-US" sz="1000" dirty="0"/>
          </a:p>
        </p:txBody>
      </p:sp>
      <p:sp>
        <p:nvSpPr>
          <p:cNvPr id="13" name="Text 11"/>
          <p:cNvSpPr/>
          <p:nvPr/>
        </p:nvSpPr>
        <p:spPr>
          <a:xfrm>
            <a:off x="14061440" y="2974848"/>
            <a:ext cx="1544320" cy="487680"/>
          </a:xfrm>
          <a:prstGeom prst="rect">
            <a:avLst/>
          </a:prstGeom>
          <a:noFill/>
          <a:ln/>
        </p:spPr>
        <p:txBody>
          <a:bodyPr wrap="square" rtlCol="0" anchor="ctr"/>
          <a:lstStyle/>
          <a:p>
            <a:pPr algn="r" indent="0" marL="0">
              <a:buNone/>
            </a:pPr>
            <a:r>
              <a:rPr lang="en-US" sz="800" b="1" spc="100" kern="0" dirty="0">
                <a:solidFill>
                  <a:srgbClr val="8B6FC0"/>
                </a:solidFill>
                <a:latin typeface="Calibri" pitchFamily="34" charset="0"/>
                <a:ea typeface="Calibri" pitchFamily="34" charset="-122"/>
                <a:cs typeface="Calibri" pitchFamily="34" charset="-120"/>
              </a:rPr>
              <a:t>MAN-MADE</a:t>
            </a:r>
            <a:endParaRPr lang="en-US" sz="800" dirty="0"/>
          </a:p>
        </p:txBody>
      </p:sp>
      <p:sp>
        <p:nvSpPr>
          <p:cNvPr id="14" name="Shape 12"/>
          <p:cNvSpPr/>
          <p:nvPr/>
        </p:nvSpPr>
        <p:spPr>
          <a:xfrm>
            <a:off x="812800" y="4714240"/>
            <a:ext cx="7315200" cy="1625600"/>
          </a:xfrm>
          <a:prstGeom prst="roundRect">
            <a:avLst>
              <a:gd name="adj" fmla="val 8000"/>
            </a:avLst>
          </a:prstGeom>
          <a:solidFill>
            <a:srgbClr val="E3F8ED"/>
          </a:solidFill>
          <a:ln w="12700">
            <a:solidFill>
              <a:srgbClr val="D0D8E0"/>
            </a:solidFill>
            <a:prstDash val="solid"/>
          </a:ln>
        </p:spPr>
      </p:sp>
      <p:sp>
        <p:nvSpPr>
          <p:cNvPr id="15" name="Text 13"/>
          <p:cNvSpPr/>
          <p:nvPr/>
        </p:nvSpPr>
        <p:spPr>
          <a:xfrm>
            <a:off x="1056640" y="484428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Niagara Falls</a:t>
            </a:r>
            <a:endParaRPr lang="en-US" sz="1300" dirty="0"/>
          </a:p>
        </p:txBody>
      </p:sp>
      <p:sp>
        <p:nvSpPr>
          <p:cNvPr id="16" name="Text 14"/>
          <p:cNvSpPr/>
          <p:nvPr/>
        </p:nvSpPr>
        <p:spPr>
          <a:xfrm>
            <a:off x="1056640" y="536448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Massive waterfall where the Niagara River drops over a cliff</a:t>
            </a:r>
            <a:endParaRPr lang="en-US" sz="1000" dirty="0"/>
          </a:p>
        </p:txBody>
      </p:sp>
      <p:sp>
        <p:nvSpPr>
          <p:cNvPr id="17" name="Text 15"/>
          <p:cNvSpPr/>
          <p:nvPr/>
        </p:nvSpPr>
        <p:spPr>
          <a:xfrm>
            <a:off x="6339840" y="4844288"/>
            <a:ext cx="1544320" cy="487680"/>
          </a:xfrm>
          <a:prstGeom prst="rect">
            <a:avLst/>
          </a:prstGeom>
          <a:noFill/>
          <a:ln/>
        </p:spPr>
        <p:txBody>
          <a:bodyPr wrap="square" rtlCol="0" anchor="ctr"/>
          <a:lstStyle/>
          <a:p>
            <a:pPr algn="r" indent="0" marL="0">
              <a:buNone/>
            </a:pPr>
            <a:r>
              <a:rPr lang="en-US" sz="800" b="1" spc="100" kern="0" dirty="0">
                <a:solidFill>
                  <a:srgbClr val="1A8A7D"/>
                </a:solidFill>
                <a:latin typeface="Calibri" pitchFamily="34" charset="0"/>
                <a:ea typeface="Calibri" pitchFamily="34" charset="-122"/>
                <a:cs typeface="Calibri" pitchFamily="34" charset="-120"/>
              </a:rPr>
              <a:t>NATURAL</a:t>
            </a:r>
            <a:endParaRPr lang="en-US" sz="800" dirty="0"/>
          </a:p>
        </p:txBody>
      </p:sp>
      <p:sp>
        <p:nvSpPr>
          <p:cNvPr id="18" name="Shape 16"/>
          <p:cNvSpPr/>
          <p:nvPr/>
        </p:nvSpPr>
        <p:spPr>
          <a:xfrm>
            <a:off x="8534400" y="4714240"/>
            <a:ext cx="7315200" cy="1625600"/>
          </a:xfrm>
          <a:prstGeom prst="roundRect">
            <a:avLst>
              <a:gd name="adj" fmla="val 8000"/>
            </a:avLst>
          </a:prstGeom>
          <a:solidFill>
            <a:srgbClr val="F0E8FF"/>
          </a:solidFill>
          <a:ln w="12700">
            <a:solidFill>
              <a:srgbClr val="D0D8E0"/>
            </a:solidFill>
            <a:prstDash val="solid"/>
          </a:ln>
        </p:spPr>
      </p:sp>
      <p:sp>
        <p:nvSpPr>
          <p:cNvPr id="19" name="Text 17"/>
          <p:cNvSpPr/>
          <p:nvPr/>
        </p:nvSpPr>
        <p:spPr>
          <a:xfrm>
            <a:off x="8778240" y="484428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Chichen Itza Pyramid</a:t>
            </a:r>
            <a:endParaRPr lang="en-US" sz="1300" dirty="0"/>
          </a:p>
        </p:txBody>
      </p:sp>
      <p:sp>
        <p:nvSpPr>
          <p:cNvPr id="20" name="Text 18"/>
          <p:cNvSpPr/>
          <p:nvPr/>
        </p:nvSpPr>
        <p:spPr>
          <a:xfrm>
            <a:off x="8778240" y="536448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Stepped stone pyramid built by the Maya over 1,000 years ago</a:t>
            </a:r>
            <a:endParaRPr lang="en-US" sz="1000" dirty="0"/>
          </a:p>
        </p:txBody>
      </p:sp>
      <p:sp>
        <p:nvSpPr>
          <p:cNvPr id="21" name="Text 19"/>
          <p:cNvSpPr/>
          <p:nvPr/>
        </p:nvSpPr>
        <p:spPr>
          <a:xfrm>
            <a:off x="14061440" y="4844288"/>
            <a:ext cx="1544320" cy="487680"/>
          </a:xfrm>
          <a:prstGeom prst="rect">
            <a:avLst/>
          </a:prstGeom>
          <a:noFill/>
          <a:ln/>
        </p:spPr>
        <p:txBody>
          <a:bodyPr wrap="square" rtlCol="0" anchor="ctr"/>
          <a:lstStyle/>
          <a:p>
            <a:pPr algn="r" indent="0" marL="0">
              <a:buNone/>
            </a:pPr>
            <a:r>
              <a:rPr lang="en-US" sz="800" b="1" spc="100" kern="0" dirty="0">
                <a:solidFill>
                  <a:srgbClr val="8B6FC0"/>
                </a:solidFill>
                <a:latin typeface="Calibri" pitchFamily="34" charset="0"/>
                <a:ea typeface="Calibri" pitchFamily="34" charset="-122"/>
                <a:cs typeface="Calibri" pitchFamily="34" charset="-120"/>
              </a:rPr>
              <a:t>MAN-MADE</a:t>
            </a:r>
            <a:endParaRPr lang="en-US" sz="800" dirty="0"/>
          </a:p>
        </p:txBody>
      </p:sp>
      <p:sp>
        <p:nvSpPr>
          <p:cNvPr id="22" name="Shape 20"/>
          <p:cNvSpPr/>
          <p:nvPr/>
        </p:nvSpPr>
        <p:spPr>
          <a:xfrm>
            <a:off x="812800" y="6583680"/>
            <a:ext cx="7315200" cy="1625600"/>
          </a:xfrm>
          <a:prstGeom prst="roundRect">
            <a:avLst>
              <a:gd name="adj" fmla="val 8000"/>
            </a:avLst>
          </a:prstGeom>
          <a:solidFill>
            <a:srgbClr val="E3F8ED"/>
          </a:solidFill>
          <a:ln w="12700">
            <a:solidFill>
              <a:srgbClr val="D0D8E0"/>
            </a:solidFill>
            <a:prstDash val="solid"/>
          </a:ln>
        </p:spPr>
      </p:sp>
      <p:sp>
        <p:nvSpPr>
          <p:cNvPr id="23" name="Text 21"/>
          <p:cNvSpPr/>
          <p:nvPr/>
        </p:nvSpPr>
        <p:spPr>
          <a:xfrm>
            <a:off x="1056640" y="671372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Caribbean Coral Reefs</a:t>
            </a:r>
            <a:endParaRPr lang="en-US" sz="1300" dirty="0"/>
          </a:p>
        </p:txBody>
      </p:sp>
      <p:sp>
        <p:nvSpPr>
          <p:cNvPr id="24" name="Text 22"/>
          <p:cNvSpPr/>
          <p:nvPr/>
        </p:nvSpPr>
        <p:spPr>
          <a:xfrm>
            <a:off x="1056640" y="723392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Underwater reefs built by tiny sea creatures over thousands of years</a:t>
            </a:r>
            <a:endParaRPr lang="en-US" sz="1000" dirty="0"/>
          </a:p>
        </p:txBody>
      </p:sp>
      <p:sp>
        <p:nvSpPr>
          <p:cNvPr id="25" name="Text 23"/>
          <p:cNvSpPr/>
          <p:nvPr/>
        </p:nvSpPr>
        <p:spPr>
          <a:xfrm>
            <a:off x="6339840" y="6713728"/>
            <a:ext cx="1544320" cy="487680"/>
          </a:xfrm>
          <a:prstGeom prst="rect">
            <a:avLst/>
          </a:prstGeom>
          <a:noFill/>
          <a:ln/>
        </p:spPr>
        <p:txBody>
          <a:bodyPr wrap="square" rtlCol="0" anchor="ctr"/>
          <a:lstStyle/>
          <a:p>
            <a:pPr algn="r" indent="0" marL="0">
              <a:buNone/>
            </a:pPr>
            <a:r>
              <a:rPr lang="en-US" sz="800" b="1" spc="100" kern="0" dirty="0">
                <a:solidFill>
                  <a:srgbClr val="1A8A7D"/>
                </a:solidFill>
                <a:latin typeface="Calibri" pitchFamily="34" charset="0"/>
                <a:ea typeface="Calibri" pitchFamily="34" charset="-122"/>
                <a:cs typeface="Calibri" pitchFamily="34" charset="-120"/>
              </a:rPr>
              <a:t>NATURAL</a:t>
            </a:r>
            <a:endParaRPr lang="en-US" sz="800" dirty="0"/>
          </a:p>
        </p:txBody>
      </p:sp>
      <p:sp>
        <p:nvSpPr>
          <p:cNvPr id="26" name="Shape 24"/>
          <p:cNvSpPr/>
          <p:nvPr/>
        </p:nvSpPr>
        <p:spPr>
          <a:xfrm>
            <a:off x="8534400" y="6583680"/>
            <a:ext cx="7315200" cy="1625600"/>
          </a:xfrm>
          <a:prstGeom prst="roundRect">
            <a:avLst>
              <a:gd name="adj" fmla="val 8000"/>
            </a:avLst>
          </a:prstGeom>
          <a:solidFill>
            <a:srgbClr val="F0E8FF"/>
          </a:solidFill>
          <a:ln w="12700">
            <a:solidFill>
              <a:srgbClr val="D0D8E0"/>
            </a:solidFill>
            <a:prstDash val="solid"/>
          </a:ln>
        </p:spPr>
      </p:sp>
      <p:sp>
        <p:nvSpPr>
          <p:cNvPr id="27" name="Text 25"/>
          <p:cNvSpPr/>
          <p:nvPr/>
        </p:nvSpPr>
        <p:spPr>
          <a:xfrm>
            <a:off x="8778240" y="6713728"/>
            <a:ext cx="5201920" cy="48768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CN Tower</a:t>
            </a:r>
            <a:endParaRPr lang="en-US" sz="1300" dirty="0"/>
          </a:p>
        </p:txBody>
      </p:sp>
      <p:sp>
        <p:nvSpPr>
          <p:cNvPr id="28" name="Text 26"/>
          <p:cNvSpPr/>
          <p:nvPr/>
        </p:nvSpPr>
        <p:spPr>
          <a:xfrm>
            <a:off x="8778240" y="7233920"/>
            <a:ext cx="5201920" cy="81280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1,815-foot tower in Toronto, finished 1976</a:t>
            </a:r>
            <a:endParaRPr lang="en-US" sz="1000" dirty="0"/>
          </a:p>
        </p:txBody>
      </p:sp>
      <p:sp>
        <p:nvSpPr>
          <p:cNvPr id="29" name="Text 27"/>
          <p:cNvSpPr/>
          <p:nvPr/>
        </p:nvSpPr>
        <p:spPr>
          <a:xfrm>
            <a:off x="14061440" y="6713728"/>
            <a:ext cx="1544320" cy="487680"/>
          </a:xfrm>
          <a:prstGeom prst="rect">
            <a:avLst/>
          </a:prstGeom>
          <a:noFill/>
          <a:ln/>
        </p:spPr>
        <p:txBody>
          <a:bodyPr wrap="square" rtlCol="0" anchor="ctr"/>
          <a:lstStyle/>
          <a:p>
            <a:pPr algn="r" indent="0" marL="0">
              <a:buNone/>
            </a:pPr>
            <a:r>
              <a:rPr lang="en-US" sz="800" b="1" spc="100" kern="0" dirty="0">
                <a:solidFill>
                  <a:srgbClr val="8B6FC0"/>
                </a:solidFill>
                <a:latin typeface="Calibri" pitchFamily="34" charset="0"/>
                <a:ea typeface="Calibri" pitchFamily="34" charset="-122"/>
                <a:cs typeface="Calibri" pitchFamily="34" charset="-120"/>
              </a:rPr>
              <a:t>MAN-MADE</a:t>
            </a:r>
            <a:endParaRPr lang="en-US" sz="800" dirty="0"/>
          </a:p>
        </p:txBody>
      </p:sp>
      <p:sp>
        <p:nvSpPr>
          <p:cNvPr id="30" name="Text 28"/>
          <p:cNvSpPr/>
          <p:nvPr/>
        </p:nvSpPr>
        <p:spPr>
          <a:xfrm>
            <a:off x="812800" y="8290560"/>
            <a:ext cx="14630400" cy="48768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Teacher: Reveal answers one at a time. Ask students to explain HOW they know before showing the label.</a:t>
            </a:r>
            <a:endParaRPr lang="en-US" sz="1000" dirty="0"/>
          </a:p>
        </p:txBody>
      </p:sp>
      <p:sp>
        <p:nvSpPr>
          <p:cNvPr id="31" name="Text 29"/>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9 / 20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DISCOVERY FACT</a:t>
            </a:r>
            <a:endParaRPr lang="en-US" sz="1000" dirty="0"/>
          </a:p>
        </p:txBody>
      </p:sp>
      <p:sp>
        <p:nvSpPr>
          <p:cNvPr id="4" name="Text 2"/>
          <p:cNvSpPr/>
          <p:nvPr/>
        </p:nvSpPr>
        <p:spPr>
          <a:xfrm>
            <a:off x="812800" y="1137920"/>
            <a:ext cx="89408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Coral Reefs: The Tricky One</a:t>
            </a:r>
            <a:endParaRPr lang="en-US" sz="2200" dirty="0"/>
          </a:p>
        </p:txBody>
      </p:sp>
      <p:sp>
        <p:nvSpPr>
          <p:cNvPr id="5" name="Shape 3"/>
          <p:cNvSpPr/>
          <p:nvPr/>
        </p:nvSpPr>
        <p:spPr>
          <a:xfrm>
            <a:off x="812800" y="2275840"/>
            <a:ext cx="8940800" cy="3901440"/>
          </a:xfrm>
          <a:prstGeom prst="roundRect">
            <a:avLst>
              <a:gd name="adj" fmla="val 5000"/>
            </a:avLst>
          </a:prstGeom>
          <a:solidFill>
            <a:srgbClr val="EAF8FD"/>
          </a:solidFill>
          <a:ln w="12700">
            <a:solidFill>
              <a:srgbClr val="C8E8F4"/>
            </a:solidFill>
            <a:prstDash val="solid"/>
          </a:ln>
        </p:spPr>
      </p:sp>
      <p:sp>
        <p:nvSpPr>
          <p:cNvPr id="6" name="Text 4"/>
          <p:cNvSpPr/>
          <p:nvPr/>
        </p:nvSpPr>
        <p:spPr>
          <a:xfrm>
            <a:off x="1137920" y="2438400"/>
            <a:ext cx="8290560" cy="113792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Coral reefs are built by tiny living animals called coral polyps -- but no person designed or made them.</a:t>
            </a:r>
            <a:endParaRPr lang="en-US" sz="1300" dirty="0"/>
          </a:p>
        </p:txBody>
      </p:sp>
      <p:sp>
        <p:nvSpPr>
          <p:cNvPr id="7" name="Text 5"/>
          <p:cNvSpPr/>
          <p:nvPr/>
        </p:nvSpPr>
        <p:spPr>
          <a:xfrm>
            <a:off x="1137920" y="3576320"/>
            <a:ext cx="8290560" cy="568960"/>
          </a:xfrm>
          <a:prstGeom prst="rect">
            <a:avLst/>
          </a:prstGeom>
          <a:noFill/>
          <a:ln/>
        </p:spPr>
        <p:txBody>
          <a:bodyPr wrap="square"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They count as natural.</a:t>
            </a:r>
            <a:endParaRPr lang="en-US" sz="1400" dirty="0"/>
          </a:p>
        </p:txBody>
      </p:sp>
      <p:sp>
        <p:nvSpPr>
          <p:cNvPr id="8" name="Text 6"/>
          <p:cNvSpPr/>
          <p:nvPr/>
        </p:nvSpPr>
        <p:spPr>
          <a:xfrm>
            <a:off x="1137920" y="4307840"/>
            <a:ext cx="8290560" cy="113792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They're the only landmark on the wall that is still being built right now -- tiny polyps keep growing.</a:t>
            </a:r>
            <a:endParaRPr lang="en-US" sz="1300" dirty="0"/>
          </a:p>
        </p:txBody>
      </p:sp>
      <p:sp>
        <p:nvSpPr>
          <p:cNvPr id="9" name="Shape 7"/>
          <p:cNvSpPr/>
          <p:nvPr/>
        </p:nvSpPr>
        <p:spPr>
          <a:xfrm>
            <a:off x="10241280" y="1137920"/>
            <a:ext cx="5364480" cy="5039360"/>
          </a:xfrm>
          <a:prstGeom prst="roundRect">
            <a:avLst>
              <a:gd name="adj" fmla="val 3871"/>
            </a:avLst>
          </a:prstGeom>
          <a:solidFill>
            <a:srgbClr val="E2E8F4"/>
          </a:solidFill>
          <a:ln w="19050">
            <a:solidFill>
              <a:srgbClr val="B0B8CC"/>
            </a:solidFill>
            <a:prstDash val="dash"/>
          </a:ln>
        </p:spPr>
      </p:sp>
      <p:sp>
        <p:nvSpPr>
          <p:cNvPr id="10" name="Text 8"/>
          <p:cNvSpPr/>
          <p:nvPr/>
        </p:nvSpPr>
        <p:spPr>
          <a:xfrm>
            <a:off x="10241280" y="1137920"/>
            <a:ext cx="53644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0485120" y="1625600"/>
            <a:ext cx="4876800" cy="4389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photo of a colorful Caribbean coral reef</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underwater, showing coral formations and small fish.</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Source: NOAA (public domain) or</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Wikimedia Commons</a:t>
            </a:r>
            <a:endParaRPr lang="en-US" sz="1100" dirty="0"/>
          </a:p>
        </p:txBody>
      </p:sp>
      <p:sp>
        <p:nvSpPr>
          <p:cNvPr id="12" name="Shape 10"/>
          <p:cNvSpPr/>
          <p:nvPr/>
        </p:nvSpPr>
        <p:spPr>
          <a:xfrm>
            <a:off x="812800" y="6664960"/>
            <a:ext cx="14630400" cy="1788160"/>
          </a:xfrm>
          <a:prstGeom prst="roundRect">
            <a:avLst>
              <a:gd name="adj" fmla="val 9091"/>
            </a:avLst>
          </a:prstGeom>
          <a:solidFill>
            <a:srgbClr val="FFF8F0"/>
          </a:solidFill>
          <a:ln w="12700">
            <a:solidFill>
              <a:srgbClr val="F5E6C8"/>
            </a:solidFill>
            <a:prstDash val="solid"/>
          </a:ln>
        </p:spPr>
      </p:sp>
      <p:sp>
        <p:nvSpPr>
          <p:cNvPr id="13" name="Text 11"/>
          <p:cNvSpPr/>
          <p:nvPr/>
        </p:nvSpPr>
        <p:spPr>
          <a:xfrm>
            <a:off x="1137920" y="6795008"/>
            <a:ext cx="32512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THEN AND NOW</a:t>
            </a:r>
            <a:endParaRPr lang="en-US" sz="900" dirty="0"/>
          </a:p>
        </p:txBody>
      </p:sp>
      <p:sp>
        <p:nvSpPr>
          <p:cNvPr id="14" name="Text 12"/>
          <p:cNvSpPr/>
          <p:nvPr/>
        </p:nvSpPr>
        <p:spPr>
          <a:xfrm>
            <a:off x="1137920" y="7152640"/>
            <a:ext cx="13980160" cy="1137920"/>
          </a:xfrm>
          <a:prstGeom prst="rect">
            <a:avLst/>
          </a:prstGeom>
          <a:noFill/>
          <a:ln/>
        </p:spPr>
        <p:txBody>
          <a:bodyPr wrap="square" rtlCol="0" anchor="ctr"/>
          <a:lstStyle/>
          <a:p>
            <a:pPr indent="0" marL="0">
              <a:lnSpc>
                <a:spcPct val="130000"/>
              </a:lnSpc>
              <a:buNone/>
            </a:pPr>
            <a:r>
              <a:rPr lang="en-US" sz="1100" dirty="0">
                <a:solidFill>
                  <a:srgbClr val="5A4A3A"/>
                </a:solidFill>
                <a:latin typeface="Calibri" pitchFamily="34" charset="0"/>
                <a:ea typeface="Calibri" pitchFamily="34" charset="-122"/>
                <a:cs typeface="Calibri" pitchFamily="34" charset="-120"/>
              </a:rPr>
              <a:t>In the past, people traveled for weeks just to see a famous landmark. Today, we can see most landmarks on our screens in seconds. But people still travel to stand right in front of these places -- because a photo is never quite the same as being there.</a:t>
            </a:r>
            <a:endParaRPr lang="en-US" sz="1100" dirty="0"/>
          </a:p>
        </p:txBody>
      </p:sp>
      <p:sp>
        <p:nvSpPr>
          <p:cNvPr id="15" name="Text 13"/>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10 / 20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ERROR ANALYSIS — TRICKY CASE</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Where Would You Put Mount Rushmore?</a:t>
            </a:r>
            <a:endParaRPr lang="en-US" sz="2200" dirty="0"/>
          </a:p>
        </p:txBody>
      </p:sp>
      <p:sp>
        <p:nvSpPr>
          <p:cNvPr id="5" name="Shape 3"/>
          <p:cNvSpPr/>
          <p:nvPr/>
        </p:nvSpPr>
        <p:spPr>
          <a:xfrm>
            <a:off x="812800" y="2275840"/>
            <a:ext cx="6502400" cy="4551680"/>
          </a:xfrm>
          <a:prstGeom prst="roundRect">
            <a:avLst>
              <a:gd name="adj" fmla="val 4286"/>
            </a:avLst>
          </a:prstGeom>
          <a:solidFill>
            <a:srgbClr val="E2E8F4"/>
          </a:solidFill>
          <a:ln w="19050">
            <a:solidFill>
              <a:srgbClr val="B0B8CC"/>
            </a:solidFill>
            <a:prstDash val="dash"/>
          </a:ln>
        </p:spPr>
      </p:sp>
      <p:sp>
        <p:nvSpPr>
          <p:cNvPr id="6" name="Text 4"/>
          <p:cNvSpPr/>
          <p:nvPr/>
        </p:nvSpPr>
        <p:spPr>
          <a:xfrm>
            <a:off x="812800" y="2275840"/>
            <a:ext cx="65024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56640" y="2763520"/>
            <a:ext cx="601472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Mount Rushmore --</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the mountain with four presidents' faces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carved into the rock.</a:t>
            </a:r>
            <a:endParaRPr lang="en-US" sz="1100" dirty="0"/>
          </a:p>
          <a:p>
            <a:pPr algn="ctr" indent="0" marL="0">
              <a:buNone/>
            </a:pP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Source: NPS (nps.gov) or</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Wikimedia Commons (public domain)</a:t>
            </a:r>
            <a:endParaRPr lang="en-US" sz="1100" dirty="0"/>
          </a:p>
        </p:txBody>
      </p:sp>
      <p:sp>
        <p:nvSpPr>
          <p:cNvPr id="8" name="Shape 6"/>
          <p:cNvSpPr/>
          <p:nvPr/>
        </p:nvSpPr>
        <p:spPr>
          <a:xfrm>
            <a:off x="7802880" y="2275840"/>
            <a:ext cx="7802880" cy="4551680"/>
          </a:xfrm>
          <a:prstGeom prst="roundRect">
            <a:avLst>
              <a:gd name="adj" fmla="val 4286"/>
            </a:avLst>
          </a:prstGeom>
          <a:solidFill>
            <a:srgbClr val="FFF3DC"/>
          </a:solidFill>
          <a:ln w="12700">
            <a:solidFill>
              <a:srgbClr val="F5E6C8"/>
            </a:solidFill>
            <a:prstDash val="solid"/>
          </a:ln>
        </p:spPr>
      </p:sp>
      <p:sp>
        <p:nvSpPr>
          <p:cNvPr id="9" name="Text 7"/>
          <p:cNvSpPr/>
          <p:nvPr/>
        </p:nvSpPr>
        <p:spPr>
          <a:xfrm>
            <a:off x="8128000" y="2438400"/>
            <a:ext cx="715264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PUZZLE</a:t>
            </a:r>
            <a:endParaRPr lang="en-US" sz="900" dirty="0"/>
          </a:p>
        </p:txBody>
      </p:sp>
      <p:sp>
        <p:nvSpPr>
          <p:cNvPr id="10" name="Text 8"/>
          <p:cNvSpPr/>
          <p:nvPr/>
        </p:nvSpPr>
        <p:spPr>
          <a:xfrm>
            <a:off x="8128000" y="3007360"/>
            <a:ext cx="7152640" cy="130048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It's a mountain (natural) -- but the faces of four presidents were carved into it by people (man-made).</a:t>
            </a:r>
            <a:endParaRPr lang="en-US" sz="1300" dirty="0"/>
          </a:p>
        </p:txBody>
      </p:sp>
      <p:sp>
        <p:nvSpPr>
          <p:cNvPr id="11" name="Text 9"/>
          <p:cNvSpPr/>
          <p:nvPr/>
        </p:nvSpPr>
        <p:spPr>
          <a:xfrm>
            <a:off x="8128000" y="4389120"/>
            <a:ext cx="7152640" cy="568960"/>
          </a:xfrm>
          <a:prstGeom prst="rect">
            <a:avLst/>
          </a:prstGeom>
          <a:noFill/>
          <a:ln/>
        </p:spPr>
        <p:txBody>
          <a:bodyPr wrap="square"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Some landmarks are tricky.</a:t>
            </a:r>
            <a:endParaRPr lang="en-US" sz="1400" dirty="0"/>
          </a:p>
        </p:txBody>
      </p:sp>
      <p:sp>
        <p:nvSpPr>
          <p:cNvPr id="12" name="Text 10"/>
          <p:cNvSpPr/>
          <p:nvPr/>
        </p:nvSpPr>
        <p:spPr>
          <a:xfrm>
            <a:off x="8128000" y="5120640"/>
            <a:ext cx="7152640" cy="113792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Most curators count Mount Rushmore as man-made, because the famous part is what people added.</a:t>
            </a:r>
            <a:endParaRPr lang="en-US" sz="1300" dirty="0"/>
          </a:p>
        </p:txBody>
      </p:sp>
      <p:sp>
        <p:nvSpPr>
          <p:cNvPr id="13" name="Shape 11"/>
          <p:cNvSpPr/>
          <p:nvPr/>
        </p:nvSpPr>
        <p:spPr>
          <a:xfrm>
            <a:off x="812800" y="7233920"/>
            <a:ext cx="14630400" cy="1544320"/>
          </a:xfrm>
          <a:prstGeom prst="roundRect">
            <a:avLst>
              <a:gd name="adj" fmla="val 15789"/>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1137920" y="739648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1137920" y="7851648"/>
            <a:ext cx="13980160" cy="7640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Mount Rushmore tricky to classify?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famous part is what people carved, does that make it man-made?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think of any other places that are a mix of both?</a:t>
            </a:r>
            <a:endParaRPr lang="en-US" sz="1100" dirty="0"/>
          </a:p>
        </p:txBody>
      </p:sp>
      <p:sp>
        <p:nvSpPr>
          <p:cNvPr id="16" name="Text 14"/>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11 / 20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NARRATE — WHY IT MATTERS</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Do Landmarks Tell Us?</a:t>
            </a:r>
            <a:endParaRPr lang="en-US" sz="2400" dirty="0"/>
          </a:p>
        </p:txBody>
      </p:sp>
      <p:sp>
        <p:nvSpPr>
          <p:cNvPr id="5" name="Shape 3"/>
          <p:cNvSpPr/>
          <p:nvPr/>
        </p:nvSpPr>
        <p:spPr>
          <a:xfrm>
            <a:off x="812800" y="2438400"/>
            <a:ext cx="6908800" cy="2926080"/>
          </a:xfrm>
          <a:prstGeom prst="roundRect">
            <a:avLst>
              <a:gd name="adj" fmla="val 6667"/>
            </a:avLst>
          </a:prstGeom>
          <a:solidFill>
            <a:srgbClr val="E3F8ED"/>
          </a:solidFill>
          <a:ln w="12700">
            <a:solidFill>
              <a:srgbClr val="A8D8B8"/>
            </a:solidFill>
            <a:prstDash val="solid"/>
          </a:ln>
        </p:spPr>
      </p:sp>
      <p:sp>
        <p:nvSpPr>
          <p:cNvPr id="6" name="Text 4"/>
          <p:cNvSpPr/>
          <p:nvPr/>
        </p:nvSpPr>
        <p:spPr>
          <a:xfrm>
            <a:off x="1137920" y="2600960"/>
            <a:ext cx="625856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NATURAL LANDMARKS TELL US...</a:t>
            </a:r>
            <a:endParaRPr lang="en-US" sz="900" dirty="0"/>
          </a:p>
        </p:txBody>
      </p:sp>
      <p:sp>
        <p:nvSpPr>
          <p:cNvPr id="7" name="Text 5"/>
          <p:cNvSpPr/>
          <p:nvPr/>
        </p:nvSpPr>
        <p:spPr>
          <a:xfrm>
            <a:off x="1137920" y="3169920"/>
            <a:ext cx="6258560" cy="1950720"/>
          </a:xfrm>
          <a:prstGeom prst="rect">
            <a:avLst/>
          </a:prstGeom>
          <a:noFill/>
          <a:ln/>
        </p:spPr>
        <p:txBody>
          <a:bodyPr wrap="square"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...what the land does.</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The Grand Canyon tells us the Colorado River has been cutting through rock for millions of years. The land is powerful and ancient.</a:t>
            </a:r>
            <a:endParaRPr lang="en-US" sz="1200" dirty="0"/>
          </a:p>
        </p:txBody>
      </p:sp>
      <p:sp>
        <p:nvSpPr>
          <p:cNvPr id="8" name="Shape 6"/>
          <p:cNvSpPr/>
          <p:nvPr/>
        </p:nvSpPr>
        <p:spPr>
          <a:xfrm>
            <a:off x="8534400" y="2438400"/>
            <a:ext cx="6908800" cy="2926080"/>
          </a:xfrm>
          <a:prstGeom prst="roundRect">
            <a:avLst>
              <a:gd name="adj" fmla="val 6667"/>
            </a:avLst>
          </a:prstGeom>
          <a:solidFill>
            <a:srgbClr val="F0E8FF"/>
          </a:solidFill>
          <a:ln w="12700">
            <a:solidFill>
              <a:srgbClr val="C8B8E0"/>
            </a:solidFill>
            <a:prstDash val="solid"/>
          </a:ln>
        </p:spPr>
      </p:sp>
      <p:sp>
        <p:nvSpPr>
          <p:cNvPr id="9" name="Text 7"/>
          <p:cNvSpPr/>
          <p:nvPr/>
        </p:nvSpPr>
        <p:spPr>
          <a:xfrm>
            <a:off x="8859520" y="2600960"/>
            <a:ext cx="6258560" cy="4064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MAN-MADE LANDMARKS TELL US...</a:t>
            </a:r>
            <a:endParaRPr lang="en-US" sz="900" dirty="0"/>
          </a:p>
        </p:txBody>
      </p:sp>
      <p:sp>
        <p:nvSpPr>
          <p:cNvPr id="10" name="Text 8"/>
          <p:cNvSpPr/>
          <p:nvPr/>
        </p:nvSpPr>
        <p:spPr>
          <a:xfrm>
            <a:off x="8859520" y="3169920"/>
            <a:ext cx="6258560" cy="1950720"/>
          </a:xfrm>
          <a:prstGeom prst="rect">
            <a:avLst/>
          </a:prstGeom>
          <a:noFill/>
          <a:ln/>
        </p:spPr>
        <p:txBody>
          <a:bodyPr wrap="square"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...what the people valued enough to build.</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The Chichen Itza pyramid tells us the Maya people had great building skill and their beliefs mattered enough to build a giant stone monument.</a:t>
            </a:r>
            <a:endParaRPr lang="en-US" sz="1200" dirty="0"/>
          </a:p>
        </p:txBody>
      </p:sp>
      <p:sp>
        <p:nvSpPr>
          <p:cNvPr id="11" name="Shape 9"/>
          <p:cNvSpPr/>
          <p:nvPr/>
        </p:nvSpPr>
        <p:spPr>
          <a:xfrm>
            <a:off x="812800" y="5852160"/>
            <a:ext cx="14630400" cy="1625600"/>
          </a:xfrm>
          <a:prstGeom prst="roundRect">
            <a:avLst>
              <a:gd name="adj" fmla="val 10000"/>
            </a:avLst>
          </a:prstGeom>
          <a:solidFill>
            <a:srgbClr val="FFF3DC"/>
          </a:solidFill>
          <a:ln w="12700">
            <a:solidFill>
              <a:srgbClr val="F5E6C8"/>
            </a:solidFill>
            <a:prstDash val="solid"/>
          </a:ln>
        </p:spPr>
      </p:sp>
      <p:sp>
        <p:nvSpPr>
          <p:cNvPr id="12" name="Text 10"/>
          <p:cNvSpPr/>
          <p:nvPr/>
        </p:nvSpPr>
        <p:spPr>
          <a:xfrm>
            <a:off x="1137920" y="5982208"/>
            <a:ext cx="32512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EXHIBIT LABEL</a:t>
            </a:r>
            <a:endParaRPr lang="en-US" sz="900" dirty="0"/>
          </a:p>
        </p:txBody>
      </p:sp>
      <p:sp>
        <p:nvSpPr>
          <p:cNvPr id="13" name="Text 11"/>
          <p:cNvSpPr/>
          <p:nvPr/>
        </p:nvSpPr>
        <p:spPr>
          <a:xfrm>
            <a:off x="1137920" y="6372352"/>
            <a:ext cx="13980160" cy="97536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Landmarks are famous places that help us recognize a region. Natural landmarks were shaped by nature; man-made landmarks were built by people. Together, they tell visitors what the land does and what the people who live there have done.</a:t>
            </a:r>
            <a:endParaRPr lang="en-US" sz="1200" dirty="0"/>
          </a:p>
        </p:txBody>
      </p:sp>
      <p:sp>
        <p:nvSpPr>
          <p:cNvPr id="14" name="Text 12"/>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12 / 20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SELF-CHECK  1 OF 3</a:t>
            </a:r>
            <a:endParaRPr lang="en-US" sz="1000" dirty="0"/>
          </a:p>
        </p:txBody>
      </p:sp>
      <p:sp>
        <p:nvSpPr>
          <p:cNvPr id="4" name="Text 2"/>
          <p:cNvSpPr/>
          <p:nvPr/>
        </p:nvSpPr>
        <p:spPr>
          <a:xfrm>
            <a:off x="812800" y="1219200"/>
            <a:ext cx="14630400" cy="97536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is a landmark?</a:t>
            </a:r>
            <a:endParaRPr lang="en-US" sz="2000" dirty="0"/>
          </a:p>
        </p:txBody>
      </p:sp>
      <p:sp>
        <p:nvSpPr>
          <p:cNvPr id="5" name="Shape 3"/>
          <p:cNvSpPr/>
          <p:nvPr/>
        </p:nvSpPr>
        <p:spPr>
          <a:xfrm>
            <a:off x="812800" y="2600960"/>
            <a:ext cx="14630400" cy="1137920"/>
          </a:xfrm>
          <a:prstGeom prst="roundRect">
            <a:avLst>
              <a:gd name="adj" fmla="val 11429"/>
            </a:avLst>
          </a:prstGeom>
          <a:solidFill>
            <a:srgbClr val="FFFFFF"/>
          </a:solidFill>
          <a:ln w="12700">
            <a:solidFill>
              <a:srgbClr val="D0D8E0"/>
            </a:solidFill>
            <a:prstDash val="solid"/>
          </a:ln>
        </p:spPr>
      </p:sp>
      <p:sp>
        <p:nvSpPr>
          <p:cNvPr id="6" name="Text 4"/>
          <p:cNvSpPr/>
          <p:nvPr/>
        </p:nvSpPr>
        <p:spPr>
          <a:xfrm>
            <a:off x="1300480" y="260096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 The capital city of a country.</a:t>
            </a:r>
            <a:endParaRPr lang="en-US" sz="1400" dirty="0"/>
          </a:p>
        </p:txBody>
      </p:sp>
      <p:sp>
        <p:nvSpPr>
          <p:cNvPr id="7" name="Shape 5"/>
          <p:cNvSpPr/>
          <p:nvPr/>
        </p:nvSpPr>
        <p:spPr>
          <a:xfrm>
            <a:off x="812800" y="3982720"/>
            <a:ext cx="14630400" cy="1137920"/>
          </a:xfrm>
          <a:prstGeom prst="roundRect">
            <a:avLst>
              <a:gd name="adj" fmla="val 11429"/>
            </a:avLst>
          </a:prstGeom>
          <a:solidFill>
            <a:srgbClr val="E3F8ED"/>
          </a:solidFill>
          <a:ln w="25400">
            <a:solidFill>
              <a:srgbClr val="34B76F"/>
            </a:solidFill>
            <a:prstDash val="solid"/>
          </a:ln>
        </p:spPr>
      </p:sp>
      <p:sp>
        <p:nvSpPr>
          <p:cNvPr id="8" name="Text 6"/>
          <p:cNvSpPr/>
          <p:nvPr/>
        </p:nvSpPr>
        <p:spPr>
          <a:xfrm>
            <a:off x="1300480" y="398272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B. A famous place that people travel to see.</a:t>
            </a:r>
            <a:endParaRPr lang="en-US" sz="1400" dirty="0"/>
          </a:p>
        </p:txBody>
      </p:sp>
      <p:sp>
        <p:nvSpPr>
          <p:cNvPr id="9" name="Shape 7"/>
          <p:cNvSpPr/>
          <p:nvPr/>
        </p:nvSpPr>
        <p:spPr>
          <a:xfrm>
            <a:off x="812800" y="5364480"/>
            <a:ext cx="14630400" cy="1137920"/>
          </a:xfrm>
          <a:prstGeom prst="roundRect">
            <a:avLst>
              <a:gd name="adj" fmla="val 11429"/>
            </a:avLst>
          </a:prstGeom>
          <a:solidFill>
            <a:srgbClr val="FFFFFF"/>
          </a:solidFill>
          <a:ln w="12700">
            <a:solidFill>
              <a:srgbClr val="D0D8E0"/>
            </a:solidFill>
            <a:prstDash val="solid"/>
          </a:ln>
        </p:spPr>
      </p:sp>
      <p:sp>
        <p:nvSpPr>
          <p:cNvPr id="10" name="Text 8"/>
          <p:cNvSpPr/>
          <p:nvPr/>
        </p:nvSpPr>
        <p:spPr>
          <a:xfrm>
            <a:off x="1300480" y="536448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 A kind of map that shows borders.</a:t>
            </a:r>
            <a:endParaRPr lang="en-US" sz="1400" dirty="0"/>
          </a:p>
        </p:txBody>
      </p:sp>
      <p:sp>
        <p:nvSpPr>
          <p:cNvPr id="11" name="Shape 9"/>
          <p:cNvSpPr/>
          <p:nvPr/>
        </p:nvSpPr>
        <p:spPr>
          <a:xfrm>
            <a:off x="812800" y="6990080"/>
            <a:ext cx="14630400" cy="1463040"/>
          </a:xfrm>
          <a:prstGeom prst="roundRect">
            <a:avLst>
              <a:gd name="adj" fmla="val 11111"/>
            </a:avLst>
          </a:prstGeom>
          <a:solidFill>
            <a:srgbClr val="EAF8FD"/>
          </a:solidFill>
          <a:ln/>
        </p:spPr>
      </p:sp>
      <p:sp>
        <p:nvSpPr>
          <p:cNvPr id="12" name="Text 10"/>
          <p:cNvSpPr/>
          <p:nvPr/>
        </p:nvSpPr>
        <p:spPr>
          <a:xfrm>
            <a:off x="1137920" y="7071360"/>
            <a:ext cx="13980160" cy="130048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Landmarks are famous places -- sometimes shaped by nature, sometimes built by people -- that visitors travel to see.</a:t>
            </a:r>
            <a:endParaRPr lang="en-US" sz="1200" dirty="0"/>
          </a:p>
        </p:txBody>
      </p:sp>
      <p:sp>
        <p:nvSpPr>
          <p:cNvPr id="13" name="Text 11"/>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13 / 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SELF-CHECK  2 OF 3</a:t>
            </a:r>
            <a:endParaRPr lang="en-US" sz="1000" dirty="0"/>
          </a:p>
        </p:txBody>
      </p:sp>
      <p:sp>
        <p:nvSpPr>
          <p:cNvPr id="4" name="Text 2"/>
          <p:cNvSpPr/>
          <p:nvPr/>
        </p:nvSpPr>
        <p:spPr>
          <a:xfrm>
            <a:off x="812800" y="1219200"/>
            <a:ext cx="14630400" cy="97536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Which of these is a natural landmark?</a:t>
            </a:r>
            <a:endParaRPr lang="en-US" sz="2000" dirty="0"/>
          </a:p>
        </p:txBody>
      </p:sp>
      <p:sp>
        <p:nvSpPr>
          <p:cNvPr id="5" name="Shape 3"/>
          <p:cNvSpPr/>
          <p:nvPr/>
        </p:nvSpPr>
        <p:spPr>
          <a:xfrm>
            <a:off x="812800" y="2600960"/>
            <a:ext cx="14630400" cy="1137920"/>
          </a:xfrm>
          <a:prstGeom prst="roundRect">
            <a:avLst>
              <a:gd name="adj" fmla="val 11429"/>
            </a:avLst>
          </a:prstGeom>
          <a:solidFill>
            <a:srgbClr val="E3F8ED"/>
          </a:solidFill>
          <a:ln w="25400">
            <a:solidFill>
              <a:srgbClr val="34B76F"/>
            </a:solidFill>
            <a:prstDash val="solid"/>
          </a:ln>
        </p:spPr>
      </p:sp>
      <p:sp>
        <p:nvSpPr>
          <p:cNvPr id="6" name="Text 4"/>
          <p:cNvSpPr/>
          <p:nvPr/>
        </p:nvSpPr>
        <p:spPr>
          <a:xfrm>
            <a:off x="1300480" y="260096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 The Grand Canyon</a:t>
            </a:r>
            <a:endParaRPr lang="en-US" sz="1400" dirty="0"/>
          </a:p>
        </p:txBody>
      </p:sp>
      <p:sp>
        <p:nvSpPr>
          <p:cNvPr id="7" name="Shape 5"/>
          <p:cNvSpPr/>
          <p:nvPr/>
        </p:nvSpPr>
        <p:spPr>
          <a:xfrm>
            <a:off x="812800" y="3982720"/>
            <a:ext cx="14630400" cy="1137920"/>
          </a:xfrm>
          <a:prstGeom prst="roundRect">
            <a:avLst>
              <a:gd name="adj" fmla="val 11429"/>
            </a:avLst>
          </a:prstGeom>
          <a:solidFill>
            <a:srgbClr val="FFFFFF"/>
          </a:solidFill>
          <a:ln w="12700">
            <a:solidFill>
              <a:srgbClr val="D0D8E0"/>
            </a:solidFill>
            <a:prstDash val="solid"/>
          </a:ln>
        </p:spPr>
      </p:sp>
      <p:sp>
        <p:nvSpPr>
          <p:cNvPr id="8" name="Text 6"/>
          <p:cNvSpPr/>
          <p:nvPr/>
        </p:nvSpPr>
        <p:spPr>
          <a:xfrm>
            <a:off x="1300480" y="398272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B. The CN Tower</a:t>
            </a:r>
            <a:endParaRPr lang="en-US" sz="1400" dirty="0"/>
          </a:p>
        </p:txBody>
      </p:sp>
      <p:sp>
        <p:nvSpPr>
          <p:cNvPr id="9" name="Shape 7"/>
          <p:cNvSpPr/>
          <p:nvPr/>
        </p:nvSpPr>
        <p:spPr>
          <a:xfrm>
            <a:off x="812800" y="5364480"/>
            <a:ext cx="14630400" cy="1137920"/>
          </a:xfrm>
          <a:prstGeom prst="roundRect">
            <a:avLst>
              <a:gd name="adj" fmla="val 11429"/>
            </a:avLst>
          </a:prstGeom>
          <a:solidFill>
            <a:srgbClr val="FFFFFF"/>
          </a:solidFill>
          <a:ln w="12700">
            <a:solidFill>
              <a:srgbClr val="D0D8E0"/>
            </a:solidFill>
            <a:prstDash val="solid"/>
          </a:ln>
        </p:spPr>
      </p:sp>
      <p:sp>
        <p:nvSpPr>
          <p:cNvPr id="10" name="Text 8"/>
          <p:cNvSpPr/>
          <p:nvPr/>
        </p:nvSpPr>
        <p:spPr>
          <a:xfrm>
            <a:off x="1300480" y="536448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 The Statue of Liberty</a:t>
            </a:r>
            <a:endParaRPr lang="en-US" sz="1400" dirty="0"/>
          </a:p>
        </p:txBody>
      </p:sp>
      <p:sp>
        <p:nvSpPr>
          <p:cNvPr id="11" name="Shape 9"/>
          <p:cNvSpPr/>
          <p:nvPr/>
        </p:nvSpPr>
        <p:spPr>
          <a:xfrm>
            <a:off x="812800" y="6990080"/>
            <a:ext cx="14630400" cy="1463040"/>
          </a:xfrm>
          <a:prstGeom prst="roundRect">
            <a:avLst>
              <a:gd name="adj" fmla="val 11111"/>
            </a:avLst>
          </a:prstGeom>
          <a:solidFill>
            <a:srgbClr val="EAF8FD"/>
          </a:solidFill>
          <a:ln/>
        </p:spPr>
      </p:sp>
      <p:sp>
        <p:nvSpPr>
          <p:cNvPr id="12" name="Text 10"/>
          <p:cNvSpPr/>
          <p:nvPr/>
        </p:nvSpPr>
        <p:spPr>
          <a:xfrm>
            <a:off x="1137920" y="7071360"/>
            <a:ext cx="13980160" cy="130048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The Grand Canyon was carved by the Colorado River over millions of years -- no person built it.</a:t>
            </a:r>
            <a:endParaRPr lang="en-US" sz="1200" dirty="0"/>
          </a:p>
        </p:txBody>
      </p:sp>
      <p:sp>
        <p:nvSpPr>
          <p:cNvPr id="13" name="Text 11"/>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14 / 20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SELF-CHECK  3 OF 3</a:t>
            </a:r>
            <a:endParaRPr lang="en-US" sz="1000" dirty="0"/>
          </a:p>
        </p:txBody>
      </p:sp>
      <p:sp>
        <p:nvSpPr>
          <p:cNvPr id="4" name="Text 2"/>
          <p:cNvSpPr/>
          <p:nvPr/>
        </p:nvSpPr>
        <p:spPr>
          <a:xfrm>
            <a:off x="812800" y="1219200"/>
            <a:ext cx="14630400" cy="97536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do man-made landmarks tell us about a place?</a:t>
            </a:r>
            <a:endParaRPr lang="en-US" sz="2000" dirty="0"/>
          </a:p>
        </p:txBody>
      </p:sp>
      <p:sp>
        <p:nvSpPr>
          <p:cNvPr id="5" name="Shape 3"/>
          <p:cNvSpPr/>
          <p:nvPr/>
        </p:nvSpPr>
        <p:spPr>
          <a:xfrm>
            <a:off x="812800" y="2600960"/>
            <a:ext cx="14630400" cy="1137920"/>
          </a:xfrm>
          <a:prstGeom prst="roundRect">
            <a:avLst>
              <a:gd name="adj" fmla="val 11429"/>
            </a:avLst>
          </a:prstGeom>
          <a:solidFill>
            <a:srgbClr val="FFFFFF"/>
          </a:solidFill>
          <a:ln w="12700">
            <a:solidFill>
              <a:srgbClr val="D0D8E0"/>
            </a:solidFill>
            <a:prstDash val="solid"/>
          </a:ln>
        </p:spPr>
      </p:sp>
      <p:sp>
        <p:nvSpPr>
          <p:cNvPr id="6" name="Text 4"/>
          <p:cNvSpPr/>
          <p:nvPr/>
        </p:nvSpPr>
        <p:spPr>
          <a:xfrm>
            <a:off x="1300480" y="260096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 How hot or cold the weather is there.</a:t>
            </a:r>
            <a:endParaRPr lang="en-US" sz="1400" dirty="0"/>
          </a:p>
        </p:txBody>
      </p:sp>
      <p:sp>
        <p:nvSpPr>
          <p:cNvPr id="7" name="Shape 5"/>
          <p:cNvSpPr/>
          <p:nvPr/>
        </p:nvSpPr>
        <p:spPr>
          <a:xfrm>
            <a:off x="812800" y="3982720"/>
            <a:ext cx="14630400" cy="1137920"/>
          </a:xfrm>
          <a:prstGeom prst="roundRect">
            <a:avLst>
              <a:gd name="adj" fmla="val 11429"/>
            </a:avLst>
          </a:prstGeom>
          <a:solidFill>
            <a:srgbClr val="FFFFFF"/>
          </a:solidFill>
          <a:ln w="12700">
            <a:solidFill>
              <a:srgbClr val="D0D8E0"/>
            </a:solidFill>
            <a:prstDash val="solid"/>
          </a:ln>
        </p:spPr>
      </p:sp>
      <p:sp>
        <p:nvSpPr>
          <p:cNvPr id="8" name="Text 6"/>
          <p:cNvSpPr/>
          <p:nvPr/>
        </p:nvSpPr>
        <p:spPr>
          <a:xfrm>
            <a:off x="1300480" y="398272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B. How big the country is.</a:t>
            </a:r>
            <a:endParaRPr lang="en-US" sz="1400" dirty="0"/>
          </a:p>
        </p:txBody>
      </p:sp>
      <p:sp>
        <p:nvSpPr>
          <p:cNvPr id="9" name="Shape 7"/>
          <p:cNvSpPr/>
          <p:nvPr/>
        </p:nvSpPr>
        <p:spPr>
          <a:xfrm>
            <a:off x="812800" y="5364480"/>
            <a:ext cx="14630400" cy="1137920"/>
          </a:xfrm>
          <a:prstGeom prst="roundRect">
            <a:avLst>
              <a:gd name="adj" fmla="val 11429"/>
            </a:avLst>
          </a:prstGeom>
          <a:solidFill>
            <a:srgbClr val="E3F8ED"/>
          </a:solidFill>
          <a:ln w="25400">
            <a:solidFill>
              <a:srgbClr val="34B76F"/>
            </a:solidFill>
            <a:prstDash val="solid"/>
          </a:ln>
        </p:spPr>
      </p:sp>
      <p:sp>
        <p:nvSpPr>
          <p:cNvPr id="10" name="Text 8"/>
          <p:cNvSpPr/>
          <p:nvPr/>
        </p:nvSpPr>
        <p:spPr>
          <a:xfrm>
            <a:off x="1300480" y="5364480"/>
            <a:ext cx="13655040" cy="113792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 What the people who live there valued enough to build.</a:t>
            </a:r>
            <a:endParaRPr lang="en-US" sz="1400" dirty="0"/>
          </a:p>
        </p:txBody>
      </p:sp>
      <p:sp>
        <p:nvSpPr>
          <p:cNvPr id="11" name="Shape 9"/>
          <p:cNvSpPr/>
          <p:nvPr/>
        </p:nvSpPr>
        <p:spPr>
          <a:xfrm>
            <a:off x="812800" y="6990080"/>
            <a:ext cx="14630400" cy="1463040"/>
          </a:xfrm>
          <a:prstGeom prst="roundRect">
            <a:avLst>
              <a:gd name="adj" fmla="val 11111"/>
            </a:avLst>
          </a:prstGeom>
          <a:solidFill>
            <a:srgbClr val="EAF8FD"/>
          </a:solidFill>
          <a:ln/>
        </p:spPr>
      </p:sp>
      <p:sp>
        <p:nvSpPr>
          <p:cNvPr id="12" name="Text 10"/>
          <p:cNvSpPr/>
          <p:nvPr/>
        </p:nvSpPr>
        <p:spPr>
          <a:xfrm>
            <a:off x="1137920" y="7071360"/>
            <a:ext cx="13980160" cy="130048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When people spend years building something huge, it tells us what mattered to them.</a:t>
            </a:r>
            <a:endParaRPr lang="en-US" sz="1200" dirty="0"/>
          </a:p>
        </p:txBody>
      </p:sp>
      <p:sp>
        <p:nvSpPr>
          <p:cNvPr id="13" name="Text 11"/>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15 / 20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Q1</a:t>
            </a:r>
            <a:endParaRPr lang="en-US" sz="1000" dirty="0"/>
          </a:p>
        </p:txBody>
      </p:sp>
      <p:sp>
        <p:nvSpPr>
          <p:cNvPr id="4" name="Text 2"/>
          <p:cNvSpPr/>
          <p:nvPr/>
        </p:nvSpPr>
        <p:spPr>
          <a:xfrm>
            <a:off x="812800" y="1137920"/>
            <a:ext cx="14630400" cy="73152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Scaffolding: Evidence Question 1</a:t>
            </a:r>
            <a:endParaRPr lang="en-US" sz="2000" dirty="0"/>
          </a:p>
        </p:txBody>
      </p:sp>
      <p:sp>
        <p:nvSpPr>
          <p:cNvPr id="5" name="Shape 3"/>
          <p:cNvSpPr/>
          <p:nvPr/>
        </p:nvSpPr>
        <p:spPr>
          <a:xfrm>
            <a:off x="812800" y="2113280"/>
            <a:ext cx="14630400" cy="1300480"/>
          </a:xfrm>
          <a:prstGeom prst="roundRect">
            <a:avLst>
              <a:gd name="adj" fmla="val 12500"/>
            </a:avLst>
          </a:prstGeom>
          <a:solidFill>
            <a:srgbClr val="FFF3DC"/>
          </a:solidFill>
          <a:ln w="19050">
            <a:solidFill>
              <a:srgbClr val="F5E6C8"/>
            </a:solidFill>
            <a:prstDash val="solid"/>
          </a:ln>
        </p:spPr>
      </p:sp>
      <p:sp>
        <p:nvSpPr>
          <p:cNvPr id="6" name="Text 4"/>
          <p:cNvSpPr/>
          <p:nvPr/>
        </p:nvSpPr>
        <p:spPr>
          <a:xfrm>
            <a:off x="1137920" y="2194560"/>
            <a:ext cx="13980160" cy="1137920"/>
          </a:xfrm>
          <a:prstGeom prst="rect">
            <a:avLst/>
          </a:prstGeom>
          <a:noFill/>
          <a:ln/>
        </p:spPr>
        <p:txBody>
          <a:bodyPr wrap="square" rtlCol="0" anchor="ctr"/>
          <a:lstStyle/>
          <a:p>
            <a:pPr indent="0" marL="0">
              <a:lnSpc>
                <a:spcPct val="120000"/>
              </a:lnSpc>
              <a:buNone/>
            </a:pPr>
            <a:r>
              <a:rPr lang="en-US" sz="1400" b="1" i="1" dirty="0">
                <a:solidFill>
                  <a:srgbClr val="0E1C42"/>
                </a:solidFill>
                <a:latin typeface="Calibri" pitchFamily="34" charset="0"/>
                <a:ea typeface="Calibri" pitchFamily="34" charset="-122"/>
                <a:cs typeface="Calibri" pitchFamily="34" charset="-120"/>
              </a:rPr>
              <a:t>What is the difference between a natural landmark and a man-made landmark? Give one example of each from today's lesson.</a:t>
            </a:r>
            <a:endParaRPr lang="en-US" sz="1400" dirty="0"/>
          </a:p>
        </p:txBody>
      </p:sp>
      <p:sp>
        <p:nvSpPr>
          <p:cNvPr id="7" name="Text 5"/>
          <p:cNvSpPr/>
          <p:nvPr/>
        </p:nvSpPr>
        <p:spPr>
          <a:xfrm>
            <a:off x="812800" y="3820160"/>
            <a:ext cx="48768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SENTENCE STARTERS</a:t>
            </a:r>
            <a:endParaRPr lang="en-US" sz="900" dirty="0"/>
          </a:p>
        </p:txBody>
      </p:sp>
      <p:sp>
        <p:nvSpPr>
          <p:cNvPr id="8" name="Shape 6"/>
          <p:cNvSpPr/>
          <p:nvPr/>
        </p:nvSpPr>
        <p:spPr>
          <a:xfrm>
            <a:off x="812800" y="4389120"/>
            <a:ext cx="8940800" cy="894080"/>
          </a:xfrm>
          <a:prstGeom prst="roundRect">
            <a:avLst>
              <a:gd name="adj" fmla="val 14545"/>
            </a:avLst>
          </a:prstGeom>
          <a:solidFill>
            <a:srgbClr val="EAF8FD"/>
          </a:solidFill>
          <a:ln/>
        </p:spPr>
      </p:sp>
      <p:sp>
        <p:nvSpPr>
          <p:cNvPr id="9" name="Text 7"/>
          <p:cNvSpPr/>
          <p:nvPr/>
        </p:nvSpPr>
        <p:spPr>
          <a:xfrm>
            <a:off x="1137920" y="4389120"/>
            <a:ext cx="8290560" cy="894080"/>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A natural landmark is... One example is...</a:t>
            </a:r>
            <a:endParaRPr lang="en-US" sz="1200" dirty="0"/>
          </a:p>
        </p:txBody>
      </p:sp>
      <p:sp>
        <p:nvSpPr>
          <p:cNvPr id="10" name="Shape 8"/>
          <p:cNvSpPr/>
          <p:nvPr/>
        </p:nvSpPr>
        <p:spPr>
          <a:xfrm>
            <a:off x="812800" y="5445760"/>
            <a:ext cx="8940800" cy="894080"/>
          </a:xfrm>
          <a:prstGeom prst="roundRect">
            <a:avLst>
              <a:gd name="adj" fmla="val 14545"/>
            </a:avLst>
          </a:prstGeom>
          <a:solidFill>
            <a:srgbClr val="EAF8FD"/>
          </a:solidFill>
          <a:ln/>
        </p:spPr>
      </p:sp>
      <p:sp>
        <p:nvSpPr>
          <p:cNvPr id="11" name="Text 9"/>
          <p:cNvSpPr/>
          <p:nvPr/>
        </p:nvSpPr>
        <p:spPr>
          <a:xfrm>
            <a:off x="1137920" y="5445760"/>
            <a:ext cx="8290560" cy="894080"/>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A man-made landmark is... One example is...</a:t>
            </a:r>
            <a:endParaRPr lang="en-US" sz="1200" dirty="0"/>
          </a:p>
        </p:txBody>
      </p:sp>
      <p:sp>
        <p:nvSpPr>
          <p:cNvPr id="12" name="Shape 10"/>
          <p:cNvSpPr/>
          <p:nvPr/>
        </p:nvSpPr>
        <p:spPr>
          <a:xfrm>
            <a:off x="812800" y="6502400"/>
            <a:ext cx="8940800" cy="894080"/>
          </a:xfrm>
          <a:prstGeom prst="roundRect">
            <a:avLst>
              <a:gd name="adj" fmla="val 14545"/>
            </a:avLst>
          </a:prstGeom>
          <a:solidFill>
            <a:srgbClr val="EAF8FD"/>
          </a:solidFill>
          <a:ln/>
        </p:spPr>
      </p:sp>
      <p:sp>
        <p:nvSpPr>
          <p:cNvPr id="13" name="Text 11"/>
          <p:cNvSpPr/>
          <p:nvPr/>
        </p:nvSpPr>
        <p:spPr>
          <a:xfrm>
            <a:off x="1137920" y="6502400"/>
            <a:ext cx="8290560" cy="894080"/>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The difference is that natural landmarks were ______, but man-made landmarks were ______.</a:t>
            </a:r>
            <a:endParaRPr lang="en-US" sz="1200" dirty="0"/>
          </a:p>
        </p:txBody>
      </p:sp>
      <p:sp>
        <p:nvSpPr>
          <p:cNvPr id="14" name="Shape 12"/>
          <p:cNvSpPr/>
          <p:nvPr/>
        </p:nvSpPr>
        <p:spPr>
          <a:xfrm>
            <a:off x="10241280" y="3820160"/>
            <a:ext cx="5364480" cy="4145280"/>
          </a:xfrm>
          <a:prstGeom prst="roundRect">
            <a:avLst>
              <a:gd name="adj" fmla="val 3922"/>
            </a:avLst>
          </a:prstGeom>
          <a:solidFill>
            <a:srgbClr val="1A2D5A"/>
          </a:solidFill>
          <a:ln/>
        </p:spPr>
      </p:sp>
      <p:sp>
        <p:nvSpPr>
          <p:cNvPr id="15" name="Text 13"/>
          <p:cNvSpPr/>
          <p:nvPr/>
        </p:nvSpPr>
        <p:spPr>
          <a:xfrm>
            <a:off x="10566400" y="3982720"/>
            <a:ext cx="4714240" cy="4064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MODEL ANSWER</a:t>
            </a:r>
            <a:endParaRPr lang="en-US" sz="900" dirty="0"/>
          </a:p>
        </p:txBody>
      </p:sp>
      <p:sp>
        <p:nvSpPr>
          <p:cNvPr id="16" name="Text 14"/>
          <p:cNvSpPr/>
          <p:nvPr/>
        </p:nvSpPr>
        <p:spPr>
          <a:xfrm>
            <a:off x="10566400" y="4551680"/>
            <a:ext cx="4714240" cy="3088640"/>
          </a:xfrm>
          <a:prstGeom prst="rect">
            <a:avLst/>
          </a:prstGeom>
          <a:noFill/>
          <a:ln/>
        </p:spPr>
        <p:txBody>
          <a:bodyPr wrap="square" rtlCol="0" anchor="t"/>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A natural landmark was made by nature over a long time. Niagara Falls is natural because the Niagara River made it by dropping over a cliff. A man-made landmark was built by people. The Statue of Liberty is man-made because it was a gift from France in 1886.</a:t>
            </a:r>
            <a:endParaRPr lang="en-US" sz="1100" dirty="0"/>
          </a:p>
        </p:txBody>
      </p:sp>
      <p:sp>
        <p:nvSpPr>
          <p:cNvPr id="17" name="Text 15"/>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Q2</a:t>
            </a:r>
            <a:endParaRPr lang="en-US" sz="1000" dirty="0"/>
          </a:p>
        </p:txBody>
      </p:sp>
      <p:sp>
        <p:nvSpPr>
          <p:cNvPr id="4" name="Text 2"/>
          <p:cNvSpPr/>
          <p:nvPr/>
        </p:nvSpPr>
        <p:spPr>
          <a:xfrm>
            <a:off x="812800" y="1137920"/>
            <a:ext cx="14630400" cy="73152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Scaffolding: Evidence Question 2</a:t>
            </a:r>
            <a:endParaRPr lang="en-US" sz="2000" dirty="0"/>
          </a:p>
        </p:txBody>
      </p:sp>
      <p:sp>
        <p:nvSpPr>
          <p:cNvPr id="5" name="Shape 3"/>
          <p:cNvSpPr/>
          <p:nvPr/>
        </p:nvSpPr>
        <p:spPr>
          <a:xfrm>
            <a:off x="812800" y="2113280"/>
            <a:ext cx="14630400" cy="1300480"/>
          </a:xfrm>
          <a:prstGeom prst="roundRect">
            <a:avLst>
              <a:gd name="adj" fmla="val 12500"/>
            </a:avLst>
          </a:prstGeom>
          <a:solidFill>
            <a:srgbClr val="FFF3DC"/>
          </a:solidFill>
          <a:ln w="19050">
            <a:solidFill>
              <a:srgbClr val="F5E6C8"/>
            </a:solidFill>
            <a:prstDash val="solid"/>
          </a:ln>
        </p:spPr>
      </p:sp>
      <p:sp>
        <p:nvSpPr>
          <p:cNvPr id="6" name="Text 4"/>
          <p:cNvSpPr/>
          <p:nvPr/>
        </p:nvSpPr>
        <p:spPr>
          <a:xfrm>
            <a:off x="1137920" y="2194560"/>
            <a:ext cx="13980160" cy="1137920"/>
          </a:xfrm>
          <a:prstGeom prst="rect">
            <a:avLst/>
          </a:prstGeom>
          <a:noFill/>
          <a:ln/>
        </p:spPr>
        <p:txBody>
          <a:bodyPr wrap="square" rtlCol="0" anchor="ctr"/>
          <a:lstStyle/>
          <a:p>
            <a:pPr indent="0" marL="0">
              <a:lnSpc>
                <a:spcPct val="120000"/>
              </a:lnSpc>
              <a:buNone/>
            </a:pPr>
            <a:r>
              <a:rPr lang="en-US" sz="1400" b="1" i="1" dirty="0">
                <a:solidFill>
                  <a:srgbClr val="0E1C42"/>
                </a:solidFill>
                <a:latin typeface="Calibri" pitchFamily="34" charset="0"/>
                <a:ea typeface="Calibri" pitchFamily="34" charset="-122"/>
                <a:cs typeface="Calibri" pitchFamily="34" charset="-120"/>
              </a:rPr>
              <a:t>Pick the Chichen Itza pyramid. What does it tell us about the people who built it? Use one detail from the lesson.</a:t>
            </a:r>
            <a:endParaRPr lang="en-US" sz="1400" dirty="0"/>
          </a:p>
        </p:txBody>
      </p:sp>
      <p:sp>
        <p:nvSpPr>
          <p:cNvPr id="7" name="Text 5"/>
          <p:cNvSpPr/>
          <p:nvPr/>
        </p:nvSpPr>
        <p:spPr>
          <a:xfrm>
            <a:off x="812800" y="3820160"/>
            <a:ext cx="48768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THROUGH IT</a:t>
            </a:r>
            <a:endParaRPr lang="en-US" sz="900" dirty="0"/>
          </a:p>
        </p:txBody>
      </p:sp>
      <p:sp>
        <p:nvSpPr>
          <p:cNvPr id="8" name="Shape 6"/>
          <p:cNvSpPr/>
          <p:nvPr/>
        </p:nvSpPr>
        <p:spPr>
          <a:xfrm>
            <a:off x="812800" y="4389120"/>
            <a:ext cx="8940800" cy="1056640"/>
          </a:xfrm>
          <a:prstGeom prst="roundRect">
            <a:avLst>
              <a:gd name="adj" fmla="val 12308"/>
            </a:avLst>
          </a:prstGeom>
          <a:solidFill>
            <a:srgbClr val="F0F2F8"/>
          </a:solidFill>
          <a:ln/>
        </p:spPr>
      </p:sp>
      <p:sp>
        <p:nvSpPr>
          <p:cNvPr id="9" name="Text 7"/>
          <p:cNvSpPr/>
          <p:nvPr/>
        </p:nvSpPr>
        <p:spPr>
          <a:xfrm>
            <a:off x="1137920" y="4421632"/>
            <a:ext cx="2600960" cy="487680"/>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What is it?</a:t>
            </a:r>
            <a:endParaRPr lang="en-US" sz="1000" dirty="0"/>
          </a:p>
        </p:txBody>
      </p:sp>
      <p:sp>
        <p:nvSpPr>
          <p:cNvPr id="10" name="Text 8"/>
          <p:cNvSpPr/>
          <p:nvPr/>
        </p:nvSpPr>
        <p:spPr>
          <a:xfrm>
            <a:off x="1137920" y="4876800"/>
            <a:ext cx="8290560" cy="48768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stepped stone pyramid in the Yucatan, Mexico</a:t>
            </a:r>
            <a:endParaRPr lang="en-US" sz="1200" dirty="0"/>
          </a:p>
        </p:txBody>
      </p:sp>
      <p:sp>
        <p:nvSpPr>
          <p:cNvPr id="11" name="Shape 9"/>
          <p:cNvSpPr/>
          <p:nvPr/>
        </p:nvSpPr>
        <p:spPr>
          <a:xfrm>
            <a:off x="812800" y="5608320"/>
            <a:ext cx="8940800" cy="1056640"/>
          </a:xfrm>
          <a:prstGeom prst="roundRect">
            <a:avLst>
              <a:gd name="adj" fmla="val 12308"/>
            </a:avLst>
          </a:prstGeom>
          <a:solidFill>
            <a:srgbClr val="F0F2F8"/>
          </a:solidFill>
          <a:ln/>
        </p:spPr>
      </p:sp>
      <p:sp>
        <p:nvSpPr>
          <p:cNvPr id="12" name="Text 10"/>
          <p:cNvSpPr/>
          <p:nvPr/>
        </p:nvSpPr>
        <p:spPr>
          <a:xfrm>
            <a:off x="1137920" y="5640832"/>
            <a:ext cx="2600960" cy="487680"/>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Who built it?</a:t>
            </a:r>
            <a:endParaRPr lang="en-US" sz="1000" dirty="0"/>
          </a:p>
        </p:txBody>
      </p:sp>
      <p:sp>
        <p:nvSpPr>
          <p:cNvPr id="13" name="Text 11"/>
          <p:cNvSpPr/>
          <p:nvPr/>
        </p:nvSpPr>
        <p:spPr>
          <a:xfrm>
            <a:off x="1137920" y="6096000"/>
            <a:ext cx="8290560" cy="48768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Maya people, over 1,000 years ago</a:t>
            </a:r>
            <a:endParaRPr lang="en-US" sz="1200" dirty="0"/>
          </a:p>
        </p:txBody>
      </p:sp>
      <p:sp>
        <p:nvSpPr>
          <p:cNvPr id="14" name="Shape 12"/>
          <p:cNvSpPr/>
          <p:nvPr/>
        </p:nvSpPr>
        <p:spPr>
          <a:xfrm>
            <a:off x="812800" y="6827520"/>
            <a:ext cx="8940800" cy="1056640"/>
          </a:xfrm>
          <a:prstGeom prst="roundRect">
            <a:avLst>
              <a:gd name="adj" fmla="val 12308"/>
            </a:avLst>
          </a:prstGeom>
          <a:solidFill>
            <a:srgbClr val="E3F8ED"/>
          </a:solidFill>
          <a:ln/>
        </p:spPr>
      </p:sp>
      <p:sp>
        <p:nvSpPr>
          <p:cNvPr id="15" name="Text 13"/>
          <p:cNvSpPr/>
          <p:nvPr/>
        </p:nvSpPr>
        <p:spPr>
          <a:xfrm>
            <a:off x="1137920" y="6860032"/>
            <a:ext cx="2600960" cy="487680"/>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What does that tell us?</a:t>
            </a:r>
            <a:endParaRPr lang="en-US" sz="1000" dirty="0"/>
          </a:p>
        </p:txBody>
      </p:sp>
      <p:sp>
        <p:nvSpPr>
          <p:cNvPr id="16" name="Text 14"/>
          <p:cNvSpPr/>
          <p:nvPr/>
        </p:nvSpPr>
        <p:spPr>
          <a:xfrm>
            <a:off x="1137920" y="7315200"/>
            <a:ext cx="8290560" cy="48768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They had the skill to build something huge from stone; their beliefs mattered enough to build a monument</a:t>
            </a:r>
            <a:endParaRPr lang="en-US" sz="1200" dirty="0"/>
          </a:p>
        </p:txBody>
      </p:sp>
      <p:sp>
        <p:nvSpPr>
          <p:cNvPr id="17" name="Shape 15"/>
          <p:cNvSpPr/>
          <p:nvPr/>
        </p:nvSpPr>
        <p:spPr>
          <a:xfrm>
            <a:off x="10241280" y="3820160"/>
            <a:ext cx="5364480" cy="2600960"/>
          </a:xfrm>
          <a:prstGeom prst="roundRect">
            <a:avLst>
              <a:gd name="adj" fmla="val 7500"/>
            </a:avLst>
          </a:prstGeom>
          <a:solidFill>
            <a:srgbClr val="FFF3DC"/>
          </a:solidFill>
          <a:ln w="19050">
            <a:solidFill>
              <a:srgbClr val="F5E6C8"/>
            </a:solidFill>
            <a:prstDash val="solid"/>
          </a:ln>
        </p:spPr>
      </p:sp>
      <p:sp>
        <p:nvSpPr>
          <p:cNvPr id="18" name="Text 16"/>
          <p:cNvSpPr/>
          <p:nvPr/>
        </p:nvSpPr>
        <p:spPr>
          <a:xfrm>
            <a:off x="10485120" y="3917696"/>
            <a:ext cx="487680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10485120" y="4275328"/>
            <a:ext cx="4876800" cy="2032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Chichen Itza pyramid tells us the Maya people..."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detail from the lesson is..."</a:t>
            </a:r>
            <a:endParaRPr lang="en-US" sz="1200" dirty="0"/>
          </a:p>
        </p:txBody>
      </p:sp>
      <p:sp>
        <p:nvSpPr>
          <p:cNvPr id="20" name="Shape 18"/>
          <p:cNvSpPr/>
          <p:nvPr/>
        </p:nvSpPr>
        <p:spPr>
          <a:xfrm>
            <a:off x="10241280" y="6664960"/>
            <a:ext cx="536448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21" name="Text 19"/>
          <p:cNvSpPr/>
          <p:nvPr/>
        </p:nvSpPr>
        <p:spPr>
          <a:xfrm>
            <a:off x="10566400" y="6827520"/>
            <a:ext cx="47142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2" name="Text 20"/>
          <p:cNvSpPr/>
          <p:nvPr/>
        </p:nvSpPr>
        <p:spPr>
          <a:xfrm>
            <a:off x="10566400" y="7282688"/>
            <a:ext cx="471424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it take to build a stone pyramid over 1,000 years ago?</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building something that big tell us about what mattered to the Maya?</a:t>
            </a:r>
            <a:endParaRPr lang="en-US" sz="1100" dirty="0"/>
          </a:p>
        </p:txBody>
      </p:sp>
      <p:sp>
        <p:nvSpPr>
          <p:cNvPr id="23" name="Text 21"/>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 TASK — PHOTO CAPTION</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Curator Task: Photo Caption</a:t>
            </a:r>
            <a:endParaRPr lang="en-US" sz="2200" dirty="0"/>
          </a:p>
        </p:txBody>
      </p:sp>
      <p:sp>
        <p:nvSpPr>
          <p:cNvPr id="5" name="Shape 3"/>
          <p:cNvSpPr/>
          <p:nvPr/>
        </p:nvSpPr>
        <p:spPr>
          <a:xfrm>
            <a:off x="812800" y="2194560"/>
            <a:ext cx="14630400" cy="2275840"/>
          </a:xfrm>
          <a:prstGeom prst="roundRect">
            <a:avLst>
              <a:gd name="adj" fmla="val 8571"/>
            </a:avLst>
          </a:prstGeom>
          <a:solidFill>
            <a:srgbClr val="FFF3DC"/>
          </a:solidFill>
          <a:ln w="19050">
            <a:solidFill>
              <a:srgbClr val="D4943A"/>
            </a:solidFill>
            <a:prstDash val="solid"/>
          </a:ln>
        </p:spPr>
      </p:sp>
      <p:sp>
        <p:nvSpPr>
          <p:cNvPr id="6" name="Text 4"/>
          <p:cNvSpPr/>
          <p:nvPr/>
        </p:nvSpPr>
        <p:spPr>
          <a:xfrm>
            <a:off x="1137920" y="2357120"/>
            <a:ext cx="13980160" cy="1950720"/>
          </a:xfrm>
          <a:prstGeom prst="rect">
            <a:avLst/>
          </a:prstGeom>
          <a:noFill/>
          <a:ln/>
        </p:spPr>
        <p:txBody>
          <a:bodyPr wrap="square" rtlCol="0" anchor="t"/>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Pick one landmark from today's lesson (Grand Canyon, Niagara Falls, Caribbean Coral Reefs, Statue of Liberty, Chichen Itza, or CN Tower). Write a 3-4 sentence caption that visitors will read under its photo. Include: the landmark's name, where it is (country or region), whether it is natural or man-made, and one thing it tells us about its place.</a:t>
            </a:r>
            <a:endParaRPr lang="en-US" sz="1300" dirty="0"/>
          </a:p>
        </p:txBody>
      </p:sp>
      <p:sp>
        <p:nvSpPr>
          <p:cNvPr id="7" name="Text 5"/>
          <p:cNvSpPr/>
          <p:nvPr/>
        </p:nvSpPr>
        <p:spPr>
          <a:xfrm>
            <a:off x="812800" y="4876800"/>
            <a:ext cx="65024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CAPTION SHOULD ANSWER</a:t>
            </a:r>
            <a:endParaRPr lang="en-US" sz="900" dirty="0"/>
          </a:p>
        </p:txBody>
      </p:sp>
      <p:sp>
        <p:nvSpPr>
          <p:cNvPr id="8" name="Shape 6"/>
          <p:cNvSpPr/>
          <p:nvPr/>
        </p:nvSpPr>
        <p:spPr>
          <a:xfrm>
            <a:off x="812800" y="5445760"/>
            <a:ext cx="8940800" cy="650240"/>
          </a:xfrm>
          <a:prstGeom prst="roundRect">
            <a:avLst>
              <a:gd name="adj" fmla="val 15000"/>
            </a:avLst>
          </a:prstGeom>
          <a:solidFill>
            <a:srgbClr val="F0F2F8"/>
          </a:solidFill>
          <a:ln/>
        </p:spPr>
      </p:sp>
      <p:sp>
        <p:nvSpPr>
          <p:cNvPr id="9" name="Text 7"/>
          <p:cNvSpPr/>
          <p:nvPr/>
        </p:nvSpPr>
        <p:spPr>
          <a:xfrm>
            <a:off x="1300480" y="5445760"/>
            <a:ext cx="8128000" cy="65024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is this landmark?</a:t>
            </a:r>
            <a:endParaRPr lang="en-US" sz="1200" dirty="0"/>
          </a:p>
        </p:txBody>
      </p:sp>
      <p:sp>
        <p:nvSpPr>
          <p:cNvPr id="10" name="Shape 8"/>
          <p:cNvSpPr/>
          <p:nvPr/>
        </p:nvSpPr>
        <p:spPr>
          <a:xfrm>
            <a:off x="812800" y="6226048"/>
            <a:ext cx="8940800" cy="650240"/>
          </a:xfrm>
          <a:prstGeom prst="roundRect">
            <a:avLst>
              <a:gd name="adj" fmla="val 15000"/>
            </a:avLst>
          </a:prstGeom>
          <a:solidFill>
            <a:srgbClr val="F0F2F8"/>
          </a:solidFill>
          <a:ln/>
        </p:spPr>
      </p:sp>
      <p:sp>
        <p:nvSpPr>
          <p:cNvPr id="11" name="Text 9"/>
          <p:cNvSpPr/>
          <p:nvPr/>
        </p:nvSpPr>
        <p:spPr>
          <a:xfrm>
            <a:off x="1300480" y="6226048"/>
            <a:ext cx="8128000" cy="65024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Where is it?</a:t>
            </a:r>
            <a:endParaRPr lang="en-US" sz="1200" dirty="0"/>
          </a:p>
        </p:txBody>
      </p:sp>
      <p:sp>
        <p:nvSpPr>
          <p:cNvPr id="12" name="Shape 10"/>
          <p:cNvSpPr/>
          <p:nvPr/>
        </p:nvSpPr>
        <p:spPr>
          <a:xfrm>
            <a:off x="812800" y="7006336"/>
            <a:ext cx="8940800" cy="650240"/>
          </a:xfrm>
          <a:prstGeom prst="roundRect">
            <a:avLst>
              <a:gd name="adj" fmla="val 15000"/>
            </a:avLst>
          </a:prstGeom>
          <a:solidFill>
            <a:srgbClr val="F0F2F8"/>
          </a:solidFill>
          <a:ln/>
        </p:spPr>
      </p:sp>
      <p:sp>
        <p:nvSpPr>
          <p:cNvPr id="13" name="Text 11"/>
          <p:cNvSpPr/>
          <p:nvPr/>
        </p:nvSpPr>
        <p:spPr>
          <a:xfrm>
            <a:off x="1300480" y="7006336"/>
            <a:ext cx="8128000" cy="65024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Natural or man-made?</a:t>
            </a:r>
            <a:endParaRPr lang="en-US" sz="1200" dirty="0"/>
          </a:p>
        </p:txBody>
      </p:sp>
      <p:sp>
        <p:nvSpPr>
          <p:cNvPr id="14" name="Shape 12"/>
          <p:cNvSpPr/>
          <p:nvPr/>
        </p:nvSpPr>
        <p:spPr>
          <a:xfrm>
            <a:off x="812800" y="7786624"/>
            <a:ext cx="8940800" cy="650240"/>
          </a:xfrm>
          <a:prstGeom prst="roundRect">
            <a:avLst>
              <a:gd name="adj" fmla="val 15000"/>
            </a:avLst>
          </a:prstGeom>
          <a:solidFill>
            <a:srgbClr val="F0F2F8"/>
          </a:solidFill>
          <a:ln/>
        </p:spPr>
      </p:sp>
      <p:sp>
        <p:nvSpPr>
          <p:cNvPr id="15" name="Text 13"/>
          <p:cNvSpPr/>
          <p:nvPr/>
        </p:nvSpPr>
        <p:spPr>
          <a:xfrm>
            <a:off x="1300480" y="7786624"/>
            <a:ext cx="8128000" cy="65024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does it tell us about its place?</a:t>
            </a:r>
            <a:endParaRPr lang="en-US" sz="1200" dirty="0"/>
          </a:p>
        </p:txBody>
      </p:sp>
      <p:sp>
        <p:nvSpPr>
          <p:cNvPr id="16" name="Shape 14"/>
          <p:cNvSpPr/>
          <p:nvPr/>
        </p:nvSpPr>
        <p:spPr>
          <a:xfrm>
            <a:off x="10241280" y="4876800"/>
            <a:ext cx="5364480" cy="3495040"/>
          </a:xfrm>
          <a:prstGeom prst="roundRect">
            <a:avLst>
              <a:gd name="adj" fmla="val 4651"/>
            </a:avLst>
          </a:prstGeom>
          <a:solidFill>
            <a:srgbClr val="FFF8F0"/>
          </a:solidFill>
          <a:ln w="12700">
            <a:solidFill>
              <a:srgbClr val="F5E6C8"/>
            </a:solidFill>
            <a:prstDash val="solid"/>
          </a:ln>
        </p:spPr>
      </p:sp>
      <p:sp>
        <p:nvSpPr>
          <p:cNvPr id="17" name="Text 15"/>
          <p:cNvSpPr/>
          <p:nvPr/>
        </p:nvSpPr>
        <p:spPr>
          <a:xfrm>
            <a:off x="10566400" y="5039360"/>
            <a:ext cx="471424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18" name="Text 16"/>
          <p:cNvSpPr/>
          <p:nvPr/>
        </p:nvSpPr>
        <p:spPr>
          <a:xfrm>
            <a:off x="10566400" y="5608320"/>
            <a:ext cx="4714240" cy="568960"/>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Finish this sentence in your own words:</a:t>
            </a:r>
            <a:endParaRPr lang="en-US" sz="1100" dirty="0"/>
          </a:p>
        </p:txBody>
      </p:sp>
      <p:sp>
        <p:nvSpPr>
          <p:cNvPr id="19" name="Text 17"/>
          <p:cNvSpPr/>
          <p:nvPr/>
        </p:nvSpPr>
        <p:spPr>
          <a:xfrm>
            <a:off x="10566400" y="6258560"/>
            <a:ext cx="4714240" cy="975360"/>
          </a:xfrm>
          <a:prstGeom prst="rect">
            <a:avLst/>
          </a:prstGeom>
          <a:noFill/>
          <a:ln/>
        </p:spPr>
        <p:txBody>
          <a:bodyPr wrap="square" rtlCol="0" anchor="ctr"/>
          <a:lstStyle/>
          <a:p>
            <a:pPr indent="0" marL="0">
              <a:lnSpc>
                <a:spcPct val="130000"/>
              </a:lnSpc>
              <a:buNone/>
            </a:pPr>
            <a:r>
              <a:rPr lang="en-US" sz="1200" b="1" i="1" dirty="0">
                <a:solidFill>
                  <a:srgbClr val="0E1C42"/>
                </a:solidFill>
                <a:latin typeface="Cambria" pitchFamily="34" charset="0"/>
                <a:ea typeface="Cambria" pitchFamily="34" charset="-122"/>
                <a:cs typeface="Cambria" pitchFamily="34" charset="-120"/>
              </a:rPr>
              <a:t>In this exhibit, I learned that ______ because ______.</a:t>
            </a:r>
            <a:endParaRPr lang="en-US" sz="1200" dirty="0"/>
          </a:p>
        </p:txBody>
      </p:sp>
      <p:sp>
        <p:nvSpPr>
          <p:cNvPr id="20" name="Text 18"/>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18 / 20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650240" y="130048"/>
            <a:ext cx="14955520" cy="552704"/>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WHAT YOU'LL TURN IN</a:t>
            </a:r>
            <a:endParaRPr lang="en-US" sz="1000" dirty="0"/>
          </a:p>
        </p:txBody>
      </p:sp>
      <p:sp>
        <p:nvSpPr>
          <p:cNvPr id="4" name="Text 2"/>
          <p:cNvSpPr/>
          <p:nvPr/>
        </p:nvSpPr>
        <p:spPr>
          <a:xfrm>
            <a:off x="81280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You'll Turn In</a:t>
            </a:r>
            <a:endParaRPr lang="en-US" sz="2200" dirty="0"/>
          </a:p>
        </p:txBody>
      </p:sp>
      <p:sp>
        <p:nvSpPr>
          <p:cNvPr id="5" name="Shape 3"/>
          <p:cNvSpPr/>
          <p:nvPr/>
        </p:nvSpPr>
        <p:spPr>
          <a:xfrm>
            <a:off x="812800" y="2275840"/>
            <a:ext cx="14630400" cy="1706880"/>
          </a:xfrm>
          <a:prstGeom prst="roundRect">
            <a:avLst>
              <a:gd name="adj" fmla="val 9524"/>
            </a:avLst>
          </a:prstGeom>
          <a:solidFill>
            <a:srgbClr val="FFFFFF"/>
          </a:solidFill>
          <a:ln w="12700">
            <a:solidFill>
              <a:srgbClr val="D0D8E0"/>
            </a:solidFill>
            <a:prstDash val="solid"/>
          </a:ln>
        </p:spPr>
      </p:sp>
      <p:sp>
        <p:nvSpPr>
          <p:cNvPr id="6" name="Text 4"/>
          <p:cNvSpPr/>
          <p:nvPr/>
        </p:nvSpPr>
        <p:spPr>
          <a:xfrm>
            <a:off x="1137920" y="2405888"/>
            <a:ext cx="32512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1137920" y="2796032"/>
            <a:ext cx="13980160" cy="975360"/>
          </a:xfrm>
          <a:prstGeom prst="rect">
            <a:avLst/>
          </a:prstGeom>
          <a:noFill/>
          <a:ln/>
        </p:spPr>
        <p:txBody>
          <a:bodyPr wrap="square"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What is the difference between a natural landmark and a man-made landmark? Give one example of each from today's lesson.</a:t>
            </a:r>
            <a:endParaRPr lang="en-US" sz="1200" dirty="0"/>
          </a:p>
        </p:txBody>
      </p:sp>
      <p:sp>
        <p:nvSpPr>
          <p:cNvPr id="8" name="Shape 6"/>
          <p:cNvSpPr/>
          <p:nvPr/>
        </p:nvSpPr>
        <p:spPr>
          <a:xfrm>
            <a:off x="812800" y="4226560"/>
            <a:ext cx="14630400" cy="1706880"/>
          </a:xfrm>
          <a:prstGeom prst="roundRect">
            <a:avLst>
              <a:gd name="adj" fmla="val 9524"/>
            </a:avLst>
          </a:prstGeom>
          <a:solidFill>
            <a:srgbClr val="FFFFFF"/>
          </a:solidFill>
          <a:ln w="12700">
            <a:solidFill>
              <a:srgbClr val="D0D8E0"/>
            </a:solidFill>
            <a:prstDash val="solid"/>
          </a:ln>
        </p:spPr>
      </p:sp>
      <p:sp>
        <p:nvSpPr>
          <p:cNvPr id="9" name="Text 7"/>
          <p:cNvSpPr/>
          <p:nvPr/>
        </p:nvSpPr>
        <p:spPr>
          <a:xfrm>
            <a:off x="1137920" y="4356608"/>
            <a:ext cx="32512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Q2</a:t>
            </a:r>
            <a:endParaRPr lang="en-US" sz="900" dirty="0"/>
          </a:p>
        </p:txBody>
      </p:sp>
      <p:sp>
        <p:nvSpPr>
          <p:cNvPr id="10" name="Text 8"/>
          <p:cNvSpPr/>
          <p:nvPr/>
        </p:nvSpPr>
        <p:spPr>
          <a:xfrm>
            <a:off x="1137920" y="4746752"/>
            <a:ext cx="13980160" cy="975360"/>
          </a:xfrm>
          <a:prstGeom prst="rect">
            <a:avLst/>
          </a:prstGeom>
          <a:noFill/>
          <a:ln/>
        </p:spPr>
        <p:txBody>
          <a:bodyPr wrap="square"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Pick the Chichen Itza pyramid. What does it tell us about the people who built it? Use one detail from the lesson.</a:t>
            </a:r>
            <a:endParaRPr lang="en-US" sz="1200" dirty="0"/>
          </a:p>
        </p:txBody>
      </p:sp>
      <p:sp>
        <p:nvSpPr>
          <p:cNvPr id="11" name="Shape 9"/>
          <p:cNvSpPr/>
          <p:nvPr/>
        </p:nvSpPr>
        <p:spPr>
          <a:xfrm>
            <a:off x="812800" y="6177280"/>
            <a:ext cx="14630400" cy="1381760"/>
          </a:xfrm>
          <a:prstGeom prst="roundRect">
            <a:avLst>
              <a:gd name="adj" fmla="val 11765"/>
            </a:avLst>
          </a:prstGeom>
          <a:solidFill>
            <a:srgbClr val="FFF3DC"/>
          </a:solidFill>
          <a:ln w="19050">
            <a:solidFill>
              <a:srgbClr val="D4943A"/>
            </a:solidFill>
            <a:prstDash val="solid"/>
          </a:ln>
        </p:spPr>
      </p:sp>
      <p:sp>
        <p:nvSpPr>
          <p:cNvPr id="12" name="Text 10"/>
          <p:cNvSpPr/>
          <p:nvPr/>
        </p:nvSpPr>
        <p:spPr>
          <a:xfrm>
            <a:off x="1137920" y="6307328"/>
            <a:ext cx="32512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3" name="Text 11"/>
          <p:cNvSpPr/>
          <p:nvPr/>
        </p:nvSpPr>
        <p:spPr>
          <a:xfrm>
            <a:off x="1137920" y="6697472"/>
            <a:ext cx="13980160" cy="731520"/>
          </a:xfrm>
          <a:prstGeom prst="rect">
            <a:avLst/>
          </a:prstGeom>
          <a:noFill/>
          <a:ln/>
        </p:spPr>
        <p:txBody>
          <a:bodyPr wrap="square"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Photo Caption: 3-4 sentences about one landmark (name, location, natural/man-made, what it tells us about its place).</a:t>
            </a:r>
            <a:endParaRPr lang="en-US" sz="1200" dirty="0"/>
          </a:p>
        </p:txBody>
      </p:sp>
      <p:sp>
        <p:nvSpPr>
          <p:cNvPr id="14" name="Shape 12"/>
          <p:cNvSpPr/>
          <p:nvPr/>
        </p:nvSpPr>
        <p:spPr>
          <a:xfrm>
            <a:off x="812800" y="7802880"/>
            <a:ext cx="14630400" cy="812800"/>
          </a:xfrm>
          <a:prstGeom prst="roundRect">
            <a:avLst>
              <a:gd name="adj" fmla="val 16000"/>
            </a:avLst>
          </a:prstGeom>
          <a:solidFill>
            <a:srgbClr val="FFF8F0"/>
          </a:solidFill>
          <a:ln/>
        </p:spPr>
      </p:sp>
      <p:sp>
        <p:nvSpPr>
          <p:cNvPr id="15" name="Text 13"/>
          <p:cNvSpPr/>
          <p:nvPr/>
        </p:nvSpPr>
        <p:spPr>
          <a:xfrm>
            <a:off x="1137920" y="7835392"/>
            <a:ext cx="13980160" cy="731520"/>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CHRONICLE:  In this exhibit, I learned that ______ because ______.</a:t>
            </a:r>
            <a:endParaRPr lang="en-US" sz="1100" dirty="0"/>
          </a:p>
        </p:txBody>
      </p:sp>
      <p:sp>
        <p:nvSpPr>
          <p:cNvPr id="16" name="Text 14"/>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19 / 20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1300480"/>
            <a:ext cx="14305280" cy="11379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Great Work, Regional Curator!</a:t>
            </a:r>
            <a:endParaRPr lang="en-US" sz="2800" dirty="0"/>
          </a:p>
        </p:txBody>
      </p:sp>
      <p:sp>
        <p:nvSpPr>
          <p:cNvPr id="3" name="Text 1"/>
          <p:cNvSpPr/>
          <p:nvPr/>
        </p:nvSpPr>
        <p:spPr>
          <a:xfrm>
            <a:off x="975360" y="2763520"/>
            <a:ext cx="13004800" cy="1300480"/>
          </a:xfrm>
          <a:prstGeom prst="rect">
            <a:avLst/>
          </a:prstGeom>
          <a:noFill/>
          <a:ln/>
        </p:spPr>
        <p:txBody>
          <a:bodyPr wrap="square" rtlCol="0" anchor="ctr"/>
          <a:lstStyle/>
          <a:p>
            <a:pPr indent="0" marL="0">
              <a:lnSpc>
                <a:spcPct val="130000"/>
              </a:lnSpc>
              <a:buNone/>
            </a:pPr>
            <a:r>
              <a:rPr lang="en-US" sz="1400" dirty="0">
                <a:solidFill>
                  <a:srgbClr val="B8C4E0"/>
                </a:solidFill>
                <a:latin typeface="Calibri" pitchFamily="34" charset="0"/>
                <a:ea typeface="Calibri" pitchFamily="34" charset="-122"/>
                <a:cs typeface="Calibri" pitchFamily="34" charset="-120"/>
              </a:rPr>
              <a:t>You sorted the Landmark Photo Wall, studied two real photos, and wrote a caption that explains what one landmark tells us about its place.</a:t>
            </a:r>
            <a:endParaRPr lang="en-US" sz="1400" dirty="0"/>
          </a:p>
        </p:txBody>
      </p:sp>
      <p:sp>
        <p:nvSpPr>
          <p:cNvPr id="4" name="Shape 2"/>
          <p:cNvSpPr/>
          <p:nvPr/>
        </p:nvSpPr>
        <p:spPr>
          <a:xfrm>
            <a:off x="975360" y="4551680"/>
            <a:ext cx="3251200" cy="65024"/>
          </a:xfrm>
          <a:prstGeom prst="rect">
            <a:avLst/>
          </a:prstGeom>
          <a:solidFill>
            <a:srgbClr val="D4943A"/>
          </a:solidFill>
          <a:ln/>
        </p:spPr>
      </p:sp>
      <p:sp>
        <p:nvSpPr>
          <p:cNvPr id="5" name="Text 3"/>
          <p:cNvSpPr/>
          <p:nvPr/>
        </p:nvSpPr>
        <p:spPr>
          <a:xfrm>
            <a:off x="975360" y="4958080"/>
            <a:ext cx="4876800" cy="455168"/>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COMING NEXT</a:t>
            </a:r>
            <a:endParaRPr lang="en-US" sz="1000" dirty="0"/>
          </a:p>
        </p:txBody>
      </p:sp>
      <p:sp>
        <p:nvSpPr>
          <p:cNvPr id="6" name="Text 4"/>
          <p:cNvSpPr/>
          <p:nvPr/>
        </p:nvSpPr>
        <p:spPr>
          <a:xfrm>
            <a:off x="975360" y="5527040"/>
            <a:ext cx="13004800" cy="812800"/>
          </a:xfrm>
          <a:prstGeom prst="rect">
            <a:avLst/>
          </a:prstGeom>
          <a:noFill/>
          <a:ln/>
        </p:spPr>
        <p:txBody>
          <a:bodyPr wrap="square" rtlCol="0" anchor="ctr"/>
          <a:lstStyle/>
          <a:p>
            <a:pPr indent="0" marL="0">
              <a:buNone/>
            </a:pPr>
            <a:r>
              <a:rPr lang="en-US" sz="2000" b="1" dirty="0">
                <a:solidFill>
                  <a:srgbClr val="55C8E8"/>
                </a:solidFill>
                <a:latin typeface="Cambria" pitchFamily="34" charset="0"/>
                <a:ea typeface="Cambria" pitchFamily="34" charset="-122"/>
                <a:cs typeface="Cambria" pitchFamily="34" charset="-120"/>
              </a:rPr>
              <a:t>Climate and Vegetation Across the Region</a:t>
            </a:r>
            <a:endParaRPr lang="en-US" sz="2000" dirty="0"/>
          </a:p>
        </p:txBody>
      </p:sp>
      <p:sp>
        <p:nvSpPr>
          <p:cNvPr id="7" name="Text 5"/>
          <p:cNvSpPr/>
          <p:nvPr/>
        </p:nvSpPr>
        <p:spPr>
          <a:xfrm>
            <a:off x="975360" y="6502400"/>
            <a:ext cx="13004800" cy="1625600"/>
          </a:xfrm>
          <a:prstGeom prst="rect">
            <a:avLst/>
          </a:prstGeom>
          <a:noFill/>
          <a:ln/>
        </p:spPr>
        <p:txBody>
          <a:bodyPr wrap="square" rtlCol="0" anchor="ctr"/>
          <a:lstStyle/>
          <a:p>
            <a:pPr indent="0" marL="0">
              <a:lnSpc>
                <a:spcPct val="130000"/>
              </a:lnSpc>
              <a:buNone/>
            </a:pPr>
            <a:r>
              <a:rPr lang="en-US" sz="1300" dirty="0">
                <a:solidFill>
                  <a:srgbClr val="B8C4E0"/>
                </a:solidFill>
                <a:latin typeface="Calibri" pitchFamily="34" charset="0"/>
                <a:ea typeface="Calibri" pitchFamily="34" charset="-122"/>
                <a:cs typeface="Calibri" pitchFamily="34" charset="-120"/>
              </a:rPr>
              <a:t>Brand-new panels have been wheeled into the gallery -- long, colorful displays showing the region's climate and plant life, stretching from the icy north to the tropical south. Next time, you'll figure out why the land in one part of the region looks so different from another.</a:t>
            </a:r>
            <a:endParaRPr lang="en-US" sz="1300" dirty="0"/>
          </a:p>
        </p:txBody>
      </p:sp>
      <p:sp>
        <p:nvSpPr>
          <p:cNvPr id="8" name="Text 6"/>
          <p:cNvSpPr/>
          <p:nvPr/>
        </p:nvSpPr>
        <p:spPr>
          <a:xfrm>
            <a:off x="14305280" y="8534400"/>
            <a:ext cx="1463040" cy="406400"/>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20 / 20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2026-07-11T02:49:58Z</dcterms:created>
  <dcterms:modified xsi:type="dcterms:W3CDTF">2026-07-11T02:49:58Z</dcterms:modified>
</cp:coreProperties>
</file>