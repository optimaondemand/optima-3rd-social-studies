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Dramatic wide shot of a museum hall with a giant floor-to-ceiling world map on the wall, blank with no labels. Warm lighting, marble floors. Think grand museum gallery.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Close-up of a museum curator pulling back a heavy curtain to reveal a massive blank world map stretching floor to ceiling. Stack of blank label cards on a table nearby.Teacher: Read the scene aloud. Pause after revealing the blank map. Ask: What do you notice? What would you label first?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museum curator helping a young visitor read a map display. Warm, welcoming museum setting showing service in action.Teacher: Connect service to the curator role. Ask students: Who are you helping when you label the map? Under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Show the Earth-from-space image. Let students observe first. Ask: What stands out? More land or water? 1-2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Introduce the vocabulary. Continents = big land. Oceans = big water. Point to the diagram. 1-2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Walk through all 7 continents. Point to each on a map. Share one memorable detail per continent.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Show the blank map. Let students try to identify continents by shape alone. Partner activity: point and guess.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Walk through all 5 oceans. Emphasize the Pacific is the biggest. Point to each on a world map.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Read the story. This directly scaffolds Evidence Q2. Ask: What could go wrong? Discuss with class.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This directly scaffolds the Curator Task. Make sure students articulate WHY labels matter.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Show the labeled reference map. Compare to the blank one from earlier. Discuss Then &amp; Now.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Think aloud through naming all 7 continents. This models Evidence Q1 exactly. Show the memory trick route.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Read each description. Students call out the answer. Reveal answers.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Give students 1-2 minutes to write answers. Then reveal. 2-3 minutes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Students find the 2 errors. Discuss. Connect to Evidence Q1.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This directly scaffolds Evidence Q2. Think-pair-share. Make sure students can explain consequences.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Quick verbal check. Ask each question, students respond. Celebrate.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Read each question aloud. Think aloud through Q1. Clarify the Curator Task.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Walk through the Chronicle sentence frame and turn-in checklist. Make sure students know what to submit.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Wide shot of the World Map Hall with the giant map now fully labeled -- all 7 continents and 5 oceans have name labels. Museum visitors looking at it in awe. Warm golden lighting.Teacher: Celebrate! Tease Lesson 3.05.02 -- landforms and bodies of water. Under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Shape 2"/>
          <p:cNvSpPr/>
          <p:nvPr/>
        </p:nvSpPr>
        <p:spPr>
          <a:xfrm>
            <a:off x="650240" y="56896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3"/>
          <p:cNvSpPr/>
          <p:nvPr/>
        </p:nvSpPr>
        <p:spPr>
          <a:xfrm>
            <a:off x="650240" y="56896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WORLD MAP HALL</a:t>
            </a:r>
            <a:endParaRPr lang="en-US" sz="800" dirty="0"/>
          </a:p>
        </p:txBody>
      </p:sp>
      <p:sp>
        <p:nvSpPr>
          <p:cNvPr id="7" name="Text 4"/>
          <p:cNvSpPr/>
          <p:nvPr/>
        </p:nvSpPr>
        <p:spPr>
          <a:xfrm>
            <a:off x="650240" y="1950720"/>
            <a:ext cx="9753600" cy="2275840"/>
          </a:xfrm>
          <a:prstGeom prst="rect">
            <a:avLst/>
          </a:prstGeom>
          <a:noFill/>
          <a:ln/>
          <a:effectLst>
            <a:outerShdw sx="100000" sy="100000" kx="0" ky="0" algn="bl" rotWithShape="0" blurRad="76200" dist="25400" dir="16200000">
              <a:srgbClr val="000000">
                <a:alpha val="35000"/>
              </a:srgbClr>
            </a:outerShdw>
          </a:effectLst>
        </p:spPr>
        <p:txBody>
          <a:bodyPr wrap="square" rtlCol="0" anchor="ctr"/>
          <a:lstStyle/>
          <a:p>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Label the Continents</a:t>
            </a:r>
            <a:endParaRPr lang="en-US" sz="3400" dirty="0"/>
          </a:p>
          <a:p>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and Oceans</a:t>
            </a:r>
            <a:endParaRPr lang="en-US" sz="3400" dirty="0"/>
          </a:p>
        </p:txBody>
      </p:sp>
      <p:sp>
        <p:nvSpPr>
          <p:cNvPr id="8" name="Text 5"/>
          <p:cNvSpPr/>
          <p:nvPr/>
        </p:nvSpPr>
        <p:spPr>
          <a:xfrm>
            <a:off x="650240" y="4307840"/>
            <a:ext cx="9753600" cy="487680"/>
          </a:xfrm>
          <a:prstGeom prst="rect">
            <a:avLst/>
          </a:prstGeom>
          <a:noFill/>
          <a:ln/>
        </p:spPr>
        <p:txBody>
          <a:bodyPr wrap="square" lIns="0" tIns="0" rIns="0" bIns="0" rtlCol="0" anchor="ctr"/>
          <a:lstStyle/>
          <a:p>
            <a:pPr indent="0" marL="0">
              <a:buNone/>
            </a:pPr>
            <a:r>
              <a:rPr lang="en-US" sz="1100" dirty="0">
                <a:solidFill>
                  <a:srgbClr val="55C8E8"/>
                </a:solidFill>
                <a:latin typeface="Calibri" pitchFamily="34" charset="0"/>
                <a:ea typeface="Calibri" pitchFamily="34" charset="-122"/>
                <a:cs typeface="Calibri" pitchFamily="34" charset="-120"/>
              </a:rPr>
              <a:t>Lesson 3.05.01  |  Week 12  |  Unit 5: World Geography</a:t>
            </a:r>
            <a:endParaRPr lang="en-US" sz="1100" dirty="0"/>
          </a:p>
        </p:txBody>
      </p:sp>
      <p:sp>
        <p:nvSpPr>
          <p:cNvPr id="9" name="Shape 6"/>
          <p:cNvSpPr/>
          <p:nvPr/>
        </p:nvSpPr>
        <p:spPr>
          <a:xfrm>
            <a:off x="650240" y="5364480"/>
            <a:ext cx="8940800" cy="1300480"/>
          </a:xfrm>
          <a:prstGeom prst="roundRect">
            <a:avLst>
              <a:gd name="adj" fmla="val 12500"/>
            </a:avLst>
          </a:prstGeom>
          <a:solidFill>
            <a:srgbClr val="1A2D5A"/>
          </a:solidFill>
          <a:ln w="12700">
            <a:solidFill>
              <a:srgbClr val="55C8E8"/>
            </a:solidFill>
            <a:prstDash val="solid"/>
          </a:ln>
        </p:spPr>
      </p:sp>
      <p:sp>
        <p:nvSpPr>
          <p:cNvPr id="10" name="Text 7"/>
          <p:cNvSpPr/>
          <p:nvPr/>
        </p:nvSpPr>
        <p:spPr>
          <a:xfrm>
            <a:off x="975360" y="5445760"/>
            <a:ext cx="8128000" cy="357632"/>
          </a:xfrm>
          <a:prstGeom prst="rect">
            <a:avLst/>
          </a:prstGeom>
          <a:noFill/>
          <a:ln/>
        </p:spPr>
        <p:txBody>
          <a:bodyPr wrap="square" lIns="0" tIns="0" rIns="0" bIns="0" rtlCol="0" anchor="ctr"/>
          <a:lstStyle/>
          <a:p>
            <a:pPr indent="0" marL="0">
              <a:buNone/>
            </a:pPr>
            <a:r>
              <a:rPr lang="en-US" sz="800" b="1" spc="150" kern="0" dirty="0">
                <a:solidFill>
                  <a:srgbClr val="55C8E8"/>
                </a:solidFill>
                <a:latin typeface="Calibri" pitchFamily="34" charset="0"/>
                <a:ea typeface="Calibri" pitchFamily="34" charset="-122"/>
                <a:cs typeface="Calibri" pitchFamily="34" charset="-120"/>
              </a:rPr>
              <a:t>CURATOR'S QUESTION</a:t>
            </a:r>
            <a:endParaRPr lang="en-US" sz="800" dirty="0"/>
          </a:p>
        </p:txBody>
      </p:sp>
      <p:sp>
        <p:nvSpPr>
          <p:cNvPr id="11" name="Text 8"/>
          <p:cNvSpPr/>
          <p:nvPr/>
        </p:nvSpPr>
        <p:spPr>
          <a:xfrm>
            <a:off x="975360" y="5787136"/>
            <a:ext cx="8128000" cy="780288"/>
          </a:xfrm>
          <a:prstGeom prst="rect">
            <a:avLst/>
          </a:prstGeom>
          <a:noFill/>
          <a:ln/>
        </p:spPr>
        <p:txBody>
          <a:bodyPr wrap="square" lIns="0" tIns="0" rIns="0" bIns="0" rtlCol="0" anchor="ctr"/>
          <a:lstStyle/>
          <a:p>
            <a:pPr indent="0" marL="0">
              <a:buNone/>
            </a:pPr>
            <a:r>
              <a:rPr lang="en-US" sz="1300" i="1" dirty="0">
                <a:solidFill>
                  <a:srgbClr val="FFFFFF"/>
                </a:solidFill>
                <a:latin typeface="Cambria" pitchFamily="34" charset="0"/>
                <a:ea typeface="Cambria" pitchFamily="34" charset="-122"/>
                <a:cs typeface="Cambria" pitchFamily="34" charset="-120"/>
              </a:rPr>
              <a:t>Why do museum visitors need labels for the continents and oceans on a world map?</a:t>
            </a:r>
            <a:endParaRPr lang="en-US" sz="1300" dirty="0"/>
          </a:p>
        </p:txBody>
      </p:sp>
      <p:sp>
        <p:nvSpPr>
          <p:cNvPr id="12" name="Shape 9"/>
          <p:cNvSpPr/>
          <p:nvPr/>
        </p:nvSpPr>
        <p:spPr>
          <a:xfrm>
            <a:off x="650240" y="7152640"/>
            <a:ext cx="3576320" cy="455168"/>
          </a:xfrm>
          <a:prstGeom prst="roundRect">
            <a:avLst>
              <a:gd name="adj" fmla="val 50000"/>
            </a:avLst>
          </a:prstGeom>
          <a:solidFill>
            <a:srgbClr val="1A8A7D"/>
          </a:solidFill>
          <a:ln/>
        </p:spPr>
      </p:sp>
      <p:sp>
        <p:nvSpPr>
          <p:cNvPr id="13" name="Text 10"/>
          <p:cNvSpPr/>
          <p:nvPr/>
        </p:nvSpPr>
        <p:spPr>
          <a:xfrm>
            <a:off x="650240" y="7152640"/>
            <a:ext cx="3576320" cy="455168"/>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NOTICE &gt; NAME &gt; NARRATE</a:t>
            </a:r>
            <a:endParaRPr lang="en-US" sz="800" dirty="0"/>
          </a:p>
        </p:txBody>
      </p:sp>
      <p:sp>
        <p:nvSpPr>
          <p:cNvPr id="14" name="Text 11"/>
          <p:cNvSpPr/>
          <p:nvPr/>
        </p:nvSpPr>
        <p:spPr>
          <a:xfrm>
            <a:off x="650240" y="7802880"/>
            <a:ext cx="8128000" cy="325120"/>
          </a:xfrm>
          <a:prstGeom prst="rect">
            <a:avLst/>
          </a:prstGeom>
          <a:noFill/>
          <a:ln/>
        </p:spPr>
        <p:txBody>
          <a:bodyPr wrap="square" lIns="0" tIns="0" rIns="0" bIns="0" rtlCol="0" anchor="ctr"/>
          <a:lstStyle/>
          <a:p>
            <a:pPr indent="0" marL="0">
              <a:buNone/>
            </a:pPr>
            <a:r>
              <a:rPr lang="en-US" sz="700" dirty="0">
                <a:solidFill>
                  <a:srgbClr val="7A88A8"/>
                </a:solidFill>
                <a:latin typeface="Calibri" pitchFamily="34" charset="0"/>
                <a:ea typeface="Calibri" pitchFamily="34" charset="-122"/>
                <a:cs typeface="Calibri" pitchFamily="34" charset="-120"/>
              </a:rPr>
              <a:t>SS.3.G.1.3 | SS.3.G.1.4 | SS.3.G.2.1</a:t>
            </a:r>
            <a:endParaRPr lang="en-US" sz="700" dirty="0"/>
          </a:p>
        </p:txBody>
      </p:sp>
      <p:sp>
        <p:nvSpPr>
          <p:cNvPr id="15" name="Text 12"/>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1 / 20</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Shape 2"/>
          <p:cNvSpPr/>
          <p:nvPr/>
        </p:nvSpPr>
        <p:spPr>
          <a:xfrm>
            <a:off x="650240" y="56896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3"/>
          <p:cNvSpPr/>
          <p:nvPr/>
        </p:nvSpPr>
        <p:spPr>
          <a:xfrm>
            <a:off x="650240" y="56896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ENTER THE MUSEUM</a:t>
            </a:r>
            <a:endParaRPr lang="en-US" sz="800" dirty="0"/>
          </a:p>
        </p:txBody>
      </p:sp>
      <p:sp>
        <p:nvSpPr>
          <p:cNvPr id="7" name="Text 4"/>
          <p:cNvSpPr/>
          <p:nvPr/>
        </p:nvSpPr>
        <p:spPr>
          <a:xfrm>
            <a:off x="650240" y="1625600"/>
            <a:ext cx="9753600" cy="97536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Giant Map Has No Labels</a:t>
            </a:r>
            <a:endParaRPr lang="en-US" sz="2600" dirty="0"/>
          </a:p>
        </p:txBody>
      </p:sp>
      <p:sp>
        <p:nvSpPr>
          <p:cNvPr id="8" name="Shape 5"/>
          <p:cNvSpPr/>
          <p:nvPr/>
        </p:nvSpPr>
        <p:spPr>
          <a:xfrm>
            <a:off x="650240" y="2763520"/>
            <a:ext cx="8940800" cy="4226560"/>
          </a:xfrm>
          <a:prstGeom prst="roundRect">
            <a:avLst>
              <a:gd name="adj" fmla="val 4615"/>
            </a:avLst>
          </a:prstGeom>
          <a:solidFill>
            <a:srgbClr val="FFF3DC"/>
          </a:solidFill>
          <a:ln w="19050">
            <a:solidFill>
              <a:srgbClr val="F5E6C8"/>
            </a:solidFill>
            <a:prstDash val="solid"/>
          </a:ln>
        </p:spPr>
      </p:sp>
      <p:sp>
        <p:nvSpPr>
          <p:cNvPr id="9" name="Text 6"/>
          <p:cNvSpPr/>
          <p:nvPr/>
        </p:nvSpPr>
        <p:spPr>
          <a:xfrm>
            <a:off x="894080" y="2861056"/>
            <a:ext cx="84531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7"/>
          <p:cNvSpPr/>
          <p:nvPr/>
        </p:nvSpPr>
        <p:spPr>
          <a:xfrm>
            <a:off x="894080" y="3218688"/>
            <a:ext cx="8453120" cy="36576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"You proved you can read maps, trace routes, and study evidence. That means you're ready for this."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"She pulls back the curtain -- behind it is the biggest map you've ever seen, stretching from floor to ceiling."</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"But something is wrong. The continents and oceans are just shapes with no names."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World Map Hall opens soon. Let's start with the biggest pieces -- the continents and oceans."</a:t>
            </a:r>
            <a:endParaRPr lang="en-US" sz="1200" dirty="0"/>
          </a:p>
        </p:txBody>
      </p:sp>
      <p:sp>
        <p:nvSpPr>
          <p:cNvPr id="11" name="Shape 8"/>
          <p:cNvSpPr/>
          <p:nvPr/>
        </p:nvSpPr>
        <p:spPr>
          <a:xfrm>
            <a:off x="10078720" y="2763520"/>
            <a:ext cx="5527040" cy="4226560"/>
          </a:xfrm>
          <a:prstGeom prst="roundRect">
            <a:avLst>
              <a:gd name="adj" fmla="val 5769"/>
            </a:avLst>
          </a:prstGeom>
          <a:solidFill>
            <a:srgbClr val="1A2D5A"/>
          </a:solidFill>
          <a:ln/>
          <a:effectLst>
            <a:outerShdw sx="100000" sy="100000" kx="0" ky="0" algn="bl" rotWithShape="0" blurRad="101600" dist="38100" dir="8100000">
              <a:srgbClr val="000000">
                <a:alpha val="20000"/>
              </a:srgbClr>
            </a:outerShdw>
          </a:effectLst>
        </p:spPr>
      </p:sp>
      <p:sp>
        <p:nvSpPr>
          <p:cNvPr id="12" name="Text 9"/>
          <p:cNvSpPr/>
          <p:nvPr/>
        </p:nvSpPr>
        <p:spPr>
          <a:xfrm>
            <a:off x="10403840" y="2926080"/>
            <a:ext cx="487680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0"/>
          <p:cNvSpPr/>
          <p:nvPr/>
        </p:nvSpPr>
        <p:spPr>
          <a:xfrm>
            <a:off x="10403840" y="3381248"/>
            <a:ext cx="4876800" cy="344627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you notice about this map?</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there are no labels, how would a visitor know which continent is which?</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you label first -- and why?</a:t>
            </a:r>
            <a:endParaRPr lang="en-US" sz="1100" dirty="0"/>
          </a:p>
        </p:txBody>
      </p:sp>
      <p:sp>
        <p:nvSpPr>
          <p:cNvPr id="14" name="Text 11"/>
          <p:cNvSpPr/>
          <p:nvPr/>
        </p:nvSpPr>
        <p:spPr>
          <a:xfrm>
            <a:off x="650240" y="7315200"/>
            <a:ext cx="9753600" cy="487680"/>
          </a:xfrm>
          <a:prstGeom prst="rect">
            <a:avLst/>
          </a:prstGeom>
          <a:noFill/>
          <a:ln/>
        </p:spPr>
        <p:txBody>
          <a:bodyPr wrap="square" lIns="0" tIns="0" rIns="0" bIns="0"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You are a World Geography Curator. Your job: label the world.</a:t>
            </a:r>
            <a:endParaRPr lang="en-US" sz="1200" dirty="0"/>
          </a:p>
        </p:txBody>
      </p:sp>
      <p:sp>
        <p:nvSpPr>
          <p:cNvPr id="15" name="Text 12"/>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2 / 20</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Shape 2"/>
          <p:cNvSpPr/>
          <p:nvPr/>
        </p:nvSpPr>
        <p:spPr>
          <a:xfrm>
            <a:off x="650240" y="56896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3"/>
          <p:cNvSpPr/>
          <p:nvPr/>
        </p:nvSpPr>
        <p:spPr>
          <a:xfrm>
            <a:off x="650240" y="56896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VIRTUE SPOTLIGHT</a:t>
            </a:r>
            <a:endParaRPr lang="en-US" sz="800" dirty="0"/>
          </a:p>
        </p:txBody>
      </p:sp>
      <p:sp>
        <p:nvSpPr>
          <p:cNvPr id="7" name="Text 4"/>
          <p:cNvSpPr/>
          <p:nvPr/>
        </p:nvSpPr>
        <p:spPr>
          <a:xfrm>
            <a:off x="650240" y="1950720"/>
            <a:ext cx="8128000" cy="1137920"/>
          </a:xfrm>
          <a:prstGeom prst="rect">
            <a:avLst/>
          </a:prstGeom>
          <a:noFill/>
          <a:ln/>
        </p:spPr>
        <p:txBody>
          <a:bodyPr wrap="square" rtlCol="0" anchor="ctr"/>
          <a:lstStyle/>
          <a:p>
            <a:pPr indent="0" marL="0">
              <a:buNone/>
            </a:pPr>
            <a:r>
              <a:rPr lang="en-US" sz="3000" b="1" dirty="0">
                <a:solidFill>
                  <a:srgbClr val="D4943A"/>
                </a:solidFill>
                <a:latin typeface="Cambria" pitchFamily="34" charset="0"/>
                <a:ea typeface="Cambria" pitchFamily="34" charset="-122"/>
                <a:cs typeface="Cambria" pitchFamily="34" charset="-120"/>
              </a:rPr>
              <a:t>Service</a:t>
            </a:r>
            <a:endParaRPr lang="en-US" sz="3000" dirty="0"/>
          </a:p>
        </p:txBody>
      </p:sp>
      <p:sp>
        <p:nvSpPr>
          <p:cNvPr id="8" name="Text 5"/>
          <p:cNvSpPr/>
          <p:nvPr/>
        </p:nvSpPr>
        <p:spPr>
          <a:xfrm>
            <a:off x="650240" y="3088640"/>
            <a:ext cx="8940800" cy="6502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Service means helping others and contributing to your community.</a:t>
            </a:r>
            <a:endParaRPr lang="en-US" sz="1400" dirty="0"/>
          </a:p>
        </p:txBody>
      </p:sp>
      <p:sp>
        <p:nvSpPr>
          <p:cNvPr id="9" name="Shape 6"/>
          <p:cNvSpPr/>
          <p:nvPr/>
        </p:nvSpPr>
        <p:spPr>
          <a:xfrm>
            <a:off x="650240" y="4064000"/>
            <a:ext cx="8940800" cy="2275840"/>
          </a:xfrm>
          <a:prstGeom prst="roundRect">
            <a:avLst>
              <a:gd name="adj" fmla="val 8571"/>
            </a:avLst>
          </a:prstGeom>
          <a:solidFill>
            <a:srgbClr val="1A2D5A"/>
          </a:solidFill>
          <a:ln/>
        </p:spPr>
      </p:sp>
      <p:sp>
        <p:nvSpPr>
          <p:cNvPr id="10" name="Text 7"/>
          <p:cNvSpPr/>
          <p:nvPr/>
        </p:nvSpPr>
        <p:spPr>
          <a:xfrm>
            <a:off x="975360" y="4226560"/>
            <a:ext cx="8290560" cy="1950720"/>
          </a:xfrm>
          <a:prstGeom prst="rect">
            <a:avLst/>
          </a:prstGeom>
          <a:noFill/>
          <a:ln/>
        </p:spPr>
        <p:txBody>
          <a:bodyPr wrap="square" lIns="0" tIns="0" rIns="0" bIns="0" rtlCol="0" anchor="t"/>
          <a:lstStyle/>
          <a:p>
            <a:pPr indent="0" marL="0">
              <a:lnSpc>
                <a:spcPct val="120000"/>
              </a:lnSpc>
              <a:buNone/>
            </a:pPr>
            <a:r>
              <a:rPr lang="en-US" sz="1200" dirty="0">
                <a:solidFill>
                  <a:srgbClr val="FFFFFF"/>
                </a:solidFill>
                <a:latin typeface="Calibri" pitchFamily="34" charset="0"/>
                <a:ea typeface="Calibri" pitchFamily="34" charset="-122"/>
                <a:cs typeface="Calibri" pitchFamily="34" charset="-120"/>
              </a:rPr>
              <a:t>Today, you are serving the museum and its future visitors by making the world map readable. When curators label exhibits clearly, they help everyone who walks through the door learn something new.</a:t>
            </a:r>
            <a:endParaRPr lang="en-US" sz="1200" dirty="0"/>
          </a:p>
        </p:txBody>
      </p:sp>
      <p:sp>
        <p:nvSpPr>
          <p:cNvPr id="11" name="Shape 8"/>
          <p:cNvSpPr/>
          <p:nvPr/>
        </p:nvSpPr>
        <p:spPr>
          <a:xfrm>
            <a:off x="10078720" y="2438400"/>
            <a:ext cx="5527040" cy="2926080"/>
          </a:xfrm>
          <a:prstGeom prst="roundRect">
            <a:avLst>
              <a:gd name="adj" fmla="val 8333"/>
            </a:avLst>
          </a:prstGeom>
          <a:solidFill>
            <a:srgbClr val="1A2D5A"/>
          </a:solidFill>
          <a:ln/>
          <a:effectLst>
            <a:outerShdw sx="100000" sy="100000" kx="0" ky="0" algn="bl" rotWithShape="0" blurRad="101600" dist="38100" dir="8100000">
              <a:srgbClr val="000000">
                <a:alpha val="20000"/>
              </a:srgbClr>
            </a:outerShdw>
          </a:effectLst>
        </p:spPr>
      </p:sp>
      <p:sp>
        <p:nvSpPr>
          <p:cNvPr id="12" name="Text 9"/>
          <p:cNvSpPr/>
          <p:nvPr/>
        </p:nvSpPr>
        <p:spPr>
          <a:xfrm>
            <a:off x="10403840" y="2600960"/>
            <a:ext cx="487680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0"/>
          <p:cNvSpPr/>
          <p:nvPr/>
        </p:nvSpPr>
        <p:spPr>
          <a:xfrm>
            <a:off x="10403840" y="3056128"/>
            <a:ext cx="4876800" cy="214579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is labeling a map an act of service?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 benefits when you do this work carefully?</a:t>
            </a:r>
            <a:endParaRPr lang="en-US" sz="1100" dirty="0"/>
          </a:p>
        </p:txBody>
      </p:sp>
      <p:sp>
        <p:nvSpPr>
          <p:cNvPr id="14" name="Text 11"/>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3 / 20</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FFFFF"/>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DISCOVERY</a:t>
            </a:r>
            <a:endParaRPr lang="en-US" sz="800" dirty="0"/>
          </a:p>
        </p:txBody>
      </p:sp>
      <p:sp>
        <p:nvSpPr>
          <p:cNvPr id="7" name="Text 5"/>
          <p:cNvSpPr/>
          <p:nvPr/>
        </p:nvSpPr>
        <p:spPr>
          <a:xfrm>
            <a:off x="650240" y="1137920"/>
            <a:ext cx="97536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What Do You See from Space?</a:t>
            </a:r>
            <a:endParaRPr lang="en-US" sz="2200" dirty="0"/>
          </a:p>
        </p:txBody>
      </p:sp>
      <p:sp>
        <p:nvSpPr>
          <p:cNvPr id="8" name="Text 6"/>
          <p:cNvSpPr/>
          <p:nvPr/>
        </p:nvSpPr>
        <p:spPr>
          <a:xfrm>
            <a:off x="650240" y="1950720"/>
            <a:ext cx="1463040" cy="422656"/>
          </a:xfrm>
          <a:prstGeom prst="rect">
            <a:avLst/>
          </a:prstGeom>
          <a:noFill/>
          <a:ln/>
        </p:spPr>
        <p:txBody>
          <a:bodyPr wrap="square" lIns="0" tIns="0" rIns="0" bIns="0" rtlCol="0" anchor="ctr"/>
          <a:lstStyle/>
          <a:p>
            <a:pPr indent="0" marL="0">
              <a:buNone/>
            </a:pPr>
            <a:r>
              <a:rPr lang="en-US" sz="900" b="1" spc="120" kern="0" dirty="0">
                <a:solidFill>
                  <a:srgbClr val="1A8A7D"/>
                </a:solidFill>
                <a:latin typeface="Calibri" pitchFamily="34" charset="0"/>
                <a:ea typeface="Calibri" pitchFamily="34" charset="-122"/>
                <a:cs typeface="Calibri" pitchFamily="34" charset="-120"/>
              </a:rPr>
              <a:t>NOTICE</a:t>
            </a:r>
            <a:endParaRPr lang="en-US" sz="900" dirty="0"/>
          </a:p>
        </p:txBody>
      </p:sp>
      <p:sp>
        <p:nvSpPr>
          <p:cNvPr id="9" name="Shape 7"/>
          <p:cNvSpPr/>
          <p:nvPr/>
        </p:nvSpPr>
        <p:spPr>
          <a:xfrm>
            <a:off x="650240" y="2438400"/>
            <a:ext cx="6827520" cy="5201920"/>
          </a:xfrm>
          <a:prstGeom prst="roundRect">
            <a:avLst>
              <a:gd name="adj" fmla="val 3750"/>
            </a:avLst>
          </a:prstGeom>
          <a:solidFill>
            <a:srgbClr val="E2E8F4"/>
          </a:solidFill>
          <a:ln w="19050">
            <a:solidFill>
              <a:srgbClr val="B0B8CC"/>
            </a:solidFill>
            <a:prstDash val="dash"/>
          </a:ln>
        </p:spPr>
      </p:sp>
      <p:sp>
        <p:nvSpPr>
          <p:cNvPr id="10" name="Text 8"/>
          <p:cNvSpPr/>
          <p:nvPr/>
        </p:nvSpPr>
        <p:spPr>
          <a:xfrm>
            <a:off x="650240" y="2438400"/>
            <a:ext cx="682752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1" name="Text 9"/>
          <p:cNvSpPr/>
          <p:nvPr/>
        </p:nvSpPr>
        <p:spPr>
          <a:xfrm>
            <a:off x="894080" y="2926080"/>
            <a:ext cx="6339840" cy="45516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NASA 'Blue Marble' photograph of Earth from space.</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Continents and oceans clearly visible.</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Save as: source-3-05-01-earth-from-space.jpg</a:t>
            </a:r>
            <a:endParaRPr lang="en-US" sz="1100" dirty="0"/>
          </a:p>
        </p:txBody>
      </p:sp>
      <p:sp>
        <p:nvSpPr>
          <p:cNvPr id="12" name="Shape 10"/>
          <p:cNvSpPr/>
          <p:nvPr/>
        </p:nvSpPr>
        <p:spPr>
          <a:xfrm>
            <a:off x="8128000" y="2438400"/>
            <a:ext cx="7315200" cy="2600960"/>
          </a:xfrm>
          <a:prstGeom prst="roundRect">
            <a:avLst>
              <a:gd name="adj" fmla="val 7500"/>
            </a:avLst>
          </a:prstGeom>
          <a:solidFill>
            <a:srgbClr val="EAF8FD"/>
          </a:solidFill>
          <a:ln/>
        </p:spPr>
      </p:sp>
      <p:sp>
        <p:nvSpPr>
          <p:cNvPr id="13" name="Text 11"/>
          <p:cNvSpPr/>
          <p:nvPr/>
        </p:nvSpPr>
        <p:spPr>
          <a:xfrm>
            <a:off x="8453120" y="2519680"/>
            <a:ext cx="6502400" cy="3576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LOOK CLOSELY</a:t>
            </a:r>
            <a:endParaRPr lang="en-US" sz="900" dirty="0"/>
          </a:p>
        </p:txBody>
      </p:sp>
      <p:sp>
        <p:nvSpPr>
          <p:cNvPr id="14" name="Text 12"/>
          <p:cNvSpPr/>
          <p:nvPr/>
        </p:nvSpPr>
        <p:spPr>
          <a:xfrm>
            <a:off x="8453120" y="2926080"/>
            <a:ext cx="6664960" cy="1950720"/>
          </a:xfrm>
          <a:prstGeom prst="rect">
            <a:avLst/>
          </a:prstGeom>
          <a:noFill/>
          <a:ln/>
        </p:spPr>
        <p:txBody>
          <a:bodyPr wrap="square" lIns="0" tIns="0" rIns="0" bIns="0" rtlCol="0" anchor="t"/>
          <a:lstStyle/>
          <a:p>
            <a:pPr indent="0" marL="0">
              <a:lnSpc>
                <a:spcPct val="115000"/>
              </a:lnSpc>
              <a:buNone/>
            </a:pPr>
            <a:r>
              <a:rPr lang="en-US" sz="1100" dirty="0">
                <a:solidFill>
                  <a:srgbClr val="0E1C42"/>
                </a:solidFill>
                <a:latin typeface="Calibri" pitchFamily="34" charset="0"/>
                <a:ea typeface="Calibri" pitchFamily="34" charset="-122"/>
                <a:cs typeface="Calibri" pitchFamily="34" charset="-120"/>
              </a:rPr>
              <a:t>If you looked at Earth from space, you'd see two things right away:</a:t>
            </a:r>
            <a:endParaRPr lang="en-US" sz="1100" dirty="0"/>
          </a:p>
          <a:p>
            <a:pPr indent="0" marL="0">
              <a:lnSpc>
                <a:spcPct val="115000"/>
              </a:lnSpc>
              <a:buNone/>
            </a:pPr>
            <a:endParaRPr lang="en-US" sz="1100" dirty="0"/>
          </a:p>
          <a:p>
            <a:pPr indent="0" marL="0">
              <a:lnSpc>
                <a:spcPct val="115000"/>
              </a:lnSpc>
              <a:buNone/>
            </a:pPr>
            <a:r>
              <a:rPr lang="en-US" sz="1100" dirty="0">
                <a:solidFill>
                  <a:srgbClr val="0E1C42"/>
                </a:solidFill>
                <a:latin typeface="Calibri" pitchFamily="34" charset="0"/>
                <a:ea typeface="Calibri" pitchFamily="34" charset="-122"/>
                <a:cs typeface="Calibri" pitchFamily="34" charset="-120"/>
              </a:rPr>
              <a:t>  Large areas of LAND</a:t>
            </a:r>
            <a:endParaRPr lang="en-US" sz="1100" dirty="0"/>
          </a:p>
          <a:p>
            <a:pPr indent="0" marL="0">
              <a:lnSpc>
                <a:spcPct val="115000"/>
              </a:lnSpc>
              <a:buNone/>
            </a:pPr>
            <a:r>
              <a:rPr lang="en-US" sz="1100" dirty="0">
                <a:solidFill>
                  <a:srgbClr val="0E1C42"/>
                </a:solidFill>
                <a:latin typeface="Calibri" pitchFamily="34" charset="0"/>
                <a:ea typeface="Calibri" pitchFamily="34" charset="-122"/>
                <a:cs typeface="Calibri" pitchFamily="34" charset="-120"/>
              </a:rPr>
              <a:t>  Large areas of WATER</a:t>
            </a:r>
            <a:endParaRPr lang="en-US" sz="1100" dirty="0"/>
          </a:p>
          <a:p>
            <a:pPr indent="0" marL="0">
              <a:lnSpc>
                <a:spcPct val="115000"/>
              </a:lnSpc>
              <a:buNone/>
            </a:pPr>
            <a:endParaRPr lang="en-US" sz="1100" dirty="0"/>
          </a:p>
          <a:p>
            <a:pPr indent="0" marL="0">
              <a:lnSpc>
                <a:spcPct val="115000"/>
              </a:lnSpc>
              <a:buNone/>
            </a:pPr>
            <a:r>
              <a:rPr lang="en-US" sz="1100" dirty="0">
                <a:solidFill>
                  <a:srgbClr val="0E1C42"/>
                </a:solidFill>
                <a:latin typeface="Calibri" pitchFamily="34" charset="0"/>
                <a:ea typeface="Calibri" pitchFamily="34" charset="-122"/>
                <a:cs typeface="Calibri" pitchFamily="34" charset="-120"/>
              </a:rPr>
              <a:t>What colors stand out? Where is the land? Where is the water?</a:t>
            </a:r>
            <a:endParaRPr lang="en-US" sz="1100" dirty="0"/>
          </a:p>
        </p:txBody>
      </p:sp>
      <p:sp>
        <p:nvSpPr>
          <p:cNvPr id="15" name="Shape 13"/>
          <p:cNvSpPr/>
          <p:nvPr/>
        </p:nvSpPr>
        <p:spPr>
          <a:xfrm>
            <a:off x="8128000" y="5364480"/>
            <a:ext cx="7315200" cy="1950720"/>
          </a:xfrm>
          <a:prstGeom prst="roundRect">
            <a:avLst>
              <a:gd name="adj" fmla="val 12500"/>
            </a:avLst>
          </a:prstGeom>
          <a:solidFill>
            <a:srgbClr val="1A2D5A"/>
          </a:solidFill>
          <a:ln/>
          <a:effectLst>
            <a:outerShdw sx="100000" sy="100000" kx="0" ky="0" algn="bl" rotWithShape="0" blurRad="101600" dist="38100" dir="8100000">
              <a:srgbClr val="000000">
                <a:alpha val="20000"/>
              </a:srgbClr>
            </a:outerShdw>
          </a:effectLst>
        </p:spPr>
      </p:sp>
      <p:sp>
        <p:nvSpPr>
          <p:cNvPr id="16" name="Text 14"/>
          <p:cNvSpPr/>
          <p:nvPr/>
        </p:nvSpPr>
        <p:spPr>
          <a:xfrm>
            <a:off x="8453120" y="5527040"/>
            <a:ext cx="66649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7" name="Text 15"/>
          <p:cNvSpPr/>
          <p:nvPr/>
        </p:nvSpPr>
        <p:spPr>
          <a:xfrm>
            <a:off x="8453120" y="5982208"/>
            <a:ext cx="6664960" cy="117043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you notice first when you look at Earth from space?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there more land or more water?</a:t>
            </a:r>
            <a:endParaRPr lang="en-US" sz="1100" dirty="0"/>
          </a:p>
        </p:txBody>
      </p:sp>
      <p:sp>
        <p:nvSpPr>
          <p:cNvPr id="18" name="Text 16"/>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4 / 20</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0F2F8"/>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DISCOVERY</a:t>
            </a:r>
            <a:endParaRPr lang="en-US" sz="800" dirty="0"/>
          </a:p>
        </p:txBody>
      </p:sp>
      <p:sp>
        <p:nvSpPr>
          <p:cNvPr id="7" name="Text 5"/>
          <p:cNvSpPr/>
          <p:nvPr/>
        </p:nvSpPr>
        <p:spPr>
          <a:xfrm>
            <a:off x="650240" y="1137920"/>
            <a:ext cx="97536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The Two Big Categories</a:t>
            </a:r>
            <a:endParaRPr lang="en-US" sz="2200" dirty="0"/>
          </a:p>
        </p:txBody>
      </p:sp>
      <p:sp>
        <p:nvSpPr>
          <p:cNvPr id="8" name="Text 6"/>
          <p:cNvSpPr/>
          <p:nvPr/>
        </p:nvSpPr>
        <p:spPr>
          <a:xfrm>
            <a:off x="650240" y="1950720"/>
            <a:ext cx="1137920" cy="422656"/>
          </a:xfrm>
          <a:prstGeom prst="rect">
            <a:avLst/>
          </a:prstGeom>
          <a:noFill/>
          <a:ln/>
        </p:spPr>
        <p:txBody>
          <a:bodyPr wrap="square" lIns="0" tIns="0" rIns="0" bIns="0" rtlCol="0" anchor="ctr"/>
          <a:lstStyle/>
          <a:p>
            <a:pPr indent="0" marL="0">
              <a:buNone/>
            </a:pPr>
            <a:r>
              <a:rPr lang="en-US" sz="900" b="1" spc="120" kern="0" dirty="0">
                <a:solidFill>
                  <a:srgbClr val="1A8A7D"/>
                </a:solidFill>
                <a:latin typeface="Calibri" pitchFamily="34" charset="0"/>
                <a:ea typeface="Calibri" pitchFamily="34" charset="-122"/>
                <a:cs typeface="Calibri" pitchFamily="34" charset="-120"/>
              </a:rPr>
              <a:t>NAME</a:t>
            </a:r>
            <a:endParaRPr lang="en-US" sz="900" dirty="0"/>
          </a:p>
        </p:txBody>
      </p:sp>
      <p:sp>
        <p:nvSpPr>
          <p:cNvPr id="9" name="Shape 7"/>
          <p:cNvSpPr/>
          <p:nvPr/>
        </p:nvSpPr>
        <p:spPr>
          <a:xfrm>
            <a:off x="650240" y="2600960"/>
            <a:ext cx="6990080" cy="2438400"/>
          </a:xfrm>
          <a:prstGeom prst="roundRect">
            <a:avLst>
              <a:gd name="adj" fmla="val 8000"/>
            </a:avLst>
          </a:prstGeom>
          <a:solidFill>
            <a:srgbClr val="FFFFFF"/>
          </a:solidFill>
          <a:ln/>
          <a:effectLst>
            <a:outerShdw sx="100000" sy="100000" kx="0" ky="0" algn="bl" rotWithShape="0" blurRad="76200" dist="25400" dir="8100000">
              <a:srgbClr val="000000">
                <a:alpha val="12000"/>
              </a:srgbClr>
            </a:outerShdw>
          </a:effectLst>
        </p:spPr>
      </p:sp>
      <p:sp>
        <p:nvSpPr>
          <p:cNvPr id="10" name="Shape 8"/>
          <p:cNvSpPr/>
          <p:nvPr/>
        </p:nvSpPr>
        <p:spPr>
          <a:xfrm>
            <a:off x="650240" y="2600960"/>
            <a:ext cx="97536" cy="2438400"/>
          </a:xfrm>
          <a:prstGeom prst="rect">
            <a:avLst/>
          </a:prstGeom>
          <a:solidFill>
            <a:srgbClr val="1A8A7D"/>
          </a:solidFill>
          <a:ln/>
        </p:spPr>
      </p:sp>
      <p:sp>
        <p:nvSpPr>
          <p:cNvPr id="11" name="Text 9"/>
          <p:cNvSpPr/>
          <p:nvPr/>
        </p:nvSpPr>
        <p:spPr>
          <a:xfrm>
            <a:off x="975360" y="2763520"/>
            <a:ext cx="6421120" cy="455168"/>
          </a:xfrm>
          <a:prstGeom prst="rect">
            <a:avLst/>
          </a:prstGeom>
          <a:noFill/>
          <a:ln/>
        </p:spPr>
        <p:txBody>
          <a:bodyPr wrap="square" lIns="0" tIns="0" rIns="0" bIns="0" rtlCol="0" anchor="ctr"/>
          <a:lstStyle/>
          <a:p>
            <a:pPr indent="0" marL="0">
              <a:buNone/>
            </a:pPr>
            <a:r>
              <a:rPr lang="en-US" sz="1100" b="1" spc="80" kern="0" dirty="0">
                <a:solidFill>
                  <a:srgbClr val="1A8A7D"/>
                </a:solidFill>
                <a:latin typeface="Calibri" pitchFamily="34" charset="0"/>
                <a:ea typeface="Calibri" pitchFamily="34" charset="-122"/>
                <a:cs typeface="Calibri" pitchFamily="34" charset="-120"/>
              </a:rPr>
              <a:t>CONTINENTS</a:t>
            </a:r>
            <a:endParaRPr lang="en-US" sz="1100" dirty="0"/>
          </a:p>
        </p:txBody>
      </p:sp>
      <p:sp>
        <p:nvSpPr>
          <p:cNvPr id="12" name="Text 10"/>
          <p:cNvSpPr/>
          <p:nvPr/>
        </p:nvSpPr>
        <p:spPr>
          <a:xfrm>
            <a:off x="975360" y="3218688"/>
            <a:ext cx="6421120" cy="1658112"/>
          </a:xfrm>
          <a:prstGeom prst="rect">
            <a:avLst/>
          </a:prstGeom>
          <a:noFill/>
          <a:ln/>
        </p:spPr>
        <p:txBody>
          <a:bodyPr wrap="square" lIns="0" tIns="0" rIns="0" bIns="0" rtlCol="0" anchor="t"/>
          <a:lstStyle/>
          <a:p>
            <a:pPr indent="0" marL="0">
              <a:lnSpc>
                <a:spcPct val="115000"/>
              </a:lnSpc>
              <a:buNone/>
            </a:pPr>
            <a:r>
              <a:rPr lang="en-US" sz="1100" dirty="0">
                <a:solidFill>
                  <a:srgbClr val="0E1C42"/>
                </a:solidFill>
                <a:latin typeface="Calibri" pitchFamily="34" charset="0"/>
                <a:ea typeface="Calibri" pitchFamily="34" charset="-122"/>
                <a:cs typeface="Calibri" pitchFamily="34" charset="-120"/>
              </a:rPr>
              <a:t>The big land areas on Earth.</a:t>
            </a:r>
            <a:endParaRPr lang="en-US" sz="1100" dirty="0"/>
          </a:p>
          <a:p>
            <a:pPr indent="0" marL="0">
              <a:lnSpc>
                <a:spcPct val="115000"/>
              </a:lnSpc>
              <a:buNone/>
            </a:pPr>
            <a:r>
              <a:rPr lang="en-US" sz="1100" dirty="0">
                <a:solidFill>
                  <a:srgbClr val="0E1C42"/>
                </a:solidFill>
                <a:latin typeface="Calibri" pitchFamily="34" charset="0"/>
                <a:ea typeface="Calibri" pitchFamily="34" charset="-122"/>
                <a:cs typeface="Calibri" pitchFamily="34" charset="-120"/>
              </a:rPr>
              <a:t>There are 7 continents.</a:t>
            </a:r>
            <a:endParaRPr lang="en-US" sz="1100" dirty="0"/>
          </a:p>
          <a:p>
            <a:pPr indent="0" marL="0">
              <a:lnSpc>
                <a:spcPct val="115000"/>
              </a:lnSpc>
              <a:buNone/>
            </a:pPr>
            <a:r>
              <a:rPr lang="en-US" sz="1100" dirty="0">
                <a:solidFill>
                  <a:srgbClr val="0E1C42"/>
                </a:solidFill>
                <a:latin typeface="Calibri" pitchFamily="34" charset="0"/>
                <a:ea typeface="Calibri" pitchFamily="34" charset="-122"/>
                <a:cs typeface="Calibri" pitchFamily="34" charset="-120"/>
              </a:rPr>
              <a:t>Asia is the biggest. Australia is the smallest.</a:t>
            </a:r>
            <a:endParaRPr lang="en-US" sz="1100" dirty="0"/>
          </a:p>
        </p:txBody>
      </p:sp>
      <p:sp>
        <p:nvSpPr>
          <p:cNvPr id="13" name="Shape 11"/>
          <p:cNvSpPr/>
          <p:nvPr/>
        </p:nvSpPr>
        <p:spPr>
          <a:xfrm>
            <a:off x="650240" y="5364480"/>
            <a:ext cx="6990080" cy="2438400"/>
          </a:xfrm>
          <a:prstGeom prst="roundRect">
            <a:avLst>
              <a:gd name="adj" fmla="val 8000"/>
            </a:avLst>
          </a:prstGeom>
          <a:solidFill>
            <a:srgbClr val="FFFFFF"/>
          </a:solidFill>
          <a:ln/>
          <a:effectLst>
            <a:outerShdw sx="100000" sy="100000" kx="0" ky="0" algn="bl" rotWithShape="0" blurRad="76200" dist="25400" dir="8100000">
              <a:srgbClr val="000000">
                <a:alpha val="12000"/>
              </a:srgbClr>
            </a:outerShdw>
          </a:effectLst>
        </p:spPr>
      </p:sp>
      <p:sp>
        <p:nvSpPr>
          <p:cNvPr id="14" name="Shape 12"/>
          <p:cNvSpPr/>
          <p:nvPr/>
        </p:nvSpPr>
        <p:spPr>
          <a:xfrm>
            <a:off x="650240" y="5364480"/>
            <a:ext cx="97536" cy="2438400"/>
          </a:xfrm>
          <a:prstGeom prst="rect">
            <a:avLst/>
          </a:prstGeom>
          <a:solidFill>
            <a:srgbClr val="55C8E8"/>
          </a:solidFill>
          <a:ln/>
        </p:spPr>
      </p:sp>
      <p:sp>
        <p:nvSpPr>
          <p:cNvPr id="15" name="Text 13"/>
          <p:cNvSpPr/>
          <p:nvPr/>
        </p:nvSpPr>
        <p:spPr>
          <a:xfrm>
            <a:off x="975360" y="5527040"/>
            <a:ext cx="6421120" cy="455168"/>
          </a:xfrm>
          <a:prstGeom prst="rect">
            <a:avLst/>
          </a:prstGeom>
          <a:noFill/>
          <a:ln/>
        </p:spPr>
        <p:txBody>
          <a:bodyPr wrap="square" lIns="0" tIns="0" rIns="0" bIns="0" rtlCol="0" anchor="ctr"/>
          <a:lstStyle/>
          <a:p>
            <a:pPr indent="0" marL="0">
              <a:buNone/>
            </a:pPr>
            <a:r>
              <a:rPr lang="en-US" sz="1100" b="1" spc="80" kern="0" dirty="0">
                <a:solidFill>
                  <a:srgbClr val="55C8E8"/>
                </a:solidFill>
                <a:latin typeface="Calibri" pitchFamily="34" charset="0"/>
                <a:ea typeface="Calibri" pitchFamily="34" charset="-122"/>
                <a:cs typeface="Calibri" pitchFamily="34" charset="-120"/>
              </a:rPr>
              <a:t>OCEANS</a:t>
            </a:r>
            <a:endParaRPr lang="en-US" sz="1100" dirty="0"/>
          </a:p>
        </p:txBody>
      </p:sp>
      <p:sp>
        <p:nvSpPr>
          <p:cNvPr id="16" name="Text 14"/>
          <p:cNvSpPr/>
          <p:nvPr/>
        </p:nvSpPr>
        <p:spPr>
          <a:xfrm>
            <a:off x="975360" y="5982208"/>
            <a:ext cx="6421120" cy="1658112"/>
          </a:xfrm>
          <a:prstGeom prst="rect">
            <a:avLst/>
          </a:prstGeom>
          <a:noFill/>
          <a:ln/>
        </p:spPr>
        <p:txBody>
          <a:bodyPr wrap="square" lIns="0" tIns="0" rIns="0" bIns="0" rtlCol="0" anchor="t"/>
          <a:lstStyle/>
          <a:p>
            <a:pPr indent="0" marL="0">
              <a:lnSpc>
                <a:spcPct val="115000"/>
              </a:lnSpc>
              <a:buNone/>
            </a:pPr>
            <a:r>
              <a:rPr lang="en-US" sz="1100" dirty="0">
                <a:solidFill>
                  <a:srgbClr val="0E1C42"/>
                </a:solidFill>
                <a:latin typeface="Calibri" pitchFamily="34" charset="0"/>
                <a:ea typeface="Calibri" pitchFamily="34" charset="-122"/>
                <a:cs typeface="Calibri" pitchFamily="34" charset="-120"/>
              </a:rPr>
              <a:t>The big water areas on Earth.</a:t>
            </a:r>
            <a:endParaRPr lang="en-US" sz="1100" dirty="0"/>
          </a:p>
          <a:p>
            <a:pPr indent="0" marL="0">
              <a:lnSpc>
                <a:spcPct val="115000"/>
              </a:lnSpc>
              <a:buNone/>
            </a:pPr>
            <a:r>
              <a:rPr lang="en-US" sz="1100" dirty="0">
                <a:solidFill>
                  <a:srgbClr val="0E1C42"/>
                </a:solidFill>
                <a:latin typeface="Calibri" pitchFamily="34" charset="0"/>
                <a:ea typeface="Calibri" pitchFamily="34" charset="-122"/>
                <a:cs typeface="Calibri" pitchFamily="34" charset="-120"/>
              </a:rPr>
              <a:t>There are 5 oceans.</a:t>
            </a:r>
            <a:endParaRPr lang="en-US" sz="1100" dirty="0"/>
          </a:p>
          <a:p>
            <a:pPr indent="0" marL="0">
              <a:lnSpc>
                <a:spcPct val="115000"/>
              </a:lnSpc>
              <a:buNone/>
            </a:pPr>
            <a:r>
              <a:rPr lang="en-US" sz="1100" dirty="0">
                <a:solidFill>
                  <a:srgbClr val="0E1C42"/>
                </a:solidFill>
                <a:latin typeface="Calibri" pitchFamily="34" charset="0"/>
                <a:ea typeface="Calibri" pitchFamily="34" charset="-122"/>
                <a:cs typeface="Calibri" pitchFamily="34" charset="-120"/>
              </a:rPr>
              <a:t>The Pacific is so big that all 7 continents could fit inside it!</a:t>
            </a:r>
            <a:endParaRPr lang="en-US" sz="1100" dirty="0"/>
          </a:p>
        </p:txBody>
      </p:sp>
      <p:sp>
        <p:nvSpPr>
          <p:cNvPr id="17" name="Shape 15"/>
          <p:cNvSpPr/>
          <p:nvPr/>
        </p:nvSpPr>
        <p:spPr>
          <a:xfrm>
            <a:off x="8290560" y="2600960"/>
            <a:ext cx="7152640" cy="5201920"/>
          </a:xfrm>
          <a:prstGeom prst="roundRect">
            <a:avLst>
              <a:gd name="adj" fmla="val 3750"/>
            </a:avLst>
          </a:prstGeom>
          <a:solidFill>
            <a:srgbClr val="E2E8F4"/>
          </a:solidFill>
          <a:ln w="19050">
            <a:solidFill>
              <a:srgbClr val="B0B8CC"/>
            </a:solidFill>
            <a:prstDash val="dash"/>
          </a:ln>
        </p:spPr>
      </p:sp>
      <p:sp>
        <p:nvSpPr>
          <p:cNvPr id="18" name="Text 16"/>
          <p:cNvSpPr/>
          <p:nvPr/>
        </p:nvSpPr>
        <p:spPr>
          <a:xfrm>
            <a:off x="8290560" y="2600960"/>
            <a:ext cx="715264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9" name="Text 17"/>
          <p:cNvSpPr/>
          <p:nvPr/>
        </p:nvSpPr>
        <p:spPr>
          <a:xfrm>
            <a:off x="8534400" y="3088640"/>
            <a:ext cx="6664960" cy="45516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Simple diagram showing Earth split into</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land areas (continents) and water areas (oceans).</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Color-coded: green for land, blue for water.</a:t>
            </a:r>
            <a:endParaRPr lang="en-US" sz="1100" dirty="0"/>
          </a:p>
        </p:txBody>
      </p:sp>
      <p:sp>
        <p:nvSpPr>
          <p:cNvPr id="20" name="Text 18"/>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5 / 20</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FFFFF"/>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DISCOVERY</a:t>
            </a:r>
            <a:endParaRPr lang="en-US" sz="800" dirty="0"/>
          </a:p>
        </p:txBody>
      </p:sp>
      <p:sp>
        <p:nvSpPr>
          <p:cNvPr id="7" name="Text 5"/>
          <p:cNvSpPr/>
          <p:nvPr/>
        </p:nvSpPr>
        <p:spPr>
          <a:xfrm>
            <a:off x="650240" y="1137920"/>
            <a:ext cx="97536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The Seven Continents</a:t>
            </a:r>
            <a:endParaRPr lang="en-US" sz="2200" dirty="0"/>
          </a:p>
        </p:txBody>
      </p:sp>
      <p:sp>
        <p:nvSpPr>
          <p:cNvPr id="8" name="Text 6"/>
          <p:cNvSpPr/>
          <p:nvPr/>
        </p:nvSpPr>
        <p:spPr>
          <a:xfrm>
            <a:off x="650240" y="1950720"/>
            <a:ext cx="1137920" cy="422656"/>
          </a:xfrm>
          <a:prstGeom prst="rect">
            <a:avLst/>
          </a:prstGeom>
          <a:noFill/>
          <a:ln/>
        </p:spPr>
        <p:txBody>
          <a:bodyPr wrap="square" lIns="0" tIns="0" rIns="0" bIns="0" rtlCol="0" anchor="ctr"/>
          <a:lstStyle/>
          <a:p>
            <a:pPr indent="0" marL="0">
              <a:buNone/>
            </a:pPr>
            <a:r>
              <a:rPr lang="en-US" sz="900" b="1" spc="120" kern="0" dirty="0">
                <a:solidFill>
                  <a:srgbClr val="1A8A7D"/>
                </a:solidFill>
                <a:latin typeface="Calibri" pitchFamily="34" charset="0"/>
                <a:ea typeface="Calibri" pitchFamily="34" charset="-122"/>
                <a:cs typeface="Calibri" pitchFamily="34" charset="-120"/>
              </a:rPr>
              <a:t>NAME</a:t>
            </a:r>
            <a:endParaRPr lang="en-US" sz="900" dirty="0"/>
          </a:p>
        </p:txBody>
      </p:sp>
      <p:sp>
        <p:nvSpPr>
          <p:cNvPr id="9" name="Shape 7"/>
          <p:cNvSpPr/>
          <p:nvPr/>
        </p:nvSpPr>
        <p:spPr>
          <a:xfrm>
            <a:off x="650240" y="2519680"/>
            <a:ext cx="7152640" cy="1219200"/>
          </a:xfrm>
          <a:prstGeom prst="roundRect">
            <a:avLst>
              <a:gd name="adj" fmla="val 10667"/>
            </a:avLst>
          </a:prstGeom>
          <a:solidFill>
            <a:srgbClr val="EAF8FD"/>
          </a:solidFill>
          <a:ln/>
        </p:spPr>
      </p:sp>
      <p:sp>
        <p:nvSpPr>
          <p:cNvPr id="10" name="Text 8"/>
          <p:cNvSpPr/>
          <p:nvPr/>
        </p:nvSpPr>
        <p:spPr>
          <a:xfrm>
            <a:off x="894080" y="2600960"/>
            <a:ext cx="6664960" cy="455168"/>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North America</a:t>
            </a:r>
            <a:endParaRPr lang="en-US" sz="1200" dirty="0"/>
          </a:p>
        </p:txBody>
      </p:sp>
      <p:sp>
        <p:nvSpPr>
          <p:cNvPr id="11" name="Text 9"/>
          <p:cNvSpPr/>
          <p:nvPr/>
        </p:nvSpPr>
        <p:spPr>
          <a:xfrm>
            <a:off x="894080" y="3056128"/>
            <a:ext cx="6664960" cy="568960"/>
          </a:xfrm>
          <a:prstGeom prst="rect">
            <a:avLst/>
          </a:prstGeom>
          <a:noFill/>
          <a:ln/>
        </p:spPr>
        <p:txBody>
          <a:bodyPr wrap="square" lIns="0" tIns="0" rIns="0" bIns="0" rtlCol="0" anchor="ctr"/>
          <a:lstStyle/>
          <a:p>
            <a:pPr indent="0" marL="0">
              <a:buNone/>
            </a:pPr>
            <a:r>
              <a:rPr lang="en-US" sz="1000" dirty="0">
                <a:solidFill>
                  <a:srgbClr val="0E1C42"/>
                </a:solidFill>
                <a:latin typeface="Calibri" pitchFamily="34" charset="0"/>
                <a:ea typeface="Calibri" pitchFamily="34" charset="-122"/>
                <a:cs typeface="Calibri" pitchFamily="34" charset="-120"/>
              </a:rPr>
              <a:t>Home to the U.S., Canada, and Mexico</a:t>
            </a:r>
            <a:endParaRPr lang="en-US" sz="1000" dirty="0"/>
          </a:p>
        </p:txBody>
      </p:sp>
      <p:sp>
        <p:nvSpPr>
          <p:cNvPr id="12" name="Shape 10"/>
          <p:cNvSpPr/>
          <p:nvPr/>
        </p:nvSpPr>
        <p:spPr>
          <a:xfrm>
            <a:off x="650240" y="3901440"/>
            <a:ext cx="7152640" cy="1219200"/>
          </a:xfrm>
          <a:prstGeom prst="roundRect">
            <a:avLst>
              <a:gd name="adj" fmla="val 10667"/>
            </a:avLst>
          </a:prstGeom>
          <a:solidFill>
            <a:srgbClr val="E3F8ED"/>
          </a:solidFill>
          <a:ln/>
        </p:spPr>
      </p:sp>
      <p:sp>
        <p:nvSpPr>
          <p:cNvPr id="13" name="Text 11"/>
          <p:cNvSpPr/>
          <p:nvPr/>
        </p:nvSpPr>
        <p:spPr>
          <a:xfrm>
            <a:off x="894080" y="3982720"/>
            <a:ext cx="6664960" cy="455168"/>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South America</a:t>
            </a:r>
            <a:endParaRPr lang="en-US" sz="1200" dirty="0"/>
          </a:p>
        </p:txBody>
      </p:sp>
      <p:sp>
        <p:nvSpPr>
          <p:cNvPr id="14" name="Text 12"/>
          <p:cNvSpPr/>
          <p:nvPr/>
        </p:nvSpPr>
        <p:spPr>
          <a:xfrm>
            <a:off x="894080" y="4437888"/>
            <a:ext cx="6664960" cy="568960"/>
          </a:xfrm>
          <a:prstGeom prst="rect">
            <a:avLst/>
          </a:prstGeom>
          <a:noFill/>
          <a:ln/>
        </p:spPr>
        <p:txBody>
          <a:bodyPr wrap="square" lIns="0" tIns="0" rIns="0" bIns="0" rtlCol="0" anchor="ctr"/>
          <a:lstStyle/>
          <a:p>
            <a:pPr indent="0" marL="0">
              <a:buNone/>
            </a:pPr>
            <a:r>
              <a:rPr lang="en-US" sz="1000" dirty="0">
                <a:solidFill>
                  <a:srgbClr val="0E1C42"/>
                </a:solidFill>
                <a:latin typeface="Calibri" pitchFamily="34" charset="0"/>
                <a:ea typeface="Calibri" pitchFamily="34" charset="-122"/>
                <a:cs typeface="Calibri" pitchFamily="34" charset="-120"/>
              </a:rPr>
              <a:t>Home to the Amazon rainforest and the Andes</a:t>
            </a:r>
            <a:endParaRPr lang="en-US" sz="1000" dirty="0"/>
          </a:p>
        </p:txBody>
      </p:sp>
      <p:sp>
        <p:nvSpPr>
          <p:cNvPr id="15" name="Shape 13"/>
          <p:cNvSpPr/>
          <p:nvPr/>
        </p:nvSpPr>
        <p:spPr>
          <a:xfrm>
            <a:off x="650240" y="5283200"/>
            <a:ext cx="7152640" cy="1219200"/>
          </a:xfrm>
          <a:prstGeom prst="roundRect">
            <a:avLst>
              <a:gd name="adj" fmla="val 10667"/>
            </a:avLst>
          </a:prstGeom>
          <a:solidFill>
            <a:srgbClr val="EAF8FD"/>
          </a:solidFill>
          <a:ln/>
        </p:spPr>
      </p:sp>
      <p:sp>
        <p:nvSpPr>
          <p:cNvPr id="16" name="Text 14"/>
          <p:cNvSpPr/>
          <p:nvPr/>
        </p:nvSpPr>
        <p:spPr>
          <a:xfrm>
            <a:off x="894080" y="5364480"/>
            <a:ext cx="6664960" cy="455168"/>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Europe</a:t>
            </a:r>
            <a:endParaRPr lang="en-US" sz="1200" dirty="0"/>
          </a:p>
        </p:txBody>
      </p:sp>
      <p:sp>
        <p:nvSpPr>
          <p:cNvPr id="17" name="Text 15"/>
          <p:cNvSpPr/>
          <p:nvPr/>
        </p:nvSpPr>
        <p:spPr>
          <a:xfrm>
            <a:off x="894080" y="5819648"/>
            <a:ext cx="6664960" cy="568960"/>
          </a:xfrm>
          <a:prstGeom prst="rect">
            <a:avLst/>
          </a:prstGeom>
          <a:noFill/>
          <a:ln/>
        </p:spPr>
        <p:txBody>
          <a:bodyPr wrap="square" lIns="0" tIns="0" rIns="0" bIns="0" rtlCol="0" anchor="ctr"/>
          <a:lstStyle/>
          <a:p>
            <a:pPr indent="0" marL="0">
              <a:buNone/>
            </a:pPr>
            <a:r>
              <a:rPr lang="en-US" sz="1000" dirty="0">
                <a:solidFill>
                  <a:srgbClr val="0E1C42"/>
                </a:solidFill>
                <a:latin typeface="Calibri" pitchFamily="34" charset="0"/>
                <a:ea typeface="Calibri" pitchFamily="34" charset="-122"/>
                <a:cs typeface="Calibri" pitchFamily="34" charset="-120"/>
              </a:rPr>
              <a:t>A smaller continent connected to Asia</a:t>
            </a:r>
            <a:endParaRPr lang="en-US" sz="1000" dirty="0"/>
          </a:p>
        </p:txBody>
      </p:sp>
      <p:sp>
        <p:nvSpPr>
          <p:cNvPr id="18" name="Shape 16"/>
          <p:cNvSpPr/>
          <p:nvPr/>
        </p:nvSpPr>
        <p:spPr>
          <a:xfrm>
            <a:off x="650240" y="6664960"/>
            <a:ext cx="7152640" cy="1219200"/>
          </a:xfrm>
          <a:prstGeom prst="roundRect">
            <a:avLst>
              <a:gd name="adj" fmla="val 10667"/>
            </a:avLst>
          </a:prstGeom>
          <a:solidFill>
            <a:srgbClr val="E3F8ED"/>
          </a:solidFill>
          <a:ln/>
        </p:spPr>
      </p:sp>
      <p:sp>
        <p:nvSpPr>
          <p:cNvPr id="19" name="Text 17"/>
          <p:cNvSpPr/>
          <p:nvPr/>
        </p:nvSpPr>
        <p:spPr>
          <a:xfrm>
            <a:off x="894080" y="6746240"/>
            <a:ext cx="6664960" cy="455168"/>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Asia</a:t>
            </a:r>
            <a:endParaRPr lang="en-US" sz="1200" dirty="0"/>
          </a:p>
        </p:txBody>
      </p:sp>
      <p:sp>
        <p:nvSpPr>
          <p:cNvPr id="20" name="Text 18"/>
          <p:cNvSpPr/>
          <p:nvPr/>
        </p:nvSpPr>
        <p:spPr>
          <a:xfrm>
            <a:off x="894080" y="7201408"/>
            <a:ext cx="6664960" cy="568960"/>
          </a:xfrm>
          <a:prstGeom prst="rect">
            <a:avLst/>
          </a:prstGeom>
          <a:noFill/>
          <a:ln/>
        </p:spPr>
        <p:txBody>
          <a:bodyPr wrap="square" lIns="0" tIns="0" rIns="0" bIns="0" rtlCol="0" anchor="ctr"/>
          <a:lstStyle/>
          <a:p>
            <a:pPr indent="0" marL="0">
              <a:buNone/>
            </a:pPr>
            <a:r>
              <a:rPr lang="en-US" sz="1000" dirty="0">
                <a:solidFill>
                  <a:srgbClr val="0E1C42"/>
                </a:solidFill>
                <a:latin typeface="Calibri" pitchFamily="34" charset="0"/>
                <a:ea typeface="Calibri" pitchFamily="34" charset="-122"/>
                <a:cs typeface="Calibri" pitchFamily="34" charset="-120"/>
              </a:rPr>
              <a:t>The biggest continent — more people live here than anywhere else</a:t>
            </a:r>
            <a:endParaRPr lang="en-US" sz="1000" dirty="0"/>
          </a:p>
        </p:txBody>
      </p:sp>
      <p:sp>
        <p:nvSpPr>
          <p:cNvPr id="21" name="Shape 19"/>
          <p:cNvSpPr/>
          <p:nvPr/>
        </p:nvSpPr>
        <p:spPr>
          <a:xfrm>
            <a:off x="8290560" y="2519680"/>
            <a:ext cx="7152640" cy="1219200"/>
          </a:xfrm>
          <a:prstGeom prst="roundRect">
            <a:avLst>
              <a:gd name="adj" fmla="val 10667"/>
            </a:avLst>
          </a:prstGeom>
          <a:solidFill>
            <a:srgbClr val="EAF8FD"/>
          </a:solidFill>
          <a:ln/>
        </p:spPr>
      </p:sp>
      <p:sp>
        <p:nvSpPr>
          <p:cNvPr id="22" name="Text 20"/>
          <p:cNvSpPr/>
          <p:nvPr/>
        </p:nvSpPr>
        <p:spPr>
          <a:xfrm>
            <a:off x="8534400" y="2600960"/>
            <a:ext cx="6664960" cy="455168"/>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Africa</a:t>
            </a:r>
            <a:endParaRPr lang="en-US" sz="1200" dirty="0"/>
          </a:p>
        </p:txBody>
      </p:sp>
      <p:sp>
        <p:nvSpPr>
          <p:cNvPr id="23" name="Text 21"/>
          <p:cNvSpPr/>
          <p:nvPr/>
        </p:nvSpPr>
        <p:spPr>
          <a:xfrm>
            <a:off x="8534400" y="3056128"/>
            <a:ext cx="6664960" cy="568960"/>
          </a:xfrm>
          <a:prstGeom prst="rect">
            <a:avLst/>
          </a:prstGeom>
          <a:noFill/>
          <a:ln/>
        </p:spPr>
        <p:txBody>
          <a:bodyPr wrap="square" lIns="0" tIns="0" rIns="0" bIns="0" rtlCol="0" anchor="ctr"/>
          <a:lstStyle/>
          <a:p>
            <a:pPr indent="0" marL="0">
              <a:buNone/>
            </a:pPr>
            <a:r>
              <a:rPr lang="en-US" sz="1000" dirty="0">
                <a:solidFill>
                  <a:srgbClr val="0E1C42"/>
                </a:solidFill>
                <a:latin typeface="Calibri" pitchFamily="34" charset="0"/>
                <a:ea typeface="Calibri" pitchFamily="34" charset="-122"/>
                <a:cs typeface="Calibri" pitchFamily="34" charset="-120"/>
              </a:rPr>
              <a:t>The second-largest continent, with the Sahara Desert</a:t>
            </a:r>
            <a:endParaRPr lang="en-US" sz="1000" dirty="0"/>
          </a:p>
        </p:txBody>
      </p:sp>
      <p:sp>
        <p:nvSpPr>
          <p:cNvPr id="24" name="Shape 22"/>
          <p:cNvSpPr/>
          <p:nvPr/>
        </p:nvSpPr>
        <p:spPr>
          <a:xfrm>
            <a:off x="8290560" y="3901440"/>
            <a:ext cx="7152640" cy="1219200"/>
          </a:xfrm>
          <a:prstGeom prst="roundRect">
            <a:avLst>
              <a:gd name="adj" fmla="val 10667"/>
            </a:avLst>
          </a:prstGeom>
          <a:solidFill>
            <a:srgbClr val="E3F8ED"/>
          </a:solidFill>
          <a:ln/>
        </p:spPr>
      </p:sp>
      <p:sp>
        <p:nvSpPr>
          <p:cNvPr id="25" name="Text 23"/>
          <p:cNvSpPr/>
          <p:nvPr/>
        </p:nvSpPr>
        <p:spPr>
          <a:xfrm>
            <a:off x="8534400" y="3982720"/>
            <a:ext cx="6664960" cy="455168"/>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Australia</a:t>
            </a:r>
            <a:endParaRPr lang="en-US" sz="1200" dirty="0"/>
          </a:p>
        </p:txBody>
      </p:sp>
      <p:sp>
        <p:nvSpPr>
          <p:cNvPr id="26" name="Text 24"/>
          <p:cNvSpPr/>
          <p:nvPr/>
        </p:nvSpPr>
        <p:spPr>
          <a:xfrm>
            <a:off x="8534400" y="4437888"/>
            <a:ext cx="6664960" cy="568960"/>
          </a:xfrm>
          <a:prstGeom prst="rect">
            <a:avLst/>
          </a:prstGeom>
          <a:noFill/>
          <a:ln/>
        </p:spPr>
        <p:txBody>
          <a:bodyPr wrap="square" lIns="0" tIns="0" rIns="0" bIns="0" rtlCol="0" anchor="ctr"/>
          <a:lstStyle/>
          <a:p>
            <a:pPr indent="0" marL="0">
              <a:buNone/>
            </a:pPr>
            <a:r>
              <a:rPr lang="en-US" sz="1000" dirty="0">
                <a:solidFill>
                  <a:srgbClr val="0E1C42"/>
                </a:solidFill>
                <a:latin typeface="Calibri" pitchFamily="34" charset="0"/>
                <a:ea typeface="Calibri" pitchFamily="34" charset="-122"/>
                <a:cs typeface="Calibri" pitchFamily="34" charset="-120"/>
              </a:rPr>
              <a:t>The smallest continent — also a country!</a:t>
            </a:r>
            <a:endParaRPr lang="en-US" sz="1000" dirty="0"/>
          </a:p>
        </p:txBody>
      </p:sp>
      <p:sp>
        <p:nvSpPr>
          <p:cNvPr id="27" name="Shape 25"/>
          <p:cNvSpPr/>
          <p:nvPr/>
        </p:nvSpPr>
        <p:spPr>
          <a:xfrm>
            <a:off x="8290560" y="5283200"/>
            <a:ext cx="7152640" cy="1219200"/>
          </a:xfrm>
          <a:prstGeom prst="roundRect">
            <a:avLst>
              <a:gd name="adj" fmla="val 10667"/>
            </a:avLst>
          </a:prstGeom>
          <a:solidFill>
            <a:srgbClr val="EAF8FD"/>
          </a:solidFill>
          <a:ln/>
        </p:spPr>
      </p:sp>
      <p:sp>
        <p:nvSpPr>
          <p:cNvPr id="28" name="Text 26"/>
          <p:cNvSpPr/>
          <p:nvPr/>
        </p:nvSpPr>
        <p:spPr>
          <a:xfrm>
            <a:off x="8534400" y="5364480"/>
            <a:ext cx="6664960" cy="455168"/>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Antarctica</a:t>
            </a:r>
            <a:endParaRPr lang="en-US" sz="1200" dirty="0"/>
          </a:p>
        </p:txBody>
      </p:sp>
      <p:sp>
        <p:nvSpPr>
          <p:cNvPr id="29" name="Text 27"/>
          <p:cNvSpPr/>
          <p:nvPr/>
        </p:nvSpPr>
        <p:spPr>
          <a:xfrm>
            <a:off x="8534400" y="5819648"/>
            <a:ext cx="6664960" cy="568960"/>
          </a:xfrm>
          <a:prstGeom prst="rect">
            <a:avLst/>
          </a:prstGeom>
          <a:noFill/>
          <a:ln/>
        </p:spPr>
        <p:txBody>
          <a:bodyPr wrap="square" lIns="0" tIns="0" rIns="0" bIns="0" rtlCol="0" anchor="ctr"/>
          <a:lstStyle/>
          <a:p>
            <a:pPr indent="0" marL="0">
              <a:buNone/>
            </a:pPr>
            <a:r>
              <a:rPr lang="en-US" sz="1000" dirty="0">
                <a:solidFill>
                  <a:srgbClr val="0E1C42"/>
                </a:solidFill>
                <a:latin typeface="Calibri" pitchFamily="34" charset="0"/>
                <a:ea typeface="Calibri" pitchFamily="34" charset="-122"/>
                <a:cs typeface="Calibri" pitchFamily="34" charset="-120"/>
              </a:rPr>
              <a:t>Coldest, driest continent — covered in ice, no country owns it</a:t>
            </a:r>
            <a:endParaRPr lang="en-US" sz="1000" dirty="0"/>
          </a:p>
        </p:txBody>
      </p:sp>
      <p:sp>
        <p:nvSpPr>
          <p:cNvPr id="30" name="Text 28"/>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6 / 20</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0F2F8"/>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DISCUSSION</a:t>
            </a:r>
            <a:endParaRPr lang="en-US" sz="800" dirty="0"/>
          </a:p>
        </p:txBody>
      </p:sp>
      <p:sp>
        <p:nvSpPr>
          <p:cNvPr id="7" name="Text 5"/>
          <p:cNvSpPr/>
          <p:nvPr/>
        </p:nvSpPr>
        <p:spPr>
          <a:xfrm>
            <a:off x="650240" y="1137920"/>
            <a:ext cx="97536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Could You Tell Them Apart?</a:t>
            </a:r>
            <a:endParaRPr lang="en-US" sz="2200" dirty="0"/>
          </a:p>
        </p:txBody>
      </p:sp>
      <p:sp>
        <p:nvSpPr>
          <p:cNvPr id="8" name="Shape 6"/>
          <p:cNvSpPr/>
          <p:nvPr/>
        </p:nvSpPr>
        <p:spPr>
          <a:xfrm>
            <a:off x="650240" y="2113280"/>
            <a:ext cx="7315200" cy="5364480"/>
          </a:xfrm>
          <a:prstGeom prst="roundRect">
            <a:avLst>
              <a:gd name="adj" fmla="val 3636"/>
            </a:avLst>
          </a:prstGeom>
          <a:solidFill>
            <a:srgbClr val="E2E8F4"/>
          </a:solidFill>
          <a:ln w="19050">
            <a:solidFill>
              <a:srgbClr val="B0B8CC"/>
            </a:solidFill>
            <a:prstDash val="dash"/>
          </a:ln>
        </p:spPr>
      </p:sp>
      <p:sp>
        <p:nvSpPr>
          <p:cNvPr id="9" name="Text 7"/>
          <p:cNvSpPr/>
          <p:nvPr/>
        </p:nvSpPr>
        <p:spPr>
          <a:xfrm>
            <a:off x="650240" y="2113280"/>
            <a:ext cx="731520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894080" y="2600960"/>
            <a:ext cx="6827520" cy="47142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Blank world map with continent shapes visible</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but NO labels or names.</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Shapes only, no text.</a:t>
            </a:r>
            <a:endParaRPr lang="en-US" sz="1100" dirty="0"/>
          </a:p>
        </p:txBody>
      </p:sp>
      <p:sp>
        <p:nvSpPr>
          <p:cNvPr id="11" name="Shape 9"/>
          <p:cNvSpPr/>
          <p:nvPr/>
        </p:nvSpPr>
        <p:spPr>
          <a:xfrm>
            <a:off x="8453120" y="2113280"/>
            <a:ext cx="6990080" cy="3251200"/>
          </a:xfrm>
          <a:prstGeom prst="roundRect">
            <a:avLst>
              <a:gd name="adj" fmla="val 7500"/>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8778240" y="2275840"/>
            <a:ext cx="633984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8778240" y="2731008"/>
            <a:ext cx="6339840" cy="247091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a visitor looked at this map with no labels, could they tell the difference between Asia and Africa just by shape?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help them know for sure?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 shapes alone not tell the whole story?</a:t>
            </a:r>
            <a:endParaRPr lang="en-US" sz="1100" dirty="0"/>
          </a:p>
        </p:txBody>
      </p:sp>
      <p:sp>
        <p:nvSpPr>
          <p:cNvPr id="14" name="Shape 12"/>
          <p:cNvSpPr/>
          <p:nvPr/>
        </p:nvSpPr>
        <p:spPr>
          <a:xfrm>
            <a:off x="8453120" y="5689600"/>
            <a:ext cx="6990080" cy="1788160"/>
          </a:xfrm>
          <a:prstGeom prst="roundRect">
            <a:avLst>
              <a:gd name="adj" fmla="val 10909"/>
            </a:avLst>
          </a:prstGeom>
          <a:solidFill>
            <a:srgbClr val="FFF3DC"/>
          </a:solidFill>
          <a:ln w="19050">
            <a:solidFill>
              <a:srgbClr val="F5E6C8"/>
            </a:solidFill>
            <a:prstDash val="solid"/>
          </a:ln>
        </p:spPr>
      </p:sp>
      <p:sp>
        <p:nvSpPr>
          <p:cNvPr id="15" name="Text 13"/>
          <p:cNvSpPr/>
          <p:nvPr/>
        </p:nvSpPr>
        <p:spPr>
          <a:xfrm>
            <a:off x="8696960" y="5787136"/>
            <a:ext cx="650240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8696960" y="6144768"/>
            <a:ext cx="6502400" cy="12192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"Turn to a partner. Point to two continents on the blank map."</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"Can your partner guess which ones they are? Why or why not?"</a:t>
            </a:r>
            <a:endParaRPr lang="en-US" sz="1200" dirty="0"/>
          </a:p>
        </p:txBody>
      </p:sp>
      <p:sp>
        <p:nvSpPr>
          <p:cNvPr id="17" name="Text 15"/>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7 / 20</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FFFFF"/>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DISCOVERY</a:t>
            </a:r>
            <a:endParaRPr lang="en-US" sz="800" dirty="0"/>
          </a:p>
        </p:txBody>
      </p:sp>
      <p:sp>
        <p:nvSpPr>
          <p:cNvPr id="7" name="Text 5"/>
          <p:cNvSpPr/>
          <p:nvPr/>
        </p:nvSpPr>
        <p:spPr>
          <a:xfrm>
            <a:off x="650240" y="1137920"/>
            <a:ext cx="97536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The Five Oceans</a:t>
            </a:r>
            <a:endParaRPr lang="en-US" sz="2200" dirty="0"/>
          </a:p>
        </p:txBody>
      </p:sp>
      <p:sp>
        <p:nvSpPr>
          <p:cNvPr id="8" name="Text 6"/>
          <p:cNvSpPr/>
          <p:nvPr/>
        </p:nvSpPr>
        <p:spPr>
          <a:xfrm>
            <a:off x="650240" y="1950720"/>
            <a:ext cx="1137920" cy="422656"/>
          </a:xfrm>
          <a:prstGeom prst="rect">
            <a:avLst/>
          </a:prstGeom>
          <a:noFill/>
          <a:ln/>
        </p:spPr>
        <p:txBody>
          <a:bodyPr wrap="square" lIns="0" tIns="0" rIns="0" bIns="0" rtlCol="0" anchor="ctr"/>
          <a:lstStyle/>
          <a:p>
            <a:pPr indent="0" marL="0">
              <a:buNone/>
            </a:pPr>
            <a:r>
              <a:rPr lang="en-US" sz="900" b="1" spc="120" kern="0" dirty="0">
                <a:solidFill>
                  <a:srgbClr val="55C8E8"/>
                </a:solidFill>
                <a:latin typeface="Calibri" pitchFamily="34" charset="0"/>
                <a:ea typeface="Calibri" pitchFamily="34" charset="-122"/>
                <a:cs typeface="Calibri" pitchFamily="34" charset="-120"/>
              </a:rPr>
              <a:t>NAME</a:t>
            </a:r>
            <a:endParaRPr lang="en-US" sz="900" dirty="0"/>
          </a:p>
        </p:txBody>
      </p:sp>
      <p:sp>
        <p:nvSpPr>
          <p:cNvPr id="9" name="Shape 7"/>
          <p:cNvSpPr/>
          <p:nvPr/>
        </p:nvSpPr>
        <p:spPr>
          <a:xfrm>
            <a:off x="650240" y="2519680"/>
            <a:ext cx="14955520" cy="1007872"/>
          </a:xfrm>
          <a:prstGeom prst="roundRect">
            <a:avLst>
              <a:gd name="adj" fmla="val 12903"/>
            </a:avLst>
          </a:prstGeom>
          <a:solidFill>
            <a:srgbClr val="EAF8FD"/>
          </a:solidFill>
          <a:ln w="6350">
            <a:solidFill>
              <a:srgbClr val="D0D8E8"/>
            </a:solidFill>
            <a:prstDash val="solid"/>
          </a:ln>
        </p:spPr>
      </p:sp>
      <p:sp>
        <p:nvSpPr>
          <p:cNvPr id="10" name="Text 8"/>
          <p:cNvSpPr/>
          <p:nvPr/>
        </p:nvSpPr>
        <p:spPr>
          <a:xfrm>
            <a:off x="975360" y="2600960"/>
            <a:ext cx="3576320" cy="845312"/>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Pacific Ocean</a:t>
            </a:r>
            <a:endParaRPr lang="en-US" sz="1200" dirty="0"/>
          </a:p>
        </p:txBody>
      </p:sp>
      <p:sp>
        <p:nvSpPr>
          <p:cNvPr id="11" name="Text 9"/>
          <p:cNvSpPr/>
          <p:nvPr/>
        </p:nvSpPr>
        <p:spPr>
          <a:xfrm>
            <a:off x="4714240" y="2600960"/>
            <a:ext cx="10566400" cy="845312"/>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The largest and deepest ocean. Stretches between Asia and the Americas. All 7 continents could fit inside it!</a:t>
            </a:r>
            <a:endParaRPr lang="en-US" sz="1100" dirty="0"/>
          </a:p>
        </p:txBody>
      </p:sp>
      <p:sp>
        <p:nvSpPr>
          <p:cNvPr id="12" name="Shape 10"/>
          <p:cNvSpPr/>
          <p:nvPr/>
        </p:nvSpPr>
        <p:spPr>
          <a:xfrm>
            <a:off x="650240" y="3690112"/>
            <a:ext cx="14955520" cy="1007872"/>
          </a:xfrm>
          <a:prstGeom prst="roundRect">
            <a:avLst>
              <a:gd name="adj" fmla="val 12903"/>
            </a:avLst>
          </a:prstGeom>
          <a:solidFill>
            <a:srgbClr val="FFFFFF"/>
          </a:solidFill>
          <a:ln w="6350">
            <a:solidFill>
              <a:srgbClr val="D0D8E8"/>
            </a:solidFill>
            <a:prstDash val="solid"/>
          </a:ln>
        </p:spPr>
      </p:sp>
      <p:sp>
        <p:nvSpPr>
          <p:cNvPr id="13" name="Text 11"/>
          <p:cNvSpPr/>
          <p:nvPr/>
        </p:nvSpPr>
        <p:spPr>
          <a:xfrm>
            <a:off x="975360" y="3771392"/>
            <a:ext cx="3576320" cy="845312"/>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Atlantic Ocean</a:t>
            </a:r>
            <a:endParaRPr lang="en-US" sz="1200" dirty="0"/>
          </a:p>
        </p:txBody>
      </p:sp>
      <p:sp>
        <p:nvSpPr>
          <p:cNvPr id="14" name="Text 12"/>
          <p:cNvSpPr/>
          <p:nvPr/>
        </p:nvSpPr>
        <p:spPr>
          <a:xfrm>
            <a:off x="4714240" y="3771392"/>
            <a:ext cx="10566400" cy="845312"/>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The second-largest ocean. Separates the Americas from Europe and Africa.</a:t>
            </a:r>
            <a:endParaRPr lang="en-US" sz="1100" dirty="0"/>
          </a:p>
        </p:txBody>
      </p:sp>
      <p:sp>
        <p:nvSpPr>
          <p:cNvPr id="15" name="Shape 13"/>
          <p:cNvSpPr/>
          <p:nvPr/>
        </p:nvSpPr>
        <p:spPr>
          <a:xfrm>
            <a:off x="650240" y="4860544"/>
            <a:ext cx="14955520" cy="1007872"/>
          </a:xfrm>
          <a:prstGeom prst="roundRect">
            <a:avLst>
              <a:gd name="adj" fmla="val 12903"/>
            </a:avLst>
          </a:prstGeom>
          <a:solidFill>
            <a:srgbClr val="EAF8FD"/>
          </a:solidFill>
          <a:ln w="6350">
            <a:solidFill>
              <a:srgbClr val="D0D8E8"/>
            </a:solidFill>
            <a:prstDash val="solid"/>
          </a:ln>
        </p:spPr>
      </p:sp>
      <p:sp>
        <p:nvSpPr>
          <p:cNvPr id="16" name="Text 14"/>
          <p:cNvSpPr/>
          <p:nvPr/>
        </p:nvSpPr>
        <p:spPr>
          <a:xfrm>
            <a:off x="975360" y="4941824"/>
            <a:ext cx="3576320" cy="845312"/>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Indian Ocean</a:t>
            </a:r>
            <a:endParaRPr lang="en-US" sz="1200" dirty="0"/>
          </a:p>
        </p:txBody>
      </p:sp>
      <p:sp>
        <p:nvSpPr>
          <p:cNvPr id="17" name="Text 15"/>
          <p:cNvSpPr/>
          <p:nvPr/>
        </p:nvSpPr>
        <p:spPr>
          <a:xfrm>
            <a:off x="4714240" y="4941824"/>
            <a:ext cx="10566400" cy="845312"/>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The third-largest ocean. Located between Africa, Asia, and Australia.</a:t>
            </a:r>
            <a:endParaRPr lang="en-US" sz="1100" dirty="0"/>
          </a:p>
        </p:txBody>
      </p:sp>
      <p:sp>
        <p:nvSpPr>
          <p:cNvPr id="18" name="Shape 16"/>
          <p:cNvSpPr/>
          <p:nvPr/>
        </p:nvSpPr>
        <p:spPr>
          <a:xfrm>
            <a:off x="650240" y="6030976"/>
            <a:ext cx="14955520" cy="1007872"/>
          </a:xfrm>
          <a:prstGeom prst="roundRect">
            <a:avLst>
              <a:gd name="adj" fmla="val 12903"/>
            </a:avLst>
          </a:prstGeom>
          <a:solidFill>
            <a:srgbClr val="FFFFFF"/>
          </a:solidFill>
          <a:ln w="6350">
            <a:solidFill>
              <a:srgbClr val="D0D8E8"/>
            </a:solidFill>
            <a:prstDash val="solid"/>
          </a:ln>
        </p:spPr>
      </p:sp>
      <p:sp>
        <p:nvSpPr>
          <p:cNvPr id="19" name="Text 17"/>
          <p:cNvSpPr/>
          <p:nvPr/>
        </p:nvSpPr>
        <p:spPr>
          <a:xfrm>
            <a:off x="975360" y="6112256"/>
            <a:ext cx="3576320" cy="845312"/>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Arctic Ocean</a:t>
            </a:r>
            <a:endParaRPr lang="en-US" sz="1200" dirty="0"/>
          </a:p>
        </p:txBody>
      </p:sp>
      <p:sp>
        <p:nvSpPr>
          <p:cNvPr id="20" name="Text 18"/>
          <p:cNvSpPr/>
          <p:nvPr/>
        </p:nvSpPr>
        <p:spPr>
          <a:xfrm>
            <a:off x="4714240" y="6112256"/>
            <a:ext cx="10566400" cy="845312"/>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The smallest and coldest ocean. Located around the North Pole.</a:t>
            </a:r>
            <a:endParaRPr lang="en-US" sz="1100" dirty="0"/>
          </a:p>
        </p:txBody>
      </p:sp>
      <p:sp>
        <p:nvSpPr>
          <p:cNvPr id="21" name="Shape 19"/>
          <p:cNvSpPr/>
          <p:nvPr/>
        </p:nvSpPr>
        <p:spPr>
          <a:xfrm>
            <a:off x="650240" y="7201408"/>
            <a:ext cx="14955520" cy="1007872"/>
          </a:xfrm>
          <a:prstGeom prst="roundRect">
            <a:avLst>
              <a:gd name="adj" fmla="val 12903"/>
            </a:avLst>
          </a:prstGeom>
          <a:solidFill>
            <a:srgbClr val="EAF8FD"/>
          </a:solidFill>
          <a:ln w="6350">
            <a:solidFill>
              <a:srgbClr val="D0D8E8"/>
            </a:solidFill>
            <a:prstDash val="solid"/>
          </a:ln>
        </p:spPr>
      </p:sp>
      <p:sp>
        <p:nvSpPr>
          <p:cNvPr id="22" name="Text 20"/>
          <p:cNvSpPr/>
          <p:nvPr/>
        </p:nvSpPr>
        <p:spPr>
          <a:xfrm>
            <a:off x="975360" y="7282688"/>
            <a:ext cx="3576320" cy="845312"/>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Southern Ocean</a:t>
            </a:r>
            <a:endParaRPr lang="en-US" sz="1200" dirty="0"/>
          </a:p>
        </p:txBody>
      </p:sp>
      <p:sp>
        <p:nvSpPr>
          <p:cNvPr id="23" name="Text 21"/>
          <p:cNvSpPr/>
          <p:nvPr/>
        </p:nvSpPr>
        <p:spPr>
          <a:xfrm>
            <a:off x="4714240" y="7282688"/>
            <a:ext cx="10566400" cy="845312"/>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Surrounds Antarctica. The newest ocean to be officially named.</a:t>
            </a:r>
            <a:endParaRPr lang="en-US" sz="1100" dirty="0"/>
          </a:p>
        </p:txBody>
      </p:sp>
      <p:sp>
        <p:nvSpPr>
          <p:cNvPr id="24" name="Text 22"/>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8 / 20</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0F2F8"/>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DISCOVERY</a:t>
            </a:r>
            <a:endParaRPr lang="en-US" sz="800" dirty="0"/>
          </a:p>
        </p:txBody>
      </p:sp>
      <p:sp>
        <p:nvSpPr>
          <p:cNvPr id="7" name="Text 5"/>
          <p:cNvSpPr/>
          <p:nvPr/>
        </p:nvSpPr>
        <p:spPr>
          <a:xfrm>
            <a:off x="650240" y="1137920"/>
            <a:ext cx="97536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The Volunteer's Mistake</a:t>
            </a:r>
            <a:endParaRPr lang="en-US" sz="2200" dirty="0"/>
          </a:p>
        </p:txBody>
      </p:sp>
      <p:sp>
        <p:nvSpPr>
          <p:cNvPr id="8" name="Text 6"/>
          <p:cNvSpPr/>
          <p:nvPr/>
        </p:nvSpPr>
        <p:spPr>
          <a:xfrm>
            <a:off x="650240" y="1950720"/>
            <a:ext cx="1625600" cy="422656"/>
          </a:xfrm>
          <a:prstGeom prst="rect">
            <a:avLst/>
          </a:prstGeom>
          <a:noFill/>
          <a:ln/>
        </p:spPr>
        <p:txBody>
          <a:bodyPr wrap="square" lIns="0" tIns="0" rIns="0" bIns="0" rtlCol="0" anchor="ctr"/>
          <a:lstStyle/>
          <a:p>
            <a:pPr indent="0" marL="0">
              <a:buNone/>
            </a:pPr>
            <a:r>
              <a:rPr lang="en-US" sz="900" b="1" spc="120" kern="0" dirty="0">
                <a:solidFill>
                  <a:srgbClr val="E8636B"/>
                </a:solidFill>
                <a:latin typeface="Calibri" pitchFamily="34" charset="0"/>
                <a:ea typeface="Calibri" pitchFamily="34" charset="-122"/>
                <a:cs typeface="Calibri" pitchFamily="34" charset="-120"/>
              </a:rPr>
              <a:t>NARRATE</a:t>
            </a:r>
            <a:endParaRPr lang="en-US" sz="900" dirty="0"/>
          </a:p>
        </p:txBody>
      </p:sp>
      <p:sp>
        <p:nvSpPr>
          <p:cNvPr id="9" name="Shape 7"/>
          <p:cNvSpPr/>
          <p:nvPr/>
        </p:nvSpPr>
        <p:spPr>
          <a:xfrm>
            <a:off x="650240" y="2519680"/>
            <a:ext cx="8128000" cy="2926080"/>
          </a:xfrm>
          <a:prstGeom prst="roundRect">
            <a:avLst>
              <a:gd name="adj" fmla="val 6667"/>
            </a:avLst>
          </a:prstGeom>
          <a:solidFill>
            <a:srgbClr val="FFF3DC"/>
          </a:solidFill>
          <a:ln w="19050">
            <a:solidFill>
              <a:srgbClr val="F5E6C8"/>
            </a:solidFill>
            <a:prstDash val="solid"/>
          </a:ln>
        </p:spPr>
      </p:sp>
      <p:sp>
        <p:nvSpPr>
          <p:cNvPr id="10" name="Text 8"/>
          <p:cNvSpPr/>
          <p:nvPr/>
        </p:nvSpPr>
        <p:spPr>
          <a:xfrm>
            <a:off x="894080" y="2617216"/>
            <a:ext cx="76403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894080" y="2974848"/>
            <a:ext cx="7640320" cy="23571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young museum volunteer tried to put the labels up last night but got confused about which ocean was which."</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"He mixed up the Atlantic and the Pacific."</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"That's exactly why labels need to go in the right places -- visitors trust that the map is correct."</a:t>
            </a:r>
            <a:endParaRPr lang="en-US" sz="1200" dirty="0"/>
          </a:p>
        </p:txBody>
      </p:sp>
      <p:sp>
        <p:nvSpPr>
          <p:cNvPr id="12" name="Shape 10"/>
          <p:cNvSpPr/>
          <p:nvPr/>
        </p:nvSpPr>
        <p:spPr>
          <a:xfrm>
            <a:off x="650240" y="5852160"/>
            <a:ext cx="8128000" cy="1950720"/>
          </a:xfrm>
          <a:prstGeom prst="roundRect">
            <a:avLst>
              <a:gd name="adj" fmla="val 10000"/>
            </a:avLst>
          </a:prstGeom>
          <a:solidFill>
            <a:srgbClr val="FDE8E8"/>
          </a:solidFill>
          <a:ln w="12700">
            <a:solidFill>
              <a:srgbClr val="E8636B"/>
            </a:solidFill>
            <a:prstDash val="solid"/>
          </a:ln>
        </p:spPr>
      </p:sp>
      <p:sp>
        <p:nvSpPr>
          <p:cNvPr id="13" name="Text 11"/>
          <p:cNvSpPr/>
          <p:nvPr/>
        </p:nvSpPr>
        <p:spPr>
          <a:xfrm>
            <a:off x="975360" y="5933440"/>
            <a:ext cx="7477760" cy="357632"/>
          </a:xfrm>
          <a:prstGeom prst="rect">
            <a:avLst/>
          </a:prstGeom>
          <a:noFill/>
          <a:ln/>
        </p:spPr>
        <p:txBody>
          <a:bodyPr wrap="square" lIns="0" tIns="0" rIns="0" bIns="0"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THINK ABOUT IT</a:t>
            </a:r>
            <a:endParaRPr lang="en-US" sz="900" dirty="0"/>
          </a:p>
        </p:txBody>
      </p:sp>
      <p:sp>
        <p:nvSpPr>
          <p:cNvPr id="14" name="Text 12"/>
          <p:cNvSpPr/>
          <p:nvPr/>
        </p:nvSpPr>
        <p:spPr>
          <a:xfrm>
            <a:off x="975360" y="6339840"/>
            <a:ext cx="7477760" cy="1300480"/>
          </a:xfrm>
          <a:prstGeom prst="rect">
            <a:avLst/>
          </a:prstGeom>
          <a:noFill/>
          <a:ln/>
        </p:spPr>
        <p:txBody>
          <a:bodyPr wrap="square" lIns="0" tIns="0" rIns="0" bIns="0" rtlCol="0" anchor="t"/>
          <a:lstStyle/>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What could go wrong if a visitor trusted a label that was in the wrong place? What if they planned a trip using the wrong ocean name?</a:t>
            </a:r>
            <a:endParaRPr lang="en-US" sz="1200" dirty="0"/>
          </a:p>
        </p:txBody>
      </p:sp>
      <p:sp>
        <p:nvSpPr>
          <p:cNvPr id="15" name="Shape 13"/>
          <p:cNvSpPr/>
          <p:nvPr/>
        </p:nvSpPr>
        <p:spPr>
          <a:xfrm>
            <a:off x="9265920" y="2519680"/>
            <a:ext cx="6177280" cy="5201920"/>
          </a:xfrm>
          <a:prstGeom prst="roundRect">
            <a:avLst>
              <a:gd name="adj" fmla="val 3750"/>
            </a:avLst>
          </a:prstGeom>
          <a:solidFill>
            <a:srgbClr val="E2E8F4"/>
          </a:solidFill>
          <a:ln w="19050">
            <a:solidFill>
              <a:srgbClr val="B0B8CC"/>
            </a:solidFill>
            <a:prstDash val="dash"/>
          </a:ln>
        </p:spPr>
      </p:sp>
      <p:sp>
        <p:nvSpPr>
          <p:cNvPr id="16" name="Text 14"/>
          <p:cNvSpPr/>
          <p:nvPr/>
        </p:nvSpPr>
        <p:spPr>
          <a:xfrm>
            <a:off x="9265920" y="2519680"/>
            <a:ext cx="617728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7" name="Text 15"/>
          <p:cNvSpPr/>
          <p:nvPr/>
        </p:nvSpPr>
        <p:spPr>
          <a:xfrm>
            <a:off x="9509760" y="3007360"/>
            <a:ext cx="5689600" cy="45516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world map with 'Atlantic' and 'Pacific'</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labels swapped to the wrong oceans.</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Clearly wrong placement for discussion.</a:t>
            </a:r>
            <a:endParaRPr lang="en-US" sz="1100" dirty="0"/>
          </a:p>
        </p:txBody>
      </p:sp>
      <p:sp>
        <p:nvSpPr>
          <p:cNvPr id="18" name="Text 16"/>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9 / 20</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FFFFF"/>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DISCUSSION</a:t>
            </a:r>
            <a:endParaRPr lang="en-US" sz="800" dirty="0"/>
          </a:p>
        </p:txBody>
      </p:sp>
      <p:sp>
        <p:nvSpPr>
          <p:cNvPr id="7" name="Text 5"/>
          <p:cNvSpPr/>
          <p:nvPr/>
        </p:nvSpPr>
        <p:spPr>
          <a:xfrm>
            <a:off x="650240" y="1137920"/>
            <a:ext cx="97536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Why Correct Labels Matter</a:t>
            </a:r>
            <a:endParaRPr lang="en-US" sz="2200" dirty="0"/>
          </a:p>
        </p:txBody>
      </p:sp>
      <p:sp>
        <p:nvSpPr>
          <p:cNvPr id="8" name="Shape 6"/>
          <p:cNvSpPr/>
          <p:nvPr/>
        </p:nvSpPr>
        <p:spPr>
          <a:xfrm>
            <a:off x="650240" y="2113280"/>
            <a:ext cx="7315200" cy="2926080"/>
          </a:xfrm>
          <a:prstGeom prst="roundRect">
            <a:avLst>
              <a:gd name="adj" fmla="val 8333"/>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975360" y="2275840"/>
            <a:ext cx="66649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975360" y="2731008"/>
            <a:ext cx="6664960" cy="214579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happens when a visitor trusts a label that is wrong?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is accuracy an act of service to museum visitors?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does labeling help people understand how the world is organized?</a:t>
            </a:r>
            <a:endParaRPr lang="en-US" sz="1100" dirty="0"/>
          </a:p>
        </p:txBody>
      </p:sp>
      <p:sp>
        <p:nvSpPr>
          <p:cNvPr id="11" name="Shape 9"/>
          <p:cNvSpPr/>
          <p:nvPr/>
        </p:nvSpPr>
        <p:spPr>
          <a:xfrm>
            <a:off x="8453120" y="2113280"/>
            <a:ext cx="6990080" cy="4226560"/>
          </a:xfrm>
          <a:prstGeom prst="roundRect">
            <a:avLst>
              <a:gd name="adj" fmla="val 4615"/>
            </a:avLst>
          </a:prstGeom>
          <a:solidFill>
            <a:srgbClr val="E3F8ED"/>
          </a:solidFill>
          <a:ln w="12700">
            <a:solidFill>
              <a:srgbClr val="34B76F"/>
            </a:solidFill>
            <a:prstDash val="solid"/>
          </a:ln>
        </p:spPr>
      </p:sp>
      <p:sp>
        <p:nvSpPr>
          <p:cNvPr id="12" name="Text 10"/>
          <p:cNvSpPr/>
          <p:nvPr/>
        </p:nvSpPr>
        <p:spPr>
          <a:xfrm>
            <a:off x="8778240" y="2194560"/>
            <a:ext cx="6339840" cy="357632"/>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KEY IDEA</a:t>
            </a:r>
            <a:endParaRPr lang="en-US" sz="900" dirty="0"/>
          </a:p>
        </p:txBody>
      </p:sp>
      <p:sp>
        <p:nvSpPr>
          <p:cNvPr id="13" name="Text 11"/>
          <p:cNvSpPr/>
          <p:nvPr/>
        </p:nvSpPr>
        <p:spPr>
          <a:xfrm>
            <a:off x="8778240" y="2763520"/>
            <a:ext cx="6339840" cy="1625600"/>
          </a:xfrm>
          <a:prstGeom prst="rect">
            <a:avLst/>
          </a:prstGeom>
          <a:noFill/>
          <a:ln/>
        </p:spPr>
        <p:txBody>
          <a:bodyPr wrap="square" lIns="0" tIns="0" rIns="0" bIns="0" rtlCol="0" anchor="t"/>
          <a:lstStyle/>
          <a:p>
            <a:pPr indent="0" marL="0">
              <a:lnSpc>
                <a:spcPct val="120000"/>
              </a:lnSpc>
              <a:buNone/>
            </a:pPr>
            <a:r>
              <a:rPr lang="en-US" sz="1300" dirty="0">
                <a:solidFill>
                  <a:srgbClr val="0E1C42"/>
                </a:solidFill>
                <a:latin typeface="Calibri" pitchFamily="34" charset="0"/>
                <a:ea typeface="Calibri" pitchFamily="34" charset="-122"/>
                <a:cs typeface="Calibri" pitchFamily="34" charset="-120"/>
              </a:rPr>
              <a:t>Earth has seven continents and five oceans. Labeling them on a map helps people understand where places are and how the world is organized.</a:t>
            </a:r>
            <a:endParaRPr lang="en-US" sz="1300" dirty="0"/>
          </a:p>
        </p:txBody>
      </p:sp>
      <p:sp>
        <p:nvSpPr>
          <p:cNvPr id="14" name="Text 12"/>
          <p:cNvSpPr/>
          <p:nvPr/>
        </p:nvSpPr>
        <p:spPr>
          <a:xfrm>
            <a:off x="8778240" y="4551680"/>
            <a:ext cx="6339840" cy="48768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This connects to your assignment!</a:t>
            </a:r>
            <a:endParaRPr lang="en-US" sz="1100" dirty="0"/>
          </a:p>
        </p:txBody>
      </p:sp>
      <p:sp>
        <p:nvSpPr>
          <p:cNvPr id="15" name="Text 13"/>
          <p:cNvSpPr/>
          <p:nvPr/>
        </p:nvSpPr>
        <p:spPr>
          <a:xfrm>
            <a:off x="8778240" y="5039360"/>
            <a:ext cx="6339840" cy="97536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You'll need to explain why labels matter in your Curator Task.</a:t>
            </a:r>
            <a:endParaRPr lang="en-US" sz="1100" dirty="0"/>
          </a:p>
        </p:txBody>
      </p:sp>
      <p:sp>
        <p:nvSpPr>
          <p:cNvPr id="16" name="Shape 14"/>
          <p:cNvSpPr/>
          <p:nvPr/>
        </p:nvSpPr>
        <p:spPr>
          <a:xfrm>
            <a:off x="650240" y="5364480"/>
            <a:ext cx="7315200" cy="1625600"/>
          </a:xfrm>
          <a:prstGeom prst="roundRect">
            <a:avLst>
              <a:gd name="adj" fmla="val 12000"/>
            </a:avLst>
          </a:prstGeom>
          <a:solidFill>
            <a:srgbClr val="FFF3DC"/>
          </a:solidFill>
          <a:ln w="19050">
            <a:solidFill>
              <a:srgbClr val="F5E6C8"/>
            </a:solidFill>
            <a:prstDash val="solid"/>
          </a:ln>
        </p:spPr>
      </p:sp>
      <p:sp>
        <p:nvSpPr>
          <p:cNvPr id="17" name="Text 15"/>
          <p:cNvSpPr/>
          <p:nvPr/>
        </p:nvSpPr>
        <p:spPr>
          <a:xfrm>
            <a:off x="894080" y="5462016"/>
            <a:ext cx="68275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8" name="Text 16"/>
          <p:cNvSpPr/>
          <p:nvPr/>
        </p:nvSpPr>
        <p:spPr>
          <a:xfrm>
            <a:off x="894080" y="5819648"/>
            <a:ext cx="6827520" cy="10566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"Share one reason labels matter with your partner."</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"Who benefits from accurate labels?"</a:t>
            </a:r>
            <a:endParaRPr lang="en-US" sz="1200" dirty="0"/>
          </a:p>
        </p:txBody>
      </p:sp>
      <p:sp>
        <p:nvSpPr>
          <p:cNvPr id="19" name="Text 17"/>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10 / 20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FFFFF"/>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WHY IT MATTERS</a:t>
            </a:r>
            <a:endParaRPr lang="en-US" sz="800" dirty="0"/>
          </a:p>
        </p:txBody>
      </p:sp>
      <p:sp>
        <p:nvSpPr>
          <p:cNvPr id="7" name="Text 5"/>
          <p:cNvSpPr/>
          <p:nvPr/>
        </p:nvSpPr>
        <p:spPr>
          <a:xfrm>
            <a:off x="650240" y="1137920"/>
            <a:ext cx="146304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Labels Help Visitors Understand the World</a:t>
            </a:r>
            <a:endParaRPr lang="en-US" sz="2200" dirty="0"/>
          </a:p>
        </p:txBody>
      </p:sp>
      <p:sp>
        <p:nvSpPr>
          <p:cNvPr id="8" name="Shape 6"/>
          <p:cNvSpPr/>
          <p:nvPr/>
        </p:nvSpPr>
        <p:spPr>
          <a:xfrm>
            <a:off x="650240" y="2113280"/>
            <a:ext cx="7315200" cy="5364480"/>
          </a:xfrm>
          <a:prstGeom prst="roundRect">
            <a:avLst>
              <a:gd name="adj" fmla="val 3636"/>
            </a:avLst>
          </a:prstGeom>
          <a:solidFill>
            <a:srgbClr val="E2E8F4"/>
          </a:solidFill>
          <a:ln w="19050">
            <a:solidFill>
              <a:srgbClr val="B0B8CC"/>
            </a:solidFill>
            <a:prstDash val="dash"/>
          </a:ln>
        </p:spPr>
      </p:sp>
      <p:sp>
        <p:nvSpPr>
          <p:cNvPr id="9" name="Text 7"/>
          <p:cNvSpPr/>
          <p:nvPr/>
        </p:nvSpPr>
        <p:spPr>
          <a:xfrm>
            <a:off x="650240" y="2113280"/>
            <a:ext cx="731520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894080" y="2600960"/>
            <a:ext cx="6827520" cy="47142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Labeled political world map showing all 7 continents</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and 5 oceans with clear text labels.</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Save as: reference-3-05-01-labeled-world-map.jpg</a:t>
            </a:r>
            <a:endParaRPr lang="en-US" sz="1100" dirty="0"/>
          </a:p>
        </p:txBody>
      </p:sp>
      <p:sp>
        <p:nvSpPr>
          <p:cNvPr id="11" name="Shape 9"/>
          <p:cNvSpPr/>
          <p:nvPr/>
        </p:nvSpPr>
        <p:spPr>
          <a:xfrm>
            <a:off x="8453120" y="2113280"/>
            <a:ext cx="6990080" cy="2438400"/>
          </a:xfrm>
          <a:prstGeom prst="roundRect">
            <a:avLst>
              <a:gd name="adj" fmla="val 8000"/>
            </a:avLst>
          </a:prstGeom>
          <a:solidFill>
            <a:srgbClr val="FFF3DC"/>
          </a:solidFill>
          <a:ln/>
        </p:spPr>
      </p:sp>
      <p:sp>
        <p:nvSpPr>
          <p:cNvPr id="12" name="Text 10"/>
          <p:cNvSpPr/>
          <p:nvPr/>
        </p:nvSpPr>
        <p:spPr>
          <a:xfrm>
            <a:off x="8778240" y="2194560"/>
            <a:ext cx="633984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THEN AND NOW</a:t>
            </a:r>
            <a:endParaRPr lang="en-US" sz="900" dirty="0"/>
          </a:p>
        </p:txBody>
      </p:sp>
      <p:sp>
        <p:nvSpPr>
          <p:cNvPr id="13" name="Text 11"/>
          <p:cNvSpPr/>
          <p:nvPr/>
        </p:nvSpPr>
        <p:spPr>
          <a:xfrm>
            <a:off x="8778240" y="2682240"/>
            <a:ext cx="6339840" cy="1625600"/>
          </a:xfrm>
          <a:prstGeom prst="rect">
            <a:avLst/>
          </a:prstGeom>
          <a:noFill/>
          <a:ln/>
        </p:spPr>
        <p:txBody>
          <a:bodyPr wrap="square" lIns="0" tIns="0" rIns="0" bIns="0" rtlCol="0" anchor="t"/>
          <a:lstStyle/>
          <a:p>
            <a:pPr indent="0" marL="0">
              <a:lnSpc>
                <a:spcPct val="115000"/>
              </a:lnSpc>
              <a:buNone/>
            </a:pPr>
            <a:r>
              <a:rPr lang="en-US" sz="1100" dirty="0">
                <a:solidFill>
                  <a:srgbClr val="0E1C42"/>
                </a:solidFill>
                <a:latin typeface="Calibri" pitchFamily="34" charset="0"/>
                <a:ea typeface="Calibri" pitchFamily="34" charset="-122"/>
                <a:cs typeface="Calibri" pitchFamily="34" charset="-120"/>
              </a:rPr>
              <a:t>Long ago, many people didn't know all seven continents existed. Mapmakers drew only the parts of the world they had visited. Today, satellites show us the whole Earth at once.</a:t>
            </a:r>
            <a:endParaRPr lang="en-US" sz="1100" dirty="0"/>
          </a:p>
        </p:txBody>
      </p:sp>
      <p:sp>
        <p:nvSpPr>
          <p:cNvPr id="14" name="Shape 12"/>
          <p:cNvSpPr/>
          <p:nvPr/>
        </p:nvSpPr>
        <p:spPr>
          <a:xfrm>
            <a:off x="8453120" y="4876800"/>
            <a:ext cx="6990080" cy="2438400"/>
          </a:xfrm>
          <a:prstGeom prst="roundRect">
            <a:avLst>
              <a:gd name="adj" fmla="val 10000"/>
            </a:avLst>
          </a:prstGeom>
          <a:solidFill>
            <a:srgbClr val="1A2D5A"/>
          </a:solidFill>
          <a:ln/>
          <a:effectLst>
            <a:outerShdw sx="100000" sy="100000" kx="0" ky="0" algn="bl" rotWithShape="0" blurRad="101600" dist="38100" dir="8100000">
              <a:srgbClr val="000000">
                <a:alpha val="20000"/>
              </a:srgbClr>
            </a:outerShdw>
          </a:effectLst>
        </p:spPr>
      </p:sp>
      <p:sp>
        <p:nvSpPr>
          <p:cNvPr id="15" name="Text 13"/>
          <p:cNvSpPr/>
          <p:nvPr/>
        </p:nvSpPr>
        <p:spPr>
          <a:xfrm>
            <a:off x="8778240" y="5039360"/>
            <a:ext cx="633984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6" name="Text 14"/>
          <p:cNvSpPr/>
          <p:nvPr/>
        </p:nvSpPr>
        <p:spPr>
          <a:xfrm>
            <a:off x="8778240" y="5494528"/>
            <a:ext cx="6339840" cy="165811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stayed the same about the human need to name and label places?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 we still label maps today, even with satellites?</a:t>
            </a:r>
            <a:endParaRPr lang="en-US" sz="1100" dirty="0"/>
          </a:p>
        </p:txBody>
      </p:sp>
      <p:sp>
        <p:nvSpPr>
          <p:cNvPr id="17" name="Shape 15"/>
          <p:cNvSpPr/>
          <p:nvPr/>
        </p:nvSpPr>
        <p:spPr>
          <a:xfrm>
            <a:off x="650240" y="7721600"/>
            <a:ext cx="14955520" cy="731520"/>
          </a:xfrm>
          <a:prstGeom prst="roundRect">
            <a:avLst>
              <a:gd name="adj" fmla="val 17778"/>
            </a:avLst>
          </a:prstGeom>
          <a:solidFill>
            <a:srgbClr val="EAF8FD"/>
          </a:solidFill>
          <a:ln/>
        </p:spPr>
      </p:sp>
      <p:sp>
        <p:nvSpPr>
          <p:cNvPr id="18" name="Text 16"/>
          <p:cNvSpPr/>
          <p:nvPr/>
        </p:nvSpPr>
        <p:spPr>
          <a:xfrm>
            <a:off x="975360" y="7770368"/>
            <a:ext cx="14305280" cy="650240"/>
          </a:xfrm>
          <a:prstGeom prst="rect">
            <a:avLst/>
          </a:prstGeom>
          <a:noFill/>
          <a:ln/>
        </p:spPr>
        <p:txBody>
          <a:bodyPr wrap="square" lIns="0" tIns="0" rIns="0" bIns="0" rtlCol="0" anchor="ctr"/>
          <a:lstStyle/>
          <a:p>
            <a:pPr indent="0" marL="0">
              <a:buNone/>
            </a:pPr>
            <a:r>
              <a:rPr lang="en-US" sz="1000" i="1" dirty="0">
                <a:solidFill>
                  <a:srgbClr val="1A8A7D"/>
                </a:solidFill>
                <a:latin typeface="Calibri" pitchFamily="34" charset="0"/>
                <a:ea typeface="Calibri" pitchFamily="34" charset="-122"/>
                <a:cs typeface="Calibri" pitchFamily="34" charset="-120"/>
              </a:rPr>
              <a:t>The Pacific Ocean is so wide that if you flew across it in an airplane, the trip would take longer than flying from New York to London and back!</a:t>
            </a:r>
            <a:endParaRPr lang="en-US" sz="1000" dirty="0"/>
          </a:p>
        </p:txBody>
      </p:sp>
      <p:sp>
        <p:nvSpPr>
          <p:cNvPr id="19" name="Text 17"/>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11 / 20</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0F2F8"/>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GUIDED PRACTICE</a:t>
            </a:r>
            <a:endParaRPr lang="en-US" sz="800" dirty="0"/>
          </a:p>
        </p:txBody>
      </p:sp>
      <p:sp>
        <p:nvSpPr>
          <p:cNvPr id="7" name="Text 5"/>
          <p:cNvSpPr/>
          <p:nvPr/>
        </p:nvSpPr>
        <p:spPr>
          <a:xfrm>
            <a:off x="650240" y="1137920"/>
            <a:ext cx="146304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Model: Name All Seven Continents</a:t>
            </a:r>
            <a:endParaRPr lang="en-US" sz="2200" dirty="0"/>
          </a:p>
        </p:txBody>
      </p:sp>
      <p:sp>
        <p:nvSpPr>
          <p:cNvPr id="8" name="Text 6"/>
          <p:cNvSpPr/>
          <p:nvPr/>
        </p:nvSpPr>
        <p:spPr>
          <a:xfrm>
            <a:off x="650240" y="1950720"/>
            <a:ext cx="2926080" cy="422656"/>
          </a:xfrm>
          <a:prstGeom prst="rect">
            <a:avLst/>
          </a:prstGeom>
          <a:noFill/>
          <a:ln/>
        </p:spPr>
        <p:txBody>
          <a:bodyPr wrap="square" lIns="0" tIns="0" rIns="0" bIns="0" rtlCol="0" anchor="ctr"/>
          <a:lstStyle/>
          <a:p>
            <a:pPr indent="0" marL="0">
              <a:buNone/>
            </a:pPr>
            <a:r>
              <a:rPr lang="en-US" sz="900" b="1" spc="120" kern="0" dirty="0">
                <a:solidFill>
                  <a:srgbClr val="8B6FC0"/>
                </a:solidFill>
                <a:latin typeface="Calibri" pitchFamily="34" charset="0"/>
                <a:ea typeface="Calibri" pitchFamily="34" charset="-122"/>
                <a:cs typeface="Calibri" pitchFamily="34" charset="-120"/>
              </a:rPr>
              <a:t>TEACHER MODELS</a:t>
            </a:r>
            <a:endParaRPr lang="en-US" sz="900" dirty="0"/>
          </a:p>
        </p:txBody>
      </p:sp>
      <p:sp>
        <p:nvSpPr>
          <p:cNvPr id="9" name="Shape 7"/>
          <p:cNvSpPr/>
          <p:nvPr/>
        </p:nvSpPr>
        <p:spPr>
          <a:xfrm>
            <a:off x="650240" y="2519680"/>
            <a:ext cx="14955520" cy="1950720"/>
          </a:xfrm>
          <a:prstGeom prst="roundRect">
            <a:avLst>
              <a:gd name="adj" fmla="val 10000"/>
            </a:avLst>
          </a:prstGeom>
          <a:solidFill>
            <a:srgbClr val="F0E8FF"/>
          </a:solidFill>
          <a:ln/>
        </p:spPr>
      </p:sp>
      <p:sp>
        <p:nvSpPr>
          <p:cNvPr id="10" name="Text 8"/>
          <p:cNvSpPr/>
          <p:nvPr/>
        </p:nvSpPr>
        <p:spPr>
          <a:xfrm>
            <a:off x="975360" y="2600960"/>
            <a:ext cx="14305280" cy="568960"/>
          </a:xfrm>
          <a:prstGeom prst="rect">
            <a:avLst/>
          </a:prstGeom>
          <a:noFill/>
          <a:ln/>
        </p:spPr>
        <p:txBody>
          <a:bodyPr wrap="square" lIns="0" tIns="0" rIns="0" bIns="0" rtlCol="0" anchor="ctr"/>
          <a:lstStyle/>
          <a:p>
            <a:pPr indent="0" marL="0">
              <a:buNone/>
            </a:pPr>
            <a:r>
              <a:rPr lang="en-US" sz="1200" i="1" dirty="0">
                <a:solidFill>
                  <a:srgbClr val="8B6FC0"/>
                </a:solidFill>
                <a:latin typeface="Calibri" pitchFamily="34" charset="0"/>
                <a:ea typeface="Calibri" pitchFamily="34" charset="-122"/>
                <a:cs typeface="Calibri" pitchFamily="34" charset="-120"/>
              </a:rPr>
              <a:t>Watch me think aloud: "I know there are 7 continents. Let me name them all, starting with where we live..."</a:t>
            </a:r>
            <a:endParaRPr lang="en-US" sz="1200" dirty="0"/>
          </a:p>
        </p:txBody>
      </p:sp>
      <p:sp>
        <p:nvSpPr>
          <p:cNvPr id="11" name="Text 9"/>
          <p:cNvSpPr/>
          <p:nvPr/>
        </p:nvSpPr>
        <p:spPr>
          <a:xfrm>
            <a:off x="975360" y="3251200"/>
            <a:ext cx="14305280" cy="568960"/>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North America, South America, Europe, Asia, Africa, Australia, Antarctica</a:t>
            </a:r>
            <a:endParaRPr lang="en-US" sz="1400" dirty="0"/>
          </a:p>
        </p:txBody>
      </p:sp>
      <p:sp>
        <p:nvSpPr>
          <p:cNvPr id="12" name="Text 10"/>
          <p:cNvSpPr/>
          <p:nvPr/>
        </p:nvSpPr>
        <p:spPr>
          <a:xfrm>
            <a:off x="975360" y="3820160"/>
            <a:ext cx="14305280" cy="487680"/>
          </a:xfrm>
          <a:prstGeom prst="rect">
            <a:avLst/>
          </a:prstGeom>
          <a:noFill/>
          <a:ln/>
        </p:spPr>
        <p:txBody>
          <a:bodyPr wrap="square" lIns="0" tIns="0" rIns="0" bIns="0" rtlCol="0" anchor="ctr"/>
          <a:lstStyle/>
          <a:p>
            <a:pPr indent="0" marL="0">
              <a:buNone/>
            </a:pPr>
            <a:r>
              <a:rPr lang="en-US" sz="1200" i="1" dirty="0">
                <a:solidFill>
                  <a:srgbClr val="8B6FC0"/>
                </a:solidFill>
                <a:latin typeface="Calibri" pitchFamily="34" charset="0"/>
                <a:ea typeface="Calibri" pitchFamily="34" charset="-122"/>
                <a:cs typeface="Calibri" pitchFamily="34" charset="-120"/>
              </a:rPr>
              <a:t>"Which one is the largest? Asia! I remember because it has the most people and the tallest mountains."</a:t>
            </a:r>
            <a:endParaRPr lang="en-US" sz="1200" dirty="0"/>
          </a:p>
        </p:txBody>
      </p:sp>
      <p:sp>
        <p:nvSpPr>
          <p:cNvPr id="13" name="Shape 11"/>
          <p:cNvSpPr/>
          <p:nvPr/>
        </p:nvSpPr>
        <p:spPr>
          <a:xfrm>
            <a:off x="650240" y="4795520"/>
            <a:ext cx="14955520" cy="812800"/>
          </a:xfrm>
          <a:prstGeom prst="roundRect">
            <a:avLst>
              <a:gd name="adj" fmla="val 16000"/>
            </a:avLst>
          </a:prstGeom>
          <a:solidFill>
            <a:srgbClr val="D4943A">
              <a:alpha val="15000"/>
            </a:srgbClr>
          </a:solidFill>
          <a:ln w="12700">
            <a:solidFill>
              <a:srgbClr val="D4943A"/>
            </a:solidFill>
            <a:prstDash val="solid"/>
          </a:ln>
        </p:spPr>
      </p:sp>
      <p:sp>
        <p:nvSpPr>
          <p:cNvPr id="14" name="Text 12"/>
          <p:cNvSpPr/>
          <p:nvPr/>
        </p:nvSpPr>
        <p:spPr>
          <a:xfrm>
            <a:off x="975360" y="4844288"/>
            <a:ext cx="14305280" cy="731520"/>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This models exactly what students need to do for Evidence Q1: Name all seven continents. Which one is the largest?</a:t>
            </a:r>
            <a:endParaRPr lang="en-US" sz="1100" dirty="0"/>
          </a:p>
        </p:txBody>
      </p:sp>
      <p:sp>
        <p:nvSpPr>
          <p:cNvPr id="15" name="Shape 13"/>
          <p:cNvSpPr/>
          <p:nvPr/>
        </p:nvSpPr>
        <p:spPr>
          <a:xfrm>
            <a:off x="650240" y="5852160"/>
            <a:ext cx="6990080" cy="2438400"/>
          </a:xfrm>
          <a:prstGeom prst="roundRect">
            <a:avLst>
              <a:gd name="adj" fmla="val 8000"/>
            </a:avLst>
          </a:prstGeom>
          <a:solidFill>
            <a:srgbClr val="E2E8F4"/>
          </a:solidFill>
          <a:ln w="19050">
            <a:solidFill>
              <a:srgbClr val="B0B8CC"/>
            </a:solidFill>
            <a:prstDash val="dash"/>
          </a:ln>
        </p:spPr>
      </p:sp>
      <p:sp>
        <p:nvSpPr>
          <p:cNvPr id="16" name="Text 14"/>
          <p:cNvSpPr/>
          <p:nvPr/>
        </p:nvSpPr>
        <p:spPr>
          <a:xfrm>
            <a:off x="650240" y="5852160"/>
            <a:ext cx="699008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7" name="Text 15"/>
          <p:cNvSpPr/>
          <p:nvPr/>
        </p:nvSpPr>
        <p:spPr>
          <a:xfrm>
            <a:off x="894080" y="6339840"/>
            <a:ext cx="6502400" cy="17881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World map with numbered labels (1-7)</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pointing to each continent location.</a:t>
            </a:r>
            <a:endParaRPr lang="en-US" sz="1100" dirty="0"/>
          </a:p>
        </p:txBody>
      </p:sp>
      <p:sp>
        <p:nvSpPr>
          <p:cNvPr id="18" name="Shape 16"/>
          <p:cNvSpPr/>
          <p:nvPr/>
        </p:nvSpPr>
        <p:spPr>
          <a:xfrm>
            <a:off x="8128000" y="5852160"/>
            <a:ext cx="7315200" cy="2438400"/>
          </a:xfrm>
          <a:prstGeom prst="roundRect">
            <a:avLst>
              <a:gd name="adj" fmla="val 8000"/>
            </a:avLst>
          </a:prstGeom>
          <a:solidFill>
            <a:srgbClr val="FFFFFF"/>
          </a:solidFill>
          <a:ln w="12700">
            <a:solidFill>
              <a:srgbClr val="8B6FC0"/>
            </a:solidFill>
            <a:prstDash val="solid"/>
          </a:ln>
        </p:spPr>
      </p:sp>
      <p:sp>
        <p:nvSpPr>
          <p:cNvPr id="19" name="Text 17"/>
          <p:cNvSpPr/>
          <p:nvPr/>
        </p:nvSpPr>
        <p:spPr>
          <a:xfrm>
            <a:off x="8453120" y="5933440"/>
            <a:ext cx="6664960" cy="357632"/>
          </a:xfrm>
          <a:prstGeom prst="rect">
            <a:avLst/>
          </a:prstGeom>
          <a:noFill/>
          <a:ln/>
        </p:spPr>
        <p:txBody>
          <a:bodyPr wrap="square" lIns="0" tIns="0" rIns="0" bIns="0"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MEMORY TRICK</a:t>
            </a:r>
            <a:endParaRPr lang="en-US" sz="900" dirty="0"/>
          </a:p>
        </p:txBody>
      </p:sp>
      <p:sp>
        <p:nvSpPr>
          <p:cNvPr id="20" name="Text 18"/>
          <p:cNvSpPr/>
          <p:nvPr/>
        </p:nvSpPr>
        <p:spPr>
          <a:xfrm>
            <a:off x="8453120" y="6421120"/>
            <a:ext cx="6664960" cy="1706880"/>
          </a:xfrm>
          <a:prstGeom prst="rect">
            <a:avLst/>
          </a:prstGeom>
          <a:noFill/>
          <a:ln/>
        </p:spPr>
        <p:txBody>
          <a:bodyPr wrap="square" lIns="0" tIns="0" rIns="0" bIns="0" rtlCol="0" anchor="t"/>
          <a:lstStyle/>
          <a:p>
            <a:pPr indent="0" marL="0">
              <a:lnSpc>
                <a:spcPct val="115000"/>
              </a:lnSpc>
              <a:buNone/>
            </a:pPr>
            <a:r>
              <a:rPr lang="en-US" sz="1000" dirty="0">
                <a:solidFill>
                  <a:srgbClr val="0E1C42"/>
                </a:solidFill>
                <a:latin typeface="Calibri" pitchFamily="34" charset="0"/>
                <a:ea typeface="Calibri" pitchFamily="34" charset="-122"/>
                <a:cs typeface="Calibri" pitchFamily="34" charset="-120"/>
              </a:rPr>
              <a:t>Start with where you live (North America), then go south, jump across the Atlantic to Europe, slide over to Asia, down to Africa, across to Australia, and finally down to Antarctica at the bottom.</a:t>
            </a:r>
            <a:endParaRPr lang="en-US" sz="1000" dirty="0"/>
          </a:p>
        </p:txBody>
      </p:sp>
      <p:sp>
        <p:nvSpPr>
          <p:cNvPr id="21" name="Text 19"/>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12 / 20</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FFFFF"/>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GUIDED PRACTICE</a:t>
            </a:r>
            <a:endParaRPr lang="en-US" sz="800" dirty="0"/>
          </a:p>
        </p:txBody>
      </p:sp>
      <p:sp>
        <p:nvSpPr>
          <p:cNvPr id="7" name="Text 5"/>
          <p:cNvSpPr/>
          <p:nvPr/>
        </p:nvSpPr>
        <p:spPr>
          <a:xfrm>
            <a:off x="650240" y="1137920"/>
            <a:ext cx="97536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We Try: Match Continents</a:t>
            </a:r>
            <a:endParaRPr lang="en-US" sz="2200" dirty="0"/>
          </a:p>
        </p:txBody>
      </p:sp>
      <p:sp>
        <p:nvSpPr>
          <p:cNvPr id="8" name="Text 6"/>
          <p:cNvSpPr/>
          <p:nvPr/>
        </p:nvSpPr>
        <p:spPr>
          <a:xfrm>
            <a:off x="650240" y="1950720"/>
            <a:ext cx="1788160" cy="422656"/>
          </a:xfrm>
          <a:prstGeom prst="rect">
            <a:avLst/>
          </a:prstGeom>
          <a:noFill/>
          <a:ln/>
        </p:spPr>
        <p:txBody>
          <a:bodyPr wrap="square" lIns="0" tIns="0" rIns="0" bIns="0" rtlCol="0" anchor="ctr"/>
          <a:lstStyle/>
          <a:p>
            <a:pPr indent="0" marL="0">
              <a:buNone/>
            </a:pPr>
            <a:r>
              <a:rPr lang="en-US" sz="900" b="1" spc="120" kern="0" dirty="0">
                <a:solidFill>
                  <a:srgbClr val="1A8A7D"/>
                </a:solidFill>
                <a:latin typeface="Calibri" pitchFamily="34" charset="0"/>
                <a:ea typeface="Calibri" pitchFamily="34" charset="-122"/>
                <a:cs typeface="Calibri" pitchFamily="34" charset="-120"/>
              </a:rPr>
              <a:t>TOGETHER</a:t>
            </a:r>
            <a:endParaRPr lang="en-US" sz="900" dirty="0"/>
          </a:p>
        </p:txBody>
      </p:sp>
      <p:sp>
        <p:nvSpPr>
          <p:cNvPr id="9" name="Text 7"/>
          <p:cNvSpPr/>
          <p:nvPr/>
        </p:nvSpPr>
        <p:spPr>
          <a:xfrm>
            <a:off x="650240" y="2438400"/>
            <a:ext cx="14630400" cy="48768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I'll read the description. You tell me which continent it is.</a:t>
            </a:r>
            <a:endParaRPr lang="en-US" sz="1200" dirty="0"/>
          </a:p>
        </p:txBody>
      </p:sp>
      <p:sp>
        <p:nvSpPr>
          <p:cNvPr id="10" name="Shape 8"/>
          <p:cNvSpPr/>
          <p:nvPr/>
        </p:nvSpPr>
        <p:spPr>
          <a:xfrm>
            <a:off x="650240" y="3169920"/>
            <a:ext cx="11379200" cy="1137920"/>
          </a:xfrm>
          <a:prstGeom prst="roundRect">
            <a:avLst>
              <a:gd name="adj" fmla="val 11429"/>
            </a:avLst>
          </a:prstGeom>
          <a:solidFill>
            <a:srgbClr val="EAF8FD"/>
          </a:solidFill>
          <a:ln/>
        </p:spPr>
      </p:sp>
      <p:sp>
        <p:nvSpPr>
          <p:cNvPr id="11" name="Text 9"/>
          <p:cNvSpPr/>
          <p:nvPr/>
        </p:nvSpPr>
        <p:spPr>
          <a:xfrm>
            <a:off x="975360" y="3251200"/>
            <a:ext cx="9428480" cy="97536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The biggest continent. Home to the Himalayas. More people live here than anywhere else.</a:t>
            </a:r>
            <a:endParaRPr lang="en-US" sz="1100" dirty="0"/>
          </a:p>
        </p:txBody>
      </p:sp>
      <p:sp>
        <p:nvSpPr>
          <p:cNvPr id="12" name="Shape 10"/>
          <p:cNvSpPr/>
          <p:nvPr/>
        </p:nvSpPr>
        <p:spPr>
          <a:xfrm>
            <a:off x="12354560" y="3332480"/>
            <a:ext cx="3088640" cy="812800"/>
          </a:xfrm>
          <a:prstGeom prst="roundRect">
            <a:avLst>
              <a:gd name="adj" fmla="val 16000"/>
            </a:avLst>
          </a:prstGeom>
          <a:solidFill>
            <a:srgbClr val="1A8A7D"/>
          </a:solidFill>
          <a:ln/>
        </p:spPr>
      </p:sp>
      <p:sp>
        <p:nvSpPr>
          <p:cNvPr id="13" name="Text 11"/>
          <p:cNvSpPr/>
          <p:nvPr/>
        </p:nvSpPr>
        <p:spPr>
          <a:xfrm>
            <a:off x="12354560" y="3332480"/>
            <a:ext cx="3088640" cy="812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Asia</a:t>
            </a:r>
            <a:endParaRPr lang="en-US" sz="1300" dirty="0"/>
          </a:p>
        </p:txBody>
      </p:sp>
      <p:sp>
        <p:nvSpPr>
          <p:cNvPr id="14" name="Shape 12"/>
          <p:cNvSpPr/>
          <p:nvPr/>
        </p:nvSpPr>
        <p:spPr>
          <a:xfrm>
            <a:off x="650240" y="4470400"/>
            <a:ext cx="11379200" cy="1137920"/>
          </a:xfrm>
          <a:prstGeom prst="roundRect">
            <a:avLst>
              <a:gd name="adj" fmla="val 11429"/>
            </a:avLst>
          </a:prstGeom>
          <a:solidFill>
            <a:srgbClr val="F0F2F8"/>
          </a:solidFill>
          <a:ln/>
        </p:spPr>
      </p:sp>
      <p:sp>
        <p:nvSpPr>
          <p:cNvPr id="15" name="Text 13"/>
          <p:cNvSpPr/>
          <p:nvPr/>
        </p:nvSpPr>
        <p:spPr>
          <a:xfrm>
            <a:off x="975360" y="4551680"/>
            <a:ext cx="9428480" cy="97536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The second-largest continent. Has the Sahara Desert in the north and savannas in the middle.</a:t>
            </a:r>
            <a:endParaRPr lang="en-US" sz="1100" dirty="0"/>
          </a:p>
        </p:txBody>
      </p:sp>
      <p:sp>
        <p:nvSpPr>
          <p:cNvPr id="16" name="Shape 14"/>
          <p:cNvSpPr/>
          <p:nvPr/>
        </p:nvSpPr>
        <p:spPr>
          <a:xfrm>
            <a:off x="12354560" y="4632960"/>
            <a:ext cx="3088640" cy="812800"/>
          </a:xfrm>
          <a:prstGeom prst="roundRect">
            <a:avLst>
              <a:gd name="adj" fmla="val 16000"/>
            </a:avLst>
          </a:prstGeom>
          <a:solidFill>
            <a:srgbClr val="1A8A7D"/>
          </a:solidFill>
          <a:ln/>
        </p:spPr>
      </p:sp>
      <p:sp>
        <p:nvSpPr>
          <p:cNvPr id="17" name="Text 15"/>
          <p:cNvSpPr/>
          <p:nvPr/>
        </p:nvSpPr>
        <p:spPr>
          <a:xfrm>
            <a:off x="12354560" y="4632960"/>
            <a:ext cx="3088640" cy="812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Africa</a:t>
            </a:r>
            <a:endParaRPr lang="en-US" sz="1300" dirty="0"/>
          </a:p>
        </p:txBody>
      </p:sp>
      <p:sp>
        <p:nvSpPr>
          <p:cNvPr id="18" name="Shape 16"/>
          <p:cNvSpPr/>
          <p:nvPr/>
        </p:nvSpPr>
        <p:spPr>
          <a:xfrm>
            <a:off x="650240" y="5770880"/>
            <a:ext cx="11379200" cy="1137920"/>
          </a:xfrm>
          <a:prstGeom prst="roundRect">
            <a:avLst>
              <a:gd name="adj" fmla="val 11429"/>
            </a:avLst>
          </a:prstGeom>
          <a:solidFill>
            <a:srgbClr val="EAF8FD"/>
          </a:solidFill>
          <a:ln/>
        </p:spPr>
      </p:sp>
      <p:sp>
        <p:nvSpPr>
          <p:cNvPr id="19" name="Text 17"/>
          <p:cNvSpPr/>
          <p:nvPr/>
        </p:nvSpPr>
        <p:spPr>
          <a:xfrm>
            <a:off x="975360" y="5852160"/>
            <a:ext cx="9428480" cy="97536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The coldest, driest continent. Covered in ice. No country owns it.</a:t>
            </a:r>
            <a:endParaRPr lang="en-US" sz="1100" dirty="0"/>
          </a:p>
        </p:txBody>
      </p:sp>
      <p:sp>
        <p:nvSpPr>
          <p:cNvPr id="20" name="Shape 18"/>
          <p:cNvSpPr/>
          <p:nvPr/>
        </p:nvSpPr>
        <p:spPr>
          <a:xfrm>
            <a:off x="12354560" y="5933440"/>
            <a:ext cx="3088640" cy="812800"/>
          </a:xfrm>
          <a:prstGeom prst="roundRect">
            <a:avLst>
              <a:gd name="adj" fmla="val 16000"/>
            </a:avLst>
          </a:prstGeom>
          <a:solidFill>
            <a:srgbClr val="1A8A7D"/>
          </a:solidFill>
          <a:ln/>
        </p:spPr>
      </p:sp>
      <p:sp>
        <p:nvSpPr>
          <p:cNvPr id="21" name="Text 19"/>
          <p:cNvSpPr/>
          <p:nvPr/>
        </p:nvSpPr>
        <p:spPr>
          <a:xfrm>
            <a:off x="12354560" y="5933440"/>
            <a:ext cx="3088640" cy="812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Antarctica</a:t>
            </a:r>
            <a:endParaRPr lang="en-US" sz="1300" dirty="0"/>
          </a:p>
        </p:txBody>
      </p:sp>
      <p:sp>
        <p:nvSpPr>
          <p:cNvPr id="22" name="Shape 20"/>
          <p:cNvSpPr/>
          <p:nvPr/>
        </p:nvSpPr>
        <p:spPr>
          <a:xfrm>
            <a:off x="650240" y="7071360"/>
            <a:ext cx="11379200" cy="1137920"/>
          </a:xfrm>
          <a:prstGeom prst="roundRect">
            <a:avLst>
              <a:gd name="adj" fmla="val 11429"/>
            </a:avLst>
          </a:prstGeom>
          <a:solidFill>
            <a:srgbClr val="F0F2F8"/>
          </a:solidFill>
          <a:ln/>
        </p:spPr>
      </p:sp>
      <p:sp>
        <p:nvSpPr>
          <p:cNvPr id="23" name="Text 21"/>
          <p:cNvSpPr/>
          <p:nvPr/>
        </p:nvSpPr>
        <p:spPr>
          <a:xfrm>
            <a:off x="975360" y="7152640"/>
            <a:ext cx="9428480" cy="97536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The smallest continent. It's also a country! Surrounded by the Indian and Pacific Oceans.</a:t>
            </a:r>
            <a:endParaRPr lang="en-US" sz="1100" dirty="0"/>
          </a:p>
        </p:txBody>
      </p:sp>
      <p:sp>
        <p:nvSpPr>
          <p:cNvPr id="24" name="Shape 22"/>
          <p:cNvSpPr/>
          <p:nvPr/>
        </p:nvSpPr>
        <p:spPr>
          <a:xfrm>
            <a:off x="12354560" y="7233920"/>
            <a:ext cx="3088640" cy="812800"/>
          </a:xfrm>
          <a:prstGeom prst="roundRect">
            <a:avLst>
              <a:gd name="adj" fmla="val 16000"/>
            </a:avLst>
          </a:prstGeom>
          <a:solidFill>
            <a:srgbClr val="1A8A7D"/>
          </a:solidFill>
          <a:ln/>
        </p:spPr>
      </p:sp>
      <p:sp>
        <p:nvSpPr>
          <p:cNvPr id="25" name="Text 23"/>
          <p:cNvSpPr/>
          <p:nvPr/>
        </p:nvSpPr>
        <p:spPr>
          <a:xfrm>
            <a:off x="12354560" y="7233920"/>
            <a:ext cx="3088640" cy="812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Australia</a:t>
            </a:r>
            <a:endParaRPr lang="en-US" sz="1300" dirty="0"/>
          </a:p>
        </p:txBody>
      </p:sp>
      <p:sp>
        <p:nvSpPr>
          <p:cNvPr id="26" name="Text 24"/>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13 / 20</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0F2F8"/>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GUIDED PRACTICE</a:t>
            </a:r>
            <a:endParaRPr lang="en-US" sz="800" dirty="0"/>
          </a:p>
        </p:txBody>
      </p:sp>
      <p:sp>
        <p:nvSpPr>
          <p:cNvPr id="7" name="Text 5"/>
          <p:cNvSpPr/>
          <p:nvPr/>
        </p:nvSpPr>
        <p:spPr>
          <a:xfrm>
            <a:off x="650240" y="1137920"/>
            <a:ext cx="97536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Your Turn: Name That Ocean!</a:t>
            </a:r>
            <a:endParaRPr lang="en-US" sz="2200" dirty="0"/>
          </a:p>
        </p:txBody>
      </p:sp>
      <p:sp>
        <p:nvSpPr>
          <p:cNvPr id="8" name="Text 6"/>
          <p:cNvSpPr/>
          <p:nvPr/>
        </p:nvSpPr>
        <p:spPr>
          <a:xfrm>
            <a:off x="650240" y="1950720"/>
            <a:ext cx="2438400" cy="422656"/>
          </a:xfrm>
          <a:prstGeom prst="rect">
            <a:avLst/>
          </a:prstGeom>
          <a:noFill/>
          <a:ln/>
        </p:spPr>
        <p:txBody>
          <a:bodyPr wrap="square" lIns="0" tIns="0" rIns="0" bIns="0" rtlCol="0" anchor="ctr"/>
          <a:lstStyle/>
          <a:p>
            <a:pPr indent="0" marL="0">
              <a:buNone/>
            </a:pPr>
            <a:r>
              <a:rPr lang="en-US" sz="900" b="1" spc="120" kern="0" dirty="0">
                <a:solidFill>
                  <a:srgbClr val="D4943A"/>
                </a:solidFill>
                <a:latin typeface="Calibri" pitchFamily="34" charset="0"/>
                <a:ea typeface="Calibri" pitchFamily="34" charset="-122"/>
                <a:cs typeface="Calibri" pitchFamily="34" charset="-120"/>
              </a:rPr>
              <a:t>ON YOUR OWN</a:t>
            </a:r>
            <a:endParaRPr lang="en-US" sz="900" dirty="0"/>
          </a:p>
        </p:txBody>
      </p:sp>
      <p:sp>
        <p:nvSpPr>
          <p:cNvPr id="9" name="Text 7"/>
          <p:cNvSpPr/>
          <p:nvPr/>
        </p:nvSpPr>
        <p:spPr>
          <a:xfrm>
            <a:off x="650240" y="2438400"/>
            <a:ext cx="14630400" cy="48768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Read each description. Write the ocean name in your Curator's Notebook.</a:t>
            </a:r>
            <a:endParaRPr lang="en-US" sz="1200" dirty="0"/>
          </a:p>
        </p:txBody>
      </p:sp>
      <p:sp>
        <p:nvSpPr>
          <p:cNvPr id="10" name="Shape 8"/>
          <p:cNvSpPr/>
          <p:nvPr/>
        </p:nvSpPr>
        <p:spPr>
          <a:xfrm>
            <a:off x="650240" y="3088640"/>
            <a:ext cx="11379200" cy="894080"/>
          </a:xfrm>
          <a:prstGeom prst="roundRect">
            <a:avLst>
              <a:gd name="adj" fmla="val 14545"/>
            </a:avLst>
          </a:prstGeom>
          <a:solidFill>
            <a:srgbClr val="FFFFFF"/>
          </a:solidFill>
          <a:ln w="6350">
            <a:solidFill>
              <a:srgbClr val="D0D8E8"/>
            </a:solidFill>
            <a:prstDash val="solid"/>
          </a:ln>
        </p:spPr>
      </p:sp>
      <p:sp>
        <p:nvSpPr>
          <p:cNvPr id="11" name="Text 9"/>
          <p:cNvSpPr/>
          <p:nvPr/>
        </p:nvSpPr>
        <p:spPr>
          <a:xfrm>
            <a:off x="975360" y="3121152"/>
            <a:ext cx="9103360" cy="81280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1.  The largest and deepest ocean. It stretches between Asia and the Americas.</a:t>
            </a:r>
            <a:endParaRPr lang="en-US" sz="1100" dirty="0"/>
          </a:p>
        </p:txBody>
      </p:sp>
      <p:sp>
        <p:nvSpPr>
          <p:cNvPr id="12" name="Shape 10"/>
          <p:cNvSpPr/>
          <p:nvPr/>
        </p:nvSpPr>
        <p:spPr>
          <a:xfrm>
            <a:off x="12354560" y="3169920"/>
            <a:ext cx="3088640" cy="731520"/>
          </a:xfrm>
          <a:prstGeom prst="roundRect">
            <a:avLst>
              <a:gd name="adj" fmla="val 17778"/>
            </a:avLst>
          </a:prstGeom>
          <a:solidFill>
            <a:srgbClr val="55C8E8"/>
          </a:solidFill>
          <a:ln/>
        </p:spPr>
      </p:sp>
      <p:sp>
        <p:nvSpPr>
          <p:cNvPr id="13" name="Text 11"/>
          <p:cNvSpPr/>
          <p:nvPr/>
        </p:nvSpPr>
        <p:spPr>
          <a:xfrm>
            <a:off x="12354560" y="3169920"/>
            <a:ext cx="3088640" cy="7315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Pacific Ocean</a:t>
            </a:r>
            <a:endParaRPr lang="en-US" sz="1100" dirty="0"/>
          </a:p>
        </p:txBody>
      </p:sp>
      <p:sp>
        <p:nvSpPr>
          <p:cNvPr id="14" name="Shape 12"/>
          <p:cNvSpPr/>
          <p:nvPr/>
        </p:nvSpPr>
        <p:spPr>
          <a:xfrm>
            <a:off x="650240" y="4145280"/>
            <a:ext cx="11379200" cy="894080"/>
          </a:xfrm>
          <a:prstGeom prst="roundRect">
            <a:avLst>
              <a:gd name="adj" fmla="val 14545"/>
            </a:avLst>
          </a:prstGeom>
          <a:solidFill>
            <a:srgbClr val="FFFFFF"/>
          </a:solidFill>
          <a:ln w="6350">
            <a:solidFill>
              <a:srgbClr val="D0D8E8"/>
            </a:solidFill>
            <a:prstDash val="solid"/>
          </a:ln>
        </p:spPr>
      </p:sp>
      <p:sp>
        <p:nvSpPr>
          <p:cNvPr id="15" name="Text 13"/>
          <p:cNvSpPr/>
          <p:nvPr/>
        </p:nvSpPr>
        <p:spPr>
          <a:xfrm>
            <a:off x="975360" y="4177792"/>
            <a:ext cx="9103360" cy="81280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2.  The second-largest ocean. Separates the Americas from Europe and Africa.</a:t>
            </a:r>
            <a:endParaRPr lang="en-US" sz="1100" dirty="0"/>
          </a:p>
        </p:txBody>
      </p:sp>
      <p:sp>
        <p:nvSpPr>
          <p:cNvPr id="16" name="Shape 14"/>
          <p:cNvSpPr/>
          <p:nvPr/>
        </p:nvSpPr>
        <p:spPr>
          <a:xfrm>
            <a:off x="12354560" y="4226560"/>
            <a:ext cx="3088640" cy="731520"/>
          </a:xfrm>
          <a:prstGeom prst="roundRect">
            <a:avLst>
              <a:gd name="adj" fmla="val 17778"/>
            </a:avLst>
          </a:prstGeom>
          <a:solidFill>
            <a:srgbClr val="55C8E8"/>
          </a:solidFill>
          <a:ln/>
        </p:spPr>
      </p:sp>
      <p:sp>
        <p:nvSpPr>
          <p:cNvPr id="17" name="Text 15"/>
          <p:cNvSpPr/>
          <p:nvPr/>
        </p:nvSpPr>
        <p:spPr>
          <a:xfrm>
            <a:off x="12354560" y="4226560"/>
            <a:ext cx="3088640" cy="7315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Atlantic Ocean</a:t>
            </a:r>
            <a:endParaRPr lang="en-US" sz="1100" dirty="0"/>
          </a:p>
        </p:txBody>
      </p:sp>
      <p:sp>
        <p:nvSpPr>
          <p:cNvPr id="18" name="Shape 16"/>
          <p:cNvSpPr/>
          <p:nvPr/>
        </p:nvSpPr>
        <p:spPr>
          <a:xfrm>
            <a:off x="650240" y="5201920"/>
            <a:ext cx="11379200" cy="894080"/>
          </a:xfrm>
          <a:prstGeom prst="roundRect">
            <a:avLst>
              <a:gd name="adj" fmla="val 14545"/>
            </a:avLst>
          </a:prstGeom>
          <a:solidFill>
            <a:srgbClr val="FFFFFF"/>
          </a:solidFill>
          <a:ln w="6350">
            <a:solidFill>
              <a:srgbClr val="D0D8E8"/>
            </a:solidFill>
            <a:prstDash val="solid"/>
          </a:ln>
        </p:spPr>
      </p:sp>
      <p:sp>
        <p:nvSpPr>
          <p:cNvPr id="19" name="Text 17"/>
          <p:cNvSpPr/>
          <p:nvPr/>
        </p:nvSpPr>
        <p:spPr>
          <a:xfrm>
            <a:off x="975360" y="5234432"/>
            <a:ext cx="9103360" cy="81280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3.  Located between Africa, Asia, and Australia.</a:t>
            </a:r>
            <a:endParaRPr lang="en-US" sz="1100" dirty="0"/>
          </a:p>
        </p:txBody>
      </p:sp>
      <p:sp>
        <p:nvSpPr>
          <p:cNvPr id="20" name="Shape 18"/>
          <p:cNvSpPr/>
          <p:nvPr/>
        </p:nvSpPr>
        <p:spPr>
          <a:xfrm>
            <a:off x="12354560" y="5283200"/>
            <a:ext cx="3088640" cy="731520"/>
          </a:xfrm>
          <a:prstGeom prst="roundRect">
            <a:avLst>
              <a:gd name="adj" fmla="val 17778"/>
            </a:avLst>
          </a:prstGeom>
          <a:solidFill>
            <a:srgbClr val="55C8E8"/>
          </a:solidFill>
          <a:ln/>
        </p:spPr>
      </p:sp>
      <p:sp>
        <p:nvSpPr>
          <p:cNvPr id="21" name="Text 19"/>
          <p:cNvSpPr/>
          <p:nvPr/>
        </p:nvSpPr>
        <p:spPr>
          <a:xfrm>
            <a:off x="12354560" y="5283200"/>
            <a:ext cx="3088640" cy="7315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Indian Ocean</a:t>
            </a:r>
            <a:endParaRPr lang="en-US" sz="1100" dirty="0"/>
          </a:p>
        </p:txBody>
      </p:sp>
      <p:sp>
        <p:nvSpPr>
          <p:cNvPr id="22" name="Shape 20"/>
          <p:cNvSpPr/>
          <p:nvPr/>
        </p:nvSpPr>
        <p:spPr>
          <a:xfrm>
            <a:off x="650240" y="6258560"/>
            <a:ext cx="11379200" cy="894080"/>
          </a:xfrm>
          <a:prstGeom prst="roundRect">
            <a:avLst>
              <a:gd name="adj" fmla="val 14545"/>
            </a:avLst>
          </a:prstGeom>
          <a:solidFill>
            <a:srgbClr val="FFFFFF"/>
          </a:solidFill>
          <a:ln w="6350">
            <a:solidFill>
              <a:srgbClr val="D0D8E8"/>
            </a:solidFill>
            <a:prstDash val="solid"/>
          </a:ln>
        </p:spPr>
      </p:sp>
      <p:sp>
        <p:nvSpPr>
          <p:cNvPr id="23" name="Text 21"/>
          <p:cNvSpPr/>
          <p:nvPr/>
        </p:nvSpPr>
        <p:spPr>
          <a:xfrm>
            <a:off x="975360" y="6291072"/>
            <a:ext cx="9103360" cy="81280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4.  The smallest, coldest ocean. Around the North Pole.</a:t>
            </a:r>
            <a:endParaRPr lang="en-US" sz="1100" dirty="0"/>
          </a:p>
        </p:txBody>
      </p:sp>
      <p:sp>
        <p:nvSpPr>
          <p:cNvPr id="24" name="Shape 22"/>
          <p:cNvSpPr/>
          <p:nvPr/>
        </p:nvSpPr>
        <p:spPr>
          <a:xfrm>
            <a:off x="12354560" y="6339840"/>
            <a:ext cx="3088640" cy="731520"/>
          </a:xfrm>
          <a:prstGeom prst="roundRect">
            <a:avLst>
              <a:gd name="adj" fmla="val 17778"/>
            </a:avLst>
          </a:prstGeom>
          <a:solidFill>
            <a:srgbClr val="55C8E8"/>
          </a:solidFill>
          <a:ln/>
        </p:spPr>
      </p:sp>
      <p:sp>
        <p:nvSpPr>
          <p:cNvPr id="25" name="Text 23"/>
          <p:cNvSpPr/>
          <p:nvPr/>
        </p:nvSpPr>
        <p:spPr>
          <a:xfrm>
            <a:off x="12354560" y="6339840"/>
            <a:ext cx="3088640" cy="7315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Arctic Ocean</a:t>
            </a:r>
            <a:endParaRPr lang="en-US" sz="1100" dirty="0"/>
          </a:p>
        </p:txBody>
      </p:sp>
      <p:sp>
        <p:nvSpPr>
          <p:cNvPr id="26" name="Shape 24"/>
          <p:cNvSpPr/>
          <p:nvPr/>
        </p:nvSpPr>
        <p:spPr>
          <a:xfrm>
            <a:off x="650240" y="7315200"/>
            <a:ext cx="11379200" cy="894080"/>
          </a:xfrm>
          <a:prstGeom prst="roundRect">
            <a:avLst>
              <a:gd name="adj" fmla="val 14545"/>
            </a:avLst>
          </a:prstGeom>
          <a:solidFill>
            <a:srgbClr val="FFFFFF"/>
          </a:solidFill>
          <a:ln w="6350">
            <a:solidFill>
              <a:srgbClr val="D0D8E8"/>
            </a:solidFill>
            <a:prstDash val="solid"/>
          </a:ln>
        </p:spPr>
      </p:sp>
      <p:sp>
        <p:nvSpPr>
          <p:cNvPr id="27" name="Text 25"/>
          <p:cNvSpPr/>
          <p:nvPr/>
        </p:nvSpPr>
        <p:spPr>
          <a:xfrm>
            <a:off x="975360" y="7347712"/>
            <a:ext cx="9103360" cy="81280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5.  Surrounds Antarctica at the bottom of the world.</a:t>
            </a:r>
            <a:endParaRPr lang="en-US" sz="1100" dirty="0"/>
          </a:p>
        </p:txBody>
      </p:sp>
      <p:sp>
        <p:nvSpPr>
          <p:cNvPr id="28" name="Shape 26"/>
          <p:cNvSpPr/>
          <p:nvPr/>
        </p:nvSpPr>
        <p:spPr>
          <a:xfrm>
            <a:off x="12354560" y="7396480"/>
            <a:ext cx="3088640" cy="731520"/>
          </a:xfrm>
          <a:prstGeom prst="roundRect">
            <a:avLst>
              <a:gd name="adj" fmla="val 17778"/>
            </a:avLst>
          </a:prstGeom>
          <a:solidFill>
            <a:srgbClr val="55C8E8"/>
          </a:solidFill>
          <a:ln/>
        </p:spPr>
      </p:sp>
      <p:sp>
        <p:nvSpPr>
          <p:cNvPr id="29" name="Text 27"/>
          <p:cNvSpPr/>
          <p:nvPr/>
        </p:nvSpPr>
        <p:spPr>
          <a:xfrm>
            <a:off x="12354560" y="7396480"/>
            <a:ext cx="3088640" cy="7315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Southern Ocean</a:t>
            </a:r>
            <a:endParaRPr lang="en-US" sz="1100" dirty="0"/>
          </a:p>
        </p:txBody>
      </p:sp>
      <p:sp>
        <p:nvSpPr>
          <p:cNvPr id="30" name="Text 28"/>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14 / 20</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FFFFF"/>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ERROR ANALYSIS</a:t>
            </a:r>
            <a:endParaRPr lang="en-US" sz="800" dirty="0"/>
          </a:p>
        </p:txBody>
      </p:sp>
      <p:sp>
        <p:nvSpPr>
          <p:cNvPr id="7" name="Text 5"/>
          <p:cNvSpPr/>
          <p:nvPr/>
        </p:nvSpPr>
        <p:spPr>
          <a:xfrm>
            <a:off x="650240" y="1137920"/>
            <a:ext cx="97536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What Went Wrong?</a:t>
            </a:r>
            <a:endParaRPr lang="en-US" sz="2200" dirty="0"/>
          </a:p>
        </p:txBody>
      </p:sp>
      <p:sp>
        <p:nvSpPr>
          <p:cNvPr id="8" name="Shape 6"/>
          <p:cNvSpPr/>
          <p:nvPr/>
        </p:nvSpPr>
        <p:spPr>
          <a:xfrm>
            <a:off x="650240" y="2113280"/>
            <a:ext cx="7315200" cy="4551680"/>
          </a:xfrm>
          <a:prstGeom prst="roundRect">
            <a:avLst>
              <a:gd name="adj" fmla="val 4286"/>
            </a:avLst>
          </a:prstGeom>
          <a:solidFill>
            <a:srgbClr val="FDE8E8"/>
          </a:solidFill>
          <a:ln w="19050">
            <a:solidFill>
              <a:srgbClr val="E8636B"/>
            </a:solidFill>
            <a:prstDash val="solid"/>
          </a:ln>
        </p:spPr>
      </p:sp>
      <p:sp>
        <p:nvSpPr>
          <p:cNvPr id="9" name="Text 7"/>
          <p:cNvSpPr/>
          <p:nvPr/>
        </p:nvSpPr>
        <p:spPr>
          <a:xfrm>
            <a:off x="975360" y="2194560"/>
            <a:ext cx="6664960" cy="357632"/>
          </a:xfrm>
          <a:prstGeom prst="rect">
            <a:avLst/>
          </a:prstGeom>
          <a:noFill/>
          <a:ln/>
        </p:spPr>
        <p:txBody>
          <a:bodyPr wrap="square" lIns="0" tIns="0" rIns="0" bIns="0"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STUDENT SAMPLE (WITH ERRORS)</a:t>
            </a:r>
            <a:endParaRPr lang="en-US" sz="900" dirty="0"/>
          </a:p>
        </p:txBody>
      </p:sp>
      <p:sp>
        <p:nvSpPr>
          <p:cNvPr id="10" name="Text 8"/>
          <p:cNvSpPr/>
          <p:nvPr/>
        </p:nvSpPr>
        <p:spPr>
          <a:xfrm>
            <a:off x="975360" y="2763520"/>
            <a:ext cx="6664960" cy="3738880"/>
          </a:xfrm>
          <a:prstGeom prst="rect">
            <a:avLst/>
          </a:prstGeom>
          <a:noFill/>
          <a:ln/>
        </p:spPr>
        <p:txBody>
          <a:bodyPr wrap="square" lIns="0" tIns="0" rIns="0" bIns="0" rtlCol="0" anchor="t"/>
          <a:lstStyle/>
          <a:p>
            <a:pPr indent="0" marL="0">
              <a:lnSpc>
                <a:spcPct val="125000"/>
              </a:lnSpc>
              <a:buNone/>
            </a:pPr>
            <a:r>
              <a:rPr lang="en-US" sz="1200" dirty="0">
                <a:solidFill>
                  <a:srgbClr val="0E1C42"/>
                </a:solidFill>
                <a:latin typeface="Calibri" pitchFamily="34" charset="0"/>
                <a:ea typeface="Calibri" pitchFamily="34" charset="-122"/>
                <a:cs typeface="Calibri" pitchFamily="34" charset="-120"/>
              </a:rPr>
              <a:t>Question: Name all seven continents.</a:t>
            </a:r>
            <a:endParaRPr lang="en-US" sz="1200" dirty="0"/>
          </a:p>
          <a:p>
            <a:pPr indent="0" marL="0">
              <a:lnSpc>
                <a:spcPct val="125000"/>
              </a:lnSpc>
              <a:buNone/>
            </a:pPr>
            <a:endParaRPr lang="en-US" sz="1200" dirty="0"/>
          </a:p>
          <a:p>
            <a:pPr indent="0" marL="0">
              <a:lnSpc>
                <a:spcPct val="125000"/>
              </a:lnSpc>
              <a:buNone/>
            </a:pPr>
            <a:r>
              <a:rPr lang="en-US" sz="1200" dirty="0">
                <a:solidFill>
                  <a:srgbClr val="0E1C42"/>
                </a:solidFill>
                <a:latin typeface="Calibri" pitchFamily="34" charset="0"/>
                <a:ea typeface="Calibri" pitchFamily="34" charset="-122"/>
                <a:cs typeface="Calibri" pitchFamily="34" charset="-120"/>
              </a:rPr>
              <a:t>Answer: "North America, South America, Europe, Asia, Africa, and Australia. The biggest one is Africa."</a:t>
            </a:r>
            <a:endParaRPr lang="en-US" sz="1200" dirty="0"/>
          </a:p>
          <a:p>
            <a:pPr indent="0" marL="0">
              <a:lnSpc>
                <a:spcPct val="125000"/>
              </a:lnSpc>
              <a:buNone/>
            </a:pPr>
            <a:endParaRPr lang="en-US" sz="1200" dirty="0"/>
          </a:p>
          <a:p>
            <a:pPr indent="0" marL="0">
              <a:lnSpc>
                <a:spcPct val="125000"/>
              </a:lnSpc>
              <a:buNone/>
            </a:pPr>
            <a:r>
              <a:rPr lang="en-US" sz="1200" dirty="0">
                <a:solidFill>
                  <a:srgbClr val="0E1C42"/>
                </a:solidFill>
                <a:latin typeface="Calibri" pitchFamily="34" charset="0"/>
                <a:ea typeface="Calibri" pitchFamily="34" charset="-122"/>
                <a:cs typeface="Calibri" pitchFamily="34" charset="-120"/>
              </a:rPr>
              <a:t>What's wrong? Find TWO mistakes.</a:t>
            </a:r>
            <a:endParaRPr lang="en-US" sz="1200" dirty="0"/>
          </a:p>
        </p:txBody>
      </p:sp>
      <p:sp>
        <p:nvSpPr>
          <p:cNvPr id="11" name="Shape 9"/>
          <p:cNvSpPr/>
          <p:nvPr/>
        </p:nvSpPr>
        <p:spPr>
          <a:xfrm>
            <a:off x="8453120" y="2113280"/>
            <a:ext cx="6990080" cy="2275840"/>
          </a:xfrm>
          <a:prstGeom prst="roundRect">
            <a:avLst>
              <a:gd name="adj" fmla="val 8571"/>
            </a:avLst>
          </a:prstGeom>
          <a:solidFill>
            <a:srgbClr val="E3F8ED"/>
          </a:solidFill>
          <a:ln w="12700">
            <a:solidFill>
              <a:srgbClr val="34B76F"/>
            </a:solidFill>
            <a:prstDash val="solid"/>
          </a:ln>
        </p:spPr>
      </p:sp>
      <p:sp>
        <p:nvSpPr>
          <p:cNvPr id="12" name="Text 10"/>
          <p:cNvSpPr/>
          <p:nvPr/>
        </p:nvSpPr>
        <p:spPr>
          <a:xfrm>
            <a:off x="8778240" y="2194560"/>
            <a:ext cx="6339840" cy="357632"/>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ERRORS TO FIND</a:t>
            </a:r>
            <a:endParaRPr lang="en-US" sz="900" dirty="0"/>
          </a:p>
        </p:txBody>
      </p:sp>
      <p:sp>
        <p:nvSpPr>
          <p:cNvPr id="13" name="Text 11"/>
          <p:cNvSpPr/>
          <p:nvPr/>
        </p:nvSpPr>
        <p:spPr>
          <a:xfrm>
            <a:off x="8778240" y="2682240"/>
            <a:ext cx="6339840" cy="1544320"/>
          </a:xfrm>
          <a:prstGeom prst="rect">
            <a:avLst/>
          </a:prstGeom>
          <a:noFill/>
          <a:ln/>
        </p:spPr>
        <p:txBody>
          <a:bodyPr wrap="square" lIns="0" tIns="0" rIns="0" bIns="0" rtlCol="0" anchor="t"/>
          <a:lstStyle/>
          <a:p>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1. Missing a continent! Antarctica is the 7th.</a:t>
            </a:r>
            <a:endParaRPr lang="en-US" sz="1100" dirty="0"/>
          </a:p>
          <a:p>
            <a:pPr indent="0" marL="0">
              <a:lnSpc>
                <a:spcPct val="120000"/>
              </a:lnSpc>
              <a:buNone/>
            </a:pPr>
            <a:endParaRPr lang="en-US" sz="1100" dirty="0"/>
          </a:p>
          <a:p>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2. The biggest continent is Asia, not Africa. Africa is the second-largest.</a:t>
            </a:r>
            <a:endParaRPr lang="en-US" sz="1100" dirty="0"/>
          </a:p>
        </p:txBody>
      </p:sp>
      <p:sp>
        <p:nvSpPr>
          <p:cNvPr id="14" name="Shape 12"/>
          <p:cNvSpPr/>
          <p:nvPr/>
        </p:nvSpPr>
        <p:spPr>
          <a:xfrm>
            <a:off x="8453120" y="4714240"/>
            <a:ext cx="6990080" cy="1950720"/>
          </a:xfrm>
          <a:prstGeom prst="roundRect">
            <a:avLst>
              <a:gd name="adj" fmla="val 12500"/>
            </a:avLst>
          </a:prstGeom>
          <a:solidFill>
            <a:srgbClr val="1A2D5A"/>
          </a:solidFill>
          <a:ln/>
          <a:effectLst>
            <a:outerShdw sx="100000" sy="100000" kx="0" ky="0" algn="bl" rotWithShape="0" blurRad="101600" dist="38100" dir="8100000">
              <a:srgbClr val="000000">
                <a:alpha val="20000"/>
              </a:srgbClr>
            </a:outerShdw>
          </a:effectLst>
        </p:spPr>
      </p:sp>
      <p:sp>
        <p:nvSpPr>
          <p:cNvPr id="15" name="Text 13"/>
          <p:cNvSpPr/>
          <p:nvPr/>
        </p:nvSpPr>
        <p:spPr>
          <a:xfrm>
            <a:off x="8778240" y="4876800"/>
            <a:ext cx="633984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6" name="Text 14"/>
          <p:cNvSpPr/>
          <p:nvPr/>
        </p:nvSpPr>
        <p:spPr>
          <a:xfrm>
            <a:off x="8778240" y="5331968"/>
            <a:ext cx="6339840" cy="117043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can you double-check that you named all seven?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memory trick helps you remember the largest continent?</a:t>
            </a:r>
            <a:endParaRPr lang="en-US" sz="1100" dirty="0"/>
          </a:p>
        </p:txBody>
      </p:sp>
      <p:sp>
        <p:nvSpPr>
          <p:cNvPr id="17" name="Shape 15"/>
          <p:cNvSpPr/>
          <p:nvPr/>
        </p:nvSpPr>
        <p:spPr>
          <a:xfrm>
            <a:off x="650240" y="6990080"/>
            <a:ext cx="14955520" cy="1300480"/>
          </a:xfrm>
          <a:prstGeom prst="roundRect">
            <a:avLst>
              <a:gd name="adj" fmla="val 12500"/>
            </a:avLst>
          </a:prstGeom>
          <a:solidFill>
            <a:srgbClr val="FFF3DC"/>
          </a:solidFill>
          <a:ln w="12700">
            <a:solidFill>
              <a:srgbClr val="D4943A"/>
            </a:solidFill>
            <a:prstDash val="solid"/>
          </a:ln>
        </p:spPr>
      </p:sp>
      <p:sp>
        <p:nvSpPr>
          <p:cNvPr id="18" name="Text 16"/>
          <p:cNvSpPr/>
          <p:nvPr/>
        </p:nvSpPr>
        <p:spPr>
          <a:xfrm>
            <a:off x="975360" y="7071360"/>
            <a:ext cx="1430528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ASSIGNMENT CONNECTION</a:t>
            </a:r>
            <a:endParaRPr lang="en-US" sz="900" dirty="0"/>
          </a:p>
        </p:txBody>
      </p:sp>
      <p:sp>
        <p:nvSpPr>
          <p:cNvPr id="19" name="Text 17"/>
          <p:cNvSpPr/>
          <p:nvPr/>
        </p:nvSpPr>
        <p:spPr>
          <a:xfrm>
            <a:off x="975360" y="7477760"/>
            <a:ext cx="14305280" cy="73152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Evidence Q1 asks you to do exactly this: Name all seven continents. Which one is the largest? Make sure you name ALL seven and get the largest one right!</a:t>
            </a:r>
            <a:endParaRPr lang="en-US" sz="1100" dirty="0"/>
          </a:p>
        </p:txBody>
      </p:sp>
      <p:sp>
        <p:nvSpPr>
          <p:cNvPr id="20" name="Text 18"/>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15 / 20</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0F2F8"/>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GUIDED PRACTICE</a:t>
            </a:r>
            <a:endParaRPr lang="en-US" sz="800" dirty="0"/>
          </a:p>
        </p:txBody>
      </p:sp>
      <p:sp>
        <p:nvSpPr>
          <p:cNvPr id="7" name="Text 5"/>
          <p:cNvSpPr/>
          <p:nvPr/>
        </p:nvSpPr>
        <p:spPr>
          <a:xfrm>
            <a:off x="650240" y="1137920"/>
            <a:ext cx="146304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Tricky One: Labels Gone Wrong</a:t>
            </a:r>
            <a:endParaRPr lang="en-US" sz="2200" dirty="0"/>
          </a:p>
        </p:txBody>
      </p:sp>
      <p:sp>
        <p:nvSpPr>
          <p:cNvPr id="8" name="Shape 6"/>
          <p:cNvSpPr/>
          <p:nvPr/>
        </p:nvSpPr>
        <p:spPr>
          <a:xfrm>
            <a:off x="650240" y="2113280"/>
            <a:ext cx="7315200" cy="5201920"/>
          </a:xfrm>
          <a:prstGeom prst="roundRect">
            <a:avLst>
              <a:gd name="adj" fmla="val 3750"/>
            </a:avLst>
          </a:prstGeom>
          <a:solidFill>
            <a:srgbClr val="FFF3DC"/>
          </a:solidFill>
          <a:ln w="19050">
            <a:solidFill>
              <a:srgbClr val="D4943A"/>
            </a:solidFill>
            <a:prstDash val="solid"/>
          </a:ln>
        </p:spPr>
      </p:sp>
      <p:sp>
        <p:nvSpPr>
          <p:cNvPr id="9" name="Text 7"/>
          <p:cNvSpPr/>
          <p:nvPr/>
        </p:nvSpPr>
        <p:spPr>
          <a:xfrm>
            <a:off x="975360" y="2194560"/>
            <a:ext cx="666496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SCENARIO</a:t>
            </a:r>
            <a:endParaRPr lang="en-US" sz="900" dirty="0"/>
          </a:p>
        </p:txBody>
      </p:sp>
      <p:sp>
        <p:nvSpPr>
          <p:cNvPr id="10" name="Text 8"/>
          <p:cNvSpPr/>
          <p:nvPr/>
        </p:nvSpPr>
        <p:spPr>
          <a:xfrm>
            <a:off x="975360" y="2682240"/>
            <a:ext cx="6664960" cy="4389120"/>
          </a:xfrm>
          <a:prstGeom prst="rect">
            <a:avLst/>
          </a:prstGeom>
          <a:noFill/>
          <a:ln/>
        </p:spPr>
        <p:txBody>
          <a:bodyPr wrap="square" lIns="0" tIns="0" rIns="0" bIns="0" rtlCol="0" anchor="t"/>
          <a:lstStyle/>
          <a:p>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A visitor is planning a boat trip across the Atlantic Ocean. She looks at the museum map, but the volunteer put the "Atlantic" label where the Pacific should be.</a:t>
            </a:r>
            <a:endParaRPr lang="en-US" sz="1100" dirty="0"/>
          </a:p>
          <a:p>
            <a:pPr indent="0" marL="0">
              <a:lnSpc>
                <a:spcPct val="120000"/>
              </a:lnSpc>
              <a:buNone/>
            </a:pPr>
            <a:endParaRPr lang="en-US" sz="1100" dirty="0"/>
          </a:p>
          <a:p>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She ends up planning to cross the wrong ocean!</a:t>
            </a:r>
            <a:endParaRPr lang="en-US" sz="1100" dirty="0"/>
          </a:p>
          <a:p>
            <a:pPr indent="0" marL="0">
              <a:lnSpc>
                <a:spcPct val="120000"/>
              </a:lnSpc>
              <a:buNone/>
            </a:pPr>
            <a:endParaRPr lang="en-US" sz="1100" dirty="0"/>
          </a:p>
          <a:p>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In your own words, explain:</a:t>
            </a:r>
            <a:endParaRPr lang="en-US" sz="1100" dirty="0"/>
          </a:p>
          <a:p>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  Why did the wrong label cause a problem?</a:t>
            </a:r>
            <a:endParaRPr lang="en-US" sz="1100" dirty="0"/>
          </a:p>
          <a:p>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  What could go wrong for the visitor?</a:t>
            </a:r>
            <a:endParaRPr lang="en-US" sz="1100" dirty="0"/>
          </a:p>
        </p:txBody>
      </p:sp>
      <p:sp>
        <p:nvSpPr>
          <p:cNvPr id="11" name="Shape 9"/>
          <p:cNvSpPr/>
          <p:nvPr/>
        </p:nvSpPr>
        <p:spPr>
          <a:xfrm>
            <a:off x="8453120" y="2113280"/>
            <a:ext cx="6990080" cy="2438400"/>
          </a:xfrm>
          <a:prstGeom prst="roundRect">
            <a:avLst>
              <a:gd name="adj" fmla="val 8000"/>
            </a:avLst>
          </a:prstGeom>
          <a:solidFill>
            <a:srgbClr val="F0E8FF"/>
          </a:solidFill>
          <a:ln w="12700">
            <a:solidFill>
              <a:srgbClr val="8B6FC0"/>
            </a:solidFill>
            <a:prstDash val="solid"/>
          </a:ln>
        </p:spPr>
      </p:sp>
      <p:sp>
        <p:nvSpPr>
          <p:cNvPr id="12" name="Text 10"/>
          <p:cNvSpPr/>
          <p:nvPr/>
        </p:nvSpPr>
        <p:spPr>
          <a:xfrm>
            <a:off x="8778240" y="2194560"/>
            <a:ext cx="6339840" cy="357632"/>
          </a:xfrm>
          <a:prstGeom prst="rect">
            <a:avLst/>
          </a:prstGeom>
          <a:noFill/>
          <a:ln/>
        </p:spPr>
        <p:txBody>
          <a:bodyPr wrap="square" lIns="0" tIns="0" rIns="0" bIns="0"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THINK-PAIR-SHARE</a:t>
            </a:r>
            <a:endParaRPr lang="en-US" sz="900" dirty="0"/>
          </a:p>
        </p:txBody>
      </p:sp>
      <p:sp>
        <p:nvSpPr>
          <p:cNvPr id="13" name="Text 11"/>
          <p:cNvSpPr/>
          <p:nvPr/>
        </p:nvSpPr>
        <p:spPr>
          <a:xfrm>
            <a:off x="8778240" y="2682240"/>
            <a:ext cx="6339840" cy="1625600"/>
          </a:xfrm>
          <a:prstGeom prst="rect">
            <a:avLst/>
          </a:prstGeom>
          <a:noFill/>
          <a:ln/>
        </p:spPr>
        <p:txBody>
          <a:bodyPr wrap="square" lIns="0" tIns="0" rIns="0" bIns="0" rtlCol="0" anchor="t"/>
          <a:lstStyle/>
          <a:p>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1. Think about the scenario on your own (30 sec)</a:t>
            </a:r>
            <a:endParaRPr lang="en-US" sz="1100" dirty="0"/>
          </a:p>
          <a:p>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2. Share your answer with a partner (1 min)</a:t>
            </a:r>
            <a:endParaRPr lang="en-US" sz="1100" dirty="0"/>
          </a:p>
          <a:p>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3. Be ready to share with the class</a:t>
            </a:r>
            <a:endParaRPr lang="en-US" sz="1100" dirty="0"/>
          </a:p>
        </p:txBody>
      </p:sp>
      <p:sp>
        <p:nvSpPr>
          <p:cNvPr id="14" name="Shape 12"/>
          <p:cNvSpPr/>
          <p:nvPr/>
        </p:nvSpPr>
        <p:spPr>
          <a:xfrm>
            <a:off x="8453120" y="4876800"/>
            <a:ext cx="6990080" cy="1625600"/>
          </a:xfrm>
          <a:prstGeom prst="roundRect">
            <a:avLst>
              <a:gd name="adj" fmla="val 10000"/>
            </a:avLst>
          </a:prstGeom>
          <a:solidFill>
            <a:srgbClr val="D4943A">
              <a:alpha val="15000"/>
            </a:srgbClr>
          </a:solidFill>
          <a:ln w="12700">
            <a:solidFill>
              <a:srgbClr val="D4943A"/>
            </a:solidFill>
            <a:prstDash val="solid"/>
          </a:ln>
        </p:spPr>
      </p:sp>
      <p:sp>
        <p:nvSpPr>
          <p:cNvPr id="15" name="Text 13"/>
          <p:cNvSpPr/>
          <p:nvPr/>
        </p:nvSpPr>
        <p:spPr>
          <a:xfrm>
            <a:off x="8778240" y="4958080"/>
            <a:ext cx="633984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ASSIGNMENT CONNECTION</a:t>
            </a:r>
            <a:endParaRPr lang="en-US" sz="900" dirty="0"/>
          </a:p>
        </p:txBody>
      </p:sp>
      <p:sp>
        <p:nvSpPr>
          <p:cNvPr id="16" name="Text 14"/>
          <p:cNvSpPr/>
          <p:nvPr/>
        </p:nvSpPr>
        <p:spPr>
          <a:xfrm>
            <a:off x="8778240" y="5445760"/>
            <a:ext cx="6339840" cy="975360"/>
          </a:xfrm>
          <a:prstGeom prst="rect">
            <a:avLst/>
          </a:prstGeom>
          <a:noFill/>
          <a:ln/>
        </p:spPr>
        <p:txBody>
          <a:bodyPr wrap="square" lIns="0" tIns="0" rIns="0" bIns="0" rtlCol="0" anchor="t"/>
          <a:lstStyle/>
          <a:p>
            <a:pPr indent="0" marL="0">
              <a:buNone/>
            </a:pPr>
            <a:r>
              <a:rPr lang="en-US" sz="1000" i="1" dirty="0">
                <a:solidFill>
                  <a:srgbClr val="0E1C42"/>
                </a:solidFill>
                <a:latin typeface="Calibri" pitchFamily="34" charset="0"/>
                <a:ea typeface="Calibri" pitchFamily="34" charset="-122"/>
                <a:cs typeface="Calibri" pitchFamily="34" charset="-120"/>
              </a:rPr>
              <a:t>Evidence Q2: Why did the young museum volunteer's mistake with the Atlantic and Pacific labels matter? What could go wrong if ocean labels are in the wrong places?</a:t>
            </a:r>
            <a:endParaRPr lang="en-US" sz="1000" dirty="0"/>
          </a:p>
        </p:txBody>
      </p:sp>
      <p:sp>
        <p:nvSpPr>
          <p:cNvPr id="17" name="Text 15"/>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16 / 20</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FFFFF"/>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SELF-CHECK</a:t>
            </a:r>
            <a:endParaRPr lang="en-US" sz="800" dirty="0"/>
          </a:p>
        </p:txBody>
      </p:sp>
      <p:sp>
        <p:nvSpPr>
          <p:cNvPr id="7" name="Text 5"/>
          <p:cNvSpPr/>
          <p:nvPr/>
        </p:nvSpPr>
        <p:spPr>
          <a:xfrm>
            <a:off x="650240" y="1137920"/>
            <a:ext cx="97536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Quick Self-Check</a:t>
            </a:r>
            <a:endParaRPr lang="en-US" sz="2200" dirty="0"/>
          </a:p>
        </p:txBody>
      </p:sp>
      <p:sp>
        <p:nvSpPr>
          <p:cNvPr id="8" name="Shape 6"/>
          <p:cNvSpPr/>
          <p:nvPr/>
        </p:nvSpPr>
        <p:spPr>
          <a:xfrm>
            <a:off x="650240" y="2113280"/>
            <a:ext cx="14955520" cy="1706880"/>
          </a:xfrm>
          <a:prstGeom prst="roundRect">
            <a:avLst>
              <a:gd name="adj" fmla="val 9524"/>
            </a:avLst>
          </a:prstGeom>
          <a:solidFill>
            <a:srgbClr val="EAF8FD"/>
          </a:solidFill>
          <a:ln/>
        </p:spPr>
      </p:sp>
      <p:sp>
        <p:nvSpPr>
          <p:cNvPr id="9" name="Text 7"/>
          <p:cNvSpPr/>
          <p:nvPr/>
        </p:nvSpPr>
        <p:spPr>
          <a:xfrm>
            <a:off x="975360" y="2243328"/>
            <a:ext cx="14305280" cy="5689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1. How many continents are there on Earth?</a:t>
            </a:r>
            <a:endParaRPr lang="en-US" sz="1200" dirty="0"/>
          </a:p>
        </p:txBody>
      </p:sp>
      <p:sp>
        <p:nvSpPr>
          <p:cNvPr id="10" name="Text 8"/>
          <p:cNvSpPr/>
          <p:nvPr/>
        </p:nvSpPr>
        <p:spPr>
          <a:xfrm>
            <a:off x="975360" y="2893568"/>
            <a:ext cx="14305280" cy="731520"/>
          </a:xfrm>
          <a:prstGeom prst="rect">
            <a:avLst/>
          </a:prstGeom>
          <a:noFill/>
          <a:ln/>
        </p:spPr>
        <p:txBody>
          <a:bodyPr wrap="square" lIns="0" tIns="0" rIns="0" bIns="0"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Seven! North America, South America, Europe, Asia, Africa, Australia, Antarctica.</a:t>
            </a:r>
            <a:endParaRPr lang="en-US" sz="1100" dirty="0"/>
          </a:p>
        </p:txBody>
      </p:sp>
      <p:sp>
        <p:nvSpPr>
          <p:cNvPr id="11" name="Shape 9"/>
          <p:cNvSpPr/>
          <p:nvPr/>
        </p:nvSpPr>
        <p:spPr>
          <a:xfrm>
            <a:off x="650240" y="4064000"/>
            <a:ext cx="14955520" cy="1706880"/>
          </a:xfrm>
          <a:prstGeom prst="roundRect">
            <a:avLst>
              <a:gd name="adj" fmla="val 9524"/>
            </a:avLst>
          </a:prstGeom>
          <a:solidFill>
            <a:srgbClr val="E3F8ED"/>
          </a:solidFill>
          <a:ln/>
        </p:spPr>
      </p:sp>
      <p:sp>
        <p:nvSpPr>
          <p:cNvPr id="12" name="Text 10"/>
          <p:cNvSpPr/>
          <p:nvPr/>
        </p:nvSpPr>
        <p:spPr>
          <a:xfrm>
            <a:off x="975360" y="4194048"/>
            <a:ext cx="14305280" cy="5689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2. Which is the largest ocean on Earth?</a:t>
            </a:r>
            <a:endParaRPr lang="en-US" sz="1200" dirty="0"/>
          </a:p>
        </p:txBody>
      </p:sp>
      <p:sp>
        <p:nvSpPr>
          <p:cNvPr id="13" name="Text 11"/>
          <p:cNvSpPr/>
          <p:nvPr/>
        </p:nvSpPr>
        <p:spPr>
          <a:xfrm>
            <a:off x="975360" y="4844288"/>
            <a:ext cx="14305280" cy="731520"/>
          </a:xfrm>
          <a:prstGeom prst="rect">
            <a:avLst/>
          </a:prstGeom>
          <a:noFill/>
          <a:ln/>
        </p:spPr>
        <p:txBody>
          <a:bodyPr wrap="square" lIns="0" tIns="0" rIns="0" bIns="0"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The Pacific Ocean -- so big all 7 continents could fit inside!</a:t>
            </a:r>
            <a:endParaRPr lang="en-US" sz="1100" dirty="0"/>
          </a:p>
        </p:txBody>
      </p:sp>
      <p:sp>
        <p:nvSpPr>
          <p:cNvPr id="14" name="Shape 12"/>
          <p:cNvSpPr/>
          <p:nvPr/>
        </p:nvSpPr>
        <p:spPr>
          <a:xfrm>
            <a:off x="650240" y="6014720"/>
            <a:ext cx="14955520" cy="1706880"/>
          </a:xfrm>
          <a:prstGeom prst="roundRect">
            <a:avLst>
              <a:gd name="adj" fmla="val 9524"/>
            </a:avLst>
          </a:prstGeom>
          <a:solidFill>
            <a:srgbClr val="EAF8FD"/>
          </a:solidFill>
          <a:ln/>
        </p:spPr>
      </p:sp>
      <p:sp>
        <p:nvSpPr>
          <p:cNvPr id="15" name="Text 13"/>
          <p:cNvSpPr/>
          <p:nvPr/>
        </p:nvSpPr>
        <p:spPr>
          <a:xfrm>
            <a:off x="975360" y="6144768"/>
            <a:ext cx="14305280" cy="5689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3. Why do museum visitors need labels on a world map?</a:t>
            </a:r>
            <a:endParaRPr lang="en-US" sz="1200" dirty="0"/>
          </a:p>
        </p:txBody>
      </p:sp>
      <p:sp>
        <p:nvSpPr>
          <p:cNvPr id="16" name="Text 14"/>
          <p:cNvSpPr/>
          <p:nvPr/>
        </p:nvSpPr>
        <p:spPr>
          <a:xfrm>
            <a:off x="975360" y="6795008"/>
            <a:ext cx="14305280" cy="731520"/>
          </a:xfrm>
          <a:prstGeom prst="rect">
            <a:avLst/>
          </a:prstGeom>
          <a:noFill/>
          <a:ln/>
        </p:spPr>
        <p:txBody>
          <a:bodyPr wrap="square" lIns="0" tIns="0" rIns="0" bIns="0"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Labels help visitors find and understand places on the map.</a:t>
            </a:r>
            <a:endParaRPr lang="en-US" sz="1100" dirty="0"/>
          </a:p>
        </p:txBody>
      </p:sp>
      <p:sp>
        <p:nvSpPr>
          <p:cNvPr id="17" name="Shape 15"/>
          <p:cNvSpPr/>
          <p:nvPr/>
        </p:nvSpPr>
        <p:spPr>
          <a:xfrm>
            <a:off x="650240" y="7802880"/>
            <a:ext cx="14955520" cy="650240"/>
          </a:xfrm>
          <a:prstGeom prst="roundRect">
            <a:avLst>
              <a:gd name="adj" fmla="val 20000"/>
            </a:avLst>
          </a:prstGeom>
          <a:solidFill>
            <a:srgbClr val="FFF3DC"/>
          </a:solidFill>
          <a:ln/>
        </p:spPr>
      </p:sp>
      <p:sp>
        <p:nvSpPr>
          <p:cNvPr id="18" name="Text 16"/>
          <p:cNvSpPr/>
          <p:nvPr/>
        </p:nvSpPr>
        <p:spPr>
          <a:xfrm>
            <a:off x="975360" y="7835392"/>
            <a:ext cx="14305280" cy="585216"/>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These are the three big ideas you need for your assignment. Ready? Let's preview what you'll turn in.</a:t>
            </a:r>
            <a:endParaRPr lang="en-US" sz="1100" dirty="0"/>
          </a:p>
        </p:txBody>
      </p:sp>
      <p:sp>
        <p:nvSpPr>
          <p:cNvPr id="19" name="Text 17"/>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17 / 20</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0F2F8"/>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ASSIGNMENT PREVIEW</a:t>
            </a:r>
            <a:endParaRPr lang="en-US" sz="800" dirty="0"/>
          </a:p>
        </p:txBody>
      </p:sp>
      <p:sp>
        <p:nvSpPr>
          <p:cNvPr id="7" name="Text 5"/>
          <p:cNvSpPr/>
          <p:nvPr/>
        </p:nvSpPr>
        <p:spPr>
          <a:xfrm>
            <a:off x="650240" y="1137920"/>
            <a:ext cx="146304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What You'll Turn In</a:t>
            </a:r>
            <a:endParaRPr lang="en-US" sz="2200" dirty="0"/>
          </a:p>
        </p:txBody>
      </p:sp>
      <p:sp>
        <p:nvSpPr>
          <p:cNvPr id="8" name="Shape 6"/>
          <p:cNvSpPr/>
          <p:nvPr/>
        </p:nvSpPr>
        <p:spPr>
          <a:xfrm>
            <a:off x="650240" y="2113280"/>
            <a:ext cx="7152640" cy="2438400"/>
          </a:xfrm>
          <a:prstGeom prst="roundRect">
            <a:avLst>
              <a:gd name="adj" fmla="val 8000"/>
            </a:avLst>
          </a:prstGeom>
          <a:solidFill>
            <a:srgbClr val="FFFFFF"/>
          </a:solidFill>
          <a:ln w="19050">
            <a:solidFill>
              <a:srgbClr val="1A8A7D"/>
            </a:solidFill>
            <a:prstDash val="solid"/>
          </a:ln>
          <a:effectLst>
            <a:outerShdw sx="100000" sy="100000" kx="0" ky="0" algn="bl" rotWithShape="0" blurRad="50800" dist="12700" dir="8100000">
              <a:srgbClr val="000000">
                <a:alpha val="10000"/>
              </a:srgbClr>
            </a:outerShdw>
          </a:effectLst>
        </p:spPr>
      </p:sp>
      <p:sp>
        <p:nvSpPr>
          <p:cNvPr id="9" name="Text 7"/>
          <p:cNvSpPr/>
          <p:nvPr/>
        </p:nvSpPr>
        <p:spPr>
          <a:xfrm>
            <a:off x="975360" y="2194560"/>
            <a:ext cx="6502400" cy="3576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EVIDENCE QUESTION 1</a:t>
            </a:r>
            <a:endParaRPr lang="en-US" sz="900" dirty="0"/>
          </a:p>
        </p:txBody>
      </p:sp>
      <p:sp>
        <p:nvSpPr>
          <p:cNvPr id="10" name="Text 8"/>
          <p:cNvSpPr/>
          <p:nvPr/>
        </p:nvSpPr>
        <p:spPr>
          <a:xfrm>
            <a:off x="975360" y="2682240"/>
            <a:ext cx="6502400" cy="81280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Name all seven continents. Which one is the largest?</a:t>
            </a:r>
            <a:endParaRPr lang="en-US" sz="1200" dirty="0"/>
          </a:p>
        </p:txBody>
      </p:sp>
      <p:sp>
        <p:nvSpPr>
          <p:cNvPr id="11" name="Text 9"/>
          <p:cNvSpPr/>
          <p:nvPr/>
        </p:nvSpPr>
        <p:spPr>
          <a:xfrm>
            <a:off x="975360" y="3576320"/>
            <a:ext cx="6502400" cy="731520"/>
          </a:xfrm>
          <a:prstGeom prst="rect">
            <a:avLst/>
          </a:prstGeom>
          <a:noFill/>
          <a:ln/>
        </p:spPr>
        <p:txBody>
          <a:bodyPr wrap="square" lIns="0" tIns="0" rIns="0" bIns="0"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List all seven continents, then tell which one is the biggest.</a:t>
            </a:r>
            <a:endParaRPr lang="en-US" sz="1000" dirty="0"/>
          </a:p>
        </p:txBody>
      </p:sp>
      <p:sp>
        <p:nvSpPr>
          <p:cNvPr id="12" name="Shape 10"/>
          <p:cNvSpPr/>
          <p:nvPr/>
        </p:nvSpPr>
        <p:spPr>
          <a:xfrm>
            <a:off x="8290560" y="2113280"/>
            <a:ext cx="7152640" cy="2438400"/>
          </a:xfrm>
          <a:prstGeom prst="roundRect">
            <a:avLst>
              <a:gd name="adj" fmla="val 8000"/>
            </a:avLst>
          </a:prstGeom>
          <a:solidFill>
            <a:srgbClr val="FFFFFF"/>
          </a:solidFill>
          <a:ln w="19050">
            <a:solidFill>
              <a:srgbClr val="1A8A7D"/>
            </a:solidFill>
            <a:prstDash val="solid"/>
          </a:ln>
          <a:effectLst>
            <a:outerShdw sx="100000" sy="100000" kx="0" ky="0" algn="bl" rotWithShape="0" blurRad="50800" dist="12700" dir="8100000">
              <a:srgbClr val="000000">
                <a:alpha val="10000"/>
              </a:srgbClr>
            </a:outerShdw>
          </a:effectLst>
        </p:spPr>
      </p:sp>
      <p:sp>
        <p:nvSpPr>
          <p:cNvPr id="13" name="Text 11"/>
          <p:cNvSpPr/>
          <p:nvPr/>
        </p:nvSpPr>
        <p:spPr>
          <a:xfrm>
            <a:off x="8615680" y="2194560"/>
            <a:ext cx="6502400" cy="3576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EVIDENCE QUESTION 2</a:t>
            </a:r>
            <a:endParaRPr lang="en-US" sz="900" dirty="0"/>
          </a:p>
        </p:txBody>
      </p:sp>
      <p:sp>
        <p:nvSpPr>
          <p:cNvPr id="14" name="Text 12"/>
          <p:cNvSpPr/>
          <p:nvPr/>
        </p:nvSpPr>
        <p:spPr>
          <a:xfrm>
            <a:off x="8615680" y="2682240"/>
            <a:ext cx="6502400" cy="1137920"/>
          </a:xfrm>
          <a:prstGeom prst="rect">
            <a:avLst/>
          </a:prstGeom>
          <a:noFill/>
          <a:ln/>
        </p:spPr>
        <p:txBody>
          <a:bodyPr wrap="square" lIns="0" tIns="0" rIns="0" bIns="0"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Why did the young museum volunteer's mistake with the Atlantic and Pacific labels matter? What could go wrong if ocean labels are in the wrong places?</a:t>
            </a:r>
            <a:endParaRPr lang="en-US" sz="1100" dirty="0"/>
          </a:p>
        </p:txBody>
      </p:sp>
      <p:sp>
        <p:nvSpPr>
          <p:cNvPr id="15" name="Text 13"/>
          <p:cNvSpPr/>
          <p:nvPr/>
        </p:nvSpPr>
        <p:spPr>
          <a:xfrm>
            <a:off x="8615680" y="3901440"/>
            <a:ext cx="6502400" cy="568960"/>
          </a:xfrm>
          <a:prstGeom prst="rect">
            <a:avLst/>
          </a:prstGeom>
          <a:noFill/>
          <a:ln/>
        </p:spPr>
        <p:txBody>
          <a:bodyPr wrap="square" lIns="0" tIns="0" rIns="0" bIns="0"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Think about what happens when a visitor trusts a label that is wrong.</a:t>
            </a:r>
            <a:endParaRPr lang="en-US" sz="1000" dirty="0"/>
          </a:p>
        </p:txBody>
      </p:sp>
      <p:sp>
        <p:nvSpPr>
          <p:cNvPr id="16" name="Shape 14"/>
          <p:cNvSpPr/>
          <p:nvPr/>
        </p:nvSpPr>
        <p:spPr>
          <a:xfrm>
            <a:off x="650240" y="4876800"/>
            <a:ext cx="14792960" cy="2600960"/>
          </a:xfrm>
          <a:prstGeom prst="roundRect">
            <a:avLst>
              <a:gd name="adj" fmla="val 7500"/>
            </a:avLst>
          </a:prstGeom>
          <a:solidFill>
            <a:srgbClr val="FFF3DC"/>
          </a:solidFill>
          <a:ln w="19050">
            <a:solidFill>
              <a:srgbClr val="D4943A"/>
            </a:solidFill>
            <a:prstDash val="solid"/>
          </a:ln>
        </p:spPr>
      </p:sp>
      <p:sp>
        <p:nvSpPr>
          <p:cNvPr id="17" name="Text 15"/>
          <p:cNvSpPr/>
          <p:nvPr/>
        </p:nvSpPr>
        <p:spPr>
          <a:xfrm>
            <a:off x="975360" y="4958080"/>
            <a:ext cx="141427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CURATOR TASK: WORLD MAP LABEL CARD</a:t>
            </a:r>
            <a:endParaRPr lang="en-US" sz="900" dirty="0"/>
          </a:p>
        </p:txBody>
      </p:sp>
      <p:sp>
        <p:nvSpPr>
          <p:cNvPr id="18" name="Text 16"/>
          <p:cNvSpPr/>
          <p:nvPr/>
        </p:nvSpPr>
        <p:spPr>
          <a:xfrm>
            <a:off x="975360" y="5445760"/>
            <a:ext cx="14142720" cy="5689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Write a label card for the World Map Hall entrance explaining why continent and ocean labels matter.</a:t>
            </a:r>
            <a:endParaRPr lang="en-US" sz="1200" dirty="0"/>
          </a:p>
        </p:txBody>
      </p:sp>
      <p:sp>
        <p:nvSpPr>
          <p:cNvPr id="19" name="Text 17"/>
          <p:cNvSpPr/>
          <p:nvPr/>
        </p:nvSpPr>
        <p:spPr>
          <a:xfrm>
            <a:off x="975360" y="6096000"/>
            <a:ext cx="14142720" cy="1300480"/>
          </a:xfrm>
          <a:prstGeom prst="rect">
            <a:avLst/>
          </a:prstGeom>
          <a:noFill/>
          <a:ln/>
        </p:spPr>
        <p:txBody>
          <a:bodyPr wrap="square" lIns="0" tIns="0" rIns="0" bIns="0" rtlCol="0" anchor="t"/>
          <a:lstStyle/>
          <a:p>
            <a:pPr indent="0" marL="0">
              <a:lnSpc>
                <a:spcPct val="115000"/>
              </a:lnSpc>
              <a:buNone/>
            </a:pPr>
            <a:r>
              <a:rPr lang="en-US" sz="1000" dirty="0">
                <a:solidFill>
                  <a:srgbClr val="0E1C42"/>
                </a:solidFill>
                <a:latin typeface="Calibri" pitchFamily="34" charset="0"/>
                <a:ea typeface="Calibri" pitchFamily="34" charset="-122"/>
                <a:cs typeface="Calibri" pitchFamily="34" charset="-120"/>
              </a:rPr>
              <a:t>The head curator wants to place a small card near the entrance of the World Map Hall. It should explain to visitors why the map has labels for each continent and ocean. Write 2-3 sentences for this card.</a:t>
            </a:r>
            <a:endParaRPr lang="en-US" sz="1000" dirty="0"/>
          </a:p>
          <a:p>
            <a:pPr indent="0" marL="0">
              <a:lnSpc>
                <a:spcPct val="115000"/>
              </a:lnSpc>
              <a:buNone/>
            </a:pPr>
            <a:endParaRPr lang="en-US" sz="1000" dirty="0"/>
          </a:p>
          <a:p>
            <a:pPr indent="0" marL="0">
              <a:lnSpc>
                <a:spcPct val="115000"/>
              </a:lnSpc>
              <a:buNone/>
            </a:pPr>
            <a:r>
              <a:rPr lang="en-US" sz="1000" dirty="0">
                <a:solidFill>
                  <a:srgbClr val="0E1C42"/>
                </a:solidFill>
                <a:latin typeface="Calibri" pitchFamily="34" charset="0"/>
                <a:ea typeface="Calibri" pitchFamily="34" charset="-122"/>
                <a:cs typeface="Calibri" pitchFamily="34" charset="-120"/>
              </a:rPr>
              <a:t>Explain what continents and oceans are and why labeling them helps visitors.</a:t>
            </a:r>
            <a:endParaRPr lang="en-US" sz="1000" dirty="0"/>
          </a:p>
        </p:txBody>
      </p:sp>
      <p:sp>
        <p:nvSpPr>
          <p:cNvPr id="20" name="Text 18"/>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18 / 20</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FFFFF"/>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ASSIGNMENT PREVIEW</a:t>
            </a:r>
            <a:endParaRPr lang="en-US" sz="800" dirty="0"/>
          </a:p>
        </p:txBody>
      </p:sp>
      <p:sp>
        <p:nvSpPr>
          <p:cNvPr id="7" name="Text 5"/>
          <p:cNvSpPr/>
          <p:nvPr/>
        </p:nvSpPr>
        <p:spPr>
          <a:xfrm>
            <a:off x="650240" y="1137920"/>
            <a:ext cx="146304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Chronicle and Checklist</a:t>
            </a:r>
            <a:endParaRPr lang="en-US" sz="2200" dirty="0"/>
          </a:p>
        </p:txBody>
      </p:sp>
      <p:sp>
        <p:nvSpPr>
          <p:cNvPr id="8" name="Shape 6"/>
          <p:cNvSpPr/>
          <p:nvPr/>
        </p:nvSpPr>
        <p:spPr>
          <a:xfrm>
            <a:off x="650240" y="2113280"/>
            <a:ext cx="14955520" cy="1950720"/>
          </a:xfrm>
          <a:prstGeom prst="roundRect">
            <a:avLst>
              <a:gd name="adj" fmla="val 10000"/>
            </a:avLst>
          </a:prstGeom>
          <a:solidFill>
            <a:srgbClr val="F0E8FF"/>
          </a:solidFill>
          <a:ln w="12700">
            <a:solidFill>
              <a:srgbClr val="8B6FC0"/>
            </a:solidFill>
            <a:prstDash val="solid"/>
          </a:ln>
        </p:spPr>
      </p:sp>
      <p:sp>
        <p:nvSpPr>
          <p:cNvPr id="9" name="Text 7"/>
          <p:cNvSpPr/>
          <p:nvPr/>
        </p:nvSpPr>
        <p:spPr>
          <a:xfrm>
            <a:off x="975360" y="2194560"/>
            <a:ext cx="14305280" cy="357632"/>
          </a:xfrm>
          <a:prstGeom prst="rect">
            <a:avLst/>
          </a:prstGeom>
          <a:noFill/>
          <a:ln/>
        </p:spPr>
        <p:txBody>
          <a:bodyPr wrap="square" lIns="0" tIns="0" rIns="0" bIns="0"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CURATOR'S CHRONICLE</a:t>
            </a:r>
            <a:endParaRPr lang="en-US" sz="900" dirty="0"/>
          </a:p>
        </p:txBody>
      </p:sp>
      <p:sp>
        <p:nvSpPr>
          <p:cNvPr id="10" name="Text 8"/>
          <p:cNvSpPr/>
          <p:nvPr/>
        </p:nvSpPr>
        <p:spPr>
          <a:xfrm>
            <a:off x="975360" y="2682240"/>
            <a:ext cx="14305280" cy="48768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Finish this sentence in your own words:</a:t>
            </a:r>
            <a:endParaRPr lang="en-US" sz="1100" dirty="0"/>
          </a:p>
        </p:txBody>
      </p:sp>
      <p:sp>
        <p:nvSpPr>
          <p:cNvPr id="11" name="Text 9"/>
          <p:cNvSpPr/>
          <p:nvPr/>
        </p:nvSpPr>
        <p:spPr>
          <a:xfrm>
            <a:off x="975360" y="3169920"/>
            <a:ext cx="14305280" cy="568960"/>
          </a:xfrm>
          <a:prstGeom prst="rect">
            <a:avLst/>
          </a:prstGeom>
          <a:noFill/>
          <a:ln/>
        </p:spPr>
        <p:txBody>
          <a:bodyPr wrap="square" lIns="0" tIns="0" rIns="0" bIns="0" rtlCol="0" anchor="ctr"/>
          <a:lstStyle/>
          <a:p>
            <a:pPr indent="0" marL="0">
              <a:buNone/>
            </a:pPr>
            <a:r>
              <a:rPr lang="en-US" sz="1400" b="1" i="1" dirty="0">
                <a:solidFill>
                  <a:srgbClr val="8B6FC0"/>
                </a:solidFill>
                <a:latin typeface="Cambria" pitchFamily="34" charset="0"/>
                <a:ea typeface="Cambria" pitchFamily="34" charset="-122"/>
                <a:cs typeface="Cambria" pitchFamily="34" charset="-120"/>
              </a:rPr>
              <a:t>In this exhibit, I learned that ______ because ______.</a:t>
            </a:r>
            <a:endParaRPr lang="en-US" sz="1400" dirty="0"/>
          </a:p>
        </p:txBody>
      </p:sp>
      <p:sp>
        <p:nvSpPr>
          <p:cNvPr id="12" name="Shape 10"/>
          <p:cNvSpPr/>
          <p:nvPr/>
        </p:nvSpPr>
        <p:spPr>
          <a:xfrm>
            <a:off x="650240" y="4470400"/>
            <a:ext cx="14955520" cy="3576320"/>
          </a:xfrm>
          <a:prstGeom prst="roundRect">
            <a:avLst>
              <a:gd name="adj" fmla="val 5455"/>
            </a:avLst>
          </a:prstGeom>
          <a:solidFill>
            <a:srgbClr val="E3F8ED"/>
          </a:solidFill>
          <a:ln w="12700">
            <a:solidFill>
              <a:srgbClr val="34B76F"/>
            </a:solidFill>
            <a:prstDash val="solid"/>
          </a:ln>
        </p:spPr>
      </p:sp>
      <p:sp>
        <p:nvSpPr>
          <p:cNvPr id="13" name="Text 11"/>
          <p:cNvSpPr/>
          <p:nvPr/>
        </p:nvSpPr>
        <p:spPr>
          <a:xfrm>
            <a:off x="975360" y="4551680"/>
            <a:ext cx="14305280" cy="357632"/>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TURN-IN CHECKLIST</a:t>
            </a:r>
            <a:endParaRPr lang="en-US" sz="900" dirty="0"/>
          </a:p>
        </p:txBody>
      </p:sp>
      <p:sp>
        <p:nvSpPr>
          <p:cNvPr id="14" name="Shape 12"/>
          <p:cNvSpPr/>
          <p:nvPr/>
        </p:nvSpPr>
        <p:spPr>
          <a:xfrm>
            <a:off x="1300480" y="5120640"/>
            <a:ext cx="357632" cy="357632"/>
          </a:xfrm>
          <a:prstGeom prst="roundRect">
            <a:avLst>
              <a:gd name="adj" fmla="val 18182"/>
            </a:avLst>
          </a:prstGeom>
          <a:solidFill>
            <a:srgbClr val="FFFFFF"/>
          </a:solidFill>
          <a:ln w="12700">
            <a:solidFill>
              <a:srgbClr val="34B76F"/>
            </a:solidFill>
            <a:prstDash val="solid"/>
          </a:ln>
        </p:spPr>
      </p:sp>
      <p:sp>
        <p:nvSpPr>
          <p:cNvPr id="15" name="Text 13"/>
          <p:cNvSpPr/>
          <p:nvPr/>
        </p:nvSpPr>
        <p:spPr>
          <a:xfrm>
            <a:off x="1869440" y="5071872"/>
            <a:ext cx="13492480" cy="48768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I answered the evidence questions.</a:t>
            </a:r>
            <a:endParaRPr lang="en-US" sz="1200" dirty="0"/>
          </a:p>
        </p:txBody>
      </p:sp>
      <p:sp>
        <p:nvSpPr>
          <p:cNvPr id="16" name="Shape 14"/>
          <p:cNvSpPr/>
          <p:nvPr/>
        </p:nvSpPr>
        <p:spPr>
          <a:xfrm>
            <a:off x="1300480" y="5803392"/>
            <a:ext cx="357632" cy="357632"/>
          </a:xfrm>
          <a:prstGeom prst="roundRect">
            <a:avLst>
              <a:gd name="adj" fmla="val 18182"/>
            </a:avLst>
          </a:prstGeom>
          <a:solidFill>
            <a:srgbClr val="FFFFFF"/>
          </a:solidFill>
          <a:ln w="12700">
            <a:solidFill>
              <a:srgbClr val="34B76F"/>
            </a:solidFill>
            <a:prstDash val="solid"/>
          </a:ln>
        </p:spPr>
      </p:sp>
      <p:sp>
        <p:nvSpPr>
          <p:cNvPr id="17" name="Text 15"/>
          <p:cNvSpPr/>
          <p:nvPr/>
        </p:nvSpPr>
        <p:spPr>
          <a:xfrm>
            <a:off x="1869440" y="5754624"/>
            <a:ext cx="13492480" cy="48768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I completed the Curator Task: World Map Label Card.</a:t>
            </a:r>
            <a:endParaRPr lang="en-US" sz="1200" dirty="0"/>
          </a:p>
        </p:txBody>
      </p:sp>
      <p:sp>
        <p:nvSpPr>
          <p:cNvPr id="18" name="Shape 16"/>
          <p:cNvSpPr/>
          <p:nvPr/>
        </p:nvSpPr>
        <p:spPr>
          <a:xfrm>
            <a:off x="1300480" y="6486144"/>
            <a:ext cx="357632" cy="357632"/>
          </a:xfrm>
          <a:prstGeom prst="roundRect">
            <a:avLst>
              <a:gd name="adj" fmla="val 18182"/>
            </a:avLst>
          </a:prstGeom>
          <a:solidFill>
            <a:srgbClr val="FFFFFF"/>
          </a:solidFill>
          <a:ln w="12700">
            <a:solidFill>
              <a:srgbClr val="34B76F"/>
            </a:solidFill>
            <a:prstDash val="solid"/>
          </a:ln>
        </p:spPr>
      </p:sp>
      <p:sp>
        <p:nvSpPr>
          <p:cNvPr id="19" name="Text 17"/>
          <p:cNvSpPr/>
          <p:nvPr/>
        </p:nvSpPr>
        <p:spPr>
          <a:xfrm>
            <a:off x="1869440" y="6437376"/>
            <a:ext cx="13492480" cy="48768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I wrote my Curator's Chronicle.</a:t>
            </a:r>
            <a:endParaRPr lang="en-US" sz="1200" dirty="0"/>
          </a:p>
        </p:txBody>
      </p:sp>
      <p:sp>
        <p:nvSpPr>
          <p:cNvPr id="20" name="Shape 18"/>
          <p:cNvSpPr/>
          <p:nvPr/>
        </p:nvSpPr>
        <p:spPr>
          <a:xfrm>
            <a:off x="1300480" y="7168896"/>
            <a:ext cx="357632" cy="357632"/>
          </a:xfrm>
          <a:prstGeom prst="roundRect">
            <a:avLst>
              <a:gd name="adj" fmla="val 18182"/>
            </a:avLst>
          </a:prstGeom>
          <a:solidFill>
            <a:srgbClr val="FFFFFF"/>
          </a:solidFill>
          <a:ln w="12700">
            <a:solidFill>
              <a:srgbClr val="34B76F"/>
            </a:solidFill>
            <a:prstDash val="solid"/>
          </a:ln>
        </p:spPr>
      </p:sp>
      <p:sp>
        <p:nvSpPr>
          <p:cNvPr id="21" name="Text 19"/>
          <p:cNvSpPr/>
          <p:nvPr/>
        </p:nvSpPr>
        <p:spPr>
          <a:xfrm>
            <a:off x="1869440" y="7120128"/>
            <a:ext cx="13492480" cy="48768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I copied or downloaded my work and submitted to Canvas.</a:t>
            </a:r>
            <a:endParaRPr lang="en-US" sz="1200" dirty="0"/>
          </a:p>
        </p:txBody>
      </p:sp>
      <p:sp>
        <p:nvSpPr>
          <p:cNvPr id="22" name="Text 20"/>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19 / 20</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Shape 2"/>
          <p:cNvSpPr/>
          <p:nvPr/>
        </p:nvSpPr>
        <p:spPr>
          <a:xfrm>
            <a:off x="650240" y="56896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3"/>
          <p:cNvSpPr/>
          <p:nvPr/>
        </p:nvSpPr>
        <p:spPr>
          <a:xfrm>
            <a:off x="650240" y="56896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CLOSING</a:t>
            </a:r>
            <a:endParaRPr lang="en-US" sz="800" dirty="0"/>
          </a:p>
        </p:txBody>
      </p:sp>
      <p:sp>
        <p:nvSpPr>
          <p:cNvPr id="7" name="Text 4"/>
          <p:cNvSpPr/>
          <p:nvPr/>
        </p:nvSpPr>
        <p:spPr>
          <a:xfrm>
            <a:off x="650240" y="1625600"/>
            <a:ext cx="9753600" cy="1950720"/>
          </a:xfrm>
          <a:prstGeom prst="rect">
            <a:avLst/>
          </a:prstGeom>
          <a:noFill/>
          <a:ln/>
          <a:effectLst>
            <a:outerShdw sx="100000" sy="100000" kx="0" ky="0" algn="bl" rotWithShape="0" blurRad="76200" dist="25400" dir="16200000">
              <a:srgbClr val="000000">
                <a:alpha val="35000"/>
              </a:srgbClr>
            </a:outerShdw>
          </a:effectLst>
        </p:spPr>
        <p:txBody>
          <a:bodyPr wrap="square" rtlCol="0" anchor="ctr"/>
          <a:lstStyle/>
          <a:p>
            <a:pPr indent="0" marL="0">
              <a:lnSpc>
                <a:spcPct val="110000"/>
              </a:lnSpc>
              <a:buNone/>
            </a:pPr>
            <a:r>
              <a:rPr lang="en-US" sz="3000" b="1" dirty="0">
                <a:solidFill>
                  <a:srgbClr val="FFFFFF"/>
                </a:solidFill>
                <a:latin typeface="Cambria" pitchFamily="34" charset="0"/>
                <a:ea typeface="Cambria" pitchFamily="34" charset="-122"/>
                <a:cs typeface="Cambria" pitchFamily="34" charset="-120"/>
              </a:rPr>
              <a:t>Great Work, World</a:t>
            </a:r>
            <a:endParaRPr lang="en-US" sz="3000" dirty="0"/>
          </a:p>
          <a:p>
            <a:pPr indent="0" marL="0">
              <a:lnSpc>
                <a:spcPct val="110000"/>
              </a:lnSpc>
              <a:buNone/>
            </a:pPr>
            <a:r>
              <a:rPr lang="en-US" sz="3000" b="1" dirty="0">
                <a:solidFill>
                  <a:srgbClr val="FFFFFF"/>
                </a:solidFill>
                <a:latin typeface="Cambria" pitchFamily="34" charset="0"/>
                <a:ea typeface="Cambria" pitchFamily="34" charset="-122"/>
                <a:cs typeface="Cambria" pitchFamily="34" charset="-120"/>
              </a:rPr>
              <a:t>Geography Curator!</a:t>
            </a:r>
            <a:endParaRPr lang="en-US" sz="3000" dirty="0"/>
          </a:p>
        </p:txBody>
      </p:sp>
      <p:sp>
        <p:nvSpPr>
          <p:cNvPr id="8" name="Text 5"/>
          <p:cNvSpPr/>
          <p:nvPr/>
        </p:nvSpPr>
        <p:spPr>
          <a:xfrm>
            <a:off x="650240" y="3738880"/>
            <a:ext cx="8940800" cy="975360"/>
          </a:xfrm>
          <a:prstGeom prst="rect">
            <a:avLst/>
          </a:prstGeom>
          <a:noFill/>
          <a:ln/>
        </p:spPr>
        <p:txBody>
          <a:bodyPr wrap="square" lIns="0" tIns="0" rIns="0" bIns="0" rtlCol="0" anchor="ctr"/>
          <a:lstStyle/>
          <a:p>
            <a:pPr indent="0" marL="0">
              <a:buNone/>
            </a:pPr>
            <a:r>
              <a:rPr lang="en-US" sz="1300" dirty="0">
                <a:solidFill>
                  <a:srgbClr val="55C8E8"/>
                </a:solidFill>
                <a:latin typeface="Calibri" pitchFamily="34" charset="0"/>
                <a:ea typeface="Calibri" pitchFamily="34" charset="-122"/>
                <a:cs typeface="Calibri" pitchFamily="34" charset="-120"/>
              </a:rPr>
              <a:t>You labeled the continents and oceans and explained why those labels help museum visitors understand the world.</a:t>
            </a:r>
            <a:endParaRPr lang="en-US" sz="1300" dirty="0"/>
          </a:p>
        </p:txBody>
      </p:sp>
      <p:sp>
        <p:nvSpPr>
          <p:cNvPr id="9" name="Shape 6"/>
          <p:cNvSpPr/>
          <p:nvPr/>
        </p:nvSpPr>
        <p:spPr>
          <a:xfrm>
            <a:off x="650240" y="5201920"/>
            <a:ext cx="9753600" cy="2600960"/>
          </a:xfrm>
          <a:prstGeom prst="roundRect">
            <a:avLst>
              <a:gd name="adj" fmla="val 7500"/>
            </a:avLst>
          </a:prstGeom>
          <a:solidFill>
            <a:srgbClr val="1A2D5A"/>
          </a:solidFill>
          <a:ln w="12700">
            <a:solidFill>
              <a:srgbClr val="D4943A"/>
            </a:solidFill>
            <a:prstDash val="solid"/>
          </a:ln>
        </p:spPr>
      </p:sp>
      <p:sp>
        <p:nvSpPr>
          <p:cNvPr id="10" name="Text 7"/>
          <p:cNvSpPr/>
          <p:nvPr/>
        </p:nvSpPr>
        <p:spPr>
          <a:xfrm>
            <a:off x="975360" y="5283200"/>
            <a:ext cx="910336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COMING NEXT: LESSON 3.05.02</a:t>
            </a:r>
            <a:endParaRPr lang="en-US" sz="900" dirty="0"/>
          </a:p>
        </p:txBody>
      </p:sp>
      <p:sp>
        <p:nvSpPr>
          <p:cNvPr id="11" name="Text 8"/>
          <p:cNvSpPr/>
          <p:nvPr/>
        </p:nvSpPr>
        <p:spPr>
          <a:xfrm>
            <a:off x="975360" y="5770880"/>
            <a:ext cx="9103360" cy="186944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Calibri" pitchFamily="34" charset="0"/>
                <a:ea typeface="Calibri" pitchFamily="34" charset="-122"/>
                <a:cs typeface="Calibri" pitchFamily="34" charset="-120"/>
              </a:rPr>
              <a:t>The continents and oceans are labeled -- but when the head curator steps back, the young volunteer is picking something up. A whole stack of feature cards -- mountains, rivers, plains, lakes -- slid off the map overnight.</a:t>
            </a:r>
            <a:endParaRPr lang="en-US" sz="1100" dirty="0"/>
          </a:p>
          <a:p>
            <a:pPr indent="0" marL="0">
              <a:lnSpc>
                <a:spcPct val="115000"/>
              </a:lnSpc>
              <a:buNone/>
            </a:pPr>
            <a:endParaRPr lang="en-US" sz="1100" dirty="0"/>
          </a:p>
          <a:p>
            <a:pPr indent="0" marL="0">
              <a:lnSpc>
                <a:spcPct val="115000"/>
              </a:lnSpc>
              <a:buNone/>
            </a:pPr>
            <a:r>
              <a:rPr lang="en-US" sz="1100" dirty="0">
                <a:solidFill>
                  <a:srgbClr val="FFFFFF"/>
                </a:solidFill>
                <a:latin typeface="Calibri" pitchFamily="34" charset="0"/>
                <a:ea typeface="Calibri" pitchFamily="34" charset="-122"/>
                <a:cs typeface="Calibri" pitchFamily="34" charset="-120"/>
              </a:rPr>
              <a:t>"We have to put them all back," he says.</a:t>
            </a:r>
            <a:endParaRPr lang="en-US" sz="1100" dirty="0"/>
          </a:p>
          <a:p>
            <a:pPr indent="0" marL="0">
              <a:lnSpc>
                <a:spcPct val="115000"/>
              </a:lnSpc>
              <a:buNone/>
            </a:pPr>
            <a:endParaRPr lang="en-US" sz="1100" dirty="0"/>
          </a:p>
          <a:p>
            <a:pPr indent="0" marL="0">
              <a:lnSpc>
                <a:spcPct val="115000"/>
              </a:lnSpc>
              <a:buNone/>
            </a:pPr>
            <a:r>
              <a:rPr lang="en-US" sz="1100" dirty="0">
                <a:solidFill>
                  <a:srgbClr val="FFFFFF"/>
                </a:solidFill>
                <a:latin typeface="Calibri" pitchFamily="34" charset="0"/>
                <a:ea typeface="Calibri" pitchFamily="34" charset="-122"/>
                <a:cs typeface="Calibri" pitchFamily="34" charset="-120"/>
              </a:rPr>
              <a:t>Tomorrow you'll help him figure out where each one belongs.</a:t>
            </a:r>
            <a:endParaRPr lang="en-US" sz="1100" dirty="0"/>
          </a:p>
        </p:txBody>
      </p:sp>
      <p:sp>
        <p:nvSpPr>
          <p:cNvPr id="12" name="Text 9"/>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20 / 20</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3.05.01 Label the Continents and Oceans</dc:title>
  <dc:subject>PptxGenJS Presentation</dc:subject>
  <dc:creator>Optima Academy Online</dc:creator>
  <cp:lastModifiedBy>Optima Academy Online</cp:lastModifiedBy>
  <cp:revision>1</cp:revision>
  <dcterms:created xsi:type="dcterms:W3CDTF">2026-07-11T02:52:40Z</dcterms:created>
  <dcterms:modified xsi:type="dcterms:W3CDTF">2026-07-11T02:52:40Z</dcterms:modified>
</cp:coreProperties>
</file>