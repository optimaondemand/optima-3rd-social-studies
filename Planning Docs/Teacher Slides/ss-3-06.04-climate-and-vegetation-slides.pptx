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thany Birchum" userId="b6e46c8f-0faa-466a-acc6-930e89db8bda" providerId="ADAL" clId="{AA9CE83A-CD8B-470A-8EAE-DE780D5C6D9C}"/>
    <pc:docChg chg="modSld">
      <pc:chgData name="Bethany Birchum" userId="b6e46c8f-0faa-466a-acc6-930e89db8bda" providerId="ADAL" clId="{AA9CE83A-CD8B-470A-8EAE-DE780D5C6D9C}" dt="2026-07-11T03:02:07.843" v="1" actId="1076"/>
      <pc:docMkLst>
        <pc:docMk/>
      </pc:docMkLst>
      <pc:sldChg chg="modSp mod">
        <pc:chgData name="Bethany Birchum" userId="b6e46c8f-0faa-466a-acc6-930e89db8bda" providerId="ADAL" clId="{AA9CE83A-CD8B-470A-8EAE-DE780D5C6D9C}" dt="2026-07-11T03:02:07.843" v="1" actId="1076"/>
        <pc:sldMkLst>
          <pc:docMk/>
          <pc:sldMk cId="0" sldId="257"/>
        </pc:sldMkLst>
        <pc:spChg chg="mod">
          <ac:chgData name="Bethany Birchum" userId="b6e46c8f-0faa-466a-acc6-930e89db8bda" providerId="ADAL" clId="{AA9CE83A-CD8B-470A-8EAE-DE780D5C6D9C}" dt="2026-07-11T03:02:07.843" v="1" actId="1076"/>
          <ac:spMkLst>
            <pc:docMk/>
            <pc:sldMk cId="0" sldId="25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63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Transition: 'Today we step over to the new climate and vegetation panels.'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long row of colorful museum panels stretching across a gallery hall -- icy white/blue at one end (Arctic), sandy desert in the middle, lush green tropical palms at the other end. Warm gallery lighting, grand hall.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first. Ask students what they remember about climate from Unit 5 before defining it again. KEY distinction: weather = today, climate = the long pattern.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SCAFFOLDING for Evidence Q1: Students need to explain WHY trees don't grow in the Arctic Tundra. Drive discussion toward: ground stays frozen too deep for roots, too cold.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SCAFFOLDING for Evidence Q2: Students need to name one desert plant and one tropical plant and explain how each is suited to its climate. Drive discussion toward water storage (cactus) vs. needing lots of rain (palm/banana).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SCAFFOLDING for Evidence Q3: Students need to explain how climate shapes the way a place LOOKS. Drive discussion: plants = evidence of climate. Different plants = different climate.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Address the misconception that deserts are lifeless. Connect back to courtesy -- every climate zone has value.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a:effectLst/>
      </p:bgPr>
    </p:bg>
    <p:spTree>
      <p:nvGrpSpPr>
        <p:cNvPr id="1" name=""/>
        <p:cNvGrpSpPr/>
        <p:nvPr/>
      </p:nvGrpSpPr>
      <p:grpSpPr>
        <a:xfrm>
          <a:off x="0" y="0"/>
          <a:ext cx="0" cy="0"/>
          <a:chOff x="0" y="0"/>
          <a:chExt cx="0" cy="0"/>
        </a:xfrm>
      </p:grpSpPr>
      <p:sp>
        <p:nvSpPr>
          <p:cNvPr id="2" name="Text 0"/>
          <p:cNvSpPr/>
          <p:nvPr/>
        </p:nvSpPr>
        <p:spPr>
          <a:xfrm>
            <a:off x="548640" y="548640"/>
            <a:ext cx="8046720" cy="274320"/>
          </a:xfrm>
          <a:prstGeom prst="rect">
            <a:avLst/>
          </a:prstGeom>
          <a:noFill/>
          <a:ln/>
        </p:spPr>
        <p:txBody>
          <a:bodyPr wrap="square" rtlCol="0" anchor="ctr"/>
          <a:lstStyle/>
          <a:p>
            <a:pPr marL="0" indent="0">
              <a:buNone/>
            </a:pPr>
            <a:r>
              <a:rPr lang="en-US" sz="1000" b="1" kern="0" spc="20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3" name="Text 1"/>
          <p:cNvSpPr/>
          <p:nvPr/>
        </p:nvSpPr>
        <p:spPr>
          <a:xfrm>
            <a:off x="548640" y="1097280"/>
            <a:ext cx="8046720" cy="1463040"/>
          </a:xfrm>
          <a:prstGeom prst="rect">
            <a:avLst/>
          </a:prstGeom>
          <a:noFill/>
          <a:ln/>
        </p:spPr>
        <p:txBody>
          <a:bodyPr wrap="square" rtlCol="0" anchor="ctr"/>
          <a:lstStyle/>
          <a:p>
            <a:pPr marL="0" indent="0">
              <a:lnSpc>
                <a:spcPct val="110000"/>
              </a:lnSpc>
              <a:buNone/>
            </a:pPr>
            <a:r>
              <a:rPr lang="en-US" sz="3600" b="1" dirty="0">
                <a:solidFill>
                  <a:srgbClr val="FFFFFF"/>
                </a:solidFill>
                <a:latin typeface="Cambria" pitchFamily="34" charset="0"/>
                <a:ea typeface="Cambria" pitchFamily="34" charset="-122"/>
                <a:cs typeface="Cambria" pitchFamily="34" charset="-120"/>
              </a:rPr>
              <a:t>Climate and Vegetation</a:t>
            </a:r>
            <a:endParaRPr lang="en-US" sz="3600" dirty="0"/>
          </a:p>
          <a:p>
            <a:pPr marL="0" indent="0">
              <a:lnSpc>
                <a:spcPct val="110000"/>
              </a:lnSpc>
              <a:buNone/>
            </a:pPr>
            <a:r>
              <a:rPr lang="en-US" sz="3600" b="1" dirty="0">
                <a:solidFill>
                  <a:srgbClr val="FFFFFF"/>
                </a:solidFill>
                <a:latin typeface="Cambria" pitchFamily="34" charset="0"/>
                <a:ea typeface="Cambria" pitchFamily="34" charset="-122"/>
                <a:cs typeface="Cambria" pitchFamily="34" charset="-120"/>
              </a:rPr>
              <a:t>Across the Region</a:t>
            </a:r>
            <a:endParaRPr lang="en-US" sz="3600" dirty="0"/>
          </a:p>
        </p:txBody>
      </p:sp>
      <p:sp>
        <p:nvSpPr>
          <p:cNvPr id="4" name="Text 2"/>
          <p:cNvSpPr/>
          <p:nvPr/>
        </p:nvSpPr>
        <p:spPr>
          <a:xfrm>
            <a:off x="548640" y="2743200"/>
            <a:ext cx="8046720" cy="320040"/>
          </a:xfrm>
          <a:prstGeom prst="rect">
            <a:avLst/>
          </a:prstGeom>
          <a:noFill/>
          <a:ln/>
        </p:spPr>
        <p:txBody>
          <a:bodyPr wrap="square" rtlCol="0" anchor="ctr"/>
          <a:lstStyle/>
          <a:p>
            <a:pPr marL="0" indent="0">
              <a:buNone/>
            </a:pPr>
            <a:r>
              <a:rPr lang="en-US" sz="1300" dirty="0">
                <a:solidFill>
                  <a:srgbClr val="55C8E8"/>
                </a:solidFill>
                <a:latin typeface="Calibri" pitchFamily="34" charset="0"/>
                <a:ea typeface="Calibri" pitchFamily="34" charset="-122"/>
                <a:cs typeface="Calibri" pitchFamily="34" charset="-120"/>
              </a:rPr>
              <a:t>Lesson 3.06.04  |  Week 16  |  The Great Map Room</a:t>
            </a:r>
            <a:endParaRPr lang="en-US" sz="1300" dirty="0"/>
          </a:p>
        </p:txBody>
      </p:sp>
      <p:sp>
        <p:nvSpPr>
          <p:cNvPr id="5" name="Text 3"/>
          <p:cNvSpPr/>
          <p:nvPr/>
        </p:nvSpPr>
        <p:spPr>
          <a:xfrm>
            <a:off x="548640" y="3154680"/>
            <a:ext cx="8046720" cy="274320"/>
          </a:xfrm>
          <a:prstGeom prst="rect">
            <a:avLst/>
          </a:prstGeom>
          <a:noFill/>
          <a:ln/>
        </p:spPr>
        <p:txBody>
          <a:bodyPr wrap="square" rtlCol="0" anchor="ctr"/>
          <a:lstStyle/>
          <a:p>
            <a:pPr marL="0" indent="0">
              <a:buNone/>
            </a:pPr>
            <a:r>
              <a:rPr lang="en-US" sz="1000" dirty="0">
                <a:solidFill>
                  <a:srgbClr val="7A88A8"/>
                </a:solidFill>
                <a:latin typeface="Calibri" pitchFamily="34" charset="0"/>
                <a:ea typeface="Calibri" pitchFamily="34" charset="-122"/>
                <a:cs typeface="Calibri" pitchFamily="34" charset="-120"/>
              </a:rPr>
              <a:t>SS.3.G.2.1  |  SS.3.G.2.4  |  SS.3.G.4.1</a:t>
            </a:r>
            <a:endParaRPr lang="en-US" sz="1000" dirty="0"/>
          </a:p>
        </p:txBody>
      </p:sp>
      <p:sp>
        <p:nvSpPr>
          <p:cNvPr id="6" name="Shape 4"/>
          <p:cNvSpPr/>
          <p:nvPr/>
        </p:nvSpPr>
        <p:spPr>
          <a:xfrm>
            <a:off x="548640" y="4023360"/>
            <a:ext cx="1828800" cy="36576"/>
          </a:xfrm>
          <a:prstGeom prst="rect">
            <a:avLst/>
          </a:prstGeom>
          <a:solidFill>
            <a:srgbClr val="D4943A"/>
          </a:solidFill>
          <a:ln/>
        </p:spPr>
        <p:txBody>
          <a:bodyPr/>
          <a:lstStyle/>
          <a:p>
            <a:endParaRPr lang="en-US"/>
          </a:p>
        </p:txBody>
      </p:sp>
      <p:sp>
        <p:nvSpPr>
          <p:cNvPr id="7" name="Text 5"/>
          <p:cNvSpPr/>
          <p:nvPr/>
        </p:nvSpPr>
        <p:spPr>
          <a:xfrm>
            <a:off x="548640" y="4160520"/>
            <a:ext cx="4572000" cy="27432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Thinking Move:  Sort  |  Compare  |  Explain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txBody>
          <a:bodyPr/>
          <a:lstStyle/>
          <a:p>
            <a:endParaRPr lang="en-US"/>
          </a:p>
        </p:txBody>
      </p:sp>
      <p:sp>
        <p:nvSpPr>
          <p:cNvPr id="3" name="Shape 1"/>
          <p:cNvSpPr/>
          <p:nvPr/>
        </p:nvSpPr>
        <p:spPr>
          <a:xfrm>
            <a:off x="0" y="-4689"/>
            <a:ext cx="12192000" cy="6858000"/>
          </a:xfrm>
          <a:prstGeom prst="rect">
            <a:avLst/>
          </a:prstGeom>
          <a:solidFill>
            <a:srgbClr val="0E1C42">
              <a:alpha val="62000"/>
            </a:srgbClr>
          </a:solidFill>
          <a:ln/>
        </p:spPr>
        <p:txBody>
          <a:bodyPr/>
          <a:lstStyle/>
          <a:p>
            <a:endParaRPr lang="en-US" dirty="0"/>
          </a:p>
        </p:txBody>
      </p:sp>
      <p:sp>
        <p:nvSpPr>
          <p:cNvPr id="5" name="Text 2"/>
          <p:cNvSpPr/>
          <p:nvPr/>
        </p:nvSpPr>
        <p:spPr>
          <a:xfrm>
            <a:off x="548640" y="457200"/>
            <a:ext cx="8046720" cy="320040"/>
          </a:xfrm>
          <a:prstGeom prst="rect">
            <a:avLst/>
          </a:prstGeom>
          <a:noFill/>
          <a:ln/>
        </p:spPr>
        <p:txBody>
          <a:bodyPr wrap="square" rtlCol="0" anchor="ctr"/>
          <a:lstStyle/>
          <a:p>
            <a:pPr marL="0" indent="0">
              <a:buNone/>
            </a:pPr>
            <a:r>
              <a:rPr lang="en-US" sz="1100" b="1" kern="0" spc="200" dirty="0">
                <a:solidFill>
                  <a:srgbClr val="D4943A"/>
                </a:solidFill>
                <a:latin typeface="Calibri" pitchFamily="34" charset="0"/>
                <a:ea typeface="Calibri" pitchFamily="34" charset="-122"/>
                <a:cs typeface="Calibri" pitchFamily="34" charset="-120"/>
              </a:rPr>
              <a:t>THE CLIMATE AND VEGETATION PANELS</a:t>
            </a:r>
            <a:endParaRPr lang="en-US" sz="1100" dirty="0"/>
          </a:p>
        </p:txBody>
      </p:sp>
      <p:sp>
        <p:nvSpPr>
          <p:cNvPr id="6" name="Text 3"/>
          <p:cNvSpPr/>
          <p:nvPr/>
        </p:nvSpPr>
        <p:spPr>
          <a:xfrm>
            <a:off x="548640" y="1097280"/>
            <a:ext cx="5943600" cy="731520"/>
          </a:xfrm>
          <a:prstGeom prst="rect">
            <a:avLst/>
          </a:prstGeom>
          <a:noFill/>
          <a:ln/>
        </p:spPr>
        <p:txBody>
          <a:bodyPr wrap="square" rtlCol="0" anchor="ctr"/>
          <a:lstStyle/>
          <a:p>
            <a:pPr marL="0" indent="0">
              <a:lnSpc>
                <a:spcPct val="115000"/>
              </a:lnSpc>
              <a:buNone/>
            </a:pPr>
            <a:r>
              <a:rPr lang="en-US" sz="2200" b="1" dirty="0">
                <a:solidFill>
                  <a:srgbClr val="FFFFFF"/>
                </a:solidFill>
                <a:latin typeface="Cambria" pitchFamily="34" charset="0"/>
                <a:ea typeface="Cambria" pitchFamily="34" charset="-122"/>
                <a:cs typeface="Cambria" pitchFamily="34" charset="-120"/>
              </a:rPr>
              <a:t>A long row of colorful panels stretches</a:t>
            </a:r>
            <a:endParaRPr lang="en-US" sz="2200" dirty="0"/>
          </a:p>
          <a:p>
            <a:pPr marL="0" indent="0">
              <a:lnSpc>
                <a:spcPct val="115000"/>
              </a:lnSpc>
              <a:buNone/>
            </a:pPr>
            <a:r>
              <a:rPr lang="en-US" sz="2200" b="1" dirty="0">
                <a:solidFill>
                  <a:srgbClr val="FFFFFF"/>
                </a:solidFill>
                <a:latin typeface="Cambria" pitchFamily="34" charset="0"/>
                <a:ea typeface="Cambria" pitchFamily="34" charset="-122"/>
                <a:cs typeface="Cambria" pitchFamily="34" charset="-120"/>
              </a:rPr>
              <a:t>from one end of the gallery to the other.</a:t>
            </a:r>
            <a:endParaRPr lang="en-US" sz="2200" dirty="0"/>
          </a:p>
        </p:txBody>
      </p:sp>
      <p:sp>
        <p:nvSpPr>
          <p:cNvPr id="7" name="Text 4"/>
          <p:cNvSpPr/>
          <p:nvPr/>
        </p:nvSpPr>
        <p:spPr>
          <a:xfrm>
            <a:off x="548640" y="2011680"/>
            <a:ext cx="5943600" cy="640080"/>
          </a:xfrm>
          <a:prstGeom prst="rect">
            <a:avLst/>
          </a:prstGeom>
          <a:noFill/>
          <a:ln/>
        </p:spPr>
        <p:txBody>
          <a:bodyPr wrap="square" rtlCol="0" anchor="ctr"/>
          <a:lstStyle/>
          <a:p>
            <a:pPr marL="0" indent="0">
              <a:lnSpc>
                <a:spcPct val="140000"/>
              </a:lnSpc>
              <a:buNone/>
            </a:pPr>
            <a:r>
              <a:rPr lang="en-US" sz="1400" dirty="0">
                <a:solidFill>
                  <a:srgbClr val="B8C4E0"/>
                </a:solidFill>
                <a:latin typeface="Calibri" pitchFamily="34" charset="0"/>
                <a:ea typeface="Calibri" pitchFamily="34" charset="-122"/>
                <a:cs typeface="Calibri" pitchFamily="34" charset="-120"/>
              </a:rPr>
              <a:t>Icy white at one end. Sandy desert in the middle.</a:t>
            </a:r>
            <a:endParaRPr lang="en-US" sz="1400" dirty="0"/>
          </a:p>
          <a:p>
            <a:pPr marL="0" indent="0">
              <a:lnSpc>
                <a:spcPct val="140000"/>
              </a:lnSpc>
              <a:buNone/>
            </a:pPr>
            <a:r>
              <a:rPr lang="en-US" sz="1400" dirty="0">
                <a:solidFill>
                  <a:srgbClr val="B8C4E0"/>
                </a:solidFill>
                <a:latin typeface="Calibri" pitchFamily="34" charset="0"/>
                <a:ea typeface="Calibri" pitchFamily="34" charset="-122"/>
                <a:cs typeface="Calibri" pitchFamily="34" charset="-120"/>
              </a:rPr>
              <a:t>Lush green palms at the other.</a:t>
            </a:r>
            <a:endParaRPr lang="en-US" sz="1400" dirty="0"/>
          </a:p>
        </p:txBody>
      </p:sp>
      <p:sp>
        <p:nvSpPr>
          <p:cNvPr id="8" name="Text 5"/>
          <p:cNvSpPr/>
          <p:nvPr/>
        </p:nvSpPr>
        <p:spPr>
          <a:xfrm>
            <a:off x="548640" y="2743200"/>
            <a:ext cx="5943600" cy="320040"/>
          </a:xfrm>
          <a:prstGeom prst="rect">
            <a:avLst/>
          </a:prstGeom>
          <a:noFill/>
          <a:ln/>
        </p:spPr>
        <p:txBody>
          <a:bodyPr wrap="square" rtlCol="0" anchor="ctr"/>
          <a:lstStyle/>
          <a:p>
            <a:pPr marL="0" indent="0">
              <a:buNone/>
            </a:pPr>
            <a:r>
              <a:rPr lang="en-US" sz="1400" b="1" dirty="0">
                <a:solidFill>
                  <a:srgbClr val="55C8E8"/>
                </a:solidFill>
                <a:latin typeface="Calibri" pitchFamily="34" charset="0"/>
                <a:ea typeface="Calibri" pitchFamily="34" charset="-122"/>
                <a:cs typeface="Calibri" pitchFamily="34" charset="-120"/>
              </a:rPr>
              <a:t>They're missing their labels.</a:t>
            </a:r>
            <a:endParaRPr lang="en-US" sz="1400" dirty="0"/>
          </a:p>
        </p:txBody>
      </p:sp>
      <p:sp>
        <p:nvSpPr>
          <p:cNvPr id="9" name="Shape 6"/>
          <p:cNvSpPr/>
          <p:nvPr/>
        </p:nvSpPr>
        <p:spPr>
          <a:xfrm>
            <a:off x="548640" y="3291840"/>
            <a:ext cx="5029200" cy="1463040"/>
          </a:xfrm>
          <a:prstGeom prst="roundRect">
            <a:avLst>
              <a:gd name="adj" fmla="val 7500"/>
            </a:avLst>
          </a:prstGeom>
          <a:solidFill>
            <a:srgbClr val="FFF3DC"/>
          </a:solidFill>
          <a:ln w="19050">
            <a:solidFill>
              <a:srgbClr val="F5E6C8"/>
            </a:solidFill>
            <a:prstDash val="solid"/>
          </a:ln>
        </p:spPr>
        <p:txBody>
          <a:bodyPr/>
          <a:lstStyle/>
          <a:p>
            <a:endParaRPr lang="en-US"/>
          </a:p>
        </p:txBody>
      </p:sp>
      <p:sp>
        <p:nvSpPr>
          <p:cNvPr id="10" name="Text 7"/>
          <p:cNvSpPr/>
          <p:nvPr/>
        </p:nvSpPr>
        <p:spPr>
          <a:xfrm>
            <a:off x="685800" y="3346704"/>
            <a:ext cx="4754880" cy="201168"/>
          </a:xfrm>
          <a:prstGeom prst="rect">
            <a:avLst/>
          </a:prstGeom>
          <a:noFill/>
          <a:ln/>
        </p:spPr>
        <p:txBody>
          <a:bodyPr wrap="square" lIns="0" tIns="0" rIns="0" bIns="0"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8"/>
          <p:cNvSpPr/>
          <p:nvPr/>
        </p:nvSpPr>
        <p:spPr>
          <a:xfrm>
            <a:off x="685800" y="3547872"/>
            <a:ext cx="4754880" cy="1143000"/>
          </a:xfrm>
          <a:prstGeom prst="rect">
            <a:avLst/>
          </a:prstGeom>
          <a:noFill/>
          <a:ln/>
        </p:spPr>
        <p:txBody>
          <a:bodyPr wrap="square" lIns="0" tIns="0" rIns="0" bIns="0" rtlCol="0" anchor="t"/>
          <a:lstStyle/>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"Last time we sorted the landmark photos."</a:t>
            </a:r>
            <a:endParaRPr lang="en-US" sz="1200" dirty="0"/>
          </a:p>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"Today, we step over to the new panels -- climate and vegetation across the region."</a:t>
            </a:r>
            <a:endParaRPr lang="en-US" sz="1200" dirty="0"/>
          </a:p>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"You learned about climate at the world scale in Unit 5. Now we zoom in."</a:t>
            </a:r>
            <a:endParaRPr lang="en-US" sz="1200" dirty="0"/>
          </a:p>
        </p:txBody>
      </p:sp>
      <p:sp>
        <p:nvSpPr>
          <p:cNvPr id="12" name="Text 9"/>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2 / 21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D5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4" name="Text 2"/>
          <p:cNvSpPr/>
          <p:nvPr/>
        </p:nvSpPr>
        <p:spPr>
          <a:xfrm>
            <a:off x="548640" y="731520"/>
            <a:ext cx="8046720" cy="548640"/>
          </a:xfrm>
          <a:prstGeom prst="rect">
            <a:avLst/>
          </a:prstGeom>
          <a:noFill/>
          <a:ln/>
        </p:spPr>
        <p:txBody>
          <a:bodyPr wrap="square" rtlCol="0" anchor="ctr"/>
          <a:lstStyle/>
          <a:p>
            <a:pPr marL="0" indent="0">
              <a:buNone/>
            </a:pPr>
            <a:r>
              <a:rPr lang="en-US" sz="2800" b="1" dirty="0">
                <a:solidFill>
                  <a:srgbClr val="D4943A"/>
                </a:solidFill>
                <a:latin typeface="Cambria" pitchFamily="34" charset="0"/>
                <a:ea typeface="Cambria" pitchFamily="34" charset="-122"/>
                <a:cs typeface="Cambria" pitchFamily="34" charset="-120"/>
              </a:rPr>
              <a:t>Courtesy</a:t>
            </a:r>
            <a:endParaRPr lang="en-US" sz="2800" dirty="0"/>
          </a:p>
        </p:txBody>
      </p:sp>
      <p:sp>
        <p:nvSpPr>
          <p:cNvPr id="5" name="Text 3"/>
          <p:cNvSpPr/>
          <p:nvPr/>
        </p:nvSpPr>
        <p:spPr>
          <a:xfrm>
            <a:off x="548640" y="1371600"/>
            <a:ext cx="5029200" cy="640080"/>
          </a:xfrm>
          <a:prstGeom prst="rect">
            <a:avLst/>
          </a:prstGeom>
          <a:noFill/>
          <a:ln/>
        </p:spPr>
        <p:txBody>
          <a:bodyPr wrap="square" rtlCol="0" anchor="ctr"/>
          <a:lstStyle/>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It's easy to call a desert "empty" or the Arctic "boring" -- but people live in every one of these climate zones.</a:t>
            </a:r>
            <a:endParaRPr lang="en-US" sz="1400" dirty="0"/>
          </a:p>
        </p:txBody>
      </p:sp>
      <p:sp>
        <p:nvSpPr>
          <p:cNvPr id="6" name="Text 4"/>
          <p:cNvSpPr/>
          <p:nvPr/>
        </p:nvSpPr>
        <p:spPr>
          <a:xfrm>
            <a:off x="548640" y="2103120"/>
            <a:ext cx="5029200" cy="640080"/>
          </a:xfrm>
          <a:prstGeom prst="rect">
            <a:avLst/>
          </a:prstGeom>
          <a:noFill/>
          <a:ln/>
        </p:spPr>
        <p:txBody>
          <a:bodyPr wrap="square" rtlCol="0" anchor="ctr"/>
          <a:lstStyle/>
          <a:p>
            <a:pPr marL="0" indent="0">
              <a:lnSpc>
                <a:spcPct val="130000"/>
              </a:lnSpc>
              <a:buNone/>
            </a:pPr>
            <a:r>
              <a:rPr lang="en-US" sz="1300" dirty="0">
                <a:solidFill>
                  <a:srgbClr val="B8C4E0"/>
                </a:solidFill>
                <a:latin typeface="Calibri" pitchFamily="34" charset="0"/>
                <a:ea typeface="Calibri" pitchFamily="34" charset="-122"/>
                <a:cs typeface="Calibri" pitchFamily="34" charset="-120"/>
              </a:rPr>
              <a:t>Courtesy means describing each place fairly. The desert is not less than the rainforest. Each one supports a different kind of life.</a:t>
            </a:r>
            <a:endParaRPr lang="en-US" sz="1300" dirty="0"/>
          </a:p>
        </p:txBody>
      </p:sp>
      <p:sp>
        <p:nvSpPr>
          <p:cNvPr id="7" name="Shape 5"/>
          <p:cNvSpPr/>
          <p:nvPr/>
        </p:nvSpPr>
        <p:spPr>
          <a:xfrm>
            <a:off x="5943600" y="1097280"/>
            <a:ext cx="2743200" cy="2560320"/>
          </a:xfrm>
          <a:prstGeom prst="roundRect">
            <a:avLst>
              <a:gd name="adj" fmla="val 4286"/>
            </a:avLst>
          </a:prstGeom>
          <a:solidFill>
            <a:srgbClr val="0E1C42"/>
          </a:solidFill>
          <a:ln w="12700">
            <a:solidFill>
              <a:srgbClr val="D4943A"/>
            </a:solidFill>
            <a:prstDash val="solid"/>
          </a:ln>
        </p:spPr>
        <p:txBody>
          <a:bodyPr/>
          <a:lstStyle/>
          <a:p>
            <a:endParaRPr lang="en-US"/>
          </a:p>
        </p:txBody>
      </p:sp>
      <p:sp>
        <p:nvSpPr>
          <p:cNvPr id="8" name="Text 6"/>
          <p:cNvSpPr/>
          <p:nvPr/>
        </p:nvSpPr>
        <p:spPr>
          <a:xfrm>
            <a:off x="6126480" y="1234440"/>
            <a:ext cx="2377440" cy="228600"/>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YOUR ROLE</a:t>
            </a:r>
            <a:endParaRPr lang="en-US" sz="900" dirty="0"/>
          </a:p>
        </p:txBody>
      </p:sp>
      <p:sp>
        <p:nvSpPr>
          <p:cNvPr id="9" name="Text 7"/>
          <p:cNvSpPr/>
          <p:nvPr/>
        </p:nvSpPr>
        <p:spPr>
          <a:xfrm>
            <a:off x="6126480" y="1508760"/>
            <a:ext cx="2377440" cy="3200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Regional Curator</a:t>
            </a:r>
            <a:endParaRPr lang="en-US" sz="1600" dirty="0"/>
          </a:p>
        </p:txBody>
      </p:sp>
      <p:sp>
        <p:nvSpPr>
          <p:cNvPr id="10" name="Text 8"/>
          <p:cNvSpPr/>
          <p:nvPr/>
        </p:nvSpPr>
        <p:spPr>
          <a:xfrm>
            <a:off x="6126480" y="1920240"/>
            <a:ext cx="2377440" cy="1371600"/>
          </a:xfrm>
          <a:prstGeom prst="rect">
            <a:avLst/>
          </a:prstGeom>
          <a:noFill/>
          <a:ln/>
        </p:spPr>
        <p:txBody>
          <a:bodyPr wrap="square" rtlCol="0" anchor="t"/>
          <a:lstStyle/>
          <a:p>
            <a:pPr marL="0" indent="0">
              <a:lnSpc>
                <a:spcPct val="130000"/>
              </a:lnSpc>
              <a:buNone/>
            </a:pPr>
            <a:r>
              <a:rPr lang="en-US" sz="1100" dirty="0">
                <a:solidFill>
                  <a:srgbClr val="B8C4E0"/>
                </a:solidFill>
                <a:latin typeface="Calibri" pitchFamily="34" charset="0"/>
                <a:ea typeface="Calibri" pitchFamily="34" charset="-122"/>
                <a:cs typeface="Calibri" pitchFamily="34" charset="-120"/>
              </a:rPr>
              <a:t>Your job: help visitors see how the same region can hold many different kinds of land and weather. Today you'll read a climate map and match plants to their zones.</a:t>
            </a:r>
            <a:endParaRPr lang="en-US" sz="1100" dirty="0"/>
          </a:p>
        </p:txBody>
      </p:sp>
      <p:sp>
        <p:nvSpPr>
          <p:cNvPr id="11" name="Text 9"/>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3 / 21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CURATOR'S QUESTION</a:t>
            </a:r>
            <a:endParaRPr lang="en-US" sz="1000" dirty="0"/>
          </a:p>
        </p:txBody>
      </p:sp>
      <p:sp>
        <p:nvSpPr>
          <p:cNvPr id="4" name="Shape 2"/>
          <p:cNvSpPr/>
          <p:nvPr/>
        </p:nvSpPr>
        <p:spPr>
          <a:xfrm>
            <a:off x="457200" y="685800"/>
            <a:ext cx="8229600" cy="914400"/>
          </a:xfrm>
          <a:prstGeom prst="roundRect">
            <a:avLst>
              <a:gd name="adj" fmla="val 12000"/>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640080" y="749808"/>
            <a:ext cx="7863840" cy="777240"/>
          </a:xfrm>
          <a:prstGeom prst="rect">
            <a:avLst/>
          </a:prstGeom>
          <a:noFill/>
          <a:ln/>
        </p:spPr>
        <p:txBody>
          <a:bodyPr wrap="square" rtlCol="0" anchor="ctr"/>
          <a:lstStyle/>
          <a:p>
            <a:pPr marL="0" indent="0">
              <a:buNone/>
            </a:pPr>
            <a:r>
              <a:rPr lang="en-US" sz="1600" b="1" i="1" dirty="0">
                <a:solidFill>
                  <a:srgbClr val="0E1C42"/>
                </a:solidFill>
                <a:latin typeface="Cambria" pitchFamily="34" charset="0"/>
                <a:ea typeface="Cambria" pitchFamily="34" charset="-122"/>
                <a:cs typeface="Cambria" pitchFamily="34" charset="-120"/>
              </a:rPr>
              <a:t>Why does the land in one part of North America and the Caribbean look and feel so different from another part?</a:t>
            </a:r>
            <a:endParaRPr lang="en-US" sz="1600" dirty="0"/>
          </a:p>
        </p:txBody>
      </p:sp>
      <p:sp>
        <p:nvSpPr>
          <p:cNvPr id="6" name="Text 4"/>
          <p:cNvSpPr/>
          <p:nvPr/>
        </p:nvSpPr>
        <p:spPr>
          <a:xfrm>
            <a:off x="457200" y="1874520"/>
            <a:ext cx="3657600" cy="256032"/>
          </a:xfrm>
          <a:prstGeom prst="rect">
            <a:avLst/>
          </a:prstGeom>
          <a:noFill/>
          <a:ln/>
        </p:spPr>
        <p:txBody>
          <a:bodyPr wrap="square" rtlCol="0" anchor="ctr"/>
          <a:lstStyle/>
          <a:p>
            <a:pPr marL="0" indent="0">
              <a:buNone/>
            </a:pPr>
            <a:r>
              <a:rPr lang="en-US" sz="900" b="1" kern="0" spc="150" dirty="0">
                <a:solidFill>
                  <a:srgbClr val="1A8A7D"/>
                </a:solidFill>
                <a:latin typeface="Calibri" pitchFamily="34" charset="0"/>
                <a:ea typeface="Calibri" pitchFamily="34" charset="-122"/>
                <a:cs typeface="Calibri" pitchFamily="34" charset="-120"/>
              </a:rPr>
              <a:t>TODAY'S OBJECTIVES</a:t>
            </a:r>
            <a:endParaRPr lang="en-US" sz="900" dirty="0"/>
          </a:p>
        </p:txBody>
      </p:sp>
      <p:sp>
        <p:nvSpPr>
          <p:cNvPr id="7" name="Shape 5"/>
          <p:cNvSpPr/>
          <p:nvPr/>
        </p:nvSpPr>
        <p:spPr>
          <a:xfrm>
            <a:off x="457200" y="2240280"/>
            <a:ext cx="5029200" cy="502920"/>
          </a:xfrm>
          <a:prstGeom prst="roundRect">
            <a:avLst>
              <a:gd name="adj" fmla="val 14545"/>
            </a:avLst>
          </a:prstGeom>
          <a:solidFill>
            <a:srgbClr val="FFFFFF"/>
          </a:solidFill>
          <a:ln w="12700">
            <a:solidFill>
              <a:srgbClr val="D8DDE8"/>
            </a:solidFill>
            <a:prstDash val="solid"/>
          </a:ln>
        </p:spPr>
        <p:txBody>
          <a:bodyPr/>
          <a:lstStyle/>
          <a:p>
            <a:endParaRPr lang="en-US"/>
          </a:p>
        </p:txBody>
      </p:sp>
      <p:sp>
        <p:nvSpPr>
          <p:cNvPr id="8" name="Text 6"/>
          <p:cNvSpPr/>
          <p:nvPr/>
        </p:nvSpPr>
        <p:spPr>
          <a:xfrm>
            <a:off x="685800" y="2240280"/>
            <a:ext cx="4572000" cy="502920"/>
          </a:xfrm>
          <a:prstGeom prst="rect">
            <a:avLst/>
          </a:prstGeom>
          <a:noFill/>
          <a:ln/>
        </p:spPr>
        <p:txBody>
          <a:bodyPr wrap="square" rtlCol="0" anchor="ctr"/>
          <a:lstStyle/>
          <a:p>
            <a:pPr marL="0" indent="0">
              <a:buNone/>
            </a:pPr>
            <a:r>
              <a:rPr lang="en-US" sz="1300" dirty="0">
                <a:solidFill>
                  <a:srgbClr val="0E1C42"/>
                </a:solidFill>
                <a:latin typeface="Calibri" pitchFamily="34" charset="0"/>
                <a:ea typeface="Calibri" pitchFamily="34" charset="-122"/>
                <a:cs typeface="Calibri" pitchFamily="34" charset="-120"/>
              </a:rPr>
              <a:t>Name the main climate zones across the region.</a:t>
            </a:r>
            <a:endParaRPr lang="en-US" sz="1300" dirty="0"/>
          </a:p>
        </p:txBody>
      </p:sp>
      <p:sp>
        <p:nvSpPr>
          <p:cNvPr id="9" name="Shape 7"/>
          <p:cNvSpPr/>
          <p:nvPr/>
        </p:nvSpPr>
        <p:spPr>
          <a:xfrm>
            <a:off x="457200" y="2834640"/>
            <a:ext cx="5029200" cy="502920"/>
          </a:xfrm>
          <a:prstGeom prst="roundRect">
            <a:avLst>
              <a:gd name="adj" fmla="val 14545"/>
            </a:avLst>
          </a:prstGeom>
          <a:solidFill>
            <a:srgbClr val="FFFFFF"/>
          </a:solidFill>
          <a:ln w="12700">
            <a:solidFill>
              <a:srgbClr val="D8DDE8"/>
            </a:solidFill>
            <a:prstDash val="solid"/>
          </a:ln>
        </p:spPr>
        <p:txBody>
          <a:bodyPr/>
          <a:lstStyle/>
          <a:p>
            <a:endParaRPr lang="en-US"/>
          </a:p>
        </p:txBody>
      </p:sp>
      <p:sp>
        <p:nvSpPr>
          <p:cNvPr id="10" name="Text 8"/>
          <p:cNvSpPr/>
          <p:nvPr/>
        </p:nvSpPr>
        <p:spPr>
          <a:xfrm>
            <a:off x="685800" y="2834640"/>
            <a:ext cx="4572000" cy="502920"/>
          </a:xfrm>
          <a:prstGeom prst="rect">
            <a:avLst/>
          </a:prstGeom>
          <a:noFill/>
          <a:ln/>
        </p:spPr>
        <p:txBody>
          <a:bodyPr wrap="square" rtlCol="0" anchor="ctr"/>
          <a:lstStyle/>
          <a:p>
            <a:pPr marL="0" indent="0">
              <a:buNone/>
            </a:pPr>
            <a:r>
              <a:rPr lang="en-US" sz="1300" dirty="0">
                <a:solidFill>
                  <a:srgbClr val="0E1C42"/>
                </a:solidFill>
                <a:latin typeface="Calibri" pitchFamily="34" charset="0"/>
                <a:ea typeface="Calibri" pitchFamily="34" charset="-122"/>
                <a:cs typeface="Calibri" pitchFamily="34" charset="-120"/>
              </a:rPr>
              <a:t>Match plants and trees to the climate zones where they grow.</a:t>
            </a:r>
            <a:endParaRPr lang="en-US" sz="1300" dirty="0"/>
          </a:p>
        </p:txBody>
      </p:sp>
      <p:sp>
        <p:nvSpPr>
          <p:cNvPr id="11" name="Shape 9"/>
          <p:cNvSpPr/>
          <p:nvPr/>
        </p:nvSpPr>
        <p:spPr>
          <a:xfrm>
            <a:off x="457200" y="3429000"/>
            <a:ext cx="5029200" cy="502920"/>
          </a:xfrm>
          <a:prstGeom prst="roundRect">
            <a:avLst>
              <a:gd name="adj" fmla="val 14545"/>
            </a:avLst>
          </a:prstGeom>
          <a:solidFill>
            <a:srgbClr val="FFFFFF"/>
          </a:solidFill>
          <a:ln w="12700">
            <a:solidFill>
              <a:srgbClr val="D8DDE8"/>
            </a:solidFill>
            <a:prstDash val="solid"/>
          </a:ln>
        </p:spPr>
        <p:txBody>
          <a:bodyPr/>
          <a:lstStyle/>
          <a:p>
            <a:endParaRPr lang="en-US"/>
          </a:p>
        </p:txBody>
      </p:sp>
      <p:sp>
        <p:nvSpPr>
          <p:cNvPr id="12" name="Text 10"/>
          <p:cNvSpPr/>
          <p:nvPr/>
        </p:nvSpPr>
        <p:spPr>
          <a:xfrm>
            <a:off x="685800" y="3429000"/>
            <a:ext cx="4572000" cy="502920"/>
          </a:xfrm>
          <a:prstGeom prst="rect">
            <a:avLst/>
          </a:prstGeom>
          <a:noFill/>
          <a:ln/>
        </p:spPr>
        <p:txBody>
          <a:bodyPr wrap="square" rtlCol="0" anchor="ctr"/>
          <a:lstStyle/>
          <a:p>
            <a:pPr marL="0" indent="0">
              <a:buNone/>
            </a:pPr>
            <a:r>
              <a:rPr lang="en-US" sz="1300" dirty="0">
                <a:solidFill>
                  <a:srgbClr val="0E1C42"/>
                </a:solidFill>
                <a:latin typeface="Calibri" pitchFamily="34" charset="0"/>
                <a:ea typeface="Calibri" pitchFamily="34" charset="-122"/>
                <a:cs typeface="Calibri" pitchFamily="34" charset="-120"/>
              </a:rPr>
              <a:t>Explain how climate shapes the way a place looks and feels.</a:t>
            </a:r>
            <a:endParaRPr lang="en-US" sz="1300" dirty="0"/>
          </a:p>
        </p:txBody>
      </p:sp>
      <p:sp>
        <p:nvSpPr>
          <p:cNvPr id="13" name="Shape 11"/>
          <p:cNvSpPr/>
          <p:nvPr/>
        </p:nvSpPr>
        <p:spPr>
          <a:xfrm>
            <a:off x="5943600" y="2240280"/>
            <a:ext cx="2743200" cy="1783080"/>
          </a:xfrm>
          <a:prstGeom prst="roundRect">
            <a:avLst>
              <a:gd name="adj" fmla="val 5128"/>
            </a:avLst>
          </a:prstGeom>
          <a:solidFill>
            <a:srgbClr val="FFF3DC"/>
          </a:solidFill>
          <a:ln w="12700">
            <a:solidFill>
              <a:srgbClr val="F5E6C8"/>
            </a:solidFill>
            <a:prstDash val="solid"/>
          </a:ln>
        </p:spPr>
        <p:txBody>
          <a:bodyPr/>
          <a:lstStyle/>
          <a:p>
            <a:endParaRPr lang="en-US"/>
          </a:p>
        </p:txBody>
      </p:sp>
      <p:sp>
        <p:nvSpPr>
          <p:cNvPr id="14" name="Text 12"/>
          <p:cNvSpPr/>
          <p:nvPr/>
        </p:nvSpPr>
        <p:spPr>
          <a:xfrm>
            <a:off x="6126480" y="2331720"/>
            <a:ext cx="2377440" cy="228600"/>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YOU'LL NEED</a:t>
            </a:r>
            <a:endParaRPr lang="en-US" sz="900" dirty="0"/>
          </a:p>
        </p:txBody>
      </p:sp>
      <p:sp>
        <p:nvSpPr>
          <p:cNvPr id="15" name="Text 13"/>
          <p:cNvSpPr/>
          <p:nvPr/>
        </p:nvSpPr>
        <p:spPr>
          <a:xfrm>
            <a:off x="6126480" y="2651760"/>
            <a:ext cx="2377440" cy="1097280"/>
          </a:xfrm>
          <a:prstGeom prst="rect">
            <a:avLst/>
          </a:prstGeom>
          <a:noFill/>
          <a:ln/>
        </p:spPr>
        <p:txBody>
          <a:bodyPr wrap="square" rtlCol="0" anchor="t"/>
          <a:lstStyle/>
          <a:p>
            <a:pPr marL="0" indent="0">
              <a:lnSpc>
                <a:spcPct val="150000"/>
              </a:lnSpc>
              <a:buNone/>
            </a:pPr>
            <a:r>
              <a:rPr lang="en-US" sz="1200" dirty="0">
                <a:solidFill>
                  <a:srgbClr val="5A4A3A"/>
                </a:solidFill>
                <a:latin typeface="Calibri" pitchFamily="34" charset="0"/>
                <a:ea typeface="Calibri" pitchFamily="34" charset="-122"/>
                <a:cs typeface="Calibri" pitchFamily="34" charset="-120"/>
              </a:rPr>
              <a:t>Curator's Notebook</a:t>
            </a:r>
            <a:endParaRPr lang="en-US" sz="1200" dirty="0"/>
          </a:p>
          <a:p>
            <a:pPr marL="0" indent="0">
              <a:lnSpc>
                <a:spcPct val="150000"/>
              </a:lnSpc>
              <a:buNone/>
            </a:pPr>
            <a:r>
              <a:rPr lang="en-US" sz="1200" dirty="0">
                <a:solidFill>
                  <a:srgbClr val="5A4A3A"/>
                </a:solidFill>
                <a:latin typeface="Calibri" pitchFamily="34" charset="0"/>
                <a:ea typeface="Calibri" pitchFamily="34" charset="-122"/>
                <a:cs typeface="Calibri" pitchFamily="34" charset="-120"/>
              </a:rPr>
              <a:t>Pencil</a:t>
            </a:r>
            <a:endParaRPr lang="en-US" sz="1200" dirty="0"/>
          </a:p>
          <a:p>
            <a:pPr marL="0" indent="0">
              <a:lnSpc>
                <a:spcPct val="150000"/>
              </a:lnSpc>
              <a:buNone/>
            </a:pPr>
            <a:r>
              <a:rPr lang="en-US" sz="1200" dirty="0">
                <a:solidFill>
                  <a:srgbClr val="5A4A3A"/>
                </a:solidFill>
                <a:latin typeface="Calibri" pitchFamily="34" charset="0"/>
                <a:ea typeface="Calibri" pitchFamily="34" charset="-122"/>
                <a:cs typeface="Calibri" pitchFamily="34" charset="-120"/>
              </a:rPr>
              <a:t>Lesson Page</a:t>
            </a:r>
            <a:endParaRPr lang="en-US" sz="1200" dirty="0"/>
          </a:p>
        </p:txBody>
      </p:sp>
      <p:sp>
        <p:nvSpPr>
          <p:cNvPr id="16" name="Text 14"/>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4 / 21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SORT — WHAT IS CLIMATE?</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400" b="1" dirty="0">
                <a:solidFill>
                  <a:srgbClr val="0E1C42"/>
                </a:solidFill>
                <a:latin typeface="Cambria" pitchFamily="34" charset="0"/>
                <a:ea typeface="Cambria" pitchFamily="34" charset="-122"/>
                <a:cs typeface="Cambria" pitchFamily="34" charset="-120"/>
              </a:rPr>
              <a:t>What Is Climate?</a:t>
            </a:r>
            <a:endParaRPr lang="en-US" sz="2400" dirty="0"/>
          </a:p>
        </p:txBody>
      </p:sp>
      <p:sp>
        <p:nvSpPr>
          <p:cNvPr id="5" name="Shape 3"/>
          <p:cNvSpPr/>
          <p:nvPr/>
        </p:nvSpPr>
        <p:spPr>
          <a:xfrm>
            <a:off x="457200" y="1280160"/>
            <a:ext cx="8229600" cy="914400"/>
          </a:xfrm>
          <a:prstGeom prst="roundRect">
            <a:avLst>
              <a:gd name="adj" fmla="val 10000"/>
            </a:avLst>
          </a:prstGeom>
          <a:solidFill>
            <a:srgbClr val="EAF8FD"/>
          </a:solidFill>
          <a:ln w="12700">
            <a:solidFill>
              <a:srgbClr val="C8E8F4"/>
            </a:solidFill>
            <a:prstDash val="solid"/>
          </a:ln>
        </p:spPr>
        <p:txBody>
          <a:bodyPr/>
          <a:lstStyle/>
          <a:p>
            <a:endParaRPr lang="en-US"/>
          </a:p>
        </p:txBody>
      </p:sp>
      <p:sp>
        <p:nvSpPr>
          <p:cNvPr id="6" name="Text 4"/>
          <p:cNvSpPr/>
          <p:nvPr/>
        </p:nvSpPr>
        <p:spPr>
          <a:xfrm>
            <a:off x="640080" y="1371600"/>
            <a:ext cx="7863840" cy="731520"/>
          </a:xfrm>
          <a:prstGeom prst="rect">
            <a:avLst/>
          </a:prstGeom>
          <a:noFill/>
          <a:ln/>
        </p:spPr>
        <p:txBody>
          <a:bodyPr wrap="square" rtlCol="0" anchor="ctr"/>
          <a:lstStyle/>
          <a:p>
            <a:pPr marL="0" indent="0">
              <a:lnSpc>
                <a:spcPct val="130000"/>
              </a:lnSpc>
              <a:buNone/>
            </a:pPr>
            <a:r>
              <a:rPr lang="en-US" sz="1400" b="1" dirty="0">
                <a:solidFill>
                  <a:srgbClr val="0E1C42"/>
                </a:solidFill>
                <a:latin typeface="Calibri" pitchFamily="34" charset="0"/>
                <a:ea typeface="Calibri" pitchFamily="34" charset="-122"/>
                <a:cs typeface="Calibri" pitchFamily="34" charset="-120"/>
              </a:rPr>
              <a:t>Climate </a:t>
            </a:r>
            <a:r>
              <a:rPr lang="en-US" sz="1400" dirty="0">
                <a:solidFill>
                  <a:srgbClr val="0E1C42"/>
                </a:solidFill>
                <a:latin typeface="Calibri" pitchFamily="34" charset="0"/>
                <a:ea typeface="Calibri" pitchFamily="34" charset="-122"/>
                <a:cs typeface="Calibri" pitchFamily="34" charset="-120"/>
              </a:rPr>
              <a:t>is the usual weather of a place over many, many years. Not "what's the weather today?" but "what is the weather </a:t>
            </a:r>
            <a:r>
              <a:rPr lang="en-US" sz="1400" b="1" i="1" dirty="0">
                <a:solidFill>
                  <a:srgbClr val="0E1C42"/>
                </a:solidFill>
                <a:latin typeface="Calibri" pitchFamily="34" charset="0"/>
                <a:ea typeface="Calibri" pitchFamily="34" charset="-122"/>
                <a:cs typeface="Calibri" pitchFamily="34" charset="-120"/>
              </a:rPr>
              <a:t>usually </a:t>
            </a:r>
            <a:r>
              <a:rPr lang="en-US" sz="1400" dirty="0">
                <a:solidFill>
                  <a:srgbClr val="0E1C42"/>
                </a:solidFill>
                <a:latin typeface="Calibri" pitchFamily="34" charset="0"/>
                <a:ea typeface="Calibri" pitchFamily="34" charset="-122"/>
                <a:cs typeface="Calibri" pitchFamily="34" charset="-120"/>
              </a:rPr>
              <a:t>like here?"</a:t>
            </a:r>
            <a:endParaRPr lang="en-US" sz="1400" dirty="0"/>
          </a:p>
        </p:txBody>
      </p:sp>
      <p:sp>
        <p:nvSpPr>
          <p:cNvPr id="7" name="Text 5"/>
          <p:cNvSpPr/>
          <p:nvPr/>
        </p:nvSpPr>
        <p:spPr>
          <a:xfrm>
            <a:off x="457200" y="2377440"/>
            <a:ext cx="8229600" cy="731520"/>
          </a:xfrm>
          <a:prstGeom prst="rect">
            <a:avLst/>
          </a:prstGeom>
          <a:noFill/>
          <a:ln/>
        </p:spPr>
        <p:txBody>
          <a:bodyPr wrap="square" rtlCol="0" anchor="ctr"/>
          <a:lstStyle/>
          <a:p>
            <a:pPr marL="0" indent="0">
              <a:lnSpc>
                <a:spcPct val="130000"/>
              </a:lnSpc>
              <a:buNone/>
            </a:pPr>
            <a:r>
              <a:rPr lang="en-US" sz="1300" dirty="0">
                <a:solidFill>
                  <a:srgbClr val="0E1C42"/>
                </a:solidFill>
                <a:latin typeface="Calibri" pitchFamily="34" charset="0"/>
                <a:ea typeface="Calibri" pitchFamily="34" charset="-122"/>
                <a:cs typeface="Calibri" pitchFamily="34" charset="-120"/>
              </a:rPr>
              <a:t>North America and the Caribbean is one region -- but it stretches a very long way from north to south. That's why it holds five different climate zones, and each one grows different plants.</a:t>
            </a:r>
            <a:endParaRPr lang="en-US" sz="1300" dirty="0"/>
          </a:p>
        </p:txBody>
      </p:sp>
      <p:sp>
        <p:nvSpPr>
          <p:cNvPr id="8" name="Shape 6"/>
          <p:cNvSpPr/>
          <p:nvPr/>
        </p:nvSpPr>
        <p:spPr>
          <a:xfrm>
            <a:off x="457200" y="3383280"/>
            <a:ext cx="5029200" cy="1280160"/>
          </a:xfrm>
          <a:prstGeom prst="roundRect">
            <a:avLst>
              <a:gd name="adj" fmla="val 10714"/>
            </a:avLst>
          </a:prstGeom>
          <a:solidFill>
            <a:srgbClr val="1A2D5A"/>
          </a:solidFill>
          <a:ln/>
          <a:effectLst>
            <a:outerShdw blurRad="101600" dist="38100" dir="8100000" algn="bl" rotWithShape="0">
              <a:srgbClr val="000000">
                <a:alpha val="20000"/>
              </a:srgbClr>
            </a:outerShdw>
          </a:effectLst>
        </p:spPr>
        <p:txBody>
          <a:bodyPr/>
          <a:lstStyle/>
          <a:p>
            <a:endParaRPr lang="en-US"/>
          </a:p>
        </p:txBody>
      </p:sp>
      <p:sp>
        <p:nvSpPr>
          <p:cNvPr id="9" name="Text 7"/>
          <p:cNvSpPr/>
          <p:nvPr/>
        </p:nvSpPr>
        <p:spPr>
          <a:xfrm>
            <a:off x="640080" y="3474720"/>
            <a:ext cx="4663440" cy="256032"/>
          </a:xfrm>
          <a:prstGeom prst="rect">
            <a:avLst/>
          </a:prstGeom>
          <a:noFill/>
          <a:ln/>
        </p:spPr>
        <p:txBody>
          <a:bodyPr wrap="square" lIns="0" tIns="0" rIns="0" bIns="0"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3730752"/>
            <a:ext cx="4663440" cy="841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difference between weather and climate?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region that stretches from north to south have many climates?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moved far north, what would change about the weather pattern?</a:t>
            </a:r>
            <a:endParaRPr lang="en-US" sz="1100" dirty="0"/>
          </a:p>
        </p:txBody>
      </p:sp>
      <p:sp>
        <p:nvSpPr>
          <p:cNvPr id="11" name="Shape 9"/>
          <p:cNvSpPr/>
          <p:nvPr/>
        </p:nvSpPr>
        <p:spPr>
          <a:xfrm>
            <a:off x="5760720" y="2743200"/>
            <a:ext cx="3017520" cy="1920240"/>
          </a:xfrm>
          <a:prstGeom prst="roundRect">
            <a:avLst>
              <a:gd name="adj" fmla="val 5714"/>
            </a:avLst>
          </a:prstGeom>
          <a:solidFill>
            <a:srgbClr val="E2E8F4"/>
          </a:solidFill>
          <a:ln w="19050">
            <a:solidFill>
              <a:srgbClr val="B0B8CC"/>
            </a:solidFill>
            <a:prstDash val="dash"/>
          </a:ln>
        </p:spPr>
        <p:txBody>
          <a:bodyPr/>
          <a:lstStyle/>
          <a:p>
            <a:endParaRPr lang="en-US"/>
          </a:p>
        </p:txBody>
      </p:sp>
      <p:sp>
        <p:nvSpPr>
          <p:cNvPr id="12" name="Text 10"/>
          <p:cNvSpPr/>
          <p:nvPr/>
        </p:nvSpPr>
        <p:spPr>
          <a:xfrm>
            <a:off x="5760720" y="2743200"/>
            <a:ext cx="3017520" cy="274320"/>
          </a:xfrm>
          <a:prstGeom prst="rect">
            <a:avLst/>
          </a:prstGeom>
          <a:noFill/>
          <a:ln/>
        </p:spPr>
        <p:txBody>
          <a:bodyPr wrap="square" lIns="0" tIns="0" rIns="0" bIns="0" rtlCol="0" anchor="ctr"/>
          <a:lstStyle/>
          <a:p>
            <a:pPr marL="0" indent="0" algn="ctr">
              <a:buNone/>
            </a:pPr>
            <a:r>
              <a:rPr lang="en-US" sz="900" b="1" kern="0" spc="15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5897880" y="3017520"/>
            <a:ext cx="2743200" cy="1554480"/>
          </a:xfrm>
          <a:prstGeom prst="rect">
            <a:avLst/>
          </a:prstGeom>
          <a:noFill/>
          <a:ln/>
        </p:spPr>
        <p:txBody>
          <a:bodyPr wrap="square" rtlCol="0" anchor="ctr"/>
          <a:lstStyle/>
          <a:p>
            <a:pPr marL="0" indent="0" algn="ctr">
              <a:buNone/>
            </a:pPr>
            <a:r>
              <a:rPr lang="en-US" sz="1100" i="1" dirty="0">
                <a:solidFill>
                  <a:srgbClr val="7A88A8"/>
                </a:solidFill>
                <a:latin typeface="Calibri" pitchFamily="34" charset="0"/>
                <a:ea typeface="Calibri" pitchFamily="34" charset="-122"/>
                <a:cs typeface="Calibri" pitchFamily="34" charset="-120"/>
              </a:rPr>
              <a:t>Simple diagram or icon set:</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snowflake (north) to sun/palm (south)</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showing the gradient of climate zones</a:t>
            </a:r>
            <a:endParaRPr lang="en-US" sz="1100" dirty="0"/>
          </a:p>
        </p:txBody>
      </p:sp>
      <p:sp>
        <p:nvSpPr>
          <p:cNvPr id="14" name="Text 12"/>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5 / 21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SORT — NORTHERN ZONES</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The Cold North</a:t>
            </a:r>
            <a:endParaRPr lang="en-US" sz="2200" dirty="0"/>
          </a:p>
        </p:txBody>
      </p:sp>
      <p:sp>
        <p:nvSpPr>
          <p:cNvPr id="5" name="Shape 3"/>
          <p:cNvSpPr/>
          <p:nvPr/>
        </p:nvSpPr>
        <p:spPr>
          <a:xfrm>
            <a:off x="457200" y="1280160"/>
            <a:ext cx="3886200" cy="2743200"/>
          </a:xfrm>
          <a:prstGeom prst="roundRect">
            <a:avLst>
              <a:gd name="adj" fmla="val 4000"/>
            </a:avLst>
          </a:prstGeom>
          <a:solidFill>
            <a:srgbClr val="EAF8FD"/>
          </a:solidFill>
          <a:ln w="12700">
            <a:solidFill>
              <a:srgbClr val="C8E8F4"/>
            </a:solidFill>
            <a:prstDash val="solid"/>
          </a:ln>
        </p:spPr>
        <p:txBody>
          <a:bodyPr/>
          <a:lstStyle/>
          <a:p>
            <a:endParaRPr lang="en-US"/>
          </a:p>
        </p:txBody>
      </p:sp>
      <p:sp>
        <p:nvSpPr>
          <p:cNvPr id="6" name="Text 4"/>
          <p:cNvSpPr/>
          <p:nvPr/>
        </p:nvSpPr>
        <p:spPr>
          <a:xfrm>
            <a:off x="640080" y="1371600"/>
            <a:ext cx="3520440" cy="256032"/>
          </a:xfrm>
          <a:prstGeom prst="rect">
            <a:avLst/>
          </a:prstGeom>
          <a:noFill/>
          <a:ln/>
        </p:spPr>
        <p:txBody>
          <a:bodyPr wrap="square" rtlCol="0" anchor="ctr"/>
          <a:lstStyle/>
          <a:p>
            <a:pPr marL="0" indent="0">
              <a:buNone/>
            </a:pPr>
            <a:r>
              <a:rPr lang="en-US" sz="1000" b="1" kern="0" spc="150" dirty="0">
                <a:solidFill>
                  <a:srgbClr val="1A8A7D"/>
                </a:solidFill>
                <a:latin typeface="Calibri" pitchFamily="34" charset="0"/>
                <a:ea typeface="Calibri" pitchFamily="34" charset="-122"/>
                <a:cs typeface="Calibri" pitchFamily="34" charset="-120"/>
              </a:rPr>
              <a:t>ARCTIC TUNDRA</a:t>
            </a:r>
            <a:endParaRPr lang="en-US" sz="1000" dirty="0"/>
          </a:p>
        </p:txBody>
      </p:sp>
      <p:sp>
        <p:nvSpPr>
          <p:cNvPr id="7" name="Text 5"/>
          <p:cNvSpPr/>
          <p:nvPr/>
        </p:nvSpPr>
        <p:spPr>
          <a:xfrm>
            <a:off x="640080" y="1664208"/>
            <a:ext cx="3520440" cy="22860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Far northern Canada</a:t>
            </a:r>
            <a:endParaRPr lang="en-US" sz="1100" dirty="0"/>
          </a:p>
        </p:txBody>
      </p:sp>
      <p:sp>
        <p:nvSpPr>
          <p:cNvPr id="8" name="Text 6"/>
          <p:cNvSpPr/>
          <p:nvPr/>
        </p:nvSpPr>
        <p:spPr>
          <a:xfrm>
            <a:off x="640080" y="1965960"/>
            <a:ext cx="3520440" cy="914400"/>
          </a:xfrm>
          <a:prstGeom prst="rect">
            <a:avLst/>
          </a:prstGeom>
          <a:noFill/>
          <a:ln/>
        </p:spPr>
        <p:txBody>
          <a:bodyPr wrap="square" rtlCol="0" anchor="t"/>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Freezing cold most of the year. The ground stays frozen so deep that trees can't grow there -- only small grasses, moss, and tough little shrubs.</a:t>
            </a:r>
            <a:endParaRPr lang="en-US" sz="1200" dirty="0"/>
          </a:p>
        </p:txBody>
      </p:sp>
      <p:sp>
        <p:nvSpPr>
          <p:cNvPr id="9" name="Text 7"/>
          <p:cNvSpPr/>
          <p:nvPr/>
        </p:nvSpPr>
        <p:spPr>
          <a:xfrm>
            <a:off x="640080" y="3017520"/>
            <a:ext cx="3520440" cy="274320"/>
          </a:xfrm>
          <a:prstGeom prst="rect">
            <a:avLst/>
          </a:prstGeom>
          <a:noFill/>
          <a:ln/>
        </p:spPr>
        <p:txBody>
          <a:bodyPr wrap="square" rtlCol="0" anchor="ctr"/>
          <a:lstStyle/>
          <a:p>
            <a:pPr marL="0" indent="0">
              <a:buNone/>
            </a:pPr>
            <a:r>
              <a:rPr lang="en-US" sz="1200" b="1" dirty="0">
                <a:solidFill>
                  <a:srgbClr val="0E1C42"/>
                </a:solidFill>
                <a:latin typeface="Calibri" pitchFamily="34" charset="0"/>
                <a:ea typeface="Calibri" pitchFamily="34" charset="-122"/>
                <a:cs typeface="Calibri" pitchFamily="34" charset="-120"/>
              </a:rPr>
              <a:t>Key Plant: Arctic Moss</a:t>
            </a:r>
            <a:endParaRPr lang="en-US" sz="1200" dirty="0"/>
          </a:p>
        </p:txBody>
      </p:sp>
      <p:sp>
        <p:nvSpPr>
          <p:cNvPr id="10" name="Text 8"/>
          <p:cNvSpPr/>
          <p:nvPr/>
        </p:nvSpPr>
        <p:spPr>
          <a:xfrm>
            <a:off x="640080" y="3291840"/>
            <a:ext cx="3520440" cy="548640"/>
          </a:xfrm>
          <a:prstGeom prst="rect">
            <a:avLst/>
          </a:prstGeom>
          <a:noFill/>
          <a:ln/>
        </p:spPr>
        <p:txBody>
          <a:bodyPr wrap="square" rtlCol="0" anchor="ctr"/>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A tiny low-growing plant that survives on rocks and frozen ground where trees can't grow.</a:t>
            </a:r>
            <a:endParaRPr lang="en-US" sz="1100" dirty="0"/>
          </a:p>
        </p:txBody>
      </p:sp>
      <p:sp>
        <p:nvSpPr>
          <p:cNvPr id="11" name="Shape 9"/>
          <p:cNvSpPr/>
          <p:nvPr/>
        </p:nvSpPr>
        <p:spPr>
          <a:xfrm>
            <a:off x="4800600" y="1280160"/>
            <a:ext cx="3886200" cy="2743200"/>
          </a:xfrm>
          <a:prstGeom prst="roundRect">
            <a:avLst>
              <a:gd name="adj" fmla="val 4000"/>
            </a:avLst>
          </a:prstGeom>
          <a:solidFill>
            <a:srgbClr val="E3F8ED"/>
          </a:solidFill>
          <a:ln w="12700">
            <a:solidFill>
              <a:srgbClr val="A8D8B8"/>
            </a:solidFill>
            <a:prstDash val="solid"/>
          </a:ln>
        </p:spPr>
        <p:txBody>
          <a:bodyPr/>
          <a:lstStyle/>
          <a:p>
            <a:endParaRPr lang="en-US"/>
          </a:p>
        </p:txBody>
      </p:sp>
      <p:sp>
        <p:nvSpPr>
          <p:cNvPr id="12" name="Text 10"/>
          <p:cNvSpPr/>
          <p:nvPr/>
        </p:nvSpPr>
        <p:spPr>
          <a:xfrm>
            <a:off x="4983480" y="1371600"/>
            <a:ext cx="3520440" cy="256032"/>
          </a:xfrm>
          <a:prstGeom prst="rect">
            <a:avLst/>
          </a:prstGeom>
          <a:noFill/>
          <a:ln/>
        </p:spPr>
        <p:txBody>
          <a:bodyPr wrap="square" rtlCol="0" anchor="ctr"/>
          <a:lstStyle/>
          <a:p>
            <a:pPr marL="0" indent="0">
              <a:buNone/>
            </a:pPr>
            <a:r>
              <a:rPr lang="en-US" sz="1000" b="1" kern="0" spc="150" dirty="0">
                <a:solidFill>
                  <a:srgbClr val="1A8A7D"/>
                </a:solidFill>
                <a:latin typeface="Calibri" pitchFamily="34" charset="0"/>
                <a:ea typeface="Calibri" pitchFamily="34" charset="-122"/>
                <a:cs typeface="Calibri" pitchFamily="34" charset="-120"/>
              </a:rPr>
              <a:t>BOREAL FOREST</a:t>
            </a:r>
            <a:endParaRPr lang="en-US" sz="1000" dirty="0"/>
          </a:p>
        </p:txBody>
      </p:sp>
      <p:sp>
        <p:nvSpPr>
          <p:cNvPr id="13" name="Text 11"/>
          <p:cNvSpPr/>
          <p:nvPr/>
        </p:nvSpPr>
        <p:spPr>
          <a:xfrm>
            <a:off x="4983480" y="1664208"/>
            <a:ext cx="3520440" cy="22860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Most of Canada and northern U.S.</a:t>
            </a:r>
            <a:endParaRPr lang="en-US" sz="1100" dirty="0"/>
          </a:p>
        </p:txBody>
      </p:sp>
      <p:sp>
        <p:nvSpPr>
          <p:cNvPr id="14" name="Text 12"/>
          <p:cNvSpPr/>
          <p:nvPr/>
        </p:nvSpPr>
        <p:spPr>
          <a:xfrm>
            <a:off x="4983480" y="1965960"/>
            <a:ext cx="3520440" cy="914400"/>
          </a:xfrm>
          <a:prstGeom prst="rect">
            <a:avLst/>
          </a:prstGeom>
          <a:noFill/>
          <a:ln/>
        </p:spPr>
        <p:txBody>
          <a:bodyPr wrap="square" rtlCol="0" anchor="t"/>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Long, snowy winters. Tall evergreen trees like pine and spruce grow here because they can survive cold winters by keeping their needles all year.</a:t>
            </a:r>
            <a:endParaRPr lang="en-US" sz="1200" dirty="0"/>
          </a:p>
        </p:txBody>
      </p:sp>
      <p:sp>
        <p:nvSpPr>
          <p:cNvPr id="15" name="Text 13"/>
          <p:cNvSpPr/>
          <p:nvPr/>
        </p:nvSpPr>
        <p:spPr>
          <a:xfrm>
            <a:off x="4983480" y="3017520"/>
            <a:ext cx="3520440" cy="274320"/>
          </a:xfrm>
          <a:prstGeom prst="rect">
            <a:avLst/>
          </a:prstGeom>
          <a:noFill/>
          <a:ln/>
        </p:spPr>
        <p:txBody>
          <a:bodyPr wrap="square" rtlCol="0" anchor="ctr"/>
          <a:lstStyle/>
          <a:p>
            <a:pPr marL="0" indent="0">
              <a:buNone/>
            </a:pPr>
            <a:r>
              <a:rPr lang="en-US" sz="1200" b="1" dirty="0">
                <a:solidFill>
                  <a:srgbClr val="0E1C42"/>
                </a:solidFill>
                <a:latin typeface="Calibri" pitchFamily="34" charset="0"/>
                <a:ea typeface="Calibri" pitchFamily="34" charset="-122"/>
                <a:cs typeface="Calibri" pitchFamily="34" charset="-120"/>
              </a:rPr>
              <a:t>Key Plant: Spruce Tree</a:t>
            </a:r>
            <a:endParaRPr lang="en-US" sz="1200" dirty="0"/>
          </a:p>
        </p:txBody>
      </p:sp>
      <p:sp>
        <p:nvSpPr>
          <p:cNvPr id="16" name="Text 14"/>
          <p:cNvSpPr/>
          <p:nvPr/>
        </p:nvSpPr>
        <p:spPr>
          <a:xfrm>
            <a:off x="4983480" y="3291840"/>
            <a:ext cx="3520440" cy="548640"/>
          </a:xfrm>
          <a:prstGeom prst="rect">
            <a:avLst/>
          </a:prstGeom>
          <a:noFill/>
          <a:ln/>
        </p:spPr>
        <p:txBody>
          <a:bodyPr wrap="square" rtlCol="0" anchor="ctr"/>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A tall evergreen with sharp needles. Stays green all winter even under heavy snow.</a:t>
            </a:r>
            <a:endParaRPr lang="en-US" sz="1100" dirty="0"/>
          </a:p>
        </p:txBody>
      </p:sp>
      <p:sp>
        <p:nvSpPr>
          <p:cNvPr id="17" name="Shape 15"/>
          <p:cNvSpPr/>
          <p:nvPr/>
        </p:nvSpPr>
        <p:spPr>
          <a:xfrm>
            <a:off x="457200" y="4206240"/>
            <a:ext cx="8229600" cy="594360"/>
          </a:xfrm>
          <a:prstGeom prst="roundRect">
            <a:avLst>
              <a:gd name="adj" fmla="val 12308"/>
            </a:avLst>
          </a:prstGeom>
          <a:solidFill>
            <a:srgbClr val="FFF3DC"/>
          </a:solidFill>
          <a:ln/>
        </p:spPr>
        <p:txBody>
          <a:bodyPr/>
          <a:lstStyle/>
          <a:p>
            <a:endParaRPr lang="en-US"/>
          </a:p>
        </p:txBody>
      </p:sp>
      <p:sp>
        <p:nvSpPr>
          <p:cNvPr id="18" name="Text 16"/>
          <p:cNvSpPr/>
          <p:nvPr/>
        </p:nvSpPr>
        <p:spPr>
          <a:xfrm>
            <a:off x="640080" y="4251960"/>
            <a:ext cx="7863840" cy="502920"/>
          </a:xfrm>
          <a:prstGeom prst="rect">
            <a:avLst/>
          </a:prstGeom>
          <a:noFill/>
          <a:ln/>
        </p:spPr>
        <p:txBody>
          <a:bodyPr wrap="square" rtlCol="0" anchor="ctr"/>
          <a:lstStyle/>
          <a:p>
            <a:pPr marL="0" indent="0">
              <a:buNone/>
            </a:pPr>
            <a:r>
              <a:rPr lang="en-US" sz="1200" b="1" i="1" dirty="0">
                <a:solidFill>
                  <a:srgbClr val="0E1C42"/>
                </a:solidFill>
                <a:latin typeface="Calibri" pitchFamily="34" charset="0"/>
                <a:ea typeface="Calibri" pitchFamily="34" charset="-122"/>
                <a:cs typeface="Calibri" pitchFamily="34" charset="-120"/>
              </a:rPr>
              <a:t>Why can trees grow in the boreal forest but NOT in the tundra? What's different about the ground?</a:t>
            </a:r>
            <a:endParaRPr lang="en-US" sz="1200" dirty="0"/>
          </a:p>
        </p:txBody>
      </p:sp>
      <p:sp>
        <p:nvSpPr>
          <p:cNvPr id="19" name="Text 17"/>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6 / 21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SORT — MIDDLE ZONE</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The Four-Season Middle</a:t>
            </a:r>
            <a:endParaRPr lang="en-US" sz="2200" dirty="0"/>
          </a:p>
        </p:txBody>
      </p:sp>
      <p:sp>
        <p:nvSpPr>
          <p:cNvPr id="5" name="Shape 3"/>
          <p:cNvSpPr/>
          <p:nvPr/>
        </p:nvSpPr>
        <p:spPr>
          <a:xfrm>
            <a:off x="457200" y="1280160"/>
            <a:ext cx="5029200" cy="2560320"/>
          </a:xfrm>
          <a:prstGeom prst="roundRect">
            <a:avLst>
              <a:gd name="adj" fmla="val 4286"/>
            </a:avLst>
          </a:prstGeom>
          <a:solidFill>
            <a:srgbClr val="FFF8F0"/>
          </a:solidFill>
          <a:ln w="12700">
            <a:solidFill>
              <a:srgbClr val="F5E6C8"/>
            </a:solidFill>
            <a:prstDash val="solid"/>
          </a:ln>
        </p:spPr>
        <p:txBody>
          <a:bodyPr/>
          <a:lstStyle/>
          <a:p>
            <a:endParaRPr lang="en-US"/>
          </a:p>
        </p:txBody>
      </p:sp>
      <p:sp>
        <p:nvSpPr>
          <p:cNvPr id="6" name="Text 4"/>
          <p:cNvSpPr/>
          <p:nvPr/>
        </p:nvSpPr>
        <p:spPr>
          <a:xfrm>
            <a:off x="640080" y="1371600"/>
            <a:ext cx="4663440" cy="256032"/>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TEMPERATE PLAINS AND FORESTS</a:t>
            </a:r>
            <a:endParaRPr lang="en-US" sz="1000" dirty="0"/>
          </a:p>
        </p:txBody>
      </p:sp>
      <p:sp>
        <p:nvSpPr>
          <p:cNvPr id="7" name="Text 5"/>
          <p:cNvSpPr/>
          <p:nvPr/>
        </p:nvSpPr>
        <p:spPr>
          <a:xfrm>
            <a:off x="640080" y="1664208"/>
            <a:ext cx="4663440" cy="22860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Most of the United States</a:t>
            </a:r>
            <a:endParaRPr lang="en-US" sz="1100" dirty="0"/>
          </a:p>
        </p:txBody>
      </p:sp>
      <p:sp>
        <p:nvSpPr>
          <p:cNvPr id="8" name="Text 6"/>
          <p:cNvSpPr/>
          <p:nvPr/>
        </p:nvSpPr>
        <p:spPr>
          <a:xfrm>
            <a:off x="640080" y="2011680"/>
            <a:ext cx="4663440" cy="1097280"/>
          </a:xfrm>
          <a:prstGeom prst="rect">
            <a:avLst/>
          </a:prstGeom>
          <a:noFill/>
          <a:ln/>
        </p:spPr>
        <p:txBody>
          <a:bodyPr wrap="square" rtlCol="0" anchor="t"/>
          <a:lstStyle/>
          <a:p>
            <a:pPr marL="0" indent="0">
              <a:lnSpc>
                <a:spcPct val="130000"/>
              </a:lnSpc>
              <a:buNone/>
            </a:pPr>
            <a:r>
              <a:rPr lang="en-US" sz="1300" dirty="0">
                <a:solidFill>
                  <a:srgbClr val="0E1C42"/>
                </a:solidFill>
                <a:latin typeface="Calibri" pitchFamily="34" charset="0"/>
                <a:ea typeface="Calibri" pitchFamily="34" charset="-122"/>
                <a:cs typeface="Calibri" pitchFamily="34" charset="-120"/>
              </a:rPr>
              <a:t>There are four seasons. The eastern part has deciduous trees (oaks and maples that drop their leaves in the fall). The middle has the Great Plains, where grasses and wheat fields stretch for miles.</a:t>
            </a:r>
            <a:endParaRPr lang="en-US" sz="1300" dirty="0"/>
          </a:p>
        </p:txBody>
      </p:sp>
      <p:sp>
        <p:nvSpPr>
          <p:cNvPr id="9" name="Text 7"/>
          <p:cNvSpPr/>
          <p:nvPr/>
        </p:nvSpPr>
        <p:spPr>
          <a:xfrm>
            <a:off x="640080" y="3017520"/>
            <a:ext cx="4663440" cy="274320"/>
          </a:xfrm>
          <a:prstGeom prst="rect">
            <a:avLst/>
          </a:prstGeom>
          <a:noFill/>
          <a:ln/>
        </p:spPr>
        <p:txBody>
          <a:bodyPr wrap="square" rtlCol="0" anchor="ctr"/>
          <a:lstStyle/>
          <a:p>
            <a:pPr marL="0" indent="0">
              <a:buNone/>
            </a:pPr>
            <a:r>
              <a:rPr lang="en-US" sz="1200" b="1" dirty="0">
                <a:solidFill>
                  <a:srgbClr val="0E1C42"/>
                </a:solidFill>
                <a:latin typeface="Calibri" pitchFamily="34" charset="0"/>
                <a:ea typeface="Calibri" pitchFamily="34" charset="-122"/>
                <a:cs typeface="Calibri" pitchFamily="34" charset="-120"/>
              </a:rPr>
              <a:t>Key Plant: Maple Tree</a:t>
            </a:r>
            <a:endParaRPr lang="en-US" sz="1200" dirty="0"/>
          </a:p>
        </p:txBody>
      </p:sp>
      <p:sp>
        <p:nvSpPr>
          <p:cNvPr id="10" name="Text 8"/>
          <p:cNvSpPr/>
          <p:nvPr/>
        </p:nvSpPr>
        <p:spPr>
          <a:xfrm>
            <a:off x="640080" y="3291840"/>
            <a:ext cx="4663440" cy="411480"/>
          </a:xfrm>
          <a:prstGeom prst="rect">
            <a:avLst/>
          </a:prstGeom>
          <a:noFill/>
          <a:ln/>
        </p:spPr>
        <p:txBody>
          <a:bodyPr wrap="square" rtlCol="0" anchor="ctr"/>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A leafy tree that turns bright red and orange in the fall, then drops its leaves before winter.</a:t>
            </a:r>
            <a:endParaRPr lang="en-US" sz="1100" dirty="0"/>
          </a:p>
        </p:txBody>
      </p:sp>
      <p:sp>
        <p:nvSpPr>
          <p:cNvPr id="11" name="Shape 9"/>
          <p:cNvSpPr/>
          <p:nvPr/>
        </p:nvSpPr>
        <p:spPr>
          <a:xfrm>
            <a:off x="5760720" y="1280160"/>
            <a:ext cx="3017520" cy="2560320"/>
          </a:xfrm>
          <a:prstGeom prst="roundRect">
            <a:avLst>
              <a:gd name="adj" fmla="val 4286"/>
            </a:avLst>
          </a:prstGeom>
          <a:solidFill>
            <a:srgbClr val="E2E8F4"/>
          </a:solidFill>
          <a:ln w="19050">
            <a:solidFill>
              <a:srgbClr val="B0B8CC"/>
            </a:solidFill>
            <a:prstDash val="dash"/>
          </a:ln>
        </p:spPr>
        <p:txBody>
          <a:bodyPr/>
          <a:lstStyle/>
          <a:p>
            <a:endParaRPr lang="en-US"/>
          </a:p>
        </p:txBody>
      </p:sp>
      <p:sp>
        <p:nvSpPr>
          <p:cNvPr id="12" name="Text 10"/>
          <p:cNvSpPr/>
          <p:nvPr/>
        </p:nvSpPr>
        <p:spPr>
          <a:xfrm>
            <a:off x="5760720" y="1280160"/>
            <a:ext cx="3017520" cy="274320"/>
          </a:xfrm>
          <a:prstGeom prst="rect">
            <a:avLst/>
          </a:prstGeom>
          <a:noFill/>
          <a:ln/>
        </p:spPr>
        <p:txBody>
          <a:bodyPr wrap="square" lIns="0" tIns="0" rIns="0" bIns="0" rtlCol="0" anchor="ctr"/>
          <a:lstStyle/>
          <a:p>
            <a:pPr marL="0" indent="0" algn="ctr">
              <a:buNone/>
            </a:pPr>
            <a:r>
              <a:rPr lang="en-US" sz="900" b="1" kern="0" spc="15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5897880" y="1554480"/>
            <a:ext cx="2743200" cy="2194560"/>
          </a:xfrm>
          <a:prstGeom prst="rect">
            <a:avLst/>
          </a:prstGeom>
          <a:noFill/>
          <a:ln/>
        </p:spPr>
        <p:txBody>
          <a:bodyPr wrap="square" rtlCol="0" anchor="ctr"/>
          <a:lstStyle/>
          <a:p>
            <a:pPr marL="0" indent="0" algn="ctr">
              <a:buNone/>
            </a:pPr>
            <a:r>
              <a:rPr lang="en-US" sz="1100" i="1" dirty="0">
                <a:solidFill>
                  <a:srgbClr val="7A88A8"/>
                </a:solidFill>
                <a:latin typeface="Calibri" pitchFamily="34" charset="0"/>
                <a:ea typeface="Calibri" pitchFamily="34" charset="-122"/>
                <a:cs typeface="Calibri" pitchFamily="34" charset="-120"/>
              </a:rPr>
              <a:t>Photo of a temperate forest in fall --</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maple trees with red/orange leaves,</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or a wide view of the Great Plains.</a:t>
            </a:r>
            <a:endParaRPr lang="en-US" sz="1100" dirty="0"/>
          </a:p>
          <a:p>
            <a:pPr marL="0" indent="0" algn="ctr">
              <a:buNone/>
            </a:pP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Source: NPS, USGS, or</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Wikimedia Commons</a:t>
            </a:r>
            <a:endParaRPr lang="en-US" sz="1100" dirty="0"/>
          </a:p>
        </p:txBody>
      </p:sp>
      <p:sp>
        <p:nvSpPr>
          <p:cNvPr id="14" name="Shape 12"/>
          <p:cNvSpPr/>
          <p:nvPr/>
        </p:nvSpPr>
        <p:spPr>
          <a:xfrm>
            <a:off x="457200" y="4069080"/>
            <a:ext cx="8229600" cy="868680"/>
          </a:xfrm>
          <a:prstGeom prst="roundRect">
            <a:avLst>
              <a:gd name="adj" fmla="val 15789"/>
            </a:avLst>
          </a:prstGeom>
          <a:solidFill>
            <a:srgbClr val="1A2D5A"/>
          </a:solidFill>
          <a:ln/>
          <a:effectLst>
            <a:outerShdw blurRad="101600" dist="38100" dir="8100000" algn="bl" rotWithShape="0">
              <a:srgbClr val="000000">
                <a:alpha val="20000"/>
              </a:srgbClr>
            </a:outerShdw>
          </a:effectLst>
        </p:spPr>
        <p:txBody>
          <a:bodyPr/>
          <a:lstStyle/>
          <a:p>
            <a:endParaRPr lang="en-US"/>
          </a:p>
        </p:txBody>
      </p:sp>
      <p:sp>
        <p:nvSpPr>
          <p:cNvPr id="15" name="Text 13"/>
          <p:cNvSpPr/>
          <p:nvPr/>
        </p:nvSpPr>
        <p:spPr>
          <a:xfrm>
            <a:off x="640080" y="4160520"/>
            <a:ext cx="7863840" cy="256032"/>
          </a:xfrm>
          <a:prstGeom prst="rect">
            <a:avLst/>
          </a:prstGeom>
          <a:noFill/>
          <a:ln/>
        </p:spPr>
        <p:txBody>
          <a:bodyPr wrap="square" lIns="0" tIns="0" rIns="0" bIns="0"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640080" y="4416552"/>
            <a:ext cx="7863840" cy="4297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maple trees in the fall?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climate different from the Arctic or the boreal forest?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this zone good for farming?</a:t>
            </a:r>
            <a:endParaRPr lang="en-US" sz="1100" dirty="0"/>
          </a:p>
        </p:txBody>
      </p:sp>
      <p:sp>
        <p:nvSpPr>
          <p:cNvPr id="17" name="Text 15"/>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7 / 21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SORT — SOUTHERN ZONES</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The Warm South</a:t>
            </a:r>
            <a:endParaRPr lang="en-US" sz="2200" dirty="0"/>
          </a:p>
        </p:txBody>
      </p:sp>
      <p:sp>
        <p:nvSpPr>
          <p:cNvPr id="5" name="Shape 3"/>
          <p:cNvSpPr/>
          <p:nvPr/>
        </p:nvSpPr>
        <p:spPr>
          <a:xfrm>
            <a:off x="457200" y="1280160"/>
            <a:ext cx="3886200" cy="2743200"/>
          </a:xfrm>
          <a:prstGeom prst="roundRect">
            <a:avLst>
              <a:gd name="adj" fmla="val 4000"/>
            </a:avLst>
          </a:prstGeom>
          <a:solidFill>
            <a:srgbClr val="FFF5E8"/>
          </a:solidFill>
          <a:ln w="12700">
            <a:solidFill>
              <a:srgbClr val="F0D8B0"/>
            </a:solidFill>
            <a:prstDash val="solid"/>
          </a:ln>
        </p:spPr>
        <p:txBody>
          <a:bodyPr/>
          <a:lstStyle/>
          <a:p>
            <a:endParaRPr lang="en-US"/>
          </a:p>
        </p:txBody>
      </p:sp>
      <p:sp>
        <p:nvSpPr>
          <p:cNvPr id="6" name="Text 4"/>
          <p:cNvSpPr/>
          <p:nvPr/>
        </p:nvSpPr>
        <p:spPr>
          <a:xfrm>
            <a:off x="640080" y="1371600"/>
            <a:ext cx="3520440" cy="256032"/>
          </a:xfrm>
          <a:prstGeom prst="rect">
            <a:avLst/>
          </a:prstGeom>
          <a:noFill/>
          <a:ln/>
        </p:spPr>
        <p:txBody>
          <a:bodyPr wrap="square" rtlCol="0" anchor="ctr"/>
          <a:lstStyle/>
          <a:p>
            <a:pPr marL="0" indent="0">
              <a:buNone/>
            </a:pPr>
            <a:r>
              <a:rPr lang="en-US" sz="1000" b="1" kern="0" spc="150" dirty="0">
                <a:solidFill>
                  <a:srgbClr val="E8636B"/>
                </a:solidFill>
                <a:latin typeface="Calibri" pitchFamily="34" charset="0"/>
                <a:ea typeface="Calibri" pitchFamily="34" charset="-122"/>
                <a:cs typeface="Calibri" pitchFamily="34" charset="-120"/>
              </a:rPr>
              <a:t>DESERT</a:t>
            </a:r>
            <a:endParaRPr lang="en-US" sz="1000" dirty="0"/>
          </a:p>
        </p:txBody>
      </p:sp>
      <p:sp>
        <p:nvSpPr>
          <p:cNvPr id="7" name="Text 5"/>
          <p:cNvSpPr/>
          <p:nvPr/>
        </p:nvSpPr>
        <p:spPr>
          <a:xfrm>
            <a:off x="640080" y="1664208"/>
            <a:ext cx="3520440" cy="22860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Southwestern U.S. and northern Mexico</a:t>
            </a:r>
            <a:endParaRPr lang="en-US" sz="1100" dirty="0"/>
          </a:p>
        </p:txBody>
      </p:sp>
      <p:sp>
        <p:nvSpPr>
          <p:cNvPr id="8" name="Text 6"/>
          <p:cNvSpPr/>
          <p:nvPr/>
        </p:nvSpPr>
        <p:spPr>
          <a:xfrm>
            <a:off x="640080" y="2011680"/>
            <a:ext cx="3520440" cy="822960"/>
          </a:xfrm>
          <a:prstGeom prst="rect">
            <a:avLst/>
          </a:prstGeom>
          <a:noFill/>
          <a:ln/>
        </p:spPr>
        <p:txBody>
          <a:bodyPr wrap="square" rtlCol="0" anchor="t"/>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Very hot and very dry. Cacti like the giant saguaro can grow here because they store water inside their thick stems.</a:t>
            </a:r>
            <a:endParaRPr lang="en-US" sz="1200" dirty="0"/>
          </a:p>
        </p:txBody>
      </p:sp>
      <p:sp>
        <p:nvSpPr>
          <p:cNvPr id="9" name="Text 7"/>
          <p:cNvSpPr/>
          <p:nvPr/>
        </p:nvSpPr>
        <p:spPr>
          <a:xfrm>
            <a:off x="640080" y="2926080"/>
            <a:ext cx="3520440" cy="274320"/>
          </a:xfrm>
          <a:prstGeom prst="rect">
            <a:avLst/>
          </a:prstGeom>
          <a:noFill/>
          <a:ln/>
        </p:spPr>
        <p:txBody>
          <a:bodyPr wrap="square" rtlCol="0" anchor="ctr"/>
          <a:lstStyle/>
          <a:p>
            <a:pPr marL="0" indent="0">
              <a:buNone/>
            </a:pPr>
            <a:r>
              <a:rPr lang="en-US" sz="1200" b="1" dirty="0">
                <a:solidFill>
                  <a:srgbClr val="0E1C42"/>
                </a:solidFill>
                <a:latin typeface="Calibri" pitchFamily="34" charset="0"/>
                <a:ea typeface="Calibri" pitchFamily="34" charset="-122"/>
                <a:cs typeface="Calibri" pitchFamily="34" charset="-120"/>
              </a:rPr>
              <a:t>Key Plant: Saguaro Cactus</a:t>
            </a:r>
            <a:endParaRPr lang="en-US" sz="1200" dirty="0"/>
          </a:p>
        </p:txBody>
      </p:sp>
      <p:sp>
        <p:nvSpPr>
          <p:cNvPr id="10" name="Text 8"/>
          <p:cNvSpPr/>
          <p:nvPr/>
        </p:nvSpPr>
        <p:spPr>
          <a:xfrm>
            <a:off x="640080" y="3200400"/>
            <a:ext cx="3520440" cy="548640"/>
          </a:xfrm>
          <a:prstGeom prst="rect">
            <a:avLst/>
          </a:prstGeom>
          <a:noFill/>
          <a:ln/>
        </p:spPr>
        <p:txBody>
          <a:bodyPr wrap="square" rtlCol="0" anchor="ctr"/>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A tall green cactus that can store water inside its thick, ribbed stem. Can live 150+ years.</a:t>
            </a:r>
            <a:endParaRPr lang="en-US" sz="1100" dirty="0"/>
          </a:p>
        </p:txBody>
      </p:sp>
      <p:sp>
        <p:nvSpPr>
          <p:cNvPr id="11" name="Shape 9"/>
          <p:cNvSpPr/>
          <p:nvPr/>
        </p:nvSpPr>
        <p:spPr>
          <a:xfrm>
            <a:off x="4800600" y="1280160"/>
            <a:ext cx="3886200" cy="2743200"/>
          </a:xfrm>
          <a:prstGeom prst="roundRect">
            <a:avLst>
              <a:gd name="adj" fmla="val 4000"/>
            </a:avLst>
          </a:prstGeom>
          <a:solidFill>
            <a:srgbClr val="E3F8ED"/>
          </a:solidFill>
          <a:ln w="12700">
            <a:solidFill>
              <a:srgbClr val="A8D8B8"/>
            </a:solidFill>
            <a:prstDash val="solid"/>
          </a:ln>
        </p:spPr>
        <p:txBody>
          <a:bodyPr/>
          <a:lstStyle/>
          <a:p>
            <a:endParaRPr lang="en-US"/>
          </a:p>
        </p:txBody>
      </p:sp>
      <p:sp>
        <p:nvSpPr>
          <p:cNvPr id="12" name="Text 10"/>
          <p:cNvSpPr/>
          <p:nvPr/>
        </p:nvSpPr>
        <p:spPr>
          <a:xfrm>
            <a:off x="4983480" y="1371600"/>
            <a:ext cx="3520440" cy="256032"/>
          </a:xfrm>
          <a:prstGeom prst="rect">
            <a:avLst/>
          </a:prstGeom>
          <a:noFill/>
          <a:ln/>
        </p:spPr>
        <p:txBody>
          <a:bodyPr wrap="square" rtlCol="0" anchor="ctr"/>
          <a:lstStyle/>
          <a:p>
            <a:pPr marL="0" indent="0">
              <a:buNone/>
            </a:pPr>
            <a:r>
              <a:rPr lang="en-US" sz="1000" b="1" kern="0" spc="150" dirty="0">
                <a:solidFill>
                  <a:srgbClr val="34B76F"/>
                </a:solidFill>
                <a:latin typeface="Calibri" pitchFamily="34" charset="0"/>
                <a:ea typeface="Calibri" pitchFamily="34" charset="-122"/>
                <a:cs typeface="Calibri" pitchFamily="34" charset="-120"/>
              </a:rPr>
              <a:t>TROPICAL</a:t>
            </a:r>
            <a:endParaRPr lang="en-US" sz="1000" dirty="0"/>
          </a:p>
        </p:txBody>
      </p:sp>
      <p:sp>
        <p:nvSpPr>
          <p:cNvPr id="13" name="Text 11"/>
          <p:cNvSpPr/>
          <p:nvPr/>
        </p:nvSpPr>
        <p:spPr>
          <a:xfrm>
            <a:off x="4983480" y="1664208"/>
            <a:ext cx="3520440" cy="228600"/>
          </a:xfrm>
          <a:prstGeom prst="rect">
            <a:avLst/>
          </a:prstGeom>
          <a:noFill/>
          <a:ln/>
        </p:spPr>
        <p:txBody>
          <a:bodyPr wrap="square" rtlCol="0" anchor="ctr"/>
          <a:lstStyle/>
          <a:p>
            <a:pPr marL="0" indent="0">
              <a:buNone/>
            </a:pPr>
            <a:r>
              <a:rPr lang="en-US" sz="1100" i="1" dirty="0">
                <a:solidFill>
                  <a:srgbClr val="7A88A8"/>
                </a:solidFill>
                <a:latin typeface="Calibri" pitchFamily="34" charset="0"/>
                <a:ea typeface="Calibri" pitchFamily="34" charset="-122"/>
                <a:cs typeface="Calibri" pitchFamily="34" charset="-120"/>
              </a:rPr>
              <a:t>Southern Mexico, Central America, Caribbean</a:t>
            </a:r>
            <a:endParaRPr lang="en-US" sz="1100" dirty="0"/>
          </a:p>
        </p:txBody>
      </p:sp>
      <p:sp>
        <p:nvSpPr>
          <p:cNvPr id="14" name="Text 12"/>
          <p:cNvSpPr/>
          <p:nvPr/>
        </p:nvSpPr>
        <p:spPr>
          <a:xfrm>
            <a:off x="4983480" y="2011680"/>
            <a:ext cx="3520440" cy="822960"/>
          </a:xfrm>
          <a:prstGeom prst="rect">
            <a:avLst/>
          </a:prstGeom>
          <a:noFill/>
          <a:ln/>
        </p:spPr>
        <p:txBody>
          <a:bodyPr wrap="square" rtlCol="0" anchor="t"/>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Warm year-round, with heavy rains. Rainforests, palm trees, and bright tropical flowers grow here.</a:t>
            </a:r>
            <a:endParaRPr lang="en-US" sz="1200" dirty="0"/>
          </a:p>
        </p:txBody>
      </p:sp>
      <p:sp>
        <p:nvSpPr>
          <p:cNvPr id="15" name="Text 13"/>
          <p:cNvSpPr/>
          <p:nvPr/>
        </p:nvSpPr>
        <p:spPr>
          <a:xfrm>
            <a:off x="4983480" y="2926080"/>
            <a:ext cx="3520440" cy="274320"/>
          </a:xfrm>
          <a:prstGeom prst="rect">
            <a:avLst/>
          </a:prstGeom>
          <a:noFill/>
          <a:ln/>
        </p:spPr>
        <p:txBody>
          <a:bodyPr wrap="square" rtlCol="0" anchor="ctr"/>
          <a:lstStyle/>
          <a:p>
            <a:pPr marL="0" indent="0">
              <a:buNone/>
            </a:pPr>
            <a:r>
              <a:rPr lang="en-US" sz="1200" b="1" dirty="0">
                <a:solidFill>
                  <a:srgbClr val="0E1C42"/>
                </a:solidFill>
                <a:latin typeface="Calibri" pitchFamily="34" charset="0"/>
                <a:ea typeface="Calibri" pitchFamily="34" charset="-122"/>
                <a:cs typeface="Calibri" pitchFamily="34" charset="-120"/>
              </a:rPr>
              <a:t>Key Plants: Coconut Palm, Banana</a:t>
            </a:r>
            <a:endParaRPr lang="en-US" sz="1200" dirty="0"/>
          </a:p>
        </p:txBody>
      </p:sp>
      <p:sp>
        <p:nvSpPr>
          <p:cNvPr id="16" name="Text 14"/>
          <p:cNvSpPr/>
          <p:nvPr/>
        </p:nvSpPr>
        <p:spPr>
          <a:xfrm>
            <a:off x="4983480" y="3200400"/>
            <a:ext cx="3520440" cy="731520"/>
          </a:xfrm>
          <a:prstGeom prst="rect">
            <a:avLst/>
          </a:prstGeom>
          <a:noFill/>
          <a:ln/>
        </p:spPr>
        <p:txBody>
          <a:bodyPr wrap="square" rtlCol="0" anchor="t"/>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Coconut palm: tall tree with long fronds, loves warm weather and salty sea air. Banana plant: huge green leaves, needs warm weather all year and lots of rain.</a:t>
            </a:r>
            <a:endParaRPr lang="en-US" sz="1100" dirty="0"/>
          </a:p>
        </p:txBody>
      </p:sp>
      <p:sp>
        <p:nvSpPr>
          <p:cNvPr id="17" name="Shape 15"/>
          <p:cNvSpPr/>
          <p:nvPr/>
        </p:nvSpPr>
        <p:spPr>
          <a:xfrm>
            <a:off x="457200" y="4206240"/>
            <a:ext cx="8229600" cy="594360"/>
          </a:xfrm>
          <a:prstGeom prst="roundRect">
            <a:avLst>
              <a:gd name="adj" fmla="val 12308"/>
            </a:avLst>
          </a:prstGeom>
          <a:solidFill>
            <a:srgbClr val="FFF3DC"/>
          </a:solidFill>
          <a:ln/>
        </p:spPr>
        <p:txBody>
          <a:bodyPr/>
          <a:lstStyle/>
          <a:p>
            <a:endParaRPr lang="en-US"/>
          </a:p>
        </p:txBody>
      </p:sp>
      <p:sp>
        <p:nvSpPr>
          <p:cNvPr id="18" name="Text 16"/>
          <p:cNvSpPr/>
          <p:nvPr/>
        </p:nvSpPr>
        <p:spPr>
          <a:xfrm>
            <a:off x="640080" y="4251960"/>
            <a:ext cx="7863840" cy="502920"/>
          </a:xfrm>
          <a:prstGeom prst="rect">
            <a:avLst/>
          </a:prstGeom>
          <a:noFill/>
          <a:ln/>
        </p:spPr>
        <p:txBody>
          <a:bodyPr wrap="square" rtlCol="0" anchor="ctr"/>
          <a:lstStyle/>
          <a:p>
            <a:pPr marL="0" indent="0">
              <a:buNone/>
            </a:pPr>
            <a:r>
              <a:rPr lang="en-US" sz="1200" b="1" i="1" dirty="0">
                <a:solidFill>
                  <a:srgbClr val="0E1C42"/>
                </a:solidFill>
                <a:latin typeface="Calibri" pitchFamily="34" charset="0"/>
                <a:ea typeface="Calibri" pitchFamily="34" charset="-122"/>
                <a:cs typeface="Calibri" pitchFamily="34" charset="-120"/>
              </a:rPr>
              <a:t>Both zones are warm -- so why does the desert grow cacti while the tropical zone grows palm trees? What's different?</a:t>
            </a:r>
            <a:endParaRPr lang="en-US" sz="1200" dirty="0"/>
          </a:p>
        </p:txBody>
      </p:sp>
      <p:sp>
        <p:nvSpPr>
          <p:cNvPr id="19" name="Text 17"/>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8 / 21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SOURCE MAP — CLIMATE ZONES</a:t>
            </a:r>
            <a:endParaRPr lang="en-US" sz="1000" dirty="0"/>
          </a:p>
        </p:txBody>
      </p:sp>
      <p:sp>
        <p:nvSpPr>
          <p:cNvPr id="4" name="Shape 2"/>
          <p:cNvSpPr/>
          <p:nvPr/>
        </p:nvSpPr>
        <p:spPr>
          <a:xfrm>
            <a:off x="457200" y="640080"/>
            <a:ext cx="5029200" cy="4114800"/>
          </a:xfrm>
          <a:prstGeom prst="roundRect">
            <a:avLst>
              <a:gd name="adj" fmla="val 2667"/>
            </a:avLst>
          </a:prstGeom>
          <a:solidFill>
            <a:srgbClr val="E2E8F4"/>
          </a:solidFill>
          <a:ln w="19050">
            <a:solidFill>
              <a:srgbClr val="B0B8CC"/>
            </a:solidFill>
            <a:prstDash val="dash"/>
          </a:ln>
        </p:spPr>
        <p:txBody>
          <a:bodyPr/>
          <a:lstStyle/>
          <a:p>
            <a:endParaRPr lang="en-US"/>
          </a:p>
        </p:txBody>
      </p:sp>
      <p:sp>
        <p:nvSpPr>
          <p:cNvPr id="5" name="Text 3"/>
          <p:cNvSpPr/>
          <p:nvPr/>
        </p:nvSpPr>
        <p:spPr>
          <a:xfrm>
            <a:off x="457200" y="640080"/>
            <a:ext cx="5029200" cy="274320"/>
          </a:xfrm>
          <a:prstGeom prst="rect">
            <a:avLst/>
          </a:prstGeom>
          <a:noFill/>
          <a:ln/>
        </p:spPr>
        <p:txBody>
          <a:bodyPr wrap="square" lIns="0" tIns="0" rIns="0" bIns="0" rtlCol="0" anchor="ctr"/>
          <a:lstStyle/>
          <a:p>
            <a:pPr marL="0" indent="0" algn="ctr">
              <a:buNone/>
            </a:pPr>
            <a:r>
              <a:rPr lang="en-US" sz="900" b="1" kern="0" spc="15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94360" y="914400"/>
            <a:ext cx="4754880" cy="3749040"/>
          </a:xfrm>
          <a:prstGeom prst="rect">
            <a:avLst/>
          </a:prstGeom>
          <a:noFill/>
          <a:ln/>
        </p:spPr>
        <p:txBody>
          <a:bodyPr wrap="square" rtlCol="0" anchor="ctr"/>
          <a:lstStyle/>
          <a:p>
            <a:pPr marL="0" indent="0" algn="ctr">
              <a:buNone/>
            </a:pPr>
            <a:r>
              <a:rPr lang="en-US" sz="1100" i="1" dirty="0">
                <a:solidFill>
                  <a:srgbClr val="7A88A8"/>
                </a:solidFill>
                <a:latin typeface="Calibri" pitchFamily="34" charset="0"/>
                <a:ea typeface="Calibri" pitchFamily="34" charset="-122"/>
                <a:cs typeface="Calibri" pitchFamily="34" charset="-120"/>
              </a:rPr>
              <a:t>Climate or biome map of North America</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and the Caribbean showing five major zones</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in different colors with a legend:</a:t>
            </a:r>
            <a:endParaRPr lang="en-US" sz="1100" dirty="0"/>
          </a:p>
          <a:p>
            <a:pPr marL="0" indent="0" algn="ctr">
              <a:buNone/>
            </a:pP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Arctic/Tundra (far north)</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Boreal/Taiga Forest</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Temperate Forest and Grassland (middle)</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Desert (southwest)</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Tropical (south and Caribbean)</a:t>
            </a:r>
            <a:endParaRPr lang="en-US" sz="1100" dirty="0"/>
          </a:p>
          <a:p>
            <a:pPr marL="0" indent="0" algn="ctr">
              <a:buNone/>
            </a:pP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Source: NPS, USGS, NOAA, National Geographic</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MapMaker, or Wikimedia Commons (public domain)</a:t>
            </a:r>
            <a:endParaRPr lang="en-US" sz="1100" dirty="0"/>
          </a:p>
          <a:p>
            <a:pPr marL="0" indent="0" algn="ctr">
              <a:buNone/>
            </a:pP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Save as: source-3-06-04-climate-map-north-america-caribbean.jpg</a:t>
            </a:r>
            <a:endParaRPr lang="en-US" sz="1100" dirty="0"/>
          </a:p>
        </p:txBody>
      </p:sp>
      <p:sp>
        <p:nvSpPr>
          <p:cNvPr id="7" name="Shape 5"/>
          <p:cNvSpPr/>
          <p:nvPr/>
        </p:nvSpPr>
        <p:spPr>
          <a:xfrm>
            <a:off x="5760720" y="640080"/>
            <a:ext cx="3017520" cy="1645920"/>
          </a:xfrm>
          <a:prstGeom prst="roundRect">
            <a:avLst>
              <a:gd name="adj" fmla="val 8333"/>
            </a:avLst>
          </a:prstGeom>
          <a:solidFill>
            <a:srgbClr val="1A2D5A"/>
          </a:solidFill>
          <a:ln/>
          <a:effectLst>
            <a:outerShdw blurRad="101600" dist="38100" dir="8100000" algn="bl" rotWithShape="0">
              <a:srgbClr val="000000">
                <a:alpha val="20000"/>
              </a:srgbClr>
            </a:outerShdw>
          </a:effectLst>
        </p:spPr>
        <p:txBody>
          <a:bodyPr/>
          <a:lstStyle/>
          <a:p>
            <a:endParaRPr lang="en-US"/>
          </a:p>
        </p:txBody>
      </p:sp>
      <p:sp>
        <p:nvSpPr>
          <p:cNvPr id="8" name="Text 6"/>
          <p:cNvSpPr/>
          <p:nvPr/>
        </p:nvSpPr>
        <p:spPr>
          <a:xfrm>
            <a:off x="5943600" y="731520"/>
            <a:ext cx="2651760" cy="256032"/>
          </a:xfrm>
          <a:prstGeom prst="rect">
            <a:avLst/>
          </a:prstGeom>
          <a:noFill/>
          <a:ln/>
        </p:spPr>
        <p:txBody>
          <a:bodyPr wrap="square" lIns="0" tIns="0" rIns="0" bIns="0"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943600" y="987552"/>
            <a:ext cx="2651760" cy="12070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different climate zones can you count on the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color covers the most space?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Find the cold zone in the far north. Now find the tropical zone in the south. What's in between?</a:t>
            </a:r>
            <a:endParaRPr lang="en-US" sz="1100" dirty="0"/>
          </a:p>
        </p:txBody>
      </p:sp>
      <p:sp>
        <p:nvSpPr>
          <p:cNvPr id="10" name="Shape 8"/>
          <p:cNvSpPr/>
          <p:nvPr/>
        </p:nvSpPr>
        <p:spPr>
          <a:xfrm>
            <a:off x="5760720" y="2560320"/>
            <a:ext cx="3017520" cy="1463040"/>
          </a:xfrm>
          <a:prstGeom prst="roundRect">
            <a:avLst>
              <a:gd name="adj" fmla="val 6250"/>
            </a:avLst>
          </a:prstGeom>
          <a:solidFill>
            <a:srgbClr val="FFF3DC"/>
          </a:solidFill>
          <a:ln w="12700">
            <a:solidFill>
              <a:srgbClr val="F5E6C8"/>
            </a:solidFill>
            <a:prstDash val="solid"/>
          </a:ln>
        </p:spPr>
        <p:txBody>
          <a:bodyPr/>
          <a:lstStyle/>
          <a:p>
            <a:endParaRPr lang="en-US"/>
          </a:p>
        </p:txBody>
      </p:sp>
      <p:sp>
        <p:nvSpPr>
          <p:cNvPr id="11" name="Text 9"/>
          <p:cNvSpPr/>
          <p:nvPr/>
        </p:nvSpPr>
        <p:spPr>
          <a:xfrm>
            <a:off x="5943600" y="2651760"/>
            <a:ext cx="2651760" cy="228600"/>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WHY DOES IT MATTER?</a:t>
            </a:r>
            <a:endParaRPr lang="en-US" sz="900" dirty="0"/>
          </a:p>
        </p:txBody>
      </p:sp>
      <p:sp>
        <p:nvSpPr>
          <p:cNvPr id="12" name="Text 10"/>
          <p:cNvSpPr/>
          <p:nvPr/>
        </p:nvSpPr>
        <p:spPr>
          <a:xfrm>
            <a:off x="5943600" y="2971800"/>
            <a:ext cx="2651760" cy="914400"/>
          </a:xfrm>
          <a:prstGeom prst="rect">
            <a:avLst/>
          </a:prstGeom>
          <a:noFill/>
          <a:ln/>
        </p:spPr>
        <p:txBody>
          <a:bodyPr wrap="square" rtlCol="0" anchor="ctr"/>
          <a:lstStyle/>
          <a:p>
            <a:pPr marL="0" indent="0">
              <a:lnSpc>
                <a:spcPct val="130000"/>
              </a:lnSpc>
              <a:buNone/>
            </a:pPr>
            <a:r>
              <a:rPr lang="en-US" sz="1200" i="1" dirty="0">
                <a:solidFill>
                  <a:srgbClr val="5A4A3A"/>
                </a:solidFill>
                <a:latin typeface="Calibri" pitchFamily="34" charset="0"/>
                <a:ea typeface="Calibri" pitchFamily="34" charset="-122"/>
                <a:cs typeface="Calibri" pitchFamily="34" charset="-120"/>
              </a:rPr>
              <a:t>Why is it useful to know about climate zones if you're a person planning where to plant a farm or build a town?</a:t>
            </a:r>
            <a:endParaRPr lang="en-US" sz="1200" dirty="0"/>
          </a:p>
        </p:txBody>
      </p:sp>
      <p:sp>
        <p:nvSpPr>
          <p:cNvPr id="13" name="Text 11"/>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9 / 21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ACTIVE PRACTICE — MATCH PLANTS TO CLIMATES</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Where Does This Plant Grow?</a:t>
            </a:r>
            <a:endParaRPr lang="en-US" sz="2200" dirty="0"/>
          </a:p>
        </p:txBody>
      </p:sp>
      <p:sp>
        <p:nvSpPr>
          <p:cNvPr id="5" name="Text 3"/>
          <p:cNvSpPr/>
          <p:nvPr/>
        </p:nvSpPr>
        <p:spPr>
          <a:xfrm>
            <a:off x="457200" y="1097280"/>
            <a:ext cx="8229600" cy="274320"/>
          </a:xfrm>
          <a:prstGeom prst="rect">
            <a:avLst/>
          </a:prstGeom>
          <a:noFill/>
          <a:ln/>
        </p:spPr>
        <p:txBody>
          <a:bodyPr wrap="square" rtlCol="0" anchor="ctr"/>
          <a:lstStyle/>
          <a:p>
            <a:pPr marL="0" indent="0">
              <a:buNone/>
            </a:pPr>
            <a:r>
              <a:rPr lang="en-US" sz="1300" dirty="0">
                <a:solidFill>
                  <a:srgbClr val="0E1C42"/>
                </a:solidFill>
                <a:latin typeface="Calibri" pitchFamily="34" charset="0"/>
                <a:ea typeface="Calibri" pitchFamily="34" charset="-122"/>
                <a:cs typeface="Calibri" pitchFamily="34" charset="-120"/>
              </a:rPr>
              <a:t>Call out the climate zone for each plant. Explain how you know.</a:t>
            </a:r>
            <a:endParaRPr lang="en-US" sz="1300" dirty="0"/>
          </a:p>
        </p:txBody>
      </p:sp>
      <p:sp>
        <p:nvSpPr>
          <p:cNvPr id="6" name="Shape 4"/>
          <p:cNvSpPr/>
          <p:nvPr/>
        </p:nvSpPr>
        <p:spPr>
          <a:xfrm>
            <a:off x="457200" y="1554480"/>
            <a:ext cx="4114800" cy="914400"/>
          </a:xfrm>
          <a:prstGeom prst="roundRect">
            <a:avLst>
              <a:gd name="adj" fmla="val 8000"/>
            </a:avLst>
          </a:prstGeom>
          <a:solidFill>
            <a:srgbClr val="FFF5E8"/>
          </a:solidFill>
          <a:ln w="12700">
            <a:solidFill>
              <a:srgbClr val="D0D8E0"/>
            </a:solidFill>
            <a:prstDash val="solid"/>
          </a:ln>
        </p:spPr>
        <p:txBody>
          <a:bodyPr/>
          <a:lstStyle/>
          <a:p>
            <a:endParaRPr lang="en-US"/>
          </a:p>
        </p:txBody>
      </p:sp>
      <p:sp>
        <p:nvSpPr>
          <p:cNvPr id="7" name="Text 5"/>
          <p:cNvSpPr/>
          <p:nvPr/>
        </p:nvSpPr>
        <p:spPr>
          <a:xfrm>
            <a:off x="594360" y="162763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Saguaro Cactus</a:t>
            </a:r>
            <a:endParaRPr lang="en-US" sz="1300" dirty="0"/>
          </a:p>
        </p:txBody>
      </p:sp>
      <p:sp>
        <p:nvSpPr>
          <p:cNvPr id="8" name="Text 6"/>
          <p:cNvSpPr/>
          <p:nvPr/>
        </p:nvSpPr>
        <p:spPr>
          <a:xfrm>
            <a:off x="594360" y="192024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Stores water in thick stems</a:t>
            </a:r>
            <a:endParaRPr lang="en-US" sz="1000" dirty="0"/>
          </a:p>
        </p:txBody>
      </p:sp>
      <p:sp>
        <p:nvSpPr>
          <p:cNvPr id="9" name="Text 7"/>
          <p:cNvSpPr/>
          <p:nvPr/>
        </p:nvSpPr>
        <p:spPr>
          <a:xfrm>
            <a:off x="3383280" y="162763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DESERT</a:t>
            </a:r>
            <a:endParaRPr lang="en-US" sz="800" dirty="0"/>
          </a:p>
        </p:txBody>
      </p:sp>
      <p:sp>
        <p:nvSpPr>
          <p:cNvPr id="10" name="Shape 8"/>
          <p:cNvSpPr/>
          <p:nvPr/>
        </p:nvSpPr>
        <p:spPr>
          <a:xfrm>
            <a:off x="4800600" y="1554480"/>
            <a:ext cx="4114800" cy="914400"/>
          </a:xfrm>
          <a:prstGeom prst="roundRect">
            <a:avLst>
              <a:gd name="adj" fmla="val 8000"/>
            </a:avLst>
          </a:prstGeom>
          <a:solidFill>
            <a:srgbClr val="E3F8ED"/>
          </a:solidFill>
          <a:ln w="12700">
            <a:solidFill>
              <a:srgbClr val="D0D8E0"/>
            </a:solidFill>
            <a:prstDash val="solid"/>
          </a:ln>
        </p:spPr>
        <p:txBody>
          <a:bodyPr/>
          <a:lstStyle/>
          <a:p>
            <a:endParaRPr lang="en-US"/>
          </a:p>
        </p:txBody>
      </p:sp>
      <p:sp>
        <p:nvSpPr>
          <p:cNvPr id="11" name="Text 9"/>
          <p:cNvSpPr/>
          <p:nvPr/>
        </p:nvSpPr>
        <p:spPr>
          <a:xfrm>
            <a:off x="4937760" y="162763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Coconut Palm</a:t>
            </a:r>
            <a:endParaRPr lang="en-US" sz="1300" dirty="0"/>
          </a:p>
        </p:txBody>
      </p:sp>
      <p:sp>
        <p:nvSpPr>
          <p:cNvPr id="12" name="Text 10"/>
          <p:cNvSpPr/>
          <p:nvPr/>
        </p:nvSpPr>
        <p:spPr>
          <a:xfrm>
            <a:off x="4937760" y="192024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Loves warm weather and salty sea air</a:t>
            </a:r>
            <a:endParaRPr lang="en-US" sz="1000" dirty="0"/>
          </a:p>
        </p:txBody>
      </p:sp>
      <p:sp>
        <p:nvSpPr>
          <p:cNvPr id="13" name="Text 11"/>
          <p:cNvSpPr/>
          <p:nvPr/>
        </p:nvSpPr>
        <p:spPr>
          <a:xfrm>
            <a:off x="7726680" y="162763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TROPICAL</a:t>
            </a:r>
            <a:endParaRPr lang="en-US" sz="800" dirty="0"/>
          </a:p>
        </p:txBody>
      </p:sp>
      <p:sp>
        <p:nvSpPr>
          <p:cNvPr id="14" name="Shape 12"/>
          <p:cNvSpPr/>
          <p:nvPr/>
        </p:nvSpPr>
        <p:spPr>
          <a:xfrm>
            <a:off x="457200" y="2606040"/>
            <a:ext cx="4114800" cy="914400"/>
          </a:xfrm>
          <a:prstGeom prst="roundRect">
            <a:avLst>
              <a:gd name="adj" fmla="val 8000"/>
            </a:avLst>
          </a:prstGeom>
          <a:solidFill>
            <a:srgbClr val="EAF8FD"/>
          </a:solidFill>
          <a:ln w="12700">
            <a:solidFill>
              <a:srgbClr val="D0D8E0"/>
            </a:solidFill>
            <a:prstDash val="solid"/>
          </a:ln>
        </p:spPr>
        <p:txBody>
          <a:bodyPr/>
          <a:lstStyle/>
          <a:p>
            <a:endParaRPr lang="en-US"/>
          </a:p>
        </p:txBody>
      </p:sp>
      <p:sp>
        <p:nvSpPr>
          <p:cNvPr id="15" name="Text 13"/>
          <p:cNvSpPr/>
          <p:nvPr/>
        </p:nvSpPr>
        <p:spPr>
          <a:xfrm>
            <a:off x="594360" y="267919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Spruce Tree</a:t>
            </a:r>
            <a:endParaRPr lang="en-US" sz="1300" dirty="0"/>
          </a:p>
        </p:txBody>
      </p:sp>
      <p:sp>
        <p:nvSpPr>
          <p:cNvPr id="16" name="Text 14"/>
          <p:cNvSpPr/>
          <p:nvPr/>
        </p:nvSpPr>
        <p:spPr>
          <a:xfrm>
            <a:off x="594360" y="297180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Keeps needles through snowy winters</a:t>
            </a:r>
            <a:endParaRPr lang="en-US" sz="1000" dirty="0"/>
          </a:p>
        </p:txBody>
      </p:sp>
      <p:sp>
        <p:nvSpPr>
          <p:cNvPr id="17" name="Text 15"/>
          <p:cNvSpPr/>
          <p:nvPr/>
        </p:nvSpPr>
        <p:spPr>
          <a:xfrm>
            <a:off x="3383280" y="267919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BOREAL</a:t>
            </a:r>
            <a:endParaRPr lang="en-US" sz="800" dirty="0"/>
          </a:p>
        </p:txBody>
      </p:sp>
      <p:sp>
        <p:nvSpPr>
          <p:cNvPr id="18" name="Shape 16"/>
          <p:cNvSpPr/>
          <p:nvPr/>
        </p:nvSpPr>
        <p:spPr>
          <a:xfrm>
            <a:off x="4800600" y="2606040"/>
            <a:ext cx="4114800" cy="914400"/>
          </a:xfrm>
          <a:prstGeom prst="roundRect">
            <a:avLst>
              <a:gd name="adj" fmla="val 8000"/>
            </a:avLst>
          </a:prstGeom>
          <a:solidFill>
            <a:srgbClr val="E0F0FF"/>
          </a:solidFill>
          <a:ln w="12700">
            <a:solidFill>
              <a:srgbClr val="D0D8E0"/>
            </a:solidFill>
            <a:prstDash val="solid"/>
          </a:ln>
        </p:spPr>
        <p:txBody>
          <a:bodyPr/>
          <a:lstStyle/>
          <a:p>
            <a:endParaRPr lang="en-US"/>
          </a:p>
        </p:txBody>
      </p:sp>
      <p:sp>
        <p:nvSpPr>
          <p:cNvPr id="19" name="Text 17"/>
          <p:cNvSpPr/>
          <p:nvPr/>
        </p:nvSpPr>
        <p:spPr>
          <a:xfrm>
            <a:off x="4937760" y="267919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Arctic Moss</a:t>
            </a:r>
            <a:endParaRPr lang="en-US" sz="1300" dirty="0"/>
          </a:p>
        </p:txBody>
      </p:sp>
      <p:sp>
        <p:nvSpPr>
          <p:cNvPr id="20" name="Text 18"/>
          <p:cNvSpPr/>
          <p:nvPr/>
        </p:nvSpPr>
        <p:spPr>
          <a:xfrm>
            <a:off x="4937760" y="297180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Survives on rocks and frozen ground</a:t>
            </a:r>
            <a:endParaRPr lang="en-US" sz="1000" dirty="0"/>
          </a:p>
        </p:txBody>
      </p:sp>
      <p:sp>
        <p:nvSpPr>
          <p:cNvPr id="21" name="Text 19"/>
          <p:cNvSpPr/>
          <p:nvPr/>
        </p:nvSpPr>
        <p:spPr>
          <a:xfrm>
            <a:off x="7726680" y="267919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ARCTIC TUNDRA</a:t>
            </a:r>
            <a:endParaRPr lang="en-US" sz="800" dirty="0"/>
          </a:p>
        </p:txBody>
      </p:sp>
      <p:sp>
        <p:nvSpPr>
          <p:cNvPr id="22" name="Shape 20"/>
          <p:cNvSpPr/>
          <p:nvPr/>
        </p:nvSpPr>
        <p:spPr>
          <a:xfrm>
            <a:off x="457200" y="3657600"/>
            <a:ext cx="4114800" cy="914400"/>
          </a:xfrm>
          <a:prstGeom prst="roundRect">
            <a:avLst>
              <a:gd name="adj" fmla="val 8000"/>
            </a:avLst>
          </a:prstGeom>
          <a:solidFill>
            <a:srgbClr val="FFF8F0"/>
          </a:solidFill>
          <a:ln w="12700">
            <a:solidFill>
              <a:srgbClr val="D0D8E0"/>
            </a:solidFill>
            <a:prstDash val="solid"/>
          </a:ln>
        </p:spPr>
        <p:txBody>
          <a:bodyPr/>
          <a:lstStyle/>
          <a:p>
            <a:endParaRPr lang="en-US"/>
          </a:p>
        </p:txBody>
      </p:sp>
      <p:sp>
        <p:nvSpPr>
          <p:cNvPr id="23" name="Text 21"/>
          <p:cNvSpPr/>
          <p:nvPr/>
        </p:nvSpPr>
        <p:spPr>
          <a:xfrm>
            <a:off x="594360" y="373075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Maple Tree</a:t>
            </a:r>
            <a:endParaRPr lang="en-US" sz="1300" dirty="0"/>
          </a:p>
        </p:txBody>
      </p:sp>
      <p:sp>
        <p:nvSpPr>
          <p:cNvPr id="24" name="Text 22"/>
          <p:cNvSpPr/>
          <p:nvPr/>
        </p:nvSpPr>
        <p:spPr>
          <a:xfrm>
            <a:off x="594360" y="402336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Drops leaves in fall, four seasons</a:t>
            </a:r>
            <a:endParaRPr lang="en-US" sz="1000" dirty="0"/>
          </a:p>
        </p:txBody>
      </p:sp>
      <p:sp>
        <p:nvSpPr>
          <p:cNvPr id="25" name="Text 23"/>
          <p:cNvSpPr/>
          <p:nvPr/>
        </p:nvSpPr>
        <p:spPr>
          <a:xfrm>
            <a:off x="3383280" y="373075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TEMPERATE</a:t>
            </a:r>
            <a:endParaRPr lang="en-US" sz="800" dirty="0"/>
          </a:p>
        </p:txBody>
      </p:sp>
      <p:sp>
        <p:nvSpPr>
          <p:cNvPr id="26" name="Shape 24"/>
          <p:cNvSpPr/>
          <p:nvPr/>
        </p:nvSpPr>
        <p:spPr>
          <a:xfrm>
            <a:off x="4800600" y="3657600"/>
            <a:ext cx="4114800" cy="914400"/>
          </a:xfrm>
          <a:prstGeom prst="roundRect">
            <a:avLst>
              <a:gd name="adj" fmla="val 8000"/>
            </a:avLst>
          </a:prstGeom>
          <a:solidFill>
            <a:srgbClr val="E3F8ED"/>
          </a:solidFill>
          <a:ln w="12700">
            <a:solidFill>
              <a:srgbClr val="D0D8E0"/>
            </a:solidFill>
            <a:prstDash val="solid"/>
          </a:ln>
        </p:spPr>
        <p:txBody>
          <a:bodyPr/>
          <a:lstStyle/>
          <a:p>
            <a:endParaRPr lang="en-US"/>
          </a:p>
        </p:txBody>
      </p:sp>
      <p:sp>
        <p:nvSpPr>
          <p:cNvPr id="27" name="Text 25"/>
          <p:cNvSpPr/>
          <p:nvPr/>
        </p:nvSpPr>
        <p:spPr>
          <a:xfrm>
            <a:off x="4937760" y="3730752"/>
            <a:ext cx="2926080" cy="274320"/>
          </a:xfrm>
          <a:prstGeom prst="rect">
            <a:avLst/>
          </a:prstGeom>
          <a:noFill/>
          <a:ln/>
        </p:spPr>
        <p:txBody>
          <a:bodyPr wrap="square" rtlCol="0" anchor="ctr"/>
          <a:lstStyle/>
          <a:p>
            <a:pPr marL="0" indent="0">
              <a:buNone/>
            </a:pPr>
            <a:r>
              <a:rPr lang="en-US" sz="1300" b="1" dirty="0">
                <a:solidFill>
                  <a:srgbClr val="0E1C42"/>
                </a:solidFill>
                <a:latin typeface="Calibri" pitchFamily="34" charset="0"/>
                <a:ea typeface="Calibri" pitchFamily="34" charset="-122"/>
                <a:cs typeface="Calibri" pitchFamily="34" charset="-120"/>
              </a:rPr>
              <a:t>Banana Plant</a:t>
            </a:r>
            <a:endParaRPr lang="en-US" sz="1300" dirty="0"/>
          </a:p>
        </p:txBody>
      </p:sp>
      <p:sp>
        <p:nvSpPr>
          <p:cNvPr id="28" name="Text 26"/>
          <p:cNvSpPr/>
          <p:nvPr/>
        </p:nvSpPr>
        <p:spPr>
          <a:xfrm>
            <a:off x="4937760" y="4023360"/>
            <a:ext cx="2926080" cy="274320"/>
          </a:xfrm>
          <a:prstGeom prst="rect">
            <a:avLst/>
          </a:prstGeom>
          <a:noFill/>
          <a:ln/>
        </p:spPr>
        <p:txBody>
          <a:bodyPr wrap="square" rtlCol="0" anchor="ctr"/>
          <a:lstStyle/>
          <a:p>
            <a:pPr marL="0" indent="0">
              <a:buNone/>
            </a:pPr>
            <a:r>
              <a:rPr lang="en-US" sz="1000" dirty="0">
                <a:solidFill>
                  <a:srgbClr val="0E1C42"/>
                </a:solidFill>
                <a:latin typeface="Calibri" pitchFamily="34" charset="0"/>
                <a:ea typeface="Calibri" pitchFamily="34" charset="-122"/>
                <a:cs typeface="Calibri" pitchFamily="34" charset="-120"/>
              </a:rPr>
              <a:t>Needs warm weather all year, lots of rain</a:t>
            </a:r>
            <a:endParaRPr lang="en-US" sz="1000" dirty="0"/>
          </a:p>
        </p:txBody>
      </p:sp>
      <p:sp>
        <p:nvSpPr>
          <p:cNvPr id="29" name="Text 27"/>
          <p:cNvSpPr/>
          <p:nvPr/>
        </p:nvSpPr>
        <p:spPr>
          <a:xfrm>
            <a:off x="7726680" y="3730752"/>
            <a:ext cx="1051560" cy="274320"/>
          </a:xfrm>
          <a:prstGeom prst="rect">
            <a:avLst/>
          </a:prstGeom>
          <a:noFill/>
          <a:ln/>
        </p:spPr>
        <p:txBody>
          <a:bodyPr wrap="square" rtlCol="0" anchor="ctr"/>
          <a:lstStyle/>
          <a:p>
            <a:pPr marL="0" indent="0" algn="r">
              <a:buNone/>
            </a:pPr>
            <a:r>
              <a:rPr lang="en-US" sz="800" b="1" kern="0" spc="100" dirty="0">
                <a:solidFill>
                  <a:srgbClr val="1A8A7D"/>
                </a:solidFill>
                <a:latin typeface="Calibri" pitchFamily="34" charset="0"/>
                <a:ea typeface="Calibri" pitchFamily="34" charset="-122"/>
                <a:cs typeface="Calibri" pitchFamily="34" charset="-120"/>
              </a:rPr>
              <a:t>TROPICAL</a:t>
            </a:r>
            <a:endParaRPr lang="en-US" sz="800" dirty="0"/>
          </a:p>
        </p:txBody>
      </p:sp>
      <p:sp>
        <p:nvSpPr>
          <p:cNvPr id="30" name="Text 28"/>
          <p:cNvSpPr/>
          <p:nvPr/>
        </p:nvSpPr>
        <p:spPr>
          <a:xfrm>
            <a:off x="457200" y="4663440"/>
            <a:ext cx="8229600" cy="274320"/>
          </a:xfrm>
          <a:prstGeom prst="rect">
            <a:avLst/>
          </a:prstGeom>
          <a:noFill/>
          <a:ln/>
        </p:spPr>
        <p:txBody>
          <a:bodyPr wrap="square" rtlCol="0" anchor="ctr"/>
          <a:lstStyle/>
          <a:p>
            <a:pPr marL="0" indent="0">
              <a:buNone/>
            </a:pPr>
            <a:r>
              <a:rPr lang="en-US" sz="1000" i="1" dirty="0">
                <a:solidFill>
                  <a:srgbClr val="7A88A8"/>
                </a:solidFill>
                <a:latin typeface="Calibri" pitchFamily="34" charset="0"/>
                <a:ea typeface="Calibri" pitchFamily="34" charset="-122"/>
                <a:cs typeface="Calibri" pitchFamily="34" charset="-120"/>
              </a:rPr>
              <a:t>Teacher: Reveal zone answers one at a time. Ask 'How do you know?' before confirming.</a:t>
            </a:r>
            <a:endParaRPr lang="en-US" sz="1000" dirty="0"/>
          </a:p>
        </p:txBody>
      </p:sp>
      <p:sp>
        <p:nvSpPr>
          <p:cNvPr id="31" name="Text 29"/>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10 / 21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DISCOVERY FACT</a:t>
            </a:r>
            <a:endParaRPr lang="en-US" sz="1000" dirty="0"/>
          </a:p>
        </p:txBody>
      </p:sp>
      <p:sp>
        <p:nvSpPr>
          <p:cNvPr id="4" name="Text 2"/>
          <p:cNvSpPr/>
          <p:nvPr/>
        </p:nvSpPr>
        <p:spPr>
          <a:xfrm>
            <a:off x="457200" y="640080"/>
            <a:ext cx="50292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The Giant Saguaro</a:t>
            </a:r>
            <a:endParaRPr lang="en-US" sz="2200" dirty="0"/>
          </a:p>
        </p:txBody>
      </p:sp>
      <p:sp>
        <p:nvSpPr>
          <p:cNvPr id="5" name="Shape 3"/>
          <p:cNvSpPr/>
          <p:nvPr/>
        </p:nvSpPr>
        <p:spPr>
          <a:xfrm>
            <a:off x="457200" y="1280160"/>
            <a:ext cx="5029200" cy="1463040"/>
          </a:xfrm>
          <a:prstGeom prst="roundRect">
            <a:avLst>
              <a:gd name="adj" fmla="val 7500"/>
            </a:avLst>
          </a:prstGeom>
          <a:solidFill>
            <a:srgbClr val="FFF5E8"/>
          </a:solidFill>
          <a:ln w="12700">
            <a:solidFill>
              <a:srgbClr val="F0D8B0"/>
            </a:solidFill>
            <a:prstDash val="solid"/>
          </a:ln>
        </p:spPr>
        <p:txBody>
          <a:bodyPr/>
          <a:lstStyle/>
          <a:p>
            <a:endParaRPr lang="en-US"/>
          </a:p>
        </p:txBody>
      </p:sp>
      <p:sp>
        <p:nvSpPr>
          <p:cNvPr id="6" name="Text 4"/>
          <p:cNvSpPr/>
          <p:nvPr/>
        </p:nvSpPr>
        <p:spPr>
          <a:xfrm>
            <a:off x="640080" y="1371600"/>
            <a:ext cx="4663440" cy="822960"/>
          </a:xfrm>
          <a:prstGeom prst="rect">
            <a:avLst/>
          </a:prstGeom>
          <a:noFill/>
          <a:ln/>
        </p:spPr>
        <p:txBody>
          <a:bodyPr wrap="square" rtlCol="0" anchor="ctr"/>
          <a:lstStyle/>
          <a:p>
            <a:pPr marL="0" indent="0">
              <a:lnSpc>
                <a:spcPct val="130000"/>
              </a:lnSpc>
              <a:buNone/>
            </a:pPr>
            <a:r>
              <a:rPr lang="en-US" sz="1300" dirty="0">
                <a:solidFill>
                  <a:srgbClr val="0E1C42"/>
                </a:solidFill>
                <a:latin typeface="Calibri" pitchFamily="34" charset="0"/>
                <a:ea typeface="Calibri" pitchFamily="34" charset="-122"/>
                <a:cs typeface="Calibri" pitchFamily="34" charset="-120"/>
              </a:rPr>
              <a:t>The giant saguaro cactus can live for more than 150 years and grow over 40 feet tall -- but only in the Sonoran Desert in Arizona and northern Mexico.</a:t>
            </a:r>
            <a:endParaRPr lang="en-US" sz="1300" dirty="0"/>
          </a:p>
        </p:txBody>
      </p:sp>
      <p:sp>
        <p:nvSpPr>
          <p:cNvPr id="7" name="Text 5"/>
          <p:cNvSpPr/>
          <p:nvPr/>
        </p:nvSpPr>
        <p:spPr>
          <a:xfrm>
            <a:off x="640080" y="2194560"/>
            <a:ext cx="4663440" cy="411480"/>
          </a:xfrm>
          <a:prstGeom prst="rect">
            <a:avLst/>
          </a:prstGeom>
          <a:noFill/>
          <a:ln/>
        </p:spPr>
        <p:txBody>
          <a:bodyPr wrap="square" rtlCol="0" anchor="ctr"/>
          <a:lstStyle/>
          <a:p>
            <a:pPr marL="0" indent="0">
              <a:buNone/>
            </a:pPr>
            <a:r>
              <a:rPr lang="en-US" sz="1300" b="1" dirty="0">
                <a:solidFill>
                  <a:srgbClr val="E8636B"/>
                </a:solidFill>
                <a:latin typeface="Calibri" pitchFamily="34" charset="0"/>
                <a:ea typeface="Calibri" pitchFamily="34" charset="-122"/>
                <a:cs typeface="Calibri" pitchFamily="34" charset="-120"/>
              </a:rPr>
              <a:t>It can't survive a hard freeze, so it stays where winters are mild.</a:t>
            </a:r>
            <a:endParaRPr lang="en-US" sz="1300" dirty="0"/>
          </a:p>
        </p:txBody>
      </p:sp>
      <p:sp>
        <p:nvSpPr>
          <p:cNvPr id="8" name="Shape 6"/>
          <p:cNvSpPr/>
          <p:nvPr/>
        </p:nvSpPr>
        <p:spPr>
          <a:xfrm>
            <a:off x="5760720" y="640080"/>
            <a:ext cx="3017520" cy="2103120"/>
          </a:xfrm>
          <a:prstGeom prst="roundRect">
            <a:avLst>
              <a:gd name="adj" fmla="val 5217"/>
            </a:avLst>
          </a:prstGeom>
          <a:solidFill>
            <a:srgbClr val="E2E8F4"/>
          </a:solidFill>
          <a:ln w="19050">
            <a:solidFill>
              <a:srgbClr val="B0B8CC"/>
            </a:solidFill>
            <a:prstDash val="dash"/>
          </a:ln>
        </p:spPr>
        <p:txBody>
          <a:bodyPr/>
          <a:lstStyle/>
          <a:p>
            <a:endParaRPr lang="en-US"/>
          </a:p>
        </p:txBody>
      </p:sp>
      <p:sp>
        <p:nvSpPr>
          <p:cNvPr id="9" name="Text 7"/>
          <p:cNvSpPr/>
          <p:nvPr/>
        </p:nvSpPr>
        <p:spPr>
          <a:xfrm>
            <a:off x="5760720" y="640080"/>
            <a:ext cx="3017520" cy="274320"/>
          </a:xfrm>
          <a:prstGeom prst="rect">
            <a:avLst/>
          </a:prstGeom>
          <a:noFill/>
          <a:ln/>
        </p:spPr>
        <p:txBody>
          <a:bodyPr wrap="square" lIns="0" tIns="0" rIns="0" bIns="0" rtlCol="0" anchor="ctr"/>
          <a:lstStyle/>
          <a:p>
            <a:pPr marL="0" indent="0" algn="ctr">
              <a:buNone/>
            </a:pPr>
            <a:r>
              <a:rPr lang="en-US" sz="900" b="1" kern="0" spc="15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5897880" y="914400"/>
            <a:ext cx="2743200" cy="1737360"/>
          </a:xfrm>
          <a:prstGeom prst="rect">
            <a:avLst/>
          </a:prstGeom>
          <a:noFill/>
          <a:ln/>
        </p:spPr>
        <p:txBody>
          <a:bodyPr wrap="square" rtlCol="0" anchor="ctr"/>
          <a:lstStyle/>
          <a:p>
            <a:pPr marL="0" indent="0" algn="ctr">
              <a:buNone/>
            </a:pPr>
            <a:r>
              <a:rPr lang="en-US" sz="1100" i="1" dirty="0">
                <a:solidFill>
                  <a:srgbClr val="7A88A8"/>
                </a:solidFill>
                <a:latin typeface="Calibri" pitchFamily="34" charset="0"/>
                <a:ea typeface="Calibri" pitchFamily="34" charset="-122"/>
                <a:cs typeface="Calibri" pitchFamily="34" charset="-120"/>
              </a:rPr>
              <a:t>Photo of a giant saguaro cactus</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in the Sonoran Desert, Arizona.</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Showing its tall ribbed trunk</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with upward-curving arms.</a:t>
            </a:r>
            <a:endParaRPr lang="en-US" sz="1100" dirty="0"/>
          </a:p>
          <a:p>
            <a:pPr marL="0" indent="0" algn="ctr">
              <a:buNone/>
            </a:pP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Source: NPS, USGS, or</a:t>
            </a:r>
            <a:endParaRPr lang="en-US" sz="1100" dirty="0"/>
          </a:p>
          <a:p>
            <a:pPr marL="0" indent="0" algn="ctr">
              <a:buNone/>
            </a:pPr>
            <a:r>
              <a:rPr lang="en-US" sz="1100" i="1" dirty="0">
                <a:solidFill>
                  <a:srgbClr val="7A88A8"/>
                </a:solidFill>
                <a:latin typeface="Calibri" pitchFamily="34" charset="0"/>
                <a:ea typeface="Calibri" pitchFamily="34" charset="-122"/>
                <a:cs typeface="Calibri" pitchFamily="34" charset="-120"/>
              </a:rPr>
              <a:t>Wikimedia Commons (public domain)</a:t>
            </a:r>
            <a:endParaRPr lang="en-US" sz="1100" dirty="0"/>
          </a:p>
        </p:txBody>
      </p:sp>
      <p:sp>
        <p:nvSpPr>
          <p:cNvPr id="11" name="Shape 9"/>
          <p:cNvSpPr/>
          <p:nvPr/>
        </p:nvSpPr>
        <p:spPr>
          <a:xfrm>
            <a:off x="457200" y="3017520"/>
            <a:ext cx="8229600" cy="1645920"/>
          </a:xfrm>
          <a:prstGeom prst="roundRect">
            <a:avLst>
              <a:gd name="adj" fmla="val 5556"/>
            </a:avLst>
          </a:prstGeom>
          <a:solidFill>
            <a:srgbClr val="FFF8F0"/>
          </a:solidFill>
          <a:ln w="12700">
            <a:solidFill>
              <a:srgbClr val="F5E6C8"/>
            </a:solidFill>
            <a:prstDash val="solid"/>
          </a:ln>
        </p:spPr>
        <p:txBody>
          <a:bodyPr/>
          <a:lstStyle/>
          <a:p>
            <a:endParaRPr lang="en-US"/>
          </a:p>
        </p:txBody>
      </p:sp>
      <p:sp>
        <p:nvSpPr>
          <p:cNvPr id="12" name="Text 10"/>
          <p:cNvSpPr/>
          <p:nvPr/>
        </p:nvSpPr>
        <p:spPr>
          <a:xfrm>
            <a:off x="640080" y="3090672"/>
            <a:ext cx="18288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THEN AND NOW</a:t>
            </a:r>
            <a:endParaRPr lang="en-US" sz="900" dirty="0"/>
          </a:p>
        </p:txBody>
      </p:sp>
      <p:sp>
        <p:nvSpPr>
          <p:cNvPr id="13" name="Text 11"/>
          <p:cNvSpPr/>
          <p:nvPr/>
        </p:nvSpPr>
        <p:spPr>
          <a:xfrm>
            <a:off x="640080" y="3337560"/>
            <a:ext cx="7863840" cy="640080"/>
          </a:xfrm>
          <a:prstGeom prst="rect">
            <a:avLst/>
          </a:prstGeom>
          <a:noFill/>
          <a:ln/>
        </p:spPr>
        <p:txBody>
          <a:bodyPr wrap="square" rtlCol="0" anchor="ctr"/>
          <a:lstStyle/>
          <a:p>
            <a:pPr marL="0" indent="0">
              <a:lnSpc>
                <a:spcPct val="130000"/>
              </a:lnSpc>
              <a:buNone/>
            </a:pPr>
            <a:r>
              <a:rPr lang="en-US" sz="1100" dirty="0">
                <a:solidFill>
                  <a:srgbClr val="5A4A3A"/>
                </a:solidFill>
                <a:latin typeface="Calibri" pitchFamily="34" charset="0"/>
                <a:ea typeface="Calibri" pitchFamily="34" charset="-122"/>
                <a:cs typeface="Calibri" pitchFamily="34" charset="-120"/>
              </a:rPr>
              <a:t>Long before there were countries or borders, people who lived in each climate zone learned to use the plants around them -- pine bark for boats in the boreal forest, agave for food in the desert, palm fronds for roofs in the Caribbean.</a:t>
            </a:r>
            <a:endParaRPr lang="en-US" sz="1100" dirty="0"/>
          </a:p>
        </p:txBody>
      </p:sp>
      <p:sp>
        <p:nvSpPr>
          <p:cNvPr id="14" name="Text 12"/>
          <p:cNvSpPr/>
          <p:nvPr/>
        </p:nvSpPr>
        <p:spPr>
          <a:xfrm>
            <a:off x="640080" y="4023360"/>
            <a:ext cx="7863840" cy="457200"/>
          </a:xfrm>
          <a:prstGeom prst="rect">
            <a:avLst/>
          </a:prstGeom>
          <a:noFill/>
          <a:ln/>
        </p:spPr>
        <p:txBody>
          <a:bodyPr wrap="square" rtlCol="0" anchor="ctr"/>
          <a:lstStyle/>
          <a:p>
            <a:pPr marL="0" indent="0">
              <a:lnSpc>
                <a:spcPct val="130000"/>
              </a:lnSpc>
              <a:buNone/>
            </a:pPr>
            <a:r>
              <a:rPr lang="en-US" sz="1100" b="1" dirty="0">
                <a:solidFill>
                  <a:srgbClr val="5A4A3A"/>
                </a:solidFill>
                <a:latin typeface="Calibri" pitchFamily="34" charset="0"/>
                <a:ea typeface="Calibri" pitchFamily="34" charset="-122"/>
                <a:cs typeface="Calibri" pitchFamily="34" charset="-120"/>
              </a:rPr>
              <a:t>Today, much of that knowledge is still used. Climate still shapes how people live in each part of the region.</a:t>
            </a:r>
            <a:endParaRPr lang="en-US" sz="1100" dirty="0"/>
          </a:p>
        </p:txBody>
      </p:sp>
      <p:sp>
        <p:nvSpPr>
          <p:cNvPr id="15" name="Text 13"/>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11 / 21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COMPARE — PLANTS ARE MAP-READERS</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If You Tell Me the Plants, I Can Guess the Climate</a:t>
            </a:r>
            <a:endParaRPr lang="en-US" sz="2000" dirty="0"/>
          </a:p>
        </p:txBody>
      </p:sp>
      <p:sp>
        <p:nvSpPr>
          <p:cNvPr id="5" name="Shape 3"/>
          <p:cNvSpPr/>
          <p:nvPr/>
        </p:nvSpPr>
        <p:spPr>
          <a:xfrm>
            <a:off x="274320" y="1280160"/>
            <a:ext cx="1627632" cy="2011680"/>
          </a:xfrm>
          <a:prstGeom prst="roundRect">
            <a:avLst>
              <a:gd name="adj" fmla="val 5618"/>
            </a:avLst>
          </a:prstGeom>
          <a:solidFill>
            <a:srgbClr val="E0F0FF"/>
          </a:solidFill>
          <a:ln w="12700">
            <a:solidFill>
              <a:srgbClr val="D0D8E0"/>
            </a:solidFill>
            <a:prstDash val="solid"/>
          </a:ln>
        </p:spPr>
        <p:txBody>
          <a:bodyPr/>
          <a:lstStyle/>
          <a:p>
            <a:endParaRPr lang="en-US"/>
          </a:p>
        </p:txBody>
      </p:sp>
      <p:sp>
        <p:nvSpPr>
          <p:cNvPr id="6" name="Text 4"/>
          <p:cNvSpPr/>
          <p:nvPr/>
        </p:nvSpPr>
        <p:spPr>
          <a:xfrm>
            <a:off x="347472" y="1371600"/>
            <a:ext cx="1481328" cy="320040"/>
          </a:xfrm>
          <a:prstGeom prst="rect">
            <a:avLst/>
          </a:prstGeom>
          <a:noFill/>
          <a:ln/>
        </p:spPr>
        <p:txBody>
          <a:bodyPr wrap="square" rtlCol="0" anchor="ctr"/>
          <a:lstStyle/>
          <a:p>
            <a:pPr marL="0" indent="0" algn="ctr">
              <a:buNone/>
            </a:pPr>
            <a:r>
              <a:rPr lang="en-US" sz="1000" b="1" dirty="0">
                <a:solidFill>
                  <a:srgbClr val="0E1C42"/>
                </a:solidFill>
                <a:latin typeface="Calibri" pitchFamily="34" charset="0"/>
                <a:ea typeface="Calibri" pitchFamily="34" charset="-122"/>
                <a:cs typeface="Calibri" pitchFamily="34" charset="-120"/>
              </a:rPr>
              <a:t>Arctic Tundra</a:t>
            </a:r>
            <a:endParaRPr lang="en-US" sz="1000" dirty="0"/>
          </a:p>
        </p:txBody>
      </p:sp>
      <p:sp>
        <p:nvSpPr>
          <p:cNvPr id="7" name="Text 5"/>
          <p:cNvSpPr/>
          <p:nvPr/>
        </p:nvSpPr>
        <p:spPr>
          <a:xfrm>
            <a:off x="347472" y="1737360"/>
            <a:ext cx="1481328" cy="274320"/>
          </a:xfrm>
          <a:prstGeom prst="rect">
            <a:avLst/>
          </a:prstGeom>
          <a:noFill/>
          <a:ln/>
        </p:spPr>
        <p:txBody>
          <a:bodyPr wrap="square" rtlCol="0" anchor="ctr"/>
          <a:lstStyle/>
          <a:p>
            <a:pPr marL="0" indent="0" algn="ctr">
              <a:buNone/>
            </a:pPr>
            <a:r>
              <a:rPr lang="en-US" sz="1300" b="1" dirty="0">
                <a:solidFill>
                  <a:srgbClr val="1A8A7D"/>
                </a:solidFill>
                <a:latin typeface="Cambria" pitchFamily="34" charset="0"/>
                <a:ea typeface="Cambria" pitchFamily="34" charset="-122"/>
                <a:cs typeface="Cambria" pitchFamily="34" charset="-120"/>
              </a:rPr>
              <a:t>Moss</a:t>
            </a:r>
            <a:endParaRPr lang="en-US" sz="1300" dirty="0"/>
          </a:p>
        </p:txBody>
      </p:sp>
      <p:sp>
        <p:nvSpPr>
          <p:cNvPr id="8" name="Text 6"/>
          <p:cNvSpPr/>
          <p:nvPr/>
        </p:nvSpPr>
        <p:spPr>
          <a:xfrm>
            <a:off x="347472" y="2103120"/>
            <a:ext cx="1481328" cy="731520"/>
          </a:xfrm>
          <a:prstGeom prst="rect">
            <a:avLst/>
          </a:prstGeom>
          <a:noFill/>
          <a:ln/>
        </p:spPr>
        <p:txBody>
          <a:bodyPr wrap="square" rtlCol="0" anchor="ctr"/>
          <a:lstStyle/>
          <a:p>
            <a:pPr marL="0" indent="0" algn="ctr">
              <a:lnSpc>
                <a:spcPct val="120000"/>
              </a:lnSpc>
              <a:buNone/>
            </a:pPr>
            <a:r>
              <a:rPr lang="en-US" sz="1000" dirty="0">
                <a:solidFill>
                  <a:srgbClr val="0E1C42"/>
                </a:solidFill>
                <a:latin typeface="Calibri" pitchFamily="34" charset="0"/>
                <a:ea typeface="Calibri" pitchFamily="34" charset="-122"/>
                <a:cs typeface="Calibri" pitchFamily="34" charset="-120"/>
              </a:rPr>
              <a:t>Frozen ground, no trees</a:t>
            </a:r>
            <a:endParaRPr lang="en-US" sz="1000" dirty="0"/>
          </a:p>
        </p:txBody>
      </p:sp>
      <p:sp>
        <p:nvSpPr>
          <p:cNvPr id="9" name="Shape 7"/>
          <p:cNvSpPr/>
          <p:nvPr/>
        </p:nvSpPr>
        <p:spPr>
          <a:xfrm>
            <a:off x="1993392" y="1280160"/>
            <a:ext cx="1627632" cy="2011680"/>
          </a:xfrm>
          <a:prstGeom prst="roundRect">
            <a:avLst>
              <a:gd name="adj" fmla="val 5618"/>
            </a:avLst>
          </a:prstGeom>
          <a:solidFill>
            <a:srgbClr val="E3F8ED"/>
          </a:solidFill>
          <a:ln w="12700">
            <a:solidFill>
              <a:srgbClr val="D0D8E0"/>
            </a:solidFill>
            <a:prstDash val="solid"/>
          </a:ln>
        </p:spPr>
        <p:txBody>
          <a:bodyPr/>
          <a:lstStyle/>
          <a:p>
            <a:endParaRPr lang="en-US"/>
          </a:p>
        </p:txBody>
      </p:sp>
      <p:sp>
        <p:nvSpPr>
          <p:cNvPr id="10" name="Text 8"/>
          <p:cNvSpPr/>
          <p:nvPr/>
        </p:nvSpPr>
        <p:spPr>
          <a:xfrm>
            <a:off x="2066544" y="1371600"/>
            <a:ext cx="1481328" cy="320040"/>
          </a:xfrm>
          <a:prstGeom prst="rect">
            <a:avLst/>
          </a:prstGeom>
          <a:noFill/>
          <a:ln/>
        </p:spPr>
        <p:txBody>
          <a:bodyPr wrap="square" rtlCol="0" anchor="ctr"/>
          <a:lstStyle/>
          <a:p>
            <a:pPr marL="0" indent="0" algn="ctr">
              <a:buNone/>
            </a:pPr>
            <a:r>
              <a:rPr lang="en-US" sz="1000" b="1" dirty="0">
                <a:solidFill>
                  <a:srgbClr val="0E1C42"/>
                </a:solidFill>
                <a:latin typeface="Calibri" pitchFamily="34" charset="0"/>
                <a:ea typeface="Calibri" pitchFamily="34" charset="-122"/>
                <a:cs typeface="Calibri" pitchFamily="34" charset="-120"/>
              </a:rPr>
              <a:t>Boreal Forest</a:t>
            </a:r>
            <a:endParaRPr lang="en-US" sz="1000" dirty="0"/>
          </a:p>
        </p:txBody>
      </p:sp>
      <p:sp>
        <p:nvSpPr>
          <p:cNvPr id="11" name="Text 9"/>
          <p:cNvSpPr/>
          <p:nvPr/>
        </p:nvSpPr>
        <p:spPr>
          <a:xfrm>
            <a:off x="2066544" y="1737360"/>
            <a:ext cx="1481328" cy="274320"/>
          </a:xfrm>
          <a:prstGeom prst="rect">
            <a:avLst/>
          </a:prstGeom>
          <a:noFill/>
          <a:ln/>
        </p:spPr>
        <p:txBody>
          <a:bodyPr wrap="square" rtlCol="0" anchor="ctr"/>
          <a:lstStyle/>
          <a:p>
            <a:pPr marL="0" indent="0" algn="ctr">
              <a:buNone/>
            </a:pPr>
            <a:r>
              <a:rPr lang="en-US" sz="1300" b="1" dirty="0">
                <a:solidFill>
                  <a:srgbClr val="1A8A7D"/>
                </a:solidFill>
                <a:latin typeface="Cambria" pitchFamily="34" charset="0"/>
                <a:ea typeface="Cambria" pitchFamily="34" charset="-122"/>
                <a:cs typeface="Cambria" pitchFamily="34" charset="-120"/>
              </a:rPr>
              <a:t>Spruce</a:t>
            </a:r>
            <a:endParaRPr lang="en-US" sz="1300" dirty="0"/>
          </a:p>
        </p:txBody>
      </p:sp>
      <p:sp>
        <p:nvSpPr>
          <p:cNvPr id="12" name="Text 10"/>
          <p:cNvSpPr/>
          <p:nvPr/>
        </p:nvSpPr>
        <p:spPr>
          <a:xfrm>
            <a:off x="2066544" y="2103120"/>
            <a:ext cx="1481328" cy="731520"/>
          </a:xfrm>
          <a:prstGeom prst="rect">
            <a:avLst/>
          </a:prstGeom>
          <a:noFill/>
          <a:ln/>
        </p:spPr>
        <p:txBody>
          <a:bodyPr wrap="square" rtlCol="0" anchor="ctr"/>
          <a:lstStyle/>
          <a:p>
            <a:pPr marL="0" indent="0" algn="ctr">
              <a:lnSpc>
                <a:spcPct val="120000"/>
              </a:lnSpc>
              <a:buNone/>
            </a:pPr>
            <a:r>
              <a:rPr lang="en-US" sz="1000" dirty="0">
                <a:solidFill>
                  <a:srgbClr val="0E1C42"/>
                </a:solidFill>
                <a:latin typeface="Calibri" pitchFamily="34" charset="0"/>
                <a:ea typeface="Calibri" pitchFamily="34" charset="-122"/>
                <a:cs typeface="Calibri" pitchFamily="34" charset="-120"/>
              </a:rPr>
              <a:t>Snowy, evergreen needles</a:t>
            </a:r>
            <a:endParaRPr lang="en-US" sz="1000" dirty="0"/>
          </a:p>
        </p:txBody>
      </p:sp>
      <p:sp>
        <p:nvSpPr>
          <p:cNvPr id="13" name="Shape 11"/>
          <p:cNvSpPr/>
          <p:nvPr/>
        </p:nvSpPr>
        <p:spPr>
          <a:xfrm>
            <a:off x="3712464" y="1280160"/>
            <a:ext cx="1627632" cy="2011680"/>
          </a:xfrm>
          <a:prstGeom prst="roundRect">
            <a:avLst>
              <a:gd name="adj" fmla="val 5618"/>
            </a:avLst>
          </a:prstGeom>
          <a:solidFill>
            <a:srgbClr val="FFF8F0"/>
          </a:solidFill>
          <a:ln w="12700">
            <a:solidFill>
              <a:srgbClr val="D0D8E0"/>
            </a:solidFill>
            <a:prstDash val="solid"/>
          </a:ln>
        </p:spPr>
        <p:txBody>
          <a:bodyPr/>
          <a:lstStyle/>
          <a:p>
            <a:endParaRPr lang="en-US"/>
          </a:p>
        </p:txBody>
      </p:sp>
      <p:sp>
        <p:nvSpPr>
          <p:cNvPr id="14" name="Text 12"/>
          <p:cNvSpPr/>
          <p:nvPr/>
        </p:nvSpPr>
        <p:spPr>
          <a:xfrm>
            <a:off x="3785616" y="1371600"/>
            <a:ext cx="1481328" cy="320040"/>
          </a:xfrm>
          <a:prstGeom prst="rect">
            <a:avLst/>
          </a:prstGeom>
          <a:noFill/>
          <a:ln/>
        </p:spPr>
        <p:txBody>
          <a:bodyPr wrap="square" rtlCol="0" anchor="ctr"/>
          <a:lstStyle/>
          <a:p>
            <a:pPr marL="0" indent="0" algn="ctr">
              <a:buNone/>
            </a:pPr>
            <a:r>
              <a:rPr lang="en-US" sz="1000" b="1" dirty="0">
                <a:solidFill>
                  <a:srgbClr val="0E1C42"/>
                </a:solidFill>
                <a:latin typeface="Calibri" pitchFamily="34" charset="0"/>
                <a:ea typeface="Calibri" pitchFamily="34" charset="-122"/>
                <a:cs typeface="Calibri" pitchFamily="34" charset="-120"/>
              </a:rPr>
              <a:t>Temperate</a:t>
            </a:r>
            <a:endParaRPr lang="en-US" sz="1000" dirty="0"/>
          </a:p>
        </p:txBody>
      </p:sp>
      <p:sp>
        <p:nvSpPr>
          <p:cNvPr id="15" name="Text 13"/>
          <p:cNvSpPr/>
          <p:nvPr/>
        </p:nvSpPr>
        <p:spPr>
          <a:xfrm>
            <a:off x="3785616" y="1737360"/>
            <a:ext cx="1481328" cy="274320"/>
          </a:xfrm>
          <a:prstGeom prst="rect">
            <a:avLst/>
          </a:prstGeom>
          <a:noFill/>
          <a:ln/>
        </p:spPr>
        <p:txBody>
          <a:bodyPr wrap="square" rtlCol="0" anchor="ctr"/>
          <a:lstStyle/>
          <a:p>
            <a:pPr marL="0" indent="0" algn="ctr">
              <a:buNone/>
            </a:pPr>
            <a:r>
              <a:rPr lang="en-US" sz="1300" b="1" dirty="0">
                <a:solidFill>
                  <a:srgbClr val="1A8A7D"/>
                </a:solidFill>
                <a:latin typeface="Cambria" pitchFamily="34" charset="0"/>
                <a:ea typeface="Cambria" pitchFamily="34" charset="-122"/>
                <a:cs typeface="Cambria" pitchFamily="34" charset="-120"/>
              </a:rPr>
              <a:t>Maple</a:t>
            </a:r>
            <a:endParaRPr lang="en-US" sz="1300" dirty="0"/>
          </a:p>
        </p:txBody>
      </p:sp>
      <p:sp>
        <p:nvSpPr>
          <p:cNvPr id="16" name="Text 14"/>
          <p:cNvSpPr/>
          <p:nvPr/>
        </p:nvSpPr>
        <p:spPr>
          <a:xfrm>
            <a:off x="3785616" y="2103120"/>
            <a:ext cx="1481328" cy="731520"/>
          </a:xfrm>
          <a:prstGeom prst="rect">
            <a:avLst/>
          </a:prstGeom>
          <a:noFill/>
          <a:ln/>
        </p:spPr>
        <p:txBody>
          <a:bodyPr wrap="square" rtlCol="0" anchor="ctr"/>
          <a:lstStyle/>
          <a:p>
            <a:pPr marL="0" indent="0" algn="ctr">
              <a:lnSpc>
                <a:spcPct val="120000"/>
              </a:lnSpc>
              <a:buNone/>
            </a:pPr>
            <a:r>
              <a:rPr lang="en-US" sz="1000" dirty="0">
                <a:solidFill>
                  <a:srgbClr val="0E1C42"/>
                </a:solidFill>
                <a:latin typeface="Calibri" pitchFamily="34" charset="0"/>
                <a:ea typeface="Calibri" pitchFamily="34" charset="-122"/>
                <a:cs typeface="Calibri" pitchFamily="34" charset="-120"/>
              </a:rPr>
              <a:t>Four seasons, leaves drop</a:t>
            </a:r>
            <a:endParaRPr lang="en-US" sz="1000" dirty="0"/>
          </a:p>
        </p:txBody>
      </p:sp>
      <p:sp>
        <p:nvSpPr>
          <p:cNvPr id="17" name="Shape 15"/>
          <p:cNvSpPr/>
          <p:nvPr/>
        </p:nvSpPr>
        <p:spPr>
          <a:xfrm>
            <a:off x="5431536" y="1280160"/>
            <a:ext cx="1627632" cy="2011680"/>
          </a:xfrm>
          <a:prstGeom prst="roundRect">
            <a:avLst>
              <a:gd name="adj" fmla="val 5618"/>
            </a:avLst>
          </a:prstGeom>
          <a:solidFill>
            <a:srgbClr val="FFF5E8"/>
          </a:solidFill>
          <a:ln w="12700">
            <a:solidFill>
              <a:srgbClr val="D0D8E0"/>
            </a:solidFill>
            <a:prstDash val="solid"/>
          </a:ln>
        </p:spPr>
        <p:txBody>
          <a:bodyPr/>
          <a:lstStyle/>
          <a:p>
            <a:endParaRPr lang="en-US"/>
          </a:p>
        </p:txBody>
      </p:sp>
      <p:sp>
        <p:nvSpPr>
          <p:cNvPr id="18" name="Text 16"/>
          <p:cNvSpPr/>
          <p:nvPr/>
        </p:nvSpPr>
        <p:spPr>
          <a:xfrm>
            <a:off x="5504688" y="1371600"/>
            <a:ext cx="1481328" cy="320040"/>
          </a:xfrm>
          <a:prstGeom prst="rect">
            <a:avLst/>
          </a:prstGeom>
          <a:noFill/>
          <a:ln/>
        </p:spPr>
        <p:txBody>
          <a:bodyPr wrap="square" rtlCol="0" anchor="ctr"/>
          <a:lstStyle/>
          <a:p>
            <a:pPr marL="0" indent="0" algn="ctr">
              <a:buNone/>
            </a:pPr>
            <a:r>
              <a:rPr lang="en-US" sz="1000" b="1" dirty="0">
                <a:solidFill>
                  <a:srgbClr val="0E1C42"/>
                </a:solidFill>
                <a:latin typeface="Calibri" pitchFamily="34" charset="0"/>
                <a:ea typeface="Calibri" pitchFamily="34" charset="-122"/>
                <a:cs typeface="Calibri" pitchFamily="34" charset="-120"/>
              </a:rPr>
              <a:t>Desert</a:t>
            </a:r>
            <a:endParaRPr lang="en-US" sz="1000" dirty="0"/>
          </a:p>
        </p:txBody>
      </p:sp>
      <p:sp>
        <p:nvSpPr>
          <p:cNvPr id="19" name="Text 17"/>
          <p:cNvSpPr/>
          <p:nvPr/>
        </p:nvSpPr>
        <p:spPr>
          <a:xfrm>
            <a:off x="5504688" y="1737360"/>
            <a:ext cx="1481328" cy="274320"/>
          </a:xfrm>
          <a:prstGeom prst="rect">
            <a:avLst/>
          </a:prstGeom>
          <a:noFill/>
          <a:ln/>
        </p:spPr>
        <p:txBody>
          <a:bodyPr wrap="square" rtlCol="0" anchor="ctr"/>
          <a:lstStyle/>
          <a:p>
            <a:pPr marL="0" indent="0" algn="ctr">
              <a:buNone/>
            </a:pPr>
            <a:r>
              <a:rPr lang="en-US" sz="1300" b="1" dirty="0">
                <a:solidFill>
                  <a:srgbClr val="1A8A7D"/>
                </a:solidFill>
                <a:latin typeface="Cambria" pitchFamily="34" charset="0"/>
                <a:ea typeface="Cambria" pitchFamily="34" charset="-122"/>
                <a:cs typeface="Cambria" pitchFamily="34" charset="-120"/>
              </a:rPr>
              <a:t>Saguaro</a:t>
            </a:r>
            <a:endParaRPr lang="en-US" sz="1300" dirty="0"/>
          </a:p>
        </p:txBody>
      </p:sp>
      <p:sp>
        <p:nvSpPr>
          <p:cNvPr id="20" name="Text 18"/>
          <p:cNvSpPr/>
          <p:nvPr/>
        </p:nvSpPr>
        <p:spPr>
          <a:xfrm>
            <a:off x="5504688" y="2103120"/>
            <a:ext cx="1481328" cy="731520"/>
          </a:xfrm>
          <a:prstGeom prst="rect">
            <a:avLst/>
          </a:prstGeom>
          <a:noFill/>
          <a:ln/>
        </p:spPr>
        <p:txBody>
          <a:bodyPr wrap="square" rtlCol="0" anchor="ctr"/>
          <a:lstStyle/>
          <a:p>
            <a:pPr marL="0" indent="0" algn="ctr">
              <a:lnSpc>
                <a:spcPct val="120000"/>
              </a:lnSpc>
              <a:buNone/>
            </a:pPr>
            <a:r>
              <a:rPr lang="en-US" sz="1000" dirty="0">
                <a:solidFill>
                  <a:srgbClr val="0E1C42"/>
                </a:solidFill>
                <a:latin typeface="Calibri" pitchFamily="34" charset="0"/>
                <a:ea typeface="Calibri" pitchFamily="34" charset="-122"/>
                <a:cs typeface="Calibri" pitchFamily="34" charset="-120"/>
              </a:rPr>
              <a:t>Hot, dry, stores water</a:t>
            </a:r>
            <a:endParaRPr lang="en-US" sz="1000" dirty="0"/>
          </a:p>
        </p:txBody>
      </p:sp>
      <p:sp>
        <p:nvSpPr>
          <p:cNvPr id="21" name="Shape 19"/>
          <p:cNvSpPr/>
          <p:nvPr/>
        </p:nvSpPr>
        <p:spPr>
          <a:xfrm>
            <a:off x="7150608" y="1280160"/>
            <a:ext cx="1627632" cy="2011680"/>
          </a:xfrm>
          <a:prstGeom prst="roundRect">
            <a:avLst>
              <a:gd name="adj" fmla="val 5618"/>
            </a:avLst>
          </a:prstGeom>
          <a:solidFill>
            <a:srgbClr val="E3F8ED"/>
          </a:solidFill>
          <a:ln w="12700">
            <a:solidFill>
              <a:srgbClr val="D0D8E0"/>
            </a:solidFill>
            <a:prstDash val="solid"/>
          </a:ln>
        </p:spPr>
        <p:txBody>
          <a:bodyPr/>
          <a:lstStyle/>
          <a:p>
            <a:endParaRPr lang="en-US"/>
          </a:p>
        </p:txBody>
      </p:sp>
      <p:sp>
        <p:nvSpPr>
          <p:cNvPr id="22" name="Text 20"/>
          <p:cNvSpPr/>
          <p:nvPr/>
        </p:nvSpPr>
        <p:spPr>
          <a:xfrm>
            <a:off x="7223760" y="1371600"/>
            <a:ext cx="1481328" cy="320040"/>
          </a:xfrm>
          <a:prstGeom prst="rect">
            <a:avLst/>
          </a:prstGeom>
          <a:noFill/>
          <a:ln/>
        </p:spPr>
        <p:txBody>
          <a:bodyPr wrap="square" rtlCol="0" anchor="ctr"/>
          <a:lstStyle/>
          <a:p>
            <a:pPr marL="0" indent="0" algn="ctr">
              <a:buNone/>
            </a:pPr>
            <a:r>
              <a:rPr lang="en-US" sz="1000" b="1" dirty="0">
                <a:solidFill>
                  <a:srgbClr val="0E1C42"/>
                </a:solidFill>
                <a:latin typeface="Calibri" pitchFamily="34" charset="0"/>
                <a:ea typeface="Calibri" pitchFamily="34" charset="-122"/>
                <a:cs typeface="Calibri" pitchFamily="34" charset="-120"/>
              </a:rPr>
              <a:t>Tropical</a:t>
            </a:r>
            <a:endParaRPr lang="en-US" sz="1000" dirty="0"/>
          </a:p>
        </p:txBody>
      </p:sp>
      <p:sp>
        <p:nvSpPr>
          <p:cNvPr id="23" name="Text 21"/>
          <p:cNvSpPr/>
          <p:nvPr/>
        </p:nvSpPr>
        <p:spPr>
          <a:xfrm>
            <a:off x="7223760" y="1737360"/>
            <a:ext cx="1481328" cy="274320"/>
          </a:xfrm>
          <a:prstGeom prst="rect">
            <a:avLst/>
          </a:prstGeom>
          <a:noFill/>
          <a:ln/>
        </p:spPr>
        <p:txBody>
          <a:bodyPr wrap="square" rtlCol="0" anchor="ctr"/>
          <a:lstStyle/>
          <a:p>
            <a:pPr marL="0" indent="0" algn="ctr">
              <a:buNone/>
            </a:pPr>
            <a:r>
              <a:rPr lang="en-US" sz="1300" b="1" dirty="0">
                <a:solidFill>
                  <a:srgbClr val="1A8A7D"/>
                </a:solidFill>
                <a:latin typeface="Cambria" pitchFamily="34" charset="0"/>
                <a:ea typeface="Cambria" pitchFamily="34" charset="-122"/>
                <a:cs typeface="Cambria" pitchFamily="34" charset="-120"/>
              </a:rPr>
              <a:t>Coconut Palm</a:t>
            </a:r>
            <a:endParaRPr lang="en-US" sz="1300" dirty="0"/>
          </a:p>
        </p:txBody>
      </p:sp>
      <p:sp>
        <p:nvSpPr>
          <p:cNvPr id="24" name="Text 22"/>
          <p:cNvSpPr/>
          <p:nvPr/>
        </p:nvSpPr>
        <p:spPr>
          <a:xfrm>
            <a:off x="7223760" y="2103120"/>
            <a:ext cx="1481328" cy="731520"/>
          </a:xfrm>
          <a:prstGeom prst="rect">
            <a:avLst/>
          </a:prstGeom>
          <a:noFill/>
          <a:ln/>
        </p:spPr>
        <p:txBody>
          <a:bodyPr wrap="square" rtlCol="0" anchor="ctr"/>
          <a:lstStyle/>
          <a:p>
            <a:pPr marL="0" indent="0" algn="ctr">
              <a:lnSpc>
                <a:spcPct val="120000"/>
              </a:lnSpc>
              <a:buNone/>
            </a:pPr>
            <a:r>
              <a:rPr lang="en-US" sz="1000" dirty="0">
                <a:solidFill>
                  <a:srgbClr val="0E1C42"/>
                </a:solidFill>
                <a:latin typeface="Calibri" pitchFamily="34" charset="0"/>
                <a:ea typeface="Calibri" pitchFamily="34" charset="-122"/>
                <a:cs typeface="Calibri" pitchFamily="34" charset="-120"/>
              </a:rPr>
              <a:t>Warm year-round, rain</a:t>
            </a:r>
            <a:endParaRPr lang="en-US" sz="1000" dirty="0"/>
          </a:p>
        </p:txBody>
      </p:sp>
      <p:sp>
        <p:nvSpPr>
          <p:cNvPr id="25" name="Shape 23"/>
          <p:cNvSpPr/>
          <p:nvPr/>
        </p:nvSpPr>
        <p:spPr>
          <a:xfrm>
            <a:off x="457200" y="3566160"/>
            <a:ext cx="8229600" cy="822960"/>
          </a:xfrm>
          <a:prstGeom prst="roundRect">
            <a:avLst>
              <a:gd name="adj" fmla="val 11111"/>
            </a:avLst>
          </a:prstGeom>
          <a:solidFill>
            <a:srgbClr val="FFF3DC"/>
          </a:solidFill>
          <a:ln w="12700">
            <a:solidFill>
              <a:srgbClr val="F5E6C8"/>
            </a:solidFill>
            <a:prstDash val="solid"/>
          </a:ln>
        </p:spPr>
        <p:txBody>
          <a:bodyPr/>
          <a:lstStyle/>
          <a:p>
            <a:endParaRPr lang="en-US"/>
          </a:p>
        </p:txBody>
      </p:sp>
      <p:sp>
        <p:nvSpPr>
          <p:cNvPr id="26" name="Text 24"/>
          <p:cNvSpPr/>
          <p:nvPr/>
        </p:nvSpPr>
        <p:spPr>
          <a:xfrm>
            <a:off x="640080" y="3639312"/>
            <a:ext cx="18288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EXHIBIT LABEL</a:t>
            </a:r>
            <a:endParaRPr lang="en-US" sz="900" dirty="0"/>
          </a:p>
        </p:txBody>
      </p:sp>
      <p:sp>
        <p:nvSpPr>
          <p:cNvPr id="27" name="Text 25"/>
          <p:cNvSpPr/>
          <p:nvPr/>
        </p:nvSpPr>
        <p:spPr>
          <a:xfrm>
            <a:off x="640080" y="3858768"/>
            <a:ext cx="7863840" cy="502920"/>
          </a:xfrm>
          <a:prstGeom prst="rect">
            <a:avLst/>
          </a:prstGeom>
          <a:noFill/>
          <a:ln/>
        </p:spPr>
        <p:txBody>
          <a:bodyPr wrap="square" rtlCol="0" anchor="ctr"/>
          <a:lstStyle/>
          <a:p>
            <a:pPr marL="0" indent="0">
              <a:lnSpc>
                <a:spcPct val="120000"/>
              </a:lnSpc>
              <a:buNone/>
            </a:pPr>
            <a:r>
              <a:rPr lang="en-US" sz="1100" dirty="0">
                <a:solidFill>
                  <a:srgbClr val="0E1C42"/>
                </a:solidFill>
                <a:latin typeface="Calibri" pitchFamily="34" charset="0"/>
                <a:ea typeface="Calibri" pitchFamily="34" charset="-122"/>
                <a:cs typeface="Calibri" pitchFamily="34" charset="-120"/>
              </a:rPr>
              <a:t>North America and the Caribbean holds five different climate zones -- from the icy Arctic Tundra in the far north to the warm Tropical zone in the south. Each climate grows different plants. Climate is one of the biggest reasons one part of the region looks so different from another.</a:t>
            </a:r>
            <a:endParaRPr lang="en-US" sz="1100" dirty="0"/>
          </a:p>
        </p:txBody>
      </p:sp>
      <p:sp>
        <p:nvSpPr>
          <p:cNvPr id="28" name="Text 26"/>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12 / 21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EXPLAIN — WHY IT MATTERS</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Climate Shapes How a Place Looks and Feels</a:t>
            </a:r>
            <a:endParaRPr lang="en-US" sz="2000" dirty="0"/>
          </a:p>
        </p:txBody>
      </p:sp>
      <p:sp>
        <p:nvSpPr>
          <p:cNvPr id="5" name="Shape 3"/>
          <p:cNvSpPr/>
          <p:nvPr/>
        </p:nvSpPr>
        <p:spPr>
          <a:xfrm>
            <a:off x="457200" y="1280160"/>
            <a:ext cx="8229600" cy="1463040"/>
          </a:xfrm>
          <a:prstGeom prst="roundRect">
            <a:avLst>
              <a:gd name="adj" fmla="val 7500"/>
            </a:avLst>
          </a:prstGeom>
          <a:solidFill>
            <a:srgbClr val="EAF8FD"/>
          </a:solidFill>
          <a:ln w="12700">
            <a:solidFill>
              <a:srgbClr val="C8E8F4"/>
            </a:solidFill>
            <a:prstDash val="solid"/>
          </a:ln>
        </p:spPr>
        <p:txBody>
          <a:bodyPr/>
          <a:lstStyle/>
          <a:p>
            <a:endParaRPr lang="en-US"/>
          </a:p>
        </p:txBody>
      </p:sp>
      <p:sp>
        <p:nvSpPr>
          <p:cNvPr id="6" name="Text 4"/>
          <p:cNvSpPr/>
          <p:nvPr/>
        </p:nvSpPr>
        <p:spPr>
          <a:xfrm>
            <a:off x="640080" y="1371600"/>
            <a:ext cx="7863840" cy="548640"/>
          </a:xfrm>
          <a:prstGeom prst="rect">
            <a:avLst/>
          </a:prstGeom>
          <a:noFill/>
          <a:ln/>
        </p:spPr>
        <p:txBody>
          <a:bodyPr wrap="square" rtlCol="0" anchor="ctr"/>
          <a:lstStyle/>
          <a:p>
            <a:pPr marL="0" indent="0">
              <a:lnSpc>
                <a:spcPct val="130000"/>
              </a:lnSpc>
              <a:buNone/>
            </a:pPr>
            <a:r>
              <a:rPr lang="en-US" sz="1300" dirty="0">
                <a:solidFill>
                  <a:srgbClr val="0E1C42"/>
                </a:solidFill>
                <a:latin typeface="Calibri" pitchFamily="34" charset="0"/>
                <a:ea typeface="Calibri" pitchFamily="34" charset="-122"/>
                <a:cs typeface="Calibri" pitchFamily="34" charset="-120"/>
              </a:rPr>
              <a:t>All five climate zones are in the same region. But a palm tree could never survive in the Arctic, and a polar bear could never live in the Caribbean.</a:t>
            </a:r>
            <a:endParaRPr lang="en-US" sz="1300" dirty="0"/>
          </a:p>
        </p:txBody>
      </p:sp>
      <p:sp>
        <p:nvSpPr>
          <p:cNvPr id="7" name="Text 5"/>
          <p:cNvSpPr/>
          <p:nvPr/>
        </p:nvSpPr>
        <p:spPr>
          <a:xfrm>
            <a:off x="640080" y="2011680"/>
            <a:ext cx="7863840" cy="548640"/>
          </a:xfrm>
          <a:prstGeom prst="rect">
            <a:avLst/>
          </a:prstGeom>
          <a:noFill/>
          <a:ln/>
        </p:spPr>
        <p:txBody>
          <a:bodyPr wrap="square" rtlCol="0" anchor="ctr"/>
          <a:lstStyle/>
          <a:p>
            <a:pPr marL="0" indent="0">
              <a:lnSpc>
                <a:spcPct val="130000"/>
              </a:lnSpc>
              <a:buNone/>
            </a:pPr>
            <a:r>
              <a:rPr lang="en-US" sz="1300" b="1" dirty="0">
                <a:solidFill>
                  <a:srgbClr val="0E1C42"/>
                </a:solidFill>
                <a:latin typeface="Calibri" pitchFamily="34" charset="0"/>
                <a:ea typeface="Calibri" pitchFamily="34" charset="-122"/>
                <a:cs typeface="Calibri" pitchFamily="34" charset="-120"/>
              </a:rPr>
              <a:t>Climate decides what grows, what lives there, and what the land looks like. If you know the climate, you can picture the place.</a:t>
            </a:r>
            <a:endParaRPr lang="en-US" sz="1300" dirty="0"/>
          </a:p>
        </p:txBody>
      </p:sp>
      <p:sp>
        <p:nvSpPr>
          <p:cNvPr id="8" name="Shape 6"/>
          <p:cNvSpPr/>
          <p:nvPr/>
        </p:nvSpPr>
        <p:spPr>
          <a:xfrm>
            <a:off x="457200" y="3017520"/>
            <a:ext cx="8229600" cy="1097280"/>
          </a:xfrm>
          <a:prstGeom prst="roundRect">
            <a:avLst>
              <a:gd name="adj" fmla="val 12500"/>
            </a:avLst>
          </a:prstGeom>
          <a:solidFill>
            <a:srgbClr val="1A2D5A"/>
          </a:solidFill>
          <a:ln/>
          <a:effectLst>
            <a:outerShdw blurRad="101600" dist="38100" dir="8100000" algn="bl" rotWithShape="0">
              <a:srgbClr val="000000">
                <a:alpha val="20000"/>
              </a:srgbClr>
            </a:outerShdw>
          </a:effectLst>
        </p:spPr>
        <p:txBody>
          <a:bodyPr/>
          <a:lstStyle/>
          <a:p>
            <a:endParaRPr lang="en-US"/>
          </a:p>
        </p:txBody>
      </p:sp>
      <p:sp>
        <p:nvSpPr>
          <p:cNvPr id="9" name="Text 7"/>
          <p:cNvSpPr/>
          <p:nvPr/>
        </p:nvSpPr>
        <p:spPr>
          <a:xfrm>
            <a:off x="640080" y="3108960"/>
            <a:ext cx="7863840" cy="256032"/>
          </a:xfrm>
          <a:prstGeom prst="rect">
            <a:avLst/>
          </a:prstGeom>
          <a:noFill/>
          <a:ln/>
        </p:spPr>
        <p:txBody>
          <a:bodyPr wrap="square" lIns="0" tIns="0" rIns="0" bIns="0"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3364992"/>
            <a:ext cx="786384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someone told you 'It's covered in snow and only moss grows there,' what climate zone is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someone said 'Tall cacti and dry sandy ground,' which zone?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climate one of the biggest reasons the same region can look so different?</a:t>
            </a:r>
            <a:endParaRPr lang="en-US" sz="1100" dirty="0"/>
          </a:p>
        </p:txBody>
      </p:sp>
      <p:sp>
        <p:nvSpPr>
          <p:cNvPr id="11" name="Text 9"/>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13 / 21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SELF-CHECK  1 OF 3</a:t>
            </a:r>
            <a:endParaRPr lang="en-US" sz="10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What does the word climate mean?</a:t>
            </a:r>
            <a:endParaRPr lang="en-US" sz="2000" dirty="0"/>
          </a:p>
        </p:txBody>
      </p:sp>
      <p:sp>
        <p:nvSpPr>
          <p:cNvPr id="5" name="Shape 3"/>
          <p:cNvSpPr/>
          <p:nvPr/>
        </p:nvSpPr>
        <p:spPr>
          <a:xfrm>
            <a:off x="457200" y="146304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6" name="Text 4"/>
          <p:cNvSpPr/>
          <p:nvPr/>
        </p:nvSpPr>
        <p:spPr>
          <a:xfrm>
            <a:off x="731520" y="146304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A. The weather outside right now.</a:t>
            </a:r>
            <a:endParaRPr lang="en-US" sz="1400" dirty="0"/>
          </a:p>
        </p:txBody>
      </p:sp>
      <p:sp>
        <p:nvSpPr>
          <p:cNvPr id="7" name="Shape 5"/>
          <p:cNvSpPr/>
          <p:nvPr/>
        </p:nvSpPr>
        <p:spPr>
          <a:xfrm>
            <a:off x="457200" y="2240280"/>
            <a:ext cx="8229600" cy="640080"/>
          </a:xfrm>
          <a:prstGeom prst="roundRect">
            <a:avLst>
              <a:gd name="adj" fmla="val 11429"/>
            </a:avLst>
          </a:prstGeom>
          <a:solidFill>
            <a:srgbClr val="E3F8ED"/>
          </a:solidFill>
          <a:ln w="25400">
            <a:solidFill>
              <a:srgbClr val="34B76F"/>
            </a:solidFill>
            <a:prstDash val="solid"/>
          </a:ln>
        </p:spPr>
        <p:txBody>
          <a:bodyPr/>
          <a:lstStyle/>
          <a:p>
            <a:endParaRPr lang="en-US"/>
          </a:p>
        </p:txBody>
      </p:sp>
      <p:sp>
        <p:nvSpPr>
          <p:cNvPr id="8" name="Text 6"/>
          <p:cNvSpPr/>
          <p:nvPr/>
        </p:nvSpPr>
        <p:spPr>
          <a:xfrm>
            <a:off x="731520" y="224028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B. The usual weather of a place over many years.</a:t>
            </a:r>
            <a:endParaRPr lang="en-US" sz="1400" dirty="0"/>
          </a:p>
        </p:txBody>
      </p:sp>
      <p:sp>
        <p:nvSpPr>
          <p:cNvPr id="9" name="Shape 7"/>
          <p:cNvSpPr/>
          <p:nvPr/>
        </p:nvSpPr>
        <p:spPr>
          <a:xfrm>
            <a:off x="457200" y="301752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10" name="Text 8"/>
          <p:cNvSpPr/>
          <p:nvPr/>
        </p:nvSpPr>
        <p:spPr>
          <a:xfrm>
            <a:off x="731520" y="301752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C. The temperature in just one season.</a:t>
            </a:r>
            <a:endParaRPr lang="en-US" sz="1400" dirty="0"/>
          </a:p>
        </p:txBody>
      </p:sp>
      <p:sp>
        <p:nvSpPr>
          <p:cNvPr id="11" name="Shape 9"/>
          <p:cNvSpPr/>
          <p:nvPr/>
        </p:nvSpPr>
        <p:spPr>
          <a:xfrm>
            <a:off x="457200" y="3931920"/>
            <a:ext cx="8229600" cy="822960"/>
          </a:xfrm>
          <a:prstGeom prst="roundRect">
            <a:avLst>
              <a:gd name="adj" fmla="val 11111"/>
            </a:avLst>
          </a:prstGeom>
          <a:solidFill>
            <a:srgbClr val="EAF8FD"/>
          </a:solidFill>
          <a:ln/>
        </p:spPr>
        <p:txBody>
          <a:bodyPr/>
          <a:lstStyle/>
          <a:p>
            <a:endParaRPr lang="en-US"/>
          </a:p>
        </p:txBody>
      </p:sp>
      <p:sp>
        <p:nvSpPr>
          <p:cNvPr id="12" name="Text 10"/>
          <p:cNvSpPr/>
          <p:nvPr/>
        </p:nvSpPr>
        <p:spPr>
          <a:xfrm>
            <a:off x="640080" y="3977640"/>
            <a:ext cx="7863840" cy="731520"/>
          </a:xfrm>
          <a:prstGeom prst="rect">
            <a:avLst/>
          </a:prstGeom>
          <a:noFill/>
          <a:ln/>
        </p:spPr>
        <p:txBody>
          <a:bodyPr wrap="square" rtlCol="0" anchor="ctr"/>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Climate is the long-term pattern of weather in a place -- not just today.</a:t>
            </a:r>
            <a:endParaRPr lang="en-US" sz="1200" dirty="0"/>
          </a:p>
        </p:txBody>
      </p:sp>
      <p:sp>
        <p:nvSpPr>
          <p:cNvPr id="13" name="Text 11"/>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14 / 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SELF-CHECK  2 OF 3</a:t>
            </a:r>
            <a:endParaRPr lang="en-US" sz="10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Where would you find tall evergreen trees like spruce and pine?</a:t>
            </a:r>
            <a:endParaRPr lang="en-US" sz="2000" dirty="0"/>
          </a:p>
        </p:txBody>
      </p:sp>
      <p:sp>
        <p:nvSpPr>
          <p:cNvPr id="5" name="Shape 3"/>
          <p:cNvSpPr/>
          <p:nvPr/>
        </p:nvSpPr>
        <p:spPr>
          <a:xfrm>
            <a:off x="457200" y="146304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6" name="Text 4"/>
          <p:cNvSpPr/>
          <p:nvPr/>
        </p:nvSpPr>
        <p:spPr>
          <a:xfrm>
            <a:off x="731520" y="146304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A. The desert in northern Mexico.</a:t>
            </a:r>
            <a:endParaRPr lang="en-US" sz="1400" dirty="0"/>
          </a:p>
        </p:txBody>
      </p:sp>
      <p:sp>
        <p:nvSpPr>
          <p:cNvPr id="7" name="Shape 5"/>
          <p:cNvSpPr/>
          <p:nvPr/>
        </p:nvSpPr>
        <p:spPr>
          <a:xfrm>
            <a:off x="457200" y="224028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8" name="Text 6"/>
          <p:cNvSpPr/>
          <p:nvPr/>
        </p:nvSpPr>
        <p:spPr>
          <a:xfrm>
            <a:off x="731520" y="224028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B. The tropical Caribbean islands.</a:t>
            </a:r>
            <a:endParaRPr lang="en-US" sz="1400" dirty="0"/>
          </a:p>
        </p:txBody>
      </p:sp>
      <p:sp>
        <p:nvSpPr>
          <p:cNvPr id="9" name="Shape 7"/>
          <p:cNvSpPr/>
          <p:nvPr/>
        </p:nvSpPr>
        <p:spPr>
          <a:xfrm>
            <a:off x="457200" y="3017520"/>
            <a:ext cx="8229600" cy="640080"/>
          </a:xfrm>
          <a:prstGeom prst="roundRect">
            <a:avLst>
              <a:gd name="adj" fmla="val 11429"/>
            </a:avLst>
          </a:prstGeom>
          <a:solidFill>
            <a:srgbClr val="E3F8ED"/>
          </a:solidFill>
          <a:ln w="25400">
            <a:solidFill>
              <a:srgbClr val="34B76F"/>
            </a:solidFill>
            <a:prstDash val="solid"/>
          </a:ln>
        </p:spPr>
        <p:txBody>
          <a:bodyPr/>
          <a:lstStyle/>
          <a:p>
            <a:endParaRPr lang="en-US"/>
          </a:p>
        </p:txBody>
      </p:sp>
      <p:sp>
        <p:nvSpPr>
          <p:cNvPr id="10" name="Text 8"/>
          <p:cNvSpPr/>
          <p:nvPr/>
        </p:nvSpPr>
        <p:spPr>
          <a:xfrm>
            <a:off x="731520" y="301752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C. The boreal forest across Canada.</a:t>
            </a:r>
            <a:endParaRPr lang="en-US" sz="1400" dirty="0"/>
          </a:p>
        </p:txBody>
      </p:sp>
      <p:sp>
        <p:nvSpPr>
          <p:cNvPr id="11" name="Shape 9"/>
          <p:cNvSpPr/>
          <p:nvPr/>
        </p:nvSpPr>
        <p:spPr>
          <a:xfrm>
            <a:off x="457200" y="3931920"/>
            <a:ext cx="8229600" cy="822960"/>
          </a:xfrm>
          <a:prstGeom prst="roundRect">
            <a:avLst>
              <a:gd name="adj" fmla="val 11111"/>
            </a:avLst>
          </a:prstGeom>
          <a:solidFill>
            <a:srgbClr val="EAF8FD"/>
          </a:solidFill>
          <a:ln/>
        </p:spPr>
        <p:txBody>
          <a:bodyPr/>
          <a:lstStyle/>
          <a:p>
            <a:endParaRPr lang="en-US"/>
          </a:p>
        </p:txBody>
      </p:sp>
      <p:sp>
        <p:nvSpPr>
          <p:cNvPr id="12" name="Text 10"/>
          <p:cNvSpPr/>
          <p:nvPr/>
        </p:nvSpPr>
        <p:spPr>
          <a:xfrm>
            <a:off x="640080" y="3977640"/>
            <a:ext cx="7863840" cy="731520"/>
          </a:xfrm>
          <a:prstGeom prst="rect">
            <a:avLst/>
          </a:prstGeom>
          <a:noFill/>
          <a:ln/>
        </p:spPr>
        <p:txBody>
          <a:bodyPr wrap="square" rtlCol="0" anchor="ctr"/>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Evergreens like spruce and pine fill the boreal forest -- they keep their needles through long, snowy winters.</a:t>
            </a:r>
            <a:endParaRPr lang="en-US" sz="1200" dirty="0"/>
          </a:p>
        </p:txBody>
      </p:sp>
      <p:sp>
        <p:nvSpPr>
          <p:cNvPr id="13" name="Text 11"/>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15 / 21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SELF-CHECK  3 OF 3</a:t>
            </a:r>
            <a:endParaRPr lang="en-US" sz="10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Why does the same region have so many different climates?</a:t>
            </a:r>
            <a:endParaRPr lang="en-US" sz="2000" dirty="0"/>
          </a:p>
        </p:txBody>
      </p:sp>
      <p:sp>
        <p:nvSpPr>
          <p:cNvPr id="5" name="Shape 3"/>
          <p:cNvSpPr/>
          <p:nvPr/>
        </p:nvSpPr>
        <p:spPr>
          <a:xfrm>
            <a:off x="457200" y="1463040"/>
            <a:ext cx="8229600" cy="640080"/>
          </a:xfrm>
          <a:prstGeom prst="roundRect">
            <a:avLst>
              <a:gd name="adj" fmla="val 11429"/>
            </a:avLst>
          </a:prstGeom>
          <a:solidFill>
            <a:srgbClr val="E3F8ED"/>
          </a:solidFill>
          <a:ln w="25400">
            <a:solidFill>
              <a:srgbClr val="34B76F"/>
            </a:solidFill>
            <a:prstDash val="solid"/>
          </a:ln>
        </p:spPr>
        <p:txBody>
          <a:bodyPr/>
          <a:lstStyle/>
          <a:p>
            <a:endParaRPr lang="en-US"/>
          </a:p>
        </p:txBody>
      </p:sp>
      <p:sp>
        <p:nvSpPr>
          <p:cNvPr id="6" name="Text 4"/>
          <p:cNvSpPr/>
          <p:nvPr/>
        </p:nvSpPr>
        <p:spPr>
          <a:xfrm>
            <a:off x="731520" y="146304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A. The region stretches a very long way from north to south.</a:t>
            </a:r>
            <a:endParaRPr lang="en-US" sz="1400" dirty="0"/>
          </a:p>
        </p:txBody>
      </p:sp>
      <p:sp>
        <p:nvSpPr>
          <p:cNvPr id="7" name="Shape 5"/>
          <p:cNvSpPr/>
          <p:nvPr/>
        </p:nvSpPr>
        <p:spPr>
          <a:xfrm>
            <a:off x="457200" y="224028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8" name="Text 6"/>
          <p:cNvSpPr/>
          <p:nvPr/>
        </p:nvSpPr>
        <p:spPr>
          <a:xfrm>
            <a:off x="731520" y="224028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B. Every country chooses its own climate.</a:t>
            </a:r>
            <a:endParaRPr lang="en-US" sz="1400" dirty="0"/>
          </a:p>
        </p:txBody>
      </p:sp>
      <p:sp>
        <p:nvSpPr>
          <p:cNvPr id="9" name="Shape 7"/>
          <p:cNvSpPr/>
          <p:nvPr/>
        </p:nvSpPr>
        <p:spPr>
          <a:xfrm>
            <a:off x="457200" y="3017520"/>
            <a:ext cx="8229600" cy="640080"/>
          </a:xfrm>
          <a:prstGeom prst="roundRect">
            <a:avLst>
              <a:gd name="adj" fmla="val 11429"/>
            </a:avLst>
          </a:prstGeom>
          <a:solidFill>
            <a:srgbClr val="FFFFFF"/>
          </a:solidFill>
          <a:ln w="12700">
            <a:solidFill>
              <a:srgbClr val="D0D8E0"/>
            </a:solidFill>
            <a:prstDash val="solid"/>
          </a:ln>
        </p:spPr>
        <p:txBody>
          <a:bodyPr/>
          <a:lstStyle/>
          <a:p>
            <a:endParaRPr lang="en-US"/>
          </a:p>
        </p:txBody>
      </p:sp>
      <p:sp>
        <p:nvSpPr>
          <p:cNvPr id="10" name="Text 8"/>
          <p:cNvSpPr/>
          <p:nvPr/>
        </p:nvSpPr>
        <p:spPr>
          <a:xfrm>
            <a:off x="731520" y="3017520"/>
            <a:ext cx="7680960" cy="640080"/>
          </a:xfrm>
          <a:prstGeom prst="rect">
            <a:avLst/>
          </a:prstGeom>
          <a:noFill/>
          <a:ln/>
        </p:spPr>
        <p:txBody>
          <a:bodyPr wrap="square" rtlCol="0" anchor="ctr"/>
          <a:lstStyle/>
          <a:p>
            <a:pPr marL="0" indent="0">
              <a:buNone/>
            </a:pPr>
            <a:r>
              <a:rPr lang="en-US" sz="1400" dirty="0">
                <a:solidFill>
                  <a:srgbClr val="0E1C42"/>
                </a:solidFill>
                <a:latin typeface="Calibri" pitchFamily="34" charset="0"/>
                <a:ea typeface="Calibri" pitchFamily="34" charset="-122"/>
                <a:cs typeface="Calibri" pitchFamily="34" charset="-120"/>
              </a:rPr>
              <a:t>C. All four climates are exactly the same temperature.</a:t>
            </a:r>
            <a:endParaRPr lang="en-US" sz="1400" dirty="0"/>
          </a:p>
        </p:txBody>
      </p:sp>
      <p:sp>
        <p:nvSpPr>
          <p:cNvPr id="11" name="Shape 9"/>
          <p:cNvSpPr/>
          <p:nvPr/>
        </p:nvSpPr>
        <p:spPr>
          <a:xfrm>
            <a:off x="457200" y="3931920"/>
            <a:ext cx="8229600" cy="822960"/>
          </a:xfrm>
          <a:prstGeom prst="roundRect">
            <a:avLst>
              <a:gd name="adj" fmla="val 11111"/>
            </a:avLst>
          </a:prstGeom>
          <a:solidFill>
            <a:srgbClr val="EAF8FD"/>
          </a:solidFill>
          <a:ln/>
        </p:spPr>
        <p:txBody>
          <a:bodyPr/>
          <a:lstStyle/>
          <a:p>
            <a:endParaRPr lang="en-US"/>
          </a:p>
        </p:txBody>
      </p:sp>
      <p:sp>
        <p:nvSpPr>
          <p:cNvPr id="12" name="Text 10"/>
          <p:cNvSpPr/>
          <p:nvPr/>
        </p:nvSpPr>
        <p:spPr>
          <a:xfrm>
            <a:off x="640080" y="3977640"/>
            <a:ext cx="7863840" cy="731520"/>
          </a:xfrm>
          <a:prstGeom prst="rect">
            <a:avLst/>
          </a:prstGeom>
          <a:noFill/>
          <a:ln/>
        </p:spPr>
        <p:txBody>
          <a:bodyPr wrap="square" rtlCol="0" anchor="ctr"/>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When a region reaches from the Arctic in the north all the way to the warm Caribbean in the south, it crosses many climate zones along the way.</a:t>
            </a:r>
            <a:endParaRPr lang="en-US" sz="1200" dirty="0"/>
          </a:p>
        </p:txBody>
      </p:sp>
      <p:sp>
        <p:nvSpPr>
          <p:cNvPr id="13" name="Text 11"/>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16 / 21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ERROR ANALYSIS — COMMON MISTAKE</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Wait -- Is the Desert "Empty"?</a:t>
            </a:r>
            <a:endParaRPr lang="en-US" sz="2200" dirty="0"/>
          </a:p>
        </p:txBody>
      </p:sp>
      <p:sp>
        <p:nvSpPr>
          <p:cNvPr id="5" name="Shape 3"/>
          <p:cNvSpPr/>
          <p:nvPr/>
        </p:nvSpPr>
        <p:spPr>
          <a:xfrm>
            <a:off x="457200" y="1280160"/>
            <a:ext cx="3886200" cy="2011680"/>
          </a:xfrm>
          <a:prstGeom prst="roundRect">
            <a:avLst>
              <a:gd name="adj" fmla="val 5455"/>
            </a:avLst>
          </a:prstGeom>
          <a:solidFill>
            <a:srgbClr val="FFE8E8"/>
          </a:solidFill>
          <a:ln w="19050">
            <a:solidFill>
              <a:srgbClr val="E8636B"/>
            </a:solidFill>
            <a:prstDash val="solid"/>
          </a:ln>
        </p:spPr>
        <p:txBody>
          <a:bodyPr/>
          <a:lstStyle/>
          <a:p>
            <a:endParaRPr lang="en-US"/>
          </a:p>
        </p:txBody>
      </p:sp>
      <p:sp>
        <p:nvSpPr>
          <p:cNvPr id="6" name="Text 4"/>
          <p:cNvSpPr/>
          <p:nvPr/>
        </p:nvSpPr>
        <p:spPr>
          <a:xfrm>
            <a:off x="640080" y="1371600"/>
            <a:ext cx="3520440" cy="228600"/>
          </a:xfrm>
          <a:prstGeom prst="rect">
            <a:avLst/>
          </a:prstGeom>
          <a:noFill/>
          <a:ln/>
        </p:spPr>
        <p:txBody>
          <a:bodyPr wrap="square" rtlCol="0" anchor="ctr"/>
          <a:lstStyle/>
          <a:p>
            <a:pPr marL="0" indent="0">
              <a:buNone/>
            </a:pPr>
            <a:r>
              <a:rPr lang="en-US" sz="900" b="1" kern="0" spc="150" dirty="0">
                <a:solidFill>
                  <a:srgbClr val="E8636B"/>
                </a:solidFill>
                <a:latin typeface="Calibri" pitchFamily="34" charset="0"/>
                <a:ea typeface="Calibri" pitchFamily="34" charset="-122"/>
                <a:cs typeface="Calibri" pitchFamily="34" charset="-120"/>
              </a:rPr>
              <a:t>COMMON MISTAKE</a:t>
            </a:r>
            <a:endParaRPr lang="en-US" sz="900" dirty="0"/>
          </a:p>
        </p:txBody>
      </p:sp>
      <p:sp>
        <p:nvSpPr>
          <p:cNvPr id="7" name="Text 5"/>
          <p:cNvSpPr/>
          <p:nvPr/>
        </p:nvSpPr>
        <p:spPr>
          <a:xfrm>
            <a:off x="640080" y="1691640"/>
            <a:ext cx="3520440" cy="548640"/>
          </a:xfrm>
          <a:prstGeom prst="rect">
            <a:avLst/>
          </a:prstGeom>
          <a:noFill/>
          <a:ln/>
        </p:spPr>
        <p:txBody>
          <a:bodyPr wrap="square" rtlCol="0" anchor="ctr"/>
          <a:lstStyle/>
          <a:p>
            <a:pPr marL="0" indent="0">
              <a:lnSpc>
                <a:spcPct val="130000"/>
              </a:lnSpc>
              <a:buNone/>
            </a:pPr>
            <a:r>
              <a:rPr lang="en-US" sz="1300" i="1" dirty="0">
                <a:solidFill>
                  <a:srgbClr val="E8636B"/>
                </a:solidFill>
                <a:latin typeface="Calibri" pitchFamily="34" charset="0"/>
                <a:ea typeface="Calibri" pitchFamily="34" charset="-122"/>
                <a:cs typeface="Calibri" pitchFamily="34" charset="-120"/>
              </a:rPr>
              <a:t>"The desert doesn't have any plants because it's too hot and dry."</a:t>
            </a:r>
            <a:endParaRPr lang="en-US" sz="1300" dirty="0"/>
          </a:p>
        </p:txBody>
      </p:sp>
      <p:sp>
        <p:nvSpPr>
          <p:cNvPr id="8" name="Text 6"/>
          <p:cNvSpPr/>
          <p:nvPr/>
        </p:nvSpPr>
        <p:spPr>
          <a:xfrm>
            <a:off x="640080" y="2286000"/>
            <a:ext cx="3520440" cy="548640"/>
          </a:xfrm>
          <a:prstGeom prst="rect">
            <a:avLst/>
          </a:prstGeom>
          <a:noFill/>
          <a:ln/>
        </p:spPr>
        <p:txBody>
          <a:bodyPr wrap="square" rtlCol="0" anchor="ctr"/>
          <a:lstStyle/>
          <a:p>
            <a:pPr marL="0" indent="0">
              <a:lnSpc>
                <a:spcPct val="130000"/>
              </a:lnSpc>
              <a:buNone/>
            </a:pPr>
            <a:r>
              <a:rPr lang="en-US" sz="1200" dirty="0">
                <a:solidFill>
                  <a:srgbClr val="0E1C42"/>
                </a:solidFill>
                <a:latin typeface="Calibri" pitchFamily="34" charset="0"/>
                <a:ea typeface="Calibri" pitchFamily="34" charset="-122"/>
                <a:cs typeface="Calibri" pitchFamily="34" charset="-120"/>
              </a:rPr>
              <a:t>Students sometimes think deserts have nothing growing at all.</a:t>
            </a:r>
            <a:endParaRPr lang="en-US" sz="1200" dirty="0"/>
          </a:p>
        </p:txBody>
      </p:sp>
      <p:sp>
        <p:nvSpPr>
          <p:cNvPr id="9" name="Shape 7"/>
          <p:cNvSpPr/>
          <p:nvPr/>
        </p:nvSpPr>
        <p:spPr>
          <a:xfrm>
            <a:off x="4800600" y="1280160"/>
            <a:ext cx="3886200" cy="2011680"/>
          </a:xfrm>
          <a:prstGeom prst="roundRect">
            <a:avLst>
              <a:gd name="adj" fmla="val 5455"/>
            </a:avLst>
          </a:prstGeom>
          <a:solidFill>
            <a:srgbClr val="E3F8ED"/>
          </a:solidFill>
          <a:ln w="19050">
            <a:solidFill>
              <a:srgbClr val="34B76F"/>
            </a:solidFill>
            <a:prstDash val="solid"/>
          </a:ln>
        </p:spPr>
        <p:txBody>
          <a:bodyPr/>
          <a:lstStyle/>
          <a:p>
            <a:endParaRPr lang="en-US"/>
          </a:p>
        </p:txBody>
      </p:sp>
      <p:sp>
        <p:nvSpPr>
          <p:cNvPr id="10" name="Text 8"/>
          <p:cNvSpPr/>
          <p:nvPr/>
        </p:nvSpPr>
        <p:spPr>
          <a:xfrm>
            <a:off x="4983480" y="1371600"/>
            <a:ext cx="3520440" cy="228600"/>
          </a:xfrm>
          <a:prstGeom prst="rect">
            <a:avLst/>
          </a:prstGeom>
          <a:noFill/>
          <a:ln/>
        </p:spPr>
        <p:txBody>
          <a:bodyPr wrap="square" rtlCol="0" anchor="ctr"/>
          <a:lstStyle/>
          <a:p>
            <a:pPr marL="0" indent="0">
              <a:buNone/>
            </a:pPr>
            <a:r>
              <a:rPr lang="en-US" sz="900" b="1" kern="0" spc="150" dirty="0">
                <a:solidFill>
                  <a:srgbClr val="34B76F"/>
                </a:solidFill>
                <a:latin typeface="Calibri" pitchFamily="34" charset="0"/>
                <a:ea typeface="Calibri" pitchFamily="34" charset="-122"/>
                <a:cs typeface="Calibri" pitchFamily="34" charset="-120"/>
              </a:rPr>
              <a:t>CORRECTED THINKING</a:t>
            </a:r>
            <a:endParaRPr lang="en-US" sz="900" dirty="0"/>
          </a:p>
        </p:txBody>
      </p:sp>
      <p:sp>
        <p:nvSpPr>
          <p:cNvPr id="11" name="Text 9"/>
          <p:cNvSpPr/>
          <p:nvPr/>
        </p:nvSpPr>
        <p:spPr>
          <a:xfrm>
            <a:off x="4983480" y="1691640"/>
            <a:ext cx="3520440" cy="1097280"/>
          </a:xfrm>
          <a:prstGeom prst="rect">
            <a:avLst/>
          </a:prstGeom>
          <a:noFill/>
          <a:ln/>
        </p:spPr>
        <p:txBody>
          <a:bodyPr wrap="square" rtlCol="0" anchor="ctr"/>
          <a:lstStyle/>
          <a:p>
            <a:pPr marL="0" indent="0">
              <a:lnSpc>
                <a:spcPct val="130000"/>
              </a:lnSpc>
              <a:buNone/>
            </a:pPr>
            <a:r>
              <a:rPr lang="en-US" sz="1300" dirty="0">
                <a:solidFill>
                  <a:srgbClr val="0E1C42"/>
                </a:solidFill>
                <a:latin typeface="Calibri" pitchFamily="34" charset="0"/>
                <a:ea typeface="Calibri" pitchFamily="34" charset="-122"/>
                <a:cs typeface="Calibri" pitchFamily="34" charset="-120"/>
              </a:rPr>
              <a:t>The desert IS hot and dry -- but special plants like the saguaro cactus have adapted. They store water inside their thick stems. The desert has life; it just looks different.</a:t>
            </a:r>
            <a:endParaRPr lang="en-US" sz="1300" dirty="0"/>
          </a:p>
        </p:txBody>
      </p:sp>
      <p:sp>
        <p:nvSpPr>
          <p:cNvPr id="12" name="Text 10"/>
          <p:cNvSpPr/>
          <p:nvPr/>
        </p:nvSpPr>
        <p:spPr>
          <a:xfrm>
            <a:off x="4983480" y="2834640"/>
            <a:ext cx="3520440" cy="320040"/>
          </a:xfrm>
          <a:prstGeom prst="rect">
            <a:avLst/>
          </a:prstGeom>
          <a:noFill/>
          <a:ln/>
        </p:spPr>
        <p:txBody>
          <a:bodyPr wrap="square" rtlCol="0" anchor="ctr"/>
          <a:lstStyle/>
          <a:p>
            <a:pPr marL="0" indent="0">
              <a:buNone/>
            </a:pPr>
            <a:r>
              <a:rPr lang="en-US" sz="1300" b="1" dirty="0">
                <a:solidFill>
                  <a:srgbClr val="34B76F"/>
                </a:solidFill>
                <a:latin typeface="Calibri" pitchFamily="34" charset="0"/>
                <a:ea typeface="Calibri" pitchFamily="34" charset="-122"/>
                <a:cs typeface="Calibri" pitchFamily="34" charset="-120"/>
              </a:rPr>
              <a:t>Every climate zone supports life.</a:t>
            </a:r>
            <a:endParaRPr lang="en-US" sz="1300" dirty="0"/>
          </a:p>
        </p:txBody>
      </p:sp>
      <p:sp>
        <p:nvSpPr>
          <p:cNvPr id="13" name="Shape 11"/>
          <p:cNvSpPr/>
          <p:nvPr/>
        </p:nvSpPr>
        <p:spPr>
          <a:xfrm>
            <a:off x="457200" y="3566160"/>
            <a:ext cx="8229600" cy="1097280"/>
          </a:xfrm>
          <a:prstGeom prst="roundRect">
            <a:avLst>
              <a:gd name="adj" fmla="val 12500"/>
            </a:avLst>
          </a:prstGeom>
          <a:solidFill>
            <a:srgbClr val="1A2D5A"/>
          </a:solidFill>
          <a:ln/>
          <a:effectLst>
            <a:outerShdw blurRad="101600" dist="38100" dir="8100000" algn="bl" rotWithShape="0">
              <a:srgbClr val="000000">
                <a:alpha val="20000"/>
              </a:srgbClr>
            </a:outerShdw>
          </a:effectLst>
        </p:spPr>
        <p:txBody>
          <a:bodyPr/>
          <a:lstStyle/>
          <a:p>
            <a:endParaRPr lang="en-US"/>
          </a:p>
        </p:txBody>
      </p:sp>
      <p:sp>
        <p:nvSpPr>
          <p:cNvPr id="14" name="Text 12"/>
          <p:cNvSpPr/>
          <p:nvPr/>
        </p:nvSpPr>
        <p:spPr>
          <a:xfrm>
            <a:off x="640080" y="3657600"/>
            <a:ext cx="7863840" cy="256032"/>
          </a:xfrm>
          <a:prstGeom prst="rect">
            <a:avLst/>
          </a:prstGeom>
          <a:noFill/>
          <a:ln/>
        </p:spPr>
        <p:txBody>
          <a:bodyPr wrap="square" lIns="0" tIns="0" rIns="0" bIns="0"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640080" y="3913632"/>
            <a:ext cx="786384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say to someone who calls the desert 'empty'?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the saguaro cactus solve the problem of having very little rain?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think of another zone where plants adapted in a special way?</a:t>
            </a:r>
            <a:endParaRPr lang="en-US" sz="1100" dirty="0"/>
          </a:p>
        </p:txBody>
      </p:sp>
      <p:sp>
        <p:nvSpPr>
          <p:cNvPr id="16" name="Text 14"/>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17 / 21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GUIDED PRACTICE — EVIDENCE Q1 AND Q2</a:t>
            </a:r>
            <a:endParaRPr lang="en-US" sz="1000" dirty="0"/>
          </a:p>
        </p:txBody>
      </p:sp>
      <p:sp>
        <p:nvSpPr>
          <p:cNvPr id="4" name="Text 2"/>
          <p:cNvSpPr/>
          <p:nvPr/>
        </p:nvSpPr>
        <p:spPr>
          <a:xfrm>
            <a:off x="457200" y="640080"/>
            <a:ext cx="8229600" cy="411480"/>
          </a:xfrm>
          <a:prstGeom prst="rect">
            <a:avLst/>
          </a:prstGeom>
          <a:noFill/>
          <a:ln/>
        </p:spPr>
        <p:txBody>
          <a:bodyPr wrap="square" rtlCol="0" anchor="ctr"/>
          <a:lstStyle/>
          <a:p>
            <a:pPr marL="0" indent="0">
              <a:buNone/>
            </a:pPr>
            <a:r>
              <a:rPr lang="en-US" sz="2000" b="1" dirty="0">
                <a:solidFill>
                  <a:srgbClr val="0E1C42"/>
                </a:solidFill>
                <a:latin typeface="Cambria" pitchFamily="34" charset="0"/>
                <a:ea typeface="Cambria" pitchFamily="34" charset="-122"/>
                <a:cs typeface="Cambria" pitchFamily="34" charset="-120"/>
              </a:rPr>
              <a:t>Scaffolding: Evidence Questions 1 and 2</a:t>
            </a:r>
            <a:endParaRPr lang="en-US" sz="2000" dirty="0"/>
          </a:p>
        </p:txBody>
      </p:sp>
      <p:sp>
        <p:nvSpPr>
          <p:cNvPr id="5" name="Shape 3"/>
          <p:cNvSpPr/>
          <p:nvPr/>
        </p:nvSpPr>
        <p:spPr>
          <a:xfrm>
            <a:off x="457200" y="1188720"/>
            <a:ext cx="4023360" cy="2377440"/>
          </a:xfrm>
          <a:prstGeom prst="roundRect">
            <a:avLst>
              <a:gd name="adj" fmla="val 3846"/>
            </a:avLst>
          </a:prstGeom>
          <a:solidFill>
            <a:srgbClr val="FFF3DC"/>
          </a:solidFill>
          <a:ln w="19050">
            <a:solidFill>
              <a:srgbClr val="F5E6C8"/>
            </a:solidFill>
            <a:prstDash val="solid"/>
          </a:ln>
        </p:spPr>
        <p:txBody>
          <a:bodyPr/>
          <a:lstStyle/>
          <a:p>
            <a:endParaRPr lang="en-US"/>
          </a:p>
        </p:txBody>
      </p:sp>
      <p:sp>
        <p:nvSpPr>
          <p:cNvPr id="6" name="Text 4"/>
          <p:cNvSpPr/>
          <p:nvPr/>
        </p:nvSpPr>
        <p:spPr>
          <a:xfrm>
            <a:off x="640080" y="1261872"/>
            <a:ext cx="36576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640080" y="1508760"/>
            <a:ext cx="3657600" cy="548640"/>
          </a:xfrm>
          <a:prstGeom prst="rect">
            <a:avLst/>
          </a:prstGeom>
          <a:noFill/>
          <a:ln/>
        </p:spPr>
        <p:txBody>
          <a:bodyPr wrap="square" rtlCol="0" anchor="ctr"/>
          <a:lstStyle/>
          <a:p>
            <a:pPr marL="0" indent="0">
              <a:lnSpc>
                <a:spcPct val="120000"/>
              </a:lnSpc>
              <a:buNone/>
            </a:pPr>
            <a:r>
              <a:rPr lang="en-US" sz="1200" b="1" i="1" dirty="0">
                <a:solidFill>
                  <a:srgbClr val="0E1C42"/>
                </a:solidFill>
                <a:latin typeface="Calibri" pitchFamily="34" charset="0"/>
                <a:ea typeface="Calibri" pitchFamily="34" charset="-122"/>
                <a:cs typeface="Calibri" pitchFamily="34" charset="-120"/>
              </a:rPr>
              <a:t>Why don't tall trees grow in the Arctic Tundra? Use one detail from the lesson.</a:t>
            </a:r>
            <a:endParaRPr lang="en-US" sz="1200" dirty="0"/>
          </a:p>
        </p:txBody>
      </p:sp>
      <p:sp>
        <p:nvSpPr>
          <p:cNvPr id="8" name="Text 6"/>
          <p:cNvSpPr/>
          <p:nvPr/>
        </p:nvSpPr>
        <p:spPr>
          <a:xfrm>
            <a:off x="640080" y="2148840"/>
            <a:ext cx="2743200" cy="201168"/>
          </a:xfrm>
          <a:prstGeom prst="rect">
            <a:avLst/>
          </a:prstGeom>
          <a:noFill/>
          <a:ln/>
        </p:spPr>
        <p:txBody>
          <a:bodyPr wrap="square" rtlCol="0" anchor="ctr"/>
          <a:lstStyle/>
          <a:p>
            <a:pPr marL="0" indent="0">
              <a:buNone/>
            </a:pPr>
            <a:r>
              <a:rPr lang="en-US" sz="800" b="1" kern="0" spc="150" dirty="0">
                <a:solidFill>
                  <a:srgbClr val="1A8A7D"/>
                </a:solidFill>
                <a:latin typeface="Calibri" pitchFamily="34" charset="0"/>
                <a:ea typeface="Calibri" pitchFamily="34" charset="-122"/>
                <a:cs typeface="Calibri" pitchFamily="34" charset="-120"/>
              </a:rPr>
              <a:t>SENTENCE STARTERS</a:t>
            </a:r>
            <a:endParaRPr lang="en-US" sz="800" dirty="0"/>
          </a:p>
        </p:txBody>
      </p:sp>
      <p:sp>
        <p:nvSpPr>
          <p:cNvPr id="9" name="Text 7"/>
          <p:cNvSpPr/>
          <p:nvPr/>
        </p:nvSpPr>
        <p:spPr>
          <a:xfrm>
            <a:off x="640080" y="2377440"/>
            <a:ext cx="3657600" cy="1005840"/>
          </a:xfrm>
          <a:prstGeom prst="rect">
            <a:avLst/>
          </a:prstGeom>
          <a:noFill/>
          <a:ln/>
        </p:spPr>
        <p:txBody>
          <a:bodyPr wrap="square" rtlCol="0" anchor="ctr"/>
          <a:lstStyle/>
          <a:p>
            <a:pPr marL="0" indent="0">
              <a:lnSpc>
                <a:spcPct val="140000"/>
              </a:lnSpc>
              <a:buNone/>
            </a:pPr>
            <a:r>
              <a:rPr lang="en-US" sz="1100" i="1" dirty="0">
                <a:solidFill>
                  <a:srgbClr val="0E1C42"/>
                </a:solidFill>
                <a:latin typeface="Calibri" pitchFamily="34" charset="0"/>
                <a:ea typeface="Calibri" pitchFamily="34" charset="-122"/>
                <a:cs typeface="Calibri" pitchFamily="34" charset="-120"/>
              </a:rPr>
              <a:t>Tall trees don't grow in the Arctic Tundra because...</a:t>
            </a:r>
            <a:endParaRPr lang="en-US" sz="1100" dirty="0"/>
          </a:p>
          <a:p>
            <a:pPr marL="0" indent="0">
              <a:lnSpc>
                <a:spcPct val="140000"/>
              </a:lnSpc>
              <a:buNone/>
            </a:pPr>
            <a:r>
              <a:rPr lang="en-US" sz="1100" i="1" dirty="0">
                <a:solidFill>
                  <a:srgbClr val="0E1C42"/>
                </a:solidFill>
                <a:latin typeface="Calibri" pitchFamily="34" charset="0"/>
                <a:ea typeface="Calibri" pitchFamily="34" charset="-122"/>
                <a:cs typeface="Calibri" pitchFamily="34" charset="-120"/>
              </a:rPr>
              <a:t>The lesson says the ground...</a:t>
            </a:r>
            <a:endParaRPr lang="en-US" sz="1100" dirty="0"/>
          </a:p>
          <a:p>
            <a:pPr marL="0" indent="0">
              <a:lnSpc>
                <a:spcPct val="140000"/>
              </a:lnSpc>
              <a:buNone/>
            </a:pPr>
            <a:r>
              <a:rPr lang="en-US" sz="1100" i="1" dirty="0">
                <a:solidFill>
                  <a:srgbClr val="0E1C42"/>
                </a:solidFill>
                <a:latin typeface="Calibri" pitchFamily="34" charset="0"/>
                <a:ea typeface="Calibri" pitchFamily="34" charset="-122"/>
                <a:cs typeface="Calibri" pitchFamily="34" charset="-120"/>
              </a:rPr>
              <a:t>Without deep roots, trees can't...</a:t>
            </a:r>
            <a:endParaRPr lang="en-US" sz="1100" dirty="0"/>
          </a:p>
        </p:txBody>
      </p:sp>
      <p:sp>
        <p:nvSpPr>
          <p:cNvPr id="10" name="Shape 8"/>
          <p:cNvSpPr/>
          <p:nvPr/>
        </p:nvSpPr>
        <p:spPr>
          <a:xfrm>
            <a:off x="4663440" y="1188720"/>
            <a:ext cx="4023360" cy="2377440"/>
          </a:xfrm>
          <a:prstGeom prst="roundRect">
            <a:avLst>
              <a:gd name="adj" fmla="val 3846"/>
            </a:avLst>
          </a:prstGeom>
          <a:solidFill>
            <a:srgbClr val="FFF3DC"/>
          </a:solidFill>
          <a:ln w="19050">
            <a:solidFill>
              <a:srgbClr val="F5E6C8"/>
            </a:solidFill>
            <a:prstDash val="solid"/>
          </a:ln>
        </p:spPr>
        <p:txBody>
          <a:bodyPr/>
          <a:lstStyle/>
          <a:p>
            <a:endParaRPr lang="en-US"/>
          </a:p>
        </p:txBody>
      </p:sp>
      <p:sp>
        <p:nvSpPr>
          <p:cNvPr id="11" name="Text 9"/>
          <p:cNvSpPr/>
          <p:nvPr/>
        </p:nvSpPr>
        <p:spPr>
          <a:xfrm>
            <a:off x="4846320" y="1261872"/>
            <a:ext cx="36576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EVIDENCE Q2</a:t>
            </a:r>
            <a:endParaRPr lang="en-US" sz="900" dirty="0"/>
          </a:p>
        </p:txBody>
      </p:sp>
      <p:sp>
        <p:nvSpPr>
          <p:cNvPr id="12" name="Text 10"/>
          <p:cNvSpPr/>
          <p:nvPr/>
        </p:nvSpPr>
        <p:spPr>
          <a:xfrm>
            <a:off x="4846320" y="1508760"/>
            <a:ext cx="3657600" cy="640080"/>
          </a:xfrm>
          <a:prstGeom prst="rect">
            <a:avLst/>
          </a:prstGeom>
          <a:noFill/>
          <a:ln/>
        </p:spPr>
        <p:txBody>
          <a:bodyPr wrap="square" rtlCol="0" anchor="ctr"/>
          <a:lstStyle/>
          <a:p>
            <a:pPr marL="0" indent="0">
              <a:lnSpc>
                <a:spcPct val="120000"/>
              </a:lnSpc>
              <a:buNone/>
            </a:pPr>
            <a:r>
              <a:rPr lang="en-US" sz="1200" b="1" i="1" dirty="0">
                <a:solidFill>
                  <a:srgbClr val="0E1C42"/>
                </a:solidFill>
                <a:latin typeface="Calibri" pitchFamily="34" charset="0"/>
                <a:ea typeface="Calibri" pitchFamily="34" charset="-122"/>
                <a:cs typeface="Calibri" pitchFamily="34" charset="-120"/>
              </a:rPr>
              <a:t>Name one plant from the desert and one plant from the tropical zone. Explain how each plant is suited to its climate.</a:t>
            </a:r>
            <a:endParaRPr lang="en-US" sz="1200" dirty="0"/>
          </a:p>
        </p:txBody>
      </p:sp>
      <p:sp>
        <p:nvSpPr>
          <p:cNvPr id="13" name="Text 11"/>
          <p:cNvSpPr/>
          <p:nvPr/>
        </p:nvSpPr>
        <p:spPr>
          <a:xfrm>
            <a:off x="4846320" y="2240280"/>
            <a:ext cx="2743200" cy="201168"/>
          </a:xfrm>
          <a:prstGeom prst="rect">
            <a:avLst/>
          </a:prstGeom>
          <a:noFill/>
          <a:ln/>
        </p:spPr>
        <p:txBody>
          <a:bodyPr wrap="square" rtlCol="0" anchor="ctr"/>
          <a:lstStyle/>
          <a:p>
            <a:pPr marL="0" indent="0">
              <a:buNone/>
            </a:pPr>
            <a:r>
              <a:rPr lang="en-US" sz="800" b="1" kern="0" spc="150" dirty="0">
                <a:solidFill>
                  <a:srgbClr val="1A8A7D"/>
                </a:solidFill>
                <a:latin typeface="Calibri" pitchFamily="34" charset="0"/>
                <a:ea typeface="Calibri" pitchFamily="34" charset="-122"/>
                <a:cs typeface="Calibri" pitchFamily="34" charset="-120"/>
              </a:rPr>
              <a:t>SENTENCE STARTERS</a:t>
            </a:r>
            <a:endParaRPr lang="en-US" sz="800" dirty="0"/>
          </a:p>
        </p:txBody>
      </p:sp>
      <p:sp>
        <p:nvSpPr>
          <p:cNvPr id="14" name="Text 12"/>
          <p:cNvSpPr/>
          <p:nvPr/>
        </p:nvSpPr>
        <p:spPr>
          <a:xfrm>
            <a:off x="4846320" y="2468880"/>
            <a:ext cx="3657600" cy="914400"/>
          </a:xfrm>
          <a:prstGeom prst="rect">
            <a:avLst/>
          </a:prstGeom>
          <a:noFill/>
          <a:ln/>
        </p:spPr>
        <p:txBody>
          <a:bodyPr wrap="square" rtlCol="0" anchor="ctr"/>
          <a:lstStyle/>
          <a:p>
            <a:pPr marL="0" indent="0">
              <a:lnSpc>
                <a:spcPct val="140000"/>
              </a:lnSpc>
              <a:buNone/>
            </a:pPr>
            <a:r>
              <a:rPr lang="en-US" sz="1100" i="1" dirty="0">
                <a:solidFill>
                  <a:srgbClr val="0E1C42"/>
                </a:solidFill>
                <a:latin typeface="Calibri" pitchFamily="34" charset="0"/>
                <a:ea typeface="Calibri" pitchFamily="34" charset="-122"/>
                <a:cs typeface="Calibri" pitchFamily="34" charset="-120"/>
              </a:rPr>
              <a:t>In the desert, the ______ is suited to its climate because...</a:t>
            </a:r>
            <a:endParaRPr lang="en-US" sz="1100" dirty="0"/>
          </a:p>
          <a:p>
            <a:pPr marL="0" indent="0">
              <a:lnSpc>
                <a:spcPct val="140000"/>
              </a:lnSpc>
              <a:buNone/>
            </a:pPr>
            <a:r>
              <a:rPr lang="en-US" sz="1100" i="1" dirty="0">
                <a:solidFill>
                  <a:srgbClr val="0E1C42"/>
                </a:solidFill>
                <a:latin typeface="Calibri" pitchFamily="34" charset="0"/>
                <a:ea typeface="Calibri" pitchFamily="34" charset="-122"/>
                <a:cs typeface="Calibri" pitchFamily="34" charset="-120"/>
              </a:rPr>
              <a:t>In the tropical zone, the ______ is suited because...</a:t>
            </a:r>
            <a:endParaRPr lang="en-US" sz="1100" dirty="0"/>
          </a:p>
        </p:txBody>
      </p:sp>
      <p:sp>
        <p:nvSpPr>
          <p:cNvPr id="15" name="Shape 13"/>
          <p:cNvSpPr/>
          <p:nvPr/>
        </p:nvSpPr>
        <p:spPr>
          <a:xfrm>
            <a:off x="457200" y="3794760"/>
            <a:ext cx="8229600" cy="1005840"/>
          </a:xfrm>
          <a:prstGeom prst="roundRect">
            <a:avLst>
              <a:gd name="adj" fmla="val 9091"/>
            </a:avLst>
          </a:prstGeom>
          <a:solidFill>
            <a:srgbClr val="1A2D5A"/>
          </a:solidFill>
          <a:ln/>
        </p:spPr>
        <p:txBody>
          <a:bodyPr/>
          <a:lstStyle/>
          <a:p>
            <a:endParaRPr lang="en-US"/>
          </a:p>
        </p:txBody>
      </p:sp>
      <p:sp>
        <p:nvSpPr>
          <p:cNvPr id="16" name="Text 14"/>
          <p:cNvSpPr/>
          <p:nvPr/>
        </p:nvSpPr>
        <p:spPr>
          <a:xfrm>
            <a:off x="640080" y="3858768"/>
            <a:ext cx="1828800" cy="201168"/>
          </a:xfrm>
          <a:prstGeom prst="rect">
            <a:avLst/>
          </a:prstGeom>
          <a:noFill/>
          <a:ln/>
        </p:spPr>
        <p:txBody>
          <a:bodyPr wrap="square" rtlCol="0" anchor="ctr"/>
          <a:lstStyle/>
          <a:p>
            <a:pPr marL="0" indent="0">
              <a:buNone/>
            </a:pPr>
            <a:r>
              <a:rPr lang="en-US" sz="900" b="1" kern="0" spc="150" dirty="0">
                <a:solidFill>
                  <a:srgbClr val="55C8E8"/>
                </a:solidFill>
                <a:latin typeface="Calibri" pitchFamily="34" charset="0"/>
                <a:ea typeface="Calibri" pitchFamily="34" charset="-122"/>
                <a:cs typeface="Calibri" pitchFamily="34" charset="-120"/>
              </a:rPr>
              <a:t>MODEL (Q1)</a:t>
            </a:r>
            <a:endParaRPr lang="en-US" sz="900" dirty="0"/>
          </a:p>
        </p:txBody>
      </p:sp>
      <p:sp>
        <p:nvSpPr>
          <p:cNvPr id="17" name="Text 15"/>
          <p:cNvSpPr/>
          <p:nvPr/>
        </p:nvSpPr>
        <p:spPr>
          <a:xfrm>
            <a:off x="640080" y="4096512"/>
            <a:ext cx="7863840" cy="594360"/>
          </a:xfrm>
          <a:prstGeom prst="rect">
            <a:avLst/>
          </a:prstGeom>
          <a:noFill/>
          <a:ln/>
        </p:spPr>
        <p:txBody>
          <a:bodyPr wrap="square" rtlCol="0" anchor="ctr"/>
          <a:lstStyle/>
          <a:p>
            <a:pPr marL="0" indent="0">
              <a:lnSpc>
                <a:spcPct val="130000"/>
              </a:lnSpc>
              <a:buNone/>
            </a:pPr>
            <a:r>
              <a:rPr lang="en-US" sz="1100" dirty="0">
                <a:solidFill>
                  <a:srgbClr val="FFFFFF"/>
                </a:solidFill>
                <a:latin typeface="Calibri" pitchFamily="34" charset="0"/>
                <a:ea typeface="Calibri" pitchFamily="34" charset="-122"/>
                <a:cs typeface="Calibri" pitchFamily="34" charset="-120"/>
              </a:rPr>
              <a:t>Tall trees don't grow in the Arctic Tundra because the ground stays frozen so deep that roots can't reach down. The lesson says only small grasses, moss, and tough little shrubs can survive there.</a:t>
            </a:r>
            <a:endParaRPr lang="en-US" sz="1100" dirty="0"/>
          </a:p>
        </p:txBody>
      </p:sp>
      <p:sp>
        <p:nvSpPr>
          <p:cNvPr id="18" name="Text 16"/>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18 / 21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GUIDED PRACTICE — EVIDENCE Q3 AND CURATOR TASK</a:t>
            </a:r>
            <a:endParaRPr lang="en-US" sz="1000" dirty="0"/>
          </a:p>
        </p:txBody>
      </p:sp>
      <p:sp>
        <p:nvSpPr>
          <p:cNvPr id="4" name="Text 2"/>
          <p:cNvSpPr/>
          <p:nvPr/>
        </p:nvSpPr>
        <p:spPr>
          <a:xfrm>
            <a:off x="457200" y="640080"/>
            <a:ext cx="8229600" cy="411480"/>
          </a:xfrm>
          <a:prstGeom prst="rect">
            <a:avLst/>
          </a:prstGeom>
          <a:noFill/>
          <a:ln/>
        </p:spPr>
        <p:txBody>
          <a:bodyPr wrap="square" rtlCol="0" anchor="ctr"/>
          <a:lstStyle/>
          <a:p>
            <a:pPr marL="0" indent="0">
              <a:buNone/>
            </a:pPr>
            <a:r>
              <a:rPr lang="en-US" sz="1800" b="1" dirty="0">
                <a:solidFill>
                  <a:srgbClr val="0E1C42"/>
                </a:solidFill>
                <a:latin typeface="Cambria" pitchFamily="34" charset="0"/>
                <a:ea typeface="Cambria" pitchFamily="34" charset="-122"/>
                <a:cs typeface="Cambria" pitchFamily="34" charset="-120"/>
              </a:rPr>
              <a:t>Scaffolding: Q3 and Climate Panel Comparison</a:t>
            </a:r>
            <a:endParaRPr lang="en-US" sz="1800" dirty="0"/>
          </a:p>
        </p:txBody>
      </p:sp>
      <p:sp>
        <p:nvSpPr>
          <p:cNvPr id="5" name="Shape 3"/>
          <p:cNvSpPr/>
          <p:nvPr/>
        </p:nvSpPr>
        <p:spPr>
          <a:xfrm>
            <a:off x="457200" y="1188720"/>
            <a:ext cx="4023360" cy="1828800"/>
          </a:xfrm>
          <a:prstGeom prst="roundRect">
            <a:avLst>
              <a:gd name="adj" fmla="val 5000"/>
            </a:avLst>
          </a:prstGeom>
          <a:solidFill>
            <a:srgbClr val="FFF3DC"/>
          </a:solidFill>
          <a:ln w="19050">
            <a:solidFill>
              <a:srgbClr val="F5E6C8"/>
            </a:solidFill>
            <a:prstDash val="solid"/>
          </a:ln>
        </p:spPr>
        <p:txBody>
          <a:bodyPr/>
          <a:lstStyle/>
          <a:p>
            <a:endParaRPr lang="en-US"/>
          </a:p>
        </p:txBody>
      </p:sp>
      <p:sp>
        <p:nvSpPr>
          <p:cNvPr id="6" name="Text 4"/>
          <p:cNvSpPr/>
          <p:nvPr/>
        </p:nvSpPr>
        <p:spPr>
          <a:xfrm>
            <a:off x="640080" y="1261872"/>
            <a:ext cx="36576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EVIDENCE Q3</a:t>
            </a:r>
            <a:endParaRPr lang="en-US" sz="900" dirty="0"/>
          </a:p>
        </p:txBody>
      </p:sp>
      <p:sp>
        <p:nvSpPr>
          <p:cNvPr id="7" name="Text 5"/>
          <p:cNvSpPr/>
          <p:nvPr/>
        </p:nvSpPr>
        <p:spPr>
          <a:xfrm>
            <a:off x="640080" y="1508760"/>
            <a:ext cx="3657600" cy="457200"/>
          </a:xfrm>
          <a:prstGeom prst="rect">
            <a:avLst/>
          </a:prstGeom>
          <a:noFill/>
          <a:ln/>
        </p:spPr>
        <p:txBody>
          <a:bodyPr wrap="square" rtlCol="0" anchor="ctr"/>
          <a:lstStyle/>
          <a:p>
            <a:pPr marL="0" indent="0">
              <a:lnSpc>
                <a:spcPct val="120000"/>
              </a:lnSpc>
              <a:buNone/>
            </a:pPr>
            <a:r>
              <a:rPr lang="en-US" sz="1200" b="1" i="1" dirty="0">
                <a:solidFill>
                  <a:srgbClr val="0E1C42"/>
                </a:solidFill>
                <a:latin typeface="Calibri" pitchFamily="34" charset="0"/>
                <a:ea typeface="Calibri" pitchFamily="34" charset="-122"/>
                <a:cs typeface="Calibri" pitchFamily="34" charset="-120"/>
              </a:rPr>
              <a:t>How does climate help shape how a place looks? Use evidence from today's lesson.</a:t>
            </a:r>
            <a:endParaRPr lang="en-US" sz="1200" dirty="0"/>
          </a:p>
        </p:txBody>
      </p:sp>
      <p:sp>
        <p:nvSpPr>
          <p:cNvPr id="8" name="Text 6"/>
          <p:cNvSpPr/>
          <p:nvPr/>
        </p:nvSpPr>
        <p:spPr>
          <a:xfrm>
            <a:off x="640080" y="2057400"/>
            <a:ext cx="3657600" cy="822960"/>
          </a:xfrm>
          <a:prstGeom prst="rect">
            <a:avLst/>
          </a:prstGeom>
          <a:noFill/>
          <a:ln/>
        </p:spPr>
        <p:txBody>
          <a:bodyPr wrap="square" rtlCol="0" anchor="ctr"/>
          <a:lstStyle/>
          <a:p>
            <a:pPr marL="0" indent="0">
              <a:lnSpc>
                <a:spcPct val="130000"/>
              </a:lnSpc>
              <a:buNone/>
            </a:pPr>
            <a:r>
              <a:rPr lang="en-US" sz="1100" i="1" dirty="0">
                <a:solidFill>
                  <a:srgbClr val="0E1C42"/>
                </a:solidFill>
                <a:latin typeface="Calibri" pitchFamily="34" charset="0"/>
                <a:ea typeface="Calibri" pitchFamily="34" charset="-122"/>
                <a:cs typeface="Calibri" pitchFamily="34" charset="-120"/>
              </a:rPr>
              <a:t>Climate shapes what ______ grow in a place...</a:t>
            </a:r>
            <a:endParaRPr lang="en-US" sz="1100" dirty="0"/>
          </a:p>
          <a:p>
            <a:pPr marL="0" indent="0">
              <a:lnSpc>
                <a:spcPct val="130000"/>
              </a:lnSpc>
              <a:buNone/>
            </a:pPr>
            <a:r>
              <a:rPr lang="en-US" sz="1100" i="1" dirty="0">
                <a:solidFill>
                  <a:srgbClr val="0E1C42"/>
                </a:solidFill>
                <a:latin typeface="Calibri" pitchFamily="34" charset="0"/>
                <a:ea typeface="Calibri" pitchFamily="34" charset="-122"/>
                <a:cs typeface="Calibri" pitchFamily="34" charset="-120"/>
              </a:rPr>
              <a:t>For example, in the ______ zone...</a:t>
            </a:r>
            <a:endParaRPr lang="en-US" sz="1100" dirty="0"/>
          </a:p>
          <a:p>
            <a:pPr marL="0" indent="0">
              <a:lnSpc>
                <a:spcPct val="130000"/>
              </a:lnSpc>
              <a:buNone/>
            </a:pPr>
            <a:r>
              <a:rPr lang="en-US" sz="1100" i="1" dirty="0">
                <a:solidFill>
                  <a:srgbClr val="0E1C42"/>
                </a:solidFill>
                <a:latin typeface="Calibri" pitchFamily="34" charset="0"/>
                <a:ea typeface="Calibri" pitchFamily="34" charset="-122"/>
                <a:cs typeface="Calibri" pitchFamily="34" charset="-120"/>
              </a:rPr>
              <a:t>But in the ______ zone...</a:t>
            </a:r>
            <a:endParaRPr lang="en-US" sz="1100" dirty="0"/>
          </a:p>
          <a:p>
            <a:pPr marL="0" indent="0">
              <a:lnSpc>
                <a:spcPct val="130000"/>
              </a:lnSpc>
              <a:buNone/>
            </a:pPr>
            <a:r>
              <a:rPr lang="en-US" sz="1100" i="1" dirty="0">
                <a:solidFill>
                  <a:srgbClr val="0E1C42"/>
                </a:solidFill>
                <a:latin typeface="Calibri" pitchFamily="34" charset="0"/>
                <a:ea typeface="Calibri" pitchFamily="34" charset="-122"/>
                <a:cs typeface="Calibri" pitchFamily="34" charset="-120"/>
              </a:rPr>
              <a:t>This shows that climate...</a:t>
            </a:r>
            <a:endParaRPr lang="en-US" sz="1100" dirty="0"/>
          </a:p>
        </p:txBody>
      </p:sp>
      <p:sp>
        <p:nvSpPr>
          <p:cNvPr id="9" name="Shape 7"/>
          <p:cNvSpPr/>
          <p:nvPr/>
        </p:nvSpPr>
        <p:spPr>
          <a:xfrm>
            <a:off x="4663440" y="1188720"/>
            <a:ext cx="4023360" cy="1828800"/>
          </a:xfrm>
          <a:prstGeom prst="roundRect">
            <a:avLst>
              <a:gd name="adj" fmla="val 5000"/>
            </a:avLst>
          </a:prstGeom>
          <a:solidFill>
            <a:srgbClr val="FFF3DC"/>
          </a:solidFill>
          <a:ln w="19050">
            <a:solidFill>
              <a:srgbClr val="D4943A"/>
            </a:solidFill>
            <a:prstDash val="solid"/>
          </a:ln>
        </p:spPr>
        <p:txBody>
          <a:bodyPr/>
          <a:lstStyle/>
          <a:p>
            <a:endParaRPr lang="en-US"/>
          </a:p>
        </p:txBody>
      </p:sp>
      <p:sp>
        <p:nvSpPr>
          <p:cNvPr id="10" name="Text 8"/>
          <p:cNvSpPr/>
          <p:nvPr/>
        </p:nvSpPr>
        <p:spPr>
          <a:xfrm>
            <a:off x="4846320" y="1261872"/>
            <a:ext cx="36576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1" name="Text 9"/>
          <p:cNvSpPr/>
          <p:nvPr/>
        </p:nvSpPr>
        <p:spPr>
          <a:xfrm>
            <a:off x="4846320" y="1508760"/>
            <a:ext cx="3657600" cy="457200"/>
          </a:xfrm>
          <a:prstGeom prst="rect">
            <a:avLst/>
          </a:prstGeom>
          <a:noFill/>
          <a:ln/>
        </p:spPr>
        <p:txBody>
          <a:bodyPr wrap="square" rtlCol="0" anchor="ctr"/>
          <a:lstStyle/>
          <a:p>
            <a:pPr marL="0" indent="0">
              <a:lnSpc>
                <a:spcPct val="120000"/>
              </a:lnSpc>
              <a:buNone/>
            </a:pPr>
            <a:r>
              <a:rPr lang="en-US" sz="1200" b="1" i="1" dirty="0">
                <a:solidFill>
                  <a:srgbClr val="0E1C42"/>
                </a:solidFill>
                <a:latin typeface="Calibri" pitchFamily="34" charset="0"/>
                <a:ea typeface="Calibri" pitchFamily="34" charset="-122"/>
                <a:cs typeface="Calibri" pitchFamily="34" charset="-120"/>
              </a:rPr>
              <a:t>Climate Panel Comparison: Pick two climate zones. Write a 3-4 sentence comparison.</a:t>
            </a:r>
            <a:endParaRPr lang="en-US" sz="1200" dirty="0"/>
          </a:p>
        </p:txBody>
      </p:sp>
      <p:sp>
        <p:nvSpPr>
          <p:cNvPr id="12" name="Text 10"/>
          <p:cNvSpPr/>
          <p:nvPr/>
        </p:nvSpPr>
        <p:spPr>
          <a:xfrm>
            <a:off x="4846320" y="2011680"/>
            <a:ext cx="3657600" cy="201168"/>
          </a:xfrm>
          <a:prstGeom prst="rect">
            <a:avLst/>
          </a:prstGeom>
          <a:noFill/>
          <a:ln/>
        </p:spPr>
        <p:txBody>
          <a:bodyPr wrap="square" rtlCol="0" anchor="ctr"/>
          <a:lstStyle/>
          <a:p>
            <a:pPr marL="0" indent="0">
              <a:buNone/>
            </a:pPr>
            <a:r>
              <a:rPr lang="en-US" sz="800" b="1" kern="0" spc="100" dirty="0">
                <a:solidFill>
                  <a:srgbClr val="1A8A7D"/>
                </a:solidFill>
                <a:latin typeface="Calibri" pitchFamily="34" charset="0"/>
                <a:ea typeface="Calibri" pitchFamily="34" charset="-122"/>
                <a:cs typeface="Calibri" pitchFamily="34" charset="-120"/>
              </a:rPr>
              <a:t>YOUR LABEL SHOULD ANSWER</a:t>
            </a:r>
            <a:endParaRPr lang="en-US" sz="800" dirty="0"/>
          </a:p>
        </p:txBody>
      </p:sp>
      <p:sp>
        <p:nvSpPr>
          <p:cNvPr id="13" name="Text 11"/>
          <p:cNvSpPr/>
          <p:nvPr/>
        </p:nvSpPr>
        <p:spPr>
          <a:xfrm>
            <a:off x="4846320" y="2240280"/>
            <a:ext cx="3657600" cy="640080"/>
          </a:xfrm>
          <a:prstGeom prst="rect">
            <a:avLst/>
          </a:prstGeom>
          <a:noFill/>
          <a:ln/>
        </p:spPr>
        <p:txBody>
          <a:bodyPr wrap="square" rtlCol="0" anchor="ctr"/>
          <a:lstStyle/>
          <a:p>
            <a:pPr marL="0" indent="0">
              <a:lnSpc>
                <a:spcPct val="130000"/>
              </a:lnSpc>
              <a:buNone/>
            </a:pPr>
            <a:r>
              <a:rPr lang="en-US" sz="1100" dirty="0">
                <a:solidFill>
                  <a:srgbClr val="0E1C42"/>
                </a:solidFill>
                <a:latin typeface="Calibri" pitchFamily="34" charset="0"/>
                <a:ea typeface="Calibri" pitchFamily="34" charset="-122"/>
                <a:cs typeface="Calibri" pitchFamily="34" charset="-120"/>
              </a:rPr>
              <a:t>Which two zones?</a:t>
            </a:r>
            <a:endParaRPr lang="en-US" sz="1100" dirty="0"/>
          </a:p>
          <a:p>
            <a:pPr marL="0" indent="0">
              <a:lnSpc>
                <a:spcPct val="130000"/>
              </a:lnSpc>
              <a:buNone/>
            </a:pPr>
            <a:r>
              <a:rPr lang="en-US" sz="1100" dirty="0">
                <a:solidFill>
                  <a:srgbClr val="0E1C42"/>
                </a:solidFill>
                <a:latin typeface="Calibri" pitchFamily="34" charset="0"/>
                <a:ea typeface="Calibri" pitchFamily="34" charset="-122"/>
                <a:cs typeface="Calibri" pitchFamily="34" charset="-120"/>
              </a:rPr>
              <a:t>Where are they?</a:t>
            </a:r>
            <a:endParaRPr lang="en-US" sz="1100" dirty="0"/>
          </a:p>
          <a:p>
            <a:pPr marL="0" indent="0">
              <a:lnSpc>
                <a:spcPct val="130000"/>
              </a:lnSpc>
              <a:buNone/>
            </a:pPr>
            <a:r>
              <a:rPr lang="en-US" sz="1100" dirty="0">
                <a:solidFill>
                  <a:srgbClr val="0E1C42"/>
                </a:solidFill>
                <a:latin typeface="Calibri" pitchFamily="34" charset="0"/>
                <a:ea typeface="Calibri" pitchFamily="34" charset="-122"/>
                <a:cs typeface="Calibri" pitchFamily="34" charset="-120"/>
              </a:rPr>
              <a:t>What grows in each?</a:t>
            </a:r>
            <a:endParaRPr lang="en-US" sz="1100" dirty="0"/>
          </a:p>
          <a:p>
            <a:pPr marL="0" indent="0">
              <a:lnSpc>
                <a:spcPct val="130000"/>
              </a:lnSpc>
              <a:buNone/>
            </a:pPr>
            <a:r>
              <a:rPr lang="en-US" sz="1100" dirty="0">
                <a:solidFill>
                  <a:srgbClr val="0E1C42"/>
                </a:solidFill>
                <a:latin typeface="Calibri" pitchFamily="34" charset="0"/>
                <a:ea typeface="Calibri" pitchFamily="34" charset="-122"/>
                <a:cs typeface="Calibri" pitchFamily="34" charset="-120"/>
              </a:rPr>
              <a:t>Biggest difference?</a:t>
            </a:r>
            <a:endParaRPr lang="en-US" sz="1100" dirty="0"/>
          </a:p>
        </p:txBody>
      </p:sp>
      <p:sp>
        <p:nvSpPr>
          <p:cNvPr id="14" name="Shape 12"/>
          <p:cNvSpPr/>
          <p:nvPr/>
        </p:nvSpPr>
        <p:spPr>
          <a:xfrm>
            <a:off x="457200" y="3246120"/>
            <a:ext cx="8229600" cy="594360"/>
          </a:xfrm>
          <a:prstGeom prst="roundRect">
            <a:avLst>
              <a:gd name="adj" fmla="val 15385"/>
            </a:avLst>
          </a:prstGeom>
          <a:solidFill>
            <a:srgbClr val="FFF8F0"/>
          </a:solidFill>
          <a:ln w="12700">
            <a:solidFill>
              <a:srgbClr val="F5E6C8"/>
            </a:solidFill>
            <a:prstDash val="solid"/>
          </a:ln>
        </p:spPr>
        <p:txBody>
          <a:bodyPr/>
          <a:lstStyle/>
          <a:p>
            <a:endParaRPr lang="en-US"/>
          </a:p>
        </p:txBody>
      </p:sp>
      <p:sp>
        <p:nvSpPr>
          <p:cNvPr id="15" name="Text 13"/>
          <p:cNvSpPr/>
          <p:nvPr/>
        </p:nvSpPr>
        <p:spPr>
          <a:xfrm>
            <a:off x="640080" y="3291840"/>
            <a:ext cx="2286000" cy="201168"/>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16" name="Text 14"/>
          <p:cNvSpPr/>
          <p:nvPr/>
        </p:nvSpPr>
        <p:spPr>
          <a:xfrm>
            <a:off x="640080" y="3520440"/>
            <a:ext cx="7863840" cy="274320"/>
          </a:xfrm>
          <a:prstGeom prst="rect">
            <a:avLst/>
          </a:prstGeom>
          <a:noFill/>
          <a:ln/>
        </p:spPr>
        <p:txBody>
          <a:bodyPr wrap="square" rtlCol="0" anchor="ctr"/>
          <a:lstStyle/>
          <a:p>
            <a:pPr marL="0" indent="0">
              <a:buNone/>
            </a:pPr>
            <a:r>
              <a:rPr lang="en-US" sz="1200" b="1" i="1" dirty="0">
                <a:solidFill>
                  <a:srgbClr val="0E1C42"/>
                </a:solidFill>
                <a:latin typeface="Cambria" pitchFamily="34" charset="0"/>
                <a:ea typeface="Cambria" pitchFamily="34" charset="-122"/>
                <a:cs typeface="Cambria" pitchFamily="34" charset="-120"/>
              </a:rPr>
              <a:t>In this exhibit, I learned that ______ because ______.</a:t>
            </a:r>
            <a:endParaRPr lang="en-US" sz="1200" dirty="0"/>
          </a:p>
        </p:txBody>
      </p:sp>
      <p:sp>
        <p:nvSpPr>
          <p:cNvPr id="17" name="Shape 15"/>
          <p:cNvSpPr/>
          <p:nvPr/>
        </p:nvSpPr>
        <p:spPr>
          <a:xfrm>
            <a:off x="457200" y="4023360"/>
            <a:ext cx="8229600" cy="868680"/>
          </a:xfrm>
          <a:prstGeom prst="roundRect">
            <a:avLst>
              <a:gd name="adj" fmla="val 12632"/>
            </a:avLst>
          </a:prstGeom>
          <a:solidFill>
            <a:srgbClr val="FFF3DC"/>
          </a:solidFill>
          <a:ln w="19050">
            <a:solidFill>
              <a:srgbClr val="F5E6C8"/>
            </a:solidFill>
            <a:prstDash val="solid"/>
          </a:ln>
        </p:spPr>
        <p:txBody>
          <a:bodyPr/>
          <a:lstStyle/>
          <a:p>
            <a:endParaRPr lang="en-US"/>
          </a:p>
        </p:txBody>
      </p:sp>
      <p:sp>
        <p:nvSpPr>
          <p:cNvPr id="18" name="Text 16"/>
          <p:cNvSpPr/>
          <p:nvPr/>
        </p:nvSpPr>
        <p:spPr>
          <a:xfrm>
            <a:off x="594360" y="4078224"/>
            <a:ext cx="7955280" cy="201168"/>
          </a:xfrm>
          <a:prstGeom prst="rect">
            <a:avLst/>
          </a:prstGeom>
          <a:noFill/>
          <a:ln/>
        </p:spPr>
        <p:txBody>
          <a:bodyPr wrap="square" lIns="0" tIns="0" rIns="0" bIns="0"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94360" y="4279392"/>
            <a:ext cx="7955280" cy="548640"/>
          </a:xfrm>
          <a:prstGeom prst="rect">
            <a:avLst/>
          </a:prstGeom>
          <a:noFill/>
          <a:ln/>
        </p:spPr>
        <p:txBody>
          <a:bodyPr wrap="square" lIns="0" tIns="0" rIns="0" bIns="0" rtlCol="0" anchor="t"/>
          <a:lstStyle/>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"Pick any two zones that interest you."</a:t>
            </a:r>
            <a:endParaRPr lang="en-US" sz="1200" dirty="0"/>
          </a:p>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"Compare where they are, what the weather is like, and what grows there."</a:t>
            </a:r>
            <a:endParaRPr lang="en-US" sz="1200" dirty="0"/>
          </a:p>
          <a:p>
            <a:pPr marL="0" indent="0">
              <a:spcAft>
                <a:spcPts val="500"/>
              </a:spcAft>
              <a:buNone/>
            </a:pPr>
            <a:r>
              <a:rPr lang="en-US" sz="1200" i="1" dirty="0">
                <a:solidFill>
                  <a:srgbClr val="5A4A3A"/>
                </a:solidFill>
                <a:latin typeface="Cambria" pitchFamily="34" charset="0"/>
                <a:ea typeface="Cambria" pitchFamily="34" charset="-122"/>
                <a:cs typeface="Cambria" pitchFamily="34" charset="-120"/>
              </a:rPr>
              <a:t>"End with one sentence about the biggest difference."</a:t>
            </a:r>
            <a:endParaRPr lang="en-US" sz="1200" dirty="0"/>
          </a:p>
        </p:txBody>
      </p:sp>
      <p:sp>
        <p:nvSpPr>
          <p:cNvPr id="20" name="Text 18"/>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19 / 21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E1C42"/>
          </a:solidFill>
          <a:ln/>
        </p:spPr>
        <p:txBody>
          <a:bodyPr/>
          <a:lstStyle/>
          <a:p>
            <a:endParaRPr lang="en-US"/>
          </a:p>
        </p:txBody>
      </p:sp>
      <p:sp>
        <p:nvSpPr>
          <p:cNvPr id="3" name="Text 1"/>
          <p:cNvSpPr/>
          <p:nvPr/>
        </p:nvSpPr>
        <p:spPr>
          <a:xfrm>
            <a:off x="365760" y="73152"/>
            <a:ext cx="8412480" cy="310896"/>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ASSIGNMENT — WHAT YOU'LL TURN IN</a:t>
            </a:r>
            <a:endParaRPr lang="en-US" sz="10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E1C42"/>
                </a:solidFill>
                <a:latin typeface="Cambria" pitchFamily="34" charset="0"/>
                <a:ea typeface="Cambria" pitchFamily="34" charset="-122"/>
                <a:cs typeface="Cambria" pitchFamily="34" charset="-120"/>
              </a:rPr>
              <a:t>What You'll Turn In</a:t>
            </a:r>
            <a:endParaRPr lang="en-US" sz="2200" dirty="0"/>
          </a:p>
        </p:txBody>
      </p:sp>
      <p:sp>
        <p:nvSpPr>
          <p:cNvPr id="5" name="Shape 3"/>
          <p:cNvSpPr/>
          <p:nvPr/>
        </p:nvSpPr>
        <p:spPr>
          <a:xfrm>
            <a:off x="457200" y="1234440"/>
            <a:ext cx="8229600" cy="731520"/>
          </a:xfrm>
          <a:prstGeom prst="roundRect">
            <a:avLst>
              <a:gd name="adj" fmla="val 12500"/>
            </a:avLst>
          </a:prstGeom>
          <a:solidFill>
            <a:srgbClr val="FFFFFF"/>
          </a:solidFill>
          <a:ln w="12700">
            <a:solidFill>
              <a:srgbClr val="D0D8E0"/>
            </a:solidFill>
            <a:prstDash val="solid"/>
          </a:ln>
        </p:spPr>
        <p:txBody>
          <a:bodyPr/>
          <a:lstStyle/>
          <a:p>
            <a:endParaRPr lang="en-US"/>
          </a:p>
        </p:txBody>
      </p:sp>
      <p:sp>
        <p:nvSpPr>
          <p:cNvPr id="6" name="Text 4"/>
          <p:cNvSpPr/>
          <p:nvPr/>
        </p:nvSpPr>
        <p:spPr>
          <a:xfrm>
            <a:off x="640080" y="1298448"/>
            <a:ext cx="1828800" cy="182880"/>
          </a:xfrm>
          <a:prstGeom prst="rect">
            <a:avLst/>
          </a:prstGeom>
          <a:noFill/>
          <a:ln/>
        </p:spPr>
        <p:txBody>
          <a:bodyPr wrap="square" rtlCol="0" anchor="ctr"/>
          <a:lstStyle/>
          <a:p>
            <a:pPr marL="0" indent="0">
              <a:buNone/>
            </a:pPr>
            <a:r>
              <a:rPr lang="en-US" sz="900" b="1" kern="0" spc="150" dirty="0">
                <a:solidFill>
                  <a:srgbClr val="1A8A7D"/>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640080" y="1508760"/>
            <a:ext cx="7863840" cy="365760"/>
          </a:xfrm>
          <a:prstGeom prst="rect">
            <a:avLst/>
          </a:prstGeom>
          <a:noFill/>
          <a:ln/>
        </p:spPr>
        <p:txBody>
          <a:bodyPr wrap="square" rtlCol="0" anchor="ctr"/>
          <a:lstStyle/>
          <a:p>
            <a:pPr marL="0" indent="0">
              <a:buNone/>
            </a:pPr>
            <a:r>
              <a:rPr lang="en-US" sz="1200" dirty="0">
                <a:solidFill>
                  <a:srgbClr val="0E1C42"/>
                </a:solidFill>
                <a:latin typeface="Calibri" pitchFamily="34" charset="0"/>
                <a:ea typeface="Calibri" pitchFamily="34" charset="-122"/>
                <a:cs typeface="Calibri" pitchFamily="34" charset="-120"/>
              </a:rPr>
              <a:t>Why don't tall trees grow in the Arctic Tundra? Use one detail from the lesson.</a:t>
            </a:r>
            <a:endParaRPr lang="en-US" sz="1200" dirty="0"/>
          </a:p>
        </p:txBody>
      </p:sp>
      <p:sp>
        <p:nvSpPr>
          <p:cNvPr id="8" name="Shape 6"/>
          <p:cNvSpPr/>
          <p:nvPr/>
        </p:nvSpPr>
        <p:spPr>
          <a:xfrm>
            <a:off x="457200" y="2103120"/>
            <a:ext cx="8229600" cy="731520"/>
          </a:xfrm>
          <a:prstGeom prst="roundRect">
            <a:avLst>
              <a:gd name="adj" fmla="val 12500"/>
            </a:avLst>
          </a:prstGeom>
          <a:solidFill>
            <a:srgbClr val="FFFFFF"/>
          </a:solidFill>
          <a:ln w="12700">
            <a:solidFill>
              <a:srgbClr val="D0D8E0"/>
            </a:solidFill>
            <a:prstDash val="solid"/>
          </a:ln>
        </p:spPr>
        <p:txBody>
          <a:bodyPr/>
          <a:lstStyle/>
          <a:p>
            <a:endParaRPr lang="en-US"/>
          </a:p>
        </p:txBody>
      </p:sp>
      <p:sp>
        <p:nvSpPr>
          <p:cNvPr id="9" name="Text 7"/>
          <p:cNvSpPr/>
          <p:nvPr/>
        </p:nvSpPr>
        <p:spPr>
          <a:xfrm>
            <a:off x="640080" y="2167128"/>
            <a:ext cx="1828800" cy="182880"/>
          </a:xfrm>
          <a:prstGeom prst="rect">
            <a:avLst/>
          </a:prstGeom>
          <a:noFill/>
          <a:ln/>
        </p:spPr>
        <p:txBody>
          <a:bodyPr wrap="square" rtlCol="0" anchor="ctr"/>
          <a:lstStyle/>
          <a:p>
            <a:pPr marL="0" indent="0">
              <a:buNone/>
            </a:pPr>
            <a:r>
              <a:rPr lang="en-US" sz="900" b="1" kern="0" spc="150" dirty="0">
                <a:solidFill>
                  <a:srgbClr val="1A8A7D"/>
                </a:solidFill>
                <a:latin typeface="Calibri" pitchFamily="34" charset="0"/>
                <a:ea typeface="Calibri" pitchFamily="34" charset="-122"/>
                <a:cs typeface="Calibri" pitchFamily="34" charset="-120"/>
              </a:rPr>
              <a:t>EVIDENCE Q2</a:t>
            </a:r>
            <a:endParaRPr lang="en-US" sz="900" dirty="0"/>
          </a:p>
        </p:txBody>
      </p:sp>
      <p:sp>
        <p:nvSpPr>
          <p:cNvPr id="10" name="Text 8"/>
          <p:cNvSpPr/>
          <p:nvPr/>
        </p:nvSpPr>
        <p:spPr>
          <a:xfrm>
            <a:off x="640080" y="2377440"/>
            <a:ext cx="7863840" cy="365760"/>
          </a:xfrm>
          <a:prstGeom prst="rect">
            <a:avLst/>
          </a:prstGeom>
          <a:noFill/>
          <a:ln/>
        </p:spPr>
        <p:txBody>
          <a:bodyPr wrap="square" rtlCol="0" anchor="ctr"/>
          <a:lstStyle/>
          <a:p>
            <a:pPr marL="0" indent="0">
              <a:buNone/>
            </a:pPr>
            <a:r>
              <a:rPr lang="en-US" sz="1200" dirty="0">
                <a:solidFill>
                  <a:srgbClr val="0E1C42"/>
                </a:solidFill>
                <a:latin typeface="Calibri" pitchFamily="34" charset="0"/>
                <a:ea typeface="Calibri" pitchFamily="34" charset="-122"/>
                <a:cs typeface="Calibri" pitchFamily="34" charset="-120"/>
              </a:rPr>
              <a:t>Name one plant from the desert and one plant from the tropical zone. Explain how each plant is suited to its climate.</a:t>
            </a:r>
            <a:endParaRPr lang="en-US" sz="1200" dirty="0"/>
          </a:p>
        </p:txBody>
      </p:sp>
      <p:sp>
        <p:nvSpPr>
          <p:cNvPr id="11" name="Shape 9"/>
          <p:cNvSpPr/>
          <p:nvPr/>
        </p:nvSpPr>
        <p:spPr>
          <a:xfrm>
            <a:off x="457200" y="2971800"/>
            <a:ext cx="8229600" cy="731520"/>
          </a:xfrm>
          <a:prstGeom prst="roundRect">
            <a:avLst>
              <a:gd name="adj" fmla="val 12500"/>
            </a:avLst>
          </a:prstGeom>
          <a:solidFill>
            <a:srgbClr val="FFFFFF"/>
          </a:solidFill>
          <a:ln w="12700">
            <a:solidFill>
              <a:srgbClr val="D0D8E0"/>
            </a:solidFill>
            <a:prstDash val="solid"/>
          </a:ln>
        </p:spPr>
        <p:txBody>
          <a:bodyPr/>
          <a:lstStyle/>
          <a:p>
            <a:endParaRPr lang="en-US"/>
          </a:p>
        </p:txBody>
      </p:sp>
      <p:sp>
        <p:nvSpPr>
          <p:cNvPr id="12" name="Text 10"/>
          <p:cNvSpPr/>
          <p:nvPr/>
        </p:nvSpPr>
        <p:spPr>
          <a:xfrm>
            <a:off x="640080" y="3035808"/>
            <a:ext cx="1828800" cy="182880"/>
          </a:xfrm>
          <a:prstGeom prst="rect">
            <a:avLst/>
          </a:prstGeom>
          <a:noFill/>
          <a:ln/>
        </p:spPr>
        <p:txBody>
          <a:bodyPr wrap="square" rtlCol="0" anchor="ctr"/>
          <a:lstStyle/>
          <a:p>
            <a:pPr marL="0" indent="0">
              <a:buNone/>
            </a:pPr>
            <a:r>
              <a:rPr lang="en-US" sz="900" b="1" kern="0" spc="150" dirty="0">
                <a:solidFill>
                  <a:srgbClr val="1A8A7D"/>
                </a:solidFill>
                <a:latin typeface="Calibri" pitchFamily="34" charset="0"/>
                <a:ea typeface="Calibri" pitchFamily="34" charset="-122"/>
                <a:cs typeface="Calibri" pitchFamily="34" charset="-120"/>
              </a:rPr>
              <a:t>EVIDENCE Q3</a:t>
            </a:r>
            <a:endParaRPr lang="en-US" sz="900" dirty="0"/>
          </a:p>
        </p:txBody>
      </p:sp>
      <p:sp>
        <p:nvSpPr>
          <p:cNvPr id="13" name="Text 11"/>
          <p:cNvSpPr/>
          <p:nvPr/>
        </p:nvSpPr>
        <p:spPr>
          <a:xfrm>
            <a:off x="640080" y="3246120"/>
            <a:ext cx="7863840" cy="365760"/>
          </a:xfrm>
          <a:prstGeom prst="rect">
            <a:avLst/>
          </a:prstGeom>
          <a:noFill/>
          <a:ln/>
        </p:spPr>
        <p:txBody>
          <a:bodyPr wrap="square" rtlCol="0" anchor="ctr"/>
          <a:lstStyle/>
          <a:p>
            <a:pPr marL="0" indent="0">
              <a:buNone/>
            </a:pPr>
            <a:r>
              <a:rPr lang="en-US" sz="1200" dirty="0">
                <a:solidFill>
                  <a:srgbClr val="0E1C42"/>
                </a:solidFill>
                <a:latin typeface="Calibri" pitchFamily="34" charset="0"/>
                <a:ea typeface="Calibri" pitchFamily="34" charset="-122"/>
                <a:cs typeface="Calibri" pitchFamily="34" charset="-120"/>
              </a:rPr>
              <a:t>How does climate help shape how a place looks? Use evidence from today's lesson.</a:t>
            </a:r>
            <a:endParaRPr lang="en-US" sz="1200" dirty="0"/>
          </a:p>
        </p:txBody>
      </p:sp>
      <p:sp>
        <p:nvSpPr>
          <p:cNvPr id="14" name="Shape 12"/>
          <p:cNvSpPr/>
          <p:nvPr/>
        </p:nvSpPr>
        <p:spPr>
          <a:xfrm>
            <a:off x="457200" y="3840480"/>
            <a:ext cx="5029200" cy="685800"/>
          </a:xfrm>
          <a:prstGeom prst="roundRect">
            <a:avLst>
              <a:gd name="adj" fmla="val 13333"/>
            </a:avLst>
          </a:prstGeom>
          <a:solidFill>
            <a:srgbClr val="FFF3DC"/>
          </a:solidFill>
          <a:ln w="19050">
            <a:solidFill>
              <a:srgbClr val="D4943A"/>
            </a:solidFill>
            <a:prstDash val="solid"/>
          </a:ln>
        </p:spPr>
        <p:txBody>
          <a:bodyPr/>
          <a:lstStyle/>
          <a:p>
            <a:endParaRPr lang="en-US"/>
          </a:p>
        </p:txBody>
      </p:sp>
      <p:sp>
        <p:nvSpPr>
          <p:cNvPr id="15" name="Text 13"/>
          <p:cNvSpPr/>
          <p:nvPr/>
        </p:nvSpPr>
        <p:spPr>
          <a:xfrm>
            <a:off x="640080" y="3904488"/>
            <a:ext cx="1828800" cy="182880"/>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6" name="Text 14"/>
          <p:cNvSpPr/>
          <p:nvPr/>
        </p:nvSpPr>
        <p:spPr>
          <a:xfrm>
            <a:off x="640080" y="4114800"/>
            <a:ext cx="4663440" cy="320040"/>
          </a:xfrm>
          <a:prstGeom prst="rect">
            <a:avLst/>
          </a:prstGeom>
          <a:noFill/>
          <a:ln/>
        </p:spPr>
        <p:txBody>
          <a:bodyPr wrap="square" rtlCol="0" anchor="ctr"/>
          <a:lstStyle/>
          <a:p>
            <a:pPr marL="0" indent="0">
              <a:buNone/>
            </a:pPr>
            <a:r>
              <a:rPr lang="en-US" sz="1200" dirty="0">
                <a:solidFill>
                  <a:srgbClr val="0E1C42"/>
                </a:solidFill>
                <a:latin typeface="Calibri" pitchFamily="34" charset="0"/>
                <a:ea typeface="Calibri" pitchFamily="34" charset="-122"/>
                <a:cs typeface="Calibri" pitchFamily="34" charset="-120"/>
              </a:rPr>
              <a:t>Climate Panel Comparison: 3-4 sentences comparing two zones.</a:t>
            </a:r>
            <a:endParaRPr lang="en-US" sz="1200" dirty="0"/>
          </a:p>
        </p:txBody>
      </p:sp>
      <p:sp>
        <p:nvSpPr>
          <p:cNvPr id="17" name="Shape 15"/>
          <p:cNvSpPr/>
          <p:nvPr/>
        </p:nvSpPr>
        <p:spPr>
          <a:xfrm>
            <a:off x="5669280" y="3840480"/>
            <a:ext cx="3017520" cy="685800"/>
          </a:xfrm>
          <a:prstGeom prst="roundRect">
            <a:avLst>
              <a:gd name="adj" fmla="val 10667"/>
            </a:avLst>
          </a:prstGeom>
          <a:solidFill>
            <a:srgbClr val="FFF8F0"/>
          </a:solidFill>
          <a:ln/>
        </p:spPr>
        <p:txBody>
          <a:bodyPr/>
          <a:lstStyle/>
          <a:p>
            <a:endParaRPr lang="en-US"/>
          </a:p>
        </p:txBody>
      </p:sp>
      <p:sp>
        <p:nvSpPr>
          <p:cNvPr id="18" name="Text 16"/>
          <p:cNvSpPr/>
          <p:nvPr/>
        </p:nvSpPr>
        <p:spPr>
          <a:xfrm>
            <a:off x="5852160" y="3904488"/>
            <a:ext cx="1828800" cy="182880"/>
          </a:xfrm>
          <a:prstGeom prst="rect">
            <a:avLst/>
          </a:prstGeom>
          <a:noFill/>
          <a:ln/>
        </p:spPr>
        <p:txBody>
          <a:bodyPr wrap="square" rtlCol="0" anchor="ctr"/>
          <a:lstStyle/>
          <a:p>
            <a:pPr marL="0" indent="0">
              <a:buNone/>
            </a:pPr>
            <a:r>
              <a:rPr lang="en-US" sz="900" b="1" kern="0" spc="150" dirty="0">
                <a:solidFill>
                  <a:srgbClr val="D4943A"/>
                </a:solidFill>
                <a:latin typeface="Calibri" pitchFamily="34" charset="0"/>
                <a:ea typeface="Calibri" pitchFamily="34" charset="-122"/>
                <a:cs typeface="Calibri" pitchFamily="34" charset="-120"/>
              </a:rPr>
              <a:t>CHRONICLE</a:t>
            </a:r>
            <a:endParaRPr lang="en-US" sz="900" dirty="0"/>
          </a:p>
        </p:txBody>
      </p:sp>
      <p:sp>
        <p:nvSpPr>
          <p:cNvPr id="19" name="Text 17"/>
          <p:cNvSpPr/>
          <p:nvPr/>
        </p:nvSpPr>
        <p:spPr>
          <a:xfrm>
            <a:off x="5852160" y="4114800"/>
            <a:ext cx="2651760" cy="365760"/>
          </a:xfrm>
          <a:prstGeom prst="rect">
            <a:avLst/>
          </a:prstGeom>
          <a:noFill/>
          <a:ln/>
        </p:spPr>
        <p:txBody>
          <a:bodyPr wrap="square" rtlCol="0" anchor="ctr"/>
          <a:lstStyle/>
          <a:p>
            <a:pPr marL="0" indent="0">
              <a:buNone/>
            </a:pPr>
            <a:r>
              <a:rPr lang="en-US" sz="1000" i="1" dirty="0">
                <a:solidFill>
                  <a:srgbClr val="5A4A3A"/>
                </a:solidFill>
                <a:latin typeface="Calibri" pitchFamily="34" charset="0"/>
                <a:ea typeface="Calibri" pitchFamily="34" charset="-122"/>
                <a:cs typeface="Calibri" pitchFamily="34" charset="-120"/>
              </a:rPr>
              <a:t>In this exhibit, I learned that ______ because ______.</a:t>
            </a:r>
            <a:endParaRPr lang="en-US" sz="1000" dirty="0"/>
          </a:p>
        </p:txBody>
      </p:sp>
      <p:sp>
        <p:nvSpPr>
          <p:cNvPr id="20" name="Text 18"/>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20 / 21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C42"/>
        </a:solidFill>
        <a:effectLst/>
      </p:bgPr>
    </p:bg>
    <p:spTree>
      <p:nvGrpSpPr>
        <p:cNvPr id="1" name=""/>
        <p:cNvGrpSpPr/>
        <p:nvPr/>
      </p:nvGrpSpPr>
      <p:grpSpPr>
        <a:xfrm>
          <a:off x="0" y="0"/>
          <a:ext cx="0" cy="0"/>
          <a:chOff x="0" y="0"/>
          <a:chExt cx="0" cy="0"/>
        </a:xfrm>
      </p:grpSpPr>
      <p:sp>
        <p:nvSpPr>
          <p:cNvPr id="2" name="Text 0"/>
          <p:cNvSpPr/>
          <p:nvPr/>
        </p:nvSpPr>
        <p:spPr>
          <a:xfrm>
            <a:off x="548640" y="731520"/>
            <a:ext cx="80467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Great Work, Regional Curator!</a:t>
            </a:r>
            <a:endParaRPr lang="en-US" sz="2800" dirty="0"/>
          </a:p>
        </p:txBody>
      </p:sp>
      <p:sp>
        <p:nvSpPr>
          <p:cNvPr id="3" name="Text 1"/>
          <p:cNvSpPr/>
          <p:nvPr/>
        </p:nvSpPr>
        <p:spPr>
          <a:xfrm>
            <a:off x="548640" y="1554480"/>
            <a:ext cx="7315200" cy="731520"/>
          </a:xfrm>
          <a:prstGeom prst="rect">
            <a:avLst/>
          </a:prstGeom>
          <a:noFill/>
          <a:ln/>
        </p:spPr>
        <p:txBody>
          <a:bodyPr wrap="square" rtlCol="0" anchor="ctr"/>
          <a:lstStyle/>
          <a:p>
            <a:pPr marL="0" indent="0">
              <a:lnSpc>
                <a:spcPct val="130000"/>
              </a:lnSpc>
              <a:buNone/>
            </a:pPr>
            <a:r>
              <a:rPr lang="en-US" sz="1400" dirty="0">
                <a:solidFill>
                  <a:srgbClr val="B8C4E0"/>
                </a:solidFill>
                <a:latin typeface="Calibri" pitchFamily="34" charset="0"/>
                <a:ea typeface="Calibri" pitchFamily="34" charset="-122"/>
                <a:cs typeface="Calibri" pitchFamily="34" charset="-120"/>
              </a:rPr>
              <a:t>You walked all five climate panels, matched plants to their zones, and wrote a comparison that helps visitors see why this region can look so different from one part to another.</a:t>
            </a:r>
            <a:endParaRPr lang="en-US" sz="1400" dirty="0"/>
          </a:p>
        </p:txBody>
      </p:sp>
      <p:sp>
        <p:nvSpPr>
          <p:cNvPr id="4" name="Shape 2"/>
          <p:cNvSpPr/>
          <p:nvPr/>
        </p:nvSpPr>
        <p:spPr>
          <a:xfrm>
            <a:off x="548640" y="2560320"/>
            <a:ext cx="1828800" cy="36576"/>
          </a:xfrm>
          <a:prstGeom prst="rect">
            <a:avLst/>
          </a:prstGeom>
          <a:solidFill>
            <a:srgbClr val="D4943A"/>
          </a:solidFill>
          <a:ln/>
        </p:spPr>
        <p:txBody>
          <a:bodyPr/>
          <a:lstStyle/>
          <a:p>
            <a:endParaRPr lang="en-US"/>
          </a:p>
        </p:txBody>
      </p:sp>
      <p:sp>
        <p:nvSpPr>
          <p:cNvPr id="5" name="Text 3"/>
          <p:cNvSpPr/>
          <p:nvPr/>
        </p:nvSpPr>
        <p:spPr>
          <a:xfrm>
            <a:off x="548640" y="2788920"/>
            <a:ext cx="2743200" cy="256032"/>
          </a:xfrm>
          <a:prstGeom prst="rect">
            <a:avLst/>
          </a:prstGeom>
          <a:noFill/>
          <a:ln/>
        </p:spPr>
        <p:txBody>
          <a:bodyPr wrap="square" rtlCol="0" anchor="ctr"/>
          <a:lstStyle/>
          <a:p>
            <a:pPr marL="0" indent="0">
              <a:buNone/>
            </a:pPr>
            <a:r>
              <a:rPr lang="en-US" sz="1000" b="1" kern="0" spc="150" dirty="0">
                <a:solidFill>
                  <a:srgbClr val="D4943A"/>
                </a:solidFill>
                <a:latin typeface="Calibri" pitchFamily="34" charset="0"/>
                <a:ea typeface="Calibri" pitchFamily="34" charset="-122"/>
                <a:cs typeface="Calibri" pitchFamily="34" charset="-120"/>
              </a:rPr>
              <a:t>COMING NEXT</a:t>
            </a:r>
            <a:endParaRPr lang="en-US" sz="1000" dirty="0"/>
          </a:p>
        </p:txBody>
      </p:sp>
      <p:sp>
        <p:nvSpPr>
          <p:cNvPr id="6" name="Text 4"/>
          <p:cNvSpPr/>
          <p:nvPr/>
        </p:nvSpPr>
        <p:spPr>
          <a:xfrm>
            <a:off x="548640" y="3108960"/>
            <a:ext cx="7315200" cy="457200"/>
          </a:xfrm>
          <a:prstGeom prst="rect">
            <a:avLst/>
          </a:prstGeom>
          <a:noFill/>
          <a:ln/>
        </p:spPr>
        <p:txBody>
          <a:bodyPr wrap="square" rtlCol="0" anchor="ctr"/>
          <a:lstStyle/>
          <a:p>
            <a:pPr marL="0" indent="0">
              <a:buNone/>
            </a:pPr>
            <a:r>
              <a:rPr lang="en-US" sz="2000" b="1" dirty="0">
                <a:solidFill>
                  <a:srgbClr val="55C8E8"/>
                </a:solidFill>
                <a:latin typeface="Cambria" pitchFamily="34" charset="0"/>
                <a:ea typeface="Cambria" pitchFamily="34" charset="-122"/>
                <a:cs typeface="Cambria" pitchFamily="34" charset="-120"/>
              </a:rPr>
              <a:t>Natural Resources and How People Use Them</a:t>
            </a:r>
            <a:endParaRPr lang="en-US" sz="2000" dirty="0"/>
          </a:p>
        </p:txBody>
      </p:sp>
      <p:sp>
        <p:nvSpPr>
          <p:cNvPr id="7" name="Text 5"/>
          <p:cNvSpPr/>
          <p:nvPr/>
        </p:nvSpPr>
        <p:spPr>
          <a:xfrm>
            <a:off x="548640" y="3657600"/>
            <a:ext cx="7315200" cy="1097280"/>
          </a:xfrm>
          <a:prstGeom prst="rect">
            <a:avLst/>
          </a:prstGeom>
          <a:noFill/>
          <a:ln/>
        </p:spPr>
        <p:txBody>
          <a:bodyPr wrap="square" rtlCol="0" anchor="ctr"/>
          <a:lstStyle/>
          <a:p>
            <a:pPr marL="0" indent="0">
              <a:lnSpc>
                <a:spcPct val="130000"/>
              </a:lnSpc>
              <a:buNone/>
            </a:pPr>
            <a:r>
              <a:rPr lang="en-US" sz="1300" dirty="0">
                <a:solidFill>
                  <a:srgbClr val="B8C4E0"/>
                </a:solidFill>
                <a:latin typeface="Calibri" pitchFamily="34" charset="0"/>
                <a:ea typeface="Calibri" pitchFamily="34" charset="-122"/>
                <a:cs typeface="Calibri" pitchFamily="34" charset="-120"/>
              </a:rPr>
              <a:t>A new shelf is being unpacked at the side of the gallery -- the Natural Resources shelf. It's stocked with water, soil, forests, minerals, and crops. Next time, you'll figure out how people across the region actually use the land -- not just look at it. The story starts turning toward choices, and that means honesty becomes important.</a:t>
            </a:r>
            <a:endParaRPr lang="en-US" sz="1300" dirty="0"/>
          </a:p>
        </p:txBody>
      </p:sp>
      <p:sp>
        <p:nvSpPr>
          <p:cNvPr id="8" name="Text 6"/>
          <p:cNvSpPr/>
          <p:nvPr/>
        </p:nvSpPr>
        <p:spPr>
          <a:xfrm>
            <a:off x="8046720" y="4800600"/>
            <a:ext cx="822960" cy="228600"/>
          </a:xfrm>
          <a:prstGeom prst="rect">
            <a:avLst/>
          </a:prstGeom>
          <a:noFill/>
          <a:ln/>
        </p:spPr>
        <p:txBody>
          <a:bodyPr wrap="square" rtlCol="0" anchor="ctr"/>
          <a:lstStyle/>
          <a:p>
            <a:pPr marL="0" indent="0" algn="r">
              <a:buNone/>
            </a:pPr>
            <a:r>
              <a:rPr lang="en-US" sz="800" dirty="0">
                <a:solidFill>
                  <a:srgbClr val="7A88A8"/>
                </a:solidFill>
                <a:latin typeface="Calibri" pitchFamily="34" charset="0"/>
                <a:ea typeface="Calibri" pitchFamily="34" charset="-122"/>
                <a:cs typeface="Calibri" pitchFamily="34" charset="-120"/>
              </a:rPr>
              <a:t>21 /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2684</Words>
  <Application>Microsoft Office PowerPoint</Application>
  <PresentationFormat>Widescreen</PresentationFormat>
  <Paragraphs>306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Bethany Birchum</cp:lastModifiedBy>
  <cp:revision>1</cp:revision>
  <dcterms:created xsi:type="dcterms:W3CDTF">2026-07-11T02:54:01Z</dcterms:created>
  <dcterms:modified xsi:type="dcterms:W3CDTF">2026-07-11T03:02:08Z</dcterms:modified>
</cp:coreProperties>
</file>