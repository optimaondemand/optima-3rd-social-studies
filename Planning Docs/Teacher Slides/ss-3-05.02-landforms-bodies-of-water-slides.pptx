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Museum hall -- the World Map Hall with a giant labeled world map. A young volunteer on the floor picking up scattered feature cards (mountains, rivers, plains labels). Dramatic lighting.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Close-up of scattered cards on a museum floor -- each card has a geographic feature name (mountain, river, valley, lake, etc.). A young volunteer kneeling to pick them up. Head curator standing behind him.Teacher: Read the scene. The volunteer knocked the cards off. Ask: What would the map be missing without these cards?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young volunteer carefully placing cards back on a wall map, showing patience and perseverance. Museum setting.Teacher: Connect perseverance to the volunteer and to the curator role. Under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Introduce the concept. Landforms = shapes of land. Bodies of water = areas of water. Show the photo.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Walk through each. Use the diagram. Mountains are tall, hills are shorter, valleys are low areas between.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Partner discussion. This scaffolds Evidence Q3. Make sure students can name specific features.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Walk through each. Compare plains (flat, low) to plateaus (flat, high). Islands are land surrounded by water.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Walk through each body of water. Key distinction: rivers FLOW, lakes are STILL. Gulfs are partly surrounded by land.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This directly scaffolds Evidence Q2. Emphasize: rivers FLOW, lakes STAY.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Discuss the Socratic question from the planning data. Then &amp; Now.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Show the photograph. Walk through the 3 analysis questions. Students respond verbally.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Compare the map WITH and WITHOUT features. Share the fun facts. 1-2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Think aloud through Q1. Model picking two landforms and describing them. Students practice.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Read each feature. Students call out landform or body of water. This uses the Sort thinking move.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Give students 1-2 minutes to write. Then reveal answers. 2-3 minutes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Students find the error. The sample answer doesn't explain the difference. Connect to Evidence Q2.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This is a common mix-up. Both are flat but at different elevations. Think-pair-share.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Quick verbal check. Ask each, students respond.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Read each question aloud. Model Q1. Clarify the Curator Task. Walk through checklist.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Wide shot of the World Map Hall with the giant map now fully detailed -- continents labeled, and feature cards (mountains, rivers, plains, lakes) pinned in their correct locations. Warm golden museum lighting.Teacher: Celebrate! Tease Lesson 3.05.03 -- climate, vegetation, and resources. Under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Shape 2"/>
          <p:cNvSpPr/>
          <p:nvPr/>
        </p:nvSpPr>
        <p:spPr>
          <a:xfrm>
            <a:off x="650240" y="56896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3"/>
          <p:cNvSpPr/>
          <p:nvPr/>
        </p:nvSpPr>
        <p:spPr>
          <a:xfrm>
            <a:off x="650240" y="56896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WORLD MAP HALL</a:t>
            </a:r>
            <a:endParaRPr lang="en-US" sz="800" dirty="0"/>
          </a:p>
        </p:txBody>
      </p:sp>
      <p:sp>
        <p:nvSpPr>
          <p:cNvPr id="7" name="Text 4"/>
          <p:cNvSpPr/>
          <p:nvPr/>
        </p:nvSpPr>
        <p:spPr>
          <a:xfrm>
            <a:off x="650240" y="1950720"/>
            <a:ext cx="9753600" cy="2275840"/>
          </a:xfrm>
          <a:prstGeom prst="rect">
            <a:avLst/>
          </a:prstGeom>
          <a:noFill/>
          <a:ln/>
          <a:effectLst>
            <a:outerShdw sx="100000" sy="100000" kx="0" ky="0" algn="bl" rotWithShape="0" blurRad="76200" dist="25400" dir="16200000">
              <a:srgbClr val="000000">
                <a:alpha val="35000"/>
              </a:srgbClr>
            </a:outerShdw>
          </a:effectLst>
        </p:spPr>
        <p:txBody>
          <a:bodyPr wrap="square" rtlCol="0" anchor="ctr"/>
          <a:lstStyle/>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Landforms and</a:t>
            </a:r>
            <a:endParaRPr lang="en-US" sz="3400" dirty="0"/>
          </a:p>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Bodies of Water</a:t>
            </a:r>
            <a:endParaRPr lang="en-US" sz="3400" dirty="0"/>
          </a:p>
        </p:txBody>
      </p:sp>
      <p:sp>
        <p:nvSpPr>
          <p:cNvPr id="8" name="Text 5"/>
          <p:cNvSpPr/>
          <p:nvPr/>
        </p:nvSpPr>
        <p:spPr>
          <a:xfrm>
            <a:off x="650240" y="4307840"/>
            <a:ext cx="9753600" cy="487680"/>
          </a:xfrm>
          <a:prstGeom prst="rect">
            <a:avLst/>
          </a:prstGeom>
          <a:noFill/>
          <a:ln/>
        </p:spPr>
        <p:txBody>
          <a:bodyPr wrap="square" lIns="0" tIns="0" rIns="0" bIns="0" rtlCol="0" anchor="ctr"/>
          <a:lstStyle/>
          <a:p>
            <a:pPr indent="0" marL="0">
              <a:buNone/>
            </a:pPr>
            <a:r>
              <a:rPr lang="en-US" sz="1100" dirty="0">
                <a:solidFill>
                  <a:srgbClr val="55C8E8"/>
                </a:solidFill>
                <a:latin typeface="Calibri" pitchFamily="34" charset="0"/>
                <a:ea typeface="Calibri" pitchFamily="34" charset="-122"/>
                <a:cs typeface="Calibri" pitchFamily="34" charset="-120"/>
              </a:rPr>
              <a:t>Lesson 3.05.02  |  Week 12  |  Unit 5: World Geography</a:t>
            </a:r>
            <a:endParaRPr lang="en-US" sz="1100" dirty="0"/>
          </a:p>
        </p:txBody>
      </p:sp>
      <p:sp>
        <p:nvSpPr>
          <p:cNvPr id="9" name="Shape 6"/>
          <p:cNvSpPr/>
          <p:nvPr/>
        </p:nvSpPr>
        <p:spPr>
          <a:xfrm>
            <a:off x="650240" y="5364480"/>
            <a:ext cx="8940800" cy="1300480"/>
          </a:xfrm>
          <a:prstGeom prst="roundRect">
            <a:avLst>
              <a:gd name="adj" fmla="val 12500"/>
            </a:avLst>
          </a:prstGeom>
          <a:solidFill>
            <a:srgbClr val="1A2D5A"/>
          </a:solidFill>
          <a:ln w="12700">
            <a:solidFill>
              <a:srgbClr val="55C8E8"/>
            </a:solidFill>
            <a:prstDash val="solid"/>
          </a:ln>
        </p:spPr>
      </p:sp>
      <p:sp>
        <p:nvSpPr>
          <p:cNvPr id="10" name="Text 7"/>
          <p:cNvSpPr/>
          <p:nvPr/>
        </p:nvSpPr>
        <p:spPr>
          <a:xfrm>
            <a:off x="975360" y="5445760"/>
            <a:ext cx="8128000" cy="357632"/>
          </a:xfrm>
          <a:prstGeom prst="rect">
            <a:avLst/>
          </a:prstGeom>
          <a:noFill/>
          <a:ln/>
        </p:spPr>
        <p:txBody>
          <a:bodyPr wrap="square" lIns="0" tIns="0" rIns="0" bIns="0" rtlCol="0" anchor="ctr"/>
          <a:lstStyle/>
          <a:p>
            <a:pPr indent="0" marL="0">
              <a:buNone/>
            </a:pPr>
            <a:r>
              <a:rPr lang="en-US" sz="800" b="1" spc="150" kern="0" dirty="0">
                <a:solidFill>
                  <a:srgbClr val="55C8E8"/>
                </a:solidFill>
                <a:latin typeface="Calibri" pitchFamily="34" charset="0"/>
                <a:ea typeface="Calibri" pitchFamily="34" charset="-122"/>
                <a:cs typeface="Calibri" pitchFamily="34" charset="-120"/>
              </a:rPr>
              <a:t>CURATOR'S QUESTION</a:t>
            </a:r>
            <a:endParaRPr lang="en-US" sz="800" dirty="0"/>
          </a:p>
        </p:txBody>
      </p:sp>
      <p:sp>
        <p:nvSpPr>
          <p:cNvPr id="11" name="Text 8"/>
          <p:cNvSpPr/>
          <p:nvPr/>
        </p:nvSpPr>
        <p:spPr>
          <a:xfrm>
            <a:off x="975360" y="5787136"/>
            <a:ext cx="8128000" cy="780288"/>
          </a:xfrm>
          <a:prstGeom prst="rect">
            <a:avLst/>
          </a:prstGeom>
          <a:noFill/>
          <a:ln/>
        </p:spPr>
        <p:txBody>
          <a:bodyPr wrap="square" lIns="0" tIns="0" rIns="0" bIns="0" rtlCol="0" anchor="ctr"/>
          <a:lstStyle/>
          <a:p>
            <a:pPr indent="0" marL="0">
              <a:buNone/>
            </a:pPr>
            <a:r>
              <a:rPr lang="en-US" sz="1300" i="1" dirty="0">
                <a:solidFill>
                  <a:srgbClr val="FFFFFF"/>
                </a:solidFill>
                <a:latin typeface="Cambria" pitchFamily="34" charset="0"/>
                <a:ea typeface="Cambria" pitchFamily="34" charset="-122"/>
                <a:cs typeface="Cambria" pitchFamily="34" charset="-120"/>
              </a:rPr>
              <a:t>How do landforms and bodies of water give the world map meaningful detail?</a:t>
            </a:r>
            <a:endParaRPr lang="en-US" sz="1300" dirty="0"/>
          </a:p>
        </p:txBody>
      </p:sp>
      <p:sp>
        <p:nvSpPr>
          <p:cNvPr id="12" name="Shape 9"/>
          <p:cNvSpPr/>
          <p:nvPr/>
        </p:nvSpPr>
        <p:spPr>
          <a:xfrm>
            <a:off x="650240" y="7152640"/>
            <a:ext cx="3576320" cy="455168"/>
          </a:xfrm>
          <a:prstGeom prst="roundRect">
            <a:avLst>
              <a:gd name="adj" fmla="val 50000"/>
            </a:avLst>
          </a:prstGeom>
          <a:solidFill>
            <a:srgbClr val="1A8A7D"/>
          </a:solidFill>
          <a:ln/>
        </p:spPr>
      </p:sp>
      <p:sp>
        <p:nvSpPr>
          <p:cNvPr id="13" name="Text 10"/>
          <p:cNvSpPr/>
          <p:nvPr/>
        </p:nvSpPr>
        <p:spPr>
          <a:xfrm>
            <a:off x="650240" y="7152640"/>
            <a:ext cx="3576320" cy="455168"/>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SORT &gt; COMPARE &gt; EXPLAIN</a:t>
            </a:r>
            <a:endParaRPr lang="en-US" sz="800" dirty="0"/>
          </a:p>
        </p:txBody>
      </p:sp>
      <p:sp>
        <p:nvSpPr>
          <p:cNvPr id="14" name="Text 11"/>
          <p:cNvSpPr/>
          <p:nvPr/>
        </p:nvSpPr>
        <p:spPr>
          <a:xfrm>
            <a:off x="650240" y="7802880"/>
            <a:ext cx="8128000" cy="325120"/>
          </a:xfrm>
          <a:prstGeom prst="rect">
            <a:avLst/>
          </a:prstGeom>
          <a:noFill/>
          <a:ln/>
        </p:spPr>
        <p:txBody>
          <a:bodyPr wrap="square" lIns="0" tIns="0" rIns="0" bIns="0" rtlCol="0" anchor="ctr"/>
          <a:lstStyle/>
          <a:p>
            <a:pPr indent="0" marL="0">
              <a:buNone/>
            </a:pPr>
            <a:r>
              <a:rPr lang="en-US" sz="700" dirty="0">
                <a:solidFill>
                  <a:srgbClr val="7A88A8"/>
                </a:solidFill>
                <a:latin typeface="Calibri" pitchFamily="34" charset="0"/>
                <a:ea typeface="Calibri" pitchFamily="34" charset="-122"/>
                <a:cs typeface="Calibri" pitchFamily="34" charset="-120"/>
              </a:rPr>
              <a:t>SS.3.G.1.3 | SS.3.G.1.4 | SS.3.G.2.1</a:t>
            </a:r>
            <a:endParaRPr lang="en-US" sz="700" dirty="0"/>
          </a:p>
        </p:txBody>
      </p:sp>
      <p:sp>
        <p:nvSpPr>
          <p:cNvPr id="15" name="Text 12"/>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1 / 20</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Shape 2"/>
          <p:cNvSpPr/>
          <p:nvPr/>
        </p:nvSpPr>
        <p:spPr>
          <a:xfrm>
            <a:off x="650240" y="56896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3"/>
          <p:cNvSpPr/>
          <p:nvPr/>
        </p:nvSpPr>
        <p:spPr>
          <a:xfrm>
            <a:off x="650240" y="56896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ENTER THE MUSEUM</a:t>
            </a:r>
            <a:endParaRPr lang="en-US" sz="800" dirty="0"/>
          </a:p>
        </p:txBody>
      </p:sp>
      <p:sp>
        <p:nvSpPr>
          <p:cNvPr id="7" name="Text 4"/>
          <p:cNvSpPr/>
          <p:nvPr/>
        </p:nvSpPr>
        <p:spPr>
          <a:xfrm>
            <a:off x="650240" y="1625600"/>
            <a:ext cx="9753600" cy="97536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Feature Cards Fell Off!</a:t>
            </a:r>
            <a:endParaRPr lang="en-US" sz="2600" dirty="0"/>
          </a:p>
        </p:txBody>
      </p:sp>
      <p:sp>
        <p:nvSpPr>
          <p:cNvPr id="8" name="Shape 5"/>
          <p:cNvSpPr/>
          <p:nvPr/>
        </p:nvSpPr>
        <p:spPr>
          <a:xfrm>
            <a:off x="650240" y="2763520"/>
            <a:ext cx="8940800" cy="3576320"/>
          </a:xfrm>
          <a:prstGeom prst="roundRect">
            <a:avLst>
              <a:gd name="adj" fmla="val 5455"/>
            </a:avLst>
          </a:prstGeom>
          <a:solidFill>
            <a:srgbClr val="FFF3DC"/>
          </a:solidFill>
          <a:ln w="19050">
            <a:solidFill>
              <a:srgbClr val="F5E6C8"/>
            </a:solidFill>
            <a:prstDash val="solid"/>
          </a:ln>
        </p:spPr>
      </p:sp>
      <p:sp>
        <p:nvSpPr>
          <p:cNvPr id="9" name="Text 6"/>
          <p:cNvSpPr/>
          <p:nvPr/>
        </p:nvSpPr>
        <p:spPr>
          <a:xfrm>
            <a:off x="894080" y="2861056"/>
            <a:ext cx="84531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7"/>
          <p:cNvSpPr/>
          <p:nvPr/>
        </p:nvSpPr>
        <p:spPr>
          <a:xfrm>
            <a:off x="894080" y="3218688"/>
            <a:ext cx="8453120" cy="30073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young volunteer bumped the landform display. All the feature cards fell off the world map."</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"He holds up a stack of cards -- each one says the name of a mountain range, a river, a valley, or a body of water. But they're all jumbled up."</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"Good thing we have World Geography Curators. Before we put these back, you'll need to learn what each kind of feature is."</a:t>
            </a:r>
            <a:endParaRPr lang="en-US" sz="1200" dirty="0"/>
          </a:p>
        </p:txBody>
      </p:sp>
      <p:sp>
        <p:nvSpPr>
          <p:cNvPr id="11" name="Shape 8"/>
          <p:cNvSpPr/>
          <p:nvPr/>
        </p:nvSpPr>
        <p:spPr>
          <a:xfrm>
            <a:off x="10078720" y="2763520"/>
            <a:ext cx="5527040" cy="3576320"/>
          </a:xfrm>
          <a:prstGeom prst="roundRect">
            <a:avLst>
              <a:gd name="adj" fmla="val 6818"/>
            </a:avLst>
          </a:prstGeom>
          <a:solidFill>
            <a:srgbClr val="1A2D5A"/>
          </a:solidFill>
          <a:ln/>
          <a:effectLst>
            <a:outerShdw sx="100000" sy="100000" kx="0" ky="0" algn="bl" rotWithShape="0" blurRad="101600" dist="38100" dir="8100000">
              <a:srgbClr val="000000">
                <a:alpha val="20000"/>
              </a:srgbClr>
            </a:outerShdw>
          </a:effectLst>
        </p:spPr>
      </p:sp>
      <p:sp>
        <p:nvSpPr>
          <p:cNvPr id="12" name="Text 9"/>
          <p:cNvSpPr/>
          <p:nvPr/>
        </p:nvSpPr>
        <p:spPr>
          <a:xfrm>
            <a:off x="10403840" y="2926080"/>
            <a:ext cx="487680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0"/>
          <p:cNvSpPr/>
          <p:nvPr/>
        </p:nvSpPr>
        <p:spPr>
          <a:xfrm>
            <a:off x="10403840" y="3381248"/>
            <a:ext cx="4876800" cy="279603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you think a 'feature card' shows that a continent label doesn't?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the world map only showed continent names, what would visitors miss?</a:t>
            </a:r>
            <a:endParaRPr lang="en-US" sz="1100" dirty="0"/>
          </a:p>
        </p:txBody>
      </p:sp>
      <p:sp>
        <p:nvSpPr>
          <p:cNvPr id="14" name="Text 11"/>
          <p:cNvSpPr/>
          <p:nvPr/>
        </p:nvSpPr>
        <p:spPr>
          <a:xfrm>
            <a:off x="650240" y="6827520"/>
            <a:ext cx="9753600" cy="487680"/>
          </a:xfrm>
          <a:prstGeom prst="rect">
            <a:avLst/>
          </a:prstGeom>
          <a:noFill/>
          <a:ln/>
        </p:spPr>
        <p:txBody>
          <a:bodyPr wrap="square" lIns="0" tIns="0" rIns="0" bIns="0"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You are a World Geography Curator. Your job: sort the feature cards and put them back.</a:t>
            </a:r>
            <a:endParaRPr lang="en-US" sz="1200" dirty="0"/>
          </a:p>
        </p:txBody>
      </p:sp>
      <p:sp>
        <p:nvSpPr>
          <p:cNvPr id="15" name="Text 12"/>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2 / 20</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Shape 2"/>
          <p:cNvSpPr/>
          <p:nvPr/>
        </p:nvSpPr>
        <p:spPr>
          <a:xfrm>
            <a:off x="650240" y="56896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3"/>
          <p:cNvSpPr/>
          <p:nvPr/>
        </p:nvSpPr>
        <p:spPr>
          <a:xfrm>
            <a:off x="650240" y="56896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VIRTUE SPOTLIGHT</a:t>
            </a:r>
            <a:endParaRPr lang="en-US" sz="800" dirty="0"/>
          </a:p>
        </p:txBody>
      </p:sp>
      <p:sp>
        <p:nvSpPr>
          <p:cNvPr id="7" name="Text 4"/>
          <p:cNvSpPr/>
          <p:nvPr/>
        </p:nvSpPr>
        <p:spPr>
          <a:xfrm>
            <a:off x="650240" y="1950720"/>
            <a:ext cx="8128000" cy="1137920"/>
          </a:xfrm>
          <a:prstGeom prst="rect">
            <a:avLst/>
          </a:prstGeom>
          <a:noFill/>
          <a:ln/>
        </p:spPr>
        <p:txBody>
          <a:bodyPr wrap="square" rtlCol="0" anchor="ctr"/>
          <a:lstStyle/>
          <a:p>
            <a:pPr indent="0" marL="0">
              <a:buNone/>
            </a:pPr>
            <a:r>
              <a:rPr lang="en-US" sz="3000" b="1" dirty="0">
                <a:solidFill>
                  <a:srgbClr val="D4943A"/>
                </a:solidFill>
                <a:latin typeface="Cambria" pitchFamily="34" charset="0"/>
                <a:ea typeface="Cambria" pitchFamily="34" charset="-122"/>
                <a:cs typeface="Cambria" pitchFamily="34" charset="-120"/>
              </a:rPr>
              <a:t>Perseverance</a:t>
            </a:r>
            <a:endParaRPr lang="en-US" sz="3000" dirty="0"/>
          </a:p>
        </p:txBody>
      </p:sp>
      <p:sp>
        <p:nvSpPr>
          <p:cNvPr id="8" name="Text 5"/>
          <p:cNvSpPr/>
          <p:nvPr/>
        </p:nvSpPr>
        <p:spPr>
          <a:xfrm>
            <a:off x="650240" y="3088640"/>
            <a:ext cx="8940800" cy="6502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Perseverance means keeping going when things are hard.</a:t>
            </a:r>
            <a:endParaRPr lang="en-US" sz="1400" dirty="0"/>
          </a:p>
        </p:txBody>
      </p:sp>
      <p:sp>
        <p:nvSpPr>
          <p:cNvPr id="9" name="Shape 6"/>
          <p:cNvSpPr/>
          <p:nvPr/>
        </p:nvSpPr>
        <p:spPr>
          <a:xfrm>
            <a:off x="650240" y="4064000"/>
            <a:ext cx="8940800" cy="2275840"/>
          </a:xfrm>
          <a:prstGeom prst="roundRect">
            <a:avLst>
              <a:gd name="adj" fmla="val 8571"/>
            </a:avLst>
          </a:prstGeom>
          <a:solidFill>
            <a:srgbClr val="1A2D5A"/>
          </a:solidFill>
          <a:ln/>
        </p:spPr>
      </p:sp>
      <p:sp>
        <p:nvSpPr>
          <p:cNvPr id="10" name="Text 7"/>
          <p:cNvSpPr/>
          <p:nvPr/>
        </p:nvSpPr>
        <p:spPr>
          <a:xfrm>
            <a:off x="975360" y="4226560"/>
            <a:ext cx="8290560" cy="195072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Calibri" pitchFamily="34" charset="0"/>
                <a:ea typeface="Calibri" pitchFamily="34" charset="-122"/>
                <a:cs typeface="Calibri" pitchFamily="34" charset="-120"/>
              </a:rPr>
              <a:t>The museum volunteer could have given up when the cards fell, but he started picking them up right away. Curators show perseverance too -- learning new geographic terms takes patience, and the map won't be ready unless we keep at it.</a:t>
            </a:r>
            <a:endParaRPr lang="en-US" sz="1200" dirty="0"/>
          </a:p>
        </p:txBody>
      </p:sp>
      <p:sp>
        <p:nvSpPr>
          <p:cNvPr id="11" name="Shape 8"/>
          <p:cNvSpPr/>
          <p:nvPr/>
        </p:nvSpPr>
        <p:spPr>
          <a:xfrm>
            <a:off x="10078720" y="2438400"/>
            <a:ext cx="5527040" cy="2926080"/>
          </a:xfrm>
          <a:prstGeom prst="roundRect">
            <a:avLst>
              <a:gd name="adj" fmla="val 8333"/>
            </a:avLst>
          </a:prstGeom>
          <a:solidFill>
            <a:srgbClr val="1A2D5A"/>
          </a:solidFill>
          <a:ln/>
          <a:effectLst>
            <a:outerShdw sx="100000" sy="100000" kx="0" ky="0" algn="bl" rotWithShape="0" blurRad="101600" dist="38100" dir="8100000">
              <a:srgbClr val="000000">
                <a:alpha val="20000"/>
              </a:srgbClr>
            </a:outerShdw>
          </a:effectLst>
        </p:spPr>
      </p:sp>
      <p:sp>
        <p:nvSpPr>
          <p:cNvPr id="12" name="Text 9"/>
          <p:cNvSpPr/>
          <p:nvPr/>
        </p:nvSpPr>
        <p:spPr>
          <a:xfrm>
            <a:off x="10403840" y="2600960"/>
            <a:ext cx="487680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0"/>
          <p:cNvSpPr/>
          <p:nvPr/>
        </p:nvSpPr>
        <p:spPr>
          <a:xfrm>
            <a:off x="10403840" y="3056128"/>
            <a:ext cx="4876800" cy="214579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did the volunteer show perseverance?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When have you kept going even when something was hard?</a:t>
            </a:r>
            <a:endParaRPr lang="en-US" sz="1100" dirty="0"/>
          </a:p>
        </p:txBody>
      </p:sp>
      <p:sp>
        <p:nvSpPr>
          <p:cNvPr id="14" name="Text 11"/>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3 / 20</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FFFFF"/>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DISCOVERY</a:t>
            </a:r>
            <a:endParaRPr lang="en-US" sz="800" dirty="0"/>
          </a:p>
        </p:txBody>
      </p:sp>
      <p:sp>
        <p:nvSpPr>
          <p:cNvPr id="7" name="Text 5"/>
          <p:cNvSpPr/>
          <p:nvPr/>
        </p:nvSpPr>
        <p:spPr>
          <a:xfrm>
            <a:off x="650240" y="1137920"/>
            <a:ext cx="97536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 Are Landforms?</a:t>
            </a:r>
            <a:endParaRPr lang="en-US" sz="2200" dirty="0"/>
          </a:p>
        </p:txBody>
      </p:sp>
      <p:sp>
        <p:nvSpPr>
          <p:cNvPr id="8" name="Text 6"/>
          <p:cNvSpPr/>
          <p:nvPr/>
        </p:nvSpPr>
        <p:spPr>
          <a:xfrm>
            <a:off x="650240" y="1950720"/>
            <a:ext cx="975360" cy="422656"/>
          </a:xfrm>
          <a:prstGeom prst="rect">
            <a:avLst/>
          </a:prstGeom>
          <a:noFill/>
          <a:ln/>
        </p:spPr>
        <p:txBody>
          <a:bodyPr wrap="square" lIns="0" tIns="0" rIns="0" bIns="0" rtlCol="0" anchor="ctr"/>
          <a:lstStyle/>
          <a:p>
            <a:pPr indent="0" marL="0">
              <a:buNone/>
            </a:pPr>
            <a:r>
              <a:rPr lang="en-US" sz="900" b="1" spc="120" kern="0" dirty="0">
                <a:solidFill>
                  <a:srgbClr val="1A8A7D"/>
                </a:solidFill>
                <a:latin typeface="Calibri" pitchFamily="34" charset="0"/>
                <a:ea typeface="Calibri" pitchFamily="34" charset="-122"/>
                <a:cs typeface="Calibri" pitchFamily="34" charset="-120"/>
              </a:rPr>
              <a:t>SORT</a:t>
            </a:r>
            <a:endParaRPr lang="en-US" sz="900" dirty="0"/>
          </a:p>
        </p:txBody>
      </p:sp>
      <p:sp>
        <p:nvSpPr>
          <p:cNvPr id="9" name="Shape 7"/>
          <p:cNvSpPr/>
          <p:nvPr/>
        </p:nvSpPr>
        <p:spPr>
          <a:xfrm>
            <a:off x="650240" y="2519680"/>
            <a:ext cx="14955520" cy="1300480"/>
          </a:xfrm>
          <a:prstGeom prst="roundRect">
            <a:avLst>
              <a:gd name="adj" fmla="val 12500"/>
            </a:avLst>
          </a:prstGeom>
          <a:solidFill>
            <a:srgbClr val="EAF8FD"/>
          </a:solidFill>
          <a:ln/>
        </p:spPr>
      </p:sp>
      <p:sp>
        <p:nvSpPr>
          <p:cNvPr id="10" name="Text 8"/>
          <p:cNvSpPr/>
          <p:nvPr/>
        </p:nvSpPr>
        <p:spPr>
          <a:xfrm>
            <a:off x="975360" y="2600960"/>
            <a:ext cx="14305280" cy="56896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Continents and oceans are just the start. Inside each continent, you'll find landforms -- natural shapes of the land.</a:t>
            </a:r>
            <a:endParaRPr lang="en-US" sz="1300" dirty="0"/>
          </a:p>
        </p:txBody>
      </p:sp>
      <p:sp>
        <p:nvSpPr>
          <p:cNvPr id="11" name="Text 9"/>
          <p:cNvSpPr/>
          <p:nvPr/>
        </p:nvSpPr>
        <p:spPr>
          <a:xfrm>
            <a:off x="975360" y="3251200"/>
            <a:ext cx="14305280" cy="4876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Between and within continents, you'll find bodies of water -- natural areas of water.</a:t>
            </a:r>
            <a:endParaRPr lang="en-US" sz="1300" dirty="0"/>
          </a:p>
        </p:txBody>
      </p:sp>
      <p:sp>
        <p:nvSpPr>
          <p:cNvPr id="12" name="Shape 10"/>
          <p:cNvSpPr/>
          <p:nvPr/>
        </p:nvSpPr>
        <p:spPr>
          <a:xfrm>
            <a:off x="650240" y="4064000"/>
            <a:ext cx="7315200" cy="4064000"/>
          </a:xfrm>
          <a:prstGeom prst="roundRect">
            <a:avLst>
              <a:gd name="adj" fmla="val 4800"/>
            </a:avLst>
          </a:prstGeom>
          <a:solidFill>
            <a:srgbClr val="E2E8F4"/>
          </a:solidFill>
          <a:ln w="19050">
            <a:solidFill>
              <a:srgbClr val="B0B8CC"/>
            </a:solidFill>
            <a:prstDash val="dash"/>
          </a:ln>
        </p:spPr>
      </p:sp>
      <p:sp>
        <p:nvSpPr>
          <p:cNvPr id="13" name="Text 11"/>
          <p:cNvSpPr/>
          <p:nvPr/>
        </p:nvSpPr>
        <p:spPr>
          <a:xfrm>
            <a:off x="650240" y="4064000"/>
            <a:ext cx="731520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4" name="Text 12"/>
          <p:cNvSpPr/>
          <p:nvPr/>
        </p:nvSpPr>
        <p:spPr>
          <a:xfrm>
            <a:off x="894080" y="4551680"/>
            <a:ext cx="6827520" cy="34137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Photograph of a dramatic landform: a mountain range,</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river cutting through a valley, or wide plain.</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Save as: source-3-05-02-landform-photo.jpg</a:t>
            </a:r>
            <a:endParaRPr lang="en-US" sz="1100" dirty="0"/>
          </a:p>
        </p:txBody>
      </p:sp>
      <p:sp>
        <p:nvSpPr>
          <p:cNvPr id="15" name="Shape 13"/>
          <p:cNvSpPr/>
          <p:nvPr/>
        </p:nvSpPr>
        <p:spPr>
          <a:xfrm>
            <a:off x="8453120" y="4064000"/>
            <a:ext cx="6990080" cy="2113280"/>
          </a:xfrm>
          <a:prstGeom prst="roundRect">
            <a:avLst>
              <a:gd name="adj" fmla="val 11538"/>
            </a:avLst>
          </a:prstGeom>
          <a:solidFill>
            <a:srgbClr val="1A2D5A"/>
          </a:solidFill>
          <a:ln/>
          <a:effectLst>
            <a:outerShdw sx="100000" sy="100000" kx="0" ky="0" algn="bl" rotWithShape="0" blurRad="101600" dist="38100" dir="8100000">
              <a:srgbClr val="000000">
                <a:alpha val="20000"/>
              </a:srgbClr>
            </a:outerShdw>
          </a:effectLst>
        </p:spPr>
      </p:sp>
      <p:sp>
        <p:nvSpPr>
          <p:cNvPr id="16" name="Text 14"/>
          <p:cNvSpPr/>
          <p:nvPr/>
        </p:nvSpPr>
        <p:spPr>
          <a:xfrm>
            <a:off x="8778240" y="4226560"/>
            <a:ext cx="633984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7" name="Text 15"/>
          <p:cNvSpPr/>
          <p:nvPr/>
        </p:nvSpPr>
        <p:spPr>
          <a:xfrm>
            <a:off x="8778240" y="4681728"/>
            <a:ext cx="6339840" cy="133299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you think a 'landform' is based on the word itself?</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What's the difference between a continent and a landform?</a:t>
            </a:r>
            <a:endParaRPr lang="en-US" sz="1100" dirty="0"/>
          </a:p>
        </p:txBody>
      </p:sp>
      <p:sp>
        <p:nvSpPr>
          <p:cNvPr id="18" name="Shape 16"/>
          <p:cNvSpPr/>
          <p:nvPr/>
        </p:nvSpPr>
        <p:spPr>
          <a:xfrm>
            <a:off x="8453120" y="6502400"/>
            <a:ext cx="6990080" cy="1463040"/>
          </a:xfrm>
          <a:prstGeom prst="roundRect">
            <a:avLst>
              <a:gd name="adj" fmla="val 11111"/>
            </a:avLst>
          </a:prstGeom>
          <a:solidFill>
            <a:srgbClr val="E3F8ED"/>
          </a:solidFill>
          <a:ln/>
        </p:spPr>
      </p:sp>
      <p:sp>
        <p:nvSpPr>
          <p:cNvPr id="19" name="Text 17"/>
          <p:cNvSpPr/>
          <p:nvPr/>
        </p:nvSpPr>
        <p:spPr>
          <a:xfrm>
            <a:off x="8778240" y="6583680"/>
            <a:ext cx="6339840" cy="325120"/>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KEY VOCABULARY</a:t>
            </a:r>
            <a:endParaRPr lang="en-US" sz="900" dirty="0"/>
          </a:p>
        </p:txBody>
      </p:sp>
      <p:sp>
        <p:nvSpPr>
          <p:cNvPr id="20" name="Text 18"/>
          <p:cNvSpPr/>
          <p:nvPr/>
        </p:nvSpPr>
        <p:spPr>
          <a:xfrm>
            <a:off x="8778240" y="6957568"/>
            <a:ext cx="6339840" cy="894080"/>
          </a:xfrm>
          <a:prstGeom prst="rect">
            <a:avLst/>
          </a:prstGeom>
          <a:noFill/>
          <a:ln/>
        </p:spPr>
        <p:txBody>
          <a:bodyPr wrap="square" lIns="0" tIns="0" rIns="0" bIns="0" rtlCol="0" anchor="ctr"/>
          <a:lstStyle/>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Landform = a natural shape of the land</a:t>
            </a:r>
            <a:endParaRPr lang="en-US" sz="1100" dirty="0"/>
          </a:p>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Body of water = a natural area of water</a:t>
            </a:r>
            <a:endParaRPr lang="en-US" sz="1100" dirty="0"/>
          </a:p>
        </p:txBody>
      </p:sp>
      <p:sp>
        <p:nvSpPr>
          <p:cNvPr id="21" name="Text 19"/>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4 / 20</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0F2F8"/>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DISCOVERY</a:t>
            </a:r>
            <a:endParaRPr lang="en-US" sz="800" dirty="0"/>
          </a:p>
        </p:txBody>
      </p:sp>
      <p:sp>
        <p:nvSpPr>
          <p:cNvPr id="7" name="Text 5"/>
          <p:cNvSpPr/>
          <p:nvPr/>
        </p:nvSpPr>
        <p:spPr>
          <a:xfrm>
            <a:off x="650240" y="113792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Landforms: Mountains, Hills, Valleys</a:t>
            </a:r>
            <a:endParaRPr lang="en-US" sz="2200" dirty="0"/>
          </a:p>
        </p:txBody>
      </p:sp>
      <p:sp>
        <p:nvSpPr>
          <p:cNvPr id="8" name="Text 6"/>
          <p:cNvSpPr/>
          <p:nvPr/>
        </p:nvSpPr>
        <p:spPr>
          <a:xfrm>
            <a:off x="650240" y="1950720"/>
            <a:ext cx="975360" cy="422656"/>
          </a:xfrm>
          <a:prstGeom prst="rect">
            <a:avLst/>
          </a:prstGeom>
          <a:noFill/>
          <a:ln/>
        </p:spPr>
        <p:txBody>
          <a:bodyPr wrap="square" lIns="0" tIns="0" rIns="0" bIns="0" rtlCol="0" anchor="ctr"/>
          <a:lstStyle/>
          <a:p>
            <a:pPr indent="0" marL="0">
              <a:buNone/>
            </a:pPr>
            <a:r>
              <a:rPr lang="en-US" sz="900" b="1" spc="120" kern="0" dirty="0">
                <a:solidFill>
                  <a:srgbClr val="1A8A7D"/>
                </a:solidFill>
                <a:latin typeface="Calibri" pitchFamily="34" charset="0"/>
                <a:ea typeface="Calibri" pitchFamily="34" charset="-122"/>
                <a:cs typeface="Calibri" pitchFamily="34" charset="-120"/>
              </a:rPr>
              <a:t>SORT</a:t>
            </a:r>
            <a:endParaRPr lang="en-US" sz="900" dirty="0"/>
          </a:p>
        </p:txBody>
      </p:sp>
      <p:sp>
        <p:nvSpPr>
          <p:cNvPr id="9" name="Shape 7"/>
          <p:cNvSpPr/>
          <p:nvPr/>
        </p:nvSpPr>
        <p:spPr>
          <a:xfrm>
            <a:off x="650240" y="2519680"/>
            <a:ext cx="7152640" cy="1788160"/>
          </a:xfrm>
          <a:prstGeom prst="roundRect">
            <a:avLst>
              <a:gd name="adj" fmla="val 10909"/>
            </a:avLst>
          </a:prstGeom>
          <a:solidFill>
            <a:srgbClr val="FFFFFF"/>
          </a:solidFill>
          <a:ln/>
          <a:effectLst>
            <a:outerShdw sx="100000" sy="100000" kx="0" ky="0" algn="bl" rotWithShape="0" blurRad="76200" dist="25400" dir="8100000">
              <a:srgbClr val="000000">
                <a:alpha val="12000"/>
              </a:srgbClr>
            </a:outerShdw>
          </a:effectLst>
        </p:spPr>
      </p:sp>
      <p:sp>
        <p:nvSpPr>
          <p:cNvPr id="10" name="Shape 8"/>
          <p:cNvSpPr/>
          <p:nvPr/>
        </p:nvSpPr>
        <p:spPr>
          <a:xfrm>
            <a:off x="650240" y="2519680"/>
            <a:ext cx="97536" cy="1788160"/>
          </a:xfrm>
          <a:prstGeom prst="rect">
            <a:avLst/>
          </a:prstGeom>
          <a:solidFill>
            <a:srgbClr val="1A8A7D"/>
          </a:solidFill>
          <a:ln/>
        </p:spPr>
      </p:sp>
      <p:sp>
        <p:nvSpPr>
          <p:cNvPr id="11" name="Text 9"/>
          <p:cNvSpPr/>
          <p:nvPr/>
        </p:nvSpPr>
        <p:spPr>
          <a:xfrm>
            <a:off x="975360" y="2682240"/>
            <a:ext cx="6583680" cy="455168"/>
          </a:xfrm>
          <a:prstGeom prst="rect">
            <a:avLst/>
          </a:prstGeom>
          <a:noFill/>
          <a:ln/>
        </p:spPr>
        <p:txBody>
          <a:bodyPr wrap="square" lIns="0" tIns="0" rIns="0" bIns="0" rtlCol="0" anchor="ctr"/>
          <a:lstStyle/>
          <a:p>
            <a:pPr indent="0" marL="0">
              <a:buNone/>
            </a:pPr>
            <a:r>
              <a:rPr lang="en-US" sz="1100" b="1" spc="80" kern="0" dirty="0">
                <a:solidFill>
                  <a:srgbClr val="1A8A7D"/>
                </a:solidFill>
                <a:latin typeface="Calibri" pitchFamily="34" charset="0"/>
                <a:ea typeface="Calibri" pitchFamily="34" charset="-122"/>
                <a:cs typeface="Calibri" pitchFamily="34" charset="-120"/>
              </a:rPr>
              <a:t>MOUNTAINS</a:t>
            </a:r>
            <a:endParaRPr lang="en-US" sz="1100" dirty="0"/>
          </a:p>
        </p:txBody>
      </p:sp>
      <p:sp>
        <p:nvSpPr>
          <p:cNvPr id="12" name="Text 10"/>
          <p:cNvSpPr/>
          <p:nvPr/>
        </p:nvSpPr>
        <p:spPr>
          <a:xfrm>
            <a:off x="975360" y="3137408"/>
            <a:ext cx="6583680" cy="1007872"/>
          </a:xfrm>
          <a:prstGeom prst="rect">
            <a:avLst/>
          </a:prstGeom>
          <a:noFill/>
          <a:ln/>
        </p:spPr>
        <p:txBody>
          <a:bodyPr wrap="square" lIns="0" tIns="0" rIns="0" bIns="0" rtlCol="0" anchor="t"/>
          <a:lstStyle/>
          <a:p>
            <a:pPr indent="0" marL="0">
              <a:lnSpc>
                <a:spcPct val="115000"/>
              </a:lnSpc>
              <a:buNone/>
            </a:pPr>
            <a:r>
              <a:rPr lang="en-US" sz="1100" dirty="0">
                <a:solidFill>
                  <a:srgbClr val="0E1C42"/>
                </a:solidFill>
                <a:latin typeface="Calibri" pitchFamily="34" charset="0"/>
                <a:ea typeface="Calibri" pitchFamily="34" charset="-122"/>
                <a:cs typeface="Calibri" pitchFamily="34" charset="-120"/>
              </a:rPr>
              <a:t>Tall, raised land with peaks. Example: The Himalayas in Asia are the tallest mountains on Earth.</a:t>
            </a:r>
            <a:endParaRPr lang="en-US" sz="1100" dirty="0"/>
          </a:p>
        </p:txBody>
      </p:sp>
      <p:sp>
        <p:nvSpPr>
          <p:cNvPr id="13" name="Shape 11"/>
          <p:cNvSpPr/>
          <p:nvPr/>
        </p:nvSpPr>
        <p:spPr>
          <a:xfrm>
            <a:off x="650240" y="4551680"/>
            <a:ext cx="7152640" cy="1625600"/>
          </a:xfrm>
          <a:prstGeom prst="roundRect">
            <a:avLst>
              <a:gd name="adj" fmla="val 12000"/>
            </a:avLst>
          </a:prstGeom>
          <a:solidFill>
            <a:srgbClr val="FFFFFF"/>
          </a:solidFill>
          <a:ln/>
          <a:effectLst>
            <a:outerShdw sx="100000" sy="100000" kx="0" ky="0" algn="bl" rotWithShape="0" blurRad="76200" dist="25400" dir="8100000">
              <a:srgbClr val="000000">
                <a:alpha val="12000"/>
              </a:srgbClr>
            </a:outerShdw>
          </a:effectLst>
        </p:spPr>
      </p:sp>
      <p:sp>
        <p:nvSpPr>
          <p:cNvPr id="14" name="Shape 12"/>
          <p:cNvSpPr/>
          <p:nvPr/>
        </p:nvSpPr>
        <p:spPr>
          <a:xfrm>
            <a:off x="650240" y="4551680"/>
            <a:ext cx="97536" cy="1625600"/>
          </a:xfrm>
          <a:prstGeom prst="rect">
            <a:avLst/>
          </a:prstGeom>
          <a:solidFill>
            <a:srgbClr val="34B76F"/>
          </a:solidFill>
          <a:ln/>
        </p:spPr>
      </p:sp>
      <p:sp>
        <p:nvSpPr>
          <p:cNvPr id="15" name="Text 13"/>
          <p:cNvSpPr/>
          <p:nvPr/>
        </p:nvSpPr>
        <p:spPr>
          <a:xfrm>
            <a:off x="975360" y="4714240"/>
            <a:ext cx="6583680" cy="455168"/>
          </a:xfrm>
          <a:prstGeom prst="rect">
            <a:avLst/>
          </a:prstGeom>
          <a:noFill/>
          <a:ln/>
        </p:spPr>
        <p:txBody>
          <a:bodyPr wrap="square" lIns="0" tIns="0" rIns="0" bIns="0" rtlCol="0" anchor="ctr"/>
          <a:lstStyle/>
          <a:p>
            <a:pPr indent="0" marL="0">
              <a:buNone/>
            </a:pPr>
            <a:r>
              <a:rPr lang="en-US" sz="1100" b="1" spc="80" kern="0" dirty="0">
                <a:solidFill>
                  <a:srgbClr val="34B76F"/>
                </a:solidFill>
                <a:latin typeface="Calibri" pitchFamily="34" charset="0"/>
                <a:ea typeface="Calibri" pitchFamily="34" charset="-122"/>
                <a:cs typeface="Calibri" pitchFamily="34" charset="-120"/>
              </a:rPr>
              <a:t>HILLS</a:t>
            </a:r>
            <a:endParaRPr lang="en-US" sz="1100" dirty="0"/>
          </a:p>
        </p:txBody>
      </p:sp>
      <p:sp>
        <p:nvSpPr>
          <p:cNvPr id="16" name="Text 14"/>
          <p:cNvSpPr/>
          <p:nvPr/>
        </p:nvSpPr>
        <p:spPr>
          <a:xfrm>
            <a:off x="975360" y="5169408"/>
            <a:ext cx="6583680" cy="845312"/>
          </a:xfrm>
          <a:prstGeom prst="rect">
            <a:avLst/>
          </a:prstGeom>
          <a:noFill/>
          <a:ln/>
        </p:spPr>
        <p:txBody>
          <a:bodyPr wrap="square" lIns="0" tIns="0" rIns="0" bIns="0" rtlCol="0" anchor="t"/>
          <a:lstStyle/>
          <a:p>
            <a:pPr indent="0" marL="0">
              <a:lnSpc>
                <a:spcPct val="115000"/>
              </a:lnSpc>
              <a:buNone/>
            </a:pPr>
            <a:r>
              <a:rPr lang="en-US" sz="1100" dirty="0">
                <a:solidFill>
                  <a:srgbClr val="0E1C42"/>
                </a:solidFill>
                <a:latin typeface="Calibri" pitchFamily="34" charset="0"/>
                <a:ea typeface="Calibri" pitchFamily="34" charset="-122"/>
                <a:cs typeface="Calibri" pitchFamily="34" charset="-120"/>
              </a:rPr>
              <a:t>Smaller raised land -- not as tall as mountains, with rounded tops.</a:t>
            </a:r>
            <a:endParaRPr lang="en-US" sz="1100" dirty="0"/>
          </a:p>
        </p:txBody>
      </p:sp>
      <p:sp>
        <p:nvSpPr>
          <p:cNvPr id="17" name="Shape 15"/>
          <p:cNvSpPr/>
          <p:nvPr/>
        </p:nvSpPr>
        <p:spPr>
          <a:xfrm>
            <a:off x="650240" y="6421120"/>
            <a:ext cx="7152640" cy="1625600"/>
          </a:xfrm>
          <a:prstGeom prst="roundRect">
            <a:avLst>
              <a:gd name="adj" fmla="val 12000"/>
            </a:avLst>
          </a:prstGeom>
          <a:solidFill>
            <a:srgbClr val="FFFFFF"/>
          </a:solidFill>
          <a:ln/>
          <a:effectLst>
            <a:outerShdw sx="100000" sy="100000" kx="0" ky="0" algn="bl" rotWithShape="0" blurRad="76200" dist="25400" dir="8100000">
              <a:srgbClr val="000000">
                <a:alpha val="12000"/>
              </a:srgbClr>
            </a:outerShdw>
          </a:effectLst>
        </p:spPr>
      </p:sp>
      <p:sp>
        <p:nvSpPr>
          <p:cNvPr id="18" name="Shape 16"/>
          <p:cNvSpPr/>
          <p:nvPr/>
        </p:nvSpPr>
        <p:spPr>
          <a:xfrm>
            <a:off x="650240" y="6421120"/>
            <a:ext cx="97536" cy="1625600"/>
          </a:xfrm>
          <a:prstGeom prst="rect">
            <a:avLst/>
          </a:prstGeom>
          <a:solidFill>
            <a:srgbClr val="8B6FC0"/>
          </a:solidFill>
          <a:ln/>
        </p:spPr>
      </p:sp>
      <p:sp>
        <p:nvSpPr>
          <p:cNvPr id="19" name="Text 17"/>
          <p:cNvSpPr/>
          <p:nvPr/>
        </p:nvSpPr>
        <p:spPr>
          <a:xfrm>
            <a:off x="975360" y="6583680"/>
            <a:ext cx="6583680" cy="455168"/>
          </a:xfrm>
          <a:prstGeom prst="rect">
            <a:avLst/>
          </a:prstGeom>
          <a:noFill/>
          <a:ln/>
        </p:spPr>
        <p:txBody>
          <a:bodyPr wrap="square" lIns="0" tIns="0" rIns="0" bIns="0" rtlCol="0" anchor="ctr"/>
          <a:lstStyle/>
          <a:p>
            <a:pPr indent="0" marL="0">
              <a:buNone/>
            </a:pPr>
            <a:r>
              <a:rPr lang="en-US" sz="1100" b="1" spc="80" kern="0" dirty="0">
                <a:solidFill>
                  <a:srgbClr val="8B6FC0"/>
                </a:solidFill>
                <a:latin typeface="Calibri" pitchFamily="34" charset="0"/>
                <a:ea typeface="Calibri" pitchFamily="34" charset="-122"/>
                <a:cs typeface="Calibri" pitchFamily="34" charset="-120"/>
              </a:rPr>
              <a:t>VALLEYS</a:t>
            </a:r>
            <a:endParaRPr lang="en-US" sz="1100" dirty="0"/>
          </a:p>
        </p:txBody>
      </p:sp>
      <p:sp>
        <p:nvSpPr>
          <p:cNvPr id="20" name="Text 18"/>
          <p:cNvSpPr/>
          <p:nvPr/>
        </p:nvSpPr>
        <p:spPr>
          <a:xfrm>
            <a:off x="975360" y="7038848"/>
            <a:ext cx="6583680" cy="845312"/>
          </a:xfrm>
          <a:prstGeom prst="rect">
            <a:avLst/>
          </a:prstGeom>
          <a:noFill/>
          <a:ln/>
        </p:spPr>
        <p:txBody>
          <a:bodyPr wrap="square" lIns="0" tIns="0" rIns="0" bIns="0" rtlCol="0" anchor="t"/>
          <a:lstStyle/>
          <a:p>
            <a:pPr indent="0" marL="0">
              <a:lnSpc>
                <a:spcPct val="115000"/>
              </a:lnSpc>
              <a:buNone/>
            </a:pPr>
            <a:r>
              <a:rPr lang="en-US" sz="1100" dirty="0">
                <a:solidFill>
                  <a:srgbClr val="0E1C42"/>
                </a:solidFill>
                <a:latin typeface="Calibri" pitchFamily="34" charset="0"/>
                <a:ea typeface="Calibri" pitchFamily="34" charset="-122"/>
                <a:cs typeface="Calibri" pitchFamily="34" charset="-120"/>
              </a:rPr>
              <a:t>Low land between mountains or hills. Rivers often flow through valleys.</a:t>
            </a:r>
            <a:endParaRPr lang="en-US" sz="1100" dirty="0"/>
          </a:p>
        </p:txBody>
      </p:sp>
      <p:sp>
        <p:nvSpPr>
          <p:cNvPr id="21" name="Shape 19"/>
          <p:cNvSpPr/>
          <p:nvPr/>
        </p:nvSpPr>
        <p:spPr>
          <a:xfrm>
            <a:off x="8290560" y="2519680"/>
            <a:ext cx="7152640" cy="5527040"/>
          </a:xfrm>
          <a:prstGeom prst="roundRect">
            <a:avLst>
              <a:gd name="adj" fmla="val 3529"/>
            </a:avLst>
          </a:prstGeom>
          <a:solidFill>
            <a:srgbClr val="E2E8F4"/>
          </a:solidFill>
          <a:ln w="19050">
            <a:solidFill>
              <a:srgbClr val="B0B8CC"/>
            </a:solidFill>
            <a:prstDash val="dash"/>
          </a:ln>
        </p:spPr>
      </p:sp>
      <p:sp>
        <p:nvSpPr>
          <p:cNvPr id="22" name="Text 20"/>
          <p:cNvSpPr/>
          <p:nvPr/>
        </p:nvSpPr>
        <p:spPr>
          <a:xfrm>
            <a:off x="8290560" y="2519680"/>
            <a:ext cx="715264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23" name="Text 21"/>
          <p:cNvSpPr/>
          <p:nvPr/>
        </p:nvSpPr>
        <p:spPr>
          <a:xfrm>
            <a:off x="8534400" y="3007360"/>
            <a:ext cx="6664960" cy="48768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Cross-section diagram showing mountains,</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hills, and a valley side by side.</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Labeled with heights and shapes.</a:t>
            </a:r>
            <a:endParaRPr lang="en-US" sz="1100" dirty="0"/>
          </a:p>
        </p:txBody>
      </p:sp>
      <p:sp>
        <p:nvSpPr>
          <p:cNvPr id="24" name="Text 22"/>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5 / 20</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FFFFF"/>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DISCUSSION</a:t>
            </a:r>
            <a:endParaRPr lang="en-US" sz="800" dirty="0"/>
          </a:p>
        </p:txBody>
      </p:sp>
      <p:sp>
        <p:nvSpPr>
          <p:cNvPr id="7" name="Text 5"/>
          <p:cNvSpPr/>
          <p:nvPr/>
        </p:nvSpPr>
        <p:spPr>
          <a:xfrm>
            <a:off x="650240" y="113792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 Would the Map Be Missing?</a:t>
            </a:r>
            <a:endParaRPr lang="en-US" sz="2200" dirty="0"/>
          </a:p>
        </p:txBody>
      </p:sp>
      <p:sp>
        <p:nvSpPr>
          <p:cNvPr id="8" name="Shape 6"/>
          <p:cNvSpPr/>
          <p:nvPr/>
        </p:nvSpPr>
        <p:spPr>
          <a:xfrm>
            <a:off x="650240" y="2113280"/>
            <a:ext cx="7315200" cy="2926080"/>
          </a:xfrm>
          <a:prstGeom prst="roundRect">
            <a:avLst>
              <a:gd name="adj" fmla="val 8333"/>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975360" y="2275840"/>
            <a:ext cx="66649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975360" y="2731008"/>
            <a:ext cx="6664960" cy="214579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the world map only showed continents and oceans, what would visitors miss?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a mountain or river tell us that a continent label can't?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 the feature cards matter?</a:t>
            </a:r>
            <a:endParaRPr lang="en-US" sz="1100" dirty="0"/>
          </a:p>
        </p:txBody>
      </p:sp>
      <p:sp>
        <p:nvSpPr>
          <p:cNvPr id="11" name="Shape 9"/>
          <p:cNvSpPr/>
          <p:nvPr/>
        </p:nvSpPr>
        <p:spPr>
          <a:xfrm>
            <a:off x="8453120" y="2113280"/>
            <a:ext cx="6990080" cy="1950720"/>
          </a:xfrm>
          <a:prstGeom prst="roundRect">
            <a:avLst>
              <a:gd name="adj" fmla="val 10000"/>
            </a:avLst>
          </a:prstGeom>
          <a:solidFill>
            <a:srgbClr val="FFF3DC"/>
          </a:solidFill>
          <a:ln w="19050">
            <a:solidFill>
              <a:srgbClr val="F5E6C8"/>
            </a:solidFill>
            <a:prstDash val="solid"/>
          </a:ln>
        </p:spPr>
      </p:sp>
      <p:sp>
        <p:nvSpPr>
          <p:cNvPr id="12" name="Text 10"/>
          <p:cNvSpPr/>
          <p:nvPr/>
        </p:nvSpPr>
        <p:spPr>
          <a:xfrm>
            <a:off x="8696960" y="2210816"/>
            <a:ext cx="650240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8696960" y="2568448"/>
            <a:ext cx="6502400" cy="1381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"Turn to a partner: Name one landform and explain what it tells a visitor that a continent name doesn't."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"Be ready to share with the class."</a:t>
            </a:r>
            <a:endParaRPr lang="en-US" sz="1200" dirty="0"/>
          </a:p>
        </p:txBody>
      </p:sp>
      <p:sp>
        <p:nvSpPr>
          <p:cNvPr id="14" name="Shape 12"/>
          <p:cNvSpPr/>
          <p:nvPr/>
        </p:nvSpPr>
        <p:spPr>
          <a:xfrm>
            <a:off x="650240" y="5364480"/>
            <a:ext cx="14955520" cy="2438400"/>
          </a:xfrm>
          <a:prstGeom prst="roundRect">
            <a:avLst>
              <a:gd name="adj" fmla="val 8000"/>
            </a:avLst>
          </a:prstGeom>
          <a:solidFill>
            <a:srgbClr val="FFF3DC"/>
          </a:solidFill>
          <a:ln w="12700">
            <a:solidFill>
              <a:srgbClr val="D4943A"/>
            </a:solidFill>
            <a:prstDash val="solid"/>
          </a:ln>
        </p:spPr>
      </p:sp>
      <p:sp>
        <p:nvSpPr>
          <p:cNvPr id="15" name="Text 13"/>
          <p:cNvSpPr/>
          <p:nvPr/>
        </p:nvSpPr>
        <p:spPr>
          <a:xfrm>
            <a:off x="975360" y="5445760"/>
            <a:ext cx="1430528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ASSIGNMENT CONNECTION</a:t>
            </a:r>
            <a:endParaRPr lang="en-US" sz="900" dirty="0"/>
          </a:p>
        </p:txBody>
      </p:sp>
      <p:sp>
        <p:nvSpPr>
          <p:cNvPr id="16" name="Text 14"/>
          <p:cNvSpPr/>
          <p:nvPr/>
        </p:nvSpPr>
        <p:spPr>
          <a:xfrm>
            <a:off x="975360" y="5933440"/>
            <a:ext cx="14305280" cy="1625600"/>
          </a:xfrm>
          <a:prstGeom prst="rect">
            <a:avLst/>
          </a:prstGeom>
          <a:noFill/>
          <a:ln/>
        </p:spPr>
        <p:txBody>
          <a:bodyPr wrap="square" lIns="0" tIns="0" rIns="0" bIns="0" rtlCol="0" anchor="t"/>
          <a:lstStyle/>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Evidence Q3: Why was it important to put the feature cards back on the world map? What would visitors miss without them?</a:t>
            </a:r>
            <a:endParaRPr lang="en-US" sz="1100" dirty="0"/>
          </a:p>
          <a:p>
            <a:pPr indent="0" marL="0">
              <a:lnSpc>
                <a:spcPct val="120000"/>
              </a:lnSpc>
              <a:buNone/>
            </a:pPr>
            <a:endParaRPr lang="en-US" sz="1100" dirty="0"/>
          </a:p>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Start thinking about your answer now -- what specific features would visitors miss?</a:t>
            </a:r>
            <a:endParaRPr lang="en-US" sz="1100" dirty="0"/>
          </a:p>
        </p:txBody>
      </p:sp>
      <p:sp>
        <p:nvSpPr>
          <p:cNvPr id="17" name="Text 15"/>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6 / 20</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0F2F8"/>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DISCOVERY</a:t>
            </a:r>
            <a:endParaRPr lang="en-US" sz="800" dirty="0"/>
          </a:p>
        </p:txBody>
      </p:sp>
      <p:sp>
        <p:nvSpPr>
          <p:cNvPr id="7" name="Text 5"/>
          <p:cNvSpPr/>
          <p:nvPr/>
        </p:nvSpPr>
        <p:spPr>
          <a:xfrm>
            <a:off x="650240" y="113792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Landforms: Plains, Plateaus, Islands</a:t>
            </a:r>
            <a:endParaRPr lang="en-US" sz="2200" dirty="0"/>
          </a:p>
        </p:txBody>
      </p:sp>
      <p:sp>
        <p:nvSpPr>
          <p:cNvPr id="8" name="Text 6"/>
          <p:cNvSpPr/>
          <p:nvPr/>
        </p:nvSpPr>
        <p:spPr>
          <a:xfrm>
            <a:off x="650240" y="1950720"/>
            <a:ext cx="1625600" cy="422656"/>
          </a:xfrm>
          <a:prstGeom prst="rect">
            <a:avLst/>
          </a:prstGeom>
          <a:noFill/>
          <a:ln/>
        </p:spPr>
        <p:txBody>
          <a:bodyPr wrap="square" lIns="0" tIns="0" rIns="0" bIns="0" rtlCol="0" anchor="ctr"/>
          <a:lstStyle/>
          <a:p>
            <a:pPr indent="0" marL="0">
              <a:buNone/>
            </a:pPr>
            <a:r>
              <a:rPr lang="en-US" sz="900" b="1" spc="120" kern="0" dirty="0">
                <a:solidFill>
                  <a:srgbClr val="1A8A7D"/>
                </a:solidFill>
                <a:latin typeface="Calibri" pitchFamily="34" charset="0"/>
                <a:ea typeface="Calibri" pitchFamily="34" charset="-122"/>
                <a:cs typeface="Calibri" pitchFamily="34" charset="-120"/>
              </a:rPr>
              <a:t>COMPARE</a:t>
            </a:r>
            <a:endParaRPr lang="en-US" sz="900" dirty="0"/>
          </a:p>
        </p:txBody>
      </p:sp>
      <p:sp>
        <p:nvSpPr>
          <p:cNvPr id="9" name="Shape 7"/>
          <p:cNvSpPr/>
          <p:nvPr/>
        </p:nvSpPr>
        <p:spPr>
          <a:xfrm>
            <a:off x="650240" y="2519680"/>
            <a:ext cx="7152640" cy="1788160"/>
          </a:xfrm>
          <a:prstGeom prst="roundRect">
            <a:avLst>
              <a:gd name="adj" fmla="val 10909"/>
            </a:avLst>
          </a:prstGeom>
          <a:solidFill>
            <a:srgbClr val="FFFFFF"/>
          </a:solidFill>
          <a:ln/>
          <a:effectLst>
            <a:outerShdw sx="100000" sy="100000" kx="0" ky="0" algn="bl" rotWithShape="0" blurRad="76200" dist="25400" dir="8100000">
              <a:srgbClr val="000000">
                <a:alpha val="12000"/>
              </a:srgbClr>
            </a:outerShdw>
          </a:effectLst>
        </p:spPr>
      </p:sp>
      <p:sp>
        <p:nvSpPr>
          <p:cNvPr id="10" name="Shape 8"/>
          <p:cNvSpPr/>
          <p:nvPr/>
        </p:nvSpPr>
        <p:spPr>
          <a:xfrm>
            <a:off x="650240" y="2519680"/>
            <a:ext cx="97536" cy="1788160"/>
          </a:xfrm>
          <a:prstGeom prst="rect">
            <a:avLst/>
          </a:prstGeom>
          <a:solidFill>
            <a:srgbClr val="1A8A7D"/>
          </a:solidFill>
          <a:ln/>
        </p:spPr>
      </p:sp>
      <p:sp>
        <p:nvSpPr>
          <p:cNvPr id="11" name="Text 9"/>
          <p:cNvSpPr/>
          <p:nvPr/>
        </p:nvSpPr>
        <p:spPr>
          <a:xfrm>
            <a:off x="975360" y="2682240"/>
            <a:ext cx="6583680" cy="455168"/>
          </a:xfrm>
          <a:prstGeom prst="rect">
            <a:avLst/>
          </a:prstGeom>
          <a:noFill/>
          <a:ln/>
        </p:spPr>
        <p:txBody>
          <a:bodyPr wrap="square" lIns="0" tIns="0" rIns="0" bIns="0" rtlCol="0" anchor="ctr"/>
          <a:lstStyle/>
          <a:p>
            <a:pPr indent="0" marL="0">
              <a:buNone/>
            </a:pPr>
            <a:r>
              <a:rPr lang="en-US" sz="1100" b="1" spc="80" kern="0" dirty="0">
                <a:solidFill>
                  <a:srgbClr val="1A8A7D"/>
                </a:solidFill>
                <a:latin typeface="Calibri" pitchFamily="34" charset="0"/>
                <a:ea typeface="Calibri" pitchFamily="34" charset="-122"/>
                <a:cs typeface="Calibri" pitchFamily="34" charset="-120"/>
              </a:rPr>
              <a:t>PLAINS</a:t>
            </a:r>
            <a:endParaRPr lang="en-US" sz="1100" dirty="0"/>
          </a:p>
        </p:txBody>
      </p:sp>
      <p:sp>
        <p:nvSpPr>
          <p:cNvPr id="12" name="Text 10"/>
          <p:cNvSpPr/>
          <p:nvPr/>
        </p:nvSpPr>
        <p:spPr>
          <a:xfrm>
            <a:off x="975360" y="3137408"/>
            <a:ext cx="6583680" cy="1007872"/>
          </a:xfrm>
          <a:prstGeom prst="rect">
            <a:avLst/>
          </a:prstGeom>
          <a:noFill/>
          <a:ln/>
        </p:spPr>
        <p:txBody>
          <a:bodyPr wrap="square" lIns="0" tIns="0" rIns="0" bIns="0" rtlCol="0" anchor="t"/>
          <a:lstStyle/>
          <a:p>
            <a:pPr indent="0" marL="0">
              <a:lnSpc>
                <a:spcPct val="115000"/>
              </a:lnSpc>
              <a:buNone/>
            </a:pPr>
            <a:r>
              <a:rPr lang="en-US" sz="1100" dirty="0">
                <a:solidFill>
                  <a:srgbClr val="0E1C42"/>
                </a:solidFill>
                <a:latin typeface="Calibri" pitchFamily="34" charset="0"/>
                <a:ea typeface="Calibri" pitchFamily="34" charset="-122"/>
                <a:cs typeface="Calibri" pitchFamily="34" charset="-120"/>
              </a:rPr>
              <a:t>Large flat areas of land that stretch for miles. The Great Plains in North America are a famous example.</a:t>
            </a:r>
            <a:endParaRPr lang="en-US" sz="1100" dirty="0"/>
          </a:p>
        </p:txBody>
      </p:sp>
      <p:sp>
        <p:nvSpPr>
          <p:cNvPr id="13" name="Shape 11"/>
          <p:cNvSpPr/>
          <p:nvPr/>
        </p:nvSpPr>
        <p:spPr>
          <a:xfrm>
            <a:off x="650240" y="4551680"/>
            <a:ext cx="7152640" cy="1788160"/>
          </a:xfrm>
          <a:prstGeom prst="roundRect">
            <a:avLst>
              <a:gd name="adj" fmla="val 10909"/>
            </a:avLst>
          </a:prstGeom>
          <a:solidFill>
            <a:srgbClr val="FFFFFF"/>
          </a:solidFill>
          <a:ln/>
          <a:effectLst>
            <a:outerShdw sx="100000" sy="100000" kx="0" ky="0" algn="bl" rotWithShape="0" blurRad="76200" dist="25400" dir="8100000">
              <a:srgbClr val="000000">
                <a:alpha val="12000"/>
              </a:srgbClr>
            </a:outerShdw>
          </a:effectLst>
        </p:spPr>
      </p:sp>
      <p:sp>
        <p:nvSpPr>
          <p:cNvPr id="14" name="Shape 12"/>
          <p:cNvSpPr/>
          <p:nvPr/>
        </p:nvSpPr>
        <p:spPr>
          <a:xfrm>
            <a:off x="650240" y="4551680"/>
            <a:ext cx="97536" cy="1788160"/>
          </a:xfrm>
          <a:prstGeom prst="rect">
            <a:avLst/>
          </a:prstGeom>
          <a:solidFill>
            <a:srgbClr val="34B76F"/>
          </a:solidFill>
          <a:ln/>
        </p:spPr>
      </p:sp>
      <p:sp>
        <p:nvSpPr>
          <p:cNvPr id="15" name="Text 13"/>
          <p:cNvSpPr/>
          <p:nvPr/>
        </p:nvSpPr>
        <p:spPr>
          <a:xfrm>
            <a:off x="975360" y="4714240"/>
            <a:ext cx="6583680" cy="455168"/>
          </a:xfrm>
          <a:prstGeom prst="rect">
            <a:avLst/>
          </a:prstGeom>
          <a:noFill/>
          <a:ln/>
        </p:spPr>
        <p:txBody>
          <a:bodyPr wrap="square" lIns="0" tIns="0" rIns="0" bIns="0" rtlCol="0" anchor="ctr"/>
          <a:lstStyle/>
          <a:p>
            <a:pPr indent="0" marL="0">
              <a:buNone/>
            </a:pPr>
            <a:r>
              <a:rPr lang="en-US" sz="1100" b="1" spc="80" kern="0" dirty="0">
                <a:solidFill>
                  <a:srgbClr val="34B76F"/>
                </a:solidFill>
                <a:latin typeface="Calibri" pitchFamily="34" charset="0"/>
                <a:ea typeface="Calibri" pitchFamily="34" charset="-122"/>
                <a:cs typeface="Calibri" pitchFamily="34" charset="-120"/>
              </a:rPr>
              <a:t>PLATEAUS</a:t>
            </a:r>
            <a:endParaRPr lang="en-US" sz="1100" dirty="0"/>
          </a:p>
        </p:txBody>
      </p:sp>
      <p:sp>
        <p:nvSpPr>
          <p:cNvPr id="16" name="Text 14"/>
          <p:cNvSpPr/>
          <p:nvPr/>
        </p:nvSpPr>
        <p:spPr>
          <a:xfrm>
            <a:off x="975360" y="5169408"/>
            <a:ext cx="6583680" cy="1007872"/>
          </a:xfrm>
          <a:prstGeom prst="rect">
            <a:avLst/>
          </a:prstGeom>
          <a:noFill/>
          <a:ln/>
        </p:spPr>
        <p:txBody>
          <a:bodyPr wrap="square" lIns="0" tIns="0" rIns="0" bIns="0" rtlCol="0" anchor="t"/>
          <a:lstStyle/>
          <a:p>
            <a:pPr indent="0" marL="0">
              <a:lnSpc>
                <a:spcPct val="115000"/>
              </a:lnSpc>
              <a:buNone/>
            </a:pPr>
            <a:r>
              <a:rPr lang="en-US" sz="1100" dirty="0">
                <a:solidFill>
                  <a:srgbClr val="0E1C42"/>
                </a:solidFill>
                <a:latin typeface="Calibri" pitchFamily="34" charset="0"/>
                <a:ea typeface="Calibri" pitchFamily="34" charset="-122"/>
                <a:cs typeface="Calibri" pitchFamily="34" charset="-120"/>
              </a:rPr>
              <a:t>Flat areas that are high above the land around them -- like a table on top of a mountain.</a:t>
            </a:r>
            <a:endParaRPr lang="en-US" sz="1100" dirty="0"/>
          </a:p>
        </p:txBody>
      </p:sp>
      <p:sp>
        <p:nvSpPr>
          <p:cNvPr id="17" name="Shape 15"/>
          <p:cNvSpPr/>
          <p:nvPr/>
        </p:nvSpPr>
        <p:spPr>
          <a:xfrm>
            <a:off x="650240" y="6583680"/>
            <a:ext cx="7152640" cy="1625600"/>
          </a:xfrm>
          <a:prstGeom prst="roundRect">
            <a:avLst>
              <a:gd name="adj" fmla="val 12000"/>
            </a:avLst>
          </a:prstGeom>
          <a:solidFill>
            <a:srgbClr val="FFFFFF"/>
          </a:solidFill>
          <a:ln/>
          <a:effectLst>
            <a:outerShdw sx="100000" sy="100000" kx="0" ky="0" algn="bl" rotWithShape="0" blurRad="76200" dist="25400" dir="8100000">
              <a:srgbClr val="000000">
                <a:alpha val="12000"/>
              </a:srgbClr>
            </a:outerShdw>
          </a:effectLst>
        </p:spPr>
      </p:sp>
      <p:sp>
        <p:nvSpPr>
          <p:cNvPr id="18" name="Shape 16"/>
          <p:cNvSpPr/>
          <p:nvPr/>
        </p:nvSpPr>
        <p:spPr>
          <a:xfrm>
            <a:off x="650240" y="6583680"/>
            <a:ext cx="97536" cy="1625600"/>
          </a:xfrm>
          <a:prstGeom prst="rect">
            <a:avLst/>
          </a:prstGeom>
          <a:solidFill>
            <a:srgbClr val="8B6FC0"/>
          </a:solidFill>
          <a:ln/>
        </p:spPr>
      </p:sp>
      <p:sp>
        <p:nvSpPr>
          <p:cNvPr id="19" name="Text 17"/>
          <p:cNvSpPr/>
          <p:nvPr/>
        </p:nvSpPr>
        <p:spPr>
          <a:xfrm>
            <a:off x="975360" y="6746240"/>
            <a:ext cx="6583680" cy="455168"/>
          </a:xfrm>
          <a:prstGeom prst="rect">
            <a:avLst/>
          </a:prstGeom>
          <a:noFill/>
          <a:ln/>
        </p:spPr>
        <p:txBody>
          <a:bodyPr wrap="square" lIns="0" tIns="0" rIns="0" bIns="0" rtlCol="0" anchor="ctr"/>
          <a:lstStyle/>
          <a:p>
            <a:pPr indent="0" marL="0">
              <a:buNone/>
            </a:pPr>
            <a:r>
              <a:rPr lang="en-US" sz="1100" b="1" spc="80" kern="0" dirty="0">
                <a:solidFill>
                  <a:srgbClr val="8B6FC0"/>
                </a:solidFill>
                <a:latin typeface="Calibri" pitchFamily="34" charset="0"/>
                <a:ea typeface="Calibri" pitchFamily="34" charset="-122"/>
                <a:cs typeface="Calibri" pitchFamily="34" charset="-120"/>
              </a:rPr>
              <a:t>ISLANDS</a:t>
            </a:r>
            <a:endParaRPr lang="en-US" sz="1100" dirty="0"/>
          </a:p>
        </p:txBody>
      </p:sp>
      <p:sp>
        <p:nvSpPr>
          <p:cNvPr id="20" name="Text 18"/>
          <p:cNvSpPr/>
          <p:nvPr/>
        </p:nvSpPr>
        <p:spPr>
          <a:xfrm>
            <a:off x="975360" y="7201408"/>
            <a:ext cx="6583680" cy="845312"/>
          </a:xfrm>
          <a:prstGeom prst="rect">
            <a:avLst/>
          </a:prstGeom>
          <a:noFill/>
          <a:ln/>
        </p:spPr>
        <p:txBody>
          <a:bodyPr wrap="square" lIns="0" tIns="0" rIns="0" bIns="0" rtlCol="0" anchor="t"/>
          <a:lstStyle/>
          <a:p>
            <a:pPr indent="0" marL="0">
              <a:lnSpc>
                <a:spcPct val="115000"/>
              </a:lnSpc>
              <a:buNone/>
            </a:pPr>
            <a:r>
              <a:rPr lang="en-US" sz="1100" dirty="0">
                <a:solidFill>
                  <a:srgbClr val="0E1C42"/>
                </a:solidFill>
                <a:latin typeface="Calibri" pitchFamily="34" charset="0"/>
                <a:ea typeface="Calibri" pitchFamily="34" charset="-122"/>
                <a:cs typeface="Calibri" pitchFamily="34" charset="-120"/>
              </a:rPr>
              <a:t>Land surrounded by water on all sides. Hawaii is a group of islands.</a:t>
            </a:r>
            <a:endParaRPr lang="en-US" sz="1100" dirty="0"/>
          </a:p>
        </p:txBody>
      </p:sp>
      <p:sp>
        <p:nvSpPr>
          <p:cNvPr id="21" name="Shape 19"/>
          <p:cNvSpPr/>
          <p:nvPr/>
        </p:nvSpPr>
        <p:spPr>
          <a:xfrm>
            <a:off x="8290560" y="2519680"/>
            <a:ext cx="7152640" cy="5689600"/>
          </a:xfrm>
          <a:prstGeom prst="roundRect">
            <a:avLst>
              <a:gd name="adj" fmla="val 3429"/>
            </a:avLst>
          </a:prstGeom>
          <a:solidFill>
            <a:srgbClr val="E2E8F4"/>
          </a:solidFill>
          <a:ln w="19050">
            <a:solidFill>
              <a:srgbClr val="B0B8CC"/>
            </a:solidFill>
            <a:prstDash val="dash"/>
          </a:ln>
        </p:spPr>
      </p:sp>
      <p:sp>
        <p:nvSpPr>
          <p:cNvPr id="22" name="Text 20"/>
          <p:cNvSpPr/>
          <p:nvPr/>
        </p:nvSpPr>
        <p:spPr>
          <a:xfrm>
            <a:off x="8290560" y="2519680"/>
            <a:ext cx="715264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23" name="Text 21"/>
          <p:cNvSpPr/>
          <p:nvPr/>
        </p:nvSpPr>
        <p:spPr>
          <a:xfrm>
            <a:off x="8534400" y="3007360"/>
            <a:ext cx="6664960" cy="50393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Cross-section diagram showing a plain (flat, low),</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a plateau (flat on top, high up),</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and an island (land surrounded by water).</a:t>
            </a:r>
            <a:endParaRPr lang="en-US" sz="1100" dirty="0"/>
          </a:p>
        </p:txBody>
      </p:sp>
      <p:sp>
        <p:nvSpPr>
          <p:cNvPr id="24" name="Text 22"/>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7 / 20</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FFFFF"/>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DISCOVERY</a:t>
            </a:r>
            <a:endParaRPr lang="en-US" sz="800" dirty="0"/>
          </a:p>
        </p:txBody>
      </p:sp>
      <p:sp>
        <p:nvSpPr>
          <p:cNvPr id="7" name="Text 5"/>
          <p:cNvSpPr/>
          <p:nvPr/>
        </p:nvSpPr>
        <p:spPr>
          <a:xfrm>
            <a:off x="650240" y="1137920"/>
            <a:ext cx="97536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Bodies of Water</a:t>
            </a:r>
            <a:endParaRPr lang="en-US" sz="2200" dirty="0"/>
          </a:p>
        </p:txBody>
      </p:sp>
      <p:sp>
        <p:nvSpPr>
          <p:cNvPr id="8" name="Text 6"/>
          <p:cNvSpPr/>
          <p:nvPr/>
        </p:nvSpPr>
        <p:spPr>
          <a:xfrm>
            <a:off x="650240" y="1950720"/>
            <a:ext cx="1625600" cy="422656"/>
          </a:xfrm>
          <a:prstGeom prst="rect">
            <a:avLst/>
          </a:prstGeom>
          <a:noFill/>
          <a:ln/>
        </p:spPr>
        <p:txBody>
          <a:bodyPr wrap="square" lIns="0" tIns="0" rIns="0" bIns="0" rtlCol="0" anchor="ctr"/>
          <a:lstStyle/>
          <a:p>
            <a:pPr indent="0" marL="0">
              <a:buNone/>
            </a:pPr>
            <a:r>
              <a:rPr lang="en-US" sz="900" b="1" spc="120" kern="0" dirty="0">
                <a:solidFill>
                  <a:srgbClr val="55C8E8"/>
                </a:solidFill>
                <a:latin typeface="Calibri" pitchFamily="34" charset="0"/>
                <a:ea typeface="Calibri" pitchFamily="34" charset="-122"/>
                <a:cs typeface="Calibri" pitchFamily="34" charset="-120"/>
              </a:rPr>
              <a:t>COMPARE</a:t>
            </a:r>
            <a:endParaRPr lang="en-US" sz="900" dirty="0"/>
          </a:p>
        </p:txBody>
      </p:sp>
      <p:sp>
        <p:nvSpPr>
          <p:cNvPr id="9" name="Shape 7"/>
          <p:cNvSpPr/>
          <p:nvPr/>
        </p:nvSpPr>
        <p:spPr>
          <a:xfrm>
            <a:off x="650240" y="2519680"/>
            <a:ext cx="14955520" cy="1007872"/>
          </a:xfrm>
          <a:prstGeom prst="roundRect">
            <a:avLst>
              <a:gd name="adj" fmla="val 12903"/>
            </a:avLst>
          </a:prstGeom>
          <a:solidFill>
            <a:srgbClr val="EAF8FD"/>
          </a:solidFill>
          <a:ln w="6350">
            <a:solidFill>
              <a:srgbClr val="D0D8E8"/>
            </a:solidFill>
            <a:prstDash val="solid"/>
          </a:ln>
        </p:spPr>
      </p:sp>
      <p:sp>
        <p:nvSpPr>
          <p:cNvPr id="10" name="Shape 8"/>
          <p:cNvSpPr/>
          <p:nvPr/>
        </p:nvSpPr>
        <p:spPr>
          <a:xfrm>
            <a:off x="650240" y="2519680"/>
            <a:ext cx="97536" cy="1007872"/>
          </a:xfrm>
          <a:prstGeom prst="rect">
            <a:avLst/>
          </a:prstGeom>
          <a:solidFill>
            <a:srgbClr val="1A8A7D"/>
          </a:solidFill>
          <a:ln/>
        </p:spPr>
      </p:sp>
      <p:sp>
        <p:nvSpPr>
          <p:cNvPr id="11" name="Text 9"/>
          <p:cNvSpPr/>
          <p:nvPr/>
        </p:nvSpPr>
        <p:spPr>
          <a:xfrm>
            <a:off x="1056640" y="2600960"/>
            <a:ext cx="2438400" cy="845312"/>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Rivers</a:t>
            </a:r>
            <a:endParaRPr lang="en-US" sz="1200" dirty="0"/>
          </a:p>
        </p:txBody>
      </p:sp>
      <p:sp>
        <p:nvSpPr>
          <p:cNvPr id="12" name="Text 10"/>
          <p:cNvSpPr/>
          <p:nvPr/>
        </p:nvSpPr>
        <p:spPr>
          <a:xfrm>
            <a:off x="3576320" y="2600960"/>
            <a:ext cx="11704320" cy="845312"/>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Flowing water that moves from high ground to low ground. The Nile in Africa is the longest -- over 4,000 miles!</a:t>
            </a:r>
            <a:endParaRPr lang="en-US" sz="1100" dirty="0"/>
          </a:p>
        </p:txBody>
      </p:sp>
      <p:sp>
        <p:nvSpPr>
          <p:cNvPr id="13" name="Shape 11"/>
          <p:cNvSpPr/>
          <p:nvPr/>
        </p:nvSpPr>
        <p:spPr>
          <a:xfrm>
            <a:off x="650240" y="3690112"/>
            <a:ext cx="14955520" cy="1007872"/>
          </a:xfrm>
          <a:prstGeom prst="roundRect">
            <a:avLst>
              <a:gd name="adj" fmla="val 12903"/>
            </a:avLst>
          </a:prstGeom>
          <a:solidFill>
            <a:srgbClr val="FFFFFF"/>
          </a:solidFill>
          <a:ln w="6350">
            <a:solidFill>
              <a:srgbClr val="D0D8E8"/>
            </a:solidFill>
            <a:prstDash val="solid"/>
          </a:ln>
        </p:spPr>
      </p:sp>
      <p:sp>
        <p:nvSpPr>
          <p:cNvPr id="14" name="Shape 12"/>
          <p:cNvSpPr/>
          <p:nvPr/>
        </p:nvSpPr>
        <p:spPr>
          <a:xfrm>
            <a:off x="650240" y="3690112"/>
            <a:ext cx="97536" cy="1007872"/>
          </a:xfrm>
          <a:prstGeom prst="rect">
            <a:avLst/>
          </a:prstGeom>
          <a:solidFill>
            <a:srgbClr val="55C8E8"/>
          </a:solidFill>
          <a:ln/>
        </p:spPr>
      </p:sp>
      <p:sp>
        <p:nvSpPr>
          <p:cNvPr id="15" name="Text 13"/>
          <p:cNvSpPr/>
          <p:nvPr/>
        </p:nvSpPr>
        <p:spPr>
          <a:xfrm>
            <a:off x="1056640" y="3771392"/>
            <a:ext cx="2438400" cy="845312"/>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Lakes</a:t>
            </a:r>
            <a:endParaRPr lang="en-US" sz="1200" dirty="0"/>
          </a:p>
        </p:txBody>
      </p:sp>
      <p:sp>
        <p:nvSpPr>
          <p:cNvPr id="16" name="Text 14"/>
          <p:cNvSpPr/>
          <p:nvPr/>
        </p:nvSpPr>
        <p:spPr>
          <a:xfrm>
            <a:off x="3576320" y="3771392"/>
            <a:ext cx="11704320" cy="845312"/>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Water surrounded by land. Lake Baikal in Asia is the deepest lake in the world.</a:t>
            </a:r>
            <a:endParaRPr lang="en-US" sz="1100" dirty="0"/>
          </a:p>
        </p:txBody>
      </p:sp>
      <p:sp>
        <p:nvSpPr>
          <p:cNvPr id="17" name="Shape 15"/>
          <p:cNvSpPr/>
          <p:nvPr/>
        </p:nvSpPr>
        <p:spPr>
          <a:xfrm>
            <a:off x="650240" y="4860544"/>
            <a:ext cx="14955520" cy="1007872"/>
          </a:xfrm>
          <a:prstGeom prst="roundRect">
            <a:avLst>
              <a:gd name="adj" fmla="val 12903"/>
            </a:avLst>
          </a:prstGeom>
          <a:solidFill>
            <a:srgbClr val="EAF8FD"/>
          </a:solidFill>
          <a:ln w="6350">
            <a:solidFill>
              <a:srgbClr val="D0D8E8"/>
            </a:solidFill>
            <a:prstDash val="solid"/>
          </a:ln>
        </p:spPr>
      </p:sp>
      <p:sp>
        <p:nvSpPr>
          <p:cNvPr id="18" name="Shape 16"/>
          <p:cNvSpPr/>
          <p:nvPr/>
        </p:nvSpPr>
        <p:spPr>
          <a:xfrm>
            <a:off x="650240" y="4860544"/>
            <a:ext cx="97536" cy="1007872"/>
          </a:xfrm>
          <a:prstGeom prst="rect">
            <a:avLst/>
          </a:prstGeom>
          <a:solidFill>
            <a:srgbClr val="0E1C42"/>
          </a:solidFill>
          <a:ln/>
        </p:spPr>
      </p:sp>
      <p:sp>
        <p:nvSpPr>
          <p:cNvPr id="19" name="Text 17"/>
          <p:cNvSpPr/>
          <p:nvPr/>
        </p:nvSpPr>
        <p:spPr>
          <a:xfrm>
            <a:off x="1056640" y="4941824"/>
            <a:ext cx="2438400" cy="845312"/>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Oceans</a:t>
            </a:r>
            <a:endParaRPr lang="en-US" sz="1200" dirty="0"/>
          </a:p>
        </p:txBody>
      </p:sp>
      <p:sp>
        <p:nvSpPr>
          <p:cNvPr id="20" name="Text 18"/>
          <p:cNvSpPr/>
          <p:nvPr/>
        </p:nvSpPr>
        <p:spPr>
          <a:xfrm>
            <a:off x="3576320" y="4941824"/>
            <a:ext cx="11704320" cy="845312"/>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The largest bodies of salt water. (You already know these from Lesson 3.05.01!)</a:t>
            </a:r>
            <a:endParaRPr lang="en-US" sz="1100" dirty="0"/>
          </a:p>
        </p:txBody>
      </p:sp>
      <p:sp>
        <p:nvSpPr>
          <p:cNvPr id="21" name="Shape 19"/>
          <p:cNvSpPr/>
          <p:nvPr/>
        </p:nvSpPr>
        <p:spPr>
          <a:xfrm>
            <a:off x="650240" y="6030976"/>
            <a:ext cx="14955520" cy="1007872"/>
          </a:xfrm>
          <a:prstGeom prst="roundRect">
            <a:avLst>
              <a:gd name="adj" fmla="val 12903"/>
            </a:avLst>
          </a:prstGeom>
          <a:solidFill>
            <a:srgbClr val="FFFFFF"/>
          </a:solidFill>
          <a:ln w="6350">
            <a:solidFill>
              <a:srgbClr val="D0D8E8"/>
            </a:solidFill>
            <a:prstDash val="solid"/>
          </a:ln>
        </p:spPr>
      </p:sp>
      <p:sp>
        <p:nvSpPr>
          <p:cNvPr id="22" name="Shape 20"/>
          <p:cNvSpPr/>
          <p:nvPr/>
        </p:nvSpPr>
        <p:spPr>
          <a:xfrm>
            <a:off x="650240" y="6030976"/>
            <a:ext cx="97536" cy="1007872"/>
          </a:xfrm>
          <a:prstGeom prst="rect">
            <a:avLst/>
          </a:prstGeom>
          <a:solidFill>
            <a:srgbClr val="34B76F"/>
          </a:solidFill>
          <a:ln/>
        </p:spPr>
      </p:sp>
      <p:sp>
        <p:nvSpPr>
          <p:cNvPr id="23" name="Text 21"/>
          <p:cNvSpPr/>
          <p:nvPr/>
        </p:nvSpPr>
        <p:spPr>
          <a:xfrm>
            <a:off x="1056640" y="6112256"/>
            <a:ext cx="2438400" cy="845312"/>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Gulfs</a:t>
            </a:r>
            <a:endParaRPr lang="en-US" sz="1200" dirty="0"/>
          </a:p>
        </p:txBody>
      </p:sp>
      <p:sp>
        <p:nvSpPr>
          <p:cNvPr id="24" name="Text 22"/>
          <p:cNvSpPr/>
          <p:nvPr/>
        </p:nvSpPr>
        <p:spPr>
          <a:xfrm>
            <a:off x="3576320" y="6112256"/>
            <a:ext cx="11704320" cy="845312"/>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Ocean water partly surrounded by land. The Gulf of Mexico is an example.</a:t>
            </a:r>
            <a:endParaRPr lang="en-US" sz="1100" dirty="0"/>
          </a:p>
        </p:txBody>
      </p:sp>
      <p:sp>
        <p:nvSpPr>
          <p:cNvPr id="25" name="Shape 23"/>
          <p:cNvSpPr/>
          <p:nvPr/>
        </p:nvSpPr>
        <p:spPr>
          <a:xfrm>
            <a:off x="650240" y="7201408"/>
            <a:ext cx="14955520" cy="1007872"/>
          </a:xfrm>
          <a:prstGeom prst="roundRect">
            <a:avLst>
              <a:gd name="adj" fmla="val 12903"/>
            </a:avLst>
          </a:prstGeom>
          <a:solidFill>
            <a:srgbClr val="EAF8FD"/>
          </a:solidFill>
          <a:ln w="6350">
            <a:solidFill>
              <a:srgbClr val="D0D8E8"/>
            </a:solidFill>
            <a:prstDash val="solid"/>
          </a:ln>
        </p:spPr>
      </p:sp>
      <p:sp>
        <p:nvSpPr>
          <p:cNvPr id="26" name="Shape 24"/>
          <p:cNvSpPr/>
          <p:nvPr/>
        </p:nvSpPr>
        <p:spPr>
          <a:xfrm>
            <a:off x="650240" y="7201408"/>
            <a:ext cx="97536" cy="1007872"/>
          </a:xfrm>
          <a:prstGeom prst="rect">
            <a:avLst/>
          </a:prstGeom>
          <a:solidFill>
            <a:srgbClr val="8B6FC0"/>
          </a:solidFill>
          <a:ln/>
        </p:spPr>
      </p:sp>
      <p:sp>
        <p:nvSpPr>
          <p:cNvPr id="27" name="Text 25"/>
          <p:cNvSpPr/>
          <p:nvPr/>
        </p:nvSpPr>
        <p:spPr>
          <a:xfrm>
            <a:off x="1056640" y="7282688"/>
            <a:ext cx="2438400" cy="845312"/>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Bays</a:t>
            </a:r>
            <a:endParaRPr lang="en-US" sz="1200" dirty="0"/>
          </a:p>
        </p:txBody>
      </p:sp>
      <p:sp>
        <p:nvSpPr>
          <p:cNvPr id="28" name="Text 26"/>
          <p:cNvSpPr/>
          <p:nvPr/>
        </p:nvSpPr>
        <p:spPr>
          <a:xfrm>
            <a:off x="3576320" y="7282688"/>
            <a:ext cx="11704320" cy="845312"/>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Similar to gulfs but usually smaller. Think of a curve in the coastline.</a:t>
            </a:r>
            <a:endParaRPr lang="en-US" sz="1100" dirty="0"/>
          </a:p>
        </p:txBody>
      </p:sp>
      <p:sp>
        <p:nvSpPr>
          <p:cNvPr id="29" name="Text 27"/>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8 / 20</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0F2F8"/>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DISCOVERY</a:t>
            </a:r>
            <a:endParaRPr lang="en-US" sz="800" dirty="0"/>
          </a:p>
        </p:txBody>
      </p:sp>
      <p:sp>
        <p:nvSpPr>
          <p:cNvPr id="7" name="Text 5"/>
          <p:cNvSpPr/>
          <p:nvPr/>
        </p:nvSpPr>
        <p:spPr>
          <a:xfrm>
            <a:off x="650240" y="113792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Rivers vs. Lakes: The Key Difference</a:t>
            </a:r>
            <a:endParaRPr lang="en-US" sz="2200" dirty="0"/>
          </a:p>
        </p:txBody>
      </p:sp>
      <p:sp>
        <p:nvSpPr>
          <p:cNvPr id="8" name="Text 6"/>
          <p:cNvSpPr/>
          <p:nvPr/>
        </p:nvSpPr>
        <p:spPr>
          <a:xfrm>
            <a:off x="650240" y="1950720"/>
            <a:ext cx="1625600" cy="422656"/>
          </a:xfrm>
          <a:prstGeom prst="rect">
            <a:avLst/>
          </a:prstGeom>
          <a:noFill/>
          <a:ln/>
        </p:spPr>
        <p:txBody>
          <a:bodyPr wrap="square" lIns="0" tIns="0" rIns="0" bIns="0" rtlCol="0" anchor="ctr"/>
          <a:lstStyle/>
          <a:p>
            <a:pPr indent="0" marL="0">
              <a:buNone/>
            </a:pPr>
            <a:r>
              <a:rPr lang="en-US" sz="900" b="1" spc="120" kern="0" dirty="0">
                <a:solidFill>
                  <a:srgbClr val="1A8A7D"/>
                </a:solidFill>
                <a:latin typeface="Calibri" pitchFamily="34" charset="0"/>
                <a:ea typeface="Calibri" pitchFamily="34" charset="-122"/>
                <a:cs typeface="Calibri" pitchFamily="34" charset="-120"/>
              </a:rPr>
              <a:t>COMPARE</a:t>
            </a:r>
            <a:endParaRPr lang="en-US" sz="900" dirty="0"/>
          </a:p>
        </p:txBody>
      </p:sp>
      <p:sp>
        <p:nvSpPr>
          <p:cNvPr id="9" name="Shape 7"/>
          <p:cNvSpPr/>
          <p:nvPr/>
        </p:nvSpPr>
        <p:spPr>
          <a:xfrm>
            <a:off x="650240" y="2519680"/>
            <a:ext cx="6990080" cy="4064000"/>
          </a:xfrm>
          <a:prstGeom prst="roundRect">
            <a:avLst>
              <a:gd name="adj" fmla="val 4800"/>
            </a:avLst>
          </a:prstGeom>
          <a:solidFill>
            <a:srgbClr val="EAF8FD"/>
          </a:solidFill>
          <a:ln w="19050">
            <a:solidFill>
              <a:srgbClr val="55C8E8"/>
            </a:solidFill>
            <a:prstDash val="solid"/>
          </a:ln>
        </p:spPr>
      </p:sp>
      <p:sp>
        <p:nvSpPr>
          <p:cNvPr id="10" name="Text 8"/>
          <p:cNvSpPr/>
          <p:nvPr/>
        </p:nvSpPr>
        <p:spPr>
          <a:xfrm>
            <a:off x="975360" y="2600960"/>
            <a:ext cx="6339840" cy="455168"/>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RIVER</a:t>
            </a:r>
            <a:endParaRPr lang="en-US" sz="1400" dirty="0"/>
          </a:p>
        </p:txBody>
      </p:sp>
      <p:sp>
        <p:nvSpPr>
          <p:cNvPr id="11" name="Text 9"/>
          <p:cNvSpPr/>
          <p:nvPr/>
        </p:nvSpPr>
        <p:spPr>
          <a:xfrm>
            <a:off x="975360" y="3169920"/>
            <a:ext cx="6339840" cy="1950720"/>
          </a:xfrm>
          <a:prstGeom prst="rect">
            <a:avLst/>
          </a:prstGeom>
          <a:noFill/>
          <a:ln/>
        </p:spPr>
        <p:txBody>
          <a:bodyPr wrap="square" lIns="0" tIns="0" rIns="0" bIns="0" rtlCol="0" anchor="t"/>
          <a:lstStyle/>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Flowing water that moves across land</a:t>
            </a:r>
            <a:endParaRPr lang="en-US" sz="1200" dirty="0"/>
          </a:p>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Moves from higher ground to lower ground</a:t>
            </a:r>
            <a:endParaRPr lang="en-US" sz="1200" dirty="0"/>
          </a:p>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Long and narrow</a:t>
            </a:r>
            <a:endParaRPr lang="en-US" sz="1200" dirty="0"/>
          </a:p>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Example: The Nile River</a:t>
            </a:r>
            <a:endParaRPr lang="en-US" sz="1200" dirty="0"/>
          </a:p>
        </p:txBody>
      </p:sp>
      <p:sp>
        <p:nvSpPr>
          <p:cNvPr id="12" name="Shape 10"/>
          <p:cNvSpPr/>
          <p:nvPr/>
        </p:nvSpPr>
        <p:spPr>
          <a:xfrm>
            <a:off x="1625600" y="5201920"/>
            <a:ext cx="5039360" cy="1137920"/>
          </a:xfrm>
          <a:prstGeom prst="roundRect">
            <a:avLst>
              <a:gd name="adj" fmla="val 17143"/>
            </a:avLst>
          </a:prstGeom>
          <a:solidFill>
            <a:srgbClr val="E2E8F4"/>
          </a:solidFill>
          <a:ln w="19050">
            <a:solidFill>
              <a:srgbClr val="B0B8CC"/>
            </a:solidFill>
            <a:prstDash val="dash"/>
          </a:ln>
        </p:spPr>
      </p:sp>
      <p:sp>
        <p:nvSpPr>
          <p:cNvPr id="13" name="Text 11"/>
          <p:cNvSpPr/>
          <p:nvPr/>
        </p:nvSpPr>
        <p:spPr>
          <a:xfrm>
            <a:off x="1625600" y="5201920"/>
            <a:ext cx="503936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4" name="Text 12"/>
          <p:cNvSpPr/>
          <p:nvPr/>
        </p:nvSpPr>
        <p:spPr>
          <a:xfrm>
            <a:off x="1869440" y="5689600"/>
            <a:ext cx="4551680" cy="4876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Simple diagram or icon of a river</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flowing through land</a:t>
            </a:r>
            <a:endParaRPr lang="en-US" sz="1100" dirty="0"/>
          </a:p>
        </p:txBody>
      </p:sp>
      <p:sp>
        <p:nvSpPr>
          <p:cNvPr id="15" name="Shape 13"/>
          <p:cNvSpPr/>
          <p:nvPr/>
        </p:nvSpPr>
        <p:spPr>
          <a:xfrm>
            <a:off x="8453120" y="2519680"/>
            <a:ext cx="6990080" cy="4064000"/>
          </a:xfrm>
          <a:prstGeom prst="roundRect">
            <a:avLst>
              <a:gd name="adj" fmla="val 4800"/>
            </a:avLst>
          </a:prstGeom>
          <a:solidFill>
            <a:srgbClr val="E3F8ED"/>
          </a:solidFill>
          <a:ln w="19050">
            <a:solidFill>
              <a:srgbClr val="34B76F"/>
            </a:solidFill>
            <a:prstDash val="solid"/>
          </a:ln>
        </p:spPr>
      </p:sp>
      <p:sp>
        <p:nvSpPr>
          <p:cNvPr id="16" name="Text 14"/>
          <p:cNvSpPr/>
          <p:nvPr/>
        </p:nvSpPr>
        <p:spPr>
          <a:xfrm>
            <a:off x="8778240" y="2600960"/>
            <a:ext cx="6339840" cy="455168"/>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LAKE</a:t>
            </a:r>
            <a:endParaRPr lang="en-US" sz="1400" dirty="0"/>
          </a:p>
        </p:txBody>
      </p:sp>
      <p:sp>
        <p:nvSpPr>
          <p:cNvPr id="17" name="Text 15"/>
          <p:cNvSpPr/>
          <p:nvPr/>
        </p:nvSpPr>
        <p:spPr>
          <a:xfrm>
            <a:off x="8778240" y="3169920"/>
            <a:ext cx="6339840" cy="1950720"/>
          </a:xfrm>
          <a:prstGeom prst="rect">
            <a:avLst/>
          </a:prstGeom>
          <a:noFill/>
          <a:ln/>
        </p:spPr>
        <p:txBody>
          <a:bodyPr wrap="square" lIns="0" tIns="0" rIns="0" bIns="0" rtlCol="0" anchor="t"/>
          <a:lstStyle/>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Still water surrounded by land</a:t>
            </a:r>
            <a:endParaRPr lang="en-US" sz="1200" dirty="0"/>
          </a:p>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Stays in one place</a:t>
            </a:r>
            <a:endParaRPr lang="en-US" sz="1200" dirty="0"/>
          </a:p>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Rounder shape</a:t>
            </a:r>
            <a:endParaRPr lang="en-US" sz="1200" dirty="0"/>
          </a:p>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Example: Lake Baikal</a:t>
            </a:r>
            <a:endParaRPr lang="en-US" sz="1200" dirty="0"/>
          </a:p>
        </p:txBody>
      </p:sp>
      <p:sp>
        <p:nvSpPr>
          <p:cNvPr id="18" name="Shape 16"/>
          <p:cNvSpPr/>
          <p:nvPr/>
        </p:nvSpPr>
        <p:spPr>
          <a:xfrm>
            <a:off x="9428480" y="5201920"/>
            <a:ext cx="5039360" cy="1137920"/>
          </a:xfrm>
          <a:prstGeom prst="roundRect">
            <a:avLst>
              <a:gd name="adj" fmla="val 17143"/>
            </a:avLst>
          </a:prstGeom>
          <a:solidFill>
            <a:srgbClr val="E2E8F4"/>
          </a:solidFill>
          <a:ln w="19050">
            <a:solidFill>
              <a:srgbClr val="B0B8CC"/>
            </a:solidFill>
            <a:prstDash val="dash"/>
          </a:ln>
        </p:spPr>
      </p:sp>
      <p:sp>
        <p:nvSpPr>
          <p:cNvPr id="19" name="Text 17"/>
          <p:cNvSpPr/>
          <p:nvPr/>
        </p:nvSpPr>
        <p:spPr>
          <a:xfrm>
            <a:off x="9428480" y="5201920"/>
            <a:ext cx="503936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20" name="Text 18"/>
          <p:cNvSpPr/>
          <p:nvPr/>
        </p:nvSpPr>
        <p:spPr>
          <a:xfrm>
            <a:off x="9672320" y="5689600"/>
            <a:ext cx="4551680" cy="4876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Simple diagram or icon of a lake</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surrounded by land</a:t>
            </a:r>
            <a:endParaRPr lang="en-US" sz="1100" dirty="0"/>
          </a:p>
        </p:txBody>
      </p:sp>
      <p:sp>
        <p:nvSpPr>
          <p:cNvPr id="21" name="Shape 19"/>
          <p:cNvSpPr/>
          <p:nvPr/>
        </p:nvSpPr>
        <p:spPr>
          <a:xfrm>
            <a:off x="650240" y="6908800"/>
            <a:ext cx="14955520" cy="1381760"/>
          </a:xfrm>
          <a:prstGeom prst="roundRect">
            <a:avLst>
              <a:gd name="adj" fmla="val 11765"/>
            </a:avLst>
          </a:prstGeom>
          <a:solidFill>
            <a:srgbClr val="D4943A">
              <a:alpha val="15000"/>
            </a:srgbClr>
          </a:solidFill>
          <a:ln w="12700">
            <a:solidFill>
              <a:srgbClr val="D4943A"/>
            </a:solidFill>
            <a:prstDash val="solid"/>
          </a:ln>
        </p:spPr>
      </p:sp>
      <p:sp>
        <p:nvSpPr>
          <p:cNvPr id="22" name="Text 20"/>
          <p:cNvSpPr/>
          <p:nvPr/>
        </p:nvSpPr>
        <p:spPr>
          <a:xfrm>
            <a:off x="975360" y="6990080"/>
            <a:ext cx="1430528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ASSIGNMENT CONNECTION</a:t>
            </a:r>
            <a:endParaRPr lang="en-US" sz="900" dirty="0"/>
          </a:p>
        </p:txBody>
      </p:sp>
      <p:sp>
        <p:nvSpPr>
          <p:cNvPr id="23" name="Text 21"/>
          <p:cNvSpPr/>
          <p:nvPr/>
        </p:nvSpPr>
        <p:spPr>
          <a:xfrm>
            <a:off x="975360" y="7396480"/>
            <a:ext cx="14305280" cy="731520"/>
          </a:xfrm>
          <a:prstGeom prst="rect">
            <a:avLst/>
          </a:prstGeom>
          <a:noFill/>
          <a:ln/>
        </p:spPr>
        <p:txBody>
          <a:bodyPr wrap="square" lIns="0" tIns="0" rIns="0" bIns="0" rtlCol="0" anchor="ctr"/>
          <a:lstStyle/>
          <a:p>
            <a:pPr indent="0" marL="0">
              <a:buNone/>
            </a:pPr>
            <a:r>
              <a:rPr lang="en-US" sz="1100" i="1" dirty="0">
                <a:solidFill>
                  <a:srgbClr val="0E1C42"/>
                </a:solidFill>
                <a:latin typeface="Calibri" pitchFamily="34" charset="0"/>
                <a:ea typeface="Calibri" pitchFamily="34" charset="-122"/>
                <a:cs typeface="Calibri" pitchFamily="34" charset="-120"/>
              </a:rPr>
              <a:t>Evidence Q2: What is the difference between a river and a lake? Use what you learned to explain. (The key: Does the water move or stay in one place?)</a:t>
            </a:r>
            <a:endParaRPr lang="en-US" sz="1100" dirty="0"/>
          </a:p>
        </p:txBody>
      </p:sp>
      <p:sp>
        <p:nvSpPr>
          <p:cNvPr id="24" name="Text 22"/>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9 / 20</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FFFFF"/>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DISCUSSION</a:t>
            </a:r>
            <a:endParaRPr lang="en-US" sz="800" dirty="0"/>
          </a:p>
        </p:txBody>
      </p:sp>
      <p:sp>
        <p:nvSpPr>
          <p:cNvPr id="7" name="Text 5"/>
          <p:cNvSpPr/>
          <p:nvPr/>
        </p:nvSpPr>
        <p:spPr>
          <a:xfrm>
            <a:off x="650240" y="113792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Why Features Add Meaningful Detail</a:t>
            </a:r>
            <a:endParaRPr lang="en-US" sz="2200" dirty="0"/>
          </a:p>
        </p:txBody>
      </p:sp>
      <p:sp>
        <p:nvSpPr>
          <p:cNvPr id="8" name="Shape 6"/>
          <p:cNvSpPr/>
          <p:nvPr/>
        </p:nvSpPr>
        <p:spPr>
          <a:xfrm>
            <a:off x="650240" y="2113280"/>
            <a:ext cx="7315200" cy="3251200"/>
          </a:xfrm>
          <a:prstGeom prst="roundRect">
            <a:avLst>
              <a:gd name="adj" fmla="val 7500"/>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975360" y="2275840"/>
            <a:ext cx="66649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975360" y="2731008"/>
            <a:ext cx="6664960" cy="247091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this map show, and what choice or pattern does it help us explain?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A mountain card near Asia helps visitors picture the Himalayas. What does a river card across South America help them imagine?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is it not enough to just label the continents?</a:t>
            </a:r>
            <a:endParaRPr lang="en-US" sz="1100" dirty="0"/>
          </a:p>
        </p:txBody>
      </p:sp>
      <p:sp>
        <p:nvSpPr>
          <p:cNvPr id="11" name="Shape 9"/>
          <p:cNvSpPr/>
          <p:nvPr/>
        </p:nvSpPr>
        <p:spPr>
          <a:xfrm>
            <a:off x="8453120" y="2113280"/>
            <a:ext cx="6990080" cy="3251200"/>
          </a:xfrm>
          <a:prstGeom prst="roundRect">
            <a:avLst>
              <a:gd name="adj" fmla="val 6000"/>
            </a:avLst>
          </a:prstGeom>
          <a:solidFill>
            <a:srgbClr val="E3F8ED"/>
          </a:solidFill>
          <a:ln w="12700">
            <a:solidFill>
              <a:srgbClr val="34B76F"/>
            </a:solidFill>
            <a:prstDash val="solid"/>
          </a:ln>
        </p:spPr>
      </p:sp>
      <p:sp>
        <p:nvSpPr>
          <p:cNvPr id="12" name="Text 10"/>
          <p:cNvSpPr/>
          <p:nvPr/>
        </p:nvSpPr>
        <p:spPr>
          <a:xfrm>
            <a:off x="8778240" y="2194560"/>
            <a:ext cx="6339840" cy="357632"/>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KEY IDEA</a:t>
            </a:r>
            <a:endParaRPr lang="en-US" sz="900" dirty="0"/>
          </a:p>
        </p:txBody>
      </p:sp>
      <p:sp>
        <p:nvSpPr>
          <p:cNvPr id="13" name="Text 11"/>
          <p:cNvSpPr/>
          <p:nvPr/>
        </p:nvSpPr>
        <p:spPr>
          <a:xfrm>
            <a:off x="8778240" y="2682240"/>
            <a:ext cx="6339840" cy="2438400"/>
          </a:xfrm>
          <a:prstGeom prst="rect">
            <a:avLst/>
          </a:prstGeom>
          <a:noFill/>
          <a:ln/>
        </p:spPr>
        <p:txBody>
          <a:bodyPr wrap="square" lIns="0" tIns="0" rIns="0" bIns="0" rtlCol="0" anchor="t"/>
          <a:lstStyle/>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Landforms are natural shapes of the land, like mountains, plains, and valleys. Bodies of water include rivers, lakes, and gulfs. Adding these features to the world map helps visitors understand what places actually look like.</a:t>
            </a:r>
            <a:endParaRPr lang="en-US" sz="1200" dirty="0"/>
          </a:p>
        </p:txBody>
      </p:sp>
      <p:sp>
        <p:nvSpPr>
          <p:cNvPr id="14" name="Shape 12"/>
          <p:cNvSpPr/>
          <p:nvPr/>
        </p:nvSpPr>
        <p:spPr>
          <a:xfrm>
            <a:off x="650240" y="5689600"/>
            <a:ext cx="14955520" cy="2438400"/>
          </a:xfrm>
          <a:prstGeom prst="roundRect">
            <a:avLst>
              <a:gd name="adj" fmla="val 8000"/>
            </a:avLst>
          </a:prstGeom>
          <a:solidFill>
            <a:srgbClr val="FFF3DC"/>
          </a:solidFill>
          <a:ln/>
        </p:spPr>
      </p:sp>
      <p:sp>
        <p:nvSpPr>
          <p:cNvPr id="15" name="Text 13"/>
          <p:cNvSpPr/>
          <p:nvPr/>
        </p:nvSpPr>
        <p:spPr>
          <a:xfrm>
            <a:off x="975360" y="5770880"/>
            <a:ext cx="1430528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THEN AND NOW</a:t>
            </a:r>
            <a:endParaRPr lang="en-US" sz="900" dirty="0"/>
          </a:p>
        </p:txBody>
      </p:sp>
      <p:sp>
        <p:nvSpPr>
          <p:cNvPr id="16" name="Text 14"/>
          <p:cNvSpPr/>
          <p:nvPr/>
        </p:nvSpPr>
        <p:spPr>
          <a:xfrm>
            <a:off x="975360" y="6258560"/>
            <a:ext cx="14305280" cy="1625600"/>
          </a:xfrm>
          <a:prstGeom prst="rect">
            <a:avLst/>
          </a:prstGeom>
          <a:noFill/>
          <a:ln/>
        </p:spPr>
        <p:txBody>
          <a:bodyPr wrap="square" lIns="0" tIns="0" rIns="0" bIns="0" rtlCol="0" anchor="t"/>
          <a:lstStyle/>
          <a:p>
            <a:pPr indent="0" marL="0">
              <a:lnSpc>
                <a:spcPct val="115000"/>
              </a:lnSpc>
              <a:buNone/>
            </a:pPr>
            <a:r>
              <a:rPr lang="en-US" sz="1100" dirty="0">
                <a:solidFill>
                  <a:srgbClr val="0E1C42"/>
                </a:solidFill>
                <a:latin typeface="Calibri" pitchFamily="34" charset="0"/>
                <a:ea typeface="Calibri" pitchFamily="34" charset="-122"/>
                <a:cs typeface="Calibri" pitchFamily="34" charset="-120"/>
              </a:rPr>
              <a:t>Long ago, travelers described landforms to each other using words and simple drawings. Today, satellites take pictures of mountains, rivers, and plains from space.</a:t>
            </a:r>
            <a:endParaRPr lang="en-US" sz="1100" dirty="0"/>
          </a:p>
          <a:p>
            <a:pPr indent="0" marL="0">
              <a:lnSpc>
                <a:spcPct val="115000"/>
              </a:lnSpc>
              <a:buNone/>
            </a:pPr>
            <a:endParaRPr lang="en-US" sz="1100" dirty="0"/>
          </a:p>
          <a:p>
            <a:pPr indent="0" marL="0">
              <a:lnSpc>
                <a:spcPct val="115000"/>
              </a:lnSpc>
              <a:buNone/>
            </a:pPr>
            <a:r>
              <a:rPr lang="en-US" sz="1100" dirty="0">
                <a:solidFill>
                  <a:srgbClr val="0E1C42"/>
                </a:solidFill>
                <a:latin typeface="Calibri" pitchFamily="34" charset="0"/>
                <a:ea typeface="Calibri" pitchFamily="34" charset="-122"/>
                <a:cs typeface="Calibri" pitchFamily="34" charset="-120"/>
              </a:rPr>
              <a:t>What stayed the same about the need to describe what the land looks like?</a:t>
            </a:r>
            <a:endParaRPr lang="en-US" sz="1100" dirty="0"/>
          </a:p>
        </p:txBody>
      </p:sp>
      <p:sp>
        <p:nvSpPr>
          <p:cNvPr id="17" name="Text 15"/>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10 / 20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0F2F8"/>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SOURCE STUDY</a:t>
            </a:r>
            <a:endParaRPr lang="en-US" sz="800" dirty="0"/>
          </a:p>
        </p:txBody>
      </p:sp>
      <p:sp>
        <p:nvSpPr>
          <p:cNvPr id="7" name="Text 5"/>
          <p:cNvSpPr/>
          <p:nvPr/>
        </p:nvSpPr>
        <p:spPr>
          <a:xfrm>
            <a:off x="650240" y="1137920"/>
            <a:ext cx="97536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Question Like a Geographer</a:t>
            </a:r>
            <a:endParaRPr lang="en-US" sz="2200" dirty="0"/>
          </a:p>
        </p:txBody>
      </p:sp>
      <p:sp>
        <p:nvSpPr>
          <p:cNvPr id="8" name="Shape 6"/>
          <p:cNvSpPr/>
          <p:nvPr/>
        </p:nvSpPr>
        <p:spPr>
          <a:xfrm>
            <a:off x="650240" y="2113280"/>
            <a:ext cx="7315200" cy="5364480"/>
          </a:xfrm>
          <a:prstGeom prst="roundRect">
            <a:avLst>
              <a:gd name="adj" fmla="val 3636"/>
            </a:avLst>
          </a:prstGeom>
          <a:solidFill>
            <a:srgbClr val="E2E8F4"/>
          </a:solidFill>
          <a:ln w="19050">
            <a:solidFill>
              <a:srgbClr val="B0B8CC"/>
            </a:solidFill>
            <a:prstDash val="dash"/>
          </a:ln>
        </p:spPr>
      </p:sp>
      <p:sp>
        <p:nvSpPr>
          <p:cNvPr id="9" name="Text 7"/>
          <p:cNvSpPr/>
          <p:nvPr/>
        </p:nvSpPr>
        <p:spPr>
          <a:xfrm>
            <a:off x="650240" y="2113280"/>
            <a:ext cx="731520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894080" y="2600960"/>
            <a:ext cx="6827520" cy="47142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real photograph of a dramatic landform --</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mountain range, river through valley, or wide plain.</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Save as: source-3-05-02-landform-photo.jpg</a:t>
            </a:r>
            <a:endParaRPr lang="en-US" sz="1100" dirty="0"/>
          </a:p>
        </p:txBody>
      </p:sp>
      <p:sp>
        <p:nvSpPr>
          <p:cNvPr id="11" name="Shape 9"/>
          <p:cNvSpPr/>
          <p:nvPr/>
        </p:nvSpPr>
        <p:spPr>
          <a:xfrm>
            <a:off x="8453120" y="2113280"/>
            <a:ext cx="6990080" cy="5364480"/>
          </a:xfrm>
          <a:prstGeom prst="roundRect">
            <a:avLst>
              <a:gd name="adj" fmla="val 3636"/>
            </a:avLst>
          </a:prstGeom>
          <a:solidFill>
            <a:srgbClr val="FFFFFF"/>
          </a:solidFill>
          <a:ln w="12700">
            <a:solidFill>
              <a:srgbClr val="1A8A7D"/>
            </a:solidFill>
            <a:prstDash val="solid"/>
          </a:ln>
        </p:spPr>
      </p:sp>
      <p:sp>
        <p:nvSpPr>
          <p:cNvPr id="12" name="Text 10"/>
          <p:cNvSpPr/>
          <p:nvPr/>
        </p:nvSpPr>
        <p:spPr>
          <a:xfrm>
            <a:off x="8778240" y="2194560"/>
            <a:ext cx="6339840" cy="3576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ANALYZE THIS PHOTOGRAPH</a:t>
            </a:r>
            <a:endParaRPr lang="en-US" sz="900" dirty="0"/>
          </a:p>
        </p:txBody>
      </p:sp>
      <p:sp>
        <p:nvSpPr>
          <p:cNvPr id="13" name="Text 11"/>
          <p:cNvSpPr/>
          <p:nvPr/>
        </p:nvSpPr>
        <p:spPr>
          <a:xfrm>
            <a:off x="8778240" y="2763520"/>
            <a:ext cx="6339840" cy="406400"/>
          </a:xfrm>
          <a:prstGeom prst="rect">
            <a:avLst/>
          </a:prstGeom>
          <a:noFill/>
          <a:ln/>
        </p:spPr>
        <p:txBody>
          <a:bodyPr wrap="square" lIns="0" tIns="0" rIns="0" bIns="0" rtlCol="0" anchor="ctr"/>
          <a:lstStyle/>
          <a:p>
            <a:pPr indent="0" marL="0">
              <a:buNone/>
            </a:pPr>
            <a:r>
              <a:rPr lang="en-US" sz="1100" b="1" dirty="0">
                <a:solidFill>
                  <a:srgbClr val="1A8A7D"/>
                </a:solidFill>
                <a:latin typeface="Calibri" pitchFamily="34" charset="0"/>
                <a:ea typeface="Calibri" pitchFamily="34" charset="-122"/>
                <a:cs typeface="Calibri" pitchFamily="34" charset="-120"/>
              </a:rPr>
              <a:t>What do I see?</a:t>
            </a:r>
            <a:endParaRPr lang="en-US" sz="1100" dirty="0"/>
          </a:p>
        </p:txBody>
      </p:sp>
      <p:sp>
        <p:nvSpPr>
          <p:cNvPr id="14" name="Text 12"/>
          <p:cNvSpPr/>
          <p:nvPr/>
        </p:nvSpPr>
        <p:spPr>
          <a:xfrm>
            <a:off x="8778240" y="3169920"/>
            <a:ext cx="6339840" cy="812800"/>
          </a:xfrm>
          <a:prstGeom prst="rect">
            <a:avLst/>
          </a:prstGeom>
          <a:noFill/>
          <a:ln/>
        </p:spPr>
        <p:txBody>
          <a:bodyPr wrap="square" lIns="0" tIns="0" rIns="0" bIns="0" rtlCol="0" anchor="ctr"/>
          <a:lstStyle/>
          <a:p>
            <a:pPr indent="0" marL="0">
              <a:lnSpc>
                <a:spcPct val="115000"/>
              </a:lnSpc>
              <a:buNone/>
            </a:pPr>
            <a:r>
              <a:rPr lang="en-US" sz="1000" dirty="0">
                <a:solidFill>
                  <a:srgbClr val="0E1C42"/>
                </a:solidFill>
                <a:latin typeface="Calibri" pitchFamily="34" charset="0"/>
                <a:ea typeface="Calibri" pitchFamily="34" charset="-122"/>
                <a:cs typeface="Calibri" pitchFamily="34" charset="-120"/>
              </a:rPr>
              <a:t>Look carefully. What kind of landform is in this photo? What features stand out -- height, shape, water?</a:t>
            </a:r>
            <a:endParaRPr lang="en-US" sz="1000" dirty="0"/>
          </a:p>
        </p:txBody>
      </p:sp>
      <p:sp>
        <p:nvSpPr>
          <p:cNvPr id="15" name="Text 13"/>
          <p:cNvSpPr/>
          <p:nvPr/>
        </p:nvSpPr>
        <p:spPr>
          <a:xfrm>
            <a:off x="8778240" y="4064000"/>
            <a:ext cx="6339840" cy="406400"/>
          </a:xfrm>
          <a:prstGeom prst="rect">
            <a:avLst/>
          </a:prstGeom>
          <a:noFill/>
          <a:ln/>
        </p:spPr>
        <p:txBody>
          <a:bodyPr wrap="square" lIns="0" tIns="0" rIns="0" bIns="0" rtlCol="0" anchor="ctr"/>
          <a:lstStyle/>
          <a:p>
            <a:pPr indent="0" marL="0">
              <a:buNone/>
            </a:pPr>
            <a:r>
              <a:rPr lang="en-US" sz="1100" b="1" dirty="0">
                <a:solidFill>
                  <a:srgbClr val="1A8A7D"/>
                </a:solidFill>
                <a:latin typeface="Calibri" pitchFamily="34" charset="0"/>
                <a:ea typeface="Calibri" pitchFamily="34" charset="-122"/>
                <a:cs typeface="Calibri" pitchFamily="34" charset="-120"/>
              </a:rPr>
              <a:t>What does it mean?</a:t>
            </a:r>
            <a:endParaRPr lang="en-US" sz="1100" dirty="0"/>
          </a:p>
        </p:txBody>
      </p:sp>
      <p:sp>
        <p:nvSpPr>
          <p:cNvPr id="16" name="Text 14"/>
          <p:cNvSpPr/>
          <p:nvPr/>
        </p:nvSpPr>
        <p:spPr>
          <a:xfrm>
            <a:off x="8778240" y="4470400"/>
            <a:ext cx="6339840" cy="812800"/>
          </a:xfrm>
          <a:prstGeom prst="rect">
            <a:avLst/>
          </a:prstGeom>
          <a:noFill/>
          <a:ln/>
        </p:spPr>
        <p:txBody>
          <a:bodyPr wrap="square" lIns="0" tIns="0" rIns="0" bIns="0" rtlCol="0" anchor="ctr"/>
          <a:lstStyle/>
          <a:p>
            <a:pPr indent="0" marL="0">
              <a:lnSpc>
                <a:spcPct val="115000"/>
              </a:lnSpc>
              <a:buNone/>
            </a:pPr>
            <a:r>
              <a:rPr lang="en-US" sz="1000" dirty="0">
                <a:solidFill>
                  <a:srgbClr val="0E1C42"/>
                </a:solidFill>
                <a:latin typeface="Calibri" pitchFamily="34" charset="0"/>
                <a:ea typeface="Calibri" pitchFamily="34" charset="-122"/>
                <a:cs typeface="Calibri" pitchFamily="34" charset="-120"/>
              </a:rPr>
              <a:t>Why does this landform look the way it does? What would it feel like to stand there?</a:t>
            </a:r>
            <a:endParaRPr lang="en-US" sz="1000" dirty="0"/>
          </a:p>
        </p:txBody>
      </p:sp>
      <p:sp>
        <p:nvSpPr>
          <p:cNvPr id="17" name="Text 15"/>
          <p:cNvSpPr/>
          <p:nvPr/>
        </p:nvSpPr>
        <p:spPr>
          <a:xfrm>
            <a:off x="8778240" y="5364480"/>
            <a:ext cx="6339840" cy="406400"/>
          </a:xfrm>
          <a:prstGeom prst="rect">
            <a:avLst/>
          </a:prstGeom>
          <a:noFill/>
          <a:ln/>
        </p:spPr>
        <p:txBody>
          <a:bodyPr wrap="square" lIns="0" tIns="0" rIns="0" bIns="0" rtlCol="0" anchor="ctr"/>
          <a:lstStyle/>
          <a:p>
            <a:pPr indent="0" marL="0">
              <a:buNone/>
            </a:pPr>
            <a:r>
              <a:rPr lang="en-US" sz="1100" b="1" dirty="0">
                <a:solidFill>
                  <a:srgbClr val="1A8A7D"/>
                </a:solidFill>
                <a:latin typeface="Calibri" pitchFamily="34" charset="0"/>
                <a:ea typeface="Calibri" pitchFamily="34" charset="-122"/>
                <a:cs typeface="Calibri" pitchFamily="34" charset="-120"/>
              </a:rPr>
              <a:t>Why does it matter?</a:t>
            </a:r>
            <a:endParaRPr lang="en-US" sz="1100" dirty="0"/>
          </a:p>
        </p:txBody>
      </p:sp>
      <p:sp>
        <p:nvSpPr>
          <p:cNvPr id="18" name="Text 16"/>
          <p:cNvSpPr/>
          <p:nvPr/>
        </p:nvSpPr>
        <p:spPr>
          <a:xfrm>
            <a:off x="8778240" y="5770880"/>
            <a:ext cx="6339840" cy="812800"/>
          </a:xfrm>
          <a:prstGeom prst="rect">
            <a:avLst/>
          </a:prstGeom>
          <a:noFill/>
          <a:ln/>
        </p:spPr>
        <p:txBody>
          <a:bodyPr wrap="square" lIns="0" tIns="0" rIns="0" bIns="0" rtlCol="0" anchor="ctr"/>
          <a:lstStyle/>
          <a:p>
            <a:pPr indent="0" marL="0">
              <a:lnSpc>
                <a:spcPct val="115000"/>
              </a:lnSpc>
              <a:buNone/>
            </a:pPr>
            <a:r>
              <a:rPr lang="en-US" sz="1000" dirty="0">
                <a:solidFill>
                  <a:srgbClr val="0E1C42"/>
                </a:solidFill>
                <a:latin typeface="Calibri" pitchFamily="34" charset="0"/>
                <a:ea typeface="Calibri" pitchFamily="34" charset="-122"/>
                <a:cs typeface="Calibri" pitchFamily="34" charset="-120"/>
              </a:rPr>
              <a:t>How would this landform shape the way people live, travel, or use the land around it?</a:t>
            </a:r>
            <a:endParaRPr lang="en-US" sz="1000" dirty="0"/>
          </a:p>
        </p:txBody>
      </p:sp>
      <p:sp>
        <p:nvSpPr>
          <p:cNvPr id="19" name="Text 17"/>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11 / 20</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FFFFF"/>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WHY IT MATTERS</a:t>
            </a:r>
            <a:endParaRPr lang="en-US" sz="800" dirty="0"/>
          </a:p>
        </p:txBody>
      </p:sp>
      <p:sp>
        <p:nvSpPr>
          <p:cNvPr id="7" name="Text 5"/>
          <p:cNvSpPr/>
          <p:nvPr/>
        </p:nvSpPr>
        <p:spPr>
          <a:xfrm>
            <a:off x="650240" y="113792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Features Show What Places Look Like</a:t>
            </a:r>
            <a:endParaRPr lang="en-US" sz="2200" dirty="0"/>
          </a:p>
        </p:txBody>
      </p:sp>
      <p:sp>
        <p:nvSpPr>
          <p:cNvPr id="8" name="Text 6"/>
          <p:cNvSpPr/>
          <p:nvPr/>
        </p:nvSpPr>
        <p:spPr>
          <a:xfrm>
            <a:off x="650240" y="1950720"/>
            <a:ext cx="1463040" cy="422656"/>
          </a:xfrm>
          <a:prstGeom prst="rect">
            <a:avLst/>
          </a:prstGeom>
          <a:noFill/>
          <a:ln/>
        </p:spPr>
        <p:txBody>
          <a:bodyPr wrap="square" lIns="0" tIns="0" rIns="0" bIns="0" rtlCol="0" anchor="ctr"/>
          <a:lstStyle/>
          <a:p>
            <a:pPr indent="0" marL="0">
              <a:buNone/>
            </a:pPr>
            <a:r>
              <a:rPr lang="en-US" sz="900" b="1" spc="120" kern="0" dirty="0">
                <a:solidFill>
                  <a:srgbClr val="1A8A7D"/>
                </a:solidFill>
                <a:latin typeface="Calibri" pitchFamily="34" charset="0"/>
                <a:ea typeface="Calibri" pitchFamily="34" charset="-122"/>
                <a:cs typeface="Calibri" pitchFamily="34" charset="-120"/>
              </a:rPr>
              <a:t>EXPLAIN</a:t>
            </a:r>
            <a:endParaRPr lang="en-US" sz="900" dirty="0"/>
          </a:p>
        </p:txBody>
      </p:sp>
      <p:sp>
        <p:nvSpPr>
          <p:cNvPr id="9" name="Shape 7"/>
          <p:cNvSpPr/>
          <p:nvPr/>
        </p:nvSpPr>
        <p:spPr>
          <a:xfrm>
            <a:off x="650240" y="2519680"/>
            <a:ext cx="7152640" cy="2275840"/>
          </a:xfrm>
          <a:prstGeom prst="roundRect">
            <a:avLst>
              <a:gd name="adj" fmla="val 8571"/>
            </a:avLst>
          </a:prstGeom>
          <a:solidFill>
            <a:srgbClr val="EAF8FD"/>
          </a:solidFill>
          <a:ln/>
        </p:spPr>
      </p:sp>
      <p:sp>
        <p:nvSpPr>
          <p:cNvPr id="10" name="Text 8"/>
          <p:cNvSpPr/>
          <p:nvPr/>
        </p:nvSpPr>
        <p:spPr>
          <a:xfrm>
            <a:off x="975360" y="2600960"/>
            <a:ext cx="6502400" cy="357632"/>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WITHOUT FEATURE CARDS</a:t>
            </a:r>
            <a:endParaRPr lang="en-US" sz="900" dirty="0"/>
          </a:p>
        </p:txBody>
      </p:sp>
      <p:sp>
        <p:nvSpPr>
          <p:cNvPr id="11" name="Text 9"/>
          <p:cNvSpPr/>
          <p:nvPr/>
        </p:nvSpPr>
        <p:spPr>
          <a:xfrm>
            <a:off x="975360" y="3088640"/>
            <a:ext cx="6502400" cy="1463040"/>
          </a:xfrm>
          <a:prstGeom prst="rect">
            <a:avLst/>
          </a:prstGeom>
          <a:noFill/>
          <a:ln/>
        </p:spPr>
        <p:txBody>
          <a:bodyPr wrap="square" lIns="0" tIns="0" rIns="0" bIns="0" rtlCol="0" anchor="t"/>
          <a:lstStyle/>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Visitors see continent names but can't picture what any place looks like. Asia is just a shape. South America is just an outline.</a:t>
            </a:r>
            <a:endParaRPr lang="en-US" sz="1100" dirty="0"/>
          </a:p>
        </p:txBody>
      </p:sp>
      <p:sp>
        <p:nvSpPr>
          <p:cNvPr id="12" name="Shape 10"/>
          <p:cNvSpPr/>
          <p:nvPr/>
        </p:nvSpPr>
        <p:spPr>
          <a:xfrm>
            <a:off x="8453120" y="2519680"/>
            <a:ext cx="7152640" cy="2275840"/>
          </a:xfrm>
          <a:prstGeom prst="roundRect">
            <a:avLst>
              <a:gd name="adj" fmla="val 8571"/>
            </a:avLst>
          </a:prstGeom>
          <a:solidFill>
            <a:srgbClr val="E3F8ED"/>
          </a:solidFill>
          <a:ln/>
        </p:spPr>
      </p:sp>
      <p:sp>
        <p:nvSpPr>
          <p:cNvPr id="13" name="Text 11"/>
          <p:cNvSpPr/>
          <p:nvPr/>
        </p:nvSpPr>
        <p:spPr>
          <a:xfrm>
            <a:off x="8778240" y="2600960"/>
            <a:ext cx="6502400" cy="357632"/>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WITH FEATURE CARDS</a:t>
            </a:r>
            <a:endParaRPr lang="en-US" sz="900" dirty="0"/>
          </a:p>
        </p:txBody>
      </p:sp>
      <p:sp>
        <p:nvSpPr>
          <p:cNvPr id="14" name="Text 12"/>
          <p:cNvSpPr/>
          <p:nvPr/>
        </p:nvSpPr>
        <p:spPr>
          <a:xfrm>
            <a:off x="8778240" y="3088640"/>
            <a:ext cx="6502400" cy="1463040"/>
          </a:xfrm>
          <a:prstGeom prst="rect">
            <a:avLst/>
          </a:prstGeom>
          <a:noFill/>
          <a:ln/>
        </p:spPr>
        <p:txBody>
          <a:bodyPr wrap="square" lIns="0" tIns="0" rIns="0" bIns="0" rtlCol="0" anchor="t"/>
          <a:lstStyle/>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A mountain card near Asia helps visitors picture the Himalayas. A river card across South America helps them imagine the Amazon flowing through the rainforest.</a:t>
            </a:r>
            <a:endParaRPr lang="en-US" sz="1100" dirty="0"/>
          </a:p>
        </p:txBody>
      </p:sp>
      <p:sp>
        <p:nvSpPr>
          <p:cNvPr id="15" name="Shape 13"/>
          <p:cNvSpPr/>
          <p:nvPr/>
        </p:nvSpPr>
        <p:spPr>
          <a:xfrm>
            <a:off x="650240" y="5201920"/>
            <a:ext cx="14955520" cy="975360"/>
          </a:xfrm>
          <a:prstGeom prst="roundRect">
            <a:avLst>
              <a:gd name="adj" fmla="val 16667"/>
            </a:avLst>
          </a:prstGeom>
          <a:solidFill>
            <a:srgbClr val="EAF8FD"/>
          </a:solidFill>
          <a:ln/>
        </p:spPr>
      </p:sp>
      <p:sp>
        <p:nvSpPr>
          <p:cNvPr id="16" name="Text 14"/>
          <p:cNvSpPr/>
          <p:nvPr/>
        </p:nvSpPr>
        <p:spPr>
          <a:xfrm>
            <a:off x="975360" y="5283200"/>
            <a:ext cx="14305280" cy="812800"/>
          </a:xfrm>
          <a:prstGeom prst="rect">
            <a:avLst/>
          </a:prstGeom>
          <a:noFill/>
          <a:ln/>
        </p:spPr>
        <p:txBody>
          <a:bodyPr wrap="square" lIns="0" tIns="0" rIns="0" bIns="0" rtlCol="0" anchor="ctr"/>
          <a:lstStyle/>
          <a:p>
            <a:pPr indent="0" marL="0">
              <a:buNone/>
            </a:pPr>
            <a:r>
              <a:rPr lang="en-US" sz="1000" i="1" dirty="0">
                <a:solidFill>
                  <a:srgbClr val="1A8A7D"/>
                </a:solidFill>
                <a:latin typeface="Calibri" pitchFamily="34" charset="0"/>
                <a:ea typeface="Calibri" pitchFamily="34" charset="-122"/>
                <a:cs typeface="Calibri" pitchFamily="34" charset="-120"/>
              </a:rPr>
              <a:t>Did you know the deepest lake in the world is Lake Baikal in Asia? It's so deep that if you stacked five Eiffel Towers on top of each other, they'd still be underwater!</a:t>
            </a:r>
            <a:endParaRPr lang="en-US" sz="1000" dirty="0"/>
          </a:p>
        </p:txBody>
      </p:sp>
      <p:sp>
        <p:nvSpPr>
          <p:cNvPr id="17" name="Shape 15"/>
          <p:cNvSpPr/>
          <p:nvPr/>
        </p:nvSpPr>
        <p:spPr>
          <a:xfrm>
            <a:off x="650240" y="6502400"/>
            <a:ext cx="14955520" cy="975360"/>
          </a:xfrm>
          <a:prstGeom prst="roundRect">
            <a:avLst>
              <a:gd name="adj" fmla="val 16667"/>
            </a:avLst>
          </a:prstGeom>
          <a:solidFill>
            <a:srgbClr val="EAF8FD"/>
          </a:solidFill>
          <a:ln/>
        </p:spPr>
      </p:sp>
      <p:sp>
        <p:nvSpPr>
          <p:cNvPr id="18" name="Text 16"/>
          <p:cNvSpPr/>
          <p:nvPr/>
        </p:nvSpPr>
        <p:spPr>
          <a:xfrm>
            <a:off x="975360" y="6583680"/>
            <a:ext cx="14305280" cy="812800"/>
          </a:xfrm>
          <a:prstGeom prst="rect">
            <a:avLst/>
          </a:prstGeom>
          <a:noFill/>
          <a:ln/>
        </p:spPr>
        <p:txBody>
          <a:bodyPr wrap="square" lIns="0" tIns="0" rIns="0" bIns="0" rtlCol="0" anchor="ctr"/>
          <a:lstStyle/>
          <a:p>
            <a:pPr indent="0" marL="0">
              <a:buNone/>
            </a:pPr>
            <a:r>
              <a:rPr lang="en-US" sz="1000" i="1" dirty="0">
                <a:solidFill>
                  <a:srgbClr val="1A8A7D"/>
                </a:solidFill>
                <a:latin typeface="Calibri" pitchFamily="34" charset="0"/>
                <a:ea typeface="Calibri" pitchFamily="34" charset="-122"/>
                <a:cs typeface="Calibri" pitchFamily="34" charset="-120"/>
              </a:rPr>
              <a:t>The Nile River in Africa is the longest river in the world -- it flows for over 4,000 miles. That's like driving from New York to Los Angeles and then partway back!</a:t>
            </a:r>
            <a:endParaRPr lang="en-US" sz="1000" dirty="0"/>
          </a:p>
        </p:txBody>
      </p:sp>
      <p:sp>
        <p:nvSpPr>
          <p:cNvPr id="19" name="Text 17"/>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12 / 20</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0F2F8"/>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GUIDED PRACTICE</a:t>
            </a:r>
            <a:endParaRPr lang="en-US" sz="800" dirty="0"/>
          </a:p>
        </p:txBody>
      </p:sp>
      <p:sp>
        <p:nvSpPr>
          <p:cNvPr id="7" name="Text 5"/>
          <p:cNvSpPr/>
          <p:nvPr/>
        </p:nvSpPr>
        <p:spPr>
          <a:xfrm>
            <a:off x="650240" y="113792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Model: Describe a Landform</a:t>
            </a:r>
            <a:endParaRPr lang="en-US" sz="2200" dirty="0"/>
          </a:p>
        </p:txBody>
      </p:sp>
      <p:sp>
        <p:nvSpPr>
          <p:cNvPr id="8" name="Text 6"/>
          <p:cNvSpPr/>
          <p:nvPr/>
        </p:nvSpPr>
        <p:spPr>
          <a:xfrm>
            <a:off x="650240" y="1950720"/>
            <a:ext cx="2926080" cy="422656"/>
          </a:xfrm>
          <a:prstGeom prst="rect">
            <a:avLst/>
          </a:prstGeom>
          <a:noFill/>
          <a:ln/>
        </p:spPr>
        <p:txBody>
          <a:bodyPr wrap="square" lIns="0" tIns="0" rIns="0" bIns="0" rtlCol="0" anchor="ctr"/>
          <a:lstStyle/>
          <a:p>
            <a:pPr indent="0" marL="0">
              <a:buNone/>
            </a:pPr>
            <a:r>
              <a:rPr lang="en-US" sz="900" b="1" spc="120" kern="0" dirty="0">
                <a:solidFill>
                  <a:srgbClr val="8B6FC0"/>
                </a:solidFill>
                <a:latin typeface="Calibri" pitchFamily="34" charset="0"/>
                <a:ea typeface="Calibri" pitchFamily="34" charset="-122"/>
                <a:cs typeface="Calibri" pitchFamily="34" charset="-120"/>
              </a:rPr>
              <a:t>TEACHER MODELS</a:t>
            </a:r>
            <a:endParaRPr lang="en-US" sz="900" dirty="0"/>
          </a:p>
        </p:txBody>
      </p:sp>
      <p:sp>
        <p:nvSpPr>
          <p:cNvPr id="9" name="Shape 7"/>
          <p:cNvSpPr/>
          <p:nvPr/>
        </p:nvSpPr>
        <p:spPr>
          <a:xfrm>
            <a:off x="650240" y="2519680"/>
            <a:ext cx="14955520" cy="2926080"/>
          </a:xfrm>
          <a:prstGeom prst="roundRect">
            <a:avLst>
              <a:gd name="adj" fmla="val 6667"/>
            </a:avLst>
          </a:prstGeom>
          <a:solidFill>
            <a:srgbClr val="F0E8FF"/>
          </a:solidFill>
          <a:ln/>
        </p:spPr>
      </p:sp>
      <p:sp>
        <p:nvSpPr>
          <p:cNvPr id="10" name="Text 8"/>
          <p:cNvSpPr/>
          <p:nvPr/>
        </p:nvSpPr>
        <p:spPr>
          <a:xfrm>
            <a:off x="975360" y="2600960"/>
            <a:ext cx="14305280" cy="568960"/>
          </a:xfrm>
          <a:prstGeom prst="rect">
            <a:avLst/>
          </a:prstGeom>
          <a:noFill/>
          <a:ln/>
        </p:spPr>
        <p:txBody>
          <a:bodyPr wrap="square" lIns="0" tIns="0" rIns="0" bIns="0" rtlCol="0" anchor="ctr"/>
          <a:lstStyle/>
          <a:p>
            <a:pPr indent="0" marL="0">
              <a:buNone/>
            </a:pPr>
            <a:r>
              <a:rPr lang="en-US" sz="1200" i="1" dirty="0">
                <a:solidFill>
                  <a:srgbClr val="8B6FC0"/>
                </a:solidFill>
                <a:latin typeface="Calibri" pitchFamily="34" charset="0"/>
                <a:ea typeface="Calibri" pitchFamily="34" charset="-122"/>
                <a:cs typeface="Calibri" pitchFamily="34" charset="-120"/>
              </a:rPr>
              <a:t>Watch me think aloud for Evidence Q1: "Name two landforms and describe what each one looks like."</a:t>
            </a:r>
            <a:endParaRPr lang="en-US" sz="1200" dirty="0"/>
          </a:p>
        </p:txBody>
      </p:sp>
      <p:sp>
        <p:nvSpPr>
          <p:cNvPr id="11" name="Text 9"/>
          <p:cNvSpPr/>
          <p:nvPr/>
        </p:nvSpPr>
        <p:spPr>
          <a:xfrm>
            <a:off x="975360" y="3251200"/>
            <a:ext cx="14305280" cy="1950720"/>
          </a:xfrm>
          <a:prstGeom prst="rect">
            <a:avLst/>
          </a:prstGeom>
          <a:noFill/>
          <a:ln/>
        </p:spPr>
        <p:txBody>
          <a:bodyPr wrap="square" lIns="0" tIns="0" rIns="0" bIns="0" rtlCol="0" anchor="t"/>
          <a:lstStyle/>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"I need to name two landforms and describe them. Let me pick two I remember well...</a:t>
            </a:r>
            <a:endParaRPr lang="en-US" sz="1200" dirty="0"/>
          </a:p>
          <a:p>
            <a:pPr indent="0" marL="0">
              <a:lnSpc>
                <a:spcPct val="120000"/>
              </a:lnSpc>
              <a:buNone/>
            </a:pPr>
            <a:endParaRPr lang="en-US" sz="1200" dirty="0"/>
          </a:p>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A mountain is tall, raised land with a peak. The Himalayas in Asia are the tallest mountains on Earth.</a:t>
            </a:r>
            <a:endParaRPr lang="en-US" sz="1200" dirty="0"/>
          </a:p>
          <a:p>
            <a:pPr indent="0" marL="0">
              <a:lnSpc>
                <a:spcPct val="120000"/>
              </a:lnSpc>
              <a:buNone/>
            </a:pPr>
            <a:endParaRPr lang="en-US" sz="1200" dirty="0"/>
          </a:p>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A valley is low land between mountains or hills. Rivers often flow through valleys."</a:t>
            </a:r>
            <a:endParaRPr lang="en-US" sz="1200" dirty="0"/>
          </a:p>
        </p:txBody>
      </p:sp>
      <p:sp>
        <p:nvSpPr>
          <p:cNvPr id="12" name="Shape 10"/>
          <p:cNvSpPr/>
          <p:nvPr/>
        </p:nvSpPr>
        <p:spPr>
          <a:xfrm>
            <a:off x="650240" y="5770880"/>
            <a:ext cx="14955520" cy="812800"/>
          </a:xfrm>
          <a:prstGeom prst="roundRect">
            <a:avLst>
              <a:gd name="adj" fmla="val 16000"/>
            </a:avLst>
          </a:prstGeom>
          <a:solidFill>
            <a:srgbClr val="D4943A">
              <a:alpha val="15000"/>
            </a:srgbClr>
          </a:solidFill>
          <a:ln w="12700">
            <a:solidFill>
              <a:srgbClr val="D4943A"/>
            </a:solidFill>
            <a:prstDash val="solid"/>
          </a:ln>
        </p:spPr>
      </p:sp>
      <p:sp>
        <p:nvSpPr>
          <p:cNvPr id="13" name="Text 11"/>
          <p:cNvSpPr/>
          <p:nvPr/>
        </p:nvSpPr>
        <p:spPr>
          <a:xfrm>
            <a:off x="975360" y="5819648"/>
            <a:ext cx="14305280" cy="731520"/>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This models exactly what students need to do for Evidence Q1: Name two landforms and describe what each one looks like.</a:t>
            </a:r>
            <a:endParaRPr lang="en-US" sz="1100" dirty="0"/>
          </a:p>
        </p:txBody>
      </p:sp>
      <p:sp>
        <p:nvSpPr>
          <p:cNvPr id="14" name="Shape 12"/>
          <p:cNvSpPr/>
          <p:nvPr/>
        </p:nvSpPr>
        <p:spPr>
          <a:xfrm>
            <a:off x="650240" y="6827520"/>
            <a:ext cx="14955520" cy="1544320"/>
          </a:xfrm>
          <a:prstGeom prst="roundRect">
            <a:avLst>
              <a:gd name="adj" fmla="val 12632"/>
            </a:avLst>
          </a:prstGeom>
          <a:solidFill>
            <a:srgbClr val="FFF3DC"/>
          </a:solidFill>
          <a:ln w="19050">
            <a:solidFill>
              <a:srgbClr val="F5E6C8"/>
            </a:solidFill>
            <a:prstDash val="solid"/>
          </a:ln>
        </p:spPr>
      </p:sp>
      <p:sp>
        <p:nvSpPr>
          <p:cNvPr id="15" name="Text 13"/>
          <p:cNvSpPr/>
          <p:nvPr/>
        </p:nvSpPr>
        <p:spPr>
          <a:xfrm>
            <a:off x="894080" y="6925056"/>
            <a:ext cx="1446784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894080" y="7282688"/>
            <a:ext cx="14467840" cy="9753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"Now you try: Pick two DIFFERENT landforms. Write one sentence describing each."</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"Hint: mountains, hills, valleys, plains, plateaus, islands"</a:t>
            </a:r>
            <a:endParaRPr lang="en-US" sz="1200" dirty="0"/>
          </a:p>
        </p:txBody>
      </p:sp>
      <p:sp>
        <p:nvSpPr>
          <p:cNvPr id="17" name="Text 15"/>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13 / 20</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FFFFF"/>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GUIDED PRACTICE</a:t>
            </a:r>
            <a:endParaRPr lang="en-US" sz="800" dirty="0"/>
          </a:p>
        </p:txBody>
      </p:sp>
      <p:sp>
        <p:nvSpPr>
          <p:cNvPr id="7" name="Text 5"/>
          <p:cNvSpPr/>
          <p:nvPr/>
        </p:nvSpPr>
        <p:spPr>
          <a:xfrm>
            <a:off x="650240" y="113792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We Try: Sort the Feature Cards</a:t>
            </a:r>
            <a:endParaRPr lang="en-US" sz="2200" dirty="0"/>
          </a:p>
        </p:txBody>
      </p:sp>
      <p:sp>
        <p:nvSpPr>
          <p:cNvPr id="8" name="Text 6"/>
          <p:cNvSpPr/>
          <p:nvPr/>
        </p:nvSpPr>
        <p:spPr>
          <a:xfrm>
            <a:off x="650240" y="1950720"/>
            <a:ext cx="1788160" cy="422656"/>
          </a:xfrm>
          <a:prstGeom prst="rect">
            <a:avLst/>
          </a:prstGeom>
          <a:noFill/>
          <a:ln/>
        </p:spPr>
        <p:txBody>
          <a:bodyPr wrap="square" lIns="0" tIns="0" rIns="0" bIns="0" rtlCol="0" anchor="ctr"/>
          <a:lstStyle/>
          <a:p>
            <a:pPr indent="0" marL="0">
              <a:buNone/>
            </a:pPr>
            <a:r>
              <a:rPr lang="en-US" sz="900" b="1" spc="120" kern="0" dirty="0">
                <a:solidFill>
                  <a:srgbClr val="1A8A7D"/>
                </a:solidFill>
                <a:latin typeface="Calibri" pitchFamily="34" charset="0"/>
                <a:ea typeface="Calibri" pitchFamily="34" charset="-122"/>
                <a:cs typeface="Calibri" pitchFamily="34" charset="-120"/>
              </a:rPr>
              <a:t>TOGETHER</a:t>
            </a:r>
            <a:endParaRPr lang="en-US" sz="900" dirty="0"/>
          </a:p>
        </p:txBody>
      </p:sp>
      <p:sp>
        <p:nvSpPr>
          <p:cNvPr id="9" name="Text 7"/>
          <p:cNvSpPr/>
          <p:nvPr/>
        </p:nvSpPr>
        <p:spPr>
          <a:xfrm>
            <a:off x="650240" y="2438400"/>
            <a:ext cx="14630400" cy="48768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I'll read a feature. You tell me: Is it a LANDFORM or a BODY OF WATER?</a:t>
            </a:r>
            <a:endParaRPr lang="en-US" sz="1200" dirty="0"/>
          </a:p>
        </p:txBody>
      </p:sp>
      <p:sp>
        <p:nvSpPr>
          <p:cNvPr id="10" name="Shape 8"/>
          <p:cNvSpPr/>
          <p:nvPr/>
        </p:nvSpPr>
        <p:spPr>
          <a:xfrm>
            <a:off x="650240" y="3088640"/>
            <a:ext cx="7152640" cy="1056640"/>
          </a:xfrm>
          <a:prstGeom prst="roundRect">
            <a:avLst>
              <a:gd name="adj" fmla="val 12308"/>
            </a:avLst>
          </a:prstGeom>
          <a:solidFill>
            <a:srgbClr val="FFFFFF"/>
          </a:solidFill>
          <a:ln w="12700">
            <a:solidFill>
              <a:srgbClr val="1A8A7D"/>
            </a:solidFill>
            <a:prstDash val="solid"/>
          </a:ln>
        </p:spPr>
      </p:sp>
      <p:sp>
        <p:nvSpPr>
          <p:cNvPr id="11" name="Text 9"/>
          <p:cNvSpPr/>
          <p:nvPr/>
        </p:nvSpPr>
        <p:spPr>
          <a:xfrm>
            <a:off x="894080" y="3169920"/>
            <a:ext cx="3251200" cy="8940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Mountain</a:t>
            </a:r>
            <a:endParaRPr lang="en-US" sz="1300" dirty="0"/>
          </a:p>
        </p:txBody>
      </p:sp>
      <p:sp>
        <p:nvSpPr>
          <p:cNvPr id="12" name="Shape 10"/>
          <p:cNvSpPr/>
          <p:nvPr/>
        </p:nvSpPr>
        <p:spPr>
          <a:xfrm>
            <a:off x="4389120" y="3251200"/>
            <a:ext cx="3088640" cy="731520"/>
          </a:xfrm>
          <a:prstGeom prst="roundRect">
            <a:avLst>
              <a:gd name="adj" fmla="val 17778"/>
            </a:avLst>
          </a:prstGeom>
          <a:solidFill>
            <a:srgbClr val="1A8A7D"/>
          </a:solidFill>
          <a:ln/>
        </p:spPr>
      </p:sp>
      <p:sp>
        <p:nvSpPr>
          <p:cNvPr id="13" name="Text 11"/>
          <p:cNvSpPr/>
          <p:nvPr/>
        </p:nvSpPr>
        <p:spPr>
          <a:xfrm>
            <a:off x="4389120" y="3251200"/>
            <a:ext cx="3088640" cy="7315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LANDFORM</a:t>
            </a:r>
            <a:endParaRPr lang="en-US" sz="900" dirty="0"/>
          </a:p>
        </p:txBody>
      </p:sp>
      <p:sp>
        <p:nvSpPr>
          <p:cNvPr id="14" name="Shape 12"/>
          <p:cNvSpPr/>
          <p:nvPr/>
        </p:nvSpPr>
        <p:spPr>
          <a:xfrm>
            <a:off x="650240" y="4307840"/>
            <a:ext cx="7152640" cy="1056640"/>
          </a:xfrm>
          <a:prstGeom prst="roundRect">
            <a:avLst>
              <a:gd name="adj" fmla="val 12308"/>
            </a:avLst>
          </a:prstGeom>
          <a:solidFill>
            <a:srgbClr val="FFFFFF"/>
          </a:solidFill>
          <a:ln w="12700">
            <a:solidFill>
              <a:srgbClr val="55C8E8"/>
            </a:solidFill>
            <a:prstDash val="solid"/>
          </a:ln>
        </p:spPr>
      </p:sp>
      <p:sp>
        <p:nvSpPr>
          <p:cNvPr id="15" name="Text 13"/>
          <p:cNvSpPr/>
          <p:nvPr/>
        </p:nvSpPr>
        <p:spPr>
          <a:xfrm>
            <a:off x="894080" y="4389120"/>
            <a:ext cx="3251200" cy="8940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River</a:t>
            </a:r>
            <a:endParaRPr lang="en-US" sz="1300" dirty="0"/>
          </a:p>
        </p:txBody>
      </p:sp>
      <p:sp>
        <p:nvSpPr>
          <p:cNvPr id="16" name="Shape 14"/>
          <p:cNvSpPr/>
          <p:nvPr/>
        </p:nvSpPr>
        <p:spPr>
          <a:xfrm>
            <a:off x="4389120" y="4470400"/>
            <a:ext cx="3088640" cy="731520"/>
          </a:xfrm>
          <a:prstGeom prst="roundRect">
            <a:avLst>
              <a:gd name="adj" fmla="val 17778"/>
            </a:avLst>
          </a:prstGeom>
          <a:solidFill>
            <a:srgbClr val="55C8E8"/>
          </a:solidFill>
          <a:ln/>
        </p:spPr>
      </p:sp>
      <p:sp>
        <p:nvSpPr>
          <p:cNvPr id="17" name="Text 15"/>
          <p:cNvSpPr/>
          <p:nvPr/>
        </p:nvSpPr>
        <p:spPr>
          <a:xfrm>
            <a:off x="4389120" y="4470400"/>
            <a:ext cx="3088640" cy="7315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BODY OF WATER</a:t>
            </a:r>
            <a:endParaRPr lang="en-US" sz="900" dirty="0"/>
          </a:p>
        </p:txBody>
      </p:sp>
      <p:sp>
        <p:nvSpPr>
          <p:cNvPr id="18" name="Shape 16"/>
          <p:cNvSpPr/>
          <p:nvPr/>
        </p:nvSpPr>
        <p:spPr>
          <a:xfrm>
            <a:off x="650240" y="5527040"/>
            <a:ext cx="7152640" cy="1056640"/>
          </a:xfrm>
          <a:prstGeom prst="roundRect">
            <a:avLst>
              <a:gd name="adj" fmla="val 12308"/>
            </a:avLst>
          </a:prstGeom>
          <a:solidFill>
            <a:srgbClr val="FFFFFF"/>
          </a:solidFill>
          <a:ln w="12700">
            <a:solidFill>
              <a:srgbClr val="1A8A7D"/>
            </a:solidFill>
            <a:prstDash val="solid"/>
          </a:ln>
        </p:spPr>
      </p:sp>
      <p:sp>
        <p:nvSpPr>
          <p:cNvPr id="19" name="Text 17"/>
          <p:cNvSpPr/>
          <p:nvPr/>
        </p:nvSpPr>
        <p:spPr>
          <a:xfrm>
            <a:off x="894080" y="5608320"/>
            <a:ext cx="3251200" cy="8940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Plateau</a:t>
            </a:r>
            <a:endParaRPr lang="en-US" sz="1300" dirty="0"/>
          </a:p>
        </p:txBody>
      </p:sp>
      <p:sp>
        <p:nvSpPr>
          <p:cNvPr id="20" name="Shape 18"/>
          <p:cNvSpPr/>
          <p:nvPr/>
        </p:nvSpPr>
        <p:spPr>
          <a:xfrm>
            <a:off x="4389120" y="5689600"/>
            <a:ext cx="3088640" cy="731520"/>
          </a:xfrm>
          <a:prstGeom prst="roundRect">
            <a:avLst>
              <a:gd name="adj" fmla="val 17778"/>
            </a:avLst>
          </a:prstGeom>
          <a:solidFill>
            <a:srgbClr val="1A8A7D"/>
          </a:solidFill>
          <a:ln/>
        </p:spPr>
      </p:sp>
      <p:sp>
        <p:nvSpPr>
          <p:cNvPr id="21" name="Text 19"/>
          <p:cNvSpPr/>
          <p:nvPr/>
        </p:nvSpPr>
        <p:spPr>
          <a:xfrm>
            <a:off x="4389120" y="5689600"/>
            <a:ext cx="3088640" cy="7315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LANDFORM</a:t>
            </a:r>
            <a:endParaRPr lang="en-US" sz="900" dirty="0"/>
          </a:p>
        </p:txBody>
      </p:sp>
      <p:sp>
        <p:nvSpPr>
          <p:cNvPr id="22" name="Shape 20"/>
          <p:cNvSpPr/>
          <p:nvPr/>
        </p:nvSpPr>
        <p:spPr>
          <a:xfrm>
            <a:off x="650240" y="6746240"/>
            <a:ext cx="7152640" cy="1056640"/>
          </a:xfrm>
          <a:prstGeom prst="roundRect">
            <a:avLst>
              <a:gd name="adj" fmla="val 12308"/>
            </a:avLst>
          </a:prstGeom>
          <a:solidFill>
            <a:srgbClr val="FFFFFF"/>
          </a:solidFill>
          <a:ln w="12700">
            <a:solidFill>
              <a:srgbClr val="55C8E8"/>
            </a:solidFill>
            <a:prstDash val="solid"/>
          </a:ln>
        </p:spPr>
      </p:sp>
      <p:sp>
        <p:nvSpPr>
          <p:cNvPr id="23" name="Text 21"/>
          <p:cNvSpPr/>
          <p:nvPr/>
        </p:nvSpPr>
        <p:spPr>
          <a:xfrm>
            <a:off x="894080" y="6827520"/>
            <a:ext cx="3251200" cy="8940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Gulf</a:t>
            </a:r>
            <a:endParaRPr lang="en-US" sz="1300" dirty="0"/>
          </a:p>
        </p:txBody>
      </p:sp>
      <p:sp>
        <p:nvSpPr>
          <p:cNvPr id="24" name="Shape 22"/>
          <p:cNvSpPr/>
          <p:nvPr/>
        </p:nvSpPr>
        <p:spPr>
          <a:xfrm>
            <a:off x="4389120" y="6908800"/>
            <a:ext cx="3088640" cy="731520"/>
          </a:xfrm>
          <a:prstGeom prst="roundRect">
            <a:avLst>
              <a:gd name="adj" fmla="val 17778"/>
            </a:avLst>
          </a:prstGeom>
          <a:solidFill>
            <a:srgbClr val="55C8E8"/>
          </a:solidFill>
          <a:ln/>
        </p:spPr>
      </p:sp>
      <p:sp>
        <p:nvSpPr>
          <p:cNvPr id="25" name="Text 23"/>
          <p:cNvSpPr/>
          <p:nvPr/>
        </p:nvSpPr>
        <p:spPr>
          <a:xfrm>
            <a:off x="4389120" y="6908800"/>
            <a:ext cx="3088640" cy="7315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BODY OF WATER</a:t>
            </a:r>
            <a:endParaRPr lang="en-US" sz="900" dirty="0"/>
          </a:p>
        </p:txBody>
      </p:sp>
      <p:sp>
        <p:nvSpPr>
          <p:cNvPr id="26" name="Shape 24"/>
          <p:cNvSpPr/>
          <p:nvPr/>
        </p:nvSpPr>
        <p:spPr>
          <a:xfrm>
            <a:off x="8290560" y="3088640"/>
            <a:ext cx="7152640" cy="1056640"/>
          </a:xfrm>
          <a:prstGeom prst="roundRect">
            <a:avLst>
              <a:gd name="adj" fmla="val 12308"/>
            </a:avLst>
          </a:prstGeom>
          <a:solidFill>
            <a:srgbClr val="FFFFFF"/>
          </a:solidFill>
          <a:ln w="12700">
            <a:solidFill>
              <a:srgbClr val="1A8A7D"/>
            </a:solidFill>
            <a:prstDash val="solid"/>
          </a:ln>
        </p:spPr>
      </p:sp>
      <p:sp>
        <p:nvSpPr>
          <p:cNvPr id="27" name="Text 25"/>
          <p:cNvSpPr/>
          <p:nvPr/>
        </p:nvSpPr>
        <p:spPr>
          <a:xfrm>
            <a:off x="8534400" y="3169920"/>
            <a:ext cx="3251200" cy="8940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Valley</a:t>
            </a:r>
            <a:endParaRPr lang="en-US" sz="1300" dirty="0"/>
          </a:p>
        </p:txBody>
      </p:sp>
      <p:sp>
        <p:nvSpPr>
          <p:cNvPr id="28" name="Shape 26"/>
          <p:cNvSpPr/>
          <p:nvPr/>
        </p:nvSpPr>
        <p:spPr>
          <a:xfrm>
            <a:off x="12029440" y="3251200"/>
            <a:ext cx="3088640" cy="731520"/>
          </a:xfrm>
          <a:prstGeom prst="roundRect">
            <a:avLst>
              <a:gd name="adj" fmla="val 17778"/>
            </a:avLst>
          </a:prstGeom>
          <a:solidFill>
            <a:srgbClr val="1A8A7D"/>
          </a:solidFill>
          <a:ln/>
        </p:spPr>
      </p:sp>
      <p:sp>
        <p:nvSpPr>
          <p:cNvPr id="29" name="Text 27"/>
          <p:cNvSpPr/>
          <p:nvPr/>
        </p:nvSpPr>
        <p:spPr>
          <a:xfrm>
            <a:off x="12029440" y="3251200"/>
            <a:ext cx="3088640" cy="7315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LANDFORM</a:t>
            </a:r>
            <a:endParaRPr lang="en-US" sz="900" dirty="0"/>
          </a:p>
        </p:txBody>
      </p:sp>
      <p:sp>
        <p:nvSpPr>
          <p:cNvPr id="30" name="Shape 28"/>
          <p:cNvSpPr/>
          <p:nvPr/>
        </p:nvSpPr>
        <p:spPr>
          <a:xfrm>
            <a:off x="8290560" y="4307840"/>
            <a:ext cx="7152640" cy="1056640"/>
          </a:xfrm>
          <a:prstGeom prst="roundRect">
            <a:avLst>
              <a:gd name="adj" fmla="val 12308"/>
            </a:avLst>
          </a:prstGeom>
          <a:solidFill>
            <a:srgbClr val="FFFFFF"/>
          </a:solidFill>
          <a:ln w="12700">
            <a:solidFill>
              <a:srgbClr val="55C8E8"/>
            </a:solidFill>
            <a:prstDash val="solid"/>
          </a:ln>
        </p:spPr>
      </p:sp>
      <p:sp>
        <p:nvSpPr>
          <p:cNvPr id="31" name="Text 29"/>
          <p:cNvSpPr/>
          <p:nvPr/>
        </p:nvSpPr>
        <p:spPr>
          <a:xfrm>
            <a:off x="8534400" y="4389120"/>
            <a:ext cx="3251200" cy="8940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Lake</a:t>
            </a:r>
            <a:endParaRPr lang="en-US" sz="1300" dirty="0"/>
          </a:p>
        </p:txBody>
      </p:sp>
      <p:sp>
        <p:nvSpPr>
          <p:cNvPr id="32" name="Shape 30"/>
          <p:cNvSpPr/>
          <p:nvPr/>
        </p:nvSpPr>
        <p:spPr>
          <a:xfrm>
            <a:off x="12029440" y="4470400"/>
            <a:ext cx="3088640" cy="731520"/>
          </a:xfrm>
          <a:prstGeom prst="roundRect">
            <a:avLst>
              <a:gd name="adj" fmla="val 17778"/>
            </a:avLst>
          </a:prstGeom>
          <a:solidFill>
            <a:srgbClr val="55C8E8"/>
          </a:solidFill>
          <a:ln/>
        </p:spPr>
      </p:sp>
      <p:sp>
        <p:nvSpPr>
          <p:cNvPr id="33" name="Text 31"/>
          <p:cNvSpPr/>
          <p:nvPr/>
        </p:nvSpPr>
        <p:spPr>
          <a:xfrm>
            <a:off x="12029440" y="4470400"/>
            <a:ext cx="3088640" cy="7315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BODY OF WATER</a:t>
            </a:r>
            <a:endParaRPr lang="en-US" sz="900" dirty="0"/>
          </a:p>
        </p:txBody>
      </p:sp>
      <p:sp>
        <p:nvSpPr>
          <p:cNvPr id="34" name="Shape 32"/>
          <p:cNvSpPr/>
          <p:nvPr/>
        </p:nvSpPr>
        <p:spPr>
          <a:xfrm>
            <a:off x="8290560" y="5527040"/>
            <a:ext cx="7152640" cy="1056640"/>
          </a:xfrm>
          <a:prstGeom prst="roundRect">
            <a:avLst>
              <a:gd name="adj" fmla="val 12308"/>
            </a:avLst>
          </a:prstGeom>
          <a:solidFill>
            <a:srgbClr val="FFFFFF"/>
          </a:solidFill>
          <a:ln w="12700">
            <a:solidFill>
              <a:srgbClr val="1A8A7D"/>
            </a:solidFill>
            <a:prstDash val="solid"/>
          </a:ln>
        </p:spPr>
      </p:sp>
      <p:sp>
        <p:nvSpPr>
          <p:cNvPr id="35" name="Text 33"/>
          <p:cNvSpPr/>
          <p:nvPr/>
        </p:nvSpPr>
        <p:spPr>
          <a:xfrm>
            <a:off x="8534400" y="5608320"/>
            <a:ext cx="3251200" cy="8940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Island</a:t>
            </a:r>
            <a:endParaRPr lang="en-US" sz="1300" dirty="0"/>
          </a:p>
        </p:txBody>
      </p:sp>
      <p:sp>
        <p:nvSpPr>
          <p:cNvPr id="36" name="Shape 34"/>
          <p:cNvSpPr/>
          <p:nvPr/>
        </p:nvSpPr>
        <p:spPr>
          <a:xfrm>
            <a:off x="12029440" y="5689600"/>
            <a:ext cx="3088640" cy="731520"/>
          </a:xfrm>
          <a:prstGeom prst="roundRect">
            <a:avLst>
              <a:gd name="adj" fmla="val 17778"/>
            </a:avLst>
          </a:prstGeom>
          <a:solidFill>
            <a:srgbClr val="1A8A7D"/>
          </a:solidFill>
          <a:ln/>
        </p:spPr>
      </p:sp>
      <p:sp>
        <p:nvSpPr>
          <p:cNvPr id="37" name="Text 35"/>
          <p:cNvSpPr/>
          <p:nvPr/>
        </p:nvSpPr>
        <p:spPr>
          <a:xfrm>
            <a:off x="12029440" y="5689600"/>
            <a:ext cx="3088640" cy="7315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LANDFORM</a:t>
            </a:r>
            <a:endParaRPr lang="en-US" sz="900" dirty="0"/>
          </a:p>
        </p:txBody>
      </p:sp>
      <p:sp>
        <p:nvSpPr>
          <p:cNvPr id="38" name="Shape 36"/>
          <p:cNvSpPr/>
          <p:nvPr/>
        </p:nvSpPr>
        <p:spPr>
          <a:xfrm>
            <a:off x="8290560" y="6746240"/>
            <a:ext cx="7152640" cy="1056640"/>
          </a:xfrm>
          <a:prstGeom prst="roundRect">
            <a:avLst>
              <a:gd name="adj" fmla="val 12308"/>
            </a:avLst>
          </a:prstGeom>
          <a:solidFill>
            <a:srgbClr val="FFFFFF"/>
          </a:solidFill>
          <a:ln w="12700">
            <a:solidFill>
              <a:srgbClr val="55C8E8"/>
            </a:solidFill>
            <a:prstDash val="solid"/>
          </a:ln>
        </p:spPr>
      </p:sp>
      <p:sp>
        <p:nvSpPr>
          <p:cNvPr id="39" name="Text 37"/>
          <p:cNvSpPr/>
          <p:nvPr/>
        </p:nvSpPr>
        <p:spPr>
          <a:xfrm>
            <a:off x="8534400" y="6827520"/>
            <a:ext cx="3251200" cy="8940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Bay</a:t>
            </a:r>
            <a:endParaRPr lang="en-US" sz="1300" dirty="0"/>
          </a:p>
        </p:txBody>
      </p:sp>
      <p:sp>
        <p:nvSpPr>
          <p:cNvPr id="40" name="Shape 38"/>
          <p:cNvSpPr/>
          <p:nvPr/>
        </p:nvSpPr>
        <p:spPr>
          <a:xfrm>
            <a:off x="12029440" y="6908800"/>
            <a:ext cx="3088640" cy="731520"/>
          </a:xfrm>
          <a:prstGeom prst="roundRect">
            <a:avLst>
              <a:gd name="adj" fmla="val 17778"/>
            </a:avLst>
          </a:prstGeom>
          <a:solidFill>
            <a:srgbClr val="55C8E8"/>
          </a:solidFill>
          <a:ln/>
        </p:spPr>
      </p:sp>
      <p:sp>
        <p:nvSpPr>
          <p:cNvPr id="41" name="Text 39"/>
          <p:cNvSpPr/>
          <p:nvPr/>
        </p:nvSpPr>
        <p:spPr>
          <a:xfrm>
            <a:off x="12029440" y="6908800"/>
            <a:ext cx="3088640" cy="7315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BODY OF WATER</a:t>
            </a:r>
            <a:endParaRPr lang="en-US" sz="900" dirty="0"/>
          </a:p>
        </p:txBody>
      </p:sp>
      <p:sp>
        <p:nvSpPr>
          <p:cNvPr id="42" name="Text 40"/>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14 / 20</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0F2F8"/>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GUIDED PRACTICE</a:t>
            </a:r>
            <a:endParaRPr lang="en-US" sz="800" dirty="0"/>
          </a:p>
        </p:txBody>
      </p:sp>
      <p:sp>
        <p:nvSpPr>
          <p:cNvPr id="7" name="Text 5"/>
          <p:cNvSpPr/>
          <p:nvPr/>
        </p:nvSpPr>
        <p:spPr>
          <a:xfrm>
            <a:off x="650240" y="113792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Your Turn: Match Feature to Description</a:t>
            </a:r>
            <a:endParaRPr lang="en-US" sz="2200" dirty="0"/>
          </a:p>
        </p:txBody>
      </p:sp>
      <p:sp>
        <p:nvSpPr>
          <p:cNvPr id="8" name="Text 6"/>
          <p:cNvSpPr/>
          <p:nvPr/>
        </p:nvSpPr>
        <p:spPr>
          <a:xfrm>
            <a:off x="650240" y="1950720"/>
            <a:ext cx="2438400" cy="422656"/>
          </a:xfrm>
          <a:prstGeom prst="rect">
            <a:avLst/>
          </a:prstGeom>
          <a:noFill/>
          <a:ln/>
        </p:spPr>
        <p:txBody>
          <a:bodyPr wrap="square" lIns="0" tIns="0" rIns="0" bIns="0" rtlCol="0" anchor="ctr"/>
          <a:lstStyle/>
          <a:p>
            <a:pPr indent="0" marL="0">
              <a:buNone/>
            </a:pPr>
            <a:r>
              <a:rPr lang="en-US" sz="900" b="1" spc="120" kern="0" dirty="0">
                <a:solidFill>
                  <a:srgbClr val="D4943A"/>
                </a:solidFill>
                <a:latin typeface="Calibri" pitchFamily="34" charset="0"/>
                <a:ea typeface="Calibri" pitchFamily="34" charset="-122"/>
                <a:cs typeface="Calibri" pitchFamily="34" charset="-120"/>
              </a:rPr>
              <a:t>ON YOUR OWN</a:t>
            </a:r>
            <a:endParaRPr lang="en-US" sz="900" dirty="0"/>
          </a:p>
        </p:txBody>
      </p:sp>
      <p:sp>
        <p:nvSpPr>
          <p:cNvPr id="9" name="Text 7"/>
          <p:cNvSpPr/>
          <p:nvPr/>
        </p:nvSpPr>
        <p:spPr>
          <a:xfrm>
            <a:off x="650240" y="2438400"/>
            <a:ext cx="14630400" cy="48768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Read each description. Write the feature name in your Curator's Notebook.</a:t>
            </a:r>
            <a:endParaRPr lang="en-US" sz="1200" dirty="0"/>
          </a:p>
        </p:txBody>
      </p:sp>
      <p:sp>
        <p:nvSpPr>
          <p:cNvPr id="10" name="Shape 8"/>
          <p:cNvSpPr/>
          <p:nvPr/>
        </p:nvSpPr>
        <p:spPr>
          <a:xfrm>
            <a:off x="650240" y="3088640"/>
            <a:ext cx="11379200" cy="731520"/>
          </a:xfrm>
          <a:prstGeom prst="roundRect">
            <a:avLst>
              <a:gd name="adj" fmla="val 13333"/>
            </a:avLst>
          </a:prstGeom>
          <a:solidFill>
            <a:srgbClr val="FFFFFF"/>
          </a:solidFill>
          <a:ln w="6350">
            <a:solidFill>
              <a:srgbClr val="D0D8E8"/>
            </a:solidFill>
            <a:prstDash val="solid"/>
          </a:ln>
        </p:spPr>
      </p:sp>
      <p:sp>
        <p:nvSpPr>
          <p:cNvPr id="11" name="Text 9"/>
          <p:cNvSpPr/>
          <p:nvPr/>
        </p:nvSpPr>
        <p:spPr>
          <a:xfrm>
            <a:off x="975360" y="3088640"/>
            <a:ext cx="9103360" cy="73152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1. Tall, raised land with a peak</a:t>
            </a:r>
            <a:endParaRPr lang="en-US" sz="1100" dirty="0"/>
          </a:p>
        </p:txBody>
      </p:sp>
      <p:sp>
        <p:nvSpPr>
          <p:cNvPr id="12" name="Shape 10"/>
          <p:cNvSpPr/>
          <p:nvPr/>
        </p:nvSpPr>
        <p:spPr>
          <a:xfrm>
            <a:off x="12354560" y="3137408"/>
            <a:ext cx="3088640" cy="633984"/>
          </a:xfrm>
          <a:prstGeom prst="roundRect">
            <a:avLst>
              <a:gd name="adj" fmla="val 15385"/>
            </a:avLst>
          </a:prstGeom>
          <a:solidFill>
            <a:srgbClr val="1A8A7D"/>
          </a:solidFill>
          <a:ln/>
        </p:spPr>
      </p:sp>
      <p:sp>
        <p:nvSpPr>
          <p:cNvPr id="13" name="Text 11"/>
          <p:cNvSpPr/>
          <p:nvPr/>
        </p:nvSpPr>
        <p:spPr>
          <a:xfrm>
            <a:off x="12354560" y="3137408"/>
            <a:ext cx="3088640" cy="6339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Mountain</a:t>
            </a:r>
            <a:endParaRPr lang="en-US" sz="1100" dirty="0"/>
          </a:p>
        </p:txBody>
      </p:sp>
      <p:sp>
        <p:nvSpPr>
          <p:cNvPr id="14" name="Shape 12"/>
          <p:cNvSpPr/>
          <p:nvPr/>
        </p:nvSpPr>
        <p:spPr>
          <a:xfrm>
            <a:off x="650240" y="3982720"/>
            <a:ext cx="11379200" cy="731520"/>
          </a:xfrm>
          <a:prstGeom prst="roundRect">
            <a:avLst>
              <a:gd name="adj" fmla="val 13333"/>
            </a:avLst>
          </a:prstGeom>
          <a:solidFill>
            <a:srgbClr val="F0F2F8"/>
          </a:solidFill>
          <a:ln w="6350">
            <a:solidFill>
              <a:srgbClr val="D0D8E8"/>
            </a:solidFill>
            <a:prstDash val="solid"/>
          </a:ln>
        </p:spPr>
      </p:sp>
      <p:sp>
        <p:nvSpPr>
          <p:cNvPr id="15" name="Text 13"/>
          <p:cNvSpPr/>
          <p:nvPr/>
        </p:nvSpPr>
        <p:spPr>
          <a:xfrm>
            <a:off x="975360" y="3982720"/>
            <a:ext cx="9103360" cy="73152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2. Flat, low land that stretches for miles</a:t>
            </a:r>
            <a:endParaRPr lang="en-US" sz="1100" dirty="0"/>
          </a:p>
        </p:txBody>
      </p:sp>
      <p:sp>
        <p:nvSpPr>
          <p:cNvPr id="16" name="Shape 14"/>
          <p:cNvSpPr/>
          <p:nvPr/>
        </p:nvSpPr>
        <p:spPr>
          <a:xfrm>
            <a:off x="12354560" y="4031488"/>
            <a:ext cx="3088640" cy="633984"/>
          </a:xfrm>
          <a:prstGeom prst="roundRect">
            <a:avLst>
              <a:gd name="adj" fmla="val 15385"/>
            </a:avLst>
          </a:prstGeom>
          <a:solidFill>
            <a:srgbClr val="1A8A7D"/>
          </a:solidFill>
          <a:ln/>
        </p:spPr>
      </p:sp>
      <p:sp>
        <p:nvSpPr>
          <p:cNvPr id="17" name="Text 15"/>
          <p:cNvSpPr/>
          <p:nvPr/>
        </p:nvSpPr>
        <p:spPr>
          <a:xfrm>
            <a:off x="12354560" y="4031488"/>
            <a:ext cx="3088640" cy="6339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Plain</a:t>
            </a:r>
            <a:endParaRPr lang="en-US" sz="1100" dirty="0"/>
          </a:p>
        </p:txBody>
      </p:sp>
      <p:sp>
        <p:nvSpPr>
          <p:cNvPr id="18" name="Shape 16"/>
          <p:cNvSpPr/>
          <p:nvPr/>
        </p:nvSpPr>
        <p:spPr>
          <a:xfrm>
            <a:off x="650240" y="4876800"/>
            <a:ext cx="11379200" cy="731520"/>
          </a:xfrm>
          <a:prstGeom prst="roundRect">
            <a:avLst>
              <a:gd name="adj" fmla="val 13333"/>
            </a:avLst>
          </a:prstGeom>
          <a:solidFill>
            <a:srgbClr val="FFFFFF"/>
          </a:solidFill>
          <a:ln w="6350">
            <a:solidFill>
              <a:srgbClr val="D0D8E8"/>
            </a:solidFill>
            <a:prstDash val="solid"/>
          </a:ln>
        </p:spPr>
      </p:sp>
      <p:sp>
        <p:nvSpPr>
          <p:cNvPr id="19" name="Text 17"/>
          <p:cNvSpPr/>
          <p:nvPr/>
        </p:nvSpPr>
        <p:spPr>
          <a:xfrm>
            <a:off x="975360" y="4876800"/>
            <a:ext cx="9103360" cy="73152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3. Flowing water that moves across land</a:t>
            </a:r>
            <a:endParaRPr lang="en-US" sz="1100" dirty="0"/>
          </a:p>
        </p:txBody>
      </p:sp>
      <p:sp>
        <p:nvSpPr>
          <p:cNvPr id="20" name="Shape 18"/>
          <p:cNvSpPr/>
          <p:nvPr/>
        </p:nvSpPr>
        <p:spPr>
          <a:xfrm>
            <a:off x="12354560" y="4925568"/>
            <a:ext cx="3088640" cy="633984"/>
          </a:xfrm>
          <a:prstGeom prst="roundRect">
            <a:avLst>
              <a:gd name="adj" fmla="val 15385"/>
            </a:avLst>
          </a:prstGeom>
          <a:solidFill>
            <a:srgbClr val="1A8A7D"/>
          </a:solidFill>
          <a:ln/>
        </p:spPr>
      </p:sp>
      <p:sp>
        <p:nvSpPr>
          <p:cNvPr id="21" name="Text 19"/>
          <p:cNvSpPr/>
          <p:nvPr/>
        </p:nvSpPr>
        <p:spPr>
          <a:xfrm>
            <a:off x="12354560" y="4925568"/>
            <a:ext cx="3088640" cy="6339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River</a:t>
            </a:r>
            <a:endParaRPr lang="en-US" sz="1100" dirty="0"/>
          </a:p>
        </p:txBody>
      </p:sp>
      <p:sp>
        <p:nvSpPr>
          <p:cNvPr id="22" name="Shape 20"/>
          <p:cNvSpPr/>
          <p:nvPr/>
        </p:nvSpPr>
        <p:spPr>
          <a:xfrm>
            <a:off x="650240" y="5770880"/>
            <a:ext cx="11379200" cy="731520"/>
          </a:xfrm>
          <a:prstGeom prst="roundRect">
            <a:avLst>
              <a:gd name="adj" fmla="val 13333"/>
            </a:avLst>
          </a:prstGeom>
          <a:solidFill>
            <a:srgbClr val="F0F2F8"/>
          </a:solidFill>
          <a:ln w="6350">
            <a:solidFill>
              <a:srgbClr val="D0D8E8"/>
            </a:solidFill>
            <a:prstDash val="solid"/>
          </a:ln>
        </p:spPr>
      </p:sp>
      <p:sp>
        <p:nvSpPr>
          <p:cNvPr id="23" name="Text 21"/>
          <p:cNvSpPr/>
          <p:nvPr/>
        </p:nvSpPr>
        <p:spPr>
          <a:xfrm>
            <a:off x="975360" y="5770880"/>
            <a:ext cx="9103360" cy="73152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4. Water surrounded by land on all sides</a:t>
            </a:r>
            <a:endParaRPr lang="en-US" sz="1100" dirty="0"/>
          </a:p>
        </p:txBody>
      </p:sp>
      <p:sp>
        <p:nvSpPr>
          <p:cNvPr id="24" name="Shape 22"/>
          <p:cNvSpPr/>
          <p:nvPr/>
        </p:nvSpPr>
        <p:spPr>
          <a:xfrm>
            <a:off x="12354560" y="5819648"/>
            <a:ext cx="3088640" cy="633984"/>
          </a:xfrm>
          <a:prstGeom prst="roundRect">
            <a:avLst>
              <a:gd name="adj" fmla="val 15385"/>
            </a:avLst>
          </a:prstGeom>
          <a:solidFill>
            <a:srgbClr val="1A8A7D"/>
          </a:solidFill>
          <a:ln/>
        </p:spPr>
      </p:sp>
      <p:sp>
        <p:nvSpPr>
          <p:cNvPr id="25" name="Text 23"/>
          <p:cNvSpPr/>
          <p:nvPr/>
        </p:nvSpPr>
        <p:spPr>
          <a:xfrm>
            <a:off x="12354560" y="5819648"/>
            <a:ext cx="3088640" cy="6339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Lake</a:t>
            </a:r>
            <a:endParaRPr lang="en-US" sz="1100" dirty="0"/>
          </a:p>
        </p:txBody>
      </p:sp>
      <p:sp>
        <p:nvSpPr>
          <p:cNvPr id="26" name="Shape 24"/>
          <p:cNvSpPr/>
          <p:nvPr/>
        </p:nvSpPr>
        <p:spPr>
          <a:xfrm>
            <a:off x="650240" y="6664960"/>
            <a:ext cx="11379200" cy="731520"/>
          </a:xfrm>
          <a:prstGeom prst="roundRect">
            <a:avLst>
              <a:gd name="adj" fmla="val 13333"/>
            </a:avLst>
          </a:prstGeom>
          <a:solidFill>
            <a:srgbClr val="FFFFFF"/>
          </a:solidFill>
          <a:ln w="6350">
            <a:solidFill>
              <a:srgbClr val="D0D8E8"/>
            </a:solidFill>
            <a:prstDash val="solid"/>
          </a:ln>
        </p:spPr>
      </p:sp>
      <p:sp>
        <p:nvSpPr>
          <p:cNvPr id="27" name="Text 25"/>
          <p:cNvSpPr/>
          <p:nvPr/>
        </p:nvSpPr>
        <p:spPr>
          <a:xfrm>
            <a:off x="975360" y="6664960"/>
            <a:ext cx="9103360" cy="73152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5. Flat on top but high above the land around it</a:t>
            </a:r>
            <a:endParaRPr lang="en-US" sz="1100" dirty="0"/>
          </a:p>
        </p:txBody>
      </p:sp>
      <p:sp>
        <p:nvSpPr>
          <p:cNvPr id="28" name="Shape 26"/>
          <p:cNvSpPr/>
          <p:nvPr/>
        </p:nvSpPr>
        <p:spPr>
          <a:xfrm>
            <a:off x="12354560" y="6713728"/>
            <a:ext cx="3088640" cy="633984"/>
          </a:xfrm>
          <a:prstGeom prst="roundRect">
            <a:avLst>
              <a:gd name="adj" fmla="val 15385"/>
            </a:avLst>
          </a:prstGeom>
          <a:solidFill>
            <a:srgbClr val="1A8A7D"/>
          </a:solidFill>
          <a:ln/>
        </p:spPr>
      </p:sp>
      <p:sp>
        <p:nvSpPr>
          <p:cNvPr id="29" name="Text 27"/>
          <p:cNvSpPr/>
          <p:nvPr/>
        </p:nvSpPr>
        <p:spPr>
          <a:xfrm>
            <a:off x="12354560" y="6713728"/>
            <a:ext cx="3088640" cy="6339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Plateau</a:t>
            </a:r>
            <a:endParaRPr lang="en-US" sz="1100" dirty="0"/>
          </a:p>
        </p:txBody>
      </p:sp>
      <p:sp>
        <p:nvSpPr>
          <p:cNvPr id="30" name="Shape 28"/>
          <p:cNvSpPr/>
          <p:nvPr/>
        </p:nvSpPr>
        <p:spPr>
          <a:xfrm>
            <a:off x="650240" y="7559040"/>
            <a:ext cx="11379200" cy="731520"/>
          </a:xfrm>
          <a:prstGeom prst="roundRect">
            <a:avLst>
              <a:gd name="adj" fmla="val 13333"/>
            </a:avLst>
          </a:prstGeom>
          <a:solidFill>
            <a:srgbClr val="F0F2F8"/>
          </a:solidFill>
          <a:ln w="6350">
            <a:solidFill>
              <a:srgbClr val="D0D8E8"/>
            </a:solidFill>
            <a:prstDash val="solid"/>
          </a:ln>
        </p:spPr>
      </p:sp>
      <p:sp>
        <p:nvSpPr>
          <p:cNvPr id="31" name="Text 29"/>
          <p:cNvSpPr/>
          <p:nvPr/>
        </p:nvSpPr>
        <p:spPr>
          <a:xfrm>
            <a:off x="975360" y="7559040"/>
            <a:ext cx="9103360" cy="73152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6. Ocean water partly surrounded by land</a:t>
            </a:r>
            <a:endParaRPr lang="en-US" sz="1100" dirty="0"/>
          </a:p>
        </p:txBody>
      </p:sp>
      <p:sp>
        <p:nvSpPr>
          <p:cNvPr id="32" name="Shape 30"/>
          <p:cNvSpPr/>
          <p:nvPr/>
        </p:nvSpPr>
        <p:spPr>
          <a:xfrm>
            <a:off x="12354560" y="7607808"/>
            <a:ext cx="3088640" cy="633984"/>
          </a:xfrm>
          <a:prstGeom prst="roundRect">
            <a:avLst>
              <a:gd name="adj" fmla="val 15385"/>
            </a:avLst>
          </a:prstGeom>
          <a:solidFill>
            <a:srgbClr val="1A8A7D"/>
          </a:solidFill>
          <a:ln/>
        </p:spPr>
      </p:sp>
      <p:sp>
        <p:nvSpPr>
          <p:cNvPr id="33" name="Text 31"/>
          <p:cNvSpPr/>
          <p:nvPr/>
        </p:nvSpPr>
        <p:spPr>
          <a:xfrm>
            <a:off x="12354560" y="7607808"/>
            <a:ext cx="3088640" cy="6339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Gulf</a:t>
            </a:r>
            <a:endParaRPr lang="en-US" sz="1100" dirty="0"/>
          </a:p>
        </p:txBody>
      </p:sp>
      <p:sp>
        <p:nvSpPr>
          <p:cNvPr id="34" name="Text 32"/>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15 / 20</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FFFFF"/>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ERROR ANALYSIS</a:t>
            </a:r>
            <a:endParaRPr lang="en-US" sz="800" dirty="0"/>
          </a:p>
        </p:txBody>
      </p:sp>
      <p:sp>
        <p:nvSpPr>
          <p:cNvPr id="7" name="Text 5"/>
          <p:cNvSpPr/>
          <p:nvPr/>
        </p:nvSpPr>
        <p:spPr>
          <a:xfrm>
            <a:off x="650240" y="1137920"/>
            <a:ext cx="97536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What's Wrong Here?</a:t>
            </a:r>
            <a:endParaRPr lang="en-US" sz="2200" dirty="0"/>
          </a:p>
        </p:txBody>
      </p:sp>
      <p:sp>
        <p:nvSpPr>
          <p:cNvPr id="8" name="Shape 6"/>
          <p:cNvSpPr/>
          <p:nvPr/>
        </p:nvSpPr>
        <p:spPr>
          <a:xfrm>
            <a:off x="650240" y="2113280"/>
            <a:ext cx="7315200" cy="4551680"/>
          </a:xfrm>
          <a:prstGeom prst="roundRect">
            <a:avLst>
              <a:gd name="adj" fmla="val 4286"/>
            </a:avLst>
          </a:prstGeom>
          <a:solidFill>
            <a:srgbClr val="FDE8E8"/>
          </a:solidFill>
          <a:ln w="19050">
            <a:solidFill>
              <a:srgbClr val="E8636B"/>
            </a:solidFill>
            <a:prstDash val="solid"/>
          </a:ln>
        </p:spPr>
      </p:sp>
      <p:sp>
        <p:nvSpPr>
          <p:cNvPr id="9" name="Text 7"/>
          <p:cNvSpPr/>
          <p:nvPr/>
        </p:nvSpPr>
        <p:spPr>
          <a:xfrm>
            <a:off x="975360" y="2194560"/>
            <a:ext cx="6664960" cy="357632"/>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STUDENT SAMPLE (WITH ERRORS)</a:t>
            </a:r>
            <a:endParaRPr lang="en-US" sz="900" dirty="0"/>
          </a:p>
        </p:txBody>
      </p:sp>
      <p:sp>
        <p:nvSpPr>
          <p:cNvPr id="10" name="Text 8"/>
          <p:cNvSpPr/>
          <p:nvPr/>
        </p:nvSpPr>
        <p:spPr>
          <a:xfrm>
            <a:off x="975360" y="2763520"/>
            <a:ext cx="6664960" cy="3738880"/>
          </a:xfrm>
          <a:prstGeom prst="rect">
            <a:avLst/>
          </a:prstGeom>
          <a:noFill/>
          <a:ln/>
        </p:spPr>
        <p:txBody>
          <a:bodyPr wrap="square" lIns="0" tIns="0" rIns="0" bIns="0" rtlCol="0" anchor="t"/>
          <a:lstStyle/>
          <a:p>
            <a:pPr indent="0" marL="0">
              <a:lnSpc>
                <a:spcPct val="125000"/>
              </a:lnSpc>
              <a:buNone/>
            </a:pPr>
            <a:r>
              <a:rPr lang="en-US" sz="1200" dirty="0">
                <a:solidFill>
                  <a:srgbClr val="0E1C42"/>
                </a:solidFill>
                <a:latin typeface="Calibri" pitchFamily="34" charset="0"/>
                <a:ea typeface="Calibri" pitchFamily="34" charset="-122"/>
                <a:cs typeface="Calibri" pitchFamily="34" charset="-120"/>
              </a:rPr>
              <a:t>Question: What is the difference between a river and a lake?</a:t>
            </a:r>
            <a:endParaRPr lang="en-US" sz="1200" dirty="0"/>
          </a:p>
          <a:p>
            <a:pPr indent="0" marL="0">
              <a:lnSpc>
                <a:spcPct val="125000"/>
              </a:lnSpc>
              <a:buNone/>
            </a:pPr>
            <a:endParaRPr lang="en-US" sz="1200" dirty="0"/>
          </a:p>
          <a:p>
            <a:pPr indent="0" marL="0">
              <a:lnSpc>
                <a:spcPct val="125000"/>
              </a:lnSpc>
              <a:buNone/>
            </a:pPr>
            <a:r>
              <a:rPr lang="en-US" sz="1200" dirty="0">
                <a:solidFill>
                  <a:srgbClr val="0E1C42"/>
                </a:solidFill>
                <a:latin typeface="Calibri" pitchFamily="34" charset="0"/>
                <a:ea typeface="Calibri" pitchFamily="34" charset="-122"/>
                <a:cs typeface="Calibri" pitchFamily="34" charset="-120"/>
              </a:rPr>
              <a:t>Answer: "A river is water and a lake is also water. They are both bodies of water so they are the same thing."</a:t>
            </a:r>
            <a:endParaRPr lang="en-US" sz="1200" dirty="0"/>
          </a:p>
          <a:p>
            <a:pPr indent="0" marL="0">
              <a:lnSpc>
                <a:spcPct val="125000"/>
              </a:lnSpc>
              <a:buNone/>
            </a:pPr>
            <a:endParaRPr lang="en-US" sz="1200" dirty="0"/>
          </a:p>
          <a:p>
            <a:pPr indent="0" marL="0">
              <a:lnSpc>
                <a:spcPct val="125000"/>
              </a:lnSpc>
              <a:buNone/>
            </a:pPr>
            <a:r>
              <a:rPr lang="en-US" sz="1200" dirty="0">
                <a:solidFill>
                  <a:srgbClr val="0E1C42"/>
                </a:solidFill>
                <a:latin typeface="Calibri" pitchFamily="34" charset="0"/>
                <a:ea typeface="Calibri" pitchFamily="34" charset="-122"/>
                <a:cs typeface="Calibri" pitchFamily="34" charset="-120"/>
              </a:rPr>
              <a:t>What's wrong? How would YOU fix this answer?</a:t>
            </a:r>
            <a:endParaRPr lang="en-US" sz="1200" dirty="0"/>
          </a:p>
        </p:txBody>
      </p:sp>
      <p:sp>
        <p:nvSpPr>
          <p:cNvPr id="11" name="Shape 9"/>
          <p:cNvSpPr/>
          <p:nvPr/>
        </p:nvSpPr>
        <p:spPr>
          <a:xfrm>
            <a:off x="8453120" y="2113280"/>
            <a:ext cx="6990080" cy="2926080"/>
          </a:xfrm>
          <a:prstGeom prst="roundRect">
            <a:avLst>
              <a:gd name="adj" fmla="val 6667"/>
            </a:avLst>
          </a:prstGeom>
          <a:solidFill>
            <a:srgbClr val="E3F8ED"/>
          </a:solidFill>
          <a:ln w="12700">
            <a:solidFill>
              <a:srgbClr val="34B76F"/>
            </a:solidFill>
            <a:prstDash val="solid"/>
          </a:ln>
        </p:spPr>
      </p:sp>
      <p:sp>
        <p:nvSpPr>
          <p:cNvPr id="12" name="Text 10"/>
          <p:cNvSpPr/>
          <p:nvPr/>
        </p:nvSpPr>
        <p:spPr>
          <a:xfrm>
            <a:off x="8778240" y="2194560"/>
            <a:ext cx="6339840" cy="357632"/>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THE FIX</a:t>
            </a:r>
            <a:endParaRPr lang="en-US" sz="900" dirty="0"/>
          </a:p>
        </p:txBody>
      </p:sp>
      <p:sp>
        <p:nvSpPr>
          <p:cNvPr id="13" name="Text 11"/>
          <p:cNvSpPr/>
          <p:nvPr/>
        </p:nvSpPr>
        <p:spPr>
          <a:xfrm>
            <a:off x="8778240" y="2682240"/>
            <a:ext cx="6339840" cy="2194560"/>
          </a:xfrm>
          <a:prstGeom prst="rect">
            <a:avLst/>
          </a:prstGeom>
          <a:noFill/>
          <a:ln/>
        </p:spPr>
        <p:txBody>
          <a:bodyPr wrap="square" lIns="0" tIns="0" rIns="0" bIns="0" rtlCol="0" anchor="t"/>
          <a:lstStyle/>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The student said they're the same -- but they're NOT!</a:t>
            </a:r>
            <a:endParaRPr lang="en-US" sz="1100" dirty="0"/>
          </a:p>
          <a:p>
            <a:pPr indent="0" marL="0">
              <a:lnSpc>
                <a:spcPct val="120000"/>
              </a:lnSpc>
              <a:buNone/>
            </a:pPr>
            <a:endParaRPr lang="en-US" sz="1100" dirty="0"/>
          </a:p>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A river flows -- it moves from high ground to low ground.</a:t>
            </a:r>
            <a:endParaRPr lang="en-US" sz="1100" dirty="0"/>
          </a:p>
          <a:p>
            <a:pPr indent="0" marL="0">
              <a:lnSpc>
                <a:spcPct val="120000"/>
              </a:lnSpc>
              <a:buNone/>
            </a:pPr>
            <a:endParaRPr lang="en-US" sz="1100" dirty="0"/>
          </a:p>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A lake is still water surrounded by land.</a:t>
            </a:r>
            <a:endParaRPr lang="en-US" sz="1100" dirty="0"/>
          </a:p>
          <a:p>
            <a:pPr indent="0" marL="0">
              <a:lnSpc>
                <a:spcPct val="120000"/>
              </a:lnSpc>
              <a:buNone/>
            </a:pPr>
            <a:endParaRPr lang="en-US" sz="1100" dirty="0"/>
          </a:p>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The key difference: Does the water MOVE or STAY?</a:t>
            </a:r>
            <a:endParaRPr lang="en-US" sz="1100" dirty="0"/>
          </a:p>
        </p:txBody>
      </p:sp>
      <p:sp>
        <p:nvSpPr>
          <p:cNvPr id="14" name="Shape 12"/>
          <p:cNvSpPr/>
          <p:nvPr/>
        </p:nvSpPr>
        <p:spPr>
          <a:xfrm>
            <a:off x="650240" y="6990080"/>
            <a:ext cx="14955520" cy="1381760"/>
          </a:xfrm>
          <a:prstGeom prst="roundRect">
            <a:avLst>
              <a:gd name="adj" fmla="val 11765"/>
            </a:avLst>
          </a:prstGeom>
          <a:solidFill>
            <a:srgbClr val="FFF3DC"/>
          </a:solidFill>
          <a:ln w="12700">
            <a:solidFill>
              <a:srgbClr val="D4943A"/>
            </a:solidFill>
            <a:prstDash val="solid"/>
          </a:ln>
        </p:spPr>
      </p:sp>
      <p:sp>
        <p:nvSpPr>
          <p:cNvPr id="15" name="Text 13"/>
          <p:cNvSpPr/>
          <p:nvPr/>
        </p:nvSpPr>
        <p:spPr>
          <a:xfrm>
            <a:off x="975360" y="7071360"/>
            <a:ext cx="1430528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ASSIGNMENT CONNECTION</a:t>
            </a:r>
            <a:endParaRPr lang="en-US" sz="900" dirty="0"/>
          </a:p>
        </p:txBody>
      </p:sp>
      <p:sp>
        <p:nvSpPr>
          <p:cNvPr id="16" name="Text 14"/>
          <p:cNvSpPr/>
          <p:nvPr/>
        </p:nvSpPr>
        <p:spPr>
          <a:xfrm>
            <a:off x="975360" y="7477760"/>
            <a:ext cx="14305280" cy="73152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Evidence Q2 asks exactly this: What is the difference between a river and a lake? Don't just say they're both water -- explain HOW they're different!</a:t>
            </a:r>
            <a:endParaRPr lang="en-US" sz="1100" dirty="0"/>
          </a:p>
        </p:txBody>
      </p:sp>
      <p:sp>
        <p:nvSpPr>
          <p:cNvPr id="17" name="Text 15"/>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16 / 20</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0F2F8"/>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GUIDED PRACTICE</a:t>
            </a:r>
            <a:endParaRPr lang="en-US" sz="800" dirty="0"/>
          </a:p>
        </p:txBody>
      </p:sp>
      <p:sp>
        <p:nvSpPr>
          <p:cNvPr id="7" name="Text 5"/>
          <p:cNvSpPr/>
          <p:nvPr/>
        </p:nvSpPr>
        <p:spPr>
          <a:xfrm>
            <a:off x="650240" y="113792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Tricky One: Plain or Plateau?</a:t>
            </a:r>
            <a:endParaRPr lang="en-US" sz="2200" dirty="0"/>
          </a:p>
        </p:txBody>
      </p:sp>
      <p:sp>
        <p:nvSpPr>
          <p:cNvPr id="8" name="Shape 6"/>
          <p:cNvSpPr/>
          <p:nvPr/>
        </p:nvSpPr>
        <p:spPr>
          <a:xfrm>
            <a:off x="650240" y="2113280"/>
            <a:ext cx="6990080" cy="3251200"/>
          </a:xfrm>
          <a:prstGeom prst="roundRect">
            <a:avLst>
              <a:gd name="adj" fmla="val 6000"/>
            </a:avLst>
          </a:prstGeom>
          <a:solidFill>
            <a:srgbClr val="EAF8FD"/>
          </a:solidFill>
          <a:ln w="19050">
            <a:solidFill>
              <a:srgbClr val="55C8E8"/>
            </a:solidFill>
            <a:prstDash val="solid"/>
          </a:ln>
        </p:spPr>
      </p:sp>
      <p:sp>
        <p:nvSpPr>
          <p:cNvPr id="9" name="Text 7"/>
          <p:cNvSpPr/>
          <p:nvPr/>
        </p:nvSpPr>
        <p:spPr>
          <a:xfrm>
            <a:off x="975360" y="2194560"/>
            <a:ext cx="6339840" cy="487680"/>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PLAIN</a:t>
            </a:r>
            <a:endParaRPr lang="en-US" sz="1400" dirty="0"/>
          </a:p>
        </p:txBody>
      </p:sp>
      <p:sp>
        <p:nvSpPr>
          <p:cNvPr id="10" name="Text 8"/>
          <p:cNvSpPr/>
          <p:nvPr/>
        </p:nvSpPr>
        <p:spPr>
          <a:xfrm>
            <a:off x="975360" y="2763520"/>
            <a:ext cx="6339840" cy="2275840"/>
          </a:xfrm>
          <a:prstGeom prst="rect">
            <a:avLst/>
          </a:prstGeom>
          <a:noFill/>
          <a:ln/>
        </p:spPr>
        <p:txBody>
          <a:bodyPr wrap="square" lIns="0" tIns="0" rIns="0" bIns="0" rtlCol="0" anchor="t"/>
          <a:lstStyle/>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Flat, LOW land</a:t>
            </a:r>
            <a:endParaRPr lang="en-US" sz="1200" dirty="0"/>
          </a:p>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Stretches for miles</a:t>
            </a:r>
            <a:endParaRPr lang="en-US" sz="1200" dirty="0"/>
          </a:p>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Close to sea level</a:t>
            </a:r>
            <a:endParaRPr lang="en-US" sz="1200" dirty="0"/>
          </a:p>
          <a:p>
            <a:pPr indent="0" marL="0">
              <a:lnSpc>
                <a:spcPct val="130000"/>
              </a:lnSpc>
              <a:buNone/>
            </a:pPr>
            <a:endParaRPr lang="en-US" sz="1200" dirty="0"/>
          </a:p>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Think: a wide, flat field that goes on and on</a:t>
            </a:r>
            <a:endParaRPr lang="en-US" sz="1200" dirty="0"/>
          </a:p>
        </p:txBody>
      </p:sp>
      <p:sp>
        <p:nvSpPr>
          <p:cNvPr id="11" name="Shape 9"/>
          <p:cNvSpPr/>
          <p:nvPr/>
        </p:nvSpPr>
        <p:spPr>
          <a:xfrm>
            <a:off x="8453120" y="2113280"/>
            <a:ext cx="6990080" cy="3251200"/>
          </a:xfrm>
          <a:prstGeom prst="roundRect">
            <a:avLst>
              <a:gd name="adj" fmla="val 6000"/>
            </a:avLst>
          </a:prstGeom>
          <a:solidFill>
            <a:srgbClr val="E3F8ED"/>
          </a:solidFill>
          <a:ln w="19050">
            <a:solidFill>
              <a:srgbClr val="34B76F"/>
            </a:solidFill>
            <a:prstDash val="solid"/>
          </a:ln>
        </p:spPr>
      </p:sp>
      <p:sp>
        <p:nvSpPr>
          <p:cNvPr id="12" name="Text 10"/>
          <p:cNvSpPr/>
          <p:nvPr/>
        </p:nvSpPr>
        <p:spPr>
          <a:xfrm>
            <a:off x="8778240" y="2194560"/>
            <a:ext cx="6339840" cy="487680"/>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PLATEAU</a:t>
            </a:r>
            <a:endParaRPr lang="en-US" sz="1400" dirty="0"/>
          </a:p>
        </p:txBody>
      </p:sp>
      <p:sp>
        <p:nvSpPr>
          <p:cNvPr id="13" name="Text 11"/>
          <p:cNvSpPr/>
          <p:nvPr/>
        </p:nvSpPr>
        <p:spPr>
          <a:xfrm>
            <a:off x="8778240" y="2763520"/>
            <a:ext cx="6339840" cy="2275840"/>
          </a:xfrm>
          <a:prstGeom prst="rect">
            <a:avLst/>
          </a:prstGeom>
          <a:noFill/>
          <a:ln/>
        </p:spPr>
        <p:txBody>
          <a:bodyPr wrap="square" lIns="0" tIns="0" rIns="0" bIns="0" rtlCol="0" anchor="t"/>
          <a:lstStyle/>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Flat, HIGH land</a:t>
            </a:r>
            <a:endParaRPr lang="en-US" sz="1200" dirty="0"/>
          </a:p>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Flat on top but elevated</a:t>
            </a:r>
            <a:endParaRPr lang="en-US" sz="1200" dirty="0"/>
          </a:p>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High above the land around it</a:t>
            </a:r>
            <a:endParaRPr lang="en-US" sz="1200" dirty="0"/>
          </a:p>
          <a:p>
            <a:pPr indent="0" marL="0">
              <a:lnSpc>
                <a:spcPct val="130000"/>
              </a:lnSpc>
              <a:buNone/>
            </a:pPr>
            <a:endParaRPr lang="en-US" sz="1200" dirty="0"/>
          </a:p>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Think: a table sitting on top of a mountain</a:t>
            </a:r>
            <a:endParaRPr lang="en-US" sz="1200" dirty="0"/>
          </a:p>
        </p:txBody>
      </p:sp>
      <p:sp>
        <p:nvSpPr>
          <p:cNvPr id="14" name="Shape 12"/>
          <p:cNvSpPr/>
          <p:nvPr/>
        </p:nvSpPr>
        <p:spPr>
          <a:xfrm>
            <a:off x="650240" y="5689600"/>
            <a:ext cx="14955520" cy="1300480"/>
          </a:xfrm>
          <a:prstGeom prst="roundRect">
            <a:avLst>
              <a:gd name="adj" fmla="val 15000"/>
            </a:avLst>
          </a:prstGeom>
          <a:solidFill>
            <a:srgbClr val="F0E8FF"/>
          </a:solidFill>
          <a:ln w="12700">
            <a:solidFill>
              <a:srgbClr val="8B6FC0"/>
            </a:solidFill>
            <a:prstDash val="solid"/>
          </a:ln>
        </p:spPr>
      </p:sp>
      <p:sp>
        <p:nvSpPr>
          <p:cNvPr id="15" name="Text 13"/>
          <p:cNvSpPr/>
          <p:nvPr/>
        </p:nvSpPr>
        <p:spPr>
          <a:xfrm>
            <a:off x="975360" y="5770880"/>
            <a:ext cx="14305280" cy="357632"/>
          </a:xfrm>
          <a:prstGeom prst="rect">
            <a:avLst/>
          </a:prstGeom>
          <a:noFill/>
          <a:ln/>
        </p:spPr>
        <p:txBody>
          <a:bodyPr wrap="square" lIns="0" tIns="0" rIns="0" bIns="0"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THINK-PAIR-SHARE</a:t>
            </a:r>
            <a:endParaRPr lang="en-US" sz="900" dirty="0"/>
          </a:p>
        </p:txBody>
      </p:sp>
      <p:sp>
        <p:nvSpPr>
          <p:cNvPr id="16" name="Text 14"/>
          <p:cNvSpPr/>
          <p:nvPr/>
        </p:nvSpPr>
        <p:spPr>
          <a:xfrm>
            <a:off x="975360" y="6258560"/>
            <a:ext cx="14305280" cy="56896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Both are flat -- so what makes them different? Discuss with a partner: How would you explain the difference in ONE sentence?</a:t>
            </a:r>
            <a:endParaRPr lang="en-US" sz="1200" dirty="0"/>
          </a:p>
        </p:txBody>
      </p:sp>
      <p:sp>
        <p:nvSpPr>
          <p:cNvPr id="17" name="Shape 15"/>
          <p:cNvSpPr/>
          <p:nvPr/>
        </p:nvSpPr>
        <p:spPr>
          <a:xfrm>
            <a:off x="650240" y="7152640"/>
            <a:ext cx="14955520" cy="1300480"/>
          </a:xfrm>
          <a:prstGeom prst="roundRect">
            <a:avLst>
              <a:gd name="adj" fmla="val 15000"/>
            </a:avLst>
          </a:prstGeom>
          <a:solidFill>
            <a:srgbClr val="E2E8F4"/>
          </a:solidFill>
          <a:ln w="19050">
            <a:solidFill>
              <a:srgbClr val="B0B8CC"/>
            </a:solidFill>
            <a:prstDash val="dash"/>
          </a:ln>
        </p:spPr>
      </p:sp>
      <p:sp>
        <p:nvSpPr>
          <p:cNvPr id="18" name="Text 16"/>
          <p:cNvSpPr/>
          <p:nvPr/>
        </p:nvSpPr>
        <p:spPr>
          <a:xfrm>
            <a:off x="650240" y="7152640"/>
            <a:ext cx="1495552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9" name="Text 17"/>
          <p:cNvSpPr/>
          <p:nvPr/>
        </p:nvSpPr>
        <p:spPr>
          <a:xfrm>
            <a:off x="894080" y="7640320"/>
            <a:ext cx="14467840" cy="6502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Side-by-side cross-section: a plain (flat, low)</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next to a plateau (flat on top, elevated).</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Height comparison clearly shown.</a:t>
            </a:r>
            <a:endParaRPr lang="en-US" sz="1100" dirty="0"/>
          </a:p>
        </p:txBody>
      </p:sp>
      <p:sp>
        <p:nvSpPr>
          <p:cNvPr id="20" name="Text 18"/>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17 / 20</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FFFFF"/>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SELF-CHECK</a:t>
            </a:r>
            <a:endParaRPr lang="en-US" sz="800" dirty="0"/>
          </a:p>
        </p:txBody>
      </p:sp>
      <p:sp>
        <p:nvSpPr>
          <p:cNvPr id="7" name="Text 5"/>
          <p:cNvSpPr/>
          <p:nvPr/>
        </p:nvSpPr>
        <p:spPr>
          <a:xfrm>
            <a:off x="650240" y="1137920"/>
            <a:ext cx="97536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Quick Self-Check</a:t>
            </a:r>
            <a:endParaRPr lang="en-US" sz="2200" dirty="0"/>
          </a:p>
        </p:txBody>
      </p:sp>
      <p:sp>
        <p:nvSpPr>
          <p:cNvPr id="8" name="Shape 6"/>
          <p:cNvSpPr/>
          <p:nvPr/>
        </p:nvSpPr>
        <p:spPr>
          <a:xfrm>
            <a:off x="650240" y="2113280"/>
            <a:ext cx="14955520" cy="1706880"/>
          </a:xfrm>
          <a:prstGeom prst="roundRect">
            <a:avLst>
              <a:gd name="adj" fmla="val 9524"/>
            </a:avLst>
          </a:prstGeom>
          <a:solidFill>
            <a:srgbClr val="EAF8FD"/>
          </a:solidFill>
          <a:ln/>
        </p:spPr>
      </p:sp>
      <p:sp>
        <p:nvSpPr>
          <p:cNvPr id="9" name="Text 7"/>
          <p:cNvSpPr/>
          <p:nvPr/>
        </p:nvSpPr>
        <p:spPr>
          <a:xfrm>
            <a:off x="975360" y="2243328"/>
            <a:ext cx="14305280" cy="5689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1. What is a landform?</a:t>
            </a:r>
            <a:endParaRPr lang="en-US" sz="1200" dirty="0"/>
          </a:p>
        </p:txBody>
      </p:sp>
      <p:sp>
        <p:nvSpPr>
          <p:cNvPr id="10" name="Text 8"/>
          <p:cNvSpPr/>
          <p:nvPr/>
        </p:nvSpPr>
        <p:spPr>
          <a:xfrm>
            <a:off x="975360" y="2893568"/>
            <a:ext cx="14305280" cy="731520"/>
          </a:xfrm>
          <a:prstGeom prst="rect">
            <a:avLst/>
          </a:prstGeom>
          <a:noFill/>
          <a:ln/>
        </p:spPr>
        <p:txBody>
          <a:bodyPr wrap="square" lIns="0" tIns="0" rIns="0" bIns="0"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A natural shape of the land -- mountains, valleys, plains, hills, plateaus, islands.</a:t>
            </a:r>
            <a:endParaRPr lang="en-US" sz="1100" dirty="0"/>
          </a:p>
        </p:txBody>
      </p:sp>
      <p:sp>
        <p:nvSpPr>
          <p:cNvPr id="11" name="Shape 9"/>
          <p:cNvSpPr/>
          <p:nvPr/>
        </p:nvSpPr>
        <p:spPr>
          <a:xfrm>
            <a:off x="650240" y="4064000"/>
            <a:ext cx="14955520" cy="1706880"/>
          </a:xfrm>
          <a:prstGeom prst="roundRect">
            <a:avLst>
              <a:gd name="adj" fmla="val 9524"/>
            </a:avLst>
          </a:prstGeom>
          <a:solidFill>
            <a:srgbClr val="E3F8ED"/>
          </a:solidFill>
          <a:ln/>
        </p:spPr>
      </p:sp>
      <p:sp>
        <p:nvSpPr>
          <p:cNvPr id="12" name="Text 10"/>
          <p:cNvSpPr/>
          <p:nvPr/>
        </p:nvSpPr>
        <p:spPr>
          <a:xfrm>
            <a:off x="975360" y="4194048"/>
            <a:ext cx="14305280" cy="5689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2. What is the difference between a lake and a river?</a:t>
            </a:r>
            <a:endParaRPr lang="en-US" sz="1200" dirty="0"/>
          </a:p>
        </p:txBody>
      </p:sp>
      <p:sp>
        <p:nvSpPr>
          <p:cNvPr id="13" name="Text 11"/>
          <p:cNvSpPr/>
          <p:nvPr/>
        </p:nvSpPr>
        <p:spPr>
          <a:xfrm>
            <a:off x="975360" y="4844288"/>
            <a:ext cx="14305280" cy="731520"/>
          </a:xfrm>
          <a:prstGeom prst="rect">
            <a:avLst/>
          </a:prstGeom>
          <a:noFill/>
          <a:ln/>
        </p:spPr>
        <p:txBody>
          <a:bodyPr wrap="square" lIns="0" tIns="0" rIns="0" bIns="0"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A lake is still water surrounded by land. A river flows across land.</a:t>
            </a:r>
            <a:endParaRPr lang="en-US" sz="1100" dirty="0"/>
          </a:p>
        </p:txBody>
      </p:sp>
      <p:sp>
        <p:nvSpPr>
          <p:cNvPr id="14" name="Shape 12"/>
          <p:cNvSpPr/>
          <p:nvPr/>
        </p:nvSpPr>
        <p:spPr>
          <a:xfrm>
            <a:off x="650240" y="6014720"/>
            <a:ext cx="14955520" cy="1706880"/>
          </a:xfrm>
          <a:prstGeom prst="roundRect">
            <a:avLst>
              <a:gd name="adj" fmla="val 9524"/>
            </a:avLst>
          </a:prstGeom>
          <a:solidFill>
            <a:srgbClr val="EAF8FD"/>
          </a:solidFill>
          <a:ln/>
        </p:spPr>
      </p:sp>
      <p:sp>
        <p:nvSpPr>
          <p:cNvPr id="15" name="Text 13"/>
          <p:cNvSpPr/>
          <p:nvPr/>
        </p:nvSpPr>
        <p:spPr>
          <a:xfrm>
            <a:off x="975360" y="6144768"/>
            <a:ext cx="14305280" cy="5689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3. Why do geographic features make the world map more useful?</a:t>
            </a:r>
            <a:endParaRPr lang="en-US" sz="1200" dirty="0"/>
          </a:p>
        </p:txBody>
      </p:sp>
      <p:sp>
        <p:nvSpPr>
          <p:cNvPr id="16" name="Text 14"/>
          <p:cNvSpPr/>
          <p:nvPr/>
        </p:nvSpPr>
        <p:spPr>
          <a:xfrm>
            <a:off x="975360" y="6795008"/>
            <a:ext cx="14305280" cy="731520"/>
          </a:xfrm>
          <a:prstGeom prst="rect">
            <a:avLst/>
          </a:prstGeom>
          <a:noFill/>
          <a:ln/>
        </p:spPr>
        <p:txBody>
          <a:bodyPr wrap="square" lIns="0" tIns="0" rIns="0" bIns="0"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They help visitors understand what places actually look like -- not just where they are.</a:t>
            </a:r>
            <a:endParaRPr lang="en-US" sz="1100" dirty="0"/>
          </a:p>
        </p:txBody>
      </p:sp>
      <p:sp>
        <p:nvSpPr>
          <p:cNvPr id="17" name="Shape 15"/>
          <p:cNvSpPr/>
          <p:nvPr/>
        </p:nvSpPr>
        <p:spPr>
          <a:xfrm>
            <a:off x="650240" y="7802880"/>
            <a:ext cx="14955520" cy="650240"/>
          </a:xfrm>
          <a:prstGeom prst="roundRect">
            <a:avLst>
              <a:gd name="adj" fmla="val 20000"/>
            </a:avLst>
          </a:prstGeom>
          <a:solidFill>
            <a:srgbClr val="FFF3DC"/>
          </a:solidFill>
          <a:ln/>
        </p:spPr>
      </p:sp>
      <p:sp>
        <p:nvSpPr>
          <p:cNvPr id="18" name="Text 16"/>
          <p:cNvSpPr/>
          <p:nvPr/>
        </p:nvSpPr>
        <p:spPr>
          <a:xfrm>
            <a:off x="975360" y="7835392"/>
            <a:ext cx="14305280" cy="585216"/>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These are the three big ideas you need for your assignment. Let's preview what you'll turn in.</a:t>
            </a:r>
            <a:endParaRPr lang="en-US" sz="1100" dirty="0"/>
          </a:p>
        </p:txBody>
      </p:sp>
      <p:sp>
        <p:nvSpPr>
          <p:cNvPr id="19" name="Text 17"/>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18 / 20</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0F2F8"/>
          </a:solidFill>
          <a:ln/>
        </p:spPr>
      </p:sp>
      <p:sp>
        <p:nvSpPr>
          <p:cNvPr id="3" name="Shape 1"/>
          <p:cNvSpPr/>
          <p:nvPr/>
        </p:nvSpPr>
        <p:spPr>
          <a:xfrm>
            <a:off x="0" y="8696960"/>
            <a:ext cx="16256000" cy="447040"/>
          </a:xfrm>
          <a:prstGeom prst="rect">
            <a:avLst/>
          </a:prstGeom>
          <a:solidFill>
            <a:srgbClr val="0E1C42"/>
          </a:solidFill>
          <a:ln/>
        </p:spPr>
      </p:sp>
      <p:sp>
        <p:nvSpPr>
          <p:cNvPr id="4" name="Text 2"/>
          <p:cNvSpPr/>
          <p:nvPr/>
        </p:nvSpPr>
        <p:spPr>
          <a:xfrm>
            <a:off x="487680" y="8696960"/>
            <a:ext cx="4876800" cy="447040"/>
          </a:xfrm>
          <a:prstGeom prst="rect">
            <a:avLst/>
          </a:prstGeom>
          <a:noFill/>
          <a:ln/>
        </p:spPr>
        <p:txBody>
          <a:bodyPr wrap="square" lIns="0" tIns="0" rIns="0" bIns="0" rtlCol="0" anchor="ctr"/>
          <a:lstStyle/>
          <a:p>
            <a:pPr indent="0" marL="0">
              <a:buNone/>
            </a:pPr>
            <a:r>
              <a:rPr lang="en-US" sz="700" b="1" spc="150" kern="0" dirty="0">
                <a:solidFill>
                  <a:srgbClr val="D4943A"/>
                </a:solidFill>
                <a:latin typeface="Calibri" pitchFamily="34" charset="0"/>
                <a:ea typeface="Calibri" pitchFamily="34" charset="-122"/>
                <a:cs typeface="Calibri" pitchFamily="34" charset="-120"/>
              </a:rPr>
              <a:t>OPTIMA ACADEMY ONLINE</a:t>
            </a:r>
            <a:endParaRPr lang="en-US" sz="700" dirty="0"/>
          </a:p>
        </p:txBody>
      </p:sp>
      <p:sp>
        <p:nvSpPr>
          <p:cNvPr id="5" name="Shape 3"/>
          <p:cNvSpPr/>
          <p:nvPr/>
        </p:nvSpPr>
        <p:spPr>
          <a:xfrm>
            <a:off x="650240" y="48768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4"/>
          <p:cNvSpPr/>
          <p:nvPr/>
        </p:nvSpPr>
        <p:spPr>
          <a:xfrm>
            <a:off x="650240" y="48768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ASSIGNMENT PREVIEW</a:t>
            </a:r>
            <a:endParaRPr lang="en-US" sz="800" dirty="0"/>
          </a:p>
        </p:txBody>
      </p:sp>
      <p:sp>
        <p:nvSpPr>
          <p:cNvPr id="7" name="Text 5"/>
          <p:cNvSpPr/>
          <p:nvPr/>
        </p:nvSpPr>
        <p:spPr>
          <a:xfrm>
            <a:off x="650240" y="113792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 You'll Turn In</a:t>
            </a:r>
            <a:endParaRPr lang="en-US" sz="2200" dirty="0"/>
          </a:p>
        </p:txBody>
      </p:sp>
      <p:sp>
        <p:nvSpPr>
          <p:cNvPr id="8" name="Shape 6"/>
          <p:cNvSpPr/>
          <p:nvPr/>
        </p:nvSpPr>
        <p:spPr>
          <a:xfrm>
            <a:off x="650240" y="1950720"/>
            <a:ext cx="4876800" cy="2113280"/>
          </a:xfrm>
          <a:prstGeom prst="roundRect">
            <a:avLst>
              <a:gd name="adj" fmla="val 7692"/>
            </a:avLst>
          </a:prstGeom>
          <a:solidFill>
            <a:srgbClr val="FFFFFF"/>
          </a:solidFill>
          <a:ln w="12700">
            <a:solidFill>
              <a:srgbClr val="1A8A7D"/>
            </a:solidFill>
            <a:prstDash val="solid"/>
          </a:ln>
          <a:effectLst>
            <a:outerShdw sx="100000" sy="100000" kx="0" ky="0" algn="bl" rotWithShape="0" blurRad="50800" dist="12700" dir="8100000">
              <a:srgbClr val="000000">
                <a:alpha val="10000"/>
              </a:srgbClr>
            </a:outerShdw>
          </a:effectLst>
        </p:spPr>
      </p:sp>
      <p:sp>
        <p:nvSpPr>
          <p:cNvPr id="9" name="Text 7"/>
          <p:cNvSpPr/>
          <p:nvPr/>
        </p:nvSpPr>
        <p:spPr>
          <a:xfrm>
            <a:off x="894080" y="2032000"/>
            <a:ext cx="4389120" cy="325120"/>
          </a:xfrm>
          <a:prstGeom prst="rect">
            <a:avLst/>
          </a:prstGeom>
          <a:noFill/>
          <a:ln/>
        </p:spPr>
        <p:txBody>
          <a:bodyPr wrap="square" lIns="0" tIns="0" rIns="0" bIns="0" rtlCol="0" anchor="ctr"/>
          <a:lstStyle/>
          <a:p>
            <a:pPr indent="0" marL="0">
              <a:buNone/>
            </a:pPr>
            <a:r>
              <a:rPr lang="en-US" sz="800" b="1" spc="150" kern="0" dirty="0">
                <a:solidFill>
                  <a:srgbClr val="1A8A7D"/>
                </a:solidFill>
                <a:latin typeface="Calibri" pitchFamily="34" charset="0"/>
                <a:ea typeface="Calibri" pitchFamily="34" charset="-122"/>
                <a:cs typeface="Calibri" pitchFamily="34" charset="-120"/>
              </a:rPr>
              <a:t>EVIDENCE Q1</a:t>
            </a:r>
            <a:endParaRPr lang="en-US" sz="800" dirty="0"/>
          </a:p>
        </p:txBody>
      </p:sp>
      <p:sp>
        <p:nvSpPr>
          <p:cNvPr id="10" name="Text 8"/>
          <p:cNvSpPr/>
          <p:nvPr/>
        </p:nvSpPr>
        <p:spPr>
          <a:xfrm>
            <a:off x="894080" y="2438400"/>
            <a:ext cx="4389120" cy="1381760"/>
          </a:xfrm>
          <a:prstGeom prst="rect">
            <a:avLst/>
          </a:prstGeom>
          <a:noFill/>
          <a:ln/>
        </p:spPr>
        <p:txBody>
          <a:bodyPr wrap="square" lIns="0" tIns="0" rIns="0" bIns="0" rtlCol="0" anchor="ctr"/>
          <a:lstStyle/>
          <a:p>
            <a:pPr indent="0" marL="0">
              <a:buNone/>
            </a:pPr>
            <a:r>
              <a:rPr lang="en-US" sz="1000" b="1" dirty="0">
                <a:solidFill>
                  <a:srgbClr val="0E1C42"/>
                </a:solidFill>
                <a:latin typeface="Calibri" pitchFamily="34" charset="0"/>
                <a:ea typeface="Calibri" pitchFamily="34" charset="-122"/>
                <a:cs typeface="Calibri" pitchFamily="34" charset="-120"/>
              </a:rPr>
              <a:t>Name two landforms and describe what each one looks like.</a:t>
            </a:r>
            <a:endParaRPr lang="en-US" sz="1000" dirty="0"/>
          </a:p>
        </p:txBody>
      </p:sp>
      <p:sp>
        <p:nvSpPr>
          <p:cNvPr id="11" name="Shape 9"/>
          <p:cNvSpPr/>
          <p:nvPr/>
        </p:nvSpPr>
        <p:spPr>
          <a:xfrm>
            <a:off x="5852160" y="1950720"/>
            <a:ext cx="4876800" cy="2113280"/>
          </a:xfrm>
          <a:prstGeom prst="roundRect">
            <a:avLst>
              <a:gd name="adj" fmla="val 7692"/>
            </a:avLst>
          </a:prstGeom>
          <a:solidFill>
            <a:srgbClr val="FFFFFF"/>
          </a:solidFill>
          <a:ln w="12700">
            <a:solidFill>
              <a:srgbClr val="1A8A7D"/>
            </a:solidFill>
            <a:prstDash val="solid"/>
          </a:ln>
          <a:effectLst>
            <a:outerShdw sx="100000" sy="100000" kx="0" ky="0" algn="bl" rotWithShape="0" blurRad="50800" dist="12700" dir="8100000">
              <a:srgbClr val="000000">
                <a:alpha val="10000"/>
              </a:srgbClr>
            </a:outerShdw>
          </a:effectLst>
        </p:spPr>
      </p:sp>
      <p:sp>
        <p:nvSpPr>
          <p:cNvPr id="12" name="Text 10"/>
          <p:cNvSpPr/>
          <p:nvPr/>
        </p:nvSpPr>
        <p:spPr>
          <a:xfrm>
            <a:off x="6096000" y="2032000"/>
            <a:ext cx="4389120" cy="325120"/>
          </a:xfrm>
          <a:prstGeom prst="rect">
            <a:avLst/>
          </a:prstGeom>
          <a:noFill/>
          <a:ln/>
        </p:spPr>
        <p:txBody>
          <a:bodyPr wrap="square" lIns="0" tIns="0" rIns="0" bIns="0" rtlCol="0" anchor="ctr"/>
          <a:lstStyle/>
          <a:p>
            <a:pPr indent="0" marL="0">
              <a:buNone/>
            </a:pPr>
            <a:r>
              <a:rPr lang="en-US" sz="800" b="1" spc="150" kern="0" dirty="0">
                <a:solidFill>
                  <a:srgbClr val="1A8A7D"/>
                </a:solidFill>
                <a:latin typeface="Calibri" pitchFamily="34" charset="0"/>
                <a:ea typeface="Calibri" pitchFamily="34" charset="-122"/>
                <a:cs typeface="Calibri" pitchFamily="34" charset="-120"/>
              </a:rPr>
              <a:t>EVIDENCE Q2</a:t>
            </a:r>
            <a:endParaRPr lang="en-US" sz="800" dirty="0"/>
          </a:p>
        </p:txBody>
      </p:sp>
      <p:sp>
        <p:nvSpPr>
          <p:cNvPr id="13" name="Text 11"/>
          <p:cNvSpPr/>
          <p:nvPr/>
        </p:nvSpPr>
        <p:spPr>
          <a:xfrm>
            <a:off x="6096000" y="2438400"/>
            <a:ext cx="4389120" cy="1381760"/>
          </a:xfrm>
          <a:prstGeom prst="rect">
            <a:avLst/>
          </a:prstGeom>
          <a:noFill/>
          <a:ln/>
        </p:spPr>
        <p:txBody>
          <a:bodyPr wrap="square" lIns="0" tIns="0" rIns="0" bIns="0" rtlCol="0" anchor="ctr"/>
          <a:lstStyle/>
          <a:p>
            <a:pPr indent="0" marL="0">
              <a:buNone/>
            </a:pPr>
            <a:r>
              <a:rPr lang="en-US" sz="1000" b="1" dirty="0">
                <a:solidFill>
                  <a:srgbClr val="0E1C42"/>
                </a:solidFill>
                <a:latin typeface="Calibri" pitchFamily="34" charset="0"/>
                <a:ea typeface="Calibri" pitchFamily="34" charset="-122"/>
                <a:cs typeface="Calibri" pitchFamily="34" charset="-120"/>
              </a:rPr>
              <a:t>What is the difference between a river and a lake? Use what you learned to explain.</a:t>
            </a:r>
            <a:endParaRPr lang="en-US" sz="1000" dirty="0"/>
          </a:p>
        </p:txBody>
      </p:sp>
      <p:sp>
        <p:nvSpPr>
          <p:cNvPr id="14" name="Shape 12"/>
          <p:cNvSpPr/>
          <p:nvPr/>
        </p:nvSpPr>
        <p:spPr>
          <a:xfrm>
            <a:off x="11054080" y="1950720"/>
            <a:ext cx="4551680" cy="2113280"/>
          </a:xfrm>
          <a:prstGeom prst="roundRect">
            <a:avLst>
              <a:gd name="adj" fmla="val 7692"/>
            </a:avLst>
          </a:prstGeom>
          <a:solidFill>
            <a:srgbClr val="FFFFFF"/>
          </a:solidFill>
          <a:ln w="12700">
            <a:solidFill>
              <a:srgbClr val="1A8A7D"/>
            </a:solidFill>
            <a:prstDash val="solid"/>
          </a:ln>
          <a:effectLst>
            <a:outerShdw sx="100000" sy="100000" kx="0" ky="0" algn="bl" rotWithShape="0" blurRad="50800" dist="12700" dir="8100000">
              <a:srgbClr val="000000">
                <a:alpha val="10000"/>
              </a:srgbClr>
            </a:outerShdw>
          </a:effectLst>
        </p:spPr>
      </p:sp>
      <p:sp>
        <p:nvSpPr>
          <p:cNvPr id="15" name="Text 13"/>
          <p:cNvSpPr/>
          <p:nvPr/>
        </p:nvSpPr>
        <p:spPr>
          <a:xfrm>
            <a:off x="11297920" y="2032000"/>
            <a:ext cx="4064000" cy="325120"/>
          </a:xfrm>
          <a:prstGeom prst="rect">
            <a:avLst/>
          </a:prstGeom>
          <a:noFill/>
          <a:ln/>
        </p:spPr>
        <p:txBody>
          <a:bodyPr wrap="square" lIns="0" tIns="0" rIns="0" bIns="0" rtlCol="0" anchor="ctr"/>
          <a:lstStyle/>
          <a:p>
            <a:pPr indent="0" marL="0">
              <a:buNone/>
            </a:pPr>
            <a:r>
              <a:rPr lang="en-US" sz="800" b="1" spc="150" kern="0" dirty="0">
                <a:solidFill>
                  <a:srgbClr val="1A8A7D"/>
                </a:solidFill>
                <a:latin typeface="Calibri" pitchFamily="34" charset="0"/>
                <a:ea typeface="Calibri" pitchFamily="34" charset="-122"/>
                <a:cs typeface="Calibri" pitchFamily="34" charset="-120"/>
              </a:rPr>
              <a:t>EVIDENCE Q3</a:t>
            </a:r>
            <a:endParaRPr lang="en-US" sz="800" dirty="0"/>
          </a:p>
        </p:txBody>
      </p:sp>
      <p:sp>
        <p:nvSpPr>
          <p:cNvPr id="16" name="Text 14"/>
          <p:cNvSpPr/>
          <p:nvPr/>
        </p:nvSpPr>
        <p:spPr>
          <a:xfrm>
            <a:off x="11297920" y="2438400"/>
            <a:ext cx="4064000" cy="1381760"/>
          </a:xfrm>
          <a:prstGeom prst="rect">
            <a:avLst/>
          </a:prstGeom>
          <a:noFill/>
          <a:ln/>
        </p:spPr>
        <p:txBody>
          <a:bodyPr wrap="square" lIns="0" tIns="0" rIns="0" bIns="0" rtlCol="0" anchor="ctr"/>
          <a:lstStyle/>
          <a:p>
            <a:pPr indent="0" marL="0">
              <a:buNone/>
            </a:pPr>
            <a:r>
              <a:rPr lang="en-US" sz="1000" b="1" dirty="0">
                <a:solidFill>
                  <a:srgbClr val="0E1C42"/>
                </a:solidFill>
                <a:latin typeface="Calibri" pitchFamily="34" charset="0"/>
                <a:ea typeface="Calibri" pitchFamily="34" charset="-122"/>
                <a:cs typeface="Calibri" pitchFamily="34" charset="-120"/>
              </a:rPr>
              <a:t>Why was it important to put the feature cards back on the world map? What would visitors miss without them?</a:t>
            </a:r>
            <a:endParaRPr lang="en-US" sz="1000" dirty="0"/>
          </a:p>
        </p:txBody>
      </p:sp>
      <p:sp>
        <p:nvSpPr>
          <p:cNvPr id="17" name="Shape 15"/>
          <p:cNvSpPr/>
          <p:nvPr/>
        </p:nvSpPr>
        <p:spPr>
          <a:xfrm>
            <a:off x="650240" y="4389120"/>
            <a:ext cx="14955520" cy="1869440"/>
          </a:xfrm>
          <a:prstGeom prst="roundRect">
            <a:avLst>
              <a:gd name="adj" fmla="val 10435"/>
            </a:avLst>
          </a:prstGeom>
          <a:solidFill>
            <a:srgbClr val="FFF3DC"/>
          </a:solidFill>
          <a:ln w="19050">
            <a:solidFill>
              <a:srgbClr val="D4943A"/>
            </a:solidFill>
            <a:prstDash val="solid"/>
          </a:ln>
        </p:spPr>
      </p:sp>
      <p:sp>
        <p:nvSpPr>
          <p:cNvPr id="18" name="Text 16"/>
          <p:cNvSpPr/>
          <p:nvPr/>
        </p:nvSpPr>
        <p:spPr>
          <a:xfrm>
            <a:off x="975360" y="4470400"/>
            <a:ext cx="1430528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CURATOR TASK: FEATURE CARD EXPLANATION</a:t>
            </a:r>
            <a:endParaRPr lang="en-US" sz="900" dirty="0"/>
          </a:p>
        </p:txBody>
      </p:sp>
      <p:sp>
        <p:nvSpPr>
          <p:cNvPr id="19" name="Text 17"/>
          <p:cNvSpPr/>
          <p:nvPr/>
        </p:nvSpPr>
        <p:spPr>
          <a:xfrm>
            <a:off x="975360" y="4876800"/>
            <a:ext cx="14305280" cy="1219200"/>
          </a:xfrm>
          <a:prstGeom prst="rect">
            <a:avLst/>
          </a:prstGeom>
          <a:noFill/>
          <a:ln/>
        </p:spPr>
        <p:txBody>
          <a:bodyPr wrap="square" lIns="0" tIns="0" rIns="0" bIns="0" rtlCol="0" anchor="t"/>
          <a:lstStyle/>
          <a:p>
            <a:pPr indent="0" marL="0">
              <a:lnSpc>
                <a:spcPct val="115000"/>
              </a:lnSpc>
              <a:buNone/>
            </a:pPr>
            <a:r>
              <a:rPr lang="en-US" sz="1000" dirty="0">
                <a:solidFill>
                  <a:srgbClr val="0E1C42"/>
                </a:solidFill>
                <a:latin typeface="Calibri" pitchFamily="34" charset="0"/>
                <a:ea typeface="Calibri" pitchFamily="34" charset="-122"/>
                <a:cs typeface="Calibri" pitchFamily="34" charset="-120"/>
              </a:rPr>
              <a:t>Help the volunteer explain why landform and water cards belong on the map. The volunteer wants to put a small note on the display that explains why the map needs feature cards -- not just continent and ocean labels. Write 2-3 sentences to help him. Explain what landform and water cards show that continent labels don't.</a:t>
            </a:r>
            <a:endParaRPr lang="en-US" sz="1000" dirty="0"/>
          </a:p>
        </p:txBody>
      </p:sp>
      <p:sp>
        <p:nvSpPr>
          <p:cNvPr id="20" name="Shape 18"/>
          <p:cNvSpPr/>
          <p:nvPr/>
        </p:nvSpPr>
        <p:spPr>
          <a:xfrm>
            <a:off x="650240" y="6583680"/>
            <a:ext cx="7152640" cy="1056640"/>
          </a:xfrm>
          <a:prstGeom prst="roundRect">
            <a:avLst>
              <a:gd name="adj" fmla="val 15385"/>
            </a:avLst>
          </a:prstGeom>
          <a:solidFill>
            <a:srgbClr val="F0E8FF"/>
          </a:solidFill>
          <a:ln w="12700">
            <a:solidFill>
              <a:srgbClr val="8B6FC0"/>
            </a:solidFill>
            <a:prstDash val="solid"/>
          </a:ln>
        </p:spPr>
      </p:sp>
      <p:sp>
        <p:nvSpPr>
          <p:cNvPr id="21" name="Text 19"/>
          <p:cNvSpPr/>
          <p:nvPr/>
        </p:nvSpPr>
        <p:spPr>
          <a:xfrm>
            <a:off x="894080" y="6632448"/>
            <a:ext cx="6664960" cy="325120"/>
          </a:xfrm>
          <a:prstGeom prst="rect">
            <a:avLst/>
          </a:prstGeom>
          <a:noFill/>
          <a:ln/>
        </p:spPr>
        <p:txBody>
          <a:bodyPr wrap="square" lIns="0" tIns="0" rIns="0" bIns="0" rtlCol="0" anchor="ctr"/>
          <a:lstStyle/>
          <a:p>
            <a:pPr indent="0" marL="0">
              <a:buNone/>
            </a:pPr>
            <a:r>
              <a:rPr lang="en-US" sz="800" b="1" spc="150" kern="0" dirty="0">
                <a:solidFill>
                  <a:srgbClr val="8B6FC0"/>
                </a:solidFill>
                <a:latin typeface="Calibri" pitchFamily="34" charset="0"/>
                <a:ea typeface="Calibri" pitchFamily="34" charset="-122"/>
                <a:cs typeface="Calibri" pitchFamily="34" charset="-120"/>
              </a:rPr>
              <a:t>CURATOR'S CHRONICLE</a:t>
            </a:r>
            <a:endParaRPr lang="en-US" sz="800" dirty="0"/>
          </a:p>
        </p:txBody>
      </p:sp>
      <p:sp>
        <p:nvSpPr>
          <p:cNvPr id="22" name="Text 20"/>
          <p:cNvSpPr/>
          <p:nvPr/>
        </p:nvSpPr>
        <p:spPr>
          <a:xfrm>
            <a:off x="894080" y="6990080"/>
            <a:ext cx="6664960" cy="568960"/>
          </a:xfrm>
          <a:prstGeom prst="rect">
            <a:avLst/>
          </a:prstGeom>
          <a:noFill/>
          <a:ln/>
        </p:spPr>
        <p:txBody>
          <a:bodyPr wrap="square" lIns="0" tIns="0" rIns="0" bIns="0" rtlCol="0" anchor="ctr"/>
          <a:lstStyle/>
          <a:p>
            <a:pPr indent="0" marL="0">
              <a:buNone/>
            </a:pPr>
            <a:r>
              <a:rPr lang="en-US" sz="1100" b="1" i="1" dirty="0">
                <a:solidFill>
                  <a:srgbClr val="8B6FC0"/>
                </a:solidFill>
                <a:latin typeface="Cambria" pitchFamily="34" charset="0"/>
                <a:ea typeface="Cambria" pitchFamily="34" charset="-122"/>
                <a:cs typeface="Cambria" pitchFamily="34" charset="-120"/>
              </a:rPr>
              <a:t>In this exhibit, I learned that ______ because ______.</a:t>
            </a:r>
            <a:endParaRPr lang="en-US" sz="1100" dirty="0"/>
          </a:p>
        </p:txBody>
      </p:sp>
      <p:sp>
        <p:nvSpPr>
          <p:cNvPr id="23" name="Shape 21"/>
          <p:cNvSpPr/>
          <p:nvPr/>
        </p:nvSpPr>
        <p:spPr>
          <a:xfrm>
            <a:off x="8128000" y="6583680"/>
            <a:ext cx="7315200" cy="1869440"/>
          </a:xfrm>
          <a:prstGeom prst="roundRect">
            <a:avLst>
              <a:gd name="adj" fmla="val 8696"/>
            </a:avLst>
          </a:prstGeom>
          <a:solidFill>
            <a:srgbClr val="E3F8ED"/>
          </a:solidFill>
          <a:ln w="12700">
            <a:solidFill>
              <a:srgbClr val="34B76F"/>
            </a:solidFill>
            <a:prstDash val="solid"/>
          </a:ln>
        </p:spPr>
      </p:sp>
      <p:sp>
        <p:nvSpPr>
          <p:cNvPr id="24" name="Text 22"/>
          <p:cNvSpPr/>
          <p:nvPr/>
        </p:nvSpPr>
        <p:spPr>
          <a:xfrm>
            <a:off x="8371840" y="6632448"/>
            <a:ext cx="6827520" cy="325120"/>
          </a:xfrm>
          <a:prstGeom prst="rect">
            <a:avLst/>
          </a:prstGeom>
          <a:noFill/>
          <a:ln/>
        </p:spPr>
        <p:txBody>
          <a:bodyPr wrap="square" lIns="0" tIns="0" rIns="0" bIns="0" rtlCol="0" anchor="ctr"/>
          <a:lstStyle/>
          <a:p>
            <a:pPr indent="0" marL="0">
              <a:buNone/>
            </a:pPr>
            <a:r>
              <a:rPr lang="en-US" sz="800" b="1" spc="150" kern="0" dirty="0">
                <a:solidFill>
                  <a:srgbClr val="34B76F"/>
                </a:solidFill>
                <a:latin typeface="Calibri" pitchFamily="34" charset="0"/>
                <a:ea typeface="Calibri" pitchFamily="34" charset="-122"/>
                <a:cs typeface="Calibri" pitchFamily="34" charset="-120"/>
              </a:rPr>
              <a:t>TURN-IN CHECKLIST</a:t>
            </a:r>
            <a:endParaRPr lang="en-US" sz="800" dirty="0"/>
          </a:p>
        </p:txBody>
      </p:sp>
      <p:sp>
        <p:nvSpPr>
          <p:cNvPr id="25" name="Shape 23"/>
          <p:cNvSpPr/>
          <p:nvPr/>
        </p:nvSpPr>
        <p:spPr>
          <a:xfrm>
            <a:off x="8615680" y="7022592"/>
            <a:ext cx="243840" cy="243840"/>
          </a:xfrm>
          <a:prstGeom prst="roundRect">
            <a:avLst>
              <a:gd name="adj" fmla="val 20000"/>
            </a:avLst>
          </a:prstGeom>
          <a:solidFill>
            <a:srgbClr val="FFFFFF"/>
          </a:solidFill>
          <a:ln w="6350">
            <a:solidFill>
              <a:srgbClr val="34B76F"/>
            </a:solidFill>
            <a:prstDash val="solid"/>
          </a:ln>
        </p:spPr>
      </p:sp>
      <p:sp>
        <p:nvSpPr>
          <p:cNvPr id="26" name="Text 24"/>
          <p:cNvSpPr/>
          <p:nvPr/>
        </p:nvSpPr>
        <p:spPr>
          <a:xfrm>
            <a:off x="9022080" y="6957568"/>
            <a:ext cx="6177280" cy="325120"/>
          </a:xfrm>
          <a:prstGeom prst="rect">
            <a:avLst/>
          </a:prstGeom>
          <a:noFill/>
          <a:ln/>
        </p:spPr>
        <p:txBody>
          <a:bodyPr wrap="square" lIns="0" tIns="0" rIns="0" bIns="0" rtlCol="0" anchor="ctr"/>
          <a:lstStyle/>
          <a:p>
            <a:pPr indent="0" marL="0">
              <a:buNone/>
            </a:pPr>
            <a:r>
              <a:rPr lang="en-US" sz="900" dirty="0">
                <a:solidFill>
                  <a:srgbClr val="0E1C42"/>
                </a:solidFill>
                <a:latin typeface="Calibri" pitchFamily="34" charset="0"/>
                <a:ea typeface="Calibri" pitchFamily="34" charset="-122"/>
                <a:cs typeface="Calibri" pitchFamily="34" charset="-120"/>
              </a:rPr>
              <a:t>Evidence questions</a:t>
            </a:r>
            <a:endParaRPr lang="en-US" sz="900" dirty="0"/>
          </a:p>
        </p:txBody>
      </p:sp>
      <p:sp>
        <p:nvSpPr>
          <p:cNvPr id="27" name="Shape 25"/>
          <p:cNvSpPr/>
          <p:nvPr/>
        </p:nvSpPr>
        <p:spPr>
          <a:xfrm>
            <a:off x="8615680" y="7347712"/>
            <a:ext cx="243840" cy="243840"/>
          </a:xfrm>
          <a:prstGeom prst="roundRect">
            <a:avLst>
              <a:gd name="adj" fmla="val 20000"/>
            </a:avLst>
          </a:prstGeom>
          <a:solidFill>
            <a:srgbClr val="FFFFFF"/>
          </a:solidFill>
          <a:ln w="6350">
            <a:solidFill>
              <a:srgbClr val="34B76F"/>
            </a:solidFill>
            <a:prstDash val="solid"/>
          </a:ln>
        </p:spPr>
      </p:sp>
      <p:sp>
        <p:nvSpPr>
          <p:cNvPr id="28" name="Text 26"/>
          <p:cNvSpPr/>
          <p:nvPr/>
        </p:nvSpPr>
        <p:spPr>
          <a:xfrm>
            <a:off x="9022080" y="7282688"/>
            <a:ext cx="6177280" cy="325120"/>
          </a:xfrm>
          <a:prstGeom prst="rect">
            <a:avLst/>
          </a:prstGeom>
          <a:noFill/>
          <a:ln/>
        </p:spPr>
        <p:txBody>
          <a:bodyPr wrap="square" lIns="0" tIns="0" rIns="0" bIns="0" rtlCol="0" anchor="ctr"/>
          <a:lstStyle/>
          <a:p>
            <a:pPr indent="0" marL="0">
              <a:buNone/>
            </a:pPr>
            <a:r>
              <a:rPr lang="en-US" sz="900" dirty="0">
                <a:solidFill>
                  <a:srgbClr val="0E1C42"/>
                </a:solidFill>
                <a:latin typeface="Calibri" pitchFamily="34" charset="0"/>
                <a:ea typeface="Calibri" pitchFamily="34" charset="-122"/>
                <a:cs typeface="Calibri" pitchFamily="34" charset="-120"/>
              </a:rPr>
              <a:t>Curator Task: Feature Card Explanation</a:t>
            </a:r>
            <a:endParaRPr lang="en-US" sz="900" dirty="0"/>
          </a:p>
        </p:txBody>
      </p:sp>
      <p:sp>
        <p:nvSpPr>
          <p:cNvPr id="29" name="Shape 27"/>
          <p:cNvSpPr/>
          <p:nvPr/>
        </p:nvSpPr>
        <p:spPr>
          <a:xfrm>
            <a:off x="8615680" y="7672832"/>
            <a:ext cx="243840" cy="243840"/>
          </a:xfrm>
          <a:prstGeom prst="roundRect">
            <a:avLst>
              <a:gd name="adj" fmla="val 20000"/>
            </a:avLst>
          </a:prstGeom>
          <a:solidFill>
            <a:srgbClr val="FFFFFF"/>
          </a:solidFill>
          <a:ln w="6350">
            <a:solidFill>
              <a:srgbClr val="34B76F"/>
            </a:solidFill>
            <a:prstDash val="solid"/>
          </a:ln>
        </p:spPr>
      </p:sp>
      <p:sp>
        <p:nvSpPr>
          <p:cNvPr id="30" name="Text 28"/>
          <p:cNvSpPr/>
          <p:nvPr/>
        </p:nvSpPr>
        <p:spPr>
          <a:xfrm>
            <a:off x="9022080" y="7607808"/>
            <a:ext cx="6177280" cy="325120"/>
          </a:xfrm>
          <a:prstGeom prst="rect">
            <a:avLst/>
          </a:prstGeom>
          <a:noFill/>
          <a:ln/>
        </p:spPr>
        <p:txBody>
          <a:bodyPr wrap="square" lIns="0" tIns="0" rIns="0" bIns="0" rtlCol="0" anchor="ctr"/>
          <a:lstStyle/>
          <a:p>
            <a:pPr indent="0" marL="0">
              <a:buNone/>
            </a:pPr>
            <a:r>
              <a:rPr lang="en-US" sz="900" dirty="0">
                <a:solidFill>
                  <a:srgbClr val="0E1C42"/>
                </a:solidFill>
                <a:latin typeface="Calibri" pitchFamily="34" charset="0"/>
                <a:ea typeface="Calibri" pitchFamily="34" charset="-122"/>
                <a:cs typeface="Calibri" pitchFamily="34" charset="-120"/>
              </a:rPr>
              <a:t>Curator's Chronicle</a:t>
            </a:r>
            <a:endParaRPr lang="en-US" sz="900" dirty="0"/>
          </a:p>
        </p:txBody>
      </p:sp>
      <p:sp>
        <p:nvSpPr>
          <p:cNvPr id="31" name="Shape 29"/>
          <p:cNvSpPr/>
          <p:nvPr/>
        </p:nvSpPr>
        <p:spPr>
          <a:xfrm>
            <a:off x="8615680" y="7997952"/>
            <a:ext cx="243840" cy="243840"/>
          </a:xfrm>
          <a:prstGeom prst="roundRect">
            <a:avLst>
              <a:gd name="adj" fmla="val 20000"/>
            </a:avLst>
          </a:prstGeom>
          <a:solidFill>
            <a:srgbClr val="FFFFFF"/>
          </a:solidFill>
          <a:ln w="6350">
            <a:solidFill>
              <a:srgbClr val="34B76F"/>
            </a:solidFill>
            <a:prstDash val="solid"/>
          </a:ln>
        </p:spPr>
      </p:sp>
      <p:sp>
        <p:nvSpPr>
          <p:cNvPr id="32" name="Text 30"/>
          <p:cNvSpPr/>
          <p:nvPr/>
        </p:nvSpPr>
        <p:spPr>
          <a:xfrm>
            <a:off x="9022080" y="7932928"/>
            <a:ext cx="6177280" cy="325120"/>
          </a:xfrm>
          <a:prstGeom prst="rect">
            <a:avLst/>
          </a:prstGeom>
          <a:noFill/>
          <a:ln/>
        </p:spPr>
        <p:txBody>
          <a:bodyPr wrap="square" lIns="0" tIns="0" rIns="0" bIns="0" rtlCol="0" anchor="ctr"/>
          <a:lstStyle/>
          <a:p>
            <a:pPr indent="0" marL="0">
              <a:buNone/>
            </a:pPr>
            <a:r>
              <a:rPr lang="en-US" sz="900" dirty="0">
                <a:solidFill>
                  <a:srgbClr val="0E1C42"/>
                </a:solidFill>
                <a:latin typeface="Calibri" pitchFamily="34" charset="0"/>
                <a:ea typeface="Calibri" pitchFamily="34" charset="-122"/>
                <a:cs typeface="Calibri" pitchFamily="34" charset="-120"/>
              </a:rPr>
              <a:t>Submitted to Canvas</a:t>
            </a:r>
            <a:endParaRPr lang="en-US" sz="900" dirty="0"/>
          </a:p>
        </p:txBody>
      </p:sp>
      <p:sp>
        <p:nvSpPr>
          <p:cNvPr id="33" name="Text 31"/>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19 / 20</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Shape 2"/>
          <p:cNvSpPr/>
          <p:nvPr/>
        </p:nvSpPr>
        <p:spPr>
          <a:xfrm>
            <a:off x="650240" y="568960"/>
            <a:ext cx="2926080" cy="455168"/>
          </a:xfrm>
          <a:prstGeom prst="roundRect">
            <a:avLst>
              <a:gd name="adj" fmla="val 50000"/>
            </a:avLst>
          </a:prstGeom>
          <a:solidFill>
            <a:srgbClr val="55C8E8"/>
          </a:solidFill>
          <a:ln/>
          <a:effectLst>
            <a:outerShdw sx="100000" sy="100000" kx="0" ky="0" algn="bl" rotWithShape="0" blurRad="50800" dist="12700" dir="8100000">
              <a:srgbClr val="000000">
                <a:alpha val="15000"/>
              </a:srgbClr>
            </a:outerShdw>
          </a:effectLst>
        </p:spPr>
      </p:sp>
      <p:sp>
        <p:nvSpPr>
          <p:cNvPr id="6" name="Text 3"/>
          <p:cNvSpPr/>
          <p:nvPr/>
        </p:nvSpPr>
        <p:spPr>
          <a:xfrm>
            <a:off x="650240" y="568960"/>
            <a:ext cx="2926080" cy="455168"/>
          </a:xfrm>
          <a:prstGeom prst="rect">
            <a:avLst/>
          </a:prstGeom>
          <a:noFill/>
          <a:ln/>
        </p:spPr>
        <p:txBody>
          <a:bodyPr wrap="square" lIns="0" tIns="0" rIns="0" bIns="0" rtlCol="0" anchor="ctr"/>
          <a:lstStyle/>
          <a:p>
            <a:pPr algn="ctr" indent="0" marL="0">
              <a:buNone/>
            </a:pPr>
            <a:r>
              <a:rPr lang="en-US" sz="800" b="1" spc="120" kern="0" dirty="0">
                <a:solidFill>
                  <a:srgbClr val="FFFFFF"/>
                </a:solidFill>
                <a:latin typeface="Calibri" pitchFamily="34" charset="0"/>
                <a:ea typeface="Calibri" pitchFamily="34" charset="-122"/>
                <a:cs typeface="Calibri" pitchFamily="34" charset="-120"/>
              </a:rPr>
              <a:t>CLOSING</a:t>
            </a:r>
            <a:endParaRPr lang="en-US" sz="800" dirty="0"/>
          </a:p>
        </p:txBody>
      </p:sp>
      <p:sp>
        <p:nvSpPr>
          <p:cNvPr id="7" name="Text 4"/>
          <p:cNvSpPr/>
          <p:nvPr/>
        </p:nvSpPr>
        <p:spPr>
          <a:xfrm>
            <a:off x="650240" y="1625600"/>
            <a:ext cx="9753600" cy="1950720"/>
          </a:xfrm>
          <a:prstGeom prst="rect">
            <a:avLst/>
          </a:prstGeom>
          <a:noFill/>
          <a:ln/>
          <a:effectLst>
            <a:outerShdw sx="100000" sy="100000" kx="0" ky="0" algn="bl" rotWithShape="0" blurRad="76200" dist="25400" dir="16200000">
              <a:srgbClr val="000000">
                <a:alpha val="35000"/>
              </a:srgbClr>
            </a:outerShdw>
          </a:effectLst>
        </p:spPr>
        <p:txBody>
          <a:bodyPr wrap="square" rtlCol="0" anchor="ctr"/>
          <a:lstStyle/>
          <a:p>
            <a:pPr indent="0" marL="0">
              <a:lnSpc>
                <a:spcPct val="110000"/>
              </a:lnSpc>
              <a:buNone/>
            </a:pPr>
            <a:r>
              <a:rPr lang="en-US" sz="3000" b="1" dirty="0">
                <a:solidFill>
                  <a:srgbClr val="FFFFFF"/>
                </a:solidFill>
                <a:latin typeface="Cambria" pitchFamily="34" charset="0"/>
                <a:ea typeface="Cambria" pitchFamily="34" charset="-122"/>
                <a:cs typeface="Cambria" pitchFamily="34" charset="-120"/>
              </a:rPr>
              <a:t>Great Work, World</a:t>
            </a:r>
            <a:endParaRPr lang="en-US" sz="3000" dirty="0"/>
          </a:p>
          <a:p>
            <a:pPr indent="0" marL="0">
              <a:lnSpc>
                <a:spcPct val="110000"/>
              </a:lnSpc>
              <a:buNone/>
            </a:pPr>
            <a:r>
              <a:rPr lang="en-US" sz="3000" b="1" dirty="0">
                <a:solidFill>
                  <a:srgbClr val="FFFFFF"/>
                </a:solidFill>
                <a:latin typeface="Cambria" pitchFamily="34" charset="0"/>
                <a:ea typeface="Cambria" pitchFamily="34" charset="-122"/>
                <a:cs typeface="Cambria" pitchFamily="34" charset="-120"/>
              </a:rPr>
              <a:t>Geography Curator!</a:t>
            </a:r>
            <a:endParaRPr lang="en-US" sz="3000" dirty="0"/>
          </a:p>
        </p:txBody>
      </p:sp>
      <p:sp>
        <p:nvSpPr>
          <p:cNvPr id="8" name="Text 5"/>
          <p:cNvSpPr/>
          <p:nvPr/>
        </p:nvSpPr>
        <p:spPr>
          <a:xfrm>
            <a:off x="650240" y="3738880"/>
            <a:ext cx="8940800" cy="975360"/>
          </a:xfrm>
          <a:prstGeom prst="rect">
            <a:avLst/>
          </a:prstGeom>
          <a:noFill/>
          <a:ln/>
        </p:spPr>
        <p:txBody>
          <a:bodyPr wrap="square" lIns="0" tIns="0" rIns="0" bIns="0" rtlCol="0" anchor="ctr"/>
          <a:lstStyle/>
          <a:p>
            <a:pPr indent="0" marL="0">
              <a:buNone/>
            </a:pPr>
            <a:r>
              <a:rPr lang="en-US" sz="1300" dirty="0">
                <a:solidFill>
                  <a:srgbClr val="55C8E8"/>
                </a:solidFill>
                <a:latin typeface="Calibri" pitchFamily="34" charset="0"/>
                <a:ea typeface="Calibri" pitchFamily="34" charset="-122"/>
                <a:cs typeface="Calibri" pitchFamily="34" charset="-120"/>
              </a:rPr>
              <a:t>You sorted the landform and water cards and explained how they add meaningful detail to the world map.</a:t>
            </a:r>
            <a:endParaRPr lang="en-US" sz="1300" dirty="0"/>
          </a:p>
        </p:txBody>
      </p:sp>
      <p:sp>
        <p:nvSpPr>
          <p:cNvPr id="9" name="Shape 6"/>
          <p:cNvSpPr/>
          <p:nvPr/>
        </p:nvSpPr>
        <p:spPr>
          <a:xfrm>
            <a:off x="650240" y="5201920"/>
            <a:ext cx="9753600" cy="2600960"/>
          </a:xfrm>
          <a:prstGeom prst="roundRect">
            <a:avLst>
              <a:gd name="adj" fmla="val 7500"/>
            </a:avLst>
          </a:prstGeom>
          <a:solidFill>
            <a:srgbClr val="1A2D5A"/>
          </a:solidFill>
          <a:ln w="12700">
            <a:solidFill>
              <a:srgbClr val="D4943A"/>
            </a:solidFill>
            <a:prstDash val="solid"/>
          </a:ln>
        </p:spPr>
      </p:sp>
      <p:sp>
        <p:nvSpPr>
          <p:cNvPr id="10" name="Text 7"/>
          <p:cNvSpPr/>
          <p:nvPr/>
        </p:nvSpPr>
        <p:spPr>
          <a:xfrm>
            <a:off x="975360" y="5283200"/>
            <a:ext cx="910336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COMING NEXT: LESSON 3.05.03</a:t>
            </a:r>
            <a:endParaRPr lang="en-US" sz="900" dirty="0"/>
          </a:p>
        </p:txBody>
      </p:sp>
      <p:sp>
        <p:nvSpPr>
          <p:cNvPr id="11" name="Text 8"/>
          <p:cNvSpPr/>
          <p:nvPr/>
        </p:nvSpPr>
        <p:spPr>
          <a:xfrm>
            <a:off x="975360" y="5770880"/>
            <a:ext cx="9103360" cy="186944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Calibri" pitchFamily="34" charset="0"/>
                <a:ea typeface="Calibri" pitchFamily="34" charset="-122"/>
                <a:cs typeface="Calibri" pitchFamily="34" charset="-120"/>
              </a:rPr>
              <a:t>The feature cards are pinned back where they belong. But the head curator is frowning at three blank side panels on the wall. One says Climate, one says Vegetation, one says Resources.</a:t>
            </a:r>
            <a:endParaRPr lang="en-US" sz="1100" dirty="0"/>
          </a:p>
          <a:p>
            <a:pPr indent="0" marL="0">
              <a:lnSpc>
                <a:spcPct val="115000"/>
              </a:lnSpc>
              <a:buNone/>
            </a:pPr>
            <a:endParaRPr lang="en-US" sz="1100" dirty="0"/>
          </a:p>
          <a:p>
            <a:pPr indent="0" marL="0">
              <a:lnSpc>
                <a:spcPct val="115000"/>
              </a:lnSpc>
              <a:buNone/>
            </a:pPr>
            <a:r>
              <a:rPr lang="en-US" sz="1100" dirty="0">
                <a:solidFill>
                  <a:srgbClr val="FFFFFF"/>
                </a:solidFill>
                <a:latin typeface="Calibri" pitchFamily="34" charset="0"/>
                <a:ea typeface="Calibri" pitchFamily="34" charset="-122"/>
                <a:cs typeface="Calibri" pitchFamily="34" charset="-120"/>
              </a:rPr>
              <a:t>"These panels are still empty," she says. The young volunteer tilts his head. "Why does it matter what grows somewhere?"</a:t>
            </a:r>
            <a:endParaRPr lang="en-US" sz="1100" dirty="0"/>
          </a:p>
          <a:p>
            <a:pPr indent="0" marL="0">
              <a:lnSpc>
                <a:spcPct val="115000"/>
              </a:lnSpc>
              <a:buNone/>
            </a:pPr>
            <a:endParaRPr lang="en-US" sz="1100" dirty="0"/>
          </a:p>
          <a:p>
            <a:pPr indent="0" marL="0">
              <a:lnSpc>
                <a:spcPct val="115000"/>
              </a:lnSpc>
              <a:buNone/>
            </a:pPr>
            <a:r>
              <a:rPr lang="en-US" sz="1100" dirty="0">
                <a:solidFill>
                  <a:srgbClr val="FFFFFF"/>
                </a:solidFill>
                <a:latin typeface="Calibri" pitchFamily="34" charset="0"/>
                <a:ea typeface="Calibri" pitchFamily="34" charset="-122"/>
                <a:cs typeface="Calibri" pitchFamily="34" charset="-120"/>
              </a:rPr>
              <a:t>Tomorrow you'll help him figure that out.</a:t>
            </a:r>
            <a:endParaRPr lang="en-US" sz="1100" dirty="0"/>
          </a:p>
        </p:txBody>
      </p:sp>
      <p:sp>
        <p:nvSpPr>
          <p:cNvPr id="12" name="Text 9"/>
          <p:cNvSpPr/>
          <p:nvPr/>
        </p:nvSpPr>
        <p:spPr>
          <a:xfrm>
            <a:off x="14305280" y="8615680"/>
            <a:ext cx="1300480" cy="325120"/>
          </a:xfrm>
          <a:prstGeom prst="rect">
            <a:avLst/>
          </a:prstGeom>
          <a:noFill/>
          <a:ln/>
        </p:spPr>
        <p:txBody>
          <a:bodyPr wrap="square" lIns="0" tIns="0" rIns="0" bIns="0" rtlCol="0" anchor="ctr"/>
          <a:lstStyle/>
          <a:p>
            <a:pPr algn="r" indent="0" marL="0">
              <a:buNone/>
            </a:pPr>
            <a:r>
              <a:rPr lang="en-US" sz="700" dirty="0">
                <a:solidFill>
                  <a:srgbClr val="7A88A8"/>
                </a:solidFill>
                <a:latin typeface="Calibri" pitchFamily="34" charset="0"/>
                <a:ea typeface="Calibri" pitchFamily="34" charset="-122"/>
                <a:cs typeface="Calibri" pitchFamily="34" charset="-120"/>
              </a:rPr>
              <a:t>20 / 20</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3.05.02 Landforms and Bodies of Water</dc:title>
  <dc:subject>PptxGenJS Presentation</dc:subject>
  <dc:creator>Optima Academy Online</dc:creator>
  <cp:lastModifiedBy>Optima Academy Online</cp:lastModifiedBy>
  <cp:revision>1</cp:revision>
  <dcterms:created xsi:type="dcterms:W3CDTF">2026-07-11T02:52:40Z</dcterms:created>
  <dcterms:modified xsi:type="dcterms:W3CDTF">2026-07-11T02:52:40Z</dcterms:modified>
</cp:coreProperties>
</file>