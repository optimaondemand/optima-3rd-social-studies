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 TO INSERT: A panoramic view of North America from space or a wide political map showing Canada, the United States, Mexico, and the Caribbean islands — vibrant, inviting, and clearly labeled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 TO INSERT: A museum gallery entrance with a glowing sign reading 'North America &amp; Caribbean Gallery' — large table with four labeled cards: Canada, United States, Mexico, Caribbean — wall map blank and waiting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 TO INSERT: A museum curator carefully and respectfully labeling a map of different countries — hands gentle, expression focused and kind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 TO INSERT: The gallery wall map now showing four labeled places — Canada, United States, Mexico, Caribbean — all pinned in the correct locations, gallery looking complete and warm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16256000" cy="9144000"/>
          </a:xfrm>
          <a:prstGeom prst="rect">
            <a:avLst/>
          </a:prstGeom>
          <a:solidFill>
            <a:srgbClr val="0B1835"/>
          </a:solidFill>
          <a:ln w="19050">
            <a:solidFill>
              <a:srgbClr val="3A5080"/>
            </a:solidFill>
            <a:prstDash val="dash"/>
          </a:ln>
        </p:spPr>
      </p:sp>
      <p:sp>
        <p:nvSpPr>
          <p:cNvPr id="3" name="Shape 1"/>
          <p:cNvSpPr/>
          <p:nvPr/>
        </p:nvSpPr>
        <p:spPr>
          <a:xfrm>
            <a:off x="0" y="0"/>
            <a:ext cx="16256000" cy="9144000"/>
          </a:xfrm>
          <a:prstGeom prst="rect">
            <a:avLst/>
          </a:prstGeom>
          <a:solidFill>
            <a:srgbClr val="0E1C42">
              <a:alpha val="62000"/>
            </a:srgbClr>
          </a:solidFill>
          <a:ln/>
        </p:spPr>
      </p:sp>
      <p:sp>
        <p:nvSpPr>
          <p:cNvPr id="5" name="Text 2"/>
          <p:cNvSpPr/>
          <p:nvPr/>
        </p:nvSpPr>
        <p:spPr>
          <a:xfrm>
            <a:off x="812800" y="650240"/>
            <a:ext cx="14630400" cy="487680"/>
          </a:xfrm>
          <a:prstGeom prst="rect">
            <a:avLst/>
          </a:prstGeom>
          <a:noFill/>
          <a:ln/>
        </p:spPr>
        <p:txBody>
          <a:bodyPr wrap="square" lIns="0" tIns="0" rIns="0" bIns="0" rtlCol="0" anchor="ctr"/>
          <a:lstStyle/>
          <a:p>
            <a:pPr indent="0" marL="0">
              <a:buNone/>
            </a:pPr>
            <a:r>
              <a:rPr lang="en-US" sz="1000" b="1" spc="200" kern="0" dirty="0">
                <a:solidFill>
                  <a:srgbClr val="55C8E8"/>
                </a:solidFill>
                <a:latin typeface="Calibri" pitchFamily="34" charset="0"/>
                <a:ea typeface="Calibri" pitchFamily="34" charset="-122"/>
                <a:cs typeface="Calibri" pitchFamily="34" charset="-120"/>
              </a:rPr>
              <a:t>OPTIMA ACADEMY ONLINE  |  GRADE 3 SOCIAL STUDIES</a:t>
            </a:r>
            <a:endParaRPr lang="en-US" sz="1000" dirty="0"/>
          </a:p>
        </p:txBody>
      </p:sp>
      <p:sp>
        <p:nvSpPr>
          <p:cNvPr id="6" name="Text 3"/>
          <p:cNvSpPr/>
          <p:nvPr/>
        </p:nvSpPr>
        <p:spPr>
          <a:xfrm>
            <a:off x="812800" y="1950720"/>
            <a:ext cx="11379200" cy="2600960"/>
          </a:xfrm>
          <a:prstGeom prst="rect">
            <a:avLst/>
          </a:prstGeom>
          <a:noFill/>
          <a:ln/>
        </p:spPr>
        <p:txBody>
          <a:bodyPr wrap="square" lIns="0" tIns="0" rIns="0" bIns="0" rtlCol="0" anchor="ctr"/>
          <a:lstStyle/>
          <a:p>
            <a:pPr indent="0" marL="0">
              <a:lnSpc>
                <a:spcPct val="110000"/>
              </a:lnSpc>
              <a:buNone/>
            </a:pPr>
            <a:r>
              <a:rPr lang="en-US" sz="3600" b="1" dirty="0">
                <a:solidFill>
                  <a:srgbClr val="FFFFFF"/>
                </a:solidFill>
                <a:latin typeface="Cambria" pitchFamily="34" charset="0"/>
                <a:ea typeface="Cambria" pitchFamily="34" charset="-122"/>
                <a:cs typeface="Cambria" pitchFamily="34" charset="-120"/>
              </a:rPr>
              <a:t>Canada, the United States,</a:t>
            </a:r>
            <a:endParaRPr lang="en-US" sz="3600" dirty="0"/>
          </a:p>
          <a:p>
            <a:pPr indent="0" marL="0">
              <a:lnSpc>
                <a:spcPct val="110000"/>
              </a:lnSpc>
              <a:buNone/>
            </a:pPr>
            <a:r>
              <a:rPr lang="en-US" sz="3600" b="1" dirty="0">
                <a:solidFill>
                  <a:srgbClr val="FFFFFF"/>
                </a:solidFill>
                <a:latin typeface="Cambria" pitchFamily="34" charset="0"/>
                <a:ea typeface="Cambria" pitchFamily="34" charset="-122"/>
                <a:cs typeface="Cambria" pitchFamily="34" charset="-120"/>
              </a:rPr>
              <a:t>Mexico, and the Caribbean</a:t>
            </a:r>
            <a:endParaRPr lang="en-US" sz="3600" dirty="0"/>
          </a:p>
        </p:txBody>
      </p:sp>
      <p:sp>
        <p:nvSpPr>
          <p:cNvPr id="7" name="Text 4"/>
          <p:cNvSpPr/>
          <p:nvPr/>
        </p:nvSpPr>
        <p:spPr>
          <a:xfrm>
            <a:off x="812800" y="4714240"/>
            <a:ext cx="11379200" cy="568960"/>
          </a:xfrm>
          <a:prstGeom prst="rect">
            <a:avLst/>
          </a:prstGeom>
          <a:noFill/>
          <a:ln/>
        </p:spPr>
        <p:txBody>
          <a:bodyPr wrap="square" lIns="0" tIns="0" rIns="0" bIns="0" rtlCol="0" anchor="ctr"/>
          <a:lstStyle/>
          <a:p>
            <a:pPr indent="0" marL="0">
              <a:buNone/>
            </a:pPr>
            <a:r>
              <a:rPr lang="en-US" sz="1400" dirty="0">
                <a:solidFill>
                  <a:srgbClr val="D4943A"/>
                </a:solidFill>
                <a:latin typeface="Calibri" pitchFamily="34" charset="0"/>
                <a:ea typeface="Calibri" pitchFamily="34" charset="-122"/>
                <a:cs typeface="Calibri" pitchFamily="34" charset="-120"/>
              </a:rPr>
              <a:t>Lesson 3.06.01  |  Unit 6: North America and the Caribbean</a:t>
            </a:r>
            <a:endParaRPr lang="en-US" sz="1400" dirty="0"/>
          </a:p>
        </p:txBody>
      </p:sp>
      <p:sp>
        <p:nvSpPr>
          <p:cNvPr id="8" name="Shape 5"/>
          <p:cNvSpPr/>
          <p:nvPr/>
        </p:nvSpPr>
        <p:spPr>
          <a:xfrm>
            <a:off x="812800" y="5527040"/>
            <a:ext cx="1950720" cy="65024"/>
          </a:xfrm>
          <a:prstGeom prst="rect">
            <a:avLst/>
          </a:prstGeom>
          <a:solidFill>
            <a:srgbClr val="D4943A"/>
          </a:solidFill>
          <a:ln/>
        </p:spPr>
      </p:sp>
      <p:sp>
        <p:nvSpPr>
          <p:cNvPr id="9" name="Text 6"/>
          <p:cNvSpPr/>
          <p:nvPr/>
        </p:nvSpPr>
        <p:spPr>
          <a:xfrm>
            <a:off x="812800" y="5852160"/>
            <a:ext cx="11379200" cy="487680"/>
          </a:xfrm>
          <a:prstGeom prst="rect">
            <a:avLst/>
          </a:prstGeom>
          <a:noFill/>
          <a:ln/>
        </p:spPr>
        <p:txBody>
          <a:bodyPr wrap="square" lIns="0" tIns="0" rIns="0" bIns="0" rtlCol="0" anchor="ctr"/>
          <a:lstStyle/>
          <a:p>
            <a:pPr indent="0" marL="0">
              <a:buNone/>
            </a:pPr>
            <a:r>
              <a:rPr lang="en-US" sz="1100" i="1" dirty="0">
                <a:solidFill>
                  <a:srgbClr val="7A88A8"/>
                </a:solidFill>
                <a:latin typeface="Calibri" pitchFamily="34" charset="0"/>
                <a:ea typeface="Calibri" pitchFamily="34" charset="-122"/>
                <a:cs typeface="Calibri" pitchFamily="34" charset="-120"/>
              </a:rPr>
              <a:t>Week 15  |  Great Map Room  |  Thinking Move: Notice → Name → Narrate</a:t>
            </a:r>
            <a:endParaRPr lang="en-US" sz="1100" dirty="0"/>
          </a:p>
        </p:txBody>
      </p:sp>
      <p:sp>
        <p:nvSpPr>
          <p:cNvPr id="10" name="Text 7"/>
          <p:cNvSpPr/>
          <p:nvPr/>
        </p:nvSpPr>
        <p:spPr>
          <a:xfrm>
            <a:off x="14305280" y="8534400"/>
            <a:ext cx="1463040" cy="406400"/>
          </a:xfrm>
          <a:prstGeom prst="rect">
            <a:avLst/>
          </a:prstGeom>
          <a:noFill/>
          <a:ln/>
        </p:spPr>
        <p:txBody>
          <a:bodyPr wrap="square" lIns="0" tIns="0" rIns="0" bIns="0" rtlCol="0" anchor="ctr"/>
          <a:lstStyle/>
          <a:p>
            <a:pPr algn="r" indent="0" marL="0">
              <a:buNone/>
            </a:pPr>
            <a:r>
              <a:rPr lang="en-US" sz="800" dirty="0">
                <a:solidFill>
                  <a:srgbClr val="7A88A8"/>
                </a:solidFill>
                <a:latin typeface="Calibri" pitchFamily="34" charset="0"/>
                <a:ea typeface="Calibri" pitchFamily="34" charset="-122"/>
                <a:cs typeface="Calibri" pitchFamily="34" charset="-120"/>
              </a:rPr>
              <a:t>1 / 20</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16256000" cy="9144000"/>
          </a:xfrm>
          <a:prstGeom prst="rect">
            <a:avLst/>
          </a:prstGeom>
          <a:solidFill>
            <a:srgbClr val="0B1835"/>
          </a:solidFill>
          <a:ln w="19050">
            <a:solidFill>
              <a:srgbClr val="3A5080"/>
            </a:solidFill>
            <a:prstDash val="dash"/>
          </a:ln>
        </p:spPr>
      </p:sp>
      <p:sp>
        <p:nvSpPr>
          <p:cNvPr id="3" name="Shape 1"/>
          <p:cNvSpPr/>
          <p:nvPr/>
        </p:nvSpPr>
        <p:spPr>
          <a:xfrm>
            <a:off x="0" y="0"/>
            <a:ext cx="16256000" cy="9144000"/>
          </a:xfrm>
          <a:prstGeom prst="rect">
            <a:avLst/>
          </a:prstGeom>
          <a:solidFill>
            <a:srgbClr val="0E1C42">
              <a:alpha val="62000"/>
            </a:srgbClr>
          </a:solidFill>
          <a:ln/>
        </p:spPr>
      </p:sp>
      <p:sp>
        <p:nvSpPr>
          <p:cNvPr id="5" name="Text 2"/>
          <p:cNvSpPr/>
          <p:nvPr/>
        </p:nvSpPr>
        <p:spPr>
          <a:xfrm>
            <a:off x="812800" y="650240"/>
            <a:ext cx="14630400" cy="487680"/>
          </a:xfrm>
          <a:prstGeom prst="rect">
            <a:avLst/>
          </a:prstGeom>
          <a:noFill/>
          <a:ln/>
        </p:spPr>
        <p:txBody>
          <a:bodyPr wrap="square" lIns="0" tIns="0" rIns="0" bIns="0" rtlCol="0" anchor="ctr"/>
          <a:lstStyle/>
          <a:p>
            <a:pPr indent="0" marL="0">
              <a:buNone/>
            </a:pPr>
            <a:r>
              <a:rPr lang="en-US" sz="1000" b="1" spc="200" kern="0" dirty="0">
                <a:solidFill>
                  <a:srgbClr val="55C8E8"/>
                </a:solidFill>
                <a:latin typeface="Calibri" pitchFamily="34" charset="0"/>
                <a:ea typeface="Calibri" pitchFamily="34" charset="-122"/>
                <a:cs typeface="Calibri" pitchFamily="34" charset="-120"/>
              </a:rPr>
              <a:t>A NEW GALLERY OPENS</a:t>
            </a:r>
            <a:endParaRPr lang="en-US" sz="1000" dirty="0"/>
          </a:p>
        </p:txBody>
      </p:sp>
      <p:sp>
        <p:nvSpPr>
          <p:cNvPr id="6" name="Text 3"/>
          <p:cNvSpPr/>
          <p:nvPr/>
        </p:nvSpPr>
        <p:spPr>
          <a:xfrm>
            <a:off x="812800" y="1625600"/>
            <a:ext cx="8940800" cy="1950720"/>
          </a:xfrm>
          <a:prstGeom prst="rect">
            <a:avLst/>
          </a:prstGeom>
          <a:noFill/>
          <a:ln/>
        </p:spPr>
        <p:txBody>
          <a:bodyPr wrap="square" lIns="0" tIns="0" rIns="0" bIns="0" rtlCol="0" anchor="ctr"/>
          <a:lstStyle/>
          <a:p>
            <a:pPr indent="0" marL="0">
              <a:lnSpc>
                <a:spcPct val="110000"/>
              </a:lnSpc>
              <a:buNone/>
            </a:pPr>
            <a:r>
              <a:rPr lang="en-US" sz="3000" b="1" dirty="0">
                <a:solidFill>
                  <a:srgbClr val="FFFFFF"/>
                </a:solidFill>
                <a:latin typeface="Cambria" pitchFamily="34" charset="0"/>
                <a:ea typeface="Cambria" pitchFamily="34" charset="-122"/>
                <a:cs typeface="Cambria" pitchFamily="34" charset="-120"/>
              </a:rPr>
              <a:t>The North America &amp;</a:t>
            </a:r>
            <a:endParaRPr lang="en-US" sz="3000" dirty="0"/>
          </a:p>
          <a:p>
            <a:pPr indent="0" marL="0">
              <a:lnSpc>
                <a:spcPct val="110000"/>
              </a:lnSpc>
              <a:buNone/>
            </a:pPr>
            <a:r>
              <a:rPr lang="en-US" sz="3000" b="1" dirty="0">
                <a:solidFill>
                  <a:srgbClr val="FFFFFF"/>
                </a:solidFill>
                <a:latin typeface="Cambria" pitchFamily="34" charset="0"/>
                <a:ea typeface="Cambria" pitchFamily="34" charset="-122"/>
                <a:cs typeface="Cambria" pitchFamily="34" charset="-120"/>
              </a:rPr>
              <a:t>Caribbean Gallery</a:t>
            </a:r>
            <a:endParaRPr lang="en-US" sz="3000" dirty="0"/>
          </a:p>
        </p:txBody>
      </p:sp>
      <p:sp>
        <p:nvSpPr>
          <p:cNvPr id="7" name="Text 4"/>
          <p:cNvSpPr/>
          <p:nvPr/>
        </p:nvSpPr>
        <p:spPr>
          <a:xfrm>
            <a:off x="812800" y="3738880"/>
            <a:ext cx="8940800" cy="1137920"/>
          </a:xfrm>
          <a:prstGeom prst="rect">
            <a:avLst/>
          </a:prstGeom>
          <a:noFill/>
          <a:ln/>
        </p:spPr>
        <p:txBody>
          <a:bodyPr wrap="square" lIns="0" tIns="0" rIns="0" bIns="0" rtlCol="0" anchor="ctr"/>
          <a:lstStyle/>
          <a:p>
            <a:pPr indent="0" marL="0">
              <a:lnSpc>
                <a:spcPct val="120000"/>
              </a:lnSpc>
              <a:buNone/>
            </a:pPr>
            <a:r>
              <a:rPr lang="en-US" sz="1300" dirty="0">
                <a:solidFill>
                  <a:srgbClr val="B8C4E0"/>
                </a:solidFill>
                <a:latin typeface="Calibri" pitchFamily="34" charset="0"/>
                <a:ea typeface="Calibri" pitchFamily="34" charset="-122"/>
                <a:cs typeface="Calibri" pitchFamily="34" charset="-120"/>
              </a:rPr>
              <a:t>A new door has opened at the end of the World Map Hall. Inside, four country labels are laid out on a long table — but none of them are on the wall map yet.</a:t>
            </a:r>
            <a:endParaRPr lang="en-US" sz="1300" dirty="0"/>
          </a:p>
        </p:txBody>
      </p:sp>
      <p:sp>
        <p:nvSpPr>
          <p:cNvPr id="8" name="Shape 5"/>
          <p:cNvSpPr/>
          <p:nvPr/>
        </p:nvSpPr>
        <p:spPr>
          <a:xfrm>
            <a:off x="812800" y="5364480"/>
            <a:ext cx="8940800" cy="1463040"/>
          </a:xfrm>
          <a:prstGeom prst="roundRect">
            <a:avLst>
              <a:gd name="adj" fmla="val 13333"/>
            </a:avLst>
          </a:prstGeom>
          <a:solidFill>
            <a:srgbClr val="1A2D5A"/>
          </a:solidFill>
          <a:ln w="19050">
            <a:solidFill>
              <a:srgbClr val="D4943A"/>
            </a:solidFill>
            <a:prstDash val="solid"/>
          </a:ln>
        </p:spPr>
      </p:sp>
      <p:sp>
        <p:nvSpPr>
          <p:cNvPr id="9" name="Text 6"/>
          <p:cNvSpPr/>
          <p:nvPr/>
        </p:nvSpPr>
        <p:spPr>
          <a:xfrm>
            <a:off x="1137920" y="5445760"/>
            <a:ext cx="8128000" cy="406400"/>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CURATOR'S QUESTION</a:t>
            </a:r>
            <a:endParaRPr lang="en-US" sz="900" dirty="0"/>
          </a:p>
        </p:txBody>
      </p:sp>
      <p:sp>
        <p:nvSpPr>
          <p:cNvPr id="10" name="Text 7"/>
          <p:cNvSpPr/>
          <p:nvPr/>
        </p:nvSpPr>
        <p:spPr>
          <a:xfrm>
            <a:off x="1137920" y="5852160"/>
            <a:ext cx="8128000" cy="894080"/>
          </a:xfrm>
          <a:prstGeom prst="rect">
            <a:avLst/>
          </a:prstGeom>
          <a:noFill/>
          <a:ln/>
        </p:spPr>
        <p:txBody>
          <a:bodyPr wrap="square" lIns="0" tIns="0" rIns="0" bIns="0" rtlCol="0" anchor="ctr"/>
          <a:lstStyle/>
          <a:p>
            <a:pPr indent="0" marL="0">
              <a:lnSpc>
                <a:spcPct val="120000"/>
              </a:lnSpc>
              <a:buNone/>
            </a:pPr>
            <a:r>
              <a:rPr lang="en-US" sz="1200" i="1" dirty="0">
                <a:solidFill>
                  <a:srgbClr val="FFFFFF"/>
                </a:solidFill>
                <a:latin typeface="Cambria" pitchFamily="34" charset="0"/>
                <a:ea typeface="Cambria" pitchFamily="34" charset="-122"/>
                <a:cs typeface="Cambria" pitchFamily="34" charset="-120"/>
              </a:rPr>
              <a:t>Where in the world are Canada, the United States, Mexico, and the Caribbean — and how do they fit together as one region?</a:t>
            </a:r>
            <a:endParaRPr lang="en-US" sz="1200" dirty="0"/>
          </a:p>
        </p:txBody>
      </p:sp>
      <p:sp>
        <p:nvSpPr>
          <p:cNvPr id="11" name="Text 8"/>
          <p:cNvSpPr/>
          <p:nvPr/>
        </p:nvSpPr>
        <p:spPr>
          <a:xfrm>
            <a:off x="14305280" y="8534400"/>
            <a:ext cx="1463040" cy="406400"/>
          </a:xfrm>
          <a:prstGeom prst="rect">
            <a:avLst/>
          </a:prstGeom>
          <a:noFill/>
          <a:ln/>
        </p:spPr>
        <p:txBody>
          <a:bodyPr wrap="square" lIns="0" tIns="0" rIns="0" bIns="0" rtlCol="0" anchor="ctr"/>
          <a:lstStyle/>
          <a:p>
            <a:pPr algn="r" indent="0" marL="0">
              <a:buNone/>
            </a:pPr>
            <a:r>
              <a:rPr lang="en-US" sz="800" dirty="0">
                <a:solidFill>
                  <a:srgbClr val="7A88A8"/>
                </a:solidFill>
                <a:latin typeface="Calibri" pitchFamily="34" charset="0"/>
                <a:ea typeface="Calibri" pitchFamily="34" charset="-122"/>
                <a:cs typeface="Calibri" pitchFamily="34" charset="-120"/>
              </a:rPr>
              <a:t>2 / 20</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16256000" cy="9144000"/>
          </a:xfrm>
          <a:prstGeom prst="rect">
            <a:avLst/>
          </a:prstGeom>
          <a:solidFill>
            <a:srgbClr val="0B1835"/>
          </a:solidFill>
          <a:ln w="19050">
            <a:solidFill>
              <a:srgbClr val="3A5080"/>
            </a:solidFill>
            <a:prstDash val="dash"/>
          </a:ln>
        </p:spPr>
      </p:sp>
      <p:sp>
        <p:nvSpPr>
          <p:cNvPr id="3" name="Shape 1"/>
          <p:cNvSpPr/>
          <p:nvPr/>
        </p:nvSpPr>
        <p:spPr>
          <a:xfrm>
            <a:off x="0" y="0"/>
            <a:ext cx="16256000" cy="9144000"/>
          </a:xfrm>
          <a:prstGeom prst="rect">
            <a:avLst/>
          </a:prstGeom>
          <a:solidFill>
            <a:srgbClr val="0E1C42">
              <a:alpha val="62000"/>
            </a:srgbClr>
          </a:solidFill>
          <a:ln/>
        </p:spPr>
      </p:sp>
      <p:sp>
        <p:nvSpPr>
          <p:cNvPr id="5" name="Text 2"/>
          <p:cNvSpPr/>
          <p:nvPr/>
        </p:nvSpPr>
        <p:spPr>
          <a:xfrm>
            <a:off x="812800" y="650240"/>
            <a:ext cx="14630400" cy="487680"/>
          </a:xfrm>
          <a:prstGeom prst="rect">
            <a:avLst/>
          </a:prstGeom>
          <a:noFill/>
          <a:ln/>
        </p:spPr>
        <p:txBody>
          <a:bodyPr wrap="square" lIns="0" tIns="0" rIns="0" bIns="0" rtlCol="0" anchor="ctr"/>
          <a:lstStyle/>
          <a:p>
            <a:pPr indent="0" marL="0">
              <a:buNone/>
            </a:pPr>
            <a:r>
              <a:rPr lang="en-US" sz="1000" b="1" spc="200" kern="0" dirty="0">
                <a:solidFill>
                  <a:srgbClr val="D4943A"/>
                </a:solidFill>
                <a:latin typeface="Calibri" pitchFamily="34" charset="0"/>
                <a:ea typeface="Calibri" pitchFamily="34" charset="-122"/>
                <a:cs typeface="Calibri" pitchFamily="34" charset="-120"/>
              </a:rPr>
              <a:t>VIRTUE SPOTLIGHT</a:t>
            </a:r>
            <a:endParaRPr lang="en-US" sz="1000" dirty="0"/>
          </a:p>
        </p:txBody>
      </p:sp>
      <p:sp>
        <p:nvSpPr>
          <p:cNvPr id="6" name="Text 3"/>
          <p:cNvSpPr/>
          <p:nvPr/>
        </p:nvSpPr>
        <p:spPr>
          <a:xfrm>
            <a:off x="812800" y="1950720"/>
            <a:ext cx="8128000" cy="1137920"/>
          </a:xfrm>
          <a:prstGeom prst="rect">
            <a:avLst/>
          </a:prstGeom>
          <a:noFill/>
          <a:ln/>
        </p:spPr>
        <p:txBody>
          <a:bodyPr wrap="square" lIns="0" tIns="0" rIns="0" bIns="0" rtlCol="0" anchor="ctr"/>
          <a:lstStyle/>
          <a:p>
            <a:pPr indent="0" marL="0">
              <a:buNone/>
            </a:pPr>
            <a:r>
              <a:rPr lang="en-US" sz="3600" b="1" dirty="0">
                <a:solidFill>
                  <a:srgbClr val="FFFFFF"/>
                </a:solidFill>
                <a:latin typeface="Cambria" pitchFamily="34" charset="0"/>
                <a:ea typeface="Cambria" pitchFamily="34" charset="-122"/>
                <a:cs typeface="Cambria" pitchFamily="34" charset="-120"/>
              </a:rPr>
              <a:t>Courtesy</a:t>
            </a:r>
            <a:endParaRPr lang="en-US" sz="3600" dirty="0"/>
          </a:p>
        </p:txBody>
      </p:sp>
      <p:sp>
        <p:nvSpPr>
          <p:cNvPr id="7" name="Text 4"/>
          <p:cNvSpPr/>
          <p:nvPr/>
        </p:nvSpPr>
        <p:spPr>
          <a:xfrm>
            <a:off x="812800" y="3251200"/>
            <a:ext cx="8940800" cy="975360"/>
          </a:xfrm>
          <a:prstGeom prst="rect">
            <a:avLst/>
          </a:prstGeom>
          <a:noFill/>
          <a:ln/>
        </p:spPr>
        <p:txBody>
          <a:bodyPr wrap="square" lIns="0" tIns="0" rIns="0" bIns="0" rtlCol="0" anchor="ctr"/>
          <a:lstStyle/>
          <a:p>
            <a:pPr indent="0" marL="0">
              <a:lnSpc>
                <a:spcPct val="125000"/>
              </a:lnSpc>
              <a:buNone/>
            </a:pPr>
            <a:r>
              <a:rPr lang="en-US" sz="1400" dirty="0">
                <a:solidFill>
                  <a:srgbClr val="B8C4E0"/>
                </a:solidFill>
                <a:latin typeface="Calibri" pitchFamily="34" charset="0"/>
                <a:ea typeface="Calibri" pitchFamily="34" charset="-122"/>
                <a:cs typeface="Calibri" pitchFamily="34" charset="-120"/>
              </a:rPr>
              <a:t>Curators study other people's places. When we name countries, we take care to spell them right and say them carefully.</a:t>
            </a:r>
            <a:endParaRPr lang="en-US" sz="1400" dirty="0"/>
          </a:p>
        </p:txBody>
      </p:sp>
      <p:sp>
        <p:nvSpPr>
          <p:cNvPr id="8" name="Text 5"/>
          <p:cNvSpPr/>
          <p:nvPr/>
        </p:nvSpPr>
        <p:spPr>
          <a:xfrm>
            <a:off x="812800" y="4551680"/>
            <a:ext cx="8940800" cy="812800"/>
          </a:xfrm>
          <a:prstGeom prst="rect">
            <a:avLst/>
          </a:prstGeom>
          <a:noFill/>
          <a:ln/>
        </p:spPr>
        <p:txBody>
          <a:bodyPr wrap="square" lIns="0" tIns="0" rIns="0" bIns="0" rtlCol="0" anchor="ctr"/>
          <a:lstStyle/>
          <a:p>
            <a:pPr indent="0" marL="0">
              <a:lnSpc>
                <a:spcPct val="125000"/>
              </a:lnSpc>
              <a:buNone/>
            </a:pPr>
            <a:r>
              <a:rPr lang="en-US" sz="1400" b="1" dirty="0">
                <a:solidFill>
                  <a:srgbClr val="D4943A"/>
                </a:solidFill>
                <a:latin typeface="Calibri" pitchFamily="34" charset="0"/>
                <a:ea typeface="Calibri" pitchFamily="34" charset="-122"/>
                <a:cs typeface="Calibri" pitchFamily="34" charset="-120"/>
              </a:rPr>
              <a:t>Courtesy means treating every place we study — and the people who live there — with respect.</a:t>
            </a:r>
            <a:endParaRPr lang="en-US" sz="1400" dirty="0"/>
          </a:p>
        </p:txBody>
      </p:sp>
      <p:sp>
        <p:nvSpPr>
          <p:cNvPr id="9" name="Shape 6"/>
          <p:cNvSpPr/>
          <p:nvPr/>
        </p:nvSpPr>
        <p:spPr>
          <a:xfrm>
            <a:off x="812800" y="5852160"/>
            <a:ext cx="8940800" cy="975360"/>
          </a:xfrm>
          <a:prstGeom prst="roundRect">
            <a:avLst>
              <a:gd name="adj" fmla="val 16667"/>
            </a:avLst>
          </a:prstGeom>
          <a:solidFill>
            <a:srgbClr val="1A2D5A"/>
          </a:solidFill>
          <a:ln/>
        </p:spPr>
      </p:sp>
      <p:sp>
        <p:nvSpPr>
          <p:cNvPr id="10" name="Text 7"/>
          <p:cNvSpPr/>
          <p:nvPr/>
        </p:nvSpPr>
        <p:spPr>
          <a:xfrm>
            <a:off x="1137920" y="5933440"/>
            <a:ext cx="8290560" cy="812800"/>
          </a:xfrm>
          <a:prstGeom prst="rect">
            <a:avLst/>
          </a:prstGeom>
          <a:noFill/>
          <a:ln/>
        </p:spPr>
        <p:txBody>
          <a:bodyPr wrap="square" lIns="0" tIns="0" rIns="0" bIns="0" rtlCol="0" anchor="ctr"/>
          <a:lstStyle/>
          <a:p>
            <a:pPr indent="0" marL="0">
              <a:lnSpc>
                <a:spcPct val="120000"/>
              </a:lnSpc>
              <a:buNone/>
            </a:pPr>
            <a:r>
              <a:rPr lang="en-US" sz="1100" i="1" dirty="0">
                <a:solidFill>
                  <a:srgbClr val="55C8E8"/>
                </a:solidFill>
                <a:latin typeface="Calibri" pitchFamily="34" charset="0"/>
                <a:ea typeface="Calibri" pitchFamily="34" charset="-122"/>
                <a:cs typeface="Calibri" pitchFamily="34" charset="-120"/>
              </a:rPr>
              <a:t>Your Role: You are a Regional Curator — your job is to help visitors zoom in from the whole world to one region.</a:t>
            </a:r>
            <a:endParaRPr lang="en-US" sz="1100" dirty="0"/>
          </a:p>
        </p:txBody>
      </p:sp>
      <p:sp>
        <p:nvSpPr>
          <p:cNvPr id="11" name="Text 8"/>
          <p:cNvSpPr/>
          <p:nvPr/>
        </p:nvSpPr>
        <p:spPr>
          <a:xfrm>
            <a:off x="14305280" y="8534400"/>
            <a:ext cx="1463040" cy="406400"/>
          </a:xfrm>
          <a:prstGeom prst="rect">
            <a:avLst/>
          </a:prstGeom>
          <a:noFill/>
          <a:ln/>
        </p:spPr>
        <p:txBody>
          <a:bodyPr wrap="square" lIns="0" tIns="0" rIns="0" bIns="0" rtlCol="0" anchor="ctr"/>
          <a:lstStyle/>
          <a:p>
            <a:pPr algn="r" indent="0" marL="0">
              <a:buNone/>
            </a:pPr>
            <a:r>
              <a:rPr lang="en-US" sz="800" dirty="0">
                <a:solidFill>
                  <a:srgbClr val="7A88A8"/>
                </a:solidFill>
                <a:latin typeface="Calibri" pitchFamily="34" charset="0"/>
                <a:ea typeface="Calibri" pitchFamily="34" charset="-122"/>
                <a:cs typeface="Calibri" pitchFamily="34" charset="-120"/>
              </a:rPr>
              <a:t>3 / 20</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16256000" cy="81280"/>
          </a:xfrm>
          <a:prstGeom prst="rect">
            <a:avLst/>
          </a:prstGeom>
          <a:solidFill>
            <a:srgbClr val="D4943A"/>
          </a:solidFill>
          <a:ln/>
        </p:spPr>
      </p:sp>
      <p:sp>
        <p:nvSpPr>
          <p:cNvPr id="3" name="Shape 1"/>
          <p:cNvSpPr/>
          <p:nvPr/>
        </p:nvSpPr>
        <p:spPr>
          <a:xfrm>
            <a:off x="0" y="81280"/>
            <a:ext cx="16256000" cy="9062720"/>
          </a:xfrm>
          <a:prstGeom prst="rect">
            <a:avLst/>
          </a:prstGeom>
          <a:solidFill>
            <a:srgbClr val="F0F2F8"/>
          </a:solidFill>
          <a:ln/>
        </p:spPr>
      </p:sp>
      <p:sp>
        <p:nvSpPr>
          <p:cNvPr id="4" name="Text 2"/>
          <p:cNvSpPr/>
          <p:nvPr/>
        </p:nvSpPr>
        <p:spPr>
          <a:xfrm>
            <a:off x="812800" y="487680"/>
            <a:ext cx="1950720" cy="487680"/>
          </a:xfrm>
          <a:prstGeom prst="rect">
            <a:avLst/>
          </a:prstGeom>
          <a:noFill/>
          <a:ln/>
        </p:spPr>
        <p:txBody>
          <a:bodyPr wrap="square" lIns="0" tIns="0" rIns="0" bIns="0" rtlCol="0" anchor="ctr"/>
          <a:lstStyle/>
          <a:p>
            <a:pPr indent="0" marL="0">
              <a:buNone/>
            </a:pPr>
            <a:r>
              <a:rPr lang="en-US" sz="1000" b="1" spc="200" kern="0" dirty="0">
                <a:solidFill>
                  <a:srgbClr val="1A8A7D"/>
                </a:solidFill>
                <a:latin typeface="Calibri" pitchFamily="34" charset="0"/>
                <a:ea typeface="Calibri" pitchFamily="34" charset="-122"/>
                <a:cs typeface="Calibri" pitchFamily="34" charset="-120"/>
              </a:rPr>
              <a:t>NOTICE</a:t>
            </a:r>
            <a:endParaRPr lang="en-US" sz="1000" dirty="0"/>
          </a:p>
        </p:txBody>
      </p:sp>
      <p:sp>
        <p:nvSpPr>
          <p:cNvPr id="5" name="Text 3"/>
          <p:cNvSpPr/>
          <p:nvPr/>
        </p:nvSpPr>
        <p:spPr>
          <a:xfrm>
            <a:off x="812800" y="975360"/>
            <a:ext cx="8128000" cy="812800"/>
          </a:xfrm>
          <a:prstGeom prst="rect">
            <a:avLst/>
          </a:prstGeom>
          <a:noFill/>
          <a:ln/>
        </p:spPr>
        <p:txBody>
          <a:bodyPr wrap="square" lIns="0" tIns="0" rIns="0" bIns="0" rtlCol="0" anchor="ctr"/>
          <a:lstStyle/>
          <a:p>
            <a:pPr indent="0" marL="0">
              <a:buNone/>
            </a:pPr>
            <a:r>
              <a:rPr lang="en-US" sz="2600" b="1" dirty="0">
                <a:solidFill>
                  <a:srgbClr val="0E1C42"/>
                </a:solidFill>
                <a:latin typeface="Cambria" pitchFamily="34" charset="0"/>
                <a:ea typeface="Cambria" pitchFamily="34" charset="-122"/>
                <a:cs typeface="Cambria" pitchFamily="34" charset="-120"/>
              </a:rPr>
              <a:t>What Is a Region?</a:t>
            </a:r>
            <a:endParaRPr lang="en-US" sz="2600" dirty="0"/>
          </a:p>
        </p:txBody>
      </p:sp>
      <p:sp>
        <p:nvSpPr>
          <p:cNvPr id="6" name="Shape 4"/>
          <p:cNvSpPr/>
          <p:nvPr/>
        </p:nvSpPr>
        <p:spPr>
          <a:xfrm>
            <a:off x="812800" y="2032000"/>
            <a:ext cx="8453120" cy="2926080"/>
          </a:xfrm>
          <a:prstGeom prst="roundRect">
            <a:avLst>
              <a:gd name="adj" fmla="val 6667"/>
            </a:avLst>
          </a:prstGeom>
          <a:solidFill>
            <a:srgbClr val="FFFFFF"/>
          </a:solidFill>
          <a:ln/>
          <a:effectLst>
            <a:outerShdw sx="100000" sy="100000" kx="0" ky="0" algn="bl" rotWithShape="0" blurRad="76200" dist="25400" dir="8100000">
              <a:srgbClr val="000000">
                <a:alpha val="10000"/>
              </a:srgbClr>
            </a:outerShdw>
          </a:effectLst>
        </p:spPr>
      </p:sp>
      <p:sp>
        <p:nvSpPr>
          <p:cNvPr id="7" name="Text 5"/>
          <p:cNvSpPr/>
          <p:nvPr/>
        </p:nvSpPr>
        <p:spPr>
          <a:xfrm>
            <a:off x="1137920" y="2194560"/>
            <a:ext cx="7802880" cy="812800"/>
          </a:xfrm>
          <a:prstGeom prst="rect">
            <a:avLst/>
          </a:prstGeom>
          <a:noFill/>
          <a:ln/>
        </p:spPr>
        <p:txBody>
          <a:bodyPr wrap="square" lIns="0" tIns="0" rIns="0" bIns="0" rtlCol="0" anchor="ctr"/>
          <a:lstStyle/>
          <a:p>
            <a:pPr indent="0" marL="0">
              <a:lnSpc>
                <a:spcPct val="125000"/>
              </a:lnSpc>
              <a:buNone/>
            </a:pPr>
            <a:r>
              <a:rPr lang="en-US" sz="1300" dirty="0">
                <a:solidFill>
                  <a:srgbClr val="0E1C42"/>
                </a:solidFill>
                <a:latin typeface="Calibri" pitchFamily="34" charset="0"/>
                <a:ea typeface="Calibri" pitchFamily="34" charset="-122"/>
                <a:cs typeface="Calibri" pitchFamily="34" charset="-120"/>
              </a:rPr>
              <a:t>The world is huge. To study it, geographers look at one region at a time.</a:t>
            </a:r>
            <a:endParaRPr lang="en-US" sz="1300" dirty="0"/>
          </a:p>
        </p:txBody>
      </p:sp>
      <p:sp>
        <p:nvSpPr>
          <p:cNvPr id="8" name="Text 6"/>
          <p:cNvSpPr/>
          <p:nvPr/>
        </p:nvSpPr>
        <p:spPr>
          <a:xfrm>
            <a:off x="1137920" y="3007360"/>
            <a:ext cx="7802880" cy="1137920"/>
          </a:xfrm>
          <a:prstGeom prst="rect">
            <a:avLst/>
          </a:prstGeom>
          <a:noFill/>
          <a:ln/>
        </p:spPr>
        <p:txBody>
          <a:bodyPr wrap="square" lIns="0" tIns="0" rIns="0" bIns="0" rtlCol="0" anchor="ctr"/>
          <a:lstStyle/>
          <a:p>
            <a:pPr indent="0" marL="0">
              <a:lnSpc>
                <a:spcPct val="125000"/>
              </a:lnSpc>
              <a:buNone/>
            </a:pPr>
            <a:r>
              <a:rPr lang="en-US" sz="1300" b="1" dirty="0">
                <a:solidFill>
                  <a:srgbClr val="1A8A7D"/>
                </a:solidFill>
                <a:latin typeface="Calibri" pitchFamily="34" charset="0"/>
                <a:ea typeface="Calibri" pitchFamily="34" charset="-122"/>
                <a:cs typeface="Calibri" pitchFamily="34" charset="-120"/>
              </a:rPr>
              <a:t>A region is a group of places that have something in common — they are close together, share borders, or are connected by oceans, history, or culture.</a:t>
            </a:r>
            <a:endParaRPr lang="en-US" sz="1300" dirty="0"/>
          </a:p>
        </p:txBody>
      </p:sp>
      <p:sp>
        <p:nvSpPr>
          <p:cNvPr id="9" name="Text 7"/>
          <p:cNvSpPr/>
          <p:nvPr/>
        </p:nvSpPr>
        <p:spPr>
          <a:xfrm>
            <a:off x="1137920" y="4145280"/>
            <a:ext cx="7802880" cy="731520"/>
          </a:xfrm>
          <a:prstGeom prst="rect">
            <a:avLst/>
          </a:prstGeom>
          <a:noFill/>
          <a:ln/>
        </p:spPr>
        <p:txBody>
          <a:bodyPr wrap="square" lIns="0" tIns="0" rIns="0" bIns="0" rtlCol="0" anchor="ctr"/>
          <a:lstStyle/>
          <a:p>
            <a:pPr indent="0" marL="0">
              <a:lnSpc>
                <a:spcPct val="120000"/>
              </a:lnSpc>
              <a:buNone/>
            </a:pPr>
            <a:r>
              <a:rPr lang="en-US" sz="1200" dirty="0">
                <a:solidFill>
                  <a:srgbClr val="0E1C42"/>
                </a:solidFill>
                <a:latin typeface="Calibri" pitchFamily="34" charset="0"/>
                <a:ea typeface="Calibri" pitchFamily="34" charset="-122"/>
                <a:cs typeface="Calibri" pitchFamily="34" charset="-120"/>
              </a:rPr>
              <a:t>Today's region has four parts:</a:t>
            </a:r>
            <a:endParaRPr lang="en-US" sz="1200" dirty="0"/>
          </a:p>
          <a:p>
            <a:pPr indent="0" marL="0">
              <a:lnSpc>
                <a:spcPct val="120000"/>
              </a:lnSpc>
              <a:buNone/>
            </a:pPr>
            <a:r>
              <a:rPr lang="en-US" sz="1200" dirty="0">
                <a:solidFill>
                  <a:srgbClr val="0E1C42"/>
                </a:solidFill>
                <a:latin typeface="Calibri" pitchFamily="34" charset="0"/>
                <a:ea typeface="Calibri" pitchFamily="34" charset="-122"/>
                <a:cs typeface="Calibri" pitchFamily="34" charset="-120"/>
              </a:rPr>
              <a:t>Canada, the United States, Mexico, and the Caribbean.</a:t>
            </a:r>
            <a:endParaRPr lang="en-US" sz="1200" dirty="0"/>
          </a:p>
        </p:txBody>
      </p:sp>
      <p:sp>
        <p:nvSpPr>
          <p:cNvPr id="10" name="Shape 8"/>
          <p:cNvSpPr/>
          <p:nvPr/>
        </p:nvSpPr>
        <p:spPr>
          <a:xfrm>
            <a:off x="9916160" y="975360"/>
            <a:ext cx="5527040" cy="4226560"/>
          </a:xfrm>
          <a:prstGeom prst="roundRect">
            <a:avLst>
              <a:gd name="adj" fmla="val 4615"/>
            </a:avLst>
          </a:prstGeom>
          <a:solidFill>
            <a:srgbClr val="E2E8F4"/>
          </a:solidFill>
          <a:ln w="19050">
            <a:solidFill>
              <a:srgbClr val="B0B8CC"/>
            </a:solidFill>
            <a:prstDash val="dash"/>
          </a:ln>
        </p:spPr>
      </p:sp>
      <p:sp>
        <p:nvSpPr>
          <p:cNvPr id="11" name="Text 9"/>
          <p:cNvSpPr/>
          <p:nvPr/>
        </p:nvSpPr>
        <p:spPr>
          <a:xfrm>
            <a:off x="9916160" y="975360"/>
            <a:ext cx="5527040" cy="487680"/>
          </a:xfrm>
          <a:prstGeom prst="rect">
            <a:avLst/>
          </a:prstGeom>
          <a:noFill/>
          <a:ln/>
        </p:spPr>
        <p:txBody>
          <a:bodyPr wrap="square" lIns="0" tIns="0" rIns="0" bIns="0" rtlCol="0" anchor="ctr"/>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12" name="Text 10"/>
          <p:cNvSpPr/>
          <p:nvPr/>
        </p:nvSpPr>
        <p:spPr>
          <a:xfrm>
            <a:off x="10160000" y="1463040"/>
            <a:ext cx="5039360" cy="3576320"/>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Simple map showing the four places highlighted as one region — color-coded: Canada, US, Mexico, Caribbean</a:t>
            </a:r>
            <a:endParaRPr lang="en-US" sz="1100" dirty="0"/>
          </a:p>
        </p:txBody>
      </p:sp>
      <p:sp>
        <p:nvSpPr>
          <p:cNvPr id="13" name="Shape 11"/>
          <p:cNvSpPr/>
          <p:nvPr/>
        </p:nvSpPr>
        <p:spPr>
          <a:xfrm>
            <a:off x="812800" y="5364480"/>
            <a:ext cx="14630400" cy="2600960"/>
          </a:xfrm>
          <a:prstGeom prst="roundRect">
            <a:avLst>
              <a:gd name="adj" fmla="val 9375"/>
            </a:avLst>
          </a:prstGeom>
          <a:solidFill>
            <a:srgbClr val="1A2D5A"/>
          </a:solidFill>
          <a:ln/>
          <a:effectLst>
            <a:outerShdw sx="100000" sy="100000" kx="0" ky="0" algn="bl" rotWithShape="0" blurRad="101600" dist="38100" dir="8100000">
              <a:srgbClr val="000000">
                <a:alpha val="20000"/>
              </a:srgbClr>
            </a:outerShdw>
          </a:effectLst>
        </p:spPr>
      </p:sp>
      <p:sp>
        <p:nvSpPr>
          <p:cNvPr id="14" name="Text 12"/>
          <p:cNvSpPr/>
          <p:nvPr/>
        </p:nvSpPr>
        <p:spPr>
          <a:xfrm>
            <a:off x="1137920" y="5527040"/>
            <a:ext cx="13980160" cy="455168"/>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SOCRATIC QUESTIONS</a:t>
            </a:r>
            <a:endParaRPr lang="en-US" sz="900" dirty="0"/>
          </a:p>
        </p:txBody>
      </p:sp>
      <p:sp>
        <p:nvSpPr>
          <p:cNvPr id="15" name="Text 13"/>
          <p:cNvSpPr/>
          <p:nvPr/>
        </p:nvSpPr>
        <p:spPr>
          <a:xfrm>
            <a:off x="1137920" y="5982208"/>
            <a:ext cx="13980160" cy="1820672"/>
          </a:xfrm>
          <a:prstGeom prst="rect">
            <a:avLst/>
          </a:prstGeom>
          <a:noFill/>
          <a:ln/>
        </p:spPr>
        <p:txBody>
          <a:bodyPr wrap="square" lIns="0" tIns="0" rIns="0" bIns="0" rtlCol="0" anchor="t"/>
          <a:lstStyle/>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 do you think these four places have in common?</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Can you guess which one is the biggest? The smallest?</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Why might it be easier to study a region than the whole world at once?</a:t>
            </a:r>
            <a:endParaRPr lang="en-US" sz="1100" dirty="0"/>
          </a:p>
        </p:txBody>
      </p:sp>
      <p:sp>
        <p:nvSpPr>
          <p:cNvPr id="16" name="Text 14"/>
          <p:cNvSpPr/>
          <p:nvPr/>
        </p:nvSpPr>
        <p:spPr>
          <a:xfrm>
            <a:off x="14305280" y="8534400"/>
            <a:ext cx="1463040" cy="406400"/>
          </a:xfrm>
          <a:prstGeom prst="rect">
            <a:avLst/>
          </a:prstGeom>
          <a:noFill/>
          <a:ln/>
        </p:spPr>
        <p:txBody>
          <a:bodyPr wrap="square" lIns="0" tIns="0" rIns="0" bIns="0" rtlCol="0" anchor="ctr"/>
          <a:lstStyle/>
          <a:p>
            <a:pPr algn="r" indent="0" marL="0">
              <a:buNone/>
            </a:pPr>
            <a:r>
              <a:rPr lang="en-US" sz="800" dirty="0">
                <a:solidFill>
                  <a:srgbClr val="7A88A8"/>
                </a:solidFill>
                <a:latin typeface="Calibri" pitchFamily="34" charset="0"/>
                <a:ea typeface="Calibri" pitchFamily="34" charset="-122"/>
                <a:cs typeface="Calibri" pitchFamily="34" charset="-120"/>
              </a:rPr>
              <a:t>4 / 20</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16256000" cy="81280"/>
          </a:xfrm>
          <a:prstGeom prst="rect">
            <a:avLst/>
          </a:prstGeom>
          <a:solidFill>
            <a:srgbClr val="D4943A"/>
          </a:solidFill>
          <a:ln/>
        </p:spPr>
      </p:sp>
      <p:sp>
        <p:nvSpPr>
          <p:cNvPr id="3" name="Shape 1"/>
          <p:cNvSpPr/>
          <p:nvPr/>
        </p:nvSpPr>
        <p:spPr>
          <a:xfrm>
            <a:off x="0" y="81280"/>
            <a:ext cx="16256000" cy="9062720"/>
          </a:xfrm>
          <a:prstGeom prst="rect">
            <a:avLst/>
          </a:prstGeom>
          <a:solidFill>
            <a:srgbClr val="FFFFFF"/>
          </a:solidFill>
          <a:ln/>
        </p:spPr>
      </p:sp>
      <p:sp>
        <p:nvSpPr>
          <p:cNvPr id="4" name="Text 2"/>
          <p:cNvSpPr/>
          <p:nvPr/>
        </p:nvSpPr>
        <p:spPr>
          <a:xfrm>
            <a:off x="812800" y="487680"/>
            <a:ext cx="1950720" cy="487680"/>
          </a:xfrm>
          <a:prstGeom prst="rect">
            <a:avLst/>
          </a:prstGeom>
          <a:noFill/>
          <a:ln/>
        </p:spPr>
        <p:txBody>
          <a:bodyPr wrap="square" lIns="0" tIns="0" rIns="0" bIns="0" rtlCol="0" anchor="ctr"/>
          <a:lstStyle/>
          <a:p>
            <a:pPr indent="0" marL="0">
              <a:buNone/>
            </a:pPr>
            <a:r>
              <a:rPr lang="en-US" sz="1000" b="1" spc="200" kern="0" dirty="0">
                <a:solidFill>
                  <a:srgbClr val="1A8A7D"/>
                </a:solidFill>
                <a:latin typeface="Calibri" pitchFamily="34" charset="0"/>
                <a:ea typeface="Calibri" pitchFamily="34" charset="-122"/>
                <a:cs typeface="Calibri" pitchFamily="34" charset="-120"/>
              </a:rPr>
              <a:t>NAME</a:t>
            </a:r>
            <a:endParaRPr lang="en-US" sz="1000" dirty="0"/>
          </a:p>
        </p:txBody>
      </p:sp>
      <p:sp>
        <p:nvSpPr>
          <p:cNvPr id="5" name="Text 3"/>
          <p:cNvSpPr/>
          <p:nvPr/>
        </p:nvSpPr>
        <p:spPr>
          <a:xfrm>
            <a:off x="812800" y="975360"/>
            <a:ext cx="8128000" cy="812800"/>
          </a:xfrm>
          <a:prstGeom prst="rect">
            <a:avLst/>
          </a:prstGeom>
          <a:noFill/>
          <a:ln/>
        </p:spPr>
        <p:txBody>
          <a:bodyPr wrap="square" lIns="0" tIns="0" rIns="0" bIns="0" rtlCol="0" anchor="ctr"/>
          <a:lstStyle/>
          <a:p>
            <a:pPr indent="0" marL="0">
              <a:buNone/>
            </a:pPr>
            <a:r>
              <a:rPr lang="en-US" sz="2800" b="1" dirty="0">
                <a:solidFill>
                  <a:srgbClr val="0E1C42"/>
                </a:solidFill>
                <a:latin typeface="Cambria" pitchFamily="34" charset="0"/>
                <a:ea typeface="Cambria" pitchFamily="34" charset="-122"/>
                <a:cs typeface="Cambria" pitchFamily="34" charset="-120"/>
              </a:rPr>
              <a:t>Canada</a:t>
            </a:r>
            <a:endParaRPr lang="en-US" sz="2800" dirty="0"/>
          </a:p>
        </p:txBody>
      </p:sp>
      <p:sp>
        <p:nvSpPr>
          <p:cNvPr id="6" name="Shape 4"/>
          <p:cNvSpPr/>
          <p:nvPr/>
        </p:nvSpPr>
        <p:spPr>
          <a:xfrm>
            <a:off x="812800" y="2032000"/>
            <a:ext cx="8453120" cy="3251200"/>
          </a:xfrm>
          <a:prstGeom prst="roundRect">
            <a:avLst>
              <a:gd name="adj" fmla="val 6000"/>
            </a:avLst>
          </a:prstGeom>
          <a:solidFill>
            <a:srgbClr val="EAF8FD"/>
          </a:solidFill>
          <a:ln/>
          <a:effectLst>
            <a:outerShdw sx="100000" sy="100000" kx="0" ky="0" algn="bl" rotWithShape="0" blurRad="76200" dist="25400" dir="8100000">
              <a:srgbClr val="000000">
                <a:alpha val="10000"/>
              </a:srgbClr>
            </a:outerShdw>
          </a:effectLst>
        </p:spPr>
      </p:sp>
      <p:sp>
        <p:nvSpPr>
          <p:cNvPr id="7" name="Text 5"/>
          <p:cNvSpPr/>
          <p:nvPr/>
        </p:nvSpPr>
        <p:spPr>
          <a:xfrm>
            <a:off x="1137920" y="2194560"/>
            <a:ext cx="7802880" cy="292608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0E1C42"/>
                </a:solidFill>
                <a:latin typeface="Calibri" pitchFamily="34" charset="0"/>
                <a:ea typeface="Calibri" pitchFamily="34" charset="-122"/>
                <a:cs typeface="Calibri" pitchFamily="34" charset="-120"/>
              </a:rPr>
              <a:t>Sits in the far north of the region</a:t>
            </a:r>
            <a:endParaRPr lang="en-US" sz="1300" dirty="0"/>
          </a:p>
          <a:p>
            <a:pPr marL="342900" indent="-342900">
              <a:spcAft>
                <a:spcPts val="600"/>
              </a:spcAft>
              <a:buSzPct val="100000"/>
              <a:buChar char="•"/>
            </a:pPr>
            <a:r>
              <a:rPr lang="en-US" sz="1300" dirty="0">
                <a:solidFill>
                  <a:srgbClr val="0E1C42"/>
                </a:solidFill>
                <a:latin typeface="Calibri" pitchFamily="34" charset="0"/>
                <a:ea typeface="Calibri" pitchFamily="34" charset="-122"/>
                <a:cs typeface="Calibri" pitchFamily="34" charset="-120"/>
              </a:rPr>
              <a:t>Reaches all the way to the Arctic</a:t>
            </a:r>
            <a:endParaRPr lang="en-US" sz="1300" dirty="0"/>
          </a:p>
          <a:p>
            <a:pPr marL="342900" indent="-342900">
              <a:spcAft>
                <a:spcPts val="600"/>
              </a:spcAft>
              <a:buSzPct val="100000"/>
              <a:buChar char="•"/>
            </a:pPr>
            <a:r>
              <a:rPr lang="en-US" sz="1300" dirty="0">
                <a:solidFill>
                  <a:srgbClr val="0E1C42"/>
                </a:solidFill>
                <a:latin typeface="Calibri" pitchFamily="34" charset="0"/>
                <a:ea typeface="Calibri" pitchFamily="34" charset="-122"/>
                <a:cs typeface="Calibri" pitchFamily="34" charset="-120"/>
              </a:rPr>
              <a:t>Second-largest country on Earth by land area</a:t>
            </a:r>
            <a:endParaRPr lang="en-US" sz="1300" dirty="0"/>
          </a:p>
          <a:p>
            <a:pPr marL="342900" indent="-342900">
              <a:spcAft>
                <a:spcPts val="400"/>
              </a:spcAft>
              <a:buSzPct val="100000"/>
              <a:buChar char="•"/>
            </a:pPr>
            <a:r>
              <a:rPr lang="en-US" sz="1300" b="1" dirty="0">
                <a:solidFill>
                  <a:srgbClr val="1A8A7D"/>
                </a:solidFill>
                <a:latin typeface="Calibri" pitchFamily="34" charset="0"/>
                <a:ea typeface="Calibri" pitchFamily="34" charset="-122"/>
                <a:cs typeface="Calibri" pitchFamily="34" charset="-120"/>
              </a:rPr>
              <a:t>Capital: Ottawa</a:t>
            </a:r>
            <a:endParaRPr lang="en-US" sz="1300" dirty="0"/>
          </a:p>
        </p:txBody>
      </p:sp>
      <p:sp>
        <p:nvSpPr>
          <p:cNvPr id="8" name="Shape 6"/>
          <p:cNvSpPr/>
          <p:nvPr/>
        </p:nvSpPr>
        <p:spPr>
          <a:xfrm>
            <a:off x="9916160" y="975360"/>
            <a:ext cx="5527040" cy="4551680"/>
          </a:xfrm>
          <a:prstGeom prst="roundRect">
            <a:avLst>
              <a:gd name="adj" fmla="val 4286"/>
            </a:avLst>
          </a:prstGeom>
          <a:solidFill>
            <a:srgbClr val="E2E8F4"/>
          </a:solidFill>
          <a:ln w="19050">
            <a:solidFill>
              <a:srgbClr val="B0B8CC"/>
            </a:solidFill>
            <a:prstDash val="dash"/>
          </a:ln>
        </p:spPr>
      </p:sp>
      <p:sp>
        <p:nvSpPr>
          <p:cNvPr id="9" name="Text 7"/>
          <p:cNvSpPr/>
          <p:nvPr/>
        </p:nvSpPr>
        <p:spPr>
          <a:xfrm>
            <a:off x="9916160" y="975360"/>
            <a:ext cx="5527040" cy="487680"/>
          </a:xfrm>
          <a:prstGeom prst="rect">
            <a:avLst/>
          </a:prstGeom>
          <a:noFill/>
          <a:ln/>
        </p:spPr>
        <p:txBody>
          <a:bodyPr wrap="square" lIns="0" tIns="0" rIns="0" bIns="0" rtlCol="0" anchor="ctr"/>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10" name="Text 8"/>
          <p:cNvSpPr/>
          <p:nvPr/>
        </p:nvSpPr>
        <p:spPr>
          <a:xfrm>
            <a:off x="10160000" y="1463040"/>
            <a:ext cx="5039360" cy="3901440"/>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Map of North America with Canada highlighted — showing its position north of the United States, reaching to the Arctic</a:t>
            </a:r>
            <a:endParaRPr lang="en-US" sz="1100" dirty="0"/>
          </a:p>
        </p:txBody>
      </p:sp>
      <p:sp>
        <p:nvSpPr>
          <p:cNvPr id="11" name="Shape 9"/>
          <p:cNvSpPr/>
          <p:nvPr/>
        </p:nvSpPr>
        <p:spPr>
          <a:xfrm>
            <a:off x="812800" y="5689600"/>
            <a:ext cx="14630400" cy="2438400"/>
          </a:xfrm>
          <a:prstGeom prst="roundRect">
            <a:avLst>
              <a:gd name="adj" fmla="val 8000"/>
            </a:avLst>
          </a:prstGeom>
          <a:solidFill>
            <a:srgbClr val="FFF3DC"/>
          </a:solidFill>
          <a:ln w="19050">
            <a:solidFill>
              <a:srgbClr val="F5E6C8"/>
            </a:solidFill>
            <a:prstDash val="solid"/>
          </a:ln>
        </p:spPr>
      </p:sp>
      <p:sp>
        <p:nvSpPr>
          <p:cNvPr id="12" name="Text 10"/>
          <p:cNvSpPr/>
          <p:nvPr/>
        </p:nvSpPr>
        <p:spPr>
          <a:xfrm>
            <a:off x="1056640" y="5787136"/>
            <a:ext cx="14142720" cy="357632"/>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13" name="Text 11"/>
          <p:cNvSpPr/>
          <p:nvPr/>
        </p:nvSpPr>
        <p:spPr>
          <a:xfrm>
            <a:off x="1056640" y="6144768"/>
            <a:ext cx="14142720" cy="1869440"/>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"Point to where Canada is on the map."</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"What direction is Canada from where we live?"</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"What ocean is north of Canada?"</a:t>
            </a:r>
            <a:endParaRPr lang="en-US" sz="1200" dirty="0"/>
          </a:p>
        </p:txBody>
      </p:sp>
      <p:sp>
        <p:nvSpPr>
          <p:cNvPr id="14" name="Text 12"/>
          <p:cNvSpPr/>
          <p:nvPr/>
        </p:nvSpPr>
        <p:spPr>
          <a:xfrm>
            <a:off x="14305280" y="8534400"/>
            <a:ext cx="1463040" cy="406400"/>
          </a:xfrm>
          <a:prstGeom prst="rect">
            <a:avLst/>
          </a:prstGeom>
          <a:noFill/>
          <a:ln/>
        </p:spPr>
        <p:txBody>
          <a:bodyPr wrap="square" lIns="0" tIns="0" rIns="0" bIns="0" rtlCol="0" anchor="ctr"/>
          <a:lstStyle/>
          <a:p>
            <a:pPr algn="r" indent="0" marL="0">
              <a:buNone/>
            </a:pPr>
            <a:r>
              <a:rPr lang="en-US" sz="800" dirty="0">
                <a:solidFill>
                  <a:srgbClr val="7A88A8"/>
                </a:solidFill>
                <a:latin typeface="Calibri" pitchFamily="34" charset="0"/>
                <a:ea typeface="Calibri" pitchFamily="34" charset="-122"/>
                <a:cs typeface="Calibri" pitchFamily="34" charset="-120"/>
              </a:rPr>
              <a:t>5 / 20</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16256000" cy="81280"/>
          </a:xfrm>
          <a:prstGeom prst="rect">
            <a:avLst/>
          </a:prstGeom>
          <a:solidFill>
            <a:srgbClr val="D4943A"/>
          </a:solidFill>
          <a:ln/>
        </p:spPr>
      </p:sp>
      <p:sp>
        <p:nvSpPr>
          <p:cNvPr id="3" name="Shape 1"/>
          <p:cNvSpPr/>
          <p:nvPr/>
        </p:nvSpPr>
        <p:spPr>
          <a:xfrm>
            <a:off x="0" y="81280"/>
            <a:ext cx="16256000" cy="9062720"/>
          </a:xfrm>
          <a:prstGeom prst="rect">
            <a:avLst/>
          </a:prstGeom>
          <a:solidFill>
            <a:srgbClr val="F0F2F8"/>
          </a:solidFill>
          <a:ln/>
        </p:spPr>
      </p:sp>
      <p:sp>
        <p:nvSpPr>
          <p:cNvPr id="4" name="Text 2"/>
          <p:cNvSpPr/>
          <p:nvPr/>
        </p:nvSpPr>
        <p:spPr>
          <a:xfrm>
            <a:off x="812800" y="487680"/>
            <a:ext cx="1950720" cy="487680"/>
          </a:xfrm>
          <a:prstGeom prst="rect">
            <a:avLst/>
          </a:prstGeom>
          <a:noFill/>
          <a:ln/>
        </p:spPr>
        <p:txBody>
          <a:bodyPr wrap="square" lIns="0" tIns="0" rIns="0" bIns="0" rtlCol="0" anchor="ctr"/>
          <a:lstStyle/>
          <a:p>
            <a:pPr indent="0" marL="0">
              <a:buNone/>
            </a:pPr>
            <a:r>
              <a:rPr lang="en-US" sz="1000" b="1" spc="200" kern="0" dirty="0">
                <a:solidFill>
                  <a:srgbClr val="1A8A7D"/>
                </a:solidFill>
                <a:latin typeface="Calibri" pitchFamily="34" charset="0"/>
                <a:ea typeface="Calibri" pitchFamily="34" charset="-122"/>
                <a:cs typeface="Calibri" pitchFamily="34" charset="-120"/>
              </a:rPr>
              <a:t>NAME</a:t>
            </a:r>
            <a:endParaRPr lang="en-US" sz="1000" dirty="0"/>
          </a:p>
        </p:txBody>
      </p:sp>
      <p:sp>
        <p:nvSpPr>
          <p:cNvPr id="5" name="Text 3"/>
          <p:cNvSpPr/>
          <p:nvPr/>
        </p:nvSpPr>
        <p:spPr>
          <a:xfrm>
            <a:off x="812800" y="975360"/>
            <a:ext cx="8128000" cy="812800"/>
          </a:xfrm>
          <a:prstGeom prst="rect">
            <a:avLst/>
          </a:prstGeom>
          <a:noFill/>
          <a:ln/>
        </p:spPr>
        <p:txBody>
          <a:bodyPr wrap="square" lIns="0" tIns="0" rIns="0" bIns="0" rtlCol="0" anchor="ctr"/>
          <a:lstStyle/>
          <a:p>
            <a:pPr indent="0" marL="0">
              <a:buNone/>
            </a:pPr>
            <a:r>
              <a:rPr lang="en-US" sz="2800" b="1" dirty="0">
                <a:solidFill>
                  <a:srgbClr val="0E1C42"/>
                </a:solidFill>
                <a:latin typeface="Cambria" pitchFamily="34" charset="0"/>
                <a:ea typeface="Cambria" pitchFamily="34" charset="-122"/>
                <a:cs typeface="Cambria" pitchFamily="34" charset="-120"/>
              </a:rPr>
              <a:t>The United States</a:t>
            </a:r>
            <a:endParaRPr lang="en-US" sz="2800" dirty="0"/>
          </a:p>
        </p:txBody>
      </p:sp>
      <p:sp>
        <p:nvSpPr>
          <p:cNvPr id="6" name="Shape 4"/>
          <p:cNvSpPr/>
          <p:nvPr/>
        </p:nvSpPr>
        <p:spPr>
          <a:xfrm>
            <a:off x="812800" y="2032000"/>
            <a:ext cx="8453120" cy="3251200"/>
          </a:xfrm>
          <a:prstGeom prst="roundRect">
            <a:avLst>
              <a:gd name="adj" fmla="val 6000"/>
            </a:avLst>
          </a:prstGeom>
          <a:solidFill>
            <a:srgbClr val="E3F8ED"/>
          </a:solidFill>
          <a:ln/>
          <a:effectLst>
            <a:outerShdw sx="100000" sy="100000" kx="0" ky="0" algn="bl" rotWithShape="0" blurRad="76200" dist="25400" dir="8100000">
              <a:srgbClr val="000000">
                <a:alpha val="10000"/>
              </a:srgbClr>
            </a:outerShdw>
          </a:effectLst>
        </p:spPr>
      </p:sp>
      <p:sp>
        <p:nvSpPr>
          <p:cNvPr id="7" name="Text 5"/>
          <p:cNvSpPr/>
          <p:nvPr/>
        </p:nvSpPr>
        <p:spPr>
          <a:xfrm>
            <a:off x="1137920" y="2194560"/>
            <a:ext cx="7802880" cy="292608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0E1C42"/>
                </a:solidFill>
                <a:latin typeface="Calibri" pitchFamily="34" charset="0"/>
                <a:ea typeface="Calibri" pitchFamily="34" charset="-122"/>
                <a:cs typeface="Calibri" pitchFamily="34" charset="-120"/>
              </a:rPr>
              <a:t>Sits in the middle of the region</a:t>
            </a:r>
            <a:endParaRPr lang="en-US" sz="1300" dirty="0"/>
          </a:p>
          <a:p>
            <a:pPr marL="342900" indent="-342900">
              <a:spcAft>
                <a:spcPts val="600"/>
              </a:spcAft>
              <a:buSzPct val="100000"/>
              <a:buChar char="•"/>
            </a:pPr>
            <a:r>
              <a:rPr lang="en-US" sz="1300" dirty="0">
                <a:solidFill>
                  <a:srgbClr val="0E1C42"/>
                </a:solidFill>
                <a:latin typeface="Calibri" pitchFamily="34" charset="0"/>
                <a:ea typeface="Calibri" pitchFamily="34" charset="-122"/>
                <a:cs typeface="Calibri" pitchFamily="34" charset="-120"/>
              </a:rPr>
              <a:t>Shares a long border with Canada to the north</a:t>
            </a:r>
            <a:endParaRPr lang="en-US" sz="1300" dirty="0"/>
          </a:p>
          <a:p>
            <a:pPr marL="342900" indent="-342900">
              <a:spcAft>
                <a:spcPts val="600"/>
              </a:spcAft>
              <a:buSzPct val="100000"/>
              <a:buChar char="•"/>
            </a:pPr>
            <a:r>
              <a:rPr lang="en-US" sz="1300" dirty="0">
                <a:solidFill>
                  <a:srgbClr val="0E1C42"/>
                </a:solidFill>
                <a:latin typeface="Calibri" pitchFamily="34" charset="0"/>
                <a:ea typeface="Calibri" pitchFamily="34" charset="-122"/>
                <a:cs typeface="Calibri" pitchFamily="34" charset="-120"/>
              </a:rPr>
              <a:t>Shares a long border with Mexico to the south</a:t>
            </a:r>
            <a:endParaRPr lang="en-US" sz="1300" dirty="0"/>
          </a:p>
          <a:p>
            <a:pPr marL="342900" indent="-342900">
              <a:spcAft>
                <a:spcPts val="600"/>
              </a:spcAft>
              <a:buSzPct val="100000"/>
              <a:buChar char="•"/>
            </a:pPr>
            <a:r>
              <a:rPr lang="en-US" sz="1300" dirty="0">
                <a:solidFill>
                  <a:srgbClr val="0E1C42"/>
                </a:solidFill>
                <a:latin typeface="Calibri" pitchFamily="34" charset="0"/>
                <a:ea typeface="Calibri" pitchFamily="34" charset="-122"/>
                <a:cs typeface="Calibri" pitchFamily="34" charset="-120"/>
              </a:rPr>
              <a:t>Stretches from the Atlantic Ocean to the Pacific Ocean</a:t>
            </a:r>
            <a:endParaRPr lang="en-US" sz="1300" dirty="0"/>
          </a:p>
          <a:p>
            <a:pPr marL="342900" indent="-342900">
              <a:spcAft>
                <a:spcPts val="400"/>
              </a:spcAft>
              <a:buSzPct val="100000"/>
              <a:buChar char="•"/>
            </a:pPr>
            <a:r>
              <a:rPr lang="en-US" sz="1300" b="1" dirty="0">
                <a:solidFill>
                  <a:srgbClr val="1A8A7D"/>
                </a:solidFill>
                <a:latin typeface="Calibri" pitchFamily="34" charset="0"/>
                <a:ea typeface="Calibri" pitchFamily="34" charset="-122"/>
                <a:cs typeface="Calibri" pitchFamily="34" charset="-120"/>
              </a:rPr>
              <a:t>Capital: Washington, D.C.</a:t>
            </a:r>
            <a:endParaRPr lang="en-US" sz="1300" dirty="0"/>
          </a:p>
        </p:txBody>
      </p:sp>
      <p:sp>
        <p:nvSpPr>
          <p:cNvPr id="8" name="Shape 6"/>
          <p:cNvSpPr/>
          <p:nvPr/>
        </p:nvSpPr>
        <p:spPr>
          <a:xfrm>
            <a:off x="9916160" y="975360"/>
            <a:ext cx="5527040" cy="4551680"/>
          </a:xfrm>
          <a:prstGeom prst="roundRect">
            <a:avLst>
              <a:gd name="adj" fmla="val 4286"/>
            </a:avLst>
          </a:prstGeom>
          <a:solidFill>
            <a:srgbClr val="E2E8F4"/>
          </a:solidFill>
          <a:ln w="19050">
            <a:solidFill>
              <a:srgbClr val="B0B8CC"/>
            </a:solidFill>
            <a:prstDash val="dash"/>
          </a:ln>
        </p:spPr>
      </p:sp>
      <p:sp>
        <p:nvSpPr>
          <p:cNvPr id="9" name="Text 7"/>
          <p:cNvSpPr/>
          <p:nvPr/>
        </p:nvSpPr>
        <p:spPr>
          <a:xfrm>
            <a:off x="9916160" y="975360"/>
            <a:ext cx="5527040" cy="487680"/>
          </a:xfrm>
          <a:prstGeom prst="rect">
            <a:avLst/>
          </a:prstGeom>
          <a:noFill/>
          <a:ln/>
        </p:spPr>
        <p:txBody>
          <a:bodyPr wrap="square" lIns="0" tIns="0" rIns="0" bIns="0" rtlCol="0" anchor="ctr"/>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10" name="Text 8"/>
          <p:cNvSpPr/>
          <p:nvPr/>
        </p:nvSpPr>
        <p:spPr>
          <a:xfrm>
            <a:off x="10160000" y="1463040"/>
            <a:ext cx="5039360" cy="3901440"/>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Map of North America with the United States highlighted — showing its position between Canada and Mexico, Atlantic to Pacific</a:t>
            </a:r>
            <a:endParaRPr lang="en-US" sz="1100" dirty="0"/>
          </a:p>
        </p:txBody>
      </p:sp>
      <p:sp>
        <p:nvSpPr>
          <p:cNvPr id="11" name="Shape 9"/>
          <p:cNvSpPr/>
          <p:nvPr/>
        </p:nvSpPr>
        <p:spPr>
          <a:xfrm>
            <a:off x="812800" y="5689600"/>
            <a:ext cx="14630400" cy="2438400"/>
          </a:xfrm>
          <a:prstGeom prst="roundRect">
            <a:avLst>
              <a:gd name="adj" fmla="val 8000"/>
            </a:avLst>
          </a:prstGeom>
          <a:solidFill>
            <a:srgbClr val="FFF3DC"/>
          </a:solidFill>
          <a:ln w="19050">
            <a:solidFill>
              <a:srgbClr val="F5E6C8"/>
            </a:solidFill>
            <a:prstDash val="solid"/>
          </a:ln>
        </p:spPr>
      </p:sp>
      <p:sp>
        <p:nvSpPr>
          <p:cNvPr id="12" name="Text 10"/>
          <p:cNvSpPr/>
          <p:nvPr/>
        </p:nvSpPr>
        <p:spPr>
          <a:xfrm>
            <a:off x="1056640" y="5787136"/>
            <a:ext cx="14142720" cy="357632"/>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13" name="Text 11"/>
          <p:cNvSpPr/>
          <p:nvPr/>
        </p:nvSpPr>
        <p:spPr>
          <a:xfrm>
            <a:off x="1056640" y="6144768"/>
            <a:ext cx="14142720" cy="1869440"/>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"Which two countries are the United States' neighbors?"</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"Which ocean is on the east coast? Which is on the west?"</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"Why do we say the United States is 'in the middle'?"</a:t>
            </a:r>
            <a:endParaRPr lang="en-US" sz="1200" dirty="0"/>
          </a:p>
        </p:txBody>
      </p:sp>
      <p:sp>
        <p:nvSpPr>
          <p:cNvPr id="14" name="Text 12"/>
          <p:cNvSpPr/>
          <p:nvPr/>
        </p:nvSpPr>
        <p:spPr>
          <a:xfrm>
            <a:off x="14305280" y="8534400"/>
            <a:ext cx="1463040" cy="406400"/>
          </a:xfrm>
          <a:prstGeom prst="rect">
            <a:avLst/>
          </a:prstGeom>
          <a:noFill/>
          <a:ln/>
        </p:spPr>
        <p:txBody>
          <a:bodyPr wrap="square" lIns="0" tIns="0" rIns="0" bIns="0" rtlCol="0" anchor="ctr"/>
          <a:lstStyle/>
          <a:p>
            <a:pPr algn="r" indent="0" marL="0">
              <a:buNone/>
            </a:pPr>
            <a:r>
              <a:rPr lang="en-US" sz="800" dirty="0">
                <a:solidFill>
                  <a:srgbClr val="7A88A8"/>
                </a:solidFill>
                <a:latin typeface="Calibri" pitchFamily="34" charset="0"/>
                <a:ea typeface="Calibri" pitchFamily="34" charset="-122"/>
                <a:cs typeface="Calibri" pitchFamily="34" charset="-120"/>
              </a:rPr>
              <a:t>6 / 20</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16256000" cy="81280"/>
          </a:xfrm>
          <a:prstGeom prst="rect">
            <a:avLst/>
          </a:prstGeom>
          <a:solidFill>
            <a:srgbClr val="D4943A"/>
          </a:solidFill>
          <a:ln/>
        </p:spPr>
      </p:sp>
      <p:sp>
        <p:nvSpPr>
          <p:cNvPr id="3" name="Shape 1"/>
          <p:cNvSpPr/>
          <p:nvPr/>
        </p:nvSpPr>
        <p:spPr>
          <a:xfrm>
            <a:off x="0" y="81280"/>
            <a:ext cx="16256000" cy="9062720"/>
          </a:xfrm>
          <a:prstGeom prst="rect">
            <a:avLst/>
          </a:prstGeom>
          <a:solidFill>
            <a:srgbClr val="FFFFFF"/>
          </a:solidFill>
          <a:ln/>
        </p:spPr>
      </p:sp>
      <p:sp>
        <p:nvSpPr>
          <p:cNvPr id="4" name="Text 2"/>
          <p:cNvSpPr/>
          <p:nvPr/>
        </p:nvSpPr>
        <p:spPr>
          <a:xfrm>
            <a:off x="812800" y="487680"/>
            <a:ext cx="1950720" cy="487680"/>
          </a:xfrm>
          <a:prstGeom prst="rect">
            <a:avLst/>
          </a:prstGeom>
          <a:noFill/>
          <a:ln/>
        </p:spPr>
        <p:txBody>
          <a:bodyPr wrap="square" lIns="0" tIns="0" rIns="0" bIns="0" rtlCol="0" anchor="ctr"/>
          <a:lstStyle/>
          <a:p>
            <a:pPr indent="0" marL="0">
              <a:buNone/>
            </a:pPr>
            <a:r>
              <a:rPr lang="en-US" sz="1000" b="1" spc="200" kern="0" dirty="0">
                <a:solidFill>
                  <a:srgbClr val="1A8A7D"/>
                </a:solidFill>
                <a:latin typeface="Calibri" pitchFamily="34" charset="0"/>
                <a:ea typeface="Calibri" pitchFamily="34" charset="-122"/>
                <a:cs typeface="Calibri" pitchFamily="34" charset="-120"/>
              </a:rPr>
              <a:t>NAME</a:t>
            </a:r>
            <a:endParaRPr lang="en-US" sz="1000" dirty="0"/>
          </a:p>
        </p:txBody>
      </p:sp>
      <p:sp>
        <p:nvSpPr>
          <p:cNvPr id="5" name="Text 3"/>
          <p:cNvSpPr/>
          <p:nvPr/>
        </p:nvSpPr>
        <p:spPr>
          <a:xfrm>
            <a:off x="812800" y="975360"/>
            <a:ext cx="8128000" cy="812800"/>
          </a:xfrm>
          <a:prstGeom prst="rect">
            <a:avLst/>
          </a:prstGeom>
          <a:noFill/>
          <a:ln/>
        </p:spPr>
        <p:txBody>
          <a:bodyPr wrap="square" lIns="0" tIns="0" rIns="0" bIns="0" rtlCol="0" anchor="ctr"/>
          <a:lstStyle/>
          <a:p>
            <a:pPr indent="0" marL="0">
              <a:buNone/>
            </a:pPr>
            <a:r>
              <a:rPr lang="en-US" sz="2800" b="1" dirty="0">
                <a:solidFill>
                  <a:srgbClr val="0E1C42"/>
                </a:solidFill>
                <a:latin typeface="Cambria" pitchFamily="34" charset="0"/>
                <a:ea typeface="Cambria" pitchFamily="34" charset="-122"/>
                <a:cs typeface="Cambria" pitchFamily="34" charset="-120"/>
              </a:rPr>
              <a:t>Mexico</a:t>
            </a:r>
            <a:endParaRPr lang="en-US" sz="2800" dirty="0"/>
          </a:p>
        </p:txBody>
      </p:sp>
      <p:sp>
        <p:nvSpPr>
          <p:cNvPr id="6" name="Shape 4"/>
          <p:cNvSpPr/>
          <p:nvPr/>
        </p:nvSpPr>
        <p:spPr>
          <a:xfrm>
            <a:off x="812800" y="2032000"/>
            <a:ext cx="8453120" cy="3251200"/>
          </a:xfrm>
          <a:prstGeom prst="roundRect">
            <a:avLst>
              <a:gd name="adj" fmla="val 6000"/>
            </a:avLst>
          </a:prstGeom>
          <a:solidFill>
            <a:srgbClr val="FFF8F0"/>
          </a:solidFill>
          <a:ln/>
          <a:effectLst>
            <a:outerShdw sx="100000" sy="100000" kx="0" ky="0" algn="bl" rotWithShape="0" blurRad="76200" dist="25400" dir="8100000">
              <a:srgbClr val="000000">
                <a:alpha val="10000"/>
              </a:srgbClr>
            </a:outerShdw>
          </a:effectLst>
        </p:spPr>
      </p:sp>
      <p:sp>
        <p:nvSpPr>
          <p:cNvPr id="7" name="Text 5"/>
          <p:cNvSpPr/>
          <p:nvPr/>
        </p:nvSpPr>
        <p:spPr>
          <a:xfrm>
            <a:off x="1137920" y="2194560"/>
            <a:ext cx="7802880" cy="292608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0E1C42"/>
                </a:solidFill>
                <a:latin typeface="Calibri" pitchFamily="34" charset="0"/>
                <a:ea typeface="Calibri" pitchFamily="34" charset="-122"/>
                <a:cs typeface="Calibri" pitchFamily="34" charset="-120"/>
              </a:rPr>
              <a:t>Sits south of the United States</a:t>
            </a:r>
            <a:endParaRPr lang="en-US" sz="1300" dirty="0"/>
          </a:p>
          <a:p>
            <a:pPr marL="342900" indent="-342900">
              <a:spcAft>
                <a:spcPts val="600"/>
              </a:spcAft>
              <a:buSzPct val="100000"/>
              <a:buChar char="•"/>
            </a:pPr>
            <a:r>
              <a:rPr lang="en-US" sz="1300" dirty="0">
                <a:solidFill>
                  <a:srgbClr val="0E1C42"/>
                </a:solidFill>
                <a:latin typeface="Calibri" pitchFamily="34" charset="0"/>
                <a:ea typeface="Calibri" pitchFamily="34" charset="-122"/>
                <a:cs typeface="Calibri" pitchFamily="34" charset="-120"/>
              </a:rPr>
              <a:t>Land narrows the further south you go</a:t>
            </a:r>
            <a:endParaRPr lang="en-US" sz="1300" dirty="0"/>
          </a:p>
          <a:p>
            <a:pPr marL="342900" indent="-342900">
              <a:spcAft>
                <a:spcPts val="600"/>
              </a:spcAft>
              <a:buSzPct val="100000"/>
              <a:buChar char="•"/>
            </a:pPr>
            <a:r>
              <a:rPr lang="en-US" sz="1300" dirty="0">
                <a:solidFill>
                  <a:srgbClr val="0E1C42"/>
                </a:solidFill>
                <a:latin typeface="Calibri" pitchFamily="34" charset="0"/>
                <a:ea typeface="Calibri" pitchFamily="34" charset="-122"/>
                <a:cs typeface="Calibri" pitchFamily="34" charset="-120"/>
              </a:rPr>
              <a:t>Connects North America to Central America</a:t>
            </a:r>
            <a:endParaRPr lang="en-US" sz="1300" dirty="0"/>
          </a:p>
          <a:p>
            <a:pPr marL="342900" indent="-342900">
              <a:spcAft>
                <a:spcPts val="600"/>
              </a:spcAft>
              <a:buSzPct val="100000"/>
              <a:buChar char="•"/>
            </a:pPr>
            <a:r>
              <a:rPr lang="en-US" sz="1300" dirty="0">
                <a:solidFill>
                  <a:srgbClr val="0E1C42"/>
                </a:solidFill>
                <a:latin typeface="Calibri" pitchFamily="34" charset="0"/>
                <a:ea typeface="Calibri" pitchFamily="34" charset="-122"/>
                <a:cs typeface="Calibri" pitchFamily="34" charset="-120"/>
              </a:rPr>
              <a:t>Touches the Pacific Ocean and the Gulf of Mexico</a:t>
            </a:r>
            <a:endParaRPr lang="en-US" sz="1300" dirty="0"/>
          </a:p>
          <a:p>
            <a:pPr marL="342900" indent="-342900">
              <a:spcAft>
                <a:spcPts val="400"/>
              </a:spcAft>
              <a:buSzPct val="100000"/>
              <a:buChar char="•"/>
            </a:pPr>
            <a:r>
              <a:rPr lang="en-US" sz="1300" b="1" dirty="0">
                <a:solidFill>
                  <a:srgbClr val="1A8A7D"/>
                </a:solidFill>
                <a:latin typeface="Calibri" pitchFamily="34" charset="0"/>
                <a:ea typeface="Calibri" pitchFamily="34" charset="-122"/>
                <a:cs typeface="Calibri" pitchFamily="34" charset="-120"/>
              </a:rPr>
              <a:t>Capital: Mexico City</a:t>
            </a:r>
            <a:endParaRPr lang="en-US" sz="1300" dirty="0"/>
          </a:p>
        </p:txBody>
      </p:sp>
      <p:sp>
        <p:nvSpPr>
          <p:cNvPr id="8" name="Shape 6"/>
          <p:cNvSpPr/>
          <p:nvPr/>
        </p:nvSpPr>
        <p:spPr>
          <a:xfrm>
            <a:off x="9916160" y="975360"/>
            <a:ext cx="5527040" cy="4551680"/>
          </a:xfrm>
          <a:prstGeom prst="roundRect">
            <a:avLst>
              <a:gd name="adj" fmla="val 4286"/>
            </a:avLst>
          </a:prstGeom>
          <a:solidFill>
            <a:srgbClr val="E2E8F4"/>
          </a:solidFill>
          <a:ln w="19050">
            <a:solidFill>
              <a:srgbClr val="B0B8CC"/>
            </a:solidFill>
            <a:prstDash val="dash"/>
          </a:ln>
        </p:spPr>
      </p:sp>
      <p:sp>
        <p:nvSpPr>
          <p:cNvPr id="9" name="Text 7"/>
          <p:cNvSpPr/>
          <p:nvPr/>
        </p:nvSpPr>
        <p:spPr>
          <a:xfrm>
            <a:off x="9916160" y="975360"/>
            <a:ext cx="5527040" cy="487680"/>
          </a:xfrm>
          <a:prstGeom prst="rect">
            <a:avLst/>
          </a:prstGeom>
          <a:noFill/>
          <a:ln/>
        </p:spPr>
        <p:txBody>
          <a:bodyPr wrap="square" lIns="0" tIns="0" rIns="0" bIns="0" rtlCol="0" anchor="ctr"/>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10" name="Text 8"/>
          <p:cNvSpPr/>
          <p:nvPr/>
        </p:nvSpPr>
        <p:spPr>
          <a:xfrm>
            <a:off x="10160000" y="1463040"/>
            <a:ext cx="5039360" cy="3901440"/>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Map of North America with Mexico highlighted — showing its position south of the US, narrowing toward Central America</a:t>
            </a:r>
            <a:endParaRPr lang="en-US" sz="1100" dirty="0"/>
          </a:p>
        </p:txBody>
      </p:sp>
      <p:sp>
        <p:nvSpPr>
          <p:cNvPr id="11" name="Shape 9"/>
          <p:cNvSpPr/>
          <p:nvPr/>
        </p:nvSpPr>
        <p:spPr>
          <a:xfrm>
            <a:off x="812800" y="5689600"/>
            <a:ext cx="14630400" cy="2438400"/>
          </a:xfrm>
          <a:prstGeom prst="roundRect">
            <a:avLst>
              <a:gd name="adj" fmla="val 10000"/>
            </a:avLst>
          </a:prstGeom>
          <a:solidFill>
            <a:srgbClr val="1A2D5A"/>
          </a:solidFill>
          <a:ln/>
          <a:effectLst>
            <a:outerShdw sx="100000" sy="100000" kx="0" ky="0" algn="bl" rotWithShape="0" blurRad="101600" dist="38100" dir="8100000">
              <a:srgbClr val="000000">
                <a:alpha val="20000"/>
              </a:srgbClr>
            </a:outerShdw>
          </a:effectLst>
        </p:spPr>
      </p:sp>
      <p:sp>
        <p:nvSpPr>
          <p:cNvPr id="12" name="Text 10"/>
          <p:cNvSpPr/>
          <p:nvPr/>
        </p:nvSpPr>
        <p:spPr>
          <a:xfrm>
            <a:off x="1137920" y="5852160"/>
            <a:ext cx="13980160" cy="455168"/>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SOCRATIC QUESTIONS</a:t>
            </a:r>
            <a:endParaRPr lang="en-US" sz="900" dirty="0"/>
          </a:p>
        </p:txBody>
      </p:sp>
      <p:sp>
        <p:nvSpPr>
          <p:cNvPr id="13" name="Text 11"/>
          <p:cNvSpPr/>
          <p:nvPr/>
        </p:nvSpPr>
        <p:spPr>
          <a:xfrm>
            <a:off x="1137920" y="6307328"/>
            <a:ext cx="13980160" cy="1658112"/>
          </a:xfrm>
          <a:prstGeom prst="rect">
            <a:avLst/>
          </a:prstGeom>
          <a:noFill/>
          <a:ln/>
        </p:spPr>
        <p:txBody>
          <a:bodyPr wrap="square" lIns="0" tIns="0" rIns="0" bIns="0" rtlCol="0" anchor="t"/>
          <a:lstStyle/>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 direction is Mexico from the United States?</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 does it mean that Mexico 'connects North America to Central America'?</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Can you trace the shape of Mexico with your finger — how does it change?</a:t>
            </a:r>
            <a:endParaRPr lang="en-US" sz="1100" dirty="0"/>
          </a:p>
        </p:txBody>
      </p:sp>
      <p:sp>
        <p:nvSpPr>
          <p:cNvPr id="14" name="Text 12"/>
          <p:cNvSpPr/>
          <p:nvPr/>
        </p:nvSpPr>
        <p:spPr>
          <a:xfrm>
            <a:off x="14305280" y="8534400"/>
            <a:ext cx="1463040" cy="406400"/>
          </a:xfrm>
          <a:prstGeom prst="rect">
            <a:avLst/>
          </a:prstGeom>
          <a:noFill/>
          <a:ln/>
        </p:spPr>
        <p:txBody>
          <a:bodyPr wrap="square" lIns="0" tIns="0" rIns="0" bIns="0" rtlCol="0" anchor="ctr"/>
          <a:lstStyle/>
          <a:p>
            <a:pPr algn="r" indent="0" marL="0">
              <a:buNone/>
            </a:pPr>
            <a:r>
              <a:rPr lang="en-US" sz="800" dirty="0">
                <a:solidFill>
                  <a:srgbClr val="7A88A8"/>
                </a:solidFill>
                <a:latin typeface="Calibri" pitchFamily="34" charset="0"/>
                <a:ea typeface="Calibri" pitchFamily="34" charset="-122"/>
                <a:cs typeface="Calibri" pitchFamily="34" charset="-120"/>
              </a:rPr>
              <a:t>7 / 20</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16256000" cy="81280"/>
          </a:xfrm>
          <a:prstGeom prst="rect">
            <a:avLst/>
          </a:prstGeom>
          <a:solidFill>
            <a:srgbClr val="D4943A"/>
          </a:solidFill>
          <a:ln/>
        </p:spPr>
      </p:sp>
      <p:sp>
        <p:nvSpPr>
          <p:cNvPr id="3" name="Shape 1"/>
          <p:cNvSpPr/>
          <p:nvPr/>
        </p:nvSpPr>
        <p:spPr>
          <a:xfrm>
            <a:off x="0" y="81280"/>
            <a:ext cx="16256000" cy="9062720"/>
          </a:xfrm>
          <a:prstGeom prst="rect">
            <a:avLst/>
          </a:prstGeom>
          <a:solidFill>
            <a:srgbClr val="F0F2F8"/>
          </a:solidFill>
          <a:ln/>
        </p:spPr>
      </p:sp>
      <p:sp>
        <p:nvSpPr>
          <p:cNvPr id="4" name="Text 2"/>
          <p:cNvSpPr/>
          <p:nvPr/>
        </p:nvSpPr>
        <p:spPr>
          <a:xfrm>
            <a:off x="812800" y="487680"/>
            <a:ext cx="1950720" cy="487680"/>
          </a:xfrm>
          <a:prstGeom prst="rect">
            <a:avLst/>
          </a:prstGeom>
          <a:noFill/>
          <a:ln/>
        </p:spPr>
        <p:txBody>
          <a:bodyPr wrap="square" lIns="0" tIns="0" rIns="0" bIns="0" rtlCol="0" anchor="ctr"/>
          <a:lstStyle/>
          <a:p>
            <a:pPr indent="0" marL="0">
              <a:buNone/>
            </a:pPr>
            <a:r>
              <a:rPr lang="en-US" sz="1000" b="1" spc="200" kern="0" dirty="0">
                <a:solidFill>
                  <a:srgbClr val="1A8A7D"/>
                </a:solidFill>
                <a:latin typeface="Calibri" pitchFamily="34" charset="0"/>
                <a:ea typeface="Calibri" pitchFamily="34" charset="-122"/>
                <a:cs typeface="Calibri" pitchFamily="34" charset="-120"/>
              </a:rPr>
              <a:t>NAME</a:t>
            </a:r>
            <a:endParaRPr lang="en-US" sz="1000" dirty="0"/>
          </a:p>
        </p:txBody>
      </p:sp>
      <p:sp>
        <p:nvSpPr>
          <p:cNvPr id="5" name="Text 3"/>
          <p:cNvSpPr/>
          <p:nvPr/>
        </p:nvSpPr>
        <p:spPr>
          <a:xfrm>
            <a:off x="812800" y="975360"/>
            <a:ext cx="8128000" cy="812800"/>
          </a:xfrm>
          <a:prstGeom prst="rect">
            <a:avLst/>
          </a:prstGeom>
          <a:noFill/>
          <a:ln/>
        </p:spPr>
        <p:txBody>
          <a:bodyPr wrap="square" lIns="0" tIns="0" rIns="0" bIns="0" rtlCol="0" anchor="ctr"/>
          <a:lstStyle/>
          <a:p>
            <a:pPr indent="0" marL="0">
              <a:buNone/>
            </a:pPr>
            <a:r>
              <a:rPr lang="en-US" sz="2800" b="1" dirty="0">
                <a:solidFill>
                  <a:srgbClr val="0E1C42"/>
                </a:solidFill>
                <a:latin typeface="Cambria" pitchFamily="34" charset="0"/>
                <a:ea typeface="Cambria" pitchFamily="34" charset="-122"/>
                <a:cs typeface="Cambria" pitchFamily="34" charset="-120"/>
              </a:rPr>
              <a:t>The Caribbean</a:t>
            </a:r>
            <a:endParaRPr lang="en-US" sz="2800" dirty="0"/>
          </a:p>
        </p:txBody>
      </p:sp>
      <p:sp>
        <p:nvSpPr>
          <p:cNvPr id="6" name="Shape 4"/>
          <p:cNvSpPr/>
          <p:nvPr/>
        </p:nvSpPr>
        <p:spPr>
          <a:xfrm>
            <a:off x="812800" y="2032000"/>
            <a:ext cx="8453120" cy="3251200"/>
          </a:xfrm>
          <a:prstGeom prst="roundRect">
            <a:avLst>
              <a:gd name="adj" fmla="val 6000"/>
            </a:avLst>
          </a:prstGeom>
          <a:solidFill>
            <a:srgbClr val="F0E8FF"/>
          </a:solidFill>
          <a:ln/>
          <a:effectLst>
            <a:outerShdw sx="100000" sy="100000" kx="0" ky="0" algn="bl" rotWithShape="0" blurRad="76200" dist="25400" dir="8100000">
              <a:srgbClr val="000000">
                <a:alpha val="10000"/>
              </a:srgbClr>
            </a:outerShdw>
          </a:effectLst>
        </p:spPr>
      </p:sp>
      <p:sp>
        <p:nvSpPr>
          <p:cNvPr id="7" name="Text 5"/>
          <p:cNvSpPr/>
          <p:nvPr/>
        </p:nvSpPr>
        <p:spPr>
          <a:xfrm>
            <a:off x="1137920" y="2194560"/>
            <a:ext cx="7802880" cy="292608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0E1C42"/>
                </a:solidFill>
                <a:latin typeface="Calibri" pitchFamily="34" charset="0"/>
                <a:ea typeface="Calibri" pitchFamily="34" charset="-122"/>
                <a:cs typeface="Calibri" pitchFamily="34" charset="-120"/>
              </a:rPr>
              <a:t>Not one country — a group of islands in a warm sea</a:t>
            </a:r>
            <a:endParaRPr lang="en-US" sz="1300" dirty="0"/>
          </a:p>
          <a:p>
            <a:pPr marL="342900" indent="-342900">
              <a:spcAft>
                <a:spcPts val="600"/>
              </a:spcAft>
              <a:buSzPct val="100000"/>
              <a:buChar char="•"/>
            </a:pPr>
            <a:r>
              <a:rPr lang="en-US" sz="1300" dirty="0">
                <a:solidFill>
                  <a:srgbClr val="0E1C42"/>
                </a:solidFill>
                <a:latin typeface="Calibri" pitchFamily="34" charset="0"/>
                <a:ea typeface="Calibri" pitchFamily="34" charset="-122"/>
                <a:cs typeface="Calibri" pitchFamily="34" charset="-120"/>
              </a:rPr>
              <a:t>East and south of Mexico</a:t>
            </a:r>
            <a:endParaRPr lang="en-US" sz="1300" dirty="0"/>
          </a:p>
          <a:p>
            <a:pPr marL="342900" indent="-342900">
              <a:spcAft>
                <a:spcPts val="600"/>
              </a:spcAft>
              <a:buSzPct val="100000"/>
              <a:buChar char="•"/>
            </a:pPr>
            <a:r>
              <a:rPr lang="en-US" sz="1300" dirty="0">
                <a:solidFill>
                  <a:srgbClr val="0E1C42"/>
                </a:solidFill>
                <a:latin typeface="Calibri" pitchFamily="34" charset="0"/>
                <a:ea typeface="Calibri" pitchFamily="34" charset="-122"/>
                <a:cs typeface="Calibri" pitchFamily="34" charset="-120"/>
              </a:rPr>
              <a:t>Includes Cuba, Jamaica, Haiti, the Dominican Republic, and Puerto Rico</a:t>
            </a:r>
            <a:endParaRPr lang="en-US" sz="1300" dirty="0"/>
          </a:p>
          <a:p>
            <a:pPr marL="342900" indent="-342900">
              <a:spcAft>
                <a:spcPts val="400"/>
              </a:spcAft>
              <a:buSzPct val="100000"/>
              <a:buChar char="•"/>
            </a:pPr>
            <a:r>
              <a:rPr lang="en-US" sz="1300" b="1" dirty="0">
                <a:solidFill>
                  <a:srgbClr val="8B6FC0"/>
                </a:solidFill>
                <a:latin typeface="Calibri" pitchFamily="34" charset="0"/>
                <a:ea typeface="Calibri" pitchFamily="34" charset="-122"/>
                <a:cs typeface="Calibri" pitchFamily="34" charset="-120"/>
              </a:rPr>
              <a:t>More than 7,000 islands, islets, reefs, and cays!</a:t>
            </a:r>
            <a:endParaRPr lang="en-US" sz="1300" dirty="0"/>
          </a:p>
        </p:txBody>
      </p:sp>
      <p:sp>
        <p:nvSpPr>
          <p:cNvPr id="8" name="Shape 6"/>
          <p:cNvSpPr/>
          <p:nvPr/>
        </p:nvSpPr>
        <p:spPr>
          <a:xfrm>
            <a:off x="9916160" y="975360"/>
            <a:ext cx="5527040" cy="4551680"/>
          </a:xfrm>
          <a:prstGeom prst="roundRect">
            <a:avLst>
              <a:gd name="adj" fmla="val 4286"/>
            </a:avLst>
          </a:prstGeom>
          <a:solidFill>
            <a:srgbClr val="E2E8F4"/>
          </a:solidFill>
          <a:ln w="19050">
            <a:solidFill>
              <a:srgbClr val="B0B8CC"/>
            </a:solidFill>
            <a:prstDash val="dash"/>
          </a:ln>
        </p:spPr>
      </p:sp>
      <p:sp>
        <p:nvSpPr>
          <p:cNvPr id="9" name="Text 7"/>
          <p:cNvSpPr/>
          <p:nvPr/>
        </p:nvSpPr>
        <p:spPr>
          <a:xfrm>
            <a:off x="9916160" y="975360"/>
            <a:ext cx="5527040" cy="487680"/>
          </a:xfrm>
          <a:prstGeom prst="rect">
            <a:avLst/>
          </a:prstGeom>
          <a:noFill/>
          <a:ln/>
        </p:spPr>
        <p:txBody>
          <a:bodyPr wrap="square" lIns="0" tIns="0" rIns="0" bIns="0" rtlCol="0" anchor="ctr"/>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10" name="Text 8"/>
          <p:cNvSpPr/>
          <p:nvPr/>
        </p:nvSpPr>
        <p:spPr>
          <a:xfrm>
            <a:off x="10160000" y="1463040"/>
            <a:ext cx="5039360" cy="3901440"/>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Map zoomed into the Caribbean Sea showing the island chain — Cuba, Jamaica, Haiti/Dominican Republic, Puerto Rico, Bahamas labeled</a:t>
            </a:r>
            <a:endParaRPr lang="en-US" sz="1100" dirty="0"/>
          </a:p>
        </p:txBody>
      </p:sp>
      <p:sp>
        <p:nvSpPr>
          <p:cNvPr id="11" name="Shape 9"/>
          <p:cNvSpPr/>
          <p:nvPr/>
        </p:nvSpPr>
        <p:spPr>
          <a:xfrm>
            <a:off x="812800" y="5689600"/>
            <a:ext cx="14630400" cy="2438400"/>
          </a:xfrm>
          <a:prstGeom prst="roundRect">
            <a:avLst>
              <a:gd name="adj" fmla="val 8000"/>
            </a:avLst>
          </a:prstGeom>
          <a:solidFill>
            <a:srgbClr val="FFF3DC"/>
          </a:solidFill>
          <a:ln w="19050">
            <a:solidFill>
              <a:srgbClr val="F5E6C8"/>
            </a:solidFill>
            <a:prstDash val="solid"/>
          </a:ln>
        </p:spPr>
      </p:sp>
      <p:sp>
        <p:nvSpPr>
          <p:cNvPr id="12" name="Text 10"/>
          <p:cNvSpPr/>
          <p:nvPr/>
        </p:nvSpPr>
        <p:spPr>
          <a:xfrm>
            <a:off x="1056640" y="5787136"/>
            <a:ext cx="14142720" cy="357632"/>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13" name="Text 11"/>
          <p:cNvSpPr/>
          <p:nvPr/>
        </p:nvSpPr>
        <p:spPr>
          <a:xfrm>
            <a:off x="1056640" y="6144768"/>
            <a:ext cx="14142720" cy="1869440"/>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"How is the Caribbean different from the other three places?"</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"Why is it called a 'group of islands' instead of a country?"</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"Can you name one island in the Caribbean?"</a:t>
            </a:r>
            <a:endParaRPr lang="en-US" sz="1200" dirty="0"/>
          </a:p>
        </p:txBody>
      </p:sp>
      <p:sp>
        <p:nvSpPr>
          <p:cNvPr id="14" name="Text 12"/>
          <p:cNvSpPr/>
          <p:nvPr/>
        </p:nvSpPr>
        <p:spPr>
          <a:xfrm>
            <a:off x="14305280" y="8534400"/>
            <a:ext cx="1463040" cy="406400"/>
          </a:xfrm>
          <a:prstGeom prst="rect">
            <a:avLst/>
          </a:prstGeom>
          <a:noFill/>
          <a:ln/>
        </p:spPr>
        <p:txBody>
          <a:bodyPr wrap="square" lIns="0" tIns="0" rIns="0" bIns="0" rtlCol="0" anchor="ctr"/>
          <a:lstStyle/>
          <a:p>
            <a:pPr algn="r" indent="0" marL="0">
              <a:buNone/>
            </a:pPr>
            <a:r>
              <a:rPr lang="en-US" sz="800" dirty="0">
                <a:solidFill>
                  <a:srgbClr val="7A88A8"/>
                </a:solidFill>
                <a:latin typeface="Calibri" pitchFamily="34" charset="0"/>
                <a:ea typeface="Calibri" pitchFamily="34" charset="-122"/>
                <a:cs typeface="Calibri" pitchFamily="34" charset="-120"/>
              </a:rPr>
              <a:t>8 / 20</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16256000" cy="81280"/>
          </a:xfrm>
          <a:prstGeom prst="rect">
            <a:avLst/>
          </a:prstGeom>
          <a:solidFill>
            <a:srgbClr val="D4943A"/>
          </a:solidFill>
          <a:ln/>
        </p:spPr>
      </p:sp>
      <p:sp>
        <p:nvSpPr>
          <p:cNvPr id="3" name="Shape 1"/>
          <p:cNvSpPr/>
          <p:nvPr/>
        </p:nvSpPr>
        <p:spPr>
          <a:xfrm>
            <a:off x="0" y="81280"/>
            <a:ext cx="16256000" cy="9062720"/>
          </a:xfrm>
          <a:prstGeom prst="rect">
            <a:avLst/>
          </a:prstGeom>
          <a:solidFill>
            <a:srgbClr val="FFFFFF"/>
          </a:solidFill>
          <a:ln/>
        </p:spPr>
      </p:sp>
      <p:sp>
        <p:nvSpPr>
          <p:cNvPr id="4" name="Text 2"/>
          <p:cNvSpPr/>
          <p:nvPr/>
        </p:nvSpPr>
        <p:spPr>
          <a:xfrm>
            <a:off x="812800" y="487680"/>
            <a:ext cx="4876800" cy="487680"/>
          </a:xfrm>
          <a:prstGeom prst="rect">
            <a:avLst/>
          </a:prstGeom>
          <a:noFill/>
          <a:ln/>
        </p:spPr>
        <p:txBody>
          <a:bodyPr wrap="square" lIns="0" tIns="0" rIns="0" bIns="0" rtlCol="0" anchor="ctr"/>
          <a:lstStyle/>
          <a:p>
            <a:pPr indent="0" marL="0">
              <a:buNone/>
            </a:pPr>
            <a:r>
              <a:rPr lang="en-US" sz="1000" b="1" spc="200" kern="0" dirty="0">
                <a:solidFill>
                  <a:srgbClr val="D4943A"/>
                </a:solidFill>
                <a:latin typeface="Calibri" pitchFamily="34" charset="0"/>
                <a:ea typeface="Calibri" pitchFamily="34" charset="-122"/>
                <a:cs typeface="Calibri" pitchFamily="34" charset="-120"/>
              </a:rPr>
              <a:t>MAP INVESTIGATION</a:t>
            </a:r>
            <a:endParaRPr lang="en-US" sz="1000" dirty="0"/>
          </a:p>
        </p:txBody>
      </p:sp>
      <p:sp>
        <p:nvSpPr>
          <p:cNvPr id="5" name="Text 3"/>
          <p:cNvSpPr/>
          <p:nvPr/>
        </p:nvSpPr>
        <p:spPr>
          <a:xfrm>
            <a:off x="812800" y="975360"/>
            <a:ext cx="7315200" cy="1137920"/>
          </a:xfrm>
          <a:prstGeom prst="rect">
            <a:avLst/>
          </a:prstGeom>
          <a:noFill/>
          <a:ln/>
        </p:spPr>
        <p:txBody>
          <a:bodyPr wrap="square" lIns="0" tIns="0" rIns="0" bIns="0" rtlCol="0" anchor="ctr"/>
          <a:lstStyle/>
          <a:p>
            <a:pPr indent="0" marL="0">
              <a:lnSpc>
                <a:spcPct val="110000"/>
              </a:lnSpc>
              <a:buNone/>
            </a:pPr>
            <a:r>
              <a:rPr lang="en-US" sz="2200" b="1" dirty="0">
                <a:solidFill>
                  <a:srgbClr val="0E1C42"/>
                </a:solidFill>
                <a:latin typeface="Cambria" pitchFamily="34" charset="0"/>
                <a:ea typeface="Cambria" pitchFamily="34" charset="-122"/>
                <a:cs typeface="Cambria" pitchFamily="34" charset="-120"/>
              </a:rPr>
              <a:t>Political Map of North America</a:t>
            </a:r>
            <a:endParaRPr lang="en-US" sz="2200" dirty="0"/>
          </a:p>
          <a:p>
            <a:pPr indent="0" marL="0">
              <a:lnSpc>
                <a:spcPct val="110000"/>
              </a:lnSpc>
              <a:buNone/>
            </a:pPr>
            <a:r>
              <a:rPr lang="en-US" sz="2200" b="1" dirty="0">
                <a:solidFill>
                  <a:srgbClr val="0E1C42"/>
                </a:solidFill>
                <a:latin typeface="Cambria" pitchFamily="34" charset="0"/>
                <a:ea typeface="Cambria" pitchFamily="34" charset="-122"/>
                <a:cs typeface="Cambria" pitchFamily="34" charset="-120"/>
              </a:rPr>
              <a:t>&amp; the Caribbean</a:t>
            </a:r>
            <a:endParaRPr lang="en-US" sz="2200" dirty="0"/>
          </a:p>
        </p:txBody>
      </p:sp>
      <p:sp>
        <p:nvSpPr>
          <p:cNvPr id="6" name="Shape 4"/>
          <p:cNvSpPr/>
          <p:nvPr/>
        </p:nvSpPr>
        <p:spPr>
          <a:xfrm>
            <a:off x="812800" y="2438400"/>
            <a:ext cx="8128000" cy="5689600"/>
          </a:xfrm>
          <a:prstGeom prst="roundRect">
            <a:avLst>
              <a:gd name="adj" fmla="val 3429"/>
            </a:avLst>
          </a:prstGeom>
          <a:solidFill>
            <a:srgbClr val="E2E8F4"/>
          </a:solidFill>
          <a:ln w="19050">
            <a:solidFill>
              <a:srgbClr val="B0B8CC"/>
            </a:solidFill>
            <a:prstDash val="dash"/>
          </a:ln>
        </p:spPr>
      </p:sp>
      <p:sp>
        <p:nvSpPr>
          <p:cNvPr id="7" name="Text 5"/>
          <p:cNvSpPr/>
          <p:nvPr/>
        </p:nvSpPr>
        <p:spPr>
          <a:xfrm>
            <a:off x="812800" y="2438400"/>
            <a:ext cx="8128000" cy="487680"/>
          </a:xfrm>
          <a:prstGeom prst="rect">
            <a:avLst/>
          </a:prstGeom>
          <a:noFill/>
          <a:ln/>
        </p:spPr>
        <p:txBody>
          <a:bodyPr wrap="square" lIns="0" tIns="0" rIns="0" bIns="0" rtlCol="0" anchor="ctr"/>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8" name="Text 6"/>
          <p:cNvSpPr/>
          <p:nvPr/>
        </p:nvSpPr>
        <p:spPr>
          <a:xfrm>
            <a:off x="1056640" y="2926080"/>
            <a:ext cx="7640320" cy="5039360"/>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Political map of North America and the Caribbean — Canada, US, Mexico, and major Caribbean islands labeled with borders. Source: CIA World Factbook or Library of Congress (public domain)</a:t>
            </a:r>
            <a:endParaRPr lang="en-US" sz="1100" dirty="0"/>
          </a:p>
        </p:txBody>
      </p:sp>
      <p:sp>
        <p:nvSpPr>
          <p:cNvPr id="9" name="Shape 7"/>
          <p:cNvSpPr/>
          <p:nvPr/>
        </p:nvSpPr>
        <p:spPr>
          <a:xfrm>
            <a:off x="9428480" y="2438400"/>
            <a:ext cx="6177280" cy="5689600"/>
          </a:xfrm>
          <a:prstGeom prst="roundRect">
            <a:avLst>
              <a:gd name="adj" fmla="val 3429"/>
            </a:avLst>
          </a:prstGeom>
          <a:solidFill>
            <a:srgbClr val="F0F2F8"/>
          </a:solidFill>
          <a:ln/>
          <a:effectLst>
            <a:outerShdw sx="100000" sy="100000" kx="0" ky="0" algn="bl" rotWithShape="0" blurRad="76200" dist="25400" dir="8100000">
              <a:srgbClr val="000000">
                <a:alpha val="10000"/>
              </a:srgbClr>
            </a:outerShdw>
          </a:effectLst>
        </p:spPr>
      </p:sp>
      <p:sp>
        <p:nvSpPr>
          <p:cNvPr id="10" name="Text 8"/>
          <p:cNvSpPr/>
          <p:nvPr/>
        </p:nvSpPr>
        <p:spPr>
          <a:xfrm>
            <a:off x="9753600" y="2600960"/>
            <a:ext cx="5527040" cy="406400"/>
          </a:xfrm>
          <a:prstGeom prst="rect">
            <a:avLst/>
          </a:prstGeom>
          <a:noFill/>
          <a:ln/>
        </p:spPr>
        <p:txBody>
          <a:bodyPr wrap="square" lIns="0" tIns="0" rIns="0" bIns="0" rtlCol="0" anchor="ctr"/>
          <a:lstStyle/>
          <a:p>
            <a:pPr indent="0" marL="0">
              <a:buNone/>
            </a:pPr>
            <a:r>
              <a:rPr lang="en-US" sz="900" b="1" spc="150" kern="0" dirty="0">
                <a:solidFill>
                  <a:srgbClr val="1A8A7D"/>
                </a:solidFill>
                <a:latin typeface="Calibri" pitchFamily="34" charset="0"/>
                <a:ea typeface="Calibri" pitchFamily="34" charset="-122"/>
                <a:cs typeface="Calibri" pitchFamily="34" charset="-120"/>
              </a:rPr>
              <a:t>NOTICE  |  NAME  |  NARRATE</a:t>
            </a:r>
            <a:endParaRPr lang="en-US" sz="900" dirty="0"/>
          </a:p>
        </p:txBody>
      </p:sp>
      <p:sp>
        <p:nvSpPr>
          <p:cNvPr id="11" name="Text 9"/>
          <p:cNvSpPr/>
          <p:nvPr/>
        </p:nvSpPr>
        <p:spPr>
          <a:xfrm>
            <a:off x="9753600" y="3088640"/>
            <a:ext cx="5527040" cy="4876800"/>
          </a:xfrm>
          <a:prstGeom prst="rect">
            <a:avLst/>
          </a:prstGeom>
          <a:noFill/>
          <a:ln/>
        </p:spPr>
        <p:txBody>
          <a:bodyPr wrap="square" lIns="0" tIns="0" rIns="0" bIns="0" rtlCol="0" anchor="t"/>
          <a:lstStyle/>
          <a:p>
            <a:pPr indent="0" marL="0">
              <a:spcAft>
                <a:spcPts val="200"/>
              </a:spcAft>
              <a:buNone/>
            </a:pPr>
            <a:r>
              <a:rPr lang="en-US" sz="1200" b="1" dirty="0">
                <a:solidFill>
                  <a:srgbClr val="0E1C42"/>
                </a:solidFill>
                <a:latin typeface="Calibri" pitchFamily="34" charset="0"/>
                <a:ea typeface="Calibri" pitchFamily="34" charset="-122"/>
                <a:cs typeface="Calibri" pitchFamily="34" charset="-120"/>
              </a:rPr>
              <a:t>What do I see?</a:t>
            </a:r>
            <a:pPr indent="0" marL="0">
              <a:spcAft>
                <a:spcPts val="800"/>
              </a:spcAft>
              <a:buNone/>
            </a:pPr>
            <a:r>
              <a:rPr lang="en-US" sz="1100" dirty="0">
                <a:solidFill>
                  <a:srgbClr val="0E1C42"/>
                </a:solidFill>
                <a:latin typeface="Calibri" pitchFamily="34" charset="0"/>
                <a:ea typeface="Calibri" pitchFamily="34" charset="-122"/>
                <a:cs typeface="Calibri" pitchFamily="34" charset="-120"/>
              </a:rPr>
              <a:t>Find Canada, the US, Mexico, and the Caribbean islands. Which is biggest? Which is made of islands?</a:t>
            </a:r>
            <a:pPr indent="0" marL="0">
              <a:spcAft>
                <a:spcPts val="200"/>
              </a:spcAft>
              <a:buNone/>
            </a:pPr>
            <a:r>
              <a:rPr lang="en-US" sz="1200" b="1" dirty="0">
                <a:solidFill>
                  <a:srgbClr val="0E1C42"/>
                </a:solidFill>
                <a:latin typeface="Calibri" pitchFamily="34" charset="0"/>
                <a:ea typeface="Calibri" pitchFamily="34" charset="-122"/>
                <a:cs typeface="Calibri" pitchFamily="34" charset="-120"/>
              </a:rPr>
              <a:t>What does it mean?</a:t>
            </a:r>
            <a:pPr indent="0" marL="0">
              <a:spcAft>
                <a:spcPts val="800"/>
              </a:spcAft>
              <a:buNone/>
            </a:pPr>
            <a:r>
              <a:rPr lang="en-US" sz="1100" dirty="0">
                <a:solidFill>
                  <a:srgbClr val="0E1C42"/>
                </a:solidFill>
                <a:latin typeface="Calibri" pitchFamily="34" charset="0"/>
                <a:ea typeface="Calibri" pitchFamily="34" charset="-122"/>
                <a:cs typeface="Calibri" pitchFamily="34" charset="-120"/>
              </a:rPr>
              <a:t>Trace the border between Canada and the US. Then trace the US-Mexico border. Which country is in the middle?</a:t>
            </a:r>
            <a:pPr indent="0" marL="0">
              <a:spcAft>
                <a:spcPts val="200"/>
              </a:spcAft>
              <a:buNone/>
            </a:pPr>
            <a:r>
              <a:rPr lang="en-US" sz="1200" b="1" dirty="0">
                <a:solidFill>
                  <a:srgbClr val="0E1C42"/>
                </a:solidFill>
                <a:latin typeface="Calibri" pitchFamily="34" charset="0"/>
                <a:ea typeface="Calibri" pitchFamily="34" charset="-122"/>
                <a:cs typeface="Calibri" pitchFamily="34" charset="-120"/>
              </a:rPr>
              <a:t>Why does it matter?</a:t>
            </a:r>
            <a:pPr indent="0" marL="0">
              <a:spcAft>
                <a:spcPts val="400"/>
              </a:spcAft>
              <a:buNone/>
            </a:pPr>
            <a:r>
              <a:rPr lang="en-US" sz="1100" dirty="0">
                <a:solidFill>
                  <a:srgbClr val="0E1C42"/>
                </a:solidFill>
                <a:latin typeface="Calibri" pitchFamily="34" charset="0"/>
                <a:ea typeface="Calibri" pitchFamily="34" charset="-122"/>
                <a:cs typeface="Calibri" pitchFamily="34" charset="-120"/>
              </a:rPr>
              <a:t>Why do we study these four places together as one region instead of one at a time?</a:t>
            </a:r>
            <a:endParaRPr lang="en-US" sz="1200" dirty="0"/>
          </a:p>
        </p:txBody>
      </p:sp>
      <p:sp>
        <p:nvSpPr>
          <p:cNvPr id="12" name="Text 10"/>
          <p:cNvSpPr/>
          <p:nvPr/>
        </p:nvSpPr>
        <p:spPr>
          <a:xfrm>
            <a:off x="14305280" y="8534400"/>
            <a:ext cx="1463040" cy="406400"/>
          </a:xfrm>
          <a:prstGeom prst="rect">
            <a:avLst/>
          </a:prstGeom>
          <a:noFill/>
          <a:ln/>
        </p:spPr>
        <p:txBody>
          <a:bodyPr wrap="square" lIns="0" tIns="0" rIns="0" bIns="0" rtlCol="0" anchor="ctr"/>
          <a:lstStyle/>
          <a:p>
            <a:pPr algn="r" indent="0" marL="0">
              <a:buNone/>
            </a:pPr>
            <a:r>
              <a:rPr lang="en-US" sz="800" dirty="0">
                <a:solidFill>
                  <a:srgbClr val="7A88A8"/>
                </a:solidFill>
                <a:latin typeface="Calibri" pitchFamily="34" charset="0"/>
                <a:ea typeface="Calibri" pitchFamily="34" charset="-122"/>
                <a:cs typeface="Calibri" pitchFamily="34" charset="-120"/>
              </a:rPr>
              <a:t>9 / 20</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16256000" cy="81280"/>
          </a:xfrm>
          <a:prstGeom prst="rect">
            <a:avLst/>
          </a:prstGeom>
          <a:solidFill>
            <a:srgbClr val="D4943A"/>
          </a:solidFill>
          <a:ln/>
        </p:spPr>
      </p:sp>
      <p:sp>
        <p:nvSpPr>
          <p:cNvPr id="3" name="Shape 1"/>
          <p:cNvSpPr/>
          <p:nvPr/>
        </p:nvSpPr>
        <p:spPr>
          <a:xfrm>
            <a:off x="0" y="81280"/>
            <a:ext cx="16256000" cy="9062720"/>
          </a:xfrm>
          <a:prstGeom prst="rect">
            <a:avLst/>
          </a:prstGeom>
          <a:solidFill>
            <a:srgbClr val="FFF8F0"/>
          </a:solidFill>
          <a:ln/>
        </p:spPr>
      </p:sp>
      <p:sp>
        <p:nvSpPr>
          <p:cNvPr id="4" name="Text 2"/>
          <p:cNvSpPr/>
          <p:nvPr/>
        </p:nvSpPr>
        <p:spPr>
          <a:xfrm>
            <a:off x="812800" y="487680"/>
            <a:ext cx="4876800" cy="487680"/>
          </a:xfrm>
          <a:prstGeom prst="rect">
            <a:avLst/>
          </a:prstGeom>
          <a:noFill/>
          <a:ln/>
        </p:spPr>
        <p:txBody>
          <a:bodyPr wrap="square" lIns="0" tIns="0" rIns="0" bIns="0" rtlCol="0" anchor="ctr"/>
          <a:lstStyle/>
          <a:p>
            <a:pPr indent="0" marL="0">
              <a:buNone/>
            </a:pPr>
            <a:r>
              <a:rPr lang="en-US" sz="1000" b="1" spc="200" kern="0" dirty="0">
                <a:solidFill>
                  <a:srgbClr val="D4943A"/>
                </a:solidFill>
                <a:latin typeface="Calibri" pitchFamily="34" charset="0"/>
                <a:ea typeface="Calibri" pitchFamily="34" charset="-122"/>
                <a:cs typeface="Calibri" pitchFamily="34" charset="-120"/>
              </a:rPr>
              <a:t>PAUSE &amp; THINK</a:t>
            </a:r>
            <a:endParaRPr lang="en-US" sz="1000" dirty="0"/>
          </a:p>
        </p:txBody>
      </p:sp>
      <p:sp>
        <p:nvSpPr>
          <p:cNvPr id="5" name="Text 3"/>
          <p:cNvSpPr/>
          <p:nvPr/>
        </p:nvSpPr>
        <p:spPr>
          <a:xfrm>
            <a:off x="812800" y="1137920"/>
            <a:ext cx="14630400" cy="812800"/>
          </a:xfrm>
          <a:prstGeom prst="rect">
            <a:avLst/>
          </a:prstGeom>
          <a:noFill/>
          <a:ln/>
        </p:spPr>
        <p:txBody>
          <a:bodyPr wrap="square" lIns="0" tIns="0" rIns="0" bIns="0" rtlCol="0" anchor="ctr"/>
          <a:lstStyle/>
          <a:p>
            <a:pPr indent="0" marL="0">
              <a:buNone/>
            </a:pPr>
            <a:r>
              <a:rPr lang="en-US" sz="2600" b="1" dirty="0">
                <a:solidFill>
                  <a:srgbClr val="0E1C42"/>
                </a:solidFill>
                <a:latin typeface="Cambria" pitchFamily="34" charset="0"/>
                <a:ea typeface="Cambria" pitchFamily="34" charset="-122"/>
                <a:cs typeface="Cambria" pitchFamily="34" charset="-120"/>
              </a:rPr>
              <a:t>Why Group Them Together?</a:t>
            </a:r>
            <a:endParaRPr lang="en-US" sz="2600" dirty="0"/>
          </a:p>
        </p:txBody>
      </p:sp>
      <p:sp>
        <p:nvSpPr>
          <p:cNvPr id="6" name="Shape 4"/>
          <p:cNvSpPr/>
          <p:nvPr/>
        </p:nvSpPr>
        <p:spPr>
          <a:xfrm>
            <a:off x="2438400" y="2438400"/>
            <a:ext cx="11379200" cy="1950720"/>
          </a:xfrm>
          <a:prstGeom prst="roundRect">
            <a:avLst>
              <a:gd name="adj" fmla="val 12500"/>
            </a:avLst>
          </a:prstGeom>
          <a:solidFill>
            <a:srgbClr val="FFFFFF"/>
          </a:solidFill>
          <a:ln/>
          <a:effectLst>
            <a:outerShdw sx="100000" sy="100000" kx="0" ky="0" algn="bl" rotWithShape="0" blurRad="76200" dist="25400" dir="8100000">
              <a:srgbClr val="000000">
                <a:alpha val="10000"/>
              </a:srgbClr>
            </a:outerShdw>
          </a:effectLst>
        </p:spPr>
      </p:sp>
      <p:sp>
        <p:nvSpPr>
          <p:cNvPr id="7" name="Text 5"/>
          <p:cNvSpPr/>
          <p:nvPr/>
        </p:nvSpPr>
        <p:spPr>
          <a:xfrm>
            <a:off x="2763520" y="2519680"/>
            <a:ext cx="10728960" cy="1788160"/>
          </a:xfrm>
          <a:prstGeom prst="rect">
            <a:avLst/>
          </a:prstGeom>
          <a:noFill/>
          <a:ln/>
        </p:spPr>
        <p:txBody>
          <a:bodyPr wrap="square" lIns="0" tIns="0" rIns="0" bIns="0" rtlCol="0" anchor="ctr"/>
          <a:lstStyle/>
          <a:p>
            <a:pPr algn="ctr" indent="0" marL="0">
              <a:lnSpc>
                <a:spcPct val="130000"/>
              </a:lnSpc>
              <a:buNone/>
            </a:pPr>
            <a:r>
              <a:rPr lang="en-US" sz="1500" i="1" dirty="0">
                <a:solidFill>
                  <a:srgbClr val="0E1C42"/>
                </a:solidFill>
                <a:latin typeface="Cambria" pitchFamily="34" charset="0"/>
                <a:ea typeface="Cambria" pitchFamily="34" charset="-122"/>
                <a:cs typeface="Cambria" pitchFamily="34" charset="-120"/>
              </a:rPr>
              <a:t>The Caribbean is mostly water and islands, while Canada is one huge country. Why might curators still group them together with the United States and Mexico?</a:t>
            </a:r>
            <a:endParaRPr lang="en-US" sz="1500" dirty="0"/>
          </a:p>
        </p:txBody>
      </p:sp>
      <p:sp>
        <p:nvSpPr>
          <p:cNvPr id="8" name="Text 6"/>
          <p:cNvSpPr/>
          <p:nvPr/>
        </p:nvSpPr>
        <p:spPr>
          <a:xfrm>
            <a:off x="2438400" y="4714240"/>
            <a:ext cx="11379200" cy="568960"/>
          </a:xfrm>
          <a:prstGeom prst="rect">
            <a:avLst/>
          </a:prstGeom>
          <a:noFill/>
          <a:ln/>
        </p:spPr>
        <p:txBody>
          <a:bodyPr wrap="square" lIns="0" tIns="0" rIns="0" bIns="0" rtlCol="0" anchor="ctr"/>
          <a:lstStyle/>
          <a:p>
            <a:pPr algn="ctr" indent="0" marL="0">
              <a:buNone/>
            </a:pPr>
            <a:r>
              <a:rPr lang="en-US" sz="1200" b="1" dirty="0">
                <a:solidFill>
                  <a:srgbClr val="1A8A7D"/>
                </a:solidFill>
                <a:latin typeface="Calibri" pitchFamily="34" charset="0"/>
                <a:ea typeface="Calibri" pitchFamily="34" charset="-122"/>
                <a:cs typeface="Calibri" pitchFamily="34" charset="-120"/>
              </a:rPr>
              <a:t>TURN &amp; TALK  —  Share your thinking with a partner for 30 seconds.</a:t>
            </a:r>
            <a:endParaRPr lang="en-US" sz="1200" dirty="0"/>
          </a:p>
        </p:txBody>
      </p:sp>
      <p:sp>
        <p:nvSpPr>
          <p:cNvPr id="9" name="Shape 7"/>
          <p:cNvSpPr/>
          <p:nvPr/>
        </p:nvSpPr>
        <p:spPr>
          <a:xfrm>
            <a:off x="2438400" y="5689600"/>
            <a:ext cx="11379200" cy="1950720"/>
          </a:xfrm>
          <a:prstGeom prst="roundRect">
            <a:avLst>
              <a:gd name="adj" fmla="val 10000"/>
            </a:avLst>
          </a:prstGeom>
          <a:solidFill>
            <a:srgbClr val="1A2D5A"/>
          </a:solidFill>
          <a:ln/>
        </p:spPr>
      </p:sp>
      <p:sp>
        <p:nvSpPr>
          <p:cNvPr id="10" name="Text 8"/>
          <p:cNvSpPr/>
          <p:nvPr/>
        </p:nvSpPr>
        <p:spPr>
          <a:xfrm>
            <a:off x="2763520" y="5770880"/>
            <a:ext cx="10728960" cy="406400"/>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KEY IDEA</a:t>
            </a:r>
            <a:endParaRPr lang="en-US" sz="900" dirty="0"/>
          </a:p>
        </p:txBody>
      </p:sp>
      <p:sp>
        <p:nvSpPr>
          <p:cNvPr id="11" name="Text 9"/>
          <p:cNvSpPr/>
          <p:nvPr/>
        </p:nvSpPr>
        <p:spPr>
          <a:xfrm>
            <a:off x="2763520" y="6258560"/>
            <a:ext cx="10728960" cy="1219200"/>
          </a:xfrm>
          <a:prstGeom prst="rect">
            <a:avLst/>
          </a:prstGeom>
          <a:noFill/>
          <a:ln/>
        </p:spPr>
        <p:txBody>
          <a:bodyPr wrap="square" lIns="0" tIns="0" rIns="0" bIns="0" rtlCol="0" anchor="ctr"/>
          <a:lstStyle/>
          <a:p>
            <a:pPr indent="0" marL="0">
              <a:lnSpc>
                <a:spcPct val="125000"/>
              </a:lnSpc>
              <a:buNone/>
            </a:pPr>
            <a:r>
              <a:rPr lang="en-US" sz="1300" dirty="0">
                <a:solidFill>
                  <a:srgbClr val="FFFFFF"/>
                </a:solidFill>
                <a:latin typeface="Calibri" pitchFamily="34" charset="0"/>
                <a:ea typeface="Calibri" pitchFamily="34" charset="-122"/>
                <a:cs typeface="Calibri" pitchFamily="34" charset="-120"/>
              </a:rPr>
              <a:t>A region is not about being the same size or the same shape. These four places sit close together in the same part of the world — they are neighbors connected by land and sea.</a:t>
            </a:r>
            <a:endParaRPr lang="en-US" sz="1300" dirty="0"/>
          </a:p>
        </p:txBody>
      </p:sp>
      <p:sp>
        <p:nvSpPr>
          <p:cNvPr id="12" name="Text 10"/>
          <p:cNvSpPr/>
          <p:nvPr/>
        </p:nvSpPr>
        <p:spPr>
          <a:xfrm>
            <a:off x="14305280" y="8534400"/>
            <a:ext cx="1463040" cy="406400"/>
          </a:xfrm>
          <a:prstGeom prst="rect">
            <a:avLst/>
          </a:prstGeom>
          <a:noFill/>
          <a:ln/>
        </p:spPr>
        <p:txBody>
          <a:bodyPr wrap="square" lIns="0" tIns="0" rIns="0" bIns="0" rtlCol="0" anchor="ctr"/>
          <a:lstStyle/>
          <a:p>
            <a:pPr algn="r" indent="0" marL="0">
              <a:buNone/>
            </a:pPr>
            <a:r>
              <a:rPr lang="en-US" sz="800" dirty="0">
                <a:solidFill>
                  <a:srgbClr val="7A88A8"/>
                </a:solidFill>
                <a:latin typeface="Calibri" pitchFamily="34" charset="0"/>
                <a:ea typeface="Calibri" pitchFamily="34" charset="-122"/>
                <a:cs typeface="Calibri" pitchFamily="34" charset="-120"/>
              </a:rPr>
              <a:t>10 / 20</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16256000" cy="81280"/>
          </a:xfrm>
          <a:prstGeom prst="rect">
            <a:avLst/>
          </a:prstGeom>
          <a:solidFill>
            <a:srgbClr val="D4943A"/>
          </a:solidFill>
          <a:ln/>
        </p:spPr>
      </p:sp>
      <p:sp>
        <p:nvSpPr>
          <p:cNvPr id="3" name="Shape 1"/>
          <p:cNvSpPr/>
          <p:nvPr/>
        </p:nvSpPr>
        <p:spPr>
          <a:xfrm>
            <a:off x="0" y="81280"/>
            <a:ext cx="16256000" cy="9062720"/>
          </a:xfrm>
          <a:prstGeom prst="rect">
            <a:avLst/>
          </a:prstGeom>
          <a:solidFill>
            <a:srgbClr val="F0F2F8"/>
          </a:solidFill>
          <a:ln/>
        </p:spPr>
      </p:sp>
      <p:sp>
        <p:nvSpPr>
          <p:cNvPr id="4" name="Text 2"/>
          <p:cNvSpPr/>
          <p:nvPr/>
        </p:nvSpPr>
        <p:spPr>
          <a:xfrm>
            <a:off x="812800" y="487680"/>
            <a:ext cx="8128000" cy="487680"/>
          </a:xfrm>
          <a:prstGeom prst="rect">
            <a:avLst/>
          </a:prstGeom>
          <a:noFill/>
          <a:ln/>
        </p:spPr>
        <p:txBody>
          <a:bodyPr wrap="square" lIns="0" tIns="0" rIns="0" bIns="0" rtlCol="0" anchor="ctr"/>
          <a:lstStyle/>
          <a:p>
            <a:pPr indent="0" marL="0">
              <a:buNone/>
            </a:pPr>
            <a:r>
              <a:rPr lang="en-US" sz="1000" b="1" spc="200" kern="0" dirty="0">
                <a:solidFill>
                  <a:srgbClr val="1A8A7D"/>
                </a:solidFill>
                <a:latin typeface="Calibri" pitchFamily="34" charset="0"/>
                <a:ea typeface="Calibri" pitchFamily="34" charset="-122"/>
                <a:cs typeface="Calibri" pitchFamily="34" charset="-120"/>
              </a:rPr>
              <a:t>DISCOVERY FACT + THEN &amp; NOW</a:t>
            </a:r>
            <a:endParaRPr lang="en-US" sz="1000" dirty="0"/>
          </a:p>
        </p:txBody>
      </p:sp>
      <p:sp>
        <p:nvSpPr>
          <p:cNvPr id="5" name="Shape 3"/>
          <p:cNvSpPr/>
          <p:nvPr/>
        </p:nvSpPr>
        <p:spPr>
          <a:xfrm>
            <a:off x="812800" y="1300480"/>
            <a:ext cx="6990080" cy="3576320"/>
          </a:xfrm>
          <a:prstGeom prst="roundRect">
            <a:avLst>
              <a:gd name="adj" fmla="val 5455"/>
            </a:avLst>
          </a:prstGeom>
          <a:solidFill>
            <a:srgbClr val="EAF8FD"/>
          </a:solidFill>
          <a:ln/>
          <a:effectLst>
            <a:outerShdw sx="100000" sy="100000" kx="0" ky="0" algn="bl" rotWithShape="0" blurRad="76200" dist="25400" dir="8100000">
              <a:srgbClr val="000000">
                <a:alpha val="10000"/>
              </a:srgbClr>
            </a:outerShdw>
          </a:effectLst>
        </p:spPr>
      </p:sp>
      <p:sp>
        <p:nvSpPr>
          <p:cNvPr id="6" name="Text 4"/>
          <p:cNvSpPr/>
          <p:nvPr/>
        </p:nvSpPr>
        <p:spPr>
          <a:xfrm>
            <a:off x="1137920" y="1463040"/>
            <a:ext cx="6339840" cy="406400"/>
          </a:xfrm>
          <a:prstGeom prst="rect">
            <a:avLst/>
          </a:prstGeom>
          <a:noFill/>
          <a:ln/>
        </p:spPr>
        <p:txBody>
          <a:bodyPr wrap="square" lIns="0" tIns="0" rIns="0" bIns="0" rtlCol="0" anchor="ctr"/>
          <a:lstStyle/>
          <a:p>
            <a:pPr indent="0" marL="0">
              <a:buNone/>
            </a:pPr>
            <a:r>
              <a:rPr lang="en-US" sz="900" b="1" spc="150" kern="0" dirty="0">
                <a:solidFill>
                  <a:srgbClr val="1A8A7D"/>
                </a:solidFill>
                <a:latin typeface="Calibri" pitchFamily="34" charset="0"/>
                <a:ea typeface="Calibri" pitchFamily="34" charset="-122"/>
                <a:cs typeface="Calibri" pitchFamily="34" charset="-120"/>
              </a:rPr>
              <a:t>DISCOVERY FACT</a:t>
            </a:r>
            <a:endParaRPr lang="en-US" sz="900" dirty="0"/>
          </a:p>
        </p:txBody>
      </p:sp>
      <p:sp>
        <p:nvSpPr>
          <p:cNvPr id="7" name="Text 5"/>
          <p:cNvSpPr/>
          <p:nvPr/>
        </p:nvSpPr>
        <p:spPr>
          <a:xfrm>
            <a:off x="1137920" y="1950720"/>
            <a:ext cx="6339840" cy="2600960"/>
          </a:xfrm>
          <a:prstGeom prst="rect">
            <a:avLst/>
          </a:prstGeom>
          <a:noFill/>
          <a:ln/>
        </p:spPr>
        <p:txBody>
          <a:bodyPr wrap="square" lIns="0" tIns="0" rIns="0" bIns="0" rtlCol="0" anchor="ctr"/>
          <a:lstStyle/>
          <a:p>
            <a:pPr indent="0" marL="0">
              <a:lnSpc>
                <a:spcPct val="130000"/>
              </a:lnSpc>
              <a:buNone/>
            </a:pPr>
            <a:r>
              <a:rPr lang="en-US" sz="1300" dirty="0">
                <a:solidFill>
                  <a:srgbClr val="0E1C42"/>
                </a:solidFill>
                <a:latin typeface="Calibri" pitchFamily="34" charset="0"/>
                <a:ea typeface="Calibri" pitchFamily="34" charset="-122"/>
                <a:cs typeface="Calibri" pitchFamily="34" charset="-120"/>
              </a:rPr>
              <a:t>The Caribbean Sea has more than 7,000 islands, islets, reefs, and cays. Only about 13 of them are independent countries — the rest are smaller territories or uninhabited.</a:t>
            </a:r>
            <a:endParaRPr lang="en-US" sz="1300" dirty="0"/>
          </a:p>
        </p:txBody>
      </p:sp>
      <p:sp>
        <p:nvSpPr>
          <p:cNvPr id="8" name="Shape 6"/>
          <p:cNvSpPr/>
          <p:nvPr/>
        </p:nvSpPr>
        <p:spPr>
          <a:xfrm>
            <a:off x="8453120" y="1300480"/>
            <a:ext cx="6990080" cy="3576320"/>
          </a:xfrm>
          <a:prstGeom prst="roundRect">
            <a:avLst>
              <a:gd name="adj" fmla="val 5455"/>
            </a:avLst>
          </a:prstGeom>
          <a:solidFill>
            <a:srgbClr val="FFF8F0"/>
          </a:solidFill>
          <a:ln/>
          <a:effectLst>
            <a:outerShdw sx="100000" sy="100000" kx="0" ky="0" algn="bl" rotWithShape="0" blurRad="76200" dist="25400" dir="8100000">
              <a:srgbClr val="000000">
                <a:alpha val="10000"/>
              </a:srgbClr>
            </a:outerShdw>
          </a:effectLst>
        </p:spPr>
      </p:sp>
      <p:sp>
        <p:nvSpPr>
          <p:cNvPr id="9" name="Text 7"/>
          <p:cNvSpPr/>
          <p:nvPr/>
        </p:nvSpPr>
        <p:spPr>
          <a:xfrm>
            <a:off x="8778240" y="1463040"/>
            <a:ext cx="6339840" cy="406400"/>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THEN &amp; NOW</a:t>
            </a:r>
            <a:endParaRPr lang="en-US" sz="900" dirty="0"/>
          </a:p>
        </p:txBody>
      </p:sp>
      <p:sp>
        <p:nvSpPr>
          <p:cNvPr id="10" name="Text 8"/>
          <p:cNvSpPr/>
          <p:nvPr/>
        </p:nvSpPr>
        <p:spPr>
          <a:xfrm>
            <a:off x="8778240" y="1950720"/>
            <a:ext cx="6339840" cy="2600960"/>
          </a:xfrm>
          <a:prstGeom prst="rect">
            <a:avLst/>
          </a:prstGeom>
          <a:noFill/>
          <a:ln/>
        </p:spPr>
        <p:txBody>
          <a:bodyPr wrap="square" lIns="0" tIns="0" rIns="0" bIns="0" rtlCol="0" anchor="ctr"/>
          <a:lstStyle/>
          <a:p>
            <a:pPr indent="0" marL="0">
              <a:lnSpc>
                <a:spcPct val="125000"/>
              </a:lnSpc>
              <a:buNone/>
            </a:pPr>
            <a:r>
              <a:rPr lang="en-US" sz="1200" dirty="0">
                <a:solidFill>
                  <a:srgbClr val="0E1C42"/>
                </a:solidFill>
                <a:latin typeface="Calibri" pitchFamily="34" charset="0"/>
                <a:ea typeface="Calibri" pitchFamily="34" charset="-122"/>
                <a:cs typeface="Calibri" pitchFamily="34" charset="-120"/>
              </a:rPr>
              <a:t>In the past, Mexico once reached much farther north than it does now. Today, the borders have been the same for a long time.</a:t>
            </a:r>
            <a:endParaRPr lang="en-US" sz="1200" dirty="0"/>
          </a:p>
          <a:p>
            <a:pPr indent="0" marL="0">
              <a:lnSpc>
                <a:spcPct val="125000"/>
              </a:lnSpc>
              <a:buNone/>
            </a:pPr>
            <a:endParaRPr lang="en-US" sz="1200" dirty="0"/>
          </a:p>
          <a:p>
            <a:pPr indent="0" marL="0">
              <a:lnSpc>
                <a:spcPct val="125000"/>
              </a:lnSpc>
              <a:buNone/>
            </a:pPr>
            <a:r>
              <a:rPr lang="en-US" sz="1200" dirty="0">
                <a:solidFill>
                  <a:srgbClr val="0E1C42"/>
                </a:solidFill>
                <a:latin typeface="Calibri" pitchFamily="34" charset="0"/>
                <a:ea typeface="Calibri" pitchFamily="34" charset="-122"/>
                <a:cs typeface="Calibri" pitchFamily="34" charset="-120"/>
              </a:rPr>
              <a:t>What stayed the same? People still live close together in this region and trade across borders every day.</a:t>
            </a:r>
            <a:endParaRPr lang="en-US" sz="1200" dirty="0"/>
          </a:p>
        </p:txBody>
      </p:sp>
      <p:sp>
        <p:nvSpPr>
          <p:cNvPr id="11" name="Shape 9"/>
          <p:cNvSpPr/>
          <p:nvPr/>
        </p:nvSpPr>
        <p:spPr>
          <a:xfrm>
            <a:off x="812800" y="5364480"/>
            <a:ext cx="14630400" cy="2438400"/>
          </a:xfrm>
          <a:prstGeom prst="roundRect">
            <a:avLst>
              <a:gd name="adj" fmla="val 8000"/>
            </a:avLst>
          </a:prstGeom>
          <a:solidFill>
            <a:srgbClr val="FFF3DC"/>
          </a:solidFill>
          <a:ln w="19050">
            <a:solidFill>
              <a:srgbClr val="F5E6C8"/>
            </a:solidFill>
            <a:prstDash val="solid"/>
          </a:ln>
        </p:spPr>
      </p:sp>
      <p:sp>
        <p:nvSpPr>
          <p:cNvPr id="12" name="Text 10"/>
          <p:cNvSpPr/>
          <p:nvPr/>
        </p:nvSpPr>
        <p:spPr>
          <a:xfrm>
            <a:off x="1137920" y="5527040"/>
            <a:ext cx="13980160" cy="406400"/>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OPTI SAYS...</a:t>
            </a:r>
            <a:endParaRPr lang="en-US" sz="900" dirty="0"/>
          </a:p>
        </p:txBody>
      </p:sp>
      <p:sp>
        <p:nvSpPr>
          <p:cNvPr id="13" name="Text 11"/>
          <p:cNvSpPr/>
          <p:nvPr/>
        </p:nvSpPr>
        <p:spPr>
          <a:xfrm>
            <a:off x="1137920" y="6014720"/>
            <a:ext cx="13980160" cy="1463040"/>
          </a:xfrm>
          <a:prstGeom prst="rect">
            <a:avLst/>
          </a:prstGeom>
          <a:noFill/>
          <a:ln/>
        </p:spPr>
        <p:txBody>
          <a:bodyPr wrap="square" lIns="0" tIns="0" rIns="0" bIns="0" rtlCol="0" anchor="ctr"/>
          <a:lstStyle/>
          <a:p>
            <a:pPr indent="0" marL="0">
              <a:lnSpc>
                <a:spcPct val="125000"/>
              </a:lnSpc>
              <a:buNone/>
            </a:pPr>
            <a:r>
              <a:rPr lang="en-US" sz="1200" dirty="0">
                <a:solidFill>
                  <a:srgbClr val="5A4A3A"/>
                </a:solidFill>
                <a:latin typeface="Calibri" pitchFamily="34" charset="0"/>
                <a:ea typeface="Calibri" pitchFamily="34" charset="-122"/>
                <a:cs typeface="Calibri" pitchFamily="34" charset="-120"/>
              </a:rPr>
              <a:t>When someone says "America," they usually mean the United States — but the word "America" actually covers everything from Canada down to South America. That's why careful curators say "the United States" when they mean just one country.</a:t>
            </a:r>
            <a:endParaRPr lang="en-US" sz="1200" dirty="0"/>
          </a:p>
        </p:txBody>
      </p:sp>
      <p:sp>
        <p:nvSpPr>
          <p:cNvPr id="14" name="Text 12"/>
          <p:cNvSpPr/>
          <p:nvPr/>
        </p:nvSpPr>
        <p:spPr>
          <a:xfrm>
            <a:off x="14305280" y="8534400"/>
            <a:ext cx="1463040" cy="406400"/>
          </a:xfrm>
          <a:prstGeom prst="rect">
            <a:avLst/>
          </a:prstGeom>
          <a:noFill/>
          <a:ln/>
        </p:spPr>
        <p:txBody>
          <a:bodyPr wrap="square" lIns="0" tIns="0" rIns="0" bIns="0" rtlCol="0" anchor="ctr"/>
          <a:lstStyle/>
          <a:p>
            <a:pPr algn="r" indent="0" marL="0">
              <a:buNone/>
            </a:pPr>
            <a:r>
              <a:rPr lang="en-US" sz="800" dirty="0">
                <a:solidFill>
                  <a:srgbClr val="7A88A8"/>
                </a:solidFill>
                <a:latin typeface="Calibri" pitchFamily="34" charset="0"/>
                <a:ea typeface="Calibri" pitchFamily="34" charset="-122"/>
                <a:cs typeface="Calibri" pitchFamily="34" charset="-120"/>
              </a:rPr>
              <a:t>11 / 20</a:t>
            </a:r>
            <a:endParaRPr lang="en-US" sz="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16256000" cy="81280"/>
          </a:xfrm>
          <a:prstGeom prst="rect">
            <a:avLst/>
          </a:prstGeom>
          <a:solidFill>
            <a:srgbClr val="D4943A"/>
          </a:solidFill>
          <a:ln/>
        </p:spPr>
      </p:sp>
      <p:sp>
        <p:nvSpPr>
          <p:cNvPr id="3" name="Shape 1"/>
          <p:cNvSpPr/>
          <p:nvPr/>
        </p:nvSpPr>
        <p:spPr>
          <a:xfrm>
            <a:off x="0" y="81280"/>
            <a:ext cx="16256000" cy="9062720"/>
          </a:xfrm>
          <a:prstGeom prst="rect">
            <a:avLst/>
          </a:prstGeom>
          <a:solidFill>
            <a:srgbClr val="FFFFFF"/>
          </a:solidFill>
          <a:ln/>
        </p:spPr>
      </p:sp>
      <p:sp>
        <p:nvSpPr>
          <p:cNvPr id="4" name="Text 2"/>
          <p:cNvSpPr/>
          <p:nvPr/>
        </p:nvSpPr>
        <p:spPr>
          <a:xfrm>
            <a:off x="812800" y="487680"/>
            <a:ext cx="4876800" cy="487680"/>
          </a:xfrm>
          <a:prstGeom prst="rect">
            <a:avLst/>
          </a:prstGeom>
          <a:noFill/>
          <a:ln/>
        </p:spPr>
        <p:txBody>
          <a:bodyPr wrap="square" lIns="0" tIns="0" rIns="0" bIns="0" rtlCol="0" anchor="ctr"/>
          <a:lstStyle/>
          <a:p>
            <a:pPr indent="0" marL="0">
              <a:buNone/>
            </a:pPr>
            <a:r>
              <a:rPr lang="en-US" sz="1000" b="1" spc="200" kern="0" dirty="0">
                <a:solidFill>
                  <a:srgbClr val="D4943A"/>
                </a:solidFill>
                <a:latin typeface="Calibri" pitchFamily="34" charset="0"/>
                <a:ea typeface="Calibri" pitchFamily="34" charset="-122"/>
                <a:cs typeface="Calibri" pitchFamily="34" charset="-120"/>
              </a:rPr>
              <a:t>WHY IT MATTERS</a:t>
            </a:r>
            <a:endParaRPr lang="en-US" sz="1000" dirty="0"/>
          </a:p>
        </p:txBody>
      </p:sp>
      <p:sp>
        <p:nvSpPr>
          <p:cNvPr id="5" name="Text 3"/>
          <p:cNvSpPr/>
          <p:nvPr/>
        </p:nvSpPr>
        <p:spPr>
          <a:xfrm>
            <a:off x="812800" y="1056640"/>
            <a:ext cx="14630400" cy="812800"/>
          </a:xfrm>
          <a:prstGeom prst="rect">
            <a:avLst/>
          </a:prstGeom>
          <a:noFill/>
          <a:ln/>
        </p:spPr>
        <p:txBody>
          <a:bodyPr wrap="square" lIns="0" tIns="0" rIns="0" bIns="0" rtlCol="0" anchor="ctr"/>
          <a:lstStyle/>
          <a:p>
            <a:pPr indent="0" marL="0">
              <a:buNone/>
            </a:pPr>
            <a:r>
              <a:rPr lang="en-US" sz="2600" b="1" dirty="0">
                <a:solidFill>
                  <a:srgbClr val="0E1C42"/>
                </a:solidFill>
                <a:latin typeface="Cambria" pitchFamily="34" charset="0"/>
                <a:ea typeface="Cambria" pitchFamily="34" charset="-122"/>
                <a:cs typeface="Cambria" pitchFamily="34" charset="-120"/>
              </a:rPr>
              <a:t>Four Places, One Region</a:t>
            </a:r>
            <a:endParaRPr lang="en-US" sz="2600" dirty="0"/>
          </a:p>
        </p:txBody>
      </p:sp>
      <p:sp>
        <p:nvSpPr>
          <p:cNvPr id="6" name="Shape 4"/>
          <p:cNvSpPr/>
          <p:nvPr/>
        </p:nvSpPr>
        <p:spPr>
          <a:xfrm>
            <a:off x="812800" y="2113280"/>
            <a:ext cx="14630400" cy="2275840"/>
          </a:xfrm>
          <a:prstGeom prst="roundRect">
            <a:avLst>
              <a:gd name="adj" fmla="val 8571"/>
            </a:avLst>
          </a:prstGeom>
          <a:solidFill>
            <a:srgbClr val="EAF8FD"/>
          </a:solidFill>
          <a:ln/>
          <a:effectLst>
            <a:outerShdw sx="100000" sy="100000" kx="0" ky="0" algn="bl" rotWithShape="0" blurRad="76200" dist="25400" dir="8100000">
              <a:srgbClr val="000000">
                <a:alpha val="10000"/>
              </a:srgbClr>
            </a:outerShdw>
          </a:effectLst>
        </p:spPr>
      </p:sp>
      <p:sp>
        <p:nvSpPr>
          <p:cNvPr id="7" name="Text 5"/>
          <p:cNvSpPr/>
          <p:nvPr/>
        </p:nvSpPr>
        <p:spPr>
          <a:xfrm>
            <a:off x="1137920" y="2275840"/>
            <a:ext cx="13980160" cy="406400"/>
          </a:xfrm>
          <a:prstGeom prst="rect">
            <a:avLst/>
          </a:prstGeom>
          <a:noFill/>
          <a:ln/>
        </p:spPr>
        <p:txBody>
          <a:bodyPr wrap="square" lIns="0" tIns="0" rIns="0" bIns="0" rtlCol="0" anchor="ctr"/>
          <a:lstStyle/>
          <a:p>
            <a:pPr indent="0" marL="0">
              <a:buNone/>
            </a:pPr>
            <a:r>
              <a:rPr lang="en-US" sz="900" b="1" spc="150" kern="0" dirty="0">
                <a:solidFill>
                  <a:srgbClr val="1A8A7D"/>
                </a:solidFill>
                <a:latin typeface="Calibri" pitchFamily="34" charset="0"/>
                <a:ea typeface="Calibri" pitchFamily="34" charset="-122"/>
                <a:cs typeface="Calibri" pitchFamily="34" charset="-120"/>
              </a:rPr>
              <a:t>EXHIBIT LABEL</a:t>
            </a:r>
            <a:endParaRPr lang="en-US" sz="900" dirty="0"/>
          </a:p>
        </p:txBody>
      </p:sp>
      <p:sp>
        <p:nvSpPr>
          <p:cNvPr id="8" name="Text 6"/>
          <p:cNvSpPr/>
          <p:nvPr/>
        </p:nvSpPr>
        <p:spPr>
          <a:xfrm>
            <a:off x="1137920" y="2763520"/>
            <a:ext cx="13980160" cy="1381760"/>
          </a:xfrm>
          <a:prstGeom prst="rect">
            <a:avLst/>
          </a:prstGeom>
          <a:noFill/>
          <a:ln/>
        </p:spPr>
        <p:txBody>
          <a:bodyPr wrap="square" lIns="0" tIns="0" rIns="0" bIns="0" rtlCol="0" anchor="ctr"/>
          <a:lstStyle/>
          <a:p>
            <a:pPr indent="0" marL="0">
              <a:lnSpc>
                <a:spcPct val="130000"/>
              </a:lnSpc>
              <a:buNone/>
            </a:pPr>
            <a:r>
              <a:rPr lang="en-US" sz="1400" dirty="0">
                <a:solidFill>
                  <a:srgbClr val="0E1C42"/>
                </a:solidFill>
                <a:latin typeface="Calibri" pitchFamily="34" charset="0"/>
                <a:ea typeface="Calibri" pitchFamily="34" charset="-122"/>
                <a:cs typeface="Calibri" pitchFamily="34" charset="-120"/>
              </a:rPr>
              <a:t>North America and the Caribbean is one region with four major parts: Canada in the north, the United States in the middle, Mexico to the south, and the Caribbean islands to the southeast. They are studied together because they share the same part of the world.</a:t>
            </a:r>
            <a:endParaRPr lang="en-US" sz="1400" dirty="0"/>
          </a:p>
        </p:txBody>
      </p:sp>
      <p:sp>
        <p:nvSpPr>
          <p:cNvPr id="9" name="Shape 7"/>
          <p:cNvSpPr/>
          <p:nvPr/>
        </p:nvSpPr>
        <p:spPr>
          <a:xfrm>
            <a:off x="812800" y="4876800"/>
            <a:ext cx="14630400" cy="3251200"/>
          </a:xfrm>
          <a:prstGeom prst="roundRect">
            <a:avLst>
              <a:gd name="adj" fmla="val 7500"/>
            </a:avLst>
          </a:prstGeom>
          <a:solidFill>
            <a:srgbClr val="1A2D5A"/>
          </a:solidFill>
          <a:ln/>
          <a:effectLst>
            <a:outerShdw sx="100000" sy="100000" kx="0" ky="0" algn="bl" rotWithShape="0" blurRad="101600" dist="38100" dir="8100000">
              <a:srgbClr val="000000">
                <a:alpha val="20000"/>
              </a:srgbClr>
            </a:outerShdw>
          </a:effectLst>
        </p:spPr>
      </p:sp>
      <p:sp>
        <p:nvSpPr>
          <p:cNvPr id="10" name="Text 8"/>
          <p:cNvSpPr/>
          <p:nvPr/>
        </p:nvSpPr>
        <p:spPr>
          <a:xfrm>
            <a:off x="1137920" y="5039360"/>
            <a:ext cx="13980160" cy="455168"/>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SOCRATIC QUESTIONS</a:t>
            </a:r>
            <a:endParaRPr lang="en-US" sz="900" dirty="0"/>
          </a:p>
        </p:txBody>
      </p:sp>
      <p:sp>
        <p:nvSpPr>
          <p:cNvPr id="11" name="Text 9"/>
          <p:cNvSpPr/>
          <p:nvPr/>
        </p:nvSpPr>
        <p:spPr>
          <a:xfrm>
            <a:off x="1137920" y="5494528"/>
            <a:ext cx="13980160" cy="2470912"/>
          </a:xfrm>
          <a:prstGeom prst="rect">
            <a:avLst/>
          </a:prstGeom>
          <a:noFill/>
          <a:ln/>
        </p:spPr>
        <p:txBody>
          <a:bodyPr wrap="square" lIns="0" tIns="0" rIns="0" bIns="0" rtlCol="0" anchor="t"/>
          <a:lstStyle/>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Can you say where each of the four places sits using only direction words?</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If a visitor asked why these four are grouped together, what would you tell them?</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 is ONE thing these four places share in common?</a:t>
            </a:r>
            <a:endParaRPr lang="en-US" sz="1100" dirty="0"/>
          </a:p>
        </p:txBody>
      </p:sp>
      <p:sp>
        <p:nvSpPr>
          <p:cNvPr id="12" name="Text 10"/>
          <p:cNvSpPr/>
          <p:nvPr/>
        </p:nvSpPr>
        <p:spPr>
          <a:xfrm>
            <a:off x="14305280" y="8534400"/>
            <a:ext cx="1463040" cy="406400"/>
          </a:xfrm>
          <a:prstGeom prst="rect">
            <a:avLst/>
          </a:prstGeom>
          <a:noFill/>
          <a:ln/>
        </p:spPr>
        <p:txBody>
          <a:bodyPr wrap="square" lIns="0" tIns="0" rIns="0" bIns="0" rtlCol="0" anchor="ctr"/>
          <a:lstStyle/>
          <a:p>
            <a:pPr algn="r" indent="0" marL="0">
              <a:buNone/>
            </a:pPr>
            <a:r>
              <a:rPr lang="en-US" sz="800" dirty="0">
                <a:solidFill>
                  <a:srgbClr val="7A88A8"/>
                </a:solidFill>
                <a:latin typeface="Calibri" pitchFamily="34" charset="0"/>
                <a:ea typeface="Calibri" pitchFamily="34" charset="-122"/>
                <a:cs typeface="Calibri" pitchFamily="34" charset="-120"/>
              </a:rPr>
              <a:t>12 / 20</a:t>
            </a:r>
            <a:endParaRPr lang="en-US" sz="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16256000" cy="81280"/>
          </a:xfrm>
          <a:prstGeom prst="rect">
            <a:avLst/>
          </a:prstGeom>
          <a:solidFill>
            <a:srgbClr val="D4943A"/>
          </a:solidFill>
          <a:ln/>
        </p:spPr>
      </p:sp>
      <p:sp>
        <p:nvSpPr>
          <p:cNvPr id="3" name="Shape 1"/>
          <p:cNvSpPr/>
          <p:nvPr/>
        </p:nvSpPr>
        <p:spPr>
          <a:xfrm>
            <a:off x="0" y="81280"/>
            <a:ext cx="16256000" cy="9062720"/>
          </a:xfrm>
          <a:prstGeom prst="rect">
            <a:avLst/>
          </a:prstGeom>
          <a:solidFill>
            <a:srgbClr val="F0F2F8"/>
          </a:solidFill>
          <a:ln/>
        </p:spPr>
      </p:sp>
      <p:sp>
        <p:nvSpPr>
          <p:cNvPr id="4" name="Text 2"/>
          <p:cNvSpPr/>
          <p:nvPr/>
        </p:nvSpPr>
        <p:spPr>
          <a:xfrm>
            <a:off x="812800" y="487680"/>
            <a:ext cx="4876800" cy="487680"/>
          </a:xfrm>
          <a:prstGeom prst="rect">
            <a:avLst/>
          </a:prstGeom>
          <a:noFill/>
          <a:ln/>
        </p:spPr>
        <p:txBody>
          <a:bodyPr wrap="square" lIns="0" tIns="0" rIns="0" bIns="0" rtlCol="0" anchor="ctr"/>
          <a:lstStyle/>
          <a:p>
            <a:pPr indent="0" marL="0">
              <a:buNone/>
            </a:pPr>
            <a:r>
              <a:rPr lang="en-US" sz="1000" b="1" spc="200" kern="0" dirty="0">
                <a:solidFill>
                  <a:srgbClr val="E8636B"/>
                </a:solidFill>
                <a:latin typeface="Calibri" pitchFamily="34" charset="0"/>
                <a:ea typeface="Calibri" pitchFamily="34" charset="-122"/>
                <a:cs typeface="Calibri" pitchFamily="34" charset="-120"/>
              </a:rPr>
              <a:t>ERROR ANALYSIS</a:t>
            </a:r>
            <a:endParaRPr lang="en-US" sz="1000" dirty="0"/>
          </a:p>
        </p:txBody>
      </p:sp>
      <p:sp>
        <p:nvSpPr>
          <p:cNvPr id="5" name="Text 3"/>
          <p:cNvSpPr/>
          <p:nvPr/>
        </p:nvSpPr>
        <p:spPr>
          <a:xfrm>
            <a:off x="812800" y="1056640"/>
            <a:ext cx="14630400" cy="812800"/>
          </a:xfrm>
          <a:prstGeom prst="rect">
            <a:avLst/>
          </a:prstGeom>
          <a:noFill/>
          <a:ln/>
        </p:spPr>
        <p:txBody>
          <a:bodyPr wrap="square" lIns="0" tIns="0" rIns="0" bIns="0" rtlCol="0" anchor="ctr"/>
          <a:lstStyle/>
          <a:p>
            <a:pPr indent="0" marL="0">
              <a:buNone/>
            </a:pPr>
            <a:r>
              <a:rPr lang="en-US" sz="2600" b="1" dirty="0">
                <a:solidFill>
                  <a:srgbClr val="0E1C42"/>
                </a:solidFill>
                <a:latin typeface="Cambria" pitchFamily="34" charset="0"/>
                <a:ea typeface="Cambria" pitchFamily="34" charset="-122"/>
                <a:cs typeface="Cambria" pitchFamily="34" charset="-120"/>
              </a:rPr>
              <a:t>Catch the Mistake!</a:t>
            </a:r>
            <a:endParaRPr lang="en-US" sz="2600" dirty="0"/>
          </a:p>
        </p:txBody>
      </p:sp>
      <p:sp>
        <p:nvSpPr>
          <p:cNvPr id="6" name="Text 4"/>
          <p:cNvSpPr/>
          <p:nvPr/>
        </p:nvSpPr>
        <p:spPr>
          <a:xfrm>
            <a:off x="812800" y="1869440"/>
            <a:ext cx="14630400" cy="487680"/>
          </a:xfrm>
          <a:prstGeom prst="rect">
            <a:avLst/>
          </a:prstGeom>
          <a:noFill/>
          <a:ln/>
        </p:spPr>
        <p:txBody>
          <a:bodyPr wrap="square" lIns="0" tIns="0" rIns="0" bIns="0" rtlCol="0" anchor="ctr"/>
          <a:lstStyle/>
          <a:p>
            <a:pPr indent="0" marL="0">
              <a:buNone/>
            </a:pPr>
            <a:r>
              <a:rPr lang="en-US" sz="1300" dirty="0">
                <a:solidFill>
                  <a:srgbClr val="0E1C42"/>
                </a:solidFill>
                <a:latin typeface="Calibri" pitchFamily="34" charset="0"/>
                <a:ea typeface="Calibri" pitchFamily="34" charset="-122"/>
                <a:cs typeface="Calibri" pitchFamily="34" charset="-120"/>
              </a:rPr>
              <a:t>A student wrote this label for the gallery. Can you spot the errors?</a:t>
            </a:r>
            <a:endParaRPr lang="en-US" sz="1300" dirty="0"/>
          </a:p>
        </p:txBody>
      </p:sp>
      <p:sp>
        <p:nvSpPr>
          <p:cNvPr id="7" name="Shape 5"/>
          <p:cNvSpPr/>
          <p:nvPr/>
        </p:nvSpPr>
        <p:spPr>
          <a:xfrm>
            <a:off x="1625600" y="2600960"/>
            <a:ext cx="13004800" cy="2113280"/>
          </a:xfrm>
          <a:prstGeom prst="roundRect">
            <a:avLst>
              <a:gd name="adj" fmla="val 9231"/>
            </a:avLst>
          </a:prstGeom>
          <a:solidFill>
            <a:srgbClr val="FFF8F0"/>
          </a:solidFill>
          <a:ln w="25400">
            <a:solidFill>
              <a:srgbClr val="E8636B"/>
            </a:solidFill>
            <a:prstDash val="dash"/>
          </a:ln>
        </p:spPr>
      </p:sp>
      <p:sp>
        <p:nvSpPr>
          <p:cNvPr id="8" name="Text 6"/>
          <p:cNvSpPr/>
          <p:nvPr/>
        </p:nvSpPr>
        <p:spPr>
          <a:xfrm>
            <a:off x="1950720" y="2682240"/>
            <a:ext cx="12354560" cy="1950720"/>
          </a:xfrm>
          <a:prstGeom prst="rect">
            <a:avLst/>
          </a:prstGeom>
          <a:noFill/>
          <a:ln/>
        </p:spPr>
        <p:txBody>
          <a:bodyPr wrap="square" lIns="0" tIns="0" rIns="0" bIns="0" rtlCol="0" anchor="ctr"/>
          <a:lstStyle/>
          <a:p>
            <a:pPr algn="ctr" indent="0" marL="0">
              <a:lnSpc>
                <a:spcPct val="130000"/>
              </a:lnSpc>
              <a:buNone/>
            </a:pPr>
            <a:r>
              <a:rPr lang="en-US" sz="1500" i="1" dirty="0">
                <a:solidFill>
                  <a:srgbClr val="0E1C42"/>
                </a:solidFill>
                <a:latin typeface="Cambria" pitchFamily="34" charset="0"/>
                <a:ea typeface="Cambria" pitchFamily="34" charset="-122"/>
                <a:cs typeface="Cambria" pitchFamily="34" charset="-120"/>
              </a:rPr>
              <a:t>"Mexico is north of the United States. The Caribbean is one big country. Canada is the smallest country in this region."</a:t>
            </a:r>
            <a:endParaRPr lang="en-US" sz="1500" dirty="0"/>
          </a:p>
        </p:txBody>
      </p:sp>
      <p:sp>
        <p:nvSpPr>
          <p:cNvPr id="9" name="Shape 7"/>
          <p:cNvSpPr/>
          <p:nvPr/>
        </p:nvSpPr>
        <p:spPr>
          <a:xfrm>
            <a:off x="1625600" y="5120640"/>
            <a:ext cx="13004800" cy="3251200"/>
          </a:xfrm>
          <a:prstGeom prst="roundRect">
            <a:avLst>
              <a:gd name="adj" fmla="val 6000"/>
            </a:avLst>
          </a:prstGeom>
          <a:solidFill>
            <a:srgbClr val="E3F8ED"/>
          </a:solidFill>
          <a:ln/>
          <a:effectLst>
            <a:outerShdw sx="100000" sy="100000" kx="0" ky="0" algn="bl" rotWithShape="0" blurRad="76200" dist="25400" dir="8100000">
              <a:srgbClr val="000000">
                <a:alpha val="10000"/>
              </a:srgbClr>
            </a:outerShdw>
          </a:effectLst>
        </p:spPr>
      </p:sp>
      <p:sp>
        <p:nvSpPr>
          <p:cNvPr id="10" name="Text 8"/>
          <p:cNvSpPr/>
          <p:nvPr/>
        </p:nvSpPr>
        <p:spPr>
          <a:xfrm>
            <a:off x="1950720" y="5283200"/>
            <a:ext cx="12354560" cy="406400"/>
          </a:xfrm>
          <a:prstGeom prst="rect">
            <a:avLst/>
          </a:prstGeom>
          <a:noFill/>
          <a:ln/>
        </p:spPr>
        <p:txBody>
          <a:bodyPr wrap="square" lIns="0" tIns="0" rIns="0" bIns="0" rtlCol="0" anchor="ctr"/>
          <a:lstStyle/>
          <a:p>
            <a:pPr indent="0" marL="0">
              <a:buNone/>
            </a:pPr>
            <a:r>
              <a:rPr lang="en-US" sz="900" b="1" spc="150" kern="0" dirty="0">
                <a:solidFill>
                  <a:srgbClr val="34B76F"/>
                </a:solidFill>
                <a:latin typeface="Calibri" pitchFamily="34" charset="0"/>
                <a:ea typeface="Calibri" pitchFamily="34" charset="-122"/>
                <a:cs typeface="Calibri" pitchFamily="34" charset="-120"/>
              </a:rPr>
              <a:t>THREE ERRORS TO FIX</a:t>
            </a:r>
            <a:endParaRPr lang="en-US" sz="900" dirty="0"/>
          </a:p>
        </p:txBody>
      </p:sp>
      <p:sp>
        <p:nvSpPr>
          <p:cNvPr id="11" name="Text 9"/>
          <p:cNvSpPr/>
          <p:nvPr/>
        </p:nvSpPr>
        <p:spPr>
          <a:xfrm>
            <a:off x="1950720" y="5770880"/>
            <a:ext cx="12354560" cy="243840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rgbClr val="0E1C42"/>
                </a:solidFill>
                <a:latin typeface="Calibri" pitchFamily="34" charset="0"/>
                <a:ea typeface="Calibri" pitchFamily="34" charset="-122"/>
                <a:cs typeface="Calibri" pitchFamily="34" charset="-120"/>
              </a:rPr>
              <a:t>Mexico is SOUTH of the United States, not north.</a:t>
            </a:r>
            <a:endParaRPr lang="en-US" sz="1200" dirty="0"/>
          </a:p>
          <a:p>
            <a:pPr marL="342900" indent="-342900">
              <a:spcAft>
                <a:spcPts val="600"/>
              </a:spcAft>
              <a:buSzPct val="100000"/>
              <a:buChar char="•"/>
            </a:pPr>
            <a:r>
              <a:rPr lang="en-US" sz="1200" dirty="0">
                <a:solidFill>
                  <a:srgbClr val="0E1C42"/>
                </a:solidFill>
                <a:latin typeface="Calibri" pitchFamily="34" charset="0"/>
                <a:ea typeface="Calibri" pitchFamily="34" charset="-122"/>
                <a:cs typeface="Calibri" pitchFamily="34" charset="-120"/>
              </a:rPr>
              <a:t>The Caribbean is NOT one country — it is a group of islands.</a:t>
            </a:r>
            <a:endParaRPr lang="en-US" sz="1200" dirty="0"/>
          </a:p>
          <a:p>
            <a:pPr marL="342900" indent="-342900">
              <a:spcAft>
                <a:spcPts val="400"/>
              </a:spcAft>
              <a:buSzPct val="100000"/>
              <a:buChar char="•"/>
            </a:pPr>
            <a:r>
              <a:rPr lang="en-US" sz="1200" dirty="0">
                <a:solidFill>
                  <a:srgbClr val="0E1C42"/>
                </a:solidFill>
                <a:latin typeface="Calibri" pitchFamily="34" charset="0"/>
                <a:ea typeface="Calibri" pitchFamily="34" charset="-122"/>
                <a:cs typeface="Calibri" pitchFamily="34" charset="-120"/>
              </a:rPr>
              <a:t>Canada is the SECOND LARGEST country on Earth, not the smallest.</a:t>
            </a:r>
            <a:endParaRPr lang="en-US" sz="1200" dirty="0"/>
          </a:p>
        </p:txBody>
      </p:sp>
      <p:sp>
        <p:nvSpPr>
          <p:cNvPr id="12" name="Text 10"/>
          <p:cNvSpPr/>
          <p:nvPr/>
        </p:nvSpPr>
        <p:spPr>
          <a:xfrm>
            <a:off x="14305280" y="8534400"/>
            <a:ext cx="1463040" cy="406400"/>
          </a:xfrm>
          <a:prstGeom prst="rect">
            <a:avLst/>
          </a:prstGeom>
          <a:noFill/>
          <a:ln/>
        </p:spPr>
        <p:txBody>
          <a:bodyPr wrap="square" lIns="0" tIns="0" rIns="0" bIns="0" rtlCol="0" anchor="ctr"/>
          <a:lstStyle/>
          <a:p>
            <a:pPr algn="r" indent="0" marL="0">
              <a:buNone/>
            </a:pPr>
            <a:r>
              <a:rPr lang="en-US" sz="800" dirty="0">
                <a:solidFill>
                  <a:srgbClr val="7A88A8"/>
                </a:solidFill>
                <a:latin typeface="Calibri" pitchFamily="34" charset="0"/>
                <a:ea typeface="Calibri" pitchFamily="34" charset="-122"/>
                <a:cs typeface="Calibri" pitchFamily="34" charset="-120"/>
              </a:rPr>
              <a:t>13 / 20</a:t>
            </a:r>
            <a:endParaRPr lang="en-US" sz="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0" y="0"/>
            <a:ext cx="16256000" cy="81280"/>
          </a:xfrm>
          <a:prstGeom prst="rect">
            <a:avLst/>
          </a:prstGeom>
          <a:solidFill>
            <a:srgbClr val="D4943A"/>
          </a:solidFill>
          <a:ln/>
        </p:spPr>
      </p:sp>
      <p:sp>
        <p:nvSpPr>
          <p:cNvPr id="3" name="Shape 1"/>
          <p:cNvSpPr/>
          <p:nvPr/>
        </p:nvSpPr>
        <p:spPr>
          <a:xfrm>
            <a:off x="0" y="81280"/>
            <a:ext cx="16256000" cy="9062720"/>
          </a:xfrm>
          <a:prstGeom prst="rect">
            <a:avLst/>
          </a:prstGeom>
          <a:solidFill>
            <a:srgbClr val="FFFFFF"/>
          </a:solidFill>
          <a:ln/>
        </p:spPr>
      </p:sp>
      <p:sp>
        <p:nvSpPr>
          <p:cNvPr id="4" name="Text 2"/>
          <p:cNvSpPr/>
          <p:nvPr/>
        </p:nvSpPr>
        <p:spPr>
          <a:xfrm>
            <a:off x="812800" y="487680"/>
            <a:ext cx="11379200" cy="487680"/>
          </a:xfrm>
          <a:prstGeom prst="rect">
            <a:avLst/>
          </a:prstGeom>
          <a:noFill/>
          <a:ln/>
        </p:spPr>
        <p:txBody>
          <a:bodyPr wrap="square" lIns="0" tIns="0" rIns="0" bIns="0" rtlCol="0" anchor="ctr"/>
          <a:lstStyle/>
          <a:p>
            <a:pPr indent="0" marL="0">
              <a:buNone/>
            </a:pPr>
            <a:r>
              <a:rPr lang="en-US" sz="1000" b="1" spc="150" kern="0" dirty="0">
                <a:solidFill>
                  <a:srgbClr val="D4943A"/>
                </a:solidFill>
                <a:latin typeface="Calibri" pitchFamily="34" charset="0"/>
                <a:ea typeface="Calibri" pitchFamily="34" charset="-122"/>
                <a:cs typeface="Calibri" pitchFamily="34" charset="-120"/>
              </a:rPr>
              <a:t>GUIDED PRACTICE  |  EVIDENCE QUESTION 1</a:t>
            </a:r>
            <a:endParaRPr lang="en-US" sz="1000" dirty="0"/>
          </a:p>
        </p:txBody>
      </p:sp>
      <p:sp>
        <p:nvSpPr>
          <p:cNvPr id="5" name="Shape 3"/>
          <p:cNvSpPr/>
          <p:nvPr/>
        </p:nvSpPr>
        <p:spPr>
          <a:xfrm>
            <a:off x="812800" y="1219200"/>
            <a:ext cx="14630400" cy="1463040"/>
          </a:xfrm>
          <a:prstGeom prst="roundRect">
            <a:avLst>
              <a:gd name="adj" fmla="val 13333"/>
            </a:avLst>
          </a:prstGeom>
          <a:solidFill>
            <a:srgbClr val="FFF3DC"/>
          </a:solidFill>
          <a:ln w="19050">
            <a:solidFill>
              <a:srgbClr val="F5E6C8"/>
            </a:solidFill>
            <a:prstDash val="solid"/>
          </a:ln>
        </p:spPr>
      </p:sp>
      <p:sp>
        <p:nvSpPr>
          <p:cNvPr id="6" name="Text 4"/>
          <p:cNvSpPr/>
          <p:nvPr/>
        </p:nvSpPr>
        <p:spPr>
          <a:xfrm>
            <a:off x="1137920" y="1300480"/>
            <a:ext cx="13980160" cy="1300480"/>
          </a:xfrm>
          <a:prstGeom prst="rect">
            <a:avLst/>
          </a:prstGeom>
          <a:noFill/>
          <a:ln/>
        </p:spPr>
        <p:txBody>
          <a:bodyPr wrap="square" lIns="0" tIns="0" rIns="0" bIns="0" rtlCol="0" anchor="ctr"/>
          <a:lstStyle/>
          <a:p>
            <a:pPr indent="0" marL="0">
              <a:lnSpc>
                <a:spcPct val="125000"/>
              </a:lnSpc>
              <a:buNone/>
            </a:pPr>
            <a:r>
              <a:rPr lang="en-US" sz="1400" b="1" dirty="0">
                <a:solidFill>
                  <a:srgbClr val="0E1C42"/>
                </a:solidFill>
                <a:latin typeface="Cambria" pitchFamily="34" charset="0"/>
                <a:ea typeface="Cambria" pitchFamily="34" charset="-122"/>
                <a:cs typeface="Cambria" pitchFamily="34" charset="-120"/>
              </a:rPr>
              <a:t>Where is Canada compared to the United States, and where is Mexico compared to the United States? Use direction words like north and south.</a:t>
            </a:r>
            <a:endParaRPr lang="en-US" sz="1400" dirty="0"/>
          </a:p>
        </p:txBody>
      </p:sp>
      <p:sp>
        <p:nvSpPr>
          <p:cNvPr id="7" name="Text 5"/>
          <p:cNvSpPr/>
          <p:nvPr/>
        </p:nvSpPr>
        <p:spPr>
          <a:xfrm>
            <a:off x="812800" y="3007360"/>
            <a:ext cx="14630400" cy="406400"/>
          </a:xfrm>
          <a:prstGeom prst="rect">
            <a:avLst/>
          </a:prstGeom>
          <a:noFill/>
          <a:ln/>
        </p:spPr>
        <p:txBody>
          <a:bodyPr wrap="square" lIns="0" tIns="0" rIns="0" bIns="0" rtlCol="0" anchor="ctr"/>
          <a:lstStyle/>
          <a:p>
            <a:pPr indent="0" marL="0">
              <a:buNone/>
            </a:pPr>
            <a:r>
              <a:rPr lang="en-US" sz="900" b="1" spc="150" kern="0" dirty="0">
                <a:solidFill>
                  <a:srgbClr val="1A8A7D"/>
                </a:solidFill>
                <a:latin typeface="Calibri" pitchFamily="34" charset="0"/>
                <a:ea typeface="Calibri" pitchFamily="34" charset="-122"/>
                <a:cs typeface="Calibri" pitchFamily="34" charset="-120"/>
              </a:rPr>
              <a:t>SCAFFOLD: DIRECTION-WORD SENTENCE FRAME</a:t>
            </a:r>
            <a:endParaRPr lang="en-US" sz="900" dirty="0"/>
          </a:p>
        </p:txBody>
      </p:sp>
      <p:sp>
        <p:nvSpPr>
          <p:cNvPr id="8" name="Shape 6"/>
          <p:cNvSpPr/>
          <p:nvPr/>
        </p:nvSpPr>
        <p:spPr>
          <a:xfrm>
            <a:off x="812800" y="3576320"/>
            <a:ext cx="14630400" cy="2926080"/>
          </a:xfrm>
          <a:prstGeom prst="roundRect">
            <a:avLst>
              <a:gd name="adj" fmla="val 6667"/>
            </a:avLst>
          </a:prstGeom>
          <a:solidFill>
            <a:srgbClr val="F0F2F8"/>
          </a:solidFill>
          <a:ln/>
          <a:effectLst>
            <a:outerShdw sx="100000" sy="100000" kx="0" ky="0" algn="bl" rotWithShape="0" blurRad="76200" dist="25400" dir="8100000">
              <a:srgbClr val="000000">
                <a:alpha val="10000"/>
              </a:srgbClr>
            </a:outerShdw>
          </a:effectLst>
        </p:spPr>
      </p:sp>
      <p:sp>
        <p:nvSpPr>
          <p:cNvPr id="9" name="Text 7"/>
          <p:cNvSpPr/>
          <p:nvPr/>
        </p:nvSpPr>
        <p:spPr>
          <a:xfrm>
            <a:off x="1137920" y="3738880"/>
            <a:ext cx="13980160" cy="1625600"/>
          </a:xfrm>
          <a:prstGeom prst="rect">
            <a:avLst/>
          </a:prstGeom>
          <a:noFill/>
          <a:ln/>
        </p:spPr>
        <p:txBody>
          <a:bodyPr wrap="square" lIns="0" tIns="0" rIns="0" bIns="0" rtlCol="0" anchor="ctr"/>
          <a:lstStyle/>
          <a:p>
            <a:pPr indent="0" marL="0">
              <a:lnSpc>
                <a:spcPct val="140000"/>
              </a:lnSpc>
              <a:buNone/>
            </a:pPr>
            <a:r>
              <a:rPr lang="en-US" sz="1500" i="1" dirty="0">
                <a:solidFill>
                  <a:srgbClr val="0E1C42"/>
                </a:solidFill>
                <a:latin typeface="Cambria" pitchFamily="34" charset="0"/>
                <a:ea typeface="Cambria" pitchFamily="34" charset="-122"/>
                <a:cs typeface="Cambria" pitchFamily="34" charset="-120"/>
              </a:rPr>
              <a:t>Canada is _______ of the United States.</a:t>
            </a:r>
            <a:endParaRPr lang="en-US" sz="1500" dirty="0"/>
          </a:p>
          <a:p>
            <a:pPr indent="0" marL="0">
              <a:lnSpc>
                <a:spcPct val="140000"/>
              </a:lnSpc>
              <a:buNone/>
            </a:pPr>
            <a:r>
              <a:rPr lang="en-US" sz="1500" i="1" dirty="0">
                <a:solidFill>
                  <a:srgbClr val="0E1C42"/>
                </a:solidFill>
                <a:latin typeface="Cambria" pitchFamily="34" charset="0"/>
                <a:ea typeface="Cambria" pitchFamily="34" charset="-122"/>
                <a:cs typeface="Cambria" pitchFamily="34" charset="-120"/>
              </a:rPr>
              <a:t>Mexico is _______ of the United States.</a:t>
            </a:r>
            <a:endParaRPr lang="en-US" sz="1500" dirty="0"/>
          </a:p>
          <a:p>
            <a:pPr indent="0" marL="0">
              <a:lnSpc>
                <a:spcPct val="140000"/>
              </a:lnSpc>
              <a:buNone/>
            </a:pPr>
            <a:r>
              <a:rPr lang="en-US" sz="1500" i="1" dirty="0">
                <a:solidFill>
                  <a:srgbClr val="0E1C42"/>
                </a:solidFill>
                <a:latin typeface="Cambria" pitchFamily="34" charset="0"/>
                <a:ea typeface="Cambria" pitchFamily="34" charset="-122"/>
                <a:cs typeface="Cambria" pitchFamily="34" charset="-120"/>
              </a:rPr>
              <a:t>I know this because _______.</a:t>
            </a:r>
            <a:endParaRPr lang="en-US" sz="1500" dirty="0"/>
          </a:p>
        </p:txBody>
      </p:sp>
      <p:sp>
        <p:nvSpPr>
          <p:cNvPr id="10" name="Text 8"/>
          <p:cNvSpPr/>
          <p:nvPr/>
        </p:nvSpPr>
        <p:spPr>
          <a:xfrm>
            <a:off x="1137920" y="5527040"/>
            <a:ext cx="13980160" cy="487680"/>
          </a:xfrm>
          <a:prstGeom prst="rect">
            <a:avLst/>
          </a:prstGeom>
          <a:noFill/>
          <a:ln/>
        </p:spPr>
        <p:txBody>
          <a:bodyPr wrap="square" lIns="0" tIns="0" rIns="0" bIns="0" rtlCol="0" anchor="ctr"/>
          <a:lstStyle/>
          <a:p>
            <a:pPr indent="0" marL="0">
              <a:buNone/>
            </a:pPr>
            <a:r>
              <a:rPr lang="en-US" sz="1100" i="1" dirty="0">
                <a:solidFill>
                  <a:srgbClr val="7A88A8"/>
                </a:solidFill>
                <a:latin typeface="Calibri" pitchFamily="34" charset="0"/>
                <a:ea typeface="Calibri" pitchFamily="34" charset="-122"/>
                <a:cs typeface="Calibri" pitchFamily="34" charset="-120"/>
              </a:rPr>
              <a:t>Hint: Use the map source! Trace the borders with your finger.</a:t>
            </a:r>
            <a:endParaRPr lang="en-US" sz="1100" dirty="0"/>
          </a:p>
        </p:txBody>
      </p:sp>
      <p:sp>
        <p:nvSpPr>
          <p:cNvPr id="11" name="Shape 9"/>
          <p:cNvSpPr/>
          <p:nvPr/>
        </p:nvSpPr>
        <p:spPr>
          <a:xfrm>
            <a:off x="812800" y="6827520"/>
            <a:ext cx="14630400" cy="1788160"/>
          </a:xfrm>
          <a:prstGeom prst="roundRect">
            <a:avLst>
              <a:gd name="adj" fmla="val 10909"/>
            </a:avLst>
          </a:prstGeom>
          <a:solidFill>
            <a:srgbClr val="FFF3DC"/>
          </a:solidFill>
          <a:ln w="19050">
            <a:solidFill>
              <a:srgbClr val="F5E6C8"/>
            </a:solidFill>
            <a:prstDash val="solid"/>
          </a:ln>
        </p:spPr>
      </p:sp>
      <p:sp>
        <p:nvSpPr>
          <p:cNvPr id="12" name="Text 10"/>
          <p:cNvSpPr/>
          <p:nvPr/>
        </p:nvSpPr>
        <p:spPr>
          <a:xfrm>
            <a:off x="1056640" y="6925056"/>
            <a:ext cx="14142720" cy="357632"/>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13" name="Text 11"/>
          <p:cNvSpPr/>
          <p:nvPr/>
        </p:nvSpPr>
        <p:spPr>
          <a:xfrm>
            <a:off x="1056640" y="7282688"/>
            <a:ext cx="14142720" cy="1219200"/>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"What direction word describes where Canada is from the US?"</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"What direction word describes where Mexico is from the US?"</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"How do you know — what told you that?"</a:t>
            </a:r>
            <a:endParaRPr lang="en-US" sz="1200" dirty="0"/>
          </a:p>
        </p:txBody>
      </p:sp>
      <p:sp>
        <p:nvSpPr>
          <p:cNvPr id="14" name="Text 12"/>
          <p:cNvSpPr/>
          <p:nvPr/>
        </p:nvSpPr>
        <p:spPr>
          <a:xfrm>
            <a:off x="14305280" y="8534400"/>
            <a:ext cx="1463040" cy="406400"/>
          </a:xfrm>
          <a:prstGeom prst="rect">
            <a:avLst/>
          </a:prstGeom>
          <a:noFill/>
          <a:ln/>
        </p:spPr>
        <p:txBody>
          <a:bodyPr wrap="square" lIns="0" tIns="0" rIns="0" bIns="0" rtlCol="0" anchor="ctr"/>
          <a:lstStyle/>
          <a:p>
            <a:pPr algn="r" indent="0" marL="0">
              <a:buNone/>
            </a:pPr>
            <a:r>
              <a:rPr lang="en-US" sz="800" dirty="0">
                <a:solidFill>
                  <a:srgbClr val="7A88A8"/>
                </a:solidFill>
                <a:latin typeface="Calibri" pitchFamily="34" charset="0"/>
                <a:ea typeface="Calibri" pitchFamily="34" charset="-122"/>
                <a:cs typeface="Calibri" pitchFamily="34" charset="-120"/>
              </a:rPr>
              <a:t>14 / 20</a:t>
            </a:r>
            <a:endParaRPr lang="en-US" sz="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0" y="0"/>
            <a:ext cx="16256000" cy="81280"/>
          </a:xfrm>
          <a:prstGeom prst="rect">
            <a:avLst/>
          </a:prstGeom>
          <a:solidFill>
            <a:srgbClr val="D4943A"/>
          </a:solidFill>
          <a:ln/>
        </p:spPr>
      </p:sp>
      <p:sp>
        <p:nvSpPr>
          <p:cNvPr id="3" name="Shape 1"/>
          <p:cNvSpPr/>
          <p:nvPr/>
        </p:nvSpPr>
        <p:spPr>
          <a:xfrm>
            <a:off x="0" y="81280"/>
            <a:ext cx="16256000" cy="9062720"/>
          </a:xfrm>
          <a:prstGeom prst="rect">
            <a:avLst/>
          </a:prstGeom>
          <a:solidFill>
            <a:srgbClr val="F0F2F8"/>
          </a:solidFill>
          <a:ln/>
        </p:spPr>
      </p:sp>
      <p:sp>
        <p:nvSpPr>
          <p:cNvPr id="4" name="Text 2"/>
          <p:cNvSpPr/>
          <p:nvPr/>
        </p:nvSpPr>
        <p:spPr>
          <a:xfrm>
            <a:off x="812800" y="487680"/>
            <a:ext cx="11379200" cy="487680"/>
          </a:xfrm>
          <a:prstGeom prst="rect">
            <a:avLst/>
          </a:prstGeom>
          <a:noFill/>
          <a:ln/>
        </p:spPr>
        <p:txBody>
          <a:bodyPr wrap="square" lIns="0" tIns="0" rIns="0" bIns="0" rtlCol="0" anchor="ctr"/>
          <a:lstStyle/>
          <a:p>
            <a:pPr indent="0" marL="0">
              <a:buNone/>
            </a:pPr>
            <a:r>
              <a:rPr lang="en-US" sz="1000" b="1" spc="150" kern="0" dirty="0">
                <a:solidFill>
                  <a:srgbClr val="D4943A"/>
                </a:solidFill>
                <a:latin typeface="Calibri" pitchFamily="34" charset="0"/>
                <a:ea typeface="Calibri" pitchFamily="34" charset="-122"/>
                <a:cs typeface="Calibri" pitchFamily="34" charset="-120"/>
              </a:rPr>
              <a:t>GUIDED PRACTICE  |  EVIDENCE QUESTION 2</a:t>
            </a:r>
            <a:endParaRPr lang="en-US" sz="1000" dirty="0"/>
          </a:p>
        </p:txBody>
      </p:sp>
      <p:sp>
        <p:nvSpPr>
          <p:cNvPr id="5" name="Shape 3"/>
          <p:cNvSpPr/>
          <p:nvPr/>
        </p:nvSpPr>
        <p:spPr>
          <a:xfrm>
            <a:off x="812800" y="1219200"/>
            <a:ext cx="14630400" cy="1463040"/>
          </a:xfrm>
          <a:prstGeom prst="roundRect">
            <a:avLst>
              <a:gd name="adj" fmla="val 13333"/>
            </a:avLst>
          </a:prstGeom>
          <a:solidFill>
            <a:srgbClr val="FFF3DC"/>
          </a:solidFill>
          <a:ln w="19050">
            <a:solidFill>
              <a:srgbClr val="F5E6C8"/>
            </a:solidFill>
            <a:prstDash val="solid"/>
          </a:ln>
        </p:spPr>
      </p:sp>
      <p:sp>
        <p:nvSpPr>
          <p:cNvPr id="6" name="Text 4"/>
          <p:cNvSpPr/>
          <p:nvPr/>
        </p:nvSpPr>
        <p:spPr>
          <a:xfrm>
            <a:off x="1137920" y="1300480"/>
            <a:ext cx="13980160" cy="1300480"/>
          </a:xfrm>
          <a:prstGeom prst="rect">
            <a:avLst/>
          </a:prstGeom>
          <a:noFill/>
          <a:ln/>
        </p:spPr>
        <p:txBody>
          <a:bodyPr wrap="square" lIns="0" tIns="0" rIns="0" bIns="0" rtlCol="0" anchor="ctr"/>
          <a:lstStyle/>
          <a:p>
            <a:pPr indent="0" marL="0">
              <a:lnSpc>
                <a:spcPct val="125000"/>
              </a:lnSpc>
              <a:buNone/>
            </a:pPr>
            <a:r>
              <a:rPr lang="en-US" sz="1400" b="1" dirty="0">
                <a:solidFill>
                  <a:srgbClr val="0E1C42"/>
                </a:solidFill>
                <a:latin typeface="Cambria" pitchFamily="34" charset="0"/>
                <a:ea typeface="Cambria" pitchFamily="34" charset="-122"/>
                <a:cs typeface="Cambria" pitchFamily="34" charset="-120"/>
              </a:rPr>
              <a:t>What makes the Caribbean different from the other three places in this region? Give one piece of evidence from the lesson.</a:t>
            </a:r>
            <a:endParaRPr lang="en-US" sz="1400" dirty="0"/>
          </a:p>
        </p:txBody>
      </p:sp>
      <p:sp>
        <p:nvSpPr>
          <p:cNvPr id="7" name="Text 5"/>
          <p:cNvSpPr/>
          <p:nvPr/>
        </p:nvSpPr>
        <p:spPr>
          <a:xfrm>
            <a:off x="812800" y="3007360"/>
            <a:ext cx="14630400" cy="406400"/>
          </a:xfrm>
          <a:prstGeom prst="rect">
            <a:avLst/>
          </a:prstGeom>
          <a:noFill/>
          <a:ln/>
        </p:spPr>
        <p:txBody>
          <a:bodyPr wrap="square" lIns="0" tIns="0" rIns="0" bIns="0" rtlCol="0" anchor="ctr"/>
          <a:lstStyle/>
          <a:p>
            <a:pPr indent="0" marL="0">
              <a:buNone/>
            </a:pPr>
            <a:r>
              <a:rPr lang="en-US" sz="900" b="1" spc="150" kern="0" dirty="0">
                <a:solidFill>
                  <a:srgbClr val="1A8A7D"/>
                </a:solidFill>
                <a:latin typeface="Calibri" pitchFamily="34" charset="0"/>
                <a:ea typeface="Calibri" pitchFamily="34" charset="-122"/>
                <a:cs typeface="Calibri" pitchFamily="34" charset="-120"/>
              </a:rPr>
              <a:t>SCAFFOLD: COMPARE &amp; CONTRAST</a:t>
            </a:r>
            <a:endParaRPr lang="en-US" sz="900" dirty="0"/>
          </a:p>
        </p:txBody>
      </p:sp>
      <p:sp>
        <p:nvSpPr>
          <p:cNvPr id="8" name="Shape 6"/>
          <p:cNvSpPr/>
          <p:nvPr/>
        </p:nvSpPr>
        <p:spPr>
          <a:xfrm>
            <a:off x="812800" y="3576320"/>
            <a:ext cx="6827520" cy="2926080"/>
          </a:xfrm>
          <a:prstGeom prst="roundRect">
            <a:avLst>
              <a:gd name="adj" fmla="val 6667"/>
            </a:avLst>
          </a:prstGeom>
          <a:solidFill>
            <a:srgbClr val="EAF8FD"/>
          </a:solidFill>
          <a:ln/>
        </p:spPr>
      </p:sp>
      <p:sp>
        <p:nvSpPr>
          <p:cNvPr id="9" name="Text 7"/>
          <p:cNvSpPr/>
          <p:nvPr/>
        </p:nvSpPr>
        <p:spPr>
          <a:xfrm>
            <a:off x="1137920" y="3738880"/>
            <a:ext cx="6177280" cy="406400"/>
          </a:xfrm>
          <a:prstGeom prst="rect">
            <a:avLst/>
          </a:prstGeom>
          <a:noFill/>
          <a:ln/>
        </p:spPr>
        <p:txBody>
          <a:bodyPr wrap="square" lIns="0" tIns="0" rIns="0" bIns="0" rtlCol="0" anchor="ctr"/>
          <a:lstStyle/>
          <a:p>
            <a:pPr indent="0" marL="0">
              <a:buNone/>
            </a:pPr>
            <a:r>
              <a:rPr lang="en-US" sz="900" b="1" spc="100" kern="0" dirty="0">
                <a:solidFill>
                  <a:srgbClr val="1A8A7D"/>
                </a:solidFill>
                <a:latin typeface="Calibri" pitchFamily="34" charset="0"/>
                <a:ea typeface="Calibri" pitchFamily="34" charset="-122"/>
                <a:cs typeface="Calibri" pitchFamily="34" charset="-120"/>
              </a:rPr>
              <a:t>CANADA, US, MEXICO</a:t>
            </a:r>
            <a:endParaRPr lang="en-US" sz="900" dirty="0"/>
          </a:p>
        </p:txBody>
      </p:sp>
      <p:sp>
        <p:nvSpPr>
          <p:cNvPr id="10" name="Text 8"/>
          <p:cNvSpPr/>
          <p:nvPr/>
        </p:nvSpPr>
        <p:spPr>
          <a:xfrm>
            <a:off x="1137920" y="4226560"/>
            <a:ext cx="6177280" cy="1625600"/>
          </a:xfrm>
          <a:prstGeom prst="rect">
            <a:avLst/>
          </a:prstGeom>
          <a:noFill/>
          <a:ln/>
        </p:spPr>
        <p:txBody>
          <a:bodyPr wrap="square" lIns="0" tIns="0" rIns="0" bIns="0" rtlCol="0" anchor="ctr"/>
          <a:lstStyle/>
          <a:p>
            <a:pPr indent="0" marL="0">
              <a:lnSpc>
                <a:spcPct val="140000"/>
              </a:lnSpc>
              <a:buNone/>
            </a:pPr>
            <a:r>
              <a:rPr lang="en-US" sz="1200" dirty="0">
                <a:solidFill>
                  <a:srgbClr val="0E1C42"/>
                </a:solidFill>
                <a:latin typeface="Calibri" pitchFamily="34" charset="0"/>
                <a:ea typeface="Calibri" pitchFamily="34" charset="-122"/>
                <a:cs typeface="Calibri" pitchFamily="34" charset="-120"/>
              </a:rPr>
              <a:t>Each is ONE country</a:t>
            </a:r>
            <a:endParaRPr lang="en-US" sz="1200" dirty="0"/>
          </a:p>
          <a:p>
            <a:pPr indent="0" marL="0">
              <a:lnSpc>
                <a:spcPct val="140000"/>
              </a:lnSpc>
              <a:buNone/>
            </a:pPr>
            <a:r>
              <a:rPr lang="en-US" sz="1200" dirty="0">
                <a:solidFill>
                  <a:srgbClr val="0E1C42"/>
                </a:solidFill>
                <a:latin typeface="Calibri" pitchFamily="34" charset="0"/>
                <a:ea typeface="Calibri" pitchFamily="34" charset="-122"/>
                <a:cs typeface="Calibri" pitchFamily="34" charset="-120"/>
              </a:rPr>
              <a:t>Large, connected landmasses</a:t>
            </a:r>
            <a:endParaRPr lang="en-US" sz="1200" dirty="0"/>
          </a:p>
          <a:p>
            <a:pPr indent="0" marL="0">
              <a:lnSpc>
                <a:spcPct val="140000"/>
              </a:lnSpc>
              <a:buNone/>
            </a:pPr>
            <a:r>
              <a:rPr lang="en-US" sz="1200" dirty="0">
                <a:solidFill>
                  <a:srgbClr val="0E1C42"/>
                </a:solidFill>
                <a:latin typeface="Calibri" pitchFamily="34" charset="0"/>
                <a:ea typeface="Calibri" pitchFamily="34" charset="-122"/>
                <a:cs typeface="Calibri" pitchFamily="34" charset="-120"/>
              </a:rPr>
              <a:t>Have borders you can trace</a:t>
            </a:r>
            <a:endParaRPr lang="en-US" sz="1200" dirty="0"/>
          </a:p>
        </p:txBody>
      </p:sp>
      <p:sp>
        <p:nvSpPr>
          <p:cNvPr id="11" name="Shape 9"/>
          <p:cNvSpPr/>
          <p:nvPr/>
        </p:nvSpPr>
        <p:spPr>
          <a:xfrm>
            <a:off x="8615680" y="3576320"/>
            <a:ext cx="6827520" cy="2926080"/>
          </a:xfrm>
          <a:prstGeom prst="roundRect">
            <a:avLst>
              <a:gd name="adj" fmla="val 6667"/>
            </a:avLst>
          </a:prstGeom>
          <a:solidFill>
            <a:srgbClr val="F0E8FF"/>
          </a:solidFill>
          <a:ln/>
        </p:spPr>
      </p:sp>
      <p:sp>
        <p:nvSpPr>
          <p:cNvPr id="12" name="Text 10"/>
          <p:cNvSpPr/>
          <p:nvPr/>
        </p:nvSpPr>
        <p:spPr>
          <a:xfrm>
            <a:off x="8940800" y="3738880"/>
            <a:ext cx="6177280" cy="406400"/>
          </a:xfrm>
          <a:prstGeom prst="rect">
            <a:avLst/>
          </a:prstGeom>
          <a:noFill/>
          <a:ln/>
        </p:spPr>
        <p:txBody>
          <a:bodyPr wrap="square" lIns="0" tIns="0" rIns="0" bIns="0" rtlCol="0" anchor="ctr"/>
          <a:lstStyle/>
          <a:p>
            <a:pPr indent="0" marL="0">
              <a:buNone/>
            </a:pPr>
            <a:r>
              <a:rPr lang="en-US" sz="900" b="1" spc="100" kern="0" dirty="0">
                <a:solidFill>
                  <a:srgbClr val="8B6FC0"/>
                </a:solidFill>
                <a:latin typeface="Calibri" pitchFamily="34" charset="0"/>
                <a:ea typeface="Calibri" pitchFamily="34" charset="-122"/>
                <a:cs typeface="Calibri" pitchFamily="34" charset="-120"/>
              </a:rPr>
              <a:t>THE CARIBBEAN</a:t>
            </a:r>
            <a:endParaRPr lang="en-US" sz="900" dirty="0"/>
          </a:p>
        </p:txBody>
      </p:sp>
      <p:sp>
        <p:nvSpPr>
          <p:cNvPr id="13" name="Text 11"/>
          <p:cNvSpPr/>
          <p:nvPr/>
        </p:nvSpPr>
        <p:spPr>
          <a:xfrm>
            <a:off x="8940800" y="4226560"/>
            <a:ext cx="6177280" cy="1625600"/>
          </a:xfrm>
          <a:prstGeom prst="rect">
            <a:avLst/>
          </a:prstGeom>
          <a:noFill/>
          <a:ln/>
        </p:spPr>
        <p:txBody>
          <a:bodyPr wrap="square" lIns="0" tIns="0" rIns="0" bIns="0" rtlCol="0" anchor="ctr"/>
          <a:lstStyle/>
          <a:p>
            <a:pPr indent="0" marL="0">
              <a:lnSpc>
                <a:spcPct val="140000"/>
              </a:lnSpc>
              <a:buNone/>
            </a:pPr>
            <a:r>
              <a:rPr lang="en-US" sz="1200" dirty="0">
                <a:solidFill>
                  <a:srgbClr val="0E1C42"/>
                </a:solidFill>
                <a:latin typeface="Calibri" pitchFamily="34" charset="0"/>
                <a:ea typeface="Calibri" pitchFamily="34" charset="-122"/>
                <a:cs typeface="Calibri" pitchFamily="34" charset="-120"/>
              </a:rPr>
              <a:t>NOT one country — many islands</a:t>
            </a:r>
            <a:endParaRPr lang="en-US" sz="1200" dirty="0"/>
          </a:p>
          <a:p>
            <a:pPr indent="0" marL="0">
              <a:lnSpc>
                <a:spcPct val="140000"/>
              </a:lnSpc>
              <a:buNone/>
            </a:pPr>
            <a:r>
              <a:rPr lang="en-US" sz="1200" dirty="0">
                <a:solidFill>
                  <a:srgbClr val="0E1C42"/>
                </a:solidFill>
                <a:latin typeface="Calibri" pitchFamily="34" charset="0"/>
                <a:ea typeface="Calibri" pitchFamily="34" charset="-122"/>
                <a:cs typeface="Calibri" pitchFamily="34" charset="-120"/>
              </a:rPr>
              <a:t>Mostly water and scattered islands</a:t>
            </a:r>
            <a:endParaRPr lang="en-US" sz="1200" dirty="0"/>
          </a:p>
          <a:p>
            <a:pPr indent="0" marL="0">
              <a:lnSpc>
                <a:spcPct val="140000"/>
              </a:lnSpc>
              <a:buNone/>
            </a:pPr>
            <a:r>
              <a:rPr lang="en-US" sz="1200" dirty="0">
                <a:solidFill>
                  <a:srgbClr val="0E1C42"/>
                </a:solidFill>
                <a:latin typeface="Calibri" pitchFamily="34" charset="0"/>
                <a:ea typeface="Calibri" pitchFamily="34" charset="-122"/>
                <a:cs typeface="Calibri" pitchFamily="34" charset="-120"/>
              </a:rPr>
              <a:t>7,000+ islands, only ~13 are countries</a:t>
            </a:r>
            <a:endParaRPr lang="en-US" sz="1200" dirty="0"/>
          </a:p>
        </p:txBody>
      </p:sp>
      <p:sp>
        <p:nvSpPr>
          <p:cNvPr id="14" name="Shape 12"/>
          <p:cNvSpPr/>
          <p:nvPr/>
        </p:nvSpPr>
        <p:spPr>
          <a:xfrm>
            <a:off x="812800" y="6827520"/>
            <a:ext cx="14630400" cy="1625600"/>
          </a:xfrm>
          <a:prstGeom prst="roundRect">
            <a:avLst>
              <a:gd name="adj" fmla="val 12000"/>
            </a:avLst>
          </a:prstGeom>
          <a:solidFill>
            <a:srgbClr val="FFFFFF"/>
          </a:solidFill>
          <a:ln/>
        </p:spPr>
      </p:sp>
      <p:sp>
        <p:nvSpPr>
          <p:cNvPr id="15" name="Text 13"/>
          <p:cNvSpPr/>
          <p:nvPr/>
        </p:nvSpPr>
        <p:spPr>
          <a:xfrm>
            <a:off x="1137920" y="6908800"/>
            <a:ext cx="13980160" cy="1463040"/>
          </a:xfrm>
          <a:prstGeom prst="rect">
            <a:avLst/>
          </a:prstGeom>
          <a:noFill/>
          <a:ln/>
        </p:spPr>
        <p:txBody>
          <a:bodyPr wrap="square" lIns="0" tIns="0" rIns="0" bIns="0" rtlCol="0" anchor="ctr"/>
          <a:lstStyle/>
          <a:p>
            <a:pPr indent="0" marL="0">
              <a:lnSpc>
                <a:spcPct val="130000"/>
              </a:lnSpc>
              <a:buNone/>
            </a:pPr>
            <a:r>
              <a:rPr lang="en-US" sz="1400" i="1" dirty="0">
                <a:solidFill>
                  <a:srgbClr val="0E1C42"/>
                </a:solidFill>
                <a:latin typeface="Cambria" pitchFamily="34" charset="0"/>
                <a:ea typeface="Cambria" pitchFamily="34" charset="-122"/>
                <a:cs typeface="Cambria" pitchFamily="34" charset="-120"/>
              </a:rPr>
              <a:t>Sentence Frame:  The Caribbean is different because _______. The lesson says _______.</a:t>
            </a:r>
            <a:endParaRPr lang="en-US" sz="1400" dirty="0"/>
          </a:p>
        </p:txBody>
      </p:sp>
      <p:sp>
        <p:nvSpPr>
          <p:cNvPr id="16" name="Text 14"/>
          <p:cNvSpPr/>
          <p:nvPr/>
        </p:nvSpPr>
        <p:spPr>
          <a:xfrm>
            <a:off x="14305280" y="8534400"/>
            <a:ext cx="1463040" cy="406400"/>
          </a:xfrm>
          <a:prstGeom prst="rect">
            <a:avLst/>
          </a:prstGeom>
          <a:noFill/>
          <a:ln/>
        </p:spPr>
        <p:txBody>
          <a:bodyPr wrap="square" lIns="0" tIns="0" rIns="0" bIns="0" rtlCol="0" anchor="ctr"/>
          <a:lstStyle/>
          <a:p>
            <a:pPr algn="r" indent="0" marL="0">
              <a:buNone/>
            </a:pPr>
            <a:r>
              <a:rPr lang="en-US" sz="800" dirty="0">
                <a:solidFill>
                  <a:srgbClr val="7A88A8"/>
                </a:solidFill>
                <a:latin typeface="Calibri" pitchFamily="34" charset="0"/>
                <a:ea typeface="Calibri" pitchFamily="34" charset="-122"/>
                <a:cs typeface="Calibri" pitchFamily="34" charset="-120"/>
              </a:rPr>
              <a:t>15 / 20</a:t>
            </a:r>
            <a:endParaRPr lang="en-US" sz="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0" y="0"/>
            <a:ext cx="16256000" cy="81280"/>
          </a:xfrm>
          <a:prstGeom prst="rect">
            <a:avLst/>
          </a:prstGeom>
          <a:solidFill>
            <a:srgbClr val="D4943A"/>
          </a:solidFill>
          <a:ln/>
        </p:spPr>
      </p:sp>
      <p:sp>
        <p:nvSpPr>
          <p:cNvPr id="3" name="Shape 1"/>
          <p:cNvSpPr/>
          <p:nvPr/>
        </p:nvSpPr>
        <p:spPr>
          <a:xfrm>
            <a:off x="0" y="81280"/>
            <a:ext cx="16256000" cy="9062720"/>
          </a:xfrm>
          <a:prstGeom prst="rect">
            <a:avLst/>
          </a:prstGeom>
          <a:solidFill>
            <a:srgbClr val="FFFFFF"/>
          </a:solidFill>
          <a:ln/>
        </p:spPr>
      </p:sp>
      <p:sp>
        <p:nvSpPr>
          <p:cNvPr id="4" name="Text 2"/>
          <p:cNvSpPr/>
          <p:nvPr/>
        </p:nvSpPr>
        <p:spPr>
          <a:xfrm>
            <a:off x="812800" y="487680"/>
            <a:ext cx="11379200" cy="487680"/>
          </a:xfrm>
          <a:prstGeom prst="rect">
            <a:avLst/>
          </a:prstGeom>
          <a:noFill/>
          <a:ln/>
        </p:spPr>
        <p:txBody>
          <a:bodyPr wrap="square" lIns="0" tIns="0" rIns="0" bIns="0" rtlCol="0" anchor="ctr"/>
          <a:lstStyle/>
          <a:p>
            <a:pPr indent="0" marL="0">
              <a:buNone/>
            </a:pPr>
            <a:r>
              <a:rPr lang="en-US" sz="1000" b="1" spc="150" kern="0" dirty="0">
                <a:solidFill>
                  <a:srgbClr val="D4943A"/>
                </a:solidFill>
                <a:latin typeface="Calibri" pitchFamily="34" charset="0"/>
                <a:ea typeface="Calibri" pitchFamily="34" charset="-122"/>
                <a:cs typeface="Calibri" pitchFamily="34" charset="-120"/>
              </a:rPr>
              <a:t>GUIDED PRACTICE  |  CURATOR TASK</a:t>
            </a:r>
            <a:endParaRPr lang="en-US" sz="1000" dirty="0"/>
          </a:p>
        </p:txBody>
      </p:sp>
      <p:sp>
        <p:nvSpPr>
          <p:cNvPr id="5" name="Shape 3"/>
          <p:cNvSpPr/>
          <p:nvPr/>
        </p:nvSpPr>
        <p:spPr>
          <a:xfrm>
            <a:off x="812800" y="1219200"/>
            <a:ext cx="14630400" cy="1950720"/>
          </a:xfrm>
          <a:prstGeom prst="roundRect">
            <a:avLst>
              <a:gd name="adj" fmla="val 10000"/>
            </a:avLst>
          </a:prstGeom>
          <a:solidFill>
            <a:srgbClr val="FFF3DC"/>
          </a:solidFill>
          <a:ln w="19050">
            <a:solidFill>
              <a:srgbClr val="F5E6C8"/>
            </a:solidFill>
            <a:prstDash val="solid"/>
          </a:ln>
        </p:spPr>
      </p:sp>
      <p:sp>
        <p:nvSpPr>
          <p:cNvPr id="6" name="Text 4"/>
          <p:cNvSpPr/>
          <p:nvPr/>
        </p:nvSpPr>
        <p:spPr>
          <a:xfrm>
            <a:off x="1137920" y="1300480"/>
            <a:ext cx="13980160" cy="568960"/>
          </a:xfrm>
          <a:prstGeom prst="rect">
            <a:avLst/>
          </a:prstGeom>
          <a:noFill/>
          <a:ln/>
        </p:spPr>
        <p:txBody>
          <a:bodyPr wrap="square" lIns="0" tIns="0" rIns="0" bIns="0" rtlCol="0" anchor="ctr"/>
          <a:lstStyle/>
          <a:p>
            <a:pPr indent="0" marL="0">
              <a:buNone/>
            </a:pPr>
            <a:r>
              <a:rPr lang="en-US" sz="1600" b="1" dirty="0">
                <a:solidFill>
                  <a:srgbClr val="D4943A"/>
                </a:solidFill>
                <a:latin typeface="Cambria" pitchFamily="34" charset="0"/>
                <a:ea typeface="Cambria" pitchFamily="34" charset="-122"/>
                <a:cs typeface="Cambria" pitchFamily="34" charset="-120"/>
              </a:rPr>
              <a:t>Gallery Welcome Label</a:t>
            </a:r>
            <a:endParaRPr lang="en-US" sz="1600" dirty="0"/>
          </a:p>
        </p:txBody>
      </p:sp>
      <p:sp>
        <p:nvSpPr>
          <p:cNvPr id="7" name="Text 5"/>
          <p:cNvSpPr/>
          <p:nvPr/>
        </p:nvSpPr>
        <p:spPr>
          <a:xfrm>
            <a:off x="1137920" y="1869440"/>
            <a:ext cx="13980160" cy="1137920"/>
          </a:xfrm>
          <a:prstGeom prst="rect">
            <a:avLst/>
          </a:prstGeom>
          <a:noFill/>
          <a:ln/>
        </p:spPr>
        <p:txBody>
          <a:bodyPr wrap="square" lIns="0" tIns="0" rIns="0" bIns="0" rtlCol="0" anchor="ctr"/>
          <a:lstStyle/>
          <a:p>
            <a:pPr indent="0" marL="0">
              <a:lnSpc>
                <a:spcPct val="120000"/>
              </a:lnSpc>
              <a:buNone/>
            </a:pPr>
            <a:r>
              <a:rPr lang="en-US" sz="1200" dirty="0">
                <a:solidFill>
                  <a:srgbClr val="0E1C42"/>
                </a:solidFill>
                <a:latin typeface="Calibri" pitchFamily="34" charset="0"/>
                <a:ea typeface="Calibri" pitchFamily="34" charset="-122"/>
                <a:cs typeface="Calibri" pitchFamily="34" charset="-120"/>
              </a:rPr>
              <a:t>Write the welcome label visitors read when they step into the new gallery. In 3-4 sentences, name all four places (Canada, the United States, Mexico, and the Caribbean), tell where each one sits using direction words, and give one reason why curators study them together.</a:t>
            </a:r>
            <a:endParaRPr lang="en-US" sz="1200" dirty="0"/>
          </a:p>
        </p:txBody>
      </p:sp>
      <p:sp>
        <p:nvSpPr>
          <p:cNvPr id="8" name="Text 6"/>
          <p:cNvSpPr/>
          <p:nvPr/>
        </p:nvSpPr>
        <p:spPr>
          <a:xfrm>
            <a:off x="812800" y="3495040"/>
            <a:ext cx="14630400" cy="406400"/>
          </a:xfrm>
          <a:prstGeom prst="rect">
            <a:avLst/>
          </a:prstGeom>
          <a:noFill/>
          <a:ln/>
        </p:spPr>
        <p:txBody>
          <a:bodyPr wrap="square" lIns="0" tIns="0" rIns="0" bIns="0" rtlCol="0" anchor="ctr"/>
          <a:lstStyle/>
          <a:p>
            <a:pPr indent="0" marL="0">
              <a:buNone/>
            </a:pPr>
            <a:r>
              <a:rPr lang="en-US" sz="900" b="1" spc="150" kern="0" dirty="0">
                <a:solidFill>
                  <a:srgbClr val="1A8A7D"/>
                </a:solidFill>
                <a:latin typeface="Calibri" pitchFamily="34" charset="0"/>
                <a:ea typeface="Calibri" pitchFamily="34" charset="-122"/>
                <a:cs typeface="Calibri" pitchFamily="34" charset="-120"/>
              </a:rPr>
              <a:t>YOUR LABEL MUST ANSWER:</a:t>
            </a:r>
            <a:endParaRPr lang="en-US" sz="900" dirty="0"/>
          </a:p>
        </p:txBody>
      </p:sp>
      <p:sp>
        <p:nvSpPr>
          <p:cNvPr id="9" name="Shape 7"/>
          <p:cNvSpPr/>
          <p:nvPr/>
        </p:nvSpPr>
        <p:spPr>
          <a:xfrm>
            <a:off x="812800" y="4064000"/>
            <a:ext cx="14630400" cy="2438400"/>
          </a:xfrm>
          <a:prstGeom prst="roundRect">
            <a:avLst>
              <a:gd name="adj" fmla="val 8000"/>
            </a:avLst>
          </a:prstGeom>
          <a:solidFill>
            <a:srgbClr val="F0F2F8"/>
          </a:solidFill>
          <a:ln/>
        </p:spPr>
      </p:sp>
      <p:sp>
        <p:nvSpPr>
          <p:cNvPr id="10" name="Text 8"/>
          <p:cNvSpPr/>
          <p:nvPr/>
        </p:nvSpPr>
        <p:spPr>
          <a:xfrm>
            <a:off x="1137920" y="4226560"/>
            <a:ext cx="13980160" cy="211328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0E1C42"/>
                </a:solidFill>
                <a:latin typeface="Calibri" pitchFamily="34" charset="0"/>
                <a:ea typeface="Calibri" pitchFamily="34" charset="-122"/>
                <a:cs typeface="Calibri" pitchFamily="34" charset="-120"/>
              </a:rPr>
              <a:t>What four places are in this gallery?</a:t>
            </a:r>
            <a:endParaRPr lang="en-US" sz="1300" dirty="0"/>
          </a:p>
          <a:p>
            <a:pPr marL="342900" indent="-342900">
              <a:spcAft>
                <a:spcPts val="600"/>
              </a:spcAft>
              <a:buSzPct val="100000"/>
              <a:buChar char="•"/>
            </a:pPr>
            <a:r>
              <a:rPr lang="en-US" sz="1300" dirty="0">
                <a:solidFill>
                  <a:srgbClr val="0E1C42"/>
                </a:solidFill>
                <a:latin typeface="Calibri" pitchFamily="34" charset="0"/>
                <a:ea typeface="Calibri" pitchFamily="34" charset="-122"/>
                <a:cs typeface="Calibri" pitchFamily="34" charset="-120"/>
              </a:rPr>
              <a:t>Where is each one? (Use direction words!)</a:t>
            </a:r>
            <a:endParaRPr lang="en-US" sz="1300" dirty="0"/>
          </a:p>
          <a:p>
            <a:pPr marL="342900" indent="-342900">
              <a:spcAft>
                <a:spcPts val="400"/>
              </a:spcAft>
              <a:buSzPct val="100000"/>
              <a:buChar char="•"/>
            </a:pPr>
            <a:r>
              <a:rPr lang="en-US" sz="1300" dirty="0">
                <a:solidFill>
                  <a:srgbClr val="0E1C42"/>
                </a:solidFill>
                <a:latin typeface="Calibri" pitchFamily="34" charset="0"/>
                <a:ea typeface="Calibri" pitchFamily="34" charset="-122"/>
                <a:cs typeface="Calibri" pitchFamily="34" charset="-120"/>
              </a:rPr>
              <a:t>Why are they grouped as one region?</a:t>
            </a:r>
            <a:endParaRPr lang="en-US" sz="1300" dirty="0"/>
          </a:p>
        </p:txBody>
      </p:sp>
      <p:sp>
        <p:nvSpPr>
          <p:cNvPr id="11" name="Shape 9"/>
          <p:cNvSpPr/>
          <p:nvPr/>
        </p:nvSpPr>
        <p:spPr>
          <a:xfrm>
            <a:off x="812800" y="6827520"/>
            <a:ext cx="14630400" cy="1625600"/>
          </a:xfrm>
          <a:prstGeom prst="roundRect">
            <a:avLst>
              <a:gd name="adj" fmla="val 12000"/>
            </a:avLst>
          </a:prstGeom>
          <a:solidFill>
            <a:srgbClr val="E3F8ED"/>
          </a:solidFill>
          <a:ln/>
        </p:spPr>
      </p:sp>
      <p:sp>
        <p:nvSpPr>
          <p:cNvPr id="12" name="Text 10"/>
          <p:cNvSpPr/>
          <p:nvPr/>
        </p:nvSpPr>
        <p:spPr>
          <a:xfrm>
            <a:off x="1137920" y="6908800"/>
            <a:ext cx="13980160" cy="357632"/>
          </a:xfrm>
          <a:prstGeom prst="rect">
            <a:avLst/>
          </a:prstGeom>
          <a:noFill/>
          <a:ln/>
        </p:spPr>
        <p:txBody>
          <a:bodyPr wrap="square" lIns="0" tIns="0" rIns="0" bIns="0" rtlCol="0" anchor="ctr"/>
          <a:lstStyle/>
          <a:p>
            <a:pPr indent="0" marL="0">
              <a:buNone/>
            </a:pPr>
            <a:r>
              <a:rPr lang="en-US" sz="900" b="1" spc="150" kern="0" dirty="0">
                <a:solidFill>
                  <a:srgbClr val="34B76F"/>
                </a:solidFill>
                <a:latin typeface="Calibri" pitchFamily="34" charset="0"/>
                <a:ea typeface="Calibri" pitchFamily="34" charset="-122"/>
                <a:cs typeface="Calibri" pitchFamily="34" charset="-120"/>
              </a:rPr>
              <a:t>MODEL START</a:t>
            </a:r>
            <a:endParaRPr lang="en-US" sz="900" dirty="0"/>
          </a:p>
        </p:txBody>
      </p:sp>
      <p:sp>
        <p:nvSpPr>
          <p:cNvPr id="13" name="Text 11"/>
          <p:cNvSpPr/>
          <p:nvPr/>
        </p:nvSpPr>
        <p:spPr>
          <a:xfrm>
            <a:off x="1137920" y="7315200"/>
            <a:ext cx="13980160" cy="975360"/>
          </a:xfrm>
          <a:prstGeom prst="rect">
            <a:avLst/>
          </a:prstGeom>
          <a:noFill/>
          <a:ln/>
        </p:spPr>
        <p:txBody>
          <a:bodyPr wrap="square" lIns="0" tIns="0" rIns="0" bIns="0" rtlCol="0" anchor="ctr"/>
          <a:lstStyle/>
          <a:p>
            <a:pPr indent="0" marL="0">
              <a:lnSpc>
                <a:spcPct val="120000"/>
              </a:lnSpc>
              <a:buNone/>
            </a:pPr>
            <a:r>
              <a:rPr lang="en-US" sz="1300" i="1" dirty="0">
                <a:solidFill>
                  <a:srgbClr val="0E1C42"/>
                </a:solidFill>
                <a:latin typeface="Cambria" pitchFamily="34" charset="0"/>
                <a:ea typeface="Cambria" pitchFamily="34" charset="-122"/>
                <a:cs typeface="Cambria" pitchFamily="34" charset="-120"/>
              </a:rPr>
              <a:t>"Welcome to the North America and Caribbean Gallery. This region has four parts: Canada sits to the north..."  (Continue from here!)</a:t>
            </a:r>
            <a:endParaRPr lang="en-US" sz="1300" dirty="0"/>
          </a:p>
        </p:txBody>
      </p:sp>
      <p:sp>
        <p:nvSpPr>
          <p:cNvPr id="14" name="Text 12"/>
          <p:cNvSpPr/>
          <p:nvPr/>
        </p:nvSpPr>
        <p:spPr>
          <a:xfrm>
            <a:off x="14305280" y="8534400"/>
            <a:ext cx="1463040" cy="406400"/>
          </a:xfrm>
          <a:prstGeom prst="rect">
            <a:avLst/>
          </a:prstGeom>
          <a:noFill/>
          <a:ln/>
        </p:spPr>
        <p:txBody>
          <a:bodyPr wrap="square" lIns="0" tIns="0" rIns="0" bIns="0" rtlCol="0" anchor="ctr"/>
          <a:lstStyle/>
          <a:p>
            <a:pPr algn="r" indent="0" marL="0">
              <a:buNone/>
            </a:pPr>
            <a:r>
              <a:rPr lang="en-US" sz="800" dirty="0">
                <a:solidFill>
                  <a:srgbClr val="7A88A8"/>
                </a:solidFill>
                <a:latin typeface="Calibri" pitchFamily="34" charset="0"/>
                <a:ea typeface="Calibri" pitchFamily="34" charset="-122"/>
                <a:cs typeface="Calibri" pitchFamily="34" charset="-120"/>
              </a:rPr>
              <a:t>16 / 20</a:t>
            </a:r>
            <a:endParaRPr lang="en-US" sz="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0" y="0"/>
            <a:ext cx="16256000" cy="81280"/>
          </a:xfrm>
          <a:prstGeom prst="rect">
            <a:avLst/>
          </a:prstGeom>
          <a:solidFill>
            <a:srgbClr val="D4943A"/>
          </a:solidFill>
          <a:ln/>
        </p:spPr>
      </p:sp>
      <p:sp>
        <p:nvSpPr>
          <p:cNvPr id="3" name="Shape 1"/>
          <p:cNvSpPr/>
          <p:nvPr/>
        </p:nvSpPr>
        <p:spPr>
          <a:xfrm>
            <a:off x="0" y="81280"/>
            <a:ext cx="16256000" cy="9062720"/>
          </a:xfrm>
          <a:prstGeom prst="rect">
            <a:avLst/>
          </a:prstGeom>
          <a:solidFill>
            <a:srgbClr val="FFF8F0"/>
          </a:solidFill>
          <a:ln/>
        </p:spPr>
      </p:sp>
      <p:sp>
        <p:nvSpPr>
          <p:cNvPr id="4" name="Text 2"/>
          <p:cNvSpPr/>
          <p:nvPr/>
        </p:nvSpPr>
        <p:spPr>
          <a:xfrm>
            <a:off x="812800" y="487680"/>
            <a:ext cx="8128000" cy="487680"/>
          </a:xfrm>
          <a:prstGeom prst="rect">
            <a:avLst/>
          </a:prstGeom>
          <a:noFill/>
          <a:ln/>
        </p:spPr>
        <p:txBody>
          <a:bodyPr wrap="square" lIns="0" tIns="0" rIns="0" bIns="0" rtlCol="0" anchor="ctr"/>
          <a:lstStyle/>
          <a:p>
            <a:pPr indent="0" marL="0">
              <a:buNone/>
            </a:pPr>
            <a:r>
              <a:rPr lang="en-US" sz="1000" b="1" spc="200" kern="0" dirty="0">
                <a:solidFill>
                  <a:srgbClr val="D4943A"/>
                </a:solidFill>
                <a:latin typeface="Calibri" pitchFamily="34" charset="0"/>
                <a:ea typeface="Calibri" pitchFamily="34" charset="-122"/>
                <a:cs typeface="Calibri" pitchFamily="34" charset="-120"/>
              </a:rPr>
              <a:t>CURATOR'S CHRONICLE</a:t>
            </a:r>
            <a:endParaRPr lang="en-US" sz="1000" dirty="0"/>
          </a:p>
        </p:txBody>
      </p:sp>
      <p:sp>
        <p:nvSpPr>
          <p:cNvPr id="5" name="Text 3"/>
          <p:cNvSpPr/>
          <p:nvPr/>
        </p:nvSpPr>
        <p:spPr>
          <a:xfrm>
            <a:off x="812800" y="1137920"/>
            <a:ext cx="14630400" cy="812800"/>
          </a:xfrm>
          <a:prstGeom prst="rect">
            <a:avLst/>
          </a:prstGeom>
          <a:noFill/>
          <a:ln/>
        </p:spPr>
        <p:txBody>
          <a:bodyPr wrap="square" lIns="0" tIns="0" rIns="0" bIns="0" rtlCol="0" anchor="ctr"/>
          <a:lstStyle/>
          <a:p>
            <a:pPr indent="0" marL="0">
              <a:buNone/>
            </a:pPr>
            <a:r>
              <a:rPr lang="en-US" sz="2600" b="1" dirty="0">
                <a:solidFill>
                  <a:srgbClr val="0E1C42"/>
                </a:solidFill>
                <a:latin typeface="Cambria" pitchFamily="34" charset="0"/>
                <a:ea typeface="Cambria" pitchFamily="34" charset="-122"/>
                <a:cs typeface="Cambria" pitchFamily="34" charset="-120"/>
              </a:rPr>
              <a:t>Capture Today's Learning</a:t>
            </a:r>
            <a:endParaRPr lang="en-US" sz="2600" dirty="0"/>
          </a:p>
        </p:txBody>
      </p:sp>
      <p:sp>
        <p:nvSpPr>
          <p:cNvPr id="6" name="Shape 4"/>
          <p:cNvSpPr/>
          <p:nvPr/>
        </p:nvSpPr>
        <p:spPr>
          <a:xfrm>
            <a:off x="2438400" y="2438400"/>
            <a:ext cx="11379200" cy="1950720"/>
          </a:xfrm>
          <a:prstGeom prst="roundRect">
            <a:avLst>
              <a:gd name="adj" fmla="val 12500"/>
            </a:avLst>
          </a:prstGeom>
          <a:solidFill>
            <a:srgbClr val="FFFFFF"/>
          </a:solidFill>
          <a:ln/>
          <a:effectLst>
            <a:outerShdw sx="100000" sy="100000" kx="0" ky="0" algn="bl" rotWithShape="0" blurRad="101600" dist="38100" dir="8100000">
              <a:srgbClr val="000000">
                <a:alpha val="15000"/>
              </a:srgbClr>
            </a:outerShdw>
          </a:effectLst>
        </p:spPr>
      </p:sp>
      <p:sp>
        <p:nvSpPr>
          <p:cNvPr id="7" name="Text 5"/>
          <p:cNvSpPr/>
          <p:nvPr/>
        </p:nvSpPr>
        <p:spPr>
          <a:xfrm>
            <a:off x="2763520" y="2519680"/>
            <a:ext cx="10728960" cy="487680"/>
          </a:xfrm>
          <a:prstGeom prst="rect">
            <a:avLst/>
          </a:prstGeom>
          <a:noFill/>
          <a:ln/>
        </p:spPr>
        <p:txBody>
          <a:bodyPr wrap="square" lIns="0" tIns="0" rIns="0" bIns="0" rtlCol="0" anchor="ctr"/>
          <a:lstStyle/>
          <a:p>
            <a:pPr indent="0" marL="0">
              <a:buNone/>
            </a:pPr>
            <a:r>
              <a:rPr lang="en-US" sz="1200" dirty="0">
                <a:solidFill>
                  <a:srgbClr val="7A88A8"/>
                </a:solidFill>
                <a:latin typeface="Calibri" pitchFamily="34" charset="0"/>
                <a:ea typeface="Calibri" pitchFamily="34" charset="-122"/>
                <a:cs typeface="Calibri" pitchFamily="34" charset="-120"/>
              </a:rPr>
              <a:t>Finish this sentence in your own words:</a:t>
            </a:r>
            <a:endParaRPr lang="en-US" sz="1200" dirty="0"/>
          </a:p>
        </p:txBody>
      </p:sp>
      <p:sp>
        <p:nvSpPr>
          <p:cNvPr id="8" name="Text 6"/>
          <p:cNvSpPr/>
          <p:nvPr/>
        </p:nvSpPr>
        <p:spPr>
          <a:xfrm>
            <a:off x="2763520" y="3088640"/>
            <a:ext cx="10728960" cy="975360"/>
          </a:xfrm>
          <a:prstGeom prst="rect">
            <a:avLst/>
          </a:prstGeom>
          <a:noFill/>
          <a:ln/>
        </p:spPr>
        <p:txBody>
          <a:bodyPr wrap="square" lIns="0" tIns="0" rIns="0" bIns="0" rtlCol="0" anchor="ctr"/>
          <a:lstStyle/>
          <a:p>
            <a:pPr indent="0" marL="0">
              <a:lnSpc>
                <a:spcPct val="130000"/>
              </a:lnSpc>
              <a:buNone/>
            </a:pPr>
            <a:r>
              <a:rPr lang="en-US" sz="1600" b="1" i="1" dirty="0">
                <a:solidFill>
                  <a:srgbClr val="0E1C42"/>
                </a:solidFill>
                <a:latin typeface="Cambria" pitchFamily="34" charset="0"/>
                <a:ea typeface="Cambria" pitchFamily="34" charset="-122"/>
                <a:cs typeface="Cambria" pitchFamily="34" charset="-120"/>
              </a:rPr>
              <a:t>In this exhibit, I learned that ______ because ______.</a:t>
            </a:r>
            <a:endParaRPr lang="en-US" sz="1600" dirty="0"/>
          </a:p>
        </p:txBody>
      </p:sp>
      <p:sp>
        <p:nvSpPr>
          <p:cNvPr id="9" name="Shape 7"/>
          <p:cNvSpPr/>
          <p:nvPr/>
        </p:nvSpPr>
        <p:spPr>
          <a:xfrm>
            <a:off x="2438400" y="4876800"/>
            <a:ext cx="11379200" cy="2275840"/>
          </a:xfrm>
          <a:prstGeom prst="roundRect">
            <a:avLst>
              <a:gd name="adj" fmla="val 8571"/>
            </a:avLst>
          </a:prstGeom>
          <a:solidFill>
            <a:srgbClr val="FFF3DC"/>
          </a:solidFill>
          <a:ln w="19050">
            <a:solidFill>
              <a:srgbClr val="F5E6C8"/>
            </a:solidFill>
            <a:prstDash val="solid"/>
          </a:ln>
        </p:spPr>
      </p:sp>
      <p:sp>
        <p:nvSpPr>
          <p:cNvPr id="10" name="Text 8"/>
          <p:cNvSpPr/>
          <p:nvPr/>
        </p:nvSpPr>
        <p:spPr>
          <a:xfrm>
            <a:off x="2682240" y="4974336"/>
            <a:ext cx="10891520" cy="357632"/>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11" name="Text 9"/>
          <p:cNvSpPr/>
          <p:nvPr/>
        </p:nvSpPr>
        <p:spPr>
          <a:xfrm>
            <a:off x="2682240" y="5331968"/>
            <a:ext cx="10891520" cy="1706880"/>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"What is the ONE biggest thing you learned today?"</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"How do you know it is true? What is your evidence?"</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"Say it out loud before you write it down."</a:t>
            </a:r>
            <a:endParaRPr lang="en-US" sz="1200" dirty="0"/>
          </a:p>
        </p:txBody>
      </p:sp>
      <p:sp>
        <p:nvSpPr>
          <p:cNvPr id="12" name="Text 10"/>
          <p:cNvSpPr/>
          <p:nvPr/>
        </p:nvSpPr>
        <p:spPr>
          <a:xfrm>
            <a:off x="14305280" y="8534400"/>
            <a:ext cx="1463040" cy="406400"/>
          </a:xfrm>
          <a:prstGeom prst="rect">
            <a:avLst/>
          </a:prstGeom>
          <a:noFill/>
          <a:ln/>
        </p:spPr>
        <p:txBody>
          <a:bodyPr wrap="square" lIns="0" tIns="0" rIns="0" bIns="0" rtlCol="0" anchor="ctr"/>
          <a:lstStyle/>
          <a:p>
            <a:pPr algn="r" indent="0" marL="0">
              <a:buNone/>
            </a:pPr>
            <a:r>
              <a:rPr lang="en-US" sz="800" dirty="0">
                <a:solidFill>
                  <a:srgbClr val="7A88A8"/>
                </a:solidFill>
                <a:latin typeface="Calibri" pitchFamily="34" charset="0"/>
                <a:ea typeface="Calibri" pitchFamily="34" charset="-122"/>
                <a:cs typeface="Calibri" pitchFamily="34" charset="-120"/>
              </a:rPr>
              <a:t>17 / 20</a:t>
            </a:r>
            <a:endParaRPr lang="en-US" sz="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hape 0"/>
          <p:cNvSpPr/>
          <p:nvPr/>
        </p:nvSpPr>
        <p:spPr>
          <a:xfrm>
            <a:off x="0" y="0"/>
            <a:ext cx="16256000" cy="81280"/>
          </a:xfrm>
          <a:prstGeom prst="rect">
            <a:avLst/>
          </a:prstGeom>
          <a:solidFill>
            <a:srgbClr val="D4943A"/>
          </a:solidFill>
          <a:ln/>
        </p:spPr>
      </p:sp>
      <p:sp>
        <p:nvSpPr>
          <p:cNvPr id="3" name="Shape 1"/>
          <p:cNvSpPr/>
          <p:nvPr/>
        </p:nvSpPr>
        <p:spPr>
          <a:xfrm>
            <a:off x="0" y="81280"/>
            <a:ext cx="16256000" cy="9062720"/>
          </a:xfrm>
          <a:prstGeom prst="rect">
            <a:avLst/>
          </a:prstGeom>
          <a:solidFill>
            <a:srgbClr val="F0F2F8"/>
          </a:solidFill>
          <a:ln/>
        </p:spPr>
      </p:sp>
      <p:sp>
        <p:nvSpPr>
          <p:cNvPr id="4" name="Text 2"/>
          <p:cNvSpPr/>
          <p:nvPr/>
        </p:nvSpPr>
        <p:spPr>
          <a:xfrm>
            <a:off x="812800" y="487680"/>
            <a:ext cx="4876800" cy="487680"/>
          </a:xfrm>
          <a:prstGeom prst="rect">
            <a:avLst/>
          </a:prstGeom>
          <a:noFill/>
          <a:ln/>
        </p:spPr>
        <p:txBody>
          <a:bodyPr wrap="square" lIns="0" tIns="0" rIns="0" bIns="0" rtlCol="0" anchor="ctr"/>
          <a:lstStyle/>
          <a:p>
            <a:pPr indent="0" marL="0">
              <a:buNone/>
            </a:pPr>
            <a:r>
              <a:rPr lang="en-US" sz="1000" b="1" spc="200" kern="0" dirty="0">
                <a:solidFill>
                  <a:srgbClr val="1A8A7D"/>
                </a:solidFill>
                <a:latin typeface="Calibri" pitchFamily="34" charset="0"/>
                <a:ea typeface="Calibri" pitchFamily="34" charset="-122"/>
                <a:cs typeface="Calibri" pitchFamily="34" charset="-120"/>
              </a:rPr>
              <a:t>SELF-CHECK</a:t>
            </a:r>
            <a:endParaRPr lang="en-US" sz="1000" dirty="0"/>
          </a:p>
        </p:txBody>
      </p:sp>
      <p:sp>
        <p:nvSpPr>
          <p:cNvPr id="5" name="Text 3"/>
          <p:cNvSpPr/>
          <p:nvPr/>
        </p:nvSpPr>
        <p:spPr>
          <a:xfrm>
            <a:off x="812800" y="1056640"/>
            <a:ext cx="14630400" cy="812800"/>
          </a:xfrm>
          <a:prstGeom prst="rect">
            <a:avLst/>
          </a:prstGeom>
          <a:noFill/>
          <a:ln/>
        </p:spPr>
        <p:txBody>
          <a:bodyPr wrap="square" lIns="0" tIns="0" rIns="0" bIns="0" rtlCol="0" anchor="ctr"/>
          <a:lstStyle/>
          <a:p>
            <a:pPr indent="0" marL="0">
              <a:buNone/>
            </a:pPr>
            <a:r>
              <a:rPr lang="en-US" sz="2400" b="1" dirty="0">
                <a:solidFill>
                  <a:srgbClr val="0E1C42"/>
                </a:solidFill>
                <a:latin typeface="Cambria" pitchFamily="34" charset="0"/>
                <a:ea typeface="Cambria" pitchFamily="34" charset="-122"/>
                <a:cs typeface="Cambria" pitchFamily="34" charset="-120"/>
              </a:rPr>
              <a:t>Test Your Memory</a:t>
            </a:r>
            <a:endParaRPr lang="en-US" sz="2400" dirty="0"/>
          </a:p>
        </p:txBody>
      </p:sp>
      <p:sp>
        <p:nvSpPr>
          <p:cNvPr id="6" name="Shape 4"/>
          <p:cNvSpPr/>
          <p:nvPr/>
        </p:nvSpPr>
        <p:spPr>
          <a:xfrm>
            <a:off x="812800" y="2032000"/>
            <a:ext cx="14630400" cy="1869440"/>
          </a:xfrm>
          <a:prstGeom prst="roundRect">
            <a:avLst>
              <a:gd name="adj" fmla="val 8696"/>
            </a:avLst>
          </a:prstGeom>
          <a:solidFill>
            <a:srgbClr val="FFFFFF"/>
          </a:solidFill>
          <a:ln/>
          <a:effectLst>
            <a:outerShdw sx="100000" sy="100000" kx="0" ky="0" algn="bl" rotWithShape="0" blurRad="50800" dist="12700" dir="8100000">
              <a:srgbClr val="000000">
                <a:alpha val="8000"/>
              </a:srgbClr>
            </a:outerShdw>
          </a:effectLst>
        </p:spPr>
      </p:sp>
      <p:sp>
        <p:nvSpPr>
          <p:cNvPr id="7" name="Text 5"/>
          <p:cNvSpPr/>
          <p:nvPr/>
        </p:nvSpPr>
        <p:spPr>
          <a:xfrm>
            <a:off x="1137920" y="2113280"/>
            <a:ext cx="13980160" cy="487680"/>
          </a:xfrm>
          <a:prstGeom prst="rect">
            <a:avLst/>
          </a:prstGeom>
          <a:noFill/>
          <a:ln/>
        </p:spPr>
        <p:txBody>
          <a:bodyPr wrap="square" lIns="0" tIns="0" rIns="0" bIns="0" rtlCol="0" anchor="ctr"/>
          <a:lstStyle/>
          <a:p>
            <a:pPr indent="0" marL="0">
              <a:buNone/>
            </a:pPr>
            <a:r>
              <a:rPr lang="en-US" sz="1200" b="1" dirty="0">
                <a:solidFill>
                  <a:srgbClr val="0E1C42"/>
                </a:solidFill>
                <a:latin typeface="Calibri" pitchFamily="34" charset="0"/>
                <a:ea typeface="Calibri" pitchFamily="34" charset="-122"/>
                <a:cs typeface="Calibri" pitchFamily="34" charset="-120"/>
              </a:rPr>
              <a:t>1. Which country sits in the middle, between Canada and Mexico?</a:t>
            </a:r>
            <a:endParaRPr lang="en-US" sz="1200" dirty="0"/>
          </a:p>
        </p:txBody>
      </p:sp>
      <p:sp>
        <p:nvSpPr>
          <p:cNvPr id="8" name="Text 6"/>
          <p:cNvSpPr/>
          <p:nvPr/>
        </p:nvSpPr>
        <p:spPr>
          <a:xfrm>
            <a:off x="1137920" y="2682240"/>
            <a:ext cx="13980160" cy="406400"/>
          </a:xfrm>
          <a:prstGeom prst="rect">
            <a:avLst/>
          </a:prstGeom>
          <a:noFill/>
          <a:ln/>
        </p:spPr>
        <p:txBody>
          <a:bodyPr wrap="square" lIns="0" tIns="0" rIns="0" bIns="0" rtlCol="0" anchor="ctr"/>
          <a:lstStyle/>
          <a:p>
            <a:pPr indent="0" marL="0">
              <a:buNone/>
            </a:pPr>
            <a:r>
              <a:rPr lang="en-US" sz="1100" dirty="0">
                <a:solidFill>
                  <a:srgbClr val="0E1C42"/>
                </a:solidFill>
                <a:latin typeface="Calibri" pitchFamily="34" charset="0"/>
                <a:ea typeface="Calibri" pitchFamily="34" charset="-122"/>
                <a:cs typeface="Calibri" pitchFamily="34" charset="-120"/>
              </a:rPr>
              <a:t>A) Cuba     B) The United States     C) Canada</a:t>
            </a:r>
            <a:endParaRPr lang="en-US" sz="1100" dirty="0"/>
          </a:p>
        </p:txBody>
      </p:sp>
      <p:sp>
        <p:nvSpPr>
          <p:cNvPr id="9" name="Text 7"/>
          <p:cNvSpPr/>
          <p:nvPr/>
        </p:nvSpPr>
        <p:spPr>
          <a:xfrm>
            <a:off x="1137920" y="3169920"/>
            <a:ext cx="13980160" cy="406400"/>
          </a:xfrm>
          <a:prstGeom prst="rect">
            <a:avLst/>
          </a:prstGeom>
          <a:noFill/>
          <a:ln/>
        </p:spPr>
        <p:txBody>
          <a:bodyPr wrap="square" lIns="0" tIns="0" rIns="0" bIns="0" rtlCol="0" anchor="ctr"/>
          <a:lstStyle/>
          <a:p>
            <a:pPr indent="0" marL="0">
              <a:buNone/>
            </a:pPr>
            <a:r>
              <a:rPr lang="en-US" sz="1100" b="1" dirty="0">
                <a:solidFill>
                  <a:srgbClr val="34B76F"/>
                </a:solidFill>
                <a:latin typeface="Calibri" pitchFamily="34" charset="0"/>
                <a:ea typeface="Calibri" pitchFamily="34" charset="-122"/>
                <a:cs typeface="Calibri" pitchFamily="34" charset="-120"/>
              </a:rPr>
              <a:t>Answer: B</a:t>
            </a:r>
            <a:endParaRPr lang="en-US" sz="1100" dirty="0"/>
          </a:p>
        </p:txBody>
      </p:sp>
      <p:sp>
        <p:nvSpPr>
          <p:cNvPr id="10" name="Shape 8"/>
          <p:cNvSpPr/>
          <p:nvPr/>
        </p:nvSpPr>
        <p:spPr>
          <a:xfrm>
            <a:off x="812800" y="4145280"/>
            <a:ext cx="14630400" cy="1869440"/>
          </a:xfrm>
          <a:prstGeom prst="roundRect">
            <a:avLst>
              <a:gd name="adj" fmla="val 8696"/>
            </a:avLst>
          </a:prstGeom>
          <a:solidFill>
            <a:srgbClr val="FFFFFF"/>
          </a:solidFill>
          <a:ln/>
          <a:effectLst>
            <a:outerShdw sx="100000" sy="100000" kx="0" ky="0" algn="bl" rotWithShape="0" blurRad="50800" dist="12700" dir="8100000">
              <a:srgbClr val="000000">
                <a:alpha val="8000"/>
              </a:srgbClr>
            </a:outerShdw>
          </a:effectLst>
        </p:spPr>
      </p:sp>
      <p:sp>
        <p:nvSpPr>
          <p:cNvPr id="11" name="Text 9"/>
          <p:cNvSpPr/>
          <p:nvPr/>
        </p:nvSpPr>
        <p:spPr>
          <a:xfrm>
            <a:off x="1137920" y="4226560"/>
            <a:ext cx="13980160" cy="487680"/>
          </a:xfrm>
          <a:prstGeom prst="rect">
            <a:avLst/>
          </a:prstGeom>
          <a:noFill/>
          <a:ln/>
        </p:spPr>
        <p:txBody>
          <a:bodyPr wrap="square" lIns="0" tIns="0" rIns="0" bIns="0" rtlCol="0" anchor="ctr"/>
          <a:lstStyle/>
          <a:p>
            <a:pPr indent="0" marL="0">
              <a:buNone/>
            </a:pPr>
            <a:r>
              <a:rPr lang="en-US" sz="1200" b="1" dirty="0">
                <a:solidFill>
                  <a:srgbClr val="0E1C42"/>
                </a:solidFill>
                <a:latin typeface="Calibri" pitchFamily="34" charset="0"/>
                <a:ea typeface="Calibri" pitchFamily="34" charset="-122"/>
                <a:cs typeface="Calibri" pitchFamily="34" charset="-120"/>
              </a:rPr>
              <a:t>2. Which of these is part of the Caribbean?</a:t>
            </a:r>
            <a:endParaRPr lang="en-US" sz="1200" dirty="0"/>
          </a:p>
        </p:txBody>
      </p:sp>
      <p:sp>
        <p:nvSpPr>
          <p:cNvPr id="12" name="Text 10"/>
          <p:cNvSpPr/>
          <p:nvPr/>
        </p:nvSpPr>
        <p:spPr>
          <a:xfrm>
            <a:off x="1137920" y="4795520"/>
            <a:ext cx="13980160" cy="406400"/>
          </a:xfrm>
          <a:prstGeom prst="rect">
            <a:avLst/>
          </a:prstGeom>
          <a:noFill/>
          <a:ln/>
        </p:spPr>
        <p:txBody>
          <a:bodyPr wrap="square" lIns="0" tIns="0" rIns="0" bIns="0" rtlCol="0" anchor="ctr"/>
          <a:lstStyle/>
          <a:p>
            <a:pPr indent="0" marL="0">
              <a:buNone/>
            </a:pPr>
            <a:r>
              <a:rPr lang="en-US" sz="1100" dirty="0">
                <a:solidFill>
                  <a:srgbClr val="0E1C42"/>
                </a:solidFill>
                <a:latin typeface="Calibri" pitchFamily="34" charset="0"/>
                <a:ea typeface="Calibri" pitchFamily="34" charset="-122"/>
                <a:cs typeface="Calibri" pitchFamily="34" charset="-120"/>
              </a:rPr>
              <a:t>A) Mexico City     B) Ottawa     C) Cuba</a:t>
            </a:r>
            <a:endParaRPr lang="en-US" sz="1100" dirty="0"/>
          </a:p>
        </p:txBody>
      </p:sp>
      <p:sp>
        <p:nvSpPr>
          <p:cNvPr id="13" name="Text 11"/>
          <p:cNvSpPr/>
          <p:nvPr/>
        </p:nvSpPr>
        <p:spPr>
          <a:xfrm>
            <a:off x="1137920" y="5283200"/>
            <a:ext cx="13980160" cy="406400"/>
          </a:xfrm>
          <a:prstGeom prst="rect">
            <a:avLst/>
          </a:prstGeom>
          <a:noFill/>
          <a:ln/>
        </p:spPr>
        <p:txBody>
          <a:bodyPr wrap="square" lIns="0" tIns="0" rIns="0" bIns="0" rtlCol="0" anchor="ctr"/>
          <a:lstStyle/>
          <a:p>
            <a:pPr indent="0" marL="0">
              <a:buNone/>
            </a:pPr>
            <a:r>
              <a:rPr lang="en-US" sz="1100" b="1" dirty="0">
                <a:solidFill>
                  <a:srgbClr val="34B76F"/>
                </a:solidFill>
                <a:latin typeface="Calibri" pitchFamily="34" charset="0"/>
                <a:ea typeface="Calibri" pitchFamily="34" charset="-122"/>
                <a:cs typeface="Calibri" pitchFamily="34" charset="-120"/>
              </a:rPr>
              <a:t>Answer: C</a:t>
            </a:r>
            <a:endParaRPr lang="en-US" sz="1100" dirty="0"/>
          </a:p>
        </p:txBody>
      </p:sp>
      <p:sp>
        <p:nvSpPr>
          <p:cNvPr id="14" name="Shape 12"/>
          <p:cNvSpPr/>
          <p:nvPr/>
        </p:nvSpPr>
        <p:spPr>
          <a:xfrm>
            <a:off x="812800" y="6258560"/>
            <a:ext cx="14630400" cy="1869440"/>
          </a:xfrm>
          <a:prstGeom prst="roundRect">
            <a:avLst>
              <a:gd name="adj" fmla="val 8696"/>
            </a:avLst>
          </a:prstGeom>
          <a:solidFill>
            <a:srgbClr val="FFFFFF"/>
          </a:solidFill>
          <a:ln/>
          <a:effectLst>
            <a:outerShdw sx="100000" sy="100000" kx="0" ky="0" algn="bl" rotWithShape="0" blurRad="50800" dist="12700" dir="8100000">
              <a:srgbClr val="000000">
                <a:alpha val="8000"/>
              </a:srgbClr>
            </a:outerShdw>
          </a:effectLst>
        </p:spPr>
      </p:sp>
      <p:sp>
        <p:nvSpPr>
          <p:cNvPr id="15" name="Text 13"/>
          <p:cNvSpPr/>
          <p:nvPr/>
        </p:nvSpPr>
        <p:spPr>
          <a:xfrm>
            <a:off x="1137920" y="6339840"/>
            <a:ext cx="13980160" cy="487680"/>
          </a:xfrm>
          <a:prstGeom prst="rect">
            <a:avLst/>
          </a:prstGeom>
          <a:noFill/>
          <a:ln/>
        </p:spPr>
        <p:txBody>
          <a:bodyPr wrap="square" lIns="0" tIns="0" rIns="0" bIns="0" rtlCol="0" anchor="ctr"/>
          <a:lstStyle/>
          <a:p>
            <a:pPr indent="0" marL="0">
              <a:buNone/>
            </a:pPr>
            <a:r>
              <a:rPr lang="en-US" sz="1200" b="1" dirty="0">
                <a:solidFill>
                  <a:srgbClr val="0E1C42"/>
                </a:solidFill>
                <a:latin typeface="Calibri" pitchFamily="34" charset="0"/>
                <a:ea typeface="Calibri" pitchFamily="34" charset="-122"/>
                <a:cs typeface="Calibri" pitchFamily="34" charset="-120"/>
              </a:rPr>
              <a:t>3. Why do curators study these four places as one region?</a:t>
            </a:r>
            <a:endParaRPr lang="en-US" sz="1200" dirty="0"/>
          </a:p>
        </p:txBody>
      </p:sp>
      <p:sp>
        <p:nvSpPr>
          <p:cNvPr id="16" name="Text 14"/>
          <p:cNvSpPr/>
          <p:nvPr/>
        </p:nvSpPr>
        <p:spPr>
          <a:xfrm>
            <a:off x="1137920" y="6908800"/>
            <a:ext cx="13980160" cy="406400"/>
          </a:xfrm>
          <a:prstGeom prst="rect">
            <a:avLst/>
          </a:prstGeom>
          <a:noFill/>
          <a:ln/>
        </p:spPr>
        <p:txBody>
          <a:bodyPr wrap="square" lIns="0" tIns="0" rIns="0" bIns="0" rtlCol="0" anchor="ctr"/>
          <a:lstStyle/>
          <a:p>
            <a:pPr indent="0" marL="0">
              <a:buNone/>
            </a:pPr>
            <a:r>
              <a:rPr lang="en-US" sz="1100" dirty="0">
                <a:solidFill>
                  <a:srgbClr val="0E1C42"/>
                </a:solidFill>
                <a:latin typeface="Calibri" pitchFamily="34" charset="0"/>
                <a:ea typeface="Calibri" pitchFamily="34" charset="-122"/>
                <a:cs typeface="Calibri" pitchFamily="34" charset="-120"/>
              </a:rPr>
              <a:t>A) They sit close together     B) Same language     C) Same size</a:t>
            </a:r>
            <a:endParaRPr lang="en-US" sz="1100" dirty="0"/>
          </a:p>
        </p:txBody>
      </p:sp>
      <p:sp>
        <p:nvSpPr>
          <p:cNvPr id="17" name="Text 15"/>
          <p:cNvSpPr/>
          <p:nvPr/>
        </p:nvSpPr>
        <p:spPr>
          <a:xfrm>
            <a:off x="1137920" y="7396480"/>
            <a:ext cx="13980160" cy="406400"/>
          </a:xfrm>
          <a:prstGeom prst="rect">
            <a:avLst/>
          </a:prstGeom>
          <a:noFill/>
          <a:ln/>
        </p:spPr>
        <p:txBody>
          <a:bodyPr wrap="square" lIns="0" tIns="0" rIns="0" bIns="0" rtlCol="0" anchor="ctr"/>
          <a:lstStyle/>
          <a:p>
            <a:pPr indent="0" marL="0">
              <a:buNone/>
            </a:pPr>
            <a:r>
              <a:rPr lang="en-US" sz="1100" b="1" dirty="0">
                <a:solidFill>
                  <a:srgbClr val="34B76F"/>
                </a:solidFill>
                <a:latin typeface="Calibri" pitchFamily="34" charset="0"/>
                <a:ea typeface="Calibri" pitchFamily="34" charset="-122"/>
                <a:cs typeface="Calibri" pitchFamily="34" charset="-120"/>
              </a:rPr>
              <a:t>Answer: A — They sit close together in the same part of the world.</a:t>
            </a:r>
            <a:endParaRPr lang="en-US" sz="1100" dirty="0"/>
          </a:p>
        </p:txBody>
      </p:sp>
      <p:sp>
        <p:nvSpPr>
          <p:cNvPr id="18" name="Text 16"/>
          <p:cNvSpPr/>
          <p:nvPr/>
        </p:nvSpPr>
        <p:spPr>
          <a:xfrm>
            <a:off x="14305280" y="8534400"/>
            <a:ext cx="1463040" cy="406400"/>
          </a:xfrm>
          <a:prstGeom prst="rect">
            <a:avLst/>
          </a:prstGeom>
          <a:noFill/>
          <a:ln/>
        </p:spPr>
        <p:txBody>
          <a:bodyPr wrap="square" lIns="0" tIns="0" rIns="0" bIns="0" rtlCol="0" anchor="ctr"/>
          <a:lstStyle/>
          <a:p>
            <a:pPr algn="r" indent="0" marL="0">
              <a:buNone/>
            </a:pPr>
            <a:r>
              <a:rPr lang="en-US" sz="800" dirty="0">
                <a:solidFill>
                  <a:srgbClr val="7A88A8"/>
                </a:solidFill>
                <a:latin typeface="Calibri" pitchFamily="34" charset="0"/>
                <a:ea typeface="Calibri" pitchFamily="34" charset="-122"/>
                <a:cs typeface="Calibri" pitchFamily="34" charset="-120"/>
              </a:rPr>
              <a:t>18 / 20</a:t>
            </a:r>
            <a:endParaRPr lang="en-US" sz="8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Shape 0"/>
          <p:cNvSpPr/>
          <p:nvPr/>
        </p:nvSpPr>
        <p:spPr>
          <a:xfrm>
            <a:off x="0" y="0"/>
            <a:ext cx="16256000" cy="81280"/>
          </a:xfrm>
          <a:prstGeom prst="rect">
            <a:avLst/>
          </a:prstGeom>
          <a:solidFill>
            <a:srgbClr val="D4943A"/>
          </a:solidFill>
          <a:ln/>
        </p:spPr>
      </p:sp>
      <p:sp>
        <p:nvSpPr>
          <p:cNvPr id="3" name="Shape 1"/>
          <p:cNvSpPr/>
          <p:nvPr/>
        </p:nvSpPr>
        <p:spPr>
          <a:xfrm>
            <a:off x="0" y="81280"/>
            <a:ext cx="16256000" cy="9062720"/>
          </a:xfrm>
          <a:prstGeom prst="rect">
            <a:avLst/>
          </a:prstGeom>
          <a:solidFill>
            <a:srgbClr val="FFFFFF"/>
          </a:solidFill>
          <a:ln/>
        </p:spPr>
      </p:sp>
      <p:sp>
        <p:nvSpPr>
          <p:cNvPr id="4" name="Text 2"/>
          <p:cNvSpPr/>
          <p:nvPr/>
        </p:nvSpPr>
        <p:spPr>
          <a:xfrm>
            <a:off x="812800" y="487680"/>
            <a:ext cx="11379200" cy="487680"/>
          </a:xfrm>
          <a:prstGeom prst="rect">
            <a:avLst/>
          </a:prstGeom>
          <a:noFill/>
          <a:ln/>
        </p:spPr>
        <p:txBody>
          <a:bodyPr wrap="square" lIns="0" tIns="0" rIns="0" bIns="0" rtlCol="0" anchor="ctr"/>
          <a:lstStyle/>
          <a:p>
            <a:pPr indent="0" marL="0">
              <a:buNone/>
            </a:pPr>
            <a:r>
              <a:rPr lang="en-US" sz="1000" b="1" spc="150" kern="0" dirty="0">
                <a:solidFill>
                  <a:srgbClr val="D4943A"/>
                </a:solidFill>
                <a:latin typeface="Calibri" pitchFamily="34" charset="0"/>
                <a:ea typeface="Calibri" pitchFamily="34" charset="-122"/>
                <a:cs typeface="Calibri" pitchFamily="34" charset="-120"/>
              </a:rPr>
              <a:t>ASSIGNMENT  |  WHAT YOU'LL TURN IN</a:t>
            </a:r>
            <a:endParaRPr lang="en-US" sz="1000" dirty="0"/>
          </a:p>
        </p:txBody>
      </p:sp>
      <p:sp>
        <p:nvSpPr>
          <p:cNvPr id="5" name="Text 3"/>
          <p:cNvSpPr/>
          <p:nvPr/>
        </p:nvSpPr>
        <p:spPr>
          <a:xfrm>
            <a:off x="812800" y="1056640"/>
            <a:ext cx="14630400" cy="731520"/>
          </a:xfrm>
          <a:prstGeom prst="rect">
            <a:avLst/>
          </a:prstGeom>
          <a:noFill/>
          <a:ln/>
        </p:spPr>
        <p:txBody>
          <a:bodyPr wrap="square" lIns="0" tIns="0" rIns="0" bIns="0" rtlCol="0" anchor="ctr"/>
          <a:lstStyle/>
          <a:p>
            <a:pPr indent="0" marL="0">
              <a:buNone/>
            </a:pPr>
            <a:r>
              <a:rPr lang="en-US" sz="2200" b="1" dirty="0">
                <a:solidFill>
                  <a:srgbClr val="0E1C42"/>
                </a:solidFill>
                <a:latin typeface="Cambria" pitchFamily="34" charset="0"/>
                <a:ea typeface="Cambria" pitchFamily="34" charset="-122"/>
                <a:cs typeface="Cambria" pitchFamily="34" charset="-120"/>
              </a:rPr>
              <a:t>Complete on Your Lesson Page</a:t>
            </a:r>
            <a:endParaRPr lang="en-US" sz="2200" dirty="0"/>
          </a:p>
        </p:txBody>
      </p:sp>
      <p:sp>
        <p:nvSpPr>
          <p:cNvPr id="6" name="Shape 4"/>
          <p:cNvSpPr/>
          <p:nvPr/>
        </p:nvSpPr>
        <p:spPr>
          <a:xfrm>
            <a:off x="812800" y="2113280"/>
            <a:ext cx="6990080" cy="3901440"/>
          </a:xfrm>
          <a:prstGeom prst="roundRect">
            <a:avLst>
              <a:gd name="adj" fmla="val 5000"/>
            </a:avLst>
          </a:prstGeom>
          <a:solidFill>
            <a:srgbClr val="F0F2F8"/>
          </a:solidFill>
          <a:ln/>
          <a:effectLst>
            <a:outerShdw sx="100000" sy="100000" kx="0" ky="0" algn="bl" rotWithShape="0" blurRad="76200" dist="25400" dir="8100000">
              <a:srgbClr val="000000">
                <a:alpha val="10000"/>
              </a:srgbClr>
            </a:outerShdw>
          </a:effectLst>
        </p:spPr>
      </p:sp>
      <p:sp>
        <p:nvSpPr>
          <p:cNvPr id="7" name="Text 5"/>
          <p:cNvSpPr/>
          <p:nvPr/>
        </p:nvSpPr>
        <p:spPr>
          <a:xfrm>
            <a:off x="1137920" y="2275840"/>
            <a:ext cx="6339840" cy="406400"/>
          </a:xfrm>
          <a:prstGeom prst="rect">
            <a:avLst/>
          </a:prstGeom>
          <a:noFill/>
          <a:ln/>
        </p:spPr>
        <p:txBody>
          <a:bodyPr wrap="square" lIns="0" tIns="0" rIns="0" bIns="0" rtlCol="0" anchor="ctr"/>
          <a:lstStyle/>
          <a:p>
            <a:pPr indent="0" marL="0">
              <a:buNone/>
            </a:pPr>
            <a:r>
              <a:rPr lang="en-US" sz="900" b="1" spc="150" kern="0" dirty="0">
                <a:solidFill>
                  <a:srgbClr val="1A8A7D"/>
                </a:solidFill>
                <a:latin typeface="Calibri" pitchFamily="34" charset="0"/>
                <a:ea typeface="Calibri" pitchFamily="34" charset="-122"/>
                <a:cs typeface="Calibri" pitchFamily="34" charset="-120"/>
              </a:rPr>
              <a:t>EVIDENCE QUESTIONS</a:t>
            </a:r>
            <a:endParaRPr lang="en-US" sz="900" dirty="0"/>
          </a:p>
        </p:txBody>
      </p:sp>
      <p:sp>
        <p:nvSpPr>
          <p:cNvPr id="8" name="Text 6"/>
          <p:cNvSpPr/>
          <p:nvPr/>
        </p:nvSpPr>
        <p:spPr>
          <a:xfrm>
            <a:off x="1137920" y="2763520"/>
            <a:ext cx="6339840" cy="3088640"/>
          </a:xfrm>
          <a:prstGeom prst="rect">
            <a:avLst/>
          </a:prstGeom>
          <a:noFill/>
          <a:ln/>
        </p:spPr>
        <p:txBody>
          <a:bodyPr wrap="square" lIns="0" tIns="0" rIns="0" bIns="0" rtlCol="0" anchor="t"/>
          <a:lstStyle/>
          <a:p>
            <a:pPr indent="0" marL="0">
              <a:spcAft>
                <a:spcPts val="800"/>
              </a:spcAft>
              <a:buNone/>
            </a:pPr>
            <a:r>
              <a:rPr lang="en-US" sz="1100" dirty="0">
                <a:solidFill>
                  <a:srgbClr val="0E1C42"/>
                </a:solidFill>
                <a:latin typeface="Calibri" pitchFamily="34" charset="0"/>
                <a:ea typeface="Calibri" pitchFamily="34" charset="-122"/>
                <a:cs typeface="Calibri" pitchFamily="34" charset="-120"/>
              </a:rPr>
              <a:t>1. Where is Canada compared to the United States, and where is Mexico compared to the United States? Use direction words like north and south.</a:t>
            </a:r>
            <a:pPr indent="0" marL="0">
              <a:spcAft>
                <a:spcPts val="400"/>
              </a:spcAft>
              <a:buNone/>
            </a:pPr>
            <a:r>
              <a:rPr lang="en-US" sz="1100" dirty="0">
                <a:solidFill>
                  <a:srgbClr val="0E1C42"/>
                </a:solidFill>
                <a:latin typeface="Calibri" pitchFamily="34" charset="0"/>
                <a:ea typeface="Calibri" pitchFamily="34" charset="-122"/>
                <a:cs typeface="Calibri" pitchFamily="34" charset="-120"/>
              </a:rPr>
              <a:t>2. What makes the Caribbean different from the other three places in this region? Give one piece of evidence from the lesson.</a:t>
            </a:r>
            <a:endParaRPr lang="en-US" sz="1100" dirty="0"/>
          </a:p>
        </p:txBody>
      </p:sp>
      <p:sp>
        <p:nvSpPr>
          <p:cNvPr id="9" name="Shape 7"/>
          <p:cNvSpPr/>
          <p:nvPr/>
        </p:nvSpPr>
        <p:spPr>
          <a:xfrm>
            <a:off x="8453120" y="2113280"/>
            <a:ext cx="6990080" cy="3901440"/>
          </a:xfrm>
          <a:prstGeom prst="roundRect">
            <a:avLst>
              <a:gd name="adj" fmla="val 5000"/>
            </a:avLst>
          </a:prstGeom>
          <a:solidFill>
            <a:srgbClr val="FFF3DC"/>
          </a:solidFill>
          <a:ln/>
          <a:effectLst>
            <a:outerShdw sx="100000" sy="100000" kx="0" ky="0" algn="bl" rotWithShape="0" blurRad="76200" dist="25400" dir="8100000">
              <a:srgbClr val="000000">
                <a:alpha val="10000"/>
              </a:srgbClr>
            </a:outerShdw>
          </a:effectLst>
        </p:spPr>
      </p:sp>
      <p:sp>
        <p:nvSpPr>
          <p:cNvPr id="10" name="Text 8"/>
          <p:cNvSpPr/>
          <p:nvPr/>
        </p:nvSpPr>
        <p:spPr>
          <a:xfrm>
            <a:off x="8778240" y="2275840"/>
            <a:ext cx="6339840" cy="406400"/>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CURATOR TASK</a:t>
            </a:r>
            <a:endParaRPr lang="en-US" sz="900" dirty="0"/>
          </a:p>
        </p:txBody>
      </p:sp>
      <p:sp>
        <p:nvSpPr>
          <p:cNvPr id="11" name="Text 9"/>
          <p:cNvSpPr/>
          <p:nvPr/>
        </p:nvSpPr>
        <p:spPr>
          <a:xfrm>
            <a:off x="8778240" y="2763520"/>
            <a:ext cx="6339840" cy="3088640"/>
          </a:xfrm>
          <a:prstGeom prst="rect">
            <a:avLst/>
          </a:prstGeom>
          <a:noFill/>
          <a:ln/>
        </p:spPr>
        <p:txBody>
          <a:bodyPr wrap="square" lIns="0" tIns="0" rIns="0" bIns="0" rtlCol="0" anchor="ctr"/>
          <a:lstStyle/>
          <a:p>
            <a:pPr indent="0" marL="0">
              <a:lnSpc>
                <a:spcPct val="130000"/>
              </a:lnSpc>
              <a:buNone/>
            </a:pPr>
            <a:r>
              <a:rPr lang="en-US" sz="1100" dirty="0">
                <a:solidFill>
                  <a:srgbClr val="0E1C42"/>
                </a:solidFill>
                <a:latin typeface="Calibri" pitchFamily="34" charset="0"/>
                <a:ea typeface="Calibri" pitchFamily="34" charset="-122"/>
                <a:cs typeface="Calibri" pitchFamily="34" charset="-120"/>
              </a:rPr>
              <a:t>Gallery Welcome Label</a:t>
            </a:r>
            <a:endParaRPr lang="en-US" sz="1100" dirty="0"/>
          </a:p>
          <a:p>
            <a:pPr indent="0" marL="0">
              <a:lnSpc>
                <a:spcPct val="130000"/>
              </a:lnSpc>
              <a:buNone/>
            </a:pPr>
            <a:endParaRPr lang="en-US" sz="1100" dirty="0"/>
          </a:p>
          <a:p>
            <a:pPr indent="0" marL="0">
              <a:lnSpc>
                <a:spcPct val="130000"/>
              </a:lnSpc>
              <a:buNone/>
            </a:pPr>
            <a:r>
              <a:rPr lang="en-US" sz="1100" dirty="0">
                <a:solidFill>
                  <a:srgbClr val="0E1C42"/>
                </a:solidFill>
                <a:latin typeface="Calibri" pitchFamily="34" charset="0"/>
                <a:ea typeface="Calibri" pitchFamily="34" charset="-122"/>
                <a:cs typeface="Calibri" pitchFamily="34" charset="-120"/>
              </a:rPr>
              <a:t>Write 3-4 sentences: name all four places, tell where each sits using direction words, and give one reason they are studied together.</a:t>
            </a:r>
            <a:endParaRPr lang="en-US" sz="1100" dirty="0"/>
          </a:p>
        </p:txBody>
      </p:sp>
      <p:sp>
        <p:nvSpPr>
          <p:cNvPr id="12" name="Shape 10"/>
          <p:cNvSpPr/>
          <p:nvPr/>
        </p:nvSpPr>
        <p:spPr>
          <a:xfrm>
            <a:off x="812800" y="6339840"/>
            <a:ext cx="14630400" cy="1788160"/>
          </a:xfrm>
          <a:prstGeom prst="roundRect">
            <a:avLst>
              <a:gd name="adj" fmla="val 10909"/>
            </a:avLst>
          </a:prstGeom>
          <a:solidFill>
            <a:srgbClr val="FFF8F0"/>
          </a:solidFill>
          <a:ln/>
        </p:spPr>
      </p:sp>
      <p:sp>
        <p:nvSpPr>
          <p:cNvPr id="13" name="Text 11"/>
          <p:cNvSpPr/>
          <p:nvPr/>
        </p:nvSpPr>
        <p:spPr>
          <a:xfrm>
            <a:off x="1137920" y="6421120"/>
            <a:ext cx="13980160" cy="406400"/>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CURATOR'S CHRONICLE</a:t>
            </a:r>
            <a:endParaRPr lang="en-US" sz="900" dirty="0"/>
          </a:p>
        </p:txBody>
      </p:sp>
      <p:sp>
        <p:nvSpPr>
          <p:cNvPr id="14" name="Text 12"/>
          <p:cNvSpPr/>
          <p:nvPr/>
        </p:nvSpPr>
        <p:spPr>
          <a:xfrm>
            <a:off x="1137920" y="6908800"/>
            <a:ext cx="13980160" cy="650240"/>
          </a:xfrm>
          <a:prstGeom prst="rect">
            <a:avLst/>
          </a:prstGeom>
          <a:noFill/>
          <a:ln/>
        </p:spPr>
        <p:txBody>
          <a:bodyPr wrap="square" lIns="0" tIns="0" rIns="0" bIns="0" rtlCol="0" anchor="ctr"/>
          <a:lstStyle/>
          <a:p>
            <a:pPr indent="0" marL="0">
              <a:buNone/>
            </a:pPr>
            <a:r>
              <a:rPr lang="en-US" sz="1300" i="1" dirty="0">
                <a:solidFill>
                  <a:srgbClr val="0E1C42"/>
                </a:solidFill>
                <a:latin typeface="Cambria" pitchFamily="34" charset="0"/>
                <a:ea typeface="Cambria" pitchFamily="34" charset="-122"/>
                <a:cs typeface="Cambria" pitchFamily="34" charset="-120"/>
              </a:rPr>
              <a:t>In this exhibit, I learned that ______ because ______.</a:t>
            </a:r>
            <a:endParaRPr lang="en-US" sz="1300" dirty="0"/>
          </a:p>
        </p:txBody>
      </p:sp>
      <p:sp>
        <p:nvSpPr>
          <p:cNvPr id="15" name="Text 13"/>
          <p:cNvSpPr/>
          <p:nvPr/>
        </p:nvSpPr>
        <p:spPr>
          <a:xfrm>
            <a:off x="1137920" y="7640320"/>
            <a:ext cx="13980160" cy="406400"/>
          </a:xfrm>
          <a:prstGeom prst="rect">
            <a:avLst/>
          </a:prstGeom>
          <a:noFill/>
          <a:ln/>
        </p:spPr>
        <p:txBody>
          <a:bodyPr wrap="square" lIns="0" tIns="0" rIns="0" bIns="0" rtlCol="0" anchor="ctr"/>
          <a:lstStyle/>
          <a:p>
            <a:pPr indent="0" marL="0">
              <a:buNone/>
            </a:pPr>
            <a:r>
              <a:rPr lang="en-US" sz="1100" dirty="0">
                <a:solidFill>
                  <a:srgbClr val="7A88A8"/>
                </a:solidFill>
                <a:latin typeface="Calibri" pitchFamily="34" charset="0"/>
                <a:ea typeface="Calibri" pitchFamily="34" charset="-122"/>
                <a:cs typeface="Calibri" pitchFamily="34" charset="-120"/>
              </a:rPr>
              <a:t>Copy or download your answers and submit to Canvas.</a:t>
            </a:r>
            <a:endParaRPr lang="en-US" sz="1100" dirty="0"/>
          </a:p>
        </p:txBody>
      </p:sp>
      <p:sp>
        <p:nvSpPr>
          <p:cNvPr id="16" name="Text 14"/>
          <p:cNvSpPr/>
          <p:nvPr/>
        </p:nvSpPr>
        <p:spPr>
          <a:xfrm>
            <a:off x="14305280" y="8534400"/>
            <a:ext cx="1463040" cy="406400"/>
          </a:xfrm>
          <a:prstGeom prst="rect">
            <a:avLst/>
          </a:prstGeom>
          <a:noFill/>
          <a:ln/>
        </p:spPr>
        <p:txBody>
          <a:bodyPr wrap="square" lIns="0" tIns="0" rIns="0" bIns="0" rtlCol="0" anchor="ctr"/>
          <a:lstStyle/>
          <a:p>
            <a:pPr algn="r" indent="0" marL="0">
              <a:buNone/>
            </a:pPr>
            <a:r>
              <a:rPr lang="en-US" sz="800" dirty="0">
                <a:solidFill>
                  <a:srgbClr val="7A88A8"/>
                </a:solidFill>
                <a:latin typeface="Calibri" pitchFamily="34" charset="0"/>
                <a:ea typeface="Calibri" pitchFamily="34" charset="-122"/>
                <a:cs typeface="Calibri" pitchFamily="34" charset="-120"/>
              </a:rPr>
              <a:t>19 / 20</a:t>
            </a:r>
            <a:endParaRPr lang="en-US" sz="8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Shape 0"/>
          <p:cNvSpPr/>
          <p:nvPr/>
        </p:nvSpPr>
        <p:spPr>
          <a:xfrm>
            <a:off x="0" y="0"/>
            <a:ext cx="16256000" cy="9144000"/>
          </a:xfrm>
          <a:prstGeom prst="rect">
            <a:avLst/>
          </a:prstGeom>
          <a:solidFill>
            <a:srgbClr val="0B1835"/>
          </a:solidFill>
          <a:ln w="19050">
            <a:solidFill>
              <a:srgbClr val="3A5080"/>
            </a:solidFill>
            <a:prstDash val="dash"/>
          </a:ln>
        </p:spPr>
      </p:sp>
      <p:sp>
        <p:nvSpPr>
          <p:cNvPr id="3" name="Shape 1"/>
          <p:cNvSpPr/>
          <p:nvPr/>
        </p:nvSpPr>
        <p:spPr>
          <a:xfrm>
            <a:off x="0" y="0"/>
            <a:ext cx="16256000" cy="9144000"/>
          </a:xfrm>
          <a:prstGeom prst="rect">
            <a:avLst/>
          </a:prstGeom>
          <a:solidFill>
            <a:srgbClr val="0E1C42">
              <a:alpha val="62000"/>
            </a:srgbClr>
          </a:solidFill>
          <a:ln/>
        </p:spPr>
      </p:sp>
      <p:sp>
        <p:nvSpPr>
          <p:cNvPr id="5" name="Text 2"/>
          <p:cNvSpPr/>
          <p:nvPr/>
        </p:nvSpPr>
        <p:spPr>
          <a:xfrm>
            <a:off x="812800" y="812800"/>
            <a:ext cx="14630400" cy="568960"/>
          </a:xfrm>
          <a:prstGeom prst="rect">
            <a:avLst/>
          </a:prstGeom>
          <a:noFill/>
          <a:ln/>
        </p:spPr>
        <p:txBody>
          <a:bodyPr wrap="square" lIns="0" tIns="0" rIns="0" bIns="0" rtlCol="0" anchor="ctr"/>
          <a:lstStyle/>
          <a:p>
            <a:pPr indent="0" marL="0">
              <a:buNone/>
            </a:pPr>
            <a:r>
              <a:rPr lang="en-US" sz="1200" b="1" spc="200" kern="0" dirty="0">
                <a:solidFill>
                  <a:srgbClr val="55C8E8"/>
                </a:solidFill>
                <a:latin typeface="Calibri" pitchFamily="34" charset="0"/>
                <a:ea typeface="Calibri" pitchFamily="34" charset="-122"/>
                <a:cs typeface="Calibri" pitchFamily="34" charset="-120"/>
              </a:rPr>
              <a:t>GREAT WORK, REGIONAL CURATOR!</a:t>
            </a:r>
            <a:endParaRPr lang="en-US" sz="1200" dirty="0"/>
          </a:p>
        </p:txBody>
      </p:sp>
      <p:sp>
        <p:nvSpPr>
          <p:cNvPr id="6" name="Text 3"/>
          <p:cNvSpPr/>
          <p:nvPr/>
        </p:nvSpPr>
        <p:spPr>
          <a:xfrm>
            <a:off x="812800" y="1950720"/>
            <a:ext cx="11379200" cy="130048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You placed the labels.</a:t>
            </a:r>
            <a:endParaRPr lang="en-US" sz="3000" dirty="0"/>
          </a:p>
        </p:txBody>
      </p:sp>
      <p:sp>
        <p:nvSpPr>
          <p:cNvPr id="7" name="Text 4"/>
          <p:cNvSpPr/>
          <p:nvPr/>
        </p:nvSpPr>
        <p:spPr>
          <a:xfrm>
            <a:off x="812800" y="3413760"/>
            <a:ext cx="9753600" cy="1463040"/>
          </a:xfrm>
          <a:prstGeom prst="rect">
            <a:avLst/>
          </a:prstGeom>
          <a:noFill/>
          <a:ln/>
        </p:spPr>
        <p:txBody>
          <a:bodyPr wrap="square" lIns="0" tIns="0" rIns="0" bIns="0" rtlCol="0" anchor="ctr"/>
          <a:lstStyle/>
          <a:p>
            <a:pPr indent="0" marL="0">
              <a:lnSpc>
                <a:spcPct val="130000"/>
              </a:lnSpc>
              <a:buNone/>
            </a:pPr>
            <a:r>
              <a:rPr lang="en-US" sz="1300" dirty="0">
                <a:solidFill>
                  <a:srgbClr val="B8C4E0"/>
                </a:solidFill>
                <a:latin typeface="Calibri" pitchFamily="34" charset="0"/>
                <a:ea typeface="Calibri" pitchFamily="34" charset="-122"/>
                <a:cs typeface="Calibri" pitchFamily="34" charset="-120"/>
              </a:rPr>
              <a:t>You placed Canada, the United States, Mexico, and the Caribbean on the map and wrote the gallery's welcome label. Visitors will know exactly what part of the world this gallery is about.</a:t>
            </a:r>
            <a:endParaRPr lang="en-US" sz="1300" dirty="0"/>
          </a:p>
        </p:txBody>
      </p:sp>
      <p:sp>
        <p:nvSpPr>
          <p:cNvPr id="8" name="Shape 5"/>
          <p:cNvSpPr/>
          <p:nvPr/>
        </p:nvSpPr>
        <p:spPr>
          <a:xfrm>
            <a:off x="812800" y="5201920"/>
            <a:ext cx="1950720" cy="65024"/>
          </a:xfrm>
          <a:prstGeom prst="rect">
            <a:avLst/>
          </a:prstGeom>
          <a:solidFill>
            <a:srgbClr val="D4943A"/>
          </a:solidFill>
          <a:ln/>
        </p:spPr>
      </p:sp>
      <p:sp>
        <p:nvSpPr>
          <p:cNvPr id="9" name="Shape 6"/>
          <p:cNvSpPr/>
          <p:nvPr/>
        </p:nvSpPr>
        <p:spPr>
          <a:xfrm>
            <a:off x="812800" y="5689600"/>
            <a:ext cx="9753600" cy="1950720"/>
          </a:xfrm>
          <a:prstGeom prst="roundRect">
            <a:avLst>
              <a:gd name="adj" fmla="val 10000"/>
            </a:avLst>
          </a:prstGeom>
          <a:solidFill>
            <a:srgbClr val="1A2D5A"/>
          </a:solidFill>
          <a:ln w="12700">
            <a:solidFill>
              <a:srgbClr val="D4943A"/>
            </a:solidFill>
            <a:prstDash val="solid"/>
          </a:ln>
        </p:spPr>
      </p:sp>
      <p:sp>
        <p:nvSpPr>
          <p:cNvPr id="10" name="Text 7"/>
          <p:cNvSpPr/>
          <p:nvPr/>
        </p:nvSpPr>
        <p:spPr>
          <a:xfrm>
            <a:off x="1137920" y="5770880"/>
            <a:ext cx="9103360" cy="406400"/>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COMING NEXT</a:t>
            </a:r>
            <a:endParaRPr lang="en-US" sz="900" dirty="0"/>
          </a:p>
        </p:txBody>
      </p:sp>
      <p:sp>
        <p:nvSpPr>
          <p:cNvPr id="11" name="Text 8"/>
          <p:cNvSpPr/>
          <p:nvPr/>
        </p:nvSpPr>
        <p:spPr>
          <a:xfrm>
            <a:off x="1137920" y="6258560"/>
            <a:ext cx="9103360" cy="1219200"/>
          </a:xfrm>
          <a:prstGeom prst="rect">
            <a:avLst/>
          </a:prstGeom>
          <a:noFill/>
          <a:ln/>
        </p:spPr>
        <p:txBody>
          <a:bodyPr wrap="square" lIns="0" tIns="0" rIns="0" bIns="0" rtlCol="0" anchor="ctr"/>
          <a:lstStyle/>
          <a:p>
            <a:pPr indent="0" marL="0">
              <a:lnSpc>
                <a:spcPct val="125000"/>
              </a:lnSpc>
              <a:buNone/>
            </a:pPr>
            <a:r>
              <a:rPr lang="en-US" sz="1200" dirty="0">
                <a:solidFill>
                  <a:srgbClr val="FFFFFF"/>
                </a:solidFill>
                <a:latin typeface="Calibri" pitchFamily="34" charset="0"/>
                <a:ea typeface="Calibri" pitchFamily="34" charset="-122"/>
                <a:cs typeface="Calibri" pitchFamily="34" charset="-120"/>
              </a:rPr>
              <a:t>Next time, the country labels stay up — but a brand-new set of labels arrives. These ones name mountains, rivers, and plains. We're going to start reading the land itself.</a:t>
            </a:r>
            <a:endParaRPr lang="en-US" sz="1200" dirty="0"/>
          </a:p>
        </p:txBody>
      </p:sp>
      <p:sp>
        <p:nvSpPr>
          <p:cNvPr id="12" name="Text 9"/>
          <p:cNvSpPr/>
          <p:nvPr/>
        </p:nvSpPr>
        <p:spPr>
          <a:xfrm>
            <a:off x="14305280" y="8534400"/>
            <a:ext cx="1463040" cy="406400"/>
          </a:xfrm>
          <a:prstGeom prst="rect">
            <a:avLst/>
          </a:prstGeom>
          <a:noFill/>
          <a:ln/>
        </p:spPr>
        <p:txBody>
          <a:bodyPr wrap="square" lIns="0" tIns="0" rIns="0" bIns="0" rtlCol="0" anchor="ctr"/>
          <a:lstStyle/>
          <a:p>
            <a:pPr algn="r" indent="0" marL="0">
              <a:buNone/>
            </a:pPr>
            <a:r>
              <a:rPr lang="en-US" sz="800" dirty="0">
                <a:solidFill>
                  <a:srgbClr val="7A88A8"/>
                </a:solidFill>
                <a:latin typeface="Calibri" pitchFamily="34" charset="0"/>
                <a:ea typeface="Calibri" pitchFamily="34" charset="-122"/>
                <a:cs typeface="Calibri" pitchFamily="34" charset="-120"/>
              </a:rPr>
              <a:t>20 / 20</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Grade 3 Social Studies — Lesson 3.06.01</dc:subject>
  <dc:creator>Optima Academy Online</dc:creator>
  <cp:lastModifiedBy>Optima Academy Online</cp:lastModifiedBy>
  <cp:revision>1</cp:revision>
  <dcterms:created xsi:type="dcterms:W3CDTF">2026-07-11T02:49:45Z</dcterms:created>
  <dcterms:modified xsi:type="dcterms:W3CDTF">2026-07-11T02:49:45Z</dcterms:modified>
</cp:coreProperties>
</file>