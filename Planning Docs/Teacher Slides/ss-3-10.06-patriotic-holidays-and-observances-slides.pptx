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softly lit museum timeline wall in Citizenship Hall stretching floor to ceiling from January to December, mounted with a fold of red-white-blue flags, a small bundle of fireworks, a parade ribbon, a marble bust of a leader, and a wreath of laurel leaves -- labels still blank, warm yellow gallery light.Title slide. Welcome students to Citizenship Hall's new timeline exhibit. Read the Big Question aloud. Preview: root memor-, the timeline, then a Council Chamber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the unlabeled museum objects along the timeline wall -- a fold of flags, a bundle of fireworks, a parade ribbon, a marble bust, a wreath of laurel -- each with a blank brass label plate waiting to be filled in.Greet students at the new timeline exhibit. Sweep your hand along the wall from January to December as you describe a few objects. Point out some look bright (fireworks), some look quiet (a wreath). Tell students today's virtue is service -- many holidays honor people who served. Keep under 2 minutes, warm and thoughtful.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today's virtue: service. Say: 'Most people honored by patriotic holidays didn't ask to be famous -- they served.' Restate the Civic Curator role for today's timeline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without definitions. Let students hunt for the repeated letters (m-e-m-o-r) before naming the root. Give 5 seconds of silent looking before chat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shared letters are m-e-m-o-r. Ask students to guess the meaning before revealing it. Mention memoir as a bonus discovery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that memor- means 'mindful, remembering.' Have students copy the sentence into their Curator's Notebook, noticing the verb remember -- a holiday isn't just a day off, it's a job a country gives itself. Give the retrieval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year in order: MLK Day, Presidents' Day, Memorial Day, Flag Day, Independence Day, Constitution Day, Veterans Day. Don't name what each honors yet -- just notice the dates and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holidays into two big kinds: bright celebrating holidays (Independence Day, Flag Day) and quieter remembering holidays (Memorial Day, Veterans Day, MLK Day). Keep it concrete -- fireworks vs. wreaths.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two big kinds of holidays: celebrating and remembering. Cover your screen -- name one celebrating holiday and one remembering holiday.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flag honors one person who died serving the country. This is what remembering looks like as a public act -- small flags, neat rows, in silence. Ask how this differs from Independence Day fireworks.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both sides honestly -- honest curators admit both sides have something. Most countries do both, and the U.S. is no exception. In Tab 4, students will pick one side and defend it with two reasons and one piece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Share the Then &amp; Now fact about Decoration Day. This closes the discovery sequence and sets up the Why It Matters discussion and the Council Chamber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Evidence Question 1: what is a patriotic holiday, and why does a country bother to set days aside? Let several students answer in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Evidence Question 2 aloud exactly as written on the slide, using Independence Day. Emphasize the order: name, then date, then what it honors -- the exact scaffolding students need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Evidence Question 2 using Flag Day (June 14, adopted 1777, honors the American flag itself). Build the answer together aloud before students write their own for a holiday of their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draft an independent answer using the checklist. This is direct rehearsal for Evidence Question 3, which asks for the difference between celebrating and remembering with one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Self-Check Question 2's wrong answer choice (B -- same holiday, two days). Students should catch that Memorial Day honors those who died serving, while Veterans Day honors all who served. Have a few students suggest a fix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ambiguous case -- let students debate honestly. There is no single correct answer; the goal is for students to defend a position using today's vocabulary (celebrating, remembering,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'Three for three -- you walked the timeline like a real curator.'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scaffolded in Why It Matters, Question 2 in Teacher Models and We Try Together, Question 3 in Your Turn. Nothing here should be new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aloud. Think aloud through a strong answer: pick celebrating or remembering, give two reasons, use a specific holiday as evidence. Remind students an honest answer respects the other side. Read the Curator's Chronicle frame and the turn-in checklist.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completed Patriotic Holidays timeline wall, now fully labeled with brass plates under each object -- flags, fireworks, parade ribbon, marble bust, wreath -- glowing warmly, with a shadowed corridor beyond leading toward four dim bronze plaques waiting to be placed.Celebrate that students walked the timeline and made an honest recommendation. Restate the Exhibit Label. Tease tomorrow's exhibit: four bronze Civic Virtue plaques (Civility, Cooperation, Volunteerism, Responsibility). Keep under 1 minute, warm and a little reverent.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58496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CITIZENSHIP HALL  ·  LESSON 3.10.06  ·  COUNCIL CHAMBER</a:t>
            </a:r>
            <a:endParaRPr lang="en-US" sz="1200" dirty="0"/>
          </a:p>
        </p:txBody>
      </p:sp>
      <p:sp>
        <p:nvSpPr>
          <p:cNvPr id="6" name="Text 3"/>
          <p:cNvSpPr/>
          <p:nvPr/>
        </p:nvSpPr>
        <p:spPr>
          <a:xfrm>
            <a:off x="975360" y="2194560"/>
            <a:ext cx="9753600" cy="1950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Patriotic Holidays</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&amp; Observances</a:t>
            </a:r>
            <a:endParaRPr lang="en-US" sz="4000" dirty="0"/>
          </a:p>
        </p:txBody>
      </p:sp>
      <p:sp>
        <p:nvSpPr>
          <p:cNvPr id="7" name="Text 4"/>
          <p:cNvSpPr/>
          <p:nvPr/>
        </p:nvSpPr>
        <p:spPr>
          <a:xfrm>
            <a:off x="1584960" y="426720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693920"/>
            <a:ext cx="9387840" cy="115824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Why do countries set aside special days to remember -- and what is each patriotic holiday really for?</a:t>
            </a:r>
            <a:endParaRPr lang="en-US" sz="1500" dirty="0"/>
          </a:p>
        </p:txBody>
      </p:sp>
      <p:sp>
        <p:nvSpPr>
          <p:cNvPr id="9" name="Text 6"/>
          <p:cNvSpPr/>
          <p:nvPr/>
        </p:nvSpPr>
        <p:spPr>
          <a:xfrm>
            <a:off x="1219200" y="5913120"/>
            <a:ext cx="938784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the Civic Curator -- and today you walk the timeline.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MUSEUM · THE TIMELINE LIGHTS UP</a:t>
            </a:r>
            <a:endParaRPr lang="en-US" sz="1100" dirty="0"/>
          </a:p>
        </p:txBody>
      </p:sp>
      <p:sp>
        <p:nvSpPr>
          <p:cNvPr id="6" name="Text 3"/>
          <p:cNvSpPr/>
          <p:nvPr/>
        </p:nvSpPr>
        <p:spPr>
          <a:xfrm>
            <a:off x="975360" y="1402080"/>
            <a:ext cx="9753600" cy="1097280"/>
          </a:xfrm>
          <a:prstGeom prst="rect">
            <a:avLst/>
          </a:prstGeom>
          <a:noFill/>
          <a:ln/>
        </p:spPr>
        <p:txBody>
          <a:bodyPr wrap="square" lIns="0" tIns="0" rIns="0" bIns="0" rtlCol="0" anchor="ctr"/>
          <a:lstStyle/>
          <a:p>
            <a:pPr algn="ctr" indent="0" marL="0">
              <a:buNone/>
            </a:pPr>
            <a:r>
              <a:rPr lang="en-US" sz="2100" b="1" i="1" dirty="0">
                <a:solidFill>
                  <a:srgbClr val="FFFFFF"/>
                </a:solidFill>
                <a:latin typeface="Cambria" pitchFamily="34" charset="0"/>
                <a:ea typeface="Cambria" pitchFamily="34" charset="-122"/>
                <a:cs typeface="Cambria" pitchFamily="34" charset="-120"/>
              </a:rPr>
              <a:t>"Some objects are bright. Some are quiet. Today you'll find out why."</a:t>
            </a:r>
            <a:endParaRPr lang="en-US" sz="2100" dirty="0"/>
          </a:p>
        </p:txBody>
      </p:sp>
      <p:sp>
        <p:nvSpPr>
          <p:cNvPr id="7" name="Text 4"/>
          <p:cNvSpPr/>
          <p:nvPr/>
        </p:nvSpPr>
        <p:spPr>
          <a:xfrm>
            <a:off x="1219200" y="2621280"/>
            <a:ext cx="9387840" cy="115824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The voting booth is quiet now, its curtain pulled closed. On the long far wall of Citizenship Hall, soft yellow lights have come up over a brand-new exhibit: a Patriotic Holidays timeline stretching from January to December.</a:t>
            </a:r>
            <a:endParaRPr lang="en-US" sz="1300" dirty="0"/>
          </a:p>
        </p:txBody>
      </p:sp>
      <p:sp>
        <p:nvSpPr>
          <p:cNvPr id="8" name="Text 5"/>
          <p:cNvSpPr/>
          <p:nvPr/>
        </p:nvSpPr>
        <p:spPr>
          <a:xfrm>
            <a:off x="1219200" y="3840480"/>
            <a:ext cx="9387840" cy="121920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Mounted along the timeline are real objects, each one waiting for a label -- a fold of flags, a small bundle of fireworks, a parade ribbon, a marble bust of a leader, a wreath of laurel leaves. Some objects are bright. Some are quiet.</a:t>
            </a:r>
            <a:endParaRPr lang="en-US" sz="1300" dirty="0"/>
          </a:p>
        </p:txBody>
      </p:sp>
      <p:sp>
        <p:nvSpPr>
          <p:cNvPr id="9" name="Text 6"/>
          <p:cNvSpPr/>
          <p:nvPr/>
        </p:nvSpPr>
        <p:spPr>
          <a:xfrm>
            <a:off x="1219200" y="5242560"/>
            <a:ext cx="9387840" cy="67056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Today, as Civic Curator, you'll figure out what each holiday is -- and why a country needs to remember at all.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85344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Service</a:t>
            </a:r>
            <a:endParaRPr lang="en-US" sz="3200" dirty="0"/>
          </a:p>
        </p:txBody>
      </p:sp>
      <p:sp>
        <p:nvSpPr>
          <p:cNvPr id="4" name="Shape 2"/>
          <p:cNvSpPr/>
          <p:nvPr/>
        </p:nvSpPr>
        <p:spPr>
          <a:xfrm>
            <a:off x="609600" y="1889760"/>
            <a:ext cx="5242560" cy="4328160"/>
          </a:xfrm>
          <a:prstGeom prst="roundRect">
            <a:avLst>
              <a:gd name="adj" fmla="val 3380"/>
            </a:avLst>
          </a:prstGeom>
          <a:solidFill>
            <a:srgbClr val="1A2D5A"/>
          </a:solidFill>
          <a:ln/>
        </p:spPr>
      </p:sp>
      <p:sp>
        <p:nvSpPr>
          <p:cNvPr id="5" name="Text 3"/>
          <p:cNvSpPr/>
          <p:nvPr/>
        </p:nvSpPr>
        <p:spPr>
          <a:xfrm>
            <a:off x="85344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WHAT IT MEANS</a:t>
            </a:r>
            <a:endParaRPr lang="en-US" sz="1300" dirty="0"/>
          </a:p>
        </p:txBody>
      </p:sp>
      <p:sp>
        <p:nvSpPr>
          <p:cNvPr id="6" name="Text 4"/>
          <p:cNvSpPr/>
          <p:nvPr/>
        </p:nvSpPr>
        <p:spPr>
          <a:xfrm>
            <a:off x="853440" y="2499360"/>
            <a:ext cx="47548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Most of the people honored by patriotic holidays didn't ask to be famous. They served -- by writing, by leading, by marching, by going to war.</a:t>
            </a:r>
            <a:endParaRPr lang="en-US" sz="1300" dirty="0"/>
          </a:p>
        </p:txBody>
      </p:sp>
      <p:sp>
        <p:nvSpPr>
          <p:cNvPr id="7" name="Text 5"/>
          <p:cNvSpPr/>
          <p:nvPr/>
        </p:nvSpPr>
        <p:spPr>
          <a:xfrm>
            <a:off x="853440" y="4389120"/>
            <a:ext cx="4754880" cy="158496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A country that remembers the people who served is a country that takes service seriously.</a:t>
            </a:r>
            <a:endParaRPr lang="en-US" sz="1200" dirty="0"/>
          </a:p>
        </p:txBody>
      </p:sp>
      <p:sp>
        <p:nvSpPr>
          <p:cNvPr id="8" name="Shape 6"/>
          <p:cNvSpPr/>
          <p:nvPr/>
        </p:nvSpPr>
        <p:spPr>
          <a:xfrm>
            <a:off x="6035040" y="1889760"/>
            <a:ext cx="5242560" cy="4328160"/>
          </a:xfrm>
          <a:prstGeom prst="roundRect">
            <a:avLst>
              <a:gd name="adj" fmla="val 3380"/>
            </a:avLst>
          </a:prstGeom>
          <a:solidFill>
            <a:srgbClr val="1A2D5A"/>
          </a:solidFill>
          <a:ln/>
        </p:spPr>
      </p:sp>
      <p:sp>
        <p:nvSpPr>
          <p:cNvPr id="9" name="Text 7"/>
          <p:cNvSpPr/>
          <p:nvPr/>
        </p:nvSpPr>
        <p:spPr>
          <a:xfrm>
            <a:off x="627888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YOUR ROLE TODAY</a:t>
            </a:r>
            <a:endParaRPr lang="en-US" sz="1300" dirty="0"/>
          </a:p>
        </p:txBody>
      </p:sp>
      <p:sp>
        <p:nvSpPr>
          <p:cNvPr id="10" name="Text 8"/>
          <p:cNvSpPr/>
          <p:nvPr/>
        </p:nvSpPr>
        <p:spPr>
          <a:xfrm>
            <a:off x="6278880" y="2499360"/>
            <a:ext cx="47548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You are still the Civic Curator -- but today the work is along a wall, not in a case. Walk the Patriotic Holidays timeline, figure out what each holiday is for, and write a Council Chamber recommendation.</a:t>
            </a:r>
            <a:endParaRPr lang="en-US" sz="1300" dirty="0"/>
          </a:p>
        </p:txBody>
      </p:sp>
      <p:sp>
        <p:nvSpPr>
          <p:cNvPr id="11" name="Text 9"/>
          <p:cNvSpPr/>
          <p:nvPr/>
        </p:nvSpPr>
        <p:spPr>
          <a:xfrm>
            <a:off x="6278880" y="4389120"/>
            <a:ext cx="4754880" cy="158496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Today you'll meet some of the people who served.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WORD ROOTS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Four Words, One Hidden Root</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curator's open notebook page, handwritten in careful cursive: memory, memorial, memorable, remember -- each word on its own line, no definitions shown.</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Look at these four words: memory, memorial, memorable, remember. What five letters show up inside every single one?</a:t>
            </a:r>
            <a:endParaRPr lang="en-US" sz="130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all four words..."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shared part means..."</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for the repeated letters before we discuss.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WORD ROOTS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 They Have In Common?</a:t>
            </a:r>
            <a:endParaRPr lang="en-US" sz="2700" dirty="0"/>
          </a:p>
        </p:txBody>
      </p:sp>
      <p:sp>
        <p:nvSpPr>
          <p:cNvPr id="4" name="Text 2"/>
          <p:cNvSpPr/>
          <p:nvPr/>
        </p:nvSpPr>
        <p:spPr>
          <a:xfrm>
            <a:off x="609600" y="1584960"/>
            <a:ext cx="5974080" cy="41452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memory -- something you keep in mind</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memorial -- a thing or day that helps people remember</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memorable -- worth remembering</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remember -- to bring something back into your mind</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Discovery fact: a memoir is a true book a person writes about their own life -- literally, "a thing made of memory." Same root, written down.</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five letters show up in every single word?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Based on where they show up, what do you think this root means?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else might you find this root hiding?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705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158240"/>
            <a:ext cx="10972800" cy="7315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memor- -- "mindful, remembering"</a:t>
            </a:r>
            <a:endParaRPr lang="en-US" sz="3000" dirty="0"/>
          </a:p>
        </p:txBody>
      </p:sp>
      <p:sp>
        <p:nvSpPr>
          <p:cNvPr id="4" name="Text 2"/>
          <p:cNvSpPr/>
          <p:nvPr/>
        </p:nvSpPr>
        <p:spPr>
          <a:xfrm>
            <a:off x="1341120" y="2133600"/>
            <a:ext cx="9144000" cy="164592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The Latin root memor- means "mindful" or "remembering." A patriotic holiday is partly a memor- day: a day a whole country decides to be mindful of something together. The root shows up all over the place once you know to look.</a:t>
            </a:r>
            <a:endParaRPr lang="en-US" sz="1500" dirty="0"/>
          </a:p>
        </p:txBody>
      </p:sp>
      <p:sp>
        <p:nvSpPr>
          <p:cNvPr id="5" name="Shape 3"/>
          <p:cNvSpPr/>
          <p:nvPr/>
        </p:nvSpPr>
        <p:spPr>
          <a:xfrm>
            <a:off x="1584960" y="3962400"/>
            <a:ext cx="8656320" cy="1402080"/>
          </a:xfrm>
          <a:prstGeom prst="roundRect">
            <a:avLst>
              <a:gd name="adj" fmla="val 10435"/>
            </a:avLst>
          </a:prstGeom>
          <a:solidFill>
            <a:srgbClr val="1A2D5A"/>
          </a:solidFill>
          <a:ln w="19050">
            <a:solidFill>
              <a:srgbClr val="D4943A"/>
            </a:solidFill>
            <a:prstDash val="dash"/>
          </a:ln>
        </p:spPr>
      </p:sp>
      <p:sp>
        <p:nvSpPr>
          <p:cNvPr id="6" name="Text 4"/>
          <p:cNvSpPr/>
          <p:nvPr/>
        </p:nvSpPr>
        <p:spPr>
          <a:xfrm>
            <a:off x="1889760" y="4145280"/>
            <a:ext cx="8046720" cy="1036320"/>
          </a:xfrm>
          <a:prstGeom prst="rect">
            <a:avLst/>
          </a:prstGeom>
          <a:noFill/>
          <a:ln/>
        </p:spPr>
        <p:txBody>
          <a:bodyPr wrap="square" lIns="0" tIns="0" rIns="0" bIns="0"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Copywork: "Holidays help a country remember the people and moments that built it."</a:t>
            </a:r>
            <a:endParaRPr lang="en-US" sz="1400" dirty="0"/>
          </a:p>
        </p:txBody>
      </p:sp>
      <p:sp>
        <p:nvSpPr>
          <p:cNvPr id="7" name="Text 5"/>
          <p:cNvSpPr/>
          <p:nvPr/>
        </p:nvSpPr>
        <p:spPr>
          <a:xfrm>
            <a:off x="1341120" y="566928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two words that use memor-.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Walking the Timeline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horizontal museum timeline wall running January to December, with seven small hooks beneath unlabeled objects -- flags, fireworks, a parade ribbon, a marble bust, a wreath -- spaced across the year.</a:t>
            </a:r>
            <a:endParaRPr lang="en-US" sz="1100" dirty="0"/>
          </a:p>
        </p:txBody>
      </p:sp>
      <p:sp>
        <p:nvSpPr>
          <p:cNvPr id="7" name="Text 5"/>
          <p:cNvSpPr/>
          <p:nvPr/>
        </p:nvSpPr>
        <p:spPr>
          <a:xfrm>
            <a:off x="7010400" y="1645920"/>
            <a:ext cx="4267200" cy="15240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Seven dates on the wall, in order: 3rd Mon Jan · 3rd Mon Feb · last Mon May · June 14 · July 4 · Sept 17 · Nov 11. No names yet -- just look at the spacing and the objects.</a:t>
            </a:r>
            <a:endParaRPr lang="en-US" sz="1250" dirty="0"/>
          </a:p>
        </p:txBody>
      </p:sp>
      <p:sp>
        <p:nvSpPr>
          <p:cNvPr id="8" name="Shape 6"/>
          <p:cNvSpPr/>
          <p:nvPr/>
        </p:nvSpPr>
        <p:spPr>
          <a:xfrm>
            <a:off x="7010400" y="3291840"/>
            <a:ext cx="4206240" cy="1828800"/>
          </a:xfrm>
          <a:prstGeom prst="roundRect">
            <a:avLst>
              <a:gd name="adj" fmla="val 8000"/>
            </a:avLst>
          </a:prstGeom>
          <a:solidFill>
            <a:srgbClr val="FFF3DC"/>
          </a:solidFill>
          <a:ln w="19050">
            <a:solidFill>
              <a:srgbClr val="F5E6C8"/>
            </a:solidFill>
            <a:prstDash val="solid"/>
          </a:ln>
        </p:spPr>
      </p:sp>
      <p:sp>
        <p:nvSpPr>
          <p:cNvPr id="9" name="Text 7"/>
          <p:cNvSpPr/>
          <p:nvPr/>
        </p:nvSpPr>
        <p:spPr>
          <a:xfrm>
            <a:off x="7193280" y="33649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633216"/>
            <a:ext cx="384048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dates..."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some feel more... than others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at the seven dates before we discuss.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Bright or Quiet -- Which Is Which?</a:t>
            </a:r>
            <a:endParaRPr lang="en-US" sz="27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A patriotic holiday is a day a country chooses, on purpose, to stop and pay attention to something important about itself. Some are loud and bright -- fireworks, parades, flags. Some are quiet and serious -- wreaths, ceremonies, moments of silence. Both are needed.</a:t>
            </a:r>
            <a:endParaRPr lang="en-US" sz="130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these seven feels loud and bright to you? What makes it feel that way?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ones feel quiet and serious? What clues told you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holiday be both bright and quiet at once?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8768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914400"/>
            <a:ext cx="10972800" cy="73152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Celebrating &amp; Remembering Holidays</a:t>
            </a:r>
            <a:endParaRPr lang="en-US" sz="2600" dirty="0"/>
          </a:p>
        </p:txBody>
      </p:sp>
      <p:sp>
        <p:nvSpPr>
          <p:cNvPr id="4" name="Shape 2"/>
          <p:cNvSpPr/>
          <p:nvPr/>
        </p:nvSpPr>
        <p:spPr>
          <a:xfrm>
            <a:off x="609600" y="1889760"/>
            <a:ext cx="5242560" cy="4084320"/>
          </a:xfrm>
          <a:prstGeom prst="roundRect">
            <a:avLst>
              <a:gd name="adj" fmla="val 3582"/>
            </a:avLst>
          </a:prstGeom>
          <a:solidFill>
            <a:srgbClr val="1A2D5A"/>
          </a:solidFill>
          <a:ln/>
        </p:spPr>
      </p:sp>
      <p:sp>
        <p:nvSpPr>
          <p:cNvPr id="5" name="Text 3"/>
          <p:cNvSpPr/>
          <p:nvPr/>
        </p:nvSpPr>
        <p:spPr>
          <a:xfrm>
            <a:off x="85344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CELEBRATING</a:t>
            </a:r>
            <a:endParaRPr lang="en-US" sz="1300" dirty="0"/>
          </a:p>
        </p:txBody>
      </p:sp>
      <p:sp>
        <p:nvSpPr>
          <p:cNvPr id="6" name="Text 4"/>
          <p:cNvSpPr/>
          <p:nvPr/>
        </p:nvSpPr>
        <p:spPr>
          <a:xfrm>
            <a:off x="853440" y="2499360"/>
            <a:ext cx="4754880" cy="32918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Bright -- fireworks, flags, parades. Independence Day, Flag Day. They say "Isn't this country great?"</a:t>
            </a:r>
            <a:endParaRPr lang="en-US" sz="1300" dirty="0"/>
          </a:p>
        </p:txBody>
      </p:sp>
      <p:sp>
        <p:nvSpPr>
          <p:cNvPr id="7" name="Shape 5"/>
          <p:cNvSpPr/>
          <p:nvPr/>
        </p:nvSpPr>
        <p:spPr>
          <a:xfrm>
            <a:off x="6035040" y="1889760"/>
            <a:ext cx="5242560" cy="4084320"/>
          </a:xfrm>
          <a:prstGeom prst="roundRect">
            <a:avLst>
              <a:gd name="adj" fmla="val 3582"/>
            </a:avLst>
          </a:prstGeom>
          <a:solidFill>
            <a:srgbClr val="1A2D5A"/>
          </a:solidFill>
          <a:ln/>
        </p:spPr>
      </p:sp>
      <p:sp>
        <p:nvSpPr>
          <p:cNvPr id="8" name="Text 6"/>
          <p:cNvSpPr/>
          <p:nvPr/>
        </p:nvSpPr>
        <p:spPr>
          <a:xfrm>
            <a:off x="627888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REMEMBERING</a:t>
            </a:r>
            <a:endParaRPr lang="en-US" sz="1300" dirty="0"/>
          </a:p>
        </p:txBody>
      </p:sp>
      <p:sp>
        <p:nvSpPr>
          <p:cNvPr id="9" name="Text 7"/>
          <p:cNvSpPr/>
          <p:nvPr/>
        </p:nvSpPr>
        <p:spPr>
          <a:xfrm>
            <a:off x="6278880" y="2499360"/>
            <a:ext cx="4754880" cy="32918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Quiet -- wreaths, ceremonies, moments of silence. Memorial Day, Veterans Day, MLK Day. They say "Don't forget what it cost."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INVESTIGATE THE EVIDENCE · SOURCE STUDY</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Flags at Arlington</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source-3-10-06-memorial-day-flags.jpg -- a public-domain photograph of small American flags placed at rows of headstones at Arlington National Cemetery for Memorial Day ('Flags In'), rows easy to count, headstones visible without graphic detail.</a:t>
            </a:r>
            <a:endParaRPr lang="en-US" sz="1100" dirty="0"/>
          </a:p>
        </p:txBody>
      </p:sp>
      <p:sp>
        <p:nvSpPr>
          <p:cNvPr id="7" name="Text 5"/>
          <p:cNvSpPr/>
          <p:nvPr/>
        </p:nvSpPr>
        <p:spPr>
          <a:xfrm>
            <a:off x="7010400" y="1645920"/>
            <a:ext cx="4267200" cy="18288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Photograph · Memorial Day flag tribute, Arlington National Cemetery, Virginia.</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Look at the rows. Count a few of the flags. What is the feeling of this image -- loud or quiet, busy or still?</a:t>
            </a:r>
            <a:endParaRPr lang="en-US" sz="1250" dirty="0"/>
          </a:p>
        </p:txBody>
      </p:sp>
      <p:sp>
        <p:nvSpPr>
          <p:cNvPr id="8" name="Shape 6"/>
          <p:cNvSpPr/>
          <p:nvPr/>
        </p:nvSpPr>
        <p:spPr>
          <a:xfrm>
            <a:off x="7010400" y="3596640"/>
            <a:ext cx="42062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193280" y="36697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938016"/>
            <a:ext cx="38404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image feels..."</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at the rows before we discuss.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STEP INTO THE COUNCIL CHAMBER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Celebrating or Remembering -- Which Matters More?</a:t>
            </a:r>
            <a:endParaRPr lang="en-US" sz="2700" dirty="0"/>
          </a:p>
        </p:txBody>
      </p:sp>
      <p:sp>
        <p:nvSpPr>
          <p:cNvPr id="4" name="Text 2"/>
          <p:cNvSpPr/>
          <p:nvPr/>
        </p:nvSpPr>
        <p:spPr>
          <a:xfrm>
            <a:off x="609600" y="1584960"/>
            <a:ext cx="5974080" cy="426720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If a community had to give the most attention to one kind of patriotic holiday -- the bright celebrating kind or the quiet remembering kind -- which one matters more, and why?</a:t>
            </a:r>
            <a:endParaRPr lang="en-US" sz="1150" dirty="0"/>
          </a:p>
          <a:p>
            <a:pPr indent="0" marL="0">
              <a:buNone/>
            </a:pP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Side A -- Celebrating: Bright holidays remind us we're lucky to live in a free country. If we don't celebrate, freedoms start to feel ordinary.</a:t>
            </a:r>
            <a:endParaRPr lang="en-US" sz="1150" dirty="0"/>
          </a:p>
          <a:p>
            <a:pPr indent="0" marL="0">
              <a:buNone/>
            </a:pP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Side B -- Remembering: Quiet holidays remind us our freedoms were not free -- somebody paid for them. A country that only celebrates can forget what its holidays are about.</a:t>
            </a:r>
            <a:endParaRPr lang="en-US" sz="1150" dirty="0"/>
          </a:p>
        </p:txBody>
      </p:sp>
      <p:sp>
        <p:nvSpPr>
          <p:cNvPr id="5" name="Shape 3"/>
          <p:cNvSpPr/>
          <p:nvPr/>
        </p:nvSpPr>
        <p:spPr>
          <a:xfrm>
            <a:off x="6827520" y="1584960"/>
            <a:ext cx="438912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in today's evidence that supports each side?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on the other side argue?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54864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EXHIBIT LABEL</a:t>
            </a:r>
            <a:endParaRPr lang="en-US" sz="1100" dirty="0"/>
          </a:p>
        </p:txBody>
      </p:sp>
      <p:sp>
        <p:nvSpPr>
          <p:cNvPr id="3" name="Shape 1"/>
          <p:cNvSpPr/>
          <p:nvPr/>
        </p:nvSpPr>
        <p:spPr>
          <a:xfrm>
            <a:off x="1219200" y="1158240"/>
            <a:ext cx="9387840" cy="2133600"/>
          </a:xfrm>
          <a:prstGeom prst="roundRect">
            <a:avLst>
              <a:gd name="adj" fmla="val 8571"/>
            </a:avLst>
          </a:prstGeom>
          <a:solidFill>
            <a:srgbClr val="1A2D5A"/>
          </a:solidFill>
          <a:ln w="19050">
            <a:solidFill>
              <a:srgbClr val="D4943A"/>
            </a:solidFill>
            <a:prstDash val="solid"/>
          </a:ln>
        </p:spPr>
      </p:sp>
      <p:sp>
        <p:nvSpPr>
          <p:cNvPr id="4" name="Text 2"/>
          <p:cNvSpPr/>
          <p:nvPr/>
        </p:nvSpPr>
        <p:spPr>
          <a:xfrm>
            <a:off x="1584960" y="1341120"/>
            <a:ext cx="8656320" cy="1767840"/>
          </a:xfrm>
          <a:prstGeom prst="rect">
            <a:avLst/>
          </a:prstGeom>
          <a:noFill/>
          <a:ln/>
        </p:spPr>
        <p:txBody>
          <a:bodyPr wrap="square" lIns="0" tIns="0" rIns="0" bIns="0" rtlCol="0" anchor="ctr"/>
          <a:lstStyle/>
          <a:p>
            <a:pPr algn="ctr" indent="0" marL="0">
              <a:buNone/>
            </a:pPr>
            <a:r>
              <a:rPr lang="en-US" sz="1350" b="1" dirty="0">
                <a:solidFill>
                  <a:srgbClr val="D4943A"/>
                </a:solidFill>
                <a:latin typeface="Cambria" pitchFamily="34" charset="0"/>
                <a:ea typeface="Cambria" pitchFamily="34" charset="-122"/>
                <a:cs typeface="Cambria" pitchFamily="34" charset="-120"/>
              </a:rPr>
              <a:t>Patriotic holidays are days a country chooses, on purpose, to remember. Some celebrate -- fireworks, parades, flags. Some honor people who served and sacrificed -- wreaths, quiet moments, names on stones. A country needs both kinds.</a:t>
            </a:r>
            <a:endParaRPr lang="en-US" sz="1350" dirty="0"/>
          </a:p>
        </p:txBody>
      </p:sp>
      <p:sp>
        <p:nvSpPr>
          <p:cNvPr id="5" name="Text 3"/>
          <p:cNvSpPr/>
          <p:nvPr/>
        </p:nvSpPr>
        <p:spPr>
          <a:xfrm>
            <a:off x="1341120" y="3596640"/>
            <a:ext cx="9144000" cy="158496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Then &amp; Now: Memorial Day started right after the Civil War, in the 1860s, when families went to small cemeteries to leave flowers for soldiers. It was called Decoration Day back then. Today, the same act -- flowers and flags on a grave -- still happens at Arlington and small-town cemeteries all over the country.</a:t>
            </a:r>
            <a:endParaRPr lang="en-US" sz="1250" dirty="0"/>
          </a:p>
        </p:txBody>
      </p:sp>
      <p:sp>
        <p:nvSpPr>
          <p:cNvPr id="6" name="Text 4"/>
          <p:cNvSpPr/>
          <p:nvPr/>
        </p:nvSpPr>
        <p:spPr>
          <a:xfrm>
            <a:off x="1341120" y="5547360"/>
            <a:ext cx="9144000" cy="609600"/>
          </a:xfrm>
          <a:prstGeom prst="rect">
            <a:avLst/>
          </a:prstGeom>
          <a:noFill/>
          <a:ln/>
        </p:spPr>
        <p:txBody>
          <a:bodyPr wrap="square" lIns="0" tIns="0" rIns="0" bIns="0" rtlCol="0" anchor="ctr"/>
          <a:lstStyle/>
          <a:p>
            <a:pPr algn="ctr" indent="0" marL="0">
              <a:buNone/>
            </a:pPr>
            <a:r>
              <a:rPr lang="en-US" sz="1250" i="1" dirty="0">
                <a:solidFill>
                  <a:srgbClr val="EAF8FD"/>
                </a:solidFill>
                <a:latin typeface="Calibri" pitchFamily="34" charset="0"/>
                <a:ea typeface="Calibri" pitchFamily="34" charset="-122"/>
                <a:cs typeface="Calibri" pitchFamily="34" charset="-120"/>
              </a:rPr>
              <a:t>Cover your screen. Name one reason celebrating matters and one reason remembering matters.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Why Bother Setting a Day Aside?</a:t>
            </a:r>
            <a:endParaRPr lang="en-US" sz="2700" dirty="0"/>
          </a:p>
        </p:txBody>
      </p:sp>
      <p:sp>
        <p:nvSpPr>
          <p:cNvPr id="4" name="Shape 2"/>
          <p:cNvSpPr/>
          <p:nvPr/>
        </p:nvSpPr>
        <p:spPr>
          <a:xfrm>
            <a:off x="609600" y="1645920"/>
            <a:ext cx="10607040" cy="1706880"/>
          </a:xfrm>
          <a:prstGeom prst="roundRect">
            <a:avLst>
              <a:gd name="adj" fmla="val 8571"/>
            </a:avLst>
          </a:prstGeom>
          <a:solidFill>
            <a:srgbClr val="F0F2F8"/>
          </a:solidFill>
          <a:ln w="12700">
            <a:solidFill>
              <a:srgbClr val="7A88A8"/>
            </a:solidFill>
            <a:prstDash val="solid"/>
          </a:ln>
        </p:spPr>
      </p:sp>
      <p:sp>
        <p:nvSpPr>
          <p:cNvPr id="5" name="Text 3"/>
          <p:cNvSpPr/>
          <p:nvPr/>
        </p:nvSpPr>
        <p:spPr>
          <a:xfrm>
            <a:off x="914400" y="1828800"/>
            <a:ext cx="9997440" cy="1341120"/>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Opti says: the museum and a patriotic holiday have something in common. Both are ways a community decides to remember something on purpose, instead of letting it slip away. That's why we put things in cases -- and that's why we put days on calendars.</a:t>
            </a:r>
            <a:endParaRPr lang="en-US" sz="1300" dirty="0"/>
          </a:p>
        </p:txBody>
      </p:sp>
      <p:sp>
        <p:nvSpPr>
          <p:cNvPr id="6" name="Shape 4"/>
          <p:cNvSpPr/>
          <p:nvPr/>
        </p:nvSpPr>
        <p:spPr>
          <a:xfrm>
            <a:off x="609600" y="3596640"/>
            <a:ext cx="10607040" cy="2743200"/>
          </a:xfrm>
          <a:prstGeom prst="roundRect">
            <a:avLst>
              <a:gd name="adj" fmla="val 6667"/>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185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059936"/>
            <a:ext cx="10119360" cy="2157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In your own words, why does a country bother to set days aside instead of just going about a normal 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 museum case like a holiday on a calendar?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country lose if it stopped having patriotic holidays at 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Name -&gt; Date -&gt; What It Honors</a:t>
            </a:r>
            <a:endParaRPr lang="en-US" sz="27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"Evidence Question 2 asks me to pick one holiday, name it, give its date, and explain what it honors -- in that order. Watch: Independence Day -- that's the name. It falls on July 4 -- that's the date. It celebrates the day in 1776 when the Declaration of Independence said the United States was a free country -- that's what it honors. Name, then date, then what it honors, every single time."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Let's Try Flag Day Together</a:t>
            </a:r>
            <a:endParaRPr lang="en-US" sz="2700" dirty="0"/>
          </a:p>
        </p:txBody>
      </p:sp>
      <p:sp>
        <p:nvSpPr>
          <p:cNvPr id="4" name="Text 2"/>
          <p:cNvSpPr/>
          <p:nvPr/>
        </p:nvSpPr>
        <p:spPr>
          <a:xfrm>
            <a:off x="609600" y="1584960"/>
            <a:ext cx="10607040" cy="60960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As a class, let's answer the same three parts for a different holiday: Flag Day.</a:t>
            </a:r>
            <a:endParaRPr lang="en-US" sz="1400" dirty="0"/>
          </a:p>
        </p:txBody>
      </p:sp>
      <p:sp>
        <p:nvSpPr>
          <p:cNvPr id="5" name="Shape 3"/>
          <p:cNvSpPr/>
          <p:nvPr/>
        </p:nvSpPr>
        <p:spPr>
          <a:xfrm>
            <a:off x="609600" y="2377440"/>
            <a:ext cx="1060704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499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840736"/>
            <a:ext cx="1011936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name of this holiday, and what date is it on the timeline?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anyone find a clue for why that date was chosen -- what happened on June 14, 1777?</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Flag Day actually honor?</a:t>
            </a:r>
            <a:endParaRPr lang="en-US" sz="1100" dirty="0"/>
          </a:p>
        </p:txBody>
      </p:sp>
      <p:sp>
        <p:nvSpPr>
          <p:cNvPr id="8" name="Shape 6"/>
          <p:cNvSpPr/>
          <p:nvPr/>
        </p:nvSpPr>
        <p:spPr>
          <a:xfrm>
            <a:off x="609600" y="4815840"/>
            <a:ext cx="106070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92480" y="48889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157216"/>
            <a:ext cx="102412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"Flag Day is on...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"Flag Day honors..."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Celebrating vs. Remembering: Your Turn</a:t>
            </a:r>
            <a:endParaRPr lang="en-US" sz="2700" dirty="0"/>
          </a:p>
        </p:txBody>
      </p:sp>
      <p:sp>
        <p:nvSpPr>
          <p:cNvPr id="4" name="Text 2"/>
          <p:cNvSpPr/>
          <p:nvPr/>
        </p:nvSpPr>
        <p:spPr>
          <a:xfrm>
            <a:off x="609600" y="1584960"/>
            <a:ext cx="10607040" cy="4876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Try writing your own answer using this checklist:</a:t>
            </a:r>
            <a:endParaRPr lang="en-US" sz="1400" dirty="0"/>
          </a:p>
        </p:txBody>
      </p:sp>
      <p:sp>
        <p:nvSpPr>
          <p:cNvPr id="5" name="Text 3"/>
          <p:cNvSpPr/>
          <p:nvPr/>
        </p:nvSpPr>
        <p:spPr>
          <a:xfrm>
            <a:off x="853440" y="2255520"/>
            <a:ext cx="101193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makes a holiday a "celebrating" holiday.</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gave one example of a celebrating holiday from the timeline.</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makes a holiday a "remembering" holiday.</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gave one example of a remembering holiday from the timeline.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Mistake</a:t>
            </a:r>
            <a:endParaRPr lang="en-US" sz="2700" dirty="0"/>
          </a:p>
        </p:txBody>
      </p:sp>
      <p:sp>
        <p:nvSpPr>
          <p:cNvPr id="4" name="Shape 2"/>
          <p:cNvSpPr/>
          <p:nvPr/>
        </p:nvSpPr>
        <p:spPr>
          <a:xfrm>
            <a:off x="609600" y="1584960"/>
            <a:ext cx="10607040" cy="1828800"/>
          </a:xfrm>
          <a:prstGeom prst="roundRect">
            <a:avLst>
              <a:gd name="adj" fmla="val 8000"/>
            </a:avLst>
          </a:prstGeom>
          <a:solidFill>
            <a:srgbClr val="FDEEEE"/>
          </a:solidFill>
          <a:ln w="19050">
            <a:solidFill>
              <a:srgbClr val="E8636B"/>
            </a:solidFill>
            <a:prstDash val="solid"/>
          </a:ln>
        </p:spPr>
      </p:sp>
      <p:sp>
        <p:nvSpPr>
          <p:cNvPr id="5" name="Text 3"/>
          <p:cNvSpPr/>
          <p:nvPr/>
        </p:nvSpPr>
        <p:spPr>
          <a:xfrm>
            <a:off x="914400" y="1828800"/>
            <a:ext cx="9997440" cy="134112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"Memorial Day and Veterans Day are the same thing -- they both just mean 'thank a soldier.'"</a:t>
            </a:r>
            <a:endParaRPr lang="en-US" sz="1400" dirty="0"/>
          </a:p>
        </p:txBody>
      </p:sp>
      <p:sp>
        <p:nvSpPr>
          <p:cNvPr id="6" name="Shape 4"/>
          <p:cNvSpPr/>
          <p:nvPr/>
        </p:nvSpPr>
        <p:spPr>
          <a:xfrm>
            <a:off x="609600" y="3657600"/>
            <a:ext cx="1060704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795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20896"/>
            <a:ext cx="1011936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mix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actual difference between Memorial Day and Veterans Day, based on today's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so it's accurate?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THE TRICKY ONE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About MLK Day?</a:t>
            </a:r>
            <a:endParaRPr lang="en-US" sz="2700" dirty="0"/>
          </a:p>
        </p:txBody>
      </p:sp>
      <p:sp>
        <p:nvSpPr>
          <p:cNvPr id="4" name="Text 2"/>
          <p:cNvSpPr/>
          <p:nvPr/>
        </p:nvSpPr>
        <p:spPr>
          <a:xfrm>
            <a:off x="609600" y="1584960"/>
            <a:ext cx="10607040" cy="158496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MLK Day is a quiet, remembering-style holiday -- but people often serve their community that day, too, through volunteer projects. Is MLK Day a celebrating holiday, a remembering holiday, or something in between?</a:t>
            </a:r>
            <a:endParaRPr lang="en-US" sz="1350" dirty="0"/>
          </a:p>
        </p:txBody>
      </p:sp>
      <p:sp>
        <p:nvSpPr>
          <p:cNvPr id="5" name="Shape 3"/>
          <p:cNvSpPr/>
          <p:nvPr/>
        </p:nvSpPr>
        <p:spPr>
          <a:xfrm>
            <a:off x="609600" y="3352800"/>
            <a:ext cx="10607040" cy="298704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34747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3816096"/>
            <a:ext cx="10119360" cy="2401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serving your community on a holiday feel more like celebrating or remembering?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holiday be both at once? What would that look like?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from today would you use to defend your answer?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Check Your Understanding</a:t>
            </a:r>
            <a:endParaRPr lang="en-US" sz="27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1. Which holiday celebrates the day in 1776 when the United States became a free country?</a:t>
            </a:r>
            <a:endParaRPr lang="en-US" sz="125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B) Independence Day -- July 4.</a:t>
            </a:r>
            <a:endParaRPr lang="en-US" sz="120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Independence Day honors the Declaration of Independence on July 4, 1776.</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2. What is the difference between Memorial Day and Veterans Day?</a:t>
            </a:r>
            <a:endParaRPr lang="en-US" sz="125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C) Memorial Day honors those who died serving; Veterans Day honors all who have served.</a:t>
            </a:r>
            <a:endParaRPr lang="en-US" sz="120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Both honor service, but Memorial Day is specifically for those who died.</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3. What does the Latin root memor- mean?</a:t>
            </a:r>
            <a:endParaRPr lang="en-US" sz="125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A) "Mindful, remembering."</a:t>
            </a:r>
            <a:endParaRPr lang="en-US" sz="120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That's why memorial, memory, remember, and memoir all share this root.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Evidence Questions</a:t>
            </a:r>
            <a:endParaRPr lang="en-US" sz="2700" dirty="0"/>
          </a:p>
        </p:txBody>
      </p:sp>
      <p:sp>
        <p:nvSpPr>
          <p:cNvPr id="4" name="Text 2"/>
          <p:cNvSpPr/>
          <p:nvPr/>
        </p:nvSpPr>
        <p:spPr>
          <a:xfrm>
            <a:off x="609600" y="1584960"/>
            <a:ext cx="10607040" cy="4389120"/>
          </a:xfrm>
          <a:prstGeom prst="rect">
            <a:avLst/>
          </a:prstGeom>
          <a:noFill/>
          <a:ln/>
        </p:spPr>
        <p:txBody>
          <a:bodyPr wrap="square" lIns="0" tIns="0" rIns="0" bIns="0" rtlCol="0" anchor="t"/>
          <a:lstStyle/>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1. What is a patriotic holiday? Why does a country bother to set days aside? Use the word remember in your answer.</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2. Pick one patriotic holiday from the timeline. Name it, give its date, and explain what it honors. (Name -&gt; date -&gt; what it honors.)</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3. What's the difference between a celebrating holiday and a remembering holiday? Give one example of each. (Explain the difference, then give one example for each kind.)</a:t>
            </a:r>
            <a:endParaRPr lang="en-US" sz="1350" dirty="0"/>
          </a:p>
        </p:txBody>
      </p:sp>
      <p:sp>
        <p:nvSpPr>
          <p:cNvPr id="5" name="Text 3"/>
          <p:cNvSpPr/>
          <p:nvPr/>
        </p:nvSpPr>
        <p:spPr>
          <a:xfrm>
            <a:off x="609600" y="6156960"/>
            <a:ext cx="1060704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using details from the lesson.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CURATOR TASK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Council Chamber Recommendation</a:t>
            </a:r>
            <a:endParaRPr lang="en-US" sz="2700" dirty="0"/>
          </a:p>
        </p:txBody>
      </p:sp>
      <p:sp>
        <p:nvSpPr>
          <p:cNvPr id="4" name="Shape 2"/>
          <p:cNvSpPr/>
          <p:nvPr/>
        </p:nvSpPr>
        <p:spPr>
          <a:xfrm>
            <a:off x="609600" y="1524000"/>
            <a:ext cx="10607040" cy="1889760"/>
          </a:xfrm>
          <a:prstGeom prst="roundRect">
            <a:avLst>
              <a:gd name="adj" fmla="val 7742"/>
            </a:avLst>
          </a:prstGeom>
          <a:solidFill>
            <a:srgbClr val="FFF3DC"/>
          </a:solidFill>
          <a:ln/>
        </p:spPr>
      </p:sp>
      <p:sp>
        <p:nvSpPr>
          <p:cNvPr id="5" name="Text 3"/>
          <p:cNvSpPr/>
          <p:nvPr/>
        </p:nvSpPr>
        <p:spPr>
          <a:xfrm>
            <a:off x="853440" y="1645920"/>
            <a:ext cx="10119360" cy="164592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Celebrating or remembering -- which matters more? Defend it honestly. The question on the wall: "If a community had to give the most attention to one kind of patriotic holiday -- the bright celebrating kind or the quiet remembering kind -- which one matters more, and why?" Write your recommendation in 3-5 sentences. Start by naming your choice. Give two reasons, and use at least one piece of evidence from today's lesson -- a specific holiday and what it honors.</a:t>
            </a:r>
            <a:endParaRPr lang="en-US" sz="1150" dirty="0"/>
          </a:p>
        </p:txBody>
      </p:sp>
      <p:sp>
        <p:nvSpPr>
          <p:cNvPr id="6" name="Shape 4"/>
          <p:cNvSpPr/>
          <p:nvPr/>
        </p:nvSpPr>
        <p:spPr>
          <a:xfrm>
            <a:off x="609600" y="3596640"/>
            <a:ext cx="5120640" cy="2072640"/>
          </a:xfrm>
          <a:prstGeom prst="roundRect">
            <a:avLst>
              <a:gd name="adj" fmla="val 7059"/>
            </a:avLst>
          </a:prstGeom>
          <a:solidFill>
            <a:srgbClr val="F0F2F8"/>
          </a:solidFill>
          <a:ln w="19050">
            <a:solidFill>
              <a:srgbClr val="D4943A"/>
            </a:solidFill>
            <a:prstDash val="dash"/>
          </a:ln>
        </p:spPr>
      </p:sp>
      <p:sp>
        <p:nvSpPr>
          <p:cNvPr id="7" name="Text 5"/>
          <p:cNvSpPr/>
          <p:nvPr/>
        </p:nvSpPr>
        <p:spPr>
          <a:xfrm>
            <a:off x="853440" y="3779520"/>
            <a:ext cx="4632960" cy="170688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Curator's Chronicle: "In this exhibit, I learned that ______ because ______."</a:t>
            </a:r>
            <a:endParaRPr lang="en-US" sz="1200" dirty="0"/>
          </a:p>
        </p:txBody>
      </p:sp>
      <p:sp>
        <p:nvSpPr>
          <p:cNvPr id="8" name="Text 6"/>
          <p:cNvSpPr/>
          <p:nvPr/>
        </p:nvSpPr>
        <p:spPr>
          <a:xfrm>
            <a:off x="5974080" y="3596640"/>
            <a:ext cx="5242560" cy="2133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answered all three evidence questions.</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my Council Chamber recommendation with 2 reasons and 1 holiday as evidence.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my Curator's Chronicle.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copied or downloaded my work and submitted to Canvas.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975360" y="1158240"/>
            <a:ext cx="9753600" cy="85344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The Timeline Is Labeled</a:t>
            </a:r>
            <a:endParaRPr lang="en-US" sz="2800" dirty="0"/>
          </a:p>
        </p:txBody>
      </p:sp>
      <p:sp>
        <p:nvSpPr>
          <p:cNvPr id="7" name="Text 4"/>
          <p:cNvSpPr/>
          <p:nvPr/>
        </p:nvSpPr>
        <p:spPr>
          <a:xfrm>
            <a:off x="1219200" y="2255520"/>
            <a:ext cx="9387840" cy="12192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You walked the Patriotic Holidays timeline, learned the difference between celebrating and remembering, and made an honest recommendation about what matters most.</a:t>
            </a:r>
            <a:endParaRPr lang="en-US" sz="1400" dirty="0"/>
          </a:p>
        </p:txBody>
      </p:sp>
      <p:sp>
        <p:nvSpPr>
          <p:cNvPr id="8" name="Shape 5"/>
          <p:cNvSpPr/>
          <p:nvPr/>
        </p:nvSpPr>
        <p:spPr>
          <a:xfrm>
            <a:off x="1463040" y="3596640"/>
            <a:ext cx="8900160" cy="2011680"/>
          </a:xfrm>
          <a:prstGeom prst="roundRect">
            <a:avLst>
              <a:gd name="adj" fmla="val 7273"/>
            </a:avLst>
          </a:prstGeom>
          <a:solidFill>
            <a:srgbClr val="0E1C42"/>
          </a:solidFill>
          <a:ln w="19050">
            <a:solidFill>
              <a:srgbClr val="1A8A7D"/>
            </a:solidFill>
            <a:prstDash val="solid"/>
          </a:ln>
        </p:spPr>
      </p:sp>
      <p:sp>
        <p:nvSpPr>
          <p:cNvPr id="9" name="Text 6"/>
          <p:cNvSpPr/>
          <p:nvPr/>
        </p:nvSpPr>
        <p:spPr>
          <a:xfrm>
            <a:off x="1706880" y="377952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FOUR BRONZE PLAQUES</a:t>
            </a:r>
            <a:endParaRPr lang="en-US" sz="1100" dirty="0"/>
          </a:p>
        </p:txBody>
      </p:sp>
      <p:sp>
        <p:nvSpPr>
          <p:cNvPr id="10" name="Text 7"/>
          <p:cNvSpPr/>
          <p:nvPr/>
        </p:nvSpPr>
        <p:spPr>
          <a:xfrm>
            <a:off x="1706880" y="4206240"/>
            <a:ext cx="8412480" cy="134112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Tomorrow the last back wall of Citizenship Hall finally lights up. Four bronze Civic Virtue plaques are lined up along it, polished and ready to be placed: Civility, Cooperation, Volunteerism, and Responsibility. These four words are the heart of the whole hall.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2026-07-11T19:21:36Z</dcterms:created>
  <dcterms:modified xsi:type="dcterms:W3CDTF">2026-07-11T19:21:36Z</dcterms:modified>
</cp:coreProperties>
</file>