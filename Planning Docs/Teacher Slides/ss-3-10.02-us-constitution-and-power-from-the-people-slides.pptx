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long glass display case lit from above in a quiet museum hall, holding a single sheet of cream-colored antique paper with large old-script handwriting -- the words 'We the People' visible as the largest text at the top. Soft golden spotlight, dignified hush, other Citizenship Hall exhibits faintly visible in the dim background.Welcome students to Citizenship Hall. Read the title aloud, then read the Constitution quote slowly. Preview: today we open the Constitution case, meet the root constitu-, and step into the Council Chamber to argue an old, big question about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Enter the Scene narrative slowly and with dignity -- cream paper, old handwriting, three big words. Preview the day's path: root constitu-, Council Chamber debate, self-check, then the evidence and recommendation. Keep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honesty as today's virtue. Read the virtue text aloud slowly. Connect it directly to the Council Chamber task coming later -- an honest recommendation says why, not just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words: constitution, constitute, institute, substitute. Give 5 seconds of silence. Ask what sound/part repeats and what it might mean. Do not define constitu- yet -- let students guess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Socratic questions aloud, one at a time. Let students respond in chat before revealing more. Build toward: constitu- means 'to set up, to establish.'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concept students discovered: constitu- means to set up. Give the definition of constitution. Run the retrieval challenge -- cover screens, say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Constitution page 1 image. Ask what students see first. Do not explain 'We the People' yet -- let them notice the size of the words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Council Chamber deliberation, not a quiz -- students weigh real evidence and viewpoints together, like a civic council. Read both sides aloud. Ask the Socratic questions. Do not reveal which side the founders chose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vote/type their side in chat before revealing the founders' choice. Then share the Then &amp; Now note about amendments expanding voting rights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that the founders chose Side B: power from the people. Explain 'We the People' and self-government. Run the retrieval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tiny example: even the President can't break the Constitution. Give 5 seconds of think time before opening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Socratic questions aloud. Build toward the exhibit-label idea: the Constitution sits above everyone, including the President, and that is what keeps the country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and Opti's note aloud. This ties together the two discoveries: constitutions set up government, and this one sets up power from the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full Council Chamber recommendation structure aloud: choose a side, give two reasons, name one piece of evidence. This is the exact structure students will use for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class recommendation together, sentence by sentence, calling on students for each piece: side, reason one, reason two, evidence. Write it live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draft their own recommendation quietly, using the checklist. Circulate or monitor chat for support. This is scaffolding directly for the Curator Task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weak sample answer. Ask students to diagnose what's missing -- only one reason, no evidence, not persuasive. This is where deep understanding happens -- do not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genuinely debatable case -- a wise, benevolent leader sounds appealing. Push students to reason about what happens when leadership changes and there is no check on power. Let real disagreement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self-check question aloud. Let students answer verbally or in chat before revealing the answer shown here. Not graded -- just a check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shown. Remind students these are the exact same ideas we discussed in the Council Chamber and clue boxes earlier. Aim for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 Task exactly as written. Think aloud through a strong answer: pick a side, give two reasons, use at least one piece of evidence. Remind students an honest answer always says why, not just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complete the Curator's Chronicle sentence frame exactly as shown. Model one example verbally before opening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glowing Constitution display case at rest in the quiet Citizenship Hall at day's end, with the faint outline of a tall three-level model draped in a cloth cover just visible in the background, hinting at next week's exhibit on local, state, and national government.Quietly celebrate that students opened the Constitution case and made an honest recommendation. Restate the exhibit label. Tease next week's three-level government model. Keep under 1 minute, steady and a little awe-struck.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097280"/>
            <a:ext cx="9753600" cy="487680"/>
          </a:xfrm>
          <a:prstGeom prst="rect">
            <a:avLst/>
          </a:prstGeom>
          <a:noFill/>
          <a:ln/>
        </p:spPr>
        <p:txBody>
          <a:bodyPr wrap="square" lIns="0" tIns="0" rIns="0" bIns="0" rtlCol="0" anchor="ctr"/>
          <a:lstStyle/>
          <a:p>
            <a:pPr algn="ctr" indent="0" marL="0">
              <a:buNone/>
            </a:pPr>
            <a:r>
              <a:rPr lang="en-US" sz="1400" b="1" spc="200" kern="0" dirty="0">
                <a:solidFill>
                  <a:srgbClr val="55C8E8"/>
                </a:solidFill>
                <a:latin typeface="Calibri" pitchFamily="34" charset="0"/>
                <a:ea typeface="Calibri" pitchFamily="34" charset="-122"/>
                <a:cs typeface="Calibri" pitchFamily="34" charset="-120"/>
              </a:rPr>
              <a:t>CITIZENSHIP HALL</a:t>
            </a:r>
            <a:endParaRPr lang="en-US" sz="1400" dirty="0"/>
          </a:p>
        </p:txBody>
      </p:sp>
      <p:sp>
        <p:nvSpPr>
          <p:cNvPr id="6" name="Text 3"/>
          <p:cNvSpPr/>
          <p:nvPr/>
        </p:nvSpPr>
        <p:spPr>
          <a:xfrm>
            <a:off x="975360" y="2133600"/>
            <a:ext cx="10241280" cy="7924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The U.S. Constitution &amp;</a:t>
            </a:r>
            <a:endParaRPr lang="en-US" sz="3200" dirty="0"/>
          </a:p>
        </p:txBody>
      </p:sp>
      <p:sp>
        <p:nvSpPr>
          <p:cNvPr id="7" name="Text 4"/>
          <p:cNvSpPr/>
          <p:nvPr/>
        </p:nvSpPr>
        <p:spPr>
          <a:xfrm>
            <a:off x="975360" y="2926080"/>
            <a:ext cx="10241280" cy="914400"/>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Power from the People</a:t>
            </a:r>
            <a:endParaRPr lang="en-US" sz="3800" dirty="0"/>
          </a:p>
        </p:txBody>
      </p:sp>
      <p:sp>
        <p:nvSpPr>
          <p:cNvPr id="8" name="Text 5"/>
          <p:cNvSpPr/>
          <p:nvPr/>
        </p:nvSpPr>
        <p:spPr>
          <a:xfrm>
            <a:off x="975360" y="4084320"/>
            <a:ext cx="10241280" cy="426720"/>
          </a:xfrm>
          <a:prstGeom prst="rect">
            <a:avLst/>
          </a:prstGeom>
          <a:noFill/>
          <a:ln/>
        </p:spPr>
        <p:txBody>
          <a:bodyPr wrap="square" lIns="0" tIns="0" rIns="0" bIns="0" rtlCol="0" anchor="ctr"/>
          <a:lstStyle/>
          <a:p>
            <a:pPr algn="ctr" indent="0" marL="0">
              <a:buNone/>
            </a:pPr>
            <a:r>
              <a:rPr lang="en-US" sz="1200" b="1" spc="150" kern="0" dirty="0">
                <a:solidFill>
                  <a:srgbClr val="55C8E8"/>
                </a:solidFill>
                <a:latin typeface="Calibri" pitchFamily="34" charset="0"/>
                <a:ea typeface="Calibri" pitchFamily="34" charset="-122"/>
                <a:cs typeface="Calibri" pitchFamily="34" charset="-120"/>
              </a:rPr>
              <a:t>LESSON 3.10.02  ·  BASICS OF GOVERNMENT &amp; CITIZENSHIP  ·  WEEK 28  ·  Q4</a:t>
            </a:r>
            <a:endParaRPr lang="en-US" sz="1200" dirty="0"/>
          </a:p>
        </p:txBody>
      </p:sp>
      <p:sp>
        <p:nvSpPr>
          <p:cNvPr id="9" name="Text 6"/>
          <p:cNvSpPr/>
          <p:nvPr/>
        </p:nvSpPr>
        <p:spPr>
          <a:xfrm>
            <a:off x="1219200" y="4876800"/>
            <a:ext cx="9753600" cy="670560"/>
          </a:xfrm>
          <a:prstGeom prst="rect">
            <a:avLst/>
          </a:prstGeom>
          <a:noFill/>
          <a:ln/>
        </p:spPr>
        <p:txBody>
          <a:bodyPr wrap="square" lIns="0" tIns="0" rIns="0" bIns="0" rtlCol="0" anchor="ctr"/>
          <a:lstStyle/>
          <a:p>
            <a:pPr algn="ctr" indent="0" marL="0">
              <a:buNone/>
            </a:pPr>
            <a:r>
              <a:rPr lang="en-US" sz="1400" i="1" dirty="0">
                <a:solidFill>
                  <a:srgbClr val="D6E0F5"/>
                </a:solidFill>
                <a:latin typeface="Cambria" pitchFamily="34" charset="0"/>
                <a:ea typeface="Cambria" pitchFamily="34" charset="-122"/>
                <a:cs typeface="Cambria" pitchFamily="34" charset="-120"/>
              </a:rPr>
              <a:t>"We the People of the United States… do ordain and establish this Constitution."</a:t>
            </a:r>
            <a:endParaRPr lang="en-US" sz="1400" dirty="0"/>
          </a:p>
        </p:txBody>
      </p:sp>
      <p:sp>
        <p:nvSpPr>
          <p:cNvPr id="10" name="Text 7"/>
          <p:cNvSpPr/>
          <p:nvPr/>
        </p:nvSpPr>
        <p:spPr>
          <a:xfrm>
            <a:off x="975360" y="5730240"/>
            <a:ext cx="10241280" cy="426720"/>
          </a:xfrm>
          <a:prstGeom prst="rect">
            <a:avLst/>
          </a:prstGeom>
          <a:noFill/>
          <a:ln/>
        </p:spPr>
        <p:txBody>
          <a:bodyPr wrap="square" lIns="0" tIns="0" rIns="0" bIns="0" rtlCol="0" anchor="ctr"/>
          <a:lstStyle/>
          <a:p>
            <a:pPr algn="ctr" indent="0" marL="0">
              <a:buNone/>
            </a:pPr>
            <a:r>
              <a:rPr lang="en-US" sz="1200" b="1" spc="100" kern="0" dirty="0">
                <a:solidFill>
                  <a:srgbClr val="1A8A7D"/>
                </a:solidFill>
                <a:latin typeface="Calibri" pitchFamily="34" charset="0"/>
                <a:ea typeface="Calibri" pitchFamily="34" charset="-122"/>
                <a:cs typeface="Calibri" pitchFamily="34" charset="-120"/>
              </a:rPr>
              <a:t>Today's Role: Civic Curator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D4943A"/>
                </a:solidFill>
                <a:latin typeface="Cambria" pitchFamily="34" charset="0"/>
                <a:ea typeface="Cambria" pitchFamily="34" charset="-122"/>
                <a:cs typeface="Cambria" pitchFamily="34" charset="-120"/>
              </a:rPr>
              <a:t>The Constitution Case Opens</a:t>
            </a:r>
            <a:endParaRPr lang="en-US" sz="2800" dirty="0"/>
          </a:p>
        </p:txBody>
      </p:sp>
      <p:sp>
        <p:nvSpPr>
          <p:cNvPr id="3" name="Text 1"/>
          <p:cNvSpPr/>
          <p:nvPr/>
        </p:nvSpPr>
        <p:spPr>
          <a:xfrm>
            <a:off x="609600" y="1280160"/>
            <a:ext cx="6827520" cy="3596640"/>
          </a:xfrm>
          <a:prstGeom prst="rect">
            <a:avLst/>
          </a:prstGeom>
          <a:noFill/>
          <a:ln/>
        </p:spPr>
        <p:txBody>
          <a:bodyPr wrap="square" lIns="0" tIns="0" rIns="0" bIns="0" rtlCol="0" anchor="t"/>
          <a:lstStyle/>
          <a:p>
            <a:pPr algn="l" indent="0" marL="0">
              <a:lnSpc>
                <a:spcPct val="115000"/>
              </a:lnSpc>
              <a:buNone/>
            </a:pPr>
            <a:r>
              <a:rPr lang="en-US" sz="1300" dirty="0">
                <a:solidFill>
                  <a:srgbClr val="FFFFFF"/>
                </a:solidFill>
                <a:latin typeface="Calibri" pitchFamily="34" charset="0"/>
                <a:ea typeface="Calibri" pitchFamily="34" charset="-122"/>
                <a:cs typeface="Calibri" pitchFamily="34" charset="-120"/>
              </a:rPr>
              <a:t>Citizenship Hall is quiet this morning. The "town with no rules" display is still there, but now there's something new beside it -- a long glass case lit from above, with a single piece of cream-colored paper at the center. The guide stops the tour and lowers her voice on purpose. "Curators," she says, "this is the document that built our country." Three words at the top are bigger than all the rest: "We the People." Today, your job as Civic Curator is to figure out what those three words actually mean -- and why a piece of paper can carry that much weight.</a:t>
            </a:r>
            <a:endParaRPr lang="en-US" sz="1300" dirty="0"/>
          </a:p>
        </p:txBody>
      </p:sp>
      <p:sp>
        <p:nvSpPr>
          <p:cNvPr id="4" name="Shape 2"/>
          <p:cNvSpPr/>
          <p:nvPr/>
        </p:nvSpPr>
        <p:spPr>
          <a:xfrm>
            <a:off x="7680960" y="1280160"/>
            <a:ext cx="3779520" cy="2682240"/>
          </a:xfrm>
          <a:prstGeom prst="roundRect">
            <a:avLst>
              <a:gd name="adj" fmla="val 5455"/>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7924800" y="1463040"/>
            <a:ext cx="3413760" cy="36576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BIG QUESTION</a:t>
            </a:r>
            <a:endParaRPr lang="en-US" sz="900" dirty="0"/>
          </a:p>
        </p:txBody>
      </p:sp>
      <p:sp>
        <p:nvSpPr>
          <p:cNvPr id="6" name="Text 4"/>
          <p:cNvSpPr/>
          <p:nvPr/>
        </p:nvSpPr>
        <p:spPr>
          <a:xfrm>
            <a:off x="7924800" y="1889760"/>
            <a:ext cx="3413760" cy="1889760"/>
          </a:xfrm>
          <a:prstGeom prst="rect">
            <a:avLst/>
          </a:prstGeom>
          <a:noFill/>
          <a:ln/>
        </p:spPr>
        <p:txBody>
          <a:bodyPr wrap="square" lIns="0" tIns="0" rIns="0" bIns="0" rtlCol="0" anchor="t"/>
          <a:lstStyle/>
          <a:p>
            <a:pPr algn="l" indent="0" marL="0">
              <a:buNone/>
            </a:pPr>
            <a:r>
              <a:rPr lang="en-US" sz="1300" i="1" dirty="0">
                <a:solidFill>
                  <a:srgbClr val="FFFFFF"/>
                </a:solidFill>
                <a:latin typeface="Cambria" pitchFamily="34" charset="0"/>
                <a:ea typeface="Cambria" pitchFamily="34" charset="-122"/>
                <a:cs typeface="Cambria" pitchFamily="34" charset="-120"/>
              </a:rPr>
              <a:t>In the United States, where does the power of the government come from -- and how do we know?</a:t>
            </a:r>
            <a:endParaRPr lang="en-US" sz="1300" dirty="0"/>
          </a:p>
        </p:txBody>
      </p:sp>
      <p:sp>
        <p:nvSpPr>
          <p:cNvPr id="7" name="Shape 5"/>
          <p:cNvSpPr/>
          <p:nvPr/>
        </p:nvSpPr>
        <p:spPr>
          <a:xfrm>
            <a:off x="7680960" y="4206240"/>
            <a:ext cx="3779520" cy="2133600"/>
          </a:xfrm>
          <a:prstGeom prst="roundRect">
            <a:avLst>
              <a:gd name="adj" fmla="val 6857"/>
            </a:avLst>
          </a:prstGeom>
          <a:solidFill>
            <a:srgbClr val="1A8A7D"/>
          </a:solidFill>
          <a:ln/>
        </p:spPr>
      </p:sp>
      <p:sp>
        <p:nvSpPr>
          <p:cNvPr id="8" name="Text 6"/>
          <p:cNvSpPr/>
          <p:nvPr/>
        </p:nvSpPr>
        <p:spPr>
          <a:xfrm>
            <a:off x="7924800" y="4389120"/>
            <a:ext cx="3413760" cy="341376"/>
          </a:xfrm>
          <a:prstGeom prst="rect">
            <a:avLst/>
          </a:prstGeom>
          <a:noFill/>
          <a:ln/>
        </p:spPr>
        <p:txBody>
          <a:bodyPr wrap="square" lIns="0" tIns="0" rIns="0" bIns="0" rtlCol="0" anchor="ctr"/>
          <a:lstStyle/>
          <a:p>
            <a:pPr indent="0" marL="0">
              <a:buNone/>
            </a:pPr>
            <a:r>
              <a:rPr lang="en-US" sz="900" b="1" spc="150" kern="0" dirty="0">
                <a:solidFill>
                  <a:srgbClr val="D6F2FB"/>
                </a:solidFill>
                <a:latin typeface="Calibri" pitchFamily="34" charset="0"/>
                <a:ea typeface="Calibri" pitchFamily="34" charset="-122"/>
                <a:cs typeface="Calibri" pitchFamily="34" charset="-120"/>
              </a:rPr>
              <a:t>TODAY'S PATH</a:t>
            </a:r>
            <a:endParaRPr lang="en-US" sz="900" dirty="0"/>
          </a:p>
        </p:txBody>
      </p:sp>
      <p:sp>
        <p:nvSpPr>
          <p:cNvPr id="9" name="Text 7"/>
          <p:cNvSpPr/>
          <p:nvPr/>
        </p:nvSpPr>
        <p:spPr>
          <a:xfrm>
            <a:off x="7924800" y="4779264"/>
            <a:ext cx="3413760" cy="1463040"/>
          </a:xfrm>
          <a:prstGeom prst="rect">
            <a:avLst/>
          </a:prstGeom>
          <a:noFill/>
          <a:ln/>
        </p:spPr>
        <p:txBody>
          <a:bodyPr wrap="square" lIns="0" tIns="0" rIns="0" bIns="0" rtlCol="0" anchor="t"/>
          <a:lstStyle/>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1. Meet the root constitu-</a:t>
            </a:r>
            <a:endParaRPr lang="en-US" sz="1050" dirty="0"/>
          </a:p>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2. Council Chamber: King or the people?</a:t>
            </a:r>
            <a:endParaRPr lang="en-US" sz="1050" dirty="0"/>
          </a:p>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3. Check understanding</a:t>
            </a:r>
            <a:endParaRPr lang="en-US" sz="1050" dirty="0"/>
          </a:p>
          <a:p>
            <a:pPr indent="0" marL="0">
              <a:lnSpc>
                <a:spcPct val="110000"/>
              </a:lnSpc>
              <a:buNone/>
            </a:pPr>
            <a:r>
              <a:rPr lang="en-US" sz="1050" dirty="0">
                <a:solidFill>
                  <a:srgbClr val="FFFFFF"/>
                </a:solidFill>
                <a:latin typeface="Calibri" pitchFamily="34" charset="0"/>
                <a:ea typeface="Calibri" pitchFamily="34" charset="-122"/>
                <a:cs typeface="Calibri" pitchFamily="34" charset="-120"/>
              </a:rPr>
              <a:t>4. Write a recommendation with evidence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426720"/>
          </a:xfrm>
          <a:prstGeom prst="rect">
            <a:avLst/>
          </a:prstGeom>
          <a:noFill/>
          <a:ln/>
        </p:spPr>
        <p:txBody>
          <a:bodyPr wrap="square" lIns="0" tIns="0" rIns="0" bIns="0" rtlCol="0" anchor="ctr"/>
          <a:lstStyle/>
          <a:p>
            <a:pPr indent="0" marL="0">
              <a:buNone/>
            </a:pPr>
            <a:r>
              <a:rPr lang="en-US" sz="1200" b="1" spc="200" kern="0" dirty="0">
                <a:solidFill>
                  <a:srgbClr val="55C8E8"/>
                </a:solidFill>
                <a:latin typeface="Calibri" pitchFamily="34" charset="0"/>
                <a:ea typeface="Calibri" pitchFamily="34" charset="-122"/>
                <a:cs typeface="Calibri" pitchFamily="34" charset="-120"/>
              </a:rPr>
              <a:t>VIRTUE SPOTLIGHT</a:t>
            </a:r>
            <a:endParaRPr lang="en-US" sz="1200" dirty="0"/>
          </a:p>
        </p:txBody>
      </p:sp>
      <p:sp>
        <p:nvSpPr>
          <p:cNvPr id="3" name="Text 1"/>
          <p:cNvSpPr/>
          <p:nvPr/>
        </p:nvSpPr>
        <p:spPr>
          <a:xfrm>
            <a:off x="609600" y="877824"/>
            <a:ext cx="10972800" cy="853440"/>
          </a:xfrm>
          <a:prstGeom prst="rect">
            <a:avLst/>
          </a:prstGeom>
          <a:noFill/>
          <a:ln/>
        </p:spPr>
        <p:txBody>
          <a:bodyPr wrap="square" lIns="0" tIns="0" rIns="0" bIns="0" rtlCol="0" anchor="ctr"/>
          <a:lstStyle/>
          <a:p>
            <a:pPr algn="l" indent="0" marL="0">
              <a:buNone/>
            </a:pPr>
            <a:r>
              <a:rPr lang="en-US" sz="3600" b="1" dirty="0">
                <a:solidFill>
                  <a:srgbClr val="D4943A"/>
                </a:solidFill>
                <a:latin typeface="Cambria" pitchFamily="34" charset="0"/>
                <a:ea typeface="Cambria" pitchFamily="34" charset="-122"/>
                <a:cs typeface="Cambria" pitchFamily="34" charset="-120"/>
              </a:rPr>
              <a:t>Honesty</a:t>
            </a:r>
            <a:endParaRPr lang="en-US" sz="3600" dirty="0"/>
          </a:p>
        </p:txBody>
      </p:sp>
      <p:sp>
        <p:nvSpPr>
          <p:cNvPr id="4" name="Shape 2"/>
          <p:cNvSpPr/>
          <p:nvPr/>
        </p:nvSpPr>
        <p:spPr>
          <a:xfrm>
            <a:off x="609600" y="1950720"/>
            <a:ext cx="10607040" cy="2804160"/>
          </a:xfrm>
          <a:prstGeom prst="roundRect">
            <a:avLst>
              <a:gd name="adj" fmla="val 6522"/>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975360" y="2255520"/>
            <a:ext cx="9875520" cy="2194560"/>
          </a:xfrm>
          <a:prstGeom prst="rect">
            <a:avLst/>
          </a:prstGeom>
          <a:noFill/>
          <a:ln/>
        </p:spPr>
        <p:txBody>
          <a:bodyPr wrap="square" lIns="0" tIns="0" rIns="0" bIns="0" rtlCol="0" anchor="t"/>
          <a:lstStyle/>
          <a:p>
            <a:pPr algn="l" indent="0" marL="0">
              <a:lnSpc>
                <a:spcPct val="120000"/>
              </a:lnSpc>
              <a:buNone/>
            </a:pPr>
            <a:r>
              <a:rPr lang="en-US" sz="1500" i="1" dirty="0">
                <a:solidFill>
                  <a:srgbClr val="FFFFFF"/>
                </a:solidFill>
                <a:latin typeface="Cambria" pitchFamily="34" charset="0"/>
                <a:ea typeface="Cambria" pitchFamily="34" charset="-122"/>
                <a:cs typeface="Cambria" pitchFamily="34" charset="-120"/>
              </a:rPr>
              <a:t>A country built on "the people" only works when the people are honest. Honest votes. Honest leaders. Honest neighbors. Today, as you read the Constitution and step into the Council Chamber, ask yourself: which choice can people say out loud and feel proud of?</a:t>
            </a:r>
            <a:endParaRPr lang="en-US" sz="1500" dirty="0"/>
          </a:p>
        </p:txBody>
      </p:sp>
      <p:sp>
        <p:nvSpPr>
          <p:cNvPr id="6" name="Text 4"/>
          <p:cNvSpPr/>
          <p:nvPr/>
        </p:nvSpPr>
        <p:spPr>
          <a:xfrm>
            <a:off x="609600" y="5120640"/>
            <a:ext cx="10972800" cy="365760"/>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Your Role Today</a:t>
            </a:r>
            <a:endParaRPr lang="en-US" sz="1200" dirty="0"/>
          </a:p>
        </p:txBody>
      </p:sp>
      <p:sp>
        <p:nvSpPr>
          <p:cNvPr id="7" name="Text 5"/>
          <p:cNvSpPr/>
          <p:nvPr/>
        </p:nvSpPr>
        <p:spPr>
          <a:xfrm>
            <a:off x="609600" y="5547360"/>
            <a:ext cx="10850880" cy="1097280"/>
          </a:xfrm>
          <a:prstGeom prst="rect">
            <a:avLst/>
          </a:prstGeom>
          <a:noFill/>
          <a:ln/>
        </p:spPr>
        <p:txBody>
          <a:bodyPr wrap="square" lIns="0" tIns="0" rIns="0" bIns="0" rtlCol="0" anchor="t"/>
          <a:lstStyle/>
          <a:p>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You are still the Civic Curator -- but today you're standing in front of the most important document in the hall. Your job is to write the case label for the Constitution and then make a careful, honest recommendation in the Council Chamber.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CLUE BOX  ·  WORD ROOTS</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What Do These Words Have in Common?</a:t>
            </a:r>
            <a:endParaRPr lang="en-US" sz="2800" dirty="0"/>
          </a:p>
        </p:txBody>
      </p:sp>
      <p:sp>
        <p:nvSpPr>
          <p:cNvPr id="4" name="Shape 2"/>
          <p:cNvSpPr/>
          <p:nvPr/>
        </p:nvSpPr>
        <p:spPr>
          <a:xfrm>
            <a:off x="609600" y="1219200"/>
            <a:ext cx="5242560" cy="3169920"/>
          </a:xfrm>
          <a:prstGeom prst="roundRect">
            <a:avLst>
              <a:gd name="adj" fmla="val 4615"/>
            </a:avLst>
          </a:prstGeom>
          <a:solidFill>
            <a:srgbClr val="E2E8F4"/>
          </a:solidFill>
          <a:ln w="19050">
            <a:solidFill>
              <a:srgbClr val="B0B8CC"/>
            </a:solidFill>
            <a:prstDash val="dash"/>
          </a:ln>
        </p:spPr>
      </p:sp>
      <p:sp>
        <p:nvSpPr>
          <p:cNvPr id="5" name="Text 3"/>
          <p:cNvSpPr/>
          <p:nvPr/>
        </p:nvSpPr>
        <p:spPr>
          <a:xfrm>
            <a:off x="609600" y="1219200"/>
            <a:ext cx="52425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584960"/>
            <a:ext cx="4876800" cy="2682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photo of the word 'CONSTITUTION' carved into stone or engraved on an old document header, with soft magnifying-glass framing</a:t>
            </a:r>
            <a:endParaRPr lang="en-US" sz="1100" dirty="0"/>
          </a:p>
        </p:txBody>
      </p:sp>
      <p:sp>
        <p:nvSpPr>
          <p:cNvPr id="7" name="Shape 5"/>
          <p:cNvSpPr/>
          <p:nvPr/>
        </p:nvSpPr>
        <p:spPr>
          <a:xfrm>
            <a:off x="6217920" y="1219200"/>
            <a:ext cx="4998720" cy="3169920"/>
          </a:xfrm>
          <a:prstGeom prst="roundRect">
            <a:avLst>
              <a:gd name="adj" fmla="val 4615"/>
            </a:avLst>
          </a:prstGeom>
          <a:solidFill>
            <a:srgbClr val="F0E8FF"/>
          </a:solidFill>
          <a:ln/>
        </p:spPr>
      </p:sp>
      <p:sp>
        <p:nvSpPr>
          <p:cNvPr id="8" name="Text 6"/>
          <p:cNvSpPr/>
          <p:nvPr/>
        </p:nvSpPr>
        <p:spPr>
          <a:xfrm>
            <a:off x="6461760" y="1463040"/>
            <a:ext cx="4511040" cy="1097280"/>
          </a:xfrm>
          <a:prstGeom prst="rect">
            <a:avLst/>
          </a:prstGeom>
          <a:noFill/>
          <a:ln/>
        </p:spPr>
        <p:txBody>
          <a:bodyPr wrap="square" lIns="0" tIns="0" rIns="0" bIns="0" rtlCol="0" anchor="ctr"/>
          <a:lstStyle/>
          <a:p>
            <a:pPr algn="ctr" indent="0" marL="0">
              <a:buNone/>
            </a:pPr>
            <a:r>
              <a:rPr lang="en-US" sz="1400" b="1" dirty="0">
                <a:solidFill>
                  <a:srgbClr val="8B6FC0"/>
                </a:solidFill>
                <a:latin typeface="Cambria" pitchFamily="34" charset="0"/>
                <a:ea typeface="Cambria" pitchFamily="34" charset="-122"/>
                <a:cs typeface="Cambria" pitchFamily="34" charset="-120"/>
              </a:rPr>
              <a:t>constitution   ·   constitute   ·   institute   ·   substitute</a:t>
            </a:r>
            <a:endParaRPr lang="en-US" sz="1400" dirty="0"/>
          </a:p>
        </p:txBody>
      </p:sp>
      <p:sp>
        <p:nvSpPr>
          <p:cNvPr id="9" name="Text 7"/>
          <p:cNvSpPr/>
          <p:nvPr/>
        </p:nvSpPr>
        <p:spPr>
          <a:xfrm>
            <a:off x="6461760" y="2682240"/>
            <a:ext cx="4511040" cy="1463040"/>
          </a:xfrm>
          <a:prstGeom prst="rect">
            <a:avLst/>
          </a:prstGeom>
          <a:noFill/>
          <a:ln/>
        </p:spPr>
        <p:txBody>
          <a:bodyPr wrap="square" lIns="0" tIns="0" rIns="0" bIns="0" rtlCol="0" anchor="ctr"/>
          <a:lstStyle/>
          <a:p>
            <a:pPr algn="ctr" indent="0" marL="0">
              <a:buNone/>
            </a:pPr>
            <a:r>
              <a:rPr lang="en-US" sz="1300" i="1" dirty="0">
                <a:solidFill>
                  <a:srgbClr val="0E1C42"/>
                </a:solidFill>
                <a:latin typeface="Calibri" pitchFamily="34" charset="0"/>
                <a:ea typeface="Calibri" pitchFamily="34" charset="-122"/>
                <a:cs typeface="Calibri" pitchFamily="34" charset="-120"/>
              </a:rPr>
              <a:t>Latin root: constitu- ... ?</a:t>
            </a:r>
            <a:endParaRPr lang="en-US" sz="1300" dirty="0"/>
          </a:p>
        </p:txBody>
      </p:sp>
      <p:sp>
        <p:nvSpPr>
          <p:cNvPr id="10" name="Text 8"/>
          <p:cNvSpPr/>
          <p:nvPr/>
        </p:nvSpPr>
        <p:spPr>
          <a:xfrm>
            <a:off x="609600" y="4572000"/>
            <a:ext cx="10607040" cy="36576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Look, listen, and think for 5 seconds before we talk.</a:t>
            </a:r>
            <a:endParaRPr lang="en-US" sz="1100" dirty="0"/>
          </a:p>
        </p:txBody>
      </p:sp>
      <p:sp>
        <p:nvSpPr>
          <p:cNvPr id="11" name="Shape 9"/>
          <p:cNvSpPr/>
          <p:nvPr/>
        </p:nvSpPr>
        <p:spPr>
          <a:xfrm>
            <a:off x="609600" y="5059680"/>
            <a:ext cx="10607040" cy="1402080"/>
          </a:xfrm>
          <a:prstGeom prst="roundRect">
            <a:avLst>
              <a:gd name="adj" fmla="val 10435"/>
            </a:avLst>
          </a:prstGeom>
          <a:solidFill>
            <a:srgbClr val="FFF3DC"/>
          </a:solidFill>
          <a:ln w="19050">
            <a:solidFill>
              <a:srgbClr val="F5E6C8"/>
            </a:solidFill>
            <a:prstDash val="solid"/>
          </a:ln>
        </p:spPr>
      </p:sp>
      <p:sp>
        <p:nvSpPr>
          <p:cNvPr id="12" name="Text 10"/>
          <p:cNvSpPr/>
          <p:nvPr/>
        </p:nvSpPr>
        <p:spPr>
          <a:xfrm>
            <a:off x="792480" y="513283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92480" y="5401056"/>
            <a:ext cx="10241280" cy="975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these words all have..."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root constitu- might mean..."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DISCUSSION  ·  WORD ROOTS</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What Does constitu- Mean?</a:t>
            </a:r>
            <a:endParaRPr lang="en-US" sz="2800" dirty="0"/>
          </a:p>
        </p:txBody>
      </p:sp>
      <p:sp>
        <p:nvSpPr>
          <p:cNvPr id="4" name="Shape 2"/>
          <p:cNvSpPr/>
          <p:nvPr/>
        </p:nvSpPr>
        <p:spPr>
          <a:xfrm>
            <a:off x="609600" y="1219200"/>
            <a:ext cx="10607040" cy="2560320"/>
          </a:xfrm>
          <a:prstGeom prst="roundRect">
            <a:avLst>
              <a:gd name="adj" fmla="val 7143"/>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3411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1682496"/>
            <a:ext cx="10119360" cy="19751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these four words have in common besides the letters constitu-?</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constitution is 'the written rules that set up a government.' Does that fit your guess?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the writers of a brand-new country need something that 'sets up' the whole thing?</a:t>
            </a:r>
            <a:endParaRPr lang="en-US" sz="1100" dirty="0"/>
          </a:p>
        </p:txBody>
      </p:sp>
      <p:sp>
        <p:nvSpPr>
          <p:cNvPr id="7" name="Shape 5"/>
          <p:cNvSpPr/>
          <p:nvPr/>
        </p:nvSpPr>
        <p:spPr>
          <a:xfrm>
            <a:off x="609600" y="3962400"/>
            <a:ext cx="10607040" cy="1584960"/>
          </a:xfrm>
          <a:prstGeom prst="roundRect">
            <a:avLst>
              <a:gd name="adj" fmla="val 9231"/>
            </a:avLst>
          </a:prstGeom>
          <a:solidFill>
            <a:srgbClr val="FFF3DC"/>
          </a:solidFill>
          <a:ln w="19050">
            <a:solidFill>
              <a:srgbClr val="F5E6C8"/>
            </a:solidFill>
            <a:prstDash val="solid"/>
          </a:ln>
        </p:spPr>
      </p:sp>
      <p:sp>
        <p:nvSpPr>
          <p:cNvPr id="8" name="Text 6"/>
          <p:cNvSpPr/>
          <p:nvPr/>
        </p:nvSpPr>
        <p:spPr>
          <a:xfrm>
            <a:off x="792480" y="403555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92480" y="4303776"/>
            <a:ext cx="1024128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constitu-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constitution could be important because..."</a:t>
            </a:r>
            <a:endParaRPr lang="en-US" sz="1200" dirty="0"/>
          </a:p>
        </p:txBody>
      </p:sp>
      <p:sp>
        <p:nvSpPr>
          <p:cNvPr id="10" name="Text 8"/>
          <p:cNvSpPr/>
          <p:nvPr/>
        </p:nvSpPr>
        <p:spPr>
          <a:xfrm>
            <a:off x="609600" y="5730240"/>
            <a:ext cx="10607040" cy="609600"/>
          </a:xfrm>
          <a:prstGeom prst="rect">
            <a:avLst/>
          </a:prstGeom>
          <a:noFill/>
          <a:ln/>
        </p:spPr>
        <p:txBody>
          <a:bodyPr wrap="square" lIns="0" tIns="0" rIns="0" bIns="0" rtlCol="0" anchor="t"/>
          <a:lstStyle/>
          <a:p>
            <a:pPr algn="ctr" indent="0" marL="0">
              <a:buNone/>
            </a:pPr>
            <a:r>
              <a:rPr lang="en-US" sz="1100" i="1" dirty="0">
                <a:solidFill>
                  <a:srgbClr val="7A88A8"/>
                </a:solidFill>
                <a:latin typeface="Calibri" pitchFamily="34" charset="0"/>
                <a:ea typeface="Calibri" pitchFamily="34" charset="-122"/>
                <a:cs typeface="Calibri" pitchFamily="34" charset="-120"/>
              </a:rPr>
              <a:t>Discovery Fact: the U.S. Constitution is only about 4,500 words -- one of the shortest in the world -- but it has set up the rules for the United States since 1787.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D4943A"/>
                </a:solidFill>
                <a:latin typeface="Cambria" pitchFamily="34" charset="0"/>
                <a:ea typeface="Cambria" pitchFamily="34" charset="-122"/>
                <a:cs typeface="Cambria" pitchFamily="34" charset="-120"/>
              </a:rPr>
              <a:t>constitu- means "to set up"</a:t>
            </a:r>
            <a:endParaRPr lang="en-US" sz="2800" dirty="0"/>
          </a:p>
        </p:txBody>
      </p:sp>
      <p:sp>
        <p:nvSpPr>
          <p:cNvPr id="3" name="Shape 1"/>
          <p:cNvSpPr/>
          <p:nvPr/>
        </p:nvSpPr>
        <p:spPr>
          <a:xfrm>
            <a:off x="609600" y="1341120"/>
            <a:ext cx="10607040" cy="2316480"/>
          </a:xfrm>
          <a:prstGeom prst="roundRect">
            <a:avLst>
              <a:gd name="adj" fmla="val 7895"/>
            </a:avLst>
          </a:prstGeom>
          <a:solidFill>
            <a:srgbClr val="1A2D5A"/>
          </a:solidFill>
          <a:ln/>
        </p:spPr>
      </p:sp>
      <p:sp>
        <p:nvSpPr>
          <p:cNvPr id="4" name="Text 2"/>
          <p:cNvSpPr/>
          <p:nvPr/>
        </p:nvSpPr>
        <p:spPr>
          <a:xfrm>
            <a:off x="975360" y="1584960"/>
            <a:ext cx="9875520" cy="1828800"/>
          </a:xfrm>
          <a:prstGeom prst="rect">
            <a:avLst/>
          </a:prstGeom>
          <a:noFill/>
          <a:ln/>
        </p:spPr>
        <p:txBody>
          <a:bodyPr wrap="square" lIns="0" tIns="0" rIns="0" bIns="0" rtlCol="0" anchor="t"/>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The Latin root constitu- means "to set up" or "to put in place." When you constitute something, you build it on purpose. That's exactly what the writers of the U.S. Constitution were doing -- setting up a whole country from scratch.</a:t>
            </a:r>
            <a:endParaRPr lang="en-US" sz="1400" dirty="0"/>
          </a:p>
        </p:txBody>
      </p:sp>
      <p:sp>
        <p:nvSpPr>
          <p:cNvPr id="5" name="Text 3"/>
          <p:cNvSpPr/>
          <p:nvPr/>
        </p:nvSpPr>
        <p:spPr>
          <a:xfrm>
            <a:off x="609600" y="3901440"/>
            <a:ext cx="10607040" cy="487680"/>
          </a:xfrm>
          <a:prstGeom prst="rect">
            <a:avLst/>
          </a:prstGeom>
          <a:noFill/>
          <a:ln/>
        </p:spPr>
        <p:txBody>
          <a:bodyPr wrap="square" lIns="0" tIns="0" rIns="0" bIns="0" rtlCol="0" anchor="ctr"/>
          <a:lstStyle/>
          <a:p>
            <a:pPr algn="ctr" indent="0" marL="0">
              <a:buNone/>
            </a:pPr>
            <a:r>
              <a:rPr lang="en-US" sz="1500" b="1" dirty="0">
                <a:solidFill>
                  <a:srgbClr val="55C8E8"/>
                </a:solidFill>
                <a:latin typeface="Cambria" pitchFamily="34" charset="0"/>
                <a:ea typeface="Cambria" pitchFamily="34" charset="-122"/>
                <a:cs typeface="Cambria" pitchFamily="34" charset="-120"/>
              </a:rPr>
              <a:t>constitution = written rules that set up a government</a:t>
            </a:r>
            <a:endParaRPr lang="en-US" sz="1500" dirty="0"/>
          </a:p>
        </p:txBody>
      </p:sp>
      <p:sp>
        <p:nvSpPr>
          <p:cNvPr id="6" name="Shape 4"/>
          <p:cNvSpPr/>
          <p:nvPr/>
        </p:nvSpPr>
        <p:spPr>
          <a:xfrm>
            <a:off x="609600" y="4572000"/>
            <a:ext cx="10607040" cy="1402080"/>
          </a:xfrm>
          <a:prstGeom prst="roundRect">
            <a:avLst>
              <a:gd name="adj" fmla="val 8696"/>
            </a:avLst>
          </a:prstGeom>
          <a:solidFill>
            <a:srgbClr val="142A5C"/>
          </a:solidFill>
          <a:ln/>
        </p:spPr>
      </p:sp>
      <p:sp>
        <p:nvSpPr>
          <p:cNvPr id="7" name="Text 5"/>
          <p:cNvSpPr/>
          <p:nvPr/>
        </p:nvSpPr>
        <p:spPr>
          <a:xfrm>
            <a:off x="853440" y="4693920"/>
            <a:ext cx="10119360" cy="3048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RETRIEVAL CHALLENGE</a:t>
            </a:r>
            <a:endParaRPr lang="en-US" sz="900" dirty="0"/>
          </a:p>
        </p:txBody>
      </p:sp>
      <p:sp>
        <p:nvSpPr>
          <p:cNvPr id="8" name="Text 6"/>
          <p:cNvSpPr/>
          <p:nvPr/>
        </p:nvSpPr>
        <p:spPr>
          <a:xfrm>
            <a:off x="853440" y="5059680"/>
            <a:ext cx="10119360" cy="73152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Cover your screen. Say what constitu- means, out loud, from memory.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CLUE BOX  ·  SOURCE STUDY</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The U.S. Constitution -- Page 1 (1787)</a:t>
            </a:r>
            <a:endParaRPr lang="en-US" sz="2800" dirty="0"/>
          </a:p>
        </p:txBody>
      </p:sp>
      <p:sp>
        <p:nvSpPr>
          <p:cNvPr id="4" name="Shape 2"/>
          <p:cNvSpPr/>
          <p:nvPr/>
        </p:nvSpPr>
        <p:spPr>
          <a:xfrm>
            <a:off x="609600" y="1219200"/>
            <a:ext cx="6096000" cy="36576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609600" y="121920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584960"/>
            <a:ext cx="5730240" cy="3169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source-3-10-02-constitution-page-one.jpg -- high-resolution photo of the first page of the original U.S. Constitution, giant "We the People" header in old script (National Archives scan)</a:t>
            </a:r>
            <a:endParaRPr lang="en-US" sz="1100" dirty="0"/>
          </a:p>
        </p:txBody>
      </p:sp>
      <p:sp>
        <p:nvSpPr>
          <p:cNvPr id="7" name="Shape 5"/>
          <p:cNvSpPr/>
          <p:nvPr/>
        </p:nvSpPr>
        <p:spPr>
          <a:xfrm>
            <a:off x="6949440" y="1219200"/>
            <a:ext cx="4267200" cy="3657600"/>
          </a:xfrm>
          <a:prstGeom prst="roundRect">
            <a:avLst>
              <a:gd name="adj" fmla="val 4000"/>
            </a:avLst>
          </a:prstGeom>
          <a:solidFill>
            <a:srgbClr val="F0F2F8"/>
          </a:solidFill>
          <a:ln/>
        </p:spPr>
      </p:sp>
      <p:sp>
        <p:nvSpPr>
          <p:cNvPr id="8" name="Text 6"/>
          <p:cNvSpPr/>
          <p:nvPr/>
        </p:nvSpPr>
        <p:spPr>
          <a:xfrm>
            <a:off x="7193280" y="1402080"/>
            <a:ext cx="3779520" cy="365760"/>
          </a:xfrm>
          <a:prstGeom prst="rect">
            <a:avLst/>
          </a:prstGeom>
          <a:noFill/>
          <a:ln/>
        </p:spPr>
        <p:txBody>
          <a:bodyPr wrap="square" lIns="0" tIns="0" rIns="0" bIns="0"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Primary Source</a:t>
            </a:r>
            <a:endParaRPr lang="en-US" sz="1000" dirty="0"/>
          </a:p>
        </p:txBody>
      </p:sp>
      <p:sp>
        <p:nvSpPr>
          <p:cNvPr id="9" name="Text 7"/>
          <p:cNvSpPr/>
          <p:nvPr/>
        </p:nvSpPr>
        <p:spPr>
          <a:xfrm>
            <a:off x="7193280" y="1828800"/>
            <a:ext cx="3779520" cy="853440"/>
          </a:xfrm>
          <a:prstGeom prst="rect">
            <a:avLst/>
          </a:prstGeom>
          <a:noFill/>
          <a:ln/>
        </p:spPr>
        <p:txBody>
          <a:bodyPr wrap="square" lIns="0" tIns="0" rIns="0" bIns="0"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The U.S. Constitution, signed September 17, 1787, Philadelphia</a:t>
            </a:r>
            <a:endParaRPr lang="en-US" sz="1200" dirty="0"/>
          </a:p>
        </p:txBody>
      </p:sp>
      <p:sp>
        <p:nvSpPr>
          <p:cNvPr id="10" name="Text 8"/>
          <p:cNvSpPr/>
          <p:nvPr/>
        </p:nvSpPr>
        <p:spPr>
          <a:xfrm>
            <a:off x="7193280" y="2865120"/>
            <a:ext cx="3779520" cy="1828800"/>
          </a:xfrm>
          <a:prstGeom prst="rect">
            <a:avLst/>
          </a:prstGeom>
          <a:noFill/>
          <a:ln/>
        </p:spPr>
        <p:txBody>
          <a:bodyPr wrap="square" lIns="0" tIns="0" rIns="0" bIns="0" rtlCol="0" anchor="t"/>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Look at the very first words written across the top. Which words are biggest?</a:t>
            </a:r>
            <a:endParaRPr lang="en-US" sz="1200" dirty="0"/>
          </a:p>
        </p:txBody>
      </p:sp>
      <p:sp>
        <p:nvSpPr>
          <p:cNvPr id="11" name="Shape 9"/>
          <p:cNvSpPr/>
          <p:nvPr/>
        </p:nvSpPr>
        <p:spPr>
          <a:xfrm>
            <a:off x="609600" y="5181600"/>
            <a:ext cx="10607040" cy="1280160"/>
          </a:xfrm>
          <a:prstGeom prst="roundRect">
            <a:avLst>
              <a:gd name="adj" fmla="val 11429"/>
            </a:avLst>
          </a:prstGeom>
          <a:solidFill>
            <a:srgbClr val="FFF3DC"/>
          </a:solidFill>
          <a:ln w="19050">
            <a:solidFill>
              <a:srgbClr val="F5E6C8"/>
            </a:solidFill>
            <a:prstDash val="solid"/>
          </a:ln>
        </p:spPr>
      </p:sp>
      <p:sp>
        <p:nvSpPr>
          <p:cNvPr id="12" name="Text 10"/>
          <p:cNvSpPr/>
          <p:nvPr/>
        </p:nvSpPr>
        <p:spPr>
          <a:xfrm>
            <a:off x="792480" y="525475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92480" y="5522976"/>
            <a:ext cx="10241280" cy="853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biggest words 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 why they made those words so big..."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COUNCIL CHAMBER  ·  DELIBERATION</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A New Country Is Being Built...</a:t>
            </a:r>
            <a:endParaRPr lang="en-US" sz="2800" dirty="0"/>
          </a:p>
        </p:txBody>
      </p:sp>
      <p:sp>
        <p:nvSpPr>
          <p:cNvPr id="4" name="Text 2"/>
          <p:cNvSpPr/>
          <p:nvPr/>
        </p:nvSpPr>
        <p:spPr>
          <a:xfrm>
            <a:off x="609600" y="1158240"/>
            <a:ext cx="10607040" cy="609600"/>
          </a:xfrm>
          <a:prstGeom prst="rect">
            <a:avLst/>
          </a:prstGeom>
          <a:noFill/>
          <a:ln/>
        </p:spPr>
        <p:txBody>
          <a:bodyPr wrap="square" lIns="0" tIns="0" rIns="0" bIns="0" rtlCol="0" anchor="ctr"/>
          <a:lstStyle/>
          <a:p>
            <a:pPr algn="l" indent="0" marL="0">
              <a:buNone/>
            </a:pPr>
            <a:r>
              <a:rPr lang="en-US" sz="1400" b="1" i="1" dirty="0">
                <a:solidFill>
                  <a:srgbClr val="0E1C42"/>
                </a:solidFill>
                <a:latin typeface="Cambria" pitchFamily="34" charset="0"/>
                <a:ea typeface="Cambria" pitchFamily="34" charset="-122"/>
                <a:cs typeface="Cambria" pitchFamily="34" charset="-120"/>
              </a:rPr>
              <a:t>Should one person decide all the rules, or should the people decide together?</a:t>
            </a:r>
            <a:endParaRPr lang="en-US" sz="1400" dirty="0"/>
          </a:p>
        </p:txBody>
      </p:sp>
      <p:sp>
        <p:nvSpPr>
          <p:cNvPr id="5" name="Shape 3"/>
          <p:cNvSpPr/>
          <p:nvPr/>
        </p:nvSpPr>
        <p:spPr>
          <a:xfrm>
            <a:off x="609600" y="1889760"/>
            <a:ext cx="5120640" cy="1828800"/>
          </a:xfrm>
          <a:prstGeom prst="roundRect">
            <a:avLst>
              <a:gd name="adj" fmla="val 8000"/>
            </a:avLst>
          </a:prstGeom>
          <a:solidFill>
            <a:srgbClr val="FFF3DC"/>
          </a:solidFill>
          <a:ln/>
        </p:spPr>
      </p:sp>
      <p:sp>
        <p:nvSpPr>
          <p:cNvPr id="6" name="Text 4"/>
          <p:cNvSpPr/>
          <p:nvPr/>
        </p:nvSpPr>
        <p:spPr>
          <a:xfrm>
            <a:off x="853440" y="2048256"/>
            <a:ext cx="4632960" cy="36576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Side A: One Strong Leader</a:t>
            </a:r>
            <a:endParaRPr lang="en-US" sz="1200" dirty="0"/>
          </a:p>
        </p:txBody>
      </p:sp>
      <p:sp>
        <p:nvSpPr>
          <p:cNvPr id="7" name="Text 5"/>
          <p:cNvSpPr/>
          <p:nvPr/>
        </p:nvSpPr>
        <p:spPr>
          <a:xfrm>
            <a:off x="853440" y="2438400"/>
            <a:ext cx="4632960" cy="1219200"/>
          </a:xfrm>
          <a:prstGeom prst="rect">
            <a:avLst/>
          </a:prstGeom>
          <a:noFill/>
          <a:ln/>
        </p:spPr>
        <p:txBody>
          <a:bodyPr wrap="square" lIns="0" tIns="0" rIns="0" bIns="0" rtlCol="0" anchor="t"/>
          <a:lstStyle/>
          <a:p>
            <a:pPr indent="0" marL="0">
              <a:lnSpc>
                <a:spcPct val="110000"/>
              </a:lnSpc>
              <a:buNone/>
            </a:pPr>
            <a:r>
              <a:rPr lang="en-US" sz="1100" dirty="0">
                <a:solidFill>
                  <a:srgbClr val="0E1C42"/>
                </a:solidFill>
                <a:latin typeface="Calibri" pitchFamily="34" charset="0"/>
                <a:ea typeface="Calibri" pitchFamily="34" charset="-122"/>
                <a:cs typeface="Calibri" pitchFamily="34" charset="-120"/>
              </a:rPr>
              <a:t>Quick decisions, no arguing. Everyone knows who's in charge. No slow votes when the country needs to act fast.</a:t>
            </a:r>
            <a:endParaRPr lang="en-US" sz="1100" dirty="0"/>
          </a:p>
        </p:txBody>
      </p:sp>
      <p:sp>
        <p:nvSpPr>
          <p:cNvPr id="8" name="Shape 6"/>
          <p:cNvSpPr/>
          <p:nvPr/>
        </p:nvSpPr>
        <p:spPr>
          <a:xfrm>
            <a:off x="6096000" y="1889760"/>
            <a:ext cx="5120640" cy="1828800"/>
          </a:xfrm>
          <a:prstGeom prst="roundRect">
            <a:avLst>
              <a:gd name="adj" fmla="val 8000"/>
            </a:avLst>
          </a:prstGeom>
          <a:solidFill>
            <a:srgbClr val="E3F8ED"/>
          </a:solidFill>
          <a:ln/>
        </p:spPr>
      </p:sp>
      <p:sp>
        <p:nvSpPr>
          <p:cNvPr id="9" name="Text 7"/>
          <p:cNvSpPr/>
          <p:nvPr/>
        </p:nvSpPr>
        <p:spPr>
          <a:xfrm>
            <a:off x="6339840" y="2048256"/>
            <a:ext cx="4632960" cy="365760"/>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Side B: Power from the People</a:t>
            </a:r>
            <a:endParaRPr lang="en-US" sz="1200" dirty="0"/>
          </a:p>
        </p:txBody>
      </p:sp>
      <p:sp>
        <p:nvSpPr>
          <p:cNvPr id="10" name="Text 8"/>
          <p:cNvSpPr/>
          <p:nvPr/>
        </p:nvSpPr>
        <p:spPr>
          <a:xfrm>
            <a:off x="6339840" y="2438400"/>
            <a:ext cx="4632960" cy="1219200"/>
          </a:xfrm>
          <a:prstGeom prst="rect">
            <a:avLst/>
          </a:prstGeom>
          <a:noFill/>
          <a:ln/>
        </p:spPr>
        <p:txBody>
          <a:bodyPr wrap="square" lIns="0" tIns="0" rIns="0" bIns="0" rtlCol="0" anchor="t"/>
          <a:lstStyle/>
          <a:p>
            <a:pPr indent="0" marL="0">
              <a:lnSpc>
                <a:spcPct val="110000"/>
              </a:lnSpc>
              <a:buNone/>
            </a:pPr>
            <a:r>
              <a:rPr lang="en-US" sz="1100" dirty="0">
                <a:solidFill>
                  <a:srgbClr val="0E1C42"/>
                </a:solidFill>
                <a:latin typeface="Calibri" pitchFamily="34" charset="0"/>
                <a:ea typeface="Calibri" pitchFamily="34" charset="-122"/>
                <a:cs typeface="Calibri" pitchFamily="34" charset="-120"/>
              </a:rPr>
              <a:t>People vote and choose their own leaders. No single person can become a tyrant. Decisions take longer, but they belong to everybody.</a:t>
            </a:r>
            <a:endParaRPr lang="en-US" sz="1100" dirty="0"/>
          </a:p>
        </p:txBody>
      </p:sp>
      <p:sp>
        <p:nvSpPr>
          <p:cNvPr id="11" name="Shape 9"/>
          <p:cNvSpPr/>
          <p:nvPr/>
        </p:nvSpPr>
        <p:spPr>
          <a:xfrm>
            <a:off x="609600" y="3901440"/>
            <a:ext cx="10607040" cy="2316480"/>
          </a:xfrm>
          <a:prstGeom prst="roundRect">
            <a:avLst>
              <a:gd name="adj" fmla="val 7895"/>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3440" y="40233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853440" y="4364736"/>
            <a:ext cx="10119360" cy="1731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each side gain? What does each side lose?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who chose Side A argue back?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which side is fairer?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COUNCIL CHAMBER  ·  YOUR VOICE</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Weigh In: Which Side Do You Choose?</a:t>
            </a:r>
            <a:endParaRPr lang="en-US" sz="2800" dirty="0"/>
          </a:p>
        </p:txBody>
      </p:sp>
      <p:sp>
        <p:nvSpPr>
          <p:cNvPr id="4" name="Text 2"/>
          <p:cNvSpPr/>
          <p:nvPr/>
        </p:nvSpPr>
        <p:spPr>
          <a:xfrm>
            <a:off x="609600" y="1219200"/>
            <a:ext cx="10607040" cy="60960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Look at both sides carefully. Notice what each one gains, and what each one loses.</a:t>
            </a:r>
            <a:endParaRPr lang="en-US" sz="1400" dirty="0"/>
          </a:p>
        </p:txBody>
      </p:sp>
      <p:sp>
        <p:nvSpPr>
          <p:cNvPr id="5" name="Shape 3"/>
          <p:cNvSpPr/>
          <p:nvPr/>
        </p:nvSpPr>
        <p:spPr>
          <a:xfrm>
            <a:off x="609600" y="2072640"/>
            <a:ext cx="10607040" cy="2194560"/>
          </a:xfrm>
          <a:prstGeom prst="roundRect">
            <a:avLst>
              <a:gd name="adj" fmla="val 6667"/>
            </a:avLst>
          </a:prstGeom>
          <a:solidFill>
            <a:srgbClr val="FFF3DC"/>
          </a:solidFill>
          <a:ln w="19050">
            <a:solidFill>
              <a:srgbClr val="F5E6C8"/>
            </a:solidFill>
            <a:prstDash val="solid"/>
          </a:ln>
        </p:spPr>
      </p:sp>
      <p:sp>
        <p:nvSpPr>
          <p:cNvPr id="6" name="Text 4"/>
          <p:cNvSpPr/>
          <p:nvPr/>
        </p:nvSpPr>
        <p:spPr>
          <a:xfrm>
            <a:off x="792480" y="214579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792480" y="2414016"/>
            <a:ext cx="10241280" cy="1767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choose Side A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choose Side B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reason I'm not sure yet is..."</a:t>
            </a:r>
            <a:endParaRPr lang="en-US" sz="1200" dirty="0"/>
          </a:p>
        </p:txBody>
      </p:sp>
      <p:sp>
        <p:nvSpPr>
          <p:cNvPr id="8" name="Shape 6"/>
          <p:cNvSpPr/>
          <p:nvPr/>
        </p:nvSpPr>
        <p:spPr>
          <a:xfrm>
            <a:off x="609600" y="4450080"/>
            <a:ext cx="10607040" cy="1889760"/>
          </a:xfrm>
          <a:prstGeom prst="roundRect">
            <a:avLst>
              <a:gd name="adj" fmla="val 7742"/>
            </a:avLst>
          </a:prstGeom>
          <a:solidFill>
            <a:srgbClr val="EAF8FD"/>
          </a:solidFill>
          <a:ln/>
        </p:spPr>
      </p:sp>
      <p:sp>
        <p:nvSpPr>
          <p:cNvPr id="9" name="Text 7"/>
          <p:cNvSpPr/>
          <p:nvPr/>
        </p:nvSpPr>
        <p:spPr>
          <a:xfrm>
            <a:off x="853440" y="4608576"/>
            <a:ext cx="10119360" cy="341376"/>
          </a:xfrm>
          <a:prstGeom prst="rect">
            <a:avLst/>
          </a:prstGeom>
          <a:noFill/>
          <a:ln/>
        </p:spPr>
        <p:txBody>
          <a:bodyPr wrap="square" lIns="0" tIns="0" rIns="0" bIns="0"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THEN &amp; NOW</a:t>
            </a:r>
            <a:endParaRPr lang="en-US" sz="1000" dirty="0"/>
          </a:p>
        </p:txBody>
      </p:sp>
      <p:sp>
        <p:nvSpPr>
          <p:cNvPr id="10" name="Text 8"/>
          <p:cNvSpPr/>
          <p:nvPr/>
        </p:nvSpPr>
        <p:spPr>
          <a:xfrm>
            <a:off x="853440" y="4998720"/>
            <a:ext cx="10119360" cy="1219200"/>
          </a:xfrm>
          <a:prstGeom prst="rect">
            <a:avLst/>
          </a:prstGeom>
          <a:noFill/>
          <a:ln/>
        </p:spPr>
        <p:txBody>
          <a:bodyPr wrap="square" lIns="0" tIns="0" rIns="0" bIns="0" rtlCol="0" anchor="t"/>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In 1787, only some people could vote -- and that wasn't fair. Over the years, the Constitution was changed (amendments) to let more people vote. Today, almost every adult citizen can vote.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D4943A"/>
                </a:solidFill>
                <a:latin typeface="Cambria" pitchFamily="34" charset="0"/>
                <a:ea typeface="Cambria" pitchFamily="34" charset="-122"/>
                <a:cs typeface="Cambria" pitchFamily="34" charset="-120"/>
              </a:rPr>
              <a:t>The Founders Chose Side B</a:t>
            </a:r>
            <a:endParaRPr lang="en-US" sz="2800" dirty="0"/>
          </a:p>
        </p:txBody>
      </p:sp>
      <p:sp>
        <p:nvSpPr>
          <p:cNvPr id="3" name="Shape 1"/>
          <p:cNvSpPr/>
          <p:nvPr/>
        </p:nvSpPr>
        <p:spPr>
          <a:xfrm>
            <a:off x="609600" y="1341120"/>
            <a:ext cx="10607040" cy="2438400"/>
          </a:xfrm>
          <a:prstGeom prst="roundRect">
            <a:avLst>
              <a:gd name="adj" fmla="val 7500"/>
            </a:avLst>
          </a:prstGeom>
          <a:solidFill>
            <a:srgbClr val="1A2D5A"/>
          </a:solidFill>
          <a:ln/>
        </p:spPr>
      </p:sp>
      <p:sp>
        <p:nvSpPr>
          <p:cNvPr id="4" name="Text 2"/>
          <p:cNvSpPr/>
          <p:nvPr/>
        </p:nvSpPr>
        <p:spPr>
          <a:xfrm>
            <a:off x="975360" y="1584960"/>
            <a:ext cx="9875520" cy="1950720"/>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The leaders in 1787 chose Side B. They wrote the U.S. Constitution to set up a government with power from the people. The Constitution doesn't begin with the name of a ruler -- it begins with everybody. The people make the country, the people choose the leaders, and the leaders work for the people. We call this power from the people, or self-government.</a:t>
            </a:r>
            <a:endParaRPr lang="en-US" sz="1350" dirty="0"/>
          </a:p>
        </p:txBody>
      </p:sp>
      <p:sp>
        <p:nvSpPr>
          <p:cNvPr id="5" name="Text 3"/>
          <p:cNvSpPr/>
          <p:nvPr/>
        </p:nvSpPr>
        <p:spPr>
          <a:xfrm>
            <a:off x="609600" y="3962400"/>
            <a:ext cx="10607040" cy="548640"/>
          </a:xfrm>
          <a:prstGeom prst="rect">
            <a:avLst/>
          </a:prstGeom>
          <a:noFill/>
          <a:ln/>
        </p:spPr>
        <p:txBody>
          <a:bodyPr wrap="square" lIns="0" tIns="0" rIns="0" bIns="0" rtlCol="0" anchor="ctr"/>
          <a:lstStyle/>
          <a:p>
            <a:pPr algn="ctr" indent="0" marL="0">
              <a:buNone/>
            </a:pPr>
            <a:r>
              <a:rPr lang="en-US" sz="1600" b="1" dirty="0">
                <a:solidFill>
                  <a:srgbClr val="55C8E8"/>
                </a:solidFill>
                <a:latin typeface="Cambria" pitchFamily="34" charset="0"/>
                <a:ea typeface="Cambria" pitchFamily="34" charset="-122"/>
                <a:cs typeface="Cambria" pitchFamily="34" charset="-120"/>
              </a:rPr>
              <a:t>"We the People" -- not "I, the King."</a:t>
            </a:r>
            <a:endParaRPr lang="en-US" sz="1600" dirty="0"/>
          </a:p>
        </p:txBody>
      </p:sp>
      <p:sp>
        <p:nvSpPr>
          <p:cNvPr id="6" name="Shape 4"/>
          <p:cNvSpPr/>
          <p:nvPr/>
        </p:nvSpPr>
        <p:spPr>
          <a:xfrm>
            <a:off x="609600" y="4693920"/>
            <a:ext cx="10607040" cy="1280160"/>
          </a:xfrm>
          <a:prstGeom prst="roundRect">
            <a:avLst>
              <a:gd name="adj" fmla="val 9524"/>
            </a:avLst>
          </a:prstGeom>
          <a:solidFill>
            <a:srgbClr val="142A5C"/>
          </a:solidFill>
          <a:ln/>
        </p:spPr>
      </p:sp>
      <p:sp>
        <p:nvSpPr>
          <p:cNvPr id="7" name="Text 5"/>
          <p:cNvSpPr/>
          <p:nvPr/>
        </p:nvSpPr>
        <p:spPr>
          <a:xfrm>
            <a:off x="853440" y="4815840"/>
            <a:ext cx="10119360" cy="3048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RETRIEVAL CHALLENGE</a:t>
            </a:r>
            <a:endParaRPr lang="en-US" sz="900" dirty="0"/>
          </a:p>
        </p:txBody>
      </p:sp>
      <p:sp>
        <p:nvSpPr>
          <p:cNvPr id="8" name="Text 6"/>
          <p:cNvSpPr/>
          <p:nvPr/>
        </p:nvSpPr>
        <p:spPr>
          <a:xfrm>
            <a:off x="853440" y="5145024"/>
            <a:ext cx="10119360" cy="670560"/>
          </a:xfrm>
          <a:prstGeom prst="rect">
            <a:avLst/>
          </a:prstGeom>
          <a:noFill/>
          <a:ln/>
        </p:spPr>
        <p:txBody>
          <a:bodyPr wrap="square" lIns="0" tIns="0" rIns="0" bIns="0" rtlCol="0" anchor="t"/>
          <a:lstStyle/>
          <a:p>
            <a:pPr indent="0" marL="0">
              <a:buNone/>
            </a:pPr>
            <a:r>
              <a:rPr lang="en-US" sz="1250" i="1" dirty="0">
                <a:solidFill>
                  <a:srgbClr val="FFFFFF"/>
                </a:solidFill>
                <a:latin typeface="Calibri" pitchFamily="34" charset="0"/>
                <a:ea typeface="Calibri" pitchFamily="34" charset="-122"/>
                <a:cs typeface="Calibri" pitchFamily="34" charset="-120"/>
              </a:rPr>
              <a:t>Cover your screen. Where does government power come from in the U.S.?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CLUE BOX  ·  A TINY EXAMPLE</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Even the President Has to Follow It</a:t>
            </a:r>
            <a:endParaRPr lang="en-US" sz="2800" dirty="0"/>
          </a:p>
        </p:txBody>
      </p:sp>
      <p:sp>
        <p:nvSpPr>
          <p:cNvPr id="4" name="Shape 2"/>
          <p:cNvSpPr/>
          <p:nvPr/>
        </p:nvSpPr>
        <p:spPr>
          <a:xfrm>
            <a:off x="609600" y="1219200"/>
            <a:ext cx="5242560" cy="3291840"/>
          </a:xfrm>
          <a:prstGeom prst="roundRect">
            <a:avLst>
              <a:gd name="adj" fmla="val 4444"/>
            </a:avLst>
          </a:prstGeom>
          <a:solidFill>
            <a:srgbClr val="E2E8F4"/>
          </a:solidFill>
          <a:ln w="19050">
            <a:solidFill>
              <a:srgbClr val="B0B8CC"/>
            </a:solidFill>
            <a:prstDash val="dash"/>
          </a:ln>
        </p:spPr>
      </p:sp>
      <p:sp>
        <p:nvSpPr>
          <p:cNvPr id="5" name="Text 3"/>
          <p:cNvSpPr/>
          <p:nvPr/>
        </p:nvSpPr>
        <p:spPr>
          <a:xfrm>
            <a:off x="609600" y="1219200"/>
            <a:ext cx="52425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584960"/>
            <a:ext cx="4876800" cy="2804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a rulebook (the Constitution) sitting on a pedestal ABOVE a small figure representing the President, showing the President standing below/under the rules, not above them</a:t>
            </a:r>
            <a:endParaRPr lang="en-US" sz="1100" dirty="0"/>
          </a:p>
        </p:txBody>
      </p:sp>
      <p:sp>
        <p:nvSpPr>
          <p:cNvPr id="7" name="Shape 5"/>
          <p:cNvSpPr/>
          <p:nvPr/>
        </p:nvSpPr>
        <p:spPr>
          <a:xfrm>
            <a:off x="6217920" y="1219200"/>
            <a:ext cx="4998720" cy="3291840"/>
          </a:xfrm>
          <a:prstGeom prst="roundRect">
            <a:avLst>
              <a:gd name="adj" fmla="val 4444"/>
            </a:avLst>
          </a:prstGeom>
          <a:solidFill>
            <a:srgbClr val="F0F2F8"/>
          </a:solidFill>
          <a:ln/>
        </p:spPr>
      </p:sp>
      <p:sp>
        <p:nvSpPr>
          <p:cNvPr id="8" name="Text 6"/>
          <p:cNvSpPr/>
          <p:nvPr/>
        </p:nvSpPr>
        <p:spPr>
          <a:xfrm>
            <a:off x="6461760" y="1524000"/>
            <a:ext cx="4511040" cy="1341120"/>
          </a:xfrm>
          <a:prstGeom prst="rect">
            <a:avLst/>
          </a:prstGeom>
          <a:noFill/>
          <a:ln/>
        </p:spPr>
        <p:txBody>
          <a:bodyPr wrap="square" lIns="0" tIns="0" rIns="0" bIns="0" rtlCol="0" anchor="t"/>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Even the President of the United States has to follow the Constitution. The most powerful person in the country still has to obey the same set of rules.</a:t>
            </a:r>
            <a:endParaRPr lang="en-US" sz="1300" dirty="0"/>
          </a:p>
        </p:txBody>
      </p:sp>
      <p:sp>
        <p:nvSpPr>
          <p:cNvPr id="9" name="Text 7"/>
          <p:cNvSpPr/>
          <p:nvPr/>
        </p:nvSpPr>
        <p:spPr>
          <a:xfrm>
            <a:off x="6461760" y="3048000"/>
            <a:ext cx="4511040" cy="1341120"/>
          </a:xfrm>
          <a:prstGeom prst="rect">
            <a:avLst/>
          </a:prstGeom>
          <a:noFill/>
          <a:ln/>
        </p:spPr>
        <p:txBody>
          <a:bodyPr wrap="square" lIns="0" tIns="0" rIns="0" bIns="0" rtlCol="0" anchor="t"/>
          <a:lstStyle/>
          <a:p>
            <a:pPr indent="0" marL="0">
              <a:buNone/>
            </a:pPr>
            <a:r>
              <a:rPr lang="en-US" sz="1250" i="1" dirty="0">
                <a:solidFill>
                  <a:srgbClr val="1A8A7D"/>
                </a:solidFill>
                <a:latin typeface="Cambria" pitchFamily="34" charset="0"/>
                <a:ea typeface="Cambria" pitchFamily="34" charset="-122"/>
                <a:cs typeface="Cambria" pitchFamily="34" charset="-120"/>
              </a:rPr>
              <a:t>Pause &amp; Think: why is that idea so important for keeping a country fair?</a:t>
            </a:r>
            <a:endParaRPr lang="en-US" sz="1250" dirty="0"/>
          </a:p>
        </p:txBody>
      </p:sp>
      <p:sp>
        <p:nvSpPr>
          <p:cNvPr id="10" name="Shape 8"/>
          <p:cNvSpPr/>
          <p:nvPr/>
        </p:nvSpPr>
        <p:spPr>
          <a:xfrm>
            <a:off x="609600" y="4876800"/>
            <a:ext cx="10607040" cy="1524000"/>
          </a:xfrm>
          <a:prstGeom prst="roundRect">
            <a:avLst>
              <a:gd name="adj" fmla="val 9600"/>
            </a:avLst>
          </a:prstGeom>
          <a:solidFill>
            <a:srgbClr val="FFF3DC"/>
          </a:solidFill>
          <a:ln w="19050">
            <a:solidFill>
              <a:srgbClr val="F5E6C8"/>
            </a:solidFill>
            <a:prstDash val="solid"/>
          </a:ln>
        </p:spPr>
      </p:sp>
      <p:sp>
        <p:nvSpPr>
          <p:cNvPr id="11" name="Text 9"/>
          <p:cNvSpPr/>
          <p:nvPr/>
        </p:nvSpPr>
        <p:spPr>
          <a:xfrm>
            <a:off x="792480" y="494995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792480" y="5218176"/>
            <a:ext cx="102412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rule matters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leaders didn't have to follow the rules..."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DISCUSSION  ·  WHY IT MATTERS</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How a Constitution Protects Everyone</a:t>
            </a:r>
            <a:endParaRPr lang="en-US" sz="2800" dirty="0"/>
          </a:p>
        </p:txBody>
      </p:sp>
      <p:sp>
        <p:nvSpPr>
          <p:cNvPr id="4" name="Shape 2"/>
          <p:cNvSpPr/>
          <p:nvPr/>
        </p:nvSpPr>
        <p:spPr>
          <a:xfrm>
            <a:off x="609600" y="1219200"/>
            <a:ext cx="10607040" cy="262128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3411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1682496"/>
            <a:ext cx="10119360" cy="20360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most powerful person still has to follow the rules, who does NOT get to break them?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happen in a country where the leader could ignore the rules?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the Constitution being 'above everyone' keep things fair, even when we disagree?</a:t>
            </a:r>
            <a:endParaRPr lang="en-US" sz="1100" dirty="0"/>
          </a:p>
        </p:txBody>
      </p:sp>
      <p:sp>
        <p:nvSpPr>
          <p:cNvPr id="7" name="Shape 5"/>
          <p:cNvSpPr/>
          <p:nvPr/>
        </p:nvSpPr>
        <p:spPr>
          <a:xfrm>
            <a:off x="609600" y="4023360"/>
            <a:ext cx="10607040" cy="1584960"/>
          </a:xfrm>
          <a:prstGeom prst="roundRect">
            <a:avLst>
              <a:gd name="adj" fmla="val 9231"/>
            </a:avLst>
          </a:prstGeom>
          <a:solidFill>
            <a:srgbClr val="FFF3DC"/>
          </a:solidFill>
          <a:ln w="19050">
            <a:solidFill>
              <a:srgbClr val="F5E6C8"/>
            </a:solidFill>
            <a:prstDash val="solid"/>
          </a:ln>
        </p:spPr>
      </p:sp>
      <p:sp>
        <p:nvSpPr>
          <p:cNvPr id="8" name="Text 6"/>
          <p:cNvSpPr/>
          <p:nvPr/>
        </p:nvSpPr>
        <p:spPr>
          <a:xfrm>
            <a:off x="792480" y="409651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92480" y="4364736"/>
            <a:ext cx="1024128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rule keeps the country fair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rule, a leader could..."</a:t>
            </a:r>
            <a:endParaRPr lang="en-US" sz="1200" dirty="0"/>
          </a:p>
        </p:txBody>
      </p:sp>
      <p:sp>
        <p:nvSpPr>
          <p:cNvPr id="10" name="Text 8"/>
          <p:cNvSpPr/>
          <p:nvPr/>
        </p:nvSpPr>
        <p:spPr>
          <a:xfrm>
            <a:off x="609600" y="5791200"/>
            <a:ext cx="10607040" cy="609600"/>
          </a:xfrm>
          <a:prstGeom prst="rect">
            <a:avLst/>
          </a:prstGeom>
          <a:noFill/>
          <a:ln/>
        </p:spPr>
        <p:txBody>
          <a:bodyPr wrap="square" lIns="0" tIns="0" rIns="0" bIns="0" rtlCol="0" anchor="t"/>
          <a:lstStyle/>
          <a:p>
            <a:pPr algn="ctr" indent="0" marL="0">
              <a:buNone/>
            </a:pPr>
            <a:r>
              <a:rPr lang="en-US" sz="1200" i="1" dirty="0">
                <a:solidFill>
                  <a:srgbClr val="7A88A8"/>
                </a:solidFill>
                <a:latin typeface="Cambria" pitchFamily="34" charset="0"/>
                <a:ea typeface="Cambria" pitchFamily="34" charset="-122"/>
                <a:cs typeface="Cambria" pitchFamily="34" charset="-120"/>
              </a:rPr>
              <a:t>That's how a Constitution protects everyone -- by being above everyone.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BIG PICTURE  ·  EXHIBIT LABEL</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What the Constitution Case Teaches Us</a:t>
            </a:r>
            <a:endParaRPr lang="en-US" sz="2800" dirty="0"/>
          </a:p>
        </p:txBody>
      </p:sp>
      <p:sp>
        <p:nvSpPr>
          <p:cNvPr id="4" name="Shape 2"/>
          <p:cNvSpPr/>
          <p:nvPr/>
        </p:nvSpPr>
        <p:spPr>
          <a:xfrm>
            <a:off x="609600" y="1341120"/>
            <a:ext cx="10607040" cy="2072640"/>
          </a:xfrm>
          <a:prstGeom prst="roundRect">
            <a:avLst>
              <a:gd name="adj" fmla="val 8824"/>
            </a:avLst>
          </a:prstGeom>
          <a:solidFill>
            <a:srgbClr val="F0E8FF"/>
          </a:solidFill>
          <a:ln/>
        </p:spPr>
      </p:sp>
      <p:sp>
        <p:nvSpPr>
          <p:cNvPr id="5" name="Text 3"/>
          <p:cNvSpPr/>
          <p:nvPr/>
        </p:nvSpPr>
        <p:spPr>
          <a:xfrm>
            <a:off x="975360" y="1645920"/>
            <a:ext cx="9875520" cy="1524000"/>
          </a:xfrm>
          <a:prstGeom prst="rect">
            <a:avLst/>
          </a:prstGeom>
          <a:noFill/>
          <a:ln/>
        </p:spPr>
        <p:txBody>
          <a:bodyPr wrap="square" lIns="0" tIns="0" rIns="0" bIns="0" rtlCol="0" anchor="ctr"/>
          <a:lstStyle/>
          <a:p>
            <a:pPr indent="0" marL="0">
              <a:lnSpc>
                <a:spcPct val="120000"/>
              </a:lnSpc>
              <a:buNone/>
            </a:pPr>
            <a:r>
              <a:rPr lang="en-US" sz="1500" b="1" dirty="0">
                <a:solidFill>
                  <a:srgbClr val="0E1C42"/>
                </a:solidFill>
                <a:latin typeface="Cambria" pitchFamily="34" charset="0"/>
                <a:ea typeface="Cambria" pitchFamily="34" charset="-122"/>
                <a:cs typeface="Cambria" pitchFamily="34" charset="-120"/>
              </a:rPr>
              <a:t>The U.S. Constitution is the written rulebook of our country. It says government power belongs to the people, not to one ruler -- and that even the most powerful leaders must follow it.</a:t>
            </a:r>
            <a:endParaRPr lang="en-US" sz="1500" dirty="0"/>
          </a:p>
        </p:txBody>
      </p:sp>
      <p:sp>
        <p:nvSpPr>
          <p:cNvPr id="6" name="Shape 4"/>
          <p:cNvSpPr/>
          <p:nvPr/>
        </p:nvSpPr>
        <p:spPr>
          <a:xfrm>
            <a:off x="609600" y="3657600"/>
            <a:ext cx="10607040" cy="2316480"/>
          </a:xfrm>
          <a:prstGeom prst="roundRect">
            <a:avLst>
              <a:gd name="adj" fmla="val 6316"/>
            </a:avLst>
          </a:prstGeom>
          <a:solidFill>
            <a:srgbClr val="EAF8FD"/>
          </a:solidFill>
          <a:ln/>
        </p:spPr>
      </p:sp>
      <p:sp>
        <p:nvSpPr>
          <p:cNvPr id="7" name="Text 5"/>
          <p:cNvSpPr/>
          <p:nvPr/>
        </p:nvSpPr>
        <p:spPr>
          <a:xfrm>
            <a:off x="853440" y="3840480"/>
            <a:ext cx="10119360" cy="365760"/>
          </a:xfrm>
          <a:prstGeom prst="rect">
            <a:avLst/>
          </a:prstGeom>
          <a:noFill/>
          <a:ln/>
        </p:spPr>
        <p:txBody>
          <a:bodyPr wrap="square" lIns="0" tIns="0" rIns="0" bIns="0" rtlCol="0" anchor="ctr"/>
          <a:lstStyle/>
          <a:p>
            <a:pPr indent="0" marL="0">
              <a:buNone/>
            </a:pPr>
            <a:r>
              <a:rPr lang="en-US" sz="1100" b="1" spc="100" kern="0" dirty="0">
                <a:solidFill>
                  <a:srgbClr val="1A8A7D"/>
                </a:solidFill>
                <a:latin typeface="Calibri" pitchFamily="34" charset="0"/>
                <a:ea typeface="Calibri" pitchFamily="34" charset="-122"/>
                <a:cs typeface="Calibri" pitchFamily="34" charset="-120"/>
              </a:rPr>
              <a:t>Opti says...</a:t>
            </a:r>
            <a:endParaRPr lang="en-US" sz="1100" dirty="0"/>
          </a:p>
        </p:txBody>
      </p:sp>
      <p:sp>
        <p:nvSpPr>
          <p:cNvPr id="8" name="Text 6"/>
          <p:cNvSpPr/>
          <p:nvPr/>
        </p:nvSpPr>
        <p:spPr>
          <a:xfrm>
            <a:off x="853440" y="4267200"/>
            <a:ext cx="10119360" cy="1584960"/>
          </a:xfrm>
          <a:prstGeom prst="rect">
            <a:avLst/>
          </a:prstGeom>
          <a:noFill/>
          <a:ln/>
        </p:spPr>
        <p:txBody>
          <a:bodyPr wrap="square" lIns="0" tIns="0" rIns="0" bIns="0" rtlCol="0" anchor="t"/>
          <a:lstStyle/>
          <a:p>
            <a:pPr indent="0" marL="0">
              <a:lnSpc>
                <a:spcPct val="115000"/>
              </a:lnSpc>
              <a:buNone/>
            </a:pPr>
            <a:r>
              <a:rPr lang="en-US" sz="1300" i="1" dirty="0">
                <a:solidFill>
                  <a:srgbClr val="0E1C42"/>
                </a:solidFill>
                <a:latin typeface="Calibri" pitchFamily="34" charset="0"/>
                <a:ea typeface="Calibri" pitchFamily="34" charset="-122"/>
                <a:cs typeface="Calibri" pitchFamily="34" charset="-120"/>
              </a:rPr>
              <a:t>Did you catch it? The Constitution starts with "We" -- not "I." That single word does a lot of heavy lifting. It means this country belongs to all the people in it, not just the ones with the loudest voice or the biggest house.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GUIDED PRACTICE  ·  TEACHER MODELS</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Watch Me Build a Council Chamber Answer</a:t>
            </a:r>
            <a:endParaRPr lang="en-US" sz="2800" dirty="0"/>
          </a:p>
        </p:txBody>
      </p:sp>
      <p:sp>
        <p:nvSpPr>
          <p:cNvPr id="4" name="Shape 2"/>
          <p:cNvSpPr/>
          <p:nvPr/>
        </p:nvSpPr>
        <p:spPr>
          <a:xfrm>
            <a:off x="609600" y="1280160"/>
            <a:ext cx="10607040" cy="4754880"/>
          </a:xfrm>
          <a:prstGeom prst="roundRect">
            <a:avLst>
              <a:gd name="adj" fmla="val 3077"/>
            </a:avLst>
          </a:prstGeom>
          <a:solidFill>
            <a:srgbClr val="F0F2F8"/>
          </a:solidFill>
          <a:ln/>
        </p:spPr>
      </p:sp>
      <p:sp>
        <p:nvSpPr>
          <p:cNvPr id="5" name="Text 3"/>
          <p:cNvSpPr/>
          <p:nvPr/>
        </p:nvSpPr>
        <p:spPr>
          <a:xfrm>
            <a:off x="853440" y="1463040"/>
            <a:ext cx="1011936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THINK-ALOUD SCRIPT</a:t>
            </a:r>
            <a:endParaRPr lang="en-US" sz="1000" dirty="0"/>
          </a:p>
        </p:txBody>
      </p:sp>
      <p:sp>
        <p:nvSpPr>
          <p:cNvPr id="6" name="Text 4"/>
          <p:cNvSpPr/>
          <p:nvPr/>
        </p:nvSpPr>
        <p:spPr>
          <a:xfrm>
            <a:off x="853440" y="1889760"/>
            <a:ext cx="10119360" cy="2926080"/>
          </a:xfrm>
          <a:prstGeom prst="rect">
            <a:avLst/>
          </a:prstGeom>
          <a:noFill/>
          <a:ln/>
        </p:spPr>
        <p:txBody>
          <a:bodyPr wrap="square" lIns="0" tIns="0" rIns="0" bIns="0" rtlCol="0" anchor="t"/>
          <a:lstStyle/>
          <a:p>
            <a:pPr indent="0" marL="0">
              <a:lnSpc>
                <a:spcPct val="120000"/>
              </a:lnSpc>
              <a:buNone/>
            </a:pPr>
            <a:r>
              <a:rPr lang="en-US" sz="1350" i="1" dirty="0">
                <a:solidFill>
                  <a:srgbClr val="0E1C42"/>
                </a:solidFill>
                <a:latin typeface="Cambria" pitchFamily="34" charset="0"/>
                <a:ea typeface="Cambria" pitchFamily="34" charset="-122"/>
                <a:cs typeface="Cambria" pitchFamily="34" charset="-120"/>
              </a:rPr>
              <a:t>"I choose Side B, power from the people. First reason: the Constitution begins with 'We the People,' not the name of a ruler -- that's my evidence. Second reason: even the President has to follow the same Constitution as everyone else, so no one person can become too powerful. Both reasons and my evidence show that power belonging to the people keeps the country fair."</a:t>
            </a:r>
            <a:endParaRPr lang="en-US" sz="1350" dirty="0"/>
          </a:p>
        </p:txBody>
      </p:sp>
      <p:sp>
        <p:nvSpPr>
          <p:cNvPr id="7" name="Text 5"/>
          <p:cNvSpPr/>
          <p:nvPr/>
        </p:nvSpPr>
        <p:spPr>
          <a:xfrm>
            <a:off x="853440" y="5059680"/>
            <a:ext cx="10119360" cy="731520"/>
          </a:xfrm>
          <a:prstGeom prst="rect">
            <a:avLst/>
          </a:prstGeom>
          <a:noFill/>
          <a:ln/>
        </p:spPr>
        <p:txBody>
          <a:bodyPr wrap="square" lIns="0" tIns="0" rIns="0" bIns="0"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Notice: Side chosen -&gt; two reasons -&gt; one piece of evidence named.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GUIDED PRACTICE  ·  WE TRY TOGETHER</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Let's Build One Together</a:t>
            </a:r>
            <a:endParaRPr lang="en-US" sz="2800" dirty="0"/>
          </a:p>
        </p:txBody>
      </p:sp>
      <p:sp>
        <p:nvSpPr>
          <p:cNvPr id="4" name="Shape 2"/>
          <p:cNvSpPr/>
          <p:nvPr/>
        </p:nvSpPr>
        <p:spPr>
          <a:xfrm>
            <a:off x="609600" y="1219200"/>
            <a:ext cx="10607040" cy="316992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853440" y="13411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853440" y="1682496"/>
            <a:ext cx="10119360" cy="25847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side should we choose for this practice round -- A or B?</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one strong reason for that side?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a second reason, different from the first?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piece of evidence from the lesson could we use -- the Constitution itself, 'We the People,' or the President rule?</a:t>
            </a:r>
            <a:endParaRPr lang="en-US" sz="1100" dirty="0"/>
          </a:p>
        </p:txBody>
      </p:sp>
      <p:sp>
        <p:nvSpPr>
          <p:cNvPr id="7" name="Shape 5"/>
          <p:cNvSpPr/>
          <p:nvPr/>
        </p:nvSpPr>
        <p:spPr>
          <a:xfrm>
            <a:off x="609600" y="4572000"/>
            <a:ext cx="10607040" cy="1584960"/>
          </a:xfrm>
          <a:prstGeom prst="roundRect">
            <a:avLst>
              <a:gd name="adj" fmla="val 9231"/>
            </a:avLst>
          </a:prstGeom>
          <a:solidFill>
            <a:srgbClr val="FFF3DC"/>
          </a:solidFill>
          <a:ln w="19050">
            <a:solidFill>
              <a:srgbClr val="F5E6C8"/>
            </a:solidFill>
            <a:prstDash val="solid"/>
          </a:ln>
        </p:spPr>
      </p:sp>
      <p:sp>
        <p:nvSpPr>
          <p:cNvPr id="8" name="Text 6"/>
          <p:cNvSpPr/>
          <p:nvPr/>
        </p:nvSpPr>
        <p:spPr>
          <a:xfrm>
            <a:off x="792480" y="464515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92480" y="4913376"/>
            <a:ext cx="1024128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add this reason..."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use this evidence..."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GUIDED PRACTICE  ·  YOUR TURN</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Now Try Your Own Recommendation</a:t>
            </a:r>
            <a:endParaRPr lang="en-US" sz="2800" dirty="0"/>
          </a:p>
        </p:txBody>
      </p:sp>
      <p:sp>
        <p:nvSpPr>
          <p:cNvPr id="4" name="Shape 2"/>
          <p:cNvSpPr/>
          <p:nvPr/>
        </p:nvSpPr>
        <p:spPr>
          <a:xfrm>
            <a:off x="609600" y="1280160"/>
            <a:ext cx="10607040" cy="3169920"/>
          </a:xfrm>
          <a:prstGeom prst="roundRect">
            <a:avLst>
              <a:gd name="adj" fmla="val 4615"/>
            </a:avLst>
          </a:prstGeom>
          <a:solidFill>
            <a:srgbClr val="E3F8ED"/>
          </a:solidFill>
          <a:ln/>
        </p:spPr>
      </p:sp>
      <p:sp>
        <p:nvSpPr>
          <p:cNvPr id="5" name="Text 3"/>
          <p:cNvSpPr/>
          <p:nvPr/>
        </p:nvSpPr>
        <p:spPr>
          <a:xfrm>
            <a:off x="853440" y="1463040"/>
            <a:ext cx="1011936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MY CHECKLIST</a:t>
            </a:r>
            <a:endParaRPr lang="en-US" sz="1000" dirty="0"/>
          </a:p>
        </p:txBody>
      </p:sp>
      <p:sp>
        <p:nvSpPr>
          <p:cNvPr id="6" name="Text 4"/>
          <p:cNvSpPr/>
          <p:nvPr/>
        </p:nvSpPr>
        <p:spPr>
          <a:xfrm>
            <a:off x="853440" y="1889760"/>
            <a:ext cx="10119360" cy="2438400"/>
          </a:xfrm>
          <a:prstGeom prst="rect">
            <a:avLst/>
          </a:prstGeom>
          <a:noFill/>
          <a:ln/>
        </p:spPr>
        <p:txBody>
          <a:bodyPr wrap="square" lIns="0" tIns="0" rIns="0" bIns="0" rtlCol="0" anchor="t"/>
          <a:lstStyle/>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 I chose Side A or Side B.</a:t>
            </a:r>
            <a:endParaRPr lang="en-US" sz="1400" dirty="0"/>
          </a:p>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 I gave two reasons for my side.</a:t>
            </a:r>
            <a:endParaRPr lang="en-US" sz="1400" dirty="0"/>
          </a:p>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 I used at least one piece of evidence from the lesson.</a:t>
            </a:r>
            <a:endParaRPr lang="en-US" sz="1400" dirty="0"/>
          </a:p>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 My answer sounds honest -- I could say it out loud and feel proud of it.</a:t>
            </a:r>
            <a:endParaRPr lang="en-US" sz="1400" dirty="0"/>
          </a:p>
        </p:txBody>
      </p:sp>
      <p:sp>
        <p:nvSpPr>
          <p:cNvPr id="7" name="Shape 5"/>
          <p:cNvSpPr/>
          <p:nvPr/>
        </p:nvSpPr>
        <p:spPr>
          <a:xfrm>
            <a:off x="609600" y="4693920"/>
            <a:ext cx="10607040" cy="1584960"/>
          </a:xfrm>
          <a:prstGeom prst="roundRect">
            <a:avLst>
              <a:gd name="adj" fmla="val 9231"/>
            </a:avLst>
          </a:prstGeom>
          <a:solidFill>
            <a:srgbClr val="FFF3DC"/>
          </a:solidFill>
          <a:ln w="19050">
            <a:solidFill>
              <a:srgbClr val="F5E6C8"/>
            </a:solidFill>
            <a:prstDash val="solid"/>
          </a:ln>
        </p:spPr>
      </p:sp>
      <p:sp>
        <p:nvSpPr>
          <p:cNvPr id="8" name="Text 6"/>
          <p:cNvSpPr/>
          <p:nvPr/>
        </p:nvSpPr>
        <p:spPr>
          <a:xfrm>
            <a:off x="792480" y="476707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92480" y="5035296"/>
            <a:ext cx="1024128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side is... my first reason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evidence 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GUIDED PRACTICE  ·  ERROR ANALYSIS</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Find the Mistake in This Answer</a:t>
            </a:r>
            <a:endParaRPr lang="en-US" sz="2800" dirty="0"/>
          </a:p>
        </p:txBody>
      </p:sp>
      <p:sp>
        <p:nvSpPr>
          <p:cNvPr id="4" name="Shape 2"/>
          <p:cNvSpPr/>
          <p:nvPr/>
        </p:nvSpPr>
        <p:spPr>
          <a:xfrm>
            <a:off x="609600" y="1280160"/>
            <a:ext cx="10607040" cy="1950720"/>
          </a:xfrm>
          <a:prstGeom prst="roundRect">
            <a:avLst>
              <a:gd name="adj" fmla="val 7500"/>
            </a:avLst>
          </a:prstGeom>
          <a:solidFill>
            <a:srgbClr val="FDEAEA"/>
          </a:solidFill>
          <a:ln/>
        </p:spPr>
      </p:sp>
      <p:sp>
        <p:nvSpPr>
          <p:cNvPr id="5" name="Text 3"/>
          <p:cNvSpPr/>
          <p:nvPr/>
        </p:nvSpPr>
        <p:spPr>
          <a:xfrm>
            <a:off x="853440" y="1584960"/>
            <a:ext cx="10119360" cy="1341120"/>
          </a:xfrm>
          <a:prstGeom prst="rect">
            <a:avLst/>
          </a:prstGeom>
          <a:noFill/>
          <a:ln/>
        </p:spPr>
        <p:txBody>
          <a:bodyPr wrap="square" lIns="0" tIns="0" rIns="0" bIns="0" rtlCol="0" anchor="ctr"/>
          <a:lstStyle/>
          <a:p>
            <a:pPr indent="0" marL="0">
              <a:buNone/>
            </a:pPr>
            <a:r>
              <a:rPr lang="en-US" sz="1500" i="1" dirty="0">
                <a:solidFill>
                  <a:srgbClr val="E8636B"/>
                </a:solidFill>
                <a:latin typeface="Cambria" pitchFamily="34" charset="0"/>
                <a:ea typeface="Cambria" pitchFamily="34" charset="-122"/>
                <a:cs typeface="Cambria" pitchFamily="34" charset="-120"/>
              </a:rPr>
              <a:t>"I pick Side A because kings are cool and they wear crowns."</a:t>
            </a:r>
            <a:endParaRPr lang="en-US" sz="1500" dirty="0"/>
          </a:p>
        </p:txBody>
      </p:sp>
      <p:sp>
        <p:nvSpPr>
          <p:cNvPr id="6" name="Shape 4"/>
          <p:cNvSpPr/>
          <p:nvPr/>
        </p:nvSpPr>
        <p:spPr>
          <a:xfrm>
            <a:off x="609600" y="3474720"/>
            <a:ext cx="10607040" cy="2133600"/>
          </a:xfrm>
          <a:prstGeom prst="roundRect">
            <a:avLst>
              <a:gd name="adj" fmla="val 8571"/>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59664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938016"/>
            <a:ext cx="10119360" cy="15483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many reasons does this answer give?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there any evidence from the lesson in this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add to make this a strong Council Chamber recommendation?</a:t>
            </a:r>
            <a:endParaRPr lang="en-US" sz="1100" dirty="0"/>
          </a:p>
        </p:txBody>
      </p:sp>
      <p:sp>
        <p:nvSpPr>
          <p:cNvPr id="9" name="Shape 7"/>
          <p:cNvSpPr/>
          <p:nvPr/>
        </p:nvSpPr>
        <p:spPr>
          <a:xfrm>
            <a:off x="609600" y="5730240"/>
            <a:ext cx="10607040" cy="792480"/>
          </a:xfrm>
          <a:prstGeom prst="roundRect">
            <a:avLst>
              <a:gd name="adj" fmla="val 18462"/>
            </a:avLst>
          </a:prstGeom>
          <a:solidFill>
            <a:srgbClr val="FFF3DC"/>
          </a:solidFill>
          <a:ln w="19050">
            <a:solidFill>
              <a:srgbClr val="F5E6C8"/>
            </a:solidFill>
            <a:prstDash val="solid"/>
          </a:ln>
        </p:spPr>
      </p:sp>
      <p:sp>
        <p:nvSpPr>
          <p:cNvPr id="10" name="Text 8"/>
          <p:cNvSpPr/>
          <p:nvPr/>
        </p:nvSpPr>
        <p:spPr>
          <a:xfrm>
            <a:off x="792480" y="580339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792480" y="6071616"/>
            <a:ext cx="1024128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answer is missing..."</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fix it by..."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GUIDED PRACTICE  ·  THE TRICKY ONE</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But Wouldn't a Wise King Be Faster?</a:t>
            </a:r>
            <a:endParaRPr lang="en-US" sz="2800" dirty="0"/>
          </a:p>
        </p:txBody>
      </p:sp>
      <p:sp>
        <p:nvSpPr>
          <p:cNvPr id="4" name="Shape 2"/>
          <p:cNvSpPr/>
          <p:nvPr/>
        </p:nvSpPr>
        <p:spPr>
          <a:xfrm>
            <a:off x="609600" y="1280160"/>
            <a:ext cx="10607040" cy="1584960"/>
          </a:xfrm>
          <a:prstGeom prst="roundRect">
            <a:avLst>
              <a:gd name="adj" fmla="val 9231"/>
            </a:avLst>
          </a:prstGeom>
          <a:solidFill>
            <a:srgbClr val="FFF3DC"/>
          </a:solidFill>
          <a:ln/>
        </p:spPr>
      </p:sp>
      <p:sp>
        <p:nvSpPr>
          <p:cNvPr id="5" name="Text 3"/>
          <p:cNvSpPr/>
          <p:nvPr/>
        </p:nvSpPr>
        <p:spPr>
          <a:xfrm>
            <a:off x="853440" y="1463040"/>
            <a:ext cx="10119360" cy="1341120"/>
          </a:xfrm>
          <a:prstGeom prst="rect">
            <a:avLst/>
          </a:prstGeom>
          <a:noFill/>
          <a:ln/>
        </p:spPr>
        <p:txBody>
          <a:bodyPr wrap="square" lIns="0" tIns="0" rIns="0" bIns="0" rtlCol="0" anchor="ctr"/>
          <a:lstStyle/>
          <a:p>
            <a:pPr indent="0" marL="0">
              <a:lnSpc>
                <a:spcPct val="115000"/>
              </a:lnSpc>
              <a:buNone/>
            </a:pPr>
            <a:r>
              <a:rPr lang="en-US" sz="1350" dirty="0">
                <a:solidFill>
                  <a:srgbClr val="0E1C42"/>
                </a:solidFill>
                <a:latin typeface="Cambria" pitchFamily="34" charset="0"/>
                <a:ea typeface="Cambria" pitchFamily="34" charset="-122"/>
                <a:cs typeface="Cambria" pitchFamily="34" charset="-120"/>
              </a:rPr>
              <a:t>A wise, kind king could make decisions in seconds. Voting and debating takes weeks. Isn't fast and wise better than slow, even if it's shared?</a:t>
            </a:r>
            <a:endParaRPr lang="en-US" sz="1350" dirty="0"/>
          </a:p>
        </p:txBody>
      </p:sp>
      <p:sp>
        <p:nvSpPr>
          <p:cNvPr id="6" name="Shape 4"/>
          <p:cNvSpPr/>
          <p:nvPr/>
        </p:nvSpPr>
        <p:spPr>
          <a:xfrm>
            <a:off x="609600" y="3048000"/>
            <a:ext cx="10607040" cy="24384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1699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511296"/>
            <a:ext cx="10119360" cy="18531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if that wise king is replaced by an unwise one -- who stops him?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the people vote out a bad king the way they can vote out a bad leader?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'fast' worth it if there's no way to fix a mistake?</a:t>
            </a:r>
            <a:endParaRPr lang="en-US" sz="1100" dirty="0"/>
          </a:p>
        </p:txBody>
      </p:sp>
      <p:sp>
        <p:nvSpPr>
          <p:cNvPr id="9" name="Shape 7"/>
          <p:cNvSpPr/>
          <p:nvPr/>
        </p:nvSpPr>
        <p:spPr>
          <a:xfrm>
            <a:off x="609600" y="5669280"/>
            <a:ext cx="10607040" cy="853440"/>
          </a:xfrm>
          <a:prstGeom prst="roundRect">
            <a:avLst>
              <a:gd name="adj" fmla="val 17143"/>
            </a:avLst>
          </a:prstGeom>
          <a:solidFill>
            <a:srgbClr val="FFF3DC"/>
          </a:solidFill>
          <a:ln w="19050">
            <a:solidFill>
              <a:srgbClr val="F5E6C8"/>
            </a:solidFill>
            <a:prstDash val="solid"/>
          </a:ln>
        </p:spPr>
      </p:sp>
      <p:sp>
        <p:nvSpPr>
          <p:cNvPr id="10" name="Text 8"/>
          <p:cNvSpPr/>
          <p:nvPr/>
        </p:nvSpPr>
        <p:spPr>
          <a:xfrm>
            <a:off x="792480" y="574243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792480" y="6010656"/>
            <a:ext cx="10241280" cy="4267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"Even a wise king could be a problem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"Slower but shared is worth it because..."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SELF-CHECK  ·  3 QUESTIONS</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Quick Self-Check</a:t>
            </a:r>
            <a:endParaRPr lang="en-US" sz="2800" dirty="0"/>
          </a:p>
        </p:txBody>
      </p:sp>
      <p:sp>
        <p:nvSpPr>
          <p:cNvPr id="4" name="Shape 2"/>
          <p:cNvSpPr/>
          <p:nvPr/>
        </p:nvSpPr>
        <p:spPr>
          <a:xfrm>
            <a:off x="609600" y="1280160"/>
            <a:ext cx="10607040" cy="1402080"/>
          </a:xfrm>
          <a:prstGeom prst="roundRect">
            <a:avLst>
              <a:gd name="adj" fmla="val 8696"/>
            </a:avLst>
          </a:prstGeom>
          <a:solidFill>
            <a:srgbClr val="F0F2F8"/>
          </a:solidFill>
          <a:ln/>
        </p:spPr>
      </p:sp>
      <p:sp>
        <p:nvSpPr>
          <p:cNvPr id="5" name="Text 3"/>
          <p:cNvSpPr/>
          <p:nvPr/>
        </p:nvSpPr>
        <p:spPr>
          <a:xfrm>
            <a:off x="853440" y="1402080"/>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is a constitution?</a:t>
            </a:r>
            <a:endParaRPr lang="en-US" sz="1300" dirty="0"/>
          </a:p>
        </p:txBody>
      </p:sp>
      <p:sp>
        <p:nvSpPr>
          <p:cNvPr id="6" name="Text 4"/>
          <p:cNvSpPr/>
          <p:nvPr/>
        </p:nvSpPr>
        <p:spPr>
          <a:xfrm>
            <a:off x="853440" y="1950720"/>
            <a:ext cx="10119360" cy="609600"/>
          </a:xfrm>
          <a:prstGeom prst="rect">
            <a:avLst/>
          </a:prstGeom>
          <a:noFill/>
          <a:ln/>
        </p:spPr>
        <p:txBody>
          <a:bodyPr wrap="square" lIns="0" tIns="0" rIns="0" bIns="0" rtlCol="0" anchor="ctr"/>
          <a:lstStyle/>
          <a:p>
            <a:pPr indent="0" marL="0">
              <a:buNone/>
            </a:pPr>
            <a:r>
              <a:rPr lang="en-US" sz="1250" i="1" dirty="0">
                <a:solidFill>
                  <a:srgbClr val="34B76F"/>
                </a:solidFill>
                <a:latin typeface="Calibri" pitchFamily="34" charset="0"/>
                <a:ea typeface="Calibri" pitchFamily="34" charset="-122"/>
                <a:cs typeface="Calibri" pitchFamily="34" charset="-120"/>
              </a:rPr>
              <a:t>Answer: The written rules that set up a government.</a:t>
            </a:r>
            <a:endParaRPr lang="en-US" sz="1250" dirty="0"/>
          </a:p>
        </p:txBody>
      </p:sp>
      <p:sp>
        <p:nvSpPr>
          <p:cNvPr id="7" name="Shape 5"/>
          <p:cNvSpPr/>
          <p:nvPr/>
        </p:nvSpPr>
        <p:spPr>
          <a:xfrm>
            <a:off x="609600" y="2889504"/>
            <a:ext cx="10607040" cy="1402080"/>
          </a:xfrm>
          <a:prstGeom prst="roundRect">
            <a:avLst>
              <a:gd name="adj" fmla="val 8696"/>
            </a:avLst>
          </a:prstGeom>
          <a:solidFill>
            <a:srgbClr val="F0F2F8"/>
          </a:solidFill>
          <a:ln/>
        </p:spPr>
      </p:sp>
      <p:sp>
        <p:nvSpPr>
          <p:cNvPr id="8" name="Text 6"/>
          <p:cNvSpPr/>
          <p:nvPr/>
        </p:nvSpPr>
        <p:spPr>
          <a:xfrm>
            <a:off x="853440" y="3011424"/>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Where does the country's power come from?</a:t>
            </a:r>
            <a:endParaRPr lang="en-US" sz="1300" dirty="0"/>
          </a:p>
        </p:txBody>
      </p:sp>
      <p:sp>
        <p:nvSpPr>
          <p:cNvPr id="9" name="Text 7"/>
          <p:cNvSpPr/>
          <p:nvPr/>
        </p:nvSpPr>
        <p:spPr>
          <a:xfrm>
            <a:off x="853440" y="3560064"/>
            <a:ext cx="10119360" cy="609600"/>
          </a:xfrm>
          <a:prstGeom prst="rect">
            <a:avLst/>
          </a:prstGeom>
          <a:noFill/>
          <a:ln/>
        </p:spPr>
        <p:txBody>
          <a:bodyPr wrap="square" lIns="0" tIns="0" rIns="0" bIns="0" rtlCol="0" anchor="ctr"/>
          <a:lstStyle/>
          <a:p>
            <a:pPr indent="0" marL="0">
              <a:buNone/>
            </a:pPr>
            <a:r>
              <a:rPr lang="en-US" sz="1250" i="1" dirty="0">
                <a:solidFill>
                  <a:srgbClr val="34B76F"/>
                </a:solidFill>
                <a:latin typeface="Calibri" pitchFamily="34" charset="0"/>
                <a:ea typeface="Calibri" pitchFamily="34" charset="-122"/>
                <a:cs typeface="Calibri" pitchFamily="34" charset="-120"/>
              </a:rPr>
              <a:t>Answer: The people.</a:t>
            </a:r>
            <a:endParaRPr lang="en-US" sz="1250" dirty="0"/>
          </a:p>
        </p:txBody>
      </p:sp>
      <p:sp>
        <p:nvSpPr>
          <p:cNvPr id="10" name="Shape 8"/>
          <p:cNvSpPr/>
          <p:nvPr/>
        </p:nvSpPr>
        <p:spPr>
          <a:xfrm>
            <a:off x="609600" y="4498848"/>
            <a:ext cx="10607040" cy="1402080"/>
          </a:xfrm>
          <a:prstGeom prst="roundRect">
            <a:avLst>
              <a:gd name="adj" fmla="val 8696"/>
            </a:avLst>
          </a:prstGeom>
          <a:solidFill>
            <a:srgbClr val="F0F2F8"/>
          </a:solidFill>
          <a:ln/>
        </p:spPr>
      </p:sp>
      <p:sp>
        <p:nvSpPr>
          <p:cNvPr id="11" name="Text 9"/>
          <p:cNvSpPr/>
          <p:nvPr/>
        </p:nvSpPr>
        <p:spPr>
          <a:xfrm>
            <a:off x="853440" y="4620768"/>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Why does it matter that the President has to follow the Constitution too?</a:t>
            </a:r>
            <a:endParaRPr lang="en-US" sz="1300" dirty="0"/>
          </a:p>
        </p:txBody>
      </p:sp>
      <p:sp>
        <p:nvSpPr>
          <p:cNvPr id="12" name="Text 10"/>
          <p:cNvSpPr/>
          <p:nvPr/>
        </p:nvSpPr>
        <p:spPr>
          <a:xfrm>
            <a:off x="853440" y="5169408"/>
            <a:ext cx="10119360" cy="609600"/>
          </a:xfrm>
          <a:prstGeom prst="rect">
            <a:avLst/>
          </a:prstGeom>
          <a:noFill/>
          <a:ln/>
        </p:spPr>
        <p:txBody>
          <a:bodyPr wrap="square" lIns="0" tIns="0" rIns="0" bIns="0" rtlCol="0" anchor="ctr"/>
          <a:lstStyle/>
          <a:p>
            <a:pPr indent="0" marL="0">
              <a:buNone/>
            </a:pPr>
            <a:r>
              <a:rPr lang="en-US" sz="1250" i="1" dirty="0">
                <a:solidFill>
                  <a:srgbClr val="34B76F"/>
                </a:solidFill>
                <a:latin typeface="Calibri" pitchFamily="34" charset="0"/>
                <a:ea typeface="Calibri" pitchFamily="34" charset="-122"/>
                <a:cs typeface="Calibri" pitchFamily="34" charset="-120"/>
              </a:rPr>
              <a:t>Answer: It keeps the country fair -- no one is above the rules.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ASSIGNMENT  ·  EVIDENCE QUESTIONS</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What You'll Turn In</a:t>
            </a:r>
            <a:endParaRPr lang="en-US" sz="2800" dirty="0"/>
          </a:p>
        </p:txBody>
      </p:sp>
      <p:sp>
        <p:nvSpPr>
          <p:cNvPr id="4" name="Shape 2"/>
          <p:cNvSpPr/>
          <p:nvPr/>
        </p:nvSpPr>
        <p:spPr>
          <a:xfrm>
            <a:off x="609600" y="1219200"/>
            <a:ext cx="10607040" cy="4815840"/>
          </a:xfrm>
          <a:prstGeom prst="roundRect">
            <a:avLst>
              <a:gd name="adj" fmla="val 3038"/>
            </a:avLst>
          </a:prstGeom>
          <a:solidFill>
            <a:srgbClr val="F0F2F8"/>
          </a:solidFill>
          <a:ln/>
        </p:spPr>
      </p:sp>
      <p:sp>
        <p:nvSpPr>
          <p:cNvPr id="5" name="Text 3"/>
          <p:cNvSpPr/>
          <p:nvPr/>
        </p:nvSpPr>
        <p:spPr>
          <a:xfrm>
            <a:off x="853440" y="1402080"/>
            <a:ext cx="10119360" cy="914400"/>
          </a:xfrm>
          <a:prstGeom prst="rect">
            <a:avLst/>
          </a:prstGeom>
          <a:noFill/>
          <a:ln/>
        </p:spPr>
        <p:txBody>
          <a:bodyPr wrap="square" lIns="0" tIns="0" rIns="0" bIns="0" rtlCol="0" anchor="t"/>
          <a:lstStyle/>
          <a:p>
            <a:pPr indent="0" marL="0">
              <a:lnSpc>
                <a:spcPct val="110000"/>
              </a:lnSpc>
              <a:buNone/>
            </a:pPr>
            <a:r>
              <a:rPr lang="en-US" sz="1250" b="1" dirty="0">
                <a:solidFill>
                  <a:srgbClr val="0E1C42"/>
                </a:solidFill>
                <a:latin typeface="Calibri" pitchFamily="34" charset="0"/>
                <a:ea typeface="Calibri" pitchFamily="34" charset="-122"/>
                <a:cs typeface="Calibri" pitchFamily="34" charset="-120"/>
              </a:rPr>
              <a:t>1.  What is the U.S. Constitution, and why was it written?</a:t>
            </a:r>
            <a:endParaRPr lang="en-US" sz="1250" dirty="0"/>
          </a:p>
        </p:txBody>
      </p:sp>
      <p:sp>
        <p:nvSpPr>
          <p:cNvPr id="6" name="Text 4"/>
          <p:cNvSpPr/>
          <p:nvPr/>
        </p:nvSpPr>
        <p:spPr>
          <a:xfrm>
            <a:off x="1097280" y="2231136"/>
            <a:ext cx="9875520" cy="4267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Use the word "set up" or "establish" in your answer.</a:t>
            </a:r>
            <a:endParaRPr lang="en-US" sz="1100" dirty="0"/>
          </a:p>
        </p:txBody>
      </p:sp>
      <p:sp>
        <p:nvSpPr>
          <p:cNvPr id="7" name="Text 5"/>
          <p:cNvSpPr/>
          <p:nvPr/>
        </p:nvSpPr>
        <p:spPr>
          <a:xfrm>
            <a:off x="853440" y="2804160"/>
            <a:ext cx="10119360" cy="914400"/>
          </a:xfrm>
          <a:prstGeom prst="rect">
            <a:avLst/>
          </a:prstGeom>
          <a:noFill/>
          <a:ln/>
        </p:spPr>
        <p:txBody>
          <a:bodyPr wrap="square" lIns="0" tIns="0" rIns="0" bIns="0" rtlCol="0" anchor="t"/>
          <a:lstStyle/>
          <a:p>
            <a:pPr indent="0" marL="0">
              <a:lnSpc>
                <a:spcPct val="110000"/>
              </a:lnSpc>
              <a:buNone/>
            </a:pPr>
            <a:r>
              <a:rPr lang="en-US" sz="1250" b="1" dirty="0">
                <a:solidFill>
                  <a:srgbClr val="0E1C42"/>
                </a:solidFill>
                <a:latin typeface="Calibri" pitchFamily="34" charset="0"/>
                <a:ea typeface="Calibri" pitchFamily="34" charset="-122"/>
                <a:cs typeface="Calibri" pitchFamily="34" charset="-120"/>
              </a:rPr>
              <a:t>2.  What does "We the People" tell us about where the government’s power comes from?</a:t>
            </a:r>
            <a:endParaRPr lang="en-US" sz="1250" dirty="0"/>
          </a:p>
        </p:txBody>
      </p:sp>
      <p:sp>
        <p:nvSpPr>
          <p:cNvPr id="8" name="Text 6"/>
          <p:cNvSpPr/>
          <p:nvPr/>
        </p:nvSpPr>
        <p:spPr>
          <a:xfrm>
            <a:off x="1097280" y="3633216"/>
            <a:ext cx="9875520" cy="4267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Use the exact words "the people" in your answer.</a:t>
            </a:r>
            <a:endParaRPr lang="en-US" sz="1100" dirty="0"/>
          </a:p>
        </p:txBody>
      </p:sp>
      <p:sp>
        <p:nvSpPr>
          <p:cNvPr id="9" name="Text 7"/>
          <p:cNvSpPr/>
          <p:nvPr/>
        </p:nvSpPr>
        <p:spPr>
          <a:xfrm>
            <a:off x="853440" y="4206240"/>
            <a:ext cx="10119360" cy="914400"/>
          </a:xfrm>
          <a:prstGeom prst="rect">
            <a:avLst/>
          </a:prstGeom>
          <a:noFill/>
          <a:ln/>
        </p:spPr>
        <p:txBody>
          <a:bodyPr wrap="square" lIns="0" tIns="0" rIns="0" bIns="0" rtlCol="0" anchor="t"/>
          <a:lstStyle/>
          <a:p>
            <a:pPr indent="0" marL="0">
              <a:lnSpc>
                <a:spcPct val="110000"/>
              </a:lnSpc>
              <a:buNone/>
            </a:pPr>
            <a:r>
              <a:rPr lang="en-US" sz="1250" b="1" dirty="0">
                <a:solidFill>
                  <a:srgbClr val="0E1C42"/>
                </a:solidFill>
                <a:latin typeface="Calibri" pitchFamily="34" charset="0"/>
                <a:ea typeface="Calibri" pitchFamily="34" charset="-122"/>
                <a:cs typeface="Calibri" pitchFamily="34" charset="-120"/>
              </a:rPr>
              <a:t>3.  Why is it important that even the President of the United States has to follow the Constitution?</a:t>
            </a:r>
            <a:endParaRPr lang="en-US" sz="1250" dirty="0"/>
          </a:p>
        </p:txBody>
      </p:sp>
      <p:sp>
        <p:nvSpPr>
          <p:cNvPr id="10" name="Text 8"/>
          <p:cNvSpPr/>
          <p:nvPr/>
        </p:nvSpPr>
        <p:spPr>
          <a:xfrm>
            <a:off x="1097280" y="5035296"/>
            <a:ext cx="9875520" cy="4267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Explain how this rule helps keep the country fair.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ASSIGNMENT  ·  CURATOR TASK</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Council Chamber Recommendation</a:t>
            </a:r>
            <a:endParaRPr lang="en-US" sz="2800" dirty="0"/>
          </a:p>
        </p:txBody>
      </p:sp>
      <p:sp>
        <p:nvSpPr>
          <p:cNvPr id="4" name="Shape 2"/>
          <p:cNvSpPr/>
          <p:nvPr/>
        </p:nvSpPr>
        <p:spPr>
          <a:xfrm>
            <a:off x="609600" y="1219200"/>
            <a:ext cx="10607040" cy="2560320"/>
          </a:xfrm>
          <a:prstGeom prst="roundRect">
            <a:avLst>
              <a:gd name="adj" fmla="val 5714"/>
            </a:avLst>
          </a:prstGeom>
          <a:solidFill>
            <a:srgbClr val="FFF3DC"/>
          </a:solidFill>
          <a:ln/>
        </p:spPr>
      </p:sp>
      <p:sp>
        <p:nvSpPr>
          <p:cNvPr id="5" name="Text 3"/>
          <p:cNvSpPr/>
          <p:nvPr/>
        </p:nvSpPr>
        <p:spPr>
          <a:xfrm>
            <a:off x="853440" y="1402080"/>
            <a:ext cx="10119360" cy="42672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Choose a side. Give your reasons. Use evidence.</a:t>
            </a:r>
            <a:endParaRPr lang="en-US" sz="1200" dirty="0"/>
          </a:p>
        </p:txBody>
      </p:sp>
      <p:sp>
        <p:nvSpPr>
          <p:cNvPr id="6" name="Text 4"/>
          <p:cNvSpPr/>
          <p:nvPr/>
        </p:nvSpPr>
        <p:spPr>
          <a:xfrm>
            <a:off x="853440" y="1889760"/>
            <a:ext cx="10119360" cy="1036320"/>
          </a:xfrm>
          <a:prstGeom prst="rect">
            <a:avLst/>
          </a:prstGeom>
          <a:noFill/>
          <a:ln/>
        </p:spPr>
        <p:txBody>
          <a:bodyPr wrap="square" lIns="0" tIns="0" rIns="0" bIns="0" rtlCol="0" anchor="t"/>
          <a:lstStyle/>
          <a:p>
            <a:pPr indent="0" marL="0">
              <a:lnSpc>
                <a:spcPct val="115000"/>
              </a:lnSpc>
              <a:buNone/>
            </a:pPr>
            <a:r>
              <a:rPr lang="en-US" sz="1350" i="1" dirty="0">
                <a:solidFill>
                  <a:srgbClr val="0E1C42"/>
                </a:solidFill>
                <a:latin typeface="Cambria" pitchFamily="34" charset="0"/>
                <a:ea typeface="Cambria" pitchFamily="34" charset="-122"/>
                <a:cs typeface="Cambria" pitchFamily="34" charset="-120"/>
              </a:rPr>
              <a:t>You’re standing in the Council Chamber. The question is on the wall: "Should one strong leader make all the decisions, or should power come from the people?"</a:t>
            </a:r>
            <a:endParaRPr lang="en-US" sz="1350" dirty="0"/>
          </a:p>
        </p:txBody>
      </p:sp>
      <p:sp>
        <p:nvSpPr>
          <p:cNvPr id="7" name="Text 5"/>
          <p:cNvSpPr/>
          <p:nvPr/>
        </p:nvSpPr>
        <p:spPr>
          <a:xfrm>
            <a:off x="853440" y="2926080"/>
            <a:ext cx="10119360" cy="792480"/>
          </a:xfrm>
          <a:prstGeom prst="rect">
            <a:avLst/>
          </a:prstGeom>
          <a:noFill/>
          <a:ln/>
        </p:spPr>
        <p:txBody>
          <a:bodyPr wrap="square" lIns="0" tIns="0" rIns="0" bIns="0" rtlCol="0" anchor="t"/>
          <a:lstStyle/>
          <a:p>
            <a:pPr indent="0" marL="0">
              <a:lnSpc>
                <a:spcPct val="110000"/>
              </a:lnSpc>
              <a:buNone/>
            </a:pPr>
            <a:r>
              <a:rPr lang="en-US" sz="1150" dirty="0">
                <a:solidFill>
                  <a:srgbClr val="0E1C42"/>
                </a:solidFill>
                <a:latin typeface="Calibri" pitchFamily="34" charset="0"/>
                <a:ea typeface="Calibri" pitchFamily="34" charset="-122"/>
                <a:cs typeface="Calibri" pitchFamily="34" charset="-120"/>
              </a:rPr>
              <a:t>Write your recommendation in 3–5 sentences. Start by saying which side you choose. Then give two reasons, and use at least one piece of evidence from today’s lesson — the Constitution itself, the words "We the People," or the idea that even the President has to follow the rules.</a:t>
            </a:r>
            <a:endParaRPr lang="en-US" sz="1150" dirty="0"/>
          </a:p>
        </p:txBody>
      </p:sp>
      <p:sp>
        <p:nvSpPr>
          <p:cNvPr id="8" name="Shape 6"/>
          <p:cNvSpPr/>
          <p:nvPr/>
        </p:nvSpPr>
        <p:spPr>
          <a:xfrm>
            <a:off x="609600" y="4023360"/>
            <a:ext cx="10607040" cy="731520"/>
          </a:xfrm>
          <a:prstGeom prst="roundRect">
            <a:avLst>
              <a:gd name="adj" fmla="val 16667"/>
            </a:avLst>
          </a:prstGeom>
          <a:solidFill>
            <a:srgbClr val="1A8A7D"/>
          </a:solidFill>
          <a:ln/>
        </p:spPr>
      </p:sp>
      <p:sp>
        <p:nvSpPr>
          <p:cNvPr id="9" name="Text 7"/>
          <p:cNvSpPr/>
          <p:nvPr/>
        </p:nvSpPr>
        <p:spPr>
          <a:xfrm>
            <a:off x="853440" y="4145280"/>
            <a:ext cx="1011936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3–5 sentences.  Choose a side  -&gt;  give 2 reasons  -&gt;  use 1 piece of evidence.</a:t>
            </a:r>
            <a:endParaRPr lang="en-US" sz="1200" dirty="0"/>
          </a:p>
        </p:txBody>
      </p:sp>
      <p:sp>
        <p:nvSpPr>
          <p:cNvPr id="10" name="Text 8"/>
          <p:cNvSpPr/>
          <p:nvPr/>
        </p:nvSpPr>
        <p:spPr>
          <a:xfrm>
            <a:off x="609600" y="4998720"/>
            <a:ext cx="10607040" cy="365760"/>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Turn-In Checklist</a:t>
            </a:r>
            <a:endParaRPr lang="en-US" sz="1100" dirty="0"/>
          </a:p>
        </p:txBody>
      </p:sp>
      <p:sp>
        <p:nvSpPr>
          <p:cNvPr id="11" name="Text 9"/>
          <p:cNvSpPr/>
          <p:nvPr/>
        </p:nvSpPr>
        <p:spPr>
          <a:xfrm>
            <a:off x="609600" y="5388864"/>
            <a:ext cx="10607040" cy="914400"/>
          </a:xfrm>
          <a:prstGeom prst="rect">
            <a:avLst/>
          </a:prstGeom>
          <a:noFill/>
          <a:ln/>
        </p:spPr>
        <p:txBody>
          <a:bodyPr wrap="square" lIns="0" tIns="0" rIns="0" bIns="0" rtlCol="0" anchor="t"/>
          <a:lstStyle/>
          <a:p>
            <a:pPr indent="0" marL="0">
              <a:lnSpc>
                <a:spcPct val="115000"/>
              </a:lnSpc>
              <a:buNone/>
            </a:pPr>
            <a:r>
              <a:rPr lang="en-US" sz="1000" dirty="0">
                <a:solidFill>
                  <a:srgbClr val="7A88A8"/>
                </a:solidFill>
                <a:latin typeface="Calibri" pitchFamily="34" charset="0"/>
                <a:ea typeface="Calibri" pitchFamily="34" charset="-122"/>
                <a:cs typeface="Calibri" pitchFamily="34" charset="-120"/>
              </a:rPr>
              <a:t>☑ I answered all three evidence questions.   ☑ I wrote my Council Chamber recommendation with 2 reasons and 1 piece of evidence.   ☑ I wrote my Curator’s Chronicle.   ☑ I copied or downloaded my work and submitted to Canvas.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24384"/>
            <a:ext cx="10972800" cy="341376"/>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ASSIGNMENT  ·  CURATOR'S CHRONICLE</a:t>
            </a:r>
            <a:endParaRPr lang="en-US" sz="1100" dirty="0"/>
          </a:p>
        </p:txBody>
      </p:sp>
      <p:sp>
        <p:nvSpPr>
          <p:cNvPr id="3" name="Text 1"/>
          <p:cNvSpPr/>
          <p:nvPr/>
        </p:nvSpPr>
        <p:spPr>
          <a:xfrm>
            <a:off x="609600" y="365760"/>
            <a:ext cx="10972800" cy="792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One Sentence to Capture Today</a:t>
            </a:r>
            <a:endParaRPr lang="en-US" sz="2800" dirty="0"/>
          </a:p>
        </p:txBody>
      </p:sp>
      <p:sp>
        <p:nvSpPr>
          <p:cNvPr id="4" name="Shape 2"/>
          <p:cNvSpPr/>
          <p:nvPr/>
        </p:nvSpPr>
        <p:spPr>
          <a:xfrm>
            <a:off x="609600" y="1463040"/>
            <a:ext cx="10607040" cy="2682240"/>
          </a:xfrm>
          <a:prstGeom prst="roundRect">
            <a:avLst>
              <a:gd name="adj" fmla="val 6818"/>
            </a:avLst>
          </a:prstGeom>
          <a:solidFill>
            <a:srgbClr val="EAF8FD"/>
          </a:solidFill>
          <a:ln/>
        </p:spPr>
      </p:sp>
      <p:sp>
        <p:nvSpPr>
          <p:cNvPr id="5" name="Text 3"/>
          <p:cNvSpPr/>
          <p:nvPr/>
        </p:nvSpPr>
        <p:spPr>
          <a:xfrm>
            <a:off x="853440" y="1706880"/>
            <a:ext cx="10119360" cy="487680"/>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Finish this sentence in your own words:</a:t>
            </a:r>
            <a:endParaRPr lang="en-US" sz="1300" dirty="0"/>
          </a:p>
        </p:txBody>
      </p:sp>
      <p:sp>
        <p:nvSpPr>
          <p:cNvPr id="6" name="Text 4"/>
          <p:cNvSpPr/>
          <p:nvPr/>
        </p:nvSpPr>
        <p:spPr>
          <a:xfrm>
            <a:off x="853440" y="2316480"/>
            <a:ext cx="10119360" cy="1463040"/>
          </a:xfrm>
          <a:prstGeom prst="rect">
            <a:avLst/>
          </a:prstGeom>
          <a:noFill/>
          <a:ln/>
        </p:spPr>
        <p:txBody>
          <a:bodyPr wrap="square" lIns="0" tIns="0" rIns="0" bIns="0" rtlCol="0" anchor="ctr"/>
          <a:lstStyle/>
          <a:p>
            <a:pPr indent="0" marL="0">
              <a:buNone/>
            </a:pPr>
            <a:r>
              <a:rPr lang="en-US" sz="1900" b="1" dirty="0">
                <a:solidFill>
                  <a:srgbClr val="0E1C42"/>
                </a:solidFill>
                <a:latin typeface="Cambria" pitchFamily="34" charset="0"/>
                <a:ea typeface="Cambria" pitchFamily="34" charset="-122"/>
                <a:cs typeface="Cambria" pitchFamily="34" charset="-120"/>
              </a:rPr>
              <a:t>In this exhibit, I learned that ______ because ______.</a:t>
            </a:r>
            <a:endParaRPr lang="en-US" sz="1900" dirty="0"/>
          </a:p>
        </p:txBody>
      </p:sp>
      <p:sp>
        <p:nvSpPr>
          <p:cNvPr id="7" name="Shape 5"/>
          <p:cNvSpPr/>
          <p:nvPr/>
        </p:nvSpPr>
        <p:spPr>
          <a:xfrm>
            <a:off x="609600" y="4450080"/>
            <a:ext cx="10607040" cy="1828800"/>
          </a:xfrm>
          <a:prstGeom prst="roundRect">
            <a:avLst>
              <a:gd name="adj" fmla="val 8000"/>
            </a:avLst>
          </a:prstGeom>
          <a:solidFill>
            <a:srgbClr val="FFF3DC"/>
          </a:solidFill>
          <a:ln w="19050">
            <a:solidFill>
              <a:srgbClr val="F5E6C8"/>
            </a:solidFill>
            <a:prstDash val="solid"/>
          </a:ln>
        </p:spPr>
      </p:sp>
      <p:sp>
        <p:nvSpPr>
          <p:cNvPr id="8" name="Text 6"/>
          <p:cNvSpPr/>
          <p:nvPr/>
        </p:nvSpPr>
        <p:spPr>
          <a:xfrm>
            <a:off x="792480" y="452323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792480" y="4791456"/>
            <a:ext cx="1024128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power comes from the people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even leaders follow rules because..."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853440" y="1341120"/>
            <a:ext cx="10485120" cy="85344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"We the People" -- Closed for the Day</a:t>
            </a:r>
            <a:endParaRPr lang="en-US" sz="2600" dirty="0"/>
          </a:p>
        </p:txBody>
      </p:sp>
      <p:sp>
        <p:nvSpPr>
          <p:cNvPr id="6" name="Text 3"/>
          <p:cNvSpPr/>
          <p:nvPr/>
        </p:nvSpPr>
        <p:spPr>
          <a:xfrm>
            <a:off x="1219200" y="2438400"/>
            <a:ext cx="9753600" cy="1341120"/>
          </a:xfrm>
          <a:prstGeom prst="rect">
            <a:avLst/>
          </a:prstGeom>
          <a:noFill/>
          <a:ln/>
        </p:spPr>
        <p:txBody>
          <a:bodyPr wrap="square" lIns="0" tIns="0" rIns="0" bIns="0" rtlCol="0" anchor="t"/>
          <a:lstStyle/>
          <a:p>
            <a:pPr algn="ctr" indent="0" marL="0">
              <a:lnSpc>
                <a:spcPct val="120000"/>
              </a:lnSpc>
              <a:buNone/>
            </a:pPr>
            <a:r>
              <a:rPr lang="en-US" sz="1500" dirty="0">
                <a:solidFill>
                  <a:srgbClr val="FFFFFF"/>
                </a:solidFill>
                <a:latin typeface="Calibri" pitchFamily="34" charset="0"/>
                <a:ea typeface="Calibri" pitchFamily="34" charset="-122"/>
                <a:cs typeface="Calibri" pitchFamily="34" charset="-120"/>
              </a:rPr>
              <a:t>Nice work, Civic Curator! You opened the Constitution case, made an honest recommendation in the Council Chamber, and showed visitors what “power from the people” really means.</a:t>
            </a:r>
            <a:endParaRPr lang="en-US" sz="1500" dirty="0"/>
          </a:p>
        </p:txBody>
      </p:sp>
      <p:sp>
        <p:nvSpPr>
          <p:cNvPr id="7" name="Shape 4"/>
          <p:cNvSpPr/>
          <p:nvPr/>
        </p:nvSpPr>
        <p:spPr>
          <a:xfrm>
            <a:off x="1463040" y="4023360"/>
            <a:ext cx="8900160" cy="1950720"/>
          </a:xfrm>
          <a:prstGeom prst="roundRect">
            <a:avLst>
              <a:gd name="adj" fmla="val 9375"/>
            </a:avLst>
          </a:prstGeom>
          <a:solidFill>
            <a:srgbClr val="1A2D5A"/>
          </a:solidFill>
          <a:ln/>
        </p:spPr>
      </p:sp>
      <p:sp>
        <p:nvSpPr>
          <p:cNvPr id="8" name="Text 5"/>
          <p:cNvSpPr/>
          <p:nvPr/>
        </p:nvSpPr>
        <p:spPr>
          <a:xfrm>
            <a:off x="1706880" y="4206240"/>
            <a:ext cx="8412480" cy="365760"/>
          </a:xfrm>
          <a:prstGeom prst="rect">
            <a:avLst/>
          </a:prstGeom>
          <a:noFill/>
          <a:ln/>
        </p:spPr>
        <p:txBody>
          <a:bodyPr wrap="square" lIns="0" tIns="0" rIns="0" bIns="0"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COMING UP NEXT</a:t>
            </a:r>
            <a:endParaRPr lang="en-US" sz="1000" dirty="0"/>
          </a:p>
        </p:txBody>
      </p:sp>
      <p:sp>
        <p:nvSpPr>
          <p:cNvPr id="9" name="Text 6"/>
          <p:cNvSpPr/>
          <p:nvPr/>
        </p:nvSpPr>
        <p:spPr>
          <a:xfrm>
            <a:off x="1706880" y="4632960"/>
            <a:ext cx="8412480" cy="1219200"/>
          </a:xfrm>
          <a:prstGeom prst="rect">
            <a:avLst/>
          </a:prstGeom>
          <a:noFill/>
          <a:ln/>
        </p:spPr>
        <p:txBody>
          <a:bodyPr wrap="square" lIns="0" tIns="0" rIns="0" bIns="0" rtlCol="0" anchor="t"/>
          <a:lstStyle/>
          <a:p>
            <a:pPr algn="ctr" indent="0" marL="0">
              <a:lnSpc>
                <a:spcPct val="115000"/>
              </a:lnSpc>
              <a:buNone/>
            </a:pPr>
            <a:r>
              <a:rPr lang="en-US" sz="1300" i="1" dirty="0">
                <a:solidFill>
                  <a:srgbClr val="FFFFFF"/>
                </a:solidFill>
                <a:latin typeface="Cambria" pitchFamily="34" charset="0"/>
                <a:ea typeface="Cambria" pitchFamily="34" charset="-122"/>
                <a:cs typeface="Cambria" pitchFamily="34" charset="-120"/>
              </a:rPr>
              <a:t>A tall three-level model will be standing in the center of the hall -- local, state, and national government, with empty label cards on the floor waiting for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2026-07-11T19:17:30Z</dcterms:created>
  <dcterms:modified xsi:type="dcterms:W3CDTF">2026-07-11T19:17:30Z</dcterms:modified>
</cp:coreProperties>
</file>