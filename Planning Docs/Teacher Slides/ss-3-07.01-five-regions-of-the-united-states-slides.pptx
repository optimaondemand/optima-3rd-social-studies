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Dramatic aerial/satellite view of the United States showing diverse landscapes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Grand museum gallery with five empty alcoves, each with a glowing region signHook slide. The museum U.S. Regions Gallery has five empty alcoves. Students help fill them by learning about each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Warm museum scene — students gathered around a glowing map, pointing respectfully at different regionsVirtue: Courtesy. Approach every region with equal respect and genuine curiosity.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region. Geographers group areas by shared landforms, climate, resources, and human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Northeast: Upper-right, Atlantic coast. Old cities, fishing/lobster, New England forests, Appalachians.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Southeast: Lower-right, Gulf and Atlantic coasts. Warm climate, Everglades, cotton, citrus.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Midwest: Central interior heartland. Flat plains, Great Lakes, Mississippi River, Breadbasket of America.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Southwest: Dry dramatic scenery, deserts, canyons, Rio Grande, oil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West: Pacific coast to Rockies. Most diverse climates — rainforests to deserts, Alaska and Hawaii.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Quest matching. Students match clue sets to the correct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Fact: 50 states grouped into 5 regions. Boundaries vary by geographer.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&amp; Now: Early travelers noticed regional differences. Today we fly across in hours but geographers still study natural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Label summary. Five regions, each with own land, climate, resources, and culture.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Q1: What do geographers use to divide the U.S. into regions? Answer: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Q2: Which region has Great Plains, Great Lakes, vast farms? Answer: C — Midwest.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Q3: How many major regions? Answer: B —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Assignment: Two evidence questions and one Curator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Curator's Chronicle reflection. Students complete the sentence with specific details from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Museum gallery with five alcoves now glowing with region imageryClosing. Gallery open, five alcoves filled. Next lesson: The Northeast Alcove.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MAP ROOM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Regions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United States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3.07.01  |  WEEK 19, Q3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SS.3.G.2.2–2.6  |  SS.3.G.4.1, 4.4  |  SS.3.AA.1.1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731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MAP ROOM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" y="164592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Empty Alcoves.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Region Signs.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Big Country to Explore.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463040" y="3901440"/>
            <a:ext cx="9265920" cy="21945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3956304"/>
            <a:ext cx="899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00200" y="4157472"/>
            <a:ext cx="8991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"Welcome, curators! Our new U.S. Regions Gallery just opened, but the five alcoves are empty."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"Each alcove has a sign: Northeast, Southeast, Midwest, Southwest, and West."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Director needs your help filling them so visitors can see what makes each region special."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Courtesy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2743200" y="2926080"/>
            <a:ext cx="6705295" cy="1645920"/>
          </a:xfrm>
          <a:prstGeom prst="roundRect">
            <a:avLst>
              <a:gd name="adj" fmla="val 8333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17520" y="3108960"/>
            <a:ext cx="6156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every region with equal respect and curiosity.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is "boring" or "better."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828800" y="4876800"/>
            <a:ext cx="8534400" cy="1463040"/>
          </a:xfrm>
          <a:prstGeom prst="roundRect">
            <a:avLst>
              <a:gd name="adj" fmla="val 937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4968240"/>
            <a:ext cx="816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11680" y="5224272"/>
            <a:ext cx="8168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to study places that are different from where we live?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feel if someone said your home region was not interesting?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learn by being curious about every part of our country?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3.07.01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Region?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5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large area that shares common features.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Landforms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Mountains, plains, coastlines, deserts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514600"/>
            <a:ext cx="640080" cy="64008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rainfall, seasons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526280"/>
            <a:ext cx="640080" cy="640080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soil, minerals, forests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4526280"/>
            <a:ext cx="640080" cy="640080"/>
          </a:xfrm>
          <a:prstGeom prst="ellipse">
            <a:avLst/>
          </a:prstGeom>
          <a:solidFill>
            <a:srgbClr val="8B6FC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Patterns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farms, traditions, industries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Geographers use these shared features to group states into regions.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1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Northeast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05600" y="1097280"/>
            <a:ext cx="5120640" cy="3901440"/>
          </a:xfrm>
          <a:prstGeom prst="roundRect">
            <a:avLst>
              <a:gd name="adj" fmla="val 281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70560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88480" y="1463040"/>
            <a:ext cx="4754880" cy="344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Northeast region highlighted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(ME, NH, VT, MA, RI, CT, NY, NJ, PA)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852160" cy="1828800"/>
          </a:xfrm>
          <a:prstGeom prst="roundRect">
            <a:avLst>
              <a:gd name="adj" fmla="val 75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Upper-right corner of the U.S.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Atlantic Coast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America’s oldest cities (Boston, New York, Philadelphia)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and lobster industries along the coast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England forests with brilliant fall foliage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Mountains stretch through the region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5852160"/>
            <a:ext cx="8534400" cy="109728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2480" y="5943600"/>
            <a:ext cx="816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480" y="6199632"/>
            <a:ext cx="816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life be like in a city that is hundreds of years old?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fishing be important in a region along the coast?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Southeast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05600" y="1097280"/>
            <a:ext cx="5120640" cy="3901440"/>
          </a:xfrm>
          <a:prstGeom prst="roundRect">
            <a:avLst>
              <a:gd name="adj" fmla="val 281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70560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88480" y="1463040"/>
            <a:ext cx="4754880" cy="344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Southeast region highlighted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(FL, GA, SC, NC, VA, AL, MS, LA)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852160" cy="1828800"/>
          </a:xfrm>
          <a:prstGeom prst="roundRect">
            <a:avLst>
              <a:gd name="adj" fmla="val 75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Lower-right corner of the U.S.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Coast + Atlantic Coast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humid climate with long summers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Everglades — a vast wetland ecosystem in Florida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farming and agriculture traditions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fruits like oranges and grapefruits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5852160"/>
            <a:ext cx="8534400" cy="109728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2480" y="5943600"/>
            <a:ext cx="816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480" y="6199632"/>
            <a:ext cx="816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warm weather affect what people grow and eat?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wetlands like the Everglades worth protecting?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3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Midwest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05600" y="1097280"/>
            <a:ext cx="5120640" cy="3901440"/>
          </a:xfrm>
          <a:prstGeom prst="roundRect">
            <a:avLst>
              <a:gd name="adj" fmla="val 281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70560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88480" y="1463040"/>
            <a:ext cx="4754880" cy="344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Midwest region highlighted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(OH, IN, IL, MI, WI, MN, IA, MO)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852160" cy="1828800"/>
          </a:xfrm>
          <a:prstGeom prst="roundRect">
            <a:avLst>
              <a:gd name="adj" fmla="val 7500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interior heartland of America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Breadbasket of America"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plains stretching for miles and miles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Lakes — the largest group of freshwater lakes on Earth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mighty Mississippi River flows through the region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farmlands growing wheat, corn, and soybeans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5852160"/>
            <a:ext cx="8534400" cy="109728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2480" y="5943600"/>
            <a:ext cx="816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480" y="6199632"/>
            <a:ext cx="816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the Midwest is called the Breadbasket?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flat plains help farmers grow food for the whole country?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4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Southwest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05600" y="1097280"/>
            <a:ext cx="5120640" cy="3901440"/>
          </a:xfrm>
          <a:prstGeom prst="roundRect">
            <a:avLst>
              <a:gd name="adj" fmla="val 281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70560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88480" y="1463040"/>
            <a:ext cx="4754880" cy="344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Southwest region highlighted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(TX, OK, NM, AZ)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852160" cy="1828800"/>
          </a:xfrm>
          <a:prstGeom prst="roundRect">
            <a:avLst>
              <a:gd name="adj" fmla="val 75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Dry, dramatic landscapes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Desert, canyons, and wide-open spaces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Deserts with unique cacti and rock formations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canyons carved by rivers over millions of years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Rio Grande — a major river along the U.S.–Mexico border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and sunny, dry weather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5852160"/>
            <a:ext cx="8534400" cy="109728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2480" y="5943600"/>
            <a:ext cx="816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480" y="6199632"/>
            <a:ext cx="816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people and animals survive in a hot, dry desert?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resources come from underground in the Southwest?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5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705600" y="1097280"/>
            <a:ext cx="5120640" cy="3901440"/>
          </a:xfrm>
          <a:prstGeom prst="roundRect">
            <a:avLst>
              <a:gd name="adj" fmla="val 281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70560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88480" y="1463040"/>
            <a:ext cx="4754880" cy="3444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map with West region highlighted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(CA, OR, WA, NV, UT, CO, MT, WY, ID, AK, HI)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852160" cy="1828800"/>
          </a:xfrm>
          <a:prstGeom prst="roundRect">
            <a:avLst>
              <a:gd name="adj" fmla="val 75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Pacific Coast to the Rocky Mountains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diverse climates in America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Pacific coastline with beaches and cliffs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Rocky Mountains — towering peaks with snow year-round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diverse climates of any region: rainforests to deserts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Alaska (coldest) and Hawaii (tropical islands)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" y="5852160"/>
            <a:ext cx="8534400" cy="109728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2480" y="5943600"/>
            <a:ext cx="816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480" y="6199632"/>
            <a:ext cx="816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one region have so many different types of weather?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mountains and coastlines different habitats for people?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Clues to the Region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90560" y="1219200"/>
            <a:ext cx="5120640" cy="5120640"/>
          </a:xfrm>
          <a:prstGeom prst="roundRect">
            <a:avLst>
              <a:gd name="adj" fmla="val 214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90560" y="121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73440" y="1584960"/>
            <a:ext cx="47548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U.S. map showing all five regions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with labels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303520" cy="868680"/>
          </a:xfrm>
          <a:prstGeom prst="roundRect">
            <a:avLst>
              <a:gd name="adj" fmla="val 15789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1458468"/>
            <a:ext cx="512064" cy="512064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4584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Plains, Great Lakes, vast farms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Midwest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5303520" cy="868680"/>
          </a:xfrm>
          <a:prstGeom prst="roundRect">
            <a:avLst>
              <a:gd name="adj" fmla="val 1578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" y="2510028"/>
            <a:ext cx="512064" cy="512064"/>
          </a:xfrm>
          <a:prstGeom prst="ellipse">
            <a:avLst/>
          </a:prstGeom>
          <a:solidFill>
            <a:srgbClr val="8B6FC0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2510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Coast, Rockies, diverse climates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303520" cy="868680"/>
          </a:xfrm>
          <a:prstGeom prst="roundRect">
            <a:avLst>
              <a:gd name="adj" fmla="val 15789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" y="3561588"/>
            <a:ext cx="512064" cy="512064"/>
          </a:xfrm>
          <a:prstGeom prst="ellipse">
            <a:avLst/>
          </a:prstGeom>
          <a:solidFill>
            <a:srgbClr val="55C8E8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5615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Coast, old cities, New England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Northeast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5303520" cy="868680"/>
          </a:xfrm>
          <a:prstGeom prst="roundRect">
            <a:avLst>
              <a:gd name="adj" fmla="val 15789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" y="4613148"/>
            <a:ext cx="512064" cy="512064"/>
          </a:xfrm>
          <a:prstGeom prst="ellipse">
            <a:avLst/>
          </a:prstGeom>
          <a:solidFill>
            <a:srgbClr val="E8636B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46131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canyons, Rio Grande, oil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Southwest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5303520" cy="868680"/>
          </a:xfrm>
          <a:prstGeom prst="roundRect">
            <a:avLst>
              <a:gd name="adj" fmla="val 15789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" y="5664708"/>
            <a:ext cx="512064" cy="512064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5664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5577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+ Atlantic, warm, Everglades, citrus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5943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Southeast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States, 5 Regions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5544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3200400"/>
          </a:xfrm>
          <a:prstGeom prst="roundRect">
            <a:avLst>
              <a:gd name="adj" fmla="val 4286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You Know?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geographers sometimes draw regional boundaries in slightly different places. There is no single "official" map of regions!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is that states in a region share similar features — land, climate, resources, and human patterns.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19200" y="4876800"/>
            <a:ext cx="6096000" cy="1828800"/>
          </a:xfrm>
          <a:prstGeom prst="roundRect">
            <a:avLst>
              <a:gd name="adj" fmla="val 6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19200" y="4876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2080" y="5242560"/>
            <a:ext cx="573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slightly different region maps side by side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how boundaries can vary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&amp;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Through Time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travelers noticed that different parts of America looked, felt, and sounded different.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took weeks or months by horse and wagon.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fly across the whole country in just a few hours.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geographers still study how regions differ in land, climate, and resources.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7680" y="3657600"/>
            <a:ext cx="4876800" cy="1828800"/>
          </a:xfrm>
          <a:prstGeom prst="roundRect">
            <a:avLst>
              <a:gd name="adj" fmla="val 6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7680" y="36576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0560" y="4023360"/>
            <a:ext cx="451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covered wagons traveling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varied American landscapes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05600" y="3657600"/>
            <a:ext cx="4876800" cy="1828800"/>
          </a:xfrm>
          <a:prstGeom prst="roundRect">
            <a:avLst>
              <a:gd name="adj" fmla="val 6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705600" y="365760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88480" y="4023360"/>
            <a:ext cx="451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airplane flying 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satellite view of the U.S.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600" y="6339840"/>
            <a:ext cx="10972800" cy="109728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2480" y="64312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2480" y="668731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we can travel faster now, why do geographers still study regions?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learn from noticing how places are different?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LABEL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8534095" cy="2286000"/>
          </a:xfrm>
          <a:prstGeom prst="roundRect">
            <a:avLst>
              <a:gd name="adj" fmla="val 6000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64592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United States has five major regions: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19456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 |  Southeast  |  Midwest  |  Southwest  |  West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283464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land, climate, resources, and culture.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057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3020" y="4251960"/>
            <a:ext cx="548640" cy="548640"/>
          </a:xfrm>
          <a:prstGeom prst="ellipse">
            <a:avLst/>
          </a:prstGeom>
          <a:solidFill>
            <a:srgbClr val="55C8E8"/>
          </a:solidFill>
          <a:ln/>
        </p:spPr>
      </p:sp>
      <p:sp>
        <p:nvSpPr>
          <p:cNvPr id="11" name="Text 9"/>
          <p:cNvSpPr/>
          <p:nvPr/>
        </p:nvSpPr>
        <p:spPr>
          <a:xfrm>
            <a:off x="13030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0292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cities, coast,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4114800"/>
            <a:ext cx="2057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4740" y="4251960"/>
            <a:ext cx="548640" cy="548640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5" name="Text 13"/>
          <p:cNvSpPr/>
          <p:nvPr/>
        </p:nvSpPr>
        <p:spPr>
          <a:xfrm>
            <a:off x="36347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50292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Everglades,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114800"/>
            <a:ext cx="2057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66460" y="4251960"/>
            <a:ext cx="548640" cy="54864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664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50292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Plains, Lakes,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Breadbasket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4114800"/>
            <a:ext cx="2057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98180" y="4251960"/>
            <a:ext cx="548640" cy="548640"/>
          </a:xfrm>
          <a:prstGeom prst="ellipse">
            <a:avLst/>
          </a:prstGeom>
          <a:solidFill>
            <a:srgbClr val="E8636B"/>
          </a:solidFill>
          <a:ln/>
        </p:spPr>
      </p:sp>
      <p:sp>
        <p:nvSpPr>
          <p:cNvPr id="23" name="Text 21"/>
          <p:cNvSpPr/>
          <p:nvPr/>
        </p:nvSpPr>
        <p:spPr>
          <a:xfrm>
            <a:off x="82981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50292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Desert, canyons,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75520" y="4114800"/>
            <a:ext cx="20574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629900" y="4251960"/>
            <a:ext cx="548640" cy="548640"/>
          </a:xfrm>
          <a:prstGeom prst="ellipse">
            <a:avLst/>
          </a:prstGeom>
          <a:solidFill>
            <a:srgbClr val="8B6FC0"/>
          </a:solidFill>
          <a:ln/>
        </p:spPr>
      </p:sp>
      <p:sp>
        <p:nvSpPr>
          <p:cNvPr id="27" name="Text 25"/>
          <p:cNvSpPr/>
          <p:nvPr/>
        </p:nvSpPr>
        <p:spPr>
          <a:xfrm>
            <a:off x="106299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12680" y="50292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Pacific, Rockies,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|  QUESTION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Knowledge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geographers use to divide the United States into regions?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306781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067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97180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number of people who live there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70432" y="3936492"/>
            <a:ext cx="402336" cy="402336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36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Land, climate, resources, and human patterns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70432" y="480517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805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of the soil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553212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70432" y="567385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5673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57784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types of animals found there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|  QUESTION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Knowledge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region is known for the Great Plains, Great Lakes, and vast farms?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306781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067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97180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Northeast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70432" y="393649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36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Southwest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70432" y="4805172"/>
            <a:ext cx="402336" cy="402336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805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Midwest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553212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70432" y="567385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5673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57784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|  QUESTION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Knowledge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280160"/>
          </a:xfrm>
          <a:prstGeom prst="roundRect">
            <a:avLst>
              <a:gd name="adj" fmla="val 10714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630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major regions do geographers divide the United States into?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306781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3067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97180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E3F8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70432" y="3936492"/>
            <a:ext cx="402336" cy="402336"/>
          </a:xfrm>
          <a:prstGeom prst="ellipse">
            <a:avLst/>
          </a:prstGeom>
          <a:solidFill>
            <a:srgbClr val="34B76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36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70432" y="480517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8051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5532120"/>
            <a:ext cx="10362895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70432" y="5673852"/>
            <a:ext cx="402336" cy="402336"/>
          </a:xfrm>
          <a:prstGeom prst="ellipse">
            <a:avLst/>
          </a:prstGeom>
          <a:solidFill>
            <a:srgbClr val="7A88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5673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57784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Questions + Curator Task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1463040"/>
          </a:xfrm>
          <a:prstGeom prst="roundRect">
            <a:avLst>
              <a:gd name="adj" fmla="val 9375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regions of the United States. Then describe one feature (land, weather, or resource) that makes ONE region stand out to you.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4415" cy="1463040"/>
          </a:xfrm>
          <a:prstGeom prst="roundRect">
            <a:avLst>
              <a:gd name="adj" fmla="val 9375"/>
            </a:avLst>
          </a:prstGeom>
          <a:solidFill>
            <a:srgbClr val="EAF8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geographer says: "The United States is one country, but it is also many different places." What do you think this means? Use what you know about regions to explain.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FFF3D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Curator’s Notebook, draw and label the five regions on your U.S. map. Then write one sentence here explaining what geographers use to define a region.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sentence: "A region is defined by ______."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Your Learning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9448495" cy="3200400"/>
          </a:xfrm>
          <a:prstGeom prst="roundRect">
            <a:avLst>
              <a:gd name="adj" fmla="val 4286"/>
            </a:avLst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64592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sentence in your Curator’s Chronicle: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8534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this exhibit, I learned that ______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______."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19200" y="4876800"/>
            <a:ext cx="9753600" cy="1584960"/>
          </a:xfrm>
          <a:prstGeom prst="roundRect">
            <a:avLst>
              <a:gd name="adj" fmla="val 8654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02080" y="4968240"/>
            <a:ext cx="938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02080" y="5224272"/>
            <a:ext cx="9387840" cy="114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interesting thing you learned about U.S. regions today?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would you most like to visit, and why?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knowing about regions help you understand America better?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MAP ROOM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 Opened!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alcoves filled. Five regions explored.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4114800"/>
            <a:ext cx="5790895" cy="137160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429768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0" y="4663440"/>
            <a:ext cx="5242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Northeast Alcove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2026-07-11T18:51:56Z</dcterms:created>
  <dcterms:modified xsi:type="dcterms:W3CDTF">2026-07-11T18:51:56Z</dcterms:modified>
</cp:coreProperties>
</file>