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Full-bleed background of a museum exploration wing — dimly lit gallery with explorer maps, artifacts in glass cases, warm amber lighting. Save as: bg-exploration-wing.jpg
Teacher: Welcome, Route Curators. Look at today's title. You have been building this exhibit all unit — motives, tools, routes, explorers, consequences. Today is the final inspection. The museum director is coming. Before we fill out that Explorer Evidence Chart, we walk the exhibit one last time and prove we know it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Completed museum gallery or history wing — organized, well-lit, with artifacts and maps. Save as: bg-completed-wing.jpg
Teacher: Don't rush this slide. Let students feel the moment. Read each bullet slowly. Pause before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Curator's Question aloud. Give 10 seconds of silence. Then ask: 'Which category feels most important to you?' Take 2-3 responses. Don't confirm. Say: 'Let's walk the exhibit and test your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Historical explorer routes map showing Atlantic voyages with multiple colored route lines. Source: loc.gov or education.nationalgeographic.org. Save as: source-3-02-06-explorer-routes-map.jpg
Teacher: Put the map up — say nothing about what it shows. '15 seconds. Look.' Silence. Then: 'Type ONE thing you notice.' Read chat responses aloud. Don't explain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Work through See → Mean → Matter. For 'Why does it matter?' students should connect that a map is the centerpiece because it shows ALL five categories at once. Routes yes — but tools got them there, motives drove them, consequences happened wherever those lines 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Reveal the five panels. Don't read them — let students do it. Ask: 'If you removed ONE panel, what would be missing?' Take 2-3 answers. Push for reasoning, not just panel names. The goal is for students to feel the interdependence.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Ask 'Which of these is a reason people explored — not a tool, not a result?' Students confuse motives with tools (compass) or consequences (disease). If any student gives a wrong example, ask: 'Is that a reason why they went, or something that helped them go, or something that happened after?' Build the distinction from their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Tools and motives are the most commonly confused categories. Ask: 'A compass helped them navigate. Is it a reason someone decided to leave home?' Push the distinction: motives = reasons, tools = instruments that made the voyage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For each route — ask WHERE they went and briefly WHY (connect back to motives). Columbus = trade route west. Magellan = prove the world is round + spice trade. Ponce de León = claim land (Florida). Then ask: 'These routes don't look the same — what does that tell us about each explorer's motives being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panel with students. For consequences — slow down. Say: 'These are the hard truths. A real museum doesn't hide them.' Ask: 'Which consequence do you think was most serious?' Let students debate. This is intentional — consequences are the most important category for the honesty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not a quick virtue mention — it's the heart of the lesson. Ask: 'Why might someone leave consequences out of an exhibit?' Push: 'Does leaving something out make it not true?' Then connect: 'A Route Reader tells the whole story. That takes honesty AND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slide scaffolds Assignment Question 3 exactly. Walk through each panel reason. Have students try the chat frame. Read 2-3 answers. Don't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Tell students to cover their screens or close their eyes. 15 seconds. Then ask for volunteers. Don't reveal until 2-3 students have tried. Celebrate partial recall. The bonus pushes deeper — category names to actual evidence sorting. This primes them for the Explorer Evidence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Think aloud through this model. Say each step of the script. Don't skip any step — students need to see the PROCESS, not just the answer. After revealing the answer, ask: 'What did I check first?' Build the habit: 1) Is it a reason? 2) Is it a tool? 3) Is it something that happened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Some students might say Consequences, others Discoveries. Push: 'The Columbian Exchange — did that happen before explorers arrived, or because of them?' When students say 'because of them' — that's the key. Consequences = things that happened AS A RESULT of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Don't tell students it's wrong before they read it. Ask: 'Read this student's answer. What do you think?' Let students find the error. The key confusion: a compass HELPS exploration but doesn't CAUSE someone to want to explore. After the fix, ask: 'What would the CORRECT motive be for the same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Fact A = ROUTES (describes Ponce de León's path and destination). Fact B = CONSEQUENCES (disease spread as a result of contact).
Teacher: Give 30-45 seconds, then chat. If students disagree about Fact A: 'Did he discover Florida, or did he ROUTE to it?' The route = his path. Discoveries = what was there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best slide. Don't rush it. Both arguments have merit. ROUTES focuses on navigation/destination. CONSEQUENCES focuses on impact on native peoples. Ask: 'Why does the wording matter? What does the phrase already called home suggest about what happened next?' Celebrate the student who argues for Consequences — they're reading for the full story, not just the surface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These mirror the self-check questions in the Canvas lesson. Go through them quickly — students should feel confident. If anyone misses Q1 (motive vs. tool), return to the sorting checklist. 3-4 minutes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question aloud. Pause after Q2 and Q3 — these are the hardest. For Q2: 'We traced this together — motives are reasons → tools made it possible → routes show the path → discoveries and consequences followed. Trace a line from one motive to a specific consequence.' For Q3: They practiced this on the previous slide. They have the words — now they 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structure: three categories minimum, one fact each, one connection sentence. Model the connection sentence: 'Motives pushed explorers to use Tools, which helped them follow Routes to make Discoveries — but those Discoveries came with Consequences that changed the world.' Students adapt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Have students write their Curator's Chronicle LIVE — give 90 seconds. Then ask 2-3 students to share. Celebrate specificity. Go through the turn-in checklist. Students should be submitting during or right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Full-bleed background of a museum hallway or gallery with warm amber lighting. Save as: bg-route-reader-closing.jpg
Teacher script (read slowly, let it land): 'Three weeks ago, you opened a crate. Now you've built an entire exhibit wing. Motives, tools, routes, explorers, consequences — all of it. And you told the truth about the hard parts. That is not just learning. That is curating.' Pause. 'The next room is called the Great Map Room. The door says: No route can be understood without map language. Your new title? Map Curator. See you there.' Pause.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73152"/>
          </a:xfrm>
          <a:prstGeom prst="rect">
            <a:avLst/>
          </a:prstGeom>
          <a:solidFill>
            <a:srgbClr val="D4943A"/>
          </a:solidFill>
          <a:ln w="12700">
            <a:solidFill>
              <a:srgbClr val="D4943A"/>
            </a:solidFill>
            <a:prstDash val="solid"/>
          </a:ln>
        </p:spPr>
      </p:sp>
      <p:sp>
        <p:nvSpPr>
          <p:cNvPr id="5" name="Shape 3"/>
          <p:cNvSpPr/>
          <p:nvPr/>
        </p:nvSpPr>
        <p:spPr>
          <a:xfrm>
            <a:off x="0" y="5070348"/>
            <a:ext cx="9144000" cy="73152"/>
          </a:xfrm>
          <a:prstGeom prst="rect">
            <a:avLst/>
          </a:prstGeom>
          <a:solidFill>
            <a:srgbClr val="D4943A"/>
          </a:solidFill>
          <a:ln w="12700">
            <a:solidFill>
              <a:srgbClr val="D4943A"/>
            </a:solidFill>
            <a:prstDash val="solid"/>
          </a:ln>
        </p:spPr>
      </p:sp>
      <p:sp>
        <p:nvSpPr>
          <p:cNvPr id="6" name="Text 4"/>
          <p:cNvSpPr/>
          <p:nvPr/>
        </p:nvSpPr>
        <p:spPr>
          <a:xfrm>
            <a:off x="457200" y="347472"/>
            <a:ext cx="8229600" cy="27432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EXPLORATION WING  ·  FINAL INSPECTION</a:t>
            </a:r>
            <a:endParaRPr lang="en-US" sz="1000" dirty="0"/>
          </a:p>
        </p:txBody>
      </p:sp>
      <p:sp>
        <p:nvSpPr>
          <p:cNvPr id="7" name="Text 5"/>
          <p:cNvSpPr/>
          <p:nvPr/>
        </p:nvSpPr>
        <p:spPr>
          <a:xfrm>
            <a:off x="914400" y="822960"/>
            <a:ext cx="7315200" cy="2194560"/>
          </a:xfrm>
          <a:prstGeom prst="rect">
            <a:avLst/>
          </a:prstGeom>
          <a:noFill/>
          <a:ln/>
        </p:spPr>
        <p:txBody>
          <a:bodyPr wrap="square" rtlCol="0" anchor="ctr"/>
          <a:lstStyle/>
          <a:p>
            <a:pPr algn="ctr" indent="0" marL="0">
              <a:buNone/>
            </a:pPr>
            <a:r>
              <a:rPr lang="en-US" sz="4800" b="1" dirty="0">
                <a:solidFill>
                  <a:srgbClr val="D4943A"/>
                </a:solidFill>
                <a:latin typeface="Cambria" pitchFamily="34" charset="0"/>
                <a:ea typeface="Cambria" pitchFamily="34" charset="-122"/>
                <a:cs typeface="Cambria" pitchFamily="34" charset="-120"/>
              </a:rPr>
              <a:t>Explorer</a:t>
            </a:r>
            <a:endParaRPr lang="en-US" sz="4800" dirty="0"/>
          </a:p>
          <a:p>
            <a:pPr algn="ctr" indent="0" marL="0">
              <a:buNone/>
            </a:pPr>
            <a:r>
              <a:rPr lang="en-US" sz="4800" b="1" dirty="0">
                <a:solidFill>
                  <a:srgbClr val="D4943A"/>
                </a:solidFill>
                <a:latin typeface="Cambria" pitchFamily="34" charset="0"/>
                <a:ea typeface="Cambria" pitchFamily="34" charset="-122"/>
                <a:cs typeface="Cambria" pitchFamily="34" charset="-120"/>
              </a:rPr>
              <a:t>Evidence Chart</a:t>
            </a:r>
            <a:endParaRPr lang="en-US" sz="4800" dirty="0"/>
          </a:p>
        </p:txBody>
      </p:sp>
      <p:sp>
        <p:nvSpPr>
          <p:cNvPr id="8" name="Text 6"/>
          <p:cNvSpPr/>
          <p:nvPr/>
        </p:nvSpPr>
        <p:spPr>
          <a:xfrm>
            <a:off x="914400" y="3108960"/>
            <a:ext cx="7315200" cy="292608"/>
          </a:xfrm>
          <a:prstGeom prst="rect">
            <a:avLst/>
          </a:prstGeom>
          <a:noFill/>
          <a:ln/>
        </p:spPr>
        <p:txBody>
          <a:bodyPr wrap="square" lIns="0" tIns="0" rIns="0" bIns="0" rtlCol="0" anchor="ctr"/>
          <a:lstStyle/>
          <a:p>
            <a:pPr algn="ctr" indent="0" marL="0">
              <a:buNone/>
            </a:pPr>
            <a:r>
              <a:rPr lang="en-US" sz="1200" spc="150" kern="0" dirty="0">
                <a:solidFill>
                  <a:srgbClr val="55C8E8"/>
                </a:solidFill>
                <a:latin typeface="Calibri" pitchFamily="34" charset="0"/>
                <a:ea typeface="Calibri" pitchFamily="34" charset="-122"/>
                <a:cs typeface="Calibri" pitchFamily="34" charset="-120"/>
              </a:rPr>
              <a:t>Lesson 3.02.06  ·  Age of Exploration  ·  Grade 3</a:t>
            </a:r>
            <a:endParaRPr lang="en-US" sz="1200" dirty="0"/>
          </a:p>
        </p:txBody>
      </p:sp>
      <p:sp>
        <p:nvSpPr>
          <p:cNvPr id="9" name="Shape 7"/>
          <p:cNvSpPr/>
          <p:nvPr/>
        </p:nvSpPr>
        <p:spPr>
          <a:xfrm>
            <a:off x="2926080" y="3566160"/>
            <a:ext cx="3291840" cy="640080"/>
          </a:xfrm>
          <a:prstGeom prst="roundRect">
            <a:avLst>
              <a:gd name="adj" fmla="val 14286"/>
            </a:avLst>
          </a:prstGeom>
          <a:solidFill>
            <a:srgbClr val="1A2D5A"/>
          </a:solidFill>
          <a:ln w="19050">
            <a:solidFill>
              <a:srgbClr val="D4943A"/>
            </a:solidFill>
            <a:prstDash val="solid"/>
          </a:ln>
        </p:spPr>
      </p:sp>
      <p:sp>
        <p:nvSpPr>
          <p:cNvPr id="10" name="Text 8"/>
          <p:cNvSpPr/>
          <p:nvPr/>
        </p:nvSpPr>
        <p:spPr>
          <a:xfrm>
            <a:off x="2926080" y="3566160"/>
            <a:ext cx="3291840" cy="640080"/>
          </a:xfrm>
          <a:prstGeom prst="rect">
            <a:avLst/>
          </a:prstGeom>
          <a:noFill/>
          <a:ln/>
        </p:spPr>
        <p:txBody>
          <a:bodyPr wrap="square" lIns="0" tIns="0" rIns="0" bIns="0"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Route Reader Badge — Unlock Today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3A5080"/>
            </a:solidFill>
            <a:prstDash val="dash"/>
          </a:ln>
        </p:spPr>
      </p:sp>
      <p:sp>
        <p:nvSpPr>
          <p:cNvPr id="3" name="Text 1"/>
          <p:cNvSpPr/>
          <p:nvPr/>
        </p:nvSpPr>
        <p:spPr>
          <a:xfrm>
            <a:off x="457200" y="228600"/>
            <a:ext cx="8229600" cy="256032"/>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THE FINAL INSPECTION</a:t>
            </a:r>
            <a:endParaRPr lang="en-US" sz="1000" dirty="0"/>
          </a:p>
        </p:txBody>
      </p:sp>
      <p:sp>
        <p:nvSpPr>
          <p:cNvPr id="4" name="Text 2"/>
          <p:cNvSpPr/>
          <p:nvPr/>
        </p:nvSpPr>
        <p:spPr>
          <a:xfrm>
            <a:off x="457200" y="594360"/>
            <a:ext cx="5303520" cy="594360"/>
          </a:xfrm>
          <a:prstGeom prst="rect">
            <a:avLst/>
          </a:prstGeom>
          <a:noFill/>
          <a:ln/>
        </p:spPr>
        <p:txBody>
          <a:bodyPr wrap="square" lIns="0" tIns="0" rIns="0" bIns="0" rtlCol="0" anchor="ctr"/>
          <a:lstStyle/>
          <a:p>
            <a:pPr indent="0" marL="0">
              <a:buNone/>
            </a:pPr>
            <a:r>
              <a:rPr lang="en-US" sz="3800" b="1" dirty="0">
                <a:solidFill>
                  <a:srgbClr val="D4943A"/>
                </a:solidFill>
                <a:latin typeface="Cambria" pitchFamily="34" charset="0"/>
                <a:ea typeface="Cambria" pitchFamily="34" charset="-122"/>
                <a:cs typeface="Cambria" pitchFamily="34" charset="-120"/>
              </a:rPr>
              <a:t>Look Around.</a:t>
            </a:r>
            <a:endParaRPr lang="en-US" sz="3800" dirty="0"/>
          </a:p>
        </p:txBody>
      </p:sp>
      <p:sp>
        <p:nvSpPr>
          <p:cNvPr id="5" name="Text 3"/>
          <p:cNvSpPr/>
          <p:nvPr/>
        </p:nvSpPr>
        <p:spPr>
          <a:xfrm>
            <a:off x="457200" y="1234440"/>
            <a:ext cx="5303520" cy="384048"/>
          </a:xfrm>
          <a:prstGeom prst="rect">
            <a:avLst/>
          </a:prstGeom>
          <a:noFill/>
          <a:ln/>
        </p:spPr>
        <p:txBody>
          <a:bodyPr wrap="square" lIns="0" tIns="0" rIns="0" bIns="0" rtlCol="0" anchor="ctr"/>
          <a:lstStyle/>
          <a:p>
            <a:pPr indent="0" marL="0">
              <a:buNone/>
            </a:pPr>
            <a:r>
              <a:rPr lang="en-US" sz="2000" i="1" dirty="0">
                <a:solidFill>
                  <a:srgbClr val="FFFFFF"/>
                </a:solidFill>
                <a:latin typeface="Cambria" pitchFamily="34" charset="0"/>
                <a:ea typeface="Cambria" pitchFamily="34" charset="-122"/>
                <a:cs typeface="Cambria" pitchFamily="34" charset="-120"/>
              </a:rPr>
              <a:t>You built this whole exhibit.</a:t>
            </a:r>
            <a:endParaRPr lang="en-US" sz="2000" dirty="0"/>
          </a:p>
        </p:txBody>
      </p:sp>
      <p:sp>
        <p:nvSpPr>
          <p:cNvPr id="6" name="Text 4"/>
          <p:cNvSpPr/>
          <p:nvPr/>
        </p:nvSpPr>
        <p:spPr>
          <a:xfrm>
            <a:off x="457200" y="1691640"/>
            <a:ext cx="530352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The crate is unpacked.</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The tools are displayed.</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The explorer portraits are labeled.</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The After the Voyage panel is filled in.</a:t>
            </a:r>
            <a:endParaRPr lang="en-US" sz="1300" dirty="0"/>
          </a:p>
          <a:p>
            <a:pPr indent="0" marL="0">
              <a:buNone/>
            </a:pPr>
            <a:r>
              <a:rPr lang="en-US" sz="1300" b="1" dirty="0">
                <a:solidFill>
                  <a:srgbClr val="D4943A"/>
                </a:solidFill>
                <a:latin typeface="Calibri" pitchFamily="34" charset="0"/>
                <a:ea typeface="Calibri" pitchFamily="34" charset="-122"/>
                <a:cs typeface="Calibri" pitchFamily="34" charset="-120"/>
              </a:rPr>
              <a:t>Now the director needs to know: can you put it ALL together?</a:t>
            </a:r>
            <a:endParaRPr lang="en-US" sz="1300" dirty="0"/>
          </a:p>
        </p:txBody>
      </p:sp>
      <p:sp>
        <p:nvSpPr>
          <p:cNvPr id="7" name="Shape 5"/>
          <p:cNvSpPr/>
          <p:nvPr/>
        </p:nvSpPr>
        <p:spPr>
          <a:xfrm>
            <a:off x="5943600" y="457200"/>
            <a:ext cx="2743200" cy="4297680"/>
          </a:xfrm>
          <a:prstGeom prst="roundRect">
            <a:avLst>
              <a:gd name="adj" fmla="val 4000"/>
            </a:avLst>
          </a:prstGeom>
          <a:solidFill>
            <a:srgbClr val="1A2D5A"/>
          </a:solidFill>
          <a:ln w="19050">
            <a:solidFill>
              <a:srgbClr val="55C8E8"/>
            </a:solidFill>
            <a:prstDash val="dash"/>
          </a:ln>
        </p:spPr>
      </p:sp>
      <p:sp>
        <p:nvSpPr>
          <p:cNvPr id="8" name="Text 6"/>
          <p:cNvSpPr/>
          <p:nvPr/>
        </p:nvSpPr>
        <p:spPr>
          <a:xfrm>
            <a:off x="5943600" y="457200"/>
            <a:ext cx="2743200" cy="256032"/>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6080760" y="713232"/>
            <a:ext cx="2468880" cy="3749040"/>
          </a:xfrm>
          <a:prstGeom prst="rect">
            <a:avLst/>
          </a:prstGeom>
          <a:noFill/>
          <a:ln/>
        </p:spPr>
        <p:txBody>
          <a:bodyPr wrap="square" rtlCol="0" anchor="ctr"/>
          <a:lstStyle/>
          <a:p>
            <a:pPr algn="ctr" indent="0" marL="0">
              <a:buNone/>
            </a:pPr>
            <a:r>
              <a:rPr lang="en-US" sz="1000" i="1" dirty="0">
                <a:solidFill>
                  <a:srgbClr val="7A88A8"/>
                </a:solidFill>
                <a:latin typeface="Calibri" pitchFamily="34" charset="0"/>
                <a:ea typeface="Calibri" pitchFamily="34" charset="-122"/>
                <a:cs typeface="Calibri" pitchFamily="34" charset="-120"/>
              </a:rPr>
              <a:t>Completed museum gallery — artifacts on display, maps on walls, warm lighting.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5C8E8"/>
          </a:solidFill>
          <a:ln w="12700">
            <a:solidFill>
              <a:srgbClr val="55C8E8"/>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TODAY'S CURATOR'S QUESTION</a:t>
            </a:r>
            <a:endParaRPr lang="en-US" sz="1000" dirty="0"/>
          </a:p>
        </p:txBody>
      </p:sp>
      <p:sp>
        <p:nvSpPr>
          <p:cNvPr id="4" name="Shape 2"/>
          <p:cNvSpPr/>
          <p:nvPr/>
        </p:nvSpPr>
        <p:spPr>
          <a:xfrm>
            <a:off x="457200" y="530352"/>
            <a:ext cx="8229600" cy="1371600"/>
          </a:xfrm>
          <a:prstGeom prst="roundRect">
            <a:avLst>
              <a:gd name="adj" fmla="val 10000"/>
            </a:avLst>
          </a:prstGeom>
          <a:solidFill>
            <a:srgbClr val="F0F2F8"/>
          </a:solidFill>
          <a:ln w="12700">
            <a:solidFill>
              <a:srgbClr val="C8D0E0"/>
            </a:solidFill>
            <a:prstDash val="solid"/>
          </a:ln>
        </p:spPr>
      </p:sp>
      <p:sp>
        <p:nvSpPr>
          <p:cNvPr id="5" name="Text 3"/>
          <p:cNvSpPr/>
          <p:nvPr/>
        </p:nvSpPr>
        <p:spPr>
          <a:xfrm>
            <a:off x="640080" y="566928"/>
            <a:ext cx="7863840" cy="128016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How does everything we've learned about exploration — motives, tools, routes, discoveries, and consequences — fit together?</a:t>
            </a:r>
            <a:endParaRPr lang="en-US" sz="2200" dirty="0"/>
          </a:p>
        </p:txBody>
      </p:sp>
      <p:sp>
        <p:nvSpPr>
          <p:cNvPr id="6" name="Text 4"/>
          <p:cNvSpPr/>
          <p:nvPr/>
        </p:nvSpPr>
        <p:spPr>
          <a:xfrm>
            <a:off x="457200" y="2029968"/>
            <a:ext cx="5029200" cy="2743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What you'll prove today:</a:t>
            </a:r>
            <a:endParaRPr lang="en-US" sz="1300" dirty="0"/>
          </a:p>
        </p:txBody>
      </p:sp>
      <p:sp>
        <p:nvSpPr>
          <p:cNvPr id="7" name="Text 5"/>
          <p:cNvSpPr/>
          <p:nvPr/>
        </p:nvSpPr>
        <p:spPr>
          <a:xfrm>
            <a:off x="457200" y="2359152"/>
            <a:ext cx="502920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Sort what you know into five evidence categories</a:t>
            </a:r>
            <a:endParaRPr lang="en-US" sz="1300" dirty="0"/>
          </a:p>
          <a:p>
            <a:pPr marL="342900" indent="-342900">
              <a:spcAft>
                <a:spcPts val="600"/>
              </a:spcAft>
              <a:buSzPct val="100000"/>
              <a:buChar char="•"/>
            </a:pPr>
            <a:r>
              <a:rPr lang="en-US" sz="1300" dirty="0">
                <a:solidFill>
                  <a:srgbClr val="0E1C42"/>
                </a:solidFill>
                <a:latin typeface="Calibri" pitchFamily="34" charset="0"/>
                <a:ea typeface="Calibri" pitchFamily="34" charset="-122"/>
                <a:cs typeface="Calibri" pitchFamily="34" charset="-120"/>
              </a:rPr>
              <a:t>Explain how motives, tools, routes, discoveries, and consequences connect</a:t>
            </a:r>
            <a:endParaRPr lang="en-US" sz="1300" dirty="0"/>
          </a:p>
          <a:p>
            <a:pPr marL="342900" indent="-342900">
              <a:buSzPct val="100000"/>
              <a:buChar char="•"/>
            </a:pPr>
            <a:r>
              <a:rPr lang="en-US" sz="1300" dirty="0">
                <a:solidFill>
                  <a:srgbClr val="0E1C42"/>
                </a:solidFill>
                <a:latin typeface="Calibri" pitchFamily="34" charset="0"/>
                <a:ea typeface="Calibri" pitchFamily="34" charset="-122"/>
                <a:cs typeface="Calibri" pitchFamily="34" charset="-120"/>
              </a:rPr>
              <a:t>Show you can tell the full, honest exploration story</a:t>
            </a:r>
            <a:endParaRPr lang="en-US" sz="1300" dirty="0"/>
          </a:p>
        </p:txBody>
      </p:sp>
      <p:sp>
        <p:nvSpPr>
          <p:cNvPr id="8" name="Shape 6"/>
          <p:cNvSpPr/>
          <p:nvPr/>
        </p:nvSpPr>
        <p:spPr>
          <a:xfrm>
            <a:off x="5669280" y="2011680"/>
            <a:ext cx="3017520" cy="1874520"/>
          </a:xfrm>
          <a:prstGeom prst="roundRect">
            <a:avLst>
              <a:gd name="adj" fmla="val 5854"/>
            </a:avLst>
          </a:prstGeom>
          <a:solidFill>
            <a:srgbClr val="1A2D5A"/>
          </a:solidFill>
          <a:ln/>
          <a:effectLst>
            <a:outerShdw sx="100000" sy="100000" kx="0" ky="0" algn="bl" rotWithShape="0" blurRad="76200" dist="25400" dir="8100000">
              <a:srgbClr val="000000">
                <a:alpha val="15000"/>
              </a:srgbClr>
            </a:outerShdw>
          </a:effectLst>
        </p:spPr>
      </p:sp>
      <p:sp>
        <p:nvSpPr>
          <p:cNvPr id="9" name="Text 7"/>
          <p:cNvSpPr/>
          <p:nvPr/>
        </p:nvSpPr>
        <p:spPr>
          <a:xfrm>
            <a:off x="5852160" y="2084832"/>
            <a:ext cx="265176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PRIVATE THINK — 10 SEC</a:t>
            </a:r>
            <a:endParaRPr lang="en-US" sz="900" dirty="0"/>
          </a:p>
        </p:txBody>
      </p:sp>
      <p:sp>
        <p:nvSpPr>
          <p:cNvPr id="10" name="Text 8"/>
          <p:cNvSpPr/>
          <p:nvPr/>
        </p:nvSpPr>
        <p:spPr>
          <a:xfrm>
            <a:off x="5852160" y="2377440"/>
            <a:ext cx="2651760" cy="128016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Which of the five categories do you think is most important? Don't type yet — just think.</a:t>
            </a:r>
            <a:endParaRPr lang="en-US" sz="1200" dirty="0"/>
          </a:p>
        </p:txBody>
      </p:sp>
      <p:sp>
        <p:nvSpPr>
          <p:cNvPr id="11" name="Shape 9"/>
          <p:cNvSpPr/>
          <p:nvPr/>
        </p:nvSpPr>
        <p:spPr>
          <a:xfrm>
            <a:off x="457200" y="3840480"/>
            <a:ext cx="8229600" cy="502920"/>
          </a:xfrm>
          <a:prstGeom prst="roundRect">
            <a:avLst>
              <a:gd name="adj" fmla="val 18182"/>
            </a:avLst>
          </a:prstGeom>
          <a:solidFill>
            <a:srgbClr val="FFF3DC"/>
          </a:solidFill>
          <a:ln w="19050">
            <a:solidFill>
              <a:srgbClr val="D4943A"/>
            </a:solidFill>
            <a:prstDash val="solid"/>
          </a:ln>
        </p:spPr>
      </p:sp>
      <p:sp>
        <p:nvSpPr>
          <p:cNvPr id="12" name="Text 10"/>
          <p:cNvSpPr/>
          <p:nvPr/>
        </p:nvSpPr>
        <p:spPr>
          <a:xfrm>
            <a:off x="457200" y="3840480"/>
            <a:ext cx="8229600" cy="502920"/>
          </a:xfrm>
          <a:prstGeom prst="rect">
            <a:avLst/>
          </a:prstGeom>
          <a:noFill/>
          <a:ln/>
        </p:spPr>
        <p:txBody>
          <a:bodyPr wrap="square" lIns="0" tIns="0" rIns="0" bIns="0" rtlCol="0" anchor="ctr"/>
          <a:lstStyle/>
          <a:p>
            <a:pPr algn="ctr" indent="0" marL="0">
              <a:buNone/>
            </a:pPr>
            <a:r>
              <a:rPr lang="en-US" sz="1300" b="1" i="1" dirty="0">
                <a:solidFill>
                  <a:srgbClr val="5A4A3A"/>
                </a:solidFill>
                <a:latin typeface="Cambria" pitchFamily="34" charset="0"/>
                <a:ea typeface="Cambria" pitchFamily="34" charset="-122"/>
                <a:cs typeface="Cambria" pitchFamily="34" charset="-120"/>
              </a:rPr>
              <a:t>Today's badge: Route Reader — earn it by completing the Explorer Evidence Chart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EXHIBIT EVIDENCE — LOOK FIRST</a:t>
            </a:r>
            <a:endParaRPr lang="en-US" sz="1000" dirty="0"/>
          </a:p>
        </p:txBody>
      </p:sp>
      <p:sp>
        <p:nvSpPr>
          <p:cNvPr id="4" name="Shape 2"/>
          <p:cNvSpPr/>
          <p:nvPr/>
        </p:nvSpPr>
        <p:spPr>
          <a:xfrm>
            <a:off x="365760" y="502920"/>
            <a:ext cx="5029200" cy="4023360"/>
          </a:xfrm>
          <a:prstGeom prst="roundRect">
            <a:avLst>
              <a:gd name="adj" fmla="val 2727"/>
            </a:avLst>
          </a:prstGeom>
          <a:solidFill>
            <a:srgbClr val="E2E8F4"/>
          </a:solidFill>
          <a:ln w="19050">
            <a:solidFill>
              <a:srgbClr val="B0B8CC"/>
            </a:solidFill>
            <a:prstDash val="dash"/>
          </a:ln>
        </p:spPr>
      </p:sp>
      <p:sp>
        <p:nvSpPr>
          <p:cNvPr id="5" name="Text 3"/>
          <p:cNvSpPr/>
          <p:nvPr/>
        </p:nvSpPr>
        <p:spPr>
          <a:xfrm>
            <a:off x="365760" y="502920"/>
            <a:ext cx="5029200" cy="256032"/>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758952"/>
            <a:ext cx="4754880" cy="367588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world map showing Age of Exploration voyage routes — multiple colored lines crossing the Atlantic. Columbus, Magellan, Ponce de León routes visible. Source: Library of Congress (loc.gov) or National Geographic Education. Save as: source-3-02-06-explorer-routes-map.jpg</a:t>
            </a:r>
            <a:endParaRPr lang="en-US" sz="1100" dirty="0"/>
          </a:p>
        </p:txBody>
      </p:sp>
      <p:sp>
        <p:nvSpPr>
          <p:cNvPr id="7" name="Text 5"/>
          <p:cNvSpPr/>
          <p:nvPr/>
        </p:nvSpPr>
        <p:spPr>
          <a:xfrm>
            <a:off x="5577840" y="502920"/>
            <a:ext cx="3200400" cy="475488"/>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 you see?</a:t>
            </a:r>
            <a:endParaRPr lang="en-US" sz="2200" dirty="0"/>
          </a:p>
        </p:txBody>
      </p:sp>
      <p:sp>
        <p:nvSpPr>
          <p:cNvPr id="8" name="Text 6"/>
          <p:cNvSpPr/>
          <p:nvPr/>
        </p:nvSpPr>
        <p:spPr>
          <a:xfrm>
            <a:off x="5577840" y="1024128"/>
            <a:ext cx="3200400" cy="566928"/>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Study this map for 15 seconds.</a:t>
            </a:r>
            <a:endParaRPr lang="en-US" sz="1200" dirty="0"/>
          </a:p>
          <a:p>
            <a:pPr indent="0" marL="0">
              <a:buNone/>
            </a:pPr>
            <a:r>
              <a:rPr lang="en-US" sz="1200" i="1" dirty="0">
                <a:solidFill>
                  <a:srgbClr val="7A88A8"/>
                </a:solidFill>
                <a:latin typeface="Calibri" pitchFamily="34" charset="0"/>
                <a:ea typeface="Calibri" pitchFamily="34" charset="-122"/>
                <a:cs typeface="Calibri" pitchFamily="34" charset="-120"/>
              </a:rPr>
              <a:t>Do NOT tell anyone what you think yet.</a:t>
            </a:r>
            <a:endParaRPr lang="en-US" sz="1200" dirty="0"/>
          </a:p>
        </p:txBody>
      </p:sp>
      <p:sp>
        <p:nvSpPr>
          <p:cNvPr id="9" name="Shape 7"/>
          <p:cNvSpPr/>
          <p:nvPr/>
        </p:nvSpPr>
        <p:spPr>
          <a:xfrm>
            <a:off x="5577840" y="1691640"/>
            <a:ext cx="3200400" cy="1051560"/>
          </a:xfrm>
          <a:prstGeom prst="roundRect">
            <a:avLst>
              <a:gd name="adj" fmla="val 8696"/>
            </a:avLst>
          </a:prstGeom>
          <a:solidFill>
            <a:srgbClr val="F0F2F8"/>
          </a:solidFill>
          <a:ln w="12700">
            <a:solidFill>
              <a:srgbClr val="C8D0E0"/>
            </a:solidFill>
            <a:prstDash val="solid"/>
          </a:ln>
        </p:spPr>
      </p:sp>
      <p:sp>
        <p:nvSpPr>
          <p:cNvPr id="10" name="Text 8"/>
          <p:cNvSpPr/>
          <p:nvPr/>
        </p:nvSpPr>
        <p:spPr>
          <a:xfrm>
            <a:off x="5715000" y="1783080"/>
            <a:ext cx="2926080" cy="8686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How many routes can you count?</a:t>
            </a:r>
            <a:endParaRPr lang="en-US" sz="1200" dirty="0"/>
          </a:p>
          <a:p>
            <a:pPr marL="342900" indent="-342900">
              <a:spcAft>
                <a:spcPts val="500"/>
              </a:spcAft>
              <a:buSzPct val="100000"/>
              <a:buChar char="•"/>
            </a:pPr>
            <a:r>
              <a:rPr lang="en-US" sz="1200" dirty="0">
                <a:solidFill>
                  <a:srgbClr val="0E1C42"/>
                </a:solidFill>
                <a:latin typeface="Calibri" pitchFamily="34" charset="0"/>
                <a:ea typeface="Calibri" pitchFamily="34" charset="-122"/>
                <a:cs typeface="Calibri" pitchFamily="34" charset="-120"/>
              </a:rPr>
              <a:t>Do any routes overlap?</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What continents are connected?</a:t>
            </a:r>
            <a:endParaRPr lang="en-US" sz="1200" dirty="0"/>
          </a:p>
        </p:txBody>
      </p:sp>
      <p:sp>
        <p:nvSpPr>
          <p:cNvPr id="11" name="Shape 9"/>
          <p:cNvSpPr/>
          <p:nvPr/>
        </p:nvSpPr>
        <p:spPr>
          <a:xfrm>
            <a:off x="5577840" y="2834640"/>
            <a:ext cx="3200400" cy="1691640"/>
          </a:xfrm>
          <a:prstGeom prst="roundRect">
            <a:avLst>
              <a:gd name="adj" fmla="val 6486"/>
            </a:avLst>
          </a:prstGeom>
          <a:solidFill>
            <a:srgbClr val="FFF3DC"/>
          </a:solidFill>
          <a:ln w="19050">
            <a:solidFill>
              <a:srgbClr val="F5E6C8"/>
            </a:solidFill>
            <a:prstDash val="solid"/>
          </a:ln>
        </p:spPr>
      </p:sp>
      <p:sp>
        <p:nvSpPr>
          <p:cNvPr id="12" name="Text 10"/>
          <p:cNvSpPr/>
          <p:nvPr/>
        </p:nvSpPr>
        <p:spPr>
          <a:xfrm>
            <a:off x="5715000" y="288950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715000" y="3090672"/>
            <a:ext cx="2926080" cy="1371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count... routes"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connected"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SOURCE STUDY — EXPLORER ROUTES MAP</a:t>
            </a:r>
            <a:endParaRPr lang="en-US" sz="1000" dirty="0"/>
          </a:p>
        </p:txBody>
      </p:sp>
      <p:sp>
        <p:nvSpPr>
          <p:cNvPr id="4" name="Shape 2"/>
          <p:cNvSpPr/>
          <p:nvPr/>
        </p:nvSpPr>
        <p:spPr>
          <a:xfrm>
            <a:off x="320040" y="502920"/>
            <a:ext cx="4389120" cy="3154680"/>
          </a:xfrm>
          <a:prstGeom prst="roundRect">
            <a:avLst>
              <a:gd name="adj" fmla="val 3478"/>
            </a:avLst>
          </a:prstGeom>
          <a:solidFill>
            <a:srgbClr val="E2E8F4"/>
          </a:solidFill>
          <a:ln w="19050">
            <a:solidFill>
              <a:srgbClr val="B0B8CC"/>
            </a:solidFill>
            <a:prstDash val="dash"/>
          </a:ln>
        </p:spPr>
      </p:sp>
      <p:sp>
        <p:nvSpPr>
          <p:cNvPr id="5" name="Text 3"/>
          <p:cNvSpPr/>
          <p:nvPr/>
        </p:nvSpPr>
        <p:spPr>
          <a:xfrm>
            <a:off x="320040" y="502920"/>
            <a:ext cx="4389120" cy="256032"/>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457200" y="758952"/>
            <a:ext cx="4114800" cy="280720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Routes Map — same image as previous slide. Save as: source-3-02-06-explorer-routes-map.jpg</a:t>
            </a:r>
            <a:endParaRPr lang="en-US" sz="1100" dirty="0"/>
          </a:p>
        </p:txBody>
      </p:sp>
      <p:sp>
        <p:nvSpPr>
          <p:cNvPr id="7" name="Shape 5"/>
          <p:cNvSpPr/>
          <p:nvPr/>
        </p:nvSpPr>
        <p:spPr>
          <a:xfrm>
            <a:off x="4892040" y="502920"/>
            <a:ext cx="3886200" cy="804672"/>
          </a:xfrm>
          <a:prstGeom prst="roundRect">
            <a:avLst>
              <a:gd name="adj" fmla="val 11364"/>
            </a:avLst>
          </a:prstGeom>
          <a:solidFill>
            <a:srgbClr val="EAF8FD"/>
          </a:solidFill>
          <a:ln w="19050">
            <a:solidFill>
              <a:srgbClr val="55C8E8"/>
            </a:solidFill>
            <a:prstDash val="solid"/>
          </a:ln>
        </p:spPr>
      </p:sp>
      <p:sp>
        <p:nvSpPr>
          <p:cNvPr id="8" name="Text 6"/>
          <p:cNvSpPr/>
          <p:nvPr/>
        </p:nvSpPr>
        <p:spPr>
          <a:xfrm>
            <a:off x="5029200" y="548640"/>
            <a:ext cx="3611880" cy="256032"/>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What do I SEE?</a:t>
            </a:r>
            <a:endParaRPr lang="en-US" sz="1100" dirty="0"/>
          </a:p>
        </p:txBody>
      </p:sp>
      <p:sp>
        <p:nvSpPr>
          <p:cNvPr id="9" name="Text 7"/>
          <p:cNvSpPr/>
          <p:nvPr/>
        </p:nvSpPr>
        <p:spPr>
          <a:xfrm>
            <a:off x="5029200" y="804672"/>
            <a:ext cx="3611880" cy="43891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Each line = a real voyage. How many different routes cross the Atlantic?</a:t>
            </a:r>
            <a:endParaRPr lang="en-US" sz="1200" dirty="0"/>
          </a:p>
        </p:txBody>
      </p:sp>
      <p:sp>
        <p:nvSpPr>
          <p:cNvPr id="10" name="Shape 8"/>
          <p:cNvSpPr/>
          <p:nvPr/>
        </p:nvSpPr>
        <p:spPr>
          <a:xfrm>
            <a:off x="4892040" y="1389888"/>
            <a:ext cx="3886200" cy="804672"/>
          </a:xfrm>
          <a:prstGeom prst="roundRect">
            <a:avLst>
              <a:gd name="adj" fmla="val 11364"/>
            </a:avLst>
          </a:prstGeom>
          <a:solidFill>
            <a:srgbClr val="E3F8ED"/>
          </a:solidFill>
          <a:ln w="19050">
            <a:solidFill>
              <a:srgbClr val="34B76F"/>
            </a:solidFill>
            <a:prstDash val="solid"/>
          </a:ln>
        </p:spPr>
      </p:sp>
      <p:sp>
        <p:nvSpPr>
          <p:cNvPr id="11" name="Text 9"/>
          <p:cNvSpPr/>
          <p:nvPr/>
        </p:nvSpPr>
        <p:spPr>
          <a:xfrm>
            <a:off x="5029200" y="1435608"/>
            <a:ext cx="3611880" cy="256032"/>
          </a:xfrm>
          <a:prstGeom prst="rect">
            <a:avLst/>
          </a:prstGeom>
          <a:noFill/>
          <a:ln/>
        </p:spPr>
        <p:txBody>
          <a:bodyPr wrap="square" lIns="0" tIns="0" rIns="0" bIns="0" rtlCol="0" anchor="ctr"/>
          <a:lstStyle/>
          <a:p>
            <a:pPr indent="0" marL="0">
              <a:buNone/>
            </a:pPr>
            <a:r>
              <a:rPr lang="en-US" sz="1100" b="1" dirty="0">
                <a:solidFill>
                  <a:srgbClr val="2A9060"/>
                </a:solidFill>
                <a:latin typeface="Calibri" pitchFamily="34" charset="0"/>
                <a:ea typeface="Calibri" pitchFamily="34" charset="-122"/>
                <a:cs typeface="Calibri" pitchFamily="34" charset="-120"/>
              </a:rPr>
              <a:t>What does it MEAN?</a:t>
            </a:r>
            <a:endParaRPr lang="en-US" sz="1100" dirty="0"/>
          </a:p>
        </p:txBody>
      </p:sp>
      <p:sp>
        <p:nvSpPr>
          <p:cNvPr id="12" name="Text 10"/>
          <p:cNvSpPr/>
          <p:nvPr/>
        </p:nvSpPr>
        <p:spPr>
          <a:xfrm>
            <a:off x="5029200" y="1691640"/>
            <a:ext cx="3611880" cy="43891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Each line represents real people, real tools, real consequences. What story does this map tell?</a:t>
            </a:r>
            <a:endParaRPr lang="en-US" sz="1200" dirty="0"/>
          </a:p>
        </p:txBody>
      </p:sp>
      <p:sp>
        <p:nvSpPr>
          <p:cNvPr id="13" name="Shape 11"/>
          <p:cNvSpPr/>
          <p:nvPr/>
        </p:nvSpPr>
        <p:spPr>
          <a:xfrm>
            <a:off x="4892040" y="2276856"/>
            <a:ext cx="3886200" cy="804672"/>
          </a:xfrm>
          <a:prstGeom prst="roundRect">
            <a:avLst>
              <a:gd name="adj" fmla="val 11364"/>
            </a:avLst>
          </a:prstGeom>
          <a:solidFill>
            <a:srgbClr val="FFF3DC"/>
          </a:solidFill>
          <a:ln w="19050">
            <a:solidFill>
              <a:srgbClr val="D4943A"/>
            </a:solidFill>
            <a:prstDash val="solid"/>
          </a:ln>
        </p:spPr>
      </p:sp>
      <p:sp>
        <p:nvSpPr>
          <p:cNvPr id="14" name="Text 12"/>
          <p:cNvSpPr/>
          <p:nvPr/>
        </p:nvSpPr>
        <p:spPr>
          <a:xfrm>
            <a:off x="5029200" y="2322576"/>
            <a:ext cx="3611880" cy="256032"/>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Why does it MATTER?</a:t>
            </a:r>
            <a:endParaRPr lang="en-US" sz="1100" dirty="0"/>
          </a:p>
        </p:txBody>
      </p:sp>
      <p:sp>
        <p:nvSpPr>
          <p:cNvPr id="15" name="Text 13"/>
          <p:cNvSpPr/>
          <p:nvPr/>
        </p:nvSpPr>
        <p:spPr>
          <a:xfrm>
            <a:off x="5029200" y="2578608"/>
            <a:ext cx="3611880" cy="438912"/>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is a route map the right way to pull the whole exhibit together?</a:t>
            </a:r>
            <a:endParaRPr lang="en-US" sz="1200" dirty="0"/>
          </a:p>
        </p:txBody>
      </p:sp>
      <p:sp>
        <p:nvSpPr>
          <p:cNvPr id="16" name="Shape 14"/>
          <p:cNvSpPr/>
          <p:nvPr/>
        </p:nvSpPr>
        <p:spPr>
          <a:xfrm>
            <a:off x="320040" y="3749040"/>
            <a:ext cx="8503920" cy="1097280"/>
          </a:xfrm>
          <a:prstGeom prst="roundRect">
            <a:avLst>
              <a:gd name="adj" fmla="val 12500"/>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502920" y="3840480"/>
            <a:ext cx="81381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8" name="Text 16"/>
          <p:cNvSpPr/>
          <p:nvPr/>
        </p:nvSpPr>
        <p:spPr>
          <a:xfrm>
            <a:off x="502920" y="4096512"/>
            <a:ext cx="8138160" cy="65836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route stands out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question would you ask the mapmaker?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3A5080"/>
            </a:solidFill>
            <a:prstDash val="dash"/>
          </a:ln>
        </p:spPr>
      </p:sp>
      <p:sp>
        <p:nvSpPr>
          <p:cNvPr id="3" name="Text 1"/>
          <p:cNvSpPr/>
          <p:nvPr/>
        </p:nvSpPr>
        <p:spPr>
          <a:xfrm>
            <a:off x="457200" y="182880"/>
            <a:ext cx="8229600" cy="27432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THE EXPLORATION WING — FIVE PANELS, ONE STORY</a:t>
            </a:r>
            <a:endParaRPr lang="en-US" sz="1000" dirty="0"/>
          </a:p>
        </p:txBody>
      </p:sp>
      <p:sp>
        <p:nvSpPr>
          <p:cNvPr id="4" name="Text 2"/>
          <p:cNvSpPr/>
          <p:nvPr/>
        </p:nvSpPr>
        <p:spPr>
          <a:xfrm>
            <a:off x="914400" y="548640"/>
            <a:ext cx="7315200" cy="82296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Every panel tells part of the story.</a:t>
            </a:r>
            <a:endParaRPr lang="en-US" sz="2400" dirty="0"/>
          </a:p>
          <a:p>
            <a:pPr algn="ctr" indent="0" marL="0">
              <a:buNone/>
            </a:pPr>
            <a:r>
              <a:rPr lang="en-US" sz="2400" b="1" dirty="0">
                <a:solidFill>
                  <a:srgbClr val="D4943A"/>
                </a:solidFill>
                <a:latin typeface="Cambria" pitchFamily="34" charset="0"/>
                <a:ea typeface="Cambria" pitchFamily="34" charset="-122"/>
                <a:cs typeface="Cambria" pitchFamily="34" charset="-120"/>
              </a:rPr>
              <a:t>All five together tell the truth.</a:t>
            </a:r>
            <a:endParaRPr lang="en-US" sz="2400" dirty="0"/>
          </a:p>
        </p:txBody>
      </p:sp>
      <p:sp>
        <p:nvSpPr>
          <p:cNvPr id="5" name="Shape 3"/>
          <p:cNvSpPr/>
          <p:nvPr/>
        </p:nvSpPr>
        <p:spPr>
          <a:xfrm>
            <a:off x="320040" y="1508760"/>
            <a:ext cx="1572768" cy="1234440"/>
          </a:xfrm>
          <a:prstGeom prst="roundRect">
            <a:avLst>
              <a:gd name="adj" fmla="val 7407"/>
            </a:avLst>
          </a:prstGeom>
          <a:solidFill>
            <a:srgbClr val="1A8A7D"/>
          </a:solidFill>
          <a:ln/>
          <a:effectLst>
            <a:outerShdw sx="100000" sy="100000" kx="0" ky="0" algn="bl" rotWithShape="0" blurRad="50800" dist="25400" dir="8100000">
              <a:srgbClr val="000000">
                <a:alpha val="15000"/>
              </a:srgbClr>
            </a:outerShdw>
          </a:effectLst>
        </p:spPr>
      </p:sp>
      <p:sp>
        <p:nvSpPr>
          <p:cNvPr id="6" name="Text 4"/>
          <p:cNvSpPr/>
          <p:nvPr/>
        </p:nvSpPr>
        <p:spPr>
          <a:xfrm>
            <a:off x="320040" y="1563624"/>
            <a:ext cx="1572768" cy="27432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7" name="Text 5"/>
          <p:cNvSpPr/>
          <p:nvPr/>
        </p:nvSpPr>
        <p:spPr>
          <a:xfrm>
            <a:off x="320040" y="1801368"/>
            <a:ext cx="15727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Motives</a:t>
            </a:r>
            <a:endParaRPr lang="en-US" sz="1300" dirty="0"/>
          </a:p>
        </p:txBody>
      </p:sp>
      <p:sp>
        <p:nvSpPr>
          <p:cNvPr id="8" name="Text 6"/>
          <p:cNvSpPr/>
          <p:nvPr/>
        </p:nvSpPr>
        <p:spPr>
          <a:xfrm>
            <a:off x="365760" y="2057400"/>
            <a:ext cx="1481328" cy="256032"/>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Why they explored</a:t>
            </a:r>
            <a:endParaRPr lang="en-US" sz="900" dirty="0"/>
          </a:p>
        </p:txBody>
      </p:sp>
      <p:sp>
        <p:nvSpPr>
          <p:cNvPr id="9" name="Shape 7"/>
          <p:cNvSpPr/>
          <p:nvPr/>
        </p:nvSpPr>
        <p:spPr>
          <a:xfrm>
            <a:off x="2020824" y="1508760"/>
            <a:ext cx="1572768" cy="1234440"/>
          </a:xfrm>
          <a:prstGeom prst="roundRect">
            <a:avLst>
              <a:gd name="adj" fmla="val 7407"/>
            </a:avLst>
          </a:prstGeom>
          <a:solidFill>
            <a:srgbClr val="1A8A7D"/>
          </a:solidFill>
          <a:ln/>
          <a:effectLst>
            <a:outerShdw sx="100000" sy="100000" kx="0" ky="0" algn="bl" rotWithShape="0" blurRad="50800" dist="25400" dir="8100000">
              <a:srgbClr val="000000">
                <a:alpha val="15000"/>
              </a:srgbClr>
            </a:outerShdw>
          </a:effectLst>
        </p:spPr>
      </p:sp>
      <p:sp>
        <p:nvSpPr>
          <p:cNvPr id="10" name="Text 8"/>
          <p:cNvSpPr/>
          <p:nvPr/>
        </p:nvSpPr>
        <p:spPr>
          <a:xfrm>
            <a:off x="2020824" y="1563624"/>
            <a:ext cx="1572768" cy="27432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1" name="Text 9"/>
          <p:cNvSpPr/>
          <p:nvPr/>
        </p:nvSpPr>
        <p:spPr>
          <a:xfrm>
            <a:off x="2020824" y="1801368"/>
            <a:ext cx="15727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Tools</a:t>
            </a:r>
            <a:endParaRPr lang="en-US" sz="1300" dirty="0"/>
          </a:p>
        </p:txBody>
      </p:sp>
      <p:sp>
        <p:nvSpPr>
          <p:cNvPr id="12" name="Text 10"/>
          <p:cNvSpPr/>
          <p:nvPr/>
        </p:nvSpPr>
        <p:spPr>
          <a:xfrm>
            <a:off x="2066544" y="2057400"/>
            <a:ext cx="1481328" cy="256032"/>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How they navigated</a:t>
            </a:r>
            <a:endParaRPr lang="en-US" sz="900" dirty="0"/>
          </a:p>
        </p:txBody>
      </p:sp>
      <p:sp>
        <p:nvSpPr>
          <p:cNvPr id="13" name="Shape 11"/>
          <p:cNvSpPr/>
          <p:nvPr/>
        </p:nvSpPr>
        <p:spPr>
          <a:xfrm>
            <a:off x="3721608" y="1508760"/>
            <a:ext cx="1572768" cy="1234440"/>
          </a:xfrm>
          <a:prstGeom prst="roundRect">
            <a:avLst>
              <a:gd name="adj" fmla="val 7407"/>
            </a:avLst>
          </a:prstGeom>
          <a:solidFill>
            <a:srgbClr val="1A8A7D"/>
          </a:solidFill>
          <a:ln/>
          <a:effectLst>
            <a:outerShdw sx="100000" sy="100000" kx="0" ky="0" algn="bl" rotWithShape="0" blurRad="50800" dist="25400" dir="8100000">
              <a:srgbClr val="000000">
                <a:alpha val="15000"/>
              </a:srgbClr>
            </a:outerShdw>
          </a:effectLst>
        </p:spPr>
      </p:sp>
      <p:sp>
        <p:nvSpPr>
          <p:cNvPr id="14" name="Text 12"/>
          <p:cNvSpPr/>
          <p:nvPr/>
        </p:nvSpPr>
        <p:spPr>
          <a:xfrm>
            <a:off x="3721608" y="1563624"/>
            <a:ext cx="1572768" cy="27432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5" name="Text 13"/>
          <p:cNvSpPr/>
          <p:nvPr/>
        </p:nvSpPr>
        <p:spPr>
          <a:xfrm>
            <a:off x="3721608" y="1801368"/>
            <a:ext cx="15727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Routes</a:t>
            </a:r>
            <a:endParaRPr lang="en-US" sz="1300" dirty="0"/>
          </a:p>
        </p:txBody>
      </p:sp>
      <p:sp>
        <p:nvSpPr>
          <p:cNvPr id="16" name="Text 14"/>
          <p:cNvSpPr/>
          <p:nvPr/>
        </p:nvSpPr>
        <p:spPr>
          <a:xfrm>
            <a:off x="3767328" y="2057400"/>
            <a:ext cx="1481328" cy="256032"/>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Where they went</a:t>
            </a:r>
            <a:endParaRPr lang="en-US" sz="900" dirty="0"/>
          </a:p>
        </p:txBody>
      </p:sp>
      <p:sp>
        <p:nvSpPr>
          <p:cNvPr id="17" name="Shape 15"/>
          <p:cNvSpPr/>
          <p:nvPr/>
        </p:nvSpPr>
        <p:spPr>
          <a:xfrm>
            <a:off x="5422392" y="1508760"/>
            <a:ext cx="1572768" cy="1234440"/>
          </a:xfrm>
          <a:prstGeom prst="roundRect">
            <a:avLst>
              <a:gd name="adj" fmla="val 7407"/>
            </a:avLst>
          </a:prstGeom>
          <a:solidFill>
            <a:srgbClr val="1A8A7D"/>
          </a:solidFill>
          <a:ln/>
          <a:effectLst>
            <a:outerShdw sx="100000" sy="100000" kx="0" ky="0" algn="bl" rotWithShape="0" blurRad="50800" dist="25400" dir="8100000">
              <a:srgbClr val="000000">
                <a:alpha val="15000"/>
              </a:srgbClr>
            </a:outerShdw>
          </a:effectLst>
        </p:spPr>
      </p:sp>
      <p:sp>
        <p:nvSpPr>
          <p:cNvPr id="18" name="Text 16"/>
          <p:cNvSpPr/>
          <p:nvPr/>
        </p:nvSpPr>
        <p:spPr>
          <a:xfrm>
            <a:off x="5422392" y="1563624"/>
            <a:ext cx="1572768" cy="27432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9" name="Text 17"/>
          <p:cNvSpPr/>
          <p:nvPr/>
        </p:nvSpPr>
        <p:spPr>
          <a:xfrm>
            <a:off x="5422392" y="1801368"/>
            <a:ext cx="15727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Discoveries</a:t>
            </a:r>
            <a:endParaRPr lang="en-US" sz="1300" dirty="0"/>
          </a:p>
        </p:txBody>
      </p:sp>
      <p:sp>
        <p:nvSpPr>
          <p:cNvPr id="20" name="Text 18"/>
          <p:cNvSpPr/>
          <p:nvPr/>
        </p:nvSpPr>
        <p:spPr>
          <a:xfrm>
            <a:off x="5468112" y="2057400"/>
            <a:ext cx="1481328" cy="256032"/>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What they found</a:t>
            </a:r>
            <a:endParaRPr lang="en-US" sz="900" dirty="0"/>
          </a:p>
        </p:txBody>
      </p:sp>
      <p:sp>
        <p:nvSpPr>
          <p:cNvPr id="21" name="Shape 19"/>
          <p:cNvSpPr/>
          <p:nvPr/>
        </p:nvSpPr>
        <p:spPr>
          <a:xfrm>
            <a:off x="7123176" y="1508760"/>
            <a:ext cx="1572768" cy="1234440"/>
          </a:xfrm>
          <a:prstGeom prst="roundRect">
            <a:avLst>
              <a:gd name="adj" fmla="val 7407"/>
            </a:avLst>
          </a:prstGeom>
          <a:solidFill>
            <a:srgbClr val="1A8A7D"/>
          </a:solidFill>
          <a:ln/>
          <a:effectLst>
            <a:outerShdw sx="100000" sy="100000" kx="0" ky="0" algn="bl" rotWithShape="0" blurRad="50800" dist="25400" dir="8100000">
              <a:srgbClr val="000000">
                <a:alpha val="15000"/>
              </a:srgbClr>
            </a:outerShdw>
          </a:effectLst>
        </p:spPr>
      </p:sp>
      <p:sp>
        <p:nvSpPr>
          <p:cNvPr id="22" name="Text 20"/>
          <p:cNvSpPr/>
          <p:nvPr/>
        </p:nvSpPr>
        <p:spPr>
          <a:xfrm>
            <a:off x="7123176" y="1563624"/>
            <a:ext cx="1572768" cy="27432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3" name="Text 21"/>
          <p:cNvSpPr/>
          <p:nvPr/>
        </p:nvSpPr>
        <p:spPr>
          <a:xfrm>
            <a:off x="7123176" y="1801368"/>
            <a:ext cx="1572768"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Consequences</a:t>
            </a:r>
            <a:endParaRPr lang="en-US" sz="1300" dirty="0"/>
          </a:p>
        </p:txBody>
      </p:sp>
      <p:sp>
        <p:nvSpPr>
          <p:cNvPr id="24" name="Text 22"/>
          <p:cNvSpPr/>
          <p:nvPr/>
        </p:nvSpPr>
        <p:spPr>
          <a:xfrm>
            <a:off x="7168896" y="2057400"/>
            <a:ext cx="1481328" cy="256032"/>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What happened next</a:t>
            </a:r>
            <a:endParaRPr lang="en-US" sz="900" dirty="0"/>
          </a:p>
        </p:txBody>
      </p:sp>
      <p:sp>
        <p:nvSpPr>
          <p:cNvPr id="25" name="Shape 23"/>
          <p:cNvSpPr/>
          <p:nvPr/>
        </p:nvSpPr>
        <p:spPr>
          <a:xfrm>
            <a:off x="457200" y="2880360"/>
            <a:ext cx="8229600" cy="914400"/>
          </a:xfrm>
          <a:prstGeom prst="roundRect">
            <a:avLst>
              <a:gd name="adj" fmla="val 15000"/>
            </a:avLst>
          </a:prstGeom>
          <a:solidFill>
            <a:srgbClr val="1A2D5A"/>
          </a:solidFill>
          <a:ln/>
        </p:spPr>
      </p:sp>
      <p:sp>
        <p:nvSpPr>
          <p:cNvPr id="26" name="Text 24"/>
          <p:cNvSpPr/>
          <p:nvPr/>
        </p:nvSpPr>
        <p:spPr>
          <a:xfrm>
            <a:off x="640080" y="2944368"/>
            <a:ext cx="7863840"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These five categories are not separate facts — they are one connected story.</a:t>
            </a:r>
            <a:endParaRPr lang="en-US" sz="1500" dirty="0"/>
          </a:p>
        </p:txBody>
      </p:sp>
      <p:sp>
        <p:nvSpPr>
          <p:cNvPr id="27" name="Text 25"/>
          <p:cNvSpPr/>
          <p:nvPr/>
        </p:nvSpPr>
        <p:spPr>
          <a:xfrm>
            <a:off x="640080" y="3310128"/>
            <a:ext cx="7863840" cy="384048"/>
          </a:xfrm>
          <a:prstGeom prst="rect">
            <a:avLst/>
          </a:prstGeom>
          <a:noFill/>
          <a:ln/>
        </p:spPr>
        <p:txBody>
          <a:bodyPr wrap="square" lIns="0" tIns="0" rIns="0" bIns="0"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Motives pushed people to go  →  Tools made travel possible  →  Routes show where they went  →  Discoveries changed what was known  →  Consequences shaped what happened to everyone</a:t>
            </a:r>
            <a:endParaRPr lang="en-US" sz="1100" dirty="0"/>
          </a:p>
        </p:txBody>
      </p:sp>
      <p:sp>
        <p:nvSpPr>
          <p:cNvPr id="28" name="Shape 26"/>
          <p:cNvSpPr/>
          <p:nvPr/>
        </p:nvSpPr>
        <p:spPr>
          <a:xfrm>
            <a:off x="2286000" y="3913632"/>
            <a:ext cx="4572000" cy="594360"/>
          </a:xfrm>
          <a:prstGeom prst="roundRect">
            <a:avLst>
              <a:gd name="adj" fmla="val 15385"/>
            </a:avLst>
          </a:prstGeom>
          <a:solidFill>
            <a:srgbClr val="D4943A"/>
          </a:solidFill>
          <a:ln/>
        </p:spPr>
      </p:sp>
      <p:sp>
        <p:nvSpPr>
          <p:cNvPr id="29" name="Text 27"/>
          <p:cNvSpPr/>
          <p:nvPr/>
        </p:nvSpPr>
        <p:spPr>
          <a:xfrm>
            <a:off x="2286000" y="3913632"/>
            <a:ext cx="4572000" cy="594360"/>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If you removed ONE panel — what would be missing from the story?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943A"/>
          </a:solidFill>
          <a:ln w="12700">
            <a:solidFill>
              <a:srgbClr val="D4943A"/>
            </a:solidFill>
            <a:prstDash val="solid"/>
          </a:ln>
        </p:spPr>
      </p:sp>
      <p:sp>
        <p:nvSpPr>
          <p:cNvPr id="3" name="Shape 1"/>
          <p:cNvSpPr/>
          <p:nvPr/>
        </p:nvSpPr>
        <p:spPr>
          <a:xfrm>
            <a:off x="365760" y="164592"/>
            <a:ext cx="1463040" cy="347472"/>
          </a:xfrm>
          <a:prstGeom prst="roundRect">
            <a:avLst>
              <a:gd name="adj" fmla="val 21053"/>
            </a:avLst>
          </a:prstGeom>
          <a:solidFill>
            <a:srgbClr val="D4943A"/>
          </a:solidFill>
          <a:ln/>
        </p:spPr>
      </p:sp>
      <p:sp>
        <p:nvSpPr>
          <p:cNvPr id="4" name="Text 2"/>
          <p:cNvSpPr/>
          <p:nvPr/>
        </p:nvSpPr>
        <p:spPr>
          <a:xfrm>
            <a:off x="365760" y="164592"/>
            <a:ext cx="1463040" cy="347472"/>
          </a:xfrm>
          <a:prstGeom prst="rect">
            <a:avLst/>
          </a:prstGeom>
          <a:noFill/>
          <a:ln/>
        </p:spPr>
        <p:txBody>
          <a:bodyPr wrap="square" lIns="0" tIns="0" rIns="0" bIns="0" rtlCol="0" anchor="ctr"/>
          <a:lstStyle/>
          <a:p>
            <a:pPr algn="ctr" indent="0" marL="0">
              <a:buNone/>
            </a:pPr>
            <a:r>
              <a:rPr lang="en-US" sz="900" b="1" spc="100" kern="0" dirty="0">
                <a:solidFill>
                  <a:srgbClr val="0E1C42"/>
                </a:solidFill>
                <a:latin typeface="Calibri" pitchFamily="34" charset="0"/>
                <a:ea typeface="Calibri" pitchFamily="34" charset="-122"/>
                <a:cs typeface="Calibri" pitchFamily="34" charset="-120"/>
              </a:rPr>
              <a:t>PANEL 1 — MOTIVES</a:t>
            </a:r>
            <a:endParaRPr lang="en-US" sz="900" dirty="0"/>
          </a:p>
        </p:txBody>
      </p:sp>
      <p:sp>
        <p:nvSpPr>
          <p:cNvPr id="5" name="Text 3"/>
          <p:cNvSpPr/>
          <p:nvPr/>
        </p:nvSpPr>
        <p:spPr>
          <a:xfrm>
            <a:off x="2011680" y="164592"/>
            <a:ext cx="6766560" cy="3657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Why People Explored</a:t>
            </a:r>
            <a:endParaRPr lang="en-US" sz="2200" dirty="0"/>
          </a:p>
        </p:txBody>
      </p:sp>
      <p:sp>
        <p:nvSpPr>
          <p:cNvPr id="6" name="Shape 4"/>
          <p:cNvSpPr/>
          <p:nvPr/>
        </p:nvSpPr>
        <p:spPr>
          <a:xfrm>
            <a:off x="320040" y="640080"/>
            <a:ext cx="1920240" cy="1737360"/>
          </a:xfrm>
          <a:prstGeom prst="roundRect">
            <a:avLst>
              <a:gd name="adj" fmla="val 6316"/>
            </a:avLst>
          </a:prstGeom>
          <a:solidFill>
            <a:srgbClr val="F0F2F8"/>
          </a:solidFill>
          <a:ln w="12700">
            <a:solidFill>
              <a:srgbClr val="C8D0E0"/>
            </a:solidFill>
            <a:prstDash val="solid"/>
          </a:ln>
        </p:spPr>
      </p:sp>
      <p:sp>
        <p:nvSpPr>
          <p:cNvPr id="7" name="Text 5"/>
          <p:cNvSpPr/>
          <p:nvPr/>
        </p:nvSpPr>
        <p:spPr>
          <a:xfrm>
            <a:off x="320040" y="713232"/>
            <a:ext cx="1920240" cy="3657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320040" y="1078992"/>
            <a:ext cx="1920240" cy="29260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Curiosity</a:t>
            </a:r>
            <a:endParaRPr lang="en-US" sz="1400" dirty="0"/>
          </a:p>
        </p:txBody>
      </p:sp>
      <p:sp>
        <p:nvSpPr>
          <p:cNvPr id="9" name="Text 7"/>
          <p:cNvSpPr/>
          <p:nvPr/>
        </p:nvSpPr>
        <p:spPr>
          <a:xfrm>
            <a:off x="411480" y="1389888"/>
            <a:ext cx="1737360" cy="91440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What lies beyond the horizon? Explorers wanted to know.</a:t>
            </a:r>
            <a:endParaRPr lang="en-US" sz="1100" dirty="0"/>
          </a:p>
        </p:txBody>
      </p:sp>
      <p:sp>
        <p:nvSpPr>
          <p:cNvPr id="10" name="Shape 8"/>
          <p:cNvSpPr/>
          <p:nvPr/>
        </p:nvSpPr>
        <p:spPr>
          <a:xfrm>
            <a:off x="2441448" y="640080"/>
            <a:ext cx="1920240" cy="1737360"/>
          </a:xfrm>
          <a:prstGeom prst="roundRect">
            <a:avLst>
              <a:gd name="adj" fmla="val 6316"/>
            </a:avLst>
          </a:prstGeom>
          <a:solidFill>
            <a:srgbClr val="F0F2F8"/>
          </a:solidFill>
          <a:ln w="12700">
            <a:solidFill>
              <a:srgbClr val="C8D0E0"/>
            </a:solidFill>
            <a:prstDash val="solid"/>
          </a:ln>
        </p:spPr>
      </p:sp>
      <p:sp>
        <p:nvSpPr>
          <p:cNvPr id="11" name="Text 9"/>
          <p:cNvSpPr/>
          <p:nvPr/>
        </p:nvSpPr>
        <p:spPr>
          <a:xfrm>
            <a:off x="2441448" y="713232"/>
            <a:ext cx="1920240" cy="3657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2441448" y="1078992"/>
            <a:ext cx="1920240" cy="29260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Trade</a:t>
            </a:r>
            <a:endParaRPr lang="en-US" sz="1400" dirty="0"/>
          </a:p>
        </p:txBody>
      </p:sp>
      <p:sp>
        <p:nvSpPr>
          <p:cNvPr id="13" name="Text 11"/>
          <p:cNvSpPr/>
          <p:nvPr/>
        </p:nvSpPr>
        <p:spPr>
          <a:xfrm>
            <a:off x="2532888" y="1389888"/>
            <a:ext cx="1737360" cy="91440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Faster routes to spices, silk, and gold from Asia.</a:t>
            </a:r>
            <a:endParaRPr lang="en-US" sz="1100" dirty="0"/>
          </a:p>
        </p:txBody>
      </p:sp>
      <p:sp>
        <p:nvSpPr>
          <p:cNvPr id="14" name="Shape 12"/>
          <p:cNvSpPr/>
          <p:nvPr/>
        </p:nvSpPr>
        <p:spPr>
          <a:xfrm>
            <a:off x="4562856" y="640080"/>
            <a:ext cx="1920240" cy="1737360"/>
          </a:xfrm>
          <a:prstGeom prst="roundRect">
            <a:avLst>
              <a:gd name="adj" fmla="val 6316"/>
            </a:avLst>
          </a:prstGeom>
          <a:solidFill>
            <a:srgbClr val="F0F2F8"/>
          </a:solidFill>
          <a:ln w="12700">
            <a:solidFill>
              <a:srgbClr val="C8D0E0"/>
            </a:solidFill>
            <a:prstDash val="solid"/>
          </a:ln>
        </p:spPr>
      </p:sp>
      <p:sp>
        <p:nvSpPr>
          <p:cNvPr id="15" name="Text 13"/>
          <p:cNvSpPr/>
          <p:nvPr/>
        </p:nvSpPr>
        <p:spPr>
          <a:xfrm>
            <a:off x="4562856" y="713232"/>
            <a:ext cx="1920240" cy="3657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4562856" y="1078992"/>
            <a:ext cx="1920240" cy="29260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Land &amp; Power</a:t>
            </a:r>
            <a:endParaRPr lang="en-US" sz="1400" dirty="0"/>
          </a:p>
        </p:txBody>
      </p:sp>
      <p:sp>
        <p:nvSpPr>
          <p:cNvPr id="17" name="Text 15"/>
          <p:cNvSpPr/>
          <p:nvPr/>
        </p:nvSpPr>
        <p:spPr>
          <a:xfrm>
            <a:off x="4654296" y="1389888"/>
            <a:ext cx="1737360" cy="91440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Claim new lands for their country and king.</a:t>
            </a:r>
            <a:endParaRPr lang="en-US" sz="1100" dirty="0"/>
          </a:p>
        </p:txBody>
      </p:sp>
      <p:sp>
        <p:nvSpPr>
          <p:cNvPr id="18" name="Shape 16"/>
          <p:cNvSpPr/>
          <p:nvPr/>
        </p:nvSpPr>
        <p:spPr>
          <a:xfrm>
            <a:off x="6684264" y="640080"/>
            <a:ext cx="1920240" cy="1737360"/>
          </a:xfrm>
          <a:prstGeom prst="roundRect">
            <a:avLst>
              <a:gd name="adj" fmla="val 6316"/>
            </a:avLst>
          </a:prstGeom>
          <a:solidFill>
            <a:srgbClr val="F0F2F8"/>
          </a:solidFill>
          <a:ln w="12700">
            <a:solidFill>
              <a:srgbClr val="C8D0E0"/>
            </a:solidFill>
            <a:prstDash val="solid"/>
          </a:ln>
        </p:spPr>
      </p:sp>
      <p:sp>
        <p:nvSpPr>
          <p:cNvPr id="19" name="Text 17"/>
          <p:cNvSpPr/>
          <p:nvPr/>
        </p:nvSpPr>
        <p:spPr>
          <a:xfrm>
            <a:off x="6684264" y="713232"/>
            <a:ext cx="1920240" cy="3657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Text 18"/>
          <p:cNvSpPr/>
          <p:nvPr/>
        </p:nvSpPr>
        <p:spPr>
          <a:xfrm>
            <a:off x="6684264" y="1078992"/>
            <a:ext cx="1920240" cy="292608"/>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Religion</a:t>
            </a:r>
            <a:endParaRPr lang="en-US" sz="1400" dirty="0"/>
          </a:p>
        </p:txBody>
      </p:sp>
      <p:sp>
        <p:nvSpPr>
          <p:cNvPr id="21" name="Text 19"/>
          <p:cNvSpPr/>
          <p:nvPr/>
        </p:nvSpPr>
        <p:spPr>
          <a:xfrm>
            <a:off x="6775704" y="1389888"/>
            <a:ext cx="1737360" cy="91440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Spread Christianity to people in new lands.</a:t>
            </a:r>
            <a:endParaRPr lang="en-US" sz="1100" dirty="0"/>
          </a:p>
        </p:txBody>
      </p:sp>
      <p:sp>
        <p:nvSpPr>
          <p:cNvPr id="22" name="Shape 20"/>
          <p:cNvSpPr/>
          <p:nvPr/>
        </p:nvSpPr>
        <p:spPr>
          <a:xfrm>
            <a:off x="320040" y="2505456"/>
            <a:ext cx="8503920" cy="420624"/>
          </a:xfrm>
          <a:prstGeom prst="roundRect">
            <a:avLst>
              <a:gd name="adj" fmla="val 21739"/>
            </a:avLst>
          </a:prstGeom>
          <a:solidFill>
            <a:srgbClr val="0E1C42"/>
          </a:solidFill>
          <a:ln/>
        </p:spPr>
      </p:sp>
      <p:sp>
        <p:nvSpPr>
          <p:cNvPr id="23" name="Text 21"/>
          <p:cNvSpPr/>
          <p:nvPr/>
        </p:nvSpPr>
        <p:spPr>
          <a:xfrm>
            <a:off x="457200" y="2505456"/>
            <a:ext cx="8229600" cy="420624"/>
          </a:xfrm>
          <a:prstGeom prst="rect">
            <a:avLst/>
          </a:prstGeom>
          <a:noFill/>
          <a:ln/>
        </p:spPr>
        <p:txBody>
          <a:bodyPr wrap="square" lIns="0" tIns="0" rIns="0" bIns="0" rtlCol="0" anchor="ctr"/>
          <a:lstStyle/>
          <a:p>
            <a:pPr algn="ctr" indent="0" marL="0">
              <a:buNone/>
            </a:pPr>
            <a:r>
              <a:rPr lang="en-US" sz="1300" b="1" dirty="0">
                <a:solidFill>
                  <a:srgbClr val="D4943A"/>
                </a:solidFill>
                <a:latin typeface="Cambria" pitchFamily="34" charset="0"/>
                <a:ea typeface="Cambria" pitchFamily="34" charset="-122"/>
                <a:cs typeface="Cambria" pitchFamily="34" charset="-120"/>
              </a:rPr>
              <a:t>PAUSE: Which motive do you think was strongest? What evidence makes you say that?</a:t>
            </a:r>
            <a:endParaRPr lang="en-US" sz="1300" dirty="0"/>
          </a:p>
        </p:txBody>
      </p:sp>
      <p:sp>
        <p:nvSpPr>
          <p:cNvPr id="24" name="Shape 22"/>
          <p:cNvSpPr/>
          <p:nvPr/>
        </p:nvSpPr>
        <p:spPr>
          <a:xfrm>
            <a:off x="320040" y="3017520"/>
            <a:ext cx="4114800" cy="1508760"/>
          </a:xfrm>
          <a:prstGeom prst="roundRect">
            <a:avLst>
              <a:gd name="adj" fmla="val 7273"/>
            </a:avLst>
          </a:prstGeom>
          <a:solidFill>
            <a:srgbClr val="FFF3DC"/>
          </a:solidFill>
          <a:ln w="19050">
            <a:solidFill>
              <a:srgbClr val="F5E6C8"/>
            </a:solidFill>
            <a:prstDash val="solid"/>
          </a:ln>
        </p:spPr>
      </p:sp>
      <p:sp>
        <p:nvSpPr>
          <p:cNvPr id="25" name="Text 23"/>
          <p:cNvSpPr/>
          <p:nvPr/>
        </p:nvSpPr>
        <p:spPr>
          <a:xfrm>
            <a:off x="457200" y="3072384"/>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6" name="Text 24"/>
          <p:cNvSpPr/>
          <p:nvPr/>
        </p:nvSpPr>
        <p:spPr>
          <a:xfrm>
            <a:off x="457200" y="3273552"/>
            <a:ext cx="3840480" cy="1188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motive was...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evidence is..."</a:t>
            </a:r>
            <a:endParaRPr lang="en-US" sz="1200" dirty="0"/>
          </a:p>
        </p:txBody>
      </p:sp>
      <p:sp>
        <p:nvSpPr>
          <p:cNvPr id="27" name="Shape 25"/>
          <p:cNvSpPr/>
          <p:nvPr/>
        </p:nvSpPr>
        <p:spPr>
          <a:xfrm>
            <a:off x="4572000" y="3017520"/>
            <a:ext cx="4251960" cy="1508760"/>
          </a:xfrm>
          <a:prstGeom prst="roundRect">
            <a:avLst>
              <a:gd name="adj" fmla="val 9091"/>
            </a:avLst>
          </a:prstGeom>
          <a:solidFill>
            <a:srgbClr val="1A2D5A"/>
          </a:solidFill>
          <a:ln/>
          <a:effectLst>
            <a:outerShdw sx="100000" sy="100000" kx="0" ky="0" algn="bl" rotWithShape="0" blurRad="101600" dist="38100" dir="8100000">
              <a:srgbClr val="000000">
                <a:alpha val="20000"/>
              </a:srgbClr>
            </a:outerShdw>
          </a:effectLst>
        </p:spPr>
      </p:sp>
      <p:sp>
        <p:nvSpPr>
          <p:cNvPr id="28" name="Text 26"/>
          <p:cNvSpPr/>
          <p:nvPr/>
        </p:nvSpPr>
        <p:spPr>
          <a:xfrm>
            <a:off x="4754880" y="3108960"/>
            <a:ext cx="3886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9" name="Text 27"/>
          <p:cNvSpPr/>
          <p:nvPr/>
        </p:nvSpPr>
        <p:spPr>
          <a:xfrm>
            <a:off x="4754880" y="3364992"/>
            <a:ext cx="3886200" cy="10698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a motive the same as a reason or a result?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have more than one motive?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motive would you NOT include — and why?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8A7D"/>
          </a:solidFill>
          <a:ln w="12700">
            <a:solidFill>
              <a:srgbClr val="1A8A7D"/>
            </a:solidFill>
            <a:prstDash val="solid"/>
          </a:ln>
        </p:spPr>
      </p:sp>
      <p:sp>
        <p:nvSpPr>
          <p:cNvPr id="3" name="Shape 1"/>
          <p:cNvSpPr/>
          <p:nvPr/>
        </p:nvSpPr>
        <p:spPr>
          <a:xfrm>
            <a:off x="365760" y="164592"/>
            <a:ext cx="1371600" cy="347472"/>
          </a:xfrm>
          <a:prstGeom prst="roundRect">
            <a:avLst>
              <a:gd name="adj" fmla="val 21053"/>
            </a:avLst>
          </a:prstGeom>
          <a:solidFill>
            <a:srgbClr val="1A8A7D"/>
          </a:solidFill>
          <a:ln/>
        </p:spPr>
      </p:sp>
      <p:sp>
        <p:nvSpPr>
          <p:cNvPr id="4" name="Text 2"/>
          <p:cNvSpPr/>
          <p:nvPr/>
        </p:nvSpPr>
        <p:spPr>
          <a:xfrm>
            <a:off x="365760" y="164592"/>
            <a:ext cx="13716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PANEL 2 — TOOLS</a:t>
            </a:r>
            <a:endParaRPr lang="en-US" sz="900" dirty="0"/>
          </a:p>
        </p:txBody>
      </p:sp>
      <p:sp>
        <p:nvSpPr>
          <p:cNvPr id="5" name="Text 3"/>
          <p:cNvSpPr/>
          <p:nvPr/>
        </p:nvSpPr>
        <p:spPr>
          <a:xfrm>
            <a:off x="1920240" y="164592"/>
            <a:ext cx="6858000" cy="3657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How They Navigated</a:t>
            </a:r>
            <a:endParaRPr lang="en-US" sz="2200" dirty="0"/>
          </a:p>
        </p:txBody>
      </p:sp>
      <p:sp>
        <p:nvSpPr>
          <p:cNvPr id="6" name="Shape 4"/>
          <p:cNvSpPr/>
          <p:nvPr/>
        </p:nvSpPr>
        <p:spPr>
          <a:xfrm>
            <a:off x="320040" y="640080"/>
            <a:ext cx="1920240" cy="1874520"/>
          </a:xfrm>
          <a:prstGeom prst="roundRect">
            <a:avLst>
              <a:gd name="adj" fmla="val 5854"/>
            </a:avLst>
          </a:prstGeom>
          <a:solidFill>
            <a:srgbClr val="EAF8FD"/>
          </a:solidFill>
          <a:ln w="19050">
            <a:solidFill>
              <a:srgbClr val="55C8E8"/>
            </a:solidFill>
            <a:prstDash val="solid"/>
          </a:ln>
        </p:spPr>
      </p:sp>
      <p:sp>
        <p:nvSpPr>
          <p:cNvPr id="7" name="Text 5"/>
          <p:cNvSpPr/>
          <p:nvPr/>
        </p:nvSpPr>
        <p:spPr>
          <a:xfrm>
            <a:off x="320040" y="713232"/>
            <a:ext cx="192024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320040" y="1078992"/>
            <a:ext cx="1920240" cy="274320"/>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Compass</a:t>
            </a:r>
            <a:endParaRPr lang="en-US" sz="1400" dirty="0"/>
          </a:p>
        </p:txBody>
      </p:sp>
      <p:sp>
        <p:nvSpPr>
          <p:cNvPr id="9" name="Text 7"/>
          <p:cNvSpPr/>
          <p:nvPr/>
        </p:nvSpPr>
        <p:spPr>
          <a:xfrm>
            <a:off x="411480" y="1389888"/>
            <a:ext cx="1737360" cy="105156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Pointed north — helped sailors know direction at sea.</a:t>
            </a:r>
            <a:endParaRPr lang="en-US" sz="1100" dirty="0"/>
          </a:p>
        </p:txBody>
      </p:sp>
      <p:sp>
        <p:nvSpPr>
          <p:cNvPr id="10" name="Shape 8"/>
          <p:cNvSpPr/>
          <p:nvPr/>
        </p:nvSpPr>
        <p:spPr>
          <a:xfrm>
            <a:off x="2441448" y="640080"/>
            <a:ext cx="1920240" cy="1874520"/>
          </a:xfrm>
          <a:prstGeom prst="roundRect">
            <a:avLst>
              <a:gd name="adj" fmla="val 5854"/>
            </a:avLst>
          </a:prstGeom>
          <a:solidFill>
            <a:srgbClr val="EAF8FD"/>
          </a:solidFill>
          <a:ln w="19050">
            <a:solidFill>
              <a:srgbClr val="55C8E8"/>
            </a:solidFill>
            <a:prstDash val="solid"/>
          </a:ln>
        </p:spPr>
      </p:sp>
      <p:sp>
        <p:nvSpPr>
          <p:cNvPr id="11" name="Text 9"/>
          <p:cNvSpPr/>
          <p:nvPr/>
        </p:nvSpPr>
        <p:spPr>
          <a:xfrm>
            <a:off x="2441448" y="713232"/>
            <a:ext cx="192024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2441448" y="1078992"/>
            <a:ext cx="1920240" cy="274320"/>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Astrolabe</a:t>
            </a:r>
            <a:endParaRPr lang="en-US" sz="1400" dirty="0"/>
          </a:p>
        </p:txBody>
      </p:sp>
      <p:sp>
        <p:nvSpPr>
          <p:cNvPr id="13" name="Text 11"/>
          <p:cNvSpPr/>
          <p:nvPr/>
        </p:nvSpPr>
        <p:spPr>
          <a:xfrm>
            <a:off x="2532888" y="1389888"/>
            <a:ext cx="1737360" cy="105156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Measured the angle of stars — helped calculate location.</a:t>
            </a:r>
            <a:endParaRPr lang="en-US" sz="1100" dirty="0"/>
          </a:p>
        </p:txBody>
      </p:sp>
      <p:sp>
        <p:nvSpPr>
          <p:cNvPr id="14" name="Shape 12"/>
          <p:cNvSpPr/>
          <p:nvPr/>
        </p:nvSpPr>
        <p:spPr>
          <a:xfrm>
            <a:off x="4562856" y="640080"/>
            <a:ext cx="1920240" cy="1874520"/>
          </a:xfrm>
          <a:prstGeom prst="roundRect">
            <a:avLst>
              <a:gd name="adj" fmla="val 5854"/>
            </a:avLst>
          </a:prstGeom>
          <a:solidFill>
            <a:srgbClr val="EAF8FD"/>
          </a:solidFill>
          <a:ln w="19050">
            <a:solidFill>
              <a:srgbClr val="55C8E8"/>
            </a:solidFill>
            <a:prstDash val="solid"/>
          </a:ln>
        </p:spPr>
      </p:sp>
      <p:sp>
        <p:nvSpPr>
          <p:cNvPr id="15" name="Text 13"/>
          <p:cNvSpPr/>
          <p:nvPr/>
        </p:nvSpPr>
        <p:spPr>
          <a:xfrm>
            <a:off x="4562856" y="713232"/>
            <a:ext cx="192024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4562856" y="1078992"/>
            <a:ext cx="1920240" cy="274320"/>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Portolan Charts</a:t>
            </a:r>
            <a:endParaRPr lang="en-US" sz="1400" dirty="0"/>
          </a:p>
        </p:txBody>
      </p:sp>
      <p:sp>
        <p:nvSpPr>
          <p:cNvPr id="17" name="Text 15"/>
          <p:cNvSpPr/>
          <p:nvPr/>
        </p:nvSpPr>
        <p:spPr>
          <a:xfrm>
            <a:off x="4654296" y="1389888"/>
            <a:ext cx="1737360" cy="105156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Detailed coastal maps with rhumb lines for navigation.</a:t>
            </a:r>
            <a:endParaRPr lang="en-US" sz="1100" dirty="0"/>
          </a:p>
        </p:txBody>
      </p:sp>
      <p:sp>
        <p:nvSpPr>
          <p:cNvPr id="18" name="Shape 16"/>
          <p:cNvSpPr/>
          <p:nvPr/>
        </p:nvSpPr>
        <p:spPr>
          <a:xfrm>
            <a:off x="6684264" y="640080"/>
            <a:ext cx="1920240" cy="1874520"/>
          </a:xfrm>
          <a:prstGeom prst="roundRect">
            <a:avLst>
              <a:gd name="adj" fmla="val 5854"/>
            </a:avLst>
          </a:prstGeom>
          <a:solidFill>
            <a:srgbClr val="EAF8FD"/>
          </a:solidFill>
          <a:ln w="19050">
            <a:solidFill>
              <a:srgbClr val="55C8E8"/>
            </a:solidFill>
            <a:prstDash val="solid"/>
          </a:ln>
        </p:spPr>
      </p:sp>
      <p:sp>
        <p:nvSpPr>
          <p:cNvPr id="19" name="Text 17"/>
          <p:cNvSpPr/>
          <p:nvPr/>
        </p:nvSpPr>
        <p:spPr>
          <a:xfrm>
            <a:off x="6684264" y="713232"/>
            <a:ext cx="1920240" cy="3657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6684264" y="1078992"/>
            <a:ext cx="1920240" cy="274320"/>
          </a:xfrm>
          <a:prstGeom prst="rect">
            <a:avLst/>
          </a:prstGeom>
          <a:noFill/>
          <a:ln/>
        </p:spPr>
        <p:txBody>
          <a:bodyPr wrap="square" lIns="0" tIns="0" rIns="0" bIns="0" rtlCol="0" anchor="ctr"/>
          <a:lstStyle/>
          <a:p>
            <a:pPr algn="ctr" indent="0" marL="0">
              <a:buNone/>
            </a:pPr>
            <a:r>
              <a:rPr lang="en-US" sz="1400" b="1" dirty="0">
                <a:solidFill>
                  <a:srgbClr val="1A8A7D"/>
                </a:solidFill>
                <a:latin typeface="Cambria" pitchFamily="34" charset="0"/>
                <a:ea typeface="Cambria" pitchFamily="34" charset="-122"/>
                <a:cs typeface="Cambria" pitchFamily="34" charset="-120"/>
              </a:rPr>
              <a:t>Caravel</a:t>
            </a:r>
            <a:endParaRPr lang="en-US" sz="1400" dirty="0"/>
          </a:p>
        </p:txBody>
      </p:sp>
      <p:sp>
        <p:nvSpPr>
          <p:cNvPr id="21" name="Text 19"/>
          <p:cNvSpPr/>
          <p:nvPr/>
        </p:nvSpPr>
        <p:spPr>
          <a:xfrm>
            <a:off x="6775704" y="1389888"/>
            <a:ext cx="1737360" cy="1051560"/>
          </a:xfrm>
          <a:prstGeom prst="rect">
            <a:avLst/>
          </a:prstGeom>
          <a:noFill/>
          <a:ln/>
        </p:spPr>
        <p:txBody>
          <a:bodyPr wrap="square" lIns="0" tIns="0" rIns="0" bIns="0" rtlCol="0" anchor="t"/>
          <a:lstStyle/>
          <a:p>
            <a:pPr algn="ctr" indent="0" marL="0">
              <a:buNone/>
            </a:pPr>
            <a:r>
              <a:rPr lang="en-US" sz="1100" dirty="0">
                <a:solidFill>
                  <a:srgbClr val="3A4A6A"/>
                </a:solidFill>
                <a:latin typeface="Calibri" pitchFamily="34" charset="0"/>
                <a:ea typeface="Calibri" pitchFamily="34" charset="-122"/>
                <a:cs typeface="Calibri" pitchFamily="34" charset="-120"/>
              </a:rPr>
              <a:t>Ship that could sail into the wind — made long voyages possible.</a:t>
            </a:r>
            <a:endParaRPr lang="en-US" sz="1100" dirty="0"/>
          </a:p>
        </p:txBody>
      </p:sp>
      <p:sp>
        <p:nvSpPr>
          <p:cNvPr id="22" name="Shape 20"/>
          <p:cNvSpPr/>
          <p:nvPr/>
        </p:nvSpPr>
        <p:spPr>
          <a:xfrm>
            <a:off x="320040" y="2633472"/>
            <a:ext cx="8503920" cy="411480"/>
          </a:xfrm>
          <a:prstGeom prst="roundRect">
            <a:avLst>
              <a:gd name="adj" fmla="val 22222"/>
            </a:avLst>
          </a:prstGeom>
          <a:solidFill>
            <a:srgbClr val="1A8A7D"/>
          </a:solidFill>
          <a:ln/>
        </p:spPr>
      </p:sp>
      <p:sp>
        <p:nvSpPr>
          <p:cNvPr id="23" name="Text 21"/>
          <p:cNvSpPr/>
          <p:nvPr/>
        </p:nvSpPr>
        <p:spPr>
          <a:xfrm>
            <a:off x="457200" y="2633472"/>
            <a:ext cx="822960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Without these tools — could any of those routes have happened?</a:t>
            </a:r>
            <a:endParaRPr lang="en-US" sz="1400" dirty="0"/>
          </a:p>
        </p:txBody>
      </p:sp>
      <p:sp>
        <p:nvSpPr>
          <p:cNvPr id="24" name="Shape 22"/>
          <p:cNvSpPr/>
          <p:nvPr/>
        </p:nvSpPr>
        <p:spPr>
          <a:xfrm>
            <a:off x="320040" y="3136392"/>
            <a:ext cx="4754880" cy="1463040"/>
          </a:xfrm>
          <a:prstGeom prst="roundRect">
            <a:avLst>
              <a:gd name="adj" fmla="val 7500"/>
            </a:avLst>
          </a:prstGeom>
          <a:solidFill>
            <a:srgbClr val="FFF3DC"/>
          </a:solidFill>
          <a:ln w="19050">
            <a:solidFill>
              <a:srgbClr val="F5E6C8"/>
            </a:solidFill>
            <a:prstDash val="solid"/>
          </a:ln>
        </p:spPr>
      </p:sp>
      <p:sp>
        <p:nvSpPr>
          <p:cNvPr id="25" name="Text 23"/>
          <p:cNvSpPr/>
          <p:nvPr/>
        </p:nvSpPr>
        <p:spPr>
          <a:xfrm>
            <a:off x="457200" y="3191256"/>
            <a:ext cx="44805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6" name="Text 24"/>
          <p:cNvSpPr/>
          <p:nvPr/>
        </p:nvSpPr>
        <p:spPr>
          <a:xfrm>
            <a:off x="457200" y="3392424"/>
            <a:ext cx="448056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"Without the... explorers couldn't have..."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important tool was... because..."</a:t>
            </a:r>
            <a:endParaRPr lang="en-US" sz="1200" dirty="0"/>
          </a:p>
        </p:txBody>
      </p:sp>
      <p:sp>
        <p:nvSpPr>
          <p:cNvPr id="27" name="Shape 25"/>
          <p:cNvSpPr/>
          <p:nvPr/>
        </p:nvSpPr>
        <p:spPr>
          <a:xfrm>
            <a:off x="5212080" y="3136392"/>
            <a:ext cx="3657600" cy="1463040"/>
          </a:xfrm>
          <a:prstGeom prst="roundRect">
            <a:avLst>
              <a:gd name="adj" fmla="val 9375"/>
            </a:avLst>
          </a:prstGeom>
          <a:solidFill>
            <a:srgbClr val="1A2D5A"/>
          </a:solidFill>
          <a:ln/>
          <a:effectLst>
            <a:outerShdw sx="100000" sy="100000" kx="0" ky="0" algn="bl" rotWithShape="0" blurRad="101600" dist="38100" dir="8100000">
              <a:srgbClr val="000000">
                <a:alpha val="20000"/>
              </a:srgbClr>
            </a:outerShdw>
          </a:effectLst>
        </p:spPr>
      </p:sp>
      <p:sp>
        <p:nvSpPr>
          <p:cNvPr id="28" name="Text 26"/>
          <p:cNvSpPr/>
          <p:nvPr/>
        </p:nvSpPr>
        <p:spPr>
          <a:xfrm>
            <a:off x="5394960" y="3227832"/>
            <a:ext cx="32918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9" name="Text 27"/>
          <p:cNvSpPr/>
          <p:nvPr/>
        </p:nvSpPr>
        <p:spPr>
          <a:xfrm>
            <a:off x="5394960" y="3483864"/>
            <a:ext cx="3291840" cy="1024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Are tools a reason people explored, or something different?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tool matters most — and what's your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happen with a compass but no portolan chart?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6FC0"/>
          </a:solidFill>
          <a:ln w="12700">
            <a:solidFill>
              <a:srgbClr val="8B6FC0"/>
            </a:solidFill>
            <a:prstDash val="solid"/>
          </a:ln>
        </p:spPr>
      </p:sp>
      <p:sp>
        <p:nvSpPr>
          <p:cNvPr id="3" name="Shape 1"/>
          <p:cNvSpPr/>
          <p:nvPr/>
        </p:nvSpPr>
        <p:spPr>
          <a:xfrm>
            <a:off x="365760" y="164592"/>
            <a:ext cx="1371600" cy="347472"/>
          </a:xfrm>
          <a:prstGeom prst="roundRect">
            <a:avLst>
              <a:gd name="adj" fmla="val 21053"/>
            </a:avLst>
          </a:prstGeom>
          <a:solidFill>
            <a:srgbClr val="8B6FC0"/>
          </a:solidFill>
          <a:ln/>
        </p:spPr>
      </p:sp>
      <p:sp>
        <p:nvSpPr>
          <p:cNvPr id="4" name="Text 2"/>
          <p:cNvSpPr/>
          <p:nvPr/>
        </p:nvSpPr>
        <p:spPr>
          <a:xfrm>
            <a:off x="365760" y="164592"/>
            <a:ext cx="1371600" cy="34747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PANEL 3 — ROUTES</a:t>
            </a:r>
            <a:endParaRPr lang="en-US" sz="900" dirty="0"/>
          </a:p>
        </p:txBody>
      </p:sp>
      <p:sp>
        <p:nvSpPr>
          <p:cNvPr id="5" name="Text 3"/>
          <p:cNvSpPr/>
          <p:nvPr/>
        </p:nvSpPr>
        <p:spPr>
          <a:xfrm>
            <a:off x="1920240" y="164592"/>
            <a:ext cx="6858000" cy="3657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Where They Went</a:t>
            </a:r>
            <a:endParaRPr lang="en-US" sz="2200" dirty="0"/>
          </a:p>
        </p:txBody>
      </p:sp>
      <p:sp>
        <p:nvSpPr>
          <p:cNvPr id="6" name="Shape 4"/>
          <p:cNvSpPr/>
          <p:nvPr/>
        </p:nvSpPr>
        <p:spPr>
          <a:xfrm>
            <a:off x="320040" y="621792"/>
            <a:ext cx="4114800" cy="32004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320040" y="621792"/>
            <a:ext cx="4114800" cy="256032"/>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57200" y="877824"/>
            <a:ext cx="3840480" cy="28529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Explorer routes map — three labeled routes: Columbus (blue), Magellan (orange), Ponce de León (green). Atlantic Ocean focus. Save as: source-3-02-06-explorer-routes-map.jpg</a:t>
            </a:r>
            <a:endParaRPr lang="en-US" sz="1100" dirty="0"/>
          </a:p>
        </p:txBody>
      </p:sp>
      <p:sp>
        <p:nvSpPr>
          <p:cNvPr id="9" name="Shape 7"/>
          <p:cNvSpPr/>
          <p:nvPr/>
        </p:nvSpPr>
        <p:spPr>
          <a:xfrm>
            <a:off x="4572000" y="621792"/>
            <a:ext cx="4251960" cy="960120"/>
          </a:xfrm>
          <a:prstGeom prst="roundRect">
            <a:avLst>
              <a:gd name="adj" fmla="val 9524"/>
            </a:avLst>
          </a:prstGeom>
          <a:solidFill>
            <a:srgbClr val="F0F2F8"/>
          </a:solidFill>
          <a:ln w="25400">
            <a:solidFill>
              <a:srgbClr val="3A60C8"/>
            </a:solidFill>
            <a:prstDash val="solid"/>
          </a:ln>
        </p:spPr>
      </p:sp>
      <p:sp>
        <p:nvSpPr>
          <p:cNvPr id="10" name="Text 8"/>
          <p:cNvSpPr/>
          <p:nvPr/>
        </p:nvSpPr>
        <p:spPr>
          <a:xfrm>
            <a:off x="4709160" y="685800"/>
            <a:ext cx="2286000" cy="274320"/>
          </a:xfrm>
          <a:prstGeom prst="rect">
            <a:avLst/>
          </a:prstGeom>
          <a:noFill/>
          <a:ln/>
        </p:spPr>
        <p:txBody>
          <a:bodyPr wrap="square" lIns="0" tIns="0" rIns="0" bIns="0" rtlCol="0" anchor="ctr"/>
          <a:lstStyle/>
          <a:p>
            <a:pPr indent="0" marL="0">
              <a:buNone/>
            </a:pPr>
            <a:r>
              <a:rPr lang="en-US" sz="1400" b="1" dirty="0">
                <a:solidFill>
                  <a:srgbClr val="3A60C8"/>
                </a:solidFill>
                <a:latin typeface="Cambria" pitchFamily="34" charset="0"/>
                <a:ea typeface="Cambria" pitchFamily="34" charset="-122"/>
                <a:cs typeface="Cambria" pitchFamily="34" charset="-120"/>
              </a:rPr>
              <a:t>Columbus</a:t>
            </a:r>
            <a:endParaRPr lang="en-US" sz="1400" dirty="0"/>
          </a:p>
        </p:txBody>
      </p:sp>
      <p:sp>
        <p:nvSpPr>
          <p:cNvPr id="11" name="Text 9"/>
          <p:cNvSpPr/>
          <p:nvPr/>
        </p:nvSpPr>
        <p:spPr>
          <a:xfrm>
            <a:off x="6766560" y="685800"/>
            <a:ext cx="1920240" cy="274320"/>
          </a:xfrm>
          <a:prstGeom prst="rect">
            <a:avLst/>
          </a:prstGeom>
          <a:noFill/>
          <a:ln/>
        </p:spPr>
        <p:txBody>
          <a:bodyPr wrap="square" lIns="0" tIns="0" rIns="0" bIns="0" rtlCol="0" anchor="ctr"/>
          <a:lstStyle/>
          <a:p>
            <a:pPr algn="r" indent="0" marL="0">
              <a:buNone/>
            </a:pPr>
            <a:r>
              <a:rPr lang="en-US" sz="1100" dirty="0">
                <a:solidFill>
                  <a:srgbClr val="7A88A8"/>
                </a:solidFill>
                <a:latin typeface="Calibri" pitchFamily="34" charset="0"/>
                <a:ea typeface="Calibri" pitchFamily="34" charset="-122"/>
                <a:cs typeface="Calibri" pitchFamily="34" charset="-120"/>
              </a:rPr>
              <a:t>1492</a:t>
            </a:r>
            <a:endParaRPr lang="en-US" sz="1100" dirty="0"/>
          </a:p>
        </p:txBody>
      </p:sp>
      <p:sp>
        <p:nvSpPr>
          <p:cNvPr id="12" name="Text 10"/>
          <p:cNvSpPr/>
          <p:nvPr/>
        </p:nvSpPr>
        <p:spPr>
          <a:xfrm>
            <a:off x="4709160" y="987552"/>
            <a:ext cx="3977640" cy="4572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Sailed west to the Caribbean</a:t>
            </a:r>
            <a:endParaRPr lang="en-US" sz="1300" dirty="0"/>
          </a:p>
        </p:txBody>
      </p:sp>
      <p:sp>
        <p:nvSpPr>
          <p:cNvPr id="13" name="Shape 11"/>
          <p:cNvSpPr/>
          <p:nvPr/>
        </p:nvSpPr>
        <p:spPr>
          <a:xfrm>
            <a:off x="4572000" y="1700784"/>
            <a:ext cx="4251960" cy="960120"/>
          </a:xfrm>
          <a:prstGeom prst="roundRect">
            <a:avLst>
              <a:gd name="adj" fmla="val 9524"/>
            </a:avLst>
          </a:prstGeom>
          <a:solidFill>
            <a:srgbClr val="F0F2F8"/>
          </a:solidFill>
          <a:ln w="25400">
            <a:solidFill>
              <a:srgbClr val="1A8A7D"/>
            </a:solidFill>
            <a:prstDash val="solid"/>
          </a:ln>
        </p:spPr>
      </p:sp>
      <p:sp>
        <p:nvSpPr>
          <p:cNvPr id="14" name="Text 12"/>
          <p:cNvSpPr/>
          <p:nvPr/>
        </p:nvSpPr>
        <p:spPr>
          <a:xfrm>
            <a:off x="4709160" y="1764792"/>
            <a:ext cx="2286000" cy="274320"/>
          </a:xfrm>
          <a:prstGeom prst="rect">
            <a:avLst/>
          </a:prstGeom>
          <a:noFill/>
          <a:ln/>
        </p:spPr>
        <p:txBody>
          <a:bodyPr wrap="square" lIns="0" tIns="0" rIns="0" bIns="0" rtlCol="0" anchor="ctr"/>
          <a:lstStyle/>
          <a:p>
            <a:pPr indent="0" marL="0">
              <a:buNone/>
            </a:pPr>
            <a:r>
              <a:rPr lang="en-US" sz="1400" b="1" dirty="0">
                <a:solidFill>
                  <a:srgbClr val="1A8A7D"/>
                </a:solidFill>
                <a:latin typeface="Cambria" pitchFamily="34" charset="0"/>
                <a:ea typeface="Cambria" pitchFamily="34" charset="-122"/>
                <a:cs typeface="Cambria" pitchFamily="34" charset="-120"/>
              </a:rPr>
              <a:t>Magellan's Crew</a:t>
            </a:r>
            <a:endParaRPr lang="en-US" sz="1400" dirty="0"/>
          </a:p>
        </p:txBody>
      </p:sp>
      <p:sp>
        <p:nvSpPr>
          <p:cNvPr id="15" name="Text 13"/>
          <p:cNvSpPr/>
          <p:nvPr/>
        </p:nvSpPr>
        <p:spPr>
          <a:xfrm>
            <a:off x="6766560" y="1764792"/>
            <a:ext cx="1920240" cy="274320"/>
          </a:xfrm>
          <a:prstGeom prst="rect">
            <a:avLst/>
          </a:prstGeom>
          <a:noFill/>
          <a:ln/>
        </p:spPr>
        <p:txBody>
          <a:bodyPr wrap="square" lIns="0" tIns="0" rIns="0" bIns="0" rtlCol="0" anchor="ctr"/>
          <a:lstStyle/>
          <a:p>
            <a:pPr algn="r" indent="0" marL="0">
              <a:buNone/>
            </a:pPr>
            <a:r>
              <a:rPr lang="en-US" sz="1100" dirty="0">
                <a:solidFill>
                  <a:srgbClr val="7A88A8"/>
                </a:solidFill>
                <a:latin typeface="Calibri" pitchFamily="34" charset="0"/>
                <a:ea typeface="Calibri" pitchFamily="34" charset="-122"/>
                <a:cs typeface="Calibri" pitchFamily="34" charset="-120"/>
              </a:rPr>
              <a:t>1519–1522</a:t>
            </a:r>
            <a:endParaRPr lang="en-US" sz="1100" dirty="0"/>
          </a:p>
        </p:txBody>
      </p:sp>
      <p:sp>
        <p:nvSpPr>
          <p:cNvPr id="16" name="Text 14"/>
          <p:cNvSpPr/>
          <p:nvPr/>
        </p:nvSpPr>
        <p:spPr>
          <a:xfrm>
            <a:off x="4709160" y="2066544"/>
            <a:ext cx="3977640" cy="4572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Circled the entire globe</a:t>
            </a:r>
            <a:endParaRPr lang="en-US" sz="1300" dirty="0"/>
          </a:p>
        </p:txBody>
      </p:sp>
      <p:sp>
        <p:nvSpPr>
          <p:cNvPr id="17" name="Shape 15"/>
          <p:cNvSpPr/>
          <p:nvPr/>
        </p:nvSpPr>
        <p:spPr>
          <a:xfrm>
            <a:off x="4572000" y="2779776"/>
            <a:ext cx="4251960" cy="960120"/>
          </a:xfrm>
          <a:prstGeom prst="roundRect">
            <a:avLst>
              <a:gd name="adj" fmla="val 9524"/>
            </a:avLst>
          </a:prstGeom>
          <a:solidFill>
            <a:srgbClr val="F0F2F8"/>
          </a:solidFill>
          <a:ln w="25400">
            <a:solidFill>
              <a:srgbClr val="8B6FC0"/>
            </a:solidFill>
            <a:prstDash val="solid"/>
          </a:ln>
        </p:spPr>
      </p:sp>
      <p:sp>
        <p:nvSpPr>
          <p:cNvPr id="18" name="Text 16"/>
          <p:cNvSpPr/>
          <p:nvPr/>
        </p:nvSpPr>
        <p:spPr>
          <a:xfrm>
            <a:off x="4709160" y="2843784"/>
            <a:ext cx="2286000" cy="274320"/>
          </a:xfrm>
          <a:prstGeom prst="rect">
            <a:avLst/>
          </a:prstGeom>
          <a:noFill/>
          <a:ln/>
        </p:spPr>
        <p:txBody>
          <a:bodyPr wrap="square" lIns="0" tIns="0" rIns="0" bIns="0" rtlCol="0" anchor="ctr"/>
          <a:lstStyle/>
          <a:p>
            <a:pPr indent="0" marL="0">
              <a:buNone/>
            </a:pPr>
            <a:r>
              <a:rPr lang="en-US" sz="1400" b="1" dirty="0">
                <a:solidFill>
                  <a:srgbClr val="8B6FC0"/>
                </a:solidFill>
                <a:latin typeface="Cambria" pitchFamily="34" charset="0"/>
                <a:ea typeface="Cambria" pitchFamily="34" charset="-122"/>
                <a:cs typeface="Cambria" pitchFamily="34" charset="-120"/>
              </a:rPr>
              <a:t>Ponce de León</a:t>
            </a:r>
            <a:endParaRPr lang="en-US" sz="1400" dirty="0"/>
          </a:p>
        </p:txBody>
      </p:sp>
      <p:sp>
        <p:nvSpPr>
          <p:cNvPr id="19" name="Text 17"/>
          <p:cNvSpPr/>
          <p:nvPr/>
        </p:nvSpPr>
        <p:spPr>
          <a:xfrm>
            <a:off x="6766560" y="2843784"/>
            <a:ext cx="1920240" cy="274320"/>
          </a:xfrm>
          <a:prstGeom prst="rect">
            <a:avLst/>
          </a:prstGeom>
          <a:noFill/>
          <a:ln/>
        </p:spPr>
        <p:txBody>
          <a:bodyPr wrap="square" lIns="0" tIns="0" rIns="0" bIns="0" rtlCol="0" anchor="ctr"/>
          <a:lstStyle/>
          <a:p>
            <a:pPr algn="r" indent="0" marL="0">
              <a:buNone/>
            </a:pPr>
            <a:r>
              <a:rPr lang="en-US" sz="1100" dirty="0">
                <a:solidFill>
                  <a:srgbClr val="7A88A8"/>
                </a:solidFill>
                <a:latin typeface="Calibri" pitchFamily="34" charset="0"/>
                <a:ea typeface="Calibri" pitchFamily="34" charset="-122"/>
                <a:cs typeface="Calibri" pitchFamily="34" charset="-120"/>
              </a:rPr>
              <a:t>1513</a:t>
            </a:r>
            <a:endParaRPr lang="en-US" sz="1100" dirty="0"/>
          </a:p>
        </p:txBody>
      </p:sp>
      <p:sp>
        <p:nvSpPr>
          <p:cNvPr id="20" name="Text 18"/>
          <p:cNvSpPr/>
          <p:nvPr/>
        </p:nvSpPr>
        <p:spPr>
          <a:xfrm>
            <a:off x="4709160" y="3145536"/>
            <a:ext cx="3977640" cy="457200"/>
          </a:xfrm>
          <a:prstGeom prst="rect">
            <a:avLst/>
          </a:prstGeom>
          <a:noFill/>
          <a:ln/>
        </p:spPr>
        <p:txBody>
          <a:bodyPr wrap="square" lIns="0" tIns="0" rIns="0" bIns="0" rtlCol="0" anchor="ctr"/>
          <a:lstStyle/>
          <a:p>
            <a:pPr indent="0" marL="0">
              <a:buNone/>
            </a:pPr>
            <a:r>
              <a:rPr lang="en-US" sz="1300" dirty="0">
                <a:solidFill>
                  <a:srgbClr val="0E1C42"/>
                </a:solidFill>
                <a:latin typeface="Calibri" pitchFamily="34" charset="0"/>
                <a:ea typeface="Calibri" pitchFamily="34" charset="-122"/>
                <a:cs typeface="Calibri" pitchFamily="34" charset="-120"/>
              </a:rPr>
              <a:t>Sailed north to Florida</a:t>
            </a:r>
            <a:endParaRPr lang="en-US" sz="1300" dirty="0"/>
          </a:p>
        </p:txBody>
      </p:sp>
      <p:sp>
        <p:nvSpPr>
          <p:cNvPr id="21" name="Shape 19"/>
          <p:cNvSpPr/>
          <p:nvPr/>
        </p:nvSpPr>
        <p:spPr>
          <a:xfrm>
            <a:off x="320040" y="3931920"/>
            <a:ext cx="8503920" cy="914400"/>
          </a:xfrm>
          <a:prstGeom prst="roundRect">
            <a:avLst>
              <a:gd name="adj" fmla="val 12000"/>
            </a:avLst>
          </a:prstGeom>
          <a:solidFill>
            <a:srgbClr val="FFF3DC"/>
          </a:solidFill>
          <a:ln w="19050">
            <a:solidFill>
              <a:srgbClr val="F5E6C8"/>
            </a:solidFill>
            <a:prstDash val="solid"/>
          </a:ln>
        </p:spPr>
      </p:sp>
      <p:sp>
        <p:nvSpPr>
          <p:cNvPr id="22" name="Text 20"/>
          <p:cNvSpPr/>
          <p:nvPr/>
        </p:nvSpPr>
        <p:spPr>
          <a:xfrm>
            <a:off x="457200" y="3986784"/>
            <a:ext cx="8229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3" name="Text 21"/>
          <p:cNvSpPr/>
          <p:nvPr/>
        </p:nvSpPr>
        <p:spPr>
          <a:xfrm>
            <a:off x="457200" y="4187952"/>
            <a:ext cx="822960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"Each route represents..."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"Columbus / Magellan / Ponce de León went to... because..."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636B"/>
          </a:solidFill>
          <a:ln w="12700">
            <a:solidFill>
              <a:srgbClr val="E8636B"/>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PANELS 4 &amp; 5 — DISCOVERIES AND CONSEQUENCES</a:t>
            </a:r>
            <a:endParaRPr lang="en-US" sz="1000" dirty="0"/>
          </a:p>
        </p:txBody>
      </p:sp>
      <p:sp>
        <p:nvSpPr>
          <p:cNvPr id="4" name="Shape 2"/>
          <p:cNvSpPr/>
          <p:nvPr/>
        </p:nvSpPr>
        <p:spPr>
          <a:xfrm>
            <a:off x="320040" y="502920"/>
            <a:ext cx="4023360" cy="3794760"/>
          </a:xfrm>
          <a:prstGeom prst="roundRect">
            <a:avLst>
              <a:gd name="adj" fmla="val 2892"/>
            </a:avLst>
          </a:prstGeom>
          <a:solidFill>
            <a:srgbClr val="E3F8ED"/>
          </a:solidFill>
          <a:ln w="25400">
            <a:solidFill>
              <a:srgbClr val="34B76F"/>
            </a:solidFill>
            <a:prstDash val="solid"/>
          </a:ln>
        </p:spPr>
      </p:sp>
      <p:sp>
        <p:nvSpPr>
          <p:cNvPr id="5" name="Text 3"/>
          <p:cNvSpPr/>
          <p:nvPr/>
        </p:nvSpPr>
        <p:spPr>
          <a:xfrm>
            <a:off x="457200" y="594360"/>
            <a:ext cx="3749040" cy="365760"/>
          </a:xfrm>
          <a:prstGeom prst="rect">
            <a:avLst/>
          </a:prstGeom>
          <a:noFill/>
          <a:ln/>
        </p:spPr>
        <p:txBody>
          <a:bodyPr wrap="square" lIns="0" tIns="0" rIns="0" bIns="0" rtlCol="0" anchor="ctr"/>
          <a:lstStyle/>
          <a:p>
            <a:pPr indent="0" marL="0">
              <a:buNone/>
            </a:pPr>
            <a:r>
              <a:rPr lang="en-US" sz="2000" b="1" dirty="0">
                <a:solidFill>
                  <a:srgbClr val="1A7A50"/>
                </a:solidFill>
                <a:latin typeface="Cambria" pitchFamily="34" charset="0"/>
                <a:ea typeface="Cambria" pitchFamily="34" charset="-122"/>
                <a:cs typeface="Cambria" pitchFamily="34" charset="-120"/>
              </a:rPr>
              <a:t>Discoveries</a:t>
            </a:r>
            <a:endParaRPr lang="en-US" sz="2000" dirty="0"/>
          </a:p>
        </p:txBody>
      </p:sp>
      <p:sp>
        <p:nvSpPr>
          <p:cNvPr id="6" name="Text 4"/>
          <p:cNvSpPr/>
          <p:nvPr/>
        </p:nvSpPr>
        <p:spPr>
          <a:xfrm>
            <a:off x="457200" y="1051560"/>
            <a:ext cx="3657600" cy="301752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0E1C42"/>
                </a:solidFill>
                <a:latin typeface="Calibri" pitchFamily="34" charset="0"/>
                <a:ea typeface="Calibri" pitchFamily="34" charset="-122"/>
                <a:cs typeface="Calibri" pitchFamily="34" charset="-120"/>
              </a:rPr>
              <a:t>New lands — Americas, islands, continents previously unknown to Europeans</a:t>
            </a:r>
            <a:endParaRPr lang="en-US" sz="1200" dirty="0"/>
          </a:p>
          <a:p>
            <a:pPr marL="342900" indent="-342900">
              <a:spcAft>
                <a:spcPts val="700"/>
              </a:spcAft>
              <a:buSzPct val="100000"/>
              <a:buChar char="•"/>
            </a:pPr>
            <a:r>
              <a:rPr lang="en-US" sz="1200" dirty="0">
                <a:solidFill>
                  <a:srgbClr val="0E1C42"/>
                </a:solidFill>
                <a:latin typeface="Calibri" pitchFamily="34" charset="0"/>
                <a:ea typeface="Calibri" pitchFamily="34" charset="-122"/>
                <a:cs typeface="Calibri" pitchFamily="34" charset="-120"/>
              </a:rPr>
              <a:t>New peoples — hundreds of different cultures and civilizations</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Columbian Exchange — foods, animals, plants moved in both directions across the Atlantic</a:t>
            </a:r>
            <a:endParaRPr lang="en-US" sz="1200" dirty="0"/>
          </a:p>
        </p:txBody>
      </p:sp>
      <p:sp>
        <p:nvSpPr>
          <p:cNvPr id="7" name="Shape 5"/>
          <p:cNvSpPr/>
          <p:nvPr/>
        </p:nvSpPr>
        <p:spPr>
          <a:xfrm>
            <a:off x="4800600" y="502920"/>
            <a:ext cx="4023360" cy="3794760"/>
          </a:xfrm>
          <a:prstGeom prst="roundRect">
            <a:avLst>
              <a:gd name="adj" fmla="val 2892"/>
            </a:avLst>
          </a:prstGeom>
          <a:solidFill>
            <a:srgbClr val="FDF0EF"/>
          </a:solidFill>
          <a:ln w="25400">
            <a:solidFill>
              <a:srgbClr val="E8636B"/>
            </a:solidFill>
            <a:prstDash val="solid"/>
          </a:ln>
        </p:spPr>
      </p:sp>
      <p:sp>
        <p:nvSpPr>
          <p:cNvPr id="8" name="Text 6"/>
          <p:cNvSpPr/>
          <p:nvPr/>
        </p:nvSpPr>
        <p:spPr>
          <a:xfrm>
            <a:off x="4937760" y="594360"/>
            <a:ext cx="3749040" cy="365760"/>
          </a:xfrm>
          <a:prstGeom prst="rect">
            <a:avLst/>
          </a:prstGeom>
          <a:noFill/>
          <a:ln/>
        </p:spPr>
        <p:txBody>
          <a:bodyPr wrap="square" lIns="0" tIns="0" rIns="0" bIns="0" rtlCol="0" anchor="ctr"/>
          <a:lstStyle/>
          <a:p>
            <a:pPr indent="0" marL="0">
              <a:buNone/>
            </a:pPr>
            <a:r>
              <a:rPr lang="en-US" sz="2000" b="1" dirty="0">
                <a:solidFill>
                  <a:srgbClr val="B03040"/>
                </a:solidFill>
                <a:latin typeface="Cambria" pitchFamily="34" charset="0"/>
                <a:ea typeface="Cambria" pitchFamily="34" charset="-122"/>
                <a:cs typeface="Cambria" pitchFamily="34" charset="-120"/>
              </a:rPr>
              <a:t>Consequences</a:t>
            </a:r>
            <a:endParaRPr lang="en-US" sz="2000" dirty="0"/>
          </a:p>
        </p:txBody>
      </p:sp>
      <p:sp>
        <p:nvSpPr>
          <p:cNvPr id="9" name="Text 7"/>
          <p:cNvSpPr/>
          <p:nvPr/>
        </p:nvSpPr>
        <p:spPr>
          <a:xfrm>
            <a:off x="4937760" y="1051560"/>
            <a:ext cx="37490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Disease — European illnesses killed many native people who had no immunity</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Lost land — explorers claimed land that already had people living on it</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Forced labor — many people were forced to work against their will</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A connected world — for the first time, all continents were linked by trade and travel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2700">
            <a:solidFill>
              <a:srgbClr val="3A5080"/>
            </a:solidFill>
            <a:prstDash val="dash"/>
          </a:ln>
        </p:spPr>
      </p:sp>
      <p:sp>
        <p:nvSpPr>
          <p:cNvPr id="3" name="Text 1"/>
          <p:cNvSpPr/>
          <p:nvPr/>
        </p:nvSpPr>
        <p:spPr>
          <a:xfrm>
            <a:off x="457200" y="228600"/>
            <a:ext cx="8229600" cy="27432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VIRTUE SPOTLIGHT</a:t>
            </a:r>
            <a:endParaRPr lang="en-US" sz="1000" dirty="0"/>
          </a:p>
        </p:txBody>
      </p:sp>
      <p:sp>
        <p:nvSpPr>
          <p:cNvPr id="4" name="Shape 2"/>
          <p:cNvSpPr/>
          <p:nvPr/>
        </p:nvSpPr>
        <p:spPr>
          <a:xfrm>
            <a:off x="457200" y="594360"/>
            <a:ext cx="8229600" cy="594360"/>
          </a:xfrm>
          <a:prstGeom prst="roundRect">
            <a:avLst>
              <a:gd name="adj" fmla="val 15385"/>
            </a:avLst>
          </a:prstGeom>
          <a:solidFill>
            <a:srgbClr val="D4943A"/>
          </a:solidFill>
          <a:ln/>
        </p:spPr>
      </p:sp>
      <p:sp>
        <p:nvSpPr>
          <p:cNvPr id="5" name="Text 3"/>
          <p:cNvSpPr/>
          <p:nvPr/>
        </p:nvSpPr>
        <p:spPr>
          <a:xfrm>
            <a:off x="457200" y="59436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mbria" pitchFamily="34" charset="0"/>
                <a:ea typeface="Cambria" pitchFamily="34" charset="-122"/>
                <a:cs typeface="Cambria" pitchFamily="34" charset="-120"/>
              </a:rPr>
              <a:t>Honesty</a:t>
            </a:r>
            <a:endParaRPr lang="en-US" sz="3200" dirty="0"/>
          </a:p>
        </p:txBody>
      </p:sp>
      <p:sp>
        <p:nvSpPr>
          <p:cNvPr id="6" name="Text 4"/>
          <p:cNvSpPr/>
          <p:nvPr/>
        </p:nvSpPr>
        <p:spPr>
          <a:xfrm>
            <a:off x="914400" y="1325880"/>
            <a:ext cx="7315200" cy="914400"/>
          </a:xfrm>
          <a:prstGeom prst="rect">
            <a:avLst/>
          </a:prstGeom>
          <a:noFill/>
          <a:ln/>
        </p:spPr>
        <p:txBody>
          <a:bodyPr wrap="square" lIns="0" tIns="0" rIns="0" bIns="0" rtlCol="0" anchor="ctr"/>
          <a:lstStyle/>
          <a:p>
            <a:pPr algn="ctr" indent="0" marL="0">
              <a:buNone/>
            </a:pPr>
            <a:r>
              <a:rPr lang="en-US" sz="2000" i="1" dirty="0">
                <a:solidFill>
                  <a:srgbClr val="FFFFFF"/>
                </a:solidFill>
                <a:latin typeface="Cambria" pitchFamily="34" charset="0"/>
                <a:ea typeface="Cambria" pitchFamily="34" charset="-122"/>
                <a:cs typeface="Cambria" pitchFamily="34" charset="-120"/>
              </a:rPr>
              <a:t>A Route Reader doesn't just memorize facts —</a:t>
            </a:r>
            <a:endParaRPr lang="en-US" sz="2000" dirty="0"/>
          </a:p>
          <a:p>
            <a:pPr algn="ctr" indent="0" marL="0">
              <a:buNone/>
            </a:pPr>
            <a:r>
              <a:rPr lang="en-US" sz="2000" i="1" dirty="0">
                <a:solidFill>
                  <a:srgbClr val="FFFFFF"/>
                </a:solidFill>
                <a:latin typeface="Cambria" pitchFamily="34" charset="0"/>
                <a:ea typeface="Cambria" pitchFamily="34" charset="-122"/>
                <a:cs typeface="Cambria" pitchFamily="34" charset="-120"/>
              </a:rPr>
              <a:t>they tell the truth about what happened,</a:t>
            </a:r>
            <a:endParaRPr lang="en-US" sz="2000" dirty="0"/>
          </a:p>
          <a:p>
            <a:pPr algn="ctr" indent="0" marL="0">
              <a:buNone/>
            </a:pPr>
            <a:r>
              <a:rPr lang="en-US" sz="2000" i="1" dirty="0">
                <a:solidFill>
                  <a:srgbClr val="FFFFFF"/>
                </a:solidFill>
                <a:latin typeface="Cambria" pitchFamily="34" charset="0"/>
                <a:ea typeface="Cambria" pitchFamily="34" charset="-122"/>
                <a:cs typeface="Cambria" pitchFamily="34" charset="-120"/>
              </a:rPr>
              <a:t>even the complicated parts.</a:t>
            </a:r>
            <a:endParaRPr lang="en-US" sz="2000" dirty="0"/>
          </a:p>
        </p:txBody>
      </p:sp>
      <p:sp>
        <p:nvSpPr>
          <p:cNvPr id="7" name="Text 5"/>
          <p:cNvSpPr/>
          <p:nvPr/>
        </p:nvSpPr>
        <p:spPr>
          <a:xfrm>
            <a:off x="914400" y="2286000"/>
            <a:ext cx="7315200" cy="411480"/>
          </a:xfrm>
          <a:prstGeom prst="rect">
            <a:avLst/>
          </a:prstGeom>
          <a:noFill/>
          <a:ln/>
        </p:spPr>
        <p:txBody>
          <a:bodyPr wrap="square" lIns="0" tIns="0" rIns="0" bIns="0" rtlCol="0" anchor="ctr"/>
          <a:lstStyle/>
          <a:p>
            <a:pPr algn="ctr" indent="0" marL="0">
              <a:buNone/>
            </a:pPr>
            <a:r>
              <a:rPr lang="en-US" sz="1700" dirty="0">
                <a:solidFill>
                  <a:srgbClr val="D4943A"/>
                </a:solidFill>
                <a:latin typeface="Cambria" pitchFamily="34" charset="0"/>
                <a:ea typeface="Cambria" pitchFamily="34" charset="-122"/>
                <a:cs typeface="Cambria" pitchFamily="34" charset="-120"/>
              </a:rPr>
              <a:t>That's what makes an exhibit people can trust.</a:t>
            </a:r>
            <a:endParaRPr lang="en-US" sz="1700" dirty="0"/>
          </a:p>
        </p:txBody>
      </p:sp>
      <p:sp>
        <p:nvSpPr>
          <p:cNvPr id="8" name="Shape 6"/>
          <p:cNvSpPr/>
          <p:nvPr/>
        </p:nvSpPr>
        <p:spPr>
          <a:xfrm>
            <a:off x="914400" y="2834640"/>
            <a:ext cx="731520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1097280" y="2926080"/>
            <a:ext cx="6949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1097280" y="3182112"/>
            <a:ext cx="694944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someone choose NOT to include consequences in their exhibit?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an exhibit trustworthy — facts, or honesty about facts?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something be true AND complicated at the same time?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943A"/>
          </a:solidFill>
          <a:ln w="12700">
            <a:solidFill>
              <a:srgbClr val="D4943A"/>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WHY DOES THE WING NEED ALL FIVE PANELS?</a:t>
            </a:r>
            <a:endParaRPr lang="en-US" sz="1000" dirty="0"/>
          </a:p>
        </p:txBody>
      </p:sp>
      <p:sp>
        <p:nvSpPr>
          <p:cNvPr id="4" name="Text 2"/>
          <p:cNvSpPr/>
          <p:nvPr/>
        </p:nvSpPr>
        <p:spPr>
          <a:xfrm>
            <a:off x="457200" y="512064"/>
            <a:ext cx="4846320" cy="347472"/>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Step back and look at what you've built.</a:t>
            </a:r>
            <a:endParaRPr lang="en-US" sz="1600" dirty="0"/>
          </a:p>
        </p:txBody>
      </p:sp>
      <p:sp>
        <p:nvSpPr>
          <p:cNvPr id="5" name="Text 3"/>
          <p:cNvSpPr/>
          <p:nvPr/>
        </p:nvSpPr>
        <p:spPr>
          <a:xfrm>
            <a:off x="457200" y="932688"/>
            <a:ext cx="4846320" cy="3200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Motives start the story — without them, we don't know why anyone left home.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Tools made it possible — without them, no ship reaches any destination.</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Routes show what actually happened — without them, the story floats in space.</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Discoveries explain what changed — without them, we can't see what was different.</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Consequences show who was affected — without them, the exhibit tells only half the truth.</a:t>
            </a:r>
            <a:endParaRPr lang="en-US" sz="1200" dirty="0"/>
          </a:p>
        </p:txBody>
      </p:sp>
      <p:sp>
        <p:nvSpPr>
          <p:cNvPr id="6" name="Shape 4"/>
          <p:cNvSpPr/>
          <p:nvPr/>
        </p:nvSpPr>
        <p:spPr>
          <a:xfrm>
            <a:off x="5486400" y="502920"/>
            <a:ext cx="3291840" cy="2468880"/>
          </a:xfrm>
          <a:prstGeom prst="roundRect">
            <a:avLst>
              <a:gd name="adj" fmla="val 4444"/>
            </a:avLst>
          </a:prstGeom>
          <a:solidFill>
            <a:srgbClr val="0E1C42"/>
          </a:solidFill>
          <a:ln/>
        </p:spPr>
      </p:sp>
      <p:sp>
        <p:nvSpPr>
          <p:cNvPr id="7" name="Text 5"/>
          <p:cNvSpPr/>
          <p:nvPr/>
        </p:nvSpPr>
        <p:spPr>
          <a:xfrm>
            <a:off x="5623560" y="594360"/>
            <a:ext cx="3017520" cy="32004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What honesty means for a curator:</a:t>
            </a:r>
            <a:endParaRPr lang="en-US" sz="1200" dirty="0"/>
          </a:p>
        </p:txBody>
      </p:sp>
      <p:sp>
        <p:nvSpPr>
          <p:cNvPr id="8" name="Text 6"/>
          <p:cNvSpPr/>
          <p:nvPr/>
        </p:nvSpPr>
        <p:spPr>
          <a:xfrm>
            <a:off x="5623560" y="960120"/>
            <a:ext cx="301752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Show the whole picture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Don't hide the hard parts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Let the evidence speak</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Trust your visitors to handle the truth</a:t>
            </a:r>
            <a:endParaRPr lang="en-US" sz="1200" dirty="0"/>
          </a:p>
        </p:txBody>
      </p:sp>
      <p:sp>
        <p:nvSpPr>
          <p:cNvPr id="9" name="Shape 7"/>
          <p:cNvSpPr/>
          <p:nvPr/>
        </p:nvSpPr>
        <p:spPr>
          <a:xfrm>
            <a:off x="5486400" y="3090672"/>
            <a:ext cx="3291840" cy="1463040"/>
          </a:xfrm>
          <a:prstGeom prst="roundRect">
            <a:avLst>
              <a:gd name="adj" fmla="val 7500"/>
            </a:avLst>
          </a:prstGeom>
          <a:solidFill>
            <a:srgbClr val="FFF3DC"/>
          </a:solidFill>
          <a:ln w="19050">
            <a:solidFill>
              <a:srgbClr val="F5E6C8"/>
            </a:solidFill>
            <a:prstDash val="solid"/>
          </a:ln>
        </p:spPr>
      </p:sp>
      <p:sp>
        <p:nvSpPr>
          <p:cNvPr id="10" name="Text 8"/>
          <p:cNvSpPr/>
          <p:nvPr/>
        </p:nvSpPr>
        <p:spPr>
          <a:xfrm>
            <a:off x="5623560" y="3145536"/>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1" name="Text 9"/>
          <p:cNvSpPr/>
          <p:nvPr/>
        </p:nvSpPr>
        <p:spPr>
          <a:xfrm>
            <a:off x="5623560" y="3346704"/>
            <a:ext cx="3017520" cy="1143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Exploration Wing needs all five panels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"Honesty matters here because..."</a:t>
            </a:r>
            <a:endParaRPr lang="en-US" sz="1200" dirty="0"/>
          </a:p>
        </p:txBody>
      </p:sp>
      <p:sp>
        <p:nvSpPr>
          <p:cNvPr id="12" name="Shape 10"/>
          <p:cNvSpPr/>
          <p:nvPr/>
        </p:nvSpPr>
        <p:spPr>
          <a:xfrm>
            <a:off x="457200" y="4160520"/>
            <a:ext cx="4846320" cy="475488"/>
          </a:xfrm>
          <a:prstGeom prst="roundRect">
            <a:avLst>
              <a:gd name="adj" fmla="val 19231"/>
            </a:avLst>
          </a:prstGeom>
          <a:solidFill>
            <a:srgbClr val="F0F2F8"/>
          </a:solidFill>
          <a:ln w="12700">
            <a:solidFill>
              <a:srgbClr val="C8D0E0"/>
            </a:solidFill>
            <a:prstDash val="solid"/>
          </a:ln>
        </p:spPr>
      </p:sp>
      <p:sp>
        <p:nvSpPr>
          <p:cNvPr id="13" name="Text 11"/>
          <p:cNvSpPr/>
          <p:nvPr/>
        </p:nvSpPr>
        <p:spPr>
          <a:xfrm>
            <a:off x="457200" y="4160520"/>
            <a:ext cx="4846320" cy="475488"/>
          </a:xfrm>
          <a:prstGeom prst="rect">
            <a:avLst/>
          </a:prstGeom>
          <a:noFill/>
          <a:ln/>
        </p:spPr>
        <p:txBody>
          <a:bodyPr wrap="square" lIns="0" tIns="0" rIns="0" bIns="0" rtlCol="0" anchor="ctr"/>
          <a:lstStyle/>
          <a:p>
            <a:pPr algn="ctr" indent="0" marL="0">
              <a:buNone/>
            </a:pPr>
            <a:r>
              <a:rPr lang="en-US" sz="1200" i="1" dirty="0">
                <a:solidFill>
                  <a:srgbClr val="1A8A7D"/>
                </a:solidFill>
                <a:latin typeface="Calibri" pitchFamily="34" charset="0"/>
                <a:ea typeface="Calibri" pitchFamily="34" charset="-122"/>
                <a:cs typeface="Calibri" pitchFamily="34" charset="-120"/>
              </a:rPr>
              <a:t>This is Assignment Question 3. Practice your answer now.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365760" y="256032"/>
            <a:ext cx="8412480" cy="640080"/>
          </a:xfrm>
          <a:prstGeom prst="roundRect">
            <a:avLst>
              <a:gd name="adj" fmla="val 17143"/>
            </a:avLst>
          </a:prstGeom>
          <a:solidFill>
            <a:srgbClr val="0E1C42"/>
          </a:solidFill>
          <a:ln/>
        </p:spPr>
      </p:sp>
      <p:sp>
        <p:nvSpPr>
          <p:cNvPr id="3" name="Text 1"/>
          <p:cNvSpPr/>
          <p:nvPr/>
        </p:nvSpPr>
        <p:spPr>
          <a:xfrm>
            <a:off x="365760" y="256032"/>
            <a:ext cx="8412480" cy="640080"/>
          </a:xfrm>
          <a:prstGeom prst="rect">
            <a:avLst/>
          </a:prstGeom>
          <a:noFill/>
          <a:ln/>
        </p:spPr>
        <p:txBody>
          <a:bodyPr wrap="square" lIns="0" tIns="0" rIns="0" bIns="0" rtlCol="0" anchor="ctr"/>
          <a:lstStyle/>
          <a:p>
            <a:pPr algn="ctr" indent="0" marL="0">
              <a:buNone/>
            </a:pPr>
            <a:r>
              <a:rPr lang="en-US" sz="2200" b="1" spc="200" kern="0" dirty="0">
                <a:solidFill>
                  <a:srgbClr val="D4943A"/>
                </a:solidFill>
                <a:latin typeface="Cambria" pitchFamily="34" charset="0"/>
                <a:ea typeface="Cambria" pitchFamily="34" charset="-122"/>
                <a:cs typeface="Cambria" pitchFamily="34" charset="-120"/>
              </a:rPr>
              <a:t>RETRIEVAL CHALLENGE</a:t>
            </a:r>
            <a:endParaRPr lang="en-US" sz="2200" dirty="0"/>
          </a:p>
        </p:txBody>
      </p:sp>
      <p:sp>
        <p:nvSpPr>
          <p:cNvPr id="4" name="Text 2"/>
          <p:cNvSpPr/>
          <p:nvPr/>
        </p:nvSpPr>
        <p:spPr>
          <a:xfrm>
            <a:off x="914400" y="1005840"/>
            <a:ext cx="7315200" cy="713232"/>
          </a:xfrm>
          <a:prstGeom prst="rect">
            <a:avLst/>
          </a:prstGeom>
          <a:noFill/>
          <a:ln/>
        </p:spPr>
        <p:txBody>
          <a:bodyPr wrap="square" lIns="0" tIns="0" rIns="0" bIns="0" rtlCol="0" anchor="ctr"/>
          <a:lstStyle/>
          <a:p>
            <a:pPr algn="ctr" indent="0" marL="0">
              <a:buNone/>
            </a:pPr>
            <a:r>
              <a:rPr lang="en-US" sz="2000" b="1" dirty="0">
                <a:solidFill>
                  <a:srgbClr val="0E1C42"/>
                </a:solidFill>
                <a:latin typeface="Cambria" pitchFamily="34" charset="0"/>
                <a:ea typeface="Cambria" pitchFamily="34" charset="-122"/>
                <a:cs typeface="Cambria" pitchFamily="34" charset="-120"/>
              </a:rPr>
              <a:t>Cover your screen (or close your eyes).</a:t>
            </a:r>
            <a:endParaRPr lang="en-US" sz="2000" dirty="0"/>
          </a:p>
          <a:p>
            <a:pPr algn="ctr" indent="0" marL="0">
              <a:buNone/>
            </a:pPr>
            <a:r>
              <a:rPr lang="en-US" sz="2000" b="1" dirty="0">
                <a:solidFill>
                  <a:srgbClr val="0E1C42"/>
                </a:solidFill>
                <a:latin typeface="Cambria" pitchFamily="34" charset="0"/>
                <a:ea typeface="Cambria" pitchFamily="34" charset="-122"/>
                <a:cs typeface="Cambria" pitchFamily="34" charset="-120"/>
              </a:rPr>
              <a:t>Name all five evidence categories from memory.</a:t>
            </a:r>
            <a:endParaRPr lang="en-US" sz="2000" dirty="0"/>
          </a:p>
        </p:txBody>
      </p:sp>
      <p:sp>
        <p:nvSpPr>
          <p:cNvPr id="5" name="Shape 3"/>
          <p:cNvSpPr/>
          <p:nvPr/>
        </p:nvSpPr>
        <p:spPr>
          <a:xfrm>
            <a:off x="457200" y="1847088"/>
            <a:ext cx="1463040" cy="640080"/>
          </a:xfrm>
          <a:prstGeom prst="roundRect">
            <a:avLst>
              <a:gd name="adj" fmla="val 14286"/>
            </a:avLst>
          </a:prstGeom>
          <a:solidFill>
            <a:srgbClr val="FFFFFF"/>
          </a:solidFill>
          <a:ln w="19050">
            <a:solidFill>
              <a:srgbClr val="C8D0E0"/>
            </a:solidFill>
            <a:prstDash val="dash"/>
          </a:ln>
        </p:spPr>
      </p:sp>
      <p:sp>
        <p:nvSpPr>
          <p:cNvPr id="6" name="Text 4"/>
          <p:cNvSpPr/>
          <p:nvPr/>
        </p:nvSpPr>
        <p:spPr>
          <a:xfrm>
            <a:off x="457200" y="1847088"/>
            <a:ext cx="411480" cy="64008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1.</a:t>
            </a:r>
            <a:endParaRPr lang="en-US" sz="1400" dirty="0"/>
          </a:p>
        </p:txBody>
      </p:sp>
      <p:sp>
        <p:nvSpPr>
          <p:cNvPr id="7" name="Shape 5"/>
          <p:cNvSpPr/>
          <p:nvPr/>
        </p:nvSpPr>
        <p:spPr>
          <a:xfrm>
            <a:off x="2139696" y="1847088"/>
            <a:ext cx="1463040" cy="640080"/>
          </a:xfrm>
          <a:prstGeom prst="roundRect">
            <a:avLst>
              <a:gd name="adj" fmla="val 14286"/>
            </a:avLst>
          </a:prstGeom>
          <a:solidFill>
            <a:srgbClr val="FFFFFF"/>
          </a:solidFill>
          <a:ln w="19050">
            <a:solidFill>
              <a:srgbClr val="C8D0E0"/>
            </a:solidFill>
            <a:prstDash val="dash"/>
          </a:ln>
        </p:spPr>
      </p:sp>
      <p:sp>
        <p:nvSpPr>
          <p:cNvPr id="8" name="Text 6"/>
          <p:cNvSpPr/>
          <p:nvPr/>
        </p:nvSpPr>
        <p:spPr>
          <a:xfrm>
            <a:off x="2139696" y="1847088"/>
            <a:ext cx="411480" cy="64008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2.</a:t>
            </a:r>
            <a:endParaRPr lang="en-US" sz="1400" dirty="0"/>
          </a:p>
        </p:txBody>
      </p:sp>
      <p:sp>
        <p:nvSpPr>
          <p:cNvPr id="9" name="Shape 7"/>
          <p:cNvSpPr/>
          <p:nvPr/>
        </p:nvSpPr>
        <p:spPr>
          <a:xfrm>
            <a:off x="3822192" y="1847088"/>
            <a:ext cx="1463040" cy="640080"/>
          </a:xfrm>
          <a:prstGeom prst="roundRect">
            <a:avLst>
              <a:gd name="adj" fmla="val 14286"/>
            </a:avLst>
          </a:prstGeom>
          <a:solidFill>
            <a:srgbClr val="FFFFFF"/>
          </a:solidFill>
          <a:ln w="19050">
            <a:solidFill>
              <a:srgbClr val="C8D0E0"/>
            </a:solidFill>
            <a:prstDash val="dash"/>
          </a:ln>
        </p:spPr>
      </p:sp>
      <p:sp>
        <p:nvSpPr>
          <p:cNvPr id="10" name="Text 8"/>
          <p:cNvSpPr/>
          <p:nvPr/>
        </p:nvSpPr>
        <p:spPr>
          <a:xfrm>
            <a:off x="3822192" y="1847088"/>
            <a:ext cx="411480" cy="64008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3.</a:t>
            </a:r>
            <a:endParaRPr lang="en-US" sz="1400" dirty="0"/>
          </a:p>
        </p:txBody>
      </p:sp>
      <p:sp>
        <p:nvSpPr>
          <p:cNvPr id="11" name="Shape 9"/>
          <p:cNvSpPr/>
          <p:nvPr/>
        </p:nvSpPr>
        <p:spPr>
          <a:xfrm>
            <a:off x="5504688" y="1847088"/>
            <a:ext cx="1463040" cy="640080"/>
          </a:xfrm>
          <a:prstGeom prst="roundRect">
            <a:avLst>
              <a:gd name="adj" fmla="val 14286"/>
            </a:avLst>
          </a:prstGeom>
          <a:solidFill>
            <a:srgbClr val="FFFFFF"/>
          </a:solidFill>
          <a:ln w="19050">
            <a:solidFill>
              <a:srgbClr val="C8D0E0"/>
            </a:solidFill>
            <a:prstDash val="dash"/>
          </a:ln>
        </p:spPr>
      </p:sp>
      <p:sp>
        <p:nvSpPr>
          <p:cNvPr id="12" name="Text 10"/>
          <p:cNvSpPr/>
          <p:nvPr/>
        </p:nvSpPr>
        <p:spPr>
          <a:xfrm>
            <a:off x="5504688" y="1847088"/>
            <a:ext cx="411480" cy="64008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4.</a:t>
            </a:r>
            <a:endParaRPr lang="en-US" sz="1400" dirty="0"/>
          </a:p>
        </p:txBody>
      </p:sp>
      <p:sp>
        <p:nvSpPr>
          <p:cNvPr id="13" name="Shape 11"/>
          <p:cNvSpPr/>
          <p:nvPr/>
        </p:nvSpPr>
        <p:spPr>
          <a:xfrm>
            <a:off x="7187184" y="1847088"/>
            <a:ext cx="1463040" cy="640080"/>
          </a:xfrm>
          <a:prstGeom prst="roundRect">
            <a:avLst>
              <a:gd name="adj" fmla="val 14286"/>
            </a:avLst>
          </a:prstGeom>
          <a:solidFill>
            <a:srgbClr val="FFFFFF"/>
          </a:solidFill>
          <a:ln w="19050">
            <a:solidFill>
              <a:srgbClr val="C8D0E0"/>
            </a:solidFill>
            <a:prstDash val="dash"/>
          </a:ln>
        </p:spPr>
      </p:sp>
      <p:sp>
        <p:nvSpPr>
          <p:cNvPr id="14" name="Text 12"/>
          <p:cNvSpPr/>
          <p:nvPr/>
        </p:nvSpPr>
        <p:spPr>
          <a:xfrm>
            <a:off x="7187184" y="1847088"/>
            <a:ext cx="411480" cy="640080"/>
          </a:xfrm>
          <a:prstGeom prst="rect">
            <a:avLst/>
          </a:prstGeom>
          <a:noFill/>
          <a:ln/>
        </p:spPr>
        <p:txBody>
          <a:bodyPr wrap="square" lIns="0" tIns="0" rIns="0" bIns="0" rtlCol="0" anchor="ctr"/>
          <a:lstStyle/>
          <a:p>
            <a:pPr indent="0" marL="0">
              <a:buNone/>
            </a:pPr>
            <a:r>
              <a:rPr lang="en-US" sz="1400" b="1" dirty="0">
                <a:solidFill>
                  <a:srgbClr val="7A88A8"/>
                </a:solidFill>
                <a:latin typeface="Calibri" pitchFamily="34" charset="0"/>
                <a:ea typeface="Calibri" pitchFamily="34" charset="-122"/>
                <a:cs typeface="Calibri" pitchFamily="34" charset="-120"/>
              </a:rPr>
              <a:t>5.</a:t>
            </a:r>
            <a:endParaRPr lang="en-US" sz="1400" dirty="0"/>
          </a:p>
        </p:txBody>
      </p:sp>
      <p:sp>
        <p:nvSpPr>
          <p:cNvPr id="15" name="Shape 13"/>
          <p:cNvSpPr/>
          <p:nvPr/>
        </p:nvSpPr>
        <p:spPr>
          <a:xfrm>
            <a:off x="457200" y="2624328"/>
            <a:ext cx="8229600" cy="713232"/>
          </a:xfrm>
          <a:prstGeom prst="roundRect">
            <a:avLst>
              <a:gd name="adj" fmla="val 12821"/>
            </a:avLst>
          </a:prstGeom>
          <a:solidFill>
            <a:srgbClr val="0E1C42"/>
          </a:solidFill>
          <a:ln/>
        </p:spPr>
      </p:sp>
      <p:sp>
        <p:nvSpPr>
          <p:cNvPr id="16" name="Text 14"/>
          <p:cNvSpPr/>
          <p:nvPr/>
        </p:nvSpPr>
        <p:spPr>
          <a:xfrm>
            <a:off x="457200" y="2624328"/>
            <a:ext cx="8229600" cy="713232"/>
          </a:xfrm>
          <a:prstGeom prst="rect">
            <a:avLst/>
          </a:prstGeom>
          <a:noFill/>
          <a:ln/>
        </p:spPr>
        <p:txBody>
          <a:bodyPr wrap="square" lIns="0" tIns="0" rIns="0" bIns="0" rtlCol="0" anchor="ctr"/>
          <a:lstStyle/>
          <a:p>
            <a:pPr algn="ctr" indent="0" marL="0">
              <a:buNone/>
            </a:pPr>
            <a:r>
              <a:rPr lang="en-US" sz="1600" b="1" spc="100" kern="0" dirty="0">
                <a:solidFill>
                  <a:srgbClr val="D4943A"/>
                </a:solidFill>
                <a:latin typeface="Cambria" pitchFamily="34" charset="0"/>
                <a:ea typeface="Cambria" pitchFamily="34" charset="-122"/>
                <a:cs typeface="Cambria" pitchFamily="34" charset="-120"/>
              </a:rPr>
              <a:t>REVEAL: Motives  ·  Tools  ·  Routes  ·  Discoveries  ·  Consequences</a:t>
            </a:r>
            <a:endParaRPr lang="en-US" sz="1600" dirty="0"/>
          </a:p>
        </p:txBody>
      </p:sp>
      <p:sp>
        <p:nvSpPr>
          <p:cNvPr id="17" name="Shape 15"/>
          <p:cNvSpPr/>
          <p:nvPr/>
        </p:nvSpPr>
        <p:spPr>
          <a:xfrm>
            <a:off x="457200" y="3474720"/>
            <a:ext cx="8229600" cy="1097280"/>
          </a:xfrm>
          <a:prstGeom prst="roundRect">
            <a:avLst>
              <a:gd name="adj" fmla="val 10000"/>
            </a:avLst>
          </a:prstGeom>
          <a:solidFill>
            <a:srgbClr val="1A2D5A"/>
          </a:solidFill>
          <a:ln/>
        </p:spPr>
      </p:sp>
      <p:sp>
        <p:nvSpPr>
          <p:cNvPr id="18" name="Text 16"/>
          <p:cNvSpPr/>
          <p:nvPr/>
        </p:nvSpPr>
        <p:spPr>
          <a:xfrm>
            <a:off x="640080" y="3547872"/>
            <a:ext cx="7863840" cy="347472"/>
          </a:xfrm>
          <a:prstGeom prst="rect">
            <a:avLst/>
          </a:prstGeom>
          <a:noFill/>
          <a:ln/>
        </p:spPr>
        <p:txBody>
          <a:bodyPr wrap="square" lIns="0" tIns="0" rIns="0" bIns="0" rtlCol="0" anchor="ctr"/>
          <a:lstStyle/>
          <a:p>
            <a:pPr algn="ctr" indent="0" marL="0">
              <a:buNone/>
            </a:pPr>
            <a:r>
              <a:rPr lang="en-US" sz="1400" b="1" dirty="0">
                <a:solidFill>
                  <a:srgbClr val="55C8E8"/>
                </a:solidFill>
                <a:latin typeface="Cambria" pitchFamily="34" charset="0"/>
                <a:ea typeface="Cambria" pitchFamily="34" charset="-122"/>
                <a:cs typeface="Cambria" pitchFamily="34" charset="-120"/>
              </a:rPr>
              <a:t>BONUS: For each category — name ONE piece of evidence that belongs there.</a:t>
            </a:r>
            <a:endParaRPr lang="en-US" sz="1400" dirty="0"/>
          </a:p>
        </p:txBody>
      </p:sp>
      <p:sp>
        <p:nvSpPr>
          <p:cNvPr id="19" name="Text 17"/>
          <p:cNvSpPr/>
          <p:nvPr/>
        </p:nvSpPr>
        <p:spPr>
          <a:xfrm>
            <a:off x="640080" y="3913632"/>
            <a:ext cx="7863840" cy="54864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motives: curiosity / trade / land / religion    tools: compass / astrolabe / portolan chart / caravel    routes: Columbus / Magellan / Ponce de León    discoveries: new lands / Columbian Exchange    consequences: disease / lost land / forced labor</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1: TEACHER MODEL</a:t>
            </a:r>
            <a:endParaRPr lang="en-US" sz="1000" dirty="0"/>
          </a:p>
        </p:txBody>
      </p:sp>
      <p:sp>
        <p:nvSpPr>
          <p:cNvPr id="4" name="Text 2"/>
          <p:cNvSpPr/>
          <p:nvPr/>
        </p:nvSpPr>
        <p:spPr>
          <a:xfrm>
            <a:off x="457200" y="502920"/>
            <a:ext cx="8229600" cy="36576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a Route Curator sorts evidence.</a:t>
            </a:r>
            <a:endParaRPr lang="en-US" sz="2000" dirty="0"/>
          </a:p>
        </p:txBody>
      </p:sp>
      <p:sp>
        <p:nvSpPr>
          <p:cNvPr id="5" name="Shape 3"/>
          <p:cNvSpPr/>
          <p:nvPr/>
        </p:nvSpPr>
        <p:spPr>
          <a:xfrm>
            <a:off x="457200" y="960120"/>
            <a:ext cx="8229600" cy="685800"/>
          </a:xfrm>
          <a:prstGeom prst="roundRect">
            <a:avLst>
              <a:gd name="adj" fmla="val 13333"/>
            </a:avLst>
          </a:prstGeom>
          <a:solidFill>
            <a:srgbClr val="FFF3DC"/>
          </a:solidFill>
          <a:ln w="25400">
            <a:solidFill>
              <a:srgbClr val="D4943A"/>
            </a:solidFill>
            <a:prstDash val="solid"/>
          </a:ln>
        </p:spPr>
      </p:sp>
      <p:sp>
        <p:nvSpPr>
          <p:cNvPr id="6" name="Text 4"/>
          <p:cNvSpPr/>
          <p:nvPr/>
        </p:nvSpPr>
        <p:spPr>
          <a:xfrm>
            <a:off x="640080" y="960120"/>
            <a:ext cx="7863840" cy="685800"/>
          </a:xfrm>
          <a:prstGeom prst="rect">
            <a:avLst/>
          </a:prstGeom>
          <a:noFill/>
          <a:ln/>
        </p:spPr>
        <p:txBody>
          <a:bodyPr wrap="square" lIns="0" tIns="0" rIns="0" bIns="0" rtlCol="0" anchor="ctr"/>
          <a:lstStyle/>
          <a:p>
            <a:pPr algn="ctr" indent="0" marL="0">
              <a:buNone/>
            </a:pPr>
            <a:r>
              <a:rPr lang="en-US" sz="1500" b="1" i="1" dirty="0">
                <a:solidFill>
                  <a:srgbClr val="5A4A3A"/>
                </a:solidFill>
                <a:latin typeface="Cambria" pitchFamily="34" charset="0"/>
                <a:ea typeface="Cambria" pitchFamily="34" charset="-122"/>
                <a:cs typeface="Cambria" pitchFamily="34" charset="-120"/>
              </a:rPr>
              <a:t>FACT CARD:  "Explorers wanted to find faster trade routes to get spices and gold from Asia."</a:t>
            </a:r>
            <a:endParaRPr lang="en-US" sz="1500" dirty="0"/>
          </a:p>
        </p:txBody>
      </p:sp>
      <p:sp>
        <p:nvSpPr>
          <p:cNvPr id="7" name="Shape 5"/>
          <p:cNvSpPr/>
          <p:nvPr/>
        </p:nvSpPr>
        <p:spPr>
          <a:xfrm>
            <a:off x="457200" y="1764792"/>
            <a:ext cx="5212080" cy="1847088"/>
          </a:xfrm>
          <a:prstGeom prst="roundRect">
            <a:avLst>
              <a:gd name="adj" fmla="val 5941"/>
            </a:avLst>
          </a:prstGeom>
          <a:solidFill>
            <a:srgbClr val="F0F2F8"/>
          </a:solidFill>
          <a:ln w="12700">
            <a:solidFill>
              <a:srgbClr val="C8D0E0"/>
            </a:solidFill>
            <a:prstDash val="solid"/>
          </a:ln>
        </p:spPr>
      </p:sp>
      <p:sp>
        <p:nvSpPr>
          <p:cNvPr id="8" name="Text 6"/>
          <p:cNvSpPr/>
          <p:nvPr/>
        </p:nvSpPr>
        <p:spPr>
          <a:xfrm>
            <a:off x="594360" y="1837944"/>
            <a:ext cx="493776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TEACHER THINK-ALOUD SCRIPT</a:t>
            </a:r>
            <a:endParaRPr lang="en-US" sz="900" dirty="0"/>
          </a:p>
        </p:txBody>
      </p:sp>
      <p:sp>
        <p:nvSpPr>
          <p:cNvPr id="9" name="Text 7"/>
          <p:cNvSpPr/>
          <p:nvPr/>
        </p:nvSpPr>
        <p:spPr>
          <a:xfrm>
            <a:off x="594360" y="2112264"/>
            <a:ext cx="4937760" cy="14356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0E1C42"/>
                </a:solidFill>
                <a:latin typeface="Calibri" pitchFamily="34" charset="0"/>
                <a:ea typeface="Calibri" pitchFamily="34" charset="-122"/>
                <a:cs typeface="Calibri" pitchFamily="34" charset="-120"/>
              </a:rPr>
              <a:t>"First I ask: Is this a REASON for exploring — or a tool, or something that happened after?"</a:t>
            </a:r>
            <a:endParaRPr lang="en-US" sz="1100" dirty="0"/>
          </a:p>
          <a:p>
            <a:pPr marL="342900" indent="-342900">
              <a:spcAft>
                <a:spcPts val="400"/>
              </a:spcAft>
              <a:buSzPct val="100000"/>
              <a:buChar char="•"/>
            </a:pPr>
            <a:r>
              <a:rPr lang="en-US" sz="1100" i="1" dirty="0">
                <a:solidFill>
                  <a:srgbClr val="0E1C42"/>
                </a:solidFill>
                <a:latin typeface="Calibri" pitchFamily="34" charset="0"/>
                <a:ea typeface="Calibri" pitchFamily="34" charset="-122"/>
                <a:cs typeface="Calibri" pitchFamily="34" charset="-120"/>
              </a:rPr>
              <a:t>"Wanting faster trade routes — that's a desire, a goal. That sounds like a motive."</a:t>
            </a:r>
            <a:endParaRPr lang="en-US" sz="1100" dirty="0"/>
          </a:p>
          <a:p>
            <a:pPr marL="342900" indent="-342900">
              <a:spcAft>
                <a:spcPts val="400"/>
              </a:spcAft>
              <a:buSzPct val="100000"/>
              <a:buChar char="•"/>
            </a:pPr>
            <a:r>
              <a:rPr lang="en-US" sz="1100" i="1" dirty="0">
                <a:solidFill>
                  <a:srgbClr val="0E1C42"/>
                </a:solidFill>
                <a:latin typeface="Calibri" pitchFamily="34" charset="0"/>
                <a:ea typeface="Calibri" pitchFamily="34" charset="-122"/>
                <a:cs typeface="Calibri" pitchFamily="34" charset="-120"/>
              </a:rPr>
              <a:t>"I check: motives = reasons people explored. Spices and gold = a reason."</a:t>
            </a:r>
            <a:endParaRPr lang="en-US" sz="1100" dirty="0"/>
          </a:p>
          <a:p>
            <a:pPr marL="342900" indent="-342900">
              <a:buSzPct val="100000"/>
              <a:buChar char="•"/>
            </a:pPr>
            <a:r>
              <a:rPr lang="en-US" sz="1100" i="1" dirty="0">
                <a:solidFill>
                  <a:srgbClr val="0E1C42"/>
                </a:solidFill>
                <a:latin typeface="Calibri" pitchFamily="34" charset="0"/>
                <a:ea typeface="Calibri" pitchFamily="34" charset="-122"/>
                <a:cs typeface="Calibri" pitchFamily="34" charset="-120"/>
              </a:rPr>
              <a:t>"My answer: MOTIVES — because it's a reason explorers wanted to make the voyage."</a:t>
            </a:r>
            <a:endParaRPr lang="en-US" sz="1100" dirty="0"/>
          </a:p>
        </p:txBody>
      </p:sp>
      <p:sp>
        <p:nvSpPr>
          <p:cNvPr id="10" name="Shape 8"/>
          <p:cNvSpPr/>
          <p:nvPr/>
        </p:nvSpPr>
        <p:spPr>
          <a:xfrm>
            <a:off x="5852160" y="1764792"/>
            <a:ext cx="2834640" cy="1005840"/>
          </a:xfrm>
          <a:prstGeom prst="roundRect">
            <a:avLst>
              <a:gd name="adj" fmla="val 10909"/>
            </a:avLst>
          </a:prstGeom>
          <a:solidFill>
            <a:srgbClr val="E3F8ED"/>
          </a:solidFill>
          <a:ln w="25400">
            <a:solidFill>
              <a:srgbClr val="34B76F"/>
            </a:solidFill>
            <a:prstDash val="solid"/>
          </a:ln>
        </p:spPr>
      </p:sp>
      <p:sp>
        <p:nvSpPr>
          <p:cNvPr id="11" name="Text 9"/>
          <p:cNvSpPr/>
          <p:nvPr/>
        </p:nvSpPr>
        <p:spPr>
          <a:xfrm>
            <a:off x="5852160" y="1828800"/>
            <a:ext cx="2834640" cy="256032"/>
          </a:xfrm>
          <a:prstGeom prst="rect">
            <a:avLst/>
          </a:prstGeom>
          <a:noFill/>
          <a:ln/>
        </p:spPr>
        <p:txBody>
          <a:bodyPr wrap="square" lIns="0" tIns="0" rIns="0" bIns="0" rtlCol="0" anchor="ctr"/>
          <a:lstStyle/>
          <a:p>
            <a:pPr algn="ctr" indent="0" marL="0">
              <a:buNone/>
            </a:pPr>
            <a:r>
              <a:rPr lang="en-US" sz="900" b="1" spc="150" kern="0" dirty="0">
                <a:solidFill>
                  <a:srgbClr val="2A9060"/>
                </a:solidFill>
                <a:latin typeface="Calibri" pitchFamily="34" charset="0"/>
                <a:ea typeface="Calibri" pitchFamily="34" charset="-122"/>
                <a:cs typeface="Calibri" pitchFamily="34" charset="-120"/>
              </a:rPr>
              <a:t>ANSWER</a:t>
            </a:r>
            <a:endParaRPr lang="en-US" sz="900" dirty="0"/>
          </a:p>
        </p:txBody>
      </p:sp>
      <p:sp>
        <p:nvSpPr>
          <p:cNvPr id="12" name="Text 10"/>
          <p:cNvSpPr/>
          <p:nvPr/>
        </p:nvSpPr>
        <p:spPr>
          <a:xfrm>
            <a:off x="5989320" y="2103120"/>
            <a:ext cx="2560320" cy="566928"/>
          </a:xfrm>
          <a:prstGeom prst="rect">
            <a:avLst/>
          </a:prstGeom>
          <a:noFill/>
          <a:ln/>
        </p:spPr>
        <p:txBody>
          <a:bodyPr wrap="square" lIns="0" tIns="0" rIns="0" bIns="0" rtlCol="0" anchor="ctr"/>
          <a:lstStyle/>
          <a:p>
            <a:pPr algn="ctr" indent="0" marL="0">
              <a:buNone/>
            </a:pPr>
            <a:r>
              <a:rPr lang="en-US" sz="1200" dirty="0">
                <a:solidFill>
                  <a:srgbClr val="0E1C42"/>
                </a:solidFill>
                <a:latin typeface="Calibri" pitchFamily="34" charset="0"/>
                <a:ea typeface="Calibri" pitchFamily="34" charset="-122"/>
                <a:cs typeface="Calibri" pitchFamily="34" charset="-120"/>
              </a:rPr>
              <a:t>Category: MOTIVES</a:t>
            </a:r>
            <a:endParaRPr lang="en-US" sz="1200" dirty="0"/>
          </a:p>
          <a:p>
            <a:pPr algn="ctr" indent="0" marL="0">
              <a:buNone/>
            </a:pPr>
            <a:r>
              <a:rPr lang="en-US" sz="1200" dirty="0">
                <a:solidFill>
                  <a:srgbClr val="0E1C42"/>
                </a:solidFill>
                <a:latin typeface="Calibri" pitchFamily="34" charset="0"/>
                <a:ea typeface="Calibri" pitchFamily="34" charset="-122"/>
                <a:cs typeface="Calibri" pitchFamily="34" charset="-120"/>
              </a:rPr>
              <a:t>It describes why explorers wanted to make the voyage.</a:t>
            </a:r>
            <a:endParaRPr lang="en-US" sz="1200" dirty="0"/>
          </a:p>
        </p:txBody>
      </p:sp>
      <p:sp>
        <p:nvSpPr>
          <p:cNvPr id="13" name="Shape 11"/>
          <p:cNvSpPr/>
          <p:nvPr/>
        </p:nvSpPr>
        <p:spPr>
          <a:xfrm>
            <a:off x="5852160" y="2880360"/>
            <a:ext cx="2834640" cy="1645920"/>
          </a:xfrm>
          <a:prstGeom prst="roundRect">
            <a:avLst>
              <a:gd name="adj" fmla="val 6667"/>
            </a:avLst>
          </a:prstGeom>
          <a:solidFill>
            <a:srgbClr val="FFF3DC"/>
          </a:solidFill>
          <a:ln w="19050">
            <a:solidFill>
              <a:srgbClr val="F5E6C8"/>
            </a:solidFill>
            <a:prstDash val="solid"/>
          </a:ln>
        </p:spPr>
      </p:sp>
      <p:sp>
        <p:nvSpPr>
          <p:cNvPr id="14" name="Text 12"/>
          <p:cNvSpPr/>
          <p:nvPr/>
        </p:nvSpPr>
        <p:spPr>
          <a:xfrm>
            <a:off x="5989320" y="2935224"/>
            <a:ext cx="25603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989320" y="3136392"/>
            <a:ext cx="2560320" cy="13258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sort this into...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clue that told me the category was..."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2: WE TRY TOGETHER</a:t>
            </a:r>
            <a:endParaRPr lang="en-US" sz="1000" dirty="0"/>
          </a:p>
        </p:txBody>
      </p:sp>
      <p:sp>
        <p:nvSpPr>
          <p:cNvPr id="4" name="Shape 2"/>
          <p:cNvSpPr/>
          <p:nvPr/>
        </p:nvSpPr>
        <p:spPr>
          <a:xfrm>
            <a:off x="365760" y="512064"/>
            <a:ext cx="4023360" cy="4114800"/>
          </a:xfrm>
          <a:prstGeom prst="roundRect">
            <a:avLst>
              <a:gd name="adj" fmla="val 3409"/>
            </a:avLst>
          </a:prstGeom>
          <a:solidFill>
            <a:srgbClr val="F0F2F8"/>
          </a:solidFill>
          <a:ln w="12700">
            <a:solidFill>
              <a:srgbClr val="C8D0E0"/>
            </a:solidFill>
            <a:prstDash val="solid"/>
          </a:ln>
        </p:spPr>
      </p:sp>
      <p:sp>
        <p:nvSpPr>
          <p:cNvPr id="5" name="Text 3"/>
          <p:cNvSpPr/>
          <p:nvPr/>
        </p:nvSpPr>
        <p:spPr>
          <a:xfrm>
            <a:off x="548640" y="594360"/>
            <a:ext cx="3657600" cy="256032"/>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FACT CARD</a:t>
            </a:r>
            <a:endParaRPr lang="en-US" sz="900" dirty="0"/>
          </a:p>
        </p:txBody>
      </p:sp>
      <p:sp>
        <p:nvSpPr>
          <p:cNvPr id="6" name="Text 4"/>
          <p:cNvSpPr/>
          <p:nvPr/>
        </p:nvSpPr>
        <p:spPr>
          <a:xfrm>
            <a:off x="502920" y="914400"/>
            <a:ext cx="3749040" cy="914400"/>
          </a:xfrm>
          <a:prstGeom prst="rect">
            <a:avLst/>
          </a:prstGeom>
          <a:noFill/>
          <a:ln/>
        </p:spPr>
        <p:txBody>
          <a:bodyPr wrap="square" lIns="0" tIns="0" rIns="0" bIns="0" rtlCol="0" anchor="ctr"/>
          <a:lstStyle/>
          <a:p>
            <a:pPr algn="ctr" indent="0" marL="0">
              <a:buNone/>
            </a:pPr>
            <a:r>
              <a:rPr lang="en-US" sz="1400" i="1" dirty="0">
                <a:solidFill>
                  <a:srgbClr val="0E1C42"/>
                </a:solidFill>
                <a:latin typeface="Cambria" pitchFamily="34" charset="0"/>
                <a:ea typeface="Cambria" pitchFamily="34" charset="-122"/>
                <a:cs typeface="Cambria" pitchFamily="34" charset="-120"/>
              </a:rPr>
              <a:t>"The Columbian Exchange moved foods, animals, and plants across the Atlantic Ocean in both directions."</a:t>
            </a:r>
            <a:endParaRPr lang="en-US" sz="1400" dirty="0"/>
          </a:p>
        </p:txBody>
      </p:sp>
      <p:sp>
        <p:nvSpPr>
          <p:cNvPr id="7" name="Text 5"/>
          <p:cNvSpPr/>
          <p:nvPr/>
        </p:nvSpPr>
        <p:spPr>
          <a:xfrm>
            <a:off x="548640" y="1901952"/>
            <a:ext cx="365760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Sorting questions to guide us:</a:t>
            </a:r>
            <a:endParaRPr lang="en-US" sz="1100" dirty="0"/>
          </a:p>
        </p:txBody>
      </p:sp>
      <p:sp>
        <p:nvSpPr>
          <p:cNvPr id="8" name="Text 6"/>
          <p:cNvSpPr/>
          <p:nvPr/>
        </p:nvSpPr>
        <p:spPr>
          <a:xfrm>
            <a:off x="548640" y="219456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Is this a REASON people explored — or a result?</a:t>
            </a:r>
            <a:endParaRPr lang="en-US" sz="1200" dirty="0"/>
          </a:p>
          <a:p>
            <a:pPr marL="342900" indent="-342900">
              <a:spcAft>
                <a:spcPts val="600"/>
              </a:spcAft>
              <a:buSzPct val="100000"/>
              <a:buChar char="•"/>
            </a:pPr>
            <a:r>
              <a:rPr lang="en-US" sz="1200" dirty="0">
                <a:solidFill>
                  <a:srgbClr val="0E1C42"/>
                </a:solidFill>
                <a:latin typeface="Calibri" pitchFamily="34" charset="0"/>
                <a:ea typeface="Calibri" pitchFamily="34" charset="-122"/>
                <a:cs typeface="Calibri" pitchFamily="34" charset="-120"/>
              </a:rPr>
              <a:t>Did this happen BEFORE, DURING, or AFTER the voyages?</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Does this describe something that CHANGED because of exploration?</a:t>
            </a:r>
            <a:endParaRPr lang="en-US" sz="1200" dirty="0"/>
          </a:p>
        </p:txBody>
      </p:sp>
      <p:sp>
        <p:nvSpPr>
          <p:cNvPr id="9" name="Shape 7"/>
          <p:cNvSpPr/>
          <p:nvPr/>
        </p:nvSpPr>
        <p:spPr>
          <a:xfrm>
            <a:off x="4572000" y="512064"/>
            <a:ext cx="4206240" cy="1828800"/>
          </a:xfrm>
          <a:prstGeom prst="roundRect">
            <a:avLst>
              <a:gd name="adj" fmla="val 6000"/>
            </a:avLst>
          </a:prstGeom>
          <a:solidFill>
            <a:srgbClr val="1A2D5A"/>
          </a:solidFill>
          <a:ln/>
        </p:spPr>
      </p:sp>
      <p:sp>
        <p:nvSpPr>
          <p:cNvPr id="10" name="Text 8"/>
          <p:cNvSpPr/>
          <p:nvPr/>
        </p:nvSpPr>
        <p:spPr>
          <a:xfrm>
            <a:off x="4709160" y="621792"/>
            <a:ext cx="3931920" cy="274320"/>
          </a:xfrm>
          <a:prstGeom prst="rect">
            <a:avLst/>
          </a:prstGeom>
          <a:noFill/>
          <a:ln/>
        </p:spPr>
        <p:txBody>
          <a:bodyPr wrap="square" lIns="0" tIns="0" rIns="0" bIns="0" rtlCol="0" anchor="ctr"/>
          <a:lstStyle/>
          <a:p>
            <a:pPr indent="0" marL="0">
              <a:buNone/>
            </a:pPr>
            <a:r>
              <a:rPr lang="en-US" sz="1300" b="1" dirty="0">
                <a:solidFill>
                  <a:srgbClr val="55C8E8"/>
                </a:solidFill>
                <a:latin typeface="Cambria" pitchFamily="34" charset="0"/>
                <a:ea typeface="Cambria" pitchFamily="34" charset="-122"/>
                <a:cs typeface="Cambria" pitchFamily="34" charset="-120"/>
              </a:rPr>
              <a:t>Think it through:</a:t>
            </a:r>
            <a:endParaRPr lang="en-US" sz="1300" dirty="0"/>
          </a:p>
        </p:txBody>
      </p:sp>
      <p:sp>
        <p:nvSpPr>
          <p:cNvPr id="11" name="Text 9"/>
          <p:cNvSpPr/>
          <p:nvPr/>
        </p:nvSpPr>
        <p:spPr>
          <a:xfrm>
            <a:off x="4709160" y="932688"/>
            <a:ext cx="3931920" cy="12344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Columbian Exchange happened AFTER explorers reached the Americas. That means it's a RESULT — something that happened because of exploration.</a:t>
            </a:r>
            <a:endParaRPr lang="en-US" sz="1200" dirty="0"/>
          </a:p>
        </p:txBody>
      </p:sp>
      <p:sp>
        <p:nvSpPr>
          <p:cNvPr id="12" name="Shape 10"/>
          <p:cNvSpPr/>
          <p:nvPr/>
        </p:nvSpPr>
        <p:spPr>
          <a:xfrm>
            <a:off x="4572000" y="2423160"/>
            <a:ext cx="4206240" cy="731520"/>
          </a:xfrm>
          <a:prstGeom prst="roundRect">
            <a:avLst>
              <a:gd name="adj" fmla="val 12500"/>
            </a:avLst>
          </a:prstGeom>
          <a:solidFill>
            <a:srgbClr val="E3F8ED"/>
          </a:solidFill>
          <a:ln w="25400">
            <a:solidFill>
              <a:srgbClr val="34B76F"/>
            </a:solidFill>
            <a:prstDash val="solid"/>
          </a:ln>
        </p:spPr>
      </p:sp>
      <p:sp>
        <p:nvSpPr>
          <p:cNvPr id="13" name="Text 11"/>
          <p:cNvSpPr/>
          <p:nvPr/>
        </p:nvSpPr>
        <p:spPr>
          <a:xfrm>
            <a:off x="4709160" y="2423160"/>
            <a:ext cx="3931920" cy="731520"/>
          </a:xfrm>
          <a:prstGeom prst="rect">
            <a:avLst/>
          </a:prstGeom>
          <a:noFill/>
          <a:ln/>
        </p:spPr>
        <p:txBody>
          <a:bodyPr wrap="square" lIns="0" tIns="0" rIns="0" bIns="0" rtlCol="0" anchor="ctr"/>
          <a:lstStyle/>
          <a:p>
            <a:pPr algn="ctr" indent="0" marL="0">
              <a:buNone/>
            </a:pPr>
            <a:r>
              <a:rPr lang="en-US" sz="1300" b="1" dirty="0">
                <a:solidFill>
                  <a:srgbClr val="1A7A50"/>
                </a:solidFill>
                <a:latin typeface="Cambria" pitchFamily="34" charset="0"/>
                <a:ea typeface="Cambria" pitchFamily="34" charset="-122"/>
                <a:cs typeface="Cambria" pitchFamily="34" charset="-120"/>
              </a:rPr>
              <a:t>Category: CONSEQUENCES</a:t>
            </a:r>
            <a:endParaRPr lang="en-US" sz="1300" dirty="0"/>
          </a:p>
          <a:p>
            <a:pPr algn="ctr" indent="0" marL="0">
              <a:buNone/>
            </a:pPr>
            <a:r>
              <a:rPr lang="en-US" sz="1300" b="1" dirty="0">
                <a:solidFill>
                  <a:srgbClr val="1A7A50"/>
                </a:solidFill>
                <a:latin typeface="Cambria" pitchFamily="34" charset="0"/>
                <a:ea typeface="Cambria" pitchFamily="34" charset="-122"/>
                <a:cs typeface="Cambria" pitchFamily="34" charset="-120"/>
              </a:rPr>
              <a:t>it happened as a result of exploration</a:t>
            </a:r>
            <a:endParaRPr lang="en-US" sz="1300" dirty="0"/>
          </a:p>
        </p:txBody>
      </p:sp>
      <p:sp>
        <p:nvSpPr>
          <p:cNvPr id="14" name="Shape 12"/>
          <p:cNvSpPr/>
          <p:nvPr/>
        </p:nvSpPr>
        <p:spPr>
          <a:xfrm>
            <a:off x="4572000" y="3246120"/>
            <a:ext cx="4206240" cy="1371600"/>
          </a:xfrm>
          <a:prstGeom prst="roundRect">
            <a:avLst>
              <a:gd name="adj" fmla="val 8000"/>
            </a:avLst>
          </a:prstGeom>
          <a:solidFill>
            <a:srgbClr val="FFF3DC"/>
          </a:solidFill>
          <a:ln w="19050">
            <a:solidFill>
              <a:srgbClr val="F5E6C8"/>
            </a:solidFill>
            <a:prstDash val="solid"/>
          </a:ln>
        </p:spPr>
      </p:sp>
      <p:sp>
        <p:nvSpPr>
          <p:cNvPr id="15" name="Text 13"/>
          <p:cNvSpPr/>
          <p:nvPr/>
        </p:nvSpPr>
        <p:spPr>
          <a:xfrm>
            <a:off x="4709160" y="3300984"/>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709160" y="3502152"/>
            <a:ext cx="3931920" cy="10515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sorted it into...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clue that helped me was..."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636B"/>
          </a:solidFill>
          <a:ln w="12700">
            <a:solidFill>
              <a:srgbClr val="E8636B"/>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4: ERROR ANALYSIS</a:t>
            </a:r>
            <a:endParaRPr lang="en-US" sz="1000" dirty="0"/>
          </a:p>
        </p:txBody>
      </p:sp>
      <p:sp>
        <p:nvSpPr>
          <p:cNvPr id="4" name="Text 2"/>
          <p:cNvSpPr/>
          <p:nvPr/>
        </p:nvSpPr>
        <p:spPr>
          <a:xfrm>
            <a:off x="457200" y="502920"/>
            <a:ext cx="8229600" cy="36576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Find the mistake.</a:t>
            </a:r>
            <a:endParaRPr lang="en-US" sz="2200" dirty="0"/>
          </a:p>
        </p:txBody>
      </p:sp>
      <p:sp>
        <p:nvSpPr>
          <p:cNvPr id="5" name="Shape 3"/>
          <p:cNvSpPr/>
          <p:nvPr/>
        </p:nvSpPr>
        <p:spPr>
          <a:xfrm>
            <a:off x="365760" y="960120"/>
            <a:ext cx="8412480" cy="1024128"/>
          </a:xfrm>
          <a:prstGeom prst="roundRect">
            <a:avLst>
              <a:gd name="adj" fmla="val 10714"/>
            </a:avLst>
          </a:prstGeom>
          <a:solidFill>
            <a:srgbClr val="FDF0EF"/>
          </a:solidFill>
          <a:ln w="25400">
            <a:solidFill>
              <a:srgbClr val="E8636B"/>
            </a:solidFill>
            <a:prstDash val="solid"/>
          </a:ln>
        </p:spPr>
      </p:sp>
      <p:sp>
        <p:nvSpPr>
          <p:cNvPr id="6" name="Text 4"/>
          <p:cNvSpPr/>
          <p:nvPr/>
        </p:nvSpPr>
        <p:spPr>
          <a:xfrm>
            <a:off x="548640" y="1005840"/>
            <a:ext cx="2743200" cy="256032"/>
          </a:xfrm>
          <a:prstGeom prst="rect">
            <a:avLst/>
          </a:prstGeom>
          <a:noFill/>
          <a:ln/>
        </p:spPr>
        <p:txBody>
          <a:bodyPr wrap="square" lIns="0" tIns="0" rIns="0" bIns="0"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A STUDENT WROTE:</a:t>
            </a:r>
            <a:endParaRPr lang="en-US" sz="900" dirty="0"/>
          </a:p>
        </p:txBody>
      </p:sp>
      <p:sp>
        <p:nvSpPr>
          <p:cNvPr id="7" name="Text 5"/>
          <p:cNvSpPr/>
          <p:nvPr/>
        </p:nvSpPr>
        <p:spPr>
          <a:xfrm>
            <a:off x="548640" y="1280160"/>
            <a:ext cx="8046720" cy="621792"/>
          </a:xfrm>
          <a:prstGeom prst="rect">
            <a:avLst/>
          </a:prstGeom>
          <a:noFill/>
          <a:ln/>
        </p:spPr>
        <p:txBody>
          <a:bodyPr wrap="square" lIns="0" tIns="0" rIns="0" bIns="0" rtlCol="0" anchor="ctr"/>
          <a:lstStyle/>
          <a:p>
            <a:pPr algn="ctr" indent="0" marL="0">
              <a:buNone/>
            </a:pPr>
            <a:r>
              <a:rPr lang="en-US" sz="1500" i="1" dirty="0">
                <a:solidFill>
                  <a:srgbClr val="5A3A3A"/>
                </a:solidFill>
                <a:latin typeface="Cambria" pitchFamily="34" charset="0"/>
                <a:ea typeface="Cambria" pitchFamily="34" charset="-122"/>
                <a:cs typeface="Cambria" pitchFamily="34" charset="-120"/>
              </a:rPr>
              <a:t>"A compass is a motive for exploration because it shows explorers where to go and makes them want to travel."</a:t>
            </a:r>
            <a:endParaRPr lang="en-US" sz="1500" dirty="0"/>
          </a:p>
        </p:txBody>
      </p:sp>
      <p:sp>
        <p:nvSpPr>
          <p:cNvPr id="8" name="Shape 6"/>
          <p:cNvSpPr/>
          <p:nvPr/>
        </p:nvSpPr>
        <p:spPr>
          <a:xfrm>
            <a:off x="365760" y="2075688"/>
            <a:ext cx="4023360" cy="1572768"/>
          </a:xfrm>
          <a:prstGeom prst="roundRect">
            <a:avLst>
              <a:gd name="adj" fmla="val 8721"/>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548640" y="2167128"/>
            <a:ext cx="36576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548640" y="2423160"/>
            <a:ext cx="3657600" cy="11338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get right?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they confuse — a reason with a tool?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correct this in ONE sentence?</a:t>
            </a:r>
            <a:endParaRPr lang="en-US" sz="1100" dirty="0"/>
          </a:p>
        </p:txBody>
      </p:sp>
      <p:sp>
        <p:nvSpPr>
          <p:cNvPr id="11" name="Shape 9"/>
          <p:cNvSpPr/>
          <p:nvPr/>
        </p:nvSpPr>
        <p:spPr>
          <a:xfrm>
            <a:off x="4572000" y="2075688"/>
            <a:ext cx="4206240" cy="777240"/>
          </a:xfrm>
          <a:prstGeom prst="roundRect">
            <a:avLst>
              <a:gd name="adj" fmla="val 11765"/>
            </a:avLst>
          </a:prstGeom>
          <a:solidFill>
            <a:srgbClr val="E3F8ED"/>
          </a:solidFill>
          <a:ln w="25400">
            <a:solidFill>
              <a:srgbClr val="34B76F"/>
            </a:solidFill>
            <a:prstDash val="solid"/>
          </a:ln>
        </p:spPr>
      </p:sp>
      <p:sp>
        <p:nvSpPr>
          <p:cNvPr id="12" name="Text 10"/>
          <p:cNvSpPr/>
          <p:nvPr/>
        </p:nvSpPr>
        <p:spPr>
          <a:xfrm>
            <a:off x="4709160" y="2121408"/>
            <a:ext cx="3931920" cy="228600"/>
          </a:xfrm>
          <a:prstGeom prst="rect">
            <a:avLst/>
          </a:prstGeom>
          <a:noFill/>
          <a:ln/>
        </p:spPr>
        <p:txBody>
          <a:bodyPr wrap="square" lIns="0" tIns="0" rIns="0" bIns="0" rtlCol="0" anchor="ctr"/>
          <a:lstStyle/>
          <a:p>
            <a:pPr indent="0" marL="0">
              <a:buNone/>
            </a:pPr>
            <a:r>
              <a:rPr lang="en-US" sz="900" b="1" spc="150" kern="0" dirty="0">
                <a:solidFill>
                  <a:srgbClr val="2A9060"/>
                </a:solidFill>
                <a:latin typeface="Calibri" pitchFamily="34" charset="0"/>
                <a:ea typeface="Calibri" pitchFamily="34" charset="-122"/>
                <a:cs typeface="Calibri" pitchFamily="34" charset="-120"/>
              </a:rPr>
              <a:t>THE FIX:</a:t>
            </a:r>
            <a:endParaRPr lang="en-US" sz="900" dirty="0"/>
          </a:p>
        </p:txBody>
      </p:sp>
      <p:sp>
        <p:nvSpPr>
          <p:cNvPr id="13" name="Text 11"/>
          <p:cNvSpPr/>
          <p:nvPr/>
        </p:nvSpPr>
        <p:spPr>
          <a:xfrm>
            <a:off x="4709160" y="2377440"/>
            <a:ext cx="3931920" cy="41148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compass is a TOOL — it helped explorers navigate, but it didn't make them WANT to explore.</a:t>
            </a:r>
            <a:endParaRPr lang="en-US" sz="1200" dirty="0"/>
          </a:p>
        </p:txBody>
      </p:sp>
      <p:sp>
        <p:nvSpPr>
          <p:cNvPr id="14" name="Shape 12"/>
          <p:cNvSpPr/>
          <p:nvPr/>
        </p:nvSpPr>
        <p:spPr>
          <a:xfrm>
            <a:off x="4572000" y="2944368"/>
            <a:ext cx="4206240" cy="1572768"/>
          </a:xfrm>
          <a:prstGeom prst="roundRect">
            <a:avLst>
              <a:gd name="adj" fmla="val 6977"/>
            </a:avLst>
          </a:prstGeom>
          <a:solidFill>
            <a:srgbClr val="FFF3DC"/>
          </a:solidFill>
          <a:ln w="19050">
            <a:solidFill>
              <a:srgbClr val="F5E6C8"/>
            </a:solidFill>
            <a:prstDash val="solid"/>
          </a:ln>
        </p:spPr>
      </p:sp>
      <p:sp>
        <p:nvSpPr>
          <p:cNvPr id="15" name="Text 13"/>
          <p:cNvSpPr/>
          <p:nvPr/>
        </p:nvSpPr>
        <p:spPr>
          <a:xfrm>
            <a:off x="4709160" y="2999232"/>
            <a:ext cx="39319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709160" y="3200400"/>
            <a:ext cx="3931920" cy="125272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was partly right because... but they missed..."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correct this by saying..."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4B76F"/>
          </a:solidFill>
          <a:ln w="12700">
            <a:solidFill>
              <a:srgbClr val="34B76F"/>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3: YOUR TURN WITH SUPPORT</a:t>
            </a:r>
            <a:endParaRPr lang="en-US" sz="1000" dirty="0"/>
          </a:p>
        </p:txBody>
      </p:sp>
      <p:sp>
        <p:nvSpPr>
          <p:cNvPr id="4" name="Text 2"/>
          <p:cNvSpPr/>
          <p:nvPr/>
        </p:nvSpPr>
        <p:spPr>
          <a:xfrm>
            <a:off x="457200" y="502920"/>
            <a:ext cx="8229600" cy="347472"/>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Sort two more pieces of evidence:</a:t>
            </a:r>
            <a:endParaRPr lang="en-US" sz="2000" dirty="0"/>
          </a:p>
        </p:txBody>
      </p:sp>
      <p:sp>
        <p:nvSpPr>
          <p:cNvPr id="5" name="Shape 3"/>
          <p:cNvSpPr/>
          <p:nvPr/>
        </p:nvSpPr>
        <p:spPr>
          <a:xfrm>
            <a:off x="365760" y="914400"/>
            <a:ext cx="4023360" cy="914400"/>
          </a:xfrm>
          <a:prstGeom prst="roundRect">
            <a:avLst>
              <a:gd name="adj" fmla="val 10000"/>
            </a:avLst>
          </a:prstGeom>
          <a:solidFill>
            <a:srgbClr val="F0F2F8"/>
          </a:solidFill>
          <a:ln w="19050">
            <a:solidFill>
              <a:srgbClr val="C8D0E0"/>
            </a:solidFill>
            <a:prstDash val="solid"/>
          </a:ln>
        </p:spPr>
      </p:sp>
      <p:sp>
        <p:nvSpPr>
          <p:cNvPr id="6" name="Text 4"/>
          <p:cNvSpPr/>
          <p:nvPr/>
        </p:nvSpPr>
        <p:spPr>
          <a:xfrm>
            <a:off x="502920" y="960120"/>
            <a:ext cx="374904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FACT A</a:t>
            </a:r>
            <a:endParaRPr lang="en-US" sz="900" dirty="0"/>
          </a:p>
        </p:txBody>
      </p:sp>
      <p:sp>
        <p:nvSpPr>
          <p:cNvPr id="7" name="Text 5"/>
          <p:cNvSpPr/>
          <p:nvPr/>
        </p:nvSpPr>
        <p:spPr>
          <a:xfrm>
            <a:off x="502920" y="1207008"/>
            <a:ext cx="3749040" cy="548640"/>
          </a:xfrm>
          <a:prstGeom prst="rect">
            <a:avLst/>
          </a:prstGeom>
          <a:noFill/>
          <a:ln/>
        </p:spPr>
        <p:txBody>
          <a:bodyPr wrap="square" lIns="0" tIns="0" rIns="0" bIns="0" rtlCol="0" anchor="ctr"/>
          <a:lstStyle/>
          <a:p>
            <a:pPr algn="ctr" indent="0" marL="0">
              <a:buNone/>
            </a:pPr>
            <a:r>
              <a:rPr lang="en-US" sz="1200" i="1" dirty="0">
                <a:solidFill>
                  <a:srgbClr val="0E1C42"/>
                </a:solidFill>
                <a:latin typeface="Cambria" pitchFamily="34" charset="0"/>
                <a:ea typeface="Cambria" pitchFamily="34" charset="-122"/>
                <a:cs typeface="Cambria" pitchFamily="34" charset="-120"/>
              </a:rPr>
              <a:t>"Ponce de León sailed north from the Caribbean and landed on the Florida coast in 1513."</a:t>
            </a:r>
            <a:endParaRPr lang="en-US" sz="1200" dirty="0"/>
          </a:p>
        </p:txBody>
      </p:sp>
      <p:sp>
        <p:nvSpPr>
          <p:cNvPr id="8" name="Shape 6"/>
          <p:cNvSpPr/>
          <p:nvPr/>
        </p:nvSpPr>
        <p:spPr>
          <a:xfrm>
            <a:off x="4754880" y="914400"/>
            <a:ext cx="4023360" cy="914400"/>
          </a:xfrm>
          <a:prstGeom prst="roundRect">
            <a:avLst>
              <a:gd name="adj" fmla="val 10000"/>
            </a:avLst>
          </a:prstGeom>
          <a:solidFill>
            <a:srgbClr val="F0F2F8"/>
          </a:solidFill>
          <a:ln w="19050">
            <a:solidFill>
              <a:srgbClr val="C8D0E0"/>
            </a:solidFill>
            <a:prstDash val="solid"/>
          </a:ln>
        </p:spPr>
      </p:sp>
      <p:sp>
        <p:nvSpPr>
          <p:cNvPr id="9" name="Text 7"/>
          <p:cNvSpPr/>
          <p:nvPr/>
        </p:nvSpPr>
        <p:spPr>
          <a:xfrm>
            <a:off x="4892040" y="960120"/>
            <a:ext cx="3749040" cy="2286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FACT B</a:t>
            </a:r>
            <a:endParaRPr lang="en-US" sz="900" dirty="0"/>
          </a:p>
        </p:txBody>
      </p:sp>
      <p:sp>
        <p:nvSpPr>
          <p:cNvPr id="10" name="Text 8"/>
          <p:cNvSpPr/>
          <p:nvPr/>
        </p:nvSpPr>
        <p:spPr>
          <a:xfrm>
            <a:off x="4892040" y="1207008"/>
            <a:ext cx="3749040" cy="548640"/>
          </a:xfrm>
          <a:prstGeom prst="rect">
            <a:avLst/>
          </a:prstGeom>
          <a:noFill/>
          <a:ln/>
        </p:spPr>
        <p:txBody>
          <a:bodyPr wrap="square" lIns="0" tIns="0" rIns="0" bIns="0" rtlCol="0" anchor="ctr"/>
          <a:lstStyle/>
          <a:p>
            <a:pPr algn="ctr" indent="0" marL="0">
              <a:buNone/>
            </a:pPr>
            <a:r>
              <a:rPr lang="en-US" sz="1200" i="1" dirty="0">
                <a:solidFill>
                  <a:srgbClr val="0E1C42"/>
                </a:solidFill>
                <a:latin typeface="Cambria" pitchFamily="34" charset="0"/>
                <a:ea typeface="Cambria" pitchFamily="34" charset="-122"/>
                <a:cs typeface="Cambria" pitchFamily="34" charset="-120"/>
              </a:rPr>
              <a:t>"Disease spread from European explorers, and native peoples had no natural immunity."</a:t>
            </a:r>
            <a:endParaRPr lang="en-US" sz="1200" dirty="0"/>
          </a:p>
        </p:txBody>
      </p:sp>
      <p:sp>
        <p:nvSpPr>
          <p:cNvPr id="11" name="Shape 9"/>
          <p:cNvSpPr/>
          <p:nvPr/>
        </p:nvSpPr>
        <p:spPr>
          <a:xfrm>
            <a:off x="365760" y="1920240"/>
            <a:ext cx="8412480" cy="1325880"/>
          </a:xfrm>
          <a:prstGeom prst="roundRect">
            <a:avLst>
              <a:gd name="adj" fmla="val 6897"/>
            </a:avLst>
          </a:prstGeom>
          <a:solidFill>
            <a:srgbClr val="1A2D5A"/>
          </a:solidFill>
          <a:ln/>
        </p:spPr>
      </p:sp>
      <p:sp>
        <p:nvSpPr>
          <p:cNvPr id="12" name="Text 10"/>
          <p:cNvSpPr/>
          <p:nvPr/>
        </p:nvSpPr>
        <p:spPr>
          <a:xfrm>
            <a:off x="548640" y="1984248"/>
            <a:ext cx="8046720" cy="228600"/>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SORTING CHECKLIST</a:t>
            </a:r>
            <a:endParaRPr lang="en-US" sz="900" dirty="0"/>
          </a:p>
        </p:txBody>
      </p:sp>
      <p:sp>
        <p:nvSpPr>
          <p:cNvPr id="13" name="Text 11"/>
          <p:cNvSpPr/>
          <p:nvPr/>
        </p:nvSpPr>
        <p:spPr>
          <a:xfrm>
            <a:off x="548640" y="2231136"/>
            <a:ext cx="8046720" cy="9144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Is it a reason → MOTIVES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Is it a navigation instrument/ship → TOOLS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Is it a path/voyage/destination → ROUTES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Is it something found/noticed → DISCOVERIES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Is it something that happened AS A RESULT → CONSEQUENCES</a:t>
            </a:r>
            <a:endParaRPr lang="en-US" sz="1200" dirty="0"/>
          </a:p>
        </p:txBody>
      </p:sp>
      <p:sp>
        <p:nvSpPr>
          <p:cNvPr id="14" name="Shape 12"/>
          <p:cNvSpPr/>
          <p:nvPr/>
        </p:nvSpPr>
        <p:spPr>
          <a:xfrm>
            <a:off x="365760" y="3337560"/>
            <a:ext cx="8412480" cy="1280160"/>
          </a:xfrm>
          <a:prstGeom prst="roundRect">
            <a:avLst>
              <a:gd name="adj" fmla="val 8571"/>
            </a:avLst>
          </a:prstGeom>
          <a:solidFill>
            <a:srgbClr val="FFF3DC"/>
          </a:solidFill>
          <a:ln w="19050">
            <a:solidFill>
              <a:srgbClr val="F5E6C8"/>
            </a:solidFill>
            <a:prstDash val="solid"/>
          </a:ln>
        </p:spPr>
      </p:sp>
      <p:sp>
        <p:nvSpPr>
          <p:cNvPr id="15" name="Text 13"/>
          <p:cNvSpPr/>
          <p:nvPr/>
        </p:nvSpPr>
        <p:spPr>
          <a:xfrm>
            <a:off x="502920" y="339242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3593592"/>
            <a:ext cx="8138160" cy="960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"Fact A belongs in...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"Fact B belongs in...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clue that helped me was..."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1C42"/>
          </a:solidFill>
          <a:ln w="12700">
            <a:solidFill>
              <a:srgbClr val="0E1C42"/>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GUIDED PRACTICE — STEP 6: THE TRICKY ONE</a:t>
            </a:r>
            <a:endParaRPr lang="en-US" sz="1000" dirty="0"/>
          </a:p>
        </p:txBody>
      </p:sp>
      <p:sp>
        <p:nvSpPr>
          <p:cNvPr id="4" name="Shape 2"/>
          <p:cNvSpPr/>
          <p:nvPr/>
        </p:nvSpPr>
        <p:spPr>
          <a:xfrm>
            <a:off x="365760" y="502920"/>
            <a:ext cx="8412480" cy="502920"/>
          </a:xfrm>
          <a:prstGeom prst="roundRect">
            <a:avLst>
              <a:gd name="adj" fmla="val 18182"/>
            </a:avLst>
          </a:prstGeom>
          <a:solidFill>
            <a:srgbClr val="D4943A"/>
          </a:solidFill>
          <a:ln/>
        </p:spPr>
      </p:sp>
      <p:sp>
        <p:nvSpPr>
          <p:cNvPr id="5" name="Text 3"/>
          <p:cNvSpPr/>
          <p:nvPr/>
        </p:nvSpPr>
        <p:spPr>
          <a:xfrm>
            <a:off x="365760" y="502920"/>
            <a:ext cx="8412480" cy="502920"/>
          </a:xfrm>
          <a:prstGeom prst="rect">
            <a:avLst/>
          </a:prstGeom>
          <a:noFill/>
          <a:ln/>
        </p:spPr>
        <p:txBody>
          <a:bodyPr wrap="square" lIns="0" tIns="0" rIns="0" bIns="0" rtlCol="0" anchor="ctr"/>
          <a:lstStyle/>
          <a:p>
            <a:pPr algn="ctr" indent="0" marL="0">
              <a:buNone/>
            </a:pPr>
            <a:r>
              <a:rPr lang="en-US" sz="1500" b="1" dirty="0">
                <a:solidFill>
                  <a:srgbClr val="0E1C42"/>
                </a:solidFill>
                <a:latin typeface="Cambria" pitchFamily="34" charset="0"/>
                <a:ea typeface="Cambria" pitchFamily="34" charset="-122"/>
                <a:cs typeface="Cambria" pitchFamily="34" charset="-120"/>
              </a:rPr>
              <a:t>This one could fit in more than one category. Defend your choice.</a:t>
            </a:r>
            <a:endParaRPr lang="en-US" sz="1500" dirty="0"/>
          </a:p>
        </p:txBody>
      </p:sp>
      <p:sp>
        <p:nvSpPr>
          <p:cNvPr id="6" name="Shape 4"/>
          <p:cNvSpPr/>
          <p:nvPr/>
        </p:nvSpPr>
        <p:spPr>
          <a:xfrm>
            <a:off x="365760" y="1097280"/>
            <a:ext cx="8412480" cy="914400"/>
          </a:xfrm>
          <a:prstGeom prst="roundRect">
            <a:avLst>
              <a:gd name="adj" fmla="val 12000"/>
            </a:avLst>
          </a:prstGeom>
          <a:solidFill>
            <a:srgbClr val="1A2D5A"/>
          </a:solidFill>
          <a:ln/>
        </p:spPr>
      </p:sp>
      <p:sp>
        <p:nvSpPr>
          <p:cNvPr id="7" name="Text 5"/>
          <p:cNvSpPr/>
          <p:nvPr/>
        </p:nvSpPr>
        <p:spPr>
          <a:xfrm>
            <a:off x="548640" y="1152144"/>
            <a:ext cx="804672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TRICKY FACT:</a:t>
            </a:r>
            <a:endParaRPr lang="en-US" sz="900" dirty="0"/>
          </a:p>
        </p:txBody>
      </p:sp>
      <p:sp>
        <p:nvSpPr>
          <p:cNvPr id="8" name="Text 6"/>
          <p:cNvSpPr/>
          <p:nvPr/>
        </p:nvSpPr>
        <p:spPr>
          <a:xfrm>
            <a:off x="548640" y="1426464"/>
            <a:ext cx="8046720" cy="502920"/>
          </a:xfrm>
          <a:prstGeom prst="rect">
            <a:avLst/>
          </a:prstGeom>
          <a:noFill/>
          <a:ln/>
        </p:spPr>
        <p:txBody>
          <a:bodyPr wrap="square" lIns="0" tIns="0" rIns="0" bIns="0"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"Columbus reached the Caribbean in 1492 — a land that millions of people already called home."</a:t>
            </a:r>
            <a:endParaRPr lang="en-US" sz="1500" dirty="0"/>
          </a:p>
        </p:txBody>
      </p:sp>
      <p:sp>
        <p:nvSpPr>
          <p:cNvPr id="9" name="Shape 7"/>
          <p:cNvSpPr/>
          <p:nvPr/>
        </p:nvSpPr>
        <p:spPr>
          <a:xfrm>
            <a:off x="365760" y="2121408"/>
            <a:ext cx="3931920" cy="1234440"/>
          </a:xfrm>
          <a:prstGeom prst="roundRect">
            <a:avLst>
              <a:gd name="adj" fmla="val 8889"/>
            </a:avLst>
          </a:prstGeom>
          <a:solidFill>
            <a:srgbClr val="E3F8ED"/>
          </a:solidFill>
          <a:ln w="25400">
            <a:solidFill>
              <a:srgbClr val="34B76F"/>
            </a:solidFill>
            <a:prstDash val="solid"/>
          </a:ln>
        </p:spPr>
      </p:sp>
      <p:sp>
        <p:nvSpPr>
          <p:cNvPr id="10" name="Text 8"/>
          <p:cNvSpPr/>
          <p:nvPr/>
        </p:nvSpPr>
        <p:spPr>
          <a:xfrm>
            <a:off x="502920" y="2194560"/>
            <a:ext cx="3657600" cy="256032"/>
          </a:xfrm>
          <a:prstGeom prst="rect">
            <a:avLst/>
          </a:prstGeom>
          <a:noFill/>
          <a:ln/>
        </p:spPr>
        <p:txBody>
          <a:bodyPr wrap="square" lIns="0" tIns="0" rIns="0" bIns="0" rtlCol="0" anchor="ctr"/>
          <a:lstStyle/>
          <a:p>
            <a:pPr indent="0" marL="0">
              <a:buNone/>
            </a:pPr>
            <a:r>
              <a:rPr lang="en-US" sz="1200" b="1" dirty="0">
                <a:solidFill>
                  <a:srgbClr val="2A9060"/>
                </a:solidFill>
                <a:latin typeface="Cambria" pitchFamily="34" charset="0"/>
                <a:ea typeface="Cambria" pitchFamily="34" charset="-122"/>
                <a:cs typeface="Cambria" pitchFamily="34" charset="-120"/>
              </a:rPr>
              <a:t>OPTION 1: ROUTES</a:t>
            </a:r>
            <a:endParaRPr lang="en-US" sz="1200" dirty="0"/>
          </a:p>
        </p:txBody>
      </p:sp>
      <p:sp>
        <p:nvSpPr>
          <p:cNvPr id="11" name="Text 9"/>
          <p:cNvSpPr/>
          <p:nvPr/>
        </p:nvSpPr>
        <p:spPr>
          <a:xfrm>
            <a:off x="502920" y="2487168"/>
            <a:ext cx="3657600" cy="7772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This describes WHERE Columbus went — his destination. The route IS where he arrived.</a:t>
            </a:r>
            <a:endParaRPr lang="en-US" sz="1200" dirty="0"/>
          </a:p>
        </p:txBody>
      </p:sp>
      <p:sp>
        <p:nvSpPr>
          <p:cNvPr id="12" name="Shape 10"/>
          <p:cNvSpPr/>
          <p:nvPr/>
        </p:nvSpPr>
        <p:spPr>
          <a:xfrm>
            <a:off x="4846320" y="2121408"/>
            <a:ext cx="3931920" cy="1234440"/>
          </a:xfrm>
          <a:prstGeom prst="roundRect">
            <a:avLst>
              <a:gd name="adj" fmla="val 8889"/>
            </a:avLst>
          </a:prstGeom>
          <a:solidFill>
            <a:srgbClr val="FDF0EF"/>
          </a:solidFill>
          <a:ln w="25400">
            <a:solidFill>
              <a:srgbClr val="E8636B"/>
            </a:solidFill>
            <a:prstDash val="solid"/>
          </a:ln>
        </p:spPr>
      </p:sp>
      <p:sp>
        <p:nvSpPr>
          <p:cNvPr id="13" name="Text 11"/>
          <p:cNvSpPr/>
          <p:nvPr/>
        </p:nvSpPr>
        <p:spPr>
          <a:xfrm>
            <a:off x="4983480" y="2194560"/>
            <a:ext cx="3657600" cy="256032"/>
          </a:xfrm>
          <a:prstGeom prst="rect">
            <a:avLst/>
          </a:prstGeom>
          <a:noFill/>
          <a:ln/>
        </p:spPr>
        <p:txBody>
          <a:bodyPr wrap="square" lIns="0" tIns="0" rIns="0" bIns="0" rtlCol="0" anchor="ctr"/>
          <a:lstStyle/>
          <a:p>
            <a:pPr indent="0" marL="0">
              <a:buNone/>
            </a:pPr>
            <a:r>
              <a:rPr lang="en-US" sz="1200" b="1" dirty="0">
                <a:solidFill>
                  <a:srgbClr val="B03040"/>
                </a:solidFill>
                <a:latin typeface="Cambria" pitchFamily="34" charset="0"/>
                <a:ea typeface="Cambria" pitchFamily="34" charset="-122"/>
                <a:cs typeface="Cambria" pitchFamily="34" charset="-120"/>
              </a:rPr>
              <a:t>OPTION 2: CONSEQUENCES</a:t>
            </a:r>
            <a:endParaRPr lang="en-US" sz="1200" dirty="0"/>
          </a:p>
        </p:txBody>
      </p:sp>
      <p:sp>
        <p:nvSpPr>
          <p:cNvPr id="14" name="Text 12"/>
          <p:cNvSpPr/>
          <p:nvPr/>
        </p:nvSpPr>
        <p:spPr>
          <a:xfrm>
            <a:off x="4983480" y="2487168"/>
            <a:ext cx="3657600" cy="777240"/>
          </a:xfrm>
          <a:prstGeom prst="rect">
            <a:avLst/>
          </a:prstGeom>
          <a:noFill/>
          <a:ln/>
        </p:spPr>
        <p:txBody>
          <a:bodyPr wrap="square" lIns="0" tIns="0" rIns="0" bIns="0"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phrase 'already called it home' hints at what happened to those people — a consequence of Columbus arriving.</a:t>
            </a:r>
            <a:endParaRPr lang="en-US" sz="1200" dirty="0"/>
          </a:p>
        </p:txBody>
      </p:sp>
      <p:sp>
        <p:nvSpPr>
          <p:cNvPr id="15" name="Shape 13"/>
          <p:cNvSpPr/>
          <p:nvPr/>
        </p:nvSpPr>
        <p:spPr>
          <a:xfrm>
            <a:off x="365760" y="3456432"/>
            <a:ext cx="8412480" cy="1234440"/>
          </a:xfrm>
          <a:prstGeom prst="roundRect">
            <a:avLst>
              <a:gd name="adj" fmla="val 8889"/>
            </a:avLst>
          </a:prstGeom>
          <a:solidFill>
            <a:srgbClr val="FFF3DC"/>
          </a:solidFill>
          <a:ln w="19050">
            <a:solidFill>
              <a:srgbClr val="F5E6C8"/>
            </a:solidFill>
            <a:prstDash val="solid"/>
          </a:ln>
        </p:spPr>
      </p:sp>
      <p:sp>
        <p:nvSpPr>
          <p:cNvPr id="16" name="Text 14"/>
          <p:cNvSpPr/>
          <p:nvPr/>
        </p:nvSpPr>
        <p:spPr>
          <a:xfrm>
            <a:off x="502920" y="351129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3712464"/>
            <a:ext cx="813816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choose... because the STRONGEST clue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argue... but I think..."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p:bgPr>
    </p:bg>
    <p:spTree>
      <p:nvGrpSpPr>
        <p:cNvPr id="1" name=""/>
        <p:cNvGrpSpPr/>
        <p:nvPr/>
      </p:nvGrpSpPr>
      <p:grpSpPr>
        <a:xfrm>
          <a:off x="0" y="0"/>
          <a:ext cx="0" cy="0"/>
          <a:chOff x="0" y="0"/>
          <a:chExt cx="0" cy="0"/>
        </a:xfrm>
      </p:grpSpPr>
      <p:sp>
        <p:nvSpPr>
          <p:cNvPr id="2" name="Shape 0"/>
          <p:cNvSpPr/>
          <p:nvPr/>
        </p:nvSpPr>
        <p:spPr>
          <a:xfrm>
            <a:off x="365760" y="228600"/>
            <a:ext cx="8412480" cy="548640"/>
          </a:xfrm>
          <a:prstGeom prst="roundRect">
            <a:avLst>
              <a:gd name="adj" fmla="val 16667"/>
            </a:avLst>
          </a:prstGeom>
          <a:solidFill>
            <a:srgbClr val="0E1C42"/>
          </a:solidFill>
          <a:ln/>
        </p:spPr>
      </p:sp>
      <p:sp>
        <p:nvSpPr>
          <p:cNvPr id="3" name="Text 1"/>
          <p:cNvSpPr/>
          <p:nvPr/>
        </p:nvSpPr>
        <p:spPr>
          <a:xfrm>
            <a:off x="365760" y="228600"/>
            <a:ext cx="8412480" cy="548640"/>
          </a:xfrm>
          <a:prstGeom prst="rect">
            <a:avLst/>
          </a:prstGeom>
          <a:noFill/>
          <a:ln/>
        </p:spPr>
        <p:txBody>
          <a:bodyPr wrap="square" lIns="0" tIns="0" rIns="0" bIns="0" rtlCol="0" anchor="ctr"/>
          <a:lstStyle/>
          <a:p>
            <a:pPr algn="ctr" indent="0" marL="0">
              <a:buNone/>
            </a:pPr>
            <a:r>
              <a:rPr lang="en-US" sz="1800" b="1" spc="150" kern="0" dirty="0">
                <a:solidFill>
                  <a:srgbClr val="D4943A"/>
                </a:solidFill>
                <a:latin typeface="Cambria" pitchFamily="34" charset="0"/>
                <a:ea typeface="Cambria" pitchFamily="34" charset="-122"/>
                <a:cs typeface="Cambria" pitchFamily="34" charset="-120"/>
              </a:rPr>
              <a:t>FINAL SELF-CHECK — ARE YOU READY?</a:t>
            </a:r>
            <a:endParaRPr lang="en-US" sz="1800" dirty="0"/>
          </a:p>
        </p:txBody>
      </p:sp>
      <p:sp>
        <p:nvSpPr>
          <p:cNvPr id="4" name="Shape 2"/>
          <p:cNvSpPr/>
          <p:nvPr/>
        </p:nvSpPr>
        <p:spPr>
          <a:xfrm>
            <a:off x="365760" y="896112"/>
            <a:ext cx="8412480" cy="1207008"/>
          </a:xfrm>
          <a:prstGeom prst="roundRect">
            <a:avLst>
              <a:gd name="adj" fmla="val 7576"/>
            </a:avLst>
          </a:prstGeom>
          <a:solidFill>
            <a:srgbClr val="FFFFFF"/>
          </a:solidFill>
          <a:ln w="12700">
            <a:solidFill>
              <a:srgbClr val="C8D0E0"/>
            </a:solidFill>
            <a:prstDash val="solid"/>
          </a:ln>
        </p:spPr>
      </p:sp>
      <p:sp>
        <p:nvSpPr>
          <p:cNvPr id="5" name="Text 3"/>
          <p:cNvSpPr/>
          <p:nvPr/>
        </p:nvSpPr>
        <p:spPr>
          <a:xfrm>
            <a:off x="502920" y="950976"/>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1. Which of these is a MOTIVE for exploration?</a:t>
            </a:r>
            <a:endParaRPr lang="en-US" sz="1300" dirty="0"/>
          </a:p>
        </p:txBody>
      </p:sp>
      <p:sp>
        <p:nvSpPr>
          <p:cNvPr id="6" name="Text 4"/>
          <p:cNvSpPr/>
          <p:nvPr/>
        </p:nvSpPr>
        <p:spPr>
          <a:xfrm>
            <a:off x="640080" y="1261872"/>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A compass that points north</a:t>
            </a:r>
            <a:endParaRPr lang="en-US" sz="1100" dirty="0"/>
          </a:p>
        </p:txBody>
      </p:sp>
      <p:sp>
        <p:nvSpPr>
          <p:cNvPr id="7" name="Text 5"/>
          <p:cNvSpPr/>
          <p:nvPr/>
        </p:nvSpPr>
        <p:spPr>
          <a:xfrm>
            <a:off x="640080" y="1508760"/>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B) A caravel that can sail into the wind</a:t>
            </a:r>
            <a:endParaRPr lang="en-US" sz="1100" dirty="0"/>
          </a:p>
        </p:txBody>
      </p:sp>
      <p:sp>
        <p:nvSpPr>
          <p:cNvPr id="8" name="Text 6"/>
          <p:cNvSpPr/>
          <p:nvPr/>
        </p:nvSpPr>
        <p:spPr>
          <a:xfrm>
            <a:off x="640080" y="1755648"/>
            <a:ext cx="8046720" cy="228600"/>
          </a:xfrm>
          <a:prstGeom prst="rect">
            <a:avLst/>
          </a:prstGeom>
          <a:noFill/>
          <a:ln/>
        </p:spPr>
        <p:txBody>
          <a:bodyPr wrap="square" lIns="0" tIns="0" rIns="0" bIns="0" rtlCol="0" anchor="ctr"/>
          <a:lstStyle/>
          <a:p>
            <a:pPr indent="0" marL="0">
              <a:buNone/>
            </a:pPr>
            <a:r>
              <a:rPr lang="en-US" sz="1100" b="1" dirty="0">
                <a:solidFill>
                  <a:srgbClr val="2A9060"/>
                </a:solidFill>
                <a:latin typeface="Calibri" pitchFamily="34" charset="0"/>
                <a:ea typeface="Calibri" pitchFamily="34" charset="-122"/>
                <a:cs typeface="Calibri" pitchFamily="34" charset="-120"/>
              </a:rPr>
              <a:t>C) The desire to find faster trade routes to Asia</a:t>
            </a:r>
            <a:endParaRPr lang="en-US" sz="1100" dirty="0"/>
          </a:p>
        </p:txBody>
      </p:sp>
      <p:sp>
        <p:nvSpPr>
          <p:cNvPr id="9" name="Shape 7"/>
          <p:cNvSpPr/>
          <p:nvPr/>
        </p:nvSpPr>
        <p:spPr>
          <a:xfrm>
            <a:off x="365760" y="2221992"/>
            <a:ext cx="8412480" cy="1207008"/>
          </a:xfrm>
          <a:prstGeom prst="roundRect">
            <a:avLst>
              <a:gd name="adj" fmla="val 7576"/>
            </a:avLst>
          </a:prstGeom>
          <a:solidFill>
            <a:srgbClr val="FFFFFF"/>
          </a:solidFill>
          <a:ln w="12700">
            <a:solidFill>
              <a:srgbClr val="C8D0E0"/>
            </a:solidFill>
            <a:prstDash val="solid"/>
          </a:ln>
        </p:spPr>
      </p:sp>
      <p:sp>
        <p:nvSpPr>
          <p:cNvPr id="10" name="Text 8"/>
          <p:cNvSpPr/>
          <p:nvPr/>
        </p:nvSpPr>
        <p:spPr>
          <a:xfrm>
            <a:off x="502920" y="2276856"/>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2. Which category does the Columbian Exchange belong in?</a:t>
            </a:r>
            <a:endParaRPr lang="en-US" sz="1300" dirty="0"/>
          </a:p>
        </p:txBody>
      </p:sp>
      <p:sp>
        <p:nvSpPr>
          <p:cNvPr id="11" name="Text 9"/>
          <p:cNvSpPr/>
          <p:nvPr/>
        </p:nvSpPr>
        <p:spPr>
          <a:xfrm>
            <a:off x="640080" y="2587752"/>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Tools — it helped explorers navigate</a:t>
            </a:r>
            <a:endParaRPr lang="en-US" sz="1100" dirty="0"/>
          </a:p>
        </p:txBody>
      </p:sp>
      <p:sp>
        <p:nvSpPr>
          <p:cNvPr id="12" name="Text 10"/>
          <p:cNvSpPr/>
          <p:nvPr/>
        </p:nvSpPr>
        <p:spPr>
          <a:xfrm>
            <a:off x="640080" y="2834640"/>
            <a:ext cx="8046720" cy="228600"/>
          </a:xfrm>
          <a:prstGeom prst="rect">
            <a:avLst/>
          </a:prstGeom>
          <a:noFill/>
          <a:ln/>
        </p:spPr>
        <p:txBody>
          <a:bodyPr wrap="square" lIns="0" tIns="0" rIns="0" bIns="0" rtlCol="0" anchor="ctr"/>
          <a:lstStyle/>
          <a:p>
            <a:pPr indent="0" marL="0">
              <a:buNone/>
            </a:pPr>
            <a:r>
              <a:rPr lang="en-US" sz="1100" b="1" dirty="0">
                <a:solidFill>
                  <a:srgbClr val="2A9060"/>
                </a:solidFill>
                <a:latin typeface="Calibri" pitchFamily="34" charset="0"/>
                <a:ea typeface="Calibri" pitchFamily="34" charset="-122"/>
                <a:cs typeface="Calibri" pitchFamily="34" charset="-120"/>
              </a:rPr>
              <a:t>B) Consequences — it happened after explorers arrived</a:t>
            </a:r>
            <a:endParaRPr lang="en-US" sz="1100" dirty="0"/>
          </a:p>
        </p:txBody>
      </p:sp>
      <p:sp>
        <p:nvSpPr>
          <p:cNvPr id="13" name="Text 11"/>
          <p:cNvSpPr/>
          <p:nvPr/>
        </p:nvSpPr>
        <p:spPr>
          <a:xfrm>
            <a:off x="640080" y="3081528"/>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C) Motives — it inspired people to explore</a:t>
            </a:r>
            <a:endParaRPr lang="en-US" sz="1100" dirty="0"/>
          </a:p>
        </p:txBody>
      </p:sp>
      <p:sp>
        <p:nvSpPr>
          <p:cNvPr id="14" name="Shape 12"/>
          <p:cNvSpPr/>
          <p:nvPr/>
        </p:nvSpPr>
        <p:spPr>
          <a:xfrm>
            <a:off x="365760" y="3547872"/>
            <a:ext cx="8412480" cy="1207008"/>
          </a:xfrm>
          <a:prstGeom prst="roundRect">
            <a:avLst>
              <a:gd name="adj" fmla="val 7576"/>
            </a:avLst>
          </a:prstGeom>
          <a:solidFill>
            <a:srgbClr val="FFFFFF"/>
          </a:solidFill>
          <a:ln w="12700">
            <a:solidFill>
              <a:srgbClr val="C8D0E0"/>
            </a:solidFill>
            <a:prstDash val="solid"/>
          </a:ln>
        </p:spPr>
      </p:sp>
      <p:sp>
        <p:nvSpPr>
          <p:cNvPr id="15" name="Text 13"/>
          <p:cNvSpPr/>
          <p:nvPr/>
        </p:nvSpPr>
        <p:spPr>
          <a:xfrm>
            <a:off x="502920" y="3602736"/>
            <a:ext cx="8138160" cy="292608"/>
          </a:xfrm>
          <a:prstGeom prst="rect">
            <a:avLst/>
          </a:prstGeom>
          <a:noFill/>
          <a:ln/>
        </p:spPr>
        <p:txBody>
          <a:bodyPr wrap="square" lIns="0" tIns="0" rIns="0" bIns="0" rtlCol="0" anchor="ctr"/>
          <a:lstStyle/>
          <a:p>
            <a:pPr indent="0" marL="0">
              <a:buNone/>
            </a:pPr>
            <a:r>
              <a:rPr lang="en-US" sz="1300" b="1" dirty="0">
                <a:solidFill>
                  <a:srgbClr val="0E1C42"/>
                </a:solidFill>
                <a:latin typeface="Cambria" pitchFamily="34" charset="0"/>
                <a:ea typeface="Cambria" pitchFamily="34" charset="-122"/>
                <a:cs typeface="Cambria" pitchFamily="34" charset="-120"/>
              </a:rPr>
              <a:t>3. Why does an honest exhibit include consequences?</a:t>
            </a:r>
            <a:endParaRPr lang="en-US" sz="1300" dirty="0"/>
          </a:p>
        </p:txBody>
      </p:sp>
      <p:sp>
        <p:nvSpPr>
          <p:cNvPr id="16" name="Text 14"/>
          <p:cNvSpPr/>
          <p:nvPr/>
        </p:nvSpPr>
        <p:spPr>
          <a:xfrm>
            <a:off x="640080" y="3913632"/>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A) Because consequences make exhibits look longer</a:t>
            </a:r>
            <a:endParaRPr lang="en-US" sz="1100" dirty="0"/>
          </a:p>
        </p:txBody>
      </p:sp>
      <p:sp>
        <p:nvSpPr>
          <p:cNvPr id="17" name="Text 15"/>
          <p:cNvSpPr/>
          <p:nvPr/>
        </p:nvSpPr>
        <p:spPr>
          <a:xfrm>
            <a:off x="640080" y="4160520"/>
            <a:ext cx="8046720" cy="228600"/>
          </a:xfrm>
          <a:prstGeom prst="rect">
            <a:avLst/>
          </a:prstGeom>
          <a:noFill/>
          <a:ln/>
        </p:spPr>
        <p:txBody>
          <a:bodyPr wrap="square" lIns="0" tIns="0" rIns="0" bIns="0" rtlCol="0" anchor="ctr"/>
          <a:lstStyle/>
          <a:p>
            <a:pPr indent="0" marL="0">
              <a:buNone/>
            </a:pPr>
            <a:r>
              <a:rPr lang="en-US" sz="1100" b="1" dirty="0">
                <a:solidFill>
                  <a:srgbClr val="2A9060"/>
                </a:solidFill>
                <a:latin typeface="Calibri" pitchFamily="34" charset="0"/>
                <a:ea typeface="Calibri" pitchFamily="34" charset="-122"/>
                <a:cs typeface="Calibri" pitchFamily="34" charset="-120"/>
              </a:rPr>
              <a:t>B) Because the full story includes what happened to people and places</a:t>
            </a:r>
            <a:endParaRPr lang="en-US" sz="1100" dirty="0"/>
          </a:p>
        </p:txBody>
      </p:sp>
      <p:sp>
        <p:nvSpPr>
          <p:cNvPr id="18" name="Text 16"/>
          <p:cNvSpPr/>
          <p:nvPr/>
        </p:nvSpPr>
        <p:spPr>
          <a:xfrm>
            <a:off x="640080" y="4407408"/>
            <a:ext cx="8046720" cy="22860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C) Because museums only show sad things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D4943A"/>
          </a:solidFill>
          <a:ln w="12700">
            <a:solidFill>
              <a:srgbClr val="D4943A"/>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YOUR ASSIGNMENT — EVIDENCE QUESTIONS</a:t>
            </a:r>
            <a:endParaRPr lang="en-US" sz="1000" dirty="0"/>
          </a:p>
        </p:txBody>
      </p:sp>
      <p:sp>
        <p:nvSpPr>
          <p:cNvPr id="4" name="Shape 2"/>
          <p:cNvSpPr/>
          <p:nvPr/>
        </p:nvSpPr>
        <p:spPr>
          <a:xfrm>
            <a:off x="365760" y="521208"/>
            <a:ext cx="8412480" cy="1298448"/>
          </a:xfrm>
          <a:prstGeom prst="roundRect">
            <a:avLst>
              <a:gd name="adj" fmla="val 8451"/>
            </a:avLst>
          </a:prstGeom>
          <a:solidFill>
            <a:srgbClr val="F0F2F8"/>
          </a:solidFill>
          <a:ln w="25400">
            <a:solidFill>
              <a:srgbClr val="55C8E8"/>
            </a:solidFill>
            <a:prstDash val="solid"/>
          </a:ln>
        </p:spPr>
      </p:sp>
      <p:sp>
        <p:nvSpPr>
          <p:cNvPr id="5" name="Shape 3"/>
          <p:cNvSpPr/>
          <p:nvPr/>
        </p:nvSpPr>
        <p:spPr>
          <a:xfrm>
            <a:off x="365760" y="521208"/>
            <a:ext cx="411480" cy="1298448"/>
          </a:xfrm>
          <a:prstGeom prst="roundRect">
            <a:avLst>
              <a:gd name="adj" fmla="val 26667"/>
            </a:avLst>
          </a:prstGeom>
          <a:solidFill>
            <a:srgbClr val="55C8E8"/>
          </a:solidFill>
          <a:ln/>
        </p:spPr>
      </p:sp>
      <p:sp>
        <p:nvSpPr>
          <p:cNvPr id="6" name="Text 4"/>
          <p:cNvSpPr/>
          <p:nvPr/>
        </p:nvSpPr>
        <p:spPr>
          <a:xfrm>
            <a:off x="365760" y="521208"/>
            <a:ext cx="411480" cy="12984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914400" y="630936"/>
            <a:ext cx="7680960" cy="65836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Pick one evidence category. Name one fact that belongs there and explain why it fits.</a:t>
            </a:r>
            <a:endParaRPr lang="en-US" sz="1400" dirty="0"/>
          </a:p>
        </p:txBody>
      </p:sp>
      <p:sp>
        <p:nvSpPr>
          <p:cNvPr id="8" name="Text 6"/>
          <p:cNvSpPr/>
          <p:nvPr/>
        </p:nvSpPr>
        <p:spPr>
          <a:xfrm>
            <a:off x="914400" y="1325880"/>
            <a:ext cx="7680960" cy="38404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Name the category → state the fact → explain why it belongs there</a:t>
            </a:r>
            <a:endParaRPr lang="en-US" sz="1100" dirty="0"/>
          </a:p>
        </p:txBody>
      </p:sp>
      <p:sp>
        <p:nvSpPr>
          <p:cNvPr id="9" name="Shape 7"/>
          <p:cNvSpPr/>
          <p:nvPr/>
        </p:nvSpPr>
        <p:spPr>
          <a:xfrm>
            <a:off x="365760" y="1938528"/>
            <a:ext cx="8412480" cy="1298448"/>
          </a:xfrm>
          <a:prstGeom prst="roundRect">
            <a:avLst>
              <a:gd name="adj" fmla="val 8451"/>
            </a:avLst>
          </a:prstGeom>
          <a:solidFill>
            <a:srgbClr val="F0F2F8"/>
          </a:solidFill>
          <a:ln w="25400">
            <a:solidFill>
              <a:srgbClr val="1A8A7D"/>
            </a:solidFill>
            <a:prstDash val="solid"/>
          </a:ln>
        </p:spPr>
      </p:sp>
      <p:sp>
        <p:nvSpPr>
          <p:cNvPr id="10" name="Shape 8"/>
          <p:cNvSpPr/>
          <p:nvPr/>
        </p:nvSpPr>
        <p:spPr>
          <a:xfrm>
            <a:off x="365760" y="1938528"/>
            <a:ext cx="411480" cy="1298448"/>
          </a:xfrm>
          <a:prstGeom prst="roundRect">
            <a:avLst>
              <a:gd name="adj" fmla="val 26667"/>
            </a:avLst>
          </a:prstGeom>
          <a:solidFill>
            <a:srgbClr val="1A8A7D"/>
          </a:solidFill>
          <a:ln/>
        </p:spPr>
      </p:sp>
      <p:sp>
        <p:nvSpPr>
          <p:cNvPr id="11" name="Text 9"/>
          <p:cNvSpPr/>
          <p:nvPr/>
        </p:nvSpPr>
        <p:spPr>
          <a:xfrm>
            <a:off x="365760" y="1938528"/>
            <a:ext cx="411480" cy="12984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914400" y="2048256"/>
            <a:ext cx="7680960" cy="65836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How do motives and consequences connect? Explain how the reasons people explored led to effects on people and places.</a:t>
            </a:r>
            <a:endParaRPr lang="en-US" sz="1400" dirty="0"/>
          </a:p>
        </p:txBody>
      </p:sp>
      <p:sp>
        <p:nvSpPr>
          <p:cNvPr id="13" name="Text 11"/>
          <p:cNvSpPr/>
          <p:nvPr/>
        </p:nvSpPr>
        <p:spPr>
          <a:xfrm>
            <a:off x="914400" y="2743200"/>
            <a:ext cx="7680960" cy="38404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Show the connection from beginning to end of the exploration story</a:t>
            </a:r>
            <a:endParaRPr lang="en-US" sz="1100" dirty="0"/>
          </a:p>
        </p:txBody>
      </p:sp>
      <p:sp>
        <p:nvSpPr>
          <p:cNvPr id="14" name="Shape 12"/>
          <p:cNvSpPr/>
          <p:nvPr/>
        </p:nvSpPr>
        <p:spPr>
          <a:xfrm>
            <a:off x="365760" y="3355848"/>
            <a:ext cx="8412480" cy="1298448"/>
          </a:xfrm>
          <a:prstGeom prst="roundRect">
            <a:avLst>
              <a:gd name="adj" fmla="val 8451"/>
            </a:avLst>
          </a:prstGeom>
          <a:solidFill>
            <a:srgbClr val="F0F2F8"/>
          </a:solidFill>
          <a:ln w="25400">
            <a:solidFill>
              <a:srgbClr val="D4943A"/>
            </a:solidFill>
            <a:prstDash val="solid"/>
          </a:ln>
        </p:spPr>
      </p:sp>
      <p:sp>
        <p:nvSpPr>
          <p:cNvPr id="15" name="Shape 13"/>
          <p:cNvSpPr/>
          <p:nvPr/>
        </p:nvSpPr>
        <p:spPr>
          <a:xfrm>
            <a:off x="365760" y="3355848"/>
            <a:ext cx="411480" cy="1298448"/>
          </a:xfrm>
          <a:prstGeom prst="roundRect">
            <a:avLst>
              <a:gd name="adj" fmla="val 26667"/>
            </a:avLst>
          </a:prstGeom>
          <a:solidFill>
            <a:srgbClr val="D4943A"/>
          </a:solidFill>
          <a:ln/>
        </p:spPr>
      </p:sp>
      <p:sp>
        <p:nvSpPr>
          <p:cNvPr id="16" name="Text 14"/>
          <p:cNvSpPr/>
          <p:nvPr/>
        </p:nvSpPr>
        <p:spPr>
          <a:xfrm>
            <a:off x="365760" y="3355848"/>
            <a:ext cx="411480" cy="129844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914400" y="3465576"/>
            <a:ext cx="7680960" cy="658368"/>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Why does the Exploration Wing need all five panels — not just the exciting ones? What does honesty have to do with being a good curator?</a:t>
            </a:r>
            <a:endParaRPr lang="en-US" sz="1400" dirty="0"/>
          </a:p>
        </p:txBody>
      </p:sp>
      <p:sp>
        <p:nvSpPr>
          <p:cNvPr id="18" name="Text 16"/>
          <p:cNvSpPr/>
          <p:nvPr/>
        </p:nvSpPr>
        <p:spPr>
          <a:xfrm>
            <a:off x="914400" y="4160520"/>
            <a:ext cx="7680960" cy="384048"/>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Think about what makes an exhibit trustworthy</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A8A7D"/>
          </a:solidFill>
          <a:ln w="12700">
            <a:solidFill>
              <a:srgbClr val="1A8A7D"/>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CURATOR TASK — EXPLORER EVIDENCE CHART</a:t>
            </a:r>
            <a:endParaRPr lang="en-US" sz="1000" dirty="0"/>
          </a:p>
        </p:txBody>
      </p:sp>
      <p:sp>
        <p:nvSpPr>
          <p:cNvPr id="4" name="Text 2"/>
          <p:cNvSpPr/>
          <p:nvPr/>
        </p:nvSpPr>
        <p:spPr>
          <a:xfrm>
            <a:off x="457200" y="493776"/>
            <a:ext cx="8229600" cy="329184"/>
          </a:xfrm>
          <a:prstGeom prst="rect">
            <a:avLst/>
          </a:prstGeom>
          <a:noFill/>
          <a:ln/>
        </p:spPr>
        <p:txBody>
          <a:bodyPr wrap="square" lIns="0" tIns="0" rIns="0" bIns="0" rtlCol="0" anchor="ctr"/>
          <a:lstStyle/>
          <a:p>
            <a:pPr indent="0" marL="0">
              <a:buNone/>
            </a:pPr>
            <a:r>
              <a:rPr lang="en-US" sz="1700" b="1" dirty="0">
                <a:solidFill>
                  <a:srgbClr val="0E1C42"/>
                </a:solidFill>
                <a:latin typeface="Cambria" pitchFamily="34" charset="0"/>
                <a:ea typeface="Cambria" pitchFamily="34" charset="-122"/>
                <a:cs typeface="Cambria" pitchFamily="34" charset="-120"/>
              </a:rPr>
              <a:t>Your final exhibit check for the Exploration Wing.</a:t>
            </a:r>
            <a:endParaRPr lang="en-US" sz="1700" dirty="0"/>
          </a:p>
        </p:txBody>
      </p:sp>
      <p:sp>
        <p:nvSpPr>
          <p:cNvPr id="5" name="Shape 3"/>
          <p:cNvSpPr/>
          <p:nvPr/>
        </p:nvSpPr>
        <p:spPr>
          <a:xfrm>
            <a:off x="365760" y="914400"/>
            <a:ext cx="8412480" cy="640080"/>
          </a:xfrm>
          <a:prstGeom prst="roundRect">
            <a:avLst>
              <a:gd name="adj" fmla="val 14286"/>
            </a:avLst>
          </a:prstGeom>
          <a:solidFill>
            <a:srgbClr val="1A2D5A"/>
          </a:solidFill>
          <a:ln/>
        </p:spPr>
      </p:sp>
      <p:sp>
        <p:nvSpPr>
          <p:cNvPr id="6" name="Text 4"/>
          <p:cNvSpPr/>
          <p:nvPr/>
        </p:nvSpPr>
        <p:spPr>
          <a:xfrm>
            <a:off x="548640" y="914400"/>
            <a:ext cx="80467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Choose at least THREE categories. Write ONE key fact for each. Then write ONE sentence connecting them.</a:t>
            </a:r>
            <a:endParaRPr lang="en-US" sz="1400" dirty="0"/>
          </a:p>
        </p:txBody>
      </p:sp>
      <p:sp>
        <p:nvSpPr>
          <p:cNvPr id="7" name="Shape 5"/>
          <p:cNvSpPr/>
          <p:nvPr/>
        </p:nvSpPr>
        <p:spPr>
          <a:xfrm>
            <a:off x="365760" y="1691640"/>
            <a:ext cx="2011680" cy="493776"/>
          </a:xfrm>
          <a:prstGeom prst="roundRect">
            <a:avLst>
              <a:gd name="adj" fmla="val 14815"/>
            </a:avLst>
          </a:prstGeom>
          <a:solidFill>
            <a:srgbClr val="D4943A"/>
          </a:solidFill>
          <a:ln/>
        </p:spPr>
      </p:sp>
      <p:sp>
        <p:nvSpPr>
          <p:cNvPr id="8" name="Text 6"/>
          <p:cNvSpPr/>
          <p:nvPr/>
        </p:nvSpPr>
        <p:spPr>
          <a:xfrm>
            <a:off x="365760" y="1691640"/>
            <a:ext cx="201168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Motives</a:t>
            </a:r>
            <a:endParaRPr lang="en-US" sz="1300" dirty="0"/>
          </a:p>
        </p:txBody>
      </p:sp>
      <p:sp>
        <p:nvSpPr>
          <p:cNvPr id="9" name="Shape 7"/>
          <p:cNvSpPr/>
          <p:nvPr/>
        </p:nvSpPr>
        <p:spPr>
          <a:xfrm>
            <a:off x="2514600" y="1691640"/>
            <a:ext cx="6263640" cy="493776"/>
          </a:xfrm>
          <a:prstGeom prst="roundRect">
            <a:avLst>
              <a:gd name="adj" fmla="val 14815"/>
            </a:avLst>
          </a:prstGeom>
          <a:solidFill>
            <a:srgbClr val="F0F2F8"/>
          </a:solidFill>
          <a:ln w="12700">
            <a:solidFill>
              <a:srgbClr val="C8D0E0"/>
            </a:solidFill>
            <a:prstDash val="dash"/>
          </a:ln>
        </p:spPr>
      </p:sp>
      <p:sp>
        <p:nvSpPr>
          <p:cNvPr id="10" name="Text 8"/>
          <p:cNvSpPr/>
          <p:nvPr/>
        </p:nvSpPr>
        <p:spPr>
          <a:xfrm>
            <a:off x="2651760" y="1691640"/>
            <a:ext cx="5989320" cy="493776"/>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Why people explored — a reason or goal</a:t>
            </a:r>
            <a:endParaRPr lang="en-US" sz="1100" dirty="0"/>
          </a:p>
        </p:txBody>
      </p:sp>
      <p:sp>
        <p:nvSpPr>
          <p:cNvPr id="11" name="Shape 9"/>
          <p:cNvSpPr/>
          <p:nvPr/>
        </p:nvSpPr>
        <p:spPr>
          <a:xfrm>
            <a:off x="365760" y="2276856"/>
            <a:ext cx="2011680" cy="493776"/>
          </a:xfrm>
          <a:prstGeom prst="roundRect">
            <a:avLst>
              <a:gd name="adj" fmla="val 14815"/>
            </a:avLst>
          </a:prstGeom>
          <a:solidFill>
            <a:srgbClr val="1A8A7D"/>
          </a:solidFill>
          <a:ln/>
        </p:spPr>
      </p:sp>
      <p:sp>
        <p:nvSpPr>
          <p:cNvPr id="12" name="Text 10"/>
          <p:cNvSpPr/>
          <p:nvPr/>
        </p:nvSpPr>
        <p:spPr>
          <a:xfrm>
            <a:off x="365760" y="2276856"/>
            <a:ext cx="201168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Tools</a:t>
            </a:r>
            <a:endParaRPr lang="en-US" sz="1300" dirty="0"/>
          </a:p>
        </p:txBody>
      </p:sp>
      <p:sp>
        <p:nvSpPr>
          <p:cNvPr id="13" name="Shape 11"/>
          <p:cNvSpPr/>
          <p:nvPr/>
        </p:nvSpPr>
        <p:spPr>
          <a:xfrm>
            <a:off x="2514600" y="2276856"/>
            <a:ext cx="6263640" cy="493776"/>
          </a:xfrm>
          <a:prstGeom prst="roundRect">
            <a:avLst>
              <a:gd name="adj" fmla="val 14815"/>
            </a:avLst>
          </a:prstGeom>
          <a:solidFill>
            <a:srgbClr val="F0F2F8"/>
          </a:solidFill>
          <a:ln w="12700">
            <a:solidFill>
              <a:srgbClr val="C8D0E0"/>
            </a:solidFill>
            <a:prstDash val="dash"/>
          </a:ln>
        </p:spPr>
      </p:sp>
      <p:sp>
        <p:nvSpPr>
          <p:cNvPr id="14" name="Text 12"/>
          <p:cNvSpPr/>
          <p:nvPr/>
        </p:nvSpPr>
        <p:spPr>
          <a:xfrm>
            <a:off x="2651760" y="2276856"/>
            <a:ext cx="5989320" cy="493776"/>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navigation instrument or ship</a:t>
            </a:r>
            <a:endParaRPr lang="en-US" sz="1100" dirty="0"/>
          </a:p>
        </p:txBody>
      </p:sp>
      <p:sp>
        <p:nvSpPr>
          <p:cNvPr id="15" name="Shape 13"/>
          <p:cNvSpPr/>
          <p:nvPr/>
        </p:nvSpPr>
        <p:spPr>
          <a:xfrm>
            <a:off x="365760" y="2862072"/>
            <a:ext cx="2011680" cy="493776"/>
          </a:xfrm>
          <a:prstGeom prst="roundRect">
            <a:avLst>
              <a:gd name="adj" fmla="val 14815"/>
            </a:avLst>
          </a:prstGeom>
          <a:solidFill>
            <a:srgbClr val="8B6FC0"/>
          </a:solidFill>
          <a:ln/>
        </p:spPr>
      </p:sp>
      <p:sp>
        <p:nvSpPr>
          <p:cNvPr id="16" name="Text 14"/>
          <p:cNvSpPr/>
          <p:nvPr/>
        </p:nvSpPr>
        <p:spPr>
          <a:xfrm>
            <a:off x="365760" y="2862072"/>
            <a:ext cx="201168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Routes</a:t>
            </a:r>
            <a:endParaRPr lang="en-US" sz="1300" dirty="0"/>
          </a:p>
        </p:txBody>
      </p:sp>
      <p:sp>
        <p:nvSpPr>
          <p:cNvPr id="17" name="Shape 15"/>
          <p:cNvSpPr/>
          <p:nvPr/>
        </p:nvSpPr>
        <p:spPr>
          <a:xfrm>
            <a:off x="2514600" y="2862072"/>
            <a:ext cx="6263640" cy="493776"/>
          </a:xfrm>
          <a:prstGeom prst="roundRect">
            <a:avLst>
              <a:gd name="adj" fmla="val 14815"/>
            </a:avLst>
          </a:prstGeom>
          <a:solidFill>
            <a:srgbClr val="F0F2F8"/>
          </a:solidFill>
          <a:ln w="12700">
            <a:solidFill>
              <a:srgbClr val="C8D0E0"/>
            </a:solidFill>
            <a:prstDash val="dash"/>
          </a:ln>
        </p:spPr>
      </p:sp>
      <p:sp>
        <p:nvSpPr>
          <p:cNvPr id="18" name="Text 16"/>
          <p:cNvSpPr/>
          <p:nvPr/>
        </p:nvSpPr>
        <p:spPr>
          <a:xfrm>
            <a:off x="2651760" y="2862072"/>
            <a:ext cx="5989320" cy="493776"/>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 voyage path or destination</a:t>
            </a:r>
            <a:endParaRPr lang="en-US" sz="1100" dirty="0"/>
          </a:p>
        </p:txBody>
      </p:sp>
      <p:sp>
        <p:nvSpPr>
          <p:cNvPr id="19" name="Shape 17"/>
          <p:cNvSpPr/>
          <p:nvPr/>
        </p:nvSpPr>
        <p:spPr>
          <a:xfrm>
            <a:off x="365760" y="3447288"/>
            <a:ext cx="2011680" cy="493776"/>
          </a:xfrm>
          <a:prstGeom prst="roundRect">
            <a:avLst>
              <a:gd name="adj" fmla="val 14815"/>
            </a:avLst>
          </a:prstGeom>
          <a:solidFill>
            <a:srgbClr val="34B76F"/>
          </a:solidFill>
          <a:ln/>
        </p:spPr>
      </p:sp>
      <p:sp>
        <p:nvSpPr>
          <p:cNvPr id="20" name="Text 18"/>
          <p:cNvSpPr/>
          <p:nvPr/>
        </p:nvSpPr>
        <p:spPr>
          <a:xfrm>
            <a:off x="365760" y="3447288"/>
            <a:ext cx="201168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Discoveries</a:t>
            </a:r>
            <a:endParaRPr lang="en-US" sz="1300" dirty="0"/>
          </a:p>
        </p:txBody>
      </p:sp>
      <p:sp>
        <p:nvSpPr>
          <p:cNvPr id="21" name="Shape 19"/>
          <p:cNvSpPr/>
          <p:nvPr/>
        </p:nvSpPr>
        <p:spPr>
          <a:xfrm>
            <a:off x="2514600" y="3447288"/>
            <a:ext cx="6263640" cy="493776"/>
          </a:xfrm>
          <a:prstGeom prst="roundRect">
            <a:avLst>
              <a:gd name="adj" fmla="val 14815"/>
            </a:avLst>
          </a:prstGeom>
          <a:solidFill>
            <a:srgbClr val="F0F2F8"/>
          </a:solidFill>
          <a:ln w="12700">
            <a:solidFill>
              <a:srgbClr val="C8D0E0"/>
            </a:solidFill>
            <a:prstDash val="dash"/>
          </a:ln>
        </p:spPr>
      </p:sp>
      <p:sp>
        <p:nvSpPr>
          <p:cNvPr id="22" name="Text 20"/>
          <p:cNvSpPr/>
          <p:nvPr/>
        </p:nvSpPr>
        <p:spPr>
          <a:xfrm>
            <a:off x="2651760" y="3447288"/>
            <a:ext cx="5989320" cy="493776"/>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Something found or learned</a:t>
            </a:r>
            <a:endParaRPr lang="en-US" sz="1100" dirty="0"/>
          </a:p>
        </p:txBody>
      </p:sp>
      <p:sp>
        <p:nvSpPr>
          <p:cNvPr id="23" name="Shape 21"/>
          <p:cNvSpPr/>
          <p:nvPr/>
        </p:nvSpPr>
        <p:spPr>
          <a:xfrm>
            <a:off x="365760" y="4032504"/>
            <a:ext cx="2011680" cy="493776"/>
          </a:xfrm>
          <a:prstGeom prst="roundRect">
            <a:avLst>
              <a:gd name="adj" fmla="val 14815"/>
            </a:avLst>
          </a:prstGeom>
          <a:solidFill>
            <a:srgbClr val="E8636B"/>
          </a:solidFill>
          <a:ln/>
        </p:spPr>
      </p:sp>
      <p:sp>
        <p:nvSpPr>
          <p:cNvPr id="24" name="Text 22"/>
          <p:cNvSpPr/>
          <p:nvPr/>
        </p:nvSpPr>
        <p:spPr>
          <a:xfrm>
            <a:off x="365760" y="4032504"/>
            <a:ext cx="2011680"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Consequences</a:t>
            </a:r>
            <a:endParaRPr lang="en-US" sz="1300" dirty="0"/>
          </a:p>
        </p:txBody>
      </p:sp>
      <p:sp>
        <p:nvSpPr>
          <p:cNvPr id="25" name="Shape 23"/>
          <p:cNvSpPr/>
          <p:nvPr/>
        </p:nvSpPr>
        <p:spPr>
          <a:xfrm>
            <a:off x="2514600" y="4032504"/>
            <a:ext cx="6263640" cy="493776"/>
          </a:xfrm>
          <a:prstGeom prst="roundRect">
            <a:avLst>
              <a:gd name="adj" fmla="val 14815"/>
            </a:avLst>
          </a:prstGeom>
          <a:solidFill>
            <a:srgbClr val="F0F2F8"/>
          </a:solidFill>
          <a:ln w="12700">
            <a:solidFill>
              <a:srgbClr val="C8D0E0"/>
            </a:solidFill>
            <a:prstDash val="dash"/>
          </a:ln>
        </p:spPr>
      </p:sp>
      <p:sp>
        <p:nvSpPr>
          <p:cNvPr id="26" name="Text 24"/>
          <p:cNvSpPr/>
          <p:nvPr/>
        </p:nvSpPr>
        <p:spPr>
          <a:xfrm>
            <a:off x="2651760" y="4032504"/>
            <a:ext cx="5989320" cy="493776"/>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Something that happened as a result</a:t>
            </a:r>
            <a:endParaRPr lang="en-US" sz="1100" dirty="0"/>
          </a:p>
        </p:txBody>
      </p:sp>
      <p:sp>
        <p:nvSpPr>
          <p:cNvPr id="27" name="Shape 25"/>
          <p:cNvSpPr/>
          <p:nvPr/>
        </p:nvSpPr>
        <p:spPr>
          <a:xfrm>
            <a:off x="365760" y="4663440"/>
            <a:ext cx="8412480" cy="365760"/>
          </a:xfrm>
          <a:prstGeom prst="roundRect">
            <a:avLst>
              <a:gd name="adj" fmla="val 20000"/>
            </a:avLst>
          </a:prstGeom>
          <a:solidFill>
            <a:srgbClr val="FFF3DC"/>
          </a:solidFill>
          <a:ln w="19050">
            <a:solidFill>
              <a:srgbClr val="D4943A"/>
            </a:solidFill>
            <a:prstDash val="solid"/>
          </a:ln>
        </p:spPr>
      </p:sp>
      <p:sp>
        <p:nvSpPr>
          <p:cNvPr id="28" name="Text 26"/>
          <p:cNvSpPr/>
          <p:nvPr/>
        </p:nvSpPr>
        <p:spPr>
          <a:xfrm>
            <a:off x="548640" y="4663440"/>
            <a:ext cx="8046720" cy="365760"/>
          </a:xfrm>
          <a:prstGeom prst="rect">
            <a:avLst/>
          </a:prstGeom>
          <a:noFill/>
          <a:ln/>
        </p:spPr>
        <p:txBody>
          <a:bodyPr wrap="square" lIns="0" tIns="0" rIns="0" bIns="0"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Connection sentence: Write one sentence showing that exploration is one connected story, not five separate topics.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8B6FC0"/>
          </a:solidFill>
          <a:ln w="12700">
            <a:solidFill>
              <a:srgbClr val="8B6FC0"/>
            </a:solidFill>
            <a:prstDash val="solid"/>
          </a:ln>
        </p:spPr>
      </p:sp>
      <p:sp>
        <p:nvSpPr>
          <p:cNvPr id="3" name="Text 1"/>
          <p:cNvSpPr/>
          <p:nvPr/>
        </p:nvSpPr>
        <p:spPr>
          <a:xfrm>
            <a:off x="457200" y="164592"/>
            <a:ext cx="8229600" cy="256032"/>
          </a:xfrm>
          <a:prstGeom prst="rect">
            <a:avLst/>
          </a:prstGeom>
          <a:noFill/>
          <a:ln/>
        </p:spPr>
        <p:txBody>
          <a:bodyPr wrap="square" lIns="0" tIns="0" rIns="0" bIns="0" rtlCol="0" anchor="ctr"/>
          <a:lstStyle/>
          <a:p>
            <a:pPr algn="ctr" indent="0" marL="0">
              <a:buNone/>
            </a:pPr>
            <a:r>
              <a:rPr lang="en-US" sz="1000" b="1" spc="200" kern="0" dirty="0">
                <a:solidFill>
                  <a:srgbClr val="7A88A8"/>
                </a:solidFill>
                <a:latin typeface="Calibri" pitchFamily="34" charset="0"/>
                <a:ea typeface="Calibri" pitchFamily="34" charset="-122"/>
                <a:cs typeface="Calibri" pitchFamily="34" charset="-120"/>
              </a:rPr>
              <a:t>CURATOR'S CHRONICLE — FINAL REFLECTION</a:t>
            </a:r>
            <a:endParaRPr lang="en-US" sz="1000" dirty="0"/>
          </a:p>
        </p:txBody>
      </p:sp>
      <p:sp>
        <p:nvSpPr>
          <p:cNvPr id="4" name="Text 2"/>
          <p:cNvSpPr/>
          <p:nvPr/>
        </p:nvSpPr>
        <p:spPr>
          <a:xfrm>
            <a:off x="457200" y="502920"/>
            <a:ext cx="8229600" cy="36576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Your Final Chronicle for the Exploration Wing.</a:t>
            </a:r>
            <a:endParaRPr lang="en-US" sz="2000" dirty="0"/>
          </a:p>
        </p:txBody>
      </p:sp>
      <p:sp>
        <p:nvSpPr>
          <p:cNvPr id="5" name="Shape 3"/>
          <p:cNvSpPr/>
          <p:nvPr/>
        </p:nvSpPr>
        <p:spPr>
          <a:xfrm>
            <a:off x="365760" y="987552"/>
            <a:ext cx="8412480" cy="1097280"/>
          </a:xfrm>
          <a:prstGeom prst="roundRect">
            <a:avLst>
              <a:gd name="adj" fmla="val 12500"/>
            </a:avLst>
          </a:prstGeom>
          <a:solidFill>
            <a:srgbClr val="0E1C42"/>
          </a:solidFill>
          <a:ln/>
        </p:spPr>
      </p:sp>
      <p:sp>
        <p:nvSpPr>
          <p:cNvPr id="6" name="Text 4"/>
          <p:cNvSpPr/>
          <p:nvPr/>
        </p:nvSpPr>
        <p:spPr>
          <a:xfrm>
            <a:off x="548640" y="1060704"/>
            <a:ext cx="8046720" cy="274320"/>
          </a:xfrm>
          <a:prstGeom prst="rect">
            <a:avLst/>
          </a:prstGeom>
          <a:noFill/>
          <a:ln/>
        </p:spPr>
        <p:txBody>
          <a:bodyPr wrap="square" lIns="0" tIns="0" rIns="0" bIns="0"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Finish this sentence in your own words:</a:t>
            </a:r>
            <a:endParaRPr lang="en-US" sz="1100" dirty="0"/>
          </a:p>
        </p:txBody>
      </p:sp>
      <p:sp>
        <p:nvSpPr>
          <p:cNvPr id="7" name="Text 5"/>
          <p:cNvSpPr/>
          <p:nvPr/>
        </p:nvSpPr>
        <p:spPr>
          <a:xfrm>
            <a:off x="548640" y="1353312"/>
            <a:ext cx="8046720" cy="640080"/>
          </a:xfrm>
          <a:prstGeom prst="rect">
            <a:avLst/>
          </a:prstGeom>
          <a:noFill/>
          <a:ln/>
        </p:spPr>
        <p:txBody>
          <a:bodyPr wrap="square" lIns="0" tIns="0" rIns="0" bIns="0" rtlCol="0" anchor="ctr"/>
          <a:lstStyle/>
          <a:p>
            <a:pPr algn="ctr" indent="0" marL="0">
              <a:buNone/>
            </a:pPr>
            <a:r>
              <a:rPr lang="en-US" sz="2000" b="1" i="1" dirty="0">
                <a:solidFill>
                  <a:srgbClr val="D4943A"/>
                </a:solidFill>
                <a:latin typeface="Cambria" pitchFamily="34" charset="0"/>
                <a:ea typeface="Cambria" pitchFamily="34" charset="-122"/>
                <a:cs typeface="Cambria" pitchFamily="34" charset="-120"/>
              </a:rPr>
              <a:t>"In this exhibit, I learned that _______ because _______."</a:t>
            </a:r>
            <a:endParaRPr lang="en-US" sz="2000" dirty="0"/>
          </a:p>
        </p:txBody>
      </p:sp>
      <p:sp>
        <p:nvSpPr>
          <p:cNvPr id="8" name="Shape 6"/>
          <p:cNvSpPr/>
          <p:nvPr/>
        </p:nvSpPr>
        <p:spPr>
          <a:xfrm>
            <a:off x="365760" y="2212848"/>
            <a:ext cx="8412480" cy="658368"/>
          </a:xfrm>
          <a:prstGeom prst="roundRect">
            <a:avLst>
              <a:gd name="adj" fmla="val 13889"/>
            </a:avLst>
          </a:prstGeom>
          <a:solidFill>
            <a:srgbClr val="F0F2F8"/>
          </a:solidFill>
          <a:ln w="12700">
            <a:solidFill>
              <a:srgbClr val="C8D0E0"/>
            </a:solidFill>
            <a:prstDash val="solid"/>
          </a:ln>
        </p:spPr>
      </p:sp>
      <p:sp>
        <p:nvSpPr>
          <p:cNvPr id="9" name="Text 7"/>
          <p:cNvSpPr/>
          <p:nvPr/>
        </p:nvSpPr>
        <p:spPr>
          <a:xfrm>
            <a:off x="548640" y="2212848"/>
            <a:ext cx="8046720" cy="658368"/>
          </a:xfrm>
          <a:prstGeom prst="rect">
            <a:avLst/>
          </a:prstGeom>
          <a:noFill/>
          <a:ln/>
        </p:spPr>
        <p:txBody>
          <a:bodyPr wrap="square" lIns="0" tIns="0" rIns="0" bIns="0" rtlCol="0" anchor="ctr"/>
          <a:lstStyle/>
          <a:p>
            <a:pPr algn="ctr" indent="0" marL="0">
              <a:buNone/>
            </a:pPr>
            <a:r>
              <a:rPr lang="en-US" sz="1600" i="1" dirty="0">
                <a:solidFill>
                  <a:srgbClr val="0E1C42"/>
                </a:solidFill>
                <a:latin typeface="Cambria" pitchFamily="34" charset="0"/>
                <a:ea typeface="Cambria" pitchFamily="34" charset="-122"/>
                <a:cs typeface="Cambria" pitchFamily="34" charset="-120"/>
              </a:rPr>
              <a:t>At first I thought...   but now I know...</a:t>
            </a:r>
            <a:endParaRPr lang="en-US" sz="1600" dirty="0"/>
          </a:p>
        </p:txBody>
      </p:sp>
      <p:sp>
        <p:nvSpPr>
          <p:cNvPr id="10" name="Shape 8"/>
          <p:cNvSpPr/>
          <p:nvPr/>
        </p:nvSpPr>
        <p:spPr>
          <a:xfrm>
            <a:off x="365760" y="3017520"/>
            <a:ext cx="8412480" cy="1536192"/>
          </a:xfrm>
          <a:prstGeom prst="roundRect">
            <a:avLst>
              <a:gd name="adj" fmla="val 7143"/>
            </a:avLst>
          </a:prstGeom>
          <a:solidFill>
            <a:srgbClr val="1A2D5A"/>
          </a:solidFill>
          <a:ln/>
        </p:spPr>
      </p:sp>
      <p:sp>
        <p:nvSpPr>
          <p:cNvPr id="11" name="Text 9"/>
          <p:cNvSpPr/>
          <p:nvPr/>
        </p:nvSpPr>
        <p:spPr>
          <a:xfrm>
            <a:off x="548640" y="3090672"/>
            <a:ext cx="804672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TURN-IN CHECKLIST</a:t>
            </a:r>
            <a:endParaRPr lang="en-US" sz="900" dirty="0"/>
          </a:p>
        </p:txBody>
      </p:sp>
      <p:sp>
        <p:nvSpPr>
          <p:cNvPr id="12" name="Text 10"/>
          <p:cNvSpPr/>
          <p:nvPr/>
        </p:nvSpPr>
        <p:spPr>
          <a:xfrm>
            <a:off x="548640" y="3364992"/>
            <a:ext cx="8046720" cy="1115568"/>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 answered all three evidence questions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 completed the Explorer Evidence Chart (3+ categories, 1 fact each, 1 connection sentence)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 wrote my Curator's Chronicle</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 copied or downloaded my work and submitted to Canvas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0"/>
            <a:ext cx="9144000" cy="73152"/>
          </a:xfrm>
          <a:prstGeom prst="rect">
            <a:avLst/>
          </a:prstGeom>
          <a:solidFill>
            <a:srgbClr val="D4943A"/>
          </a:solidFill>
          <a:ln w="12700">
            <a:solidFill>
              <a:srgbClr val="D4943A"/>
            </a:solidFill>
            <a:prstDash val="solid"/>
          </a:ln>
        </p:spPr>
      </p:sp>
      <p:sp>
        <p:nvSpPr>
          <p:cNvPr id="5" name="Shape 3"/>
          <p:cNvSpPr/>
          <p:nvPr/>
        </p:nvSpPr>
        <p:spPr>
          <a:xfrm>
            <a:off x="0" y="5070348"/>
            <a:ext cx="9144000" cy="73152"/>
          </a:xfrm>
          <a:prstGeom prst="rect">
            <a:avLst/>
          </a:prstGeom>
          <a:solidFill>
            <a:srgbClr val="D4943A"/>
          </a:solidFill>
          <a:ln w="12700">
            <a:solidFill>
              <a:srgbClr val="D4943A"/>
            </a:solidFill>
            <a:prstDash val="solid"/>
          </a:ln>
        </p:spPr>
      </p:sp>
      <p:sp>
        <p:nvSpPr>
          <p:cNvPr id="6" name="Text 4"/>
          <p:cNvSpPr/>
          <p:nvPr/>
        </p:nvSpPr>
        <p:spPr>
          <a:xfrm>
            <a:off x="457200" y="256032"/>
            <a:ext cx="8229600" cy="27432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EXPLORATION WING  ·  INSPECTION PASSED</a:t>
            </a:r>
            <a:endParaRPr lang="en-US" sz="1000" dirty="0"/>
          </a:p>
        </p:txBody>
      </p:sp>
      <p:sp>
        <p:nvSpPr>
          <p:cNvPr id="7" name="Shape 5"/>
          <p:cNvSpPr/>
          <p:nvPr/>
        </p:nvSpPr>
        <p:spPr>
          <a:xfrm>
            <a:off x="3200400" y="658368"/>
            <a:ext cx="2743200" cy="640080"/>
          </a:xfrm>
          <a:prstGeom prst="roundRect">
            <a:avLst>
              <a:gd name="adj" fmla="val 14286"/>
            </a:avLst>
          </a:prstGeom>
          <a:solidFill>
            <a:srgbClr val="D4943A"/>
          </a:solidFill>
          <a:ln/>
        </p:spPr>
      </p:sp>
      <p:sp>
        <p:nvSpPr>
          <p:cNvPr id="8" name="Text 6"/>
          <p:cNvSpPr/>
          <p:nvPr/>
        </p:nvSpPr>
        <p:spPr>
          <a:xfrm>
            <a:off x="3200400" y="658368"/>
            <a:ext cx="2743200" cy="640080"/>
          </a:xfrm>
          <a:prstGeom prst="rect">
            <a:avLst/>
          </a:prstGeom>
          <a:noFill/>
          <a:ln/>
        </p:spPr>
        <p:txBody>
          <a:bodyPr wrap="square" lIns="0" tIns="0" rIns="0" bIns="0" rtlCol="0" anchor="ctr"/>
          <a:lstStyle/>
          <a:p>
            <a:pPr algn="ctr" indent="0" marL="0">
              <a:buNone/>
            </a:pPr>
            <a:r>
              <a:rPr lang="en-US" sz="1300" b="1" spc="100" kern="0" dirty="0">
                <a:solidFill>
                  <a:srgbClr val="0E1C42"/>
                </a:solidFill>
                <a:latin typeface="Cambria" pitchFamily="34" charset="0"/>
                <a:ea typeface="Cambria" pitchFamily="34" charset="-122"/>
                <a:cs typeface="Cambria" pitchFamily="34" charset="-120"/>
              </a:rPr>
              <a:t>ROUTE READER — CERTIFIED</a:t>
            </a:r>
            <a:endParaRPr lang="en-US" sz="1300" dirty="0"/>
          </a:p>
        </p:txBody>
      </p:sp>
      <p:sp>
        <p:nvSpPr>
          <p:cNvPr id="9" name="Text 7"/>
          <p:cNvSpPr/>
          <p:nvPr/>
        </p:nvSpPr>
        <p:spPr>
          <a:xfrm>
            <a:off x="914400" y="1417320"/>
            <a:ext cx="7315200" cy="621792"/>
          </a:xfrm>
          <a:prstGeom prst="rect">
            <a:avLst/>
          </a:prstGeom>
          <a:noFill/>
          <a:ln/>
        </p:spPr>
        <p:txBody>
          <a:bodyPr wrap="square" lIns="0" tIns="0" rIns="0" bIns="0" rtlCol="0" anchor="ctr"/>
          <a:lstStyle/>
          <a:p>
            <a:pPr algn="ctr" indent="0" marL="0">
              <a:buNone/>
            </a:pPr>
            <a:r>
              <a:rPr lang="en-US" sz="3800" b="1" dirty="0">
                <a:solidFill>
                  <a:srgbClr val="D4943A"/>
                </a:solidFill>
                <a:latin typeface="Cambria" pitchFamily="34" charset="0"/>
                <a:ea typeface="Cambria" pitchFamily="34" charset="-122"/>
                <a:cs typeface="Cambria" pitchFamily="34" charset="-120"/>
              </a:rPr>
              <a:t>You did it.</a:t>
            </a:r>
            <a:endParaRPr lang="en-US" sz="3800" dirty="0"/>
          </a:p>
        </p:txBody>
      </p:sp>
      <p:sp>
        <p:nvSpPr>
          <p:cNvPr id="10" name="Text 8"/>
          <p:cNvSpPr/>
          <p:nvPr/>
        </p:nvSpPr>
        <p:spPr>
          <a:xfrm>
            <a:off x="914400" y="2148840"/>
            <a:ext cx="7315200" cy="685800"/>
          </a:xfrm>
          <a:prstGeom prst="rect">
            <a:avLst/>
          </a:prstGeom>
          <a:noFill/>
          <a:ln/>
        </p:spPr>
        <p:txBody>
          <a:bodyPr wrap="square" lIns="0" tIns="0" rIns="0" bIns="0" rtlCol="0" anchor="ctr"/>
          <a:lstStyle/>
          <a:p>
            <a:pPr algn="ctr" indent="0" marL="0">
              <a:buNone/>
            </a:pPr>
            <a:r>
              <a:rPr lang="en-US" sz="1600" i="1" dirty="0">
                <a:solidFill>
                  <a:srgbClr val="FFFFFF"/>
                </a:solidFill>
                <a:latin typeface="Cambria" pitchFamily="34" charset="0"/>
                <a:ea typeface="Cambria" pitchFamily="34" charset="-122"/>
                <a:cs typeface="Cambria" pitchFamily="34" charset="-120"/>
              </a:rPr>
              <a:t>Three weeks ago, you opened a crate full of route sketches and question cards.</a:t>
            </a:r>
            <a:endParaRPr lang="en-US" sz="1600" dirty="0"/>
          </a:p>
          <a:p>
            <a:pPr algn="ctr" indent="0" marL="0">
              <a:buNone/>
            </a:pPr>
            <a:r>
              <a:rPr lang="en-US" sz="1600" i="1" dirty="0">
                <a:solidFill>
                  <a:srgbClr val="FFFFFF"/>
                </a:solidFill>
                <a:latin typeface="Cambria" pitchFamily="34" charset="0"/>
                <a:ea typeface="Cambria" pitchFamily="34" charset="-122"/>
                <a:cs typeface="Cambria" pitchFamily="34" charset="-120"/>
              </a:rPr>
              <a:t>Now you've built an entire exhibit wing.</a:t>
            </a:r>
            <a:endParaRPr lang="en-US" sz="1600" dirty="0"/>
          </a:p>
        </p:txBody>
      </p:sp>
      <p:sp>
        <p:nvSpPr>
          <p:cNvPr id="11" name="Text 9"/>
          <p:cNvSpPr/>
          <p:nvPr/>
        </p:nvSpPr>
        <p:spPr>
          <a:xfrm>
            <a:off x="914400" y="2880360"/>
            <a:ext cx="7315200" cy="411480"/>
          </a:xfrm>
          <a:prstGeom prst="rect">
            <a:avLst/>
          </a:prstGeom>
          <a:noFill/>
          <a:ln/>
        </p:spPr>
        <p:txBody>
          <a:bodyPr wrap="square" lIns="0" tIns="0" rIns="0" bIns="0" rtlCol="0" anchor="ctr"/>
          <a:lstStyle/>
          <a:p>
            <a:pPr algn="ctr" indent="0" marL="0">
              <a:buNone/>
            </a:pPr>
            <a:r>
              <a:rPr lang="en-US" sz="1500" b="1" dirty="0">
                <a:solidFill>
                  <a:srgbClr val="55C8E8"/>
                </a:solidFill>
                <a:latin typeface="Calibri" pitchFamily="34" charset="0"/>
                <a:ea typeface="Calibri" pitchFamily="34" charset="-122"/>
                <a:cs typeface="Calibri" pitchFamily="34" charset="-120"/>
              </a:rPr>
              <a:t>Motives. Tools. Routes. Discoveries. Consequences. You told the truth about all of it.</a:t>
            </a:r>
            <a:endParaRPr lang="en-US" sz="1500" dirty="0"/>
          </a:p>
        </p:txBody>
      </p:sp>
      <p:sp>
        <p:nvSpPr>
          <p:cNvPr id="12" name="Shape 10"/>
          <p:cNvSpPr/>
          <p:nvPr/>
        </p:nvSpPr>
        <p:spPr>
          <a:xfrm>
            <a:off x="914400" y="3429000"/>
            <a:ext cx="7315200" cy="1170432"/>
          </a:xfrm>
          <a:prstGeom prst="roundRect">
            <a:avLst>
              <a:gd name="adj" fmla="val 11719"/>
            </a:avLst>
          </a:prstGeom>
          <a:solidFill>
            <a:srgbClr val="1A2D5A"/>
          </a:solidFill>
          <a:ln w="19050">
            <a:solidFill>
              <a:srgbClr val="D4943A"/>
            </a:solidFill>
            <a:prstDash val="solid"/>
          </a:ln>
        </p:spPr>
      </p:sp>
      <p:sp>
        <p:nvSpPr>
          <p:cNvPr id="13" name="Text 11"/>
          <p:cNvSpPr/>
          <p:nvPr/>
        </p:nvSpPr>
        <p:spPr>
          <a:xfrm>
            <a:off x="1097280" y="3502152"/>
            <a:ext cx="694944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COMING NEXT</a:t>
            </a:r>
            <a:endParaRPr lang="en-US" sz="900" dirty="0"/>
          </a:p>
        </p:txBody>
      </p:sp>
      <p:sp>
        <p:nvSpPr>
          <p:cNvPr id="14" name="Text 12"/>
          <p:cNvSpPr/>
          <p:nvPr/>
        </p:nvSpPr>
        <p:spPr>
          <a:xfrm>
            <a:off x="1097280" y="3785616"/>
            <a:ext cx="6949440" cy="384048"/>
          </a:xfrm>
          <a:prstGeom prst="rect">
            <a:avLst/>
          </a:prstGeom>
          <a:noFill/>
          <a:ln/>
        </p:spPr>
        <p:txBody>
          <a:bodyPr wrap="square" lIns="0" tIns="0" rIns="0" bIns="0"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The Great Map Room</a:t>
            </a:r>
            <a:endParaRPr lang="en-US" sz="2200" dirty="0"/>
          </a:p>
        </p:txBody>
      </p:sp>
      <p:sp>
        <p:nvSpPr>
          <p:cNvPr id="15" name="Text 13"/>
          <p:cNvSpPr/>
          <p:nvPr/>
        </p:nvSpPr>
        <p:spPr>
          <a:xfrm>
            <a:off x="1097280" y="4178808"/>
            <a:ext cx="6949440" cy="347472"/>
          </a:xfrm>
          <a:prstGeom prst="rect">
            <a:avLst/>
          </a:prstGeom>
          <a:noFill/>
          <a:ln/>
        </p:spPr>
        <p:txBody>
          <a:bodyPr wrap="square" lIns="0" tIns="0" rIns="0" bIns="0"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"No route can be understood without map language." Your new title: Map Curator.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Optima Academy Online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 3.02.06 Explorer Evidence Chart</dc:title>
  <dc:subject>3rd Grade Social Studies – Lesson 3.02.06 Explorer Evidence Chart</dc:subject>
  <dc:creator>Optima Academy Online</dc:creator>
  <cp:lastModifiedBy>Optima Academy Online</cp:lastModifiedBy>
  <cp:revision>1</cp:revision>
  <dcterms:created xsi:type="dcterms:W3CDTF">2026-07-10T22:40:21Z</dcterms:created>
  <dcterms:modified xsi:type="dcterms:W3CDTF">2026-07-10T22:40:21Z</dcterms:modified>
</cp:coreProperties>
</file>