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dim museum hall at night. A single spotlight falls on a center pedestal holding a folded U.S. flag, a small bronze bell, a marble bust, a rolled document, and a tiny Statue of Liberty model. Reverent, quiet, grand.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recording notes: Slow down for this one. Stand at the dim hall, spotlight on the center pedestal. Move your hand from object to object -- folded flag, bronze bell, marble bust, rolled document, small Statue of Liberty. Tell students this is the unit closer: their final job is to figure out what visitors should leave knowing about the United States. Today's virtue is honesty -- pick what's truest, not just what looks the prettiest. Mention quietly that the Citizen Curator badge is waiting at the end. Keep under 2 minutes. Warm, a little reverent, a little proud.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virtue definition aloud. Connect honesty to today's task: choosing the truest evidence, not the flashiest. This is the last time students are the Civic Curator in this hall -- name that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four words without naming the root. Give a five-second silence cue. Let students hunt for the pattern before any definition is given.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debate the root's meaning aloud and in chat before revealing. Push for reasoning: why would 'one' matter to a brand-new country of 13 separate states?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root as students discovered it: uni- means 'one.' Reveal the national motto E Pluribus Unum -- out of many, one. Have students try the retrieval challenge cold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time to observe the Great Seal in silence before any discussion. Do not name which category it belongs to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students propose their own groupings for the pedestal objects and the Great Seal before the four categories are formally named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the four categories one at a time: Symbols, Individuals, Documents, Events. For each, name two or three examples and say what it shows visitors. Aim for 4-5 minutes total, warm and grand -- this is the closer.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closing thought about the four categories working together. Use the Pause &amp; Think prompt to have students re-sort the pedestal items one more time before moving into the Council Chamber debate.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curators say both sides have something -- but in this Council Chamber, students must pick one side and explain why, using one specific example. This directly scaffolds the Curator Task on the assignment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 strong Council Chamber answer live: pick a side, give two reasons, name one specific example. This is exactly the structure students will use on the assignment's Curator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Whole-class guided sort of all five pedestal items. Push students to justify each placement, not just state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2-3 minutes of independent or paired time to complete the checklist before moving to error analysis. This directly builds toward Evidence Question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students find and correct the misclassification. The Civil War is an event, not a symbol -- it tested the country, it doesn't stand for something the way the flag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 says: Look back at this whole hall. The town without rules, the Constitution, the three levels, Florida, the voting booth, the holidays, the four virtues, and now this. You've built a country, exhibit by exhibit -- and you started the year not even knowing what a curator was. That's a thing worth being proud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glowing badge ceremony scene -- a bronze-and-gold medallion badge labeled Citizen Curator being presented in the museum hall, warm celebratory light, confetti-like sparkle motifs, echoing the four virtue plaques.Badge ceremony moment. Opti says: One whole hall, eight lessons, lots of new words. I'm proud of you. Take a second to feel that -- not for the badge, but for the work. Then I'll see you in the Grand Exhibition Hall. Award the Citizen Curator badge by name and connect it back to honesty -- they earned it by choosing the truest evidence, not the flashiest.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graded -- for the students' own confidence check before the Council Chamber recommendation. Reveal each answer after discussion.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evidence question aloud. Model a strong Council Chamber answer: pick a side, give two reasons, name one specific example. Remind students honest answers say why, not just what. Aim for 2-3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complete the Curator's Chronicle sentence frame exactly as written. Walk through the turn-in checklist and confirm each student copies or downloads their work for Canvas.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wide doorway, never noticed before, propped open at the far end of the now-dim Citizenship Hall. Beyond it: empty pedestals, blank walls, soft light, and a single envelope. A sign above the doorway reads Grand Exhibition Hall.Unit closer. Slow down and look back at the whole hall by name -- town with no rules, Constitution, three-level model, Florida case, voting booth, holidays timeline, four virtue plaques, center pedestal. Award the Citizen Curator badge by name. Restate the motto: E Pluribus Unum. Tease Unit 11: the Grand Exhibition Hall is propped open but empty, with an envelope and a new role, Exhibit Designer. Keep under 90 seconds. Warm, proud, quietly triumphant.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1402080"/>
            <a:ext cx="9753600" cy="426720"/>
          </a:xfrm>
          <a:prstGeom prst="rect">
            <a:avLst/>
          </a:prstGeom>
          <a:noFill/>
          <a:ln/>
        </p:spPr>
        <p:txBody>
          <a:bodyPr wrap="square" lIns="0" tIns="0" rIns="0" bIns="0" rtlCol="0" anchor="ctr"/>
          <a:lstStyle/>
          <a:p>
            <a:pPr indent="0" marL="0">
              <a:buNone/>
            </a:pPr>
            <a:r>
              <a:rPr lang="en-US" sz="1200" b="1" spc="200" kern="0" dirty="0">
                <a:solidFill>
                  <a:srgbClr val="55C8E8"/>
                </a:solidFill>
                <a:latin typeface="Calibri" pitchFamily="34" charset="0"/>
                <a:ea typeface="Calibri" pitchFamily="34" charset="-122"/>
                <a:cs typeface="Calibri" pitchFamily="34" charset="-120"/>
              </a:rPr>
              <a:t>CITIZENSHIP HALL  -  LESSON 3.10.08  -  UNIT 10 CLOSER</a:t>
            </a:r>
            <a:endParaRPr lang="en-US" sz="1200" dirty="0"/>
          </a:p>
        </p:txBody>
      </p:sp>
      <p:sp>
        <p:nvSpPr>
          <p:cNvPr id="6" name="Text 3"/>
          <p:cNvSpPr/>
          <p:nvPr/>
        </p:nvSpPr>
        <p:spPr>
          <a:xfrm>
            <a:off x="975360" y="2072640"/>
            <a:ext cx="10241280" cy="1584960"/>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Symbols, Individuals, Documents, and Events</a:t>
            </a:r>
            <a:endParaRPr lang="en-US" sz="4000" dirty="0"/>
          </a:p>
        </p:txBody>
      </p:sp>
      <p:sp>
        <p:nvSpPr>
          <p:cNvPr id="7" name="Text 4"/>
          <p:cNvSpPr/>
          <p:nvPr/>
        </p:nvSpPr>
        <p:spPr>
          <a:xfrm>
            <a:off x="1463040" y="3840480"/>
            <a:ext cx="9265920" cy="1097280"/>
          </a:xfrm>
          <a:prstGeom prst="rect">
            <a:avLst/>
          </a:prstGeom>
          <a:noFill/>
          <a:ln/>
        </p:spPr>
        <p:txBody>
          <a:bodyPr wrap="square" lIns="0" tIns="0" rIns="0" bIns="0" rtlCol="0" anchor="ctr"/>
          <a:lstStyle/>
          <a:p>
            <a:pPr algn="ctr" indent="0" marL="0">
              <a:buNone/>
            </a:pPr>
            <a:r>
              <a:rPr lang="en-US" sz="1500" i="1" dirty="0">
                <a:solidFill>
                  <a:srgbClr val="D6F2FB"/>
                </a:solidFill>
                <a:latin typeface="Calibri" pitchFamily="34" charset="0"/>
                <a:ea typeface="Calibri" pitchFamily="34" charset="-122"/>
                <a:cs typeface="Calibri" pitchFamily="34" charset="-120"/>
              </a:rPr>
              <a:t>What handful of symbols, people, documents, and events tells the truest story of the United States?</a:t>
            </a:r>
            <a:endParaRPr lang="en-US" sz="1500" dirty="0"/>
          </a:p>
        </p:txBody>
      </p:sp>
      <p:sp>
        <p:nvSpPr>
          <p:cNvPr id="8" name="Text 5"/>
          <p:cNvSpPr/>
          <p:nvPr/>
        </p:nvSpPr>
        <p:spPr>
          <a:xfrm>
            <a:off x="3657600" y="5242560"/>
            <a:ext cx="4876800" cy="487680"/>
          </a:xfrm>
          <a:prstGeom prst="rect">
            <a:avLst/>
          </a:prstGeom>
          <a:noFill/>
          <a:ln/>
        </p:spPr>
        <p:txBody>
          <a:bodyPr wrap="square" lIns="0" tIns="0" rIns="0" bIns="0" rtlCol="0" anchor="ctr"/>
          <a:lstStyle/>
          <a:p>
            <a:pPr algn="ctr" indent="0" marL="0">
              <a:buNone/>
            </a:pPr>
            <a:r>
              <a:rPr lang="en-US" sz="1300" b="1" spc="150" kern="0" dirty="0">
                <a:solidFill>
                  <a:srgbClr val="D4943A"/>
                </a:solidFill>
                <a:latin typeface="Calibri" pitchFamily="34" charset="0"/>
                <a:ea typeface="Calibri" pitchFamily="34" charset="-122"/>
                <a:cs typeface="Calibri" pitchFamily="34" charset="-120"/>
              </a:rPr>
              <a:t>Today's Virtue: HONESTY</a:t>
            </a:r>
            <a:endParaRPr lang="en-US" sz="1300" dirty="0"/>
          </a:p>
        </p:txBody>
      </p:sp>
      <p:sp>
        <p:nvSpPr>
          <p:cNvPr id="9" name="Text 6"/>
          <p:cNvSpPr/>
          <p:nvPr/>
        </p:nvSpPr>
        <p:spPr>
          <a:xfrm>
            <a:off x="3657600" y="5791200"/>
            <a:ext cx="4876800" cy="365760"/>
          </a:xfrm>
          <a:prstGeom prst="rect">
            <a:avLst/>
          </a:prstGeom>
          <a:noFill/>
          <a:ln/>
        </p:spPr>
        <p:txBody>
          <a:bodyPr wrap="square" lIns="0" tIns="0" rIns="0" bIns="0" rtlCol="0" anchor="ctr"/>
          <a:lstStyle/>
          <a:p>
            <a:pPr algn="ctr" indent="0" marL="0">
              <a:buNone/>
            </a:pPr>
            <a:r>
              <a:rPr lang="en-US" sz="1100" dirty="0">
                <a:solidFill>
                  <a:srgbClr val="7A88A8"/>
                </a:solidFill>
                <a:latin typeface="Calibri" pitchFamily="34" charset="0"/>
                <a:ea typeface="Calibri" pitchFamily="34" charset="-122"/>
                <a:cs typeface="Calibri" pitchFamily="34" charset="-120"/>
              </a:rPr>
              <a:t>Routine: Council Chamber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ENTER THE SCENE  -  THE LAST EXHIBIT</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Museum Is Quiet Tonight</a:t>
            </a:r>
            <a:endParaRPr lang="en-US" sz="3000" dirty="0"/>
          </a:p>
        </p:txBody>
      </p:sp>
      <p:sp>
        <p:nvSpPr>
          <p:cNvPr id="4" name="Text 2"/>
          <p:cNvSpPr/>
          <p:nvPr/>
        </p:nvSpPr>
        <p:spPr>
          <a:xfrm>
            <a:off x="609600" y="1584960"/>
            <a:ext cx="6827520" cy="3048000"/>
          </a:xfrm>
          <a:prstGeom prst="rect">
            <a:avLst/>
          </a:prstGeom>
          <a:noFill/>
          <a:ln/>
        </p:spPr>
        <p:txBody>
          <a:bodyPr wrap="square" lIns="0" tIns="0" rIns="0" bIns="0" rtlCol="0" anchor="t"/>
          <a:lstStyle/>
          <a:p>
            <a:pPr indent="0" marL="0">
              <a:buNone/>
            </a:pPr>
            <a:r>
              <a:rPr lang="en-US" sz="1400" dirty="0">
                <a:solidFill>
                  <a:srgbClr val="E8ECF6"/>
                </a:solidFill>
                <a:latin typeface="Calibri" pitchFamily="34" charset="0"/>
                <a:ea typeface="Calibri" pitchFamily="34" charset="-122"/>
                <a:cs typeface="Calibri" pitchFamily="34" charset="-120"/>
              </a:rPr>
              <a:t>Every exhibit you've built is finished -- the town with no rules, the Constitution case, the three-level model, the Florida case, the voting booth, the holidays timeline, the four bronze virtue plaques. Now the museum lights dim, and a single spotlight lands on the center pedestal.</a:t>
            </a:r>
            <a:endParaRPr lang="en-US" sz="1400" dirty="0"/>
          </a:p>
        </p:txBody>
      </p:sp>
      <p:sp>
        <p:nvSpPr>
          <p:cNvPr id="5" name="Shape 3"/>
          <p:cNvSpPr/>
          <p:nvPr/>
        </p:nvSpPr>
        <p:spPr>
          <a:xfrm>
            <a:off x="7741920" y="1584960"/>
            <a:ext cx="3474720" cy="3169920"/>
          </a:xfrm>
          <a:prstGeom prst="roundRect">
            <a:avLst>
              <a:gd name="adj" fmla="val 4615"/>
            </a:avLst>
          </a:prstGeom>
          <a:solidFill>
            <a:srgbClr val="1A2D5A"/>
          </a:solidFill>
          <a:ln w="12700">
            <a:solidFill>
              <a:srgbClr val="3A5080"/>
            </a:solidFill>
            <a:prstDash val="solid"/>
          </a:ln>
        </p:spPr>
      </p:sp>
      <p:sp>
        <p:nvSpPr>
          <p:cNvPr id="6" name="Text 4"/>
          <p:cNvSpPr/>
          <p:nvPr/>
        </p:nvSpPr>
        <p:spPr>
          <a:xfrm>
            <a:off x="7924800" y="1767840"/>
            <a:ext cx="3108960" cy="3048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ON THE PEDESTAL</a:t>
            </a:r>
            <a:endParaRPr lang="en-US" sz="900" dirty="0"/>
          </a:p>
        </p:txBody>
      </p:sp>
      <p:sp>
        <p:nvSpPr>
          <p:cNvPr id="7" name="Text 5"/>
          <p:cNvSpPr/>
          <p:nvPr/>
        </p:nvSpPr>
        <p:spPr>
          <a:xfrm>
            <a:off x="7924800" y="2194560"/>
            <a:ext cx="3108960" cy="2438400"/>
          </a:xfrm>
          <a:prstGeom prst="rect">
            <a:avLst/>
          </a:prstGeom>
          <a:noFill/>
          <a:ln/>
        </p:spPr>
        <p:txBody>
          <a:bodyPr wrap="square" lIns="0" tIns="0" rIns="0" bIns="0" rtlCol="0" anchor="t"/>
          <a:lstStyle/>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 folded U.S. flag</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 small bronze bell</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 marble bust of a leader</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 rolled copy of the Declaration</a:t>
            </a:r>
            <a:endParaRPr lang="en-US" sz="1200" dirty="0"/>
          </a:p>
          <a:p>
            <a:pPr marL="342900" indent="-342900">
              <a:buSzPct val="100000"/>
              <a:buChar char="•"/>
            </a:pPr>
            <a:r>
              <a:rPr lang="en-US" sz="1200" dirty="0">
                <a:solidFill>
                  <a:srgbClr val="FFFFFF"/>
                </a:solidFill>
                <a:latin typeface="Calibri" pitchFamily="34" charset="0"/>
                <a:ea typeface="Calibri" pitchFamily="34" charset="-122"/>
                <a:cs typeface="Calibri" pitchFamily="34" charset="-120"/>
              </a:rPr>
              <a:t>A tiny Statue of Liberty</a:t>
            </a:r>
            <a:endParaRPr lang="en-US" sz="1200" dirty="0"/>
          </a:p>
        </p:txBody>
      </p:sp>
      <p:sp>
        <p:nvSpPr>
          <p:cNvPr id="8" name="Shape 6"/>
          <p:cNvSpPr/>
          <p:nvPr/>
        </p:nvSpPr>
        <p:spPr>
          <a:xfrm>
            <a:off x="609600" y="4876800"/>
            <a:ext cx="10607040" cy="1402080"/>
          </a:xfrm>
          <a:prstGeom prst="roundRect">
            <a:avLst>
              <a:gd name="adj" fmla="val 10435"/>
            </a:avLst>
          </a:prstGeom>
          <a:solidFill>
            <a:srgbClr val="1A2D5A"/>
          </a:solidFill>
          <a:ln/>
        </p:spPr>
      </p:sp>
      <p:sp>
        <p:nvSpPr>
          <p:cNvPr id="9" name="Text 7"/>
          <p:cNvSpPr/>
          <p:nvPr/>
        </p:nvSpPr>
        <p:spPr>
          <a:xfrm>
            <a:off x="853440" y="5023104"/>
            <a:ext cx="10119360" cy="670560"/>
          </a:xfrm>
          <a:prstGeom prst="rect">
            <a:avLst/>
          </a:prstGeom>
          <a:noFill/>
          <a:ln/>
        </p:spPr>
        <p:txBody>
          <a:bodyPr wrap="square" lIns="0" tIns="0" rIns="0" bIns="0" rtlCol="0" anchor="ctr"/>
          <a:lstStyle/>
          <a:p>
            <a:pPr algn="ctr" indent="0" marL="0">
              <a:buNone/>
            </a:pPr>
            <a:r>
              <a:rPr lang="en-US" sz="1600" b="1" i="1" dirty="0">
                <a:solidFill>
                  <a:srgbClr val="D4943A"/>
                </a:solidFill>
                <a:latin typeface="Cambria" pitchFamily="34" charset="0"/>
                <a:ea typeface="Cambria" pitchFamily="34" charset="-122"/>
                <a:cs typeface="Cambria" pitchFamily="34" charset="-120"/>
              </a:rPr>
              <a:t>"If a visitor only has time for one thing, what do we show them?"</a:t>
            </a:r>
            <a:endParaRPr lang="en-US" sz="1600" dirty="0"/>
          </a:p>
        </p:txBody>
      </p:sp>
      <p:sp>
        <p:nvSpPr>
          <p:cNvPr id="10" name="Text 8"/>
          <p:cNvSpPr/>
          <p:nvPr/>
        </p:nvSpPr>
        <p:spPr>
          <a:xfrm>
            <a:off x="853440" y="5669280"/>
            <a:ext cx="10119360" cy="487680"/>
          </a:xfrm>
          <a:prstGeom prst="rect">
            <a:avLst/>
          </a:prstGeom>
          <a:noFill/>
          <a:ln/>
        </p:spPr>
        <p:txBody>
          <a:bodyPr wrap="square" lIns="0" tIns="0" rIns="0" bIns="0" rtlCol="0" anchor="ctr"/>
          <a:lstStyle/>
          <a:p>
            <a:pPr algn="ctr" indent="0" marL="0">
              <a:buNone/>
            </a:pPr>
            <a:r>
              <a:rPr lang="en-US" sz="1200" dirty="0">
                <a:solidFill>
                  <a:srgbClr val="D6F2FB"/>
                </a:solidFill>
                <a:latin typeface="Calibri" pitchFamily="34" charset="0"/>
                <a:ea typeface="Calibri" pitchFamily="34" charset="-122"/>
                <a:cs typeface="Calibri" pitchFamily="34" charset="-120"/>
              </a:rPr>
              <a:t>Today, the United States is yours to introduce.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SPOTLIGHT</a:t>
            </a:r>
            <a:endParaRPr lang="en-US" sz="1000" dirty="0"/>
          </a:p>
        </p:txBody>
      </p:sp>
      <p:sp>
        <p:nvSpPr>
          <p:cNvPr id="3" name="Text 1"/>
          <p:cNvSpPr/>
          <p:nvPr/>
        </p:nvSpPr>
        <p:spPr>
          <a:xfrm>
            <a:off x="609600" y="426720"/>
            <a:ext cx="7315200" cy="914400"/>
          </a:xfrm>
          <a:prstGeom prst="rect">
            <a:avLst/>
          </a:prstGeom>
          <a:noFill/>
          <a:ln/>
        </p:spPr>
        <p:txBody>
          <a:bodyPr wrap="square" lIns="0" tIns="0" rIns="0" bIns="0" rtlCol="0" anchor="ctr"/>
          <a:lstStyle/>
          <a:p>
            <a:pPr indent="0" marL="0">
              <a:buNone/>
            </a:pPr>
            <a:r>
              <a:rPr lang="en-US" sz="3600" b="1" dirty="0">
                <a:solidFill>
                  <a:srgbClr val="D4943A"/>
                </a:solidFill>
                <a:latin typeface="Cambria" pitchFamily="34" charset="0"/>
                <a:ea typeface="Cambria" pitchFamily="34" charset="-122"/>
                <a:cs typeface="Cambria" pitchFamily="34" charset="-120"/>
              </a:rPr>
              <a:t>Honesty</a:t>
            </a:r>
            <a:endParaRPr lang="en-US" sz="3600" dirty="0"/>
          </a:p>
        </p:txBody>
      </p:sp>
      <p:sp>
        <p:nvSpPr>
          <p:cNvPr id="4" name="Text 2"/>
          <p:cNvSpPr/>
          <p:nvPr/>
        </p:nvSpPr>
        <p:spPr>
          <a:xfrm>
            <a:off x="609600" y="1584960"/>
            <a:ext cx="10607040" cy="134112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Every choice you make today as a curator is an honest claim about what the United States really is. Honest curators don't pick what's flashiest. They pick what's truest.</a:t>
            </a:r>
            <a:endParaRPr lang="en-US" sz="1600" dirty="0"/>
          </a:p>
        </p:txBody>
      </p:sp>
      <p:sp>
        <p:nvSpPr>
          <p:cNvPr id="5" name="Shape 3"/>
          <p:cNvSpPr/>
          <p:nvPr/>
        </p:nvSpPr>
        <p:spPr>
          <a:xfrm>
            <a:off x="609600" y="3048000"/>
            <a:ext cx="10607040" cy="1280160"/>
          </a:xfrm>
          <a:prstGeom prst="roundRect">
            <a:avLst>
              <a:gd name="adj" fmla="val 11429"/>
            </a:avLst>
          </a:prstGeom>
          <a:solidFill>
            <a:srgbClr val="1A2D5A"/>
          </a:solidFill>
          <a:ln/>
        </p:spPr>
      </p:sp>
      <p:sp>
        <p:nvSpPr>
          <p:cNvPr id="6" name="Text 4"/>
          <p:cNvSpPr/>
          <p:nvPr/>
        </p:nvSpPr>
        <p:spPr>
          <a:xfrm>
            <a:off x="914400" y="3194304"/>
            <a:ext cx="9997440" cy="1036320"/>
          </a:xfrm>
          <a:prstGeom prst="rect">
            <a:avLst/>
          </a:prstGeom>
          <a:noFill/>
          <a:ln/>
        </p:spPr>
        <p:txBody>
          <a:bodyPr wrap="square" lIns="0" tIns="0" rIns="0" bIns="0" rtlCol="0" anchor="ctr"/>
          <a:lstStyle/>
          <a:p>
            <a:pPr indent="0" marL="0">
              <a:buNone/>
            </a:pPr>
            <a:r>
              <a:rPr lang="en-US" sz="1400" i="1" dirty="0">
                <a:solidFill>
                  <a:srgbClr val="D6F2FB"/>
                </a:solidFill>
                <a:latin typeface="Calibri" pitchFamily="34" charset="0"/>
                <a:ea typeface="Calibri" pitchFamily="34" charset="-122"/>
                <a:cs typeface="Calibri" pitchFamily="34" charset="-120"/>
              </a:rPr>
              <a:t>"As you look at this last exhibit, ask yourself: which of these pieces is telling the deepest truth about the country?"</a:t>
            </a:r>
            <a:endParaRPr lang="en-US" sz="1400" dirty="0"/>
          </a:p>
        </p:txBody>
      </p:sp>
      <p:sp>
        <p:nvSpPr>
          <p:cNvPr id="7" name="Shape 5"/>
          <p:cNvSpPr/>
          <p:nvPr/>
        </p:nvSpPr>
        <p:spPr>
          <a:xfrm>
            <a:off x="609600" y="4572000"/>
            <a:ext cx="10607040" cy="1645920"/>
          </a:xfrm>
          <a:prstGeom prst="roundRect">
            <a:avLst>
              <a:gd name="adj" fmla="val 8889"/>
            </a:avLst>
          </a:prstGeom>
          <a:solidFill>
            <a:srgbClr val="1A2D5A"/>
          </a:solidFill>
          <a:ln/>
        </p:spPr>
      </p:sp>
      <p:sp>
        <p:nvSpPr>
          <p:cNvPr id="8" name="Text 6"/>
          <p:cNvSpPr/>
          <p:nvPr/>
        </p:nvSpPr>
        <p:spPr>
          <a:xfrm>
            <a:off x="914400" y="4718304"/>
            <a:ext cx="9997440" cy="304800"/>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YOUR ROLE TODAY</a:t>
            </a:r>
            <a:endParaRPr lang="en-US" sz="900" dirty="0"/>
          </a:p>
        </p:txBody>
      </p:sp>
      <p:sp>
        <p:nvSpPr>
          <p:cNvPr id="9" name="Text 7"/>
          <p:cNvSpPr/>
          <p:nvPr/>
        </p:nvSpPr>
        <p:spPr>
          <a:xfrm>
            <a:off x="914400" y="5059680"/>
            <a:ext cx="9997440" cy="10363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You are still the Civic Curator -- for the last time in this hall. Your job is to write the closing label of Citizenship Hall and make the final recommendation about what visitors should leave knowing about the United States.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WORD ROOTS</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Four Words, One Hidden Root</a:t>
            </a:r>
            <a:endParaRPr lang="en-US" sz="3000" dirty="0"/>
          </a:p>
        </p:txBody>
      </p:sp>
      <p:sp>
        <p:nvSpPr>
          <p:cNvPr id="4" name="Shape 2"/>
          <p:cNvSpPr/>
          <p:nvPr/>
        </p:nvSpPr>
        <p:spPr>
          <a:xfrm>
            <a:off x="609600" y="1524000"/>
            <a:ext cx="5974080" cy="3108960"/>
          </a:xfrm>
          <a:prstGeom prst="roundRect">
            <a:avLst>
              <a:gd name="adj" fmla="val 4706"/>
            </a:avLst>
          </a:prstGeom>
          <a:solidFill>
            <a:srgbClr val="E2E8F4"/>
          </a:solidFill>
          <a:ln w="19050">
            <a:solidFill>
              <a:srgbClr val="B0B8CC"/>
            </a:solidFill>
            <a:prstDash val="dash"/>
          </a:ln>
        </p:spPr>
      </p:sp>
      <p:sp>
        <p:nvSpPr>
          <p:cNvPr id="5" name="Text 3"/>
          <p:cNvSpPr/>
          <p:nvPr/>
        </p:nvSpPr>
        <p:spPr>
          <a:xfrm>
            <a:off x="609600" y="1524000"/>
            <a:ext cx="59740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889760"/>
            <a:ext cx="5608320" cy="2621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dollar bill or penny close-up, zoomed in on the Great Seal ribbon reading E Pluribus Unum.</a:t>
            </a:r>
            <a:endParaRPr lang="en-US" sz="1100" dirty="0"/>
          </a:p>
        </p:txBody>
      </p:sp>
      <p:sp>
        <p:nvSpPr>
          <p:cNvPr id="7" name="Shape 5"/>
          <p:cNvSpPr/>
          <p:nvPr/>
        </p:nvSpPr>
        <p:spPr>
          <a:xfrm>
            <a:off x="6827520" y="1524000"/>
            <a:ext cx="4389120" cy="3108960"/>
          </a:xfrm>
          <a:prstGeom prst="roundRect">
            <a:avLst>
              <a:gd name="adj" fmla="val 4706"/>
            </a:avLst>
          </a:prstGeom>
          <a:solidFill>
            <a:srgbClr val="F0E8FF"/>
          </a:solidFill>
          <a:ln w="12700">
            <a:solidFill>
              <a:srgbClr val="8B6FC0"/>
            </a:solidFill>
            <a:prstDash val="solid"/>
          </a:ln>
        </p:spPr>
      </p:sp>
      <p:sp>
        <p:nvSpPr>
          <p:cNvPr id="8" name="Text 6"/>
          <p:cNvSpPr/>
          <p:nvPr/>
        </p:nvSpPr>
        <p:spPr>
          <a:xfrm>
            <a:off x="7010400" y="1682496"/>
            <a:ext cx="4023360" cy="304800"/>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LOOK AT THESE FOUR WORDS</a:t>
            </a:r>
            <a:endParaRPr lang="en-US" sz="900" dirty="0"/>
          </a:p>
        </p:txBody>
      </p:sp>
      <p:sp>
        <p:nvSpPr>
          <p:cNvPr id="9" name="Text 7"/>
          <p:cNvSpPr/>
          <p:nvPr/>
        </p:nvSpPr>
        <p:spPr>
          <a:xfrm>
            <a:off x="7010400" y="2097024"/>
            <a:ext cx="4023360" cy="2316480"/>
          </a:xfrm>
          <a:prstGeom prst="rect">
            <a:avLst/>
          </a:prstGeom>
          <a:noFill/>
          <a:ln/>
        </p:spPr>
        <p:txBody>
          <a:bodyPr wrap="square" lIns="0" tIns="0" rIns="0" bIns="0" rtlCol="0" anchor="t"/>
          <a:lstStyle/>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unite -- to bring people together</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united -- joined together as one</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union -- a group joined together</a:t>
            </a:r>
            <a:endParaRPr lang="en-US" sz="1200" dirty="0"/>
          </a:p>
          <a:p>
            <a:pPr marL="342900" indent="-342900">
              <a:buSzPct val="100000"/>
              <a:buChar char="•"/>
            </a:pPr>
            <a:r>
              <a:rPr lang="en-US" sz="1200" dirty="0">
                <a:solidFill>
                  <a:srgbClr val="0E1C42"/>
                </a:solidFill>
                <a:latin typeface="Calibri" pitchFamily="34" charset="0"/>
                <a:ea typeface="Calibri" pitchFamily="34" charset="-122"/>
                <a:cs typeface="Calibri" pitchFamily="34" charset="-120"/>
              </a:rPr>
              <a:t>unity -- the quality of being one</a:t>
            </a:r>
            <a:endParaRPr lang="en-US" sz="1200" dirty="0"/>
          </a:p>
        </p:txBody>
      </p:sp>
      <p:sp>
        <p:nvSpPr>
          <p:cNvPr id="10" name="Text 8"/>
          <p:cNvSpPr/>
          <p:nvPr/>
        </p:nvSpPr>
        <p:spPr>
          <a:xfrm>
            <a:off x="609600" y="4815840"/>
            <a:ext cx="10607040" cy="731520"/>
          </a:xfrm>
          <a:prstGeom prst="rect">
            <a:avLst/>
          </a:prstGeom>
          <a:noFill/>
          <a:ln/>
        </p:spPr>
        <p:txBody>
          <a:bodyPr wrap="square" lIns="0" tIns="0" rIns="0" bIns="0" rtlCol="0" anchor="t"/>
          <a:lstStyle/>
          <a:p>
            <a:pPr indent="0" marL="0">
              <a:buNone/>
            </a:pPr>
            <a:r>
              <a:rPr lang="en-US" sz="1400" b="1" i="1" dirty="0">
                <a:solidFill>
                  <a:srgbClr val="0E1C42"/>
                </a:solidFill>
                <a:latin typeface="Calibri" pitchFamily="34" charset="0"/>
                <a:ea typeface="Calibri" pitchFamily="34" charset="-122"/>
                <a:cs typeface="Calibri" pitchFamily="34" charset="-120"/>
              </a:rPr>
              <a:t>Observe: What tiny piece of letters shows up inside every single one of these words? Talk for five seconds before you answer.</a:t>
            </a:r>
            <a:endParaRPr lang="en-US" sz="1400" dirty="0"/>
          </a:p>
        </p:txBody>
      </p:sp>
      <p:sp>
        <p:nvSpPr>
          <p:cNvPr id="11" name="Shape 9"/>
          <p:cNvSpPr/>
          <p:nvPr/>
        </p:nvSpPr>
        <p:spPr>
          <a:xfrm>
            <a:off x="609600" y="5547360"/>
            <a:ext cx="10607040" cy="914400"/>
          </a:xfrm>
          <a:prstGeom prst="roundRect">
            <a:avLst>
              <a:gd name="adj" fmla="val 16000"/>
            </a:avLst>
          </a:prstGeom>
          <a:solidFill>
            <a:srgbClr val="FFF3DC"/>
          </a:solidFill>
          <a:ln w="19050">
            <a:solidFill>
              <a:srgbClr val="F5E6C8"/>
            </a:solidFill>
            <a:prstDash val="solid"/>
          </a:ln>
        </p:spPr>
      </p:sp>
      <p:sp>
        <p:nvSpPr>
          <p:cNvPr id="12" name="Text 10"/>
          <p:cNvSpPr/>
          <p:nvPr/>
        </p:nvSpPr>
        <p:spPr>
          <a:xfrm>
            <a:off x="792480" y="562051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92480" y="5888736"/>
            <a:ext cx="10241280" cy="4876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the letters ______ in every word."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root might mean..."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COUNCIL CHAMBER  -  DISCUSSION</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What Does This Root Mean?</a:t>
            </a:r>
            <a:endParaRPr lang="en-US" sz="3000" dirty="0"/>
          </a:p>
        </p:txBody>
      </p:sp>
      <p:sp>
        <p:nvSpPr>
          <p:cNvPr id="4" name="Text 2"/>
          <p:cNvSpPr/>
          <p:nvPr/>
        </p:nvSpPr>
        <p:spPr>
          <a:xfrm>
            <a:off x="609600" y="1524000"/>
            <a:ext cx="6461760" cy="316992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The United States' whole name is built on this one tiny root. Fifty different states. Hundreds of millions of different people. Talk it through before we name it.</a:t>
            </a:r>
            <a:endParaRPr lang="en-US" sz="1500" dirty="0"/>
          </a:p>
        </p:txBody>
      </p:sp>
      <p:sp>
        <p:nvSpPr>
          <p:cNvPr id="5" name="Shape 3"/>
          <p:cNvSpPr/>
          <p:nvPr/>
        </p:nvSpPr>
        <p:spPr>
          <a:xfrm>
            <a:off x="609600" y="4389120"/>
            <a:ext cx="6461760" cy="1889760"/>
          </a:xfrm>
          <a:prstGeom prst="roundRect">
            <a:avLst>
              <a:gd name="adj" fmla="val 7742"/>
            </a:avLst>
          </a:prstGeom>
          <a:solidFill>
            <a:srgbClr val="FFF3DC"/>
          </a:solidFill>
          <a:ln w="19050">
            <a:solidFill>
              <a:srgbClr val="F5E6C8"/>
            </a:solidFill>
            <a:prstDash val="solid"/>
          </a:ln>
        </p:spPr>
      </p:sp>
      <p:sp>
        <p:nvSpPr>
          <p:cNvPr id="6" name="Text 4"/>
          <p:cNvSpPr/>
          <p:nvPr/>
        </p:nvSpPr>
        <p:spPr>
          <a:xfrm>
            <a:off x="792480" y="4462272"/>
            <a:ext cx="6096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792480" y="4730496"/>
            <a:ext cx="6096000" cy="14630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 root means...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connects to the word United States because..."</a:t>
            </a:r>
            <a:endParaRPr lang="en-US" sz="1200" dirty="0"/>
          </a:p>
        </p:txBody>
      </p:sp>
      <p:sp>
        <p:nvSpPr>
          <p:cNvPr id="8" name="Shape 6"/>
          <p:cNvSpPr/>
          <p:nvPr/>
        </p:nvSpPr>
        <p:spPr>
          <a:xfrm>
            <a:off x="7315200" y="1524000"/>
            <a:ext cx="3901440" cy="475488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7559040" y="1645920"/>
            <a:ext cx="34137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7559040" y="1987296"/>
            <a:ext cx="3413760" cy="41696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all four words have in common?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that root mean, if you had to guess?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would a country name itself around that idea?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there be another explanation for the pattern?</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REVEAL  -  YOU FOUND IT</a:t>
            </a:r>
            <a:endParaRPr lang="en-US" sz="1000" dirty="0"/>
          </a:p>
        </p:txBody>
      </p:sp>
      <p:sp>
        <p:nvSpPr>
          <p:cNvPr id="3" name="Text 1"/>
          <p:cNvSpPr/>
          <p:nvPr/>
        </p:nvSpPr>
        <p:spPr>
          <a:xfrm>
            <a:off x="609600" y="1097280"/>
            <a:ext cx="10607040" cy="109728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Latin Root uni- means "one"</a:t>
            </a:r>
            <a:endParaRPr lang="en-US" sz="3400" dirty="0"/>
          </a:p>
        </p:txBody>
      </p:sp>
      <p:sp>
        <p:nvSpPr>
          <p:cNvPr id="4" name="Text 2"/>
          <p:cNvSpPr/>
          <p:nvPr/>
        </p:nvSpPr>
        <p:spPr>
          <a:xfrm>
            <a:off x="1219200" y="2377440"/>
            <a:ext cx="9387840" cy="1219200"/>
          </a:xfrm>
          <a:prstGeom prst="rect">
            <a:avLst/>
          </a:prstGeom>
          <a:noFill/>
          <a:ln/>
        </p:spPr>
        <p:txBody>
          <a:bodyPr wrap="square" lIns="0" tIns="0" rIns="0" bIns="0" rtlCol="0" anchor="t"/>
          <a:lstStyle/>
          <a:p>
            <a:pPr algn="ctr" indent="0" marL="0">
              <a:buNone/>
            </a:pPr>
            <a:r>
              <a:rPr lang="en-US" sz="1500" dirty="0">
                <a:solidFill>
                  <a:srgbClr val="FFFFFF"/>
                </a:solidFill>
                <a:latin typeface="Calibri" pitchFamily="34" charset="0"/>
                <a:ea typeface="Calibri" pitchFamily="34" charset="-122"/>
                <a:cs typeface="Calibri" pitchFamily="34" charset="-120"/>
              </a:rPr>
              <a:t>It is hiding inside the name of our country -- the United States. "United" means "made into one." That is the whole idea, in a single root.</a:t>
            </a:r>
            <a:endParaRPr lang="en-US" sz="1500" dirty="0"/>
          </a:p>
        </p:txBody>
      </p:sp>
      <p:sp>
        <p:nvSpPr>
          <p:cNvPr id="5" name="Shape 3"/>
          <p:cNvSpPr/>
          <p:nvPr/>
        </p:nvSpPr>
        <p:spPr>
          <a:xfrm>
            <a:off x="1463040" y="3718560"/>
            <a:ext cx="8900160" cy="1402080"/>
          </a:xfrm>
          <a:prstGeom prst="roundRect">
            <a:avLst>
              <a:gd name="adj" fmla="val 10435"/>
            </a:avLst>
          </a:prstGeom>
          <a:solidFill>
            <a:srgbClr val="1A2D5A"/>
          </a:solidFill>
          <a:ln/>
        </p:spPr>
      </p:sp>
      <p:sp>
        <p:nvSpPr>
          <p:cNvPr id="6" name="Text 4"/>
          <p:cNvSpPr/>
          <p:nvPr/>
        </p:nvSpPr>
        <p:spPr>
          <a:xfrm>
            <a:off x="1706880" y="3877056"/>
            <a:ext cx="8412480" cy="609600"/>
          </a:xfrm>
          <a:prstGeom prst="rect">
            <a:avLst/>
          </a:prstGeom>
          <a:noFill/>
          <a:ln/>
        </p:spPr>
        <p:txBody>
          <a:bodyPr wrap="square" lIns="0" tIns="0" rIns="0" bIns="0" rtlCol="0" anchor="ctr"/>
          <a:lstStyle/>
          <a:p>
            <a:pPr algn="ctr" indent="0" marL="0">
              <a:buNone/>
            </a:pPr>
            <a:r>
              <a:rPr lang="en-US" sz="1800" b="1" i="1" dirty="0">
                <a:solidFill>
                  <a:srgbClr val="D4943A"/>
                </a:solidFill>
                <a:latin typeface="Cambria" pitchFamily="34" charset="0"/>
                <a:ea typeface="Cambria" pitchFamily="34" charset="-122"/>
                <a:cs typeface="Cambria" pitchFamily="34" charset="-120"/>
              </a:rPr>
              <a:t>"E Pluribus Unum" -- Out of many, one.</a:t>
            </a:r>
            <a:endParaRPr lang="en-US" sz="1800" dirty="0"/>
          </a:p>
        </p:txBody>
      </p:sp>
      <p:sp>
        <p:nvSpPr>
          <p:cNvPr id="7" name="Text 5"/>
          <p:cNvSpPr/>
          <p:nvPr/>
        </p:nvSpPr>
        <p:spPr>
          <a:xfrm>
            <a:off x="1706880" y="4511040"/>
            <a:ext cx="8412480" cy="548640"/>
          </a:xfrm>
          <a:prstGeom prst="rect">
            <a:avLst/>
          </a:prstGeom>
          <a:noFill/>
          <a:ln/>
        </p:spPr>
        <p:txBody>
          <a:bodyPr wrap="square" lIns="0" tIns="0" rIns="0" bIns="0" rtlCol="0" anchor="ctr"/>
          <a:lstStyle/>
          <a:p>
            <a:pPr algn="ctr" indent="0" marL="0">
              <a:buNone/>
            </a:pPr>
            <a:r>
              <a:rPr lang="en-US" sz="1200" dirty="0">
                <a:solidFill>
                  <a:srgbClr val="D6F2FB"/>
                </a:solidFill>
                <a:latin typeface="Calibri" pitchFamily="34" charset="0"/>
                <a:ea typeface="Calibri" pitchFamily="34" charset="-122"/>
                <a:cs typeface="Calibri" pitchFamily="34" charset="-120"/>
              </a:rPr>
              <a:t>The U.S. national motto, written on the Great Seal. Look for it on a dollar bill or penny.</a:t>
            </a:r>
            <a:endParaRPr lang="en-US" sz="1200" dirty="0"/>
          </a:p>
        </p:txBody>
      </p:sp>
      <p:sp>
        <p:nvSpPr>
          <p:cNvPr id="8" name="Text 6"/>
          <p:cNvSpPr/>
          <p:nvPr/>
        </p:nvSpPr>
        <p:spPr>
          <a:xfrm>
            <a:off x="1219200" y="5547360"/>
            <a:ext cx="9387840" cy="609600"/>
          </a:xfrm>
          <a:prstGeom prst="rect">
            <a:avLst/>
          </a:prstGeom>
          <a:noFill/>
          <a:ln/>
        </p:spPr>
        <p:txBody>
          <a:bodyPr wrap="square" lIns="0" tIns="0" rIns="0" bIns="0" rtlCol="0" anchor="ctr"/>
          <a:lstStyle/>
          <a:p>
            <a:pPr algn="ctr" indent="0" marL="0">
              <a:buNone/>
            </a:pPr>
            <a:r>
              <a:rPr lang="en-US" sz="1300" i="1" dirty="0">
                <a:solidFill>
                  <a:srgbClr val="55C8E8"/>
                </a:solidFill>
                <a:latin typeface="Calibri" pitchFamily="34" charset="0"/>
                <a:ea typeface="Calibri" pitchFamily="34" charset="-122"/>
                <a:cs typeface="Calibri" pitchFamily="34" charset="-120"/>
              </a:rPr>
              <a:t>Retrieval Challenge: Cover your notebook. Say all four uni- words from memory.</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CLUE BOX  -  SOURCE STUDY</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The Great Seal of the United States</a:t>
            </a:r>
            <a:endParaRPr lang="en-US" sz="3000" dirty="0"/>
          </a:p>
        </p:txBody>
      </p:sp>
      <p:sp>
        <p:nvSpPr>
          <p:cNvPr id="4" name="Shape 2"/>
          <p:cNvSpPr/>
          <p:nvPr/>
        </p:nvSpPr>
        <p:spPr>
          <a:xfrm>
            <a:off x="609600" y="1524000"/>
            <a:ext cx="5974080" cy="3291840"/>
          </a:xfrm>
          <a:prstGeom prst="roundRect">
            <a:avLst>
              <a:gd name="adj" fmla="val 4444"/>
            </a:avLst>
          </a:prstGeom>
          <a:solidFill>
            <a:srgbClr val="E2E8F4"/>
          </a:solidFill>
          <a:ln w="19050">
            <a:solidFill>
              <a:srgbClr val="B0B8CC"/>
            </a:solidFill>
            <a:prstDash val="dash"/>
          </a:ln>
        </p:spPr>
      </p:sp>
      <p:sp>
        <p:nvSpPr>
          <p:cNvPr id="5" name="Text 3"/>
          <p:cNvSpPr/>
          <p:nvPr/>
        </p:nvSpPr>
        <p:spPr>
          <a:xfrm>
            <a:off x="609600" y="1524000"/>
            <a:ext cx="5974080" cy="36576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6" name="Text 4"/>
          <p:cNvSpPr/>
          <p:nvPr/>
        </p:nvSpPr>
        <p:spPr>
          <a:xfrm>
            <a:off x="792480" y="1889760"/>
            <a:ext cx="5608320" cy="28041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clear color image of the front of the Great Seal of the United States -- bald eagle holding an olive branch in one talon, 13 arrows in the other, banner in its beak reading E Pluribus Unum. Save as source-3-10-08-great-seal-of-the-us.jpg</a:t>
            </a:r>
            <a:endParaRPr lang="en-US" sz="1100" dirty="0"/>
          </a:p>
        </p:txBody>
      </p:sp>
      <p:sp>
        <p:nvSpPr>
          <p:cNvPr id="7" name="Shape 5"/>
          <p:cNvSpPr/>
          <p:nvPr/>
        </p:nvSpPr>
        <p:spPr>
          <a:xfrm>
            <a:off x="6827520" y="1524000"/>
            <a:ext cx="4389120" cy="3291840"/>
          </a:xfrm>
          <a:prstGeom prst="roundRect">
            <a:avLst>
              <a:gd name="adj" fmla="val 4444"/>
            </a:avLst>
          </a:prstGeom>
          <a:solidFill>
            <a:srgbClr val="EAF8FD"/>
          </a:solidFill>
          <a:ln w="12700">
            <a:solidFill>
              <a:srgbClr val="55C8E8"/>
            </a:solidFill>
            <a:prstDash val="solid"/>
          </a:ln>
        </p:spPr>
      </p:sp>
      <p:sp>
        <p:nvSpPr>
          <p:cNvPr id="8" name="Text 6"/>
          <p:cNvSpPr/>
          <p:nvPr/>
        </p:nvSpPr>
        <p:spPr>
          <a:xfrm>
            <a:off x="7010400" y="1682496"/>
            <a:ext cx="4023360" cy="304800"/>
          </a:xfrm>
          <a:prstGeom prst="rect">
            <a:avLst/>
          </a:prstGeom>
          <a:noFill/>
          <a:ln/>
        </p:spPr>
        <p:txBody>
          <a:bodyPr wrap="square" lIns="0" tIns="0" rIns="0" bIns="0" rtlCol="0" anchor="ctr"/>
          <a:lstStyle/>
          <a:p>
            <a:pPr indent="0" marL="0">
              <a:buNone/>
            </a:pPr>
            <a:r>
              <a:rPr lang="en-US" sz="900" b="1" spc="100" kern="0" dirty="0">
                <a:solidFill>
                  <a:srgbClr val="1A6E8A"/>
                </a:solidFill>
                <a:latin typeface="Calibri" pitchFamily="34" charset="0"/>
                <a:ea typeface="Calibri" pitchFamily="34" charset="-122"/>
                <a:cs typeface="Calibri" pitchFamily="34" charset="-120"/>
              </a:rPr>
              <a:t>FIRST USED 1782 - OFFICIAL NATIONAL IMAGE</a:t>
            </a:r>
            <a:endParaRPr lang="en-US" sz="900" dirty="0"/>
          </a:p>
        </p:txBody>
      </p:sp>
      <p:sp>
        <p:nvSpPr>
          <p:cNvPr id="9" name="Text 7"/>
          <p:cNvSpPr/>
          <p:nvPr/>
        </p:nvSpPr>
        <p:spPr>
          <a:xfrm>
            <a:off x="7010400" y="2097024"/>
            <a:ext cx="4023360" cy="2316480"/>
          </a:xfrm>
          <a:prstGeom prst="rect">
            <a:avLst/>
          </a:prstGeom>
          <a:noFill/>
          <a:ln/>
        </p:spPr>
        <p:txBody>
          <a:bodyPr wrap="square" lIns="0" tIns="0" rIns="0" bIns="0" rtlCol="0" anchor="t"/>
          <a:lstStyle/>
          <a:p>
            <a:pPr indent="0" marL="0">
              <a:buNone/>
            </a:pPr>
            <a:r>
              <a:rPr lang="en-US" sz="1300" dirty="0">
                <a:solidFill>
                  <a:srgbClr val="0E1C42"/>
                </a:solidFill>
                <a:latin typeface="Calibri" pitchFamily="34" charset="0"/>
                <a:ea typeface="Calibri" pitchFamily="34" charset="-122"/>
                <a:cs typeface="Calibri" pitchFamily="34" charset="-120"/>
              </a:rPr>
              <a:t>Look at the eagle, the shield on its chest, the banner in its beak, and the things in its talons. List the four biggest things you notice.</a:t>
            </a:r>
            <a:endParaRPr lang="en-US" sz="1300" dirty="0"/>
          </a:p>
        </p:txBody>
      </p:sp>
      <p:sp>
        <p:nvSpPr>
          <p:cNvPr id="10" name="Shape 8"/>
          <p:cNvSpPr/>
          <p:nvPr/>
        </p:nvSpPr>
        <p:spPr>
          <a:xfrm>
            <a:off x="609600" y="5059680"/>
            <a:ext cx="10607040" cy="1280160"/>
          </a:xfrm>
          <a:prstGeom prst="roundRect">
            <a:avLst>
              <a:gd name="adj" fmla="val 11429"/>
            </a:avLst>
          </a:prstGeom>
          <a:solidFill>
            <a:srgbClr val="FFF3DC"/>
          </a:solidFill>
          <a:ln w="19050">
            <a:solidFill>
              <a:srgbClr val="F5E6C8"/>
            </a:solidFill>
            <a:prstDash val="solid"/>
          </a:ln>
        </p:spPr>
      </p:sp>
      <p:sp>
        <p:nvSpPr>
          <p:cNvPr id="11" name="Text 9"/>
          <p:cNvSpPr/>
          <p:nvPr/>
        </p:nvSpPr>
        <p:spPr>
          <a:xfrm>
            <a:off x="792480" y="5132832"/>
            <a:ext cx="1024128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792480" y="5401056"/>
            <a:ext cx="10241280" cy="8534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see..."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this belongs in the ______ category because..."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COUNCIL CHAMBER  -  DISCUSSION</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Sort the Pedestal</a:t>
            </a:r>
            <a:endParaRPr lang="en-US" sz="3000" dirty="0"/>
          </a:p>
        </p:txBody>
      </p:sp>
      <p:sp>
        <p:nvSpPr>
          <p:cNvPr id="4" name="Text 2"/>
          <p:cNvSpPr/>
          <p:nvPr/>
        </p:nvSpPr>
        <p:spPr>
          <a:xfrm>
            <a:off x="609600" y="1524000"/>
            <a:ext cx="6461760" cy="195072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Flag, bell, bust, document, tiny Statue of Liberty. The Great Seal, too. Before we name the four categories, sort what you already have in your head.</a:t>
            </a:r>
            <a:endParaRPr lang="en-US" sz="1500" dirty="0"/>
          </a:p>
        </p:txBody>
      </p:sp>
      <p:sp>
        <p:nvSpPr>
          <p:cNvPr id="5" name="Shape 3"/>
          <p:cNvSpPr/>
          <p:nvPr/>
        </p:nvSpPr>
        <p:spPr>
          <a:xfrm>
            <a:off x="609600" y="3657600"/>
            <a:ext cx="6461760" cy="1463040"/>
          </a:xfrm>
          <a:prstGeom prst="roundRect">
            <a:avLst>
              <a:gd name="adj" fmla="val 10000"/>
            </a:avLst>
          </a:prstGeom>
          <a:solidFill>
            <a:srgbClr val="FFF3DC"/>
          </a:solidFill>
          <a:ln w="19050">
            <a:solidFill>
              <a:srgbClr val="F5E6C8"/>
            </a:solidFill>
            <a:prstDash val="solid"/>
          </a:ln>
        </p:spPr>
      </p:sp>
      <p:sp>
        <p:nvSpPr>
          <p:cNvPr id="6" name="Text 4"/>
          <p:cNvSpPr/>
          <p:nvPr/>
        </p:nvSpPr>
        <p:spPr>
          <a:xfrm>
            <a:off x="792480" y="3730752"/>
            <a:ext cx="6096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792480" y="3998976"/>
            <a:ext cx="6096000" cy="10363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would sort the ______ with the ______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one is tricky because..."</a:t>
            </a:r>
            <a:endParaRPr lang="en-US" sz="1200" dirty="0"/>
          </a:p>
        </p:txBody>
      </p:sp>
      <p:sp>
        <p:nvSpPr>
          <p:cNvPr id="8" name="Shape 6"/>
          <p:cNvSpPr/>
          <p:nvPr/>
        </p:nvSpPr>
        <p:spPr>
          <a:xfrm>
            <a:off x="7315200" y="1524000"/>
            <a:ext cx="3901440" cy="475488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7559040" y="1645920"/>
            <a:ext cx="34137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7559040" y="1987296"/>
            <a:ext cx="3413760" cy="41696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 you see that makes you say that?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items seem to belong together, and why?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Does this item show us what we honor, who shaped us, what we believe, or what tested us?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a category?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REVEAL  -  YOU FOUND IT</a:t>
            </a:r>
            <a:endParaRPr lang="en-US" sz="1000" dirty="0"/>
          </a:p>
        </p:txBody>
      </p:sp>
      <p:sp>
        <p:nvSpPr>
          <p:cNvPr id="3" name="Text 1"/>
          <p:cNvSpPr/>
          <p:nvPr/>
        </p:nvSpPr>
        <p:spPr>
          <a:xfrm>
            <a:off x="487680" y="426720"/>
            <a:ext cx="11216640" cy="731520"/>
          </a:xfrm>
          <a:prstGeom prst="rect">
            <a:avLst/>
          </a:prstGeom>
          <a:noFill/>
          <a:ln/>
        </p:spPr>
        <p:txBody>
          <a:bodyPr wrap="square" lIns="0" tIns="0" rIns="0" bIns="0" rtlCol="0" anchor="ctr"/>
          <a:lstStyle/>
          <a:p>
            <a:pPr algn="ctr" indent="0" marL="0">
              <a:buNone/>
            </a:pPr>
            <a:r>
              <a:rPr lang="en-US" sz="2400" b="1" dirty="0">
                <a:solidFill>
                  <a:srgbClr val="D4943A"/>
                </a:solidFill>
                <a:latin typeface="Cambria" pitchFamily="34" charset="0"/>
                <a:ea typeface="Cambria" pitchFamily="34" charset="-122"/>
                <a:cs typeface="Cambria" pitchFamily="34" charset="-120"/>
              </a:rPr>
              <a:t>Four Kinds of Evidence About a Country</a:t>
            </a:r>
            <a:endParaRPr lang="en-US" sz="2400" dirty="0"/>
          </a:p>
        </p:txBody>
      </p:sp>
      <p:sp>
        <p:nvSpPr>
          <p:cNvPr id="4" name="Shape 2"/>
          <p:cNvSpPr/>
          <p:nvPr/>
        </p:nvSpPr>
        <p:spPr>
          <a:xfrm>
            <a:off x="487680" y="1402080"/>
            <a:ext cx="5364480" cy="2133600"/>
          </a:xfrm>
          <a:prstGeom prst="roundRect">
            <a:avLst>
              <a:gd name="adj" fmla="val 5714"/>
            </a:avLst>
          </a:prstGeom>
          <a:solidFill>
            <a:srgbClr val="1A2D5A"/>
          </a:solidFill>
          <a:ln/>
        </p:spPr>
      </p:sp>
      <p:sp>
        <p:nvSpPr>
          <p:cNvPr id="5" name="Text 3"/>
          <p:cNvSpPr/>
          <p:nvPr/>
        </p:nvSpPr>
        <p:spPr>
          <a:xfrm>
            <a:off x="670560" y="1499616"/>
            <a:ext cx="4998720" cy="4267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Symbols</a:t>
            </a:r>
            <a:endParaRPr lang="en-US" sz="1600" dirty="0"/>
          </a:p>
        </p:txBody>
      </p:sp>
      <p:sp>
        <p:nvSpPr>
          <p:cNvPr id="6" name="Text 4"/>
          <p:cNvSpPr/>
          <p:nvPr/>
        </p:nvSpPr>
        <p:spPr>
          <a:xfrm>
            <a:off x="670560" y="1938528"/>
            <a:ext cx="4998720" cy="365760"/>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Shows what we honor</a:t>
            </a:r>
            <a:endParaRPr lang="en-US" sz="1100" dirty="0"/>
          </a:p>
        </p:txBody>
      </p:sp>
      <p:sp>
        <p:nvSpPr>
          <p:cNvPr id="7" name="Text 5"/>
          <p:cNvSpPr/>
          <p:nvPr/>
        </p:nvSpPr>
        <p:spPr>
          <a:xfrm>
            <a:off x="670560" y="2353056"/>
            <a:ext cx="4998720" cy="1097280"/>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U.S. flag, bald eagle, Statue of Liberty, Liberty Bell, Great Seal</a:t>
            </a:r>
            <a:endParaRPr lang="en-US" sz="1100" dirty="0"/>
          </a:p>
        </p:txBody>
      </p:sp>
      <p:sp>
        <p:nvSpPr>
          <p:cNvPr id="8" name="Shape 6"/>
          <p:cNvSpPr/>
          <p:nvPr/>
        </p:nvSpPr>
        <p:spPr>
          <a:xfrm>
            <a:off x="6156960" y="1402080"/>
            <a:ext cx="5364480" cy="2133600"/>
          </a:xfrm>
          <a:prstGeom prst="roundRect">
            <a:avLst>
              <a:gd name="adj" fmla="val 5714"/>
            </a:avLst>
          </a:prstGeom>
          <a:solidFill>
            <a:srgbClr val="1A2D5A"/>
          </a:solidFill>
          <a:ln/>
        </p:spPr>
      </p:sp>
      <p:sp>
        <p:nvSpPr>
          <p:cNvPr id="9" name="Text 7"/>
          <p:cNvSpPr/>
          <p:nvPr/>
        </p:nvSpPr>
        <p:spPr>
          <a:xfrm>
            <a:off x="6339840" y="1499616"/>
            <a:ext cx="4998720" cy="4267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Individuals</a:t>
            </a:r>
            <a:endParaRPr lang="en-US" sz="1600" dirty="0"/>
          </a:p>
        </p:txBody>
      </p:sp>
      <p:sp>
        <p:nvSpPr>
          <p:cNvPr id="10" name="Text 8"/>
          <p:cNvSpPr/>
          <p:nvPr/>
        </p:nvSpPr>
        <p:spPr>
          <a:xfrm>
            <a:off x="6339840" y="1938528"/>
            <a:ext cx="4998720" cy="365760"/>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Shows who shaped us</a:t>
            </a:r>
            <a:endParaRPr lang="en-US" sz="1100" dirty="0"/>
          </a:p>
        </p:txBody>
      </p:sp>
      <p:sp>
        <p:nvSpPr>
          <p:cNvPr id="11" name="Text 9"/>
          <p:cNvSpPr/>
          <p:nvPr/>
        </p:nvSpPr>
        <p:spPr>
          <a:xfrm>
            <a:off x="6339840" y="2353056"/>
            <a:ext cx="4998720" cy="1097280"/>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Washington, Jefferson, Lincoln, Martin Luther King Jr.</a:t>
            </a:r>
            <a:endParaRPr lang="en-US" sz="1100" dirty="0"/>
          </a:p>
        </p:txBody>
      </p:sp>
      <p:sp>
        <p:nvSpPr>
          <p:cNvPr id="12" name="Shape 10"/>
          <p:cNvSpPr/>
          <p:nvPr/>
        </p:nvSpPr>
        <p:spPr>
          <a:xfrm>
            <a:off x="487680" y="3779520"/>
            <a:ext cx="5364480" cy="2133600"/>
          </a:xfrm>
          <a:prstGeom prst="roundRect">
            <a:avLst>
              <a:gd name="adj" fmla="val 5714"/>
            </a:avLst>
          </a:prstGeom>
          <a:solidFill>
            <a:srgbClr val="1A2D5A"/>
          </a:solidFill>
          <a:ln/>
        </p:spPr>
      </p:sp>
      <p:sp>
        <p:nvSpPr>
          <p:cNvPr id="13" name="Text 11"/>
          <p:cNvSpPr/>
          <p:nvPr/>
        </p:nvSpPr>
        <p:spPr>
          <a:xfrm>
            <a:off x="670560" y="3877056"/>
            <a:ext cx="4998720" cy="4267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Documents</a:t>
            </a:r>
            <a:endParaRPr lang="en-US" sz="1600" dirty="0"/>
          </a:p>
        </p:txBody>
      </p:sp>
      <p:sp>
        <p:nvSpPr>
          <p:cNvPr id="14" name="Text 12"/>
          <p:cNvSpPr/>
          <p:nvPr/>
        </p:nvSpPr>
        <p:spPr>
          <a:xfrm>
            <a:off x="670560" y="4315968"/>
            <a:ext cx="4998720" cy="365760"/>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Shows what we believe</a:t>
            </a:r>
            <a:endParaRPr lang="en-US" sz="1100" dirty="0"/>
          </a:p>
        </p:txBody>
      </p:sp>
      <p:sp>
        <p:nvSpPr>
          <p:cNvPr id="15" name="Text 13"/>
          <p:cNvSpPr/>
          <p:nvPr/>
        </p:nvSpPr>
        <p:spPr>
          <a:xfrm>
            <a:off x="670560" y="4730496"/>
            <a:ext cx="4998720" cy="1097280"/>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Declaration of Independence, Constitution, Bill of Rights</a:t>
            </a:r>
            <a:endParaRPr lang="en-US" sz="1100" dirty="0"/>
          </a:p>
        </p:txBody>
      </p:sp>
      <p:sp>
        <p:nvSpPr>
          <p:cNvPr id="16" name="Shape 14"/>
          <p:cNvSpPr/>
          <p:nvPr/>
        </p:nvSpPr>
        <p:spPr>
          <a:xfrm>
            <a:off x="6156960" y="3779520"/>
            <a:ext cx="5364480" cy="2133600"/>
          </a:xfrm>
          <a:prstGeom prst="roundRect">
            <a:avLst>
              <a:gd name="adj" fmla="val 5714"/>
            </a:avLst>
          </a:prstGeom>
          <a:solidFill>
            <a:srgbClr val="1A2D5A"/>
          </a:solidFill>
          <a:ln/>
        </p:spPr>
      </p:sp>
      <p:sp>
        <p:nvSpPr>
          <p:cNvPr id="17" name="Text 15"/>
          <p:cNvSpPr/>
          <p:nvPr/>
        </p:nvSpPr>
        <p:spPr>
          <a:xfrm>
            <a:off x="6339840" y="3877056"/>
            <a:ext cx="4998720" cy="426720"/>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Events</a:t>
            </a:r>
            <a:endParaRPr lang="en-US" sz="1600" dirty="0"/>
          </a:p>
        </p:txBody>
      </p:sp>
      <p:sp>
        <p:nvSpPr>
          <p:cNvPr id="18" name="Text 16"/>
          <p:cNvSpPr/>
          <p:nvPr/>
        </p:nvSpPr>
        <p:spPr>
          <a:xfrm>
            <a:off x="6339840" y="4315968"/>
            <a:ext cx="4998720" cy="365760"/>
          </a:xfrm>
          <a:prstGeom prst="rect">
            <a:avLst/>
          </a:prstGeom>
          <a:noFill/>
          <a:ln/>
        </p:spPr>
        <p:txBody>
          <a:bodyPr wrap="square" lIns="0" tIns="0" rIns="0" bIns="0" rtlCol="0" anchor="ctr"/>
          <a:lstStyle/>
          <a:p>
            <a:pPr indent="0" marL="0">
              <a:buNone/>
            </a:pPr>
            <a:r>
              <a:rPr lang="en-US" sz="1100" i="1" dirty="0">
                <a:solidFill>
                  <a:srgbClr val="55C8E8"/>
                </a:solidFill>
                <a:latin typeface="Calibri" pitchFamily="34" charset="0"/>
                <a:ea typeface="Calibri" pitchFamily="34" charset="-122"/>
                <a:cs typeface="Calibri" pitchFamily="34" charset="-120"/>
              </a:rPr>
              <a:t>Shows what tested us</a:t>
            </a:r>
            <a:endParaRPr lang="en-US" sz="1100" dirty="0"/>
          </a:p>
        </p:txBody>
      </p:sp>
      <p:sp>
        <p:nvSpPr>
          <p:cNvPr id="19" name="Text 17"/>
          <p:cNvSpPr/>
          <p:nvPr/>
        </p:nvSpPr>
        <p:spPr>
          <a:xfrm>
            <a:off x="6339840" y="4730496"/>
            <a:ext cx="4998720" cy="1097280"/>
          </a:xfrm>
          <a:prstGeom prst="rect">
            <a:avLst/>
          </a:prstGeom>
          <a:noFill/>
          <a:ln/>
        </p:spPr>
        <p:txBody>
          <a:bodyPr wrap="square" lIns="0" tIns="0" rIns="0" bIns="0" rtlCol="0" anchor="t"/>
          <a:lstStyle/>
          <a:p>
            <a:pPr indent="0" marL="0">
              <a:buNone/>
            </a:pPr>
            <a:r>
              <a:rPr lang="en-US" sz="1100" dirty="0">
                <a:solidFill>
                  <a:srgbClr val="D6F2FB"/>
                </a:solidFill>
                <a:latin typeface="Calibri" pitchFamily="34" charset="0"/>
                <a:ea typeface="Calibri" pitchFamily="34" charset="-122"/>
                <a:cs typeface="Calibri" pitchFamily="34" charset="-120"/>
              </a:rPr>
              <a:t>Signing of the Declaration, Civil War, March on Washington</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WHY IT MATTERS  -  THE BIG PICTURE</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None of the Four Tell the Full Story Alone</a:t>
            </a:r>
            <a:endParaRPr lang="en-US" sz="3000" dirty="0"/>
          </a:p>
        </p:txBody>
      </p:sp>
      <p:sp>
        <p:nvSpPr>
          <p:cNvPr id="4" name="Text 2"/>
          <p:cNvSpPr/>
          <p:nvPr/>
        </p:nvSpPr>
        <p:spPr>
          <a:xfrm>
            <a:off x="609600" y="1524000"/>
            <a:ext cx="10607040" cy="207264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The flag tells you what we honor -- but it doesn't tell you who fought to defend it. The Declaration tells you what we promised -- but not how often we had to fight to keep that promise. The four kinds work together, like four hands holding up the same country.</a:t>
            </a:r>
            <a:endParaRPr lang="en-US" sz="1500" dirty="0"/>
          </a:p>
        </p:txBody>
      </p:sp>
      <p:sp>
        <p:nvSpPr>
          <p:cNvPr id="5" name="Shape 3"/>
          <p:cNvSpPr/>
          <p:nvPr/>
        </p:nvSpPr>
        <p:spPr>
          <a:xfrm>
            <a:off x="609600" y="3840480"/>
            <a:ext cx="10607040" cy="1706880"/>
          </a:xfrm>
          <a:prstGeom prst="roundRect">
            <a:avLst>
              <a:gd name="adj" fmla="val 8571"/>
            </a:avLst>
          </a:prstGeom>
          <a:solidFill>
            <a:srgbClr val="FFF3DC"/>
          </a:solidFill>
          <a:ln w="12700">
            <a:solidFill>
              <a:srgbClr val="F5E6C8"/>
            </a:solidFill>
            <a:prstDash val="solid"/>
          </a:ln>
        </p:spPr>
      </p:sp>
      <p:sp>
        <p:nvSpPr>
          <p:cNvPr id="6" name="Text 4"/>
          <p:cNvSpPr/>
          <p:nvPr/>
        </p:nvSpPr>
        <p:spPr>
          <a:xfrm>
            <a:off x="853440" y="4023360"/>
            <a:ext cx="10119360" cy="609600"/>
          </a:xfrm>
          <a:prstGeom prst="rect">
            <a:avLst/>
          </a:prstGeom>
          <a:noFill/>
          <a:ln/>
        </p:spPr>
        <p:txBody>
          <a:bodyPr wrap="square" lIns="0" tIns="0" rIns="0" bIns="0" rtlCol="0" anchor="ctr"/>
          <a:lstStyle/>
          <a:p>
            <a:pPr algn="ctr" indent="0" marL="0">
              <a:buNone/>
            </a:pPr>
            <a:r>
              <a:rPr lang="en-US" sz="1800" b="1" i="1" dirty="0">
                <a:solidFill>
                  <a:srgbClr val="8A5A1E"/>
                </a:solidFill>
                <a:latin typeface="Cambria" pitchFamily="34" charset="0"/>
                <a:ea typeface="Cambria" pitchFamily="34" charset="-122"/>
                <a:cs typeface="Cambria" pitchFamily="34" charset="-120"/>
              </a:rPr>
              <a:t>E Pluribus Unum. Out of many, one.</a:t>
            </a:r>
            <a:endParaRPr lang="en-US" sz="1800" dirty="0"/>
          </a:p>
        </p:txBody>
      </p:sp>
      <p:sp>
        <p:nvSpPr>
          <p:cNvPr id="7" name="Text 5"/>
          <p:cNvSpPr/>
          <p:nvPr/>
        </p:nvSpPr>
        <p:spPr>
          <a:xfrm>
            <a:off x="853440" y="4693920"/>
            <a:ext cx="10119360" cy="731520"/>
          </a:xfrm>
          <a:prstGeom prst="rect">
            <a:avLst/>
          </a:prstGeom>
          <a:noFill/>
          <a:ln/>
        </p:spPr>
        <p:txBody>
          <a:bodyPr wrap="square" lIns="0" tIns="0" rIns="0" bIns="0" rtlCol="0" anchor="t"/>
          <a:lstStyle/>
          <a:p>
            <a:pPr algn="ctr" indent="0" marL="0">
              <a:buNone/>
            </a:pPr>
            <a:r>
              <a:rPr lang="en-US" sz="1200" dirty="0">
                <a:solidFill>
                  <a:srgbClr val="0E1C42"/>
                </a:solidFill>
                <a:latin typeface="Calibri" pitchFamily="34" charset="0"/>
                <a:ea typeface="Calibri" pitchFamily="34" charset="-122"/>
                <a:cs typeface="Calibri" pitchFamily="34" charset="-120"/>
              </a:rPr>
              <a:t>Pause &amp; Think: Look at the pedestal again -- flag, bell, bust, document, Statue of Liberty. Which ones are symbols? Which is the document? Which is an individual?</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COUNCIL CHAMBER  -  DEBATE</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Which Kind of Evidence Wins?</a:t>
            </a:r>
            <a:endParaRPr lang="en-US" sz="3000" dirty="0"/>
          </a:p>
        </p:txBody>
      </p:sp>
      <p:sp>
        <p:nvSpPr>
          <p:cNvPr id="4" name="Text 2"/>
          <p:cNvSpPr/>
          <p:nvPr/>
        </p:nvSpPr>
        <p:spPr>
          <a:xfrm>
            <a:off x="609600" y="1402080"/>
            <a:ext cx="10607040" cy="914400"/>
          </a:xfrm>
          <a:prstGeom prst="rect">
            <a:avLst/>
          </a:prstGeom>
          <a:noFill/>
          <a:ln/>
        </p:spPr>
        <p:txBody>
          <a:bodyPr wrap="square" lIns="0" tIns="0" rIns="0" bIns="0" rtlCol="0" anchor="t"/>
          <a:lstStyle/>
          <a:p>
            <a:pPr indent="0" marL="0">
              <a:buNone/>
            </a:pPr>
            <a:r>
              <a:rPr lang="en-US" sz="1400" b="1" i="1" dirty="0">
                <a:solidFill>
                  <a:srgbClr val="0E1C42"/>
                </a:solidFill>
                <a:latin typeface="Calibri" pitchFamily="34" charset="0"/>
                <a:ea typeface="Calibri" pitchFamily="34" charset="-122"/>
                <a:cs typeface="Calibri" pitchFamily="34" charset="-120"/>
              </a:rPr>
              <a:t>If a visitor has time to study only ONE kind of evidence about the United States, which kind would help them understand the country best?</a:t>
            </a:r>
            <a:endParaRPr lang="en-US" sz="1400" dirty="0"/>
          </a:p>
        </p:txBody>
      </p:sp>
      <p:sp>
        <p:nvSpPr>
          <p:cNvPr id="5" name="Shape 3"/>
          <p:cNvSpPr/>
          <p:nvPr/>
        </p:nvSpPr>
        <p:spPr>
          <a:xfrm>
            <a:off x="609600" y="2438400"/>
            <a:ext cx="5181600" cy="2133600"/>
          </a:xfrm>
          <a:prstGeom prst="roundRect">
            <a:avLst>
              <a:gd name="adj" fmla="val 5714"/>
            </a:avLst>
          </a:prstGeom>
          <a:solidFill>
            <a:srgbClr val="EAF8FD"/>
          </a:solidFill>
          <a:ln/>
        </p:spPr>
      </p:sp>
      <p:sp>
        <p:nvSpPr>
          <p:cNvPr id="6" name="Text 4"/>
          <p:cNvSpPr/>
          <p:nvPr/>
        </p:nvSpPr>
        <p:spPr>
          <a:xfrm>
            <a:off x="792480" y="2584704"/>
            <a:ext cx="4876800" cy="365760"/>
          </a:xfrm>
          <a:prstGeom prst="rect">
            <a:avLst/>
          </a:prstGeom>
          <a:noFill/>
          <a:ln/>
        </p:spPr>
        <p:txBody>
          <a:bodyPr wrap="square" lIns="0" tIns="0" rIns="0" bIns="0" rtlCol="0" anchor="ctr"/>
          <a:lstStyle/>
          <a:p>
            <a:pPr indent="0" marL="0">
              <a:buNone/>
            </a:pPr>
            <a:r>
              <a:rPr lang="en-US" sz="1200" b="1" dirty="0">
                <a:solidFill>
                  <a:srgbClr val="1A6E8A"/>
                </a:solidFill>
                <a:latin typeface="Calibri" pitchFamily="34" charset="0"/>
                <a:ea typeface="Calibri" pitchFamily="34" charset="-122"/>
                <a:cs typeface="Calibri" pitchFamily="34" charset="-120"/>
              </a:rPr>
              <a:t>SIDE A: Symbols &amp; Documents</a:t>
            </a:r>
            <a:endParaRPr lang="en-US" sz="1200" dirty="0"/>
          </a:p>
        </p:txBody>
      </p:sp>
      <p:sp>
        <p:nvSpPr>
          <p:cNvPr id="7" name="Text 5"/>
          <p:cNvSpPr/>
          <p:nvPr/>
        </p:nvSpPr>
        <p:spPr>
          <a:xfrm>
            <a:off x="792480" y="2987040"/>
            <a:ext cx="4876800" cy="146304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Clear, simple, easy to study in a few minutes -- without needing a hundred names or dates.</a:t>
            </a:r>
            <a:endParaRPr lang="en-US" sz="1100" dirty="0"/>
          </a:p>
        </p:txBody>
      </p:sp>
      <p:sp>
        <p:nvSpPr>
          <p:cNvPr id="8" name="Shape 6"/>
          <p:cNvSpPr/>
          <p:nvPr/>
        </p:nvSpPr>
        <p:spPr>
          <a:xfrm>
            <a:off x="6035040" y="2438400"/>
            <a:ext cx="5181600" cy="2133600"/>
          </a:xfrm>
          <a:prstGeom prst="roundRect">
            <a:avLst>
              <a:gd name="adj" fmla="val 5714"/>
            </a:avLst>
          </a:prstGeom>
          <a:solidFill>
            <a:srgbClr val="E3F8ED"/>
          </a:solidFill>
          <a:ln/>
        </p:spPr>
      </p:sp>
      <p:sp>
        <p:nvSpPr>
          <p:cNvPr id="9" name="Text 7"/>
          <p:cNvSpPr/>
          <p:nvPr/>
        </p:nvSpPr>
        <p:spPr>
          <a:xfrm>
            <a:off x="6217920" y="2584704"/>
            <a:ext cx="4876800" cy="365760"/>
          </a:xfrm>
          <a:prstGeom prst="rect">
            <a:avLst/>
          </a:prstGeom>
          <a:noFill/>
          <a:ln/>
        </p:spPr>
        <p:txBody>
          <a:bodyPr wrap="square" lIns="0" tIns="0" rIns="0" bIns="0" rtlCol="0" anchor="ctr"/>
          <a:lstStyle/>
          <a:p>
            <a:pPr indent="0" marL="0">
              <a:buNone/>
            </a:pPr>
            <a:r>
              <a:rPr lang="en-US" sz="1200" b="1" dirty="0">
                <a:solidFill>
                  <a:srgbClr val="1E7A4D"/>
                </a:solidFill>
                <a:latin typeface="Calibri" pitchFamily="34" charset="0"/>
                <a:ea typeface="Calibri" pitchFamily="34" charset="-122"/>
                <a:cs typeface="Calibri" pitchFamily="34" charset="-120"/>
              </a:rPr>
              <a:t>SIDE B: Individuals &amp; Events</a:t>
            </a:r>
            <a:endParaRPr lang="en-US" sz="1200" dirty="0"/>
          </a:p>
        </p:txBody>
      </p:sp>
      <p:sp>
        <p:nvSpPr>
          <p:cNvPr id="10" name="Text 8"/>
          <p:cNvSpPr/>
          <p:nvPr/>
        </p:nvSpPr>
        <p:spPr>
          <a:xfrm>
            <a:off x="6217920" y="2987040"/>
            <a:ext cx="4876800" cy="1463040"/>
          </a:xfrm>
          <a:prstGeom prst="rect">
            <a:avLst/>
          </a:prstGeom>
          <a:noFill/>
          <a:ln/>
        </p:spPr>
        <p:txBody>
          <a:bodyPr wrap="square" lIns="0" tIns="0" rIns="0" bIns="0" rtlCol="0" anchor="t"/>
          <a:lstStyle/>
          <a:p>
            <a:pPr indent="0" marL="0">
              <a:buNone/>
            </a:pPr>
            <a:r>
              <a:rPr lang="en-US" sz="1100" dirty="0">
                <a:solidFill>
                  <a:srgbClr val="0E1C42"/>
                </a:solidFill>
                <a:latin typeface="Calibri" pitchFamily="34" charset="0"/>
                <a:ea typeface="Calibri" pitchFamily="34" charset="-122"/>
                <a:cs typeface="Calibri" pitchFamily="34" charset="-120"/>
              </a:rPr>
              <a:t>Messy, real, human -- they show how the country has worked, failed, and tried again.</a:t>
            </a:r>
            <a:endParaRPr lang="en-US" sz="1100" dirty="0"/>
          </a:p>
        </p:txBody>
      </p:sp>
      <p:sp>
        <p:nvSpPr>
          <p:cNvPr id="11" name="Shape 9"/>
          <p:cNvSpPr/>
          <p:nvPr/>
        </p:nvSpPr>
        <p:spPr>
          <a:xfrm>
            <a:off x="609600" y="4815840"/>
            <a:ext cx="5181600" cy="1645920"/>
          </a:xfrm>
          <a:prstGeom prst="roundRect">
            <a:avLst>
              <a:gd name="adj" fmla="val 8889"/>
            </a:avLst>
          </a:prstGeom>
          <a:solidFill>
            <a:srgbClr val="FFF3DC"/>
          </a:solidFill>
          <a:ln w="19050">
            <a:solidFill>
              <a:srgbClr val="F5E6C8"/>
            </a:solidFill>
            <a:prstDash val="solid"/>
          </a:ln>
        </p:spPr>
      </p:sp>
      <p:sp>
        <p:nvSpPr>
          <p:cNvPr id="12" name="Text 10"/>
          <p:cNvSpPr/>
          <p:nvPr/>
        </p:nvSpPr>
        <p:spPr>
          <a:xfrm>
            <a:off x="792480" y="4888992"/>
            <a:ext cx="481584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3" name="Text 11"/>
          <p:cNvSpPr/>
          <p:nvPr/>
        </p:nvSpPr>
        <p:spPr>
          <a:xfrm>
            <a:off x="792480" y="5157216"/>
            <a:ext cx="4815840" cy="1219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choose Side ______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specific example I would use is..."</a:t>
            </a:r>
            <a:endParaRPr lang="en-US" sz="1200" dirty="0"/>
          </a:p>
        </p:txBody>
      </p:sp>
      <p:sp>
        <p:nvSpPr>
          <p:cNvPr id="14" name="Shape 12"/>
          <p:cNvSpPr/>
          <p:nvPr/>
        </p:nvSpPr>
        <p:spPr>
          <a:xfrm>
            <a:off x="6035040" y="4815840"/>
            <a:ext cx="5181600" cy="1645920"/>
          </a:xfrm>
          <a:prstGeom prst="roundRect">
            <a:avLst>
              <a:gd name="adj" fmla="val 11111"/>
            </a:avLst>
          </a:prstGeom>
          <a:solidFill>
            <a:srgbClr val="1A2D5A"/>
          </a:solidFill>
          <a:ln/>
          <a:effectLst>
            <a:outerShdw sx="100000" sy="100000" kx="0" ky="0" algn="bl" rotWithShape="0" blurRad="101600" dist="38100" dir="8100000">
              <a:srgbClr val="000000">
                <a:alpha val="20000"/>
              </a:srgbClr>
            </a:outerShdw>
          </a:effectLst>
        </p:spPr>
      </p:sp>
      <p:sp>
        <p:nvSpPr>
          <p:cNvPr id="15" name="Text 13"/>
          <p:cNvSpPr/>
          <p:nvPr/>
        </p:nvSpPr>
        <p:spPr>
          <a:xfrm>
            <a:off x="6278880" y="4937760"/>
            <a:ext cx="469392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4"/>
          <p:cNvSpPr/>
          <p:nvPr/>
        </p:nvSpPr>
        <p:spPr>
          <a:xfrm>
            <a:off x="6278880" y="5279136"/>
            <a:ext cx="4693920" cy="106070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change your mind about your side?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might someone arguing the other side say?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honesty mean picking a side, not straddling both?</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TEACHER MODELS</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Watch Me Build a Recommendation</a:t>
            </a:r>
            <a:endParaRPr lang="en-US" sz="3000" dirty="0"/>
          </a:p>
        </p:txBody>
      </p:sp>
      <p:sp>
        <p:nvSpPr>
          <p:cNvPr id="4" name="Shape 2"/>
          <p:cNvSpPr/>
          <p:nvPr/>
        </p:nvSpPr>
        <p:spPr>
          <a:xfrm>
            <a:off x="609600" y="1524000"/>
            <a:ext cx="10607040" cy="4023360"/>
          </a:xfrm>
          <a:prstGeom prst="roundRect">
            <a:avLst>
              <a:gd name="adj" fmla="val 3636"/>
            </a:avLst>
          </a:prstGeom>
          <a:solidFill>
            <a:srgbClr val="F0F2F8"/>
          </a:solidFill>
          <a:ln/>
        </p:spPr>
      </p:sp>
      <p:sp>
        <p:nvSpPr>
          <p:cNvPr id="5" name="Text 3"/>
          <p:cNvSpPr/>
          <p:nvPr/>
        </p:nvSpPr>
        <p:spPr>
          <a:xfrm>
            <a:off x="853440" y="1706880"/>
            <a:ext cx="10119360" cy="3048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THINK-ALOUD SCRIPT</a:t>
            </a:r>
            <a:endParaRPr lang="en-US" sz="900" dirty="0"/>
          </a:p>
        </p:txBody>
      </p:sp>
      <p:sp>
        <p:nvSpPr>
          <p:cNvPr id="6" name="Text 4"/>
          <p:cNvSpPr/>
          <p:nvPr/>
        </p:nvSpPr>
        <p:spPr>
          <a:xfrm>
            <a:off x="853440" y="2133600"/>
            <a:ext cx="10119360" cy="3230880"/>
          </a:xfrm>
          <a:prstGeom prst="rect">
            <a:avLst/>
          </a:prstGeom>
          <a:noFill/>
          <a:ln/>
        </p:spPr>
        <p:txBody>
          <a:bodyPr wrap="square" lIns="0" tIns="0" rIns="0" bIns="0" rtlCol="0" anchor="t"/>
          <a:lstStyle/>
          <a:p>
            <a:pPr indent="0" marL="0">
              <a:spcAft>
                <a:spcPts val="800"/>
              </a:spcAft>
              <a:buNone/>
            </a:pPr>
            <a:r>
              <a:rPr lang="en-US" sz="1400" i="1" dirty="0">
                <a:solidFill>
                  <a:srgbClr val="0E1C42"/>
                </a:solidFill>
                <a:latin typeface="Calibri" pitchFamily="34" charset="0"/>
                <a:ea typeface="Calibri" pitchFamily="34" charset="-122"/>
                <a:cs typeface="Calibri" pitchFamily="34" charset="-120"/>
              </a:rPr>
              <a:t>"I pick Side B -- individuals and events." (Name your choice.)</a:t>
            </a:r>
            <a:endParaRPr lang="en-US" sz="1400" dirty="0"/>
          </a:p>
          <a:p>
            <a:pPr indent="0" marL="0">
              <a:spcAft>
                <a:spcPts val="800"/>
              </a:spcAft>
              <a:buNone/>
            </a:pPr>
            <a:r>
              <a:rPr lang="en-US" sz="1400" i="1" dirty="0">
                <a:solidFill>
                  <a:srgbClr val="0E1C42"/>
                </a:solidFill>
                <a:latin typeface="Calibri" pitchFamily="34" charset="0"/>
                <a:ea typeface="Calibri" pitchFamily="34" charset="-122"/>
                <a:cs typeface="Calibri" pitchFamily="34" charset="-120"/>
              </a:rPr>
              <a:t>"Reason one: a document cannot show struggle. Reason two: people choices are what actually changed the country." (Two reasons.)</a:t>
            </a:r>
            <a:endParaRPr lang="en-US" sz="1400" dirty="0"/>
          </a:p>
          <a:p>
            <a:pPr indent="0" marL="0">
              <a:buNone/>
            </a:pPr>
            <a:r>
              <a:rPr lang="en-US" sz="1400" i="1" dirty="0">
                <a:solidFill>
                  <a:srgbClr val="0E1C42"/>
                </a:solidFill>
                <a:latin typeface="Calibri" pitchFamily="34" charset="0"/>
                <a:ea typeface="Calibri" pitchFamily="34" charset="-122"/>
                <a:cs typeface="Calibri" pitchFamily="34" charset="-120"/>
              </a:rPr>
              <a:t>"My specific example is Abraham Lincoln, who led the country through the Civil War and worked to end slavery." (One specific example.)</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WE TRY TOGETHER</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Sort the Whole Pedestal As a Class</a:t>
            </a:r>
            <a:endParaRPr lang="en-US" sz="3000" dirty="0"/>
          </a:p>
        </p:txBody>
      </p:sp>
      <p:sp>
        <p:nvSpPr>
          <p:cNvPr id="4" name="Text 2"/>
          <p:cNvSpPr/>
          <p:nvPr/>
        </p:nvSpPr>
        <p:spPr>
          <a:xfrm>
            <a:off x="609600" y="1524000"/>
            <a:ext cx="6461760" cy="1950720"/>
          </a:xfrm>
          <a:prstGeom prst="rect">
            <a:avLst/>
          </a:prstGeom>
          <a:noFill/>
          <a:ln/>
        </p:spPr>
        <p:txBody>
          <a:bodyPr wrap="square" lIns="0" tIns="0" rIns="0" bIns="0" rtlCol="0" anchor="t"/>
          <a:lstStyle/>
          <a:p>
            <a:pPr indent="0" marL="0">
              <a:buNone/>
            </a:pPr>
            <a:r>
              <a:rPr lang="en-US" sz="1400" dirty="0">
                <a:solidFill>
                  <a:srgbClr val="0E1C42"/>
                </a:solidFill>
                <a:latin typeface="Calibri" pitchFamily="34" charset="0"/>
                <a:ea typeface="Calibri" pitchFamily="34" charset="-122"/>
                <a:cs typeface="Calibri" pitchFamily="34" charset="-120"/>
              </a:rPr>
              <a:t>Flag. Bronze bell. Marble bust. Rolled document. Tiny Statue of Liberty. As a class, sort every item into one of the four categories and name what it shows visitors.</a:t>
            </a:r>
            <a:endParaRPr lang="en-US" sz="1400" dirty="0"/>
          </a:p>
        </p:txBody>
      </p:sp>
      <p:sp>
        <p:nvSpPr>
          <p:cNvPr id="5" name="Shape 3"/>
          <p:cNvSpPr/>
          <p:nvPr/>
        </p:nvSpPr>
        <p:spPr>
          <a:xfrm>
            <a:off x="609600" y="3657600"/>
            <a:ext cx="6461760" cy="1584960"/>
          </a:xfrm>
          <a:prstGeom prst="roundRect">
            <a:avLst>
              <a:gd name="adj" fmla="val 9231"/>
            </a:avLst>
          </a:prstGeom>
          <a:solidFill>
            <a:srgbClr val="FFF3DC"/>
          </a:solidFill>
          <a:ln w="19050">
            <a:solidFill>
              <a:srgbClr val="F5E6C8"/>
            </a:solidFill>
            <a:prstDash val="solid"/>
          </a:ln>
        </p:spPr>
      </p:sp>
      <p:sp>
        <p:nvSpPr>
          <p:cNvPr id="6" name="Text 4"/>
          <p:cNvSpPr/>
          <p:nvPr/>
        </p:nvSpPr>
        <p:spPr>
          <a:xfrm>
            <a:off x="792480" y="3730752"/>
            <a:ext cx="6096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7" name="Text 5"/>
          <p:cNvSpPr/>
          <p:nvPr/>
        </p:nvSpPr>
        <p:spPr>
          <a:xfrm>
            <a:off x="792480" y="3998976"/>
            <a:ext cx="6096000" cy="115824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bell is a ______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bust shows an ______ because..."</a:t>
            </a:r>
            <a:endParaRPr lang="en-US" sz="1200" dirty="0"/>
          </a:p>
        </p:txBody>
      </p:sp>
      <p:sp>
        <p:nvSpPr>
          <p:cNvPr id="8" name="Shape 6"/>
          <p:cNvSpPr/>
          <p:nvPr/>
        </p:nvSpPr>
        <p:spPr>
          <a:xfrm>
            <a:off x="7315200" y="1524000"/>
            <a:ext cx="3901440" cy="4754880"/>
          </a:xfrm>
          <a:prstGeom prst="roundRect">
            <a:avLst>
              <a:gd name="adj" fmla="val 4687"/>
            </a:avLst>
          </a:prstGeom>
          <a:solidFill>
            <a:srgbClr val="1A2D5A"/>
          </a:solidFill>
          <a:ln/>
          <a:effectLst>
            <a:outerShdw sx="100000" sy="100000" kx="0" ky="0" algn="bl" rotWithShape="0" blurRad="101600" dist="38100" dir="8100000">
              <a:srgbClr val="000000">
                <a:alpha val="20000"/>
              </a:srgbClr>
            </a:outerShdw>
          </a:effectLst>
        </p:spPr>
      </p:sp>
      <p:sp>
        <p:nvSpPr>
          <p:cNvPr id="9" name="Text 7"/>
          <p:cNvSpPr/>
          <p:nvPr/>
        </p:nvSpPr>
        <p:spPr>
          <a:xfrm>
            <a:off x="7559040" y="1645920"/>
            <a:ext cx="34137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0" name="Text 8"/>
          <p:cNvSpPr/>
          <p:nvPr/>
        </p:nvSpPr>
        <p:spPr>
          <a:xfrm>
            <a:off x="7559040" y="1987296"/>
            <a:ext cx="3413760" cy="41696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clues tell you this is a symbol and not an individual?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an item belong to more than one category? Why or why not?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this item show a visitor about America?</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YOUR TURN WITH SUPPORT</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Now You Try: Name One of Each</a:t>
            </a:r>
            <a:endParaRPr lang="en-US" sz="3000" dirty="0"/>
          </a:p>
        </p:txBody>
      </p:sp>
      <p:sp>
        <p:nvSpPr>
          <p:cNvPr id="4" name="Shape 2"/>
          <p:cNvSpPr/>
          <p:nvPr/>
        </p:nvSpPr>
        <p:spPr>
          <a:xfrm>
            <a:off x="609600" y="1524000"/>
            <a:ext cx="10607040" cy="4084320"/>
          </a:xfrm>
          <a:prstGeom prst="roundRect">
            <a:avLst>
              <a:gd name="adj" fmla="val 3582"/>
            </a:avLst>
          </a:prstGeom>
          <a:solidFill>
            <a:srgbClr val="F0F2F8"/>
          </a:solidFill>
          <a:ln/>
        </p:spPr>
      </p:sp>
      <p:sp>
        <p:nvSpPr>
          <p:cNvPr id="5" name="Text 3"/>
          <p:cNvSpPr/>
          <p:nvPr/>
        </p:nvSpPr>
        <p:spPr>
          <a:xfrm>
            <a:off x="853440" y="1706880"/>
            <a:ext cx="10119360" cy="3048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YOUR CHECKLIST</a:t>
            </a:r>
            <a:endParaRPr lang="en-US" sz="900" dirty="0"/>
          </a:p>
        </p:txBody>
      </p:sp>
      <p:sp>
        <p:nvSpPr>
          <p:cNvPr id="6" name="Text 4"/>
          <p:cNvSpPr/>
          <p:nvPr/>
        </p:nvSpPr>
        <p:spPr>
          <a:xfrm>
            <a:off x="853440" y="2133600"/>
            <a:ext cx="10119360" cy="32918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Name one SYMBOL and say what it honors.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Name one INDIVIDUAL and say how they shaped us.</a:t>
            </a:r>
            <a:endParaRPr lang="en-US" sz="1500" dirty="0"/>
          </a:p>
          <a:p>
            <a:pPr marL="342900" indent="-342900">
              <a:spcAft>
                <a:spcPts val="600"/>
              </a:spcAft>
              <a:buSzPct val="100000"/>
              <a:buChar char="•"/>
            </a:pPr>
            <a:r>
              <a:rPr lang="en-US" sz="1500" dirty="0">
                <a:solidFill>
                  <a:srgbClr val="0E1C42"/>
                </a:solidFill>
                <a:latin typeface="Calibri" pitchFamily="34" charset="0"/>
                <a:ea typeface="Calibri" pitchFamily="34" charset="-122"/>
                <a:cs typeface="Calibri" pitchFamily="34" charset="-120"/>
              </a:rPr>
              <a:t>Name one DOCUMENT and say what it promises.</a:t>
            </a:r>
            <a:endParaRPr lang="en-US" sz="1500" dirty="0"/>
          </a:p>
          <a:p>
            <a:pPr marL="342900" indent="-342900">
              <a:buSzPct val="100000"/>
              <a:buChar char="•"/>
            </a:pPr>
            <a:r>
              <a:rPr lang="en-US" sz="1500" dirty="0">
                <a:solidFill>
                  <a:srgbClr val="0E1C42"/>
                </a:solidFill>
                <a:latin typeface="Calibri" pitchFamily="34" charset="0"/>
                <a:ea typeface="Calibri" pitchFamily="34" charset="-122"/>
                <a:cs typeface="Calibri" pitchFamily="34" charset="-120"/>
              </a:rPr>
              <a:t>Name one EVENT and say what it tested.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GUIDED PRACTICE  -  ERROR ANALYSIS</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Find the Curator's Mistake</a:t>
            </a:r>
            <a:endParaRPr lang="en-US" sz="3000" dirty="0"/>
          </a:p>
        </p:txBody>
      </p:sp>
      <p:sp>
        <p:nvSpPr>
          <p:cNvPr id="4" name="Shape 2"/>
          <p:cNvSpPr/>
          <p:nvPr/>
        </p:nvSpPr>
        <p:spPr>
          <a:xfrm>
            <a:off x="609600" y="1524000"/>
            <a:ext cx="10607040" cy="1645920"/>
          </a:xfrm>
          <a:prstGeom prst="roundRect">
            <a:avLst>
              <a:gd name="adj" fmla="val 8889"/>
            </a:avLst>
          </a:prstGeom>
          <a:solidFill>
            <a:srgbClr val="FDEAEA"/>
          </a:solidFill>
          <a:ln w="12700">
            <a:solidFill>
              <a:srgbClr val="E8636B"/>
            </a:solidFill>
            <a:prstDash val="solid"/>
          </a:ln>
        </p:spPr>
      </p:sp>
      <p:sp>
        <p:nvSpPr>
          <p:cNvPr id="5" name="Text 3"/>
          <p:cNvSpPr/>
          <p:nvPr/>
        </p:nvSpPr>
        <p:spPr>
          <a:xfrm>
            <a:off x="853440" y="1731264"/>
            <a:ext cx="10119360" cy="1219200"/>
          </a:xfrm>
          <a:prstGeom prst="rect">
            <a:avLst/>
          </a:prstGeom>
          <a:noFill/>
          <a:ln/>
        </p:spPr>
        <p:txBody>
          <a:bodyPr wrap="square" lIns="0" tIns="0" rIns="0" bIns="0" rtlCol="0" anchor="ctr"/>
          <a:lstStyle/>
          <a:p>
            <a:pPr indent="0" marL="0">
              <a:buNone/>
            </a:pPr>
            <a:r>
              <a:rPr lang="en-US" sz="1400" i="1" dirty="0">
                <a:solidFill>
                  <a:srgbClr val="7A2020"/>
                </a:solidFill>
                <a:latin typeface="Calibri" pitchFamily="34" charset="0"/>
                <a:ea typeface="Calibri" pitchFamily="34" charset="-122"/>
                <a:cs typeface="Calibri" pitchFamily="34" charset="-120"/>
              </a:rPr>
              <a:t>A student wrote: "The Civil War is a symbol of the United States, just like the flag."</a:t>
            </a:r>
            <a:endParaRPr lang="en-US" sz="1400" dirty="0"/>
          </a:p>
        </p:txBody>
      </p:sp>
      <p:sp>
        <p:nvSpPr>
          <p:cNvPr id="6" name="Shape 4"/>
          <p:cNvSpPr/>
          <p:nvPr/>
        </p:nvSpPr>
        <p:spPr>
          <a:xfrm>
            <a:off x="609600" y="3474720"/>
            <a:ext cx="6461760" cy="1706880"/>
          </a:xfrm>
          <a:prstGeom prst="roundRect">
            <a:avLst>
              <a:gd name="adj" fmla="val 8571"/>
            </a:avLst>
          </a:prstGeom>
          <a:solidFill>
            <a:srgbClr val="FFF3DC"/>
          </a:solidFill>
          <a:ln w="19050">
            <a:solidFill>
              <a:srgbClr val="F5E6C8"/>
            </a:solidFill>
            <a:prstDash val="solid"/>
          </a:ln>
        </p:spPr>
      </p:sp>
      <p:sp>
        <p:nvSpPr>
          <p:cNvPr id="7" name="Text 5"/>
          <p:cNvSpPr/>
          <p:nvPr/>
        </p:nvSpPr>
        <p:spPr>
          <a:xfrm>
            <a:off x="792480" y="3547872"/>
            <a:ext cx="6096000" cy="268224"/>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8" name="Text 6"/>
          <p:cNvSpPr/>
          <p:nvPr/>
        </p:nvSpPr>
        <p:spPr>
          <a:xfrm>
            <a:off x="792480" y="3816096"/>
            <a:ext cx="6096000" cy="12801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mistake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Civil War actually belongs with ______ because..."</a:t>
            </a:r>
            <a:endParaRPr lang="en-US" sz="1200" dirty="0"/>
          </a:p>
        </p:txBody>
      </p:sp>
      <p:sp>
        <p:nvSpPr>
          <p:cNvPr id="9" name="Shape 7"/>
          <p:cNvSpPr/>
          <p:nvPr/>
        </p:nvSpPr>
        <p:spPr>
          <a:xfrm>
            <a:off x="7315200" y="3474720"/>
            <a:ext cx="3901440" cy="1706880"/>
          </a:xfrm>
          <a:prstGeom prst="roundRect">
            <a:avLst>
              <a:gd name="adj" fmla="val 10714"/>
            </a:avLst>
          </a:prstGeom>
          <a:solidFill>
            <a:srgbClr val="1A2D5A"/>
          </a:solidFill>
          <a:ln/>
          <a:effectLst>
            <a:outerShdw sx="100000" sy="100000" kx="0" ky="0" algn="bl" rotWithShape="0" blurRad="101600" dist="38100" dir="8100000">
              <a:srgbClr val="000000">
                <a:alpha val="20000"/>
              </a:srgbClr>
            </a:outerShdw>
          </a:effectLst>
        </p:spPr>
      </p:sp>
      <p:sp>
        <p:nvSpPr>
          <p:cNvPr id="10" name="Text 8"/>
          <p:cNvSpPr/>
          <p:nvPr/>
        </p:nvSpPr>
        <p:spPr>
          <a:xfrm>
            <a:off x="7559040" y="3596640"/>
            <a:ext cx="3413760" cy="341376"/>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1" name="Text 9"/>
          <p:cNvSpPr/>
          <p:nvPr/>
        </p:nvSpPr>
        <p:spPr>
          <a:xfrm>
            <a:off x="7559040" y="3938016"/>
            <a:ext cx="3413760" cy="1121664"/>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of the four categories does the Civil War actually belong to?</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an event show that a symbol doesn't?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this student's sentence honestly?</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E1C42"/>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UNIT RECAP  -  CITIZENSHIP HALL</a:t>
            </a:r>
            <a:endParaRPr lang="en-US" sz="1000" dirty="0"/>
          </a:p>
        </p:txBody>
      </p:sp>
      <p:sp>
        <p:nvSpPr>
          <p:cNvPr id="3" name="Text 1"/>
          <p:cNvSpPr/>
          <p:nvPr/>
        </p:nvSpPr>
        <p:spPr>
          <a:xfrm>
            <a:off x="487680" y="365760"/>
            <a:ext cx="11216640" cy="67056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Look Back at the Whole Hall</a:t>
            </a:r>
            <a:endParaRPr lang="en-US" sz="2400" dirty="0"/>
          </a:p>
        </p:txBody>
      </p:sp>
      <p:sp>
        <p:nvSpPr>
          <p:cNvPr id="4" name="Shape 2"/>
          <p:cNvSpPr/>
          <p:nvPr/>
        </p:nvSpPr>
        <p:spPr>
          <a:xfrm>
            <a:off x="426720" y="13411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5" name="Text 3"/>
          <p:cNvSpPr/>
          <p:nvPr/>
        </p:nvSpPr>
        <p:spPr>
          <a:xfrm>
            <a:off x="426720" y="14142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01</a:t>
            </a:r>
            <a:endParaRPr lang="en-US" sz="900" dirty="0"/>
          </a:p>
        </p:txBody>
      </p:sp>
      <p:sp>
        <p:nvSpPr>
          <p:cNvPr id="6" name="Text 4"/>
          <p:cNvSpPr/>
          <p:nvPr/>
        </p:nvSpPr>
        <p:spPr>
          <a:xfrm>
            <a:off x="426720" y="16824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No Rules Town</a:t>
            </a:r>
            <a:endParaRPr lang="en-US" sz="1600" dirty="0"/>
          </a:p>
        </p:txBody>
      </p:sp>
      <p:sp>
        <p:nvSpPr>
          <p:cNvPr id="7" name="Text 5"/>
          <p:cNvSpPr/>
          <p:nvPr/>
        </p:nvSpPr>
        <p:spPr>
          <a:xfrm>
            <a:off x="524256" y="21092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Why we need government</a:t>
            </a:r>
            <a:endParaRPr lang="en-US" sz="900" dirty="0"/>
          </a:p>
        </p:txBody>
      </p:sp>
      <p:sp>
        <p:nvSpPr>
          <p:cNvPr id="8" name="Shape 6"/>
          <p:cNvSpPr/>
          <p:nvPr/>
        </p:nvSpPr>
        <p:spPr>
          <a:xfrm>
            <a:off x="3206496" y="13411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9" name="Text 7"/>
          <p:cNvSpPr/>
          <p:nvPr/>
        </p:nvSpPr>
        <p:spPr>
          <a:xfrm>
            <a:off x="3206496" y="14142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02</a:t>
            </a:r>
            <a:endParaRPr lang="en-US" sz="900" dirty="0"/>
          </a:p>
        </p:txBody>
      </p:sp>
      <p:sp>
        <p:nvSpPr>
          <p:cNvPr id="10" name="Text 8"/>
          <p:cNvSpPr/>
          <p:nvPr/>
        </p:nvSpPr>
        <p:spPr>
          <a:xfrm>
            <a:off x="3206496" y="16824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The Constitution</a:t>
            </a:r>
            <a:endParaRPr lang="en-US" sz="1600" dirty="0"/>
          </a:p>
        </p:txBody>
      </p:sp>
      <p:sp>
        <p:nvSpPr>
          <p:cNvPr id="11" name="Text 9"/>
          <p:cNvSpPr/>
          <p:nvPr/>
        </p:nvSpPr>
        <p:spPr>
          <a:xfrm>
            <a:off x="3304032" y="21092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The country's rulebook</a:t>
            </a:r>
            <a:endParaRPr lang="en-US" sz="900" dirty="0"/>
          </a:p>
        </p:txBody>
      </p:sp>
      <p:sp>
        <p:nvSpPr>
          <p:cNvPr id="12" name="Shape 10"/>
          <p:cNvSpPr/>
          <p:nvPr/>
        </p:nvSpPr>
        <p:spPr>
          <a:xfrm>
            <a:off x="5986272" y="13411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13" name="Text 11"/>
          <p:cNvSpPr/>
          <p:nvPr/>
        </p:nvSpPr>
        <p:spPr>
          <a:xfrm>
            <a:off x="5986272" y="14142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03</a:t>
            </a:r>
            <a:endParaRPr lang="en-US" sz="900" dirty="0"/>
          </a:p>
        </p:txBody>
      </p:sp>
      <p:sp>
        <p:nvSpPr>
          <p:cNvPr id="14" name="Text 12"/>
          <p:cNvSpPr/>
          <p:nvPr/>
        </p:nvSpPr>
        <p:spPr>
          <a:xfrm>
            <a:off x="5986272" y="16824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Three Levels</a:t>
            </a:r>
            <a:endParaRPr lang="en-US" sz="1600" dirty="0"/>
          </a:p>
        </p:txBody>
      </p:sp>
      <p:sp>
        <p:nvSpPr>
          <p:cNvPr id="15" name="Text 13"/>
          <p:cNvSpPr/>
          <p:nvPr/>
        </p:nvSpPr>
        <p:spPr>
          <a:xfrm>
            <a:off x="6083808" y="21092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Local, state, national</a:t>
            </a:r>
            <a:endParaRPr lang="en-US" sz="900" dirty="0"/>
          </a:p>
        </p:txBody>
      </p:sp>
      <p:sp>
        <p:nvSpPr>
          <p:cNvPr id="16" name="Shape 14"/>
          <p:cNvSpPr/>
          <p:nvPr/>
        </p:nvSpPr>
        <p:spPr>
          <a:xfrm>
            <a:off x="8766048" y="13411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17" name="Text 15"/>
          <p:cNvSpPr/>
          <p:nvPr/>
        </p:nvSpPr>
        <p:spPr>
          <a:xfrm>
            <a:off x="8766048" y="14142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04</a:t>
            </a:r>
            <a:endParaRPr lang="en-US" sz="900" dirty="0"/>
          </a:p>
        </p:txBody>
      </p:sp>
      <p:sp>
        <p:nvSpPr>
          <p:cNvPr id="18" name="Text 16"/>
          <p:cNvSpPr/>
          <p:nvPr/>
        </p:nvSpPr>
        <p:spPr>
          <a:xfrm>
            <a:off x="8766048" y="16824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The Florida Case</a:t>
            </a:r>
            <a:endParaRPr lang="en-US" sz="1600" dirty="0"/>
          </a:p>
        </p:txBody>
      </p:sp>
      <p:sp>
        <p:nvSpPr>
          <p:cNvPr id="19" name="Text 17"/>
          <p:cNvSpPr/>
          <p:nvPr/>
        </p:nvSpPr>
        <p:spPr>
          <a:xfrm>
            <a:off x="8863584" y="21092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State government in action</a:t>
            </a:r>
            <a:endParaRPr lang="en-US" sz="900" dirty="0"/>
          </a:p>
        </p:txBody>
      </p:sp>
      <p:sp>
        <p:nvSpPr>
          <p:cNvPr id="20" name="Shape 18"/>
          <p:cNvSpPr/>
          <p:nvPr/>
        </p:nvSpPr>
        <p:spPr>
          <a:xfrm>
            <a:off x="426720" y="34747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21" name="Text 19"/>
          <p:cNvSpPr/>
          <p:nvPr/>
        </p:nvSpPr>
        <p:spPr>
          <a:xfrm>
            <a:off x="426720" y="35478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05</a:t>
            </a:r>
            <a:endParaRPr lang="en-US" sz="900" dirty="0"/>
          </a:p>
        </p:txBody>
      </p:sp>
      <p:sp>
        <p:nvSpPr>
          <p:cNvPr id="22" name="Text 20"/>
          <p:cNvSpPr/>
          <p:nvPr/>
        </p:nvSpPr>
        <p:spPr>
          <a:xfrm>
            <a:off x="426720" y="38160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The Voting Booth</a:t>
            </a:r>
            <a:endParaRPr lang="en-US" sz="1600" dirty="0"/>
          </a:p>
        </p:txBody>
      </p:sp>
      <p:sp>
        <p:nvSpPr>
          <p:cNvPr id="23" name="Text 21"/>
          <p:cNvSpPr/>
          <p:nvPr/>
        </p:nvSpPr>
        <p:spPr>
          <a:xfrm>
            <a:off x="524256" y="42428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How citizens choose</a:t>
            </a:r>
            <a:endParaRPr lang="en-US" sz="900" dirty="0"/>
          </a:p>
        </p:txBody>
      </p:sp>
      <p:sp>
        <p:nvSpPr>
          <p:cNvPr id="24" name="Shape 22"/>
          <p:cNvSpPr/>
          <p:nvPr/>
        </p:nvSpPr>
        <p:spPr>
          <a:xfrm>
            <a:off x="3206496" y="34747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25" name="Text 23"/>
          <p:cNvSpPr/>
          <p:nvPr/>
        </p:nvSpPr>
        <p:spPr>
          <a:xfrm>
            <a:off x="3206496" y="35478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06</a:t>
            </a:r>
            <a:endParaRPr lang="en-US" sz="900" dirty="0"/>
          </a:p>
        </p:txBody>
      </p:sp>
      <p:sp>
        <p:nvSpPr>
          <p:cNvPr id="26" name="Text 24"/>
          <p:cNvSpPr/>
          <p:nvPr/>
        </p:nvSpPr>
        <p:spPr>
          <a:xfrm>
            <a:off x="3206496" y="38160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Patriotic Holidays</a:t>
            </a:r>
            <a:endParaRPr lang="en-US" sz="1600" dirty="0"/>
          </a:p>
        </p:txBody>
      </p:sp>
      <p:sp>
        <p:nvSpPr>
          <p:cNvPr id="27" name="Text 25"/>
          <p:cNvSpPr/>
          <p:nvPr/>
        </p:nvSpPr>
        <p:spPr>
          <a:xfrm>
            <a:off x="3304032" y="42428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A year of remembering</a:t>
            </a:r>
            <a:endParaRPr lang="en-US" sz="900" dirty="0"/>
          </a:p>
        </p:txBody>
      </p:sp>
      <p:sp>
        <p:nvSpPr>
          <p:cNvPr id="28" name="Shape 26"/>
          <p:cNvSpPr/>
          <p:nvPr/>
        </p:nvSpPr>
        <p:spPr>
          <a:xfrm>
            <a:off x="5986272" y="34747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29" name="Text 27"/>
          <p:cNvSpPr/>
          <p:nvPr/>
        </p:nvSpPr>
        <p:spPr>
          <a:xfrm>
            <a:off x="5986272" y="35478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07</a:t>
            </a:r>
            <a:endParaRPr lang="en-US" sz="900" dirty="0"/>
          </a:p>
        </p:txBody>
      </p:sp>
      <p:sp>
        <p:nvSpPr>
          <p:cNvPr id="30" name="Text 28"/>
          <p:cNvSpPr/>
          <p:nvPr/>
        </p:nvSpPr>
        <p:spPr>
          <a:xfrm>
            <a:off x="5986272" y="38160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Four Virtues</a:t>
            </a:r>
            <a:endParaRPr lang="en-US" sz="1600" dirty="0"/>
          </a:p>
        </p:txBody>
      </p:sp>
      <p:sp>
        <p:nvSpPr>
          <p:cNvPr id="31" name="Text 29"/>
          <p:cNvSpPr/>
          <p:nvPr/>
        </p:nvSpPr>
        <p:spPr>
          <a:xfrm>
            <a:off x="6083808" y="42428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Honesty, courage, respect, responsibility</a:t>
            </a:r>
            <a:endParaRPr lang="en-US" sz="900" dirty="0"/>
          </a:p>
        </p:txBody>
      </p:sp>
      <p:sp>
        <p:nvSpPr>
          <p:cNvPr id="32" name="Shape 30"/>
          <p:cNvSpPr/>
          <p:nvPr/>
        </p:nvSpPr>
        <p:spPr>
          <a:xfrm>
            <a:off x="8766048" y="3474720"/>
            <a:ext cx="2621280" cy="1889760"/>
          </a:xfrm>
          <a:prstGeom prst="roundRect">
            <a:avLst>
              <a:gd name="adj" fmla="val 7742"/>
            </a:avLst>
          </a:prstGeom>
          <a:solidFill>
            <a:srgbClr val="1A8A7D"/>
          </a:solidFill>
          <a:ln/>
          <a:effectLst>
            <a:outerShdw sx="100000" sy="100000" kx="0" ky="0" algn="bl" rotWithShape="0" blurRad="63500" dist="25400" dir="8100000">
              <a:srgbClr val="000000">
                <a:alpha val="15000"/>
              </a:srgbClr>
            </a:outerShdw>
          </a:effectLst>
        </p:spPr>
      </p:sp>
      <p:sp>
        <p:nvSpPr>
          <p:cNvPr id="33" name="Text 31"/>
          <p:cNvSpPr/>
          <p:nvPr/>
        </p:nvSpPr>
        <p:spPr>
          <a:xfrm>
            <a:off x="8766048" y="3547872"/>
            <a:ext cx="2621280" cy="304800"/>
          </a:xfrm>
          <a:prstGeom prst="rect">
            <a:avLst/>
          </a:prstGeom>
          <a:noFill/>
          <a:ln/>
        </p:spPr>
        <p:txBody>
          <a:bodyPr wrap="square" lIns="0" tIns="0" rIns="0" bIns="0" rtlCol="0" anchor="ctr"/>
          <a:lstStyle/>
          <a:p>
            <a:pPr algn="ctr" indent="0" marL="0">
              <a:buNone/>
            </a:pPr>
            <a:r>
              <a:rPr lang="en-US" sz="900" b="1" spc="100" kern="0" dirty="0">
                <a:solidFill>
                  <a:srgbClr val="A0E8DA"/>
                </a:solidFill>
                <a:latin typeface="Calibri" pitchFamily="34" charset="0"/>
                <a:ea typeface="Calibri" pitchFamily="34" charset="-122"/>
                <a:cs typeface="Calibri" pitchFamily="34" charset="-120"/>
              </a:rPr>
              <a:t>Hall 08</a:t>
            </a:r>
            <a:endParaRPr lang="en-US" sz="900" dirty="0"/>
          </a:p>
        </p:txBody>
      </p:sp>
      <p:sp>
        <p:nvSpPr>
          <p:cNvPr id="34" name="Text 32"/>
          <p:cNvSpPr/>
          <p:nvPr/>
        </p:nvSpPr>
        <p:spPr>
          <a:xfrm>
            <a:off x="8766048" y="3816096"/>
            <a:ext cx="2621280" cy="4267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The Pedestal</a:t>
            </a:r>
            <a:endParaRPr lang="en-US" sz="1600" dirty="0"/>
          </a:p>
        </p:txBody>
      </p:sp>
      <p:sp>
        <p:nvSpPr>
          <p:cNvPr id="35" name="Text 33"/>
          <p:cNvSpPr/>
          <p:nvPr/>
        </p:nvSpPr>
        <p:spPr>
          <a:xfrm>
            <a:off x="8863584" y="4242816"/>
            <a:ext cx="2426208" cy="304800"/>
          </a:xfrm>
          <a:prstGeom prst="rect">
            <a:avLst/>
          </a:prstGeom>
          <a:noFill/>
          <a:ln/>
        </p:spPr>
        <p:txBody>
          <a:bodyPr wrap="square" lIns="0" tIns="0" rIns="0" bIns="0" rtlCol="0" anchor="ctr"/>
          <a:lstStyle/>
          <a:p>
            <a:pPr algn="ctr" indent="0" marL="0">
              <a:buNone/>
            </a:pPr>
            <a:r>
              <a:rPr lang="en-US" sz="900" dirty="0">
                <a:solidFill>
                  <a:srgbClr val="D6F2FB"/>
                </a:solidFill>
                <a:latin typeface="Calibri" pitchFamily="34" charset="0"/>
                <a:ea typeface="Calibri" pitchFamily="34" charset="-122"/>
                <a:cs typeface="Calibri" pitchFamily="34" charset="-120"/>
              </a:rPr>
              <a:t>Symbols, individuals, documents, events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731520"/>
            <a:ext cx="9753600" cy="426720"/>
          </a:xfrm>
          <a:prstGeom prst="rect">
            <a:avLst/>
          </a:prstGeom>
          <a:noFill/>
          <a:ln/>
        </p:spPr>
        <p:txBody>
          <a:bodyPr wrap="square" lIns="0" tIns="0" rIns="0" bIns="0" rtlCol="0" anchor="ctr"/>
          <a:lstStyle/>
          <a:p>
            <a:pPr algn="ctr" indent="0" marL="0">
              <a:buNone/>
            </a:pPr>
            <a:r>
              <a:rPr lang="en-US" sz="1200" b="1" spc="200" kern="0" dirty="0">
                <a:solidFill>
                  <a:srgbClr val="D4943A"/>
                </a:solidFill>
                <a:latin typeface="Calibri" pitchFamily="34" charset="0"/>
                <a:ea typeface="Calibri" pitchFamily="34" charset="-122"/>
                <a:cs typeface="Calibri" pitchFamily="34" charset="-120"/>
              </a:rPr>
              <a:t>BADGE CEREMONY  -  END OF UNIT 10</a:t>
            </a:r>
            <a:endParaRPr lang="en-US" sz="1200" dirty="0"/>
          </a:p>
        </p:txBody>
      </p:sp>
      <p:sp>
        <p:nvSpPr>
          <p:cNvPr id="6" name="Text 3"/>
          <p:cNvSpPr/>
          <p:nvPr/>
        </p:nvSpPr>
        <p:spPr>
          <a:xfrm>
            <a:off x="731520" y="1280160"/>
            <a:ext cx="10728960" cy="10363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You Are Officially a Citizen Curator</a:t>
            </a:r>
            <a:endParaRPr lang="en-US" sz="3000" dirty="0"/>
          </a:p>
        </p:txBody>
      </p:sp>
      <p:sp>
        <p:nvSpPr>
          <p:cNvPr id="7" name="Shape 4"/>
          <p:cNvSpPr/>
          <p:nvPr/>
        </p:nvSpPr>
        <p:spPr>
          <a:xfrm>
            <a:off x="4754880" y="2377440"/>
            <a:ext cx="2682240" cy="1219200"/>
          </a:xfrm>
          <a:prstGeom prst="roundRect">
            <a:avLst>
              <a:gd name="adj" fmla="val 50000"/>
            </a:avLst>
          </a:prstGeom>
          <a:solidFill>
            <a:srgbClr val="D4943A"/>
          </a:solidFill>
          <a:ln/>
        </p:spPr>
      </p:sp>
      <p:sp>
        <p:nvSpPr>
          <p:cNvPr id="8" name="Text 5"/>
          <p:cNvSpPr/>
          <p:nvPr/>
        </p:nvSpPr>
        <p:spPr>
          <a:xfrm>
            <a:off x="4754880" y="2560320"/>
            <a:ext cx="2682240" cy="426720"/>
          </a:xfrm>
          <a:prstGeom prst="rect">
            <a:avLst/>
          </a:prstGeom>
          <a:noFill/>
          <a:ln/>
        </p:spPr>
        <p:txBody>
          <a:bodyPr wrap="square" lIns="0" tIns="0" rIns="0" bIns="0" rtlCol="0" anchor="ctr"/>
          <a:lstStyle/>
          <a:p>
            <a:pPr algn="ctr" indent="0" marL="0">
              <a:buNone/>
            </a:pPr>
            <a:r>
              <a:rPr lang="en-US" sz="1100" b="1" spc="100" kern="0" dirty="0">
                <a:solidFill>
                  <a:srgbClr val="0E1C42"/>
                </a:solidFill>
                <a:latin typeface="Calibri" pitchFamily="34" charset="0"/>
                <a:ea typeface="Calibri" pitchFamily="34" charset="-122"/>
                <a:cs typeface="Calibri" pitchFamily="34" charset="-120"/>
              </a:rPr>
              <a:t>CITIZEN CURATOR</a:t>
            </a:r>
            <a:endParaRPr lang="en-US" sz="1100" dirty="0"/>
          </a:p>
        </p:txBody>
      </p:sp>
      <p:sp>
        <p:nvSpPr>
          <p:cNvPr id="9" name="Text 6"/>
          <p:cNvSpPr/>
          <p:nvPr/>
        </p:nvSpPr>
        <p:spPr>
          <a:xfrm>
            <a:off x="4754880" y="3048000"/>
            <a:ext cx="2682240" cy="365760"/>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CERTIFIED</a:t>
            </a:r>
            <a:endParaRPr lang="en-US" sz="1300" dirty="0"/>
          </a:p>
        </p:txBody>
      </p:sp>
      <p:sp>
        <p:nvSpPr>
          <p:cNvPr id="10" name="Text 7"/>
          <p:cNvSpPr/>
          <p:nvPr/>
        </p:nvSpPr>
        <p:spPr>
          <a:xfrm>
            <a:off x="1097280" y="3779520"/>
            <a:ext cx="9875520" cy="1889760"/>
          </a:xfrm>
          <a:prstGeom prst="rect">
            <a:avLst/>
          </a:prstGeom>
          <a:noFill/>
          <a:ln/>
        </p:spPr>
        <p:txBody>
          <a:bodyPr wrap="square" lIns="0" tIns="0" rIns="0" bIns="0" rtlCol="0" anchor="t"/>
          <a:lstStyle/>
          <a:p>
            <a:pPr algn="ctr" indent="0" marL="0">
              <a:buNone/>
            </a:pPr>
            <a:r>
              <a:rPr lang="en-US" sz="1250" dirty="0">
                <a:solidFill>
                  <a:srgbClr val="E8ECF6"/>
                </a:solidFill>
                <a:latin typeface="Calibri" pitchFamily="34" charset="0"/>
                <a:ea typeface="Calibri" pitchFamily="34" charset="-122"/>
                <a:cs typeface="Calibri" pitchFamily="34" charset="-120"/>
              </a:rPr>
              <a:t>You walked into Citizenship Hall with marketplace dust still on your apron, and you leave with a working country labeled behind you. You learned what a government is for. You opened the Constitution. You sorted the three levels. You unpacked Florida. You labeled the voting booth. You walked the holidays timeline. You hung the four virtues. And tonight, you stand at the center pedestal -- and you know how to introduce the United States.</a:t>
            </a:r>
            <a:endParaRPr lang="en-US" sz="1250" dirty="0"/>
          </a:p>
        </p:txBody>
      </p:sp>
      <p:sp>
        <p:nvSpPr>
          <p:cNvPr id="11" name="Text 8"/>
          <p:cNvSpPr/>
          <p:nvPr/>
        </p:nvSpPr>
        <p:spPr>
          <a:xfrm>
            <a:off x="1097280" y="5791200"/>
            <a:ext cx="9875520" cy="670560"/>
          </a:xfrm>
          <a:prstGeom prst="rect">
            <a:avLst/>
          </a:prstGeom>
          <a:noFill/>
          <a:ln/>
        </p:spPr>
        <p:txBody>
          <a:bodyPr wrap="square" lIns="0" tIns="0" rIns="0" bIns="0" rtlCol="0" anchor="t"/>
          <a:lstStyle/>
          <a:p>
            <a:pPr algn="ctr" indent="0" marL="0">
              <a:buNone/>
            </a:pPr>
            <a:r>
              <a:rPr lang="en-US" sz="1150" i="1" dirty="0">
                <a:solidFill>
                  <a:srgbClr val="55C8E8"/>
                </a:solidFill>
                <a:latin typeface="Calibri" pitchFamily="34" charset="0"/>
                <a:ea typeface="Calibri" pitchFamily="34" charset="-122"/>
                <a:cs typeface="Calibri" pitchFamily="34" charset="-120"/>
              </a:rPr>
              <a:t>Nice work, Citizen Curator! You closed Citizenship Hall by introducing the United States through symbols, individuals, documents, and events -- and you spoke the country's motto, E Pluribus Unum, out of many, one.</a:t>
            </a:r>
            <a:endParaRPr lang="en-US" sz="11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QUICK SELF-CHECK  -  NOT GRADED</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Three Before the Council Chamber</a:t>
            </a:r>
            <a:endParaRPr lang="en-US" sz="3000" dirty="0"/>
          </a:p>
        </p:txBody>
      </p:sp>
      <p:sp>
        <p:nvSpPr>
          <p:cNvPr id="4" name="Shape 2"/>
          <p:cNvSpPr/>
          <p:nvPr/>
        </p:nvSpPr>
        <p:spPr>
          <a:xfrm>
            <a:off x="609600" y="1463040"/>
            <a:ext cx="10607040" cy="1560576"/>
          </a:xfrm>
          <a:prstGeom prst="roundRect">
            <a:avLst>
              <a:gd name="adj" fmla="val 7813"/>
            </a:avLst>
          </a:prstGeom>
          <a:solidFill>
            <a:srgbClr val="F0F2F8"/>
          </a:solidFill>
          <a:ln/>
        </p:spPr>
      </p:sp>
      <p:sp>
        <p:nvSpPr>
          <p:cNvPr id="5" name="Text 3"/>
          <p:cNvSpPr/>
          <p:nvPr/>
        </p:nvSpPr>
        <p:spPr>
          <a:xfrm>
            <a:off x="792480" y="1560576"/>
            <a:ext cx="10241280" cy="39014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1. What does the U.S. national motto E Pluribus Unum mean?</a:t>
            </a:r>
            <a:endParaRPr lang="en-US" sz="1300" dirty="0"/>
          </a:p>
        </p:txBody>
      </p:sp>
      <p:sp>
        <p:nvSpPr>
          <p:cNvPr id="6" name="Text 4"/>
          <p:cNvSpPr/>
          <p:nvPr/>
        </p:nvSpPr>
        <p:spPr>
          <a:xfrm>
            <a:off x="792480" y="1975104"/>
            <a:ext cx="10241280" cy="390144"/>
          </a:xfrm>
          <a:prstGeom prst="rect">
            <a:avLst/>
          </a:prstGeom>
          <a:noFill/>
          <a:ln/>
        </p:spPr>
        <p:txBody>
          <a:bodyPr wrap="square" lIns="0" tIns="0" rIns="0" bIns="0" rtlCol="0" anchor="ctr"/>
          <a:lstStyle/>
          <a:p>
            <a:pPr indent="0" marL="0">
              <a:buNone/>
            </a:pPr>
            <a:r>
              <a:rPr lang="en-US" sz="1150" dirty="0">
                <a:solidFill>
                  <a:srgbClr val="7A88A8"/>
                </a:solidFill>
                <a:latin typeface="Calibri" pitchFamily="34" charset="0"/>
                <a:ea typeface="Calibri" pitchFamily="34" charset="-122"/>
                <a:cs typeface="Calibri" pitchFamily="34" charset="-120"/>
              </a:rPr>
              <a:t>A. "Liberty and justice for all."   B. "Out of many, one."   C. "In God we trust."</a:t>
            </a:r>
            <a:endParaRPr lang="en-US" sz="1150" dirty="0"/>
          </a:p>
        </p:txBody>
      </p:sp>
      <p:sp>
        <p:nvSpPr>
          <p:cNvPr id="7" name="Text 5"/>
          <p:cNvSpPr/>
          <p:nvPr/>
        </p:nvSpPr>
        <p:spPr>
          <a:xfrm>
            <a:off x="792480" y="2414016"/>
            <a:ext cx="10241280" cy="512064"/>
          </a:xfrm>
          <a:prstGeom prst="rect">
            <a:avLst/>
          </a:prstGeom>
          <a:noFill/>
          <a:ln/>
        </p:spPr>
        <p:txBody>
          <a:bodyPr wrap="square" lIns="0" tIns="0" rIns="0" bIns="0" rtlCol="0" anchor="ctr"/>
          <a:lstStyle/>
          <a:p>
            <a:pPr indent="0" marL="0">
              <a:buNone/>
            </a:pPr>
            <a:r>
              <a:rPr lang="en-US" sz="1150" b="1" dirty="0">
                <a:solidFill>
                  <a:srgbClr val="34B76F"/>
                </a:solidFill>
                <a:latin typeface="Calibri" pitchFamily="34" charset="0"/>
                <a:ea typeface="Calibri" pitchFamily="34" charset="-122"/>
                <a:cs typeface="Calibri" pitchFamily="34" charset="-120"/>
              </a:rPr>
              <a:t>Answer: B -- the root uni- ("one") is hiding inside unum.</a:t>
            </a:r>
            <a:endParaRPr lang="en-US" sz="1150" dirty="0"/>
          </a:p>
        </p:txBody>
      </p:sp>
      <p:sp>
        <p:nvSpPr>
          <p:cNvPr id="8" name="Shape 6"/>
          <p:cNvSpPr/>
          <p:nvPr/>
        </p:nvSpPr>
        <p:spPr>
          <a:xfrm>
            <a:off x="609600" y="3194304"/>
            <a:ext cx="10607040" cy="1560576"/>
          </a:xfrm>
          <a:prstGeom prst="roundRect">
            <a:avLst>
              <a:gd name="adj" fmla="val 7813"/>
            </a:avLst>
          </a:prstGeom>
          <a:solidFill>
            <a:srgbClr val="F0F2F8"/>
          </a:solidFill>
          <a:ln/>
        </p:spPr>
      </p:sp>
      <p:sp>
        <p:nvSpPr>
          <p:cNvPr id="9" name="Text 7"/>
          <p:cNvSpPr/>
          <p:nvPr/>
        </p:nvSpPr>
        <p:spPr>
          <a:xfrm>
            <a:off x="792480" y="3291840"/>
            <a:ext cx="10241280" cy="39014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2. Which of these is a U.S. symbol?</a:t>
            </a:r>
            <a:endParaRPr lang="en-US" sz="1300" dirty="0"/>
          </a:p>
        </p:txBody>
      </p:sp>
      <p:sp>
        <p:nvSpPr>
          <p:cNvPr id="10" name="Text 8"/>
          <p:cNvSpPr/>
          <p:nvPr/>
        </p:nvSpPr>
        <p:spPr>
          <a:xfrm>
            <a:off x="792480" y="3706368"/>
            <a:ext cx="10241280" cy="390144"/>
          </a:xfrm>
          <a:prstGeom prst="rect">
            <a:avLst/>
          </a:prstGeom>
          <a:noFill/>
          <a:ln/>
        </p:spPr>
        <p:txBody>
          <a:bodyPr wrap="square" lIns="0" tIns="0" rIns="0" bIns="0" rtlCol="0" anchor="ctr"/>
          <a:lstStyle/>
          <a:p>
            <a:pPr indent="0" marL="0">
              <a:buNone/>
            </a:pPr>
            <a:r>
              <a:rPr lang="en-US" sz="1150" dirty="0">
                <a:solidFill>
                  <a:srgbClr val="7A88A8"/>
                </a:solidFill>
                <a:latin typeface="Calibri" pitchFamily="34" charset="0"/>
                <a:ea typeface="Calibri" pitchFamily="34" charset="-122"/>
                <a:cs typeface="Calibri" pitchFamily="34" charset="-120"/>
              </a:rPr>
              <a:t>A. The Civil War.   B. Abraham Lincoln.   C. The Statue of Liberty.</a:t>
            </a:r>
            <a:endParaRPr lang="en-US" sz="1150" dirty="0"/>
          </a:p>
        </p:txBody>
      </p:sp>
      <p:sp>
        <p:nvSpPr>
          <p:cNvPr id="11" name="Text 9"/>
          <p:cNvSpPr/>
          <p:nvPr/>
        </p:nvSpPr>
        <p:spPr>
          <a:xfrm>
            <a:off x="792480" y="4145280"/>
            <a:ext cx="10241280" cy="512064"/>
          </a:xfrm>
          <a:prstGeom prst="rect">
            <a:avLst/>
          </a:prstGeom>
          <a:noFill/>
          <a:ln/>
        </p:spPr>
        <p:txBody>
          <a:bodyPr wrap="square" lIns="0" tIns="0" rIns="0" bIns="0" rtlCol="0" anchor="ctr"/>
          <a:lstStyle/>
          <a:p>
            <a:pPr indent="0" marL="0">
              <a:buNone/>
            </a:pPr>
            <a:r>
              <a:rPr lang="en-US" sz="1150" b="1" dirty="0">
                <a:solidFill>
                  <a:srgbClr val="34B76F"/>
                </a:solidFill>
                <a:latin typeface="Calibri" pitchFamily="34" charset="0"/>
                <a:ea typeface="Calibri" pitchFamily="34" charset="-122"/>
                <a:cs typeface="Calibri" pitchFamily="34" charset="-120"/>
              </a:rPr>
              <a:t>Answer: C -- the Statue of Liberty stands for welcome and freedom.</a:t>
            </a:r>
            <a:endParaRPr lang="en-US" sz="1150" dirty="0"/>
          </a:p>
        </p:txBody>
      </p:sp>
      <p:sp>
        <p:nvSpPr>
          <p:cNvPr id="12" name="Shape 10"/>
          <p:cNvSpPr/>
          <p:nvPr/>
        </p:nvSpPr>
        <p:spPr>
          <a:xfrm>
            <a:off x="609600" y="4925568"/>
            <a:ext cx="10607040" cy="1560576"/>
          </a:xfrm>
          <a:prstGeom prst="roundRect">
            <a:avLst>
              <a:gd name="adj" fmla="val 7813"/>
            </a:avLst>
          </a:prstGeom>
          <a:solidFill>
            <a:srgbClr val="F0F2F8"/>
          </a:solidFill>
          <a:ln/>
        </p:spPr>
      </p:sp>
      <p:sp>
        <p:nvSpPr>
          <p:cNvPr id="13" name="Text 11"/>
          <p:cNvSpPr/>
          <p:nvPr/>
        </p:nvSpPr>
        <p:spPr>
          <a:xfrm>
            <a:off x="792480" y="5023104"/>
            <a:ext cx="10241280" cy="390144"/>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3. The Declaration of Independence is which kind of evidence?</a:t>
            </a:r>
            <a:endParaRPr lang="en-US" sz="1300" dirty="0"/>
          </a:p>
        </p:txBody>
      </p:sp>
      <p:sp>
        <p:nvSpPr>
          <p:cNvPr id="14" name="Text 12"/>
          <p:cNvSpPr/>
          <p:nvPr/>
        </p:nvSpPr>
        <p:spPr>
          <a:xfrm>
            <a:off x="792480" y="5437632"/>
            <a:ext cx="10241280" cy="390144"/>
          </a:xfrm>
          <a:prstGeom prst="rect">
            <a:avLst/>
          </a:prstGeom>
          <a:noFill/>
          <a:ln/>
        </p:spPr>
        <p:txBody>
          <a:bodyPr wrap="square" lIns="0" tIns="0" rIns="0" bIns="0" rtlCol="0" anchor="ctr"/>
          <a:lstStyle/>
          <a:p>
            <a:pPr indent="0" marL="0">
              <a:buNone/>
            </a:pPr>
            <a:r>
              <a:rPr lang="en-US" sz="1150" dirty="0">
                <a:solidFill>
                  <a:srgbClr val="7A88A8"/>
                </a:solidFill>
                <a:latin typeface="Calibri" pitchFamily="34" charset="0"/>
                <a:ea typeface="Calibri" pitchFamily="34" charset="-122"/>
                <a:cs typeface="Calibri" pitchFamily="34" charset="-120"/>
              </a:rPr>
              <a:t>A. A document.   B. A symbol.   C. An individual.</a:t>
            </a:r>
            <a:endParaRPr lang="en-US" sz="1150" dirty="0"/>
          </a:p>
        </p:txBody>
      </p:sp>
      <p:sp>
        <p:nvSpPr>
          <p:cNvPr id="15" name="Text 13"/>
          <p:cNvSpPr/>
          <p:nvPr/>
        </p:nvSpPr>
        <p:spPr>
          <a:xfrm>
            <a:off x="792480" y="5876544"/>
            <a:ext cx="10241280" cy="512064"/>
          </a:xfrm>
          <a:prstGeom prst="rect">
            <a:avLst/>
          </a:prstGeom>
          <a:noFill/>
          <a:ln/>
        </p:spPr>
        <p:txBody>
          <a:bodyPr wrap="square" lIns="0" tIns="0" rIns="0" bIns="0" rtlCol="0" anchor="ctr"/>
          <a:lstStyle/>
          <a:p>
            <a:pPr indent="0" marL="0">
              <a:buNone/>
            </a:pPr>
            <a:r>
              <a:rPr lang="en-US" sz="1150" b="1" dirty="0">
                <a:solidFill>
                  <a:srgbClr val="34B76F"/>
                </a:solidFill>
                <a:latin typeface="Calibri" pitchFamily="34" charset="0"/>
                <a:ea typeface="Calibri" pitchFamily="34" charset="-122"/>
                <a:cs typeface="Calibri" pitchFamily="34" charset="-120"/>
              </a:rPr>
              <a:t>Answer: A -- it's a piece of writing that says what the country promised.</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EVIDENCE &amp; ASSIGNMENT  -  WHAT YOU'LL TURN IN</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Your Final Recommendation</a:t>
            </a:r>
            <a:endParaRPr lang="en-US" sz="3000" dirty="0"/>
          </a:p>
        </p:txBody>
      </p:sp>
      <p:sp>
        <p:nvSpPr>
          <p:cNvPr id="4" name="Shape 2"/>
          <p:cNvSpPr/>
          <p:nvPr/>
        </p:nvSpPr>
        <p:spPr>
          <a:xfrm>
            <a:off x="487680" y="1402080"/>
            <a:ext cx="10972800" cy="2377440"/>
          </a:xfrm>
          <a:prstGeom prst="roundRect">
            <a:avLst>
              <a:gd name="adj" fmla="val 5128"/>
            </a:avLst>
          </a:prstGeom>
          <a:solidFill>
            <a:srgbClr val="F0F2F8"/>
          </a:solidFill>
          <a:ln/>
        </p:spPr>
      </p:sp>
      <p:sp>
        <p:nvSpPr>
          <p:cNvPr id="5" name="Text 3"/>
          <p:cNvSpPr/>
          <p:nvPr/>
        </p:nvSpPr>
        <p:spPr>
          <a:xfrm>
            <a:off x="670560" y="1524000"/>
            <a:ext cx="10607040" cy="304800"/>
          </a:xfrm>
          <a:prstGeom prst="rect">
            <a:avLst/>
          </a:prstGeom>
          <a:noFill/>
          <a:ln/>
        </p:spPr>
        <p:txBody>
          <a:bodyPr wrap="square" lIns="0" tIns="0" rIns="0" bIns="0" rtlCol="0" anchor="ctr"/>
          <a:lstStyle/>
          <a:p>
            <a:pPr indent="0" marL="0">
              <a:buNone/>
            </a:pPr>
            <a:r>
              <a:rPr lang="en-US" sz="900" b="1" spc="100" kern="0" dirty="0">
                <a:solidFill>
                  <a:srgbClr val="7A88A8"/>
                </a:solidFill>
                <a:latin typeface="Calibri" pitchFamily="34" charset="0"/>
                <a:ea typeface="Calibri" pitchFamily="34" charset="-122"/>
                <a:cs typeface="Calibri" pitchFamily="34" charset="-120"/>
              </a:rPr>
              <a:t>EVIDENCE QUESTIONS -- answer using details from the lesson</a:t>
            </a:r>
            <a:endParaRPr lang="en-US" sz="900" dirty="0"/>
          </a:p>
        </p:txBody>
      </p:sp>
      <p:sp>
        <p:nvSpPr>
          <p:cNvPr id="6" name="Text 4"/>
          <p:cNvSpPr/>
          <p:nvPr/>
        </p:nvSpPr>
        <p:spPr>
          <a:xfrm>
            <a:off x="670560" y="1828800"/>
            <a:ext cx="10607040" cy="1889760"/>
          </a:xfrm>
          <a:prstGeom prst="rect">
            <a:avLst/>
          </a:prstGeom>
          <a:noFill/>
          <a:ln/>
        </p:spPr>
        <p:txBody>
          <a:bodyPr wrap="square" lIns="0" tIns="0" rIns="0" bIns="0" rtlCol="0" anchor="t"/>
          <a:lstStyle/>
          <a:p>
            <a:pPr indent="0" marL="0">
              <a:spcAft>
                <a:spcPts val="600"/>
              </a:spcAft>
              <a:buNone/>
            </a:pPr>
            <a:r>
              <a:rPr lang="en-US" sz="1150" dirty="0">
                <a:solidFill>
                  <a:srgbClr val="0E1C42"/>
                </a:solidFill>
                <a:latin typeface="Calibri" pitchFamily="34" charset="0"/>
                <a:ea typeface="Calibri" pitchFamily="34" charset="-122"/>
                <a:cs typeface="Calibri" pitchFamily="34" charset="-120"/>
              </a:rPr>
              <a:t>1. Name the four kinds of evidence a curator uses to tell the story of a country. Give one example from the United States for each.</a:t>
            </a:r>
            <a:endParaRPr lang="en-US" sz="1150" dirty="0"/>
          </a:p>
          <a:p>
            <a:pPr indent="0" marL="0">
              <a:spcAft>
                <a:spcPts val="600"/>
              </a:spcAft>
              <a:buNone/>
            </a:pPr>
            <a:r>
              <a:rPr lang="en-US" sz="1150" dirty="0">
                <a:solidFill>
                  <a:srgbClr val="0E1C42"/>
                </a:solidFill>
                <a:latin typeface="Calibri" pitchFamily="34" charset="0"/>
                <a:ea typeface="Calibri" pitchFamily="34" charset="-122"/>
                <a:cs typeface="Calibri" pitchFamily="34" charset="-120"/>
              </a:rPr>
              <a:t>2. What does E Pluribus Unum mean, and where can you find this motto?</a:t>
            </a:r>
            <a:endParaRPr lang="en-US" sz="1150" dirty="0"/>
          </a:p>
          <a:p>
            <a:pPr indent="0" marL="0">
              <a:buNone/>
            </a:pPr>
            <a:r>
              <a:rPr lang="en-US" sz="1150" dirty="0">
                <a:solidFill>
                  <a:srgbClr val="0E1C42"/>
                </a:solidFill>
                <a:latin typeface="Calibri" pitchFamily="34" charset="0"/>
                <a:ea typeface="Calibri" pitchFamily="34" charset="-122"/>
                <a:cs typeface="Calibri" pitchFamily="34" charset="-120"/>
              </a:rPr>
              <a:t>3. Pick one U.S. individual from today's lesson. In one or two sentences, explain why that person belongs in Citizenship Hall.</a:t>
            </a:r>
            <a:endParaRPr lang="en-US" sz="1150" dirty="0"/>
          </a:p>
        </p:txBody>
      </p:sp>
      <p:sp>
        <p:nvSpPr>
          <p:cNvPr id="7" name="Shape 5"/>
          <p:cNvSpPr/>
          <p:nvPr/>
        </p:nvSpPr>
        <p:spPr>
          <a:xfrm>
            <a:off x="487680" y="3962400"/>
            <a:ext cx="10972800" cy="2499360"/>
          </a:xfrm>
          <a:prstGeom prst="roundRect">
            <a:avLst>
              <a:gd name="adj" fmla="val 4878"/>
            </a:avLst>
          </a:prstGeom>
          <a:solidFill>
            <a:srgbClr val="FFF3DC"/>
          </a:solidFill>
          <a:ln w="12700">
            <a:solidFill>
              <a:srgbClr val="F5E6C8"/>
            </a:solidFill>
            <a:prstDash val="solid"/>
          </a:ln>
        </p:spPr>
      </p:sp>
      <p:sp>
        <p:nvSpPr>
          <p:cNvPr id="8" name="Text 6"/>
          <p:cNvSpPr/>
          <p:nvPr/>
        </p:nvSpPr>
        <p:spPr>
          <a:xfrm>
            <a:off x="670560" y="4084320"/>
            <a:ext cx="10607040" cy="304800"/>
          </a:xfrm>
          <a:prstGeom prst="rect">
            <a:avLst/>
          </a:prstGeom>
          <a:noFill/>
          <a:ln/>
        </p:spPr>
        <p:txBody>
          <a:bodyPr wrap="square" lIns="0" tIns="0" rIns="0" bIns="0" rtlCol="0" anchor="ctr"/>
          <a:lstStyle/>
          <a:p>
            <a:pPr indent="0" marL="0">
              <a:buNone/>
            </a:pPr>
            <a:r>
              <a:rPr lang="en-US" sz="900" b="1" spc="100" kern="0" dirty="0">
                <a:solidFill>
                  <a:srgbClr val="8A5A1E"/>
                </a:solidFill>
                <a:latin typeface="Calibri" pitchFamily="34" charset="0"/>
                <a:ea typeface="Calibri" pitchFamily="34" charset="-122"/>
                <a:cs typeface="Calibri" pitchFamily="34" charset="-120"/>
              </a:rPr>
              <a:t>CURATOR TASK: FINAL COUNCIL CHAMBER RECOMMENDATION</a:t>
            </a:r>
            <a:endParaRPr lang="en-US" sz="900" dirty="0"/>
          </a:p>
        </p:txBody>
      </p:sp>
      <p:sp>
        <p:nvSpPr>
          <p:cNvPr id="9" name="Text 7"/>
          <p:cNvSpPr/>
          <p:nvPr/>
        </p:nvSpPr>
        <p:spPr>
          <a:xfrm>
            <a:off x="670560" y="4413504"/>
            <a:ext cx="10607040" cy="1950720"/>
          </a:xfrm>
          <a:prstGeom prst="rect">
            <a:avLst/>
          </a:prstGeom>
          <a:noFill/>
          <a:ln/>
        </p:spPr>
        <p:txBody>
          <a:bodyPr wrap="square" lIns="0" tIns="0" rIns="0" bIns="0" rtlCol="0" anchor="t"/>
          <a:lstStyle/>
          <a:p>
            <a:pPr indent="0" marL="0">
              <a:buNone/>
            </a:pPr>
            <a:r>
              <a:rPr lang="en-US" sz="1150" dirty="0">
                <a:solidFill>
                  <a:srgbClr val="0E1C42"/>
                </a:solidFill>
                <a:latin typeface="Calibri" pitchFamily="34" charset="0"/>
                <a:ea typeface="Calibri" pitchFamily="34" charset="-122"/>
                <a:cs typeface="Calibri" pitchFamily="34" charset="-120"/>
              </a:rPr>
              <a:t>"Which kind of evidence tells the truest story of the United States? Defend it honestly." Write your final recommendation in 4-6 sentences. Start by naming your choice. Give two reasons. Use at least one specific example from today's lesson -- the flag, the Statue of Liberty, the Constitution, Lincoln, Dr. King, the Civil War, or any other.</a:t>
            </a:r>
            <a:endParaRPr lang="en-US" sz="11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09600" y="60960"/>
            <a:ext cx="10972800" cy="304800"/>
          </a:xfrm>
          <a:prstGeom prst="rect">
            <a:avLst/>
          </a:prstGeom>
          <a:noFill/>
          <a:ln/>
        </p:spPr>
        <p:txBody>
          <a:bodyPr wrap="square" lIns="0" tIns="0" rIns="0" bIns="0" rtlCol="0" anchor="ctr"/>
          <a:lstStyle/>
          <a:p>
            <a:pPr indent="0" marL="0">
              <a:buNone/>
            </a:pPr>
            <a:r>
              <a:rPr lang="en-US" sz="1000" b="1" spc="150" kern="0" dirty="0">
                <a:solidFill>
                  <a:srgbClr val="7A88A8"/>
                </a:solidFill>
                <a:latin typeface="Calibri" pitchFamily="34" charset="0"/>
                <a:ea typeface="Calibri" pitchFamily="34" charset="-122"/>
                <a:cs typeface="Calibri" pitchFamily="34" charset="-120"/>
              </a:rPr>
              <a:t>CURATOR'S CHRONICLE</a:t>
            </a:r>
            <a:endParaRPr lang="en-US" sz="1000" dirty="0"/>
          </a:p>
        </p:txBody>
      </p:sp>
      <p:sp>
        <p:nvSpPr>
          <p:cNvPr id="3" name="Text 1"/>
          <p:cNvSpPr/>
          <p:nvPr/>
        </p:nvSpPr>
        <p:spPr>
          <a:xfrm>
            <a:off x="609600" y="365760"/>
            <a:ext cx="10972800" cy="975360"/>
          </a:xfrm>
          <a:prstGeom prst="rect">
            <a:avLst/>
          </a:prstGeom>
          <a:noFill/>
          <a:ln/>
        </p:spPr>
        <p:txBody>
          <a:bodyPr wrap="square" lIns="0" tIns="0" rIns="0" bIns="0" rtlCol="0" anchor="ctr"/>
          <a:lstStyle/>
          <a:p>
            <a:pPr indent="0" marL="0">
              <a:buNone/>
            </a:pPr>
            <a:r>
              <a:rPr lang="en-US" sz="3000" b="1" dirty="0">
                <a:solidFill>
                  <a:srgbClr val="0E1C42"/>
                </a:solidFill>
                <a:latin typeface="Cambria" pitchFamily="34" charset="0"/>
                <a:ea typeface="Cambria" pitchFamily="34" charset="-122"/>
                <a:cs typeface="Cambria" pitchFamily="34" charset="-120"/>
              </a:rPr>
              <a:t>One Sentence to Capture the Whole Hall</a:t>
            </a:r>
            <a:endParaRPr lang="en-US" sz="3000" dirty="0"/>
          </a:p>
        </p:txBody>
      </p:sp>
      <p:sp>
        <p:nvSpPr>
          <p:cNvPr id="4" name="Text 2"/>
          <p:cNvSpPr/>
          <p:nvPr/>
        </p:nvSpPr>
        <p:spPr>
          <a:xfrm>
            <a:off x="609600" y="1706880"/>
            <a:ext cx="10607040" cy="609600"/>
          </a:xfrm>
          <a:prstGeom prst="rect">
            <a:avLst/>
          </a:prstGeom>
          <a:noFill/>
          <a:ln/>
        </p:spPr>
        <p:txBody>
          <a:bodyPr wrap="square" lIns="0" tIns="0" rIns="0" bIns="0" rtlCol="0" anchor="t"/>
          <a:lstStyle/>
          <a:p>
            <a:pPr indent="0" marL="0">
              <a:buNone/>
            </a:pPr>
            <a:r>
              <a:rPr lang="en-US" sz="1500" dirty="0">
                <a:solidFill>
                  <a:srgbClr val="0E1C42"/>
                </a:solidFill>
                <a:latin typeface="Calibri" pitchFamily="34" charset="0"/>
                <a:ea typeface="Calibri" pitchFamily="34" charset="-122"/>
                <a:cs typeface="Calibri" pitchFamily="34" charset="-120"/>
              </a:rPr>
              <a:t>Finish this sentence in your own words:</a:t>
            </a:r>
            <a:endParaRPr lang="en-US" sz="1500" dirty="0"/>
          </a:p>
        </p:txBody>
      </p:sp>
      <p:sp>
        <p:nvSpPr>
          <p:cNvPr id="5" name="Shape 3"/>
          <p:cNvSpPr/>
          <p:nvPr/>
        </p:nvSpPr>
        <p:spPr>
          <a:xfrm>
            <a:off x="853440" y="2560320"/>
            <a:ext cx="10119360" cy="1828800"/>
          </a:xfrm>
          <a:prstGeom prst="roundRect">
            <a:avLst>
              <a:gd name="adj" fmla="val 8000"/>
            </a:avLst>
          </a:prstGeom>
          <a:solidFill>
            <a:srgbClr val="F0E8FF"/>
          </a:solidFill>
          <a:ln w="12700">
            <a:solidFill>
              <a:srgbClr val="8B6FC0"/>
            </a:solidFill>
            <a:prstDash val="solid"/>
          </a:ln>
        </p:spPr>
      </p:sp>
      <p:sp>
        <p:nvSpPr>
          <p:cNvPr id="6" name="Text 4"/>
          <p:cNvSpPr/>
          <p:nvPr/>
        </p:nvSpPr>
        <p:spPr>
          <a:xfrm>
            <a:off x="1158240" y="2865120"/>
            <a:ext cx="9509760" cy="1219200"/>
          </a:xfrm>
          <a:prstGeom prst="rect">
            <a:avLst/>
          </a:prstGeom>
          <a:noFill/>
          <a:ln/>
        </p:spPr>
        <p:txBody>
          <a:bodyPr wrap="square" lIns="0" tIns="0" rIns="0" bIns="0" rtlCol="0" anchor="ctr"/>
          <a:lstStyle/>
          <a:p>
            <a:pPr algn="ctr" indent="0" marL="0">
              <a:buNone/>
            </a:pPr>
            <a:r>
              <a:rPr lang="en-US" sz="1900" b="1" i="1" dirty="0">
                <a:solidFill>
                  <a:srgbClr val="8B6FC0"/>
                </a:solidFill>
                <a:latin typeface="Cambria" pitchFamily="34" charset="0"/>
                <a:ea typeface="Cambria" pitchFamily="34" charset="-122"/>
                <a:cs typeface="Cambria" pitchFamily="34" charset="-120"/>
              </a:rPr>
              <a:t>In this exhibit, I learned that ______ because ______.</a:t>
            </a:r>
            <a:endParaRPr lang="en-US" sz="1900" dirty="0"/>
          </a:p>
        </p:txBody>
      </p:sp>
      <p:sp>
        <p:nvSpPr>
          <p:cNvPr id="7" name="Shape 5"/>
          <p:cNvSpPr/>
          <p:nvPr/>
        </p:nvSpPr>
        <p:spPr>
          <a:xfrm>
            <a:off x="853440" y="4693920"/>
            <a:ext cx="10119360" cy="1645920"/>
          </a:xfrm>
          <a:prstGeom prst="roundRect">
            <a:avLst>
              <a:gd name="adj" fmla="val 7407"/>
            </a:avLst>
          </a:prstGeom>
          <a:solidFill>
            <a:srgbClr val="F0F2F8"/>
          </a:solidFill>
          <a:ln/>
        </p:spPr>
      </p:sp>
      <p:sp>
        <p:nvSpPr>
          <p:cNvPr id="8" name="Text 6"/>
          <p:cNvSpPr/>
          <p:nvPr/>
        </p:nvSpPr>
        <p:spPr>
          <a:xfrm>
            <a:off x="1036320" y="4840224"/>
            <a:ext cx="9753600" cy="304800"/>
          </a:xfrm>
          <a:prstGeom prst="rect">
            <a:avLst/>
          </a:prstGeom>
          <a:noFill/>
          <a:ln/>
        </p:spPr>
        <p:txBody>
          <a:bodyPr wrap="square" lIns="0" tIns="0" rIns="0" bIns="0" rtlCol="0" anchor="ctr"/>
          <a:lstStyle/>
          <a:p>
            <a:pPr indent="0" marL="0">
              <a:buNone/>
            </a:pPr>
            <a:r>
              <a:rPr lang="en-US" sz="900" b="1" spc="150" kern="0" dirty="0">
                <a:solidFill>
                  <a:srgbClr val="7A88A8"/>
                </a:solidFill>
                <a:latin typeface="Calibri" pitchFamily="34" charset="0"/>
                <a:ea typeface="Calibri" pitchFamily="34" charset="-122"/>
                <a:cs typeface="Calibri" pitchFamily="34" charset="-120"/>
              </a:rPr>
              <a:t>TURN-IN CHECKLIST</a:t>
            </a:r>
            <a:endParaRPr lang="en-US" sz="900" dirty="0"/>
          </a:p>
        </p:txBody>
      </p:sp>
      <p:sp>
        <p:nvSpPr>
          <p:cNvPr id="9" name="Text 7"/>
          <p:cNvSpPr/>
          <p:nvPr/>
        </p:nvSpPr>
        <p:spPr>
          <a:xfrm>
            <a:off x="1036320" y="5181600"/>
            <a:ext cx="9753600" cy="1097280"/>
          </a:xfrm>
          <a:prstGeom prst="rect">
            <a:avLst/>
          </a:prstGeom>
          <a:noFill/>
          <a:ln/>
        </p:spPr>
        <p:txBody>
          <a:bodyPr wrap="square" lIns="0" tIns="0" rIns="0" bIns="0" rtlCol="0" anchor="t"/>
          <a:lstStyle/>
          <a:p>
            <a:pPr marL="342900" indent="-342900">
              <a:buSzPct val="100000"/>
              <a:buChar char="•"/>
            </a:pPr>
            <a:r>
              <a:rPr lang="en-US" sz="1100" dirty="0">
                <a:solidFill>
                  <a:srgbClr val="0E1C42"/>
                </a:solidFill>
                <a:latin typeface="Calibri" pitchFamily="34" charset="0"/>
                <a:ea typeface="Calibri" pitchFamily="34" charset="-122"/>
                <a:cs typeface="Calibri" pitchFamily="34" charset="-120"/>
              </a:rPr>
              <a:t>Answered all three evidence questions.</a:t>
            </a:r>
            <a:endParaRPr lang="en-US" sz="1100" dirty="0"/>
          </a:p>
          <a:p>
            <a:pPr marL="342900" indent="-342900">
              <a:buSzPct val="100000"/>
              <a:buChar char="•"/>
            </a:pPr>
            <a:r>
              <a:rPr lang="en-US" sz="1100" dirty="0">
                <a:solidFill>
                  <a:srgbClr val="0E1C42"/>
                </a:solidFill>
                <a:latin typeface="Calibri" pitchFamily="34" charset="0"/>
                <a:ea typeface="Calibri" pitchFamily="34" charset="-122"/>
                <a:cs typeface="Calibri" pitchFamily="34" charset="-120"/>
              </a:rPr>
              <a:t>Wrote my Council Chamber recommendation with 2 reasons and 1 example.</a:t>
            </a:r>
            <a:endParaRPr lang="en-US" sz="1100" dirty="0"/>
          </a:p>
          <a:p>
            <a:pPr marL="342900" indent="-342900">
              <a:buSzPct val="100000"/>
              <a:buChar char="•"/>
            </a:pPr>
            <a:r>
              <a:rPr lang="en-US" sz="1100" dirty="0">
                <a:solidFill>
                  <a:srgbClr val="0E1C42"/>
                </a:solidFill>
                <a:latin typeface="Calibri" pitchFamily="34" charset="0"/>
                <a:ea typeface="Calibri" pitchFamily="34" charset="-122"/>
                <a:cs typeface="Calibri" pitchFamily="34" charset="-120"/>
              </a:rPr>
              <a:t>Wrote my Curator's Chronicle and earned my Citizen Curator badge.</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B1835"/>
          </a:solidFill>
          <a:ln w="19050">
            <a:solidFill>
              <a:srgbClr val="3A5080"/>
            </a:solidFill>
            <a:prstDash val="dash"/>
          </a:ln>
        </p:spPr>
      </p:sp>
      <p:sp>
        <p:nvSpPr>
          <p:cNvPr id="3" name="Shape 1"/>
          <p:cNvSpPr/>
          <p:nvPr/>
        </p:nvSpPr>
        <p:spPr>
          <a:xfrm>
            <a:off x="0" y="0"/>
            <a:ext cx="12191695" cy="6858000"/>
          </a:xfrm>
          <a:prstGeom prst="rect">
            <a:avLst/>
          </a:prstGeom>
          <a:solidFill>
            <a:srgbClr val="0E1C42">
              <a:alpha val="62000"/>
            </a:srgbClr>
          </a:solidFill>
          <a:ln/>
        </p:spPr>
      </p:sp>
      <p:sp>
        <p:nvSpPr>
          <p:cNvPr id="5" name="Text 2"/>
          <p:cNvSpPr/>
          <p:nvPr/>
        </p:nvSpPr>
        <p:spPr>
          <a:xfrm>
            <a:off x="1219200" y="853440"/>
            <a:ext cx="9753600" cy="426720"/>
          </a:xfrm>
          <a:prstGeom prst="rect">
            <a:avLst/>
          </a:prstGeom>
          <a:noFill/>
          <a:ln/>
        </p:spPr>
        <p:txBody>
          <a:bodyPr wrap="square" lIns="0" tIns="0" rIns="0" bIns="0" rtlCol="0" anchor="ctr"/>
          <a:lstStyle/>
          <a:p>
            <a:pPr algn="ctr" indent="0" marL="0">
              <a:buNone/>
            </a:pPr>
            <a:r>
              <a:rPr lang="en-US" sz="1200" b="1" spc="200" kern="0" dirty="0">
                <a:solidFill>
                  <a:srgbClr val="D4943A"/>
                </a:solidFill>
                <a:latin typeface="Calibri" pitchFamily="34" charset="0"/>
                <a:ea typeface="Calibri" pitchFamily="34" charset="-122"/>
                <a:cs typeface="Calibri" pitchFamily="34" charset="-120"/>
              </a:rPr>
              <a:t>CLOSING  -  END OF UNIT 10</a:t>
            </a:r>
            <a:endParaRPr lang="en-US" sz="1200" dirty="0"/>
          </a:p>
        </p:txBody>
      </p:sp>
      <p:sp>
        <p:nvSpPr>
          <p:cNvPr id="6" name="Text 3"/>
          <p:cNvSpPr/>
          <p:nvPr/>
        </p:nvSpPr>
        <p:spPr>
          <a:xfrm>
            <a:off x="731520" y="1402080"/>
            <a:ext cx="10728960" cy="1036320"/>
          </a:xfrm>
          <a:prstGeom prst="rect">
            <a:avLst/>
          </a:prstGeom>
          <a:noFill/>
          <a:ln/>
        </p:spPr>
        <p:txBody>
          <a:bodyPr wrap="square" lIns="0" tIns="0" rIns="0" bIns="0" rtlCol="0" anchor="ctr"/>
          <a:lstStyle/>
          <a:p>
            <a:pPr algn="ctr" indent="0" marL="0">
              <a:buNone/>
            </a:pPr>
            <a:r>
              <a:rPr lang="en-US" sz="3000" b="1" dirty="0">
                <a:solidFill>
                  <a:srgbClr val="FFFFFF"/>
                </a:solidFill>
                <a:latin typeface="Cambria" pitchFamily="34" charset="0"/>
                <a:ea typeface="Cambria" pitchFamily="34" charset="-122"/>
                <a:cs typeface="Cambria" pitchFamily="34" charset="-120"/>
              </a:rPr>
              <a:t>Citizenship Hall Is Complete</a:t>
            </a:r>
            <a:endParaRPr lang="en-US" sz="3000" dirty="0"/>
          </a:p>
        </p:txBody>
      </p:sp>
      <p:sp>
        <p:nvSpPr>
          <p:cNvPr id="7" name="Text 4"/>
          <p:cNvSpPr/>
          <p:nvPr/>
        </p:nvSpPr>
        <p:spPr>
          <a:xfrm>
            <a:off x="1219200" y="2560320"/>
            <a:ext cx="9387840" cy="1158240"/>
          </a:xfrm>
          <a:prstGeom prst="rect">
            <a:avLst/>
          </a:prstGeom>
          <a:noFill/>
          <a:ln/>
        </p:spPr>
        <p:txBody>
          <a:bodyPr wrap="square" lIns="0" tIns="0" rIns="0" bIns="0" rtlCol="0" anchor="t"/>
          <a:lstStyle/>
          <a:p>
            <a:pPr algn="ctr" indent="0" marL="0">
              <a:buNone/>
            </a:pPr>
            <a:r>
              <a:rPr lang="en-US" sz="1400" dirty="0">
                <a:solidFill>
                  <a:srgbClr val="E8ECF6"/>
                </a:solidFill>
                <a:latin typeface="Calibri" pitchFamily="34" charset="0"/>
                <a:ea typeface="Calibri" pitchFamily="34" charset="-122"/>
                <a:cs typeface="Calibri" pitchFamily="34" charset="-120"/>
              </a:rPr>
              <a:t>E Pluribus Unum -- out of many, one. You built this hall exhibit by exhibit, and tonight you finished it with honesty, choosing the truest story of the United States.</a:t>
            </a:r>
            <a:endParaRPr lang="en-US" sz="1400" dirty="0"/>
          </a:p>
        </p:txBody>
      </p:sp>
      <p:sp>
        <p:nvSpPr>
          <p:cNvPr id="8" name="Shape 5"/>
          <p:cNvSpPr/>
          <p:nvPr/>
        </p:nvSpPr>
        <p:spPr>
          <a:xfrm>
            <a:off x="1463040" y="3901440"/>
            <a:ext cx="8900160" cy="1828800"/>
          </a:xfrm>
          <a:prstGeom prst="roundRect">
            <a:avLst>
              <a:gd name="adj" fmla="val 8000"/>
            </a:avLst>
          </a:prstGeom>
          <a:solidFill>
            <a:srgbClr val="1A2D5A"/>
          </a:solidFill>
          <a:ln/>
        </p:spPr>
      </p:sp>
      <p:sp>
        <p:nvSpPr>
          <p:cNvPr id="9" name="Text 6"/>
          <p:cNvSpPr/>
          <p:nvPr/>
        </p:nvSpPr>
        <p:spPr>
          <a:xfrm>
            <a:off x="1706880" y="4047744"/>
            <a:ext cx="8412480" cy="304800"/>
          </a:xfrm>
          <a:prstGeom prst="rect">
            <a:avLst/>
          </a:prstGeom>
          <a:noFill/>
          <a:ln/>
        </p:spPr>
        <p:txBody>
          <a:bodyPr wrap="square" lIns="0" tIns="0" rIns="0" bIns="0" rtlCol="0" anchor="ctr"/>
          <a:lstStyle/>
          <a:p>
            <a:pPr algn="ctr" indent="0" marL="0">
              <a:buNone/>
            </a:pPr>
            <a:r>
              <a:rPr lang="en-US" sz="1000" b="1" spc="150" kern="0" dirty="0">
                <a:solidFill>
                  <a:srgbClr val="55C8E8"/>
                </a:solidFill>
                <a:latin typeface="Calibri" pitchFamily="34" charset="0"/>
                <a:ea typeface="Calibri" pitchFamily="34" charset="-122"/>
                <a:cs typeface="Calibri" pitchFamily="34" charset="-120"/>
              </a:rPr>
              <a:t>COMING NEXT</a:t>
            </a:r>
            <a:endParaRPr lang="en-US" sz="1000" dirty="0"/>
          </a:p>
        </p:txBody>
      </p:sp>
      <p:sp>
        <p:nvSpPr>
          <p:cNvPr id="10" name="Text 7"/>
          <p:cNvSpPr/>
          <p:nvPr/>
        </p:nvSpPr>
        <p:spPr>
          <a:xfrm>
            <a:off x="1706880" y="4389120"/>
            <a:ext cx="8412480" cy="1219200"/>
          </a:xfrm>
          <a:prstGeom prst="rect">
            <a:avLst/>
          </a:prstGeom>
          <a:noFill/>
          <a:ln/>
        </p:spPr>
        <p:txBody>
          <a:bodyPr wrap="square" lIns="0" tIns="0" rIns="0" bIns="0" rtlCol="0" anchor="t"/>
          <a:lstStyle/>
          <a:p>
            <a:pPr algn="ctr" indent="0" marL="0">
              <a:buNone/>
            </a:pPr>
            <a:r>
              <a:rPr lang="en-US" sz="1250" i="1" dirty="0">
                <a:solidFill>
                  <a:srgbClr val="FFFFFF"/>
                </a:solidFill>
                <a:latin typeface="Calibri" pitchFamily="34" charset="0"/>
                <a:ea typeface="Calibri" pitchFamily="34" charset="-122"/>
                <a:cs typeface="Calibri" pitchFamily="34" charset="-120"/>
              </a:rPr>
              <a:t>A wide doorway you have never noticed before is propped open: "Grand Exhibition Hall." Empty pedestals, blank walls, and an envelope with your name on it. New role waiting: Exhibit Designer.</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2026-07-11T19:28:13Z</dcterms:created>
  <dcterms:modified xsi:type="dcterms:W3CDTF">2026-07-11T19:28:13Z</dcterms:modified>
</cp:coreProperties>
</file>