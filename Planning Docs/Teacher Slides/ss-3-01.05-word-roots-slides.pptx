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IMAGE TO INSERT: A dramatic museum hall with large stone columns, warm golden lighting, and an ancient word wall with mysterious inscriptions. 3rd-grade friendly, discovery-themed atmosphere.
Teacher script: Welcome, Junior Curators! Something special has appeared in the Curator Training Hall today — something that changes how you read the entire museum map. Let's go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MUSEUM MEMO
IMAGE TO INSERT: A dramatic museum word wall with the four words carved or lit in stone in a grand hall — HISTORY, GEOGRAPHY, ECONOMY, CIVIC displayed prominently.
Teacher script: Read the memo aloud dramatically. These four words have appeared. Before we figure out what they mean, I want you to just LOOK at them. You have 10 seconds. Look carefully. [Pause 10 sec] Now chat: 'I notice...' What do you see in any of these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CURATOR'S QUESTION
Teacher script: This is the question we're investigating today. Read it with me. By the end of our 35 minutes, you'll be able to answer this -- because you discovered it, not because I told you.
Walk through the three objectives. Then walk through Today's Path. Frame it as a root-hunting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CLUE 1: histor
IMAGE TO INSERT: Ancient Greek scholar reading scrolls, or carved stone tablet showing ancient Greek script, in a museum case with warm spotlighting.
Teacher script: Here's your first root clue. The ancient Greek word: HISTOR. I am NOT telling you what it means yet. Detective time -- 15 seconds of private thinking. [Pause] Now chat: 'I think histor means... because...' Students may say 'old stuff' or 'the past' -- push with: 'That's what they STUDY -- but what is their special SKILL? What makes a historian special?' Answer: one who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HISTORY UNLOCKED
IMAGE TO INSERT: A golden glowing museum plaque being revealed with dramatic spotlighting, showing HISTOR and its meaning.
Teacher script: HISTOR means 'one who knows.' A historian is literally a KNOWER of the past. [Point to related words] Look: historian, historical, prehistoric -- all share the same root. Quick: what does pre-historic mean? Pre = before, histor = one who knows -&gt; prehistoric = before anyone wrote things down. You decoded that from the root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CLUE 2: geo + graphein
IMAGE TO INSERT: Antique world map and a quill pen on a museum table, suggesting both 'earth' and 'writing' separately.
Teacher script: Geography has TWO roots inside it. 15 seconds thinking time. [Pause] Chat: 'I think geo means... and graphein means...' Listen for students who guess 'earth' from geology, geology, geography. Build on that. Then: put them together -- what does geo + graphein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GEOGRAPHY UNLOCKED
IMAGE TO INSERT: A beautiful antique globe or world map in a museum display case, dramatically lit with warm golden light.
Teacher script: Geography = EARTH WRITING! Geographers literally write about the Earth -- they describe it, map it, explain it. [Related words] Geology: GEO again -- study of Earth's rocks. Geometry: originally measuring the Earth! Once you know geo means 'earth,' you can unlock all these words. Quick chat thumbs up if this means geographers are basically Earth writers.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CLUE 3: oikonomia
IMAGE TO INSERT: Ancient Greek household managing resources -- food, coins, pottery -- depicted as a museum artifact or painted vase showing domestic life.
Teacher script: This one might surprise you. The root is oikonomia. Oikos means household. What does a household do every day? [15-sec pause] Chat: 'I think oikonomia means...' Then: how is managing a household like managing a whole country? Build toward: it's all about careful MANAGEMENT of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ECONOMY UNLOCKED
IMAGE TO INSERT: A progression from a small household to a town to a country/globe -- suggesting the scale of economic management.
Teacher script: OIKONOMIA means household management! Economics is STILL about management -- just like a household manages food and money, a country manages resources, trade, and jobs. Same idea, bigger scale. 'Economical' means managing carefully without waste -- you can figure that out from the root! Quick: what does an economist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CLUE 4: civis
IMAGE TO INSERT: Ancient Roman forum or civic gathering -- citizens in a public square, depicted as a museum painting, mosaic, or bas-relief.
Teacher script: Last root! This one is Latin -- from ancient Rome. Look at the four related words in the hint box: civic, civil, civilian, civilization. They ALL have something in common. [15-sec pause] Chat: what do you think civis means? A civilian is NOT a soldier -- they're an ordinary member of society. A civilization is a community that works together. What role do these words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CIVIC UNLOCKED
IMAGE TO INSERT: Ancient Roman civic scene -- citizens voting or gathering in a public forum, depicted as a dramatic museum illustration with golden light.
Teacher script: CIVIS means CITIZEN! Every time you see civ- in a word, it's about citizens or civic life. [Discovery Fact] CIVILIZATION itself comes from civis. When you study civics, you're studying what makes civilizations work. Quick in chat: what do you think civility means, knowing the root civis?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RETRIEVAL CHALLENGE
Teacher script: Before looking -- close your eyes or look away for 15 seconds. Try to name all four roots and what they mean. [15-sec pause] Now look. How did you do? Chat: 'The root I remember best is... because...' This builds memory pathways.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ROOT DETECTIVE
Teacher script: Detective time! These four words -- you probably haven't been directly taught them. But you have the roots. 30 seconds, try the first two on your own. [30-sec pause] Chat: 'I figured it out because the root... told me...' Push for METHOD, not just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OPTI'S TIP
IMAGE TO INSERT: Opti the museum guide character (friendly, encouraging) pointing at a word wall or museum label in the curator training hall.
Teacher script: Read Opti's tip together. Three steps -- spot, connect, unlock. You just did this four times today. Ask: 'Who thinks they could use this trick on a brand-new word they've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VIRTUE SPOTLIGHT: RESPONSIBILITY
IMAGE TO INSERT: A junior curator carefully writing precise museum labels in a notebook, thoughtful and focused.
Teacher script: Responsibility isn't just 'doing your work.' Responsible curators use PRECISE language. Word roots help you write precisely. Chat: 'I can be more responsible with language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TEACHER MODELS
Teacher script: Watch me think through this word out loud. [Point to 'geologist'] Step 1: I see geo-. I know geo means earth. Step 2: Connect -- I remember it from geography. Step 3: -logist means 'one who studies' -- like biologist! Step 4: Geologist = one who studies the Earth.
Do this SLOWLY. Then ask: 'Now you try. Who can apply these same four steps to the word geographic?'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ERROR ANALYSIS
Teacher script: Expert curator eyes on this student answer. What did they get right? [Yes -- economics does involve money.] What's wrong? Right -- the root means MANAGEMENT, not money. Money is one thing we manage, but the root is about the MANAGING.
Key question: 'How would this mistake affect a museum label? What would the visitor misunderstand?'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INDEPENDENT PRACTICE
Teacher script: Your turn -- no help from me. Use the root hints to figure out what each word means. Write your answers in your Curator's Notebook. 60 seconds. [Pause] Chat: 'I figured out [word] because the root... told me...' Goal is method, not just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ASSIGNMENT
Teacher script: Here are your three tasks. [Read each aloud] Let me model Evidence Q1 quickly: 'I pick geography. The root is geo + graph. Geo means earth, graph means writing. Geography connects to the field because geographers literally write about the Earth.' See? I used the root to explain the field.
Notebook entry: Start with 'The four fields of social studies have roots in ancient Greek and Latin words...' Strong answers name the root, define it, AND explain the connection. 8-10 minutes independent work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CURATOR'S CHRONICLE
Teacher script: Last step -- your Curator's Chronicle. One sentence. Try to use a root in it. [2 minutes] Chat: 'At first I thought... but now I know...' [Read 2-3 aloud] You walked in not knowing what histor meant. Now you can explain oikonomia to a museum visitor.
Submit reminder: Make sure students know where to paste or download their work in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CLOSING CELEBRATION
IMAGE TO INSERT: Grand museum hall in warm golden light -- a satisfied junior curator looking up at a completed word wall with all four fields labeled with their roots. Celebration atmosphere.
Teacher script: You cracked all four roots! HISTOR -- one who knows. GEO + GRAPH -- earth writing. OIKONOMIA -- household management. CIVIS -- citizen. These are the four lenses you'll use all year. See you next time, Junior Curators!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411480"/>
            <a:ext cx="8229600" cy="292608"/>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CURATOR TRAINING HALL</a:t>
            </a:r>
            <a:endParaRPr lang="en-US" sz="900" dirty="0"/>
          </a:p>
        </p:txBody>
      </p:sp>
      <p:sp>
        <p:nvSpPr>
          <p:cNvPr id="5" name="Shape 3"/>
          <p:cNvSpPr/>
          <p:nvPr/>
        </p:nvSpPr>
        <p:spPr>
          <a:xfrm>
            <a:off x="3429000" y="804672"/>
            <a:ext cx="2286000" cy="310896"/>
          </a:xfrm>
          <a:prstGeom prst="roundRect">
            <a:avLst>
              <a:gd name="adj" fmla="val 23529"/>
            </a:avLst>
          </a:prstGeom>
          <a:solidFill>
            <a:srgbClr val="1A2D5A"/>
          </a:solidFill>
          <a:ln w="12700">
            <a:solidFill>
              <a:srgbClr val="D4943A"/>
            </a:solidFill>
            <a:prstDash val="solid"/>
          </a:ln>
        </p:spPr>
      </p:sp>
      <p:sp>
        <p:nvSpPr>
          <p:cNvPr id="6" name="Text 4"/>
          <p:cNvSpPr/>
          <p:nvPr/>
        </p:nvSpPr>
        <p:spPr>
          <a:xfrm>
            <a:off x="3429000" y="804672"/>
            <a:ext cx="2286000" cy="310896"/>
          </a:xfrm>
          <a:prstGeom prst="rect">
            <a:avLst/>
          </a:prstGeom>
          <a:noFill/>
          <a:ln/>
        </p:spPr>
        <p:txBody>
          <a:bodyPr wrap="square" lIns="0" tIns="0" rIns="0" bIns="0" rtlCol="0" anchor="ctr"/>
          <a:lstStyle/>
          <a:p>
            <a:pPr algn="ctr" indent="0" marL="0">
              <a:buNone/>
            </a:pPr>
            <a:r>
              <a:rPr lang="en-US" sz="900" b="1" dirty="0">
                <a:solidFill>
                  <a:srgbClr val="D4943A"/>
                </a:solidFill>
                <a:latin typeface="Calibri" pitchFamily="34" charset="0"/>
                <a:ea typeface="Calibri" pitchFamily="34" charset="-122"/>
                <a:cs typeface="Calibri" pitchFamily="34" charset="-120"/>
              </a:rPr>
              <a:t>LESSON 3.01.05</a:t>
            </a:r>
            <a:endParaRPr lang="en-US" sz="900" dirty="0"/>
          </a:p>
        </p:txBody>
      </p:sp>
      <p:sp>
        <p:nvSpPr>
          <p:cNvPr id="7" name="Text 5"/>
          <p:cNvSpPr/>
          <p:nvPr/>
        </p:nvSpPr>
        <p:spPr>
          <a:xfrm>
            <a:off x="731520" y="1298448"/>
            <a:ext cx="768096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Word Roots</a:t>
            </a:r>
            <a:endParaRPr lang="en-US" sz="5600" dirty="0"/>
          </a:p>
        </p:txBody>
      </p:sp>
      <p:sp>
        <p:nvSpPr>
          <p:cNvPr id="8" name="Text 6"/>
          <p:cNvSpPr/>
          <p:nvPr/>
        </p:nvSpPr>
        <p:spPr>
          <a:xfrm>
            <a:off x="914400" y="2606040"/>
            <a:ext cx="7315200" cy="411480"/>
          </a:xfrm>
          <a:prstGeom prst="rect">
            <a:avLst/>
          </a:prstGeom>
          <a:noFill/>
          <a:ln/>
        </p:spPr>
        <p:txBody>
          <a:bodyPr wrap="square" lIns="0" tIns="0" rIns="0" bIns="0" rtlCol="0" anchor="ctr"/>
          <a:lstStyle/>
          <a:p>
            <a:pPr algn="ctr" indent="0" marL="0">
              <a:buNone/>
            </a:pPr>
            <a:r>
              <a:rPr lang="en-US" sz="1900" i="1" dirty="0">
                <a:solidFill>
                  <a:srgbClr val="55C8E8"/>
                </a:solidFill>
                <a:latin typeface="Calibri" pitchFamily="34" charset="0"/>
                <a:ea typeface="Calibri" pitchFamily="34" charset="-122"/>
                <a:cs typeface="Calibri" pitchFamily="34" charset="-120"/>
              </a:rPr>
              <a:t>The Language of the Museum</a:t>
            </a:r>
            <a:endParaRPr lang="en-US" sz="1900" dirty="0"/>
          </a:p>
        </p:txBody>
      </p:sp>
      <p:sp>
        <p:nvSpPr>
          <p:cNvPr id="9" name="Shape 7"/>
          <p:cNvSpPr/>
          <p:nvPr/>
        </p:nvSpPr>
        <p:spPr>
          <a:xfrm>
            <a:off x="2286000" y="3154680"/>
            <a:ext cx="4572000" cy="0"/>
          </a:xfrm>
          <a:prstGeom prst="line">
            <a:avLst/>
          </a:prstGeom>
          <a:noFill/>
          <a:ln w="19050">
            <a:solidFill>
              <a:srgbClr val="D4943A"/>
            </a:solidFill>
            <a:prstDash val="solid"/>
          </a:ln>
        </p:spPr>
      </p:sp>
      <p:sp>
        <p:nvSpPr>
          <p:cNvPr id="10" name="Text 8"/>
          <p:cNvSpPr/>
          <p:nvPr/>
        </p:nvSpPr>
        <p:spPr>
          <a:xfrm>
            <a:off x="914400" y="3310128"/>
            <a:ext cx="7315200" cy="292608"/>
          </a:xfrm>
          <a:prstGeom prst="rect">
            <a:avLst/>
          </a:prstGeom>
          <a:noFill/>
          <a:ln/>
        </p:spPr>
        <p:txBody>
          <a:bodyPr wrap="square" lIns="0" tIns="0" rIns="0" bIns="0"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Social Studies  |  Grade 3  |  Quarter 1  |  Week 3</a:t>
            </a:r>
            <a:endParaRPr lang="en-US" sz="1200" dirty="0"/>
          </a:p>
        </p:txBody>
      </p:sp>
      <p:sp>
        <p:nvSpPr>
          <p:cNvPr id="11" name="Text 9"/>
          <p:cNvSpPr/>
          <p:nvPr/>
        </p:nvSpPr>
        <p:spPr>
          <a:xfrm>
            <a:off x="914400" y="3657600"/>
            <a:ext cx="7315200" cy="256032"/>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Standards: SS.3.A.1.1  |  SS.3.A.1.2  |  SS.3.A.1.3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56032"/>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MUSEUM MEMO</a:t>
            </a:r>
            <a:endParaRPr lang="en-US" sz="900" dirty="0"/>
          </a:p>
        </p:txBody>
      </p:sp>
      <p:sp>
        <p:nvSpPr>
          <p:cNvPr id="5" name="Text 3"/>
          <p:cNvSpPr/>
          <p:nvPr/>
        </p:nvSpPr>
        <p:spPr>
          <a:xfrm>
            <a:off x="457200" y="594360"/>
            <a:ext cx="8229600" cy="50292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Something new has appeared...</a:t>
            </a:r>
            <a:endParaRPr lang="en-US" sz="2600" dirty="0"/>
          </a:p>
        </p:txBody>
      </p:sp>
      <p:sp>
        <p:nvSpPr>
          <p:cNvPr id="6" name="Shape 4"/>
          <p:cNvSpPr/>
          <p:nvPr/>
        </p:nvSpPr>
        <p:spPr>
          <a:xfrm>
            <a:off x="1097280" y="1188720"/>
            <a:ext cx="6949440" cy="1664208"/>
          </a:xfrm>
          <a:prstGeom prst="roundRect">
            <a:avLst>
              <a:gd name="adj" fmla="val 6593"/>
            </a:avLst>
          </a:prstGeom>
          <a:solidFill>
            <a:srgbClr val="1A2D5A"/>
          </a:solidFill>
          <a:ln w="19050">
            <a:solidFill>
              <a:srgbClr val="D4943A"/>
            </a:solidFill>
            <a:prstDash val="solid"/>
          </a:ln>
        </p:spPr>
      </p:sp>
      <p:sp>
        <p:nvSpPr>
          <p:cNvPr id="7" name="Text 5"/>
          <p:cNvSpPr/>
          <p:nvPr/>
        </p:nvSpPr>
        <p:spPr>
          <a:xfrm>
            <a:off x="1298448" y="1298448"/>
            <a:ext cx="6547104" cy="1444752"/>
          </a:xfrm>
          <a:prstGeom prst="rect">
            <a:avLst/>
          </a:prstGeom>
          <a:noFill/>
          <a:ln/>
        </p:spPr>
        <p:txBody>
          <a:bodyPr wrap="square" lIns="0" tIns="0" rIns="0" bIns="0" rtlCol="0" anchor="ctr"/>
          <a:lstStyle/>
          <a:p>
            <a:pPr algn="l" indent="0" marL="0">
              <a:buNone/>
            </a:pPr>
            <a:r>
              <a:rPr lang="en-US" sz="1400" i="1" dirty="0">
                <a:solidFill>
                  <a:srgbClr val="FFFFFF"/>
                </a:solidFill>
                <a:latin typeface="Calibri" pitchFamily="34" charset="0"/>
                <a:ea typeface="Calibri" pitchFamily="34" charset="-122"/>
                <a:cs typeface="Calibri" pitchFamily="34" charset="-120"/>
              </a:rPr>
              <a:t>A wall of museum words has appeared in the Curator Training Hall: history, geography, economy, and civic. These aren't just labels -- they're the names of the four lenses curators use to understand the world.</a:t>
            </a:r>
            <a:endParaRPr lang="en-US" sz="1400" dirty="0"/>
          </a:p>
        </p:txBody>
      </p:sp>
      <p:sp>
        <p:nvSpPr>
          <p:cNvPr id="8" name="Shape 6"/>
          <p:cNvSpPr/>
          <p:nvPr/>
        </p:nvSpPr>
        <p:spPr>
          <a:xfrm>
            <a:off x="475488" y="2971800"/>
            <a:ext cx="1938528" cy="658368"/>
          </a:xfrm>
          <a:prstGeom prst="roundRect">
            <a:avLst>
              <a:gd name="adj" fmla="val 13889"/>
            </a:avLst>
          </a:prstGeom>
          <a:solidFill>
            <a:srgbClr val="1A2D5A"/>
          </a:solidFill>
          <a:ln w="19050">
            <a:solidFill>
              <a:srgbClr val="55C8E8"/>
            </a:solidFill>
            <a:prstDash val="solid"/>
          </a:ln>
        </p:spPr>
      </p:sp>
      <p:sp>
        <p:nvSpPr>
          <p:cNvPr id="9" name="Text 7"/>
          <p:cNvSpPr/>
          <p:nvPr/>
        </p:nvSpPr>
        <p:spPr>
          <a:xfrm>
            <a:off x="475488" y="2971800"/>
            <a:ext cx="1938528" cy="658368"/>
          </a:xfrm>
          <a:prstGeom prst="rect">
            <a:avLst/>
          </a:prstGeom>
          <a:noFill/>
          <a:ln/>
        </p:spPr>
        <p:txBody>
          <a:bodyPr wrap="square" lIns="0" tIns="0" rIns="0" bIns="0" rtlCol="0" anchor="ctr"/>
          <a:lstStyle/>
          <a:p>
            <a:pPr algn="ctr" indent="0" marL="0">
              <a:buNone/>
            </a:pPr>
            <a:r>
              <a:rPr lang="en-US" sz="1500" b="1" dirty="0">
                <a:solidFill>
                  <a:srgbClr val="55C8E8"/>
                </a:solidFill>
                <a:latin typeface="Cambria" pitchFamily="34" charset="0"/>
                <a:ea typeface="Cambria" pitchFamily="34" charset="-122"/>
                <a:cs typeface="Cambria" pitchFamily="34" charset="-120"/>
              </a:rPr>
              <a:t>HISTORY</a:t>
            </a:r>
            <a:endParaRPr lang="en-US" sz="1500" dirty="0"/>
          </a:p>
        </p:txBody>
      </p:sp>
      <p:sp>
        <p:nvSpPr>
          <p:cNvPr id="10" name="Shape 8"/>
          <p:cNvSpPr/>
          <p:nvPr/>
        </p:nvSpPr>
        <p:spPr>
          <a:xfrm>
            <a:off x="2578608" y="2971800"/>
            <a:ext cx="1938528" cy="658368"/>
          </a:xfrm>
          <a:prstGeom prst="roundRect">
            <a:avLst>
              <a:gd name="adj" fmla="val 13889"/>
            </a:avLst>
          </a:prstGeom>
          <a:solidFill>
            <a:srgbClr val="1A2D5A"/>
          </a:solidFill>
          <a:ln w="19050">
            <a:solidFill>
              <a:srgbClr val="D4943A"/>
            </a:solidFill>
            <a:prstDash val="solid"/>
          </a:ln>
        </p:spPr>
      </p:sp>
      <p:sp>
        <p:nvSpPr>
          <p:cNvPr id="11" name="Text 9"/>
          <p:cNvSpPr/>
          <p:nvPr/>
        </p:nvSpPr>
        <p:spPr>
          <a:xfrm>
            <a:off x="2578608" y="2971800"/>
            <a:ext cx="1938528" cy="658368"/>
          </a:xfrm>
          <a:prstGeom prst="rect">
            <a:avLst/>
          </a:prstGeom>
          <a:noFill/>
          <a:ln/>
        </p:spPr>
        <p:txBody>
          <a:bodyPr wrap="square" lIns="0" tIns="0" rIns="0" bIns="0" rtlCol="0" anchor="ctr"/>
          <a:lstStyle/>
          <a:p>
            <a:pPr algn="ctr" indent="0" marL="0">
              <a:buNone/>
            </a:pPr>
            <a:r>
              <a:rPr lang="en-US" sz="1500" b="1" dirty="0">
                <a:solidFill>
                  <a:srgbClr val="D4943A"/>
                </a:solidFill>
                <a:latin typeface="Cambria" pitchFamily="34" charset="0"/>
                <a:ea typeface="Cambria" pitchFamily="34" charset="-122"/>
                <a:cs typeface="Cambria" pitchFamily="34" charset="-120"/>
              </a:rPr>
              <a:t>GEOGRAPHY</a:t>
            </a:r>
            <a:endParaRPr lang="en-US" sz="1500" dirty="0"/>
          </a:p>
        </p:txBody>
      </p:sp>
      <p:sp>
        <p:nvSpPr>
          <p:cNvPr id="12" name="Shape 10"/>
          <p:cNvSpPr/>
          <p:nvPr/>
        </p:nvSpPr>
        <p:spPr>
          <a:xfrm>
            <a:off x="4681728" y="2971800"/>
            <a:ext cx="1938528" cy="658368"/>
          </a:xfrm>
          <a:prstGeom prst="roundRect">
            <a:avLst>
              <a:gd name="adj" fmla="val 13889"/>
            </a:avLst>
          </a:prstGeom>
          <a:solidFill>
            <a:srgbClr val="1A2D5A"/>
          </a:solidFill>
          <a:ln w="19050">
            <a:solidFill>
              <a:srgbClr val="1A8A7D"/>
            </a:solidFill>
            <a:prstDash val="solid"/>
          </a:ln>
        </p:spPr>
      </p:sp>
      <p:sp>
        <p:nvSpPr>
          <p:cNvPr id="13" name="Text 11"/>
          <p:cNvSpPr/>
          <p:nvPr/>
        </p:nvSpPr>
        <p:spPr>
          <a:xfrm>
            <a:off x="4681728" y="2971800"/>
            <a:ext cx="1938528" cy="658368"/>
          </a:xfrm>
          <a:prstGeom prst="rect">
            <a:avLst/>
          </a:prstGeom>
          <a:noFill/>
          <a:ln/>
        </p:spPr>
        <p:txBody>
          <a:bodyPr wrap="square" lIns="0" tIns="0" rIns="0" bIns="0" rtlCol="0" anchor="ctr"/>
          <a:lstStyle/>
          <a:p>
            <a:pPr algn="ctr" indent="0" marL="0">
              <a:buNone/>
            </a:pPr>
            <a:r>
              <a:rPr lang="en-US" sz="1500" b="1" dirty="0">
                <a:solidFill>
                  <a:srgbClr val="1A8A7D"/>
                </a:solidFill>
                <a:latin typeface="Cambria" pitchFamily="34" charset="0"/>
                <a:ea typeface="Cambria" pitchFamily="34" charset="-122"/>
                <a:cs typeface="Cambria" pitchFamily="34" charset="-120"/>
              </a:rPr>
              <a:t>ECONOMY</a:t>
            </a:r>
            <a:endParaRPr lang="en-US" sz="1500" dirty="0"/>
          </a:p>
        </p:txBody>
      </p:sp>
      <p:sp>
        <p:nvSpPr>
          <p:cNvPr id="14" name="Shape 12"/>
          <p:cNvSpPr/>
          <p:nvPr/>
        </p:nvSpPr>
        <p:spPr>
          <a:xfrm>
            <a:off x="6784848" y="2971800"/>
            <a:ext cx="1938528" cy="658368"/>
          </a:xfrm>
          <a:prstGeom prst="roundRect">
            <a:avLst>
              <a:gd name="adj" fmla="val 13889"/>
            </a:avLst>
          </a:prstGeom>
          <a:solidFill>
            <a:srgbClr val="1A2D5A"/>
          </a:solidFill>
          <a:ln w="19050">
            <a:solidFill>
              <a:srgbClr val="8B6FC0"/>
            </a:solidFill>
            <a:prstDash val="solid"/>
          </a:ln>
        </p:spPr>
      </p:sp>
      <p:sp>
        <p:nvSpPr>
          <p:cNvPr id="15" name="Text 13"/>
          <p:cNvSpPr/>
          <p:nvPr/>
        </p:nvSpPr>
        <p:spPr>
          <a:xfrm>
            <a:off x="6784848" y="2971800"/>
            <a:ext cx="1938528" cy="658368"/>
          </a:xfrm>
          <a:prstGeom prst="rect">
            <a:avLst/>
          </a:prstGeom>
          <a:noFill/>
          <a:ln/>
        </p:spPr>
        <p:txBody>
          <a:bodyPr wrap="square" lIns="0" tIns="0" rIns="0" bIns="0" rtlCol="0" anchor="ctr"/>
          <a:lstStyle/>
          <a:p>
            <a:pPr algn="ctr" indent="0" marL="0">
              <a:buNone/>
            </a:pPr>
            <a:r>
              <a:rPr lang="en-US" sz="1500" b="1" dirty="0">
                <a:solidFill>
                  <a:srgbClr val="8B6FC0"/>
                </a:solidFill>
                <a:latin typeface="Cambria" pitchFamily="34" charset="0"/>
                <a:ea typeface="Cambria" pitchFamily="34" charset="-122"/>
                <a:cs typeface="Cambria" pitchFamily="34" charset="-120"/>
              </a:rPr>
              <a:t>CIVIC</a:t>
            </a:r>
            <a:endParaRPr lang="en-US" sz="1500" dirty="0"/>
          </a:p>
        </p:txBody>
      </p:sp>
      <p:sp>
        <p:nvSpPr>
          <p:cNvPr id="16" name="Text 14"/>
          <p:cNvSpPr/>
          <p:nvPr/>
        </p:nvSpPr>
        <p:spPr>
          <a:xfrm>
            <a:off x="457200" y="3749040"/>
            <a:ext cx="8229600" cy="347472"/>
          </a:xfrm>
          <a:prstGeom prst="rect">
            <a:avLst/>
          </a:prstGeom>
          <a:noFill/>
          <a:ln/>
        </p:spPr>
        <p:txBody>
          <a:bodyPr wrap="square" lIns="0" tIns="0" rIns="0" bIns="0"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What's hiding inside these words?</a:t>
            </a:r>
            <a:endParaRPr lang="en-US" sz="1600" dirty="0"/>
          </a:p>
        </p:txBody>
      </p:sp>
      <p:sp>
        <p:nvSpPr>
          <p:cNvPr id="17" name="Shape 15"/>
          <p:cNvSpPr/>
          <p:nvPr/>
        </p:nvSpPr>
        <p:spPr>
          <a:xfrm>
            <a:off x="1371600" y="4187952"/>
            <a:ext cx="6400800" cy="658368"/>
          </a:xfrm>
          <a:prstGeom prst="roundRect">
            <a:avLst>
              <a:gd name="adj" fmla="val 16667"/>
            </a:avLst>
          </a:prstGeom>
          <a:solidFill>
            <a:srgbClr val="FFF3DC"/>
          </a:solidFill>
          <a:ln w="19050">
            <a:solidFill>
              <a:srgbClr val="F5E6C8"/>
            </a:solidFill>
            <a:prstDash val="solid"/>
          </a:ln>
        </p:spPr>
      </p:sp>
      <p:sp>
        <p:nvSpPr>
          <p:cNvPr id="18" name="Text 16"/>
          <p:cNvSpPr/>
          <p:nvPr/>
        </p:nvSpPr>
        <p:spPr>
          <a:xfrm>
            <a:off x="1508760" y="4242816"/>
            <a:ext cx="6126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1508760" y="4443984"/>
            <a:ext cx="6126480" cy="3383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these words might be about..."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E1C42"/>
          </a:solidFill>
          <a:ln w="12700">
            <a:solidFill>
              <a:srgbClr val="0E1C42"/>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CURATOR'S QUESTION</a:t>
            </a:r>
            <a:endParaRPr lang="en-US" sz="900" dirty="0"/>
          </a:p>
        </p:txBody>
      </p:sp>
      <p:sp>
        <p:nvSpPr>
          <p:cNvPr id="4" name="Text 2"/>
          <p:cNvSpPr/>
          <p:nvPr/>
        </p:nvSpPr>
        <p:spPr>
          <a:xfrm>
            <a:off x="457200" y="384048"/>
            <a:ext cx="8229600" cy="274320"/>
          </a:xfrm>
          <a:prstGeom prst="rect">
            <a:avLst/>
          </a:prstGeom>
          <a:noFill/>
          <a:ln/>
        </p:spPr>
        <p:txBody>
          <a:bodyPr wrap="square" lIns="0" tIns="0" rIns="0" bIns="0"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Lesson 3.01.05 -- Word Roots</a:t>
            </a:r>
            <a:endParaRPr lang="en-US" sz="1200" dirty="0"/>
          </a:p>
        </p:txBody>
      </p:sp>
      <p:sp>
        <p:nvSpPr>
          <p:cNvPr id="5" name="Shape 3"/>
          <p:cNvSpPr/>
          <p:nvPr/>
        </p:nvSpPr>
        <p:spPr>
          <a:xfrm>
            <a:off x="457200" y="896112"/>
            <a:ext cx="8229600" cy="1261872"/>
          </a:xfrm>
          <a:prstGeom prst="roundRect">
            <a:avLst>
              <a:gd name="adj" fmla="val 10870"/>
            </a:avLst>
          </a:prstGeom>
          <a:solidFill>
            <a:srgbClr val="EAF8FD"/>
          </a:solidFill>
          <a:ln w="25400">
            <a:solidFill>
              <a:srgbClr val="55C8E8"/>
            </a:solidFill>
            <a:prstDash val="solid"/>
          </a:ln>
        </p:spPr>
      </p:sp>
      <p:sp>
        <p:nvSpPr>
          <p:cNvPr id="6" name="Text 4"/>
          <p:cNvSpPr/>
          <p:nvPr/>
        </p:nvSpPr>
        <p:spPr>
          <a:xfrm>
            <a:off x="658368" y="987552"/>
            <a:ext cx="7827264" cy="1078992"/>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What do the roots of history, geography, economy, and civic tell us about what each field really studies?</a:t>
            </a:r>
            <a:endParaRPr lang="en-US" sz="2000" dirty="0"/>
          </a:p>
        </p:txBody>
      </p:sp>
      <p:sp>
        <p:nvSpPr>
          <p:cNvPr id="7" name="Text 5"/>
          <p:cNvSpPr/>
          <p:nvPr/>
        </p:nvSpPr>
        <p:spPr>
          <a:xfrm>
            <a:off x="457200" y="2304288"/>
            <a:ext cx="384048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Today You'll Learn To:</a:t>
            </a:r>
            <a:endParaRPr lang="en-US" sz="1300" dirty="0"/>
          </a:p>
        </p:txBody>
      </p:sp>
      <p:sp>
        <p:nvSpPr>
          <p:cNvPr id="8" name="Shape 6"/>
          <p:cNvSpPr/>
          <p:nvPr/>
        </p:nvSpPr>
        <p:spPr>
          <a:xfrm>
            <a:off x="457200" y="2670048"/>
            <a:ext cx="3840480" cy="457200"/>
          </a:xfrm>
          <a:prstGeom prst="roundRect">
            <a:avLst>
              <a:gd name="adj" fmla="val 16000"/>
            </a:avLst>
          </a:prstGeom>
          <a:solidFill>
            <a:srgbClr val="F0F2F8"/>
          </a:solidFill>
          <a:ln w="12700">
            <a:solidFill>
              <a:srgbClr val="C8D0E8"/>
            </a:solidFill>
            <a:prstDash val="solid"/>
          </a:ln>
        </p:spPr>
      </p:sp>
      <p:sp>
        <p:nvSpPr>
          <p:cNvPr id="9" name="Text 7"/>
          <p:cNvSpPr/>
          <p:nvPr/>
        </p:nvSpPr>
        <p:spPr>
          <a:xfrm>
            <a:off x="594360" y="2697480"/>
            <a:ext cx="3611880" cy="402336"/>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1.  Name the root of each of the four social studies words</a:t>
            </a:r>
            <a:endParaRPr lang="en-US" sz="1100" dirty="0"/>
          </a:p>
        </p:txBody>
      </p:sp>
      <p:sp>
        <p:nvSpPr>
          <p:cNvPr id="10" name="Shape 8"/>
          <p:cNvSpPr/>
          <p:nvPr/>
        </p:nvSpPr>
        <p:spPr>
          <a:xfrm>
            <a:off x="457200" y="3200400"/>
            <a:ext cx="3840480" cy="457200"/>
          </a:xfrm>
          <a:prstGeom prst="roundRect">
            <a:avLst>
              <a:gd name="adj" fmla="val 16000"/>
            </a:avLst>
          </a:prstGeom>
          <a:solidFill>
            <a:srgbClr val="F0F2F8"/>
          </a:solidFill>
          <a:ln w="12700">
            <a:solidFill>
              <a:srgbClr val="C8D0E8"/>
            </a:solidFill>
            <a:prstDash val="solid"/>
          </a:ln>
        </p:spPr>
      </p:sp>
      <p:sp>
        <p:nvSpPr>
          <p:cNvPr id="11" name="Text 9"/>
          <p:cNvSpPr/>
          <p:nvPr/>
        </p:nvSpPr>
        <p:spPr>
          <a:xfrm>
            <a:off x="594360" y="3227832"/>
            <a:ext cx="3611880" cy="402336"/>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2.  Explain how each root connects to what that field studies</a:t>
            </a:r>
            <a:endParaRPr lang="en-US" sz="1100" dirty="0"/>
          </a:p>
        </p:txBody>
      </p:sp>
      <p:sp>
        <p:nvSpPr>
          <p:cNvPr id="12" name="Shape 10"/>
          <p:cNvSpPr/>
          <p:nvPr/>
        </p:nvSpPr>
        <p:spPr>
          <a:xfrm>
            <a:off x="457200" y="3730752"/>
            <a:ext cx="3840480" cy="457200"/>
          </a:xfrm>
          <a:prstGeom prst="roundRect">
            <a:avLst>
              <a:gd name="adj" fmla="val 16000"/>
            </a:avLst>
          </a:prstGeom>
          <a:solidFill>
            <a:srgbClr val="F0F2F8"/>
          </a:solidFill>
          <a:ln w="12700">
            <a:solidFill>
              <a:srgbClr val="C8D0E8"/>
            </a:solidFill>
            <a:prstDash val="solid"/>
          </a:ln>
        </p:spPr>
      </p:sp>
      <p:sp>
        <p:nvSpPr>
          <p:cNvPr id="13" name="Text 11"/>
          <p:cNvSpPr/>
          <p:nvPr/>
        </p:nvSpPr>
        <p:spPr>
          <a:xfrm>
            <a:off x="594360" y="3758184"/>
            <a:ext cx="3611880" cy="402336"/>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3.  Use word roots to understand new social studies vocabulary</a:t>
            </a:r>
            <a:endParaRPr lang="en-US" sz="1100" dirty="0"/>
          </a:p>
        </p:txBody>
      </p:sp>
      <p:sp>
        <p:nvSpPr>
          <p:cNvPr id="14" name="Text 12"/>
          <p:cNvSpPr/>
          <p:nvPr/>
        </p:nvSpPr>
        <p:spPr>
          <a:xfrm>
            <a:off x="4754880" y="2304288"/>
            <a:ext cx="384048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Today's Path:</a:t>
            </a:r>
            <a:endParaRPr lang="en-US" sz="1300" dirty="0"/>
          </a:p>
        </p:txBody>
      </p:sp>
      <p:sp>
        <p:nvSpPr>
          <p:cNvPr id="15" name="Shape 13"/>
          <p:cNvSpPr/>
          <p:nvPr/>
        </p:nvSpPr>
        <p:spPr>
          <a:xfrm>
            <a:off x="4754880" y="2670048"/>
            <a:ext cx="3840480" cy="457200"/>
          </a:xfrm>
          <a:prstGeom prst="roundRect">
            <a:avLst>
              <a:gd name="adj" fmla="val 16000"/>
            </a:avLst>
          </a:prstGeom>
          <a:solidFill>
            <a:srgbClr val="F0F2F8"/>
          </a:solidFill>
          <a:ln w="12700">
            <a:solidFill>
              <a:srgbClr val="C8D0E8"/>
            </a:solidFill>
            <a:prstDash val="solid"/>
          </a:ln>
        </p:spPr>
      </p:sp>
      <p:sp>
        <p:nvSpPr>
          <p:cNvPr id="16" name="Shape 14"/>
          <p:cNvSpPr/>
          <p:nvPr/>
        </p:nvSpPr>
        <p:spPr>
          <a:xfrm>
            <a:off x="4828032" y="2724912"/>
            <a:ext cx="256032" cy="256032"/>
          </a:xfrm>
          <a:prstGeom prst="roundRect">
            <a:avLst>
              <a:gd name="adj" fmla="val 14286"/>
            </a:avLst>
          </a:prstGeom>
          <a:solidFill>
            <a:srgbClr val="55C8E8"/>
          </a:solidFill>
          <a:ln w="12700">
            <a:solidFill>
              <a:srgbClr val="55C8E8"/>
            </a:solidFill>
            <a:prstDash val="solid"/>
          </a:ln>
        </p:spPr>
      </p:sp>
      <p:sp>
        <p:nvSpPr>
          <p:cNvPr id="17" name="Text 15"/>
          <p:cNvSpPr/>
          <p:nvPr/>
        </p:nvSpPr>
        <p:spPr>
          <a:xfrm>
            <a:off x="4828032" y="272491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8" name="Text 16"/>
          <p:cNvSpPr/>
          <p:nvPr/>
        </p:nvSpPr>
        <p:spPr>
          <a:xfrm>
            <a:off x="5138928" y="2697480"/>
            <a:ext cx="3364992" cy="402336"/>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Meet the mystery word wall</a:t>
            </a:r>
            <a:endParaRPr lang="en-US" sz="1100" dirty="0"/>
          </a:p>
        </p:txBody>
      </p:sp>
      <p:sp>
        <p:nvSpPr>
          <p:cNvPr id="19" name="Shape 17"/>
          <p:cNvSpPr/>
          <p:nvPr/>
        </p:nvSpPr>
        <p:spPr>
          <a:xfrm>
            <a:off x="4754880" y="3200400"/>
            <a:ext cx="3840480" cy="457200"/>
          </a:xfrm>
          <a:prstGeom prst="roundRect">
            <a:avLst>
              <a:gd name="adj" fmla="val 16000"/>
            </a:avLst>
          </a:prstGeom>
          <a:solidFill>
            <a:srgbClr val="F0F2F8"/>
          </a:solidFill>
          <a:ln w="12700">
            <a:solidFill>
              <a:srgbClr val="C8D0E8"/>
            </a:solidFill>
            <a:prstDash val="solid"/>
          </a:ln>
        </p:spPr>
      </p:sp>
      <p:sp>
        <p:nvSpPr>
          <p:cNvPr id="20" name="Shape 18"/>
          <p:cNvSpPr/>
          <p:nvPr/>
        </p:nvSpPr>
        <p:spPr>
          <a:xfrm>
            <a:off x="4828032" y="3255264"/>
            <a:ext cx="256032" cy="256032"/>
          </a:xfrm>
          <a:prstGeom prst="roundRect">
            <a:avLst>
              <a:gd name="adj" fmla="val 14286"/>
            </a:avLst>
          </a:prstGeom>
          <a:solidFill>
            <a:srgbClr val="55C8E8"/>
          </a:solidFill>
          <a:ln w="12700">
            <a:solidFill>
              <a:srgbClr val="55C8E8"/>
            </a:solidFill>
            <a:prstDash val="solid"/>
          </a:ln>
        </p:spPr>
      </p:sp>
      <p:sp>
        <p:nvSpPr>
          <p:cNvPr id="21" name="Text 19"/>
          <p:cNvSpPr/>
          <p:nvPr/>
        </p:nvSpPr>
        <p:spPr>
          <a:xfrm>
            <a:off x="4828032" y="32552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2" name="Text 20"/>
          <p:cNvSpPr/>
          <p:nvPr/>
        </p:nvSpPr>
        <p:spPr>
          <a:xfrm>
            <a:off x="5138928" y="3227832"/>
            <a:ext cx="3364992" cy="402336"/>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Discover four word roots</a:t>
            </a:r>
            <a:endParaRPr lang="en-US" sz="1100" dirty="0"/>
          </a:p>
        </p:txBody>
      </p:sp>
      <p:sp>
        <p:nvSpPr>
          <p:cNvPr id="23" name="Shape 21"/>
          <p:cNvSpPr/>
          <p:nvPr/>
        </p:nvSpPr>
        <p:spPr>
          <a:xfrm>
            <a:off x="4754880" y="3730752"/>
            <a:ext cx="3840480" cy="457200"/>
          </a:xfrm>
          <a:prstGeom prst="roundRect">
            <a:avLst>
              <a:gd name="adj" fmla="val 16000"/>
            </a:avLst>
          </a:prstGeom>
          <a:solidFill>
            <a:srgbClr val="F0F2F8"/>
          </a:solidFill>
          <a:ln w="12700">
            <a:solidFill>
              <a:srgbClr val="C8D0E8"/>
            </a:solidFill>
            <a:prstDash val="solid"/>
          </a:ln>
        </p:spPr>
      </p:sp>
      <p:sp>
        <p:nvSpPr>
          <p:cNvPr id="24" name="Shape 22"/>
          <p:cNvSpPr/>
          <p:nvPr/>
        </p:nvSpPr>
        <p:spPr>
          <a:xfrm>
            <a:off x="4828032" y="3785616"/>
            <a:ext cx="256032" cy="256032"/>
          </a:xfrm>
          <a:prstGeom prst="roundRect">
            <a:avLst>
              <a:gd name="adj" fmla="val 14286"/>
            </a:avLst>
          </a:prstGeom>
          <a:solidFill>
            <a:srgbClr val="55C8E8"/>
          </a:solidFill>
          <a:ln w="12700">
            <a:solidFill>
              <a:srgbClr val="55C8E8"/>
            </a:solidFill>
            <a:prstDash val="solid"/>
          </a:ln>
        </p:spPr>
      </p:sp>
      <p:sp>
        <p:nvSpPr>
          <p:cNvPr id="25" name="Text 23"/>
          <p:cNvSpPr/>
          <p:nvPr/>
        </p:nvSpPr>
        <p:spPr>
          <a:xfrm>
            <a:off x="4828032" y="37856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24"/>
          <p:cNvSpPr/>
          <p:nvPr/>
        </p:nvSpPr>
        <p:spPr>
          <a:xfrm>
            <a:off x="5138928" y="3758184"/>
            <a:ext cx="3364992" cy="402336"/>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Test what roots reveal</a:t>
            </a:r>
            <a:endParaRPr lang="en-US" sz="1100" dirty="0"/>
          </a:p>
        </p:txBody>
      </p:sp>
      <p:sp>
        <p:nvSpPr>
          <p:cNvPr id="27" name="Shape 25"/>
          <p:cNvSpPr/>
          <p:nvPr/>
        </p:nvSpPr>
        <p:spPr>
          <a:xfrm>
            <a:off x="4754880" y="4261104"/>
            <a:ext cx="3840480" cy="457200"/>
          </a:xfrm>
          <a:prstGeom prst="roundRect">
            <a:avLst>
              <a:gd name="adj" fmla="val 16000"/>
            </a:avLst>
          </a:prstGeom>
          <a:solidFill>
            <a:srgbClr val="F0F2F8"/>
          </a:solidFill>
          <a:ln w="12700">
            <a:solidFill>
              <a:srgbClr val="C8D0E8"/>
            </a:solidFill>
            <a:prstDash val="solid"/>
          </a:ln>
        </p:spPr>
      </p:sp>
      <p:sp>
        <p:nvSpPr>
          <p:cNvPr id="28" name="Shape 26"/>
          <p:cNvSpPr/>
          <p:nvPr/>
        </p:nvSpPr>
        <p:spPr>
          <a:xfrm>
            <a:off x="4828032" y="4315968"/>
            <a:ext cx="256032" cy="256032"/>
          </a:xfrm>
          <a:prstGeom prst="roundRect">
            <a:avLst>
              <a:gd name="adj" fmla="val 14286"/>
            </a:avLst>
          </a:prstGeom>
          <a:solidFill>
            <a:srgbClr val="55C8E8"/>
          </a:solidFill>
          <a:ln w="12700">
            <a:solidFill>
              <a:srgbClr val="55C8E8"/>
            </a:solidFill>
            <a:prstDash val="solid"/>
          </a:ln>
        </p:spPr>
      </p:sp>
      <p:sp>
        <p:nvSpPr>
          <p:cNvPr id="29" name="Text 27"/>
          <p:cNvSpPr/>
          <p:nvPr/>
        </p:nvSpPr>
        <p:spPr>
          <a:xfrm>
            <a:off x="4828032" y="43159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138928" y="4288536"/>
            <a:ext cx="3364992" cy="402336"/>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Write your Curator's Notebook entry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ROOT CLUE #1  |  HISTORY</a:t>
            </a:r>
            <a:endParaRPr lang="en-US" sz="900" dirty="0"/>
          </a:p>
        </p:txBody>
      </p:sp>
      <p:sp>
        <p:nvSpPr>
          <p:cNvPr id="4" name="Text 2"/>
          <p:cNvSpPr/>
          <p:nvPr/>
        </p:nvSpPr>
        <p:spPr>
          <a:xfrm>
            <a:off x="457200" y="365760"/>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Look carefully. What do you see? What do you think?</a:t>
            </a:r>
            <a:endParaRPr lang="en-US" sz="1100" dirty="0"/>
          </a:p>
        </p:txBody>
      </p:sp>
      <p:sp>
        <p:nvSpPr>
          <p:cNvPr id="5" name="Shape 3"/>
          <p:cNvSpPr/>
          <p:nvPr/>
        </p:nvSpPr>
        <p:spPr>
          <a:xfrm>
            <a:off x="365760" y="777240"/>
            <a:ext cx="4114800" cy="2788920"/>
          </a:xfrm>
          <a:prstGeom prst="roundRect">
            <a:avLst>
              <a:gd name="adj" fmla="val 3934"/>
            </a:avLst>
          </a:prstGeom>
          <a:solidFill>
            <a:srgbClr val="E2E8F4"/>
          </a:solidFill>
          <a:ln w="19050">
            <a:solidFill>
              <a:srgbClr val="B0B8CC"/>
            </a:solidFill>
            <a:prstDash val="dash"/>
          </a:ln>
        </p:spPr>
      </p:sp>
      <p:sp>
        <p:nvSpPr>
          <p:cNvPr id="6" name="Text 4"/>
          <p:cNvSpPr/>
          <p:nvPr/>
        </p:nvSpPr>
        <p:spPr>
          <a:xfrm>
            <a:off x="365760" y="77724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51560"/>
            <a:ext cx="3840480" cy="2423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Greek scholar studying scrolls, or a carved stone inscription showing the word HISTOR in ancient Greek script, warm golden museum lighting, artifact style</a:t>
            </a:r>
            <a:endParaRPr lang="en-US" sz="1100" dirty="0"/>
          </a:p>
        </p:txBody>
      </p:sp>
      <p:sp>
        <p:nvSpPr>
          <p:cNvPr id="8" name="Shape 6"/>
          <p:cNvSpPr/>
          <p:nvPr/>
        </p:nvSpPr>
        <p:spPr>
          <a:xfrm>
            <a:off x="4663440" y="777240"/>
            <a:ext cx="3931920" cy="1417320"/>
          </a:xfrm>
          <a:prstGeom prst="roundRect">
            <a:avLst>
              <a:gd name="adj" fmla="val 7742"/>
            </a:avLst>
          </a:prstGeom>
          <a:solidFill>
            <a:srgbClr val="F0E8FF"/>
          </a:solidFill>
          <a:ln w="25400">
            <a:solidFill>
              <a:srgbClr val="8B6FC0"/>
            </a:solidFill>
            <a:prstDash val="solid"/>
          </a:ln>
        </p:spPr>
      </p:sp>
      <p:sp>
        <p:nvSpPr>
          <p:cNvPr id="9" name="Text 7"/>
          <p:cNvSpPr/>
          <p:nvPr/>
        </p:nvSpPr>
        <p:spPr>
          <a:xfrm>
            <a:off x="4828032" y="841248"/>
            <a:ext cx="3602736"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ANCIENT ROOT CLUE</a:t>
            </a:r>
            <a:endParaRPr lang="en-US" sz="900" dirty="0"/>
          </a:p>
        </p:txBody>
      </p:sp>
      <p:sp>
        <p:nvSpPr>
          <p:cNvPr id="10" name="Text 8"/>
          <p:cNvSpPr/>
          <p:nvPr/>
        </p:nvSpPr>
        <p:spPr>
          <a:xfrm>
            <a:off x="4663440" y="1097280"/>
            <a:ext cx="3931920" cy="685800"/>
          </a:xfrm>
          <a:prstGeom prst="rect">
            <a:avLst/>
          </a:prstGeom>
          <a:noFill/>
          <a:ln/>
        </p:spPr>
        <p:txBody>
          <a:bodyPr wrap="square" lIns="0" tIns="0" rIns="0" bIns="0" rtlCol="0" anchor="ctr"/>
          <a:lstStyle/>
          <a:p>
            <a:pPr algn="ctr" indent="0" marL="0">
              <a:buNone/>
            </a:pPr>
            <a:r>
              <a:rPr lang="en-US" sz="4800" b="1" dirty="0">
                <a:solidFill>
                  <a:srgbClr val="8B6FC0"/>
                </a:solidFill>
                <a:latin typeface="Cambria" pitchFamily="34" charset="0"/>
                <a:ea typeface="Cambria" pitchFamily="34" charset="-122"/>
                <a:cs typeface="Cambria" pitchFamily="34" charset="-120"/>
              </a:rPr>
              <a:t>histor</a:t>
            </a:r>
            <a:endParaRPr lang="en-US" sz="4800" dirty="0"/>
          </a:p>
        </p:txBody>
      </p:sp>
      <p:sp>
        <p:nvSpPr>
          <p:cNvPr id="11" name="Text 9"/>
          <p:cNvSpPr/>
          <p:nvPr/>
        </p:nvSpPr>
        <p:spPr>
          <a:xfrm>
            <a:off x="4828032" y="1828800"/>
            <a:ext cx="3602736" cy="256032"/>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Greek)</a:t>
            </a:r>
            <a:endParaRPr lang="en-US" sz="1100" dirty="0"/>
          </a:p>
        </p:txBody>
      </p:sp>
      <p:sp>
        <p:nvSpPr>
          <p:cNvPr id="12" name="Shape 10"/>
          <p:cNvSpPr/>
          <p:nvPr/>
        </p:nvSpPr>
        <p:spPr>
          <a:xfrm>
            <a:off x="4663440" y="2304288"/>
            <a:ext cx="3931920" cy="658368"/>
          </a:xfrm>
          <a:prstGeom prst="roundRect">
            <a:avLst>
              <a:gd name="adj" fmla="val 13889"/>
            </a:avLst>
          </a:prstGeom>
          <a:solidFill>
            <a:srgbClr val="F0F2F8"/>
          </a:solidFill>
          <a:ln w="12700">
            <a:solidFill>
              <a:srgbClr val="C8D0E8"/>
            </a:solidFill>
            <a:prstDash val="solid"/>
          </a:ln>
        </p:spPr>
      </p:sp>
      <p:sp>
        <p:nvSpPr>
          <p:cNvPr id="13" name="Text 11"/>
          <p:cNvSpPr/>
          <p:nvPr/>
        </p:nvSpPr>
        <p:spPr>
          <a:xfrm>
            <a:off x="4800600" y="2350008"/>
            <a:ext cx="3657600" cy="566928"/>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Hint: Think about the word HISTORY. What is a historian's special skill or job?</a:t>
            </a:r>
            <a:endParaRPr lang="en-US" sz="1100" dirty="0"/>
          </a:p>
        </p:txBody>
      </p:sp>
      <p:sp>
        <p:nvSpPr>
          <p:cNvPr id="14" name="Shape 12"/>
          <p:cNvSpPr/>
          <p:nvPr/>
        </p:nvSpPr>
        <p:spPr>
          <a:xfrm>
            <a:off x="365760" y="3675888"/>
            <a:ext cx="5029200" cy="1115568"/>
          </a:xfrm>
          <a:prstGeom prst="roundRect">
            <a:avLst>
              <a:gd name="adj" fmla="val 12295"/>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48640" y="376732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48640" y="4023360"/>
            <a:ext cx="4663440" cy="6766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'histor' might mean in Ancient Greek?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clues can you find inside the word 'history'?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 historian DO -- what is their special skill?</a:t>
            </a:r>
            <a:endParaRPr lang="en-US" sz="1100" dirty="0"/>
          </a:p>
        </p:txBody>
      </p:sp>
      <p:sp>
        <p:nvSpPr>
          <p:cNvPr id="17" name="Shape 15"/>
          <p:cNvSpPr/>
          <p:nvPr/>
        </p:nvSpPr>
        <p:spPr>
          <a:xfrm>
            <a:off x="5532120" y="3675888"/>
            <a:ext cx="3246120" cy="1115568"/>
          </a:xfrm>
          <a:prstGeom prst="roundRect">
            <a:avLst>
              <a:gd name="adj" fmla="val 9836"/>
            </a:avLst>
          </a:prstGeom>
          <a:solidFill>
            <a:srgbClr val="FFF3DC"/>
          </a:solidFill>
          <a:ln w="19050">
            <a:solidFill>
              <a:srgbClr val="F5E6C8"/>
            </a:solidFill>
            <a:prstDash val="solid"/>
          </a:ln>
        </p:spPr>
      </p:sp>
      <p:sp>
        <p:nvSpPr>
          <p:cNvPr id="18" name="Text 16"/>
          <p:cNvSpPr/>
          <p:nvPr/>
        </p:nvSpPr>
        <p:spPr>
          <a:xfrm>
            <a:off x="5669280" y="373075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669280" y="3931920"/>
            <a:ext cx="2971800" cy="7955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histor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clue 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56032"/>
            <a:ext cx="8229600" cy="292608"/>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ROOT UNLOCKED!</a:t>
            </a:r>
            <a:endParaRPr lang="en-US" sz="900" dirty="0"/>
          </a:p>
        </p:txBody>
      </p:sp>
      <p:sp>
        <p:nvSpPr>
          <p:cNvPr id="5" name="Shape 3"/>
          <p:cNvSpPr/>
          <p:nvPr/>
        </p:nvSpPr>
        <p:spPr>
          <a:xfrm>
            <a:off x="914400" y="621792"/>
            <a:ext cx="7315200" cy="1965960"/>
          </a:xfrm>
          <a:prstGeom prst="roundRect">
            <a:avLst>
              <a:gd name="adj" fmla="val 6977"/>
            </a:avLst>
          </a:prstGeom>
          <a:solidFill>
            <a:srgbClr val="1A2D5A"/>
          </a:solidFill>
          <a:ln w="25400">
            <a:solidFill>
              <a:srgbClr val="8B6FC0"/>
            </a:solidFill>
            <a:prstDash val="solid"/>
          </a:ln>
        </p:spPr>
      </p:sp>
      <p:sp>
        <p:nvSpPr>
          <p:cNvPr id="6" name="Text 4"/>
          <p:cNvSpPr/>
          <p:nvPr/>
        </p:nvSpPr>
        <p:spPr>
          <a:xfrm>
            <a:off x="1097280" y="731520"/>
            <a:ext cx="2926080" cy="841248"/>
          </a:xfrm>
          <a:prstGeom prst="rect">
            <a:avLst/>
          </a:prstGeom>
          <a:noFill/>
          <a:ln/>
        </p:spPr>
        <p:txBody>
          <a:bodyPr wrap="square" lIns="0" tIns="0" rIns="0" bIns="0" rtlCol="0" anchor="ctr"/>
          <a:lstStyle/>
          <a:p>
            <a:pPr algn="ctr" indent="0" marL="0">
              <a:buNone/>
            </a:pPr>
            <a:r>
              <a:rPr lang="en-US" sz="5200" b="1" dirty="0">
                <a:solidFill>
                  <a:srgbClr val="8B6FC0"/>
                </a:solidFill>
                <a:latin typeface="Cambria" pitchFamily="34" charset="0"/>
                <a:ea typeface="Cambria" pitchFamily="34" charset="-122"/>
                <a:cs typeface="Cambria" pitchFamily="34" charset="-120"/>
              </a:rPr>
              <a:t>histor</a:t>
            </a:r>
            <a:endParaRPr lang="en-US" sz="5200" dirty="0"/>
          </a:p>
        </p:txBody>
      </p:sp>
      <p:sp>
        <p:nvSpPr>
          <p:cNvPr id="7" name="Shape 5"/>
          <p:cNvSpPr/>
          <p:nvPr/>
        </p:nvSpPr>
        <p:spPr>
          <a:xfrm>
            <a:off x="4069080" y="1115568"/>
            <a:ext cx="685800" cy="0"/>
          </a:xfrm>
          <a:prstGeom prst="line">
            <a:avLst/>
          </a:prstGeom>
          <a:noFill/>
          <a:ln w="25400">
            <a:solidFill>
              <a:srgbClr val="D4943A"/>
            </a:solidFill>
            <a:prstDash val="solid"/>
          </a:ln>
        </p:spPr>
      </p:sp>
      <p:sp>
        <p:nvSpPr>
          <p:cNvPr id="8" name="Text 6"/>
          <p:cNvSpPr/>
          <p:nvPr/>
        </p:nvSpPr>
        <p:spPr>
          <a:xfrm>
            <a:off x="4617720" y="731520"/>
            <a:ext cx="3429000" cy="841248"/>
          </a:xfrm>
          <a:prstGeom prst="rect">
            <a:avLst/>
          </a:prstGeom>
          <a:noFill/>
          <a:ln/>
        </p:spPr>
        <p:txBody>
          <a:bodyPr wrap="square" lIns="0" tIns="0" rIns="0" bIns="0" rtlCol="0" anchor="ctr"/>
          <a:lstStyle/>
          <a:p>
            <a:pPr algn="l" indent="0" marL="0">
              <a:buNone/>
            </a:pPr>
            <a:r>
              <a:rPr lang="en-US" sz="3000" b="1" dirty="0">
                <a:solidFill>
                  <a:srgbClr val="D4943A"/>
                </a:solidFill>
                <a:latin typeface="Cambria" pitchFamily="34" charset="0"/>
                <a:ea typeface="Cambria" pitchFamily="34" charset="-122"/>
                <a:cs typeface="Cambria" pitchFamily="34" charset="-120"/>
              </a:rPr>
              <a:t>one who knows</a:t>
            </a:r>
            <a:endParaRPr lang="en-US" sz="3000" dirty="0"/>
          </a:p>
        </p:txBody>
      </p:sp>
      <p:sp>
        <p:nvSpPr>
          <p:cNvPr id="9" name="Text 7"/>
          <p:cNvSpPr/>
          <p:nvPr/>
        </p:nvSpPr>
        <p:spPr>
          <a:xfrm>
            <a:off x="1097280" y="1600200"/>
            <a:ext cx="6949440" cy="475488"/>
          </a:xfrm>
          <a:prstGeom prst="rect">
            <a:avLst/>
          </a:prstGeom>
          <a:noFill/>
          <a:ln/>
        </p:spPr>
        <p:txBody>
          <a:bodyPr wrap="square" lIns="0" tIns="0" rIns="0" bIns="0"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A HISTORIAN is a person who KNOWS about the past.</a:t>
            </a:r>
            <a:endParaRPr lang="en-US" sz="1500" dirty="0"/>
          </a:p>
        </p:txBody>
      </p:sp>
      <p:sp>
        <p:nvSpPr>
          <p:cNvPr id="10" name="Text 8"/>
          <p:cNvSpPr/>
          <p:nvPr/>
        </p:nvSpPr>
        <p:spPr>
          <a:xfrm>
            <a:off x="457200" y="2761488"/>
            <a:ext cx="8229600" cy="292608"/>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Related Words You Now Understand:</a:t>
            </a:r>
            <a:endParaRPr lang="en-US" sz="1100" dirty="0"/>
          </a:p>
        </p:txBody>
      </p:sp>
      <p:sp>
        <p:nvSpPr>
          <p:cNvPr id="11" name="Shape 9"/>
          <p:cNvSpPr/>
          <p:nvPr/>
        </p:nvSpPr>
        <p:spPr>
          <a:xfrm>
            <a:off x="457200" y="3127248"/>
            <a:ext cx="2578608" cy="841248"/>
          </a:xfrm>
          <a:prstGeom prst="roundRect">
            <a:avLst>
              <a:gd name="adj" fmla="val 10870"/>
            </a:avLst>
          </a:prstGeom>
          <a:solidFill>
            <a:srgbClr val="1A2D5A"/>
          </a:solidFill>
          <a:ln w="12700">
            <a:solidFill>
              <a:srgbClr val="8B6FC0"/>
            </a:solidFill>
            <a:prstDash val="solid"/>
          </a:ln>
        </p:spPr>
      </p:sp>
      <p:sp>
        <p:nvSpPr>
          <p:cNvPr id="12" name="Text 10"/>
          <p:cNvSpPr/>
          <p:nvPr/>
        </p:nvSpPr>
        <p:spPr>
          <a:xfrm>
            <a:off x="457200" y="3163824"/>
            <a:ext cx="2578608" cy="365760"/>
          </a:xfrm>
          <a:prstGeom prst="rect">
            <a:avLst/>
          </a:prstGeom>
          <a:noFill/>
          <a:ln/>
        </p:spPr>
        <p:txBody>
          <a:bodyPr wrap="square" lIns="0" tIns="0" rIns="0" bIns="0" rtlCol="0" anchor="ctr"/>
          <a:lstStyle/>
          <a:p>
            <a:pPr algn="ctr" indent="0" marL="0">
              <a:buNone/>
            </a:pPr>
            <a:r>
              <a:rPr lang="en-US" sz="1600" b="1" dirty="0">
                <a:solidFill>
                  <a:srgbClr val="8B6FC0"/>
                </a:solidFill>
                <a:latin typeface="Cambria" pitchFamily="34" charset="0"/>
                <a:ea typeface="Cambria" pitchFamily="34" charset="-122"/>
                <a:cs typeface="Cambria" pitchFamily="34" charset="-120"/>
              </a:rPr>
              <a:t>historian</a:t>
            </a:r>
            <a:endParaRPr lang="en-US" sz="1600" dirty="0"/>
          </a:p>
        </p:txBody>
      </p:sp>
      <p:sp>
        <p:nvSpPr>
          <p:cNvPr id="13" name="Text 11"/>
          <p:cNvSpPr/>
          <p:nvPr/>
        </p:nvSpPr>
        <p:spPr>
          <a:xfrm>
            <a:off x="457200" y="3529584"/>
            <a:ext cx="2578608" cy="347472"/>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one who knows the past</a:t>
            </a:r>
            <a:endParaRPr lang="en-US" sz="1000" dirty="0"/>
          </a:p>
        </p:txBody>
      </p:sp>
      <p:sp>
        <p:nvSpPr>
          <p:cNvPr id="14" name="Shape 12"/>
          <p:cNvSpPr/>
          <p:nvPr/>
        </p:nvSpPr>
        <p:spPr>
          <a:xfrm>
            <a:off x="3246120" y="3127248"/>
            <a:ext cx="2578608" cy="841248"/>
          </a:xfrm>
          <a:prstGeom prst="roundRect">
            <a:avLst>
              <a:gd name="adj" fmla="val 10870"/>
            </a:avLst>
          </a:prstGeom>
          <a:solidFill>
            <a:srgbClr val="1A2D5A"/>
          </a:solidFill>
          <a:ln w="12700">
            <a:solidFill>
              <a:srgbClr val="8B6FC0"/>
            </a:solidFill>
            <a:prstDash val="solid"/>
          </a:ln>
        </p:spPr>
      </p:sp>
      <p:sp>
        <p:nvSpPr>
          <p:cNvPr id="15" name="Text 13"/>
          <p:cNvSpPr/>
          <p:nvPr/>
        </p:nvSpPr>
        <p:spPr>
          <a:xfrm>
            <a:off x="3246120" y="3163824"/>
            <a:ext cx="2578608" cy="365760"/>
          </a:xfrm>
          <a:prstGeom prst="rect">
            <a:avLst/>
          </a:prstGeom>
          <a:noFill/>
          <a:ln/>
        </p:spPr>
        <p:txBody>
          <a:bodyPr wrap="square" lIns="0" tIns="0" rIns="0" bIns="0" rtlCol="0" anchor="ctr"/>
          <a:lstStyle/>
          <a:p>
            <a:pPr algn="ctr" indent="0" marL="0">
              <a:buNone/>
            </a:pPr>
            <a:r>
              <a:rPr lang="en-US" sz="1600" b="1" dirty="0">
                <a:solidFill>
                  <a:srgbClr val="8B6FC0"/>
                </a:solidFill>
                <a:latin typeface="Cambria" pitchFamily="34" charset="0"/>
                <a:ea typeface="Cambria" pitchFamily="34" charset="-122"/>
                <a:cs typeface="Cambria" pitchFamily="34" charset="-120"/>
              </a:rPr>
              <a:t>historical</a:t>
            </a:r>
            <a:endParaRPr lang="en-US" sz="1600" dirty="0"/>
          </a:p>
        </p:txBody>
      </p:sp>
      <p:sp>
        <p:nvSpPr>
          <p:cNvPr id="16" name="Text 14"/>
          <p:cNvSpPr/>
          <p:nvPr/>
        </p:nvSpPr>
        <p:spPr>
          <a:xfrm>
            <a:off x="3246120" y="3529584"/>
            <a:ext cx="2578608" cy="347472"/>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connected to past events</a:t>
            </a:r>
            <a:endParaRPr lang="en-US" sz="1000" dirty="0"/>
          </a:p>
        </p:txBody>
      </p:sp>
      <p:sp>
        <p:nvSpPr>
          <p:cNvPr id="17" name="Shape 15"/>
          <p:cNvSpPr/>
          <p:nvPr/>
        </p:nvSpPr>
        <p:spPr>
          <a:xfrm>
            <a:off x="6035040" y="3127248"/>
            <a:ext cx="2578608" cy="841248"/>
          </a:xfrm>
          <a:prstGeom prst="roundRect">
            <a:avLst>
              <a:gd name="adj" fmla="val 10870"/>
            </a:avLst>
          </a:prstGeom>
          <a:solidFill>
            <a:srgbClr val="1A2D5A"/>
          </a:solidFill>
          <a:ln w="12700">
            <a:solidFill>
              <a:srgbClr val="8B6FC0"/>
            </a:solidFill>
            <a:prstDash val="solid"/>
          </a:ln>
        </p:spPr>
      </p:sp>
      <p:sp>
        <p:nvSpPr>
          <p:cNvPr id="18" name="Text 16"/>
          <p:cNvSpPr/>
          <p:nvPr/>
        </p:nvSpPr>
        <p:spPr>
          <a:xfrm>
            <a:off x="6035040" y="3163824"/>
            <a:ext cx="2578608" cy="365760"/>
          </a:xfrm>
          <a:prstGeom prst="rect">
            <a:avLst/>
          </a:prstGeom>
          <a:noFill/>
          <a:ln/>
        </p:spPr>
        <p:txBody>
          <a:bodyPr wrap="square" lIns="0" tIns="0" rIns="0" bIns="0" rtlCol="0" anchor="ctr"/>
          <a:lstStyle/>
          <a:p>
            <a:pPr algn="ctr" indent="0" marL="0">
              <a:buNone/>
            </a:pPr>
            <a:r>
              <a:rPr lang="en-US" sz="1600" b="1" dirty="0">
                <a:solidFill>
                  <a:srgbClr val="8B6FC0"/>
                </a:solidFill>
                <a:latin typeface="Cambria" pitchFamily="34" charset="0"/>
                <a:ea typeface="Cambria" pitchFamily="34" charset="-122"/>
                <a:cs typeface="Cambria" pitchFamily="34" charset="-120"/>
              </a:rPr>
              <a:t>prehistoric</a:t>
            </a:r>
            <a:endParaRPr lang="en-US" sz="1600" dirty="0"/>
          </a:p>
        </p:txBody>
      </p:sp>
      <p:sp>
        <p:nvSpPr>
          <p:cNvPr id="19" name="Text 17"/>
          <p:cNvSpPr/>
          <p:nvPr/>
        </p:nvSpPr>
        <p:spPr>
          <a:xfrm>
            <a:off x="6035040" y="3529584"/>
            <a:ext cx="2578608" cy="347472"/>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before recorded history</a:t>
            </a:r>
            <a:endParaRPr lang="en-US" sz="1000" dirty="0"/>
          </a:p>
        </p:txBody>
      </p:sp>
      <p:sp>
        <p:nvSpPr>
          <p:cNvPr id="20" name="Text 18"/>
          <p:cNvSpPr/>
          <p:nvPr/>
        </p:nvSpPr>
        <p:spPr>
          <a:xfrm>
            <a:off x="457200" y="4114800"/>
            <a:ext cx="8229600" cy="329184"/>
          </a:xfrm>
          <a:prstGeom prst="rect">
            <a:avLst/>
          </a:prstGeom>
          <a:noFill/>
          <a:ln/>
        </p:spPr>
        <p:txBody>
          <a:bodyPr wrap="square" lIns="0" tIns="0" rIns="0" bIns="0" rtlCol="0" anchor="ctr"/>
          <a:lstStyle/>
          <a:p>
            <a:pPr algn="ctr" indent="0" marL="0">
              <a:buNone/>
            </a:pPr>
            <a:r>
              <a:rPr lang="en-US" sz="1200" i="1" dirty="0">
                <a:solidFill>
                  <a:srgbClr val="55C8E8"/>
                </a:solidFill>
                <a:latin typeface="Calibri" pitchFamily="34" charset="0"/>
                <a:ea typeface="Calibri" pitchFamily="34" charset="-122"/>
                <a:cs typeface="Calibri" pitchFamily="34" charset="-120"/>
              </a:rPr>
              <a:t>Histor = one who knows  -&gt;  history is the record kept by those who know!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ROOT CLUE #2  |  GEOGRAPHY</a:t>
            </a:r>
            <a:endParaRPr lang="en-US" sz="900" dirty="0"/>
          </a:p>
        </p:txBody>
      </p:sp>
      <p:sp>
        <p:nvSpPr>
          <p:cNvPr id="4" name="Text 2"/>
          <p:cNvSpPr/>
          <p:nvPr/>
        </p:nvSpPr>
        <p:spPr>
          <a:xfrm>
            <a:off x="457200" y="365760"/>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Two roots. Two clues. What does each one mean?</a:t>
            </a:r>
            <a:endParaRPr lang="en-US" sz="1100" dirty="0"/>
          </a:p>
        </p:txBody>
      </p:sp>
      <p:sp>
        <p:nvSpPr>
          <p:cNvPr id="5" name="Shape 3"/>
          <p:cNvSpPr/>
          <p:nvPr/>
        </p:nvSpPr>
        <p:spPr>
          <a:xfrm>
            <a:off x="365760" y="777240"/>
            <a:ext cx="4114800" cy="2788920"/>
          </a:xfrm>
          <a:prstGeom prst="roundRect">
            <a:avLst>
              <a:gd name="adj" fmla="val 3934"/>
            </a:avLst>
          </a:prstGeom>
          <a:solidFill>
            <a:srgbClr val="E2E8F4"/>
          </a:solidFill>
          <a:ln w="19050">
            <a:solidFill>
              <a:srgbClr val="B0B8CC"/>
            </a:solidFill>
            <a:prstDash val="dash"/>
          </a:ln>
        </p:spPr>
      </p:sp>
      <p:sp>
        <p:nvSpPr>
          <p:cNvPr id="6" name="Text 4"/>
          <p:cNvSpPr/>
          <p:nvPr/>
        </p:nvSpPr>
        <p:spPr>
          <a:xfrm>
            <a:off x="365760" y="77724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51560"/>
            <a:ext cx="3840480" cy="2423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 antique world map alongside an ancient writing quill on a museum table -- two separate artifacts side by side, symbolizing 'earth' and 'writing' separately, warm golden light</a:t>
            </a:r>
            <a:endParaRPr lang="en-US" sz="1100" dirty="0"/>
          </a:p>
        </p:txBody>
      </p:sp>
      <p:sp>
        <p:nvSpPr>
          <p:cNvPr id="8" name="Shape 6"/>
          <p:cNvSpPr/>
          <p:nvPr/>
        </p:nvSpPr>
        <p:spPr>
          <a:xfrm>
            <a:off x="4663440" y="777240"/>
            <a:ext cx="3931920" cy="1078992"/>
          </a:xfrm>
          <a:prstGeom prst="roundRect">
            <a:avLst>
              <a:gd name="adj" fmla="val 10169"/>
            </a:avLst>
          </a:prstGeom>
          <a:solidFill>
            <a:srgbClr val="EAF8FD"/>
          </a:solidFill>
          <a:ln w="25400">
            <a:solidFill>
              <a:srgbClr val="55C8E8"/>
            </a:solidFill>
            <a:prstDash val="solid"/>
          </a:ln>
        </p:spPr>
      </p:sp>
      <p:sp>
        <p:nvSpPr>
          <p:cNvPr id="9" name="Text 7"/>
          <p:cNvSpPr/>
          <p:nvPr/>
        </p:nvSpPr>
        <p:spPr>
          <a:xfrm>
            <a:off x="4828032" y="841248"/>
            <a:ext cx="3602736"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CLUE #1</a:t>
            </a:r>
            <a:endParaRPr lang="en-US" sz="900" dirty="0"/>
          </a:p>
        </p:txBody>
      </p:sp>
      <p:sp>
        <p:nvSpPr>
          <p:cNvPr id="10" name="Text 8"/>
          <p:cNvSpPr/>
          <p:nvPr/>
        </p:nvSpPr>
        <p:spPr>
          <a:xfrm>
            <a:off x="4663440" y="1024128"/>
            <a:ext cx="3931920" cy="566928"/>
          </a:xfrm>
          <a:prstGeom prst="rect">
            <a:avLst/>
          </a:prstGeom>
          <a:noFill/>
          <a:ln/>
        </p:spPr>
        <p:txBody>
          <a:bodyPr wrap="square" lIns="0" tIns="0" rIns="0" bIns="0" rtlCol="0" anchor="ctr"/>
          <a:lstStyle/>
          <a:p>
            <a:pPr algn="ctr" indent="0" marL="0">
              <a:buNone/>
            </a:pPr>
            <a:r>
              <a:rPr lang="en-US" sz="4200" b="1" dirty="0">
                <a:solidFill>
                  <a:srgbClr val="1A8A7D"/>
                </a:solidFill>
                <a:latin typeface="Cambria" pitchFamily="34" charset="0"/>
                <a:ea typeface="Cambria" pitchFamily="34" charset="-122"/>
                <a:cs typeface="Cambria" pitchFamily="34" charset="-120"/>
              </a:rPr>
              <a:t>geo</a:t>
            </a:r>
            <a:endParaRPr lang="en-US" sz="4200" dirty="0"/>
          </a:p>
        </p:txBody>
      </p:sp>
      <p:sp>
        <p:nvSpPr>
          <p:cNvPr id="11" name="Shape 9"/>
          <p:cNvSpPr/>
          <p:nvPr/>
        </p:nvSpPr>
        <p:spPr>
          <a:xfrm>
            <a:off x="4663440" y="1938528"/>
            <a:ext cx="3931920" cy="1078992"/>
          </a:xfrm>
          <a:prstGeom prst="roundRect">
            <a:avLst>
              <a:gd name="adj" fmla="val 10169"/>
            </a:avLst>
          </a:prstGeom>
          <a:solidFill>
            <a:srgbClr val="FFF3DC"/>
          </a:solidFill>
          <a:ln w="25400">
            <a:solidFill>
              <a:srgbClr val="D4943A"/>
            </a:solidFill>
            <a:prstDash val="solid"/>
          </a:ln>
        </p:spPr>
      </p:sp>
      <p:sp>
        <p:nvSpPr>
          <p:cNvPr id="12" name="Text 10"/>
          <p:cNvSpPr/>
          <p:nvPr/>
        </p:nvSpPr>
        <p:spPr>
          <a:xfrm>
            <a:off x="4828032" y="1993392"/>
            <a:ext cx="3602736"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CLUE #2</a:t>
            </a:r>
            <a:endParaRPr lang="en-US" sz="900" dirty="0"/>
          </a:p>
        </p:txBody>
      </p:sp>
      <p:sp>
        <p:nvSpPr>
          <p:cNvPr id="13" name="Text 11"/>
          <p:cNvSpPr/>
          <p:nvPr/>
        </p:nvSpPr>
        <p:spPr>
          <a:xfrm>
            <a:off x="4663440" y="2176272"/>
            <a:ext cx="3931920" cy="566928"/>
          </a:xfrm>
          <a:prstGeom prst="rect">
            <a:avLst/>
          </a:prstGeom>
          <a:noFill/>
          <a:ln/>
        </p:spPr>
        <p:txBody>
          <a:bodyPr wrap="square" lIns="0" tIns="0" rIns="0" bIns="0" rtlCol="0" anchor="ctr"/>
          <a:lstStyle/>
          <a:p>
            <a:pPr algn="ctr" indent="0" marL="0">
              <a:buNone/>
            </a:pPr>
            <a:r>
              <a:rPr lang="en-US" sz="3600" b="1" dirty="0">
                <a:solidFill>
                  <a:srgbClr val="B8730A"/>
                </a:solidFill>
                <a:latin typeface="Cambria" pitchFamily="34" charset="0"/>
                <a:ea typeface="Cambria" pitchFamily="34" charset="-122"/>
                <a:cs typeface="Cambria" pitchFamily="34" charset="-120"/>
              </a:rPr>
              <a:t>graphein</a:t>
            </a:r>
            <a:endParaRPr lang="en-US" sz="3600" dirty="0"/>
          </a:p>
        </p:txBody>
      </p:sp>
      <p:sp>
        <p:nvSpPr>
          <p:cNvPr id="14" name="Shape 12"/>
          <p:cNvSpPr/>
          <p:nvPr/>
        </p:nvSpPr>
        <p:spPr>
          <a:xfrm>
            <a:off x="365760" y="3675888"/>
            <a:ext cx="5029200" cy="1115568"/>
          </a:xfrm>
          <a:prstGeom prst="roundRect">
            <a:avLst>
              <a:gd name="adj" fmla="val 12295"/>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48640" y="376732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48640" y="4023360"/>
            <a:ext cx="4663440" cy="6766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These are TWO roots combined. What might each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Think about the word geography -- what do geographers study?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think of any other words that start with geo-?</a:t>
            </a:r>
            <a:endParaRPr lang="en-US" sz="1100" dirty="0"/>
          </a:p>
        </p:txBody>
      </p:sp>
      <p:sp>
        <p:nvSpPr>
          <p:cNvPr id="17" name="Shape 15"/>
          <p:cNvSpPr/>
          <p:nvPr/>
        </p:nvSpPr>
        <p:spPr>
          <a:xfrm>
            <a:off x="5532120" y="3675888"/>
            <a:ext cx="3246120" cy="1115568"/>
          </a:xfrm>
          <a:prstGeom prst="roundRect">
            <a:avLst>
              <a:gd name="adj" fmla="val 9836"/>
            </a:avLst>
          </a:prstGeom>
          <a:solidFill>
            <a:srgbClr val="FFF3DC"/>
          </a:solidFill>
          <a:ln w="19050">
            <a:solidFill>
              <a:srgbClr val="F5E6C8"/>
            </a:solidFill>
            <a:prstDash val="solid"/>
          </a:ln>
        </p:spPr>
      </p:sp>
      <p:sp>
        <p:nvSpPr>
          <p:cNvPr id="18" name="Text 16"/>
          <p:cNvSpPr/>
          <p:nvPr/>
        </p:nvSpPr>
        <p:spPr>
          <a:xfrm>
            <a:off x="5669280" y="373075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669280" y="3931920"/>
            <a:ext cx="2971800" cy="7955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geo means... and graphein means..."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56032"/>
            <a:ext cx="8229600" cy="292608"/>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ROOT UNLOCKED!</a:t>
            </a:r>
            <a:endParaRPr lang="en-US" sz="900" dirty="0"/>
          </a:p>
        </p:txBody>
      </p:sp>
      <p:sp>
        <p:nvSpPr>
          <p:cNvPr id="5" name="Shape 3"/>
          <p:cNvSpPr/>
          <p:nvPr/>
        </p:nvSpPr>
        <p:spPr>
          <a:xfrm>
            <a:off x="457200" y="621792"/>
            <a:ext cx="3566160" cy="1828800"/>
          </a:xfrm>
          <a:prstGeom prst="roundRect">
            <a:avLst>
              <a:gd name="adj" fmla="val 6000"/>
            </a:avLst>
          </a:prstGeom>
          <a:solidFill>
            <a:srgbClr val="1A2D5A"/>
          </a:solidFill>
          <a:ln w="25400">
            <a:solidFill>
              <a:srgbClr val="1A8A7D"/>
            </a:solidFill>
            <a:prstDash val="solid"/>
          </a:ln>
        </p:spPr>
      </p:sp>
      <p:sp>
        <p:nvSpPr>
          <p:cNvPr id="6" name="Text 4"/>
          <p:cNvSpPr/>
          <p:nvPr/>
        </p:nvSpPr>
        <p:spPr>
          <a:xfrm>
            <a:off x="457200" y="731520"/>
            <a:ext cx="3566160" cy="777240"/>
          </a:xfrm>
          <a:prstGeom prst="rect">
            <a:avLst/>
          </a:prstGeom>
          <a:noFill/>
          <a:ln/>
        </p:spPr>
        <p:txBody>
          <a:bodyPr wrap="square" lIns="0" tIns="0" rIns="0" bIns="0" rtlCol="0" anchor="ctr"/>
          <a:lstStyle/>
          <a:p>
            <a:pPr algn="ctr" indent="0" marL="0">
              <a:buNone/>
            </a:pPr>
            <a:r>
              <a:rPr lang="en-US" sz="5200" b="1" dirty="0">
                <a:solidFill>
                  <a:srgbClr val="1A8A7D"/>
                </a:solidFill>
                <a:latin typeface="Cambria" pitchFamily="34" charset="0"/>
                <a:ea typeface="Cambria" pitchFamily="34" charset="-122"/>
                <a:cs typeface="Cambria" pitchFamily="34" charset="-120"/>
              </a:rPr>
              <a:t>geo</a:t>
            </a:r>
            <a:endParaRPr lang="en-US" sz="5200" dirty="0"/>
          </a:p>
        </p:txBody>
      </p:sp>
      <p:sp>
        <p:nvSpPr>
          <p:cNvPr id="7" name="Text 5"/>
          <p:cNvSpPr/>
          <p:nvPr/>
        </p:nvSpPr>
        <p:spPr>
          <a:xfrm>
            <a:off x="457200" y="1536192"/>
            <a:ext cx="3566160" cy="384048"/>
          </a:xfrm>
          <a:prstGeom prst="rect">
            <a:avLst/>
          </a:prstGeom>
          <a:noFill/>
          <a:ln/>
        </p:spPr>
        <p:txBody>
          <a:bodyPr wrap="square" lIns="0" tIns="0" rIns="0" bIns="0" rtlCol="0" anchor="ctr"/>
          <a:lstStyle/>
          <a:p>
            <a:pPr algn="ctr" indent="0" marL="0">
              <a:buNone/>
            </a:pPr>
            <a:r>
              <a:rPr lang="en-US" sz="2200" b="1" dirty="0">
                <a:solidFill>
                  <a:srgbClr val="55C8E8"/>
                </a:solidFill>
                <a:latin typeface="Cambria" pitchFamily="34" charset="0"/>
                <a:ea typeface="Cambria" pitchFamily="34" charset="-122"/>
                <a:cs typeface="Cambria" pitchFamily="34" charset="-120"/>
              </a:rPr>
              <a:t>earth</a:t>
            </a:r>
            <a:endParaRPr lang="en-US" sz="2200" dirty="0"/>
          </a:p>
        </p:txBody>
      </p:sp>
      <p:sp>
        <p:nvSpPr>
          <p:cNvPr id="8" name="Text 6"/>
          <p:cNvSpPr/>
          <p:nvPr/>
        </p:nvSpPr>
        <p:spPr>
          <a:xfrm>
            <a:off x="4069080" y="1005840"/>
            <a:ext cx="731520" cy="685800"/>
          </a:xfrm>
          <a:prstGeom prst="rect">
            <a:avLst/>
          </a:prstGeom>
          <a:noFill/>
          <a:ln/>
        </p:spPr>
        <p:txBody>
          <a:bodyPr wrap="square" lIns="0" tIns="0" rIns="0" bIns="0"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a:t>
            </a:r>
            <a:endParaRPr lang="en-US" sz="3600" dirty="0"/>
          </a:p>
        </p:txBody>
      </p:sp>
      <p:sp>
        <p:nvSpPr>
          <p:cNvPr id="9" name="Shape 7"/>
          <p:cNvSpPr/>
          <p:nvPr/>
        </p:nvSpPr>
        <p:spPr>
          <a:xfrm>
            <a:off x="4846320" y="621792"/>
            <a:ext cx="3840480" cy="1828800"/>
          </a:xfrm>
          <a:prstGeom prst="roundRect">
            <a:avLst>
              <a:gd name="adj" fmla="val 6000"/>
            </a:avLst>
          </a:prstGeom>
          <a:solidFill>
            <a:srgbClr val="1A2D5A"/>
          </a:solidFill>
          <a:ln w="25400">
            <a:solidFill>
              <a:srgbClr val="D4943A"/>
            </a:solidFill>
            <a:prstDash val="solid"/>
          </a:ln>
        </p:spPr>
      </p:sp>
      <p:sp>
        <p:nvSpPr>
          <p:cNvPr id="10" name="Text 8"/>
          <p:cNvSpPr/>
          <p:nvPr/>
        </p:nvSpPr>
        <p:spPr>
          <a:xfrm>
            <a:off x="4846320" y="731520"/>
            <a:ext cx="3840480" cy="777240"/>
          </a:xfrm>
          <a:prstGeom prst="rect">
            <a:avLst/>
          </a:prstGeom>
          <a:noFill/>
          <a:ln/>
        </p:spPr>
        <p:txBody>
          <a:bodyPr wrap="square" lIns="0" tIns="0" rIns="0" bIns="0" rtlCol="0" anchor="ctr"/>
          <a:lstStyle/>
          <a:p>
            <a:pPr algn="ctr" indent="0" marL="0">
              <a:buNone/>
            </a:pPr>
            <a:r>
              <a:rPr lang="en-US" sz="4200" b="1" dirty="0">
                <a:solidFill>
                  <a:srgbClr val="D4943A"/>
                </a:solidFill>
                <a:latin typeface="Cambria" pitchFamily="34" charset="0"/>
                <a:ea typeface="Cambria" pitchFamily="34" charset="-122"/>
                <a:cs typeface="Cambria" pitchFamily="34" charset="-120"/>
              </a:rPr>
              <a:t>graphein</a:t>
            </a:r>
            <a:endParaRPr lang="en-US" sz="4200" dirty="0"/>
          </a:p>
        </p:txBody>
      </p:sp>
      <p:sp>
        <p:nvSpPr>
          <p:cNvPr id="11" name="Text 9"/>
          <p:cNvSpPr/>
          <p:nvPr/>
        </p:nvSpPr>
        <p:spPr>
          <a:xfrm>
            <a:off x="4846320" y="1536192"/>
            <a:ext cx="3840480" cy="384048"/>
          </a:xfrm>
          <a:prstGeom prst="rect">
            <a:avLst/>
          </a:prstGeom>
          <a:noFill/>
          <a:ln/>
        </p:spPr>
        <p:txBody>
          <a:bodyPr wrap="square" lIns="0" tIns="0" rIns="0" bIns="0" rtlCol="0" anchor="ctr"/>
          <a:lstStyle/>
          <a:p>
            <a:pPr algn="ctr" indent="0" marL="0">
              <a:buNone/>
            </a:pPr>
            <a:r>
              <a:rPr lang="en-US" sz="2200" b="1" dirty="0">
                <a:solidFill>
                  <a:srgbClr val="55C8E8"/>
                </a:solidFill>
                <a:latin typeface="Cambria" pitchFamily="34" charset="0"/>
                <a:ea typeface="Cambria" pitchFamily="34" charset="-122"/>
                <a:cs typeface="Cambria" pitchFamily="34" charset="-120"/>
              </a:rPr>
              <a:t>to write</a:t>
            </a:r>
            <a:endParaRPr lang="en-US" sz="2200" dirty="0"/>
          </a:p>
        </p:txBody>
      </p:sp>
      <p:sp>
        <p:nvSpPr>
          <p:cNvPr id="12" name="Shape 10"/>
          <p:cNvSpPr/>
          <p:nvPr/>
        </p:nvSpPr>
        <p:spPr>
          <a:xfrm>
            <a:off x="914400" y="2578608"/>
            <a:ext cx="7315200" cy="658368"/>
          </a:xfrm>
          <a:prstGeom prst="roundRect">
            <a:avLst>
              <a:gd name="adj" fmla="val 16667"/>
            </a:avLst>
          </a:prstGeom>
          <a:solidFill>
            <a:srgbClr val="D4943A"/>
          </a:solidFill>
          <a:ln w="12700">
            <a:solidFill>
              <a:srgbClr val="D4943A"/>
            </a:solidFill>
            <a:prstDash val="solid"/>
          </a:ln>
        </p:spPr>
      </p:sp>
      <p:sp>
        <p:nvSpPr>
          <p:cNvPr id="13" name="Text 11"/>
          <p:cNvSpPr/>
          <p:nvPr/>
        </p:nvSpPr>
        <p:spPr>
          <a:xfrm>
            <a:off x="914400" y="2578608"/>
            <a:ext cx="7315200" cy="658368"/>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GEOGRAPHY literally means "EARTH WRITING"</a:t>
            </a:r>
            <a:endParaRPr lang="en-US" sz="2200" dirty="0"/>
          </a:p>
        </p:txBody>
      </p:sp>
      <p:sp>
        <p:nvSpPr>
          <p:cNvPr id="14" name="Shape 12"/>
          <p:cNvSpPr/>
          <p:nvPr/>
        </p:nvSpPr>
        <p:spPr>
          <a:xfrm>
            <a:off x="457200" y="3364992"/>
            <a:ext cx="2578608" cy="804672"/>
          </a:xfrm>
          <a:prstGeom prst="roundRect">
            <a:avLst>
              <a:gd name="adj" fmla="val 11364"/>
            </a:avLst>
          </a:prstGeom>
          <a:solidFill>
            <a:srgbClr val="1A2D5A"/>
          </a:solidFill>
          <a:ln w="12700">
            <a:solidFill>
              <a:srgbClr val="1A8A7D"/>
            </a:solidFill>
            <a:prstDash val="solid"/>
          </a:ln>
        </p:spPr>
      </p:sp>
      <p:sp>
        <p:nvSpPr>
          <p:cNvPr id="15" name="Text 13"/>
          <p:cNvSpPr/>
          <p:nvPr/>
        </p:nvSpPr>
        <p:spPr>
          <a:xfrm>
            <a:off x="457200" y="3401568"/>
            <a:ext cx="2578608" cy="347472"/>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geology</a:t>
            </a:r>
            <a:endParaRPr lang="en-US" sz="1400" dirty="0"/>
          </a:p>
        </p:txBody>
      </p:sp>
      <p:sp>
        <p:nvSpPr>
          <p:cNvPr id="16" name="Text 14"/>
          <p:cNvSpPr/>
          <p:nvPr/>
        </p:nvSpPr>
        <p:spPr>
          <a:xfrm>
            <a:off x="457200" y="3749040"/>
            <a:ext cx="2578608" cy="347472"/>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geo = earth  |  study of rocks</a:t>
            </a:r>
            <a:endParaRPr lang="en-US" sz="900" dirty="0"/>
          </a:p>
        </p:txBody>
      </p:sp>
      <p:sp>
        <p:nvSpPr>
          <p:cNvPr id="17" name="Shape 15"/>
          <p:cNvSpPr/>
          <p:nvPr/>
        </p:nvSpPr>
        <p:spPr>
          <a:xfrm>
            <a:off x="3246120" y="3364992"/>
            <a:ext cx="2578608" cy="804672"/>
          </a:xfrm>
          <a:prstGeom prst="roundRect">
            <a:avLst>
              <a:gd name="adj" fmla="val 11364"/>
            </a:avLst>
          </a:prstGeom>
          <a:solidFill>
            <a:srgbClr val="1A2D5A"/>
          </a:solidFill>
          <a:ln w="12700">
            <a:solidFill>
              <a:srgbClr val="1A8A7D"/>
            </a:solidFill>
            <a:prstDash val="solid"/>
          </a:ln>
        </p:spPr>
      </p:sp>
      <p:sp>
        <p:nvSpPr>
          <p:cNvPr id="18" name="Text 16"/>
          <p:cNvSpPr/>
          <p:nvPr/>
        </p:nvSpPr>
        <p:spPr>
          <a:xfrm>
            <a:off x="3246120" y="3401568"/>
            <a:ext cx="2578608" cy="347472"/>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geometry</a:t>
            </a:r>
            <a:endParaRPr lang="en-US" sz="1400" dirty="0"/>
          </a:p>
        </p:txBody>
      </p:sp>
      <p:sp>
        <p:nvSpPr>
          <p:cNvPr id="19" name="Text 17"/>
          <p:cNvSpPr/>
          <p:nvPr/>
        </p:nvSpPr>
        <p:spPr>
          <a:xfrm>
            <a:off x="3246120" y="3749040"/>
            <a:ext cx="2578608" cy="347472"/>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geo = earth  |  measurement of space</a:t>
            </a:r>
            <a:endParaRPr lang="en-US" sz="900" dirty="0"/>
          </a:p>
        </p:txBody>
      </p:sp>
      <p:sp>
        <p:nvSpPr>
          <p:cNvPr id="20" name="Shape 18"/>
          <p:cNvSpPr/>
          <p:nvPr/>
        </p:nvSpPr>
        <p:spPr>
          <a:xfrm>
            <a:off x="6035040" y="3364992"/>
            <a:ext cx="2578608" cy="804672"/>
          </a:xfrm>
          <a:prstGeom prst="roundRect">
            <a:avLst>
              <a:gd name="adj" fmla="val 11364"/>
            </a:avLst>
          </a:prstGeom>
          <a:solidFill>
            <a:srgbClr val="1A2D5A"/>
          </a:solidFill>
          <a:ln w="12700">
            <a:solidFill>
              <a:srgbClr val="1A8A7D"/>
            </a:solidFill>
            <a:prstDash val="solid"/>
          </a:ln>
        </p:spPr>
      </p:sp>
      <p:sp>
        <p:nvSpPr>
          <p:cNvPr id="21" name="Text 19"/>
          <p:cNvSpPr/>
          <p:nvPr/>
        </p:nvSpPr>
        <p:spPr>
          <a:xfrm>
            <a:off x="6035040" y="3401568"/>
            <a:ext cx="2578608" cy="347472"/>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geographer</a:t>
            </a:r>
            <a:endParaRPr lang="en-US" sz="1400" dirty="0"/>
          </a:p>
        </p:txBody>
      </p:sp>
      <p:sp>
        <p:nvSpPr>
          <p:cNvPr id="22" name="Text 20"/>
          <p:cNvSpPr/>
          <p:nvPr/>
        </p:nvSpPr>
        <p:spPr>
          <a:xfrm>
            <a:off x="6035040" y="3749040"/>
            <a:ext cx="2578608" cy="347472"/>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one who writes about the Earth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ROOT CLUE #3  |  ECONOMY</a:t>
            </a:r>
            <a:endParaRPr lang="en-US" sz="900" dirty="0"/>
          </a:p>
        </p:txBody>
      </p:sp>
      <p:sp>
        <p:nvSpPr>
          <p:cNvPr id="4" name="Text 2"/>
          <p:cNvSpPr/>
          <p:nvPr/>
        </p:nvSpPr>
        <p:spPr>
          <a:xfrm>
            <a:off x="457200" y="365760"/>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This root comes from ancient Greek home life. What does it suggest?</a:t>
            </a:r>
            <a:endParaRPr lang="en-US" sz="1100" dirty="0"/>
          </a:p>
        </p:txBody>
      </p:sp>
      <p:sp>
        <p:nvSpPr>
          <p:cNvPr id="5" name="Shape 3"/>
          <p:cNvSpPr/>
          <p:nvPr/>
        </p:nvSpPr>
        <p:spPr>
          <a:xfrm>
            <a:off x="365760" y="777240"/>
            <a:ext cx="4114800" cy="2788920"/>
          </a:xfrm>
          <a:prstGeom prst="roundRect">
            <a:avLst>
              <a:gd name="adj" fmla="val 3934"/>
            </a:avLst>
          </a:prstGeom>
          <a:solidFill>
            <a:srgbClr val="E2E8F4"/>
          </a:solidFill>
          <a:ln w="19050">
            <a:solidFill>
              <a:srgbClr val="B0B8CC"/>
            </a:solidFill>
            <a:prstDash val="dash"/>
          </a:ln>
        </p:spPr>
      </p:sp>
      <p:sp>
        <p:nvSpPr>
          <p:cNvPr id="6" name="Text 4"/>
          <p:cNvSpPr/>
          <p:nvPr/>
        </p:nvSpPr>
        <p:spPr>
          <a:xfrm>
            <a:off x="365760" y="77724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51560"/>
            <a:ext cx="3840480" cy="2423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Greek household scene: a family managing food, coins, and resources -- depicted as a museum diorama or painted vase artifact, showing careful domestic management</a:t>
            </a:r>
            <a:endParaRPr lang="en-US" sz="1100" dirty="0"/>
          </a:p>
        </p:txBody>
      </p:sp>
      <p:sp>
        <p:nvSpPr>
          <p:cNvPr id="8" name="Shape 6"/>
          <p:cNvSpPr/>
          <p:nvPr/>
        </p:nvSpPr>
        <p:spPr>
          <a:xfrm>
            <a:off x="4663440" y="777240"/>
            <a:ext cx="3931920" cy="1508760"/>
          </a:xfrm>
          <a:prstGeom prst="roundRect">
            <a:avLst>
              <a:gd name="adj" fmla="val 7273"/>
            </a:avLst>
          </a:prstGeom>
          <a:solidFill>
            <a:srgbClr val="E3F8ED"/>
          </a:solidFill>
          <a:ln w="25400">
            <a:solidFill>
              <a:srgbClr val="34B76F"/>
            </a:solidFill>
            <a:prstDash val="solid"/>
          </a:ln>
        </p:spPr>
      </p:sp>
      <p:sp>
        <p:nvSpPr>
          <p:cNvPr id="9" name="Text 7"/>
          <p:cNvSpPr/>
          <p:nvPr/>
        </p:nvSpPr>
        <p:spPr>
          <a:xfrm>
            <a:off x="4828032" y="841248"/>
            <a:ext cx="3602736"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ANCIENT ROOT CLUE</a:t>
            </a:r>
            <a:endParaRPr lang="en-US" sz="900" dirty="0"/>
          </a:p>
        </p:txBody>
      </p:sp>
      <p:sp>
        <p:nvSpPr>
          <p:cNvPr id="10" name="Text 8"/>
          <p:cNvSpPr/>
          <p:nvPr/>
        </p:nvSpPr>
        <p:spPr>
          <a:xfrm>
            <a:off x="4663440" y="1078992"/>
            <a:ext cx="3931920" cy="777240"/>
          </a:xfrm>
          <a:prstGeom prst="rect">
            <a:avLst/>
          </a:prstGeom>
          <a:noFill/>
          <a:ln/>
        </p:spPr>
        <p:txBody>
          <a:bodyPr wrap="square" lIns="0" tIns="0" rIns="0" bIns="0" rtlCol="0" anchor="ctr"/>
          <a:lstStyle/>
          <a:p>
            <a:pPr algn="ctr" indent="0" marL="0">
              <a:buNone/>
            </a:pPr>
            <a:r>
              <a:rPr lang="en-US" sz="3400" b="1" dirty="0">
                <a:solidFill>
                  <a:srgbClr val="34B76F"/>
                </a:solidFill>
                <a:latin typeface="Cambria" pitchFamily="34" charset="0"/>
                <a:ea typeface="Cambria" pitchFamily="34" charset="-122"/>
                <a:cs typeface="Cambria" pitchFamily="34" charset="-120"/>
              </a:rPr>
              <a:t>oikonomia</a:t>
            </a:r>
            <a:endParaRPr lang="en-US" sz="3400" dirty="0"/>
          </a:p>
        </p:txBody>
      </p:sp>
      <p:sp>
        <p:nvSpPr>
          <p:cNvPr id="11" name="Text 9"/>
          <p:cNvSpPr/>
          <p:nvPr/>
        </p:nvSpPr>
        <p:spPr>
          <a:xfrm>
            <a:off x="4828032" y="1901952"/>
            <a:ext cx="3602736" cy="256032"/>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Greek)</a:t>
            </a:r>
            <a:endParaRPr lang="en-US" sz="1100" dirty="0"/>
          </a:p>
        </p:txBody>
      </p:sp>
      <p:sp>
        <p:nvSpPr>
          <p:cNvPr id="12" name="Shape 10"/>
          <p:cNvSpPr/>
          <p:nvPr/>
        </p:nvSpPr>
        <p:spPr>
          <a:xfrm>
            <a:off x="4663440" y="2395728"/>
            <a:ext cx="3931920" cy="685800"/>
          </a:xfrm>
          <a:prstGeom prst="roundRect">
            <a:avLst>
              <a:gd name="adj" fmla="val 13333"/>
            </a:avLst>
          </a:prstGeom>
          <a:solidFill>
            <a:srgbClr val="F0F2F8"/>
          </a:solidFill>
          <a:ln w="12700">
            <a:solidFill>
              <a:srgbClr val="C8D0E8"/>
            </a:solidFill>
            <a:prstDash val="solid"/>
          </a:ln>
        </p:spPr>
      </p:sp>
      <p:sp>
        <p:nvSpPr>
          <p:cNvPr id="13" name="Text 11"/>
          <p:cNvSpPr/>
          <p:nvPr/>
        </p:nvSpPr>
        <p:spPr>
          <a:xfrm>
            <a:off x="4800600" y="2441448"/>
            <a:ext cx="3657600" cy="594360"/>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"oikos" means household. What do families DO in their household to keep everything running?</a:t>
            </a:r>
            <a:endParaRPr lang="en-US" sz="1100" dirty="0"/>
          </a:p>
        </p:txBody>
      </p:sp>
      <p:sp>
        <p:nvSpPr>
          <p:cNvPr id="14" name="Shape 12"/>
          <p:cNvSpPr/>
          <p:nvPr/>
        </p:nvSpPr>
        <p:spPr>
          <a:xfrm>
            <a:off x="365760" y="3675888"/>
            <a:ext cx="5029200" cy="1115568"/>
          </a:xfrm>
          <a:prstGeom prst="roundRect">
            <a:avLst>
              <a:gd name="adj" fmla="val 12295"/>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48640" y="376732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48640" y="4023360"/>
            <a:ext cx="4663440" cy="6766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oikonomia means?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 household have to manage carefully?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running a household like running a country's economy?</a:t>
            </a:r>
            <a:endParaRPr lang="en-US" sz="1100" dirty="0"/>
          </a:p>
        </p:txBody>
      </p:sp>
      <p:sp>
        <p:nvSpPr>
          <p:cNvPr id="17" name="Shape 15"/>
          <p:cNvSpPr/>
          <p:nvPr/>
        </p:nvSpPr>
        <p:spPr>
          <a:xfrm>
            <a:off x="5532120" y="3675888"/>
            <a:ext cx="3246120" cy="1115568"/>
          </a:xfrm>
          <a:prstGeom prst="roundRect">
            <a:avLst>
              <a:gd name="adj" fmla="val 9836"/>
            </a:avLst>
          </a:prstGeom>
          <a:solidFill>
            <a:srgbClr val="FFF3DC"/>
          </a:solidFill>
          <a:ln w="19050">
            <a:solidFill>
              <a:srgbClr val="F5E6C8"/>
            </a:solidFill>
            <a:prstDash val="solid"/>
          </a:ln>
        </p:spPr>
      </p:sp>
      <p:sp>
        <p:nvSpPr>
          <p:cNvPr id="18" name="Text 16"/>
          <p:cNvSpPr/>
          <p:nvPr/>
        </p:nvSpPr>
        <p:spPr>
          <a:xfrm>
            <a:off x="5669280" y="373075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669280" y="3931920"/>
            <a:ext cx="2971800" cy="7955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oikonomia means...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56032"/>
            <a:ext cx="8229600" cy="292608"/>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ROOT UNLOCKED!</a:t>
            </a:r>
            <a:endParaRPr lang="en-US" sz="900" dirty="0"/>
          </a:p>
        </p:txBody>
      </p:sp>
      <p:sp>
        <p:nvSpPr>
          <p:cNvPr id="5" name="Shape 3"/>
          <p:cNvSpPr/>
          <p:nvPr/>
        </p:nvSpPr>
        <p:spPr>
          <a:xfrm>
            <a:off x="914400" y="621792"/>
            <a:ext cx="7315200" cy="1965960"/>
          </a:xfrm>
          <a:prstGeom prst="roundRect">
            <a:avLst>
              <a:gd name="adj" fmla="val 6977"/>
            </a:avLst>
          </a:prstGeom>
          <a:solidFill>
            <a:srgbClr val="1A2D5A"/>
          </a:solidFill>
          <a:ln w="25400">
            <a:solidFill>
              <a:srgbClr val="34B76F"/>
            </a:solidFill>
            <a:prstDash val="solid"/>
          </a:ln>
        </p:spPr>
      </p:sp>
      <p:sp>
        <p:nvSpPr>
          <p:cNvPr id="6" name="Text 4"/>
          <p:cNvSpPr/>
          <p:nvPr/>
        </p:nvSpPr>
        <p:spPr>
          <a:xfrm>
            <a:off x="1097280" y="731520"/>
            <a:ext cx="3108960" cy="841248"/>
          </a:xfrm>
          <a:prstGeom prst="rect">
            <a:avLst/>
          </a:prstGeom>
          <a:noFill/>
          <a:ln/>
        </p:spPr>
        <p:txBody>
          <a:bodyPr wrap="square" lIns="0" tIns="0" rIns="0" bIns="0" rtlCol="0" anchor="ctr"/>
          <a:lstStyle/>
          <a:p>
            <a:pPr algn="ctr" indent="0" marL="0">
              <a:buNone/>
            </a:pPr>
            <a:r>
              <a:rPr lang="en-US" sz="4000" b="1" dirty="0">
                <a:solidFill>
                  <a:srgbClr val="34B76F"/>
                </a:solidFill>
                <a:latin typeface="Cambria" pitchFamily="34" charset="0"/>
                <a:ea typeface="Cambria" pitchFamily="34" charset="-122"/>
                <a:cs typeface="Cambria" pitchFamily="34" charset="-120"/>
              </a:rPr>
              <a:t>oikonomia</a:t>
            </a:r>
            <a:endParaRPr lang="en-US" sz="4000" dirty="0"/>
          </a:p>
        </p:txBody>
      </p:sp>
      <p:sp>
        <p:nvSpPr>
          <p:cNvPr id="7" name="Shape 5"/>
          <p:cNvSpPr/>
          <p:nvPr/>
        </p:nvSpPr>
        <p:spPr>
          <a:xfrm>
            <a:off x="4251960" y="1115568"/>
            <a:ext cx="685800" cy="0"/>
          </a:xfrm>
          <a:prstGeom prst="line">
            <a:avLst/>
          </a:prstGeom>
          <a:noFill/>
          <a:ln w="25400">
            <a:solidFill>
              <a:srgbClr val="D4943A"/>
            </a:solidFill>
            <a:prstDash val="solid"/>
          </a:ln>
        </p:spPr>
      </p:sp>
      <p:sp>
        <p:nvSpPr>
          <p:cNvPr id="8" name="Text 6"/>
          <p:cNvSpPr/>
          <p:nvPr/>
        </p:nvSpPr>
        <p:spPr>
          <a:xfrm>
            <a:off x="4846320" y="731520"/>
            <a:ext cx="3200400" cy="841248"/>
          </a:xfrm>
          <a:prstGeom prst="rect">
            <a:avLst/>
          </a:prstGeom>
          <a:noFill/>
          <a:ln/>
        </p:spPr>
        <p:txBody>
          <a:bodyPr wrap="square" lIns="0" tIns="0" rIns="0" bIns="0" rtlCol="0" anchor="ctr"/>
          <a:lstStyle/>
          <a:p>
            <a:pPr algn="l" indent="0" marL="0">
              <a:buNone/>
            </a:pPr>
            <a:r>
              <a:rPr lang="en-US" sz="2200" b="1" dirty="0">
                <a:solidFill>
                  <a:srgbClr val="D4943A"/>
                </a:solidFill>
                <a:latin typeface="Cambria" pitchFamily="34" charset="0"/>
                <a:ea typeface="Cambria" pitchFamily="34" charset="-122"/>
                <a:cs typeface="Cambria" pitchFamily="34" charset="-120"/>
              </a:rPr>
              <a:t>household management</a:t>
            </a:r>
            <a:endParaRPr lang="en-US" sz="2200" dirty="0"/>
          </a:p>
        </p:txBody>
      </p:sp>
      <p:sp>
        <p:nvSpPr>
          <p:cNvPr id="9" name="Text 7"/>
          <p:cNvSpPr/>
          <p:nvPr/>
        </p:nvSpPr>
        <p:spPr>
          <a:xfrm>
            <a:off x="1097280" y="1600200"/>
            <a:ext cx="6949440" cy="50292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Economics is about how people manage resources -- from a family budget to a whole country's trade.</a:t>
            </a:r>
            <a:endParaRPr lang="en-US" sz="1300" dirty="0"/>
          </a:p>
        </p:txBody>
      </p:sp>
      <p:sp>
        <p:nvSpPr>
          <p:cNvPr id="10" name="Text 8"/>
          <p:cNvSpPr/>
          <p:nvPr/>
        </p:nvSpPr>
        <p:spPr>
          <a:xfrm>
            <a:off x="457200" y="2743200"/>
            <a:ext cx="8229600" cy="292608"/>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From Small to Large -- the same idea:</a:t>
            </a:r>
            <a:endParaRPr lang="en-US" sz="1100" dirty="0"/>
          </a:p>
        </p:txBody>
      </p:sp>
      <p:sp>
        <p:nvSpPr>
          <p:cNvPr id="11" name="Shape 9"/>
          <p:cNvSpPr/>
          <p:nvPr/>
        </p:nvSpPr>
        <p:spPr>
          <a:xfrm>
            <a:off x="457200" y="3090672"/>
            <a:ext cx="2606040" cy="1143000"/>
          </a:xfrm>
          <a:prstGeom prst="roundRect">
            <a:avLst>
              <a:gd name="adj" fmla="val 8000"/>
            </a:avLst>
          </a:prstGeom>
          <a:solidFill>
            <a:srgbClr val="1A2D5A"/>
          </a:solidFill>
          <a:ln w="12700">
            <a:solidFill>
              <a:srgbClr val="34B76F"/>
            </a:solidFill>
            <a:prstDash val="solid"/>
          </a:ln>
        </p:spPr>
      </p:sp>
      <p:sp>
        <p:nvSpPr>
          <p:cNvPr id="12" name="Text 10"/>
          <p:cNvSpPr/>
          <p:nvPr/>
        </p:nvSpPr>
        <p:spPr>
          <a:xfrm>
            <a:off x="457200" y="3127248"/>
            <a:ext cx="2606040" cy="438912"/>
          </a:xfrm>
          <a:prstGeom prst="rect">
            <a:avLst/>
          </a:prstGeom>
          <a:noFill/>
          <a:ln/>
        </p:spPr>
        <p:txBody>
          <a:bodyPr wrap="square" lIns="0" tIns="0" rIns="0" bIns="0" rtlCol="0" anchor="ctr"/>
          <a:lstStyle/>
          <a:p>
            <a:pPr algn="ctr" indent="0" marL="0">
              <a:buNone/>
            </a:pPr>
            <a:r>
              <a:rPr lang="en-US" sz="2200" b="1" dirty="0">
                <a:solidFill>
                  <a:srgbClr val="34B76F"/>
                </a:solidFill>
                <a:latin typeface="Cambria" pitchFamily="34" charset="0"/>
                <a:ea typeface="Cambria" pitchFamily="34" charset="-122"/>
                <a:cs typeface="Cambria" pitchFamily="34" charset="-120"/>
              </a:rPr>
              <a:t>Family</a:t>
            </a:r>
            <a:endParaRPr lang="en-US" sz="2200" dirty="0"/>
          </a:p>
        </p:txBody>
      </p:sp>
      <p:sp>
        <p:nvSpPr>
          <p:cNvPr id="13" name="Text 11"/>
          <p:cNvSpPr/>
          <p:nvPr/>
        </p:nvSpPr>
        <p:spPr>
          <a:xfrm>
            <a:off x="457200" y="3566160"/>
            <a:ext cx="2606040" cy="228600"/>
          </a:xfrm>
          <a:prstGeom prst="rect">
            <a:avLst/>
          </a:prstGeom>
          <a:noFill/>
          <a:ln/>
        </p:spPr>
        <p:txBody>
          <a:bodyPr wrap="square" lIns="0" tIns="0" rIns="0" bIns="0" rtlCol="0" anchor="ctr"/>
          <a:lstStyle/>
          <a:p>
            <a:pPr algn="ctr" indent="0" marL="0">
              <a:buNone/>
            </a:pPr>
            <a:r>
              <a:rPr lang="en-US" sz="1000" dirty="0">
                <a:solidFill>
                  <a:srgbClr val="55C8E8"/>
                </a:solidFill>
                <a:latin typeface="Calibri" pitchFamily="34" charset="0"/>
                <a:ea typeface="Calibri" pitchFamily="34" charset="-122"/>
                <a:cs typeface="Calibri" pitchFamily="34" charset="-120"/>
              </a:rPr>
              <a:t>household</a:t>
            </a:r>
            <a:endParaRPr lang="en-US" sz="1000" dirty="0"/>
          </a:p>
        </p:txBody>
      </p:sp>
      <p:sp>
        <p:nvSpPr>
          <p:cNvPr id="14" name="Text 12"/>
          <p:cNvSpPr/>
          <p:nvPr/>
        </p:nvSpPr>
        <p:spPr>
          <a:xfrm>
            <a:off x="457200" y="3794760"/>
            <a:ext cx="2606040" cy="32004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manages food, money, chores</a:t>
            </a:r>
            <a:endParaRPr lang="en-US" sz="900" dirty="0"/>
          </a:p>
        </p:txBody>
      </p:sp>
      <p:sp>
        <p:nvSpPr>
          <p:cNvPr id="15" name="Shape 13"/>
          <p:cNvSpPr/>
          <p:nvPr/>
        </p:nvSpPr>
        <p:spPr>
          <a:xfrm>
            <a:off x="3246120" y="3090672"/>
            <a:ext cx="2606040" cy="1143000"/>
          </a:xfrm>
          <a:prstGeom prst="roundRect">
            <a:avLst>
              <a:gd name="adj" fmla="val 8000"/>
            </a:avLst>
          </a:prstGeom>
          <a:solidFill>
            <a:srgbClr val="1A2D5A"/>
          </a:solidFill>
          <a:ln w="12700">
            <a:solidFill>
              <a:srgbClr val="34B76F"/>
            </a:solidFill>
            <a:prstDash val="solid"/>
          </a:ln>
        </p:spPr>
      </p:sp>
      <p:sp>
        <p:nvSpPr>
          <p:cNvPr id="16" name="Text 14"/>
          <p:cNvSpPr/>
          <p:nvPr/>
        </p:nvSpPr>
        <p:spPr>
          <a:xfrm>
            <a:off x="3246120" y="3127248"/>
            <a:ext cx="2606040" cy="438912"/>
          </a:xfrm>
          <a:prstGeom prst="rect">
            <a:avLst/>
          </a:prstGeom>
          <a:noFill/>
          <a:ln/>
        </p:spPr>
        <p:txBody>
          <a:bodyPr wrap="square" lIns="0" tIns="0" rIns="0" bIns="0" rtlCol="0" anchor="ctr"/>
          <a:lstStyle/>
          <a:p>
            <a:pPr algn="ctr" indent="0" marL="0">
              <a:buNone/>
            </a:pPr>
            <a:r>
              <a:rPr lang="en-US" sz="2200" b="1" dirty="0">
                <a:solidFill>
                  <a:srgbClr val="34B76F"/>
                </a:solidFill>
                <a:latin typeface="Cambria" pitchFamily="34" charset="0"/>
                <a:ea typeface="Cambria" pitchFamily="34" charset="-122"/>
                <a:cs typeface="Cambria" pitchFamily="34" charset="-120"/>
              </a:rPr>
              <a:t>Town</a:t>
            </a:r>
            <a:endParaRPr lang="en-US" sz="2200" dirty="0"/>
          </a:p>
        </p:txBody>
      </p:sp>
      <p:sp>
        <p:nvSpPr>
          <p:cNvPr id="17" name="Text 15"/>
          <p:cNvSpPr/>
          <p:nvPr/>
        </p:nvSpPr>
        <p:spPr>
          <a:xfrm>
            <a:off x="3246120" y="3566160"/>
            <a:ext cx="2606040" cy="228600"/>
          </a:xfrm>
          <a:prstGeom prst="rect">
            <a:avLst/>
          </a:prstGeom>
          <a:noFill/>
          <a:ln/>
        </p:spPr>
        <p:txBody>
          <a:bodyPr wrap="square" lIns="0" tIns="0" rIns="0" bIns="0" rtlCol="0" anchor="ctr"/>
          <a:lstStyle/>
          <a:p>
            <a:pPr algn="ctr" indent="0" marL="0">
              <a:buNone/>
            </a:pPr>
            <a:r>
              <a:rPr lang="en-US" sz="1000" dirty="0">
                <a:solidFill>
                  <a:srgbClr val="55C8E8"/>
                </a:solidFill>
                <a:latin typeface="Calibri" pitchFamily="34" charset="0"/>
                <a:ea typeface="Calibri" pitchFamily="34" charset="-122"/>
                <a:cs typeface="Calibri" pitchFamily="34" charset="-120"/>
              </a:rPr>
              <a:t>community</a:t>
            </a:r>
            <a:endParaRPr lang="en-US" sz="1000" dirty="0"/>
          </a:p>
        </p:txBody>
      </p:sp>
      <p:sp>
        <p:nvSpPr>
          <p:cNvPr id="18" name="Text 16"/>
          <p:cNvSpPr/>
          <p:nvPr/>
        </p:nvSpPr>
        <p:spPr>
          <a:xfrm>
            <a:off x="3246120" y="3794760"/>
            <a:ext cx="2606040" cy="32004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manages services, taxes, trade</a:t>
            </a:r>
            <a:endParaRPr lang="en-US" sz="900" dirty="0"/>
          </a:p>
        </p:txBody>
      </p:sp>
      <p:sp>
        <p:nvSpPr>
          <p:cNvPr id="19" name="Shape 17"/>
          <p:cNvSpPr/>
          <p:nvPr/>
        </p:nvSpPr>
        <p:spPr>
          <a:xfrm>
            <a:off x="6035040" y="3090672"/>
            <a:ext cx="2606040" cy="1143000"/>
          </a:xfrm>
          <a:prstGeom prst="roundRect">
            <a:avLst>
              <a:gd name="adj" fmla="val 8000"/>
            </a:avLst>
          </a:prstGeom>
          <a:solidFill>
            <a:srgbClr val="1A2D5A"/>
          </a:solidFill>
          <a:ln w="12700">
            <a:solidFill>
              <a:srgbClr val="34B76F"/>
            </a:solidFill>
            <a:prstDash val="solid"/>
          </a:ln>
        </p:spPr>
      </p:sp>
      <p:sp>
        <p:nvSpPr>
          <p:cNvPr id="20" name="Text 18"/>
          <p:cNvSpPr/>
          <p:nvPr/>
        </p:nvSpPr>
        <p:spPr>
          <a:xfrm>
            <a:off x="6035040" y="3127248"/>
            <a:ext cx="2606040" cy="438912"/>
          </a:xfrm>
          <a:prstGeom prst="rect">
            <a:avLst/>
          </a:prstGeom>
          <a:noFill/>
          <a:ln/>
        </p:spPr>
        <p:txBody>
          <a:bodyPr wrap="square" lIns="0" tIns="0" rIns="0" bIns="0" rtlCol="0" anchor="ctr"/>
          <a:lstStyle/>
          <a:p>
            <a:pPr algn="ctr" indent="0" marL="0">
              <a:buNone/>
            </a:pPr>
            <a:r>
              <a:rPr lang="en-US" sz="2200" b="1" dirty="0">
                <a:solidFill>
                  <a:srgbClr val="34B76F"/>
                </a:solidFill>
                <a:latin typeface="Cambria" pitchFamily="34" charset="0"/>
                <a:ea typeface="Cambria" pitchFamily="34" charset="-122"/>
                <a:cs typeface="Cambria" pitchFamily="34" charset="-120"/>
              </a:rPr>
              <a:t>Country</a:t>
            </a:r>
            <a:endParaRPr lang="en-US" sz="2200" dirty="0"/>
          </a:p>
        </p:txBody>
      </p:sp>
      <p:sp>
        <p:nvSpPr>
          <p:cNvPr id="21" name="Text 19"/>
          <p:cNvSpPr/>
          <p:nvPr/>
        </p:nvSpPr>
        <p:spPr>
          <a:xfrm>
            <a:off x="6035040" y="3566160"/>
            <a:ext cx="2606040" cy="228600"/>
          </a:xfrm>
          <a:prstGeom prst="rect">
            <a:avLst/>
          </a:prstGeom>
          <a:noFill/>
          <a:ln/>
        </p:spPr>
        <p:txBody>
          <a:bodyPr wrap="square" lIns="0" tIns="0" rIns="0" bIns="0" rtlCol="0" anchor="ctr"/>
          <a:lstStyle/>
          <a:p>
            <a:pPr algn="ctr" indent="0" marL="0">
              <a:buNone/>
            </a:pPr>
            <a:r>
              <a:rPr lang="en-US" sz="1000" dirty="0">
                <a:solidFill>
                  <a:srgbClr val="55C8E8"/>
                </a:solidFill>
                <a:latin typeface="Calibri" pitchFamily="34" charset="0"/>
                <a:ea typeface="Calibri" pitchFamily="34" charset="-122"/>
                <a:cs typeface="Calibri" pitchFamily="34" charset="-120"/>
              </a:rPr>
              <a:t>nation</a:t>
            </a:r>
            <a:endParaRPr lang="en-US" sz="1000" dirty="0"/>
          </a:p>
        </p:txBody>
      </p:sp>
      <p:sp>
        <p:nvSpPr>
          <p:cNvPr id="22" name="Text 20"/>
          <p:cNvSpPr/>
          <p:nvPr/>
        </p:nvSpPr>
        <p:spPr>
          <a:xfrm>
            <a:off x="6035040" y="3794760"/>
            <a:ext cx="2606040" cy="32004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manages national trade, industry, jobs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ROOT CLUE #4  |  CIVIC</a:t>
            </a:r>
            <a:endParaRPr lang="en-US" sz="900" dirty="0"/>
          </a:p>
        </p:txBody>
      </p:sp>
      <p:sp>
        <p:nvSpPr>
          <p:cNvPr id="4" name="Text 2"/>
          <p:cNvSpPr/>
          <p:nvPr/>
        </p:nvSpPr>
        <p:spPr>
          <a:xfrm>
            <a:off x="457200" y="365760"/>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This Latin root is still alive in many words we use today.</a:t>
            </a:r>
            <a:endParaRPr lang="en-US" sz="1100" dirty="0"/>
          </a:p>
        </p:txBody>
      </p:sp>
      <p:sp>
        <p:nvSpPr>
          <p:cNvPr id="5" name="Shape 3"/>
          <p:cNvSpPr/>
          <p:nvPr/>
        </p:nvSpPr>
        <p:spPr>
          <a:xfrm>
            <a:off x="365760" y="777240"/>
            <a:ext cx="4114800" cy="2788920"/>
          </a:xfrm>
          <a:prstGeom prst="roundRect">
            <a:avLst>
              <a:gd name="adj" fmla="val 3934"/>
            </a:avLst>
          </a:prstGeom>
          <a:solidFill>
            <a:srgbClr val="E2E8F4"/>
          </a:solidFill>
          <a:ln w="19050">
            <a:solidFill>
              <a:srgbClr val="B0B8CC"/>
            </a:solidFill>
            <a:prstDash val="dash"/>
          </a:ln>
        </p:spPr>
      </p:sp>
      <p:sp>
        <p:nvSpPr>
          <p:cNvPr id="6" name="Text 4"/>
          <p:cNvSpPr/>
          <p:nvPr/>
        </p:nvSpPr>
        <p:spPr>
          <a:xfrm>
            <a:off x="365760" y="77724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51560"/>
            <a:ext cx="3840480" cy="2423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Roman forum or civic gathering -- Roman citizens in togas meeting in a public square, depicted as a museum painting or mosaic. Suggests citizenship and civic participation.</a:t>
            </a:r>
            <a:endParaRPr lang="en-US" sz="1100" dirty="0"/>
          </a:p>
        </p:txBody>
      </p:sp>
      <p:sp>
        <p:nvSpPr>
          <p:cNvPr id="8" name="Shape 6"/>
          <p:cNvSpPr/>
          <p:nvPr/>
        </p:nvSpPr>
        <p:spPr>
          <a:xfrm>
            <a:off x="4663440" y="777240"/>
            <a:ext cx="3931920" cy="1417320"/>
          </a:xfrm>
          <a:prstGeom prst="roundRect">
            <a:avLst>
              <a:gd name="adj" fmla="val 7742"/>
            </a:avLst>
          </a:prstGeom>
          <a:solidFill>
            <a:srgbClr val="F0E8FF"/>
          </a:solidFill>
          <a:ln w="25400">
            <a:solidFill>
              <a:srgbClr val="8B6FC0"/>
            </a:solidFill>
            <a:prstDash val="solid"/>
          </a:ln>
        </p:spPr>
      </p:sp>
      <p:sp>
        <p:nvSpPr>
          <p:cNvPr id="9" name="Text 7"/>
          <p:cNvSpPr/>
          <p:nvPr/>
        </p:nvSpPr>
        <p:spPr>
          <a:xfrm>
            <a:off x="4828032" y="841248"/>
            <a:ext cx="3602736"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LATIN ROOT CLUE</a:t>
            </a:r>
            <a:endParaRPr lang="en-US" sz="900" dirty="0"/>
          </a:p>
        </p:txBody>
      </p:sp>
      <p:sp>
        <p:nvSpPr>
          <p:cNvPr id="10" name="Text 8"/>
          <p:cNvSpPr/>
          <p:nvPr/>
        </p:nvSpPr>
        <p:spPr>
          <a:xfrm>
            <a:off x="4663440" y="1078992"/>
            <a:ext cx="3931920" cy="658368"/>
          </a:xfrm>
          <a:prstGeom prst="rect">
            <a:avLst/>
          </a:prstGeom>
          <a:noFill/>
          <a:ln/>
        </p:spPr>
        <p:txBody>
          <a:bodyPr wrap="square" lIns="0" tIns="0" rIns="0" bIns="0" rtlCol="0" anchor="ctr"/>
          <a:lstStyle/>
          <a:p>
            <a:pPr algn="ctr" indent="0" marL="0">
              <a:buNone/>
            </a:pPr>
            <a:r>
              <a:rPr lang="en-US" sz="5200" b="1" dirty="0">
                <a:solidFill>
                  <a:srgbClr val="8B6FC0"/>
                </a:solidFill>
                <a:latin typeface="Cambria" pitchFamily="34" charset="0"/>
                <a:ea typeface="Cambria" pitchFamily="34" charset="-122"/>
                <a:cs typeface="Cambria" pitchFamily="34" charset="-120"/>
              </a:rPr>
              <a:t>civis</a:t>
            </a:r>
            <a:endParaRPr lang="en-US" sz="5200" dirty="0"/>
          </a:p>
        </p:txBody>
      </p:sp>
      <p:sp>
        <p:nvSpPr>
          <p:cNvPr id="11" name="Text 9"/>
          <p:cNvSpPr/>
          <p:nvPr/>
        </p:nvSpPr>
        <p:spPr>
          <a:xfrm>
            <a:off x="4828032" y="1783080"/>
            <a:ext cx="3602736" cy="256032"/>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Latin)</a:t>
            </a:r>
            <a:endParaRPr lang="en-US" sz="1100" dirty="0"/>
          </a:p>
        </p:txBody>
      </p:sp>
      <p:sp>
        <p:nvSpPr>
          <p:cNvPr id="12" name="Shape 10"/>
          <p:cNvSpPr/>
          <p:nvPr/>
        </p:nvSpPr>
        <p:spPr>
          <a:xfrm>
            <a:off x="4663440" y="2304288"/>
            <a:ext cx="3931920" cy="621792"/>
          </a:xfrm>
          <a:prstGeom prst="roundRect">
            <a:avLst>
              <a:gd name="adj" fmla="val 14706"/>
            </a:avLst>
          </a:prstGeom>
          <a:solidFill>
            <a:srgbClr val="F0F2F8"/>
          </a:solidFill>
          <a:ln w="12700">
            <a:solidFill>
              <a:srgbClr val="C8D0E8"/>
            </a:solidFill>
            <a:prstDash val="solid"/>
          </a:ln>
        </p:spPr>
      </p:sp>
      <p:sp>
        <p:nvSpPr>
          <p:cNvPr id="13" name="Text 11"/>
          <p:cNvSpPr/>
          <p:nvPr/>
        </p:nvSpPr>
        <p:spPr>
          <a:xfrm>
            <a:off x="4800600" y="2350008"/>
            <a:ext cx="3657600" cy="530352"/>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Think about: civic, civil, civilian, civilization. What do they all have in common?</a:t>
            </a:r>
            <a:endParaRPr lang="en-US" sz="1100" dirty="0"/>
          </a:p>
        </p:txBody>
      </p:sp>
      <p:sp>
        <p:nvSpPr>
          <p:cNvPr id="14" name="Shape 12"/>
          <p:cNvSpPr/>
          <p:nvPr/>
        </p:nvSpPr>
        <p:spPr>
          <a:xfrm>
            <a:off x="365760" y="3675888"/>
            <a:ext cx="5029200" cy="1115568"/>
          </a:xfrm>
          <a:prstGeom prst="roundRect">
            <a:avLst>
              <a:gd name="adj" fmla="val 12295"/>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48640" y="376732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48640" y="4023360"/>
            <a:ext cx="4663440" cy="6766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civic, civil, and civilization all have in common?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mean to be a 'civilian'?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civis most likely mean in Latin?</a:t>
            </a:r>
            <a:endParaRPr lang="en-US" sz="1100" dirty="0"/>
          </a:p>
        </p:txBody>
      </p:sp>
      <p:sp>
        <p:nvSpPr>
          <p:cNvPr id="17" name="Shape 15"/>
          <p:cNvSpPr/>
          <p:nvPr/>
        </p:nvSpPr>
        <p:spPr>
          <a:xfrm>
            <a:off x="5532120" y="3675888"/>
            <a:ext cx="3246120" cy="1115568"/>
          </a:xfrm>
          <a:prstGeom prst="roundRect">
            <a:avLst>
              <a:gd name="adj" fmla="val 9836"/>
            </a:avLst>
          </a:prstGeom>
          <a:solidFill>
            <a:srgbClr val="FFF3DC"/>
          </a:solidFill>
          <a:ln w="19050">
            <a:solidFill>
              <a:srgbClr val="F5E6C8"/>
            </a:solidFill>
            <a:prstDash val="solid"/>
          </a:ln>
        </p:spPr>
      </p:sp>
      <p:sp>
        <p:nvSpPr>
          <p:cNvPr id="18" name="Text 16"/>
          <p:cNvSpPr/>
          <p:nvPr/>
        </p:nvSpPr>
        <p:spPr>
          <a:xfrm>
            <a:off x="5669280" y="373075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669280" y="3931920"/>
            <a:ext cx="2971800" cy="7955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civis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these words all..."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56032"/>
            <a:ext cx="8229600" cy="292608"/>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ROOT UNLOCKED!</a:t>
            </a:r>
            <a:endParaRPr lang="en-US" sz="900" dirty="0"/>
          </a:p>
        </p:txBody>
      </p:sp>
      <p:sp>
        <p:nvSpPr>
          <p:cNvPr id="5" name="Shape 3"/>
          <p:cNvSpPr/>
          <p:nvPr/>
        </p:nvSpPr>
        <p:spPr>
          <a:xfrm>
            <a:off x="914400" y="621792"/>
            <a:ext cx="7315200" cy="1965960"/>
          </a:xfrm>
          <a:prstGeom prst="roundRect">
            <a:avLst>
              <a:gd name="adj" fmla="val 6977"/>
            </a:avLst>
          </a:prstGeom>
          <a:solidFill>
            <a:srgbClr val="1A2D5A"/>
          </a:solidFill>
          <a:ln w="25400">
            <a:solidFill>
              <a:srgbClr val="8B6FC0"/>
            </a:solidFill>
            <a:prstDash val="solid"/>
          </a:ln>
        </p:spPr>
      </p:sp>
      <p:sp>
        <p:nvSpPr>
          <p:cNvPr id="6" name="Text 4"/>
          <p:cNvSpPr/>
          <p:nvPr/>
        </p:nvSpPr>
        <p:spPr>
          <a:xfrm>
            <a:off x="1097280" y="731520"/>
            <a:ext cx="2743200" cy="841248"/>
          </a:xfrm>
          <a:prstGeom prst="rect">
            <a:avLst/>
          </a:prstGeom>
          <a:noFill/>
          <a:ln/>
        </p:spPr>
        <p:txBody>
          <a:bodyPr wrap="square" lIns="0" tIns="0" rIns="0" bIns="0" rtlCol="0" anchor="ctr"/>
          <a:lstStyle/>
          <a:p>
            <a:pPr algn="ctr" indent="0" marL="0">
              <a:buNone/>
            </a:pPr>
            <a:r>
              <a:rPr lang="en-US" sz="5200" b="1" dirty="0">
                <a:solidFill>
                  <a:srgbClr val="8B6FC0"/>
                </a:solidFill>
                <a:latin typeface="Cambria" pitchFamily="34" charset="0"/>
                <a:ea typeface="Cambria" pitchFamily="34" charset="-122"/>
                <a:cs typeface="Cambria" pitchFamily="34" charset="-120"/>
              </a:rPr>
              <a:t>civis</a:t>
            </a:r>
            <a:endParaRPr lang="en-US" sz="5200" dirty="0"/>
          </a:p>
        </p:txBody>
      </p:sp>
      <p:sp>
        <p:nvSpPr>
          <p:cNvPr id="7" name="Shape 5"/>
          <p:cNvSpPr/>
          <p:nvPr/>
        </p:nvSpPr>
        <p:spPr>
          <a:xfrm>
            <a:off x="3886200" y="1115568"/>
            <a:ext cx="685800" cy="0"/>
          </a:xfrm>
          <a:prstGeom prst="line">
            <a:avLst/>
          </a:prstGeom>
          <a:noFill/>
          <a:ln w="25400">
            <a:solidFill>
              <a:srgbClr val="D4943A"/>
            </a:solidFill>
            <a:prstDash val="solid"/>
          </a:ln>
        </p:spPr>
      </p:sp>
      <p:sp>
        <p:nvSpPr>
          <p:cNvPr id="8" name="Text 6"/>
          <p:cNvSpPr/>
          <p:nvPr/>
        </p:nvSpPr>
        <p:spPr>
          <a:xfrm>
            <a:off x="4434840" y="731520"/>
            <a:ext cx="3611880" cy="841248"/>
          </a:xfrm>
          <a:prstGeom prst="rect">
            <a:avLst/>
          </a:prstGeom>
          <a:noFill/>
          <a:ln/>
        </p:spPr>
        <p:txBody>
          <a:bodyPr wrap="square" lIns="0" tIns="0" rIns="0" bIns="0" rtlCol="0" anchor="ctr"/>
          <a:lstStyle/>
          <a:p>
            <a:pPr algn="l" indent="0" marL="0">
              <a:buNone/>
            </a:pPr>
            <a:r>
              <a:rPr lang="en-US" sz="4400" b="1" dirty="0">
                <a:solidFill>
                  <a:srgbClr val="D4943A"/>
                </a:solidFill>
                <a:latin typeface="Cambria" pitchFamily="34" charset="0"/>
                <a:ea typeface="Cambria" pitchFamily="34" charset="-122"/>
                <a:cs typeface="Cambria" pitchFamily="34" charset="-120"/>
              </a:rPr>
              <a:t>citizen</a:t>
            </a:r>
            <a:endParaRPr lang="en-US" sz="4400" dirty="0"/>
          </a:p>
        </p:txBody>
      </p:sp>
      <p:sp>
        <p:nvSpPr>
          <p:cNvPr id="9" name="Text 7"/>
          <p:cNvSpPr/>
          <p:nvPr/>
        </p:nvSpPr>
        <p:spPr>
          <a:xfrm>
            <a:off x="1097280" y="1600200"/>
            <a:ext cx="6949440" cy="50292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Civics is the study of what CITIZENS do and how they govern themselves.</a:t>
            </a:r>
            <a:endParaRPr lang="en-US" sz="1300" dirty="0"/>
          </a:p>
        </p:txBody>
      </p:sp>
      <p:sp>
        <p:nvSpPr>
          <p:cNvPr id="10" name="Shape 8"/>
          <p:cNvSpPr/>
          <p:nvPr/>
        </p:nvSpPr>
        <p:spPr>
          <a:xfrm>
            <a:off x="548640" y="2761488"/>
            <a:ext cx="8046720" cy="987552"/>
          </a:xfrm>
          <a:prstGeom prst="roundRect">
            <a:avLst>
              <a:gd name="adj" fmla="val 11111"/>
            </a:avLst>
          </a:prstGeom>
          <a:solidFill>
            <a:srgbClr val="8B6FC0"/>
          </a:solidFill>
          <a:ln w="12700">
            <a:solidFill>
              <a:srgbClr val="8B6FC0"/>
            </a:solidFill>
            <a:prstDash val="solid"/>
          </a:ln>
        </p:spPr>
      </p:sp>
      <p:sp>
        <p:nvSpPr>
          <p:cNvPr id="11" name="Text 9"/>
          <p:cNvSpPr/>
          <p:nvPr/>
        </p:nvSpPr>
        <p:spPr>
          <a:xfrm>
            <a:off x="731520" y="2816352"/>
            <a:ext cx="7680960" cy="256032"/>
          </a:xfrm>
          <a:prstGeom prst="rect">
            <a:avLst/>
          </a:prstGeom>
          <a:noFill/>
          <a:ln/>
        </p:spPr>
        <p:txBody>
          <a:bodyPr wrap="square" lIns="0" tIns="0" rIns="0" bIns="0" rtlCol="0" anchor="ctr"/>
          <a:lstStyle/>
          <a:p>
            <a:pPr indent="0" marL="0">
              <a:buNone/>
            </a:pPr>
            <a:r>
              <a:rPr lang="en-US" sz="900" b="1" spc="150" kern="0" dirty="0">
                <a:solidFill>
                  <a:srgbClr val="E8DFFF"/>
                </a:solidFill>
                <a:latin typeface="Calibri" pitchFamily="34" charset="0"/>
                <a:ea typeface="Calibri" pitchFamily="34" charset="-122"/>
                <a:cs typeface="Calibri" pitchFamily="34" charset="-120"/>
              </a:rPr>
              <a:t>DISCOVERY FACT</a:t>
            </a:r>
            <a:endParaRPr lang="en-US" sz="900" dirty="0"/>
          </a:p>
        </p:txBody>
      </p:sp>
      <p:sp>
        <p:nvSpPr>
          <p:cNvPr id="12" name="Text 10"/>
          <p:cNvSpPr/>
          <p:nvPr/>
        </p:nvSpPr>
        <p:spPr>
          <a:xfrm>
            <a:off x="731520" y="3072384"/>
            <a:ext cx="7680960" cy="59436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"Civilization" comes from the same root as "civic" -- civis, meaning citizen. A civilization is literally a community of citizens working together.</a:t>
            </a:r>
            <a:endParaRPr lang="en-US" sz="1300" dirty="0"/>
          </a:p>
        </p:txBody>
      </p:sp>
      <p:sp>
        <p:nvSpPr>
          <p:cNvPr id="13" name="Text 11"/>
          <p:cNvSpPr/>
          <p:nvPr/>
        </p:nvSpPr>
        <p:spPr>
          <a:xfrm>
            <a:off x="457200" y="3886200"/>
            <a:ext cx="8229600" cy="347472"/>
          </a:xfrm>
          <a:prstGeom prst="rect">
            <a:avLst/>
          </a:prstGeom>
          <a:noFill/>
          <a:ln/>
        </p:spPr>
        <p:txBody>
          <a:bodyPr wrap="square" lIns="0" tIns="0" rIns="0" bIns="0" rtlCol="0" anchor="ctr"/>
          <a:lstStyle/>
          <a:p>
            <a:pPr algn="ctr" indent="0" marL="0">
              <a:buNone/>
            </a:pPr>
            <a:r>
              <a:rPr lang="en-US" sz="1300" dirty="0">
                <a:solidFill>
                  <a:srgbClr val="55C8E8"/>
                </a:solidFill>
                <a:latin typeface="Cambria" pitchFamily="34" charset="0"/>
                <a:ea typeface="Cambria" pitchFamily="34" charset="-122"/>
                <a:cs typeface="Cambria" pitchFamily="34" charset="-120"/>
              </a:rPr>
              <a:t>civic  |  civil  |  civilian  |  civilization  |  civility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RETRIEVAL CHALLENGE</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Cover your screen. Can you remember all four roots?</a:t>
            </a:r>
            <a:endParaRPr lang="en-US" sz="1200" dirty="0"/>
          </a:p>
        </p:txBody>
      </p:sp>
      <p:sp>
        <p:nvSpPr>
          <p:cNvPr id="5" name="Shape 3"/>
          <p:cNvSpPr/>
          <p:nvPr/>
        </p:nvSpPr>
        <p:spPr>
          <a:xfrm>
            <a:off x="365760" y="868680"/>
            <a:ext cx="3977640" cy="1572768"/>
          </a:xfrm>
          <a:prstGeom prst="roundRect">
            <a:avLst>
              <a:gd name="adj" fmla="val 6977"/>
            </a:avLst>
          </a:prstGeom>
          <a:solidFill>
            <a:srgbClr val="F0F2F8"/>
          </a:solidFill>
          <a:ln w="25400">
            <a:solidFill>
              <a:srgbClr val="55C8E8"/>
            </a:solidFill>
            <a:prstDash val="solid"/>
          </a:ln>
        </p:spPr>
      </p:sp>
      <p:sp>
        <p:nvSpPr>
          <p:cNvPr id="6" name="Text 4"/>
          <p:cNvSpPr/>
          <p:nvPr/>
        </p:nvSpPr>
        <p:spPr>
          <a:xfrm>
            <a:off x="475488" y="960120"/>
            <a:ext cx="3758184" cy="27432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HISTORY</a:t>
            </a:r>
            <a:endParaRPr lang="en-US" sz="900" dirty="0"/>
          </a:p>
        </p:txBody>
      </p:sp>
      <p:sp>
        <p:nvSpPr>
          <p:cNvPr id="7" name="Text 5"/>
          <p:cNvSpPr/>
          <p:nvPr/>
        </p:nvSpPr>
        <p:spPr>
          <a:xfrm>
            <a:off x="365760" y="1216152"/>
            <a:ext cx="3977640" cy="566928"/>
          </a:xfrm>
          <a:prstGeom prst="rect">
            <a:avLst/>
          </a:prstGeom>
          <a:noFill/>
          <a:ln/>
        </p:spPr>
        <p:txBody>
          <a:bodyPr wrap="square" lIns="0" tIns="0" rIns="0" bIns="0"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histor</a:t>
            </a:r>
            <a:endParaRPr lang="en-US" sz="3000" dirty="0"/>
          </a:p>
        </p:txBody>
      </p:sp>
      <p:sp>
        <p:nvSpPr>
          <p:cNvPr id="8" name="Text 6"/>
          <p:cNvSpPr/>
          <p:nvPr/>
        </p:nvSpPr>
        <p:spPr>
          <a:xfrm>
            <a:off x="475488" y="1801368"/>
            <a:ext cx="3758184" cy="329184"/>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 one who knows</a:t>
            </a:r>
            <a:endParaRPr lang="en-US" sz="1300" dirty="0"/>
          </a:p>
        </p:txBody>
      </p:sp>
      <p:sp>
        <p:nvSpPr>
          <p:cNvPr id="9" name="Shape 7"/>
          <p:cNvSpPr/>
          <p:nvPr/>
        </p:nvSpPr>
        <p:spPr>
          <a:xfrm>
            <a:off x="713232" y="2167128"/>
            <a:ext cx="3291840" cy="0"/>
          </a:xfrm>
          <a:prstGeom prst="line">
            <a:avLst/>
          </a:prstGeom>
          <a:noFill/>
          <a:ln w="12700">
            <a:solidFill>
              <a:srgbClr val="55C8E8"/>
            </a:solidFill>
            <a:prstDash val="dash"/>
          </a:ln>
        </p:spPr>
      </p:sp>
      <p:sp>
        <p:nvSpPr>
          <p:cNvPr id="10" name="Text 8"/>
          <p:cNvSpPr/>
          <p:nvPr/>
        </p:nvSpPr>
        <p:spPr>
          <a:xfrm>
            <a:off x="475488" y="2212848"/>
            <a:ext cx="3758184" cy="182880"/>
          </a:xfrm>
          <a:prstGeom prst="rect">
            <a:avLst/>
          </a:prstGeom>
          <a:noFill/>
          <a:ln/>
        </p:spPr>
        <p:txBody>
          <a:bodyPr wrap="square" lIns="0" tIns="0" rIns="0" bIns="0" rtlCol="0" anchor="ctr"/>
          <a:lstStyle/>
          <a:p>
            <a:pPr algn="ctr" indent="0" marL="0">
              <a:buNone/>
            </a:pPr>
            <a:r>
              <a:rPr lang="en-US" sz="800" i="1" dirty="0">
                <a:solidFill>
                  <a:srgbClr val="7A88A8"/>
                </a:solidFill>
                <a:latin typeface="Calibri" pitchFamily="34" charset="0"/>
                <a:ea typeface="Calibri" pitchFamily="34" charset="-122"/>
                <a:cs typeface="Calibri" pitchFamily="34" charset="-120"/>
              </a:rPr>
              <a:t>Ancient Greek/Latin</a:t>
            </a:r>
            <a:endParaRPr lang="en-US" sz="800" dirty="0"/>
          </a:p>
        </p:txBody>
      </p:sp>
      <p:sp>
        <p:nvSpPr>
          <p:cNvPr id="11" name="Shape 9"/>
          <p:cNvSpPr/>
          <p:nvPr/>
        </p:nvSpPr>
        <p:spPr>
          <a:xfrm>
            <a:off x="4681728" y="868680"/>
            <a:ext cx="3977640" cy="1572768"/>
          </a:xfrm>
          <a:prstGeom prst="roundRect">
            <a:avLst>
              <a:gd name="adj" fmla="val 6977"/>
            </a:avLst>
          </a:prstGeom>
          <a:solidFill>
            <a:srgbClr val="F0F2F8"/>
          </a:solidFill>
          <a:ln w="25400">
            <a:solidFill>
              <a:srgbClr val="1A8A7D"/>
            </a:solidFill>
            <a:prstDash val="solid"/>
          </a:ln>
        </p:spPr>
      </p:sp>
      <p:sp>
        <p:nvSpPr>
          <p:cNvPr id="12" name="Text 10"/>
          <p:cNvSpPr/>
          <p:nvPr/>
        </p:nvSpPr>
        <p:spPr>
          <a:xfrm>
            <a:off x="4791456" y="960120"/>
            <a:ext cx="3758184" cy="27432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GEOGRAPHY</a:t>
            </a:r>
            <a:endParaRPr lang="en-US" sz="900" dirty="0"/>
          </a:p>
        </p:txBody>
      </p:sp>
      <p:sp>
        <p:nvSpPr>
          <p:cNvPr id="13" name="Text 11"/>
          <p:cNvSpPr/>
          <p:nvPr/>
        </p:nvSpPr>
        <p:spPr>
          <a:xfrm>
            <a:off x="4681728" y="1216152"/>
            <a:ext cx="3977640" cy="566928"/>
          </a:xfrm>
          <a:prstGeom prst="rect">
            <a:avLst/>
          </a:prstGeom>
          <a:noFill/>
          <a:ln/>
        </p:spPr>
        <p:txBody>
          <a:bodyPr wrap="square" lIns="0" tIns="0" rIns="0" bIns="0"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geo + graph</a:t>
            </a:r>
            <a:endParaRPr lang="en-US" sz="3000" dirty="0"/>
          </a:p>
        </p:txBody>
      </p:sp>
      <p:sp>
        <p:nvSpPr>
          <p:cNvPr id="14" name="Text 12"/>
          <p:cNvSpPr/>
          <p:nvPr/>
        </p:nvSpPr>
        <p:spPr>
          <a:xfrm>
            <a:off x="4791456" y="1801368"/>
            <a:ext cx="3758184" cy="329184"/>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 earth writing</a:t>
            </a:r>
            <a:endParaRPr lang="en-US" sz="1300" dirty="0"/>
          </a:p>
        </p:txBody>
      </p:sp>
      <p:sp>
        <p:nvSpPr>
          <p:cNvPr id="15" name="Shape 13"/>
          <p:cNvSpPr/>
          <p:nvPr/>
        </p:nvSpPr>
        <p:spPr>
          <a:xfrm>
            <a:off x="5029200" y="2167128"/>
            <a:ext cx="3291840" cy="0"/>
          </a:xfrm>
          <a:prstGeom prst="line">
            <a:avLst/>
          </a:prstGeom>
          <a:noFill/>
          <a:ln w="12700">
            <a:solidFill>
              <a:srgbClr val="1A8A7D"/>
            </a:solidFill>
            <a:prstDash val="dash"/>
          </a:ln>
        </p:spPr>
      </p:sp>
      <p:sp>
        <p:nvSpPr>
          <p:cNvPr id="16" name="Text 14"/>
          <p:cNvSpPr/>
          <p:nvPr/>
        </p:nvSpPr>
        <p:spPr>
          <a:xfrm>
            <a:off x="4791456" y="2212848"/>
            <a:ext cx="3758184" cy="182880"/>
          </a:xfrm>
          <a:prstGeom prst="rect">
            <a:avLst/>
          </a:prstGeom>
          <a:noFill/>
          <a:ln/>
        </p:spPr>
        <p:txBody>
          <a:bodyPr wrap="square" lIns="0" tIns="0" rIns="0" bIns="0" rtlCol="0" anchor="ctr"/>
          <a:lstStyle/>
          <a:p>
            <a:pPr algn="ctr" indent="0" marL="0">
              <a:buNone/>
            </a:pPr>
            <a:r>
              <a:rPr lang="en-US" sz="800" i="1" dirty="0">
                <a:solidFill>
                  <a:srgbClr val="7A88A8"/>
                </a:solidFill>
                <a:latin typeface="Calibri" pitchFamily="34" charset="0"/>
                <a:ea typeface="Calibri" pitchFamily="34" charset="-122"/>
                <a:cs typeface="Calibri" pitchFamily="34" charset="-120"/>
              </a:rPr>
              <a:t>Ancient Greek/Latin</a:t>
            </a:r>
            <a:endParaRPr lang="en-US" sz="800" dirty="0"/>
          </a:p>
        </p:txBody>
      </p:sp>
      <p:sp>
        <p:nvSpPr>
          <p:cNvPr id="17" name="Shape 15"/>
          <p:cNvSpPr/>
          <p:nvPr/>
        </p:nvSpPr>
        <p:spPr>
          <a:xfrm>
            <a:off x="365760" y="2606040"/>
            <a:ext cx="3977640" cy="1572768"/>
          </a:xfrm>
          <a:prstGeom prst="roundRect">
            <a:avLst>
              <a:gd name="adj" fmla="val 6977"/>
            </a:avLst>
          </a:prstGeom>
          <a:solidFill>
            <a:srgbClr val="F0F2F8"/>
          </a:solidFill>
          <a:ln w="25400">
            <a:solidFill>
              <a:srgbClr val="34B76F"/>
            </a:solidFill>
            <a:prstDash val="solid"/>
          </a:ln>
        </p:spPr>
      </p:sp>
      <p:sp>
        <p:nvSpPr>
          <p:cNvPr id="18" name="Text 16"/>
          <p:cNvSpPr/>
          <p:nvPr/>
        </p:nvSpPr>
        <p:spPr>
          <a:xfrm>
            <a:off x="475488" y="2697480"/>
            <a:ext cx="3758184" cy="27432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ECONOMY</a:t>
            </a:r>
            <a:endParaRPr lang="en-US" sz="900" dirty="0"/>
          </a:p>
        </p:txBody>
      </p:sp>
      <p:sp>
        <p:nvSpPr>
          <p:cNvPr id="19" name="Text 17"/>
          <p:cNvSpPr/>
          <p:nvPr/>
        </p:nvSpPr>
        <p:spPr>
          <a:xfrm>
            <a:off x="365760" y="2953512"/>
            <a:ext cx="3977640" cy="566928"/>
          </a:xfrm>
          <a:prstGeom prst="rect">
            <a:avLst/>
          </a:prstGeom>
          <a:noFill/>
          <a:ln/>
        </p:spPr>
        <p:txBody>
          <a:bodyPr wrap="square" lIns="0" tIns="0" rIns="0" bIns="0"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oikonomia</a:t>
            </a:r>
            <a:endParaRPr lang="en-US" sz="3000" dirty="0"/>
          </a:p>
        </p:txBody>
      </p:sp>
      <p:sp>
        <p:nvSpPr>
          <p:cNvPr id="20" name="Text 18"/>
          <p:cNvSpPr/>
          <p:nvPr/>
        </p:nvSpPr>
        <p:spPr>
          <a:xfrm>
            <a:off x="475488" y="3538728"/>
            <a:ext cx="3758184" cy="329184"/>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 household management</a:t>
            </a:r>
            <a:endParaRPr lang="en-US" sz="1300" dirty="0"/>
          </a:p>
        </p:txBody>
      </p:sp>
      <p:sp>
        <p:nvSpPr>
          <p:cNvPr id="21" name="Shape 19"/>
          <p:cNvSpPr/>
          <p:nvPr/>
        </p:nvSpPr>
        <p:spPr>
          <a:xfrm>
            <a:off x="713232" y="3904488"/>
            <a:ext cx="3291840" cy="0"/>
          </a:xfrm>
          <a:prstGeom prst="line">
            <a:avLst/>
          </a:prstGeom>
          <a:noFill/>
          <a:ln w="12700">
            <a:solidFill>
              <a:srgbClr val="34B76F"/>
            </a:solidFill>
            <a:prstDash val="dash"/>
          </a:ln>
        </p:spPr>
      </p:sp>
      <p:sp>
        <p:nvSpPr>
          <p:cNvPr id="22" name="Text 20"/>
          <p:cNvSpPr/>
          <p:nvPr/>
        </p:nvSpPr>
        <p:spPr>
          <a:xfrm>
            <a:off x="475488" y="3950208"/>
            <a:ext cx="3758184" cy="182880"/>
          </a:xfrm>
          <a:prstGeom prst="rect">
            <a:avLst/>
          </a:prstGeom>
          <a:noFill/>
          <a:ln/>
        </p:spPr>
        <p:txBody>
          <a:bodyPr wrap="square" lIns="0" tIns="0" rIns="0" bIns="0" rtlCol="0" anchor="ctr"/>
          <a:lstStyle/>
          <a:p>
            <a:pPr algn="ctr" indent="0" marL="0">
              <a:buNone/>
            </a:pPr>
            <a:r>
              <a:rPr lang="en-US" sz="800" i="1" dirty="0">
                <a:solidFill>
                  <a:srgbClr val="7A88A8"/>
                </a:solidFill>
                <a:latin typeface="Calibri" pitchFamily="34" charset="0"/>
                <a:ea typeface="Calibri" pitchFamily="34" charset="-122"/>
                <a:cs typeface="Calibri" pitchFamily="34" charset="-120"/>
              </a:rPr>
              <a:t>Ancient Greek/Latin</a:t>
            </a:r>
            <a:endParaRPr lang="en-US" sz="800" dirty="0"/>
          </a:p>
        </p:txBody>
      </p:sp>
      <p:sp>
        <p:nvSpPr>
          <p:cNvPr id="23" name="Shape 21"/>
          <p:cNvSpPr/>
          <p:nvPr/>
        </p:nvSpPr>
        <p:spPr>
          <a:xfrm>
            <a:off x="4681728" y="2606040"/>
            <a:ext cx="3977640" cy="1572768"/>
          </a:xfrm>
          <a:prstGeom prst="roundRect">
            <a:avLst>
              <a:gd name="adj" fmla="val 6977"/>
            </a:avLst>
          </a:prstGeom>
          <a:solidFill>
            <a:srgbClr val="F0F2F8"/>
          </a:solidFill>
          <a:ln w="25400">
            <a:solidFill>
              <a:srgbClr val="8B6FC0"/>
            </a:solidFill>
            <a:prstDash val="solid"/>
          </a:ln>
        </p:spPr>
      </p:sp>
      <p:sp>
        <p:nvSpPr>
          <p:cNvPr id="24" name="Text 22"/>
          <p:cNvSpPr/>
          <p:nvPr/>
        </p:nvSpPr>
        <p:spPr>
          <a:xfrm>
            <a:off x="4791456" y="2697480"/>
            <a:ext cx="3758184" cy="27432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CIVIC</a:t>
            </a:r>
            <a:endParaRPr lang="en-US" sz="900" dirty="0"/>
          </a:p>
        </p:txBody>
      </p:sp>
      <p:sp>
        <p:nvSpPr>
          <p:cNvPr id="25" name="Text 23"/>
          <p:cNvSpPr/>
          <p:nvPr/>
        </p:nvSpPr>
        <p:spPr>
          <a:xfrm>
            <a:off x="4681728" y="2953512"/>
            <a:ext cx="3977640" cy="566928"/>
          </a:xfrm>
          <a:prstGeom prst="rect">
            <a:avLst/>
          </a:prstGeom>
          <a:noFill/>
          <a:ln/>
        </p:spPr>
        <p:txBody>
          <a:bodyPr wrap="square" lIns="0" tIns="0" rIns="0" bIns="0"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civis</a:t>
            </a:r>
            <a:endParaRPr lang="en-US" sz="3000" dirty="0"/>
          </a:p>
        </p:txBody>
      </p:sp>
      <p:sp>
        <p:nvSpPr>
          <p:cNvPr id="26" name="Text 24"/>
          <p:cNvSpPr/>
          <p:nvPr/>
        </p:nvSpPr>
        <p:spPr>
          <a:xfrm>
            <a:off x="4791456" y="3538728"/>
            <a:ext cx="3758184" cy="329184"/>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 citizen</a:t>
            </a:r>
            <a:endParaRPr lang="en-US" sz="1300" dirty="0"/>
          </a:p>
        </p:txBody>
      </p:sp>
      <p:sp>
        <p:nvSpPr>
          <p:cNvPr id="27" name="Shape 25"/>
          <p:cNvSpPr/>
          <p:nvPr/>
        </p:nvSpPr>
        <p:spPr>
          <a:xfrm>
            <a:off x="5029200" y="3904488"/>
            <a:ext cx="3291840" cy="0"/>
          </a:xfrm>
          <a:prstGeom prst="line">
            <a:avLst/>
          </a:prstGeom>
          <a:noFill/>
          <a:ln w="12700">
            <a:solidFill>
              <a:srgbClr val="8B6FC0"/>
            </a:solidFill>
            <a:prstDash val="dash"/>
          </a:ln>
        </p:spPr>
      </p:sp>
      <p:sp>
        <p:nvSpPr>
          <p:cNvPr id="28" name="Text 26"/>
          <p:cNvSpPr/>
          <p:nvPr/>
        </p:nvSpPr>
        <p:spPr>
          <a:xfrm>
            <a:off x="4791456" y="3950208"/>
            <a:ext cx="3758184" cy="182880"/>
          </a:xfrm>
          <a:prstGeom prst="rect">
            <a:avLst/>
          </a:prstGeom>
          <a:noFill/>
          <a:ln/>
        </p:spPr>
        <p:txBody>
          <a:bodyPr wrap="square" lIns="0" tIns="0" rIns="0" bIns="0" rtlCol="0" anchor="ctr"/>
          <a:lstStyle/>
          <a:p>
            <a:pPr algn="ctr" indent="0" marL="0">
              <a:buNone/>
            </a:pPr>
            <a:r>
              <a:rPr lang="en-US" sz="800" i="1" dirty="0">
                <a:solidFill>
                  <a:srgbClr val="7A88A8"/>
                </a:solidFill>
                <a:latin typeface="Calibri" pitchFamily="34" charset="0"/>
                <a:ea typeface="Calibri" pitchFamily="34" charset="-122"/>
                <a:cs typeface="Calibri" pitchFamily="34" charset="-120"/>
              </a:rPr>
              <a:t>Ancient Greek/Latin</a:t>
            </a:r>
            <a:endParaRPr lang="en-US" sz="800" dirty="0"/>
          </a:p>
        </p:txBody>
      </p:sp>
      <p:sp>
        <p:nvSpPr>
          <p:cNvPr id="29" name="Shape 27"/>
          <p:cNvSpPr/>
          <p:nvPr/>
        </p:nvSpPr>
        <p:spPr>
          <a:xfrm>
            <a:off x="365760" y="4343400"/>
            <a:ext cx="8412480" cy="566928"/>
          </a:xfrm>
          <a:prstGeom prst="roundRect">
            <a:avLst>
              <a:gd name="adj" fmla="val 19355"/>
            </a:avLst>
          </a:prstGeom>
          <a:solidFill>
            <a:srgbClr val="FFF3DC"/>
          </a:solidFill>
          <a:ln w="19050">
            <a:solidFill>
              <a:srgbClr val="F5E6C8"/>
            </a:solidFill>
            <a:prstDash val="solid"/>
          </a:ln>
        </p:spPr>
      </p:sp>
      <p:sp>
        <p:nvSpPr>
          <p:cNvPr id="30" name="Text 28"/>
          <p:cNvSpPr/>
          <p:nvPr/>
        </p:nvSpPr>
        <p:spPr>
          <a:xfrm>
            <a:off x="502920" y="439826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31" name="Text 29"/>
          <p:cNvSpPr/>
          <p:nvPr/>
        </p:nvSpPr>
        <p:spPr>
          <a:xfrm>
            <a:off x="502920" y="4599432"/>
            <a:ext cx="8138160" cy="2468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root I remember best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word I know that uses one of these roots 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ROOT DETECTIVE  |  APPLY YOUR KNOWLEDGE</a:t>
            </a:r>
            <a:endParaRPr lang="en-US" sz="900" dirty="0"/>
          </a:p>
        </p:txBody>
      </p:sp>
      <p:sp>
        <p:nvSpPr>
          <p:cNvPr id="4" name="Text 2"/>
          <p:cNvSpPr/>
          <p:nvPr/>
        </p:nvSpPr>
        <p:spPr>
          <a:xfrm>
            <a:off x="457200" y="365760"/>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Can you figure out what these words mean using only the roots you know?</a:t>
            </a:r>
            <a:endParaRPr lang="en-US" sz="1100" dirty="0"/>
          </a:p>
        </p:txBody>
      </p:sp>
      <p:sp>
        <p:nvSpPr>
          <p:cNvPr id="5" name="Shape 3"/>
          <p:cNvSpPr/>
          <p:nvPr/>
        </p:nvSpPr>
        <p:spPr>
          <a:xfrm>
            <a:off x="365760" y="804672"/>
            <a:ext cx="3977640" cy="1353312"/>
          </a:xfrm>
          <a:prstGeom prst="roundRect">
            <a:avLst>
              <a:gd name="adj" fmla="val 6757"/>
            </a:avLst>
          </a:prstGeom>
          <a:solidFill>
            <a:srgbClr val="F0F2F8"/>
          </a:solidFill>
          <a:ln w="19050">
            <a:solidFill>
              <a:srgbClr val="1A8A7D"/>
            </a:solidFill>
            <a:prstDash val="solid"/>
          </a:ln>
        </p:spPr>
      </p:sp>
      <p:sp>
        <p:nvSpPr>
          <p:cNvPr id="6" name="Text 4"/>
          <p:cNvSpPr/>
          <p:nvPr/>
        </p:nvSpPr>
        <p:spPr>
          <a:xfrm>
            <a:off x="475488" y="896112"/>
            <a:ext cx="3758184" cy="384048"/>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geology</a:t>
            </a:r>
            <a:endParaRPr lang="en-US" sz="2000" dirty="0"/>
          </a:p>
        </p:txBody>
      </p:sp>
      <p:sp>
        <p:nvSpPr>
          <p:cNvPr id="7" name="Text 5"/>
          <p:cNvSpPr/>
          <p:nvPr/>
        </p:nvSpPr>
        <p:spPr>
          <a:xfrm>
            <a:off x="475488" y="1298448"/>
            <a:ext cx="3758184" cy="256032"/>
          </a:xfrm>
          <a:prstGeom prst="rect">
            <a:avLst/>
          </a:prstGeom>
          <a:noFill/>
          <a:ln/>
        </p:spPr>
        <p:txBody>
          <a:bodyPr wrap="square" lIns="0" tIns="0" rIns="0" bIns="0" rtlCol="0" anchor="ctr"/>
          <a:lstStyle/>
          <a:p>
            <a:pPr indent="0" marL="0">
              <a:buNone/>
            </a:pPr>
            <a:r>
              <a:rPr lang="en-US" sz="1000" i="1" dirty="0">
                <a:solidFill>
                  <a:srgbClr val="1A8A7D"/>
                </a:solidFill>
                <a:latin typeface="Calibri" pitchFamily="34" charset="0"/>
                <a:ea typeface="Calibri" pitchFamily="34" charset="-122"/>
                <a:cs typeface="Calibri" pitchFamily="34" charset="-120"/>
              </a:rPr>
              <a:t>geo = earth</a:t>
            </a:r>
            <a:endParaRPr lang="en-US" sz="1000" dirty="0"/>
          </a:p>
        </p:txBody>
      </p:sp>
      <p:sp>
        <p:nvSpPr>
          <p:cNvPr id="8" name="Shape 6"/>
          <p:cNvSpPr/>
          <p:nvPr/>
        </p:nvSpPr>
        <p:spPr>
          <a:xfrm>
            <a:off x="457200" y="1609344"/>
            <a:ext cx="3794760" cy="457200"/>
          </a:xfrm>
          <a:prstGeom prst="roundRect">
            <a:avLst>
              <a:gd name="adj" fmla="val 16000"/>
            </a:avLst>
          </a:prstGeom>
          <a:solidFill>
            <a:srgbClr val="E3F8ED"/>
          </a:solidFill>
          <a:ln w="12700">
            <a:solidFill>
              <a:srgbClr val="34B76F"/>
            </a:solidFill>
            <a:prstDash val="solid"/>
          </a:ln>
        </p:spPr>
      </p:sp>
      <p:sp>
        <p:nvSpPr>
          <p:cNvPr id="9" name="Text 7"/>
          <p:cNvSpPr/>
          <p:nvPr/>
        </p:nvSpPr>
        <p:spPr>
          <a:xfrm>
            <a:off x="548640" y="1627632"/>
            <a:ext cx="3611880" cy="402336"/>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study of Earth's rocks and layers</a:t>
            </a:r>
            <a:endParaRPr lang="en-US" sz="1100" dirty="0"/>
          </a:p>
        </p:txBody>
      </p:sp>
      <p:sp>
        <p:nvSpPr>
          <p:cNvPr id="10" name="Shape 8"/>
          <p:cNvSpPr/>
          <p:nvPr/>
        </p:nvSpPr>
        <p:spPr>
          <a:xfrm>
            <a:off x="4681728" y="804672"/>
            <a:ext cx="3977640" cy="1353312"/>
          </a:xfrm>
          <a:prstGeom prst="roundRect">
            <a:avLst>
              <a:gd name="adj" fmla="val 6757"/>
            </a:avLst>
          </a:prstGeom>
          <a:solidFill>
            <a:srgbClr val="F0F2F8"/>
          </a:solidFill>
          <a:ln w="19050">
            <a:solidFill>
              <a:srgbClr val="55C8E8"/>
            </a:solidFill>
            <a:prstDash val="solid"/>
          </a:ln>
        </p:spPr>
      </p:sp>
      <p:sp>
        <p:nvSpPr>
          <p:cNvPr id="11" name="Text 9"/>
          <p:cNvSpPr/>
          <p:nvPr/>
        </p:nvSpPr>
        <p:spPr>
          <a:xfrm>
            <a:off x="4791456" y="896112"/>
            <a:ext cx="3758184" cy="384048"/>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prehistoric</a:t>
            </a:r>
            <a:endParaRPr lang="en-US" sz="2000" dirty="0"/>
          </a:p>
        </p:txBody>
      </p:sp>
      <p:sp>
        <p:nvSpPr>
          <p:cNvPr id="12" name="Text 10"/>
          <p:cNvSpPr/>
          <p:nvPr/>
        </p:nvSpPr>
        <p:spPr>
          <a:xfrm>
            <a:off x="4791456" y="1298448"/>
            <a:ext cx="3758184" cy="256032"/>
          </a:xfrm>
          <a:prstGeom prst="rect">
            <a:avLst/>
          </a:prstGeom>
          <a:noFill/>
          <a:ln/>
        </p:spPr>
        <p:txBody>
          <a:bodyPr wrap="square" lIns="0" tIns="0" rIns="0" bIns="0" rtlCol="0" anchor="ctr"/>
          <a:lstStyle/>
          <a:p>
            <a:pPr indent="0" marL="0">
              <a:buNone/>
            </a:pPr>
            <a:r>
              <a:rPr lang="en-US" sz="1000" i="1" dirty="0">
                <a:solidFill>
                  <a:srgbClr val="55C8E8"/>
                </a:solidFill>
                <a:latin typeface="Calibri" pitchFamily="34" charset="0"/>
                <a:ea typeface="Calibri" pitchFamily="34" charset="-122"/>
                <a:cs typeface="Calibri" pitchFamily="34" charset="-120"/>
              </a:rPr>
              <a:t>pre = before + histor = one who knows</a:t>
            </a:r>
            <a:endParaRPr lang="en-US" sz="1000" dirty="0"/>
          </a:p>
        </p:txBody>
      </p:sp>
      <p:sp>
        <p:nvSpPr>
          <p:cNvPr id="13" name="Shape 11"/>
          <p:cNvSpPr/>
          <p:nvPr/>
        </p:nvSpPr>
        <p:spPr>
          <a:xfrm>
            <a:off x="4773168" y="1609344"/>
            <a:ext cx="3794760" cy="457200"/>
          </a:xfrm>
          <a:prstGeom prst="roundRect">
            <a:avLst>
              <a:gd name="adj" fmla="val 16000"/>
            </a:avLst>
          </a:prstGeom>
          <a:solidFill>
            <a:srgbClr val="E3F8ED"/>
          </a:solidFill>
          <a:ln w="12700">
            <a:solidFill>
              <a:srgbClr val="34B76F"/>
            </a:solidFill>
            <a:prstDash val="solid"/>
          </a:ln>
        </p:spPr>
      </p:sp>
      <p:sp>
        <p:nvSpPr>
          <p:cNvPr id="14" name="Text 12"/>
          <p:cNvSpPr/>
          <p:nvPr/>
        </p:nvSpPr>
        <p:spPr>
          <a:xfrm>
            <a:off x="4864608" y="1627632"/>
            <a:ext cx="3611880" cy="402336"/>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before written history</a:t>
            </a:r>
            <a:endParaRPr lang="en-US" sz="1100" dirty="0"/>
          </a:p>
        </p:txBody>
      </p:sp>
      <p:sp>
        <p:nvSpPr>
          <p:cNvPr id="15" name="Shape 13"/>
          <p:cNvSpPr/>
          <p:nvPr/>
        </p:nvSpPr>
        <p:spPr>
          <a:xfrm>
            <a:off x="365760" y="2286000"/>
            <a:ext cx="3977640" cy="1353312"/>
          </a:xfrm>
          <a:prstGeom prst="roundRect">
            <a:avLst>
              <a:gd name="adj" fmla="val 6757"/>
            </a:avLst>
          </a:prstGeom>
          <a:solidFill>
            <a:srgbClr val="F0F2F8"/>
          </a:solidFill>
          <a:ln w="19050">
            <a:solidFill>
              <a:srgbClr val="8B6FC0"/>
            </a:solidFill>
            <a:prstDash val="solid"/>
          </a:ln>
        </p:spPr>
      </p:sp>
      <p:sp>
        <p:nvSpPr>
          <p:cNvPr id="16" name="Text 14"/>
          <p:cNvSpPr/>
          <p:nvPr/>
        </p:nvSpPr>
        <p:spPr>
          <a:xfrm>
            <a:off x="475488" y="2377440"/>
            <a:ext cx="3758184" cy="384048"/>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civilization</a:t>
            </a:r>
            <a:endParaRPr lang="en-US" sz="2000" dirty="0"/>
          </a:p>
        </p:txBody>
      </p:sp>
      <p:sp>
        <p:nvSpPr>
          <p:cNvPr id="17" name="Text 15"/>
          <p:cNvSpPr/>
          <p:nvPr/>
        </p:nvSpPr>
        <p:spPr>
          <a:xfrm>
            <a:off x="475488" y="2779776"/>
            <a:ext cx="3758184" cy="256032"/>
          </a:xfrm>
          <a:prstGeom prst="rect">
            <a:avLst/>
          </a:prstGeom>
          <a:noFill/>
          <a:ln/>
        </p:spPr>
        <p:txBody>
          <a:bodyPr wrap="square" lIns="0" tIns="0" rIns="0" bIns="0" rtlCol="0" anchor="ctr"/>
          <a:lstStyle/>
          <a:p>
            <a:pPr indent="0" marL="0">
              <a:buNone/>
            </a:pPr>
            <a:r>
              <a:rPr lang="en-US" sz="1000" i="1" dirty="0">
                <a:solidFill>
                  <a:srgbClr val="8B6FC0"/>
                </a:solidFill>
                <a:latin typeface="Calibri" pitchFamily="34" charset="0"/>
                <a:ea typeface="Calibri" pitchFamily="34" charset="-122"/>
                <a:cs typeface="Calibri" pitchFamily="34" charset="-120"/>
              </a:rPr>
              <a:t>civis = citizen</a:t>
            </a:r>
            <a:endParaRPr lang="en-US" sz="1000" dirty="0"/>
          </a:p>
        </p:txBody>
      </p:sp>
      <p:sp>
        <p:nvSpPr>
          <p:cNvPr id="18" name="Shape 16"/>
          <p:cNvSpPr/>
          <p:nvPr/>
        </p:nvSpPr>
        <p:spPr>
          <a:xfrm>
            <a:off x="457200" y="3090672"/>
            <a:ext cx="3794760" cy="457200"/>
          </a:xfrm>
          <a:prstGeom prst="roundRect">
            <a:avLst>
              <a:gd name="adj" fmla="val 16000"/>
            </a:avLst>
          </a:prstGeom>
          <a:solidFill>
            <a:srgbClr val="E3F8ED"/>
          </a:solidFill>
          <a:ln w="12700">
            <a:solidFill>
              <a:srgbClr val="34B76F"/>
            </a:solidFill>
            <a:prstDash val="solid"/>
          </a:ln>
        </p:spPr>
      </p:sp>
      <p:sp>
        <p:nvSpPr>
          <p:cNvPr id="19" name="Text 17"/>
          <p:cNvSpPr/>
          <p:nvPr/>
        </p:nvSpPr>
        <p:spPr>
          <a:xfrm>
            <a:off x="548640" y="3108960"/>
            <a:ext cx="3611880" cy="402336"/>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community of citizens working together</a:t>
            </a:r>
            <a:endParaRPr lang="en-US" sz="1100" dirty="0"/>
          </a:p>
        </p:txBody>
      </p:sp>
      <p:sp>
        <p:nvSpPr>
          <p:cNvPr id="20" name="Shape 18"/>
          <p:cNvSpPr/>
          <p:nvPr/>
        </p:nvSpPr>
        <p:spPr>
          <a:xfrm>
            <a:off x="4681728" y="2286000"/>
            <a:ext cx="3977640" cy="1353312"/>
          </a:xfrm>
          <a:prstGeom prst="roundRect">
            <a:avLst>
              <a:gd name="adj" fmla="val 6757"/>
            </a:avLst>
          </a:prstGeom>
          <a:solidFill>
            <a:srgbClr val="F0F2F8"/>
          </a:solidFill>
          <a:ln w="19050">
            <a:solidFill>
              <a:srgbClr val="34B76F"/>
            </a:solidFill>
            <a:prstDash val="solid"/>
          </a:ln>
        </p:spPr>
      </p:sp>
      <p:sp>
        <p:nvSpPr>
          <p:cNvPr id="21" name="Text 19"/>
          <p:cNvSpPr/>
          <p:nvPr/>
        </p:nvSpPr>
        <p:spPr>
          <a:xfrm>
            <a:off x="4791456" y="2377440"/>
            <a:ext cx="3758184" cy="384048"/>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economical</a:t>
            </a:r>
            <a:endParaRPr lang="en-US" sz="2000" dirty="0"/>
          </a:p>
        </p:txBody>
      </p:sp>
      <p:sp>
        <p:nvSpPr>
          <p:cNvPr id="22" name="Text 20"/>
          <p:cNvSpPr/>
          <p:nvPr/>
        </p:nvSpPr>
        <p:spPr>
          <a:xfrm>
            <a:off x="4791456" y="2779776"/>
            <a:ext cx="3758184" cy="256032"/>
          </a:xfrm>
          <a:prstGeom prst="rect">
            <a:avLst/>
          </a:prstGeom>
          <a:noFill/>
          <a:ln/>
        </p:spPr>
        <p:txBody>
          <a:bodyPr wrap="square" lIns="0" tIns="0" rIns="0" bIns="0" rtlCol="0" anchor="ctr"/>
          <a:lstStyle/>
          <a:p>
            <a:pPr indent="0" marL="0">
              <a:buNone/>
            </a:pPr>
            <a:r>
              <a:rPr lang="en-US" sz="1000" i="1" dirty="0">
                <a:solidFill>
                  <a:srgbClr val="34B76F"/>
                </a:solidFill>
                <a:latin typeface="Calibri" pitchFamily="34" charset="0"/>
                <a:ea typeface="Calibri" pitchFamily="34" charset="-122"/>
                <a:cs typeface="Calibri" pitchFamily="34" charset="-120"/>
              </a:rPr>
              <a:t>oikonomia = household management</a:t>
            </a:r>
            <a:endParaRPr lang="en-US" sz="1000" dirty="0"/>
          </a:p>
        </p:txBody>
      </p:sp>
      <p:sp>
        <p:nvSpPr>
          <p:cNvPr id="23" name="Shape 21"/>
          <p:cNvSpPr/>
          <p:nvPr/>
        </p:nvSpPr>
        <p:spPr>
          <a:xfrm>
            <a:off x="4773168" y="3090672"/>
            <a:ext cx="3794760" cy="457200"/>
          </a:xfrm>
          <a:prstGeom prst="roundRect">
            <a:avLst>
              <a:gd name="adj" fmla="val 16000"/>
            </a:avLst>
          </a:prstGeom>
          <a:solidFill>
            <a:srgbClr val="E3F8ED"/>
          </a:solidFill>
          <a:ln w="12700">
            <a:solidFill>
              <a:srgbClr val="34B76F"/>
            </a:solidFill>
            <a:prstDash val="solid"/>
          </a:ln>
        </p:spPr>
      </p:sp>
      <p:sp>
        <p:nvSpPr>
          <p:cNvPr id="24" name="Text 22"/>
          <p:cNvSpPr/>
          <p:nvPr/>
        </p:nvSpPr>
        <p:spPr>
          <a:xfrm>
            <a:off x="4864608" y="3108960"/>
            <a:ext cx="3611880" cy="402336"/>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managing resources wisely, without waste</a:t>
            </a:r>
            <a:endParaRPr lang="en-US" sz="1100" dirty="0"/>
          </a:p>
        </p:txBody>
      </p:sp>
      <p:sp>
        <p:nvSpPr>
          <p:cNvPr id="25" name="Shape 23"/>
          <p:cNvSpPr/>
          <p:nvPr/>
        </p:nvSpPr>
        <p:spPr>
          <a:xfrm>
            <a:off x="365760" y="3822192"/>
            <a:ext cx="502920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26" name="Text 24"/>
          <p:cNvSpPr/>
          <p:nvPr/>
        </p:nvSpPr>
        <p:spPr>
          <a:xfrm>
            <a:off x="548640" y="3913632"/>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7" name="Text 25"/>
          <p:cNvSpPr/>
          <p:nvPr/>
        </p:nvSpPr>
        <p:spPr>
          <a:xfrm>
            <a:off x="548640" y="4169664"/>
            <a:ext cx="466344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you figure it 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root was the most helpful clue?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this strategy work on a word in a different subject?</a:t>
            </a:r>
            <a:endParaRPr lang="en-US" sz="1100" dirty="0"/>
          </a:p>
        </p:txBody>
      </p:sp>
      <p:sp>
        <p:nvSpPr>
          <p:cNvPr id="28" name="Shape 26"/>
          <p:cNvSpPr/>
          <p:nvPr/>
        </p:nvSpPr>
        <p:spPr>
          <a:xfrm>
            <a:off x="5532120" y="3822192"/>
            <a:ext cx="3246120" cy="1005840"/>
          </a:xfrm>
          <a:prstGeom prst="roundRect">
            <a:avLst>
              <a:gd name="adj" fmla="val 10909"/>
            </a:avLst>
          </a:prstGeom>
          <a:solidFill>
            <a:srgbClr val="FFF3DC"/>
          </a:solidFill>
          <a:ln w="19050">
            <a:solidFill>
              <a:srgbClr val="F5E6C8"/>
            </a:solidFill>
            <a:prstDash val="solid"/>
          </a:ln>
        </p:spPr>
      </p:sp>
      <p:sp>
        <p:nvSpPr>
          <p:cNvPr id="29" name="Text 27"/>
          <p:cNvSpPr/>
          <p:nvPr/>
        </p:nvSpPr>
        <p:spPr>
          <a:xfrm>
            <a:off x="5669280" y="3877056"/>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30" name="Text 28"/>
          <p:cNvSpPr/>
          <p:nvPr/>
        </p:nvSpPr>
        <p:spPr>
          <a:xfrm>
            <a:off x="5669280" y="4078224"/>
            <a:ext cx="297180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figured it out because the root... told me..."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56032"/>
            <a:ext cx="8229600" cy="274320"/>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5" name="Text 3"/>
          <p:cNvSpPr/>
          <p:nvPr/>
        </p:nvSpPr>
        <p:spPr>
          <a:xfrm>
            <a:off x="457200" y="621792"/>
            <a:ext cx="822960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Curator's Secret Weapon</a:t>
            </a:r>
            <a:endParaRPr lang="en-US" sz="2600" dirty="0"/>
          </a:p>
        </p:txBody>
      </p:sp>
      <p:sp>
        <p:nvSpPr>
          <p:cNvPr id="6" name="Shape 4"/>
          <p:cNvSpPr/>
          <p:nvPr/>
        </p:nvSpPr>
        <p:spPr>
          <a:xfrm>
            <a:off x="1645920" y="1234440"/>
            <a:ext cx="5852160" cy="1719072"/>
          </a:xfrm>
          <a:prstGeom prst="roundRect">
            <a:avLst>
              <a:gd name="adj" fmla="val 10638"/>
            </a:avLst>
          </a:prstGeom>
          <a:solidFill>
            <a:srgbClr val="1A2D5A"/>
          </a:solidFill>
          <a:ln w="25400">
            <a:solidFill>
              <a:srgbClr val="D4943A"/>
            </a:solidFill>
            <a:prstDash val="solid"/>
          </a:ln>
        </p:spPr>
      </p:sp>
      <p:sp>
        <p:nvSpPr>
          <p:cNvPr id="7" name="Text 5"/>
          <p:cNvSpPr/>
          <p:nvPr/>
        </p:nvSpPr>
        <p:spPr>
          <a:xfrm>
            <a:off x="1828800" y="1325880"/>
            <a:ext cx="5486400" cy="1536192"/>
          </a:xfrm>
          <a:prstGeom prst="rect">
            <a:avLst/>
          </a:prstGeom>
          <a:noFill/>
          <a:ln/>
        </p:spPr>
        <p:txBody>
          <a:bodyPr wrap="square" lIns="0" tIns="0" rIns="0" bIns="0"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"Here's a curator trick: when you see a new word in the museum, look for a root you recognize. If it starts with geo-, it's about Earth. If it has civ-, it's about citizens. Roots are like secret codes that unlock meaning!"</a:t>
            </a:r>
            <a:endParaRPr lang="en-US" sz="1400" dirty="0"/>
          </a:p>
        </p:txBody>
      </p:sp>
      <p:sp>
        <p:nvSpPr>
          <p:cNvPr id="8" name="Shape 6"/>
          <p:cNvSpPr/>
          <p:nvPr/>
        </p:nvSpPr>
        <p:spPr>
          <a:xfrm>
            <a:off x="457200" y="3090672"/>
            <a:ext cx="2606040" cy="960120"/>
          </a:xfrm>
          <a:prstGeom prst="roundRect">
            <a:avLst>
              <a:gd name="adj" fmla="val 9524"/>
            </a:avLst>
          </a:prstGeom>
          <a:solidFill>
            <a:srgbClr val="1A2D5A"/>
          </a:solidFill>
          <a:ln w="12700">
            <a:solidFill>
              <a:srgbClr val="D4943A"/>
            </a:solidFill>
            <a:prstDash val="solid"/>
          </a:ln>
        </p:spPr>
      </p:sp>
      <p:sp>
        <p:nvSpPr>
          <p:cNvPr id="9" name="Text 7"/>
          <p:cNvSpPr/>
          <p:nvPr/>
        </p:nvSpPr>
        <p:spPr>
          <a:xfrm>
            <a:off x="457200" y="3127248"/>
            <a:ext cx="2606040" cy="274320"/>
          </a:xfrm>
          <a:prstGeom prst="rect">
            <a:avLst/>
          </a:prstGeom>
          <a:noFill/>
          <a:ln/>
        </p:spPr>
        <p:txBody>
          <a:bodyPr wrap="square" lIns="0" tIns="0" rIns="0" bIns="0" rtlCol="0" anchor="ctr"/>
          <a:lstStyle/>
          <a:p>
            <a:pPr algn="ctr" indent="0" marL="0">
              <a:buNone/>
            </a:pPr>
            <a:r>
              <a:rPr lang="en-US" sz="900" b="1" spc="150" kern="0" dirty="0">
                <a:solidFill>
                  <a:srgbClr val="D4943A"/>
                </a:solidFill>
                <a:latin typeface="Calibri" pitchFamily="34" charset="0"/>
                <a:ea typeface="Calibri" pitchFamily="34" charset="-122"/>
                <a:cs typeface="Calibri" pitchFamily="34" charset="-120"/>
              </a:rPr>
              <a:t>STEP 1</a:t>
            </a:r>
            <a:endParaRPr lang="en-US" sz="900" dirty="0"/>
          </a:p>
        </p:txBody>
      </p:sp>
      <p:sp>
        <p:nvSpPr>
          <p:cNvPr id="10" name="Text 8"/>
          <p:cNvSpPr/>
          <p:nvPr/>
        </p:nvSpPr>
        <p:spPr>
          <a:xfrm>
            <a:off x="457200" y="3383280"/>
            <a:ext cx="260604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Spot the root</a:t>
            </a:r>
            <a:endParaRPr lang="en-US" sz="1600" dirty="0"/>
          </a:p>
        </p:txBody>
      </p:sp>
      <p:sp>
        <p:nvSpPr>
          <p:cNvPr id="11" name="Shape 9"/>
          <p:cNvSpPr/>
          <p:nvPr/>
        </p:nvSpPr>
        <p:spPr>
          <a:xfrm>
            <a:off x="3291840" y="3090672"/>
            <a:ext cx="2606040" cy="960120"/>
          </a:xfrm>
          <a:prstGeom prst="roundRect">
            <a:avLst>
              <a:gd name="adj" fmla="val 9524"/>
            </a:avLst>
          </a:prstGeom>
          <a:solidFill>
            <a:srgbClr val="1A2D5A"/>
          </a:solidFill>
          <a:ln w="12700">
            <a:solidFill>
              <a:srgbClr val="D4943A"/>
            </a:solidFill>
            <a:prstDash val="solid"/>
          </a:ln>
        </p:spPr>
      </p:sp>
      <p:sp>
        <p:nvSpPr>
          <p:cNvPr id="12" name="Text 10"/>
          <p:cNvSpPr/>
          <p:nvPr/>
        </p:nvSpPr>
        <p:spPr>
          <a:xfrm>
            <a:off x="3291840" y="3127248"/>
            <a:ext cx="2606040" cy="274320"/>
          </a:xfrm>
          <a:prstGeom prst="rect">
            <a:avLst/>
          </a:prstGeom>
          <a:noFill/>
          <a:ln/>
        </p:spPr>
        <p:txBody>
          <a:bodyPr wrap="square" lIns="0" tIns="0" rIns="0" bIns="0" rtlCol="0" anchor="ctr"/>
          <a:lstStyle/>
          <a:p>
            <a:pPr algn="ctr" indent="0" marL="0">
              <a:buNone/>
            </a:pPr>
            <a:r>
              <a:rPr lang="en-US" sz="900" b="1" spc="150" kern="0" dirty="0">
                <a:solidFill>
                  <a:srgbClr val="D4943A"/>
                </a:solidFill>
                <a:latin typeface="Calibri" pitchFamily="34" charset="0"/>
                <a:ea typeface="Calibri" pitchFamily="34" charset="-122"/>
                <a:cs typeface="Calibri" pitchFamily="34" charset="-120"/>
              </a:rPr>
              <a:t>STEP 2</a:t>
            </a:r>
            <a:endParaRPr lang="en-US" sz="900" dirty="0"/>
          </a:p>
        </p:txBody>
      </p:sp>
      <p:sp>
        <p:nvSpPr>
          <p:cNvPr id="13" name="Text 11"/>
          <p:cNvSpPr/>
          <p:nvPr/>
        </p:nvSpPr>
        <p:spPr>
          <a:xfrm>
            <a:off x="3291840" y="3383280"/>
            <a:ext cx="260604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Connect to what you know</a:t>
            </a:r>
            <a:endParaRPr lang="en-US" sz="1600" dirty="0"/>
          </a:p>
        </p:txBody>
      </p:sp>
      <p:sp>
        <p:nvSpPr>
          <p:cNvPr id="14" name="Shape 12"/>
          <p:cNvSpPr/>
          <p:nvPr/>
        </p:nvSpPr>
        <p:spPr>
          <a:xfrm>
            <a:off x="6126480" y="3090672"/>
            <a:ext cx="2606040" cy="960120"/>
          </a:xfrm>
          <a:prstGeom prst="roundRect">
            <a:avLst>
              <a:gd name="adj" fmla="val 9524"/>
            </a:avLst>
          </a:prstGeom>
          <a:solidFill>
            <a:srgbClr val="1A2D5A"/>
          </a:solidFill>
          <a:ln w="12700">
            <a:solidFill>
              <a:srgbClr val="D4943A"/>
            </a:solidFill>
            <a:prstDash val="solid"/>
          </a:ln>
        </p:spPr>
      </p:sp>
      <p:sp>
        <p:nvSpPr>
          <p:cNvPr id="15" name="Text 13"/>
          <p:cNvSpPr/>
          <p:nvPr/>
        </p:nvSpPr>
        <p:spPr>
          <a:xfrm>
            <a:off x="6126480" y="3127248"/>
            <a:ext cx="2606040" cy="274320"/>
          </a:xfrm>
          <a:prstGeom prst="rect">
            <a:avLst/>
          </a:prstGeom>
          <a:noFill/>
          <a:ln/>
        </p:spPr>
        <p:txBody>
          <a:bodyPr wrap="square" lIns="0" tIns="0" rIns="0" bIns="0" rtlCol="0" anchor="ctr"/>
          <a:lstStyle/>
          <a:p>
            <a:pPr algn="ctr" indent="0" marL="0">
              <a:buNone/>
            </a:pPr>
            <a:r>
              <a:rPr lang="en-US" sz="900" b="1" spc="150" kern="0" dirty="0">
                <a:solidFill>
                  <a:srgbClr val="D4943A"/>
                </a:solidFill>
                <a:latin typeface="Calibri" pitchFamily="34" charset="0"/>
                <a:ea typeface="Calibri" pitchFamily="34" charset="-122"/>
                <a:cs typeface="Calibri" pitchFamily="34" charset="-120"/>
              </a:rPr>
              <a:t>STEP 3</a:t>
            </a:r>
            <a:endParaRPr lang="en-US" sz="900" dirty="0"/>
          </a:p>
        </p:txBody>
      </p:sp>
      <p:sp>
        <p:nvSpPr>
          <p:cNvPr id="16" name="Text 14"/>
          <p:cNvSpPr/>
          <p:nvPr/>
        </p:nvSpPr>
        <p:spPr>
          <a:xfrm>
            <a:off x="6126480" y="3383280"/>
            <a:ext cx="260604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Unlock the word</a:t>
            </a:r>
            <a:endParaRPr lang="en-US" sz="1600" dirty="0"/>
          </a:p>
        </p:txBody>
      </p:sp>
      <p:sp>
        <p:nvSpPr>
          <p:cNvPr id="17" name="Text 15"/>
          <p:cNvSpPr/>
          <p:nvPr/>
        </p:nvSpPr>
        <p:spPr>
          <a:xfrm>
            <a:off x="457200" y="4187952"/>
            <a:ext cx="8229600" cy="310896"/>
          </a:xfrm>
          <a:prstGeom prst="rect">
            <a:avLst/>
          </a:prstGeom>
          <a:noFill/>
          <a:ln/>
        </p:spPr>
        <p:txBody>
          <a:bodyPr wrap="square" lIns="0" tIns="0" rIns="0" bIns="0" rtlCol="0" anchor="ctr"/>
          <a:lstStyle/>
          <a:p>
            <a:pPr algn="ctr" indent="0" marL="0">
              <a:buNone/>
            </a:pPr>
            <a:r>
              <a:rPr lang="en-US" sz="1300" i="1" dirty="0">
                <a:solidFill>
                  <a:srgbClr val="55C8E8"/>
                </a:solidFill>
                <a:latin typeface="Calibri" pitchFamily="34" charset="0"/>
                <a:ea typeface="Calibri" pitchFamily="34" charset="-122"/>
                <a:cs typeface="Calibri" pitchFamily="34" charset="-120"/>
              </a:rPr>
              <a:t>You're already doing this. You're thinking like curators.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VIRTUE SPOTLIGHT</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Character builds better curators</a:t>
            </a:r>
            <a:endParaRPr lang="en-US" sz="1100" dirty="0"/>
          </a:p>
        </p:txBody>
      </p:sp>
      <p:sp>
        <p:nvSpPr>
          <p:cNvPr id="5" name="Shape 3"/>
          <p:cNvSpPr/>
          <p:nvPr/>
        </p:nvSpPr>
        <p:spPr>
          <a:xfrm>
            <a:off x="365760" y="841248"/>
            <a:ext cx="3749040" cy="3246120"/>
          </a:xfrm>
          <a:prstGeom prst="roundRect">
            <a:avLst>
              <a:gd name="adj" fmla="val 4225"/>
            </a:avLst>
          </a:prstGeom>
          <a:solidFill>
            <a:srgbClr val="0E1C42"/>
          </a:solidFill>
          <a:ln w="25400">
            <a:solidFill>
              <a:srgbClr val="D4943A"/>
            </a:solidFill>
            <a:prstDash val="solid"/>
          </a:ln>
        </p:spPr>
      </p:sp>
      <p:sp>
        <p:nvSpPr>
          <p:cNvPr id="6" name="Text 4"/>
          <p:cNvSpPr/>
          <p:nvPr/>
        </p:nvSpPr>
        <p:spPr>
          <a:xfrm>
            <a:off x="502920" y="960120"/>
            <a:ext cx="3474720" cy="347472"/>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RESPONSIBILITY</a:t>
            </a:r>
            <a:endParaRPr lang="en-US" sz="1100" dirty="0"/>
          </a:p>
        </p:txBody>
      </p:sp>
      <p:sp>
        <p:nvSpPr>
          <p:cNvPr id="7" name="Shape 5"/>
          <p:cNvSpPr/>
          <p:nvPr/>
        </p:nvSpPr>
        <p:spPr>
          <a:xfrm>
            <a:off x="502920" y="1371600"/>
            <a:ext cx="3474720" cy="2286000"/>
          </a:xfrm>
          <a:prstGeom prst="roundRect">
            <a:avLst>
              <a:gd name="adj" fmla="val 4800"/>
            </a:avLst>
          </a:prstGeom>
          <a:solidFill>
            <a:srgbClr val="E2E8F4"/>
          </a:solidFill>
          <a:ln w="19050">
            <a:solidFill>
              <a:srgbClr val="B0B8CC"/>
            </a:solidFill>
            <a:prstDash val="dash"/>
          </a:ln>
        </p:spPr>
      </p:sp>
      <p:sp>
        <p:nvSpPr>
          <p:cNvPr id="8" name="Text 6"/>
          <p:cNvSpPr/>
          <p:nvPr/>
        </p:nvSpPr>
        <p:spPr>
          <a:xfrm>
            <a:off x="502920" y="137160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640080" y="1645920"/>
            <a:ext cx="320040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junior curator carefully writing precise labels in a museum notebook, taking their time to get the words exactly right -- responsible, thoughtful, focused student</a:t>
            </a:r>
            <a:endParaRPr lang="en-US" sz="1100" dirty="0"/>
          </a:p>
        </p:txBody>
      </p:sp>
      <p:sp>
        <p:nvSpPr>
          <p:cNvPr id="10" name="Shape 8"/>
          <p:cNvSpPr/>
          <p:nvPr/>
        </p:nvSpPr>
        <p:spPr>
          <a:xfrm>
            <a:off x="4251960" y="841248"/>
            <a:ext cx="4453128" cy="1664208"/>
          </a:xfrm>
          <a:prstGeom prst="roundRect">
            <a:avLst>
              <a:gd name="adj" fmla="val 6593"/>
            </a:avLst>
          </a:prstGeom>
          <a:solidFill>
            <a:srgbClr val="F0F2F8"/>
          </a:solidFill>
          <a:ln w="12700">
            <a:solidFill>
              <a:srgbClr val="C8D0E8"/>
            </a:solidFill>
            <a:prstDash val="solid"/>
          </a:ln>
        </p:spPr>
      </p:sp>
      <p:sp>
        <p:nvSpPr>
          <p:cNvPr id="11" name="Text 9"/>
          <p:cNvSpPr/>
          <p:nvPr/>
        </p:nvSpPr>
        <p:spPr>
          <a:xfrm>
            <a:off x="4407408" y="932688"/>
            <a:ext cx="4133088" cy="1481328"/>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Responsible curators use precise language. When you know the roots of social studies words, you can choose the right words for your labels and explain your thinking clearly.</a:t>
            </a:r>
            <a:endParaRPr lang="en-US" sz="1300" dirty="0"/>
          </a:p>
        </p:txBody>
      </p:sp>
      <p:sp>
        <p:nvSpPr>
          <p:cNvPr id="12" name="Shape 10"/>
          <p:cNvSpPr/>
          <p:nvPr/>
        </p:nvSpPr>
        <p:spPr>
          <a:xfrm>
            <a:off x="4251960" y="2606040"/>
            <a:ext cx="4453128" cy="1481328"/>
          </a:xfrm>
          <a:prstGeom prst="roundRect">
            <a:avLst>
              <a:gd name="adj" fmla="val 7407"/>
            </a:avLst>
          </a:prstGeom>
          <a:solidFill>
            <a:srgbClr val="FFF3DC"/>
          </a:solidFill>
          <a:ln w="19050">
            <a:solidFill>
              <a:srgbClr val="D4943A"/>
            </a:solidFill>
            <a:prstDash val="solid"/>
          </a:ln>
        </p:spPr>
      </p:sp>
      <p:sp>
        <p:nvSpPr>
          <p:cNvPr id="13" name="Text 11"/>
          <p:cNvSpPr/>
          <p:nvPr/>
        </p:nvSpPr>
        <p:spPr>
          <a:xfrm>
            <a:off x="4407408" y="2697480"/>
            <a:ext cx="4133088" cy="1298448"/>
          </a:xfrm>
          <a:prstGeom prst="rect">
            <a:avLst/>
          </a:prstGeom>
          <a:noFill/>
          <a:ln/>
        </p:spPr>
        <p:txBody>
          <a:bodyPr wrap="square" lIns="0" tIns="0" rIns="0" bIns="0" rtlCol="0" anchor="ctr"/>
          <a:lstStyle/>
          <a:p>
            <a:pPr indent="0" marL="0">
              <a:buNone/>
            </a:pPr>
            <a:r>
              <a:rPr lang="en-US" sz="1400" i="1" dirty="0">
                <a:solidFill>
                  <a:srgbClr val="5A4A3A"/>
                </a:solidFill>
                <a:latin typeface="Cambria" pitchFamily="34" charset="0"/>
                <a:ea typeface="Cambria" pitchFamily="34" charset="-122"/>
                <a:cs typeface="Cambria" pitchFamily="34" charset="-120"/>
              </a:rPr>
              <a:t>"Sloppy language leads to confused visitors -- precision is a form of responsibility."</a:t>
            </a:r>
            <a:endParaRPr lang="en-US" sz="1400" dirty="0"/>
          </a:p>
        </p:txBody>
      </p:sp>
      <p:sp>
        <p:nvSpPr>
          <p:cNvPr id="14" name="Shape 12"/>
          <p:cNvSpPr/>
          <p:nvPr/>
        </p:nvSpPr>
        <p:spPr>
          <a:xfrm>
            <a:off x="365760" y="4206240"/>
            <a:ext cx="8412480" cy="621792"/>
          </a:xfrm>
          <a:prstGeom prst="roundRect">
            <a:avLst>
              <a:gd name="adj" fmla="val 17647"/>
            </a:avLst>
          </a:prstGeom>
          <a:solidFill>
            <a:srgbClr val="FFF3DC"/>
          </a:solidFill>
          <a:ln w="19050">
            <a:solidFill>
              <a:srgbClr val="F5E6C8"/>
            </a:solidFill>
            <a:prstDash val="solid"/>
          </a:ln>
        </p:spPr>
      </p:sp>
      <p:sp>
        <p:nvSpPr>
          <p:cNvPr id="15" name="Text 13"/>
          <p:cNvSpPr/>
          <p:nvPr/>
        </p:nvSpPr>
        <p:spPr>
          <a:xfrm>
            <a:off x="502920" y="42611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462272"/>
            <a:ext cx="8138160" cy="30175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be more responsible with language by..."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time when precise language mattered was..."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TEACHER MODELS  |  THINK ALOUD</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Watch how a curator uses roots to figure out a new word</a:t>
            </a:r>
            <a:endParaRPr lang="en-US" sz="1100" dirty="0"/>
          </a:p>
        </p:txBody>
      </p:sp>
      <p:sp>
        <p:nvSpPr>
          <p:cNvPr id="5" name="Shape 3"/>
          <p:cNvSpPr/>
          <p:nvPr/>
        </p:nvSpPr>
        <p:spPr>
          <a:xfrm>
            <a:off x="2743200" y="868680"/>
            <a:ext cx="3657600" cy="685800"/>
          </a:xfrm>
          <a:prstGeom prst="roundRect">
            <a:avLst>
              <a:gd name="adj" fmla="val 13333"/>
            </a:avLst>
          </a:prstGeom>
          <a:solidFill>
            <a:srgbClr val="1A2D5A"/>
          </a:solidFill>
          <a:ln w="25400">
            <a:solidFill>
              <a:srgbClr val="55C8E8"/>
            </a:solidFill>
            <a:prstDash val="solid"/>
          </a:ln>
        </p:spPr>
      </p:sp>
      <p:sp>
        <p:nvSpPr>
          <p:cNvPr id="6" name="Text 4"/>
          <p:cNvSpPr/>
          <p:nvPr/>
        </p:nvSpPr>
        <p:spPr>
          <a:xfrm>
            <a:off x="2743200" y="868680"/>
            <a:ext cx="3657600" cy="685800"/>
          </a:xfrm>
          <a:prstGeom prst="rect">
            <a:avLst/>
          </a:prstGeom>
          <a:noFill/>
          <a:ln/>
        </p:spPr>
        <p:txBody>
          <a:bodyPr wrap="square" lIns="0" tIns="0" rIns="0" bIns="0" rtlCol="0" anchor="ctr"/>
          <a:lstStyle/>
          <a:p>
            <a:pPr algn="ctr" indent="0" marL="0">
              <a:buNone/>
            </a:pPr>
            <a:r>
              <a:rPr lang="en-US" sz="3200" b="1" dirty="0">
                <a:solidFill>
                  <a:srgbClr val="55C8E8"/>
                </a:solidFill>
                <a:latin typeface="Cambria" pitchFamily="34" charset="0"/>
                <a:ea typeface="Cambria" pitchFamily="34" charset="-122"/>
                <a:cs typeface="Cambria" pitchFamily="34" charset="-120"/>
              </a:rPr>
              <a:t>geologist</a:t>
            </a:r>
            <a:endParaRPr lang="en-US" sz="3200" dirty="0"/>
          </a:p>
        </p:txBody>
      </p:sp>
      <p:sp>
        <p:nvSpPr>
          <p:cNvPr id="7" name="Shape 5"/>
          <p:cNvSpPr/>
          <p:nvPr/>
        </p:nvSpPr>
        <p:spPr>
          <a:xfrm>
            <a:off x="365760" y="1691640"/>
            <a:ext cx="3977640" cy="896112"/>
          </a:xfrm>
          <a:prstGeom prst="roundRect">
            <a:avLst>
              <a:gd name="adj" fmla="val 10204"/>
            </a:avLst>
          </a:prstGeom>
          <a:solidFill>
            <a:srgbClr val="F0F2F8"/>
          </a:solidFill>
          <a:ln w="19050">
            <a:solidFill>
              <a:srgbClr val="55C8E8"/>
            </a:solidFill>
            <a:prstDash val="solid"/>
          </a:ln>
        </p:spPr>
      </p:sp>
      <p:sp>
        <p:nvSpPr>
          <p:cNvPr id="8" name="Text 6"/>
          <p:cNvSpPr/>
          <p:nvPr/>
        </p:nvSpPr>
        <p:spPr>
          <a:xfrm>
            <a:off x="475488" y="1764792"/>
            <a:ext cx="3758184" cy="256032"/>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STEP 1: Spot the root</a:t>
            </a:r>
            <a:endParaRPr lang="en-US" sz="900" dirty="0"/>
          </a:p>
        </p:txBody>
      </p:sp>
      <p:sp>
        <p:nvSpPr>
          <p:cNvPr id="9" name="Text 7"/>
          <p:cNvSpPr/>
          <p:nvPr/>
        </p:nvSpPr>
        <p:spPr>
          <a:xfrm>
            <a:off x="475488" y="2039112"/>
            <a:ext cx="3758184" cy="475488"/>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I see geo- at the beginning.</a:t>
            </a:r>
            <a:endParaRPr lang="en-US" sz="1300" dirty="0"/>
          </a:p>
        </p:txBody>
      </p:sp>
      <p:sp>
        <p:nvSpPr>
          <p:cNvPr id="10" name="Shape 8"/>
          <p:cNvSpPr/>
          <p:nvPr/>
        </p:nvSpPr>
        <p:spPr>
          <a:xfrm>
            <a:off x="4681728" y="1691640"/>
            <a:ext cx="3977640" cy="896112"/>
          </a:xfrm>
          <a:prstGeom prst="roundRect">
            <a:avLst>
              <a:gd name="adj" fmla="val 10204"/>
            </a:avLst>
          </a:prstGeom>
          <a:solidFill>
            <a:srgbClr val="F0F2F8"/>
          </a:solidFill>
          <a:ln w="19050">
            <a:solidFill>
              <a:srgbClr val="1A8A7D"/>
            </a:solidFill>
            <a:prstDash val="solid"/>
          </a:ln>
        </p:spPr>
      </p:sp>
      <p:sp>
        <p:nvSpPr>
          <p:cNvPr id="11" name="Text 9"/>
          <p:cNvSpPr/>
          <p:nvPr/>
        </p:nvSpPr>
        <p:spPr>
          <a:xfrm>
            <a:off x="4791456" y="1764792"/>
            <a:ext cx="3758184" cy="256032"/>
          </a:xfrm>
          <a:prstGeom prst="rect">
            <a:avLst/>
          </a:prstGeom>
          <a:noFill/>
          <a:ln/>
        </p:spPr>
        <p:txBody>
          <a:bodyPr wrap="square" lIns="0" tIns="0" rIns="0" bIns="0" rtlCol="0" anchor="ctr"/>
          <a:lstStyle/>
          <a:p>
            <a:pPr indent="0" marL="0">
              <a:buNone/>
            </a:pPr>
            <a:r>
              <a:rPr lang="en-US" sz="900" b="1" spc="100" kern="0" dirty="0">
                <a:solidFill>
                  <a:srgbClr val="1A8A7D"/>
                </a:solidFill>
                <a:latin typeface="Calibri" pitchFamily="34" charset="0"/>
                <a:ea typeface="Calibri" pitchFamily="34" charset="-122"/>
                <a:cs typeface="Calibri" pitchFamily="34" charset="-120"/>
              </a:rPr>
              <a:t>STEP 2: Connect to what I know</a:t>
            </a:r>
            <a:endParaRPr lang="en-US" sz="900" dirty="0"/>
          </a:p>
        </p:txBody>
      </p:sp>
      <p:sp>
        <p:nvSpPr>
          <p:cNvPr id="12" name="Text 10"/>
          <p:cNvSpPr/>
          <p:nvPr/>
        </p:nvSpPr>
        <p:spPr>
          <a:xfrm>
            <a:off x="4791456" y="2039112"/>
            <a:ext cx="3758184" cy="475488"/>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I know geo means "earth" from geography!</a:t>
            </a:r>
            <a:endParaRPr lang="en-US" sz="1300" dirty="0"/>
          </a:p>
        </p:txBody>
      </p:sp>
      <p:sp>
        <p:nvSpPr>
          <p:cNvPr id="13" name="Shape 11"/>
          <p:cNvSpPr/>
          <p:nvPr/>
        </p:nvSpPr>
        <p:spPr>
          <a:xfrm>
            <a:off x="365760" y="2715768"/>
            <a:ext cx="3977640" cy="896112"/>
          </a:xfrm>
          <a:prstGeom prst="roundRect">
            <a:avLst>
              <a:gd name="adj" fmla="val 10204"/>
            </a:avLst>
          </a:prstGeom>
          <a:solidFill>
            <a:srgbClr val="F0F2F8"/>
          </a:solidFill>
          <a:ln w="19050">
            <a:solidFill>
              <a:srgbClr val="D4943A"/>
            </a:solidFill>
            <a:prstDash val="solid"/>
          </a:ln>
        </p:spPr>
      </p:sp>
      <p:sp>
        <p:nvSpPr>
          <p:cNvPr id="14" name="Text 12"/>
          <p:cNvSpPr/>
          <p:nvPr/>
        </p:nvSpPr>
        <p:spPr>
          <a:xfrm>
            <a:off x="475488" y="2788920"/>
            <a:ext cx="3758184" cy="256032"/>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STEP 3: Add the suffix</a:t>
            </a:r>
            <a:endParaRPr lang="en-US" sz="900" dirty="0"/>
          </a:p>
        </p:txBody>
      </p:sp>
      <p:sp>
        <p:nvSpPr>
          <p:cNvPr id="15" name="Text 13"/>
          <p:cNvSpPr/>
          <p:nvPr/>
        </p:nvSpPr>
        <p:spPr>
          <a:xfrm>
            <a:off x="475488" y="3063240"/>
            <a:ext cx="3758184" cy="475488"/>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-logist = one who studies (like biologist)</a:t>
            </a:r>
            <a:endParaRPr lang="en-US" sz="1300" dirty="0"/>
          </a:p>
        </p:txBody>
      </p:sp>
      <p:sp>
        <p:nvSpPr>
          <p:cNvPr id="16" name="Shape 14"/>
          <p:cNvSpPr/>
          <p:nvPr/>
        </p:nvSpPr>
        <p:spPr>
          <a:xfrm>
            <a:off x="4681728" y="2715768"/>
            <a:ext cx="3977640" cy="896112"/>
          </a:xfrm>
          <a:prstGeom prst="roundRect">
            <a:avLst>
              <a:gd name="adj" fmla="val 10204"/>
            </a:avLst>
          </a:prstGeom>
          <a:solidFill>
            <a:srgbClr val="F0F2F8"/>
          </a:solidFill>
          <a:ln w="19050">
            <a:solidFill>
              <a:srgbClr val="34B76F"/>
            </a:solidFill>
            <a:prstDash val="solid"/>
          </a:ln>
        </p:spPr>
      </p:sp>
      <p:sp>
        <p:nvSpPr>
          <p:cNvPr id="17" name="Text 15"/>
          <p:cNvSpPr/>
          <p:nvPr/>
        </p:nvSpPr>
        <p:spPr>
          <a:xfrm>
            <a:off x="4791456" y="2788920"/>
            <a:ext cx="3758184" cy="256032"/>
          </a:xfrm>
          <a:prstGeom prst="rect">
            <a:avLst/>
          </a:prstGeom>
          <a:noFill/>
          <a:ln/>
        </p:spPr>
        <p:txBody>
          <a:bodyPr wrap="square" lIns="0" tIns="0" rIns="0" bIns="0" rtlCol="0" anchor="ctr"/>
          <a:lstStyle/>
          <a:p>
            <a:pPr indent="0" marL="0">
              <a:buNone/>
            </a:pPr>
            <a:r>
              <a:rPr lang="en-US" sz="900" b="1" spc="100" kern="0" dirty="0">
                <a:solidFill>
                  <a:srgbClr val="34B76F"/>
                </a:solidFill>
                <a:latin typeface="Calibri" pitchFamily="34" charset="0"/>
                <a:ea typeface="Calibri" pitchFamily="34" charset="-122"/>
                <a:cs typeface="Calibri" pitchFamily="34" charset="-120"/>
              </a:rPr>
              <a:t>STEP 4: Unlock the meaning</a:t>
            </a:r>
            <a:endParaRPr lang="en-US" sz="900" dirty="0"/>
          </a:p>
        </p:txBody>
      </p:sp>
      <p:sp>
        <p:nvSpPr>
          <p:cNvPr id="18" name="Text 16"/>
          <p:cNvSpPr/>
          <p:nvPr/>
        </p:nvSpPr>
        <p:spPr>
          <a:xfrm>
            <a:off x="4791456" y="3063240"/>
            <a:ext cx="3758184" cy="475488"/>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Geologist = one who studies the Earth -- specifically, Earth's rocks and layers.</a:t>
            </a:r>
            <a:endParaRPr lang="en-US" sz="1300" dirty="0"/>
          </a:p>
        </p:txBody>
      </p:sp>
      <p:sp>
        <p:nvSpPr>
          <p:cNvPr id="19" name="Shape 17"/>
          <p:cNvSpPr/>
          <p:nvPr/>
        </p:nvSpPr>
        <p:spPr>
          <a:xfrm>
            <a:off x="365760" y="3822192"/>
            <a:ext cx="8412480" cy="658368"/>
          </a:xfrm>
          <a:prstGeom prst="roundRect">
            <a:avLst>
              <a:gd name="adj" fmla="val 16667"/>
            </a:avLst>
          </a:prstGeom>
          <a:solidFill>
            <a:srgbClr val="FFF3DC"/>
          </a:solidFill>
          <a:ln w="19050">
            <a:solidFill>
              <a:srgbClr val="F5E6C8"/>
            </a:solidFill>
            <a:prstDash val="solid"/>
          </a:ln>
        </p:spPr>
      </p:sp>
      <p:sp>
        <p:nvSpPr>
          <p:cNvPr id="20" name="Text 18"/>
          <p:cNvSpPr/>
          <p:nvPr/>
        </p:nvSpPr>
        <p:spPr>
          <a:xfrm>
            <a:off x="502920" y="387705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502920" y="4078224"/>
            <a:ext cx="8138160" cy="3383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try this with... (a word you know)"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root clue is... so this word probably means..."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E8636B"/>
                </a:solidFill>
                <a:latin typeface="Calibri" pitchFamily="34" charset="0"/>
                <a:ea typeface="Calibri" pitchFamily="34" charset="-122"/>
                <a:cs typeface="Calibri" pitchFamily="34" charset="-120"/>
              </a:rPr>
              <a:t>ERROR ANALYSIS  |  WHAT DID THIS STUDENT OVERLOOK?</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A student wrote this in their Curator's Notebook. What did they miss?</a:t>
            </a:r>
            <a:endParaRPr lang="en-US" sz="1100" dirty="0"/>
          </a:p>
        </p:txBody>
      </p:sp>
      <p:sp>
        <p:nvSpPr>
          <p:cNvPr id="5" name="Shape 3"/>
          <p:cNvSpPr/>
          <p:nvPr/>
        </p:nvSpPr>
        <p:spPr>
          <a:xfrm>
            <a:off x="365760" y="804672"/>
            <a:ext cx="8412480" cy="1417320"/>
          </a:xfrm>
          <a:prstGeom prst="roundRect">
            <a:avLst>
              <a:gd name="adj" fmla="val 7742"/>
            </a:avLst>
          </a:prstGeom>
          <a:solidFill>
            <a:srgbClr val="FFF0F0"/>
          </a:solidFill>
          <a:ln w="25400">
            <a:solidFill>
              <a:srgbClr val="E8636B"/>
            </a:solidFill>
            <a:prstDash val="solid"/>
          </a:ln>
        </p:spPr>
      </p:sp>
      <p:sp>
        <p:nvSpPr>
          <p:cNvPr id="6" name="Text 4"/>
          <p:cNvSpPr/>
          <p:nvPr/>
        </p:nvSpPr>
        <p:spPr>
          <a:xfrm>
            <a:off x="548640" y="868680"/>
            <a:ext cx="320040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WROTE:</a:t>
            </a:r>
            <a:endParaRPr lang="en-US" sz="900" dirty="0"/>
          </a:p>
        </p:txBody>
      </p:sp>
      <p:sp>
        <p:nvSpPr>
          <p:cNvPr id="7" name="Text 5"/>
          <p:cNvSpPr/>
          <p:nvPr/>
        </p:nvSpPr>
        <p:spPr>
          <a:xfrm>
            <a:off x="548640" y="1143000"/>
            <a:ext cx="7955280" cy="960120"/>
          </a:xfrm>
          <a:prstGeom prst="rect">
            <a:avLst/>
          </a:prstGeom>
          <a:noFill/>
          <a:ln/>
        </p:spPr>
        <p:txBody>
          <a:bodyPr wrap="square" lIns="0" tIns="0" rIns="0" bIns="0" rtlCol="0" anchor="ctr"/>
          <a:lstStyle/>
          <a:p>
            <a:pPr indent="0" marL="0">
              <a:buNone/>
            </a:pPr>
            <a:r>
              <a:rPr lang="en-US" sz="1500" i="1" dirty="0">
                <a:solidFill>
                  <a:srgbClr val="8A2020"/>
                </a:solidFill>
                <a:latin typeface="Cambria" pitchFamily="34" charset="0"/>
                <a:ea typeface="Cambria" pitchFamily="34" charset="-122"/>
                <a:cs typeface="Cambria" pitchFamily="34" charset="-120"/>
              </a:rPr>
              <a:t>"Economics is about money. Economy means we use money to buy things. The root 'oikonomia' just means money stuff."</a:t>
            </a:r>
            <a:endParaRPr lang="en-US" sz="1500" dirty="0"/>
          </a:p>
        </p:txBody>
      </p:sp>
      <p:sp>
        <p:nvSpPr>
          <p:cNvPr id="8" name="Shape 6"/>
          <p:cNvSpPr/>
          <p:nvPr/>
        </p:nvSpPr>
        <p:spPr>
          <a:xfrm>
            <a:off x="365760" y="2377440"/>
            <a:ext cx="5029200" cy="141732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46888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724912"/>
            <a:ext cx="4663440" cy="978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get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important part of the root did they miss?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correct this notebook entry?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'management' matter more than just 'money'?</a:t>
            </a:r>
            <a:endParaRPr lang="en-US" sz="1100" dirty="0"/>
          </a:p>
        </p:txBody>
      </p:sp>
      <p:sp>
        <p:nvSpPr>
          <p:cNvPr id="11" name="Shape 9"/>
          <p:cNvSpPr/>
          <p:nvPr/>
        </p:nvSpPr>
        <p:spPr>
          <a:xfrm>
            <a:off x="5532120" y="2377440"/>
            <a:ext cx="3246120" cy="1417320"/>
          </a:xfrm>
          <a:prstGeom prst="roundRect">
            <a:avLst>
              <a:gd name="adj" fmla="val 7742"/>
            </a:avLst>
          </a:prstGeom>
          <a:solidFill>
            <a:srgbClr val="E3F8ED"/>
          </a:solidFill>
          <a:ln w="25400">
            <a:solidFill>
              <a:srgbClr val="34B76F"/>
            </a:solidFill>
            <a:prstDash val="solid"/>
          </a:ln>
        </p:spPr>
      </p:sp>
      <p:sp>
        <p:nvSpPr>
          <p:cNvPr id="12" name="Text 10"/>
          <p:cNvSpPr/>
          <p:nvPr/>
        </p:nvSpPr>
        <p:spPr>
          <a:xfrm>
            <a:off x="5687568" y="2450592"/>
            <a:ext cx="2926080"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BETTER ANSWER:</a:t>
            </a:r>
            <a:endParaRPr lang="en-US" sz="900" dirty="0"/>
          </a:p>
        </p:txBody>
      </p:sp>
      <p:sp>
        <p:nvSpPr>
          <p:cNvPr id="13" name="Text 11"/>
          <p:cNvSpPr/>
          <p:nvPr/>
        </p:nvSpPr>
        <p:spPr>
          <a:xfrm>
            <a:off x="5650992" y="2724912"/>
            <a:ext cx="2971800" cy="987552"/>
          </a:xfrm>
          <a:prstGeom prst="rect">
            <a:avLst/>
          </a:prstGeom>
          <a:noFill/>
          <a:ln/>
        </p:spPr>
        <p:txBody>
          <a:bodyPr wrap="square" lIns="0" tIns="0" rIns="0" bIns="0"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The root oikonomia means household MANAGEMENT -- not just money. Economics is about how people manage all their resources (food, time, land, money), not just buying things.</a:t>
            </a:r>
            <a:endParaRPr lang="en-US" sz="1100" dirty="0"/>
          </a:p>
        </p:txBody>
      </p:sp>
      <p:sp>
        <p:nvSpPr>
          <p:cNvPr id="14" name="Shape 12"/>
          <p:cNvSpPr/>
          <p:nvPr/>
        </p:nvSpPr>
        <p:spPr>
          <a:xfrm>
            <a:off x="365760" y="3931920"/>
            <a:ext cx="8412480" cy="713232"/>
          </a:xfrm>
          <a:prstGeom prst="roundRect">
            <a:avLst>
              <a:gd name="adj" fmla="val 15385"/>
            </a:avLst>
          </a:prstGeom>
          <a:solidFill>
            <a:srgbClr val="FFF3DC"/>
          </a:solidFill>
          <a:ln w="19050">
            <a:solidFill>
              <a:srgbClr val="F5E6C8"/>
            </a:solidFill>
            <a:prstDash val="solid"/>
          </a:ln>
        </p:spPr>
      </p:sp>
      <p:sp>
        <p:nvSpPr>
          <p:cNvPr id="15" name="Text 13"/>
          <p:cNvSpPr/>
          <p:nvPr/>
        </p:nvSpPr>
        <p:spPr>
          <a:xfrm>
            <a:off x="502920" y="39867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187952"/>
            <a:ext cx="8138160" cy="39319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because... but they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better way to explain oikonomia is..."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YOUR TURN  |  INDEPENDENT PRACTICE</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Use roots to figure out three new words -- no help needed!</a:t>
            </a:r>
            <a:endParaRPr lang="en-US" sz="1100" dirty="0"/>
          </a:p>
        </p:txBody>
      </p:sp>
      <p:sp>
        <p:nvSpPr>
          <p:cNvPr id="5" name="Shape 3"/>
          <p:cNvSpPr/>
          <p:nvPr/>
        </p:nvSpPr>
        <p:spPr>
          <a:xfrm>
            <a:off x="365760" y="841248"/>
            <a:ext cx="2670048" cy="2514600"/>
          </a:xfrm>
          <a:prstGeom prst="roundRect">
            <a:avLst>
              <a:gd name="adj" fmla="val 4364"/>
            </a:avLst>
          </a:prstGeom>
          <a:solidFill>
            <a:srgbClr val="F0F2F8"/>
          </a:solidFill>
          <a:ln w="25400">
            <a:solidFill>
              <a:srgbClr val="1A8A7D"/>
            </a:solidFill>
            <a:prstDash val="solid"/>
          </a:ln>
        </p:spPr>
      </p:sp>
      <p:sp>
        <p:nvSpPr>
          <p:cNvPr id="6" name="Text 4"/>
          <p:cNvSpPr/>
          <p:nvPr/>
        </p:nvSpPr>
        <p:spPr>
          <a:xfrm>
            <a:off x="475488" y="896112"/>
            <a:ext cx="2450592"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WORD 1</a:t>
            </a:r>
            <a:endParaRPr lang="en-US" sz="900" dirty="0"/>
          </a:p>
        </p:txBody>
      </p:sp>
      <p:sp>
        <p:nvSpPr>
          <p:cNvPr id="7" name="Text 5"/>
          <p:cNvSpPr/>
          <p:nvPr/>
        </p:nvSpPr>
        <p:spPr>
          <a:xfrm>
            <a:off x="365760" y="1170432"/>
            <a:ext cx="2670048" cy="566928"/>
          </a:xfrm>
          <a:prstGeom prst="rect">
            <a:avLst/>
          </a:prstGeom>
          <a:noFill/>
          <a:ln/>
        </p:spPr>
        <p:txBody>
          <a:bodyPr wrap="square" lIns="0" tIns="0" rIns="0" bIns="0" rtlCol="0" anchor="ctr"/>
          <a:lstStyle/>
          <a:p>
            <a:pPr algn="ctr" indent="0" marL="0">
              <a:buNone/>
            </a:pPr>
            <a:r>
              <a:rPr lang="en-US" sz="2400" b="1" dirty="0">
                <a:solidFill>
                  <a:srgbClr val="0E1C42"/>
                </a:solidFill>
                <a:latin typeface="Cambria" pitchFamily="34" charset="0"/>
                <a:ea typeface="Cambria" pitchFamily="34" charset="-122"/>
                <a:cs typeface="Cambria" pitchFamily="34" charset="-120"/>
              </a:rPr>
              <a:t>geographer</a:t>
            </a:r>
            <a:endParaRPr lang="en-US" sz="2400" dirty="0"/>
          </a:p>
        </p:txBody>
      </p:sp>
      <p:sp>
        <p:nvSpPr>
          <p:cNvPr id="8" name="Shape 6"/>
          <p:cNvSpPr/>
          <p:nvPr/>
        </p:nvSpPr>
        <p:spPr>
          <a:xfrm>
            <a:off x="502920" y="1810512"/>
            <a:ext cx="2395728" cy="0"/>
          </a:xfrm>
          <a:prstGeom prst="line">
            <a:avLst/>
          </a:prstGeom>
          <a:noFill/>
          <a:ln w="12700">
            <a:solidFill>
              <a:srgbClr val="1A8A7D"/>
            </a:solidFill>
            <a:prstDash val="dash"/>
          </a:ln>
        </p:spPr>
      </p:sp>
      <p:sp>
        <p:nvSpPr>
          <p:cNvPr id="9" name="Text 7"/>
          <p:cNvSpPr/>
          <p:nvPr/>
        </p:nvSpPr>
        <p:spPr>
          <a:xfrm>
            <a:off x="502920" y="1883664"/>
            <a:ext cx="2395728" cy="228600"/>
          </a:xfrm>
          <a:prstGeom prst="rect">
            <a:avLst/>
          </a:prstGeom>
          <a:noFill/>
          <a:ln/>
        </p:spPr>
        <p:txBody>
          <a:bodyPr wrap="square" lIns="0" tIns="0" rIns="0" bIns="0" rtlCol="0" anchor="ctr"/>
          <a:lstStyle/>
          <a:p>
            <a:pPr indent="0" marL="0">
              <a:buNone/>
            </a:pPr>
            <a:r>
              <a:rPr lang="en-US" sz="900" b="1" dirty="0">
                <a:solidFill>
                  <a:srgbClr val="7A88A8"/>
                </a:solidFill>
                <a:latin typeface="Calibri" pitchFamily="34" charset="0"/>
                <a:ea typeface="Calibri" pitchFamily="34" charset="-122"/>
                <a:cs typeface="Calibri" pitchFamily="34" charset="-120"/>
              </a:rPr>
              <a:t>Root hint:</a:t>
            </a:r>
            <a:endParaRPr lang="en-US" sz="900" dirty="0"/>
          </a:p>
        </p:txBody>
      </p:sp>
      <p:sp>
        <p:nvSpPr>
          <p:cNvPr id="10" name="Text 8"/>
          <p:cNvSpPr/>
          <p:nvPr/>
        </p:nvSpPr>
        <p:spPr>
          <a:xfrm>
            <a:off x="502920" y="2103120"/>
            <a:ext cx="2395728" cy="411480"/>
          </a:xfrm>
          <a:prstGeom prst="rect">
            <a:avLst/>
          </a:prstGeom>
          <a:noFill/>
          <a:ln/>
        </p:spPr>
        <p:txBody>
          <a:bodyPr wrap="square" lIns="0" tIns="0" rIns="0" bIns="0" rtlCol="0" anchor="ctr"/>
          <a:lstStyle/>
          <a:p>
            <a:pPr indent="0" marL="0">
              <a:buNone/>
            </a:pPr>
            <a:r>
              <a:rPr lang="en-US" sz="1000" i="1" dirty="0">
                <a:solidFill>
                  <a:srgbClr val="1A8A7D"/>
                </a:solidFill>
                <a:latin typeface="Calibri" pitchFamily="34" charset="0"/>
                <a:ea typeface="Calibri" pitchFamily="34" charset="-122"/>
                <a:cs typeface="Calibri" pitchFamily="34" charset="-120"/>
              </a:rPr>
              <a:t>geo = earth  |  -grapher = one who writes</a:t>
            </a:r>
            <a:endParaRPr lang="en-US" sz="1000" dirty="0"/>
          </a:p>
        </p:txBody>
      </p:sp>
      <p:sp>
        <p:nvSpPr>
          <p:cNvPr id="11" name="Shape 9"/>
          <p:cNvSpPr/>
          <p:nvPr/>
        </p:nvSpPr>
        <p:spPr>
          <a:xfrm>
            <a:off x="475488" y="2606040"/>
            <a:ext cx="2450592" cy="566928"/>
          </a:xfrm>
          <a:prstGeom prst="roundRect">
            <a:avLst>
              <a:gd name="adj" fmla="val 12903"/>
            </a:avLst>
          </a:prstGeom>
          <a:solidFill>
            <a:srgbClr val="FFFFFF"/>
          </a:solidFill>
          <a:ln w="12700">
            <a:solidFill>
              <a:srgbClr val="C8D0E8"/>
            </a:solidFill>
            <a:prstDash val="dash"/>
          </a:ln>
        </p:spPr>
      </p:sp>
      <p:sp>
        <p:nvSpPr>
          <p:cNvPr id="12" name="Text 10"/>
          <p:cNvSpPr/>
          <p:nvPr/>
        </p:nvSpPr>
        <p:spPr>
          <a:xfrm>
            <a:off x="566928" y="2651760"/>
            <a:ext cx="2267712" cy="18288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This means:</a:t>
            </a:r>
            <a:endParaRPr lang="en-US" sz="800" dirty="0"/>
          </a:p>
        </p:txBody>
      </p:sp>
      <p:sp>
        <p:nvSpPr>
          <p:cNvPr id="13" name="Shape 11"/>
          <p:cNvSpPr/>
          <p:nvPr/>
        </p:nvSpPr>
        <p:spPr>
          <a:xfrm>
            <a:off x="3200400" y="841248"/>
            <a:ext cx="2670048" cy="2514600"/>
          </a:xfrm>
          <a:prstGeom prst="roundRect">
            <a:avLst>
              <a:gd name="adj" fmla="val 4364"/>
            </a:avLst>
          </a:prstGeom>
          <a:solidFill>
            <a:srgbClr val="F0F2F8"/>
          </a:solidFill>
          <a:ln w="25400">
            <a:solidFill>
              <a:srgbClr val="55C8E8"/>
            </a:solidFill>
            <a:prstDash val="solid"/>
          </a:ln>
        </p:spPr>
      </p:sp>
      <p:sp>
        <p:nvSpPr>
          <p:cNvPr id="14" name="Text 12"/>
          <p:cNvSpPr/>
          <p:nvPr/>
        </p:nvSpPr>
        <p:spPr>
          <a:xfrm>
            <a:off x="3310128" y="896112"/>
            <a:ext cx="2450592"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WORD 2</a:t>
            </a:r>
            <a:endParaRPr lang="en-US" sz="900" dirty="0"/>
          </a:p>
        </p:txBody>
      </p:sp>
      <p:sp>
        <p:nvSpPr>
          <p:cNvPr id="15" name="Text 13"/>
          <p:cNvSpPr/>
          <p:nvPr/>
        </p:nvSpPr>
        <p:spPr>
          <a:xfrm>
            <a:off x="3200400" y="1170432"/>
            <a:ext cx="2670048" cy="566928"/>
          </a:xfrm>
          <a:prstGeom prst="rect">
            <a:avLst/>
          </a:prstGeom>
          <a:noFill/>
          <a:ln/>
        </p:spPr>
        <p:txBody>
          <a:bodyPr wrap="square" lIns="0" tIns="0" rIns="0" bIns="0" rtlCol="0" anchor="ctr"/>
          <a:lstStyle/>
          <a:p>
            <a:pPr algn="ctr" indent="0" marL="0">
              <a:buNone/>
            </a:pPr>
            <a:r>
              <a:rPr lang="en-US" sz="2400" b="1" dirty="0">
                <a:solidFill>
                  <a:srgbClr val="0E1C42"/>
                </a:solidFill>
                <a:latin typeface="Cambria" pitchFamily="34" charset="0"/>
                <a:ea typeface="Cambria" pitchFamily="34" charset="-122"/>
                <a:cs typeface="Cambria" pitchFamily="34" charset="-120"/>
              </a:rPr>
              <a:t>historical</a:t>
            </a:r>
            <a:endParaRPr lang="en-US" sz="2400" dirty="0"/>
          </a:p>
        </p:txBody>
      </p:sp>
      <p:sp>
        <p:nvSpPr>
          <p:cNvPr id="16" name="Shape 14"/>
          <p:cNvSpPr/>
          <p:nvPr/>
        </p:nvSpPr>
        <p:spPr>
          <a:xfrm>
            <a:off x="3337560" y="1810512"/>
            <a:ext cx="2395728" cy="0"/>
          </a:xfrm>
          <a:prstGeom prst="line">
            <a:avLst/>
          </a:prstGeom>
          <a:noFill/>
          <a:ln w="12700">
            <a:solidFill>
              <a:srgbClr val="55C8E8"/>
            </a:solidFill>
            <a:prstDash val="dash"/>
          </a:ln>
        </p:spPr>
      </p:sp>
      <p:sp>
        <p:nvSpPr>
          <p:cNvPr id="17" name="Text 15"/>
          <p:cNvSpPr/>
          <p:nvPr/>
        </p:nvSpPr>
        <p:spPr>
          <a:xfrm>
            <a:off x="3337560" y="1883664"/>
            <a:ext cx="2395728" cy="228600"/>
          </a:xfrm>
          <a:prstGeom prst="rect">
            <a:avLst/>
          </a:prstGeom>
          <a:noFill/>
          <a:ln/>
        </p:spPr>
        <p:txBody>
          <a:bodyPr wrap="square" lIns="0" tIns="0" rIns="0" bIns="0" rtlCol="0" anchor="ctr"/>
          <a:lstStyle/>
          <a:p>
            <a:pPr indent="0" marL="0">
              <a:buNone/>
            </a:pPr>
            <a:r>
              <a:rPr lang="en-US" sz="900" b="1" dirty="0">
                <a:solidFill>
                  <a:srgbClr val="7A88A8"/>
                </a:solidFill>
                <a:latin typeface="Calibri" pitchFamily="34" charset="0"/>
                <a:ea typeface="Calibri" pitchFamily="34" charset="-122"/>
                <a:cs typeface="Calibri" pitchFamily="34" charset="-120"/>
              </a:rPr>
              <a:t>Root hint:</a:t>
            </a:r>
            <a:endParaRPr lang="en-US" sz="900" dirty="0"/>
          </a:p>
        </p:txBody>
      </p:sp>
      <p:sp>
        <p:nvSpPr>
          <p:cNvPr id="18" name="Text 16"/>
          <p:cNvSpPr/>
          <p:nvPr/>
        </p:nvSpPr>
        <p:spPr>
          <a:xfrm>
            <a:off x="3337560" y="2103120"/>
            <a:ext cx="2395728" cy="411480"/>
          </a:xfrm>
          <a:prstGeom prst="rect">
            <a:avLst/>
          </a:prstGeom>
          <a:noFill/>
          <a:ln/>
        </p:spPr>
        <p:txBody>
          <a:bodyPr wrap="square" lIns="0" tIns="0" rIns="0" bIns="0" rtlCol="0" anchor="ctr"/>
          <a:lstStyle/>
          <a:p>
            <a:pPr indent="0" marL="0">
              <a:buNone/>
            </a:pPr>
            <a:r>
              <a:rPr lang="en-US" sz="1000" i="1" dirty="0">
                <a:solidFill>
                  <a:srgbClr val="55C8E8"/>
                </a:solidFill>
                <a:latin typeface="Calibri" pitchFamily="34" charset="0"/>
                <a:ea typeface="Calibri" pitchFamily="34" charset="-122"/>
                <a:cs typeface="Calibri" pitchFamily="34" charset="-120"/>
              </a:rPr>
              <a:t>histor = one who knows  |  -ical = related to</a:t>
            </a:r>
            <a:endParaRPr lang="en-US" sz="1000" dirty="0"/>
          </a:p>
        </p:txBody>
      </p:sp>
      <p:sp>
        <p:nvSpPr>
          <p:cNvPr id="19" name="Shape 17"/>
          <p:cNvSpPr/>
          <p:nvPr/>
        </p:nvSpPr>
        <p:spPr>
          <a:xfrm>
            <a:off x="3310128" y="2606040"/>
            <a:ext cx="2450592" cy="566928"/>
          </a:xfrm>
          <a:prstGeom prst="roundRect">
            <a:avLst>
              <a:gd name="adj" fmla="val 12903"/>
            </a:avLst>
          </a:prstGeom>
          <a:solidFill>
            <a:srgbClr val="FFFFFF"/>
          </a:solidFill>
          <a:ln w="12700">
            <a:solidFill>
              <a:srgbClr val="C8D0E8"/>
            </a:solidFill>
            <a:prstDash val="dash"/>
          </a:ln>
        </p:spPr>
      </p:sp>
      <p:sp>
        <p:nvSpPr>
          <p:cNvPr id="20" name="Text 18"/>
          <p:cNvSpPr/>
          <p:nvPr/>
        </p:nvSpPr>
        <p:spPr>
          <a:xfrm>
            <a:off x="3401568" y="2651760"/>
            <a:ext cx="2267712" cy="18288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This means:</a:t>
            </a:r>
            <a:endParaRPr lang="en-US" sz="800" dirty="0"/>
          </a:p>
        </p:txBody>
      </p:sp>
      <p:sp>
        <p:nvSpPr>
          <p:cNvPr id="21" name="Shape 19"/>
          <p:cNvSpPr/>
          <p:nvPr/>
        </p:nvSpPr>
        <p:spPr>
          <a:xfrm>
            <a:off x="6035040" y="841248"/>
            <a:ext cx="2670048" cy="2514600"/>
          </a:xfrm>
          <a:prstGeom prst="roundRect">
            <a:avLst>
              <a:gd name="adj" fmla="val 4364"/>
            </a:avLst>
          </a:prstGeom>
          <a:solidFill>
            <a:srgbClr val="F0F2F8"/>
          </a:solidFill>
          <a:ln w="25400">
            <a:solidFill>
              <a:srgbClr val="8B6FC0"/>
            </a:solidFill>
            <a:prstDash val="solid"/>
          </a:ln>
        </p:spPr>
      </p:sp>
      <p:sp>
        <p:nvSpPr>
          <p:cNvPr id="22" name="Text 20"/>
          <p:cNvSpPr/>
          <p:nvPr/>
        </p:nvSpPr>
        <p:spPr>
          <a:xfrm>
            <a:off x="6144768" y="896112"/>
            <a:ext cx="2450592"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WORD 3</a:t>
            </a:r>
            <a:endParaRPr lang="en-US" sz="900" dirty="0"/>
          </a:p>
        </p:txBody>
      </p:sp>
      <p:sp>
        <p:nvSpPr>
          <p:cNvPr id="23" name="Text 21"/>
          <p:cNvSpPr/>
          <p:nvPr/>
        </p:nvSpPr>
        <p:spPr>
          <a:xfrm>
            <a:off x="6035040" y="1170432"/>
            <a:ext cx="2670048" cy="566928"/>
          </a:xfrm>
          <a:prstGeom prst="rect">
            <a:avLst/>
          </a:prstGeom>
          <a:noFill/>
          <a:ln/>
        </p:spPr>
        <p:txBody>
          <a:bodyPr wrap="square" lIns="0" tIns="0" rIns="0" bIns="0" rtlCol="0" anchor="ctr"/>
          <a:lstStyle/>
          <a:p>
            <a:pPr algn="ctr" indent="0" marL="0">
              <a:buNone/>
            </a:pPr>
            <a:r>
              <a:rPr lang="en-US" sz="2400" b="1" dirty="0">
                <a:solidFill>
                  <a:srgbClr val="0E1C42"/>
                </a:solidFill>
                <a:latin typeface="Cambria" pitchFamily="34" charset="0"/>
                <a:ea typeface="Cambria" pitchFamily="34" charset="-122"/>
                <a:cs typeface="Cambria" pitchFamily="34" charset="-120"/>
              </a:rPr>
              <a:t>civility</a:t>
            </a:r>
            <a:endParaRPr lang="en-US" sz="2400" dirty="0"/>
          </a:p>
        </p:txBody>
      </p:sp>
      <p:sp>
        <p:nvSpPr>
          <p:cNvPr id="24" name="Shape 22"/>
          <p:cNvSpPr/>
          <p:nvPr/>
        </p:nvSpPr>
        <p:spPr>
          <a:xfrm>
            <a:off x="6172200" y="1810512"/>
            <a:ext cx="2395728" cy="0"/>
          </a:xfrm>
          <a:prstGeom prst="line">
            <a:avLst/>
          </a:prstGeom>
          <a:noFill/>
          <a:ln w="12700">
            <a:solidFill>
              <a:srgbClr val="8B6FC0"/>
            </a:solidFill>
            <a:prstDash val="dash"/>
          </a:ln>
        </p:spPr>
      </p:sp>
      <p:sp>
        <p:nvSpPr>
          <p:cNvPr id="25" name="Text 23"/>
          <p:cNvSpPr/>
          <p:nvPr/>
        </p:nvSpPr>
        <p:spPr>
          <a:xfrm>
            <a:off x="6172200" y="1883664"/>
            <a:ext cx="2395728" cy="228600"/>
          </a:xfrm>
          <a:prstGeom prst="rect">
            <a:avLst/>
          </a:prstGeom>
          <a:noFill/>
          <a:ln/>
        </p:spPr>
        <p:txBody>
          <a:bodyPr wrap="square" lIns="0" tIns="0" rIns="0" bIns="0" rtlCol="0" anchor="ctr"/>
          <a:lstStyle/>
          <a:p>
            <a:pPr indent="0" marL="0">
              <a:buNone/>
            </a:pPr>
            <a:r>
              <a:rPr lang="en-US" sz="900" b="1" dirty="0">
                <a:solidFill>
                  <a:srgbClr val="7A88A8"/>
                </a:solidFill>
                <a:latin typeface="Calibri" pitchFamily="34" charset="0"/>
                <a:ea typeface="Calibri" pitchFamily="34" charset="-122"/>
                <a:cs typeface="Calibri" pitchFamily="34" charset="-120"/>
              </a:rPr>
              <a:t>Root hint:</a:t>
            </a:r>
            <a:endParaRPr lang="en-US" sz="900" dirty="0"/>
          </a:p>
        </p:txBody>
      </p:sp>
      <p:sp>
        <p:nvSpPr>
          <p:cNvPr id="26" name="Text 24"/>
          <p:cNvSpPr/>
          <p:nvPr/>
        </p:nvSpPr>
        <p:spPr>
          <a:xfrm>
            <a:off x="6172200" y="2103120"/>
            <a:ext cx="2395728" cy="411480"/>
          </a:xfrm>
          <a:prstGeom prst="rect">
            <a:avLst/>
          </a:prstGeom>
          <a:noFill/>
          <a:ln/>
        </p:spPr>
        <p:txBody>
          <a:bodyPr wrap="square" lIns="0" tIns="0" rIns="0" bIns="0" rtlCol="0" anchor="ctr"/>
          <a:lstStyle/>
          <a:p>
            <a:pPr indent="0" marL="0">
              <a:buNone/>
            </a:pPr>
            <a:r>
              <a:rPr lang="en-US" sz="1000" i="1" dirty="0">
                <a:solidFill>
                  <a:srgbClr val="8B6FC0"/>
                </a:solidFill>
                <a:latin typeface="Calibri" pitchFamily="34" charset="0"/>
                <a:ea typeface="Calibri" pitchFamily="34" charset="-122"/>
                <a:cs typeface="Calibri" pitchFamily="34" charset="-120"/>
              </a:rPr>
              <a:t>civis = citizen  |  -ity = quality of</a:t>
            </a:r>
            <a:endParaRPr lang="en-US" sz="1000" dirty="0"/>
          </a:p>
        </p:txBody>
      </p:sp>
      <p:sp>
        <p:nvSpPr>
          <p:cNvPr id="27" name="Shape 25"/>
          <p:cNvSpPr/>
          <p:nvPr/>
        </p:nvSpPr>
        <p:spPr>
          <a:xfrm>
            <a:off x="6144768" y="2606040"/>
            <a:ext cx="2450592" cy="566928"/>
          </a:xfrm>
          <a:prstGeom prst="roundRect">
            <a:avLst>
              <a:gd name="adj" fmla="val 12903"/>
            </a:avLst>
          </a:prstGeom>
          <a:solidFill>
            <a:srgbClr val="FFFFFF"/>
          </a:solidFill>
          <a:ln w="12700">
            <a:solidFill>
              <a:srgbClr val="C8D0E8"/>
            </a:solidFill>
            <a:prstDash val="dash"/>
          </a:ln>
        </p:spPr>
      </p:sp>
      <p:sp>
        <p:nvSpPr>
          <p:cNvPr id="28" name="Text 26"/>
          <p:cNvSpPr/>
          <p:nvPr/>
        </p:nvSpPr>
        <p:spPr>
          <a:xfrm>
            <a:off x="6236208" y="2651760"/>
            <a:ext cx="2267712" cy="182880"/>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This means:</a:t>
            </a:r>
            <a:endParaRPr lang="en-US" sz="800" dirty="0"/>
          </a:p>
        </p:txBody>
      </p:sp>
      <p:sp>
        <p:nvSpPr>
          <p:cNvPr id="29" name="Shape 27"/>
          <p:cNvSpPr/>
          <p:nvPr/>
        </p:nvSpPr>
        <p:spPr>
          <a:xfrm>
            <a:off x="365760" y="3493008"/>
            <a:ext cx="502920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30" name="Text 28"/>
          <p:cNvSpPr/>
          <p:nvPr/>
        </p:nvSpPr>
        <p:spPr>
          <a:xfrm>
            <a:off x="548640" y="358444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31" name="Text 29"/>
          <p:cNvSpPr/>
          <p:nvPr/>
        </p:nvSpPr>
        <p:spPr>
          <a:xfrm>
            <a:off x="548640" y="3840480"/>
            <a:ext cx="466344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you figure it out without help?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root was your strongest clue?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Would this strategy work on a word in a different subject?</a:t>
            </a:r>
            <a:endParaRPr lang="en-US" sz="1100" dirty="0"/>
          </a:p>
        </p:txBody>
      </p:sp>
      <p:sp>
        <p:nvSpPr>
          <p:cNvPr id="32" name="Shape 30"/>
          <p:cNvSpPr/>
          <p:nvPr/>
        </p:nvSpPr>
        <p:spPr>
          <a:xfrm>
            <a:off x="5532120" y="3493008"/>
            <a:ext cx="3246120" cy="1005840"/>
          </a:xfrm>
          <a:prstGeom prst="roundRect">
            <a:avLst>
              <a:gd name="adj" fmla="val 10909"/>
            </a:avLst>
          </a:prstGeom>
          <a:solidFill>
            <a:srgbClr val="FFF3DC"/>
          </a:solidFill>
          <a:ln w="19050">
            <a:solidFill>
              <a:srgbClr val="F5E6C8"/>
            </a:solidFill>
            <a:prstDash val="solid"/>
          </a:ln>
        </p:spPr>
      </p:sp>
      <p:sp>
        <p:nvSpPr>
          <p:cNvPr id="33" name="Text 31"/>
          <p:cNvSpPr/>
          <p:nvPr/>
        </p:nvSpPr>
        <p:spPr>
          <a:xfrm>
            <a:off x="5669280" y="354787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34" name="Text 32"/>
          <p:cNvSpPr/>
          <p:nvPr/>
        </p:nvSpPr>
        <p:spPr>
          <a:xfrm>
            <a:off x="5669280" y="3749040"/>
            <a:ext cx="297180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figured out [word] because the root... told me..."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the same strategy I used when..."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ASSIGNMENT  |  EVIDENCE &amp; CURATOR'S NOTEBOOK</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You've done the work. Now show what you know.</a:t>
            </a:r>
            <a:endParaRPr lang="en-US" sz="1100" dirty="0"/>
          </a:p>
        </p:txBody>
      </p:sp>
      <p:sp>
        <p:nvSpPr>
          <p:cNvPr id="5" name="Shape 3"/>
          <p:cNvSpPr/>
          <p:nvPr/>
        </p:nvSpPr>
        <p:spPr>
          <a:xfrm>
            <a:off x="365760" y="822960"/>
            <a:ext cx="4206240" cy="1481328"/>
          </a:xfrm>
          <a:prstGeom prst="roundRect">
            <a:avLst>
              <a:gd name="adj" fmla="val 7407"/>
            </a:avLst>
          </a:prstGeom>
          <a:solidFill>
            <a:srgbClr val="EAF8FD"/>
          </a:solidFill>
          <a:ln w="25400">
            <a:solidFill>
              <a:srgbClr val="55C8E8"/>
            </a:solidFill>
            <a:prstDash val="solid"/>
          </a:ln>
        </p:spPr>
      </p:sp>
      <p:sp>
        <p:nvSpPr>
          <p:cNvPr id="6" name="Text 4"/>
          <p:cNvSpPr/>
          <p:nvPr/>
        </p:nvSpPr>
        <p:spPr>
          <a:xfrm>
            <a:off x="530352" y="886968"/>
            <a:ext cx="3877056"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EVIDENCE QUESTION 1</a:t>
            </a:r>
            <a:endParaRPr lang="en-US" sz="900" dirty="0"/>
          </a:p>
        </p:txBody>
      </p:sp>
      <p:sp>
        <p:nvSpPr>
          <p:cNvPr id="7" name="Text 5"/>
          <p:cNvSpPr/>
          <p:nvPr/>
        </p:nvSpPr>
        <p:spPr>
          <a:xfrm>
            <a:off x="530352" y="1170432"/>
            <a:ext cx="3877056" cy="10515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Pick two of the four word roots and explain what each one means. How does the root connect to what that field studies?</a:t>
            </a:r>
            <a:endParaRPr lang="en-US" sz="1300" dirty="0"/>
          </a:p>
        </p:txBody>
      </p:sp>
      <p:sp>
        <p:nvSpPr>
          <p:cNvPr id="8" name="Shape 6"/>
          <p:cNvSpPr/>
          <p:nvPr/>
        </p:nvSpPr>
        <p:spPr>
          <a:xfrm>
            <a:off x="4709160" y="822960"/>
            <a:ext cx="4069080" cy="1481328"/>
          </a:xfrm>
          <a:prstGeom prst="roundRect">
            <a:avLst>
              <a:gd name="adj" fmla="val 7407"/>
            </a:avLst>
          </a:prstGeom>
          <a:solidFill>
            <a:srgbClr val="EAF8FD"/>
          </a:solidFill>
          <a:ln w="25400">
            <a:solidFill>
              <a:srgbClr val="55C8E8"/>
            </a:solidFill>
            <a:prstDash val="solid"/>
          </a:ln>
        </p:spPr>
      </p:sp>
      <p:sp>
        <p:nvSpPr>
          <p:cNvPr id="9" name="Text 7"/>
          <p:cNvSpPr/>
          <p:nvPr/>
        </p:nvSpPr>
        <p:spPr>
          <a:xfrm>
            <a:off x="4864608" y="886968"/>
            <a:ext cx="374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EVIDENCE QUESTION 2</a:t>
            </a:r>
            <a:endParaRPr lang="en-US" sz="900" dirty="0"/>
          </a:p>
        </p:txBody>
      </p:sp>
      <p:sp>
        <p:nvSpPr>
          <p:cNvPr id="10" name="Text 8"/>
          <p:cNvSpPr/>
          <p:nvPr/>
        </p:nvSpPr>
        <p:spPr>
          <a:xfrm>
            <a:off x="4864608" y="1170432"/>
            <a:ext cx="3749040" cy="10515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Why is it useful for curators to know word roots? Give an example.</a:t>
            </a:r>
            <a:endParaRPr lang="en-US" sz="1300" dirty="0"/>
          </a:p>
        </p:txBody>
      </p:sp>
      <p:sp>
        <p:nvSpPr>
          <p:cNvPr id="11" name="Shape 9"/>
          <p:cNvSpPr/>
          <p:nvPr/>
        </p:nvSpPr>
        <p:spPr>
          <a:xfrm>
            <a:off x="365760" y="2423160"/>
            <a:ext cx="8412480" cy="1234440"/>
          </a:xfrm>
          <a:prstGeom prst="roundRect">
            <a:avLst>
              <a:gd name="adj" fmla="val 8889"/>
            </a:avLst>
          </a:prstGeom>
          <a:solidFill>
            <a:srgbClr val="FFF3DC"/>
          </a:solidFill>
          <a:ln w="25400">
            <a:solidFill>
              <a:srgbClr val="D4943A"/>
            </a:solidFill>
            <a:prstDash val="solid"/>
          </a:ln>
        </p:spPr>
      </p:sp>
      <p:sp>
        <p:nvSpPr>
          <p:cNvPr id="12" name="Text 10"/>
          <p:cNvSpPr/>
          <p:nvPr/>
        </p:nvSpPr>
        <p:spPr>
          <a:xfrm>
            <a:off x="530352" y="2487168"/>
            <a:ext cx="8083296"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NOTEBOOK TASK</a:t>
            </a:r>
            <a:endParaRPr lang="en-US" sz="900" dirty="0"/>
          </a:p>
        </p:txBody>
      </p:sp>
      <p:sp>
        <p:nvSpPr>
          <p:cNvPr id="13" name="Text 11"/>
          <p:cNvSpPr/>
          <p:nvPr/>
        </p:nvSpPr>
        <p:spPr>
          <a:xfrm>
            <a:off x="530352" y="2761488"/>
            <a:ext cx="8083296" cy="80467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museum director asks: "If a visitor asked you what the four fields of social studies are and why their names matter, what would you say?" Write a 3-4 sentence Curator's Notebook entry explaining the four roots and why they matter for the museum.</a:t>
            </a:r>
            <a:endParaRPr lang="en-US" sz="1200" dirty="0"/>
          </a:p>
        </p:txBody>
      </p:sp>
      <p:sp>
        <p:nvSpPr>
          <p:cNvPr id="14" name="Shape 12"/>
          <p:cNvSpPr/>
          <p:nvPr/>
        </p:nvSpPr>
        <p:spPr>
          <a:xfrm>
            <a:off x="365760" y="3767328"/>
            <a:ext cx="8412480" cy="777240"/>
          </a:xfrm>
          <a:prstGeom prst="roundRect">
            <a:avLst>
              <a:gd name="adj" fmla="val 11765"/>
            </a:avLst>
          </a:prstGeom>
          <a:solidFill>
            <a:srgbClr val="F0F2F8"/>
          </a:solidFill>
          <a:ln w="12700">
            <a:solidFill>
              <a:srgbClr val="C8D0E8"/>
            </a:solidFill>
            <a:prstDash val="solid"/>
          </a:ln>
        </p:spPr>
      </p:sp>
      <p:sp>
        <p:nvSpPr>
          <p:cNvPr id="15" name="Text 13"/>
          <p:cNvSpPr/>
          <p:nvPr/>
        </p:nvSpPr>
        <p:spPr>
          <a:xfrm>
            <a:off x="548640" y="3840480"/>
            <a:ext cx="8046720" cy="6400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Before you submit:  Answer Evidence Q1 &amp; Q2  |  Write your 3-4 sentence Notebook entry  |  Write Curator's Chronicle  |  Copy or download and submit to Canvas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E1C42"/>
          </a:solidFill>
          <a:ln w="12700">
            <a:solidFill>
              <a:srgbClr val="0E1C42"/>
            </a:solidFill>
            <a:prstDash val="solid"/>
          </a:ln>
        </p:spPr>
      </p:sp>
      <p:sp>
        <p:nvSpPr>
          <p:cNvPr id="3" name="Text 1"/>
          <p:cNvSpPr/>
          <p:nvPr/>
        </p:nvSpPr>
        <p:spPr>
          <a:xfrm>
            <a:off x="457200" y="4572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CURATOR'S CHRONICLE  |  REFLECTION</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One sentence to capture today's discovery</a:t>
            </a:r>
            <a:endParaRPr lang="en-US" sz="1100" dirty="0"/>
          </a:p>
        </p:txBody>
      </p:sp>
      <p:sp>
        <p:nvSpPr>
          <p:cNvPr id="5" name="Shape 3"/>
          <p:cNvSpPr/>
          <p:nvPr/>
        </p:nvSpPr>
        <p:spPr>
          <a:xfrm>
            <a:off x="365760" y="804672"/>
            <a:ext cx="8412480" cy="1481328"/>
          </a:xfrm>
          <a:prstGeom prst="roundRect">
            <a:avLst>
              <a:gd name="adj" fmla="val 9259"/>
            </a:avLst>
          </a:prstGeom>
          <a:solidFill>
            <a:srgbClr val="FFF3DC"/>
          </a:solidFill>
          <a:ln w="25400">
            <a:solidFill>
              <a:srgbClr val="D4943A"/>
            </a:solidFill>
            <a:prstDash val="solid"/>
          </a:ln>
        </p:spPr>
      </p:sp>
      <p:sp>
        <p:nvSpPr>
          <p:cNvPr id="6" name="Text 4"/>
          <p:cNvSpPr/>
          <p:nvPr/>
        </p:nvSpPr>
        <p:spPr>
          <a:xfrm>
            <a:off x="548640" y="868680"/>
            <a:ext cx="8046720" cy="27432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CHRONICLE -- Finish this sentence:</a:t>
            </a:r>
            <a:endParaRPr lang="en-US" sz="900" dirty="0"/>
          </a:p>
        </p:txBody>
      </p:sp>
      <p:sp>
        <p:nvSpPr>
          <p:cNvPr id="7" name="Text 5"/>
          <p:cNvSpPr/>
          <p:nvPr/>
        </p:nvSpPr>
        <p:spPr>
          <a:xfrm>
            <a:off x="548640" y="1170432"/>
            <a:ext cx="8046720" cy="987552"/>
          </a:xfrm>
          <a:prstGeom prst="rect">
            <a:avLst/>
          </a:prstGeom>
          <a:noFill/>
          <a:ln/>
        </p:spPr>
        <p:txBody>
          <a:bodyPr wrap="square" lIns="0" tIns="0" rIns="0" bIns="0" rtlCol="0" anchor="ctr"/>
          <a:lstStyle/>
          <a:p>
            <a:pPr indent="0" marL="0">
              <a:buNone/>
            </a:pPr>
            <a:r>
              <a:rPr lang="en-US" sz="1800" i="1" dirty="0">
                <a:solidFill>
                  <a:srgbClr val="0E1C42"/>
                </a:solidFill>
                <a:latin typeface="Cambria" pitchFamily="34" charset="0"/>
                <a:ea typeface="Cambria" pitchFamily="34" charset="-122"/>
                <a:cs typeface="Cambria" pitchFamily="34" charset="-120"/>
              </a:rPr>
              <a:t>"In this exhibit, I learned that _________________ because _________________."</a:t>
            </a:r>
            <a:endParaRPr lang="en-US" sz="1800" dirty="0"/>
          </a:p>
        </p:txBody>
      </p:sp>
      <p:sp>
        <p:nvSpPr>
          <p:cNvPr id="8" name="Shape 6"/>
          <p:cNvSpPr/>
          <p:nvPr/>
        </p:nvSpPr>
        <p:spPr>
          <a:xfrm>
            <a:off x="365760" y="2395728"/>
            <a:ext cx="4114800" cy="1444752"/>
          </a:xfrm>
          <a:prstGeom prst="roundRect">
            <a:avLst>
              <a:gd name="adj" fmla="val 7595"/>
            </a:avLst>
          </a:prstGeom>
          <a:solidFill>
            <a:srgbClr val="F0F2F8"/>
          </a:solidFill>
          <a:ln w="12700">
            <a:solidFill>
              <a:srgbClr val="C8D0E8"/>
            </a:solidFill>
            <a:prstDash val="solid"/>
          </a:ln>
        </p:spPr>
      </p:sp>
      <p:sp>
        <p:nvSpPr>
          <p:cNvPr id="9" name="Text 7"/>
          <p:cNvSpPr/>
          <p:nvPr/>
        </p:nvSpPr>
        <p:spPr>
          <a:xfrm>
            <a:off x="530352" y="2468880"/>
            <a:ext cx="3785616"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THINK ABOUT:</a:t>
            </a:r>
            <a:endParaRPr lang="en-US" sz="900" dirty="0"/>
          </a:p>
        </p:txBody>
      </p:sp>
      <p:sp>
        <p:nvSpPr>
          <p:cNvPr id="10" name="Text 8"/>
          <p:cNvSpPr/>
          <p:nvPr/>
        </p:nvSpPr>
        <p:spPr>
          <a:xfrm>
            <a:off x="566928" y="2761488"/>
            <a:ext cx="3803904" cy="32004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 Which root was most surprising to you?</a:t>
            </a:r>
            <a:endParaRPr lang="en-US" sz="1200" dirty="0"/>
          </a:p>
        </p:txBody>
      </p:sp>
      <p:sp>
        <p:nvSpPr>
          <p:cNvPr id="11" name="Text 9"/>
          <p:cNvSpPr/>
          <p:nvPr/>
        </p:nvSpPr>
        <p:spPr>
          <a:xfrm>
            <a:off x="566928" y="3108960"/>
            <a:ext cx="3803904" cy="32004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 Which root will be easiest to remember and why?</a:t>
            </a:r>
            <a:endParaRPr lang="en-US" sz="1200" dirty="0"/>
          </a:p>
        </p:txBody>
      </p:sp>
      <p:sp>
        <p:nvSpPr>
          <p:cNvPr id="12" name="Text 10"/>
          <p:cNvSpPr/>
          <p:nvPr/>
        </p:nvSpPr>
        <p:spPr>
          <a:xfrm>
            <a:off x="566928" y="3456432"/>
            <a:ext cx="3803904" cy="32004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 How might knowing roots help you in other subjects?</a:t>
            </a:r>
            <a:endParaRPr lang="en-US" sz="1200" dirty="0"/>
          </a:p>
        </p:txBody>
      </p:sp>
      <p:sp>
        <p:nvSpPr>
          <p:cNvPr id="13" name="Shape 11"/>
          <p:cNvSpPr/>
          <p:nvPr/>
        </p:nvSpPr>
        <p:spPr>
          <a:xfrm>
            <a:off x="4617720" y="2395728"/>
            <a:ext cx="4160520" cy="1444752"/>
          </a:xfrm>
          <a:prstGeom prst="roundRect">
            <a:avLst>
              <a:gd name="adj" fmla="val 7595"/>
            </a:avLst>
          </a:prstGeom>
          <a:solidFill>
            <a:srgbClr val="FFF3DC"/>
          </a:solidFill>
          <a:ln w="19050">
            <a:solidFill>
              <a:srgbClr val="F5E6C8"/>
            </a:solidFill>
            <a:prstDash val="solid"/>
          </a:ln>
        </p:spPr>
      </p:sp>
      <p:sp>
        <p:nvSpPr>
          <p:cNvPr id="14" name="Text 12"/>
          <p:cNvSpPr/>
          <p:nvPr/>
        </p:nvSpPr>
        <p:spPr>
          <a:xfrm>
            <a:off x="4754880" y="2450592"/>
            <a:ext cx="3886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754880" y="2651760"/>
            <a:ext cx="3886200" cy="112471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first I thought... but now I know..."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could use this root trick when I see..."</a:t>
            </a:r>
            <a:endParaRPr lang="en-US" sz="1200" dirty="0"/>
          </a:p>
        </p:txBody>
      </p:sp>
      <p:sp>
        <p:nvSpPr>
          <p:cNvPr id="16" name="Shape 14"/>
          <p:cNvSpPr/>
          <p:nvPr/>
        </p:nvSpPr>
        <p:spPr>
          <a:xfrm>
            <a:off x="365760" y="3950208"/>
            <a:ext cx="8412480" cy="658368"/>
          </a:xfrm>
          <a:prstGeom prst="roundRect">
            <a:avLst>
              <a:gd name="adj" fmla="val 13889"/>
            </a:avLst>
          </a:prstGeom>
          <a:solidFill>
            <a:srgbClr val="0E1C42"/>
          </a:solidFill>
          <a:ln w="12700">
            <a:solidFill>
              <a:srgbClr val="55C8E8"/>
            </a:solidFill>
            <a:prstDash val="solid"/>
          </a:ln>
        </p:spPr>
      </p:sp>
      <p:sp>
        <p:nvSpPr>
          <p:cNvPr id="17" name="Text 15"/>
          <p:cNvSpPr/>
          <p:nvPr/>
        </p:nvSpPr>
        <p:spPr>
          <a:xfrm>
            <a:off x="548640" y="4005072"/>
            <a:ext cx="8046720" cy="548640"/>
          </a:xfrm>
          <a:prstGeom prst="rect">
            <a:avLst/>
          </a:prstGeom>
          <a:noFill/>
          <a:ln/>
        </p:spPr>
        <p:txBody>
          <a:bodyPr wrap="square" lIns="0" tIns="0" rIns="0" bIns="0" rtlCol="0" anchor="ctr"/>
          <a:lstStyle/>
          <a:p>
            <a:pPr algn="ctr" indent="0" marL="0">
              <a:buNone/>
            </a:pPr>
            <a:r>
              <a:rPr lang="en-US" sz="1200" b="1" dirty="0">
                <a:solidFill>
                  <a:srgbClr val="55C8E8"/>
                </a:solidFill>
                <a:latin typeface="Calibri" pitchFamily="34" charset="0"/>
                <a:ea typeface="Calibri" pitchFamily="34" charset="-122"/>
                <a:cs typeface="Calibri" pitchFamily="34" charset="-120"/>
              </a:rPr>
              <a:t>SUBMIT TO CANVAS:  Evidence Q1  |  Evidence Q2  |  Curator's Notebook Entry  |  Curator's Chronicle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28600"/>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CURATOR TRAINING HALL</a:t>
            </a:r>
            <a:endParaRPr lang="en-US" sz="900" dirty="0"/>
          </a:p>
        </p:txBody>
      </p:sp>
      <p:sp>
        <p:nvSpPr>
          <p:cNvPr id="5" name="Text 3"/>
          <p:cNvSpPr/>
          <p:nvPr/>
        </p:nvSpPr>
        <p:spPr>
          <a:xfrm>
            <a:off x="457200" y="594360"/>
            <a:ext cx="8229600" cy="658368"/>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The Museum's Language Is Yours!</a:t>
            </a:r>
            <a:endParaRPr lang="en-US" sz="3400" dirty="0"/>
          </a:p>
        </p:txBody>
      </p:sp>
      <p:sp>
        <p:nvSpPr>
          <p:cNvPr id="6" name="Shape 4"/>
          <p:cNvSpPr/>
          <p:nvPr/>
        </p:nvSpPr>
        <p:spPr>
          <a:xfrm>
            <a:off x="347472" y="1389888"/>
            <a:ext cx="1938528" cy="1481328"/>
          </a:xfrm>
          <a:prstGeom prst="roundRect">
            <a:avLst>
              <a:gd name="adj" fmla="val 7407"/>
            </a:avLst>
          </a:prstGeom>
          <a:solidFill>
            <a:srgbClr val="1A2D5A"/>
          </a:solidFill>
          <a:ln w="19050">
            <a:solidFill>
              <a:srgbClr val="55C8E8"/>
            </a:solidFill>
            <a:prstDash val="solid"/>
          </a:ln>
        </p:spPr>
      </p:sp>
      <p:sp>
        <p:nvSpPr>
          <p:cNvPr id="7" name="Text 5"/>
          <p:cNvSpPr/>
          <p:nvPr/>
        </p:nvSpPr>
        <p:spPr>
          <a:xfrm>
            <a:off x="347472" y="1435608"/>
            <a:ext cx="1938528" cy="256032"/>
          </a:xfrm>
          <a:prstGeom prst="rect">
            <a:avLst/>
          </a:prstGeom>
          <a:noFill/>
          <a:ln/>
        </p:spPr>
        <p:txBody>
          <a:bodyPr wrap="square" lIns="0" tIns="0" rIns="0" bIns="0" rtlCol="0" anchor="ctr"/>
          <a:lstStyle/>
          <a:p>
            <a:pPr algn="ctr" indent="0" marL="0">
              <a:buNone/>
            </a:pPr>
            <a:r>
              <a:rPr lang="en-US" sz="800" b="1" spc="80" kern="0" dirty="0">
                <a:solidFill>
                  <a:srgbClr val="55C8E8"/>
                </a:solidFill>
                <a:latin typeface="Calibri" pitchFamily="34" charset="0"/>
                <a:ea typeface="Calibri" pitchFamily="34" charset="-122"/>
                <a:cs typeface="Calibri" pitchFamily="34" charset="-120"/>
              </a:rPr>
              <a:t>HISTORY</a:t>
            </a:r>
            <a:endParaRPr lang="en-US" sz="800" dirty="0"/>
          </a:p>
        </p:txBody>
      </p:sp>
      <p:sp>
        <p:nvSpPr>
          <p:cNvPr id="8" name="Text 6"/>
          <p:cNvSpPr/>
          <p:nvPr/>
        </p:nvSpPr>
        <p:spPr>
          <a:xfrm>
            <a:off x="347472" y="1682496"/>
            <a:ext cx="1938528"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histor</a:t>
            </a:r>
            <a:endParaRPr lang="en-US" sz="1800" dirty="0"/>
          </a:p>
        </p:txBody>
      </p:sp>
      <p:sp>
        <p:nvSpPr>
          <p:cNvPr id="9" name="Text 7"/>
          <p:cNvSpPr/>
          <p:nvPr/>
        </p:nvSpPr>
        <p:spPr>
          <a:xfrm>
            <a:off x="347472" y="2231136"/>
            <a:ext cx="1938528" cy="50292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 one who knows</a:t>
            </a:r>
            <a:endParaRPr lang="en-US" sz="900" dirty="0"/>
          </a:p>
        </p:txBody>
      </p:sp>
      <p:sp>
        <p:nvSpPr>
          <p:cNvPr id="10" name="Shape 8"/>
          <p:cNvSpPr/>
          <p:nvPr/>
        </p:nvSpPr>
        <p:spPr>
          <a:xfrm>
            <a:off x="2450592" y="1389888"/>
            <a:ext cx="1938528" cy="1481328"/>
          </a:xfrm>
          <a:prstGeom prst="roundRect">
            <a:avLst>
              <a:gd name="adj" fmla="val 7407"/>
            </a:avLst>
          </a:prstGeom>
          <a:solidFill>
            <a:srgbClr val="1A2D5A"/>
          </a:solidFill>
          <a:ln w="19050">
            <a:solidFill>
              <a:srgbClr val="1A8A7D"/>
            </a:solidFill>
            <a:prstDash val="solid"/>
          </a:ln>
        </p:spPr>
      </p:sp>
      <p:sp>
        <p:nvSpPr>
          <p:cNvPr id="11" name="Text 9"/>
          <p:cNvSpPr/>
          <p:nvPr/>
        </p:nvSpPr>
        <p:spPr>
          <a:xfrm>
            <a:off x="2450592" y="1435608"/>
            <a:ext cx="1938528" cy="256032"/>
          </a:xfrm>
          <a:prstGeom prst="rect">
            <a:avLst/>
          </a:prstGeom>
          <a:noFill/>
          <a:ln/>
        </p:spPr>
        <p:txBody>
          <a:bodyPr wrap="square" lIns="0" tIns="0" rIns="0" bIns="0" rtlCol="0" anchor="ctr"/>
          <a:lstStyle/>
          <a:p>
            <a:pPr algn="ctr" indent="0" marL="0">
              <a:buNone/>
            </a:pPr>
            <a:r>
              <a:rPr lang="en-US" sz="800" b="1" spc="80" kern="0" dirty="0">
                <a:solidFill>
                  <a:srgbClr val="1A8A7D"/>
                </a:solidFill>
                <a:latin typeface="Calibri" pitchFamily="34" charset="0"/>
                <a:ea typeface="Calibri" pitchFamily="34" charset="-122"/>
                <a:cs typeface="Calibri" pitchFamily="34" charset="-120"/>
              </a:rPr>
              <a:t>GEOGRAPHY</a:t>
            </a:r>
            <a:endParaRPr lang="en-US" sz="800" dirty="0"/>
          </a:p>
        </p:txBody>
      </p:sp>
      <p:sp>
        <p:nvSpPr>
          <p:cNvPr id="12" name="Text 10"/>
          <p:cNvSpPr/>
          <p:nvPr/>
        </p:nvSpPr>
        <p:spPr>
          <a:xfrm>
            <a:off x="2450592" y="1682496"/>
            <a:ext cx="1938528"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geo + graph</a:t>
            </a:r>
            <a:endParaRPr lang="en-US" sz="1800" dirty="0"/>
          </a:p>
        </p:txBody>
      </p:sp>
      <p:sp>
        <p:nvSpPr>
          <p:cNvPr id="13" name="Text 11"/>
          <p:cNvSpPr/>
          <p:nvPr/>
        </p:nvSpPr>
        <p:spPr>
          <a:xfrm>
            <a:off x="2450592" y="2231136"/>
            <a:ext cx="1938528" cy="50292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 earth writing</a:t>
            </a:r>
            <a:endParaRPr lang="en-US" sz="900" dirty="0"/>
          </a:p>
        </p:txBody>
      </p:sp>
      <p:sp>
        <p:nvSpPr>
          <p:cNvPr id="14" name="Shape 12"/>
          <p:cNvSpPr/>
          <p:nvPr/>
        </p:nvSpPr>
        <p:spPr>
          <a:xfrm>
            <a:off x="4553712" y="1389888"/>
            <a:ext cx="1938528" cy="1481328"/>
          </a:xfrm>
          <a:prstGeom prst="roundRect">
            <a:avLst>
              <a:gd name="adj" fmla="val 7407"/>
            </a:avLst>
          </a:prstGeom>
          <a:solidFill>
            <a:srgbClr val="1A2D5A"/>
          </a:solidFill>
          <a:ln w="19050">
            <a:solidFill>
              <a:srgbClr val="34B76F"/>
            </a:solidFill>
            <a:prstDash val="solid"/>
          </a:ln>
        </p:spPr>
      </p:sp>
      <p:sp>
        <p:nvSpPr>
          <p:cNvPr id="15" name="Text 13"/>
          <p:cNvSpPr/>
          <p:nvPr/>
        </p:nvSpPr>
        <p:spPr>
          <a:xfrm>
            <a:off x="4553712" y="1435608"/>
            <a:ext cx="1938528" cy="256032"/>
          </a:xfrm>
          <a:prstGeom prst="rect">
            <a:avLst/>
          </a:prstGeom>
          <a:noFill/>
          <a:ln/>
        </p:spPr>
        <p:txBody>
          <a:bodyPr wrap="square" lIns="0" tIns="0" rIns="0" bIns="0" rtlCol="0" anchor="ctr"/>
          <a:lstStyle/>
          <a:p>
            <a:pPr algn="ctr" indent="0" marL="0">
              <a:buNone/>
            </a:pPr>
            <a:r>
              <a:rPr lang="en-US" sz="800" b="1" spc="80" kern="0" dirty="0">
                <a:solidFill>
                  <a:srgbClr val="34B76F"/>
                </a:solidFill>
                <a:latin typeface="Calibri" pitchFamily="34" charset="0"/>
                <a:ea typeface="Calibri" pitchFamily="34" charset="-122"/>
                <a:cs typeface="Calibri" pitchFamily="34" charset="-120"/>
              </a:rPr>
              <a:t>ECONOMY</a:t>
            </a:r>
            <a:endParaRPr lang="en-US" sz="800" dirty="0"/>
          </a:p>
        </p:txBody>
      </p:sp>
      <p:sp>
        <p:nvSpPr>
          <p:cNvPr id="16" name="Text 14"/>
          <p:cNvSpPr/>
          <p:nvPr/>
        </p:nvSpPr>
        <p:spPr>
          <a:xfrm>
            <a:off x="4553712" y="1682496"/>
            <a:ext cx="1938528"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oikonomia</a:t>
            </a:r>
            <a:endParaRPr lang="en-US" sz="1800" dirty="0"/>
          </a:p>
        </p:txBody>
      </p:sp>
      <p:sp>
        <p:nvSpPr>
          <p:cNvPr id="17" name="Text 15"/>
          <p:cNvSpPr/>
          <p:nvPr/>
        </p:nvSpPr>
        <p:spPr>
          <a:xfrm>
            <a:off x="4553712" y="2231136"/>
            <a:ext cx="1938528" cy="50292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 household management</a:t>
            </a:r>
            <a:endParaRPr lang="en-US" sz="900" dirty="0"/>
          </a:p>
        </p:txBody>
      </p:sp>
      <p:sp>
        <p:nvSpPr>
          <p:cNvPr id="18" name="Shape 16"/>
          <p:cNvSpPr/>
          <p:nvPr/>
        </p:nvSpPr>
        <p:spPr>
          <a:xfrm>
            <a:off x="6656832" y="1389888"/>
            <a:ext cx="1938528" cy="1481328"/>
          </a:xfrm>
          <a:prstGeom prst="roundRect">
            <a:avLst>
              <a:gd name="adj" fmla="val 7407"/>
            </a:avLst>
          </a:prstGeom>
          <a:solidFill>
            <a:srgbClr val="1A2D5A"/>
          </a:solidFill>
          <a:ln w="19050">
            <a:solidFill>
              <a:srgbClr val="8B6FC0"/>
            </a:solidFill>
            <a:prstDash val="solid"/>
          </a:ln>
        </p:spPr>
      </p:sp>
      <p:sp>
        <p:nvSpPr>
          <p:cNvPr id="19" name="Text 17"/>
          <p:cNvSpPr/>
          <p:nvPr/>
        </p:nvSpPr>
        <p:spPr>
          <a:xfrm>
            <a:off x="6656832" y="1435608"/>
            <a:ext cx="1938528" cy="256032"/>
          </a:xfrm>
          <a:prstGeom prst="rect">
            <a:avLst/>
          </a:prstGeom>
          <a:noFill/>
          <a:ln/>
        </p:spPr>
        <p:txBody>
          <a:bodyPr wrap="square" lIns="0" tIns="0" rIns="0" bIns="0" rtlCol="0" anchor="ctr"/>
          <a:lstStyle/>
          <a:p>
            <a:pPr algn="ctr" indent="0" marL="0">
              <a:buNone/>
            </a:pPr>
            <a:r>
              <a:rPr lang="en-US" sz="800" b="1" spc="80" kern="0" dirty="0">
                <a:solidFill>
                  <a:srgbClr val="8B6FC0"/>
                </a:solidFill>
                <a:latin typeface="Calibri" pitchFamily="34" charset="0"/>
                <a:ea typeface="Calibri" pitchFamily="34" charset="-122"/>
                <a:cs typeface="Calibri" pitchFamily="34" charset="-120"/>
              </a:rPr>
              <a:t>CIVIC</a:t>
            </a:r>
            <a:endParaRPr lang="en-US" sz="800" dirty="0"/>
          </a:p>
        </p:txBody>
      </p:sp>
      <p:sp>
        <p:nvSpPr>
          <p:cNvPr id="20" name="Text 18"/>
          <p:cNvSpPr/>
          <p:nvPr/>
        </p:nvSpPr>
        <p:spPr>
          <a:xfrm>
            <a:off x="6656832" y="1682496"/>
            <a:ext cx="1938528"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civis</a:t>
            </a:r>
            <a:endParaRPr lang="en-US" sz="1800" dirty="0"/>
          </a:p>
        </p:txBody>
      </p:sp>
      <p:sp>
        <p:nvSpPr>
          <p:cNvPr id="21" name="Text 19"/>
          <p:cNvSpPr/>
          <p:nvPr/>
        </p:nvSpPr>
        <p:spPr>
          <a:xfrm>
            <a:off x="6656832" y="2231136"/>
            <a:ext cx="1938528" cy="50292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 citizen</a:t>
            </a:r>
            <a:endParaRPr lang="en-US" sz="900" dirty="0"/>
          </a:p>
        </p:txBody>
      </p:sp>
      <p:sp>
        <p:nvSpPr>
          <p:cNvPr id="22" name="Shape 20"/>
          <p:cNvSpPr/>
          <p:nvPr/>
        </p:nvSpPr>
        <p:spPr>
          <a:xfrm>
            <a:off x="731520" y="3035808"/>
            <a:ext cx="7680960" cy="1261872"/>
          </a:xfrm>
          <a:prstGeom prst="roundRect">
            <a:avLst>
              <a:gd name="adj" fmla="val 10870"/>
            </a:avLst>
          </a:prstGeom>
          <a:solidFill>
            <a:srgbClr val="1A2D5A"/>
          </a:solidFill>
          <a:ln w="19050">
            <a:solidFill>
              <a:srgbClr val="D4943A"/>
            </a:solidFill>
            <a:prstDash val="solid"/>
          </a:ln>
        </p:spPr>
      </p:sp>
      <p:sp>
        <p:nvSpPr>
          <p:cNvPr id="23" name="Text 21"/>
          <p:cNvSpPr/>
          <p:nvPr/>
        </p:nvSpPr>
        <p:spPr>
          <a:xfrm>
            <a:off x="914400" y="3108960"/>
            <a:ext cx="7315200" cy="274320"/>
          </a:xfrm>
          <a:prstGeom prst="rect">
            <a:avLst/>
          </a:prstGeom>
          <a:noFill/>
          <a:ln/>
        </p:spPr>
        <p:txBody>
          <a:bodyPr wrap="square" lIns="0" tIns="0" rIns="0" bIns="0"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24" name="Text 22"/>
          <p:cNvSpPr/>
          <p:nvPr/>
        </p:nvSpPr>
        <p:spPr>
          <a:xfrm>
            <a:off x="914400" y="3401568"/>
            <a:ext cx="7315200" cy="777240"/>
          </a:xfrm>
          <a:prstGeom prst="rect">
            <a:avLst/>
          </a:prstGeom>
          <a:noFill/>
          <a:ln/>
        </p:spPr>
        <p:txBody>
          <a:bodyPr wrap="square" lIns="0" tIns="0" rIns="0" bIns="0"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Next time, you'll write your first official evidence entry. The museum director will decide if you're ready to earn the Evidence Keeper badge and move into the next wing of the museum.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2026-07-10T22:20:01Z</dcterms:created>
  <dcterms:modified xsi:type="dcterms:W3CDTF">2026-07-10T22:20:01Z</dcterms:modified>
</cp:coreProperties>
</file>