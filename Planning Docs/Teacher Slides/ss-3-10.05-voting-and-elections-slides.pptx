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tall navy-blue voting booth with a little white curtain, a stamp on a chain, and a single paper ballot laid on the shelf inside -- newly wheeled into the museum floor of Citizenship Hall, warm spotlight on the booth.Title slide. Welcome students back to Citizenship Hall. Read the Big Question aloud and pause. Remind students they are the Civic Curator and today's virtue is service. Basics of Government &amp; Citizenship -- Standards SS.3.CG.2.4, SS.3.CG.2.5, SS.3.CG.3.1.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Wide shot of the voting booth exhibit at night in the museum -- tall blue box with white curtain, a stamp hanging on a chain, a sign reading 'Take one. Mark your choice. Drop it in the box,' with a banner overhead.Stand at the new voting booth exhibit. Describe it physically -- tall blue box, white curtain, stamp on a chain, a single paper card on the shelf. Connect back to Lesson 2: this is how 'We the People' actually speaks. Read the Curator's Question aloud and pause. Keep under 2 minutes. Warm and a little excited.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evidence, the same way we treat a Founding-era document. Read the sentence aloud slowly. Have students find the word 'becomes' and underline it in their notebooks. Explain: before a vote, power-from-the-people is an idea; after a vote, it is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virtue passage aloud. Emphasize that service is often quiet and unseen -- voting is one example. Restate the Civic Curator role for today: writing the exhibit labels for the voting booth.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Latin root elect- ('to choose, to pick out') using the crayon example before naming it. Give 5 seconds of silence, then take chat responses. Do not say the word 'elect' yet -- let students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 word-family match live. Reveal: elect = to choose a person for a job by voting; election = the public event; select = to choose carefully; selection = the choice made. Mention the eclectic discovery fact as a bonus. This scaffolds Evidence Question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two core definitions students just discovered through the root elect-. Give the retrieval challenge a moment of real silence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polling place photograph. No one is being forced and no one is watching anyone else's ballot -- the room is set up to protect the secret ballot. Give 5 seconds of silence before chat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election-day steps. Use the recess-vote scenario to build the case for the secret ballot. This scaffolds Evidence Question 2 -- students need to be able to explain why a fairness rule matters, not just name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three fairness rules students just discovered: one vote per adult citizen, secret ballot, checked count. Quickly define ballot, polling place, majority, and register. This directly prepares students for Evidence Question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1787 only some adult men, 1870 Black men, 1920 women, 1971 eighteen-year-olds. The word 'citizen' kept growing. Today almost every adult U.S. citizen has the right to vote. Give 5 seconds before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discussion directly scaffolds Evidence Question 3 -- connecting voting to 'power from the people' from Lesson 2. Let several students respond in chat before revealing the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Exhibit Label from the lesson -- read it aloud as the culminating discovery. Pause on the connection: without real voting scenes happening across the country, the Constitution's words would just be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Opti's line aloud. This is the last discussion before Guided Practice -- give students a chance to connect service, voting, and 'power from the people' one more time before they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all three evidence questions aloud exactly as written on the slide, one at a time, in plain words. This is the direct scaffold students need before the assignment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Whole-class version of Evidence Question 2. Vote as a class on which rule to explain, then build the explanation together aloud before students write their own answer on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60-90 seconds to draft one sentence independently using the checklist. Low-stakes rehearsal before the full Curator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Self-Check Question 2's wrong answer choice A. Students should catch that secret ballot means each voter marks their choice in private -- no one watches or makes them show it -- not that ballots vanish forever. Have a few students suggest a fix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take answers via chat or poll, then reveal the correct answer and explanation shown on the slide. Celebrate a perfect score: 'Three for three -- you know what makes a vote count.' Under 30 seconds if perfect; if not, review the three fairness rules using the recess-vote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exactly as written. Question 1 was modeled in Teacher Models, Question 2 in We Try Together and Error Analysis, Question 3 in the Why It Matters discussion. Then read the Curator Task exactly as written -- students already rehearsed this in Your Turn With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finish the Curator's Chronicle sentence frame exactly as shown. Let a few students share aloud. Then walk through the turn-in checklist so everyone knows what a complete submission looks like before class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voting booth exhibit now has a finished gold label plaque beside it, warmly lit, while in the background corridor a new wall is being prepared with fireworks, folded flags, a parade ribbon, and a wreath for the next exhibit.Celebrate that students explained the voting booth exhibit. Restate the Exhibit Label in your own words -- one vote per adult citizen, secret ballots, careful counting. Then tease the next exhibit: a Patriotic Holidays timeline with fireworks, folded flags, parade ribbon, and a wreath. Keep under 1 minute. Warm and proud.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645920"/>
            <a:ext cx="9753600" cy="42672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CITIZENSHIP HALL  ·  LESSON 3.10.05  ·  WEEK 30 · Q4</a:t>
            </a:r>
            <a:endParaRPr lang="en-US" sz="1200" dirty="0"/>
          </a:p>
        </p:txBody>
      </p:sp>
      <p:sp>
        <p:nvSpPr>
          <p:cNvPr id="6" name="Text 3"/>
          <p:cNvSpPr/>
          <p:nvPr/>
        </p:nvSpPr>
        <p:spPr>
          <a:xfrm>
            <a:off x="975360" y="2255520"/>
            <a:ext cx="9753600" cy="134112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Voting and Elections</a:t>
            </a:r>
            <a:endParaRPr lang="en-US" sz="4200" dirty="0"/>
          </a:p>
        </p:txBody>
      </p:sp>
      <p:sp>
        <p:nvSpPr>
          <p:cNvPr id="7" name="Text 4"/>
          <p:cNvSpPr/>
          <p:nvPr/>
        </p:nvSpPr>
        <p:spPr>
          <a:xfrm>
            <a:off x="1584960" y="3840480"/>
            <a:ext cx="8534400" cy="365760"/>
          </a:xfrm>
          <a:prstGeom prst="rect">
            <a:avLst/>
          </a:prstGeom>
          <a:noFill/>
          <a:ln/>
        </p:spPr>
        <p:txBody>
          <a:bodyPr wrap="square" lIns="0" tIns="0" rIns="0" bIns="0" rtlCol="0" anchor="ctr"/>
          <a:lstStyle/>
          <a:p>
            <a:pPr algn="ctr" indent="0" marL="0">
              <a:buNone/>
            </a:pPr>
            <a:r>
              <a:rPr lang="en-US" sz="1100" b="1" spc="150" kern="0" dirty="0">
                <a:solidFill>
                  <a:srgbClr val="D4943A"/>
                </a:solidFill>
                <a:latin typeface="Calibri" pitchFamily="34" charset="0"/>
                <a:ea typeface="Calibri" pitchFamily="34" charset="-122"/>
                <a:cs typeface="Calibri" pitchFamily="34" charset="-120"/>
              </a:rPr>
              <a:t>Today's Big Question</a:t>
            </a:r>
            <a:endParaRPr lang="en-US" sz="1100" dirty="0"/>
          </a:p>
        </p:txBody>
      </p:sp>
      <p:sp>
        <p:nvSpPr>
          <p:cNvPr id="8" name="Text 5"/>
          <p:cNvSpPr/>
          <p:nvPr/>
        </p:nvSpPr>
        <p:spPr>
          <a:xfrm>
            <a:off x="1219200" y="4267200"/>
            <a:ext cx="9387840" cy="1097280"/>
          </a:xfrm>
          <a:prstGeom prst="rect">
            <a:avLst/>
          </a:prstGeom>
          <a:noFill/>
          <a:ln/>
        </p:spPr>
        <p:txBody>
          <a:bodyPr wrap="square" lIns="0" tIns="0" rIns="0" bIns="0" rtlCol="0" anchor="t"/>
          <a:lstStyle/>
          <a:p>
            <a:pPr algn="ctr" indent="0" marL="0">
              <a:buNone/>
            </a:pPr>
            <a:r>
              <a:rPr lang="en-US" sz="1600" i="1" dirty="0">
                <a:solidFill>
                  <a:srgbClr val="FFFFFF"/>
                </a:solidFill>
                <a:latin typeface="Calibri" pitchFamily="34" charset="0"/>
                <a:ea typeface="Calibri" pitchFamily="34" charset="-122"/>
                <a:cs typeface="Calibri" pitchFamily="34" charset="-120"/>
              </a:rPr>
              <a:t>How does voting turn "power from the people" into a real, everyday decision?</a:t>
            </a:r>
            <a:endParaRPr lang="en-US" sz="1600" dirty="0"/>
          </a:p>
        </p:txBody>
      </p:sp>
      <p:sp>
        <p:nvSpPr>
          <p:cNvPr id="9" name="Text 6"/>
          <p:cNvSpPr/>
          <p:nvPr/>
        </p:nvSpPr>
        <p:spPr>
          <a:xfrm>
            <a:off x="1219200" y="5547360"/>
            <a:ext cx="9387840" cy="487680"/>
          </a:xfrm>
          <a:prstGeom prst="rect">
            <a:avLst/>
          </a:prstGeom>
          <a:noFill/>
          <a:ln/>
        </p:spPr>
        <p:txBody>
          <a:bodyPr wrap="square" lIns="0" tIns="0" rIns="0" bIns="0" rtlCol="0" anchor="ctr"/>
          <a:lstStyle/>
          <a:p>
            <a:pPr algn="ctr" indent="0" marL="0">
              <a:buNone/>
            </a:pPr>
            <a:r>
              <a:rPr lang="en-US" sz="1200" i="1" dirty="0">
                <a:solidFill>
                  <a:srgbClr val="EAF8FD"/>
                </a:solidFill>
                <a:latin typeface="Calibri" pitchFamily="34" charset="0"/>
                <a:ea typeface="Calibri" pitchFamily="34" charset="-122"/>
                <a:cs typeface="Calibri" pitchFamily="34" charset="-120"/>
              </a:rPr>
              <a:t>You are still the Civic Curator -- and today's exhibit is a voting booth.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853440"/>
            <a:ext cx="97536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ENTER THE SCENE · THE VOTING BOOTH EXHIBIT</a:t>
            </a:r>
            <a:endParaRPr lang="en-US" sz="1100" dirty="0"/>
          </a:p>
        </p:txBody>
      </p:sp>
      <p:sp>
        <p:nvSpPr>
          <p:cNvPr id="6" name="Text 3"/>
          <p:cNvSpPr/>
          <p:nvPr/>
        </p:nvSpPr>
        <p:spPr>
          <a:xfrm>
            <a:off x="975360" y="1402080"/>
            <a:ext cx="9753600" cy="975360"/>
          </a:xfrm>
          <a:prstGeom prst="rect">
            <a:avLst/>
          </a:prstGeom>
          <a:noFill/>
          <a:ln/>
        </p:spPr>
        <p:txBody>
          <a:bodyPr wrap="square" lIns="0" tIns="0" rIns="0" bIns="0" rtlCol="0" anchor="ctr"/>
          <a:lstStyle/>
          <a:p>
            <a:pPr algn="ctr" indent="0" marL="0">
              <a:buNone/>
            </a:pPr>
            <a:r>
              <a:rPr lang="en-US" sz="2200" b="1" i="1" dirty="0">
                <a:solidFill>
                  <a:srgbClr val="FFFFFF"/>
                </a:solidFill>
                <a:latin typeface="Cambria" pitchFamily="34" charset="0"/>
                <a:ea typeface="Cambria" pitchFamily="34" charset="-122"/>
                <a:cs typeface="Cambria" pitchFamily="34" charset="-120"/>
              </a:rPr>
              <a:t>"Take one. Mark your choice. Drop it in the box."</a:t>
            </a:r>
            <a:endParaRPr lang="en-US" sz="2200" dirty="0"/>
          </a:p>
        </p:txBody>
      </p:sp>
      <p:sp>
        <p:nvSpPr>
          <p:cNvPr id="7" name="Text 4"/>
          <p:cNvSpPr/>
          <p:nvPr/>
        </p:nvSpPr>
        <p:spPr>
          <a:xfrm>
            <a:off x="1219200" y="2560320"/>
            <a:ext cx="9387840" cy="1219200"/>
          </a:xfrm>
          <a:prstGeom prst="rect">
            <a:avLst/>
          </a:prstGeom>
          <a:noFill/>
          <a:ln/>
        </p:spPr>
        <p:txBody>
          <a:bodyPr wrap="square" lIns="0" tIns="0" rIns="0" bIns="0" rtlCol="0" anchor="t"/>
          <a:lstStyle/>
          <a:p>
            <a:pPr algn="ctr" indent="0" marL="0">
              <a:buNone/>
            </a:pPr>
            <a:r>
              <a:rPr lang="en-US" sz="1300" dirty="0">
                <a:solidFill>
                  <a:srgbClr val="EAF8FD"/>
                </a:solidFill>
                <a:latin typeface="Calibri" pitchFamily="34" charset="0"/>
                <a:ea typeface="Calibri" pitchFamily="34" charset="-122"/>
                <a:cs typeface="Calibri" pitchFamily="34" charset="-120"/>
              </a:rPr>
              <a:t>The Florida case has gone quiet for the night. Between the three-level model and the Florida corner, a strange new exhibit has been wheeled into place: a tall navy-blue booth with a little white curtain, a stamp on a chain, and a single paper card laid on the shelf inside.</a:t>
            </a:r>
            <a:endParaRPr lang="en-US" sz="1300" dirty="0"/>
          </a:p>
        </p:txBody>
      </p:sp>
      <p:sp>
        <p:nvSpPr>
          <p:cNvPr id="8" name="Text 5"/>
          <p:cNvSpPr/>
          <p:nvPr/>
        </p:nvSpPr>
        <p:spPr>
          <a:xfrm>
            <a:off x="1219200" y="3779520"/>
            <a:ext cx="9387840" cy="140208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Above the booth hangs a banner: "How do citizens make decisions together?" Today, you are still the Civic Curator -- and today's exhibit is a voting booth. Time to find out how "We the People" actually does its job.</a:t>
            </a:r>
            <a:endParaRPr lang="en-US" sz="1300" dirty="0"/>
          </a:p>
        </p:txBody>
      </p:sp>
      <p:sp>
        <p:nvSpPr>
          <p:cNvPr id="9" name="Text 6"/>
          <p:cNvSpPr/>
          <p:nvPr/>
        </p:nvSpPr>
        <p:spPr>
          <a:xfrm>
            <a:off x="1219200" y="5303520"/>
            <a:ext cx="9387840" cy="609600"/>
          </a:xfrm>
          <a:prstGeom prst="rect">
            <a:avLst/>
          </a:prstGeom>
          <a:noFill/>
          <a:ln/>
        </p:spPr>
        <p:txBody>
          <a:bodyPr wrap="square" lIns="0" tIns="0" rIns="0" bIns="0" rtlCol="0" anchor="ctr"/>
          <a:lstStyle/>
          <a:p>
            <a:pPr algn="ctr" indent="0" marL="0">
              <a:buNone/>
            </a:pPr>
            <a:r>
              <a:rPr lang="en-US" sz="1300" b="1" dirty="0">
                <a:solidFill>
                  <a:srgbClr val="D4943A"/>
                </a:solidFill>
                <a:latin typeface="Calibri" pitchFamily="34" charset="0"/>
                <a:ea typeface="Calibri" pitchFamily="34" charset="-122"/>
                <a:cs typeface="Calibri" pitchFamily="34" charset="-120"/>
              </a:rPr>
              <a:t>Today's virtue is still service -- voting is a way of serving your community.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48768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FOUNDING WORDS · EVIDENCE</a:t>
            </a:r>
            <a:endParaRPr lang="en-US" sz="1100" dirty="0"/>
          </a:p>
        </p:txBody>
      </p:sp>
      <p:sp>
        <p:nvSpPr>
          <p:cNvPr id="3" name="Shape 1"/>
          <p:cNvSpPr/>
          <p:nvPr/>
        </p:nvSpPr>
        <p:spPr>
          <a:xfrm>
            <a:off x="1219200" y="1158240"/>
            <a:ext cx="9753600" cy="2072640"/>
          </a:xfrm>
          <a:prstGeom prst="roundRect">
            <a:avLst>
              <a:gd name="adj" fmla="val 8824"/>
            </a:avLst>
          </a:prstGeom>
          <a:solidFill>
            <a:srgbClr val="1A2D5A"/>
          </a:solidFill>
          <a:ln w="19050">
            <a:solidFill>
              <a:srgbClr val="D4943A"/>
            </a:solidFill>
            <a:prstDash val="solid"/>
          </a:ln>
        </p:spPr>
      </p:sp>
      <p:sp>
        <p:nvSpPr>
          <p:cNvPr id="4" name="Text 2"/>
          <p:cNvSpPr/>
          <p:nvPr/>
        </p:nvSpPr>
        <p:spPr>
          <a:xfrm>
            <a:off x="1645920" y="1280160"/>
            <a:ext cx="8900160" cy="1828800"/>
          </a:xfrm>
          <a:prstGeom prst="rect">
            <a:avLst/>
          </a:prstGeom>
          <a:noFill/>
          <a:ln/>
        </p:spPr>
        <p:txBody>
          <a:bodyPr wrap="square" lIns="0" tIns="0" rIns="0" bIns="0" rtlCol="0" anchor="ctr"/>
          <a:lstStyle/>
          <a:p>
            <a:pPr algn="ctr" indent="0" marL="0">
              <a:buNone/>
            </a:pPr>
            <a:r>
              <a:rPr lang="en-US" sz="2100" b="1" i="1" dirty="0">
                <a:solidFill>
                  <a:srgbClr val="D4943A"/>
                </a:solidFill>
                <a:latin typeface="Cambria" pitchFamily="34" charset="0"/>
                <a:ea typeface="Cambria" pitchFamily="34" charset="-122"/>
                <a:cs typeface="Cambria" pitchFamily="34" charset="-120"/>
              </a:rPr>
              <a:t>"When citizens vote, the power of the people becomes a real decision."</a:t>
            </a:r>
            <a:endParaRPr lang="en-US" sz="2100" dirty="0"/>
          </a:p>
        </p:txBody>
      </p:sp>
      <p:sp>
        <p:nvSpPr>
          <p:cNvPr id="5" name="Text 3"/>
          <p:cNvSpPr/>
          <p:nvPr/>
        </p:nvSpPr>
        <p:spPr>
          <a:xfrm>
            <a:off x="1219200" y="3474720"/>
            <a:ext cx="9753600" cy="67056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This sentence is today's Copywork -- copy it carefully into your Curator's Notebook and underline the word becomes.</a:t>
            </a:r>
            <a:endParaRPr lang="en-US" sz="1300" dirty="0"/>
          </a:p>
        </p:txBody>
      </p:sp>
      <p:sp>
        <p:nvSpPr>
          <p:cNvPr id="6" name="Text 4"/>
          <p:cNvSpPr/>
          <p:nvPr/>
        </p:nvSpPr>
        <p:spPr>
          <a:xfrm>
            <a:off x="1219200" y="4267200"/>
            <a:ext cx="9753600" cy="1402080"/>
          </a:xfrm>
          <a:prstGeom prst="rect">
            <a:avLst/>
          </a:prstGeom>
          <a:noFill/>
          <a:ln/>
        </p:spPr>
        <p:txBody>
          <a:bodyPr wrap="square" lIns="0" tIns="0" rIns="0" bIns="0" rtlCol="0" anchor="t"/>
          <a:lstStyle/>
          <a:p>
            <a:pPr algn="ctr" indent="0" marL="0">
              <a:buNone/>
            </a:pPr>
            <a:r>
              <a:rPr lang="en-US" sz="1400" dirty="0">
                <a:solidFill>
                  <a:srgbClr val="EAF8FD"/>
                </a:solidFill>
                <a:latin typeface="Calibri" pitchFamily="34" charset="0"/>
                <a:ea typeface="Calibri" pitchFamily="34" charset="-122"/>
                <a:cs typeface="Calibri" pitchFamily="34" charset="-120"/>
              </a:rPr>
              <a:t>Before a vote, "the power of the people" is just an idea -- words in the Constitution. After a vote, it's a real, working answer. That single word, becomes, is the whole lesson.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48768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VIRTUE SPOTLIGHT</a:t>
            </a:r>
            <a:endParaRPr lang="en-US" sz="1100" dirty="0"/>
          </a:p>
        </p:txBody>
      </p:sp>
      <p:sp>
        <p:nvSpPr>
          <p:cNvPr id="3" name="Text 1"/>
          <p:cNvSpPr/>
          <p:nvPr/>
        </p:nvSpPr>
        <p:spPr>
          <a:xfrm>
            <a:off x="609600" y="914400"/>
            <a:ext cx="10972800" cy="792480"/>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Service</a:t>
            </a:r>
            <a:endParaRPr lang="en-US" sz="3400" dirty="0"/>
          </a:p>
        </p:txBody>
      </p:sp>
      <p:sp>
        <p:nvSpPr>
          <p:cNvPr id="4" name="Shape 2"/>
          <p:cNvSpPr/>
          <p:nvPr/>
        </p:nvSpPr>
        <p:spPr>
          <a:xfrm>
            <a:off x="975360" y="1950720"/>
            <a:ext cx="10241280" cy="2621280"/>
          </a:xfrm>
          <a:prstGeom prst="roundRect">
            <a:avLst>
              <a:gd name="adj" fmla="val 5581"/>
            </a:avLst>
          </a:prstGeom>
          <a:solidFill>
            <a:srgbClr val="1A2D5A"/>
          </a:solidFill>
          <a:ln/>
        </p:spPr>
      </p:sp>
      <p:sp>
        <p:nvSpPr>
          <p:cNvPr id="5" name="Text 3"/>
          <p:cNvSpPr/>
          <p:nvPr/>
        </p:nvSpPr>
        <p:spPr>
          <a:xfrm>
            <a:off x="1341120" y="2194560"/>
            <a:ext cx="9509760" cy="2133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Voting is a small, quiet act of service. You stand in line. You take a card. You think about your community. You make a choice. No one cheers, no one watches, but your single mark joins millions of others to shape the country. Service doesn't always look big.</a:t>
            </a:r>
            <a:endParaRPr lang="en-US" sz="1500" dirty="0"/>
          </a:p>
        </p:txBody>
      </p:sp>
      <p:sp>
        <p:nvSpPr>
          <p:cNvPr id="6" name="Text 4"/>
          <p:cNvSpPr/>
          <p:nvPr/>
        </p:nvSpPr>
        <p:spPr>
          <a:xfrm>
            <a:off x="975360" y="4815840"/>
            <a:ext cx="10241280" cy="1402080"/>
          </a:xfrm>
          <a:prstGeom prst="rect">
            <a:avLst/>
          </a:prstGeom>
          <a:noFill/>
          <a:ln/>
        </p:spPr>
        <p:txBody>
          <a:bodyPr wrap="square" lIns="0" tIns="0" rIns="0" bIns="0" rtlCol="0" anchor="t"/>
          <a:lstStyle/>
          <a:p>
            <a:pPr algn="ctr" indent="0" marL="0">
              <a:buNone/>
            </a:pPr>
            <a:r>
              <a:rPr lang="en-US" sz="1300" i="1" dirty="0">
                <a:solidFill>
                  <a:srgbClr val="EAF8FD"/>
                </a:solidFill>
                <a:latin typeface="Calibri" pitchFamily="34" charset="0"/>
                <a:ea typeface="Calibri" pitchFamily="34" charset="-122"/>
                <a:cs typeface="Calibri" pitchFamily="34" charset="-120"/>
              </a:rPr>
              <a:t>Your Role Today: You are still the Civic Curator -- and today you're writing the labels for the voting booth exhibit. Your job: help visitors understand what a vote is, what an election is, and how a fair election protects every voter's choice.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WORD ROOTS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The Root elect-</a:t>
            </a:r>
            <a:endParaRPr lang="en-US" sz="28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Close-up illustration of a hand reaching into a bag of crayons and deliberately picking out the green one -- bright, simple, classroom-friendly visual metaphor for 'choosing on purpose.'</a:t>
            </a:r>
            <a:endParaRPr lang="en-US" sz="1100" dirty="0"/>
          </a:p>
        </p:txBody>
      </p:sp>
      <p:sp>
        <p:nvSpPr>
          <p:cNvPr id="7" name="Text 5"/>
          <p:cNvSpPr/>
          <p:nvPr/>
        </p:nvSpPr>
        <p:spPr>
          <a:xfrm>
            <a:off x="7010400" y="1645920"/>
            <a:ext cx="4267200" cy="14020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Imagine you have a bag of crayons and you reach in and pick the green one on purpose. What word might describe that choice?</a:t>
            </a:r>
            <a:endParaRPr lang="en-US" sz="1300" dirty="0"/>
          </a:p>
        </p:txBody>
      </p:sp>
      <p:sp>
        <p:nvSpPr>
          <p:cNvPr id="8" name="Shape 6"/>
          <p:cNvSpPr/>
          <p:nvPr/>
        </p:nvSpPr>
        <p:spPr>
          <a:xfrm>
            <a:off x="7010400" y="3169920"/>
            <a:ext cx="4206240" cy="1950720"/>
          </a:xfrm>
          <a:prstGeom prst="roundRect">
            <a:avLst>
              <a:gd name="adj" fmla="val 7500"/>
            </a:avLst>
          </a:prstGeom>
          <a:solidFill>
            <a:srgbClr val="FFF3DC"/>
          </a:solidFill>
          <a:ln w="19050">
            <a:solidFill>
              <a:srgbClr val="F5E6C8"/>
            </a:solidFill>
            <a:prstDash val="solid"/>
          </a:ln>
        </p:spPr>
      </p:sp>
      <p:sp>
        <p:nvSpPr>
          <p:cNvPr id="9" name="Text 7"/>
          <p:cNvSpPr/>
          <p:nvPr/>
        </p:nvSpPr>
        <p:spPr>
          <a:xfrm>
            <a:off x="7193280" y="324307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511296"/>
            <a:ext cx="3840480" cy="1524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word might be..."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"That reminds me of..."</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Think before you answer in the chat.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WORD ROOTS ·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Sorting the Word Family</a:t>
            </a:r>
            <a:endParaRPr lang="en-US" sz="2800" dirty="0"/>
          </a:p>
        </p:txBody>
      </p:sp>
      <p:sp>
        <p:nvSpPr>
          <p:cNvPr id="4" name="Text 2"/>
          <p:cNvSpPr/>
          <p:nvPr/>
        </p:nvSpPr>
        <p:spPr>
          <a:xfrm>
            <a:off x="609600" y="1584960"/>
            <a:ext cx="5974080" cy="438912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Four words share the root elect-: elect, election, select, selection. Match each word to its meaning:</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to choose a person for a job by voting</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a public event where people vote to choose</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to choose carefully</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the choice that has been made</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Discovery Fact: the word eclectic uses the same root -- someone who carefully picks favorites from lots of different places.</a:t>
            </a:r>
            <a:endParaRPr lang="en-US" sz="1200" dirty="0"/>
          </a:p>
        </p:txBody>
      </p:sp>
      <p:sp>
        <p:nvSpPr>
          <p:cNvPr id="5" name="Shape 3"/>
          <p:cNvSpPr/>
          <p:nvPr/>
        </p:nvSpPr>
        <p:spPr>
          <a:xfrm>
            <a:off x="6827520" y="1584960"/>
            <a:ext cx="4389120" cy="390144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3162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of these four words means the actual public event, not just the act of choosing?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all four words have in common?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picking a crayon like picking a mayor?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 FOUND IT</a:t>
            </a:r>
            <a:endParaRPr lang="en-US" sz="1100" dirty="0"/>
          </a:p>
        </p:txBody>
      </p:sp>
      <p:sp>
        <p:nvSpPr>
          <p:cNvPr id="3" name="Text 1"/>
          <p:cNvSpPr/>
          <p:nvPr/>
        </p:nvSpPr>
        <p:spPr>
          <a:xfrm>
            <a:off x="609600" y="1036320"/>
            <a:ext cx="10972800" cy="792480"/>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Vote &amp; Election</a:t>
            </a:r>
            <a:endParaRPr lang="en-US" sz="3400" dirty="0"/>
          </a:p>
        </p:txBody>
      </p:sp>
      <p:sp>
        <p:nvSpPr>
          <p:cNvPr id="4" name="Text 2"/>
          <p:cNvSpPr/>
          <p:nvPr/>
        </p:nvSpPr>
        <p:spPr>
          <a:xfrm>
            <a:off x="1219200" y="1950720"/>
            <a:ext cx="9753600" cy="207264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A vote is one person's choice, made on purpose, that gets counted together with everyone else's choices to make a decision. An election is the bigger event where lots of people vote at the same time -- to pick leaders like a mayor, governor, or President, or to decide an important question.</a:t>
            </a:r>
            <a:endParaRPr lang="en-US" sz="1500" dirty="0"/>
          </a:p>
        </p:txBody>
      </p:sp>
      <p:sp>
        <p:nvSpPr>
          <p:cNvPr id="5" name="Text 3"/>
          <p:cNvSpPr/>
          <p:nvPr/>
        </p:nvSpPr>
        <p:spPr>
          <a:xfrm>
            <a:off x="1219200" y="4145280"/>
            <a:ext cx="9753600" cy="914400"/>
          </a:xfrm>
          <a:prstGeom prst="rect">
            <a:avLst/>
          </a:prstGeom>
          <a:noFill/>
          <a:ln/>
        </p:spPr>
        <p:txBody>
          <a:bodyPr wrap="square" lIns="0" tIns="0" rIns="0" bIns="0" rtlCol="0" anchor="t"/>
          <a:lstStyle/>
          <a:p>
            <a:pPr algn="ctr" indent="0" marL="0">
              <a:buNone/>
            </a:pPr>
            <a:r>
              <a:rPr lang="en-US" sz="1400" i="1" dirty="0">
                <a:solidFill>
                  <a:srgbClr val="EAF8FD"/>
                </a:solidFill>
                <a:latin typeface="Calibri" pitchFamily="34" charset="0"/>
                <a:ea typeface="Calibri" pitchFamily="34" charset="-122"/>
                <a:cs typeface="Calibri" pitchFamily="34" charset="-120"/>
              </a:rPr>
              <a:t>You already know power comes from the people. Voting is how the people actually use that power.</a:t>
            </a:r>
            <a:endParaRPr lang="en-US" sz="1400" dirty="0"/>
          </a:p>
        </p:txBody>
      </p:sp>
      <p:sp>
        <p:nvSpPr>
          <p:cNvPr id="6" name="Text 4"/>
          <p:cNvSpPr/>
          <p:nvPr/>
        </p:nvSpPr>
        <p:spPr>
          <a:xfrm>
            <a:off x="1219200" y="5486400"/>
            <a:ext cx="9753600" cy="487680"/>
          </a:xfrm>
          <a:prstGeom prst="rect">
            <a:avLst/>
          </a:prstGeom>
          <a:noFill/>
          <a:ln/>
        </p:spPr>
        <p:txBody>
          <a:bodyPr wrap="square" lIns="0" tIns="0" rIns="0" bIns="0" rtlCol="0" anchor="ctr"/>
          <a:lstStyle/>
          <a:p>
            <a:pPr algn="ctr" indent="0" marL="0">
              <a:buNone/>
            </a:pPr>
            <a:r>
              <a:rPr lang="en-US" sz="1200" i="1" dirty="0">
                <a:solidFill>
                  <a:srgbClr val="55C8E8"/>
                </a:solidFill>
                <a:latin typeface="Calibri" pitchFamily="34" charset="0"/>
                <a:ea typeface="Calibri" pitchFamily="34" charset="-122"/>
                <a:cs typeface="Calibri" pitchFamily="34" charset="-120"/>
              </a:rPr>
              <a:t>Cover your screen. Say the difference between a vote and an election from memory.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SOURCE STUDY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Voters at a Polling Place</a:t>
            </a:r>
            <a:endParaRPr lang="en-US" sz="28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a U.S. polling place on election day -- voters in line, voting booths with curtains, an 'I Voted' sticker close-up, or a ballot being dropped into a sealed box. Source: source-3-10-05-polling-place.jpg</a:t>
            </a:r>
            <a:endParaRPr lang="en-US" sz="1100" dirty="0"/>
          </a:p>
        </p:txBody>
      </p:sp>
      <p:sp>
        <p:nvSpPr>
          <p:cNvPr id="7" name="Text 5"/>
          <p:cNvSpPr/>
          <p:nvPr/>
        </p:nvSpPr>
        <p:spPr>
          <a:xfrm>
            <a:off x="7010400" y="1645920"/>
            <a:ext cx="4267200" cy="140208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What do I see? Look at the booths, the line, the signs, the way the room is arranged. What does it look like the people are doing?</a:t>
            </a:r>
            <a:endParaRPr lang="en-US" sz="1250" dirty="0"/>
          </a:p>
        </p:txBody>
      </p:sp>
      <p:sp>
        <p:nvSpPr>
          <p:cNvPr id="8" name="Shape 6"/>
          <p:cNvSpPr/>
          <p:nvPr/>
        </p:nvSpPr>
        <p:spPr>
          <a:xfrm>
            <a:off x="7010400" y="3169920"/>
            <a:ext cx="4206240" cy="1950720"/>
          </a:xfrm>
          <a:prstGeom prst="roundRect">
            <a:avLst>
              <a:gd name="adj" fmla="val 7500"/>
            </a:avLst>
          </a:prstGeom>
          <a:solidFill>
            <a:srgbClr val="FFF3DC"/>
          </a:solidFill>
          <a:ln w="19050">
            <a:solidFill>
              <a:srgbClr val="F5E6C8"/>
            </a:solidFill>
            <a:prstDash val="solid"/>
          </a:ln>
        </p:spPr>
      </p:sp>
      <p:sp>
        <p:nvSpPr>
          <p:cNvPr id="9" name="Text 7"/>
          <p:cNvSpPr/>
          <p:nvPr/>
        </p:nvSpPr>
        <p:spPr>
          <a:xfrm>
            <a:off x="7193280" y="324307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511296"/>
            <a:ext cx="3840480" cy="1524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"It looks like they are..."</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Study the photo before we discuss.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SOURCE STUDY ·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Why the Curtain Matters</a:t>
            </a:r>
            <a:endParaRPr lang="en-US" sz="2800" dirty="0"/>
          </a:p>
        </p:txBody>
      </p:sp>
      <p:sp>
        <p:nvSpPr>
          <p:cNvPr id="4" name="Text 2"/>
          <p:cNvSpPr/>
          <p:nvPr/>
        </p:nvSpPr>
        <p:spPr>
          <a:xfrm>
            <a:off x="609600" y="1584960"/>
            <a:ext cx="5974080" cy="414528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Election day, step by step: 1) Register. 2) Go to the polling place. 3) Get a ballot -- the paper or screen listing the choices. 4) Vote in private, behind a curtain -- a secret ballot. 5) Drop it in the box; the choice with the most votes, the majority, wins.</a:t>
            </a:r>
            <a:endParaRPr lang="en-US" sz="1250" dirty="0"/>
          </a:p>
          <a:p>
            <a:pPr indent="0" marL="0">
              <a:buNone/>
            </a:pP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Imagine your class is voting on what game to play at recess.</a:t>
            </a:r>
            <a:endParaRPr lang="en-US" sz="1250" dirty="0"/>
          </a:p>
        </p:txBody>
      </p:sp>
      <p:sp>
        <p:nvSpPr>
          <p:cNvPr id="5" name="Shape 3"/>
          <p:cNvSpPr/>
          <p:nvPr/>
        </p:nvSpPr>
        <p:spPr>
          <a:xfrm>
            <a:off x="6827520" y="1584960"/>
            <a:ext cx="4389120" cy="390144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3162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it matter if everyone could see who voted for what?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happen if votes were not secret?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 the booths and the lines help keep the election fair?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487680"/>
            <a:ext cx="10972800" cy="365760"/>
          </a:xfrm>
          <a:prstGeom prst="rect">
            <a:avLst/>
          </a:prstGeom>
          <a:noFill/>
          <a:ln/>
        </p:spPr>
        <p:txBody>
          <a:bodyPr wrap="square" lIns="0" tIns="0" rIns="0" bIns="0" rtlCol="0" anchor="ctr"/>
          <a:lstStyle/>
          <a:p>
            <a:pPr algn="ctr" indent="0" marL="0">
              <a:buNone/>
            </a:pPr>
            <a:r>
              <a:rPr lang="en-US" sz="1100" b="1" spc="120" kern="0" dirty="0">
                <a:solidFill>
                  <a:srgbClr val="55C8E8"/>
                </a:solidFill>
                <a:latin typeface="Calibri" pitchFamily="34" charset="0"/>
                <a:ea typeface="Calibri" pitchFamily="34" charset="-122"/>
                <a:cs typeface="Calibri" pitchFamily="34" charset="-120"/>
              </a:rPr>
              <a:t>YOU FOUND IT · THREE RULES THAT KEEP AN ELECTION FAIR</a:t>
            </a:r>
            <a:endParaRPr lang="en-US" sz="1100" dirty="0"/>
          </a:p>
        </p:txBody>
      </p:sp>
      <p:sp>
        <p:nvSpPr>
          <p:cNvPr id="3" name="Shape 1"/>
          <p:cNvSpPr/>
          <p:nvPr/>
        </p:nvSpPr>
        <p:spPr>
          <a:xfrm>
            <a:off x="731520" y="1097280"/>
            <a:ext cx="3413760" cy="2560320"/>
          </a:xfrm>
          <a:prstGeom prst="roundRect">
            <a:avLst>
              <a:gd name="adj" fmla="val 5714"/>
            </a:avLst>
          </a:prstGeom>
          <a:solidFill>
            <a:srgbClr val="1A2D5A"/>
          </a:solidFill>
          <a:ln w="15240">
            <a:solidFill>
              <a:srgbClr val="D4943A"/>
            </a:solidFill>
            <a:prstDash val="solid"/>
          </a:ln>
        </p:spPr>
      </p:sp>
      <p:sp>
        <p:nvSpPr>
          <p:cNvPr id="4" name="Text 2"/>
          <p:cNvSpPr/>
          <p:nvPr/>
        </p:nvSpPr>
        <p:spPr>
          <a:xfrm>
            <a:off x="914400" y="1280160"/>
            <a:ext cx="3048000" cy="609600"/>
          </a:xfrm>
          <a:prstGeom prst="rect">
            <a:avLst/>
          </a:prstGeom>
          <a:noFill/>
          <a:ln/>
        </p:spPr>
        <p:txBody>
          <a:bodyPr wrap="square" lIns="0" tIns="0" rIns="0" bIns="0"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One Vote</a:t>
            </a:r>
            <a:endParaRPr lang="en-US" sz="1600" dirty="0"/>
          </a:p>
        </p:txBody>
      </p:sp>
      <p:sp>
        <p:nvSpPr>
          <p:cNvPr id="5" name="Text 3"/>
          <p:cNvSpPr/>
          <p:nvPr/>
        </p:nvSpPr>
        <p:spPr>
          <a:xfrm>
            <a:off x="914400" y="1950720"/>
            <a:ext cx="3048000" cy="1584960"/>
          </a:xfrm>
          <a:prstGeom prst="rect">
            <a:avLst/>
          </a:prstGeom>
          <a:noFill/>
          <a:ln/>
        </p:spPr>
        <p:txBody>
          <a:bodyPr wrap="square" lIns="0" tIns="0" rIns="0" bIns="0" rtlCol="0" anchor="t"/>
          <a:lstStyle/>
          <a:p>
            <a:pPr algn="ctr" indent="0" marL="0">
              <a:buNone/>
            </a:pPr>
            <a:r>
              <a:rPr lang="en-US" sz="1250" dirty="0">
                <a:solidFill>
                  <a:srgbClr val="FFFFFF"/>
                </a:solidFill>
                <a:latin typeface="Calibri" pitchFamily="34" charset="0"/>
                <a:ea typeface="Calibri" pitchFamily="34" charset="-122"/>
                <a:cs typeface="Calibri" pitchFamily="34" charset="-120"/>
              </a:rPr>
              <a:t>Every adult citizen gets one vote.</a:t>
            </a:r>
            <a:endParaRPr lang="en-US" sz="1250" dirty="0"/>
          </a:p>
        </p:txBody>
      </p:sp>
      <p:sp>
        <p:nvSpPr>
          <p:cNvPr id="6" name="Shape 4"/>
          <p:cNvSpPr/>
          <p:nvPr/>
        </p:nvSpPr>
        <p:spPr>
          <a:xfrm>
            <a:off x="4389120" y="1097280"/>
            <a:ext cx="3413760" cy="2560320"/>
          </a:xfrm>
          <a:prstGeom prst="roundRect">
            <a:avLst>
              <a:gd name="adj" fmla="val 5714"/>
            </a:avLst>
          </a:prstGeom>
          <a:solidFill>
            <a:srgbClr val="1A2D5A"/>
          </a:solidFill>
          <a:ln w="15240">
            <a:solidFill>
              <a:srgbClr val="D4943A"/>
            </a:solidFill>
            <a:prstDash val="solid"/>
          </a:ln>
        </p:spPr>
      </p:sp>
      <p:sp>
        <p:nvSpPr>
          <p:cNvPr id="7" name="Text 5"/>
          <p:cNvSpPr/>
          <p:nvPr/>
        </p:nvSpPr>
        <p:spPr>
          <a:xfrm>
            <a:off x="4572000" y="1280160"/>
            <a:ext cx="3048000" cy="609600"/>
          </a:xfrm>
          <a:prstGeom prst="rect">
            <a:avLst/>
          </a:prstGeom>
          <a:noFill/>
          <a:ln/>
        </p:spPr>
        <p:txBody>
          <a:bodyPr wrap="square" lIns="0" tIns="0" rIns="0" bIns="0"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Secret Ballot</a:t>
            </a:r>
            <a:endParaRPr lang="en-US" sz="1600" dirty="0"/>
          </a:p>
        </p:txBody>
      </p:sp>
      <p:sp>
        <p:nvSpPr>
          <p:cNvPr id="8" name="Text 6"/>
          <p:cNvSpPr/>
          <p:nvPr/>
        </p:nvSpPr>
        <p:spPr>
          <a:xfrm>
            <a:off x="4572000" y="1950720"/>
            <a:ext cx="3048000" cy="1584960"/>
          </a:xfrm>
          <a:prstGeom prst="rect">
            <a:avLst/>
          </a:prstGeom>
          <a:noFill/>
          <a:ln/>
        </p:spPr>
        <p:txBody>
          <a:bodyPr wrap="square" lIns="0" tIns="0" rIns="0" bIns="0" rtlCol="0" anchor="t"/>
          <a:lstStyle/>
          <a:p>
            <a:pPr algn="ctr" indent="0" marL="0">
              <a:buNone/>
            </a:pPr>
            <a:r>
              <a:rPr lang="en-US" sz="1250" dirty="0">
                <a:solidFill>
                  <a:srgbClr val="FFFFFF"/>
                </a:solidFill>
                <a:latin typeface="Calibri" pitchFamily="34" charset="0"/>
                <a:ea typeface="Calibri" pitchFamily="34" charset="-122"/>
                <a:cs typeface="Calibri" pitchFamily="34" charset="-120"/>
              </a:rPr>
              <a:t>Votes are marked in private -- no one watches.</a:t>
            </a:r>
            <a:endParaRPr lang="en-US" sz="1250" dirty="0"/>
          </a:p>
        </p:txBody>
      </p:sp>
      <p:sp>
        <p:nvSpPr>
          <p:cNvPr id="9" name="Shape 7"/>
          <p:cNvSpPr/>
          <p:nvPr/>
        </p:nvSpPr>
        <p:spPr>
          <a:xfrm>
            <a:off x="8046720" y="1097280"/>
            <a:ext cx="3413760" cy="2560320"/>
          </a:xfrm>
          <a:prstGeom prst="roundRect">
            <a:avLst>
              <a:gd name="adj" fmla="val 5714"/>
            </a:avLst>
          </a:prstGeom>
          <a:solidFill>
            <a:srgbClr val="1A2D5A"/>
          </a:solidFill>
          <a:ln w="15240">
            <a:solidFill>
              <a:srgbClr val="D4943A"/>
            </a:solidFill>
            <a:prstDash val="solid"/>
          </a:ln>
        </p:spPr>
      </p:sp>
      <p:sp>
        <p:nvSpPr>
          <p:cNvPr id="10" name="Text 8"/>
          <p:cNvSpPr/>
          <p:nvPr/>
        </p:nvSpPr>
        <p:spPr>
          <a:xfrm>
            <a:off x="8229600" y="1280160"/>
            <a:ext cx="3048000" cy="609600"/>
          </a:xfrm>
          <a:prstGeom prst="rect">
            <a:avLst/>
          </a:prstGeom>
          <a:noFill/>
          <a:ln/>
        </p:spPr>
        <p:txBody>
          <a:bodyPr wrap="square" lIns="0" tIns="0" rIns="0" bIns="0"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Checked Count</a:t>
            </a:r>
            <a:endParaRPr lang="en-US" sz="1600" dirty="0"/>
          </a:p>
        </p:txBody>
      </p:sp>
      <p:sp>
        <p:nvSpPr>
          <p:cNvPr id="11" name="Text 9"/>
          <p:cNvSpPr/>
          <p:nvPr/>
        </p:nvSpPr>
        <p:spPr>
          <a:xfrm>
            <a:off x="8229600" y="1950720"/>
            <a:ext cx="3048000" cy="1584960"/>
          </a:xfrm>
          <a:prstGeom prst="rect">
            <a:avLst/>
          </a:prstGeom>
          <a:noFill/>
          <a:ln/>
        </p:spPr>
        <p:txBody>
          <a:bodyPr wrap="square" lIns="0" tIns="0" rIns="0" bIns="0" rtlCol="0" anchor="t"/>
          <a:lstStyle/>
          <a:p>
            <a:pPr algn="ctr" indent="0" marL="0">
              <a:buNone/>
            </a:pPr>
            <a:r>
              <a:rPr lang="en-US" sz="1250" dirty="0">
                <a:solidFill>
                  <a:srgbClr val="FFFFFF"/>
                </a:solidFill>
                <a:latin typeface="Calibri" pitchFamily="34" charset="0"/>
                <a:ea typeface="Calibri" pitchFamily="34" charset="-122"/>
                <a:cs typeface="Calibri" pitchFamily="34" charset="-120"/>
              </a:rPr>
              <a:t>The counting is checked by more than one person.</a:t>
            </a:r>
            <a:endParaRPr lang="en-US" sz="1250" dirty="0"/>
          </a:p>
        </p:txBody>
      </p:sp>
      <p:sp>
        <p:nvSpPr>
          <p:cNvPr id="12" name="Text 10"/>
          <p:cNvSpPr/>
          <p:nvPr/>
        </p:nvSpPr>
        <p:spPr>
          <a:xfrm>
            <a:off x="731520" y="3962400"/>
            <a:ext cx="10728960" cy="1402080"/>
          </a:xfrm>
          <a:prstGeom prst="rect">
            <a:avLst/>
          </a:prstGeom>
          <a:noFill/>
          <a:ln/>
        </p:spPr>
        <p:txBody>
          <a:bodyPr wrap="square" lIns="0" tIns="0" rIns="0" bIns="0" rtlCol="0" anchor="t"/>
          <a:lstStyle/>
          <a:p>
            <a:pPr algn="ctr" indent="0" marL="0">
              <a:buNone/>
            </a:pPr>
            <a:r>
              <a:rPr lang="en-US" sz="1300" dirty="0">
                <a:solidFill>
                  <a:srgbClr val="EAF8FD"/>
                </a:solidFill>
                <a:latin typeface="Calibri" pitchFamily="34" charset="0"/>
                <a:ea typeface="Calibri" pitchFamily="34" charset="-122"/>
                <a:cs typeface="Calibri" pitchFamily="34" charset="-120"/>
              </a:rPr>
              <a:t>Vocabulary: ballot -- the paper or screen listing the choices. Polling place -- where people vote. Majority -- the biggest group of votes. Register -- signing up to vote before election day, done once.</a:t>
            </a:r>
            <a:endParaRPr lang="en-US" sz="1300" dirty="0"/>
          </a:p>
        </p:txBody>
      </p:sp>
      <p:sp>
        <p:nvSpPr>
          <p:cNvPr id="13" name="Text 11"/>
          <p:cNvSpPr/>
          <p:nvPr/>
        </p:nvSpPr>
        <p:spPr>
          <a:xfrm>
            <a:off x="731520" y="5486400"/>
            <a:ext cx="10728960" cy="487680"/>
          </a:xfrm>
          <a:prstGeom prst="rect">
            <a:avLst/>
          </a:prstGeom>
          <a:noFill/>
          <a:ln/>
        </p:spPr>
        <p:txBody>
          <a:bodyPr wrap="square" lIns="0" tIns="0" rIns="0" bIns="0" rtlCol="0" anchor="ctr"/>
          <a:lstStyle/>
          <a:p>
            <a:pPr algn="ctr" indent="0" marL="0">
              <a:buNone/>
            </a:pPr>
            <a:r>
              <a:rPr lang="en-US" sz="1300" b="1" i="1" dirty="0">
                <a:solidFill>
                  <a:srgbClr val="D4943A"/>
                </a:solidFill>
                <a:latin typeface="Calibri" pitchFamily="34" charset="0"/>
                <a:ea typeface="Calibri" pitchFamily="34" charset="-122"/>
                <a:cs typeface="Calibri" pitchFamily="34" charset="-120"/>
              </a:rPr>
              <a:t>When all three rules are true, the results really do belong to "the people."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THEN &amp; NOW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Who Got to Vote?</a:t>
            </a:r>
            <a:endParaRPr lang="en-US" sz="28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Simple timeline illustration with four markers: 1787 (only some adult men), 1870 (Black men), 1920 (women), 1971 (18-year-olds) -- clean museum-timeline style graphic.</a:t>
            </a:r>
            <a:endParaRPr lang="en-US" sz="1100" dirty="0"/>
          </a:p>
        </p:txBody>
      </p:sp>
      <p:sp>
        <p:nvSpPr>
          <p:cNvPr id="7" name="Text 5"/>
          <p:cNvSpPr/>
          <p:nvPr/>
        </p:nvSpPr>
        <p:spPr>
          <a:xfrm>
            <a:off x="7010400" y="1645920"/>
            <a:ext cx="4267200" cy="140208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In 1787, only some adult men could vote in the United States. Over time, the country changed its rules to let more people vote.</a:t>
            </a:r>
            <a:endParaRPr lang="en-US" sz="1250" dirty="0"/>
          </a:p>
        </p:txBody>
      </p:sp>
      <p:sp>
        <p:nvSpPr>
          <p:cNvPr id="8" name="Shape 6"/>
          <p:cNvSpPr/>
          <p:nvPr/>
        </p:nvSpPr>
        <p:spPr>
          <a:xfrm>
            <a:off x="7010400" y="3169920"/>
            <a:ext cx="4206240" cy="1950720"/>
          </a:xfrm>
          <a:prstGeom prst="roundRect">
            <a:avLst>
              <a:gd name="adj" fmla="val 7500"/>
            </a:avLst>
          </a:prstGeom>
          <a:solidFill>
            <a:srgbClr val="FFF3DC"/>
          </a:solidFill>
          <a:ln w="19050">
            <a:solidFill>
              <a:srgbClr val="F5E6C8"/>
            </a:solidFill>
            <a:prstDash val="solid"/>
          </a:ln>
        </p:spPr>
      </p:sp>
      <p:sp>
        <p:nvSpPr>
          <p:cNvPr id="9" name="Text 7"/>
          <p:cNvSpPr/>
          <p:nvPr/>
        </p:nvSpPr>
        <p:spPr>
          <a:xfrm>
            <a:off x="7193280" y="324307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511296"/>
            <a:ext cx="3840480" cy="1524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wonder why..."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word citizen..."</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1870: Black men. 1920: women. 1971: 18-year-olds.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WHY IT MATTERS ·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Why Keep Widening the Vote?</a:t>
            </a:r>
            <a:endParaRPr lang="en-US" sz="2800" dirty="0"/>
          </a:p>
        </p:txBody>
      </p:sp>
      <p:sp>
        <p:nvSpPr>
          <p:cNvPr id="4" name="Text 2"/>
          <p:cNvSpPr/>
          <p:nvPr/>
        </p:nvSpPr>
        <p:spPr>
          <a:xfrm>
            <a:off x="609600" y="1584960"/>
            <a:ext cx="5974080" cy="414528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Each time the country changed its rules, more citizens gained a voice in the same system: registering, getting a ballot, voting in secret, having the count checked.</a:t>
            </a:r>
            <a:endParaRPr lang="en-US" sz="1250" dirty="0"/>
          </a:p>
          <a:p>
            <a:pPr indent="0" marL="0">
              <a:buNone/>
            </a:pP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Most of the time, you don't see your vote do anything by itself. It joins millions of other quiet votes in a counted pile. But that quiet pile is what picks the mayor, the governor, and the President.</a:t>
            </a:r>
            <a:endParaRPr lang="en-US" sz="1250" dirty="0"/>
          </a:p>
        </p:txBody>
      </p:sp>
      <p:sp>
        <p:nvSpPr>
          <p:cNvPr id="5" name="Shape 3"/>
          <p:cNvSpPr/>
          <p:nvPr/>
        </p:nvSpPr>
        <p:spPr>
          <a:xfrm>
            <a:off x="6827520" y="1584960"/>
            <a:ext cx="4389120" cy="390144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3162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did the country keep changing the rules to let more citizens vote?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be missing if only some citizens could vote?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one quiet vote connect to "power from the people"?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7056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 FOUND IT</a:t>
            </a:r>
            <a:endParaRPr lang="en-US" sz="1100" dirty="0"/>
          </a:p>
        </p:txBody>
      </p:sp>
      <p:sp>
        <p:nvSpPr>
          <p:cNvPr id="3" name="Shape 1"/>
          <p:cNvSpPr/>
          <p:nvPr/>
        </p:nvSpPr>
        <p:spPr>
          <a:xfrm>
            <a:off x="1341120" y="1280160"/>
            <a:ext cx="9509760" cy="3840480"/>
          </a:xfrm>
          <a:prstGeom prst="roundRect">
            <a:avLst>
              <a:gd name="adj" fmla="val 4762"/>
            </a:avLst>
          </a:prstGeom>
          <a:solidFill>
            <a:srgbClr val="1A2D5A"/>
          </a:solidFill>
          <a:ln w="19050">
            <a:solidFill>
              <a:srgbClr val="D4943A"/>
            </a:solidFill>
            <a:prstDash val="solid"/>
          </a:ln>
        </p:spPr>
      </p:sp>
      <p:sp>
        <p:nvSpPr>
          <p:cNvPr id="4" name="Text 2"/>
          <p:cNvSpPr/>
          <p:nvPr/>
        </p:nvSpPr>
        <p:spPr>
          <a:xfrm>
            <a:off x="1828800" y="1645920"/>
            <a:ext cx="8534400" cy="1341120"/>
          </a:xfrm>
          <a:prstGeom prst="rect">
            <a:avLst/>
          </a:prstGeom>
          <a:noFill/>
          <a:ln/>
        </p:spPr>
        <p:txBody>
          <a:bodyPr wrap="square" lIns="0" tIns="0" rIns="0" bIns="0" rtlCol="0" anchor="ctr"/>
          <a:lstStyle/>
          <a:p>
            <a:pPr algn="ctr" indent="0" marL="0">
              <a:buNone/>
            </a:pPr>
            <a:r>
              <a:rPr lang="en-US" sz="2000" b="1" dirty="0">
                <a:solidFill>
                  <a:srgbClr val="D4943A"/>
                </a:solidFill>
                <a:latin typeface="Cambria" pitchFamily="34" charset="0"/>
                <a:ea typeface="Cambria" pitchFamily="34" charset="-122"/>
                <a:cs typeface="Cambria" pitchFamily="34" charset="-120"/>
              </a:rPr>
              <a:t>Voting is how citizens turn "power from the people" into a real decision.</a:t>
            </a:r>
            <a:endParaRPr lang="en-US" sz="2000" dirty="0"/>
          </a:p>
        </p:txBody>
      </p:sp>
      <p:sp>
        <p:nvSpPr>
          <p:cNvPr id="5" name="Text 3"/>
          <p:cNvSpPr/>
          <p:nvPr/>
        </p:nvSpPr>
        <p:spPr>
          <a:xfrm>
            <a:off x="1828800" y="3108960"/>
            <a:ext cx="8534400" cy="1828800"/>
          </a:xfrm>
          <a:prstGeom prst="rect">
            <a:avLst/>
          </a:prstGeom>
          <a:noFill/>
          <a:ln/>
        </p:spPr>
        <p:txBody>
          <a:bodyPr wrap="squar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 fair election gives every adult citizen one vote, keeps each vote secret, and checks the count carefully. Without scenes like this happening quietly in thousands of buildings, the words in the Constitution would just be words.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WHY IT MATTERS · BIG PICTURE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Opti Says...</a:t>
            </a:r>
            <a:endParaRPr lang="en-US" sz="2800" dirty="0"/>
          </a:p>
        </p:txBody>
      </p:sp>
      <p:sp>
        <p:nvSpPr>
          <p:cNvPr id="4" name="Shape 2"/>
          <p:cNvSpPr/>
          <p:nvPr/>
        </p:nvSpPr>
        <p:spPr>
          <a:xfrm>
            <a:off x="609600" y="1584960"/>
            <a:ext cx="10607040" cy="2316480"/>
          </a:xfrm>
          <a:prstGeom prst="roundRect">
            <a:avLst>
              <a:gd name="adj" fmla="val 6316"/>
            </a:avLst>
          </a:prstGeom>
          <a:solidFill>
            <a:srgbClr val="EAF8FD"/>
          </a:solidFill>
          <a:ln/>
        </p:spPr>
      </p:sp>
      <p:sp>
        <p:nvSpPr>
          <p:cNvPr id="5" name="Text 3"/>
          <p:cNvSpPr/>
          <p:nvPr/>
        </p:nvSpPr>
        <p:spPr>
          <a:xfrm>
            <a:off x="975360" y="1828800"/>
            <a:ext cx="9875520" cy="1889760"/>
          </a:xfrm>
          <a:prstGeom prst="rect">
            <a:avLst/>
          </a:prstGeom>
          <a:noFill/>
          <a:ln/>
        </p:spPr>
        <p:txBody>
          <a:bodyPr wrap="square" lIns="0" tIns="0" rIns="0" bIns="0" rtlCol="0" anchor="ctr"/>
          <a:lstStyle/>
          <a:p>
            <a:pPr indent="0" marL="0">
              <a:buNone/>
            </a:pPr>
            <a:r>
              <a:rPr lang="en-US" sz="1350" i="1" dirty="0">
                <a:solidFill>
                  <a:srgbClr val="0E1C42"/>
                </a:solidFill>
                <a:latin typeface="Cambria" pitchFamily="34" charset="0"/>
                <a:ea typeface="Cambria" pitchFamily="34" charset="-122"/>
                <a:cs typeface="Cambria" pitchFamily="34" charset="-120"/>
              </a:rPr>
              <a:t>"Here's the thing nobody tells you about voting: most of the time, you don't see your vote do anything. It joins millions of other quiet votes in a counted pile somewhere. But that quiet pile is what picks the mayor, the governor, and the President. Small acts. Big country."</a:t>
            </a:r>
            <a:endParaRPr lang="en-US" sz="1350" dirty="0"/>
          </a:p>
        </p:txBody>
      </p:sp>
      <p:sp>
        <p:nvSpPr>
          <p:cNvPr id="6" name="Shape 4"/>
          <p:cNvSpPr/>
          <p:nvPr/>
        </p:nvSpPr>
        <p:spPr>
          <a:xfrm>
            <a:off x="609600" y="4145280"/>
            <a:ext cx="10607040" cy="2255520"/>
          </a:xfrm>
          <a:prstGeom prst="roundRect">
            <a:avLst>
              <a:gd name="adj" fmla="val 8108"/>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426720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4608576"/>
            <a:ext cx="10119360" cy="16703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a single, quiet vote matter even though no one sees it happen?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voting an act of service, even though it's private?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our country look like if people stopped voting?</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TEACHER MODELS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Modeling a Strong Notebook Entry</a:t>
            </a:r>
            <a:endParaRPr lang="en-US" sz="2800" dirty="0"/>
          </a:p>
        </p:txBody>
      </p:sp>
      <p:sp>
        <p:nvSpPr>
          <p:cNvPr id="4" name="Shape 2"/>
          <p:cNvSpPr/>
          <p:nvPr/>
        </p:nvSpPr>
        <p:spPr>
          <a:xfrm>
            <a:off x="609600" y="1584960"/>
            <a:ext cx="10607040" cy="3657600"/>
          </a:xfrm>
          <a:prstGeom prst="roundRect">
            <a:avLst>
              <a:gd name="adj" fmla="val 4000"/>
            </a:avLst>
          </a:prstGeom>
          <a:solidFill>
            <a:srgbClr val="FFFFFF"/>
          </a:solidFill>
          <a:ln w="12700">
            <a:solidFill>
              <a:srgbClr val="7A88A8"/>
            </a:solidFill>
            <a:prstDash val="solid"/>
          </a:ln>
        </p:spPr>
      </p:sp>
      <p:sp>
        <p:nvSpPr>
          <p:cNvPr id="5" name="Text 3"/>
          <p:cNvSpPr/>
          <p:nvPr/>
        </p:nvSpPr>
        <p:spPr>
          <a:xfrm>
            <a:off x="914400" y="1828800"/>
            <a:ext cx="9997440" cy="365760"/>
          </a:xfrm>
          <a:prstGeom prst="rect">
            <a:avLst/>
          </a:prstGeom>
          <a:noFill/>
          <a:ln/>
        </p:spPr>
        <p:txBody>
          <a:bodyPr wrap="square" lIns="0" tIns="0" rIns="0" bIns="0" rtlCol="0" anchor="ctr"/>
          <a:lstStyle/>
          <a:p>
            <a:pPr indent="0" marL="0">
              <a:buNone/>
            </a:pPr>
            <a:r>
              <a:rPr lang="en-US" sz="1300" b="1" spc="100" kern="0" dirty="0">
                <a:solidFill>
                  <a:srgbClr val="1A8A7D"/>
                </a:solidFill>
                <a:latin typeface="Calibri" pitchFamily="34" charset="0"/>
                <a:ea typeface="Calibri" pitchFamily="34" charset="-122"/>
                <a:cs typeface="Calibri" pitchFamily="34" charset="-120"/>
              </a:rPr>
              <a:t>Think-Aloud:</a:t>
            </a:r>
            <a:endParaRPr lang="en-US" sz="1300" dirty="0"/>
          </a:p>
        </p:txBody>
      </p:sp>
      <p:sp>
        <p:nvSpPr>
          <p:cNvPr id="6" name="Text 4"/>
          <p:cNvSpPr/>
          <p:nvPr/>
        </p:nvSpPr>
        <p:spPr>
          <a:xfrm>
            <a:off x="914400" y="2316480"/>
            <a:ext cx="9997440" cy="2743200"/>
          </a:xfrm>
          <a:prstGeom prst="rect">
            <a:avLst/>
          </a:prstGeom>
          <a:noFill/>
          <a:ln/>
        </p:spPr>
        <p:txBody>
          <a:bodyPr wrap="square" lIns="0" tIns="0" rIns="0" bIns="0" rtlCol="0" anchor="t"/>
          <a:lstStyle/>
          <a:p>
            <a:pPr indent="0" marL="0">
              <a:buNone/>
            </a:pPr>
            <a:r>
              <a:rPr lang="en-US" sz="1250" i="1" dirty="0">
                <a:solidFill>
                  <a:srgbClr val="0E1C42"/>
                </a:solidFill>
                <a:latin typeface="Cambria" pitchFamily="34" charset="0"/>
                <a:ea typeface="Cambria" pitchFamily="34" charset="-122"/>
                <a:cs typeface="Cambria" pitchFamily="34" charset="-120"/>
              </a:rPr>
              <a:t>"Evidence Question 1 asks what a vote and an election are, in my own words. I'll say it aloud: a vote is one person's choice, made on purpose, that gets counted with everyone else's. An election is the bigger event where lots of people vote at the same time to pick something or someone. For Evidence Question 2, I'll name one fairness rule -- secret ballot -- and explain why it matters: no one can be pressured or watched, so the choice really belongs to the voter. For Evidence Question 3, I'll use the phrase 'the people': voting is how the people actually use the power the Constitution gives them."</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WE TRY TOGETHER</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Pick a Rule, Explain Why It Matters</a:t>
            </a:r>
            <a:endParaRPr lang="en-US" sz="2800" dirty="0"/>
          </a:p>
        </p:txBody>
      </p:sp>
      <p:sp>
        <p:nvSpPr>
          <p:cNvPr id="4" name="Text 2"/>
          <p:cNvSpPr/>
          <p:nvPr/>
        </p:nvSpPr>
        <p:spPr>
          <a:xfrm>
            <a:off x="609600" y="1584960"/>
            <a:ext cx="10607040" cy="60960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As a class, choose one of the three fairness rules: one vote per citizen, secret ballot, or checked count.</a:t>
            </a:r>
            <a:endParaRPr lang="en-US" sz="1400" dirty="0"/>
          </a:p>
        </p:txBody>
      </p:sp>
      <p:sp>
        <p:nvSpPr>
          <p:cNvPr id="5" name="Shape 3"/>
          <p:cNvSpPr/>
          <p:nvPr/>
        </p:nvSpPr>
        <p:spPr>
          <a:xfrm>
            <a:off x="609600" y="2377440"/>
            <a:ext cx="10607040" cy="2316480"/>
          </a:xfrm>
          <a:prstGeom prst="roundRect">
            <a:avLst>
              <a:gd name="adj" fmla="val 7895"/>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853440" y="249936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853440" y="2840736"/>
            <a:ext cx="10119360" cy="17312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happen at the voting booth without this rule?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does this rule protect, and from what?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this rule about fairness for one voter, or fairness for everyone? Or both?</a:t>
            </a:r>
            <a:endParaRPr lang="en-US" sz="1100" dirty="0"/>
          </a:p>
        </p:txBody>
      </p:sp>
      <p:sp>
        <p:nvSpPr>
          <p:cNvPr id="8" name="Shape 6"/>
          <p:cNvSpPr/>
          <p:nvPr/>
        </p:nvSpPr>
        <p:spPr>
          <a:xfrm>
            <a:off x="609600" y="4815840"/>
            <a:ext cx="10607040" cy="1524000"/>
          </a:xfrm>
          <a:prstGeom prst="roundRect">
            <a:avLst>
              <a:gd name="adj" fmla="val 9600"/>
            </a:avLst>
          </a:prstGeom>
          <a:solidFill>
            <a:srgbClr val="FFF3DC"/>
          </a:solidFill>
          <a:ln w="19050">
            <a:solidFill>
              <a:srgbClr val="F5E6C8"/>
            </a:solidFill>
            <a:prstDash val="solid"/>
          </a:ln>
        </p:spPr>
      </p:sp>
      <p:sp>
        <p:nvSpPr>
          <p:cNvPr id="9" name="Text 7"/>
          <p:cNvSpPr/>
          <p:nvPr/>
        </p:nvSpPr>
        <p:spPr>
          <a:xfrm>
            <a:off x="792480" y="488899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92480" y="5157216"/>
            <a:ext cx="102412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"We picked...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this rule, voters might..."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YOUR TURN WITH SUPPORT</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Draft Your Voting Booth Label</a:t>
            </a:r>
            <a:endParaRPr lang="en-US" sz="2800" dirty="0"/>
          </a:p>
        </p:txBody>
      </p:sp>
      <p:sp>
        <p:nvSpPr>
          <p:cNvPr id="4" name="Text 2"/>
          <p:cNvSpPr/>
          <p:nvPr/>
        </p:nvSpPr>
        <p:spPr>
          <a:xfrm>
            <a:off x="609600" y="1584960"/>
            <a:ext cx="10607040" cy="48768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Try writing one sentence on your own using this checklist:</a:t>
            </a:r>
            <a:endParaRPr lang="en-US" sz="1400" dirty="0"/>
          </a:p>
        </p:txBody>
      </p:sp>
      <p:sp>
        <p:nvSpPr>
          <p:cNvPr id="5" name="Text 3"/>
          <p:cNvSpPr/>
          <p:nvPr/>
        </p:nvSpPr>
        <p:spPr>
          <a:xfrm>
            <a:off x="853440" y="2255520"/>
            <a:ext cx="101193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 explained what voting is in my own words.</a:t>
            </a:r>
            <a:endParaRPr lang="en-US" sz="1400" dirty="0"/>
          </a:p>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 named one fairness rule (one vote, secret ballot, or checked count).</a:t>
            </a:r>
            <a:endParaRPr lang="en-US" sz="1400" dirty="0"/>
          </a:p>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 used the phrase "the people" somewhere in my sentence.</a:t>
            </a:r>
            <a:endParaRPr lang="en-US" sz="1400" dirty="0"/>
          </a:p>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My sentence connects voting to real, everyday decision-making.</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GUIDED PRACTICE · ERROR ANALYSIS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Find the Mistake</a:t>
            </a:r>
            <a:endParaRPr lang="en-US" sz="2800" dirty="0"/>
          </a:p>
        </p:txBody>
      </p:sp>
      <p:sp>
        <p:nvSpPr>
          <p:cNvPr id="4" name="Shape 2"/>
          <p:cNvSpPr/>
          <p:nvPr/>
        </p:nvSpPr>
        <p:spPr>
          <a:xfrm>
            <a:off x="609600" y="1584960"/>
            <a:ext cx="10607040" cy="1828800"/>
          </a:xfrm>
          <a:prstGeom prst="roundRect">
            <a:avLst>
              <a:gd name="adj" fmla="val 8000"/>
            </a:avLst>
          </a:prstGeom>
          <a:solidFill>
            <a:srgbClr val="FDEEEE"/>
          </a:solidFill>
          <a:ln w="19050">
            <a:solidFill>
              <a:srgbClr val="E8636B"/>
            </a:solidFill>
            <a:prstDash val="solid"/>
          </a:ln>
        </p:spPr>
      </p:sp>
      <p:sp>
        <p:nvSpPr>
          <p:cNvPr id="5" name="Text 3"/>
          <p:cNvSpPr/>
          <p:nvPr/>
        </p:nvSpPr>
        <p:spPr>
          <a:xfrm>
            <a:off x="914400" y="1828800"/>
            <a:ext cx="9997440" cy="1341120"/>
          </a:xfrm>
          <a:prstGeom prst="rect">
            <a:avLst/>
          </a:prstGeom>
          <a:noFill/>
          <a:ln/>
        </p:spPr>
        <p:txBody>
          <a:bodyPr wrap="square" lIns="0" tIns="0" rIns="0" bIns="0"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A student wrote: "A secret ballot means the ballots are hidden so no one ever sees them again."</a:t>
            </a:r>
            <a:endParaRPr lang="en-US" sz="1400" dirty="0"/>
          </a:p>
        </p:txBody>
      </p:sp>
      <p:sp>
        <p:nvSpPr>
          <p:cNvPr id="6" name="Shape 4"/>
          <p:cNvSpPr/>
          <p:nvPr/>
        </p:nvSpPr>
        <p:spPr>
          <a:xfrm>
            <a:off x="609600" y="3657600"/>
            <a:ext cx="10607040" cy="2682240"/>
          </a:xfrm>
          <a:prstGeom prst="roundRect">
            <a:avLst>
              <a:gd name="adj" fmla="val 6818"/>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77952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4120896"/>
            <a:ext cx="10119360" cy="20970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this student mix up?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secret ballot actually mean, based on today's lesson?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fix this sentence so it truly describes a secret ballot?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QUICK SELF-CHECK · NOT GRADED</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Check Your Understanding</a:t>
            </a:r>
            <a:endParaRPr lang="en-US" sz="2800" dirty="0"/>
          </a:p>
        </p:txBody>
      </p:sp>
      <p:sp>
        <p:nvSpPr>
          <p:cNvPr id="4" name="Shape 2"/>
          <p:cNvSpPr/>
          <p:nvPr/>
        </p:nvSpPr>
        <p:spPr>
          <a:xfrm>
            <a:off x="609600" y="1584960"/>
            <a:ext cx="10607040" cy="1560576"/>
          </a:xfrm>
          <a:prstGeom prst="roundRect">
            <a:avLst>
              <a:gd name="adj" fmla="val 7813"/>
            </a:avLst>
          </a:prstGeom>
          <a:solidFill>
            <a:srgbClr val="E3F8ED"/>
          </a:solidFill>
          <a:ln/>
        </p:spPr>
      </p:sp>
      <p:sp>
        <p:nvSpPr>
          <p:cNvPr id="5" name="Text 3"/>
          <p:cNvSpPr/>
          <p:nvPr/>
        </p:nvSpPr>
        <p:spPr>
          <a:xfrm>
            <a:off x="853440" y="1682496"/>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1. What is an election?</a:t>
            </a:r>
            <a:endParaRPr lang="en-US" sz="1300" dirty="0"/>
          </a:p>
        </p:txBody>
      </p:sp>
      <p:sp>
        <p:nvSpPr>
          <p:cNvPr id="6" name="Text 4"/>
          <p:cNvSpPr/>
          <p:nvPr/>
        </p:nvSpPr>
        <p:spPr>
          <a:xfrm>
            <a:off x="853440" y="2194560"/>
            <a:ext cx="10119360" cy="42672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C) A public event where lots of people vote to pick something or someone.</a:t>
            </a:r>
            <a:endParaRPr lang="en-US" sz="1250" dirty="0"/>
          </a:p>
        </p:txBody>
      </p:sp>
      <p:sp>
        <p:nvSpPr>
          <p:cNvPr id="7" name="Text 5"/>
          <p:cNvSpPr/>
          <p:nvPr/>
        </p:nvSpPr>
        <p:spPr>
          <a:xfrm>
            <a:off x="853440" y="2645664"/>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The root elect- means "to choose."</a:t>
            </a:r>
            <a:endParaRPr lang="en-US" sz="1100" dirty="0"/>
          </a:p>
        </p:txBody>
      </p:sp>
      <p:sp>
        <p:nvSpPr>
          <p:cNvPr id="8" name="Shape 6"/>
          <p:cNvSpPr/>
          <p:nvPr/>
        </p:nvSpPr>
        <p:spPr>
          <a:xfrm>
            <a:off x="609600" y="3267456"/>
            <a:ext cx="10607040" cy="1560576"/>
          </a:xfrm>
          <a:prstGeom prst="roundRect">
            <a:avLst>
              <a:gd name="adj" fmla="val 7813"/>
            </a:avLst>
          </a:prstGeom>
          <a:solidFill>
            <a:srgbClr val="E3F8ED"/>
          </a:solidFill>
          <a:ln/>
        </p:spPr>
      </p:sp>
      <p:sp>
        <p:nvSpPr>
          <p:cNvPr id="9" name="Text 7"/>
          <p:cNvSpPr/>
          <p:nvPr/>
        </p:nvSpPr>
        <p:spPr>
          <a:xfrm>
            <a:off x="853440" y="3364992"/>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What does secret ballot mean?</a:t>
            </a:r>
            <a:endParaRPr lang="en-US" sz="1300" dirty="0"/>
          </a:p>
        </p:txBody>
      </p:sp>
      <p:sp>
        <p:nvSpPr>
          <p:cNvPr id="10" name="Text 8"/>
          <p:cNvSpPr/>
          <p:nvPr/>
        </p:nvSpPr>
        <p:spPr>
          <a:xfrm>
            <a:off x="853440" y="3877056"/>
            <a:ext cx="10119360" cy="42672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B) Each voter marks their choice in private -- no one watches or makes them show it.</a:t>
            </a:r>
            <a:endParaRPr lang="en-US" sz="1250" dirty="0"/>
          </a:p>
        </p:txBody>
      </p:sp>
      <p:sp>
        <p:nvSpPr>
          <p:cNvPr id="11" name="Text 9"/>
          <p:cNvSpPr/>
          <p:nvPr/>
        </p:nvSpPr>
        <p:spPr>
          <a:xfrm>
            <a:off x="853440" y="4328160"/>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A secret ballot keeps each vote between the voter and their conscience.</a:t>
            </a:r>
            <a:endParaRPr lang="en-US" sz="1100" dirty="0"/>
          </a:p>
        </p:txBody>
      </p:sp>
      <p:sp>
        <p:nvSpPr>
          <p:cNvPr id="12" name="Shape 10"/>
          <p:cNvSpPr/>
          <p:nvPr/>
        </p:nvSpPr>
        <p:spPr>
          <a:xfrm>
            <a:off x="609600" y="4949952"/>
            <a:ext cx="10607040" cy="1560576"/>
          </a:xfrm>
          <a:prstGeom prst="roundRect">
            <a:avLst>
              <a:gd name="adj" fmla="val 7813"/>
            </a:avLst>
          </a:prstGeom>
          <a:solidFill>
            <a:srgbClr val="E3F8ED"/>
          </a:solidFill>
          <a:ln/>
        </p:spPr>
      </p:sp>
      <p:sp>
        <p:nvSpPr>
          <p:cNvPr id="13" name="Text 11"/>
          <p:cNvSpPr/>
          <p:nvPr/>
        </p:nvSpPr>
        <p:spPr>
          <a:xfrm>
            <a:off x="853440" y="5047488"/>
            <a:ext cx="10119360" cy="48768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Which of these is one of the three rules that keep an election fair?</a:t>
            </a:r>
            <a:endParaRPr lang="en-US" sz="1300" dirty="0"/>
          </a:p>
        </p:txBody>
      </p:sp>
      <p:sp>
        <p:nvSpPr>
          <p:cNvPr id="14" name="Text 12"/>
          <p:cNvSpPr/>
          <p:nvPr/>
        </p:nvSpPr>
        <p:spPr>
          <a:xfrm>
            <a:off x="853440" y="5559552"/>
            <a:ext cx="10119360" cy="42672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 Every adult citizen gets one vote.</a:t>
            </a:r>
            <a:endParaRPr lang="en-US" sz="1250" dirty="0"/>
          </a:p>
        </p:txBody>
      </p:sp>
      <p:sp>
        <p:nvSpPr>
          <p:cNvPr id="15" name="Text 13"/>
          <p:cNvSpPr/>
          <p:nvPr/>
        </p:nvSpPr>
        <p:spPr>
          <a:xfrm>
            <a:off x="853440" y="6010656"/>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"One citizen, one vote" is the heart of fair voting.</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&amp; ASSIGNMENT · WHAT YOU'LL TURN IN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Evidence Questions</a:t>
            </a:r>
            <a:endParaRPr lang="en-US" sz="2800" dirty="0"/>
          </a:p>
        </p:txBody>
      </p:sp>
      <p:sp>
        <p:nvSpPr>
          <p:cNvPr id="4" name="Text 2"/>
          <p:cNvSpPr/>
          <p:nvPr/>
        </p:nvSpPr>
        <p:spPr>
          <a:xfrm>
            <a:off x="609600" y="1584960"/>
            <a:ext cx="10607040" cy="2621280"/>
          </a:xfrm>
          <a:prstGeom prst="rect">
            <a:avLst/>
          </a:prstGeom>
          <a:noFill/>
          <a:ln/>
        </p:spPr>
        <p:txBody>
          <a:bodyPr wrap="square" lIns="0" tIns="0" rIns="0" bIns="0" rtlCol="0" anchor="t"/>
          <a:lstStyle/>
          <a:p>
            <a:pPr indent="0" marL="0">
              <a:spcAft>
                <a:spcPts val="1000"/>
              </a:spcAft>
              <a:buNone/>
            </a:pPr>
            <a:r>
              <a:rPr lang="en-US" sz="1300" dirty="0">
                <a:solidFill>
                  <a:srgbClr val="0E1C42"/>
                </a:solidFill>
                <a:latin typeface="Calibri" pitchFamily="34" charset="0"/>
                <a:ea typeface="Calibri" pitchFamily="34" charset="-122"/>
                <a:cs typeface="Calibri" pitchFamily="34" charset="-120"/>
              </a:rPr>
              <a:t>1. In your own words, what is a vote, and what is an election?</a:t>
            </a:r>
            <a:endParaRPr lang="en-US" sz="1300" dirty="0"/>
          </a:p>
          <a:p>
            <a:pPr indent="0" marL="0">
              <a:spcAft>
                <a:spcPts val="1000"/>
              </a:spcAft>
              <a:buNone/>
            </a:pPr>
            <a:r>
              <a:rPr lang="en-US" sz="1300" dirty="0">
                <a:solidFill>
                  <a:srgbClr val="0E1C42"/>
                </a:solidFill>
                <a:latin typeface="Calibri" pitchFamily="34" charset="0"/>
                <a:ea typeface="Calibri" pitchFamily="34" charset="-122"/>
                <a:cs typeface="Calibri" pitchFamily="34" charset="-120"/>
              </a:rPr>
              <a:t>2. Name one of the three rules that keep an election fair. Explain in one or two sentences why that rule matters.</a:t>
            </a:r>
            <a:endParaRPr lang="en-US" sz="1300" dirty="0"/>
          </a:p>
          <a:p>
            <a:pPr indent="0" marL="0">
              <a:spcAft>
                <a:spcPts val="1000"/>
              </a:spcAft>
              <a:buNone/>
            </a:pPr>
            <a:r>
              <a:rPr lang="en-US" sz="1300" dirty="0">
                <a:solidFill>
                  <a:srgbClr val="0E1C42"/>
                </a:solidFill>
                <a:latin typeface="Calibri" pitchFamily="34" charset="0"/>
                <a:ea typeface="Calibri" pitchFamily="34" charset="-122"/>
                <a:cs typeface="Calibri" pitchFamily="34" charset="-120"/>
              </a:rPr>
              <a:t>3. How does voting connect to the idea of "power from the people" we learned about with the U.S. Constitution?</a:t>
            </a:r>
            <a:endParaRPr lang="en-US" sz="1300" dirty="0"/>
          </a:p>
        </p:txBody>
      </p:sp>
      <p:sp>
        <p:nvSpPr>
          <p:cNvPr id="5" name="Shape 3"/>
          <p:cNvSpPr/>
          <p:nvPr/>
        </p:nvSpPr>
        <p:spPr>
          <a:xfrm>
            <a:off x="609600" y="4328160"/>
            <a:ext cx="10607040" cy="1950720"/>
          </a:xfrm>
          <a:prstGeom prst="roundRect">
            <a:avLst>
              <a:gd name="adj" fmla="val 7500"/>
            </a:avLst>
          </a:prstGeom>
          <a:solidFill>
            <a:srgbClr val="FFF3DC"/>
          </a:solidFill>
          <a:ln/>
        </p:spPr>
      </p:sp>
      <p:sp>
        <p:nvSpPr>
          <p:cNvPr id="6" name="Text 4"/>
          <p:cNvSpPr/>
          <p:nvPr/>
        </p:nvSpPr>
        <p:spPr>
          <a:xfrm>
            <a:off x="853440" y="4511040"/>
            <a:ext cx="1011936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Curator Task: Label the Voting Booth</a:t>
            </a:r>
            <a:endParaRPr lang="en-US" sz="1200" dirty="0"/>
          </a:p>
        </p:txBody>
      </p:sp>
      <p:sp>
        <p:nvSpPr>
          <p:cNvPr id="7" name="Text 5"/>
          <p:cNvSpPr/>
          <p:nvPr/>
        </p:nvSpPr>
        <p:spPr>
          <a:xfrm>
            <a:off x="853440" y="4901184"/>
            <a:ext cx="10119360" cy="12801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You're the Civic Curator. Visitors will walk up to the voting booth exhibit and want to know why it's in this museum at all. Write a short notebook entry -- 3 to 5 sentences -- explaining what voting is, why it matters, and one rule that keeps it fair. Include: (1) what voting is, (2) why it matters, (3) one fairness rule.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CURATOR'S CHRONICLE · SUBMIT YOUR WORK</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One Sentence, Then Turn It In</a:t>
            </a:r>
            <a:endParaRPr lang="en-US" sz="2800" dirty="0"/>
          </a:p>
        </p:txBody>
      </p:sp>
      <p:sp>
        <p:nvSpPr>
          <p:cNvPr id="4" name="Shape 2"/>
          <p:cNvSpPr/>
          <p:nvPr/>
        </p:nvSpPr>
        <p:spPr>
          <a:xfrm>
            <a:off x="609600" y="1584960"/>
            <a:ext cx="10607040" cy="1828800"/>
          </a:xfrm>
          <a:prstGeom prst="roundRect">
            <a:avLst>
              <a:gd name="adj" fmla="val 10000"/>
            </a:avLst>
          </a:prstGeom>
          <a:solidFill>
            <a:srgbClr val="FFFFFF"/>
          </a:solidFill>
          <a:ln w="19050">
            <a:solidFill>
              <a:srgbClr val="D4943A"/>
            </a:solidFill>
            <a:prstDash val="dash"/>
          </a:ln>
        </p:spPr>
      </p:sp>
      <p:sp>
        <p:nvSpPr>
          <p:cNvPr id="5" name="Text 3"/>
          <p:cNvSpPr/>
          <p:nvPr/>
        </p:nvSpPr>
        <p:spPr>
          <a:xfrm>
            <a:off x="975360" y="1584960"/>
            <a:ext cx="9875520" cy="1828800"/>
          </a:xfrm>
          <a:prstGeom prst="rect">
            <a:avLst/>
          </a:prstGeom>
          <a:noFill/>
          <a:ln/>
        </p:spPr>
        <p:txBody>
          <a:bodyPr wrap="square" lIns="0" tIns="0" rIns="0" bIns="0" rtlCol="0" anchor="ctr"/>
          <a:lstStyle/>
          <a:p>
            <a:pPr algn="ctr" indent="0" marL="0">
              <a:buNone/>
            </a:pPr>
            <a:r>
              <a:rPr lang="en-US" sz="1800" i="1" dirty="0">
                <a:solidFill>
                  <a:srgbClr val="0E1C42"/>
                </a:solidFill>
                <a:latin typeface="Cambria" pitchFamily="34" charset="0"/>
                <a:ea typeface="Cambria" pitchFamily="34" charset="-122"/>
                <a:cs typeface="Cambria" pitchFamily="34" charset="-120"/>
              </a:rPr>
              <a:t>In this exhibit, I learned that ______ because ______.</a:t>
            </a:r>
            <a:endParaRPr lang="en-US" sz="1800" dirty="0"/>
          </a:p>
        </p:txBody>
      </p:sp>
      <p:sp>
        <p:nvSpPr>
          <p:cNvPr id="6" name="Shape 4"/>
          <p:cNvSpPr/>
          <p:nvPr/>
        </p:nvSpPr>
        <p:spPr>
          <a:xfrm>
            <a:off x="609600" y="3596640"/>
            <a:ext cx="10607040" cy="975360"/>
          </a:xfrm>
          <a:prstGeom prst="roundRect">
            <a:avLst>
              <a:gd name="adj" fmla="val 15000"/>
            </a:avLst>
          </a:prstGeom>
          <a:solidFill>
            <a:srgbClr val="FFF3DC"/>
          </a:solidFill>
          <a:ln w="19050">
            <a:solidFill>
              <a:srgbClr val="F5E6C8"/>
            </a:solidFill>
            <a:prstDash val="solid"/>
          </a:ln>
        </p:spPr>
      </p:sp>
      <p:sp>
        <p:nvSpPr>
          <p:cNvPr id="7" name="Text 5"/>
          <p:cNvSpPr/>
          <p:nvPr/>
        </p:nvSpPr>
        <p:spPr>
          <a:xfrm>
            <a:off x="792480" y="366979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8" name="Text 6"/>
          <p:cNvSpPr/>
          <p:nvPr/>
        </p:nvSpPr>
        <p:spPr>
          <a:xfrm>
            <a:off x="792480" y="3938016"/>
            <a:ext cx="10241280" cy="548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this exhibit, I learned that... because..."</a:t>
            </a:r>
            <a:endParaRPr lang="en-US" sz="1200" dirty="0"/>
          </a:p>
        </p:txBody>
      </p:sp>
      <p:sp>
        <p:nvSpPr>
          <p:cNvPr id="9" name="Text 7"/>
          <p:cNvSpPr/>
          <p:nvPr/>
        </p:nvSpPr>
        <p:spPr>
          <a:xfrm>
            <a:off x="609600" y="4754880"/>
            <a:ext cx="1060704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Turn-In Checklist:</a:t>
            </a:r>
            <a:endParaRPr lang="en-US" sz="1200" dirty="0"/>
          </a:p>
        </p:txBody>
      </p:sp>
      <p:sp>
        <p:nvSpPr>
          <p:cNvPr id="10" name="Text 8"/>
          <p:cNvSpPr/>
          <p:nvPr/>
        </p:nvSpPr>
        <p:spPr>
          <a:xfrm>
            <a:off x="853440" y="5120640"/>
            <a:ext cx="10119360" cy="13411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0E1C42"/>
                </a:solidFill>
                <a:latin typeface="Calibri" pitchFamily="34" charset="0"/>
                <a:ea typeface="Calibri" pitchFamily="34" charset="-122"/>
                <a:cs typeface="Calibri" pitchFamily="34" charset="-120"/>
              </a:rPr>
              <a:t>I answered all three evidence questions.</a:t>
            </a:r>
            <a:endParaRPr lang="en-US" sz="1150" dirty="0"/>
          </a:p>
          <a:p>
            <a:pPr marL="342900" indent="-342900">
              <a:spcAft>
                <a:spcPts val="400"/>
              </a:spcAft>
              <a:buSzPct val="100000"/>
              <a:buChar char="•"/>
            </a:pPr>
            <a:r>
              <a:rPr lang="en-US" sz="1150" dirty="0">
                <a:solidFill>
                  <a:srgbClr val="0E1C42"/>
                </a:solidFill>
                <a:latin typeface="Calibri" pitchFamily="34" charset="0"/>
                <a:ea typeface="Calibri" pitchFamily="34" charset="-122"/>
                <a:cs typeface="Calibri" pitchFamily="34" charset="-120"/>
              </a:rPr>
              <a:t>I wrote my voting booth label (3-5 sentences) with a fairness rule.</a:t>
            </a:r>
            <a:endParaRPr lang="en-US" sz="1150" dirty="0"/>
          </a:p>
          <a:p>
            <a:pPr marL="342900" indent="-342900">
              <a:spcAft>
                <a:spcPts val="400"/>
              </a:spcAft>
              <a:buSzPct val="100000"/>
              <a:buChar char="•"/>
            </a:pPr>
            <a:r>
              <a:rPr lang="en-US" sz="1150" dirty="0">
                <a:solidFill>
                  <a:srgbClr val="0E1C42"/>
                </a:solidFill>
                <a:latin typeface="Calibri" pitchFamily="34" charset="0"/>
                <a:ea typeface="Calibri" pitchFamily="34" charset="-122"/>
                <a:cs typeface="Calibri" pitchFamily="34" charset="-120"/>
              </a:rPr>
              <a:t>I wrote my Curator's Chronicle.</a:t>
            </a:r>
            <a:endParaRPr lang="en-US" sz="1150" dirty="0"/>
          </a:p>
          <a:p>
            <a:pPr marL="342900" indent="-342900">
              <a:spcAft>
                <a:spcPts val="400"/>
              </a:spcAft>
              <a:buSzPct val="100000"/>
              <a:buChar char="•"/>
            </a:pPr>
            <a:r>
              <a:rPr lang="en-US" sz="1150" dirty="0">
                <a:solidFill>
                  <a:srgbClr val="0E1C42"/>
                </a:solidFill>
                <a:latin typeface="Calibri" pitchFamily="34" charset="0"/>
                <a:ea typeface="Calibri" pitchFamily="34" charset="-122"/>
                <a:cs typeface="Calibri" pitchFamily="34" charset="-120"/>
              </a:rPr>
              <a:t>I copied or downloaded my work and submitted to Canvas.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731520"/>
            <a:ext cx="9753600" cy="36576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CLOSING · WRAP-UP</a:t>
            </a:r>
            <a:endParaRPr lang="en-US" sz="1200" dirty="0"/>
          </a:p>
        </p:txBody>
      </p:sp>
      <p:sp>
        <p:nvSpPr>
          <p:cNvPr id="6" name="Text 3"/>
          <p:cNvSpPr/>
          <p:nvPr/>
        </p:nvSpPr>
        <p:spPr>
          <a:xfrm>
            <a:off x="975360" y="1158240"/>
            <a:ext cx="9753600" cy="853440"/>
          </a:xfrm>
          <a:prstGeom prst="rect">
            <a:avLst/>
          </a:prstGeom>
          <a:noFill/>
          <a:ln/>
        </p:spPr>
        <p:txBody>
          <a:bodyPr wrap="square" lIns="0" tIns="0" rIns="0" bIns="0"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The Booth is Labeled</a:t>
            </a:r>
            <a:endParaRPr lang="en-US" sz="3000" dirty="0"/>
          </a:p>
        </p:txBody>
      </p:sp>
      <p:sp>
        <p:nvSpPr>
          <p:cNvPr id="7" name="Text 4"/>
          <p:cNvSpPr/>
          <p:nvPr/>
        </p:nvSpPr>
        <p:spPr>
          <a:xfrm>
            <a:off x="1219200" y="2255520"/>
            <a:ext cx="9387840" cy="121920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One vote per adult citizen. Secret ballots. Careful, checked counting. You explained how citizens turn "power from the people" into a real decision -- and you did it with the quiet virtue of service.</a:t>
            </a:r>
            <a:endParaRPr lang="en-US" sz="1400" dirty="0"/>
          </a:p>
        </p:txBody>
      </p:sp>
      <p:sp>
        <p:nvSpPr>
          <p:cNvPr id="8" name="Shape 5"/>
          <p:cNvSpPr/>
          <p:nvPr/>
        </p:nvSpPr>
        <p:spPr>
          <a:xfrm>
            <a:off x="1463040" y="3596640"/>
            <a:ext cx="8900160" cy="2011680"/>
          </a:xfrm>
          <a:prstGeom prst="roundRect">
            <a:avLst>
              <a:gd name="adj" fmla="val 7273"/>
            </a:avLst>
          </a:prstGeom>
          <a:solidFill>
            <a:srgbClr val="0E1C42"/>
          </a:solidFill>
          <a:ln w="19050">
            <a:solidFill>
              <a:srgbClr val="1A8A7D"/>
            </a:solidFill>
            <a:prstDash val="solid"/>
          </a:ln>
        </p:spPr>
      </p:sp>
      <p:sp>
        <p:nvSpPr>
          <p:cNvPr id="9" name="Text 6"/>
          <p:cNvSpPr/>
          <p:nvPr/>
        </p:nvSpPr>
        <p:spPr>
          <a:xfrm>
            <a:off x="1706880" y="3779520"/>
            <a:ext cx="8412480" cy="365760"/>
          </a:xfrm>
          <a:prstGeom prst="rect">
            <a:avLst/>
          </a:prstGeom>
          <a:noFill/>
          <a:ln/>
        </p:spPr>
        <p:txBody>
          <a:bodyPr wrap="square" lIns="0" tIns="0" rIns="0" bIns="0" rtlCol="0" anchor="ctr"/>
          <a:lstStyle/>
          <a:p>
            <a:pPr algn="ctr" indent="0" marL="0">
              <a:buNone/>
            </a:pPr>
            <a:r>
              <a:rPr lang="en-US" sz="1100" b="1" spc="120" kern="0" dirty="0">
                <a:solidFill>
                  <a:srgbClr val="1A8A7D"/>
                </a:solidFill>
                <a:latin typeface="Calibri" pitchFamily="34" charset="0"/>
                <a:ea typeface="Calibri" pitchFamily="34" charset="-122"/>
                <a:cs typeface="Calibri" pitchFamily="34" charset="-120"/>
              </a:rPr>
              <a:t>COMING NEXT: PATRIOTIC HOLIDAYS</a:t>
            </a:r>
            <a:endParaRPr lang="en-US" sz="1100" dirty="0"/>
          </a:p>
        </p:txBody>
      </p:sp>
      <p:sp>
        <p:nvSpPr>
          <p:cNvPr id="10" name="Text 7"/>
          <p:cNvSpPr/>
          <p:nvPr/>
        </p:nvSpPr>
        <p:spPr>
          <a:xfrm>
            <a:off x="1706880" y="4206240"/>
            <a:ext cx="8412480" cy="1280160"/>
          </a:xfrm>
          <a:prstGeom prst="rect">
            <a:avLst/>
          </a:prstGeom>
          <a:noFill/>
          <a:ln/>
        </p:spPr>
        <p:txBody>
          <a:bodyPr wrap="square" lIns="0" tIns="0" rIns="0" bIns="0" rtlCol="0" anchor="t"/>
          <a:lstStyle/>
          <a:p>
            <a:pPr algn="ctr" indent="0" marL="0">
              <a:buNone/>
            </a:pPr>
            <a:r>
              <a:rPr lang="en-US" sz="1250" i="1" dirty="0">
                <a:solidFill>
                  <a:srgbClr val="EAF8FD"/>
                </a:solidFill>
                <a:latin typeface="Calibri" pitchFamily="34" charset="0"/>
                <a:ea typeface="Calibri" pitchFamily="34" charset="-122"/>
                <a:cs typeface="Calibri" pitchFamily="34" charset="-120"/>
              </a:rPr>
              <a:t>The museum lights come up on a long wall on the far side of Citizenship Hall -- a Patriotic Holidays timeline with empty label cards beside fireworks, folded flags, a parade ribbon, and a wreath. We'll find out why a country needs both celebrating and remembering.</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2026-07-11T19:20:04Z</dcterms:created>
  <dcterms:modified xsi:type="dcterms:W3CDTF">2026-07-11T19:20:04Z</dcterms:modified>
</cp:coreProperties>
</file>