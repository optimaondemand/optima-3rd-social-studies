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Lst>
  <p:notesMasterIdLst>
    <p:notesMasterId r:id="rId22"/>
  </p:notesMasterIdLst>
  <p:sldSz cx="12192000" cy="6858000"/>
  <p:notesSz cx="NaN" cy="NaN"/>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notesMaster" Target="notesMasters/notesMaster1.xml"/><Relationship Id="rId23" Type="http://schemas.openxmlformats.org/officeDocument/2006/relationships/presProps" Target="presProps.xml"/><Relationship Id="rId24" Type="http://schemas.openxmlformats.org/officeDocument/2006/relationships/viewProps" Target="viewProps.xml"/><Relationship Id="rId25" Type="http://schemas.openxmlformats.org/officeDocument/2006/relationships/theme" Target="theme/theme1.xml"/><Relationship Id="rId2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IMAGE TO INSERT: Dramatic view of a museum map room with a large flat world map on the wall and a globe on a display table, warm lighting, golden accentsIMAGE TO INSERT: Dramatic view of a museum map room with a large flat world map on the wall and a globe on a display table, warm lighting. TEACHER SCRIPT: Welcome back to the Great Map Room, Map Curators! Today we have a mystery to solve about maps and globes. Our Curator's Question is: Why do flat maps and globes show the same places in different sizes and shapes? By the end of today's lesson, you'll be able to explain why flat maps distort shapes, compare globes and flat maps, and know when to use each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IMAGE TO INSERT: Museum scene: a visitor pointing at a large wall map showing oversized Greenland, with a globe nearby showing a smaller Greenland, in the Great Map RoomIMAGE TO INSERT: Museum scene with visitor pointing at wall map showing oversized Greenland, globe nearby. TEACHER SCRIPT: Read the Enter the Scene text aloud or have a student read it. Pause after 'Which one is telling the truth?' Let students respond. This is the hook -- we want them curious about why the same place looks different on a flat map vs a globe. Don't answer yet! Tell them: 'That is exactly what we are going to figure out today.' Emphasize that this is a real problem curators face when displaying maps for museum visitors.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TEACHER SCRIPT: Today's virtue is Perseverance. Read the definition aloud. Ask: 'Have you ever had a puzzle or problem that felt confusing at first, but you stuck with it and figured it out?' Let a few students share. Connect to today's lesson: 'Distortion can be a confusing idea. But we are going to persevere through it step by step, just like good curators do.'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TEACHER SCRIPT: This is the key analogy for the lesson. Walk students through the orange peel idea step by step. Say: 'The Earth is round, just like an orange. Now imagine peeling that orange and trying to press the peel flat on the table. What happens?' Let students predict. Then say: 'The peel would tear, stretch, and squeeze because you are forcing a curved shape to be flat. That is the same problem mapmakers face when they make a flat map of the round Earth.' If you have an orange or ball, demonstrate this physically. The visual really helps.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TEACHER SCRIPT: Give students 1-2 minutes to think and respond in the chat or discuss with a partner. For the first question, accept answers like 'it stretches' or 'it tears' or 'it changes shape.' For the second question, this is a prediction. Most students will guess the edges or the top and bottom. Validate all predictions and say: 'Let us find out!' Use the Thinking Move to structure their responses: Notice what happens, Name the change, Narrate why.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TEACHER SCRIPT: This is the big vocabulary word for today: distortion. Say: 'Distortion means when shapes or sizes on a map look different from real life.' Write or display the word. Connect back to the orange peel: 'Remember when we talked about pressing the orange peel flat? The tears and stretches that happen -- that is distortion. Every flat map has some distortion because you simply cannot make a round surface perfectly flat without changing something.' Check for understanding: 'Can someone tell me in their own words what distortion means?'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TEACHER SCRIPT: Put both images up and give students time to look. Say: 'Look at Greenland and Africa in both views. On the globe, how does Greenland compare to Africa? On the flat map, how does Greenland compare to Africa?' Let students respond. Then ask: 'Which one do you think is telling the truth about size? Why?' This connects directly back to the museum mystery from the hook. Do not reveal the answer yet. Let them think about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TEACHER SCRIPT: Have students fill in the blanks in the chat or on paper. Answers: On the globe, Greenland looks MUCH SMALLER compared to Africa. On the flat map, Greenland looks ABOUT THE SAME SIZE compared to Africa. After students respond, reveal: 'The globe is telling the truth! Africa is actually about 14 times bigger than Greenland. But on a flat map, Greenland gets stretched so much that it looks almost the same size.' This is a great moment for students to see distortion in action.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TEACHER SCRIPT: Now explain the pattern. Say: 'Here is the key: flat maps stretch places near the poles the most. Greenland is way up near the North Pole, so it gets stretched the most! Places near the equator, like Africa's center, stay more accurate.' Share the Discovery Fact and let students react. This is usually a wow moment. Say: 'Africa is actually bigger than the US, China, India, and most of Europe COMBINED. But distortion on flat maps hides that.' Ask: 'So now can you answer our museum mystery? Why did Greenland look so big on the wall map?'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TEACHER SCRIPT: Set up the comparison. Say: 'So if flat maps have distortion, why do we even use them? There must be a reason, right? Let us think about what each tool is good at and what each tool is NOT so good at.' Show both images. Ask: 'If you were going on a road trip, which would you bring? If you wanted to see the true size of a country, which would you use?' Let students discuss. This builds toward the reveal on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TEACHER SCRIPT: Run through each scenario as a quick vote. Say: 'I am going to show you four situations. For each one, tell me: would you use a globe or a flat map?' Go through them one at a time. Have students vote by raising hands, typing in chat, or using thumbs up/down. Answers: Show the real size of Africa = Globe. Fold up and carry = Flat map. See the whole world at once = Flat map. Check the true shape of Antarctica = Globe. After voting, ask: 'Do you notice a pattern? What is the globe better at? What is the flat map better 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TEACHER SCRIPT: Now bring it all together. Walk through both columns. Say: 'The globe is great at showing true shapes and sizes. But try putting a globe in your backpack! A flat map is easy to carry and lets you see the whole world, but it distorts things, especially near the poles.' Read the Opti Says fact about Antarctica. Then emphasize the key takeaway: 'Neither one is wrong. A good curator knows WHEN to use each tool. That is what makes you an expert.'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TEACHER SCRIPT: This is a discussion slide. Pose the questions one at a time. For the first question, help students practice explaining to a visitor: 'Both are correct, but they show the Earth differently because...' For the Socratic focus, guide students to articulate: Maps show us the world, but the CHOICE of map type (globe vs flat) affects what pattern we see. Use the Thinking Move as a framework: Notice the difference, Name it as distortion, Narrate why it happens.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TEACHER SCRIPT: This is the 'I Do' portion. Read the evidence question aloud. Say: 'Watch how I answer this. I am going to use three parts: a definition, an example, and an explanation.' Read the model answer aloud, pointing out each part. Definition: Distortion means shapes or sizes do not match. Example: Greenland looks almost as big as Africa. Explanation: Because the Earth is round and maps are flat. Say: 'See that pattern? Definition plus Example plus Explanation equals a strong answer. You will use this same pattern for your answers.'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TEACHER SCRIPT: This is the 'We Do' portion. Read the evidence question aloud. Say: 'Now let us build an answer together. I will give you sentence starters.' Read the starters. Then say: 'For the globe, think about what it does better than a flat map. For the flat map, think about what it does better than a globe.' Take student suggestions and build the answer together on the board or in chat. A good answer might be: 'A curator would choose a globe because it shows the true sizes and shapes of continents. A curator would choose a flat map because it is easy to hang on a wall and shows the whole world at once.' Emphasize being specific about WHAT each tool is better 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TEACHER SCRIPT: This is the 'You Do' portion. Read the Curator Task aloud. Say: 'Now you are going to write this on your own. Imagine you are writing a real card for the museum. It goes right between the flat map and the globe so visitors can understand why they look different.' Review the checklist: your card needs three things. Give students 5-7 minutes to draft. Circulate and check in. Remind struggling students to use the sentence pattern from the model: definition, example, explanation. They can look back at their notes from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TEACHER SCRIPT: Show the student sample. Say: 'Here is something a student wrote. Read it carefully. What is the mistake?' Let students identify the error. Guide them: 'Is it true that flat maps are ALWAYS wrong? Should we ONLY use globes?' Help them see that flat maps are not wrong -- they distort, but they are still useful. Show the corrected version and read it aloud. This is an important distinction: distortion does not mean the map is useless. It means we need to understand the tool's limitations. Connect to perseverance: 'Good curators do not throw away tools. They learn how to use them wisely.'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TEACHER SCRIPT: Go through the self-check questions one at a time. For each question, let students answer first, then reveal the correct answer. Question 1 answer: C -- When shapes or sizes on a map look different from real life. Question 2 answer: A -- Flat maps stretch places near the North and South Poles. Question 3 answer: B -- When you need to see the whole world at once or carry it with you. Review the vocabulary word one more time. Ask: 'Can everyone tell me what distortion means in their own words?'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TEACHER SCRIPT: Walk through every part of the assignment. Read each evidence question aloud. Read the Curator Task aloud. Read the Chronicle frame. Then review the turn-in checklist item by item. Say: 'Before you submit, go through this checklist. Did you answer both evidence questions? Did you write your Exhibit Explanation Card? Did you complete your Chronicle? Did you submit to Canvas?' Remind students they can look back at the slides and their notes while they 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IMAGE TO INSERT: Closing view of the Great Map Room at dusk, warm golden light on the globe and maps, museum setting, sense of accomplishmentIMAGE TO INSERT: Closing view of the Great Map Room at dusk with warm golden light. TEACHER SCRIPT: Congratulate students on completing the lesson. Say: 'Great work today, Map Curators! You tackled a tough idea -- distortion -- and you persevered through it. Now you know why Greenland looks so big on that wall map, and you can explain it to any museum visitor.' Read the Coming Next teaser to build excitement for the next lesson. Remind students to submit their work to Canvas before leaving.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0" y="0"/>
            <a:ext cx="16256000" cy="9144000"/>
          </a:xfrm>
          <a:prstGeom prst="rect">
            <a:avLst/>
          </a:prstGeom>
          <a:solidFill>
            <a:srgbClr val="0B1835"/>
          </a:solidFill>
          <a:ln w="19050">
            <a:solidFill>
              <a:srgbClr val="3A5080"/>
            </a:solidFill>
            <a:prstDash val="dash"/>
          </a:ln>
        </p:spPr>
      </p:sp>
      <p:sp>
        <p:nvSpPr>
          <p:cNvPr id="3" name="Shape 1"/>
          <p:cNvSpPr/>
          <p:nvPr/>
        </p:nvSpPr>
        <p:spPr>
          <a:xfrm>
            <a:off x="0" y="0"/>
            <a:ext cx="16256000" cy="9144000"/>
          </a:xfrm>
          <a:prstGeom prst="rect">
            <a:avLst/>
          </a:prstGeom>
          <a:solidFill>
            <a:srgbClr val="0E1C42">
              <a:alpha val="62000"/>
            </a:srgbClr>
          </a:solidFill>
          <a:ln/>
        </p:spPr>
      </p:sp>
      <p:sp>
        <p:nvSpPr>
          <p:cNvPr id="5" name="Shape 2"/>
          <p:cNvSpPr/>
          <p:nvPr/>
        </p:nvSpPr>
        <p:spPr>
          <a:xfrm>
            <a:off x="1625600" y="1950720"/>
            <a:ext cx="1950720" cy="81280"/>
          </a:xfrm>
          <a:prstGeom prst="rect">
            <a:avLst/>
          </a:prstGeom>
          <a:solidFill>
            <a:srgbClr val="D4943A"/>
          </a:solidFill>
          <a:ln/>
        </p:spPr>
      </p:sp>
      <p:sp>
        <p:nvSpPr>
          <p:cNvPr id="6" name="Text 3"/>
          <p:cNvSpPr/>
          <p:nvPr/>
        </p:nvSpPr>
        <p:spPr>
          <a:xfrm>
            <a:off x="1625600" y="1381760"/>
            <a:ext cx="13004800" cy="568960"/>
          </a:xfrm>
          <a:prstGeom prst="rect">
            <a:avLst/>
          </a:prstGeom>
          <a:noFill/>
          <a:ln/>
        </p:spPr>
        <p:txBody>
          <a:bodyPr wrap="square" rtlCol="0" anchor="ctr"/>
          <a:lstStyle/>
          <a:p>
            <a:pPr indent="0" marL="0">
              <a:buNone/>
            </a:pPr>
            <a:r>
              <a:rPr lang="en-US" sz="1100" b="1" spc="250" kern="0" dirty="0">
                <a:solidFill>
                  <a:srgbClr val="55C8E8"/>
                </a:solidFill>
                <a:latin typeface="Calibri" pitchFamily="34" charset="0"/>
                <a:ea typeface="Calibri" pitchFamily="34" charset="-122"/>
                <a:cs typeface="Calibri" pitchFamily="34" charset="-120"/>
              </a:rPr>
              <a:t>LESSON 3.03.05</a:t>
            </a:r>
            <a:endParaRPr lang="en-US" sz="1100" dirty="0"/>
          </a:p>
        </p:txBody>
      </p:sp>
      <p:sp>
        <p:nvSpPr>
          <p:cNvPr id="7" name="Text 4"/>
          <p:cNvSpPr/>
          <p:nvPr/>
        </p:nvSpPr>
        <p:spPr>
          <a:xfrm>
            <a:off x="1625600" y="2194560"/>
            <a:ext cx="13004800" cy="1950720"/>
          </a:xfrm>
          <a:prstGeom prst="rect">
            <a:avLst/>
          </a:prstGeom>
          <a:noFill/>
          <a:ln/>
        </p:spPr>
        <p:txBody>
          <a:bodyPr wrap="square" rtlCol="0" anchor="ctr"/>
          <a:lstStyle/>
          <a:p>
            <a:pPr indent="0" marL="0">
              <a:lnSpc>
                <a:spcPct val="105000"/>
              </a:lnSpc>
              <a:buNone/>
            </a:pPr>
            <a:r>
              <a:rPr lang="en-US" sz="3200" b="1" dirty="0">
                <a:solidFill>
                  <a:srgbClr val="FFFFFF"/>
                </a:solidFill>
                <a:latin typeface="Cambria" pitchFamily="34" charset="0"/>
                <a:ea typeface="Cambria" pitchFamily="34" charset="-122"/>
                <a:cs typeface="Cambria" pitchFamily="34" charset="-120"/>
              </a:rPr>
              <a:t>Maps and Globes:</a:t>
            </a:r>
            <a:endParaRPr lang="en-US" sz="3200" dirty="0"/>
          </a:p>
          <a:p>
            <a:pPr indent="0" marL="0">
              <a:lnSpc>
                <a:spcPct val="105000"/>
              </a:lnSpc>
              <a:buNone/>
            </a:pPr>
            <a:r>
              <a:rPr lang="en-US" sz="3200" b="1" dirty="0">
                <a:solidFill>
                  <a:srgbClr val="FFFFFF"/>
                </a:solidFill>
                <a:latin typeface="Cambria" pitchFamily="34" charset="0"/>
                <a:ea typeface="Cambria" pitchFamily="34" charset="-122"/>
                <a:cs typeface="Cambria" pitchFamily="34" charset="-120"/>
              </a:rPr>
              <a:t>Understanding Distortion</a:t>
            </a:r>
            <a:endParaRPr lang="en-US" sz="3200" dirty="0"/>
          </a:p>
        </p:txBody>
      </p:sp>
      <p:sp>
        <p:nvSpPr>
          <p:cNvPr id="8" name="Text 5"/>
          <p:cNvSpPr/>
          <p:nvPr/>
        </p:nvSpPr>
        <p:spPr>
          <a:xfrm>
            <a:off x="1625600" y="4226560"/>
            <a:ext cx="13004800" cy="568960"/>
          </a:xfrm>
          <a:prstGeom prst="rect">
            <a:avLst/>
          </a:prstGeom>
          <a:noFill/>
          <a:ln/>
        </p:spPr>
        <p:txBody>
          <a:bodyPr wrap="square" rtlCol="0" anchor="ctr"/>
          <a:lstStyle/>
          <a:p>
            <a:pPr indent="0" marL="0">
              <a:buNone/>
            </a:pPr>
            <a:r>
              <a:rPr lang="en-US" sz="1400" i="1" dirty="0">
                <a:solidFill>
                  <a:srgbClr val="D4943A"/>
                </a:solidFill>
                <a:latin typeface="Calibri" pitchFamily="34" charset="0"/>
                <a:ea typeface="Calibri" pitchFamily="34" charset="-122"/>
                <a:cs typeface="Calibri" pitchFamily="34" charset="-120"/>
              </a:rPr>
              <a:t>The Great Map Room</a:t>
            </a:r>
            <a:endParaRPr lang="en-US" sz="1400" dirty="0"/>
          </a:p>
        </p:txBody>
      </p:sp>
      <p:sp>
        <p:nvSpPr>
          <p:cNvPr id="9" name="Shape 6"/>
          <p:cNvSpPr/>
          <p:nvPr/>
        </p:nvSpPr>
        <p:spPr>
          <a:xfrm>
            <a:off x="1625600" y="5201920"/>
            <a:ext cx="12192000" cy="1300480"/>
          </a:xfrm>
          <a:prstGeom prst="roundRect">
            <a:avLst>
              <a:gd name="adj" fmla="val 12500"/>
            </a:avLst>
          </a:prstGeom>
          <a:solidFill>
            <a:srgbClr val="1A2D5A"/>
          </a:solidFill>
          <a:ln w="12700">
            <a:solidFill>
              <a:srgbClr val="D4943A"/>
            </a:solidFill>
            <a:prstDash val="solid"/>
          </a:ln>
        </p:spPr>
      </p:sp>
      <p:sp>
        <p:nvSpPr>
          <p:cNvPr id="10" name="Text 7"/>
          <p:cNvSpPr/>
          <p:nvPr/>
        </p:nvSpPr>
        <p:spPr>
          <a:xfrm>
            <a:off x="1950720" y="5283200"/>
            <a:ext cx="11379200" cy="357632"/>
          </a:xfrm>
          <a:prstGeom prst="rect">
            <a:avLst/>
          </a:prstGeom>
          <a:noFill/>
          <a:ln/>
        </p:spPr>
        <p:txBody>
          <a:bodyPr wrap="square" rtlCol="0" anchor="ctr"/>
          <a:lstStyle/>
          <a:p>
            <a:pPr indent="0" marL="0">
              <a:buNone/>
            </a:pPr>
            <a:r>
              <a:rPr lang="en-US" sz="800" b="1" spc="200" kern="0" dirty="0">
                <a:solidFill>
                  <a:srgbClr val="D4943A"/>
                </a:solidFill>
                <a:latin typeface="Calibri" pitchFamily="34" charset="0"/>
                <a:ea typeface="Calibri" pitchFamily="34" charset="-122"/>
                <a:cs typeface="Calibri" pitchFamily="34" charset="-120"/>
              </a:rPr>
              <a:t>CURATOR'S QUESTION</a:t>
            </a:r>
            <a:endParaRPr lang="en-US" sz="800" dirty="0"/>
          </a:p>
        </p:txBody>
      </p:sp>
      <p:sp>
        <p:nvSpPr>
          <p:cNvPr id="11" name="Text 8"/>
          <p:cNvSpPr/>
          <p:nvPr/>
        </p:nvSpPr>
        <p:spPr>
          <a:xfrm>
            <a:off x="1950720" y="5657088"/>
            <a:ext cx="11379200" cy="731520"/>
          </a:xfrm>
          <a:prstGeom prst="rect">
            <a:avLst/>
          </a:prstGeom>
          <a:noFill/>
          <a:ln/>
        </p:spPr>
        <p:txBody>
          <a:bodyPr wrap="square" rtlCol="0" anchor="ctr"/>
          <a:lstStyle/>
          <a:p>
            <a:pPr indent="0" marL="0">
              <a:buNone/>
            </a:pPr>
            <a:r>
              <a:rPr lang="en-US" sz="1300" i="1" dirty="0">
                <a:solidFill>
                  <a:srgbClr val="FFFFFF"/>
                </a:solidFill>
                <a:latin typeface="Cambria" pitchFamily="34" charset="0"/>
                <a:ea typeface="Cambria" pitchFamily="34" charset="-122"/>
                <a:cs typeface="Cambria" pitchFamily="34" charset="-120"/>
              </a:rPr>
              <a:t>Why do flat maps and globes show the same places in different sizes and shapes?</a:t>
            </a:r>
            <a:endParaRPr lang="en-US" sz="1300" dirty="0"/>
          </a:p>
        </p:txBody>
      </p:sp>
      <p:sp>
        <p:nvSpPr>
          <p:cNvPr id="12" name="Text 9"/>
          <p:cNvSpPr/>
          <p:nvPr/>
        </p:nvSpPr>
        <p:spPr>
          <a:xfrm>
            <a:off x="1625600" y="7315200"/>
            <a:ext cx="13004800" cy="487680"/>
          </a:xfrm>
          <a:prstGeom prst="rect">
            <a:avLst/>
          </a:prstGeom>
          <a:noFill/>
          <a:ln/>
        </p:spPr>
        <p:txBody>
          <a:bodyPr wrap="square" rtlCol="0" anchor="ctr"/>
          <a:lstStyle/>
          <a:p>
            <a:pPr indent="0" marL="0">
              <a:buNone/>
            </a:pPr>
            <a:r>
              <a:rPr lang="en-US" sz="1000" dirty="0">
                <a:solidFill>
                  <a:srgbClr val="7A88A8"/>
                </a:solidFill>
                <a:latin typeface="Calibri" pitchFamily="34" charset="0"/>
                <a:ea typeface="Calibri" pitchFamily="34" charset="-122"/>
                <a:cs typeface="Calibri" pitchFamily="34" charset="-120"/>
              </a:rPr>
              <a:t>Week 9  |  Great Map Room  |  Map Curator</a:t>
            </a:r>
            <a:endParaRPr lang="en-US" sz="1000" dirty="0"/>
          </a:p>
        </p:txBody>
      </p:sp>
      <p:sp>
        <p:nvSpPr>
          <p:cNvPr id="13" name="Text 10"/>
          <p:cNvSpPr/>
          <p:nvPr/>
        </p:nvSpPr>
        <p:spPr>
          <a:xfrm>
            <a:off x="1625600" y="7884160"/>
            <a:ext cx="13004800" cy="406400"/>
          </a:xfrm>
          <a:prstGeom prst="rect">
            <a:avLst/>
          </a:prstGeom>
          <a:noFill/>
          <a:ln/>
        </p:spPr>
        <p:txBody>
          <a:bodyPr wrap="square" rtlCol="0" anchor="ctr"/>
          <a:lstStyle/>
          <a:p>
            <a:pPr indent="0" marL="0">
              <a:buNone/>
            </a:pPr>
            <a:r>
              <a:rPr lang="en-US" sz="900" dirty="0">
                <a:solidFill>
                  <a:srgbClr val="7A88A8"/>
                </a:solidFill>
                <a:latin typeface="Calibri" pitchFamily="34" charset="0"/>
                <a:ea typeface="Calibri" pitchFamily="34" charset="-122"/>
                <a:cs typeface="Calibri" pitchFamily="34" charset="-120"/>
              </a:rPr>
              <a:t>SS.3.G.1.1 | SS.3.G.1.2 | SS.3.G.1.4 | SS.3.G.1.5 | SS.3.G.1.6</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hape 0"/>
          <p:cNvSpPr/>
          <p:nvPr/>
        </p:nvSpPr>
        <p:spPr>
          <a:xfrm>
            <a:off x="0" y="0"/>
            <a:ext cx="16256000" cy="9144000"/>
          </a:xfrm>
          <a:prstGeom prst="rect">
            <a:avLst/>
          </a:prstGeom>
          <a:solidFill>
            <a:srgbClr val="0B1835"/>
          </a:solidFill>
          <a:ln w="19050">
            <a:solidFill>
              <a:srgbClr val="3A5080"/>
            </a:solidFill>
            <a:prstDash val="dash"/>
          </a:ln>
        </p:spPr>
      </p:sp>
      <p:sp>
        <p:nvSpPr>
          <p:cNvPr id="3" name="Shape 1"/>
          <p:cNvSpPr/>
          <p:nvPr/>
        </p:nvSpPr>
        <p:spPr>
          <a:xfrm>
            <a:off x="0" y="0"/>
            <a:ext cx="16256000" cy="9144000"/>
          </a:xfrm>
          <a:prstGeom prst="rect">
            <a:avLst/>
          </a:prstGeom>
          <a:solidFill>
            <a:srgbClr val="0E1C42">
              <a:alpha val="62000"/>
            </a:srgbClr>
          </a:solidFill>
          <a:ln/>
        </p:spPr>
      </p:sp>
      <p:sp>
        <p:nvSpPr>
          <p:cNvPr id="5" name="Text 2"/>
          <p:cNvSpPr/>
          <p:nvPr/>
        </p:nvSpPr>
        <p:spPr>
          <a:xfrm>
            <a:off x="975360" y="650240"/>
            <a:ext cx="13817600" cy="568960"/>
          </a:xfrm>
          <a:prstGeom prst="rect">
            <a:avLst/>
          </a:prstGeom>
          <a:noFill/>
          <a:ln/>
        </p:spPr>
        <p:txBody>
          <a:bodyPr wrap="square" rtlCol="0" anchor="ctr"/>
          <a:lstStyle/>
          <a:p>
            <a:pPr indent="0" marL="0">
              <a:buNone/>
            </a:pPr>
            <a:r>
              <a:rPr lang="en-US" sz="1100" b="1" spc="200" kern="0" dirty="0">
                <a:solidFill>
                  <a:srgbClr val="D4943A"/>
                </a:solidFill>
                <a:latin typeface="Calibri" pitchFamily="34" charset="0"/>
                <a:ea typeface="Calibri" pitchFamily="34" charset="-122"/>
                <a:cs typeface="Calibri" pitchFamily="34" charset="-120"/>
              </a:rPr>
              <a:t>THE GREENLAND MYSTERY</a:t>
            </a:r>
            <a:endParaRPr lang="en-US" sz="1100" dirty="0"/>
          </a:p>
        </p:txBody>
      </p:sp>
      <p:sp>
        <p:nvSpPr>
          <p:cNvPr id="6" name="Shape 3"/>
          <p:cNvSpPr/>
          <p:nvPr/>
        </p:nvSpPr>
        <p:spPr>
          <a:xfrm>
            <a:off x="975360" y="1381760"/>
            <a:ext cx="13817600" cy="5527040"/>
          </a:xfrm>
          <a:prstGeom prst="roundRect">
            <a:avLst>
              <a:gd name="adj" fmla="val 3529"/>
            </a:avLst>
          </a:prstGeom>
          <a:solidFill>
            <a:srgbClr val="1A2D5A">
              <a:alpha val="50000"/>
            </a:srgbClr>
          </a:solidFill>
          <a:ln/>
        </p:spPr>
      </p:sp>
      <p:sp>
        <p:nvSpPr>
          <p:cNvPr id="7" name="Text 4"/>
          <p:cNvSpPr/>
          <p:nvPr/>
        </p:nvSpPr>
        <p:spPr>
          <a:xfrm>
            <a:off x="1300480" y="1544320"/>
            <a:ext cx="13167360" cy="5201920"/>
          </a:xfrm>
          <a:prstGeom prst="rect">
            <a:avLst/>
          </a:prstGeom>
          <a:noFill/>
          <a:ln/>
        </p:spPr>
        <p:txBody>
          <a:bodyPr wrap="square" rtlCol="0" anchor="t"/>
          <a:lstStyle/>
          <a:p>
            <a:pPr indent="0" marL="0">
              <a:lnSpc>
                <a:spcPct val="125000"/>
              </a:lnSpc>
              <a:buNone/>
            </a:pPr>
            <a:r>
              <a:rPr lang="en-US" sz="1300" dirty="0">
                <a:solidFill>
                  <a:srgbClr val="FFFFFF"/>
                </a:solidFill>
                <a:latin typeface="Calibri" pitchFamily="34" charset="0"/>
                <a:ea typeface="Calibri" pitchFamily="34" charset="-122"/>
                <a:cs typeface="Calibri" pitchFamily="34" charset="-120"/>
              </a:rPr>
              <a:t>The scale bar is up, the drawers are sorted, and the compass rose is working — the Great Map Room is really coming together. But today a visitor pointed out something strange.</a:t>
            </a:r>
            <a:endParaRPr lang="en-US" sz="1300" dirty="0"/>
          </a:p>
          <a:p>
            <a:pPr indent="0" marL="0">
              <a:lnSpc>
                <a:spcPct val="125000"/>
              </a:lnSpc>
              <a:buNone/>
            </a:pPr>
            <a:endParaRPr lang="en-US" sz="1300" dirty="0"/>
          </a:p>
          <a:p>
            <a:pPr indent="0" marL="0">
              <a:lnSpc>
                <a:spcPct val="125000"/>
              </a:lnSpc>
              <a:buNone/>
            </a:pPr>
            <a:r>
              <a:rPr lang="en-US" sz="1300" dirty="0">
                <a:solidFill>
                  <a:srgbClr val="FFFFFF"/>
                </a:solidFill>
                <a:latin typeface="Calibri" pitchFamily="34" charset="0"/>
                <a:ea typeface="Calibri" pitchFamily="34" charset="-122"/>
                <a:cs typeface="Calibri" pitchFamily="34" charset="-120"/>
              </a:rPr>
              <a:t>The flat map on the wall shows Greenland almost as big as Africa. Then the visitor looked at the globe on the display table — and Greenland looked tiny compared to Africa.</a:t>
            </a:r>
            <a:endParaRPr lang="en-US" sz="1300" dirty="0"/>
          </a:p>
          <a:p>
            <a:pPr indent="0" marL="0">
              <a:lnSpc>
                <a:spcPct val="125000"/>
              </a:lnSpc>
              <a:buNone/>
            </a:pPr>
            <a:endParaRPr lang="en-US" sz="1300" dirty="0"/>
          </a:p>
          <a:p>
            <a:pPr indent="0" marL="0">
              <a:lnSpc>
                <a:spcPct val="125000"/>
              </a:lnSpc>
              <a:buNone/>
            </a:pPr>
            <a:r>
              <a:rPr lang="en-US" sz="1300" dirty="0">
                <a:solidFill>
                  <a:srgbClr val="FFFFFF"/>
                </a:solidFill>
                <a:latin typeface="Calibri" pitchFamily="34" charset="0"/>
                <a:ea typeface="Calibri" pitchFamily="34" charset="-122"/>
                <a:cs typeface="Calibri" pitchFamily="34" charset="-120"/>
              </a:rPr>
              <a:t>Same island, two different sizes! Which one is telling the truth?</a:t>
            </a:r>
            <a:endParaRPr lang="en-US" sz="1300" dirty="0"/>
          </a:p>
          <a:p>
            <a:pPr indent="0" marL="0">
              <a:lnSpc>
                <a:spcPct val="125000"/>
              </a:lnSpc>
              <a:buNone/>
            </a:pPr>
            <a:endParaRPr lang="en-US" sz="1300" dirty="0"/>
          </a:p>
          <a:p>
            <a:pPr indent="0" marL="0">
              <a:lnSpc>
                <a:spcPct val="125000"/>
              </a:lnSpc>
              <a:buNone/>
            </a:pPr>
            <a:r>
              <a:rPr lang="en-US" sz="1300" dirty="0">
                <a:solidFill>
                  <a:srgbClr val="FFFFFF"/>
                </a:solidFill>
                <a:latin typeface="Calibri" pitchFamily="34" charset="0"/>
                <a:ea typeface="Calibri" pitchFamily="34" charset="-122"/>
                <a:cs typeface="Calibri" pitchFamily="34" charset="-120"/>
              </a:rPr>
              <a:t>Map Curators need to figure out why flat maps and globes can show the same place in different ways.</a:t>
            </a:r>
            <a:endParaRPr lang="en-US" sz="1300" dirty="0"/>
          </a:p>
        </p:txBody>
      </p:sp>
      <p:sp>
        <p:nvSpPr>
          <p:cNvPr id="8" name="Shape 5"/>
          <p:cNvSpPr/>
          <p:nvPr/>
        </p:nvSpPr>
        <p:spPr>
          <a:xfrm>
            <a:off x="975360" y="7315200"/>
            <a:ext cx="13817600" cy="1137920"/>
          </a:xfrm>
          <a:prstGeom prst="roundRect">
            <a:avLst>
              <a:gd name="adj" fmla="val 21429"/>
            </a:avLst>
          </a:prstGeom>
          <a:solidFill>
            <a:srgbClr val="1A2D5A"/>
          </a:solidFill>
          <a:ln/>
          <a:effectLst>
            <a:outerShdw sx="100000" sy="100000" kx="0" ky="0" algn="bl" rotWithShape="0" blurRad="101600" dist="38100" dir="8100000">
              <a:srgbClr val="000000">
                <a:alpha val="20000"/>
              </a:srgbClr>
            </a:outerShdw>
          </a:effectLst>
        </p:spPr>
      </p:sp>
      <p:sp>
        <p:nvSpPr>
          <p:cNvPr id="9" name="Text 6"/>
          <p:cNvSpPr/>
          <p:nvPr/>
        </p:nvSpPr>
        <p:spPr>
          <a:xfrm>
            <a:off x="1300480" y="7477760"/>
            <a:ext cx="13167360" cy="455168"/>
          </a:xfrm>
          <a:prstGeom prst="rect">
            <a:avLst/>
          </a:prstGeom>
          <a:noFill/>
          <a:ln/>
        </p:spPr>
        <p:txBody>
          <a:bodyPr wrap="square" lIns="0" tIns="0" rIns="0" bIns="0" rtlCol="0" anchor="ctr"/>
          <a:lstStyle/>
          <a:p>
            <a:pPr indent="0" marL="0">
              <a:buNone/>
            </a:pPr>
            <a:r>
              <a:rPr lang="en-US" sz="900" b="1" spc="150" kern="0" dirty="0">
                <a:solidFill>
                  <a:srgbClr val="55C8E8"/>
                </a:solidFill>
                <a:latin typeface="Calibri" pitchFamily="34" charset="0"/>
                <a:ea typeface="Calibri" pitchFamily="34" charset="-122"/>
                <a:cs typeface="Calibri" pitchFamily="34" charset="-120"/>
              </a:rPr>
              <a:t>SOCRATIC QUESTIONS</a:t>
            </a:r>
            <a:endParaRPr lang="en-US" sz="900" dirty="0"/>
          </a:p>
        </p:txBody>
      </p:sp>
      <p:sp>
        <p:nvSpPr>
          <p:cNvPr id="10" name="Text 7"/>
          <p:cNvSpPr/>
          <p:nvPr/>
        </p:nvSpPr>
        <p:spPr>
          <a:xfrm>
            <a:off x="1300480" y="7932928"/>
            <a:ext cx="13167360" cy="357632"/>
          </a:xfrm>
          <a:prstGeom prst="rect">
            <a:avLst/>
          </a:prstGeom>
          <a:noFill/>
          <a:ln/>
        </p:spPr>
        <p:txBody>
          <a:bodyPr wrap="square" lIns="0" tIns="0" rIns="0" bIns="0" rtlCol="0" anchor="t"/>
          <a:lstStyle/>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What does this map show, and what choice or pattern does it help us explain?</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0" y="0"/>
            <a:ext cx="16256000" cy="9144000"/>
          </a:xfrm>
          <a:prstGeom prst="rect">
            <a:avLst/>
          </a:prstGeom>
          <a:solidFill>
            <a:srgbClr val="1A2D5A"/>
          </a:solidFill>
          <a:ln/>
        </p:spPr>
      </p:sp>
      <p:sp>
        <p:nvSpPr>
          <p:cNvPr id="3" name="Text 1"/>
          <p:cNvSpPr/>
          <p:nvPr/>
        </p:nvSpPr>
        <p:spPr>
          <a:xfrm>
            <a:off x="975360" y="812800"/>
            <a:ext cx="13817600" cy="487680"/>
          </a:xfrm>
          <a:prstGeom prst="rect">
            <a:avLst/>
          </a:prstGeom>
          <a:noFill/>
          <a:ln/>
        </p:spPr>
        <p:txBody>
          <a:bodyPr wrap="square" rtlCol="0" anchor="ctr"/>
          <a:lstStyle/>
          <a:p>
            <a:pPr indent="0" marL="0">
              <a:buNone/>
            </a:pPr>
            <a:r>
              <a:rPr lang="en-US" sz="1000" b="1" spc="200" kern="0" dirty="0">
                <a:solidFill>
                  <a:srgbClr val="55C8E8"/>
                </a:solidFill>
                <a:latin typeface="Calibri" pitchFamily="34" charset="0"/>
                <a:ea typeface="Calibri" pitchFamily="34" charset="-122"/>
                <a:cs typeface="Calibri" pitchFamily="34" charset="-120"/>
              </a:rPr>
              <a:t>VIRTUE SPOTLIGHT</a:t>
            </a:r>
            <a:endParaRPr lang="en-US" sz="1000" dirty="0"/>
          </a:p>
        </p:txBody>
      </p:sp>
      <p:sp>
        <p:nvSpPr>
          <p:cNvPr id="4" name="Text 2"/>
          <p:cNvSpPr/>
          <p:nvPr/>
        </p:nvSpPr>
        <p:spPr>
          <a:xfrm>
            <a:off x="975360" y="1381760"/>
            <a:ext cx="13817600" cy="894080"/>
          </a:xfrm>
          <a:prstGeom prst="rect">
            <a:avLst/>
          </a:prstGeom>
          <a:noFill/>
          <a:ln/>
        </p:spPr>
        <p:txBody>
          <a:bodyPr wrap="square" rtlCol="0" anchor="ctr"/>
          <a:lstStyle/>
          <a:p>
            <a:pPr indent="0" marL="0">
              <a:buNone/>
            </a:pPr>
            <a:r>
              <a:rPr lang="en-US" sz="3000" b="1" dirty="0">
                <a:solidFill>
                  <a:srgbClr val="D4943A"/>
                </a:solidFill>
                <a:latin typeface="Cambria" pitchFamily="34" charset="0"/>
                <a:ea typeface="Cambria" pitchFamily="34" charset="-122"/>
                <a:cs typeface="Cambria" pitchFamily="34" charset="-120"/>
              </a:rPr>
              <a:t>Perseverance</a:t>
            </a:r>
            <a:endParaRPr lang="en-US" sz="3000" dirty="0"/>
          </a:p>
        </p:txBody>
      </p:sp>
      <p:sp>
        <p:nvSpPr>
          <p:cNvPr id="5" name="Shape 3"/>
          <p:cNvSpPr/>
          <p:nvPr/>
        </p:nvSpPr>
        <p:spPr>
          <a:xfrm>
            <a:off x="975360" y="2438400"/>
            <a:ext cx="2438400" cy="65024"/>
          </a:xfrm>
          <a:prstGeom prst="rect">
            <a:avLst/>
          </a:prstGeom>
          <a:solidFill>
            <a:srgbClr val="D4943A"/>
          </a:solidFill>
          <a:ln/>
        </p:spPr>
      </p:sp>
      <p:sp>
        <p:nvSpPr>
          <p:cNvPr id="6" name="Shape 4"/>
          <p:cNvSpPr/>
          <p:nvPr/>
        </p:nvSpPr>
        <p:spPr>
          <a:xfrm>
            <a:off x="975360" y="2926080"/>
            <a:ext cx="13817600" cy="2113280"/>
          </a:xfrm>
          <a:prstGeom prst="roundRect">
            <a:avLst>
              <a:gd name="adj" fmla="val 9231"/>
            </a:avLst>
          </a:prstGeom>
          <a:solidFill>
            <a:srgbClr val="0B1835"/>
          </a:solidFill>
          <a:ln/>
        </p:spPr>
      </p:sp>
      <p:sp>
        <p:nvSpPr>
          <p:cNvPr id="7" name="Text 5"/>
          <p:cNvSpPr/>
          <p:nvPr/>
        </p:nvSpPr>
        <p:spPr>
          <a:xfrm>
            <a:off x="1381760" y="3088640"/>
            <a:ext cx="13004800" cy="1788160"/>
          </a:xfrm>
          <a:prstGeom prst="rect">
            <a:avLst/>
          </a:prstGeom>
          <a:noFill/>
          <a:ln/>
        </p:spPr>
        <p:txBody>
          <a:bodyPr wrap="square" rtlCol="0" anchor="ctr"/>
          <a:lstStyle/>
          <a:p>
            <a:pPr indent="0" marL="0">
              <a:lnSpc>
                <a:spcPct val="130000"/>
              </a:lnSpc>
              <a:buNone/>
            </a:pPr>
            <a:r>
              <a:rPr lang="en-US" sz="1400" i="1" dirty="0">
                <a:solidFill>
                  <a:srgbClr val="FFFFFF"/>
                </a:solidFill>
                <a:latin typeface="Calibri" pitchFamily="34" charset="0"/>
                <a:ea typeface="Calibri" pitchFamily="34" charset="-122"/>
                <a:cs typeface="Calibri" pitchFamily="34" charset="-120"/>
              </a:rPr>
              <a:t>Sticking with a problem even when it’s confusing. Good curators don’t walk away from a puzzle. They look more carefully, think harder, and keep going until it makes sense.</a:t>
            </a:r>
            <a:endParaRPr lang="en-US" sz="1400" dirty="0"/>
          </a:p>
        </p:txBody>
      </p:sp>
      <p:sp>
        <p:nvSpPr>
          <p:cNvPr id="8" name="Shape 6"/>
          <p:cNvSpPr/>
          <p:nvPr/>
        </p:nvSpPr>
        <p:spPr>
          <a:xfrm>
            <a:off x="975360" y="5527040"/>
            <a:ext cx="13817600" cy="1788160"/>
          </a:xfrm>
          <a:prstGeom prst="roundRect">
            <a:avLst>
              <a:gd name="adj" fmla="val 10909"/>
            </a:avLst>
          </a:prstGeom>
          <a:solidFill>
            <a:srgbClr val="1A2D5A"/>
          </a:solidFill>
          <a:ln w="12700">
            <a:solidFill>
              <a:srgbClr val="1A8A7D"/>
            </a:solidFill>
            <a:prstDash val="solid"/>
          </a:ln>
        </p:spPr>
      </p:sp>
      <p:sp>
        <p:nvSpPr>
          <p:cNvPr id="9" name="Text 7"/>
          <p:cNvSpPr/>
          <p:nvPr/>
        </p:nvSpPr>
        <p:spPr>
          <a:xfrm>
            <a:off x="1381760" y="5657088"/>
            <a:ext cx="13004800" cy="357632"/>
          </a:xfrm>
          <a:prstGeom prst="rect">
            <a:avLst/>
          </a:prstGeom>
          <a:noFill/>
          <a:ln/>
        </p:spPr>
        <p:txBody>
          <a:bodyPr wrap="square" rtlCol="0" anchor="ctr"/>
          <a:lstStyle/>
          <a:p>
            <a:pPr indent="0" marL="0">
              <a:buNone/>
            </a:pPr>
            <a:r>
              <a:rPr lang="en-US" sz="900" b="1" spc="150" kern="0" dirty="0">
                <a:solidFill>
                  <a:srgbClr val="1A8A7D"/>
                </a:solidFill>
                <a:latin typeface="Calibri" pitchFamily="34" charset="0"/>
                <a:ea typeface="Calibri" pitchFamily="34" charset="-122"/>
                <a:cs typeface="Calibri" pitchFamily="34" charset="-120"/>
              </a:rPr>
              <a:t>TODAY'S CONNECTION</a:t>
            </a:r>
            <a:endParaRPr lang="en-US" sz="900" dirty="0"/>
          </a:p>
        </p:txBody>
      </p:sp>
      <p:sp>
        <p:nvSpPr>
          <p:cNvPr id="10" name="Text 8"/>
          <p:cNvSpPr/>
          <p:nvPr/>
        </p:nvSpPr>
        <p:spPr>
          <a:xfrm>
            <a:off x="1381760" y="6047232"/>
            <a:ext cx="13004800" cy="1137920"/>
          </a:xfrm>
          <a:prstGeom prst="rect">
            <a:avLst/>
          </a:prstGeom>
          <a:noFill/>
          <a:ln/>
        </p:spPr>
        <p:txBody>
          <a:bodyPr wrap="square" rtlCol="0" anchor="ctr"/>
          <a:lstStyle/>
          <a:p>
            <a:pPr indent="0" marL="0">
              <a:lnSpc>
                <a:spcPct val="120000"/>
              </a:lnSpc>
              <a:buNone/>
            </a:pPr>
            <a:r>
              <a:rPr lang="en-US" sz="1200" dirty="0">
                <a:solidFill>
                  <a:srgbClr val="FFFFFF"/>
                </a:solidFill>
                <a:latin typeface="Calibri" pitchFamily="34" charset="0"/>
                <a:ea typeface="Calibri" pitchFamily="34" charset="-122"/>
                <a:cs typeface="Calibri" pitchFamily="34" charset="-120"/>
              </a:rPr>
              <a:t>The idea that flat maps distort the world can feel confusing at first. But curators persevere — they keep looking, keep comparing, and figure out why things look different than expected.</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0" y="0"/>
            <a:ext cx="16256000" cy="97536"/>
          </a:xfrm>
          <a:prstGeom prst="rect">
            <a:avLst/>
          </a:prstGeom>
          <a:solidFill>
            <a:srgbClr val="0E1C42"/>
          </a:solidFill>
          <a:ln/>
        </p:spPr>
      </p:sp>
      <p:sp>
        <p:nvSpPr>
          <p:cNvPr id="3" name="Shape 1"/>
          <p:cNvSpPr/>
          <p:nvPr/>
        </p:nvSpPr>
        <p:spPr>
          <a:xfrm>
            <a:off x="0" y="97536"/>
            <a:ext cx="16256000" cy="9046464"/>
          </a:xfrm>
          <a:prstGeom prst="rect">
            <a:avLst/>
          </a:prstGeom>
          <a:solidFill>
            <a:srgbClr val="FFFFFF"/>
          </a:solidFill>
          <a:ln/>
        </p:spPr>
      </p:sp>
      <p:sp>
        <p:nvSpPr>
          <p:cNvPr id="4" name="Shape 2"/>
          <p:cNvSpPr/>
          <p:nvPr/>
        </p:nvSpPr>
        <p:spPr>
          <a:xfrm>
            <a:off x="487680" y="406400"/>
            <a:ext cx="97536" cy="568960"/>
          </a:xfrm>
          <a:prstGeom prst="rect">
            <a:avLst/>
          </a:prstGeom>
          <a:solidFill>
            <a:srgbClr val="D4943A"/>
          </a:solidFill>
          <a:ln/>
        </p:spPr>
      </p:sp>
      <p:sp>
        <p:nvSpPr>
          <p:cNvPr id="5" name="Text 3"/>
          <p:cNvSpPr/>
          <p:nvPr/>
        </p:nvSpPr>
        <p:spPr>
          <a:xfrm>
            <a:off x="894080" y="406400"/>
            <a:ext cx="13817600" cy="568960"/>
          </a:xfrm>
          <a:prstGeom prst="rect">
            <a:avLst/>
          </a:prstGeom>
          <a:noFill/>
          <a:ln/>
        </p:spPr>
        <p:txBody>
          <a:bodyPr wrap="square" rtlCol="0" anchor="ctr"/>
          <a:lstStyle/>
          <a:p>
            <a:pPr indent="0" marL="0">
              <a:buNone/>
            </a:pPr>
            <a:r>
              <a:rPr lang="en-US" sz="1800" b="1" dirty="0">
                <a:solidFill>
                  <a:srgbClr val="0E1C42"/>
                </a:solidFill>
                <a:latin typeface="Cambria" pitchFamily="34" charset="0"/>
                <a:ea typeface="Cambria" pitchFamily="34" charset="-122"/>
                <a:cs typeface="Cambria" pitchFamily="34" charset="-120"/>
              </a:rPr>
              <a:t>Discovery Clue 1: The Orange Peel Problem</a:t>
            </a:r>
            <a:endParaRPr lang="en-US" sz="1800" dirty="0"/>
          </a:p>
        </p:txBody>
      </p:sp>
      <p:sp>
        <p:nvSpPr>
          <p:cNvPr id="6" name="Text 4"/>
          <p:cNvSpPr/>
          <p:nvPr/>
        </p:nvSpPr>
        <p:spPr>
          <a:xfrm>
            <a:off x="894080" y="1219200"/>
            <a:ext cx="8128000" cy="650240"/>
          </a:xfrm>
          <a:prstGeom prst="rect">
            <a:avLst/>
          </a:prstGeom>
          <a:noFill/>
          <a:ln/>
        </p:spPr>
        <p:txBody>
          <a:bodyPr wrap="square" rtlCol="0" anchor="ctr"/>
          <a:lstStyle/>
          <a:p>
            <a:pPr indent="0" marL="0">
              <a:buNone/>
            </a:pPr>
            <a:r>
              <a:rPr lang="en-US" sz="1400" i="1" dirty="0">
                <a:solidFill>
                  <a:srgbClr val="0E1C42"/>
                </a:solidFill>
                <a:latin typeface="Calibri" pitchFamily="34" charset="0"/>
                <a:ea typeface="Calibri" pitchFamily="34" charset="-122"/>
                <a:cs typeface="Calibri" pitchFamily="34" charset="-120"/>
              </a:rPr>
              <a:t>Imagine peeling an orange and pressing the peel flat on the table...</a:t>
            </a:r>
            <a:endParaRPr lang="en-US" sz="1400" dirty="0"/>
          </a:p>
        </p:txBody>
      </p:sp>
      <p:sp>
        <p:nvSpPr>
          <p:cNvPr id="7" name="Text 5"/>
          <p:cNvSpPr/>
          <p:nvPr/>
        </p:nvSpPr>
        <p:spPr>
          <a:xfrm>
            <a:off x="894080" y="2032000"/>
            <a:ext cx="7802880" cy="455168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rgbClr val="0E1C42"/>
                </a:solidFill>
                <a:latin typeface="Calibri" pitchFamily="34" charset="0"/>
                <a:ea typeface="Calibri" pitchFamily="34" charset="-122"/>
                <a:cs typeface="Calibri" pitchFamily="34" charset="-120"/>
              </a:rPr>
              <a:t>The Earth is round, like an orange.</a:t>
            </a:r>
            <a:endParaRPr lang="en-US" sz="1400" dirty="0"/>
          </a:p>
          <a:p>
            <a:pPr marL="342900" indent="-342900">
              <a:spcAft>
                <a:spcPts val="600"/>
              </a:spcAft>
              <a:buSzPct val="100000"/>
              <a:buChar char="•"/>
            </a:pPr>
            <a:r>
              <a:rPr lang="en-US" sz="1400" dirty="0">
                <a:solidFill>
                  <a:srgbClr val="0E1C42"/>
                </a:solidFill>
                <a:latin typeface="Calibri" pitchFamily="34" charset="0"/>
                <a:ea typeface="Calibri" pitchFamily="34" charset="-122"/>
                <a:cs typeface="Calibri" pitchFamily="34" charset="-120"/>
              </a:rPr>
              <a:t>A flat map is like pressing that orange peel flat.</a:t>
            </a:r>
            <a:endParaRPr lang="en-US" sz="1400" dirty="0"/>
          </a:p>
          <a:p>
            <a:pPr marL="342900" indent="-342900">
              <a:spcAft>
                <a:spcPts val="600"/>
              </a:spcAft>
              <a:buSzPct val="100000"/>
              <a:buChar char="•"/>
            </a:pPr>
            <a:r>
              <a:rPr lang="en-US" sz="1400" dirty="0">
                <a:solidFill>
                  <a:srgbClr val="0E1C42"/>
                </a:solidFill>
                <a:latin typeface="Calibri" pitchFamily="34" charset="0"/>
                <a:ea typeface="Calibri" pitchFamily="34" charset="-122"/>
                <a:cs typeface="Calibri" pitchFamily="34" charset="-120"/>
              </a:rPr>
              <a:t>What happens when you flatten a curved surface?</a:t>
            </a:r>
            <a:endParaRPr lang="en-US" sz="1400" dirty="0"/>
          </a:p>
          <a:p>
            <a:pPr marL="342900" indent="-342900">
              <a:spcAft>
                <a:spcPts val="600"/>
              </a:spcAft>
              <a:buSzPct val="100000"/>
              <a:buChar char="•"/>
            </a:pPr>
            <a:r>
              <a:rPr lang="en-US" sz="1400" dirty="0">
                <a:solidFill>
                  <a:srgbClr val="0E1C42"/>
                </a:solidFill>
                <a:latin typeface="Calibri" pitchFamily="34" charset="0"/>
                <a:ea typeface="Calibri" pitchFamily="34" charset="-122"/>
                <a:cs typeface="Calibri" pitchFamily="34" charset="-120"/>
              </a:rPr>
              <a:t>The peel tears, stretches, and squeezes!</a:t>
            </a:r>
            <a:endParaRPr lang="en-US" sz="1400" dirty="0"/>
          </a:p>
          <a:p>
            <a:pPr marL="342900" indent="-342900">
              <a:spcAft>
                <a:spcPts val="600"/>
              </a:spcAft>
              <a:buSzPct val="100000"/>
              <a:buChar char="•"/>
            </a:pPr>
            <a:r>
              <a:rPr lang="en-US" sz="1400" dirty="0">
                <a:solidFill>
                  <a:srgbClr val="0E1C42"/>
                </a:solidFill>
                <a:latin typeface="Calibri" pitchFamily="34" charset="0"/>
                <a:ea typeface="Calibri" pitchFamily="34" charset="-122"/>
                <a:cs typeface="Calibri" pitchFamily="34" charset="-120"/>
              </a:rPr>
              <a:t>That is exactly what happens when mapmakers turn the round Earth into a flat map.</a:t>
            </a:r>
            <a:endParaRPr lang="en-US" sz="1400" dirty="0"/>
          </a:p>
        </p:txBody>
      </p:sp>
      <p:sp>
        <p:nvSpPr>
          <p:cNvPr id="8" name="Shape 6"/>
          <p:cNvSpPr/>
          <p:nvPr/>
        </p:nvSpPr>
        <p:spPr>
          <a:xfrm>
            <a:off x="9103360" y="1219200"/>
            <a:ext cx="6177280" cy="5201920"/>
          </a:xfrm>
          <a:prstGeom prst="roundRect">
            <a:avLst>
              <a:gd name="adj" fmla="val 3750"/>
            </a:avLst>
          </a:prstGeom>
          <a:solidFill>
            <a:srgbClr val="E2E8F4"/>
          </a:solidFill>
          <a:ln w="19050">
            <a:solidFill>
              <a:srgbClr val="B0B8CC"/>
            </a:solidFill>
            <a:prstDash val="dash"/>
          </a:ln>
        </p:spPr>
      </p:sp>
      <p:sp>
        <p:nvSpPr>
          <p:cNvPr id="9" name="Text 7"/>
          <p:cNvSpPr/>
          <p:nvPr/>
        </p:nvSpPr>
        <p:spPr>
          <a:xfrm>
            <a:off x="9103360" y="1219200"/>
            <a:ext cx="6177280" cy="487680"/>
          </a:xfrm>
          <a:prstGeom prst="rect">
            <a:avLst/>
          </a:prstGeom>
          <a:noFill/>
          <a:ln/>
        </p:spPr>
        <p:txBody>
          <a:bodyPr wrap="square" lIns="1016" tIns="0" rIns="0" bIns="0" rtlCol="0" anchor="t"/>
          <a:lstStyle/>
          <a:p>
            <a:pPr algn="ctr" indent="0" marL="0">
              <a:buNone/>
            </a:pPr>
            <a:r>
              <a:rPr lang="en-US" sz="900" b="1" spc="150" kern="0" dirty="0">
                <a:solidFill>
                  <a:srgbClr val="7A88A8"/>
                </a:solidFill>
                <a:latin typeface="Calibri" pitchFamily="34" charset="0"/>
                <a:ea typeface="Calibri" pitchFamily="34" charset="-122"/>
                <a:cs typeface="Calibri" pitchFamily="34" charset="-120"/>
              </a:rPr>
              <a:t>INSERT IMAGE</a:t>
            </a:r>
            <a:endParaRPr lang="en-US" sz="900" dirty="0"/>
          </a:p>
        </p:txBody>
      </p:sp>
      <p:sp>
        <p:nvSpPr>
          <p:cNvPr id="10" name="Text 8"/>
          <p:cNvSpPr/>
          <p:nvPr/>
        </p:nvSpPr>
        <p:spPr>
          <a:xfrm>
            <a:off x="9347200" y="1706880"/>
            <a:ext cx="5689600" cy="4551680"/>
          </a:xfrm>
          <a:prstGeom prst="rect">
            <a:avLst/>
          </a:prstGeom>
          <a:noFill/>
          <a:ln/>
        </p:spPr>
        <p:txBody>
          <a:bodyPr wrap="square" rtlCol="0" anchor="ctr"/>
          <a:lstStyle/>
          <a:p>
            <a:pPr algn="ctr" indent="0" marL="0">
              <a:buNone/>
            </a:pPr>
            <a:r>
              <a:rPr lang="en-US" sz="1100" i="1" dirty="0">
                <a:solidFill>
                  <a:srgbClr val="7A88A8"/>
                </a:solidFill>
                <a:latin typeface="Calibri" pitchFamily="34" charset="0"/>
                <a:ea typeface="Calibri" pitchFamily="34" charset="-122"/>
                <a:cs typeface="Calibri" pitchFamily="34" charset="-120"/>
              </a:rPr>
              <a:t>Orange being peeled, then the peel pressed flat on a table — showing how flattening causes tears and stretches</a:t>
            </a:r>
            <a:endParaRPr lang="en-US" sz="1100" dirty="0"/>
          </a:p>
        </p:txBody>
      </p:sp>
      <p:sp>
        <p:nvSpPr>
          <p:cNvPr id="11" name="Shape 9"/>
          <p:cNvSpPr/>
          <p:nvPr/>
        </p:nvSpPr>
        <p:spPr>
          <a:xfrm>
            <a:off x="894080" y="6990080"/>
            <a:ext cx="14630400" cy="1544320"/>
          </a:xfrm>
          <a:prstGeom prst="roundRect">
            <a:avLst>
              <a:gd name="adj" fmla="val 15789"/>
            </a:avLst>
          </a:prstGeom>
          <a:solidFill>
            <a:srgbClr val="1A2D5A"/>
          </a:solidFill>
          <a:ln/>
          <a:effectLst>
            <a:outerShdw sx="100000" sy="100000" kx="0" ky="0" algn="bl" rotWithShape="0" blurRad="101600" dist="38100" dir="8100000">
              <a:srgbClr val="000000">
                <a:alpha val="20000"/>
              </a:srgbClr>
            </a:outerShdw>
          </a:effectLst>
        </p:spPr>
      </p:sp>
      <p:sp>
        <p:nvSpPr>
          <p:cNvPr id="12" name="Text 10"/>
          <p:cNvSpPr/>
          <p:nvPr/>
        </p:nvSpPr>
        <p:spPr>
          <a:xfrm>
            <a:off x="1219200" y="7152640"/>
            <a:ext cx="13980160" cy="455168"/>
          </a:xfrm>
          <a:prstGeom prst="rect">
            <a:avLst/>
          </a:prstGeom>
          <a:noFill/>
          <a:ln/>
        </p:spPr>
        <p:txBody>
          <a:bodyPr wrap="square" lIns="0" tIns="0" rIns="0" bIns="0" rtlCol="0" anchor="ctr"/>
          <a:lstStyle/>
          <a:p>
            <a:pPr indent="0" marL="0">
              <a:buNone/>
            </a:pPr>
            <a:r>
              <a:rPr lang="en-US" sz="900" b="1" spc="150" kern="0" dirty="0">
                <a:solidFill>
                  <a:srgbClr val="55C8E8"/>
                </a:solidFill>
                <a:latin typeface="Calibri" pitchFamily="34" charset="0"/>
                <a:ea typeface="Calibri" pitchFamily="34" charset="-122"/>
                <a:cs typeface="Calibri" pitchFamily="34" charset="-120"/>
              </a:rPr>
              <a:t>SOCRATIC QUESTIONS</a:t>
            </a:r>
            <a:endParaRPr lang="en-US" sz="900" dirty="0"/>
          </a:p>
        </p:txBody>
      </p:sp>
      <p:sp>
        <p:nvSpPr>
          <p:cNvPr id="13" name="Text 11"/>
          <p:cNvSpPr/>
          <p:nvPr/>
        </p:nvSpPr>
        <p:spPr>
          <a:xfrm>
            <a:off x="1219200" y="7607808"/>
            <a:ext cx="13980160" cy="764032"/>
          </a:xfrm>
          <a:prstGeom prst="rect">
            <a:avLst/>
          </a:prstGeom>
          <a:noFill/>
          <a:ln/>
        </p:spPr>
        <p:txBody>
          <a:bodyPr wrap="square" lIns="0" tIns="0" rIns="0" bIns="0" rtlCol="0" anchor="t"/>
          <a:lstStyle/>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What happened to the orange peel shape when it was flattened?</a:t>
            </a:r>
            <a:endParaRPr lang="en-US" sz="1100" dirty="0"/>
          </a:p>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Can you flatten it without changing its shape?</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hape 0"/>
          <p:cNvSpPr/>
          <p:nvPr/>
        </p:nvSpPr>
        <p:spPr>
          <a:xfrm>
            <a:off x="0" y="0"/>
            <a:ext cx="16256000" cy="97536"/>
          </a:xfrm>
          <a:prstGeom prst="rect">
            <a:avLst/>
          </a:prstGeom>
          <a:solidFill>
            <a:srgbClr val="0E1C42"/>
          </a:solidFill>
          <a:ln/>
        </p:spPr>
      </p:sp>
      <p:sp>
        <p:nvSpPr>
          <p:cNvPr id="3" name="Shape 1"/>
          <p:cNvSpPr/>
          <p:nvPr/>
        </p:nvSpPr>
        <p:spPr>
          <a:xfrm>
            <a:off x="0" y="97536"/>
            <a:ext cx="16256000" cy="9046464"/>
          </a:xfrm>
          <a:prstGeom prst="rect">
            <a:avLst/>
          </a:prstGeom>
          <a:solidFill>
            <a:srgbClr val="FFF8F0"/>
          </a:solidFill>
          <a:ln/>
        </p:spPr>
      </p:sp>
      <p:sp>
        <p:nvSpPr>
          <p:cNvPr id="4" name="Shape 2"/>
          <p:cNvSpPr/>
          <p:nvPr/>
        </p:nvSpPr>
        <p:spPr>
          <a:xfrm>
            <a:off x="487680" y="406400"/>
            <a:ext cx="97536" cy="568960"/>
          </a:xfrm>
          <a:prstGeom prst="rect">
            <a:avLst/>
          </a:prstGeom>
          <a:solidFill>
            <a:srgbClr val="D4943A"/>
          </a:solidFill>
          <a:ln/>
        </p:spPr>
      </p:sp>
      <p:sp>
        <p:nvSpPr>
          <p:cNvPr id="5" name="Text 3"/>
          <p:cNvSpPr/>
          <p:nvPr/>
        </p:nvSpPr>
        <p:spPr>
          <a:xfrm>
            <a:off x="894080" y="406400"/>
            <a:ext cx="13817600" cy="568960"/>
          </a:xfrm>
          <a:prstGeom prst="rect">
            <a:avLst/>
          </a:prstGeom>
          <a:noFill/>
          <a:ln/>
        </p:spPr>
        <p:txBody>
          <a:bodyPr wrap="square" rtlCol="0" anchor="ctr"/>
          <a:lstStyle/>
          <a:p>
            <a:pPr indent="0" marL="0">
              <a:buNone/>
            </a:pPr>
            <a:r>
              <a:rPr lang="en-US" sz="1800" b="1" dirty="0">
                <a:solidFill>
                  <a:srgbClr val="0E1C42"/>
                </a:solidFill>
                <a:latin typeface="Cambria" pitchFamily="34" charset="0"/>
                <a:ea typeface="Cambria" pitchFamily="34" charset="-122"/>
                <a:cs typeface="Cambria" pitchFamily="34" charset="-120"/>
              </a:rPr>
              <a:t>Your Prediction</a:t>
            </a:r>
            <a:endParaRPr lang="en-US" sz="1800" dirty="0"/>
          </a:p>
        </p:txBody>
      </p:sp>
      <p:sp>
        <p:nvSpPr>
          <p:cNvPr id="6" name="Shape 4"/>
          <p:cNvSpPr/>
          <p:nvPr/>
        </p:nvSpPr>
        <p:spPr>
          <a:xfrm>
            <a:off x="1300480" y="1381760"/>
            <a:ext cx="13329920" cy="3251200"/>
          </a:xfrm>
          <a:prstGeom prst="roundRect">
            <a:avLst>
              <a:gd name="adj" fmla="val 6000"/>
            </a:avLst>
          </a:prstGeom>
          <a:solidFill>
            <a:srgbClr val="FFF3DC"/>
          </a:solidFill>
          <a:ln w="19050">
            <a:solidFill>
              <a:srgbClr val="F5E6C8"/>
            </a:solidFill>
            <a:prstDash val="solid"/>
          </a:ln>
        </p:spPr>
      </p:sp>
      <p:sp>
        <p:nvSpPr>
          <p:cNvPr id="7" name="Text 5"/>
          <p:cNvSpPr/>
          <p:nvPr/>
        </p:nvSpPr>
        <p:spPr>
          <a:xfrm>
            <a:off x="1544320" y="1479296"/>
            <a:ext cx="12842240" cy="357632"/>
          </a:xfrm>
          <a:prstGeom prst="rect">
            <a:avLst/>
          </a:prstGeom>
          <a:noFill/>
          <a:ln/>
        </p:spPr>
        <p:txBody>
          <a:bodyPr wrap="square" lIns="0" tIns="0" rIns="0" bIns="0" rtlCol="0" anchor="ctr"/>
          <a:lstStyle/>
          <a:p>
            <a:pPr indent="0" marL="0">
              <a:buNone/>
            </a:pPr>
            <a:r>
              <a:rPr lang="en-US" sz="900" b="1" spc="150" kern="0" dirty="0">
                <a:solidFill>
                  <a:srgbClr val="D4943A"/>
                </a:solidFill>
                <a:latin typeface="Calibri" pitchFamily="34" charset="0"/>
                <a:ea typeface="Calibri" pitchFamily="34" charset="-122"/>
                <a:cs typeface="Calibri" pitchFamily="34" charset="-120"/>
              </a:rPr>
              <a:t>CHAT FRAME</a:t>
            </a:r>
            <a:endParaRPr lang="en-US" sz="900" dirty="0"/>
          </a:p>
        </p:txBody>
      </p:sp>
      <p:sp>
        <p:nvSpPr>
          <p:cNvPr id="8" name="Text 6"/>
          <p:cNvSpPr/>
          <p:nvPr/>
        </p:nvSpPr>
        <p:spPr>
          <a:xfrm>
            <a:off x="1544320" y="1836928"/>
            <a:ext cx="12842240" cy="2682240"/>
          </a:xfrm>
          <a:prstGeom prst="rect">
            <a:avLst/>
          </a:prstGeom>
          <a:noFill/>
          <a:ln/>
        </p:spPr>
        <p:txBody>
          <a:bodyPr wrap="square" lIns="0" tIns="0" rIns="0" bIns="0" rtlCol="0" anchor="t"/>
          <a:lstStyle/>
          <a:p>
            <a:pPr indent="0" marL="0">
              <a:spcAft>
                <a:spcPts val="500"/>
              </a:spcAft>
              <a:buNone/>
            </a:pPr>
            <a:r>
              <a:rPr lang="en-US" sz="1200" i="1" dirty="0">
                <a:solidFill>
                  <a:srgbClr val="5A4A3A"/>
                </a:solidFill>
                <a:latin typeface="Cambria" pitchFamily="34" charset="0"/>
                <a:ea typeface="Cambria" pitchFamily="34" charset="-122"/>
                <a:cs typeface="Cambria" pitchFamily="34" charset="-120"/>
              </a:rPr>
              <a:t>"What do you think happens to the shapes when you flatten something round?"</a:t>
            </a:r>
            <a:endParaRPr lang="en-US" sz="1200" dirty="0"/>
          </a:p>
          <a:p>
            <a:pPr indent="0" marL="0">
              <a:spcAft>
                <a:spcPts val="500"/>
              </a:spcAft>
              <a:buNone/>
            </a:pPr>
            <a:r>
              <a:rPr lang="en-US" sz="1200" i="1" dirty="0">
                <a:solidFill>
                  <a:srgbClr val="5A4A3A"/>
                </a:solidFill>
                <a:latin typeface="Cambria" pitchFamily="34" charset="0"/>
                <a:ea typeface="Cambria" pitchFamily="34" charset="-122"/>
                <a:cs typeface="Cambria" pitchFamily="34" charset="-120"/>
              </a:rPr>
              <a:t>"Where would the stretching be the worst — near the middle or near the top and bottom?"</a:t>
            </a:r>
            <a:endParaRPr lang="en-US" sz="1200" dirty="0"/>
          </a:p>
        </p:txBody>
      </p:sp>
      <p:sp>
        <p:nvSpPr>
          <p:cNvPr id="9" name="Shape 7"/>
          <p:cNvSpPr/>
          <p:nvPr/>
        </p:nvSpPr>
        <p:spPr>
          <a:xfrm>
            <a:off x="1300480" y="5201920"/>
            <a:ext cx="13329920" cy="2926080"/>
          </a:xfrm>
          <a:prstGeom prst="roundRect">
            <a:avLst>
              <a:gd name="adj" fmla="val 6667"/>
            </a:avLst>
          </a:prstGeom>
          <a:solidFill>
            <a:srgbClr val="FFFFFF"/>
          </a:solidFill>
          <a:ln w="12700">
            <a:solidFill>
              <a:srgbClr val="7A88A8"/>
            </a:solidFill>
            <a:prstDash val="dash"/>
          </a:ln>
        </p:spPr>
      </p:sp>
      <p:sp>
        <p:nvSpPr>
          <p:cNvPr id="10" name="Text 8"/>
          <p:cNvSpPr/>
          <p:nvPr/>
        </p:nvSpPr>
        <p:spPr>
          <a:xfrm>
            <a:off x="1625600" y="5364480"/>
            <a:ext cx="12679680" cy="406400"/>
          </a:xfrm>
          <a:prstGeom prst="rect">
            <a:avLst/>
          </a:prstGeom>
          <a:noFill/>
          <a:ln/>
        </p:spPr>
        <p:txBody>
          <a:bodyPr wrap="square" rtlCol="0" anchor="ctr"/>
          <a:lstStyle/>
          <a:p>
            <a:pPr indent="0" marL="0">
              <a:buNone/>
            </a:pPr>
            <a:r>
              <a:rPr lang="en-US" sz="900" b="1" spc="150" kern="0" dirty="0">
                <a:solidFill>
                  <a:srgbClr val="1A8A7D"/>
                </a:solidFill>
                <a:latin typeface="Calibri" pitchFamily="34" charset="0"/>
                <a:ea typeface="Calibri" pitchFamily="34" charset="-122"/>
                <a:cs typeface="Calibri" pitchFamily="34" charset="-120"/>
              </a:rPr>
              <a:t>THINKING MOVE: NOTICE &gt; NAME &gt; NARRATE</a:t>
            </a:r>
            <a:endParaRPr lang="en-US" sz="900" dirty="0"/>
          </a:p>
        </p:txBody>
      </p:sp>
      <p:sp>
        <p:nvSpPr>
          <p:cNvPr id="11" name="Text 9"/>
          <p:cNvSpPr/>
          <p:nvPr/>
        </p:nvSpPr>
        <p:spPr>
          <a:xfrm>
            <a:off x="1625600" y="5852160"/>
            <a:ext cx="12679680" cy="1950720"/>
          </a:xfrm>
          <a:prstGeom prst="rect">
            <a:avLst/>
          </a:prstGeom>
          <a:noFill/>
          <a:ln/>
        </p:spPr>
        <p:txBody>
          <a:bodyPr wrap="square" rtlCol="0" anchor="t"/>
          <a:lstStyle/>
          <a:p>
            <a:pPr indent="0" marL="0">
              <a:lnSpc>
                <a:spcPct val="130000"/>
              </a:lnSpc>
              <a:buNone/>
            </a:pPr>
            <a:r>
              <a:rPr lang="en-US" sz="1300" b="1" dirty="0">
                <a:solidFill>
                  <a:srgbClr val="0E1C42"/>
                </a:solidFill>
                <a:latin typeface="Calibri" pitchFamily="34" charset="0"/>
                <a:ea typeface="Calibri" pitchFamily="34" charset="-122"/>
                <a:cs typeface="Calibri" pitchFamily="34" charset="-120"/>
              </a:rPr>
              <a:t>Notice: </a:t>
            </a:r>
            <a:pPr indent="0" marL="0">
              <a:lnSpc>
                <a:spcPct val="130000"/>
              </a:lnSpc>
              <a:buNone/>
            </a:pPr>
            <a:r>
              <a:rPr lang="en-US" sz="1300" dirty="0">
                <a:solidFill>
                  <a:srgbClr val="0E1C42"/>
                </a:solidFill>
                <a:latin typeface="Calibri" pitchFamily="34" charset="0"/>
                <a:ea typeface="Calibri" pitchFamily="34" charset="-122"/>
                <a:cs typeface="Calibri" pitchFamily="34" charset="-120"/>
              </a:rPr>
              <a:t>What do you see happening to the shape?
</a:t>
            </a:r>
            <a:pPr indent="0" marL="0">
              <a:lnSpc>
                <a:spcPct val="130000"/>
              </a:lnSpc>
              <a:buNone/>
            </a:pPr>
            <a:r>
              <a:rPr lang="en-US" sz="1300" b="1" dirty="0">
                <a:solidFill>
                  <a:srgbClr val="0E1C42"/>
                </a:solidFill>
                <a:latin typeface="Calibri" pitchFamily="34" charset="0"/>
                <a:ea typeface="Calibri" pitchFamily="34" charset="-122"/>
                <a:cs typeface="Calibri" pitchFamily="34" charset="-120"/>
              </a:rPr>
              <a:t>Name: </a:t>
            </a:r>
            <a:pPr indent="0" marL="0">
              <a:lnSpc>
                <a:spcPct val="130000"/>
              </a:lnSpc>
              <a:buNone/>
            </a:pPr>
            <a:r>
              <a:rPr lang="en-US" sz="1300" dirty="0">
                <a:solidFill>
                  <a:srgbClr val="0E1C42"/>
                </a:solidFill>
                <a:latin typeface="Calibri" pitchFamily="34" charset="0"/>
                <a:ea typeface="Calibri" pitchFamily="34" charset="-122"/>
                <a:cs typeface="Calibri" pitchFamily="34" charset="-120"/>
              </a:rPr>
              <a:t>What would you call that change?
</a:t>
            </a:r>
            <a:pPr indent="0" marL="0">
              <a:lnSpc>
                <a:spcPct val="130000"/>
              </a:lnSpc>
              <a:buNone/>
            </a:pPr>
            <a:r>
              <a:rPr lang="en-US" sz="1300" b="1" dirty="0">
                <a:solidFill>
                  <a:srgbClr val="0E1C42"/>
                </a:solidFill>
                <a:latin typeface="Calibri" pitchFamily="34" charset="0"/>
                <a:ea typeface="Calibri" pitchFamily="34" charset="-122"/>
                <a:cs typeface="Calibri" pitchFamily="34" charset="-120"/>
              </a:rPr>
              <a:t>Narrate: </a:t>
            </a:r>
            <a:pPr indent="0" marL="0">
              <a:lnSpc>
                <a:spcPct val="130000"/>
              </a:lnSpc>
              <a:buNone/>
            </a:pPr>
            <a:r>
              <a:rPr lang="en-US" sz="1300" dirty="0">
                <a:solidFill>
                  <a:srgbClr val="0E1C42"/>
                </a:solidFill>
                <a:latin typeface="Calibri" pitchFamily="34" charset="0"/>
                <a:ea typeface="Calibri" pitchFamily="34" charset="-122"/>
                <a:cs typeface="Calibri" pitchFamily="34" charset="-120"/>
              </a:rPr>
              <a:t>Explain why you think it happens.</a:t>
            </a:r>
            <a:endParaRPr lang="en-US" sz="13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hape 0"/>
          <p:cNvSpPr/>
          <p:nvPr/>
        </p:nvSpPr>
        <p:spPr>
          <a:xfrm>
            <a:off x="0" y="0"/>
            <a:ext cx="16256000" cy="97536"/>
          </a:xfrm>
          <a:prstGeom prst="rect">
            <a:avLst/>
          </a:prstGeom>
          <a:solidFill>
            <a:srgbClr val="0E1C42"/>
          </a:solidFill>
          <a:ln/>
        </p:spPr>
      </p:sp>
      <p:sp>
        <p:nvSpPr>
          <p:cNvPr id="3" name="Shape 1"/>
          <p:cNvSpPr/>
          <p:nvPr/>
        </p:nvSpPr>
        <p:spPr>
          <a:xfrm>
            <a:off x="0" y="97536"/>
            <a:ext cx="16256000" cy="9046464"/>
          </a:xfrm>
          <a:prstGeom prst="rect">
            <a:avLst/>
          </a:prstGeom>
          <a:solidFill>
            <a:srgbClr val="FFFFFF"/>
          </a:solidFill>
          <a:ln/>
        </p:spPr>
      </p:sp>
      <p:sp>
        <p:nvSpPr>
          <p:cNvPr id="4" name="Shape 2"/>
          <p:cNvSpPr/>
          <p:nvPr/>
        </p:nvSpPr>
        <p:spPr>
          <a:xfrm>
            <a:off x="487680" y="406400"/>
            <a:ext cx="97536" cy="568960"/>
          </a:xfrm>
          <a:prstGeom prst="rect">
            <a:avLst/>
          </a:prstGeom>
          <a:solidFill>
            <a:srgbClr val="D4943A"/>
          </a:solidFill>
          <a:ln/>
        </p:spPr>
      </p:sp>
      <p:sp>
        <p:nvSpPr>
          <p:cNvPr id="5" name="Text 3"/>
          <p:cNvSpPr/>
          <p:nvPr/>
        </p:nvSpPr>
        <p:spPr>
          <a:xfrm>
            <a:off x="894080" y="406400"/>
            <a:ext cx="13817600" cy="568960"/>
          </a:xfrm>
          <a:prstGeom prst="rect">
            <a:avLst/>
          </a:prstGeom>
          <a:noFill/>
          <a:ln/>
        </p:spPr>
        <p:txBody>
          <a:bodyPr wrap="square" rtlCol="0" anchor="ctr"/>
          <a:lstStyle/>
          <a:p>
            <a:pPr indent="0" marL="0">
              <a:buNone/>
            </a:pPr>
            <a:r>
              <a:rPr lang="en-US" sz="1800" b="1" dirty="0">
                <a:solidFill>
                  <a:srgbClr val="0E1C42"/>
                </a:solidFill>
                <a:latin typeface="Cambria" pitchFamily="34" charset="0"/>
                <a:ea typeface="Cambria" pitchFamily="34" charset="-122"/>
                <a:cs typeface="Cambria" pitchFamily="34" charset="-120"/>
              </a:rPr>
              <a:t>Discovery Reveal: Distortion Defined</a:t>
            </a:r>
            <a:endParaRPr lang="en-US" sz="1800" dirty="0"/>
          </a:p>
        </p:txBody>
      </p:sp>
      <p:sp>
        <p:nvSpPr>
          <p:cNvPr id="6" name="Shape 4"/>
          <p:cNvSpPr/>
          <p:nvPr/>
        </p:nvSpPr>
        <p:spPr>
          <a:xfrm>
            <a:off x="894080" y="1300480"/>
            <a:ext cx="14305280" cy="1625600"/>
          </a:xfrm>
          <a:prstGeom prst="roundRect">
            <a:avLst>
              <a:gd name="adj" fmla="val 12000"/>
            </a:avLst>
          </a:prstGeom>
          <a:solidFill>
            <a:srgbClr val="EAF8FD"/>
          </a:solidFill>
          <a:ln w="19050">
            <a:solidFill>
              <a:srgbClr val="55C8E8"/>
            </a:solidFill>
            <a:prstDash val="solid"/>
          </a:ln>
        </p:spPr>
      </p:sp>
      <p:sp>
        <p:nvSpPr>
          <p:cNvPr id="7" name="Text 5"/>
          <p:cNvSpPr/>
          <p:nvPr/>
        </p:nvSpPr>
        <p:spPr>
          <a:xfrm>
            <a:off x="1219200" y="1381760"/>
            <a:ext cx="3251200" cy="357632"/>
          </a:xfrm>
          <a:prstGeom prst="rect">
            <a:avLst/>
          </a:prstGeom>
          <a:noFill/>
          <a:ln/>
        </p:spPr>
        <p:txBody>
          <a:bodyPr wrap="square" rtlCol="0" anchor="ctr"/>
          <a:lstStyle/>
          <a:p>
            <a:pPr indent="0" marL="0">
              <a:buNone/>
            </a:pPr>
            <a:r>
              <a:rPr lang="en-US" sz="900" b="1" spc="150" kern="0" dirty="0">
                <a:solidFill>
                  <a:srgbClr val="1A8A7D"/>
                </a:solidFill>
                <a:latin typeface="Calibri" pitchFamily="34" charset="0"/>
                <a:ea typeface="Calibri" pitchFamily="34" charset="-122"/>
                <a:cs typeface="Calibri" pitchFamily="34" charset="-120"/>
              </a:rPr>
              <a:t>VOCABULARY</a:t>
            </a:r>
            <a:endParaRPr lang="en-US" sz="900" dirty="0"/>
          </a:p>
        </p:txBody>
      </p:sp>
      <p:sp>
        <p:nvSpPr>
          <p:cNvPr id="8" name="Text 6"/>
          <p:cNvSpPr/>
          <p:nvPr/>
        </p:nvSpPr>
        <p:spPr>
          <a:xfrm>
            <a:off x="1219200" y="1788160"/>
            <a:ext cx="13655040" cy="894080"/>
          </a:xfrm>
          <a:prstGeom prst="rect">
            <a:avLst/>
          </a:prstGeom>
          <a:noFill/>
          <a:ln/>
        </p:spPr>
        <p:txBody>
          <a:bodyPr wrap="square" rtlCol="0" anchor="t"/>
          <a:lstStyle/>
          <a:p>
            <a:pPr indent="0" marL="0">
              <a:buNone/>
            </a:pPr>
            <a:r>
              <a:rPr lang="en-US" sz="1500" b="1" dirty="0">
                <a:solidFill>
                  <a:srgbClr val="0E1C42"/>
                </a:solidFill>
                <a:latin typeface="Calibri" pitchFamily="34" charset="0"/>
                <a:ea typeface="Calibri" pitchFamily="34" charset="-122"/>
                <a:cs typeface="Calibri" pitchFamily="34" charset="-120"/>
              </a:rPr>
              <a:t>Distortion: </a:t>
            </a:r>
            <a:pPr indent="0" marL="0">
              <a:buNone/>
            </a:pPr>
            <a:r>
              <a:rPr lang="en-US" sz="1500" dirty="0">
                <a:solidFill>
                  <a:srgbClr val="0E1C42"/>
                </a:solidFill>
                <a:latin typeface="Calibri" pitchFamily="34" charset="0"/>
                <a:ea typeface="Calibri" pitchFamily="34" charset="-122"/>
                <a:cs typeface="Calibri" pitchFamily="34" charset="-120"/>
              </a:rPr>
              <a:t>When shapes or sizes on a map look different from real life.</a:t>
            </a:r>
            <a:endParaRPr lang="en-US" sz="1500" dirty="0"/>
          </a:p>
        </p:txBody>
      </p:sp>
      <p:sp>
        <p:nvSpPr>
          <p:cNvPr id="9" name="Text 7"/>
          <p:cNvSpPr/>
          <p:nvPr/>
        </p:nvSpPr>
        <p:spPr>
          <a:xfrm>
            <a:off x="894080" y="3413760"/>
            <a:ext cx="14305280" cy="325120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rgbClr val="0E1C42"/>
                </a:solidFill>
                <a:latin typeface="Calibri" pitchFamily="34" charset="0"/>
                <a:ea typeface="Calibri" pitchFamily="34" charset="-122"/>
                <a:cs typeface="Calibri" pitchFamily="34" charset="-120"/>
              </a:rPr>
              <a:t>The Earth is round, but maps are flat.</a:t>
            </a:r>
            <a:endParaRPr lang="en-US" sz="1400" dirty="0"/>
          </a:p>
          <a:p>
            <a:pPr marL="342900" indent="-342900">
              <a:spcAft>
                <a:spcPts val="600"/>
              </a:spcAft>
              <a:buSzPct val="100000"/>
              <a:buChar char="•"/>
            </a:pPr>
            <a:r>
              <a:rPr lang="en-US" sz="1400" dirty="0">
                <a:solidFill>
                  <a:srgbClr val="0E1C42"/>
                </a:solidFill>
                <a:latin typeface="Calibri" pitchFamily="34" charset="0"/>
                <a:ea typeface="Calibri" pitchFamily="34" charset="-122"/>
                <a:cs typeface="Calibri" pitchFamily="34" charset="-120"/>
              </a:rPr>
              <a:t>Flattening a round surface causes stretching and squeezing.</a:t>
            </a:r>
            <a:endParaRPr lang="en-US" sz="1400" dirty="0"/>
          </a:p>
          <a:p>
            <a:pPr marL="342900" indent="-342900">
              <a:spcAft>
                <a:spcPts val="600"/>
              </a:spcAft>
              <a:buSzPct val="100000"/>
              <a:buChar char="•"/>
            </a:pPr>
            <a:r>
              <a:rPr lang="en-US" sz="1400" dirty="0">
                <a:solidFill>
                  <a:srgbClr val="0E1C42"/>
                </a:solidFill>
                <a:latin typeface="Calibri" pitchFamily="34" charset="0"/>
                <a:ea typeface="Calibri" pitchFamily="34" charset="-122"/>
                <a:cs typeface="Calibri" pitchFamily="34" charset="-120"/>
              </a:rPr>
              <a:t>That stretching and squeezing is called distortion.</a:t>
            </a:r>
            <a:endParaRPr lang="en-US" sz="1400" dirty="0"/>
          </a:p>
          <a:p>
            <a:pPr marL="342900" indent="-342900">
              <a:spcAft>
                <a:spcPts val="600"/>
              </a:spcAft>
              <a:buSzPct val="100000"/>
              <a:buChar char="•"/>
            </a:pPr>
            <a:r>
              <a:rPr lang="en-US" sz="1400" dirty="0">
                <a:solidFill>
                  <a:srgbClr val="0E1C42"/>
                </a:solidFill>
                <a:latin typeface="Calibri" pitchFamily="34" charset="0"/>
                <a:ea typeface="Calibri" pitchFamily="34" charset="-122"/>
                <a:cs typeface="Calibri" pitchFamily="34" charset="-120"/>
              </a:rPr>
              <a:t>It’s like pressing an orange peel flat — the shape has to change.</a:t>
            </a:r>
            <a:endParaRPr lang="en-US" sz="1400" dirty="0"/>
          </a:p>
        </p:txBody>
      </p:sp>
      <p:sp>
        <p:nvSpPr>
          <p:cNvPr id="10" name="Shape 8"/>
          <p:cNvSpPr/>
          <p:nvPr/>
        </p:nvSpPr>
        <p:spPr>
          <a:xfrm>
            <a:off x="894080" y="6827520"/>
            <a:ext cx="14305280" cy="1300480"/>
          </a:xfrm>
          <a:prstGeom prst="roundRect">
            <a:avLst>
              <a:gd name="adj" fmla="val 12500"/>
            </a:avLst>
          </a:prstGeom>
          <a:solidFill>
            <a:srgbClr val="E3F8ED"/>
          </a:solidFill>
          <a:ln w="12700">
            <a:solidFill>
              <a:srgbClr val="34B76F"/>
            </a:solidFill>
            <a:prstDash val="solid"/>
          </a:ln>
        </p:spPr>
      </p:sp>
      <p:sp>
        <p:nvSpPr>
          <p:cNvPr id="11" name="Text 9"/>
          <p:cNvSpPr/>
          <p:nvPr/>
        </p:nvSpPr>
        <p:spPr>
          <a:xfrm>
            <a:off x="1219200" y="6990080"/>
            <a:ext cx="13655040" cy="975360"/>
          </a:xfrm>
          <a:prstGeom prst="rect">
            <a:avLst/>
          </a:prstGeom>
          <a:noFill/>
          <a:ln/>
        </p:spPr>
        <p:txBody>
          <a:bodyPr wrap="square" rtlCol="0" anchor="ctr"/>
          <a:lstStyle/>
          <a:p>
            <a:pPr indent="0" marL="0">
              <a:lnSpc>
                <a:spcPct val="120000"/>
              </a:lnSpc>
              <a:buNone/>
            </a:pPr>
            <a:r>
              <a:rPr lang="en-US" sz="1200" b="1" dirty="0">
                <a:solidFill>
                  <a:srgbClr val="0E1C42"/>
                </a:solidFill>
                <a:latin typeface="Calibri" pitchFamily="34" charset="0"/>
                <a:ea typeface="Calibri" pitchFamily="34" charset="-122"/>
                <a:cs typeface="Calibri" pitchFamily="34" charset="-120"/>
              </a:rPr>
              <a:t>KEY IDEA: Every flat map has some distortion because you cannot make a round surface perfectly flat without stretching or squeezing something.</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hape 0"/>
          <p:cNvSpPr/>
          <p:nvPr/>
        </p:nvSpPr>
        <p:spPr>
          <a:xfrm>
            <a:off x="0" y="0"/>
            <a:ext cx="16256000" cy="97536"/>
          </a:xfrm>
          <a:prstGeom prst="rect">
            <a:avLst/>
          </a:prstGeom>
          <a:solidFill>
            <a:srgbClr val="0E1C42"/>
          </a:solidFill>
          <a:ln/>
        </p:spPr>
      </p:sp>
      <p:sp>
        <p:nvSpPr>
          <p:cNvPr id="3" name="Shape 1"/>
          <p:cNvSpPr/>
          <p:nvPr/>
        </p:nvSpPr>
        <p:spPr>
          <a:xfrm>
            <a:off x="0" y="97536"/>
            <a:ext cx="16256000" cy="9046464"/>
          </a:xfrm>
          <a:prstGeom prst="rect">
            <a:avLst/>
          </a:prstGeom>
          <a:solidFill>
            <a:srgbClr val="FFFFFF"/>
          </a:solidFill>
          <a:ln/>
        </p:spPr>
      </p:sp>
      <p:sp>
        <p:nvSpPr>
          <p:cNvPr id="4" name="Shape 2"/>
          <p:cNvSpPr/>
          <p:nvPr/>
        </p:nvSpPr>
        <p:spPr>
          <a:xfrm>
            <a:off x="487680" y="406400"/>
            <a:ext cx="97536" cy="568960"/>
          </a:xfrm>
          <a:prstGeom prst="rect">
            <a:avLst/>
          </a:prstGeom>
          <a:solidFill>
            <a:srgbClr val="D4943A"/>
          </a:solidFill>
          <a:ln/>
        </p:spPr>
      </p:sp>
      <p:sp>
        <p:nvSpPr>
          <p:cNvPr id="5" name="Text 3"/>
          <p:cNvSpPr/>
          <p:nvPr/>
        </p:nvSpPr>
        <p:spPr>
          <a:xfrm>
            <a:off x="894080" y="406400"/>
            <a:ext cx="13817600" cy="568960"/>
          </a:xfrm>
          <a:prstGeom prst="rect">
            <a:avLst/>
          </a:prstGeom>
          <a:noFill/>
          <a:ln/>
        </p:spPr>
        <p:txBody>
          <a:bodyPr wrap="square" rtlCol="0" anchor="ctr"/>
          <a:lstStyle/>
          <a:p>
            <a:pPr indent="0" marL="0">
              <a:buNone/>
            </a:pPr>
            <a:r>
              <a:rPr lang="en-US" sz="1800" b="1" dirty="0">
                <a:solidFill>
                  <a:srgbClr val="0E1C42"/>
                </a:solidFill>
                <a:latin typeface="Cambria" pitchFamily="34" charset="0"/>
                <a:ea typeface="Cambria" pitchFamily="34" charset="-122"/>
                <a:cs typeface="Cambria" pitchFamily="34" charset="-120"/>
              </a:rPr>
              <a:t>Discovery Clue 2: Greenland vs. Africa</a:t>
            </a:r>
            <a:endParaRPr lang="en-US" sz="1800" dirty="0"/>
          </a:p>
        </p:txBody>
      </p:sp>
      <p:sp>
        <p:nvSpPr>
          <p:cNvPr id="6" name="Text 4"/>
          <p:cNvSpPr/>
          <p:nvPr/>
        </p:nvSpPr>
        <p:spPr>
          <a:xfrm>
            <a:off x="894080" y="1170432"/>
            <a:ext cx="14305280" cy="568960"/>
          </a:xfrm>
          <a:prstGeom prst="rect">
            <a:avLst/>
          </a:prstGeom>
          <a:noFill/>
          <a:ln/>
        </p:spPr>
        <p:txBody>
          <a:bodyPr wrap="square" rtlCol="0" anchor="ctr"/>
          <a:lstStyle/>
          <a:p>
            <a:pPr indent="0" marL="0">
              <a:buNone/>
            </a:pPr>
            <a:r>
              <a:rPr lang="en-US" sz="1300" dirty="0">
                <a:solidFill>
                  <a:srgbClr val="0E1C42"/>
                </a:solidFill>
                <a:latin typeface="Calibri" pitchFamily="34" charset="0"/>
                <a:ea typeface="Calibri" pitchFamily="34" charset="-122"/>
                <a:cs typeface="Calibri" pitchFamily="34" charset="-120"/>
              </a:rPr>
              <a:t>Let’s go back to our museum mystery. Look at these two views:</a:t>
            </a:r>
            <a:endParaRPr lang="en-US" sz="1300" dirty="0"/>
          </a:p>
        </p:txBody>
      </p:sp>
      <p:sp>
        <p:nvSpPr>
          <p:cNvPr id="7" name="Shape 5"/>
          <p:cNvSpPr/>
          <p:nvPr/>
        </p:nvSpPr>
        <p:spPr>
          <a:xfrm>
            <a:off x="894080" y="1950720"/>
            <a:ext cx="6664960" cy="4064000"/>
          </a:xfrm>
          <a:prstGeom prst="roundRect">
            <a:avLst>
              <a:gd name="adj" fmla="val 4800"/>
            </a:avLst>
          </a:prstGeom>
          <a:solidFill>
            <a:srgbClr val="E2E8F4"/>
          </a:solidFill>
          <a:ln w="19050">
            <a:solidFill>
              <a:srgbClr val="B0B8CC"/>
            </a:solidFill>
            <a:prstDash val="dash"/>
          </a:ln>
        </p:spPr>
      </p:sp>
      <p:sp>
        <p:nvSpPr>
          <p:cNvPr id="8" name="Text 6"/>
          <p:cNvSpPr/>
          <p:nvPr/>
        </p:nvSpPr>
        <p:spPr>
          <a:xfrm>
            <a:off x="894080" y="1950720"/>
            <a:ext cx="6664960" cy="487680"/>
          </a:xfrm>
          <a:prstGeom prst="rect">
            <a:avLst/>
          </a:prstGeom>
          <a:noFill/>
          <a:ln/>
        </p:spPr>
        <p:txBody>
          <a:bodyPr wrap="square" lIns="1016" tIns="0" rIns="0" bIns="0" rtlCol="0" anchor="t"/>
          <a:lstStyle/>
          <a:p>
            <a:pPr algn="ctr" indent="0" marL="0">
              <a:buNone/>
            </a:pPr>
            <a:r>
              <a:rPr lang="en-US" sz="900" b="1" spc="150" kern="0" dirty="0">
                <a:solidFill>
                  <a:srgbClr val="7A88A8"/>
                </a:solidFill>
                <a:latin typeface="Calibri" pitchFamily="34" charset="0"/>
                <a:ea typeface="Calibri" pitchFamily="34" charset="-122"/>
                <a:cs typeface="Calibri" pitchFamily="34" charset="-120"/>
              </a:rPr>
              <a:t>INSERT IMAGE</a:t>
            </a:r>
            <a:endParaRPr lang="en-US" sz="900" dirty="0"/>
          </a:p>
        </p:txBody>
      </p:sp>
      <p:sp>
        <p:nvSpPr>
          <p:cNvPr id="9" name="Text 7"/>
          <p:cNvSpPr/>
          <p:nvPr/>
        </p:nvSpPr>
        <p:spPr>
          <a:xfrm>
            <a:off x="1137920" y="2438400"/>
            <a:ext cx="6177280" cy="3413760"/>
          </a:xfrm>
          <a:prstGeom prst="rect">
            <a:avLst/>
          </a:prstGeom>
          <a:noFill/>
          <a:ln/>
        </p:spPr>
        <p:txBody>
          <a:bodyPr wrap="square" rtlCol="0" anchor="ctr"/>
          <a:lstStyle/>
          <a:p>
            <a:pPr algn="ctr" indent="0" marL="0">
              <a:buNone/>
            </a:pPr>
            <a:r>
              <a:rPr lang="en-US" sz="1100" i="1" dirty="0">
                <a:solidFill>
                  <a:srgbClr val="7A88A8"/>
                </a:solidFill>
                <a:latin typeface="Calibri" pitchFamily="34" charset="0"/>
                <a:ea typeface="Calibri" pitchFamily="34" charset="-122"/>
                <a:cs typeface="Calibri" pitchFamily="34" charset="-120"/>
              </a:rPr>
              <a:t>Globe view showing Greenland and Africa — Greenland appears much smaller than Africa</a:t>
            </a:r>
            <a:endParaRPr lang="en-US" sz="1100" dirty="0"/>
          </a:p>
        </p:txBody>
      </p:sp>
      <p:sp>
        <p:nvSpPr>
          <p:cNvPr id="10" name="Shape 8"/>
          <p:cNvSpPr/>
          <p:nvPr/>
        </p:nvSpPr>
        <p:spPr>
          <a:xfrm>
            <a:off x="8128000" y="1950720"/>
            <a:ext cx="6990080" cy="4064000"/>
          </a:xfrm>
          <a:prstGeom prst="roundRect">
            <a:avLst>
              <a:gd name="adj" fmla="val 4800"/>
            </a:avLst>
          </a:prstGeom>
          <a:solidFill>
            <a:srgbClr val="E2E8F4"/>
          </a:solidFill>
          <a:ln w="19050">
            <a:solidFill>
              <a:srgbClr val="B0B8CC"/>
            </a:solidFill>
            <a:prstDash val="dash"/>
          </a:ln>
        </p:spPr>
      </p:sp>
      <p:sp>
        <p:nvSpPr>
          <p:cNvPr id="11" name="Text 9"/>
          <p:cNvSpPr/>
          <p:nvPr/>
        </p:nvSpPr>
        <p:spPr>
          <a:xfrm>
            <a:off x="8128000" y="1950720"/>
            <a:ext cx="6990080" cy="487680"/>
          </a:xfrm>
          <a:prstGeom prst="rect">
            <a:avLst/>
          </a:prstGeom>
          <a:noFill/>
          <a:ln/>
        </p:spPr>
        <p:txBody>
          <a:bodyPr wrap="square" lIns="1016" tIns="0" rIns="0" bIns="0" rtlCol="0" anchor="t"/>
          <a:lstStyle/>
          <a:p>
            <a:pPr algn="ctr" indent="0" marL="0">
              <a:buNone/>
            </a:pPr>
            <a:r>
              <a:rPr lang="en-US" sz="900" b="1" spc="150" kern="0" dirty="0">
                <a:solidFill>
                  <a:srgbClr val="7A88A8"/>
                </a:solidFill>
                <a:latin typeface="Calibri" pitchFamily="34" charset="0"/>
                <a:ea typeface="Calibri" pitchFamily="34" charset="-122"/>
                <a:cs typeface="Calibri" pitchFamily="34" charset="-120"/>
              </a:rPr>
              <a:t>INSERT IMAGE</a:t>
            </a:r>
            <a:endParaRPr lang="en-US" sz="900" dirty="0"/>
          </a:p>
        </p:txBody>
      </p:sp>
      <p:sp>
        <p:nvSpPr>
          <p:cNvPr id="12" name="Text 10"/>
          <p:cNvSpPr/>
          <p:nvPr/>
        </p:nvSpPr>
        <p:spPr>
          <a:xfrm>
            <a:off x="8371840" y="2438400"/>
            <a:ext cx="6502400" cy="3413760"/>
          </a:xfrm>
          <a:prstGeom prst="rect">
            <a:avLst/>
          </a:prstGeom>
          <a:noFill/>
          <a:ln/>
        </p:spPr>
        <p:txBody>
          <a:bodyPr wrap="square" rtlCol="0" anchor="ctr"/>
          <a:lstStyle/>
          <a:p>
            <a:pPr algn="ctr" indent="0" marL="0">
              <a:buNone/>
            </a:pPr>
            <a:r>
              <a:rPr lang="en-US" sz="1100" i="1" dirty="0">
                <a:solidFill>
                  <a:srgbClr val="7A88A8"/>
                </a:solidFill>
                <a:latin typeface="Calibri" pitchFamily="34" charset="0"/>
                <a:ea typeface="Calibri" pitchFamily="34" charset="-122"/>
                <a:cs typeface="Calibri" pitchFamily="34" charset="-120"/>
              </a:rPr>
              <a:t>Flat map (Mercator projection) showing Greenland and Africa — Greenland appears almost the same size as Africa</a:t>
            </a:r>
            <a:endParaRPr lang="en-US" sz="1100" dirty="0"/>
          </a:p>
        </p:txBody>
      </p:sp>
      <p:sp>
        <p:nvSpPr>
          <p:cNvPr id="13" name="Text 11"/>
          <p:cNvSpPr/>
          <p:nvPr/>
        </p:nvSpPr>
        <p:spPr>
          <a:xfrm>
            <a:off x="894080" y="6096000"/>
            <a:ext cx="6664960" cy="487680"/>
          </a:xfrm>
          <a:prstGeom prst="rect">
            <a:avLst/>
          </a:prstGeom>
          <a:noFill/>
          <a:ln/>
        </p:spPr>
        <p:txBody>
          <a:bodyPr wrap="square" rtlCol="0" anchor="ctr"/>
          <a:lstStyle/>
          <a:p>
            <a:pPr algn="ctr" indent="0" marL="0">
              <a:buNone/>
            </a:pPr>
            <a:r>
              <a:rPr lang="en-US" sz="1100" b="1" dirty="0">
                <a:solidFill>
                  <a:srgbClr val="1A8A7D"/>
                </a:solidFill>
                <a:latin typeface="Calibri" pitchFamily="34" charset="0"/>
                <a:ea typeface="Calibri" pitchFamily="34" charset="-122"/>
                <a:cs typeface="Calibri" pitchFamily="34" charset="-120"/>
              </a:rPr>
              <a:t>GLOBE VIEW</a:t>
            </a:r>
            <a:endParaRPr lang="en-US" sz="1100" dirty="0"/>
          </a:p>
        </p:txBody>
      </p:sp>
      <p:sp>
        <p:nvSpPr>
          <p:cNvPr id="14" name="Text 12"/>
          <p:cNvSpPr/>
          <p:nvPr/>
        </p:nvSpPr>
        <p:spPr>
          <a:xfrm>
            <a:off x="8128000" y="6096000"/>
            <a:ext cx="6990080" cy="487680"/>
          </a:xfrm>
          <a:prstGeom prst="rect">
            <a:avLst/>
          </a:prstGeom>
          <a:noFill/>
          <a:ln/>
        </p:spPr>
        <p:txBody>
          <a:bodyPr wrap="square" rtlCol="0" anchor="ctr"/>
          <a:lstStyle/>
          <a:p>
            <a:pPr algn="ctr" indent="0" marL="0">
              <a:buNone/>
            </a:pPr>
            <a:r>
              <a:rPr lang="en-US" sz="1100" b="1" dirty="0">
                <a:solidFill>
                  <a:srgbClr val="E8636B"/>
                </a:solidFill>
                <a:latin typeface="Calibri" pitchFamily="34" charset="0"/>
                <a:ea typeface="Calibri" pitchFamily="34" charset="-122"/>
                <a:cs typeface="Calibri" pitchFamily="34" charset="-120"/>
              </a:rPr>
              <a:t>FLAT MAP VIEW</a:t>
            </a:r>
            <a:endParaRPr lang="en-US" sz="1100" dirty="0"/>
          </a:p>
        </p:txBody>
      </p:sp>
      <p:sp>
        <p:nvSpPr>
          <p:cNvPr id="15" name="Shape 13"/>
          <p:cNvSpPr/>
          <p:nvPr/>
        </p:nvSpPr>
        <p:spPr>
          <a:xfrm>
            <a:off x="894080" y="6827520"/>
            <a:ext cx="14630400" cy="1625600"/>
          </a:xfrm>
          <a:prstGeom prst="roundRect">
            <a:avLst>
              <a:gd name="adj" fmla="val 15000"/>
            </a:avLst>
          </a:prstGeom>
          <a:solidFill>
            <a:srgbClr val="1A2D5A"/>
          </a:solidFill>
          <a:ln/>
          <a:effectLst>
            <a:outerShdw sx="100000" sy="100000" kx="0" ky="0" algn="bl" rotWithShape="0" blurRad="101600" dist="38100" dir="8100000">
              <a:srgbClr val="000000">
                <a:alpha val="20000"/>
              </a:srgbClr>
            </a:outerShdw>
          </a:effectLst>
        </p:spPr>
      </p:sp>
      <p:sp>
        <p:nvSpPr>
          <p:cNvPr id="16" name="Text 14"/>
          <p:cNvSpPr/>
          <p:nvPr/>
        </p:nvSpPr>
        <p:spPr>
          <a:xfrm>
            <a:off x="1219200" y="6990080"/>
            <a:ext cx="13980160" cy="455168"/>
          </a:xfrm>
          <a:prstGeom prst="rect">
            <a:avLst/>
          </a:prstGeom>
          <a:noFill/>
          <a:ln/>
        </p:spPr>
        <p:txBody>
          <a:bodyPr wrap="square" lIns="0" tIns="0" rIns="0" bIns="0" rtlCol="0" anchor="ctr"/>
          <a:lstStyle/>
          <a:p>
            <a:pPr indent="0" marL="0">
              <a:buNone/>
            </a:pPr>
            <a:r>
              <a:rPr lang="en-US" sz="900" b="1" spc="150" kern="0" dirty="0">
                <a:solidFill>
                  <a:srgbClr val="55C8E8"/>
                </a:solidFill>
                <a:latin typeface="Calibri" pitchFamily="34" charset="0"/>
                <a:ea typeface="Calibri" pitchFamily="34" charset="-122"/>
                <a:cs typeface="Calibri" pitchFamily="34" charset="-120"/>
              </a:rPr>
              <a:t>SOCRATIC QUESTIONS</a:t>
            </a:r>
            <a:endParaRPr lang="en-US" sz="900" dirty="0"/>
          </a:p>
        </p:txBody>
      </p:sp>
      <p:sp>
        <p:nvSpPr>
          <p:cNvPr id="17" name="Text 15"/>
          <p:cNvSpPr/>
          <p:nvPr/>
        </p:nvSpPr>
        <p:spPr>
          <a:xfrm>
            <a:off x="1219200" y="7445248"/>
            <a:ext cx="13980160" cy="845312"/>
          </a:xfrm>
          <a:prstGeom prst="rect">
            <a:avLst/>
          </a:prstGeom>
          <a:noFill/>
          <a:ln/>
        </p:spPr>
        <p:txBody>
          <a:bodyPr wrap="square" lIns="0" tIns="0" rIns="0" bIns="0" rtlCol="0" anchor="t"/>
          <a:lstStyle/>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Which one is telling the truth about the size of Greenland?</a:t>
            </a:r>
            <a:endParaRPr lang="en-US" sz="1100" dirty="0"/>
          </a:p>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Why might the flat map show Greenland differently than the globe?</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Shape 0"/>
          <p:cNvSpPr/>
          <p:nvPr/>
        </p:nvSpPr>
        <p:spPr>
          <a:xfrm>
            <a:off x="0" y="0"/>
            <a:ext cx="16256000" cy="97536"/>
          </a:xfrm>
          <a:prstGeom prst="rect">
            <a:avLst/>
          </a:prstGeom>
          <a:solidFill>
            <a:srgbClr val="0E1C42"/>
          </a:solidFill>
          <a:ln/>
        </p:spPr>
      </p:sp>
      <p:sp>
        <p:nvSpPr>
          <p:cNvPr id="3" name="Shape 1"/>
          <p:cNvSpPr/>
          <p:nvPr/>
        </p:nvSpPr>
        <p:spPr>
          <a:xfrm>
            <a:off x="0" y="97536"/>
            <a:ext cx="16256000" cy="9046464"/>
          </a:xfrm>
          <a:prstGeom prst="rect">
            <a:avLst/>
          </a:prstGeom>
          <a:solidFill>
            <a:srgbClr val="FFF8F0"/>
          </a:solidFill>
          <a:ln/>
        </p:spPr>
      </p:sp>
      <p:sp>
        <p:nvSpPr>
          <p:cNvPr id="4" name="Shape 2"/>
          <p:cNvSpPr/>
          <p:nvPr/>
        </p:nvSpPr>
        <p:spPr>
          <a:xfrm>
            <a:off x="487680" y="406400"/>
            <a:ext cx="97536" cy="568960"/>
          </a:xfrm>
          <a:prstGeom prst="rect">
            <a:avLst/>
          </a:prstGeom>
          <a:solidFill>
            <a:srgbClr val="D4943A"/>
          </a:solidFill>
          <a:ln/>
        </p:spPr>
      </p:sp>
      <p:sp>
        <p:nvSpPr>
          <p:cNvPr id="5" name="Text 3"/>
          <p:cNvSpPr/>
          <p:nvPr/>
        </p:nvSpPr>
        <p:spPr>
          <a:xfrm>
            <a:off x="894080" y="406400"/>
            <a:ext cx="13817600" cy="568960"/>
          </a:xfrm>
          <a:prstGeom prst="rect">
            <a:avLst/>
          </a:prstGeom>
          <a:noFill/>
          <a:ln/>
        </p:spPr>
        <p:txBody>
          <a:bodyPr wrap="square" rtlCol="0" anchor="ctr"/>
          <a:lstStyle/>
          <a:p>
            <a:pPr indent="0" marL="0">
              <a:buNone/>
            </a:pPr>
            <a:r>
              <a:rPr lang="en-US" sz="1800" b="1" dirty="0">
                <a:solidFill>
                  <a:srgbClr val="0E1C42"/>
                </a:solidFill>
                <a:latin typeface="Cambria" pitchFamily="34" charset="0"/>
                <a:ea typeface="Cambria" pitchFamily="34" charset="-122"/>
                <a:cs typeface="Cambria" pitchFamily="34" charset="-120"/>
              </a:rPr>
              <a:t>Size Detective</a:t>
            </a:r>
            <a:endParaRPr lang="en-US" sz="1800" dirty="0"/>
          </a:p>
        </p:txBody>
      </p:sp>
      <p:sp>
        <p:nvSpPr>
          <p:cNvPr id="6" name="Shape 4"/>
          <p:cNvSpPr/>
          <p:nvPr/>
        </p:nvSpPr>
        <p:spPr>
          <a:xfrm>
            <a:off x="1300480" y="1381760"/>
            <a:ext cx="13329920" cy="2600960"/>
          </a:xfrm>
          <a:prstGeom prst="roundRect">
            <a:avLst>
              <a:gd name="adj" fmla="val 7500"/>
            </a:avLst>
          </a:prstGeom>
          <a:solidFill>
            <a:srgbClr val="FFF3DC"/>
          </a:solidFill>
          <a:ln w="19050">
            <a:solidFill>
              <a:srgbClr val="F5E6C8"/>
            </a:solidFill>
            <a:prstDash val="solid"/>
          </a:ln>
        </p:spPr>
      </p:sp>
      <p:sp>
        <p:nvSpPr>
          <p:cNvPr id="7" name="Text 5"/>
          <p:cNvSpPr/>
          <p:nvPr/>
        </p:nvSpPr>
        <p:spPr>
          <a:xfrm>
            <a:off x="1544320" y="1479296"/>
            <a:ext cx="12842240" cy="357632"/>
          </a:xfrm>
          <a:prstGeom prst="rect">
            <a:avLst/>
          </a:prstGeom>
          <a:noFill/>
          <a:ln/>
        </p:spPr>
        <p:txBody>
          <a:bodyPr wrap="square" lIns="0" tIns="0" rIns="0" bIns="0" rtlCol="0" anchor="ctr"/>
          <a:lstStyle/>
          <a:p>
            <a:pPr indent="0" marL="0">
              <a:buNone/>
            </a:pPr>
            <a:r>
              <a:rPr lang="en-US" sz="900" b="1" spc="150" kern="0" dirty="0">
                <a:solidFill>
                  <a:srgbClr val="D4943A"/>
                </a:solidFill>
                <a:latin typeface="Calibri" pitchFamily="34" charset="0"/>
                <a:ea typeface="Calibri" pitchFamily="34" charset="-122"/>
                <a:cs typeface="Calibri" pitchFamily="34" charset="-120"/>
              </a:rPr>
              <a:t>CHAT FRAME</a:t>
            </a:r>
            <a:endParaRPr lang="en-US" sz="900" dirty="0"/>
          </a:p>
        </p:txBody>
      </p:sp>
      <p:sp>
        <p:nvSpPr>
          <p:cNvPr id="8" name="Text 6"/>
          <p:cNvSpPr/>
          <p:nvPr/>
        </p:nvSpPr>
        <p:spPr>
          <a:xfrm>
            <a:off x="1544320" y="1836928"/>
            <a:ext cx="12842240" cy="2032000"/>
          </a:xfrm>
          <a:prstGeom prst="rect">
            <a:avLst/>
          </a:prstGeom>
          <a:noFill/>
          <a:ln/>
        </p:spPr>
        <p:txBody>
          <a:bodyPr wrap="square" lIns="0" tIns="0" rIns="0" bIns="0" rtlCol="0" anchor="t"/>
          <a:lstStyle/>
          <a:p>
            <a:pPr indent="0" marL="0">
              <a:spcAft>
                <a:spcPts val="500"/>
              </a:spcAft>
              <a:buNone/>
            </a:pPr>
            <a:r>
              <a:rPr lang="en-US" sz="1200" i="1" dirty="0">
                <a:solidFill>
                  <a:srgbClr val="5A4A3A"/>
                </a:solidFill>
                <a:latin typeface="Cambria" pitchFamily="34" charset="0"/>
                <a:ea typeface="Cambria" pitchFamily="34" charset="-122"/>
                <a:cs typeface="Cambria" pitchFamily="34" charset="-120"/>
              </a:rPr>
              <a:t>"On the globe, Greenland looks _____ compared to Africa."</a:t>
            </a:r>
            <a:endParaRPr lang="en-US" sz="1200" dirty="0"/>
          </a:p>
          <a:p>
            <a:pPr indent="0" marL="0">
              <a:spcAft>
                <a:spcPts val="500"/>
              </a:spcAft>
              <a:buNone/>
            </a:pPr>
            <a:r>
              <a:rPr lang="en-US" sz="1200" i="1" dirty="0">
                <a:solidFill>
                  <a:srgbClr val="5A4A3A"/>
                </a:solidFill>
                <a:latin typeface="Cambria" pitchFamily="34" charset="0"/>
                <a:ea typeface="Cambria" pitchFamily="34" charset="-122"/>
                <a:cs typeface="Cambria" pitchFamily="34" charset="-120"/>
              </a:rPr>
              <a:t>"On the flat map, Greenland looks _____ compared to Africa."</a:t>
            </a:r>
            <a:endParaRPr lang="en-US" sz="1200" dirty="0"/>
          </a:p>
        </p:txBody>
      </p:sp>
      <p:sp>
        <p:nvSpPr>
          <p:cNvPr id="9" name="Shape 7"/>
          <p:cNvSpPr/>
          <p:nvPr/>
        </p:nvSpPr>
        <p:spPr>
          <a:xfrm>
            <a:off x="1300480" y="4470400"/>
            <a:ext cx="13329920" cy="3738880"/>
          </a:xfrm>
          <a:prstGeom prst="roundRect">
            <a:avLst>
              <a:gd name="adj" fmla="val 5217"/>
            </a:avLst>
          </a:prstGeom>
          <a:solidFill>
            <a:srgbClr val="FFFFFF"/>
          </a:solidFill>
          <a:ln/>
        </p:spPr>
      </p:sp>
      <p:sp>
        <p:nvSpPr>
          <p:cNvPr id="10" name="Text 8"/>
          <p:cNvSpPr/>
          <p:nvPr/>
        </p:nvSpPr>
        <p:spPr>
          <a:xfrm>
            <a:off x="1625600" y="4632960"/>
            <a:ext cx="12679680" cy="357632"/>
          </a:xfrm>
          <a:prstGeom prst="rect">
            <a:avLst/>
          </a:prstGeom>
          <a:noFill/>
          <a:ln/>
        </p:spPr>
        <p:txBody>
          <a:bodyPr wrap="square" rtlCol="0" anchor="ctr"/>
          <a:lstStyle/>
          <a:p>
            <a:pPr indent="0" marL="0">
              <a:buNone/>
            </a:pPr>
            <a:r>
              <a:rPr lang="en-US" sz="900" b="1" spc="150" kern="0" dirty="0">
                <a:solidFill>
                  <a:srgbClr val="1A8A7D"/>
                </a:solidFill>
                <a:latin typeface="Calibri" pitchFamily="34" charset="0"/>
                <a:ea typeface="Calibri" pitchFamily="34" charset="-122"/>
                <a:cs typeface="Calibri" pitchFamily="34" charset="-120"/>
              </a:rPr>
              <a:t>WORD BANK</a:t>
            </a:r>
            <a:endParaRPr lang="en-US" sz="900" dirty="0"/>
          </a:p>
        </p:txBody>
      </p:sp>
      <p:sp>
        <p:nvSpPr>
          <p:cNvPr id="11" name="Text 9"/>
          <p:cNvSpPr/>
          <p:nvPr/>
        </p:nvSpPr>
        <p:spPr>
          <a:xfrm>
            <a:off x="1625600" y="5201920"/>
            <a:ext cx="12679680" cy="1300480"/>
          </a:xfrm>
          <a:prstGeom prst="rect">
            <a:avLst/>
          </a:prstGeom>
          <a:noFill/>
          <a:ln/>
        </p:spPr>
        <p:txBody>
          <a:bodyPr wrap="square" rtlCol="0" anchor="ctr"/>
          <a:lstStyle/>
          <a:p>
            <a:pPr algn="ctr" indent="0" marL="0">
              <a:buNone/>
            </a:pPr>
            <a:r>
              <a:rPr lang="en-US" sz="1600" b="1" dirty="0">
                <a:solidFill>
                  <a:srgbClr val="1A8A7D"/>
                </a:solidFill>
                <a:latin typeface="Calibri" pitchFamily="34" charset="0"/>
                <a:ea typeface="Calibri" pitchFamily="34" charset="-122"/>
                <a:cs typeface="Calibri" pitchFamily="34" charset="-120"/>
              </a:rPr>
              <a:t>much smaller     </a:t>
            </a:r>
            <a:pPr algn="ctr" indent="0" marL="0">
              <a:buNone/>
            </a:pPr>
            <a:r>
              <a:rPr lang="en-US" sz="1600" b="1" dirty="0">
                <a:solidFill>
                  <a:srgbClr val="0E1C42"/>
                </a:solidFill>
                <a:latin typeface="Calibri" pitchFamily="34" charset="0"/>
                <a:ea typeface="Calibri" pitchFamily="34" charset="-122"/>
                <a:cs typeface="Calibri" pitchFamily="34" charset="-120"/>
              </a:rPr>
              <a:t>a little smaller     </a:t>
            </a:r>
            <a:pPr algn="ctr" indent="0" marL="0">
              <a:buNone/>
            </a:pPr>
            <a:r>
              <a:rPr lang="en-US" sz="1600" b="1" dirty="0">
                <a:solidFill>
                  <a:srgbClr val="D4943A"/>
                </a:solidFill>
                <a:latin typeface="Calibri" pitchFamily="34" charset="0"/>
                <a:ea typeface="Calibri" pitchFamily="34" charset="-122"/>
                <a:cs typeface="Calibri" pitchFamily="34" charset="-120"/>
              </a:rPr>
              <a:t>about the same size     </a:t>
            </a:r>
            <a:pPr algn="ctr" indent="0" marL="0">
              <a:buNone/>
            </a:pPr>
            <a:r>
              <a:rPr lang="en-US" sz="1600" b="1" dirty="0">
                <a:solidFill>
                  <a:srgbClr val="E8636B"/>
                </a:solidFill>
                <a:latin typeface="Calibri" pitchFamily="34" charset="0"/>
                <a:ea typeface="Calibri" pitchFamily="34" charset="-122"/>
                <a:cs typeface="Calibri" pitchFamily="34" charset="-120"/>
              </a:rPr>
              <a:t>bigger     </a:t>
            </a:r>
            <a:pPr algn="ctr" indent="0" marL="0">
              <a:buNone/>
            </a:pPr>
            <a:r>
              <a:rPr lang="en-US" sz="1600" b="1" dirty="0">
                <a:solidFill>
                  <a:srgbClr val="8B6FC0"/>
                </a:solidFill>
                <a:latin typeface="Calibri" pitchFamily="34" charset="0"/>
                <a:ea typeface="Calibri" pitchFamily="34" charset="-122"/>
                <a:cs typeface="Calibri" pitchFamily="34" charset="-120"/>
              </a:rPr>
              <a:t>much bigger</a:t>
            </a:r>
            <a:endParaRPr lang="en-US" sz="1600" dirty="0"/>
          </a:p>
        </p:txBody>
      </p:sp>
      <p:sp>
        <p:nvSpPr>
          <p:cNvPr id="12" name="Text 10"/>
          <p:cNvSpPr/>
          <p:nvPr/>
        </p:nvSpPr>
        <p:spPr>
          <a:xfrm>
            <a:off x="1625600" y="6664960"/>
            <a:ext cx="12679680" cy="1300480"/>
          </a:xfrm>
          <a:prstGeom prst="rect">
            <a:avLst/>
          </a:prstGeom>
          <a:noFill/>
          <a:ln/>
        </p:spPr>
        <p:txBody>
          <a:bodyPr wrap="square" rtlCol="0" anchor="ctr"/>
          <a:lstStyle/>
          <a:p>
            <a:pPr indent="0" marL="0">
              <a:lnSpc>
                <a:spcPct val="120000"/>
              </a:lnSpc>
              <a:buNone/>
            </a:pPr>
            <a:r>
              <a:rPr lang="en-US" sz="1200" i="1" dirty="0">
                <a:solidFill>
                  <a:srgbClr val="7A88A8"/>
                </a:solidFill>
                <a:latin typeface="Calibri" pitchFamily="34" charset="0"/>
                <a:ea typeface="Calibri" pitchFamily="34" charset="-122"/>
                <a:cs typeface="Calibri" pitchFamily="34" charset="-120"/>
              </a:rPr>
              <a:t>The globe shows the truth. On a globe, Greenland is much smaller than Africa.</a:t>
            </a:r>
            <a:endParaRPr lang="en-US" sz="1200" dirty="0"/>
          </a:p>
          <a:p>
            <a:pPr indent="0" marL="0">
              <a:lnSpc>
                <a:spcPct val="120000"/>
              </a:lnSpc>
              <a:buNone/>
            </a:pPr>
            <a:r>
              <a:rPr lang="en-US" sz="1200" i="1" dirty="0">
                <a:solidFill>
                  <a:srgbClr val="7A88A8"/>
                </a:solidFill>
                <a:latin typeface="Calibri" pitchFamily="34" charset="0"/>
                <a:ea typeface="Calibri" pitchFamily="34" charset="-122"/>
                <a:cs typeface="Calibri" pitchFamily="34" charset="-120"/>
              </a:rPr>
              <a:t>On a flat map, Greenland looks almost as big as Africa because of distortion!</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Shape 0"/>
          <p:cNvSpPr/>
          <p:nvPr/>
        </p:nvSpPr>
        <p:spPr>
          <a:xfrm>
            <a:off x="0" y="0"/>
            <a:ext cx="16256000" cy="97536"/>
          </a:xfrm>
          <a:prstGeom prst="rect">
            <a:avLst/>
          </a:prstGeom>
          <a:solidFill>
            <a:srgbClr val="0E1C42"/>
          </a:solidFill>
          <a:ln/>
        </p:spPr>
      </p:sp>
      <p:sp>
        <p:nvSpPr>
          <p:cNvPr id="3" name="Shape 1"/>
          <p:cNvSpPr/>
          <p:nvPr/>
        </p:nvSpPr>
        <p:spPr>
          <a:xfrm>
            <a:off x="0" y="97536"/>
            <a:ext cx="16256000" cy="9046464"/>
          </a:xfrm>
          <a:prstGeom prst="rect">
            <a:avLst/>
          </a:prstGeom>
          <a:solidFill>
            <a:srgbClr val="FFFFFF"/>
          </a:solidFill>
          <a:ln/>
        </p:spPr>
      </p:sp>
      <p:sp>
        <p:nvSpPr>
          <p:cNvPr id="4" name="Shape 2"/>
          <p:cNvSpPr/>
          <p:nvPr/>
        </p:nvSpPr>
        <p:spPr>
          <a:xfrm>
            <a:off x="487680" y="406400"/>
            <a:ext cx="97536" cy="568960"/>
          </a:xfrm>
          <a:prstGeom prst="rect">
            <a:avLst/>
          </a:prstGeom>
          <a:solidFill>
            <a:srgbClr val="D4943A"/>
          </a:solidFill>
          <a:ln/>
        </p:spPr>
      </p:sp>
      <p:sp>
        <p:nvSpPr>
          <p:cNvPr id="5" name="Text 3"/>
          <p:cNvSpPr/>
          <p:nvPr/>
        </p:nvSpPr>
        <p:spPr>
          <a:xfrm>
            <a:off x="894080" y="406400"/>
            <a:ext cx="13817600" cy="568960"/>
          </a:xfrm>
          <a:prstGeom prst="rect">
            <a:avLst/>
          </a:prstGeom>
          <a:noFill/>
          <a:ln/>
        </p:spPr>
        <p:txBody>
          <a:bodyPr wrap="square" rtlCol="0" anchor="ctr"/>
          <a:lstStyle/>
          <a:p>
            <a:pPr indent="0" marL="0">
              <a:buNone/>
            </a:pPr>
            <a:r>
              <a:rPr lang="en-US" sz="1800" b="1" dirty="0">
                <a:solidFill>
                  <a:srgbClr val="0E1C42"/>
                </a:solidFill>
                <a:latin typeface="Cambria" pitchFamily="34" charset="0"/>
                <a:ea typeface="Cambria" pitchFamily="34" charset="-122"/>
                <a:cs typeface="Cambria" pitchFamily="34" charset="-120"/>
              </a:rPr>
              <a:t>The Poles Get Stretched</a:t>
            </a:r>
            <a:endParaRPr lang="en-US" sz="1800" dirty="0"/>
          </a:p>
        </p:txBody>
      </p:sp>
      <p:sp>
        <p:nvSpPr>
          <p:cNvPr id="6" name="Text 4"/>
          <p:cNvSpPr/>
          <p:nvPr/>
        </p:nvSpPr>
        <p:spPr>
          <a:xfrm>
            <a:off x="894080" y="1300480"/>
            <a:ext cx="8453120" cy="357632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rgbClr val="0E1C42"/>
                </a:solidFill>
                <a:latin typeface="Calibri" pitchFamily="34" charset="0"/>
                <a:ea typeface="Calibri" pitchFamily="34" charset="-122"/>
                <a:cs typeface="Calibri" pitchFamily="34" charset="-120"/>
              </a:rPr>
              <a:t>Flat maps stretch places near the North and South Poles the most.</a:t>
            </a:r>
            <a:endParaRPr lang="en-US" sz="1400" dirty="0"/>
          </a:p>
          <a:p>
            <a:pPr marL="342900" indent="-342900">
              <a:spcAft>
                <a:spcPts val="600"/>
              </a:spcAft>
              <a:buSzPct val="100000"/>
              <a:buChar char="•"/>
            </a:pPr>
            <a:r>
              <a:rPr lang="en-US" sz="1400" dirty="0">
                <a:solidFill>
                  <a:srgbClr val="0E1C42"/>
                </a:solidFill>
                <a:latin typeface="Calibri" pitchFamily="34" charset="0"/>
                <a:ea typeface="Calibri" pitchFamily="34" charset="-122"/>
                <a:cs typeface="Calibri" pitchFamily="34" charset="-120"/>
              </a:rPr>
              <a:t>Greenland is near the North Pole — so it gets stretched HUGE!</a:t>
            </a:r>
            <a:endParaRPr lang="en-US" sz="1400" dirty="0"/>
          </a:p>
          <a:p>
            <a:pPr marL="342900" indent="-342900">
              <a:spcAft>
                <a:spcPts val="600"/>
              </a:spcAft>
              <a:buSzPct val="100000"/>
              <a:buChar char="•"/>
            </a:pPr>
            <a:r>
              <a:rPr lang="en-US" sz="1400" dirty="0">
                <a:solidFill>
                  <a:srgbClr val="0E1C42"/>
                </a:solidFill>
                <a:latin typeface="Calibri" pitchFamily="34" charset="0"/>
                <a:ea typeface="Calibri" pitchFamily="34" charset="-122"/>
                <a:cs typeface="Calibri" pitchFamily="34" charset="-120"/>
              </a:rPr>
              <a:t>Places near the equator (middle) are more accurate on flat maps.</a:t>
            </a:r>
            <a:endParaRPr lang="en-US" sz="1400" dirty="0"/>
          </a:p>
          <a:p>
            <a:pPr marL="342900" indent="-342900">
              <a:spcAft>
                <a:spcPts val="600"/>
              </a:spcAft>
              <a:buSzPct val="100000"/>
              <a:buChar char="•"/>
            </a:pPr>
            <a:r>
              <a:rPr lang="en-US" sz="1400" dirty="0">
                <a:solidFill>
                  <a:srgbClr val="0E1C42"/>
                </a:solidFill>
                <a:latin typeface="Calibri" pitchFamily="34" charset="0"/>
                <a:ea typeface="Calibri" pitchFamily="34" charset="-122"/>
                <a:cs typeface="Calibri" pitchFamily="34" charset="-120"/>
              </a:rPr>
              <a:t>The farther from the equator, the more distortion.</a:t>
            </a:r>
            <a:endParaRPr lang="en-US" sz="1400" dirty="0"/>
          </a:p>
        </p:txBody>
      </p:sp>
      <p:sp>
        <p:nvSpPr>
          <p:cNvPr id="7" name="Shape 5"/>
          <p:cNvSpPr/>
          <p:nvPr/>
        </p:nvSpPr>
        <p:spPr>
          <a:xfrm>
            <a:off x="9753600" y="1137920"/>
            <a:ext cx="5689600" cy="3901440"/>
          </a:xfrm>
          <a:prstGeom prst="roundRect">
            <a:avLst>
              <a:gd name="adj" fmla="val 5000"/>
            </a:avLst>
          </a:prstGeom>
          <a:solidFill>
            <a:srgbClr val="E2E8F4"/>
          </a:solidFill>
          <a:ln w="19050">
            <a:solidFill>
              <a:srgbClr val="B0B8CC"/>
            </a:solidFill>
            <a:prstDash val="dash"/>
          </a:ln>
        </p:spPr>
      </p:sp>
      <p:sp>
        <p:nvSpPr>
          <p:cNvPr id="8" name="Text 6"/>
          <p:cNvSpPr/>
          <p:nvPr/>
        </p:nvSpPr>
        <p:spPr>
          <a:xfrm>
            <a:off x="9753600" y="1137920"/>
            <a:ext cx="5689600" cy="487680"/>
          </a:xfrm>
          <a:prstGeom prst="rect">
            <a:avLst/>
          </a:prstGeom>
          <a:noFill/>
          <a:ln/>
        </p:spPr>
        <p:txBody>
          <a:bodyPr wrap="square" lIns="1016" tIns="0" rIns="0" bIns="0" rtlCol="0" anchor="t"/>
          <a:lstStyle/>
          <a:p>
            <a:pPr algn="ctr" indent="0" marL="0">
              <a:buNone/>
            </a:pPr>
            <a:r>
              <a:rPr lang="en-US" sz="900" b="1" spc="150" kern="0" dirty="0">
                <a:solidFill>
                  <a:srgbClr val="7A88A8"/>
                </a:solidFill>
                <a:latin typeface="Calibri" pitchFamily="34" charset="0"/>
                <a:ea typeface="Calibri" pitchFamily="34" charset="-122"/>
                <a:cs typeface="Calibri" pitchFamily="34" charset="-120"/>
              </a:rPr>
              <a:t>INSERT IMAGE</a:t>
            </a:r>
            <a:endParaRPr lang="en-US" sz="900" dirty="0"/>
          </a:p>
        </p:txBody>
      </p:sp>
      <p:sp>
        <p:nvSpPr>
          <p:cNvPr id="9" name="Text 7"/>
          <p:cNvSpPr/>
          <p:nvPr/>
        </p:nvSpPr>
        <p:spPr>
          <a:xfrm>
            <a:off x="9997440" y="1625600"/>
            <a:ext cx="5201920" cy="3251200"/>
          </a:xfrm>
          <a:prstGeom prst="rect">
            <a:avLst/>
          </a:prstGeom>
          <a:noFill/>
          <a:ln/>
        </p:spPr>
        <p:txBody>
          <a:bodyPr wrap="square" rtlCol="0" anchor="ctr"/>
          <a:lstStyle/>
          <a:p>
            <a:pPr algn="ctr" indent="0" marL="0">
              <a:buNone/>
            </a:pPr>
            <a:r>
              <a:rPr lang="en-US" sz="1100" i="1" dirty="0">
                <a:solidFill>
                  <a:srgbClr val="7A88A8"/>
                </a:solidFill>
                <a:latin typeface="Calibri" pitchFamily="34" charset="0"/>
                <a:ea typeface="Calibri" pitchFamily="34" charset="-122"/>
                <a:cs typeface="Calibri" pitchFamily="34" charset="-120"/>
              </a:rPr>
              <a:t>Diagram showing how distortion increases near the poles on a flat map — arrows stretching near top and bottom, less stretching near the middle/equator</a:t>
            </a:r>
            <a:endParaRPr lang="en-US" sz="1100" dirty="0"/>
          </a:p>
        </p:txBody>
      </p:sp>
      <p:sp>
        <p:nvSpPr>
          <p:cNvPr id="10" name="Shape 8"/>
          <p:cNvSpPr/>
          <p:nvPr/>
        </p:nvSpPr>
        <p:spPr>
          <a:xfrm>
            <a:off x="894080" y="5364480"/>
            <a:ext cx="14630400" cy="1950720"/>
          </a:xfrm>
          <a:prstGeom prst="roundRect">
            <a:avLst>
              <a:gd name="adj" fmla="val 10000"/>
            </a:avLst>
          </a:prstGeom>
          <a:solidFill>
            <a:srgbClr val="FFF3DC"/>
          </a:solidFill>
          <a:ln w="19050">
            <a:solidFill>
              <a:srgbClr val="D4943A"/>
            </a:solidFill>
            <a:prstDash val="solid"/>
          </a:ln>
        </p:spPr>
      </p:sp>
      <p:sp>
        <p:nvSpPr>
          <p:cNvPr id="11" name="Text 9"/>
          <p:cNvSpPr/>
          <p:nvPr/>
        </p:nvSpPr>
        <p:spPr>
          <a:xfrm>
            <a:off x="1219200" y="5494528"/>
            <a:ext cx="3251200" cy="357632"/>
          </a:xfrm>
          <a:prstGeom prst="rect">
            <a:avLst/>
          </a:prstGeom>
          <a:noFill/>
          <a:ln/>
        </p:spPr>
        <p:txBody>
          <a:bodyPr wrap="square" rtlCol="0" anchor="ctr"/>
          <a:lstStyle/>
          <a:p>
            <a:pPr indent="0" marL="0">
              <a:buNone/>
            </a:pPr>
            <a:r>
              <a:rPr lang="en-US" sz="900" b="1" spc="150" kern="0" dirty="0">
                <a:solidFill>
                  <a:srgbClr val="D4943A"/>
                </a:solidFill>
                <a:latin typeface="Calibri" pitchFamily="34" charset="0"/>
                <a:ea typeface="Calibri" pitchFamily="34" charset="-122"/>
                <a:cs typeface="Calibri" pitchFamily="34" charset="-120"/>
              </a:rPr>
              <a:t>DISCOVERY FACT</a:t>
            </a:r>
            <a:endParaRPr lang="en-US" sz="900" dirty="0"/>
          </a:p>
        </p:txBody>
      </p:sp>
      <p:sp>
        <p:nvSpPr>
          <p:cNvPr id="12" name="Text 10"/>
          <p:cNvSpPr/>
          <p:nvPr/>
        </p:nvSpPr>
        <p:spPr>
          <a:xfrm>
            <a:off x="1219200" y="5933440"/>
            <a:ext cx="13980160" cy="1219200"/>
          </a:xfrm>
          <a:prstGeom prst="rect">
            <a:avLst/>
          </a:prstGeom>
          <a:noFill/>
          <a:ln/>
        </p:spPr>
        <p:txBody>
          <a:bodyPr wrap="square" rtlCol="0" anchor="ctr"/>
          <a:lstStyle/>
          <a:p>
            <a:pPr indent="0" marL="0">
              <a:lnSpc>
                <a:spcPct val="120000"/>
              </a:lnSpc>
              <a:buNone/>
            </a:pPr>
            <a:r>
              <a:rPr lang="en-US" sz="1300" dirty="0">
                <a:solidFill>
                  <a:srgbClr val="0E1C42"/>
                </a:solidFill>
                <a:latin typeface="Calibri" pitchFamily="34" charset="0"/>
                <a:ea typeface="Calibri" pitchFamily="34" charset="-122"/>
                <a:cs typeface="Calibri" pitchFamily="34" charset="-120"/>
              </a:rPr>
              <a:t>Africa is actually bigger than the United States, China, India, and most of Europe combined — but on many flat maps, it doesn’t look that way because of distortion!</a:t>
            </a:r>
            <a:endParaRPr lang="en-US" sz="1300" dirty="0"/>
          </a:p>
        </p:txBody>
      </p:sp>
      <p:sp>
        <p:nvSpPr>
          <p:cNvPr id="13" name="Shape 11"/>
          <p:cNvSpPr/>
          <p:nvPr/>
        </p:nvSpPr>
        <p:spPr>
          <a:xfrm>
            <a:off x="894080" y="7640320"/>
            <a:ext cx="14630400" cy="975360"/>
          </a:xfrm>
          <a:prstGeom prst="roundRect">
            <a:avLst>
              <a:gd name="adj" fmla="val 16667"/>
            </a:avLst>
          </a:prstGeom>
          <a:solidFill>
            <a:srgbClr val="0E1C42"/>
          </a:solidFill>
          <a:ln/>
        </p:spPr>
      </p:sp>
      <p:sp>
        <p:nvSpPr>
          <p:cNvPr id="14" name="Text 12"/>
          <p:cNvSpPr/>
          <p:nvPr/>
        </p:nvSpPr>
        <p:spPr>
          <a:xfrm>
            <a:off x="1219200" y="7770368"/>
            <a:ext cx="13980160" cy="731520"/>
          </a:xfrm>
          <a:prstGeom prst="rect">
            <a:avLst/>
          </a:prstGeom>
          <a:noFill/>
          <a:ln/>
        </p:spPr>
        <p:txBody>
          <a:bodyPr wrap="square"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KEY IDEA: The farther a place is from the equator, the more it gets stretched on a flat map.</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Shape 0"/>
          <p:cNvSpPr/>
          <p:nvPr/>
        </p:nvSpPr>
        <p:spPr>
          <a:xfrm>
            <a:off x="0" y="0"/>
            <a:ext cx="16256000" cy="97536"/>
          </a:xfrm>
          <a:prstGeom prst="rect">
            <a:avLst/>
          </a:prstGeom>
          <a:solidFill>
            <a:srgbClr val="0E1C42"/>
          </a:solidFill>
          <a:ln/>
        </p:spPr>
      </p:sp>
      <p:sp>
        <p:nvSpPr>
          <p:cNvPr id="3" name="Shape 1"/>
          <p:cNvSpPr/>
          <p:nvPr/>
        </p:nvSpPr>
        <p:spPr>
          <a:xfrm>
            <a:off x="0" y="97536"/>
            <a:ext cx="16256000" cy="9046464"/>
          </a:xfrm>
          <a:prstGeom prst="rect">
            <a:avLst/>
          </a:prstGeom>
          <a:solidFill>
            <a:srgbClr val="FFFFFF"/>
          </a:solidFill>
          <a:ln/>
        </p:spPr>
      </p:sp>
      <p:sp>
        <p:nvSpPr>
          <p:cNvPr id="4" name="Shape 2"/>
          <p:cNvSpPr/>
          <p:nvPr/>
        </p:nvSpPr>
        <p:spPr>
          <a:xfrm>
            <a:off x="487680" y="406400"/>
            <a:ext cx="97536" cy="568960"/>
          </a:xfrm>
          <a:prstGeom prst="rect">
            <a:avLst/>
          </a:prstGeom>
          <a:solidFill>
            <a:srgbClr val="D4943A"/>
          </a:solidFill>
          <a:ln/>
        </p:spPr>
      </p:sp>
      <p:sp>
        <p:nvSpPr>
          <p:cNvPr id="5" name="Text 3"/>
          <p:cNvSpPr/>
          <p:nvPr/>
        </p:nvSpPr>
        <p:spPr>
          <a:xfrm>
            <a:off x="894080" y="406400"/>
            <a:ext cx="13817600" cy="568960"/>
          </a:xfrm>
          <a:prstGeom prst="rect">
            <a:avLst/>
          </a:prstGeom>
          <a:noFill/>
          <a:ln/>
        </p:spPr>
        <p:txBody>
          <a:bodyPr wrap="square" rtlCol="0" anchor="ctr"/>
          <a:lstStyle/>
          <a:p>
            <a:pPr indent="0" marL="0">
              <a:buNone/>
            </a:pPr>
            <a:r>
              <a:rPr lang="en-US" sz="1800" b="1" dirty="0">
                <a:solidFill>
                  <a:srgbClr val="0E1C42"/>
                </a:solidFill>
                <a:latin typeface="Cambria" pitchFamily="34" charset="0"/>
                <a:ea typeface="Cambria" pitchFamily="34" charset="-122"/>
                <a:cs typeface="Cambria" pitchFamily="34" charset="-120"/>
              </a:rPr>
              <a:t>Discovery Clue 3: Globe vs. Flat Map</a:t>
            </a:r>
            <a:endParaRPr lang="en-US" sz="1800" dirty="0"/>
          </a:p>
        </p:txBody>
      </p:sp>
      <p:sp>
        <p:nvSpPr>
          <p:cNvPr id="6" name="Text 4"/>
          <p:cNvSpPr/>
          <p:nvPr/>
        </p:nvSpPr>
        <p:spPr>
          <a:xfrm>
            <a:off x="894080" y="1170432"/>
            <a:ext cx="14305280" cy="568960"/>
          </a:xfrm>
          <a:prstGeom prst="rect">
            <a:avLst/>
          </a:prstGeom>
          <a:noFill/>
          <a:ln/>
        </p:spPr>
        <p:txBody>
          <a:bodyPr wrap="square" rtlCol="0" anchor="ctr"/>
          <a:lstStyle/>
          <a:p>
            <a:pPr indent="0" marL="0">
              <a:buNone/>
            </a:pPr>
            <a:r>
              <a:rPr lang="en-US" sz="1300" dirty="0">
                <a:solidFill>
                  <a:srgbClr val="0E1C42"/>
                </a:solidFill>
                <a:latin typeface="Calibri" pitchFamily="34" charset="0"/>
                <a:ea typeface="Calibri" pitchFamily="34" charset="-122"/>
                <a:cs typeface="Calibri" pitchFamily="34" charset="-120"/>
              </a:rPr>
              <a:t>If flat maps have distortion, why do we use them at all? Let’s compare:</a:t>
            </a:r>
            <a:endParaRPr lang="en-US" sz="1300" dirty="0"/>
          </a:p>
        </p:txBody>
      </p:sp>
      <p:sp>
        <p:nvSpPr>
          <p:cNvPr id="7" name="Shape 5"/>
          <p:cNvSpPr/>
          <p:nvPr/>
        </p:nvSpPr>
        <p:spPr>
          <a:xfrm>
            <a:off x="894080" y="1950720"/>
            <a:ext cx="6746240" cy="4551680"/>
          </a:xfrm>
          <a:prstGeom prst="roundRect">
            <a:avLst>
              <a:gd name="adj" fmla="val 4286"/>
            </a:avLst>
          </a:prstGeom>
          <a:solidFill>
            <a:srgbClr val="EAF8FD"/>
          </a:solidFill>
          <a:ln w="12700">
            <a:solidFill>
              <a:srgbClr val="55C8E8"/>
            </a:solidFill>
            <a:prstDash val="solid"/>
          </a:ln>
        </p:spPr>
      </p:sp>
      <p:sp>
        <p:nvSpPr>
          <p:cNvPr id="8" name="Text 6"/>
          <p:cNvSpPr/>
          <p:nvPr/>
        </p:nvSpPr>
        <p:spPr>
          <a:xfrm>
            <a:off x="1219200" y="2080768"/>
            <a:ext cx="6096000" cy="455168"/>
          </a:xfrm>
          <a:prstGeom prst="rect">
            <a:avLst/>
          </a:prstGeom>
          <a:noFill/>
          <a:ln/>
        </p:spPr>
        <p:txBody>
          <a:bodyPr wrap="square" rtlCol="0" anchor="ctr"/>
          <a:lstStyle/>
          <a:p>
            <a:pPr indent="0" marL="0">
              <a:buNone/>
            </a:pPr>
            <a:r>
              <a:rPr lang="en-US" sz="1200" b="1" spc="150" kern="0" dirty="0">
                <a:solidFill>
                  <a:srgbClr val="1A8A7D"/>
                </a:solidFill>
                <a:latin typeface="Calibri" pitchFamily="34" charset="0"/>
                <a:ea typeface="Calibri" pitchFamily="34" charset="-122"/>
                <a:cs typeface="Calibri" pitchFamily="34" charset="-120"/>
              </a:rPr>
              <a:t>GLOBE</a:t>
            </a:r>
            <a:endParaRPr lang="en-US" sz="1200" dirty="0"/>
          </a:p>
        </p:txBody>
      </p:sp>
      <p:sp>
        <p:nvSpPr>
          <p:cNvPr id="9" name="Shape 7"/>
          <p:cNvSpPr/>
          <p:nvPr/>
        </p:nvSpPr>
        <p:spPr>
          <a:xfrm>
            <a:off x="1219200" y="2600960"/>
            <a:ext cx="6096000" cy="3576320"/>
          </a:xfrm>
          <a:prstGeom prst="roundRect">
            <a:avLst>
              <a:gd name="adj" fmla="val 5455"/>
            </a:avLst>
          </a:prstGeom>
          <a:solidFill>
            <a:srgbClr val="E2E8F4"/>
          </a:solidFill>
          <a:ln w="19050">
            <a:solidFill>
              <a:srgbClr val="B0B8CC"/>
            </a:solidFill>
            <a:prstDash val="dash"/>
          </a:ln>
        </p:spPr>
      </p:sp>
      <p:sp>
        <p:nvSpPr>
          <p:cNvPr id="10" name="Text 8"/>
          <p:cNvSpPr/>
          <p:nvPr/>
        </p:nvSpPr>
        <p:spPr>
          <a:xfrm>
            <a:off x="1219200" y="2600960"/>
            <a:ext cx="6096000" cy="487680"/>
          </a:xfrm>
          <a:prstGeom prst="rect">
            <a:avLst/>
          </a:prstGeom>
          <a:noFill/>
          <a:ln/>
        </p:spPr>
        <p:txBody>
          <a:bodyPr wrap="square" lIns="1016" tIns="0" rIns="0" bIns="0" rtlCol="0" anchor="t"/>
          <a:lstStyle/>
          <a:p>
            <a:pPr algn="ctr" indent="0" marL="0">
              <a:buNone/>
            </a:pPr>
            <a:r>
              <a:rPr lang="en-US" sz="900" b="1" spc="150" kern="0" dirty="0">
                <a:solidFill>
                  <a:srgbClr val="7A88A8"/>
                </a:solidFill>
                <a:latin typeface="Calibri" pitchFamily="34" charset="0"/>
                <a:ea typeface="Calibri" pitchFamily="34" charset="-122"/>
                <a:cs typeface="Calibri" pitchFamily="34" charset="-120"/>
              </a:rPr>
              <a:t>INSERT IMAGE</a:t>
            </a:r>
            <a:endParaRPr lang="en-US" sz="900" dirty="0"/>
          </a:p>
        </p:txBody>
      </p:sp>
      <p:sp>
        <p:nvSpPr>
          <p:cNvPr id="11" name="Text 9"/>
          <p:cNvSpPr/>
          <p:nvPr/>
        </p:nvSpPr>
        <p:spPr>
          <a:xfrm>
            <a:off x="1463040" y="3088640"/>
            <a:ext cx="5608320" cy="2926080"/>
          </a:xfrm>
          <a:prstGeom prst="rect">
            <a:avLst/>
          </a:prstGeom>
          <a:noFill/>
          <a:ln/>
        </p:spPr>
        <p:txBody>
          <a:bodyPr wrap="square" rtlCol="0" anchor="ctr"/>
          <a:lstStyle/>
          <a:p>
            <a:pPr algn="ctr" indent="0" marL="0">
              <a:buNone/>
            </a:pPr>
            <a:r>
              <a:rPr lang="en-US" sz="1100" i="1" dirty="0">
                <a:solidFill>
                  <a:srgbClr val="7A88A8"/>
                </a:solidFill>
                <a:latin typeface="Calibri" pitchFamily="34" charset="0"/>
                <a:ea typeface="Calibri" pitchFamily="34" charset="-122"/>
                <a:cs typeface="Calibri" pitchFamily="34" charset="-120"/>
              </a:rPr>
              <a:t>A classroom globe on a stand</a:t>
            </a:r>
            <a:endParaRPr lang="en-US" sz="1100" dirty="0"/>
          </a:p>
        </p:txBody>
      </p:sp>
      <p:sp>
        <p:nvSpPr>
          <p:cNvPr id="12" name="Shape 10"/>
          <p:cNvSpPr/>
          <p:nvPr/>
        </p:nvSpPr>
        <p:spPr>
          <a:xfrm>
            <a:off x="8209280" y="1950720"/>
            <a:ext cx="7152640" cy="4551680"/>
          </a:xfrm>
          <a:prstGeom prst="roundRect">
            <a:avLst>
              <a:gd name="adj" fmla="val 4286"/>
            </a:avLst>
          </a:prstGeom>
          <a:solidFill>
            <a:srgbClr val="F0E8FF"/>
          </a:solidFill>
          <a:ln w="12700">
            <a:solidFill>
              <a:srgbClr val="8B6FC0"/>
            </a:solidFill>
            <a:prstDash val="solid"/>
          </a:ln>
        </p:spPr>
      </p:sp>
      <p:sp>
        <p:nvSpPr>
          <p:cNvPr id="13" name="Text 11"/>
          <p:cNvSpPr/>
          <p:nvPr/>
        </p:nvSpPr>
        <p:spPr>
          <a:xfrm>
            <a:off x="8534400" y="2080768"/>
            <a:ext cx="6502400" cy="455168"/>
          </a:xfrm>
          <a:prstGeom prst="rect">
            <a:avLst/>
          </a:prstGeom>
          <a:noFill/>
          <a:ln/>
        </p:spPr>
        <p:txBody>
          <a:bodyPr wrap="square" rtlCol="0" anchor="ctr"/>
          <a:lstStyle/>
          <a:p>
            <a:pPr indent="0" marL="0">
              <a:buNone/>
            </a:pPr>
            <a:r>
              <a:rPr lang="en-US" sz="1200" b="1" spc="150" kern="0" dirty="0">
                <a:solidFill>
                  <a:srgbClr val="8B6FC0"/>
                </a:solidFill>
                <a:latin typeface="Calibri" pitchFamily="34" charset="0"/>
                <a:ea typeface="Calibri" pitchFamily="34" charset="-122"/>
                <a:cs typeface="Calibri" pitchFamily="34" charset="-120"/>
              </a:rPr>
              <a:t>FLAT MAP</a:t>
            </a:r>
            <a:endParaRPr lang="en-US" sz="1200" dirty="0"/>
          </a:p>
        </p:txBody>
      </p:sp>
      <p:sp>
        <p:nvSpPr>
          <p:cNvPr id="14" name="Shape 12"/>
          <p:cNvSpPr/>
          <p:nvPr/>
        </p:nvSpPr>
        <p:spPr>
          <a:xfrm>
            <a:off x="8534400" y="2600960"/>
            <a:ext cx="6502400" cy="3576320"/>
          </a:xfrm>
          <a:prstGeom prst="roundRect">
            <a:avLst>
              <a:gd name="adj" fmla="val 5455"/>
            </a:avLst>
          </a:prstGeom>
          <a:solidFill>
            <a:srgbClr val="E2E8F4"/>
          </a:solidFill>
          <a:ln w="19050">
            <a:solidFill>
              <a:srgbClr val="B0B8CC"/>
            </a:solidFill>
            <a:prstDash val="dash"/>
          </a:ln>
        </p:spPr>
      </p:sp>
      <p:sp>
        <p:nvSpPr>
          <p:cNvPr id="15" name="Text 13"/>
          <p:cNvSpPr/>
          <p:nvPr/>
        </p:nvSpPr>
        <p:spPr>
          <a:xfrm>
            <a:off x="8534400" y="2600960"/>
            <a:ext cx="6502400" cy="487680"/>
          </a:xfrm>
          <a:prstGeom prst="rect">
            <a:avLst/>
          </a:prstGeom>
          <a:noFill/>
          <a:ln/>
        </p:spPr>
        <p:txBody>
          <a:bodyPr wrap="square" lIns="1016" tIns="0" rIns="0" bIns="0" rtlCol="0" anchor="t"/>
          <a:lstStyle/>
          <a:p>
            <a:pPr algn="ctr" indent="0" marL="0">
              <a:buNone/>
            </a:pPr>
            <a:r>
              <a:rPr lang="en-US" sz="900" b="1" spc="150" kern="0" dirty="0">
                <a:solidFill>
                  <a:srgbClr val="7A88A8"/>
                </a:solidFill>
                <a:latin typeface="Calibri" pitchFamily="34" charset="0"/>
                <a:ea typeface="Calibri" pitchFamily="34" charset="-122"/>
                <a:cs typeface="Calibri" pitchFamily="34" charset="-120"/>
              </a:rPr>
              <a:t>INSERT IMAGE</a:t>
            </a:r>
            <a:endParaRPr lang="en-US" sz="900" dirty="0"/>
          </a:p>
        </p:txBody>
      </p:sp>
      <p:sp>
        <p:nvSpPr>
          <p:cNvPr id="16" name="Text 14"/>
          <p:cNvSpPr/>
          <p:nvPr/>
        </p:nvSpPr>
        <p:spPr>
          <a:xfrm>
            <a:off x="8778240" y="3088640"/>
            <a:ext cx="6014720" cy="2926080"/>
          </a:xfrm>
          <a:prstGeom prst="rect">
            <a:avLst/>
          </a:prstGeom>
          <a:noFill/>
          <a:ln/>
        </p:spPr>
        <p:txBody>
          <a:bodyPr wrap="square" rtlCol="0" anchor="ctr"/>
          <a:lstStyle/>
          <a:p>
            <a:pPr algn="ctr" indent="0" marL="0">
              <a:buNone/>
            </a:pPr>
            <a:r>
              <a:rPr lang="en-US" sz="1100" i="1" dirty="0">
                <a:solidFill>
                  <a:srgbClr val="7A88A8"/>
                </a:solidFill>
                <a:latin typeface="Calibri" pitchFamily="34" charset="0"/>
                <a:ea typeface="Calibri" pitchFamily="34" charset="-122"/>
                <a:cs typeface="Calibri" pitchFamily="34" charset="-120"/>
              </a:rPr>
              <a:t>A folded flat world map, easy to carry</a:t>
            </a:r>
            <a:endParaRPr lang="en-US" sz="1100" dirty="0"/>
          </a:p>
        </p:txBody>
      </p:sp>
      <p:sp>
        <p:nvSpPr>
          <p:cNvPr id="17" name="Shape 15"/>
          <p:cNvSpPr/>
          <p:nvPr/>
        </p:nvSpPr>
        <p:spPr>
          <a:xfrm>
            <a:off x="894080" y="6827520"/>
            <a:ext cx="14630400" cy="1706880"/>
          </a:xfrm>
          <a:prstGeom prst="roundRect">
            <a:avLst>
              <a:gd name="adj" fmla="val 14286"/>
            </a:avLst>
          </a:prstGeom>
          <a:solidFill>
            <a:srgbClr val="1A2D5A"/>
          </a:solidFill>
          <a:ln/>
          <a:effectLst>
            <a:outerShdw sx="100000" sy="100000" kx="0" ky="0" algn="bl" rotWithShape="0" blurRad="101600" dist="38100" dir="8100000">
              <a:srgbClr val="000000">
                <a:alpha val="20000"/>
              </a:srgbClr>
            </a:outerShdw>
          </a:effectLst>
        </p:spPr>
      </p:sp>
      <p:sp>
        <p:nvSpPr>
          <p:cNvPr id="18" name="Text 16"/>
          <p:cNvSpPr/>
          <p:nvPr/>
        </p:nvSpPr>
        <p:spPr>
          <a:xfrm>
            <a:off x="1219200" y="6990080"/>
            <a:ext cx="13980160" cy="455168"/>
          </a:xfrm>
          <a:prstGeom prst="rect">
            <a:avLst/>
          </a:prstGeom>
          <a:noFill/>
          <a:ln/>
        </p:spPr>
        <p:txBody>
          <a:bodyPr wrap="square" lIns="0" tIns="0" rIns="0" bIns="0" rtlCol="0" anchor="ctr"/>
          <a:lstStyle/>
          <a:p>
            <a:pPr indent="0" marL="0">
              <a:buNone/>
            </a:pPr>
            <a:r>
              <a:rPr lang="en-US" sz="900" b="1" spc="150" kern="0" dirty="0">
                <a:solidFill>
                  <a:srgbClr val="55C8E8"/>
                </a:solidFill>
                <a:latin typeface="Calibri" pitchFamily="34" charset="0"/>
                <a:ea typeface="Calibri" pitchFamily="34" charset="-122"/>
                <a:cs typeface="Calibri" pitchFamily="34" charset="-120"/>
              </a:rPr>
              <a:t>SOCRATIC QUESTIONS</a:t>
            </a:r>
            <a:endParaRPr lang="en-US" sz="900" dirty="0"/>
          </a:p>
        </p:txBody>
      </p:sp>
      <p:sp>
        <p:nvSpPr>
          <p:cNvPr id="19" name="Text 17"/>
          <p:cNvSpPr/>
          <p:nvPr/>
        </p:nvSpPr>
        <p:spPr>
          <a:xfrm>
            <a:off x="1219200" y="7445248"/>
            <a:ext cx="13980160" cy="926592"/>
          </a:xfrm>
          <a:prstGeom prst="rect">
            <a:avLst/>
          </a:prstGeom>
          <a:noFill/>
          <a:ln/>
        </p:spPr>
        <p:txBody>
          <a:bodyPr wrap="square" lIns="0" tIns="0" rIns="0" bIns="0" rtlCol="0" anchor="t"/>
          <a:lstStyle/>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When would you pick the globe? When would you pick the flat map?</a:t>
            </a:r>
            <a:endParaRPr lang="en-US" sz="1100" dirty="0"/>
          </a:p>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Can you think of a situation where one is clearly better than the other?</a:t>
            </a:r>
            <a:endParaRPr lang="en-US" sz="11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Shape 0"/>
          <p:cNvSpPr/>
          <p:nvPr/>
        </p:nvSpPr>
        <p:spPr>
          <a:xfrm>
            <a:off x="0" y="0"/>
            <a:ext cx="16256000" cy="97536"/>
          </a:xfrm>
          <a:prstGeom prst="rect">
            <a:avLst/>
          </a:prstGeom>
          <a:solidFill>
            <a:srgbClr val="0E1C42"/>
          </a:solidFill>
          <a:ln/>
        </p:spPr>
      </p:sp>
      <p:sp>
        <p:nvSpPr>
          <p:cNvPr id="3" name="Shape 1"/>
          <p:cNvSpPr/>
          <p:nvPr/>
        </p:nvSpPr>
        <p:spPr>
          <a:xfrm>
            <a:off x="0" y="97536"/>
            <a:ext cx="16256000" cy="9046464"/>
          </a:xfrm>
          <a:prstGeom prst="rect">
            <a:avLst/>
          </a:prstGeom>
          <a:solidFill>
            <a:srgbClr val="FFF8F0"/>
          </a:solidFill>
          <a:ln/>
        </p:spPr>
      </p:sp>
      <p:sp>
        <p:nvSpPr>
          <p:cNvPr id="4" name="Shape 2"/>
          <p:cNvSpPr/>
          <p:nvPr/>
        </p:nvSpPr>
        <p:spPr>
          <a:xfrm>
            <a:off x="487680" y="406400"/>
            <a:ext cx="97536" cy="568960"/>
          </a:xfrm>
          <a:prstGeom prst="rect">
            <a:avLst/>
          </a:prstGeom>
          <a:solidFill>
            <a:srgbClr val="D4943A"/>
          </a:solidFill>
          <a:ln/>
        </p:spPr>
      </p:sp>
      <p:sp>
        <p:nvSpPr>
          <p:cNvPr id="5" name="Text 3"/>
          <p:cNvSpPr/>
          <p:nvPr/>
        </p:nvSpPr>
        <p:spPr>
          <a:xfrm>
            <a:off x="894080" y="406400"/>
            <a:ext cx="13817600" cy="568960"/>
          </a:xfrm>
          <a:prstGeom prst="rect">
            <a:avLst/>
          </a:prstGeom>
          <a:noFill/>
          <a:ln/>
        </p:spPr>
        <p:txBody>
          <a:bodyPr wrap="square" rtlCol="0" anchor="ctr"/>
          <a:lstStyle/>
          <a:p>
            <a:pPr indent="0" marL="0">
              <a:buNone/>
            </a:pPr>
            <a:r>
              <a:rPr lang="en-US" sz="1800" b="1" dirty="0">
                <a:solidFill>
                  <a:srgbClr val="0E1C42"/>
                </a:solidFill>
                <a:latin typeface="Cambria" pitchFamily="34" charset="0"/>
                <a:ea typeface="Cambria" pitchFamily="34" charset="-122"/>
                <a:cs typeface="Cambria" pitchFamily="34" charset="-120"/>
              </a:rPr>
              <a:t>Quick Vote: Globe or Flat Map?</a:t>
            </a:r>
            <a:endParaRPr lang="en-US" sz="1800" dirty="0"/>
          </a:p>
        </p:txBody>
      </p:sp>
      <p:sp>
        <p:nvSpPr>
          <p:cNvPr id="6" name="Text 4"/>
          <p:cNvSpPr/>
          <p:nvPr/>
        </p:nvSpPr>
        <p:spPr>
          <a:xfrm>
            <a:off x="894080" y="1170432"/>
            <a:ext cx="14305280" cy="568960"/>
          </a:xfrm>
          <a:prstGeom prst="rect">
            <a:avLst/>
          </a:prstGeom>
          <a:noFill/>
          <a:ln/>
        </p:spPr>
        <p:txBody>
          <a:bodyPr wrap="square" rtlCol="0" anchor="ctr"/>
          <a:lstStyle/>
          <a:p>
            <a:pPr indent="0" marL="0">
              <a:buNone/>
            </a:pPr>
            <a:r>
              <a:rPr lang="en-US" sz="1400" b="1" dirty="0">
                <a:solidFill>
                  <a:srgbClr val="0E1C42"/>
                </a:solidFill>
                <a:latin typeface="Calibri" pitchFamily="34" charset="0"/>
                <a:ea typeface="Calibri" pitchFamily="34" charset="-122"/>
                <a:cs typeface="Calibri" pitchFamily="34" charset="-120"/>
              </a:rPr>
              <a:t>Would you use a globe or a flat map to:</a:t>
            </a:r>
            <a:endParaRPr lang="en-US" sz="1400" dirty="0"/>
          </a:p>
        </p:txBody>
      </p:sp>
      <p:sp>
        <p:nvSpPr>
          <p:cNvPr id="7" name="Shape 5"/>
          <p:cNvSpPr/>
          <p:nvPr/>
        </p:nvSpPr>
        <p:spPr>
          <a:xfrm>
            <a:off x="894080" y="1950720"/>
            <a:ext cx="7071360" cy="2438400"/>
          </a:xfrm>
          <a:prstGeom prst="roundRect">
            <a:avLst>
              <a:gd name="adj" fmla="val 8000"/>
            </a:avLst>
          </a:prstGeom>
          <a:solidFill>
            <a:srgbClr val="EAF8FD"/>
          </a:solidFill>
          <a:ln w="19050">
            <a:solidFill>
              <a:srgbClr val="1A8A7D"/>
            </a:solidFill>
            <a:prstDash val="solid"/>
          </a:ln>
        </p:spPr>
      </p:sp>
      <p:sp>
        <p:nvSpPr>
          <p:cNvPr id="8" name="Text 6"/>
          <p:cNvSpPr/>
          <p:nvPr/>
        </p:nvSpPr>
        <p:spPr>
          <a:xfrm>
            <a:off x="1219200" y="2194560"/>
            <a:ext cx="6421120" cy="894080"/>
          </a:xfrm>
          <a:prstGeom prst="rect">
            <a:avLst/>
          </a:prstGeom>
          <a:noFill/>
          <a:ln/>
        </p:spPr>
        <p:txBody>
          <a:bodyPr wrap="square" rtlCol="0" anchor="ctr"/>
          <a:lstStyle/>
          <a:p>
            <a:pPr indent="0" marL="0">
              <a:buNone/>
            </a:pPr>
            <a:r>
              <a:rPr lang="en-US" sz="1300" dirty="0">
                <a:solidFill>
                  <a:srgbClr val="0E1C42"/>
                </a:solidFill>
                <a:latin typeface="Calibri" pitchFamily="34" charset="0"/>
                <a:ea typeface="Calibri" pitchFamily="34" charset="-122"/>
                <a:cs typeface="Calibri" pitchFamily="34" charset="-120"/>
              </a:rPr>
              <a:t>Show the real size of Africa?</a:t>
            </a:r>
            <a:endParaRPr lang="en-US" sz="1300" dirty="0"/>
          </a:p>
        </p:txBody>
      </p:sp>
      <p:sp>
        <p:nvSpPr>
          <p:cNvPr id="9" name="Shape 7"/>
          <p:cNvSpPr/>
          <p:nvPr/>
        </p:nvSpPr>
        <p:spPr>
          <a:xfrm>
            <a:off x="1219200" y="3332480"/>
            <a:ext cx="3251200" cy="731520"/>
          </a:xfrm>
          <a:prstGeom prst="roundRect">
            <a:avLst>
              <a:gd name="adj" fmla="val 17778"/>
            </a:avLst>
          </a:prstGeom>
          <a:solidFill>
            <a:srgbClr val="1A8A7D"/>
          </a:solidFill>
          <a:ln/>
        </p:spPr>
      </p:sp>
      <p:sp>
        <p:nvSpPr>
          <p:cNvPr id="10" name="Text 8"/>
          <p:cNvSpPr/>
          <p:nvPr/>
        </p:nvSpPr>
        <p:spPr>
          <a:xfrm>
            <a:off x="1219200" y="3332480"/>
            <a:ext cx="3251200" cy="731520"/>
          </a:xfrm>
          <a:prstGeom prst="rect">
            <a:avLst/>
          </a:prstGeom>
          <a:no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GLOBE</a:t>
            </a:r>
            <a:endParaRPr lang="en-US" sz="1100" dirty="0"/>
          </a:p>
        </p:txBody>
      </p:sp>
      <p:sp>
        <p:nvSpPr>
          <p:cNvPr id="11" name="Shape 9"/>
          <p:cNvSpPr/>
          <p:nvPr/>
        </p:nvSpPr>
        <p:spPr>
          <a:xfrm>
            <a:off x="8534400" y="1950720"/>
            <a:ext cx="7071360" cy="2438400"/>
          </a:xfrm>
          <a:prstGeom prst="roundRect">
            <a:avLst>
              <a:gd name="adj" fmla="val 8000"/>
            </a:avLst>
          </a:prstGeom>
          <a:solidFill>
            <a:srgbClr val="F0E8FF"/>
          </a:solidFill>
          <a:ln w="19050">
            <a:solidFill>
              <a:srgbClr val="8B6FC0"/>
            </a:solidFill>
            <a:prstDash val="solid"/>
          </a:ln>
        </p:spPr>
      </p:sp>
      <p:sp>
        <p:nvSpPr>
          <p:cNvPr id="12" name="Text 10"/>
          <p:cNvSpPr/>
          <p:nvPr/>
        </p:nvSpPr>
        <p:spPr>
          <a:xfrm>
            <a:off x="8859520" y="2194560"/>
            <a:ext cx="6421120" cy="894080"/>
          </a:xfrm>
          <a:prstGeom prst="rect">
            <a:avLst/>
          </a:prstGeom>
          <a:noFill/>
          <a:ln/>
        </p:spPr>
        <p:txBody>
          <a:bodyPr wrap="square" rtlCol="0" anchor="ctr"/>
          <a:lstStyle/>
          <a:p>
            <a:pPr indent="0" marL="0">
              <a:buNone/>
            </a:pPr>
            <a:r>
              <a:rPr lang="en-US" sz="1300" dirty="0">
                <a:solidFill>
                  <a:srgbClr val="0E1C42"/>
                </a:solidFill>
                <a:latin typeface="Calibri" pitchFamily="34" charset="0"/>
                <a:ea typeface="Calibri" pitchFamily="34" charset="-122"/>
                <a:cs typeface="Calibri" pitchFamily="34" charset="-120"/>
              </a:rPr>
              <a:t>Fold up and carry on a trip?</a:t>
            </a:r>
            <a:endParaRPr lang="en-US" sz="1300" dirty="0"/>
          </a:p>
        </p:txBody>
      </p:sp>
      <p:sp>
        <p:nvSpPr>
          <p:cNvPr id="13" name="Shape 11"/>
          <p:cNvSpPr/>
          <p:nvPr/>
        </p:nvSpPr>
        <p:spPr>
          <a:xfrm>
            <a:off x="8859520" y="3332480"/>
            <a:ext cx="3251200" cy="731520"/>
          </a:xfrm>
          <a:prstGeom prst="roundRect">
            <a:avLst>
              <a:gd name="adj" fmla="val 17778"/>
            </a:avLst>
          </a:prstGeom>
          <a:solidFill>
            <a:srgbClr val="8B6FC0"/>
          </a:solidFill>
          <a:ln/>
        </p:spPr>
      </p:sp>
      <p:sp>
        <p:nvSpPr>
          <p:cNvPr id="14" name="Text 12"/>
          <p:cNvSpPr/>
          <p:nvPr/>
        </p:nvSpPr>
        <p:spPr>
          <a:xfrm>
            <a:off x="8859520" y="3332480"/>
            <a:ext cx="3251200" cy="731520"/>
          </a:xfrm>
          <a:prstGeom prst="rect">
            <a:avLst/>
          </a:prstGeom>
          <a:no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FLAT MAP</a:t>
            </a:r>
            <a:endParaRPr lang="en-US" sz="1100" dirty="0"/>
          </a:p>
        </p:txBody>
      </p:sp>
      <p:sp>
        <p:nvSpPr>
          <p:cNvPr id="15" name="Shape 13"/>
          <p:cNvSpPr/>
          <p:nvPr/>
        </p:nvSpPr>
        <p:spPr>
          <a:xfrm>
            <a:off x="894080" y="4795520"/>
            <a:ext cx="7071360" cy="2438400"/>
          </a:xfrm>
          <a:prstGeom prst="roundRect">
            <a:avLst>
              <a:gd name="adj" fmla="val 8000"/>
            </a:avLst>
          </a:prstGeom>
          <a:solidFill>
            <a:srgbClr val="F0E8FF"/>
          </a:solidFill>
          <a:ln w="19050">
            <a:solidFill>
              <a:srgbClr val="8B6FC0"/>
            </a:solidFill>
            <a:prstDash val="solid"/>
          </a:ln>
        </p:spPr>
      </p:sp>
      <p:sp>
        <p:nvSpPr>
          <p:cNvPr id="16" name="Text 14"/>
          <p:cNvSpPr/>
          <p:nvPr/>
        </p:nvSpPr>
        <p:spPr>
          <a:xfrm>
            <a:off x="1219200" y="5039360"/>
            <a:ext cx="6421120" cy="894080"/>
          </a:xfrm>
          <a:prstGeom prst="rect">
            <a:avLst/>
          </a:prstGeom>
          <a:noFill/>
          <a:ln/>
        </p:spPr>
        <p:txBody>
          <a:bodyPr wrap="square" rtlCol="0" anchor="ctr"/>
          <a:lstStyle/>
          <a:p>
            <a:pPr indent="0" marL="0">
              <a:buNone/>
            </a:pPr>
            <a:r>
              <a:rPr lang="en-US" sz="1300" dirty="0">
                <a:solidFill>
                  <a:srgbClr val="0E1C42"/>
                </a:solidFill>
                <a:latin typeface="Calibri" pitchFamily="34" charset="0"/>
                <a:ea typeface="Calibri" pitchFamily="34" charset="-122"/>
                <a:cs typeface="Calibri" pitchFamily="34" charset="-120"/>
              </a:rPr>
              <a:t>See the whole world at once?</a:t>
            </a:r>
            <a:endParaRPr lang="en-US" sz="1300" dirty="0"/>
          </a:p>
        </p:txBody>
      </p:sp>
      <p:sp>
        <p:nvSpPr>
          <p:cNvPr id="17" name="Shape 15"/>
          <p:cNvSpPr/>
          <p:nvPr/>
        </p:nvSpPr>
        <p:spPr>
          <a:xfrm>
            <a:off x="1219200" y="6177280"/>
            <a:ext cx="3251200" cy="731520"/>
          </a:xfrm>
          <a:prstGeom prst="roundRect">
            <a:avLst>
              <a:gd name="adj" fmla="val 17778"/>
            </a:avLst>
          </a:prstGeom>
          <a:solidFill>
            <a:srgbClr val="8B6FC0"/>
          </a:solidFill>
          <a:ln/>
        </p:spPr>
      </p:sp>
      <p:sp>
        <p:nvSpPr>
          <p:cNvPr id="18" name="Text 16"/>
          <p:cNvSpPr/>
          <p:nvPr/>
        </p:nvSpPr>
        <p:spPr>
          <a:xfrm>
            <a:off x="1219200" y="6177280"/>
            <a:ext cx="3251200" cy="731520"/>
          </a:xfrm>
          <a:prstGeom prst="rect">
            <a:avLst/>
          </a:prstGeom>
          <a:no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FLAT MAP</a:t>
            </a:r>
            <a:endParaRPr lang="en-US" sz="1100" dirty="0"/>
          </a:p>
        </p:txBody>
      </p:sp>
      <p:sp>
        <p:nvSpPr>
          <p:cNvPr id="19" name="Shape 17"/>
          <p:cNvSpPr/>
          <p:nvPr/>
        </p:nvSpPr>
        <p:spPr>
          <a:xfrm>
            <a:off x="8534400" y="4795520"/>
            <a:ext cx="7071360" cy="2438400"/>
          </a:xfrm>
          <a:prstGeom prst="roundRect">
            <a:avLst>
              <a:gd name="adj" fmla="val 8000"/>
            </a:avLst>
          </a:prstGeom>
          <a:solidFill>
            <a:srgbClr val="EAF8FD"/>
          </a:solidFill>
          <a:ln w="19050">
            <a:solidFill>
              <a:srgbClr val="1A8A7D"/>
            </a:solidFill>
            <a:prstDash val="solid"/>
          </a:ln>
        </p:spPr>
      </p:sp>
      <p:sp>
        <p:nvSpPr>
          <p:cNvPr id="20" name="Text 18"/>
          <p:cNvSpPr/>
          <p:nvPr/>
        </p:nvSpPr>
        <p:spPr>
          <a:xfrm>
            <a:off x="8859520" y="5039360"/>
            <a:ext cx="6421120" cy="894080"/>
          </a:xfrm>
          <a:prstGeom prst="rect">
            <a:avLst/>
          </a:prstGeom>
          <a:noFill/>
          <a:ln/>
        </p:spPr>
        <p:txBody>
          <a:bodyPr wrap="square" rtlCol="0" anchor="ctr"/>
          <a:lstStyle/>
          <a:p>
            <a:pPr indent="0" marL="0">
              <a:buNone/>
            </a:pPr>
            <a:r>
              <a:rPr lang="en-US" sz="1300" dirty="0">
                <a:solidFill>
                  <a:srgbClr val="0E1C42"/>
                </a:solidFill>
                <a:latin typeface="Calibri" pitchFamily="34" charset="0"/>
                <a:ea typeface="Calibri" pitchFamily="34" charset="-122"/>
                <a:cs typeface="Calibri" pitchFamily="34" charset="-120"/>
              </a:rPr>
              <a:t>Check the true shape of Antarctica?</a:t>
            </a:r>
            <a:endParaRPr lang="en-US" sz="1300" dirty="0"/>
          </a:p>
        </p:txBody>
      </p:sp>
      <p:sp>
        <p:nvSpPr>
          <p:cNvPr id="21" name="Shape 19"/>
          <p:cNvSpPr/>
          <p:nvPr/>
        </p:nvSpPr>
        <p:spPr>
          <a:xfrm>
            <a:off x="8859520" y="6177280"/>
            <a:ext cx="3251200" cy="731520"/>
          </a:xfrm>
          <a:prstGeom prst="roundRect">
            <a:avLst>
              <a:gd name="adj" fmla="val 17778"/>
            </a:avLst>
          </a:prstGeom>
          <a:solidFill>
            <a:srgbClr val="1A8A7D"/>
          </a:solidFill>
          <a:ln/>
        </p:spPr>
      </p:sp>
      <p:sp>
        <p:nvSpPr>
          <p:cNvPr id="22" name="Text 20"/>
          <p:cNvSpPr/>
          <p:nvPr/>
        </p:nvSpPr>
        <p:spPr>
          <a:xfrm>
            <a:off x="8859520" y="6177280"/>
            <a:ext cx="3251200" cy="731520"/>
          </a:xfrm>
          <a:prstGeom prst="rect">
            <a:avLst/>
          </a:prstGeom>
          <a:no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GLOBE</a:t>
            </a:r>
            <a:endParaRPr lang="en-US" sz="11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Shape 0"/>
          <p:cNvSpPr/>
          <p:nvPr/>
        </p:nvSpPr>
        <p:spPr>
          <a:xfrm>
            <a:off x="0" y="0"/>
            <a:ext cx="16256000" cy="97536"/>
          </a:xfrm>
          <a:prstGeom prst="rect">
            <a:avLst/>
          </a:prstGeom>
          <a:solidFill>
            <a:srgbClr val="0E1C42"/>
          </a:solidFill>
          <a:ln/>
        </p:spPr>
      </p:sp>
      <p:sp>
        <p:nvSpPr>
          <p:cNvPr id="3" name="Shape 1"/>
          <p:cNvSpPr/>
          <p:nvPr/>
        </p:nvSpPr>
        <p:spPr>
          <a:xfrm>
            <a:off x="0" y="97536"/>
            <a:ext cx="16256000" cy="9046464"/>
          </a:xfrm>
          <a:prstGeom prst="rect">
            <a:avLst/>
          </a:prstGeom>
          <a:solidFill>
            <a:srgbClr val="FFFFFF"/>
          </a:solidFill>
          <a:ln/>
        </p:spPr>
      </p:sp>
      <p:sp>
        <p:nvSpPr>
          <p:cNvPr id="4" name="Shape 2"/>
          <p:cNvSpPr/>
          <p:nvPr/>
        </p:nvSpPr>
        <p:spPr>
          <a:xfrm>
            <a:off x="487680" y="406400"/>
            <a:ext cx="97536" cy="568960"/>
          </a:xfrm>
          <a:prstGeom prst="rect">
            <a:avLst/>
          </a:prstGeom>
          <a:solidFill>
            <a:srgbClr val="D4943A"/>
          </a:solidFill>
          <a:ln/>
        </p:spPr>
      </p:sp>
      <p:sp>
        <p:nvSpPr>
          <p:cNvPr id="5" name="Text 3"/>
          <p:cNvSpPr/>
          <p:nvPr/>
        </p:nvSpPr>
        <p:spPr>
          <a:xfrm>
            <a:off x="894080" y="406400"/>
            <a:ext cx="13817600" cy="568960"/>
          </a:xfrm>
          <a:prstGeom prst="rect">
            <a:avLst/>
          </a:prstGeom>
          <a:noFill/>
          <a:ln/>
        </p:spPr>
        <p:txBody>
          <a:bodyPr wrap="square" rtlCol="0" anchor="ctr"/>
          <a:lstStyle/>
          <a:p>
            <a:pPr indent="0" marL="0">
              <a:buNone/>
            </a:pPr>
            <a:r>
              <a:rPr lang="en-US" sz="1800" b="1" dirty="0">
                <a:solidFill>
                  <a:srgbClr val="0E1C42"/>
                </a:solidFill>
                <a:latin typeface="Cambria" pitchFamily="34" charset="0"/>
                <a:ea typeface="Cambria" pitchFamily="34" charset="-122"/>
                <a:cs typeface="Cambria" pitchFamily="34" charset="-120"/>
              </a:rPr>
              <a:t>The Right Tool for the Job</a:t>
            </a:r>
            <a:endParaRPr lang="en-US" sz="1800" dirty="0"/>
          </a:p>
        </p:txBody>
      </p:sp>
      <p:sp>
        <p:nvSpPr>
          <p:cNvPr id="6" name="Shape 4"/>
          <p:cNvSpPr/>
          <p:nvPr/>
        </p:nvSpPr>
        <p:spPr>
          <a:xfrm>
            <a:off x="894080" y="1300480"/>
            <a:ext cx="6827520" cy="3901440"/>
          </a:xfrm>
          <a:prstGeom prst="roundRect">
            <a:avLst>
              <a:gd name="adj" fmla="val 5000"/>
            </a:avLst>
          </a:prstGeom>
          <a:solidFill>
            <a:srgbClr val="EAF8FD"/>
          </a:solidFill>
          <a:ln/>
        </p:spPr>
      </p:sp>
      <p:sp>
        <p:nvSpPr>
          <p:cNvPr id="7" name="Text 5"/>
          <p:cNvSpPr/>
          <p:nvPr/>
        </p:nvSpPr>
        <p:spPr>
          <a:xfrm>
            <a:off x="1219200" y="1430528"/>
            <a:ext cx="6177280" cy="455168"/>
          </a:xfrm>
          <a:prstGeom prst="rect">
            <a:avLst/>
          </a:prstGeom>
          <a:noFill/>
          <a:ln/>
        </p:spPr>
        <p:txBody>
          <a:bodyPr wrap="square" rtlCol="0" anchor="ctr"/>
          <a:lstStyle/>
          <a:p>
            <a:pPr indent="0" marL="0">
              <a:buNone/>
            </a:pPr>
            <a:r>
              <a:rPr lang="en-US" sz="1200" b="1" spc="150" kern="0" dirty="0">
                <a:solidFill>
                  <a:srgbClr val="1A8A7D"/>
                </a:solidFill>
                <a:latin typeface="Calibri" pitchFamily="34" charset="0"/>
                <a:ea typeface="Calibri" pitchFamily="34" charset="-122"/>
                <a:cs typeface="Calibri" pitchFamily="34" charset="-120"/>
              </a:rPr>
              <a:t>GLOBE</a:t>
            </a:r>
            <a:endParaRPr lang="en-US" sz="1200" dirty="0"/>
          </a:p>
        </p:txBody>
      </p:sp>
      <p:sp>
        <p:nvSpPr>
          <p:cNvPr id="8" name="Text 6"/>
          <p:cNvSpPr/>
          <p:nvPr/>
        </p:nvSpPr>
        <p:spPr>
          <a:xfrm>
            <a:off x="1219200" y="1983232"/>
            <a:ext cx="6177280" cy="2926080"/>
          </a:xfrm>
          <a:prstGeom prst="rect">
            <a:avLst/>
          </a:prstGeom>
          <a:noFill/>
          <a:ln/>
        </p:spPr>
        <p:txBody>
          <a:bodyPr wrap="square" lIns="0" tIns="0" rIns="0" bIns="0" rtlCol="0" anchor="t"/>
          <a:lstStyle/>
          <a:p>
            <a:pPr marL="342900" indent="-342900">
              <a:spcAft>
                <a:spcPts val="500"/>
              </a:spcAft>
              <a:buSzPct val="100000"/>
              <a:buChar char="•"/>
            </a:pPr>
            <a:r>
              <a:rPr lang="en-US" sz="1200" dirty="0">
                <a:solidFill>
                  <a:srgbClr val="0E1C42"/>
                </a:solidFill>
                <a:latin typeface="Calibri" pitchFamily="34" charset="0"/>
                <a:ea typeface="Calibri" pitchFamily="34" charset="-122"/>
                <a:cs typeface="Calibri" pitchFamily="34" charset="-120"/>
              </a:rPr>
              <a:t>Shows accurate shapes and sizes</a:t>
            </a:r>
            <a:endParaRPr lang="en-US" sz="1200" dirty="0"/>
          </a:p>
          <a:p>
            <a:pPr marL="342900" indent="-342900">
              <a:spcAft>
                <a:spcPts val="500"/>
              </a:spcAft>
              <a:buSzPct val="100000"/>
              <a:buChar char="•"/>
            </a:pPr>
            <a:r>
              <a:rPr lang="en-US" sz="1200" dirty="0">
                <a:solidFill>
                  <a:srgbClr val="0E1C42"/>
                </a:solidFill>
                <a:latin typeface="Calibri" pitchFamily="34" charset="0"/>
                <a:ea typeface="Calibri" pitchFamily="34" charset="-122"/>
                <a:cs typeface="Calibri" pitchFamily="34" charset="-120"/>
              </a:rPr>
              <a:t>Best for seeing the true shape of continents</a:t>
            </a:r>
            <a:endParaRPr lang="en-US" sz="1200" dirty="0"/>
          </a:p>
          <a:p>
            <a:pPr marL="342900" indent="-342900">
              <a:spcAft>
                <a:spcPts val="500"/>
              </a:spcAft>
              <a:buSzPct val="100000"/>
              <a:buChar char="•"/>
            </a:pPr>
            <a:r>
              <a:rPr lang="en-US" sz="1200" dirty="0">
                <a:solidFill>
                  <a:srgbClr val="0E1C42"/>
                </a:solidFill>
                <a:latin typeface="Calibri" pitchFamily="34" charset="0"/>
                <a:ea typeface="Calibri" pitchFamily="34" charset="-122"/>
                <a:cs typeface="Calibri" pitchFamily="34" charset="-120"/>
              </a:rPr>
              <a:t>Shows how the Earth really looks</a:t>
            </a:r>
            <a:endParaRPr lang="en-US" sz="1200" dirty="0"/>
          </a:p>
          <a:p>
            <a:pPr marL="342900" indent="-342900">
              <a:spcAft>
                <a:spcPts val="500"/>
              </a:spcAft>
              <a:buSzPct val="100000"/>
              <a:buChar char="•"/>
            </a:pPr>
            <a:r>
              <a:rPr lang="en-US" sz="1200" dirty="0">
                <a:solidFill>
                  <a:srgbClr val="0E1C42"/>
                </a:solidFill>
                <a:latin typeface="Calibri" pitchFamily="34" charset="0"/>
                <a:ea typeface="Calibri" pitchFamily="34" charset="-122"/>
                <a:cs typeface="Calibri" pitchFamily="34" charset="-120"/>
              </a:rPr>
              <a:t>Hard to carry around</a:t>
            </a:r>
            <a:endParaRPr lang="en-US" sz="1200" dirty="0"/>
          </a:p>
        </p:txBody>
      </p:sp>
      <p:sp>
        <p:nvSpPr>
          <p:cNvPr id="9" name="Shape 7"/>
          <p:cNvSpPr/>
          <p:nvPr/>
        </p:nvSpPr>
        <p:spPr>
          <a:xfrm>
            <a:off x="8290560" y="1300480"/>
            <a:ext cx="7152640" cy="3901440"/>
          </a:xfrm>
          <a:prstGeom prst="roundRect">
            <a:avLst>
              <a:gd name="adj" fmla="val 5000"/>
            </a:avLst>
          </a:prstGeom>
          <a:solidFill>
            <a:srgbClr val="F0E8FF"/>
          </a:solidFill>
          <a:ln/>
        </p:spPr>
      </p:sp>
      <p:sp>
        <p:nvSpPr>
          <p:cNvPr id="10" name="Text 8"/>
          <p:cNvSpPr/>
          <p:nvPr/>
        </p:nvSpPr>
        <p:spPr>
          <a:xfrm>
            <a:off x="8615680" y="1430528"/>
            <a:ext cx="6502400" cy="455168"/>
          </a:xfrm>
          <a:prstGeom prst="rect">
            <a:avLst/>
          </a:prstGeom>
          <a:noFill/>
          <a:ln/>
        </p:spPr>
        <p:txBody>
          <a:bodyPr wrap="square" rtlCol="0" anchor="ctr"/>
          <a:lstStyle/>
          <a:p>
            <a:pPr indent="0" marL="0">
              <a:buNone/>
            </a:pPr>
            <a:r>
              <a:rPr lang="en-US" sz="1200" b="1" spc="150" kern="0" dirty="0">
                <a:solidFill>
                  <a:srgbClr val="8B6FC0"/>
                </a:solidFill>
                <a:latin typeface="Calibri" pitchFamily="34" charset="0"/>
                <a:ea typeface="Calibri" pitchFamily="34" charset="-122"/>
                <a:cs typeface="Calibri" pitchFamily="34" charset="-120"/>
              </a:rPr>
              <a:t>FLAT MAP</a:t>
            </a:r>
            <a:endParaRPr lang="en-US" sz="1200" dirty="0"/>
          </a:p>
        </p:txBody>
      </p:sp>
      <p:sp>
        <p:nvSpPr>
          <p:cNvPr id="11" name="Text 9"/>
          <p:cNvSpPr/>
          <p:nvPr/>
        </p:nvSpPr>
        <p:spPr>
          <a:xfrm>
            <a:off x="8615680" y="1983232"/>
            <a:ext cx="6502400" cy="2926080"/>
          </a:xfrm>
          <a:prstGeom prst="rect">
            <a:avLst/>
          </a:prstGeom>
          <a:noFill/>
          <a:ln/>
        </p:spPr>
        <p:txBody>
          <a:bodyPr wrap="square" lIns="0" tIns="0" rIns="0" bIns="0" rtlCol="0" anchor="t"/>
          <a:lstStyle/>
          <a:p>
            <a:pPr marL="342900" indent="-342900">
              <a:spcAft>
                <a:spcPts val="500"/>
              </a:spcAft>
              <a:buSzPct val="100000"/>
              <a:buChar char="•"/>
            </a:pPr>
            <a:r>
              <a:rPr lang="en-US" sz="1200" dirty="0">
                <a:solidFill>
                  <a:srgbClr val="0E1C42"/>
                </a:solidFill>
                <a:latin typeface="Calibri" pitchFamily="34" charset="0"/>
                <a:ea typeface="Calibri" pitchFamily="34" charset="-122"/>
                <a:cs typeface="Calibri" pitchFamily="34" charset="-120"/>
              </a:rPr>
              <a:t>Easy to carry, fold, and display</a:t>
            </a:r>
            <a:endParaRPr lang="en-US" sz="1200" dirty="0"/>
          </a:p>
          <a:p>
            <a:pPr marL="342900" indent="-342900">
              <a:spcAft>
                <a:spcPts val="500"/>
              </a:spcAft>
              <a:buSzPct val="100000"/>
              <a:buChar char="•"/>
            </a:pPr>
            <a:r>
              <a:rPr lang="en-US" sz="1200" dirty="0">
                <a:solidFill>
                  <a:srgbClr val="0E1C42"/>
                </a:solidFill>
                <a:latin typeface="Calibri" pitchFamily="34" charset="0"/>
                <a:ea typeface="Calibri" pitchFamily="34" charset="-122"/>
                <a:cs typeface="Calibri" pitchFamily="34" charset="-120"/>
              </a:rPr>
              <a:t>Can show the whole world at once</a:t>
            </a:r>
            <a:endParaRPr lang="en-US" sz="1200" dirty="0"/>
          </a:p>
          <a:p>
            <a:pPr marL="342900" indent="-342900">
              <a:spcAft>
                <a:spcPts val="500"/>
              </a:spcAft>
              <a:buSzPct val="100000"/>
              <a:buChar char="•"/>
            </a:pPr>
            <a:r>
              <a:rPr lang="en-US" sz="1200" dirty="0">
                <a:solidFill>
                  <a:srgbClr val="0E1C42"/>
                </a:solidFill>
                <a:latin typeface="Calibri" pitchFamily="34" charset="0"/>
                <a:ea typeface="Calibri" pitchFamily="34" charset="-122"/>
                <a:cs typeface="Calibri" pitchFamily="34" charset="-120"/>
              </a:rPr>
              <a:t>Great for planning trips and directions</a:t>
            </a:r>
            <a:endParaRPr lang="en-US" sz="1200" dirty="0"/>
          </a:p>
          <a:p>
            <a:pPr marL="342900" indent="-342900">
              <a:spcAft>
                <a:spcPts val="500"/>
              </a:spcAft>
              <a:buSzPct val="100000"/>
              <a:buChar char="•"/>
            </a:pPr>
            <a:r>
              <a:rPr lang="en-US" sz="1200" dirty="0">
                <a:solidFill>
                  <a:srgbClr val="0E1C42"/>
                </a:solidFill>
                <a:latin typeface="Calibri" pitchFamily="34" charset="0"/>
                <a:ea typeface="Calibri" pitchFamily="34" charset="-122"/>
                <a:cs typeface="Calibri" pitchFamily="34" charset="-120"/>
              </a:rPr>
              <a:t>Distorts shapes, especially near poles</a:t>
            </a:r>
            <a:endParaRPr lang="en-US" sz="1200" dirty="0"/>
          </a:p>
        </p:txBody>
      </p:sp>
      <p:sp>
        <p:nvSpPr>
          <p:cNvPr id="12" name="Shape 10"/>
          <p:cNvSpPr/>
          <p:nvPr/>
        </p:nvSpPr>
        <p:spPr>
          <a:xfrm>
            <a:off x="894080" y="5608320"/>
            <a:ext cx="14630400" cy="2113280"/>
          </a:xfrm>
          <a:prstGeom prst="roundRect">
            <a:avLst>
              <a:gd name="adj" fmla="val 9231"/>
            </a:avLst>
          </a:prstGeom>
          <a:solidFill>
            <a:srgbClr val="FFF3DC"/>
          </a:solidFill>
          <a:ln w="19050">
            <a:solidFill>
              <a:srgbClr val="D4943A"/>
            </a:solidFill>
            <a:prstDash val="solid"/>
          </a:ln>
        </p:spPr>
      </p:sp>
      <p:sp>
        <p:nvSpPr>
          <p:cNvPr id="13" name="Text 11"/>
          <p:cNvSpPr/>
          <p:nvPr/>
        </p:nvSpPr>
        <p:spPr>
          <a:xfrm>
            <a:off x="1219200" y="5722112"/>
            <a:ext cx="3251200" cy="357632"/>
          </a:xfrm>
          <a:prstGeom prst="rect">
            <a:avLst/>
          </a:prstGeom>
          <a:noFill/>
          <a:ln/>
        </p:spPr>
        <p:txBody>
          <a:bodyPr wrap="square" rtlCol="0" anchor="ctr"/>
          <a:lstStyle/>
          <a:p>
            <a:pPr indent="0" marL="0">
              <a:buNone/>
            </a:pPr>
            <a:r>
              <a:rPr lang="en-US" sz="900" b="1" spc="150" kern="0" dirty="0">
                <a:solidFill>
                  <a:srgbClr val="D4943A"/>
                </a:solidFill>
                <a:latin typeface="Calibri" pitchFamily="34" charset="0"/>
                <a:ea typeface="Calibri" pitchFamily="34" charset="-122"/>
                <a:cs typeface="Calibri" pitchFamily="34" charset="-120"/>
              </a:rPr>
              <a:t>OPTI SAYS</a:t>
            </a:r>
            <a:endParaRPr lang="en-US" sz="900" dirty="0"/>
          </a:p>
        </p:txBody>
      </p:sp>
      <p:sp>
        <p:nvSpPr>
          <p:cNvPr id="14" name="Text 12"/>
          <p:cNvSpPr/>
          <p:nvPr/>
        </p:nvSpPr>
        <p:spPr>
          <a:xfrm>
            <a:off x="1219200" y="6177280"/>
            <a:ext cx="13980160" cy="1381760"/>
          </a:xfrm>
          <a:prstGeom prst="rect">
            <a:avLst/>
          </a:prstGeom>
          <a:noFill/>
          <a:ln/>
        </p:spPr>
        <p:txBody>
          <a:bodyPr wrap="square" rtlCol="0" anchor="ctr"/>
          <a:lstStyle/>
          <a:p>
            <a:pPr indent="0" marL="0">
              <a:lnSpc>
                <a:spcPct val="120000"/>
              </a:lnSpc>
              <a:buNone/>
            </a:pPr>
            <a:r>
              <a:rPr lang="en-US" sz="1300" i="1" dirty="0">
                <a:solidFill>
                  <a:srgbClr val="0E1C42"/>
                </a:solidFill>
                <a:latin typeface="Calibri" pitchFamily="34" charset="0"/>
                <a:ea typeface="Calibri" pitchFamily="34" charset="-122"/>
                <a:cs typeface="Calibri" pitchFamily="34" charset="-120"/>
              </a:rPr>
              <a:t>On most flat maps, Antarctica looks like a giant white stripe along the bottom. On a globe, it’s actually a small, round continent about the size of the United States and Mexico together. Distortion is sneaky!</a:t>
            </a:r>
            <a:endParaRPr lang="en-US" sz="1300" dirty="0"/>
          </a:p>
        </p:txBody>
      </p:sp>
      <p:sp>
        <p:nvSpPr>
          <p:cNvPr id="15" name="Shape 13"/>
          <p:cNvSpPr/>
          <p:nvPr/>
        </p:nvSpPr>
        <p:spPr>
          <a:xfrm>
            <a:off x="894080" y="8046720"/>
            <a:ext cx="14630400" cy="650240"/>
          </a:xfrm>
          <a:prstGeom prst="roundRect">
            <a:avLst>
              <a:gd name="adj" fmla="val 20000"/>
            </a:avLst>
          </a:prstGeom>
          <a:solidFill>
            <a:srgbClr val="0E1C42"/>
          </a:solidFill>
          <a:ln/>
        </p:spPr>
      </p:sp>
      <p:sp>
        <p:nvSpPr>
          <p:cNvPr id="16" name="Text 14"/>
          <p:cNvSpPr/>
          <p:nvPr/>
        </p:nvSpPr>
        <p:spPr>
          <a:xfrm>
            <a:off x="1219200" y="8046720"/>
            <a:ext cx="13980160" cy="650240"/>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Neither tool is "wrong" — curators choose the right tool for the job!</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Shape 0"/>
          <p:cNvSpPr/>
          <p:nvPr/>
        </p:nvSpPr>
        <p:spPr>
          <a:xfrm>
            <a:off x="0" y="0"/>
            <a:ext cx="16256000" cy="97536"/>
          </a:xfrm>
          <a:prstGeom prst="rect">
            <a:avLst/>
          </a:prstGeom>
          <a:solidFill>
            <a:srgbClr val="0E1C42"/>
          </a:solidFill>
          <a:ln/>
        </p:spPr>
      </p:sp>
      <p:sp>
        <p:nvSpPr>
          <p:cNvPr id="3" name="Shape 1"/>
          <p:cNvSpPr/>
          <p:nvPr/>
        </p:nvSpPr>
        <p:spPr>
          <a:xfrm>
            <a:off x="0" y="97536"/>
            <a:ext cx="16256000" cy="9046464"/>
          </a:xfrm>
          <a:prstGeom prst="rect">
            <a:avLst/>
          </a:prstGeom>
          <a:solidFill>
            <a:srgbClr val="F0F2F8"/>
          </a:solidFill>
          <a:ln/>
        </p:spPr>
      </p:sp>
      <p:sp>
        <p:nvSpPr>
          <p:cNvPr id="4" name="Shape 2"/>
          <p:cNvSpPr/>
          <p:nvPr/>
        </p:nvSpPr>
        <p:spPr>
          <a:xfrm>
            <a:off x="487680" y="406400"/>
            <a:ext cx="97536" cy="568960"/>
          </a:xfrm>
          <a:prstGeom prst="rect">
            <a:avLst/>
          </a:prstGeom>
          <a:solidFill>
            <a:srgbClr val="D4943A"/>
          </a:solidFill>
          <a:ln/>
        </p:spPr>
      </p:sp>
      <p:sp>
        <p:nvSpPr>
          <p:cNvPr id="5" name="Text 3"/>
          <p:cNvSpPr/>
          <p:nvPr/>
        </p:nvSpPr>
        <p:spPr>
          <a:xfrm>
            <a:off x="894080" y="406400"/>
            <a:ext cx="13817600" cy="568960"/>
          </a:xfrm>
          <a:prstGeom prst="rect">
            <a:avLst/>
          </a:prstGeom>
          <a:noFill/>
          <a:ln/>
        </p:spPr>
        <p:txBody>
          <a:bodyPr wrap="square" rtlCol="0" anchor="ctr"/>
          <a:lstStyle/>
          <a:p>
            <a:pPr indent="0" marL="0">
              <a:buNone/>
            </a:pPr>
            <a:r>
              <a:rPr lang="en-US" sz="1800" b="1" dirty="0">
                <a:solidFill>
                  <a:srgbClr val="0E1C42"/>
                </a:solidFill>
                <a:latin typeface="Cambria" pitchFamily="34" charset="0"/>
                <a:ea typeface="Cambria" pitchFamily="34" charset="-122"/>
                <a:cs typeface="Cambria" pitchFamily="34" charset="-120"/>
              </a:rPr>
              <a:t>Why It Matters</a:t>
            </a:r>
            <a:endParaRPr lang="en-US" sz="1800" dirty="0"/>
          </a:p>
        </p:txBody>
      </p:sp>
      <p:sp>
        <p:nvSpPr>
          <p:cNvPr id="6" name="Text 4"/>
          <p:cNvSpPr/>
          <p:nvPr/>
        </p:nvSpPr>
        <p:spPr>
          <a:xfrm>
            <a:off x="894080" y="1219200"/>
            <a:ext cx="14305280" cy="650240"/>
          </a:xfrm>
          <a:prstGeom prst="rect">
            <a:avLst/>
          </a:prstGeom>
          <a:noFill/>
          <a:ln/>
        </p:spPr>
        <p:txBody>
          <a:bodyPr wrap="square" rtlCol="0" anchor="ctr"/>
          <a:lstStyle/>
          <a:p>
            <a:pPr indent="0" marL="0">
              <a:buNone/>
            </a:pPr>
            <a:r>
              <a:rPr lang="en-US" sz="1600" b="1" dirty="0">
                <a:solidFill>
                  <a:srgbClr val="0E1C42"/>
                </a:solidFill>
                <a:latin typeface="Calibri" pitchFamily="34" charset="0"/>
                <a:ea typeface="Calibri" pitchFamily="34" charset="-122"/>
                <a:cs typeface="Calibri" pitchFamily="34" charset="-120"/>
              </a:rPr>
              <a:t>A good curator knows WHEN to use each tool.</a:t>
            </a:r>
            <a:endParaRPr lang="en-US" sz="1600" dirty="0"/>
          </a:p>
        </p:txBody>
      </p:sp>
      <p:sp>
        <p:nvSpPr>
          <p:cNvPr id="7" name="Shape 5"/>
          <p:cNvSpPr/>
          <p:nvPr/>
        </p:nvSpPr>
        <p:spPr>
          <a:xfrm>
            <a:off x="894080" y="2113280"/>
            <a:ext cx="14305280" cy="2438400"/>
          </a:xfrm>
          <a:prstGeom prst="roundRect">
            <a:avLst>
              <a:gd name="adj" fmla="val 8000"/>
            </a:avLst>
          </a:prstGeom>
          <a:solidFill>
            <a:srgbClr val="FFFFFF"/>
          </a:solidFill>
          <a:ln w="12700">
            <a:solidFill>
              <a:srgbClr val="1A8A7D"/>
            </a:solidFill>
            <a:prstDash val="solid"/>
          </a:ln>
        </p:spPr>
      </p:sp>
      <p:sp>
        <p:nvSpPr>
          <p:cNvPr id="8" name="Text 6"/>
          <p:cNvSpPr/>
          <p:nvPr/>
        </p:nvSpPr>
        <p:spPr>
          <a:xfrm>
            <a:off x="1219200" y="2243328"/>
            <a:ext cx="3251200" cy="357632"/>
          </a:xfrm>
          <a:prstGeom prst="rect">
            <a:avLst/>
          </a:prstGeom>
          <a:noFill/>
          <a:ln/>
        </p:spPr>
        <p:txBody>
          <a:bodyPr wrap="square" rtlCol="0" anchor="ctr"/>
          <a:lstStyle/>
          <a:p>
            <a:pPr indent="0" marL="0">
              <a:buNone/>
            </a:pPr>
            <a:r>
              <a:rPr lang="en-US" sz="900" b="1" spc="150" kern="0" dirty="0">
                <a:solidFill>
                  <a:srgbClr val="1A8A7D"/>
                </a:solidFill>
                <a:latin typeface="Calibri" pitchFamily="34" charset="0"/>
                <a:ea typeface="Calibri" pitchFamily="34" charset="-122"/>
                <a:cs typeface="Calibri" pitchFamily="34" charset="-120"/>
              </a:rPr>
              <a:t>DISCUSSION</a:t>
            </a:r>
            <a:endParaRPr lang="en-US" sz="900" dirty="0"/>
          </a:p>
        </p:txBody>
      </p:sp>
      <p:sp>
        <p:nvSpPr>
          <p:cNvPr id="9" name="Text 7"/>
          <p:cNvSpPr/>
          <p:nvPr/>
        </p:nvSpPr>
        <p:spPr>
          <a:xfrm>
            <a:off x="1219200" y="2682240"/>
            <a:ext cx="13655040" cy="1625600"/>
          </a:xfrm>
          <a:prstGeom prst="rect">
            <a:avLst/>
          </a:prstGeom>
          <a:noFill/>
          <a:ln/>
        </p:spPr>
        <p:txBody>
          <a:bodyPr wrap="square" lIns="0" tIns="0" rIns="0" bIns="0" rtlCol="0" anchor="t"/>
          <a:lstStyle/>
          <a:p>
            <a:pPr marL="342900" indent="-342900">
              <a:spcAft>
                <a:spcPts val="400"/>
              </a:spcAft>
              <a:buSzPct val="100000"/>
              <a:buChar char="•"/>
            </a:pPr>
            <a:r>
              <a:rPr lang="en-US" sz="1200" dirty="0">
                <a:solidFill>
                  <a:srgbClr val="0E1C42"/>
                </a:solidFill>
                <a:latin typeface="Calibri" pitchFamily="34" charset="0"/>
                <a:ea typeface="Calibri" pitchFamily="34" charset="-122"/>
                <a:cs typeface="Calibri" pitchFamily="34" charset="-120"/>
              </a:rPr>
              <a:t>If a museum visitor asks which display is "correct," what would you tell them?</a:t>
            </a:r>
            <a:endParaRPr lang="en-US" sz="1200" dirty="0"/>
          </a:p>
          <a:p>
            <a:pPr marL="342900" indent="-342900">
              <a:spcAft>
                <a:spcPts val="400"/>
              </a:spcAft>
              <a:buSzPct val="100000"/>
              <a:buChar char="•"/>
            </a:pPr>
            <a:r>
              <a:rPr lang="en-US" sz="1200" dirty="0">
                <a:solidFill>
                  <a:srgbClr val="0E1C42"/>
                </a:solidFill>
                <a:latin typeface="Calibri" pitchFamily="34" charset="0"/>
                <a:ea typeface="Calibri" pitchFamily="34" charset="-122"/>
                <a:cs typeface="Calibri" pitchFamily="34" charset="-120"/>
              </a:rPr>
              <a:t>Why is it important to know about distortion when you look at a map?</a:t>
            </a:r>
            <a:endParaRPr lang="en-US" sz="1200" dirty="0"/>
          </a:p>
          <a:p>
            <a:pPr marL="342900" indent="-342900">
              <a:spcAft>
                <a:spcPts val="400"/>
              </a:spcAft>
              <a:buSzPct val="100000"/>
              <a:buChar char="•"/>
            </a:pPr>
            <a:r>
              <a:rPr lang="en-US" sz="1200" dirty="0">
                <a:solidFill>
                  <a:srgbClr val="0E1C42"/>
                </a:solidFill>
                <a:latin typeface="Calibri" pitchFamily="34" charset="0"/>
                <a:ea typeface="Calibri" pitchFamily="34" charset="-122"/>
                <a:cs typeface="Calibri" pitchFamily="34" charset="-120"/>
              </a:rPr>
              <a:t>How does this connect to being a good Map Curator?</a:t>
            </a:r>
            <a:endParaRPr lang="en-US" sz="1200" dirty="0"/>
          </a:p>
        </p:txBody>
      </p:sp>
      <p:sp>
        <p:nvSpPr>
          <p:cNvPr id="10" name="Shape 8"/>
          <p:cNvSpPr/>
          <p:nvPr/>
        </p:nvSpPr>
        <p:spPr>
          <a:xfrm>
            <a:off x="894080" y="4958080"/>
            <a:ext cx="14305280" cy="1137920"/>
          </a:xfrm>
          <a:prstGeom prst="roundRect">
            <a:avLst>
              <a:gd name="adj" fmla="val 14286"/>
            </a:avLst>
          </a:prstGeom>
          <a:solidFill>
            <a:srgbClr val="1A2D5A"/>
          </a:solidFill>
          <a:ln/>
        </p:spPr>
      </p:sp>
      <p:sp>
        <p:nvSpPr>
          <p:cNvPr id="11" name="Text 9"/>
          <p:cNvSpPr/>
          <p:nvPr/>
        </p:nvSpPr>
        <p:spPr>
          <a:xfrm>
            <a:off x="1219200" y="5039360"/>
            <a:ext cx="3251200" cy="357632"/>
          </a:xfrm>
          <a:prstGeom prst="rect">
            <a:avLst/>
          </a:prstGeom>
          <a:noFill/>
          <a:ln/>
        </p:spPr>
        <p:txBody>
          <a:bodyPr wrap="square" rtlCol="0" anchor="ctr"/>
          <a:lstStyle/>
          <a:p>
            <a:pPr indent="0" marL="0">
              <a:buNone/>
            </a:pPr>
            <a:r>
              <a:rPr lang="en-US" sz="900" b="1" spc="150" kern="0" dirty="0">
                <a:solidFill>
                  <a:srgbClr val="55C8E8"/>
                </a:solidFill>
                <a:latin typeface="Calibri" pitchFamily="34" charset="0"/>
                <a:ea typeface="Calibri" pitchFamily="34" charset="-122"/>
                <a:cs typeface="Calibri" pitchFamily="34" charset="-120"/>
              </a:rPr>
              <a:t>SOCRATIC FOCUS</a:t>
            </a:r>
            <a:endParaRPr lang="en-US" sz="900" dirty="0"/>
          </a:p>
        </p:txBody>
      </p:sp>
      <p:sp>
        <p:nvSpPr>
          <p:cNvPr id="12" name="Text 10"/>
          <p:cNvSpPr/>
          <p:nvPr/>
        </p:nvSpPr>
        <p:spPr>
          <a:xfrm>
            <a:off x="1219200" y="5445760"/>
            <a:ext cx="13655040" cy="568960"/>
          </a:xfrm>
          <a:prstGeom prst="rect">
            <a:avLst/>
          </a:prstGeom>
          <a:noFill/>
          <a:ln/>
        </p:spPr>
        <p:txBody>
          <a:bodyPr wrap="square" rtlCol="0" anchor="ctr"/>
          <a:lstStyle/>
          <a:p>
            <a:pPr indent="0" marL="0">
              <a:buNone/>
            </a:pPr>
            <a:r>
              <a:rPr lang="en-US" sz="1300" i="1" dirty="0">
                <a:solidFill>
                  <a:srgbClr val="FFFFFF"/>
                </a:solidFill>
                <a:latin typeface="Calibri" pitchFamily="34" charset="0"/>
                <a:ea typeface="Calibri" pitchFamily="34" charset="-122"/>
                <a:cs typeface="Calibri" pitchFamily="34" charset="-120"/>
              </a:rPr>
              <a:t>What does this map show, and what choice or pattern does it help us explain?</a:t>
            </a:r>
            <a:endParaRPr lang="en-US" sz="1300" dirty="0"/>
          </a:p>
        </p:txBody>
      </p:sp>
      <p:sp>
        <p:nvSpPr>
          <p:cNvPr id="13" name="Shape 11"/>
          <p:cNvSpPr/>
          <p:nvPr/>
        </p:nvSpPr>
        <p:spPr>
          <a:xfrm>
            <a:off x="894080" y="6502400"/>
            <a:ext cx="14305280" cy="1788160"/>
          </a:xfrm>
          <a:prstGeom prst="roundRect">
            <a:avLst>
              <a:gd name="adj" fmla="val 9091"/>
            </a:avLst>
          </a:prstGeom>
          <a:solidFill>
            <a:srgbClr val="FFFFFF"/>
          </a:solidFill>
          <a:ln w="12700">
            <a:solidFill>
              <a:srgbClr val="D4943A"/>
            </a:solidFill>
            <a:prstDash val="solid"/>
          </a:ln>
        </p:spPr>
      </p:sp>
      <p:sp>
        <p:nvSpPr>
          <p:cNvPr id="14" name="Text 12"/>
          <p:cNvSpPr/>
          <p:nvPr/>
        </p:nvSpPr>
        <p:spPr>
          <a:xfrm>
            <a:off x="1219200" y="6632448"/>
            <a:ext cx="13655040" cy="357632"/>
          </a:xfrm>
          <a:prstGeom prst="rect">
            <a:avLst/>
          </a:prstGeom>
          <a:noFill/>
          <a:ln/>
        </p:spPr>
        <p:txBody>
          <a:bodyPr wrap="square" rtlCol="0" anchor="ctr"/>
          <a:lstStyle/>
          <a:p>
            <a:pPr indent="0" marL="0">
              <a:buNone/>
            </a:pPr>
            <a:r>
              <a:rPr lang="en-US" sz="900" b="1" spc="150" kern="0" dirty="0">
                <a:solidFill>
                  <a:srgbClr val="D4943A"/>
                </a:solidFill>
                <a:latin typeface="Calibri" pitchFamily="34" charset="0"/>
                <a:ea typeface="Calibri" pitchFamily="34" charset="-122"/>
                <a:cs typeface="Calibri" pitchFamily="34" charset="-120"/>
              </a:rPr>
              <a:t>THINKING MOVE: NOTICE &gt; NAME &gt; NARRATE</a:t>
            </a:r>
            <a:endParaRPr lang="en-US" sz="900" dirty="0"/>
          </a:p>
        </p:txBody>
      </p:sp>
      <p:sp>
        <p:nvSpPr>
          <p:cNvPr id="15" name="Text 13"/>
          <p:cNvSpPr/>
          <p:nvPr/>
        </p:nvSpPr>
        <p:spPr>
          <a:xfrm>
            <a:off x="1219200" y="7071360"/>
            <a:ext cx="13655040" cy="1137920"/>
          </a:xfrm>
          <a:prstGeom prst="rect">
            <a:avLst/>
          </a:prstGeom>
          <a:noFill/>
          <a:ln/>
        </p:spPr>
        <p:txBody>
          <a:bodyPr wrap="square" rtlCol="0" anchor="t"/>
          <a:lstStyle/>
          <a:p>
            <a:pPr indent="0" marL="0">
              <a:lnSpc>
                <a:spcPct val="125000"/>
              </a:lnSpc>
              <a:buNone/>
            </a:pPr>
            <a:r>
              <a:rPr lang="en-US" sz="1200" b="1" dirty="0">
                <a:solidFill>
                  <a:srgbClr val="0E1C42"/>
                </a:solidFill>
                <a:latin typeface="Calibri" pitchFamily="34" charset="0"/>
                <a:ea typeface="Calibri" pitchFamily="34" charset="-122"/>
                <a:cs typeface="Calibri" pitchFamily="34" charset="-120"/>
              </a:rPr>
              <a:t>Notice </a:t>
            </a:r>
            <a:pPr indent="0" marL="0">
              <a:lnSpc>
                <a:spcPct val="125000"/>
              </a:lnSpc>
              <a:buNone/>
            </a:pPr>
            <a:r>
              <a:rPr lang="en-US" sz="1200" dirty="0">
                <a:solidFill>
                  <a:srgbClr val="0E1C42"/>
                </a:solidFill>
                <a:latin typeface="Calibri" pitchFamily="34" charset="0"/>
                <a:ea typeface="Calibri" pitchFamily="34" charset="-122"/>
                <a:cs typeface="Calibri" pitchFamily="34" charset="-120"/>
              </a:rPr>
              <a:t>the difference between the globe and the flat map.
</a:t>
            </a:r>
            <a:pPr indent="0" marL="0">
              <a:lnSpc>
                <a:spcPct val="125000"/>
              </a:lnSpc>
              <a:buNone/>
            </a:pPr>
            <a:r>
              <a:rPr lang="en-US" sz="1200" b="1" dirty="0">
                <a:solidFill>
                  <a:srgbClr val="0E1C42"/>
                </a:solidFill>
                <a:latin typeface="Calibri" pitchFamily="34" charset="0"/>
                <a:ea typeface="Calibri" pitchFamily="34" charset="-122"/>
                <a:cs typeface="Calibri" pitchFamily="34" charset="-120"/>
              </a:rPr>
              <a:t>Name </a:t>
            </a:r>
            <a:pPr indent="0" marL="0">
              <a:lnSpc>
                <a:spcPct val="125000"/>
              </a:lnSpc>
              <a:buNone/>
            </a:pPr>
            <a:r>
              <a:rPr lang="en-US" sz="1200" dirty="0">
                <a:solidFill>
                  <a:srgbClr val="0E1C42"/>
                </a:solidFill>
                <a:latin typeface="Calibri" pitchFamily="34" charset="0"/>
                <a:ea typeface="Calibri" pitchFamily="34" charset="-122"/>
                <a:cs typeface="Calibri" pitchFamily="34" charset="-120"/>
              </a:rPr>
              <a:t>it: that difference is called distortion.
</a:t>
            </a:r>
            <a:pPr indent="0" marL="0">
              <a:lnSpc>
                <a:spcPct val="125000"/>
              </a:lnSpc>
              <a:buNone/>
            </a:pPr>
            <a:r>
              <a:rPr lang="en-US" sz="1200" b="1" dirty="0">
                <a:solidFill>
                  <a:srgbClr val="0E1C42"/>
                </a:solidFill>
                <a:latin typeface="Calibri" pitchFamily="34" charset="0"/>
                <a:ea typeface="Calibri" pitchFamily="34" charset="-122"/>
                <a:cs typeface="Calibri" pitchFamily="34" charset="-120"/>
              </a:rPr>
              <a:t>Narrate </a:t>
            </a:r>
            <a:pPr indent="0" marL="0">
              <a:lnSpc>
                <a:spcPct val="125000"/>
              </a:lnSpc>
              <a:buNone/>
            </a:pPr>
            <a:r>
              <a:rPr lang="en-US" sz="1200" dirty="0">
                <a:solidFill>
                  <a:srgbClr val="0E1C42"/>
                </a:solidFill>
                <a:latin typeface="Calibri" pitchFamily="34" charset="0"/>
                <a:ea typeface="Calibri" pitchFamily="34" charset="-122"/>
                <a:cs typeface="Calibri" pitchFamily="34" charset="-120"/>
              </a:rPr>
              <a:t>the reason: flat maps stretch round surfaces, especially near the poles.</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Shape 0"/>
          <p:cNvSpPr/>
          <p:nvPr/>
        </p:nvSpPr>
        <p:spPr>
          <a:xfrm>
            <a:off x="0" y="0"/>
            <a:ext cx="16256000" cy="97536"/>
          </a:xfrm>
          <a:prstGeom prst="rect">
            <a:avLst/>
          </a:prstGeom>
          <a:solidFill>
            <a:srgbClr val="0E1C42"/>
          </a:solidFill>
          <a:ln/>
        </p:spPr>
      </p:sp>
      <p:sp>
        <p:nvSpPr>
          <p:cNvPr id="3" name="Shape 1"/>
          <p:cNvSpPr/>
          <p:nvPr/>
        </p:nvSpPr>
        <p:spPr>
          <a:xfrm>
            <a:off x="0" y="97536"/>
            <a:ext cx="16256000" cy="9046464"/>
          </a:xfrm>
          <a:prstGeom prst="rect">
            <a:avLst/>
          </a:prstGeom>
          <a:solidFill>
            <a:srgbClr val="FFFFFF"/>
          </a:solidFill>
          <a:ln/>
        </p:spPr>
      </p:sp>
      <p:sp>
        <p:nvSpPr>
          <p:cNvPr id="4" name="Shape 2"/>
          <p:cNvSpPr/>
          <p:nvPr/>
        </p:nvSpPr>
        <p:spPr>
          <a:xfrm>
            <a:off x="487680" y="406400"/>
            <a:ext cx="97536" cy="568960"/>
          </a:xfrm>
          <a:prstGeom prst="rect">
            <a:avLst/>
          </a:prstGeom>
          <a:solidFill>
            <a:srgbClr val="D4943A"/>
          </a:solidFill>
          <a:ln/>
        </p:spPr>
      </p:sp>
      <p:sp>
        <p:nvSpPr>
          <p:cNvPr id="5" name="Text 3"/>
          <p:cNvSpPr/>
          <p:nvPr/>
        </p:nvSpPr>
        <p:spPr>
          <a:xfrm>
            <a:off x="894080" y="406400"/>
            <a:ext cx="13817600" cy="568960"/>
          </a:xfrm>
          <a:prstGeom prst="rect">
            <a:avLst/>
          </a:prstGeom>
          <a:noFill/>
          <a:ln/>
        </p:spPr>
        <p:txBody>
          <a:bodyPr wrap="square" rtlCol="0" anchor="ctr"/>
          <a:lstStyle/>
          <a:p>
            <a:pPr indent="0" marL="0">
              <a:buNone/>
            </a:pPr>
            <a:r>
              <a:rPr lang="en-US" sz="1800" b="1" dirty="0">
                <a:solidFill>
                  <a:srgbClr val="0E1C42"/>
                </a:solidFill>
                <a:latin typeface="Cambria" pitchFamily="34" charset="0"/>
                <a:ea typeface="Cambria" pitchFamily="34" charset="-122"/>
                <a:cs typeface="Cambria" pitchFamily="34" charset="-120"/>
              </a:rPr>
              <a:t>Guided Practice: I Do</a:t>
            </a:r>
            <a:endParaRPr lang="en-US" sz="1800" dirty="0"/>
          </a:p>
        </p:txBody>
      </p:sp>
      <p:sp>
        <p:nvSpPr>
          <p:cNvPr id="6" name="Text 4"/>
          <p:cNvSpPr/>
          <p:nvPr/>
        </p:nvSpPr>
        <p:spPr>
          <a:xfrm>
            <a:off x="894080" y="1170432"/>
            <a:ext cx="14305280" cy="568960"/>
          </a:xfrm>
          <a:prstGeom prst="rect">
            <a:avLst/>
          </a:prstGeom>
          <a:noFill/>
          <a:ln/>
        </p:spPr>
        <p:txBody>
          <a:bodyPr wrap="square" rtlCol="0" anchor="ctr"/>
          <a:lstStyle/>
          <a:p>
            <a:pPr indent="0" marL="0">
              <a:buNone/>
            </a:pPr>
            <a:r>
              <a:rPr lang="en-US" sz="1300" dirty="0">
                <a:solidFill>
                  <a:srgbClr val="0E1C42"/>
                </a:solidFill>
                <a:latin typeface="Calibri" pitchFamily="34" charset="0"/>
                <a:ea typeface="Calibri" pitchFamily="34" charset="-122"/>
                <a:cs typeface="Calibri" pitchFamily="34" charset="-120"/>
              </a:rPr>
              <a:t>Let me show you how to answer an evidence question.</a:t>
            </a:r>
            <a:endParaRPr lang="en-US" sz="1300" dirty="0"/>
          </a:p>
        </p:txBody>
      </p:sp>
      <p:sp>
        <p:nvSpPr>
          <p:cNvPr id="7" name="Shape 5"/>
          <p:cNvSpPr/>
          <p:nvPr/>
        </p:nvSpPr>
        <p:spPr>
          <a:xfrm>
            <a:off x="894080" y="1950720"/>
            <a:ext cx="14305280" cy="1300480"/>
          </a:xfrm>
          <a:prstGeom prst="roundRect">
            <a:avLst>
              <a:gd name="adj" fmla="val 12500"/>
            </a:avLst>
          </a:prstGeom>
          <a:solidFill>
            <a:srgbClr val="EAF8FD"/>
          </a:solidFill>
          <a:ln w="19050">
            <a:solidFill>
              <a:srgbClr val="1A8A7D"/>
            </a:solidFill>
            <a:prstDash val="solid"/>
          </a:ln>
        </p:spPr>
      </p:sp>
      <p:sp>
        <p:nvSpPr>
          <p:cNvPr id="8" name="Text 6"/>
          <p:cNvSpPr/>
          <p:nvPr/>
        </p:nvSpPr>
        <p:spPr>
          <a:xfrm>
            <a:off x="1219200" y="2032000"/>
            <a:ext cx="4876800" cy="357632"/>
          </a:xfrm>
          <a:prstGeom prst="rect">
            <a:avLst/>
          </a:prstGeom>
          <a:noFill/>
          <a:ln/>
        </p:spPr>
        <p:txBody>
          <a:bodyPr wrap="square" rtlCol="0" anchor="ctr"/>
          <a:lstStyle/>
          <a:p>
            <a:pPr indent="0" marL="0">
              <a:buNone/>
            </a:pPr>
            <a:r>
              <a:rPr lang="en-US" sz="900" b="1" spc="150" kern="0" dirty="0">
                <a:solidFill>
                  <a:srgbClr val="1A8A7D"/>
                </a:solidFill>
                <a:latin typeface="Calibri" pitchFamily="34" charset="0"/>
                <a:ea typeface="Calibri" pitchFamily="34" charset="-122"/>
                <a:cs typeface="Calibri" pitchFamily="34" charset="-120"/>
              </a:rPr>
              <a:t>EVIDENCE QUESTION 1</a:t>
            </a:r>
            <a:endParaRPr lang="en-US" sz="900" dirty="0"/>
          </a:p>
        </p:txBody>
      </p:sp>
      <p:sp>
        <p:nvSpPr>
          <p:cNvPr id="9" name="Text 7"/>
          <p:cNvSpPr/>
          <p:nvPr/>
        </p:nvSpPr>
        <p:spPr>
          <a:xfrm>
            <a:off x="1219200" y="2470912"/>
            <a:ext cx="13655040" cy="650240"/>
          </a:xfrm>
          <a:prstGeom prst="rect">
            <a:avLst/>
          </a:prstGeom>
          <a:noFill/>
          <a:ln/>
        </p:spPr>
        <p:txBody>
          <a:bodyPr wrap="square" rtlCol="0" anchor="ctr"/>
          <a:lstStyle/>
          <a:p>
            <a:pPr indent="0" marL="0">
              <a:buNone/>
            </a:pPr>
            <a:r>
              <a:rPr lang="en-US" sz="1300" i="1" dirty="0">
                <a:solidFill>
                  <a:srgbClr val="0E1C42"/>
                </a:solidFill>
                <a:latin typeface="Calibri" pitchFamily="34" charset="0"/>
                <a:ea typeface="Calibri" pitchFamily="34" charset="-122"/>
                <a:cs typeface="Calibri" pitchFamily="34" charset="-120"/>
              </a:rPr>
              <a:t>In your own words, explain what distortion is and why flat maps have it.</a:t>
            </a:r>
            <a:endParaRPr lang="en-US" sz="1300" dirty="0"/>
          </a:p>
        </p:txBody>
      </p:sp>
      <p:sp>
        <p:nvSpPr>
          <p:cNvPr id="10" name="Shape 8"/>
          <p:cNvSpPr/>
          <p:nvPr/>
        </p:nvSpPr>
        <p:spPr>
          <a:xfrm>
            <a:off x="894080" y="3657600"/>
            <a:ext cx="14305280" cy="3251200"/>
          </a:xfrm>
          <a:prstGeom prst="roundRect">
            <a:avLst>
              <a:gd name="adj" fmla="val 6000"/>
            </a:avLst>
          </a:prstGeom>
          <a:solidFill>
            <a:srgbClr val="E3F8ED"/>
          </a:solidFill>
          <a:ln w="19050">
            <a:solidFill>
              <a:srgbClr val="34B76F"/>
            </a:solidFill>
            <a:prstDash val="solid"/>
          </a:ln>
        </p:spPr>
      </p:sp>
      <p:sp>
        <p:nvSpPr>
          <p:cNvPr id="11" name="Text 9"/>
          <p:cNvSpPr/>
          <p:nvPr/>
        </p:nvSpPr>
        <p:spPr>
          <a:xfrm>
            <a:off x="1219200" y="3771392"/>
            <a:ext cx="4876800" cy="357632"/>
          </a:xfrm>
          <a:prstGeom prst="rect">
            <a:avLst/>
          </a:prstGeom>
          <a:noFill/>
          <a:ln/>
        </p:spPr>
        <p:txBody>
          <a:bodyPr wrap="square" rtlCol="0" anchor="ctr"/>
          <a:lstStyle/>
          <a:p>
            <a:pPr indent="0" marL="0">
              <a:buNone/>
            </a:pPr>
            <a:r>
              <a:rPr lang="en-US" sz="900" b="1" spc="150" kern="0" dirty="0">
                <a:solidFill>
                  <a:srgbClr val="34B76F"/>
                </a:solidFill>
                <a:latin typeface="Calibri" pitchFamily="34" charset="0"/>
                <a:ea typeface="Calibri" pitchFamily="34" charset="-122"/>
                <a:cs typeface="Calibri" pitchFamily="34" charset="-120"/>
              </a:rPr>
              <a:t>MODEL ANSWER</a:t>
            </a:r>
            <a:endParaRPr lang="en-US" sz="900" dirty="0"/>
          </a:p>
        </p:txBody>
      </p:sp>
      <p:sp>
        <p:nvSpPr>
          <p:cNvPr id="12" name="Text 10"/>
          <p:cNvSpPr/>
          <p:nvPr/>
        </p:nvSpPr>
        <p:spPr>
          <a:xfrm>
            <a:off x="1219200" y="4226560"/>
            <a:ext cx="13655040" cy="2438400"/>
          </a:xfrm>
          <a:prstGeom prst="rect">
            <a:avLst/>
          </a:prstGeom>
          <a:noFill/>
          <a:ln/>
        </p:spPr>
        <p:txBody>
          <a:bodyPr wrap="square" rtlCol="0" anchor="ctr"/>
          <a:lstStyle/>
          <a:p>
            <a:pPr indent="0" marL="0">
              <a:lnSpc>
                <a:spcPct val="130000"/>
              </a:lnSpc>
              <a:buNone/>
            </a:pPr>
            <a:r>
              <a:rPr lang="en-US" sz="1300" i="1" dirty="0">
                <a:solidFill>
                  <a:srgbClr val="0E1C42"/>
                </a:solidFill>
                <a:latin typeface="Calibri" pitchFamily="34" charset="0"/>
                <a:ea typeface="Calibri" pitchFamily="34" charset="-122"/>
                <a:cs typeface="Calibri" pitchFamily="34" charset="-120"/>
              </a:rPr>
              <a:t>"Distortion means shapes or sizes on a flat map don’t match the real world. For example, Greenland looks almost as big as Africa on a flat map, but on a globe it’s much smaller. This happens because the Earth is round, but a map is flat — so when you flatten a round surface, the shapes get stretched, especially near the poles."</a:t>
            </a:r>
            <a:endParaRPr lang="en-US" sz="1300" dirty="0"/>
          </a:p>
        </p:txBody>
      </p:sp>
      <p:sp>
        <p:nvSpPr>
          <p:cNvPr id="13" name="Shape 11"/>
          <p:cNvSpPr/>
          <p:nvPr/>
        </p:nvSpPr>
        <p:spPr>
          <a:xfrm>
            <a:off x="894080" y="7233920"/>
            <a:ext cx="14305280" cy="1300480"/>
          </a:xfrm>
          <a:prstGeom prst="roundRect">
            <a:avLst>
              <a:gd name="adj" fmla="val 12500"/>
            </a:avLst>
          </a:prstGeom>
          <a:solidFill>
            <a:srgbClr val="F0F2F8"/>
          </a:solidFill>
          <a:ln/>
        </p:spPr>
      </p:sp>
      <p:sp>
        <p:nvSpPr>
          <p:cNvPr id="14" name="Text 12"/>
          <p:cNvSpPr/>
          <p:nvPr/>
        </p:nvSpPr>
        <p:spPr>
          <a:xfrm>
            <a:off x="1219200" y="7282688"/>
            <a:ext cx="4876800" cy="357632"/>
          </a:xfrm>
          <a:prstGeom prst="rect">
            <a:avLst/>
          </a:prstGeom>
          <a:noFill/>
          <a:ln/>
        </p:spPr>
        <p:txBody>
          <a:bodyPr wrap="square" rtlCol="0" anchor="ctr"/>
          <a:lstStyle/>
          <a:p>
            <a:pPr indent="0" marL="0">
              <a:buNone/>
            </a:pPr>
            <a:r>
              <a:rPr lang="en-US" sz="900" b="1" spc="100" kern="0" dirty="0">
                <a:solidFill>
                  <a:srgbClr val="0E1C42"/>
                </a:solidFill>
                <a:latin typeface="Calibri" pitchFamily="34" charset="0"/>
                <a:ea typeface="Calibri" pitchFamily="34" charset="-122"/>
                <a:cs typeface="Calibri" pitchFamily="34" charset="-120"/>
              </a:rPr>
              <a:t>NOTICE THE PATTERN:</a:t>
            </a:r>
            <a:endParaRPr lang="en-US" sz="900" dirty="0"/>
          </a:p>
        </p:txBody>
      </p:sp>
      <p:sp>
        <p:nvSpPr>
          <p:cNvPr id="15" name="Text 13"/>
          <p:cNvSpPr/>
          <p:nvPr/>
        </p:nvSpPr>
        <p:spPr>
          <a:xfrm>
            <a:off x="1219200" y="7672832"/>
            <a:ext cx="13655040" cy="650240"/>
          </a:xfrm>
          <a:prstGeom prst="rect">
            <a:avLst/>
          </a:prstGeom>
          <a:noFill/>
          <a:ln/>
        </p:spPr>
        <p:txBody>
          <a:bodyPr wrap="square" rtlCol="0" anchor="ctr"/>
          <a:lstStyle/>
          <a:p>
            <a:pPr indent="0" marL="0">
              <a:buNone/>
            </a:pPr>
            <a:r>
              <a:rPr lang="en-US" sz="1400" b="1" dirty="0">
                <a:solidFill>
                  <a:srgbClr val="1A8A7D"/>
                </a:solidFill>
                <a:latin typeface="Calibri" pitchFamily="34" charset="0"/>
                <a:ea typeface="Calibri" pitchFamily="34" charset="-122"/>
                <a:cs typeface="Calibri" pitchFamily="34" charset="-120"/>
              </a:rPr>
              <a:t>Definition + Example + Explanation = Strong answer!</a:t>
            </a:r>
            <a:endParaRPr lang="en-US" sz="14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Shape 0"/>
          <p:cNvSpPr/>
          <p:nvPr/>
        </p:nvSpPr>
        <p:spPr>
          <a:xfrm>
            <a:off x="0" y="0"/>
            <a:ext cx="16256000" cy="97536"/>
          </a:xfrm>
          <a:prstGeom prst="rect">
            <a:avLst/>
          </a:prstGeom>
          <a:solidFill>
            <a:srgbClr val="0E1C42"/>
          </a:solidFill>
          <a:ln/>
        </p:spPr>
      </p:sp>
      <p:sp>
        <p:nvSpPr>
          <p:cNvPr id="3" name="Shape 1"/>
          <p:cNvSpPr/>
          <p:nvPr/>
        </p:nvSpPr>
        <p:spPr>
          <a:xfrm>
            <a:off x="0" y="97536"/>
            <a:ext cx="16256000" cy="9046464"/>
          </a:xfrm>
          <a:prstGeom prst="rect">
            <a:avLst/>
          </a:prstGeom>
          <a:solidFill>
            <a:srgbClr val="FFFFFF"/>
          </a:solidFill>
          <a:ln/>
        </p:spPr>
      </p:sp>
      <p:sp>
        <p:nvSpPr>
          <p:cNvPr id="4" name="Shape 2"/>
          <p:cNvSpPr/>
          <p:nvPr/>
        </p:nvSpPr>
        <p:spPr>
          <a:xfrm>
            <a:off x="487680" y="406400"/>
            <a:ext cx="97536" cy="568960"/>
          </a:xfrm>
          <a:prstGeom prst="rect">
            <a:avLst/>
          </a:prstGeom>
          <a:solidFill>
            <a:srgbClr val="D4943A"/>
          </a:solidFill>
          <a:ln/>
        </p:spPr>
      </p:sp>
      <p:sp>
        <p:nvSpPr>
          <p:cNvPr id="5" name="Text 3"/>
          <p:cNvSpPr/>
          <p:nvPr/>
        </p:nvSpPr>
        <p:spPr>
          <a:xfrm>
            <a:off x="894080" y="406400"/>
            <a:ext cx="13817600" cy="568960"/>
          </a:xfrm>
          <a:prstGeom prst="rect">
            <a:avLst/>
          </a:prstGeom>
          <a:noFill/>
          <a:ln/>
        </p:spPr>
        <p:txBody>
          <a:bodyPr wrap="square" rtlCol="0" anchor="ctr"/>
          <a:lstStyle/>
          <a:p>
            <a:pPr indent="0" marL="0">
              <a:buNone/>
            </a:pPr>
            <a:r>
              <a:rPr lang="en-US" sz="1800" b="1" dirty="0">
                <a:solidFill>
                  <a:srgbClr val="0E1C42"/>
                </a:solidFill>
                <a:latin typeface="Cambria" pitchFamily="34" charset="0"/>
                <a:ea typeface="Cambria" pitchFamily="34" charset="-122"/>
                <a:cs typeface="Cambria" pitchFamily="34" charset="-120"/>
              </a:rPr>
              <a:t>Guided Practice: We Do</a:t>
            </a:r>
            <a:endParaRPr lang="en-US" sz="1800" dirty="0"/>
          </a:p>
        </p:txBody>
      </p:sp>
      <p:sp>
        <p:nvSpPr>
          <p:cNvPr id="6" name="Shape 4"/>
          <p:cNvSpPr/>
          <p:nvPr/>
        </p:nvSpPr>
        <p:spPr>
          <a:xfrm>
            <a:off x="894080" y="1300480"/>
            <a:ext cx="14305280" cy="1381760"/>
          </a:xfrm>
          <a:prstGeom prst="roundRect">
            <a:avLst>
              <a:gd name="adj" fmla="val 11765"/>
            </a:avLst>
          </a:prstGeom>
          <a:solidFill>
            <a:srgbClr val="EAF8FD"/>
          </a:solidFill>
          <a:ln w="19050">
            <a:solidFill>
              <a:srgbClr val="1A8A7D"/>
            </a:solidFill>
            <a:prstDash val="solid"/>
          </a:ln>
        </p:spPr>
      </p:sp>
      <p:sp>
        <p:nvSpPr>
          <p:cNvPr id="7" name="Text 5"/>
          <p:cNvSpPr/>
          <p:nvPr/>
        </p:nvSpPr>
        <p:spPr>
          <a:xfrm>
            <a:off x="1219200" y="1381760"/>
            <a:ext cx="4876800" cy="357632"/>
          </a:xfrm>
          <a:prstGeom prst="rect">
            <a:avLst/>
          </a:prstGeom>
          <a:noFill/>
          <a:ln/>
        </p:spPr>
        <p:txBody>
          <a:bodyPr wrap="square" rtlCol="0" anchor="ctr"/>
          <a:lstStyle/>
          <a:p>
            <a:pPr indent="0" marL="0">
              <a:buNone/>
            </a:pPr>
            <a:r>
              <a:rPr lang="en-US" sz="900" b="1" spc="150" kern="0" dirty="0">
                <a:solidFill>
                  <a:srgbClr val="1A8A7D"/>
                </a:solidFill>
                <a:latin typeface="Calibri" pitchFamily="34" charset="0"/>
                <a:ea typeface="Calibri" pitchFamily="34" charset="-122"/>
                <a:cs typeface="Calibri" pitchFamily="34" charset="-120"/>
              </a:rPr>
              <a:t>EVIDENCE QUESTION 2</a:t>
            </a:r>
            <a:endParaRPr lang="en-US" sz="900" dirty="0"/>
          </a:p>
        </p:txBody>
      </p:sp>
      <p:sp>
        <p:nvSpPr>
          <p:cNvPr id="8" name="Text 6"/>
          <p:cNvSpPr/>
          <p:nvPr/>
        </p:nvSpPr>
        <p:spPr>
          <a:xfrm>
            <a:off x="1219200" y="1820672"/>
            <a:ext cx="13655040" cy="731520"/>
          </a:xfrm>
          <a:prstGeom prst="rect">
            <a:avLst/>
          </a:prstGeom>
          <a:noFill/>
          <a:ln/>
        </p:spPr>
        <p:txBody>
          <a:bodyPr wrap="square" rtlCol="0" anchor="ctr"/>
          <a:lstStyle/>
          <a:p>
            <a:pPr indent="0" marL="0">
              <a:buNone/>
            </a:pPr>
            <a:r>
              <a:rPr lang="en-US" sz="1300" i="1" dirty="0">
                <a:solidFill>
                  <a:srgbClr val="0E1C42"/>
                </a:solidFill>
                <a:latin typeface="Calibri" pitchFamily="34" charset="0"/>
                <a:ea typeface="Calibri" pitchFamily="34" charset="-122"/>
                <a:cs typeface="Calibri" pitchFamily="34" charset="-120"/>
              </a:rPr>
              <a:t>Give one reason a curator would choose a globe and one reason a curator would choose a flat map. What is each one better at?</a:t>
            </a:r>
            <a:endParaRPr lang="en-US" sz="1300" dirty="0"/>
          </a:p>
        </p:txBody>
      </p:sp>
      <p:sp>
        <p:nvSpPr>
          <p:cNvPr id="9" name="Shape 7"/>
          <p:cNvSpPr/>
          <p:nvPr/>
        </p:nvSpPr>
        <p:spPr>
          <a:xfrm>
            <a:off x="894080" y="3088640"/>
            <a:ext cx="14305280" cy="3901440"/>
          </a:xfrm>
          <a:prstGeom prst="roundRect">
            <a:avLst>
              <a:gd name="adj" fmla="val 5000"/>
            </a:avLst>
          </a:prstGeom>
          <a:solidFill>
            <a:srgbClr val="FFF3DC"/>
          </a:solidFill>
          <a:ln w="12700">
            <a:solidFill>
              <a:srgbClr val="D4943A"/>
            </a:solidFill>
            <a:prstDash val="solid"/>
          </a:ln>
        </p:spPr>
      </p:sp>
      <p:sp>
        <p:nvSpPr>
          <p:cNvPr id="10" name="Text 8"/>
          <p:cNvSpPr/>
          <p:nvPr/>
        </p:nvSpPr>
        <p:spPr>
          <a:xfrm>
            <a:off x="1219200" y="3218688"/>
            <a:ext cx="6502400" cy="357632"/>
          </a:xfrm>
          <a:prstGeom prst="rect">
            <a:avLst/>
          </a:prstGeom>
          <a:noFill/>
          <a:ln/>
        </p:spPr>
        <p:txBody>
          <a:bodyPr wrap="square" rtlCol="0" anchor="ctr"/>
          <a:lstStyle/>
          <a:p>
            <a:pPr indent="0" marL="0">
              <a:buNone/>
            </a:pPr>
            <a:r>
              <a:rPr lang="en-US" sz="900" b="1" spc="150" kern="0" dirty="0">
                <a:solidFill>
                  <a:srgbClr val="D4943A"/>
                </a:solidFill>
                <a:latin typeface="Calibri" pitchFamily="34" charset="0"/>
                <a:ea typeface="Calibri" pitchFamily="34" charset="-122"/>
                <a:cs typeface="Calibri" pitchFamily="34" charset="-120"/>
              </a:rPr>
              <a:t>LET'S BUILD THIS TOGETHER</a:t>
            </a:r>
            <a:endParaRPr lang="en-US" sz="900" dirty="0"/>
          </a:p>
        </p:txBody>
      </p:sp>
      <p:sp>
        <p:nvSpPr>
          <p:cNvPr id="11" name="Text 9"/>
          <p:cNvSpPr/>
          <p:nvPr/>
        </p:nvSpPr>
        <p:spPr>
          <a:xfrm>
            <a:off x="1219200" y="3657600"/>
            <a:ext cx="13655040" cy="3088640"/>
          </a:xfrm>
          <a:prstGeom prst="rect">
            <a:avLst/>
          </a:prstGeom>
          <a:noFill/>
          <a:ln/>
        </p:spPr>
        <p:txBody>
          <a:bodyPr wrap="square" rtlCol="0" anchor="t"/>
          <a:lstStyle/>
          <a:p>
            <a:pPr indent="0" marL="0">
              <a:lnSpc>
                <a:spcPct val="120000"/>
              </a:lnSpc>
              <a:buNone/>
            </a:pPr>
            <a:r>
              <a:rPr lang="en-US" sz="1300" b="1" dirty="0">
                <a:solidFill>
                  <a:srgbClr val="0E1C42"/>
                </a:solidFill>
                <a:latin typeface="Calibri" pitchFamily="34" charset="0"/>
                <a:ea typeface="Calibri" pitchFamily="34" charset="-122"/>
                <a:cs typeface="Calibri" pitchFamily="34" charset="-120"/>
              </a:rPr>
              <a:t>Sentence starter for the globe:
</a:t>
            </a:r>
            <a:pPr indent="0" marL="0">
              <a:lnSpc>
                <a:spcPct val="120000"/>
              </a:lnSpc>
              <a:buNone/>
            </a:pPr>
            <a:r>
              <a:rPr lang="en-US" sz="1300" i="1" dirty="0">
                <a:solidFill>
                  <a:srgbClr val="0E1C42"/>
                </a:solidFill>
                <a:latin typeface="Calibri" pitchFamily="34" charset="0"/>
                <a:ea typeface="Calibri" pitchFamily="34" charset="-122"/>
                <a:cs typeface="Calibri" pitchFamily="34" charset="-120"/>
              </a:rPr>
              <a:t>"One reason a curator would choose a globe is..."
</a:t>
            </a:r>
            <a:pPr indent="0" marL="0">
              <a:lnSpc>
                <a:spcPct val="120000"/>
              </a:lnSpc>
              <a:buNone/>
            </a:pPr>
            <a:r>
              <a:rPr lang="en-US" sz="1300" b="1" dirty="0">
                <a:solidFill>
                  <a:srgbClr val="0E1C42"/>
                </a:solidFill>
                <a:latin typeface="Calibri" pitchFamily="34" charset="0"/>
                <a:ea typeface="Calibri" pitchFamily="34" charset="-122"/>
                <a:cs typeface="Calibri" pitchFamily="34" charset="-120"/>
              </a:rPr>
              <a:t>Sentence starter for the flat map:
</a:t>
            </a:r>
            <a:pPr indent="0" marL="0">
              <a:lnSpc>
                <a:spcPct val="120000"/>
              </a:lnSpc>
              <a:buNone/>
            </a:pPr>
            <a:r>
              <a:rPr lang="en-US" sz="1300" i="1" dirty="0">
                <a:solidFill>
                  <a:srgbClr val="0E1C42"/>
                </a:solidFill>
                <a:latin typeface="Calibri" pitchFamily="34" charset="0"/>
                <a:ea typeface="Calibri" pitchFamily="34" charset="-122"/>
                <a:cs typeface="Calibri" pitchFamily="34" charset="-120"/>
              </a:rPr>
              <a:t>"One reason a curator would choose a flat map is..."
</a:t>
            </a:r>
            <a:pPr indent="0" marL="0">
              <a:lnSpc>
                <a:spcPct val="120000"/>
              </a:lnSpc>
              <a:buNone/>
            </a:pPr>
            <a:r>
              <a:rPr lang="en-US" sz="1200" b="1" dirty="0">
                <a:solidFill>
                  <a:srgbClr val="1A8A7D"/>
                </a:solidFill>
                <a:latin typeface="Calibri" pitchFamily="34" charset="0"/>
                <a:ea typeface="Calibri" pitchFamily="34" charset="-122"/>
                <a:cs typeface="Calibri" pitchFamily="34" charset="-120"/>
              </a:rPr>
              <a:t>Remember: </a:t>
            </a:r>
            <a:pPr indent="0" marL="0">
              <a:lnSpc>
                <a:spcPct val="120000"/>
              </a:lnSpc>
              <a:buNone/>
            </a:pPr>
            <a:r>
              <a:rPr lang="en-US" sz="1200" dirty="0">
                <a:solidFill>
                  <a:srgbClr val="1A8A7D"/>
                </a:solidFill>
                <a:latin typeface="Calibri" pitchFamily="34" charset="0"/>
                <a:ea typeface="Calibri" pitchFamily="34" charset="-122"/>
                <a:cs typeface="Calibri" pitchFamily="34" charset="-120"/>
              </a:rPr>
              <a:t>Say what each tool is better at, not just that it is "good."</a:t>
            </a:r>
            <a:endParaRPr lang="en-US" sz="1300" dirty="0"/>
          </a:p>
        </p:txBody>
      </p:sp>
      <p:sp>
        <p:nvSpPr>
          <p:cNvPr id="12" name="Shape 10"/>
          <p:cNvSpPr/>
          <p:nvPr/>
        </p:nvSpPr>
        <p:spPr>
          <a:xfrm>
            <a:off x="894080" y="7315200"/>
            <a:ext cx="14630400" cy="1137920"/>
          </a:xfrm>
          <a:prstGeom prst="roundRect">
            <a:avLst>
              <a:gd name="adj" fmla="val 17143"/>
            </a:avLst>
          </a:prstGeom>
          <a:solidFill>
            <a:srgbClr val="FFF3DC"/>
          </a:solidFill>
          <a:ln w="19050">
            <a:solidFill>
              <a:srgbClr val="F5E6C8"/>
            </a:solidFill>
            <a:prstDash val="solid"/>
          </a:ln>
        </p:spPr>
      </p:sp>
      <p:sp>
        <p:nvSpPr>
          <p:cNvPr id="13" name="Text 11"/>
          <p:cNvSpPr/>
          <p:nvPr/>
        </p:nvSpPr>
        <p:spPr>
          <a:xfrm>
            <a:off x="1137920" y="7412736"/>
            <a:ext cx="14142720" cy="357632"/>
          </a:xfrm>
          <a:prstGeom prst="rect">
            <a:avLst/>
          </a:prstGeom>
          <a:noFill/>
          <a:ln/>
        </p:spPr>
        <p:txBody>
          <a:bodyPr wrap="square" lIns="0" tIns="0" rIns="0" bIns="0" rtlCol="0" anchor="ctr"/>
          <a:lstStyle/>
          <a:p>
            <a:pPr indent="0" marL="0">
              <a:buNone/>
            </a:pPr>
            <a:r>
              <a:rPr lang="en-US" sz="900" b="1" spc="150" kern="0" dirty="0">
                <a:solidFill>
                  <a:srgbClr val="D4943A"/>
                </a:solidFill>
                <a:latin typeface="Calibri" pitchFamily="34" charset="0"/>
                <a:ea typeface="Calibri" pitchFamily="34" charset="-122"/>
                <a:cs typeface="Calibri" pitchFamily="34" charset="-120"/>
              </a:rPr>
              <a:t>CHAT FRAME</a:t>
            </a:r>
            <a:endParaRPr lang="en-US" sz="900" dirty="0"/>
          </a:p>
        </p:txBody>
      </p:sp>
      <p:sp>
        <p:nvSpPr>
          <p:cNvPr id="14" name="Text 12"/>
          <p:cNvSpPr/>
          <p:nvPr/>
        </p:nvSpPr>
        <p:spPr>
          <a:xfrm>
            <a:off x="1137920" y="7770368"/>
            <a:ext cx="14142720" cy="568960"/>
          </a:xfrm>
          <a:prstGeom prst="rect">
            <a:avLst/>
          </a:prstGeom>
          <a:noFill/>
          <a:ln/>
        </p:spPr>
        <p:txBody>
          <a:bodyPr wrap="square" lIns="0" tIns="0" rIns="0" bIns="0" rtlCol="0" anchor="t"/>
          <a:lstStyle/>
          <a:p>
            <a:pPr indent="0" marL="0">
              <a:spcAft>
                <a:spcPts val="500"/>
              </a:spcAft>
              <a:buNone/>
            </a:pPr>
            <a:r>
              <a:rPr lang="en-US" sz="1200" i="1" dirty="0">
                <a:solidFill>
                  <a:srgbClr val="5A4A3A"/>
                </a:solidFill>
                <a:latin typeface="Cambria" pitchFamily="34" charset="0"/>
                <a:ea typeface="Cambria" pitchFamily="34" charset="-122"/>
                <a:cs typeface="Cambria" pitchFamily="34" charset="-120"/>
              </a:rPr>
              <a:t>"Share your answer — one reason for each tool!"</a:t>
            </a:r>
            <a:endParaRPr lang="en-US" sz="12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Shape 0"/>
          <p:cNvSpPr/>
          <p:nvPr/>
        </p:nvSpPr>
        <p:spPr>
          <a:xfrm>
            <a:off x="0" y="0"/>
            <a:ext cx="16256000" cy="97536"/>
          </a:xfrm>
          <a:prstGeom prst="rect">
            <a:avLst/>
          </a:prstGeom>
          <a:solidFill>
            <a:srgbClr val="0E1C42"/>
          </a:solidFill>
          <a:ln/>
        </p:spPr>
      </p:sp>
      <p:sp>
        <p:nvSpPr>
          <p:cNvPr id="3" name="Shape 1"/>
          <p:cNvSpPr/>
          <p:nvPr/>
        </p:nvSpPr>
        <p:spPr>
          <a:xfrm>
            <a:off x="0" y="97536"/>
            <a:ext cx="16256000" cy="9046464"/>
          </a:xfrm>
          <a:prstGeom prst="rect">
            <a:avLst/>
          </a:prstGeom>
          <a:solidFill>
            <a:srgbClr val="FFFFFF"/>
          </a:solidFill>
          <a:ln/>
        </p:spPr>
      </p:sp>
      <p:sp>
        <p:nvSpPr>
          <p:cNvPr id="4" name="Shape 2"/>
          <p:cNvSpPr/>
          <p:nvPr/>
        </p:nvSpPr>
        <p:spPr>
          <a:xfrm>
            <a:off x="487680" y="406400"/>
            <a:ext cx="97536" cy="568960"/>
          </a:xfrm>
          <a:prstGeom prst="rect">
            <a:avLst/>
          </a:prstGeom>
          <a:solidFill>
            <a:srgbClr val="D4943A"/>
          </a:solidFill>
          <a:ln/>
        </p:spPr>
      </p:sp>
      <p:sp>
        <p:nvSpPr>
          <p:cNvPr id="5" name="Text 3"/>
          <p:cNvSpPr/>
          <p:nvPr/>
        </p:nvSpPr>
        <p:spPr>
          <a:xfrm>
            <a:off x="894080" y="406400"/>
            <a:ext cx="13817600" cy="568960"/>
          </a:xfrm>
          <a:prstGeom prst="rect">
            <a:avLst/>
          </a:prstGeom>
          <a:noFill/>
          <a:ln/>
        </p:spPr>
        <p:txBody>
          <a:bodyPr wrap="square" rtlCol="0" anchor="ctr"/>
          <a:lstStyle/>
          <a:p>
            <a:pPr indent="0" marL="0">
              <a:buNone/>
            </a:pPr>
            <a:r>
              <a:rPr lang="en-US" sz="1800" b="1" dirty="0">
                <a:solidFill>
                  <a:srgbClr val="0E1C42"/>
                </a:solidFill>
                <a:latin typeface="Cambria" pitchFamily="34" charset="0"/>
                <a:ea typeface="Cambria" pitchFamily="34" charset="-122"/>
                <a:cs typeface="Cambria" pitchFamily="34" charset="-120"/>
              </a:rPr>
              <a:t>Guided Practice: You Do</a:t>
            </a:r>
            <a:endParaRPr lang="en-US" sz="1800" dirty="0"/>
          </a:p>
        </p:txBody>
      </p:sp>
      <p:sp>
        <p:nvSpPr>
          <p:cNvPr id="6" name="Text 4"/>
          <p:cNvSpPr/>
          <p:nvPr/>
        </p:nvSpPr>
        <p:spPr>
          <a:xfrm>
            <a:off x="894080" y="1170432"/>
            <a:ext cx="14305280" cy="568960"/>
          </a:xfrm>
          <a:prstGeom prst="rect">
            <a:avLst/>
          </a:prstGeom>
          <a:noFill/>
          <a:ln/>
        </p:spPr>
        <p:txBody>
          <a:bodyPr wrap="square" rtlCol="0" anchor="ctr"/>
          <a:lstStyle/>
          <a:p>
            <a:pPr indent="0" marL="0">
              <a:buNone/>
            </a:pPr>
            <a:r>
              <a:rPr lang="en-US" sz="1400" dirty="0">
                <a:solidFill>
                  <a:srgbClr val="0E1C42"/>
                </a:solidFill>
                <a:latin typeface="Calibri" pitchFamily="34" charset="0"/>
                <a:ea typeface="Calibri" pitchFamily="34" charset="-122"/>
                <a:cs typeface="Calibri" pitchFamily="34" charset="-120"/>
              </a:rPr>
              <a:t>Now it’s your turn to draft the Curator Task independently.</a:t>
            </a:r>
            <a:endParaRPr lang="en-US" sz="1400" dirty="0"/>
          </a:p>
        </p:txBody>
      </p:sp>
      <p:sp>
        <p:nvSpPr>
          <p:cNvPr id="7" name="Shape 5"/>
          <p:cNvSpPr/>
          <p:nvPr/>
        </p:nvSpPr>
        <p:spPr>
          <a:xfrm>
            <a:off x="894080" y="1950720"/>
            <a:ext cx="14305280" cy="3251200"/>
          </a:xfrm>
          <a:prstGeom prst="roundRect">
            <a:avLst>
              <a:gd name="adj" fmla="val 6000"/>
            </a:avLst>
          </a:prstGeom>
          <a:solidFill>
            <a:srgbClr val="FFF3DC"/>
          </a:solidFill>
          <a:ln w="25400">
            <a:solidFill>
              <a:srgbClr val="D4943A"/>
            </a:solidFill>
            <a:prstDash val="solid"/>
          </a:ln>
        </p:spPr>
      </p:sp>
      <p:sp>
        <p:nvSpPr>
          <p:cNvPr id="8" name="Text 6"/>
          <p:cNvSpPr/>
          <p:nvPr/>
        </p:nvSpPr>
        <p:spPr>
          <a:xfrm>
            <a:off x="1219200" y="2080768"/>
            <a:ext cx="13655040" cy="406400"/>
          </a:xfrm>
          <a:prstGeom prst="rect">
            <a:avLst/>
          </a:prstGeom>
          <a:noFill/>
          <a:ln/>
        </p:spPr>
        <p:txBody>
          <a:bodyPr wrap="square" rtlCol="0" anchor="ctr"/>
          <a:lstStyle/>
          <a:p>
            <a:pPr indent="0" marL="0">
              <a:buNone/>
            </a:pPr>
            <a:r>
              <a:rPr lang="en-US" sz="1000" b="1" spc="150" kern="0" dirty="0">
                <a:solidFill>
                  <a:srgbClr val="D4943A"/>
                </a:solidFill>
                <a:latin typeface="Calibri" pitchFamily="34" charset="0"/>
                <a:ea typeface="Calibri" pitchFamily="34" charset="-122"/>
                <a:cs typeface="Calibri" pitchFamily="34" charset="-120"/>
              </a:rPr>
              <a:t>CURATOR TASK: EXHIBIT EXPLANATION CARD</a:t>
            </a:r>
            <a:endParaRPr lang="en-US" sz="1000" dirty="0"/>
          </a:p>
        </p:txBody>
      </p:sp>
      <p:sp>
        <p:nvSpPr>
          <p:cNvPr id="9" name="Text 7"/>
          <p:cNvSpPr/>
          <p:nvPr/>
        </p:nvSpPr>
        <p:spPr>
          <a:xfrm>
            <a:off x="1219200" y="2600960"/>
            <a:ext cx="13655040" cy="2275840"/>
          </a:xfrm>
          <a:prstGeom prst="rect">
            <a:avLst/>
          </a:prstGeom>
          <a:noFill/>
          <a:ln/>
        </p:spPr>
        <p:txBody>
          <a:bodyPr wrap="square" rtlCol="0" anchor="ctr"/>
          <a:lstStyle/>
          <a:p>
            <a:pPr indent="0" marL="0">
              <a:lnSpc>
                <a:spcPct val="135000"/>
              </a:lnSpc>
              <a:buNone/>
            </a:pPr>
            <a:r>
              <a:rPr lang="en-US" sz="1400" dirty="0">
                <a:solidFill>
                  <a:srgbClr val="0E1C42"/>
                </a:solidFill>
                <a:latin typeface="Calibri" pitchFamily="34" charset="0"/>
                <a:ea typeface="Calibri" pitchFamily="34" charset="-122"/>
                <a:cs typeface="Calibri" pitchFamily="34" charset="-120"/>
              </a:rPr>
              <a:t>Visitors keep asking why the flat map and the globe look different. Write 2–3 sentences for a small card that goes between the two displays. Explain what distortion is, why the flat map stretches Greenland, and when each tool is most useful.</a:t>
            </a:r>
            <a:endParaRPr lang="en-US" sz="1400" dirty="0"/>
          </a:p>
        </p:txBody>
      </p:sp>
      <p:sp>
        <p:nvSpPr>
          <p:cNvPr id="10" name="Shape 8"/>
          <p:cNvSpPr/>
          <p:nvPr/>
        </p:nvSpPr>
        <p:spPr>
          <a:xfrm>
            <a:off x="894080" y="5608320"/>
            <a:ext cx="14305280" cy="2438400"/>
          </a:xfrm>
          <a:prstGeom prst="roundRect">
            <a:avLst>
              <a:gd name="adj" fmla="val 8000"/>
            </a:avLst>
          </a:prstGeom>
          <a:solidFill>
            <a:srgbClr val="F0F2F8"/>
          </a:solidFill>
          <a:ln/>
        </p:spPr>
      </p:sp>
      <p:sp>
        <p:nvSpPr>
          <p:cNvPr id="11" name="Text 9"/>
          <p:cNvSpPr/>
          <p:nvPr/>
        </p:nvSpPr>
        <p:spPr>
          <a:xfrm>
            <a:off x="1219200" y="5722112"/>
            <a:ext cx="6502400" cy="357632"/>
          </a:xfrm>
          <a:prstGeom prst="rect">
            <a:avLst/>
          </a:prstGeom>
          <a:noFill/>
          <a:ln/>
        </p:spPr>
        <p:txBody>
          <a:bodyPr wrap="square" rtlCol="0" anchor="ctr"/>
          <a:lstStyle/>
          <a:p>
            <a:pPr indent="0" marL="0">
              <a:buNone/>
            </a:pPr>
            <a:r>
              <a:rPr lang="en-US" sz="900" b="1" spc="150" kern="0" dirty="0">
                <a:solidFill>
                  <a:srgbClr val="0E1C42"/>
                </a:solidFill>
                <a:latin typeface="Calibri" pitchFamily="34" charset="0"/>
                <a:ea typeface="Calibri" pitchFamily="34" charset="-122"/>
                <a:cs typeface="Calibri" pitchFamily="34" charset="-120"/>
              </a:rPr>
              <a:t>YOUR CARD SHOULD INCLUDE:</a:t>
            </a:r>
            <a:endParaRPr lang="en-US" sz="900" dirty="0"/>
          </a:p>
        </p:txBody>
      </p:sp>
      <p:sp>
        <p:nvSpPr>
          <p:cNvPr id="12" name="Text 10"/>
          <p:cNvSpPr/>
          <p:nvPr/>
        </p:nvSpPr>
        <p:spPr>
          <a:xfrm>
            <a:off x="1219200" y="6209792"/>
            <a:ext cx="13655040" cy="1625600"/>
          </a:xfrm>
          <a:prstGeom prst="rect">
            <a:avLst/>
          </a:prstGeom>
          <a:noFill/>
          <a:ln/>
        </p:spPr>
        <p:txBody>
          <a:bodyPr wrap="square" lIns="0" tIns="0" rIns="0" bIns="0" rtlCol="0" anchor="t"/>
          <a:lstStyle/>
          <a:p>
            <a:pPr marL="342900" indent="-342900">
              <a:spcAft>
                <a:spcPts val="500"/>
              </a:spcAft>
              <a:buSzPct val="100000"/>
              <a:buChar char="•"/>
            </a:pPr>
            <a:r>
              <a:rPr lang="en-US" sz="1300" dirty="0">
                <a:solidFill>
                  <a:srgbClr val="0E1C42"/>
                </a:solidFill>
                <a:latin typeface="Calibri" pitchFamily="34" charset="0"/>
                <a:ea typeface="Calibri" pitchFamily="34" charset="-122"/>
                <a:cs typeface="Calibri" pitchFamily="34" charset="-120"/>
              </a:rPr>
              <a:t>What distortion is (definition)</a:t>
            </a:r>
            <a:endParaRPr lang="en-US" sz="1300" dirty="0"/>
          </a:p>
          <a:p>
            <a:pPr marL="342900" indent="-342900">
              <a:spcAft>
                <a:spcPts val="500"/>
              </a:spcAft>
              <a:buSzPct val="100000"/>
              <a:buChar char="•"/>
            </a:pPr>
            <a:r>
              <a:rPr lang="en-US" sz="1300" dirty="0">
                <a:solidFill>
                  <a:srgbClr val="0E1C42"/>
                </a:solidFill>
                <a:latin typeface="Calibri" pitchFamily="34" charset="0"/>
                <a:ea typeface="Calibri" pitchFamily="34" charset="-122"/>
                <a:cs typeface="Calibri" pitchFamily="34" charset="-120"/>
              </a:rPr>
              <a:t>Why the flat map stretches Greenland (explanation)</a:t>
            </a:r>
            <a:endParaRPr lang="en-US" sz="1300" dirty="0"/>
          </a:p>
          <a:p>
            <a:pPr marL="342900" indent="-342900">
              <a:spcAft>
                <a:spcPts val="500"/>
              </a:spcAft>
              <a:buSzPct val="100000"/>
              <a:buChar char="•"/>
            </a:pPr>
            <a:r>
              <a:rPr lang="en-US" sz="1300" dirty="0">
                <a:solidFill>
                  <a:srgbClr val="0E1C42"/>
                </a:solidFill>
                <a:latin typeface="Calibri" pitchFamily="34" charset="0"/>
                <a:ea typeface="Calibri" pitchFamily="34" charset="-122"/>
                <a:cs typeface="Calibri" pitchFamily="34" charset="-120"/>
              </a:rPr>
              <a:t>When each tool is most useful (comparison)</a:t>
            </a:r>
            <a:endParaRPr lang="en-US" sz="13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Shape 0"/>
          <p:cNvSpPr/>
          <p:nvPr/>
        </p:nvSpPr>
        <p:spPr>
          <a:xfrm>
            <a:off x="0" y="0"/>
            <a:ext cx="16256000" cy="97536"/>
          </a:xfrm>
          <a:prstGeom prst="rect">
            <a:avLst/>
          </a:prstGeom>
          <a:solidFill>
            <a:srgbClr val="0E1C42"/>
          </a:solidFill>
          <a:ln/>
        </p:spPr>
      </p:sp>
      <p:sp>
        <p:nvSpPr>
          <p:cNvPr id="3" name="Shape 1"/>
          <p:cNvSpPr/>
          <p:nvPr/>
        </p:nvSpPr>
        <p:spPr>
          <a:xfrm>
            <a:off x="0" y="97536"/>
            <a:ext cx="16256000" cy="9046464"/>
          </a:xfrm>
          <a:prstGeom prst="rect">
            <a:avLst/>
          </a:prstGeom>
          <a:solidFill>
            <a:srgbClr val="FFFFFF"/>
          </a:solidFill>
          <a:ln/>
        </p:spPr>
      </p:sp>
      <p:sp>
        <p:nvSpPr>
          <p:cNvPr id="4" name="Shape 2"/>
          <p:cNvSpPr/>
          <p:nvPr/>
        </p:nvSpPr>
        <p:spPr>
          <a:xfrm>
            <a:off x="487680" y="406400"/>
            <a:ext cx="97536" cy="568960"/>
          </a:xfrm>
          <a:prstGeom prst="rect">
            <a:avLst/>
          </a:prstGeom>
          <a:solidFill>
            <a:srgbClr val="D4943A"/>
          </a:solidFill>
          <a:ln/>
        </p:spPr>
      </p:sp>
      <p:sp>
        <p:nvSpPr>
          <p:cNvPr id="5" name="Text 3"/>
          <p:cNvSpPr/>
          <p:nvPr/>
        </p:nvSpPr>
        <p:spPr>
          <a:xfrm>
            <a:off x="894080" y="406400"/>
            <a:ext cx="13817600" cy="568960"/>
          </a:xfrm>
          <a:prstGeom prst="rect">
            <a:avLst/>
          </a:prstGeom>
          <a:noFill/>
          <a:ln/>
        </p:spPr>
        <p:txBody>
          <a:bodyPr wrap="square" rtlCol="0" anchor="ctr"/>
          <a:lstStyle/>
          <a:p>
            <a:pPr indent="0" marL="0">
              <a:buNone/>
            </a:pPr>
            <a:r>
              <a:rPr lang="en-US" sz="1800" b="1" dirty="0">
                <a:solidFill>
                  <a:srgbClr val="0E1C42"/>
                </a:solidFill>
                <a:latin typeface="Cambria" pitchFamily="34" charset="0"/>
                <a:ea typeface="Cambria" pitchFamily="34" charset="-122"/>
                <a:cs typeface="Cambria" pitchFamily="34" charset="-120"/>
              </a:rPr>
              <a:t>Error Analysis: Find the Mistake</a:t>
            </a:r>
            <a:endParaRPr lang="en-US" sz="1800" dirty="0"/>
          </a:p>
        </p:txBody>
      </p:sp>
      <p:sp>
        <p:nvSpPr>
          <p:cNvPr id="6" name="Shape 4"/>
          <p:cNvSpPr/>
          <p:nvPr/>
        </p:nvSpPr>
        <p:spPr>
          <a:xfrm>
            <a:off x="894080" y="1300480"/>
            <a:ext cx="14305280" cy="2113280"/>
          </a:xfrm>
          <a:prstGeom prst="roundRect">
            <a:avLst>
              <a:gd name="adj" fmla="val 9231"/>
            </a:avLst>
          </a:prstGeom>
          <a:solidFill>
            <a:srgbClr val="FDE8E8"/>
          </a:solidFill>
          <a:ln w="19050">
            <a:solidFill>
              <a:srgbClr val="E8636B"/>
            </a:solidFill>
            <a:prstDash val="solid"/>
          </a:ln>
        </p:spPr>
      </p:sp>
      <p:sp>
        <p:nvSpPr>
          <p:cNvPr id="7" name="Text 5"/>
          <p:cNvSpPr/>
          <p:nvPr/>
        </p:nvSpPr>
        <p:spPr>
          <a:xfrm>
            <a:off x="1219200" y="1430528"/>
            <a:ext cx="4876800" cy="357632"/>
          </a:xfrm>
          <a:prstGeom prst="rect">
            <a:avLst/>
          </a:prstGeom>
          <a:noFill/>
          <a:ln/>
        </p:spPr>
        <p:txBody>
          <a:bodyPr wrap="square" rtlCol="0" anchor="ctr"/>
          <a:lstStyle/>
          <a:p>
            <a:pPr indent="0" marL="0">
              <a:buNone/>
            </a:pPr>
            <a:r>
              <a:rPr lang="en-US" sz="900" b="1" spc="150" kern="0" dirty="0">
                <a:solidFill>
                  <a:srgbClr val="E8636B"/>
                </a:solidFill>
                <a:latin typeface="Calibri" pitchFamily="34" charset="0"/>
                <a:ea typeface="Calibri" pitchFamily="34" charset="-122"/>
                <a:cs typeface="Calibri" pitchFamily="34" charset="-120"/>
              </a:rPr>
              <a:t>STUDENT SAMPLE</a:t>
            </a:r>
            <a:endParaRPr lang="en-US" sz="900" dirty="0"/>
          </a:p>
        </p:txBody>
      </p:sp>
      <p:sp>
        <p:nvSpPr>
          <p:cNvPr id="8" name="Text 6"/>
          <p:cNvSpPr/>
          <p:nvPr/>
        </p:nvSpPr>
        <p:spPr>
          <a:xfrm>
            <a:off x="1219200" y="1869440"/>
            <a:ext cx="13655040" cy="1300480"/>
          </a:xfrm>
          <a:prstGeom prst="rect">
            <a:avLst/>
          </a:prstGeom>
          <a:noFill/>
          <a:ln/>
        </p:spPr>
        <p:txBody>
          <a:bodyPr wrap="square" rtlCol="0" anchor="t"/>
          <a:lstStyle/>
          <a:p>
            <a:pPr indent="0" marL="0">
              <a:buNone/>
            </a:pPr>
            <a:r>
              <a:rPr lang="en-US" sz="1600" i="1" dirty="0">
                <a:solidFill>
                  <a:srgbClr val="E8636B"/>
                </a:solidFill>
                <a:latin typeface="Cambria" pitchFamily="34" charset="0"/>
                <a:ea typeface="Cambria" pitchFamily="34" charset="-122"/>
                <a:cs typeface="Cambria" pitchFamily="34" charset="-120"/>
              </a:rPr>
              <a:t>"Flat maps are always wrong, so we should only use globes."</a:t>
            </a:r>
            <a:endParaRPr lang="en-US" sz="1600" dirty="0"/>
          </a:p>
        </p:txBody>
      </p:sp>
      <p:sp>
        <p:nvSpPr>
          <p:cNvPr id="9" name="Shape 7"/>
          <p:cNvSpPr/>
          <p:nvPr/>
        </p:nvSpPr>
        <p:spPr>
          <a:xfrm>
            <a:off x="894080" y="3820160"/>
            <a:ext cx="14305280" cy="1625600"/>
          </a:xfrm>
          <a:prstGeom prst="roundRect">
            <a:avLst>
              <a:gd name="adj" fmla="val 10000"/>
            </a:avLst>
          </a:prstGeom>
          <a:solidFill>
            <a:srgbClr val="F0F2F8"/>
          </a:solidFill>
          <a:ln/>
        </p:spPr>
      </p:sp>
      <p:sp>
        <p:nvSpPr>
          <p:cNvPr id="10" name="Text 8"/>
          <p:cNvSpPr/>
          <p:nvPr/>
        </p:nvSpPr>
        <p:spPr>
          <a:xfrm>
            <a:off x="1219200" y="3901440"/>
            <a:ext cx="4876800" cy="357632"/>
          </a:xfrm>
          <a:prstGeom prst="rect">
            <a:avLst/>
          </a:prstGeom>
          <a:noFill/>
          <a:ln/>
        </p:spPr>
        <p:txBody>
          <a:bodyPr wrap="square" rtlCol="0" anchor="ctr"/>
          <a:lstStyle/>
          <a:p>
            <a:pPr indent="0" marL="0">
              <a:buNone/>
            </a:pPr>
            <a:r>
              <a:rPr lang="en-US" sz="900" b="1" spc="150" kern="0" dirty="0">
                <a:solidFill>
                  <a:srgbClr val="0E1C42"/>
                </a:solidFill>
                <a:latin typeface="Calibri" pitchFamily="34" charset="0"/>
                <a:ea typeface="Calibri" pitchFamily="34" charset="-122"/>
                <a:cs typeface="Calibri" pitchFamily="34" charset="-120"/>
              </a:rPr>
              <a:t>FIND THE MISTAKE</a:t>
            </a:r>
            <a:endParaRPr lang="en-US" sz="900" dirty="0"/>
          </a:p>
        </p:txBody>
      </p:sp>
      <p:sp>
        <p:nvSpPr>
          <p:cNvPr id="11" name="Text 9"/>
          <p:cNvSpPr/>
          <p:nvPr/>
        </p:nvSpPr>
        <p:spPr>
          <a:xfrm>
            <a:off x="1219200" y="4356608"/>
            <a:ext cx="13655040" cy="975360"/>
          </a:xfrm>
          <a:prstGeom prst="rect">
            <a:avLst/>
          </a:prstGeom>
          <a:noFill/>
          <a:ln/>
        </p:spPr>
        <p:txBody>
          <a:bodyPr wrap="square" lIns="0" tIns="0" rIns="0" bIns="0" rtlCol="0" anchor="t"/>
          <a:lstStyle/>
          <a:p>
            <a:pPr marL="342900" indent="-342900">
              <a:spcAft>
                <a:spcPts val="300"/>
              </a:spcAft>
              <a:buSzPct val="100000"/>
              <a:buChar char="•"/>
            </a:pPr>
            <a:r>
              <a:rPr lang="en-US" sz="1300" dirty="0">
                <a:solidFill>
                  <a:srgbClr val="0E1C42"/>
                </a:solidFill>
                <a:latin typeface="Calibri" pitchFamily="34" charset="0"/>
                <a:ea typeface="Calibri" pitchFamily="34" charset="-122"/>
                <a:cs typeface="Calibri" pitchFamily="34" charset="-120"/>
              </a:rPr>
              <a:t>What is wrong with this statement?</a:t>
            </a:r>
            <a:endParaRPr lang="en-US" sz="1300" dirty="0"/>
          </a:p>
          <a:p>
            <a:pPr marL="342900" indent="-342900">
              <a:spcAft>
                <a:spcPts val="300"/>
              </a:spcAft>
              <a:buSzPct val="100000"/>
              <a:buChar char="•"/>
            </a:pPr>
            <a:r>
              <a:rPr lang="en-US" sz="1300" dirty="0">
                <a:solidFill>
                  <a:srgbClr val="0E1C42"/>
                </a:solidFill>
                <a:latin typeface="Calibri" pitchFamily="34" charset="0"/>
                <a:ea typeface="Calibri" pitchFamily="34" charset="-122"/>
                <a:cs typeface="Calibri" pitchFamily="34" charset="-120"/>
              </a:rPr>
              <a:t>Is a flat map "always wrong"? Why or why not?</a:t>
            </a:r>
            <a:endParaRPr lang="en-US" sz="1300" dirty="0"/>
          </a:p>
          <a:p>
            <a:pPr marL="342900" indent="-342900">
              <a:spcAft>
                <a:spcPts val="300"/>
              </a:spcAft>
              <a:buSzPct val="100000"/>
              <a:buChar char="•"/>
            </a:pPr>
            <a:r>
              <a:rPr lang="en-US" sz="1300" dirty="0">
                <a:solidFill>
                  <a:srgbClr val="0E1C42"/>
                </a:solidFill>
                <a:latin typeface="Calibri" pitchFamily="34" charset="0"/>
                <a:ea typeface="Calibri" pitchFamily="34" charset="-122"/>
                <a:cs typeface="Calibri" pitchFamily="34" charset="-120"/>
              </a:rPr>
              <a:t>How would you fix it?</a:t>
            </a:r>
            <a:endParaRPr lang="en-US" sz="1300" dirty="0"/>
          </a:p>
        </p:txBody>
      </p:sp>
      <p:sp>
        <p:nvSpPr>
          <p:cNvPr id="12" name="Shape 10"/>
          <p:cNvSpPr/>
          <p:nvPr/>
        </p:nvSpPr>
        <p:spPr>
          <a:xfrm>
            <a:off x="894080" y="5852160"/>
            <a:ext cx="14305280" cy="2438400"/>
          </a:xfrm>
          <a:prstGeom prst="roundRect">
            <a:avLst>
              <a:gd name="adj" fmla="val 8000"/>
            </a:avLst>
          </a:prstGeom>
          <a:solidFill>
            <a:srgbClr val="E3F8ED"/>
          </a:solidFill>
          <a:ln w="19050">
            <a:solidFill>
              <a:srgbClr val="34B76F"/>
            </a:solidFill>
            <a:prstDash val="solid"/>
          </a:ln>
        </p:spPr>
      </p:sp>
      <p:sp>
        <p:nvSpPr>
          <p:cNvPr id="13" name="Text 11"/>
          <p:cNvSpPr/>
          <p:nvPr/>
        </p:nvSpPr>
        <p:spPr>
          <a:xfrm>
            <a:off x="1219200" y="5982208"/>
            <a:ext cx="4876800" cy="357632"/>
          </a:xfrm>
          <a:prstGeom prst="rect">
            <a:avLst/>
          </a:prstGeom>
          <a:noFill/>
          <a:ln/>
        </p:spPr>
        <p:txBody>
          <a:bodyPr wrap="square" rtlCol="0" anchor="ctr"/>
          <a:lstStyle/>
          <a:p>
            <a:pPr indent="0" marL="0">
              <a:buNone/>
            </a:pPr>
            <a:r>
              <a:rPr lang="en-US" sz="900" b="1" spc="150" kern="0" dirty="0">
                <a:solidFill>
                  <a:srgbClr val="34B76F"/>
                </a:solidFill>
                <a:latin typeface="Calibri" pitchFamily="34" charset="0"/>
                <a:ea typeface="Calibri" pitchFamily="34" charset="-122"/>
                <a:cs typeface="Calibri" pitchFamily="34" charset="-120"/>
              </a:rPr>
              <a:t>CORRECTED THINKING</a:t>
            </a:r>
            <a:endParaRPr lang="en-US" sz="900" dirty="0"/>
          </a:p>
        </p:txBody>
      </p:sp>
      <p:sp>
        <p:nvSpPr>
          <p:cNvPr id="14" name="Text 12"/>
          <p:cNvSpPr/>
          <p:nvPr/>
        </p:nvSpPr>
        <p:spPr>
          <a:xfrm>
            <a:off x="1219200" y="6421120"/>
            <a:ext cx="13655040" cy="1625600"/>
          </a:xfrm>
          <a:prstGeom prst="rect">
            <a:avLst/>
          </a:prstGeom>
          <a:noFill/>
          <a:ln/>
        </p:spPr>
        <p:txBody>
          <a:bodyPr wrap="square" rtlCol="0" anchor="ctr"/>
          <a:lstStyle/>
          <a:p>
            <a:pPr indent="0" marL="0">
              <a:lnSpc>
                <a:spcPct val="125000"/>
              </a:lnSpc>
              <a:buNone/>
            </a:pPr>
            <a:r>
              <a:rPr lang="en-US" sz="1300" dirty="0">
                <a:solidFill>
                  <a:srgbClr val="0E1C42"/>
                </a:solidFill>
                <a:latin typeface="Calibri" pitchFamily="34" charset="0"/>
                <a:ea typeface="Calibri" pitchFamily="34" charset="-122"/>
                <a:cs typeface="Calibri" pitchFamily="34" charset="-120"/>
              </a:rPr>
              <a:t>Flat maps DO distort shapes and sizes, especially near the poles. But they are still very useful because they are easy to carry, can show the whole world at once, and are great for directions and planning. Neither tool is "wrong" — each one has strengths!</a:t>
            </a:r>
            <a:endParaRPr lang="en-US" sz="13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Shape 0"/>
          <p:cNvSpPr/>
          <p:nvPr/>
        </p:nvSpPr>
        <p:spPr>
          <a:xfrm>
            <a:off x="0" y="0"/>
            <a:ext cx="16256000" cy="97536"/>
          </a:xfrm>
          <a:prstGeom prst="rect">
            <a:avLst/>
          </a:prstGeom>
          <a:solidFill>
            <a:srgbClr val="0E1C42"/>
          </a:solidFill>
          <a:ln/>
        </p:spPr>
      </p:sp>
      <p:sp>
        <p:nvSpPr>
          <p:cNvPr id="3" name="Shape 1"/>
          <p:cNvSpPr/>
          <p:nvPr/>
        </p:nvSpPr>
        <p:spPr>
          <a:xfrm>
            <a:off x="0" y="97536"/>
            <a:ext cx="16256000" cy="9046464"/>
          </a:xfrm>
          <a:prstGeom prst="rect">
            <a:avLst/>
          </a:prstGeom>
          <a:solidFill>
            <a:srgbClr val="FFFFFF"/>
          </a:solidFill>
          <a:ln/>
        </p:spPr>
      </p:sp>
      <p:sp>
        <p:nvSpPr>
          <p:cNvPr id="4" name="Shape 2"/>
          <p:cNvSpPr/>
          <p:nvPr/>
        </p:nvSpPr>
        <p:spPr>
          <a:xfrm>
            <a:off x="487680" y="406400"/>
            <a:ext cx="97536" cy="568960"/>
          </a:xfrm>
          <a:prstGeom prst="rect">
            <a:avLst/>
          </a:prstGeom>
          <a:solidFill>
            <a:srgbClr val="D4943A"/>
          </a:solidFill>
          <a:ln/>
        </p:spPr>
      </p:sp>
      <p:sp>
        <p:nvSpPr>
          <p:cNvPr id="5" name="Text 3"/>
          <p:cNvSpPr/>
          <p:nvPr/>
        </p:nvSpPr>
        <p:spPr>
          <a:xfrm>
            <a:off x="894080" y="406400"/>
            <a:ext cx="13817600" cy="568960"/>
          </a:xfrm>
          <a:prstGeom prst="rect">
            <a:avLst/>
          </a:prstGeom>
          <a:noFill/>
          <a:ln/>
        </p:spPr>
        <p:txBody>
          <a:bodyPr wrap="square" rtlCol="0" anchor="ctr"/>
          <a:lstStyle/>
          <a:p>
            <a:pPr indent="0" marL="0">
              <a:buNone/>
            </a:pPr>
            <a:r>
              <a:rPr lang="en-US" sz="1800" b="1" dirty="0">
                <a:solidFill>
                  <a:srgbClr val="0E1C42"/>
                </a:solidFill>
                <a:latin typeface="Cambria" pitchFamily="34" charset="0"/>
                <a:ea typeface="Cambria" pitchFamily="34" charset="-122"/>
                <a:cs typeface="Cambria" pitchFamily="34" charset="-120"/>
              </a:rPr>
              <a:t>Self-Check: Exhibit Label</a:t>
            </a:r>
            <a:endParaRPr lang="en-US" sz="1800" dirty="0"/>
          </a:p>
        </p:txBody>
      </p:sp>
      <p:sp>
        <p:nvSpPr>
          <p:cNvPr id="6" name="Shape 4"/>
          <p:cNvSpPr/>
          <p:nvPr/>
        </p:nvSpPr>
        <p:spPr>
          <a:xfrm>
            <a:off x="894080" y="1219200"/>
            <a:ext cx="6990080" cy="2113280"/>
          </a:xfrm>
          <a:prstGeom prst="roundRect">
            <a:avLst>
              <a:gd name="adj" fmla="val 7692"/>
            </a:avLst>
          </a:prstGeom>
          <a:solidFill>
            <a:srgbClr val="EAF8FD"/>
          </a:solidFill>
          <a:ln/>
        </p:spPr>
      </p:sp>
      <p:sp>
        <p:nvSpPr>
          <p:cNvPr id="7" name="Text 5"/>
          <p:cNvSpPr/>
          <p:nvPr/>
        </p:nvSpPr>
        <p:spPr>
          <a:xfrm>
            <a:off x="1137920" y="1300480"/>
            <a:ext cx="6177280" cy="357632"/>
          </a:xfrm>
          <a:prstGeom prst="rect">
            <a:avLst/>
          </a:prstGeom>
          <a:noFill/>
          <a:ln/>
        </p:spPr>
        <p:txBody>
          <a:bodyPr wrap="square" rtlCol="0" anchor="ctr"/>
          <a:lstStyle/>
          <a:p>
            <a:pPr indent="0" marL="0">
              <a:buNone/>
            </a:pPr>
            <a:r>
              <a:rPr lang="en-US" sz="900" b="1" spc="150" kern="0" dirty="0">
                <a:solidFill>
                  <a:srgbClr val="1A8A7D"/>
                </a:solidFill>
                <a:latin typeface="Calibri" pitchFamily="34" charset="0"/>
                <a:ea typeface="Calibri" pitchFamily="34" charset="-122"/>
                <a:cs typeface="Calibri" pitchFamily="34" charset="-120"/>
              </a:rPr>
              <a:t>KEY TAKEAWAYS</a:t>
            </a:r>
            <a:endParaRPr lang="en-US" sz="900" dirty="0"/>
          </a:p>
        </p:txBody>
      </p:sp>
      <p:sp>
        <p:nvSpPr>
          <p:cNvPr id="8" name="Text 6"/>
          <p:cNvSpPr/>
          <p:nvPr/>
        </p:nvSpPr>
        <p:spPr>
          <a:xfrm>
            <a:off x="1137920" y="1706880"/>
            <a:ext cx="6421120" cy="1463040"/>
          </a:xfrm>
          <a:prstGeom prst="rect">
            <a:avLst/>
          </a:prstGeom>
          <a:noFill/>
          <a:ln/>
        </p:spPr>
        <p:txBody>
          <a:bodyPr wrap="square" lIns="0" tIns="0" rIns="0" bIns="0" rtlCol="0" anchor="t"/>
          <a:lstStyle/>
          <a:p>
            <a:pPr marL="342900" indent="-342900">
              <a:spcAft>
                <a:spcPts val="300"/>
              </a:spcAft>
              <a:buSzPct val="100000"/>
              <a:buChar char="•"/>
            </a:pPr>
            <a:r>
              <a:rPr lang="en-US" sz="1100" dirty="0">
                <a:solidFill>
                  <a:srgbClr val="0E1C42"/>
                </a:solidFill>
                <a:latin typeface="Calibri" pitchFamily="34" charset="0"/>
                <a:ea typeface="Calibri" pitchFamily="34" charset="-122"/>
                <a:cs typeface="Calibri" pitchFamily="34" charset="-120"/>
              </a:rPr>
              <a:t>Distortion = shapes/sizes look different from real life</a:t>
            </a:r>
            <a:endParaRPr lang="en-US" sz="1100" dirty="0"/>
          </a:p>
          <a:p>
            <a:pPr marL="342900" indent="-342900">
              <a:spcAft>
                <a:spcPts val="300"/>
              </a:spcAft>
              <a:buSzPct val="100000"/>
              <a:buChar char="•"/>
            </a:pPr>
            <a:r>
              <a:rPr lang="en-US" sz="1100" dirty="0">
                <a:solidFill>
                  <a:srgbClr val="0E1C42"/>
                </a:solidFill>
                <a:latin typeface="Calibri" pitchFamily="34" charset="0"/>
                <a:ea typeface="Calibri" pitchFamily="34" charset="-122"/>
                <a:cs typeface="Calibri" pitchFamily="34" charset="-120"/>
              </a:rPr>
              <a:t>Flat maps stretch, especially near poles</a:t>
            </a:r>
            <a:endParaRPr lang="en-US" sz="1100" dirty="0"/>
          </a:p>
          <a:p>
            <a:pPr marL="342900" indent="-342900">
              <a:spcAft>
                <a:spcPts val="300"/>
              </a:spcAft>
              <a:buSzPct val="100000"/>
              <a:buChar char="•"/>
            </a:pPr>
            <a:r>
              <a:rPr lang="en-US" sz="1100" dirty="0">
                <a:solidFill>
                  <a:srgbClr val="0E1C42"/>
                </a:solidFill>
                <a:latin typeface="Calibri" pitchFamily="34" charset="0"/>
                <a:ea typeface="Calibri" pitchFamily="34" charset="-122"/>
                <a:cs typeface="Calibri" pitchFamily="34" charset="-120"/>
              </a:rPr>
              <a:t>Globe = accurate; Flat map = convenient</a:t>
            </a:r>
            <a:endParaRPr lang="en-US" sz="1100" dirty="0"/>
          </a:p>
          <a:p>
            <a:pPr marL="342900" indent="-342900">
              <a:spcAft>
                <a:spcPts val="300"/>
              </a:spcAft>
              <a:buSzPct val="100000"/>
              <a:buChar char="•"/>
            </a:pPr>
            <a:r>
              <a:rPr lang="en-US" sz="1100" dirty="0">
                <a:solidFill>
                  <a:srgbClr val="0E1C42"/>
                </a:solidFill>
                <a:latin typeface="Calibri" pitchFamily="34" charset="0"/>
                <a:ea typeface="Calibri" pitchFamily="34" charset="-122"/>
                <a:cs typeface="Calibri" pitchFamily="34" charset="-120"/>
              </a:rPr>
              <a:t>Neither is wrong — each has a purpose</a:t>
            </a:r>
            <a:endParaRPr lang="en-US" sz="1100" dirty="0"/>
          </a:p>
        </p:txBody>
      </p:sp>
      <p:sp>
        <p:nvSpPr>
          <p:cNvPr id="9" name="Shape 7"/>
          <p:cNvSpPr/>
          <p:nvPr/>
        </p:nvSpPr>
        <p:spPr>
          <a:xfrm>
            <a:off x="8290560" y="1219200"/>
            <a:ext cx="7152640" cy="2113280"/>
          </a:xfrm>
          <a:prstGeom prst="roundRect">
            <a:avLst>
              <a:gd name="adj" fmla="val 7692"/>
            </a:avLst>
          </a:prstGeom>
          <a:solidFill>
            <a:srgbClr val="F0F2F8"/>
          </a:solidFill>
          <a:ln w="12700">
            <a:solidFill>
              <a:srgbClr val="0E1C42"/>
            </a:solidFill>
            <a:prstDash val="solid"/>
          </a:ln>
        </p:spPr>
      </p:sp>
      <p:sp>
        <p:nvSpPr>
          <p:cNvPr id="10" name="Text 8"/>
          <p:cNvSpPr/>
          <p:nvPr/>
        </p:nvSpPr>
        <p:spPr>
          <a:xfrm>
            <a:off x="8534400" y="1300480"/>
            <a:ext cx="3251200" cy="325120"/>
          </a:xfrm>
          <a:prstGeom prst="rect">
            <a:avLst/>
          </a:prstGeom>
          <a:noFill/>
          <a:ln/>
        </p:spPr>
        <p:txBody>
          <a:bodyPr wrap="square" rtlCol="0" anchor="ctr"/>
          <a:lstStyle/>
          <a:p>
            <a:pPr indent="0" marL="0">
              <a:buNone/>
            </a:pPr>
            <a:r>
              <a:rPr lang="en-US" sz="800" b="1" spc="100" kern="0" dirty="0">
                <a:solidFill>
                  <a:srgbClr val="7A88A8"/>
                </a:solidFill>
                <a:latin typeface="Calibri" pitchFamily="34" charset="0"/>
                <a:ea typeface="Calibri" pitchFamily="34" charset="-122"/>
                <a:cs typeface="Calibri" pitchFamily="34" charset="-120"/>
              </a:rPr>
              <a:t>QUESTION 1</a:t>
            </a:r>
            <a:endParaRPr lang="en-US" sz="800" dirty="0"/>
          </a:p>
        </p:txBody>
      </p:sp>
      <p:sp>
        <p:nvSpPr>
          <p:cNvPr id="11" name="Text 9"/>
          <p:cNvSpPr/>
          <p:nvPr/>
        </p:nvSpPr>
        <p:spPr>
          <a:xfrm>
            <a:off x="8534400" y="1658112"/>
            <a:ext cx="6664960" cy="568960"/>
          </a:xfrm>
          <a:prstGeom prst="rect">
            <a:avLst/>
          </a:prstGeom>
          <a:noFill/>
          <a:ln/>
        </p:spPr>
        <p:txBody>
          <a:bodyPr wrap="square" rtlCol="0" anchor="ctr"/>
          <a:lstStyle/>
          <a:p>
            <a:pPr indent="0" marL="0">
              <a:buNone/>
            </a:pPr>
            <a:r>
              <a:rPr lang="en-US" sz="1200" b="1" dirty="0">
                <a:solidFill>
                  <a:srgbClr val="0E1C42"/>
                </a:solidFill>
                <a:latin typeface="Calibri" pitchFamily="34" charset="0"/>
                <a:ea typeface="Calibri" pitchFamily="34" charset="-122"/>
                <a:cs typeface="Calibri" pitchFamily="34" charset="-120"/>
              </a:rPr>
              <a:t>What is distortion?</a:t>
            </a:r>
            <a:endParaRPr lang="en-US" sz="1200" dirty="0"/>
          </a:p>
        </p:txBody>
      </p:sp>
      <p:sp>
        <p:nvSpPr>
          <p:cNvPr id="12" name="Text 10"/>
          <p:cNvSpPr/>
          <p:nvPr/>
        </p:nvSpPr>
        <p:spPr>
          <a:xfrm>
            <a:off x="8534400" y="2243328"/>
            <a:ext cx="6664960" cy="894080"/>
          </a:xfrm>
          <a:prstGeom prst="rect">
            <a:avLst/>
          </a:prstGeom>
          <a:noFill/>
          <a:ln/>
        </p:spPr>
        <p:txBody>
          <a:bodyPr wrap="square" rtlCol="0" anchor="ctr"/>
          <a:lstStyle/>
          <a:p>
            <a:pPr indent="0" marL="0">
              <a:buNone/>
            </a:pPr>
            <a:r>
              <a:rPr lang="en-US" sz="1100" dirty="0">
                <a:solidFill>
                  <a:srgbClr val="34B76F"/>
                </a:solidFill>
                <a:latin typeface="Calibri" pitchFamily="34" charset="0"/>
                <a:ea typeface="Calibri" pitchFamily="34" charset="-122"/>
                <a:cs typeface="Calibri" pitchFamily="34" charset="-120"/>
              </a:rPr>
              <a:t>C: When shapes or sizes on a map look different from real life</a:t>
            </a:r>
            <a:endParaRPr lang="en-US" sz="1100" dirty="0"/>
          </a:p>
        </p:txBody>
      </p:sp>
      <p:sp>
        <p:nvSpPr>
          <p:cNvPr id="13" name="Shape 11"/>
          <p:cNvSpPr/>
          <p:nvPr/>
        </p:nvSpPr>
        <p:spPr>
          <a:xfrm>
            <a:off x="894080" y="3738880"/>
            <a:ext cx="7640320" cy="1950720"/>
          </a:xfrm>
          <a:prstGeom prst="roundRect">
            <a:avLst>
              <a:gd name="adj" fmla="val 8333"/>
            </a:avLst>
          </a:prstGeom>
          <a:solidFill>
            <a:srgbClr val="F0F2F8"/>
          </a:solidFill>
          <a:ln w="12700">
            <a:solidFill>
              <a:srgbClr val="0E1C42"/>
            </a:solidFill>
            <a:prstDash val="solid"/>
          </a:ln>
        </p:spPr>
      </p:sp>
      <p:sp>
        <p:nvSpPr>
          <p:cNvPr id="14" name="Text 12"/>
          <p:cNvSpPr/>
          <p:nvPr/>
        </p:nvSpPr>
        <p:spPr>
          <a:xfrm>
            <a:off x="1137920" y="3820160"/>
            <a:ext cx="3251200" cy="325120"/>
          </a:xfrm>
          <a:prstGeom prst="rect">
            <a:avLst/>
          </a:prstGeom>
          <a:noFill/>
          <a:ln/>
        </p:spPr>
        <p:txBody>
          <a:bodyPr wrap="square" rtlCol="0" anchor="ctr"/>
          <a:lstStyle/>
          <a:p>
            <a:pPr indent="0" marL="0">
              <a:buNone/>
            </a:pPr>
            <a:r>
              <a:rPr lang="en-US" sz="800" b="1" spc="100" kern="0" dirty="0">
                <a:solidFill>
                  <a:srgbClr val="7A88A8"/>
                </a:solidFill>
                <a:latin typeface="Calibri" pitchFamily="34" charset="0"/>
                <a:ea typeface="Calibri" pitchFamily="34" charset="-122"/>
                <a:cs typeface="Calibri" pitchFamily="34" charset="-120"/>
              </a:rPr>
              <a:t>QUESTION 2</a:t>
            </a:r>
            <a:endParaRPr lang="en-US" sz="800" dirty="0"/>
          </a:p>
        </p:txBody>
      </p:sp>
      <p:sp>
        <p:nvSpPr>
          <p:cNvPr id="15" name="Text 13"/>
          <p:cNvSpPr/>
          <p:nvPr/>
        </p:nvSpPr>
        <p:spPr>
          <a:xfrm>
            <a:off x="1137920" y="4177792"/>
            <a:ext cx="7152640" cy="568960"/>
          </a:xfrm>
          <a:prstGeom prst="rect">
            <a:avLst/>
          </a:prstGeom>
          <a:noFill/>
          <a:ln/>
        </p:spPr>
        <p:txBody>
          <a:bodyPr wrap="square" rtlCol="0" anchor="ctr"/>
          <a:lstStyle/>
          <a:p>
            <a:pPr indent="0" marL="0">
              <a:buNone/>
            </a:pPr>
            <a:r>
              <a:rPr lang="en-US" sz="1200" b="1" dirty="0">
                <a:solidFill>
                  <a:srgbClr val="0E1C42"/>
                </a:solidFill>
                <a:latin typeface="Calibri" pitchFamily="34" charset="0"/>
                <a:ea typeface="Calibri" pitchFamily="34" charset="-122"/>
                <a:cs typeface="Calibri" pitchFamily="34" charset="-120"/>
              </a:rPr>
              <a:t>Why does Greenland look so big on a flat map?</a:t>
            </a:r>
            <a:endParaRPr lang="en-US" sz="1200" dirty="0"/>
          </a:p>
        </p:txBody>
      </p:sp>
      <p:sp>
        <p:nvSpPr>
          <p:cNvPr id="16" name="Text 14"/>
          <p:cNvSpPr/>
          <p:nvPr/>
        </p:nvSpPr>
        <p:spPr>
          <a:xfrm>
            <a:off x="1137920" y="4746752"/>
            <a:ext cx="7152640" cy="731520"/>
          </a:xfrm>
          <a:prstGeom prst="rect">
            <a:avLst/>
          </a:prstGeom>
          <a:noFill/>
          <a:ln/>
        </p:spPr>
        <p:txBody>
          <a:bodyPr wrap="square" rtlCol="0" anchor="ctr"/>
          <a:lstStyle/>
          <a:p>
            <a:pPr indent="0" marL="0">
              <a:buNone/>
            </a:pPr>
            <a:r>
              <a:rPr lang="en-US" sz="1100" dirty="0">
                <a:solidFill>
                  <a:srgbClr val="34B76F"/>
                </a:solidFill>
                <a:latin typeface="Calibri" pitchFamily="34" charset="0"/>
                <a:ea typeface="Calibri" pitchFamily="34" charset="-122"/>
                <a:cs typeface="Calibri" pitchFamily="34" charset="-120"/>
              </a:rPr>
              <a:t>A: Flat maps stretch places near the North and South Poles</a:t>
            </a:r>
            <a:endParaRPr lang="en-US" sz="1100" dirty="0"/>
          </a:p>
        </p:txBody>
      </p:sp>
      <p:sp>
        <p:nvSpPr>
          <p:cNvPr id="17" name="Shape 15"/>
          <p:cNvSpPr/>
          <p:nvPr/>
        </p:nvSpPr>
        <p:spPr>
          <a:xfrm>
            <a:off x="8940800" y="3738880"/>
            <a:ext cx="6583680" cy="1950720"/>
          </a:xfrm>
          <a:prstGeom prst="roundRect">
            <a:avLst>
              <a:gd name="adj" fmla="val 8333"/>
            </a:avLst>
          </a:prstGeom>
          <a:solidFill>
            <a:srgbClr val="F0F2F8"/>
          </a:solidFill>
          <a:ln w="12700">
            <a:solidFill>
              <a:srgbClr val="0E1C42"/>
            </a:solidFill>
            <a:prstDash val="solid"/>
          </a:ln>
        </p:spPr>
      </p:sp>
      <p:sp>
        <p:nvSpPr>
          <p:cNvPr id="18" name="Text 16"/>
          <p:cNvSpPr/>
          <p:nvPr/>
        </p:nvSpPr>
        <p:spPr>
          <a:xfrm>
            <a:off x="9184640" y="3820160"/>
            <a:ext cx="3251200" cy="325120"/>
          </a:xfrm>
          <a:prstGeom prst="rect">
            <a:avLst/>
          </a:prstGeom>
          <a:noFill/>
          <a:ln/>
        </p:spPr>
        <p:txBody>
          <a:bodyPr wrap="square" rtlCol="0" anchor="ctr"/>
          <a:lstStyle/>
          <a:p>
            <a:pPr indent="0" marL="0">
              <a:buNone/>
            </a:pPr>
            <a:r>
              <a:rPr lang="en-US" sz="800" b="1" spc="100" kern="0" dirty="0">
                <a:solidFill>
                  <a:srgbClr val="7A88A8"/>
                </a:solidFill>
                <a:latin typeface="Calibri" pitchFamily="34" charset="0"/>
                <a:ea typeface="Calibri" pitchFamily="34" charset="-122"/>
                <a:cs typeface="Calibri" pitchFamily="34" charset="-120"/>
              </a:rPr>
              <a:t>QUESTION 3</a:t>
            </a:r>
            <a:endParaRPr lang="en-US" sz="800" dirty="0"/>
          </a:p>
        </p:txBody>
      </p:sp>
      <p:sp>
        <p:nvSpPr>
          <p:cNvPr id="19" name="Text 17"/>
          <p:cNvSpPr/>
          <p:nvPr/>
        </p:nvSpPr>
        <p:spPr>
          <a:xfrm>
            <a:off x="9184640" y="4177792"/>
            <a:ext cx="6096000" cy="568960"/>
          </a:xfrm>
          <a:prstGeom prst="rect">
            <a:avLst/>
          </a:prstGeom>
          <a:noFill/>
          <a:ln/>
        </p:spPr>
        <p:txBody>
          <a:bodyPr wrap="square" rtlCol="0" anchor="ctr"/>
          <a:lstStyle/>
          <a:p>
            <a:pPr indent="0" marL="0">
              <a:buNone/>
            </a:pPr>
            <a:r>
              <a:rPr lang="en-US" sz="1200" b="1" dirty="0">
                <a:solidFill>
                  <a:srgbClr val="0E1C42"/>
                </a:solidFill>
                <a:latin typeface="Calibri" pitchFamily="34" charset="0"/>
                <a:ea typeface="Calibri" pitchFamily="34" charset="-122"/>
                <a:cs typeface="Calibri" pitchFamily="34" charset="-120"/>
              </a:rPr>
              <a:t>When would a flat map be MORE useful than a globe?</a:t>
            </a:r>
            <a:endParaRPr lang="en-US" sz="1200" dirty="0"/>
          </a:p>
        </p:txBody>
      </p:sp>
      <p:sp>
        <p:nvSpPr>
          <p:cNvPr id="20" name="Text 18"/>
          <p:cNvSpPr/>
          <p:nvPr/>
        </p:nvSpPr>
        <p:spPr>
          <a:xfrm>
            <a:off x="9184640" y="4746752"/>
            <a:ext cx="6096000" cy="894080"/>
          </a:xfrm>
          <a:prstGeom prst="rect">
            <a:avLst/>
          </a:prstGeom>
          <a:noFill/>
          <a:ln/>
        </p:spPr>
        <p:txBody>
          <a:bodyPr wrap="square" rtlCol="0" anchor="ctr"/>
          <a:lstStyle/>
          <a:p>
            <a:pPr indent="0" marL="0">
              <a:buNone/>
            </a:pPr>
            <a:r>
              <a:rPr lang="en-US" sz="1100" dirty="0">
                <a:solidFill>
                  <a:srgbClr val="34B76F"/>
                </a:solidFill>
                <a:latin typeface="Calibri" pitchFamily="34" charset="0"/>
                <a:ea typeface="Calibri" pitchFamily="34" charset="-122"/>
                <a:cs typeface="Calibri" pitchFamily="34" charset="-120"/>
              </a:rPr>
              <a:t>B: When you need to see the whole world at once or carry it with you</a:t>
            </a:r>
            <a:endParaRPr lang="en-US" sz="1100" dirty="0"/>
          </a:p>
        </p:txBody>
      </p:sp>
      <p:sp>
        <p:nvSpPr>
          <p:cNvPr id="21" name="Shape 19"/>
          <p:cNvSpPr/>
          <p:nvPr/>
        </p:nvSpPr>
        <p:spPr>
          <a:xfrm>
            <a:off x="894080" y="6096000"/>
            <a:ext cx="14630400" cy="1056640"/>
          </a:xfrm>
          <a:prstGeom prst="roundRect">
            <a:avLst>
              <a:gd name="adj" fmla="val 15385"/>
            </a:avLst>
          </a:prstGeom>
          <a:solidFill>
            <a:srgbClr val="FFF3DC"/>
          </a:solidFill>
          <a:ln/>
        </p:spPr>
      </p:sp>
      <p:sp>
        <p:nvSpPr>
          <p:cNvPr id="22" name="Text 20"/>
          <p:cNvSpPr/>
          <p:nvPr/>
        </p:nvSpPr>
        <p:spPr>
          <a:xfrm>
            <a:off x="1219200" y="6144768"/>
            <a:ext cx="4876800" cy="325120"/>
          </a:xfrm>
          <a:prstGeom prst="rect">
            <a:avLst/>
          </a:prstGeom>
          <a:noFill/>
          <a:ln/>
        </p:spPr>
        <p:txBody>
          <a:bodyPr wrap="square" rtlCol="0" anchor="ctr"/>
          <a:lstStyle/>
          <a:p>
            <a:pPr indent="0" marL="0">
              <a:buNone/>
            </a:pPr>
            <a:r>
              <a:rPr lang="en-US" sz="800" b="1" spc="150" kern="0" dirty="0">
                <a:solidFill>
                  <a:srgbClr val="D4943A"/>
                </a:solidFill>
                <a:latin typeface="Calibri" pitchFamily="34" charset="0"/>
                <a:ea typeface="Calibri" pitchFamily="34" charset="-122"/>
                <a:cs typeface="Calibri" pitchFamily="34" charset="-120"/>
              </a:rPr>
              <a:t>VOCABULARY REVIEW</a:t>
            </a:r>
            <a:endParaRPr lang="en-US" sz="800" dirty="0"/>
          </a:p>
        </p:txBody>
      </p:sp>
      <p:sp>
        <p:nvSpPr>
          <p:cNvPr id="23" name="Text 21"/>
          <p:cNvSpPr/>
          <p:nvPr/>
        </p:nvSpPr>
        <p:spPr>
          <a:xfrm>
            <a:off x="1219200" y="6502400"/>
            <a:ext cx="13980160" cy="568960"/>
          </a:xfrm>
          <a:prstGeom prst="rect">
            <a:avLst/>
          </a:prstGeom>
          <a:noFill/>
          <a:ln/>
        </p:spPr>
        <p:txBody>
          <a:bodyPr wrap="square" rtlCol="0" anchor="t"/>
          <a:lstStyle/>
          <a:p>
            <a:pPr indent="0" marL="0">
              <a:buNone/>
            </a:pPr>
            <a:r>
              <a:rPr lang="en-US" sz="1200" b="1" dirty="0">
                <a:solidFill>
                  <a:srgbClr val="0E1C42"/>
                </a:solidFill>
                <a:latin typeface="Calibri" pitchFamily="34" charset="0"/>
                <a:ea typeface="Calibri" pitchFamily="34" charset="-122"/>
                <a:cs typeface="Calibri" pitchFamily="34" charset="-120"/>
              </a:rPr>
              <a:t>Distortion: </a:t>
            </a:r>
            <a:pPr indent="0" marL="0">
              <a:buNone/>
            </a:pPr>
            <a:r>
              <a:rPr lang="en-US" sz="1200" dirty="0">
                <a:solidFill>
                  <a:srgbClr val="0E1C42"/>
                </a:solidFill>
                <a:latin typeface="Calibri" pitchFamily="34" charset="0"/>
                <a:ea typeface="Calibri" pitchFamily="34" charset="-122"/>
                <a:cs typeface="Calibri" pitchFamily="34" charset="-120"/>
              </a:rPr>
              <a:t>When shapes or sizes on a map look different from real life.</a:t>
            </a:r>
            <a:endParaRPr lang="en-US" sz="12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Shape 0"/>
          <p:cNvSpPr/>
          <p:nvPr/>
        </p:nvSpPr>
        <p:spPr>
          <a:xfrm>
            <a:off x="0" y="0"/>
            <a:ext cx="16256000" cy="97536"/>
          </a:xfrm>
          <a:prstGeom prst="rect">
            <a:avLst/>
          </a:prstGeom>
          <a:solidFill>
            <a:srgbClr val="0E1C42"/>
          </a:solidFill>
          <a:ln/>
        </p:spPr>
      </p:sp>
      <p:sp>
        <p:nvSpPr>
          <p:cNvPr id="3" name="Shape 1"/>
          <p:cNvSpPr/>
          <p:nvPr/>
        </p:nvSpPr>
        <p:spPr>
          <a:xfrm>
            <a:off x="0" y="97536"/>
            <a:ext cx="16256000" cy="9046464"/>
          </a:xfrm>
          <a:prstGeom prst="rect">
            <a:avLst/>
          </a:prstGeom>
          <a:solidFill>
            <a:srgbClr val="FFFFFF"/>
          </a:solidFill>
          <a:ln/>
        </p:spPr>
      </p:sp>
      <p:sp>
        <p:nvSpPr>
          <p:cNvPr id="4" name="Shape 2"/>
          <p:cNvSpPr/>
          <p:nvPr/>
        </p:nvSpPr>
        <p:spPr>
          <a:xfrm>
            <a:off x="487680" y="406400"/>
            <a:ext cx="97536" cy="568960"/>
          </a:xfrm>
          <a:prstGeom prst="rect">
            <a:avLst/>
          </a:prstGeom>
          <a:solidFill>
            <a:srgbClr val="D4943A"/>
          </a:solidFill>
          <a:ln/>
        </p:spPr>
      </p:sp>
      <p:sp>
        <p:nvSpPr>
          <p:cNvPr id="5" name="Text 3"/>
          <p:cNvSpPr/>
          <p:nvPr/>
        </p:nvSpPr>
        <p:spPr>
          <a:xfrm>
            <a:off x="894080" y="406400"/>
            <a:ext cx="13817600" cy="568960"/>
          </a:xfrm>
          <a:prstGeom prst="rect">
            <a:avLst/>
          </a:prstGeom>
          <a:noFill/>
          <a:ln/>
        </p:spPr>
        <p:txBody>
          <a:bodyPr wrap="square" rtlCol="0" anchor="ctr"/>
          <a:lstStyle/>
          <a:p>
            <a:pPr indent="0" marL="0">
              <a:buNone/>
            </a:pPr>
            <a:r>
              <a:rPr lang="en-US" sz="1800" b="1" dirty="0">
                <a:solidFill>
                  <a:srgbClr val="0E1C42"/>
                </a:solidFill>
                <a:latin typeface="Cambria" pitchFamily="34" charset="0"/>
                <a:ea typeface="Cambria" pitchFamily="34" charset="-122"/>
                <a:cs typeface="Cambria" pitchFamily="34" charset="-120"/>
              </a:rPr>
              <a:t>Assignment Preview</a:t>
            </a:r>
            <a:endParaRPr lang="en-US" sz="1800" dirty="0"/>
          </a:p>
        </p:txBody>
      </p:sp>
      <p:sp>
        <p:nvSpPr>
          <p:cNvPr id="6" name="Shape 4"/>
          <p:cNvSpPr/>
          <p:nvPr/>
        </p:nvSpPr>
        <p:spPr>
          <a:xfrm>
            <a:off x="894080" y="1219200"/>
            <a:ext cx="14305280" cy="2194560"/>
          </a:xfrm>
          <a:prstGeom prst="roundRect">
            <a:avLst>
              <a:gd name="adj" fmla="val 7407"/>
            </a:avLst>
          </a:prstGeom>
          <a:solidFill>
            <a:srgbClr val="EAF8FD"/>
          </a:solidFill>
          <a:ln w="19050">
            <a:solidFill>
              <a:srgbClr val="1A8A7D"/>
            </a:solidFill>
            <a:prstDash val="solid"/>
          </a:ln>
        </p:spPr>
      </p:sp>
      <p:sp>
        <p:nvSpPr>
          <p:cNvPr id="7" name="Text 5"/>
          <p:cNvSpPr/>
          <p:nvPr/>
        </p:nvSpPr>
        <p:spPr>
          <a:xfrm>
            <a:off x="1219200" y="1300480"/>
            <a:ext cx="4876800" cy="357632"/>
          </a:xfrm>
          <a:prstGeom prst="rect">
            <a:avLst/>
          </a:prstGeom>
          <a:noFill/>
          <a:ln/>
        </p:spPr>
        <p:txBody>
          <a:bodyPr wrap="square" rtlCol="0" anchor="ctr"/>
          <a:lstStyle/>
          <a:p>
            <a:pPr indent="0" marL="0">
              <a:buNone/>
            </a:pPr>
            <a:r>
              <a:rPr lang="en-US" sz="900" b="1" spc="150" kern="0" dirty="0">
                <a:solidFill>
                  <a:srgbClr val="1A8A7D"/>
                </a:solidFill>
                <a:latin typeface="Calibri" pitchFamily="34" charset="0"/>
                <a:ea typeface="Calibri" pitchFamily="34" charset="-122"/>
                <a:cs typeface="Calibri" pitchFamily="34" charset="-120"/>
              </a:rPr>
              <a:t>EVIDENCE QUESTIONS</a:t>
            </a:r>
            <a:endParaRPr lang="en-US" sz="900" dirty="0"/>
          </a:p>
        </p:txBody>
      </p:sp>
      <p:sp>
        <p:nvSpPr>
          <p:cNvPr id="8" name="Text 6"/>
          <p:cNvSpPr/>
          <p:nvPr/>
        </p:nvSpPr>
        <p:spPr>
          <a:xfrm>
            <a:off x="1219200" y="1706880"/>
            <a:ext cx="13655040" cy="1544320"/>
          </a:xfrm>
          <a:prstGeom prst="rect">
            <a:avLst/>
          </a:prstGeom>
          <a:noFill/>
          <a:ln/>
        </p:spPr>
        <p:txBody>
          <a:bodyPr wrap="square" rtlCol="0" anchor="t"/>
          <a:lstStyle/>
          <a:p>
            <a:pPr indent="0" marL="0">
              <a:lnSpc>
                <a:spcPct val="125000"/>
              </a:lnSpc>
              <a:buNone/>
            </a:pPr>
            <a:r>
              <a:rPr lang="en-US" sz="1200" b="1" dirty="0">
                <a:solidFill>
                  <a:srgbClr val="0E1C42"/>
                </a:solidFill>
                <a:latin typeface="Calibri" pitchFamily="34" charset="0"/>
                <a:ea typeface="Calibri" pitchFamily="34" charset="-122"/>
                <a:cs typeface="Calibri" pitchFamily="34" charset="-120"/>
              </a:rPr>
              <a:t>1. </a:t>
            </a:r>
            <a:pPr indent="0" marL="0">
              <a:lnSpc>
                <a:spcPct val="125000"/>
              </a:lnSpc>
              <a:buNone/>
            </a:pPr>
            <a:r>
              <a:rPr lang="en-US" sz="1200" dirty="0">
                <a:solidFill>
                  <a:srgbClr val="0E1C42"/>
                </a:solidFill>
                <a:latin typeface="Calibri" pitchFamily="34" charset="0"/>
                <a:ea typeface="Calibri" pitchFamily="34" charset="-122"/>
                <a:cs typeface="Calibri" pitchFamily="34" charset="-120"/>
              </a:rPr>
              <a:t>In your own words, explain what distortion is and why flat maps have it.
</a:t>
            </a:r>
            <a:pPr indent="0" marL="0">
              <a:lnSpc>
                <a:spcPct val="125000"/>
              </a:lnSpc>
              <a:buNone/>
            </a:pPr>
            <a:r>
              <a:rPr lang="en-US" sz="1200" b="1" dirty="0">
                <a:solidFill>
                  <a:srgbClr val="0E1C42"/>
                </a:solidFill>
                <a:latin typeface="Calibri" pitchFamily="34" charset="0"/>
                <a:ea typeface="Calibri" pitchFamily="34" charset="-122"/>
                <a:cs typeface="Calibri" pitchFamily="34" charset="-120"/>
              </a:rPr>
              <a:t>2. </a:t>
            </a:r>
            <a:pPr indent="0" marL="0">
              <a:lnSpc>
                <a:spcPct val="125000"/>
              </a:lnSpc>
              <a:buNone/>
            </a:pPr>
            <a:r>
              <a:rPr lang="en-US" sz="1200" dirty="0">
                <a:solidFill>
                  <a:srgbClr val="0E1C42"/>
                </a:solidFill>
                <a:latin typeface="Calibri" pitchFamily="34" charset="0"/>
                <a:ea typeface="Calibri" pitchFamily="34" charset="-122"/>
                <a:cs typeface="Calibri" pitchFamily="34" charset="-120"/>
              </a:rPr>
              <a:t>Give one reason a curator would choose a globe and one reason a curator would choose a flat map. What is each one better at?</a:t>
            </a:r>
            <a:endParaRPr lang="en-US" sz="1200" dirty="0"/>
          </a:p>
        </p:txBody>
      </p:sp>
      <p:sp>
        <p:nvSpPr>
          <p:cNvPr id="9" name="Shape 7"/>
          <p:cNvSpPr/>
          <p:nvPr/>
        </p:nvSpPr>
        <p:spPr>
          <a:xfrm>
            <a:off x="894080" y="3738880"/>
            <a:ext cx="14305280" cy="1950720"/>
          </a:xfrm>
          <a:prstGeom prst="roundRect">
            <a:avLst>
              <a:gd name="adj" fmla="val 8333"/>
            </a:avLst>
          </a:prstGeom>
          <a:solidFill>
            <a:srgbClr val="FFF3DC"/>
          </a:solidFill>
          <a:ln w="19050">
            <a:solidFill>
              <a:srgbClr val="D4943A"/>
            </a:solidFill>
            <a:prstDash val="solid"/>
          </a:ln>
        </p:spPr>
      </p:sp>
      <p:sp>
        <p:nvSpPr>
          <p:cNvPr id="10" name="Text 8"/>
          <p:cNvSpPr/>
          <p:nvPr/>
        </p:nvSpPr>
        <p:spPr>
          <a:xfrm>
            <a:off x="1219200" y="3820160"/>
            <a:ext cx="9753600" cy="357632"/>
          </a:xfrm>
          <a:prstGeom prst="rect">
            <a:avLst/>
          </a:prstGeom>
          <a:noFill/>
          <a:ln/>
        </p:spPr>
        <p:txBody>
          <a:bodyPr wrap="square" rtlCol="0" anchor="ctr"/>
          <a:lstStyle/>
          <a:p>
            <a:pPr indent="0" marL="0">
              <a:buNone/>
            </a:pPr>
            <a:r>
              <a:rPr lang="en-US" sz="900" b="1" spc="150" kern="0" dirty="0">
                <a:solidFill>
                  <a:srgbClr val="D4943A"/>
                </a:solidFill>
                <a:latin typeface="Calibri" pitchFamily="34" charset="0"/>
                <a:ea typeface="Calibri" pitchFamily="34" charset="-122"/>
                <a:cs typeface="Calibri" pitchFamily="34" charset="-120"/>
              </a:rPr>
              <a:t>CURATOR TASK: EXHIBIT EXPLANATION CARD</a:t>
            </a:r>
            <a:endParaRPr lang="en-US" sz="900" dirty="0"/>
          </a:p>
        </p:txBody>
      </p:sp>
      <p:sp>
        <p:nvSpPr>
          <p:cNvPr id="11" name="Text 9"/>
          <p:cNvSpPr/>
          <p:nvPr/>
        </p:nvSpPr>
        <p:spPr>
          <a:xfrm>
            <a:off x="1219200" y="4259072"/>
            <a:ext cx="13655040" cy="1300480"/>
          </a:xfrm>
          <a:prstGeom prst="rect">
            <a:avLst/>
          </a:prstGeom>
          <a:noFill/>
          <a:ln/>
        </p:spPr>
        <p:txBody>
          <a:bodyPr wrap="square" rtlCol="0" anchor="ctr"/>
          <a:lstStyle/>
          <a:p>
            <a:pPr indent="0" marL="0">
              <a:lnSpc>
                <a:spcPct val="120000"/>
              </a:lnSpc>
              <a:buNone/>
            </a:pPr>
            <a:r>
              <a:rPr lang="en-US" sz="1200" dirty="0">
                <a:solidFill>
                  <a:srgbClr val="0E1C42"/>
                </a:solidFill>
                <a:latin typeface="Calibri" pitchFamily="34" charset="0"/>
                <a:ea typeface="Calibri" pitchFamily="34" charset="-122"/>
                <a:cs typeface="Calibri" pitchFamily="34" charset="-120"/>
              </a:rPr>
              <a:t>Visitors keep asking why the flat map and the globe look different. Write 2–3 sentences for a small card that goes between the two displays. Explain what distortion is, why the flat map stretches Greenland, and when each tool is most useful.</a:t>
            </a:r>
            <a:endParaRPr lang="en-US" sz="1200" dirty="0"/>
          </a:p>
        </p:txBody>
      </p:sp>
      <p:sp>
        <p:nvSpPr>
          <p:cNvPr id="12" name="Shape 10"/>
          <p:cNvSpPr/>
          <p:nvPr/>
        </p:nvSpPr>
        <p:spPr>
          <a:xfrm>
            <a:off x="894080" y="6014720"/>
            <a:ext cx="14305280" cy="975360"/>
          </a:xfrm>
          <a:prstGeom prst="roundRect">
            <a:avLst>
              <a:gd name="adj" fmla="val 16667"/>
            </a:avLst>
          </a:prstGeom>
          <a:solidFill>
            <a:srgbClr val="F0E8FF"/>
          </a:solidFill>
          <a:ln w="12700">
            <a:solidFill>
              <a:srgbClr val="8B6FC0"/>
            </a:solidFill>
            <a:prstDash val="solid"/>
          </a:ln>
        </p:spPr>
      </p:sp>
      <p:sp>
        <p:nvSpPr>
          <p:cNvPr id="13" name="Text 11"/>
          <p:cNvSpPr/>
          <p:nvPr/>
        </p:nvSpPr>
        <p:spPr>
          <a:xfrm>
            <a:off x="1219200" y="6063488"/>
            <a:ext cx="4876800" cy="357632"/>
          </a:xfrm>
          <a:prstGeom prst="rect">
            <a:avLst/>
          </a:prstGeom>
          <a:noFill/>
          <a:ln/>
        </p:spPr>
        <p:txBody>
          <a:bodyPr wrap="square" rtlCol="0" anchor="ctr"/>
          <a:lstStyle/>
          <a:p>
            <a:pPr indent="0" marL="0">
              <a:buNone/>
            </a:pPr>
            <a:r>
              <a:rPr lang="en-US" sz="900" b="1" spc="150" kern="0" dirty="0">
                <a:solidFill>
                  <a:srgbClr val="8B6FC0"/>
                </a:solidFill>
                <a:latin typeface="Calibri" pitchFamily="34" charset="0"/>
                <a:ea typeface="Calibri" pitchFamily="34" charset="-122"/>
                <a:cs typeface="Calibri" pitchFamily="34" charset="-120"/>
              </a:rPr>
              <a:t>CURATOR'S CHRONICLE</a:t>
            </a:r>
            <a:endParaRPr lang="en-US" sz="900" dirty="0"/>
          </a:p>
        </p:txBody>
      </p:sp>
      <p:sp>
        <p:nvSpPr>
          <p:cNvPr id="14" name="Text 12"/>
          <p:cNvSpPr/>
          <p:nvPr/>
        </p:nvSpPr>
        <p:spPr>
          <a:xfrm>
            <a:off x="1219200" y="6453632"/>
            <a:ext cx="13655040" cy="487680"/>
          </a:xfrm>
          <a:prstGeom prst="rect">
            <a:avLst/>
          </a:prstGeom>
          <a:noFill/>
          <a:ln/>
        </p:spPr>
        <p:txBody>
          <a:bodyPr wrap="square" rtlCol="0" anchor="ctr"/>
          <a:lstStyle/>
          <a:p>
            <a:pPr indent="0" marL="0">
              <a:buNone/>
            </a:pPr>
            <a:r>
              <a:rPr lang="en-US" sz="1200" i="1" dirty="0">
                <a:solidFill>
                  <a:srgbClr val="0E1C42"/>
                </a:solidFill>
                <a:latin typeface="Calibri" pitchFamily="34" charset="0"/>
                <a:ea typeface="Calibri" pitchFamily="34" charset="-122"/>
                <a:cs typeface="Calibri" pitchFamily="34" charset="-120"/>
              </a:rPr>
              <a:t>In this exhibit, I learned that ______ because ______.</a:t>
            </a:r>
            <a:endParaRPr lang="en-US" sz="1200" dirty="0"/>
          </a:p>
        </p:txBody>
      </p:sp>
      <p:sp>
        <p:nvSpPr>
          <p:cNvPr id="15" name="Shape 13"/>
          <p:cNvSpPr/>
          <p:nvPr/>
        </p:nvSpPr>
        <p:spPr>
          <a:xfrm>
            <a:off x="894080" y="7315200"/>
            <a:ext cx="14305280" cy="1300480"/>
          </a:xfrm>
          <a:prstGeom prst="roundRect">
            <a:avLst>
              <a:gd name="adj" fmla="val 12500"/>
            </a:avLst>
          </a:prstGeom>
          <a:solidFill>
            <a:srgbClr val="F0F2F8"/>
          </a:solidFill>
          <a:ln w="12700">
            <a:solidFill>
              <a:srgbClr val="0E1C42"/>
            </a:solidFill>
            <a:prstDash val="solid"/>
          </a:ln>
        </p:spPr>
      </p:sp>
      <p:sp>
        <p:nvSpPr>
          <p:cNvPr id="16" name="Text 14"/>
          <p:cNvSpPr/>
          <p:nvPr/>
        </p:nvSpPr>
        <p:spPr>
          <a:xfrm>
            <a:off x="1219200" y="7363968"/>
            <a:ext cx="4876800" cy="357632"/>
          </a:xfrm>
          <a:prstGeom prst="rect">
            <a:avLst/>
          </a:prstGeom>
          <a:noFill/>
          <a:ln/>
        </p:spPr>
        <p:txBody>
          <a:bodyPr wrap="square" rtlCol="0" anchor="ctr"/>
          <a:lstStyle/>
          <a:p>
            <a:pPr indent="0" marL="0">
              <a:buNone/>
            </a:pPr>
            <a:r>
              <a:rPr lang="en-US" sz="900" b="1" spc="150" kern="0" dirty="0">
                <a:solidFill>
                  <a:srgbClr val="0E1C42"/>
                </a:solidFill>
                <a:latin typeface="Calibri" pitchFamily="34" charset="0"/>
                <a:ea typeface="Calibri" pitchFamily="34" charset="-122"/>
                <a:cs typeface="Calibri" pitchFamily="34" charset="-120"/>
              </a:rPr>
              <a:t>TURN-IN CHECKLIST</a:t>
            </a:r>
            <a:endParaRPr lang="en-US" sz="900" dirty="0"/>
          </a:p>
        </p:txBody>
      </p:sp>
      <p:sp>
        <p:nvSpPr>
          <p:cNvPr id="17" name="Text 15"/>
          <p:cNvSpPr/>
          <p:nvPr/>
        </p:nvSpPr>
        <p:spPr>
          <a:xfrm>
            <a:off x="1219200" y="7770368"/>
            <a:ext cx="13655040" cy="731520"/>
          </a:xfrm>
          <a:prstGeom prst="rect">
            <a:avLst/>
          </a:prstGeom>
          <a:noFill/>
          <a:ln/>
        </p:spPr>
        <p:txBody>
          <a:bodyPr wrap="square" rtlCol="0" anchor="t"/>
          <a:lstStyle/>
          <a:p>
            <a:pPr indent="0" marL="0">
              <a:buNone/>
            </a:pPr>
            <a:r>
              <a:rPr lang="en-US" sz="1000" dirty="0">
                <a:solidFill>
                  <a:srgbClr val="0E1C42"/>
                </a:solidFill>
                <a:latin typeface="Calibri" pitchFamily="34" charset="0"/>
                <a:ea typeface="Calibri" pitchFamily="34" charset="-122"/>
                <a:cs typeface="Calibri" pitchFamily="34" charset="-120"/>
              </a:rPr>
              <a:t>I answered the evidence questions.  |  </a:t>
            </a:r>
            <a:pPr indent="0" marL="0">
              <a:buNone/>
            </a:pPr>
            <a:r>
              <a:rPr lang="en-US" sz="1000" dirty="0">
                <a:solidFill>
                  <a:srgbClr val="0E1C42"/>
                </a:solidFill>
                <a:latin typeface="Calibri" pitchFamily="34" charset="0"/>
                <a:ea typeface="Calibri" pitchFamily="34" charset="-122"/>
                <a:cs typeface="Calibri" pitchFamily="34" charset="-120"/>
              </a:rPr>
              <a:t>I completed the Curator Task: Exhibit Explanation Card.  |  </a:t>
            </a:r>
            <a:pPr indent="0" marL="0">
              <a:buNone/>
            </a:pPr>
            <a:r>
              <a:rPr lang="en-US" sz="1000" dirty="0">
                <a:solidFill>
                  <a:srgbClr val="0E1C42"/>
                </a:solidFill>
                <a:latin typeface="Calibri" pitchFamily="34" charset="0"/>
                <a:ea typeface="Calibri" pitchFamily="34" charset="-122"/>
                <a:cs typeface="Calibri" pitchFamily="34" charset="-120"/>
              </a:rPr>
              <a:t>I wrote my Curator’s Chronicle.  |  </a:t>
            </a:r>
            <a:pPr indent="0" marL="0">
              <a:buNone/>
            </a:pPr>
            <a:r>
              <a:rPr lang="en-US" sz="1000" dirty="0">
                <a:solidFill>
                  <a:srgbClr val="0E1C42"/>
                </a:solidFill>
                <a:latin typeface="Calibri" pitchFamily="34" charset="0"/>
                <a:ea typeface="Calibri" pitchFamily="34" charset="-122"/>
                <a:cs typeface="Calibri" pitchFamily="34" charset="-120"/>
              </a:rPr>
              <a:t>I copied or downloaded my work and submitted to Canvas.</a:t>
            </a:r>
            <a:endParaRPr lang="en-US" sz="10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Shape 0"/>
          <p:cNvSpPr/>
          <p:nvPr/>
        </p:nvSpPr>
        <p:spPr>
          <a:xfrm>
            <a:off x="0" y="0"/>
            <a:ext cx="16256000" cy="9144000"/>
          </a:xfrm>
          <a:prstGeom prst="rect">
            <a:avLst/>
          </a:prstGeom>
          <a:solidFill>
            <a:srgbClr val="0B1835"/>
          </a:solidFill>
          <a:ln w="19050">
            <a:solidFill>
              <a:srgbClr val="3A5080"/>
            </a:solidFill>
            <a:prstDash val="dash"/>
          </a:ln>
        </p:spPr>
      </p:sp>
      <p:sp>
        <p:nvSpPr>
          <p:cNvPr id="3" name="Shape 1"/>
          <p:cNvSpPr/>
          <p:nvPr/>
        </p:nvSpPr>
        <p:spPr>
          <a:xfrm>
            <a:off x="0" y="0"/>
            <a:ext cx="16256000" cy="9144000"/>
          </a:xfrm>
          <a:prstGeom prst="rect">
            <a:avLst/>
          </a:prstGeom>
          <a:solidFill>
            <a:srgbClr val="0E1C42">
              <a:alpha val="62000"/>
            </a:srgbClr>
          </a:solidFill>
          <a:ln/>
        </p:spPr>
      </p:sp>
      <p:sp>
        <p:nvSpPr>
          <p:cNvPr id="5" name="Shape 2"/>
          <p:cNvSpPr/>
          <p:nvPr/>
        </p:nvSpPr>
        <p:spPr>
          <a:xfrm>
            <a:off x="975360" y="1300480"/>
            <a:ext cx="1950720" cy="81280"/>
          </a:xfrm>
          <a:prstGeom prst="rect">
            <a:avLst/>
          </a:prstGeom>
          <a:solidFill>
            <a:srgbClr val="D4943A"/>
          </a:solidFill>
          <a:ln/>
        </p:spPr>
      </p:sp>
      <p:sp>
        <p:nvSpPr>
          <p:cNvPr id="6" name="Text 3"/>
          <p:cNvSpPr/>
          <p:nvPr/>
        </p:nvSpPr>
        <p:spPr>
          <a:xfrm>
            <a:off x="975360" y="1544320"/>
            <a:ext cx="13817600" cy="1137920"/>
          </a:xfrm>
          <a:prstGeom prst="rect">
            <a:avLst/>
          </a:prstGeom>
          <a:noFill/>
          <a:ln/>
        </p:spPr>
        <p:txBody>
          <a:bodyPr wrap="square"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Great Work, Map Curator!</a:t>
            </a:r>
            <a:endParaRPr lang="en-US" sz="3000" dirty="0"/>
          </a:p>
        </p:txBody>
      </p:sp>
      <p:sp>
        <p:nvSpPr>
          <p:cNvPr id="7" name="Text 4"/>
          <p:cNvSpPr/>
          <p:nvPr/>
        </p:nvSpPr>
        <p:spPr>
          <a:xfrm>
            <a:off x="975360" y="2926080"/>
            <a:ext cx="13817600" cy="1625600"/>
          </a:xfrm>
          <a:prstGeom prst="rect">
            <a:avLst/>
          </a:prstGeom>
          <a:noFill/>
          <a:ln/>
        </p:spPr>
        <p:txBody>
          <a:bodyPr wrap="square" rtlCol="0" anchor="ctr"/>
          <a:lstStyle/>
          <a:p>
            <a:pPr indent="0" marL="0">
              <a:lnSpc>
                <a:spcPct val="130000"/>
              </a:lnSpc>
              <a:buNone/>
            </a:pPr>
            <a:r>
              <a:rPr lang="en-US" sz="1400" dirty="0">
                <a:solidFill>
                  <a:srgbClr val="FFFFFF"/>
                </a:solidFill>
                <a:latin typeface="Calibri" pitchFamily="34" charset="0"/>
                <a:ea typeface="Calibri" pitchFamily="34" charset="-122"/>
                <a:cs typeface="Calibri" pitchFamily="34" charset="-120"/>
              </a:rPr>
              <a:t>Today you learned that flat maps distort shapes and sizes because you can’t make a round surface perfectly flat. You compared globes and flat maps and discovered that each tool has its own strengths.</a:t>
            </a:r>
            <a:endParaRPr lang="en-US" sz="1400" dirty="0"/>
          </a:p>
        </p:txBody>
      </p:sp>
      <p:sp>
        <p:nvSpPr>
          <p:cNvPr id="8" name="Shape 5"/>
          <p:cNvSpPr/>
          <p:nvPr/>
        </p:nvSpPr>
        <p:spPr>
          <a:xfrm>
            <a:off x="975360" y="4876800"/>
            <a:ext cx="13817600" cy="1137920"/>
          </a:xfrm>
          <a:prstGeom prst="roundRect">
            <a:avLst>
              <a:gd name="adj" fmla="val 14286"/>
            </a:avLst>
          </a:prstGeom>
          <a:solidFill>
            <a:srgbClr val="1A2D5A"/>
          </a:solidFill>
          <a:ln w="12700">
            <a:solidFill>
              <a:srgbClr val="D4943A"/>
            </a:solidFill>
            <a:prstDash val="solid"/>
          </a:ln>
        </p:spPr>
      </p:sp>
      <p:sp>
        <p:nvSpPr>
          <p:cNvPr id="9" name="Text 6"/>
          <p:cNvSpPr/>
          <p:nvPr/>
        </p:nvSpPr>
        <p:spPr>
          <a:xfrm>
            <a:off x="1300480" y="5039360"/>
            <a:ext cx="13167360" cy="812800"/>
          </a:xfrm>
          <a:prstGeom prst="rect">
            <a:avLst/>
          </a:prstGeom>
          <a:noFill/>
          <a:ln/>
        </p:spPr>
        <p:txBody>
          <a:bodyPr wrap="square" rtlCol="0" anchor="ctr"/>
          <a:lstStyle/>
          <a:p>
            <a:pPr indent="0" marL="0">
              <a:buNone/>
            </a:pPr>
            <a:r>
              <a:rPr lang="en-US" sz="1100" b="1" spc="100" kern="0" dirty="0">
                <a:solidFill>
                  <a:srgbClr val="D4943A"/>
                </a:solidFill>
                <a:latin typeface="Calibri" pitchFamily="34" charset="0"/>
                <a:ea typeface="Calibri" pitchFamily="34" charset="-122"/>
                <a:cs typeface="Calibri" pitchFamily="34" charset="-120"/>
              </a:rPr>
              <a:t>PERSEVERANCE: </a:t>
            </a:r>
            <a:pPr indent="0" marL="0">
              <a:buNone/>
            </a:pPr>
            <a:r>
              <a:rPr lang="en-US" sz="1100" dirty="0">
                <a:solidFill>
                  <a:srgbClr val="FFFFFF"/>
                </a:solidFill>
                <a:latin typeface="Calibri" pitchFamily="34" charset="0"/>
                <a:ea typeface="Calibri" pitchFamily="34" charset="-122"/>
                <a:cs typeface="Calibri" pitchFamily="34" charset="-120"/>
              </a:rPr>
              <a:t>You stuck with a confusing idea and figured it out. That is what good curators do!</a:t>
            </a:r>
            <a:endParaRPr lang="en-US" sz="1100" dirty="0"/>
          </a:p>
        </p:txBody>
      </p:sp>
      <p:sp>
        <p:nvSpPr>
          <p:cNvPr id="10" name="Shape 7"/>
          <p:cNvSpPr/>
          <p:nvPr/>
        </p:nvSpPr>
        <p:spPr>
          <a:xfrm>
            <a:off x="975360" y="6421120"/>
            <a:ext cx="13817600" cy="1625600"/>
          </a:xfrm>
          <a:prstGeom prst="roundRect">
            <a:avLst>
              <a:gd name="adj" fmla="val 12000"/>
            </a:avLst>
          </a:prstGeom>
          <a:solidFill>
            <a:srgbClr val="0B1835"/>
          </a:solidFill>
          <a:ln/>
        </p:spPr>
      </p:sp>
      <p:sp>
        <p:nvSpPr>
          <p:cNvPr id="11" name="Text 8"/>
          <p:cNvSpPr/>
          <p:nvPr/>
        </p:nvSpPr>
        <p:spPr>
          <a:xfrm>
            <a:off x="1300480" y="6502400"/>
            <a:ext cx="4876800" cy="357632"/>
          </a:xfrm>
          <a:prstGeom prst="rect">
            <a:avLst/>
          </a:prstGeom>
          <a:noFill/>
          <a:ln/>
        </p:spPr>
        <p:txBody>
          <a:bodyPr wrap="square" rtlCol="0" anchor="ctr"/>
          <a:lstStyle/>
          <a:p>
            <a:pPr indent="0" marL="0">
              <a:buNone/>
            </a:pPr>
            <a:r>
              <a:rPr lang="en-US" sz="900" b="1" spc="200" kern="0" dirty="0">
                <a:solidFill>
                  <a:srgbClr val="55C8E8"/>
                </a:solidFill>
                <a:latin typeface="Calibri" pitchFamily="34" charset="0"/>
                <a:ea typeface="Calibri" pitchFamily="34" charset="-122"/>
                <a:cs typeface="Calibri" pitchFamily="34" charset="-120"/>
              </a:rPr>
              <a:t>COMING NEXT</a:t>
            </a:r>
            <a:endParaRPr lang="en-US" sz="900" dirty="0"/>
          </a:p>
        </p:txBody>
      </p:sp>
      <p:sp>
        <p:nvSpPr>
          <p:cNvPr id="12" name="Text 9"/>
          <p:cNvSpPr/>
          <p:nvPr/>
        </p:nvSpPr>
        <p:spPr>
          <a:xfrm>
            <a:off x="1300480" y="6957568"/>
            <a:ext cx="13167360" cy="975360"/>
          </a:xfrm>
          <a:prstGeom prst="rect">
            <a:avLst/>
          </a:prstGeom>
          <a:noFill/>
          <a:ln/>
        </p:spPr>
        <p:txBody>
          <a:bodyPr wrap="square" rtlCol="0" anchor="ctr"/>
          <a:lstStyle/>
          <a:p>
            <a:pPr indent="0" marL="0">
              <a:lnSpc>
                <a:spcPct val="120000"/>
              </a:lnSpc>
              <a:buNone/>
            </a:pPr>
            <a:r>
              <a:rPr lang="en-US" sz="1300" i="1" dirty="0">
                <a:solidFill>
                  <a:srgbClr val="FFFFFF"/>
                </a:solidFill>
                <a:latin typeface="Calibri" pitchFamily="34" charset="0"/>
                <a:ea typeface="Calibri" pitchFamily="34" charset="-122"/>
                <a:cs typeface="Calibri" pitchFamily="34" charset="-120"/>
              </a:rPr>
              <a:t>Next time, you’ll discover that there are also charts, graphs, tables, and photographs hanging on the walls. A good curator reads more than just maps.</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20</Slides>
  <Notes>20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20</vt:i4>
      </vt:variant>
    </vt:vector>
  </HeadingPairs>
  <TitlesOfParts>
    <vt:vector size="2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2026-07-11T02:50:20Z</dcterms:created>
  <dcterms:modified xsi:type="dcterms:W3CDTF">2026-07-11T02:50:20Z</dcterms:modified>
</cp:coreProperties>
</file>