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long gallery wall showing colorful climate panels stretching from icy white (Arctic) through forest green, golden plains, sandy desert, to lush tropical palms — dramatic lighting in a museum hallTitle slide. Display while students join. Read lesson title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museum gallery with a long row of colorful panels showing different landscapes — icy tundra, snowy forests, green plains, sandy desert, tropical palms — stretching from one end of the room to the other, labels missingRead the Curator's Question aloud. Remind students: 'Last time we sorted the landmark photos. Today, we step over to the new panels — they show climate and vegetation across the region.' Briefly remind them they learned about climate at the world scale in Unit 5 — now they zoom into one region. Under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museum display case with five small dioramas side by side — Arctic tundra, boreal forest, temperate plains, desert, tropical — each shown with equal beauty and lighting, representing fairness in how we describe placesVirtue: courtesy. Read the quote. Discuss briefly — curators describe each zone fairly. Under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climate: the usual weather of a place over many years — not just today. Distinguish from weather. Explain that because the region stretches far north to south, it holds five different climate zones. 1-2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Arctic Tundra and Boreal Forest. Key question: Why can't trees grow in the tundra? (Ground is frozen too deep.) What makes evergreens special? (They keep their needles all year.)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Temperate zone covers most of the U.S. Key distinction: deciduous trees (drop leaves) vs. Great Plains grasslands. Ask students: 'What season shows this zone the best?'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Desert and Tropical zones. Key contrast: both are warm but desert is dry while tropical is wet. Ask: 'What's the biggest difference between desert and tropical?'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climate map. Walk students through the three map questions. Point out the zones from north to south. Ask: 'Which zone covers the most space on this map?'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the match game. Show each plant card and ask: 'Where would this grow?' Reveal answers after student responses. Saguaro = Desert, Coconut Palm = Tropical, Spruce = Boreal Forest.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Continue matching. Arctic Moss = Arctic Tundra, Maple = Temperate, Banana = Tropical. Ask: 'What clue in the description helped you decide?'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the Discovery Fact about the saguaro. Then &amp; Now: people have always used the plants in their climate zone. Ask: 'What stayed the same? Climate still shapes how people live.'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Exhibit Label aloud. Share Opti's curator secret. Discuss the Socratic questions — the key idea is that plants reveal climate. This is the 'why it matters' moment.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Thinking Move recap: Sort &gt; Compare &gt; Explain. Give students 30-60 seconds to discuss the Socratic questions with a partner or in chat. This prepares them for the assignment.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Q1. Let students answer before revealing. Answer: B. Reteach if needed: climate = long-term weather pattern.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Q2. Answer: C. Boreal forest = evergreens.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Q3. Answer: A. The region stretches far north to south. Celebrate or reteach.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 Analysis. Read the student's mistake aloud. Ask: 'What went wrong?' The student confused Arctic Tundra (no trees) with Boreal Forest (tall evergreens). The word 'forest' is the clue.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evidence question aloud. Model Q1: 'I'd write — the Arctic Tundra is too cold for trees, and the ground stays frozen, so only small plants like moss can grow there.'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Curator Task: pick two zones, compare them in 3-4 sentences. Model briefly: 'I might compare Desert and Tropical — both are warm but one is dry and one is wet.' Then explain the Chronicle.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museum shelf being unpacked with labeled items: water, soil, forests, minerals, crops — natural resources displayed on a gallery shelf with warm lightingTease next lesson: Natural Resources shelf opens. Water, soil, forests, minerals, crops. We start asking how people USE the land. The story turns toward choices. Under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wide museum gallery view showing all five climate panels now with labels — a completed exhibit wall, warm golden lighting, feeling of accomplishmentClosing. Celebrate their work. Remind them to submit to Canvas. Under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612648" y="484632"/>
            <a:ext cx="10972800" cy="365760"/>
          </a:xfrm>
          <a:prstGeom prst="rect">
            <a:avLst/>
          </a:prstGeom>
          <a:noFill/>
          <a:ln/>
        </p:spPr>
        <p:txBody>
          <a:bodyPr wrap="square" lIns="0" tIns="0" rIns="0" bIns="0" rtlCol="0" anchor="ctr"/>
          <a:lstStyle/>
          <a:p>
            <a:pPr indent="0" marL="0">
              <a:buNone/>
            </a:pPr>
            <a:r>
              <a:rPr lang="en-US" sz="1300" b="1" spc="300" kern="0" dirty="0">
                <a:solidFill>
                  <a:srgbClr val="55C8E8"/>
                </a:solidFill>
                <a:latin typeface="Calibri" pitchFamily="34" charset="0"/>
                <a:ea typeface="Calibri" pitchFamily="34" charset="-122"/>
                <a:cs typeface="Calibri" pitchFamily="34" charset="-120"/>
              </a:rPr>
              <a:t>OPTIMA ACADEMY ONLINE</a:t>
            </a:r>
            <a:endParaRPr lang="en-US" sz="1300" dirty="0"/>
          </a:p>
        </p:txBody>
      </p:sp>
      <p:sp>
        <p:nvSpPr>
          <p:cNvPr id="6" name="Text 3"/>
          <p:cNvSpPr/>
          <p:nvPr/>
        </p:nvSpPr>
        <p:spPr>
          <a:xfrm>
            <a:off x="612648" y="978408"/>
            <a:ext cx="9144000" cy="2194560"/>
          </a:xfrm>
          <a:prstGeom prst="rect">
            <a:avLst/>
          </a:prstGeom>
          <a:noFill/>
          <a:ln/>
        </p:spPr>
        <p:txBody>
          <a:bodyPr wrap="square" lIns="0" tIns="0" rIns="0" bIns="0" rtlCol="0" anchor="ctr"/>
          <a:lstStyle/>
          <a:p>
            <a:pPr indent="0" marL="0">
              <a:lnSpc>
                <a:spcPct val="110000"/>
              </a:lnSpc>
              <a:buNone/>
            </a:pPr>
            <a:r>
              <a:rPr lang="en-US" sz="4800" b="1" dirty="0">
                <a:solidFill>
                  <a:srgbClr val="FFFFFF"/>
                </a:solidFill>
                <a:latin typeface="Cambria" pitchFamily="34" charset="0"/>
                <a:ea typeface="Cambria" pitchFamily="34" charset="-122"/>
                <a:cs typeface="Cambria" pitchFamily="34" charset="-120"/>
              </a:rPr>
              <a:t>Climate and Vegetation</a:t>
            </a:r>
            <a:endParaRPr lang="en-US" sz="4800" dirty="0"/>
          </a:p>
          <a:p>
            <a:pPr indent="0" marL="0">
              <a:lnSpc>
                <a:spcPct val="110000"/>
              </a:lnSpc>
              <a:buNone/>
            </a:pPr>
            <a:r>
              <a:rPr lang="en-US" sz="4800" b="1" dirty="0">
                <a:solidFill>
                  <a:srgbClr val="FFFFFF"/>
                </a:solidFill>
                <a:latin typeface="Cambria" pitchFamily="34" charset="0"/>
                <a:ea typeface="Cambria" pitchFamily="34" charset="-122"/>
                <a:cs typeface="Cambria" pitchFamily="34" charset="-120"/>
              </a:rPr>
              <a:t>Across the Region</a:t>
            </a:r>
            <a:endParaRPr lang="en-US" sz="4800" dirty="0"/>
          </a:p>
        </p:txBody>
      </p:sp>
      <p:sp>
        <p:nvSpPr>
          <p:cNvPr id="7" name="Text 4"/>
          <p:cNvSpPr/>
          <p:nvPr/>
        </p:nvSpPr>
        <p:spPr>
          <a:xfrm>
            <a:off x="612648" y="3172968"/>
            <a:ext cx="9144000" cy="411480"/>
          </a:xfrm>
          <a:prstGeom prst="rect">
            <a:avLst/>
          </a:prstGeom>
          <a:noFill/>
          <a:ln/>
        </p:spPr>
        <p:txBody>
          <a:bodyPr wrap="square" lIns="0" tIns="0" rIns="0" bIns="0" rtlCol="0" anchor="ctr"/>
          <a:lstStyle/>
          <a:p>
            <a:pPr indent="0" marL="0">
              <a:buNone/>
            </a:pPr>
            <a:r>
              <a:rPr lang="en-US" sz="1800" dirty="0">
                <a:solidFill>
                  <a:srgbClr val="D4943A"/>
                </a:solidFill>
                <a:latin typeface="Calibri" pitchFamily="34" charset="0"/>
                <a:ea typeface="Calibri" pitchFamily="34" charset="-122"/>
                <a:cs typeface="Calibri" pitchFamily="34" charset="-120"/>
              </a:rPr>
              <a:t>Lesson 3.06.04  |  Week 16  |  The Great Map Room</a:t>
            </a:r>
            <a:endParaRPr lang="en-US" sz="1800" dirty="0"/>
          </a:p>
        </p:txBody>
      </p:sp>
      <p:sp>
        <p:nvSpPr>
          <p:cNvPr id="8" name="Shape 5"/>
          <p:cNvSpPr/>
          <p:nvPr/>
        </p:nvSpPr>
        <p:spPr>
          <a:xfrm>
            <a:off x="612648" y="3776472"/>
            <a:ext cx="2441448" cy="45720"/>
          </a:xfrm>
          <a:prstGeom prst="rect">
            <a:avLst/>
          </a:prstGeom>
          <a:solidFill>
            <a:srgbClr val="D4943A"/>
          </a:solidFill>
          <a:ln/>
        </p:spPr>
      </p:sp>
      <p:sp>
        <p:nvSpPr>
          <p:cNvPr id="9" name="Text 6"/>
          <p:cNvSpPr/>
          <p:nvPr/>
        </p:nvSpPr>
        <p:spPr>
          <a:xfrm>
            <a:off x="612648" y="4023360"/>
            <a:ext cx="9144000" cy="365760"/>
          </a:xfrm>
          <a:prstGeom prst="rect">
            <a:avLst/>
          </a:prstGeom>
          <a:noFill/>
          <a:ln/>
        </p:spPr>
        <p:txBody>
          <a:bodyPr wrap="square" lIns="0" tIns="0" rIns="0" bIns="0" rtlCol="0" anchor="ctr"/>
          <a:lstStyle/>
          <a:p>
            <a:pPr indent="0" marL="0">
              <a:buNone/>
            </a:pPr>
            <a:r>
              <a:rPr lang="en-US" sz="1200" dirty="0">
                <a:solidFill>
                  <a:srgbClr val="7A88A8"/>
                </a:solidFill>
                <a:latin typeface="Calibri" pitchFamily="34" charset="0"/>
                <a:ea typeface="Calibri" pitchFamily="34" charset="-122"/>
                <a:cs typeface="Calibri" pitchFamily="34" charset="-120"/>
              </a:rPr>
              <a:t>SS.3.G.2.1 | SS.3.G.2.4 | SS.3.G.2.5 | SS.3.G.3.1 | SS.3.G.3.2 | SS.3.G.4.1-4.4</a:t>
            </a:r>
            <a:endParaRPr lang="en-US" sz="1200" dirty="0"/>
          </a:p>
        </p:txBody>
      </p:sp>
      <p:sp>
        <p:nvSpPr>
          <p:cNvPr id="10" name="Text 7"/>
          <p:cNvSpPr/>
          <p:nvPr/>
        </p:nvSpPr>
        <p:spPr>
          <a:xfrm>
            <a:off x="612648" y="4507992"/>
            <a:ext cx="5486400" cy="365760"/>
          </a:xfrm>
          <a:prstGeom prst="rect">
            <a:avLst/>
          </a:prstGeom>
          <a:noFill/>
          <a:ln/>
        </p:spPr>
        <p:txBody>
          <a:bodyPr wrap="square" lIns="0" tIns="0" rIns="0" bIns="0" rtlCol="0" anchor="ctr"/>
          <a:lstStyle/>
          <a:p>
            <a:pPr indent="0" marL="0">
              <a:buNone/>
            </a:pPr>
            <a:r>
              <a:rPr lang="en-US" sz="1400" i="1" dirty="0">
                <a:solidFill>
                  <a:srgbClr val="55C8E8"/>
                </a:solidFill>
                <a:latin typeface="Calibri" pitchFamily="34" charset="0"/>
                <a:ea typeface="Calibri" pitchFamily="34" charset="-122"/>
                <a:cs typeface="Calibri" pitchFamily="34" charset="-120"/>
              </a:rPr>
              <a:t>Thinking Move: Sort &gt; Compare &gt; Explain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609600" y="487680"/>
            <a:ext cx="7315200" cy="320040"/>
          </a:xfrm>
          <a:prstGeom prst="rect">
            <a:avLst/>
          </a:prstGeom>
          <a:noFill/>
          <a:ln/>
        </p:spPr>
        <p:txBody>
          <a:bodyPr wrap="square" lIns="0" tIns="0" rIns="0" bIns="0" rtlCol="0" anchor="ctr"/>
          <a:lstStyle/>
          <a:p>
            <a:pPr indent="0" marL="0">
              <a:buNone/>
            </a:pPr>
            <a:r>
              <a:rPr lang="en-US" sz="1100" b="1" spc="200" kern="0" dirty="0">
                <a:solidFill>
                  <a:srgbClr val="55C8E8"/>
                </a:solidFill>
                <a:latin typeface="Calibri" pitchFamily="34" charset="0"/>
                <a:ea typeface="Calibri" pitchFamily="34" charset="-122"/>
                <a:cs typeface="Calibri" pitchFamily="34" charset="-120"/>
              </a:rPr>
              <a:t>ENTER THE MUSEUM</a:t>
            </a:r>
            <a:endParaRPr lang="en-US" sz="1100" dirty="0"/>
          </a:p>
        </p:txBody>
      </p:sp>
      <p:sp>
        <p:nvSpPr>
          <p:cNvPr id="6" name="Text 3"/>
          <p:cNvSpPr/>
          <p:nvPr/>
        </p:nvSpPr>
        <p:spPr>
          <a:xfrm>
            <a:off x="612648" y="978408"/>
            <a:ext cx="7315200" cy="1828800"/>
          </a:xfrm>
          <a:prstGeom prst="rect">
            <a:avLst/>
          </a:prstGeom>
          <a:noFill/>
          <a:ln/>
        </p:spPr>
        <p:txBody>
          <a:bodyPr wrap="square" lIns="0" tIns="0" rIns="0" bIns="0" rtlCol="0" anchor="ctr"/>
          <a:lstStyle/>
          <a:p>
            <a:pPr indent="0" marL="0">
              <a:lnSpc>
                <a:spcPct val="110000"/>
              </a:lnSpc>
              <a:buNone/>
            </a:pPr>
            <a:r>
              <a:rPr lang="en-US" sz="4400" b="1" dirty="0">
                <a:solidFill>
                  <a:srgbClr val="FFFFFF"/>
                </a:solidFill>
                <a:latin typeface="Cambria" pitchFamily="34" charset="0"/>
                <a:ea typeface="Cambria" pitchFamily="34" charset="-122"/>
                <a:cs typeface="Cambria" pitchFamily="34" charset="-120"/>
              </a:rPr>
              <a:t>From One End of the</a:t>
            </a:r>
            <a:endParaRPr lang="en-US" sz="4400" dirty="0"/>
          </a:p>
          <a:p>
            <a:pPr indent="0" marL="0">
              <a:lnSpc>
                <a:spcPct val="110000"/>
              </a:lnSpc>
              <a:buNone/>
            </a:pPr>
            <a:r>
              <a:rPr lang="en-US" sz="4400" b="1" dirty="0">
                <a:solidFill>
                  <a:srgbClr val="FFFFFF"/>
                </a:solidFill>
                <a:latin typeface="Cambria" pitchFamily="34" charset="0"/>
                <a:ea typeface="Cambria" pitchFamily="34" charset="-122"/>
                <a:cs typeface="Cambria" pitchFamily="34" charset="-120"/>
              </a:rPr>
              <a:t>Region to the Other</a:t>
            </a:r>
            <a:endParaRPr lang="en-US" sz="4400" dirty="0"/>
          </a:p>
        </p:txBody>
      </p:sp>
      <p:sp>
        <p:nvSpPr>
          <p:cNvPr id="7" name="Shape 4"/>
          <p:cNvSpPr/>
          <p:nvPr/>
        </p:nvSpPr>
        <p:spPr>
          <a:xfrm>
            <a:off x="609600" y="3169920"/>
            <a:ext cx="6705600" cy="3048000"/>
          </a:xfrm>
          <a:prstGeom prst="roundRect">
            <a:avLst>
              <a:gd name="adj" fmla="val 4800"/>
            </a:avLst>
          </a:prstGeom>
          <a:solidFill>
            <a:srgbClr val="FFF3DC"/>
          </a:solidFill>
          <a:ln w="19050">
            <a:solidFill>
              <a:srgbClr val="F5E6C8"/>
            </a:solidFill>
            <a:prstDash val="solid"/>
          </a:ln>
        </p:spPr>
      </p:sp>
      <p:sp>
        <p:nvSpPr>
          <p:cNvPr id="8" name="Text 5"/>
          <p:cNvSpPr/>
          <p:nvPr/>
        </p:nvSpPr>
        <p:spPr>
          <a:xfrm>
            <a:off x="792480" y="3243072"/>
            <a:ext cx="6339840" cy="265176"/>
          </a:xfrm>
          <a:prstGeom prst="rect">
            <a:avLst/>
          </a:prstGeom>
          <a:noFill/>
          <a:ln/>
        </p:spPr>
        <p:txBody>
          <a:bodyPr wrap="square" lIns="0" tIns="0" rIns="0" bIns="0" rtlCol="0" anchor="ctr"/>
          <a:lstStyle/>
          <a:p>
            <a:pPr indent="0" marL="0">
              <a:buNone/>
            </a:pPr>
            <a:r>
              <a:rPr lang="en-US" sz="1200" b="1" spc="150" kern="0" dirty="0">
                <a:solidFill>
                  <a:srgbClr val="D4943A"/>
                </a:solidFill>
                <a:latin typeface="Calibri" pitchFamily="34" charset="0"/>
                <a:ea typeface="Calibri" pitchFamily="34" charset="-122"/>
                <a:cs typeface="Calibri" pitchFamily="34" charset="-120"/>
              </a:rPr>
              <a:t>CHAT FRAME</a:t>
            </a:r>
            <a:endParaRPr lang="en-US" sz="1200" dirty="0"/>
          </a:p>
        </p:txBody>
      </p:sp>
      <p:sp>
        <p:nvSpPr>
          <p:cNvPr id="9" name="Text 6"/>
          <p:cNvSpPr/>
          <p:nvPr/>
        </p:nvSpPr>
        <p:spPr>
          <a:xfrm>
            <a:off x="792480" y="3508248"/>
            <a:ext cx="6339840" cy="2618232"/>
          </a:xfrm>
          <a:prstGeom prst="rect">
            <a:avLst/>
          </a:prstGeom>
          <a:noFill/>
          <a:ln/>
        </p:spPr>
        <p:txBody>
          <a:bodyPr wrap="square" lIns="0" tIns="0" rIns="0" bIns="0" rtlCol="0" anchor="t"/>
          <a:lstStyle/>
          <a:p>
            <a:pPr indent="0" marL="0">
              <a:spcAft>
                <a:spcPts val="700"/>
              </a:spcAft>
              <a:buNone/>
            </a:pPr>
            <a:r>
              <a:rPr lang="en-US" sz="1600" i="1" dirty="0">
                <a:solidFill>
                  <a:srgbClr val="5A4A3A"/>
                </a:solidFill>
                <a:latin typeface="Cambria" pitchFamily="34" charset="0"/>
                <a:ea typeface="Cambria" pitchFamily="34" charset="-122"/>
                <a:cs typeface="Cambria" pitchFamily="34" charset="-120"/>
              </a:rPr>
              <a:t>"A long row of colorful panels has been wheeled into the gallery this morning."</a:t>
            </a:r>
            <a:endParaRPr lang="en-US" sz="1600" dirty="0"/>
          </a:p>
          <a:p>
            <a:pPr indent="0" marL="0">
              <a:spcAft>
                <a:spcPts val="700"/>
              </a:spcAft>
              <a:buNone/>
            </a:pPr>
            <a:r>
              <a:rPr lang="en-US" sz="1600" i="1" dirty="0">
                <a:solidFill>
                  <a:srgbClr val="5A4A3A"/>
                </a:solidFill>
                <a:latin typeface="Cambria" pitchFamily="34" charset="0"/>
                <a:ea typeface="Cambria" pitchFamily="34" charset="-122"/>
                <a:cs typeface="Cambria" pitchFamily="34" charset="-120"/>
              </a:rPr>
              <a:t>"Each panel shows a different part of North America and the Caribbean: icy white at one end, sandy desert in the middle, lush green palms at the other."</a:t>
            </a:r>
            <a:endParaRPr lang="en-US" sz="1600" dirty="0"/>
          </a:p>
          <a:p>
            <a:pPr indent="0" marL="0">
              <a:spcAft>
                <a:spcPts val="700"/>
              </a:spcAft>
              <a:buNone/>
            </a:pPr>
            <a:r>
              <a:rPr lang="en-US" sz="1600" i="1" dirty="0">
                <a:solidFill>
                  <a:srgbClr val="5A4A3A"/>
                </a:solidFill>
                <a:latin typeface="Cambria" pitchFamily="34" charset="0"/>
                <a:ea typeface="Cambria" pitchFamily="34" charset="-122"/>
                <a:cs typeface="Cambria" pitchFamily="34" charset="-120"/>
              </a:rPr>
              <a:t>"These are the climate and vegetation panels, and they're missing their labels."</a:t>
            </a:r>
            <a:endParaRPr lang="en-US" sz="1600" dirty="0"/>
          </a:p>
        </p:txBody>
      </p:sp>
      <p:sp>
        <p:nvSpPr>
          <p:cNvPr id="10" name="Shape 7"/>
          <p:cNvSpPr/>
          <p:nvPr/>
        </p:nvSpPr>
        <p:spPr>
          <a:xfrm>
            <a:off x="7680960" y="1216152"/>
            <a:ext cx="4142232" cy="2075688"/>
          </a:xfrm>
          <a:prstGeom prst="roundRect">
            <a:avLst>
              <a:gd name="adj" fmla="val 7048"/>
            </a:avLst>
          </a:prstGeom>
          <a:solidFill>
            <a:srgbClr val="1A2D5A"/>
          </a:solidFill>
          <a:ln/>
          <a:effectLst>
            <a:outerShdw sx="100000" sy="100000" kx="0" ky="0" algn="bl" rotWithShape="0" blurRad="76200" dist="25400" dir="8100000">
              <a:srgbClr val="000000">
                <a:alpha val="15000"/>
              </a:srgbClr>
            </a:outerShdw>
          </a:effectLst>
        </p:spPr>
      </p:sp>
      <p:sp>
        <p:nvSpPr>
          <p:cNvPr id="11" name="Text 8"/>
          <p:cNvSpPr/>
          <p:nvPr/>
        </p:nvSpPr>
        <p:spPr>
          <a:xfrm>
            <a:off x="7863840" y="1344168"/>
            <a:ext cx="3776472" cy="320040"/>
          </a:xfrm>
          <a:prstGeom prst="rect">
            <a:avLst/>
          </a:prstGeom>
          <a:noFill/>
          <a:ln/>
        </p:spPr>
        <p:txBody>
          <a:bodyPr wrap="square" lIns="0" tIns="0" rIns="0" bIns="0" rtlCol="0" anchor="ctr"/>
          <a:lstStyle/>
          <a:p>
            <a:pPr indent="0" marL="0">
              <a:buNone/>
            </a:pPr>
            <a:r>
              <a:rPr lang="en-US" sz="1100" b="1" spc="200" kern="0" dirty="0">
                <a:solidFill>
                  <a:srgbClr val="55C8E8"/>
                </a:solidFill>
                <a:latin typeface="Calibri" pitchFamily="34" charset="0"/>
                <a:ea typeface="Calibri" pitchFamily="34" charset="-122"/>
                <a:cs typeface="Calibri" pitchFamily="34" charset="-120"/>
              </a:rPr>
              <a:t>CURATOR'S QUESTION</a:t>
            </a:r>
            <a:endParaRPr lang="en-US" sz="1100" dirty="0"/>
          </a:p>
        </p:txBody>
      </p:sp>
      <p:sp>
        <p:nvSpPr>
          <p:cNvPr id="12" name="Text 9"/>
          <p:cNvSpPr/>
          <p:nvPr/>
        </p:nvSpPr>
        <p:spPr>
          <a:xfrm>
            <a:off x="7863840" y="1709928"/>
            <a:ext cx="3776472" cy="1463040"/>
          </a:xfrm>
          <a:prstGeom prst="rect">
            <a:avLst/>
          </a:prstGeom>
          <a:noFill/>
          <a:ln/>
        </p:spPr>
        <p:txBody>
          <a:bodyPr wrap="square" lIns="0" tIns="0" rIns="0" bIns="0" rtlCol="0" anchor="t"/>
          <a:lstStyle/>
          <a:p>
            <a:pPr indent="0" marL="0">
              <a:buNone/>
            </a:pPr>
            <a:r>
              <a:rPr lang="en-US" sz="1800" i="1" dirty="0">
                <a:solidFill>
                  <a:srgbClr val="FFFFFF"/>
                </a:solidFill>
                <a:latin typeface="Cambria" pitchFamily="34" charset="0"/>
                <a:ea typeface="Cambria" pitchFamily="34" charset="-122"/>
                <a:cs typeface="Cambria" pitchFamily="34" charset="-120"/>
              </a:rPr>
              <a:t>Why does the land in one part of North America and the Caribbean look and feel so different from another part?</a:t>
            </a:r>
            <a:endParaRPr lang="en-US" sz="1800" dirty="0"/>
          </a:p>
        </p:txBody>
      </p:sp>
      <p:sp>
        <p:nvSpPr>
          <p:cNvPr id="13" name="Text 10"/>
          <p:cNvSpPr/>
          <p:nvPr/>
        </p:nvSpPr>
        <p:spPr>
          <a:xfrm>
            <a:off x="7680960" y="3410712"/>
            <a:ext cx="4142232" cy="365760"/>
          </a:xfrm>
          <a:prstGeom prst="rect">
            <a:avLst/>
          </a:prstGeom>
          <a:noFill/>
          <a:ln/>
        </p:spPr>
        <p:txBody>
          <a:bodyPr wrap="square" lIns="0" tIns="0" rIns="0" bIns="0" rtlCol="0" anchor="ctr"/>
          <a:lstStyle/>
          <a:p>
            <a:pPr algn="ctr" indent="0" marL="0">
              <a:buNone/>
            </a:pPr>
            <a:r>
              <a:rPr lang="en-US" sz="1400" b="1" dirty="0">
                <a:solidFill>
                  <a:srgbClr val="D4943A"/>
                </a:solidFill>
                <a:latin typeface="Calibri" pitchFamily="34" charset="0"/>
                <a:ea typeface="Calibri" pitchFamily="34" charset="-122"/>
                <a:cs typeface="Calibri" pitchFamily="34" charset="-120"/>
              </a:rPr>
              <a:t>Your Role: Regional Curator</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609600" y="487680"/>
            <a:ext cx="7315200" cy="320040"/>
          </a:xfrm>
          <a:prstGeom prst="rect">
            <a:avLst/>
          </a:prstGeom>
          <a:noFill/>
          <a:ln/>
        </p:spPr>
        <p:txBody>
          <a:bodyPr wrap="square" lIns="0" tIns="0" rIns="0" bIns="0" rtlCol="0" anchor="ctr"/>
          <a:lstStyle/>
          <a:p>
            <a:pPr indent="0" marL="0">
              <a:buNone/>
            </a:pPr>
            <a:r>
              <a:rPr lang="en-US" sz="1100" b="1" spc="200" kern="0" dirty="0">
                <a:solidFill>
                  <a:srgbClr val="55C8E8"/>
                </a:solidFill>
                <a:latin typeface="Calibri" pitchFamily="34" charset="0"/>
                <a:ea typeface="Calibri" pitchFamily="34" charset="-122"/>
                <a:cs typeface="Calibri" pitchFamily="34" charset="-120"/>
              </a:rPr>
              <a:t>VIRTUE SPOTLIGHT</a:t>
            </a:r>
            <a:endParaRPr lang="en-US" sz="1100" dirty="0"/>
          </a:p>
        </p:txBody>
      </p:sp>
      <p:sp>
        <p:nvSpPr>
          <p:cNvPr id="6" name="Text 3"/>
          <p:cNvSpPr/>
          <p:nvPr/>
        </p:nvSpPr>
        <p:spPr>
          <a:xfrm>
            <a:off x="612648" y="978408"/>
            <a:ext cx="7315200" cy="1097280"/>
          </a:xfrm>
          <a:prstGeom prst="rect">
            <a:avLst/>
          </a:prstGeom>
          <a:noFill/>
          <a:ln/>
        </p:spPr>
        <p:txBody>
          <a:bodyPr wrap="square" lIns="0" tIns="0" rIns="0" bIns="0" rtlCol="0" anchor="ctr"/>
          <a:lstStyle/>
          <a:p>
            <a:pPr indent="0" marL="0">
              <a:buNone/>
            </a:pPr>
            <a:r>
              <a:rPr lang="en-US" sz="5200" b="1" dirty="0">
                <a:solidFill>
                  <a:srgbClr val="D4943A"/>
                </a:solidFill>
                <a:latin typeface="Cambria" pitchFamily="34" charset="0"/>
                <a:ea typeface="Cambria" pitchFamily="34" charset="-122"/>
                <a:cs typeface="Cambria" pitchFamily="34" charset="-120"/>
              </a:rPr>
              <a:t>Courtesy</a:t>
            </a:r>
            <a:endParaRPr lang="en-US" sz="5200" dirty="0"/>
          </a:p>
        </p:txBody>
      </p:sp>
      <p:sp>
        <p:nvSpPr>
          <p:cNvPr id="7" name="Shape 4"/>
          <p:cNvSpPr/>
          <p:nvPr/>
        </p:nvSpPr>
        <p:spPr>
          <a:xfrm>
            <a:off x="612648" y="2313432"/>
            <a:ext cx="6702552" cy="2560320"/>
          </a:xfrm>
          <a:prstGeom prst="roundRect">
            <a:avLst>
              <a:gd name="adj" fmla="val 7143"/>
            </a:avLst>
          </a:prstGeom>
          <a:solidFill>
            <a:srgbClr val="1A2D5A"/>
          </a:solidFill>
          <a:ln/>
          <a:effectLst>
            <a:outerShdw sx="100000" sy="100000" kx="0" ky="0" algn="bl" rotWithShape="0" blurRad="101600" dist="38100" dir="8100000">
              <a:srgbClr val="000000">
                <a:alpha val="20000"/>
              </a:srgbClr>
            </a:outerShdw>
          </a:effectLst>
        </p:spPr>
      </p:sp>
      <p:sp>
        <p:nvSpPr>
          <p:cNvPr id="8" name="Text 5"/>
          <p:cNvSpPr/>
          <p:nvPr/>
        </p:nvSpPr>
        <p:spPr>
          <a:xfrm>
            <a:off x="850392" y="2496312"/>
            <a:ext cx="6217920" cy="219456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It's easy to call a desert "empty" or the Arctic "boring" — but people live in every one of these climate zones.
</a:t>
            </a:r>
            <a:pPr indent="0" marL="0">
              <a:buNone/>
            </a:pPr>
            <a:r>
              <a:rPr lang="en-US" sz="2000" b="1" dirty="0">
                <a:solidFill>
                  <a:srgbClr val="D4943A"/>
                </a:solidFill>
                <a:latin typeface="Cambria" pitchFamily="34" charset="0"/>
                <a:ea typeface="Cambria" pitchFamily="34" charset="-122"/>
                <a:cs typeface="Cambria" pitchFamily="34" charset="-120"/>
              </a:rPr>
              <a:t>Courtesy means describing each place fairly.</a:t>
            </a:r>
            <a:pPr indent="0" marL="0">
              <a:buNone/>
            </a:pPr>
            <a:endParaRPr lang="en-US" sz="1800" dirty="0"/>
          </a:p>
          <a:p>
            <a:pPr indent="0" marL="0">
              <a:buNone/>
            </a:pPr>
            <a:endParaRPr lang="en-US" sz="1800" dirty="0"/>
          </a:p>
          <a:p>
            <a:pPr indent="0" marL="0">
              <a:buNone/>
            </a:pPr>
            <a:r>
              <a:rPr lang="en-US" sz="1800" dirty="0">
                <a:solidFill>
                  <a:srgbClr val="FFFFFF"/>
                </a:solidFill>
                <a:latin typeface="Calibri" pitchFamily="34" charset="0"/>
                <a:ea typeface="Calibri" pitchFamily="34" charset="-122"/>
                <a:cs typeface="Calibri" pitchFamily="34" charset="-120"/>
              </a:rPr>
              <a:t>The desert is not less than the rainforest. Each one supports a different kind of life.</a:t>
            </a:r>
            <a:endParaRPr lang="en-US" sz="1800" dirty="0"/>
          </a:p>
        </p:txBody>
      </p:sp>
      <p:sp>
        <p:nvSpPr>
          <p:cNvPr id="9" name="Shape 6"/>
          <p:cNvSpPr/>
          <p:nvPr/>
        </p:nvSpPr>
        <p:spPr>
          <a:xfrm>
            <a:off x="7559040" y="3169920"/>
            <a:ext cx="4023360" cy="3048000"/>
          </a:xfrm>
          <a:prstGeom prst="roundRect">
            <a:avLst>
              <a:gd name="adj" fmla="val 6000"/>
            </a:avLst>
          </a:prstGeom>
          <a:solidFill>
            <a:srgbClr val="1A2D5A"/>
          </a:solidFill>
          <a:ln/>
          <a:effectLst>
            <a:outerShdw sx="100000" sy="100000" kx="0" ky="0" algn="bl" rotWithShape="0" blurRad="101600" dist="38100" dir="8100000">
              <a:srgbClr val="000000">
                <a:alpha val="20000"/>
              </a:srgbClr>
            </a:outerShdw>
          </a:effectLst>
        </p:spPr>
      </p:sp>
      <p:sp>
        <p:nvSpPr>
          <p:cNvPr id="10" name="Text 7"/>
          <p:cNvSpPr/>
          <p:nvPr/>
        </p:nvSpPr>
        <p:spPr>
          <a:xfrm>
            <a:off x="7805928" y="3288792"/>
            <a:ext cx="3538728" cy="338328"/>
          </a:xfrm>
          <a:prstGeom prst="rect">
            <a:avLst/>
          </a:prstGeom>
          <a:noFill/>
          <a:ln/>
        </p:spPr>
        <p:txBody>
          <a:bodyPr wrap="square" lIns="0" tIns="0" rIns="0" bIns="0" rtlCol="0" anchor="ctr"/>
          <a:lstStyle/>
          <a:p>
            <a:pPr indent="0" marL="0">
              <a:buNone/>
            </a:pPr>
            <a:r>
              <a:rPr lang="en-US" sz="1200" b="1" spc="150" kern="0" dirty="0">
                <a:solidFill>
                  <a:srgbClr val="55C8E8"/>
                </a:solidFill>
                <a:latin typeface="Calibri" pitchFamily="34" charset="0"/>
                <a:ea typeface="Calibri" pitchFamily="34" charset="-122"/>
                <a:cs typeface="Calibri" pitchFamily="34" charset="-120"/>
              </a:rPr>
              <a:t>SOCRATIC QUESTIONS</a:t>
            </a:r>
            <a:endParaRPr lang="en-US" sz="1200" dirty="0"/>
          </a:p>
        </p:txBody>
      </p:sp>
      <p:sp>
        <p:nvSpPr>
          <p:cNvPr id="11" name="Text 8"/>
          <p:cNvSpPr/>
          <p:nvPr/>
        </p:nvSpPr>
        <p:spPr>
          <a:xfrm>
            <a:off x="7805928" y="3636264"/>
            <a:ext cx="3538728" cy="2462784"/>
          </a:xfrm>
          <a:prstGeom prst="rect">
            <a:avLst/>
          </a:prstGeom>
          <a:noFill/>
          <a:ln/>
        </p:spPr>
        <p:txBody>
          <a:bodyPr wrap="square" lIns="0" tIns="0" rIns="0" bIns="0" rtlCol="0" anchor="t"/>
          <a:lstStyle/>
          <a:p>
            <a:pPr marL="342900" indent="-342900">
              <a:spcAft>
                <a:spcPts val="500"/>
              </a:spcAft>
              <a:buSzPct val="100000"/>
              <a:buChar char="•"/>
            </a:pPr>
            <a:r>
              <a:rPr lang="en-US" sz="1400" i="1" dirty="0">
                <a:solidFill>
                  <a:srgbClr val="FFFFFF"/>
                </a:solidFill>
                <a:latin typeface="Calibri" pitchFamily="34" charset="0"/>
                <a:ea typeface="Calibri" pitchFamily="34" charset="-122"/>
                <a:cs typeface="Calibri" pitchFamily="34" charset="-120"/>
              </a:rPr>
              <a:t>Why might it be unfair to say the Arctic is 'empty'?</a:t>
            </a:r>
            <a:endParaRPr lang="en-US" sz="1400" dirty="0"/>
          </a:p>
          <a:p>
            <a:pPr marL="342900" indent="-342900">
              <a:spcAft>
                <a:spcPts val="500"/>
              </a:spcAft>
              <a:buSzPct val="100000"/>
              <a:buChar char="•"/>
            </a:pPr>
            <a:r>
              <a:rPr lang="en-US" sz="1400" i="1" dirty="0">
                <a:solidFill>
                  <a:srgbClr val="FFFFFF"/>
                </a:solidFill>
                <a:latin typeface="Calibri" pitchFamily="34" charset="0"/>
                <a:ea typeface="Calibri" pitchFamily="34" charset="-122"/>
                <a:cs typeface="Calibri" pitchFamily="34" charset="-120"/>
              </a:rPr>
              <a:t>What would courtesy look like when describing a place you've never visited?</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609600" y="365760"/>
            <a:ext cx="7315200" cy="320040"/>
          </a:xfrm>
          <a:prstGeom prst="rect">
            <a:avLst/>
          </a:prstGeom>
          <a:noFill/>
          <a:ln/>
        </p:spPr>
        <p:txBody>
          <a:bodyPr wrap="square" lIns="0" tIns="0" rIns="0" bIns="0" rtlCol="0" anchor="ctr"/>
          <a:lstStyle/>
          <a:p>
            <a:pPr indent="0" marL="0">
              <a:buNone/>
            </a:pPr>
            <a:r>
              <a:rPr lang="en-US" sz="1100" b="1" spc="200" kern="0" dirty="0">
                <a:solidFill>
                  <a:srgbClr val="55C8E8"/>
                </a:solidFill>
                <a:latin typeface="Calibri" pitchFamily="34" charset="0"/>
                <a:ea typeface="Calibri" pitchFamily="34" charset="-122"/>
                <a:cs typeface="Calibri" pitchFamily="34" charset="-120"/>
              </a:rPr>
              <a:t>EXPLORE — DISCOVERY</a:t>
            </a:r>
            <a:endParaRPr lang="en-US" sz="1100" dirty="0"/>
          </a:p>
        </p:txBody>
      </p:sp>
      <p:sp>
        <p:nvSpPr>
          <p:cNvPr id="4" name="Text 2"/>
          <p:cNvSpPr/>
          <p:nvPr/>
        </p:nvSpPr>
        <p:spPr>
          <a:xfrm>
            <a:off x="612648" y="731520"/>
            <a:ext cx="9144000" cy="731520"/>
          </a:xfrm>
          <a:prstGeom prst="rect">
            <a:avLst/>
          </a:prstGeom>
          <a:noFill/>
          <a:ln/>
        </p:spPr>
        <p:txBody>
          <a:bodyPr wrap="square" lIns="0" tIns="0" rIns="0" bIns="0" rtlCol="0" anchor="ctr"/>
          <a:lstStyle/>
          <a:p>
            <a:pPr indent="0" marL="0">
              <a:buNone/>
            </a:pPr>
            <a:r>
              <a:rPr lang="en-US" sz="4000" b="1" dirty="0">
                <a:solidFill>
                  <a:srgbClr val="0E1C42"/>
                </a:solidFill>
                <a:latin typeface="Cambria" pitchFamily="34" charset="0"/>
                <a:ea typeface="Cambria" pitchFamily="34" charset="-122"/>
                <a:cs typeface="Cambria" pitchFamily="34" charset="-120"/>
              </a:rPr>
              <a:t>What Is Climate?</a:t>
            </a:r>
            <a:endParaRPr lang="en-US" sz="4000" dirty="0"/>
          </a:p>
        </p:txBody>
      </p:sp>
      <p:sp>
        <p:nvSpPr>
          <p:cNvPr id="5" name="Shape 3"/>
          <p:cNvSpPr/>
          <p:nvPr/>
        </p:nvSpPr>
        <p:spPr>
          <a:xfrm>
            <a:off x="609600" y="1828800"/>
            <a:ext cx="6705600" cy="2682240"/>
          </a:xfrm>
          <a:prstGeom prst="roundRect">
            <a:avLst>
              <a:gd name="adj" fmla="val 5455"/>
            </a:avLst>
          </a:prstGeom>
          <a:solidFill>
            <a:srgbClr val="EAF8FD"/>
          </a:solidFill>
          <a:ln/>
          <a:effectLst>
            <a:outerShdw sx="100000" sy="100000" kx="0" ky="0" algn="bl" rotWithShape="0" blurRad="76200" dist="25400" dir="8100000">
              <a:srgbClr val="000000">
                <a:alpha val="12000"/>
              </a:srgbClr>
            </a:outerShdw>
          </a:effectLst>
        </p:spPr>
      </p:sp>
      <p:sp>
        <p:nvSpPr>
          <p:cNvPr id="6" name="Text 4"/>
          <p:cNvSpPr/>
          <p:nvPr/>
        </p:nvSpPr>
        <p:spPr>
          <a:xfrm>
            <a:off x="850392" y="1947672"/>
            <a:ext cx="4572000" cy="411480"/>
          </a:xfrm>
          <a:prstGeom prst="rect">
            <a:avLst/>
          </a:prstGeom>
          <a:noFill/>
          <a:ln/>
        </p:spPr>
        <p:txBody>
          <a:bodyPr wrap="square" lIns="0" tIns="0" rIns="0" bIns="0" rtlCol="0" anchor="ctr"/>
          <a:lstStyle/>
          <a:p>
            <a:pPr indent="0" marL="0">
              <a:buNone/>
            </a:pPr>
            <a:r>
              <a:rPr lang="en-US" sz="1800" b="1" dirty="0">
                <a:solidFill>
                  <a:srgbClr val="1A8A7D"/>
                </a:solidFill>
                <a:latin typeface="Calibri" pitchFamily="34" charset="0"/>
                <a:ea typeface="Calibri" pitchFamily="34" charset="-122"/>
                <a:cs typeface="Calibri" pitchFamily="34" charset="-120"/>
              </a:rPr>
              <a:t>Climate vs. Weather</a:t>
            </a:r>
            <a:endParaRPr lang="en-US" sz="1800" dirty="0"/>
          </a:p>
        </p:txBody>
      </p:sp>
      <p:sp>
        <p:nvSpPr>
          <p:cNvPr id="7" name="Text 5"/>
          <p:cNvSpPr/>
          <p:nvPr/>
        </p:nvSpPr>
        <p:spPr>
          <a:xfrm>
            <a:off x="850392" y="2313432"/>
            <a:ext cx="5852160" cy="1709928"/>
          </a:xfrm>
          <a:prstGeom prst="rect">
            <a:avLst/>
          </a:prstGeom>
          <a:noFill/>
          <a:ln/>
        </p:spPr>
        <p:txBody>
          <a:bodyPr wrap="square" lIns="0" tIns="0" rIns="0" bIns="0" rtlCol="0" anchor="t"/>
          <a:lstStyle/>
          <a:p>
            <a:pPr indent="0" marL="0">
              <a:buNone/>
            </a:pPr>
            <a:r>
              <a:rPr lang="en-US" sz="1800" b="1" dirty="0">
                <a:solidFill>
                  <a:srgbClr val="0E1C42"/>
                </a:solidFill>
                <a:latin typeface="Calibri" pitchFamily="34" charset="0"/>
                <a:ea typeface="Calibri" pitchFamily="34" charset="-122"/>
                <a:cs typeface="Calibri" pitchFamily="34" charset="-120"/>
              </a:rPr>
              <a:t>Climate</a:t>
            </a:r>
            <a:pPr indent="0" marL="0">
              <a:buNone/>
            </a:pPr>
            <a:r>
              <a:rPr lang="en-US" sz="1800" dirty="0">
                <a:solidFill>
                  <a:srgbClr val="0E1C42"/>
                </a:solidFill>
                <a:latin typeface="Calibri" pitchFamily="34" charset="0"/>
                <a:ea typeface="Calibri" pitchFamily="34" charset="-122"/>
                <a:cs typeface="Calibri" pitchFamily="34" charset="-120"/>
              </a:rPr>
              <a:t> is the usual weather of a place over many, many years.
</a:t>
            </a:r>
            <a:pPr indent="0" marL="0">
              <a:buNone/>
            </a:pPr>
            <a:r>
              <a:rPr lang="en-US" sz="1800" dirty="0">
                <a:solidFill>
                  <a:srgbClr val="0E1C42"/>
                </a:solidFill>
                <a:latin typeface="Calibri" pitchFamily="34" charset="0"/>
                <a:ea typeface="Calibri" pitchFamily="34" charset="-122"/>
                <a:cs typeface="Calibri" pitchFamily="34" charset="-120"/>
              </a:rPr>
              <a:t>Not "What's the weather today?" but</a:t>
            </a:r>
            <a:endParaRPr lang="en-US" sz="1800" dirty="0"/>
          </a:p>
          <a:p>
            <a:pPr indent="0" marL="0">
              <a:buNone/>
            </a:pPr>
            <a:r>
              <a:rPr lang="en-US" sz="1800" dirty="0">
                <a:solidFill>
                  <a:srgbClr val="0E1C42"/>
                </a:solidFill>
                <a:latin typeface="Calibri" pitchFamily="34" charset="0"/>
                <a:ea typeface="Calibri" pitchFamily="34" charset="-122"/>
                <a:cs typeface="Calibri" pitchFamily="34" charset="-120"/>
              </a:rPr>
              <a:t>"What is the weather </a:t>
            </a:r>
            <a:endParaRPr lang="en-US" sz="1800" dirty="0"/>
          </a:p>
          <a:p>
            <a:pPr indent="0" marL="0">
              <a:buNone/>
            </a:pPr>
            <a:r>
              <a:rPr lang="en-US" sz="1800" b="1" i="1" dirty="0">
                <a:solidFill>
                  <a:srgbClr val="1A8A7D"/>
                </a:solidFill>
                <a:latin typeface="Calibri" pitchFamily="34" charset="0"/>
                <a:ea typeface="Calibri" pitchFamily="34" charset="-122"/>
                <a:cs typeface="Calibri" pitchFamily="34" charset="-120"/>
              </a:rPr>
              <a:t>usually</a:t>
            </a:r>
            <a:pPr indent="0" marL="0">
              <a:buNone/>
            </a:pPr>
            <a:r>
              <a:rPr lang="en-US" sz="1800" dirty="0">
                <a:solidFill>
                  <a:srgbClr val="0E1C42"/>
                </a:solidFill>
                <a:latin typeface="Calibri" pitchFamily="34" charset="0"/>
                <a:ea typeface="Calibri" pitchFamily="34" charset="-122"/>
                <a:cs typeface="Calibri" pitchFamily="34" charset="-120"/>
              </a:rPr>
              <a:t> like here?"</a:t>
            </a:r>
            <a:endParaRPr lang="en-US" sz="1800" dirty="0"/>
          </a:p>
        </p:txBody>
      </p:sp>
      <p:sp>
        <p:nvSpPr>
          <p:cNvPr id="8" name="Shape 6"/>
          <p:cNvSpPr/>
          <p:nvPr/>
        </p:nvSpPr>
        <p:spPr>
          <a:xfrm>
            <a:off x="609600" y="4754880"/>
            <a:ext cx="6705600" cy="1828800"/>
          </a:xfrm>
          <a:prstGeom prst="roundRect">
            <a:avLst>
              <a:gd name="adj" fmla="val 8000"/>
            </a:avLst>
          </a:prstGeom>
          <a:solidFill>
            <a:srgbClr val="FFF8F0"/>
          </a:solidFill>
          <a:ln/>
          <a:effectLst>
            <a:outerShdw sx="100000" sy="100000" kx="0" ky="0" algn="bl" rotWithShape="0" blurRad="76200" dist="25400" dir="8100000">
              <a:srgbClr val="000000">
                <a:alpha val="12000"/>
              </a:srgbClr>
            </a:outerShdw>
          </a:effectLst>
        </p:spPr>
      </p:sp>
      <p:sp>
        <p:nvSpPr>
          <p:cNvPr id="9" name="Text 7"/>
          <p:cNvSpPr/>
          <p:nvPr/>
        </p:nvSpPr>
        <p:spPr>
          <a:xfrm>
            <a:off x="850392" y="4873752"/>
            <a:ext cx="4572000" cy="411480"/>
          </a:xfrm>
          <a:prstGeom prst="rect">
            <a:avLst/>
          </a:prstGeom>
          <a:noFill/>
          <a:ln/>
        </p:spPr>
        <p:txBody>
          <a:bodyPr wrap="square" lIns="0" tIns="0" rIns="0" bIns="0" rtlCol="0" anchor="ctr"/>
          <a:lstStyle/>
          <a:p>
            <a:pPr indent="0" marL="0">
              <a:buNone/>
            </a:pPr>
            <a:r>
              <a:rPr lang="en-US" sz="1800" b="1" dirty="0">
                <a:solidFill>
                  <a:srgbClr val="D4943A"/>
                </a:solidFill>
                <a:latin typeface="Calibri" pitchFamily="34" charset="0"/>
                <a:ea typeface="Calibri" pitchFamily="34" charset="-122"/>
                <a:cs typeface="Calibri" pitchFamily="34" charset="-120"/>
              </a:rPr>
              <a:t>Why Five Zones in One Region?</a:t>
            </a:r>
            <a:endParaRPr lang="en-US" sz="1800" dirty="0"/>
          </a:p>
        </p:txBody>
      </p:sp>
      <p:sp>
        <p:nvSpPr>
          <p:cNvPr id="10" name="Text 8"/>
          <p:cNvSpPr/>
          <p:nvPr/>
        </p:nvSpPr>
        <p:spPr>
          <a:xfrm>
            <a:off x="850392" y="5303520"/>
            <a:ext cx="5852160" cy="1097280"/>
          </a:xfrm>
          <a:prstGeom prst="rect">
            <a:avLst/>
          </a:prstGeom>
          <a:noFill/>
          <a:ln/>
        </p:spPr>
        <p:txBody>
          <a:bodyPr wrap="square" lIns="0" tIns="0" rIns="0" bIns="0" rtlCol="0" anchor="t"/>
          <a:lstStyle/>
          <a:p>
            <a:pPr indent="0" marL="0">
              <a:buNone/>
            </a:pPr>
            <a:r>
              <a:rPr lang="en-US" sz="1700" dirty="0">
                <a:solidFill>
                  <a:srgbClr val="0E1C42"/>
                </a:solidFill>
                <a:latin typeface="Calibri" pitchFamily="34" charset="0"/>
                <a:ea typeface="Calibri" pitchFamily="34" charset="-122"/>
                <a:cs typeface="Calibri" pitchFamily="34" charset="-120"/>
              </a:rPr>
              <a:t>North America and the Caribbean stretches a very long way from north to south. That's why it holds five different climate zones, and each one grows different plants.</a:t>
            </a:r>
            <a:endParaRPr lang="en-US" sz="1700" dirty="0"/>
          </a:p>
        </p:txBody>
      </p:sp>
      <p:sp>
        <p:nvSpPr>
          <p:cNvPr id="11" name="Shape 9"/>
          <p:cNvSpPr/>
          <p:nvPr/>
        </p:nvSpPr>
        <p:spPr>
          <a:xfrm>
            <a:off x="7680960" y="1828800"/>
            <a:ext cx="4023360" cy="2682240"/>
          </a:xfrm>
          <a:prstGeom prst="roundRect">
            <a:avLst>
              <a:gd name="adj" fmla="val 5455"/>
            </a:avLst>
          </a:prstGeom>
          <a:solidFill>
            <a:srgbClr val="E2E8F4"/>
          </a:solidFill>
          <a:ln w="19050">
            <a:solidFill>
              <a:srgbClr val="B0B8CC"/>
            </a:solidFill>
            <a:prstDash val="dash"/>
          </a:ln>
        </p:spPr>
      </p:sp>
      <p:sp>
        <p:nvSpPr>
          <p:cNvPr id="12" name="Text 10"/>
          <p:cNvSpPr/>
          <p:nvPr/>
        </p:nvSpPr>
        <p:spPr>
          <a:xfrm>
            <a:off x="7680960" y="1828800"/>
            <a:ext cx="4023360" cy="365760"/>
          </a:xfrm>
          <a:prstGeom prst="rect">
            <a:avLst/>
          </a:prstGeom>
          <a:noFill/>
          <a:ln/>
        </p:spPr>
        <p:txBody>
          <a:bodyPr wrap="square" lIns="0" tIns="0" rIns="0" bIns="0" rtlCol="0" anchor="ctr"/>
          <a:lstStyle/>
          <a:p>
            <a:pPr algn="ctr" indent="0" marL="0">
              <a:buNone/>
            </a:pPr>
            <a:r>
              <a:rPr lang="en-US" sz="1200" b="1" spc="150" kern="0" dirty="0">
                <a:solidFill>
                  <a:srgbClr val="7A88A8"/>
                </a:solidFill>
                <a:latin typeface="Calibri" pitchFamily="34" charset="0"/>
                <a:ea typeface="Calibri" pitchFamily="34" charset="-122"/>
                <a:cs typeface="Calibri" pitchFamily="34" charset="-120"/>
              </a:rPr>
              <a:t>INSERT IMAGE</a:t>
            </a:r>
            <a:endParaRPr lang="en-US" sz="1200" dirty="0"/>
          </a:p>
        </p:txBody>
      </p:sp>
      <p:sp>
        <p:nvSpPr>
          <p:cNvPr id="13" name="Text 11"/>
          <p:cNvSpPr/>
          <p:nvPr/>
        </p:nvSpPr>
        <p:spPr>
          <a:xfrm>
            <a:off x="7863840" y="2194560"/>
            <a:ext cx="3657600" cy="2197608"/>
          </a:xfrm>
          <a:prstGeom prst="rect">
            <a:avLst/>
          </a:prstGeom>
          <a:noFill/>
          <a:ln/>
        </p:spPr>
        <p:txBody>
          <a:bodyPr wrap="square" rtlCol="0" anchor="ctr"/>
          <a:lstStyle/>
          <a:p>
            <a:pPr algn="ctr" indent="0" marL="0">
              <a:buNone/>
            </a:pPr>
            <a:r>
              <a:rPr lang="en-US" sz="1400" i="1" dirty="0">
                <a:solidFill>
                  <a:srgbClr val="7A88A8"/>
                </a:solidFill>
                <a:latin typeface="Calibri" pitchFamily="34" charset="0"/>
                <a:ea typeface="Calibri" pitchFamily="34" charset="-122"/>
                <a:cs typeface="Calibri" pitchFamily="34" charset="-120"/>
              </a:rPr>
              <a:t>Simple diagram: thermometer icon + calendar icon = 'Climate' label, vs. umbrella + sun icon = 'Weather today' — visual contrast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609600" y="365760"/>
            <a:ext cx="9753600" cy="320040"/>
          </a:xfrm>
          <a:prstGeom prst="rect">
            <a:avLst/>
          </a:prstGeom>
          <a:noFill/>
          <a:ln/>
        </p:spPr>
        <p:txBody>
          <a:bodyPr wrap="square" lIns="0" tIns="0" rIns="0" bIns="0" rtlCol="0" anchor="ctr"/>
          <a:lstStyle/>
          <a:p>
            <a:pPr indent="0" marL="0">
              <a:buNone/>
            </a:pPr>
            <a:r>
              <a:rPr lang="en-US" sz="1100" b="1" spc="200" kern="0" dirty="0">
                <a:solidFill>
                  <a:srgbClr val="55C8E8"/>
                </a:solidFill>
                <a:latin typeface="Calibri" pitchFamily="34" charset="0"/>
                <a:ea typeface="Calibri" pitchFamily="34" charset="-122"/>
                <a:cs typeface="Calibri" pitchFamily="34" charset="-120"/>
              </a:rPr>
              <a:t>EXPLORE — FIVE CLIMATE ZONES</a:t>
            </a:r>
            <a:endParaRPr lang="en-US" sz="1100" dirty="0"/>
          </a:p>
        </p:txBody>
      </p:sp>
      <p:sp>
        <p:nvSpPr>
          <p:cNvPr id="4" name="Text 2"/>
          <p:cNvSpPr/>
          <p:nvPr/>
        </p:nvSpPr>
        <p:spPr>
          <a:xfrm>
            <a:off x="612648" y="731520"/>
            <a:ext cx="9144000" cy="731520"/>
          </a:xfrm>
          <a:prstGeom prst="rect">
            <a:avLst/>
          </a:prstGeom>
          <a:noFill/>
          <a:ln/>
        </p:spPr>
        <p:txBody>
          <a:bodyPr wrap="square" lIns="0" tIns="0" rIns="0" bIns="0" rtlCol="0" anchor="ctr"/>
          <a:lstStyle/>
          <a:p>
            <a:pPr indent="0" marL="0">
              <a:buNone/>
            </a:pPr>
            <a:r>
              <a:rPr lang="en-US" sz="4000" b="1" dirty="0">
                <a:solidFill>
                  <a:srgbClr val="0E1C42"/>
                </a:solidFill>
                <a:latin typeface="Cambria" pitchFamily="34" charset="0"/>
                <a:ea typeface="Cambria" pitchFamily="34" charset="-122"/>
                <a:cs typeface="Cambria" pitchFamily="34" charset="-120"/>
              </a:rPr>
              <a:t>The Cold North</a:t>
            </a:r>
            <a:endParaRPr lang="en-US" sz="4000" dirty="0"/>
          </a:p>
        </p:txBody>
      </p:sp>
      <p:sp>
        <p:nvSpPr>
          <p:cNvPr id="5" name="Shape 3"/>
          <p:cNvSpPr/>
          <p:nvPr/>
        </p:nvSpPr>
        <p:spPr>
          <a:xfrm>
            <a:off x="609600" y="1828800"/>
            <a:ext cx="7071360" cy="3048000"/>
          </a:xfrm>
          <a:prstGeom prst="roundRect">
            <a:avLst>
              <a:gd name="adj" fmla="val 4800"/>
            </a:avLst>
          </a:prstGeom>
          <a:solidFill>
            <a:srgbClr val="EAF8FD"/>
          </a:solidFill>
          <a:ln/>
          <a:effectLst>
            <a:outerShdw sx="100000" sy="100000" kx="0" ky="0" algn="bl" rotWithShape="0" blurRad="76200" dist="25400" dir="8100000">
              <a:srgbClr val="000000">
                <a:alpha val="12000"/>
              </a:srgbClr>
            </a:outerShdw>
          </a:effectLst>
        </p:spPr>
      </p:sp>
      <p:sp>
        <p:nvSpPr>
          <p:cNvPr id="6" name="Text 4"/>
          <p:cNvSpPr/>
          <p:nvPr/>
        </p:nvSpPr>
        <p:spPr>
          <a:xfrm>
            <a:off x="850392" y="1947672"/>
            <a:ext cx="3657600" cy="411480"/>
          </a:xfrm>
          <a:prstGeom prst="rect">
            <a:avLst/>
          </a:prstGeom>
          <a:noFill/>
          <a:ln/>
        </p:spPr>
        <p:txBody>
          <a:bodyPr wrap="square" lIns="0" tIns="0" rIns="0" bIns="0" rtlCol="0" anchor="ctr"/>
          <a:lstStyle/>
          <a:p>
            <a:pPr indent="0" marL="0">
              <a:buNone/>
            </a:pPr>
            <a:r>
              <a:rPr lang="en-US" sz="2200" b="1" dirty="0">
                <a:solidFill>
                  <a:srgbClr val="1A8A7D"/>
                </a:solidFill>
                <a:latin typeface="Cambria" pitchFamily="34" charset="0"/>
                <a:ea typeface="Cambria" pitchFamily="34" charset="-122"/>
                <a:cs typeface="Cambria" pitchFamily="34" charset="-120"/>
              </a:rPr>
              <a:t>Arctic Tundra</a:t>
            </a:r>
            <a:endParaRPr lang="en-US" sz="2200" dirty="0"/>
          </a:p>
        </p:txBody>
      </p:sp>
      <p:sp>
        <p:nvSpPr>
          <p:cNvPr id="7" name="Text 5"/>
          <p:cNvSpPr/>
          <p:nvPr/>
        </p:nvSpPr>
        <p:spPr>
          <a:xfrm>
            <a:off x="850392" y="2441448"/>
            <a:ext cx="4389120" cy="1463040"/>
          </a:xfrm>
          <a:prstGeom prst="rect">
            <a:avLst/>
          </a:prstGeom>
          <a:noFill/>
          <a:ln/>
        </p:spPr>
        <p:txBody>
          <a:bodyPr wrap="square" lIns="0" tIns="0" rIns="0" bIns="0" rtlCol="0" anchor="t"/>
          <a:lstStyle/>
          <a:p>
            <a:pPr indent="0" marL="0">
              <a:buNone/>
            </a:pPr>
            <a:r>
              <a:rPr lang="en-US" sz="1600" dirty="0">
                <a:solidFill>
                  <a:srgbClr val="0E1C42"/>
                </a:solidFill>
                <a:latin typeface="Calibri" pitchFamily="34" charset="0"/>
                <a:ea typeface="Calibri" pitchFamily="34" charset="-122"/>
                <a:cs typeface="Calibri" pitchFamily="34" charset="-120"/>
              </a:rPr>
              <a:t>Far northern Canada. Freezing cold most of the year. The ground stays frozen so deep that trees can't grow — only small grasses, moss, and tough little shrubs.</a:t>
            </a:r>
            <a:endParaRPr lang="en-US" sz="1600" dirty="0"/>
          </a:p>
        </p:txBody>
      </p:sp>
      <p:sp>
        <p:nvSpPr>
          <p:cNvPr id="8" name="Text 6"/>
          <p:cNvSpPr/>
          <p:nvPr/>
        </p:nvSpPr>
        <p:spPr>
          <a:xfrm>
            <a:off x="850392" y="4023360"/>
            <a:ext cx="3657600" cy="365760"/>
          </a:xfrm>
          <a:prstGeom prst="rect">
            <a:avLst/>
          </a:prstGeom>
          <a:noFill/>
          <a:ln/>
        </p:spPr>
        <p:txBody>
          <a:bodyPr wrap="square" lIns="0" tIns="0" rIns="0" bIns="0" rtlCol="0" anchor="ctr"/>
          <a:lstStyle/>
          <a:p>
            <a:pPr indent="0" marL="0">
              <a:buNone/>
            </a:pPr>
            <a:r>
              <a:rPr lang="en-US" sz="1400" b="1" dirty="0">
                <a:solidFill>
                  <a:srgbClr val="55C8E8"/>
                </a:solidFill>
                <a:latin typeface="Calibri" pitchFamily="34" charset="0"/>
                <a:ea typeface="Calibri" pitchFamily="34" charset="-122"/>
                <a:cs typeface="Calibri" pitchFamily="34" charset="-120"/>
              </a:rPr>
              <a:t>Key Plant: Arctic Moss</a:t>
            </a:r>
            <a:endParaRPr lang="en-US" sz="1400" dirty="0"/>
          </a:p>
        </p:txBody>
      </p:sp>
      <p:sp>
        <p:nvSpPr>
          <p:cNvPr id="9" name="Shape 7"/>
          <p:cNvSpPr/>
          <p:nvPr/>
        </p:nvSpPr>
        <p:spPr>
          <a:xfrm>
            <a:off x="609600" y="5242560"/>
            <a:ext cx="7071360" cy="3048000"/>
          </a:xfrm>
          <a:prstGeom prst="roundRect">
            <a:avLst>
              <a:gd name="adj" fmla="val 4800"/>
            </a:avLst>
          </a:prstGeom>
          <a:solidFill>
            <a:srgbClr val="E3F8ED"/>
          </a:solidFill>
          <a:ln/>
          <a:effectLst>
            <a:outerShdw sx="100000" sy="100000" kx="0" ky="0" algn="bl" rotWithShape="0" blurRad="76200" dist="25400" dir="8100000">
              <a:srgbClr val="000000">
                <a:alpha val="12000"/>
              </a:srgbClr>
            </a:outerShdw>
          </a:effectLst>
        </p:spPr>
      </p:sp>
      <p:sp>
        <p:nvSpPr>
          <p:cNvPr id="10" name="Text 8"/>
          <p:cNvSpPr/>
          <p:nvPr/>
        </p:nvSpPr>
        <p:spPr>
          <a:xfrm>
            <a:off x="850392" y="5367528"/>
            <a:ext cx="3657600" cy="411480"/>
          </a:xfrm>
          <a:prstGeom prst="rect">
            <a:avLst/>
          </a:prstGeom>
          <a:noFill/>
          <a:ln/>
        </p:spPr>
        <p:txBody>
          <a:bodyPr wrap="square" lIns="0" tIns="0" rIns="0" bIns="0" rtlCol="0" anchor="ctr"/>
          <a:lstStyle/>
          <a:p>
            <a:pPr indent="0" marL="0">
              <a:buNone/>
            </a:pPr>
            <a:r>
              <a:rPr lang="en-US" sz="2200" b="1" dirty="0">
                <a:solidFill>
                  <a:srgbClr val="34B76F"/>
                </a:solidFill>
                <a:latin typeface="Cambria" pitchFamily="34" charset="0"/>
                <a:ea typeface="Cambria" pitchFamily="34" charset="-122"/>
                <a:cs typeface="Cambria" pitchFamily="34" charset="-120"/>
              </a:rPr>
              <a:t>Boreal Forest</a:t>
            </a:r>
            <a:endParaRPr lang="en-US" sz="2200" dirty="0"/>
          </a:p>
        </p:txBody>
      </p:sp>
      <p:sp>
        <p:nvSpPr>
          <p:cNvPr id="11" name="Text 9"/>
          <p:cNvSpPr/>
          <p:nvPr/>
        </p:nvSpPr>
        <p:spPr>
          <a:xfrm>
            <a:off x="850392" y="5852160"/>
            <a:ext cx="4389120" cy="1463040"/>
          </a:xfrm>
          <a:prstGeom prst="rect">
            <a:avLst/>
          </a:prstGeom>
          <a:noFill/>
          <a:ln/>
        </p:spPr>
        <p:txBody>
          <a:bodyPr wrap="square" lIns="0" tIns="0" rIns="0" bIns="0" rtlCol="0" anchor="t"/>
          <a:lstStyle/>
          <a:p>
            <a:pPr indent="0" marL="0">
              <a:buNone/>
            </a:pPr>
            <a:r>
              <a:rPr lang="en-US" sz="1600" dirty="0">
                <a:solidFill>
                  <a:srgbClr val="0E1C42"/>
                </a:solidFill>
                <a:latin typeface="Calibri" pitchFamily="34" charset="0"/>
                <a:ea typeface="Calibri" pitchFamily="34" charset="-122"/>
                <a:cs typeface="Calibri" pitchFamily="34" charset="-120"/>
              </a:rPr>
              <a:t>Most of Canada and northern United States. Long, snowy winters. Tall evergreen trees like pine and spruce grow here — they survive cold winters by keeping their needles all year.</a:t>
            </a:r>
            <a:endParaRPr lang="en-US" sz="1600" dirty="0"/>
          </a:p>
        </p:txBody>
      </p:sp>
      <p:sp>
        <p:nvSpPr>
          <p:cNvPr id="12" name="Text 10"/>
          <p:cNvSpPr/>
          <p:nvPr/>
        </p:nvSpPr>
        <p:spPr>
          <a:xfrm>
            <a:off x="850392" y="7434072"/>
            <a:ext cx="3657600" cy="36576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Key Plant: Spruce Tree</a:t>
            </a:r>
            <a:endParaRPr lang="en-US" sz="1400" dirty="0"/>
          </a:p>
        </p:txBody>
      </p:sp>
      <p:sp>
        <p:nvSpPr>
          <p:cNvPr id="13" name="Shape 11"/>
          <p:cNvSpPr/>
          <p:nvPr/>
        </p:nvSpPr>
        <p:spPr>
          <a:xfrm>
            <a:off x="8046720" y="1828800"/>
            <a:ext cx="3901440" cy="6096000"/>
          </a:xfrm>
          <a:prstGeom prst="roundRect">
            <a:avLst>
              <a:gd name="adj" fmla="val 3750"/>
            </a:avLst>
          </a:prstGeom>
          <a:solidFill>
            <a:srgbClr val="E2E8F4"/>
          </a:solidFill>
          <a:ln w="19050">
            <a:solidFill>
              <a:srgbClr val="B0B8CC"/>
            </a:solidFill>
            <a:prstDash val="dash"/>
          </a:ln>
        </p:spPr>
      </p:sp>
      <p:sp>
        <p:nvSpPr>
          <p:cNvPr id="14" name="Text 12"/>
          <p:cNvSpPr/>
          <p:nvPr/>
        </p:nvSpPr>
        <p:spPr>
          <a:xfrm>
            <a:off x="8046720" y="1828800"/>
            <a:ext cx="3901440" cy="365760"/>
          </a:xfrm>
          <a:prstGeom prst="rect">
            <a:avLst/>
          </a:prstGeom>
          <a:noFill/>
          <a:ln/>
        </p:spPr>
        <p:txBody>
          <a:bodyPr wrap="square" lIns="0" tIns="0" rIns="0" bIns="0" rtlCol="0" anchor="ctr"/>
          <a:lstStyle/>
          <a:p>
            <a:pPr algn="ctr" indent="0" marL="0">
              <a:buNone/>
            </a:pPr>
            <a:r>
              <a:rPr lang="en-US" sz="1200" b="1" spc="150" kern="0" dirty="0">
                <a:solidFill>
                  <a:srgbClr val="7A88A8"/>
                </a:solidFill>
                <a:latin typeface="Calibri" pitchFamily="34" charset="0"/>
                <a:ea typeface="Calibri" pitchFamily="34" charset="-122"/>
                <a:cs typeface="Calibri" pitchFamily="34" charset="-120"/>
              </a:rPr>
              <a:t>INSERT IMAGE</a:t>
            </a:r>
            <a:endParaRPr lang="en-US" sz="1200" dirty="0"/>
          </a:p>
        </p:txBody>
      </p:sp>
      <p:sp>
        <p:nvSpPr>
          <p:cNvPr id="15" name="Text 13"/>
          <p:cNvSpPr/>
          <p:nvPr/>
        </p:nvSpPr>
        <p:spPr>
          <a:xfrm>
            <a:off x="8229600" y="2194560"/>
            <a:ext cx="3535680" cy="5611368"/>
          </a:xfrm>
          <a:prstGeom prst="rect">
            <a:avLst/>
          </a:prstGeom>
          <a:noFill/>
          <a:ln/>
        </p:spPr>
        <p:txBody>
          <a:bodyPr wrap="square" rtlCol="0" anchor="ctr"/>
          <a:lstStyle/>
          <a:p>
            <a:pPr algn="ctr" indent="0" marL="0">
              <a:buNone/>
            </a:pPr>
            <a:r>
              <a:rPr lang="en-US" sz="1400" i="1" dirty="0">
                <a:solidFill>
                  <a:srgbClr val="7A88A8"/>
                </a:solidFill>
                <a:latin typeface="Calibri" pitchFamily="34" charset="0"/>
                <a:ea typeface="Calibri" pitchFamily="34" charset="-122"/>
                <a:cs typeface="Calibri" pitchFamily="34" charset="-120"/>
              </a:rPr>
              <a:t>Top: photo of Arctic tundra — flat, treeless landscape with moss and small shrubs, frozen ground visible</a:t>
            </a:r>
            <a:endParaRPr lang="en-US" sz="1400" dirty="0"/>
          </a:p>
          <a:p>
            <a:pPr algn="ctr" indent="0" marL="0">
              <a:buNone/>
            </a:pPr>
            <a:r>
              <a:rPr lang="en-US" sz="1400" i="1" dirty="0">
                <a:solidFill>
                  <a:srgbClr val="7A88A8"/>
                </a:solidFill>
                <a:latin typeface="Calibri" pitchFamily="34" charset="0"/>
                <a:ea typeface="Calibri" pitchFamily="34" charset="-122"/>
                <a:cs typeface="Calibri" pitchFamily="34" charset="-120"/>
              </a:rPr>
              <a:t>Bottom: photo of boreal forest — tall spruce/pine trees covered in snow</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609600" y="365760"/>
            <a:ext cx="9753600" cy="320040"/>
          </a:xfrm>
          <a:prstGeom prst="rect">
            <a:avLst/>
          </a:prstGeom>
          <a:noFill/>
          <a:ln/>
        </p:spPr>
        <p:txBody>
          <a:bodyPr wrap="square" lIns="0" tIns="0" rIns="0" bIns="0" rtlCol="0" anchor="ctr"/>
          <a:lstStyle/>
          <a:p>
            <a:pPr indent="0" marL="0">
              <a:buNone/>
            </a:pPr>
            <a:r>
              <a:rPr lang="en-US" sz="1100" b="1" spc="200" kern="0" dirty="0">
                <a:solidFill>
                  <a:srgbClr val="55C8E8"/>
                </a:solidFill>
                <a:latin typeface="Calibri" pitchFamily="34" charset="0"/>
                <a:ea typeface="Calibri" pitchFamily="34" charset="-122"/>
                <a:cs typeface="Calibri" pitchFamily="34" charset="-120"/>
              </a:rPr>
              <a:t>EXPLORE — FIVE CLIMATE ZONES</a:t>
            </a:r>
            <a:endParaRPr lang="en-US" sz="1100" dirty="0"/>
          </a:p>
        </p:txBody>
      </p:sp>
      <p:sp>
        <p:nvSpPr>
          <p:cNvPr id="4" name="Text 2"/>
          <p:cNvSpPr/>
          <p:nvPr/>
        </p:nvSpPr>
        <p:spPr>
          <a:xfrm>
            <a:off x="612648" y="731520"/>
            <a:ext cx="9144000" cy="731520"/>
          </a:xfrm>
          <a:prstGeom prst="rect">
            <a:avLst/>
          </a:prstGeom>
          <a:noFill/>
          <a:ln/>
        </p:spPr>
        <p:txBody>
          <a:bodyPr wrap="square" lIns="0" tIns="0" rIns="0" bIns="0" rtlCol="0" anchor="ctr"/>
          <a:lstStyle/>
          <a:p>
            <a:pPr indent="0" marL="0">
              <a:buNone/>
            </a:pPr>
            <a:r>
              <a:rPr lang="en-US" sz="4000" b="1" dirty="0">
                <a:solidFill>
                  <a:srgbClr val="0E1C42"/>
                </a:solidFill>
                <a:latin typeface="Cambria" pitchFamily="34" charset="0"/>
                <a:ea typeface="Cambria" pitchFamily="34" charset="-122"/>
                <a:cs typeface="Cambria" pitchFamily="34" charset="-120"/>
              </a:rPr>
              <a:t>The Middle: Four Seasons</a:t>
            </a:r>
            <a:endParaRPr lang="en-US" sz="4000" dirty="0"/>
          </a:p>
        </p:txBody>
      </p:sp>
      <p:sp>
        <p:nvSpPr>
          <p:cNvPr id="5" name="Shape 3"/>
          <p:cNvSpPr/>
          <p:nvPr/>
        </p:nvSpPr>
        <p:spPr>
          <a:xfrm>
            <a:off x="609600" y="1828800"/>
            <a:ext cx="7071360" cy="4876800"/>
          </a:xfrm>
          <a:prstGeom prst="roundRect">
            <a:avLst>
              <a:gd name="adj" fmla="val 3000"/>
            </a:avLst>
          </a:prstGeom>
          <a:solidFill>
            <a:srgbClr val="FFF8F0"/>
          </a:solidFill>
          <a:ln/>
          <a:effectLst>
            <a:outerShdw sx="100000" sy="100000" kx="0" ky="0" algn="bl" rotWithShape="0" blurRad="76200" dist="25400" dir="8100000">
              <a:srgbClr val="000000">
                <a:alpha val="12000"/>
              </a:srgbClr>
            </a:outerShdw>
          </a:effectLst>
        </p:spPr>
      </p:sp>
      <p:sp>
        <p:nvSpPr>
          <p:cNvPr id="6" name="Text 4"/>
          <p:cNvSpPr/>
          <p:nvPr/>
        </p:nvSpPr>
        <p:spPr>
          <a:xfrm>
            <a:off x="850392" y="1947672"/>
            <a:ext cx="4572000" cy="457200"/>
          </a:xfrm>
          <a:prstGeom prst="rect">
            <a:avLst/>
          </a:prstGeom>
          <a:noFill/>
          <a:ln/>
        </p:spPr>
        <p:txBody>
          <a:bodyPr wrap="square" lIns="0" tIns="0" rIns="0" bIns="0" rtlCol="0" anchor="ctr"/>
          <a:lstStyle/>
          <a:p>
            <a:pPr indent="0" marL="0">
              <a:buNone/>
            </a:pPr>
            <a:r>
              <a:rPr lang="en-US" sz="2200" b="1" dirty="0">
                <a:solidFill>
                  <a:srgbClr val="D4943A"/>
                </a:solidFill>
                <a:latin typeface="Cambria" pitchFamily="34" charset="0"/>
                <a:ea typeface="Cambria" pitchFamily="34" charset="-122"/>
                <a:cs typeface="Cambria" pitchFamily="34" charset="-120"/>
              </a:rPr>
              <a:t>Temperate Plains and Forests</a:t>
            </a:r>
            <a:endParaRPr lang="en-US" sz="2200" dirty="0"/>
          </a:p>
        </p:txBody>
      </p:sp>
      <p:sp>
        <p:nvSpPr>
          <p:cNvPr id="7" name="Text 5"/>
          <p:cNvSpPr/>
          <p:nvPr/>
        </p:nvSpPr>
        <p:spPr>
          <a:xfrm>
            <a:off x="850392" y="2496312"/>
            <a:ext cx="5852160" cy="2926080"/>
          </a:xfrm>
          <a:prstGeom prst="rect">
            <a:avLst/>
          </a:prstGeom>
          <a:noFill/>
          <a:ln/>
        </p:spPr>
        <p:txBody>
          <a:bodyPr wrap="square" lIns="0" tIns="0" rIns="0" bIns="0" rtlCol="0" anchor="t"/>
          <a:lstStyle/>
          <a:p>
            <a:pPr indent="0" marL="0">
              <a:buNone/>
            </a:pPr>
            <a:r>
              <a:rPr lang="en-US" sz="1700" dirty="0">
                <a:solidFill>
                  <a:srgbClr val="0E1C42"/>
                </a:solidFill>
                <a:latin typeface="Calibri" pitchFamily="34" charset="0"/>
                <a:ea typeface="Calibri" pitchFamily="34" charset="-122"/>
                <a:cs typeface="Calibri" pitchFamily="34" charset="-120"/>
              </a:rPr>
              <a:t>Covers most of the United States. Four seasons.
</a:t>
            </a:r>
            <a:pPr indent="0" marL="0">
              <a:buNone/>
            </a:pPr>
            <a:r>
              <a:rPr lang="en-US" sz="1700" b="1" dirty="0">
                <a:solidFill>
                  <a:srgbClr val="0E1C42"/>
                </a:solidFill>
                <a:latin typeface="Calibri" pitchFamily="34" charset="0"/>
                <a:ea typeface="Calibri" pitchFamily="34" charset="-122"/>
                <a:cs typeface="Calibri" pitchFamily="34" charset="-120"/>
              </a:rPr>
              <a:t>East: </a:t>
            </a:r>
            <a:pPr indent="0" marL="0">
              <a:buNone/>
            </a:pPr>
            <a:r>
              <a:rPr lang="en-US" sz="1700" dirty="0">
                <a:solidFill>
                  <a:srgbClr val="0E1C42"/>
                </a:solidFill>
                <a:latin typeface="Calibri" pitchFamily="34" charset="0"/>
                <a:ea typeface="Calibri" pitchFamily="34" charset="-122"/>
                <a:cs typeface="Calibri" pitchFamily="34" charset="-120"/>
              </a:rPr>
              <a:t>Deciduous trees — oaks and maples that drop their leaves in the fall.
</a:t>
            </a:r>
            <a:pPr indent="0" marL="0">
              <a:buNone/>
            </a:pPr>
            <a:r>
              <a:rPr lang="en-US" sz="1700" b="1" dirty="0">
                <a:solidFill>
                  <a:srgbClr val="0E1C42"/>
                </a:solidFill>
                <a:latin typeface="Calibri" pitchFamily="34" charset="0"/>
                <a:ea typeface="Calibri" pitchFamily="34" charset="-122"/>
                <a:cs typeface="Calibri" pitchFamily="34" charset="-120"/>
              </a:rPr>
              <a:t>Middle: </a:t>
            </a:r>
            <a:pPr indent="0" marL="0">
              <a:buNone/>
            </a:pPr>
            <a:r>
              <a:rPr lang="en-US" sz="1700" dirty="0">
                <a:solidFill>
                  <a:srgbClr val="0E1C42"/>
                </a:solidFill>
                <a:latin typeface="Calibri" pitchFamily="34" charset="0"/>
                <a:ea typeface="Calibri" pitchFamily="34" charset="-122"/>
                <a:cs typeface="Calibri" pitchFamily="34" charset="-120"/>
              </a:rPr>
              <a:t>The Great Plains — grasses and wheat fields stretch for miles.</a:t>
            </a:r>
            <a:endParaRPr lang="en-US" sz="1700" dirty="0"/>
          </a:p>
        </p:txBody>
      </p:sp>
      <p:sp>
        <p:nvSpPr>
          <p:cNvPr id="8" name="Text 6"/>
          <p:cNvSpPr/>
          <p:nvPr/>
        </p:nvSpPr>
        <p:spPr>
          <a:xfrm>
            <a:off x="850392" y="6099048"/>
            <a:ext cx="3657600" cy="365760"/>
          </a:xfrm>
          <a:prstGeom prst="rect">
            <a:avLst/>
          </a:prstGeom>
          <a:noFill/>
          <a:ln/>
        </p:spPr>
        <p:txBody>
          <a:bodyPr wrap="square" lIns="0" tIns="0" rIns="0" bIns="0" rtlCol="0" anchor="ctr"/>
          <a:lstStyle/>
          <a:p>
            <a:pPr indent="0" marL="0">
              <a:buNone/>
            </a:pPr>
            <a:r>
              <a:rPr lang="en-US" sz="1400" b="1" dirty="0">
                <a:solidFill>
                  <a:srgbClr val="D4943A"/>
                </a:solidFill>
                <a:latin typeface="Calibri" pitchFamily="34" charset="0"/>
                <a:ea typeface="Calibri" pitchFamily="34" charset="-122"/>
                <a:cs typeface="Calibri" pitchFamily="34" charset="-120"/>
              </a:rPr>
              <a:t>Key Plant: Maple Tree</a:t>
            </a:r>
            <a:endParaRPr lang="en-US" sz="1400" dirty="0"/>
          </a:p>
        </p:txBody>
      </p:sp>
      <p:sp>
        <p:nvSpPr>
          <p:cNvPr id="9" name="Shape 7"/>
          <p:cNvSpPr/>
          <p:nvPr/>
        </p:nvSpPr>
        <p:spPr>
          <a:xfrm>
            <a:off x="8046720" y="1828800"/>
            <a:ext cx="3901440" cy="4876800"/>
          </a:xfrm>
          <a:prstGeom prst="roundRect">
            <a:avLst>
              <a:gd name="adj" fmla="val 3750"/>
            </a:avLst>
          </a:prstGeom>
          <a:solidFill>
            <a:srgbClr val="E2E8F4"/>
          </a:solidFill>
          <a:ln w="19050">
            <a:solidFill>
              <a:srgbClr val="B0B8CC"/>
            </a:solidFill>
            <a:prstDash val="dash"/>
          </a:ln>
        </p:spPr>
      </p:sp>
      <p:sp>
        <p:nvSpPr>
          <p:cNvPr id="10" name="Text 8"/>
          <p:cNvSpPr/>
          <p:nvPr/>
        </p:nvSpPr>
        <p:spPr>
          <a:xfrm>
            <a:off x="8046720" y="1828800"/>
            <a:ext cx="3901440" cy="365760"/>
          </a:xfrm>
          <a:prstGeom prst="rect">
            <a:avLst/>
          </a:prstGeom>
          <a:noFill/>
          <a:ln/>
        </p:spPr>
        <p:txBody>
          <a:bodyPr wrap="square" lIns="0" tIns="0" rIns="0" bIns="0" rtlCol="0" anchor="ctr"/>
          <a:lstStyle/>
          <a:p>
            <a:pPr algn="ctr" indent="0" marL="0">
              <a:buNone/>
            </a:pPr>
            <a:r>
              <a:rPr lang="en-US" sz="1200" b="1" spc="150" kern="0" dirty="0">
                <a:solidFill>
                  <a:srgbClr val="7A88A8"/>
                </a:solidFill>
                <a:latin typeface="Calibri" pitchFamily="34" charset="0"/>
                <a:ea typeface="Calibri" pitchFamily="34" charset="-122"/>
                <a:cs typeface="Calibri" pitchFamily="34" charset="-120"/>
              </a:rPr>
              <a:t>INSERT IMAGE</a:t>
            </a:r>
            <a:endParaRPr lang="en-US" sz="1200" dirty="0"/>
          </a:p>
        </p:txBody>
      </p:sp>
      <p:sp>
        <p:nvSpPr>
          <p:cNvPr id="11" name="Text 9"/>
          <p:cNvSpPr/>
          <p:nvPr/>
        </p:nvSpPr>
        <p:spPr>
          <a:xfrm>
            <a:off x="8229600" y="2194560"/>
            <a:ext cx="3535680" cy="4392168"/>
          </a:xfrm>
          <a:prstGeom prst="rect">
            <a:avLst/>
          </a:prstGeom>
          <a:noFill/>
          <a:ln/>
        </p:spPr>
        <p:txBody>
          <a:bodyPr wrap="square" rtlCol="0" anchor="ctr"/>
          <a:lstStyle/>
          <a:p>
            <a:pPr algn="ctr" indent="0" marL="0">
              <a:buNone/>
            </a:pPr>
            <a:r>
              <a:rPr lang="en-US" sz="1400" i="1" dirty="0">
                <a:solidFill>
                  <a:srgbClr val="7A88A8"/>
                </a:solidFill>
                <a:latin typeface="Calibri" pitchFamily="34" charset="0"/>
                <a:ea typeface="Calibri" pitchFamily="34" charset="-122"/>
                <a:cs typeface="Calibri" pitchFamily="34" charset="-120"/>
              </a:rPr>
              <a:t>Split image: Left — autumn maple trees with red/orange leaves; Right — golden wheat fields stretching to the horizon on the Great Plains</a:t>
            </a:r>
            <a:endParaRPr lang="en-US" sz="1400" dirty="0"/>
          </a:p>
        </p:txBody>
      </p:sp>
      <p:sp>
        <p:nvSpPr>
          <p:cNvPr id="12" name="Shape 10"/>
          <p:cNvSpPr/>
          <p:nvPr/>
        </p:nvSpPr>
        <p:spPr>
          <a:xfrm>
            <a:off x="609600" y="5059680"/>
            <a:ext cx="7071360" cy="1584960"/>
          </a:xfrm>
          <a:prstGeom prst="roundRect">
            <a:avLst>
              <a:gd name="adj" fmla="val 11538"/>
            </a:avLst>
          </a:prstGeom>
          <a:solidFill>
            <a:srgbClr val="1A2D5A"/>
          </a:solidFill>
          <a:ln/>
          <a:effectLst>
            <a:outerShdw sx="100000" sy="100000" kx="0" ky="0" algn="bl" rotWithShape="0" blurRad="101600" dist="38100" dir="8100000">
              <a:srgbClr val="000000">
                <a:alpha val="20000"/>
              </a:srgbClr>
            </a:outerShdw>
          </a:effectLst>
        </p:spPr>
      </p:sp>
      <p:sp>
        <p:nvSpPr>
          <p:cNvPr id="13" name="Text 11"/>
          <p:cNvSpPr/>
          <p:nvPr/>
        </p:nvSpPr>
        <p:spPr>
          <a:xfrm>
            <a:off x="856488" y="5178552"/>
            <a:ext cx="6586728" cy="338328"/>
          </a:xfrm>
          <a:prstGeom prst="rect">
            <a:avLst/>
          </a:prstGeom>
          <a:noFill/>
          <a:ln/>
        </p:spPr>
        <p:txBody>
          <a:bodyPr wrap="square" lIns="0" tIns="0" rIns="0" bIns="0" rtlCol="0" anchor="ctr"/>
          <a:lstStyle/>
          <a:p>
            <a:pPr indent="0" marL="0">
              <a:buNone/>
            </a:pPr>
            <a:r>
              <a:rPr lang="en-US" sz="1200" b="1" spc="150" kern="0" dirty="0">
                <a:solidFill>
                  <a:srgbClr val="55C8E8"/>
                </a:solidFill>
                <a:latin typeface="Calibri" pitchFamily="34" charset="0"/>
                <a:ea typeface="Calibri" pitchFamily="34" charset="-122"/>
                <a:cs typeface="Calibri" pitchFamily="34" charset="-120"/>
              </a:rPr>
              <a:t>SOCRATIC QUESTIONS</a:t>
            </a:r>
            <a:endParaRPr lang="en-US" sz="1200" dirty="0"/>
          </a:p>
        </p:txBody>
      </p:sp>
      <p:sp>
        <p:nvSpPr>
          <p:cNvPr id="14" name="Text 12"/>
          <p:cNvSpPr/>
          <p:nvPr/>
        </p:nvSpPr>
        <p:spPr>
          <a:xfrm>
            <a:off x="856488" y="5526024"/>
            <a:ext cx="6586728" cy="999744"/>
          </a:xfrm>
          <a:prstGeom prst="rect">
            <a:avLst/>
          </a:prstGeom>
          <a:noFill/>
          <a:ln/>
        </p:spPr>
        <p:txBody>
          <a:bodyPr wrap="square" lIns="0" tIns="0" rIns="0" bIns="0" rtlCol="0" anchor="t"/>
          <a:lstStyle/>
          <a:p>
            <a:pPr marL="342900" indent="-342900">
              <a:spcAft>
                <a:spcPts val="500"/>
              </a:spcAft>
              <a:buSzPct val="100000"/>
              <a:buChar char="•"/>
            </a:pPr>
            <a:r>
              <a:rPr lang="en-US" sz="1400" i="1" dirty="0">
                <a:solidFill>
                  <a:srgbClr val="FFFFFF"/>
                </a:solidFill>
                <a:latin typeface="Calibri" pitchFamily="34" charset="0"/>
                <a:ea typeface="Calibri" pitchFamily="34" charset="-122"/>
                <a:cs typeface="Calibri" pitchFamily="34" charset="-120"/>
              </a:rPr>
              <a:t>What happens to maple leaves in the fall? Why?</a:t>
            </a:r>
            <a:endParaRPr lang="en-US" sz="1400" dirty="0"/>
          </a:p>
          <a:p>
            <a:pPr marL="342900" indent="-342900">
              <a:spcAft>
                <a:spcPts val="500"/>
              </a:spcAft>
              <a:buSzPct val="100000"/>
              <a:buChar char="•"/>
            </a:pPr>
            <a:r>
              <a:rPr lang="en-US" sz="1400" i="1" dirty="0">
                <a:solidFill>
                  <a:srgbClr val="FFFFFF"/>
                </a:solidFill>
                <a:latin typeface="Calibri" pitchFamily="34" charset="0"/>
                <a:ea typeface="Calibri" pitchFamily="34" charset="-122"/>
                <a:cs typeface="Calibri" pitchFamily="34" charset="-120"/>
              </a:rPr>
              <a:t>How is the eastern United States different from the middle?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609600" y="365760"/>
            <a:ext cx="9753600" cy="320040"/>
          </a:xfrm>
          <a:prstGeom prst="rect">
            <a:avLst/>
          </a:prstGeom>
          <a:noFill/>
          <a:ln/>
        </p:spPr>
        <p:txBody>
          <a:bodyPr wrap="square" lIns="0" tIns="0" rIns="0" bIns="0" rtlCol="0" anchor="ctr"/>
          <a:lstStyle/>
          <a:p>
            <a:pPr indent="0" marL="0">
              <a:buNone/>
            </a:pPr>
            <a:r>
              <a:rPr lang="en-US" sz="1100" b="1" spc="200" kern="0" dirty="0">
                <a:solidFill>
                  <a:srgbClr val="55C8E8"/>
                </a:solidFill>
                <a:latin typeface="Calibri" pitchFamily="34" charset="0"/>
                <a:ea typeface="Calibri" pitchFamily="34" charset="-122"/>
                <a:cs typeface="Calibri" pitchFamily="34" charset="-120"/>
              </a:rPr>
              <a:t>EXPLORE — FIVE CLIMATE ZONES</a:t>
            </a:r>
            <a:endParaRPr lang="en-US" sz="1100" dirty="0"/>
          </a:p>
        </p:txBody>
      </p:sp>
      <p:sp>
        <p:nvSpPr>
          <p:cNvPr id="4" name="Text 2"/>
          <p:cNvSpPr/>
          <p:nvPr/>
        </p:nvSpPr>
        <p:spPr>
          <a:xfrm>
            <a:off x="612648" y="731520"/>
            <a:ext cx="9144000" cy="731520"/>
          </a:xfrm>
          <a:prstGeom prst="rect">
            <a:avLst/>
          </a:prstGeom>
          <a:noFill/>
          <a:ln/>
        </p:spPr>
        <p:txBody>
          <a:bodyPr wrap="square" lIns="0" tIns="0" rIns="0" bIns="0" rtlCol="0" anchor="ctr"/>
          <a:lstStyle/>
          <a:p>
            <a:pPr indent="0" marL="0">
              <a:buNone/>
            </a:pPr>
            <a:r>
              <a:rPr lang="en-US" sz="4000" b="1" dirty="0">
                <a:solidFill>
                  <a:srgbClr val="0E1C42"/>
                </a:solidFill>
                <a:latin typeface="Cambria" pitchFamily="34" charset="0"/>
                <a:ea typeface="Cambria" pitchFamily="34" charset="-122"/>
                <a:cs typeface="Cambria" pitchFamily="34" charset="-120"/>
              </a:rPr>
              <a:t>The Warm South</a:t>
            </a:r>
            <a:endParaRPr lang="en-US" sz="4000" dirty="0"/>
          </a:p>
        </p:txBody>
      </p:sp>
      <p:sp>
        <p:nvSpPr>
          <p:cNvPr id="5" name="Shape 3"/>
          <p:cNvSpPr/>
          <p:nvPr/>
        </p:nvSpPr>
        <p:spPr>
          <a:xfrm>
            <a:off x="609600" y="1828800"/>
            <a:ext cx="7071360" cy="2804160"/>
          </a:xfrm>
          <a:prstGeom prst="roundRect">
            <a:avLst>
              <a:gd name="adj" fmla="val 5217"/>
            </a:avLst>
          </a:prstGeom>
          <a:solidFill>
            <a:srgbClr val="FFF0E6"/>
          </a:solidFill>
          <a:ln/>
          <a:effectLst>
            <a:outerShdw sx="100000" sy="100000" kx="0" ky="0" algn="bl" rotWithShape="0" blurRad="76200" dist="25400" dir="8100000">
              <a:srgbClr val="000000">
                <a:alpha val="12000"/>
              </a:srgbClr>
            </a:outerShdw>
          </a:effectLst>
        </p:spPr>
      </p:sp>
      <p:sp>
        <p:nvSpPr>
          <p:cNvPr id="6" name="Text 4"/>
          <p:cNvSpPr/>
          <p:nvPr/>
        </p:nvSpPr>
        <p:spPr>
          <a:xfrm>
            <a:off x="850392" y="1947672"/>
            <a:ext cx="3657600" cy="411480"/>
          </a:xfrm>
          <a:prstGeom prst="rect">
            <a:avLst/>
          </a:prstGeom>
          <a:noFill/>
          <a:ln/>
        </p:spPr>
        <p:txBody>
          <a:bodyPr wrap="square" lIns="0" tIns="0" rIns="0" bIns="0" rtlCol="0" anchor="ctr"/>
          <a:lstStyle/>
          <a:p>
            <a:pPr indent="0" marL="0">
              <a:buNone/>
            </a:pPr>
            <a:r>
              <a:rPr lang="en-US" sz="2200" b="1" dirty="0">
                <a:solidFill>
                  <a:srgbClr val="E8636B"/>
                </a:solidFill>
                <a:latin typeface="Cambria" pitchFamily="34" charset="0"/>
                <a:ea typeface="Cambria" pitchFamily="34" charset="-122"/>
                <a:cs typeface="Cambria" pitchFamily="34" charset="-120"/>
              </a:rPr>
              <a:t>Desert</a:t>
            </a:r>
            <a:endParaRPr lang="en-US" sz="2200" dirty="0"/>
          </a:p>
        </p:txBody>
      </p:sp>
      <p:sp>
        <p:nvSpPr>
          <p:cNvPr id="7" name="Text 5"/>
          <p:cNvSpPr/>
          <p:nvPr/>
        </p:nvSpPr>
        <p:spPr>
          <a:xfrm>
            <a:off x="850392" y="2441448"/>
            <a:ext cx="4389120" cy="1344168"/>
          </a:xfrm>
          <a:prstGeom prst="rect">
            <a:avLst/>
          </a:prstGeom>
          <a:noFill/>
          <a:ln/>
        </p:spPr>
        <p:txBody>
          <a:bodyPr wrap="square" lIns="0" tIns="0" rIns="0" bIns="0" rtlCol="0" anchor="t"/>
          <a:lstStyle/>
          <a:p>
            <a:pPr indent="0" marL="0">
              <a:buNone/>
            </a:pPr>
            <a:r>
              <a:rPr lang="en-US" sz="1600" dirty="0">
                <a:solidFill>
                  <a:srgbClr val="0E1C42"/>
                </a:solidFill>
                <a:latin typeface="Calibri" pitchFamily="34" charset="0"/>
                <a:ea typeface="Calibri" pitchFamily="34" charset="-122"/>
                <a:cs typeface="Calibri" pitchFamily="34" charset="-120"/>
              </a:rPr>
              <a:t>Southwestern United States and northern Mexico. Very hot and very dry. Cacti like the giant saguaro grow here because they store water inside their thick stems.</a:t>
            </a:r>
            <a:endParaRPr lang="en-US" sz="1600" dirty="0"/>
          </a:p>
        </p:txBody>
      </p:sp>
      <p:sp>
        <p:nvSpPr>
          <p:cNvPr id="8" name="Text 6"/>
          <p:cNvSpPr/>
          <p:nvPr/>
        </p:nvSpPr>
        <p:spPr>
          <a:xfrm>
            <a:off x="850392" y="3904488"/>
            <a:ext cx="3657600" cy="365760"/>
          </a:xfrm>
          <a:prstGeom prst="rect">
            <a:avLst/>
          </a:prstGeom>
          <a:noFill/>
          <a:ln/>
        </p:spPr>
        <p:txBody>
          <a:bodyPr wrap="square" lIns="0" tIns="0" rIns="0" bIns="0" rtlCol="0" anchor="ctr"/>
          <a:lstStyle/>
          <a:p>
            <a:pPr indent="0" marL="0">
              <a:buNone/>
            </a:pPr>
            <a:r>
              <a:rPr lang="en-US" sz="1400" b="1" dirty="0">
                <a:solidFill>
                  <a:srgbClr val="E8636B"/>
                </a:solidFill>
                <a:latin typeface="Calibri" pitchFamily="34" charset="0"/>
                <a:ea typeface="Calibri" pitchFamily="34" charset="-122"/>
                <a:cs typeface="Calibri" pitchFamily="34" charset="-120"/>
              </a:rPr>
              <a:t>Key Plant: Saguaro Cactus</a:t>
            </a:r>
            <a:endParaRPr lang="en-US" sz="1400" dirty="0"/>
          </a:p>
        </p:txBody>
      </p:sp>
      <p:sp>
        <p:nvSpPr>
          <p:cNvPr id="9" name="Shape 7"/>
          <p:cNvSpPr/>
          <p:nvPr/>
        </p:nvSpPr>
        <p:spPr>
          <a:xfrm>
            <a:off x="609600" y="4998720"/>
            <a:ext cx="7071360" cy="2804160"/>
          </a:xfrm>
          <a:prstGeom prst="roundRect">
            <a:avLst>
              <a:gd name="adj" fmla="val 5217"/>
            </a:avLst>
          </a:prstGeom>
          <a:solidFill>
            <a:srgbClr val="E3F8ED"/>
          </a:solidFill>
          <a:ln/>
          <a:effectLst>
            <a:outerShdw sx="100000" sy="100000" kx="0" ky="0" algn="bl" rotWithShape="0" blurRad="76200" dist="25400" dir="8100000">
              <a:srgbClr val="000000">
                <a:alpha val="12000"/>
              </a:srgbClr>
            </a:outerShdw>
          </a:effectLst>
        </p:spPr>
      </p:sp>
      <p:sp>
        <p:nvSpPr>
          <p:cNvPr id="10" name="Text 8"/>
          <p:cNvSpPr/>
          <p:nvPr/>
        </p:nvSpPr>
        <p:spPr>
          <a:xfrm>
            <a:off x="850392" y="5120640"/>
            <a:ext cx="3657600" cy="411480"/>
          </a:xfrm>
          <a:prstGeom prst="rect">
            <a:avLst/>
          </a:prstGeom>
          <a:noFill/>
          <a:ln/>
        </p:spPr>
        <p:txBody>
          <a:bodyPr wrap="square" lIns="0" tIns="0" rIns="0" bIns="0" rtlCol="0" anchor="ctr"/>
          <a:lstStyle/>
          <a:p>
            <a:pPr indent="0" marL="0">
              <a:buNone/>
            </a:pPr>
            <a:r>
              <a:rPr lang="en-US" sz="2200" b="1" dirty="0">
                <a:solidFill>
                  <a:srgbClr val="34B76F"/>
                </a:solidFill>
                <a:latin typeface="Cambria" pitchFamily="34" charset="0"/>
                <a:ea typeface="Cambria" pitchFamily="34" charset="-122"/>
                <a:cs typeface="Cambria" pitchFamily="34" charset="-120"/>
              </a:rPr>
              <a:t>Tropical</a:t>
            </a:r>
            <a:endParaRPr lang="en-US" sz="2200" dirty="0"/>
          </a:p>
        </p:txBody>
      </p:sp>
      <p:sp>
        <p:nvSpPr>
          <p:cNvPr id="11" name="Text 9"/>
          <p:cNvSpPr/>
          <p:nvPr/>
        </p:nvSpPr>
        <p:spPr>
          <a:xfrm>
            <a:off x="850392" y="5605272"/>
            <a:ext cx="4389120" cy="1344168"/>
          </a:xfrm>
          <a:prstGeom prst="rect">
            <a:avLst/>
          </a:prstGeom>
          <a:noFill/>
          <a:ln/>
        </p:spPr>
        <p:txBody>
          <a:bodyPr wrap="square" lIns="0" tIns="0" rIns="0" bIns="0" rtlCol="0" anchor="t"/>
          <a:lstStyle/>
          <a:p>
            <a:pPr indent="0" marL="0">
              <a:buNone/>
            </a:pPr>
            <a:r>
              <a:rPr lang="en-US" sz="1600" dirty="0">
                <a:solidFill>
                  <a:srgbClr val="0E1C42"/>
                </a:solidFill>
                <a:latin typeface="Calibri" pitchFamily="34" charset="0"/>
                <a:ea typeface="Calibri" pitchFamily="34" charset="-122"/>
                <a:cs typeface="Calibri" pitchFamily="34" charset="-120"/>
              </a:rPr>
              <a:t>Southern Mexico, Central America, and the Caribbean islands. Warm year-round with heavy rains. Rainforests, palm trees, and bright tropical flowers grow here.</a:t>
            </a:r>
            <a:endParaRPr lang="en-US" sz="1600" dirty="0"/>
          </a:p>
        </p:txBody>
      </p:sp>
      <p:sp>
        <p:nvSpPr>
          <p:cNvPr id="12" name="Text 10"/>
          <p:cNvSpPr/>
          <p:nvPr/>
        </p:nvSpPr>
        <p:spPr>
          <a:xfrm>
            <a:off x="850392" y="7068312"/>
            <a:ext cx="3657600" cy="36576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Key Plant: Coconut Palm, Banana Plant</a:t>
            </a:r>
            <a:endParaRPr lang="en-US" sz="1400" dirty="0"/>
          </a:p>
        </p:txBody>
      </p:sp>
      <p:sp>
        <p:nvSpPr>
          <p:cNvPr id="13" name="Shape 11"/>
          <p:cNvSpPr/>
          <p:nvPr/>
        </p:nvSpPr>
        <p:spPr>
          <a:xfrm>
            <a:off x="8046720" y="1828800"/>
            <a:ext cx="3901440" cy="6096000"/>
          </a:xfrm>
          <a:prstGeom prst="roundRect">
            <a:avLst>
              <a:gd name="adj" fmla="val 3750"/>
            </a:avLst>
          </a:prstGeom>
          <a:solidFill>
            <a:srgbClr val="E2E8F4"/>
          </a:solidFill>
          <a:ln w="19050">
            <a:solidFill>
              <a:srgbClr val="B0B8CC"/>
            </a:solidFill>
            <a:prstDash val="dash"/>
          </a:ln>
        </p:spPr>
      </p:sp>
      <p:sp>
        <p:nvSpPr>
          <p:cNvPr id="14" name="Text 12"/>
          <p:cNvSpPr/>
          <p:nvPr/>
        </p:nvSpPr>
        <p:spPr>
          <a:xfrm>
            <a:off x="8046720" y="1828800"/>
            <a:ext cx="3901440" cy="365760"/>
          </a:xfrm>
          <a:prstGeom prst="rect">
            <a:avLst/>
          </a:prstGeom>
          <a:noFill/>
          <a:ln/>
        </p:spPr>
        <p:txBody>
          <a:bodyPr wrap="square" lIns="0" tIns="0" rIns="0" bIns="0" rtlCol="0" anchor="ctr"/>
          <a:lstStyle/>
          <a:p>
            <a:pPr algn="ctr" indent="0" marL="0">
              <a:buNone/>
            </a:pPr>
            <a:r>
              <a:rPr lang="en-US" sz="1200" b="1" spc="150" kern="0" dirty="0">
                <a:solidFill>
                  <a:srgbClr val="7A88A8"/>
                </a:solidFill>
                <a:latin typeface="Calibri" pitchFamily="34" charset="0"/>
                <a:ea typeface="Calibri" pitchFamily="34" charset="-122"/>
                <a:cs typeface="Calibri" pitchFamily="34" charset="-120"/>
              </a:rPr>
              <a:t>INSERT IMAGE</a:t>
            </a:r>
            <a:endParaRPr lang="en-US" sz="1200" dirty="0"/>
          </a:p>
        </p:txBody>
      </p:sp>
      <p:sp>
        <p:nvSpPr>
          <p:cNvPr id="15" name="Text 13"/>
          <p:cNvSpPr/>
          <p:nvPr/>
        </p:nvSpPr>
        <p:spPr>
          <a:xfrm>
            <a:off x="8229600" y="2194560"/>
            <a:ext cx="3535680" cy="5611368"/>
          </a:xfrm>
          <a:prstGeom prst="rect">
            <a:avLst/>
          </a:prstGeom>
          <a:noFill/>
          <a:ln/>
        </p:spPr>
        <p:txBody>
          <a:bodyPr wrap="square" rtlCol="0" anchor="ctr"/>
          <a:lstStyle/>
          <a:p>
            <a:pPr algn="ctr" indent="0" marL="0">
              <a:buNone/>
            </a:pPr>
            <a:r>
              <a:rPr lang="en-US" sz="1400" i="1" dirty="0">
                <a:solidFill>
                  <a:srgbClr val="7A88A8"/>
                </a:solidFill>
                <a:latin typeface="Calibri" pitchFamily="34" charset="0"/>
                <a:ea typeface="Calibri" pitchFamily="34" charset="-122"/>
                <a:cs typeface="Calibri" pitchFamily="34" charset="-120"/>
              </a:rPr>
              <a:t>Split image: Top — towering saguaro cactus in Sonoran Desert; Bottom — lush tropical rainforest with palm trees and bright flowers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609600" y="365760"/>
            <a:ext cx="7315200" cy="320040"/>
          </a:xfrm>
          <a:prstGeom prst="rect">
            <a:avLst/>
          </a:prstGeom>
          <a:noFill/>
          <a:ln/>
        </p:spPr>
        <p:txBody>
          <a:bodyPr wrap="square" lIns="0" tIns="0" rIns="0" bIns="0" rtlCol="0" anchor="ctr"/>
          <a:lstStyle/>
          <a:p>
            <a:pPr indent="0" marL="0">
              <a:buNone/>
            </a:pPr>
            <a:r>
              <a:rPr lang="en-US" sz="1100" b="1" spc="200" kern="0" dirty="0">
                <a:solidFill>
                  <a:srgbClr val="55C8E8"/>
                </a:solidFill>
                <a:latin typeface="Calibri" pitchFamily="34" charset="0"/>
                <a:ea typeface="Calibri" pitchFamily="34" charset="-122"/>
                <a:cs typeface="Calibri" pitchFamily="34" charset="-120"/>
              </a:rPr>
              <a:t>EXPLORE — SOURCE MAP</a:t>
            </a:r>
            <a:endParaRPr lang="en-US" sz="1100" dirty="0"/>
          </a:p>
        </p:txBody>
      </p:sp>
      <p:sp>
        <p:nvSpPr>
          <p:cNvPr id="4" name="Text 2"/>
          <p:cNvSpPr/>
          <p:nvPr/>
        </p:nvSpPr>
        <p:spPr>
          <a:xfrm>
            <a:off x="612648" y="731520"/>
            <a:ext cx="6400800" cy="1097280"/>
          </a:xfrm>
          <a:prstGeom prst="rect">
            <a:avLst/>
          </a:prstGeom>
          <a:noFill/>
          <a:ln/>
        </p:spPr>
        <p:txBody>
          <a:bodyPr wrap="square" lIns="0" tIns="0" rIns="0" bIns="0" rtlCol="0" anchor="ctr"/>
          <a:lstStyle/>
          <a:p>
            <a:pPr indent="0" marL="0">
              <a:lnSpc>
                <a:spcPct val="105000"/>
              </a:lnSpc>
              <a:buNone/>
            </a:pPr>
            <a:r>
              <a:rPr lang="en-US" sz="3600" b="1" dirty="0">
                <a:solidFill>
                  <a:srgbClr val="0E1C42"/>
                </a:solidFill>
                <a:latin typeface="Cambria" pitchFamily="34" charset="0"/>
                <a:ea typeface="Cambria" pitchFamily="34" charset="-122"/>
                <a:cs typeface="Cambria" pitchFamily="34" charset="-120"/>
              </a:rPr>
              <a:t>Climate Zones of North America</a:t>
            </a:r>
            <a:endParaRPr lang="en-US" sz="3600" dirty="0"/>
          </a:p>
          <a:p>
            <a:pPr indent="0" marL="0">
              <a:lnSpc>
                <a:spcPct val="105000"/>
              </a:lnSpc>
              <a:buNone/>
            </a:pPr>
            <a:r>
              <a:rPr lang="en-US" sz="3600" b="1" dirty="0">
                <a:solidFill>
                  <a:srgbClr val="0E1C42"/>
                </a:solidFill>
                <a:latin typeface="Cambria" pitchFamily="34" charset="0"/>
                <a:ea typeface="Cambria" pitchFamily="34" charset="-122"/>
                <a:cs typeface="Cambria" pitchFamily="34" charset="-120"/>
              </a:rPr>
              <a:t>and the Caribbean</a:t>
            </a:r>
            <a:endParaRPr lang="en-US" sz="3600" dirty="0"/>
          </a:p>
        </p:txBody>
      </p:sp>
      <p:sp>
        <p:nvSpPr>
          <p:cNvPr id="5" name="Shape 3"/>
          <p:cNvSpPr/>
          <p:nvPr/>
        </p:nvSpPr>
        <p:spPr>
          <a:xfrm>
            <a:off x="609600" y="2194560"/>
            <a:ext cx="7924800" cy="5120640"/>
          </a:xfrm>
          <a:prstGeom prst="roundRect">
            <a:avLst>
              <a:gd name="adj" fmla="val 2857"/>
            </a:avLst>
          </a:prstGeom>
          <a:solidFill>
            <a:srgbClr val="E2E8F4"/>
          </a:solidFill>
          <a:ln w="19050">
            <a:solidFill>
              <a:srgbClr val="B0B8CC"/>
            </a:solidFill>
            <a:prstDash val="dash"/>
          </a:ln>
        </p:spPr>
      </p:sp>
      <p:sp>
        <p:nvSpPr>
          <p:cNvPr id="6" name="Text 4"/>
          <p:cNvSpPr/>
          <p:nvPr/>
        </p:nvSpPr>
        <p:spPr>
          <a:xfrm>
            <a:off x="609600" y="2194560"/>
            <a:ext cx="7924800" cy="365760"/>
          </a:xfrm>
          <a:prstGeom prst="rect">
            <a:avLst/>
          </a:prstGeom>
          <a:noFill/>
          <a:ln/>
        </p:spPr>
        <p:txBody>
          <a:bodyPr wrap="square" lIns="0" tIns="0" rIns="0" bIns="0" rtlCol="0" anchor="ctr"/>
          <a:lstStyle/>
          <a:p>
            <a:pPr algn="ctr" indent="0" marL="0">
              <a:buNone/>
            </a:pPr>
            <a:r>
              <a:rPr lang="en-US" sz="1200" b="1" spc="150" kern="0" dirty="0">
                <a:solidFill>
                  <a:srgbClr val="7A88A8"/>
                </a:solidFill>
                <a:latin typeface="Calibri" pitchFamily="34" charset="0"/>
                <a:ea typeface="Calibri" pitchFamily="34" charset="-122"/>
                <a:cs typeface="Calibri" pitchFamily="34" charset="-120"/>
              </a:rPr>
              <a:t>INSERT IMAGE</a:t>
            </a:r>
            <a:endParaRPr lang="en-US" sz="1200" dirty="0"/>
          </a:p>
        </p:txBody>
      </p:sp>
      <p:sp>
        <p:nvSpPr>
          <p:cNvPr id="7" name="Text 5"/>
          <p:cNvSpPr/>
          <p:nvPr/>
        </p:nvSpPr>
        <p:spPr>
          <a:xfrm>
            <a:off x="792480" y="2560320"/>
            <a:ext cx="7559040" cy="4636008"/>
          </a:xfrm>
          <a:prstGeom prst="rect">
            <a:avLst/>
          </a:prstGeom>
          <a:noFill/>
          <a:ln/>
        </p:spPr>
        <p:txBody>
          <a:bodyPr wrap="square" rtlCol="0" anchor="ctr"/>
          <a:lstStyle/>
          <a:p>
            <a:pPr algn="ctr" indent="0" marL="0">
              <a:buNone/>
            </a:pPr>
            <a:r>
              <a:rPr lang="en-US" sz="1400" i="1" dirty="0">
                <a:solidFill>
                  <a:srgbClr val="7A88A8"/>
                </a:solidFill>
                <a:latin typeface="Calibri" pitchFamily="34" charset="0"/>
                <a:ea typeface="Calibri" pitchFamily="34" charset="-122"/>
                <a:cs typeface="Calibri" pitchFamily="34" charset="-120"/>
              </a:rPr>
              <a:t>Climate/biome map of North America and the Caribbean showing major zones in different colors — Arctic/tundra far north, boreal/taiga forest, temperate forest and grassland in middle, desert in southwest, tropical in south and Caribbean — with legend. Source: NOAA, NPS, USGS, or National Geographic MapMaker</a:t>
            </a:r>
            <a:endParaRPr lang="en-US" sz="1400" dirty="0"/>
          </a:p>
        </p:txBody>
      </p:sp>
      <p:sp>
        <p:nvSpPr>
          <p:cNvPr id="8" name="Shape 6"/>
          <p:cNvSpPr/>
          <p:nvPr/>
        </p:nvSpPr>
        <p:spPr>
          <a:xfrm>
            <a:off x="9022080" y="2194560"/>
            <a:ext cx="3048000" cy="5120640"/>
          </a:xfrm>
          <a:prstGeom prst="roundRect">
            <a:avLst>
              <a:gd name="adj" fmla="val 4800"/>
            </a:avLst>
          </a:prstGeom>
          <a:solidFill>
            <a:srgbClr val="EAF8FD"/>
          </a:solidFill>
          <a:ln/>
          <a:effectLst>
            <a:outerShdw sx="100000" sy="100000" kx="0" ky="0" algn="bl" rotWithShape="0" blurRad="76200" dist="25400" dir="8100000">
              <a:srgbClr val="000000">
                <a:alpha val="12000"/>
              </a:srgbClr>
            </a:outerShdw>
          </a:effectLst>
        </p:spPr>
      </p:sp>
      <p:sp>
        <p:nvSpPr>
          <p:cNvPr id="9" name="Text 7"/>
          <p:cNvSpPr/>
          <p:nvPr/>
        </p:nvSpPr>
        <p:spPr>
          <a:xfrm>
            <a:off x="9208008" y="2313432"/>
            <a:ext cx="2743200" cy="320040"/>
          </a:xfrm>
          <a:prstGeom prst="rect">
            <a:avLst/>
          </a:prstGeom>
          <a:noFill/>
          <a:ln/>
        </p:spPr>
        <p:txBody>
          <a:bodyPr wrap="square" lIns="0" tIns="0" rIns="0" bIns="0" rtlCol="0" anchor="ctr"/>
          <a:lstStyle/>
          <a:p>
            <a:pPr indent="0" marL="0">
              <a:buNone/>
            </a:pPr>
            <a:r>
              <a:rPr lang="en-US" sz="1100" b="1" spc="200" kern="0" dirty="0">
                <a:solidFill>
                  <a:srgbClr val="1A8A7D"/>
                </a:solidFill>
                <a:latin typeface="Calibri" pitchFamily="34" charset="0"/>
                <a:ea typeface="Calibri" pitchFamily="34" charset="-122"/>
                <a:cs typeface="Calibri" pitchFamily="34" charset="-120"/>
              </a:rPr>
              <a:t>MAP QUESTIONS</a:t>
            </a:r>
            <a:endParaRPr lang="en-US" sz="1100" dirty="0"/>
          </a:p>
        </p:txBody>
      </p:sp>
      <p:sp>
        <p:nvSpPr>
          <p:cNvPr id="10" name="Text 8"/>
          <p:cNvSpPr/>
          <p:nvPr/>
        </p:nvSpPr>
        <p:spPr>
          <a:xfrm>
            <a:off x="9208008" y="2679192"/>
            <a:ext cx="2679192" cy="3410712"/>
          </a:xfrm>
          <a:prstGeom prst="rect">
            <a:avLst/>
          </a:prstGeom>
          <a:noFill/>
          <a:ln/>
        </p:spPr>
        <p:txBody>
          <a:bodyPr wrap="square" lIns="0" tIns="0" rIns="0" bIns="0" rtlCol="0" anchor="t"/>
          <a:lstStyle/>
          <a:p>
            <a:pPr indent="0" marL="0">
              <a:buNone/>
            </a:pPr>
            <a:r>
              <a:rPr lang="en-US" sz="1500" b="1" dirty="0">
                <a:solidFill>
                  <a:srgbClr val="0E1C42"/>
                </a:solidFill>
                <a:latin typeface="Calibri" pitchFamily="34" charset="0"/>
                <a:ea typeface="Calibri" pitchFamily="34" charset="-122"/>
                <a:cs typeface="Calibri" pitchFamily="34" charset="-120"/>
              </a:rPr>
              <a:t>What do I see?
</a:t>
            </a:r>
            <a:pPr indent="0" marL="0">
              <a:buNone/>
            </a:pPr>
            <a:r>
              <a:rPr lang="en-US" sz="1400" dirty="0">
                <a:solidFill>
                  <a:srgbClr val="0E1C42"/>
                </a:solidFill>
                <a:latin typeface="Calibri" pitchFamily="34" charset="0"/>
                <a:ea typeface="Calibri" pitchFamily="34" charset="-122"/>
                <a:cs typeface="Calibri" pitchFamily="34" charset="-120"/>
              </a:rPr>
              <a:t>How many climate zones can you count? Which color covers the most space?
</a:t>
            </a:r>
            <a:pPr indent="0" marL="0">
              <a:buNone/>
            </a:pPr>
            <a:r>
              <a:rPr lang="en-US" sz="1500" b="1" dirty="0">
                <a:solidFill>
                  <a:srgbClr val="0E1C42"/>
                </a:solidFill>
                <a:latin typeface="Calibri" pitchFamily="34" charset="0"/>
                <a:ea typeface="Calibri" pitchFamily="34" charset="-122"/>
                <a:cs typeface="Calibri" pitchFamily="34" charset="-120"/>
              </a:rPr>
              <a:t>What does it mean?
</a:t>
            </a:r>
            <a:pPr indent="0" marL="0">
              <a:buNone/>
            </a:pPr>
            <a:r>
              <a:rPr lang="en-US" sz="1400" dirty="0">
                <a:solidFill>
                  <a:srgbClr val="0E1C42"/>
                </a:solidFill>
                <a:latin typeface="Calibri" pitchFamily="34" charset="0"/>
                <a:ea typeface="Calibri" pitchFamily="34" charset="-122"/>
                <a:cs typeface="Calibri" pitchFamily="34" charset="-120"/>
              </a:rPr>
              <a:t>Find the cold zone in the far north. Now find the warm tropical zone in the south. What's in between?
</a:t>
            </a:r>
            <a:pPr indent="0" marL="0">
              <a:buNone/>
            </a:pPr>
            <a:r>
              <a:rPr lang="en-US" sz="1500" b="1" dirty="0">
                <a:solidFill>
                  <a:srgbClr val="0E1C42"/>
                </a:solidFill>
                <a:latin typeface="Calibri" pitchFamily="34" charset="0"/>
                <a:ea typeface="Calibri" pitchFamily="34" charset="-122"/>
                <a:cs typeface="Calibri" pitchFamily="34" charset="-120"/>
              </a:rPr>
              <a:t>Why does it matter?
</a:t>
            </a:r>
            <a:pPr indent="0" marL="0">
              <a:buNone/>
            </a:pPr>
            <a:r>
              <a:rPr lang="en-US" sz="1400" dirty="0">
                <a:solidFill>
                  <a:srgbClr val="0E1C42"/>
                </a:solidFill>
                <a:latin typeface="Calibri" pitchFamily="34" charset="0"/>
                <a:ea typeface="Calibri" pitchFamily="34" charset="-122"/>
                <a:cs typeface="Calibri" pitchFamily="34" charset="-120"/>
              </a:rPr>
              <a:t>Why is it useful to know about climate zones if you're planning where to plant a farm or build a town?</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609600" y="365760"/>
            <a:ext cx="10972800" cy="320040"/>
          </a:xfrm>
          <a:prstGeom prst="rect">
            <a:avLst/>
          </a:prstGeom>
          <a:noFill/>
          <a:ln/>
        </p:spPr>
        <p:txBody>
          <a:bodyPr wrap="square" lIns="0" tIns="0" rIns="0" bIns="0" rtlCol="0" anchor="ctr"/>
          <a:lstStyle/>
          <a:p>
            <a:pPr indent="0" marL="0">
              <a:buNone/>
            </a:pPr>
            <a:r>
              <a:rPr lang="en-US" sz="1100" b="1" spc="200" kern="0" dirty="0">
                <a:solidFill>
                  <a:srgbClr val="55C8E8"/>
                </a:solidFill>
                <a:latin typeface="Calibri" pitchFamily="34" charset="0"/>
                <a:ea typeface="Calibri" pitchFamily="34" charset="-122"/>
                <a:cs typeface="Calibri" pitchFamily="34" charset="-120"/>
              </a:rPr>
              <a:t>GUIDED PRACTICE — MATCH PLANTS TO ZONES</a:t>
            </a:r>
            <a:endParaRPr lang="en-US" sz="1100" dirty="0"/>
          </a:p>
        </p:txBody>
      </p:sp>
      <p:sp>
        <p:nvSpPr>
          <p:cNvPr id="4" name="Text 2"/>
          <p:cNvSpPr/>
          <p:nvPr/>
        </p:nvSpPr>
        <p:spPr>
          <a:xfrm>
            <a:off x="612648" y="731520"/>
            <a:ext cx="9144000" cy="731520"/>
          </a:xfrm>
          <a:prstGeom prst="rect">
            <a:avLst/>
          </a:prstGeom>
          <a:noFill/>
          <a:ln/>
        </p:spPr>
        <p:txBody>
          <a:bodyPr wrap="square" lIns="0" tIns="0" rIns="0" bIns="0" rtlCol="0" anchor="ctr"/>
          <a:lstStyle/>
          <a:p>
            <a:pPr indent="0" marL="0">
              <a:buNone/>
            </a:pPr>
            <a:r>
              <a:rPr lang="en-US" sz="3600" b="1" dirty="0">
                <a:solidFill>
                  <a:srgbClr val="0E1C42"/>
                </a:solidFill>
                <a:latin typeface="Cambria" pitchFamily="34" charset="0"/>
                <a:ea typeface="Cambria" pitchFamily="34" charset="-122"/>
                <a:cs typeface="Cambria" pitchFamily="34" charset="-120"/>
              </a:rPr>
              <a:t>Where Does Each Plant Grow?</a:t>
            </a:r>
            <a:endParaRPr lang="en-US" sz="3600" dirty="0"/>
          </a:p>
        </p:txBody>
      </p:sp>
      <p:sp>
        <p:nvSpPr>
          <p:cNvPr id="5" name="Shape 3"/>
          <p:cNvSpPr/>
          <p:nvPr/>
        </p:nvSpPr>
        <p:spPr>
          <a:xfrm>
            <a:off x="609600" y="1950720"/>
            <a:ext cx="3535680" cy="3413760"/>
          </a:xfrm>
          <a:prstGeom prst="roundRect">
            <a:avLst>
              <a:gd name="adj" fmla="val 4286"/>
            </a:avLst>
          </a:prstGeom>
          <a:solidFill>
            <a:srgbClr val="FFF0E6"/>
          </a:solidFill>
          <a:ln/>
          <a:effectLst>
            <a:outerShdw sx="100000" sy="100000" kx="0" ky="0" algn="bl" rotWithShape="0" blurRad="50800" dist="25400" dir="8100000">
              <a:srgbClr val="000000">
                <a:alpha val="10000"/>
              </a:srgbClr>
            </a:outerShdw>
          </a:effectLst>
        </p:spPr>
      </p:sp>
      <p:sp>
        <p:nvSpPr>
          <p:cNvPr id="6" name="Text 4"/>
          <p:cNvSpPr/>
          <p:nvPr/>
        </p:nvSpPr>
        <p:spPr>
          <a:xfrm>
            <a:off x="792480" y="2133600"/>
            <a:ext cx="3169920" cy="411480"/>
          </a:xfrm>
          <a:prstGeom prst="rect">
            <a:avLst/>
          </a:prstGeom>
          <a:noFill/>
          <a:ln/>
        </p:spPr>
        <p:txBody>
          <a:bodyPr wrap="square" lIns="0" tIns="0" rIns="0" bIns="0" rtlCol="0" anchor="ctr"/>
          <a:lstStyle/>
          <a:p>
            <a:pPr indent="0" marL="0">
              <a:buNone/>
            </a:pPr>
            <a:r>
              <a:rPr lang="en-US" sz="1900" b="1" dirty="0">
                <a:solidFill>
                  <a:srgbClr val="E8636B"/>
                </a:solidFill>
                <a:latin typeface="Cambria" pitchFamily="34" charset="0"/>
                <a:ea typeface="Cambria" pitchFamily="34" charset="-122"/>
                <a:cs typeface="Cambria" pitchFamily="34" charset="-120"/>
              </a:rPr>
              <a:t>Saguaro Cactus</a:t>
            </a:r>
            <a:endParaRPr lang="en-US" sz="1900" dirty="0"/>
          </a:p>
        </p:txBody>
      </p:sp>
      <p:sp>
        <p:nvSpPr>
          <p:cNvPr id="7" name="Text 5"/>
          <p:cNvSpPr/>
          <p:nvPr/>
        </p:nvSpPr>
        <p:spPr>
          <a:xfrm>
            <a:off x="792480" y="2590800"/>
            <a:ext cx="3169920" cy="1280160"/>
          </a:xfrm>
          <a:prstGeom prst="rect">
            <a:avLst/>
          </a:prstGeom>
          <a:noFill/>
          <a:ln/>
        </p:spPr>
        <p:txBody>
          <a:bodyPr wrap="square" lIns="0" tIns="0" rIns="0" bIns="0" rtlCol="0" anchor="t"/>
          <a:lstStyle/>
          <a:p>
            <a:pPr indent="0" marL="0">
              <a:buNone/>
            </a:pPr>
            <a:r>
              <a:rPr lang="en-US" sz="1500" dirty="0">
                <a:solidFill>
                  <a:srgbClr val="0E1C42"/>
                </a:solidFill>
                <a:latin typeface="Calibri" pitchFamily="34" charset="0"/>
                <a:ea typeface="Calibri" pitchFamily="34" charset="-122"/>
                <a:cs typeface="Calibri" pitchFamily="34" charset="-120"/>
              </a:rPr>
              <a:t>Tall green cactus that stores water inside its thick, ribbed stem.</a:t>
            </a:r>
            <a:endParaRPr lang="en-US" sz="1500" dirty="0"/>
          </a:p>
        </p:txBody>
      </p:sp>
      <p:sp>
        <p:nvSpPr>
          <p:cNvPr id="8" name="Shape 6"/>
          <p:cNvSpPr/>
          <p:nvPr/>
        </p:nvSpPr>
        <p:spPr>
          <a:xfrm>
            <a:off x="792480" y="4724400"/>
            <a:ext cx="3169920" cy="457200"/>
          </a:xfrm>
          <a:prstGeom prst="roundRect">
            <a:avLst>
              <a:gd name="adj" fmla="val 20000"/>
            </a:avLst>
          </a:prstGeom>
          <a:solidFill>
            <a:srgbClr val="1A2D5A"/>
          </a:solidFill>
          <a:ln/>
        </p:spPr>
      </p:sp>
      <p:sp>
        <p:nvSpPr>
          <p:cNvPr id="9" name="Text 7"/>
          <p:cNvSpPr/>
          <p:nvPr/>
        </p:nvSpPr>
        <p:spPr>
          <a:xfrm>
            <a:off x="792480" y="4724400"/>
            <a:ext cx="316992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Desert</a:t>
            </a:r>
            <a:endParaRPr lang="en-US" sz="1400" dirty="0"/>
          </a:p>
        </p:txBody>
      </p:sp>
      <p:sp>
        <p:nvSpPr>
          <p:cNvPr id="10" name="Shape 8"/>
          <p:cNvSpPr/>
          <p:nvPr/>
        </p:nvSpPr>
        <p:spPr>
          <a:xfrm>
            <a:off x="4511040" y="1950720"/>
            <a:ext cx="3535680" cy="3413760"/>
          </a:xfrm>
          <a:prstGeom prst="roundRect">
            <a:avLst>
              <a:gd name="adj" fmla="val 4286"/>
            </a:avLst>
          </a:prstGeom>
          <a:solidFill>
            <a:srgbClr val="E3F8ED"/>
          </a:solidFill>
          <a:ln/>
          <a:effectLst>
            <a:outerShdw sx="100000" sy="100000" kx="0" ky="0" algn="bl" rotWithShape="0" blurRad="50800" dist="25400" dir="8100000">
              <a:srgbClr val="000000">
                <a:alpha val="10000"/>
              </a:srgbClr>
            </a:outerShdw>
          </a:effectLst>
        </p:spPr>
      </p:sp>
      <p:sp>
        <p:nvSpPr>
          <p:cNvPr id="11" name="Text 9"/>
          <p:cNvSpPr/>
          <p:nvPr/>
        </p:nvSpPr>
        <p:spPr>
          <a:xfrm>
            <a:off x="4693920" y="2133600"/>
            <a:ext cx="3169920" cy="411480"/>
          </a:xfrm>
          <a:prstGeom prst="rect">
            <a:avLst/>
          </a:prstGeom>
          <a:noFill/>
          <a:ln/>
        </p:spPr>
        <p:txBody>
          <a:bodyPr wrap="square" lIns="0" tIns="0" rIns="0" bIns="0" rtlCol="0" anchor="ctr"/>
          <a:lstStyle/>
          <a:p>
            <a:pPr indent="0" marL="0">
              <a:buNone/>
            </a:pPr>
            <a:r>
              <a:rPr lang="en-US" sz="1900" b="1" dirty="0">
                <a:solidFill>
                  <a:srgbClr val="34B76F"/>
                </a:solidFill>
                <a:latin typeface="Cambria" pitchFamily="34" charset="0"/>
                <a:ea typeface="Cambria" pitchFamily="34" charset="-122"/>
                <a:cs typeface="Cambria" pitchFamily="34" charset="-120"/>
              </a:rPr>
              <a:t>Coconut Palm</a:t>
            </a:r>
            <a:endParaRPr lang="en-US" sz="1900" dirty="0"/>
          </a:p>
        </p:txBody>
      </p:sp>
      <p:sp>
        <p:nvSpPr>
          <p:cNvPr id="12" name="Text 10"/>
          <p:cNvSpPr/>
          <p:nvPr/>
        </p:nvSpPr>
        <p:spPr>
          <a:xfrm>
            <a:off x="4693920" y="2590800"/>
            <a:ext cx="3169920" cy="1280160"/>
          </a:xfrm>
          <a:prstGeom prst="rect">
            <a:avLst/>
          </a:prstGeom>
          <a:noFill/>
          <a:ln/>
        </p:spPr>
        <p:txBody>
          <a:bodyPr wrap="square" lIns="0" tIns="0" rIns="0" bIns="0" rtlCol="0" anchor="t"/>
          <a:lstStyle/>
          <a:p>
            <a:pPr indent="0" marL="0">
              <a:buNone/>
            </a:pPr>
            <a:r>
              <a:rPr lang="en-US" sz="1500" dirty="0">
                <a:solidFill>
                  <a:srgbClr val="0E1C42"/>
                </a:solidFill>
                <a:latin typeface="Calibri" pitchFamily="34" charset="0"/>
                <a:ea typeface="Calibri" pitchFamily="34" charset="-122"/>
                <a:cs typeface="Calibri" pitchFamily="34" charset="-120"/>
              </a:rPr>
              <a:t>Tall tree with long fronds and coconuts. Loves warm weather and salty sea air.</a:t>
            </a:r>
            <a:endParaRPr lang="en-US" sz="1500" dirty="0"/>
          </a:p>
        </p:txBody>
      </p:sp>
      <p:sp>
        <p:nvSpPr>
          <p:cNvPr id="13" name="Shape 11"/>
          <p:cNvSpPr/>
          <p:nvPr/>
        </p:nvSpPr>
        <p:spPr>
          <a:xfrm>
            <a:off x="4693920" y="4724400"/>
            <a:ext cx="3169920" cy="457200"/>
          </a:xfrm>
          <a:prstGeom prst="roundRect">
            <a:avLst>
              <a:gd name="adj" fmla="val 20000"/>
            </a:avLst>
          </a:prstGeom>
          <a:solidFill>
            <a:srgbClr val="1A2D5A"/>
          </a:solidFill>
          <a:ln/>
        </p:spPr>
      </p:sp>
      <p:sp>
        <p:nvSpPr>
          <p:cNvPr id="14" name="Text 12"/>
          <p:cNvSpPr/>
          <p:nvPr/>
        </p:nvSpPr>
        <p:spPr>
          <a:xfrm>
            <a:off x="4693920" y="4724400"/>
            <a:ext cx="316992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Tropical</a:t>
            </a:r>
            <a:endParaRPr lang="en-US" sz="1400" dirty="0"/>
          </a:p>
        </p:txBody>
      </p:sp>
      <p:sp>
        <p:nvSpPr>
          <p:cNvPr id="15" name="Shape 13"/>
          <p:cNvSpPr/>
          <p:nvPr/>
        </p:nvSpPr>
        <p:spPr>
          <a:xfrm>
            <a:off x="8412480" y="1950720"/>
            <a:ext cx="3535680" cy="3413760"/>
          </a:xfrm>
          <a:prstGeom prst="roundRect">
            <a:avLst>
              <a:gd name="adj" fmla="val 4286"/>
            </a:avLst>
          </a:prstGeom>
          <a:solidFill>
            <a:srgbClr val="EAF8FD"/>
          </a:solidFill>
          <a:ln/>
          <a:effectLst>
            <a:outerShdw sx="100000" sy="100000" kx="0" ky="0" algn="bl" rotWithShape="0" blurRad="50800" dist="25400" dir="8100000">
              <a:srgbClr val="000000">
                <a:alpha val="10000"/>
              </a:srgbClr>
            </a:outerShdw>
          </a:effectLst>
        </p:spPr>
      </p:sp>
      <p:sp>
        <p:nvSpPr>
          <p:cNvPr id="16" name="Text 14"/>
          <p:cNvSpPr/>
          <p:nvPr/>
        </p:nvSpPr>
        <p:spPr>
          <a:xfrm>
            <a:off x="8595360" y="2133600"/>
            <a:ext cx="3169920" cy="411480"/>
          </a:xfrm>
          <a:prstGeom prst="rect">
            <a:avLst/>
          </a:prstGeom>
          <a:noFill/>
          <a:ln/>
        </p:spPr>
        <p:txBody>
          <a:bodyPr wrap="square" lIns="0" tIns="0" rIns="0" bIns="0" rtlCol="0" anchor="ctr"/>
          <a:lstStyle/>
          <a:p>
            <a:pPr indent="0" marL="0">
              <a:buNone/>
            </a:pPr>
            <a:r>
              <a:rPr lang="en-US" sz="1900" b="1" dirty="0">
                <a:solidFill>
                  <a:srgbClr val="1A8A7D"/>
                </a:solidFill>
                <a:latin typeface="Cambria" pitchFamily="34" charset="0"/>
                <a:ea typeface="Cambria" pitchFamily="34" charset="-122"/>
                <a:cs typeface="Cambria" pitchFamily="34" charset="-120"/>
              </a:rPr>
              <a:t>Spruce Tree</a:t>
            </a:r>
            <a:endParaRPr lang="en-US" sz="1900" dirty="0"/>
          </a:p>
        </p:txBody>
      </p:sp>
      <p:sp>
        <p:nvSpPr>
          <p:cNvPr id="17" name="Text 15"/>
          <p:cNvSpPr/>
          <p:nvPr/>
        </p:nvSpPr>
        <p:spPr>
          <a:xfrm>
            <a:off x="8595360" y="2590800"/>
            <a:ext cx="3169920" cy="1280160"/>
          </a:xfrm>
          <a:prstGeom prst="rect">
            <a:avLst/>
          </a:prstGeom>
          <a:noFill/>
          <a:ln/>
        </p:spPr>
        <p:txBody>
          <a:bodyPr wrap="square" lIns="0" tIns="0" rIns="0" bIns="0" rtlCol="0" anchor="t"/>
          <a:lstStyle/>
          <a:p>
            <a:pPr indent="0" marL="0">
              <a:buNone/>
            </a:pPr>
            <a:r>
              <a:rPr lang="en-US" sz="1500" dirty="0">
                <a:solidFill>
                  <a:srgbClr val="0E1C42"/>
                </a:solidFill>
                <a:latin typeface="Calibri" pitchFamily="34" charset="0"/>
                <a:ea typeface="Calibri" pitchFamily="34" charset="-122"/>
                <a:cs typeface="Calibri" pitchFamily="34" charset="-120"/>
              </a:rPr>
              <a:t>Tall evergreen with sharp needles. Stays green all winter even under heavy snow.</a:t>
            </a:r>
            <a:endParaRPr lang="en-US" sz="1500" dirty="0"/>
          </a:p>
        </p:txBody>
      </p:sp>
      <p:sp>
        <p:nvSpPr>
          <p:cNvPr id="18" name="Shape 16"/>
          <p:cNvSpPr/>
          <p:nvPr/>
        </p:nvSpPr>
        <p:spPr>
          <a:xfrm>
            <a:off x="8595360" y="4724400"/>
            <a:ext cx="3169920" cy="457200"/>
          </a:xfrm>
          <a:prstGeom prst="roundRect">
            <a:avLst>
              <a:gd name="adj" fmla="val 20000"/>
            </a:avLst>
          </a:prstGeom>
          <a:solidFill>
            <a:srgbClr val="1A2D5A"/>
          </a:solidFill>
          <a:ln/>
        </p:spPr>
      </p:sp>
      <p:sp>
        <p:nvSpPr>
          <p:cNvPr id="19" name="Text 17"/>
          <p:cNvSpPr/>
          <p:nvPr/>
        </p:nvSpPr>
        <p:spPr>
          <a:xfrm>
            <a:off x="8595360" y="4724400"/>
            <a:ext cx="316992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Boreal Forest</a:t>
            </a:r>
            <a:endParaRPr lang="en-US" sz="1400" dirty="0"/>
          </a:p>
        </p:txBody>
      </p:sp>
      <p:sp>
        <p:nvSpPr>
          <p:cNvPr id="20" name="Text 18"/>
          <p:cNvSpPr/>
          <p:nvPr/>
        </p:nvSpPr>
        <p:spPr>
          <a:xfrm>
            <a:off x="612648" y="5971032"/>
            <a:ext cx="9144000" cy="365760"/>
          </a:xfrm>
          <a:prstGeom prst="rect">
            <a:avLst/>
          </a:prstGeom>
          <a:noFill/>
          <a:ln/>
        </p:spPr>
        <p:txBody>
          <a:bodyPr wrap="square" lIns="0" tIns="0" rIns="0" bIns="0" rtlCol="0" anchor="ctr"/>
          <a:lstStyle/>
          <a:p>
            <a:pPr indent="0" marL="0">
              <a:buNone/>
            </a:pPr>
            <a:r>
              <a:rPr lang="en-US" sz="1400" i="1" dirty="0">
                <a:solidFill>
                  <a:srgbClr val="7A88A8"/>
                </a:solidFill>
                <a:latin typeface="Calibri" pitchFamily="34" charset="0"/>
                <a:ea typeface="Calibri" pitchFamily="34" charset="-122"/>
                <a:cs typeface="Calibri" pitchFamily="34" charset="-120"/>
              </a:rPr>
              <a:t>Ask students to match each plant BEFORE revealing the zone label.</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609600" y="365760"/>
            <a:ext cx="10972800" cy="320040"/>
          </a:xfrm>
          <a:prstGeom prst="rect">
            <a:avLst/>
          </a:prstGeom>
          <a:noFill/>
          <a:ln/>
        </p:spPr>
        <p:txBody>
          <a:bodyPr wrap="square" lIns="0" tIns="0" rIns="0" bIns="0" rtlCol="0" anchor="ctr"/>
          <a:lstStyle/>
          <a:p>
            <a:pPr indent="0" marL="0">
              <a:buNone/>
            </a:pPr>
            <a:r>
              <a:rPr lang="en-US" sz="1100" b="1" spc="200" kern="0" dirty="0">
                <a:solidFill>
                  <a:srgbClr val="55C8E8"/>
                </a:solidFill>
                <a:latin typeface="Calibri" pitchFamily="34" charset="0"/>
                <a:ea typeface="Calibri" pitchFamily="34" charset="-122"/>
                <a:cs typeface="Calibri" pitchFamily="34" charset="-120"/>
              </a:rPr>
              <a:t>GUIDED PRACTICE — MATCH PLANTS TO ZONES</a:t>
            </a:r>
            <a:endParaRPr lang="en-US" sz="1100" dirty="0"/>
          </a:p>
        </p:txBody>
      </p:sp>
      <p:sp>
        <p:nvSpPr>
          <p:cNvPr id="4" name="Text 2"/>
          <p:cNvSpPr/>
          <p:nvPr/>
        </p:nvSpPr>
        <p:spPr>
          <a:xfrm>
            <a:off x="612648" y="731520"/>
            <a:ext cx="9144000" cy="731520"/>
          </a:xfrm>
          <a:prstGeom prst="rect">
            <a:avLst/>
          </a:prstGeom>
          <a:noFill/>
          <a:ln/>
        </p:spPr>
        <p:txBody>
          <a:bodyPr wrap="square" lIns="0" tIns="0" rIns="0" bIns="0" rtlCol="0" anchor="ctr"/>
          <a:lstStyle/>
          <a:p>
            <a:pPr indent="0" marL="0">
              <a:buNone/>
            </a:pPr>
            <a:r>
              <a:rPr lang="en-US" sz="3600" b="1" dirty="0">
                <a:solidFill>
                  <a:srgbClr val="0E1C42"/>
                </a:solidFill>
                <a:latin typeface="Cambria" pitchFamily="34" charset="0"/>
                <a:ea typeface="Cambria" pitchFamily="34" charset="-122"/>
                <a:cs typeface="Cambria" pitchFamily="34" charset="-120"/>
              </a:rPr>
              <a:t>Three More Plants</a:t>
            </a:r>
            <a:endParaRPr lang="en-US" sz="3600" dirty="0"/>
          </a:p>
        </p:txBody>
      </p:sp>
      <p:sp>
        <p:nvSpPr>
          <p:cNvPr id="5" name="Shape 3"/>
          <p:cNvSpPr/>
          <p:nvPr/>
        </p:nvSpPr>
        <p:spPr>
          <a:xfrm>
            <a:off x="609600" y="1950720"/>
            <a:ext cx="3535680" cy="3413760"/>
          </a:xfrm>
          <a:prstGeom prst="roundRect">
            <a:avLst>
              <a:gd name="adj" fmla="val 4286"/>
            </a:avLst>
          </a:prstGeom>
          <a:solidFill>
            <a:srgbClr val="EAF8FD"/>
          </a:solidFill>
          <a:ln/>
          <a:effectLst>
            <a:outerShdw sx="100000" sy="100000" kx="0" ky="0" algn="bl" rotWithShape="0" blurRad="50800" dist="25400" dir="8100000">
              <a:srgbClr val="000000">
                <a:alpha val="10000"/>
              </a:srgbClr>
            </a:outerShdw>
          </a:effectLst>
        </p:spPr>
      </p:sp>
      <p:sp>
        <p:nvSpPr>
          <p:cNvPr id="6" name="Text 4"/>
          <p:cNvSpPr/>
          <p:nvPr/>
        </p:nvSpPr>
        <p:spPr>
          <a:xfrm>
            <a:off x="792480" y="2133600"/>
            <a:ext cx="3169920" cy="411480"/>
          </a:xfrm>
          <a:prstGeom prst="rect">
            <a:avLst/>
          </a:prstGeom>
          <a:noFill/>
          <a:ln/>
        </p:spPr>
        <p:txBody>
          <a:bodyPr wrap="square" lIns="0" tIns="0" rIns="0" bIns="0" rtlCol="0" anchor="ctr"/>
          <a:lstStyle/>
          <a:p>
            <a:pPr indent="0" marL="0">
              <a:buNone/>
            </a:pPr>
            <a:r>
              <a:rPr lang="en-US" sz="1900" b="1" dirty="0">
                <a:solidFill>
                  <a:srgbClr val="55C8E8"/>
                </a:solidFill>
                <a:latin typeface="Cambria" pitchFamily="34" charset="0"/>
                <a:ea typeface="Cambria" pitchFamily="34" charset="-122"/>
                <a:cs typeface="Cambria" pitchFamily="34" charset="-120"/>
              </a:rPr>
              <a:t>Arctic Moss</a:t>
            </a:r>
            <a:endParaRPr lang="en-US" sz="1900" dirty="0"/>
          </a:p>
        </p:txBody>
      </p:sp>
      <p:sp>
        <p:nvSpPr>
          <p:cNvPr id="7" name="Text 5"/>
          <p:cNvSpPr/>
          <p:nvPr/>
        </p:nvSpPr>
        <p:spPr>
          <a:xfrm>
            <a:off x="792480" y="2590800"/>
            <a:ext cx="3169920" cy="1280160"/>
          </a:xfrm>
          <a:prstGeom prst="rect">
            <a:avLst/>
          </a:prstGeom>
          <a:noFill/>
          <a:ln/>
        </p:spPr>
        <p:txBody>
          <a:bodyPr wrap="square" lIns="0" tIns="0" rIns="0" bIns="0" rtlCol="0" anchor="t"/>
          <a:lstStyle/>
          <a:p>
            <a:pPr indent="0" marL="0">
              <a:buNone/>
            </a:pPr>
            <a:r>
              <a:rPr lang="en-US" sz="1500" dirty="0">
                <a:solidFill>
                  <a:srgbClr val="0E1C42"/>
                </a:solidFill>
                <a:latin typeface="Calibri" pitchFamily="34" charset="0"/>
                <a:ea typeface="Calibri" pitchFamily="34" charset="-122"/>
                <a:cs typeface="Calibri" pitchFamily="34" charset="-120"/>
              </a:rPr>
              <a:t>A tiny low-growing plant that survives on rocks and frozen ground where trees can't grow.</a:t>
            </a:r>
            <a:endParaRPr lang="en-US" sz="1500" dirty="0"/>
          </a:p>
        </p:txBody>
      </p:sp>
      <p:sp>
        <p:nvSpPr>
          <p:cNvPr id="8" name="Shape 6"/>
          <p:cNvSpPr/>
          <p:nvPr/>
        </p:nvSpPr>
        <p:spPr>
          <a:xfrm>
            <a:off x="792480" y="4724400"/>
            <a:ext cx="3169920" cy="457200"/>
          </a:xfrm>
          <a:prstGeom prst="roundRect">
            <a:avLst>
              <a:gd name="adj" fmla="val 20000"/>
            </a:avLst>
          </a:prstGeom>
          <a:solidFill>
            <a:srgbClr val="1A2D5A"/>
          </a:solidFill>
          <a:ln/>
        </p:spPr>
      </p:sp>
      <p:sp>
        <p:nvSpPr>
          <p:cNvPr id="9" name="Text 7"/>
          <p:cNvSpPr/>
          <p:nvPr/>
        </p:nvSpPr>
        <p:spPr>
          <a:xfrm>
            <a:off x="792480" y="4724400"/>
            <a:ext cx="316992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Arctic Tundra</a:t>
            </a:r>
            <a:endParaRPr lang="en-US" sz="1400" dirty="0"/>
          </a:p>
        </p:txBody>
      </p:sp>
      <p:sp>
        <p:nvSpPr>
          <p:cNvPr id="10" name="Shape 8"/>
          <p:cNvSpPr/>
          <p:nvPr/>
        </p:nvSpPr>
        <p:spPr>
          <a:xfrm>
            <a:off x="4511040" y="1950720"/>
            <a:ext cx="3535680" cy="3413760"/>
          </a:xfrm>
          <a:prstGeom prst="roundRect">
            <a:avLst>
              <a:gd name="adj" fmla="val 4286"/>
            </a:avLst>
          </a:prstGeom>
          <a:solidFill>
            <a:srgbClr val="FFF8F0"/>
          </a:solidFill>
          <a:ln/>
          <a:effectLst>
            <a:outerShdw sx="100000" sy="100000" kx="0" ky="0" algn="bl" rotWithShape="0" blurRad="50800" dist="25400" dir="8100000">
              <a:srgbClr val="000000">
                <a:alpha val="10000"/>
              </a:srgbClr>
            </a:outerShdw>
          </a:effectLst>
        </p:spPr>
      </p:sp>
      <p:sp>
        <p:nvSpPr>
          <p:cNvPr id="11" name="Text 9"/>
          <p:cNvSpPr/>
          <p:nvPr/>
        </p:nvSpPr>
        <p:spPr>
          <a:xfrm>
            <a:off x="4693920" y="2133600"/>
            <a:ext cx="3169920" cy="411480"/>
          </a:xfrm>
          <a:prstGeom prst="rect">
            <a:avLst/>
          </a:prstGeom>
          <a:noFill/>
          <a:ln/>
        </p:spPr>
        <p:txBody>
          <a:bodyPr wrap="square" lIns="0" tIns="0" rIns="0" bIns="0" rtlCol="0" anchor="ctr"/>
          <a:lstStyle/>
          <a:p>
            <a:pPr indent="0" marL="0">
              <a:buNone/>
            </a:pPr>
            <a:r>
              <a:rPr lang="en-US" sz="1900" b="1" dirty="0">
                <a:solidFill>
                  <a:srgbClr val="D4943A"/>
                </a:solidFill>
                <a:latin typeface="Cambria" pitchFamily="34" charset="0"/>
                <a:ea typeface="Cambria" pitchFamily="34" charset="-122"/>
                <a:cs typeface="Cambria" pitchFamily="34" charset="-120"/>
              </a:rPr>
              <a:t>Maple Tree</a:t>
            </a:r>
            <a:endParaRPr lang="en-US" sz="1900" dirty="0"/>
          </a:p>
        </p:txBody>
      </p:sp>
      <p:sp>
        <p:nvSpPr>
          <p:cNvPr id="12" name="Text 10"/>
          <p:cNvSpPr/>
          <p:nvPr/>
        </p:nvSpPr>
        <p:spPr>
          <a:xfrm>
            <a:off x="4693920" y="2590800"/>
            <a:ext cx="3169920" cy="1280160"/>
          </a:xfrm>
          <a:prstGeom prst="rect">
            <a:avLst/>
          </a:prstGeom>
          <a:noFill/>
          <a:ln/>
        </p:spPr>
        <p:txBody>
          <a:bodyPr wrap="square" lIns="0" tIns="0" rIns="0" bIns="0" rtlCol="0" anchor="t"/>
          <a:lstStyle/>
          <a:p>
            <a:pPr indent="0" marL="0">
              <a:buNone/>
            </a:pPr>
            <a:r>
              <a:rPr lang="en-US" sz="1500" dirty="0">
                <a:solidFill>
                  <a:srgbClr val="0E1C42"/>
                </a:solidFill>
                <a:latin typeface="Calibri" pitchFamily="34" charset="0"/>
                <a:ea typeface="Calibri" pitchFamily="34" charset="-122"/>
                <a:cs typeface="Calibri" pitchFamily="34" charset="-120"/>
              </a:rPr>
              <a:t>A leafy tree that turns bright red and orange in fall, then drops its leaves before winter.</a:t>
            </a:r>
            <a:endParaRPr lang="en-US" sz="1500" dirty="0"/>
          </a:p>
        </p:txBody>
      </p:sp>
      <p:sp>
        <p:nvSpPr>
          <p:cNvPr id="13" name="Shape 11"/>
          <p:cNvSpPr/>
          <p:nvPr/>
        </p:nvSpPr>
        <p:spPr>
          <a:xfrm>
            <a:off x="4693920" y="4724400"/>
            <a:ext cx="3169920" cy="457200"/>
          </a:xfrm>
          <a:prstGeom prst="roundRect">
            <a:avLst>
              <a:gd name="adj" fmla="val 20000"/>
            </a:avLst>
          </a:prstGeom>
          <a:solidFill>
            <a:srgbClr val="1A2D5A"/>
          </a:solidFill>
          <a:ln/>
        </p:spPr>
      </p:sp>
      <p:sp>
        <p:nvSpPr>
          <p:cNvPr id="14" name="Text 12"/>
          <p:cNvSpPr/>
          <p:nvPr/>
        </p:nvSpPr>
        <p:spPr>
          <a:xfrm>
            <a:off x="4693920" y="4724400"/>
            <a:ext cx="316992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Temperate</a:t>
            </a:r>
            <a:endParaRPr lang="en-US" sz="1400" dirty="0"/>
          </a:p>
        </p:txBody>
      </p:sp>
      <p:sp>
        <p:nvSpPr>
          <p:cNvPr id="15" name="Shape 13"/>
          <p:cNvSpPr/>
          <p:nvPr/>
        </p:nvSpPr>
        <p:spPr>
          <a:xfrm>
            <a:off x="8412480" y="1950720"/>
            <a:ext cx="3535680" cy="3413760"/>
          </a:xfrm>
          <a:prstGeom prst="roundRect">
            <a:avLst>
              <a:gd name="adj" fmla="val 4286"/>
            </a:avLst>
          </a:prstGeom>
          <a:solidFill>
            <a:srgbClr val="E3F8ED"/>
          </a:solidFill>
          <a:ln/>
          <a:effectLst>
            <a:outerShdw sx="100000" sy="100000" kx="0" ky="0" algn="bl" rotWithShape="0" blurRad="50800" dist="25400" dir="8100000">
              <a:srgbClr val="000000">
                <a:alpha val="10000"/>
              </a:srgbClr>
            </a:outerShdw>
          </a:effectLst>
        </p:spPr>
      </p:sp>
      <p:sp>
        <p:nvSpPr>
          <p:cNvPr id="16" name="Text 14"/>
          <p:cNvSpPr/>
          <p:nvPr/>
        </p:nvSpPr>
        <p:spPr>
          <a:xfrm>
            <a:off x="8595360" y="2133600"/>
            <a:ext cx="3169920" cy="411480"/>
          </a:xfrm>
          <a:prstGeom prst="rect">
            <a:avLst/>
          </a:prstGeom>
          <a:noFill/>
          <a:ln/>
        </p:spPr>
        <p:txBody>
          <a:bodyPr wrap="square" lIns="0" tIns="0" rIns="0" bIns="0" rtlCol="0" anchor="ctr"/>
          <a:lstStyle/>
          <a:p>
            <a:pPr indent="0" marL="0">
              <a:buNone/>
            </a:pPr>
            <a:r>
              <a:rPr lang="en-US" sz="1900" b="1" dirty="0">
                <a:solidFill>
                  <a:srgbClr val="34B76F"/>
                </a:solidFill>
                <a:latin typeface="Cambria" pitchFamily="34" charset="0"/>
                <a:ea typeface="Cambria" pitchFamily="34" charset="-122"/>
                <a:cs typeface="Cambria" pitchFamily="34" charset="-120"/>
              </a:rPr>
              <a:t>Banana Plant</a:t>
            </a:r>
            <a:endParaRPr lang="en-US" sz="1900" dirty="0"/>
          </a:p>
        </p:txBody>
      </p:sp>
      <p:sp>
        <p:nvSpPr>
          <p:cNvPr id="17" name="Text 15"/>
          <p:cNvSpPr/>
          <p:nvPr/>
        </p:nvSpPr>
        <p:spPr>
          <a:xfrm>
            <a:off x="8595360" y="2590800"/>
            <a:ext cx="3169920" cy="1280160"/>
          </a:xfrm>
          <a:prstGeom prst="rect">
            <a:avLst/>
          </a:prstGeom>
          <a:noFill/>
          <a:ln/>
        </p:spPr>
        <p:txBody>
          <a:bodyPr wrap="square" lIns="0" tIns="0" rIns="0" bIns="0" rtlCol="0" anchor="t"/>
          <a:lstStyle/>
          <a:p>
            <a:pPr indent="0" marL="0">
              <a:buNone/>
            </a:pPr>
            <a:r>
              <a:rPr lang="en-US" sz="1500" dirty="0">
                <a:solidFill>
                  <a:srgbClr val="0E1C42"/>
                </a:solidFill>
                <a:latin typeface="Calibri" pitchFamily="34" charset="0"/>
                <a:ea typeface="Calibri" pitchFamily="34" charset="-122"/>
                <a:cs typeface="Calibri" pitchFamily="34" charset="-120"/>
              </a:rPr>
              <a:t>A tall plant with huge green leaves that grows fruit. Needs warm weather all year and lots of rain.</a:t>
            </a:r>
            <a:endParaRPr lang="en-US" sz="1500" dirty="0"/>
          </a:p>
        </p:txBody>
      </p:sp>
      <p:sp>
        <p:nvSpPr>
          <p:cNvPr id="18" name="Shape 16"/>
          <p:cNvSpPr/>
          <p:nvPr/>
        </p:nvSpPr>
        <p:spPr>
          <a:xfrm>
            <a:off x="8595360" y="4724400"/>
            <a:ext cx="3169920" cy="457200"/>
          </a:xfrm>
          <a:prstGeom prst="roundRect">
            <a:avLst>
              <a:gd name="adj" fmla="val 20000"/>
            </a:avLst>
          </a:prstGeom>
          <a:solidFill>
            <a:srgbClr val="1A2D5A"/>
          </a:solidFill>
          <a:ln/>
        </p:spPr>
      </p:sp>
      <p:sp>
        <p:nvSpPr>
          <p:cNvPr id="19" name="Text 17"/>
          <p:cNvSpPr/>
          <p:nvPr/>
        </p:nvSpPr>
        <p:spPr>
          <a:xfrm>
            <a:off x="8595360" y="4724400"/>
            <a:ext cx="316992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Tropical</a:t>
            </a:r>
            <a:endParaRPr lang="en-US" sz="1400" dirty="0"/>
          </a:p>
        </p:txBody>
      </p:sp>
      <p:sp>
        <p:nvSpPr>
          <p:cNvPr id="20" name="Text 18"/>
          <p:cNvSpPr/>
          <p:nvPr/>
        </p:nvSpPr>
        <p:spPr>
          <a:xfrm>
            <a:off x="612648" y="5971032"/>
            <a:ext cx="9144000" cy="365760"/>
          </a:xfrm>
          <a:prstGeom prst="rect">
            <a:avLst/>
          </a:prstGeom>
          <a:noFill/>
          <a:ln/>
        </p:spPr>
        <p:txBody>
          <a:bodyPr wrap="square" lIns="0" tIns="0" rIns="0" bIns="0" rtlCol="0" anchor="ctr"/>
          <a:lstStyle/>
          <a:p>
            <a:pPr indent="0" marL="0">
              <a:buNone/>
            </a:pPr>
            <a:r>
              <a:rPr lang="en-US" sz="1400" i="1" dirty="0">
                <a:solidFill>
                  <a:srgbClr val="7A88A8"/>
                </a:solidFill>
                <a:latin typeface="Calibri" pitchFamily="34" charset="0"/>
                <a:ea typeface="Calibri" pitchFamily="34" charset="-122"/>
                <a:cs typeface="Calibri" pitchFamily="34" charset="-120"/>
              </a:rPr>
              <a:t>Ask students to match each plant BEFORE revealing the zone label.</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609600" y="365760"/>
            <a:ext cx="7315200" cy="320040"/>
          </a:xfrm>
          <a:prstGeom prst="rect">
            <a:avLst/>
          </a:prstGeom>
          <a:noFill/>
          <a:ln/>
        </p:spPr>
        <p:txBody>
          <a:bodyPr wrap="square" lIns="0" tIns="0" rIns="0" bIns="0" rtlCol="0" anchor="ctr"/>
          <a:lstStyle/>
          <a:p>
            <a:pPr indent="0" marL="0">
              <a:buNone/>
            </a:pPr>
            <a:r>
              <a:rPr lang="en-US" sz="1100" b="1" spc="200" kern="0" dirty="0">
                <a:solidFill>
                  <a:srgbClr val="55C8E8"/>
                </a:solidFill>
                <a:latin typeface="Calibri" pitchFamily="34" charset="0"/>
                <a:ea typeface="Calibri" pitchFamily="34" charset="-122"/>
                <a:cs typeface="Calibri" pitchFamily="34" charset="-120"/>
              </a:rPr>
              <a:t>EXPLORE — DISCOVERY FACT</a:t>
            </a:r>
            <a:endParaRPr lang="en-US" sz="1100" dirty="0"/>
          </a:p>
        </p:txBody>
      </p:sp>
      <p:sp>
        <p:nvSpPr>
          <p:cNvPr id="4" name="Text 2"/>
          <p:cNvSpPr/>
          <p:nvPr/>
        </p:nvSpPr>
        <p:spPr>
          <a:xfrm>
            <a:off x="612648" y="731520"/>
            <a:ext cx="9144000" cy="731520"/>
          </a:xfrm>
          <a:prstGeom prst="rect">
            <a:avLst/>
          </a:prstGeom>
          <a:noFill/>
          <a:ln/>
        </p:spPr>
        <p:txBody>
          <a:bodyPr wrap="square" lIns="0" tIns="0" rIns="0" bIns="0" rtlCol="0" anchor="ctr"/>
          <a:lstStyle/>
          <a:p>
            <a:pPr indent="0" marL="0">
              <a:buNone/>
            </a:pPr>
            <a:r>
              <a:rPr lang="en-US" sz="3600" b="1" dirty="0">
                <a:solidFill>
                  <a:srgbClr val="0E1C42"/>
                </a:solidFill>
                <a:latin typeface="Cambria" pitchFamily="34" charset="0"/>
                <a:ea typeface="Cambria" pitchFamily="34" charset="-122"/>
                <a:cs typeface="Cambria" pitchFamily="34" charset="-120"/>
              </a:rPr>
              <a:t>A Cactus That Lives 150 Years</a:t>
            </a:r>
            <a:endParaRPr lang="en-US" sz="3600" dirty="0"/>
          </a:p>
        </p:txBody>
      </p:sp>
      <p:sp>
        <p:nvSpPr>
          <p:cNvPr id="5" name="Shape 3"/>
          <p:cNvSpPr/>
          <p:nvPr/>
        </p:nvSpPr>
        <p:spPr>
          <a:xfrm>
            <a:off x="609600" y="1828800"/>
            <a:ext cx="6705600" cy="2438400"/>
          </a:xfrm>
          <a:prstGeom prst="roundRect">
            <a:avLst>
              <a:gd name="adj" fmla="val 6000"/>
            </a:avLst>
          </a:prstGeom>
          <a:solidFill>
            <a:srgbClr val="EAF8FD"/>
          </a:solidFill>
          <a:ln/>
          <a:effectLst>
            <a:outerShdw sx="100000" sy="100000" kx="0" ky="0" algn="bl" rotWithShape="0" blurRad="76200" dist="25400" dir="8100000">
              <a:srgbClr val="000000">
                <a:alpha val="12000"/>
              </a:srgbClr>
            </a:outerShdw>
          </a:effectLst>
        </p:spPr>
      </p:sp>
      <p:sp>
        <p:nvSpPr>
          <p:cNvPr id="6" name="Text 4"/>
          <p:cNvSpPr/>
          <p:nvPr/>
        </p:nvSpPr>
        <p:spPr>
          <a:xfrm>
            <a:off x="850392" y="1947672"/>
            <a:ext cx="3657600" cy="320040"/>
          </a:xfrm>
          <a:prstGeom prst="rect">
            <a:avLst/>
          </a:prstGeom>
          <a:noFill/>
          <a:ln/>
        </p:spPr>
        <p:txBody>
          <a:bodyPr wrap="square" lIns="0" tIns="0" rIns="0" bIns="0" rtlCol="0" anchor="ctr"/>
          <a:lstStyle/>
          <a:p>
            <a:pPr indent="0" marL="0">
              <a:buNone/>
            </a:pPr>
            <a:r>
              <a:rPr lang="en-US" sz="1200" b="1" spc="200" kern="0" dirty="0">
                <a:solidFill>
                  <a:srgbClr val="1A8A7D"/>
                </a:solidFill>
                <a:latin typeface="Calibri" pitchFamily="34" charset="0"/>
                <a:ea typeface="Calibri" pitchFamily="34" charset="-122"/>
                <a:cs typeface="Calibri" pitchFamily="34" charset="-120"/>
              </a:rPr>
              <a:t>Discovery Fact</a:t>
            </a:r>
            <a:endParaRPr lang="en-US" sz="1200" dirty="0"/>
          </a:p>
        </p:txBody>
      </p:sp>
      <p:sp>
        <p:nvSpPr>
          <p:cNvPr id="7" name="Text 5"/>
          <p:cNvSpPr/>
          <p:nvPr/>
        </p:nvSpPr>
        <p:spPr>
          <a:xfrm>
            <a:off x="850392" y="2377440"/>
            <a:ext cx="5852160" cy="1581912"/>
          </a:xfrm>
          <a:prstGeom prst="rect">
            <a:avLst/>
          </a:prstGeom>
          <a:noFill/>
          <a:ln/>
        </p:spPr>
        <p:txBody>
          <a:bodyPr wrap="square" lIns="0" tIns="0" rIns="0" bIns="0" rtlCol="0" anchor="t"/>
          <a:lstStyle/>
          <a:p>
            <a:pPr indent="0" marL="0">
              <a:buNone/>
            </a:pPr>
            <a:r>
              <a:rPr lang="en-US" sz="1700" dirty="0">
                <a:solidFill>
                  <a:srgbClr val="0E1C42"/>
                </a:solidFill>
                <a:latin typeface="Calibri" pitchFamily="34" charset="0"/>
                <a:ea typeface="Calibri" pitchFamily="34" charset="-122"/>
                <a:cs typeface="Calibri" pitchFamily="34" charset="-120"/>
              </a:rPr>
              <a:t>The giant saguaro cactus can live for more than 150 years and grow over 40 feet tall — but only in the Sonoran Desert in Arizona and northern Mexico. It can't survive a hard freeze, so it stays where winters are mild.</a:t>
            </a:r>
            <a:endParaRPr lang="en-US" sz="1700" dirty="0"/>
          </a:p>
        </p:txBody>
      </p:sp>
      <p:sp>
        <p:nvSpPr>
          <p:cNvPr id="8" name="Shape 6"/>
          <p:cNvSpPr/>
          <p:nvPr/>
        </p:nvSpPr>
        <p:spPr>
          <a:xfrm>
            <a:off x="609600" y="4511040"/>
            <a:ext cx="6705600" cy="2804160"/>
          </a:xfrm>
          <a:prstGeom prst="roundRect">
            <a:avLst>
              <a:gd name="adj" fmla="val 5217"/>
            </a:avLst>
          </a:prstGeom>
          <a:solidFill>
            <a:srgbClr val="FFF8F0"/>
          </a:solidFill>
          <a:ln/>
          <a:effectLst>
            <a:outerShdw sx="100000" sy="100000" kx="0" ky="0" algn="bl" rotWithShape="0" blurRad="76200" dist="25400" dir="8100000">
              <a:srgbClr val="000000">
                <a:alpha val="12000"/>
              </a:srgbClr>
            </a:outerShdw>
          </a:effectLst>
        </p:spPr>
      </p:sp>
      <p:sp>
        <p:nvSpPr>
          <p:cNvPr id="9" name="Text 7"/>
          <p:cNvSpPr/>
          <p:nvPr/>
        </p:nvSpPr>
        <p:spPr>
          <a:xfrm>
            <a:off x="850392" y="4636008"/>
            <a:ext cx="3657600" cy="320040"/>
          </a:xfrm>
          <a:prstGeom prst="rect">
            <a:avLst/>
          </a:prstGeom>
          <a:noFill/>
          <a:ln/>
        </p:spPr>
        <p:txBody>
          <a:bodyPr wrap="square" lIns="0" tIns="0" rIns="0" bIns="0" rtlCol="0" anchor="ctr"/>
          <a:lstStyle/>
          <a:p>
            <a:pPr indent="0" marL="0">
              <a:buNone/>
            </a:pPr>
            <a:r>
              <a:rPr lang="en-US" sz="1200" b="1" spc="200" kern="0" dirty="0">
                <a:solidFill>
                  <a:srgbClr val="D4943A"/>
                </a:solidFill>
                <a:latin typeface="Calibri" pitchFamily="34" charset="0"/>
                <a:ea typeface="Calibri" pitchFamily="34" charset="-122"/>
                <a:cs typeface="Calibri" pitchFamily="34" charset="-120"/>
              </a:rPr>
              <a:t>Then and Now</a:t>
            </a:r>
            <a:endParaRPr lang="en-US" sz="1200" dirty="0"/>
          </a:p>
        </p:txBody>
      </p:sp>
      <p:sp>
        <p:nvSpPr>
          <p:cNvPr id="10" name="Text 8"/>
          <p:cNvSpPr/>
          <p:nvPr/>
        </p:nvSpPr>
        <p:spPr>
          <a:xfrm>
            <a:off x="850392" y="5056632"/>
            <a:ext cx="5852160" cy="1947672"/>
          </a:xfrm>
          <a:prstGeom prst="rect">
            <a:avLst/>
          </a:prstGeom>
          <a:noFill/>
          <a:ln/>
        </p:spPr>
        <p:txBody>
          <a:bodyPr wrap="square" lIns="0" tIns="0" rIns="0" bIns="0" rtlCol="0" anchor="t"/>
          <a:lstStyle/>
          <a:p>
            <a:pPr indent="0" marL="0">
              <a:buNone/>
            </a:pPr>
            <a:r>
              <a:rPr lang="en-US" sz="1600" dirty="0">
                <a:solidFill>
                  <a:srgbClr val="0E1C42"/>
                </a:solidFill>
                <a:latin typeface="Calibri" pitchFamily="34" charset="0"/>
                <a:ea typeface="Calibri" pitchFamily="34" charset="-122"/>
                <a:cs typeface="Calibri" pitchFamily="34" charset="-120"/>
              </a:rPr>
              <a:t>Long before there were countries or borders, people who lived in each climate zone learned to use the plants and animals around them — pine bark for boats in the boreal forest, agave for food in the desert, palm fronds for roofs in the Caribbean. Today, much of that knowledge is still used.</a:t>
            </a:r>
            <a:endParaRPr lang="en-US" sz="1600" dirty="0"/>
          </a:p>
        </p:txBody>
      </p:sp>
      <p:sp>
        <p:nvSpPr>
          <p:cNvPr id="11" name="Shape 9"/>
          <p:cNvSpPr/>
          <p:nvPr/>
        </p:nvSpPr>
        <p:spPr>
          <a:xfrm>
            <a:off x="8046720" y="1828800"/>
            <a:ext cx="3901440" cy="5486400"/>
          </a:xfrm>
          <a:prstGeom prst="roundRect">
            <a:avLst>
              <a:gd name="adj" fmla="val 3750"/>
            </a:avLst>
          </a:prstGeom>
          <a:solidFill>
            <a:srgbClr val="E2E8F4"/>
          </a:solidFill>
          <a:ln w="19050">
            <a:solidFill>
              <a:srgbClr val="B0B8CC"/>
            </a:solidFill>
            <a:prstDash val="dash"/>
          </a:ln>
        </p:spPr>
      </p:sp>
      <p:sp>
        <p:nvSpPr>
          <p:cNvPr id="12" name="Text 10"/>
          <p:cNvSpPr/>
          <p:nvPr/>
        </p:nvSpPr>
        <p:spPr>
          <a:xfrm>
            <a:off x="8046720" y="1828800"/>
            <a:ext cx="3901440" cy="365760"/>
          </a:xfrm>
          <a:prstGeom prst="rect">
            <a:avLst/>
          </a:prstGeom>
          <a:noFill/>
          <a:ln/>
        </p:spPr>
        <p:txBody>
          <a:bodyPr wrap="square" lIns="0" tIns="0" rIns="0" bIns="0" rtlCol="0" anchor="ctr"/>
          <a:lstStyle/>
          <a:p>
            <a:pPr algn="ctr" indent="0" marL="0">
              <a:buNone/>
            </a:pPr>
            <a:r>
              <a:rPr lang="en-US" sz="1200" b="1" spc="150" kern="0" dirty="0">
                <a:solidFill>
                  <a:srgbClr val="7A88A8"/>
                </a:solidFill>
                <a:latin typeface="Calibri" pitchFamily="34" charset="0"/>
                <a:ea typeface="Calibri" pitchFamily="34" charset="-122"/>
                <a:cs typeface="Calibri" pitchFamily="34" charset="-120"/>
              </a:rPr>
              <a:t>INSERT IMAGE</a:t>
            </a:r>
            <a:endParaRPr lang="en-US" sz="1200" dirty="0"/>
          </a:p>
        </p:txBody>
      </p:sp>
      <p:sp>
        <p:nvSpPr>
          <p:cNvPr id="13" name="Text 11"/>
          <p:cNvSpPr/>
          <p:nvPr/>
        </p:nvSpPr>
        <p:spPr>
          <a:xfrm>
            <a:off x="8229600" y="2194560"/>
            <a:ext cx="3535680" cy="5001768"/>
          </a:xfrm>
          <a:prstGeom prst="rect">
            <a:avLst/>
          </a:prstGeom>
          <a:noFill/>
          <a:ln/>
        </p:spPr>
        <p:txBody>
          <a:bodyPr wrap="square" rtlCol="0" anchor="ctr"/>
          <a:lstStyle/>
          <a:p>
            <a:pPr algn="ctr" indent="0" marL="0">
              <a:buNone/>
            </a:pPr>
            <a:r>
              <a:rPr lang="en-US" sz="1400" i="1" dirty="0">
                <a:solidFill>
                  <a:srgbClr val="7A88A8"/>
                </a:solidFill>
                <a:latin typeface="Calibri" pitchFamily="34" charset="0"/>
                <a:ea typeface="Calibri" pitchFamily="34" charset="-122"/>
                <a:cs typeface="Calibri" pitchFamily="34" charset="-120"/>
              </a:rPr>
              <a:t>Photo of a giant saguaro cactus in the Sonoran Desert, towering against a sunset sky — showing its massive size and distinctive arms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609600" y="365760"/>
            <a:ext cx="7315200" cy="320040"/>
          </a:xfrm>
          <a:prstGeom prst="rect">
            <a:avLst/>
          </a:prstGeom>
          <a:noFill/>
          <a:ln/>
        </p:spPr>
        <p:txBody>
          <a:bodyPr wrap="square" lIns="0" tIns="0" rIns="0" bIns="0" rtlCol="0" anchor="ctr"/>
          <a:lstStyle/>
          <a:p>
            <a:pPr indent="0" marL="0">
              <a:buNone/>
            </a:pPr>
            <a:r>
              <a:rPr lang="en-US" sz="1100" b="1" spc="200" kern="0" dirty="0">
                <a:solidFill>
                  <a:srgbClr val="55C8E8"/>
                </a:solidFill>
                <a:latin typeface="Calibri" pitchFamily="34" charset="0"/>
                <a:ea typeface="Calibri" pitchFamily="34" charset="-122"/>
                <a:cs typeface="Calibri" pitchFamily="34" charset="-120"/>
              </a:rPr>
              <a:t>WHY IT MATTERS</a:t>
            </a:r>
            <a:endParaRPr lang="en-US" sz="1100" dirty="0"/>
          </a:p>
        </p:txBody>
      </p:sp>
      <p:sp>
        <p:nvSpPr>
          <p:cNvPr id="4" name="Text 2"/>
          <p:cNvSpPr/>
          <p:nvPr/>
        </p:nvSpPr>
        <p:spPr>
          <a:xfrm>
            <a:off x="612648" y="731520"/>
            <a:ext cx="9144000" cy="731520"/>
          </a:xfrm>
          <a:prstGeom prst="rect">
            <a:avLst/>
          </a:prstGeom>
          <a:noFill/>
          <a:ln/>
        </p:spPr>
        <p:txBody>
          <a:bodyPr wrap="square" lIns="0" tIns="0" rIns="0" bIns="0" rtlCol="0" anchor="ctr"/>
          <a:lstStyle/>
          <a:p>
            <a:pPr indent="0" marL="0">
              <a:buNone/>
            </a:pPr>
            <a:r>
              <a:rPr lang="en-US" sz="4000" b="1" dirty="0">
                <a:solidFill>
                  <a:srgbClr val="0E1C42"/>
                </a:solidFill>
                <a:latin typeface="Cambria" pitchFamily="34" charset="0"/>
                <a:ea typeface="Cambria" pitchFamily="34" charset="-122"/>
                <a:cs typeface="Cambria" pitchFamily="34" charset="-120"/>
              </a:rPr>
              <a:t>Climate Shapes the Land</a:t>
            </a:r>
            <a:endParaRPr lang="en-US" sz="4000" dirty="0"/>
          </a:p>
        </p:txBody>
      </p:sp>
      <p:sp>
        <p:nvSpPr>
          <p:cNvPr id="5" name="Shape 3"/>
          <p:cNvSpPr/>
          <p:nvPr/>
        </p:nvSpPr>
        <p:spPr>
          <a:xfrm>
            <a:off x="609600" y="1828800"/>
            <a:ext cx="10972800" cy="2194560"/>
          </a:xfrm>
          <a:prstGeom prst="roundRect">
            <a:avLst>
              <a:gd name="adj" fmla="val 6667"/>
            </a:avLst>
          </a:prstGeom>
          <a:solidFill>
            <a:srgbClr val="FFF3DC"/>
          </a:solidFill>
          <a:ln/>
          <a:effectLst>
            <a:outerShdw sx="100000" sy="100000" kx="0" ky="0" algn="bl" rotWithShape="0" blurRad="76200" dist="25400" dir="8100000">
              <a:srgbClr val="000000">
                <a:alpha val="12000"/>
              </a:srgbClr>
            </a:outerShdw>
          </a:effectLst>
        </p:spPr>
      </p:sp>
      <p:sp>
        <p:nvSpPr>
          <p:cNvPr id="6" name="Text 4"/>
          <p:cNvSpPr/>
          <p:nvPr/>
        </p:nvSpPr>
        <p:spPr>
          <a:xfrm>
            <a:off x="850392" y="1947672"/>
            <a:ext cx="3657600" cy="320040"/>
          </a:xfrm>
          <a:prstGeom prst="rect">
            <a:avLst/>
          </a:prstGeom>
          <a:noFill/>
          <a:ln/>
        </p:spPr>
        <p:txBody>
          <a:bodyPr wrap="square" lIns="0" tIns="0" rIns="0" bIns="0" rtlCol="0" anchor="ctr"/>
          <a:lstStyle/>
          <a:p>
            <a:pPr indent="0" marL="0">
              <a:buNone/>
            </a:pPr>
            <a:r>
              <a:rPr lang="en-US" sz="1200" b="1" spc="200" kern="0" dirty="0">
                <a:solidFill>
                  <a:srgbClr val="D4943A"/>
                </a:solidFill>
                <a:latin typeface="Calibri" pitchFamily="34" charset="0"/>
                <a:ea typeface="Calibri" pitchFamily="34" charset="-122"/>
                <a:cs typeface="Calibri" pitchFamily="34" charset="-120"/>
              </a:rPr>
              <a:t>EXHIBIT LABEL</a:t>
            </a:r>
            <a:endParaRPr lang="en-US" sz="1200" dirty="0"/>
          </a:p>
        </p:txBody>
      </p:sp>
      <p:sp>
        <p:nvSpPr>
          <p:cNvPr id="7" name="Text 5"/>
          <p:cNvSpPr/>
          <p:nvPr/>
        </p:nvSpPr>
        <p:spPr>
          <a:xfrm>
            <a:off x="850392" y="2377440"/>
            <a:ext cx="10122408" cy="1216152"/>
          </a:xfrm>
          <a:prstGeom prst="rect">
            <a:avLst/>
          </a:prstGeom>
          <a:noFill/>
          <a:ln/>
        </p:spPr>
        <p:txBody>
          <a:bodyPr wrap="square" lIns="0" tIns="0" rIns="0" bIns="0" rtlCol="0" anchor="t"/>
          <a:lstStyle/>
          <a:p>
            <a:pPr indent="0" marL="0">
              <a:buNone/>
            </a:pPr>
            <a:r>
              <a:rPr lang="en-US" sz="1800" dirty="0">
                <a:solidFill>
                  <a:srgbClr val="0E1C42"/>
                </a:solidFill>
                <a:latin typeface="Calibri" pitchFamily="34" charset="0"/>
                <a:ea typeface="Calibri" pitchFamily="34" charset="-122"/>
                <a:cs typeface="Calibri" pitchFamily="34" charset="-120"/>
              </a:rPr>
              <a:t>North America and the Caribbean holds five different climate zones — from the icy Arctic Tundra in the far north to the warm Tropical zone in the south. Each climate grows different plants. Climate is one of the biggest reasons one part of the region looks so different from another.</a:t>
            </a:r>
            <a:endParaRPr lang="en-US" sz="1800" dirty="0"/>
          </a:p>
        </p:txBody>
      </p:sp>
      <p:sp>
        <p:nvSpPr>
          <p:cNvPr id="8" name="Shape 6"/>
          <p:cNvSpPr/>
          <p:nvPr/>
        </p:nvSpPr>
        <p:spPr>
          <a:xfrm>
            <a:off x="609600" y="4389120"/>
            <a:ext cx="10972800" cy="1828800"/>
          </a:xfrm>
          <a:prstGeom prst="roundRect">
            <a:avLst>
              <a:gd name="adj" fmla="val 8000"/>
            </a:avLst>
          </a:prstGeom>
          <a:solidFill>
            <a:srgbClr val="F0E8FF"/>
          </a:solidFill>
          <a:ln/>
          <a:effectLst>
            <a:outerShdw sx="100000" sy="100000" kx="0" ky="0" algn="bl" rotWithShape="0" blurRad="76200" dist="25400" dir="8100000">
              <a:srgbClr val="000000">
                <a:alpha val="12000"/>
              </a:srgbClr>
            </a:outerShdw>
          </a:effectLst>
        </p:spPr>
      </p:sp>
      <p:sp>
        <p:nvSpPr>
          <p:cNvPr id="9" name="Text 7"/>
          <p:cNvSpPr/>
          <p:nvPr/>
        </p:nvSpPr>
        <p:spPr>
          <a:xfrm>
            <a:off x="850392" y="4507992"/>
            <a:ext cx="3657600" cy="320040"/>
          </a:xfrm>
          <a:prstGeom prst="rect">
            <a:avLst/>
          </a:prstGeom>
          <a:noFill/>
          <a:ln/>
        </p:spPr>
        <p:txBody>
          <a:bodyPr wrap="square" lIns="0" tIns="0" rIns="0" bIns="0" rtlCol="0" anchor="ctr"/>
          <a:lstStyle/>
          <a:p>
            <a:pPr indent="0" marL="0">
              <a:buNone/>
            </a:pPr>
            <a:r>
              <a:rPr lang="en-US" sz="1200" b="1" spc="200" kern="0" dirty="0">
                <a:solidFill>
                  <a:srgbClr val="8B6FC0"/>
                </a:solidFill>
                <a:latin typeface="Calibri" pitchFamily="34" charset="0"/>
                <a:ea typeface="Calibri" pitchFamily="34" charset="-122"/>
                <a:cs typeface="Calibri" pitchFamily="34" charset="-120"/>
              </a:rPr>
              <a:t>Opti Says...</a:t>
            </a:r>
            <a:endParaRPr lang="en-US" sz="1200" dirty="0"/>
          </a:p>
        </p:txBody>
      </p:sp>
      <p:sp>
        <p:nvSpPr>
          <p:cNvPr id="10" name="Text 8"/>
          <p:cNvSpPr/>
          <p:nvPr/>
        </p:nvSpPr>
        <p:spPr>
          <a:xfrm>
            <a:off x="850392" y="4937760"/>
            <a:ext cx="10122408" cy="1216152"/>
          </a:xfrm>
          <a:prstGeom prst="rect">
            <a:avLst/>
          </a:prstGeom>
          <a:noFill/>
          <a:ln/>
        </p:spPr>
        <p:txBody>
          <a:bodyPr wrap="square" lIns="0" tIns="0" rIns="0" bIns="0" rtlCol="0" anchor="t"/>
          <a:lstStyle/>
          <a:p>
            <a:pPr indent="0" marL="0">
              <a:buNone/>
            </a:pPr>
            <a:r>
              <a:rPr lang="en-US" sz="1700" i="1" dirty="0">
                <a:solidFill>
                  <a:srgbClr val="8B6FC0"/>
                </a:solidFill>
                <a:latin typeface="Cambria" pitchFamily="34" charset="0"/>
                <a:ea typeface="Cambria" pitchFamily="34" charset="-122"/>
                <a:cs typeface="Cambria" pitchFamily="34" charset="-120"/>
              </a:rPr>
              <a:t>Here's the curator's secret: if you tell me what plants grow in a place, I can usually guess the climate without ever seeing a thermometer. Saguaro cactus? Desert. Palm tree? Tropical. Spruce? Boreal. Plants are excellent map-readers.</a:t>
            </a:r>
            <a:endParaRPr lang="en-US" sz="1700" dirty="0"/>
          </a:p>
        </p:txBody>
      </p:sp>
      <p:sp>
        <p:nvSpPr>
          <p:cNvPr id="11" name="Shape 9"/>
          <p:cNvSpPr/>
          <p:nvPr/>
        </p:nvSpPr>
        <p:spPr>
          <a:xfrm>
            <a:off x="609600" y="4815840"/>
            <a:ext cx="10972800" cy="2438400"/>
          </a:xfrm>
          <a:prstGeom prst="roundRect">
            <a:avLst>
              <a:gd name="adj" fmla="val 7500"/>
            </a:avLst>
          </a:prstGeom>
          <a:solidFill>
            <a:srgbClr val="1A2D5A"/>
          </a:solidFill>
          <a:ln/>
          <a:effectLst>
            <a:outerShdw sx="100000" sy="100000" kx="0" ky="0" algn="bl" rotWithShape="0" blurRad="101600" dist="38100" dir="8100000">
              <a:srgbClr val="000000">
                <a:alpha val="20000"/>
              </a:srgbClr>
            </a:outerShdw>
          </a:effectLst>
        </p:spPr>
      </p:sp>
      <p:sp>
        <p:nvSpPr>
          <p:cNvPr id="12" name="Text 10"/>
          <p:cNvSpPr/>
          <p:nvPr/>
        </p:nvSpPr>
        <p:spPr>
          <a:xfrm>
            <a:off x="856488" y="4934712"/>
            <a:ext cx="10488168" cy="338328"/>
          </a:xfrm>
          <a:prstGeom prst="rect">
            <a:avLst/>
          </a:prstGeom>
          <a:noFill/>
          <a:ln/>
        </p:spPr>
        <p:txBody>
          <a:bodyPr wrap="square" lIns="0" tIns="0" rIns="0" bIns="0" rtlCol="0" anchor="ctr"/>
          <a:lstStyle/>
          <a:p>
            <a:pPr indent="0" marL="0">
              <a:buNone/>
            </a:pPr>
            <a:r>
              <a:rPr lang="en-US" sz="1200" b="1" spc="150" kern="0" dirty="0">
                <a:solidFill>
                  <a:srgbClr val="55C8E8"/>
                </a:solidFill>
                <a:latin typeface="Calibri" pitchFamily="34" charset="0"/>
                <a:ea typeface="Calibri" pitchFamily="34" charset="-122"/>
                <a:cs typeface="Calibri" pitchFamily="34" charset="-120"/>
              </a:rPr>
              <a:t>SOCRATIC QUESTIONS</a:t>
            </a:r>
            <a:endParaRPr lang="en-US" sz="1200" dirty="0"/>
          </a:p>
        </p:txBody>
      </p:sp>
      <p:sp>
        <p:nvSpPr>
          <p:cNvPr id="13" name="Text 11"/>
          <p:cNvSpPr/>
          <p:nvPr/>
        </p:nvSpPr>
        <p:spPr>
          <a:xfrm>
            <a:off x="856488" y="5282184"/>
            <a:ext cx="10488168" cy="1853184"/>
          </a:xfrm>
          <a:prstGeom prst="rect">
            <a:avLst/>
          </a:prstGeom>
          <a:noFill/>
          <a:ln/>
        </p:spPr>
        <p:txBody>
          <a:bodyPr wrap="square" lIns="0" tIns="0" rIns="0" bIns="0" rtlCol="0" anchor="t"/>
          <a:lstStyle/>
          <a:p>
            <a:pPr marL="342900" indent="-342900">
              <a:spcAft>
                <a:spcPts val="500"/>
              </a:spcAft>
              <a:buSzPct val="100000"/>
              <a:buChar char="•"/>
            </a:pPr>
            <a:r>
              <a:rPr lang="en-US" sz="1400" i="1" dirty="0">
                <a:solidFill>
                  <a:srgbClr val="FFFFFF"/>
                </a:solidFill>
                <a:latin typeface="Calibri" pitchFamily="34" charset="0"/>
                <a:ea typeface="Calibri" pitchFamily="34" charset="-122"/>
                <a:cs typeface="Calibri" pitchFamily="34" charset="-120"/>
              </a:rPr>
              <a:t>If I told you a place has palm trees and heavy rain, what climate zone would you guess?</a:t>
            </a:r>
            <a:endParaRPr lang="en-US" sz="1400" dirty="0"/>
          </a:p>
          <a:p>
            <a:pPr marL="342900" indent="-342900">
              <a:spcAft>
                <a:spcPts val="500"/>
              </a:spcAft>
              <a:buSzPct val="100000"/>
              <a:buChar char="•"/>
            </a:pPr>
            <a:r>
              <a:rPr lang="en-US" sz="1400" i="1" dirty="0">
                <a:solidFill>
                  <a:srgbClr val="FFFFFF"/>
                </a:solidFill>
                <a:latin typeface="Calibri" pitchFamily="34" charset="0"/>
                <a:ea typeface="Calibri" pitchFamily="34" charset="-122"/>
                <a:cs typeface="Calibri" pitchFamily="34" charset="-120"/>
              </a:rPr>
              <a:t>Can you think of a plant near your home? What does it tell you about your climate?</a:t>
            </a:r>
            <a:endParaRPr lang="en-US" sz="1400" dirty="0"/>
          </a:p>
          <a:p>
            <a:pPr marL="342900" indent="-342900">
              <a:spcAft>
                <a:spcPts val="500"/>
              </a:spcAft>
              <a:buSzPct val="100000"/>
              <a:buChar char="•"/>
            </a:pPr>
            <a:r>
              <a:rPr lang="en-US" sz="1400" i="1" dirty="0">
                <a:solidFill>
                  <a:srgbClr val="FFFFFF"/>
                </a:solidFill>
                <a:latin typeface="Calibri" pitchFamily="34" charset="0"/>
                <a:ea typeface="Calibri" pitchFamily="34" charset="-122"/>
                <a:cs typeface="Calibri" pitchFamily="34" charset="-120"/>
              </a:rPr>
              <a:t>Why does climate matter so much for plants and animals?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E1C42"/>
          </a:solidFill>
          <a:ln/>
        </p:spPr>
      </p:sp>
      <p:sp>
        <p:nvSpPr>
          <p:cNvPr id="3" name="Text 1"/>
          <p:cNvSpPr/>
          <p:nvPr/>
        </p:nvSpPr>
        <p:spPr>
          <a:xfrm>
            <a:off x="609600" y="487680"/>
            <a:ext cx="7315200" cy="320040"/>
          </a:xfrm>
          <a:prstGeom prst="rect">
            <a:avLst/>
          </a:prstGeom>
          <a:noFill/>
          <a:ln/>
        </p:spPr>
        <p:txBody>
          <a:bodyPr wrap="square" lIns="0" tIns="0" rIns="0" bIns="0" rtlCol="0" anchor="ctr"/>
          <a:lstStyle/>
          <a:p>
            <a:pPr indent="0" marL="0">
              <a:buNone/>
            </a:pPr>
            <a:r>
              <a:rPr lang="en-US" sz="1100" b="1" spc="200" kern="0" dirty="0">
                <a:solidFill>
                  <a:srgbClr val="55C8E8"/>
                </a:solidFill>
                <a:latin typeface="Calibri" pitchFamily="34" charset="0"/>
                <a:ea typeface="Calibri" pitchFamily="34" charset="-122"/>
                <a:cs typeface="Calibri" pitchFamily="34" charset="-120"/>
              </a:rPr>
              <a:t>PAUSE AND THINK</a:t>
            </a:r>
            <a:endParaRPr lang="en-US" sz="1100" dirty="0"/>
          </a:p>
        </p:txBody>
      </p:sp>
      <p:sp>
        <p:nvSpPr>
          <p:cNvPr id="4" name="Text 2"/>
          <p:cNvSpPr/>
          <p:nvPr/>
        </p:nvSpPr>
        <p:spPr>
          <a:xfrm>
            <a:off x="612648" y="1097280"/>
            <a:ext cx="914400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Sort, Compare, Explain</a:t>
            </a:r>
            <a:endParaRPr lang="en-US" sz="4000" dirty="0"/>
          </a:p>
        </p:txBody>
      </p:sp>
      <p:sp>
        <p:nvSpPr>
          <p:cNvPr id="5" name="Shape 3"/>
          <p:cNvSpPr/>
          <p:nvPr/>
        </p:nvSpPr>
        <p:spPr>
          <a:xfrm>
            <a:off x="612648" y="2682240"/>
            <a:ext cx="4873752" cy="978408"/>
          </a:xfrm>
          <a:prstGeom prst="roundRect">
            <a:avLst>
              <a:gd name="adj" fmla="val 12150"/>
            </a:avLst>
          </a:prstGeom>
          <a:solidFill>
            <a:srgbClr val="1A2D5A"/>
          </a:solidFill>
          <a:ln/>
        </p:spPr>
      </p:sp>
      <p:sp>
        <p:nvSpPr>
          <p:cNvPr id="6" name="Text 4"/>
          <p:cNvSpPr/>
          <p:nvPr/>
        </p:nvSpPr>
        <p:spPr>
          <a:xfrm>
            <a:off x="850392" y="2746248"/>
            <a:ext cx="1463040" cy="978408"/>
          </a:xfrm>
          <a:prstGeom prst="rect">
            <a:avLst/>
          </a:prstGeom>
          <a:noFill/>
          <a:ln/>
        </p:spPr>
        <p:txBody>
          <a:bodyPr wrap="square" lIns="0" tIns="0" rIns="0" bIns="0" rtlCol="0" anchor="ctr"/>
          <a:lstStyle/>
          <a:p>
            <a:pPr indent="0" marL="0">
              <a:buNone/>
            </a:pPr>
            <a:r>
              <a:rPr lang="en-US" sz="1600" b="1" spc="200" kern="0" dirty="0">
                <a:solidFill>
                  <a:srgbClr val="55C8E8"/>
                </a:solidFill>
                <a:latin typeface="Calibri" pitchFamily="34" charset="0"/>
                <a:ea typeface="Calibri" pitchFamily="34" charset="-122"/>
                <a:cs typeface="Calibri" pitchFamily="34" charset="-120"/>
              </a:rPr>
              <a:t>SORT</a:t>
            </a:r>
            <a:endParaRPr lang="en-US" sz="1600" dirty="0"/>
          </a:p>
        </p:txBody>
      </p:sp>
      <p:sp>
        <p:nvSpPr>
          <p:cNvPr id="7" name="Text 5"/>
          <p:cNvSpPr/>
          <p:nvPr/>
        </p:nvSpPr>
        <p:spPr>
          <a:xfrm>
            <a:off x="2313432" y="2746248"/>
            <a:ext cx="3044952" cy="97840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You sorted six plants into five climate zones.</a:t>
            </a:r>
            <a:endParaRPr lang="en-US" sz="1600" dirty="0"/>
          </a:p>
        </p:txBody>
      </p:sp>
      <p:sp>
        <p:nvSpPr>
          <p:cNvPr id="8" name="Shape 6"/>
          <p:cNvSpPr/>
          <p:nvPr/>
        </p:nvSpPr>
        <p:spPr>
          <a:xfrm>
            <a:off x="612648" y="4267200"/>
            <a:ext cx="4873752" cy="978408"/>
          </a:xfrm>
          <a:prstGeom prst="roundRect">
            <a:avLst>
              <a:gd name="adj" fmla="val 12150"/>
            </a:avLst>
          </a:prstGeom>
          <a:solidFill>
            <a:srgbClr val="1A2D5A"/>
          </a:solidFill>
          <a:ln/>
        </p:spPr>
      </p:sp>
      <p:sp>
        <p:nvSpPr>
          <p:cNvPr id="9" name="Text 7"/>
          <p:cNvSpPr/>
          <p:nvPr/>
        </p:nvSpPr>
        <p:spPr>
          <a:xfrm>
            <a:off x="850392" y="4331208"/>
            <a:ext cx="1463040" cy="978408"/>
          </a:xfrm>
          <a:prstGeom prst="rect">
            <a:avLst/>
          </a:prstGeom>
          <a:noFill/>
          <a:ln/>
        </p:spPr>
        <p:txBody>
          <a:bodyPr wrap="square" lIns="0" tIns="0" rIns="0" bIns="0" rtlCol="0" anchor="ctr"/>
          <a:lstStyle/>
          <a:p>
            <a:pPr indent="0" marL="0">
              <a:buNone/>
            </a:pPr>
            <a:r>
              <a:rPr lang="en-US" sz="1600" b="1" spc="200" kern="0" dirty="0">
                <a:solidFill>
                  <a:srgbClr val="D4943A"/>
                </a:solidFill>
                <a:latin typeface="Calibri" pitchFamily="34" charset="0"/>
                <a:ea typeface="Calibri" pitchFamily="34" charset="-122"/>
                <a:cs typeface="Calibri" pitchFamily="34" charset="-120"/>
              </a:rPr>
              <a:t>COMPARE</a:t>
            </a:r>
            <a:endParaRPr lang="en-US" sz="1600" dirty="0"/>
          </a:p>
        </p:txBody>
      </p:sp>
      <p:sp>
        <p:nvSpPr>
          <p:cNvPr id="10" name="Text 8"/>
          <p:cNvSpPr/>
          <p:nvPr/>
        </p:nvSpPr>
        <p:spPr>
          <a:xfrm>
            <a:off x="2313432" y="4331208"/>
            <a:ext cx="3044952" cy="97840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You compared cold zones to warm zones and dry zones to wet zones.</a:t>
            </a:r>
            <a:endParaRPr lang="en-US" sz="1600" dirty="0"/>
          </a:p>
        </p:txBody>
      </p:sp>
      <p:sp>
        <p:nvSpPr>
          <p:cNvPr id="11" name="Shape 9"/>
          <p:cNvSpPr/>
          <p:nvPr/>
        </p:nvSpPr>
        <p:spPr>
          <a:xfrm>
            <a:off x="612648" y="5852160"/>
            <a:ext cx="4873752" cy="978408"/>
          </a:xfrm>
          <a:prstGeom prst="roundRect">
            <a:avLst>
              <a:gd name="adj" fmla="val 12150"/>
            </a:avLst>
          </a:prstGeom>
          <a:solidFill>
            <a:srgbClr val="1A2D5A"/>
          </a:solidFill>
          <a:ln/>
        </p:spPr>
      </p:sp>
      <p:sp>
        <p:nvSpPr>
          <p:cNvPr id="12" name="Text 10"/>
          <p:cNvSpPr/>
          <p:nvPr/>
        </p:nvSpPr>
        <p:spPr>
          <a:xfrm>
            <a:off x="850392" y="5916168"/>
            <a:ext cx="1463040" cy="978408"/>
          </a:xfrm>
          <a:prstGeom prst="rect">
            <a:avLst/>
          </a:prstGeom>
          <a:noFill/>
          <a:ln/>
        </p:spPr>
        <p:txBody>
          <a:bodyPr wrap="square" lIns="0" tIns="0" rIns="0" bIns="0" rtlCol="0" anchor="ctr"/>
          <a:lstStyle/>
          <a:p>
            <a:pPr indent="0" marL="0">
              <a:buNone/>
            </a:pPr>
            <a:r>
              <a:rPr lang="en-US" sz="1600" b="1" spc="200" kern="0" dirty="0">
                <a:solidFill>
                  <a:srgbClr val="34B76F"/>
                </a:solidFill>
                <a:latin typeface="Calibri" pitchFamily="34" charset="0"/>
                <a:ea typeface="Calibri" pitchFamily="34" charset="-122"/>
                <a:cs typeface="Calibri" pitchFamily="34" charset="-120"/>
              </a:rPr>
              <a:t>EXPLAIN</a:t>
            </a:r>
            <a:endParaRPr lang="en-US" sz="1600" dirty="0"/>
          </a:p>
        </p:txBody>
      </p:sp>
      <p:sp>
        <p:nvSpPr>
          <p:cNvPr id="13" name="Text 11"/>
          <p:cNvSpPr/>
          <p:nvPr/>
        </p:nvSpPr>
        <p:spPr>
          <a:xfrm>
            <a:off x="2313432" y="5916168"/>
            <a:ext cx="3044952" cy="97840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Now explain: How does climate shape what grows in a place?</a:t>
            </a:r>
            <a:endParaRPr lang="en-US" sz="1600" dirty="0"/>
          </a:p>
        </p:txBody>
      </p:sp>
      <p:sp>
        <p:nvSpPr>
          <p:cNvPr id="14" name="Shape 12"/>
          <p:cNvSpPr/>
          <p:nvPr/>
        </p:nvSpPr>
        <p:spPr>
          <a:xfrm>
            <a:off x="5730240" y="2682240"/>
            <a:ext cx="5852160" cy="4511040"/>
          </a:xfrm>
          <a:prstGeom prst="roundRect">
            <a:avLst>
              <a:gd name="adj" fmla="val 4054"/>
            </a:avLst>
          </a:prstGeom>
          <a:solidFill>
            <a:srgbClr val="1A2D5A"/>
          </a:solidFill>
          <a:ln/>
          <a:effectLst>
            <a:outerShdw sx="100000" sy="100000" kx="0" ky="0" algn="bl" rotWithShape="0" blurRad="101600" dist="38100" dir="8100000">
              <a:srgbClr val="000000">
                <a:alpha val="20000"/>
              </a:srgbClr>
            </a:outerShdw>
          </a:effectLst>
        </p:spPr>
      </p:sp>
      <p:sp>
        <p:nvSpPr>
          <p:cNvPr id="15" name="Text 13"/>
          <p:cNvSpPr/>
          <p:nvPr/>
        </p:nvSpPr>
        <p:spPr>
          <a:xfrm>
            <a:off x="5977128" y="2801112"/>
            <a:ext cx="5367528" cy="338328"/>
          </a:xfrm>
          <a:prstGeom prst="rect">
            <a:avLst/>
          </a:prstGeom>
          <a:noFill/>
          <a:ln/>
        </p:spPr>
        <p:txBody>
          <a:bodyPr wrap="square" lIns="0" tIns="0" rIns="0" bIns="0" rtlCol="0" anchor="ctr"/>
          <a:lstStyle/>
          <a:p>
            <a:pPr indent="0" marL="0">
              <a:buNone/>
            </a:pPr>
            <a:r>
              <a:rPr lang="en-US" sz="1200" b="1" spc="150" kern="0" dirty="0">
                <a:solidFill>
                  <a:srgbClr val="55C8E8"/>
                </a:solidFill>
                <a:latin typeface="Calibri" pitchFamily="34" charset="0"/>
                <a:ea typeface="Calibri" pitchFamily="34" charset="-122"/>
                <a:cs typeface="Calibri" pitchFamily="34" charset="-120"/>
              </a:rPr>
              <a:t>SOCRATIC QUESTIONS</a:t>
            </a:r>
            <a:endParaRPr lang="en-US" sz="1200" dirty="0"/>
          </a:p>
        </p:txBody>
      </p:sp>
      <p:sp>
        <p:nvSpPr>
          <p:cNvPr id="16" name="Text 14"/>
          <p:cNvSpPr/>
          <p:nvPr/>
        </p:nvSpPr>
        <p:spPr>
          <a:xfrm>
            <a:off x="5977128" y="3148584"/>
            <a:ext cx="5367528" cy="3925824"/>
          </a:xfrm>
          <a:prstGeom prst="rect">
            <a:avLst/>
          </a:prstGeom>
          <a:noFill/>
          <a:ln/>
        </p:spPr>
        <p:txBody>
          <a:bodyPr wrap="square" lIns="0" tIns="0" rIns="0" bIns="0" rtlCol="0" anchor="t"/>
          <a:lstStyle/>
          <a:p>
            <a:pPr marL="342900" indent="-342900">
              <a:spcAft>
                <a:spcPts val="500"/>
              </a:spcAft>
              <a:buSzPct val="100000"/>
              <a:buChar char="•"/>
            </a:pPr>
            <a:r>
              <a:rPr lang="en-US" sz="1400" i="1" dirty="0">
                <a:solidFill>
                  <a:srgbClr val="FFFFFF"/>
                </a:solidFill>
                <a:latin typeface="Calibri" pitchFamily="34" charset="0"/>
                <a:ea typeface="Calibri" pitchFamily="34" charset="-122"/>
                <a:cs typeface="Calibri" pitchFamily="34" charset="-120"/>
              </a:rPr>
              <a:t>A palm tree could never survive in the Arctic, and a polar bear could never live in the Caribbean. Why?</a:t>
            </a:r>
            <a:endParaRPr lang="en-US" sz="1400" dirty="0"/>
          </a:p>
          <a:p>
            <a:pPr marL="342900" indent="-342900">
              <a:spcAft>
                <a:spcPts val="500"/>
              </a:spcAft>
              <a:buSzPct val="100000"/>
              <a:buChar char="•"/>
            </a:pPr>
            <a:r>
              <a:rPr lang="en-US" sz="1400" i="1" dirty="0">
                <a:solidFill>
                  <a:srgbClr val="FFFFFF"/>
                </a:solidFill>
                <a:latin typeface="Calibri" pitchFamily="34" charset="0"/>
                <a:ea typeface="Calibri" pitchFamily="34" charset="-122"/>
                <a:cs typeface="Calibri" pitchFamily="34" charset="-120"/>
              </a:rPr>
              <a:t>If climate changed in the boreal forest, what might happen to the spruce trees?</a:t>
            </a:r>
            <a:endParaRPr lang="en-US" sz="1400" dirty="0"/>
          </a:p>
          <a:p>
            <a:pPr marL="342900" indent="-342900">
              <a:spcAft>
                <a:spcPts val="500"/>
              </a:spcAft>
              <a:buSzPct val="100000"/>
              <a:buChar char="•"/>
            </a:pPr>
            <a:r>
              <a:rPr lang="en-US" sz="1400" i="1" dirty="0">
                <a:solidFill>
                  <a:srgbClr val="FFFFFF"/>
                </a:solidFill>
                <a:latin typeface="Calibri" pitchFamily="34" charset="0"/>
                <a:ea typeface="Calibri" pitchFamily="34" charset="-122"/>
                <a:cs typeface="Calibri" pitchFamily="34" charset="-120"/>
              </a:rPr>
              <a:t>Why is it useful for a curator to know about climate zones?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609600" y="365760"/>
            <a:ext cx="6096000" cy="320040"/>
          </a:xfrm>
          <a:prstGeom prst="rect">
            <a:avLst/>
          </a:prstGeom>
          <a:noFill/>
          <a:ln/>
        </p:spPr>
        <p:txBody>
          <a:bodyPr wrap="square" lIns="0" tIns="0" rIns="0" bIns="0" rtlCol="0" anchor="ctr"/>
          <a:lstStyle/>
          <a:p>
            <a:pPr indent="0" marL="0">
              <a:buNone/>
            </a:pPr>
            <a:r>
              <a:rPr lang="en-US" sz="1100" b="1" spc="200" kern="0" dirty="0">
                <a:solidFill>
                  <a:srgbClr val="55C8E8"/>
                </a:solidFill>
                <a:latin typeface="Calibri" pitchFamily="34" charset="0"/>
                <a:ea typeface="Calibri" pitchFamily="34" charset="-122"/>
                <a:cs typeface="Calibri" pitchFamily="34" charset="-120"/>
              </a:rPr>
              <a:t>SELF-CHECK</a:t>
            </a:r>
            <a:endParaRPr lang="en-US" sz="1100" dirty="0"/>
          </a:p>
        </p:txBody>
      </p:sp>
      <p:sp>
        <p:nvSpPr>
          <p:cNvPr id="4" name="Text 2"/>
          <p:cNvSpPr/>
          <p:nvPr/>
        </p:nvSpPr>
        <p:spPr>
          <a:xfrm>
            <a:off x="612648" y="731520"/>
            <a:ext cx="9144000" cy="731520"/>
          </a:xfrm>
          <a:prstGeom prst="rect">
            <a:avLst/>
          </a:prstGeom>
          <a:noFill/>
          <a:ln/>
        </p:spPr>
        <p:txBody>
          <a:bodyPr wrap="square" lIns="0" tIns="0" rIns="0" bIns="0" rtlCol="0" anchor="ctr"/>
          <a:lstStyle/>
          <a:p>
            <a:pPr indent="0" marL="0">
              <a:buNone/>
            </a:pPr>
            <a:r>
              <a:rPr lang="en-US" sz="3600" b="1" dirty="0">
                <a:solidFill>
                  <a:srgbClr val="0E1C42"/>
                </a:solidFill>
                <a:latin typeface="Cambria" pitchFamily="34" charset="0"/>
                <a:ea typeface="Cambria" pitchFamily="34" charset="-122"/>
                <a:cs typeface="Cambria" pitchFamily="34" charset="-120"/>
              </a:rPr>
              <a:t>Quick Check — Question 1</a:t>
            </a:r>
            <a:endParaRPr lang="en-US" sz="3600" dirty="0"/>
          </a:p>
        </p:txBody>
      </p:sp>
      <p:sp>
        <p:nvSpPr>
          <p:cNvPr id="5" name="Shape 3"/>
          <p:cNvSpPr/>
          <p:nvPr/>
        </p:nvSpPr>
        <p:spPr>
          <a:xfrm>
            <a:off x="609600" y="1828800"/>
            <a:ext cx="10972800" cy="1463040"/>
          </a:xfrm>
          <a:prstGeom prst="roundRect">
            <a:avLst>
              <a:gd name="adj" fmla="val 10000"/>
            </a:avLst>
          </a:prstGeom>
          <a:solidFill>
            <a:srgbClr val="FFFFFF"/>
          </a:solidFill>
          <a:ln/>
          <a:effectLst>
            <a:outerShdw sx="100000" sy="100000" kx="0" ky="0" algn="bl" rotWithShape="0" blurRad="76200" dist="25400" dir="8100000">
              <a:srgbClr val="000000">
                <a:alpha val="12000"/>
              </a:srgbClr>
            </a:outerShdw>
          </a:effectLst>
        </p:spPr>
      </p:sp>
      <p:sp>
        <p:nvSpPr>
          <p:cNvPr id="6" name="Text 4"/>
          <p:cNvSpPr/>
          <p:nvPr/>
        </p:nvSpPr>
        <p:spPr>
          <a:xfrm>
            <a:off x="850392" y="1947672"/>
            <a:ext cx="10058400" cy="850392"/>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What does the word climate mean?</a:t>
            </a:r>
            <a:endParaRPr lang="en-US" sz="2200" dirty="0"/>
          </a:p>
        </p:txBody>
      </p:sp>
      <p:sp>
        <p:nvSpPr>
          <p:cNvPr id="7" name="Shape 5"/>
          <p:cNvSpPr/>
          <p:nvPr/>
        </p:nvSpPr>
        <p:spPr>
          <a:xfrm>
            <a:off x="612648" y="3413760"/>
            <a:ext cx="10972800" cy="795528"/>
          </a:xfrm>
          <a:prstGeom prst="roundRect">
            <a:avLst>
              <a:gd name="adj" fmla="val 14943"/>
            </a:avLst>
          </a:prstGeom>
          <a:solidFill>
            <a:srgbClr val="FFFFFF"/>
          </a:solidFill>
          <a:ln w="19050">
            <a:solidFill>
              <a:srgbClr val="D0D4E0"/>
            </a:solidFill>
            <a:prstDash val="solid"/>
          </a:ln>
        </p:spPr>
      </p:sp>
      <p:sp>
        <p:nvSpPr>
          <p:cNvPr id="8" name="Text 6"/>
          <p:cNvSpPr/>
          <p:nvPr/>
        </p:nvSpPr>
        <p:spPr>
          <a:xfrm>
            <a:off x="850392" y="3413760"/>
            <a:ext cx="612648" cy="795528"/>
          </a:xfrm>
          <a:prstGeom prst="rect">
            <a:avLst/>
          </a:prstGeom>
          <a:noFill/>
          <a:ln/>
        </p:spPr>
        <p:txBody>
          <a:bodyPr wrap="square" lIns="0" tIns="0" rIns="0" bIns="0" rtlCol="0" anchor="ctr"/>
          <a:lstStyle/>
          <a:p>
            <a:pPr algn="ctr" indent="0" marL="0">
              <a:buNone/>
            </a:pPr>
            <a:r>
              <a:rPr lang="en-US" sz="1800" b="1" dirty="0">
                <a:solidFill>
                  <a:srgbClr val="0E1C42"/>
                </a:solidFill>
                <a:latin typeface="Calibri" pitchFamily="34" charset="0"/>
                <a:ea typeface="Calibri" pitchFamily="34" charset="-122"/>
                <a:cs typeface="Calibri" pitchFamily="34" charset="-120"/>
              </a:rPr>
              <a:t>A</a:t>
            </a:r>
            <a:endParaRPr lang="en-US" sz="1800" dirty="0"/>
          </a:p>
        </p:txBody>
      </p:sp>
      <p:sp>
        <p:nvSpPr>
          <p:cNvPr id="9" name="Text 7"/>
          <p:cNvSpPr/>
          <p:nvPr/>
        </p:nvSpPr>
        <p:spPr>
          <a:xfrm>
            <a:off x="1581912" y="3413760"/>
            <a:ext cx="9144000" cy="795528"/>
          </a:xfrm>
          <a:prstGeom prst="rect">
            <a:avLst/>
          </a:prstGeom>
          <a:noFill/>
          <a:ln/>
        </p:spPr>
        <p:txBody>
          <a:bodyPr wrap="square" lIns="0" tIns="0" rIns="0" bIns="0" rtlCol="0" anchor="ctr"/>
          <a:lstStyle/>
          <a:p>
            <a:pPr indent="0" marL="0">
              <a:buNone/>
            </a:pPr>
            <a:r>
              <a:rPr lang="en-US" sz="1800" dirty="0">
                <a:solidFill>
                  <a:srgbClr val="0E1C42"/>
                </a:solidFill>
                <a:latin typeface="Calibri" pitchFamily="34" charset="0"/>
                <a:ea typeface="Calibri" pitchFamily="34" charset="-122"/>
                <a:cs typeface="Calibri" pitchFamily="34" charset="-120"/>
              </a:rPr>
              <a:t>The weather outside right now.</a:t>
            </a:r>
            <a:endParaRPr lang="en-US" sz="1800" dirty="0"/>
          </a:p>
        </p:txBody>
      </p:sp>
      <p:sp>
        <p:nvSpPr>
          <p:cNvPr id="10" name="Shape 8"/>
          <p:cNvSpPr/>
          <p:nvPr/>
        </p:nvSpPr>
        <p:spPr>
          <a:xfrm>
            <a:off x="612648" y="4450080"/>
            <a:ext cx="10972800" cy="795528"/>
          </a:xfrm>
          <a:prstGeom prst="roundRect">
            <a:avLst>
              <a:gd name="adj" fmla="val 14943"/>
            </a:avLst>
          </a:prstGeom>
          <a:solidFill>
            <a:srgbClr val="E3F8ED"/>
          </a:solidFill>
          <a:ln w="19050">
            <a:solidFill>
              <a:srgbClr val="34B76F"/>
            </a:solidFill>
            <a:prstDash val="solid"/>
          </a:ln>
        </p:spPr>
      </p:sp>
      <p:sp>
        <p:nvSpPr>
          <p:cNvPr id="11" name="Text 9"/>
          <p:cNvSpPr/>
          <p:nvPr/>
        </p:nvSpPr>
        <p:spPr>
          <a:xfrm>
            <a:off x="850392" y="4450080"/>
            <a:ext cx="612648" cy="795528"/>
          </a:xfrm>
          <a:prstGeom prst="rect">
            <a:avLst/>
          </a:prstGeom>
          <a:noFill/>
          <a:ln/>
        </p:spPr>
        <p:txBody>
          <a:bodyPr wrap="square" lIns="0" tIns="0" rIns="0" bIns="0" rtlCol="0" anchor="ctr"/>
          <a:lstStyle/>
          <a:p>
            <a:pPr algn="ctr" indent="0" marL="0">
              <a:buNone/>
            </a:pPr>
            <a:r>
              <a:rPr lang="en-US" sz="1800" b="1" dirty="0">
                <a:solidFill>
                  <a:srgbClr val="34B76F"/>
                </a:solidFill>
                <a:latin typeface="Calibri" pitchFamily="34" charset="0"/>
                <a:ea typeface="Calibri" pitchFamily="34" charset="-122"/>
                <a:cs typeface="Calibri" pitchFamily="34" charset="-120"/>
              </a:rPr>
              <a:t>B</a:t>
            </a:r>
            <a:endParaRPr lang="en-US" sz="1800" dirty="0"/>
          </a:p>
        </p:txBody>
      </p:sp>
      <p:sp>
        <p:nvSpPr>
          <p:cNvPr id="12" name="Text 10"/>
          <p:cNvSpPr/>
          <p:nvPr/>
        </p:nvSpPr>
        <p:spPr>
          <a:xfrm>
            <a:off x="1581912" y="4450080"/>
            <a:ext cx="9144000" cy="795528"/>
          </a:xfrm>
          <a:prstGeom prst="rect">
            <a:avLst/>
          </a:prstGeom>
          <a:noFill/>
          <a:ln/>
        </p:spPr>
        <p:txBody>
          <a:bodyPr wrap="square" lIns="0" tIns="0" rIns="0" bIns="0" rtlCol="0" anchor="ctr"/>
          <a:lstStyle/>
          <a:p>
            <a:pPr indent="0" marL="0">
              <a:buNone/>
            </a:pPr>
            <a:r>
              <a:rPr lang="en-US" sz="1800" dirty="0">
                <a:solidFill>
                  <a:srgbClr val="0E1C42"/>
                </a:solidFill>
                <a:latin typeface="Calibri" pitchFamily="34" charset="0"/>
                <a:ea typeface="Calibri" pitchFamily="34" charset="-122"/>
                <a:cs typeface="Calibri" pitchFamily="34" charset="-120"/>
              </a:rPr>
              <a:t>The usual weather of a place over many years.</a:t>
            </a:r>
            <a:endParaRPr lang="en-US" sz="1800" dirty="0"/>
          </a:p>
        </p:txBody>
      </p:sp>
      <p:sp>
        <p:nvSpPr>
          <p:cNvPr id="13" name="Shape 11"/>
          <p:cNvSpPr/>
          <p:nvPr/>
        </p:nvSpPr>
        <p:spPr>
          <a:xfrm>
            <a:off x="612648" y="5486400"/>
            <a:ext cx="10972800" cy="795528"/>
          </a:xfrm>
          <a:prstGeom prst="roundRect">
            <a:avLst>
              <a:gd name="adj" fmla="val 14943"/>
            </a:avLst>
          </a:prstGeom>
          <a:solidFill>
            <a:srgbClr val="FFFFFF"/>
          </a:solidFill>
          <a:ln w="19050">
            <a:solidFill>
              <a:srgbClr val="D0D4E0"/>
            </a:solidFill>
            <a:prstDash val="solid"/>
          </a:ln>
        </p:spPr>
      </p:sp>
      <p:sp>
        <p:nvSpPr>
          <p:cNvPr id="14" name="Text 12"/>
          <p:cNvSpPr/>
          <p:nvPr/>
        </p:nvSpPr>
        <p:spPr>
          <a:xfrm>
            <a:off x="850392" y="5486400"/>
            <a:ext cx="612648" cy="795528"/>
          </a:xfrm>
          <a:prstGeom prst="rect">
            <a:avLst/>
          </a:prstGeom>
          <a:noFill/>
          <a:ln/>
        </p:spPr>
        <p:txBody>
          <a:bodyPr wrap="square" lIns="0" tIns="0" rIns="0" bIns="0" rtlCol="0" anchor="ctr"/>
          <a:lstStyle/>
          <a:p>
            <a:pPr algn="ctr" indent="0" marL="0">
              <a:buNone/>
            </a:pPr>
            <a:r>
              <a:rPr lang="en-US" sz="1800" b="1" dirty="0">
                <a:solidFill>
                  <a:srgbClr val="0E1C42"/>
                </a:solidFill>
                <a:latin typeface="Calibri" pitchFamily="34" charset="0"/>
                <a:ea typeface="Calibri" pitchFamily="34" charset="-122"/>
                <a:cs typeface="Calibri" pitchFamily="34" charset="-120"/>
              </a:rPr>
              <a:t>C</a:t>
            </a:r>
            <a:endParaRPr lang="en-US" sz="1800" dirty="0"/>
          </a:p>
        </p:txBody>
      </p:sp>
      <p:sp>
        <p:nvSpPr>
          <p:cNvPr id="15" name="Text 13"/>
          <p:cNvSpPr/>
          <p:nvPr/>
        </p:nvSpPr>
        <p:spPr>
          <a:xfrm>
            <a:off x="1581912" y="5486400"/>
            <a:ext cx="9144000" cy="795528"/>
          </a:xfrm>
          <a:prstGeom prst="rect">
            <a:avLst/>
          </a:prstGeom>
          <a:noFill/>
          <a:ln/>
        </p:spPr>
        <p:txBody>
          <a:bodyPr wrap="square" lIns="0" tIns="0" rIns="0" bIns="0" rtlCol="0" anchor="ctr"/>
          <a:lstStyle/>
          <a:p>
            <a:pPr indent="0" marL="0">
              <a:buNone/>
            </a:pPr>
            <a:r>
              <a:rPr lang="en-US" sz="1800" dirty="0">
                <a:solidFill>
                  <a:srgbClr val="0E1C42"/>
                </a:solidFill>
                <a:latin typeface="Calibri" pitchFamily="34" charset="0"/>
                <a:ea typeface="Calibri" pitchFamily="34" charset="-122"/>
                <a:cs typeface="Calibri" pitchFamily="34" charset="-120"/>
              </a:rPr>
              <a:t>The temperature in just one season.</a:t>
            </a:r>
            <a:endParaRPr lang="en-US" sz="1800" dirty="0"/>
          </a:p>
        </p:txBody>
      </p:sp>
      <p:sp>
        <p:nvSpPr>
          <p:cNvPr id="16" name="Shape 14"/>
          <p:cNvSpPr/>
          <p:nvPr/>
        </p:nvSpPr>
        <p:spPr>
          <a:xfrm>
            <a:off x="612648" y="5733288"/>
            <a:ext cx="10972800" cy="731520"/>
          </a:xfrm>
          <a:prstGeom prst="roundRect">
            <a:avLst>
              <a:gd name="adj" fmla="val 16250"/>
            </a:avLst>
          </a:prstGeom>
          <a:solidFill>
            <a:srgbClr val="EAF8FD"/>
          </a:solidFill>
          <a:ln/>
        </p:spPr>
      </p:sp>
      <p:sp>
        <p:nvSpPr>
          <p:cNvPr id="17" name="Text 15"/>
          <p:cNvSpPr/>
          <p:nvPr/>
        </p:nvSpPr>
        <p:spPr>
          <a:xfrm>
            <a:off x="850392" y="5733288"/>
            <a:ext cx="10058400" cy="731520"/>
          </a:xfrm>
          <a:prstGeom prst="rect">
            <a:avLst/>
          </a:prstGeom>
          <a:noFill/>
          <a:ln/>
        </p:spPr>
        <p:txBody>
          <a:bodyPr wrap="square" lIns="0" tIns="0" rIns="0" bIns="0" rtlCol="0" anchor="ctr"/>
          <a:lstStyle/>
          <a:p>
            <a:pPr indent="0" marL="0">
              <a:buNone/>
            </a:pPr>
            <a:r>
              <a:rPr lang="en-US" sz="1600" i="1" dirty="0">
                <a:solidFill>
                  <a:srgbClr val="1A8A7D"/>
                </a:solidFill>
                <a:latin typeface="Calibri" pitchFamily="34" charset="0"/>
                <a:ea typeface="Calibri" pitchFamily="34" charset="-122"/>
                <a:cs typeface="Calibri" pitchFamily="34" charset="-120"/>
              </a:rPr>
              <a:t>Climate is the long-term pattern of weather in a place — not just today.</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609600" y="365760"/>
            <a:ext cx="6096000" cy="320040"/>
          </a:xfrm>
          <a:prstGeom prst="rect">
            <a:avLst/>
          </a:prstGeom>
          <a:noFill/>
          <a:ln/>
        </p:spPr>
        <p:txBody>
          <a:bodyPr wrap="square" lIns="0" tIns="0" rIns="0" bIns="0" rtlCol="0" anchor="ctr"/>
          <a:lstStyle/>
          <a:p>
            <a:pPr indent="0" marL="0">
              <a:buNone/>
            </a:pPr>
            <a:r>
              <a:rPr lang="en-US" sz="1100" b="1" spc="200" kern="0" dirty="0">
                <a:solidFill>
                  <a:srgbClr val="55C8E8"/>
                </a:solidFill>
                <a:latin typeface="Calibri" pitchFamily="34" charset="0"/>
                <a:ea typeface="Calibri" pitchFamily="34" charset="-122"/>
                <a:cs typeface="Calibri" pitchFamily="34" charset="-120"/>
              </a:rPr>
              <a:t>SELF-CHECK</a:t>
            </a:r>
            <a:endParaRPr lang="en-US" sz="1100" dirty="0"/>
          </a:p>
        </p:txBody>
      </p:sp>
      <p:sp>
        <p:nvSpPr>
          <p:cNvPr id="4" name="Text 2"/>
          <p:cNvSpPr/>
          <p:nvPr/>
        </p:nvSpPr>
        <p:spPr>
          <a:xfrm>
            <a:off x="612648" y="731520"/>
            <a:ext cx="9144000" cy="731520"/>
          </a:xfrm>
          <a:prstGeom prst="rect">
            <a:avLst/>
          </a:prstGeom>
          <a:noFill/>
          <a:ln/>
        </p:spPr>
        <p:txBody>
          <a:bodyPr wrap="square" lIns="0" tIns="0" rIns="0" bIns="0" rtlCol="0" anchor="ctr"/>
          <a:lstStyle/>
          <a:p>
            <a:pPr indent="0" marL="0">
              <a:buNone/>
            </a:pPr>
            <a:r>
              <a:rPr lang="en-US" sz="3600" b="1" dirty="0">
                <a:solidFill>
                  <a:srgbClr val="0E1C42"/>
                </a:solidFill>
                <a:latin typeface="Cambria" pitchFamily="34" charset="0"/>
                <a:ea typeface="Cambria" pitchFamily="34" charset="-122"/>
                <a:cs typeface="Cambria" pitchFamily="34" charset="-120"/>
              </a:rPr>
              <a:t>Quick Check — Question 2</a:t>
            </a:r>
            <a:endParaRPr lang="en-US" sz="3600" dirty="0"/>
          </a:p>
        </p:txBody>
      </p:sp>
      <p:sp>
        <p:nvSpPr>
          <p:cNvPr id="5" name="Shape 3"/>
          <p:cNvSpPr/>
          <p:nvPr/>
        </p:nvSpPr>
        <p:spPr>
          <a:xfrm>
            <a:off x="609600" y="1828800"/>
            <a:ext cx="10972800" cy="1463040"/>
          </a:xfrm>
          <a:prstGeom prst="roundRect">
            <a:avLst>
              <a:gd name="adj" fmla="val 10000"/>
            </a:avLst>
          </a:prstGeom>
          <a:solidFill>
            <a:srgbClr val="FFFFFF"/>
          </a:solidFill>
          <a:ln/>
          <a:effectLst>
            <a:outerShdw sx="100000" sy="100000" kx="0" ky="0" algn="bl" rotWithShape="0" blurRad="76200" dist="25400" dir="8100000">
              <a:srgbClr val="000000">
                <a:alpha val="12000"/>
              </a:srgbClr>
            </a:outerShdw>
          </a:effectLst>
        </p:spPr>
      </p:sp>
      <p:sp>
        <p:nvSpPr>
          <p:cNvPr id="6" name="Text 4"/>
          <p:cNvSpPr/>
          <p:nvPr/>
        </p:nvSpPr>
        <p:spPr>
          <a:xfrm>
            <a:off x="850392" y="1947672"/>
            <a:ext cx="10058400" cy="850392"/>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Where would you find tall evergreen trees like spruce and pine growing naturally?</a:t>
            </a:r>
            <a:endParaRPr lang="en-US" sz="2200" dirty="0"/>
          </a:p>
        </p:txBody>
      </p:sp>
      <p:sp>
        <p:nvSpPr>
          <p:cNvPr id="7" name="Shape 5"/>
          <p:cNvSpPr/>
          <p:nvPr/>
        </p:nvSpPr>
        <p:spPr>
          <a:xfrm>
            <a:off x="612648" y="3413760"/>
            <a:ext cx="10972800" cy="795528"/>
          </a:xfrm>
          <a:prstGeom prst="roundRect">
            <a:avLst>
              <a:gd name="adj" fmla="val 14943"/>
            </a:avLst>
          </a:prstGeom>
          <a:solidFill>
            <a:srgbClr val="FFFFFF"/>
          </a:solidFill>
          <a:ln w="19050">
            <a:solidFill>
              <a:srgbClr val="D0D4E0"/>
            </a:solidFill>
            <a:prstDash val="solid"/>
          </a:ln>
        </p:spPr>
      </p:sp>
      <p:sp>
        <p:nvSpPr>
          <p:cNvPr id="8" name="Text 6"/>
          <p:cNvSpPr/>
          <p:nvPr/>
        </p:nvSpPr>
        <p:spPr>
          <a:xfrm>
            <a:off x="850392" y="3413760"/>
            <a:ext cx="612648" cy="795528"/>
          </a:xfrm>
          <a:prstGeom prst="rect">
            <a:avLst/>
          </a:prstGeom>
          <a:noFill/>
          <a:ln/>
        </p:spPr>
        <p:txBody>
          <a:bodyPr wrap="square" lIns="0" tIns="0" rIns="0" bIns="0" rtlCol="0" anchor="ctr"/>
          <a:lstStyle/>
          <a:p>
            <a:pPr algn="ctr" indent="0" marL="0">
              <a:buNone/>
            </a:pPr>
            <a:r>
              <a:rPr lang="en-US" sz="1800" b="1" dirty="0">
                <a:solidFill>
                  <a:srgbClr val="0E1C42"/>
                </a:solidFill>
                <a:latin typeface="Calibri" pitchFamily="34" charset="0"/>
                <a:ea typeface="Calibri" pitchFamily="34" charset="-122"/>
                <a:cs typeface="Calibri" pitchFamily="34" charset="-120"/>
              </a:rPr>
              <a:t>A</a:t>
            </a:r>
            <a:endParaRPr lang="en-US" sz="1800" dirty="0"/>
          </a:p>
        </p:txBody>
      </p:sp>
      <p:sp>
        <p:nvSpPr>
          <p:cNvPr id="9" name="Text 7"/>
          <p:cNvSpPr/>
          <p:nvPr/>
        </p:nvSpPr>
        <p:spPr>
          <a:xfrm>
            <a:off x="1581912" y="3413760"/>
            <a:ext cx="9144000" cy="795528"/>
          </a:xfrm>
          <a:prstGeom prst="rect">
            <a:avLst/>
          </a:prstGeom>
          <a:noFill/>
          <a:ln/>
        </p:spPr>
        <p:txBody>
          <a:bodyPr wrap="square" lIns="0" tIns="0" rIns="0" bIns="0" rtlCol="0" anchor="ctr"/>
          <a:lstStyle/>
          <a:p>
            <a:pPr indent="0" marL="0">
              <a:buNone/>
            </a:pPr>
            <a:r>
              <a:rPr lang="en-US" sz="1800" dirty="0">
                <a:solidFill>
                  <a:srgbClr val="0E1C42"/>
                </a:solidFill>
                <a:latin typeface="Calibri" pitchFamily="34" charset="0"/>
                <a:ea typeface="Calibri" pitchFamily="34" charset="-122"/>
                <a:cs typeface="Calibri" pitchFamily="34" charset="-120"/>
              </a:rPr>
              <a:t>The desert in northern Mexico.</a:t>
            </a:r>
            <a:endParaRPr lang="en-US" sz="1800" dirty="0"/>
          </a:p>
        </p:txBody>
      </p:sp>
      <p:sp>
        <p:nvSpPr>
          <p:cNvPr id="10" name="Shape 8"/>
          <p:cNvSpPr/>
          <p:nvPr/>
        </p:nvSpPr>
        <p:spPr>
          <a:xfrm>
            <a:off x="612648" y="4450080"/>
            <a:ext cx="10972800" cy="795528"/>
          </a:xfrm>
          <a:prstGeom prst="roundRect">
            <a:avLst>
              <a:gd name="adj" fmla="val 14943"/>
            </a:avLst>
          </a:prstGeom>
          <a:solidFill>
            <a:srgbClr val="FFFFFF"/>
          </a:solidFill>
          <a:ln w="19050">
            <a:solidFill>
              <a:srgbClr val="D0D4E0"/>
            </a:solidFill>
            <a:prstDash val="solid"/>
          </a:ln>
        </p:spPr>
      </p:sp>
      <p:sp>
        <p:nvSpPr>
          <p:cNvPr id="11" name="Text 9"/>
          <p:cNvSpPr/>
          <p:nvPr/>
        </p:nvSpPr>
        <p:spPr>
          <a:xfrm>
            <a:off x="850392" y="4450080"/>
            <a:ext cx="612648" cy="795528"/>
          </a:xfrm>
          <a:prstGeom prst="rect">
            <a:avLst/>
          </a:prstGeom>
          <a:noFill/>
          <a:ln/>
        </p:spPr>
        <p:txBody>
          <a:bodyPr wrap="square" lIns="0" tIns="0" rIns="0" bIns="0" rtlCol="0" anchor="ctr"/>
          <a:lstStyle/>
          <a:p>
            <a:pPr algn="ctr" indent="0" marL="0">
              <a:buNone/>
            </a:pPr>
            <a:r>
              <a:rPr lang="en-US" sz="1800" b="1" dirty="0">
                <a:solidFill>
                  <a:srgbClr val="0E1C42"/>
                </a:solidFill>
                <a:latin typeface="Calibri" pitchFamily="34" charset="0"/>
                <a:ea typeface="Calibri" pitchFamily="34" charset="-122"/>
                <a:cs typeface="Calibri" pitchFamily="34" charset="-120"/>
              </a:rPr>
              <a:t>B</a:t>
            </a:r>
            <a:endParaRPr lang="en-US" sz="1800" dirty="0"/>
          </a:p>
        </p:txBody>
      </p:sp>
      <p:sp>
        <p:nvSpPr>
          <p:cNvPr id="12" name="Text 10"/>
          <p:cNvSpPr/>
          <p:nvPr/>
        </p:nvSpPr>
        <p:spPr>
          <a:xfrm>
            <a:off x="1581912" y="4450080"/>
            <a:ext cx="9144000" cy="795528"/>
          </a:xfrm>
          <a:prstGeom prst="rect">
            <a:avLst/>
          </a:prstGeom>
          <a:noFill/>
          <a:ln/>
        </p:spPr>
        <p:txBody>
          <a:bodyPr wrap="square" lIns="0" tIns="0" rIns="0" bIns="0" rtlCol="0" anchor="ctr"/>
          <a:lstStyle/>
          <a:p>
            <a:pPr indent="0" marL="0">
              <a:buNone/>
            </a:pPr>
            <a:r>
              <a:rPr lang="en-US" sz="1800" dirty="0">
                <a:solidFill>
                  <a:srgbClr val="0E1C42"/>
                </a:solidFill>
                <a:latin typeface="Calibri" pitchFamily="34" charset="0"/>
                <a:ea typeface="Calibri" pitchFamily="34" charset="-122"/>
                <a:cs typeface="Calibri" pitchFamily="34" charset="-120"/>
              </a:rPr>
              <a:t>The tropical Caribbean islands.</a:t>
            </a:r>
            <a:endParaRPr lang="en-US" sz="1800" dirty="0"/>
          </a:p>
        </p:txBody>
      </p:sp>
      <p:sp>
        <p:nvSpPr>
          <p:cNvPr id="13" name="Shape 11"/>
          <p:cNvSpPr/>
          <p:nvPr/>
        </p:nvSpPr>
        <p:spPr>
          <a:xfrm>
            <a:off x="612648" y="5486400"/>
            <a:ext cx="10972800" cy="795528"/>
          </a:xfrm>
          <a:prstGeom prst="roundRect">
            <a:avLst>
              <a:gd name="adj" fmla="val 14943"/>
            </a:avLst>
          </a:prstGeom>
          <a:solidFill>
            <a:srgbClr val="E3F8ED"/>
          </a:solidFill>
          <a:ln w="19050">
            <a:solidFill>
              <a:srgbClr val="34B76F"/>
            </a:solidFill>
            <a:prstDash val="solid"/>
          </a:ln>
        </p:spPr>
      </p:sp>
      <p:sp>
        <p:nvSpPr>
          <p:cNvPr id="14" name="Text 12"/>
          <p:cNvSpPr/>
          <p:nvPr/>
        </p:nvSpPr>
        <p:spPr>
          <a:xfrm>
            <a:off x="850392" y="5486400"/>
            <a:ext cx="612648" cy="795528"/>
          </a:xfrm>
          <a:prstGeom prst="rect">
            <a:avLst/>
          </a:prstGeom>
          <a:noFill/>
          <a:ln/>
        </p:spPr>
        <p:txBody>
          <a:bodyPr wrap="square" lIns="0" tIns="0" rIns="0" bIns="0" rtlCol="0" anchor="ctr"/>
          <a:lstStyle/>
          <a:p>
            <a:pPr algn="ctr" indent="0" marL="0">
              <a:buNone/>
            </a:pPr>
            <a:r>
              <a:rPr lang="en-US" sz="1800" b="1" dirty="0">
                <a:solidFill>
                  <a:srgbClr val="34B76F"/>
                </a:solidFill>
                <a:latin typeface="Calibri" pitchFamily="34" charset="0"/>
                <a:ea typeface="Calibri" pitchFamily="34" charset="-122"/>
                <a:cs typeface="Calibri" pitchFamily="34" charset="-120"/>
              </a:rPr>
              <a:t>C</a:t>
            </a:r>
            <a:endParaRPr lang="en-US" sz="1800" dirty="0"/>
          </a:p>
        </p:txBody>
      </p:sp>
      <p:sp>
        <p:nvSpPr>
          <p:cNvPr id="15" name="Text 13"/>
          <p:cNvSpPr/>
          <p:nvPr/>
        </p:nvSpPr>
        <p:spPr>
          <a:xfrm>
            <a:off x="1581912" y="5486400"/>
            <a:ext cx="9144000" cy="795528"/>
          </a:xfrm>
          <a:prstGeom prst="rect">
            <a:avLst/>
          </a:prstGeom>
          <a:noFill/>
          <a:ln/>
        </p:spPr>
        <p:txBody>
          <a:bodyPr wrap="square" lIns="0" tIns="0" rIns="0" bIns="0" rtlCol="0" anchor="ctr"/>
          <a:lstStyle/>
          <a:p>
            <a:pPr indent="0" marL="0">
              <a:buNone/>
            </a:pPr>
            <a:r>
              <a:rPr lang="en-US" sz="1800" dirty="0">
                <a:solidFill>
                  <a:srgbClr val="0E1C42"/>
                </a:solidFill>
                <a:latin typeface="Calibri" pitchFamily="34" charset="0"/>
                <a:ea typeface="Calibri" pitchFamily="34" charset="-122"/>
                <a:cs typeface="Calibri" pitchFamily="34" charset="-120"/>
              </a:rPr>
              <a:t>The boreal forest across Canada.</a:t>
            </a:r>
            <a:endParaRPr lang="en-US" sz="1800" dirty="0"/>
          </a:p>
        </p:txBody>
      </p:sp>
      <p:sp>
        <p:nvSpPr>
          <p:cNvPr id="16" name="Shape 14"/>
          <p:cNvSpPr/>
          <p:nvPr/>
        </p:nvSpPr>
        <p:spPr>
          <a:xfrm>
            <a:off x="612648" y="5733288"/>
            <a:ext cx="10972800" cy="731520"/>
          </a:xfrm>
          <a:prstGeom prst="roundRect">
            <a:avLst>
              <a:gd name="adj" fmla="val 16250"/>
            </a:avLst>
          </a:prstGeom>
          <a:solidFill>
            <a:srgbClr val="EAF8FD"/>
          </a:solidFill>
          <a:ln/>
        </p:spPr>
      </p:sp>
      <p:sp>
        <p:nvSpPr>
          <p:cNvPr id="17" name="Text 15"/>
          <p:cNvSpPr/>
          <p:nvPr/>
        </p:nvSpPr>
        <p:spPr>
          <a:xfrm>
            <a:off x="850392" y="5733288"/>
            <a:ext cx="10058400" cy="731520"/>
          </a:xfrm>
          <a:prstGeom prst="rect">
            <a:avLst/>
          </a:prstGeom>
          <a:noFill/>
          <a:ln/>
        </p:spPr>
        <p:txBody>
          <a:bodyPr wrap="square" lIns="0" tIns="0" rIns="0" bIns="0" rtlCol="0" anchor="ctr"/>
          <a:lstStyle/>
          <a:p>
            <a:pPr indent="0" marL="0">
              <a:buNone/>
            </a:pPr>
            <a:r>
              <a:rPr lang="en-US" sz="1600" i="1" dirty="0">
                <a:solidFill>
                  <a:srgbClr val="1A8A7D"/>
                </a:solidFill>
                <a:latin typeface="Calibri" pitchFamily="34" charset="0"/>
                <a:ea typeface="Calibri" pitchFamily="34" charset="-122"/>
                <a:cs typeface="Calibri" pitchFamily="34" charset="-120"/>
              </a:rPr>
              <a:t>Evergreens like spruce and pine fill the boreal forest — they keep their needles through long, snowy winters.</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609600" y="365760"/>
            <a:ext cx="6096000" cy="320040"/>
          </a:xfrm>
          <a:prstGeom prst="rect">
            <a:avLst/>
          </a:prstGeom>
          <a:noFill/>
          <a:ln/>
        </p:spPr>
        <p:txBody>
          <a:bodyPr wrap="square" lIns="0" tIns="0" rIns="0" bIns="0" rtlCol="0" anchor="ctr"/>
          <a:lstStyle/>
          <a:p>
            <a:pPr indent="0" marL="0">
              <a:buNone/>
            </a:pPr>
            <a:r>
              <a:rPr lang="en-US" sz="1100" b="1" spc="200" kern="0" dirty="0">
                <a:solidFill>
                  <a:srgbClr val="55C8E8"/>
                </a:solidFill>
                <a:latin typeface="Calibri" pitchFamily="34" charset="0"/>
                <a:ea typeface="Calibri" pitchFamily="34" charset="-122"/>
                <a:cs typeface="Calibri" pitchFamily="34" charset="-120"/>
              </a:rPr>
              <a:t>SELF-CHECK</a:t>
            </a:r>
            <a:endParaRPr lang="en-US" sz="1100" dirty="0"/>
          </a:p>
        </p:txBody>
      </p:sp>
      <p:sp>
        <p:nvSpPr>
          <p:cNvPr id="4" name="Text 2"/>
          <p:cNvSpPr/>
          <p:nvPr/>
        </p:nvSpPr>
        <p:spPr>
          <a:xfrm>
            <a:off x="612648" y="731520"/>
            <a:ext cx="9144000" cy="731520"/>
          </a:xfrm>
          <a:prstGeom prst="rect">
            <a:avLst/>
          </a:prstGeom>
          <a:noFill/>
          <a:ln/>
        </p:spPr>
        <p:txBody>
          <a:bodyPr wrap="square" lIns="0" tIns="0" rIns="0" bIns="0" rtlCol="0" anchor="ctr"/>
          <a:lstStyle/>
          <a:p>
            <a:pPr indent="0" marL="0">
              <a:buNone/>
            </a:pPr>
            <a:r>
              <a:rPr lang="en-US" sz="3600" b="1" dirty="0">
                <a:solidFill>
                  <a:srgbClr val="0E1C42"/>
                </a:solidFill>
                <a:latin typeface="Cambria" pitchFamily="34" charset="0"/>
                <a:ea typeface="Cambria" pitchFamily="34" charset="-122"/>
                <a:cs typeface="Cambria" pitchFamily="34" charset="-120"/>
              </a:rPr>
              <a:t>Quick Check — Question 3</a:t>
            </a:r>
            <a:endParaRPr lang="en-US" sz="3600" dirty="0"/>
          </a:p>
        </p:txBody>
      </p:sp>
      <p:sp>
        <p:nvSpPr>
          <p:cNvPr id="5" name="Shape 3"/>
          <p:cNvSpPr/>
          <p:nvPr/>
        </p:nvSpPr>
        <p:spPr>
          <a:xfrm>
            <a:off x="609600" y="1828800"/>
            <a:ext cx="10972800" cy="1463040"/>
          </a:xfrm>
          <a:prstGeom prst="roundRect">
            <a:avLst>
              <a:gd name="adj" fmla="val 10000"/>
            </a:avLst>
          </a:prstGeom>
          <a:solidFill>
            <a:srgbClr val="FFFFFF"/>
          </a:solidFill>
          <a:ln/>
          <a:effectLst>
            <a:outerShdw sx="100000" sy="100000" kx="0" ky="0" algn="bl" rotWithShape="0" blurRad="76200" dist="25400" dir="8100000">
              <a:srgbClr val="000000">
                <a:alpha val="12000"/>
              </a:srgbClr>
            </a:outerShdw>
          </a:effectLst>
        </p:spPr>
      </p:sp>
      <p:sp>
        <p:nvSpPr>
          <p:cNvPr id="6" name="Text 4"/>
          <p:cNvSpPr/>
          <p:nvPr/>
        </p:nvSpPr>
        <p:spPr>
          <a:xfrm>
            <a:off x="850392" y="1947672"/>
            <a:ext cx="10058400" cy="850392"/>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Why does the same region have so many different climates?</a:t>
            </a:r>
            <a:endParaRPr lang="en-US" sz="2200" dirty="0"/>
          </a:p>
        </p:txBody>
      </p:sp>
      <p:sp>
        <p:nvSpPr>
          <p:cNvPr id="7" name="Shape 5"/>
          <p:cNvSpPr/>
          <p:nvPr/>
        </p:nvSpPr>
        <p:spPr>
          <a:xfrm>
            <a:off x="612648" y="3413760"/>
            <a:ext cx="10972800" cy="795528"/>
          </a:xfrm>
          <a:prstGeom prst="roundRect">
            <a:avLst>
              <a:gd name="adj" fmla="val 14943"/>
            </a:avLst>
          </a:prstGeom>
          <a:solidFill>
            <a:srgbClr val="E3F8ED"/>
          </a:solidFill>
          <a:ln w="19050">
            <a:solidFill>
              <a:srgbClr val="34B76F"/>
            </a:solidFill>
            <a:prstDash val="solid"/>
          </a:ln>
        </p:spPr>
      </p:sp>
      <p:sp>
        <p:nvSpPr>
          <p:cNvPr id="8" name="Text 6"/>
          <p:cNvSpPr/>
          <p:nvPr/>
        </p:nvSpPr>
        <p:spPr>
          <a:xfrm>
            <a:off x="850392" y="3413760"/>
            <a:ext cx="612648" cy="795528"/>
          </a:xfrm>
          <a:prstGeom prst="rect">
            <a:avLst/>
          </a:prstGeom>
          <a:noFill/>
          <a:ln/>
        </p:spPr>
        <p:txBody>
          <a:bodyPr wrap="square" lIns="0" tIns="0" rIns="0" bIns="0" rtlCol="0" anchor="ctr"/>
          <a:lstStyle/>
          <a:p>
            <a:pPr algn="ctr" indent="0" marL="0">
              <a:buNone/>
            </a:pPr>
            <a:r>
              <a:rPr lang="en-US" sz="1800" b="1" dirty="0">
                <a:solidFill>
                  <a:srgbClr val="34B76F"/>
                </a:solidFill>
                <a:latin typeface="Calibri" pitchFamily="34" charset="0"/>
                <a:ea typeface="Calibri" pitchFamily="34" charset="-122"/>
                <a:cs typeface="Calibri" pitchFamily="34" charset="-120"/>
              </a:rPr>
              <a:t>A</a:t>
            </a:r>
            <a:endParaRPr lang="en-US" sz="1800" dirty="0"/>
          </a:p>
        </p:txBody>
      </p:sp>
      <p:sp>
        <p:nvSpPr>
          <p:cNvPr id="9" name="Text 7"/>
          <p:cNvSpPr/>
          <p:nvPr/>
        </p:nvSpPr>
        <p:spPr>
          <a:xfrm>
            <a:off x="1581912" y="3413760"/>
            <a:ext cx="9144000" cy="795528"/>
          </a:xfrm>
          <a:prstGeom prst="rect">
            <a:avLst/>
          </a:prstGeom>
          <a:noFill/>
          <a:ln/>
        </p:spPr>
        <p:txBody>
          <a:bodyPr wrap="square" lIns="0" tIns="0" rIns="0" bIns="0" rtlCol="0" anchor="ctr"/>
          <a:lstStyle/>
          <a:p>
            <a:pPr indent="0" marL="0">
              <a:buNone/>
            </a:pPr>
            <a:r>
              <a:rPr lang="en-US" sz="1800" dirty="0">
                <a:solidFill>
                  <a:srgbClr val="0E1C42"/>
                </a:solidFill>
                <a:latin typeface="Calibri" pitchFamily="34" charset="0"/>
                <a:ea typeface="Calibri" pitchFamily="34" charset="-122"/>
                <a:cs typeface="Calibri" pitchFamily="34" charset="-120"/>
              </a:rPr>
              <a:t>The region stretches a very long way from north to south.</a:t>
            </a:r>
            <a:endParaRPr lang="en-US" sz="1800" dirty="0"/>
          </a:p>
        </p:txBody>
      </p:sp>
      <p:sp>
        <p:nvSpPr>
          <p:cNvPr id="10" name="Shape 8"/>
          <p:cNvSpPr/>
          <p:nvPr/>
        </p:nvSpPr>
        <p:spPr>
          <a:xfrm>
            <a:off x="612648" y="4450080"/>
            <a:ext cx="10972800" cy="795528"/>
          </a:xfrm>
          <a:prstGeom prst="roundRect">
            <a:avLst>
              <a:gd name="adj" fmla="val 14943"/>
            </a:avLst>
          </a:prstGeom>
          <a:solidFill>
            <a:srgbClr val="FFFFFF"/>
          </a:solidFill>
          <a:ln w="19050">
            <a:solidFill>
              <a:srgbClr val="D0D4E0"/>
            </a:solidFill>
            <a:prstDash val="solid"/>
          </a:ln>
        </p:spPr>
      </p:sp>
      <p:sp>
        <p:nvSpPr>
          <p:cNvPr id="11" name="Text 9"/>
          <p:cNvSpPr/>
          <p:nvPr/>
        </p:nvSpPr>
        <p:spPr>
          <a:xfrm>
            <a:off x="850392" y="4450080"/>
            <a:ext cx="612648" cy="795528"/>
          </a:xfrm>
          <a:prstGeom prst="rect">
            <a:avLst/>
          </a:prstGeom>
          <a:noFill/>
          <a:ln/>
        </p:spPr>
        <p:txBody>
          <a:bodyPr wrap="square" lIns="0" tIns="0" rIns="0" bIns="0" rtlCol="0" anchor="ctr"/>
          <a:lstStyle/>
          <a:p>
            <a:pPr algn="ctr" indent="0" marL="0">
              <a:buNone/>
            </a:pPr>
            <a:r>
              <a:rPr lang="en-US" sz="1800" b="1" dirty="0">
                <a:solidFill>
                  <a:srgbClr val="0E1C42"/>
                </a:solidFill>
                <a:latin typeface="Calibri" pitchFamily="34" charset="0"/>
                <a:ea typeface="Calibri" pitchFamily="34" charset="-122"/>
                <a:cs typeface="Calibri" pitchFamily="34" charset="-120"/>
              </a:rPr>
              <a:t>B</a:t>
            </a:r>
            <a:endParaRPr lang="en-US" sz="1800" dirty="0"/>
          </a:p>
        </p:txBody>
      </p:sp>
      <p:sp>
        <p:nvSpPr>
          <p:cNvPr id="12" name="Text 10"/>
          <p:cNvSpPr/>
          <p:nvPr/>
        </p:nvSpPr>
        <p:spPr>
          <a:xfrm>
            <a:off x="1581912" y="4450080"/>
            <a:ext cx="9144000" cy="795528"/>
          </a:xfrm>
          <a:prstGeom prst="rect">
            <a:avLst/>
          </a:prstGeom>
          <a:noFill/>
          <a:ln/>
        </p:spPr>
        <p:txBody>
          <a:bodyPr wrap="square" lIns="0" tIns="0" rIns="0" bIns="0" rtlCol="0" anchor="ctr"/>
          <a:lstStyle/>
          <a:p>
            <a:pPr indent="0" marL="0">
              <a:buNone/>
            </a:pPr>
            <a:r>
              <a:rPr lang="en-US" sz="1800" dirty="0">
                <a:solidFill>
                  <a:srgbClr val="0E1C42"/>
                </a:solidFill>
                <a:latin typeface="Calibri" pitchFamily="34" charset="0"/>
                <a:ea typeface="Calibri" pitchFamily="34" charset="-122"/>
                <a:cs typeface="Calibri" pitchFamily="34" charset="-120"/>
              </a:rPr>
              <a:t>Every country chooses its own climate.</a:t>
            </a:r>
            <a:endParaRPr lang="en-US" sz="1800" dirty="0"/>
          </a:p>
        </p:txBody>
      </p:sp>
      <p:sp>
        <p:nvSpPr>
          <p:cNvPr id="13" name="Shape 11"/>
          <p:cNvSpPr/>
          <p:nvPr/>
        </p:nvSpPr>
        <p:spPr>
          <a:xfrm>
            <a:off x="612648" y="5486400"/>
            <a:ext cx="10972800" cy="795528"/>
          </a:xfrm>
          <a:prstGeom prst="roundRect">
            <a:avLst>
              <a:gd name="adj" fmla="val 14943"/>
            </a:avLst>
          </a:prstGeom>
          <a:solidFill>
            <a:srgbClr val="FFFFFF"/>
          </a:solidFill>
          <a:ln w="19050">
            <a:solidFill>
              <a:srgbClr val="D0D4E0"/>
            </a:solidFill>
            <a:prstDash val="solid"/>
          </a:ln>
        </p:spPr>
      </p:sp>
      <p:sp>
        <p:nvSpPr>
          <p:cNvPr id="14" name="Text 12"/>
          <p:cNvSpPr/>
          <p:nvPr/>
        </p:nvSpPr>
        <p:spPr>
          <a:xfrm>
            <a:off x="850392" y="5486400"/>
            <a:ext cx="612648" cy="795528"/>
          </a:xfrm>
          <a:prstGeom prst="rect">
            <a:avLst/>
          </a:prstGeom>
          <a:noFill/>
          <a:ln/>
        </p:spPr>
        <p:txBody>
          <a:bodyPr wrap="square" lIns="0" tIns="0" rIns="0" bIns="0" rtlCol="0" anchor="ctr"/>
          <a:lstStyle/>
          <a:p>
            <a:pPr algn="ctr" indent="0" marL="0">
              <a:buNone/>
            </a:pPr>
            <a:r>
              <a:rPr lang="en-US" sz="1800" b="1" dirty="0">
                <a:solidFill>
                  <a:srgbClr val="0E1C42"/>
                </a:solidFill>
                <a:latin typeface="Calibri" pitchFamily="34" charset="0"/>
                <a:ea typeface="Calibri" pitchFamily="34" charset="-122"/>
                <a:cs typeface="Calibri" pitchFamily="34" charset="-120"/>
              </a:rPr>
              <a:t>C</a:t>
            </a:r>
            <a:endParaRPr lang="en-US" sz="1800" dirty="0"/>
          </a:p>
        </p:txBody>
      </p:sp>
      <p:sp>
        <p:nvSpPr>
          <p:cNvPr id="15" name="Text 13"/>
          <p:cNvSpPr/>
          <p:nvPr/>
        </p:nvSpPr>
        <p:spPr>
          <a:xfrm>
            <a:off x="1581912" y="5486400"/>
            <a:ext cx="9144000" cy="795528"/>
          </a:xfrm>
          <a:prstGeom prst="rect">
            <a:avLst/>
          </a:prstGeom>
          <a:noFill/>
          <a:ln/>
        </p:spPr>
        <p:txBody>
          <a:bodyPr wrap="square" lIns="0" tIns="0" rIns="0" bIns="0" rtlCol="0" anchor="ctr"/>
          <a:lstStyle/>
          <a:p>
            <a:pPr indent="0" marL="0">
              <a:buNone/>
            </a:pPr>
            <a:r>
              <a:rPr lang="en-US" sz="1800" dirty="0">
                <a:solidFill>
                  <a:srgbClr val="0E1C42"/>
                </a:solidFill>
                <a:latin typeface="Calibri" pitchFamily="34" charset="0"/>
                <a:ea typeface="Calibri" pitchFamily="34" charset="-122"/>
                <a:cs typeface="Calibri" pitchFamily="34" charset="-120"/>
              </a:rPr>
              <a:t>All four climates are exactly the same temperature.</a:t>
            </a:r>
            <a:endParaRPr lang="en-US" sz="1800" dirty="0"/>
          </a:p>
        </p:txBody>
      </p:sp>
      <p:sp>
        <p:nvSpPr>
          <p:cNvPr id="16" name="Shape 14"/>
          <p:cNvSpPr/>
          <p:nvPr/>
        </p:nvSpPr>
        <p:spPr>
          <a:xfrm>
            <a:off x="612648" y="5733288"/>
            <a:ext cx="10972800" cy="731520"/>
          </a:xfrm>
          <a:prstGeom prst="roundRect">
            <a:avLst>
              <a:gd name="adj" fmla="val 16250"/>
            </a:avLst>
          </a:prstGeom>
          <a:solidFill>
            <a:srgbClr val="EAF8FD"/>
          </a:solidFill>
          <a:ln/>
        </p:spPr>
      </p:sp>
      <p:sp>
        <p:nvSpPr>
          <p:cNvPr id="17" name="Text 15"/>
          <p:cNvSpPr/>
          <p:nvPr/>
        </p:nvSpPr>
        <p:spPr>
          <a:xfrm>
            <a:off x="850392" y="5733288"/>
            <a:ext cx="10058400" cy="731520"/>
          </a:xfrm>
          <a:prstGeom prst="rect">
            <a:avLst/>
          </a:prstGeom>
          <a:noFill/>
          <a:ln/>
        </p:spPr>
        <p:txBody>
          <a:bodyPr wrap="square" lIns="0" tIns="0" rIns="0" bIns="0" rtlCol="0" anchor="ctr"/>
          <a:lstStyle/>
          <a:p>
            <a:pPr indent="0" marL="0">
              <a:buNone/>
            </a:pPr>
            <a:r>
              <a:rPr lang="en-US" sz="1600" i="1" dirty="0">
                <a:solidFill>
                  <a:srgbClr val="1A8A7D"/>
                </a:solidFill>
                <a:latin typeface="Calibri" pitchFamily="34" charset="0"/>
                <a:ea typeface="Calibri" pitchFamily="34" charset="-122"/>
                <a:cs typeface="Calibri" pitchFamily="34" charset="-120"/>
              </a:rPr>
              <a:t>When a region reaches from the Arctic to the Caribbean, it crosses many climate zones along the way.</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609600" y="365760"/>
            <a:ext cx="7315200" cy="320040"/>
          </a:xfrm>
          <a:prstGeom prst="rect">
            <a:avLst/>
          </a:prstGeom>
          <a:noFill/>
          <a:ln/>
        </p:spPr>
        <p:txBody>
          <a:bodyPr wrap="square" lIns="0" tIns="0" rIns="0" bIns="0" rtlCol="0" anchor="ctr"/>
          <a:lstStyle/>
          <a:p>
            <a:pPr indent="0" marL="0">
              <a:buNone/>
            </a:pPr>
            <a:r>
              <a:rPr lang="en-US" sz="1100" b="1" spc="200" kern="0" dirty="0">
                <a:solidFill>
                  <a:srgbClr val="55C8E8"/>
                </a:solidFill>
                <a:latin typeface="Calibri" pitchFamily="34" charset="0"/>
                <a:ea typeface="Calibri" pitchFamily="34" charset="-122"/>
                <a:cs typeface="Calibri" pitchFamily="34" charset="-120"/>
              </a:rPr>
              <a:t>ERROR ANALYSIS</a:t>
            </a:r>
            <a:endParaRPr lang="en-US" sz="1100" dirty="0"/>
          </a:p>
        </p:txBody>
      </p:sp>
      <p:sp>
        <p:nvSpPr>
          <p:cNvPr id="4" name="Text 2"/>
          <p:cNvSpPr/>
          <p:nvPr/>
        </p:nvSpPr>
        <p:spPr>
          <a:xfrm>
            <a:off x="612648" y="731520"/>
            <a:ext cx="9144000" cy="731520"/>
          </a:xfrm>
          <a:prstGeom prst="rect">
            <a:avLst/>
          </a:prstGeom>
          <a:noFill/>
          <a:ln/>
        </p:spPr>
        <p:txBody>
          <a:bodyPr wrap="square" lIns="0" tIns="0" rIns="0" bIns="0" rtlCol="0" anchor="ctr"/>
          <a:lstStyle/>
          <a:p>
            <a:pPr indent="0" marL="0">
              <a:buNone/>
            </a:pPr>
            <a:r>
              <a:rPr lang="en-US" sz="4000" b="1" dirty="0">
                <a:solidFill>
                  <a:srgbClr val="0E1C42"/>
                </a:solidFill>
                <a:latin typeface="Cambria" pitchFamily="34" charset="0"/>
                <a:ea typeface="Cambria" pitchFamily="34" charset="-122"/>
                <a:cs typeface="Cambria" pitchFamily="34" charset="-120"/>
              </a:rPr>
              <a:t>Find the Mistake</a:t>
            </a:r>
            <a:endParaRPr lang="en-US" sz="4000" dirty="0"/>
          </a:p>
        </p:txBody>
      </p:sp>
      <p:sp>
        <p:nvSpPr>
          <p:cNvPr id="5" name="Shape 3"/>
          <p:cNvSpPr/>
          <p:nvPr/>
        </p:nvSpPr>
        <p:spPr>
          <a:xfrm>
            <a:off x="609600" y="1828800"/>
            <a:ext cx="10972800" cy="2438400"/>
          </a:xfrm>
          <a:prstGeom prst="roundRect">
            <a:avLst>
              <a:gd name="adj" fmla="val 6000"/>
            </a:avLst>
          </a:prstGeom>
          <a:solidFill>
            <a:srgbClr val="FFF0E6"/>
          </a:solidFill>
          <a:ln/>
          <a:effectLst>
            <a:outerShdw sx="100000" sy="100000" kx="0" ky="0" algn="bl" rotWithShape="0" blurRad="76200" dist="25400" dir="8100000">
              <a:srgbClr val="000000">
                <a:alpha val="12000"/>
              </a:srgbClr>
            </a:outerShdw>
          </a:effectLst>
        </p:spPr>
      </p:sp>
      <p:sp>
        <p:nvSpPr>
          <p:cNvPr id="6" name="Text 4"/>
          <p:cNvSpPr/>
          <p:nvPr/>
        </p:nvSpPr>
        <p:spPr>
          <a:xfrm>
            <a:off x="850392" y="1947672"/>
            <a:ext cx="3657600" cy="320040"/>
          </a:xfrm>
          <a:prstGeom prst="rect">
            <a:avLst/>
          </a:prstGeom>
          <a:noFill/>
          <a:ln/>
        </p:spPr>
        <p:txBody>
          <a:bodyPr wrap="square" lIns="0" tIns="0" rIns="0" bIns="0" rtlCol="0" anchor="ctr"/>
          <a:lstStyle/>
          <a:p>
            <a:pPr indent="0" marL="0">
              <a:buNone/>
            </a:pPr>
            <a:r>
              <a:rPr lang="en-US" sz="1300" b="1" spc="150" kern="0" dirty="0">
                <a:solidFill>
                  <a:srgbClr val="E8636B"/>
                </a:solidFill>
                <a:latin typeface="Calibri" pitchFamily="34" charset="0"/>
                <a:ea typeface="Calibri" pitchFamily="34" charset="-122"/>
                <a:cs typeface="Calibri" pitchFamily="34" charset="-120"/>
              </a:rPr>
              <a:t>A student wrote:</a:t>
            </a:r>
            <a:endParaRPr lang="en-US" sz="1300" dirty="0"/>
          </a:p>
        </p:txBody>
      </p:sp>
      <p:sp>
        <p:nvSpPr>
          <p:cNvPr id="7" name="Text 5"/>
          <p:cNvSpPr/>
          <p:nvPr/>
        </p:nvSpPr>
        <p:spPr>
          <a:xfrm>
            <a:off x="850392" y="2377440"/>
            <a:ext cx="10058400" cy="1344168"/>
          </a:xfrm>
          <a:prstGeom prst="rect">
            <a:avLst/>
          </a:prstGeom>
          <a:noFill/>
          <a:ln/>
        </p:spPr>
        <p:txBody>
          <a:bodyPr wrap="square" lIns="0" tIns="0" rIns="0" bIns="0" rtlCol="0" anchor="t"/>
          <a:lstStyle/>
          <a:p>
            <a:pPr indent="0" marL="0">
              <a:buNone/>
            </a:pPr>
            <a:r>
              <a:rPr lang="en-US" sz="2000" i="1" dirty="0">
                <a:solidFill>
                  <a:srgbClr val="0E1C42"/>
                </a:solidFill>
                <a:latin typeface="Cambria" pitchFamily="34" charset="0"/>
                <a:ea typeface="Cambria" pitchFamily="34" charset="-122"/>
                <a:cs typeface="Cambria" pitchFamily="34" charset="-120"/>
              </a:rPr>
              <a:t>"The boreal forest is in the far north of Canada. No trees can grow there because the ground is frozen. Only moss and small shrubs survive."</a:t>
            </a:r>
            <a:endParaRPr lang="en-US" sz="2000" dirty="0"/>
          </a:p>
        </p:txBody>
      </p:sp>
      <p:sp>
        <p:nvSpPr>
          <p:cNvPr id="8" name="Shape 6"/>
          <p:cNvSpPr/>
          <p:nvPr/>
        </p:nvSpPr>
        <p:spPr>
          <a:xfrm>
            <a:off x="609600" y="4632960"/>
            <a:ext cx="10972800" cy="3048000"/>
          </a:xfrm>
          <a:prstGeom prst="roundRect">
            <a:avLst>
              <a:gd name="adj" fmla="val 4800"/>
            </a:avLst>
          </a:prstGeom>
          <a:solidFill>
            <a:srgbClr val="E3F8ED"/>
          </a:solidFill>
          <a:ln/>
          <a:effectLst>
            <a:outerShdw sx="100000" sy="100000" kx="0" ky="0" algn="bl" rotWithShape="0" blurRad="76200" dist="25400" dir="8100000">
              <a:srgbClr val="000000">
                <a:alpha val="12000"/>
              </a:srgbClr>
            </a:outerShdw>
          </a:effectLst>
        </p:spPr>
      </p:sp>
      <p:sp>
        <p:nvSpPr>
          <p:cNvPr id="9" name="Text 7"/>
          <p:cNvSpPr/>
          <p:nvPr/>
        </p:nvSpPr>
        <p:spPr>
          <a:xfrm>
            <a:off x="850392" y="4754880"/>
            <a:ext cx="3657600" cy="320040"/>
          </a:xfrm>
          <a:prstGeom prst="rect">
            <a:avLst/>
          </a:prstGeom>
          <a:noFill/>
          <a:ln/>
        </p:spPr>
        <p:txBody>
          <a:bodyPr wrap="square" lIns="0" tIns="0" rIns="0" bIns="0" rtlCol="0" anchor="ctr"/>
          <a:lstStyle/>
          <a:p>
            <a:pPr indent="0" marL="0">
              <a:buNone/>
            </a:pPr>
            <a:r>
              <a:rPr lang="en-US" sz="1300" b="1" spc="150" kern="0" dirty="0">
                <a:solidFill>
                  <a:srgbClr val="34B76F"/>
                </a:solidFill>
                <a:latin typeface="Calibri" pitchFamily="34" charset="0"/>
                <a:ea typeface="Calibri" pitchFamily="34" charset="-122"/>
                <a:cs typeface="Calibri" pitchFamily="34" charset="-120"/>
              </a:rPr>
              <a:t>What went wrong?</a:t>
            </a:r>
            <a:endParaRPr lang="en-US" sz="1300" dirty="0"/>
          </a:p>
        </p:txBody>
      </p:sp>
      <p:sp>
        <p:nvSpPr>
          <p:cNvPr id="10" name="Text 8"/>
          <p:cNvSpPr/>
          <p:nvPr/>
        </p:nvSpPr>
        <p:spPr>
          <a:xfrm>
            <a:off x="850392" y="5184648"/>
            <a:ext cx="10058400" cy="2679192"/>
          </a:xfrm>
          <a:prstGeom prst="rect">
            <a:avLst/>
          </a:prstGeom>
          <a:noFill/>
          <a:ln/>
        </p:spPr>
        <p:txBody>
          <a:bodyPr wrap="square" lIns="0" tIns="0" rIns="0" bIns="0" rtlCol="0" anchor="t"/>
          <a:lstStyle/>
          <a:p>
            <a:pPr indent="0" marL="0">
              <a:buNone/>
            </a:pPr>
            <a:r>
              <a:rPr lang="en-US" sz="1700" b="1" dirty="0">
                <a:solidFill>
                  <a:srgbClr val="0E1C42"/>
                </a:solidFill>
                <a:latin typeface="Calibri" pitchFamily="34" charset="0"/>
                <a:ea typeface="Calibri" pitchFamily="34" charset="-122"/>
                <a:cs typeface="Calibri" pitchFamily="34" charset="-120"/>
              </a:rPr>
              <a:t>The student mixed up two zones!
</a:t>
            </a:r>
            <a:pPr indent="0" marL="0">
              <a:buNone/>
            </a:pPr>
            <a:r>
              <a:rPr lang="en-US" sz="1700" b="1" dirty="0">
                <a:solidFill>
                  <a:srgbClr val="1A8A7D"/>
                </a:solidFill>
                <a:latin typeface="Calibri" pitchFamily="34" charset="0"/>
                <a:ea typeface="Calibri" pitchFamily="34" charset="-122"/>
                <a:cs typeface="Calibri" pitchFamily="34" charset="-120"/>
              </a:rPr>
              <a:t>Arctic Tundra</a:t>
            </a:r>
            <a:pPr indent="0" marL="0">
              <a:buNone/>
            </a:pPr>
            <a:r>
              <a:rPr lang="en-US" sz="1700" dirty="0">
                <a:solidFill>
                  <a:srgbClr val="0E1C42"/>
                </a:solidFill>
                <a:latin typeface="Calibri" pitchFamily="34" charset="0"/>
                <a:ea typeface="Calibri" pitchFamily="34" charset="-122"/>
                <a:cs typeface="Calibri" pitchFamily="34" charset="-120"/>
              </a:rPr>
              <a:t> = far north, frozen ground, no trees, only moss and shrubs.
</a:t>
            </a:r>
            <a:pPr indent="0" marL="0">
              <a:buNone/>
            </a:pPr>
            <a:r>
              <a:rPr lang="en-US" sz="1700" b="1" dirty="0">
                <a:solidFill>
                  <a:srgbClr val="34B76F"/>
                </a:solidFill>
                <a:latin typeface="Calibri" pitchFamily="34" charset="0"/>
                <a:ea typeface="Calibri" pitchFamily="34" charset="-122"/>
                <a:cs typeface="Calibri" pitchFamily="34" charset="-120"/>
              </a:rPr>
              <a:t>Boreal Forest</a:t>
            </a:r>
            <a:pPr indent="0" marL="0">
              <a:buNone/>
            </a:pPr>
            <a:r>
              <a:rPr lang="en-US" sz="1700" dirty="0">
                <a:solidFill>
                  <a:srgbClr val="0E1C42"/>
                </a:solidFill>
                <a:latin typeface="Calibri" pitchFamily="34" charset="0"/>
                <a:ea typeface="Calibri" pitchFamily="34" charset="-122"/>
                <a:cs typeface="Calibri" pitchFamily="34" charset="-120"/>
              </a:rPr>
              <a:t> = most of Canada, snowy winters, but TALL EVERGREEN TREES (spruce, pine) grow there.
</a:t>
            </a:r>
            <a:pPr indent="0" marL="0">
              <a:buNone/>
            </a:pPr>
            <a:r>
              <a:rPr lang="en-US" sz="1700" i="1" dirty="0">
                <a:solidFill>
                  <a:srgbClr val="D4943A"/>
                </a:solidFill>
                <a:latin typeface="Calibri" pitchFamily="34" charset="0"/>
                <a:ea typeface="Calibri" pitchFamily="34" charset="-122"/>
                <a:cs typeface="Calibri" pitchFamily="34" charset="-120"/>
              </a:rPr>
              <a:t>Tip: The word "forest" is the clue — boreal forest has trees!</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609600" y="365760"/>
            <a:ext cx="10972800" cy="320040"/>
          </a:xfrm>
          <a:prstGeom prst="rect">
            <a:avLst/>
          </a:prstGeom>
          <a:noFill/>
          <a:ln/>
        </p:spPr>
        <p:txBody>
          <a:bodyPr wrap="square" lIns="0" tIns="0" rIns="0" bIns="0" rtlCol="0" anchor="ctr"/>
          <a:lstStyle/>
          <a:p>
            <a:pPr indent="0" marL="0">
              <a:buNone/>
            </a:pPr>
            <a:r>
              <a:rPr lang="en-US" sz="1100" b="1" spc="200" kern="0" dirty="0">
                <a:solidFill>
                  <a:srgbClr val="55C8E8"/>
                </a:solidFill>
                <a:latin typeface="Calibri" pitchFamily="34" charset="0"/>
                <a:ea typeface="Calibri" pitchFamily="34" charset="-122"/>
                <a:cs typeface="Calibri" pitchFamily="34" charset="-120"/>
              </a:rPr>
              <a:t>ASSIGNMENT — EVIDENCE QUESTIONS</a:t>
            </a:r>
            <a:endParaRPr lang="en-US" sz="1100" dirty="0"/>
          </a:p>
        </p:txBody>
      </p:sp>
      <p:sp>
        <p:nvSpPr>
          <p:cNvPr id="4" name="Text 2"/>
          <p:cNvSpPr/>
          <p:nvPr/>
        </p:nvSpPr>
        <p:spPr>
          <a:xfrm>
            <a:off x="612648" y="731520"/>
            <a:ext cx="9144000" cy="731520"/>
          </a:xfrm>
          <a:prstGeom prst="rect">
            <a:avLst/>
          </a:prstGeom>
          <a:noFill/>
          <a:ln/>
        </p:spPr>
        <p:txBody>
          <a:bodyPr wrap="square" lIns="0" tIns="0" rIns="0" bIns="0" rtlCol="0" anchor="ctr"/>
          <a:lstStyle/>
          <a:p>
            <a:pPr indent="0" marL="0">
              <a:buNone/>
            </a:pPr>
            <a:r>
              <a:rPr lang="en-US" sz="4000" b="1" dirty="0">
                <a:solidFill>
                  <a:srgbClr val="0E1C42"/>
                </a:solidFill>
                <a:latin typeface="Cambria" pitchFamily="34" charset="0"/>
                <a:ea typeface="Cambria" pitchFamily="34" charset="-122"/>
                <a:cs typeface="Cambria" pitchFamily="34" charset="-120"/>
              </a:rPr>
              <a:t>Show What You Know</a:t>
            </a:r>
            <a:endParaRPr lang="en-US" sz="4000" dirty="0"/>
          </a:p>
        </p:txBody>
      </p:sp>
      <p:sp>
        <p:nvSpPr>
          <p:cNvPr id="5" name="Shape 3"/>
          <p:cNvSpPr/>
          <p:nvPr/>
        </p:nvSpPr>
        <p:spPr>
          <a:xfrm>
            <a:off x="609600" y="1828800"/>
            <a:ext cx="10972800" cy="1706880"/>
          </a:xfrm>
          <a:prstGeom prst="roundRect">
            <a:avLst>
              <a:gd name="adj" fmla="val 8571"/>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612648" y="1828800"/>
            <a:ext cx="484632" cy="484632"/>
          </a:xfrm>
          <a:prstGeom prst="roundRect">
            <a:avLst>
              <a:gd name="adj" fmla="val 50943"/>
            </a:avLst>
          </a:prstGeom>
          <a:solidFill>
            <a:srgbClr val="1A8A7D"/>
          </a:solidFill>
          <a:ln/>
        </p:spPr>
      </p:sp>
      <p:sp>
        <p:nvSpPr>
          <p:cNvPr id="7" name="Text 5"/>
          <p:cNvSpPr/>
          <p:nvPr/>
        </p:nvSpPr>
        <p:spPr>
          <a:xfrm>
            <a:off x="612648" y="1828800"/>
            <a:ext cx="484632" cy="48463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1344168" y="1828800"/>
            <a:ext cx="9756648" cy="484632"/>
          </a:xfrm>
          <a:prstGeom prst="rect">
            <a:avLst/>
          </a:prstGeom>
          <a:noFill/>
          <a:ln/>
        </p:spPr>
        <p:txBody>
          <a:bodyPr wrap="square" lIns="0" tIns="0" rIns="0" bIns="0"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Why don't tall trees grow in the Arctic Tundra? Use one detail from the lesson.</a:t>
            </a:r>
            <a:endParaRPr lang="en-US" sz="1800" dirty="0"/>
          </a:p>
        </p:txBody>
      </p:sp>
      <p:sp>
        <p:nvSpPr>
          <p:cNvPr id="9" name="Text 7"/>
          <p:cNvSpPr/>
          <p:nvPr/>
        </p:nvSpPr>
        <p:spPr>
          <a:xfrm>
            <a:off x="1344168" y="2441448"/>
            <a:ext cx="9756648" cy="365760"/>
          </a:xfrm>
          <a:prstGeom prst="rect">
            <a:avLst/>
          </a:prstGeom>
          <a:noFill/>
          <a:ln/>
        </p:spPr>
        <p:txBody>
          <a:bodyPr wrap="square" lIns="0" tIns="0" rIns="0" bIns="0" rtlCol="0" anchor="ctr"/>
          <a:lstStyle/>
          <a:p>
            <a:pPr indent="0" marL="0">
              <a:buNone/>
            </a:pPr>
            <a:r>
              <a:rPr lang="en-US" sz="1400" i="1" dirty="0">
                <a:solidFill>
                  <a:srgbClr val="7A88A8"/>
                </a:solidFill>
                <a:latin typeface="Calibri" pitchFamily="34" charset="0"/>
                <a:ea typeface="Calibri" pitchFamily="34" charset="-122"/>
                <a:cs typeface="Calibri" pitchFamily="34" charset="-120"/>
              </a:rPr>
              <a:t>Think about what the ground and the weather are like there.</a:t>
            </a:r>
            <a:endParaRPr lang="en-US" sz="1400" dirty="0"/>
          </a:p>
        </p:txBody>
      </p:sp>
      <p:sp>
        <p:nvSpPr>
          <p:cNvPr id="10" name="Shape 8"/>
          <p:cNvSpPr/>
          <p:nvPr/>
        </p:nvSpPr>
        <p:spPr>
          <a:xfrm>
            <a:off x="609600" y="3779520"/>
            <a:ext cx="10972800" cy="1950720"/>
          </a:xfrm>
          <a:prstGeom prst="roundRect">
            <a:avLst>
              <a:gd name="adj" fmla="val 7500"/>
            </a:avLst>
          </a:prstGeom>
          <a:solidFill>
            <a:srgbClr val="FFFFFF"/>
          </a:solidFill>
          <a:ln/>
          <a:effectLst>
            <a:outerShdw sx="100000" sy="100000" kx="0" ky="0" algn="bl" rotWithShape="0" blurRad="76200" dist="25400" dir="8100000">
              <a:srgbClr val="000000">
                <a:alpha val="12000"/>
              </a:srgbClr>
            </a:outerShdw>
          </a:effectLst>
        </p:spPr>
      </p:sp>
      <p:sp>
        <p:nvSpPr>
          <p:cNvPr id="11" name="Shape 9"/>
          <p:cNvSpPr/>
          <p:nvPr/>
        </p:nvSpPr>
        <p:spPr>
          <a:xfrm>
            <a:off x="612648" y="3904488"/>
            <a:ext cx="484632" cy="484632"/>
          </a:xfrm>
          <a:prstGeom prst="roundRect">
            <a:avLst>
              <a:gd name="adj" fmla="val 50943"/>
            </a:avLst>
          </a:prstGeom>
          <a:solidFill>
            <a:srgbClr val="1A8A7D"/>
          </a:solidFill>
          <a:ln/>
        </p:spPr>
      </p:sp>
      <p:sp>
        <p:nvSpPr>
          <p:cNvPr id="12" name="Text 10"/>
          <p:cNvSpPr/>
          <p:nvPr/>
        </p:nvSpPr>
        <p:spPr>
          <a:xfrm>
            <a:off x="612648" y="3904488"/>
            <a:ext cx="484632" cy="48463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1344168" y="3776472"/>
            <a:ext cx="9756648" cy="731520"/>
          </a:xfrm>
          <a:prstGeom prst="rect">
            <a:avLst/>
          </a:prstGeom>
          <a:noFill/>
          <a:ln/>
        </p:spPr>
        <p:txBody>
          <a:bodyPr wrap="square" lIns="0" tIns="0" rIns="0" bIns="0"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Name one plant from the desert and one plant from the tropical zone. Explain how each plant is suited to its climate.</a:t>
            </a:r>
            <a:endParaRPr lang="en-US" sz="1800" dirty="0"/>
          </a:p>
        </p:txBody>
      </p:sp>
      <p:sp>
        <p:nvSpPr>
          <p:cNvPr id="14" name="Text 12"/>
          <p:cNvSpPr/>
          <p:nvPr/>
        </p:nvSpPr>
        <p:spPr>
          <a:xfrm>
            <a:off x="1344168" y="4636008"/>
            <a:ext cx="9756648" cy="365760"/>
          </a:xfrm>
          <a:prstGeom prst="rect">
            <a:avLst/>
          </a:prstGeom>
          <a:noFill/>
          <a:ln/>
        </p:spPr>
        <p:txBody>
          <a:bodyPr wrap="square" lIns="0" tIns="0" rIns="0" bIns="0" rtlCol="0" anchor="ctr"/>
          <a:lstStyle/>
          <a:p>
            <a:pPr indent="0" marL="0">
              <a:buNone/>
            </a:pPr>
            <a:r>
              <a:rPr lang="en-US" sz="1400" i="1" dirty="0">
                <a:solidFill>
                  <a:srgbClr val="7A88A8"/>
                </a:solidFill>
                <a:latin typeface="Calibri" pitchFamily="34" charset="0"/>
                <a:ea typeface="Calibri" pitchFamily="34" charset="-122"/>
                <a:cs typeface="Calibri" pitchFamily="34" charset="-120"/>
              </a:rPr>
              <a:t>Match a plant to a climate, then say what helps that plant survive there.</a:t>
            </a:r>
            <a:endParaRPr lang="en-US" sz="1400" dirty="0"/>
          </a:p>
        </p:txBody>
      </p:sp>
      <p:sp>
        <p:nvSpPr>
          <p:cNvPr id="15" name="Shape 13"/>
          <p:cNvSpPr/>
          <p:nvPr/>
        </p:nvSpPr>
        <p:spPr>
          <a:xfrm>
            <a:off x="609600" y="5974080"/>
            <a:ext cx="10972800" cy="1706880"/>
          </a:xfrm>
          <a:prstGeom prst="roundRect">
            <a:avLst>
              <a:gd name="adj" fmla="val 8571"/>
            </a:avLst>
          </a:prstGeom>
          <a:solidFill>
            <a:srgbClr val="FFFFFF"/>
          </a:solidFill>
          <a:ln/>
          <a:effectLst>
            <a:outerShdw sx="100000" sy="100000" kx="0" ky="0" algn="bl" rotWithShape="0" blurRad="76200" dist="25400" dir="8100000">
              <a:srgbClr val="000000">
                <a:alpha val="12000"/>
              </a:srgbClr>
            </a:outerShdw>
          </a:effectLst>
        </p:spPr>
      </p:sp>
      <p:sp>
        <p:nvSpPr>
          <p:cNvPr id="16" name="Shape 14"/>
          <p:cNvSpPr/>
          <p:nvPr/>
        </p:nvSpPr>
        <p:spPr>
          <a:xfrm>
            <a:off x="612648" y="6099048"/>
            <a:ext cx="484632" cy="484632"/>
          </a:xfrm>
          <a:prstGeom prst="roundRect">
            <a:avLst>
              <a:gd name="adj" fmla="val 50943"/>
            </a:avLst>
          </a:prstGeom>
          <a:solidFill>
            <a:srgbClr val="1A8A7D"/>
          </a:solidFill>
          <a:ln/>
        </p:spPr>
      </p:sp>
      <p:sp>
        <p:nvSpPr>
          <p:cNvPr id="17" name="Text 15"/>
          <p:cNvSpPr/>
          <p:nvPr/>
        </p:nvSpPr>
        <p:spPr>
          <a:xfrm>
            <a:off x="612648" y="6099048"/>
            <a:ext cx="484632" cy="48463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8" name="Text 16"/>
          <p:cNvSpPr/>
          <p:nvPr/>
        </p:nvSpPr>
        <p:spPr>
          <a:xfrm>
            <a:off x="1344168" y="6099048"/>
            <a:ext cx="9756648" cy="484632"/>
          </a:xfrm>
          <a:prstGeom prst="rect">
            <a:avLst/>
          </a:prstGeom>
          <a:noFill/>
          <a:ln/>
        </p:spPr>
        <p:txBody>
          <a:bodyPr wrap="square" lIns="0" tIns="0" rIns="0" bIns="0"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How does climate help shape how a place looks? Use evidence from today's lesson.</a:t>
            </a:r>
            <a:endParaRPr lang="en-US" sz="1800" dirty="0"/>
          </a:p>
        </p:txBody>
      </p:sp>
      <p:sp>
        <p:nvSpPr>
          <p:cNvPr id="19" name="Text 17"/>
          <p:cNvSpPr/>
          <p:nvPr/>
        </p:nvSpPr>
        <p:spPr>
          <a:xfrm>
            <a:off x="1344168" y="6702552"/>
            <a:ext cx="9756648" cy="365760"/>
          </a:xfrm>
          <a:prstGeom prst="rect">
            <a:avLst/>
          </a:prstGeom>
          <a:noFill/>
          <a:ln/>
        </p:spPr>
        <p:txBody>
          <a:bodyPr wrap="square" lIns="0" tIns="0" rIns="0" bIns="0" rtlCol="0" anchor="ctr"/>
          <a:lstStyle/>
          <a:p>
            <a:pPr indent="0" marL="0">
              <a:buNone/>
            </a:pPr>
            <a:r>
              <a:rPr lang="en-US" sz="1400" i="1" dirty="0">
                <a:solidFill>
                  <a:srgbClr val="7A88A8"/>
                </a:solidFill>
                <a:latin typeface="Calibri" pitchFamily="34" charset="0"/>
                <a:ea typeface="Calibri" pitchFamily="34" charset="-122"/>
                <a:cs typeface="Calibri" pitchFamily="34" charset="-120"/>
              </a:rPr>
              <a:t>Connect climate to what you would actually see — plants, ground, weather.</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2F8"/>
          </a:solidFill>
          <a:ln/>
        </p:spPr>
      </p:sp>
      <p:sp>
        <p:nvSpPr>
          <p:cNvPr id="3" name="Text 1"/>
          <p:cNvSpPr/>
          <p:nvPr/>
        </p:nvSpPr>
        <p:spPr>
          <a:xfrm>
            <a:off x="609600" y="365760"/>
            <a:ext cx="10972800" cy="320040"/>
          </a:xfrm>
          <a:prstGeom prst="rect">
            <a:avLst/>
          </a:prstGeom>
          <a:noFill/>
          <a:ln/>
        </p:spPr>
        <p:txBody>
          <a:bodyPr wrap="square" lIns="0" tIns="0" rIns="0" bIns="0" rtlCol="0" anchor="ctr"/>
          <a:lstStyle/>
          <a:p>
            <a:pPr indent="0" marL="0">
              <a:buNone/>
            </a:pPr>
            <a:r>
              <a:rPr lang="en-US" sz="1100" b="1" spc="200" kern="0" dirty="0">
                <a:solidFill>
                  <a:srgbClr val="55C8E8"/>
                </a:solidFill>
                <a:latin typeface="Calibri" pitchFamily="34" charset="0"/>
                <a:ea typeface="Calibri" pitchFamily="34" charset="-122"/>
                <a:cs typeface="Calibri" pitchFamily="34" charset="-120"/>
              </a:rPr>
              <a:t>ASSIGNMENT — CURATOR TASK</a:t>
            </a:r>
            <a:endParaRPr lang="en-US" sz="1100" dirty="0"/>
          </a:p>
        </p:txBody>
      </p:sp>
      <p:sp>
        <p:nvSpPr>
          <p:cNvPr id="4" name="Text 2"/>
          <p:cNvSpPr/>
          <p:nvPr/>
        </p:nvSpPr>
        <p:spPr>
          <a:xfrm>
            <a:off x="612648" y="731520"/>
            <a:ext cx="9144000" cy="731520"/>
          </a:xfrm>
          <a:prstGeom prst="rect">
            <a:avLst/>
          </a:prstGeom>
          <a:noFill/>
          <a:ln/>
        </p:spPr>
        <p:txBody>
          <a:bodyPr wrap="square" lIns="0" tIns="0" rIns="0" bIns="0" rtlCol="0" anchor="ctr"/>
          <a:lstStyle/>
          <a:p>
            <a:pPr indent="0" marL="0">
              <a:buNone/>
            </a:pPr>
            <a:r>
              <a:rPr lang="en-US" sz="4000" b="1" dirty="0">
                <a:solidFill>
                  <a:srgbClr val="0E1C42"/>
                </a:solidFill>
                <a:latin typeface="Cambria" pitchFamily="34" charset="0"/>
                <a:ea typeface="Cambria" pitchFamily="34" charset="-122"/>
                <a:cs typeface="Cambria" pitchFamily="34" charset="-120"/>
              </a:rPr>
              <a:t>Climate Panel Comparison</a:t>
            </a:r>
            <a:endParaRPr lang="en-US" sz="4000" dirty="0"/>
          </a:p>
        </p:txBody>
      </p:sp>
      <p:sp>
        <p:nvSpPr>
          <p:cNvPr id="5" name="Shape 3"/>
          <p:cNvSpPr/>
          <p:nvPr/>
        </p:nvSpPr>
        <p:spPr>
          <a:xfrm>
            <a:off x="609600" y="1828800"/>
            <a:ext cx="10972800" cy="3657600"/>
          </a:xfrm>
          <a:prstGeom prst="roundRect">
            <a:avLst>
              <a:gd name="adj" fmla="val 4000"/>
            </a:avLst>
          </a:prstGeom>
          <a:solidFill>
            <a:srgbClr val="FFF3DC"/>
          </a:solidFill>
          <a:ln/>
          <a:effectLst>
            <a:outerShdw sx="100000" sy="100000" kx="0" ky="0" algn="bl" rotWithShape="0" blurRad="76200" dist="25400" dir="8100000">
              <a:srgbClr val="000000">
                <a:alpha val="12000"/>
              </a:srgbClr>
            </a:outerShdw>
          </a:effectLst>
        </p:spPr>
      </p:sp>
      <p:sp>
        <p:nvSpPr>
          <p:cNvPr id="6" name="Text 4"/>
          <p:cNvSpPr/>
          <p:nvPr/>
        </p:nvSpPr>
        <p:spPr>
          <a:xfrm>
            <a:off x="850392" y="1947672"/>
            <a:ext cx="3657600" cy="320040"/>
          </a:xfrm>
          <a:prstGeom prst="rect">
            <a:avLst/>
          </a:prstGeom>
          <a:noFill/>
          <a:ln/>
        </p:spPr>
        <p:txBody>
          <a:bodyPr wrap="square" lIns="0" tIns="0" rIns="0" bIns="0" rtlCol="0" anchor="ctr"/>
          <a:lstStyle/>
          <a:p>
            <a:pPr indent="0" marL="0">
              <a:buNone/>
            </a:pPr>
            <a:r>
              <a:rPr lang="en-US" sz="1200" b="1" spc="200" kern="0" dirty="0">
                <a:solidFill>
                  <a:srgbClr val="D4943A"/>
                </a:solidFill>
                <a:latin typeface="Calibri" pitchFamily="34" charset="0"/>
                <a:ea typeface="Calibri" pitchFamily="34" charset="-122"/>
                <a:cs typeface="Calibri" pitchFamily="34" charset="-120"/>
              </a:rPr>
              <a:t>CURATOR TASK</a:t>
            </a:r>
            <a:endParaRPr lang="en-US" sz="1200" dirty="0"/>
          </a:p>
        </p:txBody>
      </p:sp>
      <p:sp>
        <p:nvSpPr>
          <p:cNvPr id="7" name="Text 5"/>
          <p:cNvSpPr/>
          <p:nvPr/>
        </p:nvSpPr>
        <p:spPr>
          <a:xfrm>
            <a:off x="850392" y="2377440"/>
            <a:ext cx="10058400" cy="1828800"/>
          </a:xfrm>
          <a:prstGeom prst="rect">
            <a:avLst/>
          </a:prstGeom>
          <a:noFill/>
          <a:ln/>
        </p:spPr>
        <p:txBody>
          <a:bodyPr wrap="square" lIns="0" tIns="0" rIns="0" bIns="0" rtlCol="0" anchor="t"/>
          <a:lstStyle/>
          <a:p>
            <a:pPr indent="0" marL="0">
              <a:buNone/>
            </a:pPr>
            <a:r>
              <a:rPr lang="en-US" sz="1700" dirty="0">
                <a:solidFill>
                  <a:srgbClr val="0E1C42"/>
                </a:solidFill>
                <a:latin typeface="Calibri" pitchFamily="34" charset="0"/>
                <a:ea typeface="Calibri" pitchFamily="34" charset="-122"/>
                <a:cs typeface="Calibri" pitchFamily="34" charset="-120"/>
              </a:rPr>
              <a:t>Pick two climate zones from today's lesson (any two of: Arctic Tundra, Boreal Forest, Temperate, Desert, or Tropical). Write a 3-4 sentence comparison. Tell visitors: where each one is, what the weather is like, and one plant that grows there. End with one sentence about the biggest difference between them.</a:t>
            </a:r>
            <a:endParaRPr lang="en-US" sz="1700" dirty="0"/>
          </a:p>
        </p:txBody>
      </p:sp>
      <p:sp>
        <p:nvSpPr>
          <p:cNvPr id="8" name="Text 6"/>
          <p:cNvSpPr/>
          <p:nvPr/>
        </p:nvSpPr>
        <p:spPr>
          <a:xfrm>
            <a:off x="850392" y="4389120"/>
            <a:ext cx="3657600" cy="320040"/>
          </a:xfrm>
          <a:prstGeom prst="rect">
            <a:avLst/>
          </a:prstGeom>
          <a:noFill/>
          <a:ln/>
        </p:spPr>
        <p:txBody>
          <a:bodyPr wrap="square" lIns="0" tIns="0" rIns="0" bIns="0" rtlCol="0" anchor="ctr"/>
          <a:lstStyle/>
          <a:p>
            <a:pPr indent="0" marL="0">
              <a:buNone/>
            </a:pPr>
            <a:r>
              <a:rPr lang="en-US" sz="1400" b="1" dirty="0">
                <a:solidFill>
                  <a:srgbClr val="D4943A"/>
                </a:solidFill>
                <a:latin typeface="Calibri" pitchFamily="34" charset="0"/>
                <a:ea typeface="Calibri" pitchFamily="34" charset="-122"/>
                <a:cs typeface="Calibri" pitchFamily="34" charset="-120"/>
              </a:rPr>
              <a:t>Your label should answer:</a:t>
            </a:r>
            <a:endParaRPr lang="en-US" sz="1400" dirty="0"/>
          </a:p>
        </p:txBody>
      </p:sp>
      <p:sp>
        <p:nvSpPr>
          <p:cNvPr id="9" name="Text 7"/>
          <p:cNvSpPr/>
          <p:nvPr/>
        </p:nvSpPr>
        <p:spPr>
          <a:xfrm>
            <a:off x="850392" y="4818888"/>
            <a:ext cx="10058400" cy="457200"/>
          </a:xfrm>
          <a:prstGeom prst="rect">
            <a:avLst/>
          </a:prstGeom>
          <a:noFill/>
          <a:ln/>
        </p:spPr>
        <p:txBody>
          <a:bodyPr wrap="square" lIns="0" tIns="0" rIns="0" bIns="0" rtlCol="0" anchor="t"/>
          <a:lstStyle/>
          <a:p>
            <a:pPr indent="0" marL="0">
              <a:buNone/>
            </a:pPr>
            <a:r>
              <a:rPr lang="en-US" sz="1500" dirty="0">
                <a:solidFill>
                  <a:srgbClr val="0E1C42"/>
                </a:solidFill>
                <a:latin typeface="Calibri" pitchFamily="34" charset="0"/>
                <a:ea typeface="Calibri" pitchFamily="34" charset="-122"/>
                <a:cs typeface="Calibri" pitchFamily="34" charset="-120"/>
              </a:rPr>
              <a:t>Which two zones are you comparing?   </a:t>
            </a:r>
            <a:pPr indent="0" marL="0">
              <a:buNone/>
            </a:pPr>
            <a:r>
              <a:rPr lang="en-US" sz="1500" dirty="0">
                <a:solidFill>
                  <a:srgbClr val="0E1C42"/>
                </a:solidFill>
                <a:latin typeface="Calibri" pitchFamily="34" charset="0"/>
                <a:ea typeface="Calibri" pitchFamily="34" charset="-122"/>
                <a:cs typeface="Calibri" pitchFamily="34" charset="-120"/>
              </a:rPr>
              <a:t>Where are they?   </a:t>
            </a:r>
            <a:pPr indent="0" marL="0">
              <a:buNone/>
            </a:pPr>
            <a:r>
              <a:rPr lang="en-US" sz="1500" dirty="0">
                <a:solidFill>
                  <a:srgbClr val="0E1C42"/>
                </a:solidFill>
                <a:latin typeface="Calibri" pitchFamily="34" charset="0"/>
                <a:ea typeface="Calibri" pitchFamily="34" charset="-122"/>
                <a:cs typeface="Calibri" pitchFamily="34" charset="-120"/>
              </a:rPr>
              <a:t>What grows in each?   </a:t>
            </a:r>
            <a:pPr indent="0" marL="0">
              <a:buNone/>
            </a:pPr>
            <a:r>
              <a:rPr lang="en-US" sz="1500" dirty="0">
                <a:solidFill>
                  <a:srgbClr val="0E1C42"/>
                </a:solidFill>
                <a:latin typeface="Calibri" pitchFamily="34" charset="0"/>
                <a:ea typeface="Calibri" pitchFamily="34" charset="-122"/>
                <a:cs typeface="Calibri" pitchFamily="34" charset="-120"/>
              </a:rPr>
              <a:t>What's the biggest difference?</a:t>
            </a:r>
            <a:endParaRPr lang="en-US" sz="1500" dirty="0"/>
          </a:p>
        </p:txBody>
      </p:sp>
      <p:sp>
        <p:nvSpPr>
          <p:cNvPr id="10" name="Shape 8"/>
          <p:cNvSpPr/>
          <p:nvPr/>
        </p:nvSpPr>
        <p:spPr>
          <a:xfrm>
            <a:off x="609600" y="5486400"/>
            <a:ext cx="10972800" cy="1706880"/>
          </a:xfrm>
          <a:prstGeom prst="roundRect">
            <a:avLst>
              <a:gd name="adj" fmla="val 8571"/>
            </a:avLst>
          </a:prstGeom>
          <a:solidFill>
            <a:srgbClr val="F0E8FF"/>
          </a:solidFill>
          <a:ln/>
          <a:effectLst>
            <a:outerShdw sx="100000" sy="100000" kx="0" ky="0" algn="bl" rotWithShape="0" blurRad="76200" dist="25400" dir="8100000">
              <a:srgbClr val="000000">
                <a:alpha val="12000"/>
              </a:srgbClr>
            </a:outerShdw>
          </a:effectLst>
        </p:spPr>
      </p:sp>
      <p:sp>
        <p:nvSpPr>
          <p:cNvPr id="11" name="Text 9"/>
          <p:cNvSpPr/>
          <p:nvPr/>
        </p:nvSpPr>
        <p:spPr>
          <a:xfrm>
            <a:off x="850392" y="5605272"/>
            <a:ext cx="3657600" cy="320040"/>
          </a:xfrm>
          <a:prstGeom prst="rect">
            <a:avLst/>
          </a:prstGeom>
          <a:noFill/>
          <a:ln/>
        </p:spPr>
        <p:txBody>
          <a:bodyPr wrap="square" lIns="0" tIns="0" rIns="0" bIns="0" rtlCol="0" anchor="ctr"/>
          <a:lstStyle/>
          <a:p>
            <a:pPr indent="0" marL="0">
              <a:buNone/>
            </a:pPr>
            <a:r>
              <a:rPr lang="en-US" sz="1200" b="1" spc="200" kern="0" dirty="0">
                <a:solidFill>
                  <a:srgbClr val="8B6FC0"/>
                </a:solidFill>
                <a:latin typeface="Calibri" pitchFamily="34" charset="0"/>
                <a:ea typeface="Calibri" pitchFamily="34" charset="-122"/>
                <a:cs typeface="Calibri" pitchFamily="34" charset="-120"/>
              </a:rPr>
              <a:t>CURATOR'S CHRONICLE</a:t>
            </a:r>
            <a:endParaRPr lang="en-US" sz="1200" dirty="0"/>
          </a:p>
        </p:txBody>
      </p:sp>
      <p:sp>
        <p:nvSpPr>
          <p:cNvPr id="12" name="Text 10"/>
          <p:cNvSpPr/>
          <p:nvPr/>
        </p:nvSpPr>
        <p:spPr>
          <a:xfrm>
            <a:off x="850392" y="6035040"/>
            <a:ext cx="10058400" cy="914400"/>
          </a:xfrm>
          <a:prstGeom prst="rect">
            <a:avLst/>
          </a:prstGeom>
          <a:noFill/>
          <a:ln/>
        </p:spPr>
        <p:txBody>
          <a:bodyPr wrap="square" lIns="0" tIns="0" rIns="0" bIns="0" rtlCol="0" anchor="t"/>
          <a:lstStyle/>
          <a:p>
            <a:pPr indent="0" marL="0">
              <a:buNone/>
            </a:pPr>
            <a:r>
              <a:rPr lang="en-US" sz="1700" i="1" dirty="0">
                <a:solidFill>
                  <a:srgbClr val="8B6FC0"/>
                </a:solidFill>
                <a:latin typeface="Cambria" pitchFamily="34" charset="0"/>
                <a:ea typeface="Cambria" pitchFamily="34" charset="-122"/>
                <a:cs typeface="Cambria" pitchFamily="34" charset="-120"/>
              </a:rPr>
              <a:t>Finish this sentence in your own words:</a:t>
            </a:r>
            <a:endParaRPr lang="en-US" sz="1700" dirty="0"/>
          </a:p>
          <a:p>
            <a:pPr indent="0" marL="0">
              <a:buNone/>
            </a:pPr>
            <a:r>
              <a:rPr lang="en-US" sz="1700" i="1" dirty="0">
                <a:solidFill>
                  <a:srgbClr val="8B6FC0"/>
                </a:solidFill>
                <a:latin typeface="Cambria" pitchFamily="34" charset="0"/>
                <a:ea typeface="Cambria" pitchFamily="34" charset="-122"/>
                <a:cs typeface="Cambria" pitchFamily="34" charset="-120"/>
              </a:rPr>
              <a:t>"In this exhibit, I learned that ______ because ______."</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609600" y="487680"/>
            <a:ext cx="7315200" cy="320040"/>
          </a:xfrm>
          <a:prstGeom prst="rect">
            <a:avLst/>
          </a:prstGeom>
          <a:noFill/>
          <a:ln/>
        </p:spPr>
        <p:txBody>
          <a:bodyPr wrap="square" lIns="0" tIns="0" rIns="0" bIns="0" rtlCol="0" anchor="ctr"/>
          <a:lstStyle/>
          <a:p>
            <a:pPr indent="0" marL="0">
              <a:buNone/>
            </a:pPr>
            <a:r>
              <a:rPr lang="en-US" sz="1100" b="1" spc="200" kern="0" dirty="0">
                <a:solidFill>
                  <a:srgbClr val="55C8E8"/>
                </a:solidFill>
                <a:latin typeface="Calibri" pitchFamily="34" charset="0"/>
                <a:ea typeface="Calibri" pitchFamily="34" charset="-122"/>
                <a:cs typeface="Calibri" pitchFamily="34" charset="-120"/>
              </a:rPr>
              <a:t>COMING UP NEXT</a:t>
            </a:r>
            <a:endParaRPr lang="en-US" sz="1100" dirty="0"/>
          </a:p>
        </p:txBody>
      </p:sp>
      <p:sp>
        <p:nvSpPr>
          <p:cNvPr id="6" name="Text 3"/>
          <p:cNvSpPr/>
          <p:nvPr/>
        </p:nvSpPr>
        <p:spPr>
          <a:xfrm>
            <a:off x="612648" y="1097280"/>
            <a:ext cx="8229600" cy="1828800"/>
          </a:xfrm>
          <a:prstGeom prst="rect">
            <a:avLst/>
          </a:prstGeom>
          <a:noFill/>
          <a:ln/>
        </p:spPr>
        <p:txBody>
          <a:bodyPr wrap="square" lIns="0" tIns="0" rIns="0" bIns="0" rtlCol="0" anchor="ctr"/>
          <a:lstStyle/>
          <a:p>
            <a:pPr indent="0" marL="0">
              <a:lnSpc>
                <a:spcPct val="110000"/>
              </a:lnSpc>
              <a:buNone/>
            </a:pPr>
            <a:r>
              <a:rPr lang="en-US" sz="4400" b="1" dirty="0">
                <a:solidFill>
                  <a:srgbClr val="FFFFFF"/>
                </a:solidFill>
                <a:latin typeface="Cambria" pitchFamily="34" charset="0"/>
                <a:ea typeface="Cambria" pitchFamily="34" charset="-122"/>
                <a:cs typeface="Cambria" pitchFamily="34" charset="-120"/>
              </a:rPr>
              <a:t>Natural Resources and</a:t>
            </a:r>
            <a:endParaRPr lang="en-US" sz="4400" dirty="0"/>
          </a:p>
          <a:p>
            <a:pPr indent="0" marL="0">
              <a:lnSpc>
                <a:spcPct val="110000"/>
              </a:lnSpc>
              <a:buNone/>
            </a:pPr>
            <a:r>
              <a:rPr lang="en-US" sz="4400" b="1" dirty="0">
                <a:solidFill>
                  <a:srgbClr val="FFFFFF"/>
                </a:solidFill>
                <a:latin typeface="Cambria" pitchFamily="34" charset="0"/>
                <a:ea typeface="Cambria" pitchFamily="34" charset="-122"/>
                <a:cs typeface="Cambria" pitchFamily="34" charset="-120"/>
              </a:rPr>
              <a:t>How People Use Them</a:t>
            </a:r>
            <a:endParaRPr lang="en-US" sz="4400" dirty="0"/>
          </a:p>
        </p:txBody>
      </p:sp>
      <p:sp>
        <p:nvSpPr>
          <p:cNvPr id="7" name="Shape 4"/>
          <p:cNvSpPr/>
          <p:nvPr/>
        </p:nvSpPr>
        <p:spPr>
          <a:xfrm>
            <a:off x="612648" y="3291840"/>
            <a:ext cx="7315200" cy="2194560"/>
          </a:xfrm>
          <a:prstGeom prst="roundRect">
            <a:avLst>
              <a:gd name="adj" fmla="val 8333"/>
            </a:avLst>
          </a:prstGeom>
          <a:solidFill>
            <a:srgbClr val="1A2D5A"/>
          </a:solidFill>
          <a:ln/>
          <a:effectLst>
            <a:outerShdw sx="100000" sy="100000" kx="0" ky="0" algn="bl" rotWithShape="0" blurRad="76200" dist="25400" dir="8100000">
              <a:srgbClr val="000000">
                <a:alpha val="15000"/>
              </a:srgbClr>
            </a:outerShdw>
          </a:effectLst>
        </p:spPr>
      </p:sp>
      <p:sp>
        <p:nvSpPr>
          <p:cNvPr id="8" name="Text 5"/>
          <p:cNvSpPr/>
          <p:nvPr/>
        </p:nvSpPr>
        <p:spPr>
          <a:xfrm>
            <a:off x="850392" y="3474720"/>
            <a:ext cx="6830568" cy="1828800"/>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Now that you know which climates and plants belong where, a new shelf is being unpacked at the side of the gallery: the </a:t>
            </a:r>
            <a:pPr indent="0" marL="0">
              <a:buNone/>
            </a:pPr>
            <a:r>
              <a:rPr lang="en-US" sz="1700" b="1" dirty="0">
                <a:solidFill>
                  <a:srgbClr val="D4943A"/>
                </a:solidFill>
                <a:latin typeface="Calibri" pitchFamily="34" charset="0"/>
                <a:ea typeface="Calibri" pitchFamily="34" charset="-122"/>
                <a:cs typeface="Calibri" pitchFamily="34" charset="-120"/>
              </a:rPr>
              <a:t>Natural Resources</a:t>
            </a:r>
            <a:pPr indent="0" marL="0">
              <a:buNone/>
            </a:pPr>
            <a:r>
              <a:rPr lang="en-US" sz="1700" dirty="0">
                <a:solidFill>
                  <a:srgbClr val="FFFFFF"/>
                </a:solidFill>
                <a:latin typeface="Calibri" pitchFamily="34" charset="0"/>
                <a:ea typeface="Calibri" pitchFamily="34" charset="-122"/>
                <a:cs typeface="Calibri" pitchFamily="34" charset="-120"/>
              </a:rPr>
              <a:t> shelf. It's stocked with water, soil, forests, minerals, and crops.
</a:t>
            </a:r>
            <a:pPr indent="0" marL="0">
              <a:buNone/>
            </a:pPr>
            <a:r>
              <a:rPr lang="en-US" sz="1700" dirty="0">
                <a:solidFill>
                  <a:srgbClr val="FFFFFF"/>
                </a:solidFill>
                <a:latin typeface="Calibri" pitchFamily="34" charset="0"/>
                <a:ea typeface="Calibri" pitchFamily="34" charset="-122"/>
                <a:cs typeface="Calibri" pitchFamily="34" charset="-120"/>
              </a:rPr>
              <a:t>Next time, you'll figure out how people across the region actually </a:t>
            </a:r>
            <a:pPr indent="0" marL="0">
              <a:buNone/>
            </a:pPr>
            <a:r>
              <a:rPr lang="en-US" sz="1700" b="1" i="1" dirty="0">
                <a:solidFill>
                  <a:srgbClr val="D4943A"/>
                </a:solidFill>
                <a:latin typeface="Calibri" pitchFamily="34" charset="0"/>
                <a:ea typeface="Calibri" pitchFamily="34" charset="-122"/>
                <a:cs typeface="Calibri" pitchFamily="34" charset="-120"/>
              </a:rPr>
              <a:t>use</a:t>
            </a:r>
            <a:pPr indent="0" marL="0">
              <a:buNone/>
            </a:pPr>
            <a:r>
              <a:rPr lang="en-US" sz="1700" dirty="0">
                <a:solidFill>
                  <a:srgbClr val="FFFFFF"/>
                </a:solidFill>
                <a:latin typeface="Calibri" pitchFamily="34" charset="0"/>
                <a:ea typeface="Calibri" pitchFamily="34" charset="-122"/>
                <a:cs typeface="Calibri" pitchFamily="34" charset="-120"/>
              </a:rPr>
              <a:t> the land — not just look at it. The story starts turning toward choices, and that means honesty becomes important.</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612648" y="1097280"/>
            <a:ext cx="10972800" cy="365760"/>
          </a:xfrm>
          <a:prstGeom prst="rect">
            <a:avLst/>
          </a:prstGeom>
          <a:noFill/>
          <a:ln/>
        </p:spPr>
        <p:txBody>
          <a:bodyPr wrap="square" lIns="0" tIns="0" rIns="0" bIns="0" rtlCol="0" anchor="ctr"/>
          <a:lstStyle/>
          <a:p>
            <a:pPr indent="0" marL="0">
              <a:buNone/>
            </a:pPr>
            <a:r>
              <a:rPr lang="en-US" sz="1300" b="1" spc="300" kern="0" dirty="0">
                <a:solidFill>
                  <a:srgbClr val="55C8E8"/>
                </a:solidFill>
                <a:latin typeface="Calibri" pitchFamily="34" charset="0"/>
                <a:ea typeface="Calibri" pitchFamily="34" charset="-122"/>
                <a:cs typeface="Calibri" pitchFamily="34" charset="-120"/>
              </a:rPr>
              <a:t>OPTIMA ACADEMY ONLINE</a:t>
            </a:r>
            <a:endParaRPr lang="en-US" sz="1300" dirty="0"/>
          </a:p>
        </p:txBody>
      </p:sp>
      <p:sp>
        <p:nvSpPr>
          <p:cNvPr id="6" name="Text 3"/>
          <p:cNvSpPr/>
          <p:nvPr/>
        </p:nvSpPr>
        <p:spPr>
          <a:xfrm>
            <a:off x="612648" y="1709928"/>
            <a:ext cx="9144000" cy="2194560"/>
          </a:xfrm>
          <a:prstGeom prst="rect">
            <a:avLst/>
          </a:prstGeom>
          <a:noFill/>
          <a:ln/>
        </p:spPr>
        <p:txBody>
          <a:bodyPr wrap="square" lIns="0" tIns="0" rIns="0" bIns="0" rtlCol="0" anchor="ctr"/>
          <a:lstStyle/>
          <a:p>
            <a:pPr indent="0" marL="0">
              <a:lnSpc>
                <a:spcPct val="110000"/>
              </a:lnSpc>
              <a:buNone/>
            </a:pPr>
            <a:r>
              <a:rPr lang="en-US" sz="5200" b="1" dirty="0">
                <a:solidFill>
                  <a:srgbClr val="FFFFFF"/>
                </a:solidFill>
                <a:latin typeface="Cambria" pitchFamily="34" charset="0"/>
                <a:ea typeface="Cambria" pitchFamily="34" charset="-122"/>
                <a:cs typeface="Cambria" pitchFamily="34" charset="-120"/>
              </a:rPr>
              <a:t>Great Work,</a:t>
            </a:r>
            <a:endParaRPr lang="en-US" sz="5200" dirty="0"/>
          </a:p>
          <a:p>
            <a:pPr indent="0" marL="0">
              <a:lnSpc>
                <a:spcPct val="110000"/>
              </a:lnSpc>
              <a:buNone/>
            </a:pPr>
            <a:r>
              <a:rPr lang="en-US" sz="5200" b="1" dirty="0">
                <a:solidFill>
                  <a:srgbClr val="FFFFFF"/>
                </a:solidFill>
                <a:latin typeface="Cambria" pitchFamily="34" charset="0"/>
                <a:ea typeface="Cambria" pitchFamily="34" charset="-122"/>
                <a:cs typeface="Cambria" pitchFamily="34" charset="-120"/>
              </a:rPr>
              <a:t>Regional Curator!</a:t>
            </a:r>
            <a:endParaRPr lang="en-US" sz="5200" dirty="0"/>
          </a:p>
        </p:txBody>
      </p:sp>
      <p:sp>
        <p:nvSpPr>
          <p:cNvPr id="7" name="Shape 4"/>
          <p:cNvSpPr/>
          <p:nvPr/>
        </p:nvSpPr>
        <p:spPr>
          <a:xfrm>
            <a:off x="612648" y="4142232"/>
            <a:ext cx="7315200" cy="1463040"/>
          </a:xfrm>
          <a:prstGeom prst="roundRect">
            <a:avLst>
              <a:gd name="adj" fmla="val 10000"/>
            </a:avLst>
          </a:prstGeom>
          <a:solidFill>
            <a:srgbClr val="1A2D5A"/>
          </a:solidFill>
          <a:ln/>
          <a:effectLst>
            <a:outerShdw sx="100000" sy="100000" kx="0" ky="0" algn="bl" rotWithShape="0" blurRad="76200" dist="25400" dir="8100000">
              <a:srgbClr val="000000">
                <a:alpha val="15000"/>
              </a:srgbClr>
            </a:outerShdw>
          </a:effectLst>
        </p:spPr>
      </p:sp>
      <p:sp>
        <p:nvSpPr>
          <p:cNvPr id="8" name="Text 5"/>
          <p:cNvSpPr/>
          <p:nvPr/>
        </p:nvSpPr>
        <p:spPr>
          <a:xfrm>
            <a:off x="850392" y="4270248"/>
            <a:ext cx="6830568" cy="1216152"/>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You walked all five climate panels, matched plants to their zones, and wrote a comparison that helps visitors see why this region can look so different from one part to another.</a:t>
            </a:r>
            <a:endParaRPr lang="en-US" sz="1700" dirty="0"/>
          </a:p>
        </p:txBody>
      </p:sp>
      <p:sp>
        <p:nvSpPr>
          <p:cNvPr id="9" name="Text 6"/>
          <p:cNvSpPr/>
          <p:nvPr/>
        </p:nvSpPr>
        <p:spPr>
          <a:xfrm>
            <a:off x="612648" y="5971032"/>
            <a:ext cx="7315200" cy="365760"/>
          </a:xfrm>
          <a:prstGeom prst="rect">
            <a:avLst/>
          </a:prstGeom>
          <a:noFill/>
          <a:ln/>
        </p:spPr>
        <p:txBody>
          <a:bodyPr wrap="square" lIns="0" tIns="0" rIns="0" bIns="0" rtlCol="0" anchor="ctr"/>
          <a:lstStyle/>
          <a:p>
            <a:pPr indent="0" marL="0">
              <a:buNone/>
            </a:pPr>
            <a:r>
              <a:rPr lang="en-US" sz="1400" dirty="0">
                <a:solidFill>
                  <a:srgbClr val="7A88A8"/>
                </a:solidFill>
                <a:latin typeface="Calibri" pitchFamily="34" charset="0"/>
                <a:ea typeface="Calibri" pitchFamily="34" charset="-122"/>
                <a:cs typeface="Calibri" pitchFamily="34" charset="-120"/>
              </a:rPr>
              <a:t>Social Studies  |  Grade 3  |  Lesson 3.06.04</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2026-07-11T03:11:17Z</dcterms:created>
  <dcterms:modified xsi:type="dcterms:W3CDTF">2026-07-11T03:11:17Z</dcterms:modified>
</cp:coreProperties>
</file>