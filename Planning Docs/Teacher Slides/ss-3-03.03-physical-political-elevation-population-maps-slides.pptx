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Teacher: Welcome back, Map Curators! Last week you fixed the compass rose and learned all eight directions. But today there's a new problem in the Great Map Room. Someone mixed up the map cabinet! Four different maps ended up in the wrong drawers. Your mission: sort them out.
Read the title aloud with energy. Pause. Let students feel the tension before moving on.
Timing: ~1 minute.
IMAGE TO INSERT: Full-bleed background photo of an antique map room with wooden drawers and warm lighting. Place behind the navy overlay.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MUSEUM HOOK
Point to the image. 'This is the Great Map Room. Every drawer should hold one type of map. But someone made a mistake.'
Don't explain the map types yet! Let students sit with the mystery. Ask: 'What kind of maps do you already know about?' Take 3-4 chat responses. Then: 'Before visitors arrive, WE need to sort these — but first we have to learn what each type shows.'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VIRTUE SPOTLIGHT: COURAGE
'Before we start sorting, let's think about what it takes to tackle something you don't know yet. That's courage — not just physical bravery, but mental bravery.'
Ask students to type a quick chat response. Read a few aloud. Connect back: 'Today, every time you figure out a map type you didn't know — that IS courage.'
Timing: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OBJECTIVES
Brief preview — don't read all three bullets verbatim. Instead: 'By the end of today, you'll be able to walk up to any map, name what type it is, and explain why a curator would choose it.'
Have students get their Curator's Notebook and pencil before moving on.
Timing: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CLUE BOX: MYSTERY MAP #1
[NO LABELS — Students must observe before being told anything.]
Say: 'Here is Drawer #1. Someone pulled this map out but the label fell off. Look carefully. Give yourself 5 seconds of quiet observation.' [Pause 5 sec.]
Then: 'Now type ONE thing you notice in the chat.' Read 3-4 responses aloud. Don't confirm or deny. Ask follow-up Socratic questions from the panel. Do NOT reveal the name yet.
Timing: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PHYSICAL MAP REVEAL
Reveal with a little drama: 'Based on what you noticed — the green plains, the brown mountains, the blue rivers — this is called a PHYSICAL map.'
Connect to what students said in chat: 'Several of you noticed the different colors. You were right! Physical maps use color to show what the land looks like.'
Have students write the notebook prompt. Read it aloud twice.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CLUE BOX: MYSTERY MAP #2
Same routine: 5 seconds quiet observation, then chat.
Key question to build comparison: 'How is this map DIFFERENT from the first one?' Students should notice: no natural features, bright colors for regions, border lines.
Don't confirm the name yet. If a student guesses 'political,' say: 'Interesting — what clue leads you there?'
Timing: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POLITICAL MAP REVEAL
'Those lines you noticed? They're borders — where one country ends and another begins. This is a POLITICAL map.'
Key comparison: 'A physical map shows you what the land looks like. A political map shows you who controls what land. Same place — totally different information.'
Notebook prompt before moving on.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CLUE BOX: MYSTERY MAP #3
This one is trickier — students may mix it up with physical maps. That confusion is GOOD. Let it happen.
Ask: 'How is this similar to the physical map? How is it different?' The key insight: elevation maps ONLY show height above sea level. Physical maps show general land features. Elevation maps are more precise about HEIGHT.
Don't resolve the confusion yet — let students sit in it.
Timing: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ELEVATION MAP REVEAL
Address the confusion directly: 'Many of you compared this to the physical map — smart! Here is the difference: a physical map shows general land features. An elevation map is SPECIFICALLY about height. It answers one question: how HIGH is this land?'
Mention the word: 'Elevation means height above sea level. The ocean shoreline = 0. Mount Everest = about 29,000 feet!'
Notebook prompt.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CLUE BOX: MYSTERY MAP #4
The population map is the most abstract — students won't have prior knowledge. Let them sit with the pattern.
Key Socratic move: 'Look where the DARK areas are. What cities or regions do you think those might be?' Students should connect: cities = more people = darker.
Push thinking: 'Why would the mountains be light? What's different about living on a steep mountain versus a flat coastal city?'
Timing: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POPULATION MAP REVEAL
'This map doesn't show land features or borders — it shows PEOPLE. Where they live, and how many.'
Why it matters: 'Imagine you're a city planner deciding where to build a new school. A population map would tell you where the most children probably live!'
Notebook prompt. This is the last of the four — celebrate the complete set!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EXHIBIT LABEL / ALL FOUR SUMMARY
Read each card aloud quickly: 'Physical, Political, Elevation, Population — four maps, four different questions they answer.'
Retrieval challenge: 'Cover your screen. In your notebook, write all four types from memory — and what each one shows. You have 45 seconds.' [Pause.] 'Now check your screen. How did you do?'
Celebrate: 'You just learned four map types in one lesson — that's serious curator work!'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WHY IT MATTERS
This slide scaffolds Evidence Question 2: 'Why can't one map answer every question?'
Let students generate the reasoning before you show it. Ask: 'What would happen if you mashed all four map types onto one piece of paper?' Students should get there on their own: too crowded, confusing, can't read it.
This discussion IS their preparation for the assignment — make sure everyone has a verbal answer before moving to practice.
Timing: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GUIDED PRACTICE: TEACHER MODEL + WE TRY
Left panel: READ the think-aloud script aloud, slowly and clearly. Make your reasoning visible: 'I'm asking myself — what is the visitor trying to FIND? What kind of thing is that?'
Right panel: Give students 20 seconds of private thinking, then chat. Wait for responses before confirming. Guide toward 'Political' without just saying it.
Validate the reasoning, not just the answer: 'Tell me WHY, not just which one.'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YOUR TURN + ERROR ANALYSIS
Left: Independent practice with checklist support. Give 30 seconds silent work time. Then chat.
Right: This is the CRITICAL slide. The student's answer is tempting — physical maps DO show mountains. The error is precision: the question asks HOW TALL, not WHERE. Elevation maps give specific height data.
Socratic push: 'What one word in the question should have been the clue?' Answer: 'how tall' = HEIGHT = ELEVATION.
Validate partial correctness — the student wasn't completely wrong, just imprecise.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THE TRICKY ONE
This is intentionally ambiguous — celebrate disagreement. 'I'm going to hear different answers, and that's GOOD.'
Key discussion: The question has TWO parts — WHERE the mountains are (physical) and HOW BIG (elevation). An elevation map is stronger for the 'how big' part.
Push: 'If you could ask the visitor ONE follow-up question before choosing, what would you ask?' Good answer: 'Are you more interested in WHERE the mountains are, or exactly HOW HIGH they go?'
There's no single right answer — reward the reasoning.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THEN &amp; NOW
Brief connecting moment — 1-2 minutes max. The point: the TECHNOLOGY changed, but the PURPOSE of different map types stayed the same. People have always needed maps that answer different questions.
Timing: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ASSIGNMENT PREVIEW
Walk through all three parts. For the Curator Task, model the sentence structure aloud: 'I would hand the visitor a [map type] because it shows [what it shows]. This map is better than a [other type] because [specific reason].'
Remind students: 'Your Curator's Notebook notes will help you here. This is exactly what we've been practicing.'
Also mention the Curator's Chronicle: 'In this exhibit, I learned that _____ because _____.'
Timing: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CLOSING
'You sorted the mixed-up drawers! The maps are back where they belong — and you know WHY each one belongs there.'
Recap: 'Physical = land features. Political = borders. Elevation = height. Population = people. The skill is matching the question to the map.'
Teaser: Read the Coming Next box aloud. Build anticipation: 'What IS scale? How does a tiny map show you something thousands of miles across? We'll find out next time.'
Timing: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274320" y="1005840"/>
            <a:ext cx="8595360" cy="0"/>
          </a:xfrm>
          <a:prstGeom prst="line">
            <a:avLst/>
          </a:prstGeom>
          <a:noFill/>
          <a:ln w="9525">
            <a:solidFill>
              <a:srgbClr val="3A5080"/>
            </a:solidFill>
            <a:prstDash val="dash"/>
          </a:ln>
        </p:spPr>
      </p:sp>
      <p:sp>
        <p:nvSpPr>
          <p:cNvPr id="5" name="Shape 3"/>
          <p:cNvSpPr/>
          <p:nvPr/>
        </p:nvSpPr>
        <p:spPr>
          <a:xfrm>
            <a:off x="274320" y="4114800"/>
            <a:ext cx="8595360" cy="0"/>
          </a:xfrm>
          <a:prstGeom prst="line">
            <a:avLst/>
          </a:prstGeom>
          <a:noFill/>
          <a:ln w="9525">
            <a:solidFill>
              <a:srgbClr val="3A5080"/>
            </a:solidFill>
            <a:prstDash val="dash"/>
          </a:ln>
        </p:spPr>
      </p:sp>
      <p:sp>
        <p:nvSpPr>
          <p:cNvPr id="6" name="Text 4"/>
          <p:cNvSpPr/>
          <p:nvPr/>
        </p:nvSpPr>
        <p:spPr>
          <a:xfrm>
            <a:off x="0" y="256032"/>
            <a:ext cx="9144000" cy="274320"/>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GRADE 3 · SOCIAL STUDIES · UNIT 3.03</a:t>
            </a:r>
            <a:endParaRPr lang="en-US" sz="900" dirty="0"/>
          </a:p>
        </p:txBody>
      </p:sp>
      <p:sp>
        <p:nvSpPr>
          <p:cNvPr id="7" name="Text 5"/>
          <p:cNvSpPr/>
          <p:nvPr/>
        </p:nvSpPr>
        <p:spPr>
          <a:xfrm>
            <a:off x="914400" y="1143000"/>
            <a:ext cx="7315200" cy="1737360"/>
          </a:xfrm>
          <a:prstGeom prst="rect">
            <a:avLst/>
          </a:prstGeom>
          <a:noFill/>
          <a:ln/>
        </p:spPr>
        <p:txBody>
          <a:bodyPr wrap="square" rtlCol="0" anchor="ctr"/>
          <a:lstStyle/>
          <a:p>
            <a:pPr algn="ctr" indent="0" marL="0">
              <a:buNone/>
            </a:pPr>
            <a:r>
              <a:rPr lang="en-US" sz="4400" b="1" dirty="0">
                <a:solidFill>
                  <a:srgbClr val="D4943A"/>
                </a:solidFill>
                <a:latin typeface="Cambria" pitchFamily="34" charset="0"/>
                <a:ea typeface="Cambria" pitchFamily="34" charset="-122"/>
                <a:cs typeface="Cambria" pitchFamily="34" charset="-120"/>
              </a:rPr>
              <a:t>The Mixed-Up</a:t>
            </a:r>
            <a:endParaRPr lang="en-US" sz="4400" dirty="0"/>
          </a:p>
          <a:p>
            <a:pPr algn="ctr" indent="0" marL="0">
              <a:buNone/>
            </a:pPr>
            <a:r>
              <a:rPr lang="en-US" sz="4400" b="1" dirty="0">
                <a:solidFill>
                  <a:srgbClr val="D4943A"/>
                </a:solidFill>
                <a:latin typeface="Cambria" pitchFamily="34" charset="0"/>
                <a:ea typeface="Cambria" pitchFamily="34" charset="-122"/>
                <a:cs typeface="Cambria" pitchFamily="34" charset="-120"/>
              </a:rPr>
              <a:t>Map Drawers</a:t>
            </a:r>
            <a:endParaRPr lang="en-US" sz="4400" dirty="0"/>
          </a:p>
        </p:txBody>
      </p:sp>
      <p:sp>
        <p:nvSpPr>
          <p:cNvPr id="8" name="Text 6"/>
          <p:cNvSpPr/>
          <p:nvPr/>
        </p:nvSpPr>
        <p:spPr>
          <a:xfrm>
            <a:off x="457200" y="2926080"/>
            <a:ext cx="8229600" cy="292608"/>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Lesson 3.03.03 · Physical, Political, Elevation &amp; Population Maps</a:t>
            </a:r>
            <a:endParaRPr lang="en-US" sz="1300" dirty="0"/>
          </a:p>
        </p:txBody>
      </p:sp>
      <p:sp>
        <p:nvSpPr>
          <p:cNvPr id="9" name="Shape 7"/>
          <p:cNvSpPr/>
          <p:nvPr/>
        </p:nvSpPr>
        <p:spPr>
          <a:xfrm>
            <a:off x="2286000" y="3337560"/>
            <a:ext cx="4572000" cy="347472"/>
          </a:xfrm>
          <a:prstGeom prst="roundRect">
            <a:avLst>
              <a:gd name="adj" fmla="val 21053"/>
            </a:avLst>
          </a:prstGeom>
          <a:solidFill>
            <a:srgbClr val="1A2D5A"/>
          </a:solidFill>
          <a:ln/>
        </p:spPr>
      </p:sp>
      <p:sp>
        <p:nvSpPr>
          <p:cNvPr id="10" name="Text 8"/>
          <p:cNvSpPr/>
          <p:nvPr/>
        </p:nvSpPr>
        <p:spPr>
          <a:xfrm>
            <a:off x="2286000" y="3337560"/>
            <a:ext cx="4572000" cy="347472"/>
          </a:xfrm>
          <a:prstGeom prst="rect">
            <a:avLst/>
          </a:prstGeom>
          <a:noFill/>
          <a:ln/>
        </p:spPr>
        <p:txBody>
          <a:bodyPr wrap="square" lIns="0" tIns="0" rIns="0" bIns="0" rtlCol="0" anchor="ctr"/>
          <a:lstStyle/>
          <a:p>
            <a:pPr algn="ctr" indent="0" marL="0">
              <a:buNone/>
            </a:pPr>
            <a:r>
              <a:rPr lang="en-US" sz="1000" dirty="0">
                <a:solidFill>
                  <a:srgbClr val="55C8E8"/>
                </a:solidFill>
                <a:latin typeface="Calibri" pitchFamily="34" charset="0"/>
                <a:ea typeface="Calibri" pitchFamily="34" charset="-122"/>
                <a:cs typeface="Calibri" pitchFamily="34" charset="-120"/>
              </a:rPr>
              <a:t>SS.3.G.1.1 · SS.3.G.1.2 · SS.3.G.1.4 – 1.6</a:t>
            </a:r>
            <a:endParaRPr lang="en-US" sz="1000" dirty="0"/>
          </a:p>
        </p:txBody>
      </p:sp>
      <p:sp>
        <p:nvSpPr>
          <p:cNvPr id="11" name="Text 9"/>
          <p:cNvSpPr/>
          <p:nvPr/>
        </p:nvSpPr>
        <p:spPr>
          <a:xfrm>
            <a:off x="0" y="4754880"/>
            <a:ext cx="9144000" cy="274320"/>
          </a:xfrm>
          <a:prstGeom prst="rect">
            <a:avLst/>
          </a:prstGeom>
          <a:noFill/>
          <a:ln/>
        </p:spPr>
        <p:txBody>
          <a:bodyPr wrap="square" lIns="0" tIns="0" rIns="0" bIns="0"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Great Map Room · Optima Academy Online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A New Problem in the Great Map Room</a:t>
            </a:r>
            <a:endParaRPr lang="en-US" sz="3000" dirty="0"/>
          </a:p>
        </p:txBody>
      </p:sp>
      <p:sp>
        <p:nvSpPr>
          <p:cNvPr id="3" name="Shape 1"/>
          <p:cNvSpPr/>
          <p:nvPr/>
        </p:nvSpPr>
        <p:spPr>
          <a:xfrm>
            <a:off x="365760" y="694944"/>
            <a:ext cx="8412480" cy="0"/>
          </a:xfrm>
          <a:prstGeom prst="line">
            <a:avLst/>
          </a:prstGeom>
          <a:noFill/>
          <a:ln w="25400">
            <a:solidFill>
              <a:srgbClr val="D4943A"/>
            </a:solidFill>
            <a:prstDash val="solid"/>
          </a:ln>
        </p:spPr>
      </p:sp>
      <p:sp>
        <p:nvSpPr>
          <p:cNvPr id="4" name="Shape 2"/>
          <p:cNvSpPr/>
          <p:nvPr/>
        </p:nvSpPr>
        <p:spPr>
          <a:xfrm>
            <a:off x="365760" y="804672"/>
            <a:ext cx="4389120" cy="3017520"/>
          </a:xfrm>
          <a:prstGeom prst="roundRect">
            <a:avLst>
              <a:gd name="adj" fmla="val 3636"/>
            </a:avLst>
          </a:prstGeom>
          <a:solidFill>
            <a:srgbClr val="E2E8F4"/>
          </a:solidFill>
          <a:ln w="19050">
            <a:solidFill>
              <a:srgbClr val="B0B8CC"/>
            </a:solidFill>
            <a:prstDash val="dash"/>
          </a:ln>
        </p:spPr>
      </p:sp>
      <p:sp>
        <p:nvSpPr>
          <p:cNvPr id="5" name="Text 3"/>
          <p:cNvSpPr/>
          <p:nvPr/>
        </p:nvSpPr>
        <p:spPr>
          <a:xfrm>
            <a:off x="365760" y="804672"/>
            <a:ext cx="43891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078992"/>
            <a:ext cx="4114800" cy="26517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Wide shot of a museum map room — tall wooden cabinets with labeled drawers, scattered maps on a table, warm library lighting</a:t>
            </a:r>
            <a:endParaRPr lang="en-US" sz="1100" dirty="0"/>
          </a:p>
        </p:txBody>
      </p:sp>
      <p:sp>
        <p:nvSpPr>
          <p:cNvPr id="7" name="Shape 5"/>
          <p:cNvSpPr/>
          <p:nvPr/>
        </p:nvSpPr>
        <p:spPr>
          <a:xfrm>
            <a:off x="4937760" y="804672"/>
            <a:ext cx="3840480" cy="1828800"/>
          </a:xfrm>
          <a:prstGeom prst="roundRect">
            <a:avLst>
              <a:gd name="adj" fmla="val 6000"/>
            </a:avLst>
          </a:prstGeom>
          <a:solidFill>
            <a:srgbClr val="F0F2F8"/>
          </a:solidFill>
          <a:ln/>
        </p:spPr>
      </p:sp>
      <p:sp>
        <p:nvSpPr>
          <p:cNvPr id="8" name="Text 6"/>
          <p:cNvSpPr/>
          <p:nvPr/>
        </p:nvSpPr>
        <p:spPr>
          <a:xfrm>
            <a:off x="5120640" y="868680"/>
            <a:ext cx="3474720" cy="256032"/>
          </a:xfrm>
          <a:prstGeom prst="rect">
            <a:avLst/>
          </a:prstGeom>
          <a:noFill/>
          <a:ln/>
        </p:spPr>
        <p:txBody>
          <a:bodyPr wrap="square" lIns="0" tIns="0" rIns="0" bIns="0" rtlCol="0" anchor="ctr"/>
          <a:lstStyle/>
          <a:p>
            <a:pPr indent="0" marL="0">
              <a:buNone/>
            </a:pPr>
            <a:r>
              <a:rPr lang="en-US" sz="1100" b="1" spc="100" kern="0" dirty="0">
                <a:solidFill>
                  <a:srgbClr val="D4943A"/>
                </a:solidFill>
                <a:latin typeface="Calibri" pitchFamily="34" charset="0"/>
                <a:ea typeface="Calibri" pitchFamily="34" charset="-122"/>
                <a:cs typeface="Calibri" pitchFamily="34" charset="-120"/>
              </a:rPr>
              <a:t>The Scene</a:t>
            </a:r>
            <a:endParaRPr lang="en-US" sz="1100" dirty="0"/>
          </a:p>
        </p:txBody>
      </p:sp>
      <p:sp>
        <p:nvSpPr>
          <p:cNvPr id="9" name="Text 7"/>
          <p:cNvSpPr/>
          <p:nvPr/>
        </p:nvSpPr>
        <p:spPr>
          <a:xfrm>
            <a:off x="5120640" y="1143000"/>
            <a:ext cx="3474720" cy="1371600"/>
          </a:xfrm>
          <a:prstGeom prst="rect">
            <a:avLst/>
          </a:prstGeom>
          <a:noFill/>
          <a:ln/>
        </p:spPr>
        <p:txBody>
          <a:bodyPr wrap="square" lIns="0" tIns="0" rIns="0" bIns="0" rtlCol="0" anchor="t"/>
          <a:lstStyle/>
          <a:p>
            <a:pPr indent="0" marL="0">
              <a:buNone/>
            </a:pPr>
            <a:r>
              <a:rPr lang="en-US" sz="1150" dirty="0">
                <a:solidFill>
                  <a:srgbClr val="0E1C42"/>
                </a:solidFill>
                <a:latin typeface="Calibri" pitchFamily="34" charset="0"/>
                <a:ea typeface="Calibri" pitchFamily="34" charset="-122"/>
                <a:cs typeface="Calibri" pitchFamily="34" charset="-120"/>
              </a:rPr>
              <a:t>The museum director found a mess this morning — four maps sitting in the WRONG drawers!</a:t>
            </a:r>
            <a:endParaRPr lang="en-US" sz="1150" dirty="0"/>
          </a:p>
          <a:p>
            <a:pPr indent="0" marL="0">
              <a:buNone/>
            </a:pPr>
            <a:endParaRPr lang="en-US" sz="1150" dirty="0"/>
          </a:p>
          <a:p>
            <a:pPr indent="0" marL="0">
              <a:buNone/>
            </a:pPr>
            <a:r>
              <a:rPr lang="en-US" sz="1150" dirty="0">
                <a:solidFill>
                  <a:srgbClr val="0E1C42"/>
                </a:solidFill>
                <a:latin typeface="Calibri" pitchFamily="34" charset="0"/>
                <a:ea typeface="Calibri" pitchFamily="34" charset="-122"/>
                <a:cs typeface="Calibri" pitchFamily="34" charset="-120"/>
              </a:rPr>
              <a:t>A green land-and-rivers map is in the "Population" drawer. A colorful country map ended up in the "Elevation" drawer.</a:t>
            </a:r>
            <a:endParaRPr lang="en-US" sz="1150" dirty="0"/>
          </a:p>
        </p:txBody>
      </p:sp>
      <p:sp>
        <p:nvSpPr>
          <p:cNvPr id="10" name="Shape 8"/>
          <p:cNvSpPr/>
          <p:nvPr/>
        </p:nvSpPr>
        <p:spPr>
          <a:xfrm>
            <a:off x="4937760" y="2743200"/>
            <a:ext cx="3840480" cy="685800"/>
          </a:xfrm>
          <a:prstGeom prst="roundRect">
            <a:avLst>
              <a:gd name="adj" fmla="val 13333"/>
            </a:avLst>
          </a:prstGeom>
          <a:solidFill>
            <a:srgbClr val="0E1C42"/>
          </a:solidFill>
          <a:ln/>
        </p:spPr>
      </p:sp>
      <p:sp>
        <p:nvSpPr>
          <p:cNvPr id="11" name="Text 9"/>
          <p:cNvSpPr/>
          <p:nvPr/>
        </p:nvSpPr>
        <p:spPr>
          <a:xfrm>
            <a:off x="5120640" y="2798064"/>
            <a:ext cx="3474720" cy="201168"/>
          </a:xfrm>
          <a:prstGeom prst="rect">
            <a:avLst/>
          </a:prstGeom>
          <a:noFill/>
          <a:ln/>
        </p:spPr>
        <p:txBody>
          <a:bodyPr wrap="square" lIns="0" tIns="0" rIns="0" bIns="0" rtlCol="0" anchor="ctr"/>
          <a:lstStyle/>
          <a:p>
            <a:pPr indent="0" marL="0">
              <a:buNone/>
            </a:pPr>
            <a:r>
              <a:rPr lang="en-US" sz="900" b="1" spc="100" kern="0" dirty="0">
                <a:solidFill>
                  <a:srgbClr val="55C8E8"/>
                </a:solidFill>
                <a:latin typeface="Calibri" pitchFamily="34" charset="0"/>
                <a:ea typeface="Calibri" pitchFamily="34" charset="-122"/>
                <a:cs typeface="Calibri" pitchFamily="34" charset="-120"/>
              </a:rPr>
              <a:t>Curator's Question:</a:t>
            </a:r>
            <a:endParaRPr lang="en-US" sz="900" dirty="0"/>
          </a:p>
        </p:txBody>
      </p:sp>
      <p:sp>
        <p:nvSpPr>
          <p:cNvPr id="12" name="Text 10"/>
          <p:cNvSpPr/>
          <p:nvPr/>
        </p:nvSpPr>
        <p:spPr>
          <a:xfrm>
            <a:off x="5120640" y="2999232"/>
            <a:ext cx="3474720" cy="384048"/>
          </a:xfrm>
          <a:prstGeom prst="rect">
            <a:avLst/>
          </a:prstGeom>
          <a:noFill/>
          <a:ln/>
        </p:spPr>
        <p:txBody>
          <a:bodyPr wrap="square" lIns="0" tIns="0" rIns="0" bIns="0" rtlCol="0" anchor="t"/>
          <a:lstStyle/>
          <a:p>
            <a:pPr indent="0" marL="0">
              <a:buNone/>
            </a:pPr>
            <a:r>
              <a:rPr lang="en-US" sz="1100" i="1" dirty="0">
                <a:solidFill>
                  <a:srgbClr val="FFFFFF"/>
                </a:solidFill>
                <a:latin typeface="Cambria" pitchFamily="34" charset="0"/>
                <a:ea typeface="Cambria" pitchFamily="34" charset="-122"/>
                <a:cs typeface="Cambria" pitchFamily="34" charset="-120"/>
              </a:rPr>
              <a:t>What are the four types of maps, and how does a curator decide which one to use?</a:t>
            </a:r>
            <a:endParaRPr lang="en-US" sz="1100" dirty="0"/>
          </a:p>
        </p:txBody>
      </p:sp>
      <p:sp>
        <p:nvSpPr>
          <p:cNvPr id="13" name="Shape 11"/>
          <p:cNvSpPr/>
          <p:nvPr/>
        </p:nvSpPr>
        <p:spPr>
          <a:xfrm>
            <a:off x="365760" y="3886200"/>
            <a:ext cx="4389120" cy="1005840"/>
          </a:xfrm>
          <a:prstGeom prst="roundRect">
            <a:avLst>
              <a:gd name="adj" fmla="val 10909"/>
            </a:avLst>
          </a:prstGeom>
          <a:solidFill>
            <a:srgbClr val="FFF3DC"/>
          </a:solidFill>
          <a:ln w="19050">
            <a:solidFill>
              <a:srgbClr val="F5E6C8"/>
            </a:solidFill>
            <a:prstDash val="solid"/>
          </a:ln>
        </p:spPr>
      </p:sp>
      <p:sp>
        <p:nvSpPr>
          <p:cNvPr id="14" name="Text 12"/>
          <p:cNvSpPr/>
          <p:nvPr/>
        </p:nvSpPr>
        <p:spPr>
          <a:xfrm>
            <a:off x="502920" y="3941064"/>
            <a:ext cx="4114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502920" y="4142232"/>
            <a:ext cx="411480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wonder why..."</a:t>
            </a:r>
            <a:endParaRPr lang="en-US" sz="1200" dirty="0"/>
          </a:p>
        </p:txBody>
      </p:sp>
      <p:sp>
        <p:nvSpPr>
          <p:cNvPr id="16" name="Shape 14"/>
          <p:cNvSpPr/>
          <p:nvPr/>
        </p:nvSpPr>
        <p:spPr>
          <a:xfrm>
            <a:off x="4937760" y="3520440"/>
            <a:ext cx="3840480" cy="1371600"/>
          </a:xfrm>
          <a:prstGeom prst="roundRect">
            <a:avLst>
              <a:gd name="adj" fmla="val 10000"/>
            </a:avLst>
          </a:prstGeom>
          <a:solidFill>
            <a:srgbClr val="1A2D5A"/>
          </a:solidFill>
          <a:ln/>
          <a:effectLst>
            <a:outerShdw sx="100000" sy="100000" kx="0" ky="0" algn="bl" rotWithShape="0" blurRad="101600" dist="38100" dir="8100000">
              <a:srgbClr val="000000">
                <a:alpha val="20000"/>
              </a:srgbClr>
            </a:outerShdw>
          </a:effectLst>
        </p:spPr>
      </p:sp>
      <p:sp>
        <p:nvSpPr>
          <p:cNvPr id="17" name="Text 15"/>
          <p:cNvSpPr/>
          <p:nvPr/>
        </p:nvSpPr>
        <p:spPr>
          <a:xfrm>
            <a:off x="5120640" y="3611880"/>
            <a:ext cx="3474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6"/>
          <p:cNvSpPr/>
          <p:nvPr/>
        </p:nvSpPr>
        <p:spPr>
          <a:xfrm>
            <a:off x="5120640" y="3867912"/>
            <a:ext cx="3474720" cy="9326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kind of maps do you already know about?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it matter if maps were in the wrong drawer?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943A"/>
          </a:solidFill>
          <a:ln/>
        </p:spPr>
      </p:sp>
      <p:sp>
        <p:nvSpPr>
          <p:cNvPr id="3" name="Text 1"/>
          <p:cNvSpPr/>
          <p:nvPr/>
        </p:nvSpPr>
        <p:spPr>
          <a:xfrm>
            <a:off x="365760" y="256032"/>
            <a:ext cx="8412480" cy="256032"/>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VIRTUE SPOTLIGHT</a:t>
            </a:r>
            <a:endParaRPr lang="en-US" sz="900" dirty="0"/>
          </a:p>
        </p:txBody>
      </p:sp>
      <p:sp>
        <p:nvSpPr>
          <p:cNvPr id="4" name="Text 2"/>
          <p:cNvSpPr/>
          <p:nvPr/>
        </p:nvSpPr>
        <p:spPr>
          <a:xfrm>
            <a:off x="365760" y="548640"/>
            <a:ext cx="5486400" cy="822960"/>
          </a:xfrm>
          <a:prstGeom prst="rect">
            <a:avLst/>
          </a:prstGeom>
          <a:noFill/>
          <a:ln/>
        </p:spPr>
        <p:txBody>
          <a:bodyPr wrap="square" lIns="0" tIns="0" rIns="0" bIns="0" rtlCol="0" anchor="ctr"/>
          <a:lstStyle/>
          <a:p>
            <a:pPr indent="0" marL="0">
              <a:buNone/>
            </a:pPr>
            <a:r>
              <a:rPr lang="en-US" sz="5200" b="1" dirty="0">
                <a:solidFill>
                  <a:srgbClr val="D4943A"/>
                </a:solidFill>
                <a:latin typeface="Cambria" pitchFamily="34" charset="0"/>
                <a:ea typeface="Cambria" pitchFamily="34" charset="-122"/>
                <a:cs typeface="Cambria" pitchFamily="34" charset="-120"/>
              </a:rPr>
              <a:t>Courage</a:t>
            </a:r>
            <a:endParaRPr lang="en-US" sz="5200" dirty="0"/>
          </a:p>
        </p:txBody>
      </p:sp>
      <p:sp>
        <p:nvSpPr>
          <p:cNvPr id="5" name="Text 3"/>
          <p:cNvSpPr/>
          <p:nvPr/>
        </p:nvSpPr>
        <p:spPr>
          <a:xfrm>
            <a:off x="365760" y="1417320"/>
            <a:ext cx="5303520" cy="777240"/>
          </a:xfrm>
          <a:prstGeom prst="rect">
            <a:avLst/>
          </a:prstGeom>
          <a:noFill/>
          <a:ln/>
        </p:spPr>
        <p:txBody>
          <a:bodyPr wrap="square" lIns="0" tIns="0" rIns="0" bIns="0" rtlCol="0" anchor="ctr"/>
          <a:lstStyle/>
          <a:p>
            <a:pPr indent="0" marL="0">
              <a:buNone/>
            </a:pPr>
            <a:r>
              <a:rPr lang="en-US" sz="1700" i="1" dirty="0">
                <a:solidFill>
                  <a:srgbClr val="FFFFFF"/>
                </a:solidFill>
                <a:latin typeface="Cambria" pitchFamily="34" charset="0"/>
                <a:ea typeface="Cambria" pitchFamily="34" charset="-122"/>
                <a:cs typeface="Cambria" pitchFamily="34" charset="-120"/>
              </a:rPr>
              <a:t>It takes courage to look at a confusing mess and say,</a:t>
            </a:r>
            <a:endParaRPr lang="en-US" sz="1700" dirty="0"/>
          </a:p>
          <a:p>
            <a:pPr indent="0" marL="0">
              <a:buNone/>
            </a:pPr>
            <a:r>
              <a:rPr lang="en-US" sz="1700" i="1" dirty="0">
                <a:solidFill>
                  <a:srgbClr val="FFFFFF"/>
                </a:solidFill>
                <a:latin typeface="Cambria" pitchFamily="34" charset="0"/>
                <a:ea typeface="Cambria" pitchFamily="34" charset="-122"/>
                <a:cs typeface="Cambria" pitchFamily="34" charset="-120"/>
              </a:rPr>
              <a:t>"I can figure this out."</a:t>
            </a:r>
            <a:endParaRPr lang="en-US" sz="1700" dirty="0"/>
          </a:p>
        </p:txBody>
      </p:sp>
      <p:sp>
        <p:nvSpPr>
          <p:cNvPr id="6" name="Shape 4"/>
          <p:cNvSpPr/>
          <p:nvPr/>
        </p:nvSpPr>
        <p:spPr>
          <a:xfrm>
            <a:off x="365760" y="2286000"/>
            <a:ext cx="5303520" cy="1417320"/>
          </a:xfrm>
          <a:prstGeom prst="roundRect">
            <a:avLst>
              <a:gd name="adj" fmla="val 7742"/>
            </a:avLst>
          </a:prstGeom>
          <a:solidFill>
            <a:srgbClr val="1A2D5A"/>
          </a:solidFill>
          <a:ln/>
        </p:spPr>
      </p:sp>
      <p:sp>
        <p:nvSpPr>
          <p:cNvPr id="7" name="Text 5"/>
          <p:cNvSpPr/>
          <p:nvPr/>
        </p:nvSpPr>
        <p:spPr>
          <a:xfrm>
            <a:off x="548640" y="2395728"/>
            <a:ext cx="4937760" cy="11887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Good curators don't give up when things are mixed up or hard to understand. They take it one step at a time, study the evidence, and sort it out.</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Today, every time you tackle a confusing map — that's courage in action.</a:t>
            </a:r>
            <a:endParaRPr lang="en-US" sz="1300" dirty="0"/>
          </a:p>
        </p:txBody>
      </p:sp>
      <p:sp>
        <p:nvSpPr>
          <p:cNvPr id="8" name="Shape 6"/>
          <p:cNvSpPr/>
          <p:nvPr/>
        </p:nvSpPr>
        <p:spPr>
          <a:xfrm>
            <a:off x="6035040" y="548640"/>
            <a:ext cx="2743200" cy="3200400"/>
          </a:xfrm>
          <a:prstGeom prst="roundRect">
            <a:avLst>
              <a:gd name="adj" fmla="val 4000"/>
            </a:avLst>
          </a:prstGeom>
          <a:solidFill>
            <a:srgbClr val="E2E8F4"/>
          </a:solidFill>
          <a:ln w="19050">
            <a:solidFill>
              <a:srgbClr val="B0B8CC"/>
            </a:solidFill>
            <a:prstDash val="dash"/>
          </a:ln>
        </p:spPr>
      </p:sp>
      <p:sp>
        <p:nvSpPr>
          <p:cNvPr id="9" name="Text 7"/>
          <p:cNvSpPr/>
          <p:nvPr/>
        </p:nvSpPr>
        <p:spPr>
          <a:xfrm>
            <a:off x="6035040" y="548640"/>
            <a:ext cx="2743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6172200" y="822960"/>
            <a:ext cx="2468880" cy="28346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Young student confidently studying a large map at a desk — determined, focused expression, pencil in hand</a:t>
            </a:r>
            <a:endParaRPr lang="en-US" sz="1100" dirty="0"/>
          </a:p>
        </p:txBody>
      </p:sp>
      <p:sp>
        <p:nvSpPr>
          <p:cNvPr id="11" name="Shape 9"/>
          <p:cNvSpPr/>
          <p:nvPr/>
        </p:nvSpPr>
        <p:spPr>
          <a:xfrm>
            <a:off x="365760" y="3840480"/>
            <a:ext cx="8503920" cy="1097280"/>
          </a:xfrm>
          <a:prstGeom prst="roundRect">
            <a:avLst>
              <a:gd name="adj" fmla="val 10000"/>
            </a:avLst>
          </a:prstGeom>
          <a:solidFill>
            <a:srgbClr val="FFF3DC"/>
          </a:solidFill>
          <a:ln w="19050">
            <a:solidFill>
              <a:srgbClr val="F5E6C8"/>
            </a:solidFill>
            <a:prstDash val="solid"/>
          </a:ln>
        </p:spPr>
      </p:sp>
      <p:sp>
        <p:nvSpPr>
          <p:cNvPr id="12" name="Text 10"/>
          <p:cNvSpPr/>
          <p:nvPr/>
        </p:nvSpPr>
        <p:spPr>
          <a:xfrm>
            <a:off x="502920" y="3895344"/>
            <a:ext cx="8229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02920" y="4096512"/>
            <a:ext cx="822960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show courage when I..."</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"It takes courage to sort maps because..."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365760" y="182880"/>
            <a:ext cx="8412480" cy="475488"/>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What You'll Learn Today</a:t>
            </a:r>
            <a:endParaRPr lang="en-US" sz="3000" dirty="0"/>
          </a:p>
        </p:txBody>
      </p:sp>
      <p:sp>
        <p:nvSpPr>
          <p:cNvPr id="3" name="Shape 1"/>
          <p:cNvSpPr/>
          <p:nvPr/>
        </p:nvSpPr>
        <p:spPr>
          <a:xfrm>
            <a:off x="365760" y="676656"/>
            <a:ext cx="8412480" cy="0"/>
          </a:xfrm>
          <a:prstGeom prst="line">
            <a:avLst/>
          </a:prstGeom>
          <a:noFill/>
          <a:ln w="25400">
            <a:solidFill>
              <a:srgbClr val="D4943A"/>
            </a:solidFill>
            <a:prstDash val="solid"/>
          </a:ln>
        </p:spPr>
      </p:sp>
      <p:sp>
        <p:nvSpPr>
          <p:cNvPr id="4" name="Shape 2"/>
          <p:cNvSpPr/>
          <p:nvPr/>
        </p:nvSpPr>
        <p:spPr>
          <a:xfrm>
            <a:off x="365760" y="841248"/>
            <a:ext cx="8412480" cy="960120"/>
          </a:xfrm>
          <a:prstGeom prst="roundRect">
            <a:avLst>
              <a:gd name="adj" fmla="val 11429"/>
            </a:avLst>
          </a:prstGeom>
          <a:solidFill>
            <a:srgbClr val="FFFFFF"/>
          </a:solidFill>
          <a:ln/>
          <a:effectLst>
            <a:outerShdw sx="100000" sy="100000" kx="0" ky="0" algn="bl" rotWithShape="0" blurRad="50800" dist="25400" dir="8100000">
              <a:srgbClr val="000000">
                <a:alpha val="8000"/>
              </a:srgbClr>
            </a:outerShdw>
          </a:effectLst>
        </p:spPr>
      </p:sp>
      <p:sp>
        <p:nvSpPr>
          <p:cNvPr id="5" name="Shape 3"/>
          <p:cNvSpPr/>
          <p:nvPr/>
        </p:nvSpPr>
        <p:spPr>
          <a:xfrm>
            <a:off x="365760" y="841248"/>
            <a:ext cx="109728" cy="960120"/>
          </a:xfrm>
          <a:prstGeom prst="roundRect">
            <a:avLst/>
          </a:prstGeom>
          <a:solidFill>
            <a:srgbClr val="D4943A"/>
          </a:solidFill>
          <a:ln/>
        </p:spPr>
      </p:sp>
      <p:sp>
        <p:nvSpPr>
          <p:cNvPr id="6" name="Text 4"/>
          <p:cNvSpPr/>
          <p:nvPr/>
        </p:nvSpPr>
        <p:spPr>
          <a:xfrm>
            <a:off x="640080" y="950976"/>
            <a:ext cx="2286000" cy="274320"/>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Map it out</a:t>
            </a:r>
            <a:endParaRPr lang="en-US" sz="1300" dirty="0"/>
          </a:p>
        </p:txBody>
      </p:sp>
      <p:sp>
        <p:nvSpPr>
          <p:cNvPr id="7" name="Text 5"/>
          <p:cNvSpPr/>
          <p:nvPr/>
        </p:nvSpPr>
        <p:spPr>
          <a:xfrm>
            <a:off x="640080" y="1243584"/>
            <a:ext cx="7863840" cy="43891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Name the four types of maps and what each one shows.</a:t>
            </a:r>
            <a:endParaRPr lang="en-US" sz="1400" dirty="0"/>
          </a:p>
        </p:txBody>
      </p:sp>
      <p:sp>
        <p:nvSpPr>
          <p:cNvPr id="8" name="Shape 6"/>
          <p:cNvSpPr/>
          <p:nvPr/>
        </p:nvSpPr>
        <p:spPr>
          <a:xfrm>
            <a:off x="365760" y="1938528"/>
            <a:ext cx="8412480" cy="960120"/>
          </a:xfrm>
          <a:prstGeom prst="roundRect">
            <a:avLst>
              <a:gd name="adj" fmla="val 11429"/>
            </a:avLst>
          </a:prstGeom>
          <a:solidFill>
            <a:srgbClr val="FFFFFF"/>
          </a:solidFill>
          <a:ln/>
          <a:effectLst>
            <a:outerShdw sx="100000" sy="100000" kx="0" ky="0" algn="bl" rotWithShape="0" blurRad="50800" dist="25400" dir="8100000">
              <a:srgbClr val="000000">
                <a:alpha val="8000"/>
              </a:srgbClr>
            </a:outerShdw>
          </a:effectLst>
        </p:spPr>
      </p:sp>
      <p:sp>
        <p:nvSpPr>
          <p:cNvPr id="9" name="Shape 7"/>
          <p:cNvSpPr/>
          <p:nvPr/>
        </p:nvSpPr>
        <p:spPr>
          <a:xfrm>
            <a:off x="365760" y="1938528"/>
            <a:ext cx="109728" cy="960120"/>
          </a:xfrm>
          <a:prstGeom prst="roundRect">
            <a:avLst/>
          </a:prstGeom>
          <a:solidFill>
            <a:srgbClr val="D4943A"/>
          </a:solidFill>
          <a:ln/>
        </p:spPr>
      </p:sp>
      <p:sp>
        <p:nvSpPr>
          <p:cNvPr id="10" name="Text 8"/>
          <p:cNvSpPr/>
          <p:nvPr/>
        </p:nvSpPr>
        <p:spPr>
          <a:xfrm>
            <a:off x="640080" y="2048256"/>
            <a:ext cx="2286000" cy="274320"/>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Pick the right one</a:t>
            </a:r>
            <a:endParaRPr lang="en-US" sz="1300" dirty="0"/>
          </a:p>
        </p:txBody>
      </p:sp>
      <p:sp>
        <p:nvSpPr>
          <p:cNvPr id="11" name="Text 9"/>
          <p:cNvSpPr/>
          <p:nvPr/>
        </p:nvSpPr>
        <p:spPr>
          <a:xfrm>
            <a:off x="640080" y="2340864"/>
            <a:ext cx="7863840" cy="43891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Explain why you would choose one map type over another.</a:t>
            </a:r>
            <a:endParaRPr lang="en-US" sz="1400" dirty="0"/>
          </a:p>
        </p:txBody>
      </p:sp>
      <p:sp>
        <p:nvSpPr>
          <p:cNvPr id="12" name="Shape 10"/>
          <p:cNvSpPr/>
          <p:nvPr/>
        </p:nvSpPr>
        <p:spPr>
          <a:xfrm>
            <a:off x="365760" y="3035808"/>
            <a:ext cx="8412480" cy="960120"/>
          </a:xfrm>
          <a:prstGeom prst="roundRect">
            <a:avLst>
              <a:gd name="adj" fmla="val 11429"/>
            </a:avLst>
          </a:prstGeom>
          <a:solidFill>
            <a:srgbClr val="FFFFFF"/>
          </a:solidFill>
          <a:ln/>
          <a:effectLst>
            <a:outerShdw sx="100000" sy="100000" kx="0" ky="0" algn="bl" rotWithShape="0" blurRad="50800" dist="25400" dir="8100000">
              <a:srgbClr val="000000">
                <a:alpha val="8000"/>
              </a:srgbClr>
            </a:outerShdw>
          </a:effectLst>
        </p:spPr>
      </p:sp>
      <p:sp>
        <p:nvSpPr>
          <p:cNvPr id="13" name="Shape 11"/>
          <p:cNvSpPr/>
          <p:nvPr/>
        </p:nvSpPr>
        <p:spPr>
          <a:xfrm>
            <a:off x="365760" y="3035808"/>
            <a:ext cx="109728" cy="960120"/>
          </a:xfrm>
          <a:prstGeom prst="roundRect">
            <a:avLst/>
          </a:prstGeom>
          <a:solidFill>
            <a:srgbClr val="D4943A"/>
          </a:solidFill>
          <a:ln/>
        </p:spPr>
      </p:sp>
      <p:sp>
        <p:nvSpPr>
          <p:cNvPr id="14" name="Text 12"/>
          <p:cNvSpPr/>
          <p:nvPr/>
        </p:nvSpPr>
        <p:spPr>
          <a:xfrm>
            <a:off x="640080" y="3145536"/>
            <a:ext cx="2286000" cy="274320"/>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Sort the drawers</a:t>
            </a:r>
            <a:endParaRPr lang="en-US" sz="1300" dirty="0"/>
          </a:p>
        </p:txBody>
      </p:sp>
      <p:sp>
        <p:nvSpPr>
          <p:cNvPr id="15" name="Text 13"/>
          <p:cNvSpPr/>
          <p:nvPr/>
        </p:nvSpPr>
        <p:spPr>
          <a:xfrm>
            <a:off x="640080" y="3438144"/>
            <a:ext cx="7863840" cy="43891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Put each map in the correct drawer and explain your thinking.</a:t>
            </a:r>
            <a:endParaRPr lang="en-US" sz="1400" dirty="0"/>
          </a:p>
        </p:txBody>
      </p:sp>
      <p:sp>
        <p:nvSpPr>
          <p:cNvPr id="16" name="Shape 14"/>
          <p:cNvSpPr/>
          <p:nvPr/>
        </p:nvSpPr>
        <p:spPr>
          <a:xfrm>
            <a:off x="365760" y="4297680"/>
            <a:ext cx="8412480" cy="640080"/>
          </a:xfrm>
          <a:prstGeom prst="roundRect">
            <a:avLst>
              <a:gd name="adj" fmla="val 14286"/>
            </a:avLst>
          </a:prstGeom>
          <a:solidFill>
            <a:srgbClr val="0E1C42"/>
          </a:solidFill>
          <a:ln/>
        </p:spPr>
      </p:sp>
      <p:sp>
        <p:nvSpPr>
          <p:cNvPr id="17" name="Text 15"/>
          <p:cNvSpPr/>
          <p:nvPr/>
        </p:nvSpPr>
        <p:spPr>
          <a:xfrm>
            <a:off x="548640" y="4297680"/>
            <a:ext cx="8046720" cy="640080"/>
          </a:xfrm>
          <a:prstGeom prst="rect">
            <a:avLst/>
          </a:prstGeom>
          <a:noFill/>
          <a:ln/>
        </p:spPr>
        <p:txBody>
          <a:bodyPr wrap="square" lIns="0" tIns="0" rIns="0" bIns="0" rtlCol="0" anchor="ctr"/>
          <a:lstStyle/>
          <a:p>
            <a:pPr algn="ctr" indent="0" marL="0">
              <a:buNone/>
            </a:pPr>
            <a:r>
              <a:rPr lang="en-US" sz="1300" dirty="0">
                <a:solidFill>
                  <a:srgbClr val="55C8E8"/>
                </a:solidFill>
                <a:latin typeface="Calibri" pitchFamily="34" charset="0"/>
                <a:ea typeface="Calibri" pitchFamily="34" charset="-122"/>
                <a:cs typeface="Calibri" pitchFamily="34" charset="-120"/>
              </a:rPr>
              <a:t>You'll need: Curator's Notebook + Pencil + Lesson Page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502920"/>
          </a:xfrm>
          <a:prstGeom prst="roundRect">
            <a:avLst>
              <a:gd name="adj" fmla="val 14545"/>
            </a:avLst>
          </a:prstGeom>
          <a:solidFill>
            <a:srgbClr val="0E1C42"/>
          </a:solidFill>
          <a:ln/>
        </p:spPr>
      </p:sp>
      <p:sp>
        <p:nvSpPr>
          <p:cNvPr id="3" name="Text 1"/>
          <p:cNvSpPr/>
          <p:nvPr/>
        </p:nvSpPr>
        <p:spPr>
          <a:xfrm>
            <a:off x="274320" y="137160"/>
            <a:ext cx="8595360" cy="50292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DRAWER #1 — MYSTERY MAP</a:t>
            </a:r>
            <a:endParaRPr lang="en-US" sz="1100" dirty="0"/>
          </a:p>
        </p:txBody>
      </p:sp>
      <p:sp>
        <p:nvSpPr>
          <p:cNvPr id="4" name="Shape 2"/>
          <p:cNvSpPr/>
          <p:nvPr/>
        </p:nvSpPr>
        <p:spPr>
          <a:xfrm>
            <a:off x="274320" y="749808"/>
            <a:ext cx="4754880" cy="3200400"/>
          </a:xfrm>
          <a:prstGeom prst="roundRect">
            <a:avLst>
              <a:gd name="adj" fmla="val 3429"/>
            </a:avLst>
          </a:prstGeom>
          <a:solidFill>
            <a:srgbClr val="E2E8F4"/>
          </a:solidFill>
          <a:ln w="19050">
            <a:solidFill>
              <a:srgbClr val="B0B8CC"/>
            </a:solidFill>
            <a:prstDash val="dash"/>
          </a:ln>
        </p:spPr>
      </p:sp>
      <p:sp>
        <p:nvSpPr>
          <p:cNvPr id="5" name="Text 3"/>
          <p:cNvSpPr/>
          <p:nvPr/>
        </p:nvSpPr>
        <p:spPr>
          <a:xfrm>
            <a:off x="274320" y="749808"/>
            <a:ext cx="4754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11480" y="1024128"/>
            <a:ext cx="4480560" cy="28346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Physical map of North America showing mountains in brown/tan, rivers in blue, plains in green — NO labels or title visible</a:t>
            </a:r>
            <a:endParaRPr lang="en-US" sz="1100" dirty="0"/>
          </a:p>
        </p:txBody>
      </p:sp>
      <p:sp>
        <p:nvSpPr>
          <p:cNvPr id="7" name="Shape 5"/>
          <p:cNvSpPr/>
          <p:nvPr/>
        </p:nvSpPr>
        <p:spPr>
          <a:xfrm>
            <a:off x="5212080" y="749808"/>
            <a:ext cx="3566160" cy="1371600"/>
          </a:xfrm>
          <a:prstGeom prst="roundRect">
            <a:avLst>
              <a:gd name="adj" fmla="val 8000"/>
            </a:avLst>
          </a:prstGeom>
          <a:solidFill>
            <a:srgbClr val="F0F2F8"/>
          </a:solidFill>
          <a:ln/>
        </p:spPr>
      </p:sp>
      <p:sp>
        <p:nvSpPr>
          <p:cNvPr id="8" name="Text 6"/>
          <p:cNvSpPr/>
          <p:nvPr/>
        </p:nvSpPr>
        <p:spPr>
          <a:xfrm>
            <a:off x="5394960" y="822960"/>
            <a:ext cx="3200400" cy="27432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Look carefully at this map.</a:t>
            </a:r>
            <a:endParaRPr lang="en-US" sz="1400" dirty="0"/>
          </a:p>
        </p:txBody>
      </p:sp>
      <p:sp>
        <p:nvSpPr>
          <p:cNvPr id="9" name="Text 7"/>
          <p:cNvSpPr/>
          <p:nvPr/>
        </p:nvSpPr>
        <p:spPr>
          <a:xfrm>
            <a:off x="5394960" y="1115568"/>
            <a:ext cx="3200400" cy="91440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What colors do you see?</a:t>
            </a: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What does the map seem to be showing?</a:t>
            </a: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What question could this map answer?</a:t>
            </a:r>
            <a:endParaRPr lang="en-US" sz="1250" dirty="0"/>
          </a:p>
        </p:txBody>
      </p:sp>
      <p:sp>
        <p:nvSpPr>
          <p:cNvPr id="10" name="Shape 8"/>
          <p:cNvSpPr/>
          <p:nvPr/>
        </p:nvSpPr>
        <p:spPr>
          <a:xfrm>
            <a:off x="5212080" y="2212848"/>
            <a:ext cx="3566160" cy="1417320"/>
          </a:xfrm>
          <a:prstGeom prst="roundRect">
            <a:avLst>
              <a:gd name="adj" fmla="val 7742"/>
            </a:avLst>
          </a:prstGeom>
          <a:solidFill>
            <a:srgbClr val="FFF3DC"/>
          </a:solidFill>
          <a:ln w="19050">
            <a:solidFill>
              <a:srgbClr val="F5E6C8"/>
            </a:solidFill>
            <a:prstDash val="solid"/>
          </a:ln>
        </p:spPr>
      </p:sp>
      <p:sp>
        <p:nvSpPr>
          <p:cNvPr id="11" name="Text 9"/>
          <p:cNvSpPr/>
          <p:nvPr/>
        </p:nvSpPr>
        <p:spPr>
          <a:xfrm>
            <a:off x="5349240" y="2267712"/>
            <a:ext cx="32918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349240" y="2468880"/>
            <a:ext cx="329184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this map shows..."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map helps you find..."</a:t>
            </a:r>
            <a:endParaRPr lang="en-US" sz="1200" dirty="0"/>
          </a:p>
        </p:txBody>
      </p:sp>
      <p:sp>
        <p:nvSpPr>
          <p:cNvPr id="13" name="Shape 11"/>
          <p:cNvSpPr/>
          <p:nvPr/>
        </p:nvSpPr>
        <p:spPr>
          <a:xfrm>
            <a:off x="274320" y="4041648"/>
            <a:ext cx="8321040" cy="960120"/>
          </a:xfrm>
          <a:prstGeom prst="roundRect">
            <a:avLst>
              <a:gd name="adj" fmla="val 14286"/>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457200" y="4133088"/>
            <a:ext cx="79552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457200" y="4389120"/>
            <a:ext cx="7955280" cy="521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the different colors seem to mean?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Where do you see blue? What might that represent?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a visitor asked 'Where is the Mississippi River?' — could this map help?</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365760" y="182880"/>
            <a:ext cx="8412480" cy="292608"/>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DRAWER #1 UNLOCKED</a:t>
            </a:r>
            <a:endParaRPr lang="en-US" sz="900" dirty="0"/>
          </a:p>
        </p:txBody>
      </p:sp>
      <p:sp>
        <p:nvSpPr>
          <p:cNvPr id="5" name="Text 3"/>
          <p:cNvSpPr/>
          <p:nvPr/>
        </p:nvSpPr>
        <p:spPr>
          <a:xfrm>
            <a:off x="365760" y="475488"/>
            <a:ext cx="8412480" cy="822960"/>
          </a:xfrm>
          <a:prstGeom prst="rect">
            <a:avLst/>
          </a:prstGeom>
          <a:noFill/>
          <a:ln/>
        </p:spPr>
        <p:txBody>
          <a:bodyPr wrap="square" lIns="0" tIns="0" rIns="0" bIns="0" rtlCol="0" anchor="ctr"/>
          <a:lstStyle/>
          <a:p>
            <a:pPr algn="ctr" indent="0" marL="0">
              <a:buNone/>
            </a:pPr>
            <a:r>
              <a:rPr lang="en-US" sz="4800" b="1" dirty="0">
                <a:solidFill>
                  <a:srgbClr val="D4943A"/>
                </a:solidFill>
                <a:latin typeface="Cambria" pitchFamily="34" charset="0"/>
                <a:ea typeface="Cambria" pitchFamily="34" charset="-122"/>
                <a:cs typeface="Cambria" pitchFamily="34" charset="-120"/>
              </a:rPr>
              <a:t>Physical Map</a:t>
            </a:r>
            <a:endParaRPr lang="en-US" sz="4800" dirty="0"/>
          </a:p>
        </p:txBody>
      </p:sp>
      <p:sp>
        <p:nvSpPr>
          <p:cNvPr id="6" name="Shape 4"/>
          <p:cNvSpPr/>
          <p:nvPr/>
        </p:nvSpPr>
        <p:spPr>
          <a:xfrm>
            <a:off x="365760" y="1371600"/>
            <a:ext cx="3840480" cy="2743200"/>
          </a:xfrm>
          <a:prstGeom prst="roundRect">
            <a:avLst>
              <a:gd name="adj" fmla="val 4000"/>
            </a:avLst>
          </a:prstGeom>
          <a:solidFill>
            <a:srgbClr val="E2E8F4"/>
          </a:solidFill>
          <a:ln w="19050">
            <a:solidFill>
              <a:srgbClr val="B0B8CC"/>
            </a:solidFill>
            <a:prstDash val="dash"/>
          </a:ln>
        </p:spPr>
      </p:sp>
      <p:sp>
        <p:nvSpPr>
          <p:cNvPr id="7" name="Text 5"/>
          <p:cNvSpPr/>
          <p:nvPr/>
        </p:nvSpPr>
        <p:spPr>
          <a:xfrm>
            <a:off x="365760" y="137160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645920"/>
            <a:ext cx="3566160" cy="2377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Same physical map of North America now labeled — with color key: green=low land, brown=high land, blue=water</a:t>
            </a:r>
            <a:endParaRPr lang="en-US" sz="1100" dirty="0"/>
          </a:p>
        </p:txBody>
      </p:sp>
      <p:sp>
        <p:nvSpPr>
          <p:cNvPr id="9" name="Shape 7"/>
          <p:cNvSpPr/>
          <p:nvPr/>
        </p:nvSpPr>
        <p:spPr>
          <a:xfrm>
            <a:off x="4389120" y="1371600"/>
            <a:ext cx="4480560" cy="1463040"/>
          </a:xfrm>
          <a:prstGeom prst="roundRect">
            <a:avLst>
              <a:gd name="adj" fmla="val 7500"/>
            </a:avLst>
          </a:prstGeom>
          <a:solidFill>
            <a:srgbClr val="1A2D5A"/>
          </a:solidFill>
          <a:ln/>
        </p:spPr>
      </p:sp>
      <p:sp>
        <p:nvSpPr>
          <p:cNvPr id="10" name="Text 8"/>
          <p:cNvSpPr/>
          <p:nvPr/>
        </p:nvSpPr>
        <p:spPr>
          <a:xfrm>
            <a:off x="4572000" y="1463040"/>
            <a:ext cx="4114800" cy="256032"/>
          </a:xfrm>
          <a:prstGeom prst="rect">
            <a:avLst/>
          </a:prstGeom>
          <a:noFill/>
          <a:ln/>
        </p:spPr>
        <p:txBody>
          <a:bodyPr wrap="square" lIns="0" tIns="0" rIns="0" bIns="0" rtlCol="0" anchor="ctr"/>
          <a:lstStyle/>
          <a:p>
            <a:pPr indent="0" marL="0">
              <a:buNone/>
            </a:pPr>
            <a:r>
              <a:rPr lang="en-US" sz="1000" b="1" spc="100" kern="0" dirty="0">
                <a:solidFill>
                  <a:srgbClr val="55C8E8"/>
                </a:solidFill>
                <a:latin typeface="Calibri" pitchFamily="34" charset="0"/>
                <a:ea typeface="Calibri" pitchFamily="34" charset="-122"/>
                <a:cs typeface="Calibri" pitchFamily="34" charset="-120"/>
              </a:rPr>
              <a:t>What It Shows:</a:t>
            </a:r>
            <a:endParaRPr lang="en-US" sz="1000" dirty="0"/>
          </a:p>
        </p:txBody>
      </p:sp>
      <p:sp>
        <p:nvSpPr>
          <p:cNvPr id="11" name="Text 9"/>
          <p:cNvSpPr/>
          <p:nvPr/>
        </p:nvSpPr>
        <p:spPr>
          <a:xfrm>
            <a:off x="4572000" y="1737360"/>
            <a:ext cx="411480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Natural features of the land — mountains, rivers, lakes, deserts, and oceans.</a:t>
            </a:r>
            <a:endParaRPr lang="en-US" sz="1400" dirty="0"/>
          </a:p>
        </p:txBody>
      </p:sp>
      <p:sp>
        <p:nvSpPr>
          <p:cNvPr id="12" name="Text 10"/>
          <p:cNvSpPr/>
          <p:nvPr/>
        </p:nvSpPr>
        <p:spPr>
          <a:xfrm>
            <a:off x="4572000" y="2267712"/>
            <a:ext cx="4114800" cy="384048"/>
          </a:xfrm>
          <a:prstGeom prst="rect">
            <a:avLst/>
          </a:prstGeom>
          <a:noFill/>
          <a:ln/>
        </p:spPr>
        <p:txBody>
          <a:bodyPr wrap="square" lIns="0" tIns="0" rIns="0" bIns="0" rtlCol="0" anchor="ctr"/>
          <a:lstStyle/>
          <a:p>
            <a:pPr indent="0" marL="0">
              <a:buNone/>
            </a:pPr>
            <a:r>
              <a:rPr lang="en-US" sz="1200" i="1" dirty="0">
                <a:solidFill>
                  <a:srgbClr val="A0E8DA"/>
                </a:solidFill>
                <a:latin typeface="Calibri" pitchFamily="34" charset="0"/>
                <a:ea typeface="Calibri" pitchFamily="34" charset="-122"/>
                <a:cs typeface="Calibri" pitchFamily="34" charset="-120"/>
              </a:rPr>
              <a:t>Colors: green = low land | brown = high land | blue = water</a:t>
            </a:r>
            <a:endParaRPr lang="en-US" sz="1200" dirty="0"/>
          </a:p>
        </p:txBody>
      </p:sp>
      <p:sp>
        <p:nvSpPr>
          <p:cNvPr id="13" name="Shape 11"/>
          <p:cNvSpPr/>
          <p:nvPr/>
        </p:nvSpPr>
        <p:spPr>
          <a:xfrm>
            <a:off x="4389120" y="2944368"/>
            <a:ext cx="4480560" cy="804672"/>
          </a:xfrm>
          <a:prstGeom prst="roundRect">
            <a:avLst>
              <a:gd name="adj" fmla="val 11364"/>
            </a:avLst>
          </a:prstGeom>
          <a:solidFill>
            <a:srgbClr val="1A8A7D"/>
          </a:solidFill>
          <a:ln/>
        </p:spPr>
      </p:sp>
      <p:sp>
        <p:nvSpPr>
          <p:cNvPr id="14" name="Text 12"/>
          <p:cNvSpPr/>
          <p:nvPr/>
        </p:nvSpPr>
        <p:spPr>
          <a:xfrm>
            <a:off x="4572000" y="3017520"/>
            <a:ext cx="4114800" cy="228600"/>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Use it when:</a:t>
            </a:r>
            <a:endParaRPr lang="en-US" sz="1000" dirty="0"/>
          </a:p>
        </p:txBody>
      </p:sp>
      <p:sp>
        <p:nvSpPr>
          <p:cNvPr id="15" name="Text 13"/>
          <p:cNvSpPr/>
          <p:nvPr/>
        </p:nvSpPr>
        <p:spPr>
          <a:xfrm>
            <a:off x="4572000" y="3264408"/>
            <a:ext cx="4114800" cy="384048"/>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A visitor asks "Where are the rivers?" or "What does the land look like?"</a:t>
            </a:r>
            <a:endParaRPr lang="en-US" sz="1250" dirty="0"/>
          </a:p>
        </p:txBody>
      </p:sp>
      <p:sp>
        <p:nvSpPr>
          <p:cNvPr id="16" name="Shape 14"/>
          <p:cNvSpPr/>
          <p:nvPr/>
        </p:nvSpPr>
        <p:spPr>
          <a:xfrm>
            <a:off x="365760" y="4206240"/>
            <a:ext cx="8412480" cy="731520"/>
          </a:xfrm>
          <a:prstGeom prst="roundRect">
            <a:avLst>
              <a:gd name="adj" fmla="val 12500"/>
            </a:avLst>
          </a:prstGeom>
          <a:solidFill>
            <a:srgbClr val="D4943A"/>
          </a:solidFill>
          <a:ln/>
        </p:spPr>
      </p:sp>
      <p:sp>
        <p:nvSpPr>
          <p:cNvPr id="17" name="Text 15"/>
          <p:cNvSpPr/>
          <p:nvPr/>
        </p:nvSpPr>
        <p:spPr>
          <a:xfrm>
            <a:off x="548640" y="4206240"/>
            <a:ext cx="8046720" cy="731520"/>
          </a:xfrm>
          <a:prstGeom prst="rect">
            <a:avLst/>
          </a:prstGeom>
          <a:noFill/>
          <a:ln/>
        </p:spPr>
        <p:txBody>
          <a:bodyPr wrap="square" lIns="0" tIns="0" rIns="0" bIns="0" rtlCol="0" anchor="ctr"/>
          <a:lstStyle/>
          <a:p>
            <a:pPr algn="ctr" indent="0" marL="0">
              <a:buNone/>
            </a:pPr>
            <a:r>
              <a:rPr lang="en-US" sz="1250" b="1" dirty="0">
                <a:solidFill>
                  <a:srgbClr val="0E1C42"/>
                </a:solidFill>
                <a:latin typeface="Calibri" pitchFamily="34" charset="0"/>
                <a:ea typeface="Calibri" pitchFamily="34" charset="-122"/>
                <a:cs typeface="Calibri" pitchFamily="34" charset="-120"/>
              </a:rPr>
              <a:t>Curator's Notebook: Write — "Physical Map = natural land features. Green=low. Brown=high."</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502920"/>
          </a:xfrm>
          <a:prstGeom prst="roundRect">
            <a:avLst>
              <a:gd name="adj" fmla="val 14545"/>
            </a:avLst>
          </a:prstGeom>
          <a:solidFill>
            <a:srgbClr val="0E1C42"/>
          </a:solidFill>
          <a:ln/>
        </p:spPr>
      </p:sp>
      <p:sp>
        <p:nvSpPr>
          <p:cNvPr id="3" name="Text 1"/>
          <p:cNvSpPr/>
          <p:nvPr/>
        </p:nvSpPr>
        <p:spPr>
          <a:xfrm>
            <a:off x="274320" y="137160"/>
            <a:ext cx="8595360" cy="50292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DRAWER #2 — MYSTERY MAP</a:t>
            </a:r>
            <a:endParaRPr lang="en-US" sz="1100" dirty="0"/>
          </a:p>
        </p:txBody>
      </p:sp>
      <p:sp>
        <p:nvSpPr>
          <p:cNvPr id="4" name="Shape 2"/>
          <p:cNvSpPr/>
          <p:nvPr/>
        </p:nvSpPr>
        <p:spPr>
          <a:xfrm>
            <a:off x="274320" y="749808"/>
            <a:ext cx="4754880" cy="3200400"/>
          </a:xfrm>
          <a:prstGeom prst="roundRect">
            <a:avLst>
              <a:gd name="adj" fmla="val 3429"/>
            </a:avLst>
          </a:prstGeom>
          <a:solidFill>
            <a:srgbClr val="E2E8F4"/>
          </a:solidFill>
          <a:ln w="19050">
            <a:solidFill>
              <a:srgbClr val="B0B8CC"/>
            </a:solidFill>
            <a:prstDash val="dash"/>
          </a:ln>
        </p:spPr>
      </p:sp>
      <p:sp>
        <p:nvSpPr>
          <p:cNvPr id="5" name="Text 3"/>
          <p:cNvSpPr/>
          <p:nvPr/>
        </p:nvSpPr>
        <p:spPr>
          <a:xfrm>
            <a:off x="274320" y="749808"/>
            <a:ext cx="4754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11480" y="1024128"/>
            <a:ext cx="4480560" cy="28346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Political map of South America with bright colors for each country, dotted border lines visible, capital city dots — NO labels or title</a:t>
            </a:r>
            <a:endParaRPr lang="en-US" sz="1100" dirty="0"/>
          </a:p>
        </p:txBody>
      </p:sp>
      <p:sp>
        <p:nvSpPr>
          <p:cNvPr id="7" name="Shape 5"/>
          <p:cNvSpPr/>
          <p:nvPr/>
        </p:nvSpPr>
        <p:spPr>
          <a:xfrm>
            <a:off x="5212080" y="749808"/>
            <a:ext cx="3566160" cy="1463040"/>
          </a:xfrm>
          <a:prstGeom prst="roundRect">
            <a:avLst>
              <a:gd name="adj" fmla="val 7500"/>
            </a:avLst>
          </a:prstGeom>
          <a:solidFill>
            <a:srgbClr val="F0F2F8"/>
          </a:solidFill>
          <a:ln/>
        </p:spPr>
      </p:sp>
      <p:sp>
        <p:nvSpPr>
          <p:cNvPr id="8" name="Text 6"/>
          <p:cNvSpPr/>
          <p:nvPr/>
        </p:nvSpPr>
        <p:spPr>
          <a:xfrm>
            <a:off x="5394960" y="822960"/>
            <a:ext cx="3200400" cy="274320"/>
          </a:xfrm>
          <a:prstGeom prst="rect">
            <a:avLst/>
          </a:prstGeom>
          <a:noFill/>
          <a:ln/>
        </p:spPr>
        <p:txBody>
          <a:bodyPr wrap="square" lIns="0" tIns="0" rIns="0" bIns="0"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Clue Hunt: Look for...</a:t>
            </a:r>
            <a:endParaRPr lang="en-US" sz="1300" dirty="0"/>
          </a:p>
        </p:txBody>
      </p:sp>
      <p:sp>
        <p:nvSpPr>
          <p:cNvPr id="9" name="Text 7"/>
          <p:cNvSpPr/>
          <p:nvPr/>
        </p:nvSpPr>
        <p:spPr>
          <a:xfrm>
            <a:off x="5394960" y="1115568"/>
            <a:ext cx="3200400" cy="100584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Lines that divide areas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Different colors for different regions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Small dots scattered across the map</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Are there any rivers or mountains visible?</a:t>
            </a:r>
            <a:endParaRPr lang="en-US" sz="1200" dirty="0"/>
          </a:p>
        </p:txBody>
      </p:sp>
      <p:sp>
        <p:nvSpPr>
          <p:cNvPr id="10" name="Shape 8"/>
          <p:cNvSpPr/>
          <p:nvPr/>
        </p:nvSpPr>
        <p:spPr>
          <a:xfrm>
            <a:off x="5212080" y="2304288"/>
            <a:ext cx="3566160" cy="1325880"/>
          </a:xfrm>
          <a:prstGeom prst="roundRect">
            <a:avLst>
              <a:gd name="adj" fmla="val 8276"/>
            </a:avLst>
          </a:prstGeom>
          <a:solidFill>
            <a:srgbClr val="FFF3DC"/>
          </a:solidFill>
          <a:ln w="19050">
            <a:solidFill>
              <a:srgbClr val="F5E6C8"/>
            </a:solidFill>
            <a:prstDash val="solid"/>
          </a:ln>
        </p:spPr>
      </p:sp>
      <p:sp>
        <p:nvSpPr>
          <p:cNvPr id="11" name="Text 9"/>
          <p:cNvSpPr/>
          <p:nvPr/>
        </p:nvSpPr>
        <p:spPr>
          <a:xfrm>
            <a:off x="5349240" y="2359152"/>
            <a:ext cx="32918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349240" y="2560320"/>
            <a:ext cx="3291840" cy="10058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map is different from Map #1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map shows..."</a:t>
            </a:r>
            <a:endParaRPr lang="en-US" sz="1200" dirty="0"/>
          </a:p>
        </p:txBody>
      </p:sp>
      <p:sp>
        <p:nvSpPr>
          <p:cNvPr id="13" name="Shape 11"/>
          <p:cNvSpPr/>
          <p:nvPr/>
        </p:nvSpPr>
        <p:spPr>
          <a:xfrm>
            <a:off x="274320" y="4041648"/>
            <a:ext cx="8321040" cy="960120"/>
          </a:xfrm>
          <a:prstGeom prst="roundRect">
            <a:avLst>
              <a:gd name="adj" fmla="val 14286"/>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457200" y="4133088"/>
            <a:ext cx="79552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457200" y="4389120"/>
            <a:ext cx="7955280" cy="521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those lines on the map separate?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different areas need different colors?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you use this to find a river? Why or why not?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365760" y="182880"/>
            <a:ext cx="8412480" cy="292608"/>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DRAWER #2 UNLOCKED</a:t>
            </a:r>
            <a:endParaRPr lang="en-US" sz="900" dirty="0"/>
          </a:p>
        </p:txBody>
      </p:sp>
      <p:sp>
        <p:nvSpPr>
          <p:cNvPr id="5" name="Text 3"/>
          <p:cNvSpPr/>
          <p:nvPr/>
        </p:nvSpPr>
        <p:spPr>
          <a:xfrm>
            <a:off x="365760" y="475488"/>
            <a:ext cx="8412480" cy="822960"/>
          </a:xfrm>
          <a:prstGeom prst="rect">
            <a:avLst/>
          </a:prstGeom>
          <a:noFill/>
          <a:ln/>
        </p:spPr>
        <p:txBody>
          <a:bodyPr wrap="square" lIns="0" tIns="0" rIns="0" bIns="0" rtlCol="0" anchor="ctr"/>
          <a:lstStyle/>
          <a:p>
            <a:pPr algn="ctr" indent="0" marL="0">
              <a:buNone/>
            </a:pPr>
            <a:r>
              <a:rPr lang="en-US" sz="4800" b="1" dirty="0">
                <a:solidFill>
                  <a:srgbClr val="D4943A"/>
                </a:solidFill>
                <a:latin typeface="Cambria" pitchFamily="34" charset="0"/>
                <a:ea typeface="Cambria" pitchFamily="34" charset="-122"/>
                <a:cs typeface="Cambria" pitchFamily="34" charset="-120"/>
              </a:rPr>
              <a:t>Political Map</a:t>
            </a:r>
            <a:endParaRPr lang="en-US" sz="4800" dirty="0"/>
          </a:p>
        </p:txBody>
      </p:sp>
      <p:sp>
        <p:nvSpPr>
          <p:cNvPr id="6" name="Shape 4"/>
          <p:cNvSpPr/>
          <p:nvPr/>
        </p:nvSpPr>
        <p:spPr>
          <a:xfrm>
            <a:off x="365760" y="1371600"/>
            <a:ext cx="3840480" cy="2743200"/>
          </a:xfrm>
          <a:prstGeom prst="roundRect">
            <a:avLst>
              <a:gd name="adj" fmla="val 4000"/>
            </a:avLst>
          </a:prstGeom>
          <a:solidFill>
            <a:srgbClr val="E2E8F4"/>
          </a:solidFill>
          <a:ln w="19050">
            <a:solidFill>
              <a:srgbClr val="B0B8CC"/>
            </a:solidFill>
            <a:prstDash val="dash"/>
          </a:ln>
        </p:spPr>
      </p:sp>
      <p:sp>
        <p:nvSpPr>
          <p:cNvPr id="7" name="Text 5"/>
          <p:cNvSpPr/>
          <p:nvPr/>
        </p:nvSpPr>
        <p:spPr>
          <a:xfrm>
            <a:off x="365760" y="137160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645920"/>
            <a:ext cx="3566160" cy="2377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Political map of South America with country names labeled and capital city stars marked — colorful borders clearly shown</a:t>
            </a:r>
            <a:endParaRPr lang="en-US" sz="1100" dirty="0"/>
          </a:p>
        </p:txBody>
      </p:sp>
      <p:sp>
        <p:nvSpPr>
          <p:cNvPr id="9" name="Shape 7"/>
          <p:cNvSpPr/>
          <p:nvPr/>
        </p:nvSpPr>
        <p:spPr>
          <a:xfrm>
            <a:off x="4389120" y="1371600"/>
            <a:ext cx="4480560" cy="1463040"/>
          </a:xfrm>
          <a:prstGeom prst="roundRect">
            <a:avLst>
              <a:gd name="adj" fmla="val 7500"/>
            </a:avLst>
          </a:prstGeom>
          <a:solidFill>
            <a:srgbClr val="1A2D5A"/>
          </a:solidFill>
          <a:ln/>
        </p:spPr>
      </p:sp>
      <p:sp>
        <p:nvSpPr>
          <p:cNvPr id="10" name="Text 8"/>
          <p:cNvSpPr/>
          <p:nvPr/>
        </p:nvSpPr>
        <p:spPr>
          <a:xfrm>
            <a:off x="4572000" y="1463040"/>
            <a:ext cx="4114800" cy="256032"/>
          </a:xfrm>
          <a:prstGeom prst="rect">
            <a:avLst/>
          </a:prstGeom>
          <a:noFill/>
          <a:ln/>
        </p:spPr>
        <p:txBody>
          <a:bodyPr wrap="square" lIns="0" tIns="0" rIns="0" bIns="0" rtlCol="0" anchor="ctr"/>
          <a:lstStyle/>
          <a:p>
            <a:pPr indent="0" marL="0">
              <a:buNone/>
            </a:pPr>
            <a:r>
              <a:rPr lang="en-US" sz="1000" b="1" spc="100" kern="0" dirty="0">
                <a:solidFill>
                  <a:srgbClr val="55C8E8"/>
                </a:solidFill>
                <a:latin typeface="Calibri" pitchFamily="34" charset="0"/>
                <a:ea typeface="Calibri" pitchFamily="34" charset="-122"/>
                <a:cs typeface="Calibri" pitchFamily="34" charset="-120"/>
              </a:rPr>
              <a:t>What It Shows:</a:t>
            </a:r>
            <a:endParaRPr lang="en-US" sz="1000" dirty="0"/>
          </a:p>
        </p:txBody>
      </p:sp>
      <p:sp>
        <p:nvSpPr>
          <p:cNvPr id="11" name="Text 9"/>
          <p:cNvSpPr/>
          <p:nvPr/>
        </p:nvSpPr>
        <p:spPr>
          <a:xfrm>
            <a:off x="4572000" y="1737360"/>
            <a:ext cx="411480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Borders between countries, states, or cities. Bright colors help you tell one place from another.</a:t>
            </a:r>
            <a:endParaRPr lang="en-US" sz="1400" dirty="0"/>
          </a:p>
        </p:txBody>
      </p:sp>
      <p:sp>
        <p:nvSpPr>
          <p:cNvPr id="12" name="Text 10"/>
          <p:cNvSpPr/>
          <p:nvPr/>
        </p:nvSpPr>
        <p:spPr>
          <a:xfrm>
            <a:off x="4572000" y="2331720"/>
            <a:ext cx="4114800" cy="347472"/>
          </a:xfrm>
          <a:prstGeom prst="rect">
            <a:avLst/>
          </a:prstGeom>
          <a:noFill/>
          <a:ln/>
        </p:spPr>
        <p:txBody>
          <a:bodyPr wrap="square" lIns="0" tIns="0" rIns="0" bIns="0" rtlCol="0" anchor="ctr"/>
          <a:lstStyle/>
          <a:p>
            <a:pPr indent="0" marL="0">
              <a:buNone/>
            </a:pPr>
            <a:r>
              <a:rPr lang="en-US" sz="1200" i="1" dirty="0">
                <a:solidFill>
                  <a:srgbClr val="A0E8DA"/>
                </a:solidFill>
                <a:latin typeface="Calibri" pitchFamily="34" charset="0"/>
                <a:ea typeface="Calibri" pitchFamily="34" charset="-122"/>
                <a:cs typeface="Calibri" pitchFamily="34" charset="-120"/>
              </a:rPr>
              <a:t>Also shows: capital cities, country names, state lines</a:t>
            </a:r>
            <a:endParaRPr lang="en-US" sz="1200" dirty="0"/>
          </a:p>
        </p:txBody>
      </p:sp>
      <p:sp>
        <p:nvSpPr>
          <p:cNvPr id="13" name="Shape 11"/>
          <p:cNvSpPr/>
          <p:nvPr/>
        </p:nvSpPr>
        <p:spPr>
          <a:xfrm>
            <a:off x="4389120" y="2944368"/>
            <a:ext cx="4480560" cy="804672"/>
          </a:xfrm>
          <a:prstGeom prst="roundRect">
            <a:avLst>
              <a:gd name="adj" fmla="val 11364"/>
            </a:avLst>
          </a:prstGeom>
          <a:solidFill>
            <a:srgbClr val="1A8A7D"/>
          </a:solidFill>
          <a:ln/>
        </p:spPr>
      </p:sp>
      <p:sp>
        <p:nvSpPr>
          <p:cNvPr id="14" name="Text 12"/>
          <p:cNvSpPr/>
          <p:nvPr/>
        </p:nvSpPr>
        <p:spPr>
          <a:xfrm>
            <a:off x="4572000" y="3017520"/>
            <a:ext cx="4114800" cy="228600"/>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Use it when:</a:t>
            </a:r>
            <a:endParaRPr lang="en-US" sz="1000" dirty="0"/>
          </a:p>
        </p:txBody>
      </p:sp>
      <p:sp>
        <p:nvSpPr>
          <p:cNvPr id="15" name="Text 13"/>
          <p:cNvSpPr/>
          <p:nvPr/>
        </p:nvSpPr>
        <p:spPr>
          <a:xfrm>
            <a:off x="4572000" y="3264408"/>
            <a:ext cx="4114800" cy="384048"/>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A visitor asks "Which country is next to Brazil?" or "Where does France end?"</a:t>
            </a:r>
            <a:endParaRPr lang="en-US" sz="1250" dirty="0"/>
          </a:p>
        </p:txBody>
      </p:sp>
      <p:sp>
        <p:nvSpPr>
          <p:cNvPr id="16" name="Shape 14"/>
          <p:cNvSpPr/>
          <p:nvPr/>
        </p:nvSpPr>
        <p:spPr>
          <a:xfrm>
            <a:off x="365760" y="4206240"/>
            <a:ext cx="8412480" cy="731520"/>
          </a:xfrm>
          <a:prstGeom prst="roundRect">
            <a:avLst>
              <a:gd name="adj" fmla="val 12500"/>
            </a:avLst>
          </a:prstGeom>
          <a:solidFill>
            <a:srgbClr val="D4943A"/>
          </a:solidFill>
          <a:ln/>
        </p:spPr>
      </p:sp>
      <p:sp>
        <p:nvSpPr>
          <p:cNvPr id="17" name="Text 15"/>
          <p:cNvSpPr/>
          <p:nvPr/>
        </p:nvSpPr>
        <p:spPr>
          <a:xfrm>
            <a:off x="548640" y="4206240"/>
            <a:ext cx="8046720" cy="731520"/>
          </a:xfrm>
          <a:prstGeom prst="rect">
            <a:avLst/>
          </a:prstGeom>
          <a:noFill/>
          <a:ln/>
        </p:spPr>
        <p:txBody>
          <a:bodyPr wrap="square" lIns="0" tIns="0" rIns="0" bIns="0" rtlCol="0" anchor="ctr"/>
          <a:lstStyle/>
          <a:p>
            <a:pPr algn="ctr" indent="0" marL="0">
              <a:buNone/>
            </a:pPr>
            <a:r>
              <a:rPr lang="en-US" sz="1250" b="1" dirty="0">
                <a:solidFill>
                  <a:srgbClr val="0E1C42"/>
                </a:solidFill>
                <a:latin typeface="Calibri" pitchFamily="34" charset="0"/>
                <a:ea typeface="Calibri" pitchFamily="34" charset="-122"/>
                <a:cs typeface="Calibri" pitchFamily="34" charset="-120"/>
              </a:rPr>
              <a:t>Curator's Notebook: Write — "Political Map = borders, countries, capitals. Bright colors = different places."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502920"/>
          </a:xfrm>
          <a:prstGeom prst="roundRect">
            <a:avLst>
              <a:gd name="adj" fmla="val 14545"/>
            </a:avLst>
          </a:prstGeom>
          <a:solidFill>
            <a:srgbClr val="0E1C42"/>
          </a:solidFill>
          <a:ln/>
        </p:spPr>
      </p:sp>
      <p:sp>
        <p:nvSpPr>
          <p:cNvPr id="3" name="Text 1"/>
          <p:cNvSpPr/>
          <p:nvPr/>
        </p:nvSpPr>
        <p:spPr>
          <a:xfrm>
            <a:off x="274320" y="137160"/>
            <a:ext cx="8595360" cy="50292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DRAWER #3 — MYSTERY MAP</a:t>
            </a:r>
            <a:endParaRPr lang="en-US" sz="1100" dirty="0"/>
          </a:p>
        </p:txBody>
      </p:sp>
      <p:sp>
        <p:nvSpPr>
          <p:cNvPr id="4" name="Shape 2"/>
          <p:cNvSpPr/>
          <p:nvPr/>
        </p:nvSpPr>
        <p:spPr>
          <a:xfrm>
            <a:off x="274320" y="749808"/>
            <a:ext cx="4754880" cy="3200400"/>
          </a:xfrm>
          <a:prstGeom prst="roundRect">
            <a:avLst>
              <a:gd name="adj" fmla="val 3429"/>
            </a:avLst>
          </a:prstGeom>
          <a:solidFill>
            <a:srgbClr val="E2E8F4"/>
          </a:solidFill>
          <a:ln w="19050">
            <a:solidFill>
              <a:srgbClr val="B0B8CC"/>
            </a:solidFill>
            <a:prstDash val="dash"/>
          </a:ln>
        </p:spPr>
      </p:sp>
      <p:sp>
        <p:nvSpPr>
          <p:cNvPr id="5" name="Text 3"/>
          <p:cNvSpPr/>
          <p:nvPr/>
        </p:nvSpPr>
        <p:spPr>
          <a:xfrm>
            <a:off x="274320" y="749808"/>
            <a:ext cx="4754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11480" y="1024128"/>
            <a:ext cx="4480560" cy="28346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Elevation or topographic map showing color bands — dark green at sea level, yellow-green mid-elevation, orange-brown higher, white at mountain peaks — NO title</a:t>
            </a:r>
            <a:endParaRPr lang="en-US" sz="1100" dirty="0"/>
          </a:p>
        </p:txBody>
      </p:sp>
      <p:sp>
        <p:nvSpPr>
          <p:cNvPr id="7" name="Shape 5"/>
          <p:cNvSpPr/>
          <p:nvPr/>
        </p:nvSpPr>
        <p:spPr>
          <a:xfrm>
            <a:off x="5212080" y="749808"/>
            <a:ext cx="3566160" cy="1554480"/>
          </a:xfrm>
          <a:prstGeom prst="roundRect">
            <a:avLst>
              <a:gd name="adj" fmla="val 7059"/>
            </a:avLst>
          </a:prstGeom>
          <a:solidFill>
            <a:srgbClr val="F0F2F8"/>
          </a:solidFill>
          <a:ln/>
        </p:spPr>
      </p:sp>
      <p:sp>
        <p:nvSpPr>
          <p:cNvPr id="8" name="Text 6"/>
          <p:cNvSpPr/>
          <p:nvPr/>
        </p:nvSpPr>
        <p:spPr>
          <a:xfrm>
            <a:off x="5394960" y="822960"/>
            <a:ext cx="3200400" cy="274320"/>
          </a:xfrm>
          <a:prstGeom prst="rect">
            <a:avLst/>
          </a:prstGeom>
          <a:noFill/>
          <a:ln/>
        </p:spPr>
        <p:txBody>
          <a:bodyPr wrap="square" lIns="0" tIns="0" rIns="0" bIns="0"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The Clue:</a:t>
            </a:r>
            <a:endParaRPr lang="en-US" sz="1300" dirty="0"/>
          </a:p>
        </p:txBody>
      </p:sp>
      <p:sp>
        <p:nvSpPr>
          <p:cNvPr id="9" name="Text 7"/>
          <p:cNvSpPr/>
          <p:nvPr/>
        </p:nvSpPr>
        <p:spPr>
          <a:xfrm>
            <a:off x="5394960" y="1115568"/>
            <a:ext cx="3200400" cy="109728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This map has layers of color — like rings. Dark green at the edges. Then yellow-green. Then orange-brown. Then white at the top.</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does this layered pattern suggest?</a:t>
            </a:r>
            <a:endParaRPr lang="en-US" sz="1200" dirty="0"/>
          </a:p>
        </p:txBody>
      </p:sp>
      <p:sp>
        <p:nvSpPr>
          <p:cNvPr id="10" name="Shape 8"/>
          <p:cNvSpPr/>
          <p:nvPr/>
        </p:nvSpPr>
        <p:spPr>
          <a:xfrm>
            <a:off x="5212080" y="2395728"/>
            <a:ext cx="3566160" cy="1234440"/>
          </a:xfrm>
          <a:prstGeom prst="roundRect">
            <a:avLst>
              <a:gd name="adj" fmla="val 8889"/>
            </a:avLst>
          </a:prstGeom>
          <a:solidFill>
            <a:srgbClr val="FFF3DC"/>
          </a:solidFill>
          <a:ln w="19050">
            <a:solidFill>
              <a:srgbClr val="F5E6C8"/>
            </a:solidFill>
            <a:prstDash val="solid"/>
          </a:ln>
        </p:spPr>
      </p:sp>
      <p:sp>
        <p:nvSpPr>
          <p:cNvPr id="11" name="Text 9"/>
          <p:cNvSpPr/>
          <p:nvPr/>
        </p:nvSpPr>
        <p:spPr>
          <a:xfrm>
            <a:off x="5349240" y="2450592"/>
            <a:ext cx="32918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349240" y="2651760"/>
            <a:ext cx="3291840" cy="914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layers show..."</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is similar to Map #1 / different because..."</a:t>
            </a:r>
            <a:endParaRPr lang="en-US" sz="1200" dirty="0"/>
          </a:p>
        </p:txBody>
      </p:sp>
      <p:sp>
        <p:nvSpPr>
          <p:cNvPr id="13" name="Shape 11"/>
          <p:cNvSpPr/>
          <p:nvPr/>
        </p:nvSpPr>
        <p:spPr>
          <a:xfrm>
            <a:off x="274320" y="4041648"/>
            <a:ext cx="8321040" cy="960120"/>
          </a:xfrm>
          <a:prstGeom prst="roundRect">
            <a:avLst>
              <a:gd name="adj" fmla="val 14286"/>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457200" y="4133088"/>
            <a:ext cx="79552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457200" y="4389120"/>
            <a:ext cx="7955280" cy="521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this look similar to a physical map? How is it different?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think white at the very top might mean?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you use this to find a river? A border? Why not?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365760" y="182880"/>
            <a:ext cx="8412480" cy="292608"/>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DRAWER #3 UNLOCKED</a:t>
            </a:r>
            <a:endParaRPr lang="en-US" sz="900" dirty="0"/>
          </a:p>
        </p:txBody>
      </p:sp>
      <p:sp>
        <p:nvSpPr>
          <p:cNvPr id="5" name="Text 3"/>
          <p:cNvSpPr/>
          <p:nvPr/>
        </p:nvSpPr>
        <p:spPr>
          <a:xfrm>
            <a:off x="365760" y="475488"/>
            <a:ext cx="8412480" cy="822960"/>
          </a:xfrm>
          <a:prstGeom prst="rect">
            <a:avLst/>
          </a:prstGeom>
          <a:noFill/>
          <a:ln/>
        </p:spPr>
        <p:txBody>
          <a:bodyPr wrap="square" lIns="0" tIns="0" rIns="0" bIns="0" rtlCol="0" anchor="ctr"/>
          <a:lstStyle/>
          <a:p>
            <a:pPr algn="ctr" indent="0" marL="0">
              <a:buNone/>
            </a:pPr>
            <a:r>
              <a:rPr lang="en-US" sz="4800" b="1" dirty="0">
                <a:solidFill>
                  <a:srgbClr val="D4943A"/>
                </a:solidFill>
                <a:latin typeface="Cambria" pitchFamily="34" charset="0"/>
                <a:ea typeface="Cambria" pitchFamily="34" charset="-122"/>
                <a:cs typeface="Cambria" pitchFamily="34" charset="-120"/>
              </a:rPr>
              <a:t>Elevation Map</a:t>
            </a:r>
            <a:endParaRPr lang="en-US" sz="4800" dirty="0"/>
          </a:p>
        </p:txBody>
      </p:sp>
      <p:sp>
        <p:nvSpPr>
          <p:cNvPr id="6" name="Shape 4"/>
          <p:cNvSpPr/>
          <p:nvPr/>
        </p:nvSpPr>
        <p:spPr>
          <a:xfrm>
            <a:off x="365760" y="1371600"/>
            <a:ext cx="3840480" cy="2743200"/>
          </a:xfrm>
          <a:prstGeom prst="roundRect">
            <a:avLst>
              <a:gd name="adj" fmla="val 4000"/>
            </a:avLst>
          </a:prstGeom>
          <a:solidFill>
            <a:srgbClr val="E2E8F4"/>
          </a:solidFill>
          <a:ln w="19050">
            <a:solidFill>
              <a:srgbClr val="B0B8CC"/>
            </a:solidFill>
            <a:prstDash val="dash"/>
          </a:ln>
        </p:spPr>
      </p:sp>
      <p:sp>
        <p:nvSpPr>
          <p:cNvPr id="7" name="Text 5"/>
          <p:cNvSpPr/>
          <p:nvPr/>
        </p:nvSpPr>
        <p:spPr>
          <a:xfrm>
            <a:off x="365760" y="137160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645920"/>
            <a:ext cx="3566160" cy="2377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Same elevation map now with labeled color key: dark green=sea level 0ft, light green=1000ft, yellow=3000ft, brown=7000ft, white=14000+ft</a:t>
            </a:r>
            <a:endParaRPr lang="en-US" sz="1100" dirty="0"/>
          </a:p>
        </p:txBody>
      </p:sp>
      <p:sp>
        <p:nvSpPr>
          <p:cNvPr id="9" name="Shape 7"/>
          <p:cNvSpPr/>
          <p:nvPr/>
        </p:nvSpPr>
        <p:spPr>
          <a:xfrm>
            <a:off x="4389120" y="1371600"/>
            <a:ext cx="4480560" cy="1554480"/>
          </a:xfrm>
          <a:prstGeom prst="roundRect">
            <a:avLst>
              <a:gd name="adj" fmla="val 7059"/>
            </a:avLst>
          </a:prstGeom>
          <a:solidFill>
            <a:srgbClr val="1A2D5A"/>
          </a:solidFill>
          <a:ln/>
        </p:spPr>
      </p:sp>
      <p:sp>
        <p:nvSpPr>
          <p:cNvPr id="10" name="Text 8"/>
          <p:cNvSpPr/>
          <p:nvPr/>
        </p:nvSpPr>
        <p:spPr>
          <a:xfrm>
            <a:off x="4572000" y="1463040"/>
            <a:ext cx="4114800" cy="256032"/>
          </a:xfrm>
          <a:prstGeom prst="rect">
            <a:avLst/>
          </a:prstGeom>
          <a:noFill/>
          <a:ln/>
        </p:spPr>
        <p:txBody>
          <a:bodyPr wrap="square" lIns="0" tIns="0" rIns="0" bIns="0" rtlCol="0" anchor="ctr"/>
          <a:lstStyle/>
          <a:p>
            <a:pPr indent="0" marL="0">
              <a:buNone/>
            </a:pPr>
            <a:r>
              <a:rPr lang="en-US" sz="1000" b="1" spc="100" kern="0" dirty="0">
                <a:solidFill>
                  <a:srgbClr val="55C8E8"/>
                </a:solidFill>
                <a:latin typeface="Calibri" pitchFamily="34" charset="0"/>
                <a:ea typeface="Calibri" pitchFamily="34" charset="-122"/>
                <a:cs typeface="Calibri" pitchFamily="34" charset="-120"/>
              </a:rPr>
              <a:t>What It Shows:</a:t>
            </a:r>
            <a:endParaRPr lang="en-US" sz="1000" dirty="0"/>
          </a:p>
        </p:txBody>
      </p:sp>
      <p:sp>
        <p:nvSpPr>
          <p:cNvPr id="11" name="Text 9"/>
          <p:cNvSpPr/>
          <p:nvPr/>
        </p:nvSpPr>
        <p:spPr>
          <a:xfrm>
            <a:off x="4572000" y="1737360"/>
            <a:ext cx="411480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How HIGH or LOW the land is above sea level — using layers of color. Green = sea level. White = mountain peaks.</a:t>
            </a:r>
            <a:endParaRPr lang="en-US" sz="1400" dirty="0"/>
          </a:p>
        </p:txBody>
      </p:sp>
      <p:sp>
        <p:nvSpPr>
          <p:cNvPr id="12" name="Text 10"/>
          <p:cNvSpPr/>
          <p:nvPr/>
        </p:nvSpPr>
        <p:spPr>
          <a:xfrm>
            <a:off x="4572000" y="2404872"/>
            <a:ext cx="4114800" cy="347472"/>
          </a:xfrm>
          <a:prstGeom prst="rect">
            <a:avLst/>
          </a:prstGeom>
          <a:noFill/>
          <a:ln/>
        </p:spPr>
        <p:txBody>
          <a:bodyPr wrap="square" lIns="0" tIns="0" rIns="0" bIns="0" rtlCol="0" anchor="ctr"/>
          <a:lstStyle/>
          <a:p>
            <a:pPr indent="0" marL="0">
              <a:buNone/>
            </a:pPr>
            <a:r>
              <a:rPr lang="en-US" sz="1200" i="1" dirty="0">
                <a:solidFill>
                  <a:srgbClr val="A0E8DA"/>
                </a:solidFill>
                <a:latin typeface="Calibri" pitchFamily="34" charset="0"/>
                <a:ea typeface="Calibri" pitchFamily="34" charset="-122"/>
                <a:cs typeface="Calibri" pitchFamily="34" charset="-120"/>
              </a:rPr>
              <a:t>"Elevation" = height above sea level</a:t>
            </a:r>
            <a:endParaRPr lang="en-US" sz="1200" dirty="0"/>
          </a:p>
        </p:txBody>
      </p:sp>
      <p:sp>
        <p:nvSpPr>
          <p:cNvPr id="13" name="Shape 11"/>
          <p:cNvSpPr/>
          <p:nvPr/>
        </p:nvSpPr>
        <p:spPr>
          <a:xfrm>
            <a:off x="4389120" y="3035808"/>
            <a:ext cx="4480560" cy="804672"/>
          </a:xfrm>
          <a:prstGeom prst="roundRect">
            <a:avLst>
              <a:gd name="adj" fmla="val 11364"/>
            </a:avLst>
          </a:prstGeom>
          <a:solidFill>
            <a:srgbClr val="1A8A7D"/>
          </a:solidFill>
          <a:ln/>
        </p:spPr>
      </p:sp>
      <p:sp>
        <p:nvSpPr>
          <p:cNvPr id="14" name="Text 12"/>
          <p:cNvSpPr/>
          <p:nvPr/>
        </p:nvSpPr>
        <p:spPr>
          <a:xfrm>
            <a:off x="4572000" y="3108960"/>
            <a:ext cx="4114800" cy="228600"/>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Use it when:</a:t>
            </a:r>
            <a:endParaRPr lang="en-US" sz="1000" dirty="0"/>
          </a:p>
        </p:txBody>
      </p:sp>
      <p:sp>
        <p:nvSpPr>
          <p:cNvPr id="15" name="Text 13"/>
          <p:cNvSpPr/>
          <p:nvPr/>
        </p:nvSpPr>
        <p:spPr>
          <a:xfrm>
            <a:off x="4572000" y="3355848"/>
            <a:ext cx="4114800" cy="384048"/>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A visitor asks "How tall is that mountain?" or "What's the highest point in Florida?"</a:t>
            </a:r>
            <a:endParaRPr lang="en-US" sz="1250" dirty="0"/>
          </a:p>
        </p:txBody>
      </p:sp>
      <p:sp>
        <p:nvSpPr>
          <p:cNvPr id="16" name="Shape 14"/>
          <p:cNvSpPr/>
          <p:nvPr/>
        </p:nvSpPr>
        <p:spPr>
          <a:xfrm>
            <a:off x="365760" y="4206240"/>
            <a:ext cx="8412480" cy="731520"/>
          </a:xfrm>
          <a:prstGeom prst="roundRect">
            <a:avLst>
              <a:gd name="adj" fmla="val 12500"/>
            </a:avLst>
          </a:prstGeom>
          <a:solidFill>
            <a:srgbClr val="D4943A"/>
          </a:solidFill>
          <a:ln/>
        </p:spPr>
      </p:sp>
      <p:sp>
        <p:nvSpPr>
          <p:cNvPr id="17" name="Text 15"/>
          <p:cNvSpPr/>
          <p:nvPr/>
        </p:nvSpPr>
        <p:spPr>
          <a:xfrm>
            <a:off x="548640" y="4206240"/>
            <a:ext cx="8046720" cy="731520"/>
          </a:xfrm>
          <a:prstGeom prst="rect">
            <a:avLst/>
          </a:prstGeom>
          <a:noFill/>
          <a:ln/>
        </p:spPr>
        <p:txBody>
          <a:bodyPr wrap="square" lIns="0" tIns="0" rIns="0" bIns="0" rtlCol="0" anchor="ctr"/>
          <a:lstStyle/>
          <a:p>
            <a:pPr algn="ctr" indent="0" marL="0">
              <a:buNone/>
            </a:pPr>
            <a:r>
              <a:rPr lang="en-US" sz="1250" b="1" dirty="0">
                <a:solidFill>
                  <a:srgbClr val="0E1C42"/>
                </a:solidFill>
                <a:latin typeface="Calibri" pitchFamily="34" charset="0"/>
                <a:ea typeface="Calibri" pitchFamily="34" charset="-122"/>
                <a:cs typeface="Calibri" pitchFamily="34" charset="-120"/>
              </a:rPr>
              <a:t>Curator's Notebook: Write — "Elevation Map = height above sea level. Green=low. White=highest peaks."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502920"/>
          </a:xfrm>
          <a:prstGeom prst="roundRect">
            <a:avLst>
              <a:gd name="adj" fmla="val 14545"/>
            </a:avLst>
          </a:prstGeom>
          <a:solidFill>
            <a:srgbClr val="0E1C42"/>
          </a:solidFill>
          <a:ln/>
        </p:spPr>
      </p:sp>
      <p:sp>
        <p:nvSpPr>
          <p:cNvPr id="3" name="Text 1"/>
          <p:cNvSpPr/>
          <p:nvPr/>
        </p:nvSpPr>
        <p:spPr>
          <a:xfrm>
            <a:off x="274320" y="137160"/>
            <a:ext cx="8595360" cy="50292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DRAWER #4 — MYSTERY MAP</a:t>
            </a:r>
            <a:endParaRPr lang="en-US" sz="1100" dirty="0"/>
          </a:p>
        </p:txBody>
      </p:sp>
      <p:sp>
        <p:nvSpPr>
          <p:cNvPr id="4" name="Shape 2"/>
          <p:cNvSpPr/>
          <p:nvPr/>
        </p:nvSpPr>
        <p:spPr>
          <a:xfrm>
            <a:off x="274320" y="749808"/>
            <a:ext cx="4754880" cy="3200400"/>
          </a:xfrm>
          <a:prstGeom prst="roundRect">
            <a:avLst>
              <a:gd name="adj" fmla="val 3429"/>
            </a:avLst>
          </a:prstGeom>
          <a:solidFill>
            <a:srgbClr val="E2E8F4"/>
          </a:solidFill>
          <a:ln w="19050">
            <a:solidFill>
              <a:srgbClr val="B0B8CC"/>
            </a:solidFill>
            <a:prstDash val="dash"/>
          </a:ln>
        </p:spPr>
      </p:sp>
      <p:sp>
        <p:nvSpPr>
          <p:cNvPr id="5" name="Text 3"/>
          <p:cNvSpPr/>
          <p:nvPr/>
        </p:nvSpPr>
        <p:spPr>
          <a:xfrm>
            <a:off x="274320" y="749808"/>
            <a:ext cx="4754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11480" y="1024128"/>
            <a:ext cx="4480560" cy="28346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Population map of the United States — dense dark shading over east coast and major cities, lighter shading in midwest, very light over mountain west — NO labels or title</a:t>
            </a:r>
            <a:endParaRPr lang="en-US" sz="1100" dirty="0"/>
          </a:p>
        </p:txBody>
      </p:sp>
      <p:sp>
        <p:nvSpPr>
          <p:cNvPr id="7" name="Shape 5"/>
          <p:cNvSpPr/>
          <p:nvPr/>
        </p:nvSpPr>
        <p:spPr>
          <a:xfrm>
            <a:off x="5212080" y="749808"/>
            <a:ext cx="3566160" cy="1508760"/>
          </a:xfrm>
          <a:prstGeom prst="roundRect">
            <a:avLst>
              <a:gd name="adj" fmla="val 7273"/>
            </a:avLst>
          </a:prstGeom>
          <a:solidFill>
            <a:srgbClr val="F0F2F8"/>
          </a:solidFill>
          <a:ln/>
        </p:spPr>
      </p:sp>
      <p:sp>
        <p:nvSpPr>
          <p:cNvPr id="8" name="Text 6"/>
          <p:cNvSpPr/>
          <p:nvPr/>
        </p:nvSpPr>
        <p:spPr>
          <a:xfrm>
            <a:off x="5394960" y="822960"/>
            <a:ext cx="3200400" cy="274320"/>
          </a:xfrm>
          <a:prstGeom prst="rect">
            <a:avLst/>
          </a:prstGeom>
          <a:noFill/>
          <a:ln/>
        </p:spPr>
        <p:txBody>
          <a:bodyPr wrap="square" lIns="0" tIns="0" rIns="0" bIns="0"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Notice the Pattern:</a:t>
            </a:r>
            <a:endParaRPr lang="en-US" sz="1300" dirty="0"/>
          </a:p>
        </p:txBody>
      </p:sp>
      <p:sp>
        <p:nvSpPr>
          <p:cNvPr id="9" name="Text 7"/>
          <p:cNvSpPr/>
          <p:nvPr/>
        </p:nvSpPr>
        <p:spPr>
          <a:xfrm>
            <a:off x="5394960" y="1115568"/>
            <a:ext cx="3200400" cy="10515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Some areas are very dark. Some are very light. There don't appear to be rivers, mountains, or borders.</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could the dark areas mean? What about the almost-white areas?</a:t>
            </a:r>
            <a:endParaRPr lang="en-US" sz="1200" dirty="0"/>
          </a:p>
        </p:txBody>
      </p:sp>
      <p:sp>
        <p:nvSpPr>
          <p:cNvPr id="10" name="Shape 8"/>
          <p:cNvSpPr/>
          <p:nvPr/>
        </p:nvSpPr>
        <p:spPr>
          <a:xfrm>
            <a:off x="5212080" y="2350008"/>
            <a:ext cx="3566160" cy="1280160"/>
          </a:xfrm>
          <a:prstGeom prst="roundRect">
            <a:avLst>
              <a:gd name="adj" fmla="val 8571"/>
            </a:avLst>
          </a:prstGeom>
          <a:solidFill>
            <a:srgbClr val="FFF3DC"/>
          </a:solidFill>
          <a:ln w="19050">
            <a:solidFill>
              <a:srgbClr val="F5E6C8"/>
            </a:solidFill>
            <a:prstDash val="solid"/>
          </a:ln>
        </p:spPr>
      </p:sp>
      <p:sp>
        <p:nvSpPr>
          <p:cNvPr id="11" name="Text 9"/>
          <p:cNvSpPr/>
          <p:nvPr/>
        </p:nvSpPr>
        <p:spPr>
          <a:xfrm>
            <a:off x="5349240" y="2404872"/>
            <a:ext cx="32918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349240" y="2606040"/>
            <a:ext cx="3291840" cy="9601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dark areas might show..."</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is completely different because..."</a:t>
            </a:r>
            <a:endParaRPr lang="en-US" sz="1200" dirty="0"/>
          </a:p>
        </p:txBody>
      </p:sp>
      <p:sp>
        <p:nvSpPr>
          <p:cNvPr id="13" name="Shape 11"/>
          <p:cNvSpPr/>
          <p:nvPr/>
        </p:nvSpPr>
        <p:spPr>
          <a:xfrm>
            <a:off x="274320" y="4041648"/>
            <a:ext cx="8321040" cy="960120"/>
          </a:xfrm>
          <a:prstGeom prst="roundRect">
            <a:avLst>
              <a:gd name="adj" fmla="val 14286"/>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457200" y="4133088"/>
            <a:ext cx="79552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457200" y="4389120"/>
            <a:ext cx="7955280" cy="521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in every dark area that might NOT be in the light areas?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the mountains and deserts be so light-colored?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type of map is this MOST different from?</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365760" y="182880"/>
            <a:ext cx="8412480" cy="292608"/>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DRAWER #4 UNLOCKED</a:t>
            </a:r>
            <a:endParaRPr lang="en-US" sz="900" dirty="0"/>
          </a:p>
        </p:txBody>
      </p:sp>
      <p:sp>
        <p:nvSpPr>
          <p:cNvPr id="5" name="Text 3"/>
          <p:cNvSpPr/>
          <p:nvPr/>
        </p:nvSpPr>
        <p:spPr>
          <a:xfrm>
            <a:off x="365760" y="475488"/>
            <a:ext cx="8412480" cy="822960"/>
          </a:xfrm>
          <a:prstGeom prst="rect">
            <a:avLst/>
          </a:prstGeom>
          <a:noFill/>
          <a:ln/>
        </p:spPr>
        <p:txBody>
          <a:bodyPr wrap="square" lIns="0" tIns="0" rIns="0" bIns="0" rtlCol="0" anchor="ctr"/>
          <a:lstStyle/>
          <a:p>
            <a:pPr algn="ctr" indent="0" marL="0">
              <a:buNone/>
            </a:pPr>
            <a:r>
              <a:rPr lang="en-US" sz="4800" b="1" dirty="0">
                <a:solidFill>
                  <a:srgbClr val="D4943A"/>
                </a:solidFill>
                <a:latin typeface="Cambria" pitchFamily="34" charset="0"/>
                <a:ea typeface="Cambria" pitchFamily="34" charset="-122"/>
                <a:cs typeface="Cambria" pitchFamily="34" charset="-120"/>
              </a:rPr>
              <a:t>Population Map</a:t>
            </a:r>
            <a:endParaRPr lang="en-US" sz="4800" dirty="0"/>
          </a:p>
        </p:txBody>
      </p:sp>
      <p:sp>
        <p:nvSpPr>
          <p:cNvPr id="6" name="Shape 4"/>
          <p:cNvSpPr/>
          <p:nvPr/>
        </p:nvSpPr>
        <p:spPr>
          <a:xfrm>
            <a:off x="365760" y="1371600"/>
            <a:ext cx="3840480" cy="2743200"/>
          </a:xfrm>
          <a:prstGeom prst="roundRect">
            <a:avLst>
              <a:gd name="adj" fmla="val 4000"/>
            </a:avLst>
          </a:prstGeom>
          <a:solidFill>
            <a:srgbClr val="E2E8F4"/>
          </a:solidFill>
          <a:ln w="19050">
            <a:solidFill>
              <a:srgbClr val="B0B8CC"/>
            </a:solidFill>
            <a:prstDash val="dash"/>
          </a:ln>
        </p:spPr>
      </p:sp>
      <p:sp>
        <p:nvSpPr>
          <p:cNvPr id="7" name="Text 5"/>
          <p:cNvSpPr/>
          <p:nvPr/>
        </p:nvSpPr>
        <p:spPr>
          <a:xfrm>
            <a:off x="365760" y="137160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645920"/>
            <a:ext cx="3566160" cy="2377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Same US population map now with legend: dark purple=very high population density, medium blue=moderate, light=sparse — major cities labeled</a:t>
            </a:r>
            <a:endParaRPr lang="en-US" sz="1100" dirty="0"/>
          </a:p>
        </p:txBody>
      </p:sp>
      <p:sp>
        <p:nvSpPr>
          <p:cNvPr id="9" name="Shape 7"/>
          <p:cNvSpPr/>
          <p:nvPr/>
        </p:nvSpPr>
        <p:spPr>
          <a:xfrm>
            <a:off x="4389120" y="1371600"/>
            <a:ext cx="4480560" cy="1508760"/>
          </a:xfrm>
          <a:prstGeom prst="roundRect">
            <a:avLst>
              <a:gd name="adj" fmla="val 7273"/>
            </a:avLst>
          </a:prstGeom>
          <a:solidFill>
            <a:srgbClr val="1A2D5A"/>
          </a:solidFill>
          <a:ln/>
        </p:spPr>
      </p:sp>
      <p:sp>
        <p:nvSpPr>
          <p:cNvPr id="10" name="Text 8"/>
          <p:cNvSpPr/>
          <p:nvPr/>
        </p:nvSpPr>
        <p:spPr>
          <a:xfrm>
            <a:off x="4572000" y="1463040"/>
            <a:ext cx="4114800" cy="256032"/>
          </a:xfrm>
          <a:prstGeom prst="rect">
            <a:avLst/>
          </a:prstGeom>
          <a:noFill/>
          <a:ln/>
        </p:spPr>
        <p:txBody>
          <a:bodyPr wrap="square" lIns="0" tIns="0" rIns="0" bIns="0" rtlCol="0" anchor="ctr"/>
          <a:lstStyle/>
          <a:p>
            <a:pPr indent="0" marL="0">
              <a:buNone/>
            </a:pPr>
            <a:r>
              <a:rPr lang="en-US" sz="1000" b="1" spc="100" kern="0" dirty="0">
                <a:solidFill>
                  <a:srgbClr val="55C8E8"/>
                </a:solidFill>
                <a:latin typeface="Calibri" pitchFamily="34" charset="0"/>
                <a:ea typeface="Calibri" pitchFamily="34" charset="-122"/>
                <a:cs typeface="Calibri" pitchFamily="34" charset="-120"/>
              </a:rPr>
              <a:t>What It Shows:</a:t>
            </a:r>
            <a:endParaRPr lang="en-US" sz="1000" dirty="0"/>
          </a:p>
        </p:txBody>
      </p:sp>
      <p:sp>
        <p:nvSpPr>
          <p:cNvPr id="11" name="Text 9"/>
          <p:cNvSpPr/>
          <p:nvPr/>
        </p:nvSpPr>
        <p:spPr>
          <a:xfrm>
            <a:off x="4572000" y="1737360"/>
            <a:ext cx="4114800" cy="5943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Where people live — how many and where. Darker colors = more people. Lighter areas = fewer people.</a:t>
            </a:r>
            <a:endParaRPr lang="en-US" sz="1400" dirty="0"/>
          </a:p>
        </p:txBody>
      </p:sp>
      <p:sp>
        <p:nvSpPr>
          <p:cNvPr id="12" name="Text 10"/>
          <p:cNvSpPr/>
          <p:nvPr/>
        </p:nvSpPr>
        <p:spPr>
          <a:xfrm>
            <a:off x="4572000" y="2359152"/>
            <a:ext cx="4114800" cy="347472"/>
          </a:xfrm>
          <a:prstGeom prst="rect">
            <a:avLst/>
          </a:prstGeom>
          <a:noFill/>
          <a:ln/>
        </p:spPr>
        <p:txBody>
          <a:bodyPr wrap="square" lIns="0" tIns="0" rIns="0" bIns="0" rtlCol="0" anchor="ctr"/>
          <a:lstStyle/>
          <a:p>
            <a:pPr indent="0" marL="0">
              <a:buNone/>
            </a:pPr>
            <a:r>
              <a:rPr lang="en-US" sz="1200" i="1" dirty="0">
                <a:solidFill>
                  <a:srgbClr val="A0E8DA"/>
                </a:solidFill>
                <a:latin typeface="Calibri" pitchFamily="34" charset="0"/>
                <a:ea typeface="Calibri" pitchFamily="34" charset="-122"/>
                <a:cs typeface="Calibri" pitchFamily="34" charset="-120"/>
              </a:rPr>
              <a:t>Can use dots OR shading to show population density</a:t>
            </a:r>
            <a:endParaRPr lang="en-US" sz="1200" dirty="0"/>
          </a:p>
        </p:txBody>
      </p:sp>
      <p:sp>
        <p:nvSpPr>
          <p:cNvPr id="13" name="Shape 11"/>
          <p:cNvSpPr/>
          <p:nvPr/>
        </p:nvSpPr>
        <p:spPr>
          <a:xfrm>
            <a:off x="4389120" y="2990088"/>
            <a:ext cx="4480560" cy="804672"/>
          </a:xfrm>
          <a:prstGeom prst="roundRect">
            <a:avLst>
              <a:gd name="adj" fmla="val 11364"/>
            </a:avLst>
          </a:prstGeom>
          <a:solidFill>
            <a:srgbClr val="1A8A7D"/>
          </a:solidFill>
          <a:ln/>
        </p:spPr>
      </p:sp>
      <p:sp>
        <p:nvSpPr>
          <p:cNvPr id="14" name="Text 12"/>
          <p:cNvSpPr/>
          <p:nvPr/>
        </p:nvSpPr>
        <p:spPr>
          <a:xfrm>
            <a:off x="4572000" y="3063240"/>
            <a:ext cx="4114800" cy="228600"/>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Use it when:</a:t>
            </a:r>
            <a:endParaRPr lang="en-US" sz="1000" dirty="0"/>
          </a:p>
        </p:txBody>
      </p:sp>
      <p:sp>
        <p:nvSpPr>
          <p:cNvPr id="15" name="Text 13"/>
          <p:cNvSpPr/>
          <p:nvPr/>
        </p:nvSpPr>
        <p:spPr>
          <a:xfrm>
            <a:off x="4572000" y="3310128"/>
            <a:ext cx="4114800" cy="384048"/>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A visitor asks "Where do most people live?" or "Which areas are mostly empty?"</a:t>
            </a:r>
            <a:endParaRPr lang="en-US" sz="1250" dirty="0"/>
          </a:p>
        </p:txBody>
      </p:sp>
      <p:sp>
        <p:nvSpPr>
          <p:cNvPr id="16" name="Shape 14"/>
          <p:cNvSpPr/>
          <p:nvPr/>
        </p:nvSpPr>
        <p:spPr>
          <a:xfrm>
            <a:off x="365760" y="4206240"/>
            <a:ext cx="8412480" cy="731520"/>
          </a:xfrm>
          <a:prstGeom prst="roundRect">
            <a:avLst>
              <a:gd name="adj" fmla="val 12500"/>
            </a:avLst>
          </a:prstGeom>
          <a:solidFill>
            <a:srgbClr val="D4943A"/>
          </a:solidFill>
          <a:ln/>
        </p:spPr>
      </p:sp>
      <p:sp>
        <p:nvSpPr>
          <p:cNvPr id="17" name="Text 15"/>
          <p:cNvSpPr/>
          <p:nvPr/>
        </p:nvSpPr>
        <p:spPr>
          <a:xfrm>
            <a:off x="548640" y="4206240"/>
            <a:ext cx="8046720" cy="731520"/>
          </a:xfrm>
          <a:prstGeom prst="rect">
            <a:avLst/>
          </a:prstGeom>
          <a:noFill/>
          <a:ln/>
        </p:spPr>
        <p:txBody>
          <a:bodyPr wrap="square" lIns="0" tIns="0" rIns="0" bIns="0" rtlCol="0" anchor="ctr"/>
          <a:lstStyle/>
          <a:p>
            <a:pPr algn="ctr" indent="0" marL="0">
              <a:buNone/>
            </a:pPr>
            <a:r>
              <a:rPr lang="en-US" sz="1250" b="1" dirty="0">
                <a:solidFill>
                  <a:srgbClr val="0E1C42"/>
                </a:solidFill>
                <a:latin typeface="Calibri" pitchFamily="34" charset="0"/>
                <a:ea typeface="Calibri" pitchFamily="34" charset="-122"/>
                <a:cs typeface="Calibri" pitchFamily="34" charset="-120"/>
              </a:rPr>
              <a:t>Curator's Notebook: Write — "Population Map = where people live. Darker = more people. Lighter = fewer people."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365760" y="137160"/>
            <a:ext cx="8412480" cy="365760"/>
          </a:xfrm>
          <a:prstGeom prst="rect">
            <a:avLst/>
          </a:prstGeom>
          <a:noFill/>
          <a:ln/>
        </p:spPr>
        <p:txBody>
          <a:bodyPr wrap="square" lIns="0" tIns="0" rIns="0" bIns="0" rtlCol="0" anchor="ctr"/>
          <a:lstStyle/>
          <a:p>
            <a:pPr algn="ctr" indent="0" marL="0">
              <a:buNone/>
            </a:pPr>
            <a:r>
              <a:rPr lang="en-US" sz="1100" b="1" spc="200" kern="0" dirty="0">
                <a:solidFill>
                  <a:srgbClr val="55C8E8"/>
                </a:solidFill>
                <a:latin typeface="Calibri" pitchFamily="34" charset="0"/>
                <a:ea typeface="Calibri" pitchFamily="34" charset="-122"/>
                <a:cs typeface="Calibri" pitchFamily="34" charset="-120"/>
              </a:rPr>
              <a:t>THE DRAWERS ARE SORTED!</a:t>
            </a:r>
            <a:endParaRPr lang="en-US" sz="1100" dirty="0"/>
          </a:p>
        </p:txBody>
      </p:sp>
      <p:sp>
        <p:nvSpPr>
          <p:cNvPr id="5" name="Text 3"/>
          <p:cNvSpPr/>
          <p:nvPr/>
        </p:nvSpPr>
        <p:spPr>
          <a:xfrm>
            <a:off x="365760" y="502920"/>
            <a:ext cx="8412480" cy="640080"/>
          </a:xfrm>
          <a:prstGeom prst="rect">
            <a:avLst/>
          </a:prstGeom>
          <a:noFill/>
          <a:ln/>
        </p:spPr>
        <p:txBody>
          <a:bodyPr wrap="square" lIns="0" tIns="0" rIns="0" bIns="0" rtlCol="0" anchor="ctr"/>
          <a:lstStyle/>
          <a:p>
            <a:pPr algn="ctr" indent="0" marL="0">
              <a:buNone/>
            </a:pPr>
            <a:r>
              <a:rPr lang="en-US" sz="3800" b="1" dirty="0">
                <a:solidFill>
                  <a:srgbClr val="D4943A"/>
                </a:solidFill>
                <a:latin typeface="Cambria" pitchFamily="34" charset="0"/>
                <a:ea typeface="Cambria" pitchFamily="34" charset="-122"/>
                <a:cs typeface="Cambria" pitchFamily="34" charset="-120"/>
              </a:rPr>
              <a:t>All Four Map Types</a:t>
            </a:r>
            <a:endParaRPr lang="en-US" sz="3800" dirty="0"/>
          </a:p>
        </p:txBody>
      </p:sp>
      <p:sp>
        <p:nvSpPr>
          <p:cNvPr id="6" name="Shape 4"/>
          <p:cNvSpPr/>
          <p:nvPr/>
        </p:nvSpPr>
        <p:spPr>
          <a:xfrm>
            <a:off x="274320" y="1261872"/>
            <a:ext cx="1993392" cy="2194560"/>
          </a:xfrm>
          <a:prstGeom prst="roundRect">
            <a:avLst>
              <a:gd name="adj" fmla="val 5505"/>
            </a:avLst>
          </a:prstGeom>
          <a:solidFill>
            <a:srgbClr val="1A8A7D"/>
          </a:solidFill>
          <a:ln/>
          <a:effectLst>
            <a:outerShdw sx="100000" sy="100000" kx="0" ky="0" algn="bl" rotWithShape="0" blurRad="63500" dist="25400" dir="8100000">
              <a:srgbClr val="000000">
                <a:alpha val="15000"/>
              </a:srgbClr>
            </a:outerShdw>
          </a:effectLst>
        </p:spPr>
      </p:sp>
      <p:sp>
        <p:nvSpPr>
          <p:cNvPr id="7" name="Text 5"/>
          <p:cNvSpPr/>
          <p:nvPr/>
        </p:nvSpPr>
        <p:spPr>
          <a:xfrm>
            <a:off x="274320" y="1353312"/>
            <a:ext cx="1993392"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Physical</a:t>
            </a:r>
            <a:endParaRPr lang="en-US" sz="1400" dirty="0"/>
          </a:p>
        </p:txBody>
      </p:sp>
      <p:sp>
        <p:nvSpPr>
          <p:cNvPr id="8" name="Text 6"/>
          <p:cNvSpPr/>
          <p:nvPr/>
        </p:nvSpPr>
        <p:spPr>
          <a:xfrm>
            <a:off x="365760" y="1645920"/>
            <a:ext cx="1810512" cy="1719072"/>
          </a:xfrm>
          <a:prstGeom prst="rect">
            <a:avLst/>
          </a:prstGeom>
          <a:noFill/>
          <a:ln/>
        </p:spPr>
        <p:txBody>
          <a:bodyPr wrap="square" lIns="0" tIns="0" rIns="0" bIns="0" rtlCol="0" anchor="t"/>
          <a:lstStyle/>
          <a:p>
            <a:pPr algn="ctr" indent="0" marL="0">
              <a:buNone/>
            </a:pPr>
            <a:r>
              <a:rPr lang="en-US" sz="1000" dirty="0">
                <a:solidFill>
                  <a:srgbClr val="D6F2FB"/>
                </a:solidFill>
                <a:latin typeface="Calibri" pitchFamily="34" charset="0"/>
                <a:ea typeface="Calibri" pitchFamily="34" charset="-122"/>
                <a:cs typeface="Calibri" pitchFamily="34" charset="-120"/>
              </a:rPr>
              <a:t>Natural land features</a:t>
            </a:r>
            <a:endParaRPr lang="en-US" sz="1000" dirty="0"/>
          </a:p>
          <a:p>
            <a:pPr algn="ctr" indent="0" marL="0">
              <a:buNone/>
            </a:pPr>
            <a:r>
              <a:rPr lang="en-US" sz="1000" dirty="0">
                <a:solidFill>
                  <a:srgbClr val="D6F2FB"/>
                </a:solidFill>
                <a:latin typeface="Calibri" pitchFamily="34" charset="0"/>
                <a:ea typeface="Calibri" pitchFamily="34" charset="-122"/>
                <a:cs typeface="Calibri" pitchFamily="34" charset="-120"/>
              </a:rPr>
              <a:t>Mountains, rivers, lakes</a:t>
            </a:r>
            <a:endParaRPr lang="en-US" sz="1000" dirty="0"/>
          </a:p>
        </p:txBody>
      </p:sp>
      <p:sp>
        <p:nvSpPr>
          <p:cNvPr id="9" name="Shape 7"/>
          <p:cNvSpPr/>
          <p:nvPr/>
        </p:nvSpPr>
        <p:spPr>
          <a:xfrm>
            <a:off x="2450592" y="1261872"/>
            <a:ext cx="1993392" cy="2194560"/>
          </a:xfrm>
          <a:prstGeom prst="roundRect">
            <a:avLst>
              <a:gd name="adj" fmla="val 5505"/>
            </a:avLst>
          </a:prstGeom>
          <a:solidFill>
            <a:srgbClr val="3A5080"/>
          </a:solidFill>
          <a:ln/>
          <a:effectLst>
            <a:outerShdw sx="100000" sy="100000" kx="0" ky="0" algn="bl" rotWithShape="0" blurRad="63500" dist="25400" dir="8100000">
              <a:srgbClr val="000000">
                <a:alpha val="15000"/>
              </a:srgbClr>
            </a:outerShdw>
          </a:effectLst>
        </p:spPr>
      </p:sp>
      <p:sp>
        <p:nvSpPr>
          <p:cNvPr id="10" name="Text 8"/>
          <p:cNvSpPr/>
          <p:nvPr/>
        </p:nvSpPr>
        <p:spPr>
          <a:xfrm>
            <a:off x="2450592" y="1353312"/>
            <a:ext cx="1993392"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Political</a:t>
            </a:r>
            <a:endParaRPr lang="en-US" sz="1400" dirty="0"/>
          </a:p>
        </p:txBody>
      </p:sp>
      <p:sp>
        <p:nvSpPr>
          <p:cNvPr id="11" name="Text 9"/>
          <p:cNvSpPr/>
          <p:nvPr/>
        </p:nvSpPr>
        <p:spPr>
          <a:xfrm>
            <a:off x="2542032" y="1645920"/>
            <a:ext cx="1810512" cy="1719072"/>
          </a:xfrm>
          <a:prstGeom prst="rect">
            <a:avLst/>
          </a:prstGeom>
          <a:noFill/>
          <a:ln/>
        </p:spPr>
        <p:txBody>
          <a:bodyPr wrap="square" lIns="0" tIns="0" rIns="0" bIns="0" rtlCol="0" anchor="t"/>
          <a:lstStyle/>
          <a:p>
            <a:pPr algn="ctr" indent="0" marL="0">
              <a:buNone/>
            </a:pPr>
            <a:r>
              <a:rPr lang="en-US" sz="1000" dirty="0">
                <a:solidFill>
                  <a:srgbClr val="D6F2FB"/>
                </a:solidFill>
                <a:latin typeface="Calibri" pitchFamily="34" charset="0"/>
                <a:ea typeface="Calibri" pitchFamily="34" charset="-122"/>
                <a:cs typeface="Calibri" pitchFamily="34" charset="-120"/>
              </a:rPr>
              <a:t>Borders and countries</a:t>
            </a:r>
            <a:endParaRPr lang="en-US" sz="1000" dirty="0"/>
          </a:p>
          <a:p>
            <a:pPr algn="ctr" indent="0" marL="0">
              <a:buNone/>
            </a:pPr>
            <a:r>
              <a:rPr lang="en-US" sz="1000" dirty="0">
                <a:solidFill>
                  <a:srgbClr val="D6F2FB"/>
                </a:solidFill>
                <a:latin typeface="Calibri" pitchFamily="34" charset="0"/>
                <a:ea typeface="Calibri" pitchFamily="34" charset="-122"/>
                <a:cs typeface="Calibri" pitchFamily="34" charset="-120"/>
              </a:rPr>
              <a:t>Capitals, state lines</a:t>
            </a:r>
            <a:endParaRPr lang="en-US" sz="1000" dirty="0"/>
          </a:p>
        </p:txBody>
      </p:sp>
      <p:sp>
        <p:nvSpPr>
          <p:cNvPr id="12" name="Shape 10"/>
          <p:cNvSpPr/>
          <p:nvPr/>
        </p:nvSpPr>
        <p:spPr>
          <a:xfrm>
            <a:off x="4626864" y="1261872"/>
            <a:ext cx="1993392" cy="2194560"/>
          </a:xfrm>
          <a:prstGeom prst="roundRect">
            <a:avLst>
              <a:gd name="adj" fmla="val 5505"/>
            </a:avLst>
          </a:prstGeom>
          <a:solidFill>
            <a:srgbClr val="6B4A8A"/>
          </a:solidFill>
          <a:ln/>
          <a:effectLst>
            <a:outerShdw sx="100000" sy="100000" kx="0" ky="0" algn="bl" rotWithShape="0" blurRad="63500" dist="25400" dir="8100000">
              <a:srgbClr val="000000">
                <a:alpha val="15000"/>
              </a:srgbClr>
            </a:outerShdw>
          </a:effectLst>
        </p:spPr>
      </p:sp>
      <p:sp>
        <p:nvSpPr>
          <p:cNvPr id="13" name="Text 11"/>
          <p:cNvSpPr/>
          <p:nvPr/>
        </p:nvSpPr>
        <p:spPr>
          <a:xfrm>
            <a:off x="4626864" y="1353312"/>
            <a:ext cx="1993392"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Elevation</a:t>
            </a:r>
            <a:endParaRPr lang="en-US" sz="1400" dirty="0"/>
          </a:p>
        </p:txBody>
      </p:sp>
      <p:sp>
        <p:nvSpPr>
          <p:cNvPr id="14" name="Text 12"/>
          <p:cNvSpPr/>
          <p:nvPr/>
        </p:nvSpPr>
        <p:spPr>
          <a:xfrm>
            <a:off x="4718304" y="1645920"/>
            <a:ext cx="1810512" cy="1719072"/>
          </a:xfrm>
          <a:prstGeom prst="rect">
            <a:avLst/>
          </a:prstGeom>
          <a:noFill/>
          <a:ln/>
        </p:spPr>
        <p:txBody>
          <a:bodyPr wrap="square" lIns="0" tIns="0" rIns="0" bIns="0" rtlCol="0" anchor="t"/>
          <a:lstStyle/>
          <a:p>
            <a:pPr algn="ctr" indent="0" marL="0">
              <a:buNone/>
            </a:pPr>
            <a:r>
              <a:rPr lang="en-US" sz="1000" dirty="0">
                <a:solidFill>
                  <a:srgbClr val="D6F2FB"/>
                </a:solidFill>
                <a:latin typeface="Calibri" pitchFamily="34" charset="0"/>
                <a:ea typeface="Calibri" pitchFamily="34" charset="-122"/>
                <a:cs typeface="Calibri" pitchFamily="34" charset="-120"/>
              </a:rPr>
              <a:t>Height above sea level</a:t>
            </a:r>
            <a:endParaRPr lang="en-US" sz="1000" dirty="0"/>
          </a:p>
          <a:p>
            <a:pPr algn="ctr" indent="0" marL="0">
              <a:buNone/>
            </a:pPr>
            <a:r>
              <a:rPr lang="en-US" sz="1000" dirty="0">
                <a:solidFill>
                  <a:srgbClr val="D6F2FB"/>
                </a:solidFill>
                <a:latin typeface="Calibri" pitchFamily="34" charset="0"/>
                <a:ea typeface="Calibri" pitchFamily="34" charset="-122"/>
                <a:cs typeface="Calibri" pitchFamily="34" charset="-120"/>
              </a:rPr>
              <a:t>Green=low, White=high</a:t>
            </a:r>
            <a:endParaRPr lang="en-US" sz="1000" dirty="0"/>
          </a:p>
        </p:txBody>
      </p:sp>
      <p:sp>
        <p:nvSpPr>
          <p:cNvPr id="15" name="Shape 13"/>
          <p:cNvSpPr/>
          <p:nvPr/>
        </p:nvSpPr>
        <p:spPr>
          <a:xfrm>
            <a:off x="6803136" y="1261872"/>
            <a:ext cx="1993392" cy="2194560"/>
          </a:xfrm>
          <a:prstGeom prst="roundRect">
            <a:avLst>
              <a:gd name="adj" fmla="val 5505"/>
            </a:avLst>
          </a:prstGeom>
          <a:solidFill>
            <a:srgbClr val="8A4A2A"/>
          </a:solidFill>
          <a:ln/>
          <a:effectLst>
            <a:outerShdw sx="100000" sy="100000" kx="0" ky="0" algn="bl" rotWithShape="0" blurRad="63500" dist="25400" dir="8100000">
              <a:srgbClr val="000000">
                <a:alpha val="15000"/>
              </a:srgbClr>
            </a:outerShdw>
          </a:effectLst>
        </p:spPr>
      </p:sp>
      <p:sp>
        <p:nvSpPr>
          <p:cNvPr id="16" name="Text 14"/>
          <p:cNvSpPr/>
          <p:nvPr/>
        </p:nvSpPr>
        <p:spPr>
          <a:xfrm>
            <a:off x="6803136" y="1353312"/>
            <a:ext cx="1993392"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Population</a:t>
            </a:r>
            <a:endParaRPr lang="en-US" sz="1400" dirty="0"/>
          </a:p>
        </p:txBody>
      </p:sp>
      <p:sp>
        <p:nvSpPr>
          <p:cNvPr id="17" name="Text 15"/>
          <p:cNvSpPr/>
          <p:nvPr/>
        </p:nvSpPr>
        <p:spPr>
          <a:xfrm>
            <a:off x="6894576" y="1645920"/>
            <a:ext cx="1810512" cy="1719072"/>
          </a:xfrm>
          <a:prstGeom prst="rect">
            <a:avLst/>
          </a:prstGeom>
          <a:noFill/>
          <a:ln/>
        </p:spPr>
        <p:txBody>
          <a:bodyPr wrap="square" lIns="0" tIns="0" rIns="0" bIns="0" rtlCol="0" anchor="t"/>
          <a:lstStyle/>
          <a:p>
            <a:pPr algn="ctr" indent="0" marL="0">
              <a:buNone/>
            </a:pPr>
            <a:r>
              <a:rPr lang="en-US" sz="1000" dirty="0">
                <a:solidFill>
                  <a:srgbClr val="D6F2FB"/>
                </a:solidFill>
                <a:latin typeface="Calibri" pitchFamily="34" charset="0"/>
                <a:ea typeface="Calibri" pitchFamily="34" charset="-122"/>
                <a:cs typeface="Calibri" pitchFamily="34" charset="-120"/>
              </a:rPr>
              <a:t>Where people live</a:t>
            </a:r>
            <a:endParaRPr lang="en-US" sz="1000" dirty="0"/>
          </a:p>
          <a:p>
            <a:pPr algn="ctr" indent="0" marL="0">
              <a:buNone/>
            </a:pPr>
            <a:r>
              <a:rPr lang="en-US" sz="1000" dirty="0">
                <a:solidFill>
                  <a:srgbClr val="D6F2FB"/>
                </a:solidFill>
                <a:latin typeface="Calibri" pitchFamily="34" charset="0"/>
                <a:ea typeface="Calibri" pitchFamily="34" charset="-122"/>
                <a:cs typeface="Calibri" pitchFamily="34" charset="-120"/>
              </a:rPr>
              <a:t>Dark=crowded, Light=sparse</a:t>
            </a:r>
            <a:endParaRPr lang="en-US" sz="1000" dirty="0"/>
          </a:p>
        </p:txBody>
      </p:sp>
      <p:sp>
        <p:nvSpPr>
          <p:cNvPr id="18" name="Shape 16"/>
          <p:cNvSpPr/>
          <p:nvPr/>
        </p:nvSpPr>
        <p:spPr>
          <a:xfrm>
            <a:off x="365760" y="3611880"/>
            <a:ext cx="8412480" cy="1280160"/>
          </a:xfrm>
          <a:prstGeom prst="roundRect">
            <a:avLst>
              <a:gd name="adj" fmla="val 8571"/>
            </a:avLst>
          </a:prstGeom>
          <a:solidFill>
            <a:srgbClr val="1A2D5A"/>
          </a:solidFill>
          <a:ln/>
        </p:spPr>
      </p:sp>
      <p:sp>
        <p:nvSpPr>
          <p:cNvPr id="19" name="Text 17"/>
          <p:cNvSpPr/>
          <p:nvPr/>
        </p:nvSpPr>
        <p:spPr>
          <a:xfrm>
            <a:off x="548640" y="3675888"/>
            <a:ext cx="8229600" cy="256032"/>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RETRIEVAL CHALLENGE</a:t>
            </a:r>
            <a:endParaRPr lang="en-US" sz="900" dirty="0"/>
          </a:p>
        </p:txBody>
      </p:sp>
      <p:sp>
        <p:nvSpPr>
          <p:cNvPr id="20" name="Text 18"/>
          <p:cNvSpPr/>
          <p:nvPr/>
        </p:nvSpPr>
        <p:spPr>
          <a:xfrm>
            <a:off x="548640" y="3950208"/>
            <a:ext cx="8229600" cy="68580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Cover your screen. In your notebook, write all four map types from memory. Name each one AND what it shows.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Why Can't One Map Do Everything?</a:t>
            </a:r>
            <a:endParaRPr lang="en-US" sz="3000" dirty="0"/>
          </a:p>
        </p:txBody>
      </p:sp>
      <p:sp>
        <p:nvSpPr>
          <p:cNvPr id="3" name="Shape 1"/>
          <p:cNvSpPr/>
          <p:nvPr/>
        </p:nvSpPr>
        <p:spPr>
          <a:xfrm>
            <a:off x="365760" y="685800"/>
            <a:ext cx="8412480" cy="0"/>
          </a:xfrm>
          <a:prstGeom prst="line">
            <a:avLst/>
          </a:prstGeom>
          <a:noFill/>
          <a:ln w="25400">
            <a:solidFill>
              <a:srgbClr val="D4943A"/>
            </a:solidFill>
            <a:prstDash val="solid"/>
          </a:ln>
        </p:spPr>
      </p:sp>
      <p:sp>
        <p:nvSpPr>
          <p:cNvPr id="4" name="Shape 2"/>
          <p:cNvSpPr/>
          <p:nvPr/>
        </p:nvSpPr>
        <p:spPr>
          <a:xfrm>
            <a:off x="365760" y="804672"/>
            <a:ext cx="3840480" cy="3108960"/>
          </a:xfrm>
          <a:prstGeom prst="roundRect">
            <a:avLst>
              <a:gd name="adj" fmla="val 3529"/>
            </a:avLst>
          </a:prstGeom>
          <a:solidFill>
            <a:srgbClr val="E2E8F4"/>
          </a:solidFill>
          <a:ln w="19050">
            <a:solidFill>
              <a:srgbClr val="B0B8CC"/>
            </a:solidFill>
            <a:prstDash val="dash"/>
          </a:ln>
        </p:spPr>
      </p:sp>
      <p:sp>
        <p:nvSpPr>
          <p:cNvPr id="5" name="Text 3"/>
          <p:cNvSpPr/>
          <p:nvPr/>
        </p:nvSpPr>
        <p:spPr>
          <a:xfrm>
            <a:off x="365760" y="804672"/>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078992"/>
            <a:ext cx="3566160" cy="2743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visitor looking puzzled at a wall with four different maps — pointing at each one trying to decide which to use</a:t>
            </a:r>
            <a:endParaRPr lang="en-US" sz="1100" dirty="0"/>
          </a:p>
        </p:txBody>
      </p:sp>
      <p:sp>
        <p:nvSpPr>
          <p:cNvPr id="7" name="Shape 5"/>
          <p:cNvSpPr/>
          <p:nvPr/>
        </p:nvSpPr>
        <p:spPr>
          <a:xfrm>
            <a:off x="4389120" y="804672"/>
            <a:ext cx="4389120" cy="1691640"/>
          </a:xfrm>
          <a:prstGeom prst="roundRect">
            <a:avLst>
              <a:gd name="adj" fmla="val 6486"/>
            </a:avLst>
          </a:prstGeom>
          <a:solidFill>
            <a:srgbClr val="F0F2F8"/>
          </a:solidFill>
          <a:ln/>
        </p:spPr>
      </p:sp>
      <p:sp>
        <p:nvSpPr>
          <p:cNvPr id="8" name="Text 6"/>
          <p:cNvSpPr/>
          <p:nvPr/>
        </p:nvSpPr>
        <p:spPr>
          <a:xfrm>
            <a:off x="4572000" y="877824"/>
            <a:ext cx="4023360" cy="292608"/>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Imagine you only had ONE map.</a:t>
            </a:r>
            <a:endParaRPr lang="en-US" sz="1400" dirty="0"/>
          </a:p>
        </p:txBody>
      </p:sp>
      <p:sp>
        <p:nvSpPr>
          <p:cNvPr id="9" name="Text 7"/>
          <p:cNvSpPr/>
          <p:nvPr/>
        </p:nvSpPr>
        <p:spPr>
          <a:xfrm>
            <a:off x="4572000" y="1188720"/>
            <a:ext cx="4023360" cy="118872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Could you find a river AND a border AND the tallest mountain AND the busiest city — all on the same map?</a:t>
            </a:r>
            <a:endParaRPr lang="en-US" sz="1250" dirty="0"/>
          </a:p>
          <a:p>
            <a:pPr indent="0" marL="0">
              <a:buNone/>
            </a:pP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If it showed EVERYTHING at once, it would be so crowded you couldn't read anything!</a:t>
            </a:r>
            <a:endParaRPr lang="en-US" sz="1250" dirty="0"/>
          </a:p>
        </p:txBody>
      </p:sp>
      <p:sp>
        <p:nvSpPr>
          <p:cNvPr id="10" name="Shape 8"/>
          <p:cNvSpPr/>
          <p:nvPr/>
        </p:nvSpPr>
        <p:spPr>
          <a:xfrm>
            <a:off x="4389120" y="2606040"/>
            <a:ext cx="4389120" cy="1307592"/>
          </a:xfrm>
          <a:prstGeom prst="roundRect">
            <a:avLst>
              <a:gd name="adj" fmla="val 8392"/>
            </a:avLst>
          </a:prstGeom>
          <a:solidFill>
            <a:srgbClr val="FFF3DC"/>
          </a:solidFill>
          <a:ln w="19050">
            <a:solidFill>
              <a:srgbClr val="F5E6C8"/>
            </a:solidFill>
            <a:prstDash val="solid"/>
          </a:ln>
        </p:spPr>
      </p:sp>
      <p:sp>
        <p:nvSpPr>
          <p:cNvPr id="11" name="Text 9"/>
          <p:cNvSpPr/>
          <p:nvPr/>
        </p:nvSpPr>
        <p:spPr>
          <a:xfrm>
            <a:off x="4526280" y="2660904"/>
            <a:ext cx="4114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526280" y="2862072"/>
            <a:ext cx="4114800" cy="98755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a museum only had one map, the problem would be..."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curator needs four maps because..."</a:t>
            </a:r>
            <a:endParaRPr lang="en-US" sz="1200" dirty="0"/>
          </a:p>
        </p:txBody>
      </p:sp>
      <p:sp>
        <p:nvSpPr>
          <p:cNvPr id="13" name="Shape 11"/>
          <p:cNvSpPr/>
          <p:nvPr/>
        </p:nvSpPr>
        <p:spPr>
          <a:xfrm>
            <a:off x="365760" y="4005072"/>
            <a:ext cx="8412480" cy="100584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48640" y="4096512"/>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48640" y="4352544"/>
            <a:ext cx="8046720" cy="566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happen if one map showed physical features AND borders AND population all together?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picking the RIGHT map a curator skill — not just a fact to memorize?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When might a real person need to switch between map types?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365760" y="137160"/>
            <a:ext cx="841248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Guided Practice: Sorting the Drawers</a:t>
            </a:r>
            <a:endParaRPr lang="en-US" sz="2800" dirty="0"/>
          </a:p>
        </p:txBody>
      </p:sp>
      <p:sp>
        <p:nvSpPr>
          <p:cNvPr id="3" name="Shape 1"/>
          <p:cNvSpPr/>
          <p:nvPr/>
        </p:nvSpPr>
        <p:spPr>
          <a:xfrm>
            <a:off x="365760" y="612648"/>
            <a:ext cx="8412480" cy="0"/>
          </a:xfrm>
          <a:prstGeom prst="line">
            <a:avLst/>
          </a:prstGeom>
          <a:noFill/>
          <a:ln w="25400">
            <a:solidFill>
              <a:srgbClr val="D4943A"/>
            </a:solidFill>
            <a:prstDash val="solid"/>
          </a:ln>
        </p:spPr>
      </p:sp>
      <p:sp>
        <p:nvSpPr>
          <p:cNvPr id="4" name="Shape 2"/>
          <p:cNvSpPr/>
          <p:nvPr/>
        </p:nvSpPr>
        <p:spPr>
          <a:xfrm>
            <a:off x="365760" y="731520"/>
            <a:ext cx="4160520" cy="4114800"/>
          </a:xfrm>
          <a:prstGeom prst="roundRect">
            <a:avLst>
              <a:gd name="adj" fmla="val 2667"/>
            </a:avLst>
          </a:prstGeom>
          <a:solidFill>
            <a:srgbClr val="FFFFFF"/>
          </a:solidFill>
          <a:ln w="25400">
            <a:solidFill>
              <a:srgbClr val="3A5080"/>
            </a:solidFill>
            <a:prstDash val="solid"/>
          </a:ln>
        </p:spPr>
      </p:sp>
      <p:sp>
        <p:nvSpPr>
          <p:cNvPr id="5" name="Text 3"/>
          <p:cNvSpPr/>
          <p:nvPr/>
        </p:nvSpPr>
        <p:spPr>
          <a:xfrm>
            <a:off x="548640" y="822960"/>
            <a:ext cx="3794760" cy="256032"/>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TEACHER MODELS</a:t>
            </a:r>
            <a:endParaRPr lang="en-US" sz="900" dirty="0"/>
          </a:p>
        </p:txBody>
      </p:sp>
      <p:sp>
        <p:nvSpPr>
          <p:cNvPr id="6" name="Text 4"/>
          <p:cNvSpPr/>
          <p:nvPr/>
        </p:nvSpPr>
        <p:spPr>
          <a:xfrm>
            <a:off x="548640" y="1115568"/>
            <a:ext cx="3794760" cy="256032"/>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The Visitor's Question:</a:t>
            </a:r>
            <a:endParaRPr lang="en-US" sz="1100" dirty="0"/>
          </a:p>
        </p:txBody>
      </p:sp>
      <p:sp>
        <p:nvSpPr>
          <p:cNvPr id="7" name="Text 5"/>
          <p:cNvSpPr/>
          <p:nvPr/>
        </p:nvSpPr>
        <p:spPr>
          <a:xfrm>
            <a:off x="548640" y="1389888"/>
            <a:ext cx="3794760" cy="502920"/>
          </a:xfrm>
          <a:prstGeom prst="rect">
            <a:avLst/>
          </a:prstGeom>
          <a:noFill/>
          <a:ln/>
        </p:spPr>
        <p:txBody>
          <a:bodyPr wrap="square" lIns="0" tIns="0" rIns="0" bIns="0"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"I want to find out where the biggest rivers in the United States are."</a:t>
            </a:r>
            <a:endParaRPr lang="en-US" sz="1300" dirty="0"/>
          </a:p>
        </p:txBody>
      </p:sp>
      <p:sp>
        <p:nvSpPr>
          <p:cNvPr id="8" name="Text 6"/>
          <p:cNvSpPr/>
          <p:nvPr/>
        </p:nvSpPr>
        <p:spPr>
          <a:xfrm>
            <a:off x="548640" y="1920240"/>
            <a:ext cx="3794760" cy="256032"/>
          </a:xfrm>
          <a:prstGeom prst="rect">
            <a:avLst/>
          </a:prstGeom>
          <a:noFill/>
          <a:ln/>
        </p:spPr>
        <p:txBody>
          <a:bodyPr wrap="square" lIns="0" tIns="0" rIns="0" bIns="0"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My think-aloud:</a:t>
            </a:r>
            <a:endParaRPr lang="en-US" sz="1000" dirty="0"/>
          </a:p>
        </p:txBody>
      </p:sp>
      <p:sp>
        <p:nvSpPr>
          <p:cNvPr id="9" name="Text 7"/>
          <p:cNvSpPr/>
          <p:nvPr/>
        </p:nvSpPr>
        <p:spPr>
          <a:xfrm>
            <a:off x="548640" y="2194560"/>
            <a:ext cx="3794760" cy="1371600"/>
          </a:xfrm>
          <a:prstGeom prst="rect">
            <a:avLst/>
          </a:prstGeom>
          <a:noFill/>
          <a:ln/>
        </p:spPr>
        <p:txBody>
          <a:bodyPr wrap="square" lIns="0" tIns="0" rIns="0" bIns="0" rtlCol="0" anchor="t"/>
          <a:lstStyle/>
          <a:p>
            <a:pPr indent="0" marL="0">
              <a:buNone/>
            </a:pPr>
            <a:r>
              <a:rPr lang="en-US" sz="1200" i="1" dirty="0">
                <a:solidFill>
                  <a:srgbClr val="0E1C42"/>
                </a:solidFill>
                <a:latin typeface="Calibri" pitchFamily="34" charset="0"/>
                <a:ea typeface="Calibri" pitchFamily="34" charset="-122"/>
                <a:cs typeface="Calibri" pitchFamily="34" charset="-120"/>
              </a:rPr>
              <a:t>"Rivers are a NATURAL feature of the land. Which map type shows natural features? Physical! I would NOT pick political — that shows borders. NOT elevation — that shows height. NOT population — that shows people. The answer is a physical map."</a:t>
            </a:r>
            <a:endParaRPr lang="en-US" sz="1200" dirty="0"/>
          </a:p>
        </p:txBody>
      </p:sp>
      <p:sp>
        <p:nvSpPr>
          <p:cNvPr id="10" name="Shape 8"/>
          <p:cNvSpPr/>
          <p:nvPr/>
        </p:nvSpPr>
        <p:spPr>
          <a:xfrm>
            <a:off x="548640" y="3611880"/>
            <a:ext cx="3794760" cy="685800"/>
          </a:xfrm>
          <a:prstGeom prst="roundRect">
            <a:avLst>
              <a:gd name="adj" fmla="val 10667"/>
            </a:avLst>
          </a:prstGeom>
          <a:solidFill>
            <a:srgbClr val="E3F8ED"/>
          </a:solidFill>
          <a:ln/>
        </p:spPr>
      </p:sp>
      <p:sp>
        <p:nvSpPr>
          <p:cNvPr id="11" name="Text 9"/>
          <p:cNvSpPr/>
          <p:nvPr/>
        </p:nvSpPr>
        <p:spPr>
          <a:xfrm>
            <a:off x="640080" y="3639312"/>
            <a:ext cx="3611880" cy="594360"/>
          </a:xfrm>
          <a:prstGeom prst="rect">
            <a:avLst/>
          </a:prstGeom>
          <a:noFill/>
          <a:ln/>
        </p:spPr>
        <p:txBody>
          <a:bodyPr wrap="square" lIns="0" tIns="0" rIns="0" bIns="0" rtlCol="0" anchor="ctr"/>
          <a:lstStyle/>
          <a:p>
            <a:pPr indent="0" marL="0">
              <a:buNone/>
            </a:pPr>
            <a:r>
              <a:rPr lang="en-US" sz="1100" dirty="0">
                <a:solidFill>
                  <a:srgbClr val="1A5A2A"/>
                </a:solidFill>
                <a:latin typeface="Calibri" pitchFamily="34" charset="0"/>
                <a:ea typeface="Calibri" pitchFamily="34" charset="-122"/>
                <a:cs typeface="Calibri" pitchFamily="34" charset="-120"/>
              </a:rPr>
              <a:t>Answer: Physical Map</a:t>
            </a:r>
            <a:endParaRPr lang="en-US" sz="1100" dirty="0"/>
          </a:p>
          <a:p>
            <a:pPr indent="0" marL="0">
              <a:buNone/>
            </a:pPr>
            <a:r>
              <a:rPr lang="en-US" sz="1100" dirty="0">
                <a:solidFill>
                  <a:srgbClr val="1A5A2A"/>
                </a:solidFill>
                <a:latin typeface="Calibri" pitchFamily="34" charset="0"/>
                <a:ea typeface="Calibri" pitchFamily="34" charset="-122"/>
                <a:cs typeface="Calibri" pitchFamily="34" charset="-120"/>
              </a:rPr>
              <a:t>Because: It shows natural land features including rivers.</a:t>
            </a:r>
            <a:endParaRPr lang="en-US" sz="1100" dirty="0"/>
          </a:p>
        </p:txBody>
      </p:sp>
      <p:sp>
        <p:nvSpPr>
          <p:cNvPr id="12" name="Shape 10"/>
          <p:cNvSpPr/>
          <p:nvPr/>
        </p:nvSpPr>
        <p:spPr>
          <a:xfrm>
            <a:off x="4709160" y="731520"/>
            <a:ext cx="4069080" cy="4114800"/>
          </a:xfrm>
          <a:prstGeom prst="roundRect">
            <a:avLst>
              <a:gd name="adj" fmla="val 2697"/>
            </a:avLst>
          </a:prstGeom>
          <a:solidFill>
            <a:srgbClr val="FFFFFF"/>
          </a:solidFill>
          <a:ln w="25400">
            <a:solidFill>
              <a:srgbClr val="D4943A"/>
            </a:solidFill>
            <a:prstDash val="solid"/>
          </a:ln>
        </p:spPr>
      </p:sp>
      <p:sp>
        <p:nvSpPr>
          <p:cNvPr id="13" name="Text 11"/>
          <p:cNvSpPr/>
          <p:nvPr/>
        </p:nvSpPr>
        <p:spPr>
          <a:xfrm>
            <a:off x="4892040" y="822960"/>
            <a:ext cx="370332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WE TRY TOGETHER</a:t>
            </a:r>
            <a:endParaRPr lang="en-US" sz="900" dirty="0"/>
          </a:p>
        </p:txBody>
      </p:sp>
      <p:sp>
        <p:nvSpPr>
          <p:cNvPr id="14" name="Text 12"/>
          <p:cNvSpPr/>
          <p:nvPr/>
        </p:nvSpPr>
        <p:spPr>
          <a:xfrm>
            <a:off x="4892040" y="1115568"/>
            <a:ext cx="3703320" cy="256032"/>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The Visitor's Question:</a:t>
            </a:r>
            <a:endParaRPr lang="en-US" sz="1100" dirty="0"/>
          </a:p>
        </p:txBody>
      </p:sp>
      <p:sp>
        <p:nvSpPr>
          <p:cNvPr id="15" name="Text 13"/>
          <p:cNvSpPr/>
          <p:nvPr/>
        </p:nvSpPr>
        <p:spPr>
          <a:xfrm>
            <a:off x="4892040" y="1389888"/>
            <a:ext cx="3703320" cy="502920"/>
          </a:xfrm>
          <a:prstGeom prst="rect">
            <a:avLst/>
          </a:prstGeom>
          <a:noFill/>
          <a:ln/>
        </p:spPr>
        <p:txBody>
          <a:bodyPr wrap="square" lIns="0" tIns="0" rIns="0" bIns="0"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"Which country is next to Argentina in South America?"</a:t>
            </a:r>
            <a:endParaRPr lang="en-US" sz="1300" dirty="0"/>
          </a:p>
        </p:txBody>
      </p:sp>
      <p:sp>
        <p:nvSpPr>
          <p:cNvPr id="16" name="Text 14"/>
          <p:cNvSpPr/>
          <p:nvPr/>
        </p:nvSpPr>
        <p:spPr>
          <a:xfrm>
            <a:off x="4892040" y="1920240"/>
            <a:ext cx="3703320" cy="256032"/>
          </a:xfrm>
          <a:prstGeom prst="rect">
            <a:avLst/>
          </a:prstGeom>
          <a:noFill/>
          <a:ln/>
        </p:spPr>
        <p:txBody>
          <a:bodyPr wrap="square" lIns="0" tIns="0" rIns="0" bIns="0"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Guide questions:</a:t>
            </a:r>
            <a:endParaRPr lang="en-US" sz="1000" dirty="0"/>
          </a:p>
        </p:txBody>
      </p:sp>
      <p:sp>
        <p:nvSpPr>
          <p:cNvPr id="17" name="Text 15"/>
          <p:cNvSpPr/>
          <p:nvPr/>
        </p:nvSpPr>
        <p:spPr>
          <a:xfrm>
            <a:off x="4892040" y="2194560"/>
            <a:ext cx="3703320" cy="12801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This visitor needs to know about COUNTRY positions.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type of information is that — natural features? heights? people? OR borders between places?</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Which drawer would YOU open?</a:t>
            </a:r>
            <a:endParaRPr lang="en-US" sz="1200" dirty="0"/>
          </a:p>
        </p:txBody>
      </p:sp>
      <p:sp>
        <p:nvSpPr>
          <p:cNvPr id="18" name="Shape 16"/>
          <p:cNvSpPr/>
          <p:nvPr/>
        </p:nvSpPr>
        <p:spPr>
          <a:xfrm>
            <a:off x="4892040" y="3547872"/>
            <a:ext cx="3703320" cy="1097280"/>
          </a:xfrm>
          <a:prstGeom prst="roundRect">
            <a:avLst>
              <a:gd name="adj" fmla="val 10000"/>
            </a:avLst>
          </a:prstGeom>
          <a:solidFill>
            <a:srgbClr val="FFF3DC"/>
          </a:solidFill>
          <a:ln w="19050">
            <a:solidFill>
              <a:srgbClr val="F5E6C8"/>
            </a:solidFill>
            <a:prstDash val="solid"/>
          </a:ln>
        </p:spPr>
      </p:sp>
      <p:sp>
        <p:nvSpPr>
          <p:cNvPr id="19" name="Text 17"/>
          <p:cNvSpPr/>
          <p:nvPr/>
        </p:nvSpPr>
        <p:spPr>
          <a:xfrm>
            <a:off x="5029200" y="3602736"/>
            <a:ext cx="34290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0" name="Text 18"/>
          <p:cNvSpPr/>
          <p:nvPr/>
        </p:nvSpPr>
        <p:spPr>
          <a:xfrm>
            <a:off x="5029200" y="3803904"/>
            <a:ext cx="342900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choose... because..."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365760" y="137160"/>
            <a:ext cx="841248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Your Turn — And a Mistake to Fix</a:t>
            </a:r>
            <a:endParaRPr lang="en-US" sz="2800" dirty="0"/>
          </a:p>
        </p:txBody>
      </p:sp>
      <p:sp>
        <p:nvSpPr>
          <p:cNvPr id="3" name="Shape 1"/>
          <p:cNvSpPr/>
          <p:nvPr/>
        </p:nvSpPr>
        <p:spPr>
          <a:xfrm>
            <a:off x="365760" y="612648"/>
            <a:ext cx="8412480" cy="0"/>
          </a:xfrm>
          <a:prstGeom prst="line">
            <a:avLst/>
          </a:prstGeom>
          <a:noFill/>
          <a:ln w="25400">
            <a:solidFill>
              <a:srgbClr val="E8636B"/>
            </a:solidFill>
            <a:prstDash val="solid"/>
          </a:ln>
        </p:spPr>
      </p:sp>
      <p:sp>
        <p:nvSpPr>
          <p:cNvPr id="4" name="Shape 2"/>
          <p:cNvSpPr/>
          <p:nvPr/>
        </p:nvSpPr>
        <p:spPr>
          <a:xfrm>
            <a:off x="365760" y="731520"/>
            <a:ext cx="3977640" cy="2788920"/>
          </a:xfrm>
          <a:prstGeom prst="roundRect">
            <a:avLst>
              <a:gd name="adj" fmla="val 3934"/>
            </a:avLst>
          </a:prstGeom>
          <a:solidFill>
            <a:srgbClr val="FFFFFF"/>
          </a:solidFill>
          <a:ln w="25400">
            <a:solidFill>
              <a:srgbClr val="1A8A7D"/>
            </a:solidFill>
            <a:prstDash val="solid"/>
          </a:ln>
        </p:spPr>
      </p:sp>
      <p:sp>
        <p:nvSpPr>
          <p:cNvPr id="5" name="Text 3"/>
          <p:cNvSpPr/>
          <p:nvPr/>
        </p:nvSpPr>
        <p:spPr>
          <a:xfrm>
            <a:off x="548640" y="822960"/>
            <a:ext cx="361188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YOUR TURN WITH SUPPORT</a:t>
            </a:r>
            <a:endParaRPr lang="en-US" sz="900" dirty="0"/>
          </a:p>
        </p:txBody>
      </p:sp>
      <p:sp>
        <p:nvSpPr>
          <p:cNvPr id="6" name="Text 4"/>
          <p:cNvSpPr/>
          <p:nvPr/>
        </p:nvSpPr>
        <p:spPr>
          <a:xfrm>
            <a:off x="548640" y="1115568"/>
            <a:ext cx="3611880" cy="566928"/>
          </a:xfrm>
          <a:prstGeom prst="rect">
            <a:avLst/>
          </a:prstGeom>
          <a:noFill/>
          <a:ln/>
        </p:spPr>
        <p:txBody>
          <a:bodyPr wrap="square" lIns="0" tIns="0" rIns="0" bIns="0" rtlCol="0" anchor="ctr"/>
          <a:lstStyle/>
          <a:p>
            <a:pPr indent="0" marL="0">
              <a:buNone/>
            </a:pPr>
            <a:r>
              <a:rPr lang="en-US" sz="1250" i="1" dirty="0">
                <a:solidFill>
                  <a:srgbClr val="0E1C42"/>
                </a:solidFill>
                <a:latin typeface="Cambria" pitchFamily="34" charset="0"/>
                <a:ea typeface="Cambria" pitchFamily="34" charset="-122"/>
                <a:cs typeface="Cambria" pitchFamily="34" charset="-120"/>
              </a:rPr>
              <a:t>"I want to find out where the fewest people live in the United States."</a:t>
            </a:r>
            <a:endParaRPr lang="en-US" sz="1250" dirty="0"/>
          </a:p>
        </p:txBody>
      </p:sp>
      <p:sp>
        <p:nvSpPr>
          <p:cNvPr id="7" name="Text 5"/>
          <p:cNvSpPr/>
          <p:nvPr/>
        </p:nvSpPr>
        <p:spPr>
          <a:xfrm>
            <a:off x="548640" y="1709928"/>
            <a:ext cx="3611880" cy="256032"/>
          </a:xfrm>
          <a:prstGeom prst="rect">
            <a:avLst/>
          </a:prstGeom>
          <a:noFill/>
          <a:ln/>
        </p:spPr>
        <p:txBody>
          <a:bodyPr wrap="square" lIns="0" tIns="0" rIns="0" bIns="0"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Use this checklist:</a:t>
            </a:r>
            <a:endParaRPr lang="en-US" sz="1000" dirty="0"/>
          </a:p>
        </p:txBody>
      </p:sp>
      <p:sp>
        <p:nvSpPr>
          <p:cNvPr id="8" name="Text 6"/>
          <p:cNvSpPr/>
          <p:nvPr/>
        </p:nvSpPr>
        <p:spPr>
          <a:xfrm>
            <a:off x="548640" y="1984248"/>
            <a:ext cx="3611880" cy="292608"/>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1. What is the visitor trying to find?</a:t>
            </a:r>
            <a:endParaRPr lang="en-US" sz="1200" dirty="0"/>
          </a:p>
        </p:txBody>
      </p:sp>
      <p:sp>
        <p:nvSpPr>
          <p:cNvPr id="9" name="Text 7"/>
          <p:cNvSpPr/>
          <p:nvPr/>
        </p:nvSpPr>
        <p:spPr>
          <a:xfrm>
            <a:off x="548640" y="2331720"/>
            <a:ext cx="3611880" cy="292608"/>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2. Is it about: land features / borders / height / people?</a:t>
            </a:r>
            <a:endParaRPr lang="en-US" sz="1200" dirty="0"/>
          </a:p>
        </p:txBody>
      </p:sp>
      <p:sp>
        <p:nvSpPr>
          <p:cNvPr id="10" name="Text 8"/>
          <p:cNvSpPr/>
          <p:nvPr/>
        </p:nvSpPr>
        <p:spPr>
          <a:xfrm>
            <a:off x="548640" y="2679192"/>
            <a:ext cx="3611880" cy="292608"/>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3. Which map type matches that?</a:t>
            </a:r>
            <a:endParaRPr lang="en-US" sz="1200" dirty="0"/>
          </a:p>
        </p:txBody>
      </p:sp>
      <p:sp>
        <p:nvSpPr>
          <p:cNvPr id="11" name="Shape 9"/>
          <p:cNvSpPr/>
          <p:nvPr/>
        </p:nvSpPr>
        <p:spPr>
          <a:xfrm>
            <a:off x="548640" y="2971800"/>
            <a:ext cx="3611880" cy="411480"/>
          </a:xfrm>
          <a:prstGeom prst="roundRect">
            <a:avLst>
              <a:gd name="adj" fmla="val 26667"/>
            </a:avLst>
          </a:prstGeom>
          <a:solidFill>
            <a:srgbClr val="FFF3DC"/>
          </a:solidFill>
          <a:ln w="19050">
            <a:solidFill>
              <a:srgbClr val="F5E6C8"/>
            </a:solidFill>
            <a:prstDash val="solid"/>
          </a:ln>
        </p:spPr>
      </p:sp>
      <p:sp>
        <p:nvSpPr>
          <p:cNvPr id="12" name="Text 10"/>
          <p:cNvSpPr/>
          <p:nvPr/>
        </p:nvSpPr>
        <p:spPr>
          <a:xfrm>
            <a:off x="685800" y="3026664"/>
            <a:ext cx="33375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685800" y="3227832"/>
            <a:ext cx="3337560" cy="91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choose... because..."</a:t>
            </a:r>
            <a:endParaRPr lang="en-US" sz="1200" dirty="0"/>
          </a:p>
        </p:txBody>
      </p:sp>
      <p:sp>
        <p:nvSpPr>
          <p:cNvPr id="14" name="Shape 12"/>
          <p:cNvSpPr/>
          <p:nvPr/>
        </p:nvSpPr>
        <p:spPr>
          <a:xfrm>
            <a:off x="4526280" y="731520"/>
            <a:ext cx="4251960" cy="2907792"/>
          </a:xfrm>
          <a:prstGeom prst="roundRect">
            <a:avLst>
              <a:gd name="adj" fmla="val 3774"/>
            </a:avLst>
          </a:prstGeom>
          <a:solidFill>
            <a:srgbClr val="FFFFFF"/>
          </a:solidFill>
          <a:ln w="25400">
            <a:solidFill>
              <a:srgbClr val="E8636B"/>
            </a:solidFill>
            <a:prstDash val="solid"/>
          </a:ln>
        </p:spPr>
      </p:sp>
      <p:sp>
        <p:nvSpPr>
          <p:cNvPr id="15" name="Text 13"/>
          <p:cNvSpPr/>
          <p:nvPr/>
        </p:nvSpPr>
        <p:spPr>
          <a:xfrm>
            <a:off x="4709160" y="822960"/>
            <a:ext cx="3886200" cy="2560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SPOT THE MISTAKE</a:t>
            </a:r>
            <a:endParaRPr lang="en-US" sz="900" dirty="0"/>
          </a:p>
        </p:txBody>
      </p:sp>
      <p:sp>
        <p:nvSpPr>
          <p:cNvPr id="16" name="Shape 14"/>
          <p:cNvSpPr/>
          <p:nvPr/>
        </p:nvSpPr>
        <p:spPr>
          <a:xfrm>
            <a:off x="4709160" y="1115568"/>
            <a:ext cx="3886200" cy="1005840"/>
          </a:xfrm>
          <a:prstGeom prst="roundRect">
            <a:avLst>
              <a:gd name="adj" fmla="val 7273"/>
            </a:avLst>
          </a:prstGeom>
          <a:solidFill>
            <a:srgbClr val="FFF0F0"/>
          </a:solidFill>
          <a:ln w="12700">
            <a:solidFill>
              <a:srgbClr val="E8636B"/>
            </a:solidFill>
            <a:prstDash val="solid"/>
          </a:ln>
        </p:spPr>
      </p:sp>
      <p:sp>
        <p:nvSpPr>
          <p:cNvPr id="17" name="Text 15"/>
          <p:cNvSpPr/>
          <p:nvPr/>
        </p:nvSpPr>
        <p:spPr>
          <a:xfrm>
            <a:off x="4800600" y="1170432"/>
            <a:ext cx="3703320" cy="868680"/>
          </a:xfrm>
          <a:prstGeom prst="rect">
            <a:avLst/>
          </a:prstGeom>
          <a:noFill/>
          <a:ln/>
        </p:spPr>
        <p:txBody>
          <a:bodyPr wrap="square" lIns="0" tIns="0" rIns="0" bIns="0" rtlCol="0" anchor="t"/>
          <a:lstStyle/>
          <a:p>
            <a:pPr indent="0" marL="0">
              <a:buNone/>
            </a:pPr>
            <a:r>
              <a:rPr lang="en-US" sz="1200" i="1" dirty="0">
                <a:solidFill>
                  <a:srgbClr val="8A1A1A"/>
                </a:solidFill>
                <a:latin typeface="Calibri" pitchFamily="34" charset="0"/>
                <a:ea typeface="Calibri" pitchFamily="34" charset="-122"/>
                <a:cs typeface="Calibri" pitchFamily="34" charset="-120"/>
              </a:rPr>
              <a:t>A student wrote: "To find out how tall Mt. Everest is, I would use a physical map because it shows mountains."</a:t>
            </a:r>
            <a:endParaRPr lang="en-US" sz="1200" dirty="0"/>
          </a:p>
        </p:txBody>
      </p:sp>
      <p:sp>
        <p:nvSpPr>
          <p:cNvPr id="18" name="Text 16"/>
          <p:cNvSpPr/>
          <p:nvPr/>
        </p:nvSpPr>
        <p:spPr>
          <a:xfrm>
            <a:off x="4709160" y="2176272"/>
            <a:ext cx="3886200" cy="68580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What did the student get right?</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did they get wrong?</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Which map should they have chosen — and why?</a:t>
            </a:r>
            <a:endParaRPr lang="en-US" sz="1200" dirty="0"/>
          </a:p>
        </p:txBody>
      </p:sp>
      <p:sp>
        <p:nvSpPr>
          <p:cNvPr id="19" name="Shape 17"/>
          <p:cNvSpPr/>
          <p:nvPr/>
        </p:nvSpPr>
        <p:spPr>
          <a:xfrm>
            <a:off x="4709160" y="2926080"/>
            <a:ext cx="3886200" cy="658368"/>
          </a:xfrm>
          <a:prstGeom prst="roundRect">
            <a:avLst>
              <a:gd name="adj" fmla="val 16667"/>
            </a:avLst>
          </a:prstGeom>
          <a:solidFill>
            <a:srgbClr val="FFF3DC"/>
          </a:solidFill>
          <a:ln w="19050">
            <a:solidFill>
              <a:srgbClr val="F5E6C8"/>
            </a:solidFill>
            <a:prstDash val="solid"/>
          </a:ln>
        </p:spPr>
      </p:sp>
      <p:sp>
        <p:nvSpPr>
          <p:cNvPr id="20" name="Text 18"/>
          <p:cNvSpPr/>
          <p:nvPr/>
        </p:nvSpPr>
        <p:spPr>
          <a:xfrm>
            <a:off x="4846320" y="2980944"/>
            <a:ext cx="36118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1" name="Text 19"/>
          <p:cNvSpPr/>
          <p:nvPr/>
        </p:nvSpPr>
        <p:spPr>
          <a:xfrm>
            <a:off x="4846320" y="3182112"/>
            <a:ext cx="3611880" cy="33832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student was partly right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"But they should have used... because..."</a:t>
            </a:r>
            <a:endParaRPr lang="en-US" sz="1200" dirty="0"/>
          </a:p>
        </p:txBody>
      </p:sp>
      <p:sp>
        <p:nvSpPr>
          <p:cNvPr id="22" name="Shape 20"/>
          <p:cNvSpPr/>
          <p:nvPr/>
        </p:nvSpPr>
        <p:spPr>
          <a:xfrm>
            <a:off x="365760" y="3657600"/>
            <a:ext cx="8412480" cy="1280160"/>
          </a:xfrm>
          <a:prstGeom prst="roundRect">
            <a:avLst>
              <a:gd name="adj" fmla="val 10714"/>
            </a:avLst>
          </a:prstGeom>
          <a:solidFill>
            <a:srgbClr val="1A2D5A"/>
          </a:solidFill>
          <a:ln/>
          <a:effectLst>
            <a:outerShdw sx="100000" sy="100000" kx="0" ky="0" algn="bl" rotWithShape="0" blurRad="101600" dist="38100" dir="8100000">
              <a:srgbClr val="000000">
                <a:alpha val="20000"/>
              </a:srgbClr>
            </a:outerShdw>
          </a:effectLst>
        </p:spPr>
      </p:sp>
      <p:sp>
        <p:nvSpPr>
          <p:cNvPr id="23" name="Text 21"/>
          <p:cNvSpPr/>
          <p:nvPr/>
        </p:nvSpPr>
        <p:spPr>
          <a:xfrm>
            <a:off x="548640" y="374904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4" name="Text 22"/>
          <p:cNvSpPr/>
          <p:nvPr/>
        </p:nvSpPr>
        <p:spPr>
          <a:xfrm>
            <a:off x="548640" y="4005072"/>
            <a:ext cx="8046720" cy="841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 physical map DOES show mountains — so why is this answer still wrong?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the difference between 'shows mountains' and 'shows how tall the mountain is'?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ONE word in the question tells you elevation is the right answer?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09728"/>
            <a:ext cx="8595360" cy="548640"/>
          </a:xfrm>
          <a:prstGeom prst="roundRect">
            <a:avLst>
              <a:gd name="adj" fmla="val 16667"/>
            </a:avLst>
          </a:prstGeom>
          <a:solidFill>
            <a:srgbClr val="0E1C42"/>
          </a:solidFill>
          <a:ln/>
        </p:spPr>
      </p:sp>
      <p:sp>
        <p:nvSpPr>
          <p:cNvPr id="3" name="Text 1"/>
          <p:cNvSpPr/>
          <p:nvPr/>
        </p:nvSpPr>
        <p:spPr>
          <a:xfrm>
            <a:off x="274320" y="109728"/>
            <a:ext cx="8595360" cy="548640"/>
          </a:xfrm>
          <a:prstGeom prst="rect">
            <a:avLst/>
          </a:prstGeom>
          <a:noFill/>
          <a:ln/>
        </p:spPr>
        <p:txBody>
          <a:bodyPr wrap="square" lIns="0" tIns="0" rIns="0" bIns="0"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THE TRICKY ONE — Debate This!</a:t>
            </a:r>
            <a:endParaRPr lang="en-US" sz="1400" dirty="0"/>
          </a:p>
        </p:txBody>
      </p:sp>
      <p:sp>
        <p:nvSpPr>
          <p:cNvPr id="4" name="Shape 2"/>
          <p:cNvSpPr/>
          <p:nvPr/>
        </p:nvSpPr>
        <p:spPr>
          <a:xfrm>
            <a:off x="274320" y="777240"/>
            <a:ext cx="4206240" cy="2926080"/>
          </a:xfrm>
          <a:prstGeom prst="roundRect">
            <a:avLst>
              <a:gd name="adj" fmla="val 3750"/>
            </a:avLst>
          </a:prstGeom>
          <a:solidFill>
            <a:srgbClr val="E2E8F4"/>
          </a:solidFill>
          <a:ln w="19050">
            <a:solidFill>
              <a:srgbClr val="B0B8CC"/>
            </a:solidFill>
            <a:prstDash val="dash"/>
          </a:ln>
        </p:spPr>
      </p:sp>
      <p:sp>
        <p:nvSpPr>
          <p:cNvPr id="5" name="Text 3"/>
          <p:cNvSpPr/>
          <p:nvPr/>
        </p:nvSpPr>
        <p:spPr>
          <a:xfrm>
            <a:off x="274320" y="777240"/>
            <a:ext cx="42062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11480" y="1051560"/>
            <a:ext cx="393192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Split image: left half shows a physical map of South America; right half shows an elevation map of the same region — side by side, unlabeled</a:t>
            </a:r>
            <a:endParaRPr lang="en-US" sz="1100" dirty="0"/>
          </a:p>
        </p:txBody>
      </p:sp>
      <p:sp>
        <p:nvSpPr>
          <p:cNvPr id="7" name="Shape 5"/>
          <p:cNvSpPr/>
          <p:nvPr/>
        </p:nvSpPr>
        <p:spPr>
          <a:xfrm>
            <a:off x="4663440" y="777240"/>
            <a:ext cx="4114800" cy="2057400"/>
          </a:xfrm>
          <a:prstGeom prst="roundRect">
            <a:avLst>
              <a:gd name="adj" fmla="val 5333"/>
            </a:avLst>
          </a:prstGeom>
          <a:solidFill>
            <a:srgbClr val="F0F2F8"/>
          </a:solidFill>
          <a:ln/>
        </p:spPr>
      </p:sp>
      <p:sp>
        <p:nvSpPr>
          <p:cNvPr id="8" name="Text 6"/>
          <p:cNvSpPr/>
          <p:nvPr/>
        </p:nvSpPr>
        <p:spPr>
          <a:xfrm>
            <a:off x="4846320" y="850392"/>
            <a:ext cx="374904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The Visitor's Question:</a:t>
            </a:r>
            <a:endParaRPr lang="en-US" sz="1100" dirty="0"/>
          </a:p>
        </p:txBody>
      </p:sp>
      <p:sp>
        <p:nvSpPr>
          <p:cNvPr id="9" name="Text 7"/>
          <p:cNvSpPr/>
          <p:nvPr/>
        </p:nvSpPr>
        <p:spPr>
          <a:xfrm>
            <a:off x="4846320" y="1124712"/>
            <a:ext cx="3749040" cy="658368"/>
          </a:xfrm>
          <a:prstGeom prst="rect">
            <a:avLst/>
          </a:prstGeom>
          <a:noFill/>
          <a:ln/>
        </p:spPr>
        <p:txBody>
          <a:bodyPr wrap="square" lIns="0" tIns="0" rIns="0" bIns="0"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"I want to see the mountains of the Andes in South America — where they are and how big they are."</a:t>
            </a:r>
            <a:endParaRPr lang="en-US" sz="1300" dirty="0"/>
          </a:p>
        </p:txBody>
      </p:sp>
      <p:sp>
        <p:nvSpPr>
          <p:cNvPr id="10" name="Text 8"/>
          <p:cNvSpPr/>
          <p:nvPr/>
        </p:nvSpPr>
        <p:spPr>
          <a:xfrm>
            <a:off x="4846320" y="1810512"/>
            <a:ext cx="3749040" cy="566928"/>
          </a:xfrm>
          <a:prstGeom prst="rect">
            <a:avLst/>
          </a:prstGeom>
          <a:noFill/>
          <a:ln/>
        </p:spPr>
        <p:txBody>
          <a:bodyPr wrap="square" lIns="0" tIns="0" rIns="0" bIns="0" rtlCol="0" anchor="ctr"/>
          <a:lstStyle/>
          <a:p>
            <a:pPr indent="0" marL="0">
              <a:buNone/>
            </a:pPr>
            <a:r>
              <a:rPr lang="en-US" sz="1250" dirty="0">
                <a:solidFill>
                  <a:srgbClr val="0E1C42"/>
                </a:solidFill>
                <a:latin typeface="Calibri" pitchFamily="34" charset="0"/>
                <a:ea typeface="Calibri" pitchFamily="34" charset="-122"/>
                <a:cs typeface="Calibri" pitchFamily="34" charset="-120"/>
              </a:rPr>
              <a:t>BOTH a physical map and an elevation map show mountains. Which one would you hand this visitor?</a:t>
            </a:r>
            <a:endParaRPr lang="en-US" sz="1250" dirty="0"/>
          </a:p>
        </p:txBody>
      </p:sp>
      <p:sp>
        <p:nvSpPr>
          <p:cNvPr id="11" name="Shape 9"/>
          <p:cNvSpPr/>
          <p:nvPr/>
        </p:nvSpPr>
        <p:spPr>
          <a:xfrm>
            <a:off x="4663440" y="2926080"/>
            <a:ext cx="4114800" cy="1143000"/>
          </a:xfrm>
          <a:prstGeom prst="roundRect">
            <a:avLst>
              <a:gd name="adj" fmla="val 9600"/>
            </a:avLst>
          </a:prstGeom>
          <a:solidFill>
            <a:srgbClr val="FFF3DC"/>
          </a:solidFill>
          <a:ln w="19050">
            <a:solidFill>
              <a:srgbClr val="F5E6C8"/>
            </a:solidFill>
            <a:prstDash val="solid"/>
          </a:ln>
        </p:spPr>
      </p:sp>
      <p:sp>
        <p:nvSpPr>
          <p:cNvPr id="12" name="Text 10"/>
          <p:cNvSpPr/>
          <p:nvPr/>
        </p:nvSpPr>
        <p:spPr>
          <a:xfrm>
            <a:off x="4800600" y="2980944"/>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4800600" y="3182112"/>
            <a:ext cx="3840480" cy="822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choose... because the stronger clue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NOT choose... because..."</a:t>
            </a:r>
            <a:endParaRPr lang="en-US" sz="1200" dirty="0"/>
          </a:p>
        </p:txBody>
      </p:sp>
      <p:sp>
        <p:nvSpPr>
          <p:cNvPr id="14" name="Shape 12"/>
          <p:cNvSpPr/>
          <p:nvPr/>
        </p:nvSpPr>
        <p:spPr>
          <a:xfrm>
            <a:off x="274320" y="3822192"/>
            <a:ext cx="8321040" cy="1170432"/>
          </a:xfrm>
          <a:prstGeom prst="roundRect">
            <a:avLst>
              <a:gd name="adj" fmla="val 11719"/>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457200" y="3913632"/>
            <a:ext cx="79552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457200" y="4169664"/>
            <a:ext cx="7955280" cy="73152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the question ask WHERE the mountains are, or HOW BIG — or both?</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can only give ONE map, which clue in the question helps you choose?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both answers be defended? What would make one stronger?</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365760" y="164592"/>
            <a:ext cx="8412480" cy="475488"/>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Map Makers Then &amp; Now</a:t>
            </a:r>
            <a:endParaRPr lang="en-US" sz="3000" dirty="0"/>
          </a:p>
        </p:txBody>
      </p:sp>
      <p:sp>
        <p:nvSpPr>
          <p:cNvPr id="3" name="Shape 1"/>
          <p:cNvSpPr/>
          <p:nvPr/>
        </p:nvSpPr>
        <p:spPr>
          <a:xfrm>
            <a:off x="365760" y="658368"/>
            <a:ext cx="8412480" cy="0"/>
          </a:xfrm>
          <a:prstGeom prst="line">
            <a:avLst/>
          </a:prstGeom>
          <a:noFill/>
          <a:ln w="25400">
            <a:solidFill>
              <a:srgbClr val="D4943A"/>
            </a:solidFill>
            <a:prstDash val="solid"/>
          </a:ln>
        </p:spPr>
      </p:sp>
      <p:sp>
        <p:nvSpPr>
          <p:cNvPr id="4" name="Shape 2"/>
          <p:cNvSpPr/>
          <p:nvPr/>
        </p:nvSpPr>
        <p:spPr>
          <a:xfrm>
            <a:off x="365760" y="777240"/>
            <a:ext cx="8412480" cy="1234440"/>
          </a:xfrm>
          <a:prstGeom prst="roundRect">
            <a:avLst>
              <a:gd name="adj" fmla="val 8889"/>
            </a:avLst>
          </a:prstGeom>
          <a:solidFill>
            <a:srgbClr val="0E1C42"/>
          </a:solidFill>
          <a:ln/>
        </p:spPr>
      </p:sp>
      <p:sp>
        <p:nvSpPr>
          <p:cNvPr id="5" name="Text 3"/>
          <p:cNvSpPr/>
          <p:nvPr/>
        </p:nvSpPr>
        <p:spPr>
          <a:xfrm>
            <a:off x="548640" y="850392"/>
            <a:ext cx="82296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DID YOU KNOW?</a:t>
            </a:r>
            <a:endParaRPr lang="en-US" sz="900" dirty="0"/>
          </a:p>
        </p:txBody>
      </p:sp>
      <p:sp>
        <p:nvSpPr>
          <p:cNvPr id="6" name="Text 4"/>
          <p:cNvSpPr/>
          <p:nvPr/>
        </p:nvSpPr>
        <p:spPr>
          <a:xfrm>
            <a:off x="640080" y="1124712"/>
            <a:ext cx="7863840" cy="68580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The Mariana Trench is so deep that if you put Mount Everest inside it, the top would still be more than a mile underwater. Elevation maps helped us discover this!</a:t>
            </a:r>
            <a:endParaRPr lang="en-US" sz="1400" dirty="0"/>
          </a:p>
        </p:txBody>
      </p:sp>
      <p:sp>
        <p:nvSpPr>
          <p:cNvPr id="7" name="Shape 5"/>
          <p:cNvSpPr/>
          <p:nvPr/>
        </p:nvSpPr>
        <p:spPr>
          <a:xfrm>
            <a:off x="365760" y="2148840"/>
            <a:ext cx="4297680" cy="2606040"/>
          </a:xfrm>
          <a:prstGeom prst="roundRect">
            <a:avLst>
              <a:gd name="adj" fmla="val 4211"/>
            </a:avLst>
          </a:prstGeom>
          <a:solidFill>
            <a:srgbClr val="E2E8F4"/>
          </a:solidFill>
          <a:ln w="19050">
            <a:solidFill>
              <a:srgbClr val="B0B8CC"/>
            </a:solidFill>
            <a:prstDash val="dash"/>
          </a:ln>
        </p:spPr>
      </p:sp>
      <p:sp>
        <p:nvSpPr>
          <p:cNvPr id="8" name="Text 6"/>
          <p:cNvSpPr/>
          <p:nvPr/>
        </p:nvSpPr>
        <p:spPr>
          <a:xfrm>
            <a:off x="365760" y="2148840"/>
            <a:ext cx="42976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502920" y="2423160"/>
            <a:ext cx="4023360" cy="2240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Split panel: LEFT — old explorer with hand-drawn map on parchment; RIGHT — modern satellite image being converted into a digital map on a computer screen</a:t>
            </a:r>
            <a:endParaRPr lang="en-US" sz="1100" dirty="0"/>
          </a:p>
        </p:txBody>
      </p:sp>
      <p:sp>
        <p:nvSpPr>
          <p:cNvPr id="10" name="Shape 8"/>
          <p:cNvSpPr/>
          <p:nvPr/>
        </p:nvSpPr>
        <p:spPr>
          <a:xfrm>
            <a:off x="4846320" y="2148840"/>
            <a:ext cx="3931920" cy="2606040"/>
          </a:xfrm>
          <a:prstGeom prst="roundRect">
            <a:avLst>
              <a:gd name="adj" fmla="val 4211"/>
            </a:avLst>
          </a:prstGeom>
          <a:solidFill>
            <a:srgbClr val="FFFFFF"/>
          </a:solidFill>
          <a:ln/>
          <a:effectLst>
            <a:outerShdw sx="100000" sy="100000" kx="0" ky="0" algn="bl" rotWithShape="0" blurRad="50800" dist="25400" dir="8100000">
              <a:srgbClr val="000000">
                <a:alpha val="8000"/>
              </a:srgbClr>
            </a:outerShdw>
          </a:effectLst>
        </p:spPr>
      </p:sp>
      <p:sp>
        <p:nvSpPr>
          <p:cNvPr id="11" name="Text 9"/>
          <p:cNvSpPr/>
          <p:nvPr/>
        </p:nvSpPr>
        <p:spPr>
          <a:xfrm>
            <a:off x="5029200" y="2240280"/>
            <a:ext cx="3566160" cy="256032"/>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THEN:</a:t>
            </a:r>
            <a:endParaRPr lang="en-US" sz="1100" dirty="0"/>
          </a:p>
        </p:txBody>
      </p:sp>
      <p:sp>
        <p:nvSpPr>
          <p:cNvPr id="12" name="Text 10"/>
          <p:cNvSpPr/>
          <p:nvPr/>
        </p:nvSpPr>
        <p:spPr>
          <a:xfrm>
            <a:off x="5029200" y="2514600"/>
            <a:ext cx="3566160" cy="640080"/>
          </a:xfrm>
          <a:prstGeom prst="rect">
            <a:avLst/>
          </a:prstGeom>
          <a:noFill/>
          <a:ln/>
        </p:spPr>
        <p:txBody>
          <a:bodyPr wrap="square" lIns="0" tIns="0" rIns="0" bIns="0" rtlCol="0" anchor="ctr"/>
          <a:lstStyle/>
          <a:p>
            <a:pPr indent="0" marL="0">
              <a:buNone/>
            </a:pPr>
            <a:r>
              <a:rPr lang="en-US" sz="1250" dirty="0">
                <a:solidFill>
                  <a:srgbClr val="0E1C42"/>
                </a:solidFill>
                <a:latin typeface="Calibri" pitchFamily="34" charset="0"/>
                <a:ea typeface="Calibri" pitchFamily="34" charset="-122"/>
                <a:cs typeface="Calibri" pitchFamily="34" charset="-120"/>
              </a:rPr>
              <a:t>Mapmakers had to travel to faraway places just to draw what the land looked like. One map could take years.</a:t>
            </a:r>
            <a:endParaRPr lang="en-US" sz="1250" dirty="0"/>
          </a:p>
        </p:txBody>
      </p:sp>
      <p:sp>
        <p:nvSpPr>
          <p:cNvPr id="13" name="Text 11"/>
          <p:cNvSpPr/>
          <p:nvPr/>
        </p:nvSpPr>
        <p:spPr>
          <a:xfrm>
            <a:off x="5029200" y="3182112"/>
            <a:ext cx="3566160" cy="256032"/>
          </a:xfrm>
          <a:prstGeom prst="rect">
            <a:avLst/>
          </a:prstGeom>
          <a:noFill/>
          <a:ln/>
        </p:spPr>
        <p:txBody>
          <a:bodyPr wrap="square" lIns="0" tIns="0" rIns="0" bIns="0" rtlCol="0" anchor="ctr"/>
          <a:lstStyle/>
          <a:p>
            <a:pPr indent="0" marL="0">
              <a:buNone/>
            </a:pPr>
            <a:r>
              <a:rPr lang="en-US" sz="1100" b="1" dirty="0">
                <a:solidFill>
                  <a:srgbClr val="1A8A7D"/>
                </a:solidFill>
                <a:latin typeface="Calibri" pitchFamily="34" charset="0"/>
                <a:ea typeface="Calibri" pitchFamily="34" charset="-122"/>
                <a:cs typeface="Calibri" pitchFamily="34" charset="-120"/>
              </a:rPr>
              <a:t>NOW:</a:t>
            </a:r>
            <a:endParaRPr lang="en-US" sz="1100" dirty="0"/>
          </a:p>
        </p:txBody>
      </p:sp>
      <p:sp>
        <p:nvSpPr>
          <p:cNvPr id="14" name="Text 12"/>
          <p:cNvSpPr/>
          <p:nvPr/>
        </p:nvSpPr>
        <p:spPr>
          <a:xfrm>
            <a:off x="5029200" y="3456432"/>
            <a:ext cx="3566160" cy="566928"/>
          </a:xfrm>
          <a:prstGeom prst="rect">
            <a:avLst/>
          </a:prstGeom>
          <a:noFill/>
          <a:ln/>
        </p:spPr>
        <p:txBody>
          <a:bodyPr wrap="square" lIns="0" tIns="0" rIns="0" bIns="0" rtlCol="0" anchor="ctr"/>
          <a:lstStyle/>
          <a:p>
            <a:pPr indent="0" marL="0">
              <a:buNone/>
            </a:pPr>
            <a:r>
              <a:rPr lang="en-US" sz="1250" dirty="0">
                <a:solidFill>
                  <a:srgbClr val="0E1C42"/>
                </a:solidFill>
                <a:latin typeface="Calibri" pitchFamily="34" charset="0"/>
                <a:ea typeface="Calibri" pitchFamily="34" charset="-122"/>
                <a:cs typeface="Calibri" pitchFamily="34" charset="-120"/>
              </a:rPr>
              <a:t>Satellites take photos from space. Computers turn them into detailed maps in seconds.</a:t>
            </a:r>
            <a:endParaRPr lang="en-US" sz="1250" dirty="0"/>
          </a:p>
        </p:txBody>
      </p:sp>
      <p:sp>
        <p:nvSpPr>
          <p:cNvPr id="15" name="Shape 13"/>
          <p:cNvSpPr/>
          <p:nvPr/>
        </p:nvSpPr>
        <p:spPr>
          <a:xfrm>
            <a:off x="5029200" y="4050792"/>
            <a:ext cx="3566160" cy="566928"/>
          </a:xfrm>
          <a:prstGeom prst="roundRect">
            <a:avLst>
              <a:gd name="adj" fmla="val 19355"/>
            </a:avLst>
          </a:prstGeom>
          <a:solidFill>
            <a:srgbClr val="FFF3DC"/>
          </a:solidFill>
          <a:ln w="19050">
            <a:solidFill>
              <a:srgbClr val="F5E6C8"/>
            </a:solidFill>
            <a:prstDash val="solid"/>
          </a:ln>
        </p:spPr>
      </p:sp>
      <p:sp>
        <p:nvSpPr>
          <p:cNvPr id="16" name="Text 14"/>
          <p:cNvSpPr/>
          <p:nvPr/>
        </p:nvSpPr>
        <p:spPr>
          <a:xfrm>
            <a:off x="5166360" y="4105656"/>
            <a:ext cx="32918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166360" y="4306824"/>
            <a:ext cx="3291840" cy="24688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stayed the SAME about why people need maps? What changed?"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oundRect">
            <a:avLst/>
          </a:prstGeom>
          <a:solidFill>
            <a:srgbClr val="0E1C42"/>
          </a:solidFill>
          <a:ln/>
        </p:spPr>
      </p:sp>
      <p:sp>
        <p:nvSpPr>
          <p:cNvPr id="3" name="Text 1"/>
          <p:cNvSpPr/>
          <p:nvPr/>
        </p:nvSpPr>
        <p:spPr>
          <a:xfrm>
            <a:off x="274320" y="0"/>
            <a:ext cx="8595360" cy="566928"/>
          </a:xfrm>
          <a:prstGeom prst="rect">
            <a:avLst/>
          </a:prstGeom>
          <a:noFill/>
          <a:ln/>
        </p:spPr>
        <p:txBody>
          <a:bodyPr wrap="square" lIns="0" tIns="0" rIns="0" bIns="0" rtlCol="0" anchor="ctr"/>
          <a:lstStyle/>
          <a:p>
            <a:pPr algn="ctr" indent="0" marL="0">
              <a:buNone/>
            </a:pPr>
            <a:r>
              <a:rPr lang="en-US" sz="1300" b="1" spc="150" kern="0" dirty="0">
                <a:solidFill>
                  <a:srgbClr val="55C8E8"/>
                </a:solidFill>
                <a:latin typeface="Calibri" pitchFamily="34" charset="0"/>
                <a:ea typeface="Calibri" pitchFamily="34" charset="-122"/>
                <a:cs typeface="Calibri" pitchFamily="34" charset="-120"/>
              </a:rPr>
              <a:t>YOUR MAP SORTING EVIDENCE — Assignment Preview</a:t>
            </a:r>
            <a:endParaRPr lang="en-US" sz="1300" dirty="0"/>
          </a:p>
        </p:txBody>
      </p:sp>
      <p:sp>
        <p:nvSpPr>
          <p:cNvPr id="4" name="Shape 2"/>
          <p:cNvSpPr/>
          <p:nvPr/>
        </p:nvSpPr>
        <p:spPr>
          <a:xfrm>
            <a:off x="274320" y="685800"/>
            <a:ext cx="4114800" cy="1965960"/>
          </a:xfrm>
          <a:prstGeom prst="roundRect">
            <a:avLst>
              <a:gd name="adj" fmla="val 5581"/>
            </a:avLst>
          </a:prstGeom>
          <a:solidFill>
            <a:srgbClr val="F0F2F8"/>
          </a:solidFill>
          <a:ln/>
        </p:spPr>
      </p:sp>
      <p:sp>
        <p:nvSpPr>
          <p:cNvPr id="5" name="Text 3"/>
          <p:cNvSpPr/>
          <p:nvPr/>
        </p:nvSpPr>
        <p:spPr>
          <a:xfrm>
            <a:off x="457200" y="758952"/>
            <a:ext cx="3749040" cy="256032"/>
          </a:xfrm>
          <a:prstGeom prst="rect">
            <a:avLst/>
          </a:prstGeom>
          <a:noFill/>
          <a:ln/>
        </p:spPr>
        <p:txBody>
          <a:bodyPr wrap="square" lIns="0" tIns="0" rIns="0" bIns="0"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Evidence Question 1</a:t>
            </a:r>
            <a:endParaRPr lang="en-US" sz="1000" dirty="0"/>
          </a:p>
        </p:txBody>
      </p:sp>
      <p:sp>
        <p:nvSpPr>
          <p:cNvPr id="6" name="Text 4"/>
          <p:cNvSpPr/>
          <p:nvPr/>
        </p:nvSpPr>
        <p:spPr>
          <a:xfrm>
            <a:off x="457200" y="1033272"/>
            <a:ext cx="3749040" cy="777240"/>
          </a:xfrm>
          <a:prstGeom prst="rect">
            <a:avLst/>
          </a:prstGeom>
          <a:noFill/>
          <a:ln/>
        </p:spPr>
        <p:txBody>
          <a:bodyPr wrap="square" lIns="0" tIns="0" rIns="0" bIns="0" rtlCol="0" anchor="ctr"/>
          <a:lstStyle/>
          <a:p>
            <a:pPr indent="0" marL="0">
              <a:buNone/>
            </a:pPr>
            <a:r>
              <a:rPr lang="en-US" sz="1250" dirty="0">
                <a:solidFill>
                  <a:srgbClr val="0E1C42"/>
                </a:solidFill>
                <a:latin typeface="Calibri" pitchFamily="34" charset="0"/>
                <a:ea typeface="Calibri" pitchFamily="34" charset="-122"/>
                <a:cs typeface="Calibri" pitchFamily="34" charset="-120"/>
              </a:rPr>
              <a:t>Pick TWO of the four map types. For each one, describe what it shows and give an example of a question it could answer.</a:t>
            </a:r>
            <a:endParaRPr lang="en-US" sz="1250" dirty="0"/>
          </a:p>
        </p:txBody>
      </p:sp>
      <p:sp>
        <p:nvSpPr>
          <p:cNvPr id="7" name="Shape 5"/>
          <p:cNvSpPr/>
          <p:nvPr/>
        </p:nvSpPr>
        <p:spPr>
          <a:xfrm>
            <a:off x="457200" y="1828800"/>
            <a:ext cx="3749040" cy="685800"/>
          </a:xfrm>
          <a:prstGeom prst="roundRect">
            <a:avLst>
              <a:gd name="adj" fmla="val 10667"/>
            </a:avLst>
          </a:prstGeom>
          <a:solidFill>
            <a:srgbClr val="E3F8ED"/>
          </a:solidFill>
          <a:ln/>
        </p:spPr>
      </p:sp>
      <p:sp>
        <p:nvSpPr>
          <p:cNvPr id="8" name="Text 6"/>
          <p:cNvSpPr/>
          <p:nvPr/>
        </p:nvSpPr>
        <p:spPr>
          <a:xfrm>
            <a:off x="548640" y="1874520"/>
            <a:ext cx="3566160" cy="566928"/>
          </a:xfrm>
          <a:prstGeom prst="rect">
            <a:avLst/>
          </a:prstGeom>
          <a:noFill/>
          <a:ln/>
        </p:spPr>
        <p:txBody>
          <a:bodyPr wrap="square" lIns="0" tIns="0" rIns="0" bIns="0" rtlCol="0" anchor="ctr"/>
          <a:lstStyle/>
          <a:p>
            <a:pPr indent="0" marL="0">
              <a:buNone/>
            </a:pPr>
            <a:r>
              <a:rPr lang="en-US" sz="1100" i="1" dirty="0">
                <a:solidFill>
                  <a:srgbClr val="1A5A2A"/>
                </a:solidFill>
                <a:latin typeface="Calibri" pitchFamily="34" charset="0"/>
                <a:ea typeface="Calibri" pitchFamily="34" charset="-122"/>
                <a:cs typeface="Calibri" pitchFamily="34" charset="-120"/>
              </a:rPr>
              <a:t>Tip: Name each map type. Say what it shows. Give a question it answers.</a:t>
            </a:r>
            <a:endParaRPr lang="en-US" sz="1100" dirty="0"/>
          </a:p>
        </p:txBody>
      </p:sp>
      <p:sp>
        <p:nvSpPr>
          <p:cNvPr id="9" name="Shape 7"/>
          <p:cNvSpPr/>
          <p:nvPr/>
        </p:nvSpPr>
        <p:spPr>
          <a:xfrm>
            <a:off x="4572000" y="685800"/>
            <a:ext cx="4251960" cy="1965960"/>
          </a:xfrm>
          <a:prstGeom prst="roundRect">
            <a:avLst>
              <a:gd name="adj" fmla="val 5581"/>
            </a:avLst>
          </a:prstGeom>
          <a:solidFill>
            <a:srgbClr val="F0F2F8"/>
          </a:solidFill>
          <a:ln/>
        </p:spPr>
      </p:sp>
      <p:sp>
        <p:nvSpPr>
          <p:cNvPr id="10" name="Text 8"/>
          <p:cNvSpPr/>
          <p:nvPr/>
        </p:nvSpPr>
        <p:spPr>
          <a:xfrm>
            <a:off x="4754880" y="758952"/>
            <a:ext cx="3886200" cy="256032"/>
          </a:xfrm>
          <a:prstGeom prst="rect">
            <a:avLst/>
          </a:prstGeom>
          <a:noFill/>
          <a:ln/>
        </p:spPr>
        <p:txBody>
          <a:bodyPr wrap="square" lIns="0" tIns="0" rIns="0" bIns="0"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Evidence Question 2</a:t>
            </a:r>
            <a:endParaRPr lang="en-US" sz="1000" dirty="0"/>
          </a:p>
        </p:txBody>
      </p:sp>
      <p:sp>
        <p:nvSpPr>
          <p:cNvPr id="11" name="Text 9"/>
          <p:cNvSpPr/>
          <p:nvPr/>
        </p:nvSpPr>
        <p:spPr>
          <a:xfrm>
            <a:off x="4754880" y="1033272"/>
            <a:ext cx="3886200" cy="777240"/>
          </a:xfrm>
          <a:prstGeom prst="rect">
            <a:avLst/>
          </a:prstGeom>
          <a:noFill/>
          <a:ln/>
        </p:spPr>
        <p:txBody>
          <a:bodyPr wrap="square" lIns="0" tIns="0" rIns="0" bIns="0" rtlCol="0" anchor="ctr"/>
          <a:lstStyle/>
          <a:p>
            <a:pPr indent="0" marL="0">
              <a:buNone/>
            </a:pPr>
            <a:r>
              <a:rPr lang="en-US" sz="1250" dirty="0">
                <a:solidFill>
                  <a:srgbClr val="0E1C42"/>
                </a:solidFill>
                <a:latin typeface="Calibri" pitchFamily="34" charset="0"/>
                <a:ea typeface="Calibri" pitchFamily="34" charset="-122"/>
                <a:cs typeface="Calibri" pitchFamily="34" charset="-120"/>
              </a:rPr>
              <a:t>Why can't one map answer every question? What would happen if a museum only had one type of map for all its visitors?</a:t>
            </a:r>
            <a:endParaRPr lang="en-US" sz="1250" dirty="0"/>
          </a:p>
        </p:txBody>
      </p:sp>
      <p:sp>
        <p:nvSpPr>
          <p:cNvPr id="12" name="Shape 10"/>
          <p:cNvSpPr/>
          <p:nvPr/>
        </p:nvSpPr>
        <p:spPr>
          <a:xfrm>
            <a:off x="4754880" y="1828800"/>
            <a:ext cx="3886200" cy="685800"/>
          </a:xfrm>
          <a:prstGeom prst="roundRect">
            <a:avLst>
              <a:gd name="adj" fmla="val 10667"/>
            </a:avLst>
          </a:prstGeom>
          <a:solidFill>
            <a:srgbClr val="E3F8ED"/>
          </a:solidFill>
          <a:ln/>
        </p:spPr>
      </p:sp>
      <p:sp>
        <p:nvSpPr>
          <p:cNvPr id="13" name="Text 11"/>
          <p:cNvSpPr/>
          <p:nvPr/>
        </p:nvSpPr>
        <p:spPr>
          <a:xfrm>
            <a:off x="4846320" y="1874520"/>
            <a:ext cx="3703320" cy="566928"/>
          </a:xfrm>
          <a:prstGeom prst="rect">
            <a:avLst/>
          </a:prstGeom>
          <a:noFill/>
          <a:ln/>
        </p:spPr>
        <p:txBody>
          <a:bodyPr wrap="square" lIns="0" tIns="0" rIns="0" bIns="0" rtlCol="0" anchor="ctr"/>
          <a:lstStyle/>
          <a:p>
            <a:pPr indent="0" marL="0">
              <a:buNone/>
            </a:pPr>
            <a:r>
              <a:rPr lang="en-US" sz="1100" i="1" dirty="0">
                <a:solidFill>
                  <a:srgbClr val="1A5A2A"/>
                </a:solidFill>
                <a:latin typeface="Calibri" pitchFamily="34" charset="0"/>
                <a:ea typeface="Calibri" pitchFamily="34" charset="-122"/>
                <a:cs typeface="Calibri" pitchFamily="34" charset="-120"/>
              </a:rPr>
              <a:t>Tip: Think about what we discussed — different questions need different maps.</a:t>
            </a:r>
            <a:endParaRPr lang="en-US" sz="1100" dirty="0"/>
          </a:p>
        </p:txBody>
      </p:sp>
      <p:sp>
        <p:nvSpPr>
          <p:cNvPr id="14" name="Shape 12"/>
          <p:cNvSpPr/>
          <p:nvPr/>
        </p:nvSpPr>
        <p:spPr>
          <a:xfrm>
            <a:off x="274320" y="2788920"/>
            <a:ext cx="8549640" cy="1920240"/>
          </a:xfrm>
          <a:prstGeom prst="roundRect">
            <a:avLst>
              <a:gd name="adj" fmla="val 5714"/>
            </a:avLst>
          </a:prstGeom>
          <a:solidFill>
            <a:srgbClr val="FFF3DC"/>
          </a:solidFill>
          <a:ln w="19050">
            <a:solidFill>
              <a:srgbClr val="D4943A"/>
            </a:solidFill>
            <a:prstDash val="solid"/>
          </a:ln>
        </p:spPr>
      </p:sp>
      <p:sp>
        <p:nvSpPr>
          <p:cNvPr id="15" name="Text 13"/>
          <p:cNvSpPr/>
          <p:nvPr/>
        </p:nvSpPr>
        <p:spPr>
          <a:xfrm>
            <a:off x="457200" y="2862072"/>
            <a:ext cx="8229600" cy="274320"/>
          </a:xfrm>
          <a:prstGeom prst="rect">
            <a:avLst/>
          </a:prstGeom>
          <a:noFill/>
          <a:ln/>
        </p:spPr>
        <p:txBody>
          <a:bodyPr wrap="square" lIns="0" tIns="0" rIns="0" bIns="0" rtlCol="0" anchor="ctr"/>
          <a:lstStyle/>
          <a:p>
            <a:pPr indent="0" marL="0">
              <a:buNone/>
            </a:pPr>
            <a:r>
              <a:rPr lang="en-US" sz="1200" b="1" spc="100" kern="0" dirty="0">
                <a:solidFill>
                  <a:srgbClr val="D4943A"/>
                </a:solidFill>
                <a:latin typeface="Calibri" pitchFamily="34" charset="0"/>
                <a:ea typeface="Calibri" pitchFamily="34" charset="-122"/>
                <a:cs typeface="Calibri" pitchFamily="34" charset="-120"/>
              </a:rPr>
              <a:t>Curator Task: Map Recommendation</a:t>
            </a:r>
            <a:endParaRPr lang="en-US" sz="1200" dirty="0"/>
          </a:p>
        </p:txBody>
      </p:sp>
      <p:sp>
        <p:nvSpPr>
          <p:cNvPr id="16" name="Text 14"/>
          <p:cNvSpPr/>
          <p:nvPr/>
        </p:nvSpPr>
        <p:spPr>
          <a:xfrm>
            <a:off x="457200" y="3154680"/>
            <a:ext cx="8092440" cy="91440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A visitor asks: "I want to find out where the biggest mountains are in South America."</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Write 2-3 sentences: Which type of map would you hand them? Why is that map BETTER for their question than the other types?</a:t>
            </a:r>
            <a:endParaRPr lang="en-US" sz="1300" dirty="0"/>
          </a:p>
        </p:txBody>
      </p:sp>
      <p:sp>
        <p:nvSpPr>
          <p:cNvPr id="17" name="Shape 15"/>
          <p:cNvSpPr/>
          <p:nvPr/>
        </p:nvSpPr>
        <p:spPr>
          <a:xfrm>
            <a:off x="457200" y="4114800"/>
            <a:ext cx="8092440" cy="384048"/>
          </a:xfrm>
          <a:prstGeom prst="roundRect">
            <a:avLst>
              <a:gd name="adj" fmla="val 19048"/>
            </a:avLst>
          </a:prstGeom>
          <a:solidFill>
            <a:srgbClr val="0E1C42"/>
          </a:solidFill>
          <a:ln/>
        </p:spPr>
      </p:sp>
      <p:sp>
        <p:nvSpPr>
          <p:cNvPr id="18" name="Text 16"/>
          <p:cNvSpPr/>
          <p:nvPr/>
        </p:nvSpPr>
        <p:spPr>
          <a:xfrm>
            <a:off x="548640" y="4114800"/>
            <a:ext cx="7909560" cy="384048"/>
          </a:xfrm>
          <a:prstGeom prst="rect">
            <a:avLst/>
          </a:prstGeom>
          <a:noFill/>
          <a:ln/>
        </p:spPr>
        <p:txBody>
          <a:bodyPr wrap="square" lIns="0" tIns="0" rIns="0" bIns="0" rtlCol="0" anchor="ctr"/>
          <a:lstStyle/>
          <a:p>
            <a:pPr algn="ctr" indent="0" marL="0">
              <a:buNone/>
            </a:pPr>
            <a:r>
              <a:rPr lang="en-US" sz="1100" dirty="0">
                <a:solidFill>
                  <a:srgbClr val="55C8E8"/>
                </a:solidFill>
                <a:latin typeface="Calibri" pitchFamily="34" charset="0"/>
                <a:ea typeface="Calibri" pitchFamily="34" charset="-122"/>
                <a:cs typeface="Calibri" pitchFamily="34" charset="-120"/>
              </a:rPr>
              <a:t>Name the map type — Explain what it shows — Tell why it fits better than the other three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365760" y="228600"/>
            <a:ext cx="8412480" cy="320040"/>
          </a:xfrm>
          <a:prstGeom prst="rect">
            <a:avLst/>
          </a:prstGeom>
          <a:noFill/>
          <a:ln/>
        </p:spPr>
        <p:txBody>
          <a:bodyPr wrap="square" lIns="0" tIns="0" rIns="0" bIns="0" rtlCol="0" anchor="ctr"/>
          <a:lstStyle/>
          <a:p>
            <a:pPr algn="ctr" indent="0" marL="0">
              <a:buNone/>
            </a:pPr>
            <a:r>
              <a:rPr lang="en-US" sz="1000" b="1" spc="250" kern="0" dirty="0">
                <a:solidFill>
                  <a:srgbClr val="55C8E8"/>
                </a:solidFill>
                <a:latin typeface="Calibri" pitchFamily="34" charset="0"/>
                <a:ea typeface="Calibri" pitchFamily="34" charset="-122"/>
                <a:cs typeface="Calibri" pitchFamily="34" charset="-120"/>
              </a:rPr>
              <a:t>MISSION COMPLETE</a:t>
            </a:r>
            <a:endParaRPr lang="en-US" sz="1000" dirty="0"/>
          </a:p>
        </p:txBody>
      </p:sp>
      <p:sp>
        <p:nvSpPr>
          <p:cNvPr id="5" name="Text 3"/>
          <p:cNvSpPr/>
          <p:nvPr/>
        </p:nvSpPr>
        <p:spPr>
          <a:xfrm>
            <a:off x="365760" y="548640"/>
            <a:ext cx="8412480" cy="1371600"/>
          </a:xfrm>
          <a:prstGeom prst="rect">
            <a:avLst/>
          </a:prstGeom>
          <a:noFill/>
          <a:ln/>
        </p:spPr>
        <p:txBody>
          <a:bodyPr wrap="square" lIns="0" tIns="0" rIns="0" bIns="0" rtlCol="0" anchor="ctr"/>
          <a:lstStyle/>
          <a:p>
            <a:pPr algn="ctr" indent="0" marL="0">
              <a:buNone/>
            </a:pPr>
            <a:r>
              <a:rPr lang="en-US" sz="4600" b="1" dirty="0">
                <a:solidFill>
                  <a:srgbClr val="D4943A"/>
                </a:solidFill>
                <a:latin typeface="Cambria" pitchFamily="34" charset="0"/>
                <a:ea typeface="Cambria" pitchFamily="34" charset="-122"/>
                <a:cs typeface="Cambria" pitchFamily="34" charset="-120"/>
              </a:rPr>
              <a:t>Great Work,</a:t>
            </a:r>
            <a:endParaRPr lang="en-US" sz="4600" dirty="0"/>
          </a:p>
          <a:p>
            <a:pPr algn="ctr" indent="0" marL="0">
              <a:buNone/>
            </a:pPr>
            <a:r>
              <a:rPr lang="en-US" sz="4600" b="1" dirty="0">
                <a:solidFill>
                  <a:srgbClr val="D4943A"/>
                </a:solidFill>
                <a:latin typeface="Cambria" pitchFamily="34" charset="0"/>
                <a:ea typeface="Cambria" pitchFamily="34" charset="-122"/>
                <a:cs typeface="Cambria" pitchFamily="34" charset="-120"/>
              </a:rPr>
              <a:t>Map Curator!</a:t>
            </a:r>
            <a:endParaRPr lang="en-US" sz="4600" dirty="0"/>
          </a:p>
        </p:txBody>
      </p:sp>
      <p:sp>
        <p:nvSpPr>
          <p:cNvPr id="6" name="Text 4"/>
          <p:cNvSpPr/>
          <p:nvPr/>
        </p:nvSpPr>
        <p:spPr>
          <a:xfrm>
            <a:off x="365760" y="1965960"/>
            <a:ext cx="841248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The Mixed-Up Drawers — SORTED!</a:t>
            </a:r>
            <a:endParaRPr lang="en-US" sz="1600" dirty="0"/>
          </a:p>
        </p:txBody>
      </p:sp>
      <p:sp>
        <p:nvSpPr>
          <p:cNvPr id="7" name="Shape 5"/>
          <p:cNvSpPr/>
          <p:nvPr/>
        </p:nvSpPr>
        <p:spPr>
          <a:xfrm>
            <a:off x="502920" y="2487168"/>
            <a:ext cx="1828800" cy="777240"/>
          </a:xfrm>
          <a:prstGeom prst="roundRect">
            <a:avLst>
              <a:gd name="adj" fmla="val 11765"/>
            </a:avLst>
          </a:prstGeom>
          <a:solidFill>
            <a:srgbClr val="1A2D5A"/>
          </a:solidFill>
          <a:ln/>
        </p:spPr>
      </p:sp>
      <p:sp>
        <p:nvSpPr>
          <p:cNvPr id="8" name="Text 6"/>
          <p:cNvSpPr/>
          <p:nvPr/>
        </p:nvSpPr>
        <p:spPr>
          <a:xfrm>
            <a:off x="502920" y="2542032"/>
            <a:ext cx="1828800" cy="274320"/>
          </a:xfrm>
          <a:prstGeom prst="rect">
            <a:avLst/>
          </a:prstGeom>
          <a:noFill/>
          <a:ln/>
        </p:spPr>
        <p:txBody>
          <a:bodyPr wrap="square" lIns="0" tIns="0" rIns="0" bIns="0" rtlCol="0" anchor="ctr"/>
          <a:lstStyle/>
          <a:p>
            <a:pPr algn="ctr" indent="0" marL="0">
              <a:buNone/>
            </a:pPr>
            <a:r>
              <a:rPr lang="en-US" sz="1200" b="1" dirty="0">
                <a:solidFill>
                  <a:srgbClr val="D4943A"/>
                </a:solidFill>
                <a:latin typeface="Cambria" pitchFamily="34" charset="0"/>
                <a:ea typeface="Cambria" pitchFamily="34" charset="-122"/>
                <a:cs typeface="Cambria" pitchFamily="34" charset="-120"/>
              </a:rPr>
              <a:t>Physical</a:t>
            </a:r>
            <a:endParaRPr lang="en-US" sz="1200" dirty="0"/>
          </a:p>
        </p:txBody>
      </p:sp>
      <p:sp>
        <p:nvSpPr>
          <p:cNvPr id="9" name="Text 7"/>
          <p:cNvSpPr/>
          <p:nvPr/>
        </p:nvSpPr>
        <p:spPr>
          <a:xfrm>
            <a:off x="502920" y="2816352"/>
            <a:ext cx="1828800" cy="256032"/>
          </a:xfrm>
          <a:prstGeom prst="rect">
            <a:avLst/>
          </a:prstGeom>
          <a:noFill/>
          <a:ln/>
        </p:spPr>
        <p:txBody>
          <a:bodyPr wrap="square" lIns="0" tIns="0" rIns="0" bIns="0" rtlCol="0" anchor="ctr"/>
          <a:lstStyle/>
          <a:p>
            <a:pPr algn="ctr" indent="0" marL="0">
              <a:buNone/>
            </a:pPr>
            <a:r>
              <a:rPr lang="en-US" sz="1000" dirty="0">
                <a:solidFill>
                  <a:srgbClr val="A0E8DA"/>
                </a:solidFill>
                <a:latin typeface="Calibri" pitchFamily="34" charset="0"/>
                <a:ea typeface="Calibri" pitchFamily="34" charset="-122"/>
                <a:cs typeface="Calibri" pitchFamily="34" charset="-120"/>
              </a:rPr>
              <a:t>Land features</a:t>
            </a:r>
            <a:endParaRPr lang="en-US" sz="1000" dirty="0"/>
          </a:p>
        </p:txBody>
      </p:sp>
      <p:sp>
        <p:nvSpPr>
          <p:cNvPr id="10" name="Shape 8"/>
          <p:cNvSpPr/>
          <p:nvPr/>
        </p:nvSpPr>
        <p:spPr>
          <a:xfrm>
            <a:off x="2560320" y="2487168"/>
            <a:ext cx="1828800" cy="777240"/>
          </a:xfrm>
          <a:prstGeom prst="roundRect">
            <a:avLst>
              <a:gd name="adj" fmla="val 11765"/>
            </a:avLst>
          </a:prstGeom>
          <a:solidFill>
            <a:srgbClr val="1A2D5A"/>
          </a:solidFill>
          <a:ln/>
        </p:spPr>
      </p:sp>
      <p:sp>
        <p:nvSpPr>
          <p:cNvPr id="11" name="Text 9"/>
          <p:cNvSpPr/>
          <p:nvPr/>
        </p:nvSpPr>
        <p:spPr>
          <a:xfrm>
            <a:off x="2560320" y="2542032"/>
            <a:ext cx="1828800" cy="274320"/>
          </a:xfrm>
          <a:prstGeom prst="rect">
            <a:avLst/>
          </a:prstGeom>
          <a:noFill/>
          <a:ln/>
        </p:spPr>
        <p:txBody>
          <a:bodyPr wrap="square" lIns="0" tIns="0" rIns="0" bIns="0" rtlCol="0" anchor="ctr"/>
          <a:lstStyle/>
          <a:p>
            <a:pPr algn="ctr" indent="0" marL="0">
              <a:buNone/>
            </a:pPr>
            <a:r>
              <a:rPr lang="en-US" sz="1200" b="1" dirty="0">
                <a:solidFill>
                  <a:srgbClr val="D4943A"/>
                </a:solidFill>
                <a:latin typeface="Cambria" pitchFamily="34" charset="0"/>
                <a:ea typeface="Cambria" pitchFamily="34" charset="-122"/>
                <a:cs typeface="Cambria" pitchFamily="34" charset="-120"/>
              </a:rPr>
              <a:t>Political</a:t>
            </a:r>
            <a:endParaRPr lang="en-US" sz="1200" dirty="0"/>
          </a:p>
        </p:txBody>
      </p:sp>
      <p:sp>
        <p:nvSpPr>
          <p:cNvPr id="12" name="Text 10"/>
          <p:cNvSpPr/>
          <p:nvPr/>
        </p:nvSpPr>
        <p:spPr>
          <a:xfrm>
            <a:off x="2560320" y="2816352"/>
            <a:ext cx="1828800" cy="256032"/>
          </a:xfrm>
          <a:prstGeom prst="rect">
            <a:avLst/>
          </a:prstGeom>
          <a:noFill/>
          <a:ln/>
        </p:spPr>
        <p:txBody>
          <a:bodyPr wrap="square" lIns="0" tIns="0" rIns="0" bIns="0" rtlCol="0" anchor="ctr"/>
          <a:lstStyle/>
          <a:p>
            <a:pPr algn="ctr" indent="0" marL="0">
              <a:buNone/>
            </a:pPr>
            <a:r>
              <a:rPr lang="en-US" sz="1000" dirty="0">
                <a:solidFill>
                  <a:srgbClr val="A0E8DA"/>
                </a:solidFill>
                <a:latin typeface="Calibri" pitchFamily="34" charset="0"/>
                <a:ea typeface="Calibri" pitchFamily="34" charset="-122"/>
                <a:cs typeface="Calibri" pitchFamily="34" charset="-120"/>
              </a:rPr>
              <a:t>Borders</a:t>
            </a:r>
            <a:endParaRPr lang="en-US" sz="1000" dirty="0"/>
          </a:p>
        </p:txBody>
      </p:sp>
      <p:sp>
        <p:nvSpPr>
          <p:cNvPr id="13" name="Shape 11"/>
          <p:cNvSpPr/>
          <p:nvPr/>
        </p:nvSpPr>
        <p:spPr>
          <a:xfrm>
            <a:off x="4617720" y="2487168"/>
            <a:ext cx="1828800" cy="777240"/>
          </a:xfrm>
          <a:prstGeom prst="roundRect">
            <a:avLst>
              <a:gd name="adj" fmla="val 11765"/>
            </a:avLst>
          </a:prstGeom>
          <a:solidFill>
            <a:srgbClr val="1A2D5A"/>
          </a:solidFill>
          <a:ln/>
        </p:spPr>
      </p:sp>
      <p:sp>
        <p:nvSpPr>
          <p:cNvPr id="14" name="Text 12"/>
          <p:cNvSpPr/>
          <p:nvPr/>
        </p:nvSpPr>
        <p:spPr>
          <a:xfrm>
            <a:off x="4617720" y="2542032"/>
            <a:ext cx="1828800" cy="274320"/>
          </a:xfrm>
          <a:prstGeom prst="rect">
            <a:avLst/>
          </a:prstGeom>
          <a:noFill/>
          <a:ln/>
        </p:spPr>
        <p:txBody>
          <a:bodyPr wrap="square" lIns="0" tIns="0" rIns="0" bIns="0" rtlCol="0" anchor="ctr"/>
          <a:lstStyle/>
          <a:p>
            <a:pPr algn="ctr" indent="0" marL="0">
              <a:buNone/>
            </a:pPr>
            <a:r>
              <a:rPr lang="en-US" sz="1200" b="1" dirty="0">
                <a:solidFill>
                  <a:srgbClr val="D4943A"/>
                </a:solidFill>
                <a:latin typeface="Cambria" pitchFamily="34" charset="0"/>
                <a:ea typeface="Cambria" pitchFamily="34" charset="-122"/>
                <a:cs typeface="Cambria" pitchFamily="34" charset="-120"/>
              </a:rPr>
              <a:t>Elevation</a:t>
            </a:r>
            <a:endParaRPr lang="en-US" sz="1200" dirty="0"/>
          </a:p>
        </p:txBody>
      </p:sp>
      <p:sp>
        <p:nvSpPr>
          <p:cNvPr id="15" name="Text 13"/>
          <p:cNvSpPr/>
          <p:nvPr/>
        </p:nvSpPr>
        <p:spPr>
          <a:xfrm>
            <a:off x="4617720" y="2816352"/>
            <a:ext cx="1828800" cy="256032"/>
          </a:xfrm>
          <a:prstGeom prst="rect">
            <a:avLst/>
          </a:prstGeom>
          <a:noFill/>
          <a:ln/>
        </p:spPr>
        <p:txBody>
          <a:bodyPr wrap="square" lIns="0" tIns="0" rIns="0" bIns="0" rtlCol="0" anchor="ctr"/>
          <a:lstStyle/>
          <a:p>
            <a:pPr algn="ctr" indent="0" marL="0">
              <a:buNone/>
            </a:pPr>
            <a:r>
              <a:rPr lang="en-US" sz="1000" dirty="0">
                <a:solidFill>
                  <a:srgbClr val="A0E8DA"/>
                </a:solidFill>
                <a:latin typeface="Calibri" pitchFamily="34" charset="0"/>
                <a:ea typeface="Calibri" pitchFamily="34" charset="-122"/>
                <a:cs typeface="Calibri" pitchFamily="34" charset="-120"/>
              </a:rPr>
              <a:t>Height</a:t>
            </a:r>
            <a:endParaRPr lang="en-US" sz="1000" dirty="0"/>
          </a:p>
        </p:txBody>
      </p:sp>
      <p:sp>
        <p:nvSpPr>
          <p:cNvPr id="16" name="Shape 14"/>
          <p:cNvSpPr/>
          <p:nvPr/>
        </p:nvSpPr>
        <p:spPr>
          <a:xfrm>
            <a:off x="6675120" y="2487168"/>
            <a:ext cx="1828800" cy="777240"/>
          </a:xfrm>
          <a:prstGeom prst="roundRect">
            <a:avLst>
              <a:gd name="adj" fmla="val 11765"/>
            </a:avLst>
          </a:prstGeom>
          <a:solidFill>
            <a:srgbClr val="1A2D5A"/>
          </a:solidFill>
          <a:ln/>
        </p:spPr>
      </p:sp>
      <p:sp>
        <p:nvSpPr>
          <p:cNvPr id="17" name="Text 15"/>
          <p:cNvSpPr/>
          <p:nvPr/>
        </p:nvSpPr>
        <p:spPr>
          <a:xfrm>
            <a:off x="6675120" y="2542032"/>
            <a:ext cx="1828800" cy="274320"/>
          </a:xfrm>
          <a:prstGeom prst="rect">
            <a:avLst/>
          </a:prstGeom>
          <a:noFill/>
          <a:ln/>
        </p:spPr>
        <p:txBody>
          <a:bodyPr wrap="square" lIns="0" tIns="0" rIns="0" bIns="0" rtlCol="0" anchor="ctr"/>
          <a:lstStyle/>
          <a:p>
            <a:pPr algn="ctr" indent="0" marL="0">
              <a:buNone/>
            </a:pPr>
            <a:r>
              <a:rPr lang="en-US" sz="1200" b="1" dirty="0">
                <a:solidFill>
                  <a:srgbClr val="D4943A"/>
                </a:solidFill>
                <a:latin typeface="Cambria" pitchFamily="34" charset="0"/>
                <a:ea typeface="Cambria" pitchFamily="34" charset="-122"/>
                <a:cs typeface="Cambria" pitchFamily="34" charset="-120"/>
              </a:rPr>
              <a:t>Population</a:t>
            </a:r>
            <a:endParaRPr lang="en-US" sz="1200" dirty="0"/>
          </a:p>
        </p:txBody>
      </p:sp>
      <p:sp>
        <p:nvSpPr>
          <p:cNvPr id="18" name="Text 16"/>
          <p:cNvSpPr/>
          <p:nvPr/>
        </p:nvSpPr>
        <p:spPr>
          <a:xfrm>
            <a:off x="6675120" y="2816352"/>
            <a:ext cx="1828800" cy="256032"/>
          </a:xfrm>
          <a:prstGeom prst="rect">
            <a:avLst/>
          </a:prstGeom>
          <a:noFill/>
          <a:ln/>
        </p:spPr>
        <p:txBody>
          <a:bodyPr wrap="square" lIns="0" tIns="0" rIns="0" bIns="0" rtlCol="0" anchor="ctr"/>
          <a:lstStyle/>
          <a:p>
            <a:pPr algn="ctr" indent="0" marL="0">
              <a:buNone/>
            </a:pPr>
            <a:r>
              <a:rPr lang="en-US" sz="1000" dirty="0">
                <a:solidFill>
                  <a:srgbClr val="A0E8DA"/>
                </a:solidFill>
                <a:latin typeface="Calibri" pitchFamily="34" charset="0"/>
                <a:ea typeface="Calibri" pitchFamily="34" charset="-122"/>
                <a:cs typeface="Calibri" pitchFamily="34" charset="-120"/>
              </a:rPr>
              <a:t>People</a:t>
            </a:r>
            <a:endParaRPr lang="en-US" sz="1000" dirty="0"/>
          </a:p>
        </p:txBody>
      </p:sp>
      <p:sp>
        <p:nvSpPr>
          <p:cNvPr id="19" name="Shape 17"/>
          <p:cNvSpPr/>
          <p:nvPr/>
        </p:nvSpPr>
        <p:spPr>
          <a:xfrm>
            <a:off x="457200" y="3401568"/>
            <a:ext cx="8229600" cy="1508760"/>
          </a:xfrm>
          <a:prstGeom prst="roundRect">
            <a:avLst>
              <a:gd name="adj" fmla="val 7273"/>
            </a:avLst>
          </a:prstGeom>
          <a:solidFill>
            <a:srgbClr val="1A2D5A"/>
          </a:solidFill>
          <a:ln/>
        </p:spPr>
      </p:sp>
      <p:sp>
        <p:nvSpPr>
          <p:cNvPr id="20" name="Text 18"/>
          <p:cNvSpPr/>
          <p:nvPr/>
        </p:nvSpPr>
        <p:spPr>
          <a:xfrm>
            <a:off x="640080" y="3474720"/>
            <a:ext cx="7863840" cy="274320"/>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COMING NEXT — Lesson 3.03.04</a:t>
            </a:r>
            <a:endParaRPr lang="en-US" sz="900" dirty="0"/>
          </a:p>
        </p:txBody>
      </p:sp>
      <p:sp>
        <p:nvSpPr>
          <p:cNvPr id="21" name="Text 19"/>
          <p:cNvSpPr/>
          <p:nvPr/>
        </p:nvSpPr>
        <p:spPr>
          <a:xfrm>
            <a:off x="640080" y="3776472"/>
            <a:ext cx="7863840" cy="82296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Another problem in the Great Map Room: a display about explorer routes gives distances — but the scale explanation is missing. You'll learn how MAP SCALE works so visitors can understand how far the explorers really traveled!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2026-07-10T22:45:18Z</dcterms:created>
  <dcterms:modified xsi:type="dcterms:W3CDTF">2026-07-10T22:45:18Z</dcterms:modified>
</cp:coreProperties>
</file>