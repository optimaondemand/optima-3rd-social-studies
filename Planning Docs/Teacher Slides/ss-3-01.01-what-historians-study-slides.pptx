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Full-screen illustration of a grand museum entrance hall — tall columns, warm amber lighting, display cases lining the walls, 'Curator Training Hall' banner above.
Teacher script: Welcome, Junior Curators! Before we begin, notice where we are — the Curator Training Hall. Look at those display cases. Each one is empty right now. By the end of today, YOU will be filling them with knowledge. Our big question today is: What do historians, geographers, economists, and citizens study — and why does the museum need all four? Let's find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The museum director has left us a memo. Listen carefully while I read it... [read the memo aloud slowly]. So here's the situation — the exhibit is not finished. It needs four kinds of thinkers. What does that remind you of? A team! Your job today is to figure out who those four thinkers are and what they each bring to the museum.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Look at these four empty halls. Don't tell me the answer yet — just LOOK. [5 seconds silence] Now type in chat: 'I think one hall might study...' What are your guesses? [Read 3-4 chat responses] Interesting ideas! Let's keep those guesses in mind as we investigate. We're going to crack this mystery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Here's our first clue. The word 'histor' comes from ancient Greek — it means 'one who knows' or 'a learned person.' Look at all these words that share this root. [Point to each] What do they all have in common? [Take responses] Right — they all involve KNOWING about the past. Now — if 'histor' means 'one who knows'... what might a HISTORIAN be? Don't give me the definition — just use the clue. [5 sec] Type in chat: 'I think a historian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Ancient scroll or parchment alongside a black-and-white photograph and a sealed letter.
Teacher script: Hall 1 — UNLOCKED! History is the study of the past. Notice that word root we found — histor means 'one who knows.' A historian is a person who KNOWS about the past. Three halls still locked. Let's keep going!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[Show image — DO NOT give away the answer] Take a look at these two clues. [5 seconds silence] Just observe — what do you notice? Now type in chat: 'I notice these clues have to do with...' [Read 3-4 responses] So this second kind of thinker studies... maps and places and the EARTH. Who does that? Let's see if we're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Colorful world map spread across a table with a magnifying glass and compass.
Teacher script: Hall 2 — UNLOCKED! Geography means 'Earth writing' — geographers WRITE about the Earth through maps. Two halls unlocked, two more to go. Historians look BACK in time, geographers look at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Look at these three questions. [Read them aloud, pause between each] Take 5 seconds — what do all three have in common? [5 sec silence] Type in chat: 'I think these questions all have to do with...' Yes! They're all about stuff people NEED and how they GET it. If you've ever traded a snack with a friend, you've already done this! Let's unlock Hall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busy marketplace with colorful trading stalls, people exchanging goods, and a handshake between two traders.
Teacher script: Hall 3 — UNLOCKED! Economics is about RESOURCES — things people need and how they get them. One hall left! Before I reveal it — can anyone guess what the last hall might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Students and community members working together at a neighborhood event — showing people helping each other, good citizenship in action.
Teacher script: HALL 4 — UNLOCKED! ALL FOUR HALLS ARE OPEN! [Pause to celebrate] Civics is about citizenship — being part of a community, following rules, making things better for everyone. Look at the bottom — ALL FOUR HALLS unlocked. Who can tell me all four from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Here's our Exhibit Label — the four fields together. Read each box with me... [Read aloud] Now I want you to PAUSE. Look away from the screen for 5 seconds and try to picture all four in your mind. [5 sec] Turn chat back on — type all four fields. Don't look at the slide! [Read responses]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In the past, people had NO books, no computers, no phones. They passed down stories by SPEAKING them aloud. Today, we look things up in seconds. [Ask the Socratic questions] What STAYED THE SAME? [Take responses] The NEED to know. Humans have always wanted to understand where we came from. That's why historians matter — they are the keepers of that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This is the BIG question — and it's also Assignment Question 2. I want you to use evidence from the lesson to answer it. Don't just say 'because it's interesting' — give me PROOF. [5 sec private thinking] Now use the chat frame. [Read 3-4 responses] Notice how adding the evidence makes the answer stronger. Remember these ideas — you'll need them for your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person volunteering at a food bank — handing supplies to families in need.
Teacher script: Our virtue today is SERVICE. The food bank volunteer helps people who are hungry — they give their time so others can eat. Now think: how does a HISTORIAN serve others? [5 sec] They preserve our stories. Without historians, we would forget. That's service too. Type in chat: 'I can serve my community by...'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Watch me think through this question. [Read question aloud] First, I notice it says NAME and DESCRIBE — that's two jobs. And it says 'at least one DETAIL from the lesson.' So I can't just say 'history is the past' — I need a specific detail. [Read think-aloud on slide] Notice I used exact words from our lesson? That's how you use evidence. Your turn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Here are two fill-in frames. Let's do this together — I'll call on volunteers. [Point to Economics panel] Who can fill in the first blank? 'Economics is the study of...' [Take response] What's one of the questions economists ask? [Build answer together] Now Civics... [Same process] Great! We can describe any field using the same structure: WHAT it studies + the QUESTIONS it asks + an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A student wrote this answer. [Read it aloud] Before I say anything — what do YOU think? Is it right? Wrong? Partly right? [5 sec] Use the chat frame: 'The student was partly right because... but they got confused because...' [Read responses] Here's the difference: HISTORY asks what happened in the PAST. CIVICS asks how citizens live TODAY — the rules, the government, the community. The student mixed them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Here is your assignment. [Read both questions aloud] Notice Q1 is about DESCRIBING the fields — you practiced that exact skill. Q2 is about explaining WHY — you practiced that in our discussion. This should feel familiar! The Curator's Notebook is your 2-3 sentence summary. And don't forget the Chronicle sentence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Here's your retrieval challenge. Close your eyes or cover your screen — no peeking! [30 seconds] Ready? Now answer in chat: name all four fields and their big questions. GO! [Read responses] Check yourself: History — What happened? Geography — Where is it? Economics — What do people need? Civics — What are the rules? How'd you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Three check questions — THINK before you look at the answer column. [Cover answers with your cursor] Question 1... [5 sec] What do you think? [Take chat responses, then uncover] Question 2... [repeat] Question 3... [repeat] If you got all three — you're ready to write your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circular badge or certificate design reading 'Junior Curator Certified' with a gold wax seal and navy background.
Teacher script: You did it! All four halls unlocked, the exhibit is one step closer to opening. [Celebrate briefly — 'Amazing work today!'] Keep your Curator's Notebook open and updated. Next time, a MYSTERY arrives: a mixed tray of sources. Can you tell a photograph from a map from a letter? That's your next mission. I'll see you there, Junior Curators!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0" y="2103120"/>
            <a:ext cx="9144000" cy="1371600"/>
          </a:xfrm>
          <a:prstGeom prst="rect">
            <a:avLst/>
          </a:prstGeom>
          <a:solidFill>
            <a:srgbClr val="0B1835">
              <a:alpha val="70000"/>
            </a:srgbClr>
          </a:solidFill>
          <a:ln w="12700">
            <a:solidFill>
              <a:srgbClr val="3A5080"/>
            </a:solidFill>
            <a:prstDash val="solid"/>
          </a:ln>
        </p:spPr>
      </p:sp>
      <p:sp>
        <p:nvSpPr>
          <p:cNvPr id="5" name="Shape 3"/>
          <p:cNvSpPr/>
          <p:nvPr/>
        </p:nvSpPr>
        <p:spPr>
          <a:xfrm>
            <a:off x="457200" y="320040"/>
            <a:ext cx="1737360" cy="347472"/>
          </a:xfrm>
          <a:prstGeom prst="roundRect">
            <a:avLst>
              <a:gd name="adj" fmla="val 26316"/>
            </a:avLst>
          </a:prstGeom>
          <a:solidFill>
            <a:srgbClr val="1A2D5A"/>
          </a:solidFill>
          <a:ln w="12700">
            <a:solidFill>
              <a:srgbClr val="55C8E8"/>
            </a:solidFill>
            <a:prstDash val="solid"/>
          </a:ln>
        </p:spPr>
      </p:sp>
      <p:sp>
        <p:nvSpPr>
          <p:cNvPr id="6" name="Text 4"/>
          <p:cNvSpPr/>
          <p:nvPr/>
        </p:nvSpPr>
        <p:spPr>
          <a:xfrm>
            <a:off x="457200" y="320040"/>
            <a:ext cx="1737360" cy="347472"/>
          </a:xfrm>
          <a:prstGeom prst="rect">
            <a:avLst/>
          </a:prstGeom>
          <a:noFill/>
          <a:ln/>
        </p:spPr>
        <p:txBody>
          <a:bodyPr wrap="square" lIns="0" tIns="0" rIns="0" bIns="0" rtlCol="0" anchor="ctr"/>
          <a:lstStyle/>
          <a:p>
            <a:pPr algn="ctr" indent="0" marL="0">
              <a:buNone/>
            </a:pPr>
            <a:r>
              <a:rPr lang="en-US" sz="900" b="1" spc="150" kern="0" dirty="0">
                <a:solidFill>
                  <a:srgbClr val="55C8E8"/>
                </a:solidFill>
                <a:latin typeface="Calibri" pitchFamily="34" charset="0"/>
                <a:ea typeface="Calibri" pitchFamily="34" charset="-122"/>
                <a:cs typeface="Calibri" pitchFamily="34" charset="-120"/>
              </a:rPr>
              <a:t>LESSON 3.01.01</a:t>
            </a:r>
            <a:endParaRPr lang="en-US" sz="900" dirty="0"/>
          </a:p>
        </p:txBody>
      </p:sp>
      <p:sp>
        <p:nvSpPr>
          <p:cNvPr id="7" name="Shape 5"/>
          <p:cNvSpPr/>
          <p:nvPr/>
        </p:nvSpPr>
        <p:spPr>
          <a:xfrm>
            <a:off x="2331720" y="320040"/>
            <a:ext cx="1645920" cy="347472"/>
          </a:xfrm>
          <a:prstGeom prst="roundRect">
            <a:avLst>
              <a:gd name="adj" fmla="val 26316"/>
            </a:avLst>
          </a:prstGeom>
          <a:solidFill>
            <a:srgbClr val="1A2D5A"/>
          </a:solidFill>
          <a:ln w="12700">
            <a:solidFill>
              <a:srgbClr val="D4943A"/>
            </a:solidFill>
            <a:prstDash val="solid"/>
          </a:ln>
        </p:spPr>
      </p:sp>
      <p:sp>
        <p:nvSpPr>
          <p:cNvPr id="8" name="Text 6"/>
          <p:cNvSpPr/>
          <p:nvPr/>
        </p:nvSpPr>
        <p:spPr>
          <a:xfrm>
            <a:off x="2331720" y="320040"/>
            <a:ext cx="1645920" cy="347472"/>
          </a:xfrm>
          <a:prstGeom prst="rect">
            <a:avLst/>
          </a:prstGeom>
          <a:noFill/>
          <a:ln/>
        </p:spPr>
        <p:txBody>
          <a:bodyPr wrap="square" lIns="0" tIns="0" rIns="0" bIns="0" rtlCol="0" anchor="ctr"/>
          <a:lstStyle/>
          <a:p>
            <a:pPr algn="ctr" indent="0" marL="0">
              <a:buNone/>
            </a:pPr>
            <a:r>
              <a:rPr lang="en-US" sz="800" b="1" spc="100" kern="0" dirty="0">
                <a:solidFill>
                  <a:srgbClr val="D4943A"/>
                </a:solidFill>
                <a:latin typeface="Calibri" pitchFamily="34" charset="0"/>
                <a:ea typeface="Calibri" pitchFamily="34" charset="-122"/>
                <a:cs typeface="Calibri" pitchFamily="34" charset="-120"/>
              </a:rPr>
              <a:t>GRADE 3 · Q1 · WEEK 1</a:t>
            </a:r>
            <a:endParaRPr lang="en-US" sz="800" dirty="0"/>
          </a:p>
        </p:txBody>
      </p:sp>
      <p:sp>
        <p:nvSpPr>
          <p:cNvPr id="9" name="Text 7"/>
          <p:cNvSpPr/>
          <p:nvPr/>
        </p:nvSpPr>
        <p:spPr>
          <a:xfrm>
            <a:off x="457200" y="822960"/>
            <a:ext cx="8229600" cy="1371600"/>
          </a:xfrm>
          <a:prstGeom prst="rect">
            <a:avLst/>
          </a:prstGeom>
          <a:noFill/>
          <a:ln/>
        </p:spPr>
        <p:txBody>
          <a:bodyPr wrap="square"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Welcome to the</a:t>
            </a:r>
            <a:endParaRPr lang="en-US" sz="3800" dirty="0"/>
          </a:p>
          <a:p>
            <a:pPr algn="ctr" indent="0" marL="0">
              <a:buNone/>
            </a:pPr>
            <a:r>
              <a:rPr lang="en-US" sz="3800" b="1" dirty="0">
                <a:solidFill>
                  <a:srgbClr val="FFFFFF"/>
                </a:solidFill>
                <a:latin typeface="Cambria" pitchFamily="34" charset="0"/>
                <a:ea typeface="Cambria" pitchFamily="34" charset="-122"/>
                <a:cs typeface="Cambria" pitchFamily="34" charset="-120"/>
              </a:rPr>
              <a:t>Curator Training Hall</a:t>
            </a:r>
            <a:endParaRPr lang="en-US" sz="3800" dirty="0"/>
          </a:p>
        </p:txBody>
      </p:sp>
      <p:sp>
        <p:nvSpPr>
          <p:cNvPr id="10" name="Text 8"/>
          <p:cNvSpPr/>
          <p:nvPr/>
        </p:nvSpPr>
        <p:spPr>
          <a:xfrm>
            <a:off x="457200" y="2331720"/>
            <a:ext cx="8229600" cy="822960"/>
          </a:xfrm>
          <a:prstGeom prst="rect">
            <a:avLst/>
          </a:prstGeom>
          <a:noFill/>
          <a:ln/>
        </p:spPr>
        <p:txBody>
          <a:bodyPr wrap="square" rtlCol="0" anchor="ctr"/>
          <a:lstStyle/>
          <a:p>
            <a:pPr algn="ctr" indent="0" marL="0">
              <a:buNone/>
            </a:pPr>
            <a:r>
              <a:rPr lang="en-US" sz="1800" dirty="0">
                <a:solidFill>
                  <a:srgbClr val="55C8E8"/>
                </a:solidFill>
                <a:latin typeface="Calibri" pitchFamily="34" charset="0"/>
                <a:ea typeface="Calibri" pitchFamily="34" charset="-122"/>
                <a:cs typeface="Calibri" pitchFamily="34" charset="-120"/>
              </a:rPr>
              <a:t>What Do Historians, Geographers,</a:t>
            </a:r>
            <a:endParaRPr lang="en-US" sz="1800" dirty="0"/>
          </a:p>
          <a:p>
            <a:pPr algn="ctr" indent="0" marL="0">
              <a:buNone/>
            </a:pPr>
            <a:r>
              <a:rPr lang="en-US" sz="1800" dirty="0">
                <a:solidFill>
                  <a:srgbClr val="55C8E8"/>
                </a:solidFill>
                <a:latin typeface="Calibri" pitchFamily="34" charset="0"/>
                <a:ea typeface="Calibri" pitchFamily="34" charset="-122"/>
                <a:cs typeface="Calibri" pitchFamily="34" charset="-120"/>
              </a:rPr>
              <a:t>Economists, and Citizens Study?</a:t>
            </a:r>
            <a:endParaRPr lang="en-US" sz="1800" dirty="0"/>
          </a:p>
        </p:txBody>
      </p:sp>
      <p:sp>
        <p:nvSpPr>
          <p:cNvPr id="11" name="Shape 9"/>
          <p:cNvSpPr/>
          <p:nvPr/>
        </p:nvSpPr>
        <p:spPr>
          <a:xfrm>
            <a:off x="0" y="4434840"/>
            <a:ext cx="9144000" cy="708660"/>
          </a:xfrm>
          <a:prstGeom prst="rect">
            <a:avLst/>
          </a:prstGeom>
          <a:solidFill>
            <a:srgbClr val="0B1835"/>
          </a:solidFill>
          <a:ln w="12700">
            <a:solidFill>
              <a:srgbClr val="3A5080"/>
            </a:solidFill>
            <a:prstDash val="solid"/>
          </a:ln>
        </p:spPr>
      </p:sp>
      <p:sp>
        <p:nvSpPr>
          <p:cNvPr id="12" name="Shape 10"/>
          <p:cNvSpPr/>
          <p:nvPr/>
        </p:nvSpPr>
        <p:spPr>
          <a:xfrm>
            <a:off x="0" y="4434840"/>
            <a:ext cx="9144000" cy="36576"/>
          </a:xfrm>
          <a:prstGeom prst="rect">
            <a:avLst/>
          </a:prstGeom>
          <a:solidFill>
            <a:srgbClr val="D4943A"/>
          </a:solidFill>
          <a:ln w="12700">
            <a:solidFill>
              <a:srgbClr val="3A5080"/>
            </a:solidFill>
            <a:prstDash val="solid"/>
          </a:ln>
        </p:spPr>
      </p:sp>
      <p:sp>
        <p:nvSpPr>
          <p:cNvPr id="13" name="Text 11"/>
          <p:cNvSpPr/>
          <p:nvPr/>
        </p:nvSpPr>
        <p:spPr>
          <a:xfrm>
            <a:off x="0" y="4480560"/>
            <a:ext cx="9144000" cy="457200"/>
          </a:xfrm>
          <a:prstGeom prst="rect">
            <a:avLst/>
          </a:prstGeom>
          <a:noFill/>
          <a:ln/>
        </p:spPr>
        <p:txBody>
          <a:bodyPr wrap="square" rtlCol="0" anchor="ctr"/>
          <a:lstStyle/>
          <a:p>
            <a:pPr algn="ctr" indent="0" marL="0">
              <a:buNone/>
            </a:pPr>
            <a:r>
              <a:rPr lang="en-US" sz="900" spc="150" kern="0" dirty="0">
                <a:solidFill>
                  <a:srgbClr val="7A88A8"/>
                </a:solidFill>
                <a:latin typeface="Calibri" pitchFamily="34" charset="0"/>
                <a:ea typeface="Calibri" pitchFamily="34" charset="-122"/>
                <a:cs typeface="Calibri" pitchFamily="34" charset="-120"/>
              </a:rPr>
              <a:t>OPTIMA ACADEMY ONLINE  ·  CURATOR TRAINING HALL  ·  SOCIAL STUDIES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457200" y="274320"/>
            <a:ext cx="8229600" cy="457200"/>
          </a:xfrm>
          <a:prstGeom prst="roundRect">
            <a:avLst>
              <a:gd name="adj" fmla="val 20000"/>
            </a:avLst>
          </a:prstGeom>
          <a:solidFill>
            <a:srgbClr val="1A2D5A"/>
          </a:solidFill>
          <a:ln w="19050">
            <a:solidFill>
              <a:srgbClr val="D4943A"/>
            </a:solidFill>
            <a:prstDash val="solid"/>
          </a:ln>
        </p:spPr>
      </p:sp>
      <p:sp>
        <p:nvSpPr>
          <p:cNvPr id="5" name="Text 3"/>
          <p:cNvSpPr/>
          <p:nvPr/>
        </p:nvSpPr>
        <p:spPr>
          <a:xfrm>
            <a:off x="457200" y="274320"/>
            <a:ext cx="8229600" cy="457200"/>
          </a:xfrm>
          <a:prstGeom prst="rect">
            <a:avLst/>
          </a:prstGeom>
          <a:noFill/>
          <a:ln/>
        </p:spPr>
        <p:txBody>
          <a:bodyPr wrap="square" lIns="0" tIns="0" rIns="0" bIns="0" rtlCol="0" anchor="ctr"/>
          <a:lstStyle/>
          <a:p>
            <a:pPr algn="ctr" indent="0" marL="0">
              <a:buNone/>
            </a:pPr>
            <a:r>
              <a:rPr lang="en-US" sz="1100" b="1" spc="150" kern="0" dirty="0">
                <a:solidFill>
                  <a:srgbClr val="D4943A"/>
                </a:solidFill>
                <a:latin typeface="Calibri" pitchFamily="34" charset="0"/>
                <a:ea typeface="Calibri" pitchFamily="34" charset="-122"/>
                <a:cs typeface="Calibri" pitchFamily="34" charset="-120"/>
              </a:rPr>
              <a:t>MUSEUM MEMO — FROM THE DIRECTOR</a:t>
            </a:r>
            <a:endParaRPr lang="en-US" sz="1100" dirty="0"/>
          </a:p>
        </p:txBody>
      </p:sp>
      <p:sp>
        <p:nvSpPr>
          <p:cNvPr id="6" name="Shape 4"/>
          <p:cNvSpPr/>
          <p:nvPr/>
        </p:nvSpPr>
        <p:spPr>
          <a:xfrm>
            <a:off x="457200" y="868680"/>
            <a:ext cx="8229600" cy="2926080"/>
          </a:xfrm>
          <a:prstGeom prst="roundRect">
            <a:avLst>
              <a:gd name="adj" fmla="val 4688"/>
            </a:avLst>
          </a:prstGeom>
          <a:solidFill>
            <a:srgbClr val="1A2D5A"/>
          </a:solidFill>
          <a:ln w="12700">
            <a:solidFill>
              <a:srgbClr val="3A5080"/>
            </a:solidFill>
            <a:prstDash val="solid"/>
          </a:ln>
        </p:spPr>
      </p:sp>
      <p:sp>
        <p:nvSpPr>
          <p:cNvPr id="7" name="Text 5"/>
          <p:cNvSpPr/>
          <p:nvPr/>
        </p:nvSpPr>
        <p:spPr>
          <a:xfrm>
            <a:off x="640080" y="960120"/>
            <a:ext cx="7863840" cy="365760"/>
          </a:xfrm>
          <a:prstGeom prst="rect">
            <a:avLst/>
          </a:prstGeom>
          <a:noFill/>
          <a:ln/>
        </p:spPr>
        <p:txBody>
          <a:bodyPr wrap="square" lIns="0" tIns="0" rIns="0" bIns="0" rtlCol="0" anchor="ctr"/>
          <a:lstStyle/>
          <a:p>
            <a:pPr algn="l" indent="0" marL="0">
              <a:buNone/>
            </a:pPr>
            <a:r>
              <a:rPr lang="en-US" sz="1600" b="1" dirty="0">
                <a:solidFill>
                  <a:srgbClr val="FFFFFF"/>
                </a:solidFill>
                <a:latin typeface="Cambria" pitchFamily="34" charset="0"/>
                <a:ea typeface="Cambria" pitchFamily="34" charset="-122"/>
                <a:cs typeface="Cambria" pitchFamily="34" charset="-120"/>
              </a:rPr>
              <a:t>Welcome to the Curator Training Hall, Junior Curators!</a:t>
            </a:r>
            <a:endParaRPr lang="en-US" sz="1600" dirty="0"/>
          </a:p>
        </p:txBody>
      </p:sp>
      <p:sp>
        <p:nvSpPr>
          <p:cNvPr id="8" name="Text 6"/>
          <p:cNvSpPr/>
          <p:nvPr/>
        </p:nvSpPr>
        <p:spPr>
          <a:xfrm>
            <a:off x="640080" y="1417320"/>
            <a:ext cx="7863840" cy="1645920"/>
          </a:xfrm>
          <a:prstGeom prst="rect">
            <a:avLst/>
          </a:prstGeom>
          <a:noFill/>
          <a:ln/>
        </p:spPr>
        <p:txBody>
          <a:bodyPr wrap="square" lIns="0" tIns="0" rIns="0" bIns="0" rtlCol="0" anchor="ctr"/>
          <a:lstStyle/>
          <a:p>
            <a:pPr indent="0" marL="0">
              <a:lnSpc>
                <a:spcPct val="130000"/>
              </a:lnSpc>
              <a:buNone/>
            </a:pPr>
            <a:r>
              <a:rPr lang="en-US" sz="1300" dirty="0">
                <a:solidFill>
                  <a:srgbClr val="C8D4E8"/>
                </a:solidFill>
                <a:latin typeface="Calibri" pitchFamily="34" charset="0"/>
                <a:ea typeface="Calibri" pitchFamily="34" charset="-122"/>
                <a:cs typeface="Calibri" pitchFamily="34" charset="-120"/>
              </a:rPr>
              <a:t>The museum director has been preparing a special exhibit called Our World, Our Choices: A Young Geographer-Citizen Exhibition.</a:t>
            </a:r>
            <a:endParaRPr lang="en-US" sz="1300" dirty="0"/>
          </a:p>
          <a:p>
            <a:pPr indent="0" marL="0">
              <a:lnSpc>
                <a:spcPct val="130000"/>
              </a:lnSpc>
              <a:buNone/>
            </a:pPr>
            <a:endParaRPr lang="en-US" sz="1300" dirty="0"/>
          </a:p>
          <a:p>
            <a:pPr indent="0" marL="0">
              <a:lnSpc>
                <a:spcPct val="130000"/>
              </a:lnSpc>
              <a:buNone/>
            </a:pPr>
            <a:r>
              <a:rPr lang="en-US" sz="1300" dirty="0">
                <a:solidFill>
                  <a:srgbClr val="C8D4E8"/>
                </a:solidFill>
                <a:latin typeface="Calibri" pitchFamily="34" charset="0"/>
                <a:ea typeface="Calibri" pitchFamily="34" charset="-122"/>
                <a:cs typeface="Calibri" pitchFamily="34" charset="-120"/>
              </a:rPr>
              <a:t>But the museum isn't ready yet — it needs FOUR kinds of careful thinkers to help build the exhibits.</a:t>
            </a:r>
            <a:endParaRPr lang="en-US" sz="1300" dirty="0"/>
          </a:p>
          <a:p>
            <a:pPr indent="0" marL="0">
              <a:lnSpc>
                <a:spcPct val="130000"/>
              </a:lnSpc>
              <a:buNone/>
            </a:pPr>
            <a:endParaRPr lang="en-US" sz="1300" dirty="0"/>
          </a:p>
          <a:p>
            <a:pPr indent="0" marL="0">
              <a:lnSpc>
                <a:spcPct val="130000"/>
              </a:lnSpc>
              <a:buNone/>
            </a:pPr>
            <a:r>
              <a:rPr lang="en-US" sz="1300" dirty="0">
                <a:solidFill>
                  <a:srgbClr val="C8D4E8"/>
                </a:solidFill>
                <a:latin typeface="Calibri" pitchFamily="34" charset="0"/>
                <a:ea typeface="Calibri" pitchFamily="34" charset="-122"/>
                <a:cs typeface="Calibri" pitchFamily="34" charset="-120"/>
              </a:rPr>
              <a:t>Today, you'll learn what each of these thinkers studies and why the museum needs all four.</a:t>
            </a:r>
            <a:endParaRPr lang="en-US" sz="1300" dirty="0"/>
          </a:p>
        </p:txBody>
      </p:sp>
      <p:sp>
        <p:nvSpPr>
          <p:cNvPr id="9" name="Shape 7"/>
          <p:cNvSpPr/>
          <p:nvPr/>
        </p:nvSpPr>
        <p:spPr>
          <a:xfrm>
            <a:off x="457200" y="3913632"/>
            <a:ext cx="8229600" cy="548640"/>
          </a:xfrm>
          <a:prstGeom prst="roundRect">
            <a:avLst>
              <a:gd name="adj" fmla="val 16667"/>
            </a:avLst>
          </a:prstGeom>
          <a:solidFill>
            <a:srgbClr val="1A3A2A"/>
          </a:solidFill>
          <a:ln w="19050">
            <a:solidFill>
              <a:srgbClr val="34B76F"/>
            </a:solidFill>
            <a:prstDash val="solid"/>
          </a:ln>
        </p:spPr>
      </p:sp>
      <p:sp>
        <p:nvSpPr>
          <p:cNvPr id="10" name="Text 8"/>
          <p:cNvSpPr/>
          <p:nvPr/>
        </p:nvSpPr>
        <p:spPr>
          <a:xfrm>
            <a:off x="640080" y="3913632"/>
            <a:ext cx="7863840" cy="548640"/>
          </a:xfrm>
          <a:prstGeom prst="rect">
            <a:avLst/>
          </a:prstGeom>
          <a:noFill/>
          <a:ln/>
        </p:spPr>
        <p:txBody>
          <a:bodyPr wrap="square" lIns="0" tIns="0" rIns="0" bIns="0" rtlCol="0" anchor="ctr"/>
          <a:lstStyle/>
          <a:p>
            <a:pPr algn="ctr" indent="0" marL="0">
              <a:buNone/>
            </a:pPr>
            <a:r>
              <a:rPr lang="en-US" sz="1200" dirty="0">
                <a:solidFill>
                  <a:srgbClr val="34B76F"/>
                </a:solidFill>
                <a:latin typeface="Calibri" pitchFamily="34" charset="0"/>
                <a:ea typeface="Calibri" pitchFamily="34" charset="-122"/>
                <a:cs typeface="Calibri" pitchFamily="34" charset="-120"/>
              </a:rPr>
              <a:t>YOUR ROLE TODAY:  You are a Junior Curator — learn to observe carefully, ask good questions, and handle evidence honestly.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rtlCol="0" anchor="ctr"/>
          <a:lstStyle/>
          <a:p>
            <a:pPr algn="ctr" indent="0" marL="0">
              <a:buNone/>
            </a:pPr>
            <a:r>
              <a:rPr lang="en-US" sz="3000" b="1" dirty="0">
                <a:solidFill>
                  <a:srgbClr val="0E1C42"/>
                </a:solidFill>
                <a:latin typeface="Cambria" pitchFamily="34" charset="0"/>
                <a:ea typeface="Cambria" pitchFamily="34" charset="-122"/>
                <a:cs typeface="Cambria" pitchFamily="34" charset="-120"/>
              </a:rPr>
              <a:t>The Museum Has Four Empty Halls...</a:t>
            </a:r>
            <a:endParaRPr lang="en-US" sz="3000" dirty="0"/>
          </a:p>
        </p:txBody>
      </p:sp>
      <p:sp>
        <p:nvSpPr>
          <p:cNvPr id="3" name="Shape 1"/>
          <p:cNvSpPr/>
          <p:nvPr/>
        </p:nvSpPr>
        <p:spPr>
          <a:xfrm>
            <a:off x="457200" y="841248"/>
            <a:ext cx="8229600" cy="0"/>
          </a:xfrm>
          <a:prstGeom prst="line">
            <a:avLst/>
          </a:prstGeom>
          <a:noFill/>
          <a:ln w="19050">
            <a:solidFill>
              <a:srgbClr val="D0D8E8"/>
            </a:solidFill>
            <a:prstDash val="solid"/>
          </a:ln>
        </p:spPr>
      </p:sp>
      <p:sp>
        <p:nvSpPr>
          <p:cNvPr id="4" name="Text 2"/>
          <p:cNvSpPr/>
          <p:nvPr/>
        </p:nvSpPr>
        <p:spPr>
          <a:xfrm>
            <a:off x="457200" y="914400"/>
            <a:ext cx="8229600" cy="411480"/>
          </a:xfrm>
          <a:prstGeom prst="rect">
            <a:avLst/>
          </a:prstGeom>
          <a:noFill/>
          <a:ln/>
        </p:spPr>
        <p:txBody>
          <a:bodyPr wrap="square" rtlCol="0" anchor="ctr"/>
          <a:lstStyle/>
          <a:p>
            <a:pPr algn="ctr" indent="0" marL="0">
              <a:buNone/>
            </a:pPr>
            <a:r>
              <a:rPr lang="en-US" sz="1400" dirty="0">
                <a:solidFill>
                  <a:srgbClr val="7A88A8"/>
                </a:solidFill>
                <a:latin typeface="Calibri" pitchFamily="34" charset="0"/>
                <a:ea typeface="Calibri" pitchFamily="34" charset="-122"/>
                <a:cs typeface="Calibri" pitchFamily="34" charset="-120"/>
              </a:rPr>
              <a:t>Each hall studies something different about the world. Can you figure out what goes inside?</a:t>
            </a:r>
            <a:endParaRPr lang="en-US" sz="1400" dirty="0"/>
          </a:p>
        </p:txBody>
      </p:sp>
      <p:sp>
        <p:nvSpPr>
          <p:cNvPr id="5" name="Shape 3"/>
          <p:cNvSpPr/>
          <p:nvPr/>
        </p:nvSpPr>
        <p:spPr>
          <a:xfrm>
            <a:off x="457200" y="1417320"/>
            <a:ext cx="1828800" cy="1645920"/>
          </a:xfrm>
          <a:prstGeom prst="roundRect">
            <a:avLst>
              <a:gd name="adj" fmla="val 8333"/>
            </a:avLst>
          </a:prstGeom>
          <a:solidFill>
            <a:srgbClr val="E8EBF5"/>
          </a:solidFill>
          <a:ln w="19050">
            <a:solidFill>
              <a:srgbClr val="B0B8CC"/>
            </a:solidFill>
            <a:prstDash val="dash"/>
          </a:ln>
        </p:spPr>
      </p:sp>
      <p:sp>
        <p:nvSpPr>
          <p:cNvPr id="6" name="Text 4"/>
          <p:cNvSpPr/>
          <p:nvPr/>
        </p:nvSpPr>
        <p:spPr>
          <a:xfrm>
            <a:off x="457200" y="1508760"/>
            <a:ext cx="1828800" cy="822960"/>
          </a:xfrm>
          <a:prstGeom prst="rect">
            <a:avLst/>
          </a:prstGeom>
          <a:noFill/>
          <a:ln/>
        </p:spPr>
        <p:txBody>
          <a:bodyPr wrap="square" lIns="0" tIns="0" rIns="0" bIns="0" rtlCol="0" anchor="ctr"/>
          <a:lstStyle/>
          <a:p>
            <a:pPr algn="ctr" indent="0" marL="0">
              <a:buNone/>
            </a:pPr>
            <a:r>
              <a:rPr lang="en-US" sz="4200" b="1" dirty="0">
                <a:solidFill>
                  <a:srgbClr val="7A88A8"/>
                </a:solidFill>
                <a:latin typeface="Cambria" pitchFamily="34" charset="0"/>
                <a:ea typeface="Cambria" pitchFamily="34" charset="-122"/>
                <a:cs typeface="Cambria" pitchFamily="34" charset="-120"/>
              </a:rPr>
              <a:t>?</a:t>
            </a:r>
            <a:endParaRPr lang="en-US" sz="4200" dirty="0"/>
          </a:p>
        </p:txBody>
      </p:sp>
      <p:sp>
        <p:nvSpPr>
          <p:cNvPr id="7" name="Text 5"/>
          <p:cNvSpPr/>
          <p:nvPr/>
        </p:nvSpPr>
        <p:spPr>
          <a:xfrm>
            <a:off x="457200" y="2331720"/>
            <a:ext cx="1828800" cy="320040"/>
          </a:xfrm>
          <a:prstGeom prst="rect">
            <a:avLst/>
          </a:prstGeom>
          <a:noFill/>
          <a:ln/>
        </p:spPr>
        <p:txBody>
          <a:bodyPr wrap="square" lIns="0" tIns="0" rIns="0" bIns="0" rtlCol="0" anchor="ctr"/>
          <a:lstStyle/>
          <a:p>
            <a:pPr algn="ctr" indent="0" marL="0">
              <a:buNone/>
            </a:pPr>
            <a:r>
              <a:rPr lang="en-US" sz="1100" b="1" dirty="0">
                <a:solidFill>
                  <a:srgbClr val="7A88A8"/>
                </a:solidFill>
                <a:latin typeface="Calibri" pitchFamily="34" charset="0"/>
                <a:ea typeface="Calibri" pitchFamily="34" charset="-122"/>
                <a:cs typeface="Calibri" pitchFamily="34" charset="-120"/>
              </a:rPr>
              <a:t>Hall 1</a:t>
            </a:r>
            <a:endParaRPr lang="en-US" sz="1100" dirty="0"/>
          </a:p>
        </p:txBody>
      </p:sp>
      <p:sp>
        <p:nvSpPr>
          <p:cNvPr id="8" name="Text 6"/>
          <p:cNvSpPr/>
          <p:nvPr/>
        </p:nvSpPr>
        <p:spPr>
          <a:xfrm>
            <a:off x="457200" y="2651760"/>
            <a:ext cx="1828800" cy="274320"/>
          </a:xfrm>
          <a:prstGeom prst="rect">
            <a:avLst/>
          </a:prstGeom>
          <a:noFill/>
          <a:ln/>
        </p:spPr>
        <p:txBody>
          <a:bodyPr wrap="square" lIns="0" tIns="0" rIns="0" bIns="0" rtlCol="0" anchor="ctr"/>
          <a:lstStyle/>
          <a:p>
            <a:pPr algn="ctr" indent="0" marL="0">
              <a:buNone/>
            </a:pPr>
            <a:r>
              <a:rPr lang="en-US" sz="900" spc="150" kern="0" dirty="0">
                <a:solidFill>
                  <a:srgbClr val="7A88A8"/>
                </a:solidFill>
                <a:latin typeface="Calibri" pitchFamily="34" charset="0"/>
                <a:ea typeface="Calibri" pitchFamily="34" charset="-122"/>
                <a:cs typeface="Calibri" pitchFamily="34" charset="-120"/>
              </a:rPr>
              <a:t>MYSTERY</a:t>
            </a:r>
            <a:endParaRPr lang="en-US" sz="900" dirty="0"/>
          </a:p>
        </p:txBody>
      </p:sp>
      <p:sp>
        <p:nvSpPr>
          <p:cNvPr id="9" name="Shape 7"/>
          <p:cNvSpPr/>
          <p:nvPr/>
        </p:nvSpPr>
        <p:spPr>
          <a:xfrm>
            <a:off x="2651760" y="1417320"/>
            <a:ext cx="1828800" cy="1645920"/>
          </a:xfrm>
          <a:prstGeom prst="roundRect">
            <a:avLst>
              <a:gd name="adj" fmla="val 8333"/>
            </a:avLst>
          </a:prstGeom>
          <a:solidFill>
            <a:srgbClr val="E8EBF5"/>
          </a:solidFill>
          <a:ln w="19050">
            <a:solidFill>
              <a:srgbClr val="B0B8CC"/>
            </a:solidFill>
            <a:prstDash val="dash"/>
          </a:ln>
        </p:spPr>
      </p:sp>
      <p:sp>
        <p:nvSpPr>
          <p:cNvPr id="10" name="Text 8"/>
          <p:cNvSpPr/>
          <p:nvPr/>
        </p:nvSpPr>
        <p:spPr>
          <a:xfrm>
            <a:off x="2651760" y="1508760"/>
            <a:ext cx="1828800" cy="822960"/>
          </a:xfrm>
          <a:prstGeom prst="rect">
            <a:avLst/>
          </a:prstGeom>
          <a:noFill/>
          <a:ln/>
        </p:spPr>
        <p:txBody>
          <a:bodyPr wrap="square" lIns="0" tIns="0" rIns="0" bIns="0" rtlCol="0" anchor="ctr"/>
          <a:lstStyle/>
          <a:p>
            <a:pPr algn="ctr" indent="0" marL="0">
              <a:buNone/>
            </a:pPr>
            <a:r>
              <a:rPr lang="en-US" sz="4200" b="1" dirty="0">
                <a:solidFill>
                  <a:srgbClr val="7A88A8"/>
                </a:solidFill>
                <a:latin typeface="Cambria" pitchFamily="34" charset="0"/>
                <a:ea typeface="Cambria" pitchFamily="34" charset="-122"/>
                <a:cs typeface="Cambria" pitchFamily="34" charset="-120"/>
              </a:rPr>
              <a:t>?</a:t>
            </a:r>
            <a:endParaRPr lang="en-US" sz="4200" dirty="0"/>
          </a:p>
        </p:txBody>
      </p:sp>
      <p:sp>
        <p:nvSpPr>
          <p:cNvPr id="11" name="Text 9"/>
          <p:cNvSpPr/>
          <p:nvPr/>
        </p:nvSpPr>
        <p:spPr>
          <a:xfrm>
            <a:off x="2651760" y="2331720"/>
            <a:ext cx="1828800" cy="320040"/>
          </a:xfrm>
          <a:prstGeom prst="rect">
            <a:avLst/>
          </a:prstGeom>
          <a:noFill/>
          <a:ln/>
        </p:spPr>
        <p:txBody>
          <a:bodyPr wrap="square" lIns="0" tIns="0" rIns="0" bIns="0" rtlCol="0" anchor="ctr"/>
          <a:lstStyle/>
          <a:p>
            <a:pPr algn="ctr" indent="0" marL="0">
              <a:buNone/>
            </a:pPr>
            <a:r>
              <a:rPr lang="en-US" sz="1100" b="1" dirty="0">
                <a:solidFill>
                  <a:srgbClr val="7A88A8"/>
                </a:solidFill>
                <a:latin typeface="Calibri" pitchFamily="34" charset="0"/>
                <a:ea typeface="Calibri" pitchFamily="34" charset="-122"/>
                <a:cs typeface="Calibri" pitchFamily="34" charset="-120"/>
              </a:rPr>
              <a:t>Hall 2</a:t>
            </a:r>
            <a:endParaRPr lang="en-US" sz="1100" dirty="0"/>
          </a:p>
        </p:txBody>
      </p:sp>
      <p:sp>
        <p:nvSpPr>
          <p:cNvPr id="12" name="Text 10"/>
          <p:cNvSpPr/>
          <p:nvPr/>
        </p:nvSpPr>
        <p:spPr>
          <a:xfrm>
            <a:off x="2651760" y="2651760"/>
            <a:ext cx="1828800" cy="274320"/>
          </a:xfrm>
          <a:prstGeom prst="rect">
            <a:avLst/>
          </a:prstGeom>
          <a:noFill/>
          <a:ln/>
        </p:spPr>
        <p:txBody>
          <a:bodyPr wrap="square" lIns="0" tIns="0" rIns="0" bIns="0" rtlCol="0" anchor="ctr"/>
          <a:lstStyle/>
          <a:p>
            <a:pPr algn="ctr" indent="0" marL="0">
              <a:buNone/>
            </a:pPr>
            <a:r>
              <a:rPr lang="en-US" sz="900" spc="150" kern="0" dirty="0">
                <a:solidFill>
                  <a:srgbClr val="7A88A8"/>
                </a:solidFill>
                <a:latin typeface="Calibri" pitchFamily="34" charset="0"/>
                <a:ea typeface="Calibri" pitchFamily="34" charset="-122"/>
                <a:cs typeface="Calibri" pitchFamily="34" charset="-120"/>
              </a:rPr>
              <a:t>MYSTERY</a:t>
            </a:r>
            <a:endParaRPr lang="en-US" sz="900" dirty="0"/>
          </a:p>
        </p:txBody>
      </p:sp>
      <p:sp>
        <p:nvSpPr>
          <p:cNvPr id="13" name="Shape 11"/>
          <p:cNvSpPr/>
          <p:nvPr/>
        </p:nvSpPr>
        <p:spPr>
          <a:xfrm>
            <a:off x="4846320" y="1417320"/>
            <a:ext cx="1828800" cy="1645920"/>
          </a:xfrm>
          <a:prstGeom prst="roundRect">
            <a:avLst>
              <a:gd name="adj" fmla="val 8333"/>
            </a:avLst>
          </a:prstGeom>
          <a:solidFill>
            <a:srgbClr val="E8EBF5"/>
          </a:solidFill>
          <a:ln w="19050">
            <a:solidFill>
              <a:srgbClr val="B0B8CC"/>
            </a:solidFill>
            <a:prstDash val="dash"/>
          </a:ln>
        </p:spPr>
      </p:sp>
      <p:sp>
        <p:nvSpPr>
          <p:cNvPr id="14" name="Text 12"/>
          <p:cNvSpPr/>
          <p:nvPr/>
        </p:nvSpPr>
        <p:spPr>
          <a:xfrm>
            <a:off x="4846320" y="1508760"/>
            <a:ext cx="1828800" cy="822960"/>
          </a:xfrm>
          <a:prstGeom prst="rect">
            <a:avLst/>
          </a:prstGeom>
          <a:noFill/>
          <a:ln/>
        </p:spPr>
        <p:txBody>
          <a:bodyPr wrap="square" lIns="0" tIns="0" rIns="0" bIns="0" rtlCol="0" anchor="ctr"/>
          <a:lstStyle/>
          <a:p>
            <a:pPr algn="ctr" indent="0" marL="0">
              <a:buNone/>
            </a:pPr>
            <a:r>
              <a:rPr lang="en-US" sz="4200" b="1" dirty="0">
                <a:solidFill>
                  <a:srgbClr val="7A88A8"/>
                </a:solidFill>
                <a:latin typeface="Cambria" pitchFamily="34" charset="0"/>
                <a:ea typeface="Cambria" pitchFamily="34" charset="-122"/>
                <a:cs typeface="Cambria" pitchFamily="34" charset="-120"/>
              </a:rPr>
              <a:t>?</a:t>
            </a:r>
            <a:endParaRPr lang="en-US" sz="4200" dirty="0"/>
          </a:p>
        </p:txBody>
      </p:sp>
      <p:sp>
        <p:nvSpPr>
          <p:cNvPr id="15" name="Text 13"/>
          <p:cNvSpPr/>
          <p:nvPr/>
        </p:nvSpPr>
        <p:spPr>
          <a:xfrm>
            <a:off x="4846320" y="2331720"/>
            <a:ext cx="1828800" cy="320040"/>
          </a:xfrm>
          <a:prstGeom prst="rect">
            <a:avLst/>
          </a:prstGeom>
          <a:noFill/>
          <a:ln/>
        </p:spPr>
        <p:txBody>
          <a:bodyPr wrap="square" lIns="0" tIns="0" rIns="0" bIns="0" rtlCol="0" anchor="ctr"/>
          <a:lstStyle/>
          <a:p>
            <a:pPr algn="ctr" indent="0" marL="0">
              <a:buNone/>
            </a:pPr>
            <a:r>
              <a:rPr lang="en-US" sz="1100" b="1" dirty="0">
                <a:solidFill>
                  <a:srgbClr val="7A88A8"/>
                </a:solidFill>
                <a:latin typeface="Calibri" pitchFamily="34" charset="0"/>
                <a:ea typeface="Calibri" pitchFamily="34" charset="-122"/>
                <a:cs typeface="Calibri" pitchFamily="34" charset="-120"/>
              </a:rPr>
              <a:t>Hall 3</a:t>
            </a:r>
            <a:endParaRPr lang="en-US" sz="1100" dirty="0"/>
          </a:p>
        </p:txBody>
      </p:sp>
      <p:sp>
        <p:nvSpPr>
          <p:cNvPr id="16" name="Text 14"/>
          <p:cNvSpPr/>
          <p:nvPr/>
        </p:nvSpPr>
        <p:spPr>
          <a:xfrm>
            <a:off x="4846320" y="2651760"/>
            <a:ext cx="1828800" cy="274320"/>
          </a:xfrm>
          <a:prstGeom prst="rect">
            <a:avLst/>
          </a:prstGeom>
          <a:noFill/>
          <a:ln/>
        </p:spPr>
        <p:txBody>
          <a:bodyPr wrap="square" lIns="0" tIns="0" rIns="0" bIns="0" rtlCol="0" anchor="ctr"/>
          <a:lstStyle/>
          <a:p>
            <a:pPr algn="ctr" indent="0" marL="0">
              <a:buNone/>
            </a:pPr>
            <a:r>
              <a:rPr lang="en-US" sz="900" spc="150" kern="0" dirty="0">
                <a:solidFill>
                  <a:srgbClr val="7A88A8"/>
                </a:solidFill>
                <a:latin typeface="Calibri" pitchFamily="34" charset="0"/>
                <a:ea typeface="Calibri" pitchFamily="34" charset="-122"/>
                <a:cs typeface="Calibri" pitchFamily="34" charset="-120"/>
              </a:rPr>
              <a:t>MYSTERY</a:t>
            </a:r>
            <a:endParaRPr lang="en-US" sz="900" dirty="0"/>
          </a:p>
        </p:txBody>
      </p:sp>
      <p:sp>
        <p:nvSpPr>
          <p:cNvPr id="17" name="Shape 15"/>
          <p:cNvSpPr/>
          <p:nvPr/>
        </p:nvSpPr>
        <p:spPr>
          <a:xfrm>
            <a:off x="7040880" y="1417320"/>
            <a:ext cx="1828800" cy="1645920"/>
          </a:xfrm>
          <a:prstGeom prst="roundRect">
            <a:avLst>
              <a:gd name="adj" fmla="val 8333"/>
            </a:avLst>
          </a:prstGeom>
          <a:solidFill>
            <a:srgbClr val="E8EBF5"/>
          </a:solidFill>
          <a:ln w="19050">
            <a:solidFill>
              <a:srgbClr val="B0B8CC"/>
            </a:solidFill>
            <a:prstDash val="dash"/>
          </a:ln>
        </p:spPr>
      </p:sp>
      <p:sp>
        <p:nvSpPr>
          <p:cNvPr id="18" name="Text 16"/>
          <p:cNvSpPr/>
          <p:nvPr/>
        </p:nvSpPr>
        <p:spPr>
          <a:xfrm>
            <a:off x="7040880" y="1508760"/>
            <a:ext cx="1828800" cy="822960"/>
          </a:xfrm>
          <a:prstGeom prst="rect">
            <a:avLst/>
          </a:prstGeom>
          <a:noFill/>
          <a:ln/>
        </p:spPr>
        <p:txBody>
          <a:bodyPr wrap="square" lIns="0" tIns="0" rIns="0" bIns="0" rtlCol="0" anchor="ctr"/>
          <a:lstStyle/>
          <a:p>
            <a:pPr algn="ctr" indent="0" marL="0">
              <a:buNone/>
            </a:pPr>
            <a:r>
              <a:rPr lang="en-US" sz="4200" b="1" dirty="0">
                <a:solidFill>
                  <a:srgbClr val="7A88A8"/>
                </a:solidFill>
                <a:latin typeface="Cambria" pitchFamily="34" charset="0"/>
                <a:ea typeface="Cambria" pitchFamily="34" charset="-122"/>
                <a:cs typeface="Cambria" pitchFamily="34" charset="-120"/>
              </a:rPr>
              <a:t>?</a:t>
            </a:r>
            <a:endParaRPr lang="en-US" sz="4200" dirty="0"/>
          </a:p>
        </p:txBody>
      </p:sp>
      <p:sp>
        <p:nvSpPr>
          <p:cNvPr id="19" name="Text 17"/>
          <p:cNvSpPr/>
          <p:nvPr/>
        </p:nvSpPr>
        <p:spPr>
          <a:xfrm>
            <a:off x="7040880" y="2331720"/>
            <a:ext cx="1828800" cy="320040"/>
          </a:xfrm>
          <a:prstGeom prst="rect">
            <a:avLst/>
          </a:prstGeom>
          <a:noFill/>
          <a:ln/>
        </p:spPr>
        <p:txBody>
          <a:bodyPr wrap="square" lIns="0" tIns="0" rIns="0" bIns="0" rtlCol="0" anchor="ctr"/>
          <a:lstStyle/>
          <a:p>
            <a:pPr algn="ctr" indent="0" marL="0">
              <a:buNone/>
            </a:pPr>
            <a:r>
              <a:rPr lang="en-US" sz="1100" b="1" dirty="0">
                <a:solidFill>
                  <a:srgbClr val="7A88A8"/>
                </a:solidFill>
                <a:latin typeface="Calibri" pitchFamily="34" charset="0"/>
                <a:ea typeface="Calibri" pitchFamily="34" charset="-122"/>
                <a:cs typeface="Calibri" pitchFamily="34" charset="-120"/>
              </a:rPr>
              <a:t>Hall 4</a:t>
            </a:r>
            <a:endParaRPr lang="en-US" sz="1100" dirty="0"/>
          </a:p>
        </p:txBody>
      </p:sp>
      <p:sp>
        <p:nvSpPr>
          <p:cNvPr id="20" name="Text 18"/>
          <p:cNvSpPr/>
          <p:nvPr/>
        </p:nvSpPr>
        <p:spPr>
          <a:xfrm>
            <a:off x="7040880" y="2651760"/>
            <a:ext cx="1828800" cy="274320"/>
          </a:xfrm>
          <a:prstGeom prst="rect">
            <a:avLst/>
          </a:prstGeom>
          <a:noFill/>
          <a:ln/>
        </p:spPr>
        <p:txBody>
          <a:bodyPr wrap="square" lIns="0" tIns="0" rIns="0" bIns="0" rtlCol="0" anchor="ctr"/>
          <a:lstStyle/>
          <a:p>
            <a:pPr algn="ctr" indent="0" marL="0">
              <a:buNone/>
            </a:pPr>
            <a:r>
              <a:rPr lang="en-US" sz="900" spc="150" kern="0" dirty="0">
                <a:solidFill>
                  <a:srgbClr val="7A88A8"/>
                </a:solidFill>
                <a:latin typeface="Calibri" pitchFamily="34" charset="0"/>
                <a:ea typeface="Calibri" pitchFamily="34" charset="-122"/>
                <a:cs typeface="Calibri" pitchFamily="34" charset="-120"/>
              </a:rPr>
              <a:t>MYSTERY</a:t>
            </a:r>
            <a:endParaRPr lang="en-US" sz="900" dirty="0"/>
          </a:p>
        </p:txBody>
      </p:sp>
      <p:sp>
        <p:nvSpPr>
          <p:cNvPr id="21" name="Shape 19"/>
          <p:cNvSpPr/>
          <p:nvPr/>
        </p:nvSpPr>
        <p:spPr>
          <a:xfrm>
            <a:off x="457200" y="3200400"/>
            <a:ext cx="8229600" cy="1097280"/>
          </a:xfrm>
          <a:prstGeom prst="roundRect">
            <a:avLst>
              <a:gd name="adj" fmla="val 10000"/>
            </a:avLst>
          </a:prstGeom>
          <a:solidFill>
            <a:srgbClr val="FFF3DC"/>
          </a:solidFill>
          <a:ln w="19050">
            <a:solidFill>
              <a:srgbClr val="F5E6C8"/>
            </a:solidFill>
            <a:prstDash val="solid"/>
          </a:ln>
        </p:spPr>
      </p:sp>
      <p:sp>
        <p:nvSpPr>
          <p:cNvPr id="22" name="Text 20"/>
          <p:cNvSpPr/>
          <p:nvPr/>
        </p:nvSpPr>
        <p:spPr>
          <a:xfrm>
            <a:off x="594360" y="3255264"/>
            <a:ext cx="79552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23" name="Text 21"/>
          <p:cNvSpPr/>
          <p:nvPr/>
        </p:nvSpPr>
        <p:spPr>
          <a:xfrm>
            <a:off x="594360" y="3456432"/>
            <a:ext cx="7955280" cy="7772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one hall might study...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museum probably needs someone who studies..."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rtlCol="0" anchor="ctr"/>
          <a:lstStyle/>
          <a:p>
            <a:pPr algn="ctr" indent="0" marL="0">
              <a:buNone/>
            </a:pPr>
            <a:r>
              <a:rPr lang="en-US" sz="3000" b="1" dirty="0">
                <a:solidFill>
                  <a:srgbClr val="0E1C42"/>
                </a:solidFill>
                <a:latin typeface="Cambria" pitchFamily="34" charset="0"/>
                <a:ea typeface="Cambria" pitchFamily="34" charset="-122"/>
                <a:cs typeface="Cambria" pitchFamily="34" charset="-120"/>
              </a:rPr>
              <a:t>A Clue From Ancient Greece</a:t>
            </a:r>
            <a:endParaRPr lang="en-US" sz="3000" dirty="0"/>
          </a:p>
        </p:txBody>
      </p:sp>
      <p:sp>
        <p:nvSpPr>
          <p:cNvPr id="3" name="Shape 1"/>
          <p:cNvSpPr/>
          <p:nvPr/>
        </p:nvSpPr>
        <p:spPr>
          <a:xfrm>
            <a:off x="457200" y="804672"/>
            <a:ext cx="8229600" cy="0"/>
          </a:xfrm>
          <a:prstGeom prst="line">
            <a:avLst/>
          </a:prstGeom>
          <a:noFill/>
          <a:ln w="19050">
            <a:solidFill>
              <a:srgbClr val="D0D8E8"/>
            </a:solidFill>
            <a:prstDash val="solid"/>
          </a:ln>
        </p:spPr>
      </p:sp>
      <p:sp>
        <p:nvSpPr>
          <p:cNvPr id="4" name="Shape 2"/>
          <p:cNvSpPr/>
          <p:nvPr/>
        </p:nvSpPr>
        <p:spPr>
          <a:xfrm>
            <a:off x="548640" y="914400"/>
            <a:ext cx="8046720" cy="1097280"/>
          </a:xfrm>
          <a:prstGeom prst="roundRect">
            <a:avLst>
              <a:gd name="adj" fmla="val 12500"/>
            </a:avLst>
          </a:prstGeom>
          <a:solidFill>
            <a:srgbClr val="F0E8FF"/>
          </a:solidFill>
          <a:ln w="25400">
            <a:solidFill>
              <a:srgbClr val="8B6FC0"/>
            </a:solidFill>
            <a:prstDash val="solid"/>
          </a:ln>
        </p:spPr>
      </p:sp>
      <p:sp>
        <p:nvSpPr>
          <p:cNvPr id="5" name="Shape 3"/>
          <p:cNvSpPr/>
          <p:nvPr/>
        </p:nvSpPr>
        <p:spPr>
          <a:xfrm>
            <a:off x="548640" y="914400"/>
            <a:ext cx="1463040" cy="411480"/>
          </a:xfrm>
          <a:prstGeom prst="roundRect">
            <a:avLst>
              <a:gd name="adj" fmla="val 22222"/>
            </a:avLst>
          </a:prstGeom>
          <a:solidFill>
            <a:srgbClr val="8B6FC0"/>
          </a:solidFill>
          <a:ln w="12700">
            <a:solidFill>
              <a:srgbClr val="8B6FC0"/>
            </a:solidFill>
            <a:prstDash val="solid"/>
          </a:ln>
        </p:spPr>
      </p:sp>
      <p:sp>
        <p:nvSpPr>
          <p:cNvPr id="6" name="Text 4"/>
          <p:cNvSpPr/>
          <p:nvPr/>
        </p:nvSpPr>
        <p:spPr>
          <a:xfrm>
            <a:off x="548640" y="914400"/>
            <a:ext cx="1463040" cy="411480"/>
          </a:xfrm>
          <a:prstGeom prst="rect">
            <a:avLst/>
          </a:prstGeom>
          <a:noFill/>
          <a:ln/>
        </p:spPr>
        <p:txBody>
          <a:bodyPr wrap="square" lIns="0" tIns="0" rIns="0" bIns="0" rtlCol="0" anchor="ctr"/>
          <a:lstStyle/>
          <a:p>
            <a:pPr algn="ctr" indent="0" marL="0">
              <a:buNone/>
            </a:pPr>
            <a:r>
              <a:rPr lang="en-US" sz="900" b="1" spc="150" kern="0" dirty="0">
                <a:solidFill>
                  <a:srgbClr val="FFFFFF"/>
                </a:solidFill>
                <a:latin typeface="Calibri" pitchFamily="34" charset="0"/>
                <a:ea typeface="Calibri" pitchFamily="34" charset="-122"/>
                <a:cs typeface="Calibri" pitchFamily="34" charset="-120"/>
              </a:rPr>
              <a:t>GREEK ROOT</a:t>
            </a:r>
            <a:endParaRPr lang="en-US" sz="900" dirty="0"/>
          </a:p>
        </p:txBody>
      </p:sp>
      <p:sp>
        <p:nvSpPr>
          <p:cNvPr id="7" name="Text 5"/>
          <p:cNvSpPr/>
          <p:nvPr/>
        </p:nvSpPr>
        <p:spPr>
          <a:xfrm>
            <a:off x="2194560" y="941832"/>
            <a:ext cx="2743200" cy="502920"/>
          </a:xfrm>
          <a:prstGeom prst="rect">
            <a:avLst/>
          </a:prstGeom>
          <a:noFill/>
          <a:ln/>
        </p:spPr>
        <p:txBody>
          <a:bodyPr wrap="square" lIns="0" tIns="0" rIns="0" bIns="0" rtlCol="0" anchor="ctr"/>
          <a:lstStyle/>
          <a:p>
            <a:pPr indent="0" marL="0">
              <a:buNone/>
            </a:pPr>
            <a:r>
              <a:rPr lang="en-US" sz="3200" b="1" dirty="0">
                <a:solidFill>
                  <a:srgbClr val="8B6FC0"/>
                </a:solidFill>
                <a:latin typeface="Cambria" pitchFamily="34" charset="0"/>
                <a:ea typeface="Cambria" pitchFamily="34" charset="-122"/>
                <a:cs typeface="Cambria" pitchFamily="34" charset="-120"/>
              </a:rPr>
              <a:t>histor</a:t>
            </a:r>
            <a:endParaRPr lang="en-US" sz="3200" dirty="0"/>
          </a:p>
        </p:txBody>
      </p:sp>
      <p:sp>
        <p:nvSpPr>
          <p:cNvPr id="8" name="Text 6"/>
          <p:cNvSpPr/>
          <p:nvPr/>
        </p:nvSpPr>
        <p:spPr>
          <a:xfrm>
            <a:off x="2194560" y="1481328"/>
            <a:ext cx="6035040" cy="320040"/>
          </a:xfrm>
          <a:prstGeom prst="rect">
            <a:avLst/>
          </a:prstGeom>
          <a:noFill/>
          <a:ln/>
        </p:spPr>
        <p:txBody>
          <a:bodyPr wrap="square" lIns="0" tIns="0" rIns="0" bIns="0" rtlCol="0" anchor="ctr"/>
          <a:lstStyle/>
          <a:p>
            <a:pPr indent="0" marL="0">
              <a:buNone/>
            </a:pPr>
            <a:r>
              <a:rPr lang="en-US" sz="1300" i="1" dirty="0">
                <a:solidFill>
                  <a:srgbClr val="0E1C42"/>
                </a:solidFill>
                <a:latin typeface="Calibri" pitchFamily="34" charset="0"/>
                <a:ea typeface="Calibri" pitchFamily="34" charset="-122"/>
                <a:cs typeface="Calibri" pitchFamily="34" charset="-120"/>
              </a:rPr>
              <a:t>meaning: "one who knows" or "a learned person"</a:t>
            </a:r>
            <a:endParaRPr lang="en-US" sz="1300" dirty="0"/>
          </a:p>
        </p:txBody>
      </p:sp>
      <p:sp>
        <p:nvSpPr>
          <p:cNvPr id="9" name="Text 7"/>
          <p:cNvSpPr/>
          <p:nvPr/>
        </p:nvSpPr>
        <p:spPr>
          <a:xfrm>
            <a:off x="548640" y="2148840"/>
            <a:ext cx="8046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Words that use this root:</a:t>
            </a:r>
            <a:endParaRPr lang="en-US" sz="1300" dirty="0"/>
          </a:p>
        </p:txBody>
      </p:sp>
      <p:sp>
        <p:nvSpPr>
          <p:cNvPr id="10" name="Shape 8"/>
          <p:cNvSpPr/>
          <p:nvPr/>
        </p:nvSpPr>
        <p:spPr>
          <a:xfrm>
            <a:off x="548640" y="2542032"/>
            <a:ext cx="3840480" cy="411480"/>
          </a:xfrm>
          <a:prstGeom prst="roundRect">
            <a:avLst>
              <a:gd name="adj" fmla="val 22222"/>
            </a:avLst>
          </a:prstGeom>
          <a:solidFill>
            <a:srgbClr val="EDEDF8"/>
          </a:solidFill>
          <a:ln w="12700">
            <a:solidFill>
              <a:srgbClr val="C8C8E8"/>
            </a:solidFill>
            <a:prstDash val="solid"/>
          </a:ln>
        </p:spPr>
      </p:sp>
      <p:sp>
        <p:nvSpPr>
          <p:cNvPr id="11" name="Text 9"/>
          <p:cNvSpPr/>
          <p:nvPr/>
        </p:nvSpPr>
        <p:spPr>
          <a:xfrm>
            <a:off x="685800" y="2542032"/>
            <a:ext cx="1371600" cy="411480"/>
          </a:xfrm>
          <a:prstGeom prst="rect">
            <a:avLst/>
          </a:prstGeom>
          <a:noFill/>
          <a:ln/>
        </p:spPr>
        <p:txBody>
          <a:bodyPr wrap="square" lIns="0" tIns="0" rIns="0" bIns="0" rtlCol="0" anchor="ctr"/>
          <a:lstStyle/>
          <a:p>
            <a:pPr indent="0" marL="0">
              <a:buNone/>
            </a:pPr>
            <a:r>
              <a:rPr lang="en-US" sz="1300" b="1" dirty="0">
                <a:solidFill>
                  <a:srgbClr val="8B6FC0"/>
                </a:solidFill>
                <a:latin typeface="Cambria" pitchFamily="34" charset="0"/>
                <a:ea typeface="Cambria" pitchFamily="34" charset="-122"/>
                <a:cs typeface="Cambria" pitchFamily="34" charset="-120"/>
              </a:rPr>
              <a:t>history</a:t>
            </a:r>
            <a:endParaRPr lang="en-US" sz="1300" dirty="0"/>
          </a:p>
        </p:txBody>
      </p:sp>
      <p:sp>
        <p:nvSpPr>
          <p:cNvPr id="12" name="Text 10"/>
          <p:cNvSpPr/>
          <p:nvPr/>
        </p:nvSpPr>
        <p:spPr>
          <a:xfrm>
            <a:off x="2057400" y="2542032"/>
            <a:ext cx="2194560" cy="41148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the study of the past</a:t>
            </a:r>
            <a:endParaRPr lang="en-US" sz="1100" dirty="0"/>
          </a:p>
        </p:txBody>
      </p:sp>
      <p:sp>
        <p:nvSpPr>
          <p:cNvPr id="13" name="Shape 11"/>
          <p:cNvSpPr/>
          <p:nvPr/>
        </p:nvSpPr>
        <p:spPr>
          <a:xfrm>
            <a:off x="548640" y="3044952"/>
            <a:ext cx="3840480" cy="411480"/>
          </a:xfrm>
          <a:prstGeom prst="roundRect">
            <a:avLst>
              <a:gd name="adj" fmla="val 22222"/>
            </a:avLst>
          </a:prstGeom>
          <a:solidFill>
            <a:srgbClr val="EDEDF8"/>
          </a:solidFill>
          <a:ln w="12700">
            <a:solidFill>
              <a:srgbClr val="C8C8E8"/>
            </a:solidFill>
            <a:prstDash val="solid"/>
          </a:ln>
        </p:spPr>
      </p:sp>
      <p:sp>
        <p:nvSpPr>
          <p:cNvPr id="14" name="Text 12"/>
          <p:cNvSpPr/>
          <p:nvPr/>
        </p:nvSpPr>
        <p:spPr>
          <a:xfrm>
            <a:off x="685800" y="3044952"/>
            <a:ext cx="1371600" cy="411480"/>
          </a:xfrm>
          <a:prstGeom prst="rect">
            <a:avLst/>
          </a:prstGeom>
          <a:noFill/>
          <a:ln/>
        </p:spPr>
        <p:txBody>
          <a:bodyPr wrap="square" lIns="0" tIns="0" rIns="0" bIns="0" rtlCol="0" anchor="ctr"/>
          <a:lstStyle/>
          <a:p>
            <a:pPr indent="0" marL="0">
              <a:buNone/>
            </a:pPr>
            <a:r>
              <a:rPr lang="en-US" sz="1300" b="1" dirty="0">
                <a:solidFill>
                  <a:srgbClr val="8B6FC0"/>
                </a:solidFill>
                <a:latin typeface="Cambria" pitchFamily="34" charset="0"/>
                <a:ea typeface="Cambria" pitchFamily="34" charset="-122"/>
                <a:cs typeface="Cambria" pitchFamily="34" charset="-120"/>
              </a:rPr>
              <a:t>historian</a:t>
            </a:r>
            <a:endParaRPr lang="en-US" sz="1300" dirty="0"/>
          </a:p>
        </p:txBody>
      </p:sp>
      <p:sp>
        <p:nvSpPr>
          <p:cNvPr id="15" name="Text 13"/>
          <p:cNvSpPr/>
          <p:nvPr/>
        </p:nvSpPr>
        <p:spPr>
          <a:xfrm>
            <a:off x="2057400" y="3044952"/>
            <a:ext cx="2194560" cy="41148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a person who studies the past</a:t>
            </a:r>
            <a:endParaRPr lang="en-US" sz="1100" dirty="0"/>
          </a:p>
        </p:txBody>
      </p:sp>
      <p:sp>
        <p:nvSpPr>
          <p:cNvPr id="16" name="Shape 14"/>
          <p:cNvSpPr/>
          <p:nvPr/>
        </p:nvSpPr>
        <p:spPr>
          <a:xfrm>
            <a:off x="4663440" y="2542032"/>
            <a:ext cx="3840480" cy="411480"/>
          </a:xfrm>
          <a:prstGeom prst="roundRect">
            <a:avLst>
              <a:gd name="adj" fmla="val 22222"/>
            </a:avLst>
          </a:prstGeom>
          <a:solidFill>
            <a:srgbClr val="EDEDF8"/>
          </a:solidFill>
          <a:ln w="12700">
            <a:solidFill>
              <a:srgbClr val="C8C8E8"/>
            </a:solidFill>
            <a:prstDash val="solid"/>
          </a:ln>
        </p:spPr>
      </p:sp>
      <p:sp>
        <p:nvSpPr>
          <p:cNvPr id="17" name="Text 15"/>
          <p:cNvSpPr/>
          <p:nvPr/>
        </p:nvSpPr>
        <p:spPr>
          <a:xfrm>
            <a:off x="4800600" y="2542032"/>
            <a:ext cx="1371600" cy="411480"/>
          </a:xfrm>
          <a:prstGeom prst="rect">
            <a:avLst/>
          </a:prstGeom>
          <a:noFill/>
          <a:ln/>
        </p:spPr>
        <p:txBody>
          <a:bodyPr wrap="square" lIns="0" tIns="0" rIns="0" bIns="0" rtlCol="0" anchor="ctr"/>
          <a:lstStyle/>
          <a:p>
            <a:pPr indent="0" marL="0">
              <a:buNone/>
            </a:pPr>
            <a:r>
              <a:rPr lang="en-US" sz="1300" b="1" dirty="0">
                <a:solidFill>
                  <a:srgbClr val="8B6FC0"/>
                </a:solidFill>
                <a:latin typeface="Cambria" pitchFamily="34" charset="0"/>
                <a:ea typeface="Cambria" pitchFamily="34" charset="-122"/>
                <a:cs typeface="Cambria" pitchFamily="34" charset="-120"/>
              </a:rPr>
              <a:t>historical</a:t>
            </a:r>
            <a:endParaRPr lang="en-US" sz="1300" dirty="0"/>
          </a:p>
        </p:txBody>
      </p:sp>
      <p:sp>
        <p:nvSpPr>
          <p:cNvPr id="18" name="Text 16"/>
          <p:cNvSpPr/>
          <p:nvPr/>
        </p:nvSpPr>
        <p:spPr>
          <a:xfrm>
            <a:off x="6172200" y="2542032"/>
            <a:ext cx="2194560" cy="41148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relating to events in the past</a:t>
            </a:r>
            <a:endParaRPr lang="en-US" sz="1100" dirty="0"/>
          </a:p>
        </p:txBody>
      </p:sp>
      <p:sp>
        <p:nvSpPr>
          <p:cNvPr id="19" name="Shape 17"/>
          <p:cNvSpPr/>
          <p:nvPr/>
        </p:nvSpPr>
        <p:spPr>
          <a:xfrm>
            <a:off x="4663440" y="3044952"/>
            <a:ext cx="3840480" cy="411480"/>
          </a:xfrm>
          <a:prstGeom prst="roundRect">
            <a:avLst>
              <a:gd name="adj" fmla="val 22222"/>
            </a:avLst>
          </a:prstGeom>
          <a:solidFill>
            <a:srgbClr val="EDEDF8"/>
          </a:solidFill>
          <a:ln w="12700">
            <a:solidFill>
              <a:srgbClr val="C8C8E8"/>
            </a:solidFill>
            <a:prstDash val="solid"/>
          </a:ln>
        </p:spPr>
      </p:sp>
      <p:sp>
        <p:nvSpPr>
          <p:cNvPr id="20" name="Text 18"/>
          <p:cNvSpPr/>
          <p:nvPr/>
        </p:nvSpPr>
        <p:spPr>
          <a:xfrm>
            <a:off x="4800600" y="3044952"/>
            <a:ext cx="1371600" cy="411480"/>
          </a:xfrm>
          <a:prstGeom prst="rect">
            <a:avLst/>
          </a:prstGeom>
          <a:noFill/>
          <a:ln/>
        </p:spPr>
        <p:txBody>
          <a:bodyPr wrap="square" lIns="0" tIns="0" rIns="0" bIns="0" rtlCol="0" anchor="ctr"/>
          <a:lstStyle/>
          <a:p>
            <a:pPr indent="0" marL="0">
              <a:buNone/>
            </a:pPr>
            <a:r>
              <a:rPr lang="en-US" sz="1300" b="1" dirty="0">
                <a:solidFill>
                  <a:srgbClr val="8B6FC0"/>
                </a:solidFill>
                <a:latin typeface="Cambria" pitchFamily="34" charset="0"/>
                <a:ea typeface="Cambria" pitchFamily="34" charset="-122"/>
                <a:cs typeface="Cambria" pitchFamily="34" charset="-120"/>
              </a:rPr>
              <a:t>prehistoric</a:t>
            </a:r>
            <a:endParaRPr lang="en-US" sz="1300" dirty="0"/>
          </a:p>
        </p:txBody>
      </p:sp>
      <p:sp>
        <p:nvSpPr>
          <p:cNvPr id="21" name="Text 19"/>
          <p:cNvSpPr/>
          <p:nvPr/>
        </p:nvSpPr>
        <p:spPr>
          <a:xfrm>
            <a:off x="6172200" y="3044952"/>
            <a:ext cx="2194560" cy="41148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before written history began</a:t>
            </a:r>
            <a:endParaRPr lang="en-US" sz="1100" dirty="0"/>
          </a:p>
        </p:txBody>
      </p:sp>
      <p:sp>
        <p:nvSpPr>
          <p:cNvPr id="22" name="Shape 20"/>
          <p:cNvSpPr/>
          <p:nvPr/>
        </p:nvSpPr>
        <p:spPr>
          <a:xfrm>
            <a:off x="548640" y="3657600"/>
            <a:ext cx="8046720" cy="777240"/>
          </a:xfrm>
          <a:prstGeom prst="roundRect">
            <a:avLst>
              <a:gd name="adj" fmla="val 11765"/>
            </a:avLst>
          </a:prstGeom>
          <a:solidFill>
            <a:srgbClr val="F0F5FF"/>
          </a:solidFill>
          <a:ln w="12700">
            <a:solidFill>
              <a:srgbClr val="B8C8E8"/>
            </a:solidFill>
            <a:prstDash val="solid"/>
          </a:ln>
        </p:spPr>
      </p:sp>
      <p:sp>
        <p:nvSpPr>
          <p:cNvPr id="23" name="Text 21"/>
          <p:cNvSpPr/>
          <p:nvPr/>
        </p:nvSpPr>
        <p:spPr>
          <a:xfrm>
            <a:off x="731520" y="3703320"/>
            <a:ext cx="7680960" cy="685800"/>
          </a:xfrm>
          <a:prstGeom prst="rect">
            <a:avLst/>
          </a:prstGeom>
          <a:noFill/>
          <a:ln/>
        </p:spPr>
        <p:txBody>
          <a:bodyPr wrap="square" lIns="0" tIns="0" rIns="0" bIns="0" rtlCol="0" anchor="ctr"/>
          <a:lstStyle/>
          <a:p>
            <a:pPr indent="0" marL="0">
              <a:lnSpc>
                <a:spcPct val="120000"/>
              </a:lnSpc>
              <a:buNone/>
            </a:pPr>
            <a:r>
              <a:rPr lang="en-US" sz="1200" dirty="0">
                <a:solidFill>
                  <a:srgbClr val="0E1C42"/>
                </a:solidFill>
                <a:latin typeface="Calibri" pitchFamily="34" charset="0"/>
                <a:ea typeface="Calibri" pitchFamily="34" charset="-122"/>
                <a:cs typeface="Calibri" pitchFamily="34" charset="-120"/>
              </a:rPr>
              <a:t>Discovery Fact:  The word "history" goes all the way back to ancient Greece. A man named Herodotus wrote one of the first history books nearly 2,500 years ago. People call him the "Father of History!"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3200400" y="201168"/>
            <a:ext cx="2743200" cy="411480"/>
          </a:xfrm>
          <a:prstGeom prst="roundRect">
            <a:avLst>
              <a:gd name="adj" fmla="val 22222"/>
            </a:avLst>
          </a:prstGeom>
          <a:solidFill>
            <a:srgbClr val="1A3A2A"/>
          </a:solidFill>
          <a:ln w="19050">
            <a:solidFill>
              <a:srgbClr val="34B76F"/>
            </a:solidFill>
            <a:prstDash val="solid"/>
          </a:ln>
        </p:spPr>
      </p:sp>
      <p:sp>
        <p:nvSpPr>
          <p:cNvPr id="5" name="Text 3"/>
          <p:cNvSpPr/>
          <p:nvPr/>
        </p:nvSpPr>
        <p:spPr>
          <a:xfrm>
            <a:off x="3200400" y="201168"/>
            <a:ext cx="2743200" cy="411480"/>
          </a:xfrm>
          <a:prstGeom prst="rect">
            <a:avLst/>
          </a:prstGeom>
          <a:noFill/>
          <a:ln/>
        </p:spPr>
        <p:txBody>
          <a:bodyPr wrap="square" lIns="0" tIns="0" rIns="0" bIns="0" rtlCol="0" anchor="ctr"/>
          <a:lstStyle/>
          <a:p>
            <a:pPr algn="ctr" indent="0" marL="0">
              <a:buNone/>
            </a:pPr>
            <a:r>
              <a:rPr lang="en-US" sz="1100" b="1" spc="150" kern="0" dirty="0">
                <a:solidFill>
                  <a:srgbClr val="34B76F"/>
                </a:solidFill>
                <a:latin typeface="Calibri" pitchFamily="34" charset="0"/>
                <a:ea typeface="Calibri" pitchFamily="34" charset="-122"/>
                <a:cs typeface="Calibri" pitchFamily="34" charset="-120"/>
              </a:rPr>
              <a:t>HALL 1 — UNLOCKED!</a:t>
            </a:r>
            <a:endParaRPr lang="en-US" sz="1100" dirty="0"/>
          </a:p>
        </p:txBody>
      </p:sp>
      <p:sp>
        <p:nvSpPr>
          <p:cNvPr id="6" name="Shape 4"/>
          <p:cNvSpPr/>
          <p:nvPr/>
        </p:nvSpPr>
        <p:spPr>
          <a:xfrm>
            <a:off x="365760" y="749808"/>
            <a:ext cx="4389120" cy="2926080"/>
          </a:xfrm>
          <a:prstGeom prst="roundRect">
            <a:avLst>
              <a:gd name="adj" fmla="val 3750"/>
            </a:avLst>
          </a:prstGeom>
          <a:solidFill>
            <a:srgbClr val="E2E8F4"/>
          </a:solidFill>
          <a:ln w="19050">
            <a:solidFill>
              <a:srgbClr val="B0B8CC"/>
            </a:solidFill>
            <a:prstDash val="dash"/>
          </a:ln>
        </p:spPr>
      </p:sp>
      <p:sp>
        <p:nvSpPr>
          <p:cNvPr id="7" name="Text 5"/>
          <p:cNvSpPr/>
          <p:nvPr/>
        </p:nvSpPr>
        <p:spPr>
          <a:xfrm>
            <a:off x="365760" y="749808"/>
            <a:ext cx="43891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502920" y="1024128"/>
            <a:ext cx="4114800" cy="25603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Scroll/parchment with old handwriting, photographs, and a sealed letter — sources a historian would study</a:t>
            </a:r>
            <a:endParaRPr lang="en-US" sz="1100" dirty="0"/>
          </a:p>
        </p:txBody>
      </p:sp>
      <p:sp>
        <p:nvSpPr>
          <p:cNvPr id="9" name="Text 7"/>
          <p:cNvSpPr/>
          <p:nvPr/>
        </p:nvSpPr>
        <p:spPr>
          <a:xfrm>
            <a:off x="5029200" y="749808"/>
            <a:ext cx="3749040" cy="731520"/>
          </a:xfrm>
          <a:prstGeom prst="rect">
            <a:avLst/>
          </a:prstGeom>
          <a:noFill/>
          <a:ln/>
        </p:spPr>
        <p:txBody>
          <a:bodyPr wrap="square" lIns="0" tIns="0" rIns="0" bIns="0" rtlCol="0" anchor="ctr"/>
          <a:lstStyle/>
          <a:p>
            <a:pPr indent="0" marL="0">
              <a:buNone/>
            </a:pPr>
            <a:r>
              <a:rPr lang="en-US" sz="3800" b="1" dirty="0">
                <a:solidFill>
                  <a:srgbClr val="D4943A"/>
                </a:solidFill>
                <a:latin typeface="Cambria" pitchFamily="34" charset="0"/>
                <a:ea typeface="Cambria" pitchFamily="34" charset="-122"/>
                <a:cs typeface="Cambria" pitchFamily="34" charset="-120"/>
              </a:rPr>
              <a:t>History</a:t>
            </a:r>
            <a:endParaRPr lang="en-US" sz="3800" dirty="0"/>
          </a:p>
        </p:txBody>
      </p:sp>
      <p:sp>
        <p:nvSpPr>
          <p:cNvPr id="10" name="Shape 8"/>
          <p:cNvSpPr/>
          <p:nvPr/>
        </p:nvSpPr>
        <p:spPr>
          <a:xfrm>
            <a:off x="5029200" y="1517904"/>
            <a:ext cx="3749040" cy="0"/>
          </a:xfrm>
          <a:prstGeom prst="line">
            <a:avLst/>
          </a:prstGeom>
          <a:noFill/>
          <a:ln w="19050">
            <a:solidFill>
              <a:srgbClr val="D4943A"/>
            </a:solidFill>
            <a:prstDash val="solid"/>
          </a:ln>
        </p:spPr>
      </p:sp>
      <p:sp>
        <p:nvSpPr>
          <p:cNvPr id="11" name="Text 9"/>
          <p:cNvSpPr/>
          <p:nvPr/>
        </p:nvSpPr>
        <p:spPr>
          <a:xfrm>
            <a:off x="5029200" y="1609344"/>
            <a:ext cx="3749040" cy="1554480"/>
          </a:xfrm>
          <a:prstGeom prst="rect">
            <a:avLst/>
          </a:prstGeom>
          <a:noFill/>
          <a:ln/>
        </p:spPr>
        <p:txBody>
          <a:bodyPr wrap="square" lIns="0" tIns="0" rIns="0" bIns="0" rtlCol="0" anchor="ctr"/>
          <a:lstStyle/>
          <a:p>
            <a:pPr indent="0" marL="0">
              <a:lnSpc>
                <a:spcPct val="130000"/>
              </a:lnSpc>
              <a:buNone/>
            </a:pPr>
            <a:r>
              <a:rPr lang="en-US" sz="1300" dirty="0">
                <a:solidFill>
                  <a:srgbClr val="FFFFFF"/>
                </a:solidFill>
                <a:latin typeface="Calibri" pitchFamily="34" charset="0"/>
                <a:ea typeface="Calibri" pitchFamily="34" charset="-122"/>
                <a:cs typeface="Calibri" pitchFamily="34" charset="-120"/>
              </a:rPr>
              <a:t>The study of the past.</a:t>
            </a:r>
            <a:endParaRPr lang="en-US" sz="1300" dirty="0"/>
          </a:p>
          <a:p>
            <a:pPr indent="0" marL="0">
              <a:lnSpc>
                <a:spcPct val="130000"/>
              </a:lnSpc>
              <a:buNone/>
            </a:pPr>
            <a:endParaRPr lang="en-US" sz="1300" dirty="0"/>
          </a:p>
          <a:p>
            <a:pPr indent="0" marL="0">
              <a:lnSpc>
                <a:spcPct val="130000"/>
              </a:lnSpc>
              <a:buNone/>
            </a:pPr>
            <a:r>
              <a:rPr lang="en-US" sz="1300" dirty="0">
                <a:solidFill>
                  <a:srgbClr val="FFFFFF"/>
                </a:solidFill>
                <a:latin typeface="Calibri" pitchFamily="34" charset="0"/>
                <a:ea typeface="Calibri" pitchFamily="34" charset="-122"/>
                <a:cs typeface="Calibri" pitchFamily="34" charset="-120"/>
              </a:rPr>
              <a:t>Historians ask:</a:t>
            </a:r>
            <a:endParaRPr lang="en-US" sz="1300" dirty="0"/>
          </a:p>
          <a:p>
            <a:pPr indent="0" marL="0">
              <a:lnSpc>
                <a:spcPct val="130000"/>
              </a:lnSpc>
              <a:buNone/>
            </a:pPr>
            <a:r>
              <a:rPr lang="en-US" sz="1300" dirty="0">
                <a:solidFill>
                  <a:srgbClr val="FFFFFF"/>
                </a:solidFill>
                <a:latin typeface="Calibri" pitchFamily="34" charset="0"/>
                <a:ea typeface="Calibri" pitchFamily="34" charset="-122"/>
                <a:cs typeface="Calibri" pitchFamily="34" charset="-120"/>
              </a:rPr>
              <a:t>What happened?</a:t>
            </a:r>
            <a:endParaRPr lang="en-US" sz="1300" dirty="0"/>
          </a:p>
          <a:p>
            <a:pPr indent="0" marL="0">
              <a:lnSpc>
                <a:spcPct val="130000"/>
              </a:lnSpc>
              <a:buNone/>
            </a:pPr>
            <a:r>
              <a:rPr lang="en-US" sz="1300" dirty="0">
                <a:solidFill>
                  <a:srgbClr val="FFFFFF"/>
                </a:solidFill>
                <a:latin typeface="Calibri" pitchFamily="34" charset="0"/>
                <a:ea typeface="Calibri" pitchFamily="34" charset="-122"/>
                <a:cs typeface="Calibri" pitchFamily="34" charset="-120"/>
              </a:rPr>
              <a:t>Why did it happen?</a:t>
            </a:r>
            <a:endParaRPr lang="en-US" sz="1300" dirty="0"/>
          </a:p>
          <a:p>
            <a:pPr indent="0" marL="0">
              <a:lnSpc>
                <a:spcPct val="130000"/>
              </a:lnSpc>
              <a:buNone/>
            </a:pPr>
            <a:r>
              <a:rPr lang="en-US" sz="1300" dirty="0">
                <a:solidFill>
                  <a:srgbClr val="FFFFFF"/>
                </a:solidFill>
                <a:latin typeface="Calibri" pitchFamily="34" charset="0"/>
                <a:ea typeface="Calibri" pitchFamily="34" charset="-122"/>
                <a:cs typeface="Calibri" pitchFamily="34" charset="-120"/>
              </a:rPr>
              <a:t>What can we learn from it?</a:t>
            </a:r>
            <a:endParaRPr lang="en-US" sz="1300" dirty="0"/>
          </a:p>
        </p:txBody>
      </p:sp>
      <p:sp>
        <p:nvSpPr>
          <p:cNvPr id="12" name="Text 10"/>
          <p:cNvSpPr/>
          <p:nvPr/>
        </p:nvSpPr>
        <p:spPr>
          <a:xfrm>
            <a:off x="5029200" y="3218688"/>
            <a:ext cx="3749040" cy="457200"/>
          </a:xfrm>
          <a:prstGeom prst="rect">
            <a:avLst/>
          </a:prstGeom>
          <a:noFill/>
          <a:ln/>
        </p:spPr>
        <p:txBody>
          <a:bodyPr wrap="square" lIns="0" tIns="0" rIns="0" bIns="0" rtlCol="0" anchor="ctr"/>
          <a:lstStyle/>
          <a:p>
            <a:pPr indent="0" marL="0">
              <a:buNone/>
            </a:pPr>
            <a:r>
              <a:rPr lang="en-US" sz="1100" i="1" dirty="0">
                <a:solidFill>
                  <a:srgbClr val="B0C4DE"/>
                </a:solidFill>
                <a:latin typeface="Calibri" pitchFamily="34" charset="0"/>
                <a:ea typeface="Calibri" pitchFamily="34" charset="-122"/>
                <a:cs typeface="Calibri" pitchFamily="34" charset="-120"/>
              </a:rPr>
              <a:t>Historians study old letters, photographs, maps, and objects to find answers.</a:t>
            </a:r>
            <a:endParaRPr lang="en-US" sz="1100" dirty="0"/>
          </a:p>
        </p:txBody>
      </p:sp>
      <p:sp>
        <p:nvSpPr>
          <p:cNvPr id="13" name="Shape 11"/>
          <p:cNvSpPr/>
          <p:nvPr/>
        </p:nvSpPr>
        <p:spPr>
          <a:xfrm>
            <a:off x="365760" y="3840480"/>
            <a:ext cx="1828800" cy="914400"/>
          </a:xfrm>
          <a:prstGeom prst="roundRect">
            <a:avLst>
              <a:gd name="adj" fmla="val 12000"/>
            </a:avLst>
          </a:prstGeom>
          <a:solidFill>
            <a:srgbClr val="1A8A7D"/>
          </a:solidFill>
          <a:ln/>
          <a:effectLst>
            <a:outerShdw sx="100000" sy="100000" kx="0" ky="0" algn="bl" rotWithShape="0" blurRad="63500" dist="25400" dir="8100000">
              <a:srgbClr val="000000">
                <a:alpha val="15000"/>
              </a:srgbClr>
            </a:outerShdw>
          </a:effectLst>
        </p:spPr>
      </p:sp>
      <p:sp>
        <p:nvSpPr>
          <p:cNvPr id="14" name="Text 12"/>
          <p:cNvSpPr/>
          <p:nvPr/>
        </p:nvSpPr>
        <p:spPr>
          <a:xfrm>
            <a:off x="365760" y="3931920"/>
            <a:ext cx="1828800" cy="3200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15" name="Text 13"/>
          <p:cNvSpPr/>
          <p:nvPr/>
        </p:nvSpPr>
        <p:spPr>
          <a:xfrm>
            <a:off x="365760" y="4242816"/>
            <a:ext cx="1828800"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History</a:t>
            </a:r>
            <a:endParaRPr lang="en-US" sz="1300" dirty="0"/>
          </a:p>
        </p:txBody>
      </p:sp>
      <p:sp>
        <p:nvSpPr>
          <p:cNvPr id="16" name="Text 14"/>
          <p:cNvSpPr/>
          <p:nvPr/>
        </p:nvSpPr>
        <p:spPr>
          <a:xfrm>
            <a:off x="420624" y="4498848"/>
            <a:ext cx="1719072" cy="201168"/>
          </a:xfrm>
          <a:prstGeom prst="rect">
            <a:avLst/>
          </a:prstGeom>
          <a:noFill/>
          <a:ln/>
        </p:spPr>
        <p:txBody>
          <a:bodyPr wrap="square" lIns="0" tIns="0" rIns="0" bIns="0" rtlCol="0" anchor="ctr"/>
          <a:lstStyle/>
          <a:p>
            <a:pPr algn="ctr" indent="0" marL="0">
              <a:buNone/>
            </a:pPr>
            <a:r>
              <a:rPr lang="en-US" sz="900" dirty="0">
                <a:solidFill>
                  <a:srgbClr val="D6F2FB"/>
                </a:solidFill>
                <a:latin typeface="Calibri" pitchFamily="34" charset="0"/>
                <a:ea typeface="Calibri" pitchFamily="34" charset="-122"/>
                <a:cs typeface="Calibri" pitchFamily="34" charset="-120"/>
              </a:rPr>
              <a:t>studies the past</a:t>
            </a:r>
            <a:endParaRPr lang="en-US" sz="900" dirty="0"/>
          </a:p>
        </p:txBody>
      </p:sp>
      <p:sp>
        <p:nvSpPr>
          <p:cNvPr id="17" name="Shape 15"/>
          <p:cNvSpPr/>
          <p:nvPr/>
        </p:nvSpPr>
        <p:spPr>
          <a:xfrm>
            <a:off x="2377440" y="3840480"/>
            <a:ext cx="1828800" cy="914400"/>
          </a:xfrm>
          <a:prstGeom prst="roundRect">
            <a:avLst>
              <a:gd name="adj" fmla="val 12000"/>
            </a:avLst>
          </a:prstGeom>
          <a:solidFill>
            <a:srgbClr val="3A4A6B"/>
          </a:solidFill>
          <a:ln/>
          <a:effectLst>
            <a:outerShdw sx="100000" sy="100000" kx="0" ky="0" algn="bl" rotWithShape="0" blurRad="63500" dist="25400" dir="8100000">
              <a:srgbClr val="000000">
                <a:alpha val="15000"/>
              </a:srgbClr>
            </a:outerShdw>
          </a:effectLst>
        </p:spPr>
      </p:sp>
      <p:sp>
        <p:nvSpPr>
          <p:cNvPr id="18" name="Text 16"/>
          <p:cNvSpPr/>
          <p:nvPr/>
        </p:nvSpPr>
        <p:spPr>
          <a:xfrm>
            <a:off x="2377440" y="3931920"/>
            <a:ext cx="1828800" cy="32004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19" name="Text 17"/>
          <p:cNvSpPr/>
          <p:nvPr/>
        </p:nvSpPr>
        <p:spPr>
          <a:xfrm>
            <a:off x="2377440" y="4242816"/>
            <a:ext cx="1828800" cy="237744"/>
          </a:xfrm>
          <a:prstGeom prst="rect">
            <a:avLst/>
          </a:prstGeom>
          <a:noFill/>
          <a:ln/>
        </p:spPr>
        <p:txBody>
          <a:bodyPr wrap="square" lIns="0" tIns="0" rIns="0" bIns="0" rtlCol="0" anchor="ctr"/>
          <a:lstStyle/>
          <a:p>
            <a:pPr algn="ctr" indent="0" marL="0">
              <a:buNone/>
            </a:pPr>
            <a:r>
              <a:rPr lang="en-US" sz="1300" b="1" dirty="0">
                <a:solidFill>
                  <a:srgbClr val="7A88A8"/>
                </a:solidFill>
                <a:latin typeface="Cambria" pitchFamily="34" charset="0"/>
                <a:ea typeface="Cambria" pitchFamily="34" charset="-122"/>
                <a:cs typeface="Cambria" pitchFamily="34" charset="-120"/>
              </a:rPr>
              <a:t>???</a:t>
            </a:r>
            <a:endParaRPr lang="en-US" sz="1300" dirty="0"/>
          </a:p>
        </p:txBody>
      </p:sp>
      <p:sp>
        <p:nvSpPr>
          <p:cNvPr id="20" name="Shape 18"/>
          <p:cNvSpPr/>
          <p:nvPr/>
        </p:nvSpPr>
        <p:spPr>
          <a:xfrm>
            <a:off x="4389120" y="3840480"/>
            <a:ext cx="1828800" cy="914400"/>
          </a:xfrm>
          <a:prstGeom prst="roundRect">
            <a:avLst>
              <a:gd name="adj" fmla="val 12000"/>
            </a:avLst>
          </a:prstGeom>
          <a:solidFill>
            <a:srgbClr val="3A4A6B"/>
          </a:solidFill>
          <a:ln/>
          <a:effectLst>
            <a:outerShdw sx="100000" sy="100000" kx="0" ky="0" algn="bl" rotWithShape="0" blurRad="63500" dist="25400" dir="8100000">
              <a:srgbClr val="000000">
                <a:alpha val="15000"/>
              </a:srgbClr>
            </a:outerShdw>
          </a:effectLst>
        </p:spPr>
      </p:sp>
      <p:sp>
        <p:nvSpPr>
          <p:cNvPr id="21" name="Text 19"/>
          <p:cNvSpPr/>
          <p:nvPr/>
        </p:nvSpPr>
        <p:spPr>
          <a:xfrm>
            <a:off x="4389120" y="3931920"/>
            <a:ext cx="1828800" cy="32004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2" name="Text 20"/>
          <p:cNvSpPr/>
          <p:nvPr/>
        </p:nvSpPr>
        <p:spPr>
          <a:xfrm>
            <a:off x="4389120" y="4242816"/>
            <a:ext cx="1828800" cy="237744"/>
          </a:xfrm>
          <a:prstGeom prst="rect">
            <a:avLst/>
          </a:prstGeom>
          <a:noFill/>
          <a:ln/>
        </p:spPr>
        <p:txBody>
          <a:bodyPr wrap="square" lIns="0" tIns="0" rIns="0" bIns="0" rtlCol="0" anchor="ctr"/>
          <a:lstStyle/>
          <a:p>
            <a:pPr algn="ctr" indent="0" marL="0">
              <a:buNone/>
            </a:pPr>
            <a:r>
              <a:rPr lang="en-US" sz="1300" b="1" dirty="0">
                <a:solidFill>
                  <a:srgbClr val="7A88A8"/>
                </a:solidFill>
                <a:latin typeface="Cambria" pitchFamily="34" charset="0"/>
                <a:ea typeface="Cambria" pitchFamily="34" charset="-122"/>
                <a:cs typeface="Cambria" pitchFamily="34" charset="-120"/>
              </a:rPr>
              <a:t>???</a:t>
            </a:r>
            <a:endParaRPr lang="en-US" sz="1300" dirty="0"/>
          </a:p>
        </p:txBody>
      </p:sp>
      <p:sp>
        <p:nvSpPr>
          <p:cNvPr id="23" name="Shape 21"/>
          <p:cNvSpPr/>
          <p:nvPr/>
        </p:nvSpPr>
        <p:spPr>
          <a:xfrm>
            <a:off x="6400800" y="3840480"/>
            <a:ext cx="1828800" cy="914400"/>
          </a:xfrm>
          <a:prstGeom prst="roundRect">
            <a:avLst>
              <a:gd name="adj" fmla="val 12000"/>
            </a:avLst>
          </a:prstGeom>
          <a:solidFill>
            <a:srgbClr val="3A4A6B"/>
          </a:solidFill>
          <a:ln/>
          <a:effectLst>
            <a:outerShdw sx="100000" sy="100000" kx="0" ky="0" algn="bl" rotWithShape="0" blurRad="63500" dist="25400" dir="8100000">
              <a:srgbClr val="000000">
                <a:alpha val="15000"/>
              </a:srgbClr>
            </a:outerShdw>
          </a:effectLst>
        </p:spPr>
      </p:sp>
      <p:sp>
        <p:nvSpPr>
          <p:cNvPr id="24" name="Text 22"/>
          <p:cNvSpPr/>
          <p:nvPr/>
        </p:nvSpPr>
        <p:spPr>
          <a:xfrm>
            <a:off x="6400800" y="3931920"/>
            <a:ext cx="1828800" cy="32004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5" name="Text 23"/>
          <p:cNvSpPr/>
          <p:nvPr/>
        </p:nvSpPr>
        <p:spPr>
          <a:xfrm>
            <a:off x="6400800" y="4242816"/>
            <a:ext cx="1828800" cy="237744"/>
          </a:xfrm>
          <a:prstGeom prst="rect">
            <a:avLst/>
          </a:prstGeom>
          <a:noFill/>
          <a:ln/>
        </p:spPr>
        <p:txBody>
          <a:bodyPr wrap="square" lIns="0" tIns="0" rIns="0" bIns="0" rtlCol="0" anchor="ctr"/>
          <a:lstStyle/>
          <a:p>
            <a:pPr algn="ctr" indent="0" marL="0">
              <a:buNone/>
            </a:pPr>
            <a:r>
              <a:rPr lang="en-US" sz="1300" b="1" dirty="0">
                <a:solidFill>
                  <a:srgbClr val="7A88A8"/>
                </a:solidFill>
                <a:latin typeface="Cambria" pitchFamily="34" charset="0"/>
                <a:ea typeface="Cambria" pitchFamily="34" charset="-122"/>
                <a:cs typeface="Cambria" pitchFamily="34" charset="-120"/>
              </a:rPr>
              <a: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E1C42"/>
          </a:solidFill>
          <a:ln w="12700">
            <a:solidFill>
              <a:srgbClr val="0E1C42"/>
            </a:solidFill>
            <a:prstDash val="solid"/>
          </a:ln>
        </p:spPr>
      </p:sp>
      <p:sp>
        <p:nvSpPr>
          <p:cNvPr id="3" name="Text 1"/>
          <p:cNvSpPr/>
          <p:nvPr/>
        </p:nvSpPr>
        <p:spPr>
          <a:xfrm>
            <a:off x="365760" y="0"/>
            <a:ext cx="8412480" cy="658368"/>
          </a:xfrm>
          <a:prstGeom prst="rect">
            <a:avLst/>
          </a:prstGeom>
          <a:noFill/>
          <a:ln/>
        </p:spPr>
        <p:txBody>
          <a:bodyPr wrap="square" rtlCol="0" anchor="ctr"/>
          <a:lstStyle/>
          <a:p>
            <a:pPr indent="0" marL="0">
              <a:buNone/>
            </a:pPr>
            <a:r>
              <a:rPr lang="en-US" sz="1400" b="1" dirty="0">
                <a:solidFill>
                  <a:srgbClr val="55C8E8"/>
                </a:solidFill>
                <a:latin typeface="Calibri" pitchFamily="34" charset="0"/>
                <a:ea typeface="Calibri" pitchFamily="34" charset="-122"/>
                <a:cs typeface="Calibri" pitchFamily="34" charset="-120"/>
              </a:rPr>
              <a:t>Clue Box — Hall 2</a:t>
            </a:r>
            <a:endParaRPr lang="en-US" sz="1400" dirty="0"/>
          </a:p>
        </p:txBody>
      </p:sp>
      <p:sp>
        <p:nvSpPr>
          <p:cNvPr id="4" name="Shape 2"/>
          <p:cNvSpPr/>
          <p:nvPr/>
        </p:nvSpPr>
        <p:spPr>
          <a:xfrm>
            <a:off x="7772400" y="91440"/>
            <a:ext cx="1051560" cy="457200"/>
          </a:xfrm>
          <a:prstGeom prst="roundRect">
            <a:avLst>
              <a:gd name="adj" fmla="val 16000"/>
            </a:avLst>
          </a:prstGeom>
          <a:solidFill>
            <a:srgbClr val="1A2D5A"/>
          </a:solidFill>
          <a:ln w="12700">
            <a:solidFill>
              <a:srgbClr val="55C8E8"/>
            </a:solidFill>
            <a:prstDash val="solid"/>
          </a:ln>
        </p:spPr>
      </p:sp>
      <p:sp>
        <p:nvSpPr>
          <p:cNvPr id="5" name="Text 3"/>
          <p:cNvSpPr/>
          <p:nvPr/>
        </p:nvSpPr>
        <p:spPr>
          <a:xfrm>
            <a:off x="7772400" y="91440"/>
            <a:ext cx="1051560" cy="457200"/>
          </a:xfrm>
          <a:prstGeom prst="rect">
            <a:avLst/>
          </a:prstGeom>
          <a:noFill/>
          <a:ln/>
        </p:spPr>
        <p:txBody>
          <a:bodyPr wrap="square" lIns="0" tIns="0" rIns="0" bIns="0" rtlCol="0" anchor="ctr"/>
          <a:lstStyle/>
          <a:p>
            <a:pPr algn="ctr" indent="0" marL="0">
              <a:buNone/>
            </a:pPr>
            <a:r>
              <a:rPr lang="en-US" sz="800" b="1" spc="150" kern="0" dirty="0">
                <a:solidFill>
                  <a:srgbClr val="55C8E8"/>
                </a:solidFill>
                <a:latin typeface="Calibri" pitchFamily="34" charset="0"/>
                <a:ea typeface="Calibri" pitchFamily="34" charset="-122"/>
                <a:cs typeface="Calibri" pitchFamily="34" charset="-120"/>
              </a:rPr>
              <a:t>MYSTERY</a:t>
            </a:r>
            <a:endParaRPr lang="en-US" sz="800" dirty="0"/>
          </a:p>
        </p:txBody>
      </p:sp>
      <p:sp>
        <p:nvSpPr>
          <p:cNvPr id="6" name="Text 4"/>
          <p:cNvSpPr/>
          <p:nvPr/>
        </p:nvSpPr>
        <p:spPr>
          <a:xfrm>
            <a:off x="457200" y="777240"/>
            <a:ext cx="8229600" cy="411480"/>
          </a:xfrm>
          <a:prstGeom prst="rect">
            <a:avLst/>
          </a:prstGeom>
          <a:noFill/>
          <a:ln/>
        </p:spPr>
        <p:txBody>
          <a:bodyPr wrap="square" rtlCol="0" anchor="ctr"/>
          <a:lstStyle/>
          <a:p>
            <a:pPr indent="0" marL="0">
              <a:buNone/>
            </a:pPr>
            <a:r>
              <a:rPr lang="en-US" sz="1600" b="1" dirty="0">
                <a:solidFill>
                  <a:srgbClr val="0E1C42"/>
                </a:solidFill>
                <a:latin typeface="Cambria" pitchFamily="34" charset="0"/>
                <a:ea typeface="Cambria" pitchFamily="34" charset="-122"/>
                <a:cs typeface="Cambria" pitchFamily="34" charset="-120"/>
              </a:rPr>
              <a:t>Look at this evidence. What kind of thinker would use these tools?</a:t>
            </a:r>
            <a:endParaRPr lang="en-US" sz="1600" dirty="0"/>
          </a:p>
        </p:txBody>
      </p:sp>
      <p:sp>
        <p:nvSpPr>
          <p:cNvPr id="7" name="Shape 5"/>
          <p:cNvSpPr/>
          <p:nvPr/>
        </p:nvSpPr>
        <p:spPr>
          <a:xfrm>
            <a:off x="457200" y="1280160"/>
            <a:ext cx="3840480" cy="2103120"/>
          </a:xfrm>
          <a:prstGeom prst="roundRect">
            <a:avLst>
              <a:gd name="adj" fmla="val 5217"/>
            </a:avLst>
          </a:prstGeom>
          <a:solidFill>
            <a:srgbClr val="E2E8F4"/>
          </a:solidFill>
          <a:ln w="19050">
            <a:solidFill>
              <a:srgbClr val="B0B8CC"/>
            </a:solidFill>
            <a:prstDash val="dash"/>
          </a:ln>
        </p:spPr>
      </p:sp>
      <p:sp>
        <p:nvSpPr>
          <p:cNvPr id="8" name="Text 6"/>
          <p:cNvSpPr/>
          <p:nvPr/>
        </p:nvSpPr>
        <p:spPr>
          <a:xfrm>
            <a:off x="457200" y="1280160"/>
            <a:ext cx="38404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9" name="Text 7"/>
          <p:cNvSpPr/>
          <p:nvPr/>
        </p:nvSpPr>
        <p:spPr>
          <a:xfrm>
            <a:off x="594360" y="1554480"/>
            <a:ext cx="3566160" cy="17373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detailed topographic map showing mountains, rivers, and ocean coastlines</a:t>
            </a:r>
            <a:endParaRPr lang="en-US" sz="1100" dirty="0"/>
          </a:p>
        </p:txBody>
      </p:sp>
      <p:sp>
        <p:nvSpPr>
          <p:cNvPr id="10" name="Shape 8"/>
          <p:cNvSpPr/>
          <p:nvPr/>
        </p:nvSpPr>
        <p:spPr>
          <a:xfrm>
            <a:off x="4480560" y="1280160"/>
            <a:ext cx="4206240" cy="2103120"/>
          </a:xfrm>
          <a:prstGeom prst="roundRect">
            <a:avLst>
              <a:gd name="adj" fmla="val 5217"/>
            </a:avLst>
          </a:prstGeom>
          <a:solidFill>
            <a:srgbClr val="E2E8F4"/>
          </a:solidFill>
          <a:ln w="19050">
            <a:solidFill>
              <a:srgbClr val="B0B8CC"/>
            </a:solidFill>
            <a:prstDash val="dash"/>
          </a:ln>
        </p:spPr>
      </p:sp>
      <p:sp>
        <p:nvSpPr>
          <p:cNvPr id="11" name="Text 9"/>
          <p:cNvSpPr/>
          <p:nvPr/>
        </p:nvSpPr>
        <p:spPr>
          <a:xfrm>
            <a:off x="4480560" y="1280160"/>
            <a:ext cx="420624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2" name="Text 10"/>
          <p:cNvSpPr/>
          <p:nvPr/>
        </p:nvSpPr>
        <p:spPr>
          <a:xfrm>
            <a:off x="4617720" y="1554480"/>
            <a:ext cx="3931920" cy="17373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globe or world map showing continents and countries with a person pointing at it</a:t>
            </a:r>
            <a:endParaRPr lang="en-US" sz="1100" dirty="0"/>
          </a:p>
        </p:txBody>
      </p:sp>
      <p:sp>
        <p:nvSpPr>
          <p:cNvPr id="13" name="Shape 11"/>
          <p:cNvSpPr/>
          <p:nvPr/>
        </p:nvSpPr>
        <p:spPr>
          <a:xfrm>
            <a:off x="457200" y="3520440"/>
            <a:ext cx="8229600" cy="1005840"/>
          </a:xfrm>
          <a:prstGeom prst="roundRect">
            <a:avLst>
              <a:gd name="adj" fmla="val 10909"/>
            </a:avLst>
          </a:prstGeom>
          <a:solidFill>
            <a:srgbClr val="FFF3DC"/>
          </a:solidFill>
          <a:ln w="19050">
            <a:solidFill>
              <a:srgbClr val="F5E6C8"/>
            </a:solidFill>
            <a:prstDash val="solid"/>
          </a:ln>
        </p:spPr>
      </p:sp>
      <p:sp>
        <p:nvSpPr>
          <p:cNvPr id="14" name="Text 12"/>
          <p:cNvSpPr/>
          <p:nvPr/>
        </p:nvSpPr>
        <p:spPr>
          <a:xfrm>
            <a:off x="594360" y="3575304"/>
            <a:ext cx="79552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5" name="Text 13"/>
          <p:cNvSpPr/>
          <p:nvPr/>
        </p:nvSpPr>
        <p:spPr>
          <a:xfrm>
            <a:off x="594360" y="3776472"/>
            <a:ext cx="7955280" cy="6858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these clues have to do with..."</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a geographer studies... because..."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3200400" y="201168"/>
            <a:ext cx="2743200" cy="411480"/>
          </a:xfrm>
          <a:prstGeom prst="roundRect">
            <a:avLst>
              <a:gd name="adj" fmla="val 22222"/>
            </a:avLst>
          </a:prstGeom>
          <a:solidFill>
            <a:srgbClr val="1A3A2A"/>
          </a:solidFill>
          <a:ln w="19050">
            <a:solidFill>
              <a:srgbClr val="34B76F"/>
            </a:solidFill>
            <a:prstDash val="solid"/>
          </a:ln>
        </p:spPr>
      </p:sp>
      <p:sp>
        <p:nvSpPr>
          <p:cNvPr id="5" name="Text 3"/>
          <p:cNvSpPr/>
          <p:nvPr/>
        </p:nvSpPr>
        <p:spPr>
          <a:xfrm>
            <a:off x="3200400" y="201168"/>
            <a:ext cx="2743200" cy="411480"/>
          </a:xfrm>
          <a:prstGeom prst="rect">
            <a:avLst/>
          </a:prstGeom>
          <a:noFill/>
          <a:ln/>
        </p:spPr>
        <p:txBody>
          <a:bodyPr wrap="square" lIns="0" tIns="0" rIns="0" bIns="0" rtlCol="0" anchor="ctr"/>
          <a:lstStyle/>
          <a:p>
            <a:pPr algn="ctr" indent="0" marL="0">
              <a:buNone/>
            </a:pPr>
            <a:r>
              <a:rPr lang="en-US" sz="1100" b="1" spc="150" kern="0" dirty="0">
                <a:solidFill>
                  <a:srgbClr val="34B76F"/>
                </a:solidFill>
                <a:latin typeface="Calibri" pitchFamily="34" charset="0"/>
                <a:ea typeface="Calibri" pitchFamily="34" charset="-122"/>
                <a:cs typeface="Calibri" pitchFamily="34" charset="-120"/>
              </a:rPr>
              <a:t>HALL 2 — UNLOCKED!</a:t>
            </a:r>
            <a:endParaRPr lang="en-US" sz="1100" dirty="0"/>
          </a:p>
        </p:txBody>
      </p:sp>
      <p:sp>
        <p:nvSpPr>
          <p:cNvPr id="6" name="Shape 4"/>
          <p:cNvSpPr/>
          <p:nvPr/>
        </p:nvSpPr>
        <p:spPr>
          <a:xfrm>
            <a:off x="365760" y="749808"/>
            <a:ext cx="4389120" cy="2926080"/>
          </a:xfrm>
          <a:prstGeom prst="roundRect">
            <a:avLst>
              <a:gd name="adj" fmla="val 3750"/>
            </a:avLst>
          </a:prstGeom>
          <a:solidFill>
            <a:srgbClr val="E2E8F4"/>
          </a:solidFill>
          <a:ln w="19050">
            <a:solidFill>
              <a:srgbClr val="B0B8CC"/>
            </a:solidFill>
            <a:prstDash val="dash"/>
          </a:ln>
        </p:spPr>
      </p:sp>
      <p:sp>
        <p:nvSpPr>
          <p:cNvPr id="7" name="Text 5"/>
          <p:cNvSpPr/>
          <p:nvPr/>
        </p:nvSpPr>
        <p:spPr>
          <a:xfrm>
            <a:off x="365760" y="749808"/>
            <a:ext cx="43891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502920" y="1024128"/>
            <a:ext cx="4114800" cy="25603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Colorful world map spread across a table, with a magnifying glass and compass on top</a:t>
            </a:r>
            <a:endParaRPr lang="en-US" sz="1100" dirty="0"/>
          </a:p>
        </p:txBody>
      </p:sp>
      <p:sp>
        <p:nvSpPr>
          <p:cNvPr id="9" name="Text 7"/>
          <p:cNvSpPr/>
          <p:nvPr/>
        </p:nvSpPr>
        <p:spPr>
          <a:xfrm>
            <a:off x="5029200" y="749808"/>
            <a:ext cx="3749040" cy="640080"/>
          </a:xfrm>
          <a:prstGeom prst="rect">
            <a:avLst/>
          </a:prstGeom>
          <a:noFill/>
          <a:ln/>
        </p:spPr>
        <p:txBody>
          <a:bodyPr wrap="square" lIns="0" tIns="0" rIns="0" bIns="0" rtlCol="0" anchor="ctr"/>
          <a:lstStyle/>
          <a:p>
            <a:pPr indent="0" marL="0">
              <a:buNone/>
            </a:pPr>
            <a:r>
              <a:rPr lang="en-US" sz="3400" b="1" dirty="0">
                <a:solidFill>
                  <a:srgbClr val="1A8A7D"/>
                </a:solidFill>
                <a:latin typeface="Cambria" pitchFamily="34" charset="0"/>
                <a:ea typeface="Cambria" pitchFamily="34" charset="-122"/>
                <a:cs typeface="Cambria" pitchFamily="34" charset="-120"/>
              </a:rPr>
              <a:t>Geography</a:t>
            </a:r>
            <a:endParaRPr lang="en-US" sz="3400" dirty="0"/>
          </a:p>
        </p:txBody>
      </p:sp>
      <p:sp>
        <p:nvSpPr>
          <p:cNvPr id="10" name="Shape 8"/>
          <p:cNvSpPr/>
          <p:nvPr/>
        </p:nvSpPr>
        <p:spPr>
          <a:xfrm>
            <a:off x="5029200" y="1426464"/>
            <a:ext cx="3749040" cy="0"/>
          </a:xfrm>
          <a:prstGeom prst="line">
            <a:avLst/>
          </a:prstGeom>
          <a:noFill/>
          <a:ln w="19050">
            <a:solidFill>
              <a:srgbClr val="1A8A7D"/>
            </a:solidFill>
            <a:prstDash val="solid"/>
          </a:ln>
        </p:spPr>
      </p:sp>
      <p:sp>
        <p:nvSpPr>
          <p:cNvPr id="11" name="Text 9"/>
          <p:cNvSpPr/>
          <p:nvPr/>
        </p:nvSpPr>
        <p:spPr>
          <a:xfrm>
            <a:off x="5029200" y="1517904"/>
            <a:ext cx="3749040" cy="1920240"/>
          </a:xfrm>
          <a:prstGeom prst="rect">
            <a:avLst/>
          </a:prstGeom>
          <a:noFill/>
          <a:ln/>
        </p:spPr>
        <p:txBody>
          <a:bodyPr wrap="square" lIns="0" tIns="0" rIns="0" bIns="0" rtlCol="0" anchor="ctr"/>
          <a:lstStyle/>
          <a:p>
            <a:pPr indent="0" marL="0">
              <a:lnSpc>
                <a:spcPct val="130000"/>
              </a:lnSpc>
              <a:buNone/>
            </a:pPr>
            <a:r>
              <a:rPr lang="en-US" sz="1200" dirty="0">
                <a:solidFill>
                  <a:srgbClr val="FFFFFF"/>
                </a:solidFill>
                <a:latin typeface="Calibri" pitchFamily="34" charset="0"/>
                <a:ea typeface="Calibri" pitchFamily="34" charset="-122"/>
                <a:cs typeface="Calibri" pitchFamily="34" charset="-120"/>
              </a:rPr>
              <a:t>The study of places.</a:t>
            </a:r>
            <a:endParaRPr lang="en-US" sz="1200" dirty="0"/>
          </a:p>
          <a:p>
            <a:pPr indent="0" marL="0">
              <a:lnSpc>
                <a:spcPct val="130000"/>
              </a:lnSpc>
              <a:buNone/>
            </a:pPr>
            <a:endParaRPr lang="en-US" sz="1200" dirty="0"/>
          </a:p>
          <a:p>
            <a:pPr indent="0" marL="0">
              <a:lnSpc>
                <a:spcPct val="130000"/>
              </a:lnSpc>
              <a:buNone/>
            </a:pPr>
            <a:r>
              <a:rPr lang="en-US" sz="1200" dirty="0">
                <a:solidFill>
                  <a:srgbClr val="FFFFFF"/>
                </a:solidFill>
                <a:latin typeface="Calibri" pitchFamily="34" charset="0"/>
                <a:ea typeface="Calibri" pitchFamily="34" charset="-122"/>
                <a:cs typeface="Calibri" pitchFamily="34" charset="-120"/>
              </a:rPr>
              <a:t>Geographers study:</a:t>
            </a:r>
            <a:endParaRPr lang="en-US" sz="1200" dirty="0"/>
          </a:p>
          <a:p>
            <a:pPr indent="0" marL="0">
              <a:lnSpc>
                <a:spcPct val="130000"/>
              </a:lnSpc>
              <a:buNone/>
            </a:pPr>
            <a:r>
              <a:rPr lang="en-US" sz="1200" dirty="0">
                <a:solidFill>
                  <a:srgbClr val="FFFFFF"/>
                </a:solidFill>
                <a:latin typeface="Calibri" pitchFamily="34" charset="0"/>
                <a:ea typeface="Calibri" pitchFamily="34" charset="-122"/>
                <a:cs typeface="Calibri" pitchFamily="34" charset="-120"/>
              </a:rPr>
              <a:t>Maps, mountains, rivers, oceans, and how people live in different parts of the world.</a:t>
            </a:r>
            <a:endParaRPr lang="en-US" sz="1200" dirty="0"/>
          </a:p>
          <a:p>
            <a:pPr indent="0" marL="0">
              <a:lnSpc>
                <a:spcPct val="130000"/>
              </a:lnSpc>
              <a:buNone/>
            </a:pPr>
            <a:endParaRPr lang="en-US" sz="1200" dirty="0"/>
          </a:p>
          <a:p>
            <a:pPr indent="0" marL="0">
              <a:lnSpc>
                <a:spcPct val="130000"/>
              </a:lnSpc>
              <a:buNone/>
            </a:pPr>
            <a:r>
              <a:rPr lang="en-US" sz="1200" dirty="0">
                <a:solidFill>
                  <a:srgbClr val="FFFFFF"/>
                </a:solidFill>
                <a:latin typeface="Calibri" pitchFamily="34" charset="0"/>
                <a:ea typeface="Calibri" pitchFamily="34" charset="-122"/>
                <a:cs typeface="Calibri" pitchFamily="34" charset="-120"/>
              </a:rPr>
              <a:t>They ask:</a:t>
            </a:r>
            <a:endParaRPr lang="en-US" sz="1200" dirty="0"/>
          </a:p>
          <a:p>
            <a:pPr indent="0" marL="0">
              <a:lnSpc>
                <a:spcPct val="130000"/>
              </a:lnSpc>
              <a:buNone/>
            </a:pPr>
            <a:r>
              <a:rPr lang="en-US" sz="1200" dirty="0">
                <a:solidFill>
                  <a:srgbClr val="FFFFFF"/>
                </a:solidFill>
                <a:latin typeface="Calibri" pitchFamily="34" charset="0"/>
                <a:ea typeface="Calibri" pitchFamily="34" charset="-122"/>
                <a:cs typeface="Calibri" pitchFamily="34" charset="-120"/>
              </a:rPr>
              <a:t>Where is it? What is it like there?</a:t>
            </a:r>
            <a:endParaRPr lang="en-US" sz="1200" dirty="0"/>
          </a:p>
        </p:txBody>
      </p:sp>
      <p:sp>
        <p:nvSpPr>
          <p:cNvPr id="12" name="Shape 10"/>
          <p:cNvSpPr/>
          <p:nvPr/>
        </p:nvSpPr>
        <p:spPr>
          <a:xfrm>
            <a:off x="5029200" y="3493008"/>
            <a:ext cx="3749040" cy="548640"/>
          </a:xfrm>
          <a:prstGeom prst="roundRect">
            <a:avLst>
              <a:gd name="adj" fmla="val 16667"/>
            </a:avLst>
          </a:prstGeom>
          <a:solidFill>
            <a:srgbClr val="1A2D5A"/>
          </a:solidFill>
          <a:ln w="12700">
            <a:solidFill>
              <a:srgbClr val="55C8E8"/>
            </a:solidFill>
            <a:prstDash val="solid"/>
          </a:ln>
        </p:spPr>
      </p:sp>
      <p:sp>
        <p:nvSpPr>
          <p:cNvPr id="13" name="Text 11"/>
          <p:cNvSpPr/>
          <p:nvPr/>
        </p:nvSpPr>
        <p:spPr>
          <a:xfrm>
            <a:off x="5166360" y="3538728"/>
            <a:ext cx="3474720" cy="457200"/>
          </a:xfrm>
          <a:prstGeom prst="rect">
            <a:avLst/>
          </a:prstGeom>
          <a:noFill/>
          <a:ln/>
        </p:spPr>
        <p:txBody>
          <a:bodyPr wrap="square" lIns="0" tIns="0" rIns="0" bIns="0" rtlCol="0" anchor="ctr"/>
          <a:lstStyle/>
          <a:p>
            <a:pPr indent="0" marL="0">
              <a:lnSpc>
                <a:spcPct val="120000"/>
              </a:lnSpc>
              <a:buNone/>
            </a:pPr>
            <a:r>
              <a:rPr lang="en-US" sz="1000" i="1" dirty="0">
                <a:solidFill>
                  <a:srgbClr val="55C8E8"/>
                </a:solidFill>
                <a:latin typeface="Calibri" pitchFamily="34" charset="0"/>
                <a:ea typeface="Calibri" pitchFamily="34" charset="-122"/>
                <a:cs typeface="Calibri" pitchFamily="34" charset="-120"/>
              </a:rPr>
              <a:t>Opti says: 'Geography' literally means 'Earth writing'!</a:t>
            </a:r>
            <a:endParaRPr lang="en-US" sz="1000" dirty="0"/>
          </a:p>
          <a:p>
            <a:pPr indent="0" marL="0">
              <a:lnSpc>
                <a:spcPct val="120000"/>
              </a:lnSpc>
              <a:buNone/>
            </a:pPr>
            <a:r>
              <a:rPr lang="en-US" sz="1000" i="1" dirty="0">
                <a:solidFill>
                  <a:srgbClr val="55C8E8"/>
                </a:solidFill>
                <a:latin typeface="Calibri" pitchFamily="34" charset="0"/>
                <a:ea typeface="Calibri" pitchFamily="34" charset="-122"/>
                <a:cs typeface="Calibri" pitchFamily="34" charset="-120"/>
              </a:rPr>
              <a:t>Ancient Greeks drew maps to write about the world.</a:t>
            </a:r>
            <a:endParaRPr lang="en-US" sz="1000" dirty="0"/>
          </a:p>
        </p:txBody>
      </p:sp>
      <p:sp>
        <p:nvSpPr>
          <p:cNvPr id="14" name="Shape 12"/>
          <p:cNvSpPr/>
          <p:nvPr/>
        </p:nvSpPr>
        <p:spPr>
          <a:xfrm>
            <a:off x="365760" y="3858768"/>
            <a:ext cx="1828800" cy="914400"/>
          </a:xfrm>
          <a:prstGeom prst="roundRect">
            <a:avLst>
              <a:gd name="adj" fmla="val 12000"/>
            </a:avLst>
          </a:prstGeom>
          <a:solidFill>
            <a:srgbClr val="1A8A7D"/>
          </a:solidFill>
          <a:ln/>
          <a:effectLst>
            <a:outerShdw sx="100000" sy="100000" kx="0" ky="0" algn="bl" rotWithShape="0" blurRad="63500" dist="25400" dir="8100000">
              <a:srgbClr val="000000">
                <a:alpha val="15000"/>
              </a:srgbClr>
            </a:outerShdw>
          </a:effectLst>
        </p:spPr>
      </p:sp>
      <p:sp>
        <p:nvSpPr>
          <p:cNvPr id="15" name="Text 13"/>
          <p:cNvSpPr/>
          <p:nvPr/>
        </p:nvSpPr>
        <p:spPr>
          <a:xfrm>
            <a:off x="365760" y="3950208"/>
            <a:ext cx="1828800" cy="3200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16" name="Text 14"/>
          <p:cNvSpPr/>
          <p:nvPr/>
        </p:nvSpPr>
        <p:spPr>
          <a:xfrm>
            <a:off x="365760" y="4261104"/>
            <a:ext cx="1828800"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History</a:t>
            </a:r>
            <a:endParaRPr lang="en-US" sz="1300" dirty="0"/>
          </a:p>
        </p:txBody>
      </p:sp>
      <p:sp>
        <p:nvSpPr>
          <p:cNvPr id="17" name="Text 15"/>
          <p:cNvSpPr/>
          <p:nvPr/>
        </p:nvSpPr>
        <p:spPr>
          <a:xfrm>
            <a:off x="420624" y="4517136"/>
            <a:ext cx="1719072" cy="201168"/>
          </a:xfrm>
          <a:prstGeom prst="rect">
            <a:avLst/>
          </a:prstGeom>
          <a:noFill/>
          <a:ln/>
        </p:spPr>
        <p:txBody>
          <a:bodyPr wrap="square" lIns="0" tIns="0" rIns="0" bIns="0" rtlCol="0" anchor="ctr"/>
          <a:lstStyle/>
          <a:p>
            <a:pPr algn="ctr" indent="0" marL="0">
              <a:buNone/>
            </a:pPr>
            <a:r>
              <a:rPr lang="en-US" sz="900" dirty="0">
                <a:solidFill>
                  <a:srgbClr val="D6F2FB"/>
                </a:solidFill>
                <a:latin typeface="Calibri" pitchFamily="34" charset="0"/>
                <a:ea typeface="Calibri" pitchFamily="34" charset="-122"/>
                <a:cs typeface="Calibri" pitchFamily="34" charset="-120"/>
              </a:rPr>
              <a:t>studies the past</a:t>
            </a:r>
            <a:endParaRPr lang="en-US" sz="900" dirty="0"/>
          </a:p>
        </p:txBody>
      </p:sp>
      <p:sp>
        <p:nvSpPr>
          <p:cNvPr id="18" name="Shape 16"/>
          <p:cNvSpPr/>
          <p:nvPr/>
        </p:nvSpPr>
        <p:spPr>
          <a:xfrm>
            <a:off x="2377440" y="3858768"/>
            <a:ext cx="1828800" cy="914400"/>
          </a:xfrm>
          <a:prstGeom prst="roundRect">
            <a:avLst>
              <a:gd name="adj" fmla="val 12000"/>
            </a:avLst>
          </a:prstGeom>
          <a:solidFill>
            <a:srgbClr val="1A8A7D"/>
          </a:solidFill>
          <a:ln/>
          <a:effectLst>
            <a:outerShdw sx="100000" sy="100000" kx="0" ky="0" algn="bl" rotWithShape="0" blurRad="63500" dist="25400" dir="8100000">
              <a:srgbClr val="000000">
                <a:alpha val="15000"/>
              </a:srgbClr>
            </a:outerShdw>
          </a:effectLst>
        </p:spPr>
      </p:sp>
      <p:sp>
        <p:nvSpPr>
          <p:cNvPr id="19" name="Text 17"/>
          <p:cNvSpPr/>
          <p:nvPr/>
        </p:nvSpPr>
        <p:spPr>
          <a:xfrm>
            <a:off x="2377440" y="3950208"/>
            <a:ext cx="1828800" cy="3200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20" name="Text 18"/>
          <p:cNvSpPr/>
          <p:nvPr/>
        </p:nvSpPr>
        <p:spPr>
          <a:xfrm>
            <a:off x="2377440" y="4261104"/>
            <a:ext cx="1828800"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Geography</a:t>
            </a:r>
            <a:endParaRPr lang="en-US" sz="1300" dirty="0"/>
          </a:p>
        </p:txBody>
      </p:sp>
      <p:sp>
        <p:nvSpPr>
          <p:cNvPr id="21" name="Text 19"/>
          <p:cNvSpPr/>
          <p:nvPr/>
        </p:nvSpPr>
        <p:spPr>
          <a:xfrm>
            <a:off x="2432304" y="4517136"/>
            <a:ext cx="1719072" cy="201168"/>
          </a:xfrm>
          <a:prstGeom prst="rect">
            <a:avLst/>
          </a:prstGeom>
          <a:noFill/>
          <a:ln/>
        </p:spPr>
        <p:txBody>
          <a:bodyPr wrap="square" lIns="0" tIns="0" rIns="0" bIns="0" rtlCol="0" anchor="ctr"/>
          <a:lstStyle/>
          <a:p>
            <a:pPr algn="ctr" indent="0" marL="0">
              <a:buNone/>
            </a:pPr>
            <a:r>
              <a:rPr lang="en-US" sz="900" dirty="0">
                <a:solidFill>
                  <a:srgbClr val="D6F2FB"/>
                </a:solidFill>
                <a:latin typeface="Calibri" pitchFamily="34" charset="0"/>
                <a:ea typeface="Calibri" pitchFamily="34" charset="-122"/>
                <a:cs typeface="Calibri" pitchFamily="34" charset="-120"/>
              </a:rPr>
              <a:t>studies places</a:t>
            </a:r>
            <a:endParaRPr lang="en-US" sz="900" dirty="0"/>
          </a:p>
        </p:txBody>
      </p:sp>
      <p:sp>
        <p:nvSpPr>
          <p:cNvPr id="22" name="Shape 20"/>
          <p:cNvSpPr/>
          <p:nvPr/>
        </p:nvSpPr>
        <p:spPr>
          <a:xfrm>
            <a:off x="4389120" y="3858768"/>
            <a:ext cx="1828800" cy="914400"/>
          </a:xfrm>
          <a:prstGeom prst="roundRect">
            <a:avLst>
              <a:gd name="adj" fmla="val 12000"/>
            </a:avLst>
          </a:prstGeom>
          <a:solidFill>
            <a:srgbClr val="3A4A6B"/>
          </a:solidFill>
          <a:ln/>
          <a:effectLst>
            <a:outerShdw sx="100000" sy="100000" kx="0" ky="0" algn="bl" rotWithShape="0" blurRad="63500" dist="25400" dir="8100000">
              <a:srgbClr val="000000">
                <a:alpha val="15000"/>
              </a:srgbClr>
            </a:outerShdw>
          </a:effectLst>
        </p:spPr>
      </p:sp>
      <p:sp>
        <p:nvSpPr>
          <p:cNvPr id="23" name="Text 21"/>
          <p:cNvSpPr/>
          <p:nvPr/>
        </p:nvSpPr>
        <p:spPr>
          <a:xfrm>
            <a:off x="4389120" y="3950208"/>
            <a:ext cx="1828800" cy="32004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4" name="Text 22"/>
          <p:cNvSpPr/>
          <p:nvPr/>
        </p:nvSpPr>
        <p:spPr>
          <a:xfrm>
            <a:off x="4389120" y="4261104"/>
            <a:ext cx="1828800" cy="237744"/>
          </a:xfrm>
          <a:prstGeom prst="rect">
            <a:avLst/>
          </a:prstGeom>
          <a:noFill/>
          <a:ln/>
        </p:spPr>
        <p:txBody>
          <a:bodyPr wrap="square" lIns="0" tIns="0" rIns="0" bIns="0" rtlCol="0" anchor="ctr"/>
          <a:lstStyle/>
          <a:p>
            <a:pPr algn="ctr" indent="0" marL="0">
              <a:buNone/>
            </a:pPr>
            <a:r>
              <a:rPr lang="en-US" sz="1300" b="1" dirty="0">
                <a:solidFill>
                  <a:srgbClr val="7A88A8"/>
                </a:solidFill>
                <a:latin typeface="Cambria" pitchFamily="34" charset="0"/>
                <a:ea typeface="Cambria" pitchFamily="34" charset="-122"/>
                <a:cs typeface="Cambria" pitchFamily="34" charset="-120"/>
              </a:rPr>
              <a:t>???</a:t>
            </a:r>
            <a:endParaRPr lang="en-US" sz="1300" dirty="0"/>
          </a:p>
        </p:txBody>
      </p:sp>
      <p:sp>
        <p:nvSpPr>
          <p:cNvPr id="25" name="Shape 23"/>
          <p:cNvSpPr/>
          <p:nvPr/>
        </p:nvSpPr>
        <p:spPr>
          <a:xfrm>
            <a:off x="6400800" y="3858768"/>
            <a:ext cx="1828800" cy="914400"/>
          </a:xfrm>
          <a:prstGeom prst="roundRect">
            <a:avLst>
              <a:gd name="adj" fmla="val 12000"/>
            </a:avLst>
          </a:prstGeom>
          <a:solidFill>
            <a:srgbClr val="3A4A6B"/>
          </a:solidFill>
          <a:ln/>
          <a:effectLst>
            <a:outerShdw sx="100000" sy="100000" kx="0" ky="0" algn="bl" rotWithShape="0" blurRad="63500" dist="25400" dir="8100000">
              <a:srgbClr val="000000">
                <a:alpha val="15000"/>
              </a:srgbClr>
            </a:outerShdw>
          </a:effectLst>
        </p:spPr>
      </p:sp>
      <p:sp>
        <p:nvSpPr>
          <p:cNvPr id="26" name="Text 24"/>
          <p:cNvSpPr/>
          <p:nvPr/>
        </p:nvSpPr>
        <p:spPr>
          <a:xfrm>
            <a:off x="6400800" y="3950208"/>
            <a:ext cx="1828800" cy="32004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7" name="Text 25"/>
          <p:cNvSpPr/>
          <p:nvPr/>
        </p:nvSpPr>
        <p:spPr>
          <a:xfrm>
            <a:off x="6400800" y="4261104"/>
            <a:ext cx="1828800" cy="237744"/>
          </a:xfrm>
          <a:prstGeom prst="rect">
            <a:avLst/>
          </a:prstGeom>
          <a:noFill/>
          <a:ln/>
        </p:spPr>
        <p:txBody>
          <a:bodyPr wrap="square" lIns="0" tIns="0" rIns="0" bIns="0" rtlCol="0" anchor="ctr"/>
          <a:lstStyle/>
          <a:p>
            <a:pPr algn="ctr" indent="0" marL="0">
              <a:buNone/>
            </a:pPr>
            <a:r>
              <a:rPr lang="en-US" sz="1300" b="1" dirty="0">
                <a:solidFill>
                  <a:srgbClr val="7A88A8"/>
                </a:solidFill>
                <a:latin typeface="Cambria" pitchFamily="34" charset="0"/>
                <a:ea typeface="Cambria" pitchFamily="34" charset="-122"/>
                <a:cs typeface="Cambria" pitchFamily="34" charset="-120"/>
              </a:rPr>
              <a: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E1C42"/>
          </a:solidFill>
          <a:ln w="12700">
            <a:solidFill>
              <a:srgbClr val="0E1C42"/>
            </a:solidFill>
            <a:prstDash val="solid"/>
          </a:ln>
        </p:spPr>
      </p:sp>
      <p:sp>
        <p:nvSpPr>
          <p:cNvPr id="3" name="Text 1"/>
          <p:cNvSpPr/>
          <p:nvPr/>
        </p:nvSpPr>
        <p:spPr>
          <a:xfrm>
            <a:off x="365760" y="0"/>
            <a:ext cx="8412480" cy="658368"/>
          </a:xfrm>
          <a:prstGeom prst="rect">
            <a:avLst/>
          </a:prstGeom>
          <a:noFill/>
          <a:ln/>
        </p:spPr>
        <p:txBody>
          <a:bodyPr wrap="square" rtlCol="0" anchor="ctr"/>
          <a:lstStyle/>
          <a:p>
            <a:pPr indent="0" marL="0">
              <a:buNone/>
            </a:pPr>
            <a:r>
              <a:rPr lang="en-US" sz="1400" b="1" dirty="0">
                <a:solidFill>
                  <a:srgbClr val="55C8E8"/>
                </a:solidFill>
                <a:latin typeface="Calibri" pitchFamily="34" charset="0"/>
                <a:ea typeface="Calibri" pitchFamily="34" charset="-122"/>
                <a:cs typeface="Calibri" pitchFamily="34" charset="-120"/>
              </a:rPr>
              <a:t>Clue Box — Hall 3</a:t>
            </a:r>
            <a:endParaRPr lang="en-US" sz="1400" dirty="0"/>
          </a:p>
        </p:txBody>
      </p:sp>
      <p:sp>
        <p:nvSpPr>
          <p:cNvPr id="4" name="Text 2"/>
          <p:cNvSpPr/>
          <p:nvPr/>
        </p:nvSpPr>
        <p:spPr>
          <a:xfrm>
            <a:off x="457200" y="804672"/>
            <a:ext cx="8229600" cy="411480"/>
          </a:xfrm>
          <a:prstGeom prst="rect">
            <a:avLst/>
          </a:prstGeom>
          <a:noFill/>
          <a:ln/>
        </p:spPr>
        <p:txBody>
          <a:bodyPr wrap="square" rtlCol="0" anchor="ctr"/>
          <a:lstStyle/>
          <a:p>
            <a:pPr indent="0" marL="0">
              <a:buNone/>
            </a:pPr>
            <a:r>
              <a:rPr lang="en-US" sz="1600" b="1" dirty="0">
                <a:solidFill>
                  <a:srgbClr val="0E1C42"/>
                </a:solidFill>
                <a:latin typeface="Cambria" pitchFamily="34" charset="0"/>
                <a:ea typeface="Cambria" pitchFamily="34" charset="-122"/>
                <a:cs typeface="Cambria" pitchFamily="34" charset="-120"/>
              </a:rPr>
              <a:t>What kind of thinker would ask these questions?</a:t>
            </a:r>
            <a:endParaRPr lang="en-US" sz="1600" dirty="0"/>
          </a:p>
        </p:txBody>
      </p:sp>
      <p:sp>
        <p:nvSpPr>
          <p:cNvPr id="5" name="Shape 3"/>
          <p:cNvSpPr/>
          <p:nvPr/>
        </p:nvSpPr>
        <p:spPr>
          <a:xfrm>
            <a:off x="457200" y="1325880"/>
            <a:ext cx="8229600" cy="731520"/>
          </a:xfrm>
          <a:prstGeom prst="roundRect">
            <a:avLst>
              <a:gd name="adj" fmla="val 15000"/>
            </a:avLst>
          </a:prstGeom>
          <a:solidFill>
            <a:srgbClr val="FFFBF0"/>
          </a:solidFill>
          <a:ln w="19050">
            <a:solidFill>
              <a:srgbClr val="F5E6C8"/>
            </a:solidFill>
            <a:prstDash val="solid"/>
          </a:ln>
        </p:spPr>
      </p:sp>
      <p:sp>
        <p:nvSpPr>
          <p:cNvPr id="6" name="Text 4"/>
          <p:cNvSpPr/>
          <p:nvPr/>
        </p:nvSpPr>
        <p:spPr>
          <a:xfrm>
            <a:off x="685800" y="1371600"/>
            <a:ext cx="7772400" cy="640080"/>
          </a:xfrm>
          <a:prstGeom prst="rect">
            <a:avLst/>
          </a:prstGeom>
          <a:noFill/>
          <a:ln/>
        </p:spPr>
        <p:txBody>
          <a:bodyPr wrap="square" lIns="0" tIns="0" rIns="0" bIns="0" rtlCol="0" anchor="ctr"/>
          <a:lstStyle/>
          <a:p>
            <a:pPr indent="0" marL="0">
              <a:buNone/>
            </a:pPr>
            <a:r>
              <a:rPr lang="en-US" sz="1400" i="1" dirty="0">
                <a:solidFill>
                  <a:srgbClr val="0E1C42"/>
                </a:solidFill>
                <a:latin typeface="Cambria" pitchFamily="34" charset="0"/>
                <a:ea typeface="Cambria" pitchFamily="34" charset="-122"/>
                <a:cs typeface="Cambria" pitchFamily="34" charset="-120"/>
              </a:rPr>
              <a:t>"Why does one town have more stores than another?"</a:t>
            </a:r>
            <a:endParaRPr lang="en-US" sz="1400" dirty="0"/>
          </a:p>
        </p:txBody>
      </p:sp>
      <p:sp>
        <p:nvSpPr>
          <p:cNvPr id="7" name="Shape 5"/>
          <p:cNvSpPr/>
          <p:nvPr/>
        </p:nvSpPr>
        <p:spPr>
          <a:xfrm>
            <a:off x="457200" y="2194560"/>
            <a:ext cx="8229600" cy="731520"/>
          </a:xfrm>
          <a:prstGeom prst="roundRect">
            <a:avLst>
              <a:gd name="adj" fmla="val 15000"/>
            </a:avLst>
          </a:prstGeom>
          <a:solidFill>
            <a:srgbClr val="FFFBF0"/>
          </a:solidFill>
          <a:ln w="19050">
            <a:solidFill>
              <a:srgbClr val="F5E6C8"/>
            </a:solidFill>
            <a:prstDash val="solid"/>
          </a:ln>
        </p:spPr>
      </p:sp>
      <p:sp>
        <p:nvSpPr>
          <p:cNvPr id="8" name="Text 6"/>
          <p:cNvSpPr/>
          <p:nvPr/>
        </p:nvSpPr>
        <p:spPr>
          <a:xfrm>
            <a:off x="685800" y="2240280"/>
            <a:ext cx="7772400" cy="640080"/>
          </a:xfrm>
          <a:prstGeom prst="rect">
            <a:avLst/>
          </a:prstGeom>
          <a:noFill/>
          <a:ln/>
        </p:spPr>
        <p:txBody>
          <a:bodyPr wrap="square" lIns="0" tIns="0" rIns="0" bIns="0" rtlCol="0" anchor="ctr"/>
          <a:lstStyle/>
          <a:p>
            <a:pPr indent="0" marL="0">
              <a:buNone/>
            </a:pPr>
            <a:r>
              <a:rPr lang="en-US" sz="1400" i="1" dirty="0">
                <a:solidFill>
                  <a:srgbClr val="0E1C42"/>
                </a:solidFill>
                <a:latin typeface="Cambria" pitchFamily="34" charset="0"/>
                <a:ea typeface="Cambria" pitchFamily="34" charset="-122"/>
                <a:cs typeface="Cambria" pitchFamily="34" charset="-120"/>
              </a:rPr>
              <a:t>"Why do people trade a toy for a snack?"</a:t>
            </a:r>
            <a:endParaRPr lang="en-US" sz="1400" dirty="0"/>
          </a:p>
        </p:txBody>
      </p:sp>
      <p:sp>
        <p:nvSpPr>
          <p:cNvPr id="9" name="Shape 7"/>
          <p:cNvSpPr/>
          <p:nvPr/>
        </p:nvSpPr>
        <p:spPr>
          <a:xfrm>
            <a:off x="457200" y="3063240"/>
            <a:ext cx="8229600" cy="731520"/>
          </a:xfrm>
          <a:prstGeom prst="roundRect">
            <a:avLst>
              <a:gd name="adj" fmla="val 15000"/>
            </a:avLst>
          </a:prstGeom>
          <a:solidFill>
            <a:srgbClr val="FFFBF0"/>
          </a:solidFill>
          <a:ln w="19050">
            <a:solidFill>
              <a:srgbClr val="F5E6C8"/>
            </a:solidFill>
            <a:prstDash val="solid"/>
          </a:ln>
        </p:spPr>
      </p:sp>
      <p:sp>
        <p:nvSpPr>
          <p:cNvPr id="10" name="Text 8"/>
          <p:cNvSpPr/>
          <p:nvPr/>
        </p:nvSpPr>
        <p:spPr>
          <a:xfrm>
            <a:off x="685800" y="3108960"/>
            <a:ext cx="7772400" cy="640080"/>
          </a:xfrm>
          <a:prstGeom prst="rect">
            <a:avLst/>
          </a:prstGeom>
          <a:noFill/>
          <a:ln/>
        </p:spPr>
        <p:txBody>
          <a:bodyPr wrap="square" lIns="0" tIns="0" rIns="0" bIns="0" rtlCol="0" anchor="ctr"/>
          <a:lstStyle/>
          <a:p>
            <a:pPr indent="0" marL="0">
              <a:buNone/>
            </a:pPr>
            <a:r>
              <a:rPr lang="en-US" sz="1400" i="1" dirty="0">
                <a:solidFill>
                  <a:srgbClr val="0E1C42"/>
                </a:solidFill>
                <a:latin typeface="Cambria" pitchFamily="34" charset="0"/>
                <a:ea typeface="Cambria" pitchFamily="34" charset="-122"/>
                <a:cs typeface="Cambria" pitchFamily="34" charset="-120"/>
              </a:rPr>
              <a:t>"What do people need to survive, and how do they get it?"</a:t>
            </a:r>
            <a:endParaRPr lang="en-US" sz="1400" dirty="0"/>
          </a:p>
        </p:txBody>
      </p:sp>
      <p:sp>
        <p:nvSpPr>
          <p:cNvPr id="11" name="Shape 9"/>
          <p:cNvSpPr/>
          <p:nvPr/>
        </p:nvSpPr>
        <p:spPr>
          <a:xfrm>
            <a:off x="457200" y="3794760"/>
            <a:ext cx="8229600" cy="1143000"/>
          </a:xfrm>
          <a:prstGeom prst="roundRect">
            <a:avLst>
              <a:gd name="adj" fmla="val 12000"/>
            </a:avLst>
          </a:prstGeom>
          <a:solidFill>
            <a:srgbClr val="1A2D5A"/>
          </a:solidFill>
          <a:ln/>
          <a:effectLst>
            <a:outerShdw sx="100000" sy="100000" kx="0" ky="0" algn="bl" rotWithShape="0" blurRad="101600" dist="38100" dir="8100000">
              <a:srgbClr val="000000">
                <a:alpha val="20000"/>
              </a:srgbClr>
            </a:outerShdw>
          </a:effectLst>
        </p:spPr>
      </p:sp>
      <p:sp>
        <p:nvSpPr>
          <p:cNvPr id="12" name="Text 10"/>
          <p:cNvSpPr/>
          <p:nvPr/>
        </p:nvSpPr>
        <p:spPr>
          <a:xfrm>
            <a:off x="640080" y="3886200"/>
            <a:ext cx="78638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3" name="Text 11"/>
          <p:cNvSpPr/>
          <p:nvPr/>
        </p:nvSpPr>
        <p:spPr>
          <a:xfrm>
            <a:off x="640080" y="4142232"/>
            <a:ext cx="7863840" cy="70408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 all three questions have in common?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Have YOU ever done any of these things?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kind of thinker studies buying, selling, and trading?</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3200400" y="201168"/>
            <a:ext cx="2743200" cy="411480"/>
          </a:xfrm>
          <a:prstGeom prst="roundRect">
            <a:avLst>
              <a:gd name="adj" fmla="val 22222"/>
            </a:avLst>
          </a:prstGeom>
          <a:solidFill>
            <a:srgbClr val="1A3A2A"/>
          </a:solidFill>
          <a:ln w="19050">
            <a:solidFill>
              <a:srgbClr val="34B76F"/>
            </a:solidFill>
            <a:prstDash val="solid"/>
          </a:ln>
        </p:spPr>
      </p:sp>
      <p:sp>
        <p:nvSpPr>
          <p:cNvPr id="5" name="Text 3"/>
          <p:cNvSpPr/>
          <p:nvPr/>
        </p:nvSpPr>
        <p:spPr>
          <a:xfrm>
            <a:off x="3200400" y="201168"/>
            <a:ext cx="2743200" cy="411480"/>
          </a:xfrm>
          <a:prstGeom prst="rect">
            <a:avLst/>
          </a:prstGeom>
          <a:noFill/>
          <a:ln/>
        </p:spPr>
        <p:txBody>
          <a:bodyPr wrap="square" lIns="0" tIns="0" rIns="0" bIns="0" rtlCol="0" anchor="ctr"/>
          <a:lstStyle/>
          <a:p>
            <a:pPr algn="ctr" indent="0" marL="0">
              <a:buNone/>
            </a:pPr>
            <a:r>
              <a:rPr lang="en-US" sz="1100" b="1" spc="150" kern="0" dirty="0">
                <a:solidFill>
                  <a:srgbClr val="34B76F"/>
                </a:solidFill>
                <a:latin typeface="Calibri" pitchFamily="34" charset="0"/>
                <a:ea typeface="Calibri" pitchFamily="34" charset="-122"/>
                <a:cs typeface="Calibri" pitchFamily="34" charset="-120"/>
              </a:rPr>
              <a:t>HALL 3 — UNLOCKED!</a:t>
            </a:r>
            <a:endParaRPr lang="en-US" sz="1100" dirty="0"/>
          </a:p>
        </p:txBody>
      </p:sp>
      <p:sp>
        <p:nvSpPr>
          <p:cNvPr id="6" name="Shape 4"/>
          <p:cNvSpPr/>
          <p:nvPr/>
        </p:nvSpPr>
        <p:spPr>
          <a:xfrm>
            <a:off x="365760" y="749808"/>
            <a:ext cx="4389120" cy="2926080"/>
          </a:xfrm>
          <a:prstGeom prst="roundRect">
            <a:avLst>
              <a:gd name="adj" fmla="val 3750"/>
            </a:avLst>
          </a:prstGeom>
          <a:solidFill>
            <a:srgbClr val="E2E8F4"/>
          </a:solidFill>
          <a:ln w="19050">
            <a:solidFill>
              <a:srgbClr val="B0B8CC"/>
            </a:solidFill>
            <a:prstDash val="dash"/>
          </a:ln>
        </p:spPr>
      </p:sp>
      <p:sp>
        <p:nvSpPr>
          <p:cNvPr id="7" name="Text 5"/>
          <p:cNvSpPr/>
          <p:nvPr/>
        </p:nvSpPr>
        <p:spPr>
          <a:xfrm>
            <a:off x="365760" y="749808"/>
            <a:ext cx="43891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502920" y="1024128"/>
            <a:ext cx="4114800" cy="25603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marketplace scene with people trading goods — colorful stalls, handshake between two traders</a:t>
            </a:r>
            <a:endParaRPr lang="en-US" sz="1100" dirty="0"/>
          </a:p>
        </p:txBody>
      </p:sp>
      <p:sp>
        <p:nvSpPr>
          <p:cNvPr id="9" name="Text 7"/>
          <p:cNvSpPr/>
          <p:nvPr/>
        </p:nvSpPr>
        <p:spPr>
          <a:xfrm>
            <a:off x="5029200" y="749808"/>
            <a:ext cx="3749040" cy="640080"/>
          </a:xfrm>
          <a:prstGeom prst="rect">
            <a:avLst/>
          </a:prstGeom>
          <a:noFill/>
          <a:ln/>
        </p:spPr>
        <p:txBody>
          <a:bodyPr wrap="square" lIns="0" tIns="0" rIns="0" bIns="0" rtlCol="0" anchor="ctr"/>
          <a:lstStyle/>
          <a:p>
            <a:pPr indent="0" marL="0">
              <a:buNone/>
            </a:pPr>
            <a:r>
              <a:rPr lang="en-US" sz="3400" b="1" dirty="0">
                <a:solidFill>
                  <a:srgbClr val="D4943A"/>
                </a:solidFill>
                <a:latin typeface="Cambria" pitchFamily="34" charset="0"/>
                <a:ea typeface="Cambria" pitchFamily="34" charset="-122"/>
                <a:cs typeface="Cambria" pitchFamily="34" charset="-120"/>
              </a:rPr>
              <a:t>Economics</a:t>
            </a:r>
            <a:endParaRPr lang="en-US" sz="3400" dirty="0"/>
          </a:p>
        </p:txBody>
      </p:sp>
      <p:sp>
        <p:nvSpPr>
          <p:cNvPr id="10" name="Shape 8"/>
          <p:cNvSpPr/>
          <p:nvPr/>
        </p:nvSpPr>
        <p:spPr>
          <a:xfrm>
            <a:off x="5029200" y="1426464"/>
            <a:ext cx="3749040" cy="0"/>
          </a:xfrm>
          <a:prstGeom prst="line">
            <a:avLst/>
          </a:prstGeom>
          <a:noFill/>
          <a:ln w="19050">
            <a:solidFill>
              <a:srgbClr val="D4943A"/>
            </a:solidFill>
            <a:prstDash val="solid"/>
          </a:ln>
        </p:spPr>
      </p:sp>
      <p:sp>
        <p:nvSpPr>
          <p:cNvPr id="11" name="Text 9"/>
          <p:cNvSpPr/>
          <p:nvPr/>
        </p:nvSpPr>
        <p:spPr>
          <a:xfrm>
            <a:off x="5029200" y="1517904"/>
            <a:ext cx="3749040" cy="2011680"/>
          </a:xfrm>
          <a:prstGeom prst="rect">
            <a:avLst/>
          </a:prstGeom>
          <a:noFill/>
          <a:ln/>
        </p:spPr>
        <p:txBody>
          <a:bodyPr wrap="square" lIns="0" tIns="0" rIns="0" bIns="0" rtlCol="0" anchor="ctr"/>
          <a:lstStyle/>
          <a:p>
            <a:pPr indent="0" marL="0">
              <a:lnSpc>
                <a:spcPct val="130000"/>
              </a:lnSpc>
              <a:buNone/>
            </a:pPr>
            <a:r>
              <a:rPr lang="en-US" sz="1200" dirty="0">
                <a:solidFill>
                  <a:srgbClr val="FFFFFF"/>
                </a:solidFill>
                <a:latin typeface="Calibri" pitchFamily="34" charset="0"/>
                <a:ea typeface="Calibri" pitchFamily="34" charset="-122"/>
                <a:cs typeface="Calibri" pitchFamily="34" charset="-120"/>
              </a:rPr>
              <a:t>The study of how people use resources.</a:t>
            </a:r>
            <a:endParaRPr lang="en-US" sz="1200" dirty="0"/>
          </a:p>
          <a:p>
            <a:pPr indent="0" marL="0">
              <a:lnSpc>
                <a:spcPct val="130000"/>
              </a:lnSpc>
              <a:buNone/>
            </a:pPr>
            <a:endParaRPr lang="en-US" sz="1200" dirty="0"/>
          </a:p>
          <a:p>
            <a:pPr indent="0" marL="0">
              <a:lnSpc>
                <a:spcPct val="130000"/>
              </a:lnSpc>
              <a:buNone/>
            </a:pPr>
            <a:r>
              <a:rPr lang="en-US" sz="1200" dirty="0">
                <a:solidFill>
                  <a:srgbClr val="FFFFFF"/>
                </a:solidFill>
                <a:latin typeface="Calibri" pitchFamily="34" charset="0"/>
                <a:ea typeface="Calibri" pitchFamily="34" charset="-122"/>
                <a:cs typeface="Calibri" pitchFamily="34" charset="-120"/>
              </a:rPr>
              <a:t>Economists ask:</a:t>
            </a:r>
            <a:endParaRPr lang="en-US" sz="1200" dirty="0"/>
          </a:p>
          <a:p>
            <a:pPr indent="0" marL="0">
              <a:lnSpc>
                <a:spcPct val="130000"/>
              </a:lnSpc>
              <a:buNone/>
            </a:pPr>
            <a:r>
              <a:rPr lang="en-US" sz="1200" dirty="0">
                <a:solidFill>
                  <a:srgbClr val="FFFFFF"/>
                </a:solidFill>
                <a:latin typeface="Calibri" pitchFamily="34" charset="0"/>
                <a:ea typeface="Calibri" pitchFamily="34" charset="-122"/>
                <a:cs typeface="Calibri" pitchFamily="34" charset="-120"/>
              </a:rPr>
              <a:t>What do people need?</a:t>
            </a:r>
            <a:endParaRPr lang="en-US" sz="1200" dirty="0"/>
          </a:p>
          <a:p>
            <a:pPr indent="0" marL="0">
              <a:lnSpc>
                <a:spcPct val="130000"/>
              </a:lnSpc>
              <a:buNone/>
            </a:pPr>
            <a:r>
              <a:rPr lang="en-US" sz="1200" dirty="0">
                <a:solidFill>
                  <a:srgbClr val="FFFFFF"/>
                </a:solidFill>
                <a:latin typeface="Calibri" pitchFamily="34" charset="0"/>
                <a:ea typeface="Calibri" pitchFamily="34" charset="-122"/>
                <a:cs typeface="Calibri" pitchFamily="34" charset="-120"/>
              </a:rPr>
              <a:t>How do they get it?</a:t>
            </a:r>
            <a:endParaRPr lang="en-US" sz="1200" dirty="0"/>
          </a:p>
          <a:p>
            <a:pPr indent="0" marL="0">
              <a:lnSpc>
                <a:spcPct val="130000"/>
              </a:lnSpc>
              <a:buNone/>
            </a:pPr>
            <a:r>
              <a:rPr lang="en-US" sz="1200" dirty="0">
                <a:solidFill>
                  <a:srgbClr val="FFFFFF"/>
                </a:solidFill>
                <a:latin typeface="Calibri" pitchFamily="34" charset="0"/>
                <a:ea typeface="Calibri" pitchFamily="34" charset="-122"/>
                <a:cs typeface="Calibri" pitchFamily="34" charset="-120"/>
              </a:rPr>
              <a:t>Why do people trade?</a:t>
            </a:r>
            <a:endParaRPr lang="en-US" sz="1200" dirty="0"/>
          </a:p>
          <a:p>
            <a:pPr indent="0" marL="0">
              <a:lnSpc>
                <a:spcPct val="130000"/>
              </a:lnSpc>
              <a:buNone/>
            </a:pPr>
            <a:endParaRPr lang="en-US" sz="1200" dirty="0"/>
          </a:p>
          <a:p>
            <a:pPr indent="0" marL="0">
              <a:lnSpc>
                <a:spcPct val="130000"/>
              </a:lnSpc>
              <a:buNone/>
            </a:pPr>
            <a:r>
              <a:rPr lang="en-US" sz="1200" dirty="0">
                <a:solidFill>
                  <a:srgbClr val="FFFFFF"/>
                </a:solidFill>
                <a:latin typeface="Calibri" pitchFamily="34" charset="0"/>
                <a:ea typeface="Calibri" pitchFamily="34" charset="-122"/>
                <a:cs typeface="Calibri" pitchFamily="34" charset="-120"/>
              </a:rPr>
              <a:t>If you've ever bought something or traded a snack — you've done economics!</a:t>
            </a:r>
            <a:endParaRPr lang="en-US" sz="1200" dirty="0"/>
          </a:p>
        </p:txBody>
      </p:sp>
      <p:sp>
        <p:nvSpPr>
          <p:cNvPr id="12" name="Shape 10"/>
          <p:cNvSpPr/>
          <p:nvPr/>
        </p:nvSpPr>
        <p:spPr>
          <a:xfrm>
            <a:off x="365760" y="3858768"/>
            <a:ext cx="1645920" cy="914400"/>
          </a:xfrm>
          <a:prstGeom prst="roundRect">
            <a:avLst>
              <a:gd name="adj" fmla="val 12000"/>
            </a:avLst>
          </a:prstGeom>
          <a:solidFill>
            <a:srgbClr val="1A8A7D"/>
          </a:solidFill>
          <a:ln/>
          <a:effectLst>
            <a:outerShdw sx="100000" sy="100000" kx="0" ky="0" algn="bl" rotWithShape="0" blurRad="63500" dist="25400" dir="8100000">
              <a:srgbClr val="000000">
                <a:alpha val="15000"/>
              </a:srgbClr>
            </a:outerShdw>
          </a:effectLst>
        </p:spPr>
      </p:sp>
      <p:sp>
        <p:nvSpPr>
          <p:cNvPr id="13" name="Text 11"/>
          <p:cNvSpPr/>
          <p:nvPr/>
        </p:nvSpPr>
        <p:spPr>
          <a:xfrm>
            <a:off x="365760" y="3950208"/>
            <a:ext cx="1645920" cy="3200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14" name="Text 12"/>
          <p:cNvSpPr/>
          <p:nvPr/>
        </p:nvSpPr>
        <p:spPr>
          <a:xfrm>
            <a:off x="365760" y="4261104"/>
            <a:ext cx="1645920"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History</a:t>
            </a:r>
            <a:endParaRPr lang="en-US" sz="1300" dirty="0"/>
          </a:p>
        </p:txBody>
      </p:sp>
      <p:sp>
        <p:nvSpPr>
          <p:cNvPr id="15" name="Text 13"/>
          <p:cNvSpPr/>
          <p:nvPr/>
        </p:nvSpPr>
        <p:spPr>
          <a:xfrm>
            <a:off x="420624" y="4517136"/>
            <a:ext cx="1536192" cy="201168"/>
          </a:xfrm>
          <a:prstGeom prst="rect">
            <a:avLst/>
          </a:prstGeom>
          <a:noFill/>
          <a:ln/>
        </p:spPr>
        <p:txBody>
          <a:bodyPr wrap="square" lIns="0" tIns="0" rIns="0" bIns="0" rtlCol="0" anchor="ctr"/>
          <a:lstStyle/>
          <a:p>
            <a:pPr algn="ctr" indent="0" marL="0">
              <a:buNone/>
            </a:pPr>
            <a:r>
              <a:rPr lang="en-US" sz="900" dirty="0">
                <a:solidFill>
                  <a:srgbClr val="D6F2FB"/>
                </a:solidFill>
                <a:latin typeface="Calibri" pitchFamily="34" charset="0"/>
                <a:ea typeface="Calibri" pitchFamily="34" charset="-122"/>
                <a:cs typeface="Calibri" pitchFamily="34" charset="-120"/>
              </a:rPr>
              <a:t>studies the past</a:t>
            </a:r>
            <a:endParaRPr lang="en-US" sz="900" dirty="0"/>
          </a:p>
        </p:txBody>
      </p:sp>
      <p:sp>
        <p:nvSpPr>
          <p:cNvPr id="16" name="Shape 14"/>
          <p:cNvSpPr/>
          <p:nvPr/>
        </p:nvSpPr>
        <p:spPr>
          <a:xfrm>
            <a:off x="2194560" y="3858768"/>
            <a:ext cx="1645920" cy="914400"/>
          </a:xfrm>
          <a:prstGeom prst="roundRect">
            <a:avLst>
              <a:gd name="adj" fmla="val 12000"/>
            </a:avLst>
          </a:prstGeom>
          <a:solidFill>
            <a:srgbClr val="1A8A7D"/>
          </a:solidFill>
          <a:ln/>
          <a:effectLst>
            <a:outerShdw sx="100000" sy="100000" kx="0" ky="0" algn="bl" rotWithShape="0" blurRad="63500" dist="25400" dir="8100000">
              <a:srgbClr val="000000">
                <a:alpha val="15000"/>
              </a:srgbClr>
            </a:outerShdw>
          </a:effectLst>
        </p:spPr>
      </p:sp>
      <p:sp>
        <p:nvSpPr>
          <p:cNvPr id="17" name="Text 15"/>
          <p:cNvSpPr/>
          <p:nvPr/>
        </p:nvSpPr>
        <p:spPr>
          <a:xfrm>
            <a:off x="2194560" y="3950208"/>
            <a:ext cx="1645920" cy="3200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18" name="Text 16"/>
          <p:cNvSpPr/>
          <p:nvPr/>
        </p:nvSpPr>
        <p:spPr>
          <a:xfrm>
            <a:off x="2194560" y="4261104"/>
            <a:ext cx="1645920"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Geography</a:t>
            </a:r>
            <a:endParaRPr lang="en-US" sz="1300" dirty="0"/>
          </a:p>
        </p:txBody>
      </p:sp>
      <p:sp>
        <p:nvSpPr>
          <p:cNvPr id="19" name="Text 17"/>
          <p:cNvSpPr/>
          <p:nvPr/>
        </p:nvSpPr>
        <p:spPr>
          <a:xfrm>
            <a:off x="2249424" y="4517136"/>
            <a:ext cx="1536192" cy="201168"/>
          </a:xfrm>
          <a:prstGeom prst="rect">
            <a:avLst/>
          </a:prstGeom>
          <a:noFill/>
          <a:ln/>
        </p:spPr>
        <p:txBody>
          <a:bodyPr wrap="square" lIns="0" tIns="0" rIns="0" bIns="0" rtlCol="0" anchor="ctr"/>
          <a:lstStyle/>
          <a:p>
            <a:pPr algn="ctr" indent="0" marL="0">
              <a:buNone/>
            </a:pPr>
            <a:r>
              <a:rPr lang="en-US" sz="900" dirty="0">
                <a:solidFill>
                  <a:srgbClr val="D6F2FB"/>
                </a:solidFill>
                <a:latin typeface="Calibri" pitchFamily="34" charset="0"/>
                <a:ea typeface="Calibri" pitchFamily="34" charset="-122"/>
                <a:cs typeface="Calibri" pitchFamily="34" charset="-120"/>
              </a:rPr>
              <a:t>studies places</a:t>
            </a:r>
            <a:endParaRPr lang="en-US" sz="900" dirty="0"/>
          </a:p>
        </p:txBody>
      </p:sp>
      <p:sp>
        <p:nvSpPr>
          <p:cNvPr id="20" name="Shape 18"/>
          <p:cNvSpPr/>
          <p:nvPr/>
        </p:nvSpPr>
        <p:spPr>
          <a:xfrm>
            <a:off x="4023360" y="3858768"/>
            <a:ext cx="1645920" cy="914400"/>
          </a:xfrm>
          <a:prstGeom prst="roundRect">
            <a:avLst>
              <a:gd name="adj" fmla="val 12000"/>
            </a:avLst>
          </a:prstGeom>
          <a:solidFill>
            <a:srgbClr val="1A8A7D"/>
          </a:solidFill>
          <a:ln/>
          <a:effectLst>
            <a:outerShdw sx="100000" sy="100000" kx="0" ky="0" algn="bl" rotWithShape="0" blurRad="63500" dist="25400" dir="8100000">
              <a:srgbClr val="000000">
                <a:alpha val="15000"/>
              </a:srgbClr>
            </a:outerShdw>
          </a:effectLst>
        </p:spPr>
      </p:sp>
      <p:sp>
        <p:nvSpPr>
          <p:cNvPr id="21" name="Text 19"/>
          <p:cNvSpPr/>
          <p:nvPr/>
        </p:nvSpPr>
        <p:spPr>
          <a:xfrm>
            <a:off x="4023360" y="3950208"/>
            <a:ext cx="1645920" cy="3200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22" name="Text 20"/>
          <p:cNvSpPr/>
          <p:nvPr/>
        </p:nvSpPr>
        <p:spPr>
          <a:xfrm>
            <a:off x="4023360" y="4261104"/>
            <a:ext cx="1645920"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Economics</a:t>
            </a:r>
            <a:endParaRPr lang="en-US" sz="1300" dirty="0"/>
          </a:p>
        </p:txBody>
      </p:sp>
      <p:sp>
        <p:nvSpPr>
          <p:cNvPr id="23" name="Text 21"/>
          <p:cNvSpPr/>
          <p:nvPr/>
        </p:nvSpPr>
        <p:spPr>
          <a:xfrm>
            <a:off x="4078224" y="4517136"/>
            <a:ext cx="1536192" cy="201168"/>
          </a:xfrm>
          <a:prstGeom prst="rect">
            <a:avLst/>
          </a:prstGeom>
          <a:noFill/>
          <a:ln/>
        </p:spPr>
        <p:txBody>
          <a:bodyPr wrap="square" lIns="0" tIns="0" rIns="0" bIns="0" rtlCol="0" anchor="ctr"/>
          <a:lstStyle/>
          <a:p>
            <a:pPr algn="ctr" indent="0" marL="0">
              <a:buNone/>
            </a:pPr>
            <a:r>
              <a:rPr lang="en-US" sz="900" dirty="0">
                <a:solidFill>
                  <a:srgbClr val="D6F2FB"/>
                </a:solidFill>
                <a:latin typeface="Calibri" pitchFamily="34" charset="0"/>
                <a:ea typeface="Calibri" pitchFamily="34" charset="-122"/>
                <a:cs typeface="Calibri" pitchFamily="34" charset="-120"/>
              </a:rPr>
              <a:t>studies resources</a:t>
            </a:r>
            <a:endParaRPr lang="en-US" sz="900" dirty="0"/>
          </a:p>
        </p:txBody>
      </p:sp>
      <p:sp>
        <p:nvSpPr>
          <p:cNvPr id="24" name="Shape 22"/>
          <p:cNvSpPr/>
          <p:nvPr/>
        </p:nvSpPr>
        <p:spPr>
          <a:xfrm>
            <a:off x="5852160" y="3858768"/>
            <a:ext cx="1645920" cy="914400"/>
          </a:xfrm>
          <a:prstGeom prst="roundRect">
            <a:avLst>
              <a:gd name="adj" fmla="val 12000"/>
            </a:avLst>
          </a:prstGeom>
          <a:solidFill>
            <a:srgbClr val="3A4A6B"/>
          </a:solidFill>
          <a:ln/>
          <a:effectLst>
            <a:outerShdw sx="100000" sy="100000" kx="0" ky="0" algn="bl" rotWithShape="0" blurRad="63500" dist="25400" dir="8100000">
              <a:srgbClr val="000000">
                <a:alpha val="15000"/>
              </a:srgbClr>
            </a:outerShdw>
          </a:effectLst>
        </p:spPr>
      </p:sp>
      <p:sp>
        <p:nvSpPr>
          <p:cNvPr id="25" name="Text 23"/>
          <p:cNvSpPr/>
          <p:nvPr/>
        </p:nvSpPr>
        <p:spPr>
          <a:xfrm>
            <a:off x="5852160" y="3950208"/>
            <a:ext cx="1645920" cy="32004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6" name="Text 24"/>
          <p:cNvSpPr/>
          <p:nvPr/>
        </p:nvSpPr>
        <p:spPr>
          <a:xfrm>
            <a:off x="5852160" y="4261104"/>
            <a:ext cx="1645920" cy="237744"/>
          </a:xfrm>
          <a:prstGeom prst="rect">
            <a:avLst/>
          </a:prstGeom>
          <a:noFill/>
          <a:ln/>
        </p:spPr>
        <p:txBody>
          <a:bodyPr wrap="square" lIns="0" tIns="0" rIns="0" bIns="0" rtlCol="0" anchor="ctr"/>
          <a:lstStyle/>
          <a:p>
            <a:pPr algn="ctr" indent="0" marL="0">
              <a:buNone/>
            </a:pPr>
            <a:r>
              <a:rPr lang="en-US" sz="1300" b="1" dirty="0">
                <a:solidFill>
                  <a:srgbClr val="7A88A8"/>
                </a:solidFill>
                <a:latin typeface="Cambria" pitchFamily="34" charset="0"/>
                <a:ea typeface="Cambria" pitchFamily="34" charset="-122"/>
                <a:cs typeface="Cambria" pitchFamily="34" charset="-120"/>
              </a:rPr>
              <a: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3200400" y="201168"/>
            <a:ext cx="2743200" cy="411480"/>
          </a:xfrm>
          <a:prstGeom prst="roundRect">
            <a:avLst>
              <a:gd name="adj" fmla="val 22222"/>
            </a:avLst>
          </a:prstGeom>
          <a:solidFill>
            <a:srgbClr val="1A3A2A"/>
          </a:solidFill>
          <a:ln w="19050">
            <a:solidFill>
              <a:srgbClr val="34B76F"/>
            </a:solidFill>
            <a:prstDash val="solid"/>
          </a:ln>
        </p:spPr>
      </p:sp>
      <p:sp>
        <p:nvSpPr>
          <p:cNvPr id="5" name="Text 3"/>
          <p:cNvSpPr/>
          <p:nvPr/>
        </p:nvSpPr>
        <p:spPr>
          <a:xfrm>
            <a:off x="3200400" y="201168"/>
            <a:ext cx="2743200" cy="411480"/>
          </a:xfrm>
          <a:prstGeom prst="rect">
            <a:avLst/>
          </a:prstGeom>
          <a:noFill/>
          <a:ln/>
        </p:spPr>
        <p:txBody>
          <a:bodyPr wrap="square" lIns="0" tIns="0" rIns="0" bIns="0" rtlCol="0" anchor="ctr"/>
          <a:lstStyle/>
          <a:p>
            <a:pPr algn="ctr" indent="0" marL="0">
              <a:buNone/>
            </a:pPr>
            <a:r>
              <a:rPr lang="en-US" sz="1100" b="1" spc="150" kern="0" dirty="0">
                <a:solidFill>
                  <a:srgbClr val="34B76F"/>
                </a:solidFill>
                <a:latin typeface="Calibri" pitchFamily="34" charset="0"/>
                <a:ea typeface="Calibri" pitchFamily="34" charset="-122"/>
                <a:cs typeface="Calibri" pitchFamily="34" charset="-120"/>
              </a:rPr>
              <a:t>HALL 4 — UNLOCKED!</a:t>
            </a:r>
            <a:endParaRPr lang="en-US" sz="1100" dirty="0"/>
          </a:p>
        </p:txBody>
      </p:sp>
      <p:sp>
        <p:nvSpPr>
          <p:cNvPr id="6" name="Shape 4"/>
          <p:cNvSpPr/>
          <p:nvPr/>
        </p:nvSpPr>
        <p:spPr>
          <a:xfrm>
            <a:off x="365760" y="749808"/>
            <a:ext cx="4389120" cy="2926080"/>
          </a:xfrm>
          <a:prstGeom prst="roundRect">
            <a:avLst>
              <a:gd name="adj" fmla="val 3750"/>
            </a:avLst>
          </a:prstGeom>
          <a:solidFill>
            <a:srgbClr val="E2E8F4"/>
          </a:solidFill>
          <a:ln w="19050">
            <a:solidFill>
              <a:srgbClr val="B0B8CC"/>
            </a:solidFill>
            <a:prstDash val="dash"/>
          </a:ln>
        </p:spPr>
      </p:sp>
      <p:sp>
        <p:nvSpPr>
          <p:cNvPr id="7" name="Text 5"/>
          <p:cNvSpPr/>
          <p:nvPr/>
        </p:nvSpPr>
        <p:spPr>
          <a:xfrm>
            <a:off x="365760" y="749808"/>
            <a:ext cx="43891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502920" y="1024128"/>
            <a:ext cx="4114800" cy="25603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Students and community members working together at a neighborhood cleanup — showing active citizenship</a:t>
            </a:r>
            <a:endParaRPr lang="en-US" sz="1100" dirty="0"/>
          </a:p>
        </p:txBody>
      </p:sp>
      <p:sp>
        <p:nvSpPr>
          <p:cNvPr id="9" name="Text 7"/>
          <p:cNvSpPr/>
          <p:nvPr/>
        </p:nvSpPr>
        <p:spPr>
          <a:xfrm>
            <a:off x="5029200" y="749808"/>
            <a:ext cx="3749040" cy="640080"/>
          </a:xfrm>
          <a:prstGeom prst="rect">
            <a:avLst/>
          </a:prstGeom>
          <a:noFill/>
          <a:ln/>
        </p:spPr>
        <p:txBody>
          <a:bodyPr wrap="square" lIns="0" tIns="0" rIns="0" bIns="0" rtlCol="0" anchor="ctr"/>
          <a:lstStyle/>
          <a:p>
            <a:pPr indent="0" marL="0">
              <a:buNone/>
            </a:pPr>
            <a:r>
              <a:rPr lang="en-US" sz="3800" b="1" dirty="0">
                <a:solidFill>
                  <a:srgbClr val="55C8E8"/>
                </a:solidFill>
                <a:latin typeface="Cambria" pitchFamily="34" charset="0"/>
                <a:ea typeface="Cambria" pitchFamily="34" charset="-122"/>
                <a:cs typeface="Cambria" pitchFamily="34" charset="-120"/>
              </a:rPr>
              <a:t>Civics</a:t>
            </a:r>
            <a:endParaRPr lang="en-US" sz="3800" dirty="0"/>
          </a:p>
        </p:txBody>
      </p:sp>
      <p:sp>
        <p:nvSpPr>
          <p:cNvPr id="10" name="Shape 8"/>
          <p:cNvSpPr/>
          <p:nvPr/>
        </p:nvSpPr>
        <p:spPr>
          <a:xfrm>
            <a:off x="5029200" y="1426464"/>
            <a:ext cx="3749040" cy="0"/>
          </a:xfrm>
          <a:prstGeom prst="line">
            <a:avLst/>
          </a:prstGeom>
          <a:noFill/>
          <a:ln w="19050">
            <a:solidFill>
              <a:srgbClr val="55C8E8"/>
            </a:solidFill>
            <a:prstDash val="solid"/>
          </a:ln>
        </p:spPr>
      </p:sp>
      <p:sp>
        <p:nvSpPr>
          <p:cNvPr id="11" name="Text 9"/>
          <p:cNvSpPr/>
          <p:nvPr/>
        </p:nvSpPr>
        <p:spPr>
          <a:xfrm>
            <a:off x="5029200" y="1517904"/>
            <a:ext cx="3749040" cy="2011680"/>
          </a:xfrm>
          <a:prstGeom prst="rect">
            <a:avLst/>
          </a:prstGeom>
          <a:noFill/>
          <a:ln/>
        </p:spPr>
        <p:txBody>
          <a:bodyPr wrap="square" lIns="0" tIns="0" rIns="0" bIns="0" rtlCol="0" anchor="ctr"/>
          <a:lstStyle/>
          <a:p>
            <a:pPr indent="0" marL="0">
              <a:lnSpc>
                <a:spcPct val="130000"/>
              </a:lnSpc>
              <a:buNone/>
            </a:pPr>
            <a:r>
              <a:rPr lang="en-US" sz="1200" dirty="0">
                <a:solidFill>
                  <a:srgbClr val="FFFFFF"/>
                </a:solidFill>
                <a:latin typeface="Calibri" pitchFamily="34" charset="0"/>
                <a:ea typeface="Calibri" pitchFamily="34" charset="-122"/>
                <a:cs typeface="Calibri" pitchFamily="34" charset="-120"/>
              </a:rPr>
              <a:t>The study of citizenship and government.</a:t>
            </a:r>
            <a:endParaRPr lang="en-US" sz="1200" dirty="0"/>
          </a:p>
          <a:p>
            <a:pPr indent="0" marL="0">
              <a:lnSpc>
                <a:spcPct val="130000"/>
              </a:lnSpc>
              <a:buNone/>
            </a:pPr>
            <a:endParaRPr lang="en-US" sz="1200" dirty="0"/>
          </a:p>
          <a:p>
            <a:pPr indent="0" marL="0">
              <a:lnSpc>
                <a:spcPct val="130000"/>
              </a:lnSpc>
              <a:buNone/>
            </a:pPr>
            <a:r>
              <a:rPr lang="en-US" sz="1200" dirty="0">
                <a:solidFill>
                  <a:srgbClr val="FFFFFF"/>
                </a:solidFill>
                <a:latin typeface="Calibri" pitchFamily="34" charset="0"/>
                <a:ea typeface="Calibri" pitchFamily="34" charset="-122"/>
                <a:cs typeface="Calibri" pitchFamily="34" charset="-120"/>
              </a:rPr>
              <a:t>Civics asks:</a:t>
            </a:r>
            <a:endParaRPr lang="en-US" sz="1200" dirty="0"/>
          </a:p>
          <a:p>
            <a:pPr indent="0" marL="0">
              <a:lnSpc>
                <a:spcPct val="130000"/>
              </a:lnSpc>
              <a:buNone/>
            </a:pPr>
            <a:r>
              <a:rPr lang="en-US" sz="1200" dirty="0">
                <a:solidFill>
                  <a:srgbClr val="FFFFFF"/>
                </a:solidFill>
                <a:latin typeface="Calibri" pitchFamily="34" charset="0"/>
                <a:ea typeface="Calibri" pitchFamily="34" charset="-122"/>
                <a:cs typeface="Calibri" pitchFamily="34" charset="-120"/>
              </a:rPr>
              <a:t>What are the rules?</a:t>
            </a:r>
            <a:endParaRPr lang="en-US" sz="1200" dirty="0"/>
          </a:p>
          <a:p>
            <a:pPr indent="0" marL="0">
              <a:lnSpc>
                <a:spcPct val="130000"/>
              </a:lnSpc>
              <a:buNone/>
            </a:pPr>
            <a:r>
              <a:rPr lang="en-US" sz="1200" dirty="0">
                <a:solidFill>
                  <a:srgbClr val="FFFFFF"/>
                </a:solidFill>
                <a:latin typeface="Calibri" pitchFamily="34" charset="0"/>
                <a:ea typeface="Calibri" pitchFamily="34" charset="-122"/>
                <a:cs typeface="Calibri" pitchFamily="34" charset="-120"/>
              </a:rPr>
              <a:t>Who makes them?</a:t>
            </a:r>
            <a:endParaRPr lang="en-US" sz="1200" dirty="0"/>
          </a:p>
          <a:p>
            <a:pPr indent="0" marL="0">
              <a:lnSpc>
                <a:spcPct val="130000"/>
              </a:lnSpc>
              <a:buNone/>
            </a:pPr>
            <a:r>
              <a:rPr lang="en-US" sz="1200" dirty="0">
                <a:solidFill>
                  <a:srgbClr val="FFFFFF"/>
                </a:solidFill>
                <a:latin typeface="Calibri" pitchFamily="34" charset="0"/>
                <a:ea typeface="Calibri" pitchFamily="34" charset="-122"/>
                <a:cs typeface="Calibri" pitchFamily="34" charset="-120"/>
              </a:rPr>
              <a:t>How can citizens make a difference?</a:t>
            </a:r>
            <a:endParaRPr lang="en-US" sz="1200" dirty="0"/>
          </a:p>
          <a:p>
            <a:pPr indent="0" marL="0">
              <a:lnSpc>
                <a:spcPct val="130000"/>
              </a:lnSpc>
              <a:buNone/>
            </a:pPr>
            <a:endParaRPr lang="en-US" sz="1200" dirty="0"/>
          </a:p>
          <a:p>
            <a:pPr indent="0" marL="0">
              <a:lnSpc>
                <a:spcPct val="130000"/>
              </a:lnSpc>
              <a:buNone/>
            </a:pPr>
            <a:r>
              <a:rPr lang="en-US" sz="1200" dirty="0">
                <a:solidFill>
                  <a:srgbClr val="FFFFFF"/>
                </a:solidFill>
                <a:latin typeface="Calibri" pitchFamily="34" charset="0"/>
                <a:ea typeface="Calibri" pitchFamily="34" charset="-122"/>
                <a:cs typeface="Calibri" pitchFamily="34" charset="-120"/>
              </a:rPr>
              <a:t>Good citizens follow rules, help their neighbors, and work together.</a:t>
            </a:r>
            <a:endParaRPr lang="en-US" sz="1200" dirty="0"/>
          </a:p>
        </p:txBody>
      </p:sp>
      <p:sp>
        <p:nvSpPr>
          <p:cNvPr id="12" name="Shape 10"/>
          <p:cNvSpPr/>
          <p:nvPr/>
        </p:nvSpPr>
        <p:spPr>
          <a:xfrm>
            <a:off x="365760" y="3858768"/>
            <a:ext cx="1645920" cy="914400"/>
          </a:xfrm>
          <a:prstGeom prst="roundRect">
            <a:avLst>
              <a:gd name="adj" fmla="val 12000"/>
            </a:avLst>
          </a:prstGeom>
          <a:solidFill>
            <a:srgbClr val="1A8A7D"/>
          </a:solidFill>
          <a:ln/>
          <a:effectLst>
            <a:outerShdw sx="100000" sy="100000" kx="0" ky="0" algn="bl" rotWithShape="0" blurRad="63500" dist="25400" dir="8100000">
              <a:srgbClr val="000000">
                <a:alpha val="15000"/>
              </a:srgbClr>
            </a:outerShdw>
          </a:effectLst>
        </p:spPr>
      </p:sp>
      <p:sp>
        <p:nvSpPr>
          <p:cNvPr id="13" name="Text 11"/>
          <p:cNvSpPr/>
          <p:nvPr/>
        </p:nvSpPr>
        <p:spPr>
          <a:xfrm>
            <a:off x="365760" y="3950208"/>
            <a:ext cx="1645920" cy="3200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14" name="Text 12"/>
          <p:cNvSpPr/>
          <p:nvPr/>
        </p:nvSpPr>
        <p:spPr>
          <a:xfrm>
            <a:off x="365760" y="4261104"/>
            <a:ext cx="1645920"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History</a:t>
            </a:r>
            <a:endParaRPr lang="en-US" sz="1300" dirty="0"/>
          </a:p>
        </p:txBody>
      </p:sp>
      <p:sp>
        <p:nvSpPr>
          <p:cNvPr id="15" name="Text 13"/>
          <p:cNvSpPr/>
          <p:nvPr/>
        </p:nvSpPr>
        <p:spPr>
          <a:xfrm>
            <a:off x="420624" y="4517136"/>
            <a:ext cx="1536192" cy="201168"/>
          </a:xfrm>
          <a:prstGeom prst="rect">
            <a:avLst/>
          </a:prstGeom>
          <a:noFill/>
          <a:ln/>
        </p:spPr>
        <p:txBody>
          <a:bodyPr wrap="square" lIns="0" tIns="0" rIns="0" bIns="0" rtlCol="0" anchor="ctr"/>
          <a:lstStyle/>
          <a:p>
            <a:pPr algn="ctr" indent="0" marL="0">
              <a:buNone/>
            </a:pPr>
            <a:r>
              <a:rPr lang="en-US" sz="900" dirty="0">
                <a:solidFill>
                  <a:srgbClr val="D6F2FB"/>
                </a:solidFill>
                <a:latin typeface="Calibri" pitchFamily="34" charset="0"/>
                <a:ea typeface="Calibri" pitchFamily="34" charset="-122"/>
                <a:cs typeface="Calibri" pitchFamily="34" charset="-120"/>
              </a:rPr>
              <a:t>the past</a:t>
            </a:r>
            <a:endParaRPr lang="en-US" sz="900" dirty="0"/>
          </a:p>
        </p:txBody>
      </p:sp>
      <p:sp>
        <p:nvSpPr>
          <p:cNvPr id="16" name="Shape 14"/>
          <p:cNvSpPr/>
          <p:nvPr/>
        </p:nvSpPr>
        <p:spPr>
          <a:xfrm>
            <a:off x="2194560" y="3858768"/>
            <a:ext cx="1645920" cy="914400"/>
          </a:xfrm>
          <a:prstGeom prst="roundRect">
            <a:avLst>
              <a:gd name="adj" fmla="val 12000"/>
            </a:avLst>
          </a:prstGeom>
          <a:solidFill>
            <a:srgbClr val="1A8A7D"/>
          </a:solidFill>
          <a:ln/>
          <a:effectLst>
            <a:outerShdw sx="100000" sy="100000" kx="0" ky="0" algn="bl" rotWithShape="0" blurRad="63500" dist="25400" dir="8100000">
              <a:srgbClr val="000000">
                <a:alpha val="15000"/>
              </a:srgbClr>
            </a:outerShdw>
          </a:effectLst>
        </p:spPr>
      </p:sp>
      <p:sp>
        <p:nvSpPr>
          <p:cNvPr id="17" name="Text 15"/>
          <p:cNvSpPr/>
          <p:nvPr/>
        </p:nvSpPr>
        <p:spPr>
          <a:xfrm>
            <a:off x="2194560" y="3950208"/>
            <a:ext cx="1645920" cy="3200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18" name="Text 16"/>
          <p:cNvSpPr/>
          <p:nvPr/>
        </p:nvSpPr>
        <p:spPr>
          <a:xfrm>
            <a:off x="2194560" y="4261104"/>
            <a:ext cx="1645920"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Geography</a:t>
            </a:r>
            <a:endParaRPr lang="en-US" sz="1300" dirty="0"/>
          </a:p>
        </p:txBody>
      </p:sp>
      <p:sp>
        <p:nvSpPr>
          <p:cNvPr id="19" name="Text 17"/>
          <p:cNvSpPr/>
          <p:nvPr/>
        </p:nvSpPr>
        <p:spPr>
          <a:xfrm>
            <a:off x="2249424" y="4517136"/>
            <a:ext cx="1536192" cy="201168"/>
          </a:xfrm>
          <a:prstGeom prst="rect">
            <a:avLst/>
          </a:prstGeom>
          <a:noFill/>
          <a:ln/>
        </p:spPr>
        <p:txBody>
          <a:bodyPr wrap="square" lIns="0" tIns="0" rIns="0" bIns="0" rtlCol="0" anchor="ctr"/>
          <a:lstStyle/>
          <a:p>
            <a:pPr algn="ctr" indent="0" marL="0">
              <a:buNone/>
            </a:pPr>
            <a:r>
              <a:rPr lang="en-US" sz="900" dirty="0">
                <a:solidFill>
                  <a:srgbClr val="D6F2FB"/>
                </a:solidFill>
                <a:latin typeface="Calibri" pitchFamily="34" charset="0"/>
                <a:ea typeface="Calibri" pitchFamily="34" charset="-122"/>
                <a:cs typeface="Calibri" pitchFamily="34" charset="-120"/>
              </a:rPr>
              <a:t>places</a:t>
            </a:r>
            <a:endParaRPr lang="en-US" sz="900" dirty="0"/>
          </a:p>
        </p:txBody>
      </p:sp>
      <p:sp>
        <p:nvSpPr>
          <p:cNvPr id="20" name="Shape 18"/>
          <p:cNvSpPr/>
          <p:nvPr/>
        </p:nvSpPr>
        <p:spPr>
          <a:xfrm>
            <a:off x="4023360" y="3858768"/>
            <a:ext cx="1645920" cy="914400"/>
          </a:xfrm>
          <a:prstGeom prst="roundRect">
            <a:avLst>
              <a:gd name="adj" fmla="val 12000"/>
            </a:avLst>
          </a:prstGeom>
          <a:solidFill>
            <a:srgbClr val="1A8A7D"/>
          </a:solidFill>
          <a:ln/>
          <a:effectLst>
            <a:outerShdw sx="100000" sy="100000" kx="0" ky="0" algn="bl" rotWithShape="0" blurRad="63500" dist="25400" dir="8100000">
              <a:srgbClr val="000000">
                <a:alpha val="15000"/>
              </a:srgbClr>
            </a:outerShdw>
          </a:effectLst>
        </p:spPr>
      </p:sp>
      <p:sp>
        <p:nvSpPr>
          <p:cNvPr id="21" name="Text 19"/>
          <p:cNvSpPr/>
          <p:nvPr/>
        </p:nvSpPr>
        <p:spPr>
          <a:xfrm>
            <a:off x="4023360" y="3950208"/>
            <a:ext cx="1645920" cy="3200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22" name="Text 20"/>
          <p:cNvSpPr/>
          <p:nvPr/>
        </p:nvSpPr>
        <p:spPr>
          <a:xfrm>
            <a:off x="4023360" y="4261104"/>
            <a:ext cx="1645920"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Economics</a:t>
            </a:r>
            <a:endParaRPr lang="en-US" sz="1300" dirty="0"/>
          </a:p>
        </p:txBody>
      </p:sp>
      <p:sp>
        <p:nvSpPr>
          <p:cNvPr id="23" name="Text 21"/>
          <p:cNvSpPr/>
          <p:nvPr/>
        </p:nvSpPr>
        <p:spPr>
          <a:xfrm>
            <a:off x="4078224" y="4517136"/>
            <a:ext cx="1536192" cy="201168"/>
          </a:xfrm>
          <a:prstGeom prst="rect">
            <a:avLst/>
          </a:prstGeom>
          <a:noFill/>
          <a:ln/>
        </p:spPr>
        <p:txBody>
          <a:bodyPr wrap="square" lIns="0" tIns="0" rIns="0" bIns="0" rtlCol="0" anchor="ctr"/>
          <a:lstStyle/>
          <a:p>
            <a:pPr algn="ctr" indent="0" marL="0">
              <a:buNone/>
            </a:pPr>
            <a:r>
              <a:rPr lang="en-US" sz="900" dirty="0">
                <a:solidFill>
                  <a:srgbClr val="D6F2FB"/>
                </a:solidFill>
                <a:latin typeface="Calibri" pitchFamily="34" charset="0"/>
                <a:ea typeface="Calibri" pitchFamily="34" charset="-122"/>
                <a:cs typeface="Calibri" pitchFamily="34" charset="-120"/>
              </a:rPr>
              <a:t>resources</a:t>
            </a:r>
            <a:endParaRPr lang="en-US" sz="900" dirty="0"/>
          </a:p>
        </p:txBody>
      </p:sp>
      <p:sp>
        <p:nvSpPr>
          <p:cNvPr id="24" name="Shape 22"/>
          <p:cNvSpPr/>
          <p:nvPr/>
        </p:nvSpPr>
        <p:spPr>
          <a:xfrm>
            <a:off x="5852160" y="3858768"/>
            <a:ext cx="1645920" cy="914400"/>
          </a:xfrm>
          <a:prstGeom prst="roundRect">
            <a:avLst>
              <a:gd name="adj" fmla="val 12000"/>
            </a:avLst>
          </a:prstGeom>
          <a:solidFill>
            <a:srgbClr val="1A8A7D"/>
          </a:solidFill>
          <a:ln/>
          <a:effectLst>
            <a:outerShdw sx="100000" sy="100000" kx="0" ky="0" algn="bl" rotWithShape="0" blurRad="63500" dist="25400" dir="8100000">
              <a:srgbClr val="000000">
                <a:alpha val="15000"/>
              </a:srgbClr>
            </a:outerShdw>
          </a:effectLst>
        </p:spPr>
      </p:sp>
      <p:sp>
        <p:nvSpPr>
          <p:cNvPr id="25" name="Text 23"/>
          <p:cNvSpPr/>
          <p:nvPr/>
        </p:nvSpPr>
        <p:spPr>
          <a:xfrm>
            <a:off x="5852160" y="3950208"/>
            <a:ext cx="1645920" cy="3200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26" name="Text 24"/>
          <p:cNvSpPr/>
          <p:nvPr/>
        </p:nvSpPr>
        <p:spPr>
          <a:xfrm>
            <a:off x="5852160" y="4261104"/>
            <a:ext cx="1645920"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Civics</a:t>
            </a:r>
            <a:endParaRPr lang="en-US" sz="1300" dirty="0"/>
          </a:p>
        </p:txBody>
      </p:sp>
      <p:sp>
        <p:nvSpPr>
          <p:cNvPr id="27" name="Text 25"/>
          <p:cNvSpPr/>
          <p:nvPr/>
        </p:nvSpPr>
        <p:spPr>
          <a:xfrm>
            <a:off x="5907024" y="4517136"/>
            <a:ext cx="1536192" cy="201168"/>
          </a:xfrm>
          <a:prstGeom prst="rect">
            <a:avLst/>
          </a:prstGeom>
          <a:noFill/>
          <a:ln/>
        </p:spPr>
        <p:txBody>
          <a:bodyPr wrap="square" lIns="0" tIns="0" rIns="0" bIns="0" rtlCol="0" anchor="ctr"/>
          <a:lstStyle/>
          <a:p>
            <a:pPr algn="ctr" indent="0" marL="0">
              <a:buNone/>
            </a:pPr>
            <a:r>
              <a:rPr lang="en-US" sz="900" dirty="0">
                <a:solidFill>
                  <a:srgbClr val="D6F2FB"/>
                </a:solidFill>
                <a:latin typeface="Calibri" pitchFamily="34" charset="0"/>
                <a:ea typeface="Calibri" pitchFamily="34" charset="-122"/>
                <a:cs typeface="Calibri" pitchFamily="34" charset="-120"/>
              </a:rPr>
              <a:t>citizenship</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rtlCol="0" anchor="ctr"/>
          <a:lstStyle/>
          <a:p>
            <a:pPr algn="ctr" indent="0" marL="0">
              <a:buNone/>
            </a:pPr>
            <a:r>
              <a:rPr lang="en-US" sz="2800" b="1" dirty="0">
                <a:solidFill>
                  <a:srgbClr val="0E1C42"/>
                </a:solidFill>
                <a:latin typeface="Cambria" pitchFamily="34" charset="0"/>
                <a:ea typeface="Cambria" pitchFamily="34" charset="-122"/>
                <a:cs typeface="Cambria" pitchFamily="34" charset="-120"/>
              </a:rPr>
              <a:t>The Four Fields — Exhibit Label</a:t>
            </a:r>
            <a:endParaRPr lang="en-US" sz="2800" dirty="0"/>
          </a:p>
        </p:txBody>
      </p:sp>
      <p:sp>
        <p:nvSpPr>
          <p:cNvPr id="3" name="Shape 1"/>
          <p:cNvSpPr/>
          <p:nvPr/>
        </p:nvSpPr>
        <p:spPr>
          <a:xfrm>
            <a:off x="457200" y="749808"/>
            <a:ext cx="8229600" cy="0"/>
          </a:xfrm>
          <a:prstGeom prst="line">
            <a:avLst/>
          </a:prstGeom>
          <a:noFill/>
          <a:ln w="19050">
            <a:solidFill>
              <a:srgbClr val="D0D8E8"/>
            </a:solidFill>
            <a:prstDash val="solid"/>
          </a:ln>
        </p:spPr>
      </p:sp>
      <p:sp>
        <p:nvSpPr>
          <p:cNvPr id="4" name="Shape 2"/>
          <p:cNvSpPr/>
          <p:nvPr/>
        </p:nvSpPr>
        <p:spPr>
          <a:xfrm>
            <a:off x="457200" y="914400"/>
            <a:ext cx="3840480" cy="1508760"/>
          </a:xfrm>
          <a:prstGeom prst="roundRect">
            <a:avLst>
              <a:gd name="adj" fmla="val 9091"/>
            </a:avLst>
          </a:prstGeom>
          <a:solidFill>
            <a:srgbClr val="E8F0FF"/>
          </a:solidFill>
          <a:ln w="19050">
            <a:solidFill>
              <a:srgbClr val="B0C0E0"/>
            </a:solidFill>
            <a:prstDash val="solid"/>
          </a:ln>
        </p:spPr>
      </p:sp>
      <p:sp>
        <p:nvSpPr>
          <p:cNvPr id="5" name="Text 3"/>
          <p:cNvSpPr/>
          <p:nvPr/>
        </p:nvSpPr>
        <p:spPr>
          <a:xfrm>
            <a:off x="457200" y="1005840"/>
            <a:ext cx="822960" cy="594360"/>
          </a:xfrm>
          <a:prstGeom prst="rect">
            <a:avLst/>
          </a:prstGeom>
          <a:noFill/>
          <a:ln/>
        </p:spPr>
        <p:txBody>
          <a:bodyPr wrap="square" lIns="0" tIns="0" rIns="0" bIns="0" rtlCol="0" anchor="ctr"/>
          <a:lstStyle/>
          <a:p>
            <a:pPr algn="ct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a:off x="1280160" y="1005840"/>
            <a:ext cx="2834640" cy="384048"/>
          </a:xfrm>
          <a:prstGeom prst="rect">
            <a:avLst/>
          </a:prstGeom>
          <a:noFill/>
          <a:ln/>
        </p:spPr>
        <p:txBody>
          <a:bodyPr wrap="square" lIns="0" tIns="0" rIns="0" bIns="0"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History</a:t>
            </a:r>
            <a:endParaRPr lang="en-US" sz="1800" dirty="0"/>
          </a:p>
        </p:txBody>
      </p:sp>
      <p:sp>
        <p:nvSpPr>
          <p:cNvPr id="7" name="Text 5"/>
          <p:cNvSpPr/>
          <p:nvPr/>
        </p:nvSpPr>
        <p:spPr>
          <a:xfrm>
            <a:off x="1280160" y="1417320"/>
            <a:ext cx="2834640" cy="256032"/>
          </a:xfrm>
          <a:prstGeom prst="rect">
            <a:avLst/>
          </a:prstGeom>
          <a:noFill/>
          <a:ln/>
        </p:spPr>
        <p:txBody>
          <a:bodyPr wrap="square" lIns="0" tIns="0" rIns="0" bIns="0"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Asks: "What happened?"</a:t>
            </a:r>
            <a:endParaRPr lang="en-US" sz="1000" dirty="0"/>
          </a:p>
        </p:txBody>
      </p:sp>
      <p:sp>
        <p:nvSpPr>
          <p:cNvPr id="8" name="Text 6"/>
          <p:cNvSpPr/>
          <p:nvPr/>
        </p:nvSpPr>
        <p:spPr>
          <a:xfrm>
            <a:off x="594360" y="1737360"/>
            <a:ext cx="3566160" cy="594360"/>
          </a:xfrm>
          <a:prstGeom prst="rect">
            <a:avLst/>
          </a:prstGeom>
          <a:noFill/>
          <a:ln/>
        </p:spPr>
        <p:txBody>
          <a:bodyPr wrap="square" lIns="0" tIns="0" rIns="0" bIns="0" rtlCol="0" anchor="ctr"/>
          <a:lstStyle/>
          <a:p>
            <a:pPr indent="0" marL="0">
              <a:lnSpc>
                <a:spcPct val="120000"/>
              </a:lnSpc>
              <a:buNone/>
            </a:pPr>
            <a:r>
              <a:rPr lang="en-US" sz="1100" dirty="0">
                <a:solidFill>
                  <a:srgbClr val="0E1C42"/>
                </a:solidFill>
                <a:latin typeface="Calibri" pitchFamily="34" charset="0"/>
                <a:ea typeface="Calibri" pitchFamily="34" charset="-122"/>
                <a:cs typeface="Calibri" pitchFamily="34" charset="-120"/>
              </a:rPr>
              <a:t>Studies the past. Uses letters, photographs, maps, and objects.</a:t>
            </a:r>
            <a:endParaRPr lang="en-US" sz="1100" dirty="0"/>
          </a:p>
        </p:txBody>
      </p:sp>
      <p:sp>
        <p:nvSpPr>
          <p:cNvPr id="9" name="Shape 7"/>
          <p:cNvSpPr/>
          <p:nvPr/>
        </p:nvSpPr>
        <p:spPr>
          <a:xfrm>
            <a:off x="457200" y="2578608"/>
            <a:ext cx="3840480" cy="1508760"/>
          </a:xfrm>
          <a:prstGeom prst="roundRect">
            <a:avLst>
              <a:gd name="adj" fmla="val 9091"/>
            </a:avLst>
          </a:prstGeom>
          <a:solidFill>
            <a:srgbClr val="E0F5F3"/>
          </a:solidFill>
          <a:ln w="19050">
            <a:solidFill>
              <a:srgbClr val="A0D8D0"/>
            </a:solidFill>
            <a:prstDash val="solid"/>
          </a:ln>
        </p:spPr>
      </p:sp>
      <p:sp>
        <p:nvSpPr>
          <p:cNvPr id="10" name="Text 8"/>
          <p:cNvSpPr/>
          <p:nvPr/>
        </p:nvSpPr>
        <p:spPr>
          <a:xfrm>
            <a:off x="457200" y="2670048"/>
            <a:ext cx="822960" cy="594360"/>
          </a:xfrm>
          <a:prstGeom prst="rect">
            <a:avLst/>
          </a:prstGeom>
          <a:noFill/>
          <a:ln/>
        </p:spPr>
        <p:txBody>
          <a:bodyPr wrap="square" lIns="0" tIns="0" rIns="0" bIns="0" rtlCol="0" anchor="ctr"/>
          <a:lstStyle/>
          <a:p>
            <a:pPr algn="ct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11" name="Text 9"/>
          <p:cNvSpPr/>
          <p:nvPr/>
        </p:nvSpPr>
        <p:spPr>
          <a:xfrm>
            <a:off x="1280160" y="2670048"/>
            <a:ext cx="2834640" cy="384048"/>
          </a:xfrm>
          <a:prstGeom prst="rect">
            <a:avLst/>
          </a:prstGeom>
          <a:noFill/>
          <a:ln/>
        </p:spPr>
        <p:txBody>
          <a:bodyPr wrap="square" lIns="0" tIns="0" rIns="0" bIns="0"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Geography</a:t>
            </a:r>
            <a:endParaRPr lang="en-US" sz="1800" dirty="0"/>
          </a:p>
        </p:txBody>
      </p:sp>
      <p:sp>
        <p:nvSpPr>
          <p:cNvPr id="12" name="Text 10"/>
          <p:cNvSpPr/>
          <p:nvPr/>
        </p:nvSpPr>
        <p:spPr>
          <a:xfrm>
            <a:off x="1280160" y="3081528"/>
            <a:ext cx="2834640" cy="256032"/>
          </a:xfrm>
          <a:prstGeom prst="rect">
            <a:avLst/>
          </a:prstGeom>
          <a:noFill/>
          <a:ln/>
        </p:spPr>
        <p:txBody>
          <a:bodyPr wrap="square" lIns="0" tIns="0" rIns="0" bIns="0"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Asks: "Where is it?"</a:t>
            </a:r>
            <a:endParaRPr lang="en-US" sz="1000" dirty="0"/>
          </a:p>
        </p:txBody>
      </p:sp>
      <p:sp>
        <p:nvSpPr>
          <p:cNvPr id="13" name="Text 11"/>
          <p:cNvSpPr/>
          <p:nvPr/>
        </p:nvSpPr>
        <p:spPr>
          <a:xfrm>
            <a:off x="594360" y="3401568"/>
            <a:ext cx="3566160" cy="594360"/>
          </a:xfrm>
          <a:prstGeom prst="rect">
            <a:avLst/>
          </a:prstGeom>
          <a:noFill/>
          <a:ln/>
        </p:spPr>
        <p:txBody>
          <a:bodyPr wrap="square" lIns="0" tIns="0" rIns="0" bIns="0" rtlCol="0" anchor="ctr"/>
          <a:lstStyle/>
          <a:p>
            <a:pPr indent="0" marL="0">
              <a:lnSpc>
                <a:spcPct val="120000"/>
              </a:lnSpc>
              <a:buNone/>
            </a:pPr>
            <a:r>
              <a:rPr lang="en-US" sz="1100" dirty="0">
                <a:solidFill>
                  <a:srgbClr val="0E1C42"/>
                </a:solidFill>
                <a:latin typeface="Calibri" pitchFamily="34" charset="0"/>
                <a:ea typeface="Calibri" pitchFamily="34" charset="-122"/>
                <a:cs typeface="Calibri" pitchFamily="34" charset="-120"/>
              </a:rPr>
              <a:t>Studies Earth's places. Maps, mountains, rivers, and how people live.</a:t>
            </a:r>
            <a:endParaRPr lang="en-US" sz="1100" dirty="0"/>
          </a:p>
        </p:txBody>
      </p:sp>
      <p:sp>
        <p:nvSpPr>
          <p:cNvPr id="14" name="Shape 12"/>
          <p:cNvSpPr/>
          <p:nvPr/>
        </p:nvSpPr>
        <p:spPr>
          <a:xfrm>
            <a:off x="4663440" y="914400"/>
            <a:ext cx="3840480" cy="1508760"/>
          </a:xfrm>
          <a:prstGeom prst="roundRect">
            <a:avLst>
              <a:gd name="adj" fmla="val 9091"/>
            </a:avLst>
          </a:prstGeom>
          <a:solidFill>
            <a:srgbClr val="FFF8E8"/>
          </a:solidFill>
          <a:ln w="19050">
            <a:solidFill>
              <a:srgbClr val="E0C870"/>
            </a:solidFill>
            <a:prstDash val="solid"/>
          </a:ln>
        </p:spPr>
      </p:sp>
      <p:sp>
        <p:nvSpPr>
          <p:cNvPr id="15" name="Text 13"/>
          <p:cNvSpPr/>
          <p:nvPr/>
        </p:nvSpPr>
        <p:spPr>
          <a:xfrm>
            <a:off x="4663440" y="1005840"/>
            <a:ext cx="822960" cy="594360"/>
          </a:xfrm>
          <a:prstGeom prst="rect">
            <a:avLst/>
          </a:prstGeom>
          <a:noFill/>
          <a:ln/>
        </p:spPr>
        <p:txBody>
          <a:bodyPr wrap="square" lIns="0" tIns="0" rIns="0" bIns="0" rtlCol="0" anchor="ctr"/>
          <a:lstStyle/>
          <a:p>
            <a:pPr algn="ct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16" name="Text 14"/>
          <p:cNvSpPr/>
          <p:nvPr/>
        </p:nvSpPr>
        <p:spPr>
          <a:xfrm>
            <a:off x="5486400" y="1005840"/>
            <a:ext cx="2834640" cy="384048"/>
          </a:xfrm>
          <a:prstGeom prst="rect">
            <a:avLst/>
          </a:prstGeom>
          <a:noFill/>
          <a:ln/>
        </p:spPr>
        <p:txBody>
          <a:bodyPr wrap="square" lIns="0" tIns="0" rIns="0" bIns="0"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Economics</a:t>
            </a:r>
            <a:endParaRPr lang="en-US" sz="1800" dirty="0"/>
          </a:p>
        </p:txBody>
      </p:sp>
      <p:sp>
        <p:nvSpPr>
          <p:cNvPr id="17" name="Text 15"/>
          <p:cNvSpPr/>
          <p:nvPr/>
        </p:nvSpPr>
        <p:spPr>
          <a:xfrm>
            <a:off x="5486400" y="1417320"/>
            <a:ext cx="2834640" cy="256032"/>
          </a:xfrm>
          <a:prstGeom prst="rect">
            <a:avLst/>
          </a:prstGeom>
          <a:noFill/>
          <a:ln/>
        </p:spPr>
        <p:txBody>
          <a:bodyPr wrap="square" lIns="0" tIns="0" rIns="0" bIns="0"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Asks: "What do people need?"</a:t>
            </a:r>
            <a:endParaRPr lang="en-US" sz="1000" dirty="0"/>
          </a:p>
        </p:txBody>
      </p:sp>
      <p:sp>
        <p:nvSpPr>
          <p:cNvPr id="18" name="Text 16"/>
          <p:cNvSpPr/>
          <p:nvPr/>
        </p:nvSpPr>
        <p:spPr>
          <a:xfrm>
            <a:off x="4800600" y="1737360"/>
            <a:ext cx="3566160" cy="594360"/>
          </a:xfrm>
          <a:prstGeom prst="rect">
            <a:avLst/>
          </a:prstGeom>
          <a:noFill/>
          <a:ln/>
        </p:spPr>
        <p:txBody>
          <a:bodyPr wrap="square" lIns="0" tIns="0" rIns="0" bIns="0" rtlCol="0" anchor="ctr"/>
          <a:lstStyle/>
          <a:p>
            <a:pPr indent="0" marL="0">
              <a:lnSpc>
                <a:spcPct val="120000"/>
              </a:lnSpc>
              <a:buNone/>
            </a:pPr>
            <a:r>
              <a:rPr lang="en-US" sz="1100" dirty="0">
                <a:solidFill>
                  <a:srgbClr val="0E1C42"/>
                </a:solidFill>
                <a:latin typeface="Calibri" pitchFamily="34" charset="0"/>
                <a:ea typeface="Calibri" pitchFamily="34" charset="-122"/>
                <a:cs typeface="Calibri" pitchFamily="34" charset="-120"/>
              </a:rPr>
              <a:t>Studies how people use resources, buy, sell, and trade.</a:t>
            </a:r>
            <a:endParaRPr lang="en-US" sz="1100" dirty="0"/>
          </a:p>
        </p:txBody>
      </p:sp>
      <p:sp>
        <p:nvSpPr>
          <p:cNvPr id="19" name="Shape 17"/>
          <p:cNvSpPr/>
          <p:nvPr/>
        </p:nvSpPr>
        <p:spPr>
          <a:xfrm>
            <a:off x="4663440" y="2578608"/>
            <a:ext cx="3840480" cy="1508760"/>
          </a:xfrm>
          <a:prstGeom prst="roundRect">
            <a:avLst>
              <a:gd name="adj" fmla="val 9091"/>
            </a:avLst>
          </a:prstGeom>
          <a:solidFill>
            <a:srgbClr val="EAF0FF"/>
          </a:solidFill>
          <a:ln w="19050">
            <a:solidFill>
              <a:srgbClr val="A0B0D8"/>
            </a:solidFill>
            <a:prstDash val="solid"/>
          </a:ln>
        </p:spPr>
      </p:sp>
      <p:sp>
        <p:nvSpPr>
          <p:cNvPr id="20" name="Text 18"/>
          <p:cNvSpPr/>
          <p:nvPr/>
        </p:nvSpPr>
        <p:spPr>
          <a:xfrm>
            <a:off x="4663440" y="2670048"/>
            <a:ext cx="822960" cy="594360"/>
          </a:xfrm>
          <a:prstGeom prst="rect">
            <a:avLst/>
          </a:prstGeom>
          <a:noFill/>
          <a:ln/>
        </p:spPr>
        <p:txBody>
          <a:bodyPr wrap="square" lIns="0" tIns="0" rIns="0" bIns="0" rtlCol="0" anchor="ctr"/>
          <a:lstStyle/>
          <a:p>
            <a:pPr algn="ct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21" name="Text 19"/>
          <p:cNvSpPr/>
          <p:nvPr/>
        </p:nvSpPr>
        <p:spPr>
          <a:xfrm>
            <a:off x="5486400" y="2670048"/>
            <a:ext cx="2834640" cy="384048"/>
          </a:xfrm>
          <a:prstGeom prst="rect">
            <a:avLst/>
          </a:prstGeom>
          <a:noFill/>
          <a:ln/>
        </p:spPr>
        <p:txBody>
          <a:bodyPr wrap="square" lIns="0" tIns="0" rIns="0" bIns="0"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Civics</a:t>
            </a:r>
            <a:endParaRPr lang="en-US" sz="1800" dirty="0"/>
          </a:p>
        </p:txBody>
      </p:sp>
      <p:sp>
        <p:nvSpPr>
          <p:cNvPr id="22" name="Text 20"/>
          <p:cNvSpPr/>
          <p:nvPr/>
        </p:nvSpPr>
        <p:spPr>
          <a:xfrm>
            <a:off x="5486400" y="3081528"/>
            <a:ext cx="2834640" cy="256032"/>
          </a:xfrm>
          <a:prstGeom prst="rect">
            <a:avLst/>
          </a:prstGeom>
          <a:noFill/>
          <a:ln/>
        </p:spPr>
        <p:txBody>
          <a:bodyPr wrap="square" lIns="0" tIns="0" rIns="0" bIns="0"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Asks: "What are the rules?"</a:t>
            </a:r>
            <a:endParaRPr lang="en-US" sz="1000" dirty="0"/>
          </a:p>
        </p:txBody>
      </p:sp>
      <p:sp>
        <p:nvSpPr>
          <p:cNvPr id="23" name="Text 21"/>
          <p:cNvSpPr/>
          <p:nvPr/>
        </p:nvSpPr>
        <p:spPr>
          <a:xfrm>
            <a:off x="4800600" y="3401568"/>
            <a:ext cx="3566160" cy="594360"/>
          </a:xfrm>
          <a:prstGeom prst="rect">
            <a:avLst/>
          </a:prstGeom>
          <a:noFill/>
          <a:ln/>
        </p:spPr>
        <p:txBody>
          <a:bodyPr wrap="square" lIns="0" tIns="0" rIns="0" bIns="0" rtlCol="0" anchor="ctr"/>
          <a:lstStyle/>
          <a:p>
            <a:pPr indent="0" marL="0">
              <a:lnSpc>
                <a:spcPct val="120000"/>
              </a:lnSpc>
              <a:buNone/>
            </a:pPr>
            <a:r>
              <a:rPr lang="en-US" sz="1100" dirty="0">
                <a:solidFill>
                  <a:srgbClr val="0E1C42"/>
                </a:solidFill>
                <a:latin typeface="Calibri" pitchFamily="34" charset="0"/>
                <a:ea typeface="Calibri" pitchFamily="34" charset="-122"/>
                <a:cs typeface="Calibri" pitchFamily="34" charset="-120"/>
              </a:rPr>
              <a:t>Studies citizenship and government. How citizens make a difference.</a:t>
            </a:r>
            <a:endParaRPr lang="en-US" sz="1100" dirty="0"/>
          </a:p>
        </p:txBody>
      </p:sp>
      <p:sp>
        <p:nvSpPr>
          <p:cNvPr id="24" name="Shape 22"/>
          <p:cNvSpPr/>
          <p:nvPr/>
        </p:nvSpPr>
        <p:spPr>
          <a:xfrm>
            <a:off x="457200" y="4206240"/>
            <a:ext cx="8229600" cy="640080"/>
          </a:xfrm>
          <a:prstGeom prst="roundRect">
            <a:avLst>
              <a:gd name="adj" fmla="val 14286"/>
            </a:avLst>
          </a:prstGeom>
          <a:solidFill>
            <a:srgbClr val="0E1C42"/>
          </a:solidFill>
          <a:ln w="12700">
            <a:solidFill>
              <a:srgbClr val="0E1C42"/>
            </a:solidFill>
            <a:prstDash val="solid"/>
          </a:ln>
        </p:spPr>
      </p:sp>
      <p:sp>
        <p:nvSpPr>
          <p:cNvPr id="25" name="Text 23"/>
          <p:cNvSpPr/>
          <p:nvPr/>
        </p:nvSpPr>
        <p:spPr>
          <a:xfrm>
            <a:off x="640080" y="4206240"/>
            <a:ext cx="7863840" cy="640080"/>
          </a:xfrm>
          <a:prstGeom prst="rect">
            <a:avLst/>
          </a:prstGeom>
          <a:noFill/>
          <a:ln/>
        </p:spPr>
        <p:txBody>
          <a:bodyPr wrap="square" lIns="0" tIns="0" rIns="0" bIns="0" rtlCol="0" anchor="ctr"/>
          <a:lstStyle/>
          <a:p>
            <a:pPr algn="ctr" indent="0" marL="0">
              <a:buNone/>
            </a:pPr>
            <a:r>
              <a:rPr lang="en-US" sz="1300" i="1" dirty="0">
                <a:solidFill>
                  <a:srgbClr val="FFFFFF"/>
                </a:solidFill>
                <a:latin typeface="Cambria" pitchFamily="34" charset="0"/>
                <a:ea typeface="Cambria" pitchFamily="34" charset="-122"/>
                <a:cs typeface="Cambria" pitchFamily="34" charset="-120"/>
              </a:rPr>
              <a:t>Together, the four fields help us understand the world and become good citizens — and good curators.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E1C42"/>
          </a:solidFill>
          <a:ln w="12700">
            <a:solidFill>
              <a:srgbClr val="0E1C42"/>
            </a:solidFill>
            <a:prstDash val="solid"/>
          </a:ln>
        </p:spPr>
      </p:sp>
      <p:sp>
        <p:nvSpPr>
          <p:cNvPr id="3" name="Text 1"/>
          <p:cNvSpPr/>
          <p:nvPr/>
        </p:nvSpPr>
        <p:spPr>
          <a:xfrm>
            <a:off x="365760" y="0"/>
            <a:ext cx="8412480" cy="658368"/>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Then &amp; Now: Passing Down the Past</a:t>
            </a:r>
            <a:endParaRPr lang="en-US" sz="1600" dirty="0"/>
          </a:p>
        </p:txBody>
      </p:sp>
      <p:sp>
        <p:nvSpPr>
          <p:cNvPr id="4" name="Shape 2"/>
          <p:cNvSpPr/>
          <p:nvPr/>
        </p:nvSpPr>
        <p:spPr>
          <a:xfrm>
            <a:off x="365760" y="804672"/>
            <a:ext cx="4023360" cy="2286000"/>
          </a:xfrm>
          <a:prstGeom prst="roundRect">
            <a:avLst>
              <a:gd name="adj" fmla="val 6000"/>
            </a:avLst>
          </a:prstGeom>
          <a:solidFill>
            <a:srgbClr val="E8EBF5"/>
          </a:solidFill>
          <a:ln w="19050">
            <a:solidFill>
              <a:srgbClr val="B0B8CC"/>
            </a:solidFill>
            <a:prstDash val="solid"/>
          </a:ln>
        </p:spPr>
      </p:sp>
      <p:sp>
        <p:nvSpPr>
          <p:cNvPr id="5" name="Shape 3"/>
          <p:cNvSpPr/>
          <p:nvPr/>
        </p:nvSpPr>
        <p:spPr>
          <a:xfrm>
            <a:off x="365760" y="804672"/>
            <a:ext cx="4023360" cy="411480"/>
          </a:xfrm>
          <a:prstGeom prst="roundRect">
            <a:avLst>
              <a:gd name="adj" fmla="val 22222"/>
            </a:avLst>
          </a:prstGeom>
          <a:solidFill>
            <a:srgbClr val="1A2D5A"/>
          </a:solidFill>
          <a:ln w="12700">
            <a:solidFill>
              <a:srgbClr val="1A2D5A"/>
            </a:solidFill>
            <a:prstDash val="solid"/>
          </a:ln>
        </p:spPr>
      </p:sp>
      <p:sp>
        <p:nvSpPr>
          <p:cNvPr id="6" name="Text 4"/>
          <p:cNvSpPr/>
          <p:nvPr/>
        </p:nvSpPr>
        <p:spPr>
          <a:xfrm>
            <a:off x="365760" y="804672"/>
            <a:ext cx="4023360" cy="411480"/>
          </a:xfrm>
          <a:prstGeom prst="rect">
            <a:avLst/>
          </a:prstGeom>
          <a:noFill/>
          <a:ln/>
        </p:spPr>
        <p:txBody>
          <a:bodyPr wrap="square" lIns="0" tIns="0" rIns="0" bIns="0" rtlCol="0" anchor="ctr"/>
          <a:lstStyle/>
          <a:p>
            <a:pPr algn="ctr" indent="0" marL="0">
              <a:buNone/>
            </a:pPr>
            <a:r>
              <a:rPr lang="en-US" sz="1100" b="1" spc="100" kern="0" dirty="0">
                <a:solidFill>
                  <a:srgbClr val="55C8E8"/>
                </a:solidFill>
                <a:latin typeface="Calibri" pitchFamily="34" charset="0"/>
                <a:ea typeface="Calibri" pitchFamily="34" charset="-122"/>
                <a:cs typeface="Calibri" pitchFamily="34" charset="-120"/>
              </a:rPr>
              <a:t>THEN (long ago)</a:t>
            </a:r>
            <a:endParaRPr lang="en-US" sz="1100" dirty="0"/>
          </a:p>
        </p:txBody>
      </p:sp>
      <p:sp>
        <p:nvSpPr>
          <p:cNvPr id="7" name="Shape 5"/>
          <p:cNvSpPr/>
          <p:nvPr/>
        </p:nvSpPr>
        <p:spPr>
          <a:xfrm>
            <a:off x="502920" y="1298448"/>
            <a:ext cx="3749040" cy="1645920"/>
          </a:xfrm>
          <a:prstGeom prst="roundRect">
            <a:avLst>
              <a:gd name="adj" fmla="val 6667"/>
            </a:avLst>
          </a:prstGeom>
          <a:solidFill>
            <a:srgbClr val="E2E8F4"/>
          </a:solidFill>
          <a:ln w="19050">
            <a:solidFill>
              <a:srgbClr val="B0B8CC"/>
            </a:solidFill>
            <a:prstDash val="dash"/>
          </a:ln>
        </p:spPr>
      </p:sp>
      <p:sp>
        <p:nvSpPr>
          <p:cNvPr id="8" name="Text 6"/>
          <p:cNvSpPr/>
          <p:nvPr/>
        </p:nvSpPr>
        <p:spPr>
          <a:xfrm>
            <a:off x="502920" y="1298448"/>
            <a:ext cx="374904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9" name="Text 7"/>
          <p:cNvSpPr/>
          <p:nvPr/>
        </p:nvSpPr>
        <p:spPr>
          <a:xfrm>
            <a:off x="640080" y="1572768"/>
            <a:ext cx="3474720" cy="12801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storyteller with a group of people gathered around a fire, passing down oral history</a:t>
            </a:r>
            <a:endParaRPr lang="en-US" sz="1100" dirty="0"/>
          </a:p>
        </p:txBody>
      </p:sp>
      <p:sp>
        <p:nvSpPr>
          <p:cNvPr id="10" name="Shape 8"/>
          <p:cNvSpPr/>
          <p:nvPr/>
        </p:nvSpPr>
        <p:spPr>
          <a:xfrm>
            <a:off x="4663440" y="804672"/>
            <a:ext cx="4023360" cy="2286000"/>
          </a:xfrm>
          <a:prstGeom prst="roundRect">
            <a:avLst>
              <a:gd name="adj" fmla="val 6000"/>
            </a:avLst>
          </a:prstGeom>
          <a:solidFill>
            <a:srgbClr val="E8EBF5"/>
          </a:solidFill>
          <a:ln w="19050">
            <a:solidFill>
              <a:srgbClr val="B0B8CC"/>
            </a:solidFill>
            <a:prstDash val="solid"/>
          </a:ln>
        </p:spPr>
      </p:sp>
      <p:sp>
        <p:nvSpPr>
          <p:cNvPr id="11" name="Shape 9"/>
          <p:cNvSpPr/>
          <p:nvPr/>
        </p:nvSpPr>
        <p:spPr>
          <a:xfrm>
            <a:off x="4663440" y="804672"/>
            <a:ext cx="4023360" cy="411480"/>
          </a:xfrm>
          <a:prstGeom prst="roundRect">
            <a:avLst>
              <a:gd name="adj" fmla="val 22222"/>
            </a:avLst>
          </a:prstGeom>
          <a:solidFill>
            <a:srgbClr val="1A8A7D"/>
          </a:solidFill>
          <a:ln w="12700">
            <a:solidFill>
              <a:srgbClr val="1A8A7D"/>
            </a:solidFill>
            <a:prstDash val="solid"/>
          </a:ln>
        </p:spPr>
      </p:sp>
      <p:sp>
        <p:nvSpPr>
          <p:cNvPr id="12" name="Text 10"/>
          <p:cNvSpPr/>
          <p:nvPr/>
        </p:nvSpPr>
        <p:spPr>
          <a:xfrm>
            <a:off x="4663440" y="804672"/>
            <a:ext cx="4023360" cy="41148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NOW (today)</a:t>
            </a:r>
            <a:endParaRPr lang="en-US" sz="1100" dirty="0"/>
          </a:p>
        </p:txBody>
      </p:sp>
      <p:sp>
        <p:nvSpPr>
          <p:cNvPr id="13" name="Shape 11"/>
          <p:cNvSpPr/>
          <p:nvPr/>
        </p:nvSpPr>
        <p:spPr>
          <a:xfrm>
            <a:off x="4800600" y="1298448"/>
            <a:ext cx="3749040" cy="1645920"/>
          </a:xfrm>
          <a:prstGeom prst="roundRect">
            <a:avLst>
              <a:gd name="adj" fmla="val 6667"/>
            </a:avLst>
          </a:prstGeom>
          <a:solidFill>
            <a:srgbClr val="E2E8F4"/>
          </a:solidFill>
          <a:ln w="19050">
            <a:solidFill>
              <a:srgbClr val="B0B8CC"/>
            </a:solidFill>
            <a:prstDash val="dash"/>
          </a:ln>
        </p:spPr>
      </p:sp>
      <p:sp>
        <p:nvSpPr>
          <p:cNvPr id="14" name="Text 12"/>
          <p:cNvSpPr/>
          <p:nvPr/>
        </p:nvSpPr>
        <p:spPr>
          <a:xfrm>
            <a:off x="4800600" y="1298448"/>
            <a:ext cx="374904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5" name="Text 13"/>
          <p:cNvSpPr/>
          <p:nvPr/>
        </p:nvSpPr>
        <p:spPr>
          <a:xfrm>
            <a:off x="4937760" y="1572768"/>
            <a:ext cx="3474720" cy="12801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student searching for information on a computer or tablet with a world map on screen</a:t>
            </a:r>
            <a:endParaRPr lang="en-US" sz="1100" dirty="0"/>
          </a:p>
        </p:txBody>
      </p:sp>
      <p:sp>
        <p:nvSpPr>
          <p:cNvPr id="16" name="Shape 14"/>
          <p:cNvSpPr/>
          <p:nvPr/>
        </p:nvSpPr>
        <p:spPr>
          <a:xfrm>
            <a:off x="365760" y="3218688"/>
            <a:ext cx="8229600" cy="1325880"/>
          </a:xfrm>
          <a:prstGeom prst="roundRect">
            <a:avLst>
              <a:gd name="adj" fmla="val 10345"/>
            </a:avLst>
          </a:prstGeom>
          <a:solidFill>
            <a:srgbClr val="1A2D5A"/>
          </a:solidFill>
          <a:ln/>
          <a:effectLst>
            <a:outerShdw sx="100000" sy="100000" kx="0" ky="0" algn="bl" rotWithShape="0" blurRad="101600" dist="38100" dir="8100000">
              <a:srgbClr val="000000">
                <a:alpha val="20000"/>
              </a:srgbClr>
            </a:outerShdw>
          </a:effectLst>
        </p:spPr>
      </p:sp>
      <p:sp>
        <p:nvSpPr>
          <p:cNvPr id="17" name="Text 15"/>
          <p:cNvSpPr/>
          <p:nvPr/>
        </p:nvSpPr>
        <p:spPr>
          <a:xfrm>
            <a:off x="548640" y="3310128"/>
            <a:ext cx="78638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8" name="Text 16"/>
          <p:cNvSpPr/>
          <p:nvPr/>
        </p:nvSpPr>
        <p:spPr>
          <a:xfrm>
            <a:off x="548640" y="3566160"/>
            <a:ext cx="7863840" cy="88696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stayed the same about why humans want to remember the past?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changed about HOW we pass down history?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way do you think is more reliable — why?</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2D5A"/>
          </a:solidFill>
          <a:ln w="12700">
            <a:solidFill>
              <a:srgbClr val="1A2D5A"/>
            </a:solidFill>
            <a:prstDash val="solid"/>
          </a:ln>
        </p:spPr>
      </p:sp>
      <p:sp>
        <p:nvSpPr>
          <p:cNvPr id="3" name="Text 1"/>
          <p:cNvSpPr/>
          <p:nvPr/>
        </p:nvSpPr>
        <p:spPr>
          <a:xfrm>
            <a:off x="365760" y="0"/>
            <a:ext cx="8412480" cy="658368"/>
          </a:xfrm>
          <a:prstGeom prst="rect">
            <a:avLst/>
          </a:prstGeom>
          <a:noFill/>
          <a:ln/>
        </p:spPr>
        <p:txBody>
          <a:bodyPr wrap="square" rtlCol="0" anchor="ctr"/>
          <a:lstStyle/>
          <a:p>
            <a:pPr indent="0" marL="0">
              <a:buNone/>
            </a:pPr>
            <a:r>
              <a:rPr lang="en-US" sz="1400" b="1" dirty="0">
                <a:solidFill>
                  <a:srgbClr val="D4943A"/>
                </a:solidFill>
                <a:latin typeface="Cambria" pitchFamily="34" charset="0"/>
                <a:ea typeface="Cambria" pitchFamily="34" charset="-122"/>
                <a:cs typeface="Cambria" pitchFamily="34" charset="-120"/>
              </a:rPr>
              <a:t>Discussion: Why Is It Important to Learn About the Past?</a:t>
            </a:r>
            <a:endParaRPr lang="en-US" sz="1400" dirty="0"/>
          </a:p>
        </p:txBody>
      </p:sp>
      <p:sp>
        <p:nvSpPr>
          <p:cNvPr id="4" name="Shape 2"/>
          <p:cNvSpPr/>
          <p:nvPr/>
        </p:nvSpPr>
        <p:spPr>
          <a:xfrm>
            <a:off x="365760" y="786384"/>
            <a:ext cx="8412480" cy="960120"/>
          </a:xfrm>
          <a:prstGeom prst="roundRect">
            <a:avLst>
              <a:gd name="adj" fmla="val 14286"/>
            </a:avLst>
          </a:prstGeom>
          <a:solidFill>
            <a:srgbClr val="F8F5FF"/>
          </a:solidFill>
          <a:ln w="19050">
            <a:solidFill>
              <a:srgbClr val="8B6FC0"/>
            </a:solidFill>
            <a:prstDash val="solid"/>
          </a:ln>
        </p:spPr>
      </p:sp>
      <p:sp>
        <p:nvSpPr>
          <p:cNvPr id="5" name="Text 3"/>
          <p:cNvSpPr/>
          <p:nvPr/>
        </p:nvSpPr>
        <p:spPr>
          <a:xfrm>
            <a:off x="548640" y="841248"/>
            <a:ext cx="8046720" cy="274320"/>
          </a:xfrm>
          <a:prstGeom prst="rect">
            <a:avLst/>
          </a:prstGeom>
          <a:noFill/>
          <a:ln/>
        </p:spPr>
        <p:txBody>
          <a:bodyPr wrap="square" lIns="0" tIns="0" rIns="0" bIns="0" rtlCol="0" anchor="ctr"/>
          <a:lstStyle/>
          <a:p>
            <a:pPr indent="0" marL="0">
              <a:buNone/>
            </a:pPr>
            <a:r>
              <a:rPr lang="en-US" sz="1100" b="1" dirty="0">
                <a:solidFill>
                  <a:srgbClr val="8B6FC0"/>
                </a:solidFill>
                <a:latin typeface="Calibri" pitchFamily="34" charset="0"/>
                <a:ea typeface="Calibri" pitchFamily="34" charset="-122"/>
                <a:cs typeface="Calibri" pitchFamily="34" charset="-120"/>
              </a:rPr>
              <a:t>Think about this:</a:t>
            </a:r>
            <a:endParaRPr lang="en-US" sz="1100" dirty="0"/>
          </a:p>
        </p:txBody>
      </p:sp>
      <p:sp>
        <p:nvSpPr>
          <p:cNvPr id="6" name="Text 4"/>
          <p:cNvSpPr/>
          <p:nvPr/>
        </p:nvSpPr>
        <p:spPr>
          <a:xfrm>
            <a:off x="548640" y="1115568"/>
            <a:ext cx="8046720" cy="566928"/>
          </a:xfrm>
          <a:prstGeom prst="rect">
            <a:avLst/>
          </a:prstGeom>
          <a:noFill/>
          <a:ln/>
        </p:spPr>
        <p:txBody>
          <a:bodyPr wrap="square" lIns="0" tIns="0" rIns="0" bIns="0" rtlCol="0" anchor="ctr"/>
          <a:lstStyle/>
          <a:p>
            <a:pPr indent="0" marL="0">
              <a:lnSpc>
                <a:spcPct val="120000"/>
              </a:lnSpc>
              <a:buNone/>
            </a:pPr>
            <a:r>
              <a:rPr lang="en-US" sz="1300" dirty="0">
                <a:solidFill>
                  <a:srgbClr val="0E1C42"/>
                </a:solidFill>
                <a:latin typeface="Calibri" pitchFamily="34" charset="0"/>
                <a:ea typeface="Calibri" pitchFamily="34" charset="-122"/>
                <a:cs typeface="Calibri" pitchFamily="34" charset="-120"/>
              </a:rPr>
              <a:t>Historians study old letters, photographs, and objects. Geographers study maps of places from long ago. Economists study how ancient markets worked. Citizens study how old rules led to new ones. WHY does any of that matter to US today?</a:t>
            </a:r>
            <a:endParaRPr lang="en-US" sz="1300" dirty="0"/>
          </a:p>
        </p:txBody>
      </p:sp>
      <p:sp>
        <p:nvSpPr>
          <p:cNvPr id="7" name="Shape 5"/>
          <p:cNvSpPr/>
          <p:nvPr/>
        </p:nvSpPr>
        <p:spPr>
          <a:xfrm>
            <a:off x="365760" y="1874520"/>
            <a:ext cx="4023360" cy="1691640"/>
          </a:xfrm>
          <a:prstGeom prst="roundRect">
            <a:avLst>
              <a:gd name="adj" fmla="val 6486"/>
            </a:avLst>
          </a:prstGeom>
          <a:solidFill>
            <a:srgbClr val="EAF8FD"/>
          </a:solidFill>
          <a:ln w="19050">
            <a:solidFill>
              <a:srgbClr val="B0D8E8"/>
            </a:solidFill>
            <a:prstDash val="solid"/>
          </a:ln>
        </p:spPr>
      </p:sp>
      <p:sp>
        <p:nvSpPr>
          <p:cNvPr id="8" name="Shape 6"/>
          <p:cNvSpPr/>
          <p:nvPr/>
        </p:nvSpPr>
        <p:spPr>
          <a:xfrm>
            <a:off x="365760" y="1874520"/>
            <a:ext cx="4023360" cy="384048"/>
          </a:xfrm>
          <a:prstGeom prst="roundRect">
            <a:avLst>
              <a:gd name="adj" fmla="val 23810"/>
            </a:avLst>
          </a:prstGeom>
          <a:solidFill>
            <a:srgbClr val="55C8E8"/>
          </a:solidFill>
          <a:ln w="12700">
            <a:solidFill>
              <a:srgbClr val="55C8E8"/>
            </a:solidFill>
            <a:prstDash val="solid"/>
          </a:ln>
        </p:spPr>
      </p:sp>
      <p:sp>
        <p:nvSpPr>
          <p:cNvPr id="9" name="Text 7"/>
          <p:cNvSpPr/>
          <p:nvPr/>
        </p:nvSpPr>
        <p:spPr>
          <a:xfrm>
            <a:off x="502920" y="1874520"/>
            <a:ext cx="3749040" cy="384048"/>
          </a:xfrm>
          <a:prstGeom prst="rect">
            <a:avLst/>
          </a:prstGeom>
          <a:noFill/>
          <a:ln/>
        </p:spPr>
        <p:txBody>
          <a:bodyPr wrap="square" lIns="0" tIns="0" rIns="0" bIns="0" rtlCol="0" anchor="ctr"/>
          <a:lstStyle/>
          <a:p>
            <a:pPr indent="0" marL="0">
              <a:buNone/>
            </a:pPr>
            <a:r>
              <a:rPr lang="en-US" sz="1000" b="1" spc="100" kern="0" dirty="0">
                <a:solidFill>
                  <a:srgbClr val="0E1C42"/>
                </a:solidFill>
                <a:latin typeface="Calibri" pitchFamily="34" charset="0"/>
                <a:ea typeface="Calibri" pitchFamily="34" charset="-122"/>
                <a:cs typeface="Calibri" pitchFamily="34" charset="-120"/>
              </a:rPr>
              <a:t>EVIDENCE from the lesson:</a:t>
            </a:r>
            <a:endParaRPr lang="en-US" sz="1000" dirty="0"/>
          </a:p>
        </p:txBody>
      </p:sp>
      <p:sp>
        <p:nvSpPr>
          <p:cNvPr id="10" name="Text 8"/>
          <p:cNvSpPr/>
          <p:nvPr/>
        </p:nvSpPr>
        <p:spPr>
          <a:xfrm>
            <a:off x="502920" y="2331720"/>
            <a:ext cx="3794760" cy="1188720"/>
          </a:xfrm>
          <a:prstGeom prst="rect">
            <a:avLst/>
          </a:prstGeom>
          <a:noFill/>
          <a:ln/>
        </p:spPr>
        <p:txBody>
          <a:bodyPr wrap="square" lIns="0" tIns="0" rIns="0" bIns="0" rtlCol="0" anchor="ctr"/>
          <a:lstStyle/>
          <a:p>
            <a:pPr marL="342900" indent="-342900">
              <a:lnSpc>
                <a:spcPct val="140000"/>
              </a:lnSpc>
              <a:buSzPct val="100000"/>
              <a:buChar char="•"/>
            </a:pPr>
            <a:r>
              <a:rPr lang="en-US" sz="1100" dirty="0">
                <a:solidFill>
                  <a:srgbClr val="0E1C42"/>
                </a:solidFill>
                <a:latin typeface="Calibri" pitchFamily="34" charset="0"/>
                <a:ea typeface="Calibri" pitchFamily="34" charset="-122"/>
                <a:cs typeface="Calibri" pitchFamily="34" charset="-120"/>
              </a:rPr>
              <a:t>Herodotus wrote history 2,500 years ago.</a:t>
            </a:r>
            <a:endParaRPr lang="en-US" sz="1100" dirty="0"/>
          </a:p>
          <a:p>
            <a:pPr marL="342900" indent="-342900">
              <a:lnSpc>
                <a:spcPct val="140000"/>
              </a:lnSpc>
              <a:buSzPct val="100000"/>
              <a:buChar char="•"/>
            </a:pPr>
            <a:r>
              <a:rPr lang="en-US" sz="1100" dirty="0">
                <a:solidFill>
                  <a:srgbClr val="0E1C42"/>
                </a:solidFill>
                <a:latin typeface="Calibri" pitchFamily="34" charset="0"/>
                <a:ea typeface="Calibri" pitchFamily="34" charset="-122"/>
                <a:cs typeface="Calibri" pitchFamily="34" charset="-120"/>
              </a:rPr>
              <a:t>Historians ask: What can we LEARN from it?</a:t>
            </a:r>
            <a:endParaRPr lang="en-US" sz="1100" dirty="0"/>
          </a:p>
          <a:p>
            <a:pPr marL="342900" indent="-342900">
              <a:lnSpc>
                <a:spcPct val="140000"/>
              </a:lnSpc>
              <a:buSzPct val="100000"/>
              <a:buChar char="•"/>
            </a:pPr>
            <a:r>
              <a:rPr lang="en-US" sz="1100" dirty="0">
                <a:solidFill>
                  <a:srgbClr val="0E1C42"/>
                </a:solidFill>
                <a:latin typeface="Calibri" pitchFamily="34" charset="0"/>
                <a:ea typeface="Calibri" pitchFamily="34" charset="-122"/>
                <a:cs typeface="Calibri" pitchFamily="34" charset="-120"/>
              </a:rPr>
              <a:t>Civics connects old rules to today's government.</a:t>
            </a:r>
            <a:endParaRPr lang="en-US" sz="1100" dirty="0"/>
          </a:p>
          <a:p>
            <a:pPr marL="342900" indent="-342900">
              <a:lnSpc>
                <a:spcPct val="140000"/>
              </a:lnSpc>
              <a:buSzPct val="100000"/>
              <a:buChar char="•"/>
            </a:pPr>
            <a:r>
              <a:rPr lang="en-US" sz="1100" dirty="0">
                <a:solidFill>
                  <a:srgbClr val="0E1C42"/>
                </a:solidFill>
                <a:latin typeface="Calibri" pitchFamily="34" charset="0"/>
                <a:ea typeface="Calibri" pitchFamily="34" charset="-122"/>
                <a:cs typeface="Calibri" pitchFamily="34" charset="-120"/>
              </a:rPr>
              <a:t>Geography shows how places changed over time.</a:t>
            </a:r>
            <a:endParaRPr lang="en-US" sz="1100" dirty="0"/>
          </a:p>
        </p:txBody>
      </p:sp>
      <p:sp>
        <p:nvSpPr>
          <p:cNvPr id="11" name="Shape 9"/>
          <p:cNvSpPr/>
          <p:nvPr/>
        </p:nvSpPr>
        <p:spPr>
          <a:xfrm>
            <a:off x="4572000" y="1874520"/>
            <a:ext cx="4206240" cy="1691640"/>
          </a:xfrm>
          <a:prstGeom prst="roundRect">
            <a:avLst>
              <a:gd name="adj" fmla="val 6486"/>
            </a:avLst>
          </a:prstGeom>
          <a:solidFill>
            <a:srgbClr val="FFF3DC"/>
          </a:solidFill>
          <a:ln w="19050">
            <a:solidFill>
              <a:srgbClr val="F5E6C8"/>
            </a:solidFill>
            <a:prstDash val="solid"/>
          </a:ln>
        </p:spPr>
      </p:sp>
      <p:sp>
        <p:nvSpPr>
          <p:cNvPr id="12" name="Text 10"/>
          <p:cNvSpPr/>
          <p:nvPr/>
        </p:nvSpPr>
        <p:spPr>
          <a:xfrm>
            <a:off x="4709160" y="1929384"/>
            <a:ext cx="39319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4709160" y="2130552"/>
            <a:ext cx="3931920" cy="13716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it's important to learn about the past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"Evidence from the lesson that supports this is..."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3474720" y="201168"/>
            <a:ext cx="2194560" cy="411480"/>
          </a:xfrm>
          <a:prstGeom prst="roundRect">
            <a:avLst>
              <a:gd name="adj" fmla="val 22222"/>
            </a:avLst>
          </a:prstGeom>
          <a:solidFill>
            <a:srgbClr val="1A3A2A"/>
          </a:solidFill>
          <a:ln w="19050">
            <a:solidFill>
              <a:srgbClr val="34B76F"/>
            </a:solidFill>
            <a:prstDash val="solid"/>
          </a:ln>
        </p:spPr>
      </p:sp>
      <p:sp>
        <p:nvSpPr>
          <p:cNvPr id="5" name="Text 3"/>
          <p:cNvSpPr/>
          <p:nvPr/>
        </p:nvSpPr>
        <p:spPr>
          <a:xfrm>
            <a:off x="3474720" y="201168"/>
            <a:ext cx="2194560" cy="411480"/>
          </a:xfrm>
          <a:prstGeom prst="rect">
            <a:avLst/>
          </a:prstGeom>
          <a:noFill/>
          <a:ln/>
        </p:spPr>
        <p:txBody>
          <a:bodyPr wrap="square" lIns="0" tIns="0" rIns="0" bIns="0" rtlCol="0" anchor="ctr"/>
          <a:lstStyle/>
          <a:p>
            <a:pPr algn="ctr" indent="0" marL="0">
              <a:buNone/>
            </a:pPr>
            <a:r>
              <a:rPr lang="en-US" sz="1000" b="1" spc="150" kern="0" dirty="0">
                <a:solidFill>
                  <a:srgbClr val="34B76F"/>
                </a:solidFill>
                <a:latin typeface="Calibri" pitchFamily="34" charset="0"/>
                <a:ea typeface="Calibri" pitchFamily="34" charset="-122"/>
                <a:cs typeface="Calibri" pitchFamily="34" charset="-120"/>
              </a:rPr>
              <a:t>VIRTUE SPOTLIGHT</a:t>
            </a:r>
            <a:endParaRPr lang="en-US" sz="1000" dirty="0"/>
          </a:p>
        </p:txBody>
      </p:sp>
      <p:sp>
        <p:nvSpPr>
          <p:cNvPr id="6" name="Shape 4"/>
          <p:cNvSpPr/>
          <p:nvPr/>
        </p:nvSpPr>
        <p:spPr>
          <a:xfrm>
            <a:off x="365760" y="749808"/>
            <a:ext cx="4206240" cy="2926080"/>
          </a:xfrm>
          <a:prstGeom prst="roundRect">
            <a:avLst>
              <a:gd name="adj" fmla="val 3750"/>
            </a:avLst>
          </a:prstGeom>
          <a:solidFill>
            <a:srgbClr val="E2E8F4"/>
          </a:solidFill>
          <a:ln w="19050">
            <a:solidFill>
              <a:srgbClr val="B0B8CC"/>
            </a:solidFill>
            <a:prstDash val="dash"/>
          </a:ln>
        </p:spPr>
      </p:sp>
      <p:sp>
        <p:nvSpPr>
          <p:cNvPr id="7" name="Text 5"/>
          <p:cNvSpPr/>
          <p:nvPr/>
        </p:nvSpPr>
        <p:spPr>
          <a:xfrm>
            <a:off x="365760" y="749808"/>
            <a:ext cx="420624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502920" y="1024128"/>
            <a:ext cx="3931920" cy="25603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volunteer at a food bank handing boxes to families — warm lighting, showing community service in action</a:t>
            </a:r>
            <a:endParaRPr lang="en-US" sz="1100" dirty="0"/>
          </a:p>
        </p:txBody>
      </p:sp>
      <p:sp>
        <p:nvSpPr>
          <p:cNvPr id="9" name="Text 7"/>
          <p:cNvSpPr/>
          <p:nvPr/>
        </p:nvSpPr>
        <p:spPr>
          <a:xfrm>
            <a:off x="4846320" y="749808"/>
            <a:ext cx="3840480" cy="594360"/>
          </a:xfrm>
          <a:prstGeom prst="rect">
            <a:avLst/>
          </a:prstGeom>
          <a:noFill/>
          <a:ln/>
        </p:spPr>
        <p:txBody>
          <a:bodyPr wrap="square" lIns="0" tIns="0" rIns="0" bIns="0" rtlCol="0" anchor="ctr"/>
          <a:lstStyle/>
          <a:p>
            <a:pPr indent="0" marL="0">
              <a:buNone/>
            </a:pPr>
            <a:r>
              <a:rPr lang="en-US" sz="4000" b="1" dirty="0">
                <a:solidFill>
                  <a:srgbClr val="34B76F"/>
                </a:solidFill>
                <a:latin typeface="Cambria" pitchFamily="34" charset="0"/>
                <a:ea typeface="Cambria" pitchFamily="34" charset="-122"/>
                <a:cs typeface="Cambria" pitchFamily="34" charset="-120"/>
              </a:rPr>
              <a:t>Service</a:t>
            </a:r>
            <a:endParaRPr lang="en-US" sz="4000" dirty="0"/>
          </a:p>
        </p:txBody>
      </p:sp>
      <p:sp>
        <p:nvSpPr>
          <p:cNvPr id="10" name="Shape 8"/>
          <p:cNvSpPr/>
          <p:nvPr/>
        </p:nvSpPr>
        <p:spPr>
          <a:xfrm>
            <a:off x="4846320" y="1380744"/>
            <a:ext cx="3840480" cy="0"/>
          </a:xfrm>
          <a:prstGeom prst="line">
            <a:avLst/>
          </a:prstGeom>
          <a:noFill/>
          <a:ln w="19050">
            <a:solidFill>
              <a:srgbClr val="34B76F"/>
            </a:solidFill>
            <a:prstDash val="solid"/>
          </a:ln>
        </p:spPr>
      </p:sp>
      <p:sp>
        <p:nvSpPr>
          <p:cNvPr id="11" name="Text 9"/>
          <p:cNvSpPr/>
          <p:nvPr/>
        </p:nvSpPr>
        <p:spPr>
          <a:xfrm>
            <a:off x="4846320" y="1481328"/>
            <a:ext cx="3840480" cy="1920240"/>
          </a:xfrm>
          <a:prstGeom prst="rect">
            <a:avLst/>
          </a:prstGeom>
          <a:noFill/>
          <a:ln/>
        </p:spPr>
        <p:txBody>
          <a:bodyPr wrap="square" lIns="0" tIns="0" rIns="0" bIns="0" rtlCol="0" anchor="ctr"/>
          <a:lstStyle/>
          <a:p>
            <a:pPr indent="0" marL="0">
              <a:lnSpc>
                <a:spcPct val="140000"/>
              </a:lnSpc>
              <a:buNone/>
            </a:pPr>
            <a:r>
              <a:rPr lang="en-US" sz="1200" dirty="0">
                <a:solidFill>
                  <a:srgbClr val="FFFFFF"/>
                </a:solidFill>
                <a:latin typeface="Calibri" pitchFamily="34" charset="0"/>
                <a:ea typeface="Calibri" pitchFamily="34" charset="-122"/>
                <a:cs typeface="Calibri" pitchFamily="34" charset="-120"/>
              </a:rPr>
              <a:t>Helping others and contributing to your community is one of the most important things a citizen can do.</a:t>
            </a:r>
            <a:endParaRPr lang="en-US" sz="1200" dirty="0"/>
          </a:p>
          <a:p>
            <a:pPr indent="0" marL="0">
              <a:lnSpc>
                <a:spcPct val="140000"/>
              </a:lnSpc>
              <a:buNone/>
            </a:pPr>
            <a:endParaRPr lang="en-US" sz="1200" dirty="0"/>
          </a:p>
          <a:p>
            <a:pPr indent="0" marL="0">
              <a:lnSpc>
                <a:spcPct val="140000"/>
              </a:lnSpc>
              <a:buNone/>
            </a:pPr>
            <a:r>
              <a:rPr lang="en-US" sz="1200" dirty="0">
                <a:solidFill>
                  <a:srgbClr val="FFFFFF"/>
                </a:solidFill>
                <a:latin typeface="Calibri" pitchFamily="34" charset="0"/>
                <a:ea typeface="Calibri" pitchFamily="34" charset="-122"/>
                <a:cs typeface="Calibri" pitchFamily="34" charset="-120"/>
              </a:rPr>
              <a:t>In this museum, curators serve visitors by making exhibits clear and honest.</a:t>
            </a:r>
            <a:endParaRPr lang="en-US" sz="1200" dirty="0"/>
          </a:p>
          <a:p>
            <a:pPr indent="0" marL="0">
              <a:lnSpc>
                <a:spcPct val="140000"/>
              </a:lnSpc>
              <a:buNone/>
            </a:pPr>
            <a:endParaRPr lang="en-US" sz="1200" dirty="0"/>
          </a:p>
          <a:p>
            <a:pPr indent="0" marL="0">
              <a:lnSpc>
                <a:spcPct val="140000"/>
              </a:lnSpc>
              <a:buNone/>
            </a:pPr>
            <a:r>
              <a:rPr lang="en-US" sz="1200" dirty="0">
                <a:solidFill>
                  <a:srgbClr val="FFFFFF"/>
                </a:solidFill>
                <a:latin typeface="Calibri" pitchFamily="34" charset="0"/>
                <a:ea typeface="Calibri" pitchFamily="34" charset="-122"/>
                <a:cs typeface="Calibri" pitchFamily="34" charset="-120"/>
              </a:rPr>
              <a:t>As you study social studies this year, notice how people throughout history have served their communities.</a:t>
            </a:r>
            <a:endParaRPr lang="en-US" sz="1200" dirty="0"/>
          </a:p>
        </p:txBody>
      </p:sp>
      <p:sp>
        <p:nvSpPr>
          <p:cNvPr id="12" name="Shape 10"/>
          <p:cNvSpPr/>
          <p:nvPr/>
        </p:nvSpPr>
        <p:spPr>
          <a:xfrm>
            <a:off x="4846320" y="3493008"/>
            <a:ext cx="3840480" cy="1371600"/>
          </a:xfrm>
          <a:prstGeom prst="roundRect">
            <a:avLst>
              <a:gd name="adj" fmla="val 10000"/>
            </a:avLst>
          </a:prstGeom>
          <a:solidFill>
            <a:srgbClr val="1A2D5A"/>
          </a:solidFill>
          <a:ln/>
          <a:effectLst>
            <a:outerShdw sx="100000" sy="100000" kx="0" ky="0" algn="bl" rotWithShape="0" blurRad="101600" dist="38100" dir="8100000">
              <a:srgbClr val="000000">
                <a:alpha val="20000"/>
              </a:srgbClr>
            </a:outerShdw>
          </a:effectLst>
        </p:spPr>
      </p:sp>
      <p:sp>
        <p:nvSpPr>
          <p:cNvPr id="13" name="Text 11"/>
          <p:cNvSpPr/>
          <p:nvPr/>
        </p:nvSpPr>
        <p:spPr>
          <a:xfrm>
            <a:off x="5029200" y="3584448"/>
            <a:ext cx="34747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4" name="Text 12"/>
          <p:cNvSpPr/>
          <p:nvPr/>
        </p:nvSpPr>
        <p:spPr>
          <a:xfrm>
            <a:off x="5029200" y="3840480"/>
            <a:ext cx="3474720" cy="93268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is a food bank volunteer showing service?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does a historian SERVE others?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is one way YOU can serve your community this year?</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E1C42"/>
          </a:solidFill>
          <a:ln w="12700">
            <a:solidFill>
              <a:srgbClr val="0E1C42"/>
            </a:solidFill>
            <a:prstDash val="solid"/>
          </a:ln>
        </p:spPr>
      </p:sp>
      <p:sp>
        <p:nvSpPr>
          <p:cNvPr id="3" name="Text 1"/>
          <p:cNvSpPr/>
          <p:nvPr/>
        </p:nvSpPr>
        <p:spPr>
          <a:xfrm>
            <a:off x="365760" y="0"/>
            <a:ext cx="8412480" cy="658368"/>
          </a:xfrm>
          <a:prstGeom prst="rect">
            <a:avLst/>
          </a:prstGeom>
          <a:noFill/>
          <a:ln/>
        </p:spPr>
        <p:txBody>
          <a:bodyPr wrap="square" rtlCol="0" anchor="ctr"/>
          <a:lstStyle/>
          <a:p>
            <a:pPr indent="0" marL="0">
              <a:buNone/>
            </a:pPr>
            <a:r>
              <a:rPr lang="en-US" sz="1400" b="1" spc="100" kern="0" dirty="0">
                <a:solidFill>
                  <a:srgbClr val="55C8E8"/>
                </a:solidFill>
                <a:latin typeface="Calibri" pitchFamily="34" charset="0"/>
                <a:ea typeface="Calibri" pitchFamily="34" charset="-122"/>
                <a:cs typeface="Calibri" pitchFamily="34" charset="-120"/>
              </a:rPr>
              <a:t>Guided Practice — Teacher Model</a:t>
            </a:r>
            <a:endParaRPr lang="en-US" sz="1400" dirty="0"/>
          </a:p>
        </p:txBody>
      </p:sp>
      <p:sp>
        <p:nvSpPr>
          <p:cNvPr id="4" name="Text 2"/>
          <p:cNvSpPr/>
          <p:nvPr/>
        </p:nvSpPr>
        <p:spPr>
          <a:xfrm>
            <a:off x="457200" y="777240"/>
            <a:ext cx="8229600" cy="365760"/>
          </a:xfrm>
          <a:prstGeom prst="rect">
            <a:avLst/>
          </a:prstGeom>
          <a:noFill/>
          <a:ln/>
        </p:spPr>
        <p:txBody>
          <a:bodyPr wrap="square" rtlCol="0" anchor="ctr"/>
          <a:lstStyle/>
          <a:p>
            <a:pPr indent="0" marL="0">
              <a:buNone/>
            </a:pPr>
            <a:r>
              <a:rPr lang="en-US" sz="1400" dirty="0">
                <a:solidFill>
                  <a:srgbClr val="0E1C42"/>
                </a:solidFill>
                <a:latin typeface="Calibri" pitchFamily="34" charset="0"/>
                <a:ea typeface="Calibri" pitchFamily="34" charset="-122"/>
                <a:cs typeface="Calibri" pitchFamily="34" charset="-120"/>
              </a:rPr>
              <a:t>Watch how I answer Assignment Question 1.</a:t>
            </a:r>
            <a:endParaRPr lang="en-US" sz="1400" dirty="0"/>
          </a:p>
        </p:txBody>
      </p:sp>
      <p:sp>
        <p:nvSpPr>
          <p:cNvPr id="5" name="Shape 3"/>
          <p:cNvSpPr/>
          <p:nvPr/>
        </p:nvSpPr>
        <p:spPr>
          <a:xfrm>
            <a:off x="457200" y="1188720"/>
            <a:ext cx="8229600" cy="594360"/>
          </a:xfrm>
          <a:prstGeom prst="roundRect">
            <a:avLst>
              <a:gd name="adj" fmla="val 18462"/>
            </a:avLst>
          </a:prstGeom>
          <a:solidFill>
            <a:srgbClr val="EAF8FD"/>
          </a:solidFill>
          <a:ln w="19050">
            <a:solidFill>
              <a:srgbClr val="55C8E8"/>
            </a:solidFill>
            <a:prstDash val="solid"/>
          </a:ln>
        </p:spPr>
      </p:sp>
      <p:sp>
        <p:nvSpPr>
          <p:cNvPr id="6" name="Text 4"/>
          <p:cNvSpPr/>
          <p:nvPr/>
        </p:nvSpPr>
        <p:spPr>
          <a:xfrm>
            <a:off x="640080" y="1234440"/>
            <a:ext cx="7863840" cy="502920"/>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Question 1:  Name two of the four fields of social studies and describe what each one studies. Use at least one detail from the lesson to support your answer.</a:t>
            </a:r>
            <a:endParaRPr lang="en-US" sz="1200" dirty="0"/>
          </a:p>
        </p:txBody>
      </p:sp>
      <p:sp>
        <p:nvSpPr>
          <p:cNvPr id="7" name="Shape 5"/>
          <p:cNvSpPr/>
          <p:nvPr/>
        </p:nvSpPr>
        <p:spPr>
          <a:xfrm>
            <a:off x="457200" y="1901952"/>
            <a:ext cx="8229600" cy="2240280"/>
          </a:xfrm>
          <a:prstGeom prst="roundRect">
            <a:avLst>
              <a:gd name="adj" fmla="val 6122"/>
            </a:avLst>
          </a:prstGeom>
          <a:solidFill>
            <a:srgbClr val="F8FFF8"/>
          </a:solidFill>
          <a:ln w="25400">
            <a:solidFill>
              <a:srgbClr val="34B76F"/>
            </a:solidFill>
            <a:prstDash val="solid"/>
          </a:ln>
        </p:spPr>
      </p:sp>
      <p:sp>
        <p:nvSpPr>
          <p:cNvPr id="8" name="Shape 6"/>
          <p:cNvSpPr/>
          <p:nvPr/>
        </p:nvSpPr>
        <p:spPr>
          <a:xfrm>
            <a:off x="457200" y="1901952"/>
            <a:ext cx="2011680" cy="384048"/>
          </a:xfrm>
          <a:prstGeom prst="roundRect">
            <a:avLst>
              <a:gd name="adj" fmla="val 23810"/>
            </a:avLst>
          </a:prstGeom>
          <a:solidFill>
            <a:srgbClr val="34B76F"/>
          </a:solidFill>
          <a:ln w="12700">
            <a:solidFill>
              <a:srgbClr val="34B76F"/>
            </a:solidFill>
            <a:prstDash val="solid"/>
          </a:ln>
        </p:spPr>
      </p:sp>
      <p:sp>
        <p:nvSpPr>
          <p:cNvPr id="9" name="Text 7"/>
          <p:cNvSpPr/>
          <p:nvPr/>
        </p:nvSpPr>
        <p:spPr>
          <a:xfrm>
            <a:off x="457200" y="1901952"/>
            <a:ext cx="2011680" cy="384048"/>
          </a:xfrm>
          <a:prstGeom prst="rect">
            <a:avLst/>
          </a:prstGeom>
          <a:noFill/>
          <a:ln/>
        </p:spPr>
        <p:txBody>
          <a:bodyPr wrap="square" lIns="0" tIns="0" rIns="0" bIns="0" rtlCol="0" anchor="ctr"/>
          <a:lstStyle/>
          <a:p>
            <a:pPr algn="ctr" indent="0" marL="0">
              <a:buNone/>
            </a:pPr>
            <a:r>
              <a:rPr lang="en-US" sz="900" b="1" spc="150" kern="0" dirty="0">
                <a:solidFill>
                  <a:srgbClr val="FFFFFF"/>
                </a:solidFill>
                <a:latin typeface="Calibri" pitchFamily="34" charset="0"/>
                <a:ea typeface="Calibri" pitchFamily="34" charset="-122"/>
                <a:cs typeface="Calibri" pitchFamily="34" charset="-120"/>
              </a:rPr>
              <a:t>TEACHER THINK-ALOUD</a:t>
            </a:r>
            <a:endParaRPr lang="en-US" sz="900" dirty="0"/>
          </a:p>
        </p:txBody>
      </p:sp>
      <p:sp>
        <p:nvSpPr>
          <p:cNvPr id="10" name="Text 8"/>
          <p:cNvSpPr/>
          <p:nvPr/>
        </p:nvSpPr>
        <p:spPr>
          <a:xfrm>
            <a:off x="621792" y="2359152"/>
            <a:ext cx="7863840" cy="1719072"/>
          </a:xfrm>
          <a:prstGeom prst="rect">
            <a:avLst/>
          </a:prstGeom>
          <a:noFill/>
          <a:ln/>
        </p:spPr>
        <p:txBody>
          <a:bodyPr wrap="square" lIns="0" tIns="0" rIns="0" bIns="0" rtlCol="0" anchor="ctr"/>
          <a:lstStyle/>
          <a:p>
            <a:pPr indent="0" marL="0">
              <a:lnSpc>
                <a:spcPct val="130000"/>
              </a:lnSpc>
              <a:buNone/>
            </a:pPr>
            <a:r>
              <a:rPr lang="en-US" sz="1200" dirty="0">
                <a:solidFill>
                  <a:srgbClr val="0E1C42"/>
                </a:solidFill>
                <a:latin typeface="Calibri" pitchFamily="34" charset="0"/>
                <a:ea typeface="Calibri" pitchFamily="34" charset="-122"/>
                <a:cs typeface="Calibri" pitchFamily="34" charset="-120"/>
              </a:rPr>
              <a:t>Hmm, I need to NAME two fields and DESCRIBE what they study. I'll start with History because we just learned about the word root...</a:t>
            </a:r>
            <a:endParaRPr lang="en-US" sz="1200" dirty="0"/>
          </a:p>
          <a:p>
            <a:pPr indent="0" marL="0">
              <a:lnSpc>
                <a:spcPct val="130000"/>
              </a:lnSpc>
              <a:buNone/>
            </a:pPr>
            <a:endParaRPr lang="en-US" sz="1200" dirty="0"/>
          </a:p>
          <a:p>
            <a:pPr indent="0" marL="0">
              <a:lnSpc>
                <a:spcPct val="130000"/>
              </a:lnSpc>
              <a:buNone/>
            </a:pPr>
            <a:r>
              <a:rPr lang="en-US" sz="1200" dirty="0">
                <a:solidFill>
                  <a:srgbClr val="0E1C42"/>
                </a:solidFill>
                <a:latin typeface="Calibri" pitchFamily="34" charset="0"/>
                <a:ea typeface="Calibri" pitchFamily="34" charset="-122"/>
                <a:cs typeface="Calibri" pitchFamily="34" charset="-120"/>
              </a:rPr>
              <a:t>My answer: "Two fields of social studies are history and geography. History is the study of the past — historians use old letters and photographs to find answers. Geography is the study of places — geographers study maps, mountains, and rivers to understand where things are."</a:t>
            </a:r>
            <a:endParaRPr lang="en-US" sz="1200" dirty="0"/>
          </a:p>
          <a:p>
            <a:pPr indent="0" marL="0">
              <a:lnSpc>
                <a:spcPct val="130000"/>
              </a:lnSpc>
              <a:buNone/>
            </a:pPr>
            <a:endParaRPr lang="en-US" sz="1200" dirty="0"/>
          </a:p>
          <a:p>
            <a:pPr indent="0" marL="0">
              <a:lnSpc>
                <a:spcPct val="130000"/>
              </a:lnSpc>
              <a:buNone/>
            </a:pPr>
            <a:r>
              <a:rPr lang="en-US" sz="1200" dirty="0">
                <a:solidFill>
                  <a:srgbClr val="0E1C42"/>
                </a:solidFill>
                <a:latin typeface="Calibri" pitchFamily="34" charset="0"/>
                <a:ea typeface="Calibri" pitchFamily="34" charset="-122"/>
                <a:cs typeface="Calibri" pitchFamily="34" charset="-120"/>
              </a:rPr>
              <a:t>I used details from the lesson (letters, photographs, maps) to SUPPORT my answer!</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2D5A"/>
          </a:solidFill>
          <a:ln w="12700">
            <a:solidFill>
              <a:srgbClr val="1A2D5A"/>
            </a:solidFill>
            <a:prstDash val="solid"/>
          </a:ln>
        </p:spPr>
      </p:sp>
      <p:sp>
        <p:nvSpPr>
          <p:cNvPr id="3" name="Text 1"/>
          <p:cNvSpPr/>
          <p:nvPr/>
        </p:nvSpPr>
        <p:spPr>
          <a:xfrm>
            <a:off x="365760" y="0"/>
            <a:ext cx="8412480" cy="658368"/>
          </a:xfrm>
          <a:prstGeom prst="rect">
            <a:avLst/>
          </a:prstGeom>
          <a:noFill/>
          <a:ln/>
        </p:spPr>
        <p:txBody>
          <a:bodyPr wrap="square" rtlCol="0" anchor="ctr"/>
          <a:lstStyle/>
          <a:p>
            <a:pPr indent="0" marL="0">
              <a:buNone/>
            </a:pPr>
            <a:r>
              <a:rPr lang="en-US" sz="1400" b="1" spc="100" kern="0" dirty="0">
                <a:solidFill>
                  <a:srgbClr val="D4943A"/>
                </a:solidFill>
                <a:latin typeface="Calibri" pitchFamily="34" charset="0"/>
                <a:ea typeface="Calibri" pitchFamily="34" charset="-122"/>
                <a:cs typeface="Calibri" pitchFamily="34" charset="-120"/>
              </a:rPr>
              <a:t>We Try Together — Two Fields Remaining</a:t>
            </a:r>
            <a:endParaRPr lang="en-US" sz="1400" dirty="0"/>
          </a:p>
        </p:txBody>
      </p:sp>
      <p:sp>
        <p:nvSpPr>
          <p:cNvPr id="4" name="Text 2"/>
          <p:cNvSpPr/>
          <p:nvPr/>
        </p:nvSpPr>
        <p:spPr>
          <a:xfrm>
            <a:off x="457200" y="777240"/>
            <a:ext cx="8229600" cy="411480"/>
          </a:xfrm>
          <a:prstGeom prst="rect">
            <a:avLst/>
          </a:prstGeom>
          <a:noFill/>
          <a:ln/>
        </p:spPr>
        <p:txBody>
          <a:bodyPr wrap="square" rtlCol="0" anchor="ctr"/>
          <a:lstStyle/>
          <a:p>
            <a:pPr indent="0" marL="0">
              <a:buNone/>
            </a:pPr>
            <a:r>
              <a:rPr lang="en-US" sz="1300" dirty="0">
                <a:solidFill>
                  <a:srgbClr val="0E1C42"/>
                </a:solidFill>
                <a:latin typeface="Calibri" pitchFamily="34" charset="0"/>
                <a:ea typeface="Calibri" pitchFamily="34" charset="-122"/>
                <a:cs typeface="Calibri" pitchFamily="34" charset="-120"/>
              </a:rPr>
              <a:t>Now let's describe Economics and Civics — TOGETHER. I'll give the structure; you fill in the details.</a:t>
            </a:r>
            <a:endParaRPr lang="en-US" sz="1300" dirty="0"/>
          </a:p>
        </p:txBody>
      </p:sp>
      <p:sp>
        <p:nvSpPr>
          <p:cNvPr id="5" name="Shape 3"/>
          <p:cNvSpPr/>
          <p:nvPr/>
        </p:nvSpPr>
        <p:spPr>
          <a:xfrm>
            <a:off x="365760" y="1280160"/>
            <a:ext cx="3931920" cy="2468880"/>
          </a:xfrm>
          <a:prstGeom prst="roundRect">
            <a:avLst>
              <a:gd name="adj" fmla="val 5556"/>
            </a:avLst>
          </a:prstGeom>
          <a:solidFill>
            <a:srgbClr val="FFFBF0"/>
          </a:solidFill>
          <a:ln w="19050">
            <a:solidFill>
              <a:srgbClr val="D4943A"/>
            </a:solidFill>
            <a:prstDash val="solid"/>
          </a:ln>
        </p:spPr>
      </p:sp>
      <p:sp>
        <p:nvSpPr>
          <p:cNvPr id="6" name="Shape 4"/>
          <p:cNvSpPr/>
          <p:nvPr/>
        </p:nvSpPr>
        <p:spPr>
          <a:xfrm>
            <a:off x="365760" y="1280160"/>
            <a:ext cx="3931920" cy="384048"/>
          </a:xfrm>
          <a:prstGeom prst="roundRect">
            <a:avLst>
              <a:gd name="adj" fmla="val 23810"/>
            </a:avLst>
          </a:prstGeom>
          <a:solidFill>
            <a:srgbClr val="D4943A"/>
          </a:solidFill>
          <a:ln w="12700">
            <a:solidFill>
              <a:srgbClr val="D4943A"/>
            </a:solidFill>
            <a:prstDash val="solid"/>
          </a:ln>
        </p:spPr>
      </p:sp>
      <p:sp>
        <p:nvSpPr>
          <p:cNvPr id="7" name="Text 5"/>
          <p:cNvSpPr/>
          <p:nvPr/>
        </p:nvSpPr>
        <p:spPr>
          <a:xfrm>
            <a:off x="365760" y="1280160"/>
            <a:ext cx="3931920" cy="384048"/>
          </a:xfrm>
          <a:prstGeom prst="rect">
            <a:avLst/>
          </a:prstGeom>
          <a:noFill/>
          <a:ln/>
        </p:spPr>
        <p:txBody>
          <a:bodyPr wrap="square" lIns="0" tIns="0" rIns="0" bIns="0" rtlCol="0" anchor="ctr"/>
          <a:lstStyle/>
          <a:p>
            <a:pPr algn="ctr" indent="0" marL="0">
              <a:buNone/>
            </a:pPr>
            <a:r>
              <a:rPr lang="en-US" sz="1200" b="1" dirty="0">
                <a:solidFill>
                  <a:srgbClr val="0E1C42"/>
                </a:solidFill>
                <a:latin typeface="Cambria" pitchFamily="34" charset="0"/>
                <a:ea typeface="Cambria" pitchFamily="34" charset="-122"/>
                <a:cs typeface="Cambria" pitchFamily="34" charset="-120"/>
              </a:rPr>
              <a:t>Economics</a:t>
            </a:r>
            <a:endParaRPr lang="en-US" sz="1200" dirty="0"/>
          </a:p>
        </p:txBody>
      </p:sp>
      <p:sp>
        <p:nvSpPr>
          <p:cNvPr id="8" name="Text 6"/>
          <p:cNvSpPr/>
          <p:nvPr/>
        </p:nvSpPr>
        <p:spPr>
          <a:xfrm>
            <a:off x="502920" y="1737360"/>
            <a:ext cx="3657600" cy="1920240"/>
          </a:xfrm>
          <a:prstGeom prst="rect">
            <a:avLst/>
          </a:prstGeom>
          <a:noFill/>
          <a:ln/>
        </p:spPr>
        <p:txBody>
          <a:bodyPr wrap="square" lIns="0" tIns="0" rIns="0" bIns="0" rtlCol="0" anchor="ctr"/>
          <a:lstStyle/>
          <a:p>
            <a:pPr indent="0" marL="0">
              <a:lnSpc>
                <a:spcPct val="160000"/>
              </a:lnSpc>
              <a:buNone/>
            </a:pPr>
            <a:r>
              <a:rPr lang="en-US" sz="1200" dirty="0">
                <a:solidFill>
                  <a:srgbClr val="0E1C42"/>
                </a:solidFill>
                <a:latin typeface="Calibri" pitchFamily="34" charset="0"/>
                <a:ea typeface="Calibri" pitchFamily="34" charset="-122"/>
                <a:cs typeface="Calibri" pitchFamily="34" charset="-120"/>
              </a:rPr>
              <a:t>Economics is the study of _____________.</a:t>
            </a:r>
            <a:endParaRPr lang="en-US" sz="1200" dirty="0"/>
          </a:p>
          <a:p>
            <a:pPr indent="0" marL="0">
              <a:lnSpc>
                <a:spcPct val="160000"/>
              </a:lnSpc>
              <a:buNone/>
            </a:pPr>
            <a:endParaRPr lang="en-US" sz="1200" dirty="0"/>
          </a:p>
          <a:p>
            <a:pPr indent="0" marL="0">
              <a:lnSpc>
                <a:spcPct val="160000"/>
              </a:lnSpc>
              <a:buNone/>
            </a:pPr>
            <a:r>
              <a:rPr lang="en-US" sz="1200" dirty="0">
                <a:solidFill>
                  <a:srgbClr val="0E1C42"/>
                </a:solidFill>
                <a:latin typeface="Calibri" pitchFamily="34" charset="0"/>
                <a:ea typeface="Calibri" pitchFamily="34" charset="-122"/>
                <a:cs typeface="Calibri" pitchFamily="34" charset="-120"/>
              </a:rPr>
              <a:t>Economists ask: _____________, _____________, and _____________.</a:t>
            </a:r>
            <a:endParaRPr lang="en-US" sz="1200" dirty="0"/>
          </a:p>
          <a:p>
            <a:pPr indent="0" marL="0">
              <a:lnSpc>
                <a:spcPct val="160000"/>
              </a:lnSpc>
              <a:buNone/>
            </a:pPr>
            <a:endParaRPr lang="en-US" sz="1200" dirty="0"/>
          </a:p>
          <a:p>
            <a:pPr indent="0" marL="0">
              <a:lnSpc>
                <a:spcPct val="160000"/>
              </a:lnSpc>
              <a:buNone/>
            </a:pPr>
            <a:r>
              <a:rPr lang="en-US" sz="1200" dirty="0">
                <a:solidFill>
                  <a:srgbClr val="0E1C42"/>
                </a:solidFill>
                <a:latin typeface="Calibri" pitchFamily="34" charset="0"/>
                <a:ea typeface="Calibri" pitchFamily="34" charset="-122"/>
                <a:cs typeface="Calibri" pitchFamily="34" charset="-120"/>
              </a:rPr>
              <a:t>A real-world example is... _____________.</a:t>
            </a:r>
            <a:endParaRPr lang="en-US" sz="1200" dirty="0"/>
          </a:p>
        </p:txBody>
      </p:sp>
      <p:sp>
        <p:nvSpPr>
          <p:cNvPr id="9" name="Shape 7"/>
          <p:cNvSpPr/>
          <p:nvPr/>
        </p:nvSpPr>
        <p:spPr>
          <a:xfrm>
            <a:off x="4754880" y="1280160"/>
            <a:ext cx="4023360" cy="2468880"/>
          </a:xfrm>
          <a:prstGeom prst="roundRect">
            <a:avLst>
              <a:gd name="adj" fmla="val 5556"/>
            </a:avLst>
          </a:prstGeom>
          <a:solidFill>
            <a:srgbClr val="EAF8FD"/>
          </a:solidFill>
          <a:ln w="19050">
            <a:solidFill>
              <a:srgbClr val="1A8A7D"/>
            </a:solidFill>
            <a:prstDash val="solid"/>
          </a:ln>
        </p:spPr>
      </p:sp>
      <p:sp>
        <p:nvSpPr>
          <p:cNvPr id="10" name="Shape 8"/>
          <p:cNvSpPr/>
          <p:nvPr/>
        </p:nvSpPr>
        <p:spPr>
          <a:xfrm>
            <a:off x="4754880" y="1280160"/>
            <a:ext cx="4023360" cy="384048"/>
          </a:xfrm>
          <a:prstGeom prst="roundRect">
            <a:avLst>
              <a:gd name="adj" fmla="val 23810"/>
            </a:avLst>
          </a:prstGeom>
          <a:solidFill>
            <a:srgbClr val="1A8A7D"/>
          </a:solidFill>
          <a:ln w="12700">
            <a:solidFill>
              <a:srgbClr val="1A8A7D"/>
            </a:solidFill>
            <a:prstDash val="solid"/>
          </a:ln>
        </p:spPr>
      </p:sp>
      <p:sp>
        <p:nvSpPr>
          <p:cNvPr id="11" name="Text 9"/>
          <p:cNvSpPr/>
          <p:nvPr/>
        </p:nvSpPr>
        <p:spPr>
          <a:xfrm>
            <a:off x="4754880" y="1280160"/>
            <a:ext cx="40233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Civics</a:t>
            </a:r>
            <a:endParaRPr lang="en-US" sz="1200" dirty="0"/>
          </a:p>
        </p:txBody>
      </p:sp>
      <p:sp>
        <p:nvSpPr>
          <p:cNvPr id="12" name="Text 10"/>
          <p:cNvSpPr/>
          <p:nvPr/>
        </p:nvSpPr>
        <p:spPr>
          <a:xfrm>
            <a:off x="4892040" y="1737360"/>
            <a:ext cx="3749040" cy="1920240"/>
          </a:xfrm>
          <a:prstGeom prst="rect">
            <a:avLst/>
          </a:prstGeom>
          <a:noFill/>
          <a:ln/>
        </p:spPr>
        <p:txBody>
          <a:bodyPr wrap="square" lIns="0" tIns="0" rIns="0" bIns="0" rtlCol="0" anchor="ctr"/>
          <a:lstStyle/>
          <a:p>
            <a:pPr indent="0" marL="0">
              <a:lnSpc>
                <a:spcPct val="160000"/>
              </a:lnSpc>
              <a:buNone/>
            </a:pPr>
            <a:r>
              <a:rPr lang="en-US" sz="1200" dirty="0">
                <a:solidFill>
                  <a:srgbClr val="0E1C42"/>
                </a:solidFill>
                <a:latin typeface="Calibri" pitchFamily="34" charset="0"/>
                <a:ea typeface="Calibri" pitchFamily="34" charset="-122"/>
                <a:cs typeface="Calibri" pitchFamily="34" charset="-120"/>
              </a:rPr>
              <a:t>Civics is the study of _____________.</a:t>
            </a:r>
            <a:endParaRPr lang="en-US" sz="1200" dirty="0"/>
          </a:p>
          <a:p>
            <a:pPr indent="0" marL="0">
              <a:lnSpc>
                <a:spcPct val="160000"/>
              </a:lnSpc>
              <a:buNone/>
            </a:pPr>
            <a:endParaRPr lang="en-US" sz="1200" dirty="0"/>
          </a:p>
          <a:p>
            <a:pPr indent="0" marL="0">
              <a:lnSpc>
                <a:spcPct val="160000"/>
              </a:lnSpc>
              <a:buNone/>
            </a:pPr>
            <a:r>
              <a:rPr lang="en-US" sz="1200" dirty="0">
                <a:solidFill>
                  <a:srgbClr val="0E1C42"/>
                </a:solidFill>
                <a:latin typeface="Calibri" pitchFamily="34" charset="0"/>
                <a:ea typeface="Calibri" pitchFamily="34" charset="-122"/>
                <a:cs typeface="Calibri" pitchFamily="34" charset="-120"/>
              </a:rPr>
              <a:t>Civics asks: _____________, _____________, and _____________.</a:t>
            </a:r>
            <a:endParaRPr lang="en-US" sz="1200" dirty="0"/>
          </a:p>
          <a:p>
            <a:pPr indent="0" marL="0">
              <a:lnSpc>
                <a:spcPct val="160000"/>
              </a:lnSpc>
              <a:buNone/>
            </a:pPr>
            <a:endParaRPr lang="en-US" sz="1200" dirty="0"/>
          </a:p>
          <a:p>
            <a:pPr indent="0" marL="0">
              <a:lnSpc>
                <a:spcPct val="160000"/>
              </a:lnSpc>
              <a:buNone/>
            </a:pPr>
            <a:r>
              <a:rPr lang="en-US" sz="1200" dirty="0">
                <a:solidFill>
                  <a:srgbClr val="0E1C42"/>
                </a:solidFill>
                <a:latin typeface="Calibri" pitchFamily="34" charset="0"/>
                <a:ea typeface="Calibri" pitchFamily="34" charset="-122"/>
                <a:cs typeface="Calibri" pitchFamily="34" charset="-120"/>
              </a:rPr>
              <a:t>A way to be a good citizen is... _____________.</a:t>
            </a:r>
            <a:endParaRPr lang="en-US" sz="1200" dirty="0"/>
          </a:p>
        </p:txBody>
      </p:sp>
      <p:sp>
        <p:nvSpPr>
          <p:cNvPr id="13" name="Shape 11"/>
          <p:cNvSpPr/>
          <p:nvPr/>
        </p:nvSpPr>
        <p:spPr>
          <a:xfrm>
            <a:off x="365760" y="3840480"/>
            <a:ext cx="8229600" cy="1005840"/>
          </a:xfrm>
          <a:prstGeom prst="roundRect">
            <a:avLst>
              <a:gd name="adj" fmla="val 10909"/>
            </a:avLst>
          </a:prstGeom>
          <a:solidFill>
            <a:srgbClr val="FFF3DC"/>
          </a:solidFill>
          <a:ln w="19050">
            <a:solidFill>
              <a:srgbClr val="F5E6C8"/>
            </a:solidFill>
            <a:prstDash val="solid"/>
          </a:ln>
        </p:spPr>
      </p:sp>
      <p:sp>
        <p:nvSpPr>
          <p:cNvPr id="14" name="Text 12"/>
          <p:cNvSpPr/>
          <p:nvPr/>
        </p:nvSpPr>
        <p:spPr>
          <a:xfrm>
            <a:off x="502920" y="3895344"/>
            <a:ext cx="79552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5" name="Text 13"/>
          <p:cNvSpPr/>
          <p:nvPr/>
        </p:nvSpPr>
        <p:spPr>
          <a:xfrm>
            <a:off x="502920" y="4096512"/>
            <a:ext cx="7955280" cy="6858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would fill in the Economics blank with..."</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real-world example of civics is..."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3A1A1A"/>
          </a:solidFill>
          <a:ln w="12700">
            <a:solidFill>
              <a:srgbClr val="3A1A1A"/>
            </a:solidFill>
            <a:prstDash val="solid"/>
          </a:ln>
        </p:spPr>
      </p:sp>
      <p:sp>
        <p:nvSpPr>
          <p:cNvPr id="3" name="Text 1"/>
          <p:cNvSpPr/>
          <p:nvPr/>
        </p:nvSpPr>
        <p:spPr>
          <a:xfrm>
            <a:off x="365760" y="0"/>
            <a:ext cx="8412480" cy="658368"/>
          </a:xfrm>
          <a:prstGeom prst="rect">
            <a:avLst/>
          </a:prstGeom>
          <a:noFill/>
          <a:ln/>
        </p:spPr>
        <p:txBody>
          <a:bodyPr wrap="square" rtlCol="0" anchor="ctr"/>
          <a:lstStyle/>
          <a:p>
            <a:pPr indent="0" marL="0">
              <a:buNone/>
            </a:pPr>
            <a:r>
              <a:rPr lang="en-US" sz="1400" b="1" spc="100" kern="0" dirty="0">
                <a:solidFill>
                  <a:srgbClr val="E8636B"/>
                </a:solidFill>
                <a:latin typeface="Calibri" pitchFamily="34" charset="0"/>
                <a:ea typeface="Calibri" pitchFamily="34" charset="-122"/>
                <a:cs typeface="Calibri" pitchFamily="34" charset="-120"/>
              </a:rPr>
              <a:t>Spot the Mistake — Error Analysis</a:t>
            </a:r>
            <a:endParaRPr lang="en-US" sz="1400" dirty="0"/>
          </a:p>
        </p:txBody>
      </p:sp>
      <p:sp>
        <p:nvSpPr>
          <p:cNvPr id="4" name="Shape 2"/>
          <p:cNvSpPr/>
          <p:nvPr/>
        </p:nvSpPr>
        <p:spPr>
          <a:xfrm>
            <a:off x="365760" y="777240"/>
            <a:ext cx="8412480" cy="1463040"/>
          </a:xfrm>
          <a:prstGeom prst="roundRect">
            <a:avLst>
              <a:gd name="adj" fmla="val 9375"/>
            </a:avLst>
          </a:prstGeom>
          <a:solidFill>
            <a:srgbClr val="FFF0F0"/>
          </a:solidFill>
          <a:ln w="25400">
            <a:solidFill>
              <a:srgbClr val="E8636B"/>
            </a:solidFill>
            <a:prstDash val="solid"/>
          </a:ln>
        </p:spPr>
      </p:sp>
      <p:sp>
        <p:nvSpPr>
          <p:cNvPr id="5" name="Shape 3"/>
          <p:cNvSpPr/>
          <p:nvPr/>
        </p:nvSpPr>
        <p:spPr>
          <a:xfrm>
            <a:off x="365760" y="777240"/>
            <a:ext cx="1463040" cy="384048"/>
          </a:xfrm>
          <a:prstGeom prst="roundRect">
            <a:avLst>
              <a:gd name="adj" fmla="val 23810"/>
            </a:avLst>
          </a:prstGeom>
          <a:solidFill>
            <a:srgbClr val="E8636B"/>
          </a:solidFill>
          <a:ln w="12700">
            <a:solidFill>
              <a:srgbClr val="E8636B"/>
            </a:solidFill>
            <a:prstDash val="solid"/>
          </a:ln>
        </p:spPr>
      </p:sp>
      <p:sp>
        <p:nvSpPr>
          <p:cNvPr id="6" name="Text 4"/>
          <p:cNvSpPr/>
          <p:nvPr/>
        </p:nvSpPr>
        <p:spPr>
          <a:xfrm>
            <a:off x="365760" y="777240"/>
            <a:ext cx="1463040" cy="384048"/>
          </a:xfrm>
          <a:prstGeom prst="rect">
            <a:avLst/>
          </a:prstGeom>
          <a:noFill/>
          <a:ln/>
        </p:spPr>
        <p:txBody>
          <a:bodyPr wrap="square" lIns="0" tIns="0" rIns="0" bIns="0" rtlCol="0" anchor="ctr"/>
          <a:lstStyle/>
          <a:p>
            <a:pPr algn="ctr" indent="0" marL="0">
              <a:buNone/>
            </a:pPr>
            <a:r>
              <a:rPr lang="en-US" sz="900" b="1" spc="150" kern="0" dirty="0">
                <a:solidFill>
                  <a:srgbClr val="FFFFFF"/>
                </a:solidFill>
                <a:latin typeface="Calibri" pitchFamily="34" charset="0"/>
                <a:ea typeface="Calibri" pitchFamily="34" charset="-122"/>
                <a:cs typeface="Calibri" pitchFamily="34" charset="-120"/>
              </a:rPr>
              <a:t>STUDENT ANSWER</a:t>
            </a:r>
            <a:endParaRPr lang="en-US" sz="900" dirty="0"/>
          </a:p>
        </p:txBody>
      </p:sp>
      <p:sp>
        <p:nvSpPr>
          <p:cNvPr id="7" name="Text 5"/>
          <p:cNvSpPr/>
          <p:nvPr/>
        </p:nvSpPr>
        <p:spPr>
          <a:xfrm>
            <a:off x="548640" y="1234440"/>
            <a:ext cx="8046720" cy="914400"/>
          </a:xfrm>
          <a:prstGeom prst="rect">
            <a:avLst/>
          </a:prstGeom>
          <a:noFill/>
          <a:ln/>
        </p:spPr>
        <p:txBody>
          <a:bodyPr wrap="square" lIns="0" tIns="0" rIns="0" bIns="0" rtlCol="0" anchor="ctr"/>
          <a:lstStyle/>
          <a:p>
            <a:pPr indent="0" marL="0">
              <a:buNone/>
            </a:pPr>
            <a:r>
              <a:rPr lang="en-US" sz="1400" i="1" dirty="0">
                <a:solidFill>
                  <a:srgbClr val="8B2020"/>
                </a:solidFill>
                <a:latin typeface="Cambria" pitchFamily="34" charset="0"/>
                <a:ea typeface="Cambria" pitchFamily="34" charset="-122"/>
                <a:cs typeface="Cambria" pitchFamily="34" charset="-120"/>
              </a:rPr>
              <a:t>"Civics is about the past. Good citizens study what happened in history so they can follow old rules. Historians and citizens study the same thing."</a:t>
            </a:r>
            <a:endParaRPr lang="en-US" sz="1400" dirty="0"/>
          </a:p>
        </p:txBody>
      </p:sp>
      <p:sp>
        <p:nvSpPr>
          <p:cNvPr id="8" name="Shape 6"/>
          <p:cNvSpPr/>
          <p:nvPr/>
        </p:nvSpPr>
        <p:spPr>
          <a:xfrm>
            <a:off x="365760" y="2359152"/>
            <a:ext cx="4023360" cy="1828800"/>
          </a:xfrm>
          <a:prstGeom prst="roundRect">
            <a:avLst>
              <a:gd name="adj" fmla="val 7500"/>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548640" y="2450592"/>
            <a:ext cx="36576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548640" y="2706624"/>
            <a:ext cx="3657600" cy="138988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part of this answer is WRONG?</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might a student confuse civics with history?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are civics and history related but DIFFERENT?</a:t>
            </a:r>
            <a:endParaRPr lang="en-US" sz="1100" dirty="0"/>
          </a:p>
        </p:txBody>
      </p:sp>
      <p:sp>
        <p:nvSpPr>
          <p:cNvPr id="11" name="Shape 9"/>
          <p:cNvSpPr/>
          <p:nvPr/>
        </p:nvSpPr>
        <p:spPr>
          <a:xfrm>
            <a:off x="4572000" y="2359152"/>
            <a:ext cx="4206240" cy="1828800"/>
          </a:xfrm>
          <a:prstGeom prst="roundRect">
            <a:avLst>
              <a:gd name="adj" fmla="val 6000"/>
            </a:avLst>
          </a:prstGeom>
          <a:solidFill>
            <a:srgbClr val="FFF3DC"/>
          </a:solidFill>
          <a:ln w="19050">
            <a:solidFill>
              <a:srgbClr val="F5E6C8"/>
            </a:solidFill>
            <a:prstDash val="solid"/>
          </a:ln>
        </p:spPr>
      </p:sp>
      <p:sp>
        <p:nvSpPr>
          <p:cNvPr id="12" name="Text 10"/>
          <p:cNvSpPr/>
          <p:nvPr/>
        </p:nvSpPr>
        <p:spPr>
          <a:xfrm>
            <a:off x="4709160" y="2414016"/>
            <a:ext cx="39319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4709160" y="2615184"/>
            <a:ext cx="3931920" cy="15087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student was partly right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"But they got confused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correct answer is: Civics studies... not..."</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E1C42"/>
          </a:solidFill>
          <a:ln w="12700">
            <a:solidFill>
              <a:srgbClr val="0E1C42"/>
            </a:solidFill>
            <a:prstDash val="solid"/>
          </a:ln>
        </p:spPr>
      </p:sp>
      <p:sp>
        <p:nvSpPr>
          <p:cNvPr id="3" name="Text 1"/>
          <p:cNvSpPr/>
          <p:nvPr/>
        </p:nvSpPr>
        <p:spPr>
          <a:xfrm>
            <a:off x="365760" y="0"/>
            <a:ext cx="8412480" cy="658368"/>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Assignment Overview — Time to Show What You Know</a:t>
            </a:r>
            <a:endParaRPr lang="en-US" sz="1400" dirty="0"/>
          </a:p>
        </p:txBody>
      </p:sp>
      <p:sp>
        <p:nvSpPr>
          <p:cNvPr id="4" name="Shape 2"/>
          <p:cNvSpPr/>
          <p:nvPr/>
        </p:nvSpPr>
        <p:spPr>
          <a:xfrm>
            <a:off x="365760" y="804672"/>
            <a:ext cx="4937760" cy="2834640"/>
          </a:xfrm>
          <a:prstGeom prst="roundRect">
            <a:avLst>
              <a:gd name="adj" fmla="val 4839"/>
            </a:avLst>
          </a:prstGeom>
          <a:solidFill>
            <a:srgbClr val="EAF8FD"/>
          </a:solidFill>
          <a:ln w="19050">
            <a:solidFill>
              <a:srgbClr val="55C8E8"/>
            </a:solidFill>
            <a:prstDash val="solid"/>
          </a:ln>
        </p:spPr>
      </p:sp>
      <p:sp>
        <p:nvSpPr>
          <p:cNvPr id="5" name="Shape 3"/>
          <p:cNvSpPr/>
          <p:nvPr/>
        </p:nvSpPr>
        <p:spPr>
          <a:xfrm>
            <a:off x="365760" y="804672"/>
            <a:ext cx="4937760" cy="384048"/>
          </a:xfrm>
          <a:prstGeom prst="roundRect">
            <a:avLst>
              <a:gd name="adj" fmla="val 23810"/>
            </a:avLst>
          </a:prstGeom>
          <a:solidFill>
            <a:srgbClr val="55C8E8"/>
          </a:solidFill>
          <a:ln w="12700">
            <a:solidFill>
              <a:srgbClr val="55C8E8"/>
            </a:solidFill>
            <a:prstDash val="solid"/>
          </a:ln>
        </p:spPr>
      </p:sp>
      <p:sp>
        <p:nvSpPr>
          <p:cNvPr id="6" name="Text 4"/>
          <p:cNvSpPr/>
          <p:nvPr/>
        </p:nvSpPr>
        <p:spPr>
          <a:xfrm>
            <a:off x="365760" y="804672"/>
            <a:ext cx="4937760" cy="384048"/>
          </a:xfrm>
          <a:prstGeom prst="rect">
            <a:avLst/>
          </a:prstGeom>
          <a:noFill/>
          <a:ln/>
        </p:spPr>
        <p:txBody>
          <a:bodyPr wrap="square" lIns="0" tIns="0" rIns="0" bIns="0" rtlCol="0" anchor="ctr"/>
          <a:lstStyle/>
          <a:p>
            <a:pPr algn="ctr" indent="0" marL="0">
              <a:buNone/>
            </a:pPr>
            <a:r>
              <a:rPr lang="en-US" sz="1000" b="1" spc="150" kern="0" dirty="0">
                <a:solidFill>
                  <a:srgbClr val="0E1C42"/>
                </a:solidFill>
                <a:latin typeface="Calibri" pitchFamily="34" charset="0"/>
                <a:ea typeface="Calibri" pitchFamily="34" charset="-122"/>
                <a:cs typeface="Calibri" pitchFamily="34" charset="-120"/>
              </a:rPr>
              <a:t>EVIDENCE QUESTIONS</a:t>
            </a:r>
            <a:endParaRPr lang="en-US" sz="1000" dirty="0"/>
          </a:p>
        </p:txBody>
      </p:sp>
      <p:sp>
        <p:nvSpPr>
          <p:cNvPr id="7" name="Text 5"/>
          <p:cNvSpPr/>
          <p:nvPr/>
        </p:nvSpPr>
        <p:spPr>
          <a:xfrm>
            <a:off x="548640" y="1261872"/>
            <a:ext cx="4572000" cy="2286000"/>
          </a:xfrm>
          <a:prstGeom prst="rect">
            <a:avLst/>
          </a:prstGeom>
          <a:noFill/>
          <a:ln/>
        </p:spPr>
        <p:txBody>
          <a:bodyPr wrap="square" lIns="0" tIns="0" rIns="0" bIns="0" rtlCol="0" anchor="ctr"/>
          <a:lstStyle/>
          <a:p>
            <a:pPr indent="0" marL="0">
              <a:lnSpc>
                <a:spcPct val="150000"/>
              </a:lnSpc>
              <a:buNone/>
            </a:pPr>
            <a:r>
              <a:rPr lang="en-US" sz="1200" dirty="0">
                <a:solidFill>
                  <a:srgbClr val="0E1C42"/>
                </a:solidFill>
                <a:latin typeface="Calibri" pitchFamily="34" charset="0"/>
                <a:ea typeface="Calibri" pitchFamily="34" charset="-122"/>
                <a:cs typeface="Calibri" pitchFamily="34" charset="-120"/>
              </a:rPr>
              <a:t>Q1:  Name two of the four fields of social studies and describe what each one studies.</a:t>
            </a:r>
            <a:endParaRPr lang="en-US" sz="1200" dirty="0"/>
          </a:p>
          <a:p>
            <a:pPr indent="0" marL="0">
              <a:lnSpc>
                <a:spcPct val="150000"/>
              </a:lnSpc>
              <a:buNone/>
            </a:pPr>
            <a:r>
              <a:rPr lang="en-US" sz="1200" dirty="0">
                <a:solidFill>
                  <a:srgbClr val="0E1C42"/>
                </a:solidFill>
                <a:latin typeface="Calibri" pitchFamily="34" charset="0"/>
                <a:ea typeface="Calibri" pitchFamily="34" charset="-122"/>
                <a:cs typeface="Calibri" pitchFamily="34" charset="-120"/>
              </a:rPr>
              <a:t>       Use at least one detail from the lesson to support your answer.</a:t>
            </a:r>
            <a:endParaRPr lang="en-US" sz="1200" dirty="0"/>
          </a:p>
          <a:p>
            <a:pPr indent="0" marL="0">
              <a:lnSpc>
                <a:spcPct val="150000"/>
              </a:lnSpc>
              <a:buNone/>
            </a:pPr>
            <a:endParaRPr lang="en-US" sz="1200" dirty="0"/>
          </a:p>
          <a:p>
            <a:pPr indent="0" marL="0">
              <a:lnSpc>
                <a:spcPct val="150000"/>
              </a:lnSpc>
              <a:buNone/>
            </a:pPr>
            <a:r>
              <a:rPr lang="en-US" sz="1200" dirty="0">
                <a:solidFill>
                  <a:srgbClr val="0E1C42"/>
                </a:solidFill>
                <a:latin typeface="Calibri" pitchFamily="34" charset="0"/>
                <a:ea typeface="Calibri" pitchFamily="34" charset="-122"/>
                <a:cs typeface="Calibri" pitchFamily="34" charset="-120"/>
              </a:rPr>
              <a:t>Q2:  Why do you think it's important for people to learn about the past?</a:t>
            </a:r>
            <a:endParaRPr lang="en-US" sz="1200" dirty="0"/>
          </a:p>
          <a:p>
            <a:pPr indent="0" marL="0">
              <a:lnSpc>
                <a:spcPct val="150000"/>
              </a:lnSpc>
              <a:buNone/>
            </a:pPr>
            <a:r>
              <a:rPr lang="en-US" sz="1200" dirty="0">
                <a:solidFill>
                  <a:srgbClr val="0E1C42"/>
                </a:solidFill>
                <a:latin typeface="Calibri" pitchFamily="34" charset="0"/>
                <a:ea typeface="Calibri" pitchFamily="34" charset="-122"/>
                <a:cs typeface="Calibri" pitchFamily="34" charset="-120"/>
              </a:rPr>
              <a:t>       Explain your thinking using evidence.</a:t>
            </a:r>
            <a:endParaRPr lang="en-US" sz="1200" dirty="0"/>
          </a:p>
        </p:txBody>
      </p:sp>
      <p:sp>
        <p:nvSpPr>
          <p:cNvPr id="8" name="Shape 6"/>
          <p:cNvSpPr/>
          <p:nvPr/>
        </p:nvSpPr>
        <p:spPr>
          <a:xfrm>
            <a:off x="5577840" y="804672"/>
            <a:ext cx="3200400" cy="2834640"/>
          </a:xfrm>
          <a:prstGeom prst="roundRect">
            <a:avLst>
              <a:gd name="adj" fmla="val 4839"/>
            </a:avLst>
          </a:prstGeom>
          <a:solidFill>
            <a:srgbClr val="FFF3DC"/>
          </a:solidFill>
          <a:ln w="19050">
            <a:solidFill>
              <a:srgbClr val="D4943A"/>
            </a:solidFill>
            <a:prstDash val="solid"/>
          </a:ln>
        </p:spPr>
      </p:sp>
      <p:sp>
        <p:nvSpPr>
          <p:cNvPr id="9" name="Shape 7"/>
          <p:cNvSpPr/>
          <p:nvPr/>
        </p:nvSpPr>
        <p:spPr>
          <a:xfrm>
            <a:off x="5577840" y="804672"/>
            <a:ext cx="3200400" cy="384048"/>
          </a:xfrm>
          <a:prstGeom prst="roundRect">
            <a:avLst>
              <a:gd name="adj" fmla="val 23810"/>
            </a:avLst>
          </a:prstGeom>
          <a:solidFill>
            <a:srgbClr val="D4943A"/>
          </a:solidFill>
          <a:ln w="12700">
            <a:solidFill>
              <a:srgbClr val="D4943A"/>
            </a:solidFill>
            <a:prstDash val="solid"/>
          </a:ln>
        </p:spPr>
      </p:sp>
      <p:sp>
        <p:nvSpPr>
          <p:cNvPr id="10" name="Text 8"/>
          <p:cNvSpPr/>
          <p:nvPr/>
        </p:nvSpPr>
        <p:spPr>
          <a:xfrm>
            <a:off x="5577840" y="804672"/>
            <a:ext cx="3200400" cy="384048"/>
          </a:xfrm>
          <a:prstGeom prst="rect">
            <a:avLst/>
          </a:prstGeom>
          <a:noFill/>
          <a:ln/>
        </p:spPr>
        <p:txBody>
          <a:bodyPr wrap="square" lIns="0" tIns="0" rIns="0" bIns="0" rtlCol="0" anchor="ctr"/>
          <a:lstStyle/>
          <a:p>
            <a:pPr algn="ctr" indent="0" marL="0">
              <a:buNone/>
            </a:pPr>
            <a:r>
              <a:rPr lang="en-US" sz="1000" b="1" spc="150" kern="0" dirty="0">
                <a:solidFill>
                  <a:srgbClr val="0E1C42"/>
                </a:solidFill>
                <a:latin typeface="Calibri" pitchFamily="34" charset="0"/>
                <a:ea typeface="Calibri" pitchFamily="34" charset="-122"/>
                <a:cs typeface="Calibri" pitchFamily="34" charset="-120"/>
              </a:rPr>
              <a:t>CURATOR'S NOTEBOOK</a:t>
            </a:r>
            <a:endParaRPr lang="en-US" sz="1000" dirty="0"/>
          </a:p>
        </p:txBody>
      </p:sp>
      <p:sp>
        <p:nvSpPr>
          <p:cNvPr id="11" name="Text 9"/>
          <p:cNvSpPr/>
          <p:nvPr/>
        </p:nvSpPr>
        <p:spPr>
          <a:xfrm>
            <a:off x="5715000" y="1261872"/>
            <a:ext cx="2926080" cy="2286000"/>
          </a:xfrm>
          <a:prstGeom prst="rect">
            <a:avLst/>
          </a:prstGeom>
          <a:noFill/>
          <a:ln/>
        </p:spPr>
        <p:txBody>
          <a:bodyPr wrap="square" lIns="0" tIns="0" rIns="0" bIns="0" rtlCol="0" anchor="ctr"/>
          <a:lstStyle/>
          <a:p>
            <a:pPr indent="0" marL="0">
              <a:lnSpc>
                <a:spcPct val="145000"/>
              </a:lnSpc>
              <a:buNone/>
            </a:pPr>
            <a:r>
              <a:rPr lang="en-US" sz="1100" dirty="0">
                <a:solidFill>
                  <a:srgbClr val="0E1C42"/>
                </a:solidFill>
                <a:latin typeface="Calibri" pitchFamily="34" charset="0"/>
                <a:ea typeface="Calibri" pitchFamily="34" charset="-122"/>
                <a:cs typeface="Calibri" pitchFamily="34" charset="-120"/>
              </a:rPr>
              <a:t>Write 2-3 sentences:</a:t>
            </a:r>
            <a:endParaRPr lang="en-US" sz="1100" dirty="0"/>
          </a:p>
          <a:p>
            <a:pPr indent="0" marL="0">
              <a:lnSpc>
                <a:spcPct val="145000"/>
              </a:lnSpc>
              <a:buNone/>
            </a:pPr>
            <a:endParaRPr lang="en-US" sz="1100" dirty="0"/>
          </a:p>
          <a:p>
            <a:pPr indent="0" marL="0">
              <a:lnSpc>
                <a:spcPct val="145000"/>
              </a:lnSpc>
              <a:buNone/>
            </a:pPr>
            <a:r>
              <a:rPr lang="en-US" sz="1100" dirty="0">
                <a:solidFill>
                  <a:srgbClr val="0E1C42"/>
                </a:solidFill>
                <a:latin typeface="Calibri" pitchFamily="34" charset="0"/>
                <a:ea typeface="Calibri" pitchFamily="34" charset="-122"/>
                <a:cs typeface="Calibri" pitchFamily="34" charset="-120"/>
              </a:rPr>
              <a:t>What is social studies?</a:t>
            </a:r>
            <a:endParaRPr lang="en-US" sz="1100" dirty="0"/>
          </a:p>
          <a:p>
            <a:pPr indent="0" marL="0">
              <a:lnSpc>
                <a:spcPct val="145000"/>
              </a:lnSpc>
              <a:buNone/>
            </a:pPr>
            <a:r>
              <a:rPr lang="en-US" sz="1100" dirty="0">
                <a:solidFill>
                  <a:srgbClr val="0E1C42"/>
                </a:solidFill>
                <a:latin typeface="Calibri" pitchFamily="34" charset="0"/>
                <a:ea typeface="Calibri" pitchFamily="34" charset="-122"/>
                <a:cs typeface="Calibri" pitchFamily="34" charset="-120"/>
              </a:rPr>
              <a:t>What evidence supports this?</a:t>
            </a:r>
            <a:endParaRPr lang="en-US" sz="1100" dirty="0"/>
          </a:p>
          <a:p>
            <a:pPr indent="0" marL="0">
              <a:lnSpc>
                <a:spcPct val="145000"/>
              </a:lnSpc>
              <a:buNone/>
            </a:pPr>
            <a:r>
              <a:rPr lang="en-US" sz="1100" dirty="0">
                <a:solidFill>
                  <a:srgbClr val="0E1C42"/>
                </a:solidFill>
                <a:latin typeface="Calibri" pitchFamily="34" charset="0"/>
                <a:ea typeface="Calibri" pitchFamily="34" charset="-122"/>
                <a:cs typeface="Calibri" pitchFamily="34" charset="-120"/>
              </a:rPr>
              <a:t>Why does the museum need all four fields?</a:t>
            </a:r>
            <a:endParaRPr lang="en-US" sz="1100" dirty="0"/>
          </a:p>
          <a:p>
            <a:pPr indent="0" marL="0">
              <a:lnSpc>
                <a:spcPct val="145000"/>
              </a:lnSpc>
              <a:buNone/>
            </a:pPr>
            <a:endParaRPr lang="en-US" sz="1100" dirty="0"/>
          </a:p>
          <a:p>
            <a:pPr indent="0" marL="0">
              <a:lnSpc>
                <a:spcPct val="145000"/>
              </a:lnSpc>
              <a:buNone/>
            </a:pPr>
            <a:endParaRPr lang="en-US" sz="1100" dirty="0"/>
          </a:p>
          <a:p>
            <a:pPr indent="0" marL="0">
              <a:lnSpc>
                <a:spcPct val="145000"/>
              </a:lnSpc>
              <a:buNone/>
            </a:pPr>
            <a:r>
              <a:rPr lang="en-US" sz="1100" dirty="0">
                <a:solidFill>
                  <a:srgbClr val="0E1C42"/>
                </a:solidFill>
                <a:latin typeface="Calibri" pitchFamily="34" charset="0"/>
                <a:ea typeface="Calibri" pitchFamily="34" charset="-122"/>
                <a:cs typeface="Calibri" pitchFamily="34" charset="-120"/>
              </a:rPr>
              <a:t>Think: What → Evidence → Why it matters</a:t>
            </a:r>
            <a:endParaRPr lang="en-US" sz="1100" dirty="0"/>
          </a:p>
        </p:txBody>
      </p:sp>
      <p:sp>
        <p:nvSpPr>
          <p:cNvPr id="12" name="Shape 10"/>
          <p:cNvSpPr/>
          <p:nvPr/>
        </p:nvSpPr>
        <p:spPr>
          <a:xfrm>
            <a:off x="365760" y="3749040"/>
            <a:ext cx="8412480" cy="685800"/>
          </a:xfrm>
          <a:prstGeom prst="roundRect">
            <a:avLst>
              <a:gd name="adj" fmla="val 13333"/>
            </a:avLst>
          </a:prstGeom>
          <a:solidFill>
            <a:srgbClr val="1A2D5A"/>
          </a:solidFill>
          <a:ln w="12700">
            <a:solidFill>
              <a:srgbClr val="1A2D5A"/>
            </a:solidFill>
            <a:prstDash val="solid"/>
          </a:ln>
        </p:spPr>
      </p:sp>
      <p:sp>
        <p:nvSpPr>
          <p:cNvPr id="13" name="Text 11"/>
          <p:cNvSpPr/>
          <p:nvPr/>
        </p:nvSpPr>
        <p:spPr>
          <a:xfrm>
            <a:off x="548640" y="3749040"/>
            <a:ext cx="8046720" cy="685800"/>
          </a:xfrm>
          <a:prstGeom prst="rect">
            <a:avLst/>
          </a:prstGeom>
          <a:noFill/>
          <a:ln/>
        </p:spPr>
        <p:txBody>
          <a:bodyPr wrap="square" lIns="0" tIns="0" rIns="0" bIns="0" rtlCol="0" anchor="ctr"/>
          <a:lstStyle/>
          <a:p>
            <a:pPr algn="ctr" indent="0" marL="0">
              <a:buNone/>
            </a:pPr>
            <a:r>
              <a:rPr lang="en-US" sz="1300" i="1" dirty="0">
                <a:solidFill>
                  <a:srgbClr val="D4943A"/>
                </a:solidFill>
                <a:latin typeface="Cambria" pitchFamily="34" charset="0"/>
                <a:ea typeface="Cambria" pitchFamily="34" charset="-122"/>
                <a:cs typeface="Cambria" pitchFamily="34" charset="-120"/>
              </a:rPr>
              <a:t>Curator's Chronicle:  "In this exhibit, I learned that _______ because _______."</a:t>
            </a:r>
            <a:endParaRPr lang="en-US" sz="1300" dirty="0"/>
          </a:p>
        </p:txBody>
      </p:sp>
      <p:sp>
        <p:nvSpPr>
          <p:cNvPr id="14" name="Shape 12"/>
          <p:cNvSpPr/>
          <p:nvPr/>
        </p:nvSpPr>
        <p:spPr>
          <a:xfrm>
            <a:off x="365760" y="4526280"/>
            <a:ext cx="8412480" cy="365760"/>
          </a:xfrm>
          <a:prstGeom prst="roundRect">
            <a:avLst>
              <a:gd name="adj" fmla="val 20000"/>
            </a:avLst>
          </a:prstGeom>
          <a:solidFill>
            <a:srgbClr val="E3F8ED"/>
          </a:solidFill>
          <a:ln w="12700">
            <a:solidFill>
              <a:srgbClr val="34B76F"/>
            </a:solidFill>
            <a:prstDash val="solid"/>
          </a:ln>
        </p:spPr>
      </p:sp>
      <p:sp>
        <p:nvSpPr>
          <p:cNvPr id="15" name="Text 13"/>
          <p:cNvSpPr/>
          <p:nvPr/>
        </p:nvSpPr>
        <p:spPr>
          <a:xfrm>
            <a:off x="548640" y="4526280"/>
            <a:ext cx="8046720" cy="365760"/>
          </a:xfrm>
          <a:prstGeom prst="rect">
            <a:avLst/>
          </a:prstGeom>
          <a:noFill/>
          <a:ln/>
        </p:spPr>
        <p:txBody>
          <a:bodyPr wrap="square" lIns="0" tIns="0" rIns="0" bIns="0" rtlCol="0" anchor="ctr"/>
          <a:lstStyle/>
          <a:p>
            <a:pPr algn="ctr" indent="0" marL="0">
              <a:buNone/>
            </a:pPr>
            <a:r>
              <a:rPr lang="en-US" sz="1000" dirty="0">
                <a:solidFill>
                  <a:srgbClr val="2A6A3A"/>
                </a:solidFill>
                <a:latin typeface="Calibri" pitchFamily="34" charset="0"/>
                <a:ea typeface="Calibri" pitchFamily="34" charset="-122"/>
                <a:cs typeface="Calibri" pitchFamily="34" charset="-120"/>
              </a:rPr>
              <a:t>Checklist:  Answer both Q1 and Q2  |  Complete Curator's Notebook  |  Write Chronicle  |  Copy/download &amp; submit to Canvas</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1371600" y="228600"/>
            <a:ext cx="6400800" cy="548640"/>
          </a:xfrm>
          <a:prstGeom prst="roundRect">
            <a:avLst>
              <a:gd name="adj" fmla="val 20000"/>
            </a:avLst>
          </a:prstGeom>
          <a:solidFill>
            <a:srgbClr val="8B6FC0"/>
          </a:solidFill>
          <a:ln w="12700">
            <a:solidFill>
              <a:srgbClr val="8B6FC0"/>
            </a:solidFill>
            <a:prstDash val="solid"/>
          </a:ln>
        </p:spPr>
      </p:sp>
      <p:sp>
        <p:nvSpPr>
          <p:cNvPr id="5" name="Text 3"/>
          <p:cNvSpPr/>
          <p:nvPr/>
        </p:nvSpPr>
        <p:spPr>
          <a:xfrm>
            <a:off x="1371600" y="228600"/>
            <a:ext cx="6400800" cy="548640"/>
          </a:xfrm>
          <a:prstGeom prst="rect">
            <a:avLst/>
          </a:prstGeom>
          <a:noFill/>
          <a:ln/>
        </p:spPr>
        <p:txBody>
          <a:bodyPr wrap="square" lIns="0" tIns="0" rIns="0" bIns="0" rtlCol="0" anchor="ctr"/>
          <a:lstStyle/>
          <a:p>
            <a:pPr algn="ctr" indent="0" marL="0">
              <a:buNone/>
            </a:pPr>
            <a:r>
              <a:rPr lang="en-US" sz="1600" b="1" spc="200" kern="0" dirty="0">
                <a:solidFill>
                  <a:srgbClr val="FFFFFF"/>
                </a:solidFill>
                <a:latin typeface="Calibri" pitchFamily="34" charset="0"/>
                <a:ea typeface="Calibri" pitchFamily="34" charset="-122"/>
                <a:cs typeface="Calibri" pitchFamily="34" charset="-120"/>
              </a:rPr>
              <a:t>RETRIEVAL CHALLENGE</a:t>
            </a:r>
            <a:endParaRPr lang="en-US" sz="1600" dirty="0"/>
          </a:p>
        </p:txBody>
      </p:sp>
      <p:sp>
        <p:nvSpPr>
          <p:cNvPr id="6" name="Text 4"/>
          <p:cNvSpPr/>
          <p:nvPr/>
        </p:nvSpPr>
        <p:spPr>
          <a:xfrm>
            <a:off x="457200" y="914400"/>
            <a:ext cx="8229600" cy="411480"/>
          </a:xfrm>
          <a:prstGeom prst="rect">
            <a:avLst/>
          </a:prstGeom>
          <a:noFill/>
          <a:ln/>
        </p:spPr>
        <p:txBody>
          <a:bodyPr wrap="square" rtlCol="0" anchor="ctr"/>
          <a:lstStyle/>
          <a:p>
            <a:pPr algn="ctr" indent="0" marL="0">
              <a:buNone/>
            </a:pPr>
            <a:r>
              <a:rPr lang="en-US" sz="1600" dirty="0">
                <a:solidFill>
                  <a:srgbClr val="55C8E8"/>
                </a:solidFill>
                <a:latin typeface="Calibri" pitchFamily="34" charset="0"/>
                <a:ea typeface="Calibri" pitchFamily="34" charset="-122"/>
                <a:cs typeface="Calibri" pitchFamily="34" charset="-120"/>
              </a:rPr>
              <a:t>Cover your screen or close your eyes for 30 seconds.</a:t>
            </a:r>
            <a:endParaRPr lang="en-US" sz="1600" dirty="0"/>
          </a:p>
        </p:txBody>
      </p:sp>
      <p:sp>
        <p:nvSpPr>
          <p:cNvPr id="7" name="Shape 5"/>
          <p:cNvSpPr/>
          <p:nvPr/>
        </p:nvSpPr>
        <p:spPr>
          <a:xfrm>
            <a:off x="457200" y="1463040"/>
            <a:ext cx="8229600" cy="566928"/>
          </a:xfrm>
          <a:prstGeom prst="roundRect">
            <a:avLst>
              <a:gd name="adj" fmla="val 16129"/>
            </a:avLst>
          </a:prstGeom>
          <a:solidFill>
            <a:srgbClr val="1A2D5A"/>
          </a:solidFill>
          <a:ln w="12700">
            <a:solidFill>
              <a:srgbClr val="3A5080"/>
            </a:solidFill>
            <a:prstDash val="solid"/>
          </a:ln>
        </p:spPr>
      </p:sp>
      <p:sp>
        <p:nvSpPr>
          <p:cNvPr id="8" name="Shape 6"/>
          <p:cNvSpPr/>
          <p:nvPr/>
        </p:nvSpPr>
        <p:spPr>
          <a:xfrm>
            <a:off x="457200" y="1536192"/>
            <a:ext cx="457200" cy="411480"/>
          </a:xfrm>
          <a:prstGeom prst="roundRect">
            <a:avLst>
              <a:gd name="adj" fmla="val 17778"/>
            </a:avLst>
          </a:prstGeom>
          <a:solidFill>
            <a:srgbClr val="8B6FC0"/>
          </a:solidFill>
          <a:ln w="12700">
            <a:solidFill>
              <a:srgbClr val="8B6FC0"/>
            </a:solidFill>
            <a:prstDash val="solid"/>
          </a:ln>
        </p:spPr>
      </p:sp>
      <p:sp>
        <p:nvSpPr>
          <p:cNvPr id="9" name="Text 7"/>
          <p:cNvSpPr/>
          <p:nvPr/>
        </p:nvSpPr>
        <p:spPr>
          <a:xfrm>
            <a:off x="457200" y="1536192"/>
            <a:ext cx="45720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8"/>
          <p:cNvSpPr/>
          <p:nvPr/>
        </p:nvSpPr>
        <p:spPr>
          <a:xfrm>
            <a:off x="1051560" y="1463040"/>
            <a:ext cx="7498080" cy="56692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Name all FOUR fields of social studies from memory.</a:t>
            </a:r>
            <a:endParaRPr lang="en-US" sz="1300" dirty="0"/>
          </a:p>
        </p:txBody>
      </p:sp>
      <p:sp>
        <p:nvSpPr>
          <p:cNvPr id="11" name="Shape 9"/>
          <p:cNvSpPr/>
          <p:nvPr/>
        </p:nvSpPr>
        <p:spPr>
          <a:xfrm>
            <a:off x="457200" y="2176272"/>
            <a:ext cx="8229600" cy="566928"/>
          </a:xfrm>
          <a:prstGeom prst="roundRect">
            <a:avLst>
              <a:gd name="adj" fmla="val 16129"/>
            </a:avLst>
          </a:prstGeom>
          <a:solidFill>
            <a:srgbClr val="1A2D5A"/>
          </a:solidFill>
          <a:ln w="12700">
            <a:solidFill>
              <a:srgbClr val="3A5080"/>
            </a:solidFill>
            <a:prstDash val="solid"/>
          </a:ln>
        </p:spPr>
      </p:sp>
      <p:sp>
        <p:nvSpPr>
          <p:cNvPr id="12" name="Shape 10"/>
          <p:cNvSpPr/>
          <p:nvPr/>
        </p:nvSpPr>
        <p:spPr>
          <a:xfrm>
            <a:off x="457200" y="2249424"/>
            <a:ext cx="457200" cy="411480"/>
          </a:xfrm>
          <a:prstGeom prst="roundRect">
            <a:avLst>
              <a:gd name="adj" fmla="val 17778"/>
            </a:avLst>
          </a:prstGeom>
          <a:solidFill>
            <a:srgbClr val="8B6FC0"/>
          </a:solidFill>
          <a:ln w="12700">
            <a:solidFill>
              <a:srgbClr val="8B6FC0"/>
            </a:solidFill>
            <a:prstDash val="solid"/>
          </a:ln>
        </p:spPr>
      </p:sp>
      <p:sp>
        <p:nvSpPr>
          <p:cNvPr id="13" name="Text 11"/>
          <p:cNvSpPr/>
          <p:nvPr/>
        </p:nvSpPr>
        <p:spPr>
          <a:xfrm>
            <a:off x="457200" y="2249424"/>
            <a:ext cx="45720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4" name="Text 12"/>
          <p:cNvSpPr/>
          <p:nvPr/>
        </p:nvSpPr>
        <p:spPr>
          <a:xfrm>
            <a:off x="1051560" y="2176272"/>
            <a:ext cx="7498080" cy="56692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For each field, state the BIG question it asks.</a:t>
            </a:r>
            <a:endParaRPr lang="en-US" sz="1300" dirty="0"/>
          </a:p>
        </p:txBody>
      </p:sp>
      <p:sp>
        <p:nvSpPr>
          <p:cNvPr id="15" name="Shape 13"/>
          <p:cNvSpPr/>
          <p:nvPr/>
        </p:nvSpPr>
        <p:spPr>
          <a:xfrm>
            <a:off x="457200" y="2889504"/>
            <a:ext cx="8229600" cy="566928"/>
          </a:xfrm>
          <a:prstGeom prst="roundRect">
            <a:avLst>
              <a:gd name="adj" fmla="val 16129"/>
            </a:avLst>
          </a:prstGeom>
          <a:solidFill>
            <a:srgbClr val="1A2D5A"/>
          </a:solidFill>
          <a:ln w="12700">
            <a:solidFill>
              <a:srgbClr val="3A5080"/>
            </a:solidFill>
            <a:prstDash val="solid"/>
          </a:ln>
        </p:spPr>
      </p:sp>
      <p:sp>
        <p:nvSpPr>
          <p:cNvPr id="16" name="Shape 14"/>
          <p:cNvSpPr/>
          <p:nvPr/>
        </p:nvSpPr>
        <p:spPr>
          <a:xfrm>
            <a:off x="457200" y="2962656"/>
            <a:ext cx="457200" cy="411480"/>
          </a:xfrm>
          <a:prstGeom prst="roundRect">
            <a:avLst>
              <a:gd name="adj" fmla="val 17778"/>
            </a:avLst>
          </a:prstGeom>
          <a:solidFill>
            <a:srgbClr val="8B6FC0"/>
          </a:solidFill>
          <a:ln w="12700">
            <a:solidFill>
              <a:srgbClr val="8B6FC0"/>
            </a:solidFill>
            <a:prstDash val="solid"/>
          </a:ln>
        </p:spPr>
      </p:sp>
      <p:sp>
        <p:nvSpPr>
          <p:cNvPr id="17" name="Text 15"/>
          <p:cNvSpPr/>
          <p:nvPr/>
        </p:nvSpPr>
        <p:spPr>
          <a:xfrm>
            <a:off x="457200" y="2962656"/>
            <a:ext cx="45720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8" name="Text 16"/>
          <p:cNvSpPr/>
          <p:nvPr/>
        </p:nvSpPr>
        <p:spPr>
          <a:xfrm>
            <a:off x="1051560" y="2889504"/>
            <a:ext cx="7498080" cy="56692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Which Greek root means "one who knows" — and which field uses it?</a:t>
            </a:r>
            <a:endParaRPr lang="en-US" sz="1300" dirty="0"/>
          </a:p>
        </p:txBody>
      </p:sp>
      <p:sp>
        <p:nvSpPr>
          <p:cNvPr id="19" name="Shape 17"/>
          <p:cNvSpPr/>
          <p:nvPr/>
        </p:nvSpPr>
        <p:spPr>
          <a:xfrm>
            <a:off x="457200" y="3602736"/>
            <a:ext cx="8229600" cy="566928"/>
          </a:xfrm>
          <a:prstGeom prst="roundRect">
            <a:avLst>
              <a:gd name="adj" fmla="val 16129"/>
            </a:avLst>
          </a:prstGeom>
          <a:solidFill>
            <a:srgbClr val="1A2D5A"/>
          </a:solidFill>
          <a:ln w="12700">
            <a:solidFill>
              <a:srgbClr val="3A5080"/>
            </a:solidFill>
            <a:prstDash val="solid"/>
          </a:ln>
        </p:spPr>
      </p:sp>
      <p:sp>
        <p:nvSpPr>
          <p:cNvPr id="20" name="Shape 18"/>
          <p:cNvSpPr/>
          <p:nvPr/>
        </p:nvSpPr>
        <p:spPr>
          <a:xfrm>
            <a:off x="457200" y="3675888"/>
            <a:ext cx="457200" cy="411480"/>
          </a:xfrm>
          <a:prstGeom prst="roundRect">
            <a:avLst>
              <a:gd name="adj" fmla="val 17778"/>
            </a:avLst>
          </a:prstGeom>
          <a:solidFill>
            <a:srgbClr val="8B6FC0"/>
          </a:solidFill>
          <a:ln w="12700">
            <a:solidFill>
              <a:srgbClr val="8B6FC0"/>
            </a:solidFill>
            <a:prstDash val="solid"/>
          </a:ln>
        </p:spPr>
      </p:sp>
      <p:sp>
        <p:nvSpPr>
          <p:cNvPr id="21" name="Text 19"/>
          <p:cNvSpPr/>
          <p:nvPr/>
        </p:nvSpPr>
        <p:spPr>
          <a:xfrm>
            <a:off x="457200" y="3675888"/>
            <a:ext cx="45720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2" name="Text 20"/>
          <p:cNvSpPr/>
          <p:nvPr/>
        </p:nvSpPr>
        <p:spPr>
          <a:xfrm>
            <a:off x="1051560" y="3602736"/>
            <a:ext cx="7498080" cy="56692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What is ONE example of an economist at work in everyday life?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8A7D"/>
          </a:solidFill>
          <a:ln w="12700">
            <a:solidFill>
              <a:srgbClr val="1A8A7D"/>
            </a:solidFill>
            <a:prstDash val="solid"/>
          </a:ln>
        </p:spPr>
      </p:sp>
      <p:sp>
        <p:nvSpPr>
          <p:cNvPr id="3" name="Text 1"/>
          <p:cNvSpPr/>
          <p:nvPr/>
        </p:nvSpPr>
        <p:spPr>
          <a:xfrm>
            <a:off x="365760" y="0"/>
            <a:ext cx="8412480" cy="658368"/>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Quick Self-Check — Let's Verify</a:t>
            </a:r>
            <a:endParaRPr lang="en-US" sz="1400" dirty="0"/>
          </a:p>
        </p:txBody>
      </p:sp>
      <p:sp>
        <p:nvSpPr>
          <p:cNvPr id="4" name="Text 2"/>
          <p:cNvSpPr/>
          <p:nvPr/>
        </p:nvSpPr>
        <p:spPr>
          <a:xfrm>
            <a:off x="457200" y="777240"/>
            <a:ext cx="8229600" cy="365760"/>
          </a:xfrm>
          <a:prstGeom prst="rect">
            <a:avLst/>
          </a:prstGeom>
          <a:noFill/>
          <a:ln/>
        </p:spPr>
        <p:txBody>
          <a:bodyPr wrap="square" rtlCol="0" anchor="ctr"/>
          <a:lstStyle/>
          <a:p>
            <a:pPr indent="0" marL="0">
              <a:buNone/>
            </a:pPr>
            <a:r>
              <a:rPr lang="en-US" sz="1300" dirty="0">
                <a:solidFill>
                  <a:srgbClr val="7A88A8"/>
                </a:solidFill>
                <a:latin typeface="Calibri" pitchFamily="34" charset="0"/>
                <a:ea typeface="Calibri" pitchFamily="34" charset="-122"/>
                <a:cs typeface="Calibri" pitchFamily="34" charset="-120"/>
              </a:rPr>
              <a:t>From the lesson's self-check questions — think through your answers before checking!</a:t>
            </a:r>
            <a:endParaRPr lang="en-US" sz="1300" dirty="0"/>
          </a:p>
        </p:txBody>
      </p:sp>
      <p:sp>
        <p:nvSpPr>
          <p:cNvPr id="5" name="Shape 3"/>
          <p:cNvSpPr/>
          <p:nvPr/>
        </p:nvSpPr>
        <p:spPr>
          <a:xfrm>
            <a:off x="365760" y="1261872"/>
            <a:ext cx="8412480" cy="1005840"/>
          </a:xfrm>
          <a:prstGeom prst="roundRect">
            <a:avLst>
              <a:gd name="adj" fmla="val 10909"/>
            </a:avLst>
          </a:prstGeom>
          <a:solidFill>
            <a:srgbClr val="F8F9FC"/>
          </a:solidFill>
          <a:ln w="12700">
            <a:solidFill>
              <a:srgbClr val="D0D8E8"/>
            </a:solidFill>
            <a:prstDash val="solid"/>
          </a:ln>
        </p:spPr>
      </p:sp>
      <p:sp>
        <p:nvSpPr>
          <p:cNvPr id="6" name="Shape 4"/>
          <p:cNvSpPr/>
          <p:nvPr/>
        </p:nvSpPr>
        <p:spPr>
          <a:xfrm>
            <a:off x="365760" y="1307592"/>
            <a:ext cx="411480" cy="411480"/>
          </a:xfrm>
          <a:prstGeom prst="roundRect">
            <a:avLst>
              <a:gd name="adj" fmla="val 17778"/>
            </a:avLst>
          </a:prstGeom>
          <a:solidFill>
            <a:srgbClr val="1A8A7D"/>
          </a:solidFill>
          <a:ln w="12700">
            <a:solidFill>
              <a:srgbClr val="1A8A7D"/>
            </a:solidFill>
            <a:prstDash val="solid"/>
          </a:ln>
        </p:spPr>
      </p:sp>
      <p:sp>
        <p:nvSpPr>
          <p:cNvPr id="7" name="Text 5"/>
          <p:cNvSpPr/>
          <p:nvPr/>
        </p:nvSpPr>
        <p:spPr>
          <a:xfrm>
            <a:off x="365760" y="130759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p:nvPr/>
        </p:nvSpPr>
        <p:spPr>
          <a:xfrm>
            <a:off x="914400" y="1298448"/>
            <a:ext cx="7680960" cy="347472"/>
          </a:xfrm>
          <a:prstGeom prst="rect">
            <a:avLst/>
          </a:prstGeom>
          <a:noFill/>
          <a:ln/>
        </p:spPr>
        <p:txBody>
          <a:bodyPr wrap="square" lIns="0" tIns="0" rIns="0" bIns="0" rtlCol="0" anchor="ctr"/>
          <a:lstStyle/>
          <a:p>
            <a:pPr indent="0" marL="0">
              <a:buNone/>
            </a:pPr>
            <a:r>
              <a:rPr lang="en-US" sz="1200" b="1" dirty="0">
                <a:solidFill>
                  <a:srgbClr val="0E1C42"/>
                </a:solidFill>
                <a:latin typeface="Cambria" pitchFamily="34" charset="0"/>
                <a:ea typeface="Cambria" pitchFamily="34" charset="-122"/>
                <a:cs typeface="Cambria" pitchFamily="34" charset="-120"/>
              </a:rPr>
              <a:t>What does a historian study?</a:t>
            </a:r>
            <a:endParaRPr lang="en-US" sz="1200" dirty="0"/>
          </a:p>
        </p:txBody>
      </p:sp>
      <p:sp>
        <p:nvSpPr>
          <p:cNvPr id="9" name="Text 7"/>
          <p:cNvSpPr/>
          <p:nvPr/>
        </p:nvSpPr>
        <p:spPr>
          <a:xfrm>
            <a:off x="914400" y="1673352"/>
            <a:ext cx="4572000" cy="256032"/>
          </a:xfrm>
          <a:prstGeom prst="rect">
            <a:avLst/>
          </a:prstGeom>
          <a:noFill/>
          <a:ln/>
        </p:spPr>
        <p:txBody>
          <a:bodyPr wrap="square" lIns="0" tIns="0" rIns="0" bIns="0"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Hint: Think: the word root histor = ?</a:t>
            </a:r>
            <a:endParaRPr lang="en-US" sz="1000" dirty="0"/>
          </a:p>
        </p:txBody>
      </p:sp>
      <p:sp>
        <p:nvSpPr>
          <p:cNvPr id="10" name="Shape 8"/>
          <p:cNvSpPr/>
          <p:nvPr/>
        </p:nvSpPr>
        <p:spPr>
          <a:xfrm>
            <a:off x="5669280" y="1609344"/>
            <a:ext cx="2926080" cy="347472"/>
          </a:xfrm>
          <a:prstGeom prst="roundRect">
            <a:avLst>
              <a:gd name="adj" fmla="val 21053"/>
            </a:avLst>
          </a:prstGeom>
          <a:solidFill>
            <a:srgbClr val="E3F8ED"/>
          </a:solidFill>
          <a:ln w="12700">
            <a:solidFill>
              <a:srgbClr val="34B76F"/>
            </a:solidFill>
            <a:prstDash val="solid"/>
          </a:ln>
        </p:spPr>
      </p:sp>
      <p:sp>
        <p:nvSpPr>
          <p:cNvPr id="11" name="Text 9"/>
          <p:cNvSpPr/>
          <p:nvPr/>
        </p:nvSpPr>
        <p:spPr>
          <a:xfrm>
            <a:off x="5806440" y="1609344"/>
            <a:ext cx="2651760" cy="347472"/>
          </a:xfrm>
          <a:prstGeom prst="rect">
            <a:avLst/>
          </a:prstGeom>
          <a:noFill/>
          <a:ln/>
        </p:spPr>
        <p:txBody>
          <a:bodyPr wrap="square" lIns="0" tIns="0" rIns="0" bIns="0" rtlCol="0" anchor="ctr"/>
          <a:lstStyle/>
          <a:p>
            <a:pPr indent="0" marL="0">
              <a:buNone/>
            </a:pPr>
            <a:r>
              <a:rPr lang="en-US" sz="900" dirty="0">
                <a:solidFill>
                  <a:srgbClr val="2A6A3A"/>
                </a:solidFill>
                <a:latin typeface="Calibri" pitchFamily="34" charset="0"/>
                <a:ea typeface="Calibri" pitchFamily="34" charset="-122"/>
                <a:cs typeface="Calibri" pitchFamily="34" charset="-120"/>
              </a:rPr>
              <a:t>Events from the PAST — old letters, photographs, and objects.</a:t>
            </a:r>
            <a:endParaRPr lang="en-US" sz="900" dirty="0"/>
          </a:p>
        </p:txBody>
      </p:sp>
      <p:sp>
        <p:nvSpPr>
          <p:cNvPr id="12" name="Shape 10"/>
          <p:cNvSpPr/>
          <p:nvPr/>
        </p:nvSpPr>
        <p:spPr>
          <a:xfrm>
            <a:off x="365760" y="2395728"/>
            <a:ext cx="8412480" cy="1005840"/>
          </a:xfrm>
          <a:prstGeom prst="roundRect">
            <a:avLst>
              <a:gd name="adj" fmla="val 10909"/>
            </a:avLst>
          </a:prstGeom>
          <a:solidFill>
            <a:srgbClr val="F8F9FC"/>
          </a:solidFill>
          <a:ln w="12700">
            <a:solidFill>
              <a:srgbClr val="D0D8E8"/>
            </a:solidFill>
            <a:prstDash val="solid"/>
          </a:ln>
        </p:spPr>
      </p:sp>
      <p:sp>
        <p:nvSpPr>
          <p:cNvPr id="13" name="Shape 11"/>
          <p:cNvSpPr/>
          <p:nvPr/>
        </p:nvSpPr>
        <p:spPr>
          <a:xfrm>
            <a:off x="365760" y="2441448"/>
            <a:ext cx="411480" cy="411480"/>
          </a:xfrm>
          <a:prstGeom prst="roundRect">
            <a:avLst>
              <a:gd name="adj" fmla="val 17778"/>
            </a:avLst>
          </a:prstGeom>
          <a:solidFill>
            <a:srgbClr val="1A8A7D"/>
          </a:solidFill>
          <a:ln w="12700">
            <a:solidFill>
              <a:srgbClr val="1A8A7D"/>
            </a:solidFill>
            <a:prstDash val="solid"/>
          </a:ln>
        </p:spPr>
      </p:sp>
      <p:sp>
        <p:nvSpPr>
          <p:cNvPr id="14" name="Text 12"/>
          <p:cNvSpPr/>
          <p:nvPr/>
        </p:nvSpPr>
        <p:spPr>
          <a:xfrm>
            <a:off x="365760" y="244144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5" name="Text 13"/>
          <p:cNvSpPr/>
          <p:nvPr/>
        </p:nvSpPr>
        <p:spPr>
          <a:xfrm>
            <a:off x="914400" y="2432304"/>
            <a:ext cx="7680960" cy="347472"/>
          </a:xfrm>
          <a:prstGeom prst="rect">
            <a:avLst/>
          </a:prstGeom>
          <a:noFill/>
          <a:ln/>
        </p:spPr>
        <p:txBody>
          <a:bodyPr wrap="square" lIns="0" tIns="0" rIns="0" bIns="0" rtlCol="0" anchor="ctr"/>
          <a:lstStyle/>
          <a:p>
            <a:pPr indent="0" marL="0">
              <a:buNone/>
            </a:pPr>
            <a:r>
              <a:rPr lang="en-US" sz="1200" b="1" dirty="0">
                <a:solidFill>
                  <a:srgbClr val="0E1C42"/>
                </a:solidFill>
                <a:latin typeface="Cambria" pitchFamily="34" charset="0"/>
                <a:ea typeface="Cambria" pitchFamily="34" charset="-122"/>
                <a:cs typeface="Cambria" pitchFamily="34" charset="-120"/>
              </a:rPr>
              <a:t>Which field focuses on places, maps, and the Earth?</a:t>
            </a:r>
            <a:endParaRPr lang="en-US" sz="1200" dirty="0"/>
          </a:p>
        </p:txBody>
      </p:sp>
      <p:sp>
        <p:nvSpPr>
          <p:cNvPr id="16" name="Text 14"/>
          <p:cNvSpPr/>
          <p:nvPr/>
        </p:nvSpPr>
        <p:spPr>
          <a:xfrm>
            <a:off x="914400" y="2807208"/>
            <a:ext cx="4572000" cy="256032"/>
          </a:xfrm>
          <a:prstGeom prst="rect">
            <a:avLst/>
          </a:prstGeom>
          <a:noFill/>
          <a:ln/>
        </p:spPr>
        <p:txBody>
          <a:bodyPr wrap="square" lIns="0" tIns="0" rIns="0" bIns="0"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Hint: Think: 'Earth writing'</a:t>
            </a:r>
            <a:endParaRPr lang="en-US" sz="1000" dirty="0"/>
          </a:p>
        </p:txBody>
      </p:sp>
      <p:sp>
        <p:nvSpPr>
          <p:cNvPr id="17" name="Shape 15"/>
          <p:cNvSpPr/>
          <p:nvPr/>
        </p:nvSpPr>
        <p:spPr>
          <a:xfrm>
            <a:off x="5669280" y="2743200"/>
            <a:ext cx="2926080" cy="347472"/>
          </a:xfrm>
          <a:prstGeom prst="roundRect">
            <a:avLst>
              <a:gd name="adj" fmla="val 21053"/>
            </a:avLst>
          </a:prstGeom>
          <a:solidFill>
            <a:srgbClr val="E3F8ED"/>
          </a:solidFill>
          <a:ln w="12700">
            <a:solidFill>
              <a:srgbClr val="34B76F"/>
            </a:solidFill>
            <a:prstDash val="solid"/>
          </a:ln>
        </p:spPr>
      </p:sp>
      <p:sp>
        <p:nvSpPr>
          <p:cNvPr id="18" name="Text 16"/>
          <p:cNvSpPr/>
          <p:nvPr/>
        </p:nvSpPr>
        <p:spPr>
          <a:xfrm>
            <a:off x="5806440" y="2743200"/>
            <a:ext cx="2651760" cy="347472"/>
          </a:xfrm>
          <a:prstGeom prst="rect">
            <a:avLst/>
          </a:prstGeom>
          <a:noFill/>
          <a:ln/>
        </p:spPr>
        <p:txBody>
          <a:bodyPr wrap="square" lIns="0" tIns="0" rIns="0" bIns="0" rtlCol="0" anchor="ctr"/>
          <a:lstStyle/>
          <a:p>
            <a:pPr indent="0" marL="0">
              <a:buNone/>
            </a:pPr>
            <a:r>
              <a:rPr lang="en-US" sz="900" dirty="0">
                <a:solidFill>
                  <a:srgbClr val="2A6A3A"/>
                </a:solidFill>
                <a:latin typeface="Calibri" pitchFamily="34" charset="0"/>
                <a:ea typeface="Calibri" pitchFamily="34" charset="-122"/>
                <a:cs typeface="Calibri" pitchFamily="34" charset="-120"/>
              </a:rPr>
              <a:t>GEOGRAPHY — the study of Earth's places.</a:t>
            </a:r>
            <a:endParaRPr lang="en-US" sz="900" dirty="0"/>
          </a:p>
        </p:txBody>
      </p:sp>
      <p:sp>
        <p:nvSpPr>
          <p:cNvPr id="19" name="Shape 17"/>
          <p:cNvSpPr/>
          <p:nvPr/>
        </p:nvSpPr>
        <p:spPr>
          <a:xfrm>
            <a:off x="365760" y="3529584"/>
            <a:ext cx="8412480" cy="1005840"/>
          </a:xfrm>
          <a:prstGeom prst="roundRect">
            <a:avLst>
              <a:gd name="adj" fmla="val 10909"/>
            </a:avLst>
          </a:prstGeom>
          <a:solidFill>
            <a:srgbClr val="F8F9FC"/>
          </a:solidFill>
          <a:ln w="12700">
            <a:solidFill>
              <a:srgbClr val="D0D8E8"/>
            </a:solidFill>
            <a:prstDash val="solid"/>
          </a:ln>
        </p:spPr>
      </p:sp>
      <p:sp>
        <p:nvSpPr>
          <p:cNvPr id="20" name="Shape 18"/>
          <p:cNvSpPr/>
          <p:nvPr/>
        </p:nvSpPr>
        <p:spPr>
          <a:xfrm>
            <a:off x="365760" y="3575304"/>
            <a:ext cx="411480" cy="411480"/>
          </a:xfrm>
          <a:prstGeom prst="roundRect">
            <a:avLst>
              <a:gd name="adj" fmla="val 17778"/>
            </a:avLst>
          </a:prstGeom>
          <a:solidFill>
            <a:srgbClr val="1A8A7D"/>
          </a:solidFill>
          <a:ln w="12700">
            <a:solidFill>
              <a:srgbClr val="1A8A7D"/>
            </a:solidFill>
            <a:prstDash val="solid"/>
          </a:ln>
        </p:spPr>
      </p:sp>
      <p:sp>
        <p:nvSpPr>
          <p:cNvPr id="21" name="Text 19"/>
          <p:cNvSpPr/>
          <p:nvPr/>
        </p:nvSpPr>
        <p:spPr>
          <a:xfrm>
            <a:off x="365760" y="3575304"/>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2" name="Text 20"/>
          <p:cNvSpPr/>
          <p:nvPr/>
        </p:nvSpPr>
        <p:spPr>
          <a:xfrm>
            <a:off x="914400" y="3566160"/>
            <a:ext cx="7680960" cy="347472"/>
          </a:xfrm>
          <a:prstGeom prst="rect">
            <a:avLst/>
          </a:prstGeom>
          <a:noFill/>
          <a:ln/>
        </p:spPr>
        <p:txBody>
          <a:bodyPr wrap="square" lIns="0" tIns="0" rIns="0" bIns="0" rtlCol="0" anchor="ctr"/>
          <a:lstStyle/>
          <a:p>
            <a:pPr indent="0" marL="0">
              <a:buNone/>
            </a:pPr>
            <a:r>
              <a:rPr lang="en-US" sz="1200" b="1" dirty="0">
                <a:solidFill>
                  <a:srgbClr val="0E1C42"/>
                </a:solidFill>
                <a:latin typeface="Cambria" pitchFamily="34" charset="0"/>
                <a:ea typeface="Cambria" pitchFamily="34" charset="-122"/>
                <a:cs typeface="Cambria" pitchFamily="34" charset="-120"/>
              </a:rPr>
              <a:t>A citizen who volunteers at a food bank shows which virtue?</a:t>
            </a:r>
            <a:endParaRPr lang="en-US" sz="1200" dirty="0"/>
          </a:p>
        </p:txBody>
      </p:sp>
      <p:sp>
        <p:nvSpPr>
          <p:cNvPr id="23" name="Text 21"/>
          <p:cNvSpPr/>
          <p:nvPr/>
        </p:nvSpPr>
        <p:spPr>
          <a:xfrm>
            <a:off x="914400" y="3941064"/>
            <a:ext cx="4572000" cy="256032"/>
          </a:xfrm>
          <a:prstGeom prst="rect">
            <a:avLst/>
          </a:prstGeom>
          <a:noFill/>
          <a:ln/>
        </p:spPr>
        <p:txBody>
          <a:bodyPr wrap="square" lIns="0" tIns="0" rIns="0" bIns="0"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Hint: Think: helping others, contributing to community</a:t>
            </a:r>
            <a:endParaRPr lang="en-US" sz="1000" dirty="0"/>
          </a:p>
        </p:txBody>
      </p:sp>
      <p:sp>
        <p:nvSpPr>
          <p:cNvPr id="24" name="Shape 22"/>
          <p:cNvSpPr/>
          <p:nvPr/>
        </p:nvSpPr>
        <p:spPr>
          <a:xfrm>
            <a:off x="5669280" y="3877056"/>
            <a:ext cx="2926080" cy="347472"/>
          </a:xfrm>
          <a:prstGeom prst="roundRect">
            <a:avLst>
              <a:gd name="adj" fmla="val 21053"/>
            </a:avLst>
          </a:prstGeom>
          <a:solidFill>
            <a:srgbClr val="E3F8ED"/>
          </a:solidFill>
          <a:ln w="12700">
            <a:solidFill>
              <a:srgbClr val="34B76F"/>
            </a:solidFill>
            <a:prstDash val="solid"/>
          </a:ln>
        </p:spPr>
      </p:sp>
      <p:sp>
        <p:nvSpPr>
          <p:cNvPr id="25" name="Text 23"/>
          <p:cNvSpPr/>
          <p:nvPr/>
        </p:nvSpPr>
        <p:spPr>
          <a:xfrm>
            <a:off x="5806440" y="3877056"/>
            <a:ext cx="2651760" cy="347472"/>
          </a:xfrm>
          <a:prstGeom prst="rect">
            <a:avLst/>
          </a:prstGeom>
          <a:noFill/>
          <a:ln/>
        </p:spPr>
        <p:txBody>
          <a:bodyPr wrap="square" lIns="0" tIns="0" rIns="0" bIns="0" rtlCol="0" anchor="ctr"/>
          <a:lstStyle/>
          <a:p>
            <a:pPr indent="0" marL="0">
              <a:buNone/>
            </a:pPr>
            <a:r>
              <a:rPr lang="en-US" sz="900" dirty="0">
                <a:solidFill>
                  <a:srgbClr val="2A6A3A"/>
                </a:solidFill>
                <a:latin typeface="Calibri" pitchFamily="34" charset="0"/>
                <a:ea typeface="Calibri" pitchFamily="34" charset="-122"/>
                <a:cs typeface="Calibri" pitchFamily="34" charset="-120"/>
              </a:rPr>
              <a:t>SERVICE — giving time to benefit others.</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365760" y="274320"/>
            <a:ext cx="3474720" cy="2743200"/>
          </a:xfrm>
          <a:prstGeom prst="roundRect">
            <a:avLst>
              <a:gd name="adj" fmla="val 4000"/>
            </a:avLst>
          </a:prstGeom>
          <a:solidFill>
            <a:srgbClr val="E2E8F4"/>
          </a:solidFill>
          <a:ln w="19050">
            <a:solidFill>
              <a:srgbClr val="B0B8CC"/>
            </a:solidFill>
            <a:prstDash val="dash"/>
          </a:ln>
        </p:spPr>
      </p:sp>
      <p:sp>
        <p:nvSpPr>
          <p:cNvPr id="5" name="Text 3"/>
          <p:cNvSpPr/>
          <p:nvPr/>
        </p:nvSpPr>
        <p:spPr>
          <a:xfrm>
            <a:off x="365760" y="274320"/>
            <a:ext cx="34747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502920" y="548640"/>
            <a:ext cx="3200400" cy="23774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museum curator's badge or certificate reading 'Junior Curator — Certified' with a gold seal on navy background</a:t>
            </a:r>
            <a:endParaRPr lang="en-US" sz="1100" dirty="0"/>
          </a:p>
        </p:txBody>
      </p:sp>
      <p:sp>
        <p:nvSpPr>
          <p:cNvPr id="7" name="Shape 5"/>
          <p:cNvSpPr/>
          <p:nvPr/>
        </p:nvSpPr>
        <p:spPr>
          <a:xfrm>
            <a:off x="4114800" y="274320"/>
            <a:ext cx="4663440" cy="475488"/>
          </a:xfrm>
          <a:prstGeom prst="roundRect">
            <a:avLst>
              <a:gd name="adj" fmla="val 19231"/>
            </a:avLst>
          </a:prstGeom>
          <a:solidFill>
            <a:srgbClr val="1A3A2A"/>
          </a:solidFill>
          <a:ln w="19050">
            <a:solidFill>
              <a:srgbClr val="34B76F"/>
            </a:solidFill>
            <a:prstDash val="solid"/>
          </a:ln>
        </p:spPr>
      </p:sp>
      <p:sp>
        <p:nvSpPr>
          <p:cNvPr id="8" name="Text 6"/>
          <p:cNvSpPr/>
          <p:nvPr/>
        </p:nvSpPr>
        <p:spPr>
          <a:xfrm>
            <a:off x="4114800" y="274320"/>
            <a:ext cx="4663440" cy="475488"/>
          </a:xfrm>
          <a:prstGeom prst="rect">
            <a:avLst/>
          </a:prstGeom>
          <a:noFill/>
          <a:ln/>
        </p:spPr>
        <p:txBody>
          <a:bodyPr wrap="square" lIns="0" tIns="0" rIns="0" bIns="0" rtlCol="0" anchor="ctr"/>
          <a:lstStyle/>
          <a:p>
            <a:pPr algn="ctr" indent="0" marL="0">
              <a:buNone/>
            </a:pPr>
            <a:r>
              <a:rPr lang="en-US" sz="1200" b="1" spc="150" kern="0" dirty="0">
                <a:solidFill>
                  <a:srgbClr val="34B76F"/>
                </a:solidFill>
                <a:latin typeface="Calibri" pitchFamily="34" charset="0"/>
                <a:ea typeface="Calibri" pitchFamily="34" charset="-122"/>
                <a:cs typeface="Calibri" pitchFamily="34" charset="-120"/>
              </a:rPr>
              <a:t>JUNIOR CURATOR — CERTIFIED!</a:t>
            </a:r>
            <a:endParaRPr lang="en-US" sz="1200" dirty="0"/>
          </a:p>
        </p:txBody>
      </p:sp>
      <p:sp>
        <p:nvSpPr>
          <p:cNvPr id="9" name="Text 7"/>
          <p:cNvSpPr/>
          <p:nvPr/>
        </p:nvSpPr>
        <p:spPr>
          <a:xfrm>
            <a:off x="4114800" y="868680"/>
            <a:ext cx="4663440" cy="914400"/>
          </a:xfrm>
          <a:prstGeom prst="rect">
            <a:avLst/>
          </a:prstGeom>
          <a:noFill/>
          <a:ln/>
        </p:spPr>
        <p:txBody>
          <a:bodyPr wrap="square" rtlCol="0" anchor="ctr"/>
          <a:lstStyle/>
          <a:p>
            <a:pPr indent="0" marL="0">
              <a:buNone/>
            </a:pPr>
            <a:r>
              <a:rPr lang="en-US" sz="2800" b="1" dirty="0">
                <a:solidFill>
                  <a:srgbClr val="D4943A"/>
                </a:solidFill>
                <a:latin typeface="Cambria" pitchFamily="34" charset="0"/>
                <a:ea typeface="Cambria" pitchFamily="34" charset="-122"/>
                <a:cs typeface="Cambria" pitchFamily="34" charset="-120"/>
              </a:rPr>
              <a:t>Great Start,</a:t>
            </a:r>
            <a:endParaRPr lang="en-US" sz="2800" dirty="0"/>
          </a:p>
          <a:p>
            <a:pPr indent="0" marL="0">
              <a:buNone/>
            </a:pPr>
            <a:r>
              <a:rPr lang="en-US" sz="2800" b="1" dirty="0">
                <a:solidFill>
                  <a:srgbClr val="D4943A"/>
                </a:solidFill>
                <a:latin typeface="Cambria" pitchFamily="34" charset="0"/>
                <a:ea typeface="Cambria" pitchFamily="34" charset="-122"/>
                <a:cs typeface="Cambria" pitchFamily="34" charset="-120"/>
              </a:rPr>
              <a:t>Junior Curators!</a:t>
            </a:r>
            <a:endParaRPr lang="en-US" sz="2800" dirty="0"/>
          </a:p>
        </p:txBody>
      </p:sp>
      <p:sp>
        <p:nvSpPr>
          <p:cNvPr id="10" name="Text 8"/>
          <p:cNvSpPr/>
          <p:nvPr/>
        </p:nvSpPr>
        <p:spPr>
          <a:xfrm>
            <a:off x="4114800" y="1847088"/>
            <a:ext cx="4663440" cy="114300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Unlocked all four halls in the museum</a:t>
            </a:r>
            <a:endParaRPr lang="en-US" sz="1100" dirty="0"/>
          </a:p>
          <a:p>
            <a:pPr marL="342900" indent="-3429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Learned what historians, geographers, economists, and citizens study</a:t>
            </a:r>
            <a:endParaRPr lang="en-US" sz="1100" dirty="0"/>
          </a:p>
          <a:p>
            <a:pPr marL="342900" indent="-3429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Practiced describing fields using evidence</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Wrote your first Curator's Notebook entry</a:t>
            </a:r>
            <a:endParaRPr lang="en-US" sz="1100" dirty="0"/>
          </a:p>
        </p:txBody>
      </p:sp>
      <p:sp>
        <p:nvSpPr>
          <p:cNvPr id="11" name="Shape 9"/>
          <p:cNvSpPr/>
          <p:nvPr/>
        </p:nvSpPr>
        <p:spPr>
          <a:xfrm>
            <a:off x="365760" y="3090672"/>
            <a:ext cx="8412480" cy="1755648"/>
          </a:xfrm>
          <a:prstGeom prst="roundRect">
            <a:avLst>
              <a:gd name="adj" fmla="val 7813"/>
            </a:avLst>
          </a:prstGeom>
          <a:solidFill>
            <a:srgbClr val="1A2D5A"/>
          </a:solidFill>
          <a:ln w="19050">
            <a:solidFill>
              <a:srgbClr val="55C8E8"/>
            </a:solidFill>
            <a:prstDash val="solid"/>
          </a:ln>
        </p:spPr>
      </p:sp>
      <p:sp>
        <p:nvSpPr>
          <p:cNvPr id="12" name="Shape 10"/>
          <p:cNvSpPr/>
          <p:nvPr/>
        </p:nvSpPr>
        <p:spPr>
          <a:xfrm>
            <a:off x="365760" y="3090672"/>
            <a:ext cx="2011680" cy="384048"/>
          </a:xfrm>
          <a:prstGeom prst="roundRect">
            <a:avLst>
              <a:gd name="adj" fmla="val 23810"/>
            </a:avLst>
          </a:prstGeom>
          <a:solidFill>
            <a:srgbClr val="55C8E8"/>
          </a:solidFill>
          <a:ln w="12700">
            <a:solidFill>
              <a:srgbClr val="55C8E8"/>
            </a:solidFill>
            <a:prstDash val="solid"/>
          </a:ln>
        </p:spPr>
      </p:sp>
      <p:sp>
        <p:nvSpPr>
          <p:cNvPr id="13" name="Text 11"/>
          <p:cNvSpPr/>
          <p:nvPr/>
        </p:nvSpPr>
        <p:spPr>
          <a:xfrm>
            <a:off x="365760" y="3090672"/>
            <a:ext cx="2011680" cy="384048"/>
          </a:xfrm>
          <a:prstGeom prst="rect">
            <a:avLst/>
          </a:prstGeom>
          <a:noFill/>
          <a:ln/>
        </p:spPr>
        <p:txBody>
          <a:bodyPr wrap="square" lIns="0" tIns="0" rIns="0" bIns="0" rtlCol="0" anchor="ctr"/>
          <a:lstStyle/>
          <a:p>
            <a:pPr algn="ctr" indent="0" marL="0">
              <a:buNone/>
            </a:pPr>
            <a:r>
              <a:rPr lang="en-US" sz="1000" b="1" spc="150" kern="0" dirty="0">
                <a:solidFill>
                  <a:srgbClr val="0E1C42"/>
                </a:solidFill>
                <a:latin typeface="Calibri" pitchFamily="34" charset="0"/>
                <a:ea typeface="Calibri" pitchFamily="34" charset="-122"/>
                <a:cs typeface="Calibri" pitchFamily="34" charset="-120"/>
              </a:rPr>
              <a:t>COMING NEXT</a:t>
            </a:r>
            <a:endParaRPr lang="en-US" sz="1000" dirty="0"/>
          </a:p>
        </p:txBody>
      </p:sp>
      <p:sp>
        <p:nvSpPr>
          <p:cNvPr id="14" name="Text 12"/>
          <p:cNvSpPr/>
          <p:nvPr/>
        </p:nvSpPr>
        <p:spPr>
          <a:xfrm>
            <a:off x="548640" y="3529584"/>
            <a:ext cx="8046720" cy="1243584"/>
          </a:xfrm>
          <a:prstGeom prst="rect">
            <a:avLst/>
          </a:prstGeom>
          <a:noFill/>
          <a:ln/>
        </p:spPr>
        <p:txBody>
          <a:bodyPr wrap="square" lIns="0" tIns="0" rIns="0" bIns="0" rtlCol="0" anchor="ctr"/>
          <a:lstStyle/>
          <a:p>
            <a:pPr indent="0" marL="0">
              <a:lnSpc>
                <a:spcPct val="130000"/>
              </a:lnSpc>
              <a:buNone/>
            </a:pPr>
            <a:r>
              <a:rPr lang="en-US" sz="1300" i="1" dirty="0">
                <a:solidFill>
                  <a:srgbClr val="FFFFFF"/>
                </a:solidFill>
                <a:latin typeface="Cambria" pitchFamily="34" charset="0"/>
                <a:ea typeface="Cambria" pitchFamily="34" charset="-122"/>
                <a:cs typeface="Cambria" pitchFamily="34" charset="-120"/>
              </a:rPr>
              <a:t>A mixed tray of sources arrives at the evidence table — photographs, maps, letters, and more. You'll need to SORT them before writing any exhibit labels. Are you ready to be a source detective?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3.01.01 — What Do Historians, Geographers, Economists, and Citizens Study?</dc:title>
  <dc:subject>Grade 3 Social Studies</dc:subject>
  <dc:creator>Optima Academy Online</dc:creator>
  <cp:lastModifiedBy>Optima Academy Online</cp:lastModifiedBy>
  <cp:revision>1</cp:revision>
  <dcterms:created xsi:type="dcterms:W3CDTF">2026-07-10T22:11:06Z</dcterms:created>
  <dcterms:modified xsi:type="dcterms:W3CDTF">2026-07-10T22:11:06Z</dcterms:modified>
</cp:coreProperties>
</file>