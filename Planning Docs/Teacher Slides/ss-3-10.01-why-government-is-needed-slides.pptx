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pair of tall carved double doors swinging open at the back of a museum corridor, revealing a brand-new, dimly-lit hall beyond -- a hanging banner reads CITIZENSHIP HALL in gold letters, with a shadowy model town display just visible inside.Title slide. Welcome students to Unit 10 and Citizenship Hall -- the first time this room has ever opened. Read the Big Question aloud. Tell them today's role is Civic Curator and today's virtue is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dim, strange museum diorama of a miniature town at night with no traffic signs: two toy cars stopped nose-to-nose in the middle of an intersection, two tiny families each planting flags in the same garden plot, and a small white index card lying on the floor of the display case.Welcome students through the new double doors into Citizenship Hall. Point out the town with no rules display -- describe one or two funny moments (two families fighting over the same garden, cars stopped in the intersection). Read the Curator's Question aloud and let it sit. Keep under 2 minutes. Warm and a bit dignified -- this is a new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brand-new Founding Words routine. Explain that every lesson in Citizenship Hall will open a piece of evidence like this one. Read the Preamble aloud slowly, once, without explaining every word yet. Tell students we will return to it later in the lesson once we know the three jobs of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today's virtue: service. Say that a government is really just people serving other people -- mayors, judges, firefighters, voters. Tell students their role today is Civic Curator, and their job is to write the very first label in Citizenship 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words: citizen, civic, civil, civilization. Give 5 seconds for students to notice the shared root before discussing. Ask the Socratic questions aloud, then move to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meaning of civis and connect it to the word city. Then have students copy the government definition sentence into their Curator's Notebook, noticing the words chosen and take care of -- this previews what government actually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town-with-no-rules scenario: no stop signs, no firefighters, no judges, no principals. Give 5 seconds of silence for students to notice the intersection and garden problems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rules like stop signs and property lines create order by deciding whose turn it is or whose land is whose. This scaffolds Evidence Question 1 and 3 -- students need to be able to name order as one of the three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first job of government: order. Give the retrieval challenge -- students cover their screens and say order aloud or in chat before moving to the next job,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firefighter, police officer, water inspector image. Give 5 seconds of silence for students to notice these are jobs too big for one family before discussing what they have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safety jobs like firefighting need a whole team paid by the community, not one family. This scaffolds Evidence Question 2 and 3 -- students need a real safety example ready, like a firefighter.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second job of government: safety. Retrieval challenge -- students name both order and safety from memory before the final job, the common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park, school, library, road image. Give 5 seconds of silent observation. Ask who gets to use these places and who paid for them before discussing the common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common good and taxes -- a little money from everyone pays for things that help everyone. This directly scaffolds Evidence Questions 1 and 2, since common good is one of the three named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third job: the common good. Then return to the Founding Words slide from earlier -- match Justice to order, common defence to safety, and general Welfare to the common good. This is the big-picture moment connecting the Preamble to the whole lesson and scaffolds Evidence Questions 1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Evidence Question 2 aloud exactly as written on the slide. Name one job (safety), tie it to one real example (firefighter), and explain why. This is the exact scaffolding students need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version of Evidence Question 3. Build the answer together aloud -- the garden problem matches order, since it's about deciding whose land is whose. Let the class debate before students write their own answer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tricky distractor pattern in the self-check. A stop sign is really an example of order, not the common good -- being visible to everyone doesn't make something the common good. Have a few students suggest a fixed sentence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'Three for three -- you understand the why behind every government.' Keep it under 30 seconds if the score is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 all three were scaffolded earlier (Question 1 in the reveal slides, Question 2 in Teacher Models, Question 3 in We Try Together and Error Analysis). Then describe the Curator Task: a short label, 3-5 sentences, one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finish the Curator's Chronicle sentence frame exactly as shown. Let a few share aloud. Then walk through the turn-in checklist so everyone knows what a complete submission looks like before class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freshly mounted museum label glowing under a small spotlight on the wall of Citizenship Hall, reading FIRST LABEL, with the town-with-no-rules display softly visible behind glass, and a hint of a large draped display case further down the hall.Celebrate that students wrote the very first label in a brand-new museum hall. Restate the exhibit label in your own words -- three jobs: order, safety, common good. Then tease tomorrow: the Constitution display case is opening, and the phrase 'We the People' is going to do a lot of work. Keep under 1 minute, warm and a little proud.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46304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NEW HALL OPENING  ·  LESSON 3.10.01  ·  UNIT 10</a:t>
            </a:r>
            <a:endParaRPr lang="en-US" sz="1200" dirty="0"/>
          </a:p>
        </p:txBody>
      </p:sp>
      <p:sp>
        <p:nvSpPr>
          <p:cNvPr id="6" name="Text 3"/>
          <p:cNvSpPr/>
          <p:nvPr/>
        </p:nvSpPr>
        <p:spPr>
          <a:xfrm>
            <a:off x="975360" y="2011680"/>
            <a:ext cx="9753600" cy="134112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Why Government Is Needed</a:t>
            </a:r>
            <a:endParaRPr lang="en-US" sz="3800" dirty="0"/>
          </a:p>
        </p:txBody>
      </p:sp>
      <p:sp>
        <p:nvSpPr>
          <p:cNvPr id="7" name="Text 4"/>
          <p:cNvSpPr/>
          <p:nvPr/>
        </p:nvSpPr>
        <p:spPr>
          <a:xfrm>
            <a:off x="975360" y="3352800"/>
            <a:ext cx="9753600" cy="48768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Welcome to CITIZENSHIP HALL -- Grade 3's newest museum room</a:t>
            </a:r>
            <a:endParaRPr lang="en-US" sz="1400" dirty="0"/>
          </a:p>
        </p:txBody>
      </p:sp>
      <p:sp>
        <p:nvSpPr>
          <p:cNvPr id="8" name="Text 5"/>
          <p:cNvSpPr/>
          <p:nvPr/>
        </p:nvSpPr>
        <p:spPr>
          <a:xfrm>
            <a:off x="1584960" y="414528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9" name="Text 6"/>
          <p:cNvSpPr/>
          <p:nvPr/>
        </p:nvSpPr>
        <p:spPr>
          <a:xfrm>
            <a:off x="1219200" y="4572000"/>
            <a:ext cx="9387840" cy="109728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Why does a community need a government -- and what would happen without one?</a:t>
            </a:r>
            <a:endParaRPr lang="en-US" sz="1500" dirty="0"/>
          </a:p>
        </p:txBody>
      </p:sp>
      <p:sp>
        <p:nvSpPr>
          <p:cNvPr id="10" name="Text 7"/>
          <p:cNvSpPr/>
          <p:nvPr/>
        </p:nvSpPr>
        <p:spPr>
          <a:xfrm>
            <a:off x="1219200" y="5791200"/>
            <a:ext cx="9387840" cy="48768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a Civic Curator -- and today you write the very first label in a brand-new hall.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SCENE · CITIZENSHIP HALL, DISPLAY ONE</a:t>
            </a:r>
            <a:endParaRPr lang="en-US" sz="1100" dirty="0"/>
          </a:p>
        </p:txBody>
      </p:sp>
      <p:sp>
        <p:nvSpPr>
          <p:cNvPr id="6" name="Text 3"/>
          <p:cNvSpPr/>
          <p:nvPr/>
        </p:nvSpPr>
        <p:spPr>
          <a:xfrm>
            <a:off x="975360" y="1341120"/>
            <a:ext cx="9753600" cy="97536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"What is missing here?"</a:t>
            </a:r>
            <a:endParaRPr lang="en-US" sz="2400" dirty="0"/>
          </a:p>
        </p:txBody>
      </p:sp>
      <p:sp>
        <p:nvSpPr>
          <p:cNvPr id="7" name="Text 4"/>
          <p:cNvSpPr/>
          <p:nvPr/>
        </p:nvSpPr>
        <p:spPr>
          <a:xfrm>
            <a:off x="1219200" y="2499360"/>
            <a:ext cx="9387840" cy="21336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The Marketplace Hall is closed for the night. Your Wise Trader badge is pinned to your apron, and a tall double door at the back of the museum has just opened -- the entrance to Citizenship Hall. Inside, the first display is strange: a model town where no one knows the rules. Cars stop in the middle of intersections. Two families both claim the same garden. There is no map, no judge, no leader. A small card on the floor reads that question above.</a:t>
            </a:r>
            <a:endParaRPr lang="en-US" sz="1400" dirty="0"/>
          </a:p>
        </p:txBody>
      </p:sp>
      <p:sp>
        <p:nvSpPr>
          <p:cNvPr id="8" name="Text 5"/>
          <p:cNvSpPr/>
          <p:nvPr/>
        </p:nvSpPr>
        <p:spPr>
          <a:xfrm>
            <a:off x="1219200" y="4876800"/>
            <a:ext cx="9387840" cy="853440"/>
          </a:xfrm>
          <a:prstGeom prst="rect">
            <a:avLst/>
          </a:prstGeom>
          <a:noFill/>
          <a:ln/>
        </p:spPr>
        <p:txBody>
          <a:bodyPr wrap="square" lIns="0" tIns="0" rIns="0" bIns="0" rtlCol="0" anchor="t"/>
          <a:lstStyle/>
          <a:p>
            <a:pPr algn="ctr" indent="0" marL="0">
              <a:buNone/>
            </a:pPr>
            <a:r>
              <a:rPr lang="en-US" sz="1300" i="1" dirty="0">
                <a:solidFill>
                  <a:srgbClr val="EAF8FD"/>
                </a:solidFill>
                <a:latin typeface="Calibri" pitchFamily="34" charset="0"/>
                <a:ea typeface="Calibri" pitchFamily="34" charset="-122"/>
                <a:cs typeface="Calibri" pitchFamily="34" charset="-120"/>
              </a:rPr>
              <a:t>Today you put on a new apron -- Civic Curator -- and figure out why every real community needs government.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3657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NEW ROUTINE · FOUNDING WORDS</a:t>
            </a:r>
            <a:endParaRPr lang="en-US" sz="1100" dirty="0"/>
          </a:p>
        </p:txBody>
      </p:sp>
      <p:sp>
        <p:nvSpPr>
          <p:cNvPr id="3" name="Text 1"/>
          <p:cNvSpPr/>
          <p:nvPr/>
        </p:nvSpPr>
        <p:spPr>
          <a:xfrm>
            <a:off x="609600" y="792480"/>
            <a:ext cx="10972800" cy="67056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Words the Curators Never Take Off Display</a:t>
            </a:r>
            <a:endParaRPr lang="en-US" sz="2400" dirty="0"/>
          </a:p>
        </p:txBody>
      </p:sp>
      <p:sp>
        <p:nvSpPr>
          <p:cNvPr id="4" name="Text 2"/>
          <p:cNvSpPr/>
          <p:nvPr/>
        </p:nvSpPr>
        <p:spPr>
          <a:xfrm>
            <a:off x="1097280" y="1524000"/>
            <a:ext cx="9997440" cy="103632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Starting today, every lesson in Citizenship Hall opens a glass case holding real words from real founding documents. We read them slowly, as evidence -- not because we understand every word yet, but because these are the words the whole hall is built on.</a:t>
            </a:r>
            <a:endParaRPr lang="en-US" sz="1250" dirty="0"/>
          </a:p>
        </p:txBody>
      </p:sp>
      <p:sp>
        <p:nvSpPr>
          <p:cNvPr id="5" name="Shape 3"/>
          <p:cNvSpPr/>
          <p:nvPr/>
        </p:nvSpPr>
        <p:spPr>
          <a:xfrm>
            <a:off x="853440" y="2682240"/>
            <a:ext cx="10485120" cy="2926080"/>
          </a:xfrm>
          <a:prstGeom prst="roundRect">
            <a:avLst>
              <a:gd name="adj" fmla="val 6250"/>
            </a:avLst>
          </a:prstGeom>
          <a:solidFill>
            <a:srgbClr val="1A2D5A"/>
          </a:solidFill>
          <a:ln w="19050">
            <a:solidFill>
              <a:srgbClr val="D4943A"/>
            </a:solidFill>
            <a:prstDash val="solid"/>
          </a:ln>
        </p:spPr>
      </p:sp>
      <p:sp>
        <p:nvSpPr>
          <p:cNvPr id="6" name="Text 4"/>
          <p:cNvSpPr/>
          <p:nvPr/>
        </p:nvSpPr>
        <p:spPr>
          <a:xfrm>
            <a:off x="1158240" y="2865120"/>
            <a:ext cx="9875520" cy="365760"/>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PRIMARY SOURCE · PREAMBLE OF THE U.S. CONSTITUTION, 1787</a:t>
            </a:r>
            <a:endParaRPr lang="en-US" sz="1000" dirty="0"/>
          </a:p>
        </p:txBody>
      </p:sp>
      <p:sp>
        <p:nvSpPr>
          <p:cNvPr id="7" name="Text 5"/>
          <p:cNvSpPr/>
          <p:nvPr/>
        </p:nvSpPr>
        <p:spPr>
          <a:xfrm>
            <a:off x="1158240" y="3291840"/>
            <a:ext cx="9875520" cy="2133600"/>
          </a:xfrm>
          <a:prstGeom prst="rect">
            <a:avLst/>
          </a:prstGeom>
          <a:noFill/>
          <a:ln/>
        </p:spPr>
        <p:txBody>
          <a:bodyPr wrap="square" lIns="0" tIns="0" rIns="0" bIns="0"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"We the People of the United States, in Order to form a more perfect Union, establish Justice, insure domestic Tranquility, provide for the common defence, promote the general Welfare, and secure the Blessings of Liberty to ourselves and our Posterity, do ordain and establish this Constitution for the United States of America."</a:t>
            </a:r>
            <a:endParaRPr lang="en-US" sz="1350" dirty="0"/>
          </a:p>
        </p:txBody>
      </p:sp>
      <p:sp>
        <p:nvSpPr>
          <p:cNvPr id="8" name="Text 6"/>
          <p:cNvSpPr/>
          <p:nvPr/>
        </p:nvSpPr>
        <p:spPr>
          <a:xfrm>
            <a:off x="1097280" y="5791200"/>
            <a:ext cx="99974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Just look and listen for now -- we will come back to these exact words later in the lesson.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85344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Service</a:t>
            </a:r>
            <a:endParaRPr lang="en-US" sz="3200" dirty="0"/>
          </a:p>
        </p:txBody>
      </p:sp>
      <p:sp>
        <p:nvSpPr>
          <p:cNvPr id="4" name="Shape 2"/>
          <p:cNvSpPr/>
          <p:nvPr/>
        </p:nvSpPr>
        <p:spPr>
          <a:xfrm>
            <a:off x="853440" y="1889760"/>
            <a:ext cx="10485120" cy="2560320"/>
          </a:xfrm>
          <a:prstGeom prst="roundRect">
            <a:avLst>
              <a:gd name="adj" fmla="val 5714"/>
            </a:avLst>
          </a:prstGeom>
          <a:solidFill>
            <a:srgbClr val="1A2D5A"/>
          </a:solidFill>
          <a:ln/>
        </p:spPr>
      </p:sp>
      <p:sp>
        <p:nvSpPr>
          <p:cNvPr id="5" name="Text 3"/>
          <p:cNvSpPr/>
          <p:nvPr/>
        </p:nvSpPr>
        <p:spPr>
          <a:xfrm>
            <a:off x="1158240" y="2133600"/>
            <a:ext cx="9875520" cy="20726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 government is people serving other people. Mayors, judges, firefighters, and voters all give time and effort so the whole community can be safe and fair. Today, as you walk through the hall, notice the small ways people serve their community -- not just lead it.</a:t>
            </a:r>
            <a:endParaRPr lang="en-US" sz="1500" dirty="0"/>
          </a:p>
        </p:txBody>
      </p:sp>
      <p:sp>
        <p:nvSpPr>
          <p:cNvPr id="6" name="Text 4"/>
          <p:cNvSpPr/>
          <p:nvPr/>
        </p:nvSpPr>
        <p:spPr>
          <a:xfrm>
            <a:off x="853440" y="4693920"/>
            <a:ext cx="10485120" cy="1097280"/>
          </a:xfrm>
          <a:prstGeom prst="rect">
            <a:avLst/>
          </a:prstGeom>
          <a:noFill/>
          <a:ln/>
        </p:spPr>
        <p:txBody>
          <a:bodyPr wrap="square" lIns="0" tIns="0" rIns="0" bIns="0" rtlCol="0" anchor="t"/>
          <a:lstStyle/>
          <a:p>
            <a:pPr algn="ctr" indent="0" marL="0">
              <a:buNone/>
            </a:pPr>
            <a:r>
              <a:rPr lang="en-US" sz="1300" i="1" dirty="0">
                <a:solidFill>
                  <a:srgbClr val="EAF8FD"/>
                </a:solidFill>
                <a:latin typeface="Calibri" pitchFamily="34" charset="0"/>
                <a:ea typeface="Calibri" pitchFamily="34" charset="-122"/>
                <a:cs typeface="Calibri" pitchFamily="34" charset="-120"/>
              </a:rPr>
              <a:t>Your Role Today: You are a Civic Curator -- your job is to set up the exhibits in Citizenship Hall so visitors understand how people live together as one community.</a:t>
            </a:r>
            <a:endParaRPr lang="en-US" sz="1300" dirty="0"/>
          </a:p>
        </p:txBody>
      </p:sp>
      <p:sp>
        <p:nvSpPr>
          <p:cNvPr id="7" name="Text 5"/>
          <p:cNvSpPr/>
          <p:nvPr/>
        </p:nvSpPr>
        <p:spPr>
          <a:xfrm>
            <a:off x="853440" y="5730240"/>
            <a:ext cx="10485120" cy="487680"/>
          </a:xfrm>
          <a:prstGeom prst="rect">
            <a:avLst/>
          </a:prstGeom>
          <a:noFill/>
          <a:ln/>
        </p:spPr>
        <p:txBody>
          <a:bodyPr wrap="square" lIns="0" tIns="0" rIns="0" bIns="0"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Today you'll write the very first label: Why government is needed.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WORD ROOTS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Root Hiding in Every Word This Unit</a:t>
            </a:r>
            <a:endParaRPr lang="en-US" sz="2800" dirty="0"/>
          </a:p>
        </p:txBody>
      </p:sp>
      <p:sp>
        <p:nvSpPr>
          <p:cNvPr id="4" name="Shape 2"/>
          <p:cNvSpPr/>
          <p:nvPr/>
        </p:nvSpPr>
        <p:spPr>
          <a:xfrm>
            <a:off x="609600" y="1645920"/>
            <a:ext cx="560832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56083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24256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illustration of an ancient Roman stone carved with the Latin word CIVIS, with faint modern words glowing around it: citizen, civic, civil, civilization.</a:t>
            </a:r>
            <a:endParaRPr lang="en-US" sz="1100" dirty="0"/>
          </a:p>
        </p:txBody>
      </p:sp>
      <p:sp>
        <p:nvSpPr>
          <p:cNvPr id="7" name="Text 5"/>
          <p:cNvSpPr/>
          <p:nvPr/>
        </p:nvSpPr>
        <p:spPr>
          <a:xfrm>
            <a:off x="6522720" y="1645920"/>
            <a:ext cx="4693920" cy="134112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Latin Root: civis -- "citizen, member of a city." Look at these four words. What do citizen, civic, civil, and civilization have in common?</a:t>
            </a:r>
            <a:endParaRPr lang="en-US" sz="1250" dirty="0"/>
          </a:p>
        </p:txBody>
      </p:sp>
      <p:sp>
        <p:nvSpPr>
          <p:cNvPr id="8" name="Shape 6"/>
          <p:cNvSpPr/>
          <p:nvPr/>
        </p:nvSpPr>
        <p:spPr>
          <a:xfrm>
            <a:off x="6522720" y="3108960"/>
            <a:ext cx="4693920" cy="2072640"/>
          </a:xfrm>
          <a:prstGeom prst="roundRect">
            <a:avLst>
              <a:gd name="adj" fmla="val 8824"/>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766560" y="3230880"/>
            <a:ext cx="42062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766560" y="3572256"/>
            <a:ext cx="4206240" cy="14874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part of the word citizen do you notice repeating in civic and civilization?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that root have to do with living in a community?</a:t>
            </a:r>
            <a:endParaRPr lang="en-US" sz="1100" dirty="0"/>
          </a:p>
        </p:txBody>
      </p:sp>
      <p:sp>
        <p:nvSpPr>
          <p:cNvPr id="11" name="Shape 9"/>
          <p:cNvSpPr/>
          <p:nvPr/>
        </p:nvSpPr>
        <p:spPr>
          <a:xfrm>
            <a:off x="609600" y="5364480"/>
            <a:ext cx="10607040" cy="1036320"/>
          </a:xfrm>
          <a:prstGeom prst="roundRect">
            <a:avLst>
              <a:gd name="adj" fmla="val 14118"/>
            </a:avLst>
          </a:prstGeom>
          <a:solidFill>
            <a:srgbClr val="FFF3DC"/>
          </a:solidFill>
          <a:ln w="19050">
            <a:solidFill>
              <a:srgbClr val="F5E6C8"/>
            </a:solidFill>
            <a:prstDash val="solid"/>
          </a:ln>
        </p:spPr>
      </p:sp>
      <p:sp>
        <p:nvSpPr>
          <p:cNvPr id="12" name="Text 10"/>
          <p:cNvSpPr/>
          <p:nvPr/>
        </p:nvSpPr>
        <p:spPr>
          <a:xfrm>
            <a:off x="792480" y="543763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92480" y="5705856"/>
            <a:ext cx="10241280" cy="609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words all share..."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civis might mean..."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036320"/>
            <a:ext cx="10972800" cy="79248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civis -- "a person who takes care of a city"</a:t>
            </a:r>
            <a:endParaRPr lang="en-US" sz="2400" dirty="0"/>
          </a:p>
        </p:txBody>
      </p:sp>
      <p:sp>
        <p:nvSpPr>
          <p:cNvPr id="4" name="Text 2"/>
          <p:cNvSpPr/>
          <p:nvPr/>
        </p:nvSpPr>
        <p:spPr>
          <a:xfrm>
            <a:off x="1219200" y="2011680"/>
            <a:ext cx="9753600" cy="146304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When the Romans used civis, it didn't just mean someone who lived in a place -- it meant someone who helped take care of it. The word city comes from this same root: to the Romans, a city wasn't just buildings, it was the people who agreed to share it.</a:t>
            </a:r>
            <a:endParaRPr lang="en-US" sz="1400" dirty="0"/>
          </a:p>
        </p:txBody>
      </p:sp>
      <p:sp>
        <p:nvSpPr>
          <p:cNvPr id="5" name="Shape 3"/>
          <p:cNvSpPr/>
          <p:nvPr/>
        </p:nvSpPr>
        <p:spPr>
          <a:xfrm>
            <a:off x="1584960" y="3596640"/>
            <a:ext cx="9022080" cy="1889760"/>
          </a:xfrm>
          <a:prstGeom prst="roundRect">
            <a:avLst>
              <a:gd name="adj" fmla="val 7742"/>
            </a:avLst>
          </a:prstGeom>
          <a:solidFill>
            <a:srgbClr val="1A2D5A"/>
          </a:solidFill>
          <a:ln w="19050">
            <a:solidFill>
              <a:srgbClr val="8B6FC0"/>
            </a:solidFill>
            <a:prstDash val="solid"/>
          </a:ln>
        </p:spPr>
      </p:sp>
      <p:sp>
        <p:nvSpPr>
          <p:cNvPr id="6" name="Text 4"/>
          <p:cNvSpPr/>
          <p:nvPr/>
        </p:nvSpPr>
        <p:spPr>
          <a:xfrm>
            <a:off x="1889760" y="3779520"/>
            <a:ext cx="8412480" cy="1463040"/>
          </a:xfrm>
          <a:prstGeom prst="rect">
            <a:avLst/>
          </a:prstGeom>
          <a:noFill/>
          <a:ln/>
        </p:spPr>
        <p:txBody>
          <a:bodyPr wrap="square" lIns="0" tIns="0" rIns="0" bIns="0"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COPYWORK: "A government is a group of people chosen to take care of a community."</a:t>
            </a:r>
            <a:endParaRPr lang="en-US" sz="1400" dirty="0"/>
          </a:p>
        </p:txBody>
      </p:sp>
      <p:sp>
        <p:nvSpPr>
          <p:cNvPr id="7" name="Text 5"/>
          <p:cNvSpPr/>
          <p:nvPr/>
        </p:nvSpPr>
        <p:spPr>
          <a:xfrm>
            <a:off x="1219200" y="5730240"/>
            <a:ext cx="9753600" cy="48768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Copy this into your Curator's Notebook. Notice the words chosen and take care of.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A Town With No Rules</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busy intersection with no stop signs and two toy cars stopped nose-to-nose, drivers leaning out confused, and two families arguing over a shared garden fence in the background.</a:t>
            </a:r>
            <a:endParaRPr lang="en-US" sz="1100" dirty="0"/>
          </a:p>
        </p:txBody>
      </p:sp>
      <p:sp>
        <p:nvSpPr>
          <p:cNvPr id="7" name="Text 5"/>
          <p:cNvSpPr/>
          <p:nvPr/>
        </p:nvSpPr>
        <p:spPr>
          <a:xfrm>
            <a:off x="7010400" y="1645920"/>
            <a:ext cx="4267200" cy="15849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Imagine your town tomorrow with no stop signs. Sounds fun for about ten minutes -- then somebody's car crashes. Watch this display closely. What is going wrong?</a:t>
            </a:r>
            <a:endParaRPr lang="en-US" sz="1250" dirty="0"/>
          </a:p>
        </p:txBody>
      </p:sp>
      <p:sp>
        <p:nvSpPr>
          <p:cNvPr id="8" name="Shape 6"/>
          <p:cNvSpPr/>
          <p:nvPr/>
        </p:nvSpPr>
        <p:spPr>
          <a:xfrm>
            <a:off x="7010400" y="3352800"/>
            <a:ext cx="4206240" cy="1828800"/>
          </a:xfrm>
          <a:prstGeom prst="roundRect">
            <a:avLst>
              <a:gd name="adj" fmla="val 8000"/>
            </a:avLst>
          </a:prstGeom>
          <a:solidFill>
            <a:srgbClr val="FFF3DC"/>
          </a:solidFill>
          <a:ln w="19050">
            <a:solidFill>
              <a:srgbClr val="F5E6C8"/>
            </a:solidFill>
            <a:prstDash val="solid"/>
          </a:ln>
        </p:spPr>
      </p:sp>
      <p:sp>
        <p:nvSpPr>
          <p:cNvPr id="9" name="Text 7"/>
          <p:cNvSpPr/>
          <p:nvPr/>
        </p:nvSpPr>
        <p:spPr>
          <a:xfrm>
            <a:off x="7193280" y="342595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694176"/>
            <a:ext cx="384048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a problem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at the whole display before we discuss.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Whose Turn Is It?</a:t>
            </a:r>
            <a:endParaRPr lang="en-US" sz="28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Stop signs decide whose turn it is at an intersection. Property lines decide whose garden is whose. Rules tell people what to do when their wants bump into someone else's.</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Without these rules, every small disagreement turns into a big argument.</a:t>
            </a:r>
            <a:endParaRPr lang="en-US" sz="130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the town has a problem?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a stop sign solve a disagreement before it even starts?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neighbors solve the garden problem without any rule at all?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7315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 · JOB ONE</a:t>
            </a:r>
            <a:endParaRPr lang="en-US" sz="1100" dirty="0"/>
          </a:p>
        </p:txBody>
      </p:sp>
      <p:sp>
        <p:nvSpPr>
          <p:cNvPr id="3" name="Text 1"/>
          <p:cNvSpPr/>
          <p:nvPr/>
        </p:nvSpPr>
        <p:spPr>
          <a:xfrm>
            <a:off x="609600" y="1219200"/>
            <a:ext cx="10972800" cy="85344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Order</a:t>
            </a:r>
            <a:endParaRPr lang="en-US" sz="3600" dirty="0"/>
          </a:p>
        </p:txBody>
      </p:sp>
      <p:sp>
        <p:nvSpPr>
          <p:cNvPr id="4" name="Text 2"/>
          <p:cNvSpPr/>
          <p:nvPr/>
        </p:nvSpPr>
        <p:spPr>
          <a:xfrm>
            <a:off x="1341120" y="2255520"/>
            <a:ext cx="9144000" cy="182880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Order means having rules that tell people what to do when their wants bump into someone else's. A stop sign decides whose turn it is. A property line decides whose garden is whose. Without order, even friendly neighbors run into problems.</a:t>
            </a:r>
            <a:endParaRPr lang="en-US" sz="1500" dirty="0"/>
          </a:p>
        </p:txBody>
      </p:sp>
      <p:sp>
        <p:nvSpPr>
          <p:cNvPr id="5" name="Text 3"/>
          <p:cNvSpPr/>
          <p:nvPr/>
        </p:nvSpPr>
        <p:spPr>
          <a:xfrm>
            <a:off x="1341120" y="548640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the job of government you just discovered.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Jobs Too Big for One Family</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firefighter putting out a house fire with a hose while a police officer and a water inspector work nearby -- a sense that these are large, specialized jobs no single family could do alone.</a:t>
            </a:r>
            <a:endParaRPr lang="en-US" sz="1100" dirty="0"/>
          </a:p>
        </p:txBody>
      </p:sp>
      <p:sp>
        <p:nvSpPr>
          <p:cNvPr id="7" name="Text 5"/>
          <p:cNvSpPr/>
          <p:nvPr/>
        </p:nvSpPr>
        <p:spPr>
          <a:xfrm>
            <a:off x="7010400" y="1645920"/>
            <a:ext cx="4267200" cy="14020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Putting out fires. Stopping crime. Cleaning the water before it reaches your sink. Could one family do all of this alone?</a:t>
            </a:r>
            <a:endParaRPr lang="en-US" sz="1250" dirty="0"/>
          </a:p>
        </p:txBody>
      </p:sp>
      <p:sp>
        <p:nvSpPr>
          <p:cNvPr id="8" name="Shape 6"/>
          <p:cNvSpPr/>
          <p:nvPr/>
        </p:nvSpPr>
        <p:spPr>
          <a:xfrm>
            <a:off x="7010400" y="3169920"/>
            <a:ext cx="420624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511296"/>
            <a:ext cx="384048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jobs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family couldn't do this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What do all three jobs in the picture have in common?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Who Keeps Everyone Safe?</a:t>
            </a:r>
            <a:endParaRPr lang="en-US" sz="28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Some jobs are too big for one family. A government hires people -- firefighters, police officers, water inspectors -- to keep everyone safe.</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These workers are paid to protect the whole community, not just one house.</a:t>
            </a:r>
            <a:endParaRPr lang="en-US" sz="130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can't one family fight a house fire alone the way a fire department can?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to a neighborhood if no one had this job?</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way to keep a whole town safe without a government?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7315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 · JOB TWO</a:t>
            </a:r>
            <a:endParaRPr lang="en-US" sz="1100" dirty="0"/>
          </a:p>
        </p:txBody>
      </p:sp>
      <p:sp>
        <p:nvSpPr>
          <p:cNvPr id="3" name="Text 1"/>
          <p:cNvSpPr/>
          <p:nvPr/>
        </p:nvSpPr>
        <p:spPr>
          <a:xfrm>
            <a:off x="609600" y="1219200"/>
            <a:ext cx="10972800" cy="85344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Safety</a:t>
            </a:r>
            <a:endParaRPr lang="en-US" sz="3600" dirty="0"/>
          </a:p>
        </p:txBody>
      </p:sp>
      <p:sp>
        <p:nvSpPr>
          <p:cNvPr id="4" name="Text 2"/>
          <p:cNvSpPr/>
          <p:nvPr/>
        </p:nvSpPr>
        <p:spPr>
          <a:xfrm>
            <a:off x="1341120" y="2255520"/>
            <a:ext cx="9144000" cy="195072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Safety means protecting the whole community from danger. Some jobs -- putting out fires, stopping crime, cleaning water -- are too big for one family. A government hires firefighters, police officers, and water inspectors to keep everyone safe.</a:t>
            </a:r>
            <a:endParaRPr lang="en-US" sz="1500" dirty="0"/>
          </a:p>
        </p:txBody>
      </p:sp>
      <p:sp>
        <p:nvSpPr>
          <p:cNvPr id="5" name="Text 3"/>
          <p:cNvSpPr/>
          <p:nvPr/>
        </p:nvSpPr>
        <p:spPr>
          <a:xfrm>
            <a:off x="1341120" y="554736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both jobs of government you've found so far.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Things Everyone Shares</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public park, a school, a library, and a paved road side by side, with many different families and children using each one -- communicating that these places belong to everyone in the community.</a:t>
            </a:r>
            <a:endParaRPr lang="en-US" sz="1100" dirty="0"/>
          </a:p>
        </p:txBody>
      </p:sp>
      <p:sp>
        <p:nvSpPr>
          <p:cNvPr id="7" name="Text 5"/>
          <p:cNvSpPr/>
          <p:nvPr/>
        </p:nvSpPr>
        <p:spPr>
          <a:xfrm>
            <a:off x="7010400" y="1645920"/>
            <a:ext cx="4267200" cy="12192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A public school. A park. A road. A library. Who gets to use these? Who paid for them?</a:t>
            </a:r>
            <a:endParaRPr lang="en-US" sz="1250" dirty="0"/>
          </a:p>
        </p:txBody>
      </p:sp>
      <p:sp>
        <p:nvSpPr>
          <p:cNvPr id="8" name="Shape 6"/>
          <p:cNvSpPr/>
          <p:nvPr/>
        </p:nvSpPr>
        <p:spPr>
          <a:xfrm>
            <a:off x="7010400" y="2987040"/>
            <a:ext cx="4206240" cy="2133600"/>
          </a:xfrm>
          <a:prstGeom prst="roundRect">
            <a:avLst>
              <a:gd name="adj" fmla="val 6857"/>
            </a:avLst>
          </a:prstGeom>
          <a:solidFill>
            <a:srgbClr val="FFF3DC"/>
          </a:solidFill>
          <a:ln w="19050">
            <a:solidFill>
              <a:srgbClr val="F5E6C8"/>
            </a:solidFill>
            <a:prstDash val="solid"/>
          </a:ln>
        </p:spPr>
      </p:sp>
      <p:sp>
        <p:nvSpPr>
          <p:cNvPr id="9" name="Text 7"/>
          <p:cNvSpPr/>
          <p:nvPr/>
        </p:nvSpPr>
        <p:spPr>
          <a:xfrm>
            <a:off x="7193280" y="30601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328416"/>
            <a:ext cx="3840480" cy="1706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everyone in the picture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places belong to..."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Belongs to Everyone?</a:t>
            </a:r>
            <a:endParaRPr lang="en-US" sz="28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The common good means the things that help everyone, not just one person. Public schools, parks, roads, and libraries are for everyone in the community to use.</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A government collects a little money from everyone -- called taxes -- so it can pay for the things that help all of us.</a:t>
            </a:r>
            <a:endParaRPr lang="en-US" sz="125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argue if they said, 'I shouldn't have to help pay for a park I never visit'?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paying a little for something everyone shares?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 three jobs -- order, safety, common good -- shows up most in your day?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8768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 · JOB THREE</a:t>
            </a:r>
            <a:endParaRPr lang="en-US" sz="1100" dirty="0"/>
          </a:p>
        </p:txBody>
      </p:sp>
      <p:sp>
        <p:nvSpPr>
          <p:cNvPr id="3" name="Text 1"/>
          <p:cNvSpPr/>
          <p:nvPr/>
        </p:nvSpPr>
        <p:spPr>
          <a:xfrm>
            <a:off x="609600" y="914400"/>
            <a:ext cx="10972800" cy="7315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The Common Good</a:t>
            </a:r>
            <a:endParaRPr lang="en-US" sz="3000" dirty="0"/>
          </a:p>
        </p:txBody>
      </p:sp>
      <p:sp>
        <p:nvSpPr>
          <p:cNvPr id="4" name="Text 2"/>
          <p:cNvSpPr/>
          <p:nvPr/>
        </p:nvSpPr>
        <p:spPr>
          <a:xfrm>
            <a:off x="1219200" y="1706880"/>
            <a:ext cx="9753600" cy="1158240"/>
          </a:xfrm>
          <a:prstGeom prst="rect">
            <a:avLst/>
          </a:prstGeom>
          <a:noFill/>
          <a:ln/>
        </p:spPr>
        <p:txBody>
          <a:bodyPr wrap="square" lIns="0" tIns="0" rIns="0" bIns="0" rtlCol="0" anchor="t"/>
          <a:lstStyle/>
          <a:p>
            <a:pPr algn="ctr" indent="0" marL="0">
              <a:buNone/>
            </a:pPr>
            <a:r>
              <a:rPr lang="en-US" sz="1350" dirty="0">
                <a:solidFill>
                  <a:srgbClr val="FFFFFF"/>
                </a:solidFill>
                <a:latin typeface="Calibri" pitchFamily="34" charset="0"/>
                <a:ea typeface="Calibri" pitchFamily="34" charset="-122"/>
                <a:cs typeface="Calibri" pitchFamily="34" charset="-120"/>
              </a:rPr>
              <a:t>The common good means the things that help everyone -- schools, parks, roads, libraries -- paid for with taxes so everyone can use them.</a:t>
            </a:r>
            <a:endParaRPr lang="en-US" sz="1350" dirty="0"/>
          </a:p>
        </p:txBody>
      </p:sp>
      <p:sp>
        <p:nvSpPr>
          <p:cNvPr id="5" name="Shape 3"/>
          <p:cNvSpPr/>
          <p:nvPr/>
        </p:nvSpPr>
        <p:spPr>
          <a:xfrm>
            <a:off x="853440" y="2987040"/>
            <a:ext cx="10485120" cy="2499360"/>
          </a:xfrm>
          <a:prstGeom prst="roundRect">
            <a:avLst>
              <a:gd name="adj" fmla="val 5854"/>
            </a:avLst>
          </a:prstGeom>
          <a:solidFill>
            <a:srgbClr val="1A2D5A"/>
          </a:solidFill>
          <a:ln w="19050">
            <a:solidFill>
              <a:srgbClr val="D4943A"/>
            </a:solidFill>
            <a:prstDash val="dash"/>
          </a:ln>
        </p:spPr>
      </p:sp>
      <p:sp>
        <p:nvSpPr>
          <p:cNvPr id="6" name="Text 4"/>
          <p:cNvSpPr/>
          <p:nvPr/>
        </p:nvSpPr>
        <p:spPr>
          <a:xfrm>
            <a:off x="1158240" y="3169920"/>
            <a:ext cx="9875520" cy="341376"/>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BACK TO THE FOUNDING WORDS</a:t>
            </a:r>
            <a:endParaRPr lang="en-US" sz="1000" dirty="0"/>
          </a:p>
        </p:txBody>
      </p:sp>
      <p:sp>
        <p:nvSpPr>
          <p:cNvPr id="7" name="Text 5"/>
          <p:cNvSpPr/>
          <p:nvPr/>
        </p:nvSpPr>
        <p:spPr>
          <a:xfrm>
            <a:off x="1158240" y="3596640"/>
            <a:ext cx="9875520" cy="1706880"/>
          </a:xfrm>
          <a:prstGeom prst="rect">
            <a:avLst/>
          </a:prstGeom>
          <a:noFill/>
          <a:ln/>
        </p:spPr>
        <p:txBody>
          <a:bodyPr wrap="square" lIns="0" tIns="0" rIns="0" bIns="0" rtlCol="0" anchor="t"/>
          <a:lstStyle/>
          <a:p>
            <a:pPr indent="0" marL="0">
              <a:buNone/>
            </a:pPr>
            <a:r>
              <a:rPr lang="en-US" sz="1250" i="1" dirty="0">
                <a:solidFill>
                  <a:srgbClr val="FFFFFF"/>
                </a:solidFill>
                <a:latin typeface="Cambria" pitchFamily="34" charset="0"/>
                <a:ea typeface="Cambria" pitchFamily="34" charset="-122"/>
                <a:cs typeface="Cambria" pitchFamily="34" charset="-120"/>
              </a:rPr>
              <a:t>Remember the Preamble? "...establish Justice, insure domestic Tranquility, provide for the common defence, promote the general Welfare..." Justice matches order. Defence matches safety. General Welfare matches the common good -- three jobs, hiding in one very old sentence.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Matching a Job to an Example</a:t>
            </a:r>
            <a:endParaRPr lang="en-US" sz="2800" dirty="0"/>
          </a:p>
        </p:txBody>
      </p:sp>
      <p:sp>
        <p:nvSpPr>
          <p:cNvPr id="4" name="Shape 2"/>
          <p:cNvSpPr/>
          <p:nvPr/>
        </p:nvSpPr>
        <p:spPr>
          <a:xfrm>
            <a:off x="609600" y="1584960"/>
            <a:ext cx="10607040" cy="3657600"/>
          </a:xfrm>
          <a:prstGeom prst="roundRect">
            <a:avLst>
              <a:gd name="adj" fmla="val 4000"/>
            </a:avLst>
          </a:prstGeom>
          <a:solidFill>
            <a:srgbClr val="EAF8FD"/>
          </a:solidFill>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682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"Evidence Question 2 asks me to pick one job and give a real example. I'll say it out loud first: I pick safety. A real example is a firefighter putting out a fire at a neighbor's house. That's safety because putting out a fire is too big a job for one family -- the whole community pays for a fire department so everyone stays protected."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Fix the Garden Problem</a:t>
            </a:r>
            <a:endParaRPr lang="en-US" sz="2800" dirty="0"/>
          </a:p>
        </p:txBody>
      </p:sp>
      <p:sp>
        <p:nvSpPr>
          <p:cNvPr id="4" name="Text 2"/>
          <p:cNvSpPr/>
          <p:nvPr/>
        </p:nvSpPr>
        <p:spPr>
          <a:xfrm>
            <a:off x="609600" y="1584960"/>
            <a:ext cx="10607040" cy="792480"/>
          </a:xfrm>
          <a:prstGeom prst="rect">
            <a:avLst/>
          </a:prstGeom>
          <a:noFill/>
          <a:ln/>
        </p:spPr>
        <p:txBody>
          <a:bodyPr wrap="square" lIns="0" tIns="0" rIns="0" bIns="0" rtlCol="0" anchor="t"/>
          <a:lstStyle/>
          <a:p>
            <a:pPr indent="0" marL="0">
              <a:buNone/>
            </a:pPr>
            <a:r>
              <a:rPr lang="en-US" sz="1350" b="1" dirty="0">
                <a:solidFill>
                  <a:srgbClr val="0E1C42"/>
                </a:solidFill>
                <a:latin typeface="Calibri" pitchFamily="34" charset="0"/>
                <a:ea typeface="Calibri" pitchFamily="34" charset="-122"/>
                <a:cs typeface="Calibri" pitchFamily="34" charset="-120"/>
              </a:rPr>
              <a:t>Back to the town-with-no-rules display: two families are fighting over the same garden. As a class, let's decide which job of government solves this.</a:t>
            </a:r>
            <a:endParaRPr lang="en-US" sz="1350" dirty="0"/>
          </a:p>
        </p:txBody>
      </p:sp>
      <p:sp>
        <p:nvSpPr>
          <p:cNvPr id="5" name="Shape 3"/>
          <p:cNvSpPr/>
          <p:nvPr/>
        </p:nvSpPr>
        <p:spPr>
          <a:xfrm>
            <a:off x="609600" y="2560320"/>
            <a:ext cx="10607040" cy="225552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68224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3023616"/>
            <a:ext cx="10119360" cy="16703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 garden problem about order, safety, or the common good? What do you see that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a government do to fix this -- a rule, a worker, or a shared place?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this problem match more than one job? Explain.</a:t>
            </a:r>
            <a:endParaRPr lang="en-US" sz="1100" dirty="0"/>
          </a:p>
        </p:txBody>
      </p:sp>
      <p:sp>
        <p:nvSpPr>
          <p:cNvPr id="8" name="Shape 6"/>
          <p:cNvSpPr/>
          <p:nvPr/>
        </p:nvSpPr>
        <p:spPr>
          <a:xfrm>
            <a:off x="609600" y="4937760"/>
            <a:ext cx="10607040" cy="1341120"/>
          </a:xfrm>
          <a:prstGeom prst="roundRect">
            <a:avLst>
              <a:gd name="adj" fmla="val 10909"/>
            </a:avLst>
          </a:prstGeom>
          <a:solidFill>
            <a:srgbClr val="FFF3DC"/>
          </a:solidFill>
          <a:ln w="19050">
            <a:solidFill>
              <a:srgbClr val="F5E6C8"/>
            </a:solidFill>
            <a:prstDash val="solid"/>
          </a:ln>
        </p:spPr>
      </p:sp>
      <p:sp>
        <p:nvSpPr>
          <p:cNvPr id="9" name="Text 7"/>
          <p:cNvSpPr/>
          <p:nvPr/>
        </p:nvSpPr>
        <p:spPr>
          <a:xfrm>
            <a:off x="792480" y="501091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279136"/>
            <a:ext cx="1024128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matches...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government could fix it by..."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Find the Mistake</a:t>
            </a:r>
            <a:endParaRPr lang="en-US" sz="2800" dirty="0"/>
          </a:p>
        </p:txBody>
      </p:sp>
      <p:sp>
        <p:nvSpPr>
          <p:cNvPr id="4" name="Shape 2"/>
          <p:cNvSpPr/>
          <p:nvPr/>
        </p:nvSpPr>
        <p:spPr>
          <a:xfrm>
            <a:off x="609600" y="1584960"/>
            <a:ext cx="10607040" cy="1706880"/>
          </a:xfrm>
          <a:prstGeom prst="roundRect">
            <a:avLst>
              <a:gd name="adj" fmla="val 8571"/>
            </a:avLst>
          </a:prstGeom>
          <a:solidFill>
            <a:srgbClr val="FDEEEE"/>
          </a:solidFill>
          <a:ln w="19050">
            <a:solidFill>
              <a:srgbClr val="E8636B"/>
            </a:solidFill>
            <a:prstDash val="solid"/>
          </a:ln>
        </p:spPr>
      </p:sp>
      <p:sp>
        <p:nvSpPr>
          <p:cNvPr id="5" name="Text 3"/>
          <p:cNvSpPr/>
          <p:nvPr/>
        </p:nvSpPr>
        <p:spPr>
          <a:xfrm>
            <a:off x="914400" y="1804416"/>
            <a:ext cx="9997440" cy="128016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"A stop sign is an example of the common good because everyone can see it."</a:t>
            </a:r>
            <a:endParaRPr lang="en-US" sz="1400" dirty="0"/>
          </a:p>
        </p:txBody>
      </p:sp>
      <p:sp>
        <p:nvSpPr>
          <p:cNvPr id="6" name="Shape 4"/>
          <p:cNvSpPr/>
          <p:nvPr/>
        </p:nvSpPr>
        <p:spPr>
          <a:xfrm>
            <a:off x="609600" y="3535680"/>
            <a:ext cx="10607040" cy="2804160"/>
          </a:xfrm>
          <a:prstGeom prst="roundRect">
            <a:avLst>
              <a:gd name="adj" fmla="val 652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65760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998976"/>
            <a:ext cx="10119360" cy="22189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mix up?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stop sign is really an example of which job, based on today's lesson?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sentence so it truly matches order, safety, or the common good?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Check Your Understanding</a:t>
            </a:r>
            <a:endParaRPr lang="en-US" sz="28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is a government?</a:t>
            </a:r>
            <a:endParaRPr lang="en-US" sz="130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 A group of people chosen to make rules and take care of a community.</a:t>
            </a:r>
            <a:endParaRPr lang="en-US" sz="125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Government is a group, and their job is to take care of the community, not just boss people around.</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What does common good mean?</a:t>
            </a:r>
            <a:endParaRPr lang="en-US" sz="130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 Things that help everyone in the community, not just one person.</a:t>
            </a:r>
            <a:endParaRPr lang="en-US" sz="125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Roads, parks, schools, clean water -- those are the common good.</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Which example shows government taking care of safety?</a:t>
            </a:r>
            <a:endParaRPr lang="en-US" sz="130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 A firefighter putting out a fire at a neighbor's house.</a:t>
            </a:r>
            <a:endParaRPr lang="en-US" sz="125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Fire protection is one of the safety jobs only a community-wide team can do.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WHAT YOU'LL TURN IN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Evidence Questions &amp; Curator Task</a:t>
            </a:r>
            <a:endParaRPr lang="en-US" sz="2800" dirty="0"/>
          </a:p>
        </p:txBody>
      </p:sp>
      <p:sp>
        <p:nvSpPr>
          <p:cNvPr id="4" name="Text 2"/>
          <p:cNvSpPr/>
          <p:nvPr/>
        </p:nvSpPr>
        <p:spPr>
          <a:xfrm>
            <a:off x="609600" y="1560576"/>
            <a:ext cx="10607040" cy="2499360"/>
          </a:xfrm>
          <a:prstGeom prst="rect">
            <a:avLst/>
          </a:prstGeom>
          <a:noFill/>
          <a:ln/>
        </p:spPr>
        <p:txBody>
          <a:bodyPr wrap="square" lIns="0" tIns="0" rIns="0" bIns="0" rtlCol="0" anchor="t"/>
          <a:lstStyle/>
          <a:p>
            <a:pPr indent="0" marL="0">
              <a:spcAft>
                <a:spcPts val="800"/>
              </a:spcAft>
              <a:buNone/>
            </a:pPr>
            <a:r>
              <a:rPr lang="en-US" sz="1150" dirty="0">
                <a:solidFill>
                  <a:srgbClr val="0E1C42"/>
                </a:solidFill>
                <a:latin typeface="Calibri" pitchFamily="34" charset="0"/>
                <a:ea typeface="Calibri" pitchFamily="34" charset="-122"/>
                <a:cs typeface="Calibri" pitchFamily="34" charset="-120"/>
              </a:rPr>
              <a:t>1. What are the three big jobs a government does for a community? Name all three. You can list them or use a sentence.</a:t>
            </a:r>
            <a:endParaRPr lang="en-US" sz="1150" dirty="0"/>
          </a:p>
          <a:p>
            <a:pPr indent="0" marL="0">
              <a:spcAft>
                <a:spcPts val="800"/>
              </a:spcAft>
              <a:buNone/>
            </a:pPr>
            <a:r>
              <a:rPr lang="en-US" sz="1150" dirty="0">
                <a:solidFill>
                  <a:srgbClr val="0E1C42"/>
                </a:solidFill>
                <a:latin typeface="Calibri" pitchFamily="34" charset="0"/>
                <a:ea typeface="Calibri" pitchFamily="34" charset="-122"/>
                <a:cs typeface="Calibri" pitchFamily="34" charset="-120"/>
              </a:rPr>
              <a:t>2. Pick one job -- order, safety, or the common good. Give one real example of how a government does that job in a town or city. Use a real example like a stop sign, a firefighter, a public school, or a park.</a:t>
            </a:r>
            <a:endParaRPr lang="en-US" sz="1150" dirty="0"/>
          </a:p>
          <a:p>
            <a:pPr indent="0" marL="0">
              <a:spcAft>
                <a:spcPts val="800"/>
              </a:spcAft>
              <a:buNone/>
            </a:pPr>
            <a:r>
              <a:rPr lang="en-US" sz="1150" dirty="0">
                <a:solidFill>
                  <a:srgbClr val="0E1C42"/>
                </a:solidFill>
                <a:latin typeface="Calibri" pitchFamily="34" charset="0"/>
                <a:ea typeface="Calibri" pitchFamily="34" charset="-122"/>
                <a:cs typeface="Calibri" pitchFamily="34" charset="-120"/>
              </a:rPr>
              <a:t>3. The "town with no rules" display showed neighbors fighting over a garden. Which job of government would solve that problem, and why? Match the problem to order, safety, or the common good. Then explain.</a:t>
            </a:r>
            <a:endParaRPr lang="en-US" sz="1150" dirty="0"/>
          </a:p>
        </p:txBody>
      </p:sp>
      <p:sp>
        <p:nvSpPr>
          <p:cNvPr id="5" name="Shape 3"/>
          <p:cNvSpPr/>
          <p:nvPr/>
        </p:nvSpPr>
        <p:spPr>
          <a:xfrm>
            <a:off x="609600" y="4145280"/>
            <a:ext cx="10607040" cy="2133600"/>
          </a:xfrm>
          <a:prstGeom prst="roundRect">
            <a:avLst>
              <a:gd name="adj" fmla="val 6857"/>
            </a:avLst>
          </a:prstGeom>
          <a:solidFill>
            <a:srgbClr val="FFF3DC"/>
          </a:solidFill>
          <a:ln/>
        </p:spPr>
      </p:sp>
      <p:sp>
        <p:nvSpPr>
          <p:cNvPr id="6" name="Text 4"/>
          <p:cNvSpPr/>
          <p:nvPr/>
        </p:nvSpPr>
        <p:spPr>
          <a:xfrm>
            <a:off x="853440" y="4267200"/>
            <a:ext cx="1011936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Curator Task: Write the First Exhibit Label</a:t>
            </a:r>
            <a:endParaRPr lang="en-US" sz="1200" dirty="0"/>
          </a:p>
        </p:txBody>
      </p:sp>
      <p:sp>
        <p:nvSpPr>
          <p:cNvPr id="7" name="Text 5"/>
          <p:cNvSpPr/>
          <p:nvPr/>
        </p:nvSpPr>
        <p:spPr>
          <a:xfrm>
            <a:off x="853440" y="4657344"/>
            <a:ext cx="10119360" cy="15240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You are the Civic Curator. Visitors will walk into Citizenship Hall and see the "town with no rules" display first. Your job is to write a short label -- 3 to 5 sentences -- that explains in simple words why a community needs a government. Use one real example as evidence. Include: (1) what a government is, (2) at least one job it does, and (3) one example.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CURATOR'S CHRONICLE · SUBMIT YOUR WORK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One Sentence, Then Turn It In</a:t>
            </a:r>
            <a:endParaRPr lang="en-US" sz="2800" dirty="0"/>
          </a:p>
        </p:txBody>
      </p:sp>
      <p:sp>
        <p:nvSpPr>
          <p:cNvPr id="4" name="Shape 2"/>
          <p:cNvSpPr/>
          <p:nvPr/>
        </p:nvSpPr>
        <p:spPr>
          <a:xfrm>
            <a:off x="731520" y="1524000"/>
            <a:ext cx="10363200" cy="1584960"/>
          </a:xfrm>
          <a:prstGeom prst="roundRect">
            <a:avLst>
              <a:gd name="adj" fmla="val 11538"/>
            </a:avLst>
          </a:prstGeom>
          <a:solidFill>
            <a:srgbClr val="FFFFFF"/>
          </a:solidFill>
          <a:ln w="19050">
            <a:solidFill>
              <a:srgbClr val="D4943A"/>
            </a:solidFill>
            <a:prstDash val="dash"/>
          </a:ln>
        </p:spPr>
      </p:sp>
      <p:sp>
        <p:nvSpPr>
          <p:cNvPr id="5" name="Text 3"/>
          <p:cNvSpPr/>
          <p:nvPr/>
        </p:nvSpPr>
        <p:spPr>
          <a:xfrm>
            <a:off x="1097280" y="1524000"/>
            <a:ext cx="9631680" cy="1584960"/>
          </a:xfrm>
          <a:prstGeom prst="rect">
            <a:avLst/>
          </a:prstGeom>
          <a:noFill/>
          <a:ln/>
        </p:spPr>
        <p:txBody>
          <a:bodyPr wrap="square" lIns="0" tIns="0" rIns="0" bIns="0" rtlCol="0" anchor="ctr"/>
          <a:lstStyle/>
          <a:p>
            <a:pPr algn="ctr" indent="0" marL="0">
              <a:buNone/>
            </a:pPr>
            <a:r>
              <a:rPr lang="en-US" sz="1700" i="1" dirty="0">
                <a:solidFill>
                  <a:srgbClr val="0E1C42"/>
                </a:solidFill>
                <a:latin typeface="Cambria" pitchFamily="34" charset="0"/>
                <a:ea typeface="Cambria" pitchFamily="34" charset="-122"/>
                <a:cs typeface="Cambria" pitchFamily="34" charset="-120"/>
              </a:rPr>
              <a:t>In this exhibit, I learned that ______ because ______.</a:t>
            </a:r>
            <a:endParaRPr lang="en-US" sz="1700" dirty="0"/>
          </a:p>
        </p:txBody>
      </p:sp>
      <p:sp>
        <p:nvSpPr>
          <p:cNvPr id="6" name="Text 4"/>
          <p:cNvSpPr/>
          <p:nvPr/>
        </p:nvSpPr>
        <p:spPr>
          <a:xfrm>
            <a:off x="731520" y="3267456"/>
            <a:ext cx="10363200" cy="365760"/>
          </a:xfrm>
          <a:prstGeom prst="rect">
            <a:avLst/>
          </a:prstGeom>
          <a:noFill/>
          <a:ln/>
        </p:spPr>
        <p:txBody>
          <a:bodyPr wrap="square" lIns="0" tIns="0" rIns="0" bIns="0"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Finish this sentence in your own words.</a:t>
            </a:r>
            <a:endParaRPr lang="en-US" sz="1200" dirty="0"/>
          </a:p>
        </p:txBody>
      </p:sp>
      <p:sp>
        <p:nvSpPr>
          <p:cNvPr id="7" name="Text 5"/>
          <p:cNvSpPr/>
          <p:nvPr/>
        </p:nvSpPr>
        <p:spPr>
          <a:xfrm>
            <a:off x="1036320" y="3840480"/>
            <a:ext cx="9753600" cy="2316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answered all three evidence questions.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wrote my exhibit label (3-5 sentences) with one example.</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wrote my Curator's Chronicle.</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 copied or downloaded my work and submitted to Canvas.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975360" y="1158240"/>
            <a:ext cx="9753600" cy="85344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First Label, Citizenship Hall</a:t>
            </a:r>
            <a:endParaRPr lang="en-US" sz="2800" dirty="0"/>
          </a:p>
        </p:txBody>
      </p:sp>
      <p:sp>
        <p:nvSpPr>
          <p:cNvPr id="7" name="Text 4"/>
          <p:cNvSpPr/>
          <p:nvPr/>
        </p:nvSpPr>
        <p:spPr>
          <a:xfrm>
            <a:off x="1219200" y="2255520"/>
            <a:ext cx="9387840" cy="12801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You wrote the very first label in a brand-new museum hall: communities create governments to do three things people cannot do alone -- keep order, keep people safe, and take care of the common good.</a:t>
            </a:r>
            <a:endParaRPr lang="en-US" sz="1400" dirty="0"/>
          </a:p>
        </p:txBody>
      </p:sp>
      <p:sp>
        <p:nvSpPr>
          <p:cNvPr id="8" name="Shape 5"/>
          <p:cNvSpPr/>
          <p:nvPr/>
        </p:nvSpPr>
        <p:spPr>
          <a:xfrm>
            <a:off x="1463040" y="3718560"/>
            <a:ext cx="8900160" cy="1889760"/>
          </a:xfrm>
          <a:prstGeom prst="roundRect">
            <a:avLst>
              <a:gd name="adj" fmla="val 7742"/>
            </a:avLst>
          </a:prstGeom>
          <a:solidFill>
            <a:srgbClr val="0E1C42"/>
          </a:solidFill>
          <a:ln w="19050">
            <a:solidFill>
              <a:srgbClr val="1A8A7D"/>
            </a:solidFill>
            <a:prstDash val="solid"/>
          </a:ln>
        </p:spPr>
      </p:sp>
      <p:sp>
        <p:nvSpPr>
          <p:cNvPr id="9" name="Text 6"/>
          <p:cNvSpPr/>
          <p:nvPr/>
        </p:nvSpPr>
        <p:spPr>
          <a:xfrm>
            <a:off x="1706880" y="390144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THE CONSTITUTION DISPLAY CASE OPENS</a:t>
            </a:r>
            <a:endParaRPr lang="en-US" sz="1100" dirty="0"/>
          </a:p>
        </p:txBody>
      </p:sp>
      <p:sp>
        <p:nvSpPr>
          <p:cNvPr id="10" name="Text 7"/>
          <p:cNvSpPr/>
          <p:nvPr/>
        </p:nvSpPr>
        <p:spPr>
          <a:xfrm>
            <a:off x="1706880" y="4328160"/>
            <a:ext cx="8412480" cy="1219200"/>
          </a:xfrm>
          <a:prstGeom prst="rect">
            <a:avLst/>
          </a:prstGeom>
          <a:noFill/>
          <a:ln/>
        </p:spPr>
        <p:txBody>
          <a:bodyPr wrap="square" lIns="0" tIns="0" rIns="0" bIns="0" rtlCol="0" anchor="t"/>
          <a:lstStyle/>
          <a:p>
            <a:pPr algn="ctr" indent="0" marL="0">
              <a:buNone/>
            </a:pPr>
            <a:r>
              <a:rPr lang="en-US" sz="1200" i="1" dirty="0">
                <a:solidFill>
                  <a:srgbClr val="EAF8FD"/>
                </a:solidFill>
                <a:latin typeface="Calibri" pitchFamily="34" charset="0"/>
                <a:ea typeface="Calibri" pitchFamily="34" charset="-122"/>
                <a:cs typeface="Calibri" pitchFamily="34" charset="-120"/>
              </a:rPr>
              <a:t>Tomorrow the lights come up on the U.S. Constitution display case -- a long glass cabinet with a careful copy of the document that started our country. The guide stops at one strange phrase: "We the People." Three words, but they change the whole museum. We'll find out why.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2026-07-11T19:20:15Z</dcterms:created>
  <dcterms:modified xsi:type="dcterms:W3CDTF">2026-07-11T19:20:15Z</dcterms:modified>
</cp:coreProperties>
</file>