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Grand museum room with map displays, charts, graphs, and photographs on the walls — wide angle view of the Great Map RoomIMAGE TO INSERT: Grand museum room with map displays, charts, graphs, and photographs on the walls. Title slide — introduce the lesson. Curator's Question: How do tables, charts, graphs, and photos help curators tell a fuller story than maps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Interior of a grand museum gallery with maps on one wall and bar charts, line graphs, tables, and photographs displayed on adjacent walls — warm lighting, wide viewIMAGE TO INSERT: Interior of a grand museum gallery with maps on one wall and bar charts, line graphs, tables, and photographs displayed on adjacent walls.
TEACHER SCRIPT: Read the Enter the Scene narrative aloud. Set the stage: The Greenland explanation card is up — visitors finally understand why the flat map and globe look different. But look around the Great Map Room. It's not just maps in here. There's a bar chart showing how many people live on each continent. A table listing the world's longest rivers. A photograph of a mountain range. A line graph tracking temperatures over the year. Maps tell part of the story, but curators use all kinds of evidence to help visitors learn. Today you'll practice reading these other tools so the whole room makes sense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Virtue: Self-governance — making good choices on your own. Connect to the lesson: today students must choose which evidence type fits a given question. That choice IS self-governance. They don't grab the first thing — they stop, think, and pick what actually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Clue 1: Introduce the idea that the Great Map Room contains more than maps. Ask students what other types of displays they might find. Maps show WHERE, but we need other tools for other questions. Transition to exploring each evidence type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Reveal 1: Tables. Tables organize facts into rows and columns. Example: world's longest rivers with name, length, and continent. Tables show WHAT FACTS. Emphasize that tables let you compare specific information side by side — something a paragraph can't do as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Frame: Table Reading. Give students time to discuss: If you wanted to find which river is the longest, would you look at a map or a table? Why? Guide them to see that a map shows location but not exact measurements. A table gives you the specific number right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Reveal 2: Bar Charts. Bar charts use bars of different heights to compare amounts. Taller bar = more. Example: continent populations. Charts show HOW MUCH. Emphasize the visual comparison — you can SEE the difference without doing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Clue 3: Set up the line graph concept. A visitor asks about temperature changes. A table could list the numbers, but a line graph SHOWS the pattern. Ask students: What if there was a picture that showed you the ups and downs? Transition to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Reveal 3: Line Graphs. Line graphs show how something changes over time. Line up = increase, line down = decrease. Graphs show HOW THINGS CHANGE. Emphasize that you can SEE the trend at a glance, unlike a table where you'd have to read every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Frame: Pick the Evidence. Have students discuss: If a visitor asked whether the world's population has been going up or down, which evidence type would you show? Walk through each option. The answer is LINE GRAPH — it shows change over time. This practices the self-governance skill of matching evidence to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Reveal 4: Photographs. Photos show what a place really looks like — color, texture, shape. Discovery Fact: The first photograph was taken in 1826, took 8 hours. Today it takes a fraction of a second. Photos show WHAT IT REALLY LOOKS LIKE. Ask: Why would a curator display a photo next to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Frame: Photo vs. Map. Students discuss what a photo can teach you that a map or chart can't. Look for responses about real-world details: colors, textures, shapes, weather, scale. Emphasize that photos capture what the place ACTUALLY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Bring all five evidence types together. Maps show WHERE, Tables show WHAT FACTS, Charts show HOW MUCH, Graphs show HOW THINGS CHANGE, Photos show WHAT IT REALLY LOOKS LIKE. Share Opti's connection to Unit 1 evidence skills. Emphasize that choosing the right evidence is the curator's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Scaffolding. Thinking Move: Sort, Compare, Explain. Step 1: Sort the evidence types by what they do best. Step 2: Compare two of them. Step 3: Explain when you'd use each one. Give students time for partner or small-group discussion using this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I Do. Teacher models answering Evidence Question 1. Read the question aloud. Think aloud as you choose two evidence types. Model: 'I'll pick bar chart and photograph. For bar chart, I explain what it does — uses bars to compare amounts — and give a question it answers: Which continent has the most people? For photograph, it shows what a place really looks like, and could answer: What does the Amazon rainforest actually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We Do. Work on Evidence Question 2 together as a class. Read the question. Provide the sentence scaffold: 'A map can show _____, but it can't show _____. For that, you'd need a _____.' Guide students to fill in the blanks. Sample: A map can show where a river is, but it can't show exactly how long it is in miles. For that, you'd need 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You Do. Students answer Evidence Question 3 independently: How does today's lesson connect to Unit 1? What skill are you using in both? Provide thinking hints but let them work on their own. The key connection: In Unit 1 they studied sources and asked 'What kind of evidence is this?' — they're doing the same thing now with charts and graphs. Give 3-4 minutes, then share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Show the student sample: 'A bar chart is the best evidence for everything because bars are easy to read.' Ask students to find the mistake. The error: no single evidence type is best for everything. Each type answers a DIFFERENT kind of question — you have to match the evidence to the question. This connects to self-governance: choosing the right tool, not just the easiest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Tricky One: Curator Task Practice. Present the visitor question from the Curator Task: 'I want to know whether the world's biggest cities are getting bigger or smaller over time.' Walk students through the thinking: What kind of question is this? (Change over time.) Which evidence type? (Line graph.) Why not others? This prepares them for the written Curator Task on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 Exhibit Label. Review key takeaways and go through the 3 self-check questions. Q1: Line graph (change over time). Q2: Bar chart (compare amounts). Q3: Photo shows real details a map can't. Use these to quickly check understanding before moving to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Preview. Go over all parts: (1) Three evidence questions — remind students these were practiced in guided practice. (2) Curator Task: Evidence Recommendation — the visitor question about cities getting bigger or smaller. They practiced this on the Tricky One slide. (3) Curator's Chronicle: 'In this exhibit, I learned that ______ because ______.' (4) Turn-in checklist: evidence questions, Curator Task, Chronicle, submit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Grand museum hallway with warm lighting, maps and displays visible on walls, sense of accomplishment and exploration — wide angle, atmosphericIMAGE TO INSERT: Grand museum hallway with warm lighting. Closing slide. Celebrate students' work. Preview next lesson: building a clear map from scratch with title, compass rose, scale, and legend. Remind students to complete and submit their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975360"/>
            <a:ext cx="14305280" cy="487680"/>
          </a:xfrm>
          <a:prstGeom prst="rect">
            <a:avLst/>
          </a:prstGeom>
          <a:noFill/>
          <a:ln/>
        </p:spPr>
        <p:txBody>
          <a:bodyPr wrap="square"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LESSON 3.03.06  |  WEEK 9  |  GREAT MAP ROOM</a:t>
            </a:r>
            <a:endParaRPr lang="en-US" sz="1000" dirty="0"/>
          </a:p>
        </p:txBody>
      </p:sp>
      <p:sp>
        <p:nvSpPr>
          <p:cNvPr id="6" name="Text 3"/>
          <p:cNvSpPr/>
          <p:nvPr/>
        </p:nvSpPr>
        <p:spPr>
          <a:xfrm>
            <a:off x="975360" y="1788160"/>
            <a:ext cx="13817600" cy="2275840"/>
          </a:xfrm>
          <a:prstGeom prst="rect">
            <a:avLst/>
          </a:prstGeom>
          <a:noFill/>
          <a:ln/>
        </p:spPr>
        <p:txBody>
          <a:bodyPr wrap="square" rtlCol="0" anchor="ctr"/>
          <a:lstStyle/>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Reading Tables, Charts,</a:t>
            </a:r>
            <a:endParaRPr lang="en-US" sz="3600" dirty="0"/>
          </a:p>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Graphs, and Photos</a:t>
            </a:r>
            <a:endParaRPr lang="en-US" sz="3600" dirty="0"/>
          </a:p>
        </p:txBody>
      </p:sp>
      <p:sp>
        <p:nvSpPr>
          <p:cNvPr id="7" name="Shape 4"/>
          <p:cNvSpPr/>
          <p:nvPr/>
        </p:nvSpPr>
        <p:spPr>
          <a:xfrm>
            <a:off x="975360" y="4226560"/>
            <a:ext cx="3576320" cy="81280"/>
          </a:xfrm>
          <a:prstGeom prst="rect">
            <a:avLst/>
          </a:prstGeom>
          <a:solidFill>
            <a:srgbClr val="D4943A"/>
          </a:solidFill>
          <a:ln/>
        </p:spPr>
      </p:sp>
      <p:sp>
        <p:nvSpPr>
          <p:cNvPr id="8" name="Text 5"/>
          <p:cNvSpPr/>
          <p:nvPr/>
        </p:nvSpPr>
        <p:spPr>
          <a:xfrm>
            <a:off x="975360" y="4632960"/>
            <a:ext cx="4876800" cy="487680"/>
          </a:xfrm>
          <a:prstGeom prst="rect">
            <a:avLst/>
          </a:prstGeom>
          <a:noFill/>
          <a:ln/>
        </p:spPr>
        <p:txBody>
          <a:bodyPr wrap="square" rtlCol="0" anchor="ctr"/>
          <a:lstStyle/>
          <a:p>
            <a:pPr indent="0" marL="0">
              <a:buNone/>
            </a:pPr>
            <a:r>
              <a:rPr lang="en-US" sz="1100" b="1" spc="120" kern="0" dirty="0">
                <a:solidFill>
                  <a:srgbClr val="D4943A"/>
                </a:solidFill>
                <a:latin typeface="Calibri" pitchFamily="34" charset="0"/>
                <a:ea typeface="Calibri" pitchFamily="34" charset="-122"/>
                <a:cs typeface="Calibri" pitchFamily="34" charset="-120"/>
              </a:rPr>
              <a:t>Curator’s Question</a:t>
            </a:r>
            <a:endParaRPr lang="en-US" sz="1100" dirty="0"/>
          </a:p>
        </p:txBody>
      </p:sp>
      <p:sp>
        <p:nvSpPr>
          <p:cNvPr id="9" name="Text 6"/>
          <p:cNvSpPr/>
          <p:nvPr/>
        </p:nvSpPr>
        <p:spPr>
          <a:xfrm>
            <a:off x="975360" y="5201920"/>
            <a:ext cx="12192000" cy="1137920"/>
          </a:xfrm>
          <a:prstGeom prst="rect">
            <a:avLst/>
          </a:prstGeom>
          <a:noFill/>
          <a:ln/>
        </p:spPr>
        <p:txBody>
          <a:bodyPr wrap="square" rtlCol="0" anchor="ctr"/>
          <a:lstStyle/>
          <a:p>
            <a:pPr indent="0" marL="0">
              <a:buNone/>
            </a:pPr>
            <a:r>
              <a:rPr lang="en-US" sz="1500" i="1" dirty="0">
                <a:solidFill>
                  <a:srgbClr val="FFFFFF"/>
                </a:solidFill>
                <a:latin typeface="Cambria" pitchFamily="34" charset="0"/>
                <a:ea typeface="Cambria" pitchFamily="34" charset="-122"/>
                <a:cs typeface="Cambria" pitchFamily="34" charset="-120"/>
              </a:rPr>
              <a:t>How do tables, charts, graphs, and photos help curators tell a fuller story than maps alone?</a:t>
            </a:r>
            <a:endParaRPr lang="en-US" sz="1500" dirty="0"/>
          </a:p>
        </p:txBody>
      </p:sp>
      <p:sp>
        <p:nvSpPr>
          <p:cNvPr id="10" name="Shape 7"/>
          <p:cNvSpPr/>
          <p:nvPr/>
        </p:nvSpPr>
        <p:spPr>
          <a:xfrm>
            <a:off x="975360" y="6990080"/>
            <a:ext cx="3901440" cy="650240"/>
          </a:xfrm>
          <a:prstGeom prst="roundRect">
            <a:avLst>
              <a:gd name="adj" fmla="val 25000"/>
            </a:avLst>
          </a:prstGeom>
          <a:solidFill>
            <a:srgbClr val="1A8A7D"/>
          </a:solidFill>
          <a:ln/>
        </p:spPr>
      </p:sp>
      <p:sp>
        <p:nvSpPr>
          <p:cNvPr id="11" name="Text 8"/>
          <p:cNvSpPr/>
          <p:nvPr/>
        </p:nvSpPr>
        <p:spPr>
          <a:xfrm>
            <a:off x="975360" y="6990080"/>
            <a:ext cx="3901440" cy="650240"/>
          </a:xfrm>
          <a:prstGeom prst="rect">
            <a:avLst/>
          </a:prstGeom>
          <a:noFill/>
          <a:ln/>
        </p:spPr>
        <p:txBody>
          <a:bodyPr wrap="square"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MAP CURATOR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812800"/>
            <a:ext cx="6502400" cy="487680"/>
          </a:xfrm>
          <a:prstGeom prst="rect">
            <a:avLst/>
          </a:prstGeom>
          <a:noFill/>
          <a:ln/>
        </p:spPr>
        <p:txBody>
          <a:bodyPr wrap="square"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ENTER THE SCENE</a:t>
            </a:r>
            <a:endParaRPr lang="en-US" sz="1000" dirty="0"/>
          </a:p>
        </p:txBody>
      </p:sp>
      <p:sp>
        <p:nvSpPr>
          <p:cNvPr id="6" name="Text 3"/>
          <p:cNvSpPr/>
          <p:nvPr/>
        </p:nvSpPr>
        <p:spPr>
          <a:xfrm>
            <a:off x="975360" y="1381760"/>
            <a:ext cx="13817600" cy="894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More Than Just Maps</a:t>
            </a:r>
            <a:endParaRPr lang="en-US" sz="2600" dirty="0"/>
          </a:p>
        </p:txBody>
      </p:sp>
      <p:sp>
        <p:nvSpPr>
          <p:cNvPr id="7" name="Shape 4"/>
          <p:cNvSpPr/>
          <p:nvPr/>
        </p:nvSpPr>
        <p:spPr>
          <a:xfrm>
            <a:off x="975360" y="2438400"/>
            <a:ext cx="2600960" cy="65024"/>
          </a:xfrm>
          <a:prstGeom prst="rect">
            <a:avLst/>
          </a:prstGeom>
          <a:solidFill>
            <a:srgbClr val="D4943A"/>
          </a:solidFill>
          <a:ln/>
        </p:spPr>
      </p:sp>
      <p:sp>
        <p:nvSpPr>
          <p:cNvPr id="8" name="Text 5"/>
          <p:cNvSpPr/>
          <p:nvPr/>
        </p:nvSpPr>
        <p:spPr>
          <a:xfrm>
            <a:off x="975360" y="2763520"/>
            <a:ext cx="13817600" cy="5364480"/>
          </a:xfrm>
          <a:prstGeom prst="rect">
            <a:avLst/>
          </a:prstGeom>
          <a:noFill/>
          <a:ln/>
        </p:spPr>
        <p:txBody>
          <a:bodyPr wrap="square"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The Greenland explanation card is up — visitors finally understand why the flat map and globe look different. But look around the Great Map Room. It’s not just maps in here.</a:t>
            </a:r>
            <a:endParaRPr lang="en-US" sz="1400" dirty="0"/>
          </a:p>
          <a:p>
            <a:pPr indent="0" marL="0">
              <a:lnSpc>
                <a:spcPct val="125000"/>
              </a:lnSpc>
              <a:buNone/>
            </a:pPr>
            <a:endParaRPr lang="en-US" sz="1400" dirty="0"/>
          </a:p>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There’s a bar chart showing how many people live on each continent. A table listing the world’s longest rivers. A photograph of a mountain range. A line graph tracking temperatures over the year.</a:t>
            </a:r>
            <a:endParaRPr lang="en-US" sz="1400" dirty="0"/>
          </a:p>
          <a:p>
            <a:pPr indent="0" marL="0">
              <a:lnSpc>
                <a:spcPct val="125000"/>
              </a:lnSpc>
              <a:buNone/>
            </a:pPr>
            <a:endParaRPr lang="en-US" sz="1400" dirty="0"/>
          </a:p>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Maps tell part of the story, but curators use all kinds of evidence to help visitors learn. Today you’ll practice reading these other tools so the whole room makes sense together.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2D5A"/>
        </a:solidFill>
      </p:bgPr>
    </p:bg>
    <p:spTree>
      <p:nvGrpSpPr>
        <p:cNvPr id="1" name=""/>
        <p:cNvGrpSpPr/>
        <p:nvPr/>
      </p:nvGrpSpPr>
      <p:grpSpPr>
        <a:xfrm>
          <a:off x="0" y="0"/>
          <a:ext cx="0" cy="0"/>
          <a:chOff x="0" y="0"/>
          <a:chExt cx="0" cy="0"/>
        </a:xfrm>
      </p:grpSpPr>
      <p:sp>
        <p:nvSpPr>
          <p:cNvPr id="2" name="Text 0"/>
          <p:cNvSpPr/>
          <p:nvPr/>
        </p:nvSpPr>
        <p:spPr>
          <a:xfrm>
            <a:off x="975360" y="812800"/>
            <a:ext cx="6502400" cy="487680"/>
          </a:xfrm>
          <a:prstGeom prst="rect">
            <a:avLst/>
          </a:prstGeom>
          <a:noFill/>
          <a:ln/>
        </p:spPr>
        <p:txBody>
          <a:bodyPr wrap="square"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3" name="Text 1"/>
          <p:cNvSpPr/>
          <p:nvPr/>
        </p:nvSpPr>
        <p:spPr>
          <a:xfrm>
            <a:off x="975360" y="1463040"/>
            <a:ext cx="13817600" cy="894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Self-Governance</a:t>
            </a:r>
            <a:endParaRPr lang="en-US" sz="2800" dirty="0"/>
          </a:p>
        </p:txBody>
      </p:sp>
      <p:sp>
        <p:nvSpPr>
          <p:cNvPr id="4" name="Shape 2"/>
          <p:cNvSpPr/>
          <p:nvPr/>
        </p:nvSpPr>
        <p:spPr>
          <a:xfrm>
            <a:off x="975360" y="2519680"/>
            <a:ext cx="2600960" cy="65024"/>
          </a:xfrm>
          <a:prstGeom prst="rect">
            <a:avLst/>
          </a:prstGeom>
          <a:solidFill>
            <a:srgbClr val="D4943A"/>
          </a:solidFill>
          <a:ln/>
        </p:spPr>
      </p:sp>
      <p:sp>
        <p:nvSpPr>
          <p:cNvPr id="5" name="Shape 3"/>
          <p:cNvSpPr/>
          <p:nvPr/>
        </p:nvSpPr>
        <p:spPr>
          <a:xfrm>
            <a:off x="975360" y="3007360"/>
            <a:ext cx="13817600" cy="1788160"/>
          </a:xfrm>
          <a:prstGeom prst="roundRect">
            <a:avLst>
              <a:gd name="adj" fmla="val 10909"/>
            </a:avLst>
          </a:prstGeom>
          <a:solidFill>
            <a:srgbClr val="162550"/>
          </a:solidFill>
          <a:ln/>
        </p:spPr>
      </p:sp>
      <p:sp>
        <p:nvSpPr>
          <p:cNvPr id="6" name="Text 4"/>
          <p:cNvSpPr/>
          <p:nvPr/>
        </p:nvSpPr>
        <p:spPr>
          <a:xfrm>
            <a:off x="1381760" y="3169920"/>
            <a:ext cx="13004800" cy="568960"/>
          </a:xfrm>
          <a:prstGeom prst="rect">
            <a:avLst/>
          </a:prstGeom>
          <a:noFill/>
          <a:ln/>
        </p:spPr>
        <p:txBody>
          <a:bodyPr wrap="square" rtlCol="0" anchor="ctr"/>
          <a:lstStyle/>
          <a:p>
            <a:pPr indent="0" marL="0">
              <a:buNone/>
            </a:pPr>
            <a:r>
              <a:rPr lang="en-US" sz="1600" b="1" dirty="0">
                <a:solidFill>
                  <a:srgbClr val="55C8E8"/>
                </a:solidFill>
                <a:latin typeface="Calibri" pitchFamily="34" charset="0"/>
                <a:ea typeface="Calibri" pitchFamily="34" charset="-122"/>
                <a:cs typeface="Calibri" pitchFamily="34" charset="-120"/>
              </a:rPr>
              <a:t>Making good choices on your own.</a:t>
            </a:r>
            <a:endParaRPr lang="en-US" sz="1600" dirty="0"/>
          </a:p>
        </p:txBody>
      </p:sp>
      <p:sp>
        <p:nvSpPr>
          <p:cNvPr id="7" name="Text 5"/>
          <p:cNvSpPr/>
          <p:nvPr/>
        </p:nvSpPr>
        <p:spPr>
          <a:xfrm>
            <a:off x="1381760" y="3820160"/>
            <a:ext cx="13004800" cy="894080"/>
          </a:xfrm>
          <a:prstGeom prst="rect">
            <a:avLst/>
          </a:prstGeom>
          <a:noFill/>
          <a:ln/>
        </p:spPr>
        <p:txBody>
          <a:bodyPr wrap="square" rtlCol="0" anchor="ctr"/>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When curators decide which chart, graph, or photo to study, they’re governing their own thinking. They don’t grab the first thing they see — they stop, think about the question, and pick the evidence that actually helps.</a:t>
            </a:r>
            <a:endParaRPr lang="en-US" sz="1200" dirty="0"/>
          </a:p>
        </p:txBody>
      </p:sp>
      <p:sp>
        <p:nvSpPr>
          <p:cNvPr id="8" name="Shape 6"/>
          <p:cNvSpPr/>
          <p:nvPr/>
        </p:nvSpPr>
        <p:spPr>
          <a:xfrm>
            <a:off x="975360" y="5201920"/>
            <a:ext cx="13817600" cy="1950720"/>
          </a:xfrm>
          <a:prstGeom prst="roundRect">
            <a:avLst>
              <a:gd name="adj" fmla="val 10000"/>
            </a:avLst>
          </a:prstGeom>
          <a:solidFill>
            <a:srgbClr val="1A8A7D"/>
          </a:solidFill>
          <a:ln/>
          <a:effectLst>
            <a:outerShdw sx="100000" sy="100000" kx="0" ky="0" algn="bl" rotWithShape="0" blurRad="76200" dist="25400" dir="8100000">
              <a:srgbClr val="000000">
                <a:alpha val="15000"/>
              </a:srgbClr>
            </a:outerShdw>
          </a:effectLst>
        </p:spPr>
      </p:sp>
      <p:sp>
        <p:nvSpPr>
          <p:cNvPr id="9" name="Text 7"/>
          <p:cNvSpPr/>
          <p:nvPr/>
        </p:nvSpPr>
        <p:spPr>
          <a:xfrm>
            <a:off x="1381760" y="5364480"/>
            <a:ext cx="6502400" cy="406400"/>
          </a:xfrm>
          <a:prstGeom prst="rect">
            <a:avLst/>
          </a:prstGeom>
          <a:noFill/>
          <a:ln/>
        </p:spPr>
        <p:txBody>
          <a:bodyPr wrap="square" rtlCol="0" anchor="ctr"/>
          <a:lstStyle/>
          <a:p>
            <a:pPr indent="0" marL="0">
              <a:buNone/>
            </a:pPr>
            <a:r>
              <a:rPr lang="en-US" sz="900" b="1" spc="150" kern="0" dirty="0">
                <a:solidFill>
                  <a:srgbClr val="FFF3DC"/>
                </a:solidFill>
                <a:latin typeface="Calibri" pitchFamily="34" charset="0"/>
                <a:ea typeface="Calibri" pitchFamily="34" charset="-122"/>
                <a:cs typeface="Calibri" pitchFamily="34" charset="-120"/>
              </a:rPr>
              <a:t>TODAY’S CONNECTION</a:t>
            </a:r>
            <a:endParaRPr lang="en-US" sz="900" dirty="0"/>
          </a:p>
        </p:txBody>
      </p:sp>
      <p:sp>
        <p:nvSpPr>
          <p:cNvPr id="10" name="Text 8"/>
          <p:cNvSpPr/>
          <p:nvPr/>
        </p:nvSpPr>
        <p:spPr>
          <a:xfrm>
            <a:off x="1381760" y="5852160"/>
            <a:ext cx="13004800" cy="1137920"/>
          </a:xfrm>
          <a:prstGeom prst="rect">
            <a:avLst/>
          </a:prstGeom>
          <a:noFill/>
          <a:ln/>
        </p:spPr>
        <p:txBody>
          <a:bodyPr wrap="square" rtlCol="0" anchor="ctr"/>
          <a:lstStyle/>
          <a:p>
            <a:pPr indent="0" marL="0">
              <a:lnSpc>
                <a:spcPct val="120000"/>
              </a:lnSpc>
              <a:buNone/>
            </a:pPr>
            <a:r>
              <a:rPr lang="en-US" sz="1300" dirty="0">
                <a:solidFill>
                  <a:srgbClr val="FFFFFF"/>
                </a:solidFill>
                <a:latin typeface="Calibri" pitchFamily="34" charset="0"/>
                <a:ea typeface="Calibri" pitchFamily="34" charset="-122"/>
                <a:cs typeface="Calibri" pitchFamily="34" charset="-120"/>
              </a:rPr>
              <a:t>Today you’ll face different types of evidence — tables, charts, graphs, photos. Self-governance means you choose the right evidence for the question instead of just picking the first one you see.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Discovery Clue: What’s in This Display?</a:t>
            </a:r>
            <a:endParaRPr lang="en-US" sz="1800" dirty="0"/>
          </a:p>
        </p:txBody>
      </p:sp>
      <p:sp>
        <p:nvSpPr>
          <p:cNvPr id="5" name="Shape 3"/>
          <p:cNvSpPr/>
          <p:nvPr/>
        </p:nvSpPr>
        <p:spPr>
          <a:xfrm>
            <a:off x="812800" y="1381760"/>
            <a:ext cx="7315200" cy="4876800"/>
          </a:xfrm>
          <a:prstGeom prst="roundRect">
            <a:avLst>
              <a:gd name="adj" fmla="val 4000"/>
            </a:avLst>
          </a:prstGeom>
          <a:solidFill>
            <a:srgbClr val="E2E8F4"/>
          </a:solidFill>
          <a:ln w="19050">
            <a:solidFill>
              <a:srgbClr val="B0B8CC"/>
            </a:solidFill>
            <a:prstDash val="dash"/>
          </a:ln>
        </p:spPr>
      </p:sp>
      <p:sp>
        <p:nvSpPr>
          <p:cNvPr id="6" name="Text 4"/>
          <p:cNvSpPr/>
          <p:nvPr/>
        </p:nvSpPr>
        <p:spPr>
          <a:xfrm>
            <a:off x="812800" y="1381760"/>
            <a:ext cx="7315200" cy="487680"/>
          </a:xfrm>
          <a:prstGeom prst="rect">
            <a:avLst/>
          </a:prstGeom>
          <a:noFill/>
          <a:ln/>
        </p:spPr>
        <p:txBody>
          <a:bodyPr wrap="square" lIns="1016" tIns="0" rIns="0" bIns="0" rtlCol="0" anchor="t"/>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1056640" y="1869440"/>
            <a:ext cx="6827520" cy="422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Museum wall showing a variety of displays: a table of data, a bar chart, a line graph, a large photograph, and a map — all arranged as museum exhibits with labels</a:t>
            </a:r>
            <a:endParaRPr lang="en-US" sz="1100" dirty="0"/>
          </a:p>
        </p:txBody>
      </p:sp>
      <p:sp>
        <p:nvSpPr>
          <p:cNvPr id="8" name="Shape 6"/>
          <p:cNvSpPr/>
          <p:nvPr/>
        </p:nvSpPr>
        <p:spPr>
          <a:xfrm>
            <a:off x="8615680" y="1381760"/>
            <a:ext cx="6827520" cy="4876800"/>
          </a:xfrm>
          <a:prstGeom prst="roundRect">
            <a:avLst>
              <a:gd name="adj" fmla="val 4000"/>
            </a:avLst>
          </a:prstGeom>
          <a:solidFill>
            <a:srgbClr val="FFFFFF"/>
          </a:solidFill>
          <a:ln/>
          <a:effectLst>
            <a:outerShdw sx="100000" sy="100000" kx="0" ky="0" algn="bl" rotWithShape="0" blurRad="76200" dist="25400" dir="8100000">
              <a:srgbClr val="000000">
                <a:alpha val="10000"/>
              </a:srgbClr>
            </a:outerShdw>
          </a:effectLst>
        </p:spPr>
      </p:sp>
      <p:sp>
        <p:nvSpPr>
          <p:cNvPr id="9" name="Text 7"/>
          <p:cNvSpPr/>
          <p:nvPr/>
        </p:nvSpPr>
        <p:spPr>
          <a:xfrm>
            <a:off x="8940800" y="1544320"/>
            <a:ext cx="6177280" cy="65024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The Great Map Room has more than maps!</a:t>
            </a:r>
            <a:endParaRPr lang="en-US" sz="1400" dirty="0"/>
          </a:p>
        </p:txBody>
      </p:sp>
      <p:sp>
        <p:nvSpPr>
          <p:cNvPr id="10" name="Text 8"/>
          <p:cNvSpPr/>
          <p:nvPr/>
        </p:nvSpPr>
        <p:spPr>
          <a:xfrm>
            <a:off x="8940800" y="2275840"/>
            <a:ext cx="6177280" cy="3738880"/>
          </a:xfrm>
          <a:prstGeom prst="rect">
            <a:avLst/>
          </a:prstGeom>
          <a:noFill/>
          <a:ln/>
        </p:spPr>
        <p:txBody>
          <a:bodyPr wrap="square" rtlCol="0" anchor="t"/>
          <a:lstStyle/>
          <a:p>
            <a:pPr indent="0" marL="0">
              <a:buNone/>
            </a:pPr>
            <a:r>
              <a:rPr lang="en-US" sz="1300" dirty="0">
                <a:solidFill>
                  <a:srgbClr val="0E1C42"/>
                </a:solidFill>
                <a:latin typeface="Calibri" pitchFamily="34" charset="0"/>
                <a:ea typeface="Calibri" pitchFamily="34" charset="-122"/>
                <a:cs typeface="Calibri" pitchFamily="34" charset="-120"/>
              </a:rPr>
              <a:t>Maps show </a:t>
            </a:r>
            <a:pPr indent="0" marL="0">
              <a:buNone/>
            </a:pPr>
            <a:r>
              <a:rPr lang="en-US" sz="1300" b="1" dirty="0">
                <a:solidFill>
                  <a:srgbClr val="1A8A7D"/>
                </a:solidFill>
                <a:latin typeface="Calibri" pitchFamily="34" charset="0"/>
                <a:ea typeface="Calibri" pitchFamily="34" charset="-122"/>
                <a:cs typeface="Calibri" pitchFamily="34" charset="-120"/>
              </a:rPr>
              <a:t>WHERE.</a:t>
            </a:r>
            <a:pPr indent="0" marL="0">
              <a:buNone/>
            </a:pP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But what about...</a:t>
            </a:r>
            <a:endParaRPr lang="en-US" sz="1300" dirty="0"/>
          </a:p>
          <a:p>
            <a:pPr indent="0" marL="0">
              <a:buNone/>
            </a:pPr>
            <a:endParaRPr lang="en-US" sz="1300" dirty="0"/>
          </a:p>
          <a:p>
            <a:pPr indent="0" marL="0">
              <a:buNone/>
            </a:pPr>
            <a:r>
              <a:rPr lang="en-US" sz="1400" b="1" dirty="0">
                <a:solidFill>
                  <a:srgbClr val="E8636B"/>
                </a:solidFill>
                <a:latin typeface="Calibri" pitchFamily="34" charset="0"/>
                <a:ea typeface="Calibri" pitchFamily="34" charset="-122"/>
                <a:cs typeface="Calibri" pitchFamily="34" charset="-120"/>
              </a:rPr>
              <a:t>HOW MANY?</a:t>
            </a:r>
            <a:endParaRPr lang="en-US" sz="1300" dirty="0"/>
          </a:p>
          <a:p>
            <a:pPr indent="0" marL="0">
              <a:buNone/>
            </a:pPr>
            <a:endParaRPr lang="en-US" sz="1300" dirty="0"/>
          </a:p>
          <a:p>
            <a:pPr indent="0" marL="0">
              <a:buNone/>
            </a:pPr>
            <a:r>
              <a:rPr lang="en-US" sz="1400" b="1" dirty="0">
                <a:solidFill>
                  <a:srgbClr val="8B6FC0"/>
                </a:solidFill>
                <a:latin typeface="Calibri" pitchFamily="34" charset="0"/>
                <a:ea typeface="Calibri" pitchFamily="34" charset="-122"/>
                <a:cs typeface="Calibri" pitchFamily="34" charset="-120"/>
              </a:rPr>
              <a:t>HOW THINGS CHANGE?</a:t>
            </a:r>
            <a:endParaRPr lang="en-US" sz="1300" dirty="0"/>
          </a:p>
          <a:p>
            <a:pPr indent="0" marL="0">
              <a:buNone/>
            </a:pPr>
            <a:endParaRPr lang="en-US" sz="1300" dirty="0"/>
          </a:p>
          <a:p>
            <a:pPr indent="0" marL="0">
              <a:buNone/>
            </a:pPr>
            <a:r>
              <a:rPr lang="en-US" sz="1400" b="1" dirty="0">
                <a:solidFill>
                  <a:srgbClr val="D4943A"/>
                </a:solidFill>
                <a:latin typeface="Calibri" pitchFamily="34" charset="0"/>
                <a:ea typeface="Calibri" pitchFamily="34" charset="-122"/>
                <a:cs typeface="Calibri" pitchFamily="34" charset="-120"/>
              </a:rPr>
              <a:t>WHAT IT REALLY LOOKS LIKE?</a:t>
            </a:r>
            <a:endParaRPr lang="en-US" sz="1300" dirty="0"/>
          </a:p>
        </p:txBody>
      </p:sp>
      <p:sp>
        <p:nvSpPr>
          <p:cNvPr id="11" name="Shape 9"/>
          <p:cNvSpPr/>
          <p:nvPr/>
        </p:nvSpPr>
        <p:spPr>
          <a:xfrm>
            <a:off x="812800" y="6664960"/>
            <a:ext cx="14630400" cy="178816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1137920" y="682752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1137920" y="7282688"/>
            <a:ext cx="13980160" cy="100787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kinds of evidence do you see in museums besides maps?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a museum need more than one type of display?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Discovery Reveal: Tables</a:t>
            </a:r>
            <a:endParaRPr lang="en-US" sz="1800" dirty="0"/>
          </a:p>
        </p:txBody>
      </p:sp>
      <p:sp>
        <p:nvSpPr>
          <p:cNvPr id="5" name="Shape 3"/>
          <p:cNvSpPr/>
          <p:nvPr/>
        </p:nvSpPr>
        <p:spPr>
          <a:xfrm>
            <a:off x="812800" y="1381760"/>
            <a:ext cx="8128000" cy="1625600"/>
          </a:xfrm>
          <a:prstGeom prst="roundRect">
            <a:avLst>
              <a:gd name="adj" fmla="val 12000"/>
            </a:avLst>
          </a:prstGeom>
          <a:solidFill>
            <a:srgbClr val="EAF8FD"/>
          </a:solidFill>
          <a:ln w="12700">
            <a:solidFill>
              <a:srgbClr val="55C8E8"/>
            </a:solidFill>
            <a:prstDash val="solid"/>
          </a:ln>
        </p:spPr>
      </p:sp>
      <p:sp>
        <p:nvSpPr>
          <p:cNvPr id="6" name="Text 4"/>
          <p:cNvSpPr/>
          <p:nvPr/>
        </p:nvSpPr>
        <p:spPr>
          <a:xfrm>
            <a:off x="1137920" y="1495552"/>
            <a:ext cx="3251200" cy="40640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TABLE</a:t>
            </a:r>
            <a:endParaRPr lang="en-US" sz="1000" dirty="0"/>
          </a:p>
        </p:txBody>
      </p:sp>
      <p:sp>
        <p:nvSpPr>
          <p:cNvPr id="7" name="Text 5"/>
          <p:cNvSpPr/>
          <p:nvPr/>
        </p:nvSpPr>
        <p:spPr>
          <a:xfrm>
            <a:off x="1137920" y="1950720"/>
            <a:ext cx="7477760" cy="894080"/>
          </a:xfrm>
          <a:prstGeom prst="rect">
            <a:avLst/>
          </a:prstGeom>
          <a:noFill/>
          <a:ln/>
        </p:spPr>
        <p:txBody>
          <a:bodyPr wrap="square" rtlCol="0" anchor="ctr"/>
          <a:lstStyle/>
          <a:p>
            <a:pPr indent="0" marL="0">
              <a:lnSpc>
                <a:spcPct val="115000"/>
              </a:lnSpc>
              <a:buNone/>
            </a:pPr>
            <a:r>
              <a:rPr lang="en-US" sz="1300" dirty="0">
                <a:solidFill>
                  <a:srgbClr val="0E1C42"/>
                </a:solidFill>
                <a:latin typeface="Calibri" pitchFamily="34" charset="0"/>
                <a:ea typeface="Calibri" pitchFamily="34" charset="-122"/>
                <a:cs typeface="Calibri" pitchFamily="34" charset="-120"/>
              </a:rPr>
              <a:t>Organizes facts into rows and columns so you can find and compare information quickly.</a:t>
            </a:r>
            <a:endParaRPr lang="en-US" sz="1300" dirty="0"/>
          </a:p>
        </p:txBody>
      </p:sp>
      <p:sp>
        <p:nvSpPr>
          <p:cNvPr id="8" name="Text 6"/>
          <p:cNvSpPr/>
          <p:nvPr/>
        </p:nvSpPr>
        <p:spPr>
          <a:xfrm>
            <a:off x="812800" y="3332480"/>
            <a:ext cx="8128000" cy="65024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Example: A table of the world’s longest rivers — with river name, length, and continent.</a:t>
            </a:r>
            <a:endParaRPr lang="en-US" sz="1200" dirty="0"/>
          </a:p>
        </p:txBody>
      </p:sp>
      <p:sp>
        <p:nvSpPr>
          <p:cNvPr id="9" name="Shape 7"/>
          <p:cNvSpPr/>
          <p:nvPr/>
        </p:nvSpPr>
        <p:spPr>
          <a:xfrm>
            <a:off x="9428480" y="1381760"/>
            <a:ext cx="5852160" cy="4551680"/>
          </a:xfrm>
          <a:prstGeom prst="roundRect">
            <a:avLst>
              <a:gd name="adj" fmla="val 4286"/>
            </a:avLst>
          </a:prstGeom>
          <a:solidFill>
            <a:srgbClr val="E2E8F4"/>
          </a:solidFill>
          <a:ln w="19050">
            <a:solidFill>
              <a:srgbClr val="B0B8CC"/>
            </a:solidFill>
            <a:prstDash val="dash"/>
          </a:ln>
        </p:spPr>
      </p:sp>
      <p:sp>
        <p:nvSpPr>
          <p:cNvPr id="10" name="Text 8"/>
          <p:cNvSpPr/>
          <p:nvPr/>
        </p:nvSpPr>
        <p:spPr>
          <a:xfrm>
            <a:off x="9428480" y="1381760"/>
            <a:ext cx="5852160" cy="487680"/>
          </a:xfrm>
          <a:prstGeom prst="rect">
            <a:avLst/>
          </a:prstGeom>
          <a:noFill/>
          <a:ln/>
        </p:spPr>
        <p:txBody>
          <a:bodyPr wrap="square" lIns="1016" tIns="0" rIns="0" bIns="0" rtlCol="0" anchor="t"/>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9672320" y="1869440"/>
            <a:ext cx="536448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Simple, clean table showing 4-5 of the world's longest rivers with columns: River Name, Length (miles), Continent</a:t>
            </a:r>
            <a:endParaRPr lang="en-US" sz="1100" dirty="0"/>
          </a:p>
        </p:txBody>
      </p:sp>
      <p:sp>
        <p:nvSpPr>
          <p:cNvPr id="12" name="Shape 10"/>
          <p:cNvSpPr/>
          <p:nvPr/>
        </p:nvSpPr>
        <p:spPr>
          <a:xfrm>
            <a:off x="812800" y="4307840"/>
            <a:ext cx="8128000" cy="1625600"/>
          </a:xfrm>
          <a:prstGeom prst="roundRect">
            <a:avLst>
              <a:gd name="adj" fmla="val 12000"/>
            </a:avLst>
          </a:prstGeom>
          <a:solidFill>
            <a:srgbClr val="FFF8F0"/>
          </a:solidFill>
          <a:ln/>
        </p:spPr>
      </p:sp>
      <p:sp>
        <p:nvSpPr>
          <p:cNvPr id="13" name="Text 11"/>
          <p:cNvSpPr/>
          <p:nvPr/>
        </p:nvSpPr>
        <p:spPr>
          <a:xfrm>
            <a:off x="1137920" y="4470400"/>
            <a:ext cx="7477760" cy="487680"/>
          </a:xfrm>
          <a:prstGeom prst="rect">
            <a:avLst/>
          </a:prstGeom>
          <a:noFill/>
          <a:ln/>
        </p:spPr>
        <p:txBody>
          <a:bodyPr wrap="square"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Tables show WHAT FACTS</a:t>
            </a:r>
            <a:endParaRPr lang="en-US" sz="1400" dirty="0"/>
          </a:p>
        </p:txBody>
      </p:sp>
      <p:sp>
        <p:nvSpPr>
          <p:cNvPr id="14" name="Text 12"/>
          <p:cNvSpPr/>
          <p:nvPr/>
        </p:nvSpPr>
        <p:spPr>
          <a:xfrm>
            <a:off x="1137920" y="5039360"/>
            <a:ext cx="7477760" cy="812800"/>
          </a:xfrm>
          <a:prstGeom prst="rect">
            <a:avLst/>
          </a:prstGeom>
          <a:noFill/>
          <a:ln/>
        </p:spPr>
        <p:txBody>
          <a:bodyPr wrap="square" rtlCol="0" anchor="ctr"/>
          <a:lstStyle/>
          <a:p>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They answer questions like: How long is the Nile? Which continent has the Amazon? What are the top five longest rivers?</a:t>
            </a:r>
            <a:endParaRPr lang="en-US" sz="1200" dirty="0"/>
          </a:p>
        </p:txBody>
      </p:sp>
      <p:sp>
        <p:nvSpPr>
          <p:cNvPr id="15" name="Shape 13"/>
          <p:cNvSpPr/>
          <p:nvPr/>
        </p:nvSpPr>
        <p:spPr>
          <a:xfrm>
            <a:off x="812800" y="6664960"/>
            <a:ext cx="14630400" cy="178816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6" name="Text 14"/>
          <p:cNvSpPr/>
          <p:nvPr/>
        </p:nvSpPr>
        <p:spPr>
          <a:xfrm>
            <a:off x="1137920" y="682752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1137920" y="7282688"/>
            <a:ext cx="13980160" cy="100787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a table different from just writing facts in a paragraph?</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When would rows and columns help you find an answer faster?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Chat Frame: Table Reading</a:t>
            </a:r>
            <a:endParaRPr lang="en-US" sz="1800" dirty="0"/>
          </a:p>
        </p:txBody>
      </p:sp>
      <p:sp>
        <p:nvSpPr>
          <p:cNvPr id="5" name="Shape 3"/>
          <p:cNvSpPr/>
          <p:nvPr/>
        </p:nvSpPr>
        <p:spPr>
          <a:xfrm>
            <a:off x="812800" y="1381760"/>
            <a:ext cx="14630400" cy="2438400"/>
          </a:xfrm>
          <a:prstGeom prst="roundRect">
            <a:avLst>
              <a:gd name="adj" fmla="val 8000"/>
            </a:avLst>
          </a:prstGeom>
          <a:solidFill>
            <a:srgbClr val="FFF3DC"/>
          </a:solidFill>
          <a:ln w="19050">
            <a:solidFill>
              <a:srgbClr val="F5E6C8"/>
            </a:solidFill>
            <a:prstDash val="solid"/>
          </a:ln>
        </p:spPr>
      </p:sp>
      <p:sp>
        <p:nvSpPr>
          <p:cNvPr id="6" name="Text 4"/>
          <p:cNvSpPr/>
          <p:nvPr/>
        </p:nvSpPr>
        <p:spPr>
          <a:xfrm>
            <a:off x="1056640" y="147929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7" name="Text 5"/>
          <p:cNvSpPr/>
          <p:nvPr/>
        </p:nvSpPr>
        <p:spPr>
          <a:xfrm>
            <a:off x="1056640" y="1836928"/>
            <a:ext cx="14142720" cy="1869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you wanted to find which river is the longest, would you look at a map or a table? Why?"</a:t>
            </a:r>
            <a:endParaRPr lang="en-US" sz="1200" dirty="0"/>
          </a:p>
        </p:txBody>
      </p:sp>
      <p:sp>
        <p:nvSpPr>
          <p:cNvPr id="8" name="Shape 6"/>
          <p:cNvSpPr/>
          <p:nvPr/>
        </p:nvSpPr>
        <p:spPr>
          <a:xfrm>
            <a:off x="812800" y="4226560"/>
            <a:ext cx="14630400" cy="2600960"/>
          </a:xfrm>
          <a:prstGeom prst="roundRect">
            <a:avLst>
              <a:gd name="adj" fmla="val 7500"/>
            </a:avLst>
          </a:prstGeom>
          <a:solidFill>
            <a:srgbClr val="FFFFFF"/>
          </a:solidFill>
          <a:ln/>
          <a:effectLst>
            <a:outerShdw sx="100000" sy="100000" kx="0" ky="0" algn="bl" rotWithShape="0" blurRad="50800" dist="12700" dir="8100000">
              <a:srgbClr val="000000">
                <a:alpha val="8000"/>
              </a:srgbClr>
            </a:outerShdw>
          </a:effectLst>
        </p:spPr>
      </p:sp>
      <p:sp>
        <p:nvSpPr>
          <p:cNvPr id="9" name="Text 7"/>
          <p:cNvSpPr/>
          <p:nvPr/>
        </p:nvSpPr>
        <p:spPr>
          <a:xfrm>
            <a:off x="1137920" y="4389120"/>
            <a:ext cx="6502400" cy="4064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THINK ABOUT IT</a:t>
            </a:r>
            <a:endParaRPr lang="en-US" sz="900" dirty="0"/>
          </a:p>
        </p:txBody>
      </p:sp>
      <p:sp>
        <p:nvSpPr>
          <p:cNvPr id="10" name="Text 8"/>
          <p:cNvSpPr/>
          <p:nvPr/>
        </p:nvSpPr>
        <p:spPr>
          <a:xfrm>
            <a:off x="1137920" y="4876800"/>
            <a:ext cx="13817600" cy="1788160"/>
          </a:xfrm>
          <a:prstGeom prst="rect">
            <a:avLst/>
          </a:prstGeom>
          <a:noFill/>
          <a:ln/>
        </p:spPr>
        <p:txBody>
          <a:bodyPr wrap="square" rtlCol="0" anchor="t"/>
          <a:lstStyle/>
          <a:p>
            <a:pPr indent="0" marL="0">
              <a:buNone/>
            </a:pPr>
            <a:r>
              <a:rPr lang="en-US" sz="1300" b="1" dirty="0">
                <a:solidFill>
                  <a:srgbClr val="1A8A7D"/>
                </a:solidFill>
                <a:latin typeface="Calibri" pitchFamily="34" charset="0"/>
                <a:ea typeface="Calibri" pitchFamily="34" charset="-122"/>
                <a:cs typeface="Calibri" pitchFamily="34" charset="-120"/>
              </a:rPr>
              <a:t>A map </a:t>
            </a:r>
            <a:pPr indent="0" marL="0">
              <a:buNone/>
            </a:pPr>
            <a:r>
              <a:rPr lang="en-US" sz="1300" dirty="0">
                <a:solidFill>
                  <a:srgbClr val="0E1C42"/>
                </a:solidFill>
                <a:latin typeface="Calibri" pitchFamily="34" charset="0"/>
                <a:ea typeface="Calibri" pitchFamily="34" charset="-122"/>
                <a:cs typeface="Calibri" pitchFamily="34" charset="-120"/>
              </a:rPr>
              <a:t>can show you where a river is, but can it tell you exactly how long it is in miles?
</a:t>
            </a:r>
            <a:pPr indent="0" marL="0">
              <a:buNone/>
            </a:pPr>
            <a:r>
              <a:rPr lang="en-US" sz="1300" b="1" dirty="0">
                <a:solidFill>
                  <a:srgbClr val="D4943A"/>
                </a:solidFill>
                <a:latin typeface="Calibri" pitchFamily="34" charset="0"/>
                <a:ea typeface="Calibri" pitchFamily="34" charset="-122"/>
                <a:cs typeface="Calibri" pitchFamily="34" charset="-120"/>
              </a:rPr>
              <a:t>A table </a:t>
            </a:r>
            <a:pPr indent="0" marL="0">
              <a:buNone/>
            </a:pPr>
            <a:r>
              <a:rPr lang="en-US" sz="1300" dirty="0">
                <a:solidFill>
                  <a:srgbClr val="0E1C42"/>
                </a:solidFill>
                <a:latin typeface="Calibri" pitchFamily="34" charset="0"/>
                <a:ea typeface="Calibri" pitchFamily="34" charset="-122"/>
                <a:cs typeface="Calibri" pitchFamily="34" charset="-120"/>
              </a:rPr>
              <a:t>lists the exact length right next to the name — no measuring needed.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Discovery Reveal: Bar Charts</a:t>
            </a:r>
            <a:endParaRPr lang="en-US" sz="1800" dirty="0"/>
          </a:p>
        </p:txBody>
      </p:sp>
      <p:sp>
        <p:nvSpPr>
          <p:cNvPr id="5" name="Shape 3"/>
          <p:cNvSpPr/>
          <p:nvPr/>
        </p:nvSpPr>
        <p:spPr>
          <a:xfrm>
            <a:off x="812800" y="1381760"/>
            <a:ext cx="8128000" cy="1625600"/>
          </a:xfrm>
          <a:prstGeom prst="roundRect">
            <a:avLst>
              <a:gd name="adj" fmla="val 12000"/>
            </a:avLst>
          </a:prstGeom>
          <a:solidFill>
            <a:srgbClr val="E3F8ED"/>
          </a:solidFill>
          <a:ln w="12700">
            <a:solidFill>
              <a:srgbClr val="34B76F"/>
            </a:solidFill>
            <a:prstDash val="solid"/>
          </a:ln>
        </p:spPr>
      </p:sp>
      <p:sp>
        <p:nvSpPr>
          <p:cNvPr id="6" name="Text 4"/>
          <p:cNvSpPr/>
          <p:nvPr/>
        </p:nvSpPr>
        <p:spPr>
          <a:xfrm>
            <a:off x="1137920" y="1495552"/>
            <a:ext cx="3251200" cy="40640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BAR CHART</a:t>
            </a:r>
            <a:endParaRPr lang="en-US" sz="1000" dirty="0"/>
          </a:p>
        </p:txBody>
      </p:sp>
      <p:sp>
        <p:nvSpPr>
          <p:cNvPr id="7" name="Text 5"/>
          <p:cNvSpPr/>
          <p:nvPr/>
        </p:nvSpPr>
        <p:spPr>
          <a:xfrm>
            <a:off x="1137920" y="1950720"/>
            <a:ext cx="7477760" cy="894080"/>
          </a:xfrm>
          <a:prstGeom prst="rect">
            <a:avLst/>
          </a:prstGeom>
          <a:noFill/>
          <a:ln/>
        </p:spPr>
        <p:txBody>
          <a:bodyPr wrap="square" rtlCol="0" anchor="ctr"/>
          <a:lstStyle/>
          <a:p>
            <a:pPr indent="0" marL="0">
              <a:lnSpc>
                <a:spcPct val="115000"/>
              </a:lnSpc>
              <a:buNone/>
            </a:pPr>
            <a:r>
              <a:rPr lang="en-US" sz="1300" dirty="0">
                <a:solidFill>
                  <a:srgbClr val="0E1C42"/>
                </a:solidFill>
                <a:latin typeface="Calibri" pitchFamily="34" charset="0"/>
                <a:ea typeface="Calibri" pitchFamily="34" charset="-122"/>
                <a:cs typeface="Calibri" pitchFamily="34" charset="-120"/>
              </a:rPr>
              <a:t>Uses bars of different heights to compare amounts. Taller bar = more.</a:t>
            </a:r>
            <a:endParaRPr lang="en-US" sz="1300" dirty="0"/>
          </a:p>
        </p:txBody>
      </p:sp>
      <p:sp>
        <p:nvSpPr>
          <p:cNvPr id="8" name="Text 6"/>
          <p:cNvSpPr/>
          <p:nvPr/>
        </p:nvSpPr>
        <p:spPr>
          <a:xfrm>
            <a:off x="812800" y="3332480"/>
            <a:ext cx="8128000" cy="65024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Example: Population of each continent — the tallest bar shows the most people.</a:t>
            </a:r>
            <a:endParaRPr lang="en-US" sz="1200" dirty="0"/>
          </a:p>
        </p:txBody>
      </p:sp>
      <p:sp>
        <p:nvSpPr>
          <p:cNvPr id="9" name="Shape 7"/>
          <p:cNvSpPr/>
          <p:nvPr/>
        </p:nvSpPr>
        <p:spPr>
          <a:xfrm>
            <a:off x="9428480" y="1381760"/>
            <a:ext cx="5852160" cy="4551680"/>
          </a:xfrm>
          <a:prstGeom prst="roundRect">
            <a:avLst>
              <a:gd name="adj" fmla="val 4286"/>
            </a:avLst>
          </a:prstGeom>
          <a:solidFill>
            <a:srgbClr val="E2E8F4"/>
          </a:solidFill>
          <a:ln w="19050">
            <a:solidFill>
              <a:srgbClr val="B0B8CC"/>
            </a:solidFill>
            <a:prstDash val="dash"/>
          </a:ln>
        </p:spPr>
      </p:sp>
      <p:sp>
        <p:nvSpPr>
          <p:cNvPr id="10" name="Text 8"/>
          <p:cNvSpPr/>
          <p:nvPr/>
        </p:nvSpPr>
        <p:spPr>
          <a:xfrm>
            <a:off x="9428480" y="1381760"/>
            <a:ext cx="5852160" cy="487680"/>
          </a:xfrm>
          <a:prstGeom prst="rect">
            <a:avLst/>
          </a:prstGeom>
          <a:noFill/>
          <a:ln/>
        </p:spPr>
        <p:txBody>
          <a:bodyPr wrap="square" lIns="1016" tIns="0" rIns="0" bIns="0" rtlCol="0" anchor="t"/>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9672320" y="1869440"/>
            <a:ext cx="536448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Colorful bar chart showing population by continent — Asia's bar clearly tallest, Antarctica very small, clear labels and title</a:t>
            </a:r>
            <a:endParaRPr lang="en-US" sz="1100" dirty="0"/>
          </a:p>
        </p:txBody>
      </p:sp>
      <p:sp>
        <p:nvSpPr>
          <p:cNvPr id="12" name="Shape 10"/>
          <p:cNvSpPr/>
          <p:nvPr/>
        </p:nvSpPr>
        <p:spPr>
          <a:xfrm>
            <a:off x="812800" y="4307840"/>
            <a:ext cx="8128000" cy="1625600"/>
          </a:xfrm>
          <a:prstGeom prst="roundRect">
            <a:avLst>
              <a:gd name="adj" fmla="val 12000"/>
            </a:avLst>
          </a:prstGeom>
          <a:solidFill>
            <a:srgbClr val="FFF8F0"/>
          </a:solidFill>
          <a:ln/>
        </p:spPr>
      </p:sp>
      <p:sp>
        <p:nvSpPr>
          <p:cNvPr id="13" name="Text 11"/>
          <p:cNvSpPr/>
          <p:nvPr/>
        </p:nvSpPr>
        <p:spPr>
          <a:xfrm>
            <a:off x="1137920" y="4470400"/>
            <a:ext cx="7477760" cy="487680"/>
          </a:xfrm>
          <a:prstGeom prst="rect">
            <a:avLst/>
          </a:prstGeom>
          <a:noFill/>
          <a:ln/>
        </p:spPr>
        <p:txBody>
          <a:bodyPr wrap="square"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Charts show HOW MUCH</a:t>
            </a:r>
            <a:endParaRPr lang="en-US" sz="1400" dirty="0"/>
          </a:p>
        </p:txBody>
      </p:sp>
      <p:sp>
        <p:nvSpPr>
          <p:cNvPr id="14" name="Text 12"/>
          <p:cNvSpPr/>
          <p:nvPr/>
        </p:nvSpPr>
        <p:spPr>
          <a:xfrm>
            <a:off x="1137920" y="5039360"/>
            <a:ext cx="7477760" cy="812800"/>
          </a:xfrm>
          <a:prstGeom prst="rect">
            <a:avLst/>
          </a:prstGeom>
          <a:noFill/>
          <a:ln/>
        </p:spPr>
        <p:txBody>
          <a:bodyPr wrap="square" rtlCol="0" anchor="ctr"/>
          <a:lstStyle/>
          <a:p>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They answer questions like: Which continent has the most people? How do Africa and Europe compare? Is South America bigger or smaller than North America in population?</a:t>
            </a:r>
            <a:endParaRPr lang="en-US" sz="1200" dirty="0"/>
          </a:p>
        </p:txBody>
      </p:sp>
      <p:sp>
        <p:nvSpPr>
          <p:cNvPr id="15" name="Shape 13"/>
          <p:cNvSpPr/>
          <p:nvPr/>
        </p:nvSpPr>
        <p:spPr>
          <a:xfrm>
            <a:off x="812800" y="6664960"/>
            <a:ext cx="14630400" cy="178816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6" name="Text 14"/>
          <p:cNvSpPr/>
          <p:nvPr/>
        </p:nvSpPr>
        <p:spPr>
          <a:xfrm>
            <a:off x="1137920" y="682752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1137920" y="7282688"/>
            <a:ext cx="13980160" cy="100787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it easier to compare amounts with bars than with a list of numbers?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the height of a bar tell you?</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Discovery Clue: The Line Goes Up and Down</a:t>
            </a:r>
            <a:endParaRPr lang="en-US" sz="1800" dirty="0"/>
          </a:p>
        </p:txBody>
      </p:sp>
      <p:sp>
        <p:nvSpPr>
          <p:cNvPr id="5" name="Shape 3"/>
          <p:cNvSpPr/>
          <p:nvPr/>
        </p:nvSpPr>
        <p:spPr>
          <a:xfrm>
            <a:off x="812800" y="1381760"/>
            <a:ext cx="7802880" cy="1950720"/>
          </a:xfrm>
          <a:prstGeom prst="roundRect">
            <a:avLst>
              <a:gd name="adj" fmla="val 10000"/>
            </a:avLst>
          </a:prstGeom>
          <a:solidFill>
            <a:srgbClr val="FFFFFF"/>
          </a:solidFill>
          <a:ln/>
          <a:effectLst>
            <a:outerShdw sx="100000" sy="100000" kx="0" ky="0" algn="bl" rotWithShape="0" blurRad="50800" dist="12700" dir="8100000">
              <a:srgbClr val="000000">
                <a:alpha val="8000"/>
              </a:srgbClr>
            </a:outerShdw>
          </a:effectLst>
        </p:spPr>
      </p:sp>
      <p:sp>
        <p:nvSpPr>
          <p:cNvPr id="6" name="Text 4"/>
          <p:cNvSpPr/>
          <p:nvPr/>
        </p:nvSpPr>
        <p:spPr>
          <a:xfrm>
            <a:off x="1137920" y="1544320"/>
            <a:ext cx="7152640" cy="487680"/>
          </a:xfrm>
          <a:prstGeom prst="rect">
            <a:avLst/>
          </a:prstGeom>
          <a:noFill/>
          <a:ln/>
        </p:spPr>
        <p:txBody>
          <a:bodyPr wrap="square" rtlCol="0" anchor="ctr"/>
          <a:lstStyle/>
          <a:p>
            <a:pPr indent="0" marL="0">
              <a:buNone/>
            </a:pPr>
            <a:r>
              <a:rPr lang="en-US" sz="1200" dirty="0">
                <a:solidFill>
                  <a:srgbClr val="7A88A8"/>
                </a:solidFill>
                <a:latin typeface="Calibri" pitchFamily="34" charset="0"/>
                <a:ea typeface="Calibri" pitchFamily="34" charset="-122"/>
                <a:cs typeface="Calibri" pitchFamily="34" charset="-120"/>
              </a:rPr>
              <a:t>A visitor walks up and asks:</a:t>
            </a:r>
            <a:endParaRPr lang="en-US" sz="1200" dirty="0"/>
          </a:p>
        </p:txBody>
      </p:sp>
      <p:sp>
        <p:nvSpPr>
          <p:cNvPr id="7" name="Text 5"/>
          <p:cNvSpPr/>
          <p:nvPr/>
        </p:nvSpPr>
        <p:spPr>
          <a:xfrm>
            <a:off x="1137920" y="2113280"/>
            <a:ext cx="7152640" cy="975360"/>
          </a:xfrm>
          <a:prstGeom prst="rect">
            <a:avLst/>
          </a:prstGeom>
          <a:noFill/>
          <a:ln/>
        </p:spPr>
        <p:txBody>
          <a:bodyPr wrap="square" rtlCol="0" anchor="ctr"/>
          <a:lstStyle/>
          <a:p>
            <a:pPr indent="0" marL="0">
              <a:buNone/>
            </a:pPr>
            <a:r>
              <a:rPr lang="en-US" sz="1500" b="1" i="1" dirty="0">
                <a:solidFill>
                  <a:srgbClr val="0E1C42"/>
                </a:solidFill>
                <a:latin typeface="Cambria" pitchFamily="34" charset="0"/>
                <a:ea typeface="Cambria" pitchFamily="34" charset="-122"/>
                <a:cs typeface="Cambria" pitchFamily="34" charset="-120"/>
              </a:rPr>
              <a:t>“Has the temperature been going up over the year?”</a:t>
            </a:r>
            <a:endParaRPr lang="en-US" sz="1500" dirty="0"/>
          </a:p>
        </p:txBody>
      </p:sp>
      <p:sp>
        <p:nvSpPr>
          <p:cNvPr id="8" name="Shape 6"/>
          <p:cNvSpPr/>
          <p:nvPr/>
        </p:nvSpPr>
        <p:spPr>
          <a:xfrm>
            <a:off x="9103360" y="1381760"/>
            <a:ext cx="6177280" cy="4876800"/>
          </a:xfrm>
          <a:prstGeom prst="roundRect">
            <a:avLst>
              <a:gd name="adj" fmla="val 4000"/>
            </a:avLst>
          </a:prstGeom>
          <a:solidFill>
            <a:srgbClr val="E2E8F4"/>
          </a:solidFill>
          <a:ln w="19050">
            <a:solidFill>
              <a:srgbClr val="B0B8CC"/>
            </a:solidFill>
            <a:prstDash val="dash"/>
          </a:ln>
        </p:spPr>
      </p:sp>
      <p:sp>
        <p:nvSpPr>
          <p:cNvPr id="9" name="Text 7"/>
          <p:cNvSpPr/>
          <p:nvPr/>
        </p:nvSpPr>
        <p:spPr>
          <a:xfrm>
            <a:off x="9103360" y="1381760"/>
            <a:ext cx="6177280" cy="487680"/>
          </a:xfrm>
          <a:prstGeom prst="rect">
            <a:avLst/>
          </a:prstGeom>
          <a:noFill/>
          <a:ln/>
        </p:spPr>
        <p:txBody>
          <a:bodyPr wrap="square" lIns="1016" tIns="0" rIns="0" bIns="0" rtlCol="0" anchor="t"/>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9347200" y="1869440"/>
            <a:ext cx="5689600" cy="4226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Simple line graph showing average monthly temperature over 12 months — line rises from January, peaks in summer, falls again — clean labels on axes</a:t>
            </a:r>
            <a:endParaRPr lang="en-US" sz="1100" dirty="0"/>
          </a:p>
        </p:txBody>
      </p:sp>
      <p:sp>
        <p:nvSpPr>
          <p:cNvPr id="11" name="Shape 9"/>
          <p:cNvSpPr/>
          <p:nvPr/>
        </p:nvSpPr>
        <p:spPr>
          <a:xfrm>
            <a:off x="812800" y="3738880"/>
            <a:ext cx="7802880" cy="2438400"/>
          </a:xfrm>
          <a:prstGeom prst="roundRect">
            <a:avLst>
              <a:gd name="adj" fmla="val 8000"/>
            </a:avLst>
          </a:prstGeom>
          <a:solidFill>
            <a:srgbClr val="F0E8FF"/>
          </a:solidFill>
          <a:ln w="12700">
            <a:solidFill>
              <a:srgbClr val="8B6FC0"/>
            </a:solidFill>
            <a:prstDash val="solid"/>
          </a:ln>
        </p:spPr>
      </p:sp>
      <p:sp>
        <p:nvSpPr>
          <p:cNvPr id="12" name="Text 10"/>
          <p:cNvSpPr/>
          <p:nvPr/>
        </p:nvSpPr>
        <p:spPr>
          <a:xfrm>
            <a:off x="1137920" y="3901440"/>
            <a:ext cx="7152640" cy="487680"/>
          </a:xfrm>
          <a:prstGeom prst="rect">
            <a:avLst/>
          </a:prstGeom>
          <a:noFill/>
          <a:ln/>
        </p:spPr>
        <p:txBody>
          <a:bodyPr wrap="square"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Could a table answer this question?</a:t>
            </a:r>
            <a:endParaRPr lang="en-US" sz="1300" dirty="0"/>
          </a:p>
        </p:txBody>
      </p:sp>
      <p:sp>
        <p:nvSpPr>
          <p:cNvPr id="13" name="Text 11"/>
          <p:cNvSpPr/>
          <p:nvPr/>
        </p:nvSpPr>
        <p:spPr>
          <a:xfrm>
            <a:off x="1137920" y="4470400"/>
            <a:ext cx="7152640" cy="1544320"/>
          </a:xfrm>
          <a:prstGeom prst="rect">
            <a:avLst/>
          </a:prstGeom>
          <a:noFill/>
          <a:ln/>
        </p:spPr>
        <p:txBody>
          <a:bodyPr wrap="square"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A table could list the temperatures, but you’d have to read every number and figure out the pattern yourself.</a:t>
            </a:r>
            <a:endParaRPr lang="en-US" sz="1200" dirty="0"/>
          </a:p>
          <a:p>
            <a:pPr indent="0" marL="0">
              <a:lnSpc>
                <a:spcPct val="120000"/>
              </a:lnSpc>
              <a:buNone/>
            </a:pPr>
            <a:endParaRPr lang="en-US" sz="1200" dirty="0"/>
          </a:p>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What if there was a picture that SHOWED you the ups and downs?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Discovery Reveal: Line Graphs</a:t>
            </a:r>
            <a:endParaRPr lang="en-US" sz="1800" dirty="0"/>
          </a:p>
        </p:txBody>
      </p:sp>
      <p:sp>
        <p:nvSpPr>
          <p:cNvPr id="5" name="Shape 3"/>
          <p:cNvSpPr/>
          <p:nvPr/>
        </p:nvSpPr>
        <p:spPr>
          <a:xfrm>
            <a:off x="812800" y="1381760"/>
            <a:ext cx="8128000" cy="1625600"/>
          </a:xfrm>
          <a:prstGeom prst="roundRect">
            <a:avLst>
              <a:gd name="adj" fmla="val 12000"/>
            </a:avLst>
          </a:prstGeom>
          <a:solidFill>
            <a:srgbClr val="F0E8FF"/>
          </a:solidFill>
          <a:ln w="12700">
            <a:solidFill>
              <a:srgbClr val="8B6FC0"/>
            </a:solidFill>
            <a:prstDash val="solid"/>
          </a:ln>
        </p:spPr>
      </p:sp>
      <p:sp>
        <p:nvSpPr>
          <p:cNvPr id="6" name="Text 4"/>
          <p:cNvSpPr/>
          <p:nvPr/>
        </p:nvSpPr>
        <p:spPr>
          <a:xfrm>
            <a:off x="1137920" y="1495552"/>
            <a:ext cx="4064000" cy="406400"/>
          </a:xfrm>
          <a:prstGeom prst="rect">
            <a:avLst/>
          </a:prstGeom>
          <a:noFill/>
          <a:ln/>
        </p:spPr>
        <p:txBody>
          <a:bodyPr wrap="square" rtlCol="0" anchor="ctr"/>
          <a:lstStyle/>
          <a:p>
            <a:pPr indent="0" marL="0">
              <a:buNone/>
            </a:pPr>
            <a:r>
              <a:rPr lang="en-US" sz="1000" b="1" spc="150" kern="0" dirty="0">
                <a:solidFill>
                  <a:srgbClr val="8B6FC0"/>
                </a:solidFill>
                <a:latin typeface="Calibri" pitchFamily="34" charset="0"/>
                <a:ea typeface="Calibri" pitchFamily="34" charset="-122"/>
                <a:cs typeface="Calibri" pitchFamily="34" charset="-120"/>
              </a:rPr>
              <a:t>LINE GRAPH</a:t>
            </a:r>
            <a:endParaRPr lang="en-US" sz="1000" dirty="0"/>
          </a:p>
        </p:txBody>
      </p:sp>
      <p:sp>
        <p:nvSpPr>
          <p:cNvPr id="7" name="Text 5"/>
          <p:cNvSpPr/>
          <p:nvPr/>
        </p:nvSpPr>
        <p:spPr>
          <a:xfrm>
            <a:off x="1137920" y="1950720"/>
            <a:ext cx="7477760" cy="894080"/>
          </a:xfrm>
          <a:prstGeom prst="rect">
            <a:avLst/>
          </a:prstGeom>
          <a:noFill/>
          <a:ln/>
        </p:spPr>
        <p:txBody>
          <a:bodyPr wrap="square" rtlCol="0" anchor="ctr"/>
          <a:lstStyle/>
          <a:p>
            <a:pPr indent="0" marL="0">
              <a:lnSpc>
                <a:spcPct val="115000"/>
              </a:lnSpc>
              <a:buNone/>
            </a:pPr>
            <a:r>
              <a:rPr lang="en-US" sz="1300" dirty="0">
                <a:solidFill>
                  <a:srgbClr val="0E1C42"/>
                </a:solidFill>
                <a:latin typeface="Calibri" pitchFamily="34" charset="0"/>
                <a:ea typeface="Calibri" pitchFamily="34" charset="-122"/>
                <a:cs typeface="Calibri" pitchFamily="34" charset="-120"/>
              </a:rPr>
              <a:t>Shows how something changes over time. Line goes up = increase. Line goes down = decrease.</a:t>
            </a:r>
            <a:endParaRPr lang="en-US" sz="1300" dirty="0"/>
          </a:p>
        </p:txBody>
      </p:sp>
      <p:sp>
        <p:nvSpPr>
          <p:cNvPr id="8" name="Shape 6"/>
          <p:cNvSpPr/>
          <p:nvPr/>
        </p:nvSpPr>
        <p:spPr>
          <a:xfrm>
            <a:off x="812800" y="3413760"/>
            <a:ext cx="8128000" cy="2519680"/>
          </a:xfrm>
          <a:prstGeom prst="roundRect">
            <a:avLst>
              <a:gd name="adj" fmla="val 7742"/>
            </a:avLst>
          </a:prstGeom>
          <a:solidFill>
            <a:srgbClr val="FFF8F0"/>
          </a:solidFill>
          <a:ln/>
        </p:spPr>
      </p:sp>
      <p:sp>
        <p:nvSpPr>
          <p:cNvPr id="9" name="Text 7"/>
          <p:cNvSpPr/>
          <p:nvPr/>
        </p:nvSpPr>
        <p:spPr>
          <a:xfrm>
            <a:off x="1137920" y="3576320"/>
            <a:ext cx="7477760" cy="487680"/>
          </a:xfrm>
          <a:prstGeom prst="rect">
            <a:avLst/>
          </a:prstGeom>
          <a:noFill/>
          <a:ln/>
        </p:spPr>
        <p:txBody>
          <a:bodyPr wrap="square"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Graphs show HOW THINGS CHANGE</a:t>
            </a:r>
            <a:endParaRPr lang="en-US" sz="1400" dirty="0"/>
          </a:p>
        </p:txBody>
      </p:sp>
      <p:sp>
        <p:nvSpPr>
          <p:cNvPr id="10" name="Text 8"/>
          <p:cNvSpPr/>
          <p:nvPr/>
        </p:nvSpPr>
        <p:spPr>
          <a:xfrm>
            <a:off x="1137920" y="4145280"/>
            <a:ext cx="7477760" cy="1625600"/>
          </a:xfrm>
          <a:prstGeom prst="rect">
            <a:avLst/>
          </a:prstGeom>
          <a:noFill/>
          <a:ln/>
        </p:spPr>
        <p:txBody>
          <a:bodyPr wrap="square" rtlCol="0" anchor="ctr"/>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Reading a line graph:</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  Line goes UP → the number is increasing</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  Line goes DOWN → the number is decreasing</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  Line stays FLAT → no change</a:t>
            </a:r>
            <a:endParaRPr lang="en-US" sz="1200" dirty="0"/>
          </a:p>
        </p:txBody>
      </p:sp>
      <p:sp>
        <p:nvSpPr>
          <p:cNvPr id="11" name="Shape 9"/>
          <p:cNvSpPr/>
          <p:nvPr/>
        </p:nvSpPr>
        <p:spPr>
          <a:xfrm>
            <a:off x="9428480" y="1381760"/>
            <a:ext cx="5852160" cy="4551680"/>
          </a:xfrm>
          <a:prstGeom prst="roundRect">
            <a:avLst>
              <a:gd name="adj" fmla="val 4286"/>
            </a:avLst>
          </a:prstGeom>
          <a:solidFill>
            <a:srgbClr val="E2E8F4"/>
          </a:solidFill>
          <a:ln w="19050">
            <a:solidFill>
              <a:srgbClr val="B0B8CC"/>
            </a:solidFill>
            <a:prstDash val="dash"/>
          </a:ln>
        </p:spPr>
      </p:sp>
      <p:sp>
        <p:nvSpPr>
          <p:cNvPr id="12" name="Text 10"/>
          <p:cNvSpPr/>
          <p:nvPr/>
        </p:nvSpPr>
        <p:spPr>
          <a:xfrm>
            <a:off x="9428480" y="1381760"/>
            <a:ext cx="5852160" cy="487680"/>
          </a:xfrm>
          <a:prstGeom prst="rect">
            <a:avLst/>
          </a:prstGeom>
          <a:noFill/>
          <a:ln/>
        </p:spPr>
        <p:txBody>
          <a:bodyPr wrap="square" lIns="1016" tIns="0" rIns="0" bIns="0" rtlCol="0" anchor="t"/>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3" name="Text 11"/>
          <p:cNvSpPr/>
          <p:nvPr/>
        </p:nvSpPr>
        <p:spPr>
          <a:xfrm>
            <a:off x="9672320" y="1869440"/>
            <a:ext cx="536448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Annotated line graph with arrows pointing to rising section labeled 'Increasing', falling section labeled 'Decreasing', and flat section labeled 'No change'</a:t>
            </a:r>
            <a:endParaRPr lang="en-US" sz="1100" dirty="0"/>
          </a:p>
        </p:txBody>
      </p:sp>
      <p:sp>
        <p:nvSpPr>
          <p:cNvPr id="14" name="Shape 12"/>
          <p:cNvSpPr/>
          <p:nvPr/>
        </p:nvSpPr>
        <p:spPr>
          <a:xfrm>
            <a:off x="812800" y="6664960"/>
            <a:ext cx="14630400" cy="1788160"/>
          </a:xfrm>
          <a:prstGeom prst="roundRect">
            <a:avLst>
              <a:gd name="adj" fmla="val 13636"/>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1137920" y="682752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1137920" y="7282688"/>
            <a:ext cx="13980160" cy="100787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the direction of the line tell you?</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is a line graph better than a table for showing change over time?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Chat Frame: Pick the Evidence</a:t>
            </a:r>
            <a:endParaRPr lang="en-US" sz="1800" dirty="0"/>
          </a:p>
        </p:txBody>
      </p:sp>
      <p:sp>
        <p:nvSpPr>
          <p:cNvPr id="5" name="Shape 3"/>
          <p:cNvSpPr/>
          <p:nvPr/>
        </p:nvSpPr>
        <p:spPr>
          <a:xfrm>
            <a:off x="812800" y="1381760"/>
            <a:ext cx="14630400" cy="2438400"/>
          </a:xfrm>
          <a:prstGeom prst="roundRect">
            <a:avLst>
              <a:gd name="adj" fmla="val 8000"/>
            </a:avLst>
          </a:prstGeom>
          <a:solidFill>
            <a:srgbClr val="FFF3DC"/>
          </a:solidFill>
          <a:ln w="19050">
            <a:solidFill>
              <a:srgbClr val="F5E6C8"/>
            </a:solidFill>
            <a:prstDash val="solid"/>
          </a:ln>
        </p:spPr>
      </p:sp>
      <p:sp>
        <p:nvSpPr>
          <p:cNvPr id="6" name="Text 4"/>
          <p:cNvSpPr/>
          <p:nvPr/>
        </p:nvSpPr>
        <p:spPr>
          <a:xfrm>
            <a:off x="1056640" y="147929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7" name="Text 5"/>
          <p:cNvSpPr/>
          <p:nvPr/>
        </p:nvSpPr>
        <p:spPr>
          <a:xfrm>
            <a:off x="1056640" y="1836928"/>
            <a:ext cx="14142720" cy="1869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a visitor asked 'Has the world's population been going up or down?' — would you show them a table, a bar chart, a line graph, or a photo? Why?"</a:t>
            </a:r>
            <a:endParaRPr lang="en-US" sz="1200" dirty="0"/>
          </a:p>
        </p:txBody>
      </p:sp>
      <p:sp>
        <p:nvSpPr>
          <p:cNvPr id="8" name="Shape 6"/>
          <p:cNvSpPr/>
          <p:nvPr/>
        </p:nvSpPr>
        <p:spPr>
          <a:xfrm>
            <a:off x="812800" y="4226560"/>
            <a:ext cx="14630400" cy="3576320"/>
          </a:xfrm>
          <a:prstGeom prst="roundRect">
            <a:avLst>
              <a:gd name="adj" fmla="val 5455"/>
            </a:avLst>
          </a:prstGeom>
          <a:solidFill>
            <a:srgbClr val="FFFFFF"/>
          </a:solidFill>
          <a:ln/>
          <a:effectLst>
            <a:outerShdw sx="100000" sy="100000" kx="0" ky="0" algn="bl" rotWithShape="0" blurRad="50800" dist="12700" dir="8100000">
              <a:srgbClr val="000000">
                <a:alpha val="8000"/>
              </a:srgbClr>
            </a:outerShdw>
          </a:effectLst>
        </p:spPr>
      </p:sp>
      <p:sp>
        <p:nvSpPr>
          <p:cNvPr id="9" name="Text 7"/>
          <p:cNvSpPr/>
          <p:nvPr/>
        </p:nvSpPr>
        <p:spPr>
          <a:xfrm>
            <a:off x="1137920" y="4389120"/>
            <a:ext cx="6502400" cy="4064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GUIDE THE DISCUSSION</a:t>
            </a:r>
            <a:endParaRPr lang="en-US" sz="900" dirty="0"/>
          </a:p>
        </p:txBody>
      </p:sp>
      <p:sp>
        <p:nvSpPr>
          <p:cNvPr id="10" name="Text 8"/>
          <p:cNvSpPr/>
          <p:nvPr/>
        </p:nvSpPr>
        <p:spPr>
          <a:xfrm>
            <a:off x="1137920" y="4876800"/>
            <a:ext cx="13817600" cy="2763520"/>
          </a:xfrm>
          <a:prstGeom prst="rect">
            <a:avLst/>
          </a:prstGeom>
          <a:noFill/>
          <a:ln/>
        </p:spPr>
        <p:txBody>
          <a:bodyPr wrap="square" rtlCol="0" anchor="t"/>
          <a:lstStyle/>
          <a:p>
            <a:pPr indent="0" marL="0">
              <a:lnSpc>
                <a:spcPct val="140000"/>
              </a:lnSpc>
              <a:buNone/>
            </a:pPr>
            <a:r>
              <a:rPr lang="en-US" sz="1200" b="1" dirty="0">
                <a:solidFill>
                  <a:srgbClr val="0E1C42"/>
                </a:solidFill>
                <a:latin typeface="Calibri" pitchFamily="34" charset="0"/>
                <a:ea typeface="Calibri" pitchFamily="34" charset="-122"/>
                <a:cs typeface="Calibri" pitchFamily="34" charset="-120"/>
              </a:rPr>
              <a:t>•  Table? </a:t>
            </a:r>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Could list population numbers, but hard to see the trend.
</a:t>
            </a:r>
            <a:pPr indent="0" marL="0">
              <a:lnSpc>
                <a:spcPct val="140000"/>
              </a:lnSpc>
              <a:buNone/>
            </a:pPr>
            <a:r>
              <a:rPr lang="en-US" sz="1200" b="1" dirty="0">
                <a:solidFill>
                  <a:srgbClr val="0E1C42"/>
                </a:solidFill>
                <a:latin typeface="Calibri" pitchFamily="34" charset="0"/>
                <a:ea typeface="Calibri" pitchFamily="34" charset="-122"/>
                <a:cs typeface="Calibri" pitchFamily="34" charset="-120"/>
              </a:rPr>
              <a:t>•  Bar chart? </a:t>
            </a:r>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Good for comparing, but doesn't show change over TIME.
</a:t>
            </a:r>
            <a:pPr indent="0" marL="0">
              <a:lnSpc>
                <a:spcPct val="140000"/>
              </a:lnSpc>
              <a:buNone/>
            </a:pPr>
            <a:r>
              <a:rPr lang="en-US" sz="1200" b="1" dirty="0">
                <a:solidFill>
                  <a:srgbClr val="34B76F"/>
                </a:solidFill>
                <a:latin typeface="Calibri" pitchFamily="34" charset="0"/>
                <a:ea typeface="Calibri" pitchFamily="34" charset="-122"/>
                <a:cs typeface="Calibri" pitchFamily="34" charset="-120"/>
              </a:rPr>
              <a:t>•  Line graph? </a:t>
            </a:r>
            <a:pPr indent="0" marL="0">
              <a:lnSpc>
                <a:spcPct val="140000"/>
              </a:lnSpc>
              <a:buNone/>
            </a:pPr>
            <a:r>
              <a:rPr lang="en-US" sz="1200" b="1" dirty="0">
                <a:solidFill>
                  <a:srgbClr val="34B76F"/>
                </a:solidFill>
                <a:latin typeface="Calibri" pitchFamily="34" charset="0"/>
                <a:ea typeface="Calibri" pitchFamily="34" charset="-122"/>
                <a:cs typeface="Calibri" pitchFamily="34" charset="-120"/>
              </a:rPr>
              <a:t>BEST — shows up-or-down over time!
</a:t>
            </a:r>
            <a:pPr indent="0" marL="0">
              <a:lnSpc>
                <a:spcPct val="140000"/>
              </a:lnSpc>
              <a:buNone/>
            </a:pPr>
            <a:r>
              <a:rPr lang="en-US" sz="1200" b="1" dirty="0">
                <a:solidFill>
                  <a:srgbClr val="0E1C42"/>
                </a:solidFill>
                <a:latin typeface="Calibri" pitchFamily="34" charset="0"/>
                <a:ea typeface="Calibri" pitchFamily="34" charset="-122"/>
                <a:cs typeface="Calibri" pitchFamily="34" charset="-120"/>
              </a:rPr>
              <a:t>•  Photo? </a:t>
            </a:r>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Can’t show population numbers at all.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Discovery Reveal: Photographs</a:t>
            </a:r>
            <a:endParaRPr lang="en-US" sz="1800" dirty="0"/>
          </a:p>
        </p:txBody>
      </p:sp>
      <p:sp>
        <p:nvSpPr>
          <p:cNvPr id="5" name="Shape 3"/>
          <p:cNvSpPr/>
          <p:nvPr/>
        </p:nvSpPr>
        <p:spPr>
          <a:xfrm>
            <a:off x="812800" y="1381760"/>
            <a:ext cx="8128000" cy="1625600"/>
          </a:xfrm>
          <a:prstGeom prst="roundRect">
            <a:avLst>
              <a:gd name="adj" fmla="val 12000"/>
            </a:avLst>
          </a:prstGeom>
          <a:solidFill>
            <a:srgbClr val="EAF8FD"/>
          </a:solidFill>
          <a:ln w="12700">
            <a:solidFill>
              <a:srgbClr val="55C8E8"/>
            </a:solidFill>
            <a:prstDash val="solid"/>
          </a:ln>
        </p:spPr>
      </p:sp>
      <p:sp>
        <p:nvSpPr>
          <p:cNvPr id="6" name="Text 4"/>
          <p:cNvSpPr/>
          <p:nvPr/>
        </p:nvSpPr>
        <p:spPr>
          <a:xfrm>
            <a:off x="1137920" y="1495552"/>
            <a:ext cx="4876800" cy="406400"/>
          </a:xfrm>
          <a:prstGeom prst="rect">
            <a:avLst/>
          </a:prstGeom>
          <a:noFill/>
          <a:ln/>
        </p:spPr>
        <p:txBody>
          <a:bodyPr wrap="square"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PHOTOGRAPH</a:t>
            </a:r>
            <a:endParaRPr lang="en-US" sz="1000" dirty="0"/>
          </a:p>
        </p:txBody>
      </p:sp>
      <p:sp>
        <p:nvSpPr>
          <p:cNvPr id="7" name="Text 5"/>
          <p:cNvSpPr/>
          <p:nvPr/>
        </p:nvSpPr>
        <p:spPr>
          <a:xfrm>
            <a:off x="1137920" y="1950720"/>
            <a:ext cx="7477760" cy="894080"/>
          </a:xfrm>
          <a:prstGeom prst="rect">
            <a:avLst/>
          </a:prstGeom>
          <a:noFill/>
          <a:ln/>
        </p:spPr>
        <p:txBody>
          <a:bodyPr wrap="square" rtlCol="0" anchor="ctr"/>
          <a:lstStyle/>
          <a:p>
            <a:pPr indent="0" marL="0">
              <a:lnSpc>
                <a:spcPct val="115000"/>
              </a:lnSpc>
              <a:buNone/>
            </a:pPr>
            <a:r>
              <a:rPr lang="en-US" sz="1300" dirty="0">
                <a:solidFill>
                  <a:srgbClr val="0E1C42"/>
                </a:solidFill>
                <a:latin typeface="Calibri" pitchFamily="34" charset="0"/>
                <a:ea typeface="Calibri" pitchFamily="34" charset="-122"/>
                <a:cs typeface="Calibri" pitchFamily="34" charset="-120"/>
              </a:rPr>
              <a:t>Shows what a place really looks like — captures real details like color, texture, and shape that drawings and charts can’t.</a:t>
            </a:r>
            <a:endParaRPr lang="en-US" sz="1300" dirty="0"/>
          </a:p>
        </p:txBody>
      </p:sp>
      <p:sp>
        <p:nvSpPr>
          <p:cNvPr id="8" name="Shape 6"/>
          <p:cNvSpPr/>
          <p:nvPr/>
        </p:nvSpPr>
        <p:spPr>
          <a:xfrm>
            <a:off x="9428480" y="1381760"/>
            <a:ext cx="5852160" cy="4551680"/>
          </a:xfrm>
          <a:prstGeom prst="roundRect">
            <a:avLst>
              <a:gd name="adj" fmla="val 4286"/>
            </a:avLst>
          </a:prstGeom>
          <a:solidFill>
            <a:srgbClr val="E2E8F4"/>
          </a:solidFill>
          <a:ln w="19050">
            <a:solidFill>
              <a:srgbClr val="B0B8CC"/>
            </a:solidFill>
            <a:prstDash val="dash"/>
          </a:ln>
        </p:spPr>
      </p:sp>
      <p:sp>
        <p:nvSpPr>
          <p:cNvPr id="9" name="Text 7"/>
          <p:cNvSpPr/>
          <p:nvPr/>
        </p:nvSpPr>
        <p:spPr>
          <a:xfrm>
            <a:off x="9428480" y="1381760"/>
            <a:ext cx="5852160" cy="487680"/>
          </a:xfrm>
          <a:prstGeom prst="rect">
            <a:avLst/>
          </a:prstGeom>
          <a:noFill/>
          <a:ln/>
        </p:spPr>
        <p:txBody>
          <a:bodyPr wrap="square" lIns="1016" tIns="0" rIns="0" bIns="0" rtlCol="0" anchor="t"/>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9672320" y="1869440"/>
            <a:ext cx="5364480" cy="3901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Dramatic photograph of a mountain range (such as the Andes or Rockies) showing snow-capped peaks, green valleys, and blue sky — vivid and detailed</a:t>
            </a:r>
            <a:endParaRPr lang="en-US" sz="1100" dirty="0"/>
          </a:p>
        </p:txBody>
      </p:sp>
      <p:sp>
        <p:nvSpPr>
          <p:cNvPr id="11" name="Shape 9"/>
          <p:cNvSpPr/>
          <p:nvPr/>
        </p:nvSpPr>
        <p:spPr>
          <a:xfrm>
            <a:off x="812800" y="3413760"/>
            <a:ext cx="8128000" cy="1300480"/>
          </a:xfrm>
          <a:prstGeom prst="roundRect">
            <a:avLst>
              <a:gd name="adj" fmla="val 15000"/>
            </a:avLst>
          </a:prstGeom>
          <a:solidFill>
            <a:srgbClr val="FFF8F0"/>
          </a:solidFill>
          <a:ln/>
        </p:spPr>
      </p:sp>
      <p:sp>
        <p:nvSpPr>
          <p:cNvPr id="12" name="Text 10"/>
          <p:cNvSpPr/>
          <p:nvPr/>
        </p:nvSpPr>
        <p:spPr>
          <a:xfrm>
            <a:off x="1137920" y="3576320"/>
            <a:ext cx="7477760" cy="487680"/>
          </a:xfrm>
          <a:prstGeom prst="rect">
            <a:avLst/>
          </a:prstGeom>
          <a:noFill/>
          <a:ln/>
        </p:spPr>
        <p:txBody>
          <a:bodyPr wrap="square"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Photos show WHAT IT REALLY LOOKS LIKE</a:t>
            </a:r>
            <a:endParaRPr lang="en-US" sz="1400" dirty="0"/>
          </a:p>
        </p:txBody>
      </p:sp>
      <p:sp>
        <p:nvSpPr>
          <p:cNvPr id="13" name="Text 11"/>
          <p:cNvSpPr/>
          <p:nvPr/>
        </p:nvSpPr>
        <p:spPr>
          <a:xfrm>
            <a:off x="1137920" y="4145280"/>
            <a:ext cx="7477760" cy="48768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No chart or map can show the actual colors, textures, and shapes of a real place.</a:t>
            </a:r>
            <a:endParaRPr lang="en-US" sz="1200" dirty="0"/>
          </a:p>
        </p:txBody>
      </p:sp>
      <p:sp>
        <p:nvSpPr>
          <p:cNvPr id="14" name="Shape 12"/>
          <p:cNvSpPr/>
          <p:nvPr/>
        </p:nvSpPr>
        <p:spPr>
          <a:xfrm>
            <a:off x="812800" y="5120640"/>
            <a:ext cx="14630400" cy="1381760"/>
          </a:xfrm>
          <a:prstGeom prst="roundRect">
            <a:avLst>
              <a:gd name="adj" fmla="val 14118"/>
            </a:avLst>
          </a:prstGeom>
          <a:solidFill>
            <a:srgbClr val="FFF3DC"/>
          </a:solidFill>
          <a:ln w="19050">
            <a:solidFill>
              <a:srgbClr val="D4943A"/>
            </a:solidFill>
            <a:prstDash val="solid"/>
          </a:ln>
        </p:spPr>
      </p:sp>
      <p:sp>
        <p:nvSpPr>
          <p:cNvPr id="15" name="Text 13"/>
          <p:cNvSpPr/>
          <p:nvPr/>
        </p:nvSpPr>
        <p:spPr>
          <a:xfrm>
            <a:off x="1137920" y="5234432"/>
            <a:ext cx="48768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DISCOVERY FACT</a:t>
            </a:r>
            <a:endParaRPr lang="en-US" sz="900" dirty="0"/>
          </a:p>
        </p:txBody>
      </p:sp>
      <p:sp>
        <p:nvSpPr>
          <p:cNvPr id="16" name="Text 14"/>
          <p:cNvSpPr/>
          <p:nvPr/>
        </p:nvSpPr>
        <p:spPr>
          <a:xfrm>
            <a:off x="1137920" y="5657088"/>
            <a:ext cx="13817600" cy="780288"/>
          </a:xfrm>
          <a:prstGeom prst="rect">
            <a:avLst/>
          </a:prstGeom>
          <a:noFill/>
          <a:ln/>
        </p:spPr>
        <p:txBody>
          <a:bodyPr wrap="square" rtlCol="0" anchor="ctr"/>
          <a:lstStyle/>
          <a:p>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The very first photograph ever taken was in 1826 — it showed a view from a window in France. It took about eight hours to take that one picture! Today your phone takes one in a fraction of a second.</a:t>
            </a:r>
            <a:endParaRPr lang="en-US" sz="1200" dirty="0"/>
          </a:p>
        </p:txBody>
      </p:sp>
      <p:sp>
        <p:nvSpPr>
          <p:cNvPr id="17" name="Shape 15"/>
          <p:cNvSpPr/>
          <p:nvPr/>
        </p:nvSpPr>
        <p:spPr>
          <a:xfrm>
            <a:off x="812800" y="6908800"/>
            <a:ext cx="14630400" cy="1625600"/>
          </a:xfrm>
          <a:prstGeom prst="roundRect">
            <a:avLst>
              <a:gd name="adj" fmla="val 15000"/>
            </a:avLst>
          </a:prstGeom>
          <a:solidFill>
            <a:srgbClr val="1A2D5A"/>
          </a:solidFill>
          <a:ln/>
          <a:effectLst>
            <a:outerShdw sx="100000" sy="100000" kx="0" ky="0" algn="bl" rotWithShape="0" blurRad="101600" dist="38100" dir="8100000">
              <a:srgbClr val="000000">
                <a:alpha val="20000"/>
              </a:srgbClr>
            </a:outerShdw>
          </a:effectLst>
        </p:spPr>
      </p:sp>
      <p:sp>
        <p:nvSpPr>
          <p:cNvPr id="18" name="Text 16"/>
          <p:cNvSpPr/>
          <p:nvPr/>
        </p:nvSpPr>
        <p:spPr>
          <a:xfrm>
            <a:off x="1137920" y="707136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9" name="Text 17"/>
          <p:cNvSpPr/>
          <p:nvPr/>
        </p:nvSpPr>
        <p:spPr>
          <a:xfrm>
            <a:off x="1137920" y="7526528"/>
            <a:ext cx="13980160" cy="8453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can a photograph show that no chart, table, or map can?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a curator put a photo next to a map of the same place?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Chat Frame: Photo vs. Map</a:t>
            </a:r>
            <a:endParaRPr lang="en-US" sz="1800" dirty="0"/>
          </a:p>
        </p:txBody>
      </p:sp>
      <p:sp>
        <p:nvSpPr>
          <p:cNvPr id="5" name="Shape 3"/>
          <p:cNvSpPr/>
          <p:nvPr/>
        </p:nvSpPr>
        <p:spPr>
          <a:xfrm>
            <a:off x="812800" y="1381760"/>
            <a:ext cx="14630400" cy="2438400"/>
          </a:xfrm>
          <a:prstGeom prst="roundRect">
            <a:avLst>
              <a:gd name="adj" fmla="val 8000"/>
            </a:avLst>
          </a:prstGeom>
          <a:solidFill>
            <a:srgbClr val="FFF3DC"/>
          </a:solidFill>
          <a:ln w="19050">
            <a:solidFill>
              <a:srgbClr val="F5E6C8"/>
            </a:solidFill>
            <a:prstDash val="solid"/>
          </a:ln>
        </p:spPr>
      </p:sp>
      <p:sp>
        <p:nvSpPr>
          <p:cNvPr id="6" name="Text 4"/>
          <p:cNvSpPr/>
          <p:nvPr/>
        </p:nvSpPr>
        <p:spPr>
          <a:xfrm>
            <a:off x="1056640" y="147929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7" name="Text 5"/>
          <p:cNvSpPr/>
          <p:nvPr/>
        </p:nvSpPr>
        <p:spPr>
          <a:xfrm>
            <a:off x="1056640" y="1836928"/>
            <a:ext cx="14142720" cy="1869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can you learn about a place from a photo that you couldn’t learn from a map or chart?"</a:t>
            </a:r>
            <a:endParaRPr lang="en-US" sz="1200" dirty="0"/>
          </a:p>
        </p:txBody>
      </p:sp>
      <p:sp>
        <p:nvSpPr>
          <p:cNvPr id="8" name="Shape 6"/>
          <p:cNvSpPr/>
          <p:nvPr/>
        </p:nvSpPr>
        <p:spPr>
          <a:xfrm>
            <a:off x="812800" y="4226560"/>
            <a:ext cx="14630400" cy="2926080"/>
          </a:xfrm>
          <a:prstGeom prst="roundRect">
            <a:avLst>
              <a:gd name="adj" fmla="val 6667"/>
            </a:avLst>
          </a:prstGeom>
          <a:solidFill>
            <a:srgbClr val="FFFFFF"/>
          </a:solidFill>
          <a:ln/>
          <a:effectLst>
            <a:outerShdw sx="100000" sy="100000" kx="0" ky="0" algn="bl" rotWithShape="0" blurRad="50800" dist="12700" dir="8100000">
              <a:srgbClr val="000000">
                <a:alpha val="8000"/>
              </a:srgbClr>
            </a:outerShdw>
          </a:effectLst>
        </p:spPr>
      </p:sp>
      <p:sp>
        <p:nvSpPr>
          <p:cNvPr id="9" name="Text 7"/>
          <p:cNvSpPr/>
          <p:nvPr/>
        </p:nvSpPr>
        <p:spPr>
          <a:xfrm>
            <a:off x="1137920" y="4389120"/>
            <a:ext cx="8128000" cy="4064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POSSIBLE STUDENT RESPONSES</a:t>
            </a:r>
            <a:endParaRPr lang="en-US" sz="900" dirty="0"/>
          </a:p>
        </p:txBody>
      </p:sp>
      <p:sp>
        <p:nvSpPr>
          <p:cNvPr id="10" name="Text 8"/>
          <p:cNvSpPr/>
          <p:nvPr/>
        </p:nvSpPr>
        <p:spPr>
          <a:xfrm>
            <a:off x="1137920" y="4876800"/>
            <a:ext cx="13817600" cy="2113280"/>
          </a:xfrm>
          <a:prstGeom prst="rect">
            <a:avLst/>
          </a:prstGeom>
          <a:noFill/>
          <a:ln/>
        </p:spPr>
        <p:txBody>
          <a:bodyPr wrap="square" rtlCol="0" anchor="ctr"/>
          <a:lstStyle/>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  What the actual colors and textures of a place look like</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  How tall or steep mountains really are</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  What the weather looks like at that moment</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  What animals or plants live there</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  What buildings or structures look like up close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The Full Curator Toolkit</a:t>
            </a:r>
            <a:endParaRPr lang="en-US" sz="1800" dirty="0"/>
          </a:p>
        </p:txBody>
      </p:sp>
      <p:sp>
        <p:nvSpPr>
          <p:cNvPr id="5" name="Shape 3"/>
          <p:cNvSpPr/>
          <p:nvPr/>
        </p:nvSpPr>
        <p:spPr>
          <a:xfrm>
            <a:off x="812800" y="1381760"/>
            <a:ext cx="4551680" cy="1869440"/>
          </a:xfrm>
          <a:prstGeom prst="roundRect">
            <a:avLst>
              <a:gd name="adj" fmla="val 8696"/>
            </a:avLst>
          </a:prstGeom>
          <a:solidFill>
            <a:srgbClr val="EAF8FD"/>
          </a:solidFill>
          <a:ln w="19050">
            <a:solidFill>
              <a:srgbClr val="1A8A7D"/>
            </a:solidFill>
            <a:prstDash val="solid"/>
          </a:ln>
        </p:spPr>
      </p:sp>
      <p:sp>
        <p:nvSpPr>
          <p:cNvPr id="6" name="Text 4"/>
          <p:cNvSpPr/>
          <p:nvPr/>
        </p:nvSpPr>
        <p:spPr>
          <a:xfrm>
            <a:off x="1056640" y="1544320"/>
            <a:ext cx="4064000" cy="487680"/>
          </a:xfrm>
          <a:prstGeom prst="rect">
            <a:avLst/>
          </a:prstGeom>
          <a:noFill/>
          <a:ln/>
        </p:spPr>
        <p:txBody>
          <a:bodyPr wrap="square" rtlCol="0" anchor="ctr"/>
          <a:lstStyle/>
          <a:p>
            <a:pPr indent="0" marL="0">
              <a:buNone/>
            </a:pPr>
            <a:r>
              <a:rPr lang="en-US" sz="1400" b="1" dirty="0">
                <a:solidFill>
                  <a:srgbClr val="1A8A7D"/>
                </a:solidFill>
                <a:latin typeface="Calibri" pitchFamily="34" charset="0"/>
                <a:ea typeface="Calibri" pitchFamily="34" charset="-122"/>
                <a:cs typeface="Calibri" pitchFamily="34" charset="-120"/>
              </a:rPr>
              <a:t>Maps</a:t>
            </a:r>
            <a:endParaRPr lang="en-US" sz="1400" dirty="0"/>
          </a:p>
        </p:txBody>
      </p:sp>
      <p:sp>
        <p:nvSpPr>
          <p:cNvPr id="7" name="Text 5"/>
          <p:cNvSpPr/>
          <p:nvPr/>
        </p:nvSpPr>
        <p:spPr>
          <a:xfrm>
            <a:off x="1056640" y="2113280"/>
            <a:ext cx="4064000" cy="97536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show WHERE</a:t>
            </a:r>
            <a:endParaRPr lang="en-US" sz="1200" dirty="0"/>
          </a:p>
        </p:txBody>
      </p:sp>
      <p:sp>
        <p:nvSpPr>
          <p:cNvPr id="8" name="Shape 6"/>
          <p:cNvSpPr/>
          <p:nvPr/>
        </p:nvSpPr>
        <p:spPr>
          <a:xfrm>
            <a:off x="5852160" y="1381760"/>
            <a:ext cx="4551680" cy="1869440"/>
          </a:xfrm>
          <a:prstGeom prst="roundRect">
            <a:avLst>
              <a:gd name="adj" fmla="val 8696"/>
            </a:avLst>
          </a:prstGeom>
          <a:solidFill>
            <a:srgbClr val="F0F2F8"/>
          </a:solidFill>
          <a:ln w="19050">
            <a:solidFill>
              <a:srgbClr val="0E1C42"/>
            </a:solidFill>
            <a:prstDash val="solid"/>
          </a:ln>
        </p:spPr>
      </p:sp>
      <p:sp>
        <p:nvSpPr>
          <p:cNvPr id="9" name="Text 7"/>
          <p:cNvSpPr/>
          <p:nvPr/>
        </p:nvSpPr>
        <p:spPr>
          <a:xfrm>
            <a:off x="6096000" y="1544320"/>
            <a:ext cx="4064000" cy="487680"/>
          </a:xfrm>
          <a:prstGeom prst="rect">
            <a:avLst/>
          </a:prstGeom>
          <a:noFill/>
          <a:ln/>
        </p:spPr>
        <p:txBody>
          <a:bodyPr wrap="square"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Tables</a:t>
            </a:r>
            <a:endParaRPr lang="en-US" sz="1400" dirty="0"/>
          </a:p>
        </p:txBody>
      </p:sp>
      <p:sp>
        <p:nvSpPr>
          <p:cNvPr id="10" name="Text 8"/>
          <p:cNvSpPr/>
          <p:nvPr/>
        </p:nvSpPr>
        <p:spPr>
          <a:xfrm>
            <a:off x="6096000" y="2113280"/>
            <a:ext cx="4064000" cy="97536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show WHAT FACTS</a:t>
            </a:r>
            <a:endParaRPr lang="en-US" sz="1200" dirty="0"/>
          </a:p>
        </p:txBody>
      </p:sp>
      <p:sp>
        <p:nvSpPr>
          <p:cNvPr id="11" name="Shape 9"/>
          <p:cNvSpPr/>
          <p:nvPr/>
        </p:nvSpPr>
        <p:spPr>
          <a:xfrm>
            <a:off x="10891520" y="1381760"/>
            <a:ext cx="4551680" cy="1869440"/>
          </a:xfrm>
          <a:prstGeom prst="roundRect">
            <a:avLst>
              <a:gd name="adj" fmla="val 8696"/>
            </a:avLst>
          </a:prstGeom>
          <a:solidFill>
            <a:srgbClr val="E3F8ED"/>
          </a:solidFill>
          <a:ln w="19050">
            <a:solidFill>
              <a:srgbClr val="34B76F"/>
            </a:solidFill>
            <a:prstDash val="solid"/>
          </a:ln>
        </p:spPr>
      </p:sp>
      <p:sp>
        <p:nvSpPr>
          <p:cNvPr id="12" name="Text 10"/>
          <p:cNvSpPr/>
          <p:nvPr/>
        </p:nvSpPr>
        <p:spPr>
          <a:xfrm>
            <a:off x="11135360" y="1544320"/>
            <a:ext cx="4064000" cy="487680"/>
          </a:xfrm>
          <a:prstGeom prst="rect">
            <a:avLst/>
          </a:prstGeom>
          <a:noFill/>
          <a:ln/>
        </p:spPr>
        <p:txBody>
          <a:bodyPr wrap="square"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Charts</a:t>
            </a:r>
            <a:endParaRPr lang="en-US" sz="1400" dirty="0"/>
          </a:p>
        </p:txBody>
      </p:sp>
      <p:sp>
        <p:nvSpPr>
          <p:cNvPr id="13" name="Text 11"/>
          <p:cNvSpPr/>
          <p:nvPr/>
        </p:nvSpPr>
        <p:spPr>
          <a:xfrm>
            <a:off x="11135360" y="2113280"/>
            <a:ext cx="4064000" cy="97536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show HOW MUCH</a:t>
            </a:r>
            <a:endParaRPr lang="en-US" sz="1200" dirty="0"/>
          </a:p>
        </p:txBody>
      </p:sp>
      <p:sp>
        <p:nvSpPr>
          <p:cNvPr id="14" name="Shape 12"/>
          <p:cNvSpPr/>
          <p:nvPr/>
        </p:nvSpPr>
        <p:spPr>
          <a:xfrm>
            <a:off x="812800" y="3576320"/>
            <a:ext cx="4551680" cy="1869440"/>
          </a:xfrm>
          <a:prstGeom prst="roundRect">
            <a:avLst>
              <a:gd name="adj" fmla="val 8696"/>
            </a:avLst>
          </a:prstGeom>
          <a:solidFill>
            <a:srgbClr val="F0E8FF"/>
          </a:solidFill>
          <a:ln w="19050">
            <a:solidFill>
              <a:srgbClr val="8B6FC0"/>
            </a:solidFill>
            <a:prstDash val="solid"/>
          </a:ln>
        </p:spPr>
      </p:sp>
      <p:sp>
        <p:nvSpPr>
          <p:cNvPr id="15" name="Text 13"/>
          <p:cNvSpPr/>
          <p:nvPr/>
        </p:nvSpPr>
        <p:spPr>
          <a:xfrm>
            <a:off x="1056640" y="3738880"/>
            <a:ext cx="4064000" cy="487680"/>
          </a:xfrm>
          <a:prstGeom prst="rect">
            <a:avLst/>
          </a:prstGeom>
          <a:noFill/>
          <a:ln/>
        </p:spPr>
        <p:txBody>
          <a:bodyPr wrap="square"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Graphs</a:t>
            </a:r>
            <a:endParaRPr lang="en-US" sz="1400" dirty="0"/>
          </a:p>
        </p:txBody>
      </p:sp>
      <p:sp>
        <p:nvSpPr>
          <p:cNvPr id="16" name="Text 14"/>
          <p:cNvSpPr/>
          <p:nvPr/>
        </p:nvSpPr>
        <p:spPr>
          <a:xfrm>
            <a:off x="1056640" y="4307840"/>
            <a:ext cx="4064000" cy="97536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show HOW THINGS CHANGE</a:t>
            </a:r>
            <a:endParaRPr lang="en-US" sz="1200" dirty="0"/>
          </a:p>
        </p:txBody>
      </p:sp>
      <p:sp>
        <p:nvSpPr>
          <p:cNvPr id="17" name="Shape 15"/>
          <p:cNvSpPr/>
          <p:nvPr/>
        </p:nvSpPr>
        <p:spPr>
          <a:xfrm>
            <a:off x="5852160" y="3576320"/>
            <a:ext cx="4551680" cy="1869440"/>
          </a:xfrm>
          <a:prstGeom prst="roundRect">
            <a:avLst>
              <a:gd name="adj" fmla="val 8696"/>
            </a:avLst>
          </a:prstGeom>
          <a:solidFill>
            <a:srgbClr val="FFF3DC"/>
          </a:solidFill>
          <a:ln w="19050">
            <a:solidFill>
              <a:srgbClr val="D4943A"/>
            </a:solidFill>
            <a:prstDash val="solid"/>
          </a:ln>
        </p:spPr>
      </p:sp>
      <p:sp>
        <p:nvSpPr>
          <p:cNvPr id="18" name="Text 16"/>
          <p:cNvSpPr/>
          <p:nvPr/>
        </p:nvSpPr>
        <p:spPr>
          <a:xfrm>
            <a:off x="6096000" y="3738880"/>
            <a:ext cx="4064000" cy="487680"/>
          </a:xfrm>
          <a:prstGeom prst="rect">
            <a:avLst/>
          </a:prstGeom>
          <a:noFill/>
          <a:ln/>
        </p:spPr>
        <p:txBody>
          <a:bodyPr wrap="square"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Photos</a:t>
            </a:r>
            <a:endParaRPr lang="en-US" sz="1400" dirty="0"/>
          </a:p>
        </p:txBody>
      </p:sp>
      <p:sp>
        <p:nvSpPr>
          <p:cNvPr id="19" name="Text 17"/>
          <p:cNvSpPr/>
          <p:nvPr/>
        </p:nvSpPr>
        <p:spPr>
          <a:xfrm>
            <a:off x="6096000" y="4307840"/>
            <a:ext cx="4064000" cy="97536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show WHAT IT REALLY LOOKS LIKE</a:t>
            </a:r>
            <a:endParaRPr lang="en-US" sz="1200" dirty="0"/>
          </a:p>
        </p:txBody>
      </p:sp>
      <p:sp>
        <p:nvSpPr>
          <p:cNvPr id="20" name="Shape 18"/>
          <p:cNvSpPr/>
          <p:nvPr/>
        </p:nvSpPr>
        <p:spPr>
          <a:xfrm>
            <a:off x="812800" y="5852160"/>
            <a:ext cx="14630400" cy="1788160"/>
          </a:xfrm>
          <a:prstGeom prst="roundRect">
            <a:avLst>
              <a:gd name="adj" fmla="val 10909"/>
            </a:avLst>
          </a:prstGeom>
          <a:solidFill>
            <a:srgbClr val="EAF8FD"/>
          </a:solidFill>
          <a:ln w="12700">
            <a:solidFill>
              <a:srgbClr val="55C8E8"/>
            </a:solidFill>
            <a:prstDash val="solid"/>
          </a:ln>
        </p:spPr>
      </p:sp>
      <p:sp>
        <p:nvSpPr>
          <p:cNvPr id="21" name="Text 19"/>
          <p:cNvSpPr/>
          <p:nvPr/>
        </p:nvSpPr>
        <p:spPr>
          <a:xfrm>
            <a:off x="1137920" y="5982208"/>
            <a:ext cx="48768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OPTI SAYS</a:t>
            </a:r>
            <a:endParaRPr lang="en-US" sz="900" dirty="0"/>
          </a:p>
        </p:txBody>
      </p:sp>
      <p:sp>
        <p:nvSpPr>
          <p:cNvPr id="22" name="Text 20"/>
          <p:cNvSpPr/>
          <p:nvPr/>
        </p:nvSpPr>
        <p:spPr>
          <a:xfrm>
            <a:off x="1137920" y="6372352"/>
            <a:ext cx="13817600" cy="1137920"/>
          </a:xfrm>
          <a:prstGeom prst="rect">
            <a:avLst/>
          </a:prstGeom>
          <a:noFill/>
          <a:ln/>
        </p:spPr>
        <p:txBody>
          <a:bodyPr wrap="square" rtlCol="0" anchor="ctr"/>
          <a:lstStyle/>
          <a:p>
            <a:pPr indent="0" marL="0">
              <a:lnSpc>
                <a:spcPct val="120000"/>
              </a:lnSpc>
              <a:buNone/>
            </a:pPr>
            <a:r>
              <a:rPr lang="en-US" sz="1200" i="1" dirty="0">
                <a:solidFill>
                  <a:srgbClr val="0E1C42"/>
                </a:solidFill>
                <a:latin typeface="Calibri" pitchFamily="34" charset="0"/>
                <a:ea typeface="Calibri" pitchFamily="34" charset="-122"/>
                <a:cs typeface="Calibri" pitchFamily="34" charset="-120"/>
              </a:rPr>
              <a:t>“Back in Unit 1, you learned to study sources carefully and ask, ‘What kind of evidence is this?’ You’re using that exact same skill right now — just with charts and graphs instead of artifacts. Your curator training is really paying off!”</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Discussion Scaffolding</a:t>
            </a:r>
            <a:endParaRPr lang="en-US" sz="1800" dirty="0"/>
          </a:p>
        </p:txBody>
      </p:sp>
      <p:sp>
        <p:nvSpPr>
          <p:cNvPr id="5" name="Shape 3"/>
          <p:cNvSpPr/>
          <p:nvPr/>
        </p:nvSpPr>
        <p:spPr>
          <a:xfrm>
            <a:off x="812800" y="1381760"/>
            <a:ext cx="14630400" cy="1137920"/>
          </a:xfrm>
          <a:prstGeom prst="roundRect">
            <a:avLst>
              <a:gd name="adj" fmla="val 17143"/>
            </a:avLst>
          </a:prstGeom>
          <a:solidFill>
            <a:srgbClr val="1A2D5A"/>
          </a:solidFill>
          <a:ln/>
        </p:spPr>
      </p:sp>
      <p:sp>
        <p:nvSpPr>
          <p:cNvPr id="6" name="Text 4"/>
          <p:cNvSpPr/>
          <p:nvPr/>
        </p:nvSpPr>
        <p:spPr>
          <a:xfrm>
            <a:off x="1137920" y="1381760"/>
            <a:ext cx="13817600" cy="11379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THINKING MOVE:   Sort → Compare → Explain</a:t>
            </a:r>
            <a:endParaRPr lang="en-US" sz="1600" dirty="0"/>
          </a:p>
        </p:txBody>
      </p:sp>
      <p:sp>
        <p:nvSpPr>
          <p:cNvPr id="7" name="Shape 5"/>
          <p:cNvSpPr/>
          <p:nvPr/>
        </p:nvSpPr>
        <p:spPr>
          <a:xfrm>
            <a:off x="812800" y="2926080"/>
            <a:ext cx="14630400" cy="1381760"/>
          </a:xfrm>
          <a:prstGeom prst="roundRect">
            <a:avLst>
              <a:gd name="adj" fmla="val 14118"/>
            </a:avLst>
          </a:prstGeom>
          <a:solidFill>
            <a:srgbClr val="EAF8FD"/>
          </a:solidFill>
          <a:ln/>
        </p:spPr>
      </p:sp>
      <p:sp>
        <p:nvSpPr>
          <p:cNvPr id="8" name="Shape 6"/>
          <p:cNvSpPr/>
          <p:nvPr/>
        </p:nvSpPr>
        <p:spPr>
          <a:xfrm>
            <a:off x="1137920" y="3218688"/>
            <a:ext cx="812800" cy="812800"/>
          </a:xfrm>
          <a:prstGeom prst="ellipse">
            <a:avLst/>
          </a:prstGeom>
          <a:solidFill>
            <a:srgbClr val="1A8A7D"/>
          </a:solidFill>
          <a:ln/>
        </p:spPr>
      </p:sp>
      <p:sp>
        <p:nvSpPr>
          <p:cNvPr id="9" name="Text 7"/>
          <p:cNvSpPr/>
          <p:nvPr/>
        </p:nvSpPr>
        <p:spPr>
          <a:xfrm>
            <a:off x="1137920" y="3218688"/>
            <a:ext cx="812800" cy="8128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2275840" y="3121152"/>
            <a:ext cx="4876800" cy="487680"/>
          </a:xfrm>
          <a:prstGeom prst="rect">
            <a:avLst/>
          </a:prstGeom>
          <a:noFill/>
          <a:ln/>
        </p:spPr>
        <p:txBody>
          <a:bodyPr wrap="square"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SORT</a:t>
            </a:r>
            <a:endParaRPr lang="en-US" sz="1300" dirty="0"/>
          </a:p>
        </p:txBody>
      </p:sp>
      <p:sp>
        <p:nvSpPr>
          <p:cNvPr id="11" name="Text 9"/>
          <p:cNvSpPr/>
          <p:nvPr/>
        </p:nvSpPr>
        <p:spPr>
          <a:xfrm>
            <a:off x="2275840" y="3608832"/>
            <a:ext cx="12679680" cy="56896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Sort the evidence types by what they do best.</a:t>
            </a:r>
            <a:endParaRPr lang="en-US" sz="1200" dirty="0"/>
          </a:p>
        </p:txBody>
      </p:sp>
      <p:sp>
        <p:nvSpPr>
          <p:cNvPr id="12" name="Shape 10"/>
          <p:cNvSpPr/>
          <p:nvPr/>
        </p:nvSpPr>
        <p:spPr>
          <a:xfrm>
            <a:off x="812800" y="4632960"/>
            <a:ext cx="14630400" cy="1381760"/>
          </a:xfrm>
          <a:prstGeom prst="roundRect">
            <a:avLst>
              <a:gd name="adj" fmla="val 14118"/>
            </a:avLst>
          </a:prstGeom>
          <a:solidFill>
            <a:srgbClr val="F0E8FF"/>
          </a:solidFill>
          <a:ln/>
        </p:spPr>
      </p:sp>
      <p:sp>
        <p:nvSpPr>
          <p:cNvPr id="13" name="Shape 11"/>
          <p:cNvSpPr/>
          <p:nvPr/>
        </p:nvSpPr>
        <p:spPr>
          <a:xfrm>
            <a:off x="1137920" y="4925568"/>
            <a:ext cx="812800" cy="812800"/>
          </a:xfrm>
          <a:prstGeom prst="ellipse">
            <a:avLst/>
          </a:prstGeom>
          <a:solidFill>
            <a:srgbClr val="8B6FC0"/>
          </a:solidFill>
          <a:ln/>
        </p:spPr>
      </p:sp>
      <p:sp>
        <p:nvSpPr>
          <p:cNvPr id="14" name="Text 12"/>
          <p:cNvSpPr/>
          <p:nvPr/>
        </p:nvSpPr>
        <p:spPr>
          <a:xfrm>
            <a:off x="1137920" y="4925568"/>
            <a:ext cx="812800" cy="8128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2275840" y="4828032"/>
            <a:ext cx="4876800" cy="487680"/>
          </a:xfrm>
          <a:prstGeom prst="rect">
            <a:avLst/>
          </a:prstGeom>
          <a:noFill/>
          <a:ln/>
        </p:spPr>
        <p:txBody>
          <a:bodyPr wrap="square"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COMPARE</a:t>
            </a:r>
            <a:endParaRPr lang="en-US" sz="1300" dirty="0"/>
          </a:p>
        </p:txBody>
      </p:sp>
      <p:sp>
        <p:nvSpPr>
          <p:cNvPr id="16" name="Text 14"/>
          <p:cNvSpPr/>
          <p:nvPr/>
        </p:nvSpPr>
        <p:spPr>
          <a:xfrm>
            <a:off x="2275840" y="5315712"/>
            <a:ext cx="12679680" cy="56896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Compare two of them — how are they similar? How are they different?</a:t>
            </a:r>
            <a:endParaRPr lang="en-US" sz="1200" dirty="0"/>
          </a:p>
        </p:txBody>
      </p:sp>
      <p:sp>
        <p:nvSpPr>
          <p:cNvPr id="17" name="Shape 15"/>
          <p:cNvSpPr/>
          <p:nvPr/>
        </p:nvSpPr>
        <p:spPr>
          <a:xfrm>
            <a:off x="812800" y="6339840"/>
            <a:ext cx="14630400" cy="1381760"/>
          </a:xfrm>
          <a:prstGeom prst="roundRect">
            <a:avLst>
              <a:gd name="adj" fmla="val 14118"/>
            </a:avLst>
          </a:prstGeom>
          <a:solidFill>
            <a:srgbClr val="FFF3DC"/>
          </a:solidFill>
          <a:ln/>
        </p:spPr>
      </p:sp>
      <p:sp>
        <p:nvSpPr>
          <p:cNvPr id="18" name="Shape 16"/>
          <p:cNvSpPr/>
          <p:nvPr/>
        </p:nvSpPr>
        <p:spPr>
          <a:xfrm>
            <a:off x="1137920" y="6632448"/>
            <a:ext cx="812800" cy="812800"/>
          </a:xfrm>
          <a:prstGeom prst="ellipse">
            <a:avLst/>
          </a:prstGeom>
          <a:solidFill>
            <a:srgbClr val="D4943A"/>
          </a:solidFill>
          <a:ln/>
        </p:spPr>
      </p:sp>
      <p:sp>
        <p:nvSpPr>
          <p:cNvPr id="19" name="Text 17"/>
          <p:cNvSpPr/>
          <p:nvPr/>
        </p:nvSpPr>
        <p:spPr>
          <a:xfrm>
            <a:off x="1137920" y="6632448"/>
            <a:ext cx="812800" cy="8128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2275840" y="6534912"/>
            <a:ext cx="4876800" cy="487680"/>
          </a:xfrm>
          <a:prstGeom prst="rect">
            <a:avLst/>
          </a:prstGeom>
          <a:noFill/>
          <a:ln/>
        </p:spPr>
        <p:txBody>
          <a:bodyPr wrap="square"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EXPLAIN</a:t>
            </a:r>
            <a:endParaRPr lang="en-US" sz="1300" dirty="0"/>
          </a:p>
        </p:txBody>
      </p:sp>
      <p:sp>
        <p:nvSpPr>
          <p:cNvPr id="21" name="Text 19"/>
          <p:cNvSpPr/>
          <p:nvPr/>
        </p:nvSpPr>
        <p:spPr>
          <a:xfrm>
            <a:off x="2275840" y="7022592"/>
            <a:ext cx="12679680" cy="56896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Explain when you’d use each one and why.</a:t>
            </a:r>
            <a:endParaRPr lang="en-US" sz="1200" dirty="0"/>
          </a:p>
        </p:txBody>
      </p:sp>
      <p:sp>
        <p:nvSpPr>
          <p:cNvPr id="22" name="Shape 20"/>
          <p:cNvSpPr/>
          <p:nvPr/>
        </p:nvSpPr>
        <p:spPr>
          <a:xfrm>
            <a:off x="812800" y="6908800"/>
            <a:ext cx="14630400" cy="1625600"/>
          </a:xfrm>
          <a:prstGeom prst="roundRect">
            <a:avLst>
              <a:gd name="adj" fmla="val 15000"/>
            </a:avLst>
          </a:prstGeom>
          <a:solidFill>
            <a:srgbClr val="1A2D5A"/>
          </a:solidFill>
          <a:ln/>
          <a:effectLst>
            <a:outerShdw sx="100000" sy="100000" kx="0" ky="0" algn="bl" rotWithShape="0" blurRad="101600" dist="38100" dir="8100000">
              <a:srgbClr val="000000">
                <a:alpha val="20000"/>
              </a:srgbClr>
            </a:outerShdw>
          </a:effectLst>
        </p:spPr>
      </p:sp>
      <p:sp>
        <p:nvSpPr>
          <p:cNvPr id="23" name="Text 21"/>
          <p:cNvSpPr/>
          <p:nvPr/>
        </p:nvSpPr>
        <p:spPr>
          <a:xfrm>
            <a:off x="1137920" y="707136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4" name="Text 22"/>
          <p:cNvSpPr/>
          <p:nvPr/>
        </p:nvSpPr>
        <p:spPr>
          <a:xfrm>
            <a:off x="1137920" y="7526528"/>
            <a:ext cx="13980160" cy="84531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two evidence types are most similar? Most different?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ever need more than one type to answer a single question?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Guided Practice: I Do</a:t>
            </a:r>
            <a:endParaRPr lang="en-US" sz="1800" dirty="0"/>
          </a:p>
        </p:txBody>
      </p:sp>
      <p:sp>
        <p:nvSpPr>
          <p:cNvPr id="5" name="Shape 3"/>
          <p:cNvSpPr/>
          <p:nvPr/>
        </p:nvSpPr>
        <p:spPr>
          <a:xfrm>
            <a:off x="812800" y="1381760"/>
            <a:ext cx="14630400" cy="1463040"/>
          </a:xfrm>
          <a:prstGeom prst="roundRect">
            <a:avLst>
              <a:gd name="adj" fmla="val 13333"/>
            </a:avLst>
          </a:prstGeom>
          <a:solidFill>
            <a:srgbClr val="EAF8FD"/>
          </a:solidFill>
          <a:ln w="19050">
            <a:solidFill>
              <a:srgbClr val="55C8E8"/>
            </a:solidFill>
            <a:prstDash val="solid"/>
          </a:ln>
        </p:spPr>
      </p:sp>
      <p:sp>
        <p:nvSpPr>
          <p:cNvPr id="6" name="Text 4"/>
          <p:cNvSpPr/>
          <p:nvPr/>
        </p:nvSpPr>
        <p:spPr>
          <a:xfrm>
            <a:off x="1137920" y="1495552"/>
            <a:ext cx="65024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 1</a:t>
            </a:r>
            <a:endParaRPr lang="en-US" sz="900" dirty="0"/>
          </a:p>
        </p:txBody>
      </p:sp>
      <p:sp>
        <p:nvSpPr>
          <p:cNvPr id="7" name="Text 5"/>
          <p:cNvSpPr/>
          <p:nvPr/>
        </p:nvSpPr>
        <p:spPr>
          <a:xfrm>
            <a:off x="1137920" y="1918208"/>
            <a:ext cx="13817600" cy="812800"/>
          </a:xfrm>
          <a:prstGeom prst="rect">
            <a:avLst/>
          </a:prstGeom>
          <a:noFill/>
          <a:ln/>
        </p:spPr>
        <p:txBody>
          <a:bodyPr wrap="square" rtlCol="0" anchor="ctr"/>
          <a:lstStyle/>
          <a:p>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Pick two of the four evidence types (table, bar chart, line graph, photograph). For each one, explain what it does and give an example of a question it can answer.</a:t>
            </a:r>
            <a:endParaRPr lang="en-US" sz="1200" dirty="0"/>
          </a:p>
        </p:txBody>
      </p:sp>
      <p:sp>
        <p:nvSpPr>
          <p:cNvPr id="8" name="Shape 6"/>
          <p:cNvSpPr/>
          <p:nvPr/>
        </p:nvSpPr>
        <p:spPr>
          <a:xfrm>
            <a:off x="812800" y="3251200"/>
            <a:ext cx="14630400" cy="4551680"/>
          </a:xfrm>
          <a:prstGeom prst="roundRect">
            <a:avLst>
              <a:gd name="adj" fmla="val 4286"/>
            </a:avLst>
          </a:prstGeom>
          <a:solidFill>
            <a:srgbClr val="FFF8F0"/>
          </a:solidFill>
          <a:ln/>
          <a:effectLst>
            <a:outerShdw sx="100000" sy="100000" kx="0" ky="0" algn="bl" rotWithShape="0" blurRad="50800" dist="12700" dir="8100000">
              <a:srgbClr val="000000">
                <a:alpha val="8000"/>
              </a:srgbClr>
            </a:outerShdw>
          </a:effectLst>
        </p:spPr>
      </p:sp>
      <p:sp>
        <p:nvSpPr>
          <p:cNvPr id="9" name="Text 7"/>
          <p:cNvSpPr/>
          <p:nvPr/>
        </p:nvSpPr>
        <p:spPr>
          <a:xfrm>
            <a:off x="1137920" y="3381248"/>
            <a:ext cx="65024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TEACHER MODEL</a:t>
            </a:r>
            <a:endParaRPr lang="en-US" sz="900" dirty="0"/>
          </a:p>
        </p:txBody>
      </p:sp>
      <p:sp>
        <p:nvSpPr>
          <p:cNvPr id="10" name="Text 8"/>
          <p:cNvSpPr/>
          <p:nvPr/>
        </p:nvSpPr>
        <p:spPr>
          <a:xfrm>
            <a:off x="1137920" y="3820160"/>
            <a:ext cx="13817600" cy="3820160"/>
          </a:xfrm>
          <a:prstGeom prst="rect">
            <a:avLst/>
          </a:prstGeom>
          <a:noFill/>
          <a:ln/>
        </p:spPr>
        <p:txBody>
          <a:bodyPr wrap="square" rtlCol="0" anchor="t"/>
          <a:lstStyle/>
          <a:p>
            <a:pPr indent="0" marL="0">
              <a:lnSpc>
                <a:spcPct val="125000"/>
              </a:lnSpc>
              <a:buNone/>
            </a:pPr>
            <a:r>
              <a:rPr lang="en-US" sz="1300" b="1" dirty="0">
                <a:solidFill>
                  <a:srgbClr val="0E1C42"/>
                </a:solidFill>
                <a:latin typeface="Calibri" pitchFamily="34" charset="0"/>
                <a:ea typeface="Calibri" pitchFamily="34" charset="-122"/>
                <a:cs typeface="Calibri" pitchFamily="34" charset="-120"/>
              </a:rPr>
              <a:t>Evidence Type 1: Bar Chart
</a:t>
            </a:r>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A bar chart uses bars of different heights to compare amounts. Taller bar means more. A bar chart could answer: “Which continent has the most people?”
</a:t>
            </a:r>
            <a:pPr indent="0" marL="0">
              <a:lnSpc>
                <a:spcPct val="125000"/>
              </a:lnSpc>
              <a:buNone/>
            </a:pPr>
            <a:r>
              <a:rPr lang="en-US" sz="1300" b="1" dirty="0">
                <a:solidFill>
                  <a:srgbClr val="0E1C42"/>
                </a:solidFill>
                <a:latin typeface="Calibri" pitchFamily="34" charset="0"/>
                <a:ea typeface="Calibri" pitchFamily="34" charset="-122"/>
                <a:cs typeface="Calibri" pitchFamily="34" charset="-120"/>
              </a:rPr>
              <a:t>Evidence Type 2: Photograph
</a:t>
            </a:r>
            <a:pPr indent="0" marL="0">
              <a:lnSpc>
                <a:spcPct val="125000"/>
              </a:lnSpc>
              <a:buNone/>
            </a:pPr>
            <a:r>
              <a:rPr lang="en-US" sz="1200" dirty="0">
                <a:solidFill>
                  <a:srgbClr val="0E1C42"/>
                </a:solidFill>
                <a:latin typeface="Calibri" pitchFamily="34" charset="0"/>
                <a:ea typeface="Calibri" pitchFamily="34" charset="-122"/>
                <a:cs typeface="Calibri" pitchFamily="34" charset="-120"/>
              </a:rPr>
              <a:t>A photograph shows what a place really looks like — the real colors, textures, and shapes. A photograph could answer: “What does the Amazon rainforest actually look like?”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Guided Practice: We Do</a:t>
            </a:r>
            <a:endParaRPr lang="en-US" sz="1800" dirty="0"/>
          </a:p>
        </p:txBody>
      </p:sp>
      <p:sp>
        <p:nvSpPr>
          <p:cNvPr id="5" name="Shape 3"/>
          <p:cNvSpPr/>
          <p:nvPr/>
        </p:nvSpPr>
        <p:spPr>
          <a:xfrm>
            <a:off x="812800" y="1381760"/>
            <a:ext cx="14630400" cy="1463040"/>
          </a:xfrm>
          <a:prstGeom prst="roundRect">
            <a:avLst>
              <a:gd name="adj" fmla="val 13333"/>
            </a:avLst>
          </a:prstGeom>
          <a:solidFill>
            <a:srgbClr val="E3F8ED"/>
          </a:solidFill>
          <a:ln w="19050">
            <a:solidFill>
              <a:srgbClr val="34B76F"/>
            </a:solidFill>
            <a:prstDash val="solid"/>
          </a:ln>
        </p:spPr>
      </p:sp>
      <p:sp>
        <p:nvSpPr>
          <p:cNvPr id="6" name="Text 4"/>
          <p:cNvSpPr/>
          <p:nvPr/>
        </p:nvSpPr>
        <p:spPr>
          <a:xfrm>
            <a:off x="1137920" y="1495552"/>
            <a:ext cx="6502400" cy="357632"/>
          </a:xfrm>
          <a:prstGeom prst="rect">
            <a:avLst/>
          </a:prstGeom>
          <a:noFill/>
          <a:ln/>
        </p:spPr>
        <p:txBody>
          <a:bodyPr wrap="square"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EVIDENCE QUESTION 2</a:t>
            </a:r>
            <a:endParaRPr lang="en-US" sz="900" dirty="0"/>
          </a:p>
        </p:txBody>
      </p:sp>
      <p:sp>
        <p:nvSpPr>
          <p:cNvPr id="7" name="Text 5"/>
          <p:cNvSpPr/>
          <p:nvPr/>
        </p:nvSpPr>
        <p:spPr>
          <a:xfrm>
            <a:off x="1137920" y="1918208"/>
            <a:ext cx="13817600" cy="812800"/>
          </a:xfrm>
          <a:prstGeom prst="rect">
            <a:avLst/>
          </a:prstGeom>
          <a:noFill/>
          <a:ln/>
        </p:spPr>
        <p:txBody>
          <a:bodyPr wrap="square" rtlCol="0" anchor="ctr"/>
          <a:lstStyle/>
          <a:p>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Why can’t a map tell the whole story by itself? Give one example of something a map can’t show that another type of evidence can.</a:t>
            </a:r>
            <a:endParaRPr lang="en-US" sz="1200" dirty="0"/>
          </a:p>
        </p:txBody>
      </p:sp>
      <p:sp>
        <p:nvSpPr>
          <p:cNvPr id="8" name="Shape 6"/>
          <p:cNvSpPr/>
          <p:nvPr/>
        </p:nvSpPr>
        <p:spPr>
          <a:xfrm>
            <a:off x="812800" y="3251200"/>
            <a:ext cx="14630400" cy="1950720"/>
          </a:xfrm>
          <a:prstGeom prst="roundRect">
            <a:avLst>
              <a:gd name="adj" fmla="val 10000"/>
            </a:avLst>
          </a:prstGeom>
          <a:solidFill>
            <a:srgbClr val="F0F2F8"/>
          </a:solidFill>
          <a:ln/>
        </p:spPr>
      </p:sp>
      <p:sp>
        <p:nvSpPr>
          <p:cNvPr id="9" name="Text 7"/>
          <p:cNvSpPr/>
          <p:nvPr/>
        </p:nvSpPr>
        <p:spPr>
          <a:xfrm>
            <a:off x="1137920" y="3381248"/>
            <a:ext cx="65024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SENTENCE SCAFFOLD</a:t>
            </a:r>
            <a:endParaRPr lang="en-US" sz="900" dirty="0"/>
          </a:p>
        </p:txBody>
      </p:sp>
      <p:sp>
        <p:nvSpPr>
          <p:cNvPr id="10" name="Text 8"/>
          <p:cNvSpPr/>
          <p:nvPr/>
        </p:nvSpPr>
        <p:spPr>
          <a:xfrm>
            <a:off x="1137920" y="3901440"/>
            <a:ext cx="13817600" cy="1137920"/>
          </a:xfrm>
          <a:prstGeom prst="rect">
            <a:avLst/>
          </a:prstGeom>
          <a:noFill/>
          <a:ln/>
        </p:spPr>
        <p:txBody>
          <a:bodyPr wrap="square" rtlCol="0" anchor="ctr"/>
          <a:lstStyle/>
          <a:p>
            <a:pPr indent="0" marL="0">
              <a:lnSpc>
                <a:spcPct val="130000"/>
              </a:lnSpc>
              <a:buNone/>
            </a:pPr>
            <a:r>
              <a:rPr lang="en-US" sz="1400" i="1" dirty="0">
                <a:solidFill>
                  <a:srgbClr val="0E1C42"/>
                </a:solidFill>
                <a:latin typeface="Cambria" pitchFamily="34" charset="0"/>
                <a:ea typeface="Cambria" pitchFamily="34" charset="-122"/>
                <a:cs typeface="Cambria" pitchFamily="34" charset="-120"/>
              </a:rPr>
              <a:t>A map can show _____, but it can’t show _____.</a:t>
            </a:r>
            <a:endParaRPr lang="en-US" sz="1400" dirty="0"/>
          </a:p>
          <a:p>
            <a:pPr indent="0" marL="0">
              <a:lnSpc>
                <a:spcPct val="130000"/>
              </a:lnSpc>
              <a:buNone/>
            </a:pPr>
            <a:r>
              <a:rPr lang="en-US" sz="1400" i="1" dirty="0">
                <a:solidFill>
                  <a:srgbClr val="0E1C42"/>
                </a:solidFill>
                <a:latin typeface="Cambria" pitchFamily="34" charset="0"/>
                <a:ea typeface="Cambria" pitchFamily="34" charset="-122"/>
                <a:cs typeface="Cambria" pitchFamily="34" charset="-120"/>
              </a:rPr>
              <a:t>For that, you’d need a _____.</a:t>
            </a:r>
            <a:endParaRPr lang="en-US" sz="1400" dirty="0"/>
          </a:p>
        </p:txBody>
      </p:sp>
      <p:sp>
        <p:nvSpPr>
          <p:cNvPr id="11" name="Shape 9"/>
          <p:cNvSpPr/>
          <p:nvPr/>
        </p:nvSpPr>
        <p:spPr>
          <a:xfrm>
            <a:off x="812800" y="5608320"/>
            <a:ext cx="14630400" cy="2113280"/>
          </a:xfrm>
          <a:prstGeom prst="roundRect">
            <a:avLst>
              <a:gd name="adj" fmla="val 9231"/>
            </a:avLst>
          </a:prstGeom>
          <a:solidFill>
            <a:srgbClr val="FFF8F0"/>
          </a:solidFill>
          <a:ln/>
          <a:effectLst>
            <a:outerShdw sx="100000" sy="100000" kx="0" ky="0" algn="bl" rotWithShape="0" blurRad="50800" dist="12700" dir="8100000">
              <a:srgbClr val="000000">
                <a:alpha val="8000"/>
              </a:srgbClr>
            </a:outerShdw>
          </a:effectLst>
        </p:spPr>
      </p:sp>
      <p:sp>
        <p:nvSpPr>
          <p:cNvPr id="12" name="Text 10"/>
          <p:cNvSpPr/>
          <p:nvPr/>
        </p:nvSpPr>
        <p:spPr>
          <a:xfrm>
            <a:off x="1137920" y="5738368"/>
            <a:ext cx="81280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SAMPLE ANSWER (build together)</a:t>
            </a:r>
            <a:endParaRPr lang="en-US" sz="900" dirty="0"/>
          </a:p>
        </p:txBody>
      </p:sp>
      <p:sp>
        <p:nvSpPr>
          <p:cNvPr id="13" name="Text 11"/>
          <p:cNvSpPr/>
          <p:nvPr/>
        </p:nvSpPr>
        <p:spPr>
          <a:xfrm>
            <a:off x="1137920" y="6258560"/>
            <a:ext cx="13817600" cy="1300480"/>
          </a:xfrm>
          <a:prstGeom prst="rect">
            <a:avLst/>
          </a:prstGeom>
          <a:noFill/>
          <a:ln/>
        </p:spPr>
        <p:txBody>
          <a:bodyPr wrap="square" rtlCol="0" anchor="ctr"/>
          <a:lstStyle/>
          <a:p>
            <a:pPr indent="0" marL="0">
              <a:lnSpc>
                <a:spcPct val="125000"/>
              </a:lnSpc>
              <a:buNone/>
            </a:pPr>
            <a:r>
              <a:rPr lang="en-US" sz="1300" i="1" dirty="0">
                <a:solidFill>
                  <a:srgbClr val="0E1C42"/>
                </a:solidFill>
                <a:latin typeface="Calibri" pitchFamily="34" charset="0"/>
                <a:ea typeface="Calibri" pitchFamily="34" charset="-122"/>
                <a:cs typeface="Calibri" pitchFamily="34" charset="-120"/>
              </a:rPr>
              <a:t>“A map can show where a river is, but it can’t show exactly how long it is in miles. For that, you’d need a table.”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Guided Practice: You Do</a:t>
            </a:r>
            <a:endParaRPr lang="en-US" sz="1800" dirty="0"/>
          </a:p>
        </p:txBody>
      </p:sp>
      <p:sp>
        <p:nvSpPr>
          <p:cNvPr id="5" name="Shape 3"/>
          <p:cNvSpPr/>
          <p:nvPr/>
        </p:nvSpPr>
        <p:spPr>
          <a:xfrm>
            <a:off x="812800" y="1381760"/>
            <a:ext cx="14630400" cy="1463040"/>
          </a:xfrm>
          <a:prstGeom prst="roundRect">
            <a:avLst>
              <a:gd name="adj" fmla="val 13333"/>
            </a:avLst>
          </a:prstGeom>
          <a:solidFill>
            <a:srgbClr val="F0E8FF"/>
          </a:solidFill>
          <a:ln w="19050">
            <a:solidFill>
              <a:srgbClr val="8B6FC0"/>
            </a:solidFill>
            <a:prstDash val="solid"/>
          </a:ln>
        </p:spPr>
      </p:sp>
      <p:sp>
        <p:nvSpPr>
          <p:cNvPr id="6" name="Text 4"/>
          <p:cNvSpPr/>
          <p:nvPr/>
        </p:nvSpPr>
        <p:spPr>
          <a:xfrm>
            <a:off x="1137920" y="1495552"/>
            <a:ext cx="6502400" cy="357632"/>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EVIDENCE QUESTION 3</a:t>
            </a:r>
            <a:endParaRPr lang="en-US" sz="900" dirty="0"/>
          </a:p>
        </p:txBody>
      </p:sp>
      <p:sp>
        <p:nvSpPr>
          <p:cNvPr id="7" name="Text 5"/>
          <p:cNvSpPr/>
          <p:nvPr/>
        </p:nvSpPr>
        <p:spPr>
          <a:xfrm>
            <a:off x="1137920" y="1918208"/>
            <a:ext cx="13817600" cy="812800"/>
          </a:xfrm>
          <a:prstGeom prst="rect">
            <a:avLst/>
          </a:prstGeom>
          <a:noFill/>
          <a:ln/>
        </p:spPr>
        <p:txBody>
          <a:bodyPr wrap="square" rtlCol="0" anchor="ctr"/>
          <a:lstStyle/>
          <a:p>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How does today’s lesson connect to what you learned in Unit 1 about studying sources carefully? What skill are you using in both?</a:t>
            </a:r>
            <a:endParaRPr lang="en-US" sz="1200" dirty="0"/>
          </a:p>
        </p:txBody>
      </p:sp>
      <p:sp>
        <p:nvSpPr>
          <p:cNvPr id="8" name="Shape 6"/>
          <p:cNvSpPr/>
          <p:nvPr/>
        </p:nvSpPr>
        <p:spPr>
          <a:xfrm>
            <a:off x="812800" y="3251200"/>
            <a:ext cx="6990080" cy="3251200"/>
          </a:xfrm>
          <a:prstGeom prst="roundRect">
            <a:avLst>
              <a:gd name="adj" fmla="val 6000"/>
            </a:avLst>
          </a:prstGeom>
          <a:solidFill>
            <a:srgbClr val="FFFFFF"/>
          </a:solidFill>
          <a:ln/>
          <a:effectLst>
            <a:outerShdw sx="100000" sy="100000" kx="0" ky="0" algn="bl" rotWithShape="0" blurRad="50800" dist="12700" dir="8100000">
              <a:srgbClr val="000000">
                <a:alpha val="8000"/>
              </a:srgbClr>
            </a:outerShdw>
          </a:effectLst>
        </p:spPr>
      </p:sp>
      <p:sp>
        <p:nvSpPr>
          <p:cNvPr id="9" name="Text 7"/>
          <p:cNvSpPr/>
          <p:nvPr/>
        </p:nvSpPr>
        <p:spPr>
          <a:xfrm>
            <a:off x="1137920" y="3381248"/>
            <a:ext cx="4876800" cy="357632"/>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THINKING HINTS</a:t>
            </a:r>
            <a:endParaRPr lang="en-US" sz="900" dirty="0"/>
          </a:p>
        </p:txBody>
      </p:sp>
      <p:sp>
        <p:nvSpPr>
          <p:cNvPr id="10" name="Text 8"/>
          <p:cNvSpPr/>
          <p:nvPr/>
        </p:nvSpPr>
        <p:spPr>
          <a:xfrm>
            <a:off x="1137920" y="3901440"/>
            <a:ext cx="6177280" cy="2438400"/>
          </a:xfrm>
          <a:prstGeom prst="rect">
            <a:avLst/>
          </a:prstGeom>
          <a:noFill/>
          <a:ln/>
        </p:spPr>
        <p:txBody>
          <a:bodyPr wrap="square" rtlCol="0" anchor="ctr"/>
          <a:lstStyle/>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  In Unit 1, what did you learn about sources and evidence?</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  What question did you always ask?</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  Are you asking a similar question today?</a:t>
            </a:r>
            <a:endParaRPr lang="en-US" sz="1200" dirty="0"/>
          </a:p>
          <a:p>
            <a:pPr indent="0" marL="0">
              <a:lnSpc>
                <a:spcPct val="140000"/>
              </a:lnSpc>
              <a:buNone/>
            </a:pPr>
            <a:r>
              <a:rPr lang="en-US" sz="1200" dirty="0">
                <a:solidFill>
                  <a:srgbClr val="0E1C42"/>
                </a:solidFill>
                <a:latin typeface="Calibri" pitchFamily="34" charset="0"/>
                <a:ea typeface="Calibri" pitchFamily="34" charset="-122"/>
                <a:cs typeface="Calibri" pitchFamily="34" charset="-120"/>
              </a:rPr>
              <a:t>•  What’s the skill that connects both units?</a:t>
            </a:r>
            <a:endParaRPr lang="en-US" sz="1200" dirty="0"/>
          </a:p>
        </p:txBody>
      </p:sp>
      <p:sp>
        <p:nvSpPr>
          <p:cNvPr id="11" name="Shape 9"/>
          <p:cNvSpPr/>
          <p:nvPr/>
        </p:nvSpPr>
        <p:spPr>
          <a:xfrm>
            <a:off x="8290560" y="3251200"/>
            <a:ext cx="6990080" cy="3251200"/>
          </a:xfrm>
          <a:prstGeom prst="roundRect">
            <a:avLst>
              <a:gd name="adj" fmla="val 6000"/>
            </a:avLst>
          </a:prstGeom>
          <a:solidFill>
            <a:srgbClr val="FFF8F0"/>
          </a:solidFill>
          <a:ln/>
        </p:spPr>
      </p:sp>
      <p:sp>
        <p:nvSpPr>
          <p:cNvPr id="12" name="Text 10"/>
          <p:cNvSpPr/>
          <p:nvPr/>
        </p:nvSpPr>
        <p:spPr>
          <a:xfrm>
            <a:off x="8615680" y="3381248"/>
            <a:ext cx="56896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LOOK FOR ANSWERS LIKE</a:t>
            </a:r>
            <a:endParaRPr lang="en-US" sz="900" dirty="0"/>
          </a:p>
        </p:txBody>
      </p:sp>
      <p:sp>
        <p:nvSpPr>
          <p:cNvPr id="13" name="Text 11"/>
          <p:cNvSpPr/>
          <p:nvPr/>
        </p:nvSpPr>
        <p:spPr>
          <a:xfrm>
            <a:off x="8615680" y="3901440"/>
            <a:ext cx="6177280" cy="2438400"/>
          </a:xfrm>
          <a:prstGeom prst="rect">
            <a:avLst/>
          </a:prstGeom>
          <a:noFill/>
          <a:ln/>
        </p:spPr>
        <p:txBody>
          <a:bodyPr wrap="square" rtlCol="0" anchor="ctr"/>
          <a:lstStyle/>
          <a:p>
            <a:pPr indent="0" marL="0">
              <a:lnSpc>
                <a:spcPct val="125000"/>
              </a:lnSpc>
              <a:buNone/>
            </a:pPr>
            <a:r>
              <a:rPr lang="en-US" sz="1200" i="1" dirty="0">
                <a:solidFill>
                  <a:srgbClr val="0E1C42"/>
                </a:solidFill>
                <a:latin typeface="Calibri" pitchFamily="34" charset="0"/>
                <a:ea typeface="Calibri" pitchFamily="34" charset="-122"/>
                <a:cs typeface="Calibri" pitchFamily="34" charset="-120"/>
              </a:rPr>
              <a:t>“In Unit 1, we learned to look at evidence carefully and ask what kind it is. Today we’re doing the same thing, but with charts and graphs. The skill is figuring out what type of evidence you’re looking at and what it can tell you.”</a:t>
            </a:r>
            <a:endParaRPr lang="en-US" sz="1200" dirty="0"/>
          </a:p>
        </p:txBody>
      </p:sp>
      <p:sp>
        <p:nvSpPr>
          <p:cNvPr id="14" name="Shape 12"/>
          <p:cNvSpPr/>
          <p:nvPr/>
        </p:nvSpPr>
        <p:spPr>
          <a:xfrm>
            <a:off x="812800" y="6908800"/>
            <a:ext cx="14630400" cy="894080"/>
          </a:xfrm>
          <a:prstGeom prst="roundRect">
            <a:avLst>
              <a:gd name="adj" fmla="val 18182"/>
            </a:avLst>
          </a:prstGeom>
          <a:solidFill>
            <a:srgbClr val="1A2D5A"/>
          </a:solidFill>
          <a:ln/>
        </p:spPr>
      </p:sp>
      <p:sp>
        <p:nvSpPr>
          <p:cNvPr id="15" name="Text 13"/>
          <p:cNvSpPr/>
          <p:nvPr/>
        </p:nvSpPr>
        <p:spPr>
          <a:xfrm>
            <a:off x="1137920" y="6908800"/>
            <a:ext cx="13817600" cy="8940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Give students 3–4 minutes to write independently. Then share 2–3 responses.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Error Analysis</a:t>
            </a:r>
            <a:endParaRPr lang="en-US" sz="1800" dirty="0"/>
          </a:p>
        </p:txBody>
      </p:sp>
      <p:sp>
        <p:nvSpPr>
          <p:cNvPr id="5" name="Shape 3"/>
          <p:cNvSpPr/>
          <p:nvPr/>
        </p:nvSpPr>
        <p:spPr>
          <a:xfrm>
            <a:off x="812800" y="1381760"/>
            <a:ext cx="14630400" cy="1950720"/>
          </a:xfrm>
          <a:prstGeom prst="roundRect">
            <a:avLst>
              <a:gd name="adj" fmla="val 10000"/>
            </a:avLst>
          </a:prstGeom>
          <a:solidFill>
            <a:srgbClr val="FDE8E8"/>
          </a:solidFill>
          <a:ln w="19050">
            <a:solidFill>
              <a:srgbClr val="E8636B"/>
            </a:solidFill>
            <a:prstDash val="solid"/>
          </a:ln>
        </p:spPr>
      </p:sp>
      <p:sp>
        <p:nvSpPr>
          <p:cNvPr id="6" name="Text 4"/>
          <p:cNvSpPr/>
          <p:nvPr/>
        </p:nvSpPr>
        <p:spPr>
          <a:xfrm>
            <a:off x="1137920" y="1495552"/>
            <a:ext cx="6502400" cy="357632"/>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STUDENT SAMPLE</a:t>
            </a:r>
            <a:endParaRPr lang="en-US" sz="900" dirty="0"/>
          </a:p>
        </p:txBody>
      </p:sp>
      <p:sp>
        <p:nvSpPr>
          <p:cNvPr id="7" name="Text 5"/>
          <p:cNvSpPr/>
          <p:nvPr/>
        </p:nvSpPr>
        <p:spPr>
          <a:xfrm>
            <a:off x="1137920" y="1950720"/>
            <a:ext cx="13817600" cy="1137920"/>
          </a:xfrm>
          <a:prstGeom prst="rect">
            <a:avLst/>
          </a:prstGeom>
          <a:noFill/>
          <a:ln/>
        </p:spPr>
        <p:txBody>
          <a:bodyPr wrap="square" rtlCol="0" anchor="ctr"/>
          <a:lstStyle/>
          <a:p>
            <a:pPr indent="0" marL="0">
              <a:lnSpc>
                <a:spcPct val="120000"/>
              </a:lnSpc>
              <a:buNone/>
            </a:pPr>
            <a:r>
              <a:rPr lang="en-US" sz="1500" i="1" dirty="0">
                <a:solidFill>
                  <a:srgbClr val="0E1C42"/>
                </a:solidFill>
                <a:latin typeface="Cambria" pitchFamily="34" charset="0"/>
                <a:ea typeface="Cambria" pitchFamily="34" charset="-122"/>
                <a:cs typeface="Cambria" pitchFamily="34" charset="-120"/>
              </a:rPr>
              <a:t>“A bar chart is the best evidence for everything because bars are easy to read.”</a:t>
            </a:r>
            <a:endParaRPr lang="en-US" sz="1500" dirty="0"/>
          </a:p>
        </p:txBody>
      </p:sp>
      <p:sp>
        <p:nvSpPr>
          <p:cNvPr id="8" name="Shape 6"/>
          <p:cNvSpPr/>
          <p:nvPr/>
        </p:nvSpPr>
        <p:spPr>
          <a:xfrm>
            <a:off x="812800" y="3738880"/>
            <a:ext cx="14630400" cy="1137920"/>
          </a:xfrm>
          <a:prstGeom prst="roundRect">
            <a:avLst>
              <a:gd name="adj" fmla="val 17143"/>
            </a:avLst>
          </a:prstGeom>
          <a:solidFill>
            <a:srgbClr val="F0F2F8"/>
          </a:solidFill>
          <a:ln/>
        </p:spPr>
      </p:sp>
      <p:sp>
        <p:nvSpPr>
          <p:cNvPr id="9" name="Text 7"/>
          <p:cNvSpPr/>
          <p:nvPr/>
        </p:nvSpPr>
        <p:spPr>
          <a:xfrm>
            <a:off x="1137920" y="3738880"/>
            <a:ext cx="13817600" cy="113792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What’s wrong with this answer? Can one type of evidence really be the best for EVERY question?</a:t>
            </a:r>
            <a:endParaRPr lang="en-US" sz="1300" dirty="0"/>
          </a:p>
        </p:txBody>
      </p:sp>
      <p:sp>
        <p:nvSpPr>
          <p:cNvPr id="10" name="Shape 8"/>
          <p:cNvSpPr/>
          <p:nvPr/>
        </p:nvSpPr>
        <p:spPr>
          <a:xfrm>
            <a:off x="812800" y="5283200"/>
            <a:ext cx="14630400" cy="2600960"/>
          </a:xfrm>
          <a:prstGeom prst="roundRect">
            <a:avLst>
              <a:gd name="adj" fmla="val 7500"/>
            </a:avLst>
          </a:prstGeom>
          <a:solidFill>
            <a:srgbClr val="E3F8ED"/>
          </a:solidFill>
          <a:ln w="19050">
            <a:solidFill>
              <a:srgbClr val="34B76F"/>
            </a:solidFill>
            <a:prstDash val="solid"/>
          </a:ln>
        </p:spPr>
      </p:sp>
      <p:sp>
        <p:nvSpPr>
          <p:cNvPr id="11" name="Text 9"/>
          <p:cNvSpPr/>
          <p:nvPr/>
        </p:nvSpPr>
        <p:spPr>
          <a:xfrm>
            <a:off x="1137920" y="5396992"/>
            <a:ext cx="4876800" cy="357632"/>
          </a:xfrm>
          <a:prstGeom prst="rect">
            <a:avLst/>
          </a:prstGeom>
          <a:noFill/>
          <a:ln/>
        </p:spPr>
        <p:txBody>
          <a:bodyPr wrap="square"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THE FIX</a:t>
            </a:r>
            <a:endParaRPr lang="en-US" sz="900" dirty="0"/>
          </a:p>
        </p:txBody>
      </p:sp>
      <p:sp>
        <p:nvSpPr>
          <p:cNvPr id="12" name="Text 10"/>
          <p:cNvSpPr/>
          <p:nvPr/>
        </p:nvSpPr>
        <p:spPr>
          <a:xfrm>
            <a:off x="1137920" y="5852160"/>
            <a:ext cx="13817600" cy="650240"/>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Each evidence type answers a DIFFERENT kind of question — you have to match the evidence to the question.</a:t>
            </a:r>
            <a:endParaRPr lang="en-US" sz="1300" dirty="0"/>
          </a:p>
        </p:txBody>
      </p:sp>
      <p:sp>
        <p:nvSpPr>
          <p:cNvPr id="13" name="Text 11"/>
          <p:cNvSpPr/>
          <p:nvPr/>
        </p:nvSpPr>
        <p:spPr>
          <a:xfrm>
            <a:off x="1137920" y="6583680"/>
            <a:ext cx="13817600" cy="1137920"/>
          </a:xfrm>
          <a:prstGeom prst="rect">
            <a:avLst/>
          </a:prstGeom>
          <a:noFill/>
          <a:ln/>
        </p:spPr>
        <p:txBody>
          <a:bodyPr wrap="square" rtlCol="0" anchor="ctr"/>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  Want to compare amounts? → Bar chart</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  Want to see change over time? → Line graph</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  Want specific facts? → Table</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  Want to see what it really looks like? → Photograph</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Tricky One: Curator Task Practice</a:t>
            </a:r>
            <a:endParaRPr lang="en-US" sz="1800" dirty="0"/>
          </a:p>
        </p:txBody>
      </p:sp>
      <p:sp>
        <p:nvSpPr>
          <p:cNvPr id="5" name="Shape 3"/>
          <p:cNvSpPr/>
          <p:nvPr/>
        </p:nvSpPr>
        <p:spPr>
          <a:xfrm>
            <a:off x="812800" y="1381760"/>
            <a:ext cx="14630400" cy="2113280"/>
          </a:xfrm>
          <a:prstGeom prst="roundRect">
            <a:avLst>
              <a:gd name="adj" fmla="val 9231"/>
            </a:avLst>
          </a:prstGeom>
          <a:solidFill>
            <a:srgbClr val="FFF8F0"/>
          </a:solidFill>
          <a:ln w="19050">
            <a:solidFill>
              <a:srgbClr val="D4943A"/>
            </a:solidFill>
            <a:prstDash val="solid"/>
          </a:ln>
        </p:spPr>
      </p:sp>
      <p:sp>
        <p:nvSpPr>
          <p:cNvPr id="6" name="Text 4"/>
          <p:cNvSpPr/>
          <p:nvPr/>
        </p:nvSpPr>
        <p:spPr>
          <a:xfrm>
            <a:off x="1137920" y="1495552"/>
            <a:ext cx="65024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VISITOR QUESTION</a:t>
            </a:r>
            <a:endParaRPr lang="en-US" sz="900" dirty="0"/>
          </a:p>
        </p:txBody>
      </p:sp>
      <p:sp>
        <p:nvSpPr>
          <p:cNvPr id="7" name="Text 5"/>
          <p:cNvSpPr/>
          <p:nvPr/>
        </p:nvSpPr>
        <p:spPr>
          <a:xfrm>
            <a:off x="1137920" y="1983232"/>
            <a:ext cx="13817600" cy="1300480"/>
          </a:xfrm>
          <a:prstGeom prst="rect">
            <a:avLst/>
          </a:prstGeom>
          <a:noFill/>
          <a:ln/>
        </p:spPr>
        <p:txBody>
          <a:bodyPr wrap="square" rtlCol="0" anchor="ctr"/>
          <a:lstStyle/>
          <a:p>
            <a:pPr indent="0" marL="0">
              <a:lnSpc>
                <a:spcPct val="120000"/>
              </a:lnSpc>
              <a:buNone/>
            </a:pPr>
            <a:r>
              <a:rPr lang="en-US" sz="1600" i="1" dirty="0">
                <a:solidFill>
                  <a:srgbClr val="0E1C42"/>
                </a:solidFill>
                <a:latin typeface="Cambria" pitchFamily="34" charset="0"/>
                <a:ea typeface="Cambria" pitchFamily="34" charset="-122"/>
                <a:cs typeface="Cambria" pitchFamily="34" charset="-120"/>
              </a:rPr>
              <a:t>“I want to know whether the world’s biggest cities are getting bigger or smaller over time.”</a:t>
            </a:r>
            <a:endParaRPr lang="en-US" sz="1600" dirty="0"/>
          </a:p>
        </p:txBody>
      </p:sp>
      <p:sp>
        <p:nvSpPr>
          <p:cNvPr id="8" name="Shape 6"/>
          <p:cNvSpPr/>
          <p:nvPr/>
        </p:nvSpPr>
        <p:spPr>
          <a:xfrm>
            <a:off x="812800" y="3901440"/>
            <a:ext cx="6990080" cy="3901440"/>
          </a:xfrm>
          <a:prstGeom prst="roundRect">
            <a:avLst>
              <a:gd name="adj" fmla="val 5000"/>
            </a:avLst>
          </a:prstGeom>
          <a:solidFill>
            <a:srgbClr val="FFFFFF"/>
          </a:solidFill>
          <a:ln/>
          <a:effectLst>
            <a:outerShdw sx="100000" sy="100000" kx="0" ky="0" algn="bl" rotWithShape="0" blurRad="50800" dist="12700" dir="8100000">
              <a:srgbClr val="000000">
                <a:alpha val="8000"/>
              </a:srgbClr>
            </a:outerShdw>
          </a:effectLst>
        </p:spPr>
      </p:sp>
      <p:sp>
        <p:nvSpPr>
          <p:cNvPr id="9" name="Text 7"/>
          <p:cNvSpPr/>
          <p:nvPr/>
        </p:nvSpPr>
        <p:spPr>
          <a:xfrm>
            <a:off x="1137920" y="4031488"/>
            <a:ext cx="48768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THINK THROUGH IT</a:t>
            </a:r>
            <a:endParaRPr lang="en-US" sz="900" dirty="0"/>
          </a:p>
        </p:txBody>
      </p:sp>
      <p:sp>
        <p:nvSpPr>
          <p:cNvPr id="10" name="Text 8"/>
          <p:cNvSpPr/>
          <p:nvPr/>
        </p:nvSpPr>
        <p:spPr>
          <a:xfrm>
            <a:off x="1137920" y="4551680"/>
            <a:ext cx="6177280" cy="3088640"/>
          </a:xfrm>
          <a:prstGeom prst="rect">
            <a:avLst/>
          </a:prstGeom>
          <a:noFill/>
          <a:ln/>
        </p:spPr>
        <p:txBody>
          <a:bodyPr wrap="square" rtlCol="0" anchor="ctr"/>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What kind of question is this?</a:t>
            </a: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 It asks about CHANGE OVER TIME.</a:t>
            </a:r>
            <a:endParaRPr lang="en-US" sz="1100" dirty="0"/>
          </a:p>
          <a:p>
            <a:pPr indent="0" marL="0">
              <a:lnSpc>
                <a:spcPct val="130000"/>
              </a:lnSpc>
              <a:buNone/>
            </a:pP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Which evidence type shows change over time?</a:t>
            </a: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 A LINE GRAPH.</a:t>
            </a:r>
            <a:endParaRPr lang="en-US" sz="1100" dirty="0"/>
          </a:p>
          <a:p>
            <a:pPr indent="0" marL="0">
              <a:lnSpc>
                <a:spcPct val="130000"/>
              </a:lnSpc>
              <a:buNone/>
            </a:pP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Why not the others?</a:t>
            </a: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 A table gives numbers but not the visual trend.</a:t>
            </a: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 A bar chart compares amounts, not change.</a:t>
            </a: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 A photo can’t show data.</a:t>
            </a:r>
            <a:endParaRPr lang="en-US" sz="1100" dirty="0"/>
          </a:p>
        </p:txBody>
      </p:sp>
      <p:sp>
        <p:nvSpPr>
          <p:cNvPr id="11" name="Shape 9"/>
          <p:cNvSpPr/>
          <p:nvPr/>
        </p:nvSpPr>
        <p:spPr>
          <a:xfrm>
            <a:off x="8290560" y="3901440"/>
            <a:ext cx="6990080" cy="3901440"/>
          </a:xfrm>
          <a:prstGeom prst="roundRect">
            <a:avLst>
              <a:gd name="adj" fmla="val 5000"/>
            </a:avLst>
          </a:prstGeom>
          <a:solidFill>
            <a:srgbClr val="FFF3DC"/>
          </a:solidFill>
          <a:ln w="12700">
            <a:solidFill>
              <a:srgbClr val="D4943A"/>
            </a:solidFill>
            <a:prstDash val="solid"/>
          </a:ln>
        </p:spPr>
      </p:sp>
      <p:sp>
        <p:nvSpPr>
          <p:cNvPr id="12" name="Text 10"/>
          <p:cNvSpPr/>
          <p:nvPr/>
        </p:nvSpPr>
        <p:spPr>
          <a:xfrm>
            <a:off x="8615680" y="4031488"/>
            <a:ext cx="5689600" cy="357632"/>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CURATOR TASK PREVIEW</a:t>
            </a:r>
            <a:endParaRPr lang="en-US" sz="900" dirty="0"/>
          </a:p>
        </p:txBody>
      </p:sp>
      <p:sp>
        <p:nvSpPr>
          <p:cNvPr id="13" name="Text 11"/>
          <p:cNvSpPr/>
          <p:nvPr/>
        </p:nvSpPr>
        <p:spPr>
          <a:xfrm>
            <a:off x="8615680" y="4551680"/>
            <a:ext cx="6177280" cy="3088640"/>
          </a:xfrm>
          <a:prstGeom prst="rect">
            <a:avLst/>
          </a:prstGeom>
          <a:noFill/>
          <a:ln/>
        </p:spPr>
        <p:txBody>
          <a:bodyPr wrap="square" rtlCol="0" anchor="ctr"/>
          <a:lstStyle/>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On the assignment, you’ll write 2–3 sentences:</a:t>
            </a:r>
            <a:endParaRPr lang="en-US" sz="1200" dirty="0"/>
          </a:p>
          <a:p>
            <a:pPr indent="0" marL="0">
              <a:lnSpc>
                <a:spcPct val="130000"/>
              </a:lnSpc>
              <a:buNone/>
            </a:pP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  Which type of evidence would you recommend?</a:t>
            </a: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  Why is it better for this question than the other types?</a:t>
            </a:r>
            <a:endParaRPr lang="en-US" sz="1200" dirty="0"/>
          </a:p>
          <a:p>
            <a:pPr indent="0" marL="0">
              <a:lnSpc>
                <a:spcPct val="130000"/>
              </a:lnSpc>
              <a:buNone/>
            </a:pPr>
            <a:endParaRPr lang="en-US" sz="1200" dirty="0"/>
          </a:p>
          <a:p>
            <a:pPr indent="0" marL="0">
              <a:lnSpc>
                <a:spcPct val="130000"/>
              </a:lnSpc>
              <a:buNone/>
            </a:pPr>
            <a:r>
              <a:rPr lang="en-US" sz="1200" dirty="0">
                <a:solidFill>
                  <a:srgbClr val="0E1C42"/>
                </a:solidFill>
                <a:latin typeface="Calibri" pitchFamily="34" charset="0"/>
                <a:ea typeface="Calibri" pitchFamily="34" charset="-122"/>
                <a:cs typeface="Calibri" pitchFamily="34" charset="-120"/>
              </a:rPr>
              <a:t>Use what we just practiced to help you write a strong answer.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Self-Check: Exhibit Label</a:t>
            </a:r>
            <a:endParaRPr lang="en-US" sz="1800" dirty="0"/>
          </a:p>
        </p:txBody>
      </p:sp>
      <p:sp>
        <p:nvSpPr>
          <p:cNvPr id="5" name="Shape 3"/>
          <p:cNvSpPr/>
          <p:nvPr/>
        </p:nvSpPr>
        <p:spPr>
          <a:xfrm>
            <a:off x="812800" y="1381760"/>
            <a:ext cx="6990080" cy="3576320"/>
          </a:xfrm>
          <a:prstGeom prst="roundRect">
            <a:avLst>
              <a:gd name="adj" fmla="val 5455"/>
            </a:avLst>
          </a:prstGeom>
          <a:solidFill>
            <a:srgbClr val="F0F2F8"/>
          </a:solidFill>
          <a:ln/>
        </p:spPr>
      </p:sp>
      <p:sp>
        <p:nvSpPr>
          <p:cNvPr id="6" name="Text 4"/>
          <p:cNvSpPr/>
          <p:nvPr/>
        </p:nvSpPr>
        <p:spPr>
          <a:xfrm>
            <a:off x="1137920" y="1495552"/>
            <a:ext cx="48768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KEY TAKEAWAYS</a:t>
            </a:r>
            <a:endParaRPr lang="en-US" sz="900" dirty="0"/>
          </a:p>
        </p:txBody>
      </p:sp>
      <p:sp>
        <p:nvSpPr>
          <p:cNvPr id="7" name="Text 5"/>
          <p:cNvSpPr/>
          <p:nvPr/>
        </p:nvSpPr>
        <p:spPr>
          <a:xfrm>
            <a:off x="1137920" y="1950720"/>
            <a:ext cx="6177280" cy="2926080"/>
          </a:xfrm>
          <a:prstGeom prst="rect">
            <a:avLst/>
          </a:prstGeom>
          <a:noFill/>
          <a:ln/>
        </p:spPr>
        <p:txBody>
          <a:bodyPr wrap="square" rtlCol="0" anchor="ctr"/>
          <a:lstStyle/>
          <a:p>
            <a:pPr indent="0" marL="0">
              <a:lnSpc>
                <a:spcPct val="135000"/>
              </a:lnSpc>
              <a:buNone/>
            </a:pPr>
            <a:r>
              <a:rPr lang="en-US" sz="1200" dirty="0">
                <a:solidFill>
                  <a:srgbClr val="0E1C42"/>
                </a:solidFill>
                <a:latin typeface="Calibri" pitchFamily="34" charset="0"/>
                <a:ea typeface="Calibri" pitchFamily="34" charset="-122"/>
                <a:cs typeface="Calibri" pitchFamily="34" charset="-120"/>
              </a:rPr>
              <a:t>•  Maps show WHERE</a:t>
            </a:r>
            <a:endParaRPr lang="en-US" sz="1200" dirty="0"/>
          </a:p>
          <a:p>
            <a:pPr indent="0" marL="0">
              <a:lnSpc>
                <a:spcPct val="135000"/>
              </a:lnSpc>
              <a:buNone/>
            </a:pPr>
            <a:r>
              <a:rPr lang="en-US" sz="1200" dirty="0">
                <a:solidFill>
                  <a:srgbClr val="0E1C42"/>
                </a:solidFill>
                <a:latin typeface="Calibri" pitchFamily="34" charset="0"/>
                <a:ea typeface="Calibri" pitchFamily="34" charset="-122"/>
                <a:cs typeface="Calibri" pitchFamily="34" charset="-120"/>
              </a:rPr>
              <a:t>•  Tables show WHAT FACTS</a:t>
            </a:r>
            <a:endParaRPr lang="en-US" sz="1200" dirty="0"/>
          </a:p>
          <a:p>
            <a:pPr indent="0" marL="0">
              <a:lnSpc>
                <a:spcPct val="135000"/>
              </a:lnSpc>
              <a:buNone/>
            </a:pPr>
            <a:r>
              <a:rPr lang="en-US" sz="1200" dirty="0">
                <a:solidFill>
                  <a:srgbClr val="0E1C42"/>
                </a:solidFill>
                <a:latin typeface="Calibri" pitchFamily="34" charset="0"/>
                <a:ea typeface="Calibri" pitchFamily="34" charset="-122"/>
                <a:cs typeface="Calibri" pitchFamily="34" charset="-120"/>
              </a:rPr>
              <a:t>•  Bar charts show HOW MUCH</a:t>
            </a:r>
            <a:endParaRPr lang="en-US" sz="1200" dirty="0"/>
          </a:p>
          <a:p>
            <a:pPr indent="0" marL="0">
              <a:lnSpc>
                <a:spcPct val="135000"/>
              </a:lnSpc>
              <a:buNone/>
            </a:pPr>
            <a:r>
              <a:rPr lang="en-US" sz="1200" dirty="0">
                <a:solidFill>
                  <a:srgbClr val="0E1C42"/>
                </a:solidFill>
                <a:latin typeface="Calibri" pitchFamily="34" charset="0"/>
                <a:ea typeface="Calibri" pitchFamily="34" charset="-122"/>
                <a:cs typeface="Calibri" pitchFamily="34" charset="-120"/>
              </a:rPr>
              <a:t>•  Line graphs show HOW THINGS CHANGE</a:t>
            </a:r>
            <a:endParaRPr lang="en-US" sz="1200" dirty="0"/>
          </a:p>
          <a:p>
            <a:pPr indent="0" marL="0">
              <a:lnSpc>
                <a:spcPct val="135000"/>
              </a:lnSpc>
              <a:buNone/>
            </a:pPr>
            <a:r>
              <a:rPr lang="en-US" sz="1200" dirty="0">
                <a:solidFill>
                  <a:srgbClr val="0E1C42"/>
                </a:solidFill>
                <a:latin typeface="Calibri" pitchFamily="34" charset="0"/>
                <a:ea typeface="Calibri" pitchFamily="34" charset="-122"/>
                <a:cs typeface="Calibri" pitchFamily="34" charset="-120"/>
              </a:rPr>
              <a:t>•  Photos show WHAT IT REALLY LOOKS LIKE</a:t>
            </a:r>
            <a:endParaRPr lang="en-US" sz="1200" dirty="0"/>
          </a:p>
          <a:p>
            <a:pPr indent="0" marL="0">
              <a:lnSpc>
                <a:spcPct val="135000"/>
              </a:lnSpc>
              <a:buNone/>
            </a:pPr>
            <a:endParaRPr lang="en-US" sz="1200" dirty="0"/>
          </a:p>
          <a:p>
            <a:pPr indent="0" marL="0">
              <a:lnSpc>
                <a:spcPct val="135000"/>
              </a:lnSpc>
              <a:buNone/>
            </a:pPr>
            <a:r>
              <a:rPr lang="en-US" sz="1200" dirty="0">
                <a:solidFill>
                  <a:srgbClr val="0E1C42"/>
                </a:solidFill>
                <a:latin typeface="Calibri" pitchFamily="34" charset="0"/>
                <a:ea typeface="Calibri" pitchFamily="34" charset="-122"/>
                <a:cs typeface="Calibri" pitchFamily="34" charset="-120"/>
              </a:rPr>
              <a:t>Match the evidence to the question!</a:t>
            </a:r>
            <a:endParaRPr lang="en-US" sz="1200" dirty="0"/>
          </a:p>
        </p:txBody>
      </p:sp>
      <p:sp>
        <p:nvSpPr>
          <p:cNvPr id="8" name="Shape 6"/>
          <p:cNvSpPr/>
          <p:nvPr/>
        </p:nvSpPr>
        <p:spPr>
          <a:xfrm>
            <a:off x="8290560" y="1381760"/>
            <a:ext cx="6990080" cy="6827520"/>
          </a:xfrm>
          <a:prstGeom prst="roundRect">
            <a:avLst>
              <a:gd name="adj" fmla="val 2857"/>
            </a:avLst>
          </a:prstGeom>
          <a:solidFill>
            <a:srgbClr val="EAF8FD"/>
          </a:solidFill>
          <a:ln w="12700">
            <a:solidFill>
              <a:srgbClr val="55C8E8"/>
            </a:solidFill>
            <a:prstDash val="solid"/>
          </a:ln>
        </p:spPr>
      </p:sp>
      <p:sp>
        <p:nvSpPr>
          <p:cNvPr id="9" name="Text 7"/>
          <p:cNvSpPr/>
          <p:nvPr/>
        </p:nvSpPr>
        <p:spPr>
          <a:xfrm>
            <a:off x="8615680" y="1495552"/>
            <a:ext cx="56896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SELF-CHECK QUESTIONS</a:t>
            </a:r>
            <a:endParaRPr lang="en-US" sz="900" dirty="0"/>
          </a:p>
        </p:txBody>
      </p:sp>
      <p:sp>
        <p:nvSpPr>
          <p:cNvPr id="10" name="Text 8"/>
          <p:cNvSpPr/>
          <p:nvPr/>
        </p:nvSpPr>
        <p:spPr>
          <a:xfrm>
            <a:off x="8615680" y="1950720"/>
            <a:ext cx="6177280" cy="812800"/>
          </a:xfrm>
          <a:prstGeom prst="rect">
            <a:avLst/>
          </a:prstGeom>
          <a:noFill/>
          <a:ln/>
        </p:spPr>
        <p:txBody>
          <a:bodyPr wrap="square" rtlCol="0" anchor="ctr"/>
          <a:lstStyle/>
          <a:p>
            <a:pPr indent="0" marL="0">
              <a:lnSpc>
                <a:spcPct val="115000"/>
              </a:lnSpc>
              <a:buNone/>
            </a:pPr>
            <a:r>
              <a:rPr lang="en-US" sz="1100" b="1" dirty="0">
                <a:solidFill>
                  <a:srgbClr val="0E1C42"/>
                </a:solidFill>
                <a:latin typeface="Calibri" pitchFamily="34" charset="0"/>
                <a:ea typeface="Calibri" pitchFamily="34" charset="-122"/>
                <a:cs typeface="Calibri" pitchFamily="34" charset="-120"/>
              </a:rPr>
              <a:t>1. Which type of evidence is best for showing how something changes over time?</a:t>
            </a:r>
            <a:endParaRPr lang="en-US" sz="1100" dirty="0"/>
          </a:p>
        </p:txBody>
      </p:sp>
      <p:sp>
        <p:nvSpPr>
          <p:cNvPr id="11" name="Text 9"/>
          <p:cNvSpPr/>
          <p:nvPr/>
        </p:nvSpPr>
        <p:spPr>
          <a:xfrm>
            <a:off x="8615680" y="2763520"/>
            <a:ext cx="6177280" cy="487680"/>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Table   B) Line graph   C) Photo</a:t>
            </a:r>
            <a:endParaRPr lang="en-US" sz="1100" dirty="0"/>
          </a:p>
        </p:txBody>
      </p:sp>
      <p:sp>
        <p:nvSpPr>
          <p:cNvPr id="12" name="Text 10"/>
          <p:cNvSpPr/>
          <p:nvPr/>
        </p:nvSpPr>
        <p:spPr>
          <a:xfrm>
            <a:off x="8615680" y="3251200"/>
            <a:ext cx="6177280" cy="406400"/>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Answer: B — Line graph</a:t>
            </a:r>
            <a:endParaRPr lang="en-US" sz="1000" dirty="0"/>
          </a:p>
        </p:txBody>
      </p:sp>
      <p:sp>
        <p:nvSpPr>
          <p:cNvPr id="13" name="Text 11"/>
          <p:cNvSpPr/>
          <p:nvPr/>
        </p:nvSpPr>
        <p:spPr>
          <a:xfrm>
            <a:off x="8615680" y="3901440"/>
            <a:ext cx="6177280" cy="812800"/>
          </a:xfrm>
          <a:prstGeom prst="rect">
            <a:avLst/>
          </a:prstGeom>
          <a:noFill/>
          <a:ln/>
        </p:spPr>
        <p:txBody>
          <a:bodyPr wrap="square" rtlCol="0" anchor="ctr"/>
          <a:lstStyle/>
          <a:p>
            <a:pPr indent="0" marL="0">
              <a:lnSpc>
                <a:spcPct val="115000"/>
              </a:lnSpc>
              <a:buNone/>
            </a:pPr>
            <a:r>
              <a:rPr lang="en-US" sz="1100" b="1" dirty="0">
                <a:solidFill>
                  <a:srgbClr val="0E1C42"/>
                </a:solidFill>
                <a:latin typeface="Calibri" pitchFamily="34" charset="0"/>
                <a:ea typeface="Calibri" pitchFamily="34" charset="-122"/>
                <a:cs typeface="Calibri" pitchFamily="34" charset="-120"/>
              </a:rPr>
              <a:t>2. A curator wants to compare the populations of four continents. Which evidence type would work best?</a:t>
            </a:r>
            <a:endParaRPr lang="en-US" sz="1100" dirty="0"/>
          </a:p>
        </p:txBody>
      </p:sp>
      <p:sp>
        <p:nvSpPr>
          <p:cNvPr id="14" name="Text 12"/>
          <p:cNvSpPr/>
          <p:nvPr/>
        </p:nvSpPr>
        <p:spPr>
          <a:xfrm>
            <a:off x="8615680" y="4714240"/>
            <a:ext cx="6177280" cy="487680"/>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Bar chart   B) Photo   C) Line graph</a:t>
            </a:r>
            <a:endParaRPr lang="en-US" sz="1100" dirty="0"/>
          </a:p>
        </p:txBody>
      </p:sp>
      <p:sp>
        <p:nvSpPr>
          <p:cNvPr id="15" name="Text 13"/>
          <p:cNvSpPr/>
          <p:nvPr/>
        </p:nvSpPr>
        <p:spPr>
          <a:xfrm>
            <a:off x="8615680" y="5201920"/>
            <a:ext cx="6177280" cy="406400"/>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Answer: A — Bar chart</a:t>
            </a:r>
            <a:endParaRPr lang="en-US" sz="1000" dirty="0"/>
          </a:p>
        </p:txBody>
      </p:sp>
      <p:sp>
        <p:nvSpPr>
          <p:cNvPr id="16" name="Text 14"/>
          <p:cNvSpPr/>
          <p:nvPr/>
        </p:nvSpPr>
        <p:spPr>
          <a:xfrm>
            <a:off x="8615680" y="5852160"/>
            <a:ext cx="6177280" cy="812800"/>
          </a:xfrm>
          <a:prstGeom prst="rect">
            <a:avLst/>
          </a:prstGeom>
          <a:noFill/>
          <a:ln/>
        </p:spPr>
        <p:txBody>
          <a:bodyPr wrap="square" rtlCol="0" anchor="ctr"/>
          <a:lstStyle/>
          <a:p>
            <a:pPr indent="0" marL="0">
              <a:lnSpc>
                <a:spcPct val="115000"/>
              </a:lnSpc>
              <a:buNone/>
            </a:pPr>
            <a:r>
              <a:rPr lang="en-US" sz="1100" b="1" dirty="0">
                <a:solidFill>
                  <a:srgbClr val="0E1C42"/>
                </a:solidFill>
                <a:latin typeface="Calibri" pitchFamily="34" charset="0"/>
                <a:ea typeface="Calibri" pitchFamily="34" charset="-122"/>
                <a:cs typeface="Calibri" pitchFamily="34" charset="-120"/>
              </a:rPr>
              <a:t>3. Why would a curator display a photograph next to a map of the same place?</a:t>
            </a:r>
            <a:endParaRPr lang="en-US" sz="1100" dirty="0"/>
          </a:p>
        </p:txBody>
      </p:sp>
      <p:sp>
        <p:nvSpPr>
          <p:cNvPr id="17" name="Text 15"/>
          <p:cNvSpPr/>
          <p:nvPr/>
        </p:nvSpPr>
        <p:spPr>
          <a:xfrm>
            <a:off x="8615680" y="6664960"/>
            <a:ext cx="6177280" cy="812800"/>
          </a:xfrm>
          <a:prstGeom prst="rect">
            <a:avLst/>
          </a:prstGeom>
          <a:noFill/>
          <a:ln/>
        </p:spPr>
        <p:txBody>
          <a:bodyPr wrap="square" rtlCol="0" anchor="ctr"/>
          <a:lstStyle/>
          <a:p>
            <a:pPr indent="0" marL="0">
              <a:lnSpc>
                <a:spcPct val="115000"/>
              </a:lnSpc>
              <a:buNone/>
            </a:pPr>
            <a:r>
              <a:rPr lang="en-US" sz="1000" b="1" dirty="0">
                <a:solidFill>
                  <a:srgbClr val="34B76F"/>
                </a:solidFill>
                <a:latin typeface="Calibri" pitchFamily="34" charset="0"/>
                <a:ea typeface="Calibri" pitchFamily="34" charset="-122"/>
                <a:cs typeface="Calibri" pitchFamily="34" charset="-120"/>
              </a:rPr>
              <a:t>C) Because a photo shows real details like color, texture, and shape that a map can’t</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7536"/>
          </a:xfrm>
          <a:prstGeom prst="rect">
            <a:avLst/>
          </a:prstGeom>
          <a:solidFill>
            <a:srgbClr val="0E1C42"/>
          </a:solidFill>
          <a:ln/>
        </p:spPr>
      </p:sp>
      <p:sp>
        <p:nvSpPr>
          <p:cNvPr id="3" name="Shape 1"/>
          <p:cNvSpPr/>
          <p:nvPr/>
        </p:nvSpPr>
        <p:spPr>
          <a:xfrm>
            <a:off x="568960" y="487680"/>
            <a:ext cx="97536" cy="568960"/>
          </a:xfrm>
          <a:prstGeom prst="rect">
            <a:avLst/>
          </a:prstGeom>
          <a:solidFill>
            <a:srgbClr val="D4943A"/>
          </a:solidFill>
          <a:ln/>
        </p:spPr>
      </p:sp>
      <p:sp>
        <p:nvSpPr>
          <p:cNvPr id="4" name="Text 2"/>
          <p:cNvSpPr/>
          <p:nvPr/>
        </p:nvSpPr>
        <p:spPr>
          <a:xfrm>
            <a:off x="894080" y="487680"/>
            <a:ext cx="13004800" cy="56896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Assignment Preview</a:t>
            </a:r>
            <a:endParaRPr lang="en-US" sz="1800" dirty="0"/>
          </a:p>
        </p:txBody>
      </p:sp>
      <p:sp>
        <p:nvSpPr>
          <p:cNvPr id="5" name="Shape 3"/>
          <p:cNvSpPr/>
          <p:nvPr/>
        </p:nvSpPr>
        <p:spPr>
          <a:xfrm>
            <a:off x="812800" y="1381760"/>
            <a:ext cx="14630400" cy="4064000"/>
          </a:xfrm>
          <a:prstGeom prst="roundRect">
            <a:avLst>
              <a:gd name="adj" fmla="val 4800"/>
            </a:avLst>
          </a:prstGeom>
          <a:solidFill>
            <a:srgbClr val="EAF8FD"/>
          </a:solidFill>
          <a:ln w="12700">
            <a:solidFill>
              <a:srgbClr val="55C8E8"/>
            </a:solidFill>
            <a:prstDash val="solid"/>
          </a:ln>
        </p:spPr>
      </p:sp>
      <p:sp>
        <p:nvSpPr>
          <p:cNvPr id="6" name="Text 4"/>
          <p:cNvSpPr/>
          <p:nvPr/>
        </p:nvSpPr>
        <p:spPr>
          <a:xfrm>
            <a:off x="1137920" y="1495552"/>
            <a:ext cx="6502400" cy="3576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EVIDENCE QUESTIONS</a:t>
            </a:r>
            <a:endParaRPr lang="en-US" sz="900" dirty="0"/>
          </a:p>
        </p:txBody>
      </p:sp>
      <p:sp>
        <p:nvSpPr>
          <p:cNvPr id="7" name="Text 5"/>
          <p:cNvSpPr/>
          <p:nvPr/>
        </p:nvSpPr>
        <p:spPr>
          <a:xfrm>
            <a:off x="1137920" y="1950720"/>
            <a:ext cx="13817600" cy="3332480"/>
          </a:xfrm>
          <a:prstGeom prst="rect">
            <a:avLst/>
          </a:prstGeom>
          <a:noFill/>
          <a:ln/>
        </p:spPr>
        <p:txBody>
          <a:bodyPr wrap="square" rtlCol="0" anchor="t"/>
          <a:lstStyle/>
          <a:p>
            <a:pPr indent="0" marL="0">
              <a:lnSpc>
                <a:spcPct val="120000"/>
              </a:lnSpc>
              <a:buNone/>
            </a:pPr>
            <a:r>
              <a:rPr lang="en-US" sz="1100" b="1" dirty="0">
                <a:solidFill>
                  <a:srgbClr val="0E1C42"/>
                </a:solidFill>
                <a:latin typeface="Calibri" pitchFamily="34" charset="0"/>
                <a:ea typeface="Calibri" pitchFamily="34" charset="-122"/>
                <a:cs typeface="Calibri" pitchFamily="34" charset="-120"/>
              </a:rPr>
              <a:t>1. </a:t>
            </a:r>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Pick two of the four evidence types (table, bar chart, line graph, photograph). For each one, explain what it does and give an example of a question it can answer.
</a:t>
            </a:r>
            <a:pPr indent="0" marL="0">
              <a:lnSpc>
                <a:spcPct val="120000"/>
              </a:lnSpc>
              <a:buNone/>
            </a:pPr>
            <a:r>
              <a:rPr lang="en-US" sz="1100" b="1" dirty="0">
                <a:solidFill>
                  <a:srgbClr val="0E1C42"/>
                </a:solidFill>
                <a:latin typeface="Calibri" pitchFamily="34" charset="0"/>
                <a:ea typeface="Calibri" pitchFamily="34" charset="-122"/>
                <a:cs typeface="Calibri" pitchFamily="34" charset="-120"/>
              </a:rPr>
              <a:t>2. </a:t>
            </a:r>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Why can’t a map tell the whole story by itself? Give one example of something a map can’t show that another type of evidence can.
</a:t>
            </a:r>
            <a:pPr indent="0" marL="0">
              <a:lnSpc>
                <a:spcPct val="120000"/>
              </a:lnSpc>
              <a:buNone/>
            </a:pPr>
            <a:r>
              <a:rPr lang="en-US" sz="1100" b="1" dirty="0">
                <a:solidFill>
                  <a:srgbClr val="0E1C42"/>
                </a:solidFill>
                <a:latin typeface="Calibri" pitchFamily="34" charset="0"/>
                <a:ea typeface="Calibri" pitchFamily="34" charset="-122"/>
                <a:cs typeface="Calibri" pitchFamily="34" charset="-120"/>
              </a:rPr>
              <a:t>3. </a:t>
            </a:r>
            <a:pPr indent="0" marL="0">
              <a:lnSpc>
                <a:spcPct val="120000"/>
              </a:lnSpc>
              <a:buNone/>
            </a:pPr>
            <a:r>
              <a:rPr lang="en-US" sz="1100" dirty="0">
                <a:solidFill>
                  <a:srgbClr val="0E1C42"/>
                </a:solidFill>
                <a:latin typeface="Calibri" pitchFamily="34" charset="0"/>
                <a:ea typeface="Calibri" pitchFamily="34" charset="-122"/>
                <a:cs typeface="Calibri" pitchFamily="34" charset="-120"/>
              </a:rPr>
              <a:t>How does today’s lesson connect to what you learned in Unit 1 about studying sources carefully? What skill are you using in both?</a:t>
            </a:r>
            <a:endParaRPr lang="en-US" sz="1100" dirty="0"/>
          </a:p>
        </p:txBody>
      </p:sp>
      <p:sp>
        <p:nvSpPr>
          <p:cNvPr id="8" name="Shape 6"/>
          <p:cNvSpPr/>
          <p:nvPr/>
        </p:nvSpPr>
        <p:spPr>
          <a:xfrm>
            <a:off x="812800" y="5770880"/>
            <a:ext cx="6990080" cy="2600960"/>
          </a:xfrm>
          <a:prstGeom prst="roundRect">
            <a:avLst>
              <a:gd name="adj" fmla="val 7500"/>
            </a:avLst>
          </a:prstGeom>
          <a:solidFill>
            <a:srgbClr val="FFF3DC"/>
          </a:solidFill>
          <a:ln w="12700">
            <a:solidFill>
              <a:srgbClr val="D4943A"/>
            </a:solidFill>
            <a:prstDash val="solid"/>
          </a:ln>
        </p:spPr>
      </p:sp>
      <p:sp>
        <p:nvSpPr>
          <p:cNvPr id="9" name="Text 7"/>
          <p:cNvSpPr/>
          <p:nvPr/>
        </p:nvSpPr>
        <p:spPr>
          <a:xfrm>
            <a:off x="1137920" y="5884672"/>
            <a:ext cx="6177280" cy="357632"/>
          </a:xfrm>
          <a:prstGeom prst="rect">
            <a:avLst/>
          </a:prstGeom>
          <a:noFill/>
          <a:ln/>
        </p:spPr>
        <p:txBody>
          <a:bodyPr wrap="square" rtlCol="0" anchor="ctr"/>
          <a:lstStyle/>
          <a:p>
            <a:pPr indent="0" marL="0">
              <a:buNone/>
            </a:pPr>
            <a:r>
              <a:rPr lang="en-US" sz="800" b="1" spc="120" kern="0" dirty="0">
                <a:solidFill>
                  <a:srgbClr val="D4943A"/>
                </a:solidFill>
                <a:latin typeface="Calibri" pitchFamily="34" charset="0"/>
                <a:ea typeface="Calibri" pitchFamily="34" charset="-122"/>
                <a:cs typeface="Calibri" pitchFamily="34" charset="-120"/>
              </a:rPr>
              <a:t>CURATOR TASK: EVIDENCE RECOMMENDATION</a:t>
            </a:r>
            <a:endParaRPr lang="en-US" sz="800" dirty="0"/>
          </a:p>
        </p:txBody>
      </p:sp>
      <p:sp>
        <p:nvSpPr>
          <p:cNvPr id="10" name="Text 8"/>
          <p:cNvSpPr/>
          <p:nvPr/>
        </p:nvSpPr>
        <p:spPr>
          <a:xfrm>
            <a:off x="1137920" y="6339840"/>
            <a:ext cx="6177280" cy="1869440"/>
          </a:xfrm>
          <a:prstGeom prst="rect">
            <a:avLst/>
          </a:prstGeom>
          <a:noFill/>
          <a:ln/>
        </p:spPr>
        <p:txBody>
          <a:bodyPr wrap="square" rtlCol="0" anchor="ctr"/>
          <a:lstStyle/>
          <a:p>
            <a:pPr indent="0" marL="0">
              <a:lnSpc>
                <a:spcPct val="120000"/>
              </a:lnSpc>
              <a:buNone/>
            </a:pPr>
            <a:r>
              <a:rPr lang="en-US" sz="1000" dirty="0">
                <a:solidFill>
                  <a:srgbClr val="0E1C42"/>
                </a:solidFill>
                <a:latin typeface="Calibri" pitchFamily="34" charset="0"/>
                <a:ea typeface="Calibri" pitchFamily="34" charset="-122"/>
                <a:cs typeface="Calibri" pitchFamily="34" charset="-120"/>
              </a:rPr>
              <a:t>A visitor walks into the Great Map Room and asks: “I want to know whether the world’s biggest cities are getting bigger or smaller over time.”</a:t>
            </a:r>
            <a:endParaRPr lang="en-US" sz="1000" dirty="0"/>
          </a:p>
          <a:p>
            <a:pPr indent="0" marL="0">
              <a:lnSpc>
                <a:spcPct val="120000"/>
              </a:lnSpc>
              <a:buNone/>
            </a:pPr>
            <a:endParaRPr lang="en-US" sz="1000" dirty="0"/>
          </a:p>
          <a:p>
            <a:pPr indent="0" marL="0">
              <a:lnSpc>
                <a:spcPct val="120000"/>
              </a:lnSpc>
              <a:buNone/>
            </a:pPr>
            <a:r>
              <a:rPr lang="en-US" sz="1000" dirty="0">
                <a:solidFill>
                  <a:srgbClr val="0E1C42"/>
                </a:solidFill>
                <a:latin typeface="Calibri" pitchFamily="34" charset="0"/>
                <a:ea typeface="Calibri" pitchFamily="34" charset="-122"/>
                <a:cs typeface="Calibri" pitchFamily="34" charset="-120"/>
              </a:rPr>
              <a:t>Write 2–3 sentences: Which type of evidence would you recommend? Why is it better for this question than the other types?</a:t>
            </a:r>
            <a:endParaRPr lang="en-US" sz="1000" dirty="0"/>
          </a:p>
        </p:txBody>
      </p:sp>
      <p:sp>
        <p:nvSpPr>
          <p:cNvPr id="11" name="Shape 9"/>
          <p:cNvSpPr/>
          <p:nvPr/>
        </p:nvSpPr>
        <p:spPr>
          <a:xfrm>
            <a:off x="8290560" y="5770880"/>
            <a:ext cx="6990080" cy="1056640"/>
          </a:xfrm>
          <a:prstGeom prst="roundRect">
            <a:avLst>
              <a:gd name="adj" fmla="val 18462"/>
            </a:avLst>
          </a:prstGeom>
          <a:solidFill>
            <a:srgbClr val="F0E8FF"/>
          </a:solidFill>
          <a:ln w="12700">
            <a:solidFill>
              <a:srgbClr val="8B6FC0"/>
            </a:solidFill>
            <a:prstDash val="solid"/>
          </a:ln>
        </p:spPr>
      </p:sp>
      <p:sp>
        <p:nvSpPr>
          <p:cNvPr id="12" name="Text 10"/>
          <p:cNvSpPr/>
          <p:nvPr/>
        </p:nvSpPr>
        <p:spPr>
          <a:xfrm>
            <a:off x="8615680" y="5884672"/>
            <a:ext cx="5689600" cy="357632"/>
          </a:xfrm>
          <a:prstGeom prst="rect">
            <a:avLst/>
          </a:prstGeom>
          <a:noFill/>
          <a:ln/>
        </p:spPr>
        <p:txBody>
          <a:bodyPr wrap="square" rtlCol="0" anchor="ctr"/>
          <a:lstStyle/>
          <a:p>
            <a:pPr indent="0" marL="0">
              <a:buNone/>
            </a:pPr>
            <a:r>
              <a:rPr lang="en-US" sz="800" b="1" spc="120" kern="0" dirty="0">
                <a:solidFill>
                  <a:srgbClr val="8B6FC0"/>
                </a:solidFill>
                <a:latin typeface="Calibri" pitchFamily="34" charset="0"/>
                <a:ea typeface="Calibri" pitchFamily="34" charset="-122"/>
                <a:cs typeface="Calibri" pitchFamily="34" charset="-120"/>
              </a:rPr>
              <a:t>CURATOR’S CHRONICLE</a:t>
            </a:r>
            <a:endParaRPr lang="en-US" sz="800" dirty="0"/>
          </a:p>
        </p:txBody>
      </p:sp>
      <p:sp>
        <p:nvSpPr>
          <p:cNvPr id="13" name="Text 11"/>
          <p:cNvSpPr/>
          <p:nvPr/>
        </p:nvSpPr>
        <p:spPr>
          <a:xfrm>
            <a:off x="8615680" y="6307328"/>
            <a:ext cx="6177280" cy="487680"/>
          </a:xfrm>
          <a:prstGeom prst="rect">
            <a:avLst/>
          </a:prstGeom>
          <a:noFill/>
          <a:ln/>
        </p:spPr>
        <p:txBody>
          <a:bodyPr wrap="square" rtlCol="0" anchor="ctr"/>
          <a:lstStyle/>
          <a:p>
            <a:pPr indent="0" marL="0">
              <a:buNone/>
            </a:pPr>
            <a:r>
              <a:rPr lang="en-US" sz="1100" i="1" dirty="0">
                <a:solidFill>
                  <a:srgbClr val="0E1C42"/>
                </a:solidFill>
                <a:latin typeface="Cambria" pitchFamily="34" charset="0"/>
                <a:ea typeface="Cambria" pitchFamily="34" charset="-122"/>
                <a:cs typeface="Cambria" pitchFamily="34" charset="-120"/>
              </a:rPr>
              <a:t>In this exhibit, I learned that ______ because ______.</a:t>
            </a:r>
            <a:endParaRPr lang="en-US" sz="1100" dirty="0"/>
          </a:p>
        </p:txBody>
      </p:sp>
      <p:sp>
        <p:nvSpPr>
          <p:cNvPr id="14" name="Shape 12"/>
          <p:cNvSpPr/>
          <p:nvPr/>
        </p:nvSpPr>
        <p:spPr>
          <a:xfrm>
            <a:off x="8290560" y="7071360"/>
            <a:ext cx="6990080" cy="1300480"/>
          </a:xfrm>
          <a:prstGeom prst="roundRect">
            <a:avLst>
              <a:gd name="adj" fmla="val 15000"/>
            </a:avLst>
          </a:prstGeom>
          <a:solidFill>
            <a:srgbClr val="F0F2F8"/>
          </a:solidFill>
          <a:ln/>
        </p:spPr>
      </p:sp>
      <p:sp>
        <p:nvSpPr>
          <p:cNvPr id="15" name="Text 13"/>
          <p:cNvSpPr/>
          <p:nvPr/>
        </p:nvSpPr>
        <p:spPr>
          <a:xfrm>
            <a:off x="8615680" y="7120128"/>
            <a:ext cx="4876800" cy="325120"/>
          </a:xfrm>
          <a:prstGeom prst="rect">
            <a:avLst/>
          </a:prstGeom>
          <a:noFill/>
          <a:ln/>
        </p:spPr>
        <p:txBody>
          <a:bodyPr wrap="square" rtlCol="0" anchor="ctr"/>
          <a:lstStyle/>
          <a:p>
            <a:pPr indent="0" marL="0">
              <a:buNone/>
            </a:pPr>
            <a:r>
              <a:rPr lang="en-US" sz="800" b="1" spc="120" kern="0" dirty="0">
                <a:solidFill>
                  <a:srgbClr val="0E1C42"/>
                </a:solidFill>
                <a:latin typeface="Calibri" pitchFamily="34" charset="0"/>
                <a:ea typeface="Calibri" pitchFamily="34" charset="-122"/>
                <a:cs typeface="Calibri" pitchFamily="34" charset="-120"/>
              </a:rPr>
              <a:t>TURN-IN CHECKLIST</a:t>
            </a:r>
            <a:endParaRPr lang="en-US" sz="800" dirty="0"/>
          </a:p>
        </p:txBody>
      </p:sp>
      <p:sp>
        <p:nvSpPr>
          <p:cNvPr id="16" name="Text 14"/>
          <p:cNvSpPr/>
          <p:nvPr/>
        </p:nvSpPr>
        <p:spPr>
          <a:xfrm>
            <a:off x="8615680" y="7477760"/>
            <a:ext cx="6177280" cy="731520"/>
          </a:xfrm>
          <a:prstGeom prst="rect">
            <a:avLst/>
          </a:prstGeom>
          <a:noFill/>
          <a:ln/>
        </p:spPr>
        <p:txBody>
          <a:bodyPr wrap="square" rtlCol="0" anchor="ctr"/>
          <a:lstStyle/>
          <a:p>
            <a:pPr indent="0" marL="0">
              <a:lnSpc>
                <a:spcPct val="120000"/>
              </a:lnSpc>
              <a:buNone/>
            </a:pPr>
            <a:r>
              <a:rPr lang="en-US" sz="1000" dirty="0">
                <a:solidFill>
                  <a:srgbClr val="0E1C42"/>
                </a:solidFill>
                <a:latin typeface="Calibri" pitchFamily="34" charset="0"/>
                <a:ea typeface="Calibri" pitchFamily="34" charset="-122"/>
                <a:cs typeface="Calibri" pitchFamily="34" charset="-120"/>
              </a:rPr>
              <a:t>☑ Evidence questions   ☑ Curator Task   ☑ Chronicle   ☑ Submit to Canvas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1625600"/>
            <a:ext cx="13817600" cy="9753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GREAT WORK, MAP CURATOR!</a:t>
            </a:r>
            <a:endParaRPr lang="en-US" sz="3000" dirty="0"/>
          </a:p>
        </p:txBody>
      </p:sp>
      <p:sp>
        <p:nvSpPr>
          <p:cNvPr id="6" name="Shape 3"/>
          <p:cNvSpPr/>
          <p:nvPr/>
        </p:nvSpPr>
        <p:spPr>
          <a:xfrm>
            <a:off x="975360" y="2763520"/>
            <a:ext cx="3576320" cy="81280"/>
          </a:xfrm>
          <a:prstGeom prst="rect">
            <a:avLst/>
          </a:prstGeom>
          <a:solidFill>
            <a:srgbClr val="D4943A"/>
          </a:solidFill>
          <a:ln/>
        </p:spPr>
      </p:sp>
      <p:sp>
        <p:nvSpPr>
          <p:cNvPr id="7" name="Text 4"/>
          <p:cNvSpPr/>
          <p:nvPr/>
        </p:nvSpPr>
        <p:spPr>
          <a:xfrm>
            <a:off x="975360" y="3251200"/>
            <a:ext cx="13817600" cy="1300480"/>
          </a:xfrm>
          <a:prstGeom prst="rect">
            <a:avLst/>
          </a:prstGeom>
          <a:noFill/>
          <a:ln/>
        </p:spPr>
        <p:txBody>
          <a:bodyPr wrap="square" rtlCol="0" anchor="ctr"/>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Today you learned to read tables, charts, graphs, and photos — and to choose the right evidence for the right question. That’s real curator thinking.</a:t>
            </a:r>
            <a:endParaRPr lang="en-US" sz="1500" dirty="0"/>
          </a:p>
        </p:txBody>
      </p:sp>
      <p:sp>
        <p:nvSpPr>
          <p:cNvPr id="8" name="Shape 5"/>
          <p:cNvSpPr/>
          <p:nvPr/>
        </p:nvSpPr>
        <p:spPr>
          <a:xfrm>
            <a:off x="975360" y="5201920"/>
            <a:ext cx="13817600" cy="2113280"/>
          </a:xfrm>
          <a:prstGeom prst="roundRect">
            <a:avLst>
              <a:gd name="adj" fmla="val 9231"/>
            </a:avLst>
          </a:prstGeom>
          <a:solidFill>
            <a:srgbClr val="162550"/>
          </a:solidFill>
          <a:ln/>
          <a:effectLst>
            <a:outerShdw sx="100000" sy="100000" kx="0" ky="0" algn="bl" rotWithShape="0" blurRad="76200" dist="25400" dir="8100000">
              <a:srgbClr val="000000">
                <a:alpha val="15000"/>
              </a:srgbClr>
            </a:outerShdw>
          </a:effectLst>
        </p:spPr>
      </p:sp>
      <p:sp>
        <p:nvSpPr>
          <p:cNvPr id="9" name="Text 6"/>
          <p:cNvSpPr/>
          <p:nvPr/>
        </p:nvSpPr>
        <p:spPr>
          <a:xfrm>
            <a:off x="1300480" y="5364480"/>
            <a:ext cx="4876800" cy="4064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COMING NEXT</a:t>
            </a:r>
            <a:endParaRPr lang="en-US" sz="900" dirty="0"/>
          </a:p>
        </p:txBody>
      </p:sp>
      <p:sp>
        <p:nvSpPr>
          <p:cNvPr id="10" name="Text 7"/>
          <p:cNvSpPr/>
          <p:nvPr/>
        </p:nvSpPr>
        <p:spPr>
          <a:xfrm>
            <a:off x="1300480" y="5852160"/>
            <a:ext cx="13004800" cy="1300480"/>
          </a:xfrm>
          <a:prstGeom prst="rect">
            <a:avLst/>
          </a:prstGeom>
          <a:noFill/>
          <a:ln/>
        </p:spPr>
        <p:txBody>
          <a:bodyPr wrap="square" rtlCol="0" anchor="ctr"/>
          <a:lstStyle/>
          <a:p>
            <a:pPr indent="0" marL="0">
              <a:lnSpc>
                <a:spcPct val="125000"/>
              </a:lnSpc>
              <a:buNone/>
            </a:pPr>
            <a:r>
              <a:rPr lang="en-US" sz="1400" i="1" dirty="0">
                <a:solidFill>
                  <a:srgbClr val="55C8E8"/>
                </a:solidFill>
                <a:latin typeface="Calibri" pitchFamily="34" charset="0"/>
                <a:ea typeface="Calibri" pitchFamily="34" charset="-122"/>
                <a:cs typeface="Calibri" pitchFamily="34" charset="-120"/>
              </a:rPr>
              <a:t>Next time, the museum director is going to ask you to prove that you can build a clear map from scratch with all the essential elements — title, compass rose, scale, and legend.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2026-07-11T02:50:53Z</dcterms:created>
  <dcterms:modified xsi:type="dcterms:W3CDTF">2026-07-11T02:50:53Z</dcterms:modified>
</cp:coreProperties>
</file>