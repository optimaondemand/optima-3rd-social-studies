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Grand museum chamber with empty evidence wall, warm lighting, mysterious atmosphere - the Cartographer's Review Chamber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Warm, glowing museum hallway with a banner reading 'Courage' - an Exhibit Reviewer standing tall in front of the evidence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Have students sort these cards aloud. Reveal answers one at a time. Discuss any surprises.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Warm museum gallery with a completed evidence wall glowing with connected threads, a curtained doorway visible at the far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0F2F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812800" y="975360"/>
            <a:ext cx="14630400" cy="568960"/>
          </a:xfrm>
          <a:prstGeom prst="rect">
            <a:avLst/>
          </a:prstGeom>
          <a:noFill/>
          <a:ln/>
        </p:spPr>
        <p:txBody>
          <a:bodyPr wrap="square" lIns="0" tIns="0" rIns="0" bIns="0" rtlCol="0" anchor="ctr"/>
          <a:lstStyle/>
          <a:p>
            <a:pPr indent="0" marL="0">
              <a:buNone/>
            </a:pPr>
            <a:r>
              <a:rPr lang="en-US" sz="1100" b="1" spc="300" kern="0" dirty="0">
                <a:solidFill>
                  <a:srgbClr val="D4943A"/>
                </a:solidFill>
                <a:latin typeface="Calibri" pitchFamily="34" charset="0"/>
                <a:ea typeface="Calibri" pitchFamily="34" charset="-122"/>
                <a:cs typeface="Calibri" pitchFamily="34" charset="-120"/>
              </a:rPr>
              <a:t>LESSON 3.04.01 | SYNTHESIS</a:t>
            </a:r>
            <a:endParaRPr lang="en-US" sz="1100" dirty="0"/>
          </a:p>
        </p:txBody>
      </p:sp>
      <p:sp>
        <p:nvSpPr>
          <p:cNvPr id="6" name="Text 3"/>
          <p:cNvSpPr/>
          <p:nvPr/>
        </p:nvSpPr>
        <p:spPr>
          <a:xfrm>
            <a:off x="812800" y="1625600"/>
            <a:ext cx="9753600" cy="2275840"/>
          </a:xfrm>
          <a:prstGeom prst="rect">
            <a:avLst/>
          </a:prstGeom>
          <a:noFill/>
          <a:ln/>
        </p:spPr>
        <p:txBody>
          <a:bodyPr wrap="square" lIns="0" tIns="0" rIns="0" bIns="0" rtlCol="0" anchor="ctr"/>
          <a:lstStyle/>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Connect Exploration,</a:t>
            </a:r>
            <a:endParaRPr lang="en-US" sz="3600" dirty="0"/>
          </a:p>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Tools, and Maps</a:t>
            </a:r>
            <a:endParaRPr lang="en-US" sz="3600" dirty="0"/>
          </a:p>
        </p:txBody>
      </p:sp>
      <p:sp>
        <p:nvSpPr>
          <p:cNvPr id="7" name="Shape 4"/>
          <p:cNvSpPr/>
          <p:nvPr/>
        </p:nvSpPr>
        <p:spPr>
          <a:xfrm>
            <a:off x="812800" y="4064000"/>
            <a:ext cx="4064000" cy="65024"/>
          </a:xfrm>
          <a:prstGeom prst="rect">
            <a:avLst/>
          </a:prstGeom>
          <a:solidFill>
            <a:srgbClr val="D4943A"/>
          </a:solidFill>
          <a:ln/>
        </p:spPr>
      </p:sp>
      <p:sp>
        <p:nvSpPr>
          <p:cNvPr id="8" name="Text 5"/>
          <p:cNvSpPr/>
          <p:nvPr/>
        </p:nvSpPr>
        <p:spPr>
          <a:xfrm>
            <a:off x="812800" y="4470400"/>
            <a:ext cx="13004800" cy="48768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Curator's Question</a:t>
            </a:r>
            <a:endParaRPr lang="en-US" sz="1000" dirty="0"/>
          </a:p>
        </p:txBody>
      </p:sp>
      <p:sp>
        <p:nvSpPr>
          <p:cNvPr id="9" name="Text 6"/>
          <p:cNvSpPr/>
          <p:nvPr/>
        </p:nvSpPr>
        <p:spPr>
          <a:xfrm>
            <a:off x="812800" y="5039360"/>
            <a:ext cx="11379200" cy="1300480"/>
          </a:xfrm>
          <a:prstGeom prst="rect">
            <a:avLst/>
          </a:prstGeom>
          <a:noFill/>
          <a:ln/>
        </p:spPr>
        <p:txBody>
          <a:bodyPr wrap="square" lIns="0" tIns="0" rIns="0" bIns="0" rtlCol="0" anchor="ctr"/>
          <a:lstStyle/>
          <a:p>
            <a:pPr indent="0" marL="0">
              <a:lnSpc>
                <a:spcPct val="120000"/>
              </a:lnSpc>
              <a:buNone/>
            </a:pPr>
            <a:r>
              <a:rPr lang="en-US" sz="1800" i="1" dirty="0">
                <a:solidFill>
                  <a:srgbClr val="FFFFFF"/>
                </a:solidFill>
                <a:latin typeface="Cambria" pitchFamily="34" charset="0"/>
                <a:ea typeface="Cambria" pitchFamily="34" charset="-122"/>
                <a:cs typeface="Cambria" pitchFamily="34" charset="-120"/>
              </a:rPr>
              <a:t>How do exploration, tools, and maps work</a:t>
            </a:r>
            <a:endParaRPr lang="en-US" sz="1800" dirty="0"/>
          </a:p>
          <a:p>
            <a:pPr indent="0" marL="0">
              <a:lnSpc>
                <a:spcPct val="120000"/>
              </a:lnSpc>
              <a:buNone/>
            </a:pPr>
            <a:r>
              <a:rPr lang="en-US" sz="1800" i="1" dirty="0">
                <a:solidFill>
                  <a:srgbClr val="FFFFFF"/>
                </a:solidFill>
                <a:latin typeface="Cambria" pitchFamily="34" charset="0"/>
                <a:ea typeface="Cambria" pitchFamily="34" charset="-122"/>
                <a:cs typeface="Cambria" pitchFamily="34" charset="-120"/>
              </a:rPr>
              <a:t>together to help us understand the world?</a:t>
            </a:r>
            <a:endParaRPr lang="en-US" sz="1800" dirty="0"/>
          </a:p>
        </p:txBody>
      </p:sp>
      <p:sp>
        <p:nvSpPr>
          <p:cNvPr id="10" name="Text 7"/>
          <p:cNvSpPr/>
          <p:nvPr/>
        </p:nvSpPr>
        <p:spPr>
          <a:xfrm>
            <a:off x="812800" y="7802880"/>
            <a:ext cx="14630400" cy="48768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Week 11 | Q2 | SS.3.G.1.1-1.6 | SS.3.A.1.1-1.3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3.04.01 | Connect Exploration, Tools, and Maps</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ENTER THE MUSEUM</a:t>
            </a:r>
            <a:endParaRPr lang="en-US" sz="800" dirty="0"/>
          </a:p>
        </p:txBody>
      </p:sp>
      <p:sp>
        <p:nvSpPr>
          <p:cNvPr id="7" name="Text 5"/>
          <p:cNvSpPr/>
          <p:nvPr/>
        </p:nvSpPr>
        <p:spPr>
          <a:xfrm>
            <a:off x="487680" y="1625600"/>
            <a:ext cx="8940800" cy="1463040"/>
          </a:xfrm>
          <a:prstGeom prst="rect">
            <a:avLst/>
          </a:prstGeom>
          <a:noFill/>
          <a:ln/>
        </p:spPr>
        <p:txBody>
          <a:bodyPr wrap="square" lIns="0" tIns="0" rIns="0" bIns="0" rtlCol="0" anchor="ctr"/>
          <a:lstStyle/>
          <a:p>
            <a:pPr indent="0" marL="0">
              <a:lnSpc>
                <a:spcPct val="110000"/>
              </a:lnSpc>
              <a:buNone/>
            </a:pPr>
            <a:r>
              <a:rPr lang="en-US" sz="2400" b="1" dirty="0">
                <a:solidFill>
                  <a:srgbClr val="0E1C42"/>
                </a:solidFill>
                <a:latin typeface="Cambria" pitchFamily="34" charset="0"/>
                <a:ea typeface="Cambria" pitchFamily="34" charset="-122"/>
                <a:cs typeface="Cambria" pitchFamily="34" charset="-120"/>
              </a:rPr>
              <a:t>Welcome to the Cartographer's</a:t>
            </a:r>
            <a:endParaRPr lang="en-US" sz="2400" dirty="0"/>
          </a:p>
          <a:p>
            <a:pPr indent="0" marL="0">
              <a:lnSpc>
                <a:spcPct val="110000"/>
              </a:lnSpc>
              <a:buNone/>
            </a:pPr>
            <a:r>
              <a:rPr lang="en-US" sz="2400" b="1" dirty="0">
                <a:solidFill>
                  <a:srgbClr val="0E1C42"/>
                </a:solidFill>
                <a:latin typeface="Cambria" pitchFamily="34" charset="0"/>
                <a:ea typeface="Cambria" pitchFamily="34" charset="-122"/>
                <a:cs typeface="Cambria" pitchFamily="34" charset="-120"/>
              </a:rPr>
              <a:t>Review Chamber</a:t>
            </a:r>
            <a:endParaRPr lang="en-US" sz="2400" dirty="0"/>
          </a:p>
        </p:txBody>
      </p:sp>
      <p:sp>
        <p:nvSpPr>
          <p:cNvPr id="8" name="Text 6"/>
          <p:cNvSpPr/>
          <p:nvPr/>
        </p:nvSpPr>
        <p:spPr>
          <a:xfrm>
            <a:off x="487680" y="3251200"/>
            <a:ext cx="8615680" cy="4551680"/>
          </a:xfrm>
          <a:prstGeom prst="rect">
            <a:avLst/>
          </a:prstGeom>
          <a:noFill/>
          <a:ln/>
        </p:spPr>
        <p:txBody>
          <a:bodyPr wrap="square" lIns="0" tIns="0" rIns="0" bIns="0" rtlCol="0" anchor="t"/>
          <a:lstStyle/>
          <a:p>
            <a:pPr indent="0" marL="0">
              <a:lnSpc>
                <a:spcPct val="125000"/>
              </a:lnSpc>
              <a:buNone/>
            </a:pPr>
            <a:r>
              <a:rPr lang="en-US" sz="1300" b="1" dirty="0">
                <a:solidFill>
                  <a:srgbClr val="0E1C42"/>
                </a:solidFill>
                <a:latin typeface="Calibri" pitchFamily="34" charset="0"/>
                <a:ea typeface="Calibri" pitchFamily="34" charset="-122"/>
                <a:cs typeface="Calibri" pitchFamily="34" charset="-120"/>
              </a:rPr>
              <a:t>You've earned three badges already:
</a:t>
            </a:r>
            <a:pPr indent="0" marL="0">
              <a:lnSpc>
                <a:spcPct val="125000"/>
              </a:lnSpc>
              <a:buNone/>
            </a:pPr>
            <a:r>
              <a:rPr lang="en-US" sz="1200" b="1" dirty="0">
                <a:solidFill>
                  <a:srgbClr val="1A8A7D"/>
                </a:solidFill>
                <a:latin typeface="Calibri" pitchFamily="34" charset="0"/>
                <a:ea typeface="Calibri" pitchFamily="34" charset="-122"/>
                <a:cs typeface="Calibri" pitchFamily="34" charset="-120"/>
              </a:rPr>
              <a:t>Evidence Keeper | Route Reader | Mapmaker
</a:t>
            </a:r>
            <a:pPr indent="0" marL="0">
              <a:lnSpc>
                <a:spcPct val="125000"/>
              </a:lnSpc>
              <a:buNone/>
            </a:pPr>
            <a:r>
              <a:rPr lang="en-US" sz="1300" dirty="0">
                <a:solidFill>
                  <a:srgbClr val="0E1C42"/>
                </a:solidFill>
                <a:latin typeface="Calibri" pitchFamily="34" charset="0"/>
                <a:ea typeface="Calibri" pitchFamily="34" charset="-122"/>
                <a:cs typeface="Calibri" pitchFamily="34" charset="-120"/>
              </a:rPr>
              <a:t>A new room just opened, but its evidence wall is </a:t>
            </a:r>
            <a:pPr indent="0" marL="0">
              <a:lnSpc>
                <a:spcPct val="125000"/>
              </a:lnSpc>
              <a:buNone/>
            </a:pPr>
            <a:r>
              <a:rPr lang="en-US" sz="1300" b="1" dirty="0">
                <a:solidFill>
                  <a:srgbClr val="E8636B"/>
                </a:solidFill>
                <a:latin typeface="Calibri" pitchFamily="34" charset="0"/>
                <a:ea typeface="Calibri" pitchFamily="34" charset="-122"/>
                <a:cs typeface="Calibri" pitchFamily="34" charset="-120"/>
              </a:rPr>
              <a:t>completely empty.
</a:t>
            </a:r>
            <a:pPr indent="0" marL="0">
              <a:lnSpc>
                <a:spcPct val="125000"/>
              </a:lnSpc>
              <a:buNone/>
            </a:pPr>
            <a:r>
              <a:rPr lang="en-US" sz="1300" dirty="0">
                <a:solidFill>
                  <a:srgbClr val="0E1C42"/>
                </a:solidFill>
                <a:latin typeface="Calibri" pitchFamily="34" charset="0"/>
                <a:ea typeface="Calibri" pitchFamily="34" charset="-122"/>
                <a:cs typeface="Calibri" pitchFamily="34" charset="-120"/>
              </a:rPr>
              <a:t>Today, you are an </a:t>
            </a:r>
            <a:pPr indent="0" marL="0">
              <a:lnSpc>
                <a:spcPct val="125000"/>
              </a:lnSpc>
              <a:buNone/>
            </a:pPr>
            <a:r>
              <a:rPr lang="en-US" sz="1300" b="1" dirty="0">
                <a:solidFill>
                  <a:srgbClr val="D4943A"/>
                </a:solidFill>
                <a:latin typeface="Calibri" pitchFamily="34" charset="0"/>
                <a:ea typeface="Calibri" pitchFamily="34" charset="-122"/>
                <a:cs typeface="Calibri" pitchFamily="34" charset="-120"/>
              </a:rPr>
              <a:t>Exhibit Reviewer</a:t>
            </a:r>
            <a:pPr indent="0" marL="0">
              <a:lnSpc>
                <a:spcPct val="125000"/>
              </a:lnSpc>
              <a:buNone/>
            </a:pPr>
            <a:r>
              <a:rPr lang="en-US" sz="1300" dirty="0">
                <a:solidFill>
                  <a:srgbClr val="0E1C42"/>
                </a:solidFill>
                <a:latin typeface="Calibri" pitchFamily="34" charset="0"/>
                <a:ea typeface="Calibri" pitchFamily="34" charset="-122"/>
                <a:cs typeface="Calibri" pitchFamily="34" charset="-120"/>
              </a:rPr>
              <a:t> — your job is to connect everything you've learned and start filling in the wall.</a:t>
            </a:r>
            <a:endParaRPr lang="en-US" sz="1300" dirty="0"/>
          </a:p>
        </p:txBody>
      </p:sp>
      <p:sp>
        <p:nvSpPr>
          <p:cNvPr id="9" name="Shape 7"/>
          <p:cNvSpPr/>
          <p:nvPr/>
        </p:nvSpPr>
        <p:spPr>
          <a:xfrm>
            <a:off x="9753600" y="1137920"/>
            <a:ext cx="5852160" cy="6827520"/>
          </a:xfrm>
          <a:prstGeom prst="roundRect">
            <a:avLst>
              <a:gd name="adj" fmla="val 3333"/>
            </a:avLst>
          </a:prstGeom>
          <a:solidFill>
            <a:srgbClr val="E2E8F4"/>
          </a:solidFill>
          <a:ln w="19050">
            <a:solidFill>
              <a:srgbClr val="B0B8CC"/>
            </a:solidFill>
            <a:prstDash val="dash"/>
          </a:ln>
        </p:spPr>
      </p:sp>
      <p:sp>
        <p:nvSpPr>
          <p:cNvPr id="10" name="Text 8"/>
          <p:cNvSpPr/>
          <p:nvPr/>
        </p:nvSpPr>
        <p:spPr>
          <a:xfrm>
            <a:off x="9753600" y="1137920"/>
            <a:ext cx="585216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9997440" y="1625600"/>
            <a:ext cx="5364480" cy="6177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Museum chamber with a large empty evidence wall, three badge icons (magnifying glass, compass, map) displayed on a shelf</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Shape 2"/>
          <p:cNvSpPr/>
          <p:nvPr/>
        </p:nvSpPr>
        <p:spPr>
          <a:xfrm>
            <a:off x="487680" y="812800"/>
            <a:ext cx="2926080" cy="455168"/>
          </a:xfrm>
          <a:prstGeom prst="roundRect">
            <a:avLst>
              <a:gd name="adj" fmla="val 50000"/>
            </a:avLst>
          </a:prstGeom>
          <a:solidFill>
            <a:srgbClr val="0E1C42"/>
          </a:solidFill>
          <a:ln/>
        </p:spPr>
      </p:sp>
      <p:sp>
        <p:nvSpPr>
          <p:cNvPr id="6" name="Text 3"/>
          <p:cNvSpPr/>
          <p:nvPr/>
        </p:nvSpPr>
        <p:spPr>
          <a:xfrm>
            <a:off x="487680" y="81280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VIRTUE SPOTLIGHT</a:t>
            </a:r>
            <a:endParaRPr lang="en-US" sz="800" dirty="0"/>
          </a:p>
        </p:txBody>
      </p:sp>
      <p:sp>
        <p:nvSpPr>
          <p:cNvPr id="7" name="Text 4"/>
          <p:cNvSpPr/>
          <p:nvPr/>
        </p:nvSpPr>
        <p:spPr>
          <a:xfrm>
            <a:off x="487680" y="1625600"/>
            <a:ext cx="8128000" cy="1137920"/>
          </a:xfrm>
          <a:prstGeom prst="rect">
            <a:avLst/>
          </a:prstGeom>
          <a:noFill/>
          <a:ln/>
        </p:spPr>
        <p:txBody>
          <a:bodyPr wrap="square" lIns="0" tIns="0" rIns="0" bIns="0" rtlCol="0" anchor="ctr"/>
          <a:lstStyle/>
          <a:p>
            <a:pPr indent="0" marL="0">
              <a:buNone/>
            </a:pPr>
            <a:r>
              <a:rPr lang="en-US" sz="3200" b="1" dirty="0">
                <a:solidFill>
                  <a:srgbClr val="D4943A"/>
                </a:solidFill>
                <a:latin typeface="Cambria" pitchFamily="34" charset="0"/>
                <a:ea typeface="Cambria" pitchFamily="34" charset="-122"/>
                <a:cs typeface="Cambria" pitchFamily="34" charset="-120"/>
              </a:rPr>
              <a:t>Courage</a:t>
            </a:r>
            <a:endParaRPr lang="en-US" sz="3200" dirty="0"/>
          </a:p>
        </p:txBody>
      </p:sp>
      <p:sp>
        <p:nvSpPr>
          <p:cNvPr id="8" name="Shape 5"/>
          <p:cNvSpPr/>
          <p:nvPr/>
        </p:nvSpPr>
        <p:spPr>
          <a:xfrm>
            <a:off x="487680" y="2763520"/>
            <a:ext cx="2926080" cy="65024"/>
          </a:xfrm>
          <a:prstGeom prst="rect">
            <a:avLst/>
          </a:prstGeom>
          <a:solidFill>
            <a:srgbClr val="D4943A"/>
          </a:solidFill>
          <a:ln/>
        </p:spPr>
      </p:sp>
      <p:sp>
        <p:nvSpPr>
          <p:cNvPr id="9" name="Text 6"/>
          <p:cNvSpPr/>
          <p:nvPr/>
        </p:nvSpPr>
        <p:spPr>
          <a:xfrm>
            <a:off x="487680" y="3169920"/>
            <a:ext cx="9753600" cy="1950720"/>
          </a:xfrm>
          <a:prstGeom prst="rect">
            <a:avLst/>
          </a:prstGeom>
          <a:noFill/>
          <a:ln/>
        </p:spPr>
        <p:txBody>
          <a:bodyPr wrap="square" lIns="0" tIns="0" rIns="0" bIns="0" rtlCol="0" anchor="ctr"/>
          <a:lstStyle/>
          <a:p>
            <a:pPr indent="0" marL="0">
              <a:lnSpc>
                <a:spcPct val="130000"/>
              </a:lnSpc>
              <a:buNone/>
            </a:pPr>
            <a:r>
              <a:rPr lang="en-US" sz="1600" i="1" dirty="0">
                <a:solidFill>
                  <a:srgbClr val="FFFFFF"/>
                </a:solidFill>
                <a:latin typeface="Cambria" pitchFamily="34" charset="0"/>
                <a:ea typeface="Cambria" pitchFamily="34" charset="-122"/>
                <a:cs typeface="Cambria" pitchFamily="34" charset="-120"/>
              </a:rPr>
              <a:t>It takes courage to look back at everything</a:t>
            </a:r>
            <a:endParaRPr lang="en-US" sz="1600" dirty="0"/>
          </a:p>
          <a:p>
            <a:pPr indent="0" marL="0">
              <a:lnSpc>
                <a:spcPct val="130000"/>
              </a:lnSpc>
              <a:buNone/>
            </a:pPr>
            <a:r>
              <a:rPr lang="en-US" sz="1600" i="1" dirty="0">
                <a:solidFill>
                  <a:srgbClr val="FFFFFF"/>
                </a:solidFill>
                <a:latin typeface="Cambria" pitchFamily="34" charset="0"/>
                <a:ea typeface="Cambria" pitchFamily="34" charset="-122"/>
                <a:cs typeface="Cambria" pitchFamily="34" charset="-120"/>
              </a:rPr>
              <a:t>you've learned and say, "I understand how</a:t>
            </a:r>
            <a:endParaRPr lang="en-US" sz="1600" dirty="0"/>
          </a:p>
          <a:p>
            <a:pPr indent="0" marL="0">
              <a:lnSpc>
                <a:spcPct val="130000"/>
              </a:lnSpc>
              <a:buNone/>
            </a:pPr>
            <a:r>
              <a:rPr lang="en-US" sz="1600" i="1" dirty="0">
                <a:solidFill>
                  <a:srgbClr val="FFFFFF"/>
                </a:solidFill>
                <a:latin typeface="Cambria" pitchFamily="34" charset="0"/>
                <a:ea typeface="Cambria" pitchFamily="34" charset="-122"/>
                <a:cs typeface="Cambria" pitchFamily="34" charset="-120"/>
              </a:rPr>
              <a:t>it all fits together."</a:t>
            </a:r>
            <a:endParaRPr lang="en-US" sz="1600" dirty="0"/>
          </a:p>
        </p:txBody>
      </p:sp>
      <p:sp>
        <p:nvSpPr>
          <p:cNvPr id="10" name="Text 7"/>
          <p:cNvSpPr/>
          <p:nvPr/>
        </p:nvSpPr>
        <p:spPr>
          <a:xfrm>
            <a:off x="487680" y="5364480"/>
            <a:ext cx="9753600" cy="1300480"/>
          </a:xfrm>
          <a:prstGeom prst="rect">
            <a:avLst/>
          </a:prstGeom>
          <a:noFill/>
          <a:ln/>
        </p:spPr>
        <p:txBody>
          <a:bodyPr wrap="square" lIns="0" tIns="0" rIns="0" bIns="0" rtlCol="0" anchor="ctr"/>
          <a:lstStyle/>
          <a:p>
            <a:pPr indent="0" marL="0">
              <a:lnSpc>
                <a:spcPct val="130000"/>
              </a:lnSpc>
              <a:buNone/>
            </a:pPr>
            <a:r>
              <a:rPr lang="en-US" sz="1400" dirty="0">
                <a:solidFill>
                  <a:srgbClr val="55C8E8"/>
                </a:solidFill>
                <a:latin typeface="Calibri" pitchFamily="34" charset="0"/>
                <a:ea typeface="Calibri" pitchFamily="34" charset="-122"/>
                <a:cs typeface="Calibri" pitchFamily="34" charset="-120"/>
              </a:rPr>
              <a:t>Exhibit Reviewers don't just collect facts —</a:t>
            </a:r>
            <a:endParaRPr lang="en-US" sz="1400" dirty="0"/>
          </a:p>
          <a:p>
            <a:pPr indent="0" marL="0">
              <a:lnSpc>
                <a:spcPct val="130000"/>
              </a:lnSpc>
              <a:buNone/>
            </a:pPr>
            <a:r>
              <a:rPr lang="en-US" sz="1400" dirty="0">
                <a:solidFill>
                  <a:srgbClr val="55C8E8"/>
                </a:solidFill>
                <a:latin typeface="Calibri" pitchFamily="34" charset="0"/>
                <a:ea typeface="Calibri" pitchFamily="34" charset="-122"/>
                <a:cs typeface="Calibri" pitchFamily="34" charset="-120"/>
              </a:rPr>
              <a:t>they connect them, even when it's tricky.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3.04.01 | Connect Exploration, Tools, and Maps</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DISCOVER</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The Story So Far</a:t>
            </a:r>
            <a:endParaRPr lang="en-US" sz="2400" dirty="0"/>
          </a:p>
        </p:txBody>
      </p:sp>
      <p:sp>
        <p:nvSpPr>
          <p:cNvPr id="8" name="Text 6"/>
          <p:cNvSpPr/>
          <p:nvPr/>
        </p:nvSpPr>
        <p:spPr>
          <a:xfrm>
            <a:off x="487680" y="2438400"/>
            <a:ext cx="14630400" cy="568960"/>
          </a:xfrm>
          <a:prstGeom prst="rect">
            <a:avLst/>
          </a:prstGeom>
          <a:noFill/>
          <a:ln/>
        </p:spPr>
        <p:txBody>
          <a:bodyPr wrap="square" lIns="0" tIns="0" rIns="0" bIns="0"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Three rooms, three sets of skills</a:t>
            </a:r>
            <a:endParaRPr lang="en-US" sz="1300" dirty="0"/>
          </a:p>
        </p:txBody>
      </p:sp>
      <p:sp>
        <p:nvSpPr>
          <p:cNvPr id="9" name="Shape 7"/>
          <p:cNvSpPr/>
          <p:nvPr/>
        </p:nvSpPr>
        <p:spPr>
          <a:xfrm>
            <a:off x="487680" y="3251200"/>
            <a:ext cx="4714240" cy="4551680"/>
          </a:xfrm>
          <a:prstGeom prst="roundRect">
            <a:avLst>
              <a:gd name="adj" fmla="val 4286"/>
            </a:avLst>
          </a:prstGeom>
          <a:solidFill>
            <a:srgbClr val="EAF8FD"/>
          </a:solidFill>
          <a:ln w="12700">
            <a:solidFill>
              <a:srgbClr val="55C8E8"/>
            </a:solidFill>
            <a:prstDash val="solid"/>
          </a:ln>
        </p:spPr>
      </p:sp>
      <p:sp>
        <p:nvSpPr>
          <p:cNvPr id="10" name="Text 8"/>
          <p:cNvSpPr/>
          <p:nvPr/>
        </p:nvSpPr>
        <p:spPr>
          <a:xfrm>
            <a:off x="731520" y="3413760"/>
            <a:ext cx="4226560" cy="568960"/>
          </a:xfrm>
          <a:prstGeom prst="rect">
            <a:avLst/>
          </a:prstGeom>
          <a:noFill/>
          <a:ln/>
        </p:spPr>
        <p:txBody>
          <a:bodyPr wrap="square" lIns="0" tIns="0" rIns="0" bIns="0"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Curator Training Hall</a:t>
            </a:r>
            <a:endParaRPr lang="en-US" sz="1200" dirty="0"/>
          </a:p>
        </p:txBody>
      </p:sp>
      <p:sp>
        <p:nvSpPr>
          <p:cNvPr id="11" name="Text 9"/>
          <p:cNvSpPr/>
          <p:nvPr/>
        </p:nvSpPr>
        <p:spPr>
          <a:xfrm>
            <a:off x="731520" y="3901440"/>
            <a:ext cx="4226560" cy="406400"/>
          </a:xfrm>
          <a:prstGeom prst="rect">
            <a:avLst/>
          </a:prstGeom>
          <a:noFill/>
          <a:ln/>
        </p:spPr>
        <p:txBody>
          <a:bodyPr wrap="square" lIns="0" tIns="0" rIns="0" bIns="0" rtlCol="0" anchor="ctr"/>
          <a:lstStyle/>
          <a:p>
            <a:pPr indent="0" marL="0">
              <a:buNone/>
            </a:pPr>
            <a:r>
              <a:rPr lang="en-US" sz="900" b="1" spc="100" kern="0" dirty="0">
                <a:solidFill>
                  <a:srgbClr val="1A8A7D"/>
                </a:solidFill>
                <a:latin typeface="Calibri" pitchFamily="34" charset="0"/>
                <a:ea typeface="Calibri" pitchFamily="34" charset="-122"/>
                <a:cs typeface="Calibri" pitchFamily="34" charset="-120"/>
              </a:rPr>
              <a:t>Unit 1: Evidence Skills</a:t>
            </a:r>
            <a:endParaRPr lang="en-US" sz="900" dirty="0"/>
          </a:p>
        </p:txBody>
      </p:sp>
      <p:sp>
        <p:nvSpPr>
          <p:cNvPr id="12" name="Text 10"/>
          <p:cNvSpPr/>
          <p:nvPr/>
        </p:nvSpPr>
        <p:spPr>
          <a:xfrm>
            <a:off x="731520" y="4470400"/>
            <a:ext cx="4226560" cy="2926080"/>
          </a:xfrm>
          <a:prstGeom prst="rect">
            <a:avLst/>
          </a:prstGeom>
          <a:noFill/>
          <a:ln/>
        </p:spPr>
        <p:txBody>
          <a:bodyPr wrap="square" lIns="0" tIns="0" rIns="0" bIns="0" rtlCol="0" anchor="t"/>
          <a:lstStyle/>
          <a:p>
            <a:pPr marL="342900" indent="-342900">
              <a:lnSpc>
                <a:spcPct val="140000"/>
              </a:lnSpc>
              <a:buSzPct val="100000"/>
              <a:buChar char="•"/>
            </a:pPr>
            <a:r>
              <a:rPr lang="en-US" sz="1100" dirty="0">
                <a:solidFill>
                  <a:srgbClr val="0E1C42"/>
                </a:solidFill>
                <a:latin typeface="Calibri" pitchFamily="34" charset="0"/>
                <a:ea typeface="Calibri" pitchFamily="34" charset="-122"/>
                <a:cs typeface="Calibri" pitchFamily="34" charset="-120"/>
              </a:rPr>
              <a:t>Studied sources carefully</a:t>
            </a:r>
            <a:endParaRPr lang="en-US" sz="1100" dirty="0"/>
          </a:p>
          <a:p>
            <a:pPr marL="342900" indent="-342900">
              <a:lnSpc>
                <a:spcPct val="140000"/>
              </a:lnSpc>
              <a:buSzPct val="100000"/>
              <a:buChar char="•"/>
            </a:pPr>
            <a:r>
              <a:rPr lang="en-US" sz="1100" dirty="0">
                <a:solidFill>
                  <a:srgbClr val="0E1C42"/>
                </a:solidFill>
                <a:latin typeface="Calibri" pitchFamily="34" charset="0"/>
                <a:ea typeface="Calibri" pitchFamily="34" charset="-122"/>
                <a:cs typeface="Calibri" pitchFamily="34" charset="-120"/>
              </a:rPr>
              <a:t>Sorted primary vs. secondary sources</a:t>
            </a:r>
            <a:endParaRPr lang="en-US" sz="1100" dirty="0"/>
          </a:p>
          <a:p>
            <a:pPr marL="342900" indent="-342900">
              <a:lnSpc>
                <a:spcPct val="140000"/>
              </a:lnSpc>
              <a:buSzPct val="100000"/>
              <a:buChar char="•"/>
            </a:pPr>
            <a:r>
              <a:rPr lang="en-US" sz="1100" dirty="0">
                <a:solidFill>
                  <a:srgbClr val="0E1C42"/>
                </a:solidFill>
                <a:latin typeface="Calibri" pitchFamily="34" charset="0"/>
                <a:ea typeface="Calibri" pitchFamily="34" charset="-122"/>
                <a:cs typeface="Calibri" pitchFamily="34" charset="-120"/>
              </a:rPr>
              <a:t>Asked good questions before writing</a:t>
            </a:r>
            <a:endParaRPr lang="en-US" sz="1100" dirty="0"/>
          </a:p>
        </p:txBody>
      </p:sp>
      <p:sp>
        <p:nvSpPr>
          <p:cNvPr id="13" name="Shape 11"/>
          <p:cNvSpPr/>
          <p:nvPr/>
        </p:nvSpPr>
        <p:spPr>
          <a:xfrm>
            <a:off x="5689600" y="3251200"/>
            <a:ext cx="4714240" cy="4551680"/>
          </a:xfrm>
          <a:prstGeom prst="roundRect">
            <a:avLst>
              <a:gd name="adj" fmla="val 4286"/>
            </a:avLst>
          </a:prstGeom>
          <a:solidFill>
            <a:srgbClr val="E3F8ED"/>
          </a:solidFill>
          <a:ln w="12700">
            <a:solidFill>
              <a:srgbClr val="34B76F"/>
            </a:solidFill>
            <a:prstDash val="solid"/>
          </a:ln>
        </p:spPr>
      </p:sp>
      <p:sp>
        <p:nvSpPr>
          <p:cNvPr id="14" name="Text 12"/>
          <p:cNvSpPr/>
          <p:nvPr/>
        </p:nvSpPr>
        <p:spPr>
          <a:xfrm>
            <a:off x="5933440" y="3413760"/>
            <a:ext cx="4226560" cy="568960"/>
          </a:xfrm>
          <a:prstGeom prst="rect">
            <a:avLst/>
          </a:prstGeom>
          <a:noFill/>
          <a:ln/>
        </p:spPr>
        <p:txBody>
          <a:bodyPr wrap="square" lIns="0" tIns="0" rIns="0" bIns="0"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Exploration Wing</a:t>
            </a:r>
            <a:endParaRPr lang="en-US" sz="1200" dirty="0"/>
          </a:p>
        </p:txBody>
      </p:sp>
      <p:sp>
        <p:nvSpPr>
          <p:cNvPr id="15" name="Text 13"/>
          <p:cNvSpPr/>
          <p:nvPr/>
        </p:nvSpPr>
        <p:spPr>
          <a:xfrm>
            <a:off x="5933440" y="3901440"/>
            <a:ext cx="4226560" cy="406400"/>
          </a:xfrm>
          <a:prstGeom prst="rect">
            <a:avLst/>
          </a:prstGeom>
          <a:noFill/>
          <a:ln/>
        </p:spPr>
        <p:txBody>
          <a:bodyPr wrap="square" lIns="0" tIns="0" rIns="0" bIns="0" rtlCol="0" anchor="ctr"/>
          <a:lstStyle/>
          <a:p>
            <a:pPr indent="0" marL="0">
              <a:buNone/>
            </a:pPr>
            <a:r>
              <a:rPr lang="en-US" sz="900" b="1" spc="100" kern="0" dirty="0">
                <a:solidFill>
                  <a:srgbClr val="1A8A7D"/>
                </a:solidFill>
                <a:latin typeface="Calibri" pitchFamily="34" charset="0"/>
                <a:ea typeface="Calibri" pitchFamily="34" charset="-122"/>
                <a:cs typeface="Calibri" pitchFamily="34" charset="-120"/>
              </a:rPr>
              <a:t>Unit 2: Explorer Knowledge</a:t>
            </a:r>
            <a:endParaRPr lang="en-US" sz="900" dirty="0"/>
          </a:p>
        </p:txBody>
      </p:sp>
      <p:sp>
        <p:nvSpPr>
          <p:cNvPr id="16" name="Text 14"/>
          <p:cNvSpPr/>
          <p:nvPr/>
        </p:nvSpPr>
        <p:spPr>
          <a:xfrm>
            <a:off x="5933440" y="4470400"/>
            <a:ext cx="4226560" cy="2926080"/>
          </a:xfrm>
          <a:prstGeom prst="rect">
            <a:avLst/>
          </a:prstGeom>
          <a:noFill/>
          <a:ln/>
        </p:spPr>
        <p:txBody>
          <a:bodyPr wrap="square" lIns="0" tIns="0" rIns="0" bIns="0" rtlCol="0" anchor="t"/>
          <a:lstStyle/>
          <a:p>
            <a:pPr marL="342900" indent="-342900">
              <a:lnSpc>
                <a:spcPct val="140000"/>
              </a:lnSpc>
              <a:buSzPct val="100000"/>
              <a:buChar char="•"/>
            </a:pPr>
            <a:r>
              <a:rPr lang="en-US" sz="1100" dirty="0">
                <a:solidFill>
                  <a:srgbClr val="0E1C42"/>
                </a:solidFill>
                <a:latin typeface="Calibri" pitchFamily="34" charset="0"/>
                <a:ea typeface="Calibri" pitchFamily="34" charset="-122"/>
                <a:cs typeface="Calibri" pitchFamily="34" charset="-120"/>
              </a:rPr>
              <a:t>Why people explored (trade, land, curiosity)</a:t>
            </a:r>
            <a:endParaRPr lang="en-US" sz="1100" dirty="0"/>
          </a:p>
          <a:p>
            <a:pPr marL="342900" indent="-342900">
              <a:lnSpc>
                <a:spcPct val="140000"/>
              </a:lnSpc>
              <a:buSzPct val="100000"/>
              <a:buChar char="•"/>
            </a:pPr>
            <a:r>
              <a:rPr lang="en-US" sz="1100" dirty="0">
                <a:solidFill>
                  <a:srgbClr val="0E1C42"/>
                </a:solidFill>
                <a:latin typeface="Calibri" pitchFamily="34" charset="0"/>
                <a:ea typeface="Calibri" pitchFamily="34" charset="-122"/>
                <a:cs typeface="Calibri" pitchFamily="34" charset="-120"/>
              </a:rPr>
              <a:t>Tools: compass, astrolabe</a:t>
            </a:r>
            <a:endParaRPr lang="en-US" sz="1100" dirty="0"/>
          </a:p>
          <a:p>
            <a:pPr marL="342900" indent="-342900">
              <a:lnSpc>
                <a:spcPct val="140000"/>
              </a:lnSpc>
              <a:buSzPct val="100000"/>
              <a:buChar char="•"/>
            </a:pPr>
            <a:r>
              <a:rPr lang="en-US" sz="1100" dirty="0">
                <a:solidFill>
                  <a:srgbClr val="0E1C42"/>
                </a:solidFill>
                <a:latin typeface="Calibri" pitchFamily="34" charset="0"/>
                <a:ea typeface="Calibri" pitchFamily="34" charset="-122"/>
                <a:cs typeface="Calibri" pitchFamily="34" charset="-120"/>
              </a:rPr>
              <a:t>Consequences: some good, some harmful</a:t>
            </a:r>
            <a:endParaRPr lang="en-US" sz="1100" dirty="0"/>
          </a:p>
        </p:txBody>
      </p:sp>
      <p:sp>
        <p:nvSpPr>
          <p:cNvPr id="17" name="Shape 15"/>
          <p:cNvSpPr/>
          <p:nvPr/>
        </p:nvSpPr>
        <p:spPr>
          <a:xfrm>
            <a:off x="10891520" y="3251200"/>
            <a:ext cx="4714240" cy="4551680"/>
          </a:xfrm>
          <a:prstGeom prst="roundRect">
            <a:avLst>
              <a:gd name="adj" fmla="val 4286"/>
            </a:avLst>
          </a:prstGeom>
          <a:solidFill>
            <a:srgbClr val="F0E8FF"/>
          </a:solidFill>
          <a:ln w="12700">
            <a:solidFill>
              <a:srgbClr val="8B6FC0"/>
            </a:solidFill>
            <a:prstDash val="solid"/>
          </a:ln>
        </p:spPr>
      </p:sp>
      <p:sp>
        <p:nvSpPr>
          <p:cNvPr id="18" name="Text 16"/>
          <p:cNvSpPr/>
          <p:nvPr/>
        </p:nvSpPr>
        <p:spPr>
          <a:xfrm>
            <a:off x="11135360" y="3413760"/>
            <a:ext cx="4226560" cy="568960"/>
          </a:xfrm>
          <a:prstGeom prst="rect">
            <a:avLst/>
          </a:prstGeom>
          <a:noFill/>
          <a:ln/>
        </p:spPr>
        <p:txBody>
          <a:bodyPr wrap="square" lIns="0" tIns="0" rIns="0" bIns="0"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Great Map Room</a:t>
            </a:r>
            <a:endParaRPr lang="en-US" sz="1200" dirty="0"/>
          </a:p>
        </p:txBody>
      </p:sp>
      <p:sp>
        <p:nvSpPr>
          <p:cNvPr id="19" name="Text 17"/>
          <p:cNvSpPr/>
          <p:nvPr/>
        </p:nvSpPr>
        <p:spPr>
          <a:xfrm>
            <a:off x="11135360" y="3901440"/>
            <a:ext cx="4226560" cy="406400"/>
          </a:xfrm>
          <a:prstGeom prst="rect">
            <a:avLst/>
          </a:prstGeom>
          <a:noFill/>
          <a:ln/>
        </p:spPr>
        <p:txBody>
          <a:bodyPr wrap="square" lIns="0" tIns="0" rIns="0" bIns="0" rtlCol="0" anchor="ctr"/>
          <a:lstStyle/>
          <a:p>
            <a:pPr indent="0" marL="0">
              <a:buNone/>
            </a:pPr>
            <a:r>
              <a:rPr lang="en-US" sz="900" b="1" spc="100" kern="0" dirty="0">
                <a:solidFill>
                  <a:srgbClr val="1A8A7D"/>
                </a:solidFill>
                <a:latin typeface="Calibri" pitchFamily="34" charset="0"/>
                <a:ea typeface="Calibri" pitchFamily="34" charset="-122"/>
                <a:cs typeface="Calibri" pitchFamily="34" charset="-120"/>
              </a:rPr>
              <a:t>Unit 3: Map Skills</a:t>
            </a:r>
            <a:endParaRPr lang="en-US" sz="900" dirty="0"/>
          </a:p>
        </p:txBody>
      </p:sp>
      <p:sp>
        <p:nvSpPr>
          <p:cNvPr id="20" name="Text 18"/>
          <p:cNvSpPr/>
          <p:nvPr/>
        </p:nvSpPr>
        <p:spPr>
          <a:xfrm>
            <a:off x="11135360" y="4470400"/>
            <a:ext cx="4226560" cy="2926080"/>
          </a:xfrm>
          <a:prstGeom prst="rect">
            <a:avLst/>
          </a:prstGeom>
          <a:noFill/>
          <a:ln/>
        </p:spPr>
        <p:txBody>
          <a:bodyPr wrap="square" lIns="0" tIns="0" rIns="0" bIns="0" rtlCol="0" anchor="t"/>
          <a:lstStyle/>
          <a:p>
            <a:pPr marL="342900" indent="-342900">
              <a:lnSpc>
                <a:spcPct val="140000"/>
              </a:lnSpc>
              <a:buSzPct val="100000"/>
              <a:buChar char="•"/>
            </a:pPr>
            <a:r>
              <a:rPr lang="en-US" sz="1100" dirty="0">
                <a:solidFill>
                  <a:srgbClr val="0E1C42"/>
                </a:solidFill>
                <a:latin typeface="Calibri" pitchFamily="34" charset="0"/>
                <a:ea typeface="Calibri" pitchFamily="34" charset="-122"/>
                <a:cs typeface="Calibri" pitchFamily="34" charset="-120"/>
              </a:rPr>
              <a:t>Repaired maps: titles, compass roses, scales, legends</a:t>
            </a:r>
            <a:endParaRPr lang="en-US" sz="1100" dirty="0"/>
          </a:p>
          <a:p>
            <a:pPr marL="342900" indent="-342900">
              <a:lnSpc>
                <a:spcPct val="140000"/>
              </a:lnSpc>
              <a:buSzPct val="100000"/>
              <a:buChar char="•"/>
            </a:pPr>
            <a:r>
              <a:rPr lang="en-US" sz="1100" dirty="0">
                <a:solidFill>
                  <a:srgbClr val="0E1C42"/>
                </a:solidFill>
                <a:latin typeface="Calibri" pitchFamily="34" charset="0"/>
                <a:ea typeface="Calibri" pitchFamily="34" charset="-122"/>
                <a:cs typeface="Calibri" pitchFamily="34" charset="-120"/>
              </a:rPr>
              <a:t>Cardinal directions</a:t>
            </a:r>
            <a:endParaRPr lang="en-US" sz="1100" dirty="0"/>
          </a:p>
          <a:p>
            <a:pPr marL="342900" indent="-342900">
              <a:lnSpc>
                <a:spcPct val="140000"/>
              </a:lnSpc>
              <a:buSzPct val="100000"/>
              <a:buChar char="•"/>
            </a:pPr>
            <a:r>
              <a:rPr lang="en-US" sz="1100" dirty="0">
                <a:solidFill>
                  <a:srgbClr val="0E1C42"/>
                </a:solidFill>
                <a:latin typeface="Calibri" pitchFamily="34" charset="0"/>
                <a:ea typeface="Calibri" pitchFamily="34" charset="-122"/>
                <a:cs typeface="Calibri" pitchFamily="34" charset="-120"/>
              </a:rPr>
              <a:t>Map types and how scale works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3.04.01 | Connect Exploration, Tools, and Maps</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YOUR TURN</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Pause and Think</a:t>
            </a:r>
            <a:endParaRPr lang="en-US" sz="2400" dirty="0"/>
          </a:p>
        </p:txBody>
      </p:sp>
      <p:sp>
        <p:nvSpPr>
          <p:cNvPr id="8" name="Shape 6"/>
          <p:cNvSpPr/>
          <p:nvPr/>
        </p:nvSpPr>
        <p:spPr>
          <a:xfrm>
            <a:off x="487680" y="2763520"/>
            <a:ext cx="8940800" cy="1950720"/>
          </a:xfrm>
          <a:prstGeom prst="roundRect">
            <a:avLst>
              <a:gd name="adj" fmla="val 10000"/>
            </a:avLst>
          </a:prstGeom>
          <a:solidFill>
            <a:srgbClr val="FFF3DC"/>
          </a:solidFill>
          <a:ln w="19050">
            <a:solidFill>
              <a:srgbClr val="F5E6C8"/>
            </a:solidFill>
            <a:prstDash val="solid"/>
          </a:ln>
        </p:spPr>
      </p:sp>
      <p:sp>
        <p:nvSpPr>
          <p:cNvPr id="9" name="Text 7"/>
          <p:cNvSpPr/>
          <p:nvPr/>
        </p:nvSpPr>
        <p:spPr>
          <a:xfrm>
            <a:off x="731520" y="2861056"/>
            <a:ext cx="84531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31520" y="3218688"/>
            <a:ext cx="8453120" cy="1381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you had to pick one thing you learned from each room, what would it be?"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"Think for 30 seconds, then share with a partner."</a:t>
            </a:r>
            <a:endParaRPr lang="en-US" sz="1200" dirty="0"/>
          </a:p>
        </p:txBody>
      </p:sp>
      <p:sp>
        <p:nvSpPr>
          <p:cNvPr id="11" name="Shape 9"/>
          <p:cNvSpPr/>
          <p:nvPr/>
        </p:nvSpPr>
        <p:spPr>
          <a:xfrm>
            <a:off x="487680" y="5039360"/>
            <a:ext cx="8940800" cy="2926080"/>
          </a:xfrm>
          <a:prstGeom prst="roundRect">
            <a:avLst>
              <a:gd name="adj" fmla="val 6667"/>
            </a:avLst>
          </a:prstGeom>
          <a:solidFill>
            <a:srgbClr val="FFFFFF"/>
          </a:solidFill>
          <a:ln w="19050">
            <a:solidFill>
              <a:srgbClr val="55C8E8"/>
            </a:solidFill>
            <a:prstDash val="solid"/>
          </a:ln>
        </p:spPr>
      </p:sp>
      <p:sp>
        <p:nvSpPr>
          <p:cNvPr id="12" name="Text 10"/>
          <p:cNvSpPr/>
          <p:nvPr/>
        </p:nvSpPr>
        <p:spPr>
          <a:xfrm>
            <a:off x="812800" y="5201920"/>
            <a:ext cx="829056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SHARE OUT</a:t>
            </a:r>
            <a:endParaRPr lang="en-US" sz="900" dirty="0"/>
          </a:p>
        </p:txBody>
      </p:sp>
      <p:sp>
        <p:nvSpPr>
          <p:cNvPr id="13" name="Text 11"/>
          <p:cNvSpPr/>
          <p:nvPr/>
        </p:nvSpPr>
        <p:spPr>
          <a:xfrm>
            <a:off x="812800" y="5689600"/>
            <a:ext cx="8290560" cy="2113280"/>
          </a:xfrm>
          <a:prstGeom prst="rect">
            <a:avLst/>
          </a:prstGeom>
          <a:noFill/>
          <a:ln/>
        </p:spPr>
        <p:txBody>
          <a:bodyPr wrap="square" lIns="0" tIns="0" rIns="0" bIns="0" rtlCol="0" anchor="ctr"/>
          <a:lstStyle/>
          <a:p>
            <a:pPr indent="0" marL="0">
              <a:lnSpc>
                <a:spcPct val="150000"/>
              </a:lnSpc>
              <a:buNone/>
            </a:pPr>
            <a:r>
              <a:rPr lang="en-US" sz="1300" dirty="0">
                <a:solidFill>
                  <a:srgbClr val="0E1C42"/>
                </a:solidFill>
                <a:latin typeface="Calibri" pitchFamily="34" charset="0"/>
                <a:ea typeface="Calibri" pitchFamily="34" charset="-122"/>
                <a:cs typeface="Calibri" pitchFamily="34" charset="-120"/>
              </a:rPr>
              <a:t>Curator Training Hall: I learned...</a:t>
            </a:r>
            <a:endParaRPr lang="en-US" sz="1300" dirty="0"/>
          </a:p>
          <a:p>
            <a:pPr indent="0" marL="0">
              <a:lnSpc>
                <a:spcPct val="150000"/>
              </a:lnSpc>
              <a:buNone/>
            </a:pPr>
            <a:r>
              <a:rPr lang="en-US" sz="1300" dirty="0">
                <a:solidFill>
                  <a:srgbClr val="0E1C42"/>
                </a:solidFill>
                <a:latin typeface="Calibri" pitchFamily="34" charset="0"/>
                <a:ea typeface="Calibri" pitchFamily="34" charset="-122"/>
                <a:cs typeface="Calibri" pitchFamily="34" charset="-120"/>
              </a:rPr>
              <a:t>Exploration Wing: I learned...</a:t>
            </a:r>
            <a:endParaRPr lang="en-US" sz="1300" dirty="0"/>
          </a:p>
          <a:p>
            <a:pPr indent="0" marL="0">
              <a:lnSpc>
                <a:spcPct val="150000"/>
              </a:lnSpc>
              <a:buNone/>
            </a:pPr>
            <a:r>
              <a:rPr lang="en-US" sz="1300" dirty="0">
                <a:solidFill>
                  <a:srgbClr val="0E1C42"/>
                </a:solidFill>
                <a:latin typeface="Calibri" pitchFamily="34" charset="0"/>
                <a:ea typeface="Calibri" pitchFamily="34" charset="-122"/>
                <a:cs typeface="Calibri" pitchFamily="34" charset="-120"/>
              </a:rPr>
              <a:t>Great Map Room: I learned...</a:t>
            </a:r>
            <a:endParaRPr lang="en-US" sz="1300" dirty="0"/>
          </a:p>
        </p:txBody>
      </p:sp>
      <p:sp>
        <p:nvSpPr>
          <p:cNvPr id="14" name="Shape 12"/>
          <p:cNvSpPr/>
          <p:nvPr/>
        </p:nvSpPr>
        <p:spPr>
          <a:xfrm>
            <a:off x="10078720" y="1625600"/>
            <a:ext cx="5527040" cy="6177280"/>
          </a:xfrm>
          <a:prstGeom prst="roundRect">
            <a:avLst>
              <a:gd name="adj" fmla="val 3529"/>
            </a:avLst>
          </a:prstGeom>
          <a:solidFill>
            <a:srgbClr val="E2E8F4"/>
          </a:solidFill>
          <a:ln w="19050">
            <a:solidFill>
              <a:srgbClr val="B0B8CC"/>
            </a:solidFill>
            <a:prstDash val="dash"/>
          </a:ln>
        </p:spPr>
      </p:sp>
      <p:sp>
        <p:nvSpPr>
          <p:cNvPr id="15" name="Text 13"/>
          <p:cNvSpPr/>
          <p:nvPr/>
        </p:nvSpPr>
        <p:spPr>
          <a:xfrm>
            <a:off x="10078720" y="1625600"/>
            <a:ext cx="552704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6" name="Text 14"/>
          <p:cNvSpPr/>
          <p:nvPr/>
        </p:nvSpPr>
        <p:spPr>
          <a:xfrm>
            <a:off x="10322560" y="2113280"/>
            <a:ext cx="5039360" cy="5527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Three museum room icons connected by dotted lines - magnifying glass, compass, map scroll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3.04.01 | Connect Exploration, Tools, and Maps</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DISCOVER</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How Do They Connect?</a:t>
            </a:r>
            <a:endParaRPr lang="en-US" sz="2400" dirty="0"/>
          </a:p>
        </p:txBody>
      </p:sp>
      <p:sp>
        <p:nvSpPr>
          <p:cNvPr id="8" name="Text 6"/>
          <p:cNvSpPr/>
          <p:nvPr/>
        </p:nvSpPr>
        <p:spPr>
          <a:xfrm>
            <a:off x="487680" y="2438400"/>
            <a:ext cx="14630400" cy="568960"/>
          </a:xfrm>
          <a:prstGeom prst="rect">
            <a:avLst/>
          </a:prstGeom>
          <a:noFill/>
          <a:ln/>
        </p:spPr>
        <p:txBody>
          <a:bodyPr wrap="square" lIns="0" tIns="0" rIns="0" bIns="0"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Exploration, tools, and maps are parts of one big story</a:t>
            </a:r>
            <a:endParaRPr lang="en-US" sz="1300" dirty="0"/>
          </a:p>
        </p:txBody>
      </p:sp>
      <p:sp>
        <p:nvSpPr>
          <p:cNvPr id="9" name="Shape 7"/>
          <p:cNvSpPr/>
          <p:nvPr/>
        </p:nvSpPr>
        <p:spPr>
          <a:xfrm>
            <a:off x="812800" y="3413760"/>
            <a:ext cx="4064000" cy="2600960"/>
          </a:xfrm>
          <a:prstGeom prst="roundRect">
            <a:avLst>
              <a:gd name="adj" fmla="val 7500"/>
            </a:avLst>
          </a:prstGeom>
          <a:solidFill>
            <a:srgbClr val="EAF8FD"/>
          </a:solidFill>
          <a:ln w="19050">
            <a:solidFill>
              <a:srgbClr val="55C8E8"/>
            </a:solidFill>
            <a:prstDash val="solid"/>
          </a:ln>
        </p:spPr>
      </p:sp>
      <p:sp>
        <p:nvSpPr>
          <p:cNvPr id="10" name="Text 8"/>
          <p:cNvSpPr/>
          <p:nvPr/>
        </p:nvSpPr>
        <p:spPr>
          <a:xfrm>
            <a:off x="812800" y="3576320"/>
            <a:ext cx="4064000" cy="487680"/>
          </a:xfrm>
          <a:prstGeom prst="rect">
            <a:avLst/>
          </a:prstGeom>
          <a:noFill/>
          <a:ln/>
        </p:spPr>
        <p:txBody>
          <a:bodyPr wrap="square" lIns="0" tIns="0" rIns="0" bIns="0" rtlCol="0" anchor="ctr"/>
          <a:lstStyle/>
          <a:p>
            <a:pPr algn="ctr" indent="0" marL="0">
              <a:buNone/>
            </a:pPr>
            <a:r>
              <a:rPr lang="en-US" sz="1000" b="1" spc="150" kern="0" dirty="0">
                <a:solidFill>
                  <a:srgbClr val="1A8A7D"/>
                </a:solidFill>
                <a:latin typeface="Calibri" pitchFamily="34" charset="0"/>
                <a:ea typeface="Calibri" pitchFamily="34" charset="-122"/>
                <a:cs typeface="Calibri" pitchFamily="34" charset="-120"/>
              </a:rPr>
              <a:t>EXPLORATION</a:t>
            </a:r>
            <a:endParaRPr lang="en-US" sz="1000" dirty="0"/>
          </a:p>
        </p:txBody>
      </p:sp>
      <p:sp>
        <p:nvSpPr>
          <p:cNvPr id="11" name="Text 9"/>
          <p:cNvSpPr/>
          <p:nvPr/>
        </p:nvSpPr>
        <p:spPr>
          <a:xfrm>
            <a:off x="1056640" y="4145280"/>
            <a:ext cx="3576320" cy="162560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People explored because they wanted to learn about the world — trade, land, curiosity.</a:t>
            </a:r>
            <a:endParaRPr lang="en-US" sz="1100" dirty="0"/>
          </a:p>
        </p:txBody>
      </p:sp>
      <p:sp>
        <p:nvSpPr>
          <p:cNvPr id="12" name="Text 10"/>
          <p:cNvSpPr/>
          <p:nvPr/>
        </p:nvSpPr>
        <p:spPr>
          <a:xfrm>
            <a:off x="5039360" y="4064000"/>
            <a:ext cx="975360" cy="1300480"/>
          </a:xfrm>
          <a:prstGeom prst="rect">
            <a:avLst/>
          </a:prstGeom>
          <a:noFill/>
          <a:ln/>
        </p:spPr>
        <p:txBody>
          <a:bodyPr wrap="square" lIns="0" tIns="0" rIns="0" bIns="0" rtlCol="0" anchor="ctr"/>
          <a:lstStyle/>
          <a:p>
            <a:pPr algn="ctr" indent="0" marL="0">
              <a:buNone/>
            </a:pPr>
            <a:r>
              <a:rPr lang="en-US" sz="2800" b="1" dirty="0">
                <a:solidFill>
                  <a:srgbClr val="D4943A"/>
                </a:solidFill>
                <a:latin typeface="Calibri" pitchFamily="34" charset="0"/>
                <a:ea typeface="Calibri" pitchFamily="34" charset="-122"/>
                <a:cs typeface="Calibri" pitchFamily="34" charset="-120"/>
              </a:rPr>
              <a:t>→</a:t>
            </a:r>
            <a:endParaRPr lang="en-US" sz="2800" dirty="0"/>
          </a:p>
        </p:txBody>
      </p:sp>
      <p:sp>
        <p:nvSpPr>
          <p:cNvPr id="13" name="Shape 11"/>
          <p:cNvSpPr/>
          <p:nvPr/>
        </p:nvSpPr>
        <p:spPr>
          <a:xfrm>
            <a:off x="6014720" y="3413760"/>
            <a:ext cx="4064000" cy="2600960"/>
          </a:xfrm>
          <a:prstGeom prst="roundRect">
            <a:avLst>
              <a:gd name="adj" fmla="val 7500"/>
            </a:avLst>
          </a:prstGeom>
          <a:solidFill>
            <a:srgbClr val="E3F8ED"/>
          </a:solidFill>
          <a:ln w="19050">
            <a:solidFill>
              <a:srgbClr val="34B76F"/>
            </a:solidFill>
            <a:prstDash val="solid"/>
          </a:ln>
        </p:spPr>
      </p:sp>
      <p:sp>
        <p:nvSpPr>
          <p:cNvPr id="14" name="Text 12"/>
          <p:cNvSpPr/>
          <p:nvPr/>
        </p:nvSpPr>
        <p:spPr>
          <a:xfrm>
            <a:off x="6014720" y="3576320"/>
            <a:ext cx="4064000" cy="487680"/>
          </a:xfrm>
          <a:prstGeom prst="rect">
            <a:avLst/>
          </a:prstGeom>
          <a:noFill/>
          <a:ln/>
        </p:spPr>
        <p:txBody>
          <a:bodyPr wrap="square" lIns="0" tIns="0" rIns="0" bIns="0" rtlCol="0" anchor="ctr"/>
          <a:lstStyle/>
          <a:p>
            <a:pPr algn="ctr" indent="0" marL="0">
              <a:buNone/>
            </a:pPr>
            <a:r>
              <a:rPr lang="en-US" sz="1000" b="1" spc="150" kern="0" dirty="0">
                <a:solidFill>
                  <a:srgbClr val="1A8A7D"/>
                </a:solidFill>
                <a:latin typeface="Calibri" pitchFamily="34" charset="0"/>
                <a:ea typeface="Calibri" pitchFamily="34" charset="-122"/>
                <a:cs typeface="Calibri" pitchFamily="34" charset="-120"/>
              </a:rPr>
              <a:t>TOOLS</a:t>
            </a:r>
            <a:endParaRPr lang="en-US" sz="1000" dirty="0"/>
          </a:p>
        </p:txBody>
      </p:sp>
      <p:sp>
        <p:nvSpPr>
          <p:cNvPr id="15" name="Text 13"/>
          <p:cNvSpPr/>
          <p:nvPr/>
        </p:nvSpPr>
        <p:spPr>
          <a:xfrm>
            <a:off x="6258560" y="4145280"/>
            <a:ext cx="3576320" cy="162560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Explorers used tools like compasses and astrolabes to find their way.</a:t>
            </a:r>
            <a:endParaRPr lang="en-US" sz="1100" dirty="0"/>
          </a:p>
        </p:txBody>
      </p:sp>
      <p:sp>
        <p:nvSpPr>
          <p:cNvPr id="16" name="Text 14"/>
          <p:cNvSpPr/>
          <p:nvPr/>
        </p:nvSpPr>
        <p:spPr>
          <a:xfrm>
            <a:off x="10241280" y="4064000"/>
            <a:ext cx="975360" cy="1300480"/>
          </a:xfrm>
          <a:prstGeom prst="rect">
            <a:avLst/>
          </a:prstGeom>
          <a:noFill/>
          <a:ln/>
        </p:spPr>
        <p:txBody>
          <a:bodyPr wrap="square" lIns="0" tIns="0" rIns="0" bIns="0" rtlCol="0" anchor="ctr"/>
          <a:lstStyle/>
          <a:p>
            <a:pPr algn="ctr" indent="0" marL="0">
              <a:buNone/>
            </a:pPr>
            <a:r>
              <a:rPr lang="en-US" sz="2800" b="1" dirty="0">
                <a:solidFill>
                  <a:srgbClr val="D4943A"/>
                </a:solidFill>
                <a:latin typeface="Calibri" pitchFamily="34" charset="0"/>
                <a:ea typeface="Calibri" pitchFamily="34" charset="-122"/>
                <a:cs typeface="Calibri" pitchFamily="34" charset="-120"/>
              </a:rPr>
              <a:t>→</a:t>
            </a:r>
            <a:endParaRPr lang="en-US" sz="2800" dirty="0"/>
          </a:p>
        </p:txBody>
      </p:sp>
      <p:sp>
        <p:nvSpPr>
          <p:cNvPr id="17" name="Shape 15"/>
          <p:cNvSpPr/>
          <p:nvPr/>
        </p:nvSpPr>
        <p:spPr>
          <a:xfrm>
            <a:off x="11216640" y="3413760"/>
            <a:ext cx="4064000" cy="2600960"/>
          </a:xfrm>
          <a:prstGeom prst="roundRect">
            <a:avLst>
              <a:gd name="adj" fmla="val 7500"/>
            </a:avLst>
          </a:prstGeom>
          <a:solidFill>
            <a:srgbClr val="F0E8FF"/>
          </a:solidFill>
          <a:ln w="19050">
            <a:solidFill>
              <a:srgbClr val="8B6FC0"/>
            </a:solidFill>
            <a:prstDash val="solid"/>
          </a:ln>
        </p:spPr>
      </p:sp>
      <p:sp>
        <p:nvSpPr>
          <p:cNvPr id="18" name="Text 16"/>
          <p:cNvSpPr/>
          <p:nvPr/>
        </p:nvSpPr>
        <p:spPr>
          <a:xfrm>
            <a:off x="11216640" y="3576320"/>
            <a:ext cx="4064000" cy="487680"/>
          </a:xfrm>
          <a:prstGeom prst="rect">
            <a:avLst/>
          </a:prstGeom>
          <a:noFill/>
          <a:ln/>
        </p:spPr>
        <p:txBody>
          <a:bodyPr wrap="square" lIns="0" tIns="0" rIns="0" bIns="0" rtlCol="0" anchor="ctr"/>
          <a:lstStyle/>
          <a:p>
            <a:pPr algn="ctr" indent="0" marL="0">
              <a:buNone/>
            </a:pPr>
            <a:r>
              <a:rPr lang="en-US" sz="1000" b="1" spc="150" kern="0" dirty="0">
                <a:solidFill>
                  <a:srgbClr val="1A8A7D"/>
                </a:solidFill>
                <a:latin typeface="Calibri" pitchFamily="34" charset="0"/>
                <a:ea typeface="Calibri" pitchFamily="34" charset="-122"/>
                <a:cs typeface="Calibri" pitchFamily="34" charset="-120"/>
              </a:rPr>
              <a:t>MAPS</a:t>
            </a:r>
            <a:endParaRPr lang="en-US" sz="1000" dirty="0"/>
          </a:p>
        </p:txBody>
      </p:sp>
      <p:sp>
        <p:nvSpPr>
          <p:cNvPr id="19" name="Text 17"/>
          <p:cNvSpPr/>
          <p:nvPr/>
        </p:nvSpPr>
        <p:spPr>
          <a:xfrm>
            <a:off x="11460480" y="4145280"/>
            <a:ext cx="3576320" cy="162560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Mapmakers recorded what was found so others could understand it.</a:t>
            </a:r>
            <a:endParaRPr lang="en-US" sz="1100" dirty="0"/>
          </a:p>
        </p:txBody>
      </p:sp>
      <p:sp>
        <p:nvSpPr>
          <p:cNvPr id="20" name="Shape 18"/>
          <p:cNvSpPr/>
          <p:nvPr/>
        </p:nvSpPr>
        <p:spPr>
          <a:xfrm>
            <a:off x="2438400" y="6664960"/>
            <a:ext cx="11379200" cy="1300480"/>
          </a:xfrm>
          <a:prstGeom prst="roundRect">
            <a:avLst>
              <a:gd name="adj" fmla="val 15000"/>
            </a:avLst>
          </a:prstGeom>
          <a:solidFill>
            <a:srgbClr val="FFF3DC"/>
          </a:solidFill>
          <a:ln w="19050">
            <a:solidFill>
              <a:srgbClr val="D4943A"/>
            </a:solidFill>
            <a:prstDash val="solid"/>
          </a:ln>
        </p:spPr>
      </p:sp>
      <p:sp>
        <p:nvSpPr>
          <p:cNvPr id="21" name="Text 19"/>
          <p:cNvSpPr/>
          <p:nvPr/>
        </p:nvSpPr>
        <p:spPr>
          <a:xfrm>
            <a:off x="2763520" y="6827520"/>
            <a:ext cx="10728960" cy="975360"/>
          </a:xfrm>
          <a:prstGeom prst="rect">
            <a:avLst/>
          </a:prstGeom>
          <a:noFill/>
          <a:ln/>
        </p:spPr>
        <p:txBody>
          <a:bodyPr wrap="square" lIns="0" tIns="0" rIns="0" bIns="0" rtlCol="0" anchor="ctr"/>
          <a:lstStyle/>
          <a:p>
            <a:pPr algn="ctr" indent="0" marL="0">
              <a:buNone/>
            </a:pPr>
            <a:r>
              <a:rPr lang="en-US" sz="1300" b="1" dirty="0">
                <a:solidFill>
                  <a:srgbClr val="0E1C42"/>
                </a:solidFill>
                <a:latin typeface="Calibri" pitchFamily="34" charset="0"/>
                <a:ea typeface="Calibri" pitchFamily="34" charset="-122"/>
                <a:cs typeface="Calibri" pitchFamily="34" charset="-120"/>
              </a:rPr>
              <a:t>Explorers needed tools. Tools helped make maps. Maps help everyone understand what explorers found.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3.04.01 | Connect Exploration, Tools, and Maps</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DISCUSS</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Connection Cards</a:t>
            </a:r>
            <a:endParaRPr lang="en-US" sz="2400" dirty="0"/>
          </a:p>
        </p:txBody>
      </p:sp>
      <p:sp>
        <p:nvSpPr>
          <p:cNvPr id="8" name="Text 6"/>
          <p:cNvSpPr/>
          <p:nvPr/>
        </p:nvSpPr>
        <p:spPr>
          <a:xfrm>
            <a:off x="487680" y="2438400"/>
            <a:ext cx="14630400" cy="568960"/>
          </a:xfrm>
          <a:prstGeom prst="rect">
            <a:avLst/>
          </a:prstGeom>
          <a:noFill/>
          <a:ln/>
        </p:spPr>
        <p:txBody>
          <a:bodyPr wrap="square" lIns="0" tIns="0" rIns="0" bIns="0"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Which room does each piece of evidence belong to?</a:t>
            </a:r>
            <a:endParaRPr lang="en-US" sz="1300" dirty="0"/>
          </a:p>
        </p:txBody>
      </p:sp>
      <p:sp>
        <p:nvSpPr>
          <p:cNvPr id="9" name="Shape 7"/>
          <p:cNvSpPr/>
          <p:nvPr/>
        </p:nvSpPr>
        <p:spPr>
          <a:xfrm>
            <a:off x="487680" y="3251200"/>
            <a:ext cx="7315200" cy="1463040"/>
          </a:xfrm>
          <a:prstGeom prst="roundRect">
            <a:avLst>
              <a:gd name="adj" fmla="val 11111"/>
            </a:avLst>
          </a:prstGeom>
          <a:solidFill>
            <a:srgbClr val="FFFFFF"/>
          </a:solidFill>
          <a:ln w="12700">
            <a:solidFill>
              <a:srgbClr val="55C8E8"/>
            </a:solidFill>
            <a:prstDash val="solid"/>
          </a:ln>
        </p:spPr>
      </p:sp>
      <p:sp>
        <p:nvSpPr>
          <p:cNvPr id="10" name="Text 8"/>
          <p:cNvSpPr/>
          <p:nvPr/>
        </p:nvSpPr>
        <p:spPr>
          <a:xfrm>
            <a:off x="731520" y="3332480"/>
            <a:ext cx="4876800" cy="130048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People explored for trade, land, and curiosity</a:t>
            </a:r>
            <a:endParaRPr lang="en-US" sz="1100" dirty="0"/>
          </a:p>
        </p:txBody>
      </p:sp>
      <p:sp>
        <p:nvSpPr>
          <p:cNvPr id="11" name="Shape 9"/>
          <p:cNvSpPr/>
          <p:nvPr/>
        </p:nvSpPr>
        <p:spPr>
          <a:xfrm>
            <a:off x="5689600" y="3576320"/>
            <a:ext cx="1869440" cy="812800"/>
          </a:xfrm>
          <a:prstGeom prst="roundRect">
            <a:avLst>
              <a:gd name="adj" fmla="val 16000"/>
            </a:avLst>
          </a:prstGeom>
          <a:solidFill>
            <a:srgbClr val="1A2D5A"/>
          </a:solidFill>
          <a:ln/>
        </p:spPr>
      </p:sp>
      <p:sp>
        <p:nvSpPr>
          <p:cNvPr id="12" name="Text 10"/>
          <p:cNvSpPr/>
          <p:nvPr/>
        </p:nvSpPr>
        <p:spPr>
          <a:xfrm>
            <a:off x="5689600" y="3576320"/>
            <a:ext cx="1869440" cy="8128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Expl. Wing</a:t>
            </a:r>
            <a:endParaRPr lang="en-US" sz="800" dirty="0"/>
          </a:p>
        </p:txBody>
      </p:sp>
      <p:sp>
        <p:nvSpPr>
          <p:cNvPr id="13" name="Shape 11"/>
          <p:cNvSpPr/>
          <p:nvPr/>
        </p:nvSpPr>
        <p:spPr>
          <a:xfrm>
            <a:off x="8290560" y="3251200"/>
            <a:ext cx="7315200" cy="1463040"/>
          </a:xfrm>
          <a:prstGeom prst="roundRect">
            <a:avLst>
              <a:gd name="adj" fmla="val 11111"/>
            </a:avLst>
          </a:prstGeom>
          <a:solidFill>
            <a:srgbClr val="FFFFFF"/>
          </a:solidFill>
          <a:ln w="12700">
            <a:solidFill>
              <a:srgbClr val="55C8E8"/>
            </a:solidFill>
            <a:prstDash val="solid"/>
          </a:ln>
        </p:spPr>
      </p:sp>
      <p:sp>
        <p:nvSpPr>
          <p:cNvPr id="14" name="Text 12"/>
          <p:cNvSpPr/>
          <p:nvPr/>
        </p:nvSpPr>
        <p:spPr>
          <a:xfrm>
            <a:off x="8534400" y="3332480"/>
            <a:ext cx="4876800" cy="130048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 compass helped sailors find north</a:t>
            </a:r>
            <a:endParaRPr lang="en-US" sz="1100" dirty="0"/>
          </a:p>
        </p:txBody>
      </p:sp>
      <p:sp>
        <p:nvSpPr>
          <p:cNvPr id="15" name="Shape 13"/>
          <p:cNvSpPr/>
          <p:nvPr/>
        </p:nvSpPr>
        <p:spPr>
          <a:xfrm>
            <a:off x="13492480" y="3576320"/>
            <a:ext cx="1869440" cy="812800"/>
          </a:xfrm>
          <a:prstGeom prst="roundRect">
            <a:avLst>
              <a:gd name="adj" fmla="val 16000"/>
            </a:avLst>
          </a:prstGeom>
          <a:solidFill>
            <a:srgbClr val="1A2D5A"/>
          </a:solidFill>
          <a:ln/>
        </p:spPr>
      </p:sp>
      <p:sp>
        <p:nvSpPr>
          <p:cNvPr id="16" name="Text 14"/>
          <p:cNvSpPr/>
          <p:nvPr/>
        </p:nvSpPr>
        <p:spPr>
          <a:xfrm>
            <a:off x="13492480" y="3576320"/>
            <a:ext cx="1869440" cy="8128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Expl. Wing</a:t>
            </a:r>
            <a:endParaRPr lang="en-US" sz="800" dirty="0"/>
          </a:p>
        </p:txBody>
      </p:sp>
      <p:sp>
        <p:nvSpPr>
          <p:cNvPr id="17" name="Shape 15"/>
          <p:cNvSpPr/>
          <p:nvPr/>
        </p:nvSpPr>
        <p:spPr>
          <a:xfrm>
            <a:off x="487680" y="4958080"/>
            <a:ext cx="7315200" cy="1463040"/>
          </a:xfrm>
          <a:prstGeom prst="roundRect">
            <a:avLst>
              <a:gd name="adj" fmla="val 11111"/>
            </a:avLst>
          </a:prstGeom>
          <a:solidFill>
            <a:srgbClr val="FFFFFF"/>
          </a:solidFill>
          <a:ln w="12700">
            <a:solidFill>
              <a:srgbClr val="55C8E8"/>
            </a:solidFill>
            <a:prstDash val="solid"/>
          </a:ln>
        </p:spPr>
      </p:sp>
      <p:sp>
        <p:nvSpPr>
          <p:cNvPr id="18" name="Text 16"/>
          <p:cNvSpPr/>
          <p:nvPr/>
        </p:nvSpPr>
        <p:spPr>
          <a:xfrm>
            <a:off x="731520" y="5039360"/>
            <a:ext cx="4876800" cy="130048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 legend explains what map symbols mean</a:t>
            </a:r>
            <a:endParaRPr lang="en-US" sz="1100" dirty="0"/>
          </a:p>
        </p:txBody>
      </p:sp>
      <p:sp>
        <p:nvSpPr>
          <p:cNvPr id="19" name="Shape 17"/>
          <p:cNvSpPr/>
          <p:nvPr/>
        </p:nvSpPr>
        <p:spPr>
          <a:xfrm>
            <a:off x="5689600" y="5283200"/>
            <a:ext cx="1869440" cy="812800"/>
          </a:xfrm>
          <a:prstGeom prst="roundRect">
            <a:avLst>
              <a:gd name="adj" fmla="val 16000"/>
            </a:avLst>
          </a:prstGeom>
          <a:solidFill>
            <a:srgbClr val="1A2D5A"/>
          </a:solidFill>
          <a:ln/>
        </p:spPr>
      </p:sp>
      <p:sp>
        <p:nvSpPr>
          <p:cNvPr id="20" name="Text 18"/>
          <p:cNvSpPr/>
          <p:nvPr/>
        </p:nvSpPr>
        <p:spPr>
          <a:xfrm>
            <a:off x="5689600" y="5283200"/>
            <a:ext cx="1869440" cy="8128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Map Room</a:t>
            </a:r>
            <a:endParaRPr lang="en-US" sz="800" dirty="0"/>
          </a:p>
        </p:txBody>
      </p:sp>
      <p:sp>
        <p:nvSpPr>
          <p:cNvPr id="21" name="Shape 19"/>
          <p:cNvSpPr/>
          <p:nvPr/>
        </p:nvSpPr>
        <p:spPr>
          <a:xfrm>
            <a:off x="8290560" y="4958080"/>
            <a:ext cx="7315200" cy="1463040"/>
          </a:xfrm>
          <a:prstGeom prst="roundRect">
            <a:avLst>
              <a:gd name="adj" fmla="val 11111"/>
            </a:avLst>
          </a:prstGeom>
          <a:solidFill>
            <a:srgbClr val="FFFFFF"/>
          </a:solidFill>
          <a:ln w="12700">
            <a:solidFill>
              <a:srgbClr val="55C8E8"/>
            </a:solidFill>
            <a:prstDash val="solid"/>
          </a:ln>
        </p:spPr>
      </p:sp>
      <p:sp>
        <p:nvSpPr>
          <p:cNvPr id="22" name="Text 20"/>
          <p:cNvSpPr/>
          <p:nvPr/>
        </p:nvSpPr>
        <p:spPr>
          <a:xfrm>
            <a:off x="8534400" y="5039360"/>
            <a:ext cx="4876800" cy="130048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An astrolabe measured the position of stars</a:t>
            </a:r>
            <a:endParaRPr lang="en-US" sz="1100" dirty="0"/>
          </a:p>
        </p:txBody>
      </p:sp>
      <p:sp>
        <p:nvSpPr>
          <p:cNvPr id="23" name="Shape 21"/>
          <p:cNvSpPr/>
          <p:nvPr/>
        </p:nvSpPr>
        <p:spPr>
          <a:xfrm>
            <a:off x="13492480" y="5283200"/>
            <a:ext cx="1869440" cy="812800"/>
          </a:xfrm>
          <a:prstGeom prst="roundRect">
            <a:avLst>
              <a:gd name="adj" fmla="val 16000"/>
            </a:avLst>
          </a:prstGeom>
          <a:solidFill>
            <a:srgbClr val="1A2D5A"/>
          </a:solidFill>
          <a:ln/>
        </p:spPr>
      </p:sp>
      <p:sp>
        <p:nvSpPr>
          <p:cNvPr id="24" name="Text 22"/>
          <p:cNvSpPr/>
          <p:nvPr/>
        </p:nvSpPr>
        <p:spPr>
          <a:xfrm>
            <a:off x="13492480" y="5283200"/>
            <a:ext cx="1869440" cy="8128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Expl. Wing</a:t>
            </a:r>
            <a:endParaRPr lang="en-US" sz="800" dirty="0"/>
          </a:p>
        </p:txBody>
      </p:sp>
      <p:sp>
        <p:nvSpPr>
          <p:cNvPr id="25" name="Shape 23"/>
          <p:cNvSpPr/>
          <p:nvPr/>
        </p:nvSpPr>
        <p:spPr>
          <a:xfrm>
            <a:off x="487680" y="6664960"/>
            <a:ext cx="7315200" cy="1463040"/>
          </a:xfrm>
          <a:prstGeom prst="roundRect">
            <a:avLst>
              <a:gd name="adj" fmla="val 11111"/>
            </a:avLst>
          </a:prstGeom>
          <a:solidFill>
            <a:srgbClr val="FFFFFF"/>
          </a:solidFill>
          <a:ln w="12700">
            <a:solidFill>
              <a:srgbClr val="55C8E8"/>
            </a:solidFill>
            <a:prstDash val="solid"/>
          </a:ln>
        </p:spPr>
      </p:sp>
      <p:sp>
        <p:nvSpPr>
          <p:cNvPr id="26" name="Text 24"/>
          <p:cNvSpPr/>
          <p:nvPr/>
        </p:nvSpPr>
        <p:spPr>
          <a:xfrm>
            <a:off x="731520" y="6746240"/>
            <a:ext cx="4876800" cy="130048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Maps need a title, compass rose, and scale</a:t>
            </a:r>
            <a:endParaRPr lang="en-US" sz="1100" dirty="0"/>
          </a:p>
        </p:txBody>
      </p:sp>
      <p:sp>
        <p:nvSpPr>
          <p:cNvPr id="27" name="Shape 25"/>
          <p:cNvSpPr/>
          <p:nvPr/>
        </p:nvSpPr>
        <p:spPr>
          <a:xfrm>
            <a:off x="5689600" y="6990080"/>
            <a:ext cx="1869440" cy="812800"/>
          </a:xfrm>
          <a:prstGeom prst="roundRect">
            <a:avLst>
              <a:gd name="adj" fmla="val 16000"/>
            </a:avLst>
          </a:prstGeom>
          <a:solidFill>
            <a:srgbClr val="1A2D5A"/>
          </a:solidFill>
          <a:ln/>
        </p:spPr>
      </p:sp>
      <p:sp>
        <p:nvSpPr>
          <p:cNvPr id="28" name="Text 26"/>
          <p:cNvSpPr/>
          <p:nvPr/>
        </p:nvSpPr>
        <p:spPr>
          <a:xfrm>
            <a:off x="5689600" y="6990080"/>
            <a:ext cx="1869440" cy="8128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Map Room</a:t>
            </a:r>
            <a:endParaRPr lang="en-US" sz="800" dirty="0"/>
          </a:p>
        </p:txBody>
      </p:sp>
      <p:sp>
        <p:nvSpPr>
          <p:cNvPr id="29" name="Shape 27"/>
          <p:cNvSpPr/>
          <p:nvPr/>
        </p:nvSpPr>
        <p:spPr>
          <a:xfrm>
            <a:off x="8290560" y="6664960"/>
            <a:ext cx="7315200" cy="1463040"/>
          </a:xfrm>
          <a:prstGeom prst="roundRect">
            <a:avLst>
              <a:gd name="adj" fmla="val 11111"/>
            </a:avLst>
          </a:prstGeom>
          <a:solidFill>
            <a:srgbClr val="FFFFFF"/>
          </a:solidFill>
          <a:ln w="12700">
            <a:solidFill>
              <a:srgbClr val="55C8E8"/>
            </a:solidFill>
            <a:prstDash val="solid"/>
          </a:ln>
        </p:spPr>
      </p:sp>
      <p:sp>
        <p:nvSpPr>
          <p:cNvPr id="30" name="Text 28"/>
          <p:cNvSpPr/>
          <p:nvPr/>
        </p:nvSpPr>
        <p:spPr>
          <a:xfrm>
            <a:off x="8534400" y="6746240"/>
            <a:ext cx="4876800" cy="130048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Explorers used maps to plan their routes</a:t>
            </a:r>
            <a:endParaRPr lang="en-US" sz="1100" dirty="0"/>
          </a:p>
        </p:txBody>
      </p:sp>
      <p:sp>
        <p:nvSpPr>
          <p:cNvPr id="31" name="Shape 29"/>
          <p:cNvSpPr/>
          <p:nvPr/>
        </p:nvSpPr>
        <p:spPr>
          <a:xfrm>
            <a:off x="13492480" y="6990080"/>
            <a:ext cx="1869440" cy="812800"/>
          </a:xfrm>
          <a:prstGeom prst="roundRect">
            <a:avLst>
              <a:gd name="adj" fmla="val 16000"/>
            </a:avLst>
          </a:prstGeom>
          <a:solidFill>
            <a:srgbClr val="1A2D5A"/>
          </a:solidFill>
          <a:ln/>
        </p:spPr>
      </p:sp>
      <p:sp>
        <p:nvSpPr>
          <p:cNvPr id="32" name="Text 30"/>
          <p:cNvSpPr/>
          <p:nvPr/>
        </p:nvSpPr>
        <p:spPr>
          <a:xfrm>
            <a:off x="13492480" y="6990080"/>
            <a:ext cx="1869440" cy="8128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Expl. Wing</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3.04.01 | Connect Exploration, Tools, and Maps</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DISCOVERY FACT</a:t>
            </a:r>
            <a:endParaRPr lang="en-US" sz="800" dirty="0"/>
          </a:p>
        </p:txBody>
      </p:sp>
      <p:sp>
        <p:nvSpPr>
          <p:cNvPr id="7" name="Text 5"/>
          <p:cNvSpPr/>
          <p:nvPr/>
        </p:nvSpPr>
        <p:spPr>
          <a:xfrm>
            <a:off x="487680" y="1625600"/>
            <a:ext cx="97536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Does "Cartographer" Mean?</a:t>
            </a:r>
            <a:endParaRPr lang="en-US" sz="2400" dirty="0"/>
          </a:p>
        </p:txBody>
      </p:sp>
      <p:sp>
        <p:nvSpPr>
          <p:cNvPr id="8" name="Shape 6"/>
          <p:cNvSpPr/>
          <p:nvPr/>
        </p:nvSpPr>
        <p:spPr>
          <a:xfrm>
            <a:off x="487680" y="2763520"/>
            <a:ext cx="8940800" cy="2600960"/>
          </a:xfrm>
          <a:prstGeom prst="roundRect">
            <a:avLst>
              <a:gd name="adj" fmla="val 9375"/>
            </a:avLst>
          </a:prstGeom>
          <a:solidFill>
            <a:srgbClr val="FFF3DC"/>
          </a:solidFill>
          <a:ln w="19050">
            <a:solidFill>
              <a:srgbClr val="D4943A"/>
            </a:solidFill>
            <a:prstDash val="solid"/>
          </a:ln>
        </p:spPr>
      </p:sp>
      <p:sp>
        <p:nvSpPr>
          <p:cNvPr id="9" name="Text 7"/>
          <p:cNvSpPr/>
          <p:nvPr/>
        </p:nvSpPr>
        <p:spPr>
          <a:xfrm>
            <a:off x="812800" y="3007360"/>
            <a:ext cx="8290560" cy="89408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The word "cartographer" comes from two old words meaning "map" and "writer."</a:t>
            </a:r>
            <a:endParaRPr lang="en-US" sz="1400" dirty="0"/>
          </a:p>
        </p:txBody>
      </p:sp>
      <p:sp>
        <p:nvSpPr>
          <p:cNvPr id="10" name="Text 8"/>
          <p:cNvSpPr/>
          <p:nvPr/>
        </p:nvSpPr>
        <p:spPr>
          <a:xfrm>
            <a:off x="812800" y="3901440"/>
            <a:ext cx="8290560" cy="113792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A cartographer is literally a map-writer — and that's exactly what you've been learning to do!</a:t>
            </a:r>
            <a:endParaRPr lang="en-US" sz="1300" dirty="0"/>
          </a:p>
        </p:txBody>
      </p:sp>
      <p:sp>
        <p:nvSpPr>
          <p:cNvPr id="11" name="Shape 9"/>
          <p:cNvSpPr/>
          <p:nvPr/>
        </p:nvSpPr>
        <p:spPr>
          <a:xfrm>
            <a:off x="10078720" y="1137920"/>
            <a:ext cx="5527040" cy="6827520"/>
          </a:xfrm>
          <a:prstGeom prst="roundRect">
            <a:avLst>
              <a:gd name="adj" fmla="val 3529"/>
            </a:avLst>
          </a:prstGeom>
          <a:solidFill>
            <a:srgbClr val="E2E8F4"/>
          </a:solidFill>
          <a:ln w="19050">
            <a:solidFill>
              <a:srgbClr val="B0B8CC"/>
            </a:solidFill>
            <a:prstDash val="dash"/>
          </a:ln>
        </p:spPr>
      </p:sp>
      <p:sp>
        <p:nvSpPr>
          <p:cNvPr id="12" name="Text 10"/>
          <p:cNvSpPr/>
          <p:nvPr/>
        </p:nvSpPr>
        <p:spPr>
          <a:xfrm>
            <a:off x="10078720" y="1137920"/>
            <a:ext cx="552704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3" name="Text 11"/>
          <p:cNvSpPr/>
          <p:nvPr/>
        </p:nvSpPr>
        <p:spPr>
          <a:xfrm>
            <a:off x="10322560" y="1625600"/>
            <a:ext cx="5039360" cy="6177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Old-fashioned cartographer at a desk drawing a map with quill and compass tools</a:t>
            </a:r>
            <a:endParaRPr lang="en-US" sz="1100" dirty="0"/>
          </a:p>
        </p:txBody>
      </p:sp>
      <p:sp>
        <p:nvSpPr>
          <p:cNvPr id="14" name="Shape 12"/>
          <p:cNvSpPr/>
          <p:nvPr/>
        </p:nvSpPr>
        <p:spPr>
          <a:xfrm>
            <a:off x="487680" y="5852160"/>
            <a:ext cx="8940800" cy="1463040"/>
          </a:xfrm>
          <a:prstGeom prst="roundRect">
            <a:avLst>
              <a:gd name="adj" fmla="val 13333"/>
            </a:avLst>
          </a:prstGeom>
          <a:solidFill>
            <a:srgbClr val="FFF3DC"/>
          </a:solidFill>
          <a:ln w="19050">
            <a:solidFill>
              <a:srgbClr val="F5E6C8"/>
            </a:solidFill>
            <a:prstDash val="solid"/>
          </a:ln>
        </p:spPr>
      </p:sp>
      <p:sp>
        <p:nvSpPr>
          <p:cNvPr id="15" name="Text 13"/>
          <p:cNvSpPr/>
          <p:nvPr/>
        </p:nvSpPr>
        <p:spPr>
          <a:xfrm>
            <a:off x="731520" y="5949696"/>
            <a:ext cx="84531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731520" y="6307328"/>
            <a:ext cx="8453120" cy="894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"You've been a map-writer this whole time! How does it feel to know you've been practicing a skill that's hundreds of years old?"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3.04.01 | Connect Exploration, Tools, and Maps</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THEN AND NOW</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Maps: Then and Now</a:t>
            </a:r>
            <a:endParaRPr lang="en-US" sz="2400" dirty="0"/>
          </a:p>
        </p:txBody>
      </p:sp>
      <p:sp>
        <p:nvSpPr>
          <p:cNvPr id="8" name="Shape 6"/>
          <p:cNvSpPr/>
          <p:nvPr/>
        </p:nvSpPr>
        <p:spPr>
          <a:xfrm>
            <a:off x="487680" y="2763520"/>
            <a:ext cx="15118080" cy="3901440"/>
          </a:xfrm>
          <a:prstGeom prst="roundRect">
            <a:avLst>
              <a:gd name="adj" fmla="val 5000"/>
            </a:avLst>
          </a:prstGeom>
          <a:solidFill>
            <a:srgbClr val="E2E8F4"/>
          </a:solidFill>
          <a:ln w="19050">
            <a:solidFill>
              <a:srgbClr val="B0B8CC"/>
            </a:solidFill>
            <a:prstDash val="dash"/>
          </a:ln>
        </p:spPr>
      </p:sp>
      <p:sp>
        <p:nvSpPr>
          <p:cNvPr id="9" name="Text 7"/>
          <p:cNvSpPr/>
          <p:nvPr/>
        </p:nvSpPr>
        <p:spPr>
          <a:xfrm>
            <a:off x="487680" y="2763520"/>
            <a:ext cx="1511808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731520" y="3251200"/>
            <a:ext cx="14630400" cy="32512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Split image: Left side shows an old explorer drawing a map by hand on a ship. Right side shows a modern satellite image of Earth on a computer screen.</a:t>
            </a:r>
            <a:endParaRPr lang="en-US" sz="1100" dirty="0"/>
          </a:p>
        </p:txBody>
      </p:sp>
      <p:sp>
        <p:nvSpPr>
          <p:cNvPr id="11" name="Shape 9"/>
          <p:cNvSpPr/>
          <p:nvPr/>
        </p:nvSpPr>
        <p:spPr>
          <a:xfrm>
            <a:off x="487680" y="6908800"/>
            <a:ext cx="7152640" cy="1463040"/>
          </a:xfrm>
          <a:prstGeom prst="roundRect">
            <a:avLst>
              <a:gd name="adj" fmla="val 11111"/>
            </a:avLst>
          </a:prstGeom>
          <a:solidFill>
            <a:srgbClr val="FFF8F0"/>
          </a:solidFill>
          <a:ln w="12700">
            <a:solidFill>
              <a:srgbClr val="D4943A"/>
            </a:solidFill>
            <a:prstDash val="solid"/>
          </a:ln>
        </p:spPr>
      </p:sp>
      <p:sp>
        <p:nvSpPr>
          <p:cNvPr id="12" name="Text 10"/>
          <p:cNvSpPr/>
          <p:nvPr/>
        </p:nvSpPr>
        <p:spPr>
          <a:xfrm>
            <a:off x="731520" y="7071360"/>
            <a:ext cx="6664960" cy="113792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THEN: Explorers drew maps by hand after sailing for months.</a:t>
            </a:r>
            <a:endParaRPr lang="en-US" sz="1200" dirty="0"/>
          </a:p>
        </p:txBody>
      </p:sp>
      <p:sp>
        <p:nvSpPr>
          <p:cNvPr id="13" name="Shape 11"/>
          <p:cNvSpPr/>
          <p:nvPr/>
        </p:nvSpPr>
        <p:spPr>
          <a:xfrm>
            <a:off x="8128000" y="6908800"/>
            <a:ext cx="7477760" cy="1463040"/>
          </a:xfrm>
          <a:prstGeom prst="roundRect">
            <a:avLst>
              <a:gd name="adj" fmla="val 11111"/>
            </a:avLst>
          </a:prstGeom>
          <a:solidFill>
            <a:srgbClr val="EAF8FD"/>
          </a:solidFill>
          <a:ln w="12700">
            <a:solidFill>
              <a:srgbClr val="55C8E8"/>
            </a:solidFill>
            <a:prstDash val="solid"/>
          </a:ln>
        </p:spPr>
      </p:sp>
      <p:sp>
        <p:nvSpPr>
          <p:cNvPr id="14" name="Text 12"/>
          <p:cNvSpPr/>
          <p:nvPr/>
        </p:nvSpPr>
        <p:spPr>
          <a:xfrm>
            <a:off x="8371840" y="7071360"/>
            <a:ext cx="6990080" cy="113792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NOW: Satellites take pictures from space and computers draw maps in seconds.</a:t>
            </a:r>
            <a:endParaRPr lang="en-US" sz="1200" dirty="0"/>
          </a:p>
        </p:txBody>
      </p:sp>
      <p:sp>
        <p:nvSpPr>
          <p:cNvPr id="15" name="Shape 13"/>
          <p:cNvSpPr/>
          <p:nvPr/>
        </p:nvSpPr>
        <p:spPr>
          <a:xfrm>
            <a:off x="10566400" y="1625600"/>
            <a:ext cx="5039360" cy="975360"/>
          </a:xfrm>
          <a:prstGeom prst="roundRect">
            <a:avLst>
              <a:gd name="adj" fmla="val 25000"/>
            </a:avLst>
          </a:prstGeom>
          <a:solidFill>
            <a:srgbClr val="1A2D5A"/>
          </a:solidFill>
          <a:ln/>
          <a:effectLst>
            <a:outerShdw sx="100000" sy="100000" kx="0" ky="0" algn="bl" rotWithShape="0" blurRad="101600" dist="38100" dir="8100000">
              <a:srgbClr val="000000">
                <a:alpha val="20000"/>
              </a:srgbClr>
            </a:outerShdw>
          </a:effectLst>
        </p:spPr>
      </p:sp>
      <p:sp>
        <p:nvSpPr>
          <p:cNvPr id="16" name="Text 14"/>
          <p:cNvSpPr/>
          <p:nvPr/>
        </p:nvSpPr>
        <p:spPr>
          <a:xfrm>
            <a:off x="10891520" y="1788160"/>
            <a:ext cx="438912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7" name="Text 15"/>
          <p:cNvSpPr/>
          <p:nvPr/>
        </p:nvSpPr>
        <p:spPr>
          <a:xfrm>
            <a:off x="10891520" y="2243328"/>
            <a:ext cx="4389120" cy="19507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stayed the same about why people make maps?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3.04.01 | Connect Exploration, Tools, and Maps</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EXHIBIT LABEL</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See the Big Picture</a:t>
            </a:r>
            <a:endParaRPr lang="en-US" sz="2400" dirty="0"/>
          </a:p>
        </p:txBody>
      </p:sp>
      <p:sp>
        <p:nvSpPr>
          <p:cNvPr id="8" name="Shape 6"/>
          <p:cNvSpPr/>
          <p:nvPr/>
        </p:nvSpPr>
        <p:spPr>
          <a:xfrm>
            <a:off x="812800" y="2763520"/>
            <a:ext cx="14630400" cy="2275840"/>
          </a:xfrm>
          <a:prstGeom prst="roundRect">
            <a:avLst>
              <a:gd name="adj" fmla="val 10714"/>
            </a:avLst>
          </a:prstGeom>
          <a:solidFill>
            <a:srgbClr val="1A2D5A"/>
          </a:solidFill>
          <a:ln/>
          <a:effectLst>
            <a:outerShdw sx="100000" sy="100000" kx="0" ky="0" algn="bl" rotWithShape="0" blurRad="76200" dist="25400" dir="8100000">
              <a:srgbClr val="000000">
                <a:alpha val="15000"/>
              </a:srgbClr>
            </a:outerShdw>
          </a:effectLst>
        </p:spPr>
      </p:sp>
      <p:sp>
        <p:nvSpPr>
          <p:cNvPr id="9" name="Text 7"/>
          <p:cNvSpPr/>
          <p:nvPr/>
        </p:nvSpPr>
        <p:spPr>
          <a:xfrm>
            <a:off x="1137920" y="2926080"/>
            <a:ext cx="1398016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EXHIBIT LABEL</a:t>
            </a:r>
            <a:endParaRPr lang="en-US" sz="900" dirty="0"/>
          </a:p>
        </p:txBody>
      </p:sp>
      <p:sp>
        <p:nvSpPr>
          <p:cNvPr id="10" name="Text 8"/>
          <p:cNvSpPr/>
          <p:nvPr/>
        </p:nvSpPr>
        <p:spPr>
          <a:xfrm>
            <a:off x="1137920" y="3413760"/>
            <a:ext cx="13980160" cy="1463040"/>
          </a:xfrm>
          <a:prstGeom prst="rect">
            <a:avLst/>
          </a:prstGeom>
          <a:noFill/>
          <a:ln/>
        </p:spPr>
        <p:txBody>
          <a:bodyPr wrap="square" lIns="0" tIns="0" rIns="0" bIns="0" rtlCol="0" anchor="ctr"/>
          <a:lstStyle/>
          <a:p>
            <a:pPr indent="0" marL="0">
              <a:lnSpc>
                <a:spcPct val="135000"/>
              </a:lnSpc>
              <a:buNone/>
            </a:pPr>
            <a:r>
              <a:rPr lang="en-US" sz="1400" dirty="0">
                <a:solidFill>
                  <a:srgbClr val="FFFFFF"/>
                </a:solidFill>
                <a:latin typeface="Calibri" pitchFamily="34" charset="0"/>
                <a:ea typeface="Calibri" pitchFamily="34" charset="-122"/>
                <a:cs typeface="Calibri" pitchFamily="34" charset="-120"/>
              </a:rPr>
              <a:t>Exploration, tools, and maps are connected. People explored because they wanted to learn about the world. They used tools like compasses and astrolabes to find their way. Then mapmakers recorded what was found so others could understand it too.</a:t>
            </a:r>
            <a:endParaRPr lang="en-US" sz="1400" dirty="0"/>
          </a:p>
        </p:txBody>
      </p:sp>
      <p:sp>
        <p:nvSpPr>
          <p:cNvPr id="11" name="Shape 9"/>
          <p:cNvSpPr/>
          <p:nvPr/>
        </p:nvSpPr>
        <p:spPr>
          <a:xfrm>
            <a:off x="812800" y="5527040"/>
            <a:ext cx="14630400" cy="2438400"/>
          </a:xfrm>
          <a:prstGeom prst="roundRect">
            <a:avLst>
              <a:gd name="adj" fmla="val 8000"/>
            </a:avLst>
          </a:prstGeom>
          <a:solidFill>
            <a:srgbClr val="E3F8ED"/>
          </a:solidFill>
          <a:ln w="19050">
            <a:solidFill>
              <a:srgbClr val="34B76F"/>
            </a:solidFill>
            <a:prstDash val="solid"/>
          </a:ln>
        </p:spPr>
      </p:sp>
      <p:sp>
        <p:nvSpPr>
          <p:cNvPr id="12" name="Text 10"/>
          <p:cNvSpPr/>
          <p:nvPr/>
        </p:nvSpPr>
        <p:spPr>
          <a:xfrm>
            <a:off x="1137920" y="5689600"/>
            <a:ext cx="1398016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OPTI SAYS</a:t>
            </a:r>
            <a:endParaRPr lang="en-US" sz="900" dirty="0"/>
          </a:p>
        </p:txBody>
      </p:sp>
      <p:sp>
        <p:nvSpPr>
          <p:cNvPr id="13" name="Text 11"/>
          <p:cNvSpPr/>
          <p:nvPr/>
        </p:nvSpPr>
        <p:spPr>
          <a:xfrm>
            <a:off x="1137920" y="6177280"/>
            <a:ext cx="13980160" cy="1625600"/>
          </a:xfrm>
          <a:prstGeom prst="rect">
            <a:avLst/>
          </a:prstGeom>
          <a:noFill/>
          <a:ln/>
        </p:spPr>
        <p:txBody>
          <a:bodyPr wrap="square" lIns="0" tIns="0" rIns="0" bIns="0" rtlCol="0" anchor="ctr"/>
          <a:lstStyle/>
          <a:p>
            <a:pPr indent="0" marL="0">
              <a:lnSpc>
                <a:spcPct val="130000"/>
              </a:lnSpc>
              <a:buNone/>
            </a:pPr>
            <a:r>
              <a:rPr lang="en-US" sz="1300" i="1" dirty="0">
                <a:solidFill>
                  <a:srgbClr val="0E1C42"/>
                </a:solidFill>
                <a:latin typeface="Calibri" pitchFamily="34" charset="0"/>
                <a:ea typeface="Calibri" pitchFamily="34" charset="-122"/>
                <a:cs typeface="Calibri" pitchFamily="34" charset="-120"/>
              </a:rPr>
              <a:t>You know what I noticed? Every room in this museum builds on the one before it. Explorers needed tools. Tools helped make maps. And maps help everyone understand what explorers found. That's the connection the evidence wall needs!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3.04.01 | Connect Exploration, Tools, and Maps</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DISCUSS</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Why Does the Connection Matter?</a:t>
            </a:r>
            <a:endParaRPr lang="en-US" sz="2400" dirty="0"/>
          </a:p>
        </p:txBody>
      </p:sp>
      <p:sp>
        <p:nvSpPr>
          <p:cNvPr id="8" name="Shape 6"/>
          <p:cNvSpPr/>
          <p:nvPr/>
        </p:nvSpPr>
        <p:spPr>
          <a:xfrm>
            <a:off x="487680" y="2763520"/>
            <a:ext cx="8940800" cy="3576320"/>
          </a:xfrm>
          <a:prstGeom prst="roundRect">
            <a:avLst>
              <a:gd name="adj" fmla="val 6818"/>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812800" y="2926080"/>
            <a:ext cx="82905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812800" y="3381248"/>
            <a:ext cx="8290560" cy="279603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is it important to connect what we learn, not just memorize separate facts?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does understanding the connection between exploration, tools, and maps help us think like real curators?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the strongest claim we can make from the evidence we have gathered?</a:t>
            </a:r>
            <a:endParaRPr lang="en-US" sz="1100" dirty="0"/>
          </a:p>
        </p:txBody>
      </p:sp>
      <p:sp>
        <p:nvSpPr>
          <p:cNvPr id="11" name="Shape 9"/>
          <p:cNvSpPr/>
          <p:nvPr/>
        </p:nvSpPr>
        <p:spPr>
          <a:xfrm>
            <a:off x="10078720" y="1625600"/>
            <a:ext cx="5527040" cy="6177280"/>
          </a:xfrm>
          <a:prstGeom prst="roundRect">
            <a:avLst>
              <a:gd name="adj" fmla="val 3529"/>
            </a:avLst>
          </a:prstGeom>
          <a:solidFill>
            <a:srgbClr val="E2E8F4"/>
          </a:solidFill>
          <a:ln w="19050">
            <a:solidFill>
              <a:srgbClr val="B0B8CC"/>
            </a:solidFill>
            <a:prstDash val="dash"/>
          </a:ln>
        </p:spPr>
      </p:sp>
      <p:sp>
        <p:nvSpPr>
          <p:cNvPr id="12" name="Text 10"/>
          <p:cNvSpPr/>
          <p:nvPr/>
        </p:nvSpPr>
        <p:spPr>
          <a:xfrm>
            <a:off x="10078720" y="1625600"/>
            <a:ext cx="552704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3" name="Text 11"/>
          <p:cNvSpPr/>
          <p:nvPr/>
        </p:nvSpPr>
        <p:spPr>
          <a:xfrm>
            <a:off x="10322560" y="2113280"/>
            <a:ext cx="5039360" cy="5527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Museum curator standing in front of a completed evidence wall with connected threads between items</a:t>
            </a:r>
            <a:endParaRPr lang="en-US" sz="1100" dirty="0"/>
          </a:p>
        </p:txBody>
      </p:sp>
      <p:sp>
        <p:nvSpPr>
          <p:cNvPr id="14" name="Shape 12"/>
          <p:cNvSpPr/>
          <p:nvPr/>
        </p:nvSpPr>
        <p:spPr>
          <a:xfrm>
            <a:off x="487680" y="6664960"/>
            <a:ext cx="8940800" cy="1463040"/>
          </a:xfrm>
          <a:prstGeom prst="roundRect">
            <a:avLst>
              <a:gd name="adj" fmla="val 13333"/>
            </a:avLst>
          </a:prstGeom>
          <a:solidFill>
            <a:srgbClr val="FFF3DC"/>
          </a:solidFill>
          <a:ln w="19050">
            <a:solidFill>
              <a:srgbClr val="F5E6C8"/>
            </a:solidFill>
            <a:prstDash val="solid"/>
          </a:ln>
        </p:spPr>
      </p:sp>
      <p:sp>
        <p:nvSpPr>
          <p:cNvPr id="15" name="Text 13"/>
          <p:cNvSpPr/>
          <p:nvPr/>
        </p:nvSpPr>
        <p:spPr>
          <a:xfrm>
            <a:off x="731520" y="6762496"/>
            <a:ext cx="84531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731520" y="7120128"/>
            <a:ext cx="8453120" cy="894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"Turn to a partner: What is one sentence that connects exploration, tools, and maps?"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3.04.01 | Connect Exploration, Tools, and Maps</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GUIDED PRACTICE</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Let Me Show You</a:t>
            </a:r>
            <a:endParaRPr lang="en-US" sz="2400" dirty="0"/>
          </a:p>
        </p:txBody>
      </p:sp>
      <p:sp>
        <p:nvSpPr>
          <p:cNvPr id="8" name="Text 6"/>
          <p:cNvSpPr/>
          <p:nvPr/>
        </p:nvSpPr>
        <p:spPr>
          <a:xfrm>
            <a:off x="487680" y="2438400"/>
            <a:ext cx="14630400" cy="568960"/>
          </a:xfrm>
          <a:prstGeom prst="rect">
            <a:avLst/>
          </a:prstGeom>
          <a:noFill/>
          <a:ln/>
        </p:spPr>
        <p:txBody>
          <a:bodyPr wrap="square" lIns="0" tIns="0" rIns="0" bIns="0"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Watch how I answer an evidence question</a:t>
            </a:r>
            <a:endParaRPr lang="en-US" sz="1300" dirty="0"/>
          </a:p>
        </p:txBody>
      </p:sp>
      <p:sp>
        <p:nvSpPr>
          <p:cNvPr id="9" name="Shape 7"/>
          <p:cNvSpPr/>
          <p:nvPr/>
        </p:nvSpPr>
        <p:spPr>
          <a:xfrm>
            <a:off x="487680" y="3251200"/>
            <a:ext cx="15118080" cy="1137920"/>
          </a:xfrm>
          <a:prstGeom prst="roundRect">
            <a:avLst>
              <a:gd name="adj" fmla="val 14286"/>
            </a:avLst>
          </a:prstGeom>
          <a:solidFill>
            <a:srgbClr val="EAF8FD"/>
          </a:solidFill>
          <a:ln w="19050">
            <a:solidFill>
              <a:srgbClr val="55C8E8"/>
            </a:solidFill>
            <a:prstDash val="solid"/>
          </a:ln>
        </p:spPr>
      </p:sp>
      <p:sp>
        <p:nvSpPr>
          <p:cNvPr id="10" name="Text 8"/>
          <p:cNvSpPr/>
          <p:nvPr/>
        </p:nvSpPr>
        <p:spPr>
          <a:xfrm>
            <a:off x="812800" y="3413760"/>
            <a:ext cx="14467840" cy="8128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Q: Name one thing you learned about exploration and one thing you learned about maps.</a:t>
            </a:r>
            <a:endParaRPr lang="en-US" sz="1300" dirty="0"/>
          </a:p>
        </p:txBody>
      </p:sp>
      <p:sp>
        <p:nvSpPr>
          <p:cNvPr id="11" name="Shape 9"/>
          <p:cNvSpPr/>
          <p:nvPr/>
        </p:nvSpPr>
        <p:spPr>
          <a:xfrm>
            <a:off x="487680" y="4714240"/>
            <a:ext cx="15118080" cy="2926080"/>
          </a:xfrm>
          <a:prstGeom prst="roundRect">
            <a:avLst>
              <a:gd name="adj" fmla="val 6667"/>
            </a:avLst>
          </a:prstGeom>
          <a:solidFill>
            <a:srgbClr val="FFF3DC"/>
          </a:solidFill>
          <a:ln w="19050">
            <a:solidFill>
              <a:srgbClr val="D4943A"/>
            </a:solidFill>
            <a:prstDash val="solid"/>
          </a:ln>
        </p:spPr>
      </p:sp>
      <p:sp>
        <p:nvSpPr>
          <p:cNvPr id="12" name="Text 10"/>
          <p:cNvSpPr/>
          <p:nvPr/>
        </p:nvSpPr>
        <p:spPr>
          <a:xfrm>
            <a:off x="812800" y="4876800"/>
            <a:ext cx="1446784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TEACHER MODEL</a:t>
            </a:r>
            <a:endParaRPr lang="en-US" sz="900" dirty="0"/>
          </a:p>
        </p:txBody>
      </p:sp>
      <p:sp>
        <p:nvSpPr>
          <p:cNvPr id="13" name="Text 11"/>
          <p:cNvSpPr/>
          <p:nvPr/>
        </p:nvSpPr>
        <p:spPr>
          <a:xfrm>
            <a:off x="812800" y="5445760"/>
            <a:ext cx="14467840" cy="1950720"/>
          </a:xfrm>
          <a:prstGeom prst="rect">
            <a:avLst/>
          </a:prstGeom>
          <a:noFill/>
          <a:ln/>
        </p:spPr>
        <p:txBody>
          <a:bodyPr wrap="square" lIns="0" tIns="0" rIns="0" bIns="0" rtlCol="0" anchor="t"/>
          <a:lstStyle/>
          <a:p>
            <a:pPr indent="0" marL="0">
              <a:lnSpc>
                <a:spcPct val="150000"/>
              </a:lnSpc>
              <a:buNone/>
            </a:pPr>
            <a:r>
              <a:rPr lang="en-US" sz="1300" dirty="0">
                <a:solidFill>
                  <a:srgbClr val="0E1C42"/>
                </a:solidFill>
                <a:latin typeface="Calibri" pitchFamily="34" charset="0"/>
                <a:ea typeface="Calibri" pitchFamily="34" charset="-122"/>
                <a:cs typeface="Calibri" pitchFamily="34" charset="-120"/>
              </a:rPr>
              <a:t>I learned that explorers traveled to find new trade routes.</a:t>
            </a:r>
            <a:pPr indent="0" marL="0">
              <a:lnSpc>
                <a:spcPct val="150000"/>
              </a:lnSpc>
              <a:buNone/>
            </a:pPr>
            <a:r>
              <a:rPr lang="en-US" sz="1000" i="1" dirty="0">
                <a:solidFill>
                  <a:srgbClr val="1A8A7D"/>
                </a:solidFill>
                <a:latin typeface="Calibri" pitchFamily="34" charset="0"/>
                <a:ea typeface="Calibri" pitchFamily="34" charset="-122"/>
                <a:cs typeface="Calibri" pitchFamily="34" charset="-120"/>
              </a:rPr>
              <a:t> ← exploration detail
</a:t>
            </a:r>
            <a:pPr indent="0" marL="0">
              <a:lnSpc>
                <a:spcPct val="150000"/>
              </a:lnSpc>
              <a:buNone/>
            </a:pPr>
            <a:r>
              <a:rPr lang="en-US" sz="1300" dirty="0">
                <a:solidFill>
                  <a:srgbClr val="0E1C42"/>
                </a:solidFill>
                <a:latin typeface="Calibri" pitchFamily="34" charset="0"/>
                <a:ea typeface="Calibri" pitchFamily="34" charset="-122"/>
                <a:cs typeface="Calibri" pitchFamily="34" charset="-120"/>
              </a:rPr>
              <a:t>I also learned that maps need a compass rose so readers know which direction is north.</a:t>
            </a:r>
            <a:pPr indent="0" marL="0">
              <a:lnSpc>
                <a:spcPct val="150000"/>
              </a:lnSpc>
              <a:buNone/>
            </a:pPr>
            <a:r>
              <a:rPr lang="en-US" sz="1000" i="1" dirty="0">
                <a:solidFill>
                  <a:srgbClr val="1A8A7D"/>
                </a:solidFill>
                <a:latin typeface="Calibri" pitchFamily="34" charset="0"/>
                <a:ea typeface="Calibri" pitchFamily="34" charset="-122"/>
                <a:cs typeface="Calibri" pitchFamily="34" charset="-120"/>
              </a:rPr>
              <a:t> ← map detail</a:t>
            </a:r>
            <a:endParaRPr lang="en-US" sz="1300" dirty="0"/>
          </a:p>
        </p:txBody>
      </p:sp>
      <p:sp>
        <p:nvSpPr>
          <p:cNvPr id="14" name="Text 12"/>
          <p:cNvSpPr/>
          <p:nvPr/>
        </p:nvSpPr>
        <p:spPr>
          <a:xfrm>
            <a:off x="812800" y="7965440"/>
            <a:ext cx="14630400" cy="568960"/>
          </a:xfrm>
          <a:prstGeom prst="rect">
            <a:avLst/>
          </a:prstGeom>
          <a:noFill/>
          <a:ln/>
        </p:spPr>
        <p:txBody>
          <a:bodyPr wrap="square" lIns="0" tIns="0" rIns="0" bIns="0" rtlCol="0" anchor="ctr"/>
          <a:lstStyle/>
          <a:p>
            <a:pPr indent="0" marL="0">
              <a:buNone/>
            </a:pPr>
            <a:r>
              <a:rPr lang="en-US" sz="1100" b="1" dirty="0">
                <a:solidFill>
                  <a:srgbClr val="1A8A7D"/>
                </a:solidFill>
                <a:latin typeface="Calibri" pitchFamily="34" charset="0"/>
                <a:ea typeface="Calibri" pitchFamily="34" charset="-122"/>
                <a:cs typeface="Calibri" pitchFamily="34" charset="-120"/>
              </a:rPr>
              <a:t>NOTICE: I gave one detail from exploration AND one from maps. Both are specific.</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3.04.01 | Connect Exploration, Tools, and Maps</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WE TRY TOGETHER</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Let's Write One Together</a:t>
            </a:r>
            <a:endParaRPr lang="en-US" sz="2400" dirty="0"/>
          </a:p>
        </p:txBody>
      </p:sp>
      <p:sp>
        <p:nvSpPr>
          <p:cNvPr id="8" name="Shape 6"/>
          <p:cNvSpPr/>
          <p:nvPr/>
        </p:nvSpPr>
        <p:spPr>
          <a:xfrm>
            <a:off x="487680" y="2763520"/>
            <a:ext cx="15118080" cy="1137920"/>
          </a:xfrm>
          <a:prstGeom prst="roundRect">
            <a:avLst>
              <a:gd name="adj" fmla="val 14286"/>
            </a:avLst>
          </a:prstGeom>
          <a:solidFill>
            <a:srgbClr val="EAF8FD"/>
          </a:solidFill>
          <a:ln w="19050">
            <a:solidFill>
              <a:srgbClr val="55C8E8"/>
            </a:solidFill>
            <a:prstDash val="solid"/>
          </a:ln>
        </p:spPr>
      </p:sp>
      <p:sp>
        <p:nvSpPr>
          <p:cNvPr id="9" name="Text 7"/>
          <p:cNvSpPr/>
          <p:nvPr/>
        </p:nvSpPr>
        <p:spPr>
          <a:xfrm>
            <a:off x="812800" y="2926080"/>
            <a:ext cx="14467840" cy="8128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Q: How did navigation tools help explorers? Give one example.</a:t>
            </a:r>
            <a:endParaRPr lang="en-US" sz="1300" dirty="0"/>
          </a:p>
        </p:txBody>
      </p:sp>
      <p:sp>
        <p:nvSpPr>
          <p:cNvPr id="10" name="Shape 8"/>
          <p:cNvSpPr/>
          <p:nvPr/>
        </p:nvSpPr>
        <p:spPr>
          <a:xfrm>
            <a:off x="487680" y="4226560"/>
            <a:ext cx="8615680" cy="1788160"/>
          </a:xfrm>
          <a:prstGeom prst="roundRect">
            <a:avLst>
              <a:gd name="adj" fmla="val 10909"/>
            </a:avLst>
          </a:prstGeom>
          <a:solidFill>
            <a:srgbClr val="FFF3DC"/>
          </a:solidFill>
          <a:ln w="19050">
            <a:solidFill>
              <a:srgbClr val="F5E6C8"/>
            </a:solidFill>
            <a:prstDash val="solid"/>
          </a:ln>
        </p:spPr>
      </p:sp>
      <p:sp>
        <p:nvSpPr>
          <p:cNvPr id="11" name="Text 9"/>
          <p:cNvSpPr/>
          <p:nvPr/>
        </p:nvSpPr>
        <p:spPr>
          <a:xfrm>
            <a:off x="731520" y="4324096"/>
            <a:ext cx="812800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731520" y="4681728"/>
            <a:ext cx="8128000" cy="1219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tool should we write about — compass or astrolabe?"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"How did that tool help? Let's build the sentence together."</a:t>
            </a:r>
            <a:endParaRPr lang="en-US" sz="1200" dirty="0"/>
          </a:p>
        </p:txBody>
      </p:sp>
      <p:sp>
        <p:nvSpPr>
          <p:cNvPr id="13" name="Shape 11"/>
          <p:cNvSpPr/>
          <p:nvPr/>
        </p:nvSpPr>
        <p:spPr>
          <a:xfrm>
            <a:off x="487680" y="6339840"/>
            <a:ext cx="15118080" cy="2113280"/>
          </a:xfrm>
          <a:prstGeom prst="roundRect">
            <a:avLst>
              <a:gd name="adj" fmla="val 9231"/>
            </a:avLst>
          </a:prstGeom>
          <a:solidFill>
            <a:srgbClr val="FFFFFF"/>
          </a:solidFill>
          <a:ln w="19050">
            <a:solidFill>
              <a:srgbClr val="55C8E8"/>
            </a:solidFill>
            <a:prstDash val="dash"/>
          </a:ln>
        </p:spPr>
      </p:sp>
      <p:sp>
        <p:nvSpPr>
          <p:cNvPr id="14" name="Text 12"/>
          <p:cNvSpPr/>
          <p:nvPr/>
        </p:nvSpPr>
        <p:spPr>
          <a:xfrm>
            <a:off x="812800" y="6502400"/>
            <a:ext cx="1446784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OUR ANSWER</a:t>
            </a:r>
            <a:endParaRPr lang="en-US" sz="900" dirty="0"/>
          </a:p>
        </p:txBody>
      </p:sp>
      <p:sp>
        <p:nvSpPr>
          <p:cNvPr id="15" name="Text 13"/>
          <p:cNvSpPr/>
          <p:nvPr/>
        </p:nvSpPr>
        <p:spPr>
          <a:xfrm>
            <a:off x="812800" y="6990080"/>
            <a:ext cx="14467840" cy="1137920"/>
          </a:xfrm>
          <a:prstGeom prst="rect">
            <a:avLst/>
          </a:prstGeom>
          <a:noFill/>
          <a:ln/>
        </p:spPr>
        <p:txBody>
          <a:bodyPr wrap="square" lIns="0" tIns="0" rIns="0" bIns="0" rtlCol="0" anchor="ctr"/>
          <a:lstStyle/>
          <a:p>
            <a:pPr indent="0" marL="0">
              <a:buNone/>
            </a:pPr>
            <a:r>
              <a:rPr lang="en-US" sz="1400" i="1" dirty="0">
                <a:solidFill>
                  <a:srgbClr val="7A88A8"/>
                </a:solidFill>
                <a:latin typeface="Calibri" pitchFamily="34" charset="0"/>
                <a:ea typeface="Calibri" pitchFamily="34" charset="-122"/>
                <a:cs typeface="Calibri" pitchFamily="34" charset="-120"/>
              </a:rPr>
              <a:t>[Teacher writes class response here as students contribute ideas]</a:t>
            </a:r>
            <a:endParaRPr lang="en-US" sz="1400" dirty="0"/>
          </a:p>
        </p:txBody>
      </p:sp>
      <p:sp>
        <p:nvSpPr>
          <p:cNvPr id="16" name="Shape 14"/>
          <p:cNvSpPr/>
          <p:nvPr/>
        </p:nvSpPr>
        <p:spPr>
          <a:xfrm>
            <a:off x="9753600" y="4064000"/>
            <a:ext cx="5689600" cy="2113280"/>
          </a:xfrm>
          <a:prstGeom prst="roundRect">
            <a:avLst>
              <a:gd name="adj" fmla="val 9231"/>
            </a:avLst>
          </a:prstGeom>
          <a:solidFill>
            <a:srgbClr val="E2E8F4"/>
          </a:solidFill>
          <a:ln w="19050">
            <a:solidFill>
              <a:srgbClr val="B0B8CC"/>
            </a:solidFill>
            <a:prstDash val="dash"/>
          </a:ln>
        </p:spPr>
      </p:sp>
      <p:sp>
        <p:nvSpPr>
          <p:cNvPr id="17" name="Text 15"/>
          <p:cNvSpPr/>
          <p:nvPr/>
        </p:nvSpPr>
        <p:spPr>
          <a:xfrm>
            <a:off x="9753600" y="4064000"/>
            <a:ext cx="568960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8" name="Text 16"/>
          <p:cNvSpPr/>
          <p:nvPr/>
        </p:nvSpPr>
        <p:spPr>
          <a:xfrm>
            <a:off x="9997440" y="4551680"/>
            <a:ext cx="5201920" cy="1463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Compass and astrolabe side by side, simple illustration style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3.04.01 | Connect Exploration, Tools, and Maps</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YOUR TURN</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Now You Try</a:t>
            </a:r>
            <a:endParaRPr lang="en-US" sz="2400" dirty="0"/>
          </a:p>
        </p:txBody>
      </p:sp>
      <p:sp>
        <p:nvSpPr>
          <p:cNvPr id="8" name="Text 6"/>
          <p:cNvSpPr/>
          <p:nvPr/>
        </p:nvSpPr>
        <p:spPr>
          <a:xfrm>
            <a:off x="487680" y="2438400"/>
            <a:ext cx="14630400" cy="568960"/>
          </a:xfrm>
          <a:prstGeom prst="rect">
            <a:avLst/>
          </a:prstGeom>
          <a:noFill/>
          <a:ln/>
        </p:spPr>
        <p:txBody>
          <a:bodyPr wrap="square" lIns="0" tIns="0" rIns="0" bIns="0"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Practice writing a connection sentence on your own</a:t>
            </a:r>
            <a:endParaRPr lang="en-US" sz="1300" dirty="0"/>
          </a:p>
        </p:txBody>
      </p:sp>
      <p:sp>
        <p:nvSpPr>
          <p:cNvPr id="9" name="Shape 7"/>
          <p:cNvSpPr/>
          <p:nvPr/>
        </p:nvSpPr>
        <p:spPr>
          <a:xfrm>
            <a:off x="487680" y="3251200"/>
            <a:ext cx="15118080" cy="1950720"/>
          </a:xfrm>
          <a:prstGeom prst="roundRect">
            <a:avLst>
              <a:gd name="adj" fmla="val 10000"/>
            </a:avLst>
          </a:prstGeom>
          <a:solidFill>
            <a:srgbClr val="FFF3DC"/>
          </a:solidFill>
          <a:ln w="19050">
            <a:solidFill>
              <a:srgbClr val="D4943A"/>
            </a:solidFill>
            <a:prstDash val="solid"/>
          </a:ln>
        </p:spPr>
      </p:sp>
      <p:sp>
        <p:nvSpPr>
          <p:cNvPr id="10" name="Text 8"/>
          <p:cNvSpPr/>
          <p:nvPr/>
        </p:nvSpPr>
        <p:spPr>
          <a:xfrm>
            <a:off x="812800" y="3413760"/>
            <a:ext cx="1446784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PROMPT</a:t>
            </a:r>
            <a:endParaRPr lang="en-US" sz="900" dirty="0"/>
          </a:p>
        </p:txBody>
      </p:sp>
      <p:sp>
        <p:nvSpPr>
          <p:cNvPr id="11" name="Text 9"/>
          <p:cNvSpPr/>
          <p:nvPr/>
        </p:nvSpPr>
        <p:spPr>
          <a:xfrm>
            <a:off x="812800" y="3901440"/>
            <a:ext cx="14467840" cy="1137920"/>
          </a:xfrm>
          <a:prstGeom prst="rect">
            <a:avLst/>
          </a:prstGeom>
          <a:noFill/>
          <a:ln/>
        </p:spPr>
        <p:txBody>
          <a:bodyPr wrap="square" lIns="0" tIns="0" rIns="0" bIns="0" rtlCol="0" anchor="ctr"/>
          <a:lstStyle/>
          <a:p>
            <a:pPr indent="0" marL="0">
              <a:lnSpc>
                <a:spcPct val="140000"/>
              </a:lnSpc>
              <a:buNone/>
            </a:pPr>
            <a:r>
              <a:rPr lang="en-US" sz="1300" dirty="0">
                <a:solidFill>
                  <a:srgbClr val="0E1C42"/>
                </a:solidFill>
                <a:latin typeface="Calibri" pitchFamily="34" charset="0"/>
                <a:ea typeface="Calibri" pitchFamily="34" charset="-122"/>
                <a:cs typeface="Calibri" pitchFamily="34" charset="-120"/>
              </a:rPr>
              <a:t>Write 1–2 sentences explaining how exploration, tools, and maps are connected.</a:t>
            </a:r>
            <a:endParaRPr lang="en-US" sz="1300" dirty="0"/>
          </a:p>
          <a:p>
            <a:pPr indent="0" marL="0">
              <a:lnSpc>
                <a:spcPct val="140000"/>
              </a:lnSpc>
              <a:buNone/>
            </a:pPr>
            <a:r>
              <a:rPr lang="en-US" sz="1300" dirty="0">
                <a:solidFill>
                  <a:srgbClr val="0E1C42"/>
                </a:solidFill>
                <a:latin typeface="Calibri" pitchFamily="34" charset="0"/>
                <a:ea typeface="Calibri" pitchFamily="34" charset="-122"/>
                <a:cs typeface="Calibri" pitchFamily="34" charset="-120"/>
              </a:rPr>
              <a:t>Use at least one detail from what you've learned.</a:t>
            </a:r>
            <a:endParaRPr lang="en-US" sz="1300" dirty="0"/>
          </a:p>
        </p:txBody>
      </p:sp>
      <p:sp>
        <p:nvSpPr>
          <p:cNvPr id="12" name="Shape 10"/>
          <p:cNvSpPr/>
          <p:nvPr/>
        </p:nvSpPr>
        <p:spPr>
          <a:xfrm>
            <a:off x="487680" y="5527040"/>
            <a:ext cx="8940800" cy="2600960"/>
          </a:xfrm>
          <a:prstGeom prst="roundRect">
            <a:avLst>
              <a:gd name="adj" fmla="val 7500"/>
            </a:avLst>
          </a:prstGeom>
          <a:solidFill>
            <a:srgbClr val="FFFFFF"/>
          </a:solidFill>
          <a:ln w="19050">
            <a:solidFill>
              <a:srgbClr val="55C8E8"/>
            </a:solidFill>
            <a:prstDash val="solid"/>
          </a:ln>
        </p:spPr>
      </p:sp>
      <p:sp>
        <p:nvSpPr>
          <p:cNvPr id="13" name="Text 11"/>
          <p:cNvSpPr/>
          <p:nvPr/>
        </p:nvSpPr>
        <p:spPr>
          <a:xfrm>
            <a:off x="812800" y="5689600"/>
            <a:ext cx="829056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SENTENCE STARTERS</a:t>
            </a:r>
            <a:endParaRPr lang="en-US" sz="900" dirty="0"/>
          </a:p>
        </p:txBody>
      </p:sp>
      <p:sp>
        <p:nvSpPr>
          <p:cNvPr id="14" name="Text 12"/>
          <p:cNvSpPr/>
          <p:nvPr/>
        </p:nvSpPr>
        <p:spPr>
          <a:xfrm>
            <a:off x="812800" y="6177280"/>
            <a:ext cx="8290560" cy="1788160"/>
          </a:xfrm>
          <a:prstGeom prst="rect">
            <a:avLst/>
          </a:prstGeom>
          <a:noFill/>
          <a:ln/>
        </p:spPr>
        <p:txBody>
          <a:bodyPr wrap="square" lIns="0" tIns="0" rIns="0" bIns="0" rtlCol="0" anchor="ctr"/>
          <a:lstStyle/>
          <a:p>
            <a:pPr marL="342900" indent="-342900">
              <a:lnSpc>
                <a:spcPct val="150000"/>
              </a:lnSpc>
              <a:buSzPct val="100000"/>
              <a:buChar char="•"/>
            </a:pPr>
            <a:r>
              <a:rPr lang="en-US" sz="1200" dirty="0">
                <a:solidFill>
                  <a:srgbClr val="0E1C42"/>
                </a:solidFill>
                <a:latin typeface="Calibri" pitchFamily="34" charset="0"/>
                <a:ea typeface="Calibri" pitchFamily="34" charset="-122"/>
                <a:cs typeface="Calibri" pitchFamily="34" charset="-120"/>
              </a:rPr>
              <a:t>Exploration and maps are connected because...</a:t>
            </a:r>
            <a:endParaRPr lang="en-US" sz="1200" dirty="0"/>
          </a:p>
          <a:p>
            <a:pPr marL="342900" indent="-342900">
              <a:lnSpc>
                <a:spcPct val="150000"/>
              </a:lnSpc>
              <a:buSzPct val="100000"/>
              <a:buChar char="•"/>
            </a:pPr>
            <a:r>
              <a:rPr lang="en-US" sz="1200" dirty="0">
                <a:solidFill>
                  <a:srgbClr val="0E1C42"/>
                </a:solidFill>
                <a:latin typeface="Calibri" pitchFamily="34" charset="0"/>
                <a:ea typeface="Calibri" pitchFamily="34" charset="-122"/>
                <a:cs typeface="Calibri" pitchFamily="34" charset="-120"/>
              </a:rPr>
              <a:t>Tools like the compass helped explorers by...</a:t>
            </a:r>
            <a:endParaRPr lang="en-US" sz="1200" dirty="0"/>
          </a:p>
          <a:p>
            <a:pPr marL="342900" indent="-342900">
              <a:lnSpc>
                <a:spcPct val="150000"/>
              </a:lnSpc>
              <a:buSzPct val="100000"/>
              <a:buChar char="•"/>
            </a:pPr>
            <a:r>
              <a:rPr lang="en-US" sz="1200" dirty="0">
                <a:solidFill>
                  <a:srgbClr val="0E1C42"/>
                </a:solidFill>
                <a:latin typeface="Calibri" pitchFamily="34" charset="0"/>
                <a:ea typeface="Calibri" pitchFamily="34" charset="-122"/>
                <a:cs typeface="Calibri" pitchFamily="34" charset="-120"/>
              </a:rPr>
              <a:t>After explorers found new places, mapmakers...</a:t>
            </a:r>
            <a:endParaRPr lang="en-US" sz="1200" dirty="0"/>
          </a:p>
        </p:txBody>
      </p:sp>
      <p:sp>
        <p:nvSpPr>
          <p:cNvPr id="15" name="Shape 13"/>
          <p:cNvSpPr/>
          <p:nvPr/>
        </p:nvSpPr>
        <p:spPr>
          <a:xfrm>
            <a:off x="10078720" y="4876800"/>
            <a:ext cx="5527040" cy="3576320"/>
          </a:xfrm>
          <a:prstGeom prst="roundRect">
            <a:avLst>
              <a:gd name="adj" fmla="val 5455"/>
            </a:avLst>
          </a:prstGeom>
          <a:solidFill>
            <a:srgbClr val="E2E8F4"/>
          </a:solidFill>
          <a:ln w="19050">
            <a:solidFill>
              <a:srgbClr val="B0B8CC"/>
            </a:solidFill>
            <a:prstDash val="dash"/>
          </a:ln>
        </p:spPr>
      </p:sp>
      <p:sp>
        <p:nvSpPr>
          <p:cNvPr id="16" name="Text 14"/>
          <p:cNvSpPr/>
          <p:nvPr/>
        </p:nvSpPr>
        <p:spPr>
          <a:xfrm>
            <a:off x="10078720" y="4876800"/>
            <a:ext cx="552704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7" name="Text 15"/>
          <p:cNvSpPr/>
          <p:nvPr/>
        </p:nvSpPr>
        <p:spPr>
          <a:xfrm>
            <a:off x="10322560" y="5364480"/>
            <a:ext cx="5039360" cy="29260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Student writing in a Curator's Notebook with museum exhibits in background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3.04.01 | Connect Exploration, Tools, and Maps</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ERROR ANALYSIS</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Spot the Mistake</a:t>
            </a:r>
            <a:endParaRPr lang="en-US" sz="2400" dirty="0"/>
          </a:p>
        </p:txBody>
      </p:sp>
      <p:sp>
        <p:nvSpPr>
          <p:cNvPr id="8" name="Text 6"/>
          <p:cNvSpPr/>
          <p:nvPr/>
        </p:nvSpPr>
        <p:spPr>
          <a:xfrm>
            <a:off x="487680" y="2438400"/>
            <a:ext cx="14630400" cy="568960"/>
          </a:xfrm>
          <a:prstGeom prst="rect">
            <a:avLst/>
          </a:prstGeom>
          <a:noFill/>
          <a:ln/>
        </p:spPr>
        <p:txBody>
          <a:bodyPr wrap="square" lIns="0" tIns="0" rIns="0" bIns="0"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Which answer has a problem? Why?</a:t>
            </a:r>
            <a:endParaRPr lang="en-US" sz="1300" dirty="0"/>
          </a:p>
        </p:txBody>
      </p:sp>
      <p:sp>
        <p:nvSpPr>
          <p:cNvPr id="9" name="Shape 7"/>
          <p:cNvSpPr/>
          <p:nvPr/>
        </p:nvSpPr>
        <p:spPr>
          <a:xfrm>
            <a:off x="487680" y="3251200"/>
            <a:ext cx="7152640" cy="3251200"/>
          </a:xfrm>
          <a:prstGeom prst="roundRect">
            <a:avLst>
              <a:gd name="adj" fmla="val 6000"/>
            </a:avLst>
          </a:prstGeom>
          <a:solidFill>
            <a:srgbClr val="FDE8E8"/>
          </a:solidFill>
          <a:ln w="19050">
            <a:solidFill>
              <a:srgbClr val="E8636B"/>
            </a:solidFill>
            <a:prstDash val="solid"/>
          </a:ln>
        </p:spPr>
      </p:sp>
      <p:sp>
        <p:nvSpPr>
          <p:cNvPr id="10" name="Text 8"/>
          <p:cNvSpPr/>
          <p:nvPr/>
        </p:nvSpPr>
        <p:spPr>
          <a:xfrm>
            <a:off x="812800" y="3413760"/>
            <a:ext cx="6502400" cy="406400"/>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ANSWER A</a:t>
            </a:r>
            <a:endParaRPr lang="en-US" sz="900" dirty="0"/>
          </a:p>
        </p:txBody>
      </p:sp>
      <p:sp>
        <p:nvSpPr>
          <p:cNvPr id="11" name="Text 9"/>
          <p:cNvSpPr/>
          <p:nvPr/>
        </p:nvSpPr>
        <p:spPr>
          <a:xfrm>
            <a:off x="812800" y="4064000"/>
            <a:ext cx="6502400" cy="1300480"/>
          </a:xfrm>
          <a:prstGeom prst="rect">
            <a:avLst/>
          </a:prstGeom>
          <a:noFill/>
          <a:ln/>
        </p:spPr>
        <p:txBody>
          <a:bodyPr wrap="square" lIns="0" tIns="0" rIns="0" bIns="0" rtlCol="0" anchor="ctr"/>
          <a:lstStyle/>
          <a:p>
            <a:pPr indent="0" marL="0">
              <a:lnSpc>
                <a:spcPct val="130000"/>
              </a:lnSpc>
              <a:buNone/>
            </a:pPr>
            <a:r>
              <a:rPr lang="en-US" sz="1300" i="1" dirty="0">
                <a:solidFill>
                  <a:srgbClr val="0E1C42"/>
                </a:solidFill>
                <a:latin typeface="Calibri" pitchFamily="34" charset="0"/>
                <a:ea typeface="Calibri" pitchFamily="34" charset="-122"/>
                <a:cs typeface="Calibri" pitchFamily="34" charset="-120"/>
              </a:rPr>
              <a:t>"Maps are cool and explorers are brave. I like maps because they have colors."</a:t>
            </a:r>
            <a:endParaRPr lang="en-US" sz="1300" dirty="0"/>
          </a:p>
        </p:txBody>
      </p:sp>
      <p:sp>
        <p:nvSpPr>
          <p:cNvPr id="12" name="Text 10"/>
          <p:cNvSpPr/>
          <p:nvPr/>
        </p:nvSpPr>
        <p:spPr>
          <a:xfrm>
            <a:off x="812800" y="5527040"/>
            <a:ext cx="6502400" cy="650240"/>
          </a:xfrm>
          <a:prstGeom prst="rect">
            <a:avLst/>
          </a:prstGeom>
          <a:noFill/>
          <a:ln/>
        </p:spPr>
        <p:txBody>
          <a:bodyPr wrap="square" lIns="0" tIns="0" rIns="0" bIns="0" rtlCol="0" anchor="ctr"/>
          <a:lstStyle/>
          <a:p>
            <a:pPr indent="0" marL="0">
              <a:buNone/>
            </a:pPr>
            <a:r>
              <a:rPr lang="en-US" sz="1100" b="1" dirty="0">
                <a:solidFill>
                  <a:srgbClr val="E8636B"/>
                </a:solidFill>
                <a:latin typeface="Calibri" pitchFamily="34" charset="0"/>
                <a:ea typeface="Calibri" pitchFamily="34" charset="-122"/>
                <a:cs typeface="Calibri" pitchFamily="34" charset="-120"/>
              </a:rPr>
              <a:t>Problem: No detail, no connection, just an opinion.</a:t>
            </a:r>
            <a:endParaRPr lang="en-US" sz="1100" dirty="0"/>
          </a:p>
        </p:txBody>
      </p:sp>
      <p:sp>
        <p:nvSpPr>
          <p:cNvPr id="13" name="Shape 11"/>
          <p:cNvSpPr/>
          <p:nvPr/>
        </p:nvSpPr>
        <p:spPr>
          <a:xfrm>
            <a:off x="8453120" y="3251200"/>
            <a:ext cx="7152640" cy="3251200"/>
          </a:xfrm>
          <a:prstGeom prst="roundRect">
            <a:avLst>
              <a:gd name="adj" fmla="val 6000"/>
            </a:avLst>
          </a:prstGeom>
          <a:solidFill>
            <a:srgbClr val="E3F8ED"/>
          </a:solidFill>
          <a:ln w="19050">
            <a:solidFill>
              <a:srgbClr val="34B76F"/>
            </a:solidFill>
            <a:prstDash val="solid"/>
          </a:ln>
        </p:spPr>
      </p:sp>
      <p:sp>
        <p:nvSpPr>
          <p:cNvPr id="14" name="Text 12"/>
          <p:cNvSpPr/>
          <p:nvPr/>
        </p:nvSpPr>
        <p:spPr>
          <a:xfrm>
            <a:off x="8778240" y="3413760"/>
            <a:ext cx="6502400" cy="4064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ANSWER B</a:t>
            </a:r>
            <a:endParaRPr lang="en-US" sz="900" dirty="0"/>
          </a:p>
        </p:txBody>
      </p:sp>
      <p:sp>
        <p:nvSpPr>
          <p:cNvPr id="15" name="Text 13"/>
          <p:cNvSpPr/>
          <p:nvPr/>
        </p:nvSpPr>
        <p:spPr>
          <a:xfrm>
            <a:off x="8778240" y="4064000"/>
            <a:ext cx="6502400" cy="1300480"/>
          </a:xfrm>
          <a:prstGeom prst="rect">
            <a:avLst/>
          </a:prstGeom>
          <a:noFill/>
          <a:ln/>
        </p:spPr>
        <p:txBody>
          <a:bodyPr wrap="square" lIns="0" tIns="0" rIns="0" bIns="0" rtlCol="0" anchor="ctr"/>
          <a:lstStyle/>
          <a:p>
            <a:pPr indent="0" marL="0">
              <a:lnSpc>
                <a:spcPct val="130000"/>
              </a:lnSpc>
              <a:buNone/>
            </a:pPr>
            <a:r>
              <a:rPr lang="en-US" sz="1300" i="1" dirty="0">
                <a:solidFill>
                  <a:srgbClr val="0E1C42"/>
                </a:solidFill>
                <a:latin typeface="Calibri" pitchFamily="34" charset="0"/>
                <a:ea typeface="Calibri" pitchFamily="34" charset="-122"/>
                <a:cs typeface="Calibri" pitchFamily="34" charset="-120"/>
              </a:rPr>
              <a:t>"Explorers used compasses to find their way. Then mapmakers drew what explorers found so other people could learn from it."</a:t>
            </a:r>
            <a:endParaRPr lang="en-US" sz="1300" dirty="0"/>
          </a:p>
        </p:txBody>
      </p:sp>
      <p:sp>
        <p:nvSpPr>
          <p:cNvPr id="16" name="Text 14"/>
          <p:cNvSpPr/>
          <p:nvPr/>
        </p:nvSpPr>
        <p:spPr>
          <a:xfrm>
            <a:off x="8778240" y="5527040"/>
            <a:ext cx="6502400" cy="65024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Strong: Specific tool, clear connection, shows how topics link.</a:t>
            </a:r>
            <a:endParaRPr lang="en-US" sz="1100" dirty="0"/>
          </a:p>
        </p:txBody>
      </p:sp>
      <p:sp>
        <p:nvSpPr>
          <p:cNvPr id="17" name="Shape 15"/>
          <p:cNvSpPr/>
          <p:nvPr/>
        </p:nvSpPr>
        <p:spPr>
          <a:xfrm>
            <a:off x="487680" y="6990080"/>
            <a:ext cx="15118080" cy="1300480"/>
          </a:xfrm>
          <a:prstGeom prst="roundRect">
            <a:avLst>
              <a:gd name="adj" fmla="val 12500"/>
            </a:avLst>
          </a:prstGeom>
          <a:solidFill>
            <a:srgbClr val="FFF3DC"/>
          </a:solidFill>
          <a:ln w="19050">
            <a:solidFill>
              <a:srgbClr val="D4943A"/>
            </a:solidFill>
            <a:prstDash val="solid"/>
          </a:ln>
        </p:spPr>
      </p:sp>
      <p:sp>
        <p:nvSpPr>
          <p:cNvPr id="18" name="Text 16"/>
          <p:cNvSpPr/>
          <p:nvPr/>
        </p:nvSpPr>
        <p:spPr>
          <a:xfrm>
            <a:off x="812800" y="7152640"/>
            <a:ext cx="14467840" cy="975360"/>
          </a:xfrm>
          <a:prstGeom prst="rect">
            <a:avLst/>
          </a:prstGeom>
          <a:noFill/>
          <a:ln/>
        </p:spPr>
        <p:txBody>
          <a:bodyPr wrap="square" lIns="0" tIns="0" rIns="0" bIns="0" rtlCol="0" anchor="ctr"/>
          <a:lstStyle/>
          <a:p>
            <a:pPr algn="ctr" indent="0" marL="0">
              <a:buNone/>
            </a:pPr>
            <a:r>
              <a:rPr lang="en-US" sz="1300" b="1" dirty="0">
                <a:solidFill>
                  <a:srgbClr val="0E1C42"/>
                </a:solidFill>
                <a:latin typeface="Calibri" pitchFamily="34" charset="0"/>
                <a:ea typeface="Calibri" pitchFamily="34" charset="-122"/>
                <a:cs typeface="Calibri" pitchFamily="34" charset="-120"/>
              </a:rPr>
              <a:t>KEY: Use specific details and show how topics connect — don't just share opinions.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3.04.01 | Connect Exploration, Tools, and Maps</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SELF-CHECK</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Quick Self-Check</a:t>
            </a:r>
            <a:endParaRPr lang="en-US" sz="2400" dirty="0"/>
          </a:p>
        </p:txBody>
      </p:sp>
      <p:sp>
        <p:nvSpPr>
          <p:cNvPr id="8" name="Text 6"/>
          <p:cNvSpPr/>
          <p:nvPr/>
        </p:nvSpPr>
        <p:spPr>
          <a:xfrm>
            <a:off x="487680" y="2438400"/>
            <a:ext cx="14630400" cy="487680"/>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Not graded — just for you!</a:t>
            </a:r>
            <a:endParaRPr lang="en-US" sz="1200" dirty="0"/>
          </a:p>
        </p:txBody>
      </p:sp>
      <p:sp>
        <p:nvSpPr>
          <p:cNvPr id="9" name="Shape 7"/>
          <p:cNvSpPr/>
          <p:nvPr/>
        </p:nvSpPr>
        <p:spPr>
          <a:xfrm>
            <a:off x="487680" y="3169920"/>
            <a:ext cx="15118080" cy="1544320"/>
          </a:xfrm>
          <a:prstGeom prst="roundRect">
            <a:avLst>
              <a:gd name="adj" fmla="val 10526"/>
            </a:avLst>
          </a:prstGeom>
          <a:solidFill>
            <a:srgbClr val="EAF8FD"/>
          </a:solidFill>
          <a:ln w="12700">
            <a:solidFill>
              <a:srgbClr val="55C8E8"/>
            </a:solidFill>
            <a:prstDash val="solid"/>
          </a:ln>
        </p:spPr>
      </p:sp>
      <p:sp>
        <p:nvSpPr>
          <p:cNvPr id="10" name="Text 8"/>
          <p:cNvSpPr/>
          <p:nvPr/>
        </p:nvSpPr>
        <p:spPr>
          <a:xfrm>
            <a:off x="812800" y="3299968"/>
            <a:ext cx="14467840" cy="568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1. Why did people explore new lands?</a:t>
            </a:r>
            <a:endParaRPr lang="en-US" sz="1200" dirty="0"/>
          </a:p>
        </p:txBody>
      </p:sp>
      <p:sp>
        <p:nvSpPr>
          <p:cNvPr id="11" name="Text 9"/>
          <p:cNvSpPr/>
          <p:nvPr/>
        </p:nvSpPr>
        <p:spPr>
          <a:xfrm>
            <a:off x="812800" y="3901440"/>
            <a:ext cx="14467840" cy="65024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They wanted to find trade routes, land, and new things.</a:t>
            </a:r>
            <a:endParaRPr lang="en-US" sz="1100" dirty="0"/>
          </a:p>
        </p:txBody>
      </p:sp>
      <p:sp>
        <p:nvSpPr>
          <p:cNvPr id="12" name="Shape 10"/>
          <p:cNvSpPr/>
          <p:nvPr/>
        </p:nvSpPr>
        <p:spPr>
          <a:xfrm>
            <a:off x="487680" y="4958080"/>
            <a:ext cx="15118080" cy="1544320"/>
          </a:xfrm>
          <a:prstGeom prst="roundRect">
            <a:avLst>
              <a:gd name="adj" fmla="val 10526"/>
            </a:avLst>
          </a:prstGeom>
          <a:solidFill>
            <a:srgbClr val="E3F8ED"/>
          </a:solidFill>
          <a:ln w="12700">
            <a:solidFill>
              <a:srgbClr val="34B76F"/>
            </a:solidFill>
            <a:prstDash val="solid"/>
          </a:ln>
        </p:spPr>
      </p:sp>
      <p:sp>
        <p:nvSpPr>
          <p:cNvPr id="13" name="Text 11"/>
          <p:cNvSpPr/>
          <p:nvPr/>
        </p:nvSpPr>
        <p:spPr>
          <a:xfrm>
            <a:off x="812800" y="5088128"/>
            <a:ext cx="14467840" cy="568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2. How did tools like the compass help explorers?</a:t>
            </a:r>
            <a:endParaRPr lang="en-US" sz="1200" dirty="0"/>
          </a:p>
        </p:txBody>
      </p:sp>
      <p:sp>
        <p:nvSpPr>
          <p:cNvPr id="14" name="Text 12"/>
          <p:cNvSpPr/>
          <p:nvPr/>
        </p:nvSpPr>
        <p:spPr>
          <a:xfrm>
            <a:off x="812800" y="5689600"/>
            <a:ext cx="14467840" cy="65024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They helped explorers figure out which direction they were going.</a:t>
            </a:r>
            <a:endParaRPr lang="en-US" sz="1100" dirty="0"/>
          </a:p>
        </p:txBody>
      </p:sp>
      <p:sp>
        <p:nvSpPr>
          <p:cNvPr id="15" name="Shape 13"/>
          <p:cNvSpPr/>
          <p:nvPr/>
        </p:nvSpPr>
        <p:spPr>
          <a:xfrm>
            <a:off x="487680" y="6746240"/>
            <a:ext cx="15118080" cy="1544320"/>
          </a:xfrm>
          <a:prstGeom prst="roundRect">
            <a:avLst>
              <a:gd name="adj" fmla="val 10526"/>
            </a:avLst>
          </a:prstGeom>
          <a:solidFill>
            <a:srgbClr val="F0E8FF"/>
          </a:solidFill>
          <a:ln w="12700">
            <a:solidFill>
              <a:srgbClr val="8B6FC0"/>
            </a:solidFill>
            <a:prstDash val="solid"/>
          </a:ln>
        </p:spPr>
      </p:sp>
      <p:sp>
        <p:nvSpPr>
          <p:cNvPr id="16" name="Text 14"/>
          <p:cNvSpPr/>
          <p:nvPr/>
        </p:nvSpPr>
        <p:spPr>
          <a:xfrm>
            <a:off x="812800" y="6876288"/>
            <a:ext cx="14467840" cy="568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3. Why are map elements important?</a:t>
            </a:r>
            <a:endParaRPr lang="en-US" sz="1200" dirty="0"/>
          </a:p>
        </p:txBody>
      </p:sp>
      <p:sp>
        <p:nvSpPr>
          <p:cNvPr id="17" name="Text 15"/>
          <p:cNvSpPr/>
          <p:nvPr/>
        </p:nvSpPr>
        <p:spPr>
          <a:xfrm>
            <a:off x="812800" y="7477760"/>
            <a:ext cx="14467840" cy="65024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They help the reader understand what the map shows.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3.04.01 | Connect Exploration, Tools, and Maps</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ASSIGNMENT</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Your Evidence Wall Writing</a:t>
            </a:r>
            <a:endParaRPr lang="en-US" sz="2400" dirty="0"/>
          </a:p>
        </p:txBody>
      </p:sp>
      <p:sp>
        <p:nvSpPr>
          <p:cNvPr id="8" name="Shape 6"/>
          <p:cNvSpPr/>
          <p:nvPr/>
        </p:nvSpPr>
        <p:spPr>
          <a:xfrm>
            <a:off x="487680" y="2763520"/>
            <a:ext cx="15118080" cy="2113280"/>
          </a:xfrm>
          <a:prstGeom prst="roundRect">
            <a:avLst>
              <a:gd name="adj" fmla="val 9231"/>
            </a:avLst>
          </a:prstGeom>
          <a:solidFill>
            <a:srgbClr val="FFFFFF"/>
          </a:solidFill>
          <a:ln w="19050">
            <a:solidFill>
              <a:srgbClr val="55C8E8"/>
            </a:solidFill>
            <a:prstDash val="solid"/>
          </a:ln>
        </p:spPr>
      </p:sp>
      <p:sp>
        <p:nvSpPr>
          <p:cNvPr id="9" name="Shape 7"/>
          <p:cNvSpPr/>
          <p:nvPr/>
        </p:nvSpPr>
        <p:spPr>
          <a:xfrm>
            <a:off x="812800" y="2926080"/>
            <a:ext cx="568960" cy="568960"/>
          </a:xfrm>
          <a:prstGeom prst="roundRect">
            <a:avLst>
              <a:gd name="adj" fmla="val 17143"/>
            </a:avLst>
          </a:prstGeom>
          <a:solidFill>
            <a:srgbClr val="0E1C42"/>
          </a:solidFill>
          <a:ln/>
        </p:spPr>
      </p:sp>
      <p:sp>
        <p:nvSpPr>
          <p:cNvPr id="10" name="Text 8"/>
          <p:cNvSpPr/>
          <p:nvPr/>
        </p:nvSpPr>
        <p:spPr>
          <a:xfrm>
            <a:off x="812800" y="2926080"/>
            <a:ext cx="568960" cy="568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1625600" y="2926080"/>
            <a:ext cx="13655040" cy="6502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Name one thing you learned about exploration and one thing you learned about maps.</a:t>
            </a:r>
            <a:endParaRPr lang="en-US" sz="1300" dirty="0"/>
          </a:p>
        </p:txBody>
      </p:sp>
      <p:sp>
        <p:nvSpPr>
          <p:cNvPr id="12" name="Text 10"/>
          <p:cNvSpPr/>
          <p:nvPr/>
        </p:nvSpPr>
        <p:spPr>
          <a:xfrm>
            <a:off x="1625600" y="3657600"/>
            <a:ext cx="13655040" cy="56896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Use a detail from the Exploration Wing or Great Map Room to support your answer.</a:t>
            </a:r>
            <a:endParaRPr lang="en-US" sz="1100" dirty="0"/>
          </a:p>
        </p:txBody>
      </p:sp>
      <p:sp>
        <p:nvSpPr>
          <p:cNvPr id="13" name="Shape 11"/>
          <p:cNvSpPr/>
          <p:nvPr/>
        </p:nvSpPr>
        <p:spPr>
          <a:xfrm>
            <a:off x="487680" y="5201920"/>
            <a:ext cx="15118080" cy="2113280"/>
          </a:xfrm>
          <a:prstGeom prst="roundRect">
            <a:avLst>
              <a:gd name="adj" fmla="val 9231"/>
            </a:avLst>
          </a:prstGeom>
          <a:solidFill>
            <a:srgbClr val="FFFFFF"/>
          </a:solidFill>
          <a:ln w="19050">
            <a:solidFill>
              <a:srgbClr val="55C8E8"/>
            </a:solidFill>
            <a:prstDash val="solid"/>
          </a:ln>
        </p:spPr>
      </p:sp>
      <p:sp>
        <p:nvSpPr>
          <p:cNvPr id="14" name="Shape 12"/>
          <p:cNvSpPr/>
          <p:nvPr/>
        </p:nvSpPr>
        <p:spPr>
          <a:xfrm>
            <a:off x="812800" y="5364480"/>
            <a:ext cx="568960" cy="568960"/>
          </a:xfrm>
          <a:prstGeom prst="roundRect">
            <a:avLst>
              <a:gd name="adj" fmla="val 17143"/>
            </a:avLst>
          </a:prstGeom>
          <a:solidFill>
            <a:srgbClr val="0E1C42"/>
          </a:solidFill>
          <a:ln/>
        </p:spPr>
      </p:sp>
      <p:sp>
        <p:nvSpPr>
          <p:cNvPr id="15" name="Text 13"/>
          <p:cNvSpPr/>
          <p:nvPr/>
        </p:nvSpPr>
        <p:spPr>
          <a:xfrm>
            <a:off x="812800" y="5364480"/>
            <a:ext cx="568960" cy="568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p:nvPr/>
        </p:nvSpPr>
        <p:spPr>
          <a:xfrm>
            <a:off x="1625600" y="5364480"/>
            <a:ext cx="13655040" cy="6502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How did navigation tools help explorers? Give one example.</a:t>
            </a:r>
            <a:endParaRPr lang="en-US" sz="1300" dirty="0"/>
          </a:p>
        </p:txBody>
      </p:sp>
      <p:sp>
        <p:nvSpPr>
          <p:cNvPr id="17" name="Text 15"/>
          <p:cNvSpPr/>
          <p:nvPr/>
        </p:nvSpPr>
        <p:spPr>
          <a:xfrm>
            <a:off x="1625600" y="6096000"/>
            <a:ext cx="13655040" cy="56896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Think about the tools we studied — compass, astrolabe, or maps used for sailing.</a:t>
            </a:r>
            <a:endParaRPr lang="en-US" sz="1100" dirty="0"/>
          </a:p>
        </p:txBody>
      </p:sp>
      <p:sp>
        <p:nvSpPr>
          <p:cNvPr id="18" name="Text 16"/>
          <p:cNvSpPr/>
          <p:nvPr/>
        </p:nvSpPr>
        <p:spPr>
          <a:xfrm>
            <a:off x="812800" y="7802880"/>
            <a:ext cx="14630400" cy="568960"/>
          </a:xfrm>
          <a:prstGeom prst="rect">
            <a:avLst/>
          </a:prstGeom>
          <a:noFill/>
          <a:ln/>
        </p:spPr>
        <p:txBody>
          <a:bodyPr wrap="square" lIns="0" tIns="0" rIns="0" bIns="0" rtlCol="0" anchor="ctr"/>
          <a:lstStyle/>
          <a:p>
            <a:pPr algn="ctr" indent="0" marL="0">
              <a:buNone/>
            </a:pPr>
            <a:r>
              <a:rPr lang="en-US" sz="1200" b="1" dirty="0">
                <a:solidFill>
                  <a:srgbClr val="1A8A7D"/>
                </a:solidFill>
                <a:latin typeface="Calibri" pitchFamily="34" charset="0"/>
                <a:ea typeface="Calibri" pitchFamily="34" charset="-122"/>
                <a:cs typeface="Calibri" pitchFamily="34" charset="-120"/>
              </a:rPr>
              <a:t>We practiced BOTH of these during guided practice. Use your notes!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3.04.01 | Connect Exploration, Tools, and Maps</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CURATOR TASK</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Evidence Wall Synthesis</a:t>
            </a:r>
            <a:endParaRPr lang="en-US" sz="2400" dirty="0"/>
          </a:p>
        </p:txBody>
      </p:sp>
      <p:sp>
        <p:nvSpPr>
          <p:cNvPr id="8" name="Shape 6"/>
          <p:cNvSpPr/>
          <p:nvPr/>
        </p:nvSpPr>
        <p:spPr>
          <a:xfrm>
            <a:off x="487680" y="2763520"/>
            <a:ext cx="15118080" cy="3251200"/>
          </a:xfrm>
          <a:prstGeom prst="roundRect">
            <a:avLst>
              <a:gd name="adj" fmla="val 6000"/>
            </a:avLst>
          </a:prstGeom>
          <a:solidFill>
            <a:srgbClr val="FFF3DC"/>
          </a:solidFill>
          <a:ln w="19050">
            <a:solidFill>
              <a:srgbClr val="D4943A"/>
            </a:solidFill>
            <a:prstDash val="solid"/>
          </a:ln>
        </p:spPr>
      </p:sp>
      <p:sp>
        <p:nvSpPr>
          <p:cNvPr id="9" name="Text 7"/>
          <p:cNvSpPr/>
          <p:nvPr/>
        </p:nvSpPr>
        <p:spPr>
          <a:xfrm>
            <a:off x="812800" y="2926080"/>
            <a:ext cx="1446784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 TASK: EVIDENCE WALL SYNTHESIS</a:t>
            </a:r>
            <a:endParaRPr lang="en-US" sz="900" dirty="0"/>
          </a:p>
        </p:txBody>
      </p:sp>
      <p:sp>
        <p:nvSpPr>
          <p:cNvPr id="10" name="Text 8"/>
          <p:cNvSpPr/>
          <p:nvPr/>
        </p:nvSpPr>
        <p:spPr>
          <a:xfrm>
            <a:off x="812800" y="3413760"/>
            <a:ext cx="14467840" cy="2275840"/>
          </a:xfrm>
          <a:prstGeom prst="rect">
            <a:avLst/>
          </a:prstGeom>
          <a:noFill/>
          <a:ln/>
        </p:spPr>
        <p:txBody>
          <a:bodyPr wrap="square" lIns="0" tIns="0" rIns="0" bIns="0" rtlCol="0" anchor="ctr"/>
          <a:lstStyle/>
          <a:p>
            <a:pPr indent="0" marL="0">
              <a:lnSpc>
                <a:spcPct val="135000"/>
              </a:lnSpc>
              <a:buNone/>
            </a:pPr>
            <a:r>
              <a:rPr lang="en-US" sz="1300" dirty="0">
                <a:solidFill>
                  <a:srgbClr val="0E1C42"/>
                </a:solidFill>
                <a:latin typeface="Calibri" pitchFamily="34" charset="0"/>
                <a:ea typeface="Calibri" pitchFamily="34" charset="-122"/>
                <a:cs typeface="Calibri" pitchFamily="34" charset="-120"/>
              </a:rPr>
              <a:t>Write a Curator's Notebook entry connecting exploration, tools, and maps.</a:t>
            </a:r>
            <a:endParaRPr lang="en-US" sz="1300" dirty="0"/>
          </a:p>
          <a:p>
            <a:pPr indent="0" marL="0">
              <a:lnSpc>
                <a:spcPct val="135000"/>
              </a:lnSpc>
              <a:buNone/>
            </a:pPr>
            <a:endParaRPr lang="en-US" sz="1300" dirty="0"/>
          </a:p>
          <a:p>
            <a:pPr indent="0" marL="0">
              <a:lnSpc>
                <a:spcPct val="135000"/>
              </a:lnSpc>
              <a:buNone/>
            </a:pPr>
            <a:r>
              <a:rPr lang="en-US" sz="1300" dirty="0">
                <a:solidFill>
                  <a:srgbClr val="0E1C42"/>
                </a:solidFill>
                <a:latin typeface="Calibri" pitchFamily="34" charset="0"/>
                <a:ea typeface="Calibri" pitchFamily="34" charset="-122"/>
                <a:cs typeface="Calibri" pitchFamily="34" charset="-120"/>
              </a:rPr>
              <a:t>The museum director is reading your evidence wall. Write 2–3 sentences that explain how exploration, tools, and maps are connected. Use at least one detail from what you've learned.</a:t>
            </a:r>
            <a:endParaRPr lang="en-US" sz="1300" dirty="0"/>
          </a:p>
        </p:txBody>
      </p:sp>
      <p:sp>
        <p:nvSpPr>
          <p:cNvPr id="11" name="Shape 9"/>
          <p:cNvSpPr/>
          <p:nvPr/>
        </p:nvSpPr>
        <p:spPr>
          <a:xfrm>
            <a:off x="487680" y="6339840"/>
            <a:ext cx="15118080" cy="1625600"/>
          </a:xfrm>
          <a:prstGeom prst="roundRect">
            <a:avLst>
              <a:gd name="adj" fmla="val 12000"/>
            </a:avLst>
          </a:prstGeom>
          <a:solidFill>
            <a:srgbClr val="F0E8FF"/>
          </a:solidFill>
          <a:ln w="19050">
            <a:solidFill>
              <a:srgbClr val="8B6FC0"/>
            </a:solidFill>
            <a:prstDash val="solid"/>
          </a:ln>
        </p:spPr>
      </p:sp>
      <p:sp>
        <p:nvSpPr>
          <p:cNvPr id="12" name="Text 10"/>
          <p:cNvSpPr/>
          <p:nvPr/>
        </p:nvSpPr>
        <p:spPr>
          <a:xfrm>
            <a:off x="812800" y="6502400"/>
            <a:ext cx="14467840" cy="406400"/>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CURATOR'S CHRONICLE</a:t>
            </a:r>
            <a:endParaRPr lang="en-US" sz="900" dirty="0"/>
          </a:p>
        </p:txBody>
      </p:sp>
      <p:sp>
        <p:nvSpPr>
          <p:cNvPr id="13" name="Text 11"/>
          <p:cNvSpPr/>
          <p:nvPr/>
        </p:nvSpPr>
        <p:spPr>
          <a:xfrm>
            <a:off x="812800" y="6990080"/>
            <a:ext cx="14467840" cy="650240"/>
          </a:xfrm>
          <a:prstGeom prst="rect">
            <a:avLst/>
          </a:prstGeom>
          <a:noFill/>
          <a:ln/>
        </p:spPr>
        <p:txBody>
          <a:bodyPr wrap="square" lIns="0" tIns="0" rIns="0" bIns="0" rtlCol="0" anchor="ctr"/>
          <a:lstStyle/>
          <a:p>
            <a:pPr indent="0" marL="0">
              <a:buNone/>
            </a:pPr>
            <a:r>
              <a:rPr lang="en-US" sz="1400" i="1" dirty="0">
                <a:solidFill>
                  <a:srgbClr val="0E1C42"/>
                </a:solidFill>
                <a:latin typeface="Cambria" pitchFamily="34" charset="0"/>
                <a:ea typeface="Cambria" pitchFamily="34" charset="-122"/>
                <a:cs typeface="Cambria" pitchFamily="34" charset="-120"/>
              </a:rPr>
              <a:t>In this exhibit, I learned that ______ because ______.</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6502400" cy="552704"/>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4" name="Text 2"/>
          <p:cNvSpPr/>
          <p:nvPr/>
        </p:nvSpPr>
        <p:spPr>
          <a:xfrm>
            <a:off x="7315200" y="130048"/>
            <a:ext cx="8453120" cy="552704"/>
          </a:xfrm>
          <a:prstGeom prst="rect">
            <a:avLst/>
          </a:prstGeom>
          <a:noFill/>
          <a:ln/>
        </p:spPr>
        <p:txBody>
          <a:bodyPr wrap="square" lIns="0" tIns="0" rIns="0" bIns="0" rtlCol="0" anchor="ctr"/>
          <a:lstStyle/>
          <a:p>
            <a:pPr algn="r" indent="0" marL="0">
              <a:buNone/>
            </a:pPr>
            <a:r>
              <a:rPr lang="en-US" sz="900" dirty="0">
                <a:solidFill>
                  <a:srgbClr val="55C8E8"/>
                </a:solidFill>
                <a:latin typeface="Calibri" pitchFamily="34" charset="0"/>
                <a:ea typeface="Calibri" pitchFamily="34" charset="-122"/>
                <a:cs typeface="Calibri" pitchFamily="34" charset="-120"/>
              </a:rPr>
              <a:t>3.04.01 | Connect Exploration, Tools, and Maps</a:t>
            </a:r>
            <a:endParaRPr lang="en-US" sz="900" dirty="0"/>
          </a:p>
        </p:txBody>
      </p:sp>
      <p:sp>
        <p:nvSpPr>
          <p:cNvPr id="5" name="Shape 3"/>
          <p:cNvSpPr/>
          <p:nvPr/>
        </p:nvSpPr>
        <p:spPr>
          <a:xfrm>
            <a:off x="487680" y="1056640"/>
            <a:ext cx="2926080" cy="455168"/>
          </a:xfrm>
          <a:prstGeom prst="roundRect">
            <a:avLst>
              <a:gd name="adj" fmla="val 50000"/>
            </a:avLst>
          </a:prstGeom>
          <a:solidFill>
            <a:srgbClr val="0E1C42"/>
          </a:solidFill>
          <a:ln/>
        </p:spPr>
      </p:sp>
      <p:sp>
        <p:nvSpPr>
          <p:cNvPr id="6" name="Text 4"/>
          <p:cNvSpPr/>
          <p:nvPr/>
        </p:nvSpPr>
        <p:spPr>
          <a:xfrm>
            <a:off x="487680" y="1056640"/>
            <a:ext cx="2926080" cy="455168"/>
          </a:xfrm>
          <a:prstGeom prst="rect">
            <a:avLst/>
          </a:prstGeom>
          <a:noFill/>
          <a:ln/>
        </p:spPr>
        <p:txBody>
          <a:bodyPr wrap="square" lIns="0" tIns="0" rIns="0" bIns="0" rtlCol="0" anchor="ctr"/>
          <a:lstStyle/>
          <a:p>
            <a:pPr algn="ctr" indent="0" marL="0">
              <a:buNone/>
            </a:pPr>
            <a:r>
              <a:rPr lang="en-US" sz="800" b="1" spc="150" kern="0" dirty="0">
                <a:solidFill>
                  <a:srgbClr val="D4943A"/>
                </a:solidFill>
                <a:latin typeface="Calibri" pitchFamily="34" charset="0"/>
                <a:ea typeface="Calibri" pitchFamily="34" charset="-122"/>
                <a:cs typeface="Calibri" pitchFamily="34" charset="-120"/>
              </a:rPr>
              <a:t>SUBMIT</a:t>
            </a:r>
            <a:endParaRPr lang="en-US" sz="800" dirty="0"/>
          </a:p>
        </p:txBody>
      </p:sp>
      <p:sp>
        <p:nvSpPr>
          <p:cNvPr id="7" name="Text 5"/>
          <p:cNvSpPr/>
          <p:nvPr/>
        </p:nvSpPr>
        <p:spPr>
          <a:xfrm>
            <a:off x="487680" y="1625600"/>
            <a:ext cx="14630400" cy="894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Turn-In Checklist</a:t>
            </a:r>
            <a:endParaRPr lang="en-US" sz="2400" dirty="0"/>
          </a:p>
        </p:txBody>
      </p:sp>
      <p:sp>
        <p:nvSpPr>
          <p:cNvPr id="8" name="Shape 6"/>
          <p:cNvSpPr/>
          <p:nvPr/>
        </p:nvSpPr>
        <p:spPr>
          <a:xfrm>
            <a:off x="812800" y="2926080"/>
            <a:ext cx="13817600" cy="975360"/>
          </a:xfrm>
          <a:prstGeom prst="roundRect">
            <a:avLst>
              <a:gd name="adj" fmla="val 16667"/>
            </a:avLst>
          </a:prstGeom>
          <a:solidFill>
            <a:srgbClr val="FFFFFF"/>
          </a:solidFill>
          <a:ln w="19050">
            <a:solidFill>
              <a:srgbClr val="34B76F"/>
            </a:solidFill>
            <a:prstDash val="solid"/>
          </a:ln>
        </p:spPr>
      </p:sp>
      <p:sp>
        <p:nvSpPr>
          <p:cNvPr id="9" name="Shape 7"/>
          <p:cNvSpPr/>
          <p:nvPr/>
        </p:nvSpPr>
        <p:spPr>
          <a:xfrm>
            <a:off x="1137920" y="3121152"/>
            <a:ext cx="585216" cy="585216"/>
          </a:xfrm>
          <a:prstGeom prst="roundRect">
            <a:avLst>
              <a:gd name="adj" fmla="val 16667"/>
            </a:avLst>
          </a:prstGeom>
          <a:solidFill>
            <a:srgbClr val="E3F8ED"/>
          </a:solidFill>
          <a:ln w="12700">
            <a:solidFill>
              <a:srgbClr val="34B76F"/>
            </a:solidFill>
            <a:prstDash val="solid"/>
          </a:ln>
        </p:spPr>
      </p:sp>
      <p:sp>
        <p:nvSpPr>
          <p:cNvPr id="10" name="Text 8"/>
          <p:cNvSpPr/>
          <p:nvPr/>
        </p:nvSpPr>
        <p:spPr>
          <a:xfrm>
            <a:off x="1950720" y="3007360"/>
            <a:ext cx="12354560" cy="81280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I answered the evidence questions.</a:t>
            </a:r>
            <a:endParaRPr lang="en-US" sz="1300" dirty="0"/>
          </a:p>
        </p:txBody>
      </p:sp>
      <p:sp>
        <p:nvSpPr>
          <p:cNvPr id="11" name="Shape 9"/>
          <p:cNvSpPr/>
          <p:nvPr/>
        </p:nvSpPr>
        <p:spPr>
          <a:xfrm>
            <a:off x="812800" y="4145280"/>
            <a:ext cx="13817600" cy="975360"/>
          </a:xfrm>
          <a:prstGeom prst="roundRect">
            <a:avLst>
              <a:gd name="adj" fmla="val 16667"/>
            </a:avLst>
          </a:prstGeom>
          <a:solidFill>
            <a:srgbClr val="FFFFFF"/>
          </a:solidFill>
          <a:ln w="19050">
            <a:solidFill>
              <a:srgbClr val="34B76F"/>
            </a:solidFill>
            <a:prstDash val="solid"/>
          </a:ln>
        </p:spPr>
      </p:sp>
      <p:sp>
        <p:nvSpPr>
          <p:cNvPr id="12" name="Shape 10"/>
          <p:cNvSpPr/>
          <p:nvPr/>
        </p:nvSpPr>
        <p:spPr>
          <a:xfrm>
            <a:off x="1137920" y="4340352"/>
            <a:ext cx="585216" cy="585216"/>
          </a:xfrm>
          <a:prstGeom prst="roundRect">
            <a:avLst>
              <a:gd name="adj" fmla="val 16667"/>
            </a:avLst>
          </a:prstGeom>
          <a:solidFill>
            <a:srgbClr val="E3F8ED"/>
          </a:solidFill>
          <a:ln w="12700">
            <a:solidFill>
              <a:srgbClr val="34B76F"/>
            </a:solidFill>
            <a:prstDash val="solid"/>
          </a:ln>
        </p:spPr>
      </p:sp>
      <p:sp>
        <p:nvSpPr>
          <p:cNvPr id="13" name="Text 11"/>
          <p:cNvSpPr/>
          <p:nvPr/>
        </p:nvSpPr>
        <p:spPr>
          <a:xfrm>
            <a:off x="1950720" y="4226560"/>
            <a:ext cx="12354560" cy="81280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I completed the Curator Task: Evidence Wall Synthesis.</a:t>
            </a:r>
            <a:endParaRPr lang="en-US" sz="1300" dirty="0"/>
          </a:p>
        </p:txBody>
      </p:sp>
      <p:sp>
        <p:nvSpPr>
          <p:cNvPr id="14" name="Shape 12"/>
          <p:cNvSpPr/>
          <p:nvPr/>
        </p:nvSpPr>
        <p:spPr>
          <a:xfrm>
            <a:off x="812800" y="5364480"/>
            <a:ext cx="13817600" cy="975360"/>
          </a:xfrm>
          <a:prstGeom prst="roundRect">
            <a:avLst>
              <a:gd name="adj" fmla="val 16667"/>
            </a:avLst>
          </a:prstGeom>
          <a:solidFill>
            <a:srgbClr val="FFFFFF"/>
          </a:solidFill>
          <a:ln w="19050">
            <a:solidFill>
              <a:srgbClr val="34B76F"/>
            </a:solidFill>
            <a:prstDash val="solid"/>
          </a:ln>
        </p:spPr>
      </p:sp>
      <p:sp>
        <p:nvSpPr>
          <p:cNvPr id="15" name="Shape 13"/>
          <p:cNvSpPr/>
          <p:nvPr/>
        </p:nvSpPr>
        <p:spPr>
          <a:xfrm>
            <a:off x="1137920" y="5559552"/>
            <a:ext cx="585216" cy="585216"/>
          </a:xfrm>
          <a:prstGeom prst="roundRect">
            <a:avLst>
              <a:gd name="adj" fmla="val 16667"/>
            </a:avLst>
          </a:prstGeom>
          <a:solidFill>
            <a:srgbClr val="E3F8ED"/>
          </a:solidFill>
          <a:ln w="12700">
            <a:solidFill>
              <a:srgbClr val="34B76F"/>
            </a:solidFill>
            <a:prstDash val="solid"/>
          </a:ln>
        </p:spPr>
      </p:sp>
      <p:sp>
        <p:nvSpPr>
          <p:cNvPr id="16" name="Text 14"/>
          <p:cNvSpPr/>
          <p:nvPr/>
        </p:nvSpPr>
        <p:spPr>
          <a:xfrm>
            <a:off x="1950720" y="5445760"/>
            <a:ext cx="12354560" cy="81280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I wrote my Curator's Chronicle.</a:t>
            </a:r>
            <a:endParaRPr lang="en-US" sz="1300" dirty="0"/>
          </a:p>
        </p:txBody>
      </p:sp>
      <p:sp>
        <p:nvSpPr>
          <p:cNvPr id="17" name="Shape 15"/>
          <p:cNvSpPr/>
          <p:nvPr/>
        </p:nvSpPr>
        <p:spPr>
          <a:xfrm>
            <a:off x="812800" y="6583680"/>
            <a:ext cx="13817600" cy="975360"/>
          </a:xfrm>
          <a:prstGeom prst="roundRect">
            <a:avLst>
              <a:gd name="adj" fmla="val 16667"/>
            </a:avLst>
          </a:prstGeom>
          <a:solidFill>
            <a:srgbClr val="FFFFFF"/>
          </a:solidFill>
          <a:ln w="19050">
            <a:solidFill>
              <a:srgbClr val="34B76F"/>
            </a:solidFill>
            <a:prstDash val="solid"/>
          </a:ln>
        </p:spPr>
      </p:sp>
      <p:sp>
        <p:nvSpPr>
          <p:cNvPr id="18" name="Shape 16"/>
          <p:cNvSpPr/>
          <p:nvPr/>
        </p:nvSpPr>
        <p:spPr>
          <a:xfrm>
            <a:off x="1137920" y="6778752"/>
            <a:ext cx="585216" cy="585216"/>
          </a:xfrm>
          <a:prstGeom prst="roundRect">
            <a:avLst>
              <a:gd name="adj" fmla="val 16667"/>
            </a:avLst>
          </a:prstGeom>
          <a:solidFill>
            <a:srgbClr val="E3F8ED"/>
          </a:solidFill>
          <a:ln w="12700">
            <a:solidFill>
              <a:srgbClr val="34B76F"/>
            </a:solidFill>
            <a:prstDash val="solid"/>
          </a:ln>
        </p:spPr>
      </p:sp>
      <p:sp>
        <p:nvSpPr>
          <p:cNvPr id="19" name="Text 17"/>
          <p:cNvSpPr/>
          <p:nvPr/>
        </p:nvSpPr>
        <p:spPr>
          <a:xfrm>
            <a:off x="1950720" y="6664960"/>
            <a:ext cx="12354560" cy="81280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I copied or downloaded my work and submitted to Canvas.</a:t>
            </a:r>
            <a:endParaRPr lang="en-US" sz="1300" dirty="0"/>
          </a:p>
        </p:txBody>
      </p:sp>
      <p:sp>
        <p:nvSpPr>
          <p:cNvPr id="20" name="Shape 18"/>
          <p:cNvSpPr/>
          <p:nvPr/>
        </p:nvSpPr>
        <p:spPr>
          <a:xfrm>
            <a:off x="10566400" y="6339840"/>
            <a:ext cx="4064000" cy="2113280"/>
          </a:xfrm>
          <a:prstGeom prst="roundRect">
            <a:avLst>
              <a:gd name="adj" fmla="val 9231"/>
            </a:avLst>
          </a:prstGeom>
          <a:solidFill>
            <a:srgbClr val="E2E8F4"/>
          </a:solidFill>
          <a:ln w="19050">
            <a:solidFill>
              <a:srgbClr val="B0B8CC"/>
            </a:solidFill>
            <a:prstDash val="dash"/>
          </a:ln>
        </p:spPr>
      </p:sp>
      <p:sp>
        <p:nvSpPr>
          <p:cNvPr id="21" name="Text 19"/>
          <p:cNvSpPr/>
          <p:nvPr/>
        </p:nvSpPr>
        <p:spPr>
          <a:xfrm>
            <a:off x="10566400" y="6339840"/>
            <a:ext cx="406400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22" name="Text 20"/>
          <p:cNvSpPr/>
          <p:nvPr/>
        </p:nvSpPr>
        <p:spPr>
          <a:xfrm>
            <a:off x="10810240" y="6827520"/>
            <a:ext cx="3576320" cy="1463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Clipboard with checkmarks, museum badge icon</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812800" y="812800"/>
            <a:ext cx="14630400" cy="48768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LESSON 3.04.01 COMPLETE</a:t>
            </a:r>
            <a:endParaRPr lang="en-US" sz="1000" dirty="0"/>
          </a:p>
        </p:txBody>
      </p:sp>
      <p:sp>
        <p:nvSpPr>
          <p:cNvPr id="6" name="Text 3"/>
          <p:cNvSpPr/>
          <p:nvPr/>
        </p:nvSpPr>
        <p:spPr>
          <a:xfrm>
            <a:off x="812800" y="1625600"/>
            <a:ext cx="9753600" cy="1950720"/>
          </a:xfrm>
          <a:prstGeom prst="rect">
            <a:avLst/>
          </a:prstGeom>
          <a:noFill/>
          <a:ln/>
        </p:spPr>
        <p:txBody>
          <a:bodyPr wrap="square" lIns="0" tIns="0" rIns="0" bIns="0" rtlCol="0" anchor="ctr"/>
          <a:lstStyle/>
          <a:p>
            <a:pPr indent="0" marL="0">
              <a:lnSpc>
                <a:spcPct val="110000"/>
              </a:lnSpc>
              <a:buNone/>
            </a:pPr>
            <a:r>
              <a:rPr lang="en-US" sz="3200" b="1" dirty="0">
                <a:solidFill>
                  <a:srgbClr val="FFFFFF"/>
                </a:solidFill>
                <a:latin typeface="Cambria" pitchFamily="34" charset="0"/>
                <a:ea typeface="Cambria" pitchFamily="34" charset="-122"/>
                <a:cs typeface="Cambria" pitchFamily="34" charset="-120"/>
              </a:rPr>
              <a:t>Great Work,</a:t>
            </a:r>
            <a:endParaRPr lang="en-US" sz="3200" dirty="0"/>
          </a:p>
          <a:p>
            <a:pPr indent="0" marL="0">
              <a:lnSpc>
                <a:spcPct val="110000"/>
              </a:lnSpc>
              <a:buNone/>
            </a:pPr>
            <a:r>
              <a:rPr lang="en-US" sz="3200" b="1" dirty="0">
                <a:solidFill>
                  <a:srgbClr val="FFFFFF"/>
                </a:solidFill>
                <a:latin typeface="Cambria" pitchFamily="34" charset="0"/>
                <a:ea typeface="Cambria" pitchFamily="34" charset="-122"/>
                <a:cs typeface="Cambria" pitchFamily="34" charset="-120"/>
              </a:rPr>
              <a:t>Exhibit Reviewer!</a:t>
            </a:r>
            <a:endParaRPr lang="en-US" sz="3200" dirty="0"/>
          </a:p>
        </p:txBody>
      </p:sp>
      <p:sp>
        <p:nvSpPr>
          <p:cNvPr id="7" name="Shape 4"/>
          <p:cNvSpPr/>
          <p:nvPr/>
        </p:nvSpPr>
        <p:spPr>
          <a:xfrm>
            <a:off x="812800" y="3738880"/>
            <a:ext cx="4064000" cy="65024"/>
          </a:xfrm>
          <a:prstGeom prst="rect">
            <a:avLst/>
          </a:prstGeom>
          <a:solidFill>
            <a:srgbClr val="D4943A"/>
          </a:solidFill>
          <a:ln/>
        </p:spPr>
      </p:sp>
      <p:sp>
        <p:nvSpPr>
          <p:cNvPr id="8" name="Text 5"/>
          <p:cNvSpPr/>
          <p:nvPr/>
        </p:nvSpPr>
        <p:spPr>
          <a:xfrm>
            <a:off x="812800" y="4226560"/>
            <a:ext cx="11379200" cy="1300480"/>
          </a:xfrm>
          <a:prstGeom prst="rect">
            <a:avLst/>
          </a:prstGeom>
          <a:noFill/>
          <a:ln/>
        </p:spPr>
        <p:txBody>
          <a:bodyPr wrap="square" lIns="0" tIns="0" rIns="0" bIns="0" rtlCol="0" anchor="ctr"/>
          <a:lstStyle/>
          <a:p>
            <a:pPr indent="0" marL="0">
              <a:lnSpc>
                <a:spcPct val="130000"/>
              </a:lnSpc>
              <a:buNone/>
            </a:pPr>
            <a:r>
              <a:rPr lang="en-US" sz="1500" dirty="0">
                <a:solidFill>
                  <a:srgbClr val="55C8E8"/>
                </a:solidFill>
                <a:latin typeface="Calibri" pitchFamily="34" charset="0"/>
                <a:ea typeface="Calibri" pitchFamily="34" charset="-122"/>
                <a:cs typeface="Calibri" pitchFamily="34" charset="-120"/>
              </a:rPr>
              <a:t>You connected the evidence from three museum rooms</a:t>
            </a:r>
            <a:endParaRPr lang="en-US" sz="1500" dirty="0"/>
          </a:p>
          <a:p>
            <a:pPr indent="0" marL="0">
              <a:lnSpc>
                <a:spcPct val="130000"/>
              </a:lnSpc>
              <a:buNone/>
            </a:pPr>
            <a:r>
              <a:rPr lang="en-US" sz="1500" dirty="0">
                <a:solidFill>
                  <a:srgbClr val="55C8E8"/>
                </a:solidFill>
                <a:latin typeface="Calibri" pitchFamily="34" charset="0"/>
                <a:ea typeface="Calibri" pitchFamily="34" charset="-122"/>
                <a:cs typeface="Calibri" pitchFamily="34" charset="-120"/>
              </a:rPr>
              <a:t>and started building the Review Chamber wall.</a:t>
            </a:r>
            <a:endParaRPr lang="en-US" sz="1500" dirty="0"/>
          </a:p>
        </p:txBody>
      </p:sp>
      <p:sp>
        <p:nvSpPr>
          <p:cNvPr id="9" name="Shape 6"/>
          <p:cNvSpPr/>
          <p:nvPr/>
        </p:nvSpPr>
        <p:spPr>
          <a:xfrm>
            <a:off x="812800" y="6014720"/>
            <a:ext cx="11379200" cy="1950720"/>
          </a:xfrm>
          <a:prstGeom prst="roundRect">
            <a:avLst>
              <a:gd name="adj" fmla="val 10000"/>
            </a:avLst>
          </a:prstGeom>
          <a:solidFill>
            <a:srgbClr val="1A2D5A"/>
          </a:solidFill>
          <a:ln/>
          <a:effectLst>
            <a:outerShdw sx="100000" sy="100000" kx="0" ky="0" algn="bl" rotWithShape="0" blurRad="76200" dist="25400" dir="8100000">
              <a:srgbClr val="000000">
                <a:alpha val="15000"/>
              </a:srgbClr>
            </a:outerShdw>
          </a:effectLst>
        </p:spPr>
      </p:sp>
      <p:sp>
        <p:nvSpPr>
          <p:cNvPr id="10" name="Text 7"/>
          <p:cNvSpPr/>
          <p:nvPr/>
        </p:nvSpPr>
        <p:spPr>
          <a:xfrm>
            <a:off x="1137920" y="6177280"/>
            <a:ext cx="1072896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COMING NEXT</a:t>
            </a:r>
            <a:endParaRPr lang="en-US" sz="900" dirty="0"/>
          </a:p>
        </p:txBody>
      </p:sp>
      <p:sp>
        <p:nvSpPr>
          <p:cNvPr id="11" name="Text 8"/>
          <p:cNvSpPr/>
          <p:nvPr/>
        </p:nvSpPr>
        <p:spPr>
          <a:xfrm>
            <a:off x="1137920" y="6664960"/>
            <a:ext cx="10728960" cy="1137920"/>
          </a:xfrm>
          <a:prstGeom prst="rect">
            <a:avLst/>
          </a:prstGeom>
          <a:noFill/>
          <a:ln/>
        </p:spPr>
        <p:txBody>
          <a:bodyPr wrap="square" lIns="0" tIns="0" rIns="0" bIns="0" rtlCol="0" anchor="ctr"/>
          <a:lstStyle/>
          <a:p>
            <a:pPr indent="0" marL="0">
              <a:lnSpc>
                <a:spcPct val="130000"/>
              </a:lnSpc>
              <a:buNone/>
            </a:pPr>
            <a:r>
              <a:rPr lang="en-US" sz="1400" i="1" dirty="0">
                <a:solidFill>
                  <a:srgbClr val="FFFFFF"/>
                </a:solidFill>
                <a:latin typeface="Calibri" pitchFamily="34" charset="0"/>
                <a:ea typeface="Calibri" pitchFamily="34" charset="-122"/>
                <a:cs typeface="Calibri" pitchFamily="34" charset="-120"/>
              </a:rPr>
              <a:t>Tomorrow, you'll finish your portfolio — and then we'll see if the World Map Hall can finally open. What's behind that door?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2026-07-11T02:48:09Z</dcterms:created>
  <dcterms:modified xsi:type="dcterms:W3CDTF">2026-07-11T02:48:09Z</dcterms:modified>
</cp:coreProperties>
</file>