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grand marble exhibition hall at dusk, doors closed but glowing warm light beneath them, a small brass plaque reading 'Grand Exhibition Hall,' empty pedestals waiting for visitors, quiet and dignified, watercolor museum-history style.This is the final lesson of the entire Grade 3 social studies year. Speak with warmth and quiet pride -- this is a milestone, not just another lesson. IMAGE TO INSERT: A grand marble exhibition hall at dusk, doors closed but glowing, empty pedestals waiting, watercolor museum-history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 with warmth and quiet pride. Say: 'This is it -- the very last lesson of the whole year. The museum opens to the community today, but before the doors unlock, the director has something to tell every Exhibit Designer.' Read the Curator's Question aloud. Save the full reveal of what she says for later in the lesson -- for now, just build the suspense.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virtue: service. Say: 'Service was the first virtue back in week one, and it's the last virtue this week. That's not an accident. Everything we learned was practice for a lifetime of service.'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quickly through this slide -- it's a visual recap, not a re-teach. Say: 'Look at everywhere you've been this year.' Hall names for Units 2, 4, and 8 (Exploration Wing, Cartographer's Workshop, Regional Council Hall) are inferred from unit content since the museum-room names for those units are not spelled out verbatim in existing lesson HTML; all other hall names are confirmed from prior lesson files and the Q4 build handoff doc. Under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'You probably don't remember exactly what you knew on the first day of Week 1. That's okay -- most curators don't. But look at these Then/Now examples.' Read a few aloud. Give students 5 seconds of silence to notice a pattern before moving to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discussion directly scaffolds Reflection Question 1 on the final assignment: 'What's one thing you can DO now that you couldn't do at the start of the year? Name a skill, not a fact.' Let several students answer in chat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their discovery, not new information: 'You just found this yourselves.' This slide sets up the growth-skill idea used directly in Reflection Question 1. Keep it brief and celebratory.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5 seconds of silence before students respond. This scaffolds Reflection Question 2 directly: 'What was the hardest part of being a curator this year? What did you learn from that hard part?' Be honest yourself as a model -- name one thing that was hard to teach this year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second half of the scaffold for Reflection Question 2. Let students share honestly -- normalize struggle as part of growth, tying back to the service and honesty virtues from earlier in the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brief and encouraging. Frame the hard-parts reflection as evidence of growth, not failure -- directly supports Reflection Question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Scaffolds Reflection Question 3: 'Name one way you'll use a curator skill OUTSIDE school -- at home, in your neighborhood, or with friends.' Give real classroom examples first if students seem stuck.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final discovery-cycle discussion before the big reveal slides. It scaffolds Reflection Question 3 and previews the Four Habits reveal on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museum director standing at the center of a grand hall surrounded by young curators, spotlight overhead, the words 'THE REAL EXHIBIT' glowing faintly on a wall panel behind her, cinematic reveal moment.This is the big reveal of the whole year. Slow down here. Share the director's reveal slowly, word by word if needed: 'She says the museum was never really about the exhibits. The rooms and the badges were just the work. The real exhibit is each one of you -- and what you've become.' IMAGE TO INSERT: museum director in spotlight surrounded by young curators, cinematic reveal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Walk through the four habits one at a time from the director's speech: (1) See the world carefully -- maps, places, regions. (2) Use evidence honestly -- sources, claims, questions. (3) Make wise choices -- economics, trade, scarcity. (4) Serve the common good -- government, virtues, citizenship. After each one, give a real-life example a 3rd grader would recognize. End with: 'These four habits don't end when the lesson ends. You take them everywhere.' 3-4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ceremonial museum badge pinned onto a curator's folder -- a small illustrated earth with a curator's notebook tucked behind it, gold ribbon, 'CERTIFIED' stamp nearby, warm celebratory lighting, museum-award style.Award the badge with real ceremony -- pause, let it land. Say: 'The Exhibit Designer badge stays on your folder. But next to it, the director has added a new badge: Young Geographer-Citizen. You earned every step of this.' IMAGE TO INSERT: ceremonial badge -- small earth with a curator's notebook behind it, gold ribbon, CERTIFIED stamp.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question aloud and let students answer in chat before revealing answers on the next slide. This is a year-in-review self-check, not graded.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Quietly proud: 'Three for three. You see what this whole year was for -- and you understand the four habits will keep going long after this lesson ends.' Under 30 seconds. Time for the final reflection -- the most important writing of the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warm pacing. Read each evidence question and model honestly. Q1: skill, not a fact. Q2: hardest part and what it taught you. Q3: one way to use a curator skill outside school. All three questions were already discussed and practiced earlier in this lesson (Then vs Now, hardest-part discussion, and real-life-application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Curator Task: 'Write your final Historian-Citizen Reflection -- 4 to 5 sentences. Use all four prompts.' The four prompts map directly to the Four Habits slide shown earlier. End: 'This is the last thing you write as a 3rd grade curator. Make it true.' 2-3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very last chronicle sentence frame of the entire year. Let it land. Read the turn-in checklist aloud so every student knows what 'done' looks like: reflection questions, four-prompt reflection, chronicle, and submission to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The museum's front doors swung wide open with sunlight streaming in, a crowd of proud visitors entering, young curators standing tall near their exhibits wearing badges, joyful end-of-year celebration, warm golden light.This is the very last video of the year. Speak warmly, with quiet pride. Say: 'Look at what you did. Eleven rooms. Thirty-three weeks. You walked in not knowing what a primary source was, and you're walking out as a young geographer-citizen who can see the world, use evidence, make wise choices, and serve. That's not small. That's everything.' Then: 'Keep your Curator's Notebook. Take it to fourth grade. The museum doors stay open for you.' End with a simple, personal thank-you for being a curator this year. Under 90 seconds. Make it count. This is the year closer -- there is no 'Coming Next' teaser.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1219200" y="1828800"/>
            <a:ext cx="9753600" cy="426720"/>
          </a:xfrm>
          <a:prstGeom prst="rect">
            <a:avLst/>
          </a:prstGeom>
          <a:noFill/>
          <a:ln/>
        </p:spPr>
        <p:txBody>
          <a:bodyPr wrap="square" lIns="0" tIns="0" rIns="0" bIns="0" rtlCol="0" anchor="ctr"/>
          <a:lstStyle/>
          <a:p>
            <a:pPr algn="ctr" indent="0" marL="0">
              <a:buNone/>
            </a:pPr>
            <a:r>
              <a:rPr lang="en-US" sz="1200" b="1" spc="200" kern="0" dirty="0">
                <a:solidFill>
                  <a:srgbClr val="55C8E8"/>
                </a:solidFill>
                <a:latin typeface="Calibri" pitchFamily="34" charset="0"/>
                <a:ea typeface="Calibri" pitchFamily="34" charset="-122"/>
                <a:cs typeface="Calibri" pitchFamily="34" charset="-120"/>
              </a:rPr>
              <a:t>GRADE 3 SOCIAL STUDIES  ·  LESSON 3.11.04  ·  GRAND EXHIBITION HALL</a:t>
            </a:r>
            <a:endParaRPr lang="en-US" sz="1200" dirty="0"/>
          </a:p>
        </p:txBody>
      </p:sp>
      <p:sp>
        <p:nvSpPr>
          <p:cNvPr id="6" name="Text 3"/>
          <p:cNvSpPr/>
          <p:nvPr/>
        </p:nvSpPr>
        <p:spPr>
          <a:xfrm>
            <a:off x="731520" y="2438400"/>
            <a:ext cx="10728960" cy="134112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Final Historian-Citizen Reflection</a:t>
            </a:r>
            <a:endParaRPr lang="en-US" sz="4000" dirty="0"/>
          </a:p>
        </p:txBody>
      </p:sp>
      <p:sp>
        <p:nvSpPr>
          <p:cNvPr id="7" name="Text 4"/>
          <p:cNvSpPr/>
          <p:nvPr/>
        </p:nvSpPr>
        <p:spPr>
          <a:xfrm>
            <a:off x="731520" y="3779520"/>
            <a:ext cx="10728960" cy="548640"/>
          </a:xfrm>
          <a:prstGeom prst="rect">
            <a:avLst/>
          </a:prstGeom>
          <a:noFill/>
          <a:ln/>
        </p:spPr>
        <p:txBody>
          <a:bodyPr wrap="square" lIns="0" tIns="0" rIns="0" bIns="0" rtlCol="0" anchor="ctr"/>
          <a:lstStyle/>
          <a:p>
            <a:pPr algn="ctr" indent="0" marL="0">
              <a:buNone/>
            </a:pPr>
            <a:r>
              <a:rPr lang="en-US" sz="1800" i="1" dirty="0">
                <a:solidFill>
                  <a:srgbClr val="D4943A"/>
                </a:solidFill>
                <a:latin typeface="Calibri" pitchFamily="34" charset="0"/>
                <a:ea typeface="Calibri" pitchFamily="34" charset="-122"/>
                <a:cs typeface="Calibri" pitchFamily="34" charset="-120"/>
              </a:rPr>
              <a:t>The Last Lesson of the Year</a:t>
            </a:r>
            <a:endParaRPr lang="en-US" sz="1800" dirty="0"/>
          </a:p>
        </p:txBody>
      </p:sp>
      <p:sp>
        <p:nvSpPr>
          <p:cNvPr id="8" name="Text 5"/>
          <p:cNvSpPr/>
          <p:nvPr/>
        </p:nvSpPr>
        <p:spPr>
          <a:xfrm>
            <a:off x="731520" y="5486400"/>
            <a:ext cx="10728960" cy="426720"/>
          </a:xfrm>
          <a:prstGeom prst="rect">
            <a:avLst/>
          </a:prstGeom>
          <a:noFill/>
          <a:ln/>
        </p:spPr>
        <p:txBody>
          <a:bodyPr wrap="square" lIns="0" tIns="0" rIns="0" bIns="0" rtlCol="0" anchor="ctr"/>
          <a:lstStyle/>
          <a:p>
            <a:pPr algn="ctr" indent="0" marL="0">
              <a:buNone/>
            </a:pPr>
            <a:r>
              <a:rPr lang="en-US" sz="1300" dirty="0">
                <a:solidFill>
                  <a:srgbClr val="9AAAD0"/>
                </a:solidFill>
                <a:latin typeface="Calibri" pitchFamily="34" charset="0"/>
                <a:ea typeface="Calibri" pitchFamily="34" charset="-122"/>
                <a:cs typeface="Calibri" pitchFamily="34" charset="-120"/>
              </a:rPr>
              <a:t>Routine: Historian-Citizen Exhibition   |   Virtue: Service</a:t>
            </a:r>
            <a:endParaRPr lang="en-US" sz="1300" dirty="0"/>
          </a:p>
        </p:txBody>
      </p:sp>
      <p:sp>
        <p:nvSpPr>
          <p:cNvPr id="9" name="Text 6"/>
          <p:cNvSpPr/>
          <p:nvPr/>
        </p:nvSpPr>
        <p:spPr>
          <a:xfrm>
            <a:off x="731520" y="6035040"/>
            <a:ext cx="10728960" cy="426720"/>
          </a:xfrm>
          <a:prstGeom prst="rect">
            <a:avLst/>
          </a:prstGeom>
          <a:noFill/>
          <a:ln/>
        </p:spPr>
        <p:txBody>
          <a:bodyPr wrap="square" lIns="0" tIns="0" rIns="0" bIns="0" rtlCol="0" anchor="ctr"/>
          <a:lstStyle/>
          <a:p>
            <a:pPr algn="ctr" indent="0" marL="0">
              <a:buNone/>
            </a:pPr>
            <a:r>
              <a:rPr lang="en-US" sz="1200" i="1" dirty="0">
                <a:solidFill>
                  <a:srgbClr val="C9D6F0"/>
                </a:solidFill>
                <a:latin typeface="Calibri" pitchFamily="34" charset="0"/>
                <a:ea typeface="Calibri" pitchFamily="34" charset="-122"/>
                <a:cs typeface="Calibri" pitchFamily="34" charset="-120"/>
              </a:rPr>
              <a:t>Eleven rooms. Thirty-three weeks. One final walk through the museum.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487680" y="97536"/>
            <a:ext cx="11216640" cy="304800"/>
          </a:xfrm>
          <a:prstGeom prst="rect">
            <a:avLst/>
          </a:prstGeom>
          <a:noFill/>
          <a:ln/>
        </p:spPr>
        <p:txBody>
          <a:bodyPr wrap="square" lIns="0" tIns="0" rIns="0" bIns="0"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ENTER THE MUSEUM  ·  THE LAST LESSON OF THE YEAR</a:t>
            </a:r>
            <a:endParaRPr lang="en-US" sz="1000" dirty="0"/>
          </a:p>
        </p:txBody>
      </p:sp>
      <p:sp>
        <p:nvSpPr>
          <p:cNvPr id="3" name="Text 1"/>
          <p:cNvSpPr/>
          <p:nvPr/>
        </p:nvSpPr>
        <p:spPr>
          <a:xfrm>
            <a:off x="487680" y="487680"/>
            <a:ext cx="11216640" cy="7315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The Director Calls Every Curator to the Center</a:t>
            </a:r>
            <a:endParaRPr lang="en-US" sz="2600" dirty="0"/>
          </a:p>
        </p:txBody>
      </p:sp>
      <p:sp>
        <p:nvSpPr>
          <p:cNvPr id="4" name="Text 2"/>
          <p:cNvSpPr/>
          <p:nvPr/>
        </p:nvSpPr>
        <p:spPr>
          <a:xfrm>
            <a:off x="487680" y="1402080"/>
            <a:ext cx="6583680" cy="3048000"/>
          </a:xfrm>
          <a:prstGeom prst="rect">
            <a:avLst/>
          </a:prstGeom>
          <a:noFill/>
          <a:ln/>
        </p:spPr>
        <p:txBody>
          <a:bodyPr wrap="square" lIns="0" tIns="0" rIns="0" bIns="0" rtlCol="0" anchor="t"/>
          <a:lstStyle/>
          <a:p>
            <a:pPr indent="0" marL="0">
              <a:lnSpc>
                <a:spcPct val="120000"/>
              </a:lnSpc>
              <a:buNone/>
            </a:pPr>
            <a:r>
              <a:rPr lang="en-US" sz="1400" dirty="0">
                <a:solidFill>
                  <a:srgbClr val="E4E9F5"/>
                </a:solidFill>
                <a:latin typeface="Calibri" pitchFamily="34" charset="0"/>
                <a:ea typeface="Calibri" pitchFamily="34" charset="-122"/>
                <a:cs typeface="Calibri" pitchFamily="34" charset="-120"/>
              </a:rPr>
              <a:t>The museum doors are about to open to the whole community. Before they unlock, the director calls every Exhibit Designer to the center of the Grand Exhibition Hall. She stands quietly for a moment.</a:t>
            </a:r>
            <a:endParaRPr lang="en-US" sz="1400" dirty="0"/>
          </a:p>
          <a:p>
            <a:pPr indent="0" marL="0">
              <a:lnSpc>
                <a:spcPct val="120000"/>
              </a:lnSpc>
              <a:buNone/>
            </a:pPr>
            <a:endParaRPr lang="en-US" sz="1400" dirty="0"/>
          </a:p>
          <a:p>
            <a:pPr indent="0" marL="0">
              <a:lnSpc>
                <a:spcPct val="120000"/>
              </a:lnSpc>
              <a:buNone/>
            </a:pPr>
            <a:r>
              <a:rPr lang="en-US" sz="1400" dirty="0">
                <a:solidFill>
                  <a:srgbClr val="E4E9F5"/>
                </a:solidFill>
                <a:latin typeface="Calibri" pitchFamily="34" charset="0"/>
                <a:ea typeface="Calibri" pitchFamily="34" charset="-122"/>
                <a:cs typeface="Calibri" pitchFamily="34" charset="-120"/>
              </a:rPr>
              <a:t>“I have one thing to tell you,” she says... and then she pauses.</a:t>
            </a:r>
            <a:endParaRPr lang="en-US" sz="1400" dirty="0"/>
          </a:p>
        </p:txBody>
      </p:sp>
      <p:sp>
        <p:nvSpPr>
          <p:cNvPr id="5" name="Shape 3"/>
          <p:cNvSpPr/>
          <p:nvPr/>
        </p:nvSpPr>
        <p:spPr>
          <a:xfrm>
            <a:off x="487680" y="4572000"/>
            <a:ext cx="6583680" cy="1645920"/>
          </a:xfrm>
          <a:prstGeom prst="roundRect">
            <a:avLst>
              <a:gd name="adj" fmla="val 8889"/>
            </a:avLst>
          </a:prstGeom>
          <a:solidFill>
            <a:srgbClr val="1A2D5A"/>
          </a:solidFill>
          <a:ln w="12700">
            <a:solidFill>
              <a:srgbClr val="55C8E8"/>
            </a:solidFill>
            <a:prstDash val="solid"/>
          </a:ln>
        </p:spPr>
      </p:sp>
      <p:sp>
        <p:nvSpPr>
          <p:cNvPr id="6" name="Text 4"/>
          <p:cNvSpPr/>
          <p:nvPr/>
        </p:nvSpPr>
        <p:spPr>
          <a:xfrm>
            <a:off x="670560" y="4693920"/>
            <a:ext cx="6217920" cy="304800"/>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TODAY'S CURATOR'S QUESTION</a:t>
            </a:r>
            <a:endParaRPr lang="en-US" sz="900" dirty="0"/>
          </a:p>
        </p:txBody>
      </p:sp>
      <p:sp>
        <p:nvSpPr>
          <p:cNvPr id="7" name="Text 5"/>
          <p:cNvSpPr/>
          <p:nvPr/>
        </p:nvSpPr>
        <p:spPr>
          <a:xfrm>
            <a:off x="670560" y="5023104"/>
            <a:ext cx="6217920" cy="1097280"/>
          </a:xfrm>
          <a:prstGeom prst="rect">
            <a:avLst/>
          </a:prstGeom>
          <a:noFill/>
          <a:ln/>
        </p:spPr>
        <p:txBody>
          <a:bodyPr wrap="square" lIns="0" tIns="0" rIns="0" bIns="0" rtlCol="0" anchor="t"/>
          <a:lstStyle/>
          <a:p>
            <a:pPr indent="0" marL="0">
              <a:buNone/>
            </a:pPr>
            <a:r>
              <a:rPr lang="en-US" sz="1400" b="1" i="1" dirty="0">
                <a:solidFill>
                  <a:srgbClr val="FFFFFF"/>
                </a:solidFill>
                <a:latin typeface="Calibri" pitchFamily="34" charset="0"/>
                <a:ea typeface="Calibri" pitchFamily="34" charset="-122"/>
                <a:cs typeface="Calibri" pitchFamily="34" charset="-120"/>
              </a:rPr>
              <a:t>Looking back at the whole year, what kind of citizen have you become?</a:t>
            </a:r>
            <a:endParaRPr lang="en-US" sz="1400" dirty="0"/>
          </a:p>
        </p:txBody>
      </p:sp>
      <p:sp>
        <p:nvSpPr>
          <p:cNvPr id="8" name="Shape 6"/>
          <p:cNvSpPr/>
          <p:nvPr/>
        </p:nvSpPr>
        <p:spPr>
          <a:xfrm>
            <a:off x="7437120" y="1402080"/>
            <a:ext cx="3901440" cy="4815840"/>
          </a:xfrm>
          <a:prstGeom prst="roundRect">
            <a:avLst>
              <a:gd name="adj" fmla="val 3750"/>
            </a:avLst>
          </a:prstGeom>
          <a:solidFill>
            <a:srgbClr val="142450"/>
          </a:solidFill>
          <a:ln w="12700">
            <a:solidFill>
              <a:srgbClr val="3A5080"/>
            </a:solidFill>
            <a:prstDash val="solid"/>
          </a:ln>
        </p:spPr>
      </p:sp>
      <p:sp>
        <p:nvSpPr>
          <p:cNvPr id="9" name="Text 7"/>
          <p:cNvSpPr/>
          <p:nvPr/>
        </p:nvSpPr>
        <p:spPr>
          <a:xfrm>
            <a:off x="7620000" y="1560576"/>
            <a:ext cx="3535680" cy="3048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TODAY'S OBJECTIVES</a:t>
            </a:r>
            <a:endParaRPr lang="en-US" sz="900" dirty="0"/>
          </a:p>
        </p:txBody>
      </p:sp>
      <p:sp>
        <p:nvSpPr>
          <p:cNvPr id="10" name="Text 8"/>
          <p:cNvSpPr/>
          <p:nvPr/>
        </p:nvSpPr>
        <p:spPr>
          <a:xfrm>
            <a:off x="7620000" y="2011680"/>
            <a:ext cx="3535680" cy="4023360"/>
          </a:xfrm>
          <a:prstGeom prst="rect">
            <a:avLst/>
          </a:prstGeom>
          <a:noFill/>
          <a:ln/>
        </p:spPr>
        <p:txBody>
          <a:bodyPr wrap="square" lIns="0" tIns="0" rIns="0" bIns="0" rtlCol="0" anchor="t"/>
          <a:lstStyle/>
          <a:p>
            <a:pPr marL="342900" indent="-342900">
              <a:spcAft>
                <a:spcPts val="1000"/>
              </a:spcAft>
              <a:buSzPct val="100000"/>
              <a:buChar char="•"/>
            </a:pPr>
            <a:r>
              <a:rPr lang="en-US" sz="1200" dirty="0">
                <a:solidFill>
                  <a:srgbClr val="E4E9F5"/>
                </a:solidFill>
                <a:latin typeface="Calibri" pitchFamily="34" charset="0"/>
                <a:ea typeface="Calibri" pitchFamily="34" charset="-122"/>
                <a:cs typeface="Calibri" pitchFamily="34" charset="-120"/>
              </a:rPr>
              <a:t>Reflect on what you've learned across the whole year.</a:t>
            </a:r>
            <a:endParaRPr lang="en-US" sz="1200" dirty="0"/>
          </a:p>
          <a:p>
            <a:pPr marL="342900" indent="-342900">
              <a:spcAft>
                <a:spcPts val="1000"/>
              </a:spcAft>
              <a:buSzPct val="100000"/>
              <a:buChar char="•"/>
            </a:pPr>
            <a:r>
              <a:rPr lang="en-US" sz="1200" dirty="0">
                <a:solidFill>
                  <a:srgbClr val="E4E9F5"/>
                </a:solidFill>
                <a:latin typeface="Calibri" pitchFamily="34" charset="0"/>
                <a:ea typeface="Calibri" pitchFamily="34" charset="-122"/>
                <a:cs typeface="Calibri" pitchFamily="34" charset="-120"/>
              </a:rPr>
              <a:t>Notice the four things a young geographer-citizen does.</a:t>
            </a:r>
            <a:endParaRPr lang="en-US" sz="1200" dirty="0"/>
          </a:p>
          <a:p>
            <a:pPr marL="342900" indent="-342900">
              <a:spcAft>
                <a:spcPts val="1000"/>
              </a:spcAft>
              <a:buSzPct val="100000"/>
              <a:buChar char="•"/>
            </a:pPr>
            <a:r>
              <a:rPr lang="en-US" sz="1200" dirty="0">
                <a:solidFill>
                  <a:srgbClr val="E4E9F5"/>
                </a:solidFill>
                <a:latin typeface="Calibri" pitchFamily="34" charset="0"/>
                <a:ea typeface="Calibri" pitchFamily="34" charset="-122"/>
                <a:cs typeface="Calibri" pitchFamily="34" charset="-120"/>
              </a:rPr>
              <a:t>Write your final Historian-Citizen Reflection.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487680" y="97536"/>
            <a:ext cx="11216640" cy="304800"/>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VIRTUE SPOTLIGHT</a:t>
            </a:r>
            <a:endParaRPr lang="en-US" sz="1000" dirty="0"/>
          </a:p>
        </p:txBody>
      </p:sp>
      <p:sp>
        <p:nvSpPr>
          <p:cNvPr id="3" name="Text 1"/>
          <p:cNvSpPr/>
          <p:nvPr/>
        </p:nvSpPr>
        <p:spPr>
          <a:xfrm>
            <a:off x="487680" y="487680"/>
            <a:ext cx="11216640" cy="914400"/>
          </a:xfrm>
          <a:prstGeom prst="rect">
            <a:avLst/>
          </a:prstGeom>
          <a:noFill/>
          <a:ln/>
        </p:spPr>
        <p:txBody>
          <a:bodyPr wrap="square" lIns="0" tIns="0" rIns="0" bIns="0" rtlCol="0" anchor="ctr"/>
          <a:lstStyle/>
          <a:p>
            <a:pPr algn="ctr" indent="0" marL="0">
              <a:buNone/>
            </a:pPr>
            <a:r>
              <a:rPr lang="en-US" sz="4000" b="1" dirty="0">
                <a:solidFill>
                  <a:srgbClr val="D4943A"/>
                </a:solidFill>
                <a:latin typeface="Cambria" pitchFamily="34" charset="0"/>
                <a:ea typeface="Cambria" pitchFamily="34" charset="-122"/>
                <a:cs typeface="Cambria" pitchFamily="34" charset="-120"/>
              </a:rPr>
              <a:t>Service</a:t>
            </a:r>
            <a:endParaRPr lang="en-US" sz="4000" dirty="0"/>
          </a:p>
        </p:txBody>
      </p:sp>
      <p:sp>
        <p:nvSpPr>
          <p:cNvPr id="4" name="Text 2"/>
          <p:cNvSpPr/>
          <p:nvPr/>
        </p:nvSpPr>
        <p:spPr>
          <a:xfrm>
            <a:off x="731520" y="1402080"/>
            <a:ext cx="10728960" cy="487680"/>
          </a:xfrm>
          <a:prstGeom prst="rect">
            <a:avLst/>
          </a:prstGeom>
          <a:noFill/>
          <a:ln/>
        </p:spPr>
        <p:txBody>
          <a:bodyPr wrap="square" lIns="0" tIns="0" rIns="0" bIns="0" rtlCol="0" anchor="ctr"/>
          <a:lstStyle/>
          <a:p>
            <a:pPr algn="ctr" indent="0" marL="0">
              <a:buNone/>
            </a:pPr>
            <a:r>
              <a:rPr lang="en-US" sz="1400" i="1" dirty="0">
                <a:solidFill>
                  <a:srgbClr val="55C8E8"/>
                </a:solidFill>
                <a:latin typeface="Calibri" pitchFamily="34" charset="0"/>
                <a:ea typeface="Calibri" pitchFamily="34" charset="-122"/>
                <a:cs typeface="Calibri" pitchFamily="34" charset="-120"/>
              </a:rPr>
              <a:t>The first virtue of the year. The last virtue of the year. That's not an accident.</a:t>
            </a:r>
            <a:endParaRPr lang="en-US" sz="1400" dirty="0"/>
          </a:p>
        </p:txBody>
      </p:sp>
      <p:sp>
        <p:nvSpPr>
          <p:cNvPr id="5" name="Shape 3"/>
          <p:cNvSpPr/>
          <p:nvPr/>
        </p:nvSpPr>
        <p:spPr>
          <a:xfrm>
            <a:off x="853440" y="2133600"/>
            <a:ext cx="10485120" cy="2255520"/>
          </a:xfrm>
          <a:prstGeom prst="roundRect">
            <a:avLst>
              <a:gd name="adj" fmla="val 6486"/>
            </a:avLst>
          </a:prstGeom>
          <a:solidFill>
            <a:srgbClr val="1A2D5A"/>
          </a:solidFill>
          <a:ln/>
        </p:spPr>
      </p:sp>
      <p:sp>
        <p:nvSpPr>
          <p:cNvPr id="6" name="Text 4"/>
          <p:cNvSpPr/>
          <p:nvPr/>
        </p:nvSpPr>
        <p:spPr>
          <a:xfrm>
            <a:off x="1158240" y="2377440"/>
            <a:ext cx="9875520" cy="1828800"/>
          </a:xfrm>
          <a:prstGeom prst="rect">
            <a:avLst/>
          </a:prstGeom>
          <a:noFill/>
          <a:ln/>
        </p:spPr>
        <p:txBody>
          <a:bodyPr wrap="square" lIns="0" tIns="0" rIns="0" bIns="0" rtlCol="0" anchor="t"/>
          <a:lstStyle/>
          <a:p>
            <a:pPr indent="0" marL="0">
              <a:lnSpc>
                <a:spcPct val="115000"/>
              </a:lnSpc>
              <a:buNone/>
            </a:pPr>
            <a:r>
              <a:rPr lang="en-US" sz="1400" dirty="0">
                <a:solidFill>
                  <a:srgbClr val="E4E9F5"/>
                </a:solidFill>
                <a:latin typeface="Calibri" pitchFamily="34" charset="0"/>
                <a:ea typeface="Calibri" pitchFamily="34" charset="-122"/>
                <a:cs typeface="Calibri" pitchFamily="34" charset="-120"/>
              </a:rPr>
              <a:t>Service was the first virtue in your folder back in Week 1, and here it is again at the end. Everything you learned this year -- maps, sources, regions, trade, government -- those are tools for serving. A young geographer-citizen doesn't just know things. They use what they know to help others.</a:t>
            </a:r>
            <a:endParaRPr lang="en-US" sz="1400" dirty="0"/>
          </a:p>
        </p:txBody>
      </p:sp>
      <p:sp>
        <p:nvSpPr>
          <p:cNvPr id="7" name="Shape 5"/>
          <p:cNvSpPr/>
          <p:nvPr/>
        </p:nvSpPr>
        <p:spPr>
          <a:xfrm>
            <a:off x="853440" y="4693920"/>
            <a:ext cx="10485120" cy="1402080"/>
          </a:xfrm>
          <a:prstGeom prst="roundRect">
            <a:avLst>
              <a:gd name="adj" fmla="val 10435"/>
            </a:avLst>
          </a:prstGeom>
          <a:solidFill>
            <a:srgbClr val="1A8A7D"/>
          </a:solidFill>
          <a:ln/>
        </p:spPr>
      </p:sp>
      <p:sp>
        <p:nvSpPr>
          <p:cNvPr id="8" name="Text 6"/>
          <p:cNvSpPr/>
          <p:nvPr/>
        </p:nvSpPr>
        <p:spPr>
          <a:xfrm>
            <a:off x="1097280" y="4815840"/>
            <a:ext cx="9997440" cy="304800"/>
          </a:xfrm>
          <a:prstGeom prst="rect">
            <a:avLst/>
          </a:prstGeom>
          <a:noFill/>
          <a:ln/>
        </p:spPr>
        <p:txBody>
          <a:bodyPr wrap="square" lIns="0" tIns="0" rIns="0" bIns="0" rtlCol="0" anchor="ctr"/>
          <a:lstStyle/>
          <a:p>
            <a:pPr indent="0" marL="0">
              <a:buNone/>
            </a:pPr>
            <a:r>
              <a:rPr lang="en-US" sz="900" b="1" spc="150" kern="0" dirty="0">
                <a:solidFill>
                  <a:srgbClr val="D6F2FB"/>
                </a:solidFill>
                <a:latin typeface="Calibri" pitchFamily="34" charset="0"/>
                <a:ea typeface="Calibri" pitchFamily="34" charset="-122"/>
                <a:cs typeface="Calibri" pitchFamily="34" charset="-120"/>
              </a:rPr>
              <a:t>YOUR ROLE TODAY</a:t>
            </a:r>
            <a:endParaRPr lang="en-US" sz="900" dirty="0"/>
          </a:p>
        </p:txBody>
      </p:sp>
      <p:sp>
        <p:nvSpPr>
          <p:cNvPr id="9" name="Text 7"/>
          <p:cNvSpPr/>
          <p:nvPr/>
        </p:nvSpPr>
        <p:spPr>
          <a:xfrm>
            <a:off x="1097280" y="5120640"/>
            <a:ext cx="9997440" cy="91440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Today you take on your last role of the year: Young Geographer-Citizen. This is who you've been becoming all along, room by room, badge by badge. Carry this name with you. It belongs to you now.</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487680" y="97536"/>
            <a:ext cx="11216640" cy="304800"/>
          </a:xfrm>
          <a:prstGeom prst="rect">
            <a:avLst/>
          </a:prstGeom>
          <a:noFill/>
          <a:ln/>
        </p:spPr>
        <p:txBody>
          <a:bodyPr wrap="square" lIns="0" tIns="0" rIns="0" bIns="0"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ONE LAST WALK THROUGH THE MUSEUM</a:t>
            </a:r>
            <a:endParaRPr lang="en-US" sz="1000" dirty="0"/>
          </a:p>
        </p:txBody>
      </p:sp>
      <p:sp>
        <p:nvSpPr>
          <p:cNvPr id="3" name="Text 1"/>
          <p:cNvSpPr/>
          <p:nvPr/>
        </p:nvSpPr>
        <p:spPr>
          <a:xfrm>
            <a:off x="487680" y="426720"/>
            <a:ext cx="11216640" cy="67056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Eleven Rooms. Thirty-Three Weeks.</a:t>
            </a:r>
            <a:endParaRPr lang="en-US" sz="2600" dirty="0"/>
          </a:p>
        </p:txBody>
      </p:sp>
      <p:sp>
        <p:nvSpPr>
          <p:cNvPr id="4" name="Shape 2"/>
          <p:cNvSpPr/>
          <p:nvPr/>
        </p:nvSpPr>
        <p:spPr>
          <a:xfrm>
            <a:off x="487680" y="1402080"/>
            <a:ext cx="1767840" cy="1584960"/>
          </a:xfrm>
          <a:prstGeom prst="roundRect">
            <a:avLst>
              <a:gd name="adj" fmla="val 9231"/>
            </a:avLst>
          </a:prstGeom>
          <a:solidFill>
            <a:srgbClr val="1A8A7D"/>
          </a:solidFill>
          <a:ln/>
          <a:effectLst>
            <a:outerShdw sx="100000" sy="100000" kx="0" ky="0" algn="bl" rotWithShape="0" blurRad="63500" dist="25400" dir="8100000">
              <a:srgbClr val="000000">
                <a:alpha val="15000"/>
              </a:srgbClr>
            </a:outerShdw>
          </a:effectLst>
        </p:spPr>
      </p:sp>
      <p:sp>
        <p:nvSpPr>
          <p:cNvPr id="5" name="Text 3"/>
          <p:cNvSpPr/>
          <p:nvPr/>
        </p:nvSpPr>
        <p:spPr>
          <a:xfrm>
            <a:off x="487680" y="1475232"/>
            <a:ext cx="1767840" cy="304800"/>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1</a:t>
            </a:r>
            <a:endParaRPr lang="en-US" sz="900" dirty="0"/>
          </a:p>
        </p:txBody>
      </p:sp>
      <p:sp>
        <p:nvSpPr>
          <p:cNvPr id="6" name="Text 4"/>
          <p:cNvSpPr/>
          <p:nvPr/>
        </p:nvSpPr>
        <p:spPr>
          <a:xfrm>
            <a:off x="487680" y="1743456"/>
            <a:ext cx="1767840" cy="4267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Curator Training Hall</a:t>
            </a:r>
            <a:endParaRPr lang="en-US" sz="1600" dirty="0"/>
          </a:p>
        </p:txBody>
      </p:sp>
      <p:sp>
        <p:nvSpPr>
          <p:cNvPr id="7" name="Shape 5"/>
          <p:cNvSpPr/>
          <p:nvPr/>
        </p:nvSpPr>
        <p:spPr>
          <a:xfrm>
            <a:off x="2377440" y="1402080"/>
            <a:ext cx="1767840" cy="1584960"/>
          </a:xfrm>
          <a:prstGeom prst="roundRect">
            <a:avLst>
              <a:gd name="adj" fmla="val 9231"/>
            </a:avLst>
          </a:prstGeom>
          <a:solidFill>
            <a:srgbClr val="1A8A7D"/>
          </a:solidFill>
          <a:ln/>
          <a:effectLst>
            <a:outerShdw sx="100000" sy="100000" kx="0" ky="0" algn="bl" rotWithShape="0" blurRad="63500" dist="25400" dir="8100000">
              <a:srgbClr val="000000">
                <a:alpha val="15000"/>
              </a:srgbClr>
            </a:outerShdw>
          </a:effectLst>
        </p:spPr>
      </p:sp>
      <p:sp>
        <p:nvSpPr>
          <p:cNvPr id="8" name="Text 6"/>
          <p:cNvSpPr/>
          <p:nvPr/>
        </p:nvSpPr>
        <p:spPr>
          <a:xfrm>
            <a:off x="2377440" y="1475232"/>
            <a:ext cx="1767840" cy="304800"/>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2</a:t>
            </a:r>
            <a:endParaRPr lang="en-US" sz="900" dirty="0"/>
          </a:p>
        </p:txBody>
      </p:sp>
      <p:sp>
        <p:nvSpPr>
          <p:cNvPr id="9" name="Text 7"/>
          <p:cNvSpPr/>
          <p:nvPr/>
        </p:nvSpPr>
        <p:spPr>
          <a:xfrm>
            <a:off x="2377440" y="1743456"/>
            <a:ext cx="1767840" cy="4267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Exploration Wing</a:t>
            </a:r>
            <a:endParaRPr lang="en-US" sz="1600" dirty="0"/>
          </a:p>
        </p:txBody>
      </p:sp>
      <p:sp>
        <p:nvSpPr>
          <p:cNvPr id="10" name="Shape 8"/>
          <p:cNvSpPr/>
          <p:nvPr/>
        </p:nvSpPr>
        <p:spPr>
          <a:xfrm>
            <a:off x="4267200" y="1402080"/>
            <a:ext cx="1767840" cy="1584960"/>
          </a:xfrm>
          <a:prstGeom prst="roundRect">
            <a:avLst>
              <a:gd name="adj" fmla="val 9231"/>
            </a:avLst>
          </a:prstGeom>
          <a:solidFill>
            <a:srgbClr val="1A8A7D"/>
          </a:solidFill>
          <a:ln/>
          <a:effectLst>
            <a:outerShdw sx="100000" sy="100000" kx="0" ky="0" algn="bl" rotWithShape="0" blurRad="63500" dist="25400" dir="8100000">
              <a:srgbClr val="000000">
                <a:alpha val="15000"/>
              </a:srgbClr>
            </a:outerShdw>
          </a:effectLst>
        </p:spPr>
      </p:sp>
      <p:sp>
        <p:nvSpPr>
          <p:cNvPr id="11" name="Text 9"/>
          <p:cNvSpPr/>
          <p:nvPr/>
        </p:nvSpPr>
        <p:spPr>
          <a:xfrm>
            <a:off x="4267200" y="1475232"/>
            <a:ext cx="1767840" cy="304800"/>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3</a:t>
            </a:r>
            <a:endParaRPr lang="en-US" sz="900" dirty="0"/>
          </a:p>
        </p:txBody>
      </p:sp>
      <p:sp>
        <p:nvSpPr>
          <p:cNvPr id="12" name="Text 10"/>
          <p:cNvSpPr/>
          <p:nvPr/>
        </p:nvSpPr>
        <p:spPr>
          <a:xfrm>
            <a:off x="4267200" y="1743456"/>
            <a:ext cx="1767840" cy="4267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Great Map Room</a:t>
            </a:r>
            <a:endParaRPr lang="en-US" sz="1600" dirty="0"/>
          </a:p>
        </p:txBody>
      </p:sp>
      <p:sp>
        <p:nvSpPr>
          <p:cNvPr id="13" name="Shape 11"/>
          <p:cNvSpPr/>
          <p:nvPr/>
        </p:nvSpPr>
        <p:spPr>
          <a:xfrm>
            <a:off x="6156960" y="1402080"/>
            <a:ext cx="1767840" cy="1584960"/>
          </a:xfrm>
          <a:prstGeom prst="roundRect">
            <a:avLst>
              <a:gd name="adj" fmla="val 9231"/>
            </a:avLst>
          </a:prstGeom>
          <a:solidFill>
            <a:srgbClr val="1A8A7D"/>
          </a:solidFill>
          <a:ln/>
          <a:effectLst>
            <a:outerShdw sx="100000" sy="100000" kx="0" ky="0" algn="bl" rotWithShape="0" blurRad="63500" dist="25400" dir="8100000">
              <a:srgbClr val="000000">
                <a:alpha val="15000"/>
              </a:srgbClr>
            </a:outerShdw>
          </a:effectLst>
        </p:spPr>
      </p:sp>
      <p:sp>
        <p:nvSpPr>
          <p:cNvPr id="14" name="Text 12"/>
          <p:cNvSpPr/>
          <p:nvPr/>
        </p:nvSpPr>
        <p:spPr>
          <a:xfrm>
            <a:off x="6156960" y="1475232"/>
            <a:ext cx="1767840" cy="304800"/>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4</a:t>
            </a:r>
            <a:endParaRPr lang="en-US" sz="900" dirty="0"/>
          </a:p>
        </p:txBody>
      </p:sp>
      <p:sp>
        <p:nvSpPr>
          <p:cNvPr id="15" name="Text 13"/>
          <p:cNvSpPr/>
          <p:nvPr/>
        </p:nvSpPr>
        <p:spPr>
          <a:xfrm>
            <a:off x="6156960" y="1743456"/>
            <a:ext cx="1767840" cy="4267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Cartographer's Workshop</a:t>
            </a:r>
            <a:endParaRPr lang="en-US" sz="1600" dirty="0"/>
          </a:p>
        </p:txBody>
      </p:sp>
      <p:sp>
        <p:nvSpPr>
          <p:cNvPr id="16" name="Shape 14"/>
          <p:cNvSpPr/>
          <p:nvPr/>
        </p:nvSpPr>
        <p:spPr>
          <a:xfrm>
            <a:off x="8046720" y="1402080"/>
            <a:ext cx="1767840" cy="1584960"/>
          </a:xfrm>
          <a:prstGeom prst="roundRect">
            <a:avLst>
              <a:gd name="adj" fmla="val 9231"/>
            </a:avLst>
          </a:prstGeom>
          <a:solidFill>
            <a:srgbClr val="1A8A7D"/>
          </a:solidFill>
          <a:ln/>
          <a:effectLst>
            <a:outerShdw sx="100000" sy="100000" kx="0" ky="0" algn="bl" rotWithShape="0" blurRad="63500" dist="25400" dir="8100000">
              <a:srgbClr val="000000">
                <a:alpha val="15000"/>
              </a:srgbClr>
            </a:outerShdw>
          </a:effectLst>
        </p:spPr>
      </p:sp>
      <p:sp>
        <p:nvSpPr>
          <p:cNvPr id="17" name="Text 15"/>
          <p:cNvSpPr/>
          <p:nvPr/>
        </p:nvSpPr>
        <p:spPr>
          <a:xfrm>
            <a:off x="8046720" y="1475232"/>
            <a:ext cx="1767840" cy="304800"/>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5</a:t>
            </a:r>
            <a:endParaRPr lang="en-US" sz="900" dirty="0"/>
          </a:p>
        </p:txBody>
      </p:sp>
      <p:sp>
        <p:nvSpPr>
          <p:cNvPr id="18" name="Text 16"/>
          <p:cNvSpPr/>
          <p:nvPr/>
        </p:nvSpPr>
        <p:spPr>
          <a:xfrm>
            <a:off x="8046720" y="1743456"/>
            <a:ext cx="1767840" cy="4267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World Map Hall</a:t>
            </a:r>
            <a:endParaRPr lang="en-US" sz="1600" dirty="0"/>
          </a:p>
        </p:txBody>
      </p:sp>
      <p:sp>
        <p:nvSpPr>
          <p:cNvPr id="19" name="Shape 17"/>
          <p:cNvSpPr/>
          <p:nvPr/>
        </p:nvSpPr>
        <p:spPr>
          <a:xfrm>
            <a:off x="9936480" y="1402080"/>
            <a:ext cx="1767840" cy="1584960"/>
          </a:xfrm>
          <a:prstGeom prst="roundRect">
            <a:avLst>
              <a:gd name="adj" fmla="val 9231"/>
            </a:avLst>
          </a:prstGeom>
          <a:solidFill>
            <a:srgbClr val="1A8A7D"/>
          </a:solidFill>
          <a:ln/>
          <a:effectLst>
            <a:outerShdw sx="100000" sy="100000" kx="0" ky="0" algn="bl" rotWithShape="0" blurRad="63500" dist="25400" dir="8100000">
              <a:srgbClr val="000000">
                <a:alpha val="15000"/>
              </a:srgbClr>
            </a:outerShdw>
          </a:effectLst>
        </p:spPr>
      </p:sp>
      <p:sp>
        <p:nvSpPr>
          <p:cNvPr id="20" name="Text 18"/>
          <p:cNvSpPr/>
          <p:nvPr/>
        </p:nvSpPr>
        <p:spPr>
          <a:xfrm>
            <a:off x="9936480" y="1475232"/>
            <a:ext cx="1767840" cy="304800"/>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6</a:t>
            </a:r>
            <a:endParaRPr lang="en-US" sz="900" dirty="0"/>
          </a:p>
        </p:txBody>
      </p:sp>
      <p:sp>
        <p:nvSpPr>
          <p:cNvPr id="21" name="Text 19"/>
          <p:cNvSpPr/>
          <p:nvPr/>
        </p:nvSpPr>
        <p:spPr>
          <a:xfrm>
            <a:off x="9936480" y="1743456"/>
            <a:ext cx="1767840" cy="4267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North America Gallery</a:t>
            </a:r>
            <a:endParaRPr lang="en-US" sz="1600" dirty="0"/>
          </a:p>
        </p:txBody>
      </p:sp>
      <p:sp>
        <p:nvSpPr>
          <p:cNvPr id="22" name="Shape 20"/>
          <p:cNvSpPr/>
          <p:nvPr/>
        </p:nvSpPr>
        <p:spPr>
          <a:xfrm>
            <a:off x="1432560" y="3230880"/>
            <a:ext cx="1767840" cy="1584960"/>
          </a:xfrm>
          <a:prstGeom prst="roundRect">
            <a:avLst>
              <a:gd name="adj" fmla="val 9231"/>
            </a:avLst>
          </a:prstGeom>
          <a:solidFill>
            <a:srgbClr val="1A8A7D"/>
          </a:solidFill>
          <a:ln/>
          <a:effectLst>
            <a:outerShdw sx="100000" sy="100000" kx="0" ky="0" algn="bl" rotWithShape="0" blurRad="63500" dist="25400" dir="8100000">
              <a:srgbClr val="000000">
                <a:alpha val="15000"/>
              </a:srgbClr>
            </a:outerShdw>
          </a:effectLst>
        </p:spPr>
      </p:sp>
      <p:sp>
        <p:nvSpPr>
          <p:cNvPr id="23" name="Text 21"/>
          <p:cNvSpPr/>
          <p:nvPr/>
        </p:nvSpPr>
        <p:spPr>
          <a:xfrm>
            <a:off x="1432560" y="3304032"/>
            <a:ext cx="1767840" cy="304800"/>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7</a:t>
            </a:r>
            <a:endParaRPr lang="en-US" sz="900" dirty="0"/>
          </a:p>
        </p:txBody>
      </p:sp>
      <p:sp>
        <p:nvSpPr>
          <p:cNvPr id="24" name="Text 22"/>
          <p:cNvSpPr/>
          <p:nvPr/>
        </p:nvSpPr>
        <p:spPr>
          <a:xfrm>
            <a:off x="1432560" y="3572256"/>
            <a:ext cx="1767840" cy="4267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US Regions Gallery</a:t>
            </a:r>
            <a:endParaRPr lang="en-US" sz="1600" dirty="0"/>
          </a:p>
        </p:txBody>
      </p:sp>
      <p:sp>
        <p:nvSpPr>
          <p:cNvPr id="25" name="Shape 23"/>
          <p:cNvSpPr/>
          <p:nvPr/>
        </p:nvSpPr>
        <p:spPr>
          <a:xfrm>
            <a:off x="3322320" y="3230880"/>
            <a:ext cx="1767840" cy="1584960"/>
          </a:xfrm>
          <a:prstGeom prst="roundRect">
            <a:avLst>
              <a:gd name="adj" fmla="val 9231"/>
            </a:avLst>
          </a:prstGeom>
          <a:solidFill>
            <a:srgbClr val="1A8A7D"/>
          </a:solidFill>
          <a:ln/>
          <a:effectLst>
            <a:outerShdw sx="100000" sy="100000" kx="0" ky="0" algn="bl" rotWithShape="0" blurRad="63500" dist="25400" dir="8100000">
              <a:srgbClr val="000000">
                <a:alpha val="15000"/>
              </a:srgbClr>
            </a:outerShdw>
          </a:effectLst>
        </p:spPr>
      </p:sp>
      <p:sp>
        <p:nvSpPr>
          <p:cNvPr id="26" name="Text 24"/>
          <p:cNvSpPr/>
          <p:nvPr/>
        </p:nvSpPr>
        <p:spPr>
          <a:xfrm>
            <a:off x="3322320" y="3304032"/>
            <a:ext cx="1767840" cy="304800"/>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8</a:t>
            </a:r>
            <a:endParaRPr lang="en-US" sz="900" dirty="0"/>
          </a:p>
        </p:txBody>
      </p:sp>
      <p:sp>
        <p:nvSpPr>
          <p:cNvPr id="27" name="Text 25"/>
          <p:cNvSpPr/>
          <p:nvPr/>
        </p:nvSpPr>
        <p:spPr>
          <a:xfrm>
            <a:off x="3322320" y="3572256"/>
            <a:ext cx="1767840" cy="4267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Regional Council Hall</a:t>
            </a:r>
            <a:endParaRPr lang="en-US" sz="1600" dirty="0"/>
          </a:p>
        </p:txBody>
      </p:sp>
      <p:sp>
        <p:nvSpPr>
          <p:cNvPr id="28" name="Shape 26"/>
          <p:cNvSpPr/>
          <p:nvPr/>
        </p:nvSpPr>
        <p:spPr>
          <a:xfrm>
            <a:off x="5212080" y="3230880"/>
            <a:ext cx="1767840" cy="1584960"/>
          </a:xfrm>
          <a:prstGeom prst="roundRect">
            <a:avLst>
              <a:gd name="adj" fmla="val 9231"/>
            </a:avLst>
          </a:prstGeom>
          <a:solidFill>
            <a:srgbClr val="1A8A7D"/>
          </a:solidFill>
          <a:ln/>
          <a:effectLst>
            <a:outerShdw sx="100000" sy="100000" kx="0" ky="0" algn="bl" rotWithShape="0" blurRad="63500" dist="25400" dir="8100000">
              <a:srgbClr val="000000">
                <a:alpha val="15000"/>
              </a:srgbClr>
            </a:outerShdw>
          </a:effectLst>
        </p:spPr>
      </p:sp>
      <p:sp>
        <p:nvSpPr>
          <p:cNvPr id="29" name="Text 27"/>
          <p:cNvSpPr/>
          <p:nvPr/>
        </p:nvSpPr>
        <p:spPr>
          <a:xfrm>
            <a:off x="5212080" y="3304032"/>
            <a:ext cx="1767840" cy="304800"/>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9</a:t>
            </a:r>
            <a:endParaRPr lang="en-US" sz="900" dirty="0"/>
          </a:p>
        </p:txBody>
      </p:sp>
      <p:sp>
        <p:nvSpPr>
          <p:cNvPr id="30" name="Text 28"/>
          <p:cNvSpPr/>
          <p:nvPr/>
        </p:nvSpPr>
        <p:spPr>
          <a:xfrm>
            <a:off x="5212080" y="3572256"/>
            <a:ext cx="1767840" cy="4267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Marketplace Hall</a:t>
            </a:r>
            <a:endParaRPr lang="en-US" sz="1600" dirty="0"/>
          </a:p>
        </p:txBody>
      </p:sp>
      <p:sp>
        <p:nvSpPr>
          <p:cNvPr id="31" name="Shape 29"/>
          <p:cNvSpPr/>
          <p:nvPr/>
        </p:nvSpPr>
        <p:spPr>
          <a:xfrm>
            <a:off x="7101840" y="3230880"/>
            <a:ext cx="1767840" cy="1584960"/>
          </a:xfrm>
          <a:prstGeom prst="roundRect">
            <a:avLst>
              <a:gd name="adj" fmla="val 9231"/>
            </a:avLst>
          </a:prstGeom>
          <a:solidFill>
            <a:srgbClr val="1A8A7D"/>
          </a:solidFill>
          <a:ln/>
          <a:effectLst>
            <a:outerShdw sx="100000" sy="100000" kx="0" ky="0" algn="bl" rotWithShape="0" blurRad="63500" dist="25400" dir="8100000">
              <a:srgbClr val="000000">
                <a:alpha val="15000"/>
              </a:srgbClr>
            </a:outerShdw>
          </a:effectLst>
        </p:spPr>
      </p:sp>
      <p:sp>
        <p:nvSpPr>
          <p:cNvPr id="32" name="Text 30"/>
          <p:cNvSpPr/>
          <p:nvPr/>
        </p:nvSpPr>
        <p:spPr>
          <a:xfrm>
            <a:off x="7101840" y="3304032"/>
            <a:ext cx="1767840" cy="304800"/>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10</a:t>
            </a:r>
            <a:endParaRPr lang="en-US" sz="900" dirty="0"/>
          </a:p>
        </p:txBody>
      </p:sp>
      <p:sp>
        <p:nvSpPr>
          <p:cNvPr id="33" name="Text 31"/>
          <p:cNvSpPr/>
          <p:nvPr/>
        </p:nvSpPr>
        <p:spPr>
          <a:xfrm>
            <a:off x="7101840" y="3572256"/>
            <a:ext cx="1767840" cy="4267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Citizenship Hall</a:t>
            </a:r>
            <a:endParaRPr lang="en-US" sz="1600" dirty="0"/>
          </a:p>
        </p:txBody>
      </p:sp>
      <p:sp>
        <p:nvSpPr>
          <p:cNvPr id="34" name="Shape 32"/>
          <p:cNvSpPr/>
          <p:nvPr/>
        </p:nvSpPr>
        <p:spPr>
          <a:xfrm>
            <a:off x="8991600" y="3230880"/>
            <a:ext cx="1767840" cy="1584960"/>
          </a:xfrm>
          <a:prstGeom prst="roundRect">
            <a:avLst>
              <a:gd name="adj" fmla="val 9231"/>
            </a:avLst>
          </a:prstGeom>
          <a:solidFill>
            <a:srgbClr val="1A8A7D"/>
          </a:solidFill>
          <a:ln/>
          <a:effectLst>
            <a:outerShdw sx="100000" sy="100000" kx="0" ky="0" algn="bl" rotWithShape="0" blurRad="63500" dist="25400" dir="8100000">
              <a:srgbClr val="000000">
                <a:alpha val="15000"/>
              </a:srgbClr>
            </a:outerShdw>
          </a:effectLst>
        </p:spPr>
      </p:sp>
      <p:sp>
        <p:nvSpPr>
          <p:cNvPr id="35" name="Text 33"/>
          <p:cNvSpPr/>
          <p:nvPr/>
        </p:nvSpPr>
        <p:spPr>
          <a:xfrm>
            <a:off x="8991600" y="3304032"/>
            <a:ext cx="1767840" cy="304800"/>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11</a:t>
            </a:r>
            <a:endParaRPr lang="en-US" sz="900" dirty="0"/>
          </a:p>
        </p:txBody>
      </p:sp>
      <p:sp>
        <p:nvSpPr>
          <p:cNvPr id="36" name="Text 34"/>
          <p:cNvSpPr/>
          <p:nvPr/>
        </p:nvSpPr>
        <p:spPr>
          <a:xfrm>
            <a:off x="8991600" y="3572256"/>
            <a:ext cx="1767840" cy="4267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Grand Exhibition Hall</a:t>
            </a:r>
            <a:endParaRPr lang="en-US" sz="1600" dirty="0"/>
          </a:p>
        </p:txBody>
      </p:sp>
      <p:sp>
        <p:nvSpPr>
          <p:cNvPr id="37" name="Text 35"/>
          <p:cNvSpPr/>
          <p:nvPr/>
        </p:nvSpPr>
        <p:spPr>
          <a:xfrm>
            <a:off x="731520" y="5181600"/>
            <a:ext cx="10728960" cy="609600"/>
          </a:xfrm>
          <a:prstGeom prst="rect">
            <a:avLst/>
          </a:prstGeom>
          <a:noFill/>
          <a:ln/>
        </p:spPr>
        <p:txBody>
          <a:bodyPr wrap="square" lIns="0" tIns="0" rIns="0" bIns="0" rtlCol="0" anchor="ctr"/>
          <a:lstStyle/>
          <a:p>
            <a:pPr algn="ctr" indent="0" marL="0">
              <a:buNone/>
            </a:pPr>
            <a:r>
              <a:rPr lang="en-US" sz="1300" i="1" dirty="0">
                <a:solidFill>
                  <a:srgbClr val="D4943A"/>
                </a:solidFill>
                <a:latin typeface="Calibri" pitchFamily="34" charset="0"/>
                <a:ea typeface="Calibri" pitchFamily="34" charset="-122"/>
                <a:cs typeface="Calibri" pitchFamily="34" charset="-120"/>
              </a:rPr>
              <a:t>Every room was practice for one of four habits. Today you find out which ones.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365760"/>
            <a:ext cx="11216640" cy="85344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You Might Not Remember Day One...</a:t>
            </a:r>
            <a:endParaRPr lang="en-US" sz="3000" dirty="0"/>
          </a:p>
        </p:txBody>
      </p:sp>
      <p:sp>
        <p:nvSpPr>
          <p:cNvPr id="3" name="Shape 1"/>
          <p:cNvSpPr/>
          <p:nvPr/>
        </p:nvSpPr>
        <p:spPr>
          <a:xfrm>
            <a:off x="487680" y="1402080"/>
            <a:ext cx="6096000" cy="3535680"/>
          </a:xfrm>
          <a:prstGeom prst="roundRect">
            <a:avLst>
              <a:gd name="adj" fmla="val 4138"/>
            </a:avLst>
          </a:prstGeom>
          <a:solidFill>
            <a:srgbClr val="E2E8F4"/>
          </a:solidFill>
          <a:ln w="19050">
            <a:solidFill>
              <a:srgbClr val="B0B8CC"/>
            </a:solidFill>
            <a:prstDash val="dash"/>
          </a:ln>
        </p:spPr>
      </p:sp>
      <p:sp>
        <p:nvSpPr>
          <p:cNvPr id="4" name="Text 2"/>
          <p:cNvSpPr/>
          <p:nvPr/>
        </p:nvSpPr>
        <p:spPr>
          <a:xfrm>
            <a:off x="487680" y="1402080"/>
            <a:ext cx="60960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5" name="Text 3"/>
          <p:cNvSpPr/>
          <p:nvPr/>
        </p:nvSpPr>
        <p:spPr>
          <a:xfrm>
            <a:off x="670560" y="1767840"/>
            <a:ext cx="5730240" cy="30480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Side-by-side flip cards: a fuzzy chalkboard sketch labeled 'THEN' next to a sharp, detailed museum panel labeled 'NOW,' museum-exhibit label style</a:t>
            </a:r>
            <a:endParaRPr lang="en-US" sz="1100" dirty="0"/>
          </a:p>
        </p:txBody>
      </p:sp>
      <p:sp>
        <p:nvSpPr>
          <p:cNvPr id="6" name="Shape 4"/>
          <p:cNvSpPr/>
          <p:nvPr/>
        </p:nvSpPr>
        <p:spPr>
          <a:xfrm>
            <a:off x="6827520" y="1402080"/>
            <a:ext cx="4511040" cy="3535680"/>
          </a:xfrm>
          <a:prstGeom prst="roundRect">
            <a:avLst>
              <a:gd name="adj" fmla="val 3448"/>
            </a:avLst>
          </a:prstGeom>
          <a:solidFill>
            <a:srgbClr val="F0F2F8"/>
          </a:solidFill>
          <a:ln/>
        </p:spPr>
      </p:sp>
      <p:sp>
        <p:nvSpPr>
          <p:cNvPr id="7" name="Text 5"/>
          <p:cNvSpPr/>
          <p:nvPr/>
        </p:nvSpPr>
        <p:spPr>
          <a:xfrm>
            <a:off x="7010400" y="1560576"/>
            <a:ext cx="4145280" cy="1036320"/>
          </a:xfrm>
          <a:prstGeom prst="rect">
            <a:avLst/>
          </a:prstGeom>
          <a:noFill/>
          <a:ln/>
        </p:spPr>
        <p:txBody>
          <a:bodyPr wrap="square" lIns="0" tIns="0" rIns="0" bIns="0" rtlCol="0" anchor="t"/>
          <a:lstStyle/>
          <a:p>
            <a:pPr indent="0" marL="0">
              <a:lnSpc>
                <a:spcPct val="105000"/>
              </a:lnSpc>
              <a:buNone/>
            </a:pPr>
            <a:r>
              <a:rPr lang="en-US" sz="1050" b="1" dirty="0">
                <a:solidFill>
                  <a:srgbClr val="E8636B"/>
                </a:solidFill>
                <a:latin typeface="Calibri" pitchFamily="34" charset="0"/>
                <a:ea typeface="Calibri" pitchFamily="34" charset="-122"/>
                <a:cs typeface="Calibri" pitchFamily="34" charset="-120"/>
              </a:rPr>
              <a:t>THEN: “A map is just a picture.”</a:t>
            </a:r>
            <a:endParaRPr lang="en-US" sz="1050" dirty="0"/>
          </a:p>
          <a:p>
            <a:pPr indent="0" marL="0">
              <a:lnSpc>
                <a:spcPct val="105000"/>
              </a:lnSpc>
              <a:buNone/>
            </a:pPr>
            <a:r>
              <a:rPr lang="en-US" sz="1050" b="1" dirty="0">
                <a:solidFill>
                  <a:srgbClr val="34B76F"/>
                </a:solidFill>
                <a:latin typeface="Calibri" pitchFamily="34" charset="0"/>
                <a:ea typeface="Calibri" pitchFamily="34" charset="-122"/>
                <a:cs typeface="Calibri" pitchFamily="34" charset="-120"/>
              </a:rPr>
              <a:t>NOW: “A map is a tool -- I can read titles, compass roses, scales, and legends.”</a:t>
            </a:r>
            <a:endParaRPr lang="en-US" sz="1050" dirty="0"/>
          </a:p>
        </p:txBody>
      </p:sp>
      <p:sp>
        <p:nvSpPr>
          <p:cNvPr id="8" name="Text 6"/>
          <p:cNvSpPr/>
          <p:nvPr/>
        </p:nvSpPr>
        <p:spPr>
          <a:xfrm>
            <a:off x="7010400" y="2682240"/>
            <a:ext cx="4145280" cy="1036320"/>
          </a:xfrm>
          <a:prstGeom prst="rect">
            <a:avLst/>
          </a:prstGeom>
          <a:noFill/>
          <a:ln/>
        </p:spPr>
        <p:txBody>
          <a:bodyPr wrap="square" lIns="0" tIns="0" rIns="0" bIns="0" rtlCol="0" anchor="t"/>
          <a:lstStyle/>
          <a:p>
            <a:pPr indent="0" marL="0">
              <a:lnSpc>
                <a:spcPct val="105000"/>
              </a:lnSpc>
              <a:buNone/>
            </a:pPr>
            <a:r>
              <a:rPr lang="en-US" sz="1050" b="1" dirty="0">
                <a:solidFill>
                  <a:srgbClr val="E8636B"/>
                </a:solidFill>
                <a:latin typeface="Calibri" pitchFamily="34" charset="0"/>
                <a:ea typeface="Calibri" pitchFamily="34" charset="-122"/>
                <a:cs typeface="Calibri" pitchFamily="34" charset="-120"/>
              </a:rPr>
              <a:t>THEN: “If I read it, it's probably true.”</a:t>
            </a:r>
            <a:endParaRPr lang="en-US" sz="1050" dirty="0"/>
          </a:p>
          <a:p>
            <a:pPr indent="0" marL="0">
              <a:lnSpc>
                <a:spcPct val="105000"/>
              </a:lnSpc>
              <a:buNone/>
            </a:pPr>
            <a:r>
              <a:rPr lang="en-US" sz="1050" b="1" dirty="0">
                <a:solidFill>
                  <a:srgbClr val="34B76F"/>
                </a:solidFill>
                <a:latin typeface="Calibri" pitchFamily="34" charset="0"/>
                <a:ea typeface="Calibri" pitchFamily="34" charset="-122"/>
                <a:cs typeface="Calibri" pitchFamily="34" charset="-120"/>
              </a:rPr>
              <a:t>NOW: “I check the source. Primary or secondary? Who said it, and what proof do they have?”</a:t>
            </a:r>
            <a:endParaRPr lang="en-US" sz="1050" dirty="0"/>
          </a:p>
        </p:txBody>
      </p:sp>
      <p:sp>
        <p:nvSpPr>
          <p:cNvPr id="9" name="Text 7"/>
          <p:cNvSpPr/>
          <p:nvPr/>
        </p:nvSpPr>
        <p:spPr>
          <a:xfrm>
            <a:off x="7010400" y="3803904"/>
            <a:ext cx="4145280" cy="1036320"/>
          </a:xfrm>
          <a:prstGeom prst="rect">
            <a:avLst/>
          </a:prstGeom>
          <a:noFill/>
          <a:ln/>
        </p:spPr>
        <p:txBody>
          <a:bodyPr wrap="square" lIns="0" tIns="0" rIns="0" bIns="0" rtlCol="0" anchor="t"/>
          <a:lstStyle/>
          <a:p>
            <a:pPr indent="0" marL="0">
              <a:lnSpc>
                <a:spcPct val="105000"/>
              </a:lnSpc>
              <a:buNone/>
            </a:pPr>
            <a:r>
              <a:rPr lang="en-US" sz="1050" b="1" dirty="0">
                <a:solidFill>
                  <a:srgbClr val="E8636B"/>
                </a:solidFill>
                <a:latin typeface="Calibri" pitchFamily="34" charset="0"/>
                <a:ea typeface="Calibri" pitchFamily="34" charset="-122"/>
                <a:cs typeface="Calibri" pitchFamily="34" charset="-120"/>
              </a:rPr>
              <a:t>THEN: “Government is just adults making rules.”</a:t>
            </a:r>
            <a:endParaRPr lang="en-US" sz="1050" dirty="0"/>
          </a:p>
          <a:p>
            <a:pPr indent="0" marL="0">
              <a:lnSpc>
                <a:spcPct val="105000"/>
              </a:lnSpc>
              <a:buNone/>
            </a:pPr>
            <a:r>
              <a:rPr lang="en-US" sz="1050" b="1" dirty="0">
                <a:solidFill>
                  <a:srgbClr val="34B76F"/>
                </a:solidFill>
                <a:latin typeface="Calibri" pitchFamily="34" charset="0"/>
                <a:ea typeface="Calibri" pitchFamily="34" charset="-122"/>
                <a:cs typeface="Calibri" pitchFamily="34" charset="-120"/>
              </a:rPr>
              <a:t>NOW: “Government is how communities organize, choose leaders, and protect rights.”</a:t>
            </a:r>
            <a:endParaRPr lang="en-US" sz="1050" dirty="0"/>
          </a:p>
        </p:txBody>
      </p:sp>
      <p:sp>
        <p:nvSpPr>
          <p:cNvPr id="10" name="Shape 8"/>
          <p:cNvSpPr/>
          <p:nvPr/>
        </p:nvSpPr>
        <p:spPr>
          <a:xfrm>
            <a:off x="487680" y="5181600"/>
            <a:ext cx="10972800" cy="1219200"/>
          </a:xfrm>
          <a:prstGeom prst="roundRect">
            <a:avLst>
              <a:gd name="adj" fmla="val 12000"/>
            </a:avLst>
          </a:prstGeom>
          <a:solidFill>
            <a:srgbClr val="FFF3DC"/>
          </a:solidFill>
          <a:ln w="19050">
            <a:solidFill>
              <a:srgbClr val="F5E6C8"/>
            </a:solidFill>
            <a:prstDash val="solid"/>
          </a:ln>
        </p:spPr>
      </p:sp>
      <p:sp>
        <p:nvSpPr>
          <p:cNvPr id="11" name="Text 9"/>
          <p:cNvSpPr/>
          <p:nvPr/>
        </p:nvSpPr>
        <p:spPr>
          <a:xfrm>
            <a:off x="670560" y="5254752"/>
            <a:ext cx="1060704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670560" y="5522976"/>
            <a:ext cx="10607040" cy="7924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"At first I thought... but now I know..."</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biggest way I've changed this year is..."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365760"/>
            <a:ext cx="11216640" cy="85344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What Pattern Do You Notice?</a:t>
            </a:r>
            <a:endParaRPr lang="en-US" sz="3000" dirty="0"/>
          </a:p>
        </p:txBody>
      </p:sp>
      <p:sp>
        <p:nvSpPr>
          <p:cNvPr id="3" name="Text 1"/>
          <p:cNvSpPr/>
          <p:nvPr/>
        </p:nvSpPr>
        <p:spPr>
          <a:xfrm>
            <a:off x="487680" y="1402080"/>
            <a:ext cx="6096000" cy="1950720"/>
          </a:xfrm>
          <a:prstGeom prst="rect">
            <a:avLst/>
          </a:prstGeom>
          <a:noFill/>
          <a:ln/>
        </p:spPr>
        <p:txBody>
          <a:bodyPr wrap="square" lIns="0" tIns="0" rIns="0" bIns="0" rtlCol="0" anchor="t"/>
          <a:lstStyle/>
          <a:p>
            <a:pPr indent="0" marL="0">
              <a:lnSpc>
                <a:spcPct val="115000"/>
              </a:lnSpc>
              <a:buNone/>
            </a:pPr>
            <a:r>
              <a:rPr lang="en-US" sz="1300" dirty="0">
                <a:solidFill>
                  <a:srgbClr val="0E1C42"/>
                </a:solidFill>
                <a:latin typeface="Calibri" pitchFamily="34" charset="0"/>
                <a:ea typeface="Calibri" pitchFamily="34" charset="-122"/>
                <a:cs typeface="Calibri" pitchFamily="34" charset="-120"/>
              </a:rPr>
              <a:t>Look across all the Then/Now examples -- maps, sources, government, and more. They're not really about facts. They're about how you think now compared to how you thought before.</a:t>
            </a:r>
            <a:endParaRPr lang="en-US" sz="1300" dirty="0"/>
          </a:p>
        </p:txBody>
      </p:sp>
      <p:sp>
        <p:nvSpPr>
          <p:cNvPr id="4" name="Shape 2"/>
          <p:cNvSpPr/>
          <p:nvPr/>
        </p:nvSpPr>
        <p:spPr>
          <a:xfrm>
            <a:off x="487680" y="3474720"/>
            <a:ext cx="6096000" cy="1828800"/>
          </a:xfrm>
          <a:prstGeom prst="roundRect">
            <a:avLst>
              <a:gd name="adj" fmla="val 8000"/>
            </a:avLst>
          </a:prstGeom>
          <a:solidFill>
            <a:srgbClr val="FFF3DC"/>
          </a:solidFill>
          <a:ln w="19050">
            <a:solidFill>
              <a:srgbClr val="F5E6C8"/>
            </a:solidFill>
            <a:prstDash val="solid"/>
          </a:ln>
        </p:spPr>
      </p:sp>
      <p:sp>
        <p:nvSpPr>
          <p:cNvPr id="5" name="Text 3"/>
          <p:cNvSpPr/>
          <p:nvPr/>
        </p:nvSpPr>
        <p:spPr>
          <a:xfrm>
            <a:off x="670560" y="3547872"/>
            <a:ext cx="573024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6" name="Text 4"/>
          <p:cNvSpPr/>
          <p:nvPr/>
        </p:nvSpPr>
        <p:spPr>
          <a:xfrm>
            <a:off x="670560" y="3816096"/>
            <a:ext cx="5730240" cy="14020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that all the 'Now' answers have..."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thing I can DO now that I couldn't do before is..."</a:t>
            </a:r>
            <a:endParaRPr lang="en-US" sz="1200" dirty="0"/>
          </a:p>
        </p:txBody>
      </p:sp>
      <p:sp>
        <p:nvSpPr>
          <p:cNvPr id="7" name="Shape 5"/>
          <p:cNvSpPr/>
          <p:nvPr/>
        </p:nvSpPr>
        <p:spPr>
          <a:xfrm>
            <a:off x="6827520" y="1402080"/>
            <a:ext cx="4511040" cy="3901440"/>
          </a:xfrm>
          <a:prstGeom prst="roundRect">
            <a:avLst>
              <a:gd name="adj" fmla="val 4687"/>
            </a:avLst>
          </a:prstGeom>
          <a:solidFill>
            <a:srgbClr val="1A2D5A"/>
          </a:solidFill>
          <a:ln/>
          <a:effectLst>
            <a:outerShdw sx="100000" sy="100000" kx="0" ky="0" algn="bl" rotWithShape="0" blurRad="101600" dist="38100" dir="8100000">
              <a:srgbClr val="000000">
                <a:alpha val="20000"/>
              </a:srgbClr>
            </a:outerShdw>
          </a:effectLst>
        </p:spPr>
      </p:sp>
      <p:sp>
        <p:nvSpPr>
          <p:cNvPr id="8" name="Text 6"/>
          <p:cNvSpPr/>
          <p:nvPr/>
        </p:nvSpPr>
        <p:spPr>
          <a:xfrm>
            <a:off x="7071360" y="1524000"/>
            <a:ext cx="4023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9" name="Text 7"/>
          <p:cNvSpPr/>
          <p:nvPr/>
        </p:nvSpPr>
        <p:spPr>
          <a:xfrm>
            <a:off x="7071360" y="1865376"/>
            <a:ext cx="4023360" cy="331622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all the 'Now' answers have in common?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What's one thing you can DO now that you couldn't do at the start of the year?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that a fact you memorized, or a skill you use?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487680" y="97536"/>
            <a:ext cx="11216640" cy="304800"/>
          </a:xfrm>
          <a:prstGeom prst="rect">
            <a:avLst/>
          </a:prstGeom>
          <a:noFill/>
          <a:ln/>
        </p:spPr>
        <p:txBody>
          <a:bodyPr wrap="square" lIns="0" tIns="0" rIns="0" bIns="0"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WHAT YOU DISCOVERED</a:t>
            </a:r>
            <a:endParaRPr lang="en-US" sz="1000" dirty="0"/>
          </a:p>
        </p:txBody>
      </p:sp>
      <p:sp>
        <p:nvSpPr>
          <p:cNvPr id="3" name="Text 1"/>
          <p:cNvSpPr/>
          <p:nvPr/>
        </p:nvSpPr>
        <p:spPr>
          <a:xfrm>
            <a:off x="609600" y="1219200"/>
            <a:ext cx="10972800" cy="1219200"/>
          </a:xfrm>
          <a:prstGeom prst="rect">
            <a:avLst/>
          </a:prstGeom>
          <a:noFill/>
          <a:ln/>
        </p:spPr>
        <p:txBody>
          <a:bodyPr wrap="square" lIns="0" tIns="0" rIns="0" bIns="0" rtlCol="0" anchor="ctr"/>
          <a:lstStyle/>
          <a:p>
            <a:pPr algn="ctr" indent="0" marL="0">
              <a:buNone/>
            </a:pPr>
            <a:r>
              <a:rPr lang="en-US" sz="2600" b="1" dirty="0">
                <a:solidFill>
                  <a:srgbClr val="D4943A"/>
                </a:solidFill>
                <a:latin typeface="Cambria" pitchFamily="34" charset="0"/>
                <a:ea typeface="Cambria" pitchFamily="34" charset="-122"/>
                <a:cs typeface="Cambria" pitchFamily="34" charset="-120"/>
              </a:rPr>
              <a:t>You Didn't Just Learn Facts. You Became Someone New.</a:t>
            </a:r>
            <a:endParaRPr lang="en-US" sz="2600" dirty="0"/>
          </a:p>
        </p:txBody>
      </p:sp>
      <p:sp>
        <p:nvSpPr>
          <p:cNvPr id="4" name="Text 2"/>
          <p:cNvSpPr/>
          <p:nvPr/>
        </p:nvSpPr>
        <p:spPr>
          <a:xfrm>
            <a:off x="1097280" y="2621280"/>
            <a:ext cx="9997440" cy="1828800"/>
          </a:xfrm>
          <a:prstGeom prst="rect">
            <a:avLst/>
          </a:prstGeom>
          <a:noFill/>
          <a:ln/>
        </p:spPr>
        <p:txBody>
          <a:bodyPr wrap="square" lIns="0" tIns="0" rIns="0" bIns="0" rtlCol="0" anchor="t"/>
          <a:lstStyle/>
          <a:p>
            <a:pPr algn="ctr" indent="0" marL="0">
              <a:lnSpc>
                <a:spcPct val="120000"/>
              </a:lnSpc>
              <a:buNone/>
            </a:pPr>
            <a:r>
              <a:rPr lang="en-US" sz="1500" dirty="0">
                <a:solidFill>
                  <a:srgbClr val="E4E9F5"/>
                </a:solidFill>
                <a:latin typeface="Calibri" pitchFamily="34" charset="0"/>
                <a:ea typeface="Calibri" pitchFamily="34" charset="-122"/>
                <a:cs typeface="Calibri" pitchFamily="34" charset="-120"/>
              </a:rPr>
              <a:t>The same person who walked into the Curator Training Hall back in Week 1 is now someone who can read a map like a tool, check a source before believing it, and see a government at work. That's not a fact you memorized. That's a skill you built.</a:t>
            </a:r>
            <a:endParaRPr lang="en-US" sz="1500" dirty="0"/>
          </a:p>
        </p:txBody>
      </p:sp>
      <p:sp>
        <p:nvSpPr>
          <p:cNvPr id="5" name="Text 3"/>
          <p:cNvSpPr/>
          <p:nvPr/>
        </p:nvSpPr>
        <p:spPr>
          <a:xfrm>
            <a:off x="1097280" y="5364480"/>
            <a:ext cx="9997440" cy="853440"/>
          </a:xfrm>
          <a:prstGeom prst="rect">
            <a:avLst/>
          </a:prstGeom>
          <a:noFill/>
          <a:ln/>
        </p:spPr>
        <p:txBody>
          <a:bodyPr wrap="square" lIns="0" tIns="0" rIns="0" bIns="0" rtlCol="0" anchor="t"/>
          <a:lstStyle/>
          <a:p>
            <a:pPr algn="ctr" indent="0" marL="0">
              <a:buNone/>
            </a:pPr>
            <a:r>
              <a:rPr lang="en-US" sz="1200" i="1" dirty="0">
                <a:solidFill>
                  <a:srgbClr val="55C8E8"/>
                </a:solidFill>
                <a:latin typeface="Calibri" pitchFamily="34" charset="0"/>
                <a:ea typeface="Calibri" pitchFamily="34" charset="-122"/>
                <a:cs typeface="Calibri" pitchFamily="34" charset="-120"/>
              </a:rPr>
              <a:t>Retrieval Challenge: Without looking back, name one skill you have now that you didn't have on the first day of school.</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365760"/>
            <a:ext cx="11216640" cy="85344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Not Every Room Was Easy</a:t>
            </a:r>
            <a:endParaRPr lang="en-US" sz="3000" dirty="0"/>
          </a:p>
        </p:txBody>
      </p:sp>
      <p:sp>
        <p:nvSpPr>
          <p:cNvPr id="3" name="Shape 1"/>
          <p:cNvSpPr/>
          <p:nvPr/>
        </p:nvSpPr>
        <p:spPr>
          <a:xfrm>
            <a:off x="487680" y="1402080"/>
            <a:ext cx="6096000" cy="3535680"/>
          </a:xfrm>
          <a:prstGeom prst="roundRect">
            <a:avLst>
              <a:gd name="adj" fmla="val 4138"/>
            </a:avLst>
          </a:prstGeom>
          <a:solidFill>
            <a:srgbClr val="E2E8F4"/>
          </a:solidFill>
          <a:ln w="19050">
            <a:solidFill>
              <a:srgbClr val="B0B8CC"/>
            </a:solidFill>
            <a:prstDash val="dash"/>
          </a:ln>
        </p:spPr>
      </p:sp>
      <p:sp>
        <p:nvSpPr>
          <p:cNvPr id="4" name="Text 2"/>
          <p:cNvSpPr/>
          <p:nvPr/>
        </p:nvSpPr>
        <p:spPr>
          <a:xfrm>
            <a:off x="487680" y="1402080"/>
            <a:ext cx="60960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5" name="Text 3"/>
          <p:cNvSpPr/>
          <p:nvPr/>
        </p:nvSpPr>
        <p:spPr>
          <a:xfrm>
            <a:off x="670560" y="1767840"/>
            <a:ext cx="5730240" cy="30480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museum curator character pausing thoughtfully in front of a half-finished exhibit panel, looking determined rather than discouraged, warm lighting</a:t>
            </a:r>
            <a:endParaRPr lang="en-US" sz="1100" dirty="0"/>
          </a:p>
        </p:txBody>
      </p:sp>
      <p:sp>
        <p:nvSpPr>
          <p:cNvPr id="6" name="Shape 4"/>
          <p:cNvSpPr/>
          <p:nvPr/>
        </p:nvSpPr>
        <p:spPr>
          <a:xfrm>
            <a:off x="6827520" y="1402080"/>
            <a:ext cx="4511040" cy="3535680"/>
          </a:xfrm>
          <a:prstGeom prst="roundRect">
            <a:avLst>
              <a:gd name="adj" fmla="val 3448"/>
            </a:avLst>
          </a:prstGeom>
          <a:solidFill>
            <a:srgbClr val="F0F2F8"/>
          </a:solidFill>
          <a:ln/>
        </p:spPr>
      </p:sp>
      <p:sp>
        <p:nvSpPr>
          <p:cNvPr id="7" name="Text 5"/>
          <p:cNvSpPr/>
          <p:nvPr/>
        </p:nvSpPr>
        <p:spPr>
          <a:xfrm>
            <a:off x="7071360" y="1645920"/>
            <a:ext cx="4023360" cy="3048000"/>
          </a:xfrm>
          <a:prstGeom prst="rect">
            <a:avLst/>
          </a:prstGeom>
          <a:noFill/>
          <a:ln/>
        </p:spPr>
        <p:txBody>
          <a:bodyPr wrap="square" lIns="0" tIns="0" rIns="0" bIns="0" rtlCol="0" anchor="t"/>
          <a:lstStyle/>
          <a:p>
            <a:pPr indent="0" marL="0">
              <a:lnSpc>
                <a:spcPct val="120000"/>
              </a:lnSpc>
              <a:buNone/>
            </a:pPr>
            <a:r>
              <a:rPr lang="en-US" sz="1300" dirty="0">
                <a:solidFill>
                  <a:srgbClr val="0E1C42"/>
                </a:solidFill>
                <a:latin typeface="Calibri" pitchFamily="34" charset="0"/>
                <a:ea typeface="Calibri" pitchFamily="34" charset="-122"/>
                <a:cs typeface="Calibri" pitchFamily="34" charset="-120"/>
              </a:rPr>
              <a:t>Some rooms were easy. Some rooms were hard -- maybe a map with too many symbols, a tricky source, or a debate where you weren't sure who was right. Even the hardest parts of the year taught you something.</a:t>
            </a:r>
            <a:endParaRPr lang="en-US" sz="1300" dirty="0"/>
          </a:p>
        </p:txBody>
      </p:sp>
      <p:sp>
        <p:nvSpPr>
          <p:cNvPr id="8" name="Shape 6"/>
          <p:cNvSpPr/>
          <p:nvPr/>
        </p:nvSpPr>
        <p:spPr>
          <a:xfrm>
            <a:off x="487680" y="5181600"/>
            <a:ext cx="10972800" cy="1219200"/>
          </a:xfrm>
          <a:prstGeom prst="roundRect">
            <a:avLst>
              <a:gd name="adj" fmla="val 12000"/>
            </a:avLst>
          </a:prstGeom>
          <a:solidFill>
            <a:srgbClr val="FFF3DC"/>
          </a:solidFill>
          <a:ln w="19050">
            <a:solidFill>
              <a:srgbClr val="F5E6C8"/>
            </a:solidFill>
            <a:prstDash val="solid"/>
          </a:ln>
        </p:spPr>
      </p:sp>
      <p:sp>
        <p:nvSpPr>
          <p:cNvPr id="9" name="Text 7"/>
          <p:cNvSpPr/>
          <p:nvPr/>
        </p:nvSpPr>
        <p:spPr>
          <a:xfrm>
            <a:off x="670560" y="5254752"/>
            <a:ext cx="1060704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670560" y="5522976"/>
            <a:ext cx="10607040" cy="7924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hardest part of this year for me was..."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"That hard part taught me..."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365760"/>
            <a:ext cx="11216640" cy="85344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What Did the Hard Part Teach You?</a:t>
            </a:r>
            <a:endParaRPr lang="en-US" sz="3000" dirty="0"/>
          </a:p>
        </p:txBody>
      </p:sp>
      <p:sp>
        <p:nvSpPr>
          <p:cNvPr id="3" name="Text 1"/>
          <p:cNvSpPr/>
          <p:nvPr/>
        </p:nvSpPr>
        <p:spPr>
          <a:xfrm>
            <a:off x="487680" y="1402080"/>
            <a:ext cx="6096000" cy="1950720"/>
          </a:xfrm>
          <a:prstGeom prst="rect">
            <a:avLst/>
          </a:prstGeom>
          <a:noFill/>
          <a:ln/>
        </p:spPr>
        <p:txBody>
          <a:bodyPr wrap="square" lIns="0" tIns="0" rIns="0" bIns="0" rtlCol="0" anchor="t"/>
          <a:lstStyle/>
          <a:p>
            <a:pPr indent="0" marL="0">
              <a:lnSpc>
                <a:spcPct val="115000"/>
              </a:lnSpc>
              <a:buNone/>
            </a:pPr>
            <a:r>
              <a:rPr lang="en-US" sz="1300" dirty="0">
                <a:solidFill>
                  <a:srgbClr val="0E1C42"/>
                </a:solidFill>
                <a:latin typeface="Calibri" pitchFamily="34" charset="0"/>
                <a:ea typeface="Calibri" pitchFamily="34" charset="-122"/>
                <a:cs typeface="Calibri" pitchFamily="34" charset="-120"/>
              </a:rPr>
              <a:t>Be honest with yourself. Struggling with something doesn't mean you failed -- it usually means you were right at the edge of learning something new.</a:t>
            </a:r>
            <a:endParaRPr lang="en-US" sz="1300" dirty="0"/>
          </a:p>
        </p:txBody>
      </p:sp>
      <p:sp>
        <p:nvSpPr>
          <p:cNvPr id="4" name="Shape 2"/>
          <p:cNvSpPr/>
          <p:nvPr/>
        </p:nvSpPr>
        <p:spPr>
          <a:xfrm>
            <a:off x="487680" y="3474720"/>
            <a:ext cx="6096000" cy="1828800"/>
          </a:xfrm>
          <a:prstGeom prst="roundRect">
            <a:avLst>
              <a:gd name="adj" fmla="val 8000"/>
            </a:avLst>
          </a:prstGeom>
          <a:solidFill>
            <a:srgbClr val="FFF3DC"/>
          </a:solidFill>
          <a:ln w="19050">
            <a:solidFill>
              <a:srgbClr val="F5E6C8"/>
            </a:solidFill>
            <a:prstDash val="solid"/>
          </a:ln>
        </p:spPr>
      </p:sp>
      <p:sp>
        <p:nvSpPr>
          <p:cNvPr id="5" name="Text 3"/>
          <p:cNvSpPr/>
          <p:nvPr/>
        </p:nvSpPr>
        <p:spPr>
          <a:xfrm>
            <a:off x="670560" y="3547872"/>
            <a:ext cx="573024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6" name="Text 4"/>
          <p:cNvSpPr/>
          <p:nvPr/>
        </p:nvSpPr>
        <p:spPr>
          <a:xfrm>
            <a:off x="670560" y="3816096"/>
            <a:ext cx="5730240" cy="14020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"Even though it was hard, I learned that..."</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"Now when something is hard, I..."</a:t>
            </a:r>
            <a:endParaRPr lang="en-US" sz="1200" dirty="0"/>
          </a:p>
        </p:txBody>
      </p:sp>
      <p:sp>
        <p:nvSpPr>
          <p:cNvPr id="7" name="Shape 5"/>
          <p:cNvSpPr/>
          <p:nvPr/>
        </p:nvSpPr>
        <p:spPr>
          <a:xfrm>
            <a:off x="6827520" y="1402080"/>
            <a:ext cx="4511040" cy="3901440"/>
          </a:xfrm>
          <a:prstGeom prst="roundRect">
            <a:avLst>
              <a:gd name="adj" fmla="val 4687"/>
            </a:avLst>
          </a:prstGeom>
          <a:solidFill>
            <a:srgbClr val="1A2D5A"/>
          </a:solidFill>
          <a:ln/>
          <a:effectLst>
            <a:outerShdw sx="100000" sy="100000" kx="0" ky="0" algn="bl" rotWithShape="0" blurRad="101600" dist="38100" dir="8100000">
              <a:srgbClr val="000000">
                <a:alpha val="20000"/>
              </a:srgbClr>
            </a:outerShdw>
          </a:effectLst>
        </p:spPr>
      </p:sp>
      <p:sp>
        <p:nvSpPr>
          <p:cNvPr id="8" name="Text 6"/>
          <p:cNvSpPr/>
          <p:nvPr/>
        </p:nvSpPr>
        <p:spPr>
          <a:xfrm>
            <a:off x="7071360" y="1524000"/>
            <a:ext cx="4023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9" name="Text 7"/>
          <p:cNvSpPr/>
          <p:nvPr/>
        </p:nvSpPr>
        <p:spPr>
          <a:xfrm>
            <a:off x="7071360" y="1865376"/>
            <a:ext cx="4023360" cy="331622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was the hardest part of being a curator this year?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did you learn from that hard part?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did you keep going even when it was tricky?</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487680" y="97536"/>
            <a:ext cx="11216640" cy="304800"/>
          </a:xfrm>
          <a:prstGeom prst="rect">
            <a:avLst/>
          </a:prstGeom>
          <a:noFill/>
          <a:ln/>
        </p:spPr>
        <p:txBody>
          <a:bodyPr wrap="square" lIns="0" tIns="0" rIns="0" bIns="0"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WHAT YOU DISCOVERED</a:t>
            </a:r>
            <a:endParaRPr lang="en-US" sz="1000" dirty="0"/>
          </a:p>
        </p:txBody>
      </p:sp>
      <p:sp>
        <p:nvSpPr>
          <p:cNvPr id="3" name="Text 1"/>
          <p:cNvSpPr/>
          <p:nvPr/>
        </p:nvSpPr>
        <p:spPr>
          <a:xfrm>
            <a:off x="609600" y="1341120"/>
            <a:ext cx="10972800" cy="975360"/>
          </a:xfrm>
          <a:prstGeom prst="rect">
            <a:avLst/>
          </a:prstGeom>
          <a:noFill/>
          <a:ln/>
        </p:spPr>
        <p:txBody>
          <a:bodyPr wrap="square" lIns="0" tIns="0" rIns="0" bIns="0" rtlCol="0" anchor="ctr"/>
          <a:lstStyle/>
          <a:p>
            <a:pPr algn="ctr" indent="0" marL="0">
              <a:buNone/>
            </a:pPr>
            <a:r>
              <a:rPr lang="en-US" sz="3000" b="1" dirty="0">
                <a:solidFill>
                  <a:srgbClr val="D4943A"/>
                </a:solidFill>
                <a:latin typeface="Cambria" pitchFamily="34" charset="0"/>
                <a:ea typeface="Cambria" pitchFamily="34" charset="-122"/>
                <a:cs typeface="Cambria" pitchFamily="34" charset="-120"/>
              </a:rPr>
              <a:t>Hard Parts Teach the Most</a:t>
            </a:r>
            <a:endParaRPr lang="en-US" sz="3000" dirty="0"/>
          </a:p>
        </p:txBody>
      </p:sp>
      <p:sp>
        <p:nvSpPr>
          <p:cNvPr id="4" name="Text 2"/>
          <p:cNvSpPr/>
          <p:nvPr/>
        </p:nvSpPr>
        <p:spPr>
          <a:xfrm>
            <a:off x="1097280" y="2560320"/>
            <a:ext cx="9997440" cy="2072640"/>
          </a:xfrm>
          <a:prstGeom prst="rect">
            <a:avLst/>
          </a:prstGeom>
          <a:noFill/>
          <a:ln/>
        </p:spPr>
        <p:txBody>
          <a:bodyPr wrap="square" lIns="0" tIns="0" rIns="0" bIns="0" rtlCol="0" anchor="t"/>
          <a:lstStyle/>
          <a:p>
            <a:pPr algn="ctr" indent="0" marL="0">
              <a:lnSpc>
                <a:spcPct val="120000"/>
              </a:lnSpc>
              <a:buNone/>
            </a:pPr>
            <a:r>
              <a:rPr lang="en-US" sz="1500" dirty="0">
                <a:solidFill>
                  <a:srgbClr val="E4E9F5"/>
                </a:solidFill>
                <a:latin typeface="Calibri" pitchFamily="34" charset="0"/>
                <a:ea typeface="Calibri" pitchFamily="34" charset="-122"/>
                <a:cs typeface="Calibri" pitchFamily="34" charset="-120"/>
              </a:rPr>
              <a:t>Every curator hit a hard room this year. The ones who grew the most weren't the ones who never struggled -- they were the ones who kept going and learned something from the struggle. That's a habit you can keep for life.</a:t>
            </a:r>
            <a:endParaRPr lang="en-US" sz="1500" dirty="0"/>
          </a:p>
        </p:txBody>
      </p:sp>
      <p:sp>
        <p:nvSpPr>
          <p:cNvPr id="5" name="Text 3"/>
          <p:cNvSpPr/>
          <p:nvPr/>
        </p:nvSpPr>
        <p:spPr>
          <a:xfrm>
            <a:off x="1097280" y="5059680"/>
            <a:ext cx="9997440" cy="853440"/>
          </a:xfrm>
          <a:prstGeom prst="rect">
            <a:avLst/>
          </a:prstGeom>
          <a:noFill/>
          <a:ln/>
        </p:spPr>
        <p:txBody>
          <a:bodyPr wrap="square" lIns="0" tIns="0" rIns="0" bIns="0" rtlCol="0" anchor="t"/>
          <a:lstStyle/>
          <a:p>
            <a:pPr algn="ctr" indent="0" marL="0">
              <a:buNone/>
            </a:pPr>
            <a:r>
              <a:rPr lang="en-US" sz="1200" i="1" dirty="0">
                <a:solidFill>
                  <a:srgbClr val="55C8E8"/>
                </a:solidFill>
                <a:latin typeface="Calibri" pitchFamily="34" charset="0"/>
                <a:ea typeface="Calibri" pitchFamily="34" charset="-122"/>
                <a:cs typeface="Calibri" pitchFamily="34" charset="-120"/>
              </a:rPr>
              <a:t>Keep this in your pocket: naming what was hard -- and what it taught you -- is part of being an honest historian.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365760"/>
            <a:ext cx="11216640" cy="85344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Where Do These Skills Go Next?</a:t>
            </a:r>
            <a:endParaRPr lang="en-US" sz="3000" dirty="0"/>
          </a:p>
        </p:txBody>
      </p:sp>
      <p:sp>
        <p:nvSpPr>
          <p:cNvPr id="3" name="Shape 1"/>
          <p:cNvSpPr/>
          <p:nvPr/>
        </p:nvSpPr>
        <p:spPr>
          <a:xfrm>
            <a:off x="487680" y="1402080"/>
            <a:ext cx="6096000" cy="3535680"/>
          </a:xfrm>
          <a:prstGeom prst="roundRect">
            <a:avLst>
              <a:gd name="adj" fmla="val 4138"/>
            </a:avLst>
          </a:prstGeom>
          <a:solidFill>
            <a:srgbClr val="E2E8F4"/>
          </a:solidFill>
          <a:ln w="19050">
            <a:solidFill>
              <a:srgbClr val="B0B8CC"/>
            </a:solidFill>
            <a:prstDash val="dash"/>
          </a:ln>
        </p:spPr>
      </p:sp>
      <p:sp>
        <p:nvSpPr>
          <p:cNvPr id="4" name="Text 2"/>
          <p:cNvSpPr/>
          <p:nvPr/>
        </p:nvSpPr>
        <p:spPr>
          <a:xfrm>
            <a:off x="487680" y="1402080"/>
            <a:ext cx="609600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5" name="Text 3"/>
          <p:cNvSpPr/>
          <p:nvPr/>
        </p:nvSpPr>
        <p:spPr>
          <a:xfrm>
            <a:off x="670560" y="1767840"/>
            <a:ext cx="5730240" cy="30480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child at home checking the label on a food package, pointing at a map on a family road trip, and helping a neighbor -- three small vignettes in one scene, everyday life setting</a:t>
            </a:r>
            <a:endParaRPr lang="en-US" sz="1100" dirty="0"/>
          </a:p>
        </p:txBody>
      </p:sp>
      <p:sp>
        <p:nvSpPr>
          <p:cNvPr id="6" name="Shape 4"/>
          <p:cNvSpPr/>
          <p:nvPr/>
        </p:nvSpPr>
        <p:spPr>
          <a:xfrm>
            <a:off x="6827520" y="1402080"/>
            <a:ext cx="4511040" cy="3535680"/>
          </a:xfrm>
          <a:prstGeom prst="roundRect">
            <a:avLst>
              <a:gd name="adj" fmla="val 3448"/>
            </a:avLst>
          </a:prstGeom>
          <a:solidFill>
            <a:srgbClr val="F0F2F8"/>
          </a:solidFill>
          <a:ln/>
        </p:spPr>
      </p:sp>
      <p:sp>
        <p:nvSpPr>
          <p:cNvPr id="7" name="Text 5"/>
          <p:cNvSpPr/>
          <p:nvPr/>
        </p:nvSpPr>
        <p:spPr>
          <a:xfrm>
            <a:off x="7071360" y="1645920"/>
            <a:ext cx="4023360" cy="3048000"/>
          </a:xfrm>
          <a:prstGeom prst="rect">
            <a:avLst/>
          </a:prstGeom>
          <a:noFill/>
          <a:ln/>
        </p:spPr>
        <p:txBody>
          <a:bodyPr wrap="square" lIns="0" tIns="0" rIns="0" bIns="0" rtlCol="0" anchor="t"/>
          <a:lstStyle/>
          <a:p>
            <a:pPr indent="0" marL="0">
              <a:lnSpc>
                <a:spcPct val="120000"/>
              </a:lnSpc>
              <a:buNone/>
            </a:pPr>
            <a:r>
              <a:rPr lang="en-US" sz="1300" dirty="0">
                <a:solidFill>
                  <a:srgbClr val="0E1C42"/>
                </a:solidFill>
                <a:latin typeface="Calibri" pitchFamily="34" charset="0"/>
                <a:ea typeface="Calibri" pitchFamily="34" charset="-122"/>
                <a:cs typeface="Calibri" pitchFamily="34" charset="-120"/>
              </a:rPr>
              <a:t>Everything you practiced in the museum -- reading maps, checking sources, making wise choices, serving others -- doesn't stay inside the lesson page. Maybe checking a source, asking before claiming, reading a map, or showing a civic virtue.</a:t>
            </a:r>
            <a:endParaRPr lang="en-US" sz="1300" dirty="0"/>
          </a:p>
        </p:txBody>
      </p:sp>
      <p:sp>
        <p:nvSpPr>
          <p:cNvPr id="8" name="Shape 6"/>
          <p:cNvSpPr/>
          <p:nvPr/>
        </p:nvSpPr>
        <p:spPr>
          <a:xfrm>
            <a:off x="487680" y="5181600"/>
            <a:ext cx="10972800" cy="1219200"/>
          </a:xfrm>
          <a:prstGeom prst="roundRect">
            <a:avLst>
              <a:gd name="adj" fmla="val 12000"/>
            </a:avLst>
          </a:prstGeom>
          <a:solidFill>
            <a:srgbClr val="FFF3DC"/>
          </a:solidFill>
          <a:ln w="19050">
            <a:solidFill>
              <a:srgbClr val="F5E6C8"/>
            </a:solidFill>
            <a:prstDash val="solid"/>
          </a:ln>
        </p:spPr>
      </p:sp>
      <p:sp>
        <p:nvSpPr>
          <p:cNvPr id="9" name="Text 7"/>
          <p:cNvSpPr/>
          <p:nvPr/>
        </p:nvSpPr>
        <p:spPr>
          <a:xfrm>
            <a:off x="670560" y="5254752"/>
            <a:ext cx="1060704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670560" y="5522976"/>
            <a:ext cx="10607040" cy="7924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"Outside of school, I could use my curator skills by..."</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habit I want to keep growing in next year is..."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365760"/>
            <a:ext cx="11216640" cy="85344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Which Habit Feels Most Like You?</a:t>
            </a:r>
            <a:endParaRPr lang="en-US" sz="3000" dirty="0"/>
          </a:p>
        </p:txBody>
      </p:sp>
      <p:sp>
        <p:nvSpPr>
          <p:cNvPr id="3" name="Text 1"/>
          <p:cNvSpPr/>
          <p:nvPr/>
        </p:nvSpPr>
        <p:spPr>
          <a:xfrm>
            <a:off x="487680" y="1402080"/>
            <a:ext cx="6096000" cy="1950720"/>
          </a:xfrm>
          <a:prstGeom prst="rect">
            <a:avLst/>
          </a:prstGeom>
          <a:noFill/>
          <a:ln/>
        </p:spPr>
        <p:txBody>
          <a:bodyPr wrap="square" lIns="0" tIns="0" rIns="0" bIns="0" rtlCol="0" anchor="t"/>
          <a:lstStyle/>
          <a:p>
            <a:pPr indent="0" marL="0">
              <a:lnSpc>
                <a:spcPct val="115000"/>
              </a:lnSpc>
              <a:buNone/>
            </a:pPr>
            <a:r>
              <a:rPr lang="en-US" sz="1300" dirty="0">
                <a:solidFill>
                  <a:srgbClr val="0E1C42"/>
                </a:solidFill>
                <a:latin typeface="Calibri" pitchFamily="34" charset="0"/>
                <a:ea typeface="Calibri" pitchFamily="34" charset="-122"/>
                <a:cs typeface="Calibri" pitchFamily="34" charset="-120"/>
              </a:rPr>
              <a:t>Which of the four habits feels most natural to you now? Which one do you want to keep growing in next year? There's no wrong answer -- every curator grows differently.</a:t>
            </a:r>
            <a:endParaRPr lang="en-US" sz="1300" dirty="0"/>
          </a:p>
        </p:txBody>
      </p:sp>
      <p:sp>
        <p:nvSpPr>
          <p:cNvPr id="4" name="Shape 2"/>
          <p:cNvSpPr/>
          <p:nvPr/>
        </p:nvSpPr>
        <p:spPr>
          <a:xfrm>
            <a:off x="487680" y="3474720"/>
            <a:ext cx="6096000" cy="1828800"/>
          </a:xfrm>
          <a:prstGeom prst="roundRect">
            <a:avLst>
              <a:gd name="adj" fmla="val 8000"/>
            </a:avLst>
          </a:prstGeom>
          <a:solidFill>
            <a:srgbClr val="FFF3DC"/>
          </a:solidFill>
          <a:ln w="19050">
            <a:solidFill>
              <a:srgbClr val="F5E6C8"/>
            </a:solidFill>
            <a:prstDash val="solid"/>
          </a:ln>
        </p:spPr>
      </p:sp>
      <p:sp>
        <p:nvSpPr>
          <p:cNvPr id="5" name="Text 3"/>
          <p:cNvSpPr/>
          <p:nvPr/>
        </p:nvSpPr>
        <p:spPr>
          <a:xfrm>
            <a:off x="670560" y="3547872"/>
            <a:ext cx="573024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6" name="Text 4"/>
          <p:cNvSpPr/>
          <p:nvPr/>
        </p:nvSpPr>
        <p:spPr>
          <a:xfrm>
            <a:off x="670560" y="3816096"/>
            <a:ext cx="5730240" cy="14020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habit that feels most natural to me is...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habit I want to grow in next year is..."</a:t>
            </a:r>
            <a:endParaRPr lang="en-US" sz="1200" dirty="0"/>
          </a:p>
        </p:txBody>
      </p:sp>
      <p:sp>
        <p:nvSpPr>
          <p:cNvPr id="7" name="Shape 5"/>
          <p:cNvSpPr/>
          <p:nvPr/>
        </p:nvSpPr>
        <p:spPr>
          <a:xfrm>
            <a:off x="6827520" y="1402080"/>
            <a:ext cx="4511040" cy="3901440"/>
          </a:xfrm>
          <a:prstGeom prst="roundRect">
            <a:avLst>
              <a:gd name="adj" fmla="val 4687"/>
            </a:avLst>
          </a:prstGeom>
          <a:solidFill>
            <a:srgbClr val="1A2D5A"/>
          </a:solidFill>
          <a:ln/>
          <a:effectLst>
            <a:outerShdw sx="100000" sy="100000" kx="0" ky="0" algn="bl" rotWithShape="0" blurRad="101600" dist="38100" dir="8100000">
              <a:srgbClr val="000000">
                <a:alpha val="20000"/>
              </a:srgbClr>
            </a:outerShdw>
          </a:effectLst>
        </p:spPr>
      </p:sp>
      <p:sp>
        <p:nvSpPr>
          <p:cNvPr id="8" name="Text 6"/>
          <p:cNvSpPr/>
          <p:nvPr/>
        </p:nvSpPr>
        <p:spPr>
          <a:xfrm>
            <a:off x="7071360" y="1524000"/>
            <a:ext cx="40233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9" name="Text 7"/>
          <p:cNvSpPr/>
          <p:nvPr/>
        </p:nvSpPr>
        <p:spPr>
          <a:xfrm>
            <a:off x="7071360" y="1865376"/>
            <a:ext cx="4023360" cy="331622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of the four habits feels most natural to you now?</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one do you want to keep growing in next year?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Where could you use a curator skill outside of school?</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1219200" y="853440"/>
            <a:ext cx="9753600" cy="426720"/>
          </a:xfrm>
          <a:prstGeom prst="rect">
            <a:avLst/>
          </a:prstGeom>
          <a:noFill/>
          <a:ln/>
        </p:spPr>
        <p:txBody>
          <a:bodyPr wrap="square" lIns="0" tIns="0" rIns="0" bIns="0" rtlCol="0" anchor="ctr"/>
          <a:lstStyle/>
          <a:p>
            <a:pPr algn="ctr" indent="0" marL="0">
              <a:buNone/>
            </a:pPr>
            <a:r>
              <a:rPr lang="en-US" sz="1200" b="1" spc="200" kern="0" dirty="0">
                <a:solidFill>
                  <a:srgbClr val="55C8E8"/>
                </a:solidFill>
                <a:latin typeface="Calibri" pitchFamily="34" charset="0"/>
                <a:ea typeface="Calibri" pitchFamily="34" charset="-122"/>
                <a:cs typeface="Calibri" pitchFamily="34" charset="-120"/>
              </a:rPr>
              <a:t>THE MUSEUM'S TRUE PURPOSE</a:t>
            </a:r>
            <a:endParaRPr lang="en-US" sz="1200" dirty="0"/>
          </a:p>
        </p:txBody>
      </p:sp>
      <p:sp>
        <p:nvSpPr>
          <p:cNvPr id="6" name="Text 3"/>
          <p:cNvSpPr/>
          <p:nvPr/>
        </p:nvSpPr>
        <p:spPr>
          <a:xfrm>
            <a:off x="609600" y="1463040"/>
            <a:ext cx="10972800" cy="1097280"/>
          </a:xfrm>
          <a:prstGeom prst="rect">
            <a:avLst/>
          </a:prstGeom>
          <a:noFill/>
          <a:ln/>
        </p:spPr>
        <p:txBody>
          <a:bodyPr wrap="square" lIns="0" tIns="0" rIns="0" bIns="0" rtlCol="0" anchor="ctr"/>
          <a:lstStyle/>
          <a:p>
            <a:pPr algn="ctr" indent="0" marL="0">
              <a:buNone/>
            </a:pPr>
            <a:r>
              <a:rPr lang="en-US" sz="2600" b="1" i="1" dirty="0">
                <a:solidFill>
                  <a:srgbClr val="FFFFFF"/>
                </a:solidFill>
                <a:latin typeface="Cambria" pitchFamily="34" charset="0"/>
                <a:ea typeface="Cambria" pitchFamily="34" charset="-122"/>
                <a:cs typeface="Cambria" pitchFamily="34" charset="-120"/>
              </a:rPr>
              <a:t>“This museum was never really about the exhibits.”</a:t>
            </a:r>
            <a:endParaRPr lang="en-US" sz="2600" dirty="0"/>
          </a:p>
        </p:txBody>
      </p:sp>
      <p:sp>
        <p:nvSpPr>
          <p:cNvPr id="7" name="Text 4"/>
          <p:cNvSpPr/>
          <p:nvPr/>
        </p:nvSpPr>
        <p:spPr>
          <a:xfrm>
            <a:off x="609600" y="2682240"/>
            <a:ext cx="10972800" cy="609600"/>
          </a:xfrm>
          <a:prstGeom prst="rect">
            <a:avLst/>
          </a:prstGeom>
          <a:noFill/>
          <a:ln/>
        </p:spPr>
        <p:txBody>
          <a:bodyPr wrap="square" lIns="0" tIns="0" rIns="0" bIns="0" rtlCol="0" anchor="ctr"/>
          <a:lstStyle/>
          <a:p>
            <a:pPr algn="ctr" indent="0" marL="0">
              <a:buNone/>
            </a:pPr>
            <a:r>
              <a:rPr lang="en-US" sz="1500" dirty="0">
                <a:solidFill>
                  <a:srgbClr val="C9D6F0"/>
                </a:solidFill>
                <a:latin typeface="Calibri" pitchFamily="34" charset="0"/>
                <a:ea typeface="Calibri" pitchFamily="34" charset="-122"/>
                <a:cs typeface="Calibri" pitchFamily="34" charset="-120"/>
              </a:rPr>
              <a:t>The rooms, the panels, the badges -- those were just the work.</a:t>
            </a:r>
            <a:endParaRPr lang="en-US" sz="1500" dirty="0"/>
          </a:p>
        </p:txBody>
      </p:sp>
      <p:sp>
        <p:nvSpPr>
          <p:cNvPr id="8" name="Text 5"/>
          <p:cNvSpPr/>
          <p:nvPr/>
        </p:nvSpPr>
        <p:spPr>
          <a:xfrm>
            <a:off x="609600" y="3474720"/>
            <a:ext cx="10972800" cy="731520"/>
          </a:xfrm>
          <a:prstGeom prst="rect">
            <a:avLst/>
          </a:prstGeom>
          <a:noFill/>
          <a:ln/>
        </p:spPr>
        <p:txBody>
          <a:bodyPr wrap="square" lIns="0" tIns="0" rIns="0" bIns="0" rtlCol="0" anchor="ctr"/>
          <a:lstStyle/>
          <a:p>
            <a:pPr algn="ctr" indent="0" marL="0">
              <a:buNone/>
            </a:pPr>
            <a:r>
              <a:rPr lang="en-US" sz="2400" b="1" dirty="0">
                <a:solidFill>
                  <a:srgbClr val="D4943A"/>
                </a:solidFill>
                <a:latin typeface="Cambria" pitchFamily="34" charset="0"/>
                <a:ea typeface="Cambria" pitchFamily="34" charset="-122"/>
                <a:cs typeface="Cambria" pitchFamily="34" charset="-120"/>
              </a:rPr>
              <a:t>The real exhibit is each one of you.</a:t>
            </a:r>
            <a:endParaRPr lang="en-US" sz="2400" dirty="0"/>
          </a:p>
        </p:txBody>
      </p:sp>
      <p:sp>
        <p:nvSpPr>
          <p:cNvPr id="9" name="Text 6"/>
          <p:cNvSpPr/>
          <p:nvPr/>
        </p:nvSpPr>
        <p:spPr>
          <a:xfrm>
            <a:off x="731520" y="4389120"/>
            <a:ext cx="10728960" cy="731520"/>
          </a:xfrm>
          <a:prstGeom prst="rect">
            <a:avLst/>
          </a:prstGeom>
          <a:noFill/>
          <a:ln/>
        </p:spPr>
        <p:txBody>
          <a:bodyPr wrap="square" lIns="0" tIns="0" rIns="0" bIns="0" rtlCol="0" anchor="ctr"/>
          <a:lstStyle/>
          <a:p>
            <a:pPr algn="ctr" indent="0" marL="0">
              <a:buNone/>
            </a:pPr>
            <a:r>
              <a:rPr lang="en-US" sz="1500" i="1" dirty="0">
                <a:solidFill>
                  <a:srgbClr val="E4E9F5"/>
                </a:solidFill>
                <a:latin typeface="Calibri" pitchFamily="34" charset="0"/>
                <a:ea typeface="Calibri" pitchFamily="34" charset="-122"/>
                <a:cs typeface="Calibri" pitchFamily="34" charset="-120"/>
              </a:rPr>
              <a:t>You came in as a Junior Curator. You walk out as a young geographer-citizen.</a:t>
            </a:r>
            <a:endParaRPr lang="en-US" sz="1500" dirty="0"/>
          </a:p>
        </p:txBody>
      </p:sp>
      <p:sp>
        <p:nvSpPr>
          <p:cNvPr id="10" name="Text 7"/>
          <p:cNvSpPr/>
          <p:nvPr/>
        </p:nvSpPr>
        <p:spPr>
          <a:xfrm>
            <a:off x="731520" y="5242560"/>
            <a:ext cx="10728960" cy="487680"/>
          </a:xfrm>
          <a:prstGeom prst="rect">
            <a:avLst/>
          </a:prstGeom>
          <a:noFill/>
          <a:ln/>
        </p:spPr>
        <p:txBody>
          <a:bodyPr wrap="square" lIns="0" tIns="0" rIns="0" bIns="0" rtlCol="0" anchor="ctr"/>
          <a:lstStyle/>
          <a:p>
            <a:pPr algn="ctr" indent="0" marL="0">
              <a:buNone/>
            </a:pPr>
            <a:r>
              <a:rPr lang="en-US" sz="1100" dirty="0">
                <a:solidFill>
                  <a:srgbClr val="7A88A8"/>
                </a:solidFill>
                <a:latin typeface="Calibri" pitchFamily="34" charset="0"/>
                <a:ea typeface="Calibri" pitchFamily="34" charset="-122"/>
                <a:cs typeface="Calibri" pitchFamily="34" charset="-120"/>
              </a:rPr>
              <a:t>— the museum director, Grand Exhibition Hall</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487680" y="97536"/>
            <a:ext cx="11216640" cy="304800"/>
          </a:xfrm>
          <a:prstGeom prst="rect">
            <a:avLst/>
          </a:prstGeom>
          <a:noFill/>
          <a:ln/>
        </p:spPr>
        <p:txBody>
          <a:bodyPr wrap="square" lIns="0" tIns="0" rIns="0" bIns="0"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WHAT EVERY ROOM WAS REALLY TEACHING YOU</a:t>
            </a:r>
            <a:endParaRPr lang="en-US" sz="1000" dirty="0"/>
          </a:p>
        </p:txBody>
      </p:sp>
      <p:sp>
        <p:nvSpPr>
          <p:cNvPr id="3" name="Text 1"/>
          <p:cNvSpPr/>
          <p:nvPr/>
        </p:nvSpPr>
        <p:spPr>
          <a:xfrm>
            <a:off x="487680" y="487680"/>
            <a:ext cx="11216640" cy="792480"/>
          </a:xfrm>
          <a:prstGeom prst="rect">
            <a:avLst/>
          </a:prstGeom>
          <a:noFill/>
          <a:ln/>
        </p:spPr>
        <p:txBody>
          <a:bodyPr wrap="square" lIns="0" tIns="0" rIns="0" bIns="0" rtlCol="0" anchor="ctr"/>
          <a:lstStyle/>
          <a:p>
            <a:pPr algn="ctr" indent="0" marL="0">
              <a:buNone/>
            </a:pPr>
            <a:r>
              <a:rPr lang="en-US" sz="2500" b="1" dirty="0">
                <a:solidFill>
                  <a:srgbClr val="FFFFFF"/>
                </a:solidFill>
                <a:latin typeface="Cambria" pitchFamily="34" charset="0"/>
                <a:ea typeface="Cambria" pitchFamily="34" charset="-122"/>
                <a:cs typeface="Cambria" pitchFamily="34" charset="-120"/>
              </a:rPr>
              <a:t>The Four Habits of a Young Geographer-Citizen</a:t>
            </a:r>
            <a:endParaRPr lang="en-US" sz="2500" dirty="0"/>
          </a:p>
        </p:txBody>
      </p:sp>
      <p:sp>
        <p:nvSpPr>
          <p:cNvPr id="4" name="Shape 2"/>
          <p:cNvSpPr/>
          <p:nvPr/>
        </p:nvSpPr>
        <p:spPr>
          <a:xfrm>
            <a:off x="609600" y="1463040"/>
            <a:ext cx="5364480" cy="2072640"/>
          </a:xfrm>
          <a:prstGeom prst="roundRect">
            <a:avLst>
              <a:gd name="adj" fmla="val 5882"/>
            </a:avLst>
          </a:prstGeom>
          <a:solidFill>
            <a:srgbClr val="1A2D5A"/>
          </a:solidFill>
          <a:ln w="19050">
            <a:solidFill>
              <a:srgbClr val="1A8A7D"/>
            </a:solidFill>
            <a:prstDash val="solid"/>
          </a:ln>
        </p:spPr>
      </p:sp>
      <p:sp>
        <p:nvSpPr>
          <p:cNvPr id="5" name="Text 3"/>
          <p:cNvSpPr/>
          <p:nvPr/>
        </p:nvSpPr>
        <p:spPr>
          <a:xfrm>
            <a:off x="792480" y="1584960"/>
            <a:ext cx="731520" cy="731520"/>
          </a:xfrm>
          <a:prstGeom prst="rect">
            <a:avLst/>
          </a:prstGeom>
          <a:noFill/>
          <a:ln/>
        </p:spPr>
        <p:txBody>
          <a:bodyPr wrap="square" lIns="0" tIns="0" rIns="0" bIns="0" rtlCol="0" anchor="ctr"/>
          <a:lstStyle/>
          <a:p>
            <a:pPr indent="0" marL="0">
              <a:buNone/>
            </a:pPr>
            <a:r>
              <a:rPr lang="en-US" sz="2600" b="1" dirty="0">
                <a:solidFill>
                  <a:srgbClr val="D4943A"/>
                </a:solidFill>
                <a:latin typeface="Cambria" pitchFamily="34" charset="0"/>
                <a:ea typeface="Cambria" pitchFamily="34" charset="-122"/>
                <a:cs typeface="Cambria" pitchFamily="34" charset="-120"/>
              </a:rPr>
              <a:t>1</a:t>
            </a:r>
            <a:endParaRPr lang="en-US" sz="2600" dirty="0"/>
          </a:p>
        </p:txBody>
      </p:sp>
      <p:sp>
        <p:nvSpPr>
          <p:cNvPr id="6" name="Text 4"/>
          <p:cNvSpPr/>
          <p:nvPr/>
        </p:nvSpPr>
        <p:spPr>
          <a:xfrm>
            <a:off x="1584960" y="1609344"/>
            <a:ext cx="4206240" cy="5486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See the world carefully.</a:t>
            </a:r>
            <a:endParaRPr lang="en-US" sz="1500" dirty="0"/>
          </a:p>
        </p:txBody>
      </p:sp>
      <p:sp>
        <p:nvSpPr>
          <p:cNvPr id="7" name="Text 5"/>
          <p:cNvSpPr/>
          <p:nvPr/>
        </p:nvSpPr>
        <p:spPr>
          <a:xfrm>
            <a:off x="853440" y="2255520"/>
            <a:ext cx="4876800" cy="1158240"/>
          </a:xfrm>
          <a:prstGeom prst="rect">
            <a:avLst/>
          </a:prstGeom>
          <a:noFill/>
          <a:ln/>
        </p:spPr>
        <p:txBody>
          <a:bodyPr wrap="square" lIns="0" tIns="0" rIns="0" bIns="0" rtlCol="0" anchor="t"/>
          <a:lstStyle/>
          <a:p>
            <a:pPr indent="0" marL="0">
              <a:lnSpc>
                <a:spcPct val="110000"/>
              </a:lnSpc>
              <a:buNone/>
            </a:pPr>
            <a:r>
              <a:rPr lang="en-US" sz="1100" dirty="0">
                <a:solidFill>
                  <a:srgbClr val="C9D6F0"/>
                </a:solidFill>
                <a:latin typeface="Calibri" pitchFamily="34" charset="0"/>
                <a:ea typeface="Calibri" pitchFamily="34" charset="-122"/>
                <a:cs typeface="Calibri" pitchFamily="34" charset="-120"/>
              </a:rPr>
              <a:t>Great Map Room, World Map Hall, and the Region Galleries taught you to look closely at places -- where things are, and why.</a:t>
            </a:r>
            <a:endParaRPr lang="en-US" sz="1100" dirty="0"/>
          </a:p>
        </p:txBody>
      </p:sp>
      <p:sp>
        <p:nvSpPr>
          <p:cNvPr id="8" name="Shape 6"/>
          <p:cNvSpPr/>
          <p:nvPr/>
        </p:nvSpPr>
        <p:spPr>
          <a:xfrm>
            <a:off x="6217920" y="1463040"/>
            <a:ext cx="5364480" cy="2072640"/>
          </a:xfrm>
          <a:prstGeom prst="roundRect">
            <a:avLst>
              <a:gd name="adj" fmla="val 5882"/>
            </a:avLst>
          </a:prstGeom>
          <a:solidFill>
            <a:srgbClr val="1A2D5A"/>
          </a:solidFill>
          <a:ln w="19050">
            <a:solidFill>
              <a:srgbClr val="1A8A7D"/>
            </a:solidFill>
            <a:prstDash val="solid"/>
          </a:ln>
        </p:spPr>
      </p:sp>
      <p:sp>
        <p:nvSpPr>
          <p:cNvPr id="9" name="Text 7"/>
          <p:cNvSpPr/>
          <p:nvPr/>
        </p:nvSpPr>
        <p:spPr>
          <a:xfrm>
            <a:off x="6400800" y="1584960"/>
            <a:ext cx="731520" cy="731520"/>
          </a:xfrm>
          <a:prstGeom prst="rect">
            <a:avLst/>
          </a:prstGeom>
          <a:noFill/>
          <a:ln/>
        </p:spPr>
        <p:txBody>
          <a:bodyPr wrap="square" lIns="0" tIns="0" rIns="0" bIns="0" rtlCol="0" anchor="ctr"/>
          <a:lstStyle/>
          <a:p>
            <a:pPr indent="0" marL="0">
              <a:buNone/>
            </a:pPr>
            <a:r>
              <a:rPr lang="en-US" sz="2600" b="1" dirty="0">
                <a:solidFill>
                  <a:srgbClr val="D4943A"/>
                </a:solidFill>
                <a:latin typeface="Cambria" pitchFamily="34" charset="0"/>
                <a:ea typeface="Cambria" pitchFamily="34" charset="-122"/>
                <a:cs typeface="Cambria" pitchFamily="34" charset="-120"/>
              </a:rPr>
              <a:t>2</a:t>
            </a:r>
            <a:endParaRPr lang="en-US" sz="2600" dirty="0"/>
          </a:p>
        </p:txBody>
      </p:sp>
      <p:sp>
        <p:nvSpPr>
          <p:cNvPr id="10" name="Text 8"/>
          <p:cNvSpPr/>
          <p:nvPr/>
        </p:nvSpPr>
        <p:spPr>
          <a:xfrm>
            <a:off x="7193280" y="1609344"/>
            <a:ext cx="4206240" cy="5486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Use evidence honestly.</a:t>
            </a:r>
            <a:endParaRPr lang="en-US" sz="1500" dirty="0"/>
          </a:p>
        </p:txBody>
      </p:sp>
      <p:sp>
        <p:nvSpPr>
          <p:cNvPr id="11" name="Text 9"/>
          <p:cNvSpPr/>
          <p:nvPr/>
        </p:nvSpPr>
        <p:spPr>
          <a:xfrm>
            <a:off x="6461760" y="2255520"/>
            <a:ext cx="4876800" cy="1158240"/>
          </a:xfrm>
          <a:prstGeom prst="rect">
            <a:avLst/>
          </a:prstGeom>
          <a:noFill/>
          <a:ln/>
        </p:spPr>
        <p:txBody>
          <a:bodyPr wrap="square" lIns="0" tIns="0" rIns="0" bIns="0" rtlCol="0" anchor="t"/>
          <a:lstStyle/>
          <a:p>
            <a:pPr indent="0" marL="0">
              <a:lnSpc>
                <a:spcPct val="110000"/>
              </a:lnSpc>
              <a:buNone/>
            </a:pPr>
            <a:r>
              <a:rPr lang="en-US" sz="1100" dirty="0">
                <a:solidFill>
                  <a:srgbClr val="C9D6F0"/>
                </a:solidFill>
                <a:latin typeface="Calibri" pitchFamily="34" charset="0"/>
                <a:ea typeface="Calibri" pitchFamily="34" charset="-122"/>
                <a:cs typeface="Calibri" pitchFamily="34" charset="-120"/>
              </a:rPr>
              <a:t>Curator Training Hall taught you to ask before you answer, sort primary from secondary, and say ‘I'm not sure’ when you aren't.</a:t>
            </a:r>
            <a:endParaRPr lang="en-US" sz="1100" dirty="0"/>
          </a:p>
        </p:txBody>
      </p:sp>
      <p:sp>
        <p:nvSpPr>
          <p:cNvPr id="12" name="Shape 10"/>
          <p:cNvSpPr/>
          <p:nvPr/>
        </p:nvSpPr>
        <p:spPr>
          <a:xfrm>
            <a:off x="609600" y="3718560"/>
            <a:ext cx="5364480" cy="2072640"/>
          </a:xfrm>
          <a:prstGeom prst="roundRect">
            <a:avLst>
              <a:gd name="adj" fmla="val 5882"/>
            </a:avLst>
          </a:prstGeom>
          <a:solidFill>
            <a:srgbClr val="1A2D5A"/>
          </a:solidFill>
          <a:ln w="19050">
            <a:solidFill>
              <a:srgbClr val="1A8A7D"/>
            </a:solidFill>
            <a:prstDash val="solid"/>
          </a:ln>
        </p:spPr>
      </p:sp>
      <p:sp>
        <p:nvSpPr>
          <p:cNvPr id="13" name="Text 11"/>
          <p:cNvSpPr/>
          <p:nvPr/>
        </p:nvSpPr>
        <p:spPr>
          <a:xfrm>
            <a:off x="792480" y="3840480"/>
            <a:ext cx="731520" cy="731520"/>
          </a:xfrm>
          <a:prstGeom prst="rect">
            <a:avLst/>
          </a:prstGeom>
          <a:noFill/>
          <a:ln/>
        </p:spPr>
        <p:txBody>
          <a:bodyPr wrap="square" lIns="0" tIns="0" rIns="0" bIns="0" rtlCol="0" anchor="ctr"/>
          <a:lstStyle/>
          <a:p>
            <a:pPr indent="0" marL="0">
              <a:buNone/>
            </a:pPr>
            <a:r>
              <a:rPr lang="en-US" sz="2600" b="1" dirty="0">
                <a:solidFill>
                  <a:srgbClr val="D4943A"/>
                </a:solidFill>
                <a:latin typeface="Cambria" pitchFamily="34" charset="0"/>
                <a:ea typeface="Cambria" pitchFamily="34" charset="-122"/>
                <a:cs typeface="Cambria" pitchFamily="34" charset="-120"/>
              </a:rPr>
              <a:t>3</a:t>
            </a:r>
            <a:endParaRPr lang="en-US" sz="2600" dirty="0"/>
          </a:p>
        </p:txBody>
      </p:sp>
      <p:sp>
        <p:nvSpPr>
          <p:cNvPr id="14" name="Text 12"/>
          <p:cNvSpPr/>
          <p:nvPr/>
        </p:nvSpPr>
        <p:spPr>
          <a:xfrm>
            <a:off x="1584960" y="3864864"/>
            <a:ext cx="4206240" cy="5486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Make wise choices.</a:t>
            </a:r>
            <a:endParaRPr lang="en-US" sz="1500" dirty="0"/>
          </a:p>
        </p:txBody>
      </p:sp>
      <p:sp>
        <p:nvSpPr>
          <p:cNvPr id="15" name="Text 13"/>
          <p:cNvSpPr/>
          <p:nvPr/>
        </p:nvSpPr>
        <p:spPr>
          <a:xfrm>
            <a:off x="853440" y="4511040"/>
            <a:ext cx="4876800" cy="1158240"/>
          </a:xfrm>
          <a:prstGeom prst="rect">
            <a:avLst/>
          </a:prstGeom>
          <a:noFill/>
          <a:ln/>
        </p:spPr>
        <p:txBody>
          <a:bodyPr wrap="square" lIns="0" tIns="0" rIns="0" bIns="0" rtlCol="0" anchor="t"/>
          <a:lstStyle/>
          <a:p>
            <a:pPr indent="0" marL="0">
              <a:lnSpc>
                <a:spcPct val="110000"/>
              </a:lnSpc>
              <a:buNone/>
            </a:pPr>
            <a:r>
              <a:rPr lang="en-US" sz="1100" dirty="0">
                <a:solidFill>
                  <a:srgbClr val="C9D6F0"/>
                </a:solidFill>
                <a:latin typeface="Calibri" pitchFamily="34" charset="0"/>
                <a:ea typeface="Calibri" pitchFamily="34" charset="-122"/>
                <a:cs typeface="Calibri" pitchFamily="34" charset="-120"/>
              </a:rPr>
              <a:t>Marketplace Hall taught you that every choice has a cost and a benefit -- scarcity and trade-offs are real.</a:t>
            </a:r>
            <a:endParaRPr lang="en-US" sz="1100" dirty="0"/>
          </a:p>
        </p:txBody>
      </p:sp>
      <p:sp>
        <p:nvSpPr>
          <p:cNvPr id="16" name="Shape 14"/>
          <p:cNvSpPr/>
          <p:nvPr/>
        </p:nvSpPr>
        <p:spPr>
          <a:xfrm>
            <a:off x="6217920" y="3718560"/>
            <a:ext cx="5364480" cy="2072640"/>
          </a:xfrm>
          <a:prstGeom prst="roundRect">
            <a:avLst>
              <a:gd name="adj" fmla="val 5882"/>
            </a:avLst>
          </a:prstGeom>
          <a:solidFill>
            <a:srgbClr val="1A2D5A"/>
          </a:solidFill>
          <a:ln w="19050">
            <a:solidFill>
              <a:srgbClr val="1A8A7D"/>
            </a:solidFill>
            <a:prstDash val="solid"/>
          </a:ln>
        </p:spPr>
      </p:sp>
      <p:sp>
        <p:nvSpPr>
          <p:cNvPr id="17" name="Text 15"/>
          <p:cNvSpPr/>
          <p:nvPr/>
        </p:nvSpPr>
        <p:spPr>
          <a:xfrm>
            <a:off x="6400800" y="3840480"/>
            <a:ext cx="731520" cy="731520"/>
          </a:xfrm>
          <a:prstGeom prst="rect">
            <a:avLst/>
          </a:prstGeom>
          <a:noFill/>
          <a:ln/>
        </p:spPr>
        <p:txBody>
          <a:bodyPr wrap="square" lIns="0" tIns="0" rIns="0" bIns="0" rtlCol="0" anchor="ctr"/>
          <a:lstStyle/>
          <a:p>
            <a:pPr indent="0" marL="0">
              <a:buNone/>
            </a:pPr>
            <a:r>
              <a:rPr lang="en-US" sz="2600" b="1" dirty="0">
                <a:solidFill>
                  <a:srgbClr val="D4943A"/>
                </a:solidFill>
                <a:latin typeface="Cambria" pitchFamily="34" charset="0"/>
                <a:ea typeface="Cambria" pitchFamily="34" charset="-122"/>
                <a:cs typeface="Cambria" pitchFamily="34" charset="-120"/>
              </a:rPr>
              <a:t>4</a:t>
            </a:r>
            <a:endParaRPr lang="en-US" sz="2600" dirty="0"/>
          </a:p>
        </p:txBody>
      </p:sp>
      <p:sp>
        <p:nvSpPr>
          <p:cNvPr id="18" name="Text 16"/>
          <p:cNvSpPr/>
          <p:nvPr/>
        </p:nvSpPr>
        <p:spPr>
          <a:xfrm>
            <a:off x="7193280" y="3864864"/>
            <a:ext cx="4206240" cy="5486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Serve the common good.</a:t>
            </a:r>
            <a:endParaRPr lang="en-US" sz="1500" dirty="0"/>
          </a:p>
        </p:txBody>
      </p:sp>
      <p:sp>
        <p:nvSpPr>
          <p:cNvPr id="19" name="Text 17"/>
          <p:cNvSpPr/>
          <p:nvPr/>
        </p:nvSpPr>
        <p:spPr>
          <a:xfrm>
            <a:off x="6461760" y="4511040"/>
            <a:ext cx="4876800" cy="1158240"/>
          </a:xfrm>
          <a:prstGeom prst="rect">
            <a:avLst/>
          </a:prstGeom>
          <a:noFill/>
          <a:ln/>
        </p:spPr>
        <p:txBody>
          <a:bodyPr wrap="square" lIns="0" tIns="0" rIns="0" bIns="0" rtlCol="0" anchor="t"/>
          <a:lstStyle/>
          <a:p>
            <a:pPr indent="0" marL="0">
              <a:lnSpc>
                <a:spcPct val="110000"/>
              </a:lnSpc>
              <a:buNone/>
            </a:pPr>
            <a:r>
              <a:rPr lang="en-US" sz="1100" dirty="0">
                <a:solidFill>
                  <a:srgbClr val="C9D6F0"/>
                </a:solidFill>
                <a:latin typeface="Calibri" pitchFamily="34" charset="0"/>
                <a:ea typeface="Calibri" pitchFamily="34" charset="-122"/>
                <a:cs typeface="Calibri" pitchFamily="34" charset="-120"/>
              </a:rPr>
              <a:t>Citizenship Hall taught you that communities need rules, leaders, and people who care -- civic virtues in action.</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1219200" y="670560"/>
            <a:ext cx="9753600" cy="426720"/>
          </a:xfrm>
          <a:prstGeom prst="rect">
            <a:avLst/>
          </a:prstGeom>
          <a:noFill/>
          <a:ln/>
        </p:spPr>
        <p:txBody>
          <a:bodyPr wrap="square" lIns="0" tIns="0" rIns="0" bIns="0" rtlCol="0" anchor="ctr"/>
          <a:lstStyle/>
          <a:p>
            <a:pPr algn="ctr" indent="0" marL="0">
              <a:buNone/>
            </a:pPr>
            <a:r>
              <a:rPr lang="en-US" sz="1200" b="1" spc="200" kern="0" dirty="0">
                <a:solidFill>
                  <a:srgbClr val="55C8E8"/>
                </a:solidFill>
                <a:latin typeface="Calibri" pitchFamily="34" charset="0"/>
                <a:ea typeface="Calibri" pitchFamily="34" charset="-122"/>
                <a:cs typeface="Calibri" pitchFamily="34" charset="-120"/>
              </a:rPr>
              <a:t>BADGE CEREMONY</a:t>
            </a:r>
            <a:endParaRPr lang="en-US" sz="1200" dirty="0"/>
          </a:p>
        </p:txBody>
      </p:sp>
      <p:sp>
        <p:nvSpPr>
          <p:cNvPr id="6" name="Text 3"/>
          <p:cNvSpPr/>
          <p:nvPr/>
        </p:nvSpPr>
        <p:spPr>
          <a:xfrm>
            <a:off x="609600" y="1280160"/>
            <a:ext cx="10972800" cy="914400"/>
          </a:xfrm>
          <a:prstGeom prst="rect">
            <a:avLst/>
          </a:prstGeom>
          <a:noFill/>
          <a:ln/>
        </p:spPr>
        <p:txBody>
          <a:bodyPr wrap="square" lIns="0" tIns="0" rIns="0" bIns="0" rtlCol="0" anchor="ctr"/>
          <a:lstStyle/>
          <a:p>
            <a:pPr algn="ctr" indent="0" marL="0">
              <a:buNone/>
            </a:pPr>
            <a:r>
              <a:rPr lang="en-US" sz="2800" b="1" dirty="0">
                <a:solidFill>
                  <a:srgbClr val="D4943A"/>
                </a:solidFill>
                <a:latin typeface="Cambria" pitchFamily="34" charset="0"/>
                <a:ea typeface="Cambria" pitchFamily="34" charset="-122"/>
                <a:cs typeface="Cambria" pitchFamily="34" charset="-120"/>
              </a:rPr>
              <a:t>Congratulations, Young Geographer-Citizen!</a:t>
            </a:r>
            <a:endParaRPr lang="en-US" sz="2800" dirty="0"/>
          </a:p>
        </p:txBody>
      </p:sp>
      <p:sp>
        <p:nvSpPr>
          <p:cNvPr id="7" name="Text 4"/>
          <p:cNvSpPr/>
          <p:nvPr/>
        </p:nvSpPr>
        <p:spPr>
          <a:xfrm>
            <a:off x="975360" y="2316480"/>
            <a:ext cx="10241280" cy="1036320"/>
          </a:xfrm>
          <a:prstGeom prst="rect">
            <a:avLst/>
          </a:prstGeom>
          <a:noFill/>
          <a:ln/>
        </p:spPr>
        <p:txBody>
          <a:bodyPr wrap="square" lIns="0" tIns="0" rIns="0" bIns="0" rtlCol="0" anchor="t"/>
          <a:lstStyle/>
          <a:p>
            <a:pPr algn="ctr" indent="0" marL="0">
              <a:lnSpc>
                <a:spcPct val="115000"/>
              </a:lnSpc>
              <a:buNone/>
            </a:pPr>
            <a:r>
              <a:rPr lang="en-US" sz="1400" dirty="0">
                <a:solidFill>
                  <a:srgbClr val="E4E9F5"/>
                </a:solidFill>
                <a:latin typeface="Calibri" pitchFamily="34" charset="0"/>
                <a:ea typeface="Calibri" pitchFamily="34" charset="-122"/>
                <a:cs typeface="Calibri" pitchFamily="34" charset="-120"/>
              </a:rPr>
              <a:t>The museum doors are open. Visitors are walking through your panel right now. The Exhibit Designer badge stays on your folder -- but next to it, the director has added a new badge.</a:t>
            </a:r>
            <a:endParaRPr lang="en-US" sz="1400" dirty="0"/>
          </a:p>
        </p:txBody>
      </p:sp>
      <p:sp>
        <p:nvSpPr>
          <p:cNvPr id="8" name="Shape 5"/>
          <p:cNvSpPr/>
          <p:nvPr/>
        </p:nvSpPr>
        <p:spPr>
          <a:xfrm>
            <a:off x="3291840" y="3474720"/>
            <a:ext cx="5608320" cy="1950720"/>
          </a:xfrm>
          <a:prstGeom prst="roundRect">
            <a:avLst>
              <a:gd name="adj" fmla="val 9375"/>
            </a:avLst>
          </a:prstGeom>
          <a:solidFill>
            <a:srgbClr val="D4943A"/>
          </a:solidFill>
          <a:ln/>
        </p:spPr>
      </p:sp>
      <p:sp>
        <p:nvSpPr>
          <p:cNvPr id="9" name="Text 6"/>
          <p:cNvSpPr/>
          <p:nvPr/>
        </p:nvSpPr>
        <p:spPr>
          <a:xfrm>
            <a:off x="3535680" y="3657600"/>
            <a:ext cx="5120640" cy="487680"/>
          </a:xfrm>
          <a:prstGeom prst="rect">
            <a:avLst/>
          </a:prstGeom>
          <a:noFill/>
          <a:ln/>
        </p:spPr>
        <p:txBody>
          <a:bodyPr wrap="square" lIns="0" tIns="0" rIns="0" bIns="0" rtlCol="0" anchor="ctr"/>
          <a:lstStyle/>
          <a:p>
            <a:pPr algn="ctr" indent="0" marL="0">
              <a:buNone/>
            </a:pPr>
            <a:r>
              <a:rPr lang="en-US" sz="1500" b="1" dirty="0">
                <a:solidFill>
                  <a:srgbClr val="0E1C42"/>
                </a:solidFill>
                <a:latin typeface="Cambria" pitchFamily="34" charset="0"/>
                <a:ea typeface="Cambria" pitchFamily="34" charset="-122"/>
                <a:cs typeface="Cambria" pitchFamily="34" charset="-120"/>
              </a:rPr>
              <a:t>YOUNG GEOGRAPHER-CITIZEN</a:t>
            </a:r>
            <a:endParaRPr lang="en-US" sz="1500" dirty="0"/>
          </a:p>
        </p:txBody>
      </p:sp>
      <p:sp>
        <p:nvSpPr>
          <p:cNvPr id="10" name="Text 7"/>
          <p:cNvSpPr/>
          <p:nvPr/>
        </p:nvSpPr>
        <p:spPr>
          <a:xfrm>
            <a:off x="3535680" y="4206240"/>
            <a:ext cx="5120640" cy="487680"/>
          </a:xfrm>
          <a:prstGeom prst="rect">
            <a:avLst/>
          </a:prstGeom>
          <a:noFill/>
          <a:ln/>
        </p:spPr>
        <p:txBody>
          <a:bodyPr wrap="square" lIns="0" tIns="0" rIns="0" bIns="0" rtlCol="0" anchor="ctr"/>
          <a:lstStyle/>
          <a:p>
            <a:pPr algn="ctr" indent="0" marL="0">
              <a:buNone/>
            </a:pPr>
            <a:r>
              <a:rPr lang="en-US" sz="1100" i="1" dirty="0">
                <a:solidFill>
                  <a:srgbClr val="0E1C42"/>
                </a:solidFill>
                <a:latin typeface="Calibri" pitchFamily="34" charset="0"/>
                <a:ea typeface="Calibri" pitchFamily="34" charset="-122"/>
                <a:cs typeface="Calibri" pitchFamily="34" charset="-120"/>
              </a:rPr>
              <a:t>A small earth with a curator's notebook tucked behind it.</a:t>
            </a:r>
            <a:endParaRPr lang="en-US" sz="1100" dirty="0"/>
          </a:p>
        </p:txBody>
      </p:sp>
      <p:sp>
        <p:nvSpPr>
          <p:cNvPr id="11" name="Text 8"/>
          <p:cNvSpPr/>
          <p:nvPr/>
        </p:nvSpPr>
        <p:spPr>
          <a:xfrm>
            <a:off x="3535680" y="4754880"/>
            <a:ext cx="5120640" cy="426720"/>
          </a:xfrm>
          <a:prstGeom prst="rect">
            <a:avLst/>
          </a:prstGeom>
          <a:noFill/>
          <a:ln/>
        </p:spPr>
        <p:txBody>
          <a:bodyPr wrap="square" lIns="0" tIns="0" rIns="0" bIns="0" rtlCol="0" anchor="ctr"/>
          <a:lstStyle/>
          <a:p>
            <a:pPr algn="ctr" indent="0" marL="0">
              <a:buNone/>
            </a:pPr>
            <a:r>
              <a:rPr lang="en-US" sz="1200" b="1" spc="200" kern="0" dirty="0">
                <a:solidFill>
                  <a:srgbClr val="0E1C42"/>
                </a:solidFill>
                <a:latin typeface="Calibri" pitchFamily="34" charset="0"/>
                <a:ea typeface="Calibri" pitchFamily="34" charset="-122"/>
                <a:cs typeface="Calibri" pitchFamily="34" charset="-120"/>
              </a:rPr>
              <a:t>CERTIFIED</a:t>
            </a:r>
            <a:endParaRPr lang="en-US" sz="1200" dirty="0"/>
          </a:p>
        </p:txBody>
      </p:sp>
      <p:sp>
        <p:nvSpPr>
          <p:cNvPr id="12" name="Text 9"/>
          <p:cNvSpPr/>
          <p:nvPr/>
        </p:nvSpPr>
        <p:spPr>
          <a:xfrm>
            <a:off x="975360" y="5669280"/>
            <a:ext cx="10241280" cy="731520"/>
          </a:xfrm>
          <a:prstGeom prst="rect">
            <a:avLst/>
          </a:prstGeom>
          <a:noFill/>
          <a:ln/>
        </p:spPr>
        <p:txBody>
          <a:bodyPr wrap="square" lIns="0" tIns="0" rIns="0" bIns="0" rtlCol="0" anchor="t"/>
          <a:lstStyle/>
          <a:p>
            <a:pPr algn="ctr" indent="0" marL="0">
              <a:buNone/>
            </a:pPr>
            <a:r>
              <a:rPr lang="en-US" sz="1200" i="1" dirty="0">
                <a:solidFill>
                  <a:srgbClr val="55C8E8"/>
                </a:solidFill>
                <a:latin typeface="Calibri" pitchFamily="34" charset="0"/>
                <a:ea typeface="Calibri" pitchFamily="34" charset="-122"/>
                <a:cs typeface="Calibri" pitchFamily="34" charset="-120"/>
              </a:rPr>
              <a:t>You earned every step of this -- eleven rooms, thirty-three weeks, hundreds of careful observations.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365760"/>
            <a:ext cx="11216640" cy="85344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Quick Self-Check: Year in Review</a:t>
            </a:r>
            <a:endParaRPr lang="en-US" sz="3000" dirty="0"/>
          </a:p>
        </p:txBody>
      </p:sp>
      <p:sp>
        <p:nvSpPr>
          <p:cNvPr id="3" name="Text 1"/>
          <p:cNvSpPr/>
          <p:nvPr/>
        </p:nvSpPr>
        <p:spPr>
          <a:xfrm>
            <a:off x="487680" y="1158240"/>
            <a:ext cx="11216640" cy="426720"/>
          </a:xfrm>
          <a:prstGeom prst="rect">
            <a:avLst/>
          </a:prstGeom>
          <a:noFill/>
          <a:ln/>
        </p:spPr>
        <p:txBody>
          <a:bodyPr wrap="square" lIns="0" tIns="0" rIns="0" bIns="0" rtlCol="0" anchor="ctr"/>
          <a:lstStyle/>
          <a:p>
            <a:pPr indent="0" marL="0">
              <a:buNone/>
            </a:pPr>
            <a:r>
              <a:rPr lang="en-US" sz="1300" i="1" dirty="0">
                <a:solidFill>
                  <a:srgbClr val="7A88A8"/>
                </a:solidFill>
                <a:latin typeface="Calibri" pitchFamily="34" charset="0"/>
                <a:ea typeface="Calibri" pitchFamily="34" charset="-122"/>
                <a:cs typeface="Calibri" pitchFamily="34" charset="-120"/>
              </a:rPr>
              <a:t>Not graded -- just for you! Three quick questions before your final reflection.</a:t>
            </a:r>
            <a:endParaRPr lang="en-US" sz="1300" dirty="0"/>
          </a:p>
        </p:txBody>
      </p:sp>
      <p:sp>
        <p:nvSpPr>
          <p:cNvPr id="4" name="Shape 2"/>
          <p:cNvSpPr/>
          <p:nvPr/>
        </p:nvSpPr>
        <p:spPr>
          <a:xfrm>
            <a:off x="487680" y="1706880"/>
            <a:ext cx="11216640" cy="1463040"/>
          </a:xfrm>
          <a:prstGeom prst="roundRect">
            <a:avLst>
              <a:gd name="adj" fmla="val 6667"/>
            </a:avLst>
          </a:prstGeom>
          <a:solidFill>
            <a:srgbClr val="F0F2F8"/>
          </a:solidFill>
          <a:ln/>
        </p:spPr>
      </p:sp>
      <p:sp>
        <p:nvSpPr>
          <p:cNvPr id="5" name="Text 3"/>
          <p:cNvSpPr/>
          <p:nvPr/>
        </p:nvSpPr>
        <p:spPr>
          <a:xfrm>
            <a:off x="670560" y="1804416"/>
            <a:ext cx="10850880" cy="42672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1. What was the museum really teaching you all year?</a:t>
            </a:r>
            <a:endParaRPr lang="en-US" sz="1300" dirty="0"/>
          </a:p>
        </p:txBody>
      </p:sp>
      <p:sp>
        <p:nvSpPr>
          <p:cNvPr id="6" name="Text 4"/>
          <p:cNvSpPr/>
          <p:nvPr/>
        </p:nvSpPr>
        <p:spPr>
          <a:xfrm>
            <a:off x="670560" y="2255520"/>
            <a:ext cx="10850880" cy="853440"/>
          </a:xfrm>
          <a:prstGeom prst="rect">
            <a:avLst/>
          </a:prstGeom>
          <a:noFill/>
          <a:ln/>
        </p:spPr>
        <p:txBody>
          <a:bodyPr wrap="square" lIns="0" tIns="0" rIns="0" bIns="0" rtlCol="0" anchor="t"/>
          <a:lstStyle/>
          <a:p>
            <a:pPr indent="0" marL="0">
              <a:lnSpc>
                <a:spcPct val="105000"/>
              </a:lnSpc>
              <a:buNone/>
            </a:pPr>
            <a:r>
              <a:rPr lang="en-US" sz="1100" dirty="0">
                <a:solidFill>
                  <a:srgbClr val="0E1C42"/>
                </a:solidFill>
                <a:latin typeface="Calibri" pitchFamily="34" charset="0"/>
                <a:ea typeface="Calibri" pitchFamily="34" charset="-122"/>
                <a:cs typeface="Calibri" pitchFamily="34" charset="-120"/>
              </a:rPr>
              <a:t>A. How to fill panels with facts.</a:t>
            </a:r>
            <a:endParaRPr lang="en-US" sz="1100" dirty="0"/>
          </a:p>
          <a:p>
            <a:pPr indent="0" marL="0">
              <a:lnSpc>
                <a:spcPct val="105000"/>
              </a:lnSpc>
              <a:buNone/>
            </a:pPr>
            <a:r>
              <a:rPr lang="en-US" sz="1100" dirty="0">
                <a:solidFill>
                  <a:srgbClr val="0E1C42"/>
                </a:solidFill>
                <a:latin typeface="Calibri" pitchFamily="34" charset="0"/>
                <a:ea typeface="Calibri" pitchFamily="34" charset="-122"/>
                <a:cs typeface="Calibri" pitchFamily="34" charset="-120"/>
              </a:rPr>
              <a:t>B. How to become a young geographer-citizen who sees the world, uses evidence, makes wise choices, and serves.</a:t>
            </a:r>
            <a:endParaRPr lang="en-US" sz="1100" dirty="0"/>
          </a:p>
          <a:p>
            <a:pPr indent="0" marL="0">
              <a:lnSpc>
                <a:spcPct val="105000"/>
              </a:lnSpc>
              <a:buNone/>
            </a:pPr>
            <a:r>
              <a:rPr lang="en-US" sz="1100" dirty="0">
                <a:solidFill>
                  <a:srgbClr val="0E1C42"/>
                </a:solidFill>
                <a:latin typeface="Calibri" pitchFamily="34" charset="0"/>
                <a:ea typeface="Calibri" pitchFamily="34" charset="-122"/>
                <a:cs typeface="Calibri" pitchFamily="34" charset="-120"/>
              </a:rPr>
              <a:t>C. How to memorize the names of every room.</a:t>
            </a:r>
            <a:endParaRPr lang="en-US" sz="1100" dirty="0"/>
          </a:p>
        </p:txBody>
      </p:sp>
      <p:sp>
        <p:nvSpPr>
          <p:cNvPr id="7" name="Shape 5"/>
          <p:cNvSpPr/>
          <p:nvPr/>
        </p:nvSpPr>
        <p:spPr>
          <a:xfrm>
            <a:off x="487680" y="3316224"/>
            <a:ext cx="11216640" cy="1463040"/>
          </a:xfrm>
          <a:prstGeom prst="roundRect">
            <a:avLst>
              <a:gd name="adj" fmla="val 6667"/>
            </a:avLst>
          </a:prstGeom>
          <a:solidFill>
            <a:srgbClr val="F0F2F8"/>
          </a:solidFill>
          <a:ln/>
        </p:spPr>
      </p:sp>
      <p:sp>
        <p:nvSpPr>
          <p:cNvPr id="8" name="Text 6"/>
          <p:cNvSpPr/>
          <p:nvPr/>
        </p:nvSpPr>
        <p:spPr>
          <a:xfrm>
            <a:off x="670560" y="3413760"/>
            <a:ext cx="10850880" cy="42672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2. Which is NOT one of the four habits of a young geographer-citizen?</a:t>
            </a:r>
            <a:endParaRPr lang="en-US" sz="1300" dirty="0"/>
          </a:p>
        </p:txBody>
      </p:sp>
      <p:sp>
        <p:nvSpPr>
          <p:cNvPr id="9" name="Text 7"/>
          <p:cNvSpPr/>
          <p:nvPr/>
        </p:nvSpPr>
        <p:spPr>
          <a:xfrm>
            <a:off x="670560" y="3864864"/>
            <a:ext cx="10850880" cy="853440"/>
          </a:xfrm>
          <a:prstGeom prst="rect">
            <a:avLst/>
          </a:prstGeom>
          <a:noFill/>
          <a:ln/>
        </p:spPr>
        <p:txBody>
          <a:bodyPr wrap="square" lIns="0" tIns="0" rIns="0" bIns="0" rtlCol="0" anchor="t"/>
          <a:lstStyle/>
          <a:p>
            <a:pPr indent="0" marL="0">
              <a:lnSpc>
                <a:spcPct val="105000"/>
              </a:lnSpc>
              <a:buNone/>
            </a:pPr>
            <a:r>
              <a:rPr lang="en-US" sz="1100" dirty="0">
                <a:solidFill>
                  <a:srgbClr val="0E1C42"/>
                </a:solidFill>
                <a:latin typeface="Calibri" pitchFamily="34" charset="0"/>
                <a:ea typeface="Calibri" pitchFamily="34" charset="-122"/>
                <a:cs typeface="Calibri" pitchFamily="34" charset="-120"/>
              </a:rPr>
              <a:t>A. See the world carefully.</a:t>
            </a:r>
            <a:endParaRPr lang="en-US" sz="1100" dirty="0"/>
          </a:p>
          <a:p>
            <a:pPr indent="0" marL="0">
              <a:lnSpc>
                <a:spcPct val="105000"/>
              </a:lnSpc>
              <a:buNone/>
            </a:pPr>
            <a:r>
              <a:rPr lang="en-US" sz="1100" dirty="0">
                <a:solidFill>
                  <a:srgbClr val="0E1C42"/>
                </a:solidFill>
                <a:latin typeface="Calibri" pitchFamily="34" charset="0"/>
                <a:ea typeface="Calibri" pitchFamily="34" charset="-122"/>
                <a:cs typeface="Calibri" pitchFamily="34" charset="-120"/>
              </a:rPr>
              <a:t>B. Use evidence honestly.</a:t>
            </a:r>
            <a:endParaRPr lang="en-US" sz="1100" dirty="0"/>
          </a:p>
          <a:p>
            <a:pPr indent="0" marL="0">
              <a:lnSpc>
                <a:spcPct val="105000"/>
              </a:lnSpc>
              <a:buNone/>
            </a:pPr>
            <a:r>
              <a:rPr lang="en-US" sz="1100" dirty="0">
                <a:solidFill>
                  <a:srgbClr val="0E1C42"/>
                </a:solidFill>
                <a:latin typeface="Calibri" pitchFamily="34" charset="0"/>
                <a:ea typeface="Calibri" pitchFamily="34" charset="-122"/>
                <a:cs typeface="Calibri" pitchFamily="34" charset="-120"/>
              </a:rPr>
              <a:t>C. Always have the loudest opinion in the room.</a:t>
            </a:r>
            <a:endParaRPr lang="en-US" sz="1100" dirty="0"/>
          </a:p>
        </p:txBody>
      </p:sp>
      <p:sp>
        <p:nvSpPr>
          <p:cNvPr id="10" name="Shape 8"/>
          <p:cNvSpPr/>
          <p:nvPr/>
        </p:nvSpPr>
        <p:spPr>
          <a:xfrm>
            <a:off x="487680" y="4925568"/>
            <a:ext cx="11216640" cy="1463040"/>
          </a:xfrm>
          <a:prstGeom prst="roundRect">
            <a:avLst>
              <a:gd name="adj" fmla="val 6667"/>
            </a:avLst>
          </a:prstGeom>
          <a:solidFill>
            <a:srgbClr val="F0F2F8"/>
          </a:solidFill>
          <a:ln/>
        </p:spPr>
      </p:sp>
      <p:sp>
        <p:nvSpPr>
          <p:cNvPr id="11" name="Text 9"/>
          <p:cNvSpPr/>
          <p:nvPr/>
        </p:nvSpPr>
        <p:spPr>
          <a:xfrm>
            <a:off x="670560" y="5023104"/>
            <a:ext cx="10850880" cy="42672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3. What's true about your curator work after this lesson ends?</a:t>
            </a:r>
            <a:endParaRPr lang="en-US" sz="1300" dirty="0"/>
          </a:p>
        </p:txBody>
      </p:sp>
      <p:sp>
        <p:nvSpPr>
          <p:cNvPr id="12" name="Text 10"/>
          <p:cNvSpPr/>
          <p:nvPr/>
        </p:nvSpPr>
        <p:spPr>
          <a:xfrm>
            <a:off x="670560" y="5474208"/>
            <a:ext cx="10850880" cy="853440"/>
          </a:xfrm>
          <a:prstGeom prst="rect">
            <a:avLst/>
          </a:prstGeom>
          <a:noFill/>
          <a:ln/>
        </p:spPr>
        <p:txBody>
          <a:bodyPr wrap="square" lIns="0" tIns="0" rIns="0" bIns="0" rtlCol="0" anchor="t"/>
          <a:lstStyle/>
          <a:p>
            <a:pPr indent="0" marL="0">
              <a:lnSpc>
                <a:spcPct val="105000"/>
              </a:lnSpc>
              <a:buNone/>
            </a:pPr>
            <a:r>
              <a:rPr lang="en-US" sz="1100" dirty="0">
                <a:solidFill>
                  <a:srgbClr val="0E1C42"/>
                </a:solidFill>
                <a:latin typeface="Calibri" pitchFamily="34" charset="0"/>
                <a:ea typeface="Calibri" pitchFamily="34" charset="-122"/>
                <a:cs typeface="Calibri" pitchFamily="34" charset="-120"/>
              </a:rPr>
              <a:t>A. You take what you've learned with you -- at home, in your neighborhood, everywhere.</a:t>
            </a:r>
            <a:endParaRPr lang="en-US" sz="1100" dirty="0"/>
          </a:p>
          <a:p>
            <a:pPr indent="0" marL="0">
              <a:lnSpc>
                <a:spcPct val="105000"/>
              </a:lnSpc>
              <a:buNone/>
            </a:pPr>
            <a:r>
              <a:rPr lang="en-US" sz="1100" dirty="0">
                <a:solidFill>
                  <a:srgbClr val="0E1C42"/>
                </a:solidFill>
                <a:latin typeface="Calibri" pitchFamily="34" charset="0"/>
                <a:ea typeface="Calibri" pitchFamily="34" charset="-122"/>
                <a:cs typeface="Calibri" pitchFamily="34" charset="-120"/>
              </a:rPr>
              <a:t>B. You stop being a curator the second the lesson ends.</a:t>
            </a:r>
            <a:endParaRPr lang="en-US" sz="1100" dirty="0"/>
          </a:p>
          <a:p>
            <a:pPr indent="0" marL="0">
              <a:lnSpc>
                <a:spcPct val="105000"/>
              </a:lnSpc>
              <a:buNone/>
            </a:pPr>
            <a:r>
              <a:rPr lang="en-US" sz="1100" dirty="0">
                <a:solidFill>
                  <a:srgbClr val="0E1C42"/>
                </a:solidFill>
                <a:latin typeface="Calibri" pitchFamily="34" charset="0"/>
                <a:ea typeface="Calibri" pitchFamily="34" charset="-122"/>
                <a:cs typeface="Calibri" pitchFamily="34" charset="-120"/>
              </a:rPr>
              <a:t>C. You hand your badges back.</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487680" y="97536"/>
            <a:ext cx="11216640" cy="304800"/>
          </a:xfrm>
          <a:prstGeom prst="rect">
            <a:avLst/>
          </a:prstGeom>
          <a:noFill/>
          <a:ln/>
        </p:spPr>
        <p:txBody>
          <a:bodyPr wrap="square" lIns="0" tIns="0" rIns="0" bIns="0"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SELF-CHECK ANSWERS</a:t>
            </a:r>
            <a:endParaRPr lang="en-US" sz="1000" dirty="0"/>
          </a:p>
        </p:txBody>
      </p:sp>
      <p:sp>
        <p:nvSpPr>
          <p:cNvPr id="3" name="Text 1"/>
          <p:cNvSpPr/>
          <p:nvPr/>
        </p:nvSpPr>
        <p:spPr>
          <a:xfrm>
            <a:off x="487680" y="487680"/>
            <a:ext cx="11216640" cy="792480"/>
          </a:xfrm>
          <a:prstGeom prst="rect">
            <a:avLst/>
          </a:prstGeom>
          <a:noFill/>
          <a:ln/>
        </p:spPr>
        <p:txBody>
          <a:bodyPr wrap="square" lIns="0" tIns="0" rIns="0" bIns="0" rtlCol="0" anchor="ctr"/>
          <a:lstStyle/>
          <a:p>
            <a:pPr algn="ctr" indent="0" marL="0">
              <a:buNone/>
            </a:pPr>
            <a:r>
              <a:rPr lang="en-US" sz="2200" b="1" dirty="0">
                <a:solidFill>
                  <a:srgbClr val="D4943A"/>
                </a:solidFill>
                <a:latin typeface="Cambria" pitchFamily="34" charset="0"/>
                <a:ea typeface="Cambria" pitchFamily="34" charset="-122"/>
                <a:cs typeface="Cambria" pitchFamily="34" charset="-120"/>
              </a:rPr>
              <a:t>Three for Three. You See What This Year Was For.</a:t>
            </a:r>
            <a:endParaRPr lang="en-US" sz="2200" dirty="0"/>
          </a:p>
        </p:txBody>
      </p:sp>
      <p:sp>
        <p:nvSpPr>
          <p:cNvPr id="4" name="Shape 2"/>
          <p:cNvSpPr/>
          <p:nvPr/>
        </p:nvSpPr>
        <p:spPr>
          <a:xfrm>
            <a:off x="609600" y="1524000"/>
            <a:ext cx="10972800" cy="1219200"/>
          </a:xfrm>
          <a:prstGeom prst="roundRect">
            <a:avLst>
              <a:gd name="adj" fmla="val 10000"/>
            </a:avLst>
          </a:prstGeom>
          <a:solidFill>
            <a:srgbClr val="1A2D5A"/>
          </a:solidFill>
          <a:ln/>
        </p:spPr>
      </p:sp>
      <p:sp>
        <p:nvSpPr>
          <p:cNvPr id="5" name="Text 3"/>
          <p:cNvSpPr/>
          <p:nvPr/>
        </p:nvSpPr>
        <p:spPr>
          <a:xfrm>
            <a:off x="792480" y="1621536"/>
            <a:ext cx="1097280" cy="1024128"/>
          </a:xfrm>
          <a:prstGeom prst="rect">
            <a:avLst/>
          </a:prstGeom>
          <a:noFill/>
          <a:ln/>
        </p:spPr>
        <p:txBody>
          <a:bodyPr wrap="square" lIns="0" tIns="0" rIns="0" bIns="0" rtlCol="0" anchor="ctr"/>
          <a:lstStyle/>
          <a:p>
            <a:pPr indent="0" marL="0">
              <a:buNone/>
            </a:pPr>
            <a:r>
              <a:rPr lang="en-US" sz="2000" b="1" dirty="0">
                <a:solidFill>
                  <a:srgbClr val="34B76F"/>
                </a:solidFill>
                <a:latin typeface="Calibri" pitchFamily="34" charset="0"/>
                <a:ea typeface="Calibri" pitchFamily="34" charset="-122"/>
                <a:cs typeface="Calibri" pitchFamily="34" charset="-120"/>
              </a:rPr>
              <a:t>1. B</a:t>
            </a:r>
            <a:endParaRPr lang="en-US" sz="2000" dirty="0"/>
          </a:p>
        </p:txBody>
      </p:sp>
      <p:sp>
        <p:nvSpPr>
          <p:cNvPr id="6" name="Text 4"/>
          <p:cNvSpPr/>
          <p:nvPr/>
        </p:nvSpPr>
        <p:spPr>
          <a:xfrm>
            <a:off x="2011680" y="1645920"/>
            <a:ext cx="9387840" cy="975360"/>
          </a:xfrm>
          <a:prstGeom prst="rect">
            <a:avLst/>
          </a:prstGeom>
          <a:noFill/>
          <a:ln/>
        </p:spPr>
        <p:txBody>
          <a:bodyPr wrap="square" lIns="0" tIns="0" rIns="0" bIns="0" rtlCol="0" anchor="ctr"/>
          <a:lstStyle/>
          <a:p>
            <a:pPr indent="0" marL="0">
              <a:buNone/>
            </a:pPr>
            <a:r>
              <a:rPr lang="en-US" sz="1200" i="1" dirty="0">
                <a:solidFill>
                  <a:srgbClr val="E4E9F5"/>
                </a:solidFill>
                <a:latin typeface="Calibri" pitchFamily="34" charset="0"/>
                <a:ea typeface="Calibri" pitchFamily="34" charset="-122"/>
                <a:cs typeface="Calibri" pitchFamily="34" charset="-120"/>
              </a:rPr>
              <a:t>The director said it best -- the museum was never really about the exhibits. It was about who you became.</a:t>
            </a:r>
            <a:endParaRPr lang="en-US" sz="1200" dirty="0"/>
          </a:p>
        </p:txBody>
      </p:sp>
      <p:sp>
        <p:nvSpPr>
          <p:cNvPr id="7" name="Shape 5"/>
          <p:cNvSpPr/>
          <p:nvPr/>
        </p:nvSpPr>
        <p:spPr>
          <a:xfrm>
            <a:off x="609600" y="2865120"/>
            <a:ext cx="10972800" cy="1219200"/>
          </a:xfrm>
          <a:prstGeom prst="roundRect">
            <a:avLst>
              <a:gd name="adj" fmla="val 10000"/>
            </a:avLst>
          </a:prstGeom>
          <a:solidFill>
            <a:srgbClr val="1A2D5A"/>
          </a:solidFill>
          <a:ln/>
        </p:spPr>
      </p:sp>
      <p:sp>
        <p:nvSpPr>
          <p:cNvPr id="8" name="Text 6"/>
          <p:cNvSpPr/>
          <p:nvPr/>
        </p:nvSpPr>
        <p:spPr>
          <a:xfrm>
            <a:off x="792480" y="2962656"/>
            <a:ext cx="1097280" cy="1024128"/>
          </a:xfrm>
          <a:prstGeom prst="rect">
            <a:avLst/>
          </a:prstGeom>
          <a:noFill/>
          <a:ln/>
        </p:spPr>
        <p:txBody>
          <a:bodyPr wrap="square" lIns="0" tIns="0" rIns="0" bIns="0" rtlCol="0" anchor="ctr"/>
          <a:lstStyle/>
          <a:p>
            <a:pPr indent="0" marL="0">
              <a:buNone/>
            </a:pPr>
            <a:r>
              <a:rPr lang="en-US" sz="2000" b="1" dirty="0">
                <a:solidFill>
                  <a:srgbClr val="34B76F"/>
                </a:solidFill>
                <a:latin typeface="Calibri" pitchFamily="34" charset="0"/>
                <a:ea typeface="Calibri" pitchFamily="34" charset="-122"/>
                <a:cs typeface="Calibri" pitchFamily="34" charset="-120"/>
              </a:rPr>
              <a:t>2. C</a:t>
            </a:r>
            <a:endParaRPr lang="en-US" sz="2000" dirty="0"/>
          </a:p>
        </p:txBody>
      </p:sp>
      <p:sp>
        <p:nvSpPr>
          <p:cNvPr id="9" name="Text 7"/>
          <p:cNvSpPr/>
          <p:nvPr/>
        </p:nvSpPr>
        <p:spPr>
          <a:xfrm>
            <a:off x="2011680" y="2987040"/>
            <a:ext cx="9387840" cy="975360"/>
          </a:xfrm>
          <a:prstGeom prst="rect">
            <a:avLst/>
          </a:prstGeom>
          <a:noFill/>
          <a:ln/>
        </p:spPr>
        <p:txBody>
          <a:bodyPr wrap="square" lIns="0" tIns="0" rIns="0" bIns="0" rtlCol="0" anchor="ctr"/>
          <a:lstStyle/>
          <a:p>
            <a:pPr indent="0" marL="0">
              <a:buNone/>
            </a:pPr>
            <a:r>
              <a:rPr lang="en-US" sz="1200" i="1" dirty="0">
                <a:solidFill>
                  <a:srgbClr val="E4E9F5"/>
                </a:solidFill>
                <a:latin typeface="Calibri" pitchFamily="34" charset="0"/>
                <a:ea typeface="Calibri" pitchFamily="34" charset="-122"/>
                <a:cs typeface="Calibri" pitchFamily="34" charset="-120"/>
              </a:rPr>
              <a:t>The four habits are: see carefully, use evidence honestly, make wise choices, and serve. Loud opinions weren't on the list.</a:t>
            </a:r>
            <a:endParaRPr lang="en-US" sz="1200" dirty="0"/>
          </a:p>
        </p:txBody>
      </p:sp>
      <p:sp>
        <p:nvSpPr>
          <p:cNvPr id="10" name="Shape 8"/>
          <p:cNvSpPr/>
          <p:nvPr/>
        </p:nvSpPr>
        <p:spPr>
          <a:xfrm>
            <a:off x="609600" y="4206240"/>
            <a:ext cx="10972800" cy="1219200"/>
          </a:xfrm>
          <a:prstGeom prst="roundRect">
            <a:avLst>
              <a:gd name="adj" fmla="val 10000"/>
            </a:avLst>
          </a:prstGeom>
          <a:solidFill>
            <a:srgbClr val="1A2D5A"/>
          </a:solidFill>
          <a:ln/>
        </p:spPr>
      </p:sp>
      <p:sp>
        <p:nvSpPr>
          <p:cNvPr id="11" name="Text 9"/>
          <p:cNvSpPr/>
          <p:nvPr/>
        </p:nvSpPr>
        <p:spPr>
          <a:xfrm>
            <a:off x="792480" y="4303776"/>
            <a:ext cx="1097280" cy="1024128"/>
          </a:xfrm>
          <a:prstGeom prst="rect">
            <a:avLst/>
          </a:prstGeom>
          <a:noFill/>
          <a:ln/>
        </p:spPr>
        <p:txBody>
          <a:bodyPr wrap="square" lIns="0" tIns="0" rIns="0" bIns="0" rtlCol="0" anchor="ctr"/>
          <a:lstStyle/>
          <a:p>
            <a:pPr indent="0" marL="0">
              <a:buNone/>
            </a:pPr>
            <a:r>
              <a:rPr lang="en-US" sz="2000" b="1" dirty="0">
                <a:solidFill>
                  <a:srgbClr val="34B76F"/>
                </a:solidFill>
                <a:latin typeface="Calibri" pitchFamily="34" charset="0"/>
                <a:ea typeface="Calibri" pitchFamily="34" charset="-122"/>
                <a:cs typeface="Calibri" pitchFamily="34" charset="-120"/>
              </a:rPr>
              <a:t>3. A</a:t>
            </a:r>
            <a:endParaRPr lang="en-US" sz="2000" dirty="0"/>
          </a:p>
        </p:txBody>
      </p:sp>
      <p:sp>
        <p:nvSpPr>
          <p:cNvPr id="12" name="Text 10"/>
          <p:cNvSpPr/>
          <p:nvPr/>
        </p:nvSpPr>
        <p:spPr>
          <a:xfrm>
            <a:off x="2011680" y="4328160"/>
            <a:ext cx="9387840" cy="975360"/>
          </a:xfrm>
          <a:prstGeom prst="rect">
            <a:avLst/>
          </a:prstGeom>
          <a:noFill/>
          <a:ln/>
        </p:spPr>
        <p:txBody>
          <a:bodyPr wrap="square" lIns="0" tIns="0" rIns="0" bIns="0" rtlCol="0" anchor="ctr"/>
          <a:lstStyle/>
          <a:p>
            <a:pPr indent="0" marL="0">
              <a:buNone/>
            </a:pPr>
            <a:r>
              <a:rPr lang="en-US" sz="1200" i="1" dirty="0">
                <a:solidFill>
                  <a:srgbClr val="E4E9F5"/>
                </a:solidFill>
                <a:latin typeface="Calibri" pitchFamily="34" charset="0"/>
                <a:ea typeface="Calibri" pitchFamily="34" charset="-122"/>
                <a:cs typeface="Calibri" pitchFamily="34" charset="-120"/>
              </a:rPr>
              <a:t>Being a young geographer-citizen doesn't end when the lesson does. You carry it with you everywhere.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1216640" cy="304800"/>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ASSIGNMENT · EVIDENCE</a:t>
            </a:r>
            <a:endParaRPr lang="en-US" sz="1000" dirty="0"/>
          </a:p>
        </p:txBody>
      </p:sp>
      <p:sp>
        <p:nvSpPr>
          <p:cNvPr id="3" name="Text 1"/>
          <p:cNvSpPr/>
          <p:nvPr/>
        </p:nvSpPr>
        <p:spPr>
          <a:xfrm>
            <a:off x="487680" y="426720"/>
            <a:ext cx="11216640" cy="67056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Your Final Historian-Citizen Reflection</a:t>
            </a:r>
            <a:endParaRPr lang="en-US" sz="2400" dirty="0"/>
          </a:p>
        </p:txBody>
      </p:sp>
      <p:sp>
        <p:nvSpPr>
          <p:cNvPr id="4" name="Text 2"/>
          <p:cNvSpPr/>
          <p:nvPr/>
        </p:nvSpPr>
        <p:spPr>
          <a:xfrm>
            <a:off x="487680" y="1097280"/>
            <a:ext cx="11216640" cy="426720"/>
          </a:xfrm>
          <a:prstGeom prst="rect">
            <a:avLst/>
          </a:prstGeom>
          <a:noFill/>
          <a:ln/>
        </p:spPr>
        <p:txBody>
          <a:bodyPr wrap="square" lIns="0" tIns="0" rIns="0" bIns="0" rtlCol="0" anchor="ctr"/>
          <a:lstStyle/>
          <a:p>
            <a:pPr indent="0" marL="0">
              <a:buNone/>
            </a:pPr>
            <a:r>
              <a:rPr lang="en-US" sz="1300" i="1" dirty="0">
                <a:solidFill>
                  <a:srgbClr val="7A88A8"/>
                </a:solidFill>
                <a:latin typeface="Calibri" pitchFamily="34" charset="0"/>
                <a:ea typeface="Calibri" pitchFamily="34" charset="-122"/>
                <a:cs typeface="Calibri" pitchFamily="34" charset="-120"/>
              </a:rPr>
              <a:t>Reflection Questions -- honest answers about your year as a curator.</a:t>
            </a:r>
            <a:endParaRPr lang="en-US" sz="1300" dirty="0"/>
          </a:p>
        </p:txBody>
      </p:sp>
      <p:sp>
        <p:nvSpPr>
          <p:cNvPr id="5" name="Shape 3"/>
          <p:cNvSpPr/>
          <p:nvPr/>
        </p:nvSpPr>
        <p:spPr>
          <a:xfrm>
            <a:off x="487680" y="1645920"/>
            <a:ext cx="11216640" cy="1524000"/>
          </a:xfrm>
          <a:prstGeom prst="roundRect">
            <a:avLst>
              <a:gd name="adj" fmla="val 6400"/>
            </a:avLst>
          </a:prstGeom>
          <a:solidFill>
            <a:srgbClr val="F0F2F8"/>
          </a:solidFill>
          <a:ln w="12700">
            <a:solidFill>
              <a:srgbClr val="D8DEEC"/>
            </a:solidFill>
            <a:prstDash val="solid"/>
          </a:ln>
        </p:spPr>
      </p:sp>
      <p:sp>
        <p:nvSpPr>
          <p:cNvPr id="6" name="Text 4"/>
          <p:cNvSpPr/>
          <p:nvPr/>
        </p:nvSpPr>
        <p:spPr>
          <a:xfrm>
            <a:off x="609600" y="1743456"/>
            <a:ext cx="609600" cy="1341120"/>
          </a:xfrm>
          <a:prstGeom prst="rect">
            <a:avLst/>
          </a:prstGeom>
          <a:noFill/>
          <a:ln/>
        </p:spPr>
        <p:txBody>
          <a:bodyPr wrap="square" lIns="0" tIns="0" rIns="0" bIns="0" rtlCol="0" anchor="t"/>
          <a:lstStyle/>
          <a:p>
            <a:pPr indent="0" marL="0">
              <a:buNone/>
            </a:pPr>
            <a:r>
              <a:rPr lang="en-US" sz="2000" b="1" dirty="0">
                <a:solidFill>
                  <a:srgbClr val="1A8A7D"/>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280160" y="1743456"/>
            <a:ext cx="10241280" cy="792480"/>
          </a:xfrm>
          <a:prstGeom prst="rect">
            <a:avLst/>
          </a:prstGeom>
          <a:noFill/>
          <a:ln/>
        </p:spPr>
        <p:txBody>
          <a:bodyPr wrap="square" lIns="0" tIns="0" rIns="0" bIns="0" rtlCol="0" anchor="t"/>
          <a:lstStyle/>
          <a:p>
            <a:pPr indent="0" marL="0">
              <a:lnSpc>
                <a:spcPct val="105000"/>
              </a:lnSpc>
              <a:buNone/>
            </a:pPr>
            <a:r>
              <a:rPr lang="en-US" sz="1300" b="1" dirty="0">
                <a:solidFill>
                  <a:srgbClr val="0E1C42"/>
                </a:solidFill>
                <a:latin typeface="Calibri" pitchFamily="34" charset="0"/>
                <a:ea typeface="Calibri" pitchFamily="34" charset="-122"/>
                <a:cs typeface="Calibri" pitchFamily="34" charset="-120"/>
              </a:rPr>
              <a:t>What's one thing you can DO now that you couldn't do at the start of the year? Name a skill, not a fact.</a:t>
            </a:r>
            <a:endParaRPr lang="en-US" sz="1300" dirty="0"/>
          </a:p>
        </p:txBody>
      </p:sp>
      <p:sp>
        <p:nvSpPr>
          <p:cNvPr id="8" name="Text 6"/>
          <p:cNvSpPr/>
          <p:nvPr/>
        </p:nvSpPr>
        <p:spPr>
          <a:xfrm>
            <a:off x="1280160" y="2560320"/>
            <a:ext cx="10241280" cy="548640"/>
          </a:xfrm>
          <a:prstGeom prst="rect">
            <a:avLst/>
          </a:prstGeom>
          <a:noFill/>
          <a:ln/>
        </p:spPr>
        <p:txBody>
          <a:bodyPr wrap="square" lIns="0" tIns="0" rIns="0" bIns="0" rtlCol="0" anchor="t"/>
          <a:lstStyle/>
          <a:p>
            <a:pPr indent="0" marL="0">
              <a:buNone/>
            </a:pPr>
            <a:r>
              <a:rPr lang="en-US" sz="1050" i="1" dirty="0">
                <a:solidFill>
                  <a:srgbClr val="7A88A8"/>
                </a:solidFill>
                <a:latin typeface="Calibri" pitchFamily="34" charset="0"/>
                <a:ea typeface="Calibri" pitchFamily="34" charset="-122"/>
                <a:cs typeface="Calibri" pitchFamily="34" charset="-120"/>
              </a:rPr>
              <a:t>Think about reading maps, sorting sources, comparing regions, or explaining a virtue.</a:t>
            </a:r>
            <a:endParaRPr lang="en-US" sz="1050" dirty="0"/>
          </a:p>
        </p:txBody>
      </p:sp>
      <p:sp>
        <p:nvSpPr>
          <p:cNvPr id="9" name="Shape 7"/>
          <p:cNvSpPr/>
          <p:nvPr/>
        </p:nvSpPr>
        <p:spPr>
          <a:xfrm>
            <a:off x="487680" y="3255264"/>
            <a:ext cx="11216640" cy="1524000"/>
          </a:xfrm>
          <a:prstGeom prst="roundRect">
            <a:avLst>
              <a:gd name="adj" fmla="val 6400"/>
            </a:avLst>
          </a:prstGeom>
          <a:solidFill>
            <a:srgbClr val="F0F2F8"/>
          </a:solidFill>
          <a:ln w="12700">
            <a:solidFill>
              <a:srgbClr val="D8DEEC"/>
            </a:solidFill>
            <a:prstDash val="solid"/>
          </a:ln>
        </p:spPr>
      </p:sp>
      <p:sp>
        <p:nvSpPr>
          <p:cNvPr id="10" name="Text 8"/>
          <p:cNvSpPr/>
          <p:nvPr/>
        </p:nvSpPr>
        <p:spPr>
          <a:xfrm>
            <a:off x="609600" y="3352800"/>
            <a:ext cx="609600" cy="1341120"/>
          </a:xfrm>
          <a:prstGeom prst="rect">
            <a:avLst/>
          </a:prstGeom>
          <a:noFill/>
          <a:ln/>
        </p:spPr>
        <p:txBody>
          <a:bodyPr wrap="square" lIns="0" tIns="0" rIns="0" bIns="0" rtlCol="0" anchor="t"/>
          <a:lstStyle/>
          <a:p>
            <a:pPr indent="0" marL="0">
              <a:buNone/>
            </a:pPr>
            <a:r>
              <a:rPr lang="en-US" sz="2000" b="1" dirty="0">
                <a:solidFill>
                  <a:srgbClr val="1A8A7D"/>
                </a:solidFill>
                <a:latin typeface="Cambria" pitchFamily="34" charset="0"/>
                <a:ea typeface="Cambria" pitchFamily="34" charset="-122"/>
                <a:cs typeface="Cambria" pitchFamily="34" charset="-120"/>
              </a:rPr>
              <a:t>2</a:t>
            </a:r>
            <a:endParaRPr lang="en-US" sz="2000" dirty="0"/>
          </a:p>
        </p:txBody>
      </p:sp>
      <p:sp>
        <p:nvSpPr>
          <p:cNvPr id="11" name="Text 9"/>
          <p:cNvSpPr/>
          <p:nvPr/>
        </p:nvSpPr>
        <p:spPr>
          <a:xfrm>
            <a:off x="1280160" y="3352800"/>
            <a:ext cx="10241280" cy="792480"/>
          </a:xfrm>
          <a:prstGeom prst="rect">
            <a:avLst/>
          </a:prstGeom>
          <a:noFill/>
          <a:ln/>
        </p:spPr>
        <p:txBody>
          <a:bodyPr wrap="square" lIns="0" tIns="0" rIns="0" bIns="0" rtlCol="0" anchor="t"/>
          <a:lstStyle/>
          <a:p>
            <a:pPr indent="0" marL="0">
              <a:lnSpc>
                <a:spcPct val="105000"/>
              </a:lnSpc>
              <a:buNone/>
            </a:pPr>
            <a:r>
              <a:rPr lang="en-US" sz="1300" b="1" dirty="0">
                <a:solidFill>
                  <a:srgbClr val="0E1C42"/>
                </a:solidFill>
                <a:latin typeface="Calibri" pitchFamily="34" charset="0"/>
                <a:ea typeface="Calibri" pitchFamily="34" charset="-122"/>
                <a:cs typeface="Calibri" pitchFamily="34" charset="-120"/>
              </a:rPr>
              <a:t>What was the hardest part of being a curator this year? What did you learn from that hard part?</a:t>
            </a:r>
            <a:endParaRPr lang="en-US" sz="1300" dirty="0"/>
          </a:p>
        </p:txBody>
      </p:sp>
      <p:sp>
        <p:nvSpPr>
          <p:cNvPr id="12" name="Text 10"/>
          <p:cNvSpPr/>
          <p:nvPr/>
        </p:nvSpPr>
        <p:spPr>
          <a:xfrm>
            <a:off x="1280160" y="4169664"/>
            <a:ext cx="10241280" cy="548640"/>
          </a:xfrm>
          <a:prstGeom prst="rect">
            <a:avLst/>
          </a:prstGeom>
          <a:noFill/>
          <a:ln/>
        </p:spPr>
        <p:txBody>
          <a:bodyPr wrap="square" lIns="0" tIns="0" rIns="0" bIns="0" rtlCol="0" anchor="t"/>
          <a:lstStyle/>
          <a:p>
            <a:pPr indent="0" marL="0">
              <a:buNone/>
            </a:pPr>
            <a:r>
              <a:rPr lang="en-US" sz="1050" i="1" dirty="0">
                <a:solidFill>
                  <a:srgbClr val="7A88A8"/>
                </a:solidFill>
                <a:latin typeface="Calibri" pitchFamily="34" charset="0"/>
                <a:ea typeface="Calibri" pitchFamily="34" charset="-122"/>
                <a:cs typeface="Calibri" pitchFamily="34" charset="-120"/>
              </a:rPr>
              <a:t>Be honest. Even the hardest parts of the year taught you something.</a:t>
            </a:r>
            <a:endParaRPr lang="en-US" sz="1050" dirty="0"/>
          </a:p>
        </p:txBody>
      </p:sp>
      <p:sp>
        <p:nvSpPr>
          <p:cNvPr id="13" name="Shape 11"/>
          <p:cNvSpPr/>
          <p:nvPr/>
        </p:nvSpPr>
        <p:spPr>
          <a:xfrm>
            <a:off x="487680" y="4864608"/>
            <a:ext cx="11216640" cy="1524000"/>
          </a:xfrm>
          <a:prstGeom prst="roundRect">
            <a:avLst>
              <a:gd name="adj" fmla="val 6400"/>
            </a:avLst>
          </a:prstGeom>
          <a:solidFill>
            <a:srgbClr val="F0F2F8"/>
          </a:solidFill>
          <a:ln w="12700">
            <a:solidFill>
              <a:srgbClr val="D8DEEC"/>
            </a:solidFill>
            <a:prstDash val="solid"/>
          </a:ln>
        </p:spPr>
      </p:sp>
      <p:sp>
        <p:nvSpPr>
          <p:cNvPr id="14" name="Text 12"/>
          <p:cNvSpPr/>
          <p:nvPr/>
        </p:nvSpPr>
        <p:spPr>
          <a:xfrm>
            <a:off x="609600" y="4962144"/>
            <a:ext cx="609600" cy="1341120"/>
          </a:xfrm>
          <a:prstGeom prst="rect">
            <a:avLst/>
          </a:prstGeom>
          <a:noFill/>
          <a:ln/>
        </p:spPr>
        <p:txBody>
          <a:bodyPr wrap="square" lIns="0" tIns="0" rIns="0" bIns="0" rtlCol="0" anchor="t"/>
          <a:lstStyle/>
          <a:p>
            <a:pPr indent="0" marL="0">
              <a:buNone/>
            </a:pPr>
            <a:r>
              <a:rPr lang="en-US" sz="2000" b="1" dirty="0">
                <a:solidFill>
                  <a:srgbClr val="1A8A7D"/>
                </a:solidFill>
                <a:latin typeface="Cambria" pitchFamily="34" charset="0"/>
                <a:ea typeface="Cambria" pitchFamily="34" charset="-122"/>
                <a:cs typeface="Cambria" pitchFamily="34" charset="-120"/>
              </a:rPr>
              <a:t>3</a:t>
            </a:r>
            <a:endParaRPr lang="en-US" sz="2000" dirty="0"/>
          </a:p>
        </p:txBody>
      </p:sp>
      <p:sp>
        <p:nvSpPr>
          <p:cNvPr id="15" name="Text 13"/>
          <p:cNvSpPr/>
          <p:nvPr/>
        </p:nvSpPr>
        <p:spPr>
          <a:xfrm>
            <a:off x="1280160" y="4962144"/>
            <a:ext cx="10241280" cy="792480"/>
          </a:xfrm>
          <a:prstGeom prst="rect">
            <a:avLst/>
          </a:prstGeom>
          <a:noFill/>
          <a:ln/>
        </p:spPr>
        <p:txBody>
          <a:bodyPr wrap="square" lIns="0" tIns="0" rIns="0" bIns="0" rtlCol="0" anchor="t"/>
          <a:lstStyle/>
          <a:p>
            <a:pPr indent="0" marL="0">
              <a:lnSpc>
                <a:spcPct val="105000"/>
              </a:lnSpc>
              <a:buNone/>
            </a:pPr>
            <a:r>
              <a:rPr lang="en-US" sz="1300" b="1" dirty="0">
                <a:solidFill>
                  <a:srgbClr val="0E1C42"/>
                </a:solidFill>
                <a:latin typeface="Calibri" pitchFamily="34" charset="0"/>
                <a:ea typeface="Calibri" pitchFamily="34" charset="-122"/>
                <a:cs typeface="Calibri" pitchFamily="34" charset="-120"/>
              </a:rPr>
              <a:t>Name one way you'll use a curator skill OUTSIDE school — at home, in your neighborhood, or with friends.</a:t>
            </a:r>
            <a:endParaRPr lang="en-US" sz="1300" dirty="0"/>
          </a:p>
        </p:txBody>
      </p:sp>
      <p:sp>
        <p:nvSpPr>
          <p:cNvPr id="16" name="Text 14"/>
          <p:cNvSpPr/>
          <p:nvPr/>
        </p:nvSpPr>
        <p:spPr>
          <a:xfrm>
            <a:off x="1280160" y="5779008"/>
            <a:ext cx="10241280" cy="548640"/>
          </a:xfrm>
          <a:prstGeom prst="rect">
            <a:avLst/>
          </a:prstGeom>
          <a:noFill/>
          <a:ln/>
        </p:spPr>
        <p:txBody>
          <a:bodyPr wrap="square" lIns="0" tIns="0" rIns="0" bIns="0" rtlCol="0" anchor="t"/>
          <a:lstStyle/>
          <a:p>
            <a:pPr indent="0" marL="0">
              <a:buNone/>
            </a:pPr>
            <a:r>
              <a:rPr lang="en-US" sz="1050" i="1" dirty="0">
                <a:solidFill>
                  <a:srgbClr val="7A88A8"/>
                </a:solidFill>
                <a:latin typeface="Calibri" pitchFamily="34" charset="0"/>
                <a:ea typeface="Calibri" pitchFamily="34" charset="-122"/>
                <a:cs typeface="Calibri" pitchFamily="34" charset="-120"/>
              </a:rPr>
              <a:t>Maybe checking a source, asking before claiming, reading a map, or showing a civic virtue.</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1216640" cy="304800"/>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CURATOR TASK</a:t>
            </a:r>
            <a:endParaRPr lang="en-US" sz="1000" dirty="0"/>
          </a:p>
        </p:txBody>
      </p:sp>
      <p:sp>
        <p:nvSpPr>
          <p:cNvPr id="3" name="Text 1"/>
          <p:cNvSpPr/>
          <p:nvPr/>
        </p:nvSpPr>
        <p:spPr>
          <a:xfrm>
            <a:off x="487680" y="426720"/>
            <a:ext cx="11216640" cy="67056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Final Historian-Citizen Reflection</a:t>
            </a:r>
            <a:endParaRPr lang="en-US" sz="2400" dirty="0"/>
          </a:p>
        </p:txBody>
      </p:sp>
      <p:sp>
        <p:nvSpPr>
          <p:cNvPr id="4" name="Text 2"/>
          <p:cNvSpPr/>
          <p:nvPr/>
        </p:nvSpPr>
        <p:spPr>
          <a:xfrm>
            <a:off x="487680" y="1121664"/>
            <a:ext cx="11216640" cy="731520"/>
          </a:xfrm>
          <a:prstGeom prst="rect">
            <a:avLst/>
          </a:prstGeom>
          <a:noFill/>
          <a:ln/>
        </p:spPr>
        <p:txBody>
          <a:bodyPr wrap="square" lIns="0" tIns="0" rIns="0" bIns="0" rtlCol="0" anchor="t"/>
          <a:lstStyle/>
          <a:p>
            <a:pPr indent="0" marL="0">
              <a:buNone/>
            </a:pPr>
            <a:r>
              <a:rPr lang="en-US" sz="1200" i="1" dirty="0">
                <a:solidFill>
                  <a:srgbClr val="7A88A8"/>
                </a:solidFill>
                <a:latin typeface="Calibri" pitchFamily="34" charset="0"/>
                <a:ea typeface="Calibri" pitchFamily="34" charset="-122"/>
                <a:cs typeface="Calibri" pitchFamily="34" charset="-120"/>
              </a:rPr>
              <a:t>Write your final Historian-Citizen Reflection. Use the four prompts below. Aim for 4–5 sentences total — but go longer if you have more to say. The director will read every one of these before the doors open.</a:t>
            </a:r>
            <a:endParaRPr lang="en-US" sz="1200" dirty="0"/>
          </a:p>
        </p:txBody>
      </p:sp>
      <p:sp>
        <p:nvSpPr>
          <p:cNvPr id="5" name="Shape 3"/>
          <p:cNvSpPr/>
          <p:nvPr/>
        </p:nvSpPr>
        <p:spPr>
          <a:xfrm>
            <a:off x="609600" y="2011680"/>
            <a:ext cx="5364480" cy="1889760"/>
          </a:xfrm>
          <a:prstGeom prst="roundRect">
            <a:avLst>
              <a:gd name="adj" fmla="val 6452"/>
            </a:avLst>
          </a:prstGeom>
          <a:solidFill>
            <a:srgbClr val="F0F2F8"/>
          </a:solidFill>
          <a:ln w="19050">
            <a:solidFill>
              <a:srgbClr val="1A8A7D"/>
            </a:solidFill>
            <a:prstDash val="solid"/>
          </a:ln>
        </p:spPr>
      </p:sp>
      <p:sp>
        <p:nvSpPr>
          <p:cNvPr id="6" name="Text 4"/>
          <p:cNvSpPr/>
          <p:nvPr/>
        </p:nvSpPr>
        <p:spPr>
          <a:xfrm>
            <a:off x="853440" y="2133600"/>
            <a:ext cx="4876800" cy="487680"/>
          </a:xfrm>
          <a:prstGeom prst="rect">
            <a:avLst/>
          </a:prstGeom>
          <a:noFill/>
          <a:ln/>
        </p:spPr>
        <p:txBody>
          <a:bodyPr wrap="square" lIns="0" tIns="0" rIns="0" bIns="0" rtlCol="0" anchor="ctr"/>
          <a:lstStyle/>
          <a:p>
            <a:pPr indent="0" marL="0">
              <a:buNone/>
            </a:pPr>
            <a:r>
              <a:rPr lang="en-US" sz="1300" b="1" dirty="0">
                <a:solidFill>
                  <a:srgbClr val="1A8A7D"/>
                </a:solidFill>
                <a:latin typeface="Calibri" pitchFamily="34" charset="0"/>
                <a:ea typeface="Calibri" pitchFamily="34" charset="-122"/>
                <a:cs typeface="Calibri" pitchFamily="34" charset="-120"/>
              </a:rPr>
              <a:t>1. See the world carefully</a:t>
            </a:r>
            <a:endParaRPr lang="en-US" sz="1300" dirty="0"/>
          </a:p>
        </p:txBody>
      </p:sp>
      <p:sp>
        <p:nvSpPr>
          <p:cNvPr id="7" name="Text 5"/>
          <p:cNvSpPr/>
          <p:nvPr/>
        </p:nvSpPr>
        <p:spPr>
          <a:xfrm>
            <a:off x="853440" y="2682240"/>
            <a:ext cx="4876800" cy="1097280"/>
          </a:xfrm>
          <a:prstGeom prst="rect">
            <a:avLst/>
          </a:prstGeom>
          <a:noFill/>
          <a:ln/>
        </p:spPr>
        <p:txBody>
          <a:bodyPr wrap="square" lIns="0" tIns="0" rIns="0" bIns="0" rtlCol="0" anchor="t"/>
          <a:lstStyle/>
          <a:p>
            <a:pPr indent="0" marL="0">
              <a:buNone/>
            </a:pPr>
            <a:r>
              <a:rPr lang="en-US" sz="1250" i="1" dirty="0">
                <a:solidFill>
                  <a:srgbClr val="0E1C42"/>
                </a:solidFill>
                <a:latin typeface="Cambria" pitchFamily="34" charset="0"/>
                <a:ea typeface="Cambria" pitchFamily="34" charset="-122"/>
                <a:cs typeface="Cambria" pitchFamily="34" charset="-120"/>
              </a:rPr>
              <a:t>“I came in seeing the world as ____. I leave seeing it as ____.”</a:t>
            </a:r>
            <a:endParaRPr lang="en-US" sz="1250" dirty="0"/>
          </a:p>
        </p:txBody>
      </p:sp>
      <p:sp>
        <p:nvSpPr>
          <p:cNvPr id="8" name="Shape 6"/>
          <p:cNvSpPr/>
          <p:nvPr/>
        </p:nvSpPr>
        <p:spPr>
          <a:xfrm>
            <a:off x="6217920" y="2011680"/>
            <a:ext cx="5364480" cy="1889760"/>
          </a:xfrm>
          <a:prstGeom prst="roundRect">
            <a:avLst>
              <a:gd name="adj" fmla="val 6452"/>
            </a:avLst>
          </a:prstGeom>
          <a:solidFill>
            <a:srgbClr val="F0F2F8"/>
          </a:solidFill>
          <a:ln w="19050">
            <a:solidFill>
              <a:srgbClr val="1A8A7D"/>
            </a:solidFill>
            <a:prstDash val="solid"/>
          </a:ln>
        </p:spPr>
      </p:sp>
      <p:sp>
        <p:nvSpPr>
          <p:cNvPr id="9" name="Text 7"/>
          <p:cNvSpPr/>
          <p:nvPr/>
        </p:nvSpPr>
        <p:spPr>
          <a:xfrm>
            <a:off x="6461760" y="2133600"/>
            <a:ext cx="4876800" cy="487680"/>
          </a:xfrm>
          <a:prstGeom prst="rect">
            <a:avLst/>
          </a:prstGeom>
          <a:noFill/>
          <a:ln/>
        </p:spPr>
        <p:txBody>
          <a:bodyPr wrap="square" lIns="0" tIns="0" rIns="0" bIns="0" rtlCol="0" anchor="ctr"/>
          <a:lstStyle/>
          <a:p>
            <a:pPr indent="0" marL="0">
              <a:buNone/>
            </a:pPr>
            <a:r>
              <a:rPr lang="en-US" sz="1300" b="1" dirty="0">
                <a:solidFill>
                  <a:srgbClr val="1A8A7D"/>
                </a:solidFill>
                <a:latin typeface="Calibri" pitchFamily="34" charset="0"/>
                <a:ea typeface="Calibri" pitchFamily="34" charset="-122"/>
                <a:cs typeface="Calibri" pitchFamily="34" charset="-120"/>
              </a:rPr>
              <a:t>2. Use evidence honestly</a:t>
            </a:r>
            <a:endParaRPr lang="en-US" sz="1300" dirty="0"/>
          </a:p>
        </p:txBody>
      </p:sp>
      <p:sp>
        <p:nvSpPr>
          <p:cNvPr id="10" name="Text 8"/>
          <p:cNvSpPr/>
          <p:nvPr/>
        </p:nvSpPr>
        <p:spPr>
          <a:xfrm>
            <a:off x="6461760" y="2682240"/>
            <a:ext cx="4876800" cy="1097280"/>
          </a:xfrm>
          <a:prstGeom prst="rect">
            <a:avLst/>
          </a:prstGeom>
          <a:noFill/>
          <a:ln/>
        </p:spPr>
        <p:txBody>
          <a:bodyPr wrap="square" lIns="0" tIns="0" rIns="0" bIns="0" rtlCol="0" anchor="t"/>
          <a:lstStyle/>
          <a:p>
            <a:pPr indent="0" marL="0">
              <a:buNone/>
            </a:pPr>
            <a:r>
              <a:rPr lang="en-US" sz="1250" i="1" dirty="0">
                <a:solidFill>
                  <a:srgbClr val="0E1C42"/>
                </a:solidFill>
                <a:latin typeface="Cambria" pitchFamily="34" charset="0"/>
                <a:ea typeface="Cambria" pitchFamily="34" charset="-122"/>
                <a:cs typeface="Cambria" pitchFamily="34" charset="-120"/>
              </a:rPr>
              <a:t>“I learned to use evidence by ____.”</a:t>
            </a:r>
            <a:endParaRPr lang="en-US" sz="1250" dirty="0"/>
          </a:p>
        </p:txBody>
      </p:sp>
      <p:sp>
        <p:nvSpPr>
          <p:cNvPr id="11" name="Shape 9"/>
          <p:cNvSpPr/>
          <p:nvPr/>
        </p:nvSpPr>
        <p:spPr>
          <a:xfrm>
            <a:off x="609600" y="4084320"/>
            <a:ext cx="5364480" cy="1889760"/>
          </a:xfrm>
          <a:prstGeom prst="roundRect">
            <a:avLst>
              <a:gd name="adj" fmla="val 6452"/>
            </a:avLst>
          </a:prstGeom>
          <a:solidFill>
            <a:srgbClr val="F0F2F8"/>
          </a:solidFill>
          <a:ln w="19050">
            <a:solidFill>
              <a:srgbClr val="1A8A7D"/>
            </a:solidFill>
            <a:prstDash val="solid"/>
          </a:ln>
        </p:spPr>
      </p:sp>
      <p:sp>
        <p:nvSpPr>
          <p:cNvPr id="12" name="Text 10"/>
          <p:cNvSpPr/>
          <p:nvPr/>
        </p:nvSpPr>
        <p:spPr>
          <a:xfrm>
            <a:off x="853440" y="4206240"/>
            <a:ext cx="4876800" cy="487680"/>
          </a:xfrm>
          <a:prstGeom prst="rect">
            <a:avLst/>
          </a:prstGeom>
          <a:noFill/>
          <a:ln/>
        </p:spPr>
        <p:txBody>
          <a:bodyPr wrap="square" lIns="0" tIns="0" rIns="0" bIns="0" rtlCol="0" anchor="ctr"/>
          <a:lstStyle/>
          <a:p>
            <a:pPr indent="0" marL="0">
              <a:buNone/>
            </a:pPr>
            <a:r>
              <a:rPr lang="en-US" sz="1300" b="1" dirty="0">
                <a:solidFill>
                  <a:srgbClr val="1A8A7D"/>
                </a:solidFill>
                <a:latin typeface="Calibri" pitchFamily="34" charset="0"/>
                <a:ea typeface="Calibri" pitchFamily="34" charset="-122"/>
                <a:cs typeface="Calibri" pitchFamily="34" charset="-120"/>
              </a:rPr>
              <a:t>3. Make wise choices</a:t>
            </a:r>
            <a:endParaRPr lang="en-US" sz="1300" dirty="0"/>
          </a:p>
        </p:txBody>
      </p:sp>
      <p:sp>
        <p:nvSpPr>
          <p:cNvPr id="13" name="Text 11"/>
          <p:cNvSpPr/>
          <p:nvPr/>
        </p:nvSpPr>
        <p:spPr>
          <a:xfrm>
            <a:off x="853440" y="4754880"/>
            <a:ext cx="4876800" cy="1097280"/>
          </a:xfrm>
          <a:prstGeom prst="rect">
            <a:avLst/>
          </a:prstGeom>
          <a:noFill/>
          <a:ln/>
        </p:spPr>
        <p:txBody>
          <a:bodyPr wrap="square" lIns="0" tIns="0" rIns="0" bIns="0" rtlCol="0" anchor="t"/>
          <a:lstStyle/>
          <a:p>
            <a:pPr indent="0" marL="0">
              <a:buNone/>
            </a:pPr>
            <a:r>
              <a:rPr lang="en-US" sz="1250" i="1" dirty="0">
                <a:solidFill>
                  <a:srgbClr val="0E1C42"/>
                </a:solidFill>
                <a:latin typeface="Cambria" pitchFamily="34" charset="0"/>
                <a:ea typeface="Cambria" pitchFamily="34" charset="-122"/>
                <a:cs typeface="Cambria" pitchFamily="34" charset="-120"/>
              </a:rPr>
              <a:t>“The wise choice I want to keep making is ____.”</a:t>
            </a:r>
            <a:endParaRPr lang="en-US" sz="1250" dirty="0"/>
          </a:p>
        </p:txBody>
      </p:sp>
      <p:sp>
        <p:nvSpPr>
          <p:cNvPr id="14" name="Shape 12"/>
          <p:cNvSpPr/>
          <p:nvPr/>
        </p:nvSpPr>
        <p:spPr>
          <a:xfrm>
            <a:off x="6217920" y="4084320"/>
            <a:ext cx="5364480" cy="1889760"/>
          </a:xfrm>
          <a:prstGeom prst="roundRect">
            <a:avLst>
              <a:gd name="adj" fmla="val 6452"/>
            </a:avLst>
          </a:prstGeom>
          <a:solidFill>
            <a:srgbClr val="F0F2F8"/>
          </a:solidFill>
          <a:ln w="19050">
            <a:solidFill>
              <a:srgbClr val="1A8A7D"/>
            </a:solidFill>
            <a:prstDash val="solid"/>
          </a:ln>
        </p:spPr>
      </p:sp>
      <p:sp>
        <p:nvSpPr>
          <p:cNvPr id="15" name="Text 13"/>
          <p:cNvSpPr/>
          <p:nvPr/>
        </p:nvSpPr>
        <p:spPr>
          <a:xfrm>
            <a:off x="6461760" y="4206240"/>
            <a:ext cx="4876800" cy="487680"/>
          </a:xfrm>
          <a:prstGeom prst="rect">
            <a:avLst/>
          </a:prstGeom>
          <a:noFill/>
          <a:ln/>
        </p:spPr>
        <p:txBody>
          <a:bodyPr wrap="square" lIns="0" tIns="0" rIns="0" bIns="0" rtlCol="0" anchor="ctr"/>
          <a:lstStyle/>
          <a:p>
            <a:pPr indent="0" marL="0">
              <a:buNone/>
            </a:pPr>
            <a:r>
              <a:rPr lang="en-US" sz="1300" b="1" dirty="0">
                <a:solidFill>
                  <a:srgbClr val="1A8A7D"/>
                </a:solidFill>
                <a:latin typeface="Calibri" pitchFamily="34" charset="0"/>
                <a:ea typeface="Calibri" pitchFamily="34" charset="-122"/>
                <a:cs typeface="Calibri" pitchFamily="34" charset="-120"/>
              </a:rPr>
              <a:t>4. Serve the common good</a:t>
            </a:r>
            <a:endParaRPr lang="en-US" sz="1300" dirty="0"/>
          </a:p>
        </p:txBody>
      </p:sp>
      <p:sp>
        <p:nvSpPr>
          <p:cNvPr id="16" name="Text 14"/>
          <p:cNvSpPr/>
          <p:nvPr/>
        </p:nvSpPr>
        <p:spPr>
          <a:xfrm>
            <a:off x="6461760" y="4754880"/>
            <a:ext cx="4876800" cy="1097280"/>
          </a:xfrm>
          <a:prstGeom prst="rect">
            <a:avLst/>
          </a:prstGeom>
          <a:noFill/>
          <a:ln/>
        </p:spPr>
        <p:txBody>
          <a:bodyPr wrap="square" lIns="0" tIns="0" rIns="0" bIns="0" rtlCol="0" anchor="t"/>
          <a:lstStyle/>
          <a:p>
            <a:pPr indent="0" marL="0">
              <a:buNone/>
            </a:pPr>
            <a:r>
              <a:rPr lang="en-US" sz="1250" i="1" dirty="0">
                <a:solidFill>
                  <a:srgbClr val="0E1C42"/>
                </a:solidFill>
                <a:latin typeface="Cambria" pitchFamily="34" charset="0"/>
                <a:ea typeface="Cambria" pitchFamily="34" charset="-122"/>
                <a:cs typeface="Cambria" pitchFamily="34" charset="-120"/>
              </a:rPr>
              <a:t>“One way I want to serve my community is ____.”</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87680" y="97536"/>
            <a:ext cx="11216640" cy="304800"/>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CURATOR'S CHRONICLE</a:t>
            </a:r>
            <a:endParaRPr lang="en-US" sz="1000" dirty="0"/>
          </a:p>
        </p:txBody>
      </p:sp>
      <p:sp>
        <p:nvSpPr>
          <p:cNvPr id="3" name="Text 1"/>
          <p:cNvSpPr/>
          <p:nvPr/>
        </p:nvSpPr>
        <p:spPr>
          <a:xfrm>
            <a:off x="487680" y="426720"/>
            <a:ext cx="11216640" cy="67056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Your Very Last Chronicle of the Year</a:t>
            </a:r>
            <a:endParaRPr lang="en-US" sz="2400" dirty="0"/>
          </a:p>
        </p:txBody>
      </p:sp>
      <p:sp>
        <p:nvSpPr>
          <p:cNvPr id="4" name="Text 2"/>
          <p:cNvSpPr/>
          <p:nvPr/>
        </p:nvSpPr>
        <p:spPr>
          <a:xfrm>
            <a:off x="487680" y="1121664"/>
            <a:ext cx="11216640" cy="426720"/>
          </a:xfrm>
          <a:prstGeom prst="rect">
            <a:avLst/>
          </a:prstGeom>
          <a:noFill/>
          <a:ln/>
        </p:spPr>
        <p:txBody>
          <a:bodyPr wrap="square" lIns="0" tIns="0" rIns="0" bIns="0" rtlCol="0" anchor="ctr"/>
          <a:lstStyle/>
          <a:p>
            <a:pPr indent="0" marL="0">
              <a:buNone/>
            </a:pPr>
            <a:r>
              <a:rPr lang="en-US" sz="1300" i="1" dirty="0">
                <a:solidFill>
                  <a:srgbClr val="7A88A8"/>
                </a:solidFill>
                <a:latin typeface="Calibri" pitchFamily="34" charset="0"/>
                <a:ea typeface="Calibri" pitchFamily="34" charset="-122"/>
                <a:cs typeface="Calibri" pitchFamily="34" charset="-120"/>
              </a:rPr>
              <a:t>Finish this sentence one final time, in your own words:</a:t>
            </a:r>
            <a:endParaRPr lang="en-US" sz="1300" dirty="0"/>
          </a:p>
        </p:txBody>
      </p:sp>
      <p:sp>
        <p:nvSpPr>
          <p:cNvPr id="5" name="Shape 3"/>
          <p:cNvSpPr/>
          <p:nvPr/>
        </p:nvSpPr>
        <p:spPr>
          <a:xfrm>
            <a:off x="487680" y="1645920"/>
            <a:ext cx="11216640" cy="1584960"/>
          </a:xfrm>
          <a:prstGeom prst="roundRect">
            <a:avLst>
              <a:gd name="adj" fmla="val 9231"/>
            </a:avLst>
          </a:prstGeom>
          <a:solidFill>
            <a:srgbClr val="FFF3DC"/>
          </a:solidFill>
          <a:ln w="19050">
            <a:solidFill>
              <a:srgbClr val="F5E6C8"/>
            </a:solidFill>
            <a:prstDash val="solid"/>
          </a:ln>
        </p:spPr>
      </p:sp>
      <p:sp>
        <p:nvSpPr>
          <p:cNvPr id="6" name="Text 4"/>
          <p:cNvSpPr/>
          <p:nvPr/>
        </p:nvSpPr>
        <p:spPr>
          <a:xfrm>
            <a:off x="792480" y="1828800"/>
            <a:ext cx="10607040" cy="1219200"/>
          </a:xfrm>
          <a:prstGeom prst="rect">
            <a:avLst/>
          </a:prstGeom>
          <a:noFill/>
          <a:ln/>
        </p:spPr>
        <p:txBody>
          <a:bodyPr wrap="square" lIns="0" tIns="0" rIns="0" bIns="0" rtlCol="0" anchor="ctr"/>
          <a:lstStyle/>
          <a:p>
            <a:pPr algn="ctr" indent="0" marL="0">
              <a:buNone/>
            </a:pPr>
            <a:r>
              <a:rPr lang="en-US" sz="1700" i="1" dirty="0">
                <a:solidFill>
                  <a:srgbClr val="5A4A3A"/>
                </a:solidFill>
                <a:latin typeface="Cambria" pitchFamily="34" charset="0"/>
                <a:ea typeface="Cambria" pitchFamily="34" charset="-122"/>
                <a:cs typeface="Cambria" pitchFamily="34" charset="-120"/>
              </a:rPr>
              <a:t>“In this exhibit — and in this whole year — I learned that ______ because ______.”</a:t>
            </a:r>
            <a:endParaRPr lang="en-US" sz="1700" dirty="0"/>
          </a:p>
        </p:txBody>
      </p:sp>
      <p:sp>
        <p:nvSpPr>
          <p:cNvPr id="7" name="Shape 5"/>
          <p:cNvSpPr/>
          <p:nvPr/>
        </p:nvSpPr>
        <p:spPr>
          <a:xfrm>
            <a:off x="487680" y="3474720"/>
            <a:ext cx="11216640" cy="2621280"/>
          </a:xfrm>
          <a:prstGeom prst="roundRect">
            <a:avLst>
              <a:gd name="adj" fmla="val 4651"/>
            </a:avLst>
          </a:prstGeom>
          <a:solidFill>
            <a:srgbClr val="F0F2F8"/>
          </a:solidFill>
          <a:ln/>
        </p:spPr>
      </p:sp>
      <p:sp>
        <p:nvSpPr>
          <p:cNvPr id="8" name="Text 6"/>
          <p:cNvSpPr/>
          <p:nvPr/>
        </p:nvSpPr>
        <p:spPr>
          <a:xfrm>
            <a:off x="731520" y="3657600"/>
            <a:ext cx="10728960" cy="365760"/>
          </a:xfrm>
          <a:prstGeom prst="rect">
            <a:avLst/>
          </a:prstGeom>
          <a:noFill/>
          <a:ln/>
        </p:spPr>
        <p:txBody>
          <a:bodyPr wrap="square" lIns="0" tIns="0" rIns="0" bIns="0" rtlCol="0" anchor="ctr"/>
          <a:lstStyle/>
          <a:p>
            <a:pPr indent="0" marL="0">
              <a:buNone/>
            </a:pPr>
            <a:r>
              <a:rPr lang="en-US" sz="1100" b="1" spc="150" kern="0" dirty="0">
                <a:solidFill>
                  <a:srgbClr val="1A8A7D"/>
                </a:solidFill>
                <a:latin typeface="Calibri" pitchFamily="34" charset="0"/>
                <a:ea typeface="Calibri" pitchFamily="34" charset="-122"/>
                <a:cs typeface="Calibri" pitchFamily="34" charset="-120"/>
              </a:rPr>
              <a:t>FINAL TURN-IN CHECKLIST</a:t>
            </a:r>
            <a:endParaRPr lang="en-US" sz="1100" dirty="0"/>
          </a:p>
        </p:txBody>
      </p:sp>
      <p:sp>
        <p:nvSpPr>
          <p:cNvPr id="9" name="Text 7"/>
          <p:cNvSpPr/>
          <p:nvPr/>
        </p:nvSpPr>
        <p:spPr>
          <a:xfrm>
            <a:off x="731520" y="4084320"/>
            <a:ext cx="10728960" cy="18897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0E1C42"/>
                </a:solidFill>
                <a:latin typeface="Calibri" pitchFamily="34" charset="0"/>
                <a:ea typeface="Calibri" pitchFamily="34" charset="-122"/>
                <a:cs typeface="Calibri" pitchFamily="34" charset="-120"/>
              </a:rPr>
              <a:t>I answered all three reflection questions honestly.</a:t>
            </a:r>
            <a:endParaRPr lang="en-US" sz="1300" dirty="0"/>
          </a:p>
          <a:p>
            <a:pPr marL="342900" indent="-342900">
              <a:spcAft>
                <a:spcPts val="800"/>
              </a:spcAft>
              <a:buSzPct val="100000"/>
              <a:buChar char="•"/>
            </a:pPr>
            <a:r>
              <a:rPr lang="en-US" sz="1300" dirty="0">
                <a:solidFill>
                  <a:srgbClr val="0E1C42"/>
                </a:solidFill>
                <a:latin typeface="Calibri" pitchFamily="34" charset="0"/>
                <a:ea typeface="Calibri" pitchFamily="34" charset="-122"/>
                <a:cs typeface="Calibri" pitchFamily="34" charset="-120"/>
              </a:rPr>
              <a:t>I wrote my Historian-Citizen Reflection using all four prompts.</a:t>
            </a:r>
            <a:endParaRPr lang="en-US" sz="1300" dirty="0"/>
          </a:p>
          <a:p>
            <a:pPr marL="342900" indent="-342900">
              <a:spcAft>
                <a:spcPts val="800"/>
              </a:spcAft>
              <a:buSzPct val="100000"/>
              <a:buChar char="•"/>
            </a:pPr>
            <a:r>
              <a:rPr lang="en-US" sz="1300" dirty="0">
                <a:solidFill>
                  <a:srgbClr val="0E1C42"/>
                </a:solidFill>
                <a:latin typeface="Calibri" pitchFamily="34" charset="0"/>
                <a:ea typeface="Calibri" pitchFamily="34" charset="-122"/>
                <a:cs typeface="Calibri" pitchFamily="34" charset="-120"/>
              </a:rPr>
              <a:t>I wrote my final Curator's Chronicle.</a:t>
            </a:r>
            <a:endParaRPr lang="en-US" sz="1300" dirty="0"/>
          </a:p>
          <a:p>
            <a:pPr marL="342900" indent="-342900">
              <a:spcAft>
                <a:spcPts val="800"/>
              </a:spcAft>
              <a:buSzPct val="100000"/>
              <a:buChar char="•"/>
            </a:pPr>
            <a:r>
              <a:rPr lang="en-US" sz="1300" dirty="0">
                <a:solidFill>
                  <a:srgbClr val="0E1C42"/>
                </a:solidFill>
                <a:latin typeface="Calibri" pitchFamily="34" charset="0"/>
                <a:ea typeface="Calibri" pitchFamily="34" charset="-122"/>
                <a:cs typeface="Calibri" pitchFamily="34" charset="-120"/>
              </a:rPr>
              <a:t>I copied or downloaded my work and submitted to Canvas.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1219200" y="670560"/>
            <a:ext cx="9753600" cy="365760"/>
          </a:xfrm>
          <a:prstGeom prst="rect">
            <a:avLst/>
          </a:prstGeom>
          <a:noFill/>
          <a:ln/>
        </p:spPr>
        <p:txBody>
          <a:bodyPr wrap="square" lIns="0" tIns="0" rIns="0" bIns="0" rtlCol="0" anchor="ctr"/>
          <a:lstStyle/>
          <a:p>
            <a:pPr algn="ctr" indent="0" marL="0">
              <a:buNone/>
            </a:pPr>
            <a:r>
              <a:rPr lang="en-US" sz="1100" b="1" spc="200" kern="0" dirty="0">
                <a:solidFill>
                  <a:srgbClr val="55C8E8"/>
                </a:solidFill>
                <a:latin typeface="Calibri" pitchFamily="34" charset="0"/>
                <a:ea typeface="Calibri" pitchFamily="34" charset="-122"/>
                <a:cs typeface="Calibri" pitchFamily="34" charset="-120"/>
              </a:rPr>
              <a:t>END OF YEAR  ·  GRAND EXHIBITION HALL</a:t>
            </a:r>
            <a:endParaRPr lang="en-US" sz="1100" dirty="0"/>
          </a:p>
        </p:txBody>
      </p:sp>
      <p:sp>
        <p:nvSpPr>
          <p:cNvPr id="6" name="Text 3"/>
          <p:cNvSpPr/>
          <p:nvPr/>
        </p:nvSpPr>
        <p:spPr>
          <a:xfrm>
            <a:off x="609600" y="1280160"/>
            <a:ext cx="10972800" cy="1036320"/>
          </a:xfrm>
          <a:prstGeom prst="rect">
            <a:avLst/>
          </a:prstGeom>
          <a:noFill/>
          <a:ln/>
        </p:spPr>
        <p:txBody>
          <a:bodyPr wrap="square" lIns="0" tIns="0" rIns="0" bIns="0" rtlCol="0" anchor="ctr"/>
          <a:lstStyle/>
          <a:p>
            <a:pPr algn="ctr" indent="0" marL="0">
              <a:buNone/>
            </a:pPr>
            <a:r>
              <a:rPr lang="en-US" sz="3200" b="1" dirty="0">
                <a:solidFill>
                  <a:srgbClr val="D4943A"/>
                </a:solidFill>
                <a:latin typeface="Cambria" pitchFamily="34" charset="0"/>
                <a:ea typeface="Cambria" pitchFamily="34" charset="-122"/>
                <a:cs typeface="Cambria" pitchFamily="34" charset="-120"/>
              </a:rPr>
              <a:t>The Museum Is Open. So Are You.</a:t>
            </a:r>
            <a:endParaRPr lang="en-US" sz="3200" dirty="0"/>
          </a:p>
        </p:txBody>
      </p:sp>
      <p:sp>
        <p:nvSpPr>
          <p:cNvPr id="7" name="Text 4"/>
          <p:cNvSpPr/>
          <p:nvPr/>
        </p:nvSpPr>
        <p:spPr>
          <a:xfrm>
            <a:off x="853440" y="2438400"/>
            <a:ext cx="10485120" cy="1219200"/>
          </a:xfrm>
          <a:prstGeom prst="rect">
            <a:avLst/>
          </a:prstGeom>
          <a:noFill/>
          <a:ln/>
        </p:spPr>
        <p:txBody>
          <a:bodyPr wrap="square" lIns="0" tIns="0" rIns="0" bIns="0" rtlCol="0" anchor="t"/>
          <a:lstStyle/>
          <a:p>
            <a:pPr algn="ctr" indent="0" marL="0">
              <a:lnSpc>
                <a:spcPct val="115000"/>
              </a:lnSpc>
              <a:buNone/>
            </a:pPr>
            <a:r>
              <a:rPr lang="en-US" sz="1400" dirty="0">
                <a:solidFill>
                  <a:srgbClr val="E4E9F5"/>
                </a:solidFill>
                <a:latin typeface="Calibri" pitchFamily="34" charset="0"/>
                <a:ea typeface="Calibri" pitchFamily="34" charset="-122"/>
                <a:cs typeface="Calibri" pitchFamily="34" charset="-120"/>
              </a:rPr>
              <a:t>Eleven rooms. Thirty-three weeks. You walked in not knowing what a primary source was, and you're walking out as a young geographer-citizen who can see the world, use evidence, make wise choices, and serve.</a:t>
            </a:r>
            <a:endParaRPr lang="en-US" sz="1400" dirty="0"/>
          </a:p>
        </p:txBody>
      </p:sp>
      <p:sp>
        <p:nvSpPr>
          <p:cNvPr id="8" name="Text 5"/>
          <p:cNvSpPr/>
          <p:nvPr/>
        </p:nvSpPr>
        <p:spPr>
          <a:xfrm>
            <a:off x="609600" y="3779520"/>
            <a:ext cx="10972800" cy="609600"/>
          </a:xfrm>
          <a:prstGeom prst="rect">
            <a:avLst/>
          </a:prstGeom>
          <a:noFill/>
          <a:ln/>
        </p:spPr>
        <p:txBody>
          <a:bodyPr wrap="square" lIns="0" tIns="0" rIns="0" bIns="0" rtlCol="0" anchor="ctr"/>
          <a:lstStyle/>
          <a:p>
            <a:pPr algn="ctr" indent="0" marL="0">
              <a:buNone/>
            </a:pPr>
            <a:r>
              <a:rPr lang="en-US" sz="1300" b="1" i="1" dirty="0">
                <a:solidFill>
                  <a:srgbClr val="FFFFFF"/>
                </a:solidFill>
                <a:latin typeface="Calibri" pitchFamily="34" charset="0"/>
                <a:ea typeface="Calibri" pitchFamily="34" charset="-122"/>
                <a:cs typeface="Calibri" pitchFamily="34" charset="-120"/>
              </a:rPr>
              <a:t>See the world carefully.  Use evidence honestly.  Make wise choices.  Serve the common good.</a:t>
            </a:r>
            <a:endParaRPr lang="en-US" sz="1300" dirty="0"/>
          </a:p>
        </p:txBody>
      </p:sp>
      <p:sp>
        <p:nvSpPr>
          <p:cNvPr id="9" name="Text 6"/>
          <p:cNvSpPr/>
          <p:nvPr/>
        </p:nvSpPr>
        <p:spPr>
          <a:xfrm>
            <a:off x="853440" y="4572000"/>
            <a:ext cx="10485120" cy="914400"/>
          </a:xfrm>
          <a:prstGeom prst="rect">
            <a:avLst/>
          </a:prstGeom>
          <a:noFill/>
          <a:ln/>
        </p:spPr>
        <p:txBody>
          <a:bodyPr wrap="square" lIns="0" tIns="0" rIns="0" bIns="0" rtlCol="0" anchor="t"/>
          <a:lstStyle/>
          <a:p>
            <a:pPr algn="ctr" indent="0" marL="0">
              <a:buNone/>
            </a:pPr>
            <a:r>
              <a:rPr lang="en-US" sz="1300" i="1" dirty="0">
                <a:solidFill>
                  <a:srgbClr val="55C8E8"/>
                </a:solidFill>
                <a:latin typeface="Calibri" pitchFamily="34" charset="0"/>
                <a:ea typeface="Calibri" pitchFamily="34" charset="-122"/>
                <a:cs typeface="Calibri" pitchFamily="34" charset="-120"/>
              </a:rPr>
              <a:t>Keep your Curator's Notebook. Take it to fourth grade. The museum doors stay open for you — whenever you want to come back and remember who you've become.</a:t>
            </a:r>
            <a:endParaRPr lang="en-US" sz="1300" dirty="0"/>
          </a:p>
        </p:txBody>
      </p:sp>
      <p:sp>
        <p:nvSpPr>
          <p:cNvPr id="10" name="Text 7"/>
          <p:cNvSpPr/>
          <p:nvPr/>
        </p:nvSpPr>
        <p:spPr>
          <a:xfrm>
            <a:off x="853440" y="5608320"/>
            <a:ext cx="10485120" cy="609600"/>
          </a:xfrm>
          <a:prstGeom prst="rect">
            <a:avLst/>
          </a:prstGeom>
          <a:noFill/>
          <a:ln/>
        </p:spPr>
        <p:txBody>
          <a:bodyPr wrap="square" lIns="0" tIns="0" rIns="0" bIns="0" rtlCol="0" anchor="ctr"/>
          <a:lstStyle/>
          <a:p>
            <a:pPr algn="ctr" indent="0" marL="0">
              <a:buNone/>
            </a:pPr>
            <a:r>
              <a:rPr lang="en-US" sz="1500" b="1" dirty="0">
                <a:solidFill>
                  <a:srgbClr val="D4943A"/>
                </a:solidFill>
                <a:latin typeface="Calibri" pitchFamily="34" charset="0"/>
                <a:ea typeface="Calibri" pitchFamily="34" charset="-122"/>
                <a:cs typeface="Calibri" pitchFamily="34" charset="-120"/>
              </a:rPr>
              <a:t>Thank you for being a curator this year.</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2026-07-11T19:31:04Z</dcterms:created>
  <dcterms:modified xsi:type="dcterms:W3CDTF">2026-07-11T19:31:04Z</dcterms:modified>
</cp:coreProperties>
</file>