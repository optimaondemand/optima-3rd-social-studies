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gallery with tall blank wall, warm lighting, name plaques visible — Great Map Room atmosphereTITLE SLIDE. Welcome students to the final lesson of Unit 7. Set the scene: we are in the Great Map Room of the museum gallery. Today we complete the gallery by filling the last blank wall — the Contributions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Empty museum wall, tall and wide, warm spotlights pointing at blank space, a stack of name plaques on a table nearbyMUSEUM HOOK. Read the Director's quote aloud with gravitas. Ask students: What does it mean that 'land alone doesn't shape a country'? Pause and let students predict what kind of people might go on this wall. Connect to prior lessons about regions — now we add the PEOPLE who shaped those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Diverse hands carefully placing name plaques on a wall, respectful and deliberate, warm gallery lightingVIRTUE SLIDE: COURTESY. Discuss what courtesy looks like in this context — it means treating every person's story with equal care and respect. Ask students: 'Have you ever felt like your story wasn't told carefully?' Connect this to the idea that every contributor on this wall matters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CONTRIBUTORS 1-2. Sequoyah: Emphasize that he created a complete writing system — 86 symbols, each representing a syllable. This was revolutionary because the Cherokee language had never been written down before. Frederick Douglass: Born enslaved, he taught himself to read and became one of the greatest speakers in American history. He spoke and wrote powerfully against slavery and for equal rights, including women's suffrage. Ask: How did WORDS change things for both of these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CONTRIBUTORS 3-4. Maya Lin: Her design was chosen in a blind competition — the judges didn't know she was a 21-year-old college student. The memorial lists names in the order people died, making it deeply personal. Sandra Day O'Connor: Appointed in 1981, she served 24 years on the highest court. Emphasize the word 'first' — she proved women could do this job, opening the door for others. Ask: What does it feel like to be the first person to do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CONTRIBUTORS 5-6. Cesar Chavez: He organized farm workers — people who picked the fruits and vegetables we eat — to demand fair pay and safe conditions. His movement was peaceful but powerful. Queen Lili'uokalani: She was Hawaii's last monarch. She worked to protect Hawaiian sovereignty and culture. She is also remembered for composing 'Aloha 'Oe,' one of Hawaii's most famous songs. Ask: How did each of these leaders use their voice for their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SLIDE. Walk through each contributor and their region connection. Use a classroom map if available. Point out that contributors come from ALL across the United States — Southeast, Northeast, Midwest, Southwest, West, and Hawaii. Ask: Do you notice that the contributors come from many different regions? Why might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FACT. This is a great moment for students to be amazed — Maya Lin was only 21, a college student, when her design was selected from over 1,400 entries. The judges chose her design in a blind competition. Emphasize the choice to list names in order of death, not alphabetically — it means you walk along the wall and experience the war's timeline. Ask: Why might someone want to find a name on that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STUDY. Show the image of the Vietnam Veterans Memorial. Let students observe quietly for a moment. Point out the key features: polished black stone, names engraved chronologically, visitors can see their own reflection among the names. This is powerful — you are literally reflected among the people who served. Ask the chat frame question and give students time to discuss. Connect: This memorial IS a contribution — Maya Lin contributed something that helps a whole nation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REGION'S CONTRIBUTORS. This is a discussion slide — make it personal. Ask students to think about where THEY live. Who has helped shape their town, city, or state? Contributions can be anything: a school founder, a park designer, a civil rights leader, a business owner. The key idea: EVERY community has people worth putting on a wall. If time allows, let students share one name and one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GALLERY. This is a key moment — students reflect on the ENTIRE Unit 7 gallery experience. Walk them through what they've seen: alcoves (regions), Listening Station (voices and stories), and now the Contributions Wall (people). The big idea they should reach: The United States was shaped by its land AND its people, working together across regions and backgrounds. Let multiple students share before moving on. This directly prepares them for Evidence Question 3 and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AND NOW. Compare two ways of remembering: oral storytelling vs. modern media. Key point: the PURPOSE is the same — honoring people who made a difference. But the tools have changed. Ask students which method they think is more powerful and why. Some may prefer the personal feel of storytelling; others may value the permanence of a memorial or website. Both are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This is the thesis of the entire unit. Read the exhibit label aloud slowly. The US is shaped by BOTH its land (geography) and its people (contributions). Neither alone tells the full story. Ask: What would our understanding of America be if we only learned about mountains and rivers but never about the people? This sets up the final reflection and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Present each question one at a time. For Q1: Ask students to think about what Sequoyah created. The answer is C — he created a writing system (syllabary) for the Cherokee language. For Q2: Ask what Douglass is most remembered for. Answer is B — speaking and writing against slavery and for equal rights. For Q3: This is the synthesis question — what is the big takeaway? Answer is A — the US was shaped by many places, voices, and people working together. This prepares them for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SLIDE. Read each evidence question aloud. For Q1: Students pick ONE contributor — remind them to name the person, the region, and the contribution. For Q2: This asks WHY diversity on the wall matters — students should use a specific detail. For Q3: This is the synthesis question covering the whole Unit 7 gallery. For the Curator Task: This is the culminating writing task. Students write a sign for the Contributions Wall. It should mention that people from every region and background shaped the US, name at least one contributor, and use courteous language. This sign 'closes the gallery' — it is the final piece of Unit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CURATOR'S CHRONICLE. This is the exit ticket / reflection. Students complete the sentence stem: 'In this exhibit, I learned that ______ because ______.' They should use a specific detail from the lesson. Share the example if students need a model, but encourage them to write their own original thought. This is also a quick formative assessment — look for whether students can connect a specific contributor or idea to a broader lesson about diversity and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gallery grand entrance with 'Gallery Complete' banner, warm lighting, celebratory atmosphere — doors open to the next exhibit hallCLOSING SLIDE. Celebrate! This is the end of Unit 7 — the entire Great Map Room gallery. Students have explored regions, listened to voices from across America, and honored the diverse people who shaped the nation. Build excitement for what's next: Unit 9, The Marketplace Hall. Give students a moment to feel proud of completing this unit. If time, ask: 'What was your favorite part of the gallery?'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14400" y="1645920"/>
            <a:ext cx="10362895" cy="1097280"/>
          </a:xfrm>
          <a:prstGeom prst="rect">
            <a:avLst/>
          </a:prstGeom>
          <a:noFill/>
          <a:ln/>
        </p:spPr>
        <p:txBody>
          <a:bodyPr wrap="square" lIns="0" tIns="0" rIns="0" bIns="0" rtlCol="0" anchor="ctr"/>
          <a:lstStyle/>
          <a:p>
            <a:pPr algn="ctr" indent="0" marL="0">
              <a:buNone/>
            </a:pPr>
            <a:r>
              <a:rPr lang="en-US" sz="4400" b="1" spc="300" kern="0" dirty="0">
                <a:solidFill>
                  <a:srgbClr val="FFFFFF"/>
                </a:solidFill>
                <a:latin typeface="Cambria" pitchFamily="34" charset="0"/>
                <a:ea typeface="Cambria" pitchFamily="34" charset="-122"/>
                <a:cs typeface="Cambria" pitchFamily="34" charset="-120"/>
              </a:rPr>
              <a:t>THE CONTRIBUTIONS WALL</a:t>
            </a:r>
            <a:endParaRPr lang="en-US" sz="4400" dirty="0"/>
          </a:p>
        </p:txBody>
      </p:sp>
      <p:sp>
        <p:nvSpPr>
          <p:cNvPr id="6" name="Text 3"/>
          <p:cNvSpPr/>
          <p:nvPr/>
        </p:nvSpPr>
        <p:spPr>
          <a:xfrm>
            <a:off x="914400" y="2743200"/>
            <a:ext cx="10362895" cy="548640"/>
          </a:xfrm>
          <a:prstGeom prst="rect">
            <a:avLst/>
          </a:prstGeom>
          <a:noFill/>
          <a:ln/>
        </p:spPr>
        <p:txBody>
          <a:bodyPr wrap="square" lIns="0" tIns="0" rIns="0" bIns="0" rtlCol="0" anchor="ctr"/>
          <a:lstStyle/>
          <a:p>
            <a:pPr algn="ctr" indent="0" marL="0">
              <a:buNone/>
            </a:pPr>
            <a:r>
              <a:rPr lang="en-US" sz="2000" i="1" dirty="0">
                <a:solidFill>
                  <a:srgbClr val="55C8E8"/>
                </a:solidFill>
                <a:latin typeface="Calibri" pitchFamily="34" charset="0"/>
                <a:ea typeface="Calibri" pitchFamily="34" charset="-122"/>
                <a:cs typeface="Calibri" pitchFamily="34" charset="-120"/>
              </a:rPr>
              <a:t>People Who Shaped the United States</a:t>
            </a:r>
            <a:endParaRPr lang="en-US" sz="2000" dirty="0"/>
          </a:p>
        </p:txBody>
      </p:sp>
      <p:sp>
        <p:nvSpPr>
          <p:cNvPr id="7" name="Shape 4"/>
          <p:cNvSpPr/>
          <p:nvPr/>
        </p:nvSpPr>
        <p:spPr>
          <a:xfrm>
            <a:off x="5029200" y="3429000"/>
            <a:ext cx="2133295" cy="36576"/>
          </a:xfrm>
          <a:prstGeom prst="rect">
            <a:avLst/>
          </a:prstGeom>
          <a:solidFill>
            <a:srgbClr val="D4943A"/>
          </a:solidFill>
          <a:ln/>
        </p:spPr>
      </p:sp>
      <p:sp>
        <p:nvSpPr>
          <p:cNvPr id="8" name="Text 5"/>
          <p:cNvSpPr/>
          <p:nvPr/>
        </p:nvSpPr>
        <p:spPr>
          <a:xfrm>
            <a:off x="914400" y="3749040"/>
            <a:ext cx="10362895" cy="457200"/>
          </a:xfrm>
          <a:prstGeom prst="rect">
            <a:avLst/>
          </a:prstGeom>
          <a:noFill/>
          <a:ln/>
        </p:spPr>
        <p:txBody>
          <a:bodyPr wrap="square" lIns="0" tIns="0" rIns="0" bIns="0" rtlCol="0" anchor="ctr"/>
          <a:lstStyle/>
          <a:p>
            <a:pPr algn="ctr" indent="0" marL="0">
              <a:buNone/>
            </a:pPr>
            <a:r>
              <a:rPr lang="en-US" sz="1400" dirty="0">
                <a:solidFill>
                  <a:srgbClr val="7A88A8"/>
                </a:solidFill>
                <a:latin typeface="Calibri" pitchFamily="34" charset="0"/>
                <a:ea typeface="Calibri" pitchFamily="34" charset="-122"/>
                <a:cs typeface="Calibri" pitchFamily="34" charset="-120"/>
              </a:rPr>
              <a:t>Lesson 3.07.08  |  Great Map Room  |  Week 22</a:t>
            </a:r>
            <a:endParaRPr lang="en-US" sz="1400" dirty="0"/>
          </a:p>
        </p:txBody>
      </p:sp>
      <p:sp>
        <p:nvSpPr>
          <p:cNvPr id="9" name="Text 6"/>
          <p:cNvSpPr/>
          <p:nvPr/>
        </p:nvSpPr>
        <p:spPr>
          <a:xfrm>
            <a:off x="914400" y="4206240"/>
            <a:ext cx="10362895" cy="365760"/>
          </a:xfrm>
          <a:prstGeom prst="rect">
            <a:avLst/>
          </a:prstGeom>
          <a:noFill/>
          <a:ln/>
        </p:spPr>
        <p:txBody>
          <a:bodyPr wrap="square" lIns="0" tIns="0" rIns="0" bIns="0" rtlCol="0" anchor="ctr"/>
          <a:lstStyle/>
          <a:p>
            <a:pPr algn="ctr" indent="0" marL="0">
              <a:buNone/>
            </a:pPr>
            <a:r>
              <a:rPr lang="en-US" sz="1100" dirty="0">
                <a:solidFill>
                  <a:srgbClr val="4A5A80"/>
                </a:solidFill>
                <a:latin typeface="Calibri" pitchFamily="34" charset="0"/>
                <a:ea typeface="Calibri" pitchFamily="34" charset="-122"/>
                <a:cs typeface="Calibri" pitchFamily="34" charset="-120"/>
              </a:rPr>
              <a:t>SS.3.G.2.2-2.6, SS.3.G.4.1, SS.3.G.4.4</a:t>
            </a:r>
            <a:endParaRPr lang="en-US" sz="1100" dirty="0"/>
          </a:p>
        </p:txBody>
      </p:sp>
      <p:sp>
        <p:nvSpPr>
          <p:cNvPr id="10" name="Text 7"/>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548640"/>
            <a:ext cx="54864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One Wall Left</a:t>
            </a:r>
            <a:endParaRPr lang="en-US" sz="3600" dirty="0"/>
          </a:p>
        </p:txBody>
      </p:sp>
      <p:sp>
        <p:nvSpPr>
          <p:cNvPr id="6" name="Text 3"/>
          <p:cNvSpPr/>
          <p:nvPr/>
        </p:nvSpPr>
        <p:spPr>
          <a:xfrm>
            <a:off x="731520" y="1280160"/>
            <a:ext cx="5943600" cy="822960"/>
          </a:xfrm>
          <a:prstGeom prst="rect">
            <a:avLst/>
          </a:prstGeom>
          <a:noFill/>
          <a:ln/>
        </p:spPr>
        <p:txBody>
          <a:bodyPr wrap="square" lIns="0" tIns="0" rIns="0" bIns="0" rtlCol="0" anchor="ctr"/>
          <a:lstStyle/>
          <a:p>
            <a:pPr indent="0" marL="0">
              <a:lnSpc>
                <a:spcPct val="130000"/>
              </a:lnSpc>
              <a:buNone/>
            </a:pPr>
            <a:r>
              <a:rPr lang="en-US" sz="1500" dirty="0">
                <a:solidFill>
                  <a:srgbClr val="C8D0E8"/>
                </a:solidFill>
                <a:latin typeface="Calibri" pitchFamily="34" charset="0"/>
                <a:ea typeface="Calibri" pitchFamily="34" charset="-122"/>
                <a:cs typeface="Calibri" pitchFamily="34" charset="-120"/>
              </a:rPr>
              <a:t>The gallery is open. The Listening Station hums.</a:t>
            </a:r>
            <a:endParaRPr lang="en-US" sz="1500" dirty="0"/>
          </a:p>
          <a:p>
            <a:pPr indent="0" marL="0">
              <a:lnSpc>
                <a:spcPct val="130000"/>
              </a:lnSpc>
              <a:buNone/>
            </a:pPr>
            <a:r>
              <a:rPr lang="en-US" sz="1500" dirty="0">
                <a:solidFill>
                  <a:srgbClr val="C8D0E8"/>
                </a:solidFill>
                <a:latin typeface="Calibri" pitchFamily="34" charset="0"/>
                <a:ea typeface="Calibri" pitchFamily="34" charset="-122"/>
                <a:cs typeface="Calibri" pitchFamily="34" charset="-120"/>
              </a:rPr>
              <a:t>But one wall stands blank — wide, tall, waiting.</a:t>
            </a:r>
            <a:endParaRPr lang="en-US" sz="1500" dirty="0"/>
          </a:p>
        </p:txBody>
      </p:sp>
      <p:sp>
        <p:nvSpPr>
          <p:cNvPr id="7" name="Shape 4"/>
          <p:cNvSpPr/>
          <p:nvPr/>
        </p:nvSpPr>
        <p:spPr>
          <a:xfrm>
            <a:off x="731520" y="2377440"/>
            <a:ext cx="6858000" cy="1463040"/>
          </a:xfrm>
          <a:prstGeom prst="roundRect">
            <a:avLst>
              <a:gd name="adj" fmla="val 7500"/>
            </a:avLst>
          </a:prstGeom>
          <a:solidFill>
            <a:srgbClr val="1A2D5A"/>
          </a:solidFill>
          <a:ln/>
          <a:effectLst>
            <a:outerShdw sx="100000" sy="100000" kx="0" ky="0" algn="bl" rotWithShape="0" blurRad="76200" dist="25400" dir="8100000">
              <a:srgbClr val="000000">
                <a:alpha val="15000"/>
              </a:srgbClr>
            </a:outerShdw>
          </a:effectLst>
        </p:spPr>
      </p:sp>
      <p:sp>
        <p:nvSpPr>
          <p:cNvPr id="8" name="Text 5"/>
          <p:cNvSpPr/>
          <p:nvPr/>
        </p:nvSpPr>
        <p:spPr>
          <a:xfrm>
            <a:off x="1005840" y="2468880"/>
            <a:ext cx="6400800" cy="365760"/>
          </a:xfrm>
          <a:prstGeom prst="rect">
            <a:avLst/>
          </a:prstGeom>
          <a:noFill/>
          <a:ln/>
        </p:spPr>
        <p:txBody>
          <a:bodyPr wrap="square" lIns="0" tIns="0" rIns="0" bIns="0"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The Director hands you a stack of name plaques:</a:t>
            </a:r>
            <a:endParaRPr lang="en-US" sz="1200" dirty="0"/>
          </a:p>
        </p:txBody>
      </p:sp>
      <p:sp>
        <p:nvSpPr>
          <p:cNvPr id="9" name="Shape 6"/>
          <p:cNvSpPr/>
          <p:nvPr/>
        </p:nvSpPr>
        <p:spPr>
          <a:xfrm>
            <a:off x="914400" y="2987040"/>
            <a:ext cx="6583680" cy="1219200"/>
          </a:xfrm>
          <a:prstGeom prst="roundRect">
            <a:avLst>
              <a:gd name="adj" fmla="val 9000"/>
            </a:avLst>
          </a:prstGeom>
          <a:solidFill>
            <a:srgbClr val="FFF3DC"/>
          </a:solidFill>
          <a:ln w="19050">
            <a:solidFill>
              <a:srgbClr val="F5E6C8"/>
            </a:solidFill>
            <a:prstDash val="solid"/>
          </a:ln>
        </p:spPr>
      </p:sp>
      <p:sp>
        <p:nvSpPr>
          <p:cNvPr id="10" name="Text 7"/>
          <p:cNvSpPr/>
          <p:nvPr/>
        </p:nvSpPr>
        <p:spPr>
          <a:xfrm>
            <a:off x="1051560" y="3041904"/>
            <a:ext cx="6309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8"/>
          <p:cNvSpPr/>
          <p:nvPr/>
        </p:nvSpPr>
        <p:spPr>
          <a:xfrm>
            <a:off x="1051560" y="3243072"/>
            <a:ext cx="6309360" cy="899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the Contributions Wall. Land alone doesn't shape a country. People do."</a:t>
            </a:r>
            <a:endParaRPr lang="en-US" sz="1200" dirty="0"/>
          </a:p>
        </p:txBody>
      </p:sp>
      <p:sp>
        <p:nvSpPr>
          <p:cNvPr id="12" name="Shape 9"/>
          <p:cNvSpPr/>
          <p:nvPr/>
        </p:nvSpPr>
        <p:spPr>
          <a:xfrm>
            <a:off x="7559040" y="731520"/>
            <a:ext cx="4023360" cy="4876800"/>
          </a:xfrm>
          <a:prstGeom prst="roundRect">
            <a:avLst>
              <a:gd name="adj" fmla="val 2727"/>
            </a:avLst>
          </a:prstGeom>
          <a:solidFill>
            <a:srgbClr val="E2E8F4"/>
          </a:solidFill>
          <a:ln w="19050">
            <a:solidFill>
              <a:srgbClr val="B0B8CC"/>
            </a:solidFill>
            <a:prstDash val="dash"/>
          </a:ln>
        </p:spPr>
      </p:sp>
      <p:sp>
        <p:nvSpPr>
          <p:cNvPr id="13" name="Text 10"/>
          <p:cNvSpPr/>
          <p:nvPr/>
        </p:nvSpPr>
        <p:spPr>
          <a:xfrm>
            <a:off x="7559040" y="731520"/>
            <a:ext cx="40233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1"/>
          <p:cNvSpPr/>
          <p:nvPr/>
        </p:nvSpPr>
        <p:spPr>
          <a:xfrm>
            <a:off x="7741920" y="1097280"/>
            <a:ext cx="3657600" cy="4419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Blank museum wall with spotlights</a:t>
            </a:r>
            <a:endParaRPr lang="en-US" sz="1100" dirty="0"/>
          </a:p>
        </p:txBody>
      </p:sp>
      <p:sp>
        <p:nvSpPr>
          <p:cNvPr id="15" name="Shape 12"/>
          <p:cNvSpPr/>
          <p:nvPr/>
        </p:nvSpPr>
        <p:spPr>
          <a:xfrm>
            <a:off x="609600" y="4693920"/>
            <a:ext cx="10972800" cy="146304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16" name="Text 13"/>
          <p:cNvSpPr/>
          <p:nvPr/>
        </p:nvSpPr>
        <p:spPr>
          <a:xfrm>
            <a:off x="792480" y="478536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4"/>
          <p:cNvSpPr/>
          <p:nvPr/>
        </p:nvSpPr>
        <p:spPr>
          <a:xfrm>
            <a:off x="792480" y="5041392"/>
            <a:ext cx="10607040" cy="1024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belongs on a 'Contributions Wall'?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the Director save this wall for last?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people would you put on a wall like this?</a:t>
            </a:r>
            <a:endParaRPr lang="en-US" sz="1100" dirty="0"/>
          </a:p>
        </p:txBody>
      </p:sp>
      <p:sp>
        <p:nvSpPr>
          <p:cNvPr id="18" name="Text 15"/>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457200"/>
            <a:ext cx="3657600" cy="27432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6" name="Text 3"/>
          <p:cNvSpPr/>
          <p:nvPr/>
        </p:nvSpPr>
        <p:spPr>
          <a:xfrm>
            <a:off x="731520" y="822960"/>
            <a:ext cx="4572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Courtesy</a:t>
            </a:r>
            <a:endParaRPr lang="en-US" sz="4000" dirty="0"/>
          </a:p>
        </p:txBody>
      </p:sp>
      <p:sp>
        <p:nvSpPr>
          <p:cNvPr id="7" name="Shape 4"/>
          <p:cNvSpPr/>
          <p:nvPr/>
        </p:nvSpPr>
        <p:spPr>
          <a:xfrm>
            <a:off x="731520" y="1828800"/>
            <a:ext cx="5943600" cy="2011680"/>
          </a:xfrm>
          <a:prstGeom prst="roundRect">
            <a:avLst>
              <a:gd name="adj" fmla="val 5455"/>
            </a:avLst>
          </a:prstGeom>
          <a:solidFill>
            <a:srgbClr val="1A2D5A"/>
          </a:solidFill>
          <a:ln/>
          <a:effectLst>
            <a:outerShdw sx="100000" sy="100000" kx="0" ky="0" algn="bl" rotWithShape="0" blurRad="76200" dist="25400" dir="8100000">
              <a:srgbClr val="000000">
                <a:alpha val="15000"/>
              </a:srgbClr>
            </a:outerShdw>
          </a:effectLst>
        </p:spPr>
      </p:sp>
      <p:sp>
        <p:nvSpPr>
          <p:cNvPr id="8" name="Text 5"/>
          <p:cNvSpPr/>
          <p:nvPr/>
        </p:nvSpPr>
        <p:spPr>
          <a:xfrm>
            <a:off x="1005840" y="1965960"/>
            <a:ext cx="54864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Contributions Wall honors people from many backgrounds.</a:t>
            </a:r>
            <a:endParaRPr lang="en-US" sz="1500" dirty="0"/>
          </a:p>
        </p:txBody>
      </p:sp>
      <p:sp>
        <p:nvSpPr>
          <p:cNvPr id="9" name="Text 6"/>
          <p:cNvSpPr/>
          <p:nvPr/>
        </p:nvSpPr>
        <p:spPr>
          <a:xfrm>
            <a:off x="1005840" y="2468880"/>
            <a:ext cx="53035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8D0E8"/>
                </a:solidFill>
                <a:latin typeface="Calibri" pitchFamily="34" charset="0"/>
                <a:ea typeface="Calibri" pitchFamily="34" charset="-122"/>
                <a:cs typeface="Calibri" pitchFamily="34" charset="-120"/>
              </a:rPr>
              <a:t>Name each person carefully</a:t>
            </a:r>
            <a:endParaRPr lang="en-US" sz="1400" dirty="0"/>
          </a:p>
          <a:p>
            <a:pPr marL="342900" indent="-342900">
              <a:spcAft>
                <a:spcPts val="600"/>
              </a:spcAft>
              <a:buSzPct val="100000"/>
              <a:buChar char="•"/>
            </a:pPr>
            <a:r>
              <a:rPr lang="en-US" sz="1400" dirty="0">
                <a:solidFill>
                  <a:srgbClr val="C8D0E8"/>
                </a:solidFill>
                <a:latin typeface="Calibri" pitchFamily="34" charset="0"/>
                <a:ea typeface="Calibri" pitchFamily="34" charset="-122"/>
                <a:cs typeface="Calibri" pitchFamily="34" charset="-120"/>
              </a:rPr>
              <a:t>Tell their story honestly</a:t>
            </a:r>
            <a:endParaRPr lang="en-US" sz="1400" dirty="0"/>
          </a:p>
          <a:p>
            <a:pPr marL="342900" indent="-342900">
              <a:spcAft>
                <a:spcPts val="600"/>
              </a:spcAft>
              <a:buSzPct val="100000"/>
              <a:buChar char="•"/>
            </a:pPr>
            <a:r>
              <a:rPr lang="en-US" sz="1400" dirty="0">
                <a:solidFill>
                  <a:srgbClr val="C8D0E8"/>
                </a:solidFill>
                <a:latin typeface="Calibri" pitchFamily="34" charset="0"/>
                <a:ea typeface="Calibri" pitchFamily="34" charset="-122"/>
                <a:cs typeface="Calibri" pitchFamily="34" charset="-120"/>
              </a:rPr>
              <a:t>Never decide one contribution is more important than another</a:t>
            </a:r>
            <a:endParaRPr lang="en-US" sz="1400" dirty="0"/>
          </a:p>
        </p:txBody>
      </p:sp>
      <p:sp>
        <p:nvSpPr>
          <p:cNvPr id="10" name="Shape 7"/>
          <p:cNvSpPr/>
          <p:nvPr/>
        </p:nvSpPr>
        <p:spPr>
          <a:xfrm>
            <a:off x="6949440" y="609600"/>
            <a:ext cx="4389120" cy="4632960"/>
          </a:xfrm>
          <a:prstGeom prst="roundRect">
            <a:avLst>
              <a:gd name="adj" fmla="val 2500"/>
            </a:avLst>
          </a:prstGeom>
          <a:solidFill>
            <a:srgbClr val="E2E8F4"/>
          </a:solidFill>
          <a:ln w="19050">
            <a:solidFill>
              <a:srgbClr val="B0B8CC"/>
            </a:solidFill>
            <a:prstDash val="dash"/>
          </a:ln>
        </p:spPr>
      </p:sp>
      <p:sp>
        <p:nvSpPr>
          <p:cNvPr id="11" name="Text 8"/>
          <p:cNvSpPr/>
          <p:nvPr/>
        </p:nvSpPr>
        <p:spPr>
          <a:xfrm>
            <a:off x="6949440" y="609600"/>
            <a:ext cx="43891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9"/>
          <p:cNvSpPr/>
          <p:nvPr/>
        </p:nvSpPr>
        <p:spPr>
          <a:xfrm>
            <a:off x="7132320" y="975360"/>
            <a:ext cx="4023360" cy="4175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Diverse hands placing name plaques respectfully</a:t>
            </a:r>
            <a:endParaRPr lang="en-US" sz="1100" dirty="0"/>
          </a:p>
        </p:txBody>
      </p:sp>
      <p:sp>
        <p:nvSpPr>
          <p:cNvPr id="13" name="Shape 10"/>
          <p:cNvSpPr/>
          <p:nvPr/>
        </p:nvSpPr>
        <p:spPr>
          <a:xfrm>
            <a:off x="609600" y="4267200"/>
            <a:ext cx="10972800" cy="1584960"/>
          </a:xfrm>
          <a:prstGeom prst="roundRect">
            <a:avLst>
              <a:gd name="adj" fmla="val 8654"/>
            </a:avLst>
          </a:prstGeom>
          <a:solidFill>
            <a:srgbClr val="1A2D5A"/>
          </a:solidFill>
          <a:ln/>
          <a:effectLst>
            <a:outerShdw sx="100000" sy="100000" kx="0" ky="0" algn="bl" rotWithShape="0" blurRad="101600" dist="38100" dir="8100000">
              <a:srgbClr val="000000">
                <a:alpha val="20000"/>
              </a:srgbClr>
            </a:outerShdw>
          </a:effectLst>
        </p:spPr>
      </p:sp>
      <p:sp>
        <p:nvSpPr>
          <p:cNvPr id="14" name="Text 11"/>
          <p:cNvSpPr/>
          <p:nvPr/>
        </p:nvSpPr>
        <p:spPr>
          <a:xfrm>
            <a:off x="792480" y="435864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2"/>
          <p:cNvSpPr/>
          <p:nvPr/>
        </p:nvSpPr>
        <p:spPr>
          <a:xfrm>
            <a:off x="792480" y="4614672"/>
            <a:ext cx="10607040" cy="1146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it important to honor people from ALL backgrounds?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look like to tell someone's story with courtesy?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should we never rank contributions as 'most important'?</a:t>
            </a:r>
            <a:endParaRPr lang="en-US" sz="1100" dirty="0"/>
          </a:p>
        </p:txBody>
      </p:sp>
      <p:sp>
        <p:nvSpPr>
          <p:cNvPr id="16" name="Text 13"/>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CONTRIBUTORS</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Sequoyah &amp; Frederick Douglass</a:t>
            </a:r>
            <a:endParaRPr lang="en-US" sz="2800" dirty="0"/>
          </a:p>
        </p:txBody>
      </p:sp>
      <p:sp>
        <p:nvSpPr>
          <p:cNvPr id="6" name="Shape 4"/>
          <p:cNvSpPr/>
          <p:nvPr/>
        </p:nvSpPr>
        <p:spPr>
          <a:xfrm>
            <a:off x="487680" y="1463040"/>
            <a:ext cx="5364480" cy="3291840"/>
          </a:xfrm>
          <a:prstGeom prst="roundRect">
            <a:avLst>
              <a:gd name="adj" fmla="val 3333"/>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762000" y="1783080"/>
            <a:ext cx="594360" cy="594360"/>
          </a:xfrm>
          <a:prstGeom prst="ellipse">
            <a:avLst/>
          </a:prstGeom>
          <a:solidFill>
            <a:srgbClr val="1A8A7D"/>
          </a:solidFill>
          <a:ln/>
        </p:spPr>
      </p:sp>
      <p:sp>
        <p:nvSpPr>
          <p:cNvPr id="8" name="Text 6"/>
          <p:cNvSpPr/>
          <p:nvPr/>
        </p:nvSpPr>
        <p:spPr>
          <a:xfrm>
            <a:off x="762000" y="17830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a:t>
            </a:r>
            <a:endParaRPr lang="en-US" sz="2200" dirty="0"/>
          </a:p>
        </p:txBody>
      </p:sp>
      <p:sp>
        <p:nvSpPr>
          <p:cNvPr id="9" name="Text 7"/>
          <p:cNvSpPr/>
          <p:nvPr/>
        </p:nvSpPr>
        <p:spPr>
          <a:xfrm>
            <a:off x="1493520" y="1645920"/>
            <a:ext cx="4175760" cy="329184"/>
          </a:xfrm>
          <a:prstGeom prst="rect">
            <a:avLst/>
          </a:prstGeom>
          <a:noFill/>
          <a:ln/>
        </p:spPr>
        <p:txBody>
          <a:bodyPr wrap="square" lIns="0" tIns="0" rIns="0" bIns="0" rtlCol="0" anchor="ctr"/>
          <a:lstStyle/>
          <a:p>
            <a:pPr algn="l" indent="0" marL="0">
              <a:buNone/>
            </a:pPr>
            <a:r>
              <a:rPr lang="en-US" sz="1600" b="1" dirty="0">
                <a:solidFill>
                  <a:srgbClr val="0E1C42"/>
                </a:solidFill>
                <a:latin typeface="Cambria" pitchFamily="34" charset="0"/>
                <a:ea typeface="Cambria" pitchFamily="34" charset="-122"/>
                <a:cs typeface="Cambria" pitchFamily="34" charset="-120"/>
              </a:rPr>
              <a:t>Sequoyah</a:t>
            </a:r>
            <a:endParaRPr lang="en-US" sz="1600" dirty="0"/>
          </a:p>
        </p:txBody>
      </p:sp>
      <p:sp>
        <p:nvSpPr>
          <p:cNvPr id="10" name="Text 8"/>
          <p:cNvSpPr/>
          <p:nvPr/>
        </p:nvSpPr>
        <p:spPr>
          <a:xfrm>
            <a:off x="1493520" y="1938528"/>
            <a:ext cx="4175760" cy="256032"/>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~1770 - 1843  |  Cherokee Nation, Southeast / Southwest</a:t>
            </a:r>
            <a:endParaRPr lang="en-US" sz="1000" dirty="0"/>
          </a:p>
        </p:txBody>
      </p:sp>
      <p:sp>
        <p:nvSpPr>
          <p:cNvPr id="11" name="Text 9"/>
          <p:cNvSpPr/>
          <p:nvPr/>
        </p:nvSpPr>
        <p:spPr>
          <a:xfrm>
            <a:off x="670560" y="2331720"/>
            <a:ext cx="4998720" cy="2240280"/>
          </a:xfrm>
          <a:prstGeom prst="rect">
            <a:avLst/>
          </a:prstGeom>
          <a:noFill/>
          <a:ln/>
        </p:spPr>
        <p:txBody>
          <a:bodyPr wrap="square" lIns="0" tIns="0" rIns="0" bIns="0" rtlCol="0" anchor="t"/>
          <a:lstStyle/>
          <a:p>
            <a:pPr algn="l" indent="0" marL="0">
              <a:lnSpc>
                <a:spcPct val="115000"/>
              </a:lnSpc>
              <a:buNone/>
            </a:pPr>
            <a:r>
              <a:rPr lang="en-US" sz="1300" dirty="0">
                <a:solidFill>
                  <a:srgbClr val="0E1C42"/>
                </a:solidFill>
                <a:latin typeface="Calibri" pitchFamily="34" charset="0"/>
                <a:ea typeface="Calibri" pitchFamily="34" charset="-122"/>
                <a:cs typeface="Calibri" pitchFamily="34" charset="-120"/>
              </a:rPr>
              <a:t>Created an 86-symbol writing system for the Cherokee language. Before Sequoyah, Cherokee had no written form. His syllabary let Cherokee people read and write in their own language for the first time.</a:t>
            </a:r>
            <a:endParaRPr lang="en-US" sz="1300" dirty="0"/>
          </a:p>
        </p:txBody>
      </p:sp>
      <p:sp>
        <p:nvSpPr>
          <p:cNvPr id="12" name="Shape 10"/>
          <p:cNvSpPr/>
          <p:nvPr/>
        </p:nvSpPr>
        <p:spPr>
          <a:xfrm>
            <a:off x="6339840" y="1463040"/>
            <a:ext cx="5364480" cy="3291840"/>
          </a:xfrm>
          <a:prstGeom prst="roundRect">
            <a:avLst>
              <a:gd name="adj" fmla="val 3333"/>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6614160" y="1783080"/>
            <a:ext cx="594360" cy="594360"/>
          </a:xfrm>
          <a:prstGeom prst="ellipse">
            <a:avLst/>
          </a:prstGeom>
          <a:solidFill>
            <a:srgbClr val="8B6FC0"/>
          </a:solidFill>
          <a:ln/>
        </p:spPr>
      </p:sp>
      <p:sp>
        <p:nvSpPr>
          <p:cNvPr id="14" name="Text 12"/>
          <p:cNvSpPr/>
          <p:nvPr/>
        </p:nvSpPr>
        <p:spPr>
          <a:xfrm>
            <a:off x="6614160" y="17830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F</a:t>
            </a:r>
            <a:endParaRPr lang="en-US" sz="2200" dirty="0"/>
          </a:p>
        </p:txBody>
      </p:sp>
      <p:sp>
        <p:nvSpPr>
          <p:cNvPr id="15" name="Text 13"/>
          <p:cNvSpPr/>
          <p:nvPr/>
        </p:nvSpPr>
        <p:spPr>
          <a:xfrm>
            <a:off x="7345680" y="1645920"/>
            <a:ext cx="4175760" cy="329184"/>
          </a:xfrm>
          <a:prstGeom prst="rect">
            <a:avLst/>
          </a:prstGeom>
          <a:noFill/>
          <a:ln/>
        </p:spPr>
        <p:txBody>
          <a:bodyPr wrap="square" lIns="0" tIns="0" rIns="0" bIns="0" rtlCol="0" anchor="ctr"/>
          <a:lstStyle/>
          <a:p>
            <a:pPr algn="l" indent="0" marL="0">
              <a:buNone/>
            </a:pPr>
            <a:r>
              <a:rPr lang="en-US" sz="1600" b="1" dirty="0">
                <a:solidFill>
                  <a:srgbClr val="0E1C42"/>
                </a:solidFill>
                <a:latin typeface="Cambria" pitchFamily="34" charset="0"/>
                <a:ea typeface="Cambria" pitchFamily="34" charset="-122"/>
                <a:cs typeface="Cambria" pitchFamily="34" charset="-120"/>
              </a:rPr>
              <a:t>Frederick Douglass</a:t>
            </a:r>
            <a:endParaRPr lang="en-US" sz="1600" dirty="0"/>
          </a:p>
        </p:txBody>
      </p:sp>
      <p:sp>
        <p:nvSpPr>
          <p:cNvPr id="16" name="Text 14"/>
          <p:cNvSpPr/>
          <p:nvPr/>
        </p:nvSpPr>
        <p:spPr>
          <a:xfrm>
            <a:off x="7345680" y="1938528"/>
            <a:ext cx="4175760" cy="256032"/>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1818 - 1895  |  Born in Southeast, escaped to Northeast</a:t>
            </a:r>
            <a:endParaRPr lang="en-US" sz="1000" dirty="0"/>
          </a:p>
        </p:txBody>
      </p:sp>
      <p:sp>
        <p:nvSpPr>
          <p:cNvPr id="17" name="Text 15"/>
          <p:cNvSpPr/>
          <p:nvPr/>
        </p:nvSpPr>
        <p:spPr>
          <a:xfrm>
            <a:off x="6522720" y="2331720"/>
            <a:ext cx="4998720" cy="2240280"/>
          </a:xfrm>
          <a:prstGeom prst="rect">
            <a:avLst/>
          </a:prstGeom>
          <a:noFill/>
          <a:ln/>
        </p:spPr>
        <p:txBody>
          <a:bodyPr wrap="square" lIns="0" tIns="0" rIns="0" bIns="0" rtlCol="0" anchor="t"/>
          <a:lstStyle/>
          <a:p>
            <a:pPr algn="l" indent="0" marL="0">
              <a:lnSpc>
                <a:spcPct val="115000"/>
              </a:lnSpc>
              <a:buNone/>
            </a:pPr>
            <a:r>
              <a:rPr lang="en-US" sz="1300" dirty="0">
                <a:solidFill>
                  <a:srgbClr val="0E1C42"/>
                </a:solidFill>
                <a:latin typeface="Calibri" pitchFamily="34" charset="0"/>
                <a:ea typeface="Calibri" pitchFamily="34" charset="-122"/>
                <a:cs typeface="Calibri" pitchFamily="34" charset="-120"/>
              </a:rPr>
              <a:t>Born enslaved, he escaped to freedom and became one of the most powerful speakers and writers in American history. He fought against slavery and for equal rights, including women's right to vote.</a:t>
            </a:r>
            <a:endParaRPr lang="en-US" sz="1300" dirty="0"/>
          </a:p>
        </p:txBody>
      </p:sp>
      <p:sp>
        <p:nvSpPr>
          <p:cNvPr id="18" name="Shape 16"/>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was creating a writing system such a big contribution?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Frederick Douglass use words to fight for change?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region connections do you notice for each person?</a:t>
            </a:r>
            <a:endParaRPr lang="en-US" sz="1100" dirty="0"/>
          </a:p>
        </p:txBody>
      </p:sp>
      <p:sp>
        <p:nvSpPr>
          <p:cNvPr id="21" name="Text 19"/>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CONTRIBUTORS</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Maya Lin &amp; Sandra Day O'Connor</a:t>
            </a:r>
            <a:endParaRPr lang="en-US" sz="2800" dirty="0"/>
          </a:p>
        </p:txBody>
      </p:sp>
      <p:sp>
        <p:nvSpPr>
          <p:cNvPr id="6" name="Shape 4"/>
          <p:cNvSpPr/>
          <p:nvPr/>
        </p:nvSpPr>
        <p:spPr>
          <a:xfrm>
            <a:off x="487680" y="1463040"/>
            <a:ext cx="5364480" cy="3291840"/>
          </a:xfrm>
          <a:prstGeom prst="roundRect">
            <a:avLst>
              <a:gd name="adj" fmla="val 3333"/>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762000" y="1783080"/>
            <a:ext cx="594360" cy="594360"/>
          </a:xfrm>
          <a:prstGeom prst="ellipse">
            <a:avLst/>
          </a:prstGeom>
          <a:solidFill>
            <a:srgbClr val="E8636B"/>
          </a:solidFill>
          <a:ln/>
        </p:spPr>
      </p:sp>
      <p:sp>
        <p:nvSpPr>
          <p:cNvPr id="8" name="Text 6"/>
          <p:cNvSpPr/>
          <p:nvPr/>
        </p:nvSpPr>
        <p:spPr>
          <a:xfrm>
            <a:off x="762000" y="17830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a:t>
            </a:r>
            <a:endParaRPr lang="en-US" sz="2200" dirty="0"/>
          </a:p>
        </p:txBody>
      </p:sp>
      <p:sp>
        <p:nvSpPr>
          <p:cNvPr id="9" name="Text 7"/>
          <p:cNvSpPr/>
          <p:nvPr/>
        </p:nvSpPr>
        <p:spPr>
          <a:xfrm>
            <a:off x="1493520" y="1645920"/>
            <a:ext cx="4175760" cy="329184"/>
          </a:xfrm>
          <a:prstGeom prst="rect">
            <a:avLst/>
          </a:prstGeom>
          <a:noFill/>
          <a:ln/>
        </p:spPr>
        <p:txBody>
          <a:bodyPr wrap="square" lIns="0" tIns="0" rIns="0" bIns="0" rtlCol="0" anchor="ctr"/>
          <a:lstStyle/>
          <a:p>
            <a:pPr algn="l" indent="0" marL="0">
              <a:buNone/>
            </a:pPr>
            <a:r>
              <a:rPr lang="en-US" sz="1600" b="1" dirty="0">
                <a:solidFill>
                  <a:srgbClr val="0E1C42"/>
                </a:solidFill>
                <a:latin typeface="Cambria" pitchFamily="34" charset="0"/>
                <a:ea typeface="Cambria" pitchFamily="34" charset="-122"/>
                <a:cs typeface="Cambria" pitchFamily="34" charset="-120"/>
              </a:rPr>
              <a:t>Maya Lin</a:t>
            </a:r>
            <a:endParaRPr lang="en-US" sz="1600" dirty="0"/>
          </a:p>
        </p:txBody>
      </p:sp>
      <p:sp>
        <p:nvSpPr>
          <p:cNvPr id="10" name="Text 8"/>
          <p:cNvSpPr/>
          <p:nvPr/>
        </p:nvSpPr>
        <p:spPr>
          <a:xfrm>
            <a:off x="1493520" y="1938528"/>
            <a:ext cx="4175760" cy="256032"/>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Born 1959  |  Ohio, Midwest</a:t>
            </a:r>
            <a:endParaRPr lang="en-US" sz="1000" dirty="0"/>
          </a:p>
        </p:txBody>
      </p:sp>
      <p:sp>
        <p:nvSpPr>
          <p:cNvPr id="11" name="Text 9"/>
          <p:cNvSpPr/>
          <p:nvPr/>
        </p:nvSpPr>
        <p:spPr>
          <a:xfrm>
            <a:off x="670560" y="2331720"/>
            <a:ext cx="4998720" cy="2240280"/>
          </a:xfrm>
          <a:prstGeom prst="rect">
            <a:avLst/>
          </a:prstGeom>
          <a:noFill/>
          <a:ln/>
        </p:spPr>
        <p:txBody>
          <a:bodyPr wrap="square" lIns="0" tIns="0" rIns="0" bIns="0" rtlCol="0" anchor="t"/>
          <a:lstStyle/>
          <a:p>
            <a:pPr algn="l" indent="0" marL="0">
              <a:lnSpc>
                <a:spcPct val="115000"/>
              </a:lnSpc>
              <a:buNone/>
            </a:pPr>
            <a:r>
              <a:rPr lang="en-US" sz="1300" dirty="0">
                <a:solidFill>
                  <a:srgbClr val="0E1C42"/>
                </a:solidFill>
                <a:latin typeface="Calibri" pitchFamily="34" charset="0"/>
                <a:ea typeface="Calibri" pitchFamily="34" charset="-122"/>
                <a:cs typeface="Calibri" pitchFamily="34" charset="-120"/>
              </a:rPr>
              <a:t>Chinese-American architect who, at just 21 years old, designed the Vietnam Veterans Memorial in Washington, D.C. The names of those who died are listed in the order they were lost, not alphabetically.</a:t>
            </a:r>
            <a:endParaRPr lang="en-US" sz="1300" dirty="0"/>
          </a:p>
        </p:txBody>
      </p:sp>
      <p:sp>
        <p:nvSpPr>
          <p:cNvPr id="12" name="Shape 10"/>
          <p:cNvSpPr/>
          <p:nvPr/>
        </p:nvSpPr>
        <p:spPr>
          <a:xfrm>
            <a:off x="6339840" y="1463040"/>
            <a:ext cx="5364480" cy="3291840"/>
          </a:xfrm>
          <a:prstGeom prst="roundRect">
            <a:avLst>
              <a:gd name="adj" fmla="val 3333"/>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6614160" y="1783080"/>
            <a:ext cx="594360" cy="594360"/>
          </a:xfrm>
          <a:prstGeom prst="ellipse">
            <a:avLst/>
          </a:prstGeom>
          <a:solidFill>
            <a:srgbClr val="D4943A"/>
          </a:solidFill>
          <a:ln/>
        </p:spPr>
      </p:sp>
      <p:sp>
        <p:nvSpPr>
          <p:cNvPr id="14" name="Text 12"/>
          <p:cNvSpPr/>
          <p:nvPr/>
        </p:nvSpPr>
        <p:spPr>
          <a:xfrm>
            <a:off x="6614160" y="17830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a:t>
            </a:r>
            <a:endParaRPr lang="en-US" sz="2200" dirty="0"/>
          </a:p>
        </p:txBody>
      </p:sp>
      <p:sp>
        <p:nvSpPr>
          <p:cNvPr id="15" name="Text 13"/>
          <p:cNvSpPr/>
          <p:nvPr/>
        </p:nvSpPr>
        <p:spPr>
          <a:xfrm>
            <a:off x="7345680" y="1645920"/>
            <a:ext cx="4175760" cy="329184"/>
          </a:xfrm>
          <a:prstGeom prst="rect">
            <a:avLst/>
          </a:prstGeom>
          <a:noFill/>
          <a:ln/>
        </p:spPr>
        <p:txBody>
          <a:bodyPr wrap="square" lIns="0" tIns="0" rIns="0" bIns="0" rtlCol="0" anchor="ctr"/>
          <a:lstStyle/>
          <a:p>
            <a:pPr algn="l" indent="0" marL="0">
              <a:buNone/>
            </a:pPr>
            <a:r>
              <a:rPr lang="en-US" sz="1600" b="1" dirty="0">
                <a:solidFill>
                  <a:srgbClr val="0E1C42"/>
                </a:solidFill>
                <a:latin typeface="Cambria" pitchFamily="34" charset="0"/>
                <a:ea typeface="Cambria" pitchFamily="34" charset="-122"/>
                <a:cs typeface="Cambria" pitchFamily="34" charset="-120"/>
              </a:rPr>
              <a:t>Sandra Day O'Connor</a:t>
            </a:r>
            <a:endParaRPr lang="en-US" sz="1600" dirty="0"/>
          </a:p>
        </p:txBody>
      </p:sp>
      <p:sp>
        <p:nvSpPr>
          <p:cNvPr id="16" name="Text 14"/>
          <p:cNvSpPr/>
          <p:nvPr/>
        </p:nvSpPr>
        <p:spPr>
          <a:xfrm>
            <a:off x="7345680" y="1938528"/>
            <a:ext cx="4175760" cy="256032"/>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1930 - 2023  |  Arizona, Southwest</a:t>
            </a:r>
            <a:endParaRPr lang="en-US" sz="1000" dirty="0"/>
          </a:p>
        </p:txBody>
      </p:sp>
      <p:sp>
        <p:nvSpPr>
          <p:cNvPr id="17" name="Text 15"/>
          <p:cNvSpPr/>
          <p:nvPr/>
        </p:nvSpPr>
        <p:spPr>
          <a:xfrm>
            <a:off x="6522720" y="2331720"/>
            <a:ext cx="4998720" cy="2240280"/>
          </a:xfrm>
          <a:prstGeom prst="rect">
            <a:avLst/>
          </a:prstGeom>
          <a:noFill/>
          <a:ln/>
        </p:spPr>
        <p:txBody>
          <a:bodyPr wrap="square" lIns="0" tIns="0" rIns="0" bIns="0" rtlCol="0" anchor="t"/>
          <a:lstStyle/>
          <a:p>
            <a:pPr algn="l" indent="0" marL="0">
              <a:lnSpc>
                <a:spcPct val="115000"/>
              </a:lnSpc>
              <a:buNone/>
            </a:pPr>
            <a:r>
              <a:rPr lang="en-US" sz="1300" dirty="0">
                <a:solidFill>
                  <a:srgbClr val="0E1C42"/>
                </a:solidFill>
                <a:latin typeface="Calibri" pitchFamily="34" charset="0"/>
                <a:ea typeface="Calibri" pitchFamily="34" charset="-122"/>
                <a:cs typeface="Calibri" pitchFamily="34" charset="-120"/>
              </a:rPr>
              <a:t>First woman ever to serve on the United States Supreme Court. She served for 24 years, making important decisions that affected every American. She opened a door that had always been closed.</a:t>
            </a:r>
            <a:endParaRPr lang="en-US" sz="1300" dirty="0"/>
          </a:p>
        </p:txBody>
      </p:sp>
      <p:sp>
        <p:nvSpPr>
          <p:cNvPr id="18" name="Shape 16"/>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was Maya Lin's age surprising to the judges?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mean to be the FIRST woman on the Supreme Court?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both of these women open doors for others?</a:t>
            </a:r>
            <a:endParaRPr lang="en-US" sz="1100" dirty="0"/>
          </a:p>
        </p:txBody>
      </p:sp>
      <p:sp>
        <p:nvSpPr>
          <p:cNvPr id="21" name="Text 19"/>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CONTRIBUTORS</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Cesar Chavez &amp; Queen Lili'uokalani</a:t>
            </a:r>
            <a:endParaRPr lang="en-US" sz="2800" dirty="0"/>
          </a:p>
        </p:txBody>
      </p:sp>
      <p:sp>
        <p:nvSpPr>
          <p:cNvPr id="6" name="Shape 4"/>
          <p:cNvSpPr/>
          <p:nvPr/>
        </p:nvSpPr>
        <p:spPr>
          <a:xfrm>
            <a:off x="487680" y="1463040"/>
            <a:ext cx="5364480" cy="3291840"/>
          </a:xfrm>
          <a:prstGeom prst="roundRect">
            <a:avLst>
              <a:gd name="adj" fmla="val 3333"/>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762000" y="1783080"/>
            <a:ext cx="594360" cy="594360"/>
          </a:xfrm>
          <a:prstGeom prst="ellipse">
            <a:avLst/>
          </a:prstGeom>
          <a:solidFill>
            <a:srgbClr val="34B76F"/>
          </a:solidFill>
          <a:ln/>
        </p:spPr>
      </p:sp>
      <p:sp>
        <p:nvSpPr>
          <p:cNvPr id="8" name="Text 6"/>
          <p:cNvSpPr/>
          <p:nvPr/>
        </p:nvSpPr>
        <p:spPr>
          <a:xfrm>
            <a:off x="762000" y="17830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9" name="Text 7"/>
          <p:cNvSpPr/>
          <p:nvPr/>
        </p:nvSpPr>
        <p:spPr>
          <a:xfrm>
            <a:off x="1493520" y="1645920"/>
            <a:ext cx="4175760" cy="329184"/>
          </a:xfrm>
          <a:prstGeom prst="rect">
            <a:avLst/>
          </a:prstGeom>
          <a:noFill/>
          <a:ln/>
        </p:spPr>
        <p:txBody>
          <a:bodyPr wrap="square" lIns="0" tIns="0" rIns="0" bIns="0" rtlCol="0" anchor="ctr"/>
          <a:lstStyle/>
          <a:p>
            <a:pPr algn="l" indent="0" marL="0">
              <a:buNone/>
            </a:pPr>
            <a:r>
              <a:rPr lang="en-US" sz="1600" b="1" dirty="0">
                <a:solidFill>
                  <a:srgbClr val="0E1C42"/>
                </a:solidFill>
                <a:latin typeface="Cambria" pitchFamily="34" charset="0"/>
                <a:ea typeface="Cambria" pitchFamily="34" charset="-122"/>
                <a:cs typeface="Cambria" pitchFamily="34" charset="-120"/>
              </a:rPr>
              <a:t>Cesar Chavez</a:t>
            </a:r>
            <a:endParaRPr lang="en-US" sz="1600" dirty="0"/>
          </a:p>
        </p:txBody>
      </p:sp>
      <p:sp>
        <p:nvSpPr>
          <p:cNvPr id="10" name="Text 8"/>
          <p:cNvSpPr/>
          <p:nvPr/>
        </p:nvSpPr>
        <p:spPr>
          <a:xfrm>
            <a:off x="1493520" y="1938528"/>
            <a:ext cx="4175760" cy="256032"/>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1927 - 1993  |  Arizona / California, Southwest / West</a:t>
            </a:r>
            <a:endParaRPr lang="en-US" sz="1000" dirty="0"/>
          </a:p>
        </p:txBody>
      </p:sp>
      <p:sp>
        <p:nvSpPr>
          <p:cNvPr id="11" name="Text 9"/>
          <p:cNvSpPr/>
          <p:nvPr/>
        </p:nvSpPr>
        <p:spPr>
          <a:xfrm>
            <a:off x="670560" y="2331720"/>
            <a:ext cx="4998720" cy="2240280"/>
          </a:xfrm>
          <a:prstGeom prst="rect">
            <a:avLst/>
          </a:prstGeom>
          <a:noFill/>
          <a:ln/>
        </p:spPr>
        <p:txBody>
          <a:bodyPr wrap="square" lIns="0" tIns="0" rIns="0" bIns="0" rtlCol="0" anchor="t"/>
          <a:lstStyle/>
          <a:p>
            <a:pPr algn="l" indent="0" marL="0">
              <a:lnSpc>
                <a:spcPct val="115000"/>
              </a:lnSpc>
              <a:buNone/>
            </a:pPr>
            <a:r>
              <a:rPr lang="en-US" sz="1300" dirty="0">
                <a:solidFill>
                  <a:srgbClr val="0E1C42"/>
                </a:solidFill>
                <a:latin typeface="Calibri" pitchFamily="34" charset="0"/>
                <a:ea typeface="Calibri" pitchFamily="34" charset="-122"/>
                <a:cs typeface="Calibri" pitchFamily="34" charset="-120"/>
              </a:rPr>
              <a:t>Organized farm workers to fight for fair wages and safer working conditions. He led marches, boycotts, and peaceful protests so that the people who grew America's food would be treated with dignity.</a:t>
            </a:r>
            <a:endParaRPr lang="en-US" sz="1300" dirty="0"/>
          </a:p>
        </p:txBody>
      </p:sp>
      <p:sp>
        <p:nvSpPr>
          <p:cNvPr id="12" name="Shape 10"/>
          <p:cNvSpPr/>
          <p:nvPr/>
        </p:nvSpPr>
        <p:spPr>
          <a:xfrm>
            <a:off x="6339840" y="1463040"/>
            <a:ext cx="5364480" cy="3291840"/>
          </a:xfrm>
          <a:prstGeom prst="roundRect">
            <a:avLst>
              <a:gd name="adj" fmla="val 3333"/>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6614160" y="1783080"/>
            <a:ext cx="594360" cy="594360"/>
          </a:xfrm>
          <a:prstGeom prst="ellipse">
            <a:avLst/>
          </a:prstGeom>
          <a:solidFill>
            <a:srgbClr val="55C8E8"/>
          </a:solidFill>
          <a:ln/>
        </p:spPr>
      </p:sp>
      <p:sp>
        <p:nvSpPr>
          <p:cNvPr id="14" name="Text 12"/>
          <p:cNvSpPr/>
          <p:nvPr/>
        </p:nvSpPr>
        <p:spPr>
          <a:xfrm>
            <a:off x="6614160" y="17830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Q</a:t>
            </a:r>
            <a:endParaRPr lang="en-US" sz="2200" dirty="0"/>
          </a:p>
        </p:txBody>
      </p:sp>
      <p:sp>
        <p:nvSpPr>
          <p:cNvPr id="15" name="Text 13"/>
          <p:cNvSpPr/>
          <p:nvPr/>
        </p:nvSpPr>
        <p:spPr>
          <a:xfrm>
            <a:off x="7345680" y="1645920"/>
            <a:ext cx="4175760" cy="329184"/>
          </a:xfrm>
          <a:prstGeom prst="rect">
            <a:avLst/>
          </a:prstGeom>
          <a:noFill/>
          <a:ln/>
        </p:spPr>
        <p:txBody>
          <a:bodyPr wrap="square" lIns="0" tIns="0" rIns="0" bIns="0" rtlCol="0" anchor="ctr"/>
          <a:lstStyle/>
          <a:p>
            <a:pPr algn="l" indent="0" marL="0">
              <a:buNone/>
            </a:pPr>
            <a:r>
              <a:rPr lang="en-US" sz="1600" b="1" dirty="0">
                <a:solidFill>
                  <a:srgbClr val="0E1C42"/>
                </a:solidFill>
                <a:latin typeface="Cambria" pitchFamily="34" charset="0"/>
                <a:ea typeface="Cambria" pitchFamily="34" charset="-122"/>
                <a:cs typeface="Cambria" pitchFamily="34" charset="-120"/>
              </a:rPr>
              <a:t>Queen Lili'uokalani</a:t>
            </a:r>
            <a:endParaRPr lang="en-US" sz="1600" dirty="0"/>
          </a:p>
        </p:txBody>
      </p:sp>
      <p:sp>
        <p:nvSpPr>
          <p:cNvPr id="16" name="Text 14"/>
          <p:cNvSpPr/>
          <p:nvPr/>
        </p:nvSpPr>
        <p:spPr>
          <a:xfrm>
            <a:off x="7345680" y="1938528"/>
            <a:ext cx="4175760" cy="256032"/>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1838 - 1917  |  Hawaii, West</a:t>
            </a:r>
            <a:endParaRPr lang="en-US" sz="1000" dirty="0"/>
          </a:p>
        </p:txBody>
      </p:sp>
      <p:sp>
        <p:nvSpPr>
          <p:cNvPr id="17" name="Text 15"/>
          <p:cNvSpPr/>
          <p:nvPr/>
        </p:nvSpPr>
        <p:spPr>
          <a:xfrm>
            <a:off x="6522720" y="2331720"/>
            <a:ext cx="4998720" cy="2240280"/>
          </a:xfrm>
          <a:prstGeom prst="rect">
            <a:avLst/>
          </a:prstGeom>
          <a:noFill/>
          <a:ln/>
        </p:spPr>
        <p:txBody>
          <a:bodyPr wrap="square" lIns="0" tIns="0" rIns="0" bIns="0" rtlCol="0" anchor="t"/>
          <a:lstStyle/>
          <a:p>
            <a:pPr algn="l" indent="0" marL="0">
              <a:lnSpc>
                <a:spcPct val="115000"/>
              </a:lnSpc>
              <a:buNone/>
            </a:pPr>
            <a:r>
              <a:rPr lang="en-US" sz="1300" dirty="0">
                <a:solidFill>
                  <a:srgbClr val="0E1C42"/>
                </a:solidFill>
                <a:latin typeface="Calibri" pitchFamily="34" charset="0"/>
                <a:ea typeface="Calibri" pitchFamily="34" charset="-122"/>
                <a:cs typeface="Calibri" pitchFamily="34" charset="-120"/>
              </a:rPr>
              <a:t>The last queen of the Kingdom of Hawaii. She fought to protect her people and their way of life. She also composed beautiful music, including the beloved song 'Aloha 'Oe' (Farewell to Thee).</a:t>
            </a:r>
            <a:endParaRPr lang="en-US" sz="1300" dirty="0"/>
          </a:p>
        </p:txBody>
      </p:sp>
      <p:sp>
        <p:nvSpPr>
          <p:cNvPr id="18" name="Shape 16"/>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9" name="Text 17"/>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0" name="Text 18"/>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did farm workers need someone to stand up for them?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mean to be the LAST queen of a kingdom?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both of these leaders care for their communities?</a:t>
            </a:r>
            <a:endParaRPr lang="en-US" sz="1100" dirty="0"/>
          </a:p>
        </p:txBody>
      </p:sp>
      <p:sp>
        <p:nvSpPr>
          <p:cNvPr id="21" name="Text 19"/>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MAP QUEST</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Contributors and Their Regions</a:t>
            </a:r>
            <a:endParaRPr lang="en-US" sz="2800" dirty="0"/>
          </a:p>
        </p:txBody>
      </p:sp>
      <p:sp>
        <p:nvSpPr>
          <p:cNvPr id="6" name="Shape 4"/>
          <p:cNvSpPr/>
          <p:nvPr/>
        </p:nvSpPr>
        <p:spPr>
          <a:xfrm>
            <a:off x="731520" y="1463040"/>
            <a:ext cx="3901440" cy="609600"/>
          </a:xfrm>
          <a:prstGeom prst="roundRect">
            <a:avLst>
              <a:gd name="adj" fmla="val 12000"/>
            </a:avLst>
          </a:prstGeom>
          <a:solidFill>
            <a:srgbClr val="FFFFFF"/>
          </a:solidFill>
          <a:ln/>
          <a:effectLst>
            <a:outerShdw sx="100000" sy="100000" kx="0" ky="0" algn="bl" rotWithShape="0" blurRad="50800" dist="12700" dir="8100000">
              <a:srgbClr val="000000">
                <a:alpha val="8000"/>
              </a:srgbClr>
            </a:outerShdw>
          </a:effectLst>
        </p:spPr>
      </p:sp>
      <p:sp>
        <p:nvSpPr>
          <p:cNvPr id="7" name="Shape 5"/>
          <p:cNvSpPr/>
          <p:nvPr/>
        </p:nvSpPr>
        <p:spPr>
          <a:xfrm>
            <a:off x="853440" y="1511808"/>
            <a:ext cx="426720" cy="426720"/>
          </a:xfrm>
          <a:prstGeom prst="ellipse">
            <a:avLst/>
          </a:prstGeom>
          <a:solidFill>
            <a:srgbClr val="1A8A7D"/>
          </a:solidFill>
          <a:ln/>
        </p:spPr>
      </p:sp>
      <p:sp>
        <p:nvSpPr>
          <p:cNvPr id="8" name="Text 6"/>
          <p:cNvSpPr/>
          <p:nvPr/>
        </p:nvSpPr>
        <p:spPr>
          <a:xfrm>
            <a:off x="1402080" y="1463040"/>
            <a:ext cx="3048000" cy="609600"/>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Sequoyah</a:t>
            </a:r>
            <a:endParaRPr lang="en-US" sz="1400" dirty="0"/>
          </a:p>
        </p:txBody>
      </p:sp>
      <p:sp>
        <p:nvSpPr>
          <p:cNvPr id="9" name="Text 7"/>
          <p:cNvSpPr/>
          <p:nvPr/>
        </p:nvSpPr>
        <p:spPr>
          <a:xfrm>
            <a:off x="4754880" y="1463040"/>
            <a:ext cx="731520" cy="60960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--&gt;</a:t>
            </a:r>
            <a:endParaRPr lang="en-US" sz="1400" dirty="0"/>
          </a:p>
        </p:txBody>
      </p:sp>
      <p:sp>
        <p:nvSpPr>
          <p:cNvPr id="10" name="Shape 8"/>
          <p:cNvSpPr/>
          <p:nvPr/>
        </p:nvSpPr>
        <p:spPr>
          <a:xfrm>
            <a:off x="5608320" y="1463040"/>
            <a:ext cx="4632960" cy="609600"/>
          </a:xfrm>
          <a:prstGeom prst="roundRect">
            <a:avLst>
              <a:gd name="adj" fmla="val 12000"/>
            </a:avLst>
          </a:prstGeom>
          <a:solidFill>
            <a:srgbClr val="1A8A7D">
              <a:alpha val="15000"/>
            </a:srgbClr>
          </a:solidFill>
          <a:ln/>
          <a:effectLst>
            <a:outerShdw sx="100000" sy="100000" kx="0" ky="0" algn="bl" rotWithShape="0" blurRad="50800" dist="12700" dir="8100000">
              <a:srgbClr val="000000">
                <a:alpha val="8000"/>
              </a:srgbClr>
            </a:outerShdw>
          </a:effectLst>
        </p:spPr>
      </p:sp>
      <p:sp>
        <p:nvSpPr>
          <p:cNvPr id="11" name="Text 9"/>
          <p:cNvSpPr/>
          <p:nvPr/>
        </p:nvSpPr>
        <p:spPr>
          <a:xfrm>
            <a:off x="5852160" y="1463040"/>
            <a:ext cx="4145280" cy="6096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Cherokee Nation (Southeast)</a:t>
            </a:r>
            <a:endParaRPr lang="en-US" sz="1300" dirty="0"/>
          </a:p>
        </p:txBody>
      </p:sp>
      <p:sp>
        <p:nvSpPr>
          <p:cNvPr id="12" name="Shape 10"/>
          <p:cNvSpPr/>
          <p:nvPr/>
        </p:nvSpPr>
        <p:spPr>
          <a:xfrm>
            <a:off x="731520" y="2218944"/>
            <a:ext cx="3901440" cy="609600"/>
          </a:xfrm>
          <a:prstGeom prst="roundRect">
            <a:avLst>
              <a:gd name="adj" fmla="val 12000"/>
            </a:avLst>
          </a:prstGeom>
          <a:solidFill>
            <a:srgbClr val="FFFFFF"/>
          </a:solidFill>
          <a:ln/>
          <a:effectLst>
            <a:outerShdw sx="100000" sy="100000" kx="0" ky="0" algn="bl" rotWithShape="0" blurRad="50800" dist="12700" dir="8100000">
              <a:srgbClr val="000000">
                <a:alpha val="8000"/>
              </a:srgbClr>
            </a:outerShdw>
          </a:effectLst>
        </p:spPr>
      </p:sp>
      <p:sp>
        <p:nvSpPr>
          <p:cNvPr id="13" name="Shape 11"/>
          <p:cNvSpPr/>
          <p:nvPr/>
        </p:nvSpPr>
        <p:spPr>
          <a:xfrm>
            <a:off x="853440" y="2267712"/>
            <a:ext cx="426720" cy="426720"/>
          </a:xfrm>
          <a:prstGeom prst="ellipse">
            <a:avLst/>
          </a:prstGeom>
          <a:solidFill>
            <a:srgbClr val="8B6FC0"/>
          </a:solidFill>
          <a:ln/>
        </p:spPr>
      </p:sp>
      <p:sp>
        <p:nvSpPr>
          <p:cNvPr id="14" name="Text 12"/>
          <p:cNvSpPr/>
          <p:nvPr/>
        </p:nvSpPr>
        <p:spPr>
          <a:xfrm>
            <a:off x="1402080" y="2218944"/>
            <a:ext cx="3048000" cy="609600"/>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Frederick Douglass</a:t>
            </a:r>
            <a:endParaRPr lang="en-US" sz="1400" dirty="0"/>
          </a:p>
        </p:txBody>
      </p:sp>
      <p:sp>
        <p:nvSpPr>
          <p:cNvPr id="15" name="Text 13"/>
          <p:cNvSpPr/>
          <p:nvPr/>
        </p:nvSpPr>
        <p:spPr>
          <a:xfrm>
            <a:off x="4754880" y="2218944"/>
            <a:ext cx="731520" cy="60960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--&gt;</a:t>
            </a:r>
            <a:endParaRPr lang="en-US" sz="1400" dirty="0"/>
          </a:p>
        </p:txBody>
      </p:sp>
      <p:sp>
        <p:nvSpPr>
          <p:cNvPr id="16" name="Shape 14"/>
          <p:cNvSpPr/>
          <p:nvPr/>
        </p:nvSpPr>
        <p:spPr>
          <a:xfrm>
            <a:off x="5608320" y="2218944"/>
            <a:ext cx="4632960" cy="609600"/>
          </a:xfrm>
          <a:prstGeom prst="roundRect">
            <a:avLst>
              <a:gd name="adj" fmla="val 12000"/>
            </a:avLst>
          </a:prstGeom>
          <a:solidFill>
            <a:srgbClr val="8B6FC0">
              <a:alpha val="15000"/>
            </a:srgbClr>
          </a:solidFill>
          <a:ln/>
          <a:effectLst>
            <a:outerShdw sx="100000" sy="100000" kx="0" ky="0" algn="bl" rotWithShape="0" blurRad="50800" dist="12700" dir="8100000">
              <a:srgbClr val="000000">
                <a:alpha val="8000"/>
              </a:srgbClr>
            </a:outerShdw>
          </a:effectLst>
        </p:spPr>
      </p:sp>
      <p:sp>
        <p:nvSpPr>
          <p:cNvPr id="17" name="Text 15"/>
          <p:cNvSpPr/>
          <p:nvPr/>
        </p:nvSpPr>
        <p:spPr>
          <a:xfrm>
            <a:off x="5852160" y="2218944"/>
            <a:ext cx="4145280" cy="6096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Northeast (Massachusetts)</a:t>
            </a:r>
            <a:endParaRPr lang="en-US" sz="1300" dirty="0"/>
          </a:p>
        </p:txBody>
      </p:sp>
      <p:sp>
        <p:nvSpPr>
          <p:cNvPr id="18" name="Shape 16"/>
          <p:cNvSpPr/>
          <p:nvPr/>
        </p:nvSpPr>
        <p:spPr>
          <a:xfrm>
            <a:off x="731520" y="2974848"/>
            <a:ext cx="3901440" cy="609600"/>
          </a:xfrm>
          <a:prstGeom prst="roundRect">
            <a:avLst>
              <a:gd name="adj" fmla="val 12000"/>
            </a:avLst>
          </a:prstGeom>
          <a:solidFill>
            <a:srgbClr val="FFFFFF"/>
          </a:solidFill>
          <a:ln/>
          <a:effectLst>
            <a:outerShdw sx="100000" sy="100000" kx="0" ky="0" algn="bl" rotWithShape="0" blurRad="50800" dist="12700" dir="8100000">
              <a:srgbClr val="000000">
                <a:alpha val="8000"/>
              </a:srgbClr>
            </a:outerShdw>
          </a:effectLst>
        </p:spPr>
      </p:sp>
      <p:sp>
        <p:nvSpPr>
          <p:cNvPr id="19" name="Shape 17"/>
          <p:cNvSpPr/>
          <p:nvPr/>
        </p:nvSpPr>
        <p:spPr>
          <a:xfrm>
            <a:off x="853440" y="3023616"/>
            <a:ext cx="426720" cy="426720"/>
          </a:xfrm>
          <a:prstGeom prst="ellipse">
            <a:avLst/>
          </a:prstGeom>
          <a:solidFill>
            <a:srgbClr val="E8636B"/>
          </a:solidFill>
          <a:ln/>
        </p:spPr>
      </p:sp>
      <p:sp>
        <p:nvSpPr>
          <p:cNvPr id="20" name="Text 18"/>
          <p:cNvSpPr/>
          <p:nvPr/>
        </p:nvSpPr>
        <p:spPr>
          <a:xfrm>
            <a:off x="1402080" y="2974848"/>
            <a:ext cx="3048000" cy="609600"/>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Maya Lin</a:t>
            </a:r>
            <a:endParaRPr lang="en-US" sz="1400" dirty="0"/>
          </a:p>
        </p:txBody>
      </p:sp>
      <p:sp>
        <p:nvSpPr>
          <p:cNvPr id="21" name="Text 19"/>
          <p:cNvSpPr/>
          <p:nvPr/>
        </p:nvSpPr>
        <p:spPr>
          <a:xfrm>
            <a:off x="4754880" y="2974848"/>
            <a:ext cx="731520" cy="60960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--&gt;</a:t>
            </a:r>
            <a:endParaRPr lang="en-US" sz="1400" dirty="0"/>
          </a:p>
        </p:txBody>
      </p:sp>
      <p:sp>
        <p:nvSpPr>
          <p:cNvPr id="22" name="Shape 20"/>
          <p:cNvSpPr/>
          <p:nvPr/>
        </p:nvSpPr>
        <p:spPr>
          <a:xfrm>
            <a:off x="5608320" y="2974848"/>
            <a:ext cx="4632960" cy="609600"/>
          </a:xfrm>
          <a:prstGeom prst="roundRect">
            <a:avLst>
              <a:gd name="adj" fmla="val 12000"/>
            </a:avLst>
          </a:prstGeom>
          <a:solidFill>
            <a:srgbClr val="E8636B">
              <a:alpha val="15000"/>
            </a:srgbClr>
          </a:solidFill>
          <a:ln/>
          <a:effectLst>
            <a:outerShdw sx="100000" sy="100000" kx="0" ky="0" algn="bl" rotWithShape="0" blurRad="50800" dist="12700" dir="8100000">
              <a:srgbClr val="000000">
                <a:alpha val="8000"/>
              </a:srgbClr>
            </a:outerShdw>
          </a:effectLst>
        </p:spPr>
      </p:sp>
      <p:sp>
        <p:nvSpPr>
          <p:cNvPr id="23" name="Text 21"/>
          <p:cNvSpPr/>
          <p:nvPr/>
        </p:nvSpPr>
        <p:spPr>
          <a:xfrm>
            <a:off x="5852160" y="2974848"/>
            <a:ext cx="4145280" cy="6096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Midwest (Ohio)</a:t>
            </a:r>
            <a:endParaRPr lang="en-US" sz="1300" dirty="0"/>
          </a:p>
        </p:txBody>
      </p:sp>
      <p:sp>
        <p:nvSpPr>
          <p:cNvPr id="24" name="Shape 22"/>
          <p:cNvSpPr/>
          <p:nvPr/>
        </p:nvSpPr>
        <p:spPr>
          <a:xfrm>
            <a:off x="731520" y="3730752"/>
            <a:ext cx="3901440" cy="609600"/>
          </a:xfrm>
          <a:prstGeom prst="roundRect">
            <a:avLst>
              <a:gd name="adj" fmla="val 12000"/>
            </a:avLst>
          </a:prstGeom>
          <a:solidFill>
            <a:srgbClr val="FFFFFF"/>
          </a:solidFill>
          <a:ln/>
          <a:effectLst>
            <a:outerShdw sx="100000" sy="100000" kx="0" ky="0" algn="bl" rotWithShape="0" blurRad="50800" dist="12700" dir="8100000">
              <a:srgbClr val="000000">
                <a:alpha val="8000"/>
              </a:srgbClr>
            </a:outerShdw>
          </a:effectLst>
        </p:spPr>
      </p:sp>
      <p:sp>
        <p:nvSpPr>
          <p:cNvPr id="25" name="Shape 23"/>
          <p:cNvSpPr/>
          <p:nvPr/>
        </p:nvSpPr>
        <p:spPr>
          <a:xfrm>
            <a:off x="853440" y="3779520"/>
            <a:ext cx="426720" cy="426720"/>
          </a:xfrm>
          <a:prstGeom prst="ellipse">
            <a:avLst/>
          </a:prstGeom>
          <a:solidFill>
            <a:srgbClr val="D4943A"/>
          </a:solidFill>
          <a:ln/>
        </p:spPr>
      </p:sp>
      <p:sp>
        <p:nvSpPr>
          <p:cNvPr id="26" name="Text 24"/>
          <p:cNvSpPr/>
          <p:nvPr/>
        </p:nvSpPr>
        <p:spPr>
          <a:xfrm>
            <a:off x="1402080" y="3730752"/>
            <a:ext cx="3048000" cy="609600"/>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Sandra Day O'Connor</a:t>
            </a:r>
            <a:endParaRPr lang="en-US" sz="1400" dirty="0"/>
          </a:p>
        </p:txBody>
      </p:sp>
      <p:sp>
        <p:nvSpPr>
          <p:cNvPr id="27" name="Text 25"/>
          <p:cNvSpPr/>
          <p:nvPr/>
        </p:nvSpPr>
        <p:spPr>
          <a:xfrm>
            <a:off x="4754880" y="3730752"/>
            <a:ext cx="731520" cy="60960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--&gt;</a:t>
            </a:r>
            <a:endParaRPr lang="en-US" sz="1400" dirty="0"/>
          </a:p>
        </p:txBody>
      </p:sp>
      <p:sp>
        <p:nvSpPr>
          <p:cNvPr id="28" name="Shape 26"/>
          <p:cNvSpPr/>
          <p:nvPr/>
        </p:nvSpPr>
        <p:spPr>
          <a:xfrm>
            <a:off x="5608320" y="3730752"/>
            <a:ext cx="4632960" cy="609600"/>
          </a:xfrm>
          <a:prstGeom prst="roundRect">
            <a:avLst>
              <a:gd name="adj" fmla="val 12000"/>
            </a:avLst>
          </a:prstGeom>
          <a:solidFill>
            <a:srgbClr val="D4943A">
              <a:alpha val="15000"/>
            </a:srgbClr>
          </a:solidFill>
          <a:ln/>
          <a:effectLst>
            <a:outerShdw sx="100000" sy="100000" kx="0" ky="0" algn="bl" rotWithShape="0" blurRad="50800" dist="12700" dir="8100000">
              <a:srgbClr val="000000">
                <a:alpha val="8000"/>
              </a:srgbClr>
            </a:outerShdw>
          </a:effectLst>
        </p:spPr>
      </p:sp>
      <p:sp>
        <p:nvSpPr>
          <p:cNvPr id="29" name="Text 27"/>
          <p:cNvSpPr/>
          <p:nvPr/>
        </p:nvSpPr>
        <p:spPr>
          <a:xfrm>
            <a:off x="5852160" y="3730752"/>
            <a:ext cx="4145280" cy="6096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Southwest (Arizona)</a:t>
            </a:r>
            <a:endParaRPr lang="en-US" sz="1300" dirty="0"/>
          </a:p>
        </p:txBody>
      </p:sp>
      <p:sp>
        <p:nvSpPr>
          <p:cNvPr id="30" name="Shape 28"/>
          <p:cNvSpPr/>
          <p:nvPr/>
        </p:nvSpPr>
        <p:spPr>
          <a:xfrm>
            <a:off x="731520" y="4486656"/>
            <a:ext cx="3901440" cy="609600"/>
          </a:xfrm>
          <a:prstGeom prst="roundRect">
            <a:avLst>
              <a:gd name="adj" fmla="val 12000"/>
            </a:avLst>
          </a:prstGeom>
          <a:solidFill>
            <a:srgbClr val="FFFFFF"/>
          </a:solidFill>
          <a:ln/>
          <a:effectLst>
            <a:outerShdw sx="100000" sy="100000" kx="0" ky="0" algn="bl" rotWithShape="0" blurRad="50800" dist="12700" dir="8100000">
              <a:srgbClr val="000000">
                <a:alpha val="8000"/>
              </a:srgbClr>
            </a:outerShdw>
          </a:effectLst>
        </p:spPr>
      </p:sp>
      <p:sp>
        <p:nvSpPr>
          <p:cNvPr id="31" name="Shape 29"/>
          <p:cNvSpPr/>
          <p:nvPr/>
        </p:nvSpPr>
        <p:spPr>
          <a:xfrm>
            <a:off x="853440" y="4535424"/>
            <a:ext cx="426720" cy="426720"/>
          </a:xfrm>
          <a:prstGeom prst="ellipse">
            <a:avLst/>
          </a:prstGeom>
          <a:solidFill>
            <a:srgbClr val="34B76F"/>
          </a:solidFill>
          <a:ln/>
        </p:spPr>
      </p:sp>
      <p:sp>
        <p:nvSpPr>
          <p:cNvPr id="32" name="Text 30"/>
          <p:cNvSpPr/>
          <p:nvPr/>
        </p:nvSpPr>
        <p:spPr>
          <a:xfrm>
            <a:off x="1402080" y="4486656"/>
            <a:ext cx="3048000" cy="609600"/>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Cesar Chavez</a:t>
            </a:r>
            <a:endParaRPr lang="en-US" sz="1400" dirty="0"/>
          </a:p>
        </p:txBody>
      </p:sp>
      <p:sp>
        <p:nvSpPr>
          <p:cNvPr id="33" name="Text 31"/>
          <p:cNvSpPr/>
          <p:nvPr/>
        </p:nvSpPr>
        <p:spPr>
          <a:xfrm>
            <a:off x="4754880" y="4486656"/>
            <a:ext cx="731520" cy="60960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--&gt;</a:t>
            </a:r>
            <a:endParaRPr lang="en-US" sz="1400" dirty="0"/>
          </a:p>
        </p:txBody>
      </p:sp>
      <p:sp>
        <p:nvSpPr>
          <p:cNvPr id="34" name="Shape 32"/>
          <p:cNvSpPr/>
          <p:nvPr/>
        </p:nvSpPr>
        <p:spPr>
          <a:xfrm>
            <a:off x="5608320" y="4486656"/>
            <a:ext cx="4632960" cy="609600"/>
          </a:xfrm>
          <a:prstGeom prst="roundRect">
            <a:avLst>
              <a:gd name="adj" fmla="val 12000"/>
            </a:avLst>
          </a:prstGeom>
          <a:solidFill>
            <a:srgbClr val="34B76F">
              <a:alpha val="15000"/>
            </a:srgbClr>
          </a:solidFill>
          <a:ln/>
          <a:effectLst>
            <a:outerShdw sx="100000" sy="100000" kx="0" ky="0" algn="bl" rotWithShape="0" blurRad="50800" dist="12700" dir="8100000">
              <a:srgbClr val="000000">
                <a:alpha val="8000"/>
              </a:srgbClr>
            </a:outerShdw>
          </a:effectLst>
        </p:spPr>
      </p:sp>
      <p:sp>
        <p:nvSpPr>
          <p:cNvPr id="35" name="Text 33"/>
          <p:cNvSpPr/>
          <p:nvPr/>
        </p:nvSpPr>
        <p:spPr>
          <a:xfrm>
            <a:off x="5852160" y="4486656"/>
            <a:ext cx="4145280" cy="6096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West (California)</a:t>
            </a:r>
            <a:endParaRPr lang="en-US" sz="1300" dirty="0"/>
          </a:p>
        </p:txBody>
      </p:sp>
      <p:sp>
        <p:nvSpPr>
          <p:cNvPr id="36" name="Shape 34"/>
          <p:cNvSpPr/>
          <p:nvPr/>
        </p:nvSpPr>
        <p:spPr>
          <a:xfrm>
            <a:off x="731520" y="5242560"/>
            <a:ext cx="3901440" cy="609600"/>
          </a:xfrm>
          <a:prstGeom prst="roundRect">
            <a:avLst>
              <a:gd name="adj" fmla="val 12000"/>
            </a:avLst>
          </a:prstGeom>
          <a:solidFill>
            <a:srgbClr val="FFFFFF"/>
          </a:solidFill>
          <a:ln/>
          <a:effectLst>
            <a:outerShdw sx="100000" sy="100000" kx="0" ky="0" algn="bl" rotWithShape="0" blurRad="50800" dist="12700" dir="8100000">
              <a:srgbClr val="000000">
                <a:alpha val="8000"/>
              </a:srgbClr>
            </a:outerShdw>
          </a:effectLst>
        </p:spPr>
      </p:sp>
      <p:sp>
        <p:nvSpPr>
          <p:cNvPr id="37" name="Shape 35"/>
          <p:cNvSpPr/>
          <p:nvPr/>
        </p:nvSpPr>
        <p:spPr>
          <a:xfrm>
            <a:off x="853440" y="5291328"/>
            <a:ext cx="426720" cy="426720"/>
          </a:xfrm>
          <a:prstGeom prst="ellipse">
            <a:avLst/>
          </a:prstGeom>
          <a:solidFill>
            <a:srgbClr val="55C8E8"/>
          </a:solidFill>
          <a:ln/>
        </p:spPr>
      </p:sp>
      <p:sp>
        <p:nvSpPr>
          <p:cNvPr id="38" name="Text 36"/>
          <p:cNvSpPr/>
          <p:nvPr/>
        </p:nvSpPr>
        <p:spPr>
          <a:xfrm>
            <a:off x="1402080" y="5242560"/>
            <a:ext cx="3048000" cy="609600"/>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Queen Lili'uokalani</a:t>
            </a:r>
            <a:endParaRPr lang="en-US" sz="1400" dirty="0"/>
          </a:p>
        </p:txBody>
      </p:sp>
      <p:sp>
        <p:nvSpPr>
          <p:cNvPr id="39" name="Text 37"/>
          <p:cNvSpPr/>
          <p:nvPr/>
        </p:nvSpPr>
        <p:spPr>
          <a:xfrm>
            <a:off x="4754880" y="5242560"/>
            <a:ext cx="731520" cy="60960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--&gt;</a:t>
            </a:r>
            <a:endParaRPr lang="en-US" sz="1400" dirty="0"/>
          </a:p>
        </p:txBody>
      </p:sp>
      <p:sp>
        <p:nvSpPr>
          <p:cNvPr id="40" name="Shape 38"/>
          <p:cNvSpPr/>
          <p:nvPr/>
        </p:nvSpPr>
        <p:spPr>
          <a:xfrm>
            <a:off x="5608320" y="5242560"/>
            <a:ext cx="4632960" cy="609600"/>
          </a:xfrm>
          <a:prstGeom prst="roundRect">
            <a:avLst>
              <a:gd name="adj" fmla="val 12000"/>
            </a:avLst>
          </a:prstGeom>
          <a:solidFill>
            <a:srgbClr val="55C8E8">
              <a:alpha val="15000"/>
            </a:srgbClr>
          </a:solidFill>
          <a:ln/>
          <a:effectLst>
            <a:outerShdw sx="100000" sy="100000" kx="0" ky="0" algn="bl" rotWithShape="0" blurRad="50800" dist="12700" dir="8100000">
              <a:srgbClr val="000000">
                <a:alpha val="8000"/>
              </a:srgbClr>
            </a:outerShdw>
          </a:effectLst>
        </p:spPr>
      </p:sp>
      <p:sp>
        <p:nvSpPr>
          <p:cNvPr id="41" name="Text 39"/>
          <p:cNvSpPr/>
          <p:nvPr/>
        </p:nvSpPr>
        <p:spPr>
          <a:xfrm>
            <a:off x="5852160" y="5242560"/>
            <a:ext cx="4145280" cy="6096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West (Hawaii)</a:t>
            </a:r>
            <a:endParaRPr lang="en-US" sz="1300" dirty="0"/>
          </a:p>
        </p:txBody>
      </p:sp>
      <p:sp>
        <p:nvSpPr>
          <p:cNvPr id="42" name="Shape 40"/>
          <p:cNvSpPr/>
          <p:nvPr/>
        </p:nvSpPr>
        <p:spPr>
          <a:xfrm>
            <a:off x="7802880" y="609600"/>
            <a:ext cx="3901440" cy="5486400"/>
          </a:xfrm>
          <a:prstGeom prst="roundRect">
            <a:avLst>
              <a:gd name="adj" fmla="val 2813"/>
            </a:avLst>
          </a:prstGeom>
          <a:solidFill>
            <a:srgbClr val="E2E8F4"/>
          </a:solidFill>
          <a:ln w="19050">
            <a:solidFill>
              <a:srgbClr val="B0B8CC"/>
            </a:solidFill>
            <a:prstDash val="dash"/>
          </a:ln>
        </p:spPr>
      </p:sp>
      <p:sp>
        <p:nvSpPr>
          <p:cNvPr id="43" name="Text 41"/>
          <p:cNvSpPr/>
          <p:nvPr/>
        </p:nvSpPr>
        <p:spPr>
          <a:xfrm>
            <a:off x="7802880" y="609600"/>
            <a:ext cx="39014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44" name="Text 42"/>
          <p:cNvSpPr/>
          <p:nvPr/>
        </p:nvSpPr>
        <p:spPr>
          <a:xfrm>
            <a:off x="7985760" y="975360"/>
            <a:ext cx="3535680" cy="5029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US map with regions highlighted, showing where each contributor is connected</a:t>
            </a:r>
            <a:endParaRPr lang="en-US" sz="1100" dirty="0"/>
          </a:p>
        </p:txBody>
      </p:sp>
      <p:sp>
        <p:nvSpPr>
          <p:cNvPr id="45" name="Text 43"/>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DISCOVERY FACT</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A 21-Year-Old's Design</a:t>
            </a:r>
            <a:endParaRPr lang="en-US" sz="2800" dirty="0"/>
          </a:p>
        </p:txBody>
      </p:sp>
      <p:sp>
        <p:nvSpPr>
          <p:cNvPr id="6" name="Shape 4"/>
          <p:cNvSpPr/>
          <p:nvPr/>
        </p:nvSpPr>
        <p:spPr>
          <a:xfrm>
            <a:off x="609600" y="1463040"/>
            <a:ext cx="4267200" cy="2438400"/>
          </a:xfrm>
          <a:prstGeom prst="roundRect">
            <a:avLst>
              <a:gd name="adj" fmla="val 4500"/>
            </a:avLst>
          </a:prstGeom>
          <a:solidFill>
            <a:srgbClr val="0E1C42"/>
          </a:solidFill>
          <a:ln/>
          <a:effectLst>
            <a:outerShdw sx="100000" sy="100000" kx="0" ky="0" algn="bl" rotWithShape="0" blurRad="101600" dist="38100" dir="8100000">
              <a:srgbClr val="000000">
                <a:alpha val="15000"/>
              </a:srgbClr>
            </a:outerShdw>
          </a:effectLst>
        </p:spPr>
      </p:sp>
      <p:sp>
        <p:nvSpPr>
          <p:cNvPr id="7" name="Text 5"/>
          <p:cNvSpPr/>
          <p:nvPr/>
        </p:nvSpPr>
        <p:spPr>
          <a:xfrm>
            <a:off x="609600" y="1584960"/>
            <a:ext cx="4267200" cy="1341120"/>
          </a:xfrm>
          <a:prstGeom prst="rect">
            <a:avLst/>
          </a:prstGeom>
          <a:noFill/>
          <a:ln/>
        </p:spPr>
        <p:txBody>
          <a:bodyPr wrap="square" lIns="0" tIns="0" rIns="0" bIns="0" rtlCol="0" anchor="ctr"/>
          <a:lstStyle/>
          <a:p>
            <a:pPr algn="ctr" indent="0" marL="0">
              <a:buNone/>
            </a:pPr>
            <a:r>
              <a:rPr lang="en-US" sz="7200" b="1" dirty="0">
                <a:solidFill>
                  <a:srgbClr val="D4943A"/>
                </a:solidFill>
                <a:latin typeface="Cambria" pitchFamily="34" charset="0"/>
                <a:ea typeface="Cambria" pitchFamily="34" charset="-122"/>
                <a:cs typeface="Cambria" pitchFamily="34" charset="-120"/>
              </a:rPr>
              <a:t>21</a:t>
            </a:r>
            <a:endParaRPr lang="en-US" sz="7200" dirty="0"/>
          </a:p>
        </p:txBody>
      </p:sp>
      <p:sp>
        <p:nvSpPr>
          <p:cNvPr id="8" name="Text 6"/>
          <p:cNvSpPr/>
          <p:nvPr/>
        </p:nvSpPr>
        <p:spPr>
          <a:xfrm>
            <a:off x="609600" y="2804160"/>
            <a:ext cx="4267200" cy="487680"/>
          </a:xfrm>
          <a:prstGeom prst="rect">
            <a:avLst/>
          </a:prstGeom>
          <a:noFill/>
          <a:ln/>
        </p:spPr>
        <p:txBody>
          <a:bodyPr wrap="square" lIns="0" tIns="0" rIns="0" bIns="0" rtlCol="0" anchor="ctr"/>
          <a:lstStyle/>
          <a:p>
            <a:pPr algn="ctr" indent="0" marL="0">
              <a:buNone/>
            </a:pPr>
            <a:r>
              <a:rPr lang="en-US" sz="1400" dirty="0">
                <a:solidFill>
                  <a:srgbClr val="55C8E8"/>
                </a:solidFill>
                <a:latin typeface="Calibri" pitchFamily="34" charset="0"/>
                <a:ea typeface="Calibri" pitchFamily="34" charset="-122"/>
                <a:cs typeface="Calibri" pitchFamily="34" charset="-120"/>
              </a:rPr>
              <a:t>years old when chosen</a:t>
            </a:r>
            <a:endParaRPr lang="en-US" sz="1400" dirty="0"/>
          </a:p>
        </p:txBody>
      </p:sp>
      <p:sp>
        <p:nvSpPr>
          <p:cNvPr id="9" name="Shape 7"/>
          <p:cNvSpPr/>
          <p:nvPr/>
        </p:nvSpPr>
        <p:spPr>
          <a:xfrm>
            <a:off x="5242560" y="1463040"/>
            <a:ext cx="6339840" cy="2438400"/>
          </a:xfrm>
          <a:prstGeom prst="roundRect">
            <a:avLst>
              <a:gd name="adj" fmla="val 4500"/>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5486400" y="1645920"/>
            <a:ext cx="5852160" cy="1097280"/>
          </a:xfrm>
          <a:prstGeom prst="rect">
            <a:avLst/>
          </a:prstGeom>
          <a:noFill/>
          <a:ln/>
        </p:spPr>
        <p:txBody>
          <a:bodyPr wrap="square" lIns="0" tIns="0" rIns="0" bIns="0" rtlCol="0" anchor="ctr"/>
          <a:lstStyle/>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Maya Lin's design for the Vietnam Veterans Memorial was chosen in 1981. The judges did not know she was a 21-year-old college student.</a:t>
            </a:r>
            <a:endParaRPr lang="en-US" sz="1400" dirty="0"/>
          </a:p>
        </p:txBody>
      </p:sp>
      <p:sp>
        <p:nvSpPr>
          <p:cNvPr id="11" name="Text 9"/>
          <p:cNvSpPr/>
          <p:nvPr/>
        </p:nvSpPr>
        <p:spPr>
          <a:xfrm>
            <a:off x="5486400" y="2743200"/>
            <a:ext cx="5852160" cy="975360"/>
          </a:xfrm>
          <a:prstGeom prst="rect">
            <a:avLst/>
          </a:prstGeom>
          <a:noFill/>
          <a:ln/>
        </p:spPr>
        <p:txBody>
          <a:bodyPr wrap="square" lIns="0" tIns="0" rIns="0" bIns="0" rtlCol="0" anchor="ctr"/>
          <a:lstStyle/>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The names on the wall are listed in the order people died — not alphabetically. This makes each name part of a story, not just a list.</a:t>
            </a:r>
            <a:endParaRPr lang="en-US" sz="1400" dirty="0"/>
          </a:p>
        </p:txBody>
      </p:sp>
      <p:sp>
        <p:nvSpPr>
          <p:cNvPr id="12" name="Shape 10"/>
          <p:cNvSpPr/>
          <p:nvPr/>
        </p:nvSpPr>
        <p:spPr>
          <a:xfrm>
            <a:off x="609600" y="4267200"/>
            <a:ext cx="10972800" cy="1950720"/>
          </a:xfrm>
          <a:prstGeom prst="roundRect">
            <a:avLst>
              <a:gd name="adj" fmla="val 5625"/>
            </a:avLst>
          </a:prstGeom>
          <a:solidFill>
            <a:srgbClr val="E2E8F4"/>
          </a:solidFill>
          <a:ln w="19050">
            <a:solidFill>
              <a:srgbClr val="B0B8CC"/>
            </a:solidFill>
            <a:prstDash val="dash"/>
          </a:ln>
        </p:spPr>
      </p:sp>
      <p:sp>
        <p:nvSpPr>
          <p:cNvPr id="13" name="Text 11"/>
          <p:cNvSpPr/>
          <p:nvPr/>
        </p:nvSpPr>
        <p:spPr>
          <a:xfrm>
            <a:off x="609600" y="4267200"/>
            <a:ext cx="10972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792480" y="4632960"/>
            <a:ext cx="10607040" cy="1493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Vietnam Veterans Memorial — long black wall with names, visitors touching the surface</a:t>
            </a:r>
            <a:endParaRPr lang="en-US" sz="1100" dirty="0"/>
          </a:p>
        </p:txBody>
      </p:sp>
      <p:sp>
        <p:nvSpPr>
          <p:cNvPr id="15" name="Shape 13"/>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you think the judges chose her design without knowing her age?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difference does it make to list names by when people died?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this memorial different from a statue or a building?</a:t>
            </a:r>
            <a:endParaRPr lang="en-US" sz="1100" dirty="0"/>
          </a:p>
        </p:txBody>
      </p:sp>
      <p:sp>
        <p:nvSpPr>
          <p:cNvPr id="18" name="Text 16"/>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SOURCE STUDY</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Vietnam Veterans Memorial</a:t>
            </a:r>
            <a:endParaRPr lang="en-US" sz="2800" dirty="0"/>
          </a:p>
        </p:txBody>
      </p:sp>
      <p:sp>
        <p:nvSpPr>
          <p:cNvPr id="6" name="Shape 4"/>
          <p:cNvSpPr/>
          <p:nvPr/>
        </p:nvSpPr>
        <p:spPr>
          <a:xfrm>
            <a:off x="487680" y="1402080"/>
            <a:ext cx="6705600" cy="3657600"/>
          </a:xfrm>
          <a:prstGeom prst="roundRect">
            <a:avLst>
              <a:gd name="adj" fmla="val 3000"/>
            </a:avLst>
          </a:prstGeom>
          <a:solidFill>
            <a:srgbClr val="E2E8F4"/>
          </a:solidFill>
          <a:ln w="19050">
            <a:solidFill>
              <a:srgbClr val="B0B8CC"/>
            </a:solidFill>
            <a:prstDash val="dash"/>
          </a:ln>
        </p:spPr>
      </p:sp>
      <p:sp>
        <p:nvSpPr>
          <p:cNvPr id="7" name="Text 5"/>
          <p:cNvSpPr/>
          <p:nvPr/>
        </p:nvSpPr>
        <p:spPr>
          <a:xfrm>
            <a:off x="487680" y="1402080"/>
            <a:ext cx="67056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670560" y="1767840"/>
            <a:ext cx="633984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the Vietnam Veterans Memorial wall — names engraved in black stone, a hand or flower touching the surface, reflections visible</a:t>
            </a:r>
            <a:endParaRPr lang="en-US" sz="1100" dirty="0"/>
          </a:p>
        </p:txBody>
      </p:sp>
      <p:sp>
        <p:nvSpPr>
          <p:cNvPr id="9" name="Shape 7"/>
          <p:cNvSpPr/>
          <p:nvPr/>
        </p:nvSpPr>
        <p:spPr>
          <a:xfrm>
            <a:off x="7559040" y="1402080"/>
            <a:ext cx="4145280" cy="3657600"/>
          </a:xfrm>
          <a:prstGeom prst="roundRect">
            <a:avLst>
              <a:gd name="adj" fmla="val 3000"/>
            </a:avLst>
          </a:prstGeom>
          <a:solidFill>
            <a:srgbClr val="FFFFFF"/>
          </a:solidFill>
          <a:ln/>
          <a:effectLst>
            <a:outerShdw sx="100000" sy="100000" kx="0" ky="0" algn="bl" rotWithShape="0" blurRad="76200" dist="25400" dir="8100000">
              <a:srgbClr val="000000">
                <a:alpha val="10000"/>
              </a:srgbClr>
            </a:outerShdw>
          </a:effectLst>
        </p:spPr>
      </p:sp>
      <p:sp>
        <p:nvSpPr>
          <p:cNvPr id="10" name="Text 8"/>
          <p:cNvSpPr/>
          <p:nvPr/>
        </p:nvSpPr>
        <p:spPr>
          <a:xfrm>
            <a:off x="7802880" y="1524000"/>
            <a:ext cx="3657600" cy="42672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What do you notice?</a:t>
            </a:r>
            <a:endParaRPr lang="en-US" sz="1600" dirty="0"/>
          </a:p>
        </p:txBody>
      </p:sp>
      <p:sp>
        <p:nvSpPr>
          <p:cNvPr id="11" name="Text 9"/>
          <p:cNvSpPr/>
          <p:nvPr/>
        </p:nvSpPr>
        <p:spPr>
          <a:xfrm>
            <a:off x="7802880" y="2011680"/>
            <a:ext cx="3657600" cy="2804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Look at how the names are arranged</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Notice the material — polished black stone</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People can see their reflection among the names</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Visitors leave flowers, flags, and letters</a:t>
            </a:r>
            <a:endParaRPr lang="en-US" sz="1200" dirty="0"/>
          </a:p>
        </p:txBody>
      </p:sp>
      <p:sp>
        <p:nvSpPr>
          <p:cNvPr id="12" name="Shape 10"/>
          <p:cNvSpPr/>
          <p:nvPr/>
        </p:nvSpPr>
        <p:spPr>
          <a:xfrm>
            <a:off x="487680" y="3901440"/>
            <a:ext cx="6705600" cy="914400"/>
          </a:xfrm>
          <a:prstGeom prst="roundRect">
            <a:avLst>
              <a:gd name="adj" fmla="val 12000"/>
            </a:avLst>
          </a:prstGeom>
          <a:solidFill>
            <a:srgbClr val="FFF3DC"/>
          </a:solidFill>
          <a:ln w="19050">
            <a:solidFill>
              <a:srgbClr val="F5E6C8"/>
            </a:solidFill>
            <a:prstDash val="solid"/>
          </a:ln>
        </p:spPr>
      </p:sp>
      <p:sp>
        <p:nvSpPr>
          <p:cNvPr id="13" name="Text 11"/>
          <p:cNvSpPr/>
          <p:nvPr/>
        </p:nvSpPr>
        <p:spPr>
          <a:xfrm>
            <a:off x="624840" y="3956304"/>
            <a:ext cx="6431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624840" y="4157472"/>
            <a:ext cx="643128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"Why do people travel from all over the country to see contributions like this?"</a:t>
            </a:r>
            <a:endParaRPr lang="en-US" sz="1200" dirty="0"/>
          </a:p>
        </p:txBody>
      </p:sp>
      <p:sp>
        <p:nvSpPr>
          <p:cNvPr id="15" name="Shape 13"/>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 memorial different from a textbook page?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seeing your own reflection among the names be powerful?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contributions in YOUR community do people visit?</a:t>
            </a:r>
            <a:endParaRPr lang="en-US" sz="1100" dirty="0"/>
          </a:p>
        </p:txBody>
      </p:sp>
      <p:sp>
        <p:nvSpPr>
          <p:cNvPr id="18" name="Text 16"/>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THINK ABOUT IT</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Your Region's Contributors</a:t>
            </a:r>
            <a:endParaRPr lang="en-US" sz="2800" dirty="0"/>
          </a:p>
        </p:txBody>
      </p:sp>
      <p:sp>
        <p:nvSpPr>
          <p:cNvPr id="6" name="Shape 4"/>
          <p:cNvSpPr/>
          <p:nvPr/>
        </p:nvSpPr>
        <p:spPr>
          <a:xfrm>
            <a:off x="609600" y="1463040"/>
            <a:ext cx="10972800" cy="2194560"/>
          </a:xfrm>
          <a:prstGeom prst="roundRect">
            <a:avLst>
              <a:gd name="adj" fmla="val 5000"/>
            </a:avLst>
          </a:prstGeom>
          <a:solidFill>
            <a:srgbClr val="EAF8FD"/>
          </a:solidFill>
          <a:ln/>
          <a:effectLst>
            <a:outerShdw sx="100000" sy="100000" kx="0" ky="0" algn="bl" rotWithShape="0" blurRad="76200" dist="25400" dir="8100000">
              <a:srgbClr val="000000">
                <a:alpha val="8000"/>
              </a:srgbClr>
            </a:outerShdw>
          </a:effectLst>
        </p:spPr>
      </p:sp>
      <p:sp>
        <p:nvSpPr>
          <p:cNvPr id="7" name="Text 5"/>
          <p:cNvSpPr/>
          <p:nvPr/>
        </p:nvSpPr>
        <p:spPr>
          <a:xfrm>
            <a:off x="853440" y="1645920"/>
            <a:ext cx="10485120" cy="48768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Think about YOUR state and YOUR community.</a:t>
            </a:r>
            <a:endParaRPr lang="en-US" sz="1800" dirty="0"/>
          </a:p>
        </p:txBody>
      </p:sp>
      <p:sp>
        <p:nvSpPr>
          <p:cNvPr id="8" name="Text 6"/>
          <p:cNvSpPr/>
          <p:nvPr/>
        </p:nvSpPr>
        <p:spPr>
          <a:xfrm>
            <a:off x="853440" y="2194560"/>
            <a:ext cx="10485120" cy="1341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Who helped shape the place where you live?</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What did they contribute — a building, a law, a song, a business, a movement?</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If you could add ONE name to the Contributions Wall from your state, who would it be?</a:t>
            </a:r>
            <a:endParaRPr lang="en-US" sz="1400" dirty="0"/>
          </a:p>
        </p:txBody>
      </p:sp>
      <p:sp>
        <p:nvSpPr>
          <p:cNvPr id="9" name="Shape 7"/>
          <p:cNvSpPr/>
          <p:nvPr/>
        </p:nvSpPr>
        <p:spPr>
          <a:xfrm>
            <a:off x="7924800" y="609600"/>
            <a:ext cx="3657600" cy="1828800"/>
          </a:xfrm>
          <a:prstGeom prst="roundRect">
            <a:avLst>
              <a:gd name="adj" fmla="val 6000"/>
            </a:avLst>
          </a:prstGeom>
          <a:solidFill>
            <a:srgbClr val="E2E8F4"/>
          </a:solidFill>
          <a:ln w="19050">
            <a:solidFill>
              <a:srgbClr val="B0B8CC"/>
            </a:solidFill>
            <a:prstDash val="dash"/>
          </a:ln>
        </p:spPr>
      </p:sp>
      <p:sp>
        <p:nvSpPr>
          <p:cNvPr id="10" name="Text 8"/>
          <p:cNvSpPr/>
          <p:nvPr/>
        </p:nvSpPr>
        <p:spPr>
          <a:xfrm>
            <a:off x="7924800" y="609600"/>
            <a:ext cx="36576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8107680" y="975360"/>
            <a:ext cx="329184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Blank name plaque ready to be filled in, warm museum lighting</a:t>
            </a:r>
            <a:endParaRPr lang="en-US" sz="1100" dirty="0"/>
          </a:p>
        </p:txBody>
      </p:sp>
      <p:sp>
        <p:nvSpPr>
          <p:cNvPr id="12" name="Shape 10"/>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kinds of contributions make a place special?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ordinary people be contributors, or only famous ones?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 we find out about people who shaped our community?</a:t>
            </a:r>
            <a:endParaRPr lang="en-US" sz="1100" dirty="0"/>
          </a:p>
        </p:txBody>
      </p:sp>
      <p:sp>
        <p:nvSpPr>
          <p:cNvPr id="15" name="Text 13"/>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REFLECTION</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Closing the Gallery</a:t>
            </a:r>
            <a:endParaRPr lang="en-US" sz="2800" dirty="0"/>
          </a:p>
        </p:txBody>
      </p:sp>
      <p:sp>
        <p:nvSpPr>
          <p:cNvPr id="6" name="Shape 4"/>
          <p:cNvSpPr/>
          <p:nvPr/>
        </p:nvSpPr>
        <p:spPr>
          <a:xfrm>
            <a:off x="609600" y="1463040"/>
            <a:ext cx="10972800" cy="2438400"/>
          </a:xfrm>
          <a:prstGeom prst="roundRect">
            <a:avLst>
              <a:gd name="adj" fmla="val 5625"/>
            </a:avLst>
          </a:prstGeom>
          <a:solidFill>
            <a:srgbClr val="0E1C42"/>
          </a:solidFill>
          <a:ln/>
          <a:effectLst>
            <a:outerShdw sx="100000" sy="100000" kx="0" ky="0" algn="bl" rotWithShape="0" blurRad="101600" dist="38100" dir="8100000">
              <a:srgbClr val="000000">
                <a:alpha val="15000"/>
              </a:srgbClr>
            </a:outerShdw>
          </a:effectLst>
        </p:spPr>
      </p:sp>
      <p:sp>
        <p:nvSpPr>
          <p:cNvPr id="7" name="Text 5"/>
          <p:cNvSpPr/>
          <p:nvPr/>
        </p:nvSpPr>
        <p:spPr>
          <a:xfrm>
            <a:off x="853440" y="1645920"/>
            <a:ext cx="10485120" cy="487680"/>
          </a:xfrm>
          <a:prstGeom prst="rect">
            <a:avLst/>
          </a:prstGeom>
          <a:noFill/>
          <a:ln/>
        </p:spPr>
        <p:txBody>
          <a:bodyPr wrap="square" lIns="0" tIns="0" rIns="0" bIns="0" rtlCol="0" anchor="ctr"/>
          <a:lstStyle/>
          <a:p>
            <a:pPr indent="0" marL="0">
              <a:buNone/>
            </a:pPr>
            <a:r>
              <a:rPr lang="en-US" sz="1600" i="1" dirty="0">
                <a:solidFill>
                  <a:srgbClr val="55C8E8"/>
                </a:solidFill>
                <a:latin typeface="Calibri" pitchFamily="34" charset="0"/>
                <a:ea typeface="Calibri" pitchFamily="34" charset="-122"/>
                <a:cs typeface="Calibri" pitchFamily="34" charset="-120"/>
              </a:rPr>
              <a:t>You have walked through the entire gallery.</a:t>
            </a:r>
            <a:endParaRPr lang="en-US" sz="1600" dirty="0"/>
          </a:p>
        </p:txBody>
      </p:sp>
      <p:sp>
        <p:nvSpPr>
          <p:cNvPr id="8" name="Text 6"/>
          <p:cNvSpPr/>
          <p:nvPr/>
        </p:nvSpPr>
        <p:spPr>
          <a:xfrm>
            <a:off x="853440" y="2194560"/>
            <a:ext cx="10485120" cy="1097280"/>
          </a:xfrm>
          <a:prstGeom prst="rect">
            <a:avLst/>
          </a:prstGeom>
          <a:noFill/>
          <a:ln/>
        </p:spPr>
        <p:txBody>
          <a:bodyPr wrap="square" lIns="0" tIns="0" rIns="0" bIns="0" rtlCol="0" anchor="ctr"/>
          <a:lstStyle/>
          <a:p>
            <a:pPr indent="0" marL="0">
              <a:lnSpc>
                <a:spcPct val="140000"/>
              </a:lnSpc>
              <a:buNone/>
            </a:pPr>
            <a:r>
              <a:rPr lang="en-US" sz="1500" dirty="0">
                <a:solidFill>
                  <a:srgbClr val="C8D0E8"/>
                </a:solidFill>
                <a:latin typeface="Calibri" pitchFamily="34" charset="0"/>
                <a:ea typeface="Calibri" pitchFamily="34" charset="-122"/>
                <a:cs typeface="Calibri" pitchFamily="34" charset="-120"/>
              </a:rPr>
              <a:t>Alcoves showed you America's regions.</a:t>
            </a:r>
            <a:endParaRPr lang="en-US" sz="1500" dirty="0"/>
          </a:p>
          <a:p>
            <a:pPr indent="0" marL="0">
              <a:lnSpc>
                <a:spcPct val="140000"/>
              </a:lnSpc>
              <a:buNone/>
            </a:pPr>
            <a:r>
              <a:rPr lang="en-US" sz="1500" dirty="0">
                <a:solidFill>
                  <a:srgbClr val="C8D0E8"/>
                </a:solidFill>
                <a:latin typeface="Calibri" pitchFamily="34" charset="0"/>
                <a:ea typeface="Calibri" pitchFamily="34" charset="-122"/>
                <a:cs typeface="Calibri" pitchFamily="34" charset="-120"/>
              </a:rPr>
              <a:t>The Listening Station shared voices and stories.</a:t>
            </a:r>
            <a:endParaRPr lang="en-US" sz="1500" dirty="0"/>
          </a:p>
          <a:p>
            <a:pPr indent="0" marL="0">
              <a:lnSpc>
                <a:spcPct val="140000"/>
              </a:lnSpc>
              <a:buNone/>
            </a:pPr>
            <a:r>
              <a:rPr lang="en-US" sz="1500" dirty="0">
                <a:solidFill>
                  <a:srgbClr val="C8D0E8"/>
                </a:solidFill>
                <a:latin typeface="Calibri" pitchFamily="34" charset="0"/>
                <a:ea typeface="Calibri" pitchFamily="34" charset="-122"/>
                <a:cs typeface="Calibri" pitchFamily="34" charset="-120"/>
              </a:rPr>
              <a:t>The Contributions Wall honored the people.</a:t>
            </a:r>
            <a:endParaRPr lang="en-US" sz="1500" dirty="0"/>
          </a:p>
        </p:txBody>
      </p:sp>
      <p:sp>
        <p:nvSpPr>
          <p:cNvPr id="9" name="Text 7"/>
          <p:cNvSpPr/>
          <p:nvPr/>
        </p:nvSpPr>
        <p:spPr>
          <a:xfrm>
            <a:off x="853440" y="3291840"/>
            <a:ext cx="10485120" cy="487680"/>
          </a:xfrm>
          <a:prstGeom prst="rect">
            <a:avLst/>
          </a:prstGeom>
          <a:noFill/>
          <a:ln/>
        </p:spPr>
        <p:txBody>
          <a:bodyPr wrap="square" lIns="0" tIns="0" rIns="0" bIns="0" rtlCol="0" anchor="ctr"/>
          <a:lstStyle/>
          <a:p>
            <a:pPr indent="0" marL="0">
              <a:buNone/>
            </a:pPr>
            <a:r>
              <a:rPr lang="en-US" sz="1700" b="1" dirty="0">
                <a:solidFill>
                  <a:srgbClr val="D4943A"/>
                </a:solidFill>
                <a:latin typeface="Cambria" pitchFamily="34" charset="0"/>
                <a:ea typeface="Cambria" pitchFamily="34" charset="-122"/>
                <a:cs typeface="Cambria" pitchFamily="34" charset="-120"/>
              </a:rPr>
              <a:t>What is ONE big idea a visitor takes away from this gallery?</a:t>
            </a:r>
            <a:endParaRPr lang="en-US" sz="1700" dirty="0"/>
          </a:p>
        </p:txBody>
      </p:sp>
      <p:sp>
        <p:nvSpPr>
          <p:cNvPr id="10" name="Shape 8"/>
          <p:cNvSpPr/>
          <p:nvPr/>
        </p:nvSpPr>
        <p:spPr>
          <a:xfrm>
            <a:off x="609600" y="4206240"/>
            <a:ext cx="10972800" cy="1158240"/>
          </a:xfrm>
          <a:prstGeom prst="roundRect">
            <a:avLst>
              <a:gd name="adj" fmla="val 9474"/>
            </a:avLst>
          </a:prstGeom>
          <a:solidFill>
            <a:srgbClr val="FFF3DC"/>
          </a:solidFill>
          <a:ln w="19050">
            <a:solidFill>
              <a:srgbClr val="F5E6C8"/>
            </a:solidFill>
            <a:prstDash val="solid"/>
          </a:ln>
        </p:spPr>
      </p:sp>
      <p:sp>
        <p:nvSpPr>
          <p:cNvPr id="11" name="Text 9"/>
          <p:cNvSpPr/>
          <p:nvPr/>
        </p:nvSpPr>
        <p:spPr>
          <a:xfrm>
            <a:off x="746760" y="4261104"/>
            <a:ext cx="10698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746760" y="4462272"/>
            <a:ext cx="10698480" cy="838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"Think about everything you saw — places, voices, and people."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is the ONE biggest idea this gallery teaches?"</a:t>
            </a:r>
            <a:endParaRPr lang="en-US" sz="1200" dirty="0"/>
          </a:p>
        </p:txBody>
      </p:sp>
      <p:sp>
        <p:nvSpPr>
          <p:cNvPr id="13" name="Shape 11"/>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had to put this gallery's message on one sign, what would it say?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are the regions, voices, and people all connected?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the gallery end with people, not places?</a:t>
            </a:r>
            <a:endParaRPr lang="en-US" sz="1100" dirty="0"/>
          </a:p>
        </p:txBody>
      </p:sp>
      <p:sp>
        <p:nvSpPr>
          <p:cNvPr id="16" name="Text 14"/>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THEN AND NOW</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How We Remember Contributions</a:t>
            </a:r>
            <a:endParaRPr lang="en-US" sz="2800" dirty="0"/>
          </a:p>
        </p:txBody>
      </p:sp>
      <p:sp>
        <p:nvSpPr>
          <p:cNvPr id="6" name="Shape 4"/>
          <p:cNvSpPr/>
          <p:nvPr/>
        </p:nvSpPr>
        <p:spPr>
          <a:xfrm>
            <a:off x="609600" y="1463040"/>
            <a:ext cx="5120640" cy="3169920"/>
          </a:xfrm>
          <a:prstGeom prst="roundRect">
            <a:avLst>
              <a:gd name="adj" fmla="val 3462"/>
            </a:avLst>
          </a:prstGeom>
          <a:solidFill>
            <a:srgbClr val="FFF8F0"/>
          </a:solidFill>
          <a:ln/>
          <a:effectLst>
            <a:outerShdw sx="100000" sy="100000" kx="0" ky="0" algn="bl" rotWithShape="0" blurRad="76200" dist="25400" dir="8100000">
              <a:srgbClr val="000000">
                <a:alpha val="10000"/>
              </a:srgbClr>
            </a:outerShdw>
          </a:effectLst>
        </p:spPr>
      </p:sp>
      <p:sp>
        <p:nvSpPr>
          <p:cNvPr id="7" name="Text 5"/>
          <p:cNvSpPr/>
          <p:nvPr/>
        </p:nvSpPr>
        <p:spPr>
          <a:xfrm>
            <a:off x="853440" y="1584960"/>
            <a:ext cx="4632960" cy="36576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THEN</a:t>
            </a:r>
            <a:endParaRPr lang="en-US" sz="1000" dirty="0"/>
          </a:p>
        </p:txBody>
      </p:sp>
      <p:sp>
        <p:nvSpPr>
          <p:cNvPr id="8" name="Text 6"/>
          <p:cNvSpPr/>
          <p:nvPr/>
        </p:nvSpPr>
        <p:spPr>
          <a:xfrm>
            <a:off x="853440" y="1950720"/>
            <a:ext cx="4632960" cy="42672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Stories Around Fires</a:t>
            </a:r>
            <a:endParaRPr lang="en-US" sz="1800" dirty="0"/>
          </a:p>
        </p:txBody>
      </p:sp>
      <p:sp>
        <p:nvSpPr>
          <p:cNvPr id="9" name="Text 7"/>
          <p:cNvSpPr/>
          <p:nvPr/>
        </p:nvSpPr>
        <p:spPr>
          <a:xfrm>
            <a:off x="853440" y="2499360"/>
            <a:ext cx="4632960" cy="1828800"/>
          </a:xfrm>
          <a:prstGeom prst="rect">
            <a:avLst/>
          </a:prstGeom>
          <a:noFill/>
          <a:ln/>
        </p:spPr>
        <p:txBody>
          <a:bodyPr wrap="square" lIns="0" tIns="0" rIns="0" bIns="0" rtlCol="0" anchor="t"/>
          <a:lstStyle/>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People gathered to share stories aloud. Elders told tales of leaders, heroes, and helpers. Knowledge was passed from person to person, generation to generation, by voice and memory.</a:t>
            </a:r>
            <a:endParaRPr lang="en-US" sz="1300" dirty="0"/>
          </a:p>
        </p:txBody>
      </p:sp>
      <p:sp>
        <p:nvSpPr>
          <p:cNvPr id="10" name="Shape 8"/>
          <p:cNvSpPr/>
          <p:nvPr/>
        </p:nvSpPr>
        <p:spPr>
          <a:xfrm>
            <a:off x="6461760" y="1463040"/>
            <a:ext cx="5120640" cy="3169920"/>
          </a:xfrm>
          <a:prstGeom prst="roundRect">
            <a:avLst>
              <a:gd name="adj" fmla="val 3462"/>
            </a:avLst>
          </a:prstGeom>
          <a:solidFill>
            <a:srgbClr val="EAF8FD"/>
          </a:solidFill>
          <a:ln/>
          <a:effectLst>
            <a:outerShdw sx="100000" sy="100000" kx="0" ky="0" algn="bl" rotWithShape="0" blurRad="76200" dist="25400" dir="8100000">
              <a:srgbClr val="000000">
                <a:alpha val="10000"/>
              </a:srgbClr>
            </a:outerShdw>
          </a:effectLst>
        </p:spPr>
      </p:sp>
      <p:sp>
        <p:nvSpPr>
          <p:cNvPr id="11" name="Text 9"/>
          <p:cNvSpPr/>
          <p:nvPr/>
        </p:nvSpPr>
        <p:spPr>
          <a:xfrm>
            <a:off x="6705600" y="1584960"/>
            <a:ext cx="463296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NOW</a:t>
            </a:r>
            <a:endParaRPr lang="en-US" sz="1000" dirty="0"/>
          </a:p>
        </p:txBody>
      </p:sp>
      <p:sp>
        <p:nvSpPr>
          <p:cNvPr id="12" name="Text 10"/>
          <p:cNvSpPr/>
          <p:nvPr/>
        </p:nvSpPr>
        <p:spPr>
          <a:xfrm>
            <a:off x="6705600" y="1950720"/>
            <a:ext cx="4632960" cy="42672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Websites, Museums, Books, Walls of Names</a:t>
            </a:r>
            <a:endParaRPr lang="en-US" sz="1600" dirty="0"/>
          </a:p>
        </p:txBody>
      </p:sp>
      <p:sp>
        <p:nvSpPr>
          <p:cNvPr id="13" name="Text 11"/>
          <p:cNvSpPr/>
          <p:nvPr/>
        </p:nvSpPr>
        <p:spPr>
          <a:xfrm>
            <a:off x="6705600" y="2499360"/>
            <a:ext cx="4632960" cy="1828800"/>
          </a:xfrm>
          <a:prstGeom prst="rect">
            <a:avLst/>
          </a:prstGeom>
          <a:noFill/>
          <a:ln/>
        </p:spPr>
        <p:txBody>
          <a:bodyPr wrap="square" lIns="0" tIns="0" rIns="0" bIns="0" rtlCol="0" anchor="t"/>
          <a:lstStyle/>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Today we have museums, memorials, websites, books, and documentaries. Contributions are recorded, photographed, and shared worldwide. Anyone can learn about the people who shaped our country.</a:t>
            </a:r>
            <a:endParaRPr lang="en-US" sz="1300" dirty="0"/>
          </a:p>
        </p:txBody>
      </p:sp>
      <p:sp>
        <p:nvSpPr>
          <p:cNvPr id="14" name="Shape 12"/>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how we honor contributions?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gained when stories move from spoken words to walls and websites?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anything lost when we stop telling stories around a fire?</a:t>
            </a:r>
            <a:endParaRPr lang="en-US" sz="1100" dirty="0"/>
          </a:p>
        </p:txBody>
      </p:sp>
      <p:sp>
        <p:nvSpPr>
          <p:cNvPr id="17" name="Text 15"/>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BIG PICTURE</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Every Name Matters</a:t>
            </a:r>
            <a:endParaRPr lang="en-US" sz="2800" dirty="0"/>
          </a:p>
        </p:txBody>
      </p:sp>
      <p:sp>
        <p:nvSpPr>
          <p:cNvPr id="6" name="Shape 4"/>
          <p:cNvSpPr/>
          <p:nvPr/>
        </p:nvSpPr>
        <p:spPr>
          <a:xfrm>
            <a:off x="1219200" y="1463040"/>
            <a:ext cx="9753600" cy="3413760"/>
          </a:xfrm>
          <a:prstGeom prst="roundRect">
            <a:avLst>
              <a:gd name="adj" fmla="val 4018"/>
            </a:avLst>
          </a:prstGeom>
          <a:solidFill>
            <a:srgbClr val="FFFFFF"/>
          </a:solidFill>
          <a:ln/>
          <a:effectLst>
            <a:outerShdw sx="100000" sy="100000" kx="0" ky="0" algn="bl" rotWithShape="0" blurRad="127000" dist="50800" dir="8100000">
              <a:srgbClr val="000000">
                <a:alpha val="12000"/>
              </a:srgbClr>
            </a:outerShdw>
          </a:effectLst>
        </p:spPr>
      </p:sp>
      <p:sp>
        <p:nvSpPr>
          <p:cNvPr id="7" name="Text 5"/>
          <p:cNvSpPr/>
          <p:nvPr/>
        </p:nvSpPr>
        <p:spPr>
          <a:xfrm>
            <a:off x="1463040" y="1584960"/>
            <a:ext cx="9265920" cy="304800"/>
          </a:xfrm>
          <a:prstGeom prst="rect">
            <a:avLst/>
          </a:prstGeom>
          <a:noFill/>
          <a:ln/>
        </p:spPr>
        <p:txBody>
          <a:bodyPr wrap="square" lIns="0" tIns="0" rIns="0" bIns="0"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EXHIBIT LABEL</a:t>
            </a:r>
            <a:endParaRPr lang="en-US" sz="900" dirty="0"/>
          </a:p>
        </p:txBody>
      </p:sp>
      <p:sp>
        <p:nvSpPr>
          <p:cNvPr id="8" name="Text 6"/>
          <p:cNvSpPr/>
          <p:nvPr/>
        </p:nvSpPr>
        <p:spPr>
          <a:xfrm>
            <a:off x="1463040" y="2011680"/>
            <a:ext cx="9265920" cy="487680"/>
          </a:xfrm>
          <a:prstGeom prst="rect">
            <a:avLst/>
          </a:prstGeom>
          <a:noFill/>
          <a:ln/>
        </p:spPr>
        <p:txBody>
          <a:bodyPr wrap="square" lIns="0" tIns="0" rIns="0" bIns="0" rtlCol="0" anchor="ctr"/>
          <a:lstStyle/>
          <a:p>
            <a:pPr algn="ctr" indent="0" marL="0">
              <a:buNone/>
            </a:pPr>
            <a:r>
              <a:rPr lang="en-US" sz="1800" b="1" dirty="0">
                <a:solidFill>
                  <a:srgbClr val="0E1C42"/>
                </a:solidFill>
                <a:latin typeface="Cambria" pitchFamily="34" charset="0"/>
                <a:ea typeface="Cambria" pitchFamily="34" charset="-122"/>
                <a:cs typeface="Cambria" pitchFamily="34" charset="-120"/>
              </a:rPr>
              <a:t>The United States was shaped by its land and its people.</a:t>
            </a:r>
            <a:endParaRPr lang="en-US" sz="1800" dirty="0"/>
          </a:p>
        </p:txBody>
      </p:sp>
      <p:sp>
        <p:nvSpPr>
          <p:cNvPr id="9" name="Text 7"/>
          <p:cNvSpPr/>
          <p:nvPr/>
        </p:nvSpPr>
        <p:spPr>
          <a:xfrm>
            <a:off x="1463040" y="2621280"/>
            <a:ext cx="9265920" cy="1219200"/>
          </a:xfrm>
          <a:prstGeom prst="rect">
            <a:avLst/>
          </a:prstGeom>
          <a:noFill/>
          <a:ln/>
        </p:spPr>
        <p:txBody>
          <a:bodyPr wrap="square" lIns="0" tIns="0" rIns="0" bIns="0" rtlCol="0" anchor="ctr"/>
          <a:lstStyle/>
          <a:p>
            <a:pPr algn="ctr" indent="0" marL="0">
              <a:lnSpc>
                <a:spcPct val="135000"/>
              </a:lnSpc>
              <a:buNone/>
            </a:pPr>
            <a:r>
              <a:rPr lang="en-US" sz="1400" dirty="0">
                <a:solidFill>
                  <a:srgbClr val="0E1C42"/>
                </a:solidFill>
                <a:latin typeface="Calibri" pitchFamily="34" charset="0"/>
                <a:ea typeface="Calibri" pitchFamily="34" charset="-122"/>
                <a:cs typeface="Calibri" pitchFamily="34" charset="-120"/>
              </a:rPr>
              <a:t>Mountains, rivers, and coastlines created the geography.</a:t>
            </a:r>
            <a:endParaRPr lang="en-US" sz="1400" dirty="0"/>
          </a:p>
          <a:p>
            <a:pPr algn="ctr" indent="0" marL="0">
              <a:lnSpc>
                <a:spcPct val="135000"/>
              </a:lnSpc>
              <a:buNone/>
            </a:pPr>
            <a:r>
              <a:rPr lang="en-US" sz="1400" dirty="0">
                <a:solidFill>
                  <a:srgbClr val="0E1C42"/>
                </a:solidFill>
                <a:latin typeface="Calibri" pitchFamily="34" charset="0"/>
                <a:ea typeface="Calibri" pitchFamily="34" charset="-122"/>
                <a:cs typeface="Calibri" pitchFamily="34" charset="-120"/>
              </a:rPr>
              <a:t>But people from every region and every background</a:t>
            </a:r>
            <a:endParaRPr lang="en-US" sz="1400" dirty="0"/>
          </a:p>
          <a:p>
            <a:pPr algn="ctr" indent="0" marL="0">
              <a:lnSpc>
                <a:spcPct val="135000"/>
              </a:lnSpc>
              <a:buNone/>
            </a:pPr>
            <a:r>
              <a:rPr lang="en-US" sz="1400" dirty="0">
                <a:solidFill>
                  <a:srgbClr val="0E1C42"/>
                </a:solidFill>
                <a:latin typeface="Calibri" pitchFamily="34" charset="0"/>
                <a:ea typeface="Calibri" pitchFamily="34" charset="-122"/>
                <a:cs typeface="Calibri" pitchFamily="34" charset="-120"/>
              </a:rPr>
              <a:t>built the communities, fought for justice, created art,</a:t>
            </a:r>
            <a:endParaRPr lang="en-US" sz="1400" dirty="0"/>
          </a:p>
          <a:p>
            <a:pPr algn="ctr" indent="0" marL="0">
              <a:lnSpc>
                <a:spcPct val="135000"/>
              </a:lnSpc>
              <a:buNone/>
            </a:pPr>
            <a:r>
              <a:rPr lang="en-US" sz="1400" dirty="0">
                <a:solidFill>
                  <a:srgbClr val="0E1C42"/>
                </a:solidFill>
                <a:latin typeface="Calibri" pitchFamily="34" charset="0"/>
                <a:ea typeface="Calibri" pitchFamily="34" charset="-122"/>
                <a:cs typeface="Calibri" pitchFamily="34" charset="-120"/>
              </a:rPr>
              <a:t>and opened doors that changed the nation.</a:t>
            </a:r>
            <a:endParaRPr lang="en-US" sz="1400" dirty="0"/>
          </a:p>
        </p:txBody>
      </p:sp>
      <p:sp>
        <p:nvSpPr>
          <p:cNvPr id="10" name="Text 8"/>
          <p:cNvSpPr/>
          <p:nvPr/>
        </p:nvSpPr>
        <p:spPr>
          <a:xfrm>
            <a:off x="1463040" y="3901440"/>
            <a:ext cx="9265920" cy="487680"/>
          </a:xfrm>
          <a:prstGeom prst="rect">
            <a:avLst/>
          </a:prstGeom>
          <a:noFill/>
          <a:ln/>
        </p:spPr>
        <p:txBody>
          <a:bodyPr wrap="square" lIns="0" tIns="0" rIns="0" bIns="0" rtlCol="0" anchor="ctr"/>
          <a:lstStyle/>
          <a:p>
            <a:pPr algn="ctr" indent="0" marL="0">
              <a:buNone/>
            </a:pPr>
            <a:r>
              <a:rPr lang="en-US" sz="1600" b="1" i="1" dirty="0">
                <a:solidFill>
                  <a:srgbClr val="D4943A"/>
                </a:solidFill>
                <a:latin typeface="Cambria" pitchFamily="34" charset="0"/>
                <a:ea typeface="Cambria" pitchFamily="34" charset="-122"/>
                <a:cs typeface="Cambria" pitchFamily="34" charset="-120"/>
              </a:rPr>
              <a:t>Every name on this wall matters.</a:t>
            </a:r>
            <a:endParaRPr lang="en-US" sz="1600" dirty="0"/>
          </a:p>
        </p:txBody>
      </p:sp>
      <p:sp>
        <p:nvSpPr>
          <p:cNvPr id="11" name="Shape 9"/>
          <p:cNvSpPr/>
          <p:nvPr/>
        </p:nvSpPr>
        <p:spPr>
          <a:xfrm>
            <a:off x="487680" y="505968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670560" y="51511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670560" y="540715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the land connect to the people on this wall?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the exhibit say 'every name matters'?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be missing if we only studied geography without people?</a:t>
            </a:r>
            <a:endParaRPr lang="en-US" sz="1100" dirty="0"/>
          </a:p>
        </p:txBody>
      </p:sp>
      <p:sp>
        <p:nvSpPr>
          <p:cNvPr id="14" name="Text 12"/>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SELF-CHECK</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Check Your Understanding</a:t>
            </a:r>
            <a:endParaRPr lang="en-US" sz="2800" dirty="0"/>
          </a:p>
        </p:txBody>
      </p:sp>
      <p:sp>
        <p:nvSpPr>
          <p:cNvPr id="6" name="Shape 4"/>
          <p:cNvSpPr/>
          <p:nvPr/>
        </p:nvSpPr>
        <p:spPr>
          <a:xfrm>
            <a:off x="609600" y="1402080"/>
            <a:ext cx="10972800" cy="1219200"/>
          </a:xfrm>
          <a:prstGeom prst="roundRect">
            <a:avLst>
              <a:gd name="adj" fmla="val 7500"/>
            </a:avLst>
          </a:prstGeom>
          <a:solidFill>
            <a:srgbClr val="FFFFFF"/>
          </a:solidFill>
          <a:ln/>
          <a:effectLst>
            <a:outerShdw sx="100000" sy="100000" kx="0" ky="0" algn="bl" rotWithShape="0" blurRad="50800" dist="12700" dir="8100000">
              <a:srgbClr val="000000">
                <a:alpha val="8000"/>
              </a:srgbClr>
            </a:outerShdw>
          </a:effectLst>
        </p:spPr>
      </p:sp>
      <p:sp>
        <p:nvSpPr>
          <p:cNvPr id="7" name="Shape 5"/>
          <p:cNvSpPr/>
          <p:nvPr/>
        </p:nvSpPr>
        <p:spPr>
          <a:xfrm>
            <a:off x="731520" y="1487424"/>
            <a:ext cx="426720" cy="426720"/>
          </a:xfrm>
          <a:prstGeom prst="ellipse">
            <a:avLst/>
          </a:prstGeom>
          <a:solidFill>
            <a:srgbClr val="1A8A7D"/>
          </a:solidFill>
          <a:ln/>
        </p:spPr>
      </p:sp>
      <p:sp>
        <p:nvSpPr>
          <p:cNvPr id="8" name="Text 6"/>
          <p:cNvSpPr/>
          <p:nvPr/>
        </p:nvSpPr>
        <p:spPr>
          <a:xfrm>
            <a:off x="731520" y="1487424"/>
            <a:ext cx="426720" cy="426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341120" y="1463040"/>
            <a:ext cx="9997440" cy="4267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What was Sequoyah's biggest contribution?</a:t>
            </a:r>
            <a:endParaRPr lang="en-US" sz="1400" dirty="0"/>
          </a:p>
        </p:txBody>
      </p:sp>
      <p:sp>
        <p:nvSpPr>
          <p:cNvPr id="10" name="Text 8"/>
          <p:cNvSpPr/>
          <p:nvPr/>
        </p:nvSpPr>
        <p:spPr>
          <a:xfrm>
            <a:off x="1341120" y="1889760"/>
            <a:ext cx="9997440" cy="365760"/>
          </a:xfrm>
          <a:prstGeom prst="rect">
            <a:avLst/>
          </a:prstGeom>
          <a:noFill/>
          <a:ln/>
        </p:spPr>
        <p:txBody>
          <a:bodyPr wrap="square" lIns="0" tIns="0" rIns="0" bIns="0" rtlCol="0" anchor="ctr"/>
          <a:lstStyle/>
          <a:p>
            <a:pPr indent="0" marL="0">
              <a:buNone/>
            </a:pPr>
            <a:r>
              <a:rPr lang="en-US" sz="1300" b="1" i="1" dirty="0">
                <a:solidFill>
                  <a:srgbClr val="34B76F"/>
                </a:solidFill>
                <a:latin typeface="Calibri" pitchFamily="34" charset="0"/>
                <a:ea typeface="Calibri" pitchFamily="34" charset="-122"/>
                <a:cs typeface="Calibri" pitchFamily="34" charset="-120"/>
              </a:rPr>
              <a:t>C: Creating a writing system for the Cherokee language</a:t>
            </a:r>
            <a:endParaRPr lang="en-US" sz="1300" dirty="0"/>
          </a:p>
        </p:txBody>
      </p:sp>
      <p:sp>
        <p:nvSpPr>
          <p:cNvPr id="11" name="Shape 9"/>
          <p:cNvSpPr/>
          <p:nvPr/>
        </p:nvSpPr>
        <p:spPr>
          <a:xfrm>
            <a:off x="609600" y="2804160"/>
            <a:ext cx="10972800" cy="1219200"/>
          </a:xfrm>
          <a:prstGeom prst="roundRect">
            <a:avLst>
              <a:gd name="adj" fmla="val 7500"/>
            </a:avLst>
          </a:prstGeom>
          <a:solidFill>
            <a:srgbClr val="FFFFFF"/>
          </a:solidFill>
          <a:ln/>
          <a:effectLst>
            <a:outerShdw sx="100000" sy="100000" kx="0" ky="0" algn="bl" rotWithShape="0" blurRad="50800" dist="12700" dir="8100000">
              <a:srgbClr val="000000">
                <a:alpha val="8000"/>
              </a:srgbClr>
            </a:outerShdw>
          </a:effectLst>
        </p:spPr>
      </p:sp>
      <p:sp>
        <p:nvSpPr>
          <p:cNvPr id="12" name="Shape 10"/>
          <p:cNvSpPr/>
          <p:nvPr/>
        </p:nvSpPr>
        <p:spPr>
          <a:xfrm>
            <a:off x="731520" y="2889504"/>
            <a:ext cx="426720" cy="426720"/>
          </a:xfrm>
          <a:prstGeom prst="ellipse">
            <a:avLst/>
          </a:prstGeom>
          <a:solidFill>
            <a:srgbClr val="8B6FC0"/>
          </a:solidFill>
          <a:ln/>
        </p:spPr>
      </p:sp>
      <p:sp>
        <p:nvSpPr>
          <p:cNvPr id="13" name="Text 11"/>
          <p:cNvSpPr/>
          <p:nvPr/>
        </p:nvSpPr>
        <p:spPr>
          <a:xfrm>
            <a:off x="731520" y="2889504"/>
            <a:ext cx="426720" cy="426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341120" y="2865120"/>
            <a:ext cx="9997440" cy="4267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What is Frederick Douglass remembered for?</a:t>
            </a:r>
            <a:endParaRPr lang="en-US" sz="1400" dirty="0"/>
          </a:p>
        </p:txBody>
      </p:sp>
      <p:sp>
        <p:nvSpPr>
          <p:cNvPr id="15" name="Text 13"/>
          <p:cNvSpPr/>
          <p:nvPr/>
        </p:nvSpPr>
        <p:spPr>
          <a:xfrm>
            <a:off x="1341120" y="3291840"/>
            <a:ext cx="9997440" cy="365760"/>
          </a:xfrm>
          <a:prstGeom prst="rect">
            <a:avLst/>
          </a:prstGeom>
          <a:noFill/>
          <a:ln/>
        </p:spPr>
        <p:txBody>
          <a:bodyPr wrap="square" lIns="0" tIns="0" rIns="0" bIns="0" rtlCol="0" anchor="ctr"/>
          <a:lstStyle/>
          <a:p>
            <a:pPr indent="0" marL="0">
              <a:buNone/>
            </a:pPr>
            <a:r>
              <a:rPr lang="en-US" sz="1300" b="1" i="1" dirty="0">
                <a:solidFill>
                  <a:srgbClr val="34B76F"/>
                </a:solidFill>
                <a:latin typeface="Calibri" pitchFamily="34" charset="0"/>
                <a:ea typeface="Calibri" pitchFamily="34" charset="-122"/>
                <a:cs typeface="Calibri" pitchFamily="34" charset="-120"/>
              </a:rPr>
              <a:t>B: Speaking and writing against slavery, for equal rights</a:t>
            </a:r>
            <a:endParaRPr lang="en-US" sz="1300" dirty="0"/>
          </a:p>
        </p:txBody>
      </p:sp>
      <p:sp>
        <p:nvSpPr>
          <p:cNvPr id="16" name="Shape 14"/>
          <p:cNvSpPr/>
          <p:nvPr/>
        </p:nvSpPr>
        <p:spPr>
          <a:xfrm>
            <a:off x="609600" y="4206240"/>
            <a:ext cx="10972800" cy="1219200"/>
          </a:xfrm>
          <a:prstGeom prst="roundRect">
            <a:avLst>
              <a:gd name="adj" fmla="val 7500"/>
            </a:avLst>
          </a:prstGeom>
          <a:solidFill>
            <a:srgbClr val="FFFFFF"/>
          </a:solidFill>
          <a:ln/>
          <a:effectLst>
            <a:outerShdw sx="100000" sy="100000" kx="0" ky="0" algn="bl" rotWithShape="0" blurRad="50800" dist="12700" dir="8100000">
              <a:srgbClr val="000000">
                <a:alpha val="8000"/>
              </a:srgbClr>
            </a:outerShdw>
          </a:effectLst>
        </p:spPr>
      </p:sp>
      <p:sp>
        <p:nvSpPr>
          <p:cNvPr id="17" name="Shape 15"/>
          <p:cNvSpPr/>
          <p:nvPr/>
        </p:nvSpPr>
        <p:spPr>
          <a:xfrm>
            <a:off x="731520" y="4291584"/>
            <a:ext cx="426720" cy="426720"/>
          </a:xfrm>
          <a:prstGeom prst="ellipse">
            <a:avLst/>
          </a:prstGeom>
          <a:solidFill>
            <a:srgbClr val="D4943A"/>
          </a:solidFill>
          <a:ln/>
        </p:spPr>
      </p:sp>
      <p:sp>
        <p:nvSpPr>
          <p:cNvPr id="18" name="Text 16"/>
          <p:cNvSpPr/>
          <p:nvPr/>
        </p:nvSpPr>
        <p:spPr>
          <a:xfrm>
            <a:off x="731520" y="4291584"/>
            <a:ext cx="426720" cy="426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41120" y="4267200"/>
            <a:ext cx="9997440" cy="4267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What is the big idea from the whole gallery?</a:t>
            </a:r>
            <a:endParaRPr lang="en-US" sz="1400" dirty="0"/>
          </a:p>
        </p:txBody>
      </p:sp>
      <p:sp>
        <p:nvSpPr>
          <p:cNvPr id="20" name="Text 18"/>
          <p:cNvSpPr/>
          <p:nvPr/>
        </p:nvSpPr>
        <p:spPr>
          <a:xfrm>
            <a:off x="1341120" y="4693920"/>
            <a:ext cx="9997440" cy="365760"/>
          </a:xfrm>
          <a:prstGeom prst="rect">
            <a:avLst/>
          </a:prstGeom>
          <a:noFill/>
          <a:ln/>
        </p:spPr>
        <p:txBody>
          <a:bodyPr wrap="square" lIns="0" tIns="0" rIns="0" bIns="0" rtlCol="0" anchor="ctr"/>
          <a:lstStyle/>
          <a:p>
            <a:pPr indent="0" marL="0">
              <a:buNone/>
            </a:pPr>
            <a:r>
              <a:rPr lang="en-US" sz="1300" b="1" i="1" dirty="0">
                <a:solidFill>
                  <a:srgbClr val="34B76F"/>
                </a:solidFill>
                <a:latin typeface="Calibri" pitchFamily="34" charset="0"/>
                <a:ea typeface="Calibri" pitchFamily="34" charset="-122"/>
                <a:cs typeface="Calibri" pitchFamily="34" charset="-120"/>
              </a:rPr>
              <a:t>A: The US was shaped by many places, voices, and people working together</a:t>
            </a:r>
            <a:endParaRPr lang="en-US" sz="1300" dirty="0"/>
          </a:p>
        </p:txBody>
      </p:sp>
      <p:sp>
        <p:nvSpPr>
          <p:cNvPr id="21" name="Text 19"/>
          <p:cNvSpPr/>
          <p:nvPr/>
        </p:nvSpPr>
        <p:spPr>
          <a:xfrm>
            <a:off x="609600" y="5669280"/>
            <a:ext cx="10972800" cy="426720"/>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Reveal answers one at a time — let students answer first!</a:t>
            </a:r>
            <a:endParaRPr lang="en-US" sz="1200" dirty="0"/>
          </a:p>
        </p:txBody>
      </p:sp>
      <p:sp>
        <p:nvSpPr>
          <p:cNvPr id="22" name="Text 20"/>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ASSIGNMENT</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Evidence Questions &amp; Curator Task</a:t>
            </a:r>
            <a:endParaRPr lang="en-US" sz="2600" dirty="0"/>
          </a:p>
        </p:txBody>
      </p:sp>
      <p:sp>
        <p:nvSpPr>
          <p:cNvPr id="6" name="Shape 4"/>
          <p:cNvSpPr/>
          <p:nvPr/>
        </p:nvSpPr>
        <p:spPr>
          <a:xfrm>
            <a:off x="487680" y="1402080"/>
            <a:ext cx="6705600" cy="4145280"/>
          </a:xfrm>
          <a:prstGeom prst="roundRect">
            <a:avLst>
              <a:gd name="adj" fmla="val 2647"/>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731520" y="1524000"/>
            <a:ext cx="6217920" cy="3048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8" name="Text 6"/>
          <p:cNvSpPr/>
          <p:nvPr/>
        </p:nvSpPr>
        <p:spPr>
          <a:xfrm>
            <a:off x="731520" y="1889760"/>
            <a:ext cx="6217920" cy="3413760"/>
          </a:xfrm>
          <a:prstGeom prst="rect">
            <a:avLst/>
          </a:prstGeom>
          <a:noFill/>
          <a:ln/>
        </p:spPr>
        <p:txBody>
          <a:bodyPr wrap="square" lIns="0" tIns="0" rIns="0" bIns="0" rtlCol="0" anchor="t"/>
          <a:lstStyle/>
          <a:p>
            <a:pPr indent="0" marL="0">
              <a:spcAft>
                <a:spcPts val="1000"/>
              </a:spcAft>
              <a:buNone/>
            </a:pPr>
            <a:r>
              <a:rPr lang="en-US" sz="1200" dirty="0">
                <a:solidFill>
                  <a:srgbClr val="0E1C42"/>
                </a:solidFill>
                <a:latin typeface="Calibri" pitchFamily="34" charset="0"/>
                <a:ea typeface="Calibri" pitchFamily="34" charset="-122"/>
                <a:cs typeface="Calibri" pitchFamily="34" charset="-120"/>
              </a:rPr>
              <a:t>1. Pick one of the six contributors. Name them, name the region they're connected to, and explain one thing they contributed.</a:t>
            </a:r>
            <a:endParaRPr lang="en-US" sz="1200" dirty="0"/>
          </a:p>
          <a:p>
            <a:pPr indent="0" marL="0">
              <a:spcAft>
                <a:spcPts val="1000"/>
              </a:spcAft>
              <a:buNone/>
            </a:pPr>
            <a:r>
              <a:rPr lang="en-US" sz="1200" dirty="0">
                <a:solidFill>
                  <a:srgbClr val="0E1C42"/>
                </a:solidFill>
                <a:latin typeface="Calibri" pitchFamily="34" charset="0"/>
                <a:ea typeface="Calibri" pitchFamily="34" charset="-122"/>
                <a:cs typeface="Calibri" pitchFamily="34" charset="-120"/>
              </a:rPr>
              <a:t>2. Why is it important that the Contributions Wall includes people from many different backgrounds and regions? Use a detail from the lesson.</a:t>
            </a:r>
            <a:endParaRPr lang="en-US" sz="1200" dirty="0"/>
          </a:p>
          <a:p>
            <a:pPr indent="0" marL="0">
              <a:spcAft>
                <a:spcPts val="1000"/>
              </a:spcAft>
              <a:buNone/>
            </a:pPr>
            <a:r>
              <a:rPr lang="en-US" sz="1200" dirty="0">
                <a:solidFill>
                  <a:srgbClr val="0E1C42"/>
                </a:solidFill>
                <a:latin typeface="Calibri" pitchFamily="34" charset="0"/>
                <a:ea typeface="Calibri" pitchFamily="34" charset="-122"/>
                <a:cs typeface="Calibri" pitchFamily="34" charset="-120"/>
              </a:rPr>
              <a:t>3. What is one big idea the whole gallery — alcoves, Listening Station, and Contributions Wall — teaches a visitor?</a:t>
            </a:r>
            <a:endParaRPr lang="en-US" sz="1200" dirty="0"/>
          </a:p>
        </p:txBody>
      </p:sp>
      <p:sp>
        <p:nvSpPr>
          <p:cNvPr id="9" name="Shape 7"/>
          <p:cNvSpPr/>
          <p:nvPr/>
        </p:nvSpPr>
        <p:spPr>
          <a:xfrm>
            <a:off x="7559040" y="1402080"/>
            <a:ext cx="4145280" cy="4145280"/>
          </a:xfrm>
          <a:prstGeom prst="roundRect">
            <a:avLst>
              <a:gd name="adj" fmla="val 2647"/>
            </a:avLst>
          </a:prstGeom>
          <a:solidFill>
            <a:srgbClr val="FFF3DC"/>
          </a:solidFill>
          <a:ln/>
          <a:effectLst>
            <a:outerShdw sx="100000" sy="100000" kx="0" ky="0" algn="bl" rotWithShape="0" blurRad="76200" dist="25400" dir="8100000">
              <a:srgbClr val="000000">
                <a:alpha val="10000"/>
              </a:srgbClr>
            </a:outerShdw>
          </a:effectLst>
        </p:spPr>
      </p:sp>
      <p:sp>
        <p:nvSpPr>
          <p:cNvPr id="10" name="Text 8"/>
          <p:cNvSpPr/>
          <p:nvPr/>
        </p:nvSpPr>
        <p:spPr>
          <a:xfrm>
            <a:off x="7802880" y="1524000"/>
            <a:ext cx="3657600" cy="3048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1" name="Text 9"/>
          <p:cNvSpPr/>
          <p:nvPr/>
        </p:nvSpPr>
        <p:spPr>
          <a:xfrm>
            <a:off x="7802880" y="1950720"/>
            <a:ext cx="3657600" cy="5486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Write 3-4 sentences for the Contributions Wall sign.</a:t>
            </a:r>
            <a:endParaRPr lang="en-US" sz="1300" dirty="0"/>
          </a:p>
        </p:txBody>
      </p:sp>
      <p:sp>
        <p:nvSpPr>
          <p:cNvPr id="12" name="Text 10"/>
          <p:cNvSpPr/>
          <p:nvPr/>
        </p:nvSpPr>
        <p:spPr>
          <a:xfrm>
            <a:off x="7802880" y="2560320"/>
            <a:ext cx="3657600" cy="2682240"/>
          </a:xfrm>
          <a:prstGeom prst="rect">
            <a:avLst/>
          </a:prstGeom>
          <a:noFill/>
          <a:ln/>
        </p:spPr>
        <p:txBody>
          <a:bodyPr wrap="square" lIns="0" tIns="0" rIns="0" bIns="0" rtlCol="0" anchor="t"/>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Tell visitors what the wall shows — that people from every region and background helped shape the United States.</a:t>
            </a:r>
            <a:endParaRPr lang="en-US" sz="1200" dirty="0"/>
          </a:p>
          <a:p>
            <a:pPr indent="0" marL="0">
              <a:lnSpc>
                <a:spcPct val="120000"/>
              </a:lnSpc>
              <a:buNone/>
            </a:pP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Name at least one contributor.</a:t>
            </a:r>
            <a:endParaRPr lang="en-US" sz="1200" dirty="0"/>
          </a:p>
          <a:p>
            <a:pPr indent="0" marL="0">
              <a:lnSpc>
                <a:spcPct val="120000"/>
              </a:lnSpc>
              <a:buNone/>
            </a:pP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Use kind, careful words.</a:t>
            </a:r>
            <a:endParaRPr lang="en-US" sz="1200" dirty="0"/>
          </a:p>
          <a:p>
            <a:pPr indent="0" marL="0">
              <a:lnSpc>
                <a:spcPct val="120000"/>
              </a:lnSpc>
              <a:buNone/>
            </a:pP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This sign closes the whole gallery.</a:t>
            </a:r>
            <a:endParaRPr lang="en-US" sz="1200" dirty="0"/>
          </a:p>
        </p:txBody>
      </p:sp>
      <p:sp>
        <p:nvSpPr>
          <p:cNvPr id="13" name="Text 11"/>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Shape 1"/>
          <p:cNvSpPr/>
          <p:nvPr/>
        </p:nvSpPr>
        <p:spPr>
          <a:xfrm>
            <a:off x="487680" y="365760"/>
            <a:ext cx="1828800" cy="292608"/>
          </a:xfrm>
          <a:prstGeom prst="roundRect">
            <a:avLst>
              <a:gd name="adj" fmla="val 25000"/>
            </a:avLst>
          </a:prstGeom>
          <a:solidFill>
            <a:srgbClr val="0E1C42"/>
          </a:solidFill>
          <a:ln/>
        </p:spPr>
      </p:sp>
      <p:sp>
        <p:nvSpPr>
          <p:cNvPr id="4" name="Text 2"/>
          <p:cNvSpPr/>
          <p:nvPr/>
        </p:nvSpPr>
        <p:spPr>
          <a:xfrm>
            <a:off x="487680" y="365760"/>
            <a:ext cx="1828800" cy="292608"/>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CHRONICLE</a:t>
            </a:r>
            <a:endParaRPr lang="en-US" sz="900" dirty="0"/>
          </a:p>
        </p:txBody>
      </p:sp>
      <p:sp>
        <p:nvSpPr>
          <p:cNvPr id="5" name="Text 3"/>
          <p:cNvSpPr/>
          <p:nvPr/>
        </p:nvSpPr>
        <p:spPr>
          <a:xfrm>
            <a:off x="609600" y="792480"/>
            <a:ext cx="109728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Curator's Chronicle</a:t>
            </a:r>
            <a:endParaRPr lang="en-US" sz="2800" dirty="0"/>
          </a:p>
        </p:txBody>
      </p:sp>
      <p:sp>
        <p:nvSpPr>
          <p:cNvPr id="6" name="Shape 4"/>
          <p:cNvSpPr/>
          <p:nvPr/>
        </p:nvSpPr>
        <p:spPr>
          <a:xfrm>
            <a:off x="1828800" y="1584960"/>
            <a:ext cx="8534400" cy="3413760"/>
          </a:xfrm>
          <a:prstGeom prst="roundRect">
            <a:avLst>
              <a:gd name="adj" fmla="val 4018"/>
            </a:avLst>
          </a:prstGeom>
          <a:solidFill>
            <a:srgbClr val="FFF8F0"/>
          </a:solidFill>
          <a:ln/>
          <a:effectLst>
            <a:outerShdw sx="100000" sy="100000" kx="0" ky="0" algn="bl" rotWithShape="0" blurRad="101600" dist="38100" dir="8100000">
              <a:srgbClr val="000000">
                <a:alpha val="10000"/>
              </a:srgbClr>
            </a:outerShdw>
          </a:effectLst>
        </p:spPr>
      </p:sp>
      <p:sp>
        <p:nvSpPr>
          <p:cNvPr id="7" name="Text 5"/>
          <p:cNvSpPr/>
          <p:nvPr/>
        </p:nvSpPr>
        <p:spPr>
          <a:xfrm>
            <a:off x="2072640" y="1767840"/>
            <a:ext cx="8046720" cy="426720"/>
          </a:xfrm>
          <a:prstGeom prst="rect">
            <a:avLst/>
          </a:prstGeom>
          <a:noFill/>
          <a:ln/>
        </p:spPr>
        <p:txBody>
          <a:bodyPr wrap="square" lIns="0" tIns="0" rIns="0" bIns="0"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Complete this sentence:</a:t>
            </a:r>
            <a:endParaRPr lang="en-US" sz="1400" dirty="0"/>
          </a:p>
        </p:txBody>
      </p:sp>
      <p:sp>
        <p:nvSpPr>
          <p:cNvPr id="8" name="Text 6"/>
          <p:cNvSpPr/>
          <p:nvPr/>
        </p:nvSpPr>
        <p:spPr>
          <a:xfrm>
            <a:off x="2072640" y="2438400"/>
            <a:ext cx="8046720" cy="975360"/>
          </a:xfrm>
          <a:prstGeom prst="rect">
            <a:avLst/>
          </a:prstGeom>
          <a:noFill/>
          <a:ln/>
        </p:spPr>
        <p:txBody>
          <a:bodyPr wrap="square" lIns="0" tIns="0" rIns="0" bIns="0" rtlCol="0" anchor="ctr"/>
          <a:lstStyle/>
          <a:p>
            <a:pPr algn="ctr" indent="0" marL="0">
              <a:lnSpc>
                <a:spcPct val="130000"/>
              </a:lnSpc>
              <a:buNone/>
            </a:pPr>
            <a:r>
              <a:rPr lang="en-US" sz="2000" b="1" dirty="0">
                <a:solidFill>
                  <a:srgbClr val="0E1C42"/>
                </a:solidFill>
                <a:latin typeface="Cambria" pitchFamily="34" charset="0"/>
                <a:ea typeface="Cambria" pitchFamily="34" charset="-122"/>
                <a:cs typeface="Cambria" pitchFamily="34" charset="-120"/>
              </a:rPr>
              <a:t>"In this exhibit, I learned that ______</a:t>
            </a:r>
            <a:endParaRPr lang="en-US" sz="2000" dirty="0"/>
          </a:p>
          <a:p>
            <a:pPr algn="ctr" indent="0" marL="0">
              <a:lnSpc>
                <a:spcPct val="130000"/>
              </a:lnSpc>
              <a:buNone/>
            </a:pPr>
            <a:r>
              <a:rPr lang="en-US" sz="2000" b="1" dirty="0">
                <a:solidFill>
                  <a:srgbClr val="0E1C42"/>
                </a:solidFill>
                <a:latin typeface="Cambria" pitchFamily="34" charset="0"/>
                <a:ea typeface="Cambria" pitchFamily="34" charset="-122"/>
                <a:cs typeface="Cambria" pitchFamily="34" charset="-120"/>
              </a:rPr>
              <a:t>because ______."</a:t>
            </a:r>
            <a:endParaRPr lang="en-US" sz="2000" dirty="0"/>
          </a:p>
        </p:txBody>
      </p:sp>
      <p:sp>
        <p:nvSpPr>
          <p:cNvPr id="9" name="Text 7"/>
          <p:cNvSpPr/>
          <p:nvPr/>
        </p:nvSpPr>
        <p:spPr>
          <a:xfrm>
            <a:off x="2072640" y="3657600"/>
            <a:ext cx="8046720" cy="426720"/>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Use a specific detail from the lesson to complete your thought.</a:t>
            </a:r>
            <a:endParaRPr lang="en-US" sz="1300" dirty="0"/>
          </a:p>
        </p:txBody>
      </p:sp>
      <p:sp>
        <p:nvSpPr>
          <p:cNvPr id="10" name="Shape 8"/>
          <p:cNvSpPr/>
          <p:nvPr/>
        </p:nvSpPr>
        <p:spPr>
          <a:xfrm>
            <a:off x="2438400" y="4328160"/>
            <a:ext cx="7315200" cy="731520"/>
          </a:xfrm>
          <a:prstGeom prst="roundRect">
            <a:avLst>
              <a:gd name="adj" fmla="val 12500"/>
            </a:avLst>
          </a:prstGeom>
          <a:solidFill>
            <a:srgbClr val="FFFFFF"/>
          </a:solidFill>
          <a:ln/>
          <a:effectLst>
            <a:outerShdw sx="100000" sy="100000" kx="0" ky="0" algn="bl" rotWithShape="0" blurRad="50800" dist="12700" dir="8100000">
              <a:srgbClr val="000000">
                <a:alpha val="6000"/>
              </a:srgbClr>
            </a:outerShdw>
          </a:effectLst>
        </p:spPr>
      </p:sp>
      <p:sp>
        <p:nvSpPr>
          <p:cNvPr id="11" name="Text 9"/>
          <p:cNvSpPr/>
          <p:nvPr/>
        </p:nvSpPr>
        <p:spPr>
          <a:xfrm>
            <a:off x="2560320" y="4328160"/>
            <a:ext cx="7071360" cy="7315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Example: "In this exhibit, I learned that people from every region contributed to the US because Sequoyah created Cherokee writing and Maya Lin designed a memorial."</a:t>
            </a:r>
            <a:endParaRPr lang="en-US" sz="1100" dirty="0"/>
          </a:p>
        </p:txBody>
      </p:sp>
      <p:sp>
        <p:nvSpPr>
          <p:cNvPr id="12" name="Text 10"/>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14400" y="1371600"/>
            <a:ext cx="10362895" cy="914400"/>
          </a:xfrm>
          <a:prstGeom prst="rect">
            <a:avLst/>
          </a:prstGeom>
          <a:noFill/>
          <a:ln/>
        </p:spPr>
        <p:txBody>
          <a:bodyPr wrap="square" lIns="0" tIns="0" rIns="0" bIns="0" rtlCol="0" anchor="ctr"/>
          <a:lstStyle/>
          <a:p>
            <a:pPr algn="ctr" indent="0" marL="0">
              <a:buNone/>
            </a:pPr>
            <a:r>
              <a:rPr lang="en-US" sz="4400" b="1" spc="400" kern="0" dirty="0">
                <a:solidFill>
                  <a:srgbClr val="D4943A"/>
                </a:solidFill>
                <a:latin typeface="Cambria" pitchFamily="34" charset="0"/>
                <a:ea typeface="Cambria" pitchFamily="34" charset="-122"/>
                <a:cs typeface="Cambria" pitchFamily="34" charset="-120"/>
              </a:rPr>
              <a:t>GALLERY COMPLETE</a:t>
            </a:r>
            <a:endParaRPr lang="en-US" sz="4400" dirty="0"/>
          </a:p>
        </p:txBody>
      </p:sp>
      <p:sp>
        <p:nvSpPr>
          <p:cNvPr id="6" name="Text 3"/>
          <p:cNvSpPr/>
          <p:nvPr/>
        </p:nvSpPr>
        <p:spPr>
          <a:xfrm>
            <a:off x="914400" y="2286000"/>
            <a:ext cx="10362895" cy="548640"/>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Unit 7: The Great Map Room</a:t>
            </a:r>
            <a:endParaRPr lang="en-US" sz="2200" dirty="0"/>
          </a:p>
        </p:txBody>
      </p:sp>
      <p:sp>
        <p:nvSpPr>
          <p:cNvPr id="7" name="Shape 4"/>
          <p:cNvSpPr/>
          <p:nvPr/>
        </p:nvSpPr>
        <p:spPr>
          <a:xfrm>
            <a:off x="5029200" y="3017520"/>
            <a:ext cx="2133295" cy="36576"/>
          </a:xfrm>
          <a:prstGeom prst="rect">
            <a:avLst/>
          </a:prstGeom>
          <a:solidFill>
            <a:srgbClr val="D4943A"/>
          </a:solidFill>
          <a:ln/>
        </p:spPr>
      </p:sp>
      <p:sp>
        <p:nvSpPr>
          <p:cNvPr id="8" name="Text 5"/>
          <p:cNvSpPr/>
          <p:nvPr/>
        </p:nvSpPr>
        <p:spPr>
          <a:xfrm>
            <a:off x="1371600" y="3291840"/>
            <a:ext cx="9448495" cy="731520"/>
          </a:xfrm>
          <a:prstGeom prst="rect">
            <a:avLst/>
          </a:prstGeom>
          <a:noFill/>
          <a:ln/>
        </p:spPr>
        <p:txBody>
          <a:bodyPr wrap="square" lIns="0" tIns="0" rIns="0" bIns="0" rtlCol="0" anchor="ctr"/>
          <a:lstStyle/>
          <a:p>
            <a:pPr algn="ctr" indent="0" marL="0">
              <a:lnSpc>
                <a:spcPct val="140000"/>
              </a:lnSpc>
              <a:buNone/>
            </a:pPr>
            <a:r>
              <a:rPr lang="en-US" sz="1600" i="1" dirty="0">
                <a:solidFill>
                  <a:srgbClr val="C8D0E8"/>
                </a:solidFill>
                <a:latin typeface="Calibri" pitchFamily="34" charset="0"/>
                <a:ea typeface="Calibri" pitchFamily="34" charset="-122"/>
                <a:cs typeface="Calibri" pitchFamily="34" charset="-120"/>
              </a:rPr>
              <a:t>You explored America's regions, listened to its voices,</a:t>
            </a:r>
            <a:endParaRPr lang="en-US" sz="1600" dirty="0"/>
          </a:p>
          <a:p>
            <a:pPr algn="ctr" indent="0" marL="0">
              <a:lnSpc>
                <a:spcPct val="140000"/>
              </a:lnSpc>
              <a:buNone/>
            </a:pPr>
            <a:r>
              <a:rPr lang="en-US" sz="1600" i="1" dirty="0">
                <a:solidFill>
                  <a:srgbClr val="C8D0E8"/>
                </a:solidFill>
                <a:latin typeface="Calibri" pitchFamily="34" charset="0"/>
                <a:ea typeface="Calibri" pitchFamily="34" charset="-122"/>
                <a:cs typeface="Calibri" pitchFamily="34" charset="-120"/>
              </a:rPr>
              <a:t>and honored the people who shaped its story.</a:t>
            </a:r>
            <a:endParaRPr lang="en-US" sz="1600" dirty="0"/>
          </a:p>
        </p:txBody>
      </p:sp>
      <p:sp>
        <p:nvSpPr>
          <p:cNvPr id="9" name="Text 6"/>
          <p:cNvSpPr/>
          <p:nvPr/>
        </p:nvSpPr>
        <p:spPr>
          <a:xfrm>
            <a:off x="914400" y="4572000"/>
            <a:ext cx="10362895" cy="457200"/>
          </a:xfrm>
          <a:prstGeom prst="rect">
            <a:avLst/>
          </a:prstGeom>
          <a:noFill/>
          <a:ln/>
        </p:spPr>
        <p:txBody>
          <a:bodyPr wrap="square" lIns="0" tIns="0" rIns="0" bIns="0" rtlCol="0" anchor="ctr"/>
          <a:lstStyle/>
          <a:p>
            <a:pPr algn="ctr" indent="0" marL="0">
              <a:buNone/>
            </a:pPr>
            <a:r>
              <a:rPr lang="en-US" sz="1800" b="1" dirty="0">
                <a:solidFill>
                  <a:srgbClr val="55C8E8"/>
                </a:solidFill>
                <a:latin typeface="Calibri" pitchFamily="34" charset="0"/>
                <a:ea typeface="Calibri" pitchFamily="34" charset="-122"/>
                <a:cs typeface="Calibri" pitchFamily="34" charset="-120"/>
              </a:rPr>
              <a:t>Coming Next: Unit 9 — The Marketplace Hall</a:t>
            </a:r>
            <a:endParaRPr lang="en-US" sz="1800" dirty="0"/>
          </a:p>
        </p:txBody>
      </p:sp>
      <p:sp>
        <p:nvSpPr>
          <p:cNvPr id="10" name="Text 7"/>
          <p:cNvSpPr/>
          <p:nvPr/>
        </p:nvSpPr>
        <p:spPr>
          <a:xfrm>
            <a:off x="914400" y="5029200"/>
            <a:ext cx="10362895" cy="365760"/>
          </a:xfrm>
          <a:prstGeom prst="rect">
            <a:avLst/>
          </a:prstGeom>
          <a:noFill/>
          <a:ln/>
        </p:spPr>
        <p:txBody>
          <a:bodyPr wrap="square" lIns="0" tIns="0" rIns="0" bIns="0"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A new room. A new adventure.</a:t>
            </a:r>
            <a:endParaRPr lang="en-US" sz="1400" dirty="0"/>
          </a:p>
        </p:txBody>
      </p:sp>
      <p:sp>
        <p:nvSpPr>
          <p:cNvPr id="11" name="Text 8"/>
          <p:cNvSpPr/>
          <p:nvPr/>
        </p:nvSpPr>
        <p:spPr>
          <a:xfrm>
            <a:off x="10972800" y="6446520"/>
            <a:ext cx="1005840" cy="320040"/>
          </a:xfrm>
          <a:prstGeom prst="rect">
            <a:avLst/>
          </a:prstGeom>
          <a:noFill/>
          <a:ln/>
        </p:spPr>
        <p:txBody>
          <a:bodyPr wrap="square" lIns="0" tIns="0" rIns="0" bIns="0" rtlCol="0" anchor="ctr"/>
          <a:lstStyle/>
          <a:p>
            <a:pPr algn="r" indent="0" marL="0">
              <a:buNone/>
            </a:pPr>
            <a:r>
              <a:rPr lang="en-US" sz="900" dirty="0">
                <a:solidFill>
                  <a:srgbClr val="7A88A8"/>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2026-07-11T08:34:24Z</dcterms:created>
  <dcterms:modified xsi:type="dcterms:W3CDTF">2026-07-11T08:34:24Z</dcterms:modified>
</cp:coreProperties>
</file>