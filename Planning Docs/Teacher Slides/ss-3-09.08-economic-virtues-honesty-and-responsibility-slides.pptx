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gold ceremonial plaque being mounted on the back wall of a completed museum marketplace hall -- warm lantern light, booths and a trade-routes map visible in the background, a sense of finality and celebration.Title slide. Welcome students to the final Marketplace Hall lesson. Read the Big Question aloud. Remind them: this is the Unit 9 closer -- they will earn the Wise Trader badge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wide shot of the finished Marketplace Hall -- ten glowing exhibit cases in a row (booths, trade tables, money case, trade routes map, decision board), with an empty gold plaque frame waiting on the back wall.This is the unit closer -- slow down and make it warm. Read the narrative aloud. Say: 'Look at what you helped build.' Tease the badge ceremony -- they earn their Wise Trader badge today.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today's two virtues together. Say: 'Honesty and responsibility are different from a coin or a shell. You can't put them in a case. But every single exhibit in this hall stops working without them.' This lesson closes the unit with both virtues.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a thought experiment: Market A -- sellers are honest, buyers pay what they promised, traders keep their word. Market B -- sellers cheat with light scales, buyers walk off without paying, traders lie about their wagons. Give 5 seconds of silence before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what happens in each market: Market A keeps growing, attracts more visitors, more goods arrive. Market B falls apart, trust disappears, traders stop coming, exhibits close. Ask the Socratic questions aloud and take chat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that honesty and responsibility are the invisible exhibits that hold every other exhibit together. Give a moment for the retrieval challenge -- students cover their screens and name the two virtues aloud or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Source Study image. Ask: what tools, signs, or people show honesty is taken seriously here? Give 5 seconds of silent observation before students respond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past and present: weights-and-measures inspectors then, gas pump and food label inspectors now. Ask why communities still spend money checking for honesty. This scaffolds Evidence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then Opti's quiet curator truth. This closes the discovery sequence and sets up the Why It Matters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Evidence Questions 2 and 3 before students see them on the assignment. Let several students answer in chat before moving on. Do not rush this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Evidence Question 1 aloud exactly as written on the slide. Emphasize the two separate definitions and one example each -- this is the exact scaffolding students need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Evidence Question 2. Let the class vote on one exhibit and build the answer together aloud before students write their own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draft one sentence independently using the checklist. This is a low-stakes rehearsal for the full Curator Task coming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Self-Check Question 1's wrong answer choice (A -- always picking the most expensive option). Students should catch that honesty is about telling the truth, not price. Have a few students suggest a fix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hall card quickly, naming what students built in each lesson. Land on 3.09.08 -- today's lesson -- as the invisible exhibit that held every other one together. Move directly into the badge ceremony.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glowing ceremonial badge medallion reading WISE TRADER, framed with a laurel or coin-motif border, presented on a velvet stand under warm gold light -- celebratory museum award ceremony mood.Badge ceremony -- make this a big moment. Read the badge citation aloud slowly and with weight. Congratulate every student by name if possible. This is the emotional high point of the unit closer, tying together honesty and responsibility with the whole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with high energy -- this is a milestone moment before the badge ceremony recap and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modeled in Teacher Models, Question 2 in We Try Together, and Question 3 in the Why It Matters and Then &amp; Now discussions. Students should feel ready -- nothing here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plaque as the most important panel of the whole unit -- it sums up everything they've built. Tell them to use at least four unit vocab words. Walk through copy/download. Make it feel like a graduation.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finish the sentence frame exactly as shown. This is the final Chronicle entry of the entire unit -- give it weight. Let a few students share their completed sentence aloud before moving to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turn-in checklist so students know exactly what a complete submission looks like before class ends. Confirm everyone has copied or downloaded their work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Students exiting a glowing completed marketplace hall while museum workers in the background corridor carry wooden chairs, a long table, a scroll, and a ballot box -- setting up the next gallery, Civics Hall.This is the unit farewell -- make it warm and big. Celebrate everything built across the Marketplace Hall and the Wise Trader badge earned today. Then tease Unit 10: next time, students become a Civic Curator in the Civics Hall. About 90 seconds. Celebration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64592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MARKETPLACE HALL  ·  LESSON 3.09.08  ·  UNIT 9 CLOSER</a:t>
            </a:r>
            <a:endParaRPr lang="en-US" sz="1200" dirty="0"/>
          </a:p>
        </p:txBody>
      </p:sp>
      <p:sp>
        <p:nvSpPr>
          <p:cNvPr id="6" name="Text 3"/>
          <p:cNvSpPr/>
          <p:nvPr/>
        </p:nvSpPr>
        <p:spPr>
          <a:xfrm>
            <a:off x="975360" y="2255520"/>
            <a:ext cx="9753600" cy="1950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Economic Virtues:</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Honesty &amp; Responsibility</a:t>
            </a:r>
            <a:endParaRPr lang="en-US" sz="4000" dirty="0"/>
          </a:p>
        </p:txBody>
      </p:sp>
      <p:sp>
        <p:nvSpPr>
          <p:cNvPr id="7" name="Text 4"/>
          <p:cNvSpPr/>
          <p:nvPr/>
        </p:nvSpPr>
        <p:spPr>
          <a:xfrm>
            <a:off x="1584960" y="432816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754880"/>
            <a:ext cx="9387840" cy="121920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What virtues do honest and responsible people bring to a marketplace -- and what would happen to a marketplace without them?</a:t>
            </a:r>
            <a:endParaRPr lang="en-US" sz="1500" dirty="0"/>
          </a:p>
        </p:txBody>
      </p:sp>
      <p:sp>
        <p:nvSpPr>
          <p:cNvPr id="9" name="Text 6"/>
          <p:cNvSpPr/>
          <p:nvPr/>
        </p:nvSpPr>
        <p:spPr>
          <a:xfrm>
            <a:off x="1219200" y="6035040"/>
            <a:ext cx="938784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a Trade &amp; Choice Curator -- and today, you close the hall.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MUSEUM · THE HALL IS COMPLETE</a:t>
            </a:r>
            <a:endParaRPr lang="en-US" sz="1100" dirty="0"/>
          </a:p>
        </p:txBody>
      </p:sp>
      <p:sp>
        <p:nvSpPr>
          <p:cNvPr id="6" name="Text 3"/>
          <p:cNvSpPr/>
          <p:nvPr/>
        </p:nvSpPr>
        <p:spPr>
          <a:xfrm>
            <a:off x="975360" y="1402080"/>
            <a:ext cx="9753600" cy="134112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"Ten exhibits. But none of them work without honesty and responsibility."</a:t>
            </a:r>
            <a:endParaRPr lang="en-US" sz="2200" dirty="0"/>
          </a:p>
        </p:txBody>
      </p:sp>
      <p:sp>
        <p:nvSpPr>
          <p:cNvPr id="7" name="Text 4"/>
          <p:cNvSpPr/>
          <p:nvPr/>
        </p:nvSpPr>
        <p:spPr>
          <a:xfrm>
            <a:off x="1219200" y="2865120"/>
            <a:ext cx="9387840" cy="121920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The Marketplace Hall is finished. Scarcity. Choice. Trade. Goods and services. Buyers and sellers. Money. Trade routes. Decisions. Every exhibit you built is open -- except one thing has never been behind glass.</a:t>
            </a:r>
            <a:endParaRPr lang="en-US" sz="1300" dirty="0"/>
          </a:p>
        </p:txBody>
      </p:sp>
      <p:sp>
        <p:nvSpPr>
          <p:cNvPr id="8" name="Text 5"/>
          <p:cNvSpPr/>
          <p:nvPr/>
        </p:nvSpPr>
        <p:spPr>
          <a:xfrm>
            <a:off x="1219200" y="4084320"/>
            <a:ext cx="9387840" cy="121920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Tonight a brand-new gold plaque arrived for the back wall. The head curator gathers every Trade &amp; Choice Curator around it: "You've noticed something the museum can't show with shells and coins alone."</a:t>
            </a:r>
            <a:endParaRPr lang="en-US" sz="1300" dirty="0"/>
          </a:p>
        </p:txBody>
      </p:sp>
      <p:sp>
        <p:nvSpPr>
          <p:cNvPr id="9" name="Text 6"/>
          <p:cNvSpPr/>
          <p:nvPr/>
        </p:nvSpPr>
        <p:spPr>
          <a:xfrm>
            <a:off x="1219200" y="5547360"/>
            <a:ext cx="9387840" cy="60960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Today you write the final panel of the Marketplace Hall -- and you earn your Wise Trader badge.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853440"/>
            <a:ext cx="10972800" cy="7315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Honesty &amp; Responsibility</a:t>
            </a:r>
            <a:endParaRPr lang="en-US" sz="3000" dirty="0"/>
          </a:p>
        </p:txBody>
      </p:sp>
      <p:sp>
        <p:nvSpPr>
          <p:cNvPr id="4" name="Shape 2"/>
          <p:cNvSpPr/>
          <p:nvPr/>
        </p:nvSpPr>
        <p:spPr>
          <a:xfrm>
            <a:off x="609600" y="1889760"/>
            <a:ext cx="5242560" cy="4328160"/>
          </a:xfrm>
          <a:prstGeom prst="roundRect">
            <a:avLst>
              <a:gd name="adj" fmla="val 3380"/>
            </a:avLst>
          </a:prstGeom>
          <a:solidFill>
            <a:srgbClr val="1A2D5A"/>
          </a:solidFill>
          <a:ln/>
        </p:spPr>
      </p:sp>
      <p:sp>
        <p:nvSpPr>
          <p:cNvPr id="5" name="Text 3"/>
          <p:cNvSpPr/>
          <p:nvPr/>
        </p:nvSpPr>
        <p:spPr>
          <a:xfrm>
            <a:off x="85344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HONESTY</a:t>
            </a:r>
            <a:endParaRPr lang="en-US" sz="1300" dirty="0"/>
          </a:p>
        </p:txBody>
      </p:sp>
      <p:sp>
        <p:nvSpPr>
          <p:cNvPr id="6" name="Text 4"/>
          <p:cNvSpPr/>
          <p:nvPr/>
        </p:nvSpPr>
        <p:spPr>
          <a:xfrm>
            <a:off x="853440" y="2499360"/>
            <a:ext cx="4754880" cy="1950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Telling the truth about what you have, what you owe, and what you've done. In a market, honesty means selling what you said you were selling, paying what you said you'd pay, and labeling things accurately.</a:t>
            </a:r>
            <a:endParaRPr lang="en-US" sz="1300" dirty="0"/>
          </a:p>
        </p:txBody>
      </p:sp>
      <p:sp>
        <p:nvSpPr>
          <p:cNvPr id="7" name="Text 5"/>
          <p:cNvSpPr/>
          <p:nvPr/>
        </p:nvSpPr>
        <p:spPr>
          <a:xfrm>
            <a:off x="853440" y="4511040"/>
            <a:ext cx="4754880" cy="146304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A seller is honest when they tell the truth about their goods.</a:t>
            </a:r>
            <a:endParaRPr lang="en-US" sz="1200" dirty="0"/>
          </a:p>
        </p:txBody>
      </p:sp>
      <p:sp>
        <p:nvSpPr>
          <p:cNvPr id="8" name="Shape 6"/>
          <p:cNvSpPr/>
          <p:nvPr/>
        </p:nvSpPr>
        <p:spPr>
          <a:xfrm>
            <a:off x="6035040" y="1889760"/>
            <a:ext cx="5242560" cy="4328160"/>
          </a:xfrm>
          <a:prstGeom prst="roundRect">
            <a:avLst>
              <a:gd name="adj" fmla="val 3380"/>
            </a:avLst>
          </a:prstGeom>
          <a:solidFill>
            <a:srgbClr val="1A2D5A"/>
          </a:solidFill>
          <a:ln/>
        </p:spPr>
      </p:sp>
      <p:sp>
        <p:nvSpPr>
          <p:cNvPr id="9" name="Text 7"/>
          <p:cNvSpPr/>
          <p:nvPr/>
        </p:nvSpPr>
        <p:spPr>
          <a:xfrm>
            <a:off x="627888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RESPONSIBILITY</a:t>
            </a:r>
            <a:endParaRPr lang="en-US" sz="1300" dirty="0"/>
          </a:p>
        </p:txBody>
      </p:sp>
      <p:sp>
        <p:nvSpPr>
          <p:cNvPr id="10" name="Text 8"/>
          <p:cNvSpPr/>
          <p:nvPr/>
        </p:nvSpPr>
        <p:spPr>
          <a:xfrm>
            <a:off x="6278880" y="2499360"/>
            <a:ext cx="4754880" cy="1950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Doing what you said you'd do, even when it's harder than you expected. A buyer is responsible when they pay what they agreed to pay. A trader is responsible when they keep their word across a long route.</a:t>
            </a:r>
            <a:endParaRPr lang="en-US" sz="1300" dirty="0"/>
          </a:p>
        </p:txBody>
      </p:sp>
      <p:sp>
        <p:nvSpPr>
          <p:cNvPr id="11" name="Text 9"/>
          <p:cNvSpPr/>
          <p:nvPr/>
        </p:nvSpPr>
        <p:spPr>
          <a:xfrm>
            <a:off x="6278880" y="4511040"/>
            <a:ext cx="4754880" cy="146304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A trader is responsible when they deliver what was promised.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Two Markets, Side by Side</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Split-scene illustration: left side a bustling honest market with a fair scale and handshake; right side the same market with hidden spoiled goods and an empty coin purse.</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Same booths. Same money. Same trade routes. The only difference is the people inside them. Watch closely -- what changes?</a:t>
            </a:r>
            <a:endParaRPr lang="en-US" sz="130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Market A..."</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Market B..."</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at both markets before we discuss.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Which Market Would You Choose?</a:t>
            </a:r>
            <a:endParaRPr lang="en-US" sz="28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Trade Tables: Market A -- fishers bring fresh fish, farmers bring full sacks, both walk away better off. Market B -- fishers hide old fish under fresh ones, farmers fill bags with sand, both sides feel cheated.</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Money: Market A -- coins and bills are real, everyone trusts the value. Market B -- coins are faked, bills are forged, no one knows what anything is worth.</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had to visit one of these markets, which would you choose?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market would grow over time, and which would shrink?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which market to trust?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7315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219200"/>
            <a:ext cx="10972800" cy="85344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The Invisible Exhibits</a:t>
            </a:r>
            <a:endParaRPr lang="en-US" sz="3400" dirty="0"/>
          </a:p>
        </p:txBody>
      </p:sp>
      <p:sp>
        <p:nvSpPr>
          <p:cNvPr id="4" name="Text 2"/>
          <p:cNvSpPr/>
          <p:nvPr/>
        </p:nvSpPr>
        <p:spPr>
          <a:xfrm>
            <a:off x="1341120" y="2255520"/>
            <a:ext cx="9144000" cy="195072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Every exhibit you built -- trade tables, money case, trade routes, decisions -- only works because people behave with honesty and responsibility. They aren't behind glass and they aren't on the map. But without them, every other exhibit in the hall would close.</a:t>
            </a:r>
            <a:endParaRPr lang="en-US" sz="1500" dirty="0"/>
          </a:p>
        </p:txBody>
      </p:sp>
      <p:sp>
        <p:nvSpPr>
          <p:cNvPr id="5" name="Text 3"/>
          <p:cNvSpPr/>
          <p:nvPr/>
        </p:nvSpPr>
        <p:spPr>
          <a:xfrm>
            <a:off x="1341120" y="554736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the two invisible exhibits from 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SOURCE STUDY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A Market Built on Honesty</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image (1800s-1900s) of a market vendor at a two-pan balance scale, a 'fair weights and measures' inspector's sign, or a handshake closing a deal -- communicating 'this marketplace runs on trust.'</a:t>
            </a:r>
            <a:endParaRPr lang="en-US" sz="1100" dirty="0"/>
          </a:p>
        </p:txBody>
      </p:sp>
      <p:sp>
        <p:nvSpPr>
          <p:cNvPr id="7" name="Text 5"/>
          <p:cNvSpPr/>
          <p:nvPr/>
        </p:nvSpPr>
        <p:spPr>
          <a:xfrm>
            <a:off x="7010400" y="1645920"/>
            <a:ext cx="4267200" cy="12192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What do I see? Look for tools, signs, or people in the image that show honesty is taken seriously.</a:t>
            </a:r>
            <a:endParaRPr lang="en-US" sz="1250" dirty="0"/>
          </a:p>
        </p:txBody>
      </p:sp>
      <p:sp>
        <p:nvSpPr>
          <p:cNvPr id="8" name="Shape 6"/>
          <p:cNvSpPr/>
          <p:nvPr/>
        </p:nvSpPr>
        <p:spPr>
          <a:xfrm>
            <a:off x="7010400" y="2987040"/>
            <a:ext cx="4206240" cy="2133600"/>
          </a:xfrm>
          <a:prstGeom prst="roundRect">
            <a:avLst>
              <a:gd name="adj" fmla="val 6857"/>
            </a:avLst>
          </a:prstGeom>
          <a:solidFill>
            <a:srgbClr val="FFF3DC"/>
          </a:solidFill>
          <a:ln w="19050">
            <a:solidFill>
              <a:srgbClr val="F5E6C8"/>
            </a:solidFill>
            <a:prstDash val="solid"/>
          </a:ln>
        </p:spPr>
      </p:sp>
      <p:sp>
        <p:nvSpPr>
          <p:cNvPr id="9" name="Text 7"/>
          <p:cNvSpPr/>
          <p:nvPr/>
        </p:nvSpPr>
        <p:spPr>
          <a:xfrm>
            <a:off x="7193280" y="30601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328416"/>
            <a:ext cx="3840480" cy="1706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tells me the market cares about..."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SOURCE STUDY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Then &amp; Now</a:t>
            </a:r>
            <a:endParaRPr lang="en-US" sz="2800" dirty="0"/>
          </a:p>
        </p:txBody>
      </p:sp>
      <p:sp>
        <p:nvSpPr>
          <p:cNvPr id="4" name="Text 2"/>
          <p:cNvSpPr/>
          <p:nvPr/>
        </p:nvSpPr>
        <p:spPr>
          <a:xfrm>
            <a:off x="609600" y="1584960"/>
            <a:ext cx="5974080" cy="39014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Long ago, towns hired weights-and-measures inspectors to make sure sellers used honest scales. Today, governments still inspect gas pumps, grocery scales, and food labels for honesty.</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Why would a community spend time and money on tools or rules that just make sure people are honest with each other?</a:t>
            </a:r>
            <a:endParaRPr lang="en-US" sz="130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why a community cares whether people in a market tell the truth?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market stopped caring about honesty, what would happen to trade, money, and routes?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reason a community checks for honesty?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705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EXHIBIT LABEL</a:t>
            </a:r>
            <a:endParaRPr lang="en-US" sz="1100" dirty="0"/>
          </a:p>
        </p:txBody>
      </p:sp>
      <p:sp>
        <p:nvSpPr>
          <p:cNvPr id="3" name="Shape 1"/>
          <p:cNvSpPr/>
          <p:nvPr/>
        </p:nvSpPr>
        <p:spPr>
          <a:xfrm>
            <a:off x="1463040" y="1402080"/>
            <a:ext cx="8900160" cy="4023360"/>
          </a:xfrm>
          <a:prstGeom prst="roundRect">
            <a:avLst>
              <a:gd name="adj" fmla="val 4545"/>
            </a:avLst>
          </a:prstGeom>
          <a:solidFill>
            <a:srgbClr val="1A2D5A"/>
          </a:solidFill>
          <a:ln w="19050">
            <a:solidFill>
              <a:srgbClr val="D4943A"/>
            </a:solidFill>
            <a:prstDash val="solid"/>
          </a:ln>
        </p:spPr>
      </p:sp>
      <p:sp>
        <p:nvSpPr>
          <p:cNvPr id="4" name="Text 2"/>
          <p:cNvSpPr/>
          <p:nvPr/>
        </p:nvSpPr>
        <p:spPr>
          <a:xfrm>
            <a:off x="1950720" y="1828800"/>
            <a:ext cx="7924800" cy="1341120"/>
          </a:xfrm>
          <a:prstGeom prst="rect">
            <a:avLst/>
          </a:prstGeom>
          <a:noFill/>
          <a:ln/>
        </p:spPr>
        <p:txBody>
          <a:bodyPr wrap="square" lIns="0" tIns="0" rIns="0" bIns="0" rtlCol="0" anchor="ctr"/>
          <a:lstStyle/>
          <a:p>
            <a:pPr algn="ctr" indent="0" marL="0">
              <a:buNone/>
            </a:pPr>
            <a:r>
              <a:rPr lang="en-US" sz="1900" b="1" dirty="0">
                <a:solidFill>
                  <a:srgbClr val="D4943A"/>
                </a:solidFill>
                <a:latin typeface="Cambria" pitchFamily="34" charset="0"/>
                <a:ea typeface="Cambria" pitchFamily="34" charset="-122"/>
                <a:cs typeface="Cambria" pitchFamily="34" charset="-120"/>
              </a:rPr>
              <a:t>Honesty and responsibility are the invisible exhibits at the heart of every marketplace.</a:t>
            </a:r>
            <a:endParaRPr lang="en-US" sz="1900" dirty="0"/>
          </a:p>
        </p:txBody>
      </p:sp>
      <p:sp>
        <p:nvSpPr>
          <p:cNvPr id="5" name="Text 3"/>
          <p:cNvSpPr/>
          <p:nvPr/>
        </p:nvSpPr>
        <p:spPr>
          <a:xfrm>
            <a:off x="1950720" y="3291840"/>
            <a:ext cx="7924800" cy="1219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They cannot be put behind glass, but every other exhibit -- trade, money, routes, decisions -- quietly depends on them.</a:t>
            </a:r>
            <a:endParaRPr lang="en-US" sz="1400" dirty="0"/>
          </a:p>
        </p:txBody>
      </p:sp>
      <p:sp>
        <p:nvSpPr>
          <p:cNvPr id="6" name="Text 4"/>
          <p:cNvSpPr/>
          <p:nvPr/>
        </p:nvSpPr>
        <p:spPr>
          <a:xfrm>
            <a:off x="1950720" y="4572000"/>
            <a:ext cx="7924800" cy="7315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Opti says: the most valuable thing in any marketplace is not the gold or the goods. It's the trust between the people.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What Would Happen Without Them?</a:t>
            </a:r>
            <a:endParaRPr lang="en-US" sz="2800" dirty="0"/>
          </a:p>
        </p:txBody>
      </p:sp>
      <p:sp>
        <p:nvSpPr>
          <p:cNvPr id="4" name="Shape 2"/>
          <p:cNvSpPr/>
          <p:nvPr/>
        </p:nvSpPr>
        <p:spPr>
          <a:xfrm>
            <a:off x="609600" y="1645920"/>
            <a:ext cx="10607040" cy="1828800"/>
          </a:xfrm>
          <a:prstGeom prst="roundRect">
            <a:avLst>
              <a:gd name="adj" fmla="val 8000"/>
            </a:avLst>
          </a:prstGeom>
          <a:solidFill>
            <a:srgbClr val="FFFFFF"/>
          </a:solidFill>
          <a:ln w="12700">
            <a:solidFill>
              <a:srgbClr val="7A88A8"/>
            </a:solidFill>
            <a:prstDash val="solid"/>
          </a:ln>
        </p:spPr>
      </p:sp>
      <p:sp>
        <p:nvSpPr>
          <p:cNvPr id="5" name="Text 3"/>
          <p:cNvSpPr/>
          <p:nvPr/>
        </p:nvSpPr>
        <p:spPr>
          <a:xfrm>
            <a:off x="914400" y="1889760"/>
            <a:ext cx="9997440" cy="134112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Pick one exhibit from earlier in the unit: trade tables, money case, trade routes map, or Decision Board. What would stop working if the people inside it stopped being honest or responsible?</a:t>
            </a:r>
            <a:endParaRPr lang="en-US" sz="1400" dirty="0"/>
          </a:p>
        </p:txBody>
      </p:sp>
      <p:sp>
        <p:nvSpPr>
          <p:cNvPr id="6" name="Shape 4"/>
          <p:cNvSpPr/>
          <p:nvPr/>
        </p:nvSpPr>
        <p:spPr>
          <a:xfrm>
            <a:off x="609600" y="3718560"/>
            <a:ext cx="10607040" cy="262128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8404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81856"/>
            <a:ext cx="10119360" cy="20360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community spend money on rules or inspectors that just check for honesty?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that tell you about how much honesty is worth?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market survive with money but no trust? Why or why not?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Naming Honesty and Responsibility</a:t>
            </a:r>
            <a:endParaRPr lang="en-US" sz="28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"Evidence Question 1 asks for the difference between honesty and responsibility. I'll say it out loud first: Honesty is telling the truth -- about what I have, what I owe, what I've done. Responsibility is doing what I said I'd do, even when it's hard. In a market, both keep trust alive. For an example of honesty, I'll say: a seller who tells you exactly what's wrong with a used cart before selling it. For responsibility, I'll say: a trader who finishes the long route even when the weather turns bad."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Pick an Exhibit, Explain the Break</a:t>
            </a:r>
            <a:endParaRPr lang="en-US" sz="2800" dirty="0"/>
          </a:p>
        </p:txBody>
      </p:sp>
      <p:sp>
        <p:nvSpPr>
          <p:cNvPr id="4" name="Text 2"/>
          <p:cNvSpPr/>
          <p:nvPr/>
        </p:nvSpPr>
        <p:spPr>
          <a:xfrm>
            <a:off x="609600" y="1584960"/>
            <a:ext cx="10607040" cy="60960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As a class, choose one: the trade tables, the money case, the trade routes map, or the Decision Board.</a:t>
            </a:r>
            <a:endParaRPr lang="en-US" sz="1400" dirty="0"/>
          </a:p>
        </p:txBody>
      </p:sp>
      <p:sp>
        <p:nvSpPr>
          <p:cNvPr id="5" name="Shape 3"/>
          <p:cNvSpPr/>
          <p:nvPr/>
        </p:nvSpPr>
        <p:spPr>
          <a:xfrm>
            <a:off x="609600" y="2377440"/>
            <a:ext cx="1060704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499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840736"/>
            <a:ext cx="1011936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that exhibit need people to do honestly or responsibly?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the moment someone stops doing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exhibit break right away, or slowly? Why?</a:t>
            </a:r>
            <a:endParaRPr lang="en-US" sz="1100" dirty="0"/>
          </a:p>
        </p:txBody>
      </p:sp>
      <p:sp>
        <p:nvSpPr>
          <p:cNvPr id="8" name="Shape 6"/>
          <p:cNvSpPr/>
          <p:nvPr/>
        </p:nvSpPr>
        <p:spPr>
          <a:xfrm>
            <a:off x="609600" y="4815840"/>
            <a:ext cx="106070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92480" y="48889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157216"/>
            <a:ext cx="102412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picked...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would stop working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Start Your Wise Trader Plaque</a:t>
            </a:r>
            <a:endParaRPr lang="en-US" sz="2800" dirty="0"/>
          </a:p>
        </p:txBody>
      </p:sp>
      <p:sp>
        <p:nvSpPr>
          <p:cNvPr id="4" name="Text 2"/>
          <p:cNvSpPr/>
          <p:nvPr/>
        </p:nvSpPr>
        <p:spPr>
          <a:xfrm>
            <a:off x="609600" y="1584960"/>
            <a:ext cx="10607040" cy="4876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Try writing one sentence on your own using this checklist:</a:t>
            </a:r>
            <a:endParaRPr lang="en-US" sz="1400" dirty="0"/>
          </a:p>
        </p:txBody>
      </p:sp>
      <p:sp>
        <p:nvSpPr>
          <p:cNvPr id="5" name="Text 3"/>
          <p:cNvSpPr/>
          <p:nvPr/>
        </p:nvSpPr>
        <p:spPr>
          <a:xfrm>
            <a:off x="853440" y="2255520"/>
            <a:ext cx="101193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named honesty in my sentence.</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named responsibility in my sentence.</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used at least one unit word (scarcity, choice, trade, goods, services, buyers, sellers, money, currencies, trade routes, costs, benefits).</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My sentence explains why it matters to the whole community.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Find the Mistake</a:t>
            </a:r>
            <a:endParaRPr lang="en-US" sz="2800" dirty="0"/>
          </a:p>
        </p:txBody>
      </p:sp>
      <p:sp>
        <p:nvSpPr>
          <p:cNvPr id="4" name="Shape 2"/>
          <p:cNvSpPr/>
          <p:nvPr/>
        </p:nvSpPr>
        <p:spPr>
          <a:xfrm>
            <a:off x="609600" y="1584960"/>
            <a:ext cx="10607040" cy="1828800"/>
          </a:xfrm>
          <a:prstGeom prst="roundRect">
            <a:avLst>
              <a:gd name="adj" fmla="val 8000"/>
            </a:avLst>
          </a:prstGeom>
          <a:solidFill>
            <a:srgbClr val="FDEEEE"/>
          </a:solidFill>
          <a:ln w="19050">
            <a:solidFill>
              <a:srgbClr val="E8636B"/>
            </a:solidFill>
            <a:prstDash val="solid"/>
          </a:ln>
        </p:spPr>
      </p:sp>
      <p:sp>
        <p:nvSpPr>
          <p:cNvPr id="5" name="Text 3"/>
          <p:cNvSpPr/>
          <p:nvPr/>
        </p:nvSpPr>
        <p:spPr>
          <a:xfrm>
            <a:off x="914400" y="1828800"/>
            <a:ext cx="9997440" cy="134112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"A Wise Trader is honest because they always sell the most expensive item in the booth."</a:t>
            </a:r>
            <a:endParaRPr lang="en-US" sz="1400" dirty="0"/>
          </a:p>
        </p:txBody>
      </p:sp>
      <p:sp>
        <p:nvSpPr>
          <p:cNvPr id="6" name="Shape 4"/>
          <p:cNvSpPr/>
          <p:nvPr/>
        </p:nvSpPr>
        <p:spPr>
          <a:xfrm>
            <a:off x="609600" y="3657600"/>
            <a:ext cx="1060704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795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20896"/>
            <a:ext cx="1011936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mix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honesty actually mean, based on today's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so it truly describes a Wise Trader?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UNIT RECAP</a:t>
            </a:r>
            <a:endParaRPr lang="en-US" sz="1100" dirty="0"/>
          </a:p>
        </p:txBody>
      </p:sp>
      <p:sp>
        <p:nvSpPr>
          <p:cNvPr id="3" name="Text 1"/>
          <p:cNvSpPr/>
          <p:nvPr/>
        </p:nvSpPr>
        <p:spPr>
          <a:xfrm>
            <a:off x="609600" y="792480"/>
            <a:ext cx="10972800" cy="670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Your Marketplace Hall Journey</a:t>
            </a:r>
            <a:endParaRPr lang="en-US" sz="2600" dirty="0"/>
          </a:p>
        </p:txBody>
      </p:sp>
      <p:sp>
        <p:nvSpPr>
          <p:cNvPr id="4" name="Shape 2"/>
          <p:cNvSpPr/>
          <p:nvPr/>
        </p:nvSpPr>
        <p:spPr>
          <a:xfrm>
            <a:off x="609600"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609600"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3.09.03</a:t>
            </a:r>
            <a:endParaRPr lang="en-US" sz="900" dirty="0"/>
          </a:p>
        </p:txBody>
      </p:sp>
      <p:sp>
        <p:nvSpPr>
          <p:cNvPr id="6" name="Text 4"/>
          <p:cNvSpPr/>
          <p:nvPr/>
        </p:nvSpPr>
        <p:spPr>
          <a:xfrm>
            <a:off x="609600"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Front Booths</a:t>
            </a:r>
            <a:endParaRPr lang="en-US" sz="1600" dirty="0"/>
          </a:p>
        </p:txBody>
      </p:sp>
      <p:sp>
        <p:nvSpPr>
          <p:cNvPr id="7" name="Text 5"/>
          <p:cNvSpPr/>
          <p:nvPr/>
        </p:nvSpPr>
        <p:spPr>
          <a:xfrm>
            <a:off x="707136"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Scarcity &amp; choice</a:t>
            </a:r>
            <a:endParaRPr lang="en-US" sz="900" dirty="0"/>
          </a:p>
        </p:txBody>
      </p:sp>
      <p:sp>
        <p:nvSpPr>
          <p:cNvPr id="8" name="Shape 6"/>
          <p:cNvSpPr/>
          <p:nvPr/>
        </p:nvSpPr>
        <p:spPr>
          <a:xfrm>
            <a:off x="2511552"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9" name="Text 7"/>
          <p:cNvSpPr/>
          <p:nvPr/>
        </p:nvSpPr>
        <p:spPr>
          <a:xfrm>
            <a:off x="2511552"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3.09.04</a:t>
            </a:r>
            <a:endParaRPr lang="en-US" sz="900" dirty="0"/>
          </a:p>
        </p:txBody>
      </p:sp>
      <p:sp>
        <p:nvSpPr>
          <p:cNvPr id="10" name="Text 8"/>
          <p:cNvSpPr/>
          <p:nvPr/>
        </p:nvSpPr>
        <p:spPr>
          <a:xfrm>
            <a:off x="2511552"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Trade Tables</a:t>
            </a:r>
            <a:endParaRPr lang="en-US" sz="1600" dirty="0"/>
          </a:p>
        </p:txBody>
      </p:sp>
      <p:sp>
        <p:nvSpPr>
          <p:cNvPr id="11" name="Text 9"/>
          <p:cNvSpPr/>
          <p:nvPr/>
        </p:nvSpPr>
        <p:spPr>
          <a:xfrm>
            <a:off x="2609088"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Fish for grain</a:t>
            </a:r>
            <a:endParaRPr lang="en-US" sz="900" dirty="0"/>
          </a:p>
        </p:txBody>
      </p:sp>
      <p:sp>
        <p:nvSpPr>
          <p:cNvPr id="12" name="Shape 10"/>
          <p:cNvSpPr/>
          <p:nvPr/>
        </p:nvSpPr>
        <p:spPr>
          <a:xfrm>
            <a:off x="4413504"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13" name="Text 11"/>
          <p:cNvSpPr/>
          <p:nvPr/>
        </p:nvSpPr>
        <p:spPr>
          <a:xfrm>
            <a:off x="4413504"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3.09.05</a:t>
            </a:r>
            <a:endParaRPr lang="en-US" sz="900" dirty="0"/>
          </a:p>
        </p:txBody>
      </p:sp>
      <p:sp>
        <p:nvSpPr>
          <p:cNvPr id="14" name="Text 12"/>
          <p:cNvSpPr/>
          <p:nvPr/>
        </p:nvSpPr>
        <p:spPr>
          <a:xfrm>
            <a:off x="4413504"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Back-Wall Booths</a:t>
            </a:r>
            <a:endParaRPr lang="en-US" sz="1600" dirty="0"/>
          </a:p>
        </p:txBody>
      </p:sp>
      <p:sp>
        <p:nvSpPr>
          <p:cNvPr id="15" name="Text 13"/>
          <p:cNvSpPr/>
          <p:nvPr/>
        </p:nvSpPr>
        <p:spPr>
          <a:xfrm>
            <a:off x="4511040"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Goods, services, buyers, sellers</a:t>
            </a:r>
            <a:endParaRPr lang="en-US" sz="900" dirty="0"/>
          </a:p>
        </p:txBody>
      </p:sp>
      <p:sp>
        <p:nvSpPr>
          <p:cNvPr id="16" name="Shape 14"/>
          <p:cNvSpPr/>
          <p:nvPr/>
        </p:nvSpPr>
        <p:spPr>
          <a:xfrm>
            <a:off x="6315456"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6315456"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3.09.06</a:t>
            </a:r>
            <a:endParaRPr lang="en-US" sz="900" dirty="0"/>
          </a:p>
        </p:txBody>
      </p:sp>
      <p:sp>
        <p:nvSpPr>
          <p:cNvPr id="18" name="Text 16"/>
          <p:cNvSpPr/>
          <p:nvPr/>
        </p:nvSpPr>
        <p:spPr>
          <a:xfrm>
            <a:off x="6315456"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Money Case</a:t>
            </a:r>
            <a:endParaRPr lang="en-US" sz="1600" dirty="0"/>
          </a:p>
        </p:txBody>
      </p:sp>
      <p:sp>
        <p:nvSpPr>
          <p:cNvPr id="19" name="Text 17"/>
          <p:cNvSpPr/>
          <p:nvPr/>
        </p:nvSpPr>
        <p:spPr>
          <a:xfrm>
            <a:off x="6412992"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Money &amp; currencies</a:t>
            </a:r>
            <a:endParaRPr lang="en-US" sz="900" dirty="0"/>
          </a:p>
        </p:txBody>
      </p:sp>
      <p:sp>
        <p:nvSpPr>
          <p:cNvPr id="20" name="Shape 18"/>
          <p:cNvSpPr/>
          <p:nvPr/>
        </p:nvSpPr>
        <p:spPr>
          <a:xfrm>
            <a:off x="8217408"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21" name="Text 19"/>
          <p:cNvSpPr/>
          <p:nvPr/>
        </p:nvSpPr>
        <p:spPr>
          <a:xfrm>
            <a:off x="8217408"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3.09.07</a:t>
            </a:r>
            <a:endParaRPr lang="en-US" sz="900" dirty="0"/>
          </a:p>
        </p:txBody>
      </p:sp>
      <p:sp>
        <p:nvSpPr>
          <p:cNvPr id="22" name="Text 20"/>
          <p:cNvSpPr/>
          <p:nvPr/>
        </p:nvSpPr>
        <p:spPr>
          <a:xfrm>
            <a:off x="8217408"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Routes &amp; Decisions</a:t>
            </a:r>
            <a:endParaRPr lang="en-US" sz="1600" dirty="0"/>
          </a:p>
        </p:txBody>
      </p:sp>
      <p:sp>
        <p:nvSpPr>
          <p:cNvPr id="23" name="Text 21"/>
          <p:cNvSpPr/>
          <p:nvPr/>
        </p:nvSpPr>
        <p:spPr>
          <a:xfrm>
            <a:off x="8314944"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Trade routes, costs &amp; benefits</a:t>
            </a:r>
            <a:endParaRPr lang="en-US" sz="900" dirty="0"/>
          </a:p>
        </p:txBody>
      </p:sp>
      <p:sp>
        <p:nvSpPr>
          <p:cNvPr id="24" name="Shape 22"/>
          <p:cNvSpPr/>
          <p:nvPr/>
        </p:nvSpPr>
        <p:spPr>
          <a:xfrm>
            <a:off x="10119360" y="1828800"/>
            <a:ext cx="1731264" cy="3901440"/>
          </a:xfrm>
          <a:prstGeom prst="roundRect">
            <a:avLst>
              <a:gd name="adj" fmla="val 8451"/>
            </a:avLst>
          </a:prstGeom>
          <a:solidFill>
            <a:srgbClr val="1A8A7D"/>
          </a:solidFill>
          <a:ln/>
          <a:effectLst>
            <a:outerShdw sx="100000" sy="100000" kx="0" ky="0" algn="bl" rotWithShape="0" blurRad="63500" dist="25400" dir="8100000">
              <a:srgbClr val="000000">
                <a:alpha val="15000"/>
              </a:srgbClr>
            </a:outerShdw>
          </a:effectLst>
        </p:spPr>
      </p:sp>
      <p:sp>
        <p:nvSpPr>
          <p:cNvPr id="25" name="Text 23"/>
          <p:cNvSpPr/>
          <p:nvPr/>
        </p:nvSpPr>
        <p:spPr>
          <a:xfrm>
            <a:off x="10119360" y="1901952"/>
            <a:ext cx="1731264"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3.09.08</a:t>
            </a:r>
            <a:endParaRPr lang="en-US" sz="900" dirty="0"/>
          </a:p>
        </p:txBody>
      </p:sp>
      <p:sp>
        <p:nvSpPr>
          <p:cNvPr id="26" name="Text 24"/>
          <p:cNvSpPr/>
          <p:nvPr/>
        </p:nvSpPr>
        <p:spPr>
          <a:xfrm>
            <a:off x="10119360" y="2170176"/>
            <a:ext cx="1731264"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Honesty &amp; Responsibility</a:t>
            </a:r>
            <a:endParaRPr lang="en-US" sz="1600" dirty="0"/>
          </a:p>
        </p:txBody>
      </p:sp>
      <p:sp>
        <p:nvSpPr>
          <p:cNvPr id="27" name="Text 25"/>
          <p:cNvSpPr/>
          <p:nvPr/>
        </p:nvSpPr>
        <p:spPr>
          <a:xfrm>
            <a:off x="10216896" y="2596896"/>
            <a:ext cx="1536192"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The invisible exhibit -- today</a:t>
            </a:r>
            <a:endParaRPr lang="en-US" sz="900" dirty="0"/>
          </a:p>
        </p:txBody>
      </p:sp>
      <p:sp>
        <p:nvSpPr>
          <p:cNvPr id="28" name="Text 26"/>
          <p:cNvSpPr/>
          <p:nvPr/>
        </p:nvSpPr>
        <p:spPr>
          <a:xfrm>
            <a:off x="609600" y="6035040"/>
            <a:ext cx="109728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Ten exhibits, six lessons -- and one truth that held them all together.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92480"/>
            <a:ext cx="9753600" cy="426720"/>
          </a:xfrm>
          <a:prstGeom prst="rect">
            <a:avLst/>
          </a:prstGeom>
          <a:noFill/>
          <a:ln/>
        </p:spPr>
        <p:txBody>
          <a:bodyPr wrap="square" lIns="0" tIns="0" rIns="0" bIns="0"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UNIT 9 BADGE CEREMONY</a:t>
            </a:r>
            <a:endParaRPr lang="en-US" sz="1300" dirty="0"/>
          </a:p>
        </p:txBody>
      </p:sp>
      <p:sp>
        <p:nvSpPr>
          <p:cNvPr id="6" name="Shape 3"/>
          <p:cNvSpPr/>
          <p:nvPr/>
        </p:nvSpPr>
        <p:spPr>
          <a:xfrm>
            <a:off x="4023360" y="1402080"/>
            <a:ext cx="4145280" cy="1828800"/>
          </a:xfrm>
          <a:prstGeom prst="roundRect">
            <a:avLst>
              <a:gd name="adj" fmla="val 50000"/>
            </a:avLst>
          </a:prstGeom>
          <a:solidFill>
            <a:srgbClr val="D4943A"/>
          </a:solidFill>
          <a:ln w="25400">
            <a:solidFill>
              <a:srgbClr val="FFFFFF"/>
            </a:solidFill>
            <a:prstDash val="solid"/>
          </a:ln>
        </p:spPr>
      </p:sp>
      <p:sp>
        <p:nvSpPr>
          <p:cNvPr id="7" name="Text 4"/>
          <p:cNvSpPr/>
          <p:nvPr/>
        </p:nvSpPr>
        <p:spPr>
          <a:xfrm>
            <a:off x="4023360" y="1828800"/>
            <a:ext cx="4145280" cy="609600"/>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WISE TRADER</a:t>
            </a:r>
            <a:endParaRPr lang="en-US" sz="2000" dirty="0"/>
          </a:p>
        </p:txBody>
      </p:sp>
      <p:sp>
        <p:nvSpPr>
          <p:cNvPr id="8" name="Text 5"/>
          <p:cNvSpPr/>
          <p:nvPr/>
        </p:nvSpPr>
        <p:spPr>
          <a:xfrm>
            <a:off x="4023360" y="2438400"/>
            <a:ext cx="4145280" cy="365760"/>
          </a:xfrm>
          <a:prstGeom prst="rect">
            <a:avLst/>
          </a:prstGeom>
          <a:noFill/>
          <a:ln/>
        </p:spPr>
        <p:txBody>
          <a:bodyPr wrap="square" lIns="0" tIns="0" rIns="0" bIns="0" rtlCol="0" anchor="ctr"/>
          <a:lstStyle/>
          <a:p>
            <a:pPr algn="ctr" indent="0" marL="0">
              <a:buNone/>
            </a:pPr>
            <a:r>
              <a:rPr lang="en-US" sz="800" b="1" spc="100" kern="0" dirty="0">
                <a:solidFill>
                  <a:srgbClr val="0E1C42"/>
                </a:solidFill>
                <a:latin typeface="Calibri" pitchFamily="34" charset="0"/>
                <a:ea typeface="Calibri" pitchFamily="34" charset="-122"/>
                <a:cs typeface="Calibri" pitchFamily="34" charset="-120"/>
              </a:rPr>
              <a:t>GRADE 3 · MARKETPLACE HALL · BASICS OF ECONOMICS</a:t>
            </a:r>
            <a:endParaRPr lang="en-US" sz="800" dirty="0"/>
          </a:p>
        </p:txBody>
      </p:sp>
      <p:sp>
        <p:nvSpPr>
          <p:cNvPr id="9" name="Text 6"/>
          <p:cNvSpPr/>
          <p:nvPr/>
        </p:nvSpPr>
        <p:spPr>
          <a:xfrm>
            <a:off x="1584960" y="3657600"/>
            <a:ext cx="8534400" cy="170688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For closing the Marketplace Hall with honesty and responsibility -- and for explaining why every exhibit, from the first booth to the Decision Board, depends on the people inside it. You have earned the title of Wise Trader.</a:t>
            </a:r>
            <a:endParaRPr lang="en-US" sz="1400" dirty="0"/>
          </a:p>
        </p:txBody>
      </p:sp>
      <p:sp>
        <p:nvSpPr>
          <p:cNvPr id="10" name="Text 7"/>
          <p:cNvSpPr/>
          <p:nvPr/>
        </p:nvSpPr>
        <p:spPr>
          <a:xfrm>
            <a:off x="1584960" y="5547360"/>
            <a:ext cx="8534400" cy="487680"/>
          </a:xfrm>
          <a:prstGeom prst="rect">
            <a:avLst/>
          </a:prstGeom>
          <a:noFill/>
          <a:ln/>
        </p:spPr>
        <p:txBody>
          <a:bodyPr wrap="square" lIns="0" tIns="0" rIns="0" bIns="0" rtlCol="0" anchor="ctr"/>
          <a:lstStyle/>
          <a:p>
            <a:pPr algn="ctr" indent="0" marL="0">
              <a:buNone/>
            </a:pPr>
            <a:r>
              <a:rPr lang="en-US" sz="1100" i="1" dirty="0">
                <a:solidFill>
                  <a:srgbClr val="EAF8FD"/>
                </a:solidFill>
                <a:latin typeface="Calibri" pitchFamily="34" charset="0"/>
                <a:ea typeface="Calibri" pitchFamily="34" charset="-122"/>
                <a:cs typeface="Calibri" pitchFamily="34" charset="-120"/>
              </a:rPr>
              <a:t>-- Awarded by the Head Curator, Optima Academy Online · Grade 3 Social Studies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Check Your Understanding</a:t>
            </a:r>
            <a:endParaRPr lang="en-US" sz="28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does honesty mean in a marketplace?</a:t>
            </a:r>
            <a:endParaRPr lang="en-US" sz="130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 Telling the truth about what you have, what you owe, and what you've done.</a:t>
            </a:r>
            <a:endParaRPr lang="en-US" sz="125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Honesty is truth in what you sell, what you pay, and what you label.</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What does responsibility mean for a trader on a long trade route?</a:t>
            </a:r>
            <a:endParaRPr lang="en-US" sz="130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 The trader delivers what was promised, even when the trip gets harder than expected.</a:t>
            </a:r>
            <a:endParaRPr lang="en-US" sz="125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Responsibility means keeping your word -- especially when it's hard.</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Why do honesty and responsibility matter to every exhibit in the Marketplace Hall?</a:t>
            </a:r>
            <a:endParaRPr lang="en-US" sz="130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 Without them, people stop trusting each other and trade, money, and routes all break down.</a:t>
            </a:r>
            <a:endParaRPr lang="en-US" sz="125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Trust is the invisible glue that holds the whole hall together.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FINAL UNIT ASSIGNMENT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Evidence Questions</a:t>
            </a:r>
            <a:endParaRPr lang="en-US" sz="2800" dirty="0"/>
          </a:p>
        </p:txBody>
      </p:sp>
      <p:sp>
        <p:nvSpPr>
          <p:cNvPr id="4" name="Text 2"/>
          <p:cNvSpPr/>
          <p:nvPr/>
        </p:nvSpPr>
        <p:spPr>
          <a:xfrm>
            <a:off x="609600" y="1584960"/>
            <a:ext cx="10607040" cy="4389120"/>
          </a:xfrm>
          <a:prstGeom prst="rect">
            <a:avLst/>
          </a:prstGeom>
          <a:noFill/>
          <a:ln/>
        </p:spPr>
        <p:txBody>
          <a:bodyPr wrap="square" lIns="0" tIns="0" rIns="0" bIns="0" rtlCol="0" anchor="t"/>
          <a:lstStyle/>
          <a:p>
            <a:pPr indent="0" marL="0">
              <a:spcAft>
                <a:spcPts val="1400"/>
              </a:spcAft>
              <a:buNone/>
            </a:pPr>
            <a:r>
              <a:rPr lang="en-US" sz="1400" dirty="0">
                <a:solidFill>
                  <a:srgbClr val="0E1C42"/>
                </a:solidFill>
                <a:latin typeface="Calibri" pitchFamily="34" charset="0"/>
                <a:ea typeface="Calibri" pitchFamily="34" charset="-122"/>
                <a:cs typeface="Calibri" pitchFamily="34" charset="-120"/>
              </a:rPr>
              <a:t>1. In your own words, what is the difference between honesty and responsibility in a marketplace? Give one example of each.</a:t>
            </a:r>
            <a:endParaRPr lang="en-US" sz="1400" dirty="0"/>
          </a:p>
          <a:p>
            <a:pPr indent="0" marL="0">
              <a:spcAft>
                <a:spcPts val="1400"/>
              </a:spcAft>
              <a:buNone/>
            </a:pPr>
            <a:r>
              <a:rPr lang="en-US" sz="1400" dirty="0">
                <a:solidFill>
                  <a:srgbClr val="0E1C42"/>
                </a:solidFill>
                <a:latin typeface="Calibri" pitchFamily="34" charset="0"/>
                <a:ea typeface="Calibri" pitchFamily="34" charset="-122"/>
                <a:cs typeface="Calibri" pitchFamily="34" charset="-120"/>
              </a:rPr>
              <a:t>2. Pick one exhibit from earlier in the unit (trade tables, money case, trade routes map, or Decision Board). Explain why that exhibit would stop working if people stopped being honest or responsible.</a:t>
            </a:r>
            <a:endParaRPr lang="en-US" sz="1400" dirty="0"/>
          </a:p>
          <a:p>
            <a:pPr indent="0" marL="0">
              <a:spcAft>
                <a:spcPts val="1400"/>
              </a:spcAft>
              <a:buNone/>
            </a:pPr>
            <a:r>
              <a:rPr lang="en-US" sz="1400" dirty="0">
                <a:solidFill>
                  <a:srgbClr val="0E1C42"/>
                </a:solidFill>
                <a:latin typeface="Calibri" pitchFamily="34" charset="0"/>
                <a:ea typeface="Calibri" pitchFamily="34" charset="-122"/>
                <a:cs typeface="Calibri" pitchFamily="34" charset="-120"/>
              </a:rPr>
              <a:t>3. Why might a community spend money on rules, signs, or inspectors that just check whether people are honest? What does that tell you about how much honesty is worth?</a:t>
            </a:r>
            <a:endParaRPr lang="en-US" sz="1400" dirty="0"/>
          </a:p>
        </p:txBody>
      </p:sp>
      <p:sp>
        <p:nvSpPr>
          <p:cNvPr id="5" name="Text 3"/>
          <p:cNvSpPr/>
          <p:nvPr/>
        </p:nvSpPr>
        <p:spPr>
          <a:xfrm>
            <a:off x="609600" y="6156960"/>
            <a:ext cx="1060704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using details from the lesson and from the whole unit.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CURATOR TASK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Wise Trader Plaque</a:t>
            </a:r>
            <a:endParaRPr lang="en-US" sz="2800" dirty="0"/>
          </a:p>
        </p:txBody>
      </p:sp>
      <p:sp>
        <p:nvSpPr>
          <p:cNvPr id="4" name="Text 2"/>
          <p:cNvSpPr/>
          <p:nvPr/>
        </p:nvSpPr>
        <p:spPr>
          <a:xfrm>
            <a:off x="609600" y="1584960"/>
            <a:ext cx="10607040" cy="182880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This is it -- the last panel in the whole Marketplace Hall. The head curator wants visitors who finish walking the entire exhibit to stop in front of this plaque and remember what they've learned. Write a short plaque (4-5 sentences) that tells visitors what makes a person a Wise Trader.</a:t>
            </a:r>
            <a:endParaRPr lang="en-US" sz="1350" dirty="0"/>
          </a:p>
        </p:txBody>
      </p:sp>
      <p:sp>
        <p:nvSpPr>
          <p:cNvPr id="5" name="Shape 3"/>
          <p:cNvSpPr/>
          <p:nvPr/>
        </p:nvSpPr>
        <p:spPr>
          <a:xfrm>
            <a:off x="609600" y="3474720"/>
            <a:ext cx="10607040" cy="2804160"/>
          </a:xfrm>
          <a:prstGeom prst="roundRect">
            <a:avLst>
              <a:gd name="adj" fmla="val 5217"/>
            </a:avLst>
          </a:prstGeom>
          <a:solidFill>
            <a:srgbClr val="FFF3DC"/>
          </a:solidFill>
          <a:ln/>
        </p:spPr>
      </p:sp>
      <p:sp>
        <p:nvSpPr>
          <p:cNvPr id="6" name="Text 4"/>
          <p:cNvSpPr/>
          <p:nvPr/>
        </p:nvSpPr>
        <p:spPr>
          <a:xfrm>
            <a:off x="853440" y="3657600"/>
            <a:ext cx="1011936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Your plaque must:</a:t>
            </a:r>
            <a:endParaRPr lang="en-US" sz="1200" dirty="0"/>
          </a:p>
        </p:txBody>
      </p:sp>
      <p:sp>
        <p:nvSpPr>
          <p:cNvPr id="7" name="Text 5"/>
          <p:cNvSpPr/>
          <p:nvPr/>
        </p:nvSpPr>
        <p:spPr>
          <a:xfrm>
            <a:off x="1036320" y="4084320"/>
            <a:ext cx="975360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0E1C42"/>
                </a:solidFill>
                <a:latin typeface="Calibri" pitchFamily="34" charset="0"/>
                <a:ea typeface="Calibri" pitchFamily="34" charset="-122"/>
                <a:cs typeface="Calibri" pitchFamily="34" charset="-120"/>
              </a:rPr>
              <a:t>Use at least four of these unit words: scarcity, choice, trade, goods, services, buyers, sellers, money, currencies, trade routes, costs, benefits.</a:t>
            </a:r>
            <a:endParaRPr lang="en-US" sz="1250" dirty="0"/>
          </a:p>
          <a:p>
            <a:pPr marL="342900" indent="-342900">
              <a:spcAft>
                <a:spcPts val="800"/>
              </a:spcAft>
              <a:buSzPct val="100000"/>
              <a:buChar char="•"/>
            </a:pPr>
            <a:r>
              <a:rPr lang="en-US" sz="1250" dirty="0">
                <a:solidFill>
                  <a:srgbClr val="0E1C42"/>
                </a:solidFill>
                <a:latin typeface="Calibri" pitchFamily="34" charset="0"/>
                <a:ea typeface="Calibri" pitchFamily="34" charset="-122"/>
                <a:cs typeface="Calibri" pitchFamily="34" charset="-120"/>
              </a:rPr>
              <a:t>Name both honesty and responsibility as part of what a Wise Trader does.</a:t>
            </a:r>
            <a:endParaRPr lang="en-US" sz="1250" dirty="0"/>
          </a:p>
          <a:p>
            <a:pPr marL="342900" indent="-342900">
              <a:spcAft>
                <a:spcPts val="800"/>
              </a:spcAft>
              <a:buSzPct val="100000"/>
              <a:buChar char="•"/>
            </a:pPr>
            <a:r>
              <a:rPr lang="en-US" sz="1250" dirty="0">
                <a:solidFill>
                  <a:srgbClr val="0E1C42"/>
                </a:solidFill>
                <a:latin typeface="Calibri" pitchFamily="34" charset="0"/>
                <a:ea typeface="Calibri" pitchFamily="34" charset="-122"/>
                <a:cs typeface="Calibri" pitchFamily="34" charset="-120"/>
              </a:rPr>
              <a:t>End with one sentence about why a Wise Trader matters to a whole community.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CURATOR'S CHRONICLE · FINAL ENTRY OF THE UNIT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One Sentence to Close the Marketplace Hall</a:t>
            </a:r>
            <a:endParaRPr lang="en-US" sz="2800" dirty="0"/>
          </a:p>
        </p:txBody>
      </p:sp>
      <p:sp>
        <p:nvSpPr>
          <p:cNvPr id="4" name="Shape 2"/>
          <p:cNvSpPr/>
          <p:nvPr/>
        </p:nvSpPr>
        <p:spPr>
          <a:xfrm>
            <a:off x="1097280" y="1950720"/>
            <a:ext cx="9631680" cy="2438400"/>
          </a:xfrm>
          <a:prstGeom prst="roundRect">
            <a:avLst>
              <a:gd name="adj" fmla="val 7500"/>
            </a:avLst>
          </a:prstGeom>
          <a:solidFill>
            <a:srgbClr val="FFFFFF"/>
          </a:solidFill>
          <a:ln w="19050">
            <a:solidFill>
              <a:srgbClr val="D4943A"/>
            </a:solidFill>
            <a:prstDash val="dash"/>
          </a:ln>
        </p:spPr>
      </p:sp>
      <p:sp>
        <p:nvSpPr>
          <p:cNvPr id="5" name="Text 3"/>
          <p:cNvSpPr/>
          <p:nvPr/>
        </p:nvSpPr>
        <p:spPr>
          <a:xfrm>
            <a:off x="1463040" y="1950720"/>
            <a:ext cx="8900160" cy="2438400"/>
          </a:xfrm>
          <a:prstGeom prst="rect">
            <a:avLst/>
          </a:prstGeom>
          <a:noFill/>
          <a:ln/>
        </p:spPr>
        <p:txBody>
          <a:bodyPr wrap="square" lIns="0" tIns="0" rIns="0" bIns="0" rtlCol="0" anchor="ctr"/>
          <a:lstStyle/>
          <a:p>
            <a:pPr algn="ctr" indent="0" marL="0">
              <a:buNone/>
            </a:pPr>
            <a:r>
              <a:rPr lang="en-US" sz="2000" i="1" dirty="0">
                <a:solidFill>
                  <a:srgbClr val="0E1C42"/>
                </a:solidFill>
                <a:latin typeface="Cambria" pitchFamily="34" charset="0"/>
                <a:ea typeface="Cambria" pitchFamily="34" charset="-122"/>
                <a:cs typeface="Cambria" pitchFamily="34" charset="-120"/>
              </a:rPr>
              <a:t>In the Marketplace Hall, I learned that ______ because ______.</a:t>
            </a:r>
            <a:endParaRPr lang="en-US" sz="2000" dirty="0"/>
          </a:p>
        </p:txBody>
      </p:sp>
      <p:sp>
        <p:nvSpPr>
          <p:cNvPr id="6" name="Text 4"/>
          <p:cNvSpPr/>
          <p:nvPr/>
        </p:nvSpPr>
        <p:spPr>
          <a:xfrm>
            <a:off x="1097280" y="4693920"/>
            <a:ext cx="9631680" cy="487680"/>
          </a:xfrm>
          <a:prstGeom prst="rect">
            <a:avLst/>
          </a:prstGeom>
          <a:noFill/>
          <a:ln/>
        </p:spPr>
        <p:txBody>
          <a:bodyPr wrap="square" lIns="0" tIns="0" rIns="0" bIns="0"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Finish this sentence in your own words.</a:t>
            </a:r>
            <a:endParaRPr lang="en-US" sz="1300" dirty="0"/>
          </a:p>
        </p:txBody>
      </p:sp>
      <p:sp>
        <p:nvSpPr>
          <p:cNvPr id="7" name="Shape 5"/>
          <p:cNvSpPr/>
          <p:nvPr/>
        </p:nvSpPr>
        <p:spPr>
          <a:xfrm>
            <a:off x="1097280" y="5303520"/>
            <a:ext cx="9631680" cy="1036320"/>
          </a:xfrm>
          <a:prstGeom prst="roundRect">
            <a:avLst>
              <a:gd name="adj" fmla="val 14118"/>
            </a:avLst>
          </a:prstGeom>
          <a:solidFill>
            <a:srgbClr val="FFF3DC"/>
          </a:solidFill>
          <a:ln w="19050">
            <a:solidFill>
              <a:srgbClr val="F5E6C8"/>
            </a:solidFill>
            <a:prstDash val="solid"/>
          </a:ln>
        </p:spPr>
      </p:sp>
      <p:sp>
        <p:nvSpPr>
          <p:cNvPr id="8" name="Text 6"/>
          <p:cNvSpPr/>
          <p:nvPr/>
        </p:nvSpPr>
        <p:spPr>
          <a:xfrm>
            <a:off x="1280160" y="5376672"/>
            <a:ext cx="92659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1280160" y="5644896"/>
            <a:ext cx="9265920" cy="609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the Marketplace Hall, I learned that... because..."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SUBMIT YOUR WORK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Turn-In Checklist</a:t>
            </a:r>
            <a:endParaRPr lang="en-US" sz="2800" dirty="0"/>
          </a:p>
        </p:txBody>
      </p:sp>
      <p:sp>
        <p:nvSpPr>
          <p:cNvPr id="4" name="Text 2"/>
          <p:cNvSpPr/>
          <p:nvPr/>
        </p:nvSpPr>
        <p:spPr>
          <a:xfrm>
            <a:off x="609600" y="1584960"/>
            <a:ext cx="10607040" cy="4876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Check each item as you finish. When all are checked, you're done with Unit 9!</a:t>
            </a:r>
            <a:endParaRPr lang="en-US" sz="1400" dirty="0"/>
          </a:p>
        </p:txBody>
      </p:sp>
      <p:sp>
        <p:nvSpPr>
          <p:cNvPr id="5" name="Text 3"/>
          <p:cNvSpPr/>
          <p:nvPr/>
        </p:nvSpPr>
        <p:spPr>
          <a:xfrm>
            <a:off x="853440" y="2255520"/>
            <a:ext cx="10119360" cy="365760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0E1C42"/>
                </a:solidFill>
                <a:latin typeface="Calibri" pitchFamily="34" charset="0"/>
                <a:ea typeface="Calibri" pitchFamily="34" charset="-122"/>
                <a:cs typeface="Calibri" pitchFamily="34" charset="-120"/>
              </a:rPr>
              <a:t>I answered the evidence questions.</a:t>
            </a:r>
            <a:endParaRPr lang="en-US" sz="1500" dirty="0"/>
          </a:p>
          <a:p>
            <a:pPr marL="342900" indent="-342900">
              <a:spcAft>
                <a:spcPts val="1400"/>
              </a:spcAft>
              <a:buSzPct val="100000"/>
              <a:buChar char="•"/>
            </a:pPr>
            <a:r>
              <a:rPr lang="en-US" sz="1500" dirty="0">
                <a:solidFill>
                  <a:srgbClr val="0E1C42"/>
                </a:solidFill>
                <a:latin typeface="Calibri" pitchFamily="34" charset="0"/>
                <a:ea typeface="Calibri" pitchFamily="34" charset="-122"/>
                <a:cs typeface="Calibri" pitchFamily="34" charset="-120"/>
              </a:rPr>
              <a:t>I wrote the Wise Trader Plaque using at least four unit words.</a:t>
            </a:r>
            <a:endParaRPr lang="en-US" sz="1500" dirty="0"/>
          </a:p>
          <a:p>
            <a:pPr marL="342900" indent="-342900">
              <a:spcAft>
                <a:spcPts val="1400"/>
              </a:spcAft>
              <a:buSzPct val="100000"/>
              <a:buChar char="•"/>
            </a:pPr>
            <a:r>
              <a:rPr lang="en-US" sz="1500" dirty="0">
                <a:solidFill>
                  <a:srgbClr val="0E1C42"/>
                </a:solidFill>
                <a:latin typeface="Calibri" pitchFamily="34" charset="0"/>
                <a:ea typeface="Calibri" pitchFamily="34" charset="-122"/>
                <a:cs typeface="Calibri" pitchFamily="34" charset="-120"/>
              </a:rPr>
              <a:t>I wrote my final Curator's Chronicle.</a:t>
            </a:r>
            <a:endParaRPr lang="en-US" sz="1500" dirty="0"/>
          </a:p>
          <a:p>
            <a:pPr marL="342900" indent="-342900">
              <a:spcAft>
                <a:spcPts val="1400"/>
              </a:spcAft>
              <a:buSzPct val="100000"/>
              <a:buChar char="•"/>
            </a:pPr>
            <a:r>
              <a:rPr lang="en-US" sz="1500" dirty="0">
                <a:solidFill>
                  <a:srgbClr val="0E1C42"/>
                </a:solidFill>
                <a:latin typeface="Calibri" pitchFamily="34" charset="0"/>
                <a:ea typeface="Calibri" pitchFamily="34" charset="-122"/>
                <a:cs typeface="Calibri" pitchFamily="34" charset="-120"/>
              </a:rPr>
              <a:t>I copied or downloaded my work and submitted to Canvas.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UNIT FAREWELL</a:t>
            </a:r>
            <a:endParaRPr lang="en-US" sz="1200" dirty="0"/>
          </a:p>
        </p:txBody>
      </p:sp>
      <p:sp>
        <p:nvSpPr>
          <p:cNvPr id="6" name="Text 3"/>
          <p:cNvSpPr/>
          <p:nvPr/>
        </p:nvSpPr>
        <p:spPr>
          <a:xfrm>
            <a:off x="975360" y="1158240"/>
            <a:ext cx="9753600" cy="85344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Wise Trader Earned -- Unit 9 Complete</a:t>
            </a:r>
            <a:endParaRPr lang="en-US" sz="2800" dirty="0"/>
          </a:p>
        </p:txBody>
      </p:sp>
      <p:sp>
        <p:nvSpPr>
          <p:cNvPr id="7" name="Text 4"/>
          <p:cNvSpPr/>
          <p:nvPr/>
        </p:nvSpPr>
        <p:spPr>
          <a:xfrm>
            <a:off x="1219200" y="2255520"/>
            <a:ext cx="9387840" cy="12192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You built the entire Marketplace Hall -- scarcity, choice, trade, goods and services, buyers and sellers, money, trade routes, decisions -- and the two virtues that held it all together.</a:t>
            </a:r>
            <a:endParaRPr lang="en-US" sz="1400" dirty="0"/>
          </a:p>
        </p:txBody>
      </p:sp>
      <p:sp>
        <p:nvSpPr>
          <p:cNvPr id="8" name="Shape 5"/>
          <p:cNvSpPr/>
          <p:nvPr/>
        </p:nvSpPr>
        <p:spPr>
          <a:xfrm>
            <a:off x="1463040" y="3596640"/>
            <a:ext cx="8900160" cy="1889760"/>
          </a:xfrm>
          <a:prstGeom prst="roundRect">
            <a:avLst>
              <a:gd name="adj" fmla="val 7742"/>
            </a:avLst>
          </a:prstGeom>
          <a:solidFill>
            <a:srgbClr val="0E1C42"/>
          </a:solidFill>
          <a:ln w="19050">
            <a:solidFill>
              <a:srgbClr val="1A8A7D"/>
            </a:solidFill>
            <a:prstDash val="solid"/>
          </a:ln>
        </p:spPr>
      </p:sp>
      <p:sp>
        <p:nvSpPr>
          <p:cNvPr id="9" name="Text 6"/>
          <p:cNvSpPr/>
          <p:nvPr/>
        </p:nvSpPr>
        <p:spPr>
          <a:xfrm>
            <a:off x="1706880" y="377952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A NEW GALLERY IS BEING BUILT</a:t>
            </a:r>
            <a:endParaRPr lang="en-US" sz="1100" dirty="0"/>
          </a:p>
        </p:txBody>
      </p:sp>
      <p:sp>
        <p:nvSpPr>
          <p:cNvPr id="10" name="Text 7"/>
          <p:cNvSpPr/>
          <p:nvPr/>
        </p:nvSpPr>
        <p:spPr>
          <a:xfrm>
            <a:off x="1706880" y="4206240"/>
            <a:ext cx="8412480" cy="121920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Workers carry chairs and a long table down the corridor. A ballot box waits in the corner. Next week, you step into the Civics Hall as a Civic Curator -- and ask a brand-new question: why do communities need government?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2026-07-11T19:13:19Z</dcterms:created>
  <dcterms:modified xsi:type="dcterms:W3CDTF">2026-07-11T19:13:19Z</dcterms:modified>
</cp:coreProperties>
</file>