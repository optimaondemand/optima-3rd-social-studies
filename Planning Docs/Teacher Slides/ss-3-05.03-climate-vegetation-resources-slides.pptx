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three contrasting biomes: desert dunes, lush rainforest, and icy tundra — split panorama styleTitle slide. Welcome students. IMAGE TO INSERT: Aerial split panorama of desert/rainforest/tundra.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hall with a large world map on a wall and three blank panels beside it — dramatic lightingRead the museum hook. Build curiosity — WHY are the panels blank? IMAGE TO INSERT: Museum hall with world map and blank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Curator's Question aloud. Discuss honesty. Introduce thinking move: Notice &gt; Name &gt; Narrate.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slide. Climate = long-term weather pattern, NOT today's forecast. Ask Socratic questions to get students thinking about weather vs.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Vegetation = plant life. Key idea: climate drives vegetation. Warm+wet = forests, hot+dry = shrubs, cold = almost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resources = useful things from nature. Students name examples. Connect to daily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all three zones side by side. Students should notice the connection: climate drives vegetation and resource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source photograph. Walk students through the three-question framework. Let them observe before you tell them what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matching. Cover the right side first, let students predict. Then reveal. Students should narrate their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&amp; Now comparison. Key idea: people have always needed resources; what changed is HOW we get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definitions. These are the three big ideas. Students copy to Curator's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fun fact to energize the class. Emphasize: vegetation can actually CREATE climate patterns. Brief —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Virtue connection. Honesty = being accurate and complete. A one-word description of a whole continent is not honest. Students discuss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(required). Show mistakes one at a time. Cover right column. Let students identify the error before revealing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Q1. Answer: B. Climate is the weather pattern over a long time. Let students answer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Q2 &amp; Q3. Q2 answer: A (warm and wet). Q3 answer: C (useful things from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Q1. Read the question aloud. Model the thinking: climate is NOT today's weather. Give key words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 Evidence Q2. Read the question. Show sentence starters. Students should pick ONE place and describe all three: climate, vegetation,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 Task aloud. Model one example panel sentence. Then read the Chronicle prompt. Students complete both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Museum world map with three now-filled panels glowing beside it — celebratory lightingClosing. Celebrate. Tease next lesson: scavenger hunt clue cards with two kinds of directions. IMAGE TO INSERT: Museum map with filled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1950720"/>
            <a:ext cx="14305280" cy="2600960"/>
          </a:xfrm>
          <a:prstGeom prst="rect">
            <a:avLst/>
          </a:prstGeom>
          <a:noFill/>
          <a:ln/>
        </p:spPr>
        <p:txBody>
          <a:bodyPr wrap="square" rtlCol="0" anchor="ctr"/>
          <a:lstStyle/>
          <a:p>
            <a:pPr algn="ctr" indent="0" marL="0">
              <a:lnSpc>
                <a:spcPct val="110000"/>
              </a:lnSpc>
              <a:buNone/>
            </a:pPr>
            <a:r>
              <a:rPr lang="en-US" sz="3600" b="1" dirty="0">
                <a:solidFill>
                  <a:srgbClr val="FFFFFF"/>
                </a:solidFill>
                <a:latin typeface="Cambria" pitchFamily="34" charset="0"/>
                <a:ea typeface="Cambria" pitchFamily="34" charset="-122"/>
                <a:cs typeface="Cambria" pitchFamily="34" charset="-120"/>
              </a:rPr>
              <a:t>Climate, Vegetation, and</a:t>
            </a:r>
            <a:endParaRPr lang="en-US" sz="3600" dirty="0"/>
          </a:p>
          <a:p>
            <a:pPr algn="ctr" indent="0" marL="0">
              <a:lnSpc>
                <a:spcPct val="110000"/>
              </a:lnSpc>
              <a:buNone/>
            </a:pPr>
            <a:r>
              <a:rPr lang="en-US" sz="3600" b="1" dirty="0">
                <a:solidFill>
                  <a:srgbClr val="FFFFFF"/>
                </a:solidFill>
                <a:latin typeface="Cambria" pitchFamily="34" charset="0"/>
                <a:ea typeface="Cambria" pitchFamily="34" charset="-122"/>
                <a:cs typeface="Cambria" pitchFamily="34" charset="-120"/>
              </a:rPr>
              <a:t>Natural Resources</a:t>
            </a:r>
            <a:endParaRPr lang="en-US" sz="3600" dirty="0"/>
          </a:p>
        </p:txBody>
      </p:sp>
      <p:sp>
        <p:nvSpPr>
          <p:cNvPr id="6" name="Text 3"/>
          <p:cNvSpPr/>
          <p:nvPr/>
        </p:nvSpPr>
        <p:spPr>
          <a:xfrm>
            <a:off x="975360" y="4714240"/>
            <a:ext cx="14305280" cy="650240"/>
          </a:xfrm>
          <a:prstGeom prst="rect">
            <a:avLst/>
          </a:prstGeom>
          <a:noFill/>
          <a:ln/>
        </p:spPr>
        <p:txBody>
          <a:bodyPr wrap="square" rtlCol="0" anchor="ctr"/>
          <a:lstStyle/>
          <a:p>
            <a:pPr algn="ctr" indent="0" marL="0">
              <a:buNone/>
            </a:pPr>
            <a:r>
              <a:rPr lang="en-US" sz="1400" dirty="0">
                <a:solidFill>
                  <a:srgbClr val="55C8E8"/>
                </a:solidFill>
                <a:latin typeface="Calibri" pitchFamily="34" charset="0"/>
                <a:ea typeface="Calibri" pitchFamily="34" charset="-122"/>
                <a:cs typeface="Calibri" pitchFamily="34" charset="-120"/>
              </a:rPr>
              <a:t>Lesson 3.05.03  |  Week 13  |  Great Map Room</a:t>
            </a:r>
            <a:endParaRPr lang="en-US" sz="1400" dirty="0"/>
          </a:p>
        </p:txBody>
      </p:sp>
      <p:sp>
        <p:nvSpPr>
          <p:cNvPr id="7" name="Text 4"/>
          <p:cNvSpPr/>
          <p:nvPr/>
        </p:nvSpPr>
        <p:spPr>
          <a:xfrm>
            <a:off x="975360" y="5527040"/>
            <a:ext cx="14305280" cy="568960"/>
          </a:xfrm>
          <a:prstGeom prst="rect">
            <a:avLst/>
          </a:prstGeom>
          <a:noFill/>
          <a:ln/>
        </p:spPr>
        <p:txBody>
          <a:bodyPr wrap="square"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Optima Academy Online  |  Grade 3 Social Studies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812800"/>
            <a:ext cx="14305280" cy="975360"/>
          </a:xfrm>
          <a:prstGeom prst="rect">
            <a:avLst/>
          </a:prstGeom>
          <a:noFill/>
          <a:ln/>
        </p:spPr>
        <p:txBody>
          <a:bodyPr wrap="square"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The Blank Panels</a:t>
            </a:r>
            <a:endParaRPr lang="en-US" sz="2800" dirty="0"/>
          </a:p>
        </p:txBody>
      </p:sp>
      <p:sp>
        <p:nvSpPr>
          <p:cNvPr id="6" name="Shape 3"/>
          <p:cNvSpPr/>
          <p:nvPr/>
        </p:nvSpPr>
        <p:spPr>
          <a:xfrm>
            <a:off x="1625600" y="2113280"/>
            <a:ext cx="13004800" cy="4226560"/>
          </a:xfrm>
          <a:prstGeom prst="roundRect">
            <a:avLst>
              <a:gd name="adj" fmla="val 5769"/>
            </a:avLst>
          </a:prstGeom>
          <a:solidFill>
            <a:srgbClr val="0E1C42">
              <a:alpha val="70000"/>
            </a:srgbClr>
          </a:solidFill>
          <a:ln w="12700">
            <a:solidFill>
              <a:srgbClr val="3A5080"/>
            </a:solidFill>
            <a:prstDash val="solid"/>
          </a:ln>
        </p:spPr>
      </p:sp>
      <p:sp>
        <p:nvSpPr>
          <p:cNvPr id="7" name="Text 4"/>
          <p:cNvSpPr/>
          <p:nvPr/>
        </p:nvSpPr>
        <p:spPr>
          <a:xfrm>
            <a:off x="2113280" y="2438400"/>
            <a:ext cx="12029440" cy="3576320"/>
          </a:xfrm>
          <a:prstGeom prst="rect">
            <a:avLst/>
          </a:prstGeom>
          <a:noFill/>
          <a:ln/>
        </p:spPr>
        <p:txBody>
          <a:bodyPr wrap="square"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The world map has continents, oceans, and features now. But three large panels next to it are still </a:t>
            </a:r>
            <a:pPr indent="0" marL="0">
              <a:lnSpc>
                <a:spcPct val="125000"/>
              </a:lnSpc>
              <a:buNone/>
            </a:pPr>
            <a:r>
              <a:rPr lang="en-US" sz="1400" b="1" dirty="0">
                <a:solidFill>
                  <a:srgbClr val="D4943A"/>
                </a:solidFill>
                <a:latin typeface="Calibri" pitchFamily="34" charset="0"/>
                <a:ea typeface="Calibri" pitchFamily="34" charset="-122"/>
                <a:cs typeface="Calibri" pitchFamily="34" charset="-120"/>
              </a:rPr>
              <a:t>completely blank.</a:t>
            </a:r>
            <a:pPr indent="0" marL="0">
              <a:lnSpc>
                <a:spcPct val="125000"/>
              </a:lnSpc>
              <a:buNone/>
            </a:pPr>
            <a:endParaRPr lang="en-US" sz="1400" dirty="0"/>
          </a:p>
          <a:p>
            <a:pPr indent="0" marL="0">
              <a:lnSpc>
                <a:spcPct val="125000"/>
              </a:lnSpc>
              <a:buNone/>
            </a:pPr>
            <a:endParaRPr lang="en-US" sz="1400" dirty="0"/>
          </a:p>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The head curator frowns: </a:t>
            </a:r>
            <a:endParaRPr lang="en-US" sz="1400" dirty="0"/>
          </a:p>
          <a:p>
            <a:pPr indent="0" marL="0">
              <a:lnSpc>
                <a:spcPct val="125000"/>
              </a:lnSpc>
              <a:buNone/>
            </a:pPr>
            <a:r>
              <a:rPr lang="en-US" sz="1400" i="1" dirty="0">
                <a:solidFill>
                  <a:srgbClr val="55C8E8"/>
                </a:solidFill>
                <a:latin typeface="Cambria" pitchFamily="34" charset="0"/>
                <a:ea typeface="Cambria" pitchFamily="34" charset="-122"/>
                <a:cs typeface="Cambria" pitchFamily="34" charset="-120"/>
              </a:rPr>
              <a:t>"These panels are supposed to show climate, vegetation, and natural resources. A map that only shows where things are isn't enough."</a:t>
            </a:r>
            <a:endParaRPr lang="en-US" sz="1400" dirty="0"/>
          </a:p>
        </p:txBody>
      </p:sp>
      <p:sp>
        <p:nvSpPr>
          <p:cNvPr id="8" name="Text 5"/>
          <p:cNvSpPr/>
          <p:nvPr/>
        </p:nvSpPr>
        <p:spPr>
          <a:xfrm>
            <a:off x="1625600" y="6827520"/>
            <a:ext cx="13004800" cy="650240"/>
          </a:xfrm>
          <a:prstGeom prst="rect">
            <a:avLst/>
          </a:prstGeom>
          <a:noFill/>
          <a:ln/>
        </p:spPr>
        <p:txBody>
          <a:bodyPr wrap="square"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Your job today: Fill in the blank panels.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1A2D5A"/>
          </a:solidFill>
          <a:ln/>
        </p:spPr>
      </p:sp>
      <p:sp>
        <p:nvSpPr>
          <p:cNvPr id="3" name="Text 1"/>
          <p:cNvSpPr/>
          <p:nvPr/>
        </p:nvSpPr>
        <p:spPr>
          <a:xfrm>
            <a:off x="975360" y="568960"/>
            <a:ext cx="14305280" cy="73152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Curator's Question</a:t>
            </a:r>
            <a:endParaRPr lang="en-US" sz="1000" dirty="0"/>
          </a:p>
        </p:txBody>
      </p:sp>
      <p:sp>
        <p:nvSpPr>
          <p:cNvPr id="4" name="Shape 2"/>
          <p:cNvSpPr/>
          <p:nvPr/>
        </p:nvSpPr>
        <p:spPr>
          <a:xfrm>
            <a:off x="1950720" y="1463040"/>
            <a:ext cx="12354560" cy="1788160"/>
          </a:xfrm>
          <a:prstGeom prst="roundRect">
            <a:avLst>
              <a:gd name="adj" fmla="val 13636"/>
            </a:avLst>
          </a:prstGeom>
          <a:solidFill>
            <a:srgbClr val="0E1C42"/>
          </a:solidFill>
          <a:ln w="25400">
            <a:solidFill>
              <a:srgbClr val="D4943A"/>
            </a:solidFill>
            <a:prstDash val="solid"/>
          </a:ln>
        </p:spPr>
      </p:sp>
      <p:sp>
        <p:nvSpPr>
          <p:cNvPr id="5" name="Text 3"/>
          <p:cNvSpPr/>
          <p:nvPr/>
        </p:nvSpPr>
        <p:spPr>
          <a:xfrm>
            <a:off x="2438400" y="1625600"/>
            <a:ext cx="11379200" cy="1463040"/>
          </a:xfrm>
          <a:prstGeom prst="rect">
            <a:avLst/>
          </a:prstGeom>
          <a:noFill/>
          <a:ln/>
        </p:spPr>
        <p:txBody>
          <a:bodyPr wrap="square" rtlCol="0" anchor="ctr"/>
          <a:lstStyle/>
          <a:p>
            <a:pPr algn="ctr" indent="0" marL="0">
              <a:buNone/>
            </a:pPr>
            <a:r>
              <a:rPr lang="en-US" sz="1600" b="1" i="1" dirty="0">
                <a:solidFill>
                  <a:srgbClr val="FFFFFF"/>
                </a:solidFill>
                <a:latin typeface="Cambria" pitchFamily="34" charset="0"/>
                <a:ea typeface="Cambria" pitchFamily="34" charset="-122"/>
                <a:cs typeface="Cambria" pitchFamily="34" charset="-120"/>
              </a:rPr>
              <a:t>Why do museum visitors need to know about climate, vegetation, and resources — not just where places are?</a:t>
            </a:r>
            <a:endParaRPr lang="en-US" sz="1600" dirty="0"/>
          </a:p>
        </p:txBody>
      </p:sp>
      <p:sp>
        <p:nvSpPr>
          <p:cNvPr id="6" name="Shape 4"/>
          <p:cNvSpPr/>
          <p:nvPr/>
        </p:nvSpPr>
        <p:spPr>
          <a:xfrm>
            <a:off x="1950720" y="3738880"/>
            <a:ext cx="12354560" cy="2600960"/>
          </a:xfrm>
          <a:prstGeom prst="roundRect">
            <a:avLst>
              <a:gd name="adj" fmla="val 7500"/>
            </a:avLst>
          </a:prstGeom>
          <a:solidFill>
            <a:srgbClr val="0E1C42"/>
          </a:solidFill>
          <a:ln w="19050">
            <a:solidFill>
              <a:srgbClr val="1A8A7D"/>
            </a:solidFill>
            <a:prstDash val="solid"/>
          </a:ln>
        </p:spPr>
      </p:sp>
      <p:sp>
        <p:nvSpPr>
          <p:cNvPr id="7" name="Text 5"/>
          <p:cNvSpPr/>
          <p:nvPr/>
        </p:nvSpPr>
        <p:spPr>
          <a:xfrm>
            <a:off x="2438400" y="3901440"/>
            <a:ext cx="11379200" cy="48768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VIRTUE SPOTLIGHT — HONESTY</a:t>
            </a:r>
            <a:endParaRPr lang="en-US" sz="1000" dirty="0"/>
          </a:p>
        </p:txBody>
      </p:sp>
      <p:sp>
        <p:nvSpPr>
          <p:cNvPr id="8" name="Text 6"/>
          <p:cNvSpPr/>
          <p:nvPr/>
        </p:nvSpPr>
        <p:spPr>
          <a:xfrm>
            <a:off x="2438400" y="4470400"/>
            <a:ext cx="11379200" cy="1625600"/>
          </a:xfrm>
          <a:prstGeom prst="rect">
            <a:avLst/>
          </a:prstGeom>
          <a:noFill/>
          <a:ln/>
        </p:spPr>
        <p:txBody>
          <a:bodyPr wrap="square" rtlCol="0" anchor="t"/>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Honesty means telling the truth, even when it's hard. Good curators are honest about what they know and what they still need to learn. Describing a place honestly means including the details that matter — not skipping the hard parts.</a:t>
            </a:r>
            <a:endParaRPr lang="en-US" sz="1200" dirty="0"/>
          </a:p>
        </p:txBody>
      </p:sp>
      <p:sp>
        <p:nvSpPr>
          <p:cNvPr id="9" name="Text 7"/>
          <p:cNvSpPr/>
          <p:nvPr/>
        </p:nvSpPr>
        <p:spPr>
          <a:xfrm>
            <a:off x="1950720" y="6827520"/>
            <a:ext cx="12354560" cy="568960"/>
          </a:xfrm>
          <a:prstGeom prst="rect">
            <a:avLst/>
          </a:prstGeom>
          <a:noFill/>
          <a:ln/>
        </p:spPr>
        <p:txBody>
          <a:bodyPr wrap="square" rtlCol="0" anchor="ctr"/>
          <a:lstStyle/>
          <a:p>
            <a:pPr algn="ctr" indent="0" marL="0">
              <a:buNone/>
            </a:pPr>
            <a:r>
              <a:rPr lang="en-US" sz="1200" b="1" dirty="0">
                <a:solidFill>
                  <a:srgbClr val="D4943A"/>
                </a:solidFill>
                <a:latin typeface="Calibri" pitchFamily="34" charset="0"/>
                <a:ea typeface="Calibri" pitchFamily="34" charset="-122"/>
                <a:cs typeface="Calibri" pitchFamily="34" charset="-120"/>
              </a:rPr>
              <a:t>Thinking Move:  Notice → Name → Narrate</a:t>
            </a:r>
            <a:endParaRPr lang="en-US" sz="1200" dirty="0"/>
          </a:p>
        </p:txBody>
      </p:sp>
      <p:sp>
        <p:nvSpPr>
          <p:cNvPr id="10" name="Text 8"/>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1" name="Text 9"/>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97536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Is Climate?</a:t>
            </a:r>
            <a:endParaRPr lang="en-US" sz="2400" dirty="0"/>
          </a:p>
        </p:txBody>
      </p:sp>
      <p:sp>
        <p:nvSpPr>
          <p:cNvPr id="4" name="Text 2"/>
          <p:cNvSpPr/>
          <p:nvPr/>
        </p:nvSpPr>
        <p:spPr>
          <a:xfrm>
            <a:off x="11379200" y="568960"/>
            <a:ext cx="1950720" cy="487680"/>
          </a:xfrm>
          <a:prstGeom prst="rect">
            <a:avLst>
              <a:gd name="adj" fmla="val 26667"/>
            </a:avLst>
          </a:prstGeom>
          <a:solidFill>
            <a:srgbClr val="1A8A7D"/>
          </a:solid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NOTICE</a:t>
            </a:r>
            <a:endParaRPr lang="en-US" sz="1000" dirty="0"/>
          </a:p>
        </p:txBody>
      </p:sp>
      <p:sp>
        <p:nvSpPr>
          <p:cNvPr id="5" name="Shape 3"/>
          <p:cNvSpPr/>
          <p:nvPr/>
        </p:nvSpPr>
        <p:spPr>
          <a:xfrm>
            <a:off x="812800" y="1625600"/>
            <a:ext cx="8940800" cy="4876800"/>
          </a:xfrm>
          <a:prstGeom prst="roundRect">
            <a:avLst>
              <a:gd name="adj" fmla="val 4000"/>
            </a:avLst>
          </a:prstGeom>
          <a:solidFill>
            <a:srgbClr val="FFFFFF"/>
          </a:solidFill>
          <a:ln/>
          <a:effectLst>
            <a:outerShdw sx="100000" sy="100000" kx="0" ky="0" algn="bl" rotWithShape="0" blurRad="76200" dist="25400" dir="8100000">
              <a:srgbClr val="000000">
                <a:alpha val="10000"/>
              </a:srgbClr>
            </a:outerShdw>
          </a:effectLst>
        </p:spPr>
      </p:sp>
      <p:sp>
        <p:nvSpPr>
          <p:cNvPr id="6" name="Text 4"/>
          <p:cNvSpPr/>
          <p:nvPr/>
        </p:nvSpPr>
        <p:spPr>
          <a:xfrm>
            <a:off x="1300480" y="1869440"/>
            <a:ext cx="7965440" cy="4226560"/>
          </a:xfrm>
          <a:prstGeom prst="rect">
            <a:avLst/>
          </a:prstGeom>
          <a:noFill/>
          <a:ln/>
        </p:spPr>
        <p:txBody>
          <a:bodyPr wrap="square" rtlCol="0" anchor="t"/>
          <a:lstStyle/>
          <a:p>
            <a:pPr indent="0" marL="0">
              <a:lnSpc>
                <a:spcPct val="130000"/>
              </a:lnSpc>
              <a:buNone/>
            </a:pPr>
            <a:r>
              <a:rPr lang="en-US" sz="1400" b="1" dirty="0">
                <a:solidFill>
                  <a:srgbClr val="0E1C42"/>
                </a:solidFill>
                <a:latin typeface="Calibri" pitchFamily="34" charset="0"/>
                <a:ea typeface="Calibri" pitchFamily="34" charset="-122"/>
                <a:cs typeface="Calibri" pitchFamily="34" charset="-120"/>
              </a:rPr>
              <a:t>Climate</a:t>
            </a:r>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is the usual weather pattern of a place over a long time.
</a:t>
            </a:r>
            <a:pPr indent="0" marL="0">
              <a:lnSpc>
                <a:spcPct val="130000"/>
              </a:lnSpc>
              <a:buNone/>
            </a:pPr>
            <a:r>
              <a:rPr lang="en-US" sz="1300" b="1" dirty="0">
                <a:solidFill>
                  <a:srgbClr val="E8636B"/>
                </a:solidFill>
                <a:latin typeface="Calibri" pitchFamily="34" charset="0"/>
                <a:ea typeface="Calibri" pitchFamily="34" charset="-122"/>
                <a:cs typeface="Calibri" pitchFamily="34" charset="-120"/>
              </a:rPr>
              <a:t>Climate is NOT today's weather.
</a:t>
            </a:r>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It's what the weather is </a:t>
            </a:r>
            <a:pPr indent="0" marL="0">
              <a:lnSpc>
                <a:spcPct val="130000"/>
              </a:lnSpc>
              <a:buNone/>
            </a:pPr>
            <a:r>
              <a:rPr lang="en-US" sz="1300" b="1" i="1" dirty="0">
                <a:solidFill>
                  <a:srgbClr val="1A8A7D"/>
                </a:solidFill>
                <a:latin typeface="Calibri" pitchFamily="34" charset="0"/>
                <a:ea typeface="Calibri" pitchFamily="34" charset="-122"/>
                <a:cs typeface="Calibri" pitchFamily="34" charset="-120"/>
              </a:rPr>
              <a:t>usually</a:t>
            </a:r>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like year after year.</a:t>
            </a:r>
            <a:endParaRPr lang="en-US" sz="1400" dirty="0"/>
          </a:p>
        </p:txBody>
      </p:sp>
      <p:sp>
        <p:nvSpPr>
          <p:cNvPr id="7" name="Shape 5"/>
          <p:cNvSpPr/>
          <p:nvPr/>
        </p:nvSpPr>
        <p:spPr>
          <a:xfrm>
            <a:off x="10241280" y="1625600"/>
            <a:ext cx="5201920" cy="4876800"/>
          </a:xfrm>
          <a:prstGeom prst="roundRect">
            <a:avLst>
              <a:gd name="adj" fmla="val 4000"/>
            </a:avLst>
          </a:prstGeom>
          <a:solidFill>
            <a:srgbClr val="E2E8F4"/>
          </a:solidFill>
          <a:ln w="19050">
            <a:solidFill>
              <a:srgbClr val="B0B8CC"/>
            </a:solidFill>
            <a:prstDash val="dash"/>
          </a:ln>
        </p:spPr>
      </p:sp>
      <p:sp>
        <p:nvSpPr>
          <p:cNvPr id="8" name="Text 6"/>
          <p:cNvSpPr/>
          <p:nvPr/>
        </p:nvSpPr>
        <p:spPr>
          <a:xfrm>
            <a:off x="10241280" y="1625600"/>
            <a:ext cx="52019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10485120" y="2113280"/>
            <a:ext cx="4714240" cy="422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 contrasting a sunny day vs. a climate pattern chart — weather vs. climate visual</a:t>
            </a:r>
            <a:endParaRPr lang="en-US" sz="1100" dirty="0"/>
          </a:p>
        </p:txBody>
      </p:sp>
      <p:sp>
        <p:nvSpPr>
          <p:cNvPr id="10" name="Shape 8"/>
          <p:cNvSpPr/>
          <p:nvPr/>
        </p:nvSpPr>
        <p:spPr>
          <a:xfrm>
            <a:off x="812800" y="6827520"/>
            <a:ext cx="14630400" cy="178816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1137920" y="699008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1137920" y="7445248"/>
            <a:ext cx="13980160" cy="10078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weather like outside right 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it always like that here, or does it change by season?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the difference between today's weather and this area's climate?</a:t>
            </a:r>
            <a:endParaRPr lang="en-US" sz="1100" dirty="0"/>
          </a:p>
        </p:txBody>
      </p:sp>
      <p:sp>
        <p:nvSpPr>
          <p:cNvPr id="13" name="Text 11"/>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4" name="Text 12"/>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97536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Is Vegetation?</a:t>
            </a:r>
            <a:endParaRPr lang="en-US" sz="2400" dirty="0"/>
          </a:p>
        </p:txBody>
      </p:sp>
      <p:sp>
        <p:nvSpPr>
          <p:cNvPr id="4" name="Text 2"/>
          <p:cNvSpPr/>
          <p:nvPr/>
        </p:nvSpPr>
        <p:spPr>
          <a:xfrm>
            <a:off x="11379200" y="568960"/>
            <a:ext cx="1950720" cy="487680"/>
          </a:xfrm>
          <a:prstGeom prst="rect">
            <a:avLst>
              <a:gd name="adj" fmla="val 26667"/>
            </a:avLst>
          </a:prstGeom>
          <a:solidFill>
            <a:srgbClr val="1A8A7D"/>
          </a:solid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NOTICE</a:t>
            </a:r>
            <a:endParaRPr lang="en-US" sz="1000" dirty="0"/>
          </a:p>
        </p:txBody>
      </p:sp>
      <p:sp>
        <p:nvSpPr>
          <p:cNvPr id="5" name="Shape 3"/>
          <p:cNvSpPr/>
          <p:nvPr/>
        </p:nvSpPr>
        <p:spPr>
          <a:xfrm>
            <a:off x="812800" y="1625600"/>
            <a:ext cx="8940800" cy="3901440"/>
          </a:xfrm>
          <a:prstGeom prst="roundRect">
            <a:avLst>
              <a:gd name="adj" fmla="val 5000"/>
            </a:avLst>
          </a:prstGeom>
          <a:solidFill>
            <a:srgbClr val="FFFFFF"/>
          </a:solidFill>
          <a:ln/>
          <a:effectLst>
            <a:outerShdw sx="100000" sy="100000" kx="0" ky="0" algn="bl" rotWithShape="0" blurRad="76200" dist="25400" dir="8100000">
              <a:srgbClr val="000000">
                <a:alpha val="10000"/>
              </a:srgbClr>
            </a:outerShdw>
          </a:effectLst>
        </p:spPr>
      </p:sp>
      <p:sp>
        <p:nvSpPr>
          <p:cNvPr id="6" name="Text 4"/>
          <p:cNvSpPr/>
          <p:nvPr/>
        </p:nvSpPr>
        <p:spPr>
          <a:xfrm>
            <a:off x="1300480" y="1869440"/>
            <a:ext cx="7965440" cy="3413760"/>
          </a:xfrm>
          <a:prstGeom prst="rect">
            <a:avLst/>
          </a:prstGeom>
          <a:noFill/>
          <a:ln/>
        </p:spPr>
        <p:txBody>
          <a:bodyPr wrap="square" rtlCol="0" anchor="t"/>
          <a:lstStyle/>
          <a:p>
            <a:pPr indent="0" marL="0">
              <a:lnSpc>
                <a:spcPct val="130000"/>
              </a:lnSpc>
              <a:buNone/>
            </a:pPr>
            <a:r>
              <a:rPr lang="en-US" sz="1400" b="1" dirty="0">
                <a:solidFill>
                  <a:srgbClr val="0E1C42"/>
                </a:solidFill>
                <a:latin typeface="Calibri" pitchFamily="34" charset="0"/>
                <a:ea typeface="Calibri" pitchFamily="34" charset="-122"/>
                <a:cs typeface="Calibri" pitchFamily="34" charset="-120"/>
              </a:rPr>
              <a:t>Vegetation</a:t>
            </a:r>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is the plant life that grows in a place.
</a:t>
            </a:r>
            <a:pPr indent="0" marL="0">
              <a:lnSpc>
                <a:spcPct val="130000"/>
              </a:lnSpc>
              <a:buNone/>
            </a:pPr>
            <a:r>
              <a:rPr lang="en-US" sz="1300" b="1" dirty="0">
                <a:solidFill>
                  <a:srgbClr val="1A8A7D"/>
                </a:solidFill>
                <a:latin typeface="Calibri" pitchFamily="34" charset="0"/>
                <a:ea typeface="Calibri" pitchFamily="34" charset="-122"/>
                <a:cs typeface="Calibri" pitchFamily="34" charset="-120"/>
              </a:rPr>
              <a:t>Climate and vegetation are connected:
</a:t>
            </a:r>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Warm + rainy = thick forests</a:t>
            </a:r>
            <a:endParaRPr lang="en-US" sz="14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Hot + dry = tough grasses, small shrubs</a:t>
            </a:r>
            <a:endParaRPr lang="en-US" sz="1400" dirty="0"/>
          </a:p>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 Freezing cold = almost nothing grows</a:t>
            </a:r>
            <a:endParaRPr lang="en-US" sz="1400" dirty="0"/>
          </a:p>
        </p:txBody>
      </p:sp>
      <p:sp>
        <p:nvSpPr>
          <p:cNvPr id="7" name="Shape 5"/>
          <p:cNvSpPr/>
          <p:nvPr/>
        </p:nvSpPr>
        <p:spPr>
          <a:xfrm>
            <a:off x="10241280" y="1625600"/>
            <a:ext cx="5201920" cy="3901440"/>
          </a:xfrm>
          <a:prstGeom prst="roundRect">
            <a:avLst>
              <a:gd name="adj" fmla="val 5000"/>
            </a:avLst>
          </a:prstGeom>
          <a:solidFill>
            <a:srgbClr val="E2E8F4"/>
          </a:solidFill>
          <a:ln w="19050">
            <a:solidFill>
              <a:srgbClr val="B0B8CC"/>
            </a:solidFill>
            <a:prstDash val="dash"/>
          </a:ln>
        </p:spPr>
      </p:sp>
      <p:sp>
        <p:nvSpPr>
          <p:cNvPr id="8" name="Text 6"/>
          <p:cNvSpPr/>
          <p:nvPr/>
        </p:nvSpPr>
        <p:spPr>
          <a:xfrm>
            <a:off x="10241280" y="1625600"/>
            <a:ext cx="52019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10485120" y="2113280"/>
            <a:ext cx="4714240" cy="3251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Three-panel strip: dense forest canopy | dry grassland with shrubs | barren tundra</a:t>
            </a:r>
            <a:endParaRPr lang="en-US" sz="1100" dirty="0"/>
          </a:p>
        </p:txBody>
      </p:sp>
      <p:sp>
        <p:nvSpPr>
          <p:cNvPr id="10" name="Shape 8"/>
          <p:cNvSpPr/>
          <p:nvPr/>
        </p:nvSpPr>
        <p:spPr>
          <a:xfrm>
            <a:off x="812800" y="6014720"/>
            <a:ext cx="14630400" cy="178816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1137920" y="617728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1137920" y="6632448"/>
            <a:ext cx="13980160" cy="10078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thick forests grow in warm, rainy places?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happens to plants in a place where it almost never rains?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think of a plant near your home — does it match our climate?</a:t>
            </a:r>
            <a:endParaRPr lang="en-US" sz="1100" dirty="0"/>
          </a:p>
        </p:txBody>
      </p:sp>
      <p:sp>
        <p:nvSpPr>
          <p:cNvPr id="13" name="Text 11"/>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4" name="Text 12"/>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113792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Are Natural Resources?</a:t>
            </a:r>
            <a:endParaRPr lang="en-US" sz="2400" dirty="0"/>
          </a:p>
        </p:txBody>
      </p:sp>
      <p:sp>
        <p:nvSpPr>
          <p:cNvPr id="4" name="Text 2"/>
          <p:cNvSpPr/>
          <p:nvPr/>
        </p:nvSpPr>
        <p:spPr>
          <a:xfrm>
            <a:off x="12192000" y="568960"/>
            <a:ext cx="1950720" cy="487680"/>
          </a:xfrm>
          <a:prstGeom prst="rect">
            <a:avLst>
              <a:gd name="adj" fmla="val 26667"/>
            </a:avLst>
          </a:prstGeom>
          <a:solidFill>
            <a:srgbClr val="D4943A"/>
          </a:solid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NAME</a:t>
            </a:r>
            <a:endParaRPr lang="en-US" sz="1000" dirty="0"/>
          </a:p>
        </p:txBody>
      </p:sp>
      <p:sp>
        <p:nvSpPr>
          <p:cNvPr id="5" name="Shape 3"/>
          <p:cNvSpPr/>
          <p:nvPr/>
        </p:nvSpPr>
        <p:spPr>
          <a:xfrm>
            <a:off x="812800" y="1625600"/>
            <a:ext cx="8940800" cy="4551680"/>
          </a:xfrm>
          <a:prstGeom prst="roundRect">
            <a:avLst>
              <a:gd name="adj" fmla="val 4286"/>
            </a:avLst>
          </a:prstGeom>
          <a:solidFill>
            <a:srgbClr val="FFFFFF"/>
          </a:solidFill>
          <a:ln/>
          <a:effectLst>
            <a:outerShdw sx="100000" sy="100000" kx="0" ky="0" algn="bl" rotWithShape="0" blurRad="76200" dist="25400" dir="8100000">
              <a:srgbClr val="000000">
                <a:alpha val="10000"/>
              </a:srgbClr>
            </a:outerShdw>
          </a:effectLst>
        </p:spPr>
      </p:sp>
      <p:sp>
        <p:nvSpPr>
          <p:cNvPr id="6" name="Text 4"/>
          <p:cNvSpPr/>
          <p:nvPr/>
        </p:nvSpPr>
        <p:spPr>
          <a:xfrm>
            <a:off x="1300480" y="1869440"/>
            <a:ext cx="7965440" cy="4064000"/>
          </a:xfrm>
          <a:prstGeom prst="rect">
            <a:avLst/>
          </a:prstGeom>
          <a:noFill/>
          <a:ln/>
        </p:spPr>
        <p:txBody>
          <a:bodyPr wrap="square" rtlCol="0" anchor="t"/>
          <a:lstStyle/>
          <a:p>
            <a:pPr indent="0" marL="0">
              <a:lnSpc>
                <a:spcPct val="125000"/>
              </a:lnSpc>
              <a:buNone/>
            </a:pPr>
            <a:r>
              <a:rPr lang="en-US" sz="1400" b="1" dirty="0">
                <a:solidFill>
                  <a:srgbClr val="0E1C42"/>
                </a:solidFill>
                <a:latin typeface="Calibri" pitchFamily="34" charset="0"/>
                <a:ea typeface="Calibri" pitchFamily="34" charset="-122"/>
                <a:cs typeface="Calibri" pitchFamily="34" charset="-120"/>
              </a:rPr>
              <a:t>Natural resources</a:t>
            </a:r>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 are useful things found in nature.
</a:t>
            </a:r>
            <a:pPr indent="0" marL="0">
              <a:lnSpc>
                <a:spcPct val="125000"/>
              </a:lnSpc>
              <a:buNone/>
            </a:pPr>
            <a:r>
              <a:rPr lang="en-US" sz="1300" b="1" dirty="0">
                <a:solidFill>
                  <a:srgbClr val="1A8A7D"/>
                </a:solidFill>
                <a:latin typeface="Calibri" pitchFamily="34" charset="0"/>
                <a:ea typeface="Calibri" pitchFamily="34" charset="-122"/>
                <a:cs typeface="Calibri" pitchFamily="34" charset="-120"/>
              </a:rPr>
              <a:t>Examples:
</a:t>
            </a:r>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 Water    • Trees    • Soil
• Minerals    • Oil
</a:t>
            </a:r>
            <a:pPr indent="0" marL="0">
              <a:lnSpc>
                <a:spcPct val="125000"/>
              </a:lnSpc>
              <a:buNone/>
            </a:pPr>
            <a:r>
              <a:rPr lang="en-US" sz="1300" dirty="0">
                <a:solidFill>
                  <a:srgbClr val="0E1C42"/>
                </a:solidFill>
                <a:latin typeface="Calibri" pitchFamily="34" charset="0"/>
                <a:ea typeface="Calibri" pitchFamily="34" charset="-122"/>
                <a:cs typeface="Calibri" pitchFamily="34" charset="-120"/>
              </a:rPr>
              <a:t>People use natural resources to build homes, grow food, and make things they need. Different places have different resources.</a:t>
            </a:r>
            <a:endParaRPr lang="en-US" sz="1400" dirty="0"/>
          </a:p>
        </p:txBody>
      </p:sp>
      <p:sp>
        <p:nvSpPr>
          <p:cNvPr id="7" name="Shape 5"/>
          <p:cNvSpPr/>
          <p:nvPr/>
        </p:nvSpPr>
        <p:spPr>
          <a:xfrm>
            <a:off x="10241280" y="1625600"/>
            <a:ext cx="5201920" cy="4551680"/>
          </a:xfrm>
          <a:prstGeom prst="roundRect">
            <a:avLst>
              <a:gd name="adj" fmla="val 4286"/>
            </a:avLst>
          </a:prstGeom>
          <a:solidFill>
            <a:srgbClr val="E2E8F4"/>
          </a:solidFill>
          <a:ln w="19050">
            <a:solidFill>
              <a:srgbClr val="B0B8CC"/>
            </a:solidFill>
            <a:prstDash val="dash"/>
          </a:ln>
        </p:spPr>
      </p:sp>
      <p:sp>
        <p:nvSpPr>
          <p:cNvPr id="8" name="Text 6"/>
          <p:cNvSpPr/>
          <p:nvPr/>
        </p:nvSpPr>
        <p:spPr>
          <a:xfrm>
            <a:off x="10241280" y="1625600"/>
            <a:ext cx="52019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10485120" y="2113280"/>
            <a:ext cx="471424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Collage of natural resources: clear river, timber logs, rich soil, minerals/gems, oil pump</a:t>
            </a:r>
            <a:endParaRPr lang="en-US" sz="1100" dirty="0"/>
          </a:p>
        </p:txBody>
      </p:sp>
      <p:sp>
        <p:nvSpPr>
          <p:cNvPr id="10" name="Shape 8"/>
          <p:cNvSpPr/>
          <p:nvPr/>
        </p:nvSpPr>
        <p:spPr>
          <a:xfrm>
            <a:off x="812800" y="6664960"/>
            <a:ext cx="14630400" cy="16256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1137920" y="682752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1137920" y="7282688"/>
            <a:ext cx="13980160" cy="8453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natural resources do we use every day without even thinking about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if a place had no fresh water?</a:t>
            </a:r>
            <a:endParaRPr lang="en-US" sz="1100" dirty="0"/>
          </a:p>
        </p:txBody>
      </p:sp>
      <p:sp>
        <p:nvSpPr>
          <p:cNvPr id="13" name="Text 11"/>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4" name="Text 12"/>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32512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Three Climate Zones</a:t>
            </a:r>
            <a:endParaRPr lang="en-US" sz="2400" dirty="0"/>
          </a:p>
        </p:txBody>
      </p:sp>
      <p:sp>
        <p:nvSpPr>
          <p:cNvPr id="4" name="Text 2"/>
          <p:cNvSpPr/>
          <p:nvPr/>
        </p:nvSpPr>
        <p:spPr>
          <a:xfrm>
            <a:off x="13492480" y="406400"/>
            <a:ext cx="1625600" cy="487680"/>
          </a:xfrm>
          <a:prstGeom prst="rect">
            <a:avLst>
              <a:gd name="adj" fmla="val 26667"/>
            </a:avLst>
          </a:prstGeom>
          <a:solidFill>
            <a:srgbClr val="D4943A"/>
          </a:solid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NAME</a:t>
            </a:r>
            <a:endParaRPr lang="en-US" sz="1000" dirty="0"/>
          </a:p>
        </p:txBody>
      </p:sp>
      <p:sp>
        <p:nvSpPr>
          <p:cNvPr id="5" name="Shape 3"/>
          <p:cNvSpPr/>
          <p:nvPr/>
        </p:nvSpPr>
        <p:spPr>
          <a:xfrm>
            <a:off x="487680" y="1381760"/>
            <a:ext cx="4714240" cy="6177280"/>
          </a:xfrm>
          <a:prstGeom prst="roundRect">
            <a:avLst>
              <a:gd name="adj" fmla="val 4138"/>
            </a:avLst>
          </a:prstGeom>
          <a:solidFill>
            <a:srgbClr val="FFF3DC"/>
          </a:solidFill>
          <a:ln w="19050">
            <a:solidFill>
              <a:srgbClr val="D4943A"/>
            </a:solidFill>
            <a:prstDash val="solid"/>
          </a:ln>
        </p:spPr>
      </p:sp>
      <p:sp>
        <p:nvSpPr>
          <p:cNvPr id="6" name="Text 4"/>
          <p:cNvSpPr/>
          <p:nvPr/>
        </p:nvSpPr>
        <p:spPr>
          <a:xfrm>
            <a:off x="731520" y="1544320"/>
            <a:ext cx="4226560" cy="568960"/>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Hot &amp; Dry</a:t>
            </a:r>
            <a:endParaRPr lang="en-US" sz="1400" dirty="0"/>
          </a:p>
        </p:txBody>
      </p:sp>
      <p:sp>
        <p:nvSpPr>
          <p:cNvPr id="7" name="Text 5"/>
          <p:cNvSpPr/>
          <p:nvPr/>
        </p:nvSpPr>
        <p:spPr>
          <a:xfrm>
            <a:off x="731520" y="2113280"/>
            <a:ext cx="4226560" cy="406400"/>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Sahara Desert</a:t>
            </a:r>
            <a:endParaRPr lang="en-US" sz="1000" dirty="0"/>
          </a:p>
        </p:txBody>
      </p:sp>
      <p:sp>
        <p:nvSpPr>
          <p:cNvPr id="8" name="Shape 6"/>
          <p:cNvSpPr/>
          <p:nvPr/>
        </p:nvSpPr>
        <p:spPr>
          <a:xfrm>
            <a:off x="975360" y="2682240"/>
            <a:ext cx="3738880" cy="1950720"/>
          </a:xfrm>
          <a:prstGeom prst="roundRect">
            <a:avLst>
              <a:gd name="adj" fmla="val 10000"/>
            </a:avLst>
          </a:prstGeom>
          <a:solidFill>
            <a:srgbClr val="E2E8F4"/>
          </a:solidFill>
          <a:ln w="19050">
            <a:solidFill>
              <a:srgbClr val="B0B8CC"/>
            </a:solidFill>
            <a:prstDash val="dash"/>
          </a:ln>
        </p:spPr>
      </p:sp>
      <p:sp>
        <p:nvSpPr>
          <p:cNvPr id="9" name="Text 7"/>
          <p:cNvSpPr/>
          <p:nvPr/>
        </p:nvSpPr>
        <p:spPr>
          <a:xfrm>
            <a:off x="975360" y="2682240"/>
            <a:ext cx="37388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1219200" y="3169920"/>
            <a:ext cx="3251200" cy="1300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Sahara Desert photo</a:t>
            </a:r>
            <a:endParaRPr lang="en-US" sz="1100" dirty="0"/>
          </a:p>
        </p:txBody>
      </p:sp>
      <p:sp>
        <p:nvSpPr>
          <p:cNvPr id="11" name="Text 9"/>
          <p:cNvSpPr/>
          <p:nvPr/>
        </p:nvSpPr>
        <p:spPr>
          <a:xfrm>
            <a:off x="731520" y="4876800"/>
            <a:ext cx="4226560" cy="2438400"/>
          </a:xfrm>
          <a:prstGeom prst="rect">
            <a:avLst/>
          </a:prstGeom>
          <a:noFill/>
          <a:ln/>
        </p:spPr>
        <p:txBody>
          <a:bodyPr wrap="square" rtlCol="0" anchor="t"/>
          <a:lstStyle/>
          <a:p>
            <a:pPr indent="0" marL="0">
              <a:lnSpc>
                <a:spcPct val="140000"/>
              </a:lnSpc>
              <a:buNone/>
            </a:pPr>
            <a:r>
              <a:rPr lang="en-US" sz="1000" b="1" dirty="0">
                <a:solidFill>
                  <a:srgbClr val="1A8A7D"/>
                </a:solidFill>
                <a:latin typeface="Calibri" pitchFamily="34" charset="0"/>
                <a:ea typeface="Calibri" pitchFamily="34" charset="-122"/>
                <a:cs typeface="Calibri" pitchFamily="34" charset="-120"/>
              </a:rPr>
              <a:t>Climate: </a:t>
            </a:r>
            <a:pPr indent="0" marL="0">
              <a:lnSpc>
                <a:spcPct val="140000"/>
              </a:lnSpc>
              <a:buNone/>
            </a:pPr>
            <a:r>
              <a:rPr lang="en-US" sz="1000" dirty="0">
                <a:solidFill>
                  <a:srgbClr val="0E1C42"/>
                </a:solidFill>
                <a:latin typeface="Calibri" pitchFamily="34" charset="0"/>
                <a:ea typeface="Calibri" pitchFamily="34" charset="-122"/>
                <a:cs typeface="Calibri" pitchFamily="34" charset="-120"/>
              </a:rPr>
              <a:t>Hot, very little rain
</a:t>
            </a:r>
            <a:pPr indent="0" marL="0">
              <a:lnSpc>
                <a:spcPct val="140000"/>
              </a:lnSpc>
              <a:buNone/>
            </a:pPr>
            <a:r>
              <a:rPr lang="en-US" sz="1000" b="1" dirty="0">
                <a:solidFill>
                  <a:srgbClr val="34B76F"/>
                </a:solidFill>
                <a:latin typeface="Calibri" pitchFamily="34" charset="0"/>
                <a:ea typeface="Calibri" pitchFamily="34" charset="-122"/>
                <a:cs typeface="Calibri" pitchFamily="34" charset="-120"/>
              </a:rPr>
              <a:t>Vegetation: </a:t>
            </a:r>
            <a:pPr indent="0" marL="0">
              <a:lnSpc>
                <a:spcPct val="140000"/>
              </a:lnSpc>
              <a:buNone/>
            </a:pPr>
            <a:r>
              <a:rPr lang="en-US" sz="1000" dirty="0">
                <a:solidFill>
                  <a:srgbClr val="0E1C42"/>
                </a:solidFill>
                <a:latin typeface="Calibri" pitchFamily="34" charset="0"/>
                <a:ea typeface="Calibri" pitchFamily="34" charset="-122"/>
                <a:cs typeface="Calibri" pitchFamily="34" charset="-120"/>
              </a:rPr>
              <a:t>Sparse — shrubs, cacti
</a:t>
            </a:r>
            <a:pPr indent="0" marL="0">
              <a:lnSpc>
                <a:spcPct val="140000"/>
              </a:lnSpc>
              <a:buNone/>
            </a:pPr>
            <a:r>
              <a:rPr lang="en-US" sz="1000" b="1" dirty="0">
                <a:solidFill>
                  <a:srgbClr val="D4943A"/>
                </a:solidFill>
                <a:latin typeface="Calibri" pitchFamily="34" charset="0"/>
                <a:ea typeface="Calibri" pitchFamily="34" charset="-122"/>
                <a:cs typeface="Calibri" pitchFamily="34" charset="-120"/>
              </a:rPr>
              <a:t>Resources: </a:t>
            </a:r>
            <a:pPr indent="0" marL="0">
              <a:lnSpc>
                <a:spcPct val="140000"/>
              </a:lnSpc>
              <a:buNone/>
            </a:pPr>
            <a:r>
              <a:rPr lang="en-US" sz="1000" dirty="0">
                <a:solidFill>
                  <a:srgbClr val="0E1C42"/>
                </a:solidFill>
                <a:latin typeface="Calibri" pitchFamily="34" charset="0"/>
                <a:ea typeface="Calibri" pitchFamily="34" charset="-122"/>
                <a:cs typeface="Calibri" pitchFamily="34" charset="-120"/>
              </a:rPr>
              <a:t>Oil, natural gas</a:t>
            </a:r>
            <a:endParaRPr lang="en-US" sz="1000" dirty="0"/>
          </a:p>
        </p:txBody>
      </p:sp>
      <p:sp>
        <p:nvSpPr>
          <p:cNvPr id="12" name="Shape 10"/>
          <p:cNvSpPr/>
          <p:nvPr/>
        </p:nvSpPr>
        <p:spPr>
          <a:xfrm>
            <a:off x="5527040" y="1381760"/>
            <a:ext cx="4714240" cy="6177280"/>
          </a:xfrm>
          <a:prstGeom prst="roundRect">
            <a:avLst>
              <a:gd name="adj" fmla="val 4138"/>
            </a:avLst>
          </a:prstGeom>
          <a:solidFill>
            <a:srgbClr val="E3F8ED"/>
          </a:solidFill>
          <a:ln w="19050">
            <a:solidFill>
              <a:srgbClr val="34B76F"/>
            </a:solidFill>
            <a:prstDash val="solid"/>
          </a:ln>
        </p:spPr>
      </p:sp>
      <p:sp>
        <p:nvSpPr>
          <p:cNvPr id="13" name="Text 11"/>
          <p:cNvSpPr/>
          <p:nvPr/>
        </p:nvSpPr>
        <p:spPr>
          <a:xfrm>
            <a:off x="5770880" y="1544320"/>
            <a:ext cx="4226560" cy="568960"/>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Warm &amp; Wet</a:t>
            </a:r>
            <a:endParaRPr lang="en-US" sz="1400" dirty="0"/>
          </a:p>
        </p:txBody>
      </p:sp>
      <p:sp>
        <p:nvSpPr>
          <p:cNvPr id="14" name="Text 12"/>
          <p:cNvSpPr/>
          <p:nvPr/>
        </p:nvSpPr>
        <p:spPr>
          <a:xfrm>
            <a:off x="5770880" y="2113280"/>
            <a:ext cx="4226560" cy="406400"/>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Amazon Rainforest</a:t>
            </a:r>
            <a:endParaRPr lang="en-US" sz="1000" dirty="0"/>
          </a:p>
        </p:txBody>
      </p:sp>
      <p:sp>
        <p:nvSpPr>
          <p:cNvPr id="15" name="Shape 13"/>
          <p:cNvSpPr/>
          <p:nvPr/>
        </p:nvSpPr>
        <p:spPr>
          <a:xfrm>
            <a:off x="6014720" y="2682240"/>
            <a:ext cx="3738880" cy="1950720"/>
          </a:xfrm>
          <a:prstGeom prst="roundRect">
            <a:avLst>
              <a:gd name="adj" fmla="val 10000"/>
            </a:avLst>
          </a:prstGeom>
          <a:solidFill>
            <a:srgbClr val="E2E8F4"/>
          </a:solidFill>
          <a:ln w="19050">
            <a:solidFill>
              <a:srgbClr val="B0B8CC"/>
            </a:solidFill>
            <a:prstDash val="dash"/>
          </a:ln>
        </p:spPr>
      </p:sp>
      <p:sp>
        <p:nvSpPr>
          <p:cNvPr id="16" name="Text 14"/>
          <p:cNvSpPr/>
          <p:nvPr/>
        </p:nvSpPr>
        <p:spPr>
          <a:xfrm>
            <a:off x="6014720" y="2682240"/>
            <a:ext cx="37388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6258560" y="3169920"/>
            <a:ext cx="3251200" cy="1300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Amazon Rainforest photo</a:t>
            </a:r>
            <a:endParaRPr lang="en-US" sz="1100" dirty="0"/>
          </a:p>
        </p:txBody>
      </p:sp>
      <p:sp>
        <p:nvSpPr>
          <p:cNvPr id="18" name="Text 16"/>
          <p:cNvSpPr/>
          <p:nvPr/>
        </p:nvSpPr>
        <p:spPr>
          <a:xfrm>
            <a:off x="5770880" y="4876800"/>
            <a:ext cx="4226560" cy="2438400"/>
          </a:xfrm>
          <a:prstGeom prst="rect">
            <a:avLst/>
          </a:prstGeom>
          <a:noFill/>
          <a:ln/>
        </p:spPr>
        <p:txBody>
          <a:bodyPr wrap="square" rtlCol="0" anchor="t"/>
          <a:lstStyle/>
          <a:p>
            <a:pPr indent="0" marL="0">
              <a:lnSpc>
                <a:spcPct val="140000"/>
              </a:lnSpc>
              <a:buNone/>
            </a:pPr>
            <a:r>
              <a:rPr lang="en-US" sz="1000" b="1" dirty="0">
                <a:solidFill>
                  <a:srgbClr val="1A8A7D"/>
                </a:solidFill>
                <a:latin typeface="Calibri" pitchFamily="34" charset="0"/>
                <a:ea typeface="Calibri" pitchFamily="34" charset="-122"/>
                <a:cs typeface="Calibri" pitchFamily="34" charset="-120"/>
              </a:rPr>
              <a:t>Climate: </a:t>
            </a:r>
            <a:pPr indent="0" marL="0">
              <a:lnSpc>
                <a:spcPct val="140000"/>
              </a:lnSpc>
              <a:buNone/>
            </a:pPr>
            <a:r>
              <a:rPr lang="en-US" sz="1000" dirty="0">
                <a:solidFill>
                  <a:srgbClr val="0E1C42"/>
                </a:solidFill>
                <a:latin typeface="Calibri" pitchFamily="34" charset="0"/>
                <a:ea typeface="Calibri" pitchFamily="34" charset="-122"/>
                <a:cs typeface="Calibri" pitchFamily="34" charset="-120"/>
              </a:rPr>
              <a:t>Warm, heavy rainfall
</a:t>
            </a:r>
            <a:pPr indent="0" marL="0">
              <a:lnSpc>
                <a:spcPct val="140000"/>
              </a:lnSpc>
              <a:buNone/>
            </a:pPr>
            <a:r>
              <a:rPr lang="en-US" sz="1000" b="1" dirty="0">
                <a:solidFill>
                  <a:srgbClr val="34B76F"/>
                </a:solidFill>
                <a:latin typeface="Calibri" pitchFamily="34" charset="0"/>
                <a:ea typeface="Calibri" pitchFamily="34" charset="-122"/>
                <a:cs typeface="Calibri" pitchFamily="34" charset="-120"/>
              </a:rPr>
              <a:t>Vegetation: </a:t>
            </a:r>
            <a:pPr indent="0" marL="0">
              <a:lnSpc>
                <a:spcPct val="140000"/>
              </a:lnSpc>
              <a:buNone/>
            </a:pPr>
            <a:r>
              <a:rPr lang="en-US" sz="1000" dirty="0">
                <a:solidFill>
                  <a:srgbClr val="0E1C42"/>
                </a:solidFill>
                <a:latin typeface="Calibri" pitchFamily="34" charset="0"/>
                <a:ea typeface="Calibri" pitchFamily="34" charset="-122"/>
                <a:cs typeface="Calibri" pitchFamily="34" charset="-120"/>
              </a:rPr>
              <a:t>Dense forest, huge trees
</a:t>
            </a:r>
            <a:pPr indent="0" marL="0">
              <a:lnSpc>
                <a:spcPct val="140000"/>
              </a:lnSpc>
              <a:buNone/>
            </a:pPr>
            <a:r>
              <a:rPr lang="en-US" sz="1000" b="1" dirty="0">
                <a:solidFill>
                  <a:srgbClr val="D4943A"/>
                </a:solidFill>
                <a:latin typeface="Calibri" pitchFamily="34" charset="0"/>
                <a:ea typeface="Calibri" pitchFamily="34" charset="-122"/>
                <a:cs typeface="Calibri" pitchFamily="34" charset="-120"/>
              </a:rPr>
              <a:t>Resources: </a:t>
            </a:r>
            <a:pPr indent="0" marL="0">
              <a:lnSpc>
                <a:spcPct val="140000"/>
              </a:lnSpc>
              <a:buNone/>
            </a:pPr>
            <a:r>
              <a:rPr lang="en-US" sz="1000" dirty="0">
                <a:solidFill>
                  <a:srgbClr val="0E1C42"/>
                </a:solidFill>
                <a:latin typeface="Calibri" pitchFamily="34" charset="0"/>
                <a:ea typeface="Calibri" pitchFamily="34" charset="-122"/>
                <a:cs typeface="Calibri" pitchFamily="34" charset="-120"/>
              </a:rPr>
              <a:t>Timber, freshwater, soil</a:t>
            </a:r>
            <a:endParaRPr lang="en-US" sz="1000" dirty="0"/>
          </a:p>
        </p:txBody>
      </p:sp>
      <p:sp>
        <p:nvSpPr>
          <p:cNvPr id="19" name="Shape 17"/>
          <p:cNvSpPr/>
          <p:nvPr/>
        </p:nvSpPr>
        <p:spPr>
          <a:xfrm>
            <a:off x="10566400" y="1381760"/>
            <a:ext cx="4714240" cy="6177280"/>
          </a:xfrm>
          <a:prstGeom prst="roundRect">
            <a:avLst>
              <a:gd name="adj" fmla="val 4138"/>
            </a:avLst>
          </a:prstGeom>
          <a:solidFill>
            <a:srgbClr val="EAF8FD"/>
          </a:solidFill>
          <a:ln w="19050">
            <a:solidFill>
              <a:srgbClr val="55C8E8"/>
            </a:solidFill>
            <a:prstDash val="solid"/>
          </a:ln>
        </p:spPr>
      </p:sp>
      <p:sp>
        <p:nvSpPr>
          <p:cNvPr id="20" name="Text 18"/>
          <p:cNvSpPr/>
          <p:nvPr/>
        </p:nvSpPr>
        <p:spPr>
          <a:xfrm>
            <a:off x="10810240" y="1544320"/>
            <a:ext cx="4226560" cy="568960"/>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Cold &amp; Icy</a:t>
            </a:r>
            <a:endParaRPr lang="en-US" sz="1400" dirty="0"/>
          </a:p>
        </p:txBody>
      </p:sp>
      <p:sp>
        <p:nvSpPr>
          <p:cNvPr id="21" name="Text 19"/>
          <p:cNvSpPr/>
          <p:nvPr/>
        </p:nvSpPr>
        <p:spPr>
          <a:xfrm>
            <a:off x="10810240" y="2113280"/>
            <a:ext cx="4226560" cy="406400"/>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Arctic Tundra</a:t>
            </a:r>
            <a:endParaRPr lang="en-US" sz="1000" dirty="0"/>
          </a:p>
        </p:txBody>
      </p:sp>
      <p:sp>
        <p:nvSpPr>
          <p:cNvPr id="22" name="Shape 20"/>
          <p:cNvSpPr/>
          <p:nvPr/>
        </p:nvSpPr>
        <p:spPr>
          <a:xfrm>
            <a:off x="11054080" y="2682240"/>
            <a:ext cx="3738880" cy="1950720"/>
          </a:xfrm>
          <a:prstGeom prst="roundRect">
            <a:avLst>
              <a:gd name="adj" fmla="val 10000"/>
            </a:avLst>
          </a:prstGeom>
          <a:solidFill>
            <a:srgbClr val="E2E8F4"/>
          </a:solidFill>
          <a:ln w="19050">
            <a:solidFill>
              <a:srgbClr val="B0B8CC"/>
            </a:solidFill>
            <a:prstDash val="dash"/>
          </a:ln>
        </p:spPr>
      </p:sp>
      <p:sp>
        <p:nvSpPr>
          <p:cNvPr id="23" name="Text 21"/>
          <p:cNvSpPr/>
          <p:nvPr/>
        </p:nvSpPr>
        <p:spPr>
          <a:xfrm>
            <a:off x="11054080" y="2682240"/>
            <a:ext cx="373888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4" name="Text 22"/>
          <p:cNvSpPr/>
          <p:nvPr/>
        </p:nvSpPr>
        <p:spPr>
          <a:xfrm>
            <a:off x="11297920" y="3169920"/>
            <a:ext cx="3251200" cy="1300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Arctic Tundra photo</a:t>
            </a:r>
            <a:endParaRPr lang="en-US" sz="1100" dirty="0"/>
          </a:p>
        </p:txBody>
      </p:sp>
      <p:sp>
        <p:nvSpPr>
          <p:cNvPr id="25" name="Text 23"/>
          <p:cNvSpPr/>
          <p:nvPr/>
        </p:nvSpPr>
        <p:spPr>
          <a:xfrm>
            <a:off x="10810240" y="4876800"/>
            <a:ext cx="4226560" cy="2438400"/>
          </a:xfrm>
          <a:prstGeom prst="rect">
            <a:avLst/>
          </a:prstGeom>
          <a:noFill/>
          <a:ln/>
        </p:spPr>
        <p:txBody>
          <a:bodyPr wrap="square" rtlCol="0" anchor="t"/>
          <a:lstStyle/>
          <a:p>
            <a:pPr indent="0" marL="0">
              <a:lnSpc>
                <a:spcPct val="140000"/>
              </a:lnSpc>
              <a:buNone/>
            </a:pPr>
            <a:r>
              <a:rPr lang="en-US" sz="1000" b="1" dirty="0">
                <a:solidFill>
                  <a:srgbClr val="1A8A7D"/>
                </a:solidFill>
                <a:latin typeface="Calibri" pitchFamily="34" charset="0"/>
                <a:ea typeface="Calibri" pitchFamily="34" charset="-122"/>
                <a:cs typeface="Calibri" pitchFamily="34" charset="-120"/>
              </a:rPr>
              <a:t>Climate: </a:t>
            </a:r>
            <a:pPr indent="0" marL="0">
              <a:lnSpc>
                <a:spcPct val="140000"/>
              </a:lnSpc>
              <a:buNone/>
            </a:pPr>
            <a:r>
              <a:rPr lang="en-US" sz="1000" dirty="0">
                <a:solidFill>
                  <a:srgbClr val="0E1C42"/>
                </a:solidFill>
                <a:latin typeface="Calibri" pitchFamily="34" charset="0"/>
                <a:ea typeface="Calibri" pitchFamily="34" charset="-122"/>
                <a:cs typeface="Calibri" pitchFamily="34" charset="-120"/>
              </a:rPr>
              <a:t>Freezing, long winters
</a:t>
            </a:r>
            <a:pPr indent="0" marL="0">
              <a:lnSpc>
                <a:spcPct val="140000"/>
              </a:lnSpc>
              <a:buNone/>
            </a:pPr>
            <a:r>
              <a:rPr lang="en-US" sz="1000" b="1" dirty="0">
                <a:solidFill>
                  <a:srgbClr val="34B76F"/>
                </a:solidFill>
                <a:latin typeface="Calibri" pitchFamily="34" charset="0"/>
                <a:ea typeface="Calibri" pitchFamily="34" charset="-122"/>
                <a:cs typeface="Calibri" pitchFamily="34" charset="-120"/>
              </a:rPr>
              <a:t>Vegetation: </a:t>
            </a:r>
            <a:pPr indent="0" marL="0">
              <a:lnSpc>
                <a:spcPct val="140000"/>
              </a:lnSpc>
              <a:buNone/>
            </a:pPr>
            <a:r>
              <a:rPr lang="en-US" sz="1000" dirty="0">
                <a:solidFill>
                  <a:srgbClr val="0E1C42"/>
                </a:solidFill>
                <a:latin typeface="Calibri" pitchFamily="34" charset="0"/>
                <a:ea typeface="Calibri" pitchFamily="34" charset="-122"/>
                <a:cs typeface="Calibri" pitchFamily="34" charset="-120"/>
              </a:rPr>
              <a:t>Mosses, lichens only
</a:t>
            </a:r>
            <a:pPr indent="0" marL="0">
              <a:lnSpc>
                <a:spcPct val="140000"/>
              </a:lnSpc>
              <a:buNone/>
            </a:pPr>
            <a:r>
              <a:rPr lang="en-US" sz="1000" b="1" dirty="0">
                <a:solidFill>
                  <a:srgbClr val="D4943A"/>
                </a:solidFill>
                <a:latin typeface="Calibri" pitchFamily="34" charset="0"/>
                <a:ea typeface="Calibri" pitchFamily="34" charset="-122"/>
                <a:cs typeface="Calibri" pitchFamily="34" charset="-120"/>
              </a:rPr>
              <a:t>Resources: </a:t>
            </a:r>
            <a:pPr indent="0" marL="0">
              <a:lnSpc>
                <a:spcPct val="140000"/>
              </a:lnSpc>
              <a:buNone/>
            </a:pPr>
            <a:r>
              <a:rPr lang="en-US" sz="1000" dirty="0">
                <a:solidFill>
                  <a:srgbClr val="0E1C42"/>
                </a:solidFill>
                <a:latin typeface="Calibri" pitchFamily="34" charset="0"/>
                <a:ea typeface="Calibri" pitchFamily="34" charset="-122"/>
                <a:cs typeface="Calibri" pitchFamily="34" charset="-120"/>
              </a:rPr>
              <a:t>Oil, gas, minerals (frozen)</a:t>
            </a:r>
            <a:endParaRPr lang="en-US" sz="1000" dirty="0"/>
          </a:p>
        </p:txBody>
      </p:sp>
      <p:sp>
        <p:nvSpPr>
          <p:cNvPr id="26" name="Text 24"/>
          <p:cNvSpPr/>
          <p:nvPr/>
        </p:nvSpPr>
        <p:spPr>
          <a:xfrm>
            <a:off x="812800" y="7884160"/>
            <a:ext cx="14630400" cy="487680"/>
          </a:xfrm>
          <a:prstGeom prst="rect">
            <a:avLst/>
          </a:prstGeom>
          <a:noFill/>
          <a:ln/>
        </p:spPr>
        <p:txBody>
          <a:bodyPr wrap="square" rtlCol="0" anchor="ctr"/>
          <a:lstStyle/>
          <a:p>
            <a:pPr algn="ctr" indent="0" marL="0">
              <a:buNone/>
            </a:pPr>
            <a:r>
              <a:rPr lang="en-US" sz="1100" i="1" dirty="0">
                <a:solidFill>
                  <a:srgbClr val="1A8A7D"/>
                </a:solidFill>
                <a:latin typeface="Calibri" pitchFamily="34" charset="0"/>
                <a:ea typeface="Calibri" pitchFamily="34" charset="-122"/>
                <a:cs typeface="Calibri" pitchFamily="34" charset="-120"/>
              </a:rPr>
              <a:t>How does climate shape what grows and what resources are available?</a:t>
            </a:r>
            <a:endParaRPr lang="en-US" sz="1100" dirty="0"/>
          </a:p>
        </p:txBody>
      </p:sp>
      <p:sp>
        <p:nvSpPr>
          <p:cNvPr id="27" name="Text 25"/>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28" name="Text 26"/>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1A2D5A"/>
          </a:solidFill>
          <a:ln/>
        </p:spPr>
      </p:sp>
      <p:sp>
        <p:nvSpPr>
          <p:cNvPr id="3" name="Text 1"/>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Source Study: Climate Zone Photograph</a:t>
            </a:r>
            <a:endParaRPr lang="en-US" sz="2200" dirty="0"/>
          </a:p>
        </p:txBody>
      </p:sp>
      <p:sp>
        <p:nvSpPr>
          <p:cNvPr id="4" name="Text 2"/>
          <p:cNvSpPr/>
          <p:nvPr/>
        </p:nvSpPr>
        <p:spPr>
          <a:xfrm>
            <a:off x="812800" y="1381760"/>
            <a:ext cx="3576320" cy="4064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SECONDARY SOURCE</a:t>
            </a:r>
            <a:endParaRPr lang="en-US" sz="900" dirty="0"/>
          </a:p>
        </p:txBody>
      </p:sp>
      <p:sp>
        <p:nvSpPr>
          <p:cNvPr id="5" name="Shape 3"/>
          <p:cNvSpPr/>
          <p:nvPr/>
        </p:nvSpPr>
        <p:spPr>
          <a:xfrm>
            <a:off x="812800" y="2113280"/>
            <a:ext cx="7315200" cy="4876800"/>
          </a:xfrm>
          <a:prstGeom prst="roundRect">
            <a:avLst>
              <a:gd name="adj" fmla="val 4000"/>
            </a:avLst>
          </a:prstGeom>
          <a:solidFill>
            <a:srgbClr val="E2E8F4"/>
          </a:solidFill>
          <a:ln w="19050">
            <a:solidFill>
              <a:srgbClr val="B0B8CC"/>
            </a:solidFill>
            <a:prstDash val="dash"/>
          </a:ln>
        </p:spPr>
      </p:sp>
      <p:sp>
        <p:nvSpPr>
          <p:cNvPr id="6" name="Text 4"/>
          <p:cNvSpPr/>
          <p:nvPr/>
        </p:nvSpPr>
        <p:spPr>
          <a:xfrm>
            <a:off x="812800" y="2113280"/>
            <a:ext cx="73152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1056640" y="2600960"/>
            <a:ext cx="6827520" cy="422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showing a distinct climate zone — Sahara sand dunes, Amazon canopy, or Arctic tundra</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(source-3-05-03-climate-zone.jpg)</a:t>
            </a:r>
            <a:endParaRPr lang="en-US" sz="1100" dirty="0"/>
          </a:p>
        </p:txBody>
      </p:sp>
      <p:sp>
        <p:nvSpPr>
          <p:cNvPr id="8" name="Shape 6"/>
          <p:cNvSpPr/>
          <p:nvPr/>
        </p:nvSpPr>
        <p:spPr>
          <a:xfrm>
            <a:off x="8615680" y="2113280"/>
            <a:ext cx="6827520" cy="4876800"/>
          </a:xfrm>
          <a:prstGeom prst="roundRect">
            <a:avLst>
              <a:gd name="adj" fmla="val 4000"/>
            </a:avLst>
          </a:prstGeom>
          <a:solidFill>
            <a:srgbClr val="0E1C42"/>
          </a:solidFill>
          <a:ln w="12700">
            <a:solidFill>
              <a:srgbClr val="55C8E8"/>
            </a:solidFill>
            <a:prstDash val="solid"/>
          </a:ln>
        </p:spPr>
      </p:sp>
      <p:sp>
        <p:nvSpPr>
          <p:cNvPr id="9" name="Text 7"/>
          <p:cNvSpPr/>
          <p:nvPr/>
        </p:nvSpPr>
        <p:spPr>
          <a:xfrm>
            <a:off x="8940800" y="2275840"/>
            <a:ext cx="6177280" cy="4064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QUESTION LIKE A GEOGRAPHER</a:t>
            </a:r>
            <a:endParaRPr lang="en-US" sz="900" dirty="0"/>
          </a:p>
        </p:txBody>
      </p:sp>
      <p:sp>
        <p:nvSpPr>
          <p:cNvPr id="10" name="Text 8"/>
          <p:cNvSpPr/>
          <p:nvPr/>
        </p:nvSpPr>
        <p:spPr>
          <a:xfrm>
            <a:off x="8940800" y="2763520"/>
            <a:ext cx="6177280" cy="3901440"/>
          </a:xfrm>
          <a:prstGeom prst="rect">
            <a:avLst/>
          </a:prstGeom>
          <a:noFill/>
          <a:ln/>
        </p:spPr>
        <p:txBody>
          <a:bodyPr wrap="square" rtlCol="0" anchor="t"/>
          <a:lstStyle/>
          <a:p>
            <a:pPr indent="0" marL="0">
              <a:lnSpc>
                <a:spcPct val="120000"/>
              </a:lnSpc>
              <a:buNone/>
            </a:pPr>
            <a:r>
              <a:rPr lang="en-US" sz="1100" b="1" dirty="0">
                <a:solidFill>
                  <a:srgbClr val="D4943A"/>
                </a:solidFill>
                <a:latin typeface="Calibri" pitchFamily="34" charset="0"/>
                <a:ea typeface="Calibri" pitchFamily="34" charset="-122"/>
                <a:cs typeface="Calibri" pitchFamily="34" charset="-120"/>
              </a:rPr>
              <a:t>What do I see?
</a:t>
            </a:r>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What's the weather like here? What plants are growing (or not)?
</a:t>
            </a:r>
            <a:pPr indent="0" marL="0">
              <a:lnSpc>
                <a:spcPct val="120000"/>
              </a:lnSpc>
              <a:buNone/>
            </a:pPr>
            <a:r>
              <a:rPr lang="en-US" sz="1100" b="1" dirty="0">
                <a:solidFill>
                  <a:srgbClr val="D4943A"/>
                </a:solidFill>
                <a:latin typeface="Calibri" pitchFamily="34" charset="0"/>
                <a:ea typeface="Calibri" pitchFamily="34" charset="-122"/>
                <a:cs typeface="Calibri" pitchFamily="34" charset="-120"/>
              </a:rPr>
              <a:t>What does it mean?
</a:t>
            </a:r>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What might people here eat, build, or wear?
</a:t>
            </a:r>
            <a:pPr indent="0" marL="0">
              <a:lnSpc>
                <a:spcPct val="120000"/>
              </a:lnSpc>
              <a:buNone/>
            </a:pPr>
            <a:r>
              <a:rPr lang="en-US" sz="1100" b="1" dirty="0">
                <a:solidFill>
                  <a:srgbClr val="D4943A"/>
                </a:solidFill>
                <a:latin typeface="Calibri" pitchFamily="34" charset="0"/>
                <a:ea typeface="Calibri" pitchFamily="34" charset="-122"/>
                <a:cs typeface="Calibri" pitchFamily="34" charset="-120"/>
              </a:rPr>
              <a:t>Why does it matter?
</a:t>
            </a:r>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How does climate connect to the resources people can use?</a:t>
            </a:r>
            <a:endParaRPr lang="en-US" sz="1100" dirty="0"/>
          </a:p>
        </p:txBody>
      </p:sp>
      <p:sp>
        <p:nvSpPr>
          <p:cNvPr id="11" name="Text 9"/>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2" name="Text 10"/>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8F0"/>
          </a:solidFill>
          <a:ln/>
        </p:spPr>
      </p:sp>
      <p:sp>
        <p:nvSpPr>
          <p:cNvPr id="3" name="Text 1"/>
          <p:cNvSpPr/>
          <p:nvPr/>
        </p:nvSpPr>
        <p:spPr>
          <a:xfrm>
            <a:off x="812800" y="32512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Map Quest: Climate &amp; Resource Match</a:t>
            </a:r>
            <a:endParaRPr lang="en-US" sz="2200" dirty="0"/>
          </a:p>
        </p:txBody>
      </p:sp>
      <p:sp>
        <p:nvSpPr>
          <p:cNvPr id="4" name="Text 2"/>
          <p:cNvSpPr/>
          <p:nvPr/>
        </p:nvSpPr>
        <p:spPr>
          <a:xfrm>
            <a:off x="13492480" y="406400"/>
            <a:ext cx="1950720" cy="487680"/>
          </a:xfrm>
          <a:prstGeom prst="rect">
            <a:avLst>
              <a:gd name="adj" fmla="val 26667"/>
            </a:avLst>
          </a:prstGeom>
          <a:solidFill>
            <a:srgbClr val="E8636B"/>
          </a:solid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NARRATE</a:t>
            </a:r>
            <a:endParaRPr lang="en-US" sz="1000" dirty="0"/>
          </a:p>
        </p:txBody>
      </p:sp>
      <p:sp>
        <p:nvSpPr>
          <p:cNvPr id="5" name="Text 3"/>
          <p:cNvSpPr/>
          <p:nvPr/>
        </p:nvSpPr>
        <p:spPr>
          <a:xfrm>
            <a:off x="812800" y="1219200"/>
            <a:ext cx="14630400" cy="48768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Match each place to its climate, vegetation, and resource.</a:t>
            </a:r>
            <a:endParaRPr lang="en-US" sz="1300" dirty="0"/>
          </a:p>
        </p:txBody>
      </p:sp>
      <p:sp>
        <p:nvSpPr>
          <p:cNvPr id="6" name="Shape 4"/>
          <p:cNvSpPr/>
          <p:nvPr/>
        </p:nvSpPr>
        <p:spPr>
          <a:xfrm>
            <a:off x="812800" y="1950720"/>
            <a:ext cx="5689600" cy="1788160"/>
          </a:xfrm>
          <a:prstGeom prst="roundRect">
            <a:avLst>
              <a:gd name="adj" fmla="val 10909"/>
            </a:avLst>
          </a:prstGeom>
          <a:solidFill>
            <a:srgbClr val="FFFFFF"/>
          </a:solidFill>
          <a:ln w="19050">
            <a:solidFill>
              <a:srgbClr val="0E1C42"/>
            </a:solidFill>
            <a:prstDash val="solid"/>
          </a:ln>
          <a:effectLst>
            <a:outerShdw sx="100000" sy="100000" kx="0" ky="0" algn="bl" rotWithShape="0" blurRad="50800" dist="25400" dir="8100000">
              <a:srgbClr val="000000">
                <a:alpha val="10000"/>
              </a:srgbClr>
            </a:outerShdw>
          </a:effectLst>
        </p:spPr>
      </p:sp>
      <p:sp>
        <p:nvSpPr>
          <p:cNvPr id="7" name="Text 5"/>
          <p:cNvSpPr/>
          <p:nvPr/>
        </p:nvSpPr>
        <p:spPr>
          <a:xfrm>
            <a:off x="1137920" y="2194560"/>
            <a:ext cx="5039360" cy="1137920"/>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Sahara Desert (Africa)</a:t>
            </a:r>
            <a:endParaRPr lang="en-US" sz="1400" dirty="0"/>
          </a:p>
        </p:txBody>
      </p:sp>
      <p:sp>
        <p:nvSpPr>
          <p:cNvPr id="8" name="Shape 6"/>
          <p:cNvSpPr/>
          <p:nvPr/>
        </p:nvSpPr>
        <p:spPr>
          <a:xfrm>
            <a:off x="6990080" y="1950720"/>
            <a:ext cx="8453120" cy="1788160"/>
          </a:xfrm>
          <a:prstGeom prst="roundRect">
            <a:avLst>
              <a:gd name="adj" fmla="val 10909"/>
            </a:avLst>
          </a:prstGeom>
          <a:solidFill>
            <a:srgbClr val="FFFFFF"/>
          </a:solidFill>
          <a:ln w="12700">
            <a:solidFill>
              <a:srgbClr val="1A8A7D"/>
            </a:solidFill>
            <a:prstDash val="solid"/>
          </a:ln>
        </p:spPr>
      </p:sp>
      <p:sp>
        <p:nvSpPr>
          <p:cNvPr id="9" name="Text 7"/>
          <p:cNvSpPr/>
          <p:nvPr/>
        </p:nvSpPr>
        <p:spPr>
          <a:xfrm>
            <a:off x="7315200" y="2113280"/>
            <a:ext cx="7802880" cy="1463040"/>
          </a:xfrm>
          <a:prstGeom prst="rect">
            <a:avLst/>
          </a:prstGeom>
          <a:noFill/>
          <a:ln/>
        </p:spPr>
        <p:txBody>
          <a:bodyPr wrap="square"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Hot and dry year-round. Very little vegetation — some small shrubs. Oil and natural gas found underground.</a:t>
            </a:r>
            <a:endParaRPr lang="en-US" sz="1100" dirty="0"/>
          </a:p>
        </p:txBody>
      </p:sp>
      <p:sp>
        <p:nvSpPr>
          <p:cNvPr id="10" name="Shape 8"/>
          <p:cNvSpPr/>
          <p:nvPr/>
        </p:nvSpPr>
        <p:spPr>
          <a:xfrm>
            <a:off x="812800" y="4226560"/>
            <a:ext cx="5689600" cy="1788160"/>
          </a:xfrm>
          <a:prstGeom prst="roundRect">
            <a:avLst>
              <a:gd name="adj" fmla="val 10909"/>
            </a:avLst>
          </a:prstGeom>
          <a:solidFill>
            <a:srgbClr val="FFFFFF"/>
          </a:solidFill>
          <a:ln w="19050">
            <a:solidFill>
              <a:srgbClr val="0E1C42"/>
            </a:solidFill>
            <a:prstDash val="solid"/>
          </a:ln>
          <a:effectLst>
            <a:outerShdw sx="100000" sy="100000" kx="0" ky="0" algn="bl" rotWithShape="0" blurRad="50800" dist="25400" dir="8100000">
              <a:srgbClr val="000000">
                <a:alpha val="10000"/>
              </a:srgbClr>
            </a:outerShdw>
          </a:effectLst>
        </p:spPr>
      </p:sp>
      <p:sp>
        <p:nvSpPr>
          <p:cNvPr id="11" name="Text 9"/>
          <p:cNvSpPr/>
          <p:nvPr/>
        </p:nvSpPr>
        <p:spPr>
          <a:xfrm>
            <a:off x="1137920" y="4470400"/>
            <a:ext cx="5039360" cy="1137920"/>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Amazon Rainforest (S. America)</a:t>
            </a:r>
            <a:endParaRPr lang="en-US" sz="1400" dirty="0"/>
          </a:p>
        </p:txBody>
      </p:sp>
      <p:sp>
        <p:nvSpPr>
          <p:cNvPr id="12" name="Shape 10"/>
          <p:cNvSpPr/>
          <p:nvPr/>
        </p:nvSpPr>
        <p:spPr>
          <a:xfrm>
            <a:off x="6990080" y="4226560"/>
            <a:ext cx="8453120" cy="1788160"/>
          </a:xfrm>
          <a:prstGeom prst="roundRect">
            <a:avLst>
              <a:gd name="adj" fmla="val 10909"/>
            </a:avLst>
          </a:prstGeom>
          <a:solidFill>
            <a:srgbClr val="FFFFFF"/>
          </a:solidFill>
          <a:ln w="12700">
            <a:solidFill>
              <a:srgbClr val="1A8A7D"/>
            </a:solidFill>
            <a:prstDash val="solid"/>
          </a:ln>
        </p:spPr>
      </p:sp>
      <p:sp>
        <p:nvSpPr>
          <p:cNvPr id="13" name="Text 11"/>
          <p:cNvSpPr/>
          <p:nvPr/>
        </p:nvSpPr>
        <p:spPr>
          <a:xfrm>
            <a:off x="7315200" y="4389120"/>
            <a:ext cx="7802880" cy="1463040"/>
          </a:xfrm>
          <a:prstGeom prst="rect">
            <a:avLst/>
          </a:prstGeom>
          <a:noFill/>
          <a:ln/>
        </p:spPr>
        <p:txBody>
          <a:bodyPr wrap="square"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Warm and very wet. Thick forest — more plant and animal species than anywhere on Earth. Timber, freshwater, and rich soil.</a:t>
            </a:r>
            <a:endParaRPr lang="en-US" sz="1100" dirty="0"/>
          </a:p>
        </p:txBody>
      </p:sp>
      <p:sp>
        <p:nvSpPr>
          <p:cNvPr id="14" name="Shape 12"/>
          <p:cNvSpPr/>
          <p:nvPr/>
        </p:nvSpPr>
        <p:spPr>
          <a:xfrm>
            <a:off x="812800" y="6502400"/>
            <a:ext cx="5689600" cy="1788160"/>
          </a:xfrm>
          <a:prstGeom prst="roundRect">
            <a:avLst>
              <a:gd name="adj" fmla="val 10909"/>
            </a:avLst>
          </a:prstGeom>
          <a:solidFill>
            <a:srgbClr val="FFFFFF"/>
          </a:solidFill>
          <a:ln w="19050">
            <a:solidFill>
              <a:srgbClr val="0E1C42"/>
            </a:solidFill>
            <a:prstDash val="solid"/>
          </a:ln>
          <a:effectLst>
            <a:outerShdw sx="100000" sy="100000" kx="0" ky="0" algn="bl" rotWithShape="0" blurRad="50800" dist="25400" dir="8100000">
              <a:srgbClr val="000000">
                <a:alpha val="10000"/>
              </a:srgbClr>
            </a:outerShdw>
          </a:effectLst>
        </p:spPr>
      </p:sp>
      <p:sp>
        <p:nvSpPr>
          <p:cNvPr id="15" name="Text 13"/>
          <p:cNvSpPr/>
          <p:nvPr/>
        </p:nvSpPr>
        <p:spPr>
          <a:xfrm>
            <a:off x="1137920" y="6746240"/>
            <a:ext cx="5039360" cy="1137920"/>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Arctic Tundra (near North Pole)</a:t>
            </a:r>
            <a:endParaRPr lang="en-US" sz="1400" dirty="0"/>
          </a:p>
        </p:txBody>
      </p:sp>
      <p:sp>
        <p:nvSpPr>
          <p:cNvPr id="16" name="Shape 14"/>
          <p:cNvSpPr/>
          <p:nvPr/>
        </p:nvSpPr>
        <p:spPr>
          <a:xfrm>
            <a:off x="6990080" y="6502400"/>
            <a:ext cx="8453120" cy="1788160"/>
          </a:xfrm>
          <a:prstGeom prst="roundRect">
            <a:avLst>
              <a:gd name="adj" fmla="val 10909"/>
            </a:avLst>
          </a:prstGeom>
          <a:solidFill>
            <a:srgbClr val="FFFFFF"/>
          </a:solidFill>
          <a:ln w="12700">
            <a:solidFill>
              <a:srgbClr val="1A8A7D"/>
            </a:solidFill>
            <a:prstDash val="solid"/>
          </a:ln>
        </p:spPr>
      </p:sp>
      <p:sp>
        <p:nvSpPr>
          <p:cNvPr id="17" name="Text 15"/>
          <p:cNvSpPr/>
          <p:nvPr/>
        </p:nvSpPr>
        <p:spPr>
          <a:xfrm>
            <a:off x="7315200" y="6664960"/>
            <a:ext cx="7802880" cy="1463040"/>
          </a:xfrm>
          <a:prstGeom prst="rect">
            <a:avLst/>
          </a:prstGeom>
          <a:noFill/>
          <a:ln/>
        </p:spPr>
        <p:txBody>
          <a:bodyPr wrap="square"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Extremely cold with long winters. Only mosses, lichens, and tiny plants. Oil, natural gas, and minerals under the ice.</a:t>
            </a:r>
            <a:endParaRPr lang="en-US" sz="1100" dirty="0"/>
          </a:p>
        </p:txBody>
      </p:sp>
      <p:sp>
        <p:nvSpPr>
          <p:cNvPr id="18" name="Text 16"/>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9" name="Text 17"/>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Why It Matters: Then &amp; Now</a:t>
            </a:r>
            <a:endParaRPr lang="en-US" sz="2400" dirty="0"/>
          </a:p>
        </p:txBody>
      </p:sp>
      <p:sp>
        <p:nvSpPr>
          <p:cNvPr id="4" name="Shape 2"/>
          <p:cNvSpPr/>
          <p:nvPr/>
        </p:nvSpPr>
        <p:spPr>
          <a:xfrm>
            <a:off x="812800" y="1625600"/>
            <a:ext cx="6990080" cy="5201920"/>
          </a:xfrm>
          <a:prstGeom prst="roundRect">
            <a:avLst>
              <a:gd name="adj" fmla="val 3750"/>
            </a:avLst>
          </a:prstGeom>
          <a:solidFill>
            <a:srgbClr val="FFF3DC"/>
          </a:solidFill>
          <a:ln w="19050">
            <a:solidFill>
              <a:srgbClr val="D4943A"/>
            </a:solidFill>
            <a:prstDash val="solid"/>
          </a:ln>
        </p:spPr>
      </p:sp>
      <p:sp>
        <p:nvSpPr>
          <p:cNvPr id="5" name="Text 3"/>
          <p:cNvSpPr/>
          <p:nvPr/>
        </p:nvSpPr>
        <p:spPr>
          <a:xfrm>
            <a:off x="1137920" y="1788160"/>
            <a:ext cx="6339840" cy="40640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LONG AGO</a:t>
            </a:r>
            <a:endParaRPr lang="en-US" sz="1000" dirty="0"/>
          </a:p>
        </p:txBody>
      </p:sp>
      <p:sp>
        <p:nvSpPr>
          <p:cNvPr id="6" name="Text 4"/>
          <p:cNvSpPr/>
          <p:nvPr/>
        </p:nvSpPr>
        <p:spPr>
          <a:xfrm>
            <a:off x="1137920" y="2357120"/>
            <a:ext cx="6339840" cy="2438400"/>
          </a:xfrm>
          <a:prstGeom prst="rect">
            <a:avLst/>
          </a:prstGeom>
          <a:noFill/>
          <a:ln/>
        </p:spPr>
        <p:txBody>
          <a:bodyPr wrap="square" rtlCol="0" anchor="t"/>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People settled near places with good soil, fresh water, and mild climate because that's where they could grow food and build shelter.</a:t>
            </a:r>
            <a:endParaRPr lang="en-US" sz="1300" dirty="0"/>
          </a:p>
        </p:txBody>
      </p:sp>
      <p:sp>
        <p:nvSpPr>
          <p:cNvPr id="7" name="Shape 5"/>
          <p:cNvSpPr/>
          <p:nvPr/>
        </p:nvSpPr>
        <p:spPr>
          <a:xfrm>
            <a:off x="1300480" y="4876800"/>
            <a:ext cx="6014720" cy="1625600"/>
          </a:xfrm>
          <a:prstGeom prst="roundRect">
            <a:avLst>
              <a:gd name="adj" fmla="val 12000"/>
            </a:avLst>
          </a:prstGeom>
          <a:solidFill>
            <a:srgbClr val="E2E8F4"/>
          </a:solidFill>
          <a:ln w="19050">
            <a:solidFill>
              <a:srgbClr val="B0B8CC"/>
            </a:solidFill>
            <a:prstDash val="dash"/>
          </a:ln>
        </p:spPr>
      </p:sp>
      <p:sp>
        <p:nvSpPr>
          <p:cNvPr id="8" name="Text 6"/>
          <p:cNvSpPr/>
          <p:nvPr/>
        </p:nvSpPr>
        <p:spPr>
          <a:xfrm>
            <a:off x="1300480" y="4876800"/>
            <a:ext cx="60147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1544320" y="5364480"/>
            <a:ext cx="5527040" cy="975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Ancient village near a river with fertile fields</a:t>
            </a:r>
            <a:endParaRPr lang="en-US" sz="1100" dirty="0"/>
          </a:p>
        </p:txBody>
      </p:sp>
      <p:sp>
        <p:nvSpPr>
          <p:cNvPr id="10" name="Shape 8"/>
          <p:cNvSpPr/>
          <p:nvPr/>
        </p:nvSpPr>
        <p:spPr>
          <a:xfrm>
            <a:off x="8453120" y="1625600"/>
            <a:ext cx="6990080" cy="5201920"/>
          </a:xfrm>
          <a:prstGeom prst="roundRect">
            <a:avLst>
              <a:gd name="adj" fmla="val 3750"/>
            </a:avLst>
          </a:prstGeom>
          <a:solidFill>
            <a:srgbClr val="EAF8FD"/>
          </a:solidFill>
          <a:ln w="19050">
            <a:solidFill>
              <a:srgbClr val="55C8E8"/>
            </a:solidFill>
            <a:prstDash val="solid"/>
          </a:ln>
        </p:spPr>
      </p:sp>
      <p:sp>
        <p:nvSpPr>
          <p:cNvPr id="11" name="Text 9"/>
          <p:cNvSpPr/>
          <p:nvPr/>
        </p:nvSpPr>
        <p:spPr>
          <a:xfrm>
            <a:off x="8778240" y="1788160"/>
            <a:ext cx="6339840" cy="40640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TODAY</a:t>
            </a:r>
            <a:endParaRPr lang="en-US" sz="1000" dirty="0"/>
          </a:p>
        </p:txBody>
      </p:sp>
      <p:sp>
        <p:nvSpPr>
          <p:cNvPr id="12" name="Text 10"/>
          <p:cNvSpPr/>
          <p:nvPr/>
        </p:nvSpPr>
        <p:spPr>
          <a:xfrm>
            <a:off x="8778240" y="2357120"/>
            <a:ext cx="6339840" cy="2438400"/>
          </a:xfrm>
          <a:prstGeom prst="rect">
            <a:avLst/>
          </a:prstGeom>
          <a:noFill/>
          <a:ln/>
        </p:spPr>
        <p:txBody>
          <a:bodyPr wrap="square" rtlCol="0" anchor="t"/>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People still need natural resources — but they can also ship them from far away. Resources still matter, but access has changed.</a:t>
            </a:r>
            <a:endParaRPr lang="en-US" sz="1300" dirty="0"/>
          </a:p>
        </p:txBody>
      </p:sp>
      <p:sp>
        <p:nvSpPr>
          <p:cNvPr id="13" name="Shape 11"/>
          <p:cNvSpPr/>
          <p:nvPr/>
        </p:nvSpPr>
        <p:spPr>
          <a:xfrm>
            <a:off x="8940800" y="4876800"/>
            <a:ext cx="6014720" cy="1625600"/>
          </a:xfrm>
          <a:prstGeom prst="roundRect">
            <a:avLst>
              <a:gd name="adj" fmla="val 12000"/>
            </a:avLst>
          </a:prstGeom>
          <a:solidFill>
            <a:srgbClr val="E2E8F4"/>
          </a:solidFill>
          <a:ln w="19050">
            <a:solidFill>
              <a:srgbClr val="B0B8CC"/>
            </a:solidFill>
            <a:prstDash val="dash"/>
          </a:ln>
        </p:spPr>
      </p:sp>
      <p:sp>
        <p:nvSpPr>
          <p:cNvPr id="14" name="Text 12"/>
          <p:cNvSpPr/>
          <p:nvPr/>
        </p:nvSpPr>
        <p:spPr>
          <a:xfrm>
            <a:off x="8940800" y="4876800"/>
            <a:ext cx="60147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9184640" y="5364480"/>
            <a:ext cx="5527040" cy="9753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cargo ship or train carrying resources across the globe</a:t>
            </a:r>
            <a:endParaRPr lang="en-US" sz="1100" dirty="0"/>
          </a:p>
        </p:txBody>
      </p:sp>
      <p:sp>
        <p:nvSpPr>
          <p:cNvPr id="16" name="Shape 14"/>
          <p:cNvSpPr/>
          <p:nvPr/>
        </p:nvSpPr>
        <p:spPr>
          <a:xfrm>
            <a:off x="812800" y="7152640"/>
            <a:ext cx="14630400" cy="1463040"/>
          </a:xfrm>
          <a:prstGeom prst="roundRect">
            <a:avLst>
              <a:gd name="adj" fmla="val 16667"/>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1137920" y="731520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1137920" y="7770368"/>
            <a:ext cx="13980160" cy="68275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stayed the same about why resources matter to communities?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changed about how people get the resources they need?</a:t>
            </a:r>
            <a:endParaRPr lang="en-US" sz="1100" dirty="0"/>
          </a:p>
        </p:txBody>
      </p:sp>
      <p:sp>
        <p:nvSpPr>
          <p:cNvPr id="19" name="Text 17"/>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20" name="Text 18"/>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146304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Exhibit Label: Key Definitions</a:t>
            </a:r>
            <a:endParaRPr lang="en-US" sz="2400" dirty="0"/>
          </a:p>
        </p:txBody>
      </p:sp>
      <p:sp>
        <p:nvSpPr>
          <p:cNvPr id="4" name="Shape 2"/>
          <p:cNvSpPr/>
          <p:nvPr/>
        </p:nvSpPr>
        <p:spPr>
          <a:xfrm>
            <a:off x="812800" y="1788160"/>
            <a:ext cx="14630400" cy="1544320"/>
          </a:xfrm>
          <a:prstGeom prst="roundRect">
            <a:avLst>
              <a:gd name="adj" fmla="val 12632"/>
            </a:avLst>
          </a:prstGeom>
          <a:solidFill>
            <a:srgbClr val="FFFFFF"/>
          </a:solidFill>
          <a:ln w="25400">
            <a:solidFill>
              <a:srgbClr val="1A8A7D"/>
            </a:solidFill>
            <a:prstDash val="solid"/>
          </a:ln>
          <a:effectLst>
            <a:outerShdw sx="100000" sy="100000" kx="0" ky="0" algn="bl" rotWithShape="0" blurRad="50800" dist="12700" dir="8100000">
              <a:srgbClr val="000000">
                <a:alpha val="8000"/>
              </a:srgbClr>
            </a:outerShdw>
          </a:effectLst>
        </p:spPr>
      </p:sp>
      <p:sp>
        <p:nvSpPr>
          <p:cNvPr id="5" name="Text 3"/>
          <p:cNvSpPr/>
          <p:nvPr/>
        </p:nvSpPr>
        <p:spPr>
          <a:xfrm>
            <a:off x="1300480" y="1950720"/>
            <a:ext cx="4064000" cy="1219200"/>
          </a:xfrm>
          <a:prstGeom prst="rect">
            <a:avLst/>
          </a:prstGeom>
          <a:noFill/>
          <a:ln/>
        </p:spPr>
        <p:txBody>
          <a:bodyPr wrap="square"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Climate</a:t>
            </a:r>
            <a:endParaRPr lang="en-US" sz="1600" dirty="0"/>
          </a:p>
        </p:txBody>
      </p:sp>
      <p:sp>
        <p:nvSpPr>
          <p:cNvPr id="6" name="Text 4"/>
          <p:cNvSpPr/>
          <p:nvPr/>
        </p:nvSpPr>
        <p:spPr>
          <a:xfrm>
            <a:off x="5364480" y="1950720"/>
            <a:ext cx="9591040" cy="1219200"/>
          </a:xfrm>
          <a:prstGeom prst="rect">
            <a:avLst/>
          </a:prstGeom>
          <a:noFill/>
          <a:ln/>
        </p:spPr>
        <p:txBody>
          <a:bodyPr wrap="square"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The usual weather pattern of a place over a long time.</a:t>
            </a:r>
            <a:endParaRPr lang="en-US" sz="1300" dirty="0"/>
          </a:p>
        </p:txBody>
      </p:sp>
      <p:sp>
        <p:nvSpPr>
          <p:cNvPr id="7" name="Shape 5"/>
          <p:cNvSpPr/>
          <p:nvPr/>
        </p:nvSpPr>
        <p:spPr>
          <a:xfrm>
            <a:off x="812800" y="3738880"/>
            <a:ext cx="14630400" cy="1544320"/>
          </a:xfrm>
          <a:prstGeom prst="roundRect">
            <a:avLst>
              <a:gd name="adj" fmla="val 12632"/>
            </a:avLst>
          </a:prstGeom>
          <a:solidFill>
            <a:srgbClr val="FFFFFF"/>
          </a:solidFill>
          <a:ln w="25400">
            <a:solidFill>
              <a:srgbClr val="34B76F"/>
            </a:solidFill>
            <a:prstDash val="solid"/>
          </a:ln>
          <a:effectLst>
            <a:outerShdw sx="100000" sy="100000" kx="0" ky="0" algn="bl" rotWithShape="0" blurRad="50800" dist="12700" dir="8100000">
              <a:srgbClr val="000000">
                <a:alpha val="8000"/>
              </a:srgbClr>
            </a:outerShdw>
          </a:effectLst>
        </p:spPr>
      </p:sp>
      <p:sp>
        <p:nvSpPr>
          <p:cNvPr id="8" name="Text 6"/>
          <p:cNvSpPr/>
          <p:nvPr/>
        </p:nvSpPr>
        <p:spPr>
          <a:xfrm>
            <a:off x="1300480" y="3901440"/>
            <a:ext cx="4064000" cy="1219200"/>
          </a:xfrm>
          <a:prstGeom prst="rect">
            <a:avLst/>
          </a:prstGeom>
          <a:noFill/>
          <a:ln/>
        </p:spPr>
        <p:txBody>
          <a:bodyPr wrap="square"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Vegetation</a:t>
            </a:r>
            <a:endParaRPr lang="en-US" sz="1600" dirty="0"/>
          </a:p>
        </p:txBody>
      </p:sp>
      <p:sp>
        <p:nvSpPr>
          <p:cNvPr id="9" name="Text 7"/>
          <p:cNvSpPr/>
          <p:nvPr/>
        </p:nvSpPr>
        <p:spPr>
          <a:xfrm>
            <a:off x="5364480" y="3901440"/>
            <a:ext cx="9591040" cy="1219200"/>
          </a:xfrm>
          <a:prstGeom prst="rect">
            <a:avLst/>
          </a:prstGeom>
          <a:noFill/>
          <a:ln/>
        </p:spPr>
        <p:txBody>
          <a:bodyPr wrap="square"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The plant life that grows in a place.</a:t>
            </a:r>
            <a:endParaRPr lang="en-US" sz="1300" dirty="0"/>
          </a:p>
        </p:txBody>
      </p:sp>
      <p:sp>
        <p:nvSpPr>
          <p:cNvPr id="10" name="Shape 8"/>
          <p:cNvSpPr/>
          <p:nvPr/>
        </p:nvSpPr>
        <p:spPr>
          <a:xfrm>
            <a:off x="812800" y="5689600"/>
            <a:ext cx="14630400" cy="1544320"/>
          </a:xfrm>
          <a:prstGeom prst="roundRect">
            <a:avLst>
              <a:gd name="adj" fmla="val 12632"/>
            </a:avLst>
          </a:prstGeom>
          <a:solidFill>
            <a:srgbClr val="FFFFFF"/>
          </a:solidFill>
          <a:ln w="25400">
            <a:solidFill>
              <a:srgbClr val="D4943A"/>
            </a:solidFill>
            <a:prstDash val="solid"/>
          </a:ln>
          <a:effectLst>
            <a:outerShdw sx="100000" sy="100000" kx="0" ky="0" algn="bl" rotWithShape="0" blurRad="50800" dist="12700" dir="8100000">
              <a:srgbClr val="000000">
                <a:alpha val="8000"/>
              </a:srgbClr>
            </a:outerShdw>
          </a:effectLst>
        </p:spPr>
      </p:sp>
      <p:sp>
        <p:nvSpPr>
          <p:cNvPr id="11" name="Text 9"/>
          <p:cNvSpPr/>
          <p:nvPr/>
        </p:nvSpPr>
        <p:spPr>
          <a:xfrm>
            <a:off x="1300480" y="5852160"/>
            <a:ext cx="4064000" cy="1219200"/>
          </a:xfrm>
          <a:prstGeom prst="rect">
            <a:avLst/>
          </a:prstGeom>
          <a:noFill/>
          <a:ln/>
        </p:spPr>
        <p:txBody>
          <a:bodyPr wrap="square"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Natural Resources</a:t>
            </a:r>
            <a:endParaRPr lang="en-US" sz="1600" dirty="0"/>
          </a:p>
        </p:txBody>
      </p:sp>
      <p:sp>
        <p:nvSpPr>
          <p:cNvPr id="12" name="Text 10"/>
          <p:cNvSpPr/>
          <p:nvPr/>
        </p:nvSpPr>
        <p:spPr>
          <a:xfrm>
            <a:off x="5364480" y="5852160"/>
            <a:ext cx="9591040" cy="1219200"/>
          </a:xfrm>
          <a:prstGeom prst="rect">
            <a:avLst/>
          </a:prstGeom>
          <a:noFill/>
          <a:ln/>
        </p:spPr>
        <p:txBody>
          <a:bodyPr wrap="square"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Useful things found in nature — like water, trees, soil, minerals, and oil.</a:t>
            </a:r>
            <a:endParaRPr lang="en-US" sz="1300" dirty="0"/>
          </a:p>
        </p:txBody>
      </p:sp>
      <p:sp>
        <p:nvSpPr>
          <p:cNvPr id="13" name="Shape 11"/>
          <p:cNvSpPr/>
          <p:nvPr/>
        </p:nvSpPr>
        <p:spPr>
          <a:xfrm>
            <a:off x="2438400" y="7477760"/>
            <a:ext cx="11379200" cy="975360"/>
          </a:xfrm>
          <a:prstGeom prst="roundRect">
            <a:avLst>
              <a:gd name="adj" fmla="val 20000"/>
            </a:avLst>
          </a:prstGeom>
          <a:solidFill>
            <a:srgbClr val="EAF8FD"/>
          </a:solidFill>
          <a:ln w="12700">
            <a:solidFill>
              <a:srgbClr val="55C8E8"/>
            </a:solidFill>
            <a:prstDash val="solid"/>
          </a:ln>
        </p:spPr>
      </p:sp>
      <p:sp>
        <p:nvSpPr>
          <p:cNvPr id="14" name="Text 12"/>
          <p:cNvSpPr/>
          <p:nvPr/>
        </p:nvSpPr>
        <p:spPr>
          <a:xfrm>
            <a:off x="2763520" y="7559040"/>
            <a:ext cx="10728960" cy="812800"/>
          </a:xfrm>
          <a:prstGeom prst="rect">
            <a:avLst/>
          </a:prstGeom>
          <a:noFill/>
          <a:ln/>
        </p:spPr>
        <p:txBody>
          <a:bodyPr wrap="square" rtlCol="0" anchor="ctr"/>
          <a:lstStyle/>
          <a:p>
            <a:pPr algn="ctr" indent="0" marL="0">
              <a:buNone/>
            </a:pPr>
            <a:r>
              <a:rPr lang="en-US" sz="1200" i="1" dirty="0">
                <a:solidFill>
                  <a:srgbClr val="0E1C42"/>
                </a:solidFill>
                <a:latin typeface="Calibri" pitchFamily="34" charset="0"/>
                <a:ea typeface="Calibri" pitchFamily="34" charset="-122"/>
                <a:cs typeface="Calibri" pitchFamily="34" charset="-120"/>
              </a:rPr>
              <a:t>Together, climate, vegetation, and natural resources tell visitors what a place is really like — not just where it is.</a:t>
            </a:r>
            <a:endParaRPr lang="en-US" sz="1200" dirty="0"/>
          </a:p>
        </p:txBody>
      </p:sp>
      <p:sp>
        <p:nvSpPr>
          <p:cNvPr id="15" name="Text 13"/>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6" name="Text 14"/>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8128000" cy="812800"/>
          </a:xfrm>
          <a:prstGeom prst="rect">
            <a:avLst/>
          </a:prstGeom>
          <a:noFill/>
          <a:ln/>
        </p:spPr>
        <p:txBody>
          <a:bodyPr wrap="square" rtlCol="0" anchor="ctr"/>
          <a:lstStyle/>
          <a:p>
            <a:pPr indent="0" marL="0">
              <a:buNone/>
            </a:pPr>
            <a:r>
              <a:rPr lang="en-US" sz="2400" b="1" dirty="0">
                <a:solidFill>
                  <a:srgbClr val="8B6FC0"/>
                </a:solidFill>
                <a:latin typeface="Cambria" pitchFamily="34" charset="0"/>
                <a:ea typeface="Cambria" pitchFamily="34" charset="-122"/>
                <a:cs typeface="Cambria" pitchFamily="34" charset="-120"/>
              </a:rPr>
              <a:t>Opti Says...</a:t>
            </a:r>
            <a:endParaRPr lang="en-US" sz="2400" dirty="0"/>
          </a:p>
        </p:txBody>
      </p:sp>
      <p:sp>
        <p:nvSpPr>
          <p:cNvPr id="4" name="Shape 2"/>
          <p:cNvSpPr/>
          <p:nvPr/>
        </p:nvSpPr>
        <p:spPr>
          <a:xfrm>
            <a:off x="2438400" y="1950720"/>
            <a:ext cx="11379200" cy="4064000"/>
          </a:xfrm>
          <a:prstGeom prst="roundRect">
            <a:avLst>
              <a:gd name="adj" fmla="val 6000"/>
            </a:avLst>
          </a:prstGeom>
          <a:solidFill>
            <a:srgbClr val="F0E8FF"/>
          </a:solidFill>
          <a:ln w="25400">
            <a:solidFill>
              <a:srgbClr val="8B6FC0"/>
            </a:solidFill>
            <a:prstDash val="solid"/>
          </a:ln>
          <a:effectLst>
            <a:outerShdw sx="100000" sy="100000" kx="0" ky="0" algn="bl" rotWithShape="0" blurRad="76200" dist="25400" dir="8100000">
              <a:srgbClr val="000000">
                <a:alpha val="10000"/>
              </a:srgbClr>
            </a:outerShdw>
          </a:effectLst>
        </p:spPr>
      </p:sp>
      <p:sp>
        <p:nvSpPr>
          <p:cNvPr id="5" name="Shape 3"/>
          <p:cNvSpPr/>
          <p:nvPr/>
        </p:nvSpPr>
        <p:spPr>
          <a:xfrm>
            <a:off x="2926080" y="2275840"/>
            <a:ext cx="2438400" cy="2438400"/>
          </a:xfrm>
          <a:prstGeom prst="roundRect">
            <a:avLst>
              <a:gd name="adj" fmla="val 8000"/>
            </a:avLst>
          </a:prstGeom>
          <a:solidFill>
            <a:srgbClr val="E2E8F4"/>
          </a:solidFill>
          <a:ln w="19050">
            <a:solidFill>
              <a:srgbClr val="B0B8CC"/>
            </a:solidFill>
            <a:prstDash val="dash"/>
          </a:ln>
        </p:spPr>
      </p:sp>
      <p:sp>
        <p:nvSpPr>
          <p:cNvPr id="6" name="Text 4"/>
          <p:cNvSpPr/>
          <p:nvPr/>
        </p:nvSpPr>
        <p:spPr>
          <a:xfrm>
            <a:off x="2926080" y="2275840"/>
            <a:ext cx="24384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3169920" y="2763520"/>
            <a:ext cx="1950720" cy="1788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Opti mascot with a fun fact speech bubble</a:t>
            </a:r>
            <a:endParaRPr lang="en-US" sz="1100" dirty="0"/>
          </a:p>
        </p:txBody>
      </p:sp>
      <p:sp>
        <p:nvSpPr>
          <p:cNvPr id="8" name="Text 6"/>
          <p:cNvSpPr/>
          <p:nvPr/>
        </p:nvSpPr>
        <p:spPr>
          <a:xfrm>
            <a:off x="5689600" y="2438400"/>
            <a:ext cx="7640320" cy="3251200"/>
          </a:xfrm>
          <a:prstGeom prst="rect">
            <a:avLst/>
          </a:prstGeom>
          <a:noFill/>
          <a:ln/>
        </p:spPr>
        <p:txBody>
          <a:bodyPr wrap="square" rtlCol="0" anchor="ctr"/>
          <a:lstStyle/>
          <a:p>
            <a:pPr indent="0" marL="0">
              <a:lnSpc>
                <a:spcPct val="130000"/>
              </a:lnSpc>
              <a:buNone/>
            </a:pPr>
            <a:r>
              <a:rPr lang="en-US" sz="1500" i="1" dirty="0">
                <a:solidFill>
                  <a:srgbClr val="0E1C42"/>
                </a:solidFill>
                <a:latin typeface="Calibri" pitchFamily="34" charset="0"/>
                <a:ea typeface="Calibri" pitchFamily="34" charset="-122"/>
                <a:cs typeface="Calibri" pitchFamily="34" charset="-120"/>
              </a:rPr>
              <a:t>The Amazon Rainforest makes so much rain on its own that scientists call it a "rain machine." The trees release water into the air, and it falls right back down as rain!</a:t>
            </a:r>
            <a:endParaRPr lang="en-US" sz="1500" dirty="0"/>
          </a:p>
        </p:txBody>
      </p:sp>
      <p:sp>
        <p:nvSpPr>
          <p:cNvPr id="9" name="Text 7"/>
          <p:cNvSpPr/>
          <p:nvPr/>
        </p:nvSpPr>
        <p:spPr>
          <a:xfrm>
            <a:off x="2438400" y="6339840"/>
            <a:ext cx="11379200" cy="812800"/>
          </a:xfrm>
          <a:prstGeom prst="rect">
            <a:avLst/>
          </a:prstGeom>
          <a:noFill/>
          <a:ln/>
        </p:spPr>
        <p:txBody>
          <a:bodyPr wrap="square"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Climate and vegetation aren't just connected — sometimes vegetation creates its own climate!</a:t>
            </a:r>
            <a:endParaRPr lang="en-US" sz="1200" dirty="0"/>
          </a:p>
        </p:txBody>
      </p:sp>
      <p:sp>
        <p:nvSpPr>
          <p:cNvPr id="10" name="Text 8"/>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1" name="Text 9"/>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1A2D5A"/>
          </a:solidFill>
          <a:ln/>
        </p:spPr>
      </p:sp>
      <p:sp>
        <p:nvSpPr>
          <p:cNvPr id="3" name="Text 1"/>
          <p:cNvSpPr/>
          <p:nvPr/>
        </p:nvSpPr>
        <p:spPr>
          <a:xfrm>
            <a:off x="812800" y="812800"/>
            <a:ext cx="14630400" cy="975360"/>
          </a:xfrm>
          <a:prstGeom prst="rect">
            <a:avLst/>
          </a:prstGeom>
          <a:noFill/>
          <a:ln/>
        </p:spPr>
        <p:txBody>
          <a:bodyPr wrap="square"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Honesty in Action</a:t>
            </a:r>
            <a:endParaRPr lang="en-US" sz="2800" dirty="0"/>
          </a:p>
        </p:txBody>
      </p:sp>
      <p:sp>
        <p:nvSpPr>
          <p:cNvPr id="4" name="Shape 2"/>
          <p:cNvSpPr/>
          <p:nvPr/>
        </p:nvSpPr>
        <p:spPr>
          <a:xfrm>
            <a:off x="2438400" y="2275840"/>
            <a:ext cx="11379200" cy="3251200"/>
          </a:xfrm>
          <a:prstGeom prst="roundRect">
            <a:avLst>
              <a:gd name="adj" fmla="val 7500"/>
            </a:avLst>
          </a:prstGeom>
          <a:solidFill>
            <a:srgbClr val="0E1C42"/>
          </a:solidFill>
          <a:ln w="19050">
            <a:solidFill>
              <a:srgbClr val="1A8A7D"/>
            </a:solidFill>
            <a:prstDash val="solid"/>
          </a:ln>
        </p:spPr>
      </p:sp>
      <p:sp>
        <p:nvSpPr>
          <p:cNvPr id="5" name="Text 3"/>
          <p:cNvSpPr/>
          <p:nvPr/>
        </p:nvSpPr>
        <p:spPr>
          <a:xfrm>
            <a:off x="2926080" y="2519680"/>
            <a:ext cx="10403840" cy="812800"/>
          </a:xfrm>
          <a:prstGeom prst="rect">
            <a:avLst/>
          </a:prstGeom>
          <a:noFill/>
          <a:ln/>
        </p:spPr>
        <p:txBody>
          <a:bodyPr wrap="square"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A curator writes on the climate panel: "Africa is always hot."</a:t>
            </a:r>
            <a:endParaRPr lang="en-US" sz="1400" dirty="0"/>
          </a:p>
        </p:txBody>
      </p:sp>
      <p:sp>
        <p:nvSpPr>
          <p:cNvPr id="6" name="Text 4"/>
          <p:cNvSpPr/>
          <p:nvPr/>
        </p:nvSpPr>
        <p:spPr>
          <a:xfrm>
            <a:off x="2926080" y="3413760"/>
            <a:ext cx="10403840" cy="812800"/>
          </a:xfrm>
          <a:prstGeom prst="rect">
            <a:avLst/>
          </a:prstGeom>
          <a:noFill/>
          <a:ln/>
        </p:spPr>
        <p:txBody>
          <a:bodyPr wrap="square"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Is this honest and accurate? Why or why not?</a:t>
            </a:r>
            <a:endParaRPr lang="en-US" sz="1400" dirty="0"/>
          </a:p>
        </p:txBody>
      </p:sp>
      <p:sp>
        <p:nvSpPr>
          <p:cNvPr id="7" name="Text 5"/>
          <p:cNvSpPr/>
          <p:nvPr/>
        </p:nvSpPr>
        <p:spPr>
          <a:xfrm>
            <a:off x="2926080" y="4307840"/>
            <a:ext cx="10403840" cy="894080"/>
          </a:xfrm>
          <a:prstGeom prst="rect">
            <a:avLst/>
          </a:prstGeom>
          <a:noFill/>
          <a:ln/>
        </p:spPr>
        <p:txBody>
          <a:bodyPr wrap="square" rtlCol="0" anchor="ctr"/>
          <a:lstStyle/>
          <a:p>
            <a:pPr indent="0" marL="0">
              <a:lnSpc>
                <a:spcPct val="120000"/>
              </a:lnSpc>
              <a:buNone/>
            </a:pPr>
            <a:r>
              <a:rPr lang="en-US" sz="1200" dirty="0">
                <a:solidFill>
                  <a:srgbClr val="55C8E8"/>
                </a:solidFill>
                <a:latin typeface="Calibri" pitchFamily="34" charset="0"/>
                <a:ea typeface="Calibri" pitchFamily="34" charset="-122"/>
                <a:cs typeface="Calibri" pitchFamily="34" charset="-120"/>
              </a:rPr>
              <a:t>Africa has deserts, rainforests, AND snowy mountains. Describing a whole continent with one word isn't honest — it skips the details that matter.</a:t>
            </a:r>
            <a:endParaRPr lang="en-US" sz="1200" dirty="0"/>
          </a:p>
        </p:txBody>
      </p:sp>
      <p:sp>
        <p:nvSpPr>
          <p:cNvPr id="8" name="Shape 6"/>
          <p:cNvSpPr/>
          <p:nvPr/>
        </p:nvSpPr>
        <p:spPr>
          <a:xfrm>
            <a:off x="2438400" y="6014720"/>
            <a:ext cx="11379200" cy="2438400"/>
          </a:xfrm>
          <a:prstGeom prst="roundRect">
            <a:avLst>
              <a:gd name="adj" fmla="val 8000"/>
            </a:avLst>
          </a:prstGeom>
          <a:solidFill>
            <a:srgbClr val="FFF3DC"/>
          </a:solidFill>
          <a:ln w="19050">
            <a:solidFill>
              <a:srgbClr val="F5E6C8"/>
            </a:solidFill>
            <a:prstDash val="solid"/>
          </a:ln>
        </p:spPr>
      </p:sp>
      <p:sp>
        <p:nvSpPr>
          <p:cNvPr id="9" name="Text 7"/>
          <p:cNvSpPr/>
          <p:nvPr/>
        </p:nvSpPr>
        <p:spPr>
          <a:xfrm>
            <a:off x="2682240" y="6112256"/>
            <a:ext cx="108915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2682240" y="6469888"/>
            <a:ext cx="10891520" cy="1869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"Is it honest to say 'Africa is always hot'?"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details would make it more accurate?"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"How does honesty help a museum visitor learn?"</a:t>
            </a:r>
            <a:endParaRPr lang="en-US" sz="1200" dirty="0"/>
          </a:p>
        </p:txBody>
      </p:sp>
      <p:sp>
        <p:nvSpPr>
          <p:cNvPr id="11" name="Text 9"/>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2" name="Text 10"/>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FF8F0"/>
          </a:solidFill>
          <a:ln/>
        </p:spPr>
      </p:sp>
      <p:sp>
        <p:nvSpPr>
          <p:cNvPr id="3" name="Text 1"/>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Error Analysis: Find the Mistakes</a:t>
            </a:r>
            <a:endParaRPr lang="en-US" sz="2200" dirty="0"/>
          </a:p>
        </p:txBody>
      </p:sp>
      <p:sp>
        <p:nvSpPr>
          <p:cNvPr id="4" name="Text 2"/>
          <p:cNvSpPr/>
          <p:nvPr/>
        </p:nvSpPr>
        <p:spPr>
          <a:xfrm>
            <a:off x="812800" y="1381760"/>
            <a:ext cx="14630400" cy="487680"/>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A volunteer wrote these panel descriptions. What's wrong?</a:t>
            </a:r>
            <a:endParaRPr lang="en-US" sz="1300" dirty="0"/>
          </a:p>
        </p:txBody>
      </p:sp>
      <p:sp>
        <p:nvSpPr>
          <p:cNvPr id="5" name="Shape 3"/>
          <p:cNvSpPr/>
          <p:nvPr/>
        </p:nvSpPr>
        <p:spPr>
          <a:xfrm>
            <a:off x="812800" y="2113280"/>
            <a:ext cx="7315200" cy="1625600"/>
          </a:xfrm>
          <a:prstGeom prst="roundRect">
            <a:avLst>
              <a:gd name="adj" fmla="val 10000"/>
            </a:avLst>
          </a:prstGeom>
          <a:solidFill>
            <a:srgbClr val="FFFFFF"/>
          </a:solidFill>
          <a:ln w="25400">
            <a:solidFill>
              <a:srgbClr val="E8636B"/>
            </a:solidFill>
            <a:prstDash val="solid"/>
          </a:ln>
        </p:spPr>
      </p:sp>
      <p:sp>
        <p:nvSpPr>
          <p:cNvPr id="6" name="Text 4"/>
          <p:cNvSpPr/>
          <p:nvPr/>
        </p:nvSpPr>
        <p:spPr>
          <a:xfrm>
            <a:off x="1137920" y="2275840"/>
            <a:ext cx="6664960" cy="1300480"/>
          </a:xfrm>
          <a:prstGeom prst="rect">
            <a:avLst/>
          </a:prstGeom>
          <a:noFill/>
          <a:ln/>
        </p:spPr>
        <p:txBody>
          <a:bodyPr wrap="square" rtlCol="0" anchor="ctr"/>
          <a:lstStyle/>
          <a:p>
            <a:pPr indent="0" marL="0">
              <a:buNone/>
            </a:pPr>
            <a:r>
              <a:rPr lang="en-US" sz="1200" i="1" dirty="0">
                <a:solidFill>
                  <a:srgbClr val="E8636B"/>
                </a:solidFill>
                <a:latin typeface="Cambria" pitchFamily="34" charset="0"/>
                <a:ea typeface="Cambria" pitchFamily="34" charset="-122"/>
                <a:cs typeface="Cambria" pitchFamily="34" charset="-120"/>
              </a:rPr>
              <a:t>"Climate is today's weather forecast for a place."</a:t>
            </a:r>
            <a:endParaRPr lang="en-US" sz="1200" dirty="0"/>
          </a:p>
        </p:txBody>
      </p:sp>
      <p:sp>
        <p:nvSpPr>
          <p:cNvPr id="7" name="Shape 5"/>
          <p:cNvSpPr/>
          <p:nvPr/>
        </p:nvSpPr>
        <p:spPr>
          <a:xfrm>
            <a:off x="8453120" y="2113280"/>
            <a:ext cx="6990080" cy="1625600"/>
          </a:xfrm>
          <a:prstGeom prst="roundRect">
            <a:avLst>
              <a:gd name="adj" fmla="val 10000"/>
            </a:avLst>
          </a:prstGeom>
          <a:solidFill>
            <a:srgbClr val="E3F8ED"/>
          </a:solidFill>
          <a:ln w="19050">
            <a:solidFill>
              <a:srgbClr val="34B76F"/>
            </a:solidFill>
            <a:prstDash val="solid"/>
          </a:ln>
        </p:spPr>
      </p:sp>
      <p:sp>
        <p:nvSpPr>
          <p:cNvPr id="8" name="Text 6"/>
          <p:cNvSpPr/>
          <p:nvPr/>
        </p:nvSpPr>
        <p:spPr>
          <a:xfrm>
            <a:off x="8778240" y="2275840"/>
            <a:ext cx="6339840" cy="1300480"/>
          </a:xfrm>
          <a:prstGeom prst="rect">
            <a:avLst/>
          </a:prstGeom>
          <a:noFill/>
          <a:ln/>
        </p:spPr>
        <p:txBody>
          <a:bodyPr wrap="square"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Climate is the usual weather over a long time, not today's forecast.</a:t>
            </a:r>
            <a:endParaRPr lang="en-US" sz="1100" dirty="0"/>
          </a:p>
        </p:txBody>
      </p:sp>
      <p:sp>
        <p:nvSpPr>
          <p:cNvPr id="9" name="Shape 7"/>
          <p:cNvSpPr/>
          <p:nvPr/>
        </p:nvSpPr>
        <p:spPr>
          <a:xfrm>
            <a:off x="812800" y="4226560"/>
            <a:ext cx="7315200" cy="1625600"/>
          </a:xfrm>
          <a:prstGeom prst="roundRect">
            <a:avLst>
              <a:gd name="adj" fmla="val 10000"/>
            </a:avLst>
          </a:prstGeom>
          <a:solidFill>
            <a:srgbClr val="FFFFFF"/>
          </a:solidFill>
          <a:ln w="25400">
            <a:solidFill>
              <a:srgbClr val="E8636B"/>
            </a:solidFill>
            <a:prstDash val="solid"/>
          </a:ln>
        </p:spPr>
      </p:sp>
      <p:sp>
        <p:nvSpPr>
          <p:cNvPr id="10" name="Text 8"/>
          <p:cNvSpPr/>
          <p:nvPr/>
        </p:nvSpPr>
        <p:spPr>
          <a:xfrm>
            <a:off x="1137920" y="4389120"/>
            <a:ext cx="6664960" cy="1300480"/>
          </a:xfrm>
          <a:prstGeom prst="rect">
            <a:avLst/>
          </a:prstGeom>
          <a:noFill/>
          <a:ln/>
        </p:spPr>
        <p:txBody>
          <a:bodyPr wrap="square" rtlCol="0" anchor="ctr"/>
          <a:lstStyle/>
          <a:p>
            <a:pPr indent="0" marL="0">
              <a:buNone/>
            </a:pPr>
            <a:r>
              <a:rPr lang="en-US" sz="1200" i="1" dirty="0">
                <a:solidFill>
                  <a:srgbClr val="E8636B"/>
                </a:solidFill>
                <a:latin typeface="Cambria" pitchFamily="34" charset="0"/>
                <a:ea typeface="Cambria" pitchFamily="34" charset="-122"/>
                <a:cs typeface="Cambria" pitchFamily="34" charset="-120"/>
              </a:rPr>
              <a:t>"The Arctic has thick forests because it's so cold."</a:t>
            </a:r>
            <a:endParaRPr lang="en-US" sz="1200" dirty="0"/>
          </a:p>
        </p:txBody>
      </p:sp>
      <p:sp>
        <p:nvSpPr>
          <p:cNvPr id="11" name="Shape 9"/>
          <p:cNvSpPr/>
          <p:nvPr/>
        </p:nvSpPr>
        <p:spPr>
          <a:xfrm>
            <a:off x="8453120" y="4226560"/>
            <a:ext cx="6990080" cy="1625600"/>
          </a:xfrm>
          <a:prstGeom prst="roundRect">
            <a:avLst>
              <a:gd name="adj" fmla="val 10000"/>
            </a:avLst>
          </a:prstGeom>
          <a:solidFill>
            <a:srgbClr val="E3F8ED"/>
          </a:solidFill>
          <a:ln w="19050">
            <a:solidFill>
              <a:srgbClr val="34B76F"/>
            </a:solidFill>
            <a:prstDash val="solid"/>
          </a:ln>
        </p:spPr>
      </p:sp>
      <p:sp>
        <p:nvSpPr>
          <p:cNvPr id="12" name="Text 10"/>
          <p:cNvSpPr/>
          <p:nvPr/>
        </p:nvSpPr>
        <p:spPr>
          <a:xfrm>
            <a:off x="8778240" y="4389120"/>
            <a:ext cx="6339840" cy="1300480"/>
          </a:xfrm>
          <a:prstGeom prst="rect">
            <a:avLst/>
          </a:prstGeom>
          <a:noFill/>
          <a:ln/>
        </p:spPr>
        <p:txBody>
          <a:bodyPr wrap="square"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Cold climates have very little vegetation — only mosses and lichens. Thick forests grow in warm, wet climates.</a:t>
            </a:r>
            <a:endParaRPr lang="en-US" sz="1100" dirty="0"/>
          </a:p>
        </p:txBody>
      </p:sp>
      <p:sp>
        <p:nvSpPr>
          <p:cNvPr id="13" name="Shape 11"/>
          <p:cNvSpPr/>
          <p:nvPr/>
        </p:nvSpPr>
        <p:spPr>
          <a:xfrm>
            <a:off x="812800" y="6339840"/>
            <a:ext cx="7315200" cy="1625600"/>
          </a:xfrm>
          <a:prstGeom prst="roundRect">
            <a:avLst>
              <a:gd name="adj" fmla="val 10000"/>
            </a:avLst>
          </a:prstGeom>
          <a:solidFill>
            <a:srgbClr val="FFFFFF"/>
          </a:solidFill>
          <a:ln w="25400">
            <a:solidFill>
              <a:srgbClr val="E8636B"/>
            </a:solidFill>
            <a:prstDash val="solid"/>
          </a:ln>
        </p:spPr>
      </p:sp>
      <p:sp>
        <p:nvSpPr>
          <p:cNvPr id="14" name="Text 12"/>
          <p:cNvSpPr/>
          <p:nvPr/>
        </p:nvSpPr>
        <p:spPr>
          <a:xfrm>
            <a:off x="1137920" y="6502400"/>
            <a:ext cx="6664960" cy="1300480"/>
          </a:xfrm>
          <a:prstGeom prst="rect">
            <a:avLst/>
          </a:prstGeom>
          <a:noFill/>
          <a:ln/>
        </p:spPr>
        <p:txBody>
          <a:bodyPr wrap="square" rtlCol="0" anchor="ctr"/>
          <a:lstStyle/>
          <a:p>
            <a:pPr indent="0" marL="0">
              <a:buNone/>
            </a:pPr>
            <a:r>
              <a:rPr lang="en-US" sz="1200" i="1" dirty="0">
                <a:solidFill>
                  <a:srgbClr val="E8636B"/>
                </a:solidFill>
                <a:latin typeface="Cambria" pitchFamily="34" charset="0"/>
                <a:ea typeface="Cambria" pitchFamily="34" charset="-122"/>
                <a:cs typeface="Cambria" pitchFamily="34" charset="-120"/>
              </a:rPr>
              <a:t>"Natural resources are things people make in factories."</a:t>
            </a:r>
            <a:endParaRPr lang="en-US" sz="1200" dirty="0"/>
          </a:p>
        </p:txBody>
      </p:sp>
      <p:sp>
        <p:nvSpPr>
          <p:cNvPr id="15" name="Shape 13"/>
          <p:cNvSpPr/>
          <p:nvPr/>
        </p:nvSpPr>
        <p:spPr>
          <a:xfrm>
            <a:off x="8453120" y="6339840"/>
            <a:ext cx="6990080" cy="1625600"/>
          </a:xfrm>
          <a:prstGeom prst="roundRect">
            <a:avLst>
              <a:gd name="adj" fmla="val 10000"/>
            </a:avLst>
          </a:prstGeom>
          <a:solidFill>
            <a:srgbClr val="E3F8ED"/>
          </a:solidFill>
          <a:ln w="19050">
            <a:solidFill>
              <a:srgbClr val="34B76F"/>
            </a:solidFill>
            <a:prstDash val="solid"/>
          </a:ln>
        </p:spPr>
      </p:sp>
      <p:sp>
        <p:nvSpPr>
          <p:cNvPr id="16" name="Text 14"/>
          <p:cNvSpPr/>
          <p:nvPr/>
        </p:nvSpPr>
        <p:spPr>
          <a:xfrm>
            <a:off x="8778240" y="6502400"/>
            <a:ext cx="6339840" cy="1300480"/>
          </a:xfrm>
          <a:prstGeom prst="rect">
            <a:avLst/>
          </a:prstGeom>
          <a:noFill/>
          <a:ln/>
        </p:spPr>
        <p:txBody>
          <a:bodyPr wrap="square" rtlCol="0" anchor="ctr"/>
          <a:lstStyle/>
          <a:p>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Natural resources are found in nature — water, soil, trees, minerals. Factories make products FROM resources.</a:t>
            </a:r>
            <a:endParaRPr lang="en-US" sz="1100" dirty="0"/>
          </a:p>
        </p:txBody>
      </p:sp>
      <p:sp>
        <p:nvSpPr>
          <p:cNvPr id="17" name="Text 15"/>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8" name="Text 16"/>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8128000" cy="8128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Self-Check</a:t>
            </a:r>
            <a:endParaRPr lang="en-US" sz="2400" dirty="0"/>
          </a:p>
        </p:txBody>
      </p:sp>
      <p:sp>
        <p:nvSpPr>
          <p:cNvPr id="4" name="Text 2"/>
          <p:cNvSpPr/>
          <p:nvPr/>
        </p:nvSpPr>
        <p:spPr>
          <a:xfrm>
            <a:off x="10566400" y="568960"/>
            <a:ext cx="4876800" cy="568960"/>
          </a:xfrm>
          <a:prstGeom prst="rect">
            <a:avLst/>
          </a:prstGeom>
          <a:noFill/>
          <a:ln/>
        </p:spPr>
        <p:txBody>
          <a:bodyPr wrap="square" rtlCol="0" anchor="ctr"/>
          <a:lstStyle/>
          <a:p>
            <a:pPr algn="r" indent="0" marL="0">
              <a:buNone/>
            </a:pPr>
            <a:r>
              <a:rPr lang="en-US" sz="1100" dirty="0">
                <a:solidFill>
                  <a:srgbClr val="7A88A8"/>
                </a:solidFill>
                <a:latin typeface="Calibri" pitchFamily="34" charset="0"/>
                <a:ea typeface="Calibri" pitchFamily="34" charset="-122"/>
                <a:cs typeface="Calibri" pitchFamily="34" charset="-120"/>
              </a:rPr>
              <a:t>Question 1 of 3</a:t>
            </a:r>
            <a:endParaRPr lang="en-US" sz="1100" dirty="0"/>
          </a:p>
        </p:txBody>
      </p:sp>
      <p:sp>
        <p:nvSpPr>
          <p:cNvPr id="5" name="Shape 3"/>
          <p:cNvSpPr/>
          <p:nvPr/>
        </p:nvSpPr>
        <p:spPr>
          <a:xfrm>
            <a:off x="812800" y="1625600"/>
            <a:ext cx="14630400" cy="1625600"/>
          </a:xfrm>
          <a:prstGeom prst="roundRect">
            <a:avLst>
              <a:gd name="adj" fmla="val 12000"/>
            </a:avLst>
          </a:prstGeom>
          <a:solidFill>
            <a:srgbClr val="FFFFFF"/>
          </a:solidFill>
          <a:ln w="25400">
            <a:solidFill>
              <a:srgbClr val="0E1C42"/>
            </a:solidFill>
            <a:prstDash val="solid"/>
          </a:ln>
        </p:spPr>
      </p:sp>
      <p:sp>
        <p:nvSpPr>
          <p:cNvPr id="6" name="Text 4"/>
          <p:cNvSpPr/>
          <p:nvPr/>
        </p:nvSpPr>
        <p:spPr>
          <a:xfrm>
            <a:off x="1300480" y="1788160"/>
            <a:ext cx="13655040" cy="130048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What is climate?</a:t>
            </a:r>
            <a:endParaRPr lang="en-US" sz="1800" dirty="0"/>
          </a:p>
        </p:txBody>
      </p:sp>
      <p:sp>
        <p:nvSpPr>
          <p:cNvPr id="7" name="Shape 5"/>
          <p:cNvSpPr/>
          <p:nvPr/>
        </p:nvSpPr>
        <p:spPr>
          <a:xfrm>
            <a:off x="1300480" y="3738880"/>
            <a:ext cx="13655040" cy="1056640"/>
          </a:xfrm>
          <a:prstGeom prst="roundRect">
            <a:avLst>
              <a:gd name="adj" fmla="val 15385"/>
            </a:avLst>
          </a:prstGeom>
          <a:solidFill>
            <a:srgbClr val="FFFFFF"/>
          </a:solidFill>
          <a:ln w="12700">
            <a:solidFill>
              <a:srgbClr val="D0D5E0"/>
            </a:solidFill>
            <a:prstDash val="solid"/>
          </a:ln>
        </p:spPr>
      </p:sp>
      <p:sp>
        <p:nvSpPr>
          <p:cNvPr id="8" name="Text 6"/>
          <p:cNvSpPr/>
          <p:nvPr/>
        </p:nvSpPr>
        <p:spPr>
          <a:xfrm>
            <a:off x="1788160" y="3738880"/>
            <a:ext cx="12679680" cy="105664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A. Today's weather forecast</a:t>
            </a:r>
            <a:endParaRPr lang="en-US" sz="1400" dirty="0"/>
          </a:p>
        </p:txBody>
      </p:sp>
      <p:sp>
        <p:nvSpPr>
          <p:cNvPr id="9" name="Shape 7"/>
          <p:cNvSpPr/>
          <p:nvPr/>
        </p:nvSpPr>
        <p:spPr>
          <a:xfrm>
            <a:off x="1300480" y="5120640"/>
            <a:ext cx="13655040" cy="1056640"/>
          </a:xfrm>
          <a:prstGeom prst="roundRect">
            <a:avLst>
              <a:gd name="adj" fmla="val 15385"/>
            </a:avLst>
          </a:prstGeom>
          <a:solidFill>
            <a:srgbClr val="E3F8ED"/>
          </a:solidFill>
          <a:ln w="25400">
            <a:solidFill>
              <a:srgbClr val="34B76F"/>
            </a:solidFill>
            <a:prstDash val="solid"/>
          </a:ln>
        </p:spPr>
      </p:sp>
      <p:sp>
        <p:nvSpPr>
          <p:cNvPr id="10" name="Text 8"/>
          <p:cNvSpPr/>
          <p:nvPr/>
        </p:nvSpPr>
        <p:spPr>
          <a:xfrm>
            <a:off x="1788160" y="5120640"/>
            <a:ext cx="12679680" cy="105664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B. The usual weather pattern of a place over a long time</a:t>
            </a:r>
            <a:endParaRPr lang="en-US" sz="1400" dirty="0"/>
          </a:p>
        </p:txBody>
      </p:sp>
      <p:sp>
        <p:nvSpPr>
          <p:cNvPr id="11" name="Shape 9"/>
          <p:cNvSpPr/>
          <p:nvPr/>
        </p:nvSpPr>
        <p:spPr>
          <a:xfrm>
            <a:off x="1300480" y="6502400"/>
            <a:ext cx="13655040" cy="1056640"/>
          </a:xfrm>
          <a:prstGeom prst="roundRect">
            <a:avLst>
              <a:gd name="adj" fmla="val 15385"/>
            </a:avLst>
          </a:prstGeom>
          <a:solidFill>
            <a:srgbClr val="FFFFFF"/>
          </a:solidFill>
          <a:ln w="12700">
            <a:solidFill>
              <a:srgbClr val="D0D5E0"/>
            </a:solidFill>
            <a:prstDash val="solid"/>
          </a:ln>
        </p:spPr>
      </p:sp>
      <p:sp>
        <p:nvSpPr>
          <p:cNvPr id="12" name="Text 10"/>
          <p:cNvSpPr/>
          <p:nvPr/>
        </p:nvSpPr>
        <p:spPr>
          <a:xfrm>
            <a:off x="1788160" y="6502400"/>
            <a:ext cx="12679680" cy="1056640"/>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C. The temperature right now</a:t>
            </a:r>
            <a:endParaRPr lang="en-US" sz="1400" dirty="0"/>
          </a:p>
        </p:txBody>
      </p:sp>
      <p:sp>
        <p:nvSpPr>
          <p:cNvPr id="13" name="Text 11"/>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4" name="Text 12"/>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325120"/>
            <a:ext cx="8128000" cy="65024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Self-Check</a:t>
            </a:r>
            <a:endParaRPr lang="en-US" sz="2200" dirty="0"/>
          </a:p>
        </p:txBody>
      </p:sp>
      <p:sp>
        <p:nvSpPr>
          <p:cNvPr id="4" name="Text 2"/>
          <p:cNvSpPr/>
          <p:nvPr/>
        </p:nvSpPr>
        <p:spPr>
          <a:xfrm>
            <a:off x="10566400" y="406400"/>
            <a:ext cx="4876800" cy="487680"/>
          </a:xfrm>
          <a:prstGeom prst="rect">
            <a:avLst/>
          </a:prstGeom>
          <a:noFill/>
          <a:ln/>
        </p:spPr>
        <p:txBody>
          <a:bodyPr wrap="square" rtlCol="0" anchor="ctr"/>
          <a:lstStyle/>
          <a:p>
            <a:pPr algn="r" indent="0" marL="0">
              <a:buNone/>
            </a:pPr>
            <a:r>
              <a:rPr lang="en-US" sz="1100" dirty="0">
                <a:solidFill>
                  <a:srgbClr val="7A88A8"/>
                </a:solidFill>
                <a:latin typeface="Calibri" pitchFamily="34" charset="0"/>
                <a:ea typeface="Calibri" pitchFamily="34" charset="-122"/>
                <a:cs typeface="Calibri" pitchFamily="34" charset="-120"/>
              </a:rPr>
              <a:t>Questions 2 &amp; 3</a:t>
            </a:r>
            <a:endParaRPr lang="en-US" sz="1100" dirty="0"/>
          </a:p>
        </p:txBody>
      </p:sp>
      <p:sp>
        <p:nvSpPr>
          <p:cNvPr id="5" name="Shape 3"/>
          <p:cNvSpPr/>
          <p:nvPr/>
        </p:nvSpPr>
        <p:spPr>
          <a:xfrm>
            <a:off x="812800" y="1219200"/>
            <a:ext cx="14630400" cy="3413760"/>
          </a:xfrm>
          <a:prstGeom prst="roundRect">
            <a:avLst>
              <a:gd name="adj" fmla="val 5714"/>
            </a:avLst>
          </a:prstGeom>
          <a:solidFill>
            <a:srgbClr val="FFFFFF"/>
          </a:solidFill>
          <a:ln w="19050">
            <a:solidFill>
              <a:srgbClr val="0E1C42"/>
            </a:solidFill>
            <a:prstDash val="solid"/>
          </a:ln>
        </p:spPr>
      </p:sp>
      <p:sp>
        <p:nvSpPr>
          <p:cNvPr id="6" name="Text 4"/>
          <p:cNvSpPr/>
          <p:nvPr/>
        </p:nvSpPr>
        <p:spPr>
          <a:xfrm>
            <a:off x="1300480" y="1381760"/>
            <a:ext cx="13655040" cy="650240"/>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Q2: Why does thick vegetation grow in tropical rainforests?</a:t>
            </a:r>
            <a:endParaRPr lang="en-US" sz="1300" dirty="0"/>
          </a:p>
        </p:txBody>
      </p:sp>
      <p:sp>
        <p:nvSpPr>
          <p:cNvPr id="7" name="Text 5"/>
          <p:cNvSpPr/>
          <p:nvPr/>
        </p:nvSpPr>
        <p:spPr>
          <a:xfrm>
            <a:off x="1300480" y="2113280"/>
            <a:ext cx="13655040" cy="2275840"/>
          </a:xfrm>
          <a:prstGeom prst="rect">
            <a:avLst/>
          </a:prstGeom>
          <a:noFill/>
          <a:ln/>
        </p:spPr>
        <p:txBody>
          <a:bodyPr wrap="square" rtlCol="0" anchor="t"/>
          <a:lstStyle/>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A. Because the climate is warm and very wet  (Correct!)</a:t>
            </a:r>
            <a:endParaRPr lang="en-US" sz="1200" dirty="0"/>
          </a:p>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B. Because people plant lots of trees there</a:t>
            </a:r>
            <a:endParaRPr lang="en-US" sz="1200" dirty="0"/>
          </a:p>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C. Because rainforests are close to the ocean</a:t>
            </a:r>
            <a:endParaRPr lang="en-US" sz="1200" dirty="0"/>
          </a:p>
        </p:txBody>
      </p:sp>
      <p:sp>
        <p:nvSpPr>
          <p:cNvPr id="8" name="Shape 6"/>
          <p:cNvSpPr/>
          <p:nvPr/>
        </p:nvSpPr>
        <p:spPr>
          <a:xfrm>
            <a:off x="812800" y="4958080"/>
            <a:ext cx="14630400" cy="3413760"/>
          </a:xfrm>
          <a:prstGeom prst="roundRect">
            <a:avLst>
              <a:gd name="adj" fmla="val 5714"/>
            </a:avLst>
          </a:prstGeom>
          <a:solidFill>
            <a:srgbClr val="FFFFFF"/>
          </a:solidFill>
          <a:ln w="19050">
            <a:solidFill>
              <a:srgbClr val="0E1C42"/>
            </a:solidFill>
            <a:prstDash val="solid"/>
          </a:ln>
        </p:spPr>
      </p:sp>
      <p:sp>
        <p:nvSpPr>
          <p:cNvPr id="9" name="Text 7"/>
          <p:cNvSpPr/>
          <p:nvPr/>
        </p:nvSpPr>
        <p:spPr>
          <a:xfrm>
            <a:off x="1300480" y="5120640"/>
            <a:ext cx="13655040" cy="650240"/>
          </a:xfrm>
          <a:prstGeom prst="rect">
            <a:avLst/>
          </a:prstGeom>
          <a:noFill/>
          <a:ln/>
        </p:spPr>
        <p:txBody>
          <a:bodyPr wrap="square"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Q3: What are natural resources?</a:t>
            </a:r>
            <a:endParaRPr lang="en-US" sz="1300" dirty="0"/>
          </a:p>
        </p:txBody>
      </p:sp>
      <p:sp>
        <p:nvSpPr>
          <p:cNvPr id="10" name="Text 8"/>
          <p:cNvSpPr/>
          <p:nvPr/>
        </p:nvSpPr>
        <p:spPr>
          <a:xfrm>
            <a:off x="1300480" y="5852160"/>
            <a:ext cx="13655040" cy="2275840"/>
          </a:xfrm>
          <a:prstGeom prst="rect">
            <a:avLst/>
          </a:prstGeom>
          <a:noFill/>
          <a:ln/>
        </p:spPr>
        <p:txBody>
          <a:bodyPr wrap="square" rtlCol="0" anchor="t"/>
          <a:lstStyle/>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A. Things people build in factories</a:t>
            </a:r>
            <a:endParaRPr lang="en-US" sz="1200" dirty="0"/>
          </a:p>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B. Labels on a map</a:t>
            </a:r>
            <a:endParaRPr lang="en-US" sz="1200" dirty="0"/>
          </a:p>
          <a:p>
            <a:pPr indent="0" marL="0">
              <a:lnSpc>
                <a:spcPct val="150000"/>
              </a:lnSpc>
              <a:buNone/>
            </a:pPr>
            <a:r>
              <a:rPr lang="en-US" sz="1200" dirty="0">
                <a:solidFill>
                  <a:srgbClr val="0E1C42"/>
                </a:solidFill>
                <a:latin typeface="Calibri" pitchFamily="34" charset="0"/>
                <a:ea typeface="Calibri" pitchFamily="34" charset="-122"/>
                <a:cs typeface="Calibri" pitchFamily="34" charset="-120"/>
              </a:rPr>
              <a:t>C. Useful things found in nature, like water, soil, and minerals  (Correct!)</a:t>
            </a:r>
            <a:endParaRPr lang="en-US" sz="1200" dirty="0"/>
          </a:p>
        </p:txBody>
      </p:sp>
      <p:sp>
        <p:nvSpPr>
          <p:cNvPr id="11" name="Text 9"/>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2" name="Text 10"/>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Assignment Prep: Evidence Question 1</a:t>
            </a:r>
            <a:endParaRPr lang="en-US" sz="2200" dirty="0"/>
          </a:p>
        </p:txBody>
      </p:sp>
      <p:sp>
        <p:nvSpPr>
          <p:cNvPr id="4" name="Shape 2"/>
          <p:cNvSpPr/>
          <p:nvPr/>
        </p:nvSpPr>
        <p:spPr>
          <a:xfrm>
            <a:off x="812800" y="1625600"/>
            <a:ext cx="14630400" cy="1950720"/>
          </a:xfrm>
          <a:prstGeom prst="roundRect">
            <a:avLst>
              <a:gd name="adj" fmla="val 10000"/>
            </a:avLst>
          </a:prstGeom>
          <a:solidFill>
            <a:srgbClr val="FFF3DC"/>
          </a:solidFill>
          <a:ln w="25400">
            <a:solidFill>
              <a:srgbClr val="D4943A"/>
            </a:solidFill>
            <a:prstDash val="solid"/>
          </a:ln>
        </p:spPr>
      </p:sp>
      <p:sp>
        <p:nvSpPr>
          <p:cNvPr id="5" name="Text 3"/>
          <p:cNvSpPr/>
          <p:nvPr/>
        </p:nvSpPr>
        <p:spPr>
          <a:xfrm>
            <a:off x="1300480" y="1788160"/>
            <a:ext cx="13655040" cy="812800"/>
          </a:xfrm>
          <a:prstGeom prst="rect">
            <a:avLst/>
          </a:prstGeom>
          <a:noFill/>
          <a:ln/>
        </p:spPr>
        <p:txBody>
          <a:bodyPr wrap="square"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What is the difference between climate and weather? Use your own words.</a:t>
            </a:r>
            <a:endParaRPr lang="en-US" sz="1500" dirty="0"/>
          </a:p>
        </p:txBody>
      </p:sp>
      <p:sp>
        <p:nvSpPr>
          <p:cNvPr id="6" name="Text 4"/>
          <p:cNvSpPr/>
          <p:nvPr/>
        </p:nvSpPr>
        <p:spPr>
          <a:xfrm>
            <a:off x="1300480" y="2682240"/>
            <a:ext cx="13655040" cy="65024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Explain what climate means and how it is different from today's weather.</a:t>
            </a:r>
            <a:endParaRPr lang="en-US" sz="1200" dirty="0"/>
          </a:p>
        </p:txBody>
      </p:sp>
      <p:sp>
        <p:nvSpPr>
          <p:cNvPr id="7" name="Shape 5"/>
          <p:cNvSpPr/>
          <p:nvPr/>
        </p:nvSpPr>
        <p:spPr>
          <a:xfrm>
            <a:off x="812800" y="4064000"/>
            <a:ext cx="14630400" cy="3576320"/>
          </a:xfrm>
          <a:prstGeom prst="roundRect">
            <a:avLst>
              <a:gd name="adj" fmla="val 5455"/>
            </a:avLst>
          </a:prstGeom>
          <a:solidFill>
            <a:srgbClr val="FFFFFF"/>
          </a:solidFill>
          <a:ln w="19050">
            <a:solidFill>
              <a:srgbClr val="1A8A7D"/>
            </a:solidFill>
            <a:prstDash val="solid"/>
          </a:ln>
        </p:spPr>
      </p:sp>
      <p:sp>
        <p:nvSpPr>
          <p:cNvPr id="8" name="Text 6"/>
          <p:cNvSpPr/>
          <p:nvPr/>
        </p:nvSpPr>
        <p:spPr>
          <a:xfrm>
            <a:off x="1300480" y="4226560"/>
            <a:ext cx="650240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MODEL THINKING</a:t>
            </a:r>
            <a:endParaRPr lang="en-US" sz="900" dirty="0"/>
          </a:p>
        </p:txBody>
      </p:sp>
      <p:sp>
        <p:nvSpPr>
          <p:cNvPr id="9" name="Text 7"/>
          <p:cNvSpPr/>
          <p:nvPr/>
        </p:nvSpPr>
        <p:spPr>
          <a:xfrm>
            <a:off x="1300480" y="4714240"/>
            <a:ext cx="13655040" cy="2600960"/>
          </a:xfrm>
          <a:prstGeom prst="rect">
            <a:avLst/>
          </a:prstGeom>
          <a:noFill/>
          <a:ln/>
        </p:spPr>
        <p:txBody>
          <a:bodyPr wrap="square" rtlCol="0" anchor="t"/>
          <a:lstStyle/>
          <a:p>
            <a:pPr indent="0" marL="0">
              <a:lnSpc>
                <a:spcPct val="130000"/>
              </a:lnSpc>
              <a:buNone/>
            </a:pPr>
            <a:r>
              <a:rPr lang="en-US" sz="1300" i="1" dirty="0">
                <a:solidFill>
                  <a:srgbClr val="0E1C42"/>
                </a:solidFill>
                <a:latin typeface="Cambria" pitchFamily="34" charset="0"/>
                <a:ea typeface="Cambria" pitchFamily="34" charset="-122"/>
                <a:cs typeface="Cambria" pitchFamily="34" charset="-120"/>
              </a:rPr>
              <a:t>"Climate is the usual weather of a place over time — it's not about one day, it's about what happens year after year."
</a:t>
            </a:r>
            <a:pPr indent="0" marL="0">
              <a:lnSpc>
                <a:spcPct val="130000"/>
              </a:lnSpc>
              <a:buNone/>
            </a:pPr>
            <a:r>
              <a:rPr lang="en-US" sz="1200" b="1" dirty="0">
                <a:solidFill>
                  <a:srgbClr val="1A8A7D"/>
                </a:solidFill>
                <a:latin typeface="Calibri" pitchFamily="34" charset="0"/>
                <a:ea typeface="Calibri" pitchFamily="34" charset="-122"/>
                <a:cs typeface="Calibri" pitchFamily="34" charset="-120"/>
              </a:rPr>
              <a:t>Key words to include: </a:t>
            </a:r>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usual, pattern, long time, year after year
</a:t>
            </a:r>
            <a:pPr indent="0" marL="0">
              <a:lnSpc>
                <a:spcPct val="130000"/>
              </a:lnSpc>
              <a:buNone/>
            </a:pPr>
            <a:r>
              <a:rPr lang="en-US" sz="1200" b="1" dirty="0">
                <a:solidFill>
                  <a:srgbClr val="D4943A"/>
                </a:solidFill>
                <a:latin typeface="Calibri" pitchFamily="34" charset="0"/>
                <a:ea typeface="Calibri" pitchFamily="34" charset="-122"/>
                <a:cs typeface="Calibri" pitchFamily="34" charset="-120"/>
              </a:rPr>
              <a:t>Weather = right now. Climate = the pattern over time.</a:t>
            </a:r>
            <a:endParaRPr lang="en-US" sz="1300" dirty="0"/>
          </a:p>
        </p:txBody>
      </p:sp>
      <p:sp>
        <p:nvSpPr>
          <p:cNvPr id="10" name="Text 8"/>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1" name="Text 9"/>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Assignment Prep: Evidence Question 2</a:t>
            </a:r>
            <a:endParaRPr lang="en-US" sz="2200" dirty="0"/>
          </a:p>
        </p:txBody>
      </p:sp>
      <p:sp>
        <p:nvSpPr>
          <p:cNvPr id="4" name="Shape 2"/>
          <p:cNvSpPr/>
          <p:nvPr/>
        </p:nvSpPr>
        <p:spPr>
          <a:xfrm>
            <a:off x="812800" y="1625600"/>
            <a:ext cx="14630400" cy="1950720"/>
          </a:xfrm>
          <a:prstGeom prst="roundRect">
            <a:avLst>
              <a:gd name="adj" fmla="val 10000"/>
            </a:avLst>
          </a:prstGeom>
          <a:solidFill>
            <a:srgbClr val="FFF3DC"/>
          </a:solidFill>
          <a:ln w="25400">
            <a:solidFill>
              <a:srgbClr val="D4943A"/>
            </a:solidFill>
            <a:prstDash val="solid"/>
          </a:ln>
        </p:spPr>
      </p:sp>
      <p:sp>
        <p:nvSpPr>
          <p:cNvPr id="5" name="Text 3"/>
          <p:cNvSpPr/>
          <p:nvPr/>
        </p:nvSpPr>
        <p:spPr>
          <a:xfrm>
            <a:off x="1300480" y="1788160"/>
            <a:ext cx="13655040" cy="975360"/>
          </a:xfrm>
          <a:prstGeom prst="rect">
            <a:avLst/>
          </a:prstGeom>
          <a:noFill/>
          <a:ln/>
        </p:spPr>
        <p:txBody>
          <a:bodyPr wrap="square" rtlCol="0" anchor="ctr"/>
          <a:lstStyle/>
          <a:p>
            <a:pPr indent="0" marL="0">
              <a:lnSpc>
                <a:spcPct val="115000"/>
              </a:lnSpc>
              <a:buNone/>
            </a:pPr>
            <a:r>
              <a:rPr lang="en-US" sz="1400" b="1" dirty="0">
                <a:solidFill>
                  <a:srgbClr val="0E1C42"/>
                </a:solidFill>
                <a:latin typeface="Cambria" pitchFamily="34" charset="0"/>
                <a:ea typeface="Cambria" pitchFamily="34" charset="-122"/>
                <a:cs typeface="Cambria" pitchFamily="34" charset="-120"/>
              </a:rPr>
              <a:t>Pick one place from the lesson (the Sahara, the Amazon, or the Arctic). Describe its climate and vegetation, and name one natural resource found there.</a:t>
            </a:r>
            <a:endParaRPr lang="en-US" sz="1400" dirty="0"/>
          </a:p>
        </p:txBody>
      </p:sp>
      <p:sp>
        <p:nvSpPr>
          <p:cNvPr id="6" name="Text 4"/>
          <p:cNvSpPr/>
          <p:nvPr/>
        </p:nvSpPr>
        <p:spPr>
          <a:xfrm>
            <a:off x="1300480" y="2844800"/>
            <a:ext cx="13655040" cy="48768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Choose one place and describe it using details from the lesson.</a:t>
            </a:r>
            <a:endParaRPr lang="en-US" sz="1200" dirty="0"/>
          </a:p>
        </p:txBody>
      </p:sp>
      <p:sp>
        <p:nvSpPr>
          <p:cNvPr id="7" name="Shape 5"/>
          <p:cNvSpPr/>
          <p:nvPr/>
        </p:nvSpPr>
        <p:spPr>
          <a:xfrm>
            <a:off x="812800" y="4064000"/>
            <a:ext cx="14630400" cy="4064000"/>
          </a:xfrm>
          <a:prstGeom prst="roundRect">
            <a:avLst>
              <a:gd name="adj" fmla="val 4800"/>
            </a:avLst>
          </a:prstGeom>
          <a:solidFill>
            <a:srgbClr val="FFFFFF"/>
          </a:solidFill>
          <a:ln w="19050">
            <a:solidFill>
              <a:srgbClr val="1A8A7D"/>
            </a:solidFill>
            <a:prstDash val="solid"/>
          </a:ln>
        </p:spPr>
      </p:sp>
      <p:sp>
        <p:nvSpPr>
          <p:cNvPr id="8" name="Text 6"/>
          <p:cNvSpPr/>
          <p:nvPr/>
        </p:nvSpPr>
        <p:spPr>
          <a:xfrm>
            <a:off x="1300480" y="4226560"/>
            <a:ext cx="650240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SENTENCE STARTERS</a:t>
            </a:r>
            <a:endParaRPr lang="en-US" sz="900" dirty="0"/>
          </a:p>
        </p:txBody>
      </p:sp>
      <p:sp>
        <p:nvSpPr>
          <p:cNvPr id="9" name="Text 7"/>
          <p:cNvSpPr/>
          <p:nvPr/>
        </p:nvSpPr>
        <p:spPr>
          <a:xfrm>
            <a:off x="1300480" y="4714240"/>
            <a:ext cx="13655040" cy="3251200"/>
          </a:xfrm>
          <a:prstGeom prst="rect">
            <a:avLst/>
          </a:prstGeom>
          <a:noFill/>
          <a:ln/>
        </p:spPr>
        <p:txBody>
          <a:bodyPr wrap="square" rtlCol="0" anchor="t"/>
          <a:lstStyle/>
          <a:p>
            <a:pPr indent="0" marL="0">
              <a:lnSpc>
                <a:spcPct val="120000"/>
              </a:lnSpc>
              <a:buNone/>
            </a:pPr>
            <a:r>
              <a:rPr lang="en-US" sz="1300" b="1" dirty="0">
                <a:solidFill>
                  <a:srgbClr val="0E1C42"/>
                </a:solidFill>
                <a:latin typeface="Calibri" pitchFamily="34" charset="0"/>
                <a:ea typeface="Calibri" pitchFamily="34" charset="-122"/>
                <a:cs typeface="Calibri" pitchFamily="34" charset="-120"/>
              </a:rPr>
              <a:t>I chose the ______ because ______.
</a:t>
            </a:r>
            <a:pPr indent="0" marL="0">
              <a:lnSpc>
                <a:spcPct val="120000"/>
              </a:lnSpc>
              <a:buNone/>
            </a:pPr>
            <a:r>
              <a:rPr lang="en-US" sz="1300" b="1" dirty="0">
                <a:solidFill>
                  <a:srgbClr val="0E1C42"/>
                </a:solidFill>
                <a:latin typeface="Calibri" pitchFamily="34" charset="0"/>
                <a:ea typeface="Calibri" pitchFamily="34" charset="-122"/>
                <a:cs typeface="Calibri" pitchFamily="34" charset="-120"/>
              </a:rPr>
              <a:t>Its climate is ______, which means ______.
</a:t>
            </a:r>
            <a:pPr indent="0" marL="0">
              <a:lnSpc>
                <a:spcPct val="120000"/>
              </a:lnSpc>
              <a:buNone/>
            </a:pPr>
            <a:r>
              <a:rPr lang="en-US" sz="1300" b="1" dirty="0">
                <a:solidFill>
                  <a:srgbClr val="0E1C42"/>
                </a:solidFill>
                <a:latin typeface="Calibri" pitchFamily="34" charset="0"/>
                <a:ea typeface="Calibri" pitchFamily="34" charset="-122"/>
                <a:cs typeface="Calibri" pitchFamily="34" charset="-120"/>
              </a:rPr>
              <a:t>The vegetation there is ______ because ______.
</a:t>
            </a:r>
            <a:pPr indent="0" marL="0">
              <a:lnSpc>
                <a:spcPct val="120000"/>
              </a:lnSpc>
              <a:buNone/>
            </a:pPr>
            <a:r>
              <a:rPr lang="en-US" sz="1300" b="1" dirty="0">
                <a:solidFill>
                  <a:srgbClr val="0E1C42"/>
                </a:solidFill>
                <a:latin typeface="Calibri" pitchFamily="34" charset="0"/>
                <a:ea typeface="Calibri" pitchFamily="34" charset="-122"/>
                <a:cs typeface="Calibri" pitchFamily="34" charset="-120"/>
              </a:rPr>
              <a:t>One natural resource found there is ______.</a:t>
            </a:r>
            <a:endParaRPr lang="en-US" sz="1300" dirty="0"/>
          </a:p>
        </p:txBody>
      </p:sp>
      <p:sp>
        <p:nvSpPr>
          <p:cNvPr id="10" name="Text 8"/>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1" name="Text 9"/>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0F2F8"/>
          </a:solidFill>
          <a:ln/>
        </p:spPr>
      </p:sp>
      <p:sp>
        <p:nvSpPr>
          <p:cNvPr id="3" name="Text 1"/>
          <p:cNvSpPr/>
          <p:nvPr/>
        </p:nvSpPr>
        <p:spPr>
          <a:xfrm>
            <a:off x="812800" y="487680"/>
            <a:ext cx="14630400" cy="8128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Curator Task: Panel Text</a:t>
            </a:r>
            <a:endParaRPr lang="en-US" sz="2200" dirty="0"/>
          </a:p>
        </p:txBody>
      </p:sp>
      <p:sp>
        <p:nvSpPr>
          <p:cNvPr id="4" name="Shape 2"/>
          <p:cNvSpPr/>
          <p:nvPr/>
        </p:nvSpPr>
        <p:spPr>
          <a:xfrm>
            <a:off x="812800" y="1544320"/>
            <a:ext cx="14630400" cy="3738880"/>
          </a:xfrm>
          <a:prstGeom prst="roundRect">
            <a:avLst>
              <a:gd name="adj" fmla="val 5217"/>
            </a:avLst>
          </a:prstGeom>
          <a:solidFill>
            <a:srgbClr val="FFF3DC"/>
          </a:solidFill>
          <a:ln w="25400">
            <a:solidFill>
              <a:srgbClr val="D4943A"/>
            </a:solidFill>
            <a:prstDash val="solid"/>
          </a:ln>
        </p:spPr>
      </p:sp>
      <p:sp>
        <p:nvSpPr>
          <p:cNvPr id="5" name="Text 3"/>
          <p:cNvSpPr/>
          <p:nvPr/>
        </p:nvSpPr>
        <p:spPr>
          <a:xfrm>
            <a:off x="1300480" y="1706880"/>
            <a:ext cx="6502400" cy="4064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a:t>
            </a:r>
            <a:endParaRPr lang="en-US" sz="900" dirty="0"/>
          </a:p>
        </p:txBody>
      </p:sp>
      <p:sp>
        <p:nvSpPr>
          <p:cNvPr id="6" name="Text 4"/>
          <p:cNvSpPr/>
          <p:nvPr/>
        </p:nvSpPr>
        <p:spPr>
          <a:xfrm>
            <a:off x="1300480" y="2275840"/>
            <a:ext cx="13655040" cy="1463040"/>
          </a:xfrm>
          <a:prstGeom prst="rect">
            <a:avLst/>
          </a:prstGeom>
          <a:noFill/>
          <a:ln/>
        </p:spPr>
        <p:txBody>
          <a:bodyPr wrap="square" rtlCol="0" anchor="t"/>
          <a:lstStyle/>
          <a:p>
            <a:pPr indent="0" marL="0">
              <a:lnSpc>
                <a:spcPct val="120000"/>
              </a:lnSpc>
              <a:buNone/>
            </a:pPr>
            <a:r>
              <a:rPr lang="en-US" sz="1400" dirty="0">
                <a:solidFill>
                  <a:srgbClr val="0E1C42"/>
                </a:solidFill>
                <a:latin typeface="Cambria" pitchFamily="34" charset="0"/>
                <a:ea typeface="Cambria" pitchFamily="34" charset="-122"/>
                <a:cs typeface="Cambria" pitchFamily="34" charset="-120"/>
              </a:rPr>
              <a:t>The head curator asks you to write 2–3 sentences for one of the blank panels. Pick climate, vegetation, or natural resources. Explain what it means and why visitors should care about it.</a:t>
            </a:r>
            <a:endParaRPr lang="en-US" sz="1400" dirty="0"/>
          </a:p>
        </p:txBody>
      </p:sp>
      <p:sp>
        <p:nvSpPr>
          <p:cNvPr id="7" name="Text 5"/>
          <p:cNvSpPr/>
          <p:nvPr/>
        </p:nvSpPr>
        <p:spPr>
          <a:xfrm>
            <a:off x="1300480" y="3820160"/>
            <a:ext cx="13655040" cy="56896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Choose one topic (climate, vegetation, or resources) and write panel text for museum visitors.</a:t>
            </a:r>
            <a:endParaRPr lang="en-US" sz="1200" dirty="0"/>
          </a:p>
        </p:txBody>
      </p:sp>
      <p:sp>
        <p:nvSpPr>
          <p:cNvPr id="8" name="Shape 6"/>
          <p:cNvSpPr/>
          <p:nvPr/>
        </p:nvSpPr>
        <p:spPr>
          <a:xfrm>
            <a:off x="812800" y="5689600"/>
            <a:ext cx="14630400" cy="2438400"/>
          </a:xfrm>
          <a:prstGeom prst="roundRect">
            <a:avLst>
              <a:gd name="adj" fmla="val 8000"/>
            </a:avLst>
          </a:prstGeom>
          <a:solidFill>
            <a:srgbClr val="F0E8FF"/>
          </a:solidFill>
          <a:ln w="19050">
            <a:solidFill>
              <a:srgbClr val="8B6FC0"/>
            </a:solidFill>
            <a:prstDash val="solid"/>
          </a:ln>
        </p:spPr>
      </p:sp>
      <p:sp>
        <p:nvSpPr>
          <p:cNvPr id="9" name="Text 7"/>
          <p:cNvSpPr/>
          <p:nvPr/>
        </p:nvSpPr>
        <p:spPr>
          <a:xfrm>
            <a:off x="1300480" y="5852160"/>
            <a:ext cx="6502400" cy="4064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CURATOR'S CHRONICLE</a:t>
            </a:r>
            <a:endParaRPr lang="en-US" sz="900" dirty="0"/>
          </a:p>
        </p:txBody>
      </p:sp>
      <p:sp>
        <p:nvSpPr>
          <p:cNvPr id="10" name="Text 8"/>
          <p:cNvSpPr/>
          <p:nvPr/>
        </p:nvSpPr>
        <p:spPr>
          <a:xfrm>
            <a:off x="1300480" y="6339840"/>
            <a:ext cx="13655040" cy="48768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Finish this sentence in your own words:</a:t>
            </a:r>
            <a:endParaRPr lang="en-US" sz="1200" dirty="0"/>
          </a:p>
        </p:txBody>
      </p:sp>
      <p:sp>
        <p:nvSpPr>
          <p:cNvPr id="11" name="Text 9"/>
          <p:cNvSpPr/>
          <p:nvPr/>
        </p:nvSpPr>
        <p:spPr>
          <a:xfrm>
            <a:off x="1300480" y="6908800"/>
            <a:ext cx="13655040" cy="650240"/>
          </a:xfrm>
          <a:prstGeom prst="rect">
            <a:avLst/>
          </a:prstGeom>
          <a:noFill/>
          <a:ln/>
        </p:spPr>
        <p:txBody>
          <a:bodyPr wrap="square" rtlCol="0" anchor="ctr"/>
          <a:lstStyle/>
          <a:p>
            <a:pPr indent="0" marL="0">
              <a:buNone/>
            </a:pPr>
            <a:r>
              <a:rPr lang="en-US" sz="1500" b="1" i="1" dirty="0">
                <a:solidFill>
                  <a:srgbClr val="8B6FC0"/>
                </a:solidFill>
                <a:latin typeface="Cambria" pitchFamily="34" charset="0"/>
                <a:ea typeface="Cambria" pitchFamily="34" charset="-122"/>
                <a:cs typeface="Cambria" pitchFamily="34" charset="-120"/>
              </a:rPr>
              <a:t>In this exhibit, I learned that ______ because ______.</a:t>
            </a:r>
            <a:endParaRPr lang="en-US" sz="1500" dirty="0"/>
          </a:p>
        </p:txBody>
      </p:sp>
      <p:sp>
        <p:nvSpPr>
          <p:cNvPr id="12" name="Text 10"/>
          <p:cNvSpPr/>
          <p:nvPr/>
        </p:nvSpPr>
        <p:spPr>
          <a:xfrm>
            <a:off x="487680" y="8583168"/>
            <a:ext cx="4876800" cy="357632"/>
          </a:xfrm>
          <a:prstGeom prst="rect">
            <a:avLst/>
          </a:prstGeom>
          <a:noFill/>
          <a:ln/>
        </p:spPr>
        <p:txBody>
          <a:bodyPr wrap="square" rtlCol="0" anchor="ctr"/>
          <a:lstStyle/>
          <a:p>
            <a:pPr indent="0" marL="0">
              <a:buNone/>
            </a:pPr>
            <a:r>
              <a:rPr lang="en-US" sz="800" dirty="0">
                <a:solidFill>
                  <a:srgbClr val="7A88A8"/>
                </a:solidFill>
                <a:latin typeface="Calibri" pitchFamily="34" charset="0"/>
                <a:ea typeface="Calibri" pitchFamily="34" charset="-122"/>
                <a:cs typeface="Calibri" pitchFamily="34" charset="-120"/>
              </a:rPr>
              <a:t>SS 3.05.03</a:t>
            </a:r>
            <a:endParaRPr lang="en-US" sz="800" dirty="0"/>
          </a:p>
        </p:txBody>
      </p:sp>
      <p:sp>
        <p:nvSpPr>
          <p:cNvPr id="13" name="Text 11"/>
          <p:cNvSpPr/>
          <p:nvPr/>
        </p:nvSpPr>
        <p:spPr>
          <a:xfrm>
            <a:off x="10566400" y="8583168"/>
            <a:ext cx="5201920" cy="357632"/>
          </a:xfrm>
          <a:prstGeom prst="rect">
            <a:avLst/>
          </a:prstGeom>
          <a:noFill/>
          <a:ln/>
        </p:spPr>
        <p:txBody>
          <a:bodyPr wrap="square" rtlCol="0" anchor="ctr"/>
          <a:lstStyle/>
          <a:p>
            <a:pPr algn="r" indent="0" marL="0">
              <a:buNone/>
            </a:pPr>
            <a:r>
              <a:rPr lang="en-US" sz="800" dirty="0">
                <a:solidFill>
                  <a:srgbClr val="7A88A8"/>
                </a:solidFill>
                <a:latin typeface="Calibri" pitchFamily="34" charset="0"/>
                <a:ea typeface="Calibri" pitchFamily="34" charset="-122"/>
                <a:cs typeface="Calibri" pitchFamily="34" charset="-120"/>
              </a:rPr>
              <a:t>Optima Academy Online</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1625600"/>
            <a:ext cx="14305280" cy="1300480"/>
          </a:xfrm>
          <a:prstGeom prst="rect">
            <a:avLst/>
          </a:prstGeom>
          <a:noFill/>
          <a:ln/>
        </p:spPr>
        <p:txBody>
          <a:bodyPr wrap="square"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Great Work, World Geography Curator!</a:t>
            </a:r>
            <a:endParaRPr lang="en-US" sz="3000" dirty="0"/>
          </a:p>
        </p:txBody>
      </p:sp>
      <p:sp>
        <p:nvSpPr>
          <p:cNvPr id="6" name="Text 3"/>
          <p:cNvSpPr/>
          <p:nvPr/>
        </p:nvSpPr>
        <p:spPr>
          <a:xfrm>
            <a:off x="1625600" y="3251200"/>
            <a:ext cx="13004800" cy="1137920"/>
          </a:xfrm>
          <a:prstGeom prst="rect">
            <a:avLst/>
          </a:prstGeom>
          <a:noFill/>
          <a:ln/>
        </p:spPr>
        <p:txBody>
          <a:bodyPr wrap="square" rtlCol="0" anchor="ctr"/>
          <a:lstStyle/>
          <a:p>
            <a:pPr algn="ctr" indent="0" marL="0">
              <a:lnSpc>
                <a:spcPct val="130000"/>
              </a:lnSpc>
              <a:buNone/>
            </a:pPr>
            <a:r>
              <a:rPr lang="en-US" sz="1500" dirty="0">
                <a:solidFill>
                  <a:srgbClr val="FFFFFF"/>
                </a:solidFill>
                <a:latin typeface="Calibri" pitchFamily="34" charset="0"/>
                <a:ea typeface="Calibri" pitchFamily="34" charset="-122"/>
                <a:cs typeface="Calibri" pitchFamily="34" charset="-120"/>
              </a:rPr>
              <a:t>The panels are filling in! Visitors will now understand what places feel like, not just where they are.</a:t>
            </a:r>
            <a:endParaRPr lang="en-US" sz="1500" dirty="0"/>
          </a:p>
        </p:txBody>
      </p:sp>
      <p:sp>
        <p:nvSpPr>
          <p:cNvPr id="7" name="Shape 4"/>
          <p:cNvSpPr/>
          <p:nvPr/>
        </p:nvSpPr>
        <p:spPr>
          <a:xfrm>
            <a:off x="2438400" y="5039360"/>
            <a:ext cx="11379200" cy="2438400"/>
          </a:xfrm>
          <a:prstGeom prst="roundRect">
            <a:avLst>
              <a:gd name="adj" fmla="val 10000"/>
            </a:avLst>
          </a:prstGeom>
          <a:solidFill>
            <a:srgbClr val="0E1C42">
              <a:alpha val="80000"/>
            </a:srgbClr>
          </a:solidFill>
          <a:ln w="19050">
            <a:solidFill>
              <a:srgbClr val="55C8E8"/>
            </a:solidFill>
            <a:prstDash val="solid"/>
          </a:ln>
        </p:spPr>
      </p:sp>
      <p:sp>
        <p:nvSpPr>
          <p:cNvPr id="8" name="Text 5"/>
          <p:cNvSpPr/>
          <p:nvPr/>
        </p:nvSpPr>
        <p:spPr>
          <a:xfrm>
            <a:off x="2926080" y="5201920"/>
            <a:ext cx="10403840" cy="406400"/>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COMING NEXT</a:t>
            </a:r>
            <a:endParaRPr lang="en-US" sz="900" dirty="0"/>
          </a:p>
        </p:txBody>
      </p:sp>
      <p:sp>
        <p:nvSpPr>
          <p:cNvPr id="9" name="Text 6"/>
          <p:cNvSpPr/>
          <p:nvPr/>
        </p:nvSpPr>
        <p:spPr>
          <a:xfrm>
            <a:off x="2926080" y="5689600"/>
            <a:ext cx="10403840" cy="1625600"/>
          </a:xfrm>
          <a:prstGeom prst="rect">
            <a:avLst/>
          </a:prstGeom>
          <a:noFill/>
          <a:ln/>
        </p:spPr>
        <p:txBody>
          <a:bodyPr wrap="square" rtlCol="0" anchor="ctr"/>
          <a:lstStyle/>
          <a:p>
            <a:pPr indent="0" marL="0">
              <a:lnSpc>
                <a:spcPct val="120000"/>
              </a:lnSpc>
              <a:buNone/>
            </a:pPr>
            <a:r>
              <a:rPr lang="en-US" sz="1200" i="1" dirty="0">
                <a:solidFill>
                  <a:srgbClr val="FFFFFF"/>
                </a:solidFill>
                <a:latin typeface="Calibri" pitchFamily="34" charset="0"/>
                <a:ea typeface="Calibri" pitchFamily="34" charset="-122"/>
                <a:cs typeface="Calibri" pitchFamily="34" charset="-120"/>
              </a:rPr>
              <a:t>A package just arrived labeled "FOR THE SCAVENGER HUNT COMMITTEE." Inside: location clue cards — some with exact coordinates like "29°N, 81°W" and some with phrases like "south of the Great Lakes." The volunteer is confused: "These don't look like the same kind of directions!"</a:t>
            </a:r>
            <a:endParaRPr lang="en-US" sz="1200" dirty="0"/>
          </a:p>
        </p:txBody>
      </p:sp>
      <p:sp>
        <p:nvSpPr>
          <p:cNvPr id="10" name="Text 7"/>
          <p:cNvSpPr/>
          <p:nvPr/>
        </p:nvSpPr>
        <p:spPr>
          <a:xfrm>
            <a:off x="975360" y="7965440"/>
            <a:ext cx="14305280" cy="487680"/>
          </a:xfrm>
          <a:prstGeom prst="rect">
            <a:avLst/>
          </a:prstGeom>
          <a:noFill/>
          <a:ln/>
        </p:spPr>
        <p:txBody>
          <a:bodyPr wrap="square"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Lesson 3.05.03  |  Optima Academy Online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2026-07-11T02:52:25Z</dcterms:created>
  <dcterms:modified xsi:type="dcterms:W3CDTF">2026-07-11T02:52:25Z</dcterms:modified>
</cp:coreProperties>
</file>