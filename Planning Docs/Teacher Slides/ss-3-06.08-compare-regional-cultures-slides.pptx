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</p:sldIdLst>
  <p:notesMasterIdLst>
    <p:notesMasterId r:id="rId24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notesMaster" Target="notesMasters/notesMaster1.xml"/><Relationship Id="rId25" Type="http://schemas.openxmlformats.org/officeDocument/2006/relationships/presProps" Target="presProps.xml"/><Relationship Id="rId26" Type="http://schemas.openxmlformats.org/officeDocument/2006/relationships/viewProps" Target="viewProps.xml"/><Relationship Id="rId27" Type="http://schemas.openxmlformats.org/officeDocument/2006/relationships/theme" Target="theme/theme1.xml"/><Relationship Id="rId2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IMAGE TO INSERT: Four large cultural panels hanging on a gallery wall — Canada, United States, Mexico, Caribbean — each with symbols of language, music, food, sportsTitle slide. This is the LAST lesson in the North America &amp; Caribbean Gallery and the Unit 6 Closer.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 Curator's Question aloud. This is the LAST lesson — make it feel big. Under 2 min.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Review objectives. Tease the badge. Introduce Sort-Compare-Explain routine.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IMAGE TO INSERT: Four large cultural panels hanging on a gallery wall side by side — Canada with maple leaf and hockey, USA with flag and baseball, Mexico with mariachi, Caribbean with reggae and islandsSet the scene. Make it feel like a big moment — the LAST lesson in the gallery. Under 2 min.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STUDENT ACTION: Think-pair-share. Let students sort what they already know. 2 min.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through Canada's cultural characteristics. 1 min.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through US cultural characteristics. 1 min.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through Mexico's cultural characteristics. 1 min.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through Caribbean cultural characteristics. Emphasize many islands = many languages. 1 min.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Side-by-side comparison. Draw students' attention to both differences and connections. 1-2 min.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STUDENT ACTION: Map analysis. Students study cultural map. 2 min.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STUDENT ACTION: Matching activity on lesson page. Discuss answers together. 3 min.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Transition slide. Emphasize that cultural characteristics travel across borders.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 Exhibit Label. Opti's last curator tip. 1 min.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STUDENT ACTION: Self-check on lesson page. Reveal answers together. 2 min.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 Q1 aloud. Model answer. Students write. 2 min.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 Q2. Hint. Students write. 2 min.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 Q3. Model. Students write. 2 min.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STUDENT ACTION: Independent writing. The big task. 4-5 min. Walk and confer.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STUDENT ACTION: Error analysis. Students identify ranking, missing characteristics, missing connection. 2 min.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Chronicle + badge celebration + submit. 2 min.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IMAGE TO INSERT: A museum hallway showing a new doorway with five empty alcoves — the United States Regions Gallery — warm inviting lighting, 'US Regions' sign aboveUNIT 6 CLOSER. Celebrate the whole unit. Tease the US Regions Gallery. Big, warm, celebratory. 1-1.5 min.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835"/>
          </a:solidFill>
          <a:ln w="19050">
            <a:solidFill>
              <a:srgbClr val="3A5080"/>
            </a:solidFill>
            <a:prstDash val="dash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C42">
              <a:alpha val="62000"/>
            </a:srgbClr>
          </a:solidFill>
          <a:ln/>
        </p:spPr>
      </p:sp>
      <p:sp>
        <p:nvSpPr>
          <p:cNvPr id="5" name="Text 2"/>
          <p:cNvSpPr/>
          <p:nvPr/>
        </p:nvSpPr>
        <p:spPr>
          <a:xfrm>
            <a:off x="1463040" y="1219200"/>
            <a:ext cx="9144000" cy="2438400"/>
          </a:xfrm>
          <a:prstGeom prst="rect">
            <a:avLst/>
          </a:prstGeom>
          <a:noFill/>
          <a:ln/>
          <a:effectLst>
            <a:outerShdw sx="100000" sy="100000" kx="0" ky="0" algn="bl" rotWithShape="0" blurRad="76200" dist="25400" dir="8100000">
              <a:srgbClr val="000000">
                <a:alpha val="40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Compare Regional</a:t>
            </a:r>
            <a:endParaRPr lang="en-US" sz="38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Cultural Characteristics</a:t>
            </a:r>
            <a:endParaRPr lang="en-US" sz="3800" dirty="0"/>
          </a:p>
        </p:txBody>
      </p:sp>
      <p:sp>
        <p:nvSpPr>
          <p:cNvPr id="6" name="Text 3"/>
          <p:cNvSpPr/>
          <p:nvPr/>
        </p:nvSpPr>
        <p:spPr>
          <a:xfrm>
            <a:off x="1463040" y="3779520"/>
            <a:ext cx="9144000" cy="609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D494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 3.06.08  |  Week 18  |  The Great Map Room  |  Unit 6 Closer</a:t>
            </a:r>
            <a:endParaRPr lang="en-US" sz="1700" dirty="0"/>
          </a:p>
        </p:txBody>
      </p:sp>
      <p:sp>
        <p:nvSpPr>
          <p:cNvPr id="7" name="Text 4"/>
          <p:cNvSpPr/>
          <p:nvPr/>
        </p:nvSpPr>
        <p:spPr>
          <a:xfrm>
            <a:off x="1463040" y="4511040"/>
            <a:ext cx="9144000" cy="487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5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SS.3.G.4.1  |  SS.3.G.4.3  |  SS.3.G.4.4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2F8"/>
          </a:solidFill>
          <a:ln/>
        </p:spPr>
      </p:sp>
      <p:sp>
        <p:nvSpPr>
          <p:cNvPr id="3" name="Text 1"/>
          <p:cNvSpPr/>
          <p:nvPr/>
        </p:nvSpPr>
        <p:spPr>
          <a:xfrm>
            <a:off x="975360" y="487680"/>
            <a:ext cx="10363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E1C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Today's Curator's Question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975360" y="1463040"/>
            <a:ext cx="10363200" cy="1950720"/>
          </a:xfrm>
          <a:prstGeom prst="roundRect">
            <a:avLst>
              <a:gd name="adj" fmla="val 7500"/>
            </a:avLst>
          </a:prstGeom>
          <a:solidFill>
            <a:srgbClr val="FFF8F0"/>
          </a:solidFill>
          <a:ln w="19050">
            <a:solidFill>
              <a:srgbClr val="F5E6C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219200" y="1645920"/>
            <a:ext cx="9875520" cy="1584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i="1" dirty="0">
                <a:solidFill>
                  <a:srgbClr val="5A4A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makes Canada, the United States, Mexico, and the Caribbean culturally distinct from one another — and what connects them?</a:t>
            </a:r>
            <a:endParaRPr lang="en-US" sz="2100" dirty="0"/>
          </a:p>
        </p:txBody>
      </p:sp>
      <p:sp>
        <p:nvSpPr>
          <p:cNvPr id="6" name="Shape 4"/>
          <p:cNvSpPr/>
          <p:nvPr/>
        </p:nvSpPr>
        <p:spPr>
          <a:xfrm>
            <a:off x="975360" y="3901440"/>
            <a:ext cx="10363200" cy="1950720"/>
          </a:xfrm>
          <a:prstGeom prst="roundRect">
            <a:avLst>
              <a:gd name="adj" fmla="val 7500"/>
            </a:avLst>
          </a:prstGeom>
          <a:solidFill>
            <a:srgbClr val="EAF8FD"/>
          </a:solidFill>
          <a:ln w="12700">
            <a:solidFill>
              <a:srgbClr val="B8E4F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219200" y="4023360"/>
            <a:ext cx="9875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spc="100" kern="0" dirty="0">
                <a:solidFill>
                  <a:srgbClr val="1A8A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Virtue Spotlight: Courtesy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219200" y="4572000"/>
            <a:ext cx="9875520" cy="1158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Comparing regions is tricky. It's easy to slip into ranking — "this region is better than that one." Courtesy means describing each region on its own terms. Hockey isn't better than soccer; salsa music isn't better than country music; they're each true to their place.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2F8"/>
          </a:solidFill>
          <a:ln/>
        </p:spPr>
      </p:sp>
      <p:sp>
        <p:nvSpPr>
          <p:cNvPr id="3" name="Text 1"/>
          <p:cNvSpPr/>
          <p:nvPr/>
        </p:nvSpPr>
        <p:spPr>
          <a:xfrm>
            <a:off x="975360" y="487680"/>
            <a:ext cx="10363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E1C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You'll Learn Today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1219200" y="1463040"/>
            <a:ext cx="9753600" cy="2438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 cultural characteristics of each part of the region.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two regional places fairly and respectfully.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a comparison that shows both differences and connections.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975360" y="4023360"/>
            <a:ext cx="6096000" cy="609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8A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Thinking Routine: Sort → Compare → Explain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071360" y="4023360"/>
            <a:ext cx="4876800" cy="1706880"/>
          </a:xfrm>
          <a:prstGeom prst="roundRect">
            <a:avLst>
              <a:gd name="adj" fmla="val 8571"/>
            </a:avLst>
          </a:prstGeom>
          <a:solidFill>
            <a:srgbClr val="FFF3DC"/>
          </a:solidFill>
          <a:ln w="19050">
            <a:solidFill>
              <a:srgbClr val="F5E6C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0" y="4145280"/>
            <a:ext cx="4389120" cy="487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D494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Regional Observer Badge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7315200" y="4693920"/>
            <a:ext cx="4389120" cy="853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Finish today and earn the badge for completing the entire North America and Caribbean Gallery!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835"/>
          </a:solidFill>
          <a:ln w="19050">
            <a:solidFill>
              <a:srgbClr val="3A5080"/>
            </a:solidFill>
            <a:prstDash val="dash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C42">
              <a:alpha val="62000"/>
            </a:srgbClr>
          </a:solidFill>
          <a:ln/>
        </p:spPr>
      </p:sp>
      <p:sp>
        <p:nvSpPr>
          <p:cNvPr id="5" name="Text 2"/>
          <p:cNvSpPr/>
          <p:nvPr/>
        </p:nvSpPr>
        <p:spPr>
          <a:xfrm>
            <a:off x="1219200" y="731520"/>
            <a:ext cx="9753600" cy="853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D494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Enter the Museum</a:t>
            </a:r>
            <a:endParaRPr lang="en-US" sz="3200" dirty="0"/>
          </a:p>
        </p:txBody>
      </p:sp>
      <p:sp>
        <p:nvSpPr>
          <p:cNvPr id="6" name="Text 3"/>
          <p:cNvSpPr/>
          <p:nvPr/>
        </p:nvSpPr>
        <p:spPr>
          <a:xfrm>
            <a:off x="1219200" y="1584960"/>
            <a:ext cx="9753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Last Stop in the Gallery</a:t>
            </a:r>
            <a:endParaRPr lang="en-US" sz="2200" dirty="0"/>
          </a:p>
        </p:txBody>
      </p:sp>
      <p:sp>
        <p:nvSpPr>
          <p:cNvPr id="7" name="Text 4"/>
          <p:cNvSpPr/>
          <p:nvPr/>
        </p:nvSpPr>
        <p:spPr>
          <a:xfrm>
            <a:off x="1219200" y="2682240"/>
            <a:ext cx="792480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large panels have been hung along the gallery wall, side by side — one for Canada, one for the United States, one for Mexico, one for the Caribbean.</a:t>
            </a:r>
            <a:endParaRPr lang="en-US" sz="1700" dirty="0"/>
          </a:p>
          <a:p>
            <a:pPr indent="0" marL="0">
              <a:lnSpc>
                <a:spcPct val="125000"/>
              </a:lnSpc>
              <a:buNone/>
            </a:pPr>
            <a:endParaRPr lang="en-US" sz="17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shows a different language, a different sport, different foods, different music.</a:t>
            </a:r>
            <a:endParaRPr lang="en-US" sz="1700" dirty="0"/>
          </a:p>
          <a:p>
            <a:pPr indent="0" marL="0">
              <a:lnSpc>
                <a:spcPct val="125000"/>
              </a:lnSpc>
              <a:buNone/>
            </a:pPr>
            <a:endParaRPr lang="en-US" sz="17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museum director smiles: "Today's the day you complete the gallery — and earn your Regional Observer badge."</a:t>
            </a:r>
            <a:endParaRPr lang="en-US" sz="17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2F8"/>
          </a:solidFill>
          <a:ln/>
        </p:spPr>
      </p:sp>
      <p:sp>
        <p:nvSpPr>
          <p:cNvPr id="3" name="Text 1"/>
          <p:cNvSpPr/>
          <p:nvPr/>
        </p:nvSpPr>
        <p:spPr>
          <a:xfrm>
            <a:off x="975360" y="487680"/>
            <a:ext cx="3657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8A7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SORT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975360" y="1219200"/>
            <a:ext cx="9753600" cy="609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E1C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Think Before We Learn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975360" y="2072640"/>
            <a:ext cx="10972800" cy="3048000"/>
          </a:xfrm>
          <a:prstGeom prst="roundRect">
            <a:avLst>
              <a:gd name="adj" fmla="val 6000"/>
            </a:avLst>
          </a:prstGeom>
          <a:solidFill>
            <a:srgbClr val="1A2D5A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1222248" y="2191512"/>
            <a:ext cx="10488168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55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SOCRATIC QUESTIONS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222248" y="2538984"/>
            <a:ext cx="10488168" cy="24627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What's one thing you already know about Canada that is different from Mexico?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jazz song born in New Orleans might be played in Toronto, Mexico City, and Havana in the same week. What does that tell you about how regions are connected?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hockey 'better' than soccer? How should a curator compare without ranking?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975360" y="5486400"/>
            <a:ext cx="10972800" cy="609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7A8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 your students discuss before teaching. Activate what they already know about Canada, the US, Mexico, and the Caribbean.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2F8"/>
          </a:solidFill>
          <a:ln/>
        </p:spPr>
      </p:sp>
      <p:sp>
        <p:nvSpPr>
          <p:cNvPr id="3" name="Text 1"/>
          <p:cNvSpPr/>
          <p:nvPr/>
        </p:nvSpPr>
        <p:spPr>
          <a:xfrm>
            <a:off x="975360" y="365760"/>
            <a:ext cx="10363200" cy="853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E1C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Canada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975360" y="1463040"/>
            <a:ext cx="5852160" cy="4023360"/>
          </a:xfrm>
          <a:prstGeom prst="roundRect">
            <a:avLst>
              <a:gd name="adj" fmla="val 3636"/>
            </a:avLst>
          </a:prstGeom>
          <a:solidFill>
            <a:srgbClr val="E2E8F4"/>
          </a:solidFill>
          <a:ln w="19050">
            <a:solidFill>
              <a:srgbClr val="B0B8CC"/>
            </a:solidFill>
            <a:prstDash val="dash"/>
          </a:ln>
        </p:spPr>
      </p:sp>
      <p:sp>
        <p:nvSpPr>
          <p:cNvPr id="5" name="Text 3"/>
          <p:cNvSpPr/>
          <p:nvPr/>
        </p:nvSpPr>
        <p:spPr>
          <a:xfrm>
            <a:off x="975360" y="1463040"/>
            <a:ext cx="5852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50" kern="0" dirty="0">
                <a:solidFill>
                  <a:srgbClr val="7A8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INSERT IMAGE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158240" y="1828800"/>
            <a:ext cx="5486400" cy="3538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7A8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Canadian cultural montage — maple leaf flag, hockey, Parliament building, bilingual English/French signs, maple syrup, snowy landscape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7315200" y="1463040"/>
            <a:ext cx="4632960" cy="4023360"/>
          </a:xfrm>
          <a:prstGeom prst="roundRect">
            <a:avLst>
              <a:gd name="adj" fmla="val 3182"/>
            </a:avLst>
          </a:prstGeom>
          <a:solidFill>
            <a:srgbClr val="FEF5F5"/>
          </a:solidFill>
          <a:ln w="12700">
            <a:solidFill>
              <a:srgbClr val="E8C8C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559040" y="1645920"/>
            <a:ext cx="414528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official languages: English and French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Government: Parliament, led by a Prime Minister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Hockey is the beloved national winter sport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red maple leaf on the flag stands for Canada's maple trees and maple syrup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Second-largest country in the world by land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2F8"/>
          </a:solidFill>
          <a:ln/>
        </p:spPr>
      </p:sp>
      <p:sp>
        <p:nvSpPr>
          <p:cNvPr id="3" name="Text 1"/>
          <p:cNvSpPr/>
          <p:nvPr/>
        </p:nvSpPr>
        <p:spPr>
          <a:xfrm>
            <a:off x="975360" y="365760"/>
            <a:ext cx="10363200" cy="853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E1C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United States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975360" y="1463040"/>
            <a:ext cx="5852160" cy="4023360"/>
          </a:xfrm>
          <a:prstGeom prst="roundRect">
            <a:avLst>
              <a:gd name="adj" fmla="val 3636"/>
            </a:avLst>
          </a:prstGeom>
          <a:solidFill>
            <a:srgbClr val="E2E8F4"/>
          </a:solidFill>
          <a:ln w="19050">
            <a:solidFill>
              <a:srgbClr val="B0B8CC"/>
            </a:solidFill>
            <a:prstDash val="dash"/>
          </a:ln>
        </p:spPr>
      </p:sp>
      <p:sp>
        <p:nvSpPr>
          <p:cNvPr id="5" name="Text 3"/>
          <p:cNvSpPr/>
          <p:nvPr/>
        </p:nvSpPr>
        <p:spPr>
          <a:xfrm>
            <a:off x="975360" y="1463040"/>
            <a:ext cx="5852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50" kern="0" dirty="0">
                <a:solidFill>
                  <a:srgbClr val="7A8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INSERT IMAGE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158240" y="1828800"/>
            <a:ext cx="5486400" cy="3538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7A8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American cultural montage — Stars and Stripes flag, baseball game, jazz musicians, diverse crowd, regional food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7315200" y="1463040"/>
            <a:ext cx="4632960" cy="4023360"/>
          </a:xfrm>
          <a:prstGeom prst="roundRect">
            <a:avLst>
              <a:gd name="adj" fmla="val 3182"/>
            </a:avLst>
          </a:prstGeom>
          <a:solidFill>
            <a:srgbClr val="EAF8FD"/>
          </a:solidFill>
          <a:ln w="12700">
            <a:solidFill>
              <a:srgbClr val="B8E4F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559040" y="1645920"/>
            <a:ext cx="414528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English most spoken, but many languages in everyday life (Spanish, Chinese, Vietnamese, Arabic, more)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mix of many cultures from around the world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Stars and Stripes flag — 50 stars for 50 states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Baseball is the national pastime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Jazz, blues, and country music started here and traveled the world</a:t>
            </a:r>
            <a:endParaRPr lang="en-US" sz="15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2F8"/>
          </a:solidFill>
          <a:ln/>
        </p:spPr>
      </p:sp>
      <p:sp>
        <p:nvSpPr>
          <p:cNvPr id="3" name="Text 1"/>
          <p:cNvSpPr/>
          <p:nvPr/>
        </p:nvSpPr>
        <p:spPr>
          <a:xfrm>
            <a:off x="975360" y="365760"/>
            <a:ext cx="10363200" cy="853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E1C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Mexico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975360" y="1463040"/>
            <a:ext cx="5852160" cy="4023360"/>
          </a:xfrm>
          <a:prstGeom prst="roundRect">
            <a:avLst>
              <a:gd name="adj" fmla="val 3636"/>
            </a:avLst>
          </a:prstGeom>
          <a:solidFill>
            <a:srgbClr val="E2E8F4"/>
          </a:solidFill>
          <a:ln w="19050">
            <a:solidFill>
              <a:srgbClr val="B0B8CC"/>
            </a:solidFill>
            <a:prstDash val="dash"/>
          </a:ln>
        </p:spPr>
      </p:sp>
      <p:sp>
        <p:nvSpPr>
          <p:cNvPr id="5" name="Text 3"/>
          <p:cNvSpPr/>
          <p:nvPr/>
        </p:nvSpPr>
        <p:spPr>
          <a:xfrm>
            <a:off x="975360" y="1463040"/>
            <a:ext cx="5852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50" kern="0" dirty="0">
                <a:solidFill>
                  <a:srgbClr val="7A8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INSERT IMAGE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158240" y="1828800"/>
            <a:ext cx="5486400" cy="3538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7A8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Mexican cultural montage — Day of the Dead altar, mariachi band, tortillas and tamales, pyramids, Mexican flag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7315200" y="1463040"/>
            <a:ext cx="4632960" cy="4023360"/>
          </a:xfrm>
          <a:prstGeom prst="roundRect">
            <a:avLst>
              <a:gd name="adj" fmla="val 3182"/>
            </a:avLst>
          </a:prstGeom>
          <a:solidFill>
            <a:srgbClr val="E3F8ED"/>
          </a:solidFill>
          <a:ln w="12700">
            <a:solidFill>
              <a:srgbClr val="A8DFC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559040" y="1645920"/>
            <a:ext cx="414528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Spanish is most spoken; millions also speak Indigenous languages (Nahuatl, Maya)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Blends Indigenous heritage (Maya, Aztec) with Spanish colonial heritage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of the Dead (Dia de Muertos) honors family members who have passed on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Mariachi music with trumpets and violins is the national sound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Foods like tortillas, tamales, and chocolate all come from Mexico</a:t>
            </a:r>
            <a:endParaRPr lang="en-US" sz="15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2F8"/>
          </a:solidFill>
          <a:ln/>
        </p:spPr>
      </p:sp>
      <p:sp>
        <p:nvSpPr>
          <p:cNvPr id="3" name="Text 1"/>
          <p:cNvSpPr/>
          <p:nvPr/>
        </p:nvSpPr>
        <p:spPr>
          <a:xfrm>
            <a:off x="975360" y="365760"/>
            <a:ext cx="10363200" cy="853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E1C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Caribbean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975360" y="1463040"/>
            <a:ext cx="5852160" cy="4023360"/>
          </a:xfrm>
          <a:prstGeom prst="roundRect">
            <a:avLst>
              <a:gd name="adj" fmla="val 3636"/>
            </a:avLst>
          </a:prstGeom>
          <a:solidFill>
            <a:srgbClr val="E2E8F4"/>
          </a:solidFill>
          <a:ln w="19050">
            <a:solidFill>
              <a:srgbClr val="B0B8CC"/>
            </a:solidFill>
            <a:prstDash val="dash"/>
          </a:ln>
        </p:spPr>
      </p:sp>
      <p:sp>
        <p:nvSpPr>
          <p:cNvPr id="5" name="Text 3"/>
          <p:cNvSpPr/>
          <p:nvPr/>
        </p:nvSpPr>
        <p:spPr>
          <a:xfrm>
            <a:off x="975360" y="1463040"/>
            <a:ext cx="5852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50" kern="0" dirty="0">
                <a:solidFill>
                  <a:srgbClr val="7A8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INSERT IMAGE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158240" y="1828800"/>
            <a:ext cx="5486400" cy="3538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7A8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Caribbean cultural montage — colorful island houses, reggae musicians, palm-fringed beach, calypso festival, sugarcane, diverse island flags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7315200" y="1463040"/>
            <a:ext cx="4632960" cy="4023360"/>
          </a:xfrm>
          <a:prstGeom prst="roundRect">
            <a:avLst>
              <a:gd name="adj" fmla="val 3182"/>
            </a:avLst>
          </a:prstGeom>
          <a:solidFill>
            <a:srgbClr val="F0E8FF"/>
          </a:solidFill>
          <a:ln w="12700">
            <a:solidFill>
              <a:srgbClr val="D0C4E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559040" y="1645920"/>
            <a:ext cx="414528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Many islands, many languages — Spanish, English, French, Dutch, and Creole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Reggae, calypso, and salsa music all started here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Heritage blends African, Indigenous Taino, and European cultures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Warm climate, palm-fringed beaches, sailing traditions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Different islands settled by different European countries — that's why so many languages</a:t>
            </a:r>
            <a:endParaRPr lang="en-US" sz="15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2F8"/>
          </a:solidFill>
          <a:ln/>
        </p:spPr>
      </p:sp>
      <p:sp>
        <p:nvSpPr>
          <p:cNvPr id="3" name="Text 1"/>
          <p:cNvSpPr/>
          <p:nvPr/>
        </p:nvSpPr>
        <p:spPr>
          <a:xfrm>
            <a:off x="975360" y="365760"/>
            <a:ext cx="10363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8A7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COMPARE: Side by Side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975360" y="1097280"/>
            <a:ext cx="10972800" cy="487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7A8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connects all four regions, even though they're different?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731520" y="1828800"/>
            <a:ext cx="2682240" cy="4023360"/>
          </a:xfrm>
          <a:prstGeom prst="roundRect">
            <a:avLst>
              <a:gd name="adj" fmla="val 4091"/>
            </a:avLst>
          </a:prstGeom>
          <a:solidFill>
            <a:srgbClr val="FEF5F5"/>
          </a:solidFill>
          <a:ln w="12700">
            <a:solidFill>
              <a:srgbClr val="D0D8E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1920240"/>
            <a:ext cx="2499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Canada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868680" y="2331720"/>
            <a:ext cx="240792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English + French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Hockey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Maple leaf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Parliament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779520" y="1828800"/>
            <a:ext cx="2682240" cy="4023360"/>
          </a:xfrm>
          <a:prstGeom prst="roundRect">
            <a:avLst>
              <a:gd name="adj" fmla="val 4091"/>
            </a:avLst>
          </a:prstGeom>
          <a:solidFill>
            <a:srgbClr val="EAF8FD"/>
          </a:solidFill>
          <a:ln w="12700">
            <a:solidFill>
              <a:srgbClr val="D0D8E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870960" y="1920240"/>
            <a:ext cx="2499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3916680" y="2331720"/>
            <a:ext cx="240792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English + many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Baseball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Stars &amp; Stripes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Jazz, blues, country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827520" y="1828800"/>
            <a:ext cx="2682240" cy="4023360"/>
          </a:xfrm>
          <a:prstGeom prst="roundRect">
            <a:avLst>
              <a:gd name="adj" fmla="val 4091"/>
            </a:avLst>
          </a:prstGeom>
          <a:solidFill>
            <a:srgbClr val="E3F8ED"/>
          </a:solidFill>
          <a:ln w="12700">
            <a:solidFill>
              <a:srgbClr val="D0D8E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918960" y="1920240"/>
            <a:ext cx="2499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Mexico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6964680" y="2331720"/>
            <a:ext cx="240792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Spanish + Indigenous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of the Dead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Mariachi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Tortillas, tamales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9875520" y="1828800"/>
            <a:ext cx="2682240" cy="4023360"/>
          </a:xfrm>
          <a:prstGeom prst="roundRect">
            <a:avLst>
              <a:gd name="adj" fmla="val 4091"/>
            </a:avLst>
          </a:prstGeom>
          <a:solidFill>
            <a:srgbClr val="F0E8FF"/>
          </a:solidFill>
          <a:ln w="12700">
            <a:solidFill>
              <a:srgbClr val="D0D8E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966960" y="1920240"/>
            <a:ext cx="2499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Caribbean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10012680" y="2331720"/>
            <a:ext cx="240792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Many languages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Reggae, calypso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African + Taino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Many islands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975360" y="6096000"/>
            <a:ext cx="10972800" cy="487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1A8A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They share a continent, shared histories, and cultures that move freely across borders.</a:t>
            </a:r>
            <a:endParaRPr lang="en-US" sz="15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2F8"/>
          </a:solidFill>
          <a:ln/>
        </p:spPr>
      </p:sp>
      <p:sp>
        <p:nvSpPr>
          <p:cNvPr id="3" name="Text 1"/>
          <p:cNvSpPr/>
          <p:nvPr/>
        </p:nvSpPr>
        <p:spPr>
          <a:xfrm>
            <a:off x="975360" y="365760"/>
            <a:ext cx="10363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E1C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Study the Cultural Map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975360" y="1341120"/>
            <a:ext cx="6705600" cy="4632960"/>
          </a:xfrm>
          <a:prstGeom prst="roundRect">
            <a:avLst>
              <a:gd name="adj" fmla="val 3158"/>
            </a:avLst>
          </a:prstGeom>
          <a:solidFill>
            <a:srgbClr val="E2E8F4"/>
          </a:solidFill>
          <a:ln w="19050">
            <a:solidFill>
              <a:srgbClr val="B0B8CC"/>
            </a:solidFill>
            <a:prstDash val="dash"/>
          </a:ln>
        </p:spPr>
      </p:sp>
      <p:sp>
        <p:nvSpPr>
          <p:cNvPr id="5" name="Text 3"/>
          <p:cNvSpPr/>
          <p:nvPr/>
        </p:nvSpPr>
        <p:spPr>
          <a:xfrm>
            <a:off x="975360" y="1341120"/>
            <a:ext cx="670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50" kern="0" dirty="0">
                <a:solidFill>
                  <a:srgbClr val="7A8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INSERT IMAGE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158240" y="1706880"/>
            <a:ext cx="6339840" cy="414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7A8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source-3-06-08-regional-cultural-map.jpg — Clear public-domain cultural map of North America and the Caribbean showing four regional areas with language/cultural notes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8168640" y="1341120"/>
            <a:ext cx="3901440" cy="4632960"/>
          </a:xfrm>
          <a:prstGeom prst="roundRect">
            <a:avLst>
              <a:gd name="adj" fmla="val 3750"/>
            </a:avLst>
          </a:prstGeom>
          <a:solidFill>
            <a:srgbClr val="FFF8F0"/>
          </a:solidFill>
          <a:ln w="19050">
            <a:solidFill>
              <a:srgbClr val="F5E6C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412480" y="1463040"/>
            <a:ext cx="3413760" cy="487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rgbClr val="D494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 Source Analysis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8412480" y="2072640"/>
            <a:ext cx="3413760" cy="3413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do I see?</a:t>
            </a:r>
            <a:endParaRPr lang="en-US" sz="14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300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is each regional area? What languages or symbols stand out?</a:t>
            </a: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does it mean?</a:t>
            </a:r>
            <a:endParaRPr lang="en-US" sz="14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300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 two areas. Name one BIG difference and one thing that CONNECTS them.</a:t>
            </a: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does it matter?</a:t>
            </a:r>
            <a:endParaRPr lang="en-US" sz="1400" dirty="0"/>
          </a:p>
          <a:p>
            <a:pPr indent="0" marL="0">
              <a:buNone/>
            </a:pPr>
            <a:r>
              <a:rPr lang="en-US" sz="1300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curator who sees differences AND connections tells a fuller, fairer story.</a:t>
            </a:r>
            <a:endParaRPr lang="en-US" sz="14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2F8"/>
          </a:solidFill>
          <a:ln/>
        </p:spPr>
      </p:sp>
      <p:sp>
        <p:nvSpPr>
          <p:cNvPr id="3" name="Text 1"/>
          <p:cNvSpPr/>
          <p:nvPr/>
        </p:nvSpPr>
        <p:spPr>
          <a:xfrm>
            <a:off x="975360" y="36576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E1C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Map Quest: Match Characteristic to Region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975360" y="1097280"/>
            <a:ext cx="10972800" cy="426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7A8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Eight cultural characteristics. Four regional panels. Students match on the lesson page.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975360" y="1828800"/>
            <a:ext cx="5364480" cy="1158240"/>
          </a:xfrm>
          <a:prstGeom prst="roundRect">
            <a:avLst>
              <a:gd name="adj" fmla="val 7895"/>
            </a:avLst>
          </a:prstGeom>
          <a:solidFill>
            <a:srgbClr val="FFFFFF"/>
          </a:solidFill>
          <a:ln w="12700">
            <a:solidFill>
              <a:srgbClr val="D0D8E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12520" y="1874520"/>
            <a:ext cx="3901440" cy="1066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official languages — English and French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059680" y="1965960"/>
            <a:ext cx="1143000" cy="883920"/>
          </a:xfrm>
          <a:prstGeom prst="roundRect">
            <a:avLst>
              <a:gd name="adj" fmla="val 8276"/>
            </a:avLst>
          </a:prstGeom>
          <a:solidFill>
            <a:srgbClr val="1A8A7D"/>
          </a:solidFill>
          <a:ln/>
        </p:spPr>
      </p:sp>
      <p:sp>
        <p:nvSpPr>
          <p:cNvPr id="8" name="Text 6"/>
          <p:cNvSpPr/>
          <p:nvPr/>
        </p:nvSpPr>
        <p:spPr>
          <a:xfrm>
            <a:off x="5059680" y="1965960"/>
            <a:ext cx="1143000" cy="883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Canada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827520" y="1828800"/>
            <a:ext cx="5364480" cy="1158240"/>
          </a:xfrm>
          <a:prstGeom prst="roundRect">
            <a:avLst>
              <a:gd name="adj" fmla="val 7895"/>
            </a:avLst>
          </a:prstGeom>
          <a:solidFill>
            <a:srgbClr val="FFFFFF"/>
          </a:solidFill>
          <a:ln w="12700">
            <a:solidFill>
              <a:srgbClr val="D0D8E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964680" y="1874520"/>
            <a:ext cx="3901440" cy="1066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of the Dead (Dia de Muertos)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10911840" y="1965960"/>
            <a:ext cx="1143000" cy="883920"/>
          </a:xfrm>
          <a:prstGeom prst="roundRect">
            <a:avLst>
              <a:gd name="adj" fmla="val 8276"/>
            </a:avLst>
          </a:prstGeom>
          <a:solidFill>
            <a:srgbClr val="1A8A7D"/>
          </a:solidFill>
          <a:ln/>
        </p:spPr>
      </p:sp>
      <p:sp>
        <p:nvSpPr>
          <p:cNvPr id="12" name="Text 10"/>
          <p:cNvSpPr/>
          <p:nvPr/>
        </p:nvSpPr>
        <p:spPr>
          <a:xfrm>
            <a:off x="10911840" y="1965960"/>
            <a:ext cx="1143000" cy="883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Mexico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975360" y="3230880"/>
            <a:ext cx="5364480" cy="1158240"/>
          </a:xfrm>
          <a:prstGeom prst="roundRect">
            <a:avLst>
              <a:gd name="adj" fmla="val 7895"/>
            </a:avLst>
          </a:prstGeom>
          <a:solidFill>
            <a:srgbClr val="FFFFFF"/>
          </a:solidFill>
          <a:ln w="12700">
            <a:solidFill>
              <a:srgbClr val="D0D8E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112520" y="3276600"/>
            <a:ext cx="3901440" cy="1066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Reggae and calypso music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5059680" y="3368040"/>
            <a:ext cx="1143000" cy="883920"/>
          </a:xfrm>
          <a:prstGeom prst="roundRect">
            <a:avLst>
              <a:gd name="adj" fmla="val 8276"/>
            </a:avLst>
          </a:prstGeom>
          <a:solidFill>
            <a:srgbClr val="1A8A7D"/>
          </a:solidFill>
          <a:ln/>
        </p:spPr>
      </p:sp>
      <p:sp>
        <p:nvSpPr>
          <p:cNvPr id="16" name="Text 14"/>
          <p:cNvSpPr/>
          <p:nvPr/>
        </p:nvSpPr>
        <p:spPr>
          <a:xfrm>
            <a:off x="5059680" y="3368040"/>
            <a:ext cx="1143000" cy="883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Caribbean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827520" y="3230880"/>
            <a:ext cx="5364480" cy="1158240"/>
          </a:xfrm>
          <a:prstGeom prst="roundRect">
            <a:avLst>
              <a:gd name="adj" fmla="val 7895"/>
            </a:avLst>
          </a:prstGeom>
          <a:solidFill>
            <a:srgbClr val="FFFFFF"/>
          </a:solidFill>
          <a:ln w="12700">
            <a:solidFill>
              <a:srgbClr val="D0D8E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964680" y="3276600"/>
            <a:ext cx="3901440" cy="1066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Stars and Stripes flag with 50 stars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10911840" y="3368040"/>
            <a:ext cx="1143000" cy="883920"/>
          </a:xfrm>
          <a:prstGeom prst="roundRect">
            <a:avLst>
              <a:gd name="adj" fmla="val 8276"/>
            </a:avLst>
          </a:prstGeom>
          <a:solidFill>
            <a:srgbClr val="1A8A7D"/>
          </a:solidFill>
          <a:ln/>
        </p:spPr>
      </p:sp>
      <p:sp>
        <p:nvSpPr>
          <p:cNvPr id="20" name="Text 18"/>
          <p:cNvSpPr/>
          <p:nvPr/>
        </p:nvSpPr>
        <p:spPr>
          <a:xfrm>
            <a:off x="10911840" y="3368040"/>
            <a:ext cx="1143000" cy="883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United States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975360" y="4632960"/>
            <a:ext cx="5364480" cy="1158240"/>
          </a:xfrm>
          <a:prstGeom prst="roundRect">
            <a:avLst>
              <a:gd name="adj" fmla="val 7895"/>
            </a:avLst>
          </a:prstGeom>
          <a:solidFill>
            <a:srgbClr val="FFFFFF"/>
          </a:solidFill>
          <a:ln w="12700">
            <a:solidFill>
              <a:srgbClr val="D0D8E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112520" y="4678680"/>
            <a:ext cx="3901440" cy="1066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Hockey as the national winter sport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5059680" y="4770120"/>
            <a:ext cx="1143000" cy="883920"/>
          </a:xfrm>
          <a:prstGeom prst="roundRect">
            <a:avLst>
              <a:gd name="adj" fmla="val 8276"/>
            </a:avLst>
          </a:prstGeom>
          <a:solidFill>
            <a:srgbClr val="1A8A7D"/>
          </a:solidFill>
          <a:ln/>
        </p:spPr>
      </p:sp>
      <p:sp>
        <p:nvSpPr>
          <p:cNvPr id="24" name="Text 22"/>
          <p:cNvSpPr/>
          <p:nvPr/>
        </p:nvSpPr>
        <p:spPr>
          <a:xfrm>
            <a:off x="5059680" y="4770120"/>
            <a:ext cx="1143000" cy="883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Canada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6827520" y="4632960"/>
            <a:ext cx="5364480" cy="1158240"/>
          </a:xfrm>
          <a:prstGeom prst="roundRect">
            <a:avLst>
              <a:gd name="adj" fmla="val 7895"/>
            </a:avLst>
          </a:prstGeom>
          <a:solidFill>
            <a:srgbClr val="FFFFFF"/>
          </a:solidFill>
          <a:ln w="12700">
            <a:solidFill>
              <a:srgbClr val="D0D8E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964680" y="4678680"/>
            <a:ext cx="3901440" cy="1066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Mariachi music with trumpets and violins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10911840" y="4770120"/>
            <a:ext cx="1143000" cy="883920"/>
          </a:xfrm>
          <a:prstGeom prst="roundRect">
            <a:avLst>
              <a:gd name="adj" fmla="val 8276"/>
            </a:avLst>
          </a:prstGeom>
          <a:solidFill>
            <a:srgbClr val="1A8A7D"/>
          </a:solidFill>
          <a:ln/>
        </p:spPr>
      </p:sp>
      <p:sp>
        <p:nvSpPr>
          <p:cNvPr id="28" name="Text 26"/>
          <p:cNvSpPr/>
          <p:nvPr/>
        </p:nvSpPr>
        <p:spPr>
          <a:xfrm>
            <a:off x="10911840" y="4770120"/>
            <a:ext cx="1143000" cy="883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Mexico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975360" y="6035040"/>
            <a:ext cx="5364480" cy="1158240"/>
          </a:xfrm>
          <a:prstGeom prst="roundRect">
            <a:avLst>
              <a:gd name="adj" fmla="val 7895"/>
            </a:avLst>
          </a:prstGeom>
          <a:solidFill>
            <a:srgbClr val="FFFFFF"/>
          </a:solidFill>
          <a:ln w="12700">
            <a:solidFill>
              <a:srgbClr val="D0D8E8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1112520" y="6080760"/>
            <a:ext cx="3901440" cy="1066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Many islands with many languages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5059680" y="6172200"/>
            <a:ext cx="1143000" cy="883920"/>
          </a:xfrm>
          <a:prstGeom prst="roundRect">
            <a:avLst>
              <a:gd name="adj" fmla="val 8276"/>
            </a:avLst>
          </a:prstGeom>
          <a:solidFill>
            <a:srgbClr val="1A8A7D"/>
          </a:solidFill>
          <a:ln/>
        </p:spPr>
      </p:sp>
      <p:sp>
        <p:nvSpPr>
          <p:cNvPr id="32" name="Text 30"/>
          <p:cNvSpPr/>
          <p:nvPr/>
        </p:nvSpPr>
        <p:spPr>
          <a:xfrm>
            <a:off x="5059680" y="6172200"/>
            <a:ext cx="1143000" cy="883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Caribbean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6827520" y="6035040"/>
            <a:ext cx="5364480" cy="1158240"/>
          </a:xfrm>
          <a:prstGeom prst="roundRect">
            <a:avLst>
              <a:gd name="adj" fmla="val 7895"/>
            </a:avLst>
          </a:prstGeom>
          <a:solidFill>
            <a:srgbClr val="FFFFFF"/>
          </a:solidFill>
          <a:ln w="12700">
            <a:solidFill>
              <a:srgbClr val="D0D8E8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964680" y="6080760"/>
            <a:ext cx="3901440" cy="1066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Baseball as the national pastime</a:t>
            </a:r>
            <a:endParaRPr lang="en-US" sz="1300" dirty="0"/>
          </a:p>
        </p:txBody>
      </p:sp>
      <p:sp>
        <p:nvSpPr>
          <p:cNvPr id="35" name="Shape 33"/>
          <p:cNvSpPr/>
          <p:nvPr/>
        </p:nvSpPr>
        <p:spPr>
          <a:xfrm>
            <a:off x="10911840" y="6172200"/>
            <a:ext cx="1143000" cy="883920"/>
          </a:xfrm>
          <a:prstGeom prst="roundRect">
            <a:avLst>
              <a:gd name="adj" fmla="val 8276"/>
            </a:avLst>
          </a:prstGeom>
          <a:solidFill>
            <a:srgbClr val="1A8A7D"/>
          </a:solidFill>
          <a:ln/>
        </p:spPr>
      </p:sp>
      <p:sp>
        <p:nvSpPr>
          <p:cNvPr id="36" name="Text 34"/>
          <p:cNvSpPr/>
          <p:nvPr/>
        </p:nvSpPr>
        <p:spPr>
          <a:xfrm>
            <a:off x="10911840" y="6172200"/>
            <a:ext cx="1143000" cy="883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United States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2F8"/>
          </a:solidFill>
          <a:ln/>
        </p:spPr>
      </p:sp>
      <p:sp>
        <p:nvSpPr>
          <p:cNvPr id="3" name="Text 1"/>
          <p:cNvSpPr/>
          <p:nvPr/>
        </p:nvSpPr>
        <p:spPr>
          <a:xfrm>
            <a:off x="975360" y="365760"/>
            <a:ext cx="10363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8A7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Discovery Fact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975360" y="1463040"/>
            <a:ext cx="6096000" cy="3657600"/>
          </a:xfrm>
          <a:prstGeom prst="roundRect">
            <a:avLst>
              <a:gd name="adj" fmla="val 4000"/>
            </a:avLst>
          </a:prstGeom>
          <a:solidFill>
            <a:srgbClr val="E2E8F4"/>
          </a:solidFill>
          <a:ln w="19050">
            <a:solidFill>
              <a:srgbClr val="B0B8CC"/>
            </a:solidFill>
            <a:prstDash val="dash"/>
          </a:ln>
        </p:spPr>
      </p:sp>
      <p:sp>
        <p:nvSpPr>
          <p:cNvPr id="5" name="Text 3"/>
          <p:cNvSpPr/>
          <p:nvPr/>
        </p:nvSpPr>
        <p:spPr>
          <a:xfrm>
            <a:off x="975360" y="1463040"/>
            <a:ext cx="609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50" kern="0" dirty="0">
                <a:solidFill>
                  <a:srgbClr val="7A8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INSERT IMAGE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158240" y="1828800"/>
            <a:ext cx="5730240" cy="31729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7A8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Photo of a baseball stadium with diverse players — showing how baseball is loved in the US, Caribbean, and Mexico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7559040" y="1463040"/>
            <a:ext cx="4389120" cy="3657600"/>
          </a:xfrm>
          <a:prstGeom prst="roundRect">
            <a:avLst>
              <a:gd name="adj" fmla="val 3500"/>
            </a:avLst>
          </a:prstGeom>
          <a:solidFill>
            <a:srgbClr val="EAF8FD"/>
          </a:solidFill>
          <a:ln w="12700">
            <a:solidFill>
              <a:srgbClr val="B8E4F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802880" y="1706880"/>
            <a:ext cx="3901440" cy="3169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Baseball is loved in the United States, but it's also huge in Mexico, Cuba, and the Dominican Republic.</a:t>
            </a:r>
            <a:endParaRPr lang="en-US" sz="1500" dirty="0"/>
          </a:p>
          <a:p>
            <a:pPr indent="0" marL="0">
              <a:lnSpc>
                <a:spcPct val="120000"/>
              </a:lnSpc>
              <a:buNone/>
            </a:pPr>
            <a:endParaRPr lang="en-US" sz="15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Many of the best baseball players in the U.S. major leagues come from the Caribbean.</a:t>
            </a:r>
            <a:endParaRPr lang="en-US" sz="1500" dirty="0"/>
          </a:p>
          <a:p>
            <a:pPr indent="0" marL="0">
              <a:lnSpc>
                <a:spcPct val="120000"/>
              </a:lnSpc>
              <a:buNone/>
            </a:pPr>
            <a:endParaRPr lang="en-US" sz="15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Cultural characteristics belong to a region — but they also travel between regions.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975360" y="5486400"/>
            <a:ext cx="10972800" cy="487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1A8A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Cultures don't stop at borders. A song born in Jamaica might be sung in Toronto next week.</a:t>
            </a:r>
            <a:endParaRPr lang="en-US" sz="15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2F8"/>
          </a:solidFill>
          <a:ln/>
        </p:spPr>
      </p:sp>
      <p:sp>
        <p:nvSpPr>
          <p:cNvPr id="3" name="Text 1"/>
          <p:cNvSpPr/>
          <p:nvPr/>
        </p:nvSpPr>
        <p:spPr>
          <a:xfrm>
            <a:off x="975360" y="365760"/>
            <a:ext cx="10363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E1C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Exhibit Label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1828800" y="1463040"/>
            <a:ext cx="8534400" cy="3657600"/>
          </a:xfrm>
          <a:prstGeom prst="roundRect">
            <a:avLst>
              <a:gd name="adj" fmla="val 5000"/>
            </a:avLst>
          </a:prstGeom>
          <a:solidFill>
            <a:srgbClr val="FFF8F0"/>
          </a:solidFill>
          <a:ln w="25400">
            <a:solidFill>
              <a:srgbClr val="F5E6C8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2194560" y="1706880"/>
            <a:ext cx="7802880" cy="3169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700" i="1" dirty="0">
                <a:solidFill>
                  <a:srgbClr val="5A4A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North America and the Caribbean is made of four regional areas — Canada, the United States, Mexico, and the Caribbean — each with its own languages, traditions, music, sports, and symbols.</a:t>
            </a:r>
            <a:endParaRPr lang="en-US" sz="1700" dirty="0"/>
          </a:p>
          <a:p>
            <a:pPr indent="0" marL="0">
              <a:lnSpc>
                <a:spcPct val="125000"/>
              </a:lnSpc>
              <a:buNone/>
            </a:pPr>
            <a:endParaRPr lang="en-US" sz="17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700" i="1" dirty="0">
                <a:solidFill>
                  <a:srgbClr val="5A4A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But the region shares a continent, shared histories, and cultures that move freely across borders.</a:t>
            </a:r>
            <a:endParaRPr lang="en-US" sz="1700" dirty="0"/>
          </a:p>
          <a:p>
            <a:pPr indent="0" marL="0">
              <a:lnSpc>
                <a:spcPct val="125000"/>
              </a:lnSpc>
              <a:buNone/>
            </a:pPr>
            <a:endParaRPr lang="en-US" sz="17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700" i="1" dirty="0">
                <a:solidFill>
                  <a:srgbClr val="5A4A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good curator describes each one fairly AND shows what connects them.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975360" y="5486400"/>
            <a:ext cx="10972800" cy="1584960"/>
          </a:xfrm>
          <a:prstGeom prst="roundRect">
            <a:avLst>
              <a:gd name="adj" fmla="val 9231"/>
            </a:avLst>
          </a:prstGeom>
          <a:solidFill>
            <a:srgbClr val="FFF3DC"/>
          </a:solidFill>
          <a:ln w="19050">
            <a:solidFill>
              <a:srgbClr val="F5E6C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158240" y="5559552"/>
            <a:ext cx="1060704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D494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 FRAME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158240" y="5824728"/>
            <a:ext cx="10607040" cy="11551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700"/>
              </a:spcAft>
              <a:buNone/>
            </a:pPr>
            <a:r>
              <a:rPr lang="en-US" sz="1600" i="1" dirty="0">
                <a:solidFill>
                  <a:srgbClr val="5A4A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"Cultures don't stop at borders. A song born in Jamaica might be sung in Toronto next week; a recipe from Mexico might be loved in Chicago. When you compare regions, show what's distinct AND show what travels between them."</a:t>
            </a:r>
            <a:endParaRPr lang="en-US" sz="16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2F8"/>
          </a:solidFill>
          <a:ln/>
        </p:spPr>
      </p:sp>
      <p:sp>
        <p:nvSpPr>
          <p:cNvPr id="3" name="Text 1"/>
          <p:cNvSpPr/>
          <p:nvPr/>
        </p:nvSpPr>
        <p:spPr>
          <a:xfrm>
            <a:off x="975360" y="365760"/>
            <a:ext cx="10363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E1C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Self-Check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975360" y="1097280"/>
            <a:ext cx="10363200" cy="426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7A8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graded — just for you!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975360" y="1706880"/>
            <a:ext cx="10363200" cy="1524000"/>
          </a:xfrm>
          <a:prstGeom prst="roundRect">
            <a:avLst>
              <a:gd name="adj" fmla="val 7200"/>
            </a:avLst>
          </a:prstGeom>
          <a:solidFill>
            <a:srgbClr val="EAF8FD"/>
          </a:solidFill>
          <a:ln w="12700">
            <a:solidFill>
              <a:srgbClr val="B8E4F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219200" y="1780032"/>
            <a:ext cx="9875520" cy="609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Which country has TWO official languages — English and French?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219200" y="2255520"/>
            <a:ext cx="9875520" cy="609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1A8A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 — Canada.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975360" y="3535680"/>
            <a:ext cx="10363200" cy="1524000"/>
          </a:xfrm>
          <a:prstGeom prst="roundRect">
            <a:avLst>
              <a:gd name="adj" fmla="val 7200"/>
            </a:avLst>
          </a:prstGeom>
          <a:solidFill>
            <a:srgbClr val="E3F8ED"/>
          </a:solidFill>
          <a:ln w="12700">
            <a:solidFill>
              <a:srgbClr val="A8DFC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219200" y="3608832"/>
            <a:ext cx="9875520" cy="609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The Day of the Dead and mariachi music are cultural characteristics of which region?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219200" y="4084320"/>
            <a:ext cx="9875520" cy="609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1A8A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 — Mexico.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975360" y="5364480"/>
            <a:ext cx="10363200" cy="1524000"/>
          </a:xfrm>
          <a:prstGeom prst="roundRect">
            <a:avLst>
              <a:gd name="adj" fmla="val 7200"/>
            </a:avLst>
          </a:prstGeom>
          <a:solidFill>
            <a:srgbClr val="EAF8FD"/>
          </a:solidFill>
          <a:ln w="12700">
            <a:solidFill>
              <a:srgbClr val="B8E4F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219200" y="5437632"/>
            <a:ext cx="9875520" cy="609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What is one thing that CONNECTS the four regions?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219200" y="5913120"/>
            <a:ext cx="9875520" cy="609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1A8A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— Music, food, and traditions move freely between the regions.</a:t>
            </a:r>
            <a:endParaRPr lang="en-US" sz="15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2F8"/>
          </a:solidFill>
          <a:ln/>
        </p:spPr>
      </p:sp>
      <p:sp>
        <p:nvSpPr>
          <p:cNvPr id="3" name="Text 1"/>
          <p:cNvSpPr/>
          <p:nvPr/>
        </p:nvSpPr>
        <p:spPr>
          <a:xfrm>
            <a:off x="975360" y="365760"/>
            <a:ext cx="10363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E1C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Evidence Question 1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975360" y="1341120"/>
            <a:ext cx="10363200" cy="1463040"/>
          </a:xfrm>
          <a:prstGeom prst="roundRect">
            <a:avLst>
              <a:gd name="adj" fmla="val 8750"/>
            </a:avLst>
          </a:prstGeom>
          <a:solidFill>
            <a:srgbClr val="FFF8F0"/>
          </a:solidFill>
          <a:ln w="19050">
            <a:solidFill>
              <a:srgbClr val="F5E6C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219200" y="1463040"/>
            <a:ext cx="98755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5A4A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Name one cultural characteristic of Canada and one cultural characteristic of Mexico. Use details from today's lesson.</a:t>
            </a:r>
            <a:endParaRPr lang="en-US" sz="1900" dirty="0"/>
          </a:p>
        </p:txBody>
      </p:sp>
      <p:sp>
        <p:nvSpPr>
          <p:cNvPr id="6" name="Shape 4"/>
          <p:cNvSpPr/>
          <p:nvPr/>
        </p:nvSpPr>
        <p:spPr>
          <a:xfrm>
            <a:off x="975360" y="3169920"/>
            <a:ext cx="10363200" cy="2682240"/>
          </a:xfrm>
          <a:prstGeom prst="roundRect">
            <a:avLst>
              <a:gd name="adj" fmla="val 4773"/>
            </a:avLst>
          </a:prstGeom>
          <a:solidFill>
            <a:srgbClr val="FFFFFF"/>
          </a:solidFill>
          <a:ln w="12700">
            <a:solidFill>
              <a:srgbClr val="D0D8E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219200" y="3291840"/>
            <a:ext cx="9875520" cy="487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rgbClr val="1A8A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Scaffold: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219200" y="3840480"/>
            <a:ext cx="98755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Hint: Pick a language, a holiday, a sport, music, or a symbol — one specific thing from each.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Sentence starter: "One cultural characteristic of Canada is ____. One cultural characteristic of Mexico is ____."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i="1" dirty="0">
                <a:solidFill>
                  <a:srgbClr val="1A8A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Model: "Canada has two official languages (English and French). Mexico celebrates the Day of the Dead to honor family members."</a:t>
            </a:r>
            <a:endParaRPr lang="en-US" sz="16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2F8"/>
          </a:solidFill>
          <a:ln/>
        </p:spPr>
      </p:sp>
      <p:sp>
        <p:nvSpPr>
          <p:cNvPr id="3" name="Text 1"/>
          <p:cNvSpPr/>
          <p:nvPr/>
        </p:nvSpPr>
        <p:spPr>
          <a:xfrm>
            <a:off x="975360" y="365760"/>
            <a:ext cx="10363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E1C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Evidence Question 2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975360" y="1341120"/>
            <a:ext cx="10363200" cy="1463040"/>
          </a:xfrm>
          <a:prstGeom prst="roundRect">
            <a:avLst>
              <a:gd name="adj" fmla="val 8750"/>
            </a:avLst>
          </a:prstGeom>
          <a:solidFill>
            <a:srgbClr val="FFF8F0"/>
          </a:solidFill>
          <a:ln w="19050">
            <a:solidFill>
              <a:srgbClr val="F5E6C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219200" y="1463040"/>
            <a:ext cx="98755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5A4A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Caribbean has MANY languages spoken on different islands. Why? Use one detail from today's lesson.</a:t>
            </a:r>
            <a:endParaRPr lang="en-US" sz="1900" dirty="0"/>
          </a:p>
        </p:txBody>
      </p:sp>
      <p:sp>
        <p:nvSpPr>
          <p:cNvPr id="6" name="Shape 4"/>
          <p:cNvSpPr/>
          <p:nvPr/>
        </p:nvSpPr>
        <p:spPr>
          <a:xfrm>
            <a:off x="975360" y="3169920"/>
            <a:ext cx="10363200" cy="2682240"/>
          </a:xfrm>
          <a:prstGeom prst="roundRect">
            <a:avLst>
              <a:gd name="adj" fmla="val 4773"/>
            </a:avLst>
          </a:prstGeom>
          <a:solidFill>
            <a:srgbClr val="FFFFFF"/>
          </a:solidFill>
          <a:ln w="12700">
            <a:solidFill>
              <a:srgbClr val="D0D8E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219200" y="3291840"/>
            <a:ext cx="9875520" cy="487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rgbClr val="1A8A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Scaffold: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219200" y="3840480"/>
            <a:ext cx="98755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Hint: Think about who settled different Caribbean islands over the centuries.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idea: Different European countries settled different islands — Spanish in Cuba, English in Jamaica, French in Haiti, Dutch in Curacao.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i="1" dirty="0">
                <a:solidFill>
                  <a:srgbClr val="1A8A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That's why so many different languages are spoken across the Caribbean today.</a:t>
            </a:r>
            <a:endParaRPr lang="en-US" sz="16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2F8"/>
          </a:solidFill>
          <a:ln/>
        </p:spPr>
      </p:sp>
      <p:sp>
        <p:nvSpPr>
          <p:cNvPr id="3" name="Text 1"/>
          <p:cNvSpPr/>
          <p:nvPr/>
        </p:nvSpPr>
        <p:spPr>
          <a:xfrm>
            <a:off x="975360" y="365760"/>
            <a:ext cx="10363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E1C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Evidence Question 3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975360" y="1341120"/>
            <a:ext cx="10363200" cy="1463040"/>
          </a:xfrm>
          <a:prstGeom prst="roundRect">
            <a:avLst>
              <a:gd name="adj" fmla="val 8750"/>
            </a:avLst>
          </a:prstGeom>
          <a:solidFill>
            <a:srgbClr val="FFF8F0"/>
          </a:solidFill>
          <a:ln w="19050">
            <a:solidFill>
              <a:srgbClr val="F5E6C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219200" y="1463040"/>
            <a:ext cx="98755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5A4A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is one way these four regions are CONNECTED, not just different? Use a detail from today's lesson.</a:t>
            </a:r>
            <a:endParaRPr lang="en-US" sz="1900" dirty="0"/>
          </a:p>
        </p:txBody>
      </p:sp>
      <p:sp>
        <p:nvSpPr>
          <p:cNvPr id="6" name="Shape 4"/>
          <p:cNvSpPr/>
          <p:nvPr/>
        </p:nvSpPr>
        <p:spPr>
          <a:xfrm>
            <a:off x="975360" y="3169920"/>
            <a:ext cx="10363200" cy="2682240"/>
          </a:xfrm>
          <a:prstGeom prst="roundRect">
            <a:avLst>
              <a:gd name="adj" fmla="val 4773"/>
            </a:avLst>
          </a:prstGeom>
          <a:solidFill>
            <a:srgbClr val="FFFFFF"/>
          </a:solidFill>
          <a:ln w="12700">
            <a:solidFill>
              <a:srgbClr val="D0D8E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219200" y="3291840"/>
            <a:ext cx="9875520" cy="487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rgbClr val="1A8A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Scaffold: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219200" y="3840480"/>
            <a:ext cx="98755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Hint: Think about music, food, people, or sports that cross borders.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Sentence starter: "One way the four regions are connected is..."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i="1" dirty="0">
                <a:solidFill>
                  <a:srgbClr val="1A8A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Model: "Music travels between them — a jazz song from New Orleans might be played in Toronto, Mexico City, and Havana in the same week."</a:t>
            </a:r>
            <a:endParaRPr lang="en-US" sz="16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2F8"/>
          </a:solidFill>
          <a:ln/>
        </p:spPr>
      </p:sp>
      <p:sp>
        <p:nvSpPr>
          <p:cNvPr id="3" name="Text 1"/>
          <p:cNvSpPr/>
          <p:nvPr/>
        </p:nvSpPr>
        <p:spPr>
          <a:xfrm>
            <a:off x="975360" y="365760"/>
            <a:ext cx="10363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E1C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Curator Task: Final Comparison Panel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975360" y="1341120"/>
            <a:ext cx="10363200" cy="2682240"/>
          </a:xfrm>
          <a:prstGeom prst="roundRect">
            <a:avLst>
              <a:gd name="adj" fmla="val 4773"/>
            </a:avLst>
          </a:prstGeom>
          <a:solidFill>
            <a:srgbClr val="FFF8F0"/>
          </a:solidFill>
          <a:ln w="19050">
            <a:solidFill>
              <a:srgbClr val="F5E6C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219200" y="1463040"/>
            <a:ext cx="9875520" cy="2438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5A4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 two of the four regional areas (Canada, the United States, Mexico, or the Caribbean). Write a 4–5 sentence comparison panel. Include:</a:t>
            </a:r>
            <a:endParaRPr lang="en-US" sz="1600" dirty="0"/>
          </a:p>
          <a:p>
            <a:pPr indent="0" marL="0">
              <a:lnSpc>
                <a:spcPct val="120000"/>
              </a:lnSpc>
              <a:buNone/>
            </a:pPr>
            <a:endParaRPr lang="en-US" sz="16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5A4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One specific cultural characteristic of the first region</a:t>
            </a:r>
            <a:endParaRPr lang="en-US" sz="16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5A4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One specific cultural characteristic of the second region</a:t>
            </a:r>
            <a:endParaRPr lang="en-US" sz="16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5A4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One clear difference between them</a:t>
            </a:r>
            <a:endParaRPr lang="en-US" sz="16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5A4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One thing that connects them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975360" y="4389120"/>
            <a:ext cx="10363200" cy="1584960"/>
          </a:xfrm>
          <a:prstGeom prst="roundRect">
            <a:avLst>
              <a:gd name="adj" fmla="val 8077"/>
            </a:avLst>
          </a:prstGeom>
          <a:solidFill>
            <a:srgbClr val="FFFFFF"/>
          </a:solidFill>
          <a:ln w="12700">
            <a:solidFill>
              <a:srgbClr val="D0D8E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219200" y="4511040"/>
            <a:ext cx="9875520" cy="609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8A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panel should help visitors see BOTH what makes each region distinct AND what links them together.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219200" y="5242560"/>
            <a:ext cx="9875520" cy="487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i="1" dirty="0">
                <a:solidFill>
                  <a:srgbClr val="D494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the label that earns you the Regional Observer badge!</a:t>
            </a:r>
            <a:endParaRPr lang="en-US" sz="15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2F8"/>
          </a:solidFill>
          <a:ln/>
        </p:spPr>
      </p:sp>
      <p:sp>
        <p:nvSpPr>
          <p:cNvPr id="3" name="Text 1"/>
          <p:cNvSpPr/>
          <p:nvPr/>
        </p:nvSpPr>
        <p:spPr>
          <a:xfrm>
            <a:off x="975360" y="365760"/>
            <a:ext cx="10363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863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Error Analysis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975360" y="1158240"/>
            <a:ext cx="10363200" cy="487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7A8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student wrote this comparison panel. What went wrong?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975360" y="1950720"/>
            <a:ext cx="10363200" cy="2194560"/>
          </a:xfrm>
          <a:prstGeom prst="roundRect">
            <a:avLst>
              <a:gd name="adj" fmla="val 5833"/>
            </a:avLst>
          </a:prstGeom>
          <a:solidFill>
            <a:srgbClr val="FFF0F0"/>
          </a:solidFill>
          <a:ln w="19050">
            <a:solidFill>
              <a:srgbClr val="E8B8B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219200" y="2072640"/>
            <a:ext cx="987552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E863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"Canada and Mexico are two countries. Canada is cold and Mexico is hot. Canada is better because they have hockey. Mexico is okay too I guess."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975360" y="4511040"/>
            <a:ext cx="10972800" cy="1950720"/>
          </a:xfrm>
          <a:prstGeom prst="roundRect">
            <a:avLst>
              <a:gd name="adj" fmla="val 9375"/>
            </a:avLst>
          </a:prstGeom>
          <a:solidFill>
            <a:srgbClr val="1A2D5A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1222248" y="4629912"/>
            <a:ext cx="10488168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55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SOCRATIC QUESTIONS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222248" y="4977384"/>
            <a:ext cx="10488168" cy="1365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Does this panel name a specific cultural characteristic of each region?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saying one region is 'better' courteous comparison? What should a curator do instead?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What's missing — the connection! How could you add one thing that links them?</a:t>
            </a:r>
            <a:endParaRPr lang="en-US" sz="14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2F8"/>
          </a:solidFill>
          <a:ln/>
        </p:spPr>
      </p:sp>
      <p:sp>
        <p:nvSpPr>
          <p:cNvPr id="3" name="Text 1"/>
          <p:cNvSpPr/>
          <p:nvPr/>
        </p:nvSpPr>
        <p:spPr>
          <a:xfrm>
            <a:off x="975360" y="365760"/>
            <a:ext cx="10363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E1C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Chronicle + Badge + Submit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975360" y="1341120"/>
            <a:ext cx="6096000" cy="1463040"/>
          </a:xfrm>
          <a:prstGeom prst="roundRect">
            <a:avLst>
              <a:gd name="adj" fmla="val 8750"/>
            </a:avLst>
          </a:prstGeom>
          <a:solidFill>
            <a:srgbClr val="FFF3DC"/>
          </a:solidFill>
          <a:ln w="19050">
            <a:solidFill>
              <a:srgbClr val="F5E6C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219200" y="1402080"/>
            <a:ext cx="5608320" cy="426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94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Last Chronicle for this gallery: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219200" y="1889760"/>
            <a:ext cx="5608320" cy="792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5A4A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Walking through this gallery, I learned that ______ because ______.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7559040" y="1341120"/>
            <a:ext cx="4389120" cy="1463040"/>
          </a:xfrm>
          <a:prstGeom prst="roundRect">
            <a:avLst>
              <a:gd name="adj" fmla="val 8750"/>
            </a:avLst>
          </a:prstGeom>
          <a:solidFill>
            <a:srgbClr val="1A8A7D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7802880" y="1463040"/>
            <a:ext cx="3901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Regional Observer Badge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7802880" y="2072640"/>
            <a:ext cx="3901440" cy="609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walked the whole gallery — countries, features, landmarks, climate, resources, cultures, settlements, and characteristics.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975360" y="3169920"/>
            <a:ext cx="10363200" cy="2682240"/>
          </a:xfrm>
          <a:prstGeom prst="roundRect">
            <a:avLst>
              <a:gd name="adj" fmla="val 4773"/>
            </a:avLst>
          </a:prstGeom>
          <a:solidFill>
            <a:srgbClr val="FFFFFF"/>
          </a:solidFill>
          <a:ln w="12700">
            <a:solidFill>
              <a:srgbClr val="D0D8E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219200" y="3291840"/>
            <a:ext cx="9875520" cy="487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spc="100" kern="0" dirty="0">
                <a:solidFill>
                  <a:srgbClr val="1A8A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Turn-In Checklist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219200" y="3840480"/>
            <a:ext cx="98755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answered the evidence questions.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completed the Curator Task: Final Comparison Panel.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wrote my Curator's Chronicle.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copied or downloaded my work and submitted to Canvas.</a:t>
            </a:r>
            <a:endParaRPr lang="en-US" sz="16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835"/>
          </a:solidFill>
          <a:ln w="19050">
            <a:solidFill>
              <a:srgbClr val="3A5080"/>
            </a:solidFill>
            <a:prstDash val="dash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C42">
              <a:alpha val="62000"/>
            </a:srgbClr>
          </a:solidFill>
          <a:ln/>
        </p:spPr>
      </p:sp>
      <p:sp>
        <p:nvSpPr>
          <p:cNvPr id="5" name="Text 2"/>
          <p:cNvSpPr/>
          <p:nvPr/>
        </p:nvSpPr>
        <p:spPr>
          <a:xfrm>
            <a:off x="1219200" y="975360"/>
            <a:ext cx="9753600" cy="853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D494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Coming Up Next</a:t>
            </a:r>
            <a:endParaRPr lang="en-US" sz="3200" dirty="0"/>
          </a:p>
        </p:txBody>
      </p:sp>
      <p:sp>
        <p:nvSpPr>
          <p:cNvPr id="6" name="Text 3"/>
          <p:cNvSpPr/>
          <p:nvPr/>
        </p:nvSpPr>
        <p:spPr>
          <a:xfrm>
            <a:off x="1219200" y="1828800"/>
            <a:ext cx="9753600" cy="609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55C8E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New Gallery: United States Regions</a:t>
            </a:r>
            <a:endParaRPr lang="en-US" sz="2000" dirty="0"/>
          </a:p>
        </p:txBody>
      </p:sp>
      <p:sp>
        <p:nvSpPr>
          <p:cNvPr id="7" name="Text 4"/>
          <p:cNvSpPr/>
          <p:nvPr/>
        </p:nvSpPr>
        <p:spPr>
          <a:xfrm>
            <a:off x="1219200" y="2804160"/>
            <a:ext cx="8534400" cy="3901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North America and Caribbean Gallery is complete and the doors close behind you. Across the hallway, the museum director gestures toward a new doorway with five empty alcoves inside.</a:t>
            </a:r>
            <a:endParaRPr lang="en-US" sz="1700" dirty="0"/>
          </a:p>
          <a:p>
            <a:pPr indent="0" marL="0">
              <a:lnSpc>
                <a:spcPct val="125000"/>
              </a:lnSpc>
              <a:buNone/>
            </a:pPr>
            <a:endParaRPr lang="en-US" sz="17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"You learned that this region holds four big areas. But one of those countries — the United States — has FIVE distinct regions of its own.</a:t>
            </a:r>
            <a:endParaRPr lang="en-US" sz="1700" dirty="0"/>
          </a:p>
          <a:p>
            <a:pPr indent="0" marL="0">
              <a:lnSpc>
                <a:spcPct val="125000"/>
              </a:lnSpc>
              <a:buNone/>
            </a:pPr>
            <a:endParaRPr lang="en-US" sz="17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time, you'll start a brand-new role: United States Region Curator. One country, many regions. Ready?"</a:t>
            </a:r>
            <a:endParaRPr lang="en-US" sz="17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22</Slides>
  <Notes>22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Optima Academy Online</dc:creator>
  <cp:lastModifiedBy>Optima Academy Online</cp:lastModifiedBy>
  <cp:revision>1</cp:revision>
  <dcterms:created xsi:type="dcterms:W3CDTF">2026-07-11T03:45:17Z</dcterms:created>
  <dcterms:modified xsi:type="dcterms:W3CDTF">2026-07-11T03:45:17Z</dcterms:modified>
</cp:coreProperties>
</file>