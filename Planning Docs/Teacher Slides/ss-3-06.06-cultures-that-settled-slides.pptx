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Museum gallery with five tall display cases along a wall, each with a different cultural artifact — longhouse model, stepped pyramid, mission church, heraldic shield, African drum — warm exhibit lighting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Close-up of five museum display cases opening along a gallery wall, each case glowing with warm interior light, silhouettes of artifacts visibleHook: Describe the culture cases. Each holds something a different group brought. Stories must be told carefully. 1-2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Curator's Question aloud. Remind: yesterday was land/resources, today is people. Thinking: Sort, Compare, Explain.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museum curator carefully writing a display label by hand, warm lighting, respectful and attentive postureSpotlight courtesy. Using specific group names, accurate facts, not lumping. Indigenous peoples have been here longest and many still live here today. 1-2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Culture Case 1: Haudenosaunee. Longhouses, lacrosse, Three Sisters. Still here today. 2-3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Culture Case 2: Maya. Pyramids, zero, chocolate. Millions still live in region today. 2-3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Culture Case 3: Spanish settlers. Language, missions, Catholic faith. 1-2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Culture Case 4: French settlers. Quebec, Louisiana, French language. 1-2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Culture Case 5: African Heritage. Arrived against their will. Kept culture alive through music, food, farming, stories. Handle with care and respect. 2-3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settlement map. Analyze: who was here first, who came later, overlap. 2-3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Matching activity. Students try to match before revealing answers. Call on pairs to explain. 3-4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Discovery Fact: Great Law of Peace. One of oldest democratic governments. May have influenced U.S. Constitution. 1-2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&amp; Now: cultures are alive today. Chocolate, jazz, French words. Students brainstorm more.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many peoples, one region. Opti's tip: use specific names. 1-2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 analysis: lumps cultures together, uses wrong name, mixes up contributions. Students fix it. 2-3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Q1=C, Q2=B, Q3=A. Poll students. Reteach if needed. 2-3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Scaffold Evidence Q1. Two columns of contributions. Students pick one from each.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Scaffold Evidence Q2. Handle with care and respect. Model answer focuses on music. 2-3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Scaffold Evidence Q3. Tie back to courtesy virtue. Real names = respect for real people.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Assignment slide. Read task aloud. 3-4 sentences, respectful and accurate. Chronicle: one sentence.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checklist. Remind students to submit to Canvas.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Museum gallery with a large settlement map on the wall covered in small marker flags for towns and ports, warm lighting, sense of discoveryClosing. Celebrate. Tease next lesson: settlement map, 'Why here?'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609600" y="975360"/>
            <a:ext cx="10972800" cy="487680"/>
          </a:xfrm>
          <a:prstGeom prst="rect">
            <a:avLst/>
          </a:prstGeom>
          <a:noFill/>
          <a:ln/>
        </p:spPr>
        <p:txBody>
          <a:bodyPr wrap="square" lIns="0" tIns="0" rIns="0" bIns="0" rtlCol="0" anchor="ctr"/>
          <a:lstStyle/>
          <a:p>
            <a:pPr indent="0" marL="0">
              <a:buNone/>
            </a:pPr>
            <a:r>
              <a:rPr lang="en-US" sz="1400" b="1" spc="200" kern="0" dirty="0">
                <a:solidFill>
                  <a:srgbClr val="55C8E8"/>
                </a:solidFill>
                <a:latin typeface="Calibri" pitchFamily="34" charset="0"/>
                <a:ea typeface="Calibri" pitchFamily="34" charset="-122"/>
                <a:cs typeface="Calibri" pitchFamily="34" charset="-120"/>
              </a:rPr>
              <a:t>LESSON 3.06.06</a:t>
            </a:r>
            <a:endParaRPr lang="en-US" sz="1400" dirty="0"/>
          </a:p>
        </p:txBody>
      </p:sp>
      <p:sp>
        <p:nvSpPr>
          <p:cNvPr id="6" name="Text 3"/>
          <p:cNvSpPr/>
          <p:nvPr/>
        </p:nvSpPr>
        <p:spPr>
          <a:xfrm>
            <a:off x="609600" y="1584960"/>
            <a:ext cx="9753600" cy="2194560"/>
          </a:xfrm>
          <a:prstGeom prst="rect">
            <a:avLst/>
          </a:prstGeom>
          <a:noFill/>
          <a:ln/>
        </p:spPr>
        <p:txBody>
          <a:bodyPr wrap="square" lIns="0" tIns="0" rIns="0" bIns="0" rtlCol="0" anchor="ctr"/>
          <a:lstStyle/>
          <a:p>
            <a:pPr indent="0" marL="0">
              <a:lnSpc>
                <a:spcPct val="110000"/>
              </a:lnSpc>
              <a:buNone/>
            </a:pPr>
            <a:r>
              <a:rPr lang="en-US" sz="4000" b="1" dirty="0">
                <a:solidFill>
                  <a:srgbClr val="FFFFFF"/>
                </a:solidFill>
                <a:latin typeface="Cambria" pitchFamily="34" charset="0"/>
                <a:ea typeface="Cambria" pitchFamily="34" charset="-122"/>
                <a:cs typeface="Cambria" pitchFamily="34" charset="-120"/>
              </a:rPr>
              <a:t>Cultures That Settled</a:t>
            </a:r>
            <a:endParaRPr lang="en-US" sz="4000" dirty="0"/>
          </a:p>
          <a:p>
            <a:pPr indent="0" marL="0">
              <a:lnSpc>
                <a:spcPct val="110000"/>
              </a:lnSpc>
              <a:buNone/>
            </a:pPr>
            <a:r>
              <a:rPr lang="en-US" sz="4000" b="1" dirty="0">
                <a:solidFill>
                  <a:srgbClr val="FFFFFF"/>
                </a:solidFill>
                <a:latin typeface="Cambria" pitchFamily="34" charset="0"/>
                <a:ea typeface="Cambria" pitchFamily="34" charset="-122"/>
                <a:cs typeface="Cambria" pitchFamily="34" charset="-120"/>
              </a:rPr>
              <a:t>North America and the Caribbean</a:t>
            </a:r>
            <a:endParaRPr lang="en-US" sz="4000" dirty="0"/>
          </a:p>
        </p:txBody>
      </p:sp>
      <p:sp>
        <p:nvSpPr>
          <p:cNvPr id="7" name="Text 4"/>
          <p:cNvSpPr/>
          <p:nvPr/>
        </p:nvSpPr>
        <p:spPr>
          <a:xfrm>
            <a:off x="609600" y="4023360"/>
            <a:ext cx="9753600" cy="426720"/>
          </a:xfrm>
          <a:prstGeom prst="rect">
            <a:avLst/>
          </a:prstGeom>
          <a:noFill/>
          <a:ln/>
        </p:spPr>
        <p:txBody>
          <a:bodyPr wrap="square" lIns="0" tIns="0" rIns="0" bIns="0" rtlCol="0" anchor="ctr"/>
          <a:lstStyle/>
          <a:p>
            <a:pPr indent="0" marL="0">
              <a:buNone/>
            </a:pPr>
            <a:r>
              <a:rPr lang="en-US" sz="1600" dirty="0">
                <a:solidFill>
                  <a:srgbClr val="D4943A"/>
                </a:solidFill>
                <a:latin typeface="Calibri" pitchFamily="34" charset="0"/>
                <a:ea typeface="Calibri" pitchFamily="34" charset="-122"/>
                <a:cs typeface="Calibri" pitchFamily="34" charset="-120"/>
              </a:rPr>
              <a:t>Week 17  |  The Great Map Room  |  Map Curator</a:t>
            </a:r>
            <a:endParaRPr lang="en-US" sz="1600" dirty="0"/>
          </a:p>
        </p:txBody>
      </p:sp>
      <p:sp>
        <p:nvSpPr>
          <p:cNvPr id="8" name="Text 5"/>
          <p:cNvSpPr/>
          <p:nvPr/>
        </p:nvSpPr>
        <p:spPr>
          <a:xfrm>
            <a:off x="609600" y="4632960"/>
            <a:ext cx="9753600" cy="426720"/>
          </a:xfrm>
          <a:prstGeom prst="rect">
            <a:avLst/>
          </a:prstGeom>
          <a:noFill/>
          <a:ln/>
        </p:spPr>
        <p:txBody>
          <a:bodyPr wrap="square" lIns="0" tIns="0" rIns="0" bIns="0" rtlCol="0" anchor="ctr"/>
          <a:lstStyle/>
          <a:p>
            <a:pPr indent="0" marL="0">
              <a:buNone/>
            </a:pPr>
            <a:r>
              <a:rPr lang="en-US" sz="1400" dirty="0">
                <a:solidFill>
                  <a:srgbClr val="7A88A8"/>
                </a:solidFill>
                <a:latin typeface="Calibri" pitchFamily="34" charset="0"/>
                <a:ea typeface="Calibri" pitchFamily="34" charset="-122"/>
                <a:cs typeface="Calibri" pitchFamily="34" charset="-120"/>
              </a:rPr>
              <a:t>Optima Academy Online  |  Grade 3 Social Studies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609600" y="731520"/>
            <a:ext cx="10972800" cy="487680"/>
          </a:xfrm>
          <a:prstGeom prst="rect">
            <a:avLst/>
          </a:prstGeom>
          <a:noFill/>
          <a:ln/>
        </p:spPr>
        <p:txBody>
          <a:bodyPr wrap="square" lIns="0" tIns="0" rIns="0" bIns="0" rtlCol="0" anchor="ctr"/>
          <a:lstStyle/>
          <a:p>
            <a:pPr indent="0" marL="0">
              <a:buNone/>
            </a:pPr>
            <a:r>
              <a:rPr lang="en-US" sz="1400" b="1" spc="200" kern="0" dirty="0">
                <a:solidFill>
                  <a:srgbClr val="55C8E8"/>
                </a:solidFill>
                <a:latin typeface="Calibri" pitchFamily="34" charset="0"/>
                <a:ea typeface="Calibri" pitchFamily="34" charset="-122"/>
                <a:cs typeface="Calibri" pitchFamily="34" charset="-120"/>
              </a:rPr>
              <a:t>THE CULTURE CASES</a:t>
            </a:r>
            <a:endParaRPr lang="en-US" sz="1400" dirty="0"/>
          </a:p>
        </p:txBody>
      </p:sp>
      <p:sp>
        <p:nvSpPr>
          <p:cNvPr id="6" name="Text 3"/>
          <p:cNvSpPr/>
          <p:nvPr/>
        </p:nvSpPr>
        <p:spPr>
          <a:xfrm>
            <a:off x="609600" y="1463040"/>
            <a:ext cx="9753600" cy="1706880"/>
          </a:xfrm>
          <a:prstGeom prst="rect">
            <a:avLst/>
          </a:prstGeom>
          <a:noFill/>
          <a:ln/>
        </p:spPr>
        <p:txBody>
          <a:bodyPr wrap="square" lIns="0" tIns="0" rIns="0" bIns="0" rtlCol="0" anchor="ctr"/>
          <a:lstStyle/>
          <a:p>
            <a:pPr indent="0" marL="0">
              <a:lnSpc>
                <a:spcPct val="120000"/>
              </a:lnSpc>
              <a:buNone/>
            </a:pPr>
            <a:r>
              <a:rPr lang="en-US" sz="2400" i="1" dirty="0">
                <a:solidFill>
                  <a:srgbClr val="FFFFFF"/>
                </a:solidFill>
                <a:latin typeface="Cambria" pitchFamily="34" charset="0"/>
                <a:ea typeface="Cambria" pitchFamily="34" charset="-122"/>
                <a:cs typeface="Cambria" pitchFamily="34" charset="-120"/>
              </a:rPr>
              <a:t>Five tall display cases have opened along the far wall.</a:t>
            </a:r>
            <a:endParaRPr lang="en-US" sz="2400" dirty="0"/>
          </a:p>
          <a:p>
            <a:pPr indent="0" marL="0">
              <a:lnSpc>
                <a:spcPct val="120000"/>
              </a:lnSpc>
              <a:buNone/>
            </a:pPr>
            <a:r>
              <a:rPr lang="en-US" sz="2400" i="1" dirty="0">
                <a:solidFill>
                  <a:srgbClr val="FFFFFF"/>
                </a:solidFill>
                <a:latin typeface="Cambria" pitchFamily="34" charset="0"/>
                <a:ea typeface="Cambria" pitchFamily="34" charset="-122"/>
                <a:cs typeface="Cambria" pitchFamily="34" charset="-120"/>
              </a:rPr>
              <a:t>Each one holds something a different group of people</a:t>
            </a:r>
            <a:endParaRPr lang="en-US" sz="2400" dirty="0"/>
          </a:p>
          <a:p>
            <a:pPr indent="0" marL="0">
              <a:lnSpc>
                <a:spcPct val="120000"/>
              </a:lnSpc>
              <a:buNone/>
            </a:pPr>
            <a:r>
              <a:rPr lang="en-US" sz="2400" i="1" dirty="0">
                <a:solidFill>
                  <a:srgbClr val="FFFFFF"/>
                </a:solidFill>
                <a:latin typeface="Cambria" pitchFamily="34" charset="0"/>
                <a:ea typeface="Cambria" pitchFamily="34" charset="-122"/>
                <a:cs typeface="Cambria" pitchFamily="34" charset="-120"/>
              </a:rPr>
              <a:t>brought to this region.</a:t>
            </a:r>
            <a:endParaRPr lang="en-US" sz="2400" dirty="0"/>
          </a:p>
        </p:txBody>
      </p:sp>
      <p:sp>
        <p:nvSpPr>
          <p:cNvPr id="7" name="Shape 4"/>
          <p:cNvSpPr/>
          <p:nvPr/>
        </p:nvSpPr>
        <p:spPr>
          <a:xfrm>
            <a:off x="609600" y="3657600"/>
            <a:ext cx="10972800" cy="1219200"/>
          </a:xfrm>
          <a:prstGeom prst="roundRect">
            <a:avLst>
              <a:gd name="adj" fmla="val 12000"/>
            </a:avLst>
          </a:prstGeom>
          <a:solidFill>
            <a:srgbClr val="1A2D5A"/>
          </a:solidFill>
          <a:ln w="12700">
            <a:solidFill>
              <a:srgbClr val="3A5080"/>
            </a:solidFill>
            <a:prstDash val="solid"/>
          </a:ln>
        </p:spPr>
      </p:sp>
      <p:sp>
        <p:nvSpPr>
          <p:cNvPr id="8" name="Text 5"/>
          <p:cNvSpPr/>
          <p:nvPr/>
        </p:nvSpPr>
        <p:spPr>
          <a:xfrm>
            <a:off x="853440" y="3718560"/>
            <a:ext cx="10485120" cy="609600"/>
          </a:xfrm>
          <a:prstGeom prst="rect">
            <a:avLst/>
          </a:prstGeom>
          <a:noFill/>
          <a:ln/>
        </p:spPr>
        <p:txBody>
          <a:bodyPr wrap="square" lIns="0" tIns="0" rIns="0" bIns="0" rtlCol="0" anchor="ctr"/>
          <a:lstStyle/>
          <a:p>
            <a:pPr algn="ctr" indent="0" marL="0">
              <a:buNone/>
            </a:pPr>
            <a:r>
              <a:rPr lang="en-US" sz="2000" b="1" dirty="0">
                <a:solidFill>
                  <a:srgbClr val="D4943A"/>
                </a:solidFill>
                <a:latin typeface="Calibri" pitchFamily="34" charset="0"/>
                <a:ea typeface="Calibri" pitchFamily="34" charset="-122"/>
                <a:cs typeface="Calibri" pitchFamily="34" charset="-120"/>
              </a:rPr>
              <a:t>Longhouse   |   Pyramid   |   Mission   |   Shield   |   Drum</a:t>
            </a:r>
            <a:endParaRPr lang="en-US" sz="2000" dirty="0"/>
          </a:p>
        </p:txBody>
      </p:sp>
      <p:sp>
        <p:nvSpPr>
          <p:cNvPr id="9" name="Text 6"/>
          <p:cNvSpPr/>
          <p:nvPr/>
        </p:nvSpPr>
        <p:spPr>
          <a:xfrm>
            <a:off x="853440" y="4328160"/>
            <a:ext cx="10485120" cy="487680"/>
          </a:xfrm>
          <a:prstGeom prst="rect">
            <a:avLst/>
          </a:prstGeom>
          <a:noFill/>
          <a:ln/>
        </p:spPr>
        <p:txBody>
          <a:bodyPr wrap="square" lIns="0" tIns="0" rIns="0" bIns="0" rtlCol="0" anchor="ctr"/>
          <a:lstStyle/>
          <a:p>
            <a:pPr algn="ctr" indent="0" marL="0">
              <a:buNone/>
            </a:pPr>
            <a:r>
              <a:rPr lang="en-US" sz="1600" i="1" dirty="0">
                <a:solidFill>
                  <a:srgbClr val="FFFFFF"/>
                </a:solidFill>
                <a:latin typeface="Calibri" pitchFamily="34" charset="0"/>
                <a:ea typeface="Calibri" pitchFamily="34" charset="-122"/>
                <a:cs typeface="Calibri" pitchFamily="34" charset="-120"/>
              </a:rPr>
              <a:t>The cases need their stories told carefully and fairly.</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Text 1"/>
          <p:cNvSpPr/>
          <p:nvPr/>
        </p:nvSpPr>
        <p:spPr>
          <a:xfrm>
            <a:off x="609600" y="487680"/>
            <a:ext cx="10972800" cy="487680"/>
          </a:xfrm>
          <a:prstGeom prst="rect">
            <a:avLst/>
          </a:prstGeom>
          <a:noFill/>
          <a:ln/>
        </p:spPr>
        <p:txBody>
          <a:bodyPr wrap="square" lIns="0" tIns="0" rIns="0" bIns="0" rtlCol="0" anchor="ctr"/>
          <a:lstStyle/>
          <a:p>
            <a:pPr indent="0" marL="0">
              <a:buNone/>
            </a:pPr>
            <a:r>
              <a:rPr lang="en-US" sz="1400" b="1" spc="200" kern="0" dirty="0">
                <a:solidFill>
                  <a:srgbClr val="1A8A7D"/>
                </a:solidFill>
                <a:latin typeface="Calibri" pitchFamily="34" charset="0"/>
                <a:ea typeface="Calibri" pitchFamily="34" charset="-122"/>
                <a:cs typeface="Calibri" pitchFamily="34" charset="-120"/>
              </a:rPr>
              <a:t>TODAY'S CURATOR'S QUESTION</a:t>
            </a:r>
            <a:endParaRPr lang="en-US" sz="1400" dirty="0"/>
          </a:p>
        </p:txBody>
      </p:sp>
      <p:sp>
        <p:nvSpPr>
          <p:cNvPr id="4" name="Shape 2"/>
          <p:cNvSpPr/>
          <p:nvPr/>
        </p:nvSpPr>
        <p:spPr>
          <a:xfrm>
            <a:off x="609600" y="1219200"/>
            <a:ext cx="10972800" cy="1463040"/>
          </a:xfrm>
          <a:prstGeom prst="roundRect">
            <a:avLst>
              <a:gd name="adj" fmla="val 10000"/>
            </a:avLst>
          </a:prstGeom>
          <a:solidFill>
            <a:srgbClr val="FFFFFF"/>
          </a:solidFill>
          <a:ln/>
          <a:effectLst>
            <a:outerShdw sx="100000" sy="100000" kx="0" ky="0" algn="bl" rotWithShape="0" blurRad="76200" dist="25400" dir="8100000">
              <a:srgbClr val="000000">
                <a:alpha val="10000"/>
              </a:srgbClr>
            </a:outerShdw>
          </a:effectLst>
        </p:spPr>
      </p:sp>
      <p:sp>
        <p:nvSpPr>
          <p:cNvPr id="5" name="Text 3"/>
          <p:cNvSpPr/>
          <p:nvPr/>
        </p:nvSpPr>
        <p:spPr>
          <a:xfrm>
            <a:off x="853440" y="1341120"/>
            <a:ext cx="10485120" cy="1219200"/>
          </a:xfrm>
          <a:prstGeom prst="rect">
            <a:avLst/>
          </a:prstGeom>
          <a:noFill/>
          <a:ln/>
        </p:spPr>
        <p:txBody>
          <a:bodyPr wrap="square" lIns="0" tIns="0" rIns="0" bIns="0" rtlCol="0" anchor="ctr"/>
          <a:lstStyle/>
          <a:p>
            <a:pPr indent="0" marL="0">
              <a:buNone/>
            </a:pPr>
            <a:r>
              <a:rPr lang="en-US" sz="2200" b="1" i="1" dirty="0">
                <a:solidFill>
                  <a:srgbClr val="0E1C42"/>
                </a:solidFill>
                <a:latin typeface="Cambria" pitchFamily="34" charset="0"/>
                <a:ea typeface="Cambria" pitchFamily="34" charset="-122"/>
                <a:cs typeface="Cambria" pitchFamily="34" charset="-120"/>
              </a:rPr>
              <a:t>Which peoples have settled in North America and the Caribbean, and what did each group bring that still shapes the region today?</a:t>
            </a:r>
            <a:endParaRPr lang="en-US" sz="2200" dirty="0"/>
          </a:p>
        </p:txBody>
      </p:sp>
      <p:sp>
        <p:nvSpPr>
          <p:cNvPr id="6" name="Text 4"/>
          <p:cNvSpPr/>
          <p:nvPr/>
        </p:nvSpPr>
        <p:spPr>
          <a:xfrm>
            <a:off x="609600" y="3169920"/>
            <a:ext cx="10972800" cy="426720"/>
          </a:xfrm>
          <a:prstGeom prst="rect">
            <a:avLst/>
          </a:prstGeom>
          <a:noFill/>
          <a:ln/>
        </p:spPr>
        <p:txBody>
          <a:bodyPr wrap="square" lIns="0" tIns="0" rIns="0" bIns="0" rtlCol="0" anchor="ctr"/>
          <a:lstStyle/>
          <a:p>
            <a:pPr indent="0" marL="0">
              <a:buNone/>
            </a:pPr>
            <a:r>
              <a:rPr lang="en-US" sz="1300" b="1" spc="200" kern="0" dirty="0">
                <a:solidFill>
                  <a:srgbClr val="1A8A7D"/>
                </a:solidFill>
                <a:latin typeface="Calibri" pitchFamily="34" charset="0"/>
                <a:ea typeface="Calibri" pitchFamily="34" charset="-122"/>
                <a:cs typeface="Calibri" pitchFamily="34" charset="-120"/>
              </a:rPr>
              <a:t>OBJECTIVES</a:t>
            </a:r>
            <a:endParaRPr lang="en-US" sz="1300" dirty="0"/>
          </a:p>
        </p:txBody>
      </p:sp>
      <p:sp>
        <p:nvSpPr>
          <p:cNvPr id="7" name="Text 5"/>
          <p:cNvSpPr/>
          <p:nvPr/>
        </p:nvSpPr>
        <p:spPr>
          <a:xfrm>
            <a:off x="853440" y="3779520"/>
            <a:ext cx="10485120" cy="195072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rgbClr val="0E1C42"/>
                </a:solidFill>
                <a:latin typeface="Calibri" pitchFamily="34" charset="0"/>
                <a:ea typeface="Calibri" pitchFamily="34" charset="-122"/>
                <a:cs typeface="Calibri" pitchFamily="34" charset="-120"/>
              </a:rPr>
              <a:t>Name several cultural groups that settled this region.</a:t>
            </a:r>
            <a:endParaRPr lang="en-US" sz="1800" dirty="0"/>
          </a:p>
          <a:p>
            <a:pPr marL="342900" indent="-342900">
              <a:spcAft>
                <a:spcPts val="600"/>
              </a:spcAft>
              <a:buSzPct val="100000"/>
              <a:buChar char="•"/>
            </a:pPr>
            <a:r>
              <a:rPr lang="en-US" sz="1800" dirty="0">
                <a:solidFill>
                  <a:srgbClr val="0E1C42"/>
                </a:solidFill>
                <a:latin typeface="Calibri" pitchFamily="34" charset="0"/>
                <a:ea typeface="Calibri" pitchFamily="34" charset="-122"/>
                <a:cs typeface="Calibri" pitchFamily="34" charset="-120"/>
              </a:rPr>
              <a:t>Match cultural contributions to the groups they came from.</a:t>
            </a:r>
            <a:endParaRPr lang="en-US" sz="1800" dirty="0"/>
          </a:p>
          <a:p>
            <a:pPr marL="342900" indent="-342900">
              <a:buSzPct val="100000"/>
              <a:buChar char="•"/>
            </a:pPr>
            <a:r>
              <a:rPr lang="en-US" sz="1800" dirty="0">
                <a:solidFill>
                  <a:srgbClr val="0E1C42"/>
                </a:solidFill>
                <a:latin typeface="Calibri" pitchFamily="34" charset="0"/>
                <a:ea typeface="Calibri" pitchFamily="34" charset="-122"/>
                <a:cs typeface="Calibri" pitchFamily="34" charset="-120"/>
              </a:rPr>
              <a:t>Describe one culture's contribution respectfully and accurately.</a:t>
            </a:r>
            <a:endParaRPr lang="en-US" sz="1800" dirty="0"/>
          </a:p>
        </p:txBody>
      </p:sp>
      <p:sp>
        <p:nvSpPr>
          <p:cNvPr id="8" name="Text 6"/>
          <p:cNvSpPr/>
          <p:nvPr/>
        </p:nvSpPr>
        <p:spPr>
          <a:xfrm>
            <a:off x="609600" y="5974080"/>
            <a:ext cx="10972800" cy="426720"/>
          </a:xfrm>
          <a:prstGeom prst="rect">
            <a:avLst/>
          </a:prstGeom>
          <a:noFill/>
          <a:ln/>
        </p:spPr>
        <p:txBody>
          <a:bodyPr wrap="square" lIns="0" tIns="0" rIns="0" bIns="0" rtlCol="0" anchor="ctr"/>
          <a:lstStyle/>
          <a:p>
            <a:pPr indent="0" marL="0">
              <a:buNone/>
            </a:pPr>
            <a:r>
              <a:rPr lang="en-US" sz="1400" i="1" dirty="0">
                <a:solidFill>
                  <a:srgbClr val="7A88A8"/>
                </a:solidFill>
                <a:latin typeface="Calibri" pitchFamily="34" charset="0"/>
                <a:ea typeface="Calibri" pitchFamily="34" charset="-122"/>
                <a:cs typeface="Calibri" pitchFamily="34" charset="-120"/>
              </a:rPr>
              <a:t>Thinking Routine: Sort → Compare → Explain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609600" y="731520"/>
            <a:ext cx="10972800" cy="487680"/>
          </a:xfrm>
          <a:prstGeom prst="rect">
            <a:avLst/>
          </a:prstGeom>
          <a:noFill/>
          <a:ln/>
        </p:spPr>
        <p:txBody>
          <a:bodyPr wrap="square" lIns="0" tIns="0" rIns="0" bIns="0" rtlCol="0" anchor="ctr"/>
          <a:lstStyle/>
          <a:p>
            <a:pPr indent="0" marL="0">
              <a:buNone/>
            </a:pPr>
            <a:r>
              <a:rPr lang="en-US" sz="1400" b="1" spc="200" kern="0" dirty="0">
                <a:solidFill>
                  <a:srgbClr val="D4943A"/>
                </a:solidFill>
                <a:latin typeface="Calibri" pitchFamily="34" charset="0"/>
                <a:ea typeface="Calibri" pitchFamily="34" charset="-122"/>
                <a:cs typeface="Calibri" pitchFamily="34" charset="-120"/>
              </a:rPr>
              <a:t>VIRTUE SPOTLIGHT</a:t>
            </a:r>
            <a:endParaRPr lang="en-US" sz="1400" dirty="0"/>
          </a:p>
        </p:txBody>
      </p:sp>
      <p:sp>
        <p:nvSpPr>
          <p:cNvPr id="6" name="Text 3"/>
          <p:cNvSpPr/>
          <p:nvPr/>
        </p:nvSpPr>
        <p:spPr>
          <a:xfrm>
            <a:off x="609600" y="1341120"/>
            <a:ext cx="10972800" cy="9753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Courtesy</a:t>
            </a:r>
            <a:endParaRPr lang="en-US" sz="4400" dirty="0"/>
          </a:p>
        </p:txBody>
      </p:sp>
      <p:sp>
        <p:nvSpPr>
          <p:cNvPr id="7" name="Shape 4"/>
          <p:cNvSpPr/>
          <p:nvPr/>
        </p:nvSpPr>
        <p:spPr>
          <a:xfrm>
            <a:off x="609600" y="2682240"/>
            <a:ext cx="10972800" cy="2682240"/>
          </a:xfrm>
          <a:prstGeom prst="roundRect">
            <a:avLst>
              <a:gd name="adj" fmla="val 5455"/>
            </a:avLst>
          </a:prstGeom>
          <a:solidFill>
            <a:srgbClr val="1A2D5A"/>
          </a:solidFill>
          <a:ln w="12700">
            <a:solidFill>
              <a:srgbClr val="3A5080"/>
            </a:solidFill>
            <a:prstDash val="solid"/>
          </a:ln>
        </p:spPr>
      </p:sp>
      <p:sp>
        <p:nvSpPr>
          <p:cNvPr id="8" name="Text 5"/>
          <p:cNvSpPr/>
          <p:nvPr/>
        </p:nvSpPr>
        <p:spPr>
          <a:xfrm>
            <a:off x="853440" y="2804160"/>
            <a:ext cx="10485120" cy="2438400"/>
          </a:xfrm>
          <a:prstGeom prst="rect">
            <a:avLst/>
          </a:prstGeom>
          <a:noFill/>
          <a:ln/>
        </p:spPr>
        <p:txBody>
          <a:bodyPr wrap="square" lIns="0" tIns="0" rIns="0" bIns="0" rtlCol="0" anchor="t"/>
          <a:lstStyle/>
          <a:p>
            <a:pPr indent="0" marL="0">
              <a:spcAft>
                <a:spcPts val="800"/>
              </a:spcAft>
              <a:buNone/>
            </a:pPr>
            <a:r>
              <a:rPr lang="en-US" sz="2000" b="1" dirty="0">
                <a:solidFill>
                  <a:srgbClr val="D4943A"/>
                </a:solidFill>
                <a:latin typeface="Calibri" pitchFamily="34" charset="0"/>
                <a:ea typeface="Calibri" pitchFamily="34" charset="-122"/>
                <a:cs typeface="Calibri" pitchFamily="34" charset="-120"/>
              </a:rPr>
              <a:t>Courtesy in a museum means:</a:t>
            </a:r>
            <a:endParaRPr lang="en-US" sz="2000" dirty="0"/>
          </a:p>
          <a:p>
            <a:pPr marL="342900" indent="-342900">
              <a:spcAft>
                <a:spcPts val="400"/>
              </a:spcAft>
              <a:buSzPct val="100000"/>
              <a:buChar char="•"/>
            </a:pPr>
            <a:r>
              <a:rPr lang="en-US" sz="1800" dirty="0">
                <a:solidFill>
                  <a:srgbClr val="FFFFFF"/>
                </a:solidFill>
                <a:latin typeface="Calibri" pitchFamily="34" charset="0"/>
                <a:ea typeface="Calibri" pitchFamily="34" charset="-122"/>
                <a:cs typeface="Calibri" pitchFamily="34" charset="-120"/>
              </a:rPr>
              <a:t>Using a culture's real name — not a lazy or made-up one</a:t>
            </a:r>
            <a:endParaRPr lang="en-US" sz="2000" dirty="0"/>
          </a:p>
          <a:p>
            <a:pPr marL="342900" indent="-342900">
              <a:spcAft>
                <a:spcPts val="400"/>
              </a:spcAft>
              <a:buSzPct val="100000"/>
              <a:buChar char="•"/>
            </a:pPr>
            <a:r>
              <a:rPr lang="en-US" sz="1800" dirty="0">
                <a:solidFill>
                  <a:srgbClr val="FFFFFF"/>
                </a:solidFill>
                <a:latin typeface="Calibri" pitchFamily="34" charset="0"/>
                <a:ea typeface="Calibri" pitchFamily="34" charset="-122"/>
                <a:cs typeface="Calibri" pitchFamily="34" charset="-120"/>
              </a:rPr>
              <a:t>Getting the facts right</a:t>
            </a:r>
            <a:endParaRPr lang="en-US" sz="2000" dirty="0"/>
          </a:p>
          <a:p>
            <a:pPr marL="342900" indent="-342900">
              <a:spcAft>
                <a:spcPts val="800"/>
              </a:spcAft>
              <a:buSzPct val="100000"/>
              <a:buChar char="•"/>
            </a:pPr>
            <a:r>
              <a:rPr lang="en-US" sz="1800" dirty="0">
                <a:solidFill>
                  <a:srgbClr val="FFFFFF"/>
                </a:solidFill>
                <a:latin typeface="Calibri" pitchFamily="34" charset="0"/>
                <a:ea typeface="Calibri" pitchFamily="34" charset="-122"/>
                <a:cs typeface="Calibri" pitchFamily="34" charset="-120"/>
              </a:rPr>
              <a:t>Not lumping everyone together</a:t>
            </a:r>
            <a:endParaRPr lang="en-US" sz="2000" dirty="0"/>
          </a:p>
          <a:p>
            <a:pPr indent="0" marL="0">
              <a:buNone/>
            </a:pPr>
            <a:r>
              <a:rPr lang="en-US" sz="1600" i="1" dirty="0">
                <a:solidFill>
                  <a:srgbClr val="55C8E8"/>
                </a:solidFill>
                <a:latin typeface="Calibri" pitchFamily="34" charset="0"/>
                <a:ea typeface="Calibri" pitchFamily="34" charset="-122"/>
                <a:cs typeface="Calibri" pitchFamily="34" charset="-120"/>
              </a:rPr>
              <a:t>The Haudenosaunee are not the same as the Maya. Curators learn the differences so visitors can too.</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Text 1"/>
          <p:cNvSpPr/>
          <p:nvPr/>
        </p:nvSpPr>
        <p:spPr>
          <a:xfrm>
            <a:off x="609600" y="487680"/>
            <a:ext cx="6096000" cy="426720"/>
          </a:xfrm>
          <a:prstGeom prst="rect">
            <a:avLst/>
          </a:prstGeom>
          <a:noFill/>
          <a:ln/>
        </p:spPr>
        <p:txBody>
          <a:bodyPr wrap="square" lIns="0" tIns="0" rIns="0" bIns="0" rtlCol="0" anchor="ctr"/>
          <a:lstStyle/>
          <a:p>
            <a:pPr indent="0" marL="0">
              <a:buNone/>
            </a:pPr>
            <a:r>
              <a:rPr lang="en-US" sz="1300" b="1" spc="200" kern="0" dirty="0">
                <a:solidFill>
                  <a:srgbClr val="1A8A7D"/>
                </a:solidFill>
                <a:latin typeface="Calibri" pitchFamily="34" charset="0"/>
                <a:ea typeface="Calibri" pitchFamily="34" charset="-122"/>
                <a:cs typeface="Calibri" pitchFamily="34" charset="-120"/>
              </a:rPr>
              <a:t>CULTURE CASE 1</a:t>
            </a:r>
            <a:endParaRPr lang="en-US" sz="1300" dirty="0"/>
          </a:p>
        </p:txBody>
      </p:sp>
      <p:sp>
        <p:nvSpPr>
          <p:cNvPr id="4" name="Text 2"/>
          <p:cNvSpPr/>
          <p:nvPr/>
        </p:nvSpPr>
        <p:spPr>
          <a:xfrm>
            <a:off x="609600" y="975360"/>
            <a:ext cx="8534400" cy="731520"/>
          </a:xfrm>
          <a:prstGeom prst="rect">
            <a:avLst/>
          </a:prstGeom>
          <a:noFill/>
          <a:ln/>
        </p:spPr>
        <p:txBody>
          <a:bodyPr wrap="square" lIns="0" tIns="0" rIns="0" bIns="0" rtlCol="0" anchor="ctr"/>
          <a:lstStyle/>
          <a:p>
            <a:pPr indent="0" marL="0">
              <a:buNone/>
            </a:pPr>
            <a:r>
              <a:rPr lang="en-US" sz="3200" b="1" dirty="0">
                <a:solidFill>
                  <a:srgbClr val="0E1C42"/>
                </a:solidFill>
                <a:latin typeface="Cambria" pitchFamily="34" charset="0"/>
                <a:ea typeface="Cambria" pitchFamily="34" charset="-122"/>
                <a:cs typeface="Cambria" pitchFamily="34" charset="-120"/>
              </a:rPr>
              <a:t>The Haudenosaunee</a:t>
            </a:r>
            <a:endParaRPr lang="en-US" sz="3200" dirty="0"/>
          </a:p>
        </p:txBody>
      </p:sp>
      <p:sp>
        <p:nvSpPr>
          <p:cNvPr id="5" name="Text 3"/>
          <p:cNvSpPr/>
          <p:nvPr/>
        </p:nvSpPr>
        <p:spPr>
          <a:xfrm>
            <a:off x="609600" y="1645920"/>
            <a:ext cx="8534400" cy="426720"/>
          </a:xfrm>
          <a:prstGeom prst="rect">
            <a:avLst/>
          </a:prstGeom>
          <a:noFill/>
          <a:ln/>
        </p:spPr>
        <p:txBody>
          <a:bodyPr wrap="square" lIns="0" tIns="0" rIns="0" bIns="0" rtlCol="0" anchor="ctr"/>
          <a:lstStyle/>
          <a:p>
            <a:pPr indent="0" marL="0">
              <a:buNone/>
            </a:pPr>
            <a:r>
              <a:rPr lang="en-US" sz="1500" i="1" dirty="0">
                <a:solidFill>
                  <a:srgbClr val="7A88A8"/>
                </a:solidFill>
                <a:latin typeface="Calibri" pitchFamily="34" charset="0"/>
                <a:ea typeface="Calibri" pitchFamily="34" charset="-122"/>
                <a:cs typeface="Calibri" pitchFamily="34" charset="-120"/>
              </a:rPr>
              <a:t>(HOH-dee-no-SHOH-nee) — also called the Iroquois</a:t>
            </a:r>
            <a:endParaRPr lang="en-US" sz="1500" dirty="0"/>
          </a:p>
        </p:txBody>
      </p:sp>
      <p:sp>
        <p:nvSpPr>
          <p:cNvPr id="6" name="Shape 4"/>
          <p:cNvSpPr/>
          <p:nvPr/>
        </p:nvSpPr>
        <p:spPr>
          <a:xfrm>
            <a:off x="7924800" y="1219200"/>
            <a:ext cx="3901440" cy="3048000"/>
          </a:xfrm>
          <a:prstGeom prst="roundRect">
            <a:avLst>
              <a:gd name="adj" fmla="val 4800"/>
            </a:avLst>
          </a:prstGeom>
          <a:solidFill>
            <a:srgbClr val="E2E8F4"/>
          </a:solidFill>
          <a:ln w="19050">
            <a:solidFill>
              <a:srgbClr val="B0B8CC"/>
            </a:solidFill>
            <a:prstDash val="dash"/>
          </a:ln>
        </p:spPr>
      </p:sp>
      <p:sp>
        <p:nvSpPr>
          <p:cNvPr id="7" name="Text 5"/>
          <p:cNvSpPr/>
          <p:nvPr/>
        </p:nvSpPr>
        <p:spPr>
          <a:xfrm>
            <a:off x="7924800" y="1219200"/>
            <a:ext cx="3901440" cy="365760"/>
          </a:xfrm>
          <a:prstGeom prst="rect">
            <a:avLst/>
          </a:prstGeom>
          <a:noFill/>
          <a:ln/>
        </p:spPr>
        <p:txBody>
          <a:bodyPr wrap="square" lIns="0" tIns="0" rIns="0" bIns="0" rtlCol="0" anchor="ctr"/>
          <a:lstStyle/>
          <a:p>
            <a:pPr algn="ctr" indent="0" marL="0">
              <a:buNone/>
            </a:pPr>
            <a:r>
              <a:rPr lang="en-US" sz="1200" b="1" spc="150" kern="0" dirty="0">
                <a:solidFill>
                  <a:srgbClr val="7A88A8"/>
                </a:solidFill>
                <a:latin typeface="Calibri" pitchFamily="34" charset="0"/>
                <a:ea typeface="Calibri" pitchFamily="34" charset="-122"/>
                <a:cs typeface="Calibri" pitchFamily="34" charset="-120"/>
              </a:rPr>
              <a:t>INSERT IMAGE</a:t>
            </a:r>
            <a:endParaRPr lang="en-US" sz="1200" dirty="0"/>
          </a:p>
        </p:txBody>
      </p:sp>
      <p:sp>
        <p:nvSpPr>
          <p:cNvPr id="8" name="Text 6"/>
          <p:cNvSpPr/>
          <p:nvPr/>
        </p:nvSpPr>
        <p:spPr>
          <a:xfrm>
            <a:off x="8107680" y="1584960"/>
            <a:ext cx="3535680" cy="2563368"/>
          </a:xfrm>
          <a:prstGeom prst="rect">
            <a:avLst/>
          </a:prstGeom>
          <a:noFill/>
          <a:ln/>
        </p:spPr>
        <p:txBody>
          <a:bodyPr wrap="square" rtlCol="0" anchor="ctr"/>
          <a:lstStyle/>
          <a:p>
            <a:pPr algn="ctr" indent="0" marL="0">
              <a:buNone/>
            </a:pPr>
            <a:r>
              <a:rPr lang="en-US" sz="1400" i="1" dirty="0">
                <a:solidFill>
                  <a:srgbClr val="7A88A8"/>
                </a:solidFill>
                <a:latin typeface="Calibri" pitchFamily="34" charset="0"/>
                <a:ea typeface="Calibri" pitchFamily="34" charset="-122"/>
                <a:cs typeface="Calibri" pitchFamily="34" charset="-120"/>
              </a:rPr>
              <a:t>Haudenosaunee longhouse — historical illustration or photograph of a traditional long wooden dwelling, Northeast Woodlands</a:t>
            </a:r>
            <a:endParaRPr lang="en-US" sz="1400" dirty="0"/>
          </a:p>
        </p:txBody>
      </p:sp>
      <p:sp>
        <p:nvSpPr>
          <p:cNvPr id="9" name="Text 7"/>
          <p:cNvSpPr/>
          <p:nvPr/>
        </p:nvSpPr>
        <p:spPr>
          <a:xfrm>
            <a:off x="609600" y="2194560"/>
            <a:ext cx="6949440" cy="3048000"/>
          </a:xfrm>
          <a:prstGeom prst="rect">
            <a:avLst/>
          </a:prstGeom>
          <a:noFill/>
          <a:ln/>
        </p:spPr>
        <p:txBody>
          <a:bodyPr wrap="square" lIns="0" tIns="0" rIns="0" bIns="0" rtlCol="0" anchor="t"/>
          <a:lstStyle/>
          <a:p>
            <a:pPr indent="0" marL="0">
              <a:spcAft>
                <a:spcPts val="600"/>
              </a:spcAft>
              <a:buNone/>
            </a:pPr>
            <a:r>
              <a:rPr lang="en-US" sz="1700" b="1" dirty="0">
                <a:solidFill>
                  <a:srgbClr val="1A8A7D"/>
                </a:solidFill>
                <a:latin typeface="Calibri" pitchFamily="34" charset="0"/>
                <a:ea typeface="Calibri" pitchFamily="34" charset="-122"/>
                <a:cs typeface="Calibri" pitchFamily="34" charset="-120"/>
              </a:rPr>
              <a:t>Indigenous peoples of the Northeast Woodlands</a:t>
            </a:r>
            <a:endParaRPr lang="en-US" sz="1700" dirty="0"/>
          </a:p>
          <a:p>
            <a:pPr marL="342900" indent="-342900">
              <a:spcAft>
                <a:spcPts val="400"/>
              </a:spcAft>
              <a:buSzPct val="100000"/>
              <a:buChar char="•"/>
            </a:pPr>
            <a:r>
              <a:rPr lang="en-US" sz="1600" dirty="0">
                <a:solidFill>
                  <a:srgbClr val="0E1C42"/>
                </a:solidFill>
                <a:latin typeface="Calibri" pitchFamily="34" charset="0"/>
                <a:ea typeface="Calibri" pitchFamily="34" charset="-122"/>
                <a:cs typeface="Calibri" pitchFamily="34" charset="-120"/>
              </a:rPr>
              <a:t>Lived in what is now New York State, Quebec, and Ontario for over 1,000 years</a:t>
            </a:r>
            <a:endParaRPr lang="en-US" sz="1700" dirty="0"/>
          </a:p>
          <a:p>
            <a:pPr marL="342900" indent="-342900">
              <a:spcAft>
                <a:spcPts val="400"/>
              </a:spcAft>
              <a:buSzPct val="100000"/>
              <a:buChar char="•"/>
            </a:pPr>
            <a:r>
              <a:rPr lang="en-US" sz="1600" dirty="0">
                <a:solidFill>
                  <a:srgbClr val="0E1C42"/>
                </a:solidFill>
                <a:latin typeface="Calibri" pitchFamily="34" charset="0"/>
                <a:ea typeface="Calibri" pitchFamily="34" charset="-122"/>
                <a:cs typeface="Calibri" pitchFamily="34" charset="-120"/>
              </a:rPr>
              <a:t>Built long wooden homes called longhouses</a:t>
            </a:r>
            <a:endParaRPr lang="en-US" sz="1700" dirty="0"/>
          </a:p>
          <a:p>
            <a:pPr marL="342900" indent="-342900">
              <a:spcAft>
                <a:spcPts val="400"/>
              </a:spcAft>
              <a:buSzPct val="100000"/>
              <a:buChar char="•"/>
            </a:pPr>
            <a:r>
              <a:rPr lang="en-US" sz="1600" dirty="0">
                <a:solidFill>
                  <a:srgbClr val="0E1C42"/>
                </a:solidFill>
                <a:latin typeface="Calibri" pitchFamily="34" charset="0"/>
                <a:ea typeface="Calibri" pitchFamily="34" charset="-122"/>
                <a:cs typeface="Calibri" pitchFamily="34" charset="-120"/>
              </a:rPr>
              <a:t>Played the game of lacrosse</a:t>
            </a:r>
            <a:endParaRPr lang="en-US" sz="1700" dirty="0"/>
          </a:p>
          <a:p>
            <a:pPr marL="342900" indent="-342900">
              <a:buSzPct val="100000"/>
              <a:buChar char="•"/>
            </a:pPr>
            <a:r>
              <a:rPr lang="en-US" sz="1600" dirty="0">
                <a:solidFill>
                  <a:srgbClr val="0E1C42"/>
                </a:solidFill>
                <a:latin typeface="Calibri" pitchFamily="34" charset="0"/>
                <a:ea typeface="Calibri" pitchFamily="34" charset="-122"/>
                <a:cs typeface="Calibri" pitchFamily="34" charset="-120"/>
              </a:rPr>
              <a:t>Farmed the "Three Sisters" — corn, beans, and squash grown together</a:t>
            </a:r>
            <a:endParaRPr lang="en-US" sz="1700" dirty="0"/>
          </a:p>
        </p:txBody>
      </p:sp>
      <p:sp>
        <p:nvSpPr>
          <p:cNvPr id="10" name="Shape 8"/>
          <p:cNvSpPr/>
          <p:nvPr/>
        </p:nvSpPr>
        <p:spPr>
          <a:xfrm>
            <a:off x="609600" y="5486400"/>
            <a:ext cx="10972800" cy="1463040"/>
          </a:xfrm>
          <a:prstGeom prst="roundRect">
            <a:avLst>
              <a:gd name="adj" fmla="val 12500"/>
            </a:avLst>
          </a:prstGeom>
          <a:solidFill>
            <a:srgbClr val="1A2D5A"/>
          </a:solidFill>
          <a:ln/>
          <a:effectLst>
            <a:outerShdw sx="100000" sy="100000" kx="0" ky="0" algn="bl" rotWithShape="0" blurRad="101600" dist="38100" dir="8100000">
              <a:srgbClr val="000000">
                <a:alpha val="20000"/>
              </a:srgbClr>
            </a:outerShdw>
          </a:effectLst>
        </p:spPr>
      </p:sp>
      <p:sp>
        <p:nvSpPr>
          <p:cNvPr id="11" name="Text 9"/>
          <p:cNvSpPr/>
          <p:nvPr/>
        </p:nvSpPr>
        <p:spPr>
          <a:xfrm>
            <a:off x="856488" y="5605272"/>
            <a:ext cx="10488168" cy="338328"/>
          </a:xfrm>
          <a:prstGeom prst="rect">
            <a:avLst/>
          </a:prstGeom>
          <a:noFill/>
          <a:ln/>
        </p:spPr>
        <p:txBody>
          <a:bodyPr wrap="square" lIns="0" tIns="0" rIns="0" bIns="0" rtlCol="0" anchor="ctr"/>
          <a:lstStyle/>
          <a:p>
            <a:pPr indent="0" marL="0">
              <a:buNone/>
            </a:pPr>
            <a:r>
              <a:rPr lang="en-US" sz="1200" b="1" spc="150" kern="0" dirty="0">
                <a:solidFill>
                  <a:srgbClr val="55C8E8"/>
                </a:solidFill>
                <a:latin typeface="Calibri" pitchFamily="34" charset="0"/>
                <a:ea typeface="Calibri" pitchFamily="34" charset="-122"/>
                <a:cs typeface="Calibri" pitchFamily="34" charset="-120"/>
              </a:rPr>
              <a:t>SOCRATIC QUESTIONS</a:t>
            </a:r>
            <a:endParaRPr lang="en-US" sz="1200" dirty="0"/>
          </a:p>
        </p:txBody>
      </p:sp>
      <p:sp>
        <p:nvSpPr>
          <p:cNvPr id="12" name="Text 10"/>
          <p:cNvSpPr/>
          <p:nvPr/>
        </p:nvSpPr>
        <p:spPr>
          <a:xfrm>
            <a:off x="856488" y="5952744"/>
            <a:ext cx="10488168" cy="877824"/>
          </a:xfrm>
          <a:prstGeom prst="rect">
            <a:avLst/>
          </a:prstGeom>
          <a:noFill/>
          <a:ln/>
        </p:spPr>
        <p:txBody>
          <a:bodyPr wrap="square" lIns="0" tIns="0" rIns="0" bIns="0" rtlCol="0" anchor="t"/>
          <a:lstStyle/>
          <a:p>
            <a:pPr marL="342900" indent="-342900">
              <a:spcAft>
                <a:spcPts val="500"/>
              </a:spcAft>
              <a:buSzPct val="100000"/>
              <a:buChar char="•"/>
            </a:pPr>
            <a:r>
              <a:rPr lang="en-US" sz="1400" i="1" dirty="0">
                <a:solidFill>
                  <a:srgbClr val="FFFFFF"/>
                </a:solidFill>
                <a:latin typeface="Calibri" pitchFamily="34" charset="0"/>
                <a:ea typeface="Calibri" pitchFamily="34" charset="-122"/>
                <a:cs typeface="Calibri" pitchFamily="34" charset="-120"/>
              </a:rPr>
              <a:t>Why do you think three crops that help each other are called 'sisters'?</a:t>
            </a:r>
            <a:endParaRPr lang="en-US" sz="1400" dirty="0"/>
          </a:p>
          <a:p>
            <a:pPr marL="342900" indent="-342900">
              <a:spcAft>
                <a:spcPts val="500"/>
              </a:spcAft>
              <a:buSzPct val="100000"/>
              <a:buChar char="•"/>
            </a:pPr>
            <a:r>
              <a:rPr lang="en-US" sz="1400" i="1" dirty="0">
                <a:solidFill>
                  <a:srgbClr val="FFFFFF"/>
                </a:solidFill>
                <a:latin typeface="Calibri" pitchFamily="34" charset="0"/>
                <a:ea typeface="Calibri" pitchFamily="34" charset="-122"/>
                <a:cs typeface="Calibri" pitchFamily="34" charset="-120"/>
              </a:rPr>
              <a:t>The Haudenosaunee are still here today. Why is that important to say?</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Text 1"/>
          <p:cNvSpPr/>
          <p:nvPr/>
        </p:nvSpPr>
        <p:spPr>
          <a:xfrm>
            <a:off x="609600" y="487680"/>
            <a:ext cx="6096000" cy="426720"/>
          </a:xfrm>
          <a:prstGeom prst="rect">
            <a:avLst/>
          </a:prstGeom>
          <a:noFill/>
          <a:ln/>
        </p:spPr>
        <p:txBody>
          <a:bodyPr wrap="square" lIns="0" tIns="0" rIns="0" bIns="0" rtlCol="0" anchor="ctr"/>
          <a:lstStyle/>
          <a:p>
            <a:pPr indent="0" marL="0">
              <a:buNone/>
            </a:pPr>
            <a:r>
              <a:rPr lang="en-US" sz="1300" b="1" spc="200" kern="0" dirty="0">
                <a:solidFill>
                  <a:srgbClr val="1A8A7D"/>
                </a:solidFill>
                <a:latin typeface="Calibri" pitchFamily="34" charset="0"/>
                <a:ea typeface="Calibri" pitchFamily="34" charset="-122"/>
                <a:cs typeface="Calibri" pitchFamily="34" charset="-120"/>
              </a:rPr>
              <a:t>CULTURE CASE 2</a:t>
            </a:r>
            <a:endParaRPr lang="en-US" sz="1300" dirty="0"/>
          </a:p>
        </p:txBody>
      </p:sp>
      <p:sp>
        <p:nvSpPr>
          <p:cNvPr id="4" name="Text 2"/>
          <p:cNvSpPr/>
          <p:nvPr/>
        </p:nvSpPr>
        <p:spPr>
          <a:xfrm>
            <a:off x="609600" y="975360"/>
            <a:ext cx="8534400" cy="731520"/>
          </a:xfrm>
          <a:prstGeom prst="rect">
            <a:avLst/>
          </a:prstGeom>
          <a:noFill/>
          <a:ln/>
        </p:spPr>
        <p:txBody>
          <a:bodyPr wrap="square" lIns="0" tIns="0" rIns="0" bIns="0" rtlCol="0" anchor="ctr"/>
          <a:lstStyle/>
          <a:p>
            <a:pPr indent="0" marL="0">
              <a:buNone/>
            </a:pPr>
            <a:r>
              <a:rPr lang="en-US" sz="3200" b="1" dirty="0">
                <a:solidFill>
                  <a:srgbClr val="0E1C42"/>
                </a:solidFill>
                <a:latin typeface="Cambria" pitchFamily="34" charset="0"/>
                <a:ea typeface="Cambria" pitchFamily="34" charset="-122"/>
                <a:cs typeface="Cambria" pitchFamily="34" charset="-120"/>
              </a:rPr>
              <a:t>The Maya</a:t>
            </a:r>
            <a:endParaRPr lang="en-US" sz="3200" dirty="0"/>
          </a:p>
        </p:txBody>
      </p:sp>
      <p:sp>
        <p:nvSpPr>
          <p:cNvPr id="5" name="Text 3"/>
          <p:cNvSpPr/>
          <p:nvPr/>
        </p:nvSpPr>
        <p:spPr>
          <a:xfrm>
            <a:off x="609600" y="1645920"/>
            <a:ext cx="8534400" cy="426720"/>
          </a:xfrm>
          <a:prstGeom prst="rect">
            <a:avLst/>
          </a:prstGeom>
          <a:noFill/>
          <a:ln/>
        </p:spPr>
        <p:txBody>
          <a:bodyPr wrap="square" lIns="0" tIns="0" rIns="0" bIns="0" rtlCol="0" anchor="ctr"/>
          <a:lstStyle/>
          <a:p>
            <a:pPr indent="0" marL="0">
              <a:buNone/>
            </a:pPr>
            <a:r>
              <a:rPr lang="en-US" sz="1500" i="1" dirty="0">
                <a:solidFill>
                  <a:srgbClr val="7A88A8"/>
                </a:solidFill>
                <a:latin typeface="Calibri" pitchFamily="34" charset="0"/>
                <a:ea typeface="Calibri" pitchFamily="34" charset="-122"/>
                <a:cs typeface="Calibri" pitchFamily="34" charset="-120"/>
              </a:rPr>
              <a:t>Indigenous peoples of southern Mexico and Central America</a:t>
            </a:r>
            <a:endParaRPr lang="en-US" sz="1500" dirty="0"/>
          </a:p>
        </p:txBody>
      </p:sp>
      <p:sp>
        <p:nvSpPr>
          <p:cNvPr id="6" name="Shape 4"/>
          <p:cNvSpPr/>
          <p:nvPr/>
        </p:nvSpPr>
        <p:spPr>
          <a:xfrm>
            <a:off x="7924800" y="1219200"/>
            <a:ext cx="3901440" cy="3048000"/>
          </a:xfrm>
          <a:prstGeom prst="roundRect">
            <a:avLst>
              <a:gd name="adj" fmla="val 4800"/>
            </a:avLst>
          </a:prstGeom>
          <a:solidFill>
            <a:srgbClr val="E2E8F4"/>
          </a:solidFill>
          <a:ln w="19050">
            <a:solidFill>
              <a:srgbClr val="B0B8CC"/>
            </a:solidFill>
            <a:prstDash val="dash"/>
          </a:ln>
        </p:spPr>
      </p:sp>
      <p:sp>
        <p:nvSpPr>
          <p:cNvPr id="7" name="Text 5"/>
          <p:cNvSpPr/>
          <p:nvPr/>
        </p:nvSpPr>
        <p:spPr>
          <a:xfrm>
            <a:off x="7924800" y="1219200"/>
            <a:ext cx="3901440" cy="365760"/>
          </a:xfrm>
          <a:prstGeom prst="rect">
            <a:avLst/>
          </a:prstGeom>
          <a:noFill/>
          <a:ln/>
        </p:spPr>
        <p:txBody>
          <a:bodyPr wrap="square" lIns="0" tIns="0" rIns="0" bIns="0" rtlCol="0" anchor="ctr"/>
          <a:lstStyle/>
          <a:p>
            <a:pPr algn="ctr" indent="0" marL="0">
              <a:buNone/>
            </a:pPr>
            <a:r>
              <a:rPr lang="en-US" sz="1200" b="1" spc="150" kern="0" dirty="0">
                <a:solidFill>
                  <a:srgbClr val="7A88A8"/>
                </a:solidFill>
                <a:latin typeface="Calibri" pitchFamily="34" charset="0"/>
                <a:ea typeface="Calibri" pitchFamily="34" charset="-122"/>
                <a:cs typeface="Calibri" pitchFamily="34" charset="-120"/>
              </a:rPr>
              <a:t>INSERT IMAGE</a:t>
            </a:r>
            <a:endParaRPr lang="en-US" sz="1200" dirty="0"/>
          </a:p>
        </p:txBody>
      </p:sp>
      <p:sp>
        <p:nvSpPr>
          <p:cNvPr id="8" name="Text 6"/>
          <p:cNvSpPr/>
          <p:nvPr/>
        </p:nvSpPr>
        <p:spPr>
          <a:xfrm>
            <a:off x="8107680" y="1584960"/>
            <a:ext cx="3535680" cy="2563368"/>
          </a:xfrm>
          <a:prstGeom prst="rect">
            <a:avLst/>
          </a:prstGeom>
          <a:noFill/>
          <a:ln/>
        </p:spPr>
        <p:txBody>
          <a:bodyPr wrap="square" rtlCol="0" anchor="ctr"/>
          <a:lstStyle/>
          <a:p>
            <a:pPr algn="ctr" indent="0" marL="0">
              <a:buNone/>
            </a:pPr>
            <a:r>
              <a:rPr lang="en-US" sz="1400" i="1" dirty="0">
                <a:solidFill>
                  <a:srgbClr val="7A88A8"/>
                </a:solidFill>
                <a:latin typeface="Calibri" pitchFamily="34" charset="0"/>
                <a:ea typeface="Calibri" pitchFamily="34" charset="-122"/>
                <a:cs typeface="Calibri" pitchFamily="34" charset="-120"/>
              </a:rPr>
              <a:t>Chichen Itza stepped pyramid or Maya archaeological site — iconic stepped stone pyramid, public domain</a:t>
            </a:r>
            <a:endParaRPr lang="en-US" sz="1400" dirty="0"/>
          </a:p>
        </p:txBody>
      </p:sp>
      <p:sp>
        <p:nvSpPr>
          <p:cNvPr id="9" name="Text 7"/>
          <p:cNvSpPr/>
          <p:nvPr/>
        </p:nvSpPr>
        <p:spPr>
          <a:xfrm>
            <a:off x="609600" y="2194560"/>
            <a:ext cx="6949440" cy="304800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0E1C42"/>
                </a:solidFill>
                <a:latin typeface="Calibri" pitchFamily="34" charset="0"/>
                <a:ea typeface="Calibri" pitchFamily="34" charset="-122"/>
                <a:cs typeface="Calibri" pitchFamily="34" charset="-120"/>
              </a:rPr>
              <a:t>Built huge stone cities with stepped pyramids over 1,000 years ago</a:t>
            </a:r>
            <a:endParaRPr lang="en-US" sz="1600" dirty="0"/>
          </a:p>
          <a:p>
            <a:pPr marL="342900" indent="-342900">
              <a:spcAft>
                <a:spcPts val="400"/>
              </a:spcAft>
              <a:buSzPct val="100000"/>
              <a:buChar char="•"/>
            </a:pPr>
            <a:r>
              <a:rPr lang="en-US" sz="1600" dirty="0">
                <a:solidFill>
                  <a:srgbClr val="0E1C42"/>
                </a:solidFill>
                <a:latin typeface="Calibri" pitchFamily="34" charset="0"/>
                <a:ea typeface="Calibri" pitchFamily="34" charset="-122"/>
                <a:cs typeface="Calibri" pitchFamily="34" charset="-120"/>
              </a:rPr>
              <a:t>Invented the number zero in math</a:t>
            </a:r>
            <a:endParaRPr lang="en-US" sz="1600" dirty="0"/>
          </a:p>
          <a:p>
            <a:pPr marL="342900" indent="-342900">
              <a:spcAft>
                <a:spcPts val="400"/>
              </a:spcAft>
              <a:buSzPct val="100000"/>
              <a:buChar char="•"/>
            </a:pPr>
            <a:r>
              <a:rPr lang="en-US" sz="1600" dirty="0">
                <a:solidFill>
                  <a:srgbClr val="0E1C42"/>
                </a:solidFill>
                <a:latin typeface="Calibri" pitchFamily="34" charset="0"/>
                <a:ea typeface="Calibri" pitchFamily="34" charset="-122"/>
                <a:cs typeface="Calibri" pitchFamily="34" charset="-120"/>
              </a:rPr>
              <a:t>Used a complex calendar</a:t>
            </a:r>
            <a:endParaRPr lang="en-US" sz="1600" dirty="0"/>
          </a:p>
          <a:p>
            <a:pPr marL="342900" indent="-342900">
              <a:spcAft>
                <a:spcPts val="400"/>
              </a:spcAft>
              <a:buSzPct val="100000"/>
              <a:buChar char="•"/>
            </a:pPr>
            <a:r>
              <a:rPr lang="en-US" sz="1600" dirty="0">
                <a:solidFill>
                  <a:srgbClr val="0E1C42"/>
                </a:solidFill>
                <a:latin typeface="Calibri" pitchFamily="34" charset="0"/>
                <a:ea typeface="Calibri" pitchFamily="34" charset="-122"/>
                <a:cs typeface="Calibri" pitchFamily="34" charset="-120"/>
              </a:rPr>
              <a:t>First people in the world to make chocolate (cacao)</a:t>
            </a:r>
            <a:endParaRPr lang="en-US" sz="1600" dirty="0"/>
          </a:p>
          <a:p>
            <a:pPr marL="342900" indent="-342900">
              <a:buSzPct val="100000"/>
              <a:buChar char="•"/>
            </a:pPr>
            <a:r>
              <a:rPr lang="en-US" sz="1600" b="1" dirty="0">
                <a:solidFill>
                  <a:srgbClr val="1A8A7D"/>
                </a:solidFill>
                <a:latin typeface="Calibri" pitchFamily="34" charset="0"/>
                <a:ea typeface="Calibri" pitchFamily="34" charset="-122"/>
                <a:cs typeface="Calibri" pitchFamily="34" charset="-120"/>
              </a:rPr>
              <a:t>Millions of Maya people still live in Mexico, Guatemala, and Belize today</a:t>
            </a:r>
            <a:endParaRPr lang="en-US" sz="1600" dirty="0"/>
          </a:p>
        </p:txBody>
      </p:sp>
      <p:sp>
        <p:nvSpPr>
          <p:cNvPr id="10" name="Shape 8"/>
          <p:cNvSpPr/>
          <p:nvPr/>
        </p:nvSpPr>
        <p:spPr>
          <a:xfrm>
            <a:off x="609600" y="5486400"/>
            <a:ext cx="10972800" cy="1463040"/>
          </a:xfrm>
          <a:prstGeom prst="roundRect">
            <a:avLst>
              <a:gd name="adj" fmla="val 12500"/>
            </a:avLst>
          </a:prstGeom>
          <a:solidFill>
            <a:srgbClr val="1A2D5A"/>
          </a:solidFill>
          <a:ln/>
          <a:effectLst>
            <a:outerShdw sx="100000" sy="100000" kx="0" ky="0" algn="bl" rotWithShape="0" blurRad="101600" dist="38100" dir="8100000">
              <a:srgbClr val="000000">
                <a:alpha val="20000"/>
              </a:srgbClr>
            </a:outerShdw>
          </a:effectLst>
        </p:spPr>
      </p:sp>
      <p:sp>
        <p:nvSpPr>
          <p:cNvPr id="11" name="Text 9"/>
          <p:cNvSpPr/>
          <p:nvPr/>
        </p:nvSpPr>
        <p:spPr>
          <a:xfrm>
            <a:off x="856488" y="5605272"/>
            <a:ext cx="10488168" cy="338328"/>
          </a:xfrm>
          <a:prstGeom prst="rect">
            <a:avLst/>
          </a:prstGeom>
          <a:noFill/>
          <a:ln/>
        </p:spPr>
        <p:txBody>
          <a:bodyPr wrap="square" lIns="0" tIns="0" rIns="0" bIns="0" rtlCol="0" anchor="ctr"/>
          <a:lstStyle/>
          <a:p>
            <a:pPr indent="0" marL="0">
              <a:buNone/>
            </a:pPr>
            <a:r>
              <a:rPr lang="en-US" sz="1200" b="1" spc="150" kern="0" dirty="0">
                <a:solidFill>
                  <a:srgbClr val="55C8E8"/>
                </a:solidFill>
                <a:latin typeface="Calibri" pitchFamily="34" charset="0"/>
                <a:ea typeface="Calibri" pitchFamily="34" charset="-122"/>
                <a:cs typeface="Calibri" pitchFamily="34" charset="-120"/>
              </a:rPr>
              <a:t>SOCRATIC QUESTIONS</a:t>
            </a:r>
            <a:endParaRPr lang="en-US" sz="1200" dirty="0"/>
          </a:p>
        </p:txBody>
      </p:sp>
      <p:sp>
        <p:nvSpPr>
          <p:cNvPr id="12" name="Text 10"/>
          <p:cNvSpPr/>
          <p:nvPr/>
        </p:nvSpPr>
        <p:spPr>
          <a:xfrm>
            <a:off x="856488" y="5952744"/>
            <a:ext cx="10488168" cy="877824"/>
          </a:xfrm>
          <a:prstGeom prst="rect">
            <a:avLst/>
          </a:prstGeom>
          <a:noFill/>
          <a:ln/>
        </p:spPr>
        <p:txBody>
          <a:bodyPr wrap="square" lIns="0" tIns="0" rIns="0" bIns="0" rtlCol="0" anchor="t"/>
          <a:lstStyle/>
          <a:p>
            <a:pPr marL="342900" indent="-342900">
              <a:spcAft>
                <a:spcPts val="500"/>
              </a:spcAft>
              <a:buSzPct val="100000"/>
              <a:buChar char="•"/>
            </a:pPr>
            <a:r>
              <a:rPr lang="en-US" sz="1400" i="1" dirty="0">
                <a:solidFill>
                  <a:srgbClr val="FFFFFF"/>
                </a:solidFill>
                <a:latin typeface="Calibri" pitchFamily="34" charset="0"/>
                <a:ea typeface="Calibri" pitchFamily="34" charset="-122"/>
                <a:cs typeface="Calibri" pitchFamily="34" charset="-120"/>
              </a:rPr>
              <a:t>The Maya invented the number zero. Why is zero important in math?</a:t>
            </a:r>
            <a:endParaRPr lang="en-US" sz="1400" dirty="0"/>
          </a:p>
          <a:p>
            <a:pPr marL="342900" indent="-342900">
              <a:spcAft>
                <a:spcPts val="500"/>
              </a:spcAft>
              <a:buSzPct val="100000"/>
              <a:buChar char="•"/>
            </a:pPr>
            <a:r>
              <a:rPr lang="en-US" sz="1400" i="1" dirty="0">
                <a:solidFill>
                  <a:srgbClr val="FFFFFF"/>
                </a:solidFill>
                <a:latin typeface="Calibri" pitchFamily="34" charset="0"/>
                <a:ea typeface="Calibri" pitchFamily="34" charset="-122"/>
                <a:cs typeface="Calibri" pitchFamily="34" charset="-120"/>
              </a:rPr>
              <a:t>What surprises you about what the Maya accomplished over 1,000 years ago?</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Text 1"/>
          <p:cNvSpPr/>
          <p:nvPr/>
        </p:nvSpPr>
        <p:spPr>
          <a:xfrm>
            <a:off x="609600" y="487680"/>
            <a:ext cx="6096000" cy="426720"/>
          </a:xfrm>
          <a:prstGeom prst="rect">
            <a:avLst/>
          </a:prstGeom>
          <a:noFill/>
          <a:ln/>
        </p:spPr>
        <p:txBody>
          <a:bodyPr wrap="square" lIns="0" tIns="0" rIns="0" bIns="0" rtlCol="0" anchor="ctr"/>
          <a:lstStyle/>
          <a:p>
            <a:pPr indent="0" marL="0">
              <a:buNone/>
            </a:pPr>
            <a:r>
              <a:rPr lang="en-US" sz="1300" b="1" spc="200" kern="0" dirty="0">
                <a:solidFill>
                  <a:srgbClr val="1A8A7D"/>
                </a:solidFill>
                <a:latin typeface="Calibri" pitchFamily="34" charset="0"/>
                <a:ea typeface="Calibri" pitchFamily="34" charset="-122"/>
                <a:cs typeface="Calibri" pitchFamily="34" charset="-120"/>
              </a:rPr>
              <a:t>CULTURE CASE 3</a:t>
            </a:r>
            <a:endParaRPr lang="en-US" sz="1300" dirty="0"/>
          </a:p>
        </p:txBody>
      </p:sp>
      <p:sp>
        <p:nvSpPr>
          <p:cNvPr id="4" name="Text 2"/>
          <p:cNvSpPr/>
          <p:nvPr/>
        </p:nvSpPr>
        <p:spPr>
          <a:xfrm>
            <a:off x="609600" y="975360"/>
            <a:ext cx="8534400" cy="731520"/>
          </a:xfrm>
          <a:prstGeom prst="rect">
            <a:avLst/>
          </a:prstGeom>
          <a:noFill/>
          <a:ln/>
        </p:spPr>
        <p:txBody>
          <a:bodyPr wrap="square" lIns="0" tIns="0" rIns="0" bIns="0" rtlCol="0" anchor="ctr"/>
          <a:lstStyle/>
          <a:p>
            <a:pPr indent="0" marL="0">
              <a:buNone/>
            </a:pPr>
            <a:r>
              <a:rPr lang="en-US" sz="3200" b="1" dirty="0">
                <a:solidFill>
                  <a:srgbClr val="0E1C42"/>
                </a:solidFill>
                <a:latin typeface="Cambria" pitchFamily="34" charset="0"/>
                <a:ea typeface="Cambria" pitchFamily="34" charset="-122"/>
                <a:cs typeface="Cambria" pitchFamily="34" charset="-120"/>
              </a:rPr>
              <a:t>Spanish Settlers</a:t>
            </a:r>
            <a:endParaRPr lang="en-US" sz="3200" dirty="0"/>
          </a:p>
        </p:txBody>
      </p:sp>
      <p:sp>
        <p:nvSpPr>
          <p:cNvPr id="5" name="Text 3"/>
          <p:cNvSpPr/>
          <p:nvPr/>
        </p:nvSpPr>
        <p:spPr>
          <a:xfrm>
            <a:off x="609600" y="1645920"/>
            <a:ext cx="8534400" cy="426720"/>
          </a:xfrm>
          <a:prstGeom prst="rect">
            <a:avLst/>
          </a:prstGeom>
          <a:noFill/>
          <a:ln/>
        </p:spPr>
        <p:txBody>
          <a:bodyPr wrap="square" lIns="0" tIns="0" rIns="0" bIns="0" rtlCol="0" anchor="ctr"/>
          <a:lstStyle/>
          <a:p>
            <a:pPr indent="0" marL="0">
              <a:buNone/>
            </a:pPr>
            <a:r>
              <a:rPr lang="en-US" sz="1500" i="1" dirty="0">
                <a:solidFill>
                  <a:srgbClr val="7A88A8"/>
                </a:solidFill>
                <a:latin typeface="Calibri" pitchFamily="34" charset="0"/>
                <a:ea typeface="Calibri" pitchFamily="34" charset="-122"/>
                <a:cs typeface="Calibri" pitchFamily="34" charset="-120"/>
              </a:rPr>
              <a:t>Arrived starting in the late 1400s</a:t>
            </a:r>
            <a:endParaRPr lang="en-US" sz="1500" dirty="0"/>
          </a:p>
        </p:txBody>
      </p:sp>
      <p:sp>
        <p:nvSpPr>
          <p:cNvPr id="6" name="Shape 4"/>
          <p:cNvSpPr/>
          <p:nvPr/>
        </p:nvSpPr>
        <p:spPr>
          <a:xfrm>
            <a:off x="7924800" y="1219200"/>
            <a:ext cx="3901440" cy="3048000"/>
          </a:xfrm>
          <a:prstGeom prst="roundRect">
            <a:avLst>
              <a:gd name="adj" fmla="val 4800"/>
            </a:avLst>
          </a:prstGeom>
          <a:solidFill>
            <a:srgbClr val="E2E8F4"/>
          </a:solidFill>
          <a:ln w="19050">
            <a:solidFill>
              <a:srgbClr val="B0B8CC"/>
            </a:solidFill>
            <a:prstDash val="dash"/>
          </a:ln>
        </p:spPr>
      </p:sp>
      <p:sp>
        <p:nvSpPr>
          <p:cNvPr id="7" name="Text 5"/>
          <p:cNvSpPr/>
          <p:nvPr/>
        </p:nvSpPr>
        <p:spPr>
          <a:xfrm>
            <a:off x="7924800" y="1219200"/>
            <a:ext cx="3901440" cy="365760"/>
          </a:xfrm>
          <a:prstGeom prst="rect">
            <a:avLst/>
          </a:prstGeom>
          <a:noFill/>
          <a:ln/>
        </p:spPr>
        <p:txBody>
          <a:bodyPr wrap="square" lIns="0" tIns="0" rIns="0" bIns="0" rtlCol="0" anchor="ctr"/>
          <a:lstStyle/>
          <a:p>
            <a:pPr algn="ctr" indent="0" marL="0">
              <a:buNone/>
            </a:pPr>
            <a:r>
              <a:rPr lang="en-US" sz="1200" b="1" spc="150" kern="0" dirty="0">
                <a:solidFill>
                  <a:srgbClr val="7A88A8"/>
                </a:solidFill>
                <a:latin typeface="Calibri" pitchFamily="34" charset="0"/>
                <a:ea typeface="Calibri" pitchFamily="34" charset="-122"/>
                <a:cs typeface="Calibri" pitchFamily="34" charset="-120"/>
              </a:rPr>
              <a:t>INSERT IMAGE</a:t>
            </a:r>
            <a:endParaRPr lang="en-US" sz="1200" dirty="0"/>
          </a:p>
        </p:txBody>
      </p:sp>
      <p:sp>
        <p:nvSpPr>
          <p:cNvPr id="8" name="Text 6"/>
          <p:cNvSpPr/>
          <p:nvPr/>
        </p:nvSpPr>
        <p:spPr>
          <a:xfrm>
            <a:off x="8107680" y="1584960"/>
            <a:ext cx="3535680" cy="2563368"/>
          </a:xfrm>
          <a:prstGeom prst="rect">
            <a:avLst/>
          </a:prstGeom>
          <a:noFill/>
          <a:ln/>
        </p:spPr>
        <p:txBody>
          <a:bodyPr wrap="square" rtlCol="0" anchor="ctr"/>
          <a:lstStyle/>
          <a:p>
            <a:pPr algn="ctr" indent="0" marL="0">
              <a:buNone/>
            </a:pPr>
            <a:r>
              <a:rPr lang="en-US" sz="1400" i="1" dirty="0">
                <a:solidFill>
                  <a:srgbClr val="7A88A8"/>
                </a:solidFill>
                <a:latin typeface="Calibri" pitchFamily="34" charset="0"/>
                <a:ea typeface="Calibri" pitchFamily="34" charset="-122"/>
                <a:cs typeface="Calibri" pitchFamily="34" charset="-120"/>
              </a:rPr>
              <a:t>Spanish mission church in the American Southwest or Florida — white adobe walls, bell tower, historical photograph or illustration</a:t>
            </a:r>
            <a:endParaRPr lang="en-US" sz="1400" dirty="0"/>
          </a:p>
        </p:txBody>
      </p:sp>
      <p:sp>
        <p:nvSpPr>
          <p:cNvPr id="9" name="Text 7"/>
          <p:cNvSpPr/>
          <p:nvPr/>
        </p:nvSpPr>
        <p:spPr>
          <a:xfrm>
            <a:off x="609600" y="2194560"/>
            <a:ext cx="6949440" cy="21945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0E1C42"/>
                </a:solidFill>
                <a:latin typeface="Calibri" pitchFamily="34" charset="0"/>
                <a:ea typeface="Calibri" pitchFamily="34" charset="-122"/>
                <a:cs typeface="Calibri" pitchFamily="34" charset="-120"/>
              </a:rPr>
              <a:t>Brought the Spanish language and the Catholic faith</a:t>
            </a:r>
            <a:endParaRPr lang="en-US" sz="1600" dirty="0"/>
          </a:p>
          <a:p>
            <a:pPr marL="342900" indent="-342900">
              <a:spcAft>
                <a:spcPts val="400"/>
              </a:spcAft>
              <a:buSzPct val="100000"/>
              <a:buChar char="•"/>
            </a:pPr>
            <a:r>
              <a:rPr lang="en-US" sz="1600" dirty="0">
                <a:solidFill>
                  <a:srgbClr val="0E1C42"/>
                </a:solidFill>
                <a:latin typeface="Calibri" pitchFamily="34" charset="0"/>
                <a:ea typeface="Calibri" pitchFamily="34" charset="-122"/>
                <a:cs typeface="Calibri" pitchFamily="34" charset="-120"/>
              </a:rPr>
              <a:t>Built mission churches across Mexico, U.S. Southwest, Florida, and the Caribbean</a:t>
            </a:r>
            <a:endParaRPr lang="en-US" sz="1600" dirty="0"/>
          </a:p>
          <a:p>
            <a:pPr marL="342900" indent="-342900">
              <a:buSzPct val="100000"/>
              <a:buChar char="•"/>
            </a:pPr>
            <a:r>
              <a:rPr lang="en-US" sz="1600" b="1" dirty="0">
                <a:solidFill>
                  <a:srgbClr val="1A8A7D"/>
                </a:solidFill>
                <a:latin typeface="Calibri" pitchFamily="34" charset="0"/>
                <a:ea typeface="Calibri" pitchFamily="34" charset="-122"/>
                <a:cs typeface="Calibri" pitchFamily="34" charset="-120"/>
              </a:rPr>
              <a:t>Today, Spanish is one of the most-spoken languages in the region</a:t>
            </a:r>
            <a:endParaRPr lang="en-US" sz="1600" dirty="0"/>
          </a:p>
        </p:txBody>
      </p:sp>
      <p:sp>
        <p:nvSpPr>
          <p:cNvPr id="10" name="Shape 8"/>
          <p:cNvSpPr/>
          <p:nvPr/>
        </p:nvSpPr>
        <p:spPr>
          <a:xfrm>
            <a:off x="609600" y="4632960"/>
            <a:ext cx="10972800" cy="1463040"/>
          </a:xfrm>
          <a:prstGeom prst="roundRect">
            <a:avLst>
              <a:gd name="adj" fmla="val 12500"/>
            </a:avLst>
          </a:prstGeom>
          <a:solidFill>
            <a:srgbClr val="1A2D5A"/>
          </a:solidFill>
          <a:ln/>
          <a:effectLst>
            <a:outerShdw sx="100000" sy="100000" kx="0" ky="0" algn="bl" rotWithShape="0" blurRad="101600" dist="38100" dir="8100000">
              <a:srgbClr val="000000">
                <a:alpha val="20000"/>
              </a:srgbClr>
            </a:outerShdw>
          </a:effectLst>
        </p:spPr>
      </p:sp>
      <p:sp>
        <p:nvSpPr>
          <p:cNvPr id="11" name="Text 9"/>
          <p:cNvSpPr/>
          <p:nvPr/>
        </p:nvSpPr>
        <p:spPr>
          <a:xfrm>
            <a:off x="856488" y="4751832"/>
            <a:ext cx="10488168" cy="338328"/>
          </a:xfrm>
          <a:prstGeom prst="rect">
            <a:avLst/>
          </a:prstGeom>
          <a:noFill/>
          <a:ln/>
        </p:spPr>
        <p:txBody>
          <a:bodyPr wrap="square" lIns="0" tIns="0" rIns="0" bIns="0" rtlCol="0" anchor="ctr"/>
          <a:lstStyle/>
          <a:p>
            <a:pPr indent="0" marL="0">
              <a:buNone/>
            </a:pPr>
            <a:r>
              <a:rPr lang="en-US" sz="1200" b="1" spc="150" kern="0" dirty="0">
                <a:solidFill>
                  <a:srgbClr val="55C8E8"/>
                </a:solidFill>
                <a:latin typeface="Calibri" pitchFamily="34" charset="0"/>
                <a:ea typeface="Calibri" pitchFamily="34" charset="-122"/>
                <a:cs typeface="Calibri" pitchFamily="34" charset="-120"/>
              </a:rPr>
              <a:t>SOCRATIC QUESTIONS</a:t>
            </a:r>
            <a:endParaRPr lang="en-US" sz="1200" dirty="0"/>
          </a:p>
        </p:txBody>
      </p:sp>
      <p:sp>
        <p:nvSpPr>
          <p:cNvPr id="12" name="Text 10"/>
          <p:cNvSpPr/>
          <p:nvPr/>
        </p:nvSpPr>
        <p:spPr>
          <a:xfrm>
            <a:off x="856488" y="5099304"/>
            <a:ext cx="10488168" cy="877824"/>
          </a:xfrm>
          <a:prstGeom prst="rect">
            <a:avLst/>
          </a:prstGeom>
          <a:noFill/>
          <a:ln/>
        </p:spPr>
        <p:txBody>
          <a:bodyPr wrap="square" lIns="0" tIns="0" rIns="0" bIns="0" rtlCol="0" anchor="t"/>
          <a:lstStyle/>
          <a:p>
            <a:pPr marL="342900" indent="-342900">
              <a:spcAft>
                <a:spcPts val="500"/>
              </a:spcAft>
              <a:buSzPct val="100000"/>
              <a:buChar char="•"/>
            </a:pPr>
            <a:r>
              <a:rPr lang="en-US" sz="1400" i="1" dirty="0">
                <a:solidFill>
                  <a:srgbClr val="FFFFFF"/>
                </a:solidFill>
                <a:latin typeface="Calibri" pitchFamily="34" charset="0"/>
                <a:ea typeface="Calibri" pitchFamily="34" charset="-122"/>
                <a:cs typeface="Calibri" pitchFamily="34" charset="-120"/>
              </a:rPr>
              <a:t>Where are some places in North America where people speak Spanish today?</a:t>
            </a:r>
            <a:endParaRPr lang="en-US" sz="1400" dirty="0"/>
          </a:p>
          <a:p>
            <a:pPr marL="342900" indent="-342900">
              <a:spcAft>
                <a:spcPts val="500"/>
              </a:spcAft>
              <a:buSzPct val="100000"/>
              <a:buChar char="•"/>
            </a:pPr>
            <a:r>
              <a:rPr lang="en-US" sz="1400" i="1" dirty="0">
                <a:solidFill>
                  <a:srgbClr val="FFFFFF"/>
                </a:solidFill>
                <a:latin typeface="Calibri" pitchFamily="34" charset="0"/>
                <a:ea typeface="Calibri" pitchFamily="34" charset="-122"/>
                <a:cs typeface="Calibri" pitchFamily="34" charset="-120"/>
              </a:rPr>
              <a:t>Why do curators say 'Spanish settlers' instead of just 'Spanish people'?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Text 1"/>
          <p:cNvSpPr/>
          <p:nvPr/>
        </p:nvSpPr>
        <p:spPr>
          <a:xfrm>
            <a:off x="609600" y="487680"/>
            <a:ext cx="6096000" cy="426720"/>
          </a:xfrm>
          <a:prstGeom prst="rect">
            <a:avLst/>
          </a:prstGeom>
          <a:noFill/>
          <a:ln/>
        </p:spPr>
        <p:txBody>
          <a:bodyPr wrap="square" lIns="0" tIns="0" rIns="0" bIns="0" rtlCol="0" anchor="ctr"/>
          <a:lstStyle/>
          <a:p>
            <a:pPr indent="0" marL="0">
              <a:buNone/>
            </a:pPr>
            <a:r>
              <a:rPr lang="en-US" sz="1300" b="1" spc="200" kern="0" dirty="0">
                <a:solidFill>
                  <a:srgbClr val="1A8A7D"/>
                </a:solidFill>
                <a:latin typeface="Calibri" pitchFamily="34" charset="0"/>
                <a:ea typeface="Calibri" pitchFamily="34" charset="-122"/>
                <a:cs typeface="Calibri" pitchFamily="34" charset="-120"/>
              </a:rPr>
              <a:t>CULTURE CASE 4</a:t>
            </a:r>
            <a:endParaRPr lang="en-US" sz="1300" dirty="0"/>
          </a:p>
        </p:txBody>
      </p:sp>
      <p:sp>
        <p:nvSpPr>
          <p:cNvPr id="4" name="Text 2"/>
          <p:cNvSpPr/>
          <p:nvPr/>
        </p:nvSpPr>
        <p:spPr>
          <a:xfrm>
            <a:off x="609600" y="975360"/>
            <a:ext cx="8534400" cy="731520"/>
          </a:xfrm>
          <a:prstGeom prst="rect">
            <a:avLst/>
          </a:prstGeom>
          <a:noFill/>
          <a:ln/>
        </p:spPr>
        <p:txBody>
          <a:bodyPr wrap="square" lIns="0" tIns="0" rIns="0" bIns="0" rtlCol="0" anchor="ctr"/>
          <a:lstStyle/>
          <a:p>
            <a:pPr indent="0" marL="0">
              <a:buNone/>
            </a:pPr>
            <a:r>
              <a:rPr lang="en-US" sz="3200" b="1" dirty="0">
                <a:solidFill>
                  <a:srgbClr val="0E1C42"/>
                </a:solidFill>
                <a:latin typeface="Cambria" pitchFamily="34" charset="0"/>
                <a:ea typeface="Cambria" pitchFamily="34" charset="-122"/>
                <a:cs typeface="Cambria" pitchFamily="34" charset="-120"/>
              </a:rPr>
              <a:t>French Settlers</a:t>
            </a:r>
            <a:endParaRPr lang="en-US" sz="3200" dirty="0"/>
          </a:p>
        </p:txBody>
      </p:sp>
      <p:sp>
        <p:nvSpPr>
          <p:cNvPr id="5" name="Text 3"/>
          <p:cNvSpPr/>
          <p:nvPr/>
        </p:nvSpPr>
        <p:spPr>
          <a:xfrm>
            <a:off x="609600" y="1645920"/>
            <a:ext cx="8534400" cy="426720"/>
          </a:xfrm>
          <a:prstGeom prst="rect">
            <a:avLst/>
          </a:prstGeom>
          <a:noFill/>
          <a:ln/>
        </p:spPr>
        <p:txBody>
          <a:bodyPr wrap="square" lIns="0" tIns="0" rIns="0" bIns="0" rtlCol="0" anchor="ctr"/>
          <a:lstStyle/>
          <a:p>
            <a:pPr indent="0" marL="0">
              <a:buNone/>
            </a:pPr>
            <a:r>
              <a:rPr lang="en-US" sz="1500" i="1" dirty="0">
                <a:solidFill>
                  <a:srgbClr val="7A88A8"/>
                </a:solidFill>
                <a:latin typeface="Calibri" pitchFamily="34" charset="0"/>
                <a:ea typeface="Calibri" pitchFamily="34" charset="-122"/>
                <a:cs typeface="Calibri" pitchFamily="34" charset="-120"/>
              </a:rPr>
              <a:t>Arrived in the 1600s</a:t>
            </a:r>
            <a:endParaRPr lang="en-US" sz="1500" dirty="0"/>
          </a:p>
        </p:txBody>
      </p:sp>
      <p:sp>
        <p:nvSpPr>
          <p:cNvPr id="6" name="Shape 4"/>
          <p:cNvSpPr/>
          <p:nvPr/>
        </p:nvSpPr>
        <p:spPr>
          <a:xfrm>
            <a:off x="7924800" y="1219200"/>
            <a:ext cx="3901440" cy="3048000"/>
          </a:xfrm>
          <a:prstGeom prst="roundRect">
            <a:avLst>
              <a:gd name="adj" fmla="val 4800"/>
            </a:avLst>
          </a:prstGeom>
          <a:solidFill>
            <a:srgbClr val="E2E8F4"/>
          </a:solidFill>
          <a:ln w="19050">
            <a:solidFill>
              <a:srgbClr val="B0B8CC"/>
            </a:solidFill>
            <a:prstDash val="dash"/>
          </a:ln>
        </p:spPr>
      </p:sp>
      <p:sp>
        <p:nvSpPr>
          <p:cNvPr id="7" name="Text 5"/>
          <p:cNvSpPr/>
          <p:nvPr/>
        </p:nvSpPr>
        <p:spPr>
          <a:xfrm>
            <a:off x="7924800" y="1219200"/>
            <a:ext cx="3901440" cy="365760"/>
          </a:xfrm>
          <a:prstGeom prst="rect">
            <a:avLst/>
          </a:prstGeom>
          <a:noFill/>
          <a:ln/>
        </p:spPr>
        <p:txBody>
          <a:bodyPr wrap="square" lIns="0" tIns="0" rIns="0" bIns="0" rtlCol="0" anchor="ctr"/>
          <a:lstStyle/>
          <a:p>
            <a:pPr algn="ctr" indent="0" marL="0">
              <a:buNone/>
            </a:pPr>
            <a:r>
              <a:rPr lang="en-US" sz="1200" b="1" spc="150" kern="0" dirty="0">
                <a:solidFill>
                  <a:srgbClr val="7A88A8"/>
                </a:solidFill>
                <a:latin typeface="Calibri" pitchFamily="34" charset="0"/>
                <a:ea typeface="Calibri" pitchFamily="34" charset="-122"/>
                <a:cs typeface="Calibri" pitchFamily="34" charset="-120"/>
              </a:rPr>
              <a:t>INSERT IMAGE</a:t>
            </a:r>
            <a:endParaRPr lang="en-US" sz="1200" dirty="0"/>
          </a:p>
        </p:txBody>
      </p:sp>
      <p:sp>
        <p:nvSpPr>
          <p:cNvPr id="8" name="Text 6"/>
          <p:cNvSpPr/>
          <p:nvPr/>
        </p:nvSpPr>
        <p:spPr>
          <a:xfrm>
            <a:off x="8107680" y="1584960"/>
            <a:ext cx="3535680" cy="2563368"/>
          </a:xfrm>
          <a:prstGeom prst="rect">
            <a:avLst/>
          </a:prstGeom>
          <a:noFill/>
          <a:ln/>
        </p:spPr>
        <p:txBody>
          <a:bodyPr wrap="square" rtlCol="0" anchor="ctr"/>
          <a:lstStyle/>
          <a:p>
            <a:pPr algn="ctr" indent="0" marL="0">
              <a:buNone/>
            </a:pPr>
            <a:r>
              <a:rPr lang="en-US" sz="1400" i="1" dirty="0">
                <a:solidFill>
                  <a:srgbClr val="7A88A8"/>
                </a:solidFill>
                <a:latin typeface="Calibri" pitchFamily="34" charset="0"/>
                <a:ea typeface="Calibri" pitchFamily="34" charset="-122"/>
                <a:cs typeface="Calibri" pitchFamily="34" charset="-120"/>
              </a:rPr>
              <a:t>Historic Quebec City or French Quarter of New Orleans — showing French colonial architecture, cobblestone streets</a:t>
            </a:r>
            <a:endParaRPr lang="en-US" sz="1400" dirty="0"/>
          </a:p>
        </p:txBody>
      </p:sp>
      <p:sp>
        <p:nvSpPr>
          <p:cNvPr id="9" name="Text 7"/>
          <p:cNvSpPr/>
          <p:nvPr/>
        </p:nvSpPr>
        <p:spPr>
          <a:xfrm>
            <a:off x="609600" y="2194560"/>
            <a:ext cx="6949440" cy="243840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0E1C42"/>
                </a:solidFill>
                <a:latin typeface="Calibri" pitchFamily="34" charset="0"/>
                <a:ea typeface="Calibri" pitchFamily="34" charset="-122"/>
                <a:cs typeface="Calibri" pitchFamily="34" charset="-120"/>
              </a:rPr>
              <a:t>Settled along the St. Lawrence River (Quebec, Canada) and the Mississippi River (Louisiana)</a:t>
            </a:r>
            <a:endParaRPr lang="en-US" sz="1600" dirty="0"/>
          </a:p>
          <a:p>
            <a:pPr marL="342900" indent="-342900">
              <a:spcAft>
                <a:spcPts val="400"/>
              </a:spcAft>
              <a:buSzPct val="100000"/>
              <a:buChar char="•"/>
            </a:pPr>
            <a:r>
              <a:rPr lang="en-US" sz="1600" dirty="0">
                <a:solidFill>
                  <a:srgbClr val="0E1C42"/>
                </a:solidFill>
                <a:latin typeface="Calibri" pitchFamily="34" charset="0"/>
                <a:ea typeface="Calibri" pitchFamily="34" charset="-122"/>
                <a:cs typeface="Calibri" pitchFamily="34" charset="-120"/>
              </a:rPr>
              <a:t>Brought the French language</a:t>
            </a:r>
            <a:endParaRPr lang="en-US" sz="1600" dirty="0"/>
          </a:p>
          <a:p>
            <a:pPr marL="342900" indent="-342900">
              <a:spcAft>
                <a:spcPts val="400"/>
              </a:spcAft>
              <a:buSzPct val="100000"/>
              <a:buChar char="•"/>
            </a:pPr>
            <a:r>
              <a:rPr lang="en-US" sz="1600" b="1" dirty="0">
                <a:solidFill>
                  <a:srgbClr val="1A8A7D"/>
                </a:solidFill>
                <a:latin typeface="Calibri" pitchFamily="34" charset="0"/>
                <a:ea typeface="Calibri" pitchFamily="34" charset="-122"/>
                <a:cs typeface="Calibri" pitchFamily="34" charset="-120"/>
              </a:rPr>
              <a:t>Today, Quebec is mostly French-speaking</a:t>
            </a:r>
            <a:endParaRPr lang="en-US" sz="1600" dirty="0"/>
          </a:p>
          <a:p>
            <a:pPr marL="342900" indent="-342900">
              <a:buSzPct val="100000"/>
              <a:buChar char="•"/>
            </a:pPr>
            <a:r>
              <a:rPr lang="en-US" sz="1600" dirty="0">
                <a:solidFill>
                  <a:srgbClr val="0E1C42"/>
                </a:solidFill>
                <a:latin typeface="Calibri" pitchFamily="34" charset="0"/>
                <a:ea typeface="Calibri" pitchFamily="34" charset="-122"/>
                <a:cs typeface="Calibri" pitchFamily="34" charset="-120"/>
              </a:rPr>
              <a:t>You can still hear French words in Louisiana place names</a:t>
            </a:r>
            <a:endParaRPr lang="en-US" sz="1600" dirty="0"/>
          </a:p>
        </p:txBody>
      </p:sp>
      <p:sp>
        <p:nvSpPr>
          <p:cNvPr id="10" name="Shape 8"/>
          <p:cNvSpPr/>
          <p:nvPr/>
        </p:nvSpPr>
        <p:spPr>
          <a:xfrm>
            <a:off x="609600" y="4876800"/>
            <a:ext cx="10972800" cy="1463040"/>
          </a:xfrm>
          <a:prstGeom prst="roundRect">
            <a:avLst>
              <a:gd name="adj" fmla="val 12500"/>
            </a:avLst>
          </a:prstGeom>
          <a:solidFill>
            <a:srgbClr val="1A2D5A"/>
          </a:solidFill>
          <a:ln/>
          <a:effectLst>
            <a:outerShdw sx="100000" sy="100000" kx="0" ky="0" algn="bl" rotWithShape="0" blurRad="101600" dist="38100" dir="8100000">
              <a:srgbClr val="000000">
                <a:alpha val="20000"/>
              </a:srgbClr>
            </a:outerShdw>
          </a:effectLst>
        </p:spPr>
      </p:sp>
      <p:sp>
        <p:nvSpPr>
          <p:cNvPr id="11" name="Text 9"/>
          <p:cNvSpPr/>
          <p:nvPr/>
        </p:nvSpPr>
        <p:spPr>
          <a:xfrm>
            <a:off x="856488" y="4995672"/>
            <a:ext cx="10488168" cy="338328"/>
          </a:xfrm>
          <a:prstGeom prst="rect">
            <a:avLst/>
          </a:prstGeom>
          <a:noFill/>
          <a:ln/>
        </p:spPr>
        <p:txBody>
          <a:bodyPr wrap="square" lIns="0" tIns="0" rIns="0" bIns="0" rtlCol="0" anchor="ctr"/>
          <a:lstStyle/>
          <a:p>
            <a:pPr indent="0" marL="0">
              <a:buNone/>
            </a:pPr>
            <a:r>
              <a:rPr lang="en-US" sz="1200" b="1" spc="150" kern="0" dirty="0">
                <a:solidFill>
                  <a:srgbClr val="55C8E8"/>
                </a:solidFill>
                <a:latin typeface="Calibri" pitchFamily="34" charset="0"/>
                <a:ea typeface="Calibri" pitchFamily="34" charset="-122"/>
                <a:cs typeface="Calibri" pitchFamily="34" charset="-120"/>
              </a:rPr>
              <a:t>SOCRATIC QUESTIONS</a:t>
            </a:r>
            <a:endParaRPr lang="en-US" sz="1200" dirty="0"/>
          </a:p>
        </p:txBody>
      </p:sp>
      <p:sp>
        <p:nvSpPr>
          <p:cNvPr id="12" name="Text 10"/>
          <p:cNvSpPr/>
          <p:nvPr/>
        </p:nvSpPr>
        <p:spPr>
          <a:xfrm>
            <a:off x="856488" y="5343144"/>
            <a:ext cx="10488168" cy="877824"/>
          </a:xfrm>
          <a:prstGeom prst="rect">
            <a:avLst/>
          </a:prstGeom>
          <a:noFill/>
          <a:ln/>
        </p:spPr>
        <p:txBody>
          <a:bodyPr wrap="square" lIns="0" tIns="0" rIns="0" bIns="0" rtlCol="0" anchor="t"/>
          <a:lstStyle/>
          <a:p>
            <a:pPr marL="342900" indent="-342900">
              <a:spcAft>
                <a:spcPts val="500"/>
              </a:spcAft>
              <a:buSzPct val="100000"/>
              <a:buChar char="•"/>
            </a:pPr>
            <a:r>
              <a:rPr lang="en-US" sz="1400" i="1" dirty="0">
                <a:solidFill>
                  <a:srgbClr val="FFFFFF"/>
                </a:solidFill>
                <a:latin typeface="Calibri" pitchFamily="34" charset="0"/>
                <a:ea typeface="Calibri" pitchFamily="34" charset="-122"/>
                <a:cs typeface="Calibri" pitchFamily="34" charset="-120"/>
              </a:rPr>
              <a:t>Can you think of any French words that are used in English today?</a:t>
            </a:r>
            <a:endParaRPr lang="en-US" sz="1400" dirty="0"/>
          </a:p>
          <a:p>
            <a:pPr marL="342900" indent="-342900">
              <a:spcAft>
                <a:spcPts val="500"/>
              </a:spcAft>
              <a:buSzPct val="100000"/>
              <a:buChar char="•"/>
            </a:pPr>
            <a:r>
              <a:rPr lang="en-US" sz="1400" i="1" dirty="0">
                <a:solidFill>
                  <a:srgbClr val="FFFFFF"/>
                </a:solidFill>
                <a:latin typeface="Calibri" pitchFamily="34" charset="0"/>
                <a:ea typeface="Calibri" pitchFamily="34" charset="-122"/>
                <a:cs typeface="Calibri" pitchFamily="34" charset="-120"/>
              </a:rPr>
              <a:t>Why did French settlers choose rivers to settle along?</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Text 1"/>
          <p:cNvSpPr/>
          <p:nvPr/>
        </p:nvSpPr>
        <p:spPr>
          <a:xfrm>
            <a:off x="609600" y="487680"/>
            <a:ext cx="6096000" cy="426720"/>
          </a:xfrm>
          <a:prstGeom prst="rect">
            <a:avLst/>
          </a:prstGeom>
          <a:noFill/>
          <a:ln/>
        </p:spPr>
        <p:txBody>
          <a:bodyPr wrap="square" lIns="0" tIns="0" rIns="0" bIns="0" rtlCol="0" anchor="ctr"/>
          <a:lstStyle/>
          <a:p>
            <a:pPr indent="0" marL="0">
              <a:buNone/>
            </a:pPr>
            <a:r>
              <a:rPr lang="en-US" sz="1300" b="1" spc="200" kern="0" dirty="0">
                <a:solidFill>
                  <a:srgbClr val="1A8A7D"/>
                </a:solidFill>
                <a:latin typeface="Calibri" pitchFamily="34" charset="0"/>
                <a:ea typeface="Calibri" pitchFamily="34" charset="-122"/>
                <a:cs typeface="Calibri" pitchFamily="34" charset="-120"/>
              </a:rPr>
              <a:t>CULTURE CASE 5</a:t>
            </a:r>
            <a:endParaRPr lang="en-US" sz="1300" dirty="0"/>
          </a:p>
        </p:txBody>
      </p:sp>
      <p:sp>
        <p:nvSpPr>
          <p:cNvPr id="4" name="Text 2"/>
          <p:cNvSpPr/>
          <p:nvPr/>
        </p:nvSpPr>
        <p:spPr>
          <a:xfrm>
            <a:off x="609600" y="975360"/>
            <a:ext cx="8534400" cy="731520"/>
          </a:xfrm>
          <a:prstGeom prst="rect">
            <a:avLst/>
          </a:prstGeom>
          <a:noFill/>
          <a:ln/>
        </p:spPr>
        <p:txBody>
          <a:bodyPr wrap="square" lIns="0" tIns="0" rIns="0" bIns="0" rtlCol="0" anchor="ctr"/>
          <a:lstStyle/>
          <a:p>
            <a:pPr indent="0" marL="0">
              <a:buNone/>
            </a:pPr>
            <a:r>
              <a:rPr lang="en-US" sz="3200" b="1" dirty="0">
                <a:solidFill>
                  <a:srgbClr val="0E1C42"/>
                </a:solidFill>
                <a:latin typeface="Cambria" pitchFamily="34" charset="0"/>
                <a:ea typeface="Cambria" pitchFamily="34" charset="-122"/>
                <a:cs typeface="Cambria" pitchFamily="34" charset="-120"/>
              </a:rPr>
              <a:t>African Heritage</a:t>
            </a:r>
            <a:endParaRPr lang="en-US" sz="3200" dirty="0"/>
          </a:p>
        </p:txBody>
      </p:sp>
      <p:sp>
        <p:nvSpPr>
          <p:cNvPr id="5" name="Text 3"/>
          <p:cNvSpPr/>
          <p:nvPr/>
        </p:nvSpPr>
        <p:spPr>
          <a:xfrm>
            <a:off x="609600" y="1645920"/>
            <a:ext cx="8534400" cy="426720"/>
          </a:xfrm>
          <a:prstGeom prst="rect">
            <a:avLst/>
          </a:prstGeom>
          <a:noFill/>
          <a:ln/>
        </p:spPr>
        <p:txBody>
          <a:bodyPr wrap="square" lIns="0" tIns="0" rIns="0" bIns="0" rtlCol="0" anchor="ctr"/>
          <a:lstStyle/>
          <a:p>
            <a:pPr indent="0" marL="0">
              <a:buNone/>
            </a:pPr>
            <a:r>
              <a:rPr lang="en-US" sz="1500" i="1" dirty="0">
                <a:solidFill>
                  <a:srgbClr val="7A88A8"/>
                </a:solidFill>
                <a:latin typeface="Calibri" pitchFamily="34" charset="0"/>
                <a:ea typeface="Calibri" pitchFamily="34" charset="-122"/>
                <a:cs typeface="Calibri" pitchFamily="34" charset="-120"/>
              </a:rPr>
              <a:t>Brought to this region beginning in the 1500s</a:t>
            </a:r>
            <a:endParaRPr lang="en-US" sz="1500" dirty="0"/>
          </a:p>
        </p:txBody>
      </p:sp>
      <p:sp>
        <p:nvSpPr>
          <p:cNvPr id="6" name="Shape 4"/>
          <p:cNvSpPr/>
          <p:nvPr/>
        </p:nvSpPr>
        <p:spPr>
          <a:xfrm>
            <a:off x="7924800" y="1219200"/>
            <a:ext cx="3901440" cy="3048000"/>
          </a:xfrm>
          <a:prstGeom prst="roundRect">
            <a:avLst>
              <a:gd name="adj" fmla="val 4800"/>
            </a:avLst>
          </a:prstGeom>
          <a:solidFill>
            <a:srgbClr val="E2E8F4"/>
          </a:solidFill>
          <a:ln w="19050">
            <a:solidFill>
              <a:srgbClr val="B0B8CC"/>
            </a:solidFill>
            <a:prstDash val="dash"/>
          </a:ln>
        </p:spPr>
      </p:sp>
      <p:sp>
        <p:nvSpPr>
          <p:cNvPr id="7" name="Text 5"/>
          <p:cNvSpPr/>
          <p:nvPr/>
        </p:nvSpPr>
        <p:spPr>
          <a:xfrm>
            <a:off x="7924800" y="1219200"/>
            <a:ext cx="3901440" cy="365760"/>
          </a:xfrm>
          <a:prstGeom prst="rect">
            <a:avLst/>
          </a:prstGeom>
          <a:noFill/>
          <a:ln/>
        </p:spPr>
        <p:txBody>
          <a:bodyPr wrap="square" lIns="0" tIns="0" rIns="0" bIns="0" rtlCol="0" anchor="ctr"/>
          <a:lstStyle/>
          <a:p>
            <a:pPr algn="ctr" indent="0" marL="0">
              <a:buNone/>
            </a:pPr>
            <a:r>
              <a:rPr lang="en-US" sz="1200" b="1" spc="150" kern="0" dirty="0">
                <a:solidFill>
                  <a:srgbClr val="7A88A8"/>
                </a:solidFill>
                <a:latin typeface="Calibri" pitchFamily="34" charset="0"/>
                <a:ea typeface="Calibri" pitchFamily="34" charset="-122"/>
                <a:cs typeface="Calibri" pitchFamily="34" charset="-120"/>
              </a:rPr>
              <a:t>INSERT IMAGE</a:t>
            </a:r>
            <a:endParaRPr lang="en-US" sz="1200" dirty="0"/>
          </a:p>
        </p:txBody>
      </p:sp>
      <p:sp>
        <p:nvSpPr>
          <p:cNvPr id="8" name="Text 6"/>
          <p:cNvSpPr/>
          <p:nvPr/>
        </p:nvSpPr>
        <p:spPr>
          <a:xfrm>
            <a:off x="8107680" y="1584960"/>
            <a:ext cx="3535680" cy="2563368"/>
          </a:xfrm>
          <a:prstGeom prst="rect">
            <a:avLst/>
          </a:prstGeom>
          <a:noFill/>
          <a:ln/>
        </p:spPr>
        <p:txBody>
          <a:bodyPr wrap="square" rtlCol="0" anchor="ctr"/>
          <a:lstStyle/>
          <a:p>
            <a:pPr algn="ctr" indent="0" marL="0">
              <a:buNone/>
            </a:pPr>
            <a:r>
              <a:rPr lang="en-US" sz="1400" i="1" dirty="0">
                <a:solidFill>
                  <a:srgbClr val="7A88A8"/>
                </a:solidFill>
                <a:latin typeface="Calibri" pitchFamily="34" charset="0"/>
                <a:ea typeface="Calibri" pitchFamily="34" charset="-122"/>
                <a:cs typeface="Calibri" pitchFamily="34" charset="-120"/>
              </a:rPr>
              <a:t>Historical or artistic depiction honoring African American cultural heritage — jazz musicians, traditional instruments, or community gathering</a:t>
            </a:r>
            <a:endParaRPr lang="en-US" sz="1400" dirty="0"/>
          </a:p>
        </p:txBody>
      </p:sp>
      <p:sp>
        <p:nvSpPr>
          <p:cNvPr id="9" name="Text 7"/>
          <p:cNvSpPr/>
          <p:nvPr/>
        </p:nvSpPr>
        <p:spPr>
          <a:xfrm>
            <a:off x="609600" y="2194560"/>
            <a:ext cx="6949440" cy="3413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0E1C42"/>
                </a:solidFill>
                <a:latin typeface="Calibri" pitchFamily="34" charset="0"/>
                <a:ea typeface="Calibri" pitchFamily="34" charset="-122"/>
                <a:cs typeface="Calibri" pitchFamily="34" charset="-120"/>
              </a:rPr>
              <a:t>Most arrived against their will, taken from West and Central Africa as part of the slave trade</a:t>
            </a:r>
            <a:endParaRPr lang="en-US" sz="1600" dirty="0"/>
          </a:p>
          <a:p>
            <a:pPr marL="342900" indent="-342900">
              <a:spcAft>
                <a:spcPts val="400"/>
              </a:spcAft>
              <a:buSzPct val="100000"/>
              <a:buChar char="•"/>
            </a:pPr>
            <a:r>
              <a:rPr lang="en-US" sz="1600" b="1" dirty="0">
                <a:solidFill>
                  <a:srgbClr val="1A8A7D"/>
                </a:solidFill>
                <a:latin typeface="Calibri" pitchFamily="34" charset="0"/>
                <a:ea typeface="Calibri" pitchFamily="34" charset="-122"/>
                <a:cs typeface="Calibri" pitchFamily="34" charset="-120"/>
              </a:rPr>
              <a:t>Even under terrible conditions, they kept their cultures alive</a:t>
            </a:r>
            <a:endParaRPr lang="en-US" sz="1600" dirty="0"/>
          </a:p>
          <a:p>
            <a:pPr marL="342900" indent="-342900">
              <a:spcAft>
                <a:spcPts val="400"/>
              </a:spcAft>
              <a:buSzPct val="100000"/>
              <a:buChar char="•"/>
            </a:pPr>
            <a:r>
              <a:rPr lang="en-US" sz="1600" dirty="0">
                <a:solidFill>
                  <a:srgbClr val="0E1C42"/>
                </a:solidFill>
                <a:latin typeface="Calibri" pitchFamily="34" charset="0"/>
                <a:ea typeface="Calibri" pitchFamily="34" charset="-122"/>
                <a:cs typeface="Calibri" pitchFamily="34" charset="-120"/>
              </a:rPr>
              <a:t>Passed down music, foods, farming knowledge, and stories</a:t>
            </a:r>
            <a:endParaRPr lang="en-US" sz="1600" dirty="0"/>
          </a:p>
          <a:p>
            <a:pPr marL="342900" indent="-342900">
              <a:spcAft>
                <a:spcPts val="400"/>
              </a:spcAft>
              <a:buSzPct val="100000"/>
              <a:buChar char="•"/>
            </a:pPr>
            <a:r>
              <a:rPr lang="en-US" sz="1600" dirty="0">
                <a:solidFill>
                  <a:srgbClr val="0E1C42"/>
                </a:solidFill>
                <a:latin typeface="Calibri" pitchFamily="34" charset="0"/>
                <a:ea typeface="Calibri" pitchFamily="34" charset="-122"/>
                <a:cs typeface="Calibri" pitchFamily="34" charset="-120"/>
              </a:rPr>
              <a:t>American jazz, blues, and gospel music all grew from African musical traditions</a:t>
            </a:r>
            <a:endParaRPr lang="en-US" sz="1600" dirty="0"/>
          </a:p>
          <a:p>
            <a:pPr marL="342900" indent="-342900">
              <a:buSzPct val="100000"/>
              <a:buChar char="•"/>
            </a:pPr>
            <a:r>
              <a:rPr lang="en-US" sz="1600" b="1" dirty="0">
                <a:solidFill>
                  <a:srgbClr val="1A8A7D"/>
                </a:solidFill>
                <a:latin typeface="Calibri" pitchFamily="34" charset="0"/>
                <a:ea typeface="Calibri" pitchFamily="34" charset="-122"/>
                <a:cs typeface="Calibri" pitchFamily="34" charset="-120"/>
              </a:rPr>
              <a:t>African American culture is a deep part of life across the U.S. and the Caribbean today</a:t>
            </a:r>
            <a:endParaRPr lang="en-US" sz="1600" dirty="0"/>
          </a:p>
        </p:txBody>
      </p:sp>
      <p:sp>
        <p:nvSpPr>
          <p:cNvPr id="10" name="Shape 8"/>
          <p:cNvSpPr/>
          <p:nvPr/>
        </p:nvSpPr>
        <p:spPr>
          <a:xfrm>
            <a:off x="609600" y="5852160"/>
            <a:ext cx="10972800" cy="1219200"/>
          </a:xfrm>
          <a:prstGeom prst="roundRect">
            <a:avLst>
              <a:gd name="adj" fmla="val 15000"/>
            </a:avLst>
          </a:prstGeom>
          <a:solidFill>
            <a:srgbClr val="1A2D5A"/>
          </a:solidFill>
          <a:ln/>
          <a:effectLst>
            <a:outerShdw sx="100000" sy="100000" kx="0" ky="0" algn="bl" rotWithShape="0" blurRad="101600" dist="38100" dir="8100000">
              <a:srgbClr val="000000">
                <a:alpha val="20000"/>
              </a:srgbClr>
            </a:outerShdw>
          </a:effectLst>
        </p:spPr>
      </p:sp>
      <p:sp>
        <p:nvSpPr>
          <p:cNvPr id="11" name="Text 9"/>
          <p:cNvSpPr/>
          <p:nvPr/>
        </p:nvSpPr>
        <p:spPr>
          <a:xfrm>
            <a:off x="856488" y="5971032"/>
            <a:ext cx="10488168" cy="338328"/>
          </a:xfrm>
          <a:prstGeom prst="rect">
            <a:avLst/>
          </a:prstGeom>
          <a:noFill/>
          <a:ln/>
        </p:spPr>
        <p:txBody>
          <a:bodyPr wrap="square" lIns="0" tIns="0" rIns="0" bIns="0" rtlCol="0" anchor="ctr"/>
          <a:lstStyle/>
          <a:p>
            <a:pPr indent="0" marL="0">
              <a:buNone/>
            </a:pPr>
            <a:r>
              <a:rPr lang="en-US" sz="1200" b="1" spc="150" kern="0" dirty="0">
                <a:solidFill>
                  <a:srgbClr val="55C8E8"/>
                </a:solidFill>
                <a:latin typeface="Calibri" pitchFamily="34" charset="0"/>
                <a:ea typeface="Calibri" pitchFamily="34" charset="-122"/>
                <a:cs typeface="Calibri" pitchFamily="34" charset="-120"/>
              </a:rPr>
              <a:t>SOCRATIC QUESTIONS</a:t>
            </a:r>
            <a:endParaRPr lang="en-US" sz="1200" dirty="0"/>
          </a:p>
        </p:txBody>
      </p:sp>
      <p:sp>
        <p:nvSpPr>
          <p:cNvPr id="12" name="Text 10"/>
          <p:cNvSpPr/>
          <p:nvPr/>
        </p:nvSpPr>
        <p:spPr>
          <a:xfrm>
            <a:off x="856488" y="6318504"/>
            <a:ext cx="10488168" cy="633984"/>
          </a:xfrm>
          <a:prstGeom prst="rect">
            <a:avLst/>
          </a:prstGeom>
          <a:noFill/>
          <a:ln/>
        </p:spPr>
        <p:txBody>
          <a:bodyPr wrap="square" lIns="0" tIns="0" rIns="0" bIns="0" rtlCol="0" anchor="t"/>
          <a:lstStyle/>
          <a:p>
            <a:pPr marL="342900" indent="-342900">
              <a:spcAft>
                <a:spcPts val="500"/>
              </a:spcAft>
              <a:buSzPct val="100000"/>
              <a:buChar char="•"/>
            </a:pPr>
            <a:r>
              <a:rPr lang="en-US" sz="1400" i="1" dirty="0">
                <a:solidFill>
                  <a:srgbClr val="FFFFFF"/>
                </a:solidFill>
                <a:latin typeface="Calibri" pitchFamily="34" charset="0"/>
                <a:ea typeface="Calibri" pitchFamily="34" charset="-122"/>
                <a:cs typeface="Calibri" pitchFamily="34" charset="-120"/>
              </a:rPr>
              <a:t>How did African peoples keep their cultures alive even under terrible conditions?</a:t>
            </a:r>
            <a:endParaRPr lang="en-US" sz="1400" dirty="0"/>
          </a:p>
          <a:p>
            <a:pPr marL="342900" indent="-342900">
              <a:spcAft>
                <a:spcPts val="500"/>
              </a:spcAft>
              <a:buSzPct val="100000"/>
              <a:buChar char="•"/>
            </a:pPr>
            <a:r>
              <a:rPr lang="en-US" sz="1400" i="1" dirty="0">
                <a:solidFill>
                  <a:srgbClr val="FFFFFF"/>
                </a:solidFill>
                <a:latin typeface="Calibri" pitchFamily="34" charset="0"/>
                <a:ea typeface="Calibri" pitchFamily="34" charset="-122"/>
                <a:cs typeface="Calibri" pitchFamily="34" charset="-120"/>
              </a:rPr>
              <a:t>What kinds of music today grew from African musical traditions?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Text 1"/>
          <p:cNvSpPr/>
          <p:nvPr/>
        </p:nvSpPr>
        <p:spPr>
          <a:xfrm>
            <a:off x="609600" y="487680"/>
            <a:ext cx="6096000" cy="426720"/>
          </a:xfrm>
          <a:prstGeom prst="rect">
            <a:avLst/>
          </a:prstGeom>
          <a:noFill/>
          <a:ln/>
        </p:spPr>
        <p:txBody>
          <a:bodyPr wrap="square" lIns="0" tIns="0" rIns="0" bIns="0" rtlCol="0" anchor="ctr"/>
          <a:lstStyle/>
          <a:p>
            <a:pPr indent="0" marL="0">
              <a:buNone/>
            </a:pPr>
            <a:r>
              <a:rPr lang="en-US" sz="1300" b="1" spc="200" kern="0" dirty="0">
                <a:solidFill>
                  <a:srgbClr val="1A8A7D"/>
                </a:solidFill>
                <a:latin typeface="Calibri" pitchFamily="34" charset="0"/>
                <a:ea typeface="Calibri" pitchFamily="34" charset="-122"/>
                <a:cs typeface="Calibri" pitchFamily="34" charset="-120"/>
              </a:rPr>
              <a:t>SOURCE MAP</a:t>
            </a:r>
            <a:endParaRPr lang="en-US" sz="1300" dirty="0"/>
          </a:p>
        </p:txBody>
      </p:sp>
      <p:sp>
        <p:nvSpPr>
          <p:cNvPr id="4" name="Text 2"/>
          <p:cNvSpPr/>
          <p:nvPr/>
        </p:nvSpPr>
        <p:spPr>
          <a:xfrm>
            <a:off x="609600" y="975360"/>
            <a:ext cx="8534400" cy="731520"/>
          </a:xfrm>
          <a:prstGeom prst="rect">
            <a:avLst/>
          </a:prstGeom>
          <a:noFill/>
          <a:ln/>
        </p:spPr>
        <p:txBody>
          <a:bodyPr wrap="square" lIns="0" tIns="0" rIns="0" bIns="0" rtlCol="0" anchor="ctr"/>
          <a:lstStyle/>
          <a:p>
            <a:pPr indent="0" marL="0">
              <a:buNone/>
            </a:pPr>
            <a:r>
              <a:rPr lang="en-US" sz="3000" b="1" dirty="0">
                <a:solidFill>
                  <a:srgbClr val="0E1C42"/>
                </a:solidFill>
                <a:latin typeface="Cambria" pitchFamily="34" charset="0"/>
                <a:ea typeface="Cambria" pitchFamily="34" charset="-122"/>
                <a:cs typeface="Cambria" pitchFamily="34" charset="-120"/>
              </a:rPr>
              <a:t>Where Each Culture Settled</a:t>
            </a:r>
            <a:endParaRPr lang="en-US" sz="3000" dirty="0"/>
          </a:p>
        </p:txBody>
      </p:sp>
      <p:sp>
        <p:nvSpPr>
          <p:cNvPr id="5" name="Shape 3"/>
          <p:cNvSpPr/>
          <p:nvPr/>
        </p:nvSpPr>
        <p:spPr>
          <a:xfrm>
            <a:off x="609600" y="1950720"/>
            <a:ext cx="6705600" cy="3657600"/>
          </a:xfrm>
          <a:prstGeom prst="roundRect">
            <a:avLst>
              <a:gd name="adj" fmla="val 4000"/>
            </a:avLst>
          </a:prstGeom>
          <a:solidFill>
            <a:srgbClr val="E2E8F4"/>
          </a:solidFill>
          <a:ln w="19050">
            <a:solidFill>
              <a:srgbClr val="B0B8CC"/>
            </a:solidFill>
            <a:prstDash val="dash"/>
          </a:ln>
        </p:spPr>
      </p:sp>
      <p:sp>
        <p:nvSpPr>
          <p:cNvPr id="6" name="Text 4"/>
          <p:cNvSpPr/>
          <p:nvPr/>
        </p:nvSpPr>
        <p:spPr>
          <a:xfrm>
            <a:off x="609600" y="1950720"/>
            <a:ext cx="6705600" cy="365760"/>
          </a:xfrm>
          <a:prstGeom prst="rect">
            <a:avLst/>
          </a:prstGeom>
          <a:noFill/>
          <a:ln/>
        </p:spPr>
        <p:txBody>
          <a:bodyPr wrap="square" lIns="0" tIns="0" rIns="0" bIns="0" rtlCol="0" anchor="ctr"/>
          <a:lstStyle/>
          <a:p>
            <a:pPr algn="ctr" indent="0" marL="0">
              <a:buNone/>
            </a:pPr>
            <a:r>
              <a:rPr lang="en-US" sz="1200" b="1" spc="150" kern="0" dirty="0">
                <a:solidFill>
                  <a:srgbClr val="7A88A8"/>
                </a:solidFill>
                <a:latin typeface="Calibri" pitchFamily="34" charset="0"/>
                <a:ea typeface="Calibri" pitchFamily="34" charset="-122"/>
                <a:cs typeface="Calibri" pitchFamily="34" charset="-120"/>
              </a:rPr>
              <a:t>INSERT IMAGE</a:t>
            </a:r>
            <a:endParaRPr lang="en-US" sz="1200" dirty="0"/>
          </a:p>
        </p:txBody>
      </p:sp>
      <p:sp>
        <p:nvSpPr>
          <p:cNvPr id="7" name="Text 5"/>
          <p:cNvSpPr/>
          <p:nvPr/>
        </p:nvSpPr>
        <p:spPr>
          <a:xfrm>
            <a:off x="792480" y="2316480"/>
            <a:ext cx="6339840" cy="3172968"/>
          </a:xfrm>
          <a:prstGeom prst="rect">
            <a:avLst/>
          </a:prstGeom>
          <a:noFill/>
          <a:ln/>
        </p:spPr>
        <p:txBody>
          <a:bodyPr wrap="square" rtlCol="0" anchor="ctr"/>
          <a:lstStyle/>
          <a:p>
            <a:pPr algn="ctr" indent="0" marL="0">
              <a:buNone/>
            </a:pPr>
            <a:r>
              <a:rPr lang="en-US" sz="1400" i="1" dirty="0">
                <a:solidFill>
                  <a:srgbClr val="7A88A8"/>
                </a:solidFill>
                <a:latin typeface="Calibri" pitchFamily="34" charset="0"/>
                <a:ea typeface="Calibri" pitchFamily="34" charset="-122"/>
                <a:cs typeface="Calibri" pitchFamily="34" charset="-120"/>
              </a:rPr>
              <a:t>Cultural settlement map of North America and the Caribbean showing Indigenous nation territories (Haudenosaunee in Northeast, Maya in southern Mexico/Central America) and colonial settlement regions (Spanish, French, English) — Library of Congress, Smithsonian, or Wikimedia Commons public domain</a:t>
            </a:r>
            <a:endParaRPr lang="en-US" sz="1400" dirty="0"/>
          </a:p>
        </p:txBody>
      </p:sp>
      <p:sp>
        <p:nvSpPr>
          <p:cNvPr id="8" name="Text 6"/>
          <p:cNvSpPr/>
          <p:nvPr/>
        </p:nvSpPr>
        <p:spPr>
          <a:xfrm>
            <a:off x="7924800" y="1950720"/>
            <a:ext cx="3901440" cy="426720"/>
          </a:xfrm>
          <a:prstGeom prst="rect">
            <a:avLst/>
          </a:prstGeom>
          <a:noFill/>
          <a:ln/>
        </p:spPr>
        <p:txBody>
          <a:bodyPr wrap="square" lIns="0" tIns="0" rIns="0" bIns="0" rtlCol="0" anchor="ctr"/>
          <a:lstStyle/>
          <a:p>
            <a:pPr indent="0" marL="0">
              <a:buNone/>
            </a:pPr>
            <a:r>
              <a:rPr lang="en-US" sz="1300" b="1" spc="150" kern="0" dirty="0">
                <a:solidFill>
                  <a:srgbClr val="1A8A7D"/>
                </a:solidFill>
                <a:latin typeface="Calibri" pitchFamily="34" charset="0"/>
                <a:ea typeface="Calibri" pitchFamily="34" charset="-122"/>
                <a:cs typeface="Calibri" pitchFamily="34" charset="-120"/>
              </a:rPr>
              <a:t>ANALYZE THE MAP</a:t>
            </a:r>
            <a:endParaRPr lang="en-US" sz="1300" dirty="0"/>
          </a:p>
        </p:txBody>
      </p:sp>
      <p:sp>
        <p:nvSpPr>
          <p:cNvPr id="9" name="Text 7"/>
          <p:cNvSpPr/>
          <p:nvPr/>
        </p:nvSpPr>
        <p:spPr>
          <a:xfrm>
            <a:off x="7924800" y="2560320"/>
            <a:ext cx="3901440" cy="3413760"/>
          </a:xfrm>
          <a:prstGeom prst="rect">
            <a:avLst/>
          </a:prstGeom>
          <a:noFill/>
          <a:ln/>
        </p:spPr>
        <p:txBody>
          <a:bodyPr wrap="square" lIns="0" tIns="0" rIns="0" bIns="0" rtlCol="0" anchor="t"/>
          <a:lstStyle/>
          <a:p>
            <a:pPr indent="0" marL="0">
              <a:spcAft>
                <a:spcPts val="200"/>
              </a:spcAft>
              <a:buNone/>
            </a:pPr>
            <a:r>
              <a:rPr lang="en-US" sz="1500" b="1" dirty="0">
                <a:solidFill>
                  <a:srgbClr val="0E1C42"/>
                </a:solidFill>
                <a:latin typeface="Calibri" pitchFamily="34" charset="0"/>
                <a:ea typeface="Calibri" pitchFamily="34" charset="-122"/>
                <a:cs typeface="Calibri" pitchFamily="34" charset="-120"/>
              </a:rPr>
              <a:t>What do I see?</a:t>
            </a:r>
            <a:endParaRPr lang="en-US" sz="1500" dirty="0"/>
          </a:p>
          <a:p>
            <a:pPr indent="0" marL="0">
              <a:spcAft>
                <a:spcPts val="800"/>
              </a:spcAft>
              <a:buNone/>
            </a:pPr>
            <a:r>
              <a:rPr lang="en-US" sz="1400" dirty="0">
                <a:solidFill>
                  <a:srgbClr val="0E1C42"/>
                </a:solidFill>
                <a:latin typeface="Calibri" pitchFamily="34" charset="0"/>
                <a:ea typeface="Calibri" pitchFamily="34" charset="-122"/>
                <a:cs typeface="Calibri" pitchFamily="34" charset="-120"/>
              </a:rPr>
              <a:t>How many cultural regions can you spot? Which nations are in the Northeast? In Mexico?</a:t>
            </a:r>
            <a:endParaRPr lang="en-US" sz="1500" dirty="0"/>
          </a:p>
          <a:p>
            <a:pPr indent="0" marL="0">
              <a:spcAft>
                <a:spcPts val="200"/>
              </a:spcAft>
              <a:buNone/>
            </a:pPr>
            <a:r>
              <a:rPr lang="en-US" sz="1500" b="1" dirty="0">
                <a:solidFill>
                  <a:srgbClr val="0E1C42"/>
                </a:solidFill>
                <a:latin typeface="Calibri" pitchFamily="34" charset="0"/>
                <a:ea typeface="Calibri" pitchFamily="34" charset="-122"/>
                <a:cs typeface="Calibri" pitchFamily="34" charset="-120"/>
              </a:rPr>
              <a:t>What does it mean?</a:t>
            </a:r>
            <a:endParaRPr lang="en-US" sz="1500" dirty="0"/>
          </a:p>
          <a:p>
            <a:pPr indent="0" marL="0">
              <a:spcAft>
                <a:spcPts val="800"/>
              </a:spcAft>
              <a:buNone/>
            </a:pPr>
            <a:r>
              <a:rPr lang="en-US" sz="1400" dirty="0">
                <a:solidFill>
                  <a:srgbClr val="0E1C42"/>
                </a:solidFill>
                <a:latin typeface="Calibri" pitchFamily="34" charset="0"/>
                <a:ea typeface="Calibri" pitchFamily="34" charset="-122"/>
                <a:cs typeface="Calibri" pitchFamily="34" charset="-120"/>
              </a:rPr>
              <a:t>Indigenous peoples were here for thousands of years before European settlers. Many are still here today.</a:t>
            </a:r>
            <a:endParaRPr lang="en-US" sz="1500" dirty="0"/>
          </a:p>
          <a:p>
            <a:pPr indent="0" marL="0">
              <a:spcAft>
                <a:spcPts val="200"/>
              </a:spcAft>
              <a:buNone/>
            </a:pPr>
            <a:r>
              <a:rPr lang="en-US" sz="1500" b="1" dirty="0">
                <a:solidFill>
                  <a:srgbClr val="0E1C42"/>
                </a:solidFill>
                <a:latin typeface="Calibri" pitchFamily="34" charset="0"/>
                <a:ea typeface="Calibri" pitchFamily="34" charset="-122"/>
                <a:cs typeface="Calibri" pitchFamily="34" charset="-120"/>
              </a:rPr>
              <a:t>Why does it matter?</a:t>
            </a:r>
            <a:endParaRPr lang="en-US" sz="1500" dirty="0"/>
          </a:p>
          <a:p>
            <a:pPr indent="0" marL="0">
              <a:buNone/>
            </a:pPr>
            <a:r>
              <a:rPr lang="en-US" sz="1400" dirty="0">
                <a:solidFill>
                  <a:srgbClr val="0E1C42"/>
                </a:solidFill>
                <a:latin typeface="Calibri" pitchFamily="34" charset="0"/>
                <a:ea typeface="Calibri" pitchFamily="34" charset="-122"/>
                <a:cs typeface="Calibri" pitchFamily="34" charset="-120"/>
              </a:rPr>
              <a:t>Curators show both who was here first and who came later. Why is it important to do both?</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Text 1"/>
          <p:cNvSpPr/>
          <p:nvPr/>
        </p:nvSpPr>
        <p:spPr>
          <a:xfrm>
            <a:off x="609600" y="487680"/>
            <a:ext cx="6096000" cy="426720"/>
          </a:xfrm>
          <a:prstGeom prst="rect">
            <a:avLst/>
          </a:prstGeom>
          <a:noFill/>
          <a:ln/>
        </p:spPr>
        <p:txBody>
          <a:bodyPr wrap="square" lIns="0" tIns="0" rIns="0" bIns="0" rtlCol="0" anchor="ctr"/>
          <a:lstStyle/>
          <a:p>
            <a:pPr indent="0" marL="0">
              <a:buNone/>
            </a:pPr>
            <a:r>
              <a:rPr lang="en-US" sz="1300" b="1" spc="200" kern="0" dirty="0">
                <a:solidFill>
                  <a:srgbClr val="E8636B"/>
                </a:solidFill>
                <a:latin typeface="Calibri" pitchFamily="34" charset="0"/>
                <a:ea typeface="Calibri" pitchFamily="34" charset="-122"/>
                <a:cs typeface="Calibri" pitchFamily="34" charset="-120"/>
              </a:rPr>
              <a:t>STUDENT ACTIVITY</a:t>
            </a:r>
            <a:endParaRPr lang="en-US" sz="1300" dirty="0"/>
          </a:p>
        </p:txBody>
      </p:sp>
      <p:sp>
        <p:nvSpPr>
          <p:cNvPr id="4" name="Text 2"/>
          <p:cNvSpPr/>
          <p:nvPr/>
        </p:nvSpPr>
        <p:spPr>
          <a:xfrm>
            <a:off x="609600" y="975360"/>
            <a:ext cx="10972800" cy="73152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Match the Contribution to the Culture</a:t>
            </a:r>
            <a:endParaRPr lang="en-US" sz="2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09600" y="1950720"/>
          <a:ext cx="10972800" cy="914400"/>
        </p:xfrm>
        <a:graphic>
          <a:graphicData uri="http://schemas.openxmlformats.org/drawingml/2006/table">
            <a:tbl>
              <a:tblPr/>
              <a:tblGrid>
                <a:gridCol w="6705600"/>
                <a:gridCol w="4267200"/>
              </a:tblGrid>
              <a:tr h="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Contribution</a:t>
                      </a:r>
                      <a:endParaRPr lang="en-US" sz="1400" dirty="0">
                        <a:latin typeface="Calibri" charset="0"/>
                        <a:ea typeface="Calibri" charset="0"/>
                        <a:cs typeface="Calibri" charset="0"/>
                      </a:endParaRPr>
                    </a:p>
                  </a:txBody>
                  <a:tcPr marL="76200" marR="76200" marT="50800" marB="50800">
                    <a:lnL w="6350" cap="flat" cmpd="sng" algn="ctr">
                      <a:solidFill>
                        <a:srgbClr val="D0D4DC"/>
                      </a:solidFill>
                      <a:prstDash val="solid"/>
                      <a:round/>
                      <a:headEnd type="none" w="med" len="med"/>
                      <a:tailEnd type="none" w="med" len="med"/>
                    </a:lnL>
                    <a:lnR w="6350" cap="flat" cmpd="sng" algn="ctr">
                      <a:solidFill>
                        <a:srgbClr val="D0D4DC"/>
                      </a:solidFill>
                      <a:prstDash val="solid"/>
                      <a:round/>
                      <a:headEnd type="none" w="med" len="med"/>
                      <a:tailEnd type="none" w="med" len="med"/>
                    </a:lnR>
                    <a:lnT w="6350" cap="flat" cmpd="sng" algn="ctr">
                      <a:solidFill>
                        <a:srgbClr val="D0D4DC"/>
                      </a:solidFill>
                      <a:prstDash val="solid"/>
                      <a:round/>
                      <a:headEnd type="none" w="med" len="med"/>
                      <a:tailEnd type="none" w="med" len="med"/>
                    </a:lnT>
                    <a:lnB w="6350" cap="flat" cmpd="sng" algn="ctr">
                      <a:solidFill>
                        <a:srgbClr val="D0D4DC"/>
                      </a:solidFill>
                      <a:prstDash val="solid"/>
                      <a:round/>
                      <a:headEnd type="none" w="med" len="med"/>
                      <a:tailEnd type="none" w="med" len="med"/>
                    </a:lnB>
                    <a:solidFill>
                      <a:srgbClr val="0E1C42"/>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Culture</a:t>
                      </a:r>
                      <a:endParaRPr lang="en-US" sz="1400" dirty="0">
                        <a:latin typeface="Calibri" charset="0"/>
                        <a:ea typeface="Calibri" charset="0"/>
                        <a:cs typeface="Calibri" charset="0"/>
                      </a:endParaRPr>
                    </a:p>
                  </a:txBody>
                  <a:tcPr marL="76200" marR="76200" marT="50800" marB="50800">
                    <a:lnL w="6350" cap="flat" cmpd="sng" algn="ctr">
                      <a:solidFill>
                        <a:srgbClr val="D0D4DC"/>
                      </a:solidFill>
                      <a:prstDash val="solid"/>
                      <a:round/>
                      <a:headEnd type="none" w="med" len="med"/>
                      <a:tailEnd type="none" w="med" len="med"/>
                    </a:lnL>
                    <a:lnR w="6350" cap="flat" cmpd="sng" algn="ctr">
                      <a:solidFill>
                        <a:srgbClr val="D0D4DC"/>
                      </a:solidFill>
                      <a:prstDash val="solid"/>
                      <a:round/>
                      <a:headEnd type="none" w="med" len="med"/>
                      <a:tailEnd type="none" w="med" len="med"/>
                    </a:lnR>
                    <a:lnT w="6350" cap="flat" cmpd="sng" algn="ctr">
                      <a:solidFill>
                        <a:srgbClr val="D0D4DC"/>
                      </a:solidFill>
                      <a:prstDash val="solid"/>
                      <a:round/>
                      <a:headEnd type="none" w="med" len="med"/>
                      <a:tailEnd type="none" w="med" len="med"/>
                    </a:lnT>
                    <a:lnB w="6350" cap="flat" cmpd="sng" algn="ctr">
                      <a:solidFill>
                        <a:srgbClr val="D0D4DC"/>
                      </a:solidFill>
                      <a:prstDash val="solid"/>
                      <a:round/>
                      <a:headEnd type="none" w="med" len="med"/>
                      <a:tailEnd type="none" w="med" len="med"/>
                    </a:lnB>
                    <a:solidFill>
                      <a:srgbClr val="0E1C42"/>
                    </a:solidFill>
                  </a:tcPr>
                </a:tc>
              </a:tr>
              <a:tr h="0">
                <a:tc>
                  <a:txBody>
                    <a:bodyPr/>
                    <a:lstStyle/>
                    <a:p>
                      <a:pPr indent="0" marL="0">
                        <a:buNone/>
                      </a:pPr>
                      <a:r>
                        <a:rPr lang="en-US" sz="1500" dirty="0">
                          <a:solidFill>
                            <a:srgbClr val="0E1C42"/>
                          </a:solidFill>
                          <a:latin typeface="Calibri" pitchFamily="34" charset="0"/>
                          <a:ea typeface="Calibri" pitchFamily="34" charset="-122"/>
                          <a:cs typeface="Calibri" pitchFamily="34" charset="-120"/>
                        </a:rPr>
                        <a:t>Chocolate (cacao)</a:t>
                      </a:r>
                      <a:endParaRPr lang="en-US" sz="1500" dirty="0">
                        <a:latin typeface="Calibri" charset="0"/>
                        <a:ea typeface="Calibri" charset="0"/>
                        <a:cs typeface="Calibri" charset="0"/>
                      </a:endParaRPr>
                    </a:p>
                  </a:txBody>
                  <a:tcPr marL="76200" marR="76200" marT="50800" marB="50800">
                    <a:lnL w="6350" cap="flat" cmpd="sng" algn="ctr">
                      <a:solidFill>
                        <a:srgbClr val="D0D4DC"/>
                      </a:solidFill>
                      <a:prstDash val="solid"/>
                      <a:round/>
                      <a:headEnd type="none" w="med" len="med"/>
                      <a:tailEnd type="none" w="med" len="med"/>
                    </a:lnL>
                    <a:lnR w="6350" cap="flat" cmpd="sng" algn="ctr">
                      <a:solidFill>
                        <a:srgbClr val="D0D4DC"/>
                      </a:solidFill>
                      <a:prstDash val="solid"/>
                      <a:round/>
                      <a:headEnd type="none" w="med" len="med"/>
                      <a:tailEnd type="none" w="med" len="med"/>
                    </a:lnR>
                    <a:lnT w="6350" cap="flat" cmpd="sng" algn="ctr">
                      <a:solidFill>
                        <a:srgbClr val="D0D4DC"/>
                      </a:solidFill>
                      <a:prstDash val="solid"/>
                      <a:round/>
                      <a:headEnd type="none" w="med" len="med"/>
                      <a:tailEnd type="none" w="med" len="med"/>
                    </a:lnT>
                    <a:lnB w="6350" cap="flat" cmpd="sng" algn="ctr">
                      <a:solidFill>
                        <a:srgbClr val="D0D4DC"/>
                      </a:solidFill>
                      <a:prstDash val="solid"/>
                      <a:round/>
                      <a:headEnd type="none" w="med" len="med"/>
                      <a:tailEnd type="none" w="med" len="med"/>
                    </a:lnB>
                    <a:solidFill>
                      <a:srgbClr val="FFFFFF"/>
                    </a:solidFill>
                  </a:tcPr>
                </a:tc>
                <a:tc>
                  <a:txBody>
                    <a:bodyPr/>
                    <a:lstStyle/>
                    <a:p>
                      <a:pPr indent="0" marL="0">
                        <a:buNone/>
                      </a:pPr>
                      <a:r>
                        <a:rPr lang="en-US" sz="1500" b="1" dirty="0">
                          <a:solidFill>
                            <a:srgbClr val="1A8A7D"/>
                          </a:solidFill>
                          <a:latin typeface="Calibri" pitchFamily="34" charset="0"/>
                          <a:ea typeface="Calibri" pitchFamily="34" charset="-122"/>
                          <a:cs typeface="Calibri" pitchFamily="34" charset="-120"/>
                        </a:rPr>
                        <a:t>Maya</a:t>
                      </a:r>
                      <a:endParaRPr lang="en-US" sz="1500" dirty="0">
                        <a:latin typeface="Calibri" charset="0"/>
                        <a:ea typeface="Calibri" charset="0"/>
                        <a:cs typeface="Calibri" charset="0"/>
                      </a:endParaRPr>
                    </a:p>
                  </a:txBody>
                  <a:tcPr marL="76200" marR="76200" marT="50800" marB="50800">
                    <a:lnL w="6350" cap="flat" cmpd="sng" algn="ctr">
                      <a:solidFill>
                        <a:srgbClr val="D0D4DC"/>
                      </a:solidFill>
                      <a:prstDash val="solid"/>
                      <a:round/>
                      <a:headEnd type="none" w="med" len="med"/>
                      <a:tailEnd type="none" w="med" len="med"/>
                    </a:lnL>
                    <a:lnR w="6350" cap="flat" cmpd="sng" algn="ctr">
                      <a:solidFill>
                        <a:srgbClr val="D0D4DC"/>
                      </a:solidFill>
                      <a:prstDash val="solid"/>
                      <a:round/>
                      <a:headEnd type="none" w="med" len="med"/>
                      <a:tailEnd type="none" w="med" len="med"/>
                    </a:lnR>
                    <a:lnT w="6350" cap="flat" cmpd="sng" algn="ctr">
                      <a:solidFill>
                        <a:srgbClr val="D0D4DC"/>
                      </a:solidFill>
                      <a:prstDash val="solid"/>
                      <a:round/>
                      <a:headEnd type="none" w="med" len="med"/>
                      <a:tailEnd type="none" w="med" len="med"/>
                    </a:lnT>
                    <a:lnB w="6350" cap="flat" cmpd="sng" algn="ctr">
                      <a:solidFill>
                        <a:srgbClr val="D0D4DC"/>
                      </a:solidFill>
                      <a:prstDash val="solid"/>
                      <a:round/>
                      <a:headEnd type="none" w="med" len="med"/>
                      <a:tailEnd type="none" w="med" len="med"/>
                    </a:lnB>
                    <a:solidFill>
                      <a:srgbClr val="FFFFFF"/>
                    </a:solidFill>
                  </a:tcPr>
                </a:tc>
              </a:tr>
              <a:tr h="0">
                <a:tc>
                  <a:txBody>
                    <a:bodyPr/>
                    <a:lstStyle/>
                    <a:p>
                      <a:pPr indent="0" marL="0">
                        <a:buNone/>
                      </a:pPr>
                      <a:r>
                        <a:rPr lang="en-US" sz="1500" dirty="0">
                          <a:solidFill>
                            <a:srgbClr val="0E1C42"/>
                          </a:solidFill>
                          <a:latin typeface="Calibri" pitchFamily="34" charset="0"/>
                          <a:ea typeface="Calibri" pitchFamily="34" charset="-122"/>
                          <a:cs typeface="Calibri" pitchFamily="34" charset="-120"/>
                        </a:rPr>
                        <a:t>The Three Sisters farming</a:t>
                      </a:r>
                      <a:endParaRPr lang="en-US" sz="1500" dirty="0">
                        <a:latin typeface="Calibri" charset="0"/>
                        <a:ea typeface="Calibri" charset="0"/>
                        <a:cs typeface="Calibri" charset="0"/>
                      </a:endParaRPr>
                    </a:p>
                  </a:txBody>
                  <a:tcPr marL="76200" marR="76200" marT="50800" marB="50800">
                    <a:lnL w="6350" cap="flat" cmpd="sng" algn="ctr">
                      <a:solidFill>
                        <a:srgbClr val="D0D4DC"/>
                      </a:solidFill>
                      <a:prstDash val="solid"/>
                      <a:round/>
                      <a:headEnd type="none" w="med" len="med"/>
                      <a:tailEnd type="none" w="med" len="med"/>
                    </a:lnL>
                    <a:lnR w="6350" cap="flat" cmpd="sng" algn="ctr">
                      <a:solidFill>
                        <a:srgbClr val="D0D4DC"/>
                      </a:solidFill>
                      <a:prstDash val="solid"/>
                      <a:round/>
                      <a:headEnd type="none" w="med" len="med"/>
                      <a:tailEnd type="none" w="med" len="med"/>
                    </a:lnR>
                    <a:lnT w="6350" cap="flat" cmpd="sng" algn="ctr">
                      <a:solidFill>
                        <a:srgbClr val="D0D4DC"/>
                      </a:solidFill>
                      <a:prstDash val="solid"/>
                      <a:round/>
                      <a:headEnd type="none" w="med" len="med"/>
                      <a:tailEnd type="none" w="med" len="med"/>
                    </a:lnT>
                    <a:lnB w="6350" cap="flat" cmpd="sng" algn="ctr">
                      <a:solidFill>
                        <a:srgbClr val="D0D4DC"/>
                      </a:solidFill>
                      <a:prstDash val="solid"/>
                      <a:round/>
                      <a:headEnd type="none" w="med" len="med"/>
                      <a:tailEnd type="none" w="med" len="med"/>
                    </a:lnB>
                    <a:solidFill>
                      <a:srgbClr val="F0F2F8"/>
                    </a:solidFill>
                  </a:tcPr>
                </a:tc>
                <a:tc>
                  <a:txBody>
                    <a:bodyPr/>
                    <a:lstStyle/>
                    <a:p>
                      <a:pPr indent="0" marL="0">
                        <a:buNone/>
                      </a:pPr>
                      <a:r>
                        <a:rPr lang="en-US" sz="1500" b="1" dirty="0">
                          <a:solidFill>
                            <a:srgbClr val="1A8A7D"/>
                          </a:solidFill>
                          <a:latin typeface="Calibri" pitchFamily="34" charset="0"/>
                          <a:ea typeface="Calibri" pitchFamily="34" charset="-122"/>
                          <a:cs typeface="Calibri" pitchFamily="34" charset="-120"/>
                        </a:rPr>
                        <a:t>Haudenosaunee</a:t>
                      </a:r>
                      <a:endParaRPr lang="en-US" sz="1500" dirty="0">
                        <a:latin typeface="Calibri" charset="0"/>
                        <a:ea typeface="Calibri" charset="0"/>
                        <a:cs typeface="Calibri" charset="0"/>
                      </a:endParaRPr>
                    </a:p>
                  </a:txBody>
                  <a:tcPr marL="76200" marR="76200" marT="50800" marB="50800">
                    <a:lnL w="6350" cap="flat" cmpd="sng" algn="ctr">
                      <a:solidFill>
                        <a:srgbClr val="D0D4DC"/>
                      </a:solidFill>
                      <a:prstDash val="solid"/>
                      <a:round/>
                      <a:headEnd type="none" w="med" len="med"/>
                      <a:tailEnd type="none" w="med" len="med"/>
                    </a:lnL>
                    <a:lnR w="6350" cap="flat" cmpd="sng" algn="ctr">
                      <a:solidFill>
                        <a:srgbClr val="D0D4DC"/>
                      </a:solidFill>
                      <a:prstDash val="solid"/>
                      <a:round/>
                      <a:headEnd type="none" w="med" len="med"/>
                      <a:tailEnd type="none" w="med" len="med"/>
                    </a:lnR>
                    <a:lnT w="6350" cap="flat" cmpd="sng" algn="ctr">
                      <a:solidFill>
                        <a:srgbClr val="D0D4DC"/>
                      </a:solidFill>
                      <a:prstDash val="solid"/>
                      <a:round/>
                      <a:headEnd type="none" w="med" len="med"/>
                      <a:tailEnd type="none" w="med" len="med"/>
                    </a:lnT>
                    <a:lnB w="6350" cap="flat" cmpd="sng" algn="ctr">
                      <a:solidFill>
                        <a:srgbClr val="D0D4DC"/>
                      </a:solidFill>
                      <a:prstDash val="solid"/>
                      <a:round/>
                      <a:headEnd type="none" w="med" len="med"/>
                      <a:tailEnd type="none" w="med" len="med"/>
                    </a:lnB>
                    <a:solidFill>
                      <a:srgbClr val="F0F2F8"/>
                    </a:solidFill>
                  </a:tcPr>
                </a:tc>
              </a:tr>
              <a:tr h="0">
                <a:tc>
                  <a:txBody>
                    <a:bodyPr/>
                    <a:lstStyle/>
                    <a:p>
                      <a:pPr indent="0" marL="0">
                        <a:buNone/>
                      </a:pPr>
                      <a:r>
                        <a:rPr lang="en-US" sz="1500" dirty="0">
                          <a:solidFill>
                            <a:srgbClr val="0E1C42"/>
                          </a:solidFill>
                          <a:latin typeface="Calibri" pitchFamily="34" charset="0"/>
                          <a:ea typeface="Calibri" pitchFamily="34" charset="-122"/>
                          <a:cs typeface="Calibri" pitchFamily="34" charset="-120"/>
                        </a:rPr>
                        <a:t>Mission churches</a:t>
                      </a:r>
                      <a:endParaRPr lang="en-US" sz="1500" dirty="0">
                        <a:latin typeface="Calibri" charset="0"/>
                        <a:ea typeface="Calibri" charset="0"/>
                        <a:cs typeface="Calibri" charset="0"/>
                      </a:endParaRPr>
                    </a:p>
                  </a:txBody>
                  <a:tcPr marL="76200" marR="76200" marT="50800" marB="50800">
                    <a:lnL w="6350" cap="flat" cmpd="sng" algn="ctr">
                      <a:solidFill>
                        <a:srgbClr val="D0D4DC"/>
                      </a:solidFill>
                      <a:prstDash val="solid"/>
                      <a:round/>
                      <a:headEnd type="none" w="med" len="med"/>
                      <a:tailEnd type="none" w="med" len="med"/>
                    </a:lnL>
                    <a:lnR w="6350" cap="flat" cmpd="sng" algn="ctr">
                      <a:solidFill>
                        <a:srgbClr val="D0D4DC"/>
                      </a:solidFill>
                      <a:prstDash val="solid"/>
                      <a:round/>
                      <a:headEnd type="none" w="med" len="med"/>
                      <a:tailEnd type="none" w="med" len="med"/>
                    </a:lnR>
                    <a:lnT w="6350" cap="flat" cmpd="sng" algn="ctr">
                      <a:solidFill>
                        <a:srgbClr val="D0D4DC"/>
                      </a:solidFill>
                      <a:prstDash val="solid"/>
                      <a:round/>
                      <a:headEnd type="none" w="med" len="med"/>
                      <a:tailEnd type="none" w="med" len="med"/>
                    </a:lnT>
                    <a:lnB w="6350" cap="flat" cmpd="sng" algn="ctr">
                      <a:solidFill>
                        <a:srgbClr val="D0D4DC"/>
                      </a:solidFill>
                      <a:prstDash val="solid"/>
                      <a:round/>
                      <a:headEnd type="none" w="med" len="med"/>
                      <a:tailEnd type="none" w="med" len="med"/>
                    </a:lnB>
                    <a:solidFill>
                      <a:srgbClr val="FFFFFF"/>
                    </a:solidFill>
                  </a:tcPr>
                </a:tc>
                <a:tc>
                  <a:txBody>
                    <a:bodyPr/>
                    <a:lstStyle/>
                    <a:p>
                      <a:pPr indent="0" marL="0">
                        <a:buNone/>
                      </a:pPr>
                      <a:r>
                        <a:rPr lang="en-US" sz="1500" b="1" dirty="0">
                          <a:solidFill>
                            <a:srgbClr val="1A8A7D"/>
                          </a:solidFill>
                          <a:latin typeface="Calibri" pitchFamily="34" charset="0"/>
                          <a:ea typeface="Calibri" pitchFamily="34" charset="-122"/>
                          <a:cs typeface="Calibri" pitchFamily="34" charset="-120"/>
                        </a:rPr>
                        <a:t>Spanish</a:t>
                      </a:r>
                      <a:endParaRPr lang="en-US" sz="1500" dirty="0">
                        <a:latin typeface="Calibri" charset="0"/>
                        <a:ea typeface="Calibri" charset="0"/>
                        <a:cs typeface="Calibri" charset="0"/>
                      </a:endParaRPr>
                    </a:p>
                  </a:txBody>
                  <a:tcPr marL="76200" marR="76200" marT="50800" marB="50800">
                    <a:lnL w="6350" cap="flat" cmpd="sng" algn="ctr">
                      <a:solidFill>
                        <a:srgbClr val="D0D4DC"/>
                      </a:solidFill>
                      <a:prstDash val="solid"/>
                      <a:round/>
                      <a:headEnd type="none" w="med" len="med"/>
                      <a:tailEnd type="none" w="med" len="med"/>
                    </a:lnL>
                    <a:lnR w="6350" cap="flat" cmpd="sng" algn="ctr">
                      <a:solidFill>
                        <a:srgbClr val="D0D4DC"/>
                      </a:solidFill>
                      <a:prstDash val="solid"/>
                      <a:round/>
                      <a:headEnd type="none" w="med" len="med"/>
                      <a:tailEnd type="none" w="med" len="med"/>
                    </a:lnR>
                    <a:lnT w="6350" cap="flat" cmpd="sng" algn="ctr">
                      <a:solidFill>
                        <a:srgbClr val="D0D4DC"/>
                      </a:solidFill>
                      <a:prstDash val="solid"/>
                      <a:round/>
                      <a:headEnd type="none" w="med" len="med"/>
                      <a:tailEnd type="none" w="med" len="med"/>
                    </a:lnT>
                    <a:lnB w="6350" cap="flat" cmpd="sng" algn="ctr">
                      <a:solidFill>
                        <a:srgbClr val="D0D4DC"/>
                      </a:solidFill>
                      <a:prstDash val="solid"/>
                      <a:round/>
                      <a:headEnd type="none" w="med" len="med"/>
                      <a:tailEnd type="none" w="med" len="med"/>
                    </a:lnB>
                    <a:solidFill>
                      <a:srgbClr val="FFFFFF"/>
                    </a:solidFill>
                  </a:tcPr>
                </a:tc>
              </a:tr>
              <a:tr h="0">
                <a:tc>
                  <a:txBody>
                    <a:bodyPr/>
                    <a:lstStyle/>
                    <a:p>
                      <a:pPr indent="0" marL="0">
                        <a:buNone/>
                      </a:pPr>
                      <a:r>
                        <a:rPr lang="en-US" sz="1500" dirty="0">
                          <a:solidFill>
                            <a:srgbClr val="0E1C42"/>
                          </a:solidFill>
                          <a:latin typeface="Calibri" pitchFamily="34" charset="0"/>
                          <a:ea typeface="Calibri" pitchFamily="34" charset="-122"/>
                          <a:cs typeface="Calibri" pitchFamily="34" charset="-120"/>
                        </a:rPr>
                        <a:t>French language in Quebec</a:t>
                      </a:r>
                      <a:endParaRPr lang="en-US" sz="1500" dirty="0">
                        <a:latin typeface="Calibri" charset="0"/>
                        <a:ea typeface="Calibri" charset="0"/>
                        <a:cs typeface="Calibri" charset="0"/>
                      </a:endParaRPr>
                    </a:p>
                  </a:txBody>
                  <a:tcPr marL="76200" marR="76200" marT="50800" marB="50800">
                    <a:lnL w="6350" cap="flat" cmpd="sng" algn="ctr">
                      <a:solidFill>
                        <a:srgbClr val="D0D4DC"/>
                      </a:solidFill>
                      <a:prstDash val="solid"/>
                      <a:round/>
                      <a:headEnd type="none" w="med" len="med"/>
                      <a:tailEnd type="none" w="med" len="med"/>
                    </a:lnL>
                    <a:lnR w="6350" cap="flat" cmpd="sng" algn="ctr">
                      <a:solidFill>
                        <a:srgbClr val="D0D4DC"/>
                      </a:solidFill>
                      <a:prstDash val="solid"/>
                      <a:round/>
                      <a:headEnd type="none" w="med" len="med"/>
                      <a:tailEnd type="none" w="med" len="med"/>
                    </a:lnR>
                    <a:lnT w="6350" cap="flat" cmpd="sng" algn="ctr">
                      <a:solidFill>
                        <a:srgbClr val="D0D4DC"/>
                      </a:solidFill>
                      <a:prstDash val="solid"/>
                      <a:round/>
                      <a:headEnd type="none" w="med" len="med"/>
                      <a:tailEnd type="none" w="med" len="med"/>
                    </a:lnT>
                    <a:lnB w="6350" cap="flat" cmpd="sng" algn="ctr">
                      <a:solidFill>
                        <a:srgbClr val="D0D4DC"/>
                      </a:solidFill>
                      <a:prstDash val="solid"/>
                      <a:round/>
                      <a:headEnd type="none" w="med" len="med"/>
                      <a:tailEnd type="none" w="med" len="med"/>
                    </a:lnB>
                    <a:solidFill>
                      <a:srgbClr val="F0F2F8"/>
                    </a:solidFill>
                  </a:tcPr>
                </a:tc>
                <a:tc>
                  <a:txBody>
                    <a:bodyPr/>
                    <a:lstStyle/>
                    <a:p>
                      <a:pPr indent="0" marL="0">
                        <a:buNone/>
                      </a:pPr>
                      <a:r>
                        <a:rPr lang="en-US" sz="1500" b="1" dirty="0">
                          <a:solidFill>
                            <a:srgbClr val="1A8A7D"/>
                          </a:solidFill>
                          <a:latin typeface="Calibri" pitchFamily="34" charset="0"/>
                          <a:ea typeface="Calibri" pitchFamily="34" charset="-122"/>
                          <a:cs typeface="Calibri" pitchFamily="34" charset="-120"/>
                        </a:rPr>
                        <a:t>French</a:t>
                      </a:r>
                      <a:endParaRPr lang="en-US" sz="1500" dirty="0">
                        <a:latin typeface="Calibri" charset="0"/>
                        <a:ea typeface="Calibri" charset="0"/>
                        <a:cs typeface="Calibri" charset="0"/>
                      </a:endParaRPr>
                    </a:p>
                  </a:txBody>
                  <a:tcPr marL="76200" marR="76200" marT="50800" marB="50800">
                    <a:lnL w="6350" cap="flat" cmpd="sng" algn="ctr">
                      <a:solidFill>
                        <a:srgbClr val="D0D4DC"/>
                      </a:solidFill>
                      <a:prstDash val="solid"/>
                      <a:round/>
                      <a:headEnd type="none" w="med" len="med"/>
                      <a:tailEnd type="none" w="med" len="med"/>
                    </a:lnL>
                    <a:lnR w="6350" cap="flat" cmpd="sng" algn="ctr">
                      <a:solidFill>
                        <a:srgbClr val="D0D4DC"/>
                      </a:solidFill>
                      <a:prstDash val="solid"/>
                      <a:round/>
                      <a:headEnd type="none" w="med" len="med"/>
                      <a:tailEnd type="none" w="med" len="med"/>
                    </a:lnR>
                    <a:lnT w="6350" cap="flat" cmpd="sng" algn="ctr">
                      <a:solidFill>
                        <a:srgbClr val="D0D4DC"/>
                      </a:solidFill>
                      <a:prstDash val="solid"/>
                      <a:round/>
                      <a:headEnd type="none" w="med" len="med"/>
                      <a:tailEnd type="none" w="med" len="med"/>
                    </a:lnT>
                    <a:lnB w="6350" cap="flat" cmpd="sng" algn="ctr">
                      <a:solidFill>
                        <a:srgbClr val="D0D4DC"/>
                      </a:solidFill>
                      <a:prstDash val="solid"/>
                      <a:round/>
                      <a:headEnd type="none" w="med" len="med"/>
                      <a:tailEnd type="none" w="med" len="med"/>
                    </a:lnB>
                    <a:solidFill>
                      <a:srgbClr val="F0F2F8"/>
                    </a:solidFill>
                  </a:tcPr>
                </a:tc>
              </a:tr>
              <a:tr h="0">
                <a:tc>
                  <a:txBody>
                    <a:bodyPr/>
                    <a:lstStyle/>
                    <a:p>
                      <a:pPr indent="0" marL="0">
                        <a:buNone/>
                      </a:pPr>
                      <a:r>
                        <a:rPr lang="en-US" sz="1500" dirty="0">
                          <a:solidFill>
                            <a:srgbClr val="0E1C42"/>
                          </a:solidFill>
                          <a:latin typeface="Calibri" pitchFamily="34" charset="0"/>
                          <a:ea typeface="Calibri" pitchFamily="34" charset="-122"/>
                          <a:cs typeface="Calibri" pitchFamily="34" charset="-120"/>
                        </a:rPr>
                        <a:t>Jazz and blues music</a:t>
                      </a:r>
                      <a:endParaRPr lang="en-US" sz="1500" dirty="0">
                        <a:latin typeface="Calibri" charset="0"/>
                        <a:ea typeface="Calibri" charset="0"/>
                        <a:cs typeface="Calibri" charset="0"/>
                      </a:endParaRPr>
                    </a:p>
                  </a:txBody>
                  <a:tcPr marL="76200" marR="76200" marT="50800" marB="50800">
                    <a:lnL w="6350" cap="flat" cmpd="sng" algn="ctr">
                      <a:solidFill>
                        <a:srgbClr val="D0D4DC"/>
                      </a:solidFill>
                      <a:prstDash val="solid"/>
                      <a:round/>
                      <a:headEnd type="none" w="med" len="med"/>
                      <a:tailEnd type="none" w="med" len="med"/>
                    </a:lnL>
                    <a:lnR w="6350" cap="flat" cmpd="sng" algn="ctr">
                      <a:solidFill>
                        <a:srgbClr val="D0D4DC"/>
                      </a:solidFill>
                      <a:prstDash val="solid"/>
                      <a:round/>
                      <a:headEnd type="none" w="med" len="med"/>
                      <a:tailEnd type="none" w="med" len="med"/>
                    </a:lnR>
                    <a:lnT w="6350" cap="flat" cmpd="sng" algn="ctr">
                      <a:solidFill>
                        <a:srgbClr val="D0D4DC"/>
                      </a:solidFill>
                      <a:prstDash val="solid"/>
                      <a:round/>
                      <a:headEnd type="none" w="med" len="med"/>
                      <a:tailEnd type="none" w="med" len="med"/>
                    </a:lnT>
                    <a:lnB w="6350" cap="flat" cmpd="sng" algn="ctr">
                      <a:solidFill>
                        <a:srgbClr val="D0D4DC"/>
                      </a:solidFill>
                      <a:prstDash val="solid"/>
                      <a:round/>
                      <a:headEnd type="none" w="med" len="med"/>
                      <a:tailEnd type="none" w="med" len="med"/>
                    </a:lnB>
                    <a:solidFill>
                      <a:srgbClr val="FFFFFF"/>
                    </a:solidFill>
                  </a:tcPr>
                </a:tc>
                <a:tc>
                  <a:txBody>
                    <a:bodyPr/>
                    <a:lstStyle/>
                    <a:p>
                      <a:pPr indent="0" marL="0">
                        <a:buNone/>
                      </a:pPr>
                      <a:r>
                        <a:rPr lang="en-US" sz="1500" b="1" dirty="0">
                          <a:solidFill>
                            <a:srgbClr val="1A8A7D"/>
                          </a:solidFill>
                          <a:latin typeface="Calibri" pitchFamily="34" charset="0"/>
                          <a:ea typeface="Calibri" pitchFamily="34" charset="-122"/>
                          <a:cs typeface="Calibri" pitchFamily="34" charset="-120"/>
                        </a:rPr>
                        <a:t>African Heritage</a:t>
                      </a:r>
                      <a:endParaRPr lang="en-US" sz="1500" dirty="0">
                        <a:latin typeface="Calibri" charset="0"/>
                        <a:ea typeface="Calibri" charset="0"/>
                        <a:cs typeface="Calibri" charset="0"/>
                      </a:endParaRPr>
                    </a:p>
                  </a:txBody>
                  <a:tcPr marL="76200" marR="76200" marT="50800" marB="50800">
                    <a:lnL w="6350" cap="flat" cmpd="sng" algn="ctr">
                      <a:solidFill>
                        <a:srgbClr val="D0D4DC"/>
                      </a:solidFill>
                      <a:prstDash val="solid"/>
                      <a:round/>
                      <a:headEnd type="none" w="med" len="med"/>
                      <a:tailEnd type="none" w="med" len="med"/>
                    </a:lnL>
                    <a:lnR w="6350" cap="flat" cmpd="sng" algn="ctr">
                      <a:solidFill>
                        <a:srgbClr val="D0D4DC"/>
                      </a:solidFill>
                      <a:prstDash val="solid"/>
                      <a:round/>
                      <a:headEnd type="none" w="med" len="med"/>
                      <a:tailEnd type="none" w="med" len="med"/>
                    </a:lnR>
                    <a:lnT w="6350" cap="flat" cmpd="sng" algn="ctr">
                      <a:solidFill>
                        <a:srgbClr val="D0D4DC"/>
                      </a:solidFill>
                      <a:prstDash val="solid"/>
                      <a:round/>
                      <a:headEnd type="none" w="med" len="med"/>
                      <a:tailEnd type="none" w="med" len="med"/>
                    </a:lnT>
                    <a:lnB w="6350" cap="flat" cmpd="sng" algn="ctr">
                      <a:solidFill>
                        <a:srgbClr val="D0D4DC"/>
                      </a:solidFill>
                      <a:prstDash val="solid"/>
                      <a:round/>
                      <a:headEnd type="none" w="med" len="med"/>
                      <a:tailEnd type="none" w="med" len="med"/>
                    </a:lnB>
                    <a:solidFill>
                      <a:srgbClr val="FFFFFF"/>
                    </a:solidFill>
                  </a:tcPr>
                </a:tc>
              </a:tr>
              <a:tr h="0">
                <a:tc>
                  <a:txBody>
                    <a:bodyPr/>
                    <a:lstStyle/>
                    <a:p>
                      <a:pPr indent="0" marL="0">
                        <a:buNone/>
                      </a:pPr>
                      <a:r>
                        <a:rPr lang="en-US" sz="1500" dirty="0">
                          <a:solidFill>
                            <a:srgbClr val="0E1C42"/>
                          </a:solidFill>
                          <a:latin typeface="Calibri" pitchFamily="34" charset="0"/>
                          <a:ea typeface="Calibri" pitchFamily="34" charset="-122"/>
                          <a:cs typeface="Calibri" pitchFamily="34" charset="-120"/>
                        </a:rPr>
                        <a:t>Stone stepped pyramids</a:t>
                      </a:r>
                      <a:endParaRPr lang="en-US" sz="1500" dirty="0">
                        <a:latin typeface="Calibri" charset="0"/>
                        <a:ea typeface="Calibri" charset="0"/>
                        <a:cs typeface="Calibri" charset="0"/>
                      </a:endParaRPr>
                    </a:p>
                  </a:txBody>
                  <a:tcPr marL="76200" marR="76200" marT="50800" marB="50800">
                    <a:lnL w="6350" cap="flat" cmpd="sng" algn="ctr">
                      <a:solidFill>
                        <a:srgbClr val="D0D4DC"/>
                      </a:solidFill>
                      <a:prstDash val="solid"/>
                      <a:round/>
                      <a:headEnd type="none" w="med" len="med"/>
                      <a:tailEnd type="none" w="med" len="med"/>
                    </a:lnL>
                    <a:lnR w="6350" cap="flat" cmpd="sng" algn="ctr">
                      <a:solidFill>
                        <a:srgbClr val="D0D4DC"/>
                      </a:solidFill>
                      <a:prstDash val="solid"/>
                      <a:round/>
                      <a:headEnd type="none" w="med" len="med"/>
                      <a:tailEnd type="none" w="med" len="med"/>
                    </a:lnR>
                    <a:lnT w="6350" cap="flat" cmpd="sng" algn="ctr">
                      <a:solidFill>
                        <a:srgbClr val="D0D4DC"/>
                      </a:solidFill>
                      <a:prstDash val="solid"/>
                      <a:round/>
                      <a:headEnd type="none" w="med" len="med"/>
                      <a:tailEnd type="none" w="med" len="med"/>
                    </a:lnT>
                    <a:lnB w="6350" cap="flat" cmpd="sng" algn="ctr">
                      <a:solidFill>
                        <a:srgbClr val="D0D4DC"/>
                      </a:solidFill>
                      <a:prstDash val="solid"/>
                      <a:round/>
                      <a:headEnd type="none" w="med" len="med"/>
                      <a:tailEnd type="none" w="med" len="med"/>
                    </a:lnB>
                    <a:solidFill>
                      <a:srgbClr val="F0F2F8"/>
                    </a:solidFill>
                  </a:tcPr>
                </a:tc>
                <a:tc>
                  <a:txBody>
                    <a:bodyPr/>
                    <a:lstStyle/>
                    <a:p>
                      <a:pPr indent="0" marL="0">
                        <a:buNone/>
                      </a:pPr>
                      <a:r>
                        <a:rPr lang="en-US" sz="1500" b="1" dirty="0">
                          <a:solidFill>
                            <a:srgbClr val="1A8A7D"/>
                          </a:solidFill>
                          <a:latin typeface="Calibri" pitchFamily="34" charset="0"/>
                          <a:ea typeface="Calibri" pitchFamily="34" charset="-122"/>
                          <a:cs typeface="Calibri" pitchFamily="34" charset="-120"/>
                        </a:rPr>
                        <a:t>Maya</a:t>
                      </a:r>
                      <a:endParaRPr lang="en-US" sz="1500" dirty="0">
                        <a:latin typeface="Calibri" charset="0"/>
                        <a:ea typeface="Calibri" charset="0"/>
                        <a:cs typeface="Calibri" charset="0"/>
                      </a:endParaRPr>
                    </a:p>
                  </a:txBody>
                  <a:tcPr marL="76200" marR="76200" marT="50800" marB="50800">
                    <a:lnL w="6350" cap="flat" cmpd="sng" algn="ctr">
                      <a:solidFill>
                        <a:srgbClr val="D0D4DC"/>
                      </a:solidFill>
                      <a:prstDash val="solid"/>
                      <a:round/>
                      <a:headEnd type="none" w="med" len="med"/>
                      <a:tailEnd type="none" w="med" len="med"/>
                    </a:lnL>
                    <a:lnR w="6350" cap="flat" cmpd="sng" algn="ctr">
                      <a:solidFill>
                        <a:srgbClr val="D0D4DC"/>
                      </a:solidFill>
                      <a:prstDash val="solid"/>
                      <a:round/>
                      <a:headEnd type="none" w="med" len="med"/>
                      <a:tailEnd type="none" w="med" len="med"/>
                    </a:lnR>
                    <a:lnT w="6350" cap="flat" cmpd="sng" algn="ctr">
                      <a:solidFill>
                        <a:srgbClr val="D0D4DC"/>
                      </a:solidFill>
                      <a:prstDash val="solid"/>
                      <a:round/>
                      <a:headEnd type="none" w="med" len="med"/>
                      <a:tailEnd type="none" w="med" len="med"/>
                    </a:lnT>
                    <a:lnB w="6350" cap="flat" cmpd="sng" algn="ctr">
                      <a:solidFill>
                        <a:srgbClr val="D0D4DC"/>
                      </a:solidFill>
                      <a:prstDash val="solid"/>
                      <a:round/>
                      <a:headEnd type="none" w="med" len="med"/>
                      <a:tailEnd type="none" w="med" len="med"/>
                    </a:lnB>
                    <a:solidFill>
                      <a:srgbClr val="F0F2F8"/>
                    </a:solidFill>
                  </a:tcPr>
                </a:tc>
              </a:tr>
            </a:tbl>
          </a:graphicData>
        </a:graphic>
      </p:graphicFrame>
      <p:sp>
        <p:nvSpPr>
          <p:cNvPr id="6" name="Shape 3"/>
          <p:cNvSpPr/>
          <p:nvPr/>
        </p:nvSpPr>
        <p:spPr>
          <a:xfrm>
            <a:off x="609600" y="5852160"/>
            <a:ext cx="10972800" cy="1097280"/>
          </a:xfrm>
          <a:prstGeom prst="roundRect">
            <a:avLst>
              <a:gd name="adj" fmla="val 13333"/>
            </a:avLst>
          </a:prstGeom>
          <a:solidFill>
            <a:srgbClr val="FFF3DC"/>
          </a:solidFill>
          <a:ln w="19050">
            <a:solidFill>
              <a:srgbClr val="F5E6C8"/>
            </a:solidFill>
            <a:prstDash val="solid"/>
          </a:ln>
        </p:spPr>
      </p:sp>
      <p:sp>
        <p:nvSpPr>
          <p:cNvPr id="7" name="Text 4"/>
          <p:cNvSpPr/>
          <p:nvPr/>
        </p:nvSpPr>
        <p:spPr>
          <a:xfrm>
            <a:off x="792480" y="5925312"/>
            <a:ext cx="10607040" cy="265176"/>
          </a:xfrm>
          <a:prstGeom prst="rect">
            <a:avLst/>
          </a:prstGeom>
          <a:noFill/>
          <a:ln/>
        </p:spPr>
        <p:txBody>
          <a:bodyPr wrap="square" lIns="0" tIns="0" rIns="0" bIns="0" rtlCol="0" anchor="ctr"/>
          <a:lstStyle/>
          <a:p>
            <a:pPr indent="0" marL="0">
              <a:buNone/>
            </a:pPr>
            <a:r>
              <a:rPr lang="en-US" sz="1200" b="1" spc="150" kern="0" dirty="0">
                <a:solidFill>
                  <a:srgbClr val="D4943A"/>
                </a:solidFill>
                <a:latin typeface="Calibri" pitchFamily="34" charset="0"/>
                <a:ea typeface="Calibri" pitchFamily="34" charset="-122"/>
                <a:cs typeface="Calibri" pitchFamily="34" charset="-120"/>
              </a:rPr>
              <a:t>CHAT FRAME</a:t>
            </a:r>
            <a:endParaRPr lang="en-US" sz="1200" dirty="0"/>
          </a:p>
        </p:txBody>
      </p:sp>
      <p:sp>
        <p:nvSpPr>
          <p:cNvPr id="8" name="Text 5"/>
          <p:cNvSpPr/>
          <p:nvPr/>
        </p:nvSpPr>
        <p:spPr>
          <a:xfrm>
            <a:off x="792480" y="6190488"/>
            <a:ext cx="10607040" cy="667512"/>
          </a:xfrm>
          <a:prstGeom prst="rect">
            <a:avLst/>
          </a:prstGeom>
          <a:noFill/>
          <a:ln/>
        </p:spPr>
        <p:txBody>
          <a:bodyPr wrap="square" lIns="0" tIns="0" rIns="0" bIns="0" rtlCol="0" anchor="t"/>
          <a:lstStyle/>
          <a:p>
            <a:pPr indent="0" marL="0">
              <a:spcAft>
                <a:spcPts val="700"/>
              </a:spcAft>
              <a:buNone/>
            </a:pPr>
            <a:r>
              <a:rPr lang="en-US" sz="1600" i="1" dirty="0">
                <a:solidFill>
                  <a:srgbClr val="5A4A3A"/>
                </a:solidFill>
                <a:latin typeface="Cambria" pitchFamily="34" charset="0"/>
                <a:ea typeface="Cambria" pitchFamily="34" charset="-122"/>
                <a:cs typeface="Cambria" pitchFamily="34" charset="-120"/>
              </a:rPr>
              <a:t>"Cover the right column. Can you match each contribution before peeking?"</a:t>
            </a:r>
            <a:endParaRPr lang="en-US" sz="1600" dirty="0"/>
          </a:p>
          <a:p>
            <a:pPr indent="0" marL="0">
              <a:spcAft>
                <a:spcPts val="700"/>
              </a:spcAft>
              <a:buNone/>
            </a:pPr>
            <a:r>
              <a:rPr lang="en-US" sz="1600" i="1" dirty="0">
                <a:solidFill>
                  <a:srgbClr val="5A4A3A"/>
                </a:solidFill>
                <a:latin typeface="Cambria" pitchFamily="34" charset="0"/>
                <a:ea typeface="Cambria" pitchFamily="34" charset="-122"/>
                <a:cs typeface="Cambria" pitchFamily="34" charset="-120"/>
              </a:rPr>
              <a:t>"Tell your partner one match and explain how you remembered."</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Text 1"/>
          <p:cNvSpPr/>
          <p:nvPr/>
        </p:nvSpPr>
        <p:spPr>
          <a:xfrm>
            <a:off x="609600" y="487680"/>
            <a:ext cx="6096000" cy="426720"/>
          </a:xfrm>
          <a:prstGeom prst="rect">
            <a:avLst/>
          </a:prstGeom>
          <a:noFill/>
          <a:ln/>
        </p:spPr>
        <p:txBody>
          <a:bodyPr wrap="square" lIns="0" tIns="0" rIns="0" bIns="0" rtlCol="0" anchor="ctr"/>
          <a:lstStyle/>
          <a:p>
            <a:pPr indent="0" marL="0">
              <a:buNone/>
            </a:pPr>
            <a:r>
              <a:rPr lang="en-US" sz="1300" b="1" spc="200" kern="0" dirty="0">
                <a:solidFill>
                  <a:srgbClr val="D4943A"/>
                </a:solidFill>
                <a:latin typeface="Calibri" pitchFamily="34" charset="0"/>
                <a:ea typeface="Calibri" pitchFamily="34" charset="-122"/>
                <a:cs typeface="Calibri" pitchFamily="34" charset="-120"/>
              </a:rPr>
              <a:t>DISCOVERY FACT</a:t>
            </a:r>
            <a:endParaRPr lang="en-US" sz="1300" dirty="0"/>
          </a:p>
        </p:txBody>
      </p:sp>
      <p:sp>
        <p:nvSpPr>
          <p:cNvPr id="4" name="Text 2"/>
          <p:cNvSpPr/>
          <p:nvPr/>
        </p:nvSpPr>
        <p:spPr>
          <a:xfrm>
            <a:off x="609600" y="975360"/>
            <a:ext cx="10972800" cy="731520"/>
          </a:xfrm>
          <a:prstGeom prst="rect">
            <a:avLst/>
          </a:prstGeom>
          <a:noFill/>
          <a:ln/>
        </p:spPr>
        <p:txBody>
          <a:bodyPr wrap="square" lIns="0" tIns="0" rIns="0" bIns="0" rtlCol="0" anchor="ctr"/>
          <a:lstStyle/>
          <a:p>
            <a:pPr indent="0" marL="0">
              <a:buNone/>
            </a:pPr>
            <a:r>
              <a:rPr lang="en-US" sz="3200" b="1" dirty="0">
                <a:solidFill>
                  <a:srgbClr val="0E1C42"/>
                </a:solidFill>
                <a:latin typeface="Cambria" pitchFamily="34" charset="0"/>
                <a:ea typeface="Cambria" pitchFamily="34" charset="-122"/>
                <a:cs typeface="Cambria" pitchFamily="34" charset="-120"/>
              </a:rPr>
              <a:t>The Great Law of Peace</a:t>
            </a:r>
            <a:endParaRPr lang="en-US" sz="3200" dirty="0"/>
          </a:p>
        </p:txBody>
      </p:sp>
      <p:sp>
        <p:nvSpPr>
          <p:cNvPr id="5" name="Shape 3"/>
          <p:cNvSpPr/>
          <p:nvPr/>
        </p:nvSpPr>
        <p:spPr>
          <a:xfrm>
            <a:off x="609600" y="1950720"/>
            <a:ext cx="10972800" cy="1950720"/>
          </a:xfrm>
          <a:prstGeom prst="roundRect">
            <a:avLst>
              <a:gd name="adj" fmla="val 7500"/>
            </a:avLst>
          </a:prstGeom>
          <a:solidFill>
            <a:srgbClr val="FFF3DC"/>
          </a:solidFill>
          <a:ln w="19050">
            <a:solidFill>
              <a:srgbClr val="F5E6C8"/>
            </a:solidFill>
            <a:prstDash val="solid"/>
          </a:ln>
        </p:spPr>
      </p:sp>
      <p:sp>
        <p:nvSpPr>
          <p:cNvPr id="6" name="Text 4"/>
          <p:cNvSpPr/>
          <p:nvPr/>
        </p:nvSpPr>
        <p:spPr>
          <a:xfrm>
            <a:off x="853440" y="2072640"/>
            <a:ext cx="10485120" cy="1706880"/>
          </a:xfrm>
          <a:prstGeom prst="rect">
            <a:avLst/>
          </a:prstGeom>
          <a:noFill/>
          <a:ln/>
        </p:spPr>
        <p:txBody>
          <a:bodyPr wrap="square" lIns="0" tIns="0" rIns="0" bIns="0" rtlCol="0" anchor="ctr"/>
          <a:lstStyle/>
          <a:p>
            <a:pPr indent="0" marL="0">
              <a:spcAft>
                <a:spcPts val="800"/>
              </a:spcAft>
              <a:buNone/>
            </a:pPr>
            <a:r>
              <a:rPr lang="en-US" sz="1800" dirty="0">
                <a:solidFill>
                  <a:srgbClr val="0E1C42"/>
                </a:solidFill>
                <a:latin typeface="Calibri" pitchFamily="34" charset="0"/>
                <a:ea typeface="Calibri" pitchFamily="34" charset="-122"/>
                <a:cs typeface="Calibri" pitchFamily="34" charset="-120"/>
              </a:rPr>
              <a:t>The Haudenosaunee Great Law of Peace — a kind of constitution written about 600 years ago — is one of the oldest still-living democratic governments in the world.</a:t>
            </a:r>
            <a:endParaRPr lang="en-US" sz="1800" dirty="0"/>
          </a:p>
          <a:p>
            <a:pPr indent="0" marL="0">
              <a:buNone/>
            </a:pPr>
            <a:r>
              <a:rPr lang="en-US" sz="1800" b="1" dirty="0">
                <a:solidFill>
                  <a:srgbClr val="0E1C42"/>
                </a:solidFill>
                <a:latin typeface="Calibri" pitchFamily="34" charset="0"/>
                <a:ea typeface="Calibri" pitchFamily="34" charset="-122"/>
                <a:cs typeface="Calibri" pitchFamily="34" charset="-120"/>
              </a:rPr>
              <a:t>Some historians believe it shaped ideas the writers of the U.S. Constitution used hundreds of years later.</a:t>
            </a:r>
            <a:endParaRPr lang="en-US" sz="1800" dirty="0"/>
          </a:p>
        </p:txBody>
      </p:sp>
      <p:sp>
        <p:nvSpPr>
          <p:cNvPr id="7" name="Shape 5"/>
          <p:cNvSpPr/>
          <p:nvPr/>
        </p:nvSpPr>
        <p:spPr>
          <a:xfrm>
            <a:off x="609600" y="4267200"/>
            <a:ext cx="10972800" cy="1584960"/>
          </a:xfrm>
          <a:prstGeom prst="roundRect">
            <a:avLst>
              <a:gd name="adj" fmla="val 11538"/>
            </a:avLst>
          </a:prstGeom>
          <a:solidFill>
            <a:srgbClr val="1A2D5A"/>
          </a:solidFill>
          <a:ln/>
          <a:effectLst>
            <a:outerShdw sx="100000" sy="100000" kx="0" ky="0" algn="bl" rotWithShape="0" blurRad="101600" dist="38100" dir="8100000">
              <a:srgbClr val="000000">
                <a:alpha val="20000"/>
              </a:srgbClr>
            </a:outerShdw>
          </a:effectLst>
        </p:spPr>
      </p:sp>
      <p:sp>
        <p:nvSpPr>
          <p:cNvPr id="8" name="Text 6"/>
          <p:cNvSpPr/>
          <p:nvPr/>
        </p:nvSpPr>
        <p:spPr>
          <a:xfrm>
            <a:off x="856488" y="4386072"/>
            <a:ext cx="10488168" cy="338328"/>
          </a:xfrm>
          <a:prstGeom prst="rect">
            <a:avLst/>
          </a:prstGeom>
          <a:noFill/>
          <a:ln/>
        </p:spPr>
        <p:txBody>
          <a:bodyPr wrap="square" lIns="0" tIns="0" rIns="0" bIns="0" rtlCol="0" anchor="ctr"/>
          <a:lstStyle/>
          <a:p>
            <a:pPr indent="0" marL="0">
              <a:buNone/>
            </a:pPr>
            <a:r>
              <a:rPr lang="en-US" sz="1200" b="1" spc="150" kern="0" dirty="0">
                <a:solidFill>
                  <a:srgbClr val="55C8E8"/>
                </a:solidFill>
                <a:latin typeface="Calibri" pitchFamily="34" charset="0"/>
                <a:ea typeface="Calibri" pitchFamily="34" charset="-122"/>
                <a:cs typeface="Calibri" pitchFamily="34" charset="-120"/>
              </a:rPr>
              <a:t>SOCRATIC QUESTIONS</a:t>
            </a:r>
            <a:endParaRPr lang="en-US" sz="1200" dirty="0"/>
          </a:p>
        </p:txBody>
      </p:sp>
      <p:sp>
        <p:nvSpPr>
          <p:cNvPr id="9" name="Text 7"/>
          <p:cNvSpPr/>
          <p:nvPr/>
        </p:nvSpPr>
        <p:spPr>
          <a:xfrm>
            <a:off x="856488" y="4733544"/>
            <a:ext cx="10488168" cy="999744"/>
          </a:xfrm>
          <a:prstGeom prst="rect">
            <a:avLst/>
          </a:prstGeom>
          <a:noFill/>
          <a:ln/>
        </p:spPr>
        <p:txBody>
          <a:bodyPr wrap="square" lIns="0" tIns="0" rIns="0" bIns="0" rtlCol="0" anchor="t"/>
          <a:lstStyle/>
          <a:p>
            <a:pPr marL="342900" indent="-342900">
              <a:spcAft>
                <a:spcPts val="500"/>
              </a:spcAft>
              <a:buSzPct val="100000"/>
              <a:buChar char="•"/>
            </a:pPr>
            <a:r>
              <a:rPr lang="en-US" sz="1400" i="1" dirty="0">
                <a:solidFill>
                  <a:srgbClr val="FFFFFF"/>
                </a:solidFill>
                <a:latin typeface="Calibri" pitchFamily="34" charset="0"/>
                <a:ea typeface="Calibri" pitchFamily="34" charset="-122"/>
                <a:cs typeface="Calibri" pitchFamily="34" charset="-120"/>
              </a:rPr>
              <a:t>What does it mean that the Great Law of Peace is still 'living' today?</a:t>
            </a:r>
            <a:endParaRPr lang="en-US" sz="1400" dirty="0"/>
          </a:p>
          <a:p>
            <a:pPr marL="342900" indent="-342900">
              <a:spcAft>
                <a:spcPts val="500"/>
              </a:spcAft>
              <a:buSzPct val="100000"/>
              <a:buChar char="•"/>
            </a:pPr>
            <a:r>
              <a:rPr lang="en-US" sz="1400" i="1" dirty="0">
                <a:solidFill>
                  <a:srgbClr val="FFFFFF"/>
                </a:solidFill>
                <a:latin typeface="Calibri" pitchFamily="34" charset="0"/>
                <a:ea typeface="Calibri" pitchFamily="34" charset="-122"/>
                <a:cs typeface="Calibri" pitchFamily="34" charset="-120"/>
              </a:rPr>
              <a:t>Why is it important to know that Indigenous peoples had their own governments long before Europeans arrived?</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Text 1"/>
          <p:cNvSpPr/>
          <p:nvPr/>
        </p:nvSpPr>
        <p:spPr>
          <a:xfrm>
            <a:off x="609600" y="487680"/>
            <a:ext cx="6096000" cy="426720"/>
          </a:xfrm>
          <a:prstGeom prst="rect">
            <a:avLst/>
          </a:prstGeom>
          <a:noFill/>
          <a:ln/>
        </p:spPr>
        <p:txBody>
          <a:bodyPr wrap="square" lIns="0" tIns="0" rIns="0" bIns="0" rtlCol="0" anchor="ctr"/>
          <a:lstStyle/>
          <a:p>
            <a:pPr indent="0" marL="0">
              <a:buNone/>
            </a:pPr>
            <a:r>
              <a:rPr lang="en-US" sz="1300" b="1" spc="200" kern="0" dirty="0">
                <a:solidFill>
                  <a:srgbClr val="1A8A7D"/>
                </a:solidFill>
                <a:latin typeface="Calibri" pitchFamily="34" charset="0"/>
                <a:ea typeface="Calibri" pitchFamily="34" charset="-122"/>
                <a:cs typeface="Calibri" pitchFamily="34" charset="-120"/>
              </a:rPr>
              <a:t>THEN AND NOW</a:t>
            </a:r>
            <a:endParaRPr lang="en-US" sz="1300" dirty="0"/>
          </a:p>
        </p:txBody>
      </p:sp>
      <p:sp>
        <p:nvSpPr>
          <p:cNvPr id="4" name="Text 2"/>
          <p:cNvSpPr/>
          <p:nvPr/>
        </p:nvSpPr>
        <p:spPr>
          <a:xfrm>
            <a:off x="609600" y="975360"/>
            <a:ext cx="10972800" cy="731520"/>
          </a:xfrm>
          <a:prstGeom prst="rect">
            <a:avLst/>
          </a:prstGeom>
          <a:noFill/>
          <a:ln/>
        </p:spPr>
        <p:txBody>
          <a:bodyPr wrap="square" lIns="0" tIns="0" rIns="0" bIns="0" rtlCol="0" anchor="ctr"/>
          <a:lstStyle/>
          <a:p>
            <a:pPr indent="0" marL="0">
              <a:buNone/>
            </a:pPr>
            <a:r>
              <a:rPr lang="en-US" sz="3000" b="1" dirty="0">
                <a:solidFill>
                  <a:srgbClr val="0E1C42"/>
                </a:solidFill>
                <a:latin typeface="Cambria" pitchFamily="34" charset="0"/>
                <a:ea typeface="Cambria" pitchFamily="34" charset="-122"/>
                <a:cs typeface="Cambria" pitchFamily="34" charset="-120"/>
              </a:rPr>
              <a:t>These Cultures Are Around You Every Day</a:t>
            </a:r>
            <a:endParaRPr lang="en-US" sz="3000" dirty="0"/>
          </a:p>
        </p:txBody>
      </p:sp>
      <p:sp>
        <p:nvSpPr>
          <p:cNvPr id="5" name="Shape 3"/>
          <p:cNvSpPr/>
          <p:nvPr/>
        </p:nvSpPr>
        <p:spPr>
          <a:xfrm>
            <a:off x="609600" y="1950720"/>
            <a:ext cx="10972800" cy="2926080"/>
          </a:xfrm>
          <a:prstGeom prst="roundRect">
            <a:avLst>
              <a:gd name="adj" fmla="val 5000"/>
            </a:avLst>
          </a:prstGeom>
          <a:solidFill>
            <a:srgbClr val="FFF8F0"/>
          </a:solidFill>
          <a:ln w="19050">
            <a:solidFill>
              <a:srgbClr val="F5E6C8"/>
            </a:solidFill>
            <a:prstDash val="solid"/>
          </a:ln>
        </p:spPr>
      </p:sp>
      <p:sp>
        <p:nvSpPr>
          <p:cNvPr id="6" name="Text 4"/>
          <p:cNvSpPr/>
          <p:nvPr/>
        </p:nvSpPr>
        <p:spPr>
          <a:xfrm>
            <a:off x="853440" y="2072640"/>
            <a:ext cx="10485120" cy="268224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0E1C42"/>
                </a:solidFill>
                <a:latin typeface="Calibri" pitchFamily="34" charset="0"/>
                <a:ea typeface="Calibri" pitchFamily="34" charset="-122"/>
                <a:cs typeface="Calibri" pitchFamily="34" charset="-120"/>
              </a:rPr>
              <a:t>When you eat chocolate, you're tasting something the Maya gave the world.</a:t>
            </a:r>
            <a:endParaRPr lang="en-US" sz="1700" dirty="0"/>
          </a:p>
          <a:p>
            <a:pPr marL="342900" indent="-342900">
              <a:spcAft>
                <a:spcPts val="600"/>
              </a:spcAft>
              <a:buSzPct val="100000"/>
              <a:buChar char="•"/>
            </a:pPr>
            <a:r>
              <a:rPr lang="en-US" sz="1700" dirty="0">
                <a:solidFill>
                  <a:srgbClr val="0E1C42"/>
                </a:solidFill>
                <a:latin typeface="Calibri" pitchFamily="34" charset="0"/>
                <a:ea typeface="Calibri" pitchFamily="34" charset="-122"/>
                <a:cs typeface="Calibri" pitchFamily="34" charset="-120"/>
              </a:rPr>
              <a:t>When you hear jazz music, you're hearing descendants of African musical traditions.</a:t>
            </a:r>
            <a:endParaRPr lang="en-US" sz="1700" dirty="0"/>
          </a:p>
          <a:p>
            <a:pPr marL="342900" indent="-342900">
              <a:spcAft>
                <a:spcPts val="800"/>
              </a:spcAft>
              <a:buSzPct val="100000"/>
              <a:buChar char="•"/>
            </a:pPr>
            <a:r>
              <a:rPr lang="en-US" sz="1700" dirty="0">
                <a:solidFill>
                  <a:srgbClr val="0E1C42"/>
                </a:solidFill>
                <a:latin typeface="Calibri" pitchFamily="34" charset="0"/>
                <a:ea typeface="Calibri" pitchFamily="34" charset="-122"/>
                <a:cs typeface="Calibri" pitchFamily="34" charset="-120"/>
              </a:rPr>
              <a:t>When you say "rendezvous" or "barbecue" — those words came from French and Caribbean Indigenous people.</a:t>
            </a:r>
            <a:endParaRPr lang="en-US" sz="1700" dirty="0"/>
          </a:p>
          <a:p>
            <a:pPr indent="0" marL="0">
              <a:buNone/>
            </a:pPr>
            <a:r>
              <a:rPr lang="en-US" sz="1800" b="1" i="1" dirty="0">
                <a:solidFill>
                  <a:srgbClr val="D4943A"/>
                </a:solidFill>
                <a:latin typeface="Calibri" pitchFamily="34" charset="0"/>
                <a:ea typeface="Calibri" pitchFamily="34" charset="-122"/>
                <a:cs typeface="Calibri" pitchFamily="34" charset="-120"/>
              </a:rPr>
              <a:t>The cultures in these cases didn't end long ago. They're around you every day.</a:t>
            </a:r>
            <a:endParaRPr lang="en-US" sz="1700" dirty="0"/>
          </a:p>
        </p:txBody>
      </p:sp>
      <p:sp>
        <p:nvSpPr>
          <p:cNvPr id="7" name="Shape 5"/>
          <p:cNvSpPr/>
          <p:nvPr/>
        </p:nvSpPr>
        <p:spPr>
          <a:xfrm>
            <a:off x="609600" y="5242560"/>
            <a:ext cx="10972800" cy="853440"/>
          </a:xfrm>
          <a:prstGeom prst="roundRect">
            <a:avLst>
              <a:gd name="adj" fmla="val 17143"/>
            </a:avLst>
          </a:prstGeom>
          <a:solidFill>
            <a:srgbClr val="FFF3DC"/>
          </a:solidFill>
          <a:ln w="19050">
            <a:solidFill>
              <a:srgbClr val="F5E6C8"/>
            </a:solidFill>
            <a:prstDash val="solid"/>
          </a:ln>
        </p:spPr>
      </p:sp>
      <p:sp>
        <p:nvSpPr>
          <p:cNvPr id="8" name="Text 6"/>
          <p:cNvSpPr/>
          <p:nvPr/>
        </p:nvSpPr>
        <p:spPr>
          <a:xfrm>
            <a:off x="792480" y="5315712"/>
            <a:ext cx="10607040" cy="265176"/>
          </a:xfrm>
          <a:prstGeom prst="rect">
            <a:avLst/>
          </a:prstGeom>
          <a:noFill/>
          <a:ln/>
        </p:spPr>
        <p:txBody>
          <a:bodyPr wrap="square" lIns="0" tIns="0" rIns="0" bIns="0" rtlCol="0" anchor="ctr"/>
          <a:lstStyle/>
          <a:p>
            <a:pPr indent="0" marL="0">
              <a:buNone/>
            </a:pPr>
            <a:r>
              <a:rPr lang="en-US" sz="1200" b="1" spc="150" kern="0" dirty="0">
                <a:solidFill>
                  <a:srgbClr val="D4943A"/>
                </a:solidFill>
                <a:latin typeface="Calibri" pitchFamily="34" charset="0"/>
                <a:ea typeface="Calibri" pitchFamily="34" charset="-122"/>
                <a:cs typeface="Calibri" pitchFamily="34" charset="-120"/>
              </a:rPr>
              <a:t>CHAT FRAME</a:t>
            </a:r>
            <a:endParaRPr lang="en-US" sz="1200" dirty="0"/>
          </a:p>
        </p:txBody>
      </p:sp>
      <p:sp>
        <p:nvSpPr>
          <p:cNvPr id="9" name="Text 7"/>
          <p:cNvSpPr/>
          <p:nvPr/>
        </p:nvSpPr>
        <p:spPr>
          <a:xfrm>
            <a:off x="792480" y="5580888"/>
            <a:ext cx="10607040" cy="423672"/>
          </a:xfrm>
          <a:prstGeom prst="rect">
            <a:avLst/>
          </a:prstGeom>
          <a:noFill/>
          <a:ln/>
        </p:spPr>
        <p:txBody>
          <a:bodyPr wrap="square" lIns="0" tIns="0" rIns="0" bIns="0" rtlCol="0" anchor="t"/>
          <a:lstStyle/>
          <a:p>
            <a:pPr indent="0" marL="0">
              <a:spcAft>
                <a:spcPts val="700"/>
              </a:spcAft>
              <a:buNone/>
            </a:pPr>
            <a:r>
              <a:rPr lang="en-US" sz="1600" i="1" dirty="0">
                <a:solidFill>
                  <a:srgbClr val="5A4A3A"/>
                </a:solidFill>
                <a:latin typeface="Cambria" pitchFamily="34" charset="0"/>
                <a:ea typeface="Cambria" pitchFamily="34" charset="-122"/>
                <a:cs typeface="Cambria" pitchFamily="34" charset="-120"/>
              </a:rPr>
              <a:t>"Can you think of one more thing from your daily life that came from one of these cultures?"</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Text 1"/>
          <p:cNvSpPr/>
          <p:nvPr/>
        </p:nvSpPr>
        <p:spPr>
          <a:xfrm>
            <a:off x="609600" y="487680"/>
            <a:ext cx="6096000" cy="426720"/>
          </a:xfrm>
          <a:prstGeom prst="rect">
            <a:avLst/>
          </a:prstGeom>
          <a:noFill/>
          <a:ln/>
        </p:spPr>
        <p:txBody>
          <a:bodyPr wrap="square" lIns="0" tIns="0" rIns="0" bIns="0" rtlCol="0" anchor="ctr"/>
          <a:lstStyle/>
          <a:p>
            <a:pPr indent="0" marL="0">
              <a:buNone/>
            </a:pPr>
            <a:r>
              <a:rPr lang="en-US" sz="1300" b="1" spc="200" kern="0" dirty="0">
                <a:solidFill>
                  <a:srgbClr val="D4943A"/>
                </a:solidFill>
                <a:latin typeface="Calibri" pitchFamily="34" charset="0"/>
                <a:ea typeface="Calibri" pitchFamily="34" charset="-122"/>
                <a:cs typeface="Calibri" pitchFamily="34" charset="-120"/>
              </a:rPr>
              <a:t>WHY IT MATTERS</a:t>
            </a:r>
            <a:endParaRPr lang="en-US" sz="1300" dirty="0"/>
          </a:p>
        </p:txBody>
      </p:sp>
      <p:sp>
        <p:nvSpPr>
          <p:cNvPr id="4" name="Text 2"/>
          <p:cNvSpPr/>
          <p:nvPr/>
        </p:nvSpPr>
        <p:spPr>
          <a:xfrm>
            <a:off x="609600" y="975360"/>
            <a:ext cx="10972800" cy="731520"/>
          </a:xfrm>
          <a:prstGeom prst="rect">
            <a:avLst/>
          </a:prstGeom>
          <a:noFill/>
          <a:ln/>
        </p:spPr>
        <p:txBody>
          <a:bodyPr wrap="square" lIns="0" tIns="0" rIns="0" bIns="0" rtlCol="0" anchor="ctr"/>
          <a:lstStyle/>
          <a:p>
            <a:pPr indent="0" marL="0">
              <a:buNone/>
            </a:pPr>
            <a:r>
              <a:rPr lang="en-US" sz="3200" b="1" dirty="0">
                <a:solidFill>
                  <a:srgbClr val="0E1C42"/>
                </a:solidFill>
                <a:latin typeface="Cambria" pitchFamily="34" charset="0"/>
                <a:ea typeface="Cambria" pitchFamily="34" charset="-122"/>
                <a:cs typeface="Cambria" pitchFamily="34" charset="-120"/>
              </a:rPr>
              <a:t>Many Peoples, One Region</a:t>
            </a:r>
            <a:endParaRPr lang="en-US" sz="3200" dirty="0"/>
          </a:p>
        </p:txBody>
      </p:sp>
      <p:sp>
        <p:nvSpPr>
          <p:cNvPr id="5" name="Shape 3"/>
          <p:cNvSpPr/>
          <p:nvPr/>
        </p:nvSpPr>
        <p:spPr>
          <a:xfrm>
            <a:off x="609600" y="1950720"/>
            <a:ext cx="10972800" cy="2194560"/>
          </a:xfrm>
          <a:prstGeom prst="roundRect">
            <a:avLst>
              <a:gd name="adj" fmla="val 6667"/>
            </a:avLst>
          </a:prstGeom>
          <a:solidFill>
            <a:srgbClr val="FFFFFF"/>
          </a:solidFill>
          <a:ln/>
          <a:effectLst>
            <a:outerShdw sx="100000" sy="100000" kx="0" ky="0" algn="bl" rotWithShape="0" blurRad="76200" dist="25400" dir="8100000">
              <a:srgbClr val="000000">
                <a:alpha val="10000"/>
              </a:srgbClr>
            </a:outerShdw>
          </a:effectLst>
        </p:spPr>
      </p:sp>
      <p:sp>
        <p:nvSpPr>
          <p:cNvPr id="6" name="Text 4"/>
          <p:cNvSpPr/>
          <p:nvPr/>
        </p:nvSpPr>
        <p:spPr>
          <a:xfrm>
            <a:off x="853440" y="2072640"/>
            <a:ext cx="10485120" cy="365760"/>
          </a:xfrm>
          <a:prstGeom prst="rect">
            <a:avLst/>
          </a:prstGeom>
          <a:noFill/>
          <a:ln/>
        </p:spPr>
        <p:txBody>
          <a:bodyPr wrap="square" lIns="0" tIns="0" rIns="0" bIns="0" rtlCol="0" anchor="ctr"/>
          <a:lstStyle/>
          <a:p>
            <a:pPr indent="0" marL="0">
              <a:buNone/>
            </a:pPr>
            <a:r>
              <a:rPr lang="en-US" sz="1200" b="1" spc="150" kern="0" dirty="0">
                <a:solidFill>
                  <a:srgbClr val="1A8A7D"/>
                </a:solidFill>
                <a:latin typeface="Calibri" pitchFamily="34" charset="0"/>
                <a:ea typeface="Calibri" pitchFamily="34" charset="-122"/>
                <a:cs typeface="Calibri" pitchFamily="34" charset="-120"/>
              </a:rPr>
              <a:t>EXHIBIT LABEL</a:t>
            </a:r>
            <a:endParaRPr lang="en-US" sz="1200" dirty="0"/>
          </a:p>
        </p:txBody>
      </p:sp>
      <p:sp>
        <p:nvSpPr>
          <p:cNvPr id="7" name="Text 5"/>
          <p:cNvSpPr/>
          <p:nvPr/>
        </p:nvSpPr>
        <p:spPr>
          <a:xfrm>
            <a:off x="853440" y="2499360"/>
            <a:ext cx="10485120" cy="1463040"/>
          </a:xfrm>
          <a:prstGeom prst="rect">
            <a:avLst/>
          </a:prstGeom>
          <a:noFill/>
          <a:ln/>
        </p:spPr>
        <p:txBody>
          <a:bodyPr wrap="square" lIns="0" tIns="0" rIns="0" bIns="0" rtlCol="0" anchor="t"/>
          <a:lstStyle/>
          <a:p>
            <a:pPr indent="0" marL="0">
              <a:buNone/>
            </a:pPr>
            <a:r>
              <a:rPr lang="en-US" sz="1600" dirty="0">
                <a:solidFill>
                  <a:srgbClr val="0E1C42"/>
                </a:solidFill>
                <a:latin typeface="Calibri" pitchFamily="34" charset="0"/>
                <a:ea typeface="Calibri" pitchFamily="34" charset="-122"/>
                <a:cs typeface="Calibri" pitchFamily="34" charset="-120"/>
              </a:rPr>
              <a:t>North America and the Caribbean has been home to many peoples. Indigenous nations have been here the longest and are still here today. Spanish, French, English, and other settlers brought languages, religions, and traditions. African peoples — brought against their will — shaped music, food, and farming across the region. Together, these cultures continue to make the region what it is.</a:t>
            </a:r>
            <a:endParaRPr lang="en-US" sz="1600" dirty="0"/>
          </a:p>
        </p:txBody>
      </p:sp>
      <p:sp>
        <p:nvSpPr>
          <p:cNvPr id="8" name="Shape 6"/>
          <p:cNvSpPr/>
          <p:nvPr/>
        </p:nvSpPr>
        <p:spPr>
          <a:xfrm>
            <a:off x="609600" y="4511040"/>
            <a:ext cx="10972800" cy="1219200"/>
          </a:xfrm>
          <a:prstGeom prst="roundRect">
            <a:avLst>
              <a:gd name="adj" fmla="val 12000"/>
            </a:avLst>
          </a:prstGeom>
          <a:solidFill>
            <a:srgbClr val="EAF8FD"/>
          </a:solidFill>
          <a:ln w="19050">
            <a:solidFill>
              <a:srgbClr val="B8E4F4"/>
            </a:solidFill>
            <a:prstDash val="solid"/>
          </a:ln>
        </p:spPr>
      </p:sp>
      <p:sp>
        <p:nvSpPr>
          <p:cNvPr id="9" name="Text 7"/>
          <p:cNvSpPr/>
          <p:nvPr/>
        </p:nvSpPr>
        <p:spPr>
          <a:xfrm>
            <a:off x="853440" y="4572000"/>
            <a:ext cx="10485120" cy="1097280"/>
          </a:xfrm>
          <a:prstGeom prst="rect">
            <a:avLst/>
          </a:prstGeom>
          <a:noFill/>
          <a:ln/>
        </p:spPr>
        <p:txBody>
          <a:bodyPr wrap="square" lIns="0" tIns="0" rIns="0" bIns="0" rtlCol="0" anchor="ctr"/>
          <a:lstStyle/>
          <a:p>
            <a:pPr indent="0" marL="0">
              <a:buNone/>
            </a:pPr>
            <a:r>
              <a:rPr lang="en-US" sz="1400" b="1" dirty="0">
                <a:solidFill>
                  <a:srgbClr val="1A8A7D"/>
                </a:solidFill>
                <a:latin typeface="Calibri" pitchFamily="34" charset="0"/>
                <a:ea typeface="Calibri" pitchFamily="34" charset="-122"/>
                <a:cs typeface="Calibri" pitchFamily="34" charset="-120"/>
              </a:rPr>
              <a:t>Opti says... </a:t>
            </a:r>
            <a:pPr indent="0" marL="0">
              <a:buNone/>
            </a:pPr>
            <a:r>
              <a:rPr lang="en-US" sz="1500" dirty="0">
                <a:solidFill>
                  <a:srgbClr val="0E1C42"/>
                </a:solidFill>
                <a:latin typeface="Calibri" pitchFamily="34" charset="0"/>
                <a:ea typeface="Calibri" pitchFamily="34" charset="-122"/>
                <a:cs typeface="Calibri" pitchFamily="34" charset="-120"/>
              </a:rPr>
              <a:t>When we say 'Native American' or 'Indigenous,' that includes hundreds of different nations — Haudenosaunee, Maya, Inuit, Cherokee, Navajo, and many more. Using a specific name is the most respectful thing a curator can do.</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Text 1"/>
          <p:cNvSpPr/>
          <p:nvPr/>
        </p:nvSpPr>
        <p:spPr>
          <a:xfrm>
            <a:off x="609600" y="487680"/>
            <a:ext cx="6096000" cy="426720"/>
          </a:xfrm>
          <a:prstGeom prst="rect">
            <a:avLst/>
          </a:prstGeom>
          <a:noFill/>
          <a:ln/>
        </p:spPr>
        <p:txBody>
          <a:bodyPr wrap="square" lIns="0" tIns="0" rIns="0" bIns="0" rtlCol="0" anchor="ctr"/>
          <a:lstStyle/>
          <a:p>
            <a:pPr indent="0" marL="0">
              <a:buNone/>
            </a:pPr>
            <a:r>
              <a:rPr lang="en-US" sz="1300" b="1" spc="200" kern="0" dirty="0">
                <a:solidFill>
                  <a:srgbClr val="E8636B"/>
                </a:solidFill>
                <a:latin typeface="Calibri" pitchFamily="34" charset="0"/>
                <a:ea typeface="Calibri" pitchFamily="34" charset="-122"/>
                <a:cs typeface="Calibri" pitchFamily="34" charset="-120"/>
              </a:rPr>
              <a:t>ERROR ANALYSIS</a:t>
            </a:r>
            <a:endParaRPr lang="en-US" sz="1300" dirty="0"/>
          </a:p>
        </p:txBody>
      </p:sp>
      <p:sp>
        <p:nvSpPr>
          <p:cNvPr id="4" name="Text 2"/>
          <p:cNvSpPr/>
          <p:nvPr/>
        </p:nvSpPr>
        <p:spPr>
          <a:xfrm>
            <a:off x="609600" y="975360"/>
            <a:ext cx="10972800" cy="731520"/>
          </a:xfrm>
          <a:prstGeom prst="rect">
            <a:avLst/>
          </a:prstGeom>
          <a:noFill/>
          <a:ln/>
        </p:spPr>
        <p:txBody>
          <a:bodyPr wrap="square" lIns="0" tIns="0" rIns="0" bIns="0" rtlCol="0" anchor="ctr"/>
          <a:lstStyle/>
          <a:p>
            <a:pPr indent="0" marL="0">
              <a:buNone/>
            </a:pPr>
            <a:r>
              <a:rPr lang="en-US" sz="3200" b="1" dirty="0">
                <a:solidFill>
                  <a:srgbClr val="0E1C42"/>
                </a:solidFill>
                <a:latin typeface="Cambria" pitchFamily="34" charset="0"/>
                <a:ea typeface="Cambria" pitchFamily="34" charset="-122"/>
                <a:cs typeface="Cambria" pitchFamily="34" charset="-120"/>
              </a:rPr>
              <a:t>Find the Mistake</a:t>
            </a:r>
            <a:endParaRPr lang="en-US" sz="3200" dirty="0"/>
          </a:p>
        </p:txBody>
      </p:sp>
      <p:sp>
        <p:nvSpPr>
          <p:cNvPr id="5" name="Shape 3"/>
          <p:cNvSpPr/>
          <p:nvPr/>
        </p:nvSpPr>
        <p:spPr>
          <a:xfrm>
            <a:off x="609600" y="1950720"/>
            <a:ext cx="10972800" cy="1463040"/>
          </a:xfrm>
          <a:prstGeom prst="roundRect">
            <a:avLst>
              <a:gd name="adj" fmla="val 10000"/>
            </a:avLst>
          </a:prstGeom>
          <a:solidFill>
            <a:srgbClr val="FFF0F0"/>
          </a:solidFill>
          <a:ln w="19050">
            <a:solidFill>
              <a:srgbClr val="E8636B"/>
            </a:solidFill>
            <a:prstDash val="solid"/>
          </a:ln>
        </p:spPr>
      </p:sp>
      <p:sp>
        <p:nvSpPr>
          <p:cNvPr id="6" name="Text 4"/>
          <p:cNvSpPr/>
          <p:nvPr/>
        </p:nvSpPr>
        <p:spPr>
          <a:xfrm>
            <a:off x="853440" y="2072640"/>
            <a:ext cx="10485120" cy="1219200"/>
          </a:xfrm>
          <a:prstGeom prst="rect">
            <a:avLst/>
          </a:prstGeom>
          <a:noFill/>
          <a:ln/>
        </p:spPr>
        <p:txBody>
          <a:bodyPr wrap="square" lIns="0" tIns="0" rIns="0" bIns="0" rtlCol="0" anchor="ctr"/>
          <a:lstStyle/>
          <a:p>
            <a:pPr indent="0" marL="0">
              <a:spcAft>
                <a:spcPts val="400"/>
              </a:spcAft>
              <a:buNone/>
            </a:pPr>
            <a:r>
              <a:rPr lang="en-US" sz="1400" b="1" dirty="0">
                <a:solidFill>
                  <a:srgbClr val="E8636B"/>
                </a:solidFill>
                <a:latin typeface="Calibri" pitchFamily="34" charset="0"/>
                <a:ea typeface="Calibri" pitchFamily="34" charset="-122"/>
                <a:cs typeface="Calibri" pitchFamily="34" charset="-120"/>
              </a:rPr>
              <a:t>A student wrote:</a:t>
            </a:r>
            <a:endParaRPr lang="en-US" sz="1400" dirty="0"/>
          </a:p>
          <a:p>
            <a:pPr indent="0" marL="0">
              <a:buNone/>
            </a:pPr>
            <a:r>
              <a:rPr lang="en-US" sz="2000" i="1" dirty="0">
                <a:solidFill>
                  <a:srgbClr val="0E1C42"/>
                </a:solidFill>
                <a:latin typeface="Cambria" pitchFamily="34" charset="0"/>
                <a:ea typeface="Cambria" pitchFamily="34" charset="-122"/>
                <a:cs typeface="Cambria" pitchFamily="34" charset="-120"/>
              </a:rPr>
              <a:t>"The Indians built pyramids and longhouses and spoke French."</a:t>
            </a:r>
            <a:endParaRPr lang="en-US" sz="1400" dirty="0"/>
          </a:p>
        </p:txBody>
      </p:sp>
      <p:sp>
        <p:nvSpPr>
          <p:cNvPr id="7" name="Shape 5"/>
          <p:cNvSpPr/>
          <p:nvPr/>
        </p:nvSpPr>
        <p:spPr>
          <a:xfrm>
            <a:off x="609600" y="3779520"/>
            <a:ext cx="10972800" cy="1828800"/>
          </a:xfrm>
          <a:prstGeom prst="roundRect">
            <a:avLst>
              <a:gd name="adj" fmla="val 10000"/>
            </a:avLst>
          </a:prstGeom>
          <a:solidFill>
            <a:srgbClr val="1A2D5A"/>
          </a:solidFill>
          <a:ln/>
          <a:effectLst>
            <a:outerShdw sx="100000" sy="100000" kx="0" ky="0" algn="bl" rotWithShape="0" blurRad="101600" dist="38100" dir="8100000">
              <a:srgbClr val="000000">
                <a:alpha val="20000"/>
              </a:srgbClr>
            </a:outerShdw>
          </a:effectLst>
        </p:spPr>
      </p:sp>
      <p:sp>
        <p:nvSpPr>
          <p:cNvPr id="8" name="Text 6"/>
          <p:cNvSpPr/>
          <p:nvPr/>
        </p:nvSpPr>
        <p:spPr>
          <a:xfrm>
            <a:off x="856488" y="3898392"/>
            <a:ext cx="10488168" cy="338328"/>
          </a:xfrm>
          <a:prstGeom prst="rect">
            <a:avLst/>
          </a:prstGeom>
          <a:noFill/>
          <a:ln/>
        </p:spPr>
        <p:txBody>
          <a:bodyPr wrap="square" lIns="0" tIns="0" rIns="0" bIns="0" rtlCol="0" anchor="ctr"/>
          <a:lstStyle/>
          <a:p>
            <a:pPr indent="0" marL="0">
              <a:buNone/>
            </a:pPr>
            <a:r>
              <a:rPr lang="en-US" sz="1200" b="1" spc="150" kern="0" dirty="0">
                <a:solidFill>
                  <a:srgbClr val="55C8E8"/>
                </a:solidFill>
                <a:latin typeface="Calibri" pitchFamily="34" charset="0"/>
                <a:ea typeface="Calibri" pitchFamily="34" charset="-122"/>
                <a:cs typeface="Calibri" pitchFamily="34" charset="-120"/>
              </a:rPr>
              <a:t>SOCRATIC QUESTIONS</a:t>
            </a:r>
            <a:endParaRPr lang="en-US" sz="1200" dirty="0"/>
          </a:p>
        </p:txBody>
      </p:sp>
      <p:sp>
        <p:nvSpPr>
          <p:cNvPr id="9" name="Text 7"/>
          <p:cNvSpPr/>
          <p:nvPr/>
        </p:nvSpPr>
        <p:spPr>
          <a:xfrm>
            <a:off x="856488" y="4245864"/>
            <a:ext cx="10488168" cy="1243584"/>
          </a:xfrm>
          <a:prstGeom prst="rect">
            <a:avLst/>
          </a:prstGeom>
          <a:noFill/>
          <a:ln/>
        </p:spPr>
        <p:txBody>
          <a:bodyPr wrap="square" lIns="0" tIns="0" rIns="0" bIns="0" rtlCol="0" anchor="t"/>
          <a:lstStyle/>
          <a:p>
            <a:pPr marL="342900" indent="-342900">
              <a:spcAft>
                <a:spcPts val="500"/>
              </a:spcAft>
              <a:buSzPct val="100000"/>
              <a:buChar char="•"/>
            </a:pPr>
            <a:r>
              <a:rPr lang="en-US" sz="1400" i="1" dirty="0">
                <a:solidFill>
                  <a:srgbClr val="FFFFFF"/>
                </a:solidFill>
                <a:latin typeface="Calibri" pitchFamily="34" charset="0"/>
                <a:ea typeface="Calibri" pitchFamily="34" charset="-122"/>
                <a:cs typeface="Calibri" pitchFamily="34" charset="-120"/>
              </a:rPr>
              <a:t>What is wrong with using the word 'Indians' instead of specific names?</a:t>
            </a:r>
            <a:endParaRPr lang="en-US" sz="1400" dirty="0"/>
          </a:p>
          <a:p>
            <a:pPr marL="342900" indent="-342900">
              <a:spcAft>
                <a:spcPts val="500"/>
              </a:spcAft>
              <a:buSzPct val="100000"/>
              <a:buChar char="•"/>
            </a:pPr>
            <a:r>
              <a:rPr lang="en-US" sz="1400" i="1" dirty="0">
                <a:solidFill>
                  <a:srgbClr val="FFFFFF"/>
                </a:solidFill>
                <a:latin typeface="Calibri" pitchFamily="34" charset="0"/>
                <a:ea typeface="Calibri" pitchFamily="34" charset="-122"/>
                <a:cs typeface="Calibri" pitchFamily="34" charset="-120"/>
              </a:rPr>
              <a:t>Did one group build both pyramids AND longhouses? What's the error?</a:t>
            </a:r>
            <a:endParaRPr lang="en-US" sz="1400" dirty="0"/>
          </a:p>
          <a:p>
            <a:pPr marL="342900" indent="-342900">
              <a:spcAft>
                <a:spcPts val="500"/>
              </a:spcAft>
              <a:buSzPct val="100000"/>
              <a:buChar char="•"/>
            </a:pPr>
            <a:r>
              <a:rPr lang="en-US" sz="1400" i="1" dirty="0">
                <a:solidFill>
                  <a:srgbClr val="FFFFFF"/>
                </a:solidFill>
                <a:latin typeface="Calibri" pitchFamily="34" charset="0"/>
                <a:ea typeface="Calibri" pitchFamily="34" charset="-122"/>
                <a:cs typeface="Calibri" pitchFamily="34" charset="-120"/>
              </a:rPr>
              <a:t>Who actually spoke French in this region?</a:t>
            </a:r>
            <a:endParaRPr lang="en-US" sz="1400" dirty="0"/>
          </a:p>
        </p:txBody>
      </p:sp>
      <p:sp>
        <p:nvSpPr>
          <p:cNvPr id="10" name="Shape 8"/>
          <p:cNvSpPr/>
          <p:nvPr/>
        </p:nvSpPr>
        <p:spPr>
          <a:xfrm>
            <a:off x="609600" y="5852160"/>
            <a:ext cx="10972800" cy="853440"/>
          </a:xfrm>
          <a:prstGeom prst="roundRect">
            <a:avLst>
              <a:gd name="adj" fmla="val 17143"/>
            </a:avLst>
          </a:prstGeom>
          <a:solidFill>
            <a:srgbClr val="FFF3DC"/>
          </a:solidFill>
          <a:ln w="19050">
            <a:solidFill>
              <a:srgbClr val="F5E6C8"/>
            </a:solidFill>
            <a:prstDash val="solid"/>
          </a:ln>
        </p:spPr>
      </p:sp>
      <p:sp>
        <p:nvSpPr>
          <p:cNvPr id="11" name="Text 9"/>
          <p:cNvSpPr/>
          <p:nvPr/>
        </p:nvSpPr>
        <p:spPr>
          <a:xfrm>
            <a:off x="792480" y="5925312"/>
            <a:ext cx="10607040" cy="265176"/>
          </a:xfrm>
          <a:prstGeom prst="rect">
            <a:avLst/>
          </a:prstGeom>
          <a:noFill/>
          <a:ln/>
        </p:spPr>
        <p:txBody>
          <a:bodyPr wrap="square" lIns="0" tIns="0" rIns="0" bIns="0" rtlCol="0" anchor="ctr"/>
          <a:lstStyle/>
          <a:p>
            <a:pPr indent="0" marL="0">
              <a:buNone/>
            </a:pPr>
            <a:r>
              <a:rPr lang="en-US" sz="1200" b="1" spc="150" kern="0" dirty="0">
                <a:solidFill>
                  <a:srgbClr val="D4943A"/>
                </a:solidFill>
                <a:latin typeface="Calibri" pitchFamily="34" charset="0"/>
                <a:ea typeface="Calibri" pitchFamily="34" charset="-122"/>
                <a:cs typeface="Calibri" pitchFamily="34" charset="-120"/>
              </a:rPr>
              <a:t>CHAT FRAME</a:t>
            </a:r>
            <a:endParaRPr lang="en-US" sz="1200" dirty="0"/>
          </a:p>
        </p:txBody>
      </p:sp>
      <p:sp>
        <p:nvSpPr>
          <p:cNvPr id="12" name="Text 10"/>
          <p:cNvSpPr/>
          <p:nvPr/>
        </p:nvSpPr>
        <p:spPr>
          <a:xfrm>
            <a:off x="792480" y="6190488"/>
            <a:ext cx="10607040" cy="423672"/>
          </a:xfrm>
          <a:prstGeom prst="rect">
            <a:avLst/>
          </a:prstGeom>
          <a:noFill/>
          <a:ln/>
        </p:spPr>
        <p:txBody>
          <a:bodyPr wrap="square" lIns="0" tIns="0" rIns="0" bIns="0" rtlCol="0" anchor="t"/>
          <a:lstStyle/>
          <a:p>
            <a:pPr indent="0" marL="0">
              <a:spcAft>
                <a:spcPts val="700"/>
              </a:spcAft>
              <a:buNone/>
            </a:pPr>
            <a:r>
              <a:rPr lang="en-US" sz="1600" i="1" dirty="0">
                <a:solidFill>
                  <a:srgbClr val="5A4A3A"/>
                </a:solidFill>
                <a:latin typeface="Cambria" pitchFamily="34" charset="0"/>
                <a:ea typeface="Cambria" pitchFamily="34" charset="-122"/>
                <a:cs typeface="Cambria" pitchFamily="34" charset="-120"/>
              </a:rPr>
              <a:t>"Rewrite this sentence with your partner. Use the correct culture names and facts."</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Text 1"/>
          <p:cNvSpPr/>
          <p:nvPr/>
        </p:nvSpPr>
        <p:spPr>
          <a:xfrm>
            <a:off x="609600" y="487680"/>
            <a:ext cx="6096000" cy="426720"/>
          </a:xfrm>
          <a:prstGeom prst="rect">
            <a:avLst/>
          </a:prstGeom>
          <a:noFill/>
          <a:ln/>
        </p:spPr>
        <p:txBody>
          <a:bodyPr wrap="square" lIns="0" tIns="0" rIns="0" bIns="0" rtlCol="0" anchor="ctr"/>
          <a:lstStyle/>
          <a:p>
            <a:pPr indent="0" marL="0">
              <a:buNone/>
            </a:pPr>
            <a:r>
              <a:rPr lang="en-US" sz="1300" b="1" spc="200" kern="0" dirty="0">
                <a:solidFill>
                  <a:srgbClr val="1A8A7D"/>
                </a:solidFill>
                <a:latin typeface="Calibri" pitchFamily="34" charset="0"/>
                <a:ea typeface="Calibri" pitchFamily="34" charset="-122"/>
                <a:cs typeface="Calibri" pitchFamily="34" charset="-120"/>
              </a:rPr>
              <a:t>SELF-CHECK</a:t>
            </a:r>
            <a:endParaRPr lang="en-US" sz="1300" dirty="0"/>
          </a:p>
        </p:txBody>
      </p:sp>
      <p:sp>
        <p:nvSpPr>
          <p:cNvPr id="4" name="Text 2"/>
          <p:cNvSpPr/>
          <p:nvPr/>
        </p:nvSpPr>
        <p:spPr>
          <a:xfrm>
            <a:off x="609600" y="975360"/>
            <a:ext cx="10972800" cy="731520"/>
          </a:xfrm>
          <a:prstGeom prst="rect">
            <a:avLst/>
          </a:prstGeom>
          <a:noFill/>
          <a:ln/>
        </p:spPr>
        <p:txBody>
          <a:bodyPr wrap="square" lIns="0" tIns="0" rIns="0" bIns="0" rtlCol="0" anchor="ctr"/>
          <a:lstStyle/>
          <a:p>
            <a:pPr indent="0" marL="0">
              <a:buNone/>
            </a:pPr>
            <a:r>
              <a:rPr lang="en-US" sz="3000" b="1" dirty="0">
                <a:solidFill>
                  <a:srgbClr val="0E1C42"/>
                </a:solidFill>
                <a:latin typeface="Cambria" pitchFamily="34" charset="0"/>
                <a:ea typeface="Cambria" pitchFamily="34" charset="-122"/>
                <a:cs typeface="Cambria" pitchFamily="34" charset="-120"/>
              </a:rPr>
              <a:t>Check Your Understanding</a:t>
            </a:r>
            <a:endParaRPr lang="en-US" sz="3000" dirty="0"/>
          </a:p>
        </p:txBody>
      </p:sp>
      <p:sp>
        <p:nvSpPr>
          <p:cNvPr id="5" name="Shape 3"/>
          <p:cNvSpPr/>
          <p:nvPr/>
        </p:nvSpPr>
        <p:spPr>
          <a:xfrm>
            <a:off x="609600" y="1950720"/>
            <a:ext cx="10972800" cy="1219200"/>
          </a:xfrm>
          <a:prstGeom prst="roundRect">
            <a:avLst>
              <a:gd name="adj" fmla="val 9000"/>
            </a:avLst>
          </a:prstGeom>
          <a:solidFill>
            <a:srgbClr val="FFFFFF"/>
          </a:solidFill>
          <a:ln w="12700">
            <a:solidFill>
              <a:srgbClr val="D0D4DC"/>
            </a:solidFill>
            <a:prstDash val="solid"/>
          </a:ln>
        </p:spPr>
      </p:sp>
      <p:sp>
        <p:nvSpPr>
          <p:cNvPr id="6" name="Text 4"/>
          <p:cNvSpPr/>
          <p:nvPr/>
        </p:nvSpPr>
        <p:spPr>
          <a:xfrm>
            <a:off x="853440" y="2011680"/>
            <a:ext cx="10485120" cy="1097280"/>
          </a:xfrm>
          <a:prstGeom prst="rect">
            <a:avLst/>
          </a:prstGeom>
          <a:noFill/>
          <a:ln/>
        </p:spPr>
        <p:txBody>
          <a:bodyPr wrap="square" lIns="0" tIns="0" rIns="0" bIns="0" rtlCol="0" anchor="ctr"/>
          <a:lstStyle/>
          <a:p>
            <a:pPr indent="0" marL="0">
              <a:spcAft>
                <a:spcPts val="400"/>
              </a:spcAft>
              <a:buNone/>
            </a:pPr>
            <a:r>
              <a:rPr lang="en-US" sz="1600" b="1" dirty="0">
                <a:solidFill>
                  <a:srgbClr val="0E1C42"/>
                </a:solidFill>
                <a:latin typeface="Calibri" pitchFamily="34" charset="0"/>
                <a:ea typeface="Calibri" pitchFamily="34" charset="-122"/>
                <a:cs typeface="Calibri" pitchFamily="34" charset="-120"/>
              </a:rPr>
              <a:t>1. Who has lived in this region the LONGEST?</a:t>
            </a:r>
            <a:endParaRPr lang="en-US" sz="1600" dirty="0"/>
          </a:p>
          <a:p>
            <a:pPr indent="0" marL="0">
              <a:buNone/>
            </a:pPr>
            <a:r>
              <a:rPr lang="en-US" sz="1500" dirty="0">
                <a:solidFill>
                  <a:srgbClr val="0E1C42"/>
                </a:solidFill>
                <a:latin typeface="Calibri" pitchFamily="34" charset="0"/>
                <a:ea typeface="Calibri" pitchFamily="34" charset="-122"/>
                <a:cs typeface="Calibri" pitchFamily="34" charset="-120"/>
              </a:rPr>
              <a:t>A. Spanish settlers    B. French settlers    C. Indigenous peoples</a:t>
            </a:r>
            <a:endParaRPr lang="en-US" sz="1600" dirty="0"/>
          </a:p>
        </p:txBody>
      </p:sp>
      <p:sp>
        <p:nvSpPr>
          <p:cNvPr id="7" name="Shape 5"/>
          <p:cNvSpPr/>
          <p:nvPr/>
        </p:nvSpPr>
        <p:spPr>
          <a:xfrm>
            <a:off x="609600" y="3413760"/>
            <a:ext cx="10972800" cy="1341120"/>
          </a:xfrm>
          <a:prstGeom prst="roundRect">
            <a:avLst>
              <a:gd name="adj" fmla="val 8182"/>
            </a:avLst>
          </a:prstGeom>
          <a:solidFill>
            <a:srgbClr val="FFFFFF"/>
          </a:solidFill>
          <a:ln w="12700">
            <a:solidFill>
              <a:srgbClr val="D0D4DC"/>
            </a:solidFill>
            <a:prstDash val="solid"/>
          </a:ln>
        </p:spPr>
      </p:sp>
      <p:sp>
        <p:nvSpPr>
          <p:cNvPr id="8" name="Text 6"/>
          <p:cNvSpPr/>
          <p:nvPr/>
        </p:nvSpPr>
        <p:spPr>
          <a:xfrm>
            <a:off x="853440" y="3474720"/>
            <a:ext cx="10485120" cy="1219200"/>
          </a:xfrm>
          <a:prstGeom prst="rect">
            <a:avLst/>
          </a:prstGeom>
          <a:noFill/>
          <a:ln/>
        </p:spPr>
        <p:txBody>
          <a:bodyPr wrap="square" lIns="0" tIns="0" rIns="0" bIns="0" rtlCol="0" anchor="ctr"/>
          <a:lstStyle/>
          <a:p>
            <a:pPr indent="0" marL="0">
              <a:spcAft>
                <a:spcPts val="400"/>
              </a:spcAft>
              <a:buNone/>
            </a:pPr>
            <a:r>
              <a:rPr lang="en-US" sz="1600" b="1" dirty="0">
                <a:solidFill>
                  <a:srgbClr val="0E1C42"/>
                </a:solidFill>
                <a:latin typeface="Calibri" pitchFamily="34" charset="0"/>
                <a:ea typeface="Calibri" pitchFamily="34" charset="-122"/>
                <a:cs typeface="Calibri" pitchFamily="34" charset="-120"/>
              </a:rPr>
              <a:t>2. Which culture is best known for stepped stone pyramids and the invention of zero?</a:t>
            </a:r>
            <a:endParaRPr lang="en-US" sz="1600" dirty="0"/>
          </a:p>
          <a:p>
            <a:pPr indent="0" marL="0">
              <a:buNone/>
            </a:pPr>
            <a:r>
              <a:rPr lang="en-US" sz="1500" dirty="0">
                <a:solidFill>
                  <a:srgbClr val="0E1C42"/>
                </a:solidFill>
                <a:latin typeface="Calibri" pitchFamily="34" charset="0"/>
                <a:ea typeface="Calibri" pitchFamily="34" charset="-122"/>
                <a:cs typeface="Calibri" pitchFamily="34" charset="-120"/>
              </a:rPr>
              <a:t>A. The French    B. The Maya    C. The Haudenosaunee</a:t>
            </a:r>
            <a:endParaRPr lang="en-US" sz="1600" dirty="0"/>
          </a:p>
        </p:txBody>
      </p:sp>
      <p:sp>
        <p:nvSpPr>
          <p:cNvPr id="9" name="Shape 7"/>
          <p:cNvSpPr/>
          <p:nvPr/>
        </p:nvSpPr>
        <p:spPr>
          <a:xfrm>
            <a:off x="609600" y="4998720"/>
            <a:ext cx="10972800" cy="1463040"/>
          </a:xfrm>
          <a:prstGeom prst="roundRect">
            <a:avLst>
              <a:gd name="adj" fmla="val 7500"/>
            </a:avLst>
          </a:prstGeom>
          <a:solidFill>
            <a:srgbClr val="FFFFFF"/>
          </a:solidFill>
          <a:ln w="12700">
            <a:solidFill>
              <a:srgbClr val="D0D4DC"/>
            </a:solidFill>
            <a:prstDash val="solid"/>
          </a:ln>
        </p:spPr>
      </p:sp>
      <p:sp>
        <p:nvSpPr>
          <p:cNvPr id="10" name="Text 8"/>
          <p:cNvSpPr/>
          <p:nvPr/>
        </p:nvSpPr>
        <p:spPr>
          <a:xfrm>
            <a:off x="853440" y="5059680"/>
            <a:ext cx="10485120" cy="1341120"/>
          </a:xfrm>
          <a:prstGeom prst="rect">
            <a:avLst/>
          </a:prstGeom>
          <a:noFill/>
          <a:ln/>
        </p:spPr>
        <p:txBody>
          <a:bodyPr wrap="square" lIns="0" tIns="0" rIns="0" bIns="0" rtlCol="0" anchor="ctr"/>
          <a:lstStyle/>
          <a:p>
            <a:pPr indent="0" marL="0">
              <a:spcAft>
                <a:spcPts val="400"/>
              </a:spcAft>
              <a:buNone/>
            </a:pPr>
            <a:r>
              <a:rPr lang="en-US" sz="1600" b="1" dirty="0">
                <a:solidFill>
                  <a:srgbClr val="0E1C42"/>
                </a:solidFill>
                <a:latin typeface="Calibri" pitchFamily="34" charset="0"/>
                <a:ea typeface="Calibri" pitchFamily="34" charset="-122"/>
                <a:cs typeface="Calibri" pitchFamily="34" charset="-120"/>
              </a:rPr>
              <a:t>3. Why does courtesy matter when a curator describes a culture?</a:t>
            </a:r>
            <a:endParaRPr lang="en-US" sz="1600" dirty="0"/>
          </a:p>
          <a:p>
            <a:pPr indent="0" marL="0">
              <a:buNone/>
            </a:pPr>
            <a:r>
              <a:rPr lang="en-US" sz="1500" dirty="0">
                <a:solidFill>
                  <a:srgbClr val="0E1C42"/>
                </a:solidFill>
                <a:latin typeface="Calibri" pitchFamily="34" charset="0"/>
                <a:ea typeface="Calibri" pitchFamily="34" charset="-122"/>
                <a:cs typeface="Calibri" pitchFamily="34" charset="-120"/>
              </a:rPr>
              <a:t>A. Cultures are real groups of people, so curators use real names and accurate facts    B. So labels look nice    C. To save time</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Text 1"/>
          <p:cNvSpPr/>
          <p:nvPr/>
        </p:nvSpPr>
        <p:spPr>
          <a:xfrm>
            <a:off x="609600" y="487680"/>
            <a:ext cx="10972800" cy="426720"/>
          </a:xfrm>
          <a:prstGeom prst="rect">
            <a:avLst/>
          </a:prstGeom>
          <a:noFill/>
          <a:ln/>
        </p:spPr>
        <p:txBody>
          <a:bodyPr wrap="square" lIns="0" tIns="0" rIns="0" bIns="0" rtlCol="0" anchor="ctr"/>
          <a:lstStyle/>
          <a:p>
            <a:pPr indent="0" marL="0">
              <a:buNone/>
            </a:pPr>
            <a:r>
              <a:rPr lang="en-US" sz="1300" b="1" spc="200" kern="0" dirty="0">
                <a:solidFill>
                  <a:srgbClr val="1A8A7D"/>
                </a:solidFill>
                <a:latin typeface="Calibri" pitchFamily="34" charset="0"/>
                <a:ea typeface="Calibri" pitchFamily="34" charset="-122"/>
                <a:cs typeface="Calibri" pitchFamily="34" charset="-120"/>
              </a:rPr>
              <a:t>GUIDED PRACTICE — EVIDENCE QUESTION 1</a:t>
            </a:r>
            <a:endParaRPr lang="en-US" sz="1300" dirty="0"/>
          </a:p>
        </p:txBody>
      </p:sp>
      <p:sp>
        <p:nvSpPr>
          <p:cNvPr id="4" name="Shape 2"/>
          <p:cNvSpPr/>
          <p:nvPr/>
        </p:nvSpPr>
        <p:spPr>
          <a:xfrm>
            <a:off x="609600" y="1219200"/>
            <a:ext cx="10972800" cy="1219200"/>
          </a:xfrm>
          <a:prstGeom prst="roundRect">
            <a:avLst>
              <a:gd name="adj" fmla="val 12000"/>
            </a:avLst>
          </a:prstGeom>
          <a:solidFill>
            <a:srgbClr val="FFFFFF"/>
          </a:solidFill>
          <a:ln/>
          <a:effectLst>
            <a:outerShdw sx="100000" sy="100000" kx="0" ky="0" algn="bl" rotWithShape="0" blurRad="76200" dist="25400" dir="8100000">
              <a:srgbClr val="000000">
                <a:alpha val="10000"/>
              </a:srgbClr>
            </a:outerShdw>
          </a:effectLst>
        </p:spPr>
      </p:sp>
      <p:sp>
        <p:nvSpPr>
          <p:cNvPr id="5" name="Text 3"/>
          <p:cNvSpPr/>
          <p:nvPr/>
        </p:nvSpPr>
        <p:spPr>
          <a:xfrm>
            <a:off x="853440" y="1280160"/>
            <a:ext cx="10485120" cy="1097280"/>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Name one thing the Haudenosaunee people brought to this region, and one thing the Maya brought.</a:t>
            </a:r>
            <a:endParaRPr lang="en-US" sz="2200" dirty="0"/>
          </a:p>
        </p:txBody>
      </p:sp>
      <p:sp>
        <p:nvSpPr>
          <p:cNvPr id="6" name="Text 4"/>
          <p:cNvSpPr/>
          <p:nvPr/>
        </p:nvSpPr>
        <p:spPr>
          <a:xfrm>
            <a:off x="609600" y="2804160"/>
            <a:ext cx="10972800" cy="426720"/>
          </a:xfrm>
          <a:prstGeom prst="rect">
            <a:avLst/>
          </a:prstGeom>
          <a:noFill/>
          <a:ln/>
        </p:spPr>
        <p:txBody>
          <a:bodyPr wrap="square" lIns="0" tIns="0" rIns="0" bIns="0" rtlCol="0" anchor="ctr"/>
          <a:lstStyle/>
          <a:p>
            <a:pPr indent="0" marL="0">
              <a:buNone/>
            </a:pPr>
            <a:r>
              <a:rPr lang="en-US" sz="1300" b="1" spc="200" kern="0" dirty="0">
                <a:solidFill>
                  <a:srgbClr val="D4943A"/>
                </a:solidFill>
                <a:latin typeface="Calibri" pitchFamily="34" charset="0"/>
                <a:ea typeface="Calibri" pitchFamily="34" charset="-122"/>
                <a:cs typeface="Calibri" pitchFamily="34" charset="-120"/>
              </a:rPr>
              <a:t>SCAFFOLDING</a:t>
            </a:r>
            <a:endParaRPr lang="en-US" sz="1300" dirty="0"/>
          </a:p>
        </p:txBody>
      </p:sp>
      <p:sp>
        <p:nvSpPr>
          <p:cNvPr id="7" name="Shape 5"/>
          <p:cNvSpPr/>
          <p:nvPr/>
        </p:nvSpPr>
        <p:spPr>
          <a:xfrm>
            <a:off x="609600" y="3413760"/>
            <a:ext cx="5242560" cy="1950720"/>
          </a:xfrm>
          <a:prstGeom prst="roundRect">
            <a:avLst>
              <a:gd name="adj" fmla="val 5625"/>
            </a:avLst>
          </a:prstGeom>
          <a:solidFill>
            <a:srgbClr val="E3F8ED"/>
          </a:solidFill>
          <a:ln w="12700">
            <a:solidFill>
              <a:srgbClr val="A8E6C4"/>
            </a:solidFill>
            <a:prstDash val="solid"/>
          </a:ln>
        </p:spPr>
      </p:sp>
      <p:sp>
        <p:nvSpPr>
          <p:cNvPr id="8" name="Text 6"/>
          <p:cNvSpPr/>
          <p:nvPr/>
        </p:nvSpPr>
        <p:spPr>
          <a:xfrm>
            <a:off x="853440" y="3474720"/>
            <a:ext cx="4754880" cy="1828800"/>
          </a:xfrm>
          <a:prstGeom prst="rect">
            <a:avLst/>
          </a:prstGeom>
          <a:noFill/>
          <a:ln/>
        </p:spPr>
        <p:txBody>
          <a:bodyPr wrap="square" lIns="0" tIns="0" rIns="0" bIns="0" rtlCol="0" anchor="t"/>
          <a:lstStyle/>
          <a:p>
            <a:pPr indent="0" marL="0">
              <a:spcAft>
                <a:spcPts val="400"/>
              </a:spcAft>
              <a:buNone/>
            </a:pPr>
            <a:r>
              <a:rPr lang="en-US" sz="1400" b="1" dirty="0">
                <a:solidFill>
                  <a:srgbClr val="34B76F"/>
                </a:solidFill>
                <a:latin typeface="Calibri" pitchFamily="34" charset="0"/>
                <a:ea typeface="Calibri" pitchFamily="34" charset="-122"/>
                <a:cs typeface="Calibri" pitchFamily="34" charset="-120"/>
              </a:rPr>
              <a:t>Haudenosaunee</a:t>
            </a:r>
            <a:endParaRPr lang="en-US" sz="1400" dirty="0"/>
          </a:p>
          <a:p>
            <a:pPr marL="342900" indent="-342900">
              <a:spcAft>
                <a:spcPts val="300"/>
              </a:spcAft>
              <a:buSzPct val="100000"/>
              <a:buChar char="•"/>
            </a:pPr>
            <a:r>
              <a:rPr lang="en-US" sz="1500" dirty="0">
                <a:solidFill>
                  <a:srgbClr val="0E1C42"/>
                </a:solidFill>
                <a:latin typeface="Calibri" pitchFamily="34" charset="0"/>
                <a:ea typeface="Calibri" pitchFamily="34" charset="-122"/>
                <a:cs typeface="Calibri" pitchFamily="34" charset="-120"/>
              </a:rPr>
              <a:t>Longhouses</a:t>
            </a:r>
            <a:endParaRPr lang="en-US" sz="1400" dirty="0"/>
          </a:p>
          <a:p>
            <a:pPr marL="342900" indent="-342900">
              <a:spcAft>
                <a:spcPts val="300"/>
              </a:spcAft>
              <a:buSzPct val="100000"/>
              <a:buChar char="•"/>
            </a:pPr>
            <a:r>
              <a:rPr lang="en-US" sz="1500" dirty="0">
                <a:solidFill>
                  <a:srgbClr val="0E1C42"/>
                </a:solidFill>
                <a:latin typeface="Calibri" pitchFamily="34" charset="0"/>
                <a:ea typeface="Calibri" pitchFamily="34" charset="-122"/>
                <a:cs typeface="Calibri" pitchFamily="34" charset="-120"/>
              </a:rPr>
              <a:t>Lacrosse</a:t>
            </a:r>
            <a:endParaRPr lang="en-US" sz="1400" dirty="0"/>
          </a:p>
          <a:p>
            <a:pPr marL="342900" indent="-342900">
              <a:buSzPct val="100000"/>
              <a:buChar char="•"/>
            </a:pPr>
            <a:r>
              <a:rPr lang="en-US" sz="1500" dirty="0">
                <a:solidFill>
                  <a:srgbClr val="0E1C42"/>
                </a:solidFill>
                <a:latin typeface="Calibri" pitchFamily="34" charset="0"/>
                <a:ea typeface="Calibri" pitchFamily="34" charset="-122"/>
                <a:cs typeface="Calibri" pitchFamily="34" charset="-120"/>
              </a:rPr>
              <a:t>Three Sisters farming</a:t>
            </a:r>
            <a:endParaRPr lang="en-US" sz="1400" dirty="0"/>
          </a:p>
        </p:txBody>
      </p:sp>
      <p:sp>
        <p:nvSpPr>
          <p:cNvPr id="9" name="Shape 7"/>
          <p:cNvSpPr/>
          <p:nvPr/>
        </p:nvSpPr>
        <p:spPr>
          <a:xfrm>
            <a:off x="6339840" y="3413760"/>
            <a:ext cx="5242560" cy="1950720"/>
          </a:xfrm>
          <a:prstGeom prst="roundRect">
            <a:avLst>
              <a:gd name="adj" fmla="val 5625"/>
            </a:avLst>
          </a:prstGeom>
          <a:solidFill>
            <a:srgbClr val="EAF8FD"/>
          </a:solidFill>
          <a:ln w="12700">
            <a:solidFill>
              <a:srgbClr val="B8E4F4"/>
            </a:solidFill>
            <a:prstDash val="solid"/>
          </a:ln>
        </p:spPr>
      </p:sp>
      <p:sp>
        <p:nvSpPr>
          <p:cNvPr id="10" name="Text 8"/>
          <p:cNvSpPr/>
          <p:nvPr/>
        </p:nvSpPr>
        <p:spPr>
          <a:xfrm>
            <a:off x="6583680" y="3474720"/>
            <a:ext cx="4754880" cy="1828800"/>
          </a:xfrm>
          <a:prstGeom prst="rect">
            <a:avLst/>
          </a:prstGeom>
          <a:noFill/>
          <a:ln/>
        </p:spPr>
        <p:txBody>
          <a:bodyPr wrap="square" lIns="0" tIns="0" rIns="0" bIns="0" rtlCol="0" anchor="t"/>
          <a:lstStyle/>
          <a:p>
            <a:pPr indent="0" marL="0">
              <a:spcAft>
                <a:spcPts val="400"/>
              </a:spcAft>
              <a:buNone/>
            </a:pPr>
            <a:r>
              <a:rPr lang="en-US" sz="1400" b="1" dirty="0">
                <a:solidFill>
                  <a:srgbClr val="1A8A7D"/>
                </a:solidFill>
                <a:latin typeface="Calibri" pitchFamily="34" charset="0"/>
                <a:ea typeface="Calibri" pitchFamily="34" charset="-122"/>
                <a:cs typeface="Calibri" pitchFamily="34" charset="-120"/>
              </a:rPr>
              <a:t>Maya</a:t>
            </a:r>
            <a:endParaRPr lang="en-US" sz="1400" dirty="0"/>
          </a:p>
          <a:p>
            <a:pPr marL="342900" indent="-342900">
              <a:spcAft>
                <a:spcPts val="300"/>
              </a:spcAft>
              <a:buSzPct val="100000"/>
              <a:buChar char="•"/>
            </a:pPr>
            <a:r>
              <a:rPr lang="en-US" sz="1500" dirty="0">
                <a:solidFill>
                  <a:srgbClr val="0E1C42"/>
                </a:solidFill>
                <a:latin typeface="Calibri" pitchFamily="34" charset="0"/>
                <a:ea typeface="Calibri" pitchFamily="34" charset="-122"/>
                <a:cs typeface="Calibri" pitchFamily="34" charset="-120"/>
              </a:rPr>
              <a:t>Stepped pyramids</a:t>
            </a:r>
            <a:endParaRPr lang="en-US" sz="1400" dirty="0"/>
          </a:p>
          <a:p>
            <a:pPr marL="342900" indent="-342900">
              <a:spcAft>
                <a:spcPts val="300"/>
              </a:spcAft>
              <a:buSzPct val="100000"/>
              <a:buChar char="•"/>
            </a:pPr>
            <a:r>
              <a:rPr lang="en-US" sz="1500" dirty="0">
                <a:solidFill>
                  <a:srgbClr val="0E1C42"/>
                </a:solidFill>
                <a:latin typeface="Calibri" pitchFamily="34" charset="0"/>
                <a:ea typeface="Calibri" pitchFamily="34" charset="-122"/>
                <a:cs typeface="Calibri" pitchFamily="34" charset="-120"/>
              </a:rPr>
              <a:t>The number zero</a:t>
            </a:r>
            <a:endParaRPr lang="en-US" sz="1400" dirty="0"/>
          </a:p>
          <a:p>
            <a:pPr marL="342900" indent="-342900">
              <a:buSzPct val="100000"/>
              <a:buChar char="•"/>
            </a:pPr>
            <a:r>
              <a:rPr lang="en-US" sz="1500" dirty="0">
                <a:solidFill>
                  <a:srgbClr val="0E1C42"/>
                </a:solidFill>
                <a:latin typeface="Calibri" pitchFamily="34" charset="0"/>
                <a:ea typeface="Calibri" pitchFamily="34" charset="-122"/>
                <a:cs typeface="Calibri" pitchFamily="34" charset="-120"/>
              </a:rPr>
              <a:t>Chocolate (cacao)</a:t>
            </a:r>
            <a:endParaRPr lang="en-US" sz="1400" dirty="0"/>
          </a:p>
        </p:txBody>
      </p:sp>
      <p:sp>
        <p:nvSpPr>
          <p:cNvPr id="11" name="Shape 9"/>
          <p:cNvSpPr/>
          <p:nvPr/>
        </p:nvSpPr>
        <p:spPr>
          <a:xfrm>
            <a:off x="609600" y="5608320"/>
            <a:ext cx="10972800" cy="853440"/>
          </a:xfrm>
          <a:prstGeom prst="roundRect">
            <a:avLst>
              <a:gd name="adj" fmla="val 17143"/>
            </a:avLst>
          </a:prstGeom>
          <a:solidFill>
            <a:srgbClr val="FFF3DC"/>
          </a:solidFill>
          <a:ln w="19050">
            <a:solidFill>
              <a:srgbClr val="F5E6C8"/>
            </a:solidFill>
            <a:prstDash val="solid"/>
          </a:ln>
        </p:spPr>
      </p:sp>
      <p:sp>
        <p:nvSpPr>
          <p:cNvPr id="12" name="Text 10"/>
          <p:cNvSpPr/>
          <p:nvPr/>
        </p:nvSpPr>
        <p:spPr>
          <a:xfrm>
            <a:off x="792480" y="5681472"/>
            <a:ext cx="10607040" cy="265176"/>
          </a:xfrm>
          <a:prstGeom prst="rect">
            <a:avLst/>
          </a:prstGeom>
          <a:noFill/>
          <a:ln/>
        </p:spPr>
        <p:txBody>
          <a:bodyPr wrap="square" lIns="0" tIns="0" rIns="0" bIns="0" rtlCol="0" anchor="ctr"/>
          <a:lstStyle/>
          <a:p>
            <a:pPr indent="0" marL="0">
              <a:buNone/>
            </a:pPr>
            <a:r>
              <a:rPr lang="en-US" sz="1200" b="1" spc="150" kern="0" dirty="0">
                <a:solidFill>
                  <a:srgbClr val="D4943A"/>
                </a:solidFill>
                <a:latin typeface="Calibri" pitchFamily="34" charset="0"/>
                <a:ea typeface="Calibri" pitchFamily="34" charset="-122"/>
                <a:cs typeface="Calibri" pitchFamily="34" charset="-120"/>
              </a:rPr>
              <a:t>CHAT FRAME</a:t>
            </a:r>
            <a:endParaRPr lang="en-US" sz="1200" dirty="0"/>
          </a:p>
        </p:txBody>
      </p:sp>
      <p:sp>
        <p:nvSpPr>
          <p:cNvPr id="13" name="Text 11"/>
          <p:cNvSpPr/>
          <p:nvPr/>
        </p:nvSpPr>
        <p:spPr>
          <a:xfrm>
            <a:off x="792480" y="5946648"/>
            <a:ext cx="10607040" cy="423672"/>
          </a:xfrm>
          <a:prstGeom prst="rect">
            <a:avLst/>
          </a:prstGeom>
          <a:noFill/>
          <a:ln/>
        </p:spPr>
        <p:txBody>
          <a:bodyPr wrap="square" lIns="0" tIns="0" rIns="0" bIns="0" rtlCol="0" anchor="t"/>
          <a:lstStyle/>
          <a:p>
            <a:pPr indent="0" marL="0">
              <a:spcAft>
                <a:spcPts val="700"/>
              </a:spcAft>
              <a:buNone/>
            </a:pPr>
            <a:r>
              <a:rPr lang="en-US" sz="1600" i="1" dirty="0">
                <a:solidFill>
                  <a:srgbClr val="5A4A3A"/>
                </a:solidFill>
                <a:latin typeface="Cambria" pitchFamily="34" charset="0"/>
                <a:ea typeface="Cambria" pitchFamily="34" charset="-122"/>
                <a:cs typeface="Cambria" pitchFamily="34" charset="-120"/>
              </a:rPr>
              <a:t>"Pick one from each column and tell your partner. Use their real names."</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Text 1"/>
          <p:cNvSpPr/>
          <p:nvPr/>
        </p:nvSpPr>
        <p:spPr>
          <a:xfrm>
            <a:off x="609600" y="487680"/>
            <a:ext cx="10972800" cy="426720"/>
          </a:xfrm>
          <a:prstGeom prst="rect">
            <a:avLst/>
          </a:prstGeom>
          <a:noFill/>
          <a:ln/>
        </p:spPr>
        <p:txBody>
          <a:bodyPr wrap="square" lIns="0" tIns="0" rIns="0" bIns="0" rtlCol="0" anchor="ctr"/>
          <a:lstStyle/>
          <a:p>
            <a:pPr indent="0" marL="0">
              <a:buNone/>
            </a:pPr>
            <a:r>
              <a:rPr lang="en-US" sz="1300" b="1" spc="200" kern="0" dirty="0">
                <a:solidFill>
                  <a:srgbClr val="1A8A7D"/>
                </a:solidFill>
                <a:latin typeface="Calibri" pitchFamily="34" charset="0"/>
                <a:ea typeface="Calibri" pitchFamily="34" charset="-122"/>
                <a:cs typeface="Calibri" pitchFamily="34" charset="-120"/>
              </a:rPr>
              <a:t>GUIDED PRACTICE — EVIDENCE QUESTION 2</a:t>
            </a:r>
            <a:endParaRPr lang="en-US" sz="1300" dirty="0"/>
          </a:p>
        </p:txBody>
      </p:sp>
      <p:sp>
        <p:nvSpPr>
          <p:cNvPr id="4" name="Shape 2"/>
          <p:cNvSpPr/>
          <p:nvPr/>
        </p:nvSpPr>
        <p:spPr>
          <a:xfrm>
            <a:off x="609600" y="1219200"/>
            <a:ext cx="10972800" cy="1219200"/>
          </a:xfrm>
          <a:prstGeom prst="roundRect">
            <a:avLst>
              <a:gd name="adj" fmla="val 12000"/>
            </a:avLst>
          </a:prstGeom>
          <a:solidFill>
            <a:srgbClr val="FFFFFF"/>
          </a:solidFill>
          <a:ln/>
          <a:effectLst>
            <a:outerShdw sx="100000" sy="100000" kx="0" ky="0" algn="bl" rotWithShape="0" blurRad="76200" dist="25400" dir="8100000">
              <a:srgbClr val="000000">
                <a:alpha val="10000"/>
              </a:srgbClr>
            </a:outerShdw>
          </a:effectLst>
        </p:spPr>
      </p:sp>
      <p:sp>
        <p:nvSpPr>
          <p:cNvPr id="5" name="Text 3"/>
          <p:cNvSpPr/>
          <p:nvPr/>
        </p:nvSpPr>
        <p:spPr>
          <a:xfrm>
            <a:off x="853440" y="1280160"/>
            <a:ext cx="10485120" cy="1097280"/>
          </a:xfrm>
          <a:prstGeom prst="rect">
            <a:avLst/>
          </a:prstGeom>
          <a:noFill/>
          <a:ln/>
        </p:spPr>
        <p:txBody>
          <a:bodyPr wrap="square" lIns="0" tIns="0" rIns="0" bIns="0"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African peoples were brought to this region under terrible conditions. How did they still shape life in the region? Use one detail from the lesson.</a:t>
            </a:r>
            <a:endParaRPr lang="en-US" sz="2000" dirty="0"/>
          </a:p>
        </p:txBody>
      </p:sp>
      <p:sp>
        <p:nvSpPr>
          <p:cNvPr id="6" name="Text 4"/>
          <p:cNvSpPr/>
          <p:nvPr/>
        </p:nvSpPr>
        <p:spPr>
          <a:xfrm>
            <a:off x="609600" y="2804160"/>
            <a:ext cx="10972800" cy="426720"/>
          </a:xfrm>
          <a:prstGeom prst="rect">
            <a:avLst/>
          </a:prstGeom>
          <a:noFill/>
          <a:ln/>
        </p:spPr>
        <p:txBody>
          <a:bodyPr wrap="square" lIns="0" tIns="0" rIns="0" bIns="0" rtlCol="0" anchor="ctr"/>
          <a:lstStyle/>
          <a:p>
            <a:pPr indent="0" marL="0">
              <a:buNone/>
            </a:pPr>
            <a:r>
              <a:rPr lang="en-US" sz="1300" b="1" spc="200" kern="0" dirty="0">
                <a:solidFill>
                  <a:srgbClr val="D4943A"/>
                </a:solidFill>
                <a:latin typeface="Calibri" pitchFamily="34" charset="0"/>
                <a:ea typeface="Calibri" pitchFamily="34" charset="-122"/>
                <a:cs typeface="Calibri" pitchFamily="34" charset="-120"/>
              </a:rPr>
              <a:t>SCAFFOLDING</a:t>
            </a:r>
            <a:endParaRPr lang="en-US" sz="1300" dirty="0"/>
          </a:p>
        </p:txBody>
      </p:sp>
      <p:sp>
        <p:nvSpPr>
          <p:cNvPr id="7" name="Text 5"/>
          <p:cNvSpPr/>
          <p:nvPr/>
        </p:nvSpPr>
        <p:spPr>
          <a:xfrm>
            <a:off x="609600" y="3291840"/>
            <a:ext cx="6705600" cy="2438400"/>
          </a:xfrm>
          <a:prstGeom prst="rect">
            <a:avLst/>
          </a:prstGeom>
          <a:noFill/>
          <a:ln/>
        </p:spPr>
        <p:txBody>
          <a:bodyPr wrap="square" lIns="0" tIns="0" rIns="0" bIns="0" rtlCol="0" anchor="t"/>
          <a:lstStyle/>
          <a:p>
            <a:pPr indent="0" marL="0">
              <a:spcAft>
                <a:spcPts val="600"/>
              </a:spcAft>
              <a:buNone/>
            </a:pPr>
            <a:r>
              <a:rPr lang="en-US" sz="1700" b="1" dirty="0">
                <a:solidFill>
                  <a:srgbClr val="0E1C42"/>
                </a:solidFill>
                <a:latin typeface="Calibri" pitchFamily="34" charset="0"/>
                <a:ea typeface="Calibri" pitchFamily="34" charset="-122"/>
                <a:cs typeface="Calibri" pitchFamily="34" charset="-120"/>
              </a:rPr>
              <a:t>Think about what they passed down:</a:t>
            </a:r>
            <a:endParaRPr lang="en-US" sz="1700" dirty="0"/>
          </a:p>
          <a:p>
            <a:pPr marL="342900" indent="-342900">
              <a:spcAft>
                <a:spcPts val="400"/>
              </a:spcAft>
              <a:buSzPct val="100000"/>
              <a:buChar char="•"/>
            </a:pPr>
            <a:r>
              <a:rPr lang="en-US" sz="1700" dirty="0">
                <a:solidFill>
                  <a:srgbClr val="0E1C42"/>
                </a:solidFill>
                <a:latin typeface="Calibri" pitchFamily="34" charset="0"/>
                <a:ea typeface="Calibri" pitchFamily="34" charset="-122"/>
                <a:cs typeface="Calibri" pitchFamily="34" charset="-120"/>
              </a:rPr>
              <a:t>Music — jazz, blues, and gospel all grew from African traditions</a:t>
            </a:r>
            <a:endParaRPr lang="en-US" sz="1700" dirty="0"/>
          </a:p>
          <a:p>
            <a:pPr marL="342900" indent="-342900">
              <a:spcAft>
                <a:spcPts val="400"/>
              </a:spcAft>
              <a:buSzPct val="100000"/>
              <a:buChar char="•"/>
            </a:pPr>
            <a:r>
              <a:rPr lang="en-US" sz="1700" dirty="0">
                <a:solidFill>
                  <a:srgbClr val="0E1C42"/>
                </a:solidFill>
                <a:latin typeface="Calibri" pitchFamily="34" charset="0"/>
                <a:ea typeface="Calibri" pitchFamily="34" charset="-122"/>
                <a:cs typeface="Calibri" pitchFamily="34" charset="-120"/>
              </a:rPr>
              <a:t>Foods — cooking traditions passed down through generations</a:t>
            </a:r>
            <a:endParaRPr lang="en-US" sz="1700" dirty="0"/>
          </a:p>
          <a:p>
            <a:pPr marL="342900" indent="-342900">
              <a:spcAft>
                <a:spcPts val="400"/>
              </a:spcAft>
              <a:buSzPct val="100000"/>
              <a:buChar char="•"/>
            </a:pPr>
            <a:r>
              <a:rPr lang="en-US" sz="1700" dirty="0">
                <a:solidFill>
                  <a:srgbClr val="0E1C42"/>
                </a:solidFill>
                <a:latin typeface="Calibri" pitchFamily="34" charset="0"/>
                <a:ea typeface="Calibri" pitchFamily="34" charset="-122"/>
                <a:cs typeface="Calibri" pitchFamily="34" charset="-120"/>
              </a:rPr>
              <a:t>Farming knowledge — skills brought from West and Central Africa</a:t>
            </a:r>
            <a:endParaRPr lang="en-US" sz="1700" dirty="0"/>
          </a:p>
          <a:p>
            <a:pPr marL="342900" indent="-342900">
              <a:buSzPct val="100000"/>
              <a:buChar char="•"/>
            </a:pPr>
            <a:r>
              <a:rPr lang="en-US" sz="1700" dirty="0">
                <a:solidFill>
                  <a:srgbClr val="0E1C42"/>
                </a:solidFill>
                <a:latin typeface="Calibri" pitchFamily="34" charset="0"/>
                <a:ea typeface="Calibri" pitchFamily="34" charset="-122"/>
                <a:cs typeface="Calibri" pitchFamily="34" charset="-120"/>
              </a:rPr>
              <a:t>Stories — oral traditions kept alive across generations</a:t>
            </a:r>
            <a:endParaRPr lang="en-US" sz="1700" dirty="0"/>
          </a:p>
        </p:txBody>
      </p:sp>
      <p:sp>
        <p:nvSpPr>
          <p:cNvPr id="8" name="Shape 6"/>
          <p:cNvSpPr/>
          <p:nvPr/>
        </p:nvSpPr>
        <p:spPr>
          <a:xfrm>
            <a:off x="7924800" y="3291840"/>
            <a:ext cx="3657600" cy="2194560"/>
          </a:xfrm>
          <a:prstGeom prst="roundRect">
            <a:avLst>
              <a:gd name="adj" fmla="val 6667"/>
            </a:avLst>
          </a:prstGeom>
          <a:solidFill>
            <a:srgbClr val="FFF3DC"/>
          </a:solidFill>
          <a:ln w="19050">
            <a:solidFill>
              <a:srgbClr val="F5E6C8"/>
            </a:solidFill>
            <a:prstDash val="solid"/>
          </a:ln>
        </p:spPr>
      </p:sp>
      <p:sp>
        <p:nvSpPr>
          <p:cNvPr id="9" name="Text 7"/>
          <p:cNvSpPr/>
          <p:nvPr/>
        </p:nvSpPr>
        <p:spPr>
          <a:xfrm>
            <a:off x="8168640" y="3413760"/>
            <a:ext cx="3169920" cy="1950720"/>
          </a:xfrm>
          <a:prstGeom prst="rect">
            <a:avLst/>
          </a:prstGeom>
          <a:noFill/>
          <a:ln/>
        </p:spPr>
        <p:txBody>
          <a:bodyPr wrap="square" lIns="0" tIns="0" rIns="0" bIns="0" rtlCol="0" anchor="t"/>
          <a:lstStyle/>
          <a:p>
            <a:pPr indent="0" marL="0">
              <a:spcAft>
                <a:spcPts val="600"/>
              </a:spcAft>
              <a:buNone/>
            </a:pPr>
            <a:r>
              <a:rPr lang="en-US" sz="1200" b="1" spc="150" kern="0" dirty="0">
                <a:solidFill>
                  <a:srgbClr val="D4943A"/>
                </a:solidFill>
                <a:latin typeface="Calibri" pitchFamily="34" charset="0"/>
                <a:ea typeface="Calibri" pitchFamily="34" charset="-122"/>
                <a:cs typeface="Calibri" pitchFamily="34" charset="-120"/>
              </a:rPr>
              <a:t>MODEL ANSWER</a:t>
            </a:r>
            <a:endParaRPr lang="en-US" sz="1200" dirty="0"/>
          </a:p>
          <a:p>
            <a:pPr indent="0" marL="0">
              <a:buNone/>
            </a:pPr>
            <a:r>
              <a:rPr lang="en-US" sz="1400" i="1" dirty="0">
                <a:solidFill>
                  <a:srgbClr val="0E1C42"/>
                </a:solidFill>
                <a:latin typeface="Calibri" pitchFamily="34" charset="0"/>
                <a:ea typeface="Calibri" pitchFamily="34" charset="-122"/>
                <a:cs typeface="Calibri" pitchFamily="34" charset="-120"/>
              </a:rPr>
              <a:t>Even though African peoples were brought here against their will, they kept their cultures alive by passing down music. Jazz and blues grew from African musical traditions.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Text 1"/>
          <p:cNvSpPr/>
          <p:nvPr/>
        </p:nvSpPr>
        <p:spPr>
          <a:xfrm>
            <a:off x="609600" y="487680"/>
            <a:ext cx="10972800" cy="426720"/>
          </a:xfrm>
          <a:prstGeom prst="rect">
            <a:avLst/>
          </a:prstGeom>
          <a:noFill/>
          <a:ln/>
        </p:spPr>
        <p:txBody>
          <a:bodyPr wrap="square" lIns="0" tIns="0" rIns="0" bIns="0" rtlCol="0" anchor="ctr"/>
          <a:lstStyle/>
          <a:p>
            <a:pPr indent="0" marL="0">
              <a:buNone/>
            </a:pPr>
            <a:r>
              <a:rPr lang="en-US" sz="1300" b="1" spc="200" kern="0" dirty="0">
                <a:solidFill>
                  <a:srgbClr val="1A8A7D"/>
                </a:solidFill>
                <a:latin typeface="Calibri" pitchFamily="34" charset="0"/>
                <a:ea typeface="Calibri" pitchFamily="34" charset="-122"/>
                <a:cs typeface="Calibri" pitchFamily="34" charset="-120"/>
              </a:rPr>
              <a:t>GUIDED PRACTICE — EVIDENCE QUESTION 3</a:t>
            </a:r>
            <a:endParaRPr lang="en-US" sz="1300" dirty="0"/>
          </a:p>
        </p:txBody>
      </p:sp>
      <p:sp>
        <p:nvSpPr>
          <p:cNvPr id="4" name="Shape 2"/>
          <p:cNvSpPr/>
          <p:nvPr/>
        </p:nvSpPr>
        <p:spPr>
          <a:xfrm>
            <a:off x="609600" y="1219200"/>
            <a:ext cx="10972800" cy="1463040"/>
          </a:xfrm>
          <a:prstGeom prst="roundRect">
            <a:avLst>
              <a:gd name="adj" fmla="val 10000"/>
            </a:avLst>
          </a:prstGeom>
          <a:solidFill>
            <a:srgbClr val="FFFFFF"/>
          </a:solidFill>
          <a:ln/>
          <a:effectLst>
            <a:outerShdw sx="100000" sy="100000" kx="0" ky="0" algn="bl" rotWithShape="0" blurRad="76200" dist="25400" dir="8100000">
              <a:srgbClr val="000000">
                <a:alpha val="10000"/>
              </a:srgbClr>
            </a:outerShdw>
          </a:effectLst>
        </p:spPr>
      </p:sp>
      <p:sp>
        <p:nvSpPr>
          <p:cNvPr id="5" name="Text 3"/>
          <p:cNvSpPr/>
          <p:nvPr/>
        </p:nvSpPr>
        <p:spPr>
          <a:xfrm>
            <a:off x="853440" y="1280160"/>
            <a:ext cx="10485120" cy="1341120"/>
          </a:xfrm>
          <a:prstGeom prst="rect">
            <a:avLst/>
          </a:prstGeom>
          <a:noFill/>
          <a:ln/>
        </p:spPr>
        <p:txBody>
          <a:bodyPr wrap="square" lIns="0" tIns="0" rIns="0" bIns="0"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Why is it important for curators to use a culture's real name — like "Haudenosaunee" or "Maya" — instead of just saying "Indians" or "Mexicans"?</a:t>
            </a:r>
            <a:endParaRPr lang="en-US" sz="2000" dirty="0"/>
          </a:p>
        </p:txBody>
      </p:sp>
      <p:sp>
        <p:nvSpPr>
          <p:cNvPr id="6" name="Text 4"/>
          <p:cNvSpPr/>
          <p:nvPr/>
        </p:nvSpPr>
        <p:spPr>
          <a:xfrm>
            <a:off x="609600" y="3048000"/>
            <a:ext cx="10972800" cy="426720"/>
          </a:xfrm>
          <a:prstGeom prst="rect">
            <a:avLst/>
          </a:prstGeom>
          <a:noFill/>
          <a:ln/>
        </p:spPr>
        <p:txBody>
          <a:bodyPr wrap="square" lIns="0" tIns="0" rIns="0" bIns="0" rtlCol="0" anchor="ctr"/>
          <a:lstStyle/>
          <a:p>
            <a:pPr indent="0" marL="0">
              <a:buNone/>
            </a:pPr>
            <a:r>
              <a:rPr lang="en-US" sz="1300" b="1" spc="200" kern="0" dirty="0">
                <a:solidFill>
                  <a:srgbClr val="D4943A"/>
                </a:solidFill>
                <a:latin typeface="Calibri" pitchFamily="34" charset="0"/>
                <a:ea typeface="Calibri" pitchFamily="34" charset="-122"/>
                <a:cs typeface="Calibri" pitchFamily="34" charset="-120"/>
              </a:rPr>
              <a:t>SCAFFOLDING</a:t>
            </a:r>
            <a:endParaRPr lang="en-US" sz="1300" dirty="0"/>
          </a:p>
        </p:txBody>
      </p:sp>
      <p:sp>
        <p:nvSpPr>
          <p:cNvPr id="7" name="Text 5"/>
          <p:cNvSpPr/>
          <p:nvPr/>
        </p:nvSpPr>
        <p:spPr>
          <a:xfrm>
            <a:off x="609600" y="3535680"/>
            <a:ext cx="6705600" cy="1950720"/>
          </a:xfrm>
          <a:prstGeom prst="rect">
            <a:avLst/>
          </a:prstGeom>
          <a:noFill/>
          <a:ln/>
        </p:spPr>
        <p:txBody>
          <a:bodyPr wrap="square" lIns="0" tIns="0" rIns="0" bIns="0" rtlCol="0" anchor="t"/>
          <a:lstStyle/>
          <a:p>
            <a:pPr indent="0" marL="0">
              <a:spcAft>
                <a:spcPts val="600"/>
              </a:spcAft>
              <a:buNone/>
            </a:pPr>
            <a:r>
              <a:rPr lang="en-US" sz="1700" b="1" dirty="0">
                <a:solidFill>
                  <a:srgbClr val="0E1C42"/>
                </a:solidFill>
                <a:latin typeface="Calibri" pitchFamily="34" charset="0"/>
                <a:ea typeface="Calibri" pitchFamily="34" charset="-122"/>
                <a:cs typeface="Calibri" pitchFamily="34" charset="-120"/>
              </a:rPr>
              <a:t>Think about what courtesy means:</a:t>
            </a:r>
            <a:endParaRPr lang="en-US" sz="1700" dirty="0"/>
          </a:p>
          <a:p>
            <a:pPr marL="342900" indent="-342900">
              <a:spcAft>
                <a:spcPts val="400"/>
              </a:spcAft>
              <a:buSzPct val="100000"/>
              <a:buChar char="•"/>
            </a:pPr>
            <a:r>
              <a:rPr lang="en-US" sz="1700" dirty="0">
                <a:solidFill>
                  <a:srgbClr val="0E1C42"/>
                </a:solidFill>
                <a:latin typeface="Calibri" pitchFamily="34" charset="0"/>
                <a:ea typeface="Calibri" pitchFamily="34" charset="-122"/>
                <a:cs typeface="Calibri" pitchFamily="34" charset="-120"/>
              </a:rPr>
              <a:t>Each culture has its own name, language, and traditions</a:t>
            </a:r>
            <a:endParaRPr lang="en-US" sz="1700" dirty="0"/>
          </a:p>
          <a:p>
            <a:pPr marL="342900" indent="-342900">
              <a:spcAft>
                <a:spcPts val="400"/>
              </a:spcAft>
              <a:buSzPct val="100000"/>
              <a:buChar char="•"/>
            </a:pPr>
            <a:r>
              <a:rPr lang="en-US" sz="1700" dirty="0">
                <a:solidFill>
                  <a:srgbClr val="0E1C42"/>
                </a:solidFill>
                <a:latin typeface="Calibri" pitchFamily="34" charset="0"/>
                <a:ea typeface="Calibri" pitchFamily="34" charset="-122"/>
                <a:cs typeface="Calibri" pitchFamily="34" charset="-120"/>
              </a:rPr>
              <a:t>Lumping everyone together hides what makes each group special</a:t>
            </a:r>
            <a:endParaRPr lang="en-US" sz="1700" dirty="0"/>
          </a:p>
          <a:p>
            <a:pPr marL="342900" indent="-342900">
              <a:buSzPct val="100000"/>
              <a:buChar char="•"/>
            </a:pPr>
            <a:r>
              <a:rPr lang="en-US" sz="1700" dirty="0">
                <a:solidFill>
                  <a:srgbClr val="0E1C42"/>
                </a:solidFill>
                <a:latin typeface="Calibri" pitchFamily="34" charset="0"/>
                <a:ea typeface="Calibri" pitchFamily="34" charset="-122"/>
                <a:cs typeface="Calibri" pitchFamily="34" charset="-120"/>
              </a:rPr>
              <a:t>Real names show respect for real people</a:t>
            </a:r>
            <a:endParaRPr lang="en-US" sz="1700" dirty="0"/>
          </a:p>
        </p:txBody>
      </p:sp>
      <p:sp>
        <p:nvSpPr>
          <p:cNvPr id="8" name="Shape 6"/>
          <p:cNvSpPr/>
          <p:nvPr/>
        </p:nvSpPr>
        <p:spPr>
          <a:xfrm>
            <a:off x="7924800" y="3535680"/>
            <a:ext cx="3657600" cy="1950720"/>
          </a:xfrm>
          <a:prstGeom prst="roundRect">
            <a:avLst>
              <a:gd name="adj" fmla="val 7500"/>
            </a:avLst>
          </a:prstGeom>
          <a:solidFill>
            <a:srgbClr val="FFF3DC"/>
          </a:solidFill>
          <a:ln w="19050">
            <a:solidFill>
              <a:srgbClr val="F5E6C8"/>
            </a:solidFill>
            <a:prstDash val="solid"/>
          </a:ln>
        </p:spPr>
      </p:sp>
      <p:sp>
        <p:nvSpPr>
          <p:cNvPr id="9" name="Text 7"/>
          <p:cNvSpPr/>
          <p:nvPr/>
        </p:nvSpPr>
        <p:spPr>
          <a:xfrm>
            <a:off x="8168640" y="3657600"/>
            <a:ext cx="3169920" cy="1706880"/>
          </a:xfrm>
          <a:prstGeom prst="rect">
            <a:avLst/>
          </a:prstGeom>
          <a:noFill/>
          <a:ln/>
        </p:spPr>
        <p:txBody>
          <a:bodyPr wrap="square" lIns="0" tIns="0" rIns="0" bIns="0" rtlCol="0" anchor="t"/>
          <a:lstStyle/>
          <a:p>
            <a:pPr indent="0" marL="0">
              <a:spcAft>
                <a:spcPts val="600"/>
              </a:spcAft>
              <a:buNone/>
            </a:pPr>
            <a:r>
              <a:rPr lang="en-US" sz="1200" b="1" spc="150" kern="0" dirty="0">
                <a:solidFill>
                  <a:srgbClr val="D4943A"/>
                </a:solidFill>
                <a:latin typeface="Calibri" pitchFamily="34" charset="0"/>
                <a:ea typeface="Calibri" pitchFamily="34" charset="-122"/>
                <a:cs typeface="Calibri" pitchFamily="34" charset="-120"/>
              </a:rPr>
              <a:t>MODEL ANSWER</a:t>
            </a:r>
            <a:endParaRPr lang="en-US" sz="1200" dirty="0"/>
          </a:p>
          <a:p>
            <a:pPr indent="0" marL="0">
              <a:buNone/>
            </a:pPr>
            <a:r>
              <a:rPr lang="en-US" sz="1400" i="1" dirty="0">
                <a:solidFill>
                  <a:srgbClr val="0E1C42"/>
                </a:solidFill>
                <a:latin typeface="Calibri" pitchFamily="34" charset="0"/>
                <a:ea typeface="Calibri" pitchFamily="34" charset="-122"/>
                <a:cs typeface="Calibri" pitchFamily="34" charset="-120"/>
              </a:rPr>
              <a:t>Using real names like 'Haudenosaunee' shows courtesy because each culture is different. Saying 'Indians' lumps many nations together and hides what makes each one special.</a:t>
            </a:r>
            <a:endParaRPr lang="en-US" sz="1200" dirty="0"/>
          </a:p>
        </p:txBody>
      </p:sp>
      <p:sp>
        <p:nvSpPr>
          <p:cNvPr id="10" name="Shape 8"/>
          <p:cNvSpPr/>
          <p:nvPr/>
        </p:nvSpPr>
        <p:spPr>
          <a:xfrm>
            <a:off x="609600" y="5730240"/>
            <a:ext cx="10972800" cy="853440"/>
          </a:xfrm>
          <a:prstGeom prst="roundRect">
            <a:avLst>
              <a:gd name="adj" fmla="val 17143"/>
            </a:avLst>
          </a:prstGeom>
          <a:solidFill>
            <a:srgbClr val="FFF3DC"/>
          </a:solidFill>
          <a:ln w="19050">
            <a:solidFill>
              <a:srgbClr val="F5E6C8"/>
            </a:solidFill>
            <a:prstDash val="solid"/>
          </a:ln>
        </p:spPr>
      </p:sp>
      <p:sp>
        <p:nvSpPr>
          <p:cNvPr id="11" name="Text 9"/>
          <p:cNvSpPr/>
          <p:nvPr/>
        </p:nvSpPr>
        <p:spPr>
          <a:xfrm>
            <a:off x="792480" y="5803392"/>
            <a:ext cx="10607040" cy="265176"/>
          </a:xfrm>
          <a:prstGeom prst="rect">
            <a:avLst/>
          </a:prstGeom>
          <a:noFill/>
          <a:ln/>
        </p:spPr>
        <p:txBody>
          <a:bodyPr wrap="square" lIns="0" tIns="0" rIns="0" bIns="0" rtlCol="0" anchor="ctr"/>
          <a:lstStyle/>
          <a:p>
            <a:pPr indent="0" marL="0">
              <a:buNone/>
            </a:pPr>
            <a:r>
              <a:rPr lang="en-US" sz="1200" b="1" spc="150" kern="0" dirty="0">
                <a:solidFill>
                  <a:srgbClr val="D4943A"/>
                </a:solidFill>
                <a:latin typeface="Calibri" pitchFamily="34" charset="0"/>
                <a:ea typeface="Calibri" pitchFamily="34" charset="-122"/>
                <a:cs typeface="Calibri" pitchFamily="34" charset="-120"/>
              </a:rPr>
              <a:t>CHAT FRAME</a:t>
            </a:r>
            <a:endParaRPr lang="en-US" sz="1200" dirty="0"/>
          </a:p>
        </p:txBody>
      </p:sp>
      <p:sp>
        <p:nvSpPr>
          <p:cNvPr id="12" name="Text 10"/>
          <p:cNvSpPr/>
          <p:nvPr/>
        </p:nvSpPr>
        <p:spPr>
          <a:xfrm>
            <a:off x="792480" y="6068568"/>
            <a:ext cx="10607040" cy="423672"/>
          </a:xfrm>
          <a:prstGeom prst="rect">
            <a:avLst/>
          </a:prstGeom>
          <a:noFill/>
          <a:ln/>
        </p:spPr>
        <p:txBody>
          <a:bodyPr wrap="square" lIns="0" tIns="0" rIns="0" bIns="0" rtlCol="0" anchor="t"/>
          <a:lstStyle/>
          <a:p>
            <a:pPr indent="0" marL="0">
              <a:spcAft>
                <a:spcPts val="700"/>
              </a:spcAft>
              <a:buNone/>
            </a:pPr>
            <a:r>
              <a:rPr lang="en-US" sz="1600" i="1" dirty="0">
                <a:solidFill>
                  <a:srgbClr val="5A4A3A"/>
                </a:solidFill>
                <a:latin typeface="Cambria" pitchFamily="34" charset="0"/>
                <a:ea typeface="Cambria" pitchFamily="34" charset="-122"/>
                <a:cs typeface="Cambria" pitchFamily="34" charset="-120"/>
              </a:rPr>
              <a:t>"Why would calling all these cultures by one name be like calling all animals 'dogs'?"</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Text 1"/>
          <p:cNvSpPr/>
          <p:nvPr/>
        </p:nvSpPr>
        <p:spPr>
          <a:xfrm>
            <a:off x="609600" y="487680"/>
            <a:ext cx="6096000" cy="426720"/>
          </a:xfrm>
          <a:prstGeom prst="rect">
            <a:avLst/>
          </a:prstGeom>
          <a:noFill/>
          <a:ln/>
        </p:spPr>
        <p:txBody>
          <a:bodyPr wrap="square" lIns="0" tIns="0" rIns="0" bIns="0" rtlCol="0" anchor="ctr"/>
          <a:lstStyle/>
          <a:p>
            <a:pPr indent="0" marL="0">
              <a:buNone/>
            </a:pPr>
            <a:r>
              <a:rPr lang="en-US" sz="1300" b="1" spc="200" kern="0" dirty="0">
                <a:solidFill>
                  <a:srgbClr val="D4943A"/>
                </a:solidFill>
                <a:latin typeface="Calibri" pitchFamily="34" charset="0"/>
                <a:ea typeface="Calibri" pitchFamily="34" charset="-122"/>
                <a:cs typeface="Calibri" pitchFamily="34" charset="-120"/>
              </a:rPr>
              <a:t>CURATOR TASK</a:t>
            </a:r>
            <a:endParaRPr lang="en-US" sz="1300" dirty="0"/>
          </a:p>
        </p:txBody>
      </p:sp>
      <p:sp>
        <p:nvSpPr>
          <p:cNvPr id="4" name="Text 2"/>
          <p:cNvSpPr/>
          <p:nvPr/>
        </p:nvSpPr>
        <p:spPr>
          <a:xfrm>
            <a:off x="609600" y="975360"/>
            <a:ext cx="10972800" cy="731520"/>
          </a:xfrm>
          <a:prstGeom prst="rect">
            <a:avLst/>
          </a:prstGeom>
          <a:noFill/>
          <a:ln/>
        </p:spPr>
        <p:txBody>
          <a:bodyPr wrap="square" lIns="0" tIns="0" rIns="0" bIns="0" rtlCol="0" anchor="ctr"/>
          <a:lstStyle/>
          <a:p>
            <a:pPr indent="0" marL="0">
              <a:buNone/>
            </a:pPr>
            <a:r>
              <a:rPr lang="en-US" sz="3200" b="1" dirty="0">
                <a:solidFill>
                  <a:srgbClr val="0E1C42"/>
                </a:solidFill>
                <a:latin typeface="Cambria" pitchFamily="34" charset="0"/>
                <a:ea typeface="Cambria" pitchFamily="34" charset="-122"/>
                <a:cs typeface="Cambria" pitchFamily="34" charset="-120"/>
              </a:rPr>
              <a:t>Culture Case Label</a:t>
            </a:r>
            <a:endParaRPr lang="en-US" sz="3200" dirty="0"/>
          </a:p>
        </p:txBody>
      </p:sp>
      <p:sp>
        <p:nvSpPr>
          <p:cNvPr id="5" name="Shape 3"/>
          <p:cNvSpPr/>
          <p:nvPr/>
        </p:nvSpPr>
        <p:spPr>
          <a:xfrm>
            <a:off x="609600" y="1950720"/>
            <a:ext cx="10972800" cy="2438400"/>
          </a:xfrm>
          <a:prstGeom prst="roundRect">
            <a:avLst>
              <a:gd name="adj" fmla="val 6000"/>
            </a:avLst>
          </a:prstGeom>
          <a:solidFill>
            <a:srgbClr val="FFFFFF"/>
          </a:solidFill>
          <a:ln/>
          <a:effectLst>
            <a:outerShdw sx="100000" sy="100000" kx="0" ky="0" algn="bl" rotWithShape="0" blurRad="76200" dist="25400" dir="8100000">
              <a:srgbClr val="000000">
                <a:alpha val="10000"/>
              </a:srgbClr>
            </a:outerShdw>
          </a:effectLst>
        </p:spPr>
      </p:sp>
      <p:sp>
        <p:nvSpPr>
          <p:cNvPr id="6" name="Text 4"/>
          <p:cNvSpPr/>
          <p:nvPr/>
        </p:nvSpPr>
        <p:spPr>
          <a:xfrm>
            <a:off x="853440" y="2072640"/>
            <a:ext cx="10485120" cy="2194560"/>
          </a:xfrm>
          <a:prstGeom prst="rect">
            <a:avLst/>
          </a:prstGeom>
          <a:noFill/>
          <a:ln/>
        </p:spPr>
        <p:txBody>
          <a:bodyPr wrap="square" lIns="0" tIns="0" rIns="0" bIns="0" rtlCol="0" anchor="t"/>
          <a:lstStyle/>
          <a:p>
            <a:pPr indent="0" marL="0">
              <a:spcAft>
                <a:spcPts val="800"/>
              </a:spcAft>
              <a:buNone/>
            </a:pPr>
            <a:r>
              <a:rPr lang="en-US" sz="1700" dirty="0">
                <a:solidFill>
                  <a:srgbClr val="0E1C42"/>
                </a:solidFill>
                <a:latin typeface="Calibri" pitchFamily="34" charset="0"/>
                <a:ea typeface="Calibri" pitchFamily="34" charset="-122"/>
                <a:cs typeface="Calibri" pitchFamily="34" charset="-120"/>
              </a:rPr>
              <a:t>Pick one of today's cultures (Haudenosaunee, Maya, Spanish settlers, French settlers, or African heritage). Write a 3–4 sentence label for the case. Be respectful and accurate. Include:</a:t>
            </a:r>
            <a:endParaRPr lang="en-US" sz="1700" dirty="0"/>
          </a:p>
          <a:p>
            <a:pPr marL="342900" indent="-342900">
              <a:spcAft>
                <a:spcPts val="300"/>
              </a:spcAft>
              <a:buSzPct val="100000"/>
              <a:buChar char="•"/>
            </a:pPr>
            <a:r>
              <a:rPr lang="en-US" sz="1700" dirty="0">
                <a:solidFill>
                  <a:srgbClr val="0E1C42"/>
                </a:solidFill>
                <a:latin typeface="Calibri" pitchFamily="34" charset="0"/>
                <a:ea typeface="Calibri" pitchFamily="34" charset="-122"/>
                <a:cs typeface="Calibri" pitchFamily="34" charset="-120"/>
              </a:rPr>
              <a:t>The culture's name</a:t>
            </a:r>
            <a:endParaRPr lang="en-US" sz="1700" dirty="0"/>
          </a:p>
          <a:p>
            <a:pPr marL="342900" indent="-342900">
              <a:spcAft>
                <a:spcPts val="300"/>
              </a:spcAft>
              <a:buSzPct val="100000"/>
              <a:buChar char="•"/>
            </a:pPr>
            <a:r>
              <a:rPr lang="en-US" sz="1700" dirty="0">
                <a:solidFill>
                  <a:srgbClr val="0E1C42"/>
                </a:solidFill>
                <a:latin typeface="Calibri" pitchFamily="34" charset="0"/>
                <a:ea typeface="Calibri" pitchFamily="34" charset="-122"/>
                <a:cs typeface="Calibri" pitchFamily="34" charset="-120"/>
              </a:rPr>
              <a:t>Where they live or lived in the region</a:t>
            </a:r>
            <a:endParaRPr lang="en-US" sz="1700" dirty="0"/>
          </a:p>
          <a:p>
            <a:pPr marL="342900" indent="-342900">
              <a:buSzPct val="100000"/>
              <a:buChar char="•"/>
            </a:pPr>
            <a:r>
              <a:rPr lang="en-US" sz="1700" dirty="0">
                <a:solidFill>
                  <a:srgbClr val="0E1C42"/>
                </a:solidFill>
                <a:latin typeface="Calibri" pitchFamily="34" charset="0"/>
                <a:ea typeface="Calibri" pitchFamily="34" charset="-122"/>
                <a:cs typeface="Calibri" pitchFamily="34" charset="-120"/>
              </a:rPr>
              <a:t>One specific thing they brought that still shapes the region today</a:t>
            </a:r>
            <a:endParaRPr lang="en-US" sz="1700" dirty="0"/>
          </a:p>
        </p:txBody>
      </p:sp>
      <p:sp>
        <p:nvSpPr>
          <p:cNvPr id="7" name="Shape 5"/>
          <p:cNvSpPr/>
          <p:nvPr/>
        </p:nvSpPr>
        <p:spPr>
          <a:xfrm>
            <a:off x="609600" y="4754880"/>
            <a:ext cx="10972800" cy="1097280"/>
          </a:xfrm>
          <a:prstGeom prst="roundRect">
            <a:avLst>
              <a:gd name="adj" fmla="val 10000"/>
            </a:avLst>
          </a:prstGeom>
          <a:solidFill>
            <a:srgbClr val="FFF3DC"/>
          </a:solidFill>
          <a:ln w="19050">
            <a:solidFill>
              <a:srgbClr val="F5E6C8"/>
            </a:solidFill>
            <a:prstDash val="solid"/>
          </a:ln>
        </p:spPr>
      </p:sp>
      <p:sp>
        <p:nvSpPr>
          <p:cNvPr id="8" name="Text 6"/>
          <p:cNvSpPr/>
          <p:nvPr/>
        </p:nvSpPr>
        <p:spPr>
          <a:xfrm>
            <a:off x="853440" y="4815840"/>
            <a:ext cx="10485120" cy="975360"/>
          </a:xfrm>
          <a:prstGeom prst="rect">
            <a:avLst/>
          </a:prstGeom>
          <a:noFill/>
          <a:ln/>
        </p:spPr>
        <p:txBody>
          <a:bodyPr wrap="square" lIns="0" tIns="0" rIns="0" bIns="0" rtlCol="0" anchor="ctr"/>
          <a:lstStyle/>
          <a:p>
            <a:pPr indent="0" marL="0">
              <a:buNone/>
            </a:pPr>
            <a:r>
              <a:rPr lang="en-US" sz="1400" b="1" dirty="0">
                <a:solidFill>
                  <a:srgbClr val="D4943A"/>
                </a:solidFill>
                <a:latin typeface="Calibri" pitchFamily="34" charset="0"/>
                <a:ea typeface="Calibri" pitchFamily="34" charset="-122"/>
                <a:cs typeface="Calibri" pitchFamily="34" charset="-120"/>
              </a:rPr>
              <a:t>Curator's Chronicle: </a:t>
            </a:r>
            <a:pPr indent="0" marL="0">
              <a:buNone/>
            </a:pPr>
            <a:r>
              <a:rPr lang="en-US" sz="1600" i="1" dirty="0">
                <a:solidFill>
                  <a:srgbClr val="0E1C42"/>
                </a:solidFill>
                <a:latin typeface="Calibri" pitchFamily="34" charset="0"/>
                <a:ea typeface="Calibri" pitchFamily="34" charset="-122"/>
                <a:cs typeface="Calibri" pitchFamily="34" charset="-120"/>
              </a:rPr>
              <a:t>Finish this sentence: "In this exhibit, I learned that ______ because ______."</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Text 1"/>
          <p:cNvSpPr/>
          <p:nvPr/>
        </p:nvSpPr>
        <p:spPr>
          <a:xfrm>
            <a:off x="609600" y="487680"/>
            <a:ext cx="6096000" cy="426720"/>
          </a:xfrm>
          <a:prstGeom prst="rect">
            <a:avLst/>
          </a:prstGeom>
          <a:noFill/>
          <a:ln/>
        </p:spPr>
        <p:txBody>
          <a:bodyPr wrap="square" lIns="0" tIns="0" rIns="0" bIns="0" rtlCol="0" anchor="ctr"/>
          <a:lstStyle/>
          <a:p>
            <a:pPr indent="0" marL="0">
              <a:buNone/>
            </a:pPr>
            <a:r>
              <a:rPr lang="en-US" sz="1300" b="1" spc="200" kern="0" dirty="0">
                <a:solidFill>
                  <a:srgbClr val="1A8A7D"/>
                </a:solidFill>
                <a:latin typeface="Calibri" pitchFamily="34" charset="0"/>
                <a:ea typeface="Calibri" pitchFamily="34" charset="-122"/>
                <a:cs typeface="Calibri" pitchFamily="34" charset="-120"/>
              </a:rPr>
              <a:t>SUBMIT YOUR WORK</a:t>
            </a:r>
            <a:endParaRPr lang="en-US" sz="1300" dirty="0"/>
          </a:p>
        </p:txBody>
      </p:sp>
      <p:sp>
        <p:nvSpPr>
          <p:cNvPr id="4" name="Text 2"/>
          <p:cNvSpPr/>
          <p:nvPr/>
        </p:nvSpPr>
        <p:spPr>
          <a:xfrm>
            <a:off x="609600" y="975360"/>
            <a:ext cx="10972800" cy="731520"/>
          </a:xfrm>
          <a:prstGeom prst="rect">
            <a:avLst/>
          </a:prstGeom>
          <a:noFill/>
          <a:ln/>
        </p:spPr>
        <p:txBody>
          <a:bodyPr wrap="square" lIns="0" tIns="0" rIns="0" bIns="0" rtlCol="0" anchor="ctr"/>
          <a:lstStyle/>
          <a:p>
            <a:pPr indent="0" marL="0">
              <a:buNone/>
            </a:pPr>
            <a:r>
              <a:rPr lang="en-US" sz="3000" b="1" dirty="0">
                <a:solidFill>
                  <a:srgbClr val="0E1C42"/>
                </a:solidFill>
                <a:latin typeface="Cambria" pitchFamily="34" charset="0"/>
                <a:ea typeface="Cambria" pitchFamily="34" charset="-122"/>
                <a:cs typeface="Cambria" pitchFamily="34" charset="-120"/>
              </a:rPr>
              <a:t>Turn-In Checklist</a:t>
            </a:r>
            <a:endParaRPr lang="en-US" sz="3000" dirty="0"/>
          </a:p>
        </p:txBody>
      </p:sp>
      <p:sp>
        <p:nvSpPr>
          <p:cNvPr id="5" name="Shape 3"/>
          <p:cNvSpPr/>
          <p:nvPr/>
        </p:nvSpPr>
        <p:spPr>
          <a:xfrm>
            <a:off x="609600" y="1950720"/>
            <a:ext cx="10972800" cy="3413760"/>
          </a:xfrm>
          <a:prstGeom prst="roundRect">
            <a:avLst>
              <a:gd name="adj" fmla="val 4286"/>
            </a:avLst>
          </a:prstGeom>
          <a:solidFill>
            <a:srgbClr val="FFFFFF"/>
          </a:solidFill>
          <a:ln/>
          <a:effectLst>
            <a:outerShdw sx="100000" sy="100000" kx="0" ky="0" algn="bl" rotWithShape="0" blurRad="76200" dist="25400" dir="8100000">
              <a:srgbClr val="000000">
                <a:alpha val="10000"/>
              </a:srgbClr>
            </a:outerShdw>
          </a:effectLst>
        </p:spPr>
      </p:sp>
      <p:sp>
        <p:nvSpPr>
          <p:cNvPr id="6" name="Text 4"/>
          <p:cNvSpPr/>
          <p:nvPr/>
        </p:nvSpPr>
        <p:spPr>
          <a:xfrm>
            <a:off x="853440" y="2194560"/>
            <a:ext cx="10485120" cy="292608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0E1C42"/>
                </a:solidFill>
                <a:latin typeface="Calibri" pitchFamily="34" charset="0"/>
                <a:ea typeface="Calibri" pitchFamily="34" charset="-122"/>
                <a:cs typeface="Calibri" pitchFamily="34" charset="-120"/>
              </a:rPr>
              <a:t>I answered the evidence questions.</a:t>
            </a:r>
            <a:endParaRPr lang="en-US" sz="1800" dirty="0"/>
          </a:p>
          <a:p>
            <a:pPr marL="342900" indent="-342900">
              <a:spcAft>
                <a:spcPts val="800"/>
              </a:spcAft>
              <a:buSzPct val="100000"/>
              <a:buChar char="☑"/>
            </a:pPr>
            <a:r>
              <a:rPr lang="en-US" sz="1800" dirty="0">
                <a:solidFill>
                  <a:srgbClr val="0E1C42"/>
                </a:solidFill>
                <a:latin typeface="Calibri" pitchFamily="34" charset="0"/>
                <a:ea typeface="Calibri" pitchFamily="34" charset="-122"/>
                <a:cs typeface="Calibri" pitchFamily="34" charset="-120"/>
              </a:rPr>
              <a:t>I completed the Curator Task: Culture Case Label.</a:t>
            </a:r>
            <a:endParaRPr lang="en-US" sz="1800" dirty="0"/>
          </a:p>
          <a:p>
            <a:pPr marL="342900" indent="-342900">
              <a:spcAft>
                <a:spcPts val="800"/>
              </a:spcAft>
              <a:buSzPct val="100000"/>
              <a:buChar char="☑"/>
            </a:pPr>
            <a:r>
              <a:rPr lang="en-US" sz="1800" dirty="0">
                <a:solidFill>
                  <a:srgbClr val="0E1C42"/>
                </a:solidFill>
                <a:latin typeface="Calibri" pitchFamily="34" charset="0"/>
                <a:ea typeface="Calibri" pitchFamily="34" charset="-122"/>
                <a:cs typeface="Calibri" pitchFamily="34" charset="-120"/>
              </a:rPr>
              <a:t>I wrote my Curator's Chronicle.</a:t>
            </a:r>
            <a:endParaRPr lang="en-US" sz="1800" dirty="0"/>
          </a:p>
          <a:p>
            <a:pPr marL="342900" indent="-342900">
              <a:buSzPct val="100000"/>
              <a:buChar char="☑"/>
            </a:pPr>
            <a:r>
              <a:rPr lang="en-US" sz="1800" dirty="0">
                <a:solidFill>
                  <a:srgbClr val="0E1C42"/>
                </a:solidFill>
                <a:latin typeface="Calibri" pitchFamily="34" charset="0"/>
                <a:ea typeface="Calibri" pitchFamily="34" charset="-122"/>
                <a:cs typeface="Calibri" pitchFamily="34" charset="-120"/>
              </a:rPr>
              <a:t>I copied or downloaded my work and submitted to Canvas.</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609600" y="975360"/>
            <a:ext cx="10972800" cy="609600"/>
          </a:xfrm>
          <a:prstGeom prst="rect">
            <a:avLst/>
          </a:prstGeom>
          <a:noFill/>
          <a:ln/>
        </p:spPr>
        <p:txBody>
          <a:bodyPr wrap="square" lIns="0" tIns="0" rIns="0" bIns="0" rtlCol="0" anchor="ctr"/>
          <a:lstStyle/>
          <a:p>
            <a:pPr indent="0" marL="0">
              <a:buNone/>
            </a:pPr>
            <a:r>
              <a:rPr lang="en-US" sz="1600" b="1" spc="200" kern="0" dirty="0">
                <a:solidFill>
                  <a:srgbClr val="55C8E8"/>
                </a:solidFill>
                <a:latin typeface="Calibri" pitchFamily="34" charset="0"/>
                <a:ea typeface="Calibri" pitchFamily="34" charset="-122"/>
                <a:cs typeface="Calibri" pitchFamily="34" charset="-120"/>
              </a:rPr>
              <a:t>GREAT WORK, REGIONAL CURATOR!</a:t>
            </a:r>
            <a:endParaRPr lang="en-US" sz="1600" dirty="0"/>
          </a:p>
        </p:txBody>
      </p:sp>
      <p:sp>
        <p:nvSpPr>
          <p:cNvPr id="6" name="Text 3"/>
          <p:cNvSpPr/>
          <p:nvPr/>
        </p:nvSpPr>
        <p:spPr>
          <a:xfrm>
            <a:off x="609600" y="1828800"/>
            <a:ext cx="9753600" cy="1219200"/>
          </a:xfrm>
          <a:prstGeom prst="rect">
            <a:avLst/>
          </a:prstGeom>
          <a:noFill/>
          <a:ln/>
        </p:spPr>
        <p:txBody>
          <a:bodyPr wrap="square" lIns="0" tIns="0" rIns="0" bIns="0" rtlCol="0" anchor="ctr"/>
          <a:lstStyle/>
          <a:p>
            <a:pPr indent="0" marL="0">
              <a:lnSpc>
                <a:spcPct val="120000"/>
              </a:lnSpc>
              <a:buNone/>
            </a:pPr>
            <a:r>
              <a:rPr lang="en-US" sz="2200" i="1" dirty="0">
                <a:solidFill>
                  <a:srgbClr val="FFFFFF"/>
                </a:solidFill>
                <a:latin typeface="Cambria" pitchFamily="34" charset="0"/>
                <a:ea typeface="Cambria" pitchFamily="34" charset="-122"/>
                <a:cs typeface="Cambria" pitchFamily="34" charset="-120"/>
              </a:rPr>
              <a:t>You met five cultures of this region, learned their real names, matched their contributions, and wrote a respectful label.</a:t>
            </a:r>
            <a:endParaRPr lang="en-US" sz="2200" dirty="0"/>
          </a:p>
        </p:txBody>
      </p:sp>
      <p:sp>
        <p:nvSpPr>
          <p:cNvPr id="7" name="Shape 4"/>
          <p:cNvSpPr/>
          <p:nvPr/>
        </p:nvSpPr>
        <p:spPr>
          <a:xfrm>
            <a:off x="609600" y="3657600"/>
            <a:ext cx="10972800" cy="2194560"/>
          </a:xfrm>
          <a:prstGeom prst="roundRect">
            <a:avLst>
              <a:gd name="adj" fmla="val 6667"/>
            </a:avLst>
          </a:prstGeom>
          <a:solidFill>
            <a:srgbClr val="1A2D5A"/>
          </a:solidFill>
          <a:ln w="12700">
            <a:solidFill>
              <a:srgbClr val="3A5080"/>
            </a:solidFill>
            <a:prstDash val="solid"/>
          </a:ln>
        </p:spPr>
      </p:sp>
      <p:sp>
        <p:nvSpPr>
          <p:cNvPr id="8" name="Text 5"/>
          <p:cNvSpPr/>
          <p:nvPr/>
        </p:nvSpPr>
        <p:spPr>
          <a:xfrm>
            <a:off x="853440" y="3779520"/>
            <a:ext cx="10485120" cy="426720"/>
          </a:xfrm>
          <a:prstGeom prst="rect">
            <a:avLst/>
          </a:prstGeom>
          <a:noFill/>
          <a:ln/>
        </p:spPr>
        <p:txBody>
          <a:bodyPr wrap="square" lIns="0" tIns="0" rIns="0" bIns="0" rtlCol="0" anchor="ctr"/>
          <a:lstStyle/>
          <a:p>
            <a:pPr indent="0" marL="0">
              <a:buNone/>
            </a:pPr>
            <a:r>
              <a:rPr lang="en-US" sz="1300" b="1" spc="200" kern="0" dirty="0">
                <a:solidFill>
                  <a:srgbClr val="D4943A"/>
                </a:solidFill>
                <a:latin typeface="Calibri" pitchFamily="34" charset="0"/>
                <a:ea typeface="Calibri" pitchFamily="34" charset="-122"/>
                <a:cs typeface="Calibri" pitchFamily="34" charset="-120"/>
              </a:rPr>
              <a:t>COMING NEXT</a:t>
            </a:r>
            <a:endParaRPr lang="en-US" sz="1300" dirty="0"/>
          </a:p>
        </p:txBody>
      </p:sp>
      <p:sp>
        <p:nvSpPr>
          <p:cNvPr id="9" name="Text 6"/>
          <p:cNvSpPr/>
          <p:nvPr/>
        </p:nvSpPr>
        <p:spPr>
          <a:xfrm>
            <a:off x="853440" y="4267200"/>
            <a:ext cx="10485120" cy="1463040"/>
          </a:xfrm>
          <a:prstGeom prst="rect">
            <a:avLst/>
          </a:prstGeom>
          <a:noFill/>
          <a:ln/>
        </p:spPr>
        <p:txBody>
          <a:bodyPr wrap="square" lIns="0" tIns="0" rIns="0" bIns="0" rtlCol="0" anchor="ctr"/>
          <a:lstStyle/>
          <a:p>
            <a:pPr indent="0" marL="0">
              <a:lnSpc>
                <a:spcPct val="115000"/>
              </a:lnSpc>
              <a:buNone/>
            </a:pPr>
            <a:r>
              <a:rPr lang="en-US" sz="1700" dirty="0">
                <a:solidFill>
                  <a:srgbClr val="FFFFFF"/>
                </a:solidFill>
                <a:latin typeface="Calibri" pitchFamily="34" charset="0"/>
                <a:ea typeface="Calibri" pitchFamily="34" charset="-122"/>
                <a:cs typeface="Calibri" pitchFamily="34" charset="-120"/>
              </a:rPr>
              <a:t>The museum unveils a brand-new settlement map dotted with marker flags — every dot is a town, port, or community. The question on the wall: "Why here, and not somewhere else?" You'll tie together everything — features, climate, resources, cultures — to figure out why people chose the places they did.</a:t>
            </a:r>
            <a:endParaRPr lang="en-US" sz="1700" dirty="0"/>
          </a:p>
        </p:txBody>
      </p:sp>
      <p:sp>
        <p:nvSpPr>
          <p:cNvPr id="10" name="Text 7"/>
          <p:cNvSpPr/>
          <p:nvPr/>
        </p:nvSpPr>
        <p:spPr>
          <a:xfrm>
            <a:off x="609600" y="6096000"/>
            <a:ext cx="10972800" cy="426720"/>
          </a:xfrm>
          <a:prstGeom prst="rect">
            <a:avLst/>
          </a:prstGeom>
          <a:noFill/>
          <a:ln/>
        </p:spPr>
        <p:txBody>
          <a:bodyPr wrap="square" lIns="0" tIns="0" rIns="0" bIns="0" rtlCol="0" anchor="ctr"/>
          <a:lstStyle/>
          <a:p>
            <a:pPr indent="0" marL="0">
              <a:buNone/>
            </a:pPr>
            <a:r>
              <a:rPr lang="en-US" sz="1300" dirty="0">
                <a:solidFill>
                  <a:srgbClr val="7A88A8"/>
                </a:solidFill>
                <a:latin typeface="Calibri" pitchFamily="34" charset="0"/>
                <a:ea typeface="Calibri" pitchFamily="34" charset="-122"/>
                <a:cs typeface="Calibri" pitchFamily="34" charset="-120"/>
              </a:rPr>
              <a:t>Optima Academy Online  |  Grade 3 Social Studies  |  Lesson 3.06.06</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2026-07-11T03:46:23Z</dcterms:created>
  <dcterms:modified xsi:type="dcterms:W3CDTF">2026-07-11T03:46:23Z</dcterms:modified>
</cp:coreProperties>
</file>