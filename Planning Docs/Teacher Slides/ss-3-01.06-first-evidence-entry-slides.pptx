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Curator Training Hall — warm museum interior with display cases, an open notebook on a table, and a glowing badge on a velvet stand. Dramatic lighting suggesting a final test.
TEACHER: Welcome back, Junior Curators! This is a big moment — Lesson 6 is your FINAL training session in the Curator Training Hall. You've been working all week to earn the Evidence Keeper badge, and today is the day you prove you're ready. Don't say anything else yet. Let them read the slide and feel the anticipation.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wooden shipping crate in a museum hallway, stenciled with "EXPLORER ROUTES: UNVERIFIED" — dramatic overhead spotlight.
TEACHER: Read the crate label aloud in a mysterious voice. "Before you can touch that crate, there is ONE final test. The museum director needs to know you can be trusted. Can you observe carefully, ask the right questions, check what's reliable, and write an honest entry? Pass the test — earn the badge — and that crate is yours to open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path with students. Point to each step: 'We start by reviewing what we already know. Then we discover the three parts of a strong evidence entry. Then we practice on a source together. Then you write your OWN official entry.' Remind them: 'You are a Source Scholar today. That means you use all five skills you've learned.'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a retrieval moment — NOT a lecture. Point to each skill and ask: 'Who can tell me what this one means?' Don't explain it yourself. Let students recall. Use Socratic follow-ups if they struggle. Give them 30 seconds of think time before calling on anyone. The goal is to activate prior knowledge, not re-teach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Pause here. Honesty is the core of this entire unit. Say: 'A dishonest curator guesses. A dishonest curator writes what sounds impressive. A dishonest curator copies someone else's observation. An honest curator writes what they actually see.' Ask the Socratic questions. Let students sit with the difficulty of this before moving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Don't reveal the three parts yet. Read the museum director's message slowly. Then say: 'The museum director didn't give us a list — but based on what we know about being a curator, what do you think a strong evidence entry needs?' Give 10 seconds of private thinking. Then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both entries aloud — don't tell them which is strong and which is weak. Give 30 seconds of private observation. Then ask: 'What do you notice is different about these two entries?' Let students drive the discovery. Your job is to ask 'What else?' until they name all three parts. Do NOT name the parts yourself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By now students should have noticed that Entry B describes specific details, explains what they mean, and says why it matters. Ask: 'Can we put names to what Entry B does that Entry A doesn't?' Build toward: Observation, Meaning, Importance — but let students suggest the labels. If a student says 'describe what you see,' that IS observation. Affirm it: 'That's exactly right. We call that observation.'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Reveal this slide with ceremony. Say: 'You just described the three parts — you figured it out. Let's give them their official names.' Point to each part and let a student restate what it means in their own words. Then immediately do the retrieval check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a retrieval challenge — not a quiz. Say: 'Cover your screen with your hand. Don't peek.' Give 15 seconds. Then ask several students to share. Affirm correct recalls. If students miss one, don't just say the answer — ask: 'Observation and Meaning... what's the third one about? Think back to Entry B.' Let a student recall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historical photograph from the early 1900s — such as a one-room schoolhouse interior, a town square, or a market scene. Must have enough detail for students to practice all five question types. Save as: source-3-01-06-guided-practice.png
TEACHER: Don't say anything about this source yet. Just put it on the screen and say: 'Five seconds. Private looking. What is the FIRST thing your eyes land on?' Then ask the chat frame question. Do NOT explain what it shows. Let students observe.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Go through each question type one at a time. Ask the question, give 10 seconds, then call on a student. For Observation: 'What specific objects do you see?' For Context: 'When was this taken? What clue tells you?' For Evidence: 'What does this tell you for sure? What can't it tell you?' For Connection: 'How is this different from school today?' For Significance: 'If this source didn't exist, what would historians lose?' Don't rush — this is the heart of the practice.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Walk through the Three-Check Test together. 'WHO made this source? WHEN? And what EVIDENCE does it give us?' Ask students to answer each check based on the guided practice photograph. Then ask: 'Based on the Three Checks, how reliable is this source?' — let students reason through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a think-aloud. Read each part of the entry slowly and explain your thinking as you go. Say: 'Watch how I do this.' For Observation: point to specific details in the photo as you name them. For Meaning: 'I'm not guessing — I'm connecting what I see to what I know.' For Importance: 'I'm asking myself: what would historians NOT understand without this?' Model the process explicitly.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This is the most important practice slide. Read the student entry aloud with a neutral tone — don't signal that it's wrong. Then ask: 'What do you think?' Give 20 seconds of private thinking. The misconception here is that the student explains meaning BEFORE observing, and guesses without evidence. Let students find the problem before you confirm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now write their own evidence entry for the guided practice source using the scaffold. Give them 4 minutes of quiet writing time. Circulate (or watch the chat for typed responses). Call on 2-3 students to share one sentence from their entry. Ask the class: 'Is that sentence observation, meaning, or importance?' Use their responses to check understanding before moving to the assignment.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Students answer these independently in their notebooks or on the digital lesson. Give 3 minutes. Don't review answers yet — tell them: 'Check your answers on the lesson page. If you get all three right, you're ready for your official entry.' For any student who misses questions, briefly pull the class back: use the Socratic prompts.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through both questions clearly. Tell students: 'These questions ask you to use everything from Unit 1 — not just today's lesson.' For Q1, remind them: a primary source was created AT THE TIME; a secondary source was created LATER. For Q2, they pick ANY two of the five question types they remember. Point to the Socratic questions if students are stuck.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different historical primary source from the guided practice source — such as a handwritten letter, old advertisement, a tool or artifact photograph, or a street scene from a different era/location. Should be richly detailed enough for students to complete all three entry parts. Save as: source-3-01-06-assignment-official-entry.png
TEACHER: This is the official evidence entry — no scaffold, no hints. Say: 'You have NOT seen this source before. Use ALL your curator skills. Observe first. Ask yourself the five question types. Check reliability. Then write your entry with all three parts.' Give students 8-10 minutes to write. Remind them the museum director will read this entry.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TEACHER: Read the Chronicle prompt aloud. Say: 'This is your one-sentence summary of everything you've learned in Unit 1. Think carefully. What is the MOST important thing? Why?' Give 3 minutes of writing time. Then ask 2-3 students to share their sentences. Celebrate strong responses that name specific skills. This is the culminating reflection of the entire unit.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glowing gold badge labeled 'EVIDENCE KEEPER' on a velvet stand in a museum display case — dramatic golden spotlight from above. Celebratory museum atmosphere.
TEACHER: Big celebration! Read through all the skills students have earned. Then lower your voice and say: 'But there's one more thing... that crate. Remember the crate marked Explorer Routes: Unverified? It's waiting for you. Inside are maps, route lines, and stories about people who crossed oceans. But here's the thing — some of these stories might not be the whole truth. You'll need ALL your curator skills to figure out what really happened.' Build real anticipation. This is the hook for Unit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7432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CURATOR TRAINING HALL  ·  FINAL SESSION</a:t>
            </a:r>
            <a:endParaRPr lang="en-US" sz="900" dirty="0"/>
          </a:p>
        </p:txBody>
      </p:sp>
      <p:sp>
        <p:nvSpPr>
          <p:cNvPr id="6" name="Shape 3"/>
          <p:cNvSpPr/>
          <p:nvPr/>
        </p:nvSpPr>
        <p:spPr>
          <a:xfrm>
            <a:off x="3840480" y="640080"/>
            <a:ext cx="1463040" cy="411480"/>
          </a:xfrm>
          <a:prstGeom prst="roundRect">
            <a:avLst>
              <a:gd name="adj" fmla="val 17778"/>
            </a:avLst>
          </a:prstGeom>
          <a:solidFill>
            <a:srgbClr val="D4943A"/>
          </a:solidFill>
          <a:ln w="12700">
            <a:solidFill>
              <a:srgbClr val="C0840A"/>
            </a:solidFill>
            <a:prstDash val="solid"/>
          </a:ln>
        </p:spPr>
      </p:sp>
      <p:sp>
        <p:nvSpPr>
          <p:cNvPr id="7" name="Text 4"/>
          <p:cNvSpPr/>
          <p:nvPr/>
        </p:nvSpPr>
        <p:spPr>
          <a:xfrm>
            <a:off x="3840480" y="640080"/>
            <a:ext cx="1463040" cy="411480"/>
          </a:xfrm>
          <a:prstGeom prst="rect">
            <a:avLst/>
          </a:prstGeom>
          <a:noFill/>
          <a:ln/>
        </p:spPr>
        <p:txBody>
          <a:bodyPr wrap="square" lIns="0" tIns="0" rIns="0" bIns="0" rtlCol="0" anchor="ctr"/>
          <a:lstStyle/>
          <a:p>
            <a:pPr algn="ctr" indent="0" marL="0">
              <a:buNone/>
            </a:pPr>
            <a:r>
              <a:rPr lang="en-US" sz="800" b="1" spc="50" kern="0" dirty="0">
                <a:solidFill>
                  <a:srgbClr val="0E1C42"/>
                </a:solidFill>
                <a:latin typeface="Calibri" pitchFamily="34" charset="0"/>
                <a:ea typeface="Calibri" pitchFamily="34" charset="-122"/>
                <a:cs typeface="Calibri" pitchFamily="34" charset="-120"/>
              </a:rPr>
              <a:t>EVIDENCE KEEPER BADGE</a:t>
            </a:r>
            <a:endParaRPr lang="en-US" sz="800" dirty="0"/>
          </a:p>
        </p:txBody>
      </p:sp>
      <p:sp>
        <p:nvSpPr>
          <p:cNvPr id="8" name="Text 5"/>
          <p:cNvSpPr/>
          <p:nvPr/>
        </p:nvSpPr>
        <p:spPr>
          <a:xfrm>
            <a:off x="548640" y="1280160"/>
            <a:ext cx="8046720" cy="594360"/>
          </a:xfrm>
          <a:prstGeom prst="rect">
            <a:avLst/>
          </a:prstGeom>
          <a:noFill/>
          <a:ln/>
        </p:spPr>
        <p:txBody>
          <a:bodyPr wrap="square" lIns="0" tIns="0" rIns="0" bIns="0" rtlCol="0" anchor="ctr"/>
          <a:lstStyle/>
          <a:p>
            <a:pPr algn="ctr" indent="0" marL="0">
              <a:buNone/>
            </a:pPr>
            <a:r>
              <a:rPr lang="en-US" sz="3600" b="1" dirty="0">
                <a:solidFill>
                  <a:srgbClr val="D4943A"/>
                </a:solidFill>
                <a:latin typeface="Cambria" pitchFamily="34" charset="0"/>
                <a:ea typeface="Cambria" pitchFamily="34" charset="-122"/>
                <a:cs typeface="Cambria" pitchFamily="34" charset="-120"/>
              </a:rPr>
              <a:t>Historian's Notebook:</a:t>
            </a:r>
            <a:endParaRPr lang="en-US" sz="3600" dirty="0"/>
          </a:p>
        </p:txBody>
      </p:sp>
      <p:sp>
        <p:nvSpPr>
          <p:cNvPr id="9" name="Text 6"/>
          <p:cNvSpPr/>
          <p:nvPr/>
        </p:nvSpPr>
        <p:spPr>
          <a:xfrm>
            <a:off x="548640" y="1828800"/>
            <a:ext cx="8046720" cy="640080"/>
          </a:xfrm>
          <a:prstGeom prst="rect">
            <a:avLst/>
          </a:prstGeom>
          <a:noFill/>
          <a:ln/>
        </p:spPr>
        <p:txBody>
          <a:bodyPr wrap="square" lIns="0" tIns="0" rIns="0" bIns="0"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My First Evidence Entry</a:t>
            </a:r>
            <a:endParaRPr lang="en-US" sz="4200" dirty="0"/>
          </a:p>
        </p:txBody>
      </p:sp>
      <p:sp>
        <p:nvSpPr>
          <p:cNvPr id="10" name="Shape 7"/>
          <p:cNvSpPr/>
          <p:nvPr/>
        </p:nvSpPr>
        <p:spPr>
          <a:xfrm>
            <a:off x="2286000" y="2560320"/>
            <a:ext cx="4572000" cy="0"/>
          </a:xfrm>
          <a:prstGeom prst="line">
            <a:avLst/>
          </a:prstGeom>
          <a:noFill/>
          <a:ln w="25400">
            <a:solidFill>
              <a:srgbClr val="D4943A"/>
            </a:solidFill>
            <a:prstDash val="solid"/>
          </a:ln>
        </p:spPr>
      </p:sp>
      <p:sp>
        <p:nvSpPr>
          <p:cNvPr id="11" name="Text 8"/>
          <p:cNvSpPr/>
          <p:nvPr/>
        </p:nvSpPr>
        <p:spPr>
          <a:xfrm>
            <a:off x="548640" y="2697480"/>
            <a:ext cx="8046720" cy="256032"/>
          </a:xfrm>
          <a:prstGeom prst="rect">
            <a:avLst/>
          </a:prstGeom>
          <a:noFill/>
          <a:ln/>
        </p:spPr>
        <p:txBody>
          <a:bodyPr wrap="square" lIns="0" tIns="0" rIns="0" bIns="0" rtlCol="0" anchor="ctr"/>
          <a:lstStyle/>
          <a:p>
            <a:pPr algn="ctr" indent="0" marL="0">
              <a:buNone/>
            </a:pPr>
            <a:r>
              <a:rPr lang="en-US" sz="1100" spc="100" kern="0" dirty="0">
                <a:solidFill>
                  <a:srgbClr val="7A88A8"/>
                </a:solidFill>
                <a:latin typeface="Calibri" pitchFamily="34" charset="0"/>
                <a:ea typeface="Calibri" pitchFamily="34" charset="-122"/>
                <a:cs typeface="Calibri" pitchFamily="34" charset="-120"/>
              </a:rPr>
              <a:t>Lesson 3.01.06  ·  Grade 3  ·  SS.3.A.1.1 · SS.3.A.1.2 · SS.3.A.1.3</a:t>
            </a:r>
            <a:endParaRPr lang="en-US" sz="1100" dirty="0"/>
          </a:p>
        </p:txBody>
      </p:sp>
      <p:sp>
        <p:nvSpPr>
          <p:cNvPr id="12" name="Text 9"/>
          <p:cNvSpPr/>
          <p:nvPr/>
        </p:nvSpPr>
        <p:spPr>
          <a:xfrm>
            <a:off x="1371600" y="3200400"/>
            <a:ext cx="6400800" cy="320040"/>
          </a:xfrm>
          <a:prstGeom prst="rect">
            <a:avLst/>
          </a:prstGeom>
          <a:noFill/>
          <a:ln/>
        </p:spPr>
        <p:txBody>
          <a:bodyPr wrap="square" lIns="0" tIns="0" rIns="0" bIns="0" rtlCol="0" anchor="ctr"/>
          <a:lstStyle/>
          <a:p>
            <a:pPr algn="ctr" indent="0" marL="0">
              <a:buNone/>
            </a:pPr>
            <a:r>
              <a:rPr lang="en-US" sz="1600" i="1" dirty="0">
                <a:solidFill>
                  <a:srgbClr val="55C8E8"/>
                </a:solidFill>
                <a:latin typeface="Cambria" pitchFamily="34" charset="0"/>
                <a:ea typeface="Cambria" pitchFamily="34" charset="-122"/>
                <a:cs typeface="Cambria" pitchFamily="34" charset="-120"/>
              </a:rPr>
              <a:t>Today you earn your Evidence Keeper badge.</a:t>
            </a:r>
            <a:endParaRPr lang="en-US" sz="1600" dirty="0"/>
          </a:p>
        </p:txBody>
      </p:sp>
      <p:sp>
        <p:nvSpPr>
          <p:cNvPr id="13" name="Shape 10"/>
          <p:cNvSpPr/>
          <p:nvPr/>
        </p:nvSpPr>
        <p:spPr>
          <a:xfrm>
            <a:off x="0" y="4434840"/>
            <a:ext cx="9144000" cy="708660"/>
          </a:xfrm>
          <a:prstGeom prst="rect">
            <a:avLst/>
          </a:prstGeom>
          <a:solidFill>
            <a:srgbClr val="1A2D5A"/>
          </a:solidFill>
          <a:ln/>
        </p:spPr>
      </p:sp>
      <p:sp>
        <p:nvSpPr>
          <p:cNvPr id="14" name="Text 11"/>
          <p:cNvSpPr/>
          <p:nvPr/>
        </p:nvSpPr>
        <p:spPr>
          <a:xfrm>
            <a:off x="365760" y="4526280"/>
            <a:ext cx="8412480" cy="457200"/>
          </a:xfrm>
          <a:prstGeom prst="rect">
            <a:avLst/>
          </a:prstGeom>
          <a:noFill/>
          <a:ln/>
        </p:spPr>
        <p:txBody>
          <a:bodyPr wrap="square" lIns="0" tIns="0" rIns="0" bIns="0" rtlCol="0" anchor="ctr"/>
          <a:lstStyle/>
          <a:p>
            <a:pPr algn="ctr" indent="0" marL="0">
              <a:buNone/>
            </a:pPr>
            <a:r>
              <a:rPr lang="en-US" sz="1300" i="1" dirty="0">
                <a:solidFill>
                  <a:srgbClr val="D4943A"/>
                </a:solidFill>
                <a:latin typeface="Cambria" pitchFamily="34" charset="0"/>
                <a:ea typeface="Cambria" pitchFamily="34" charset="-122"/>
                <a:cs typeface="Cambria" pitchFamily="34" charset="-120"/>
              </a:rPr>
              <a:t>The museum director is watching. Observe carefully. Think honestly. Write clearly.</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28600"/>
            <a:ext cx="822960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CURATOR TRAINING HALL  ·  UNIT 1 FINALE</a:t>
            </a:r>
            <a:endParaRPr lang="en-US" sz="900" dirty="0"/>
          </a:p>
        </p:txBody>
      </p:sp>
      <p:sp>
        <p:nvSpPr>
          <p:cNvPr id="6" name="Shape 3"/>
          <p:cNvSpPr/>
          <p:nvPr/>
        </p:nvSpPr>
        <p:spPr>
          <a:xfrm>
            <a:off x="365760" y="594360"/>
            <a:ext cx="3840480" cy="2926080"/>
          </a:xfrm>
          <a:prstGeom prst="roundRect">
            <a:avLst>
              <a:gd name="adj" fmla="val 3750"/>
            </a:avLst>
          </a:prstGeom>
          <a:solidFill>
            <a:srgbClr val="E2E8F4"/>
          </a:solidFill>
          <a:ln w="19050">
            <a:solidFill>
              <a:srgbClr val="B0B8CC"/>
            </a:solidFill>
            <a:prstDash val="dash"/>
          </a:ln>
        </p:spPr>
      </p:sp>
      <p:sp>
        <p:nvSpPr>
          <p:cNvPr id="7" name="Text 4"/>
          <p:cNvSpPr/>
          <p:nvPr/>
        </p:nvSpPr>
        <p:spPr>
          <a:xfrm>
            <a:off x="365760" y="594360"/>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5"/>
          <p:cNvSpPr/>
          <p:nvPr/>
        </p:nvSpPr>
        <p:spPr>
          <a:xfrm>
            <a:off x="502920" y="868680"/>
            <a:ext cx="356616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Wooden shipping crate in museum hallway</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Label: 'EXPLORER ROUTES: UNVERIFIED'</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Dramatic spotlight from above</a:t>
            </a:r>
            <a:endParaRPr lang="en-US" sz="1100" dirty="0"/>
          </a:p>
        </p:txBody>
      </p:sp>
      <p:sp>
        <p:nvSpPr>
          <p:cNvPr id="9" name="Text 6"/>
          <p:cNvSpPr/>
          <p:nvPr/>
        </p:nvSpPr>
        <p:spPr>
          <a:xfrm>
            <a:off x="4480560" y="594360"/>
            <a:ext cx="4297680" cy="457200"/>
          </a:xfrm>
          <a:prstGeom prst="rect">
            <a:avLst/>
          </a:prstGeom>
          <a:noFill/>
          <a:ln/>
        </p:spPr>
        <p:txBody>
          <a:bodyPr wrap="square" lIns="0" tIns="0" rIns="0" bIns="0" rtlCol="0" anchor="ctr"/>
          <a:lstStyle/>
          <a:p>
            <a:pPr algn="l" indent="0" marL="0">
              <a:buNone/>
            </a:pPr>
            <a:r>
              <a:rPr lang="en-US" sz="2400" b="1" dirty="0">
                <a:solidFill>
                  <a:srgbClr val="D4943A"/>
                </a:solidFill>
                <a:latin typeface="Cambria" pitchFamily="34" charset="0"/>
                <a:ea typeface="Cambria" pitchFamily="34" charset="-122"/>
                <a:cs typeface="Cambria" pitchFamily="34" charset="-120"/>
              </a:rPr>
              <a:t>A crate has arrived.</a:t>
            </a:r>
            <a:endParaRPr lang="en-US" sz="2400" dirty="0"/>
          </a:p>
        </p:txBody>
      </p:sp>
      <p:sp>
        <p:nvSpPr>
          <p:cNvPr id="10" name="Text 7"/>
          <p:cNvSpPr/>
          <p:nvPr/>
        </p:nvSpPr>
        <p:spPr>
          <a:xfrm>
            <a:off x="4480560" y="1097280"/>
            <a:ext cx="4297680" cy="274320"/>
          </a:xfrm>
          <a:prstGeom prst="rect">
            <a:avLst/>
          </a:prstGeom>
          <a:noFill/>
          <a:ln/>
        </p:spPr>
        <p:txBody>
          <a:bodyPr wrap="square" lIns="0" tIns="0" rIns="0" bIns="0" rtlCol="0" anchor="ctr"/>
          <a:lstStyle/>
          <a:p>
            <a:pPr algn="l" indent="0" marL="0">
              <a:buNone/>
            </a:pPr>
            <a:r>
              <a:rPr lang="en-US" sz="1300" dirty="0">
                <a:solidFill>
                  <a:srgbClr val="7A88A8"/>
                </a:solidFill>
                <a:latin typeface="Calibri" pitchFamily="34" charset="0"/>
                <a:ea typeface="Calibri" pitchFamily="34" charset="-122"/>
                <a:cs typeface="Calibri" pitchFamily="34" charset="-120"/>
              </a:rPr>
              <a:t>Marked:</a:t>
            </a:r>
            <a:endParaRPr lang="en-US" sz="1300" dirty="0"/>
          </a:p>
        </p:txBody>
      </p:sp>
      <p:sp>
        <p:nvSpPr>
          <p:cNvPr id="11" name="Shape 8"/>
          <p:cNvSpPr/>
          <p:nvPr/>
        </p:nvSpPr>
        <p:spPr>
          <a:xfrm>
            <a:off x="4480560" y="1417320"/>
            <a:ext cx="4114800" cy="594360"/>
          </a:xfrm>
          <a:prstGeom prst="roundRect">
            <a:avLst>
              <a:gd name="adj" fmla="val 15385"/>
            </a:avLst>
          </a:prstGeom>
          <a:solidFill>
            <a:srgbClr val="1A2D5A"/>
          </a:solidFill>
          <a:ln w="25400">
            <a:solidFill>
              <a:srgbClr val="D4943A"/>
            </a:solidFill>
            <a:prstDash val="solid"/>
          </a:ln>
        </p:spPr>
      </p:sp>
      <p:sp>
        <p:nvSpPr>
          <p:cNvPr id="12" name="Text 9"/>
          <p:cNvSpPr/>
          <p:nvPr/>
        </p:nvSpPr>
        <p:spPr>
          <a:xfrm>
            <a:off x="4480560" y="1417320"/>
            <a:ext cx="4114800" cy="594360"/>
          </a:xfrm>
          <a:prstGeom prst="rect">
            <a:avLst/>
          </a:prstGeom>
          <a:noFill/>
          <a:ln/>
        </p:spPr>
        <p:txBody>
          <a:bodyPr wrap="square" lIns="0" tIns="0" rIns="0" bIns="0" rtlCol="0" anchor="ctr"/>
          <a:lstStyle/>
          <a:p>
            <a:pPr algn="ctr" indent="0" marL="0">
              <a:buNone/>
            </a:pPr>
            <a:r>
              <a:rPr lang="en-US" sz="1400" b="1" i="1" dirty="0">
                <a:solidFill>
                  <a:srgbClr val="D4943A"/>
                </a:solidFill>
                <a:latin typeface="Cambria" pitchFamily="34" charset="0"/>
                <a:ea typeface="Cambria" pitchFamily="34" charset="-122"/>
                <a:cs typeface="Cambria" pitchFamily="34" charset="-120"/>
              </a:rPr>
              <a:t>"EXPLORER ROUTES: UNVERIFIED"</a:t>
            </a:r>
            <a:endParaRPr lang="en-US" sz="1400" dirty="0"/>
          </a:p>
        </p:txBody>
      </p:sp>
      <p:sp>
        <p:nvSpPr>
          <p:cNvPr id="13" name="Text 10"/>
          <p:cNvSpPr/>
          <p:nvPr/>
        </p:nvSpPr>
        <p:spPr>
          <a:xfrm>
            <a:off x="4480560" y="2148840"/>
            <a:ext cx="4114800" cy="457200"/>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Before you can open it, you must pass one final test.</a:t>
            </a:r>
            <a:endParaRPr lang="en-US" sz="1300" dirty="0"/>
          </a:p>
        </p:txBody>
      </p:sp>
      <p:sp>
        <p:nvSpPr>
          <p:cNvPr id="14" name="Shape 11"/>
          <p:cNvSpPr/>
          <p:nvPr/>
        </p:nvSpPr>
        <p:spPr>
          <a:xfrm>
            <a:off x="4480560" y="2697480"/>
            <a:ext cx="4114800" cy="1051560"/>
          </a:xfrm>
          <a:prstGeom prst="roundRect">
            <a:avLst>
              <a:gd name="adj" fmla="val 10435"/>
            </a:avLst>
          </a:prstGeom>
          <a:solidFill>
            <a:srgbClr val="D4943A"/>
          </a:solidFill>
          <a:ln w="12700">
            <a:solidFill>
              <a:srgbClr val="C0840A"/>
            </a:solidFill>
            <a:prstDash val="solid"/>
          </a:ln>
        </p:spPr>
      </p:sp>
      <p:sp>
        <p:nvSpPr>
          <p:cNvPr id="15" name="Text 12"/>
          <p:cNvSpPr/>
          <p:nvPr/>
        </p:nvSpPr>
        <p:spPr>
          <a:xfrm>
            <a:off x="4480560" y="2724912"/>
            <a:ext cx="4114800" cy="274320"/>
          </a:xfrm>
          <a:prstGeom prst="rect">
            <a:avLst/>
          </a:prstGeom>
          <a:noFill/>
          <a:ln/>
        </p:spPr>
        <p:txBody>
          <a:bodyPr wrap="square" lIns="0" tIns="0" rIns="0" bIns="0" rtlCol="0" anchor="ctr"/>
          <a:lstStyle/>
          <a:p>
            <a:pPr algn="ctr" indent="0" marL="0">
              <a:buNone/>
            </a:pPr>
            <a:r>
              <a:rPr lang="en-US" sz="900" b="1" spc="150" kern="0" dirty="0">
                <a:solidFill>
                  <a:srgbClr val="0E1C42"/>
                </a:solidFill>
                <a:latin typeface="Calibri" pitchFamily="34" charset="0"/>
                <a:ea typeface="Calibri" pitchFamily="34" charset="-122"/>
                <a:cs typeface="Calibri" pitchFamily="34" charset="-120"/>
              </a:rPr>
              <a:t>EARN THE EVIDENCE KEEPER BADGE</a:t>
            </a:r>
            <a:endParaRPr lang="en-US" sz="900" dirty="0"/>
          </a:p>
        </p:txBody>
      </p:sp>
      <p:sp>
        <p:nvSpPr>
          <p:cNvPr id="16" name="Text 13"/>
          <p:cNvSpPr/>
          <p:nvPr/>
        </p:nvSpPr>
        <p:spPr>
          <a:xfrm>
            <a:off x="4572000" y="3017520"/>
            <a:ext cx="3931920" cy="320040"/>
          </a:xfrm>
          <a:prstGeom prst="rect">
            <a:avLst/>
          </a:prstGeom>
          <a:noFill/>
          <a:ln/>
        </p:spPr>
        <p:txBody>
          <a:bodyPr wrap="square" lIns="0" tIns="0" rIns="0" bIns="0" rtlCol="0" anchor="ctr"/>
          <a:lstStyle/>
          <a:p>
            <a:pPr algn="ctr" indent="0" marL="0">
              <a:buNone/>
            </a:pPr>
            <a:r>
              <a:rPr lang="en-US" sz="1600" b="1" dirty="0">
                <a:solidFill>
                  <a:srgbClr val="0E1C42"/>
                </a:solidFill>
                <a:latin typeface="Cambria" pitchFamily="34" charset="0"/>
                <a:ea typeface="Cambria" pitchFamily="34" charset="-122"/>
                <a:cs typeface="Cambria" pitchFamily="34" charset="-120"/>
              </a:rPr>
              <a:t>Observe · Ask · Check · Write</a:t>
            </a:r>
            <a:endParaRPr lang="en-US" sz="1600" dirty="0"/>
          </a:p>
        </p:txBody>
      </p:sp>
      <p:sp>
        <p:nvSpPr>
          <p:cNvPr id="17" name="Text 14"/>
          <p:cNvSpPr/>
          <p:nvPr/>
        </p:nvSpPr>
        <p:spPr>
          <a:xfrm>
            <a:off x="4572000" y="3337560"/>
            <a:ext cx="3931920" cy="274320"/>
          </a:xfrm>
          <a:prstGeom prst="rect">
            <a:avLst/>
          </a:prstGeom>
          <a:noFill/>
          <a:ln/>
        </p:spPr>
        <p:txBody>
          <a:bodyPr wrap="square" lIns="0" tIns="0" rIns="0" bIns="0" rtlCol="0" anchor="ctr"/>
          <a:lstStyle/>
          <a:p>
            <a:pPr algn="ctr" indent="0" marL="0">
              <a:buNone/>
            </a:pPr>
            <a:r>
              <a:rPr lang="en-US" sz="1100" i="1" dirty="0">
                <a:solidFill>
                  <a:srgbClr val="0E1C42"/>
                </a:solidFill>
                <a:latin typeface="Calibri" pitchFamily="34" charset="0"/>
                <a:ea typeface="Calibri" pitchFamily="34" charset="-122"/>
                <a:cs typeface="Calibri" pitchFamily="34" charset="-120"/>
              </a:rPr>
              <a:t>All four skills. One entry. Today.</a:t>
            </a:r>
            <a:endParaRPr lang="en-US" sz="1100" dirty="0"/>
          </a:p>
        </p:txBody>
      </p:sp>
      <p:sp>
        <p:nvSpPr>
          <p:cNvPr id="18" name="Shape 15"/>
          <p:cNvSpPr/>
          <p:nvPr/>
        </p:nvSpPr>
        <p:spPr>
          <a:xfrm>
            <a:off x="0" y="4343400"/>
            <a:ext cx="9144000" cy="800100"/>
          </a:xfrm>
          <a:prstGeom prst="rect">
            <a:avLst/>
          </a:prstGeom>
          <a:solidFill>
            <a:srgbClr val="1A2D5A"/>
          </a:solidFill>
          <a:ln/>
        </p:spPr>
      </p:sp>
      <p:sp>
        <p:nvSpPr>
          <p:cNvPr id="19" name="Text 16"/>
          <p:cNvSpPr/>
          <p:nvPr/>
        </p:nvSpPr>
        <p:spPr>
          <a:xfrm>
            <a:off x="365760" y="4434840"/>
            <a:ext cx="8412480" cy="594360"/>
          </a:xfrm>
          <a:prstGeom prst="rect">
            <a:avLst/>
          </a:prstGeom>
          <a:noFill/>
          <a:ln/>
        </p:spPr>
        <p:txBody>
          <a:bodyPr wrap="square" lIns="0" tIns="0" rIns="0" bIns="0" rtlCol="0" anchor="ctr"/>
          <a:lstStyle/>
          <a:p>
            <a:pPr algn="ctr" indent="0" marL="0">
              <a:buNone/>
            </a:pPr>
            <a:r>
              <a:rPr lang="en-US" sz="1200" i="1" dirty="0">
                <a:solidFill>
                  <a:srgbClr val="D4943A"/>
                </a:solidFill>
                <a:latin typeface="Cambria" pitchFamily="34" charset="0"/>
                <a:ea typeface="Cambria" pitchFamily="34" charset="-122"/>
                <a:cs typeface="Cambria" pitchFamily="34" charset="-120"/>
              </a:rPr>
              <a:t>Virtue Spotlight — Honesty: An evidence entry must report what the source ACTUALLY shows. Not what you wish. Not what you guessed.</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LESSON 3.01.06  ·  TODAY'S PATH</a:t>
            </a:r>
            <a:endParaRPr lang="en-US" sz="1100" dirty="0"/>
          </a:p>
        </p:txBody>
      </p:sp>
      <p:sp>
        <p:nvSpPr>
          <p:cNvPr id="5" name="Text 2"/>
          <p:cNvSpPr/>
          <p:nvPr/>
        </p:nvSpPr>
        <p:spPr>
          <a:xfrm>
            <a:off x="457200" y="640080"/>
            <a:ext cx="8229600" cy="502920"/>
          </a:xfrm>
          <a:prstGeom prst="rect">
            <a:avLst/>
          </a:prstGeom>
          <a:noFill/>
          <a:ln/>
        </p:spPr>
        <p:txBody>
          <a:bodyPr wrap="square" lIns="0" tIns="0" rIns="0" bIns="0" rtlCol="0" anchor="ctr"/>
          <a:lstStyle/>
          <a:p>
            <a:pPr algn="l" indent="0" marL="0">
              <a:buNone/>
            </a:pPr>
            <a:r>
              <a:rPr lang="en-US" sz="3200" b="1" dirty="0">
                <a:solidFill>
                  <a:srgbClr val="0E1C42"/>
                </a:solidFill>
                <a:latin typeface="Cambria" pitchFamily="34" charset="0"/>
                <a:ea typeface="Cambria" pitchFamily="34" charset="-122"/>
                <a:cs typeface="Cambria" pitchFamily="34" charset="-120"/>
              </a:rPr>
              <a:t>Your Mission Today</a:t>
            </a:r>
            <a:endParaRPr lang="en-US" sz="3200" dirty="0"/>
          </a:p>
        </p:txBody>
      </p:sp>
      <p:sp>
        <p:nvSpPr>
          <p:cNvPr id="6" name="Text 3"/>
          <p:cNvSpPr/>
          <p:nvPr/>
        </p:nvSpPr>
        <p:spPr>
          <a:xfrm>
            <a:off x="457200" y="1143000"/>
            <a:ext cx="8229600" cy="292608"/>
          </a:xfrm>
          <a:prstGeom prst="rect">
            <a:avLst/>
          </a:prstGeom>
          <a:noFill/>
          <a:ln/>
        </p:spPr>
        <p:txBody>
          <a:bodyPr wrap="square" lIns="0" tIns="0" rIns="0" bIns="0" rtlCol="0" anchor="ctr"/>
          <a:lstStyle/>
          <a:p>
            <a:pPr algn="l" indent="0" marL="0">
              <a:buNone/>
            </a:pPr>
            <a:r>
              <a:rPr lang="en-US" sz="1400" i="1" dirty="0">
                <a:solidFill>
                  <a:srgbClr val="7A88A8"/>
                </a:solidFill>
                <a:latin typeface="Calibri" pitchFamily="34" charset="0"/>
                <a:ea typeface="Calibri" pitchFamily="34" charset="-122"/>
                <a:cs typeface="Calibri" pitchFamily="34" charset="-120"/>
              </a:rPr>
              <a:t>Source Scholar: Demonstrating all your curator skills.</a:t>
            </a:r>
            <a:endParaRPr lang="en-US" sz="1400" dirty="0"/>
          </a:p>
        </p:txBody>
      </p:sp>
      <p:sp>
        <p:nvSpPr>
          <p:cNvPr id="7" name="Shape 4"/>
          <p:cNvSpPr/>
          <p:nvPr/>
        </p:nvSpPr>
        <p:spPr>
          <a:xfrm>
            <a:off x="365760" y="1600200"/>
            <a:ext cx="3931920" cy="1051560"/>
          </a:xfrm>
          <a:prstGeom prst="roundRect">
            <a:avLst>
              <a:gd name="adj" fmla="val 10435"/>
            </a:avLst>
          </a:prstGeom>
          <a:solidFill>
            <a:srgbClr val="F0F2F8"/>
          </a:solidFill>
          <a:ln w="31750">
            <a:solidFill>
              <a:srgbClr val="1A8A7D"/>
            </a:solidFill>
            <a:prstDash val="solid"/>
          </a:ln>
        </p:spPr>
      </p:sp>
      <p:sp>
        <p:nvSpPr>
          <p:cNvPr id="8" name="Shape 5"/>
          <p:cNvSpPr/>
          <p:nvPr/>
        </p:nvSpPr>
        <p:spPr>
          <a:xfrm>
            <a:off x="457200" y="1737360"/>
            <a:ext cx="457200" cy="457200"/>
          </a:xfrm>
          <a:prstGeom prst="ellipse">
            <a:avLst/>
          </a:prstGeom>
          <a:solidFill>
            <a:srgbClr val="1A8A7D"/>
          </a:solidFill>
          <a:ln/>
        </p:spPr>
      </p:sp>
      <p:sp>
        <p:nvSpPr>
          <p:cNvPr id="9" name="Text 6"/>
          <p:cNvSpPr/>
          <p:nvPr/>
        </p:nvSpPr>
        <p:spPr>
          <a:xfrm>
            <a:off x="45720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10" name="Text 7"/>
          <p:cNvSpPr/>
          <p:nvPr/>
        </p:nvSpPr>
        <p:spPr>
          <a:xfrm>
            <a:off x="1005840" y="1709928"/>
            <a:ext cx="3200400" cy="292608"/>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Review Your Skills</a:t>
            </a:r>
            <a:endParaRPr lang="en-US" sz="1400" dirty="0"/>
          </a:p>
        </p:txBody>
      </p:sp>
      <p:sp>
        <p:nvSpPr>
          <p:cNvPr id="11" name="Text 8"/>
          <p:cNvSpPr/>
          <p:nvPr/>
        </p:nvSpPr>
        <p:spPr>
          <a:xfrm>
            <a:off x="1005840" y="2002536"/>
            <a:ext cx="3200400" cy="548640"/>
          </a:xfrm>
          <a:prstGeom prst="rect">
            <a:avLst/>
          </a:prstGeom>
          <a:noFill/>
          <a:ln/>
        </p:spPr>
        <p:txBody>
          <a:bodyPr wrap="square" lIns="0" tIns="0" rIns="0" bIns="0" rtlCol="0" anchor="t"/>
          <a:lstStyle/>
          <a:p>
            <a:pPr algn="l" indent="0" marL="0">
              <a:buNone/>
            </a:pPr>
            <a:r>
              <a:rPr lang="en-US" sz="1100" dirty="0">
                <a:solidFill>
                  <a:srgbClr val="5A6888"/>
                </a:solidFill>
                <a:latin typeface="Calibri" pitchFamily="34" charset="0"/>
                <a:ea typeface="Calibri" pitchFamily="34" charset="-122"/>
                <a:cs typeface="Calibri" pitchFamily="34" charset="-120"/>
              </a:rPr>
              <a:t>Primary vs. secondary sources, five question types, Three-Check Test, word roots</a:t>
            </a:r>
            <a:endParaRPr lang="en-US" sz="1100" dirty="0"/>
          </a:p>
        </p:txBody>
      </p:sp>
      <p:sp>
        <p:nvSpPr>
          <p:cNvPr id="12" name="Shape 9"/>
          <p:cNvSpPr/>
          <p:nvPr/>
        </p:nvSpPr>
        <p:spPr>
          <a:xfrm>
            <a:off x="365760" y="2880360"/>
            <a:ext cx="3931920" cy="1051560"/>
          </a:xfrm>
          <a:prstGeom prst="roundRect">
            <a:avLst>
              <a:gd name="adj" fmla="val 10435"/>
            </a:avLst>
          </a:prstGeom>
          <a:solidFill>
            <a:srgbClr val="F0F2F8"/>
          </a:solidFill>
          <a:ln w="31750">
            <a:solidFill>
              <a:srgbClr val="D4943A"/>
            </a:solidFill>
            <a:prstDash val="solid"/>
          </a:ln>
        </p:spPr>
      </p:sp>
      <p:sp>
        <p:nvSpPr>
          <p:cNvPr id="13" name="Shape 10"/>
          <p:cNvSpPr/>
          <p:nvPr/>
        </p:nvSpPr>
        <p:spPr>
          <a:xfrm>
            <a:off x="457200" y="3017520"/>
            <a:ext cx="457200" cy="457200"/>
          </a:xfrm>
          <a:prstGeom prst="ellipse">
            <a:avLst/>
          </a:prstGeom>
          <a:solidFill>
            <a:srgbClr val="D4943A"/>
          </a:solidFill>
          <a:ln/>
        </p:spPr>
      </p:sp>
      <p:sp>
        <p:nvSpPr>
          <p:cNvPr id="14" name="Text 11"/>
          <p:cNvSpPr/>
          <p:nvPr/>
        </p:nvSpPr>
        <p:spPr>
          <a:xfrm>
            <a:off x="45720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5" name="Text 12"/>
          <p:cNvSpPr/>
          <p:nvPr/>
        </p:nvSpPr>
        <p:spPr>
          <a:xfrm>
            <a:off x="1005840" y="2990088"/>
            <a:ext cx="3200400" cy="292608"/>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Discover the Three Parts</a:t>
            </a:r>
            <a:endParaRPr lang="en-US" sz="1400" dirty="0"/>
          </a:p>
        </p:txBody>
      </p:sp>
      <p:sp>
        <p:nvSpPr>
          <p:cNvPr id="16" name="Text 13"/>
          <p:cNvSpPr/>
          <p:nvPr/>
        </p:nvSpPr>
        <p:spPr>
          <a:xfrm>
            <a:off x="1005840" y="3282696"/>
            <a:ext cx="3200400" cy="548640"/>
          </a:xfrm>
          <a:prstGeom prst="rect">
            <a:avLst/>
          </a:prstGeom>
          <a:noFill/>
          <a:ln/>
        </p:spPr>
        <p:txBody>
          <a:bodyPr wrap="square" lIns="0" tIns="0" rIns="0" bIns="0" rtlCol="0" anchor="t"/>
          <a:lstStyle/>
          <a:p>
            <a:pPr algn="l" indent="0" marL="0">
              <a:buNone/>
            </a:pPr>
            <a:r>
              <a:rPr lang="en-US" sz="1100" dirty="0">
                <a:solidFill>
                  <a:srgbClr val="5A6888"/>
                </a:solidFill>
                <a:latin typeface="Calibri" pitchFamily="34" charset="0"/>
                <a:ea typeface="Calibri" pitchFamily="34" charset="-122"/>
                <a:cs typeface="Calibri" pitchFamily="34" charset="-120"/>
              </a:rPr>
              <a:t>What makes a strong evidence entry? You'll figure it out from examples.</a:t>
            </a:r>
            <a:endParaRPr lang="en-US" sz="1100" dirty="0"/>
          </a:p>
        </p:txBody>
      </p:sp>
      <p:sp>
        <p:nvSpPr>
          <p:cNvPr id="17" name="Shape 14"/>
          <p:cNvSpPr/>
          <p:nvPr/>
        </p:nvSpPr>
        <p:spPr>
          <a:xfrm>
            <a:off x="4663440" y="1600200"/>
            <a:ext cx="3931920" cy="1051560"/>
          </a:xfrm>
          <a:prstGeom prst="roundRect">
            <a:avLst>
              <a:gd name="adj" fmla="val 10435"/>
            </a:avLst>
          </a:prstGeom>
          <a:solidFill>
            <a:srgbClr val="F0F2F8"/>
          </a:solidFill>
          <a:ln w="31750">
            <a:solidFill>
              <a:srgbClr val="8B6FC0"/>
            </a:solidFill>
            <a:prstDash val="solid"/>
          </a:ln>
        </p:spPr>
      </p:sp>
      <p:sp>
        <p:nvSpPr>
          <p:cNvPr id="18" name="Shape 15"/>
          <p:cNvSpPr/>
          <p:nvPr/>
        </p:nvSpPr>
        <p:spPr>
          <a:xfrm>
            <a:off x="4754880" y="1737360"/>
            <a:ext cx="457200" cy="457200"/>
          </a:xfrm>
          <a:prstGeom prst="ellipse">
            <a:avLst/>
          </a:prstGeom>
          <a:solidFill>
            <a:srgbClr val="8B6FC0"/>
          </a:solidFill>
          <a:ln/>
        </p:spPr>
      </p:sp>
      <p:sp>
        <p:nvSpPr>
          <p:cNvPr id="19" name="Text 16"/>
          <p:cNvSpPr/>
          <p:nvPr/>
        </p:nvSpPr>
        <p:spPr>
          <a:xfrm>
            <a:off x="4754880" y="17373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20" name="Text 17"/>
          <p:cNvSpPr/>
          <p:nvPr/>
        </p:nvSpPr>
        <p:spPr>
          <a:xfrm>
            <a:off x="5303520" y="1709928"/>
            <a:ext cx="3200400" cy="292608"/>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Study a Source Together</a:t>
            </a:r>
            <a:endParaRPr lang="en-US" sz="1400" dirty="0"/>
          </a:p>
        </p:txBody>
      </p:sp>
      <p:sp>
        <p:nvSpPr>
          <p:cNvPr id="21" name="Text 18"/>
          <p:cNvSpPr/>
          <p:nvPr/>
        </p:nvSpPr>
        <p:spPr>
          <a:xfrm>
            <a:off x="5303520" y="2002536"/>
            <a:ext cx="3200400" cy="548640"/>
          </a:xfrm>
          <a:prstGeom prst="rect">
            <a:avLst/>
          </a:prstGeom>
          <a:noFill/>
          <a:ln/>
        </p:spPr>
        <p:txBody>
          <a:bodyPr wrap="square" lIns="0" tIns="0" rIns="0" bIns="0" rtlCol="0" anchor="t"/>
          <a:lstStyle/>
          <a:p>
            <a:pPr algn="l" indent="0" marL="0">
              <a:buNone/>
            </a:pPr>
            <a:r>
              <a:rPr lang="en-US" sz="1100" dirty="0">
                <a:solidFill>
                  <a:srgbClr val="5A6888"/>
                </a:solidFill>
                <a:latin typeface="Calibri" pitchFamily="34" charset="0"/>
                <a:ea typeface="Calibri" pitchFamily="34" charset="-122"/>
                <a:cs typeface="Calibri" pitchFamily="34" charset="-120"/>
              </a:rPr>
              <a:t>Apply all five question types to a real historical photograph.</a:t>
            </a:r>
            <a:endParaRPr lang="en-US" sz="1100" dirty="0"/>
          </a:p>
        </p:txBody>
      </p:sp>
      <p:sp>
        <p:nvSpPr>
          <p:cNvPr id="22" name="Shape 19"/>
          <p:cNvSpPr/>
          <p:nvPr/>
        </p:nvSpPr>
        <p:spPr>
          <a:xfrm>
            <a:off x="4663440" y="2880360"/>
            <a:ext cx="3931920" cy="1051560"/>
          </a:xfrm>
          <a:prstGeom prst="roundRect">
            <a:avLst>
              <a:gd name="adj" fmla="val 10435"/>
            </a:avLst>
          </a:prstGeom>
          <a:solidFill>
            <a:srgbClr val="F0F2F8"/>
          </a:solidFill>
          <a:ln w="31750">
            <a:solidFill>
              <a:srgbClr val="E8636B"/>
            </a:solidFill>
            <a:prstDash val="solid"/>
          </a:ln>
        </p:spPr>
      </p:sp>
      <p:sp>
        <p:nvSpPr>
          <p:cNvPr id="23" name="Shape 20"/>
          <p:cNvSpPr/>
          <p:nvPr/>
        </p:nvSpPr>
        <p:spPr>
          <a:xfrm>
            <a:off x="4754880" y="3017520"/>
            <a:ext cx="457200" cy="457200"/>
          </a:xfrm>
          <a:prstGeom prst="ellipse">
            <a:avLst/>
          </a:prstGeom>
          <a:solidFill>
            <a:srgbClr val="E8636B"/>
          </a:solidFill>
          <a:ln/>
        </p:spPr>
      </p:sp>
      <p:sp>
        <p:nvSpPr>
          <p:cNvPr id="24" name="Text 21"/>
          <p:cNvSpPr/>
          <p:nvPr/>
        </p:nvSpPr>
        <p:spPr>
          <a:xfrm>
            <a:off x="4754880" y="30175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5" name="Text 22"/>
          <p:cNvSpPr/>
          <p:nvPr/>
        </p:nvSpPr>
        <p:spPr>
          <a:xfrm>
            <a:off x="5303520" y="2990088"/>
            <a:ext cx="3200400" cy="292608"/>
          </a:xfrm>
          <a:prstGeom prst="rect">
            <a:avLst/>
          </a:prstGeom>
          <a:noFill/>
          <a:ln/>
        </p:spPr>
        <p:txBody>
          <a:bodyPr wrap="square" lIns="0" tIns="0" rIns="0" bIns="0" rtlCol="0" anchor="ctr"/>
          <a:lstStyle/>
          <a:p>
            <a:pPr algn="l" indent="0" marL="0">
              <a:buNone/>
            </a:pPr>
            <a:r>
              <a:rPr lang="en-US" sz="1400" b="1" dirty="0">
                <a:solidFill>
                  <a:srgbClr val="0E1C42"/>
                </a:solidFill>
                <a:latin typeface="Calibri" pitchFamily="34" charset="0"/>
                <a:ea typeface="Calibri" pitchFamily="34" charset="-122"/>
                <a:cs typeface="Calibri" pitchFamily="34" charset="-120"/>
              </a:rPr>
              <a:t>Write Your Official Entry</a:t>
            </a:r>
            <a:endParaRPr lang="en-US" sz="1400" dirty="0"/>
          </a:p>
        </p:txBody>
      </p:sp>
      <p:sp>
        <p:nvSpPr>
          <p:cNvPr id="26" name="Text 23"/>
          <p:cNvSpPr/>
          <p:nvPr/>
        </p:nvSpPr>
        <p:spPr>
          <a:xfrm>
            <a:off x="5303520" y="3282696"/>
            <a:ext cx="3200400" cy="548640"/>
          </a:xfrm>
          <a:prstGeom prst="rect">
            <a:avLst/>
          </a:prstGeom>
          <a:noFill/>
          <a:ln/>
        </p:spPr>
        <p:txBody>
          <a:bodyPr wrap="square" lIns="0" tIns="0" rIns="0" bIns="0" rtlCol="0" anchor="t"/>
          <a:lstStyle/>
          <a:p>
            <a:pPr algn="l" indent="0" marL="0">
              <a:buNone/>
            </a:pPr>
            <a:r>
              <a:rPr lang="en-US" sz="1100" dirty="0">
                <a:solidFill>
                  <a:srgbClr val="5A6888"/>
                </a:solidFill>
                <a:latin typeface="Calibri" pitchFamily="34" charset="0"/>
                <a:ea typeface="Calibri" pitchFamily="34" charset="-122"/>
                <a:cs typeface="Calibri" pitchFamily="34" charset="-120"/>
              </a:rPr>
              <a:t>A new source, no help — prove you've earned the Evidence Keeper badge.</a:t>
            </a:r>
            <a:endParaRPr lang="en-US" sz="1100" dirty="0"/>
          </a:p>
        </p:txBody>
      </p:sp>
      <p:sp>
        <p:nvSpPr>
          <p:cNvPr id="27" name="Shape 24"/>
          <p:cNvSpPr/>
          <p:nvPr/>
        </p:nvSpPr>
        <p:spPr>
          <a:xfrm>
            <a:off x="365760" y="3977640"/>
            <a:ext cx="8412480" cy="1005840"/>
          </a:xfrm>
          <a:prstGeom prst="roundRect">
            <a:avLst>
              <a:gd name="adj" fmla="val 10909"/>
            </a:avLst>
          </a:prstGeom>
          <a:solidFill>
            <a:srgbClr val="FFF3DC"/>
          </a:solidFill>
          <a:ln w="19050">
            <a:solidFill>
              <a:srgbClr val="F5E6C8"/>
            </a:solidFill>
            <a:prstDash val="solid"/>
          </a:ln>
        </p:spPr>
      </p:sp>
      <p:sp>
        <p:nvSpPr>
          <p:cNvPr id="28" name="Text 25"/>
          <p:cNvSpPr/>
          <p:nvPr/>
        </p:nvSpPr>
        <p:spPr>
          <a:xfrm>
            <a:off x="502920" y="40325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9" name="Text 26"/>
          <p:cNvSpPr/>
          <p:nvPr/>
        </p:nvSpPr>
        <p:spPr>
          <a:xfrm>
            <a:off x="502920" y="4233672"/>
            <a:ext cx="813816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"Today I will use... to help me write my entry."</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skill I feel most ready for is..."</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RETRIEVAL CHALLENGE  ·  WHAT HAVE YOU LEARNED?</a:t>
            </a:r>
            <a:endParaRPr lang="en-US" sz="1100" dirty="0"/>
          </a:p>
        </p:txBody>
      </p:sp>
      <p:sp>
        <p:nvSpPr>
          <p:cNvPr id="5" name="Text 2"/>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Everything You Need — Already in Your Notebook</a:t>
            </a:r>
            <a:endParaRPr lang="en-US" sz="2800" dirty="0"/>
          </a:p>
        </p:txBody>
      </p:sp>
      <p:sp>
        <p:nvSpPr>
          <p:cNvPr id="6" name="Text 3"/>
          <p:cNvSpPr/>
          <p:nvPr/>
        </p:nvSpPr>
        <p:spPr>
          <a:xfrm>
            <a:off x="457200" y="1051560"/>
            <a:ext cx="8229600" cy="274320"/>
          </a:xfrm>
          <a:prstGeom prst="rect">
            <a:avLst/>
          </a:prstGeom>
          <a:noFill/>
          <a:ln/>
        </p:spPr>
        <p:txBody>
          <a:bodyPr wrap="square" lIns="0" tIns="0" rIns="0" bIns="0" rtlCol="0" anchor="ctr"/>
          <a:lstStyle/>
          <a:p>
            <a:pPr algn="l" indent="0" marL="0">
              <a:buNone/>
            </a:pPr>
            <a:r>
              <a:rPr lang="en-US" sz="1400" b="1" i="1" dirty="0">
                <a:solidFill>
                  <a:srgbClr val="D4943A"/>
                </a:solidFill>
                <a:latin typeface="Calibri" pitchFamily="34" charset="0"/>
                <a:ea typeface="Calibri" pitchFamily="34" charset="-122"/>
                <a:cs typeface="Calibri" pitchFamily="34" charset="-120"/>
              </a:rPr>
              <a:t>Cover the screen. Name as many skills as you can from memory.</a:t>
            </a:r>
            <a:endParaRPr lang="en-US" sz="1400" dirty="0"/>
          </a:p>
        </p:txBody>
      </p:sp>
      <p:sp>
        <p:nvSpPr>
          <p:cNvPr id="7" name="Shape 4"/>
          <p:cNvSpPr/>
          <p:nvPr/>
        </p:nvSpPr>
        <p:spPr>
          <a:xfrm>
            <a:off x="274320" y="1463040"/>
            <a:ext cx="2651760" cy="1371600"/>
          </a:xfrm>
          <a:prstGeom prst="roundRect">
            <a:avLst>
              <a:gd name="adj" fmla="val 8000"/>
            </a:avLst>
          </a:prstGeom>
          <a:solidFill>
            <a:srgbClr val="F0F2F8"/>
          </a:solidFill>
          <a:ln w="19050">
            <a:solidFill>
              <a:srgbClr val="1A8A7D"/>
            </a:solidFill>
            <a:prstDash val="solid"/>
          </a:ln>
        </p:spPr>
      </p:sp>
      <p:sp>
        <p:nvSpPr>
          <p:cNvPr id="8" name="Text 5"/>
          <p:cNvSpPr/>
          <p:nvPr/>
        </p:nvSpPr>
        <p:spPr>
          <a:xfrm>
            <a:off x="274320" y="1554480"/>
            <a:ext cx="2651760" cy="36576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9" name="Text 6"/>
          <p:cNvSpPr/>
          <p:nvPr/>
        </p:nvSpPr>
        <p:spPr>
          <a:xfrm>
            <a:off x="365760" y="1938528"/>
            <a:ext cx="2468880" cy="36576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4 Fields of Social Studies</a:t>
            </a:r>
            <a:endParaRPr lang="en-US" sz="1100" dirty="0"/>
          </a:p>
        </p:txBody>
      </p:sp>
      <p:sp>
        <p:nvSpPr>
          <p:cNvPr id="10" name="Text 7"/>
          <p:cNvSpPr/>
          <p:nvPr/>
        </p:nvSpPr>
        <p:spPr>
          <a:xfrm>
            <a:off x="365760" y="2286000"/>
            <a:ext cx="2468880" cy="41148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History · Geography · Economics · Civics</a:t>
            </a:r>
            <a:endParaRPr lang="en-US" sz="900" dirty="0"/>
          </a:p>
        </p:txBody>
      </p:sp>
      <p:sp>
        <p:nvSpPr>
          <p:cNvPr id="11" name="Shape 8"/>
          <p:cNvSpPr/>
          <p:nvPr/>
        </p:nvSpPr>
        <p:spPr>
          <a:xfrm>
            <a:off x="3108960" y="1463040"/>
            <a:ext cx="2651760" cy="1371600"/>
          </a:xfrm>
          <a:prstGeom prst="roundRect">
            <a:avLst>
              <a:gd name="adj" fmla="val 8000"/>
            </a:avLst>
          </a:prstGeom>
          <a:solidFill>
            <a:srgbClr val="F0F2F8"/>
          </a:solidFill>
          <a:ln w="19050">
            <a:solidFill>
              <a:srgbClr val="1A8A7D"/>
            </a:solidFill>
            <a:prstDash val="solid"/>
          </a:ln>
        </p:spPr>
      </p:sp>
      <p:sp>
        <p:nvSpPr>
          <p:cNvPr id="12" name="Text 9"/>
          <p:cNvSpPr/>
          <p:nvPr/>
        </p:nvSpPr>
        <p:spPr>
          <a:xfrm>
            <a:off x="3108960" y="1554480"/>
            <a:ext cx="2651760" cy="36576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3" name="Text 10"/>
          <p:cNvSpPr/>
          <p:nvPr/>
        </p:nvSpPr>
        <p:spPr>
          <a:xfrm>
            <a:off x="3200400" y="1938528"/>
            <a:ext cx="2468880" cy="36576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Primary vs. Secondary Sources</a:t>
            </a:r>
            <a:endParaRPr lang="en-US" sz="1100" dirty="0"/>
          </a:p>
        </p:txBody>
      </p:sp>
      <p:sp>
        <p:nvSpPr>
          <p:cNvPr id="14" name="Text 11"/>
          <p:cNvSpPr/>
          <p:nvPr/>
        </p:nvSpPr>
        <p:spPr>
          <a:xfrm>
            <a:off x="3200400" y="2286000"/>
            <a:ext cx="2468880" cy="41148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Who made it? When? Were they there?</a:t>
            </a:r>
            <a:endParaRPr lang="en-US" sz="900" dirty="0"/>
          </a:p>
        </p:txBody>
      </p:sp>
      <p:sp>
        <p:nvSpPr>
          <p:cNvPr id="15" name="Shape 12"/>
          <p:cNvSpPr/>
          <p:nvPr/>
        </p:nvSpPr>
        <p:spPr>
          <a:xfrm>
            <a:off x="5943600" y="1463040"/>
            <a:ext cx="2651760" cy="1371600"/>
          </a:xfrm>
          <a:prstGeom prst="roundRect">
            <a:avLst>
              <a:gd name="adj" fmla="val 8000"/>
            </a:avLst>
          </a:prstGeom>
          <a:solidFill>
            <a:srgbClr val="F0F2F8"/>
          </a:solidFill>
          <a:ln w="19050">
            <a:solidFill>
              <a:srgbClr val="1A8A7D"/>
            </a:solidFill>
            <a:prstDash val="solid"/>
          </a:ln>
        </p:spPr>
      </p:sp>
      <p:sp>
        <p:nvSpPr>
          <p:cNvPr id="16" name="Text 13"/>
          <p:cNvSpPr/>
          <p:nvPr/>
        </p:nvSpPr>
        <p:spPr>
          <a:xfrm>
            <a:off x="5943600" y="1554480"/>
            <a:ext cx="2651760" cy="36576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17" name="Text 14"/>
          <p:cNvSpPr/>
          <p:nvPr/>
        </p:nvSpPr>
        <p:spPr>
          <a:xfrm>
            <a:off x="6035040" y="1938528"/>
            <a:ext cx="2468880" cy="36576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Five Question Types</a:t>
            </a:r>
            <a:endParaRPr lang="en-US" sz="1100" dirty="0"/>
          </a:p>
        </p:txBody>
      </p:sp>
      <p:sp>
        <p:nvSpPr>
          <p:cNvPr id="18" name="Text 15"/>
          <p:cNvSpPr/>
          <p:nvPr/>
        </p:nvSpPr>
        <p:spPr>
          <a:xfrm>
            <a:off x="6035040" y="2286000"/>
            <a:ext cx="2468880" cy="41148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Observation · Context · Evidence · Connection · Significance</a:t>
            </a:r>
            <a:endParaRPr lang="en-US" sz="900" dirty="0"/>
          </a:p>
        </p:txBody>
      </p:sp>
      <p:sp>
        <p:nvSpPr>
          <p:cNvPr id="19" name="Shape 16"/>
          <p:cNvSpPr/>
          <p:nvPr/>
        </p:nvSpPr>
        <p:spPr>
          <a:xfrm>
            <a:off x="1691640" y="3017520"/>
            <a:ext cx="2651760" cy="1371600"/>
          </a:xfrm>
          <a:prstGeom prst="roundRect">
            <a:avLst>
              <a:gd name="adj" fmla="val 8000"/>
            </a:avLst>
          </a:prstGeom>
          <a:solidFill>
            <a:srgbClr val="F0F2F8"/>
          </a:solidFill>
          <a:ln w="19050">
            <a:solidFill>
              <a:srgbClr val="1A8A7D"/>
            </a:solidFill>
            <a:prstDash val="solid"/>
          </a:ln>
        </p:spPr>
      </p:sp>
      <p:sp>
        <p:nvSpPr>
          <p:cNvPr id="20" name="Text 17"/>
          <p:cNvSpPr/>
          <p:nvPr/>
        </p:nvSpPr>
        <p:spPr>
          <a:xfrm>
            <a:off x="1691640" y="3108960"/>
            <a:ext cx="2651760" cy="36576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1" name="Text 18"/>
          <p:cNvSpPr/>
          <p:nvPr/>
        </p:nvSpPr>
        <p:spPr>
          <a:xfrm>
            <a:off x="1783080" y="3493008"/>
            <a:ext cx="2468880" cy="36576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Three-Check Test</a:t>
            </a:r>
            <a:endParaRPr lang="en-US" sz="1100" dirty="0"/>
          </a:p>
        </p:txBody>
      </p:sp>
      <p:sp>
        <p:nvSpPr>
          <p:cNvPr id="22" name="Text 19"/>
          <p:cNvSpPr/>
          <p:nvPr/>
        </p:nvSpPr>
        <p:spPr>
          <a:xfrm>
            <a:off x="1783080" y="3840480"/>
            <a:ext cx="2468880" cy="41148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WHO made it? WHEN? What EVIDENCE do they give?</a:t>
            </a:r>
            <a:endParaRPr lang="en-US" sz="900" dirty="0"/>
          </a:p>
        </p:txBody>
      </p:sp>
      <p:sp>
        <p:nvSpPr>
          <p:cNvPr id="23" name="Shape 20"/>
          <p:cNvSpPr/>
          <p:nvPr/>
        </p:nvSpPr>
        <p:spPr>
          <a:xfrm>
            <a:off x="4526280" y="3017520"/>
            <a:ext cx="2651760" cy="1371600"/>
          </a:xfrm>
          <a:prstGeom prst="roundRect">
            <a:avLst>
              <a:gd name="adj" fmla="val 8000"/>
            </a:avLst>
          </a:prstGeom>
          <a:solidFill>
            <a:srgbClr val="F0F2F8"/>
          </a:solidFill>
          <a:ln w="19050">
            <a:solidFill>
              <a:srgbClr val="1A8A7D"/>
            </a:solidFill>
            <a:prstDash val="solid"/>
          </a:ln>
        </p:spPr>
      </p:sp>
      <p:sp>
        <p:nvSpPr>
          <p:cNvPr id="24" name="Text 21"/>
          <p:cNvSpPr/>
          <p:nvPr/>
        </p:nvSpPr>
        <p:spPr>
          <a:xfrm>
            <a:off x="4526280" y="3108960"/>
            <a:ext cx="2651760" cy="365760"/>
          </a:xfrm>
          <a:prstGeom prst="rect">
            <a:avLst/>
          </a:prstGeom>
          <a:noFill/>
          <a:ln/>
        </p:spPr>
        <p:txBody>
          <a:bodyPr wrap="square" lIns="0" tIns="0" rIns="0" bIns="0" rtlCol="0" anchor="ctr"/>
          <a:lstStyle/>
          <a:p>
            <a:pPr algn="ctr" indent="0" marL="0">
              <a:buNone/>
            </a:pPr>
            <a:r>
              <a:rPr lang="en-US" sz="2200" dirty="0">
                <a:solidFill>
                  <a:srgbClr val="000000"/>
                </a:solidFill>
                <a:latin typeface="Calibri" pitchFamily="34" charset="0"/>
                <a:ea typeface="Calibri" pitchFamily="34" charset="-122"/>
                <a:cs typeface="Calibri" pitchFamily="34" charset="-120"/>
              </a:rPr>
              <a:t>🌱</a:t>
            </a:r>
            <a:endParaRPr lang="en-US" sz="2200" dirty="0"/>
          </a:p>
        </p:txBody>
      </p:sp>
      <p:sp>
        <p:nvSpPr>
          <p:cNvPr id="25" name="Text 22"/>
          <p:cNvSpPr/>
          <p:nvPr/>
        </p:nvSpPr>
        <p:spPr>
          <a:xfrm>
            <a:off x="4617720" y="3493008"/>
            <a:ext cx="2468880" cy="365760"/>
          </a:xfrm>
          <a:prstGeom prst="rect">
            <a:avLst/>
          </a:prstGeom>
          <a:noFill/>
          <a:ln/>
        </p:spPr>
        <p:txBody>
          <a:bodyPr wrap="square" lIns="0" tIns="0" rIns="0" bIns="0" rtlCol="0" anchor="ctr"/>
          <a:lstStyle/>
          <a:p>
            <a:pPr algn="ctr" indent="0" marL="0">
              <a:buNone/>
            </a:pPr>
            <a:r>
              <a:rPr lang="en-US" sz="1100" b="1" dirty="0">
                <a:solidFill>
                  <a:srgbClr val="0E1C42"/>
                </a:solidFill>
                <a:latin typeface="Calibri" pitchFamily="34" charset="0"/>
                <a:ea typeface="Calibri" pitchFamily="34" charset="-122"/>
                <a:cs typeface="Calibri" pitchFamily="34" charset="-120"/>
              </a:rPr>
              <a:t>Word Roots as Curator Tools</a:t>
            </a:r>
            <a:endParaRPr lang="en-US" sz="1100" dirty="0"/>
          </a:p>
        </p:txBody>
      </p:sp>
      <p:sp>
        <p:nvSpPr>
          <p:cNvPr id="26" name="Text 23"/>
          <p:cNvSpPr/>
          <p:nvPr/>
        </p:nvSpPr>
        <p:spPr>
          <a:xfrm>
            <a:off x="4617720" y="3840480"/>
            <a:ext cx="2468880" cy="411480"/>
          </a:xfrm>
          <a:prstGeom prst="rect">
            <a:avLst/>
          </a:prstGeom>
          <a:noFill/>
          <a:ln/>
        </p:spPr>
        <p:txBody>
          <a:bodyPr wrap="square" lIns="0" tIns="0" rIns="0" bIns="0" rtlCol="0" anchor="ctr"/>
          <a:lstStyle/>
          <a:p>
            <a:pPr algn="ctr" indent="0" marL="0">
              <a:buNone/>
            </a:pPr>
            <a:r>
              <a:rPr lang="en-US" sz="900" i="1" dirty="0">
                <a:solidFill>
                  <a:srgbClr val="7A88A8"/>
                </a:solidFill>
                <a:latin typeface="Calibri" pitchFamily="34" charset="0"/>
                <a:ea typeface="Calibri" pitchFamily="34" charset="-122"/>
                <a:cs typeface="Calibri" pitchFamily="34" charset="-120"/>
              </a:rPr>
              <a:t>Hist-, Geo+Graph, Oikonomia, Civis</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Shape 2"/>
          <p:cNvSpPr/>
          <p:nvPr/>
        </p:nvSpPr>
        <p:spPr>
          <a:xfrm>
            <a:off x="365760" y="274320"/>
            <a:ext cx="2011680" cy="411480"/>
          </a:xfrm>
          <a:prstGeom prst="roundRect">
            <a:avLst>
              <a:gd name="adj" fmla="val 17778"/>
            </a:avLst>
          </a:prstGeom>
          <a:solidFill>
            <a:srgbClr val="D4943A"/>
          </a:solidFill>
          <a:ln/>
        </p:spPr>
      </p:sp>
      <p:sp>
        <p:nvSpPr>
          <p:cNvPr id="6" name="Text 3"/>
          <p:cNvSpPr/>
          <p:nvPr/>
        </p:nvSpPr>
        <p:spPr>
          <a:xfrm>
            <a:off x="365760" y="274320"/>
            <a:ext cx="2011680" cy="411480"/>
          </a:xfrm>
          <a:prstGeom prst="rect">
            <a:avLst/>
          </a:prstGeom>
          <a:noFill/>
          <a:ln/>
        </p:spPr>
        <p:txBody>
          <a:bodyPr wrap="square" lIns="0" tIns="0" rIns="0" bIns="0" rtlCol="0" anchor="ctr"/>
          <a:lstStyle/>
          <a:p>
            <a:pPr algn="ctr" indent="0" marL="0">
              <a:buNone/>
            </a:pPr>
            <a:r>
              <a:rPr lang="en-US" sz="900" b="1" spc="150" kern="0" dirty="0">
                <a:solidFill>
                  <a:srgbClr val="0E1C42"/>
                </a:solidFill>
                <a:latin typeface="Calibri" pitchFamily="34" charset="0"/>
                <a:ea typeface="Calibri" pitchFamily="34" charset="-122"/>
                <a:cs typeface="Calibri" pitchFamily="34" charset="-120"/>
              </a:rPr>
              <a:t>VIRTUE SPOTLIGHT</a:t>
            </a:r>
            <a:endParaRPr lang="en-US" sz="900" dirty="0"/>
          </a:p>
        </p:txBody>
      </p:sp>
      <p:sp>
        <p:nvSpPr>
          <p:cNvPr id="7" name="Text 4"/>
          <p:cNvSpPr/>
          <p:nvPr/>
        </p:nvSpPr>
        <p:spPr>
          <a:xfrm>
            <a:off x="457200" y="868680"/>
            <a:ext cx="8229600" cy="685800"/>
          </a:xfrm>
          <a:prstGeom prst="rect">
            <a:avLst/>
          </a:prstGeom>
          <a:noFill/>
          <a:ln/>
        </p:spPr>
        <p:txBody>
          <a:bodyPr wrap="square" lIns="0" tIns="0" rIns="0" bIns="0" rtlCol="0" anchor="ctr"/>
          <a:lstStyle/>
          <a:p>
            <a:pPr algn="l" indent="0" marL="0">
              <a:buNone/>
            </a:pPr>
            <a:r>
              <a:rPr lang="en-US" sz="5200" b="1" dirty="0">
                <a:solidFill>
                  <a:srgbClr val="D4943A"/>
                </a:solidFill>
                <a:latin typeface="Cambria" pitchFamily="34" charset="0"/>
                <a:ea typeface="Cambria" pitchFamily="34" charset="-122"/>
                <a:cs typeface="Cambria" pitchFamily="34" charset="-120"/>
              </a:rPr>
              <a:t>Honesty</a:t>
            </a:r>
            <a:endParaRPr lang="en-US" sz="5200" dirty="0"/>
          </a:p>
        </p:txBody>
      </p:sp>
      <p:sp>
        <p:nvSpPr>
          <p:cNvPr id="8" name="Text 5"/>
          <p:cNvSpPr/>
          <p:nvPr/>
        </p:nvSpPr>
        <p:spPr>
          <a:xfrm>
            <a:off x="457200" y="1508760"/>
            <a:ext cx="8229600" cy="365760"/>
          </a:xfrm>
          <a:prstGeom prst="rect">
            <a:avLst/>
          </a:prstGeom>
          <a:noFill/>
          <a:ln/>
        </p:spPr>
        <p:txBody>
          <a:bodyPr wrap="square" lIns="0" tIns="0" rIns="0" bIns="0" rtlCol="0" anchor="ctr"/>
          <a:lstStyle/>
          <a:p>
            <a:pPr algn="l" indent="0" marL="0">
              <a:buNone/>
            </a:pPr>
            <a:r>
              <a:rPr lang="en-US" sz="1800" i="1" dirty="0">
                <a:solidFill>
                  <a:srgbClr val="55C8E8"/>
                </a:solidFill>
                <a:latin typeface="Cambria" pitchFamily="34" charset="0"/>
                <a:ea typeface="Cambria" pitchFamily="34" charset="-122"/>
                <a:cs typeface="Cambria" pitchFamily="34" charset="-120"/>
              </a:rPr>
              <a:t>The Foundation of Every Exhibit</a:t>
            </a:r>
            <a:endParaRPr lang="en-US" sz="1800" dirty="0"/>
          </a:p>
        </p:txBody>
      </p:sp>
      <p:sp>
        <p:nvSpPr>
          <p:cNvPr id="9" name="Shape 6"/>
          <p:cNvSpPr/>
          <p:nvPr/>
        </p:nvSpPr>
        <p:spPr>
          <a:xfrm>
            <a:off x="457200" y="1965960"/>
            <a:ext cx="8229600" cy="0"/>
          </a:xfrm>
          <a:prstGeom prst="line">
            <a:avLst/>
          </a:prstGeom>
          <a:noFill/>
          <a:ln w="19050">
            <a:solidFill>
              <a:srgbClr val="D4943A"/>
            </a:solidFill>
            <a:prstDash val="solid"/>
          </a:ln>
        </p:spPr>
      </p:sp>
      <p:sp>
        <p:nvSpPr>
          <p:cNvPr id="10" name="Text 7"/>
          <p:cNvSpPr/>
          <p:nvPr/>
        </p:nvSpPr>
        <p:spPr>
          <a:xfrm>
            <a:off x="457200" y="2103120"/>
            <a:ext cx="5669280" cy="868680"/>
          </a:xfrm>
          <a:prstGeom prst="rect">
            <a:avLst/>
          </a:prstGeom>
          <a:noFill/>
          <a:ln/>
        </p:spPr>
        <p:txBody>
          <a:bodyPr wrap="square" lIns="0" tIns="0" rIns="0" bIns="0" rtlCol="0" anchor="t"/>
          <a:lstStyle/>
          <a:p>
            <a:pPr algn="l" indent="0" marL="0">
              <a:buNone/>
            </a:pPr>
            <a:r>
              <a:rPr lang="en-US" sz="1500" i="1" dirty="0">
                <a:solidFill>
                  <a:srgbClr val="FFFFFF"/>
                </a:solidFill>
                <a:latin typeface="Cambria" pitchFamily="34" charset="0"/>
                <a:ea typeface="Cambria" pitchFamily="34" charset="-122"/>
                <a:cs typeface="Cambria" pitchFamily="34" charset="-120"/>
              </a:rPr>
              <a:t>An evidence entry must report what the source ACTUALLY shows —</a:t>
            </a:r>
            <a:endParaRPr lang="en-US" sz="1500" dirty="0"/>
          </a:p>
          <a:p>
            <a:pPr algn="l" indent="0" marL="0">
              <a:buNone/>
            </a:pPr>
            <a:r>
              <a:rPr lang="en-US" sz="1500" i="1" dirty="0">
                <a:solidFill>
                  <a:srgbClr val="FFFFFF"/>
                </a:solidFill>
                <a:latin typeface="Cambria" pitchFamily="34" charset="0"/>
                <a:ea typeface="Cambria" pitchFamily="34" charset="-122"/>
                <a:cs typeface="Cambria" pitchFamily="34" charset="-120"/>
              </a:rPr>
              <a:t>not what you wish it showed, not what you guessed,</a:t>
            </a:r>
            <a:endParaRPr lang="en-US" sz="1500" dirty="0"/>
          </a:p>
          <a:p>
            <a:pPr algn="l" indent="0" marL="0">
              <a:buNone/>
            </a:pPr>
            <a:r>
              <a:rPr lang="en-US" sz="1500" i="1" dirty="0">
                <a:solidFill>
                  <a:srgbClr val="FFFFFF"/>
                </a:solidFill>
                <a:latin typeface="Cambria" pitchFamily="34" charset="0"/>
                <a:ea typeface="Cambria" pitchFamily="34" charset="-122"/>
                <a:cs typeface="Cambria" pitchFamily="34" charset="-120"/>
              </a:rPr>
              <a:t>and not what someone else said.</a:t>
            </a:r>
            <a:endParaRPr lang="en-US" sz="1500" dirty="0"/>
          </a:p>
        </p:txBody>
      </p:sp>
      <p:sp>
        <p:nvSpPr>
          <p:cNvPr id="11" name="Text 8"/>
          <p:cNvSpPr/>
          <p:nvPr/>
        </p:nvSpPr>
        <p:spPr>
          <a:xfrm>
            <a:off x="457200" y="2971800"/>
            <a:ext cx="5669280" cy="365760"/>
          </a:xfrm>
          <a:prstGeom prst="rect">
            <a:avLst/>
          </a:prstGeom>
          <a:noFill/>
          <a:ln/>
        </p:spPr>
        <p:txBody>
          <a:bodyPr wrap="square" lIns="0" tIns="0" rIns="0" bIns="0" rtlCol="0" anchor="ctr"/>
          <a:lstStyle/>
          <a:p>
            <a:pPr algn="l" indent="0" marL="0">
              <a:buNone/>
            </a:pPr>
            <a:r>
              <a:rPr lang="en-US" sz="1400" b="1" dirty="0">
                <a:solidFill>
                  <a:srgbClr val="D4943A"/>
                </a:solidFill>
                <a:latin typeface="Cambria" pitchFamily="34" charset="0"/>
                <a:ea typeface="Cambria" pitchFamily="34" charset="-122"/>
                <a:cs typeface="Cambria" pitchFamily="34" charset="-120"/>
              </a:rPr>
              <a:t>Honest evidence is the foundation of every exhibit in this museum.</a:t>
            </a:r>
            <a:endParaRPr lang="en-US" sz="1400" dirty="0"/>
          </a:p>
        </p:txBody>
      </p:sp>
      <p:sp>
        <p:nvSpPr>
          <p:cNvPr id="12" name="Shape 9"/>
          <p:cNvSpPr/>
          <p:nvPr/>
        </p:nvSpPr>
        <p:spPr>
          <a:xfrm>
            <a:off x="5943600" y="1600200"/>
            <a:ext cx="2834640" cy="1965960"/>
          </a:xfrm>
          <a:prstGeom prst="roundRect">
            <a:avLst>
              <a:gd name="adj" fmla="val 6977"/>
            </a:avLst>
          </a:prstGeom>
          <a:solidFill>
            <a:srgbClr val="1A2D5A"/>
          </a:solidFill>
          <a:ln/>
          <a:effectLst>
            <a:outerShdw sx="100000" sy="100000" kx="0" ky="0" algn="bl" rotWithShape="0" blurRad="101600" dist="38100" dir="8100000">
              <a:srgbClr val="000000">
                <a:alpha val="20000"/>
              </a:srgbClr>
            </a:outerShdw>
          </a:effectLst>
        </p:spPr>
      </p:sp>
      <p:sp>
        <p:nvSpPr>
          <p:cNvPr id="13" name="Text 10"/>
          <p:cNvSpPr/>
          <p:nvPr/>
        </p:nvSpPr>
        <p:spPr>
          <a:xfrm>
            <a:off x="6126480" y="1691640"/>
            <a:ext cx="246888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1"/>
          <p:cNvSpPr/>
          <p:nvPr/>
        </p:nvSpPr>
        <p:spPr>
          <a:xfrm>
            <a:off x="6126480" y="1947672"/>
            <a:ext cx="2468880" cy="15270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does it mean to be honest ABOUT A SOURCE?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someone be dishonest without lying? How?</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this matter in a museum?</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DISCOVERY  ·  CURATOR TRAINING HALL</a:t>
            </a:r>
            <a:endParaRPr lang="en-US" sz="1100" dirty="0"/>
          </a:p>
        </p:txBody>
      </p:sp>
      <p:sp>
        <p:nvSpPr>
          <p:cNvPr id="5" name="Text 2"/>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3000" b="1" dirty="0">
                <a:solidFill>
                  <a:srgbClr val="0E1C42"/>
                </a:solidFill>
                <a:latin typeface="Cambria" pitchFamily="34" charset="0"/>
                <a:ea typeface="Cambria" pitchFamily="34" charset="-122"/>
                <a:cs typeface="Cambria" pitchFamily="34" charset="-120"/>
              </a:rPr>
              <a:t>The Museum Director Has a Message</a:t>
            </a:r>
            <a:endParaRPr lang="en-US" sz="3000" dirty="0"/>
          </a:p>
        </p:txBody>
      </p:sp>
      <p:sp>
        <p:nvSpPr>
          <p:cNvPr id="6" name="Shape 3"/>
          <p:cNvSpPr/>
          <p:nvPr/>
        </p:nvSpPr>
        <p:spPr>
          <a:xfrm>
            <a:off x="457200" y="1143000"/>
            <a:ext cx="5760720" cy="2423160"/>
          </a:xfrm>
          <a:prstGeom prst="roundRect">
            <a:avLst>
              <a:gd name="adj" fmla="val 5660"/>
            </a:avLst>
          </a:prstGeom>
          <a:solidFill>
            <a:srgbClr val="FFFBF0"/>
          </a:solidFill>
          <a:ln w="25400">
            <a:solidFill>
              <a:srgbClr val="D4943A"/>
            </a:solidFill>
            <a:prstDash val="solid"/>
          </a:ln>
        </p:spPr>
      </p:sp>
      <p:sp>
        <p:nvSpPr>
          <p:cNvPr id="7" name="Text 4"/>
          <p:cNvSpPr/>
          <p:nvPr/>
        </p:nvSpPr>
        <p:spPr>
          <a:xfrm>
            <a:off x="640080" y="1234440"/>
            <a:ext cx="5394960" cy="256032"/>
          </a:xfrm>
          <a:prstGeom prst="rect">
            <a:avLst/>
          </a:prstGeom>
          <a:noFill/>
          <a:ln/>
        </p:spPr>
        <p:txBody>
          <a:bodyPr wrap="square" lIns="0" tIns="0" rIns="0" bIns="0" rtlCol="0" anchor="ctr"/>
          <a:lstStyle/>
          <a:p>
            <a:pPr algn="l" indent="0" marL="0">
              <a:buNone/>
            </a:pPr>
            <a:r>
              <a:rPr lang="en-US" sz="900" b="1" spc="200" kern="0" dirty="0">
                <a:solidFill>
                  <a:srgbClr val="D4943A"/>
                </a:solidFill>
                <a:latin typeface="Calibri" pitchFamily="34" charset="0"/>
                <a:ea typeface="Calibri" pitchFamily="34" charset="-122"/>
                <a:cs typeface="Calibri" pitchFamily="34" charset="-120"/>
              </a:rPr>
              <a:t>MUSEUM DIRECTOR'S MEMO</a:t>
            </a:r>
            <a:endParaRPr lang="en-US" sz="900" dirty="0"/>
          </a:p>
        </p:txBody>
      </p:sp>
      <p:sp>
        <p:nvSpPr>
          <p:cNvPr id="8" name="Text 5"/>
          <p:cNvSpPr/>
          <p:nvPr/>
        </p:nvSpPr>
        <p:spPr>
          <a:xfrm>
            <a:off x="640080" y="1508760"/>
            <a:ext cx="5394960" cy="1737360"/>
          </a:xfrm>
          <a:prstGeom prst="rect">
            <a:avLst/>
          </a:prstGeom>
          <a:noFill/>
          <a:ln/>
        </p:spPr>
        <p:txBody>
          <a:bodyPr wrap="square" lIns="0" tIns="0" rIns="0" bIns="0" rtlCol="0" anchor="t"/>
          <a:lstStyle/>
          <a:p>
            <a:pPr algn="l" indent="0" marL="0">
              <a:buNone/>
            </a:pPr>
            <a:r>
              <a:rPr lang="en-US" sz="1300" i="1" dirty="0">
                <a:solidFill>
                  <a:srgbClr val="5A4A3A"/>
                </a:solidFill>
                <a:latin typeface="Cambria" pitchFamily="34" charset="0"/>
                <a:ea typeface="Cambria" pitchFamily="34" charset="-122"/>
                <a:cs typeface="Cambria" pitchFamily="34" charset="-120"/>
              </a:rPr>
              <a:t>"Junior Curators — every evidence entry in this museum</a:t>
            </a:r>
            <a:endParaRPr lang="en-US" sz="1300" dirty="0"/>
          </a:p>
          <a:p>
            <a:pPr algn="l" indent="0" marL="0">
              <a:buNone/>
            </a:pPr>
            <a:r>
              <a:rPr lang="en-US" sz="1300" i="1" dirty="0">
                <a:solidFill>
                  <a:srgbClr val="5A4A3A"/>
                </a:solidFill>
                <a:latin typeface="Cambria" pitchFamily="34" charset="0"/>
                <a:ea typeface="Cambria" pitchFamily="34" charset="-122"/>
                <a:cs typeface="Cambria" pitchFamily="34" charset="-120"/>
              </a:rPr>
              <a:t>passes through my desk. I look for three specific things.</a:t>
            </a:r>
            <a:endParaRPr lang="en-US" sz="1300" dirty="0"/>
          </a:p>
          <a:p>
            <a:pPr algn="l" indent="0" marL="0">
              <a:buNone/>
            </a:pPr>
            <a:r>
              <a:rPr lang="en-US" sz="1300" i="1" dirty="0">
                <a:solidFill>
                  <a:srgbClr val="5A4A3A"/>
                </a:solidFill>
                <a:latin typeface="Cambria" pitchFamily="34" charset="0"/>
                <a:ea typeface="Cambria" pitchFamily="34" charset="-122"/>
                <a:cs typeface="Cambria" pitchFamily="34" charset="-120"/>
              </a:rPr>
              <a:t>Without all three, the entry cannot go on display.</a:t>
            </a:r>
            <a:endParaRPr lang="en-US" sz="1300" dirty="0"/>
          </a:p>
          <a:p>
            <a:pPr algn="l" indent="0" marL="0">
              <a:buNone/>
            </a:pPr>
            <a:r>
              <a:rPr lang="en-US" sz="1300" i="1" dirty="0">
                <a:solidFill>
                  <a:srgbClr val="5A4A3A"/>
                </a:solidFill>
                <a:latin typeface="Cambria" pitchFamily="34" charset="0"/>
                <a:ea typeface="Cambria" pitchFamily="34" charset="-122"/>
                <a:cs typeface="Cambria" pitchFamily="34" charset="-120"/>
              </a:rPr>
              <a:t>Prove you know what they are, and you'll earn the right</a:t>
            </a:r>
            <a:endParaRPr lang="en-US" sz="1300" dirty="0"/>
          </a:p>
          <a:p>
            <a:pPr algn="l" indent="0" marL="0">
              <a:buNone/>
            </a:pPr>
            <a:r>
              <a:rPr lang="en-US" sz="1300" i="1" dirty="0">
                <a:solidFill>
                  <a:srgbClr val="5A4A3A"/>
                </a:solidFill>
                <a:latin typeface="Cambria" pitchFamily="34" charset="0"/>
                <a:ea typeface="Cambria" pitchFamily="34" charset="-122"/>
                <a:cs typeface="Cambria" pitchFamily="34" charset="-120"/>
              </a:rPr>
              <a:t>to call yourself an Evidence Keeper."</a:t>
            </a:r>
            <a:endParaRPr lang="en-US" sz="1300" dirty="0"/>
          </a:p>
        </p:txBody>
      </p:sp>
      <p:sp>
        <p:nvSpPr>
          <p:cNvPr id="9" name="Text 6"/>
          <p:cNvSpPr/>
          <p:nvPr/>
        </p:nvSpPr>
        <p:spPr>
          <a:xfrm>
            <a:off x="3657600" y="3337560"/>
            <a:ext cx="2377440" cy="182880"/>
          </a:xfrm>
          <a:prstGeom prst="rect">
            <a:avLst/>
          </a:prstGeom>
          <a:noFill/>
          <a:ln/>
        </p:spPr>
        <p:txBody>
          <a:bodyPr wrap="square" lIns="0" tIns="0" rIns="0" bIns="0" rtlCol="0" anchor="ctr"/>
          <a:lstStyle/>
          <a:p>
            <a:pPr algn="r" indent="0" marL="0">
              <a:buNone/>
            </a:pPr>
            <a:r>
              <a:rPr lang="en-US" sz="1000" i="1" dirty="0">
                <a:solidFill>
                  <a:srgbClr val="7A88A8"/>
                </a:solidFill>
                <a:latin typeface="Calibri" pitchFamily="34" charset="0"/>
                <a:ea typeface="Calibri" pitchFamily="34" charset="-122"/>
                <a:cs typeface="Calibri" pitchFamily="34" charset="-120"/>
              </a:rPr>
              <a:t>— The Museum Director</a:t>
            </a:r>
            <a:endParaRPr lang="en-US" sz="1000" dirty="0"/>
          </a:p>
        </p:txBody>
      </p:sp>
      <p:sp>
        <p:nvSpPr>
          <p:cNvPr id="10" name="Shape 7"/>
          <p:cNvSpPr/>
          <p:nvPr/>
        </p:nvSpPr>
        <p:spPr>
          <a:xfrm>
            <a:off x="6492240" y="1143000"/>
            <a:ext cx="2194560" cy="2423160"/>
          </a:xfrm>
          <a:prstGeom prst="roundRect">
            <a:avLst>
              <a:gd name="adj" fmla="val 5000"/>
            </a:avLst>
          </a:prstGeom>
          <a:solidFill>
            <a:srgbClr val="1A2D5A"/>
          </a:solidFill>
          <a:ln/>
        </p:spPr>
      </p:sp>
      <p:sp>
        <p:nvSpPr>
          <p:cNvPr id="11" name="Text 8"/>
          <p:cNvSpPr/>
          <p:nvPr/>
        </p:nvSpPr>
        <p:spPr>
          <a:xfrm>
            <a:off x="6492240" y="1234440"/>
            <a:ext cx="2194560" cy="365760"/>
          </a:xfrm>
          <a:prstGeom prst="rect">
            <a:avLst/>
          </a:prstGeom>
          <a:noFill/>
          <a:ln/>
        </p:spPr>
        <p:txBody>
          <a:bodyPr wrap="square" lIns="0" tIns="0" rIns="0" bIns="0" rtlCol="0" anchor="ctr"/>
          <a:lstStyle/>
          <a:p>
            <a:pPr algn="ctr" indent="0" marL="0">
              <a:buNone/>
            </a:pPr>
            <a:r>
              <a:rPr lang="en-US" sz="1100" b="1" dirty="0">
                <a:solidFill>
                  <a:srgbClr val="55C8E8"/>
                </a:solidFill>
                <a:latin typeface="Calibri" pitchFamily="34" charset="0"/>
                <a:ea typeface="Calibri" pitchFamily="34" charset="-122"/>
                <a:cs typeface="Calibri" pitchFamily="34" charset="-120"/>
              </a:rPr>
              <a:t>Before we look at examples...</a:t>
            </a:r>
            <a:endParaRPr lang="en-US" sz="1100" dirty="0"/>
          </a:p>
        </p:txBody>
      </p:sp>
      <p:sp>
        <p:nvSpPr>
          <p:cNvPr id="12" name="Text 9"/>
          <p:cNvSpPr/>
          <p:nvPr/>
        </p:nvSpPr>
        <p:spPr>
          <a:xfrm>
            <a:off x="6583680" y="1600200"/>
            <a:ext cx="2011680" cy="685800"/>
          </a:xfrm>
          <a:prstGeom prst="rect">
            <a:avLst/>
          </a:prstGeom>
          <a:noFill/>
          <a:ln/>
        </p:spPr>
        <p:txBody>
          <a:bodyPr wrap="square" lIns="0" tIns="0" rIns="0" bIns="0" rtlCol="0" anchor="ctr"/>
          <a:lstStyle/>
          <a:p>
            <a:pPr algn="ctr" indent="0" marL="0">
              <a:buNone/>
            </a:pPr>
            <a:r>
              <a:rPr lang="en-US" sz="1200" i="1" dirty="0">
                <a:solidFill>
                  <a:srgbClr val="FFFFFF"/>
                </a:solidFill>
                <a:latin typeface="Cambria" pitchFamily="34" charset="0"/>
                <a:ea typeface="Cambria" pitchFamily="34" charset="-122"/>
                <a:cs typeface="Cambria" pitchFamily="34" charset="-120"/>
              </a:rPr>
              <a:t>What do YOU think a strong evidence entry needs?</a:t>
            </a:r>
            <a:endParaRPr lang="en-US" sz="1200" dirty="0"/>
          </a:p>
        </p:txBody>
      </p:sp>
      <p:sp>
        <p:nvSpPr>
          <p:cNvPr id="13" name="Text 10"/>
          <p:cNvSpPr/>
          <p:nvPr/>
        </p:nvSpPr>
        <p:spPr>
          <a:xfrm>
            <a:off x="6583680" y="2377440"/>
            <a:ext cx="2011680" cy="457200"/>
          </a:xfrm>
          <a:prstGeom prst="rect">
            <a:avLst/>
          </a:prstGeom>
          <a:noFill/>
          <a:ln/>
        </p:spPr>
        <p:txBody>
          <a:bodyPr wrap="square" lIns="0" tIns="0" rIns="0" bIns="0" rtlCol="0" anchor="ctr"/>
          <a:lstStyle/>
          <a:p>
            <a:pPr algn="ctr" indent="0" marL="0">
              <a:buNone/>
            </a:pPr>
            <a:r>
              <a:rPr lang="en-US" sz="1200" b="1" dirty="0">
                <a:solidFill>
                  <a:srgbClr val="D4943A"/>
                </a:solidFill>
                <a:latin typeface="Calibri" pitchFamily="34" charset="0"/>
                <a:ea typeface="Calibri" pitchFamily="34" charset="-122"/>
                <a:cs typeface="Calibri" pitchFamily="34" charset="-120"/>
              </a:rPr>
              <a:t>Private think time:</a:t>
            </a:r>
            <a:endParaRPr lang="en-US" sz="1200" dirty="0"/>
          </a:p>
          <a:p>
            <a:pPr algn="ctr" indent="0" marL="0">
              <a:buNone/>
            </a:pPr>
            <a:r>
              <a:rPr lang="en-US" sz="1200" b="1" dirty="0">
                <a:solidFill>
                  <a:srgbClr val="D4943A"/>
                </a:solidFill>
                <a:latin typeface="Calibri" pitchFamily="34" charset="0"/>
                <a:ea typeface="Calibri" pitchFamily="34" charset="-122"/>
                <a:cs typeface="Calibri" pitchFamily="34" charset="-120"/>
              </a:rPr>
              <a:t>10 seconds</a:t>
            </a:r>
            <a:endParaRPr lang="en-US" sz="1200" dirty="0"/>
          </a:p>
        </p:txBody>
      </p:sp>
      <p:sp>
        <p:nvSpPr>
          <p:cNvPr id="14" name="Text 11"/>
          <p:cNvSpPr/>
          <p:nvPr/>
        </p:nvSpPr>
        <p:spPr>
          <a:xfrm>
            <a:off x="6583680" y="2834640"/>
            <a:ext cx="2011680" cy="594360"/>
          </a:xfrm>
          <a:prstGeom prst="rect">
            <a:avLst/>
          </a:prstGeom>
          <a:noFill/>
          <a:ln/>
        </p:spPr>
        <p:txBody>
          <a:bodyPr wrap="square" lIns="0" tIns="0" rIns="0" bIns="0" rtlCol="0" anchor="t"/>
          <a:lstStyle/>
          <a:p>
            <a:pPr algn="ctr" indent="0" marL="0">
              <a:buNone/>
            </a:pPr>
            <a:r>
              <a:rPr lang="en-US" sz="1100" i="1" dirty="0">
                <a:solidFill>
                  <a:srgbClr val="A0C8E8"/>
                </a:solidFill>
                <a:latin typeface="Calibri" pitchFamily="34" charset="0"/>
                <a:ea typeface="Calibri" pitchFamily="34" charset="-122"/>
                <a:cs typeface="Calibri" pitchFamily="34" charset="-120"/>
              </a:rPr>
              <a:t>Then type your idea in chat.</a:t>
            </a:r>
            <a:endParaRPr lang="en-US" sz="1100" dirty="0"/>
          </a:p>
        </p:txBody>
      </p:sp>
      <p:sp>
        <p:nvSpPr>
          <p:cNvPr id="15" name="Shape 12"/>
          <p:cNvSpPr/>
          <p:nvPr/>
        </p:nvSpPr>
        <p:spPr>
          <a:xfrm>
            <a:off x="365760" y="3703320"/>
            <a:ext cx="8412480" cy="1005840"/>
          </a:xfrm>
          <a:prstGeom prst="roundRect">
            <a:avLst>
              <a:gd name="adj" fmla="val 10909"/>
            </a:avLst>
          </a:prstGeom>
          <a:solidFill>
            <a:srgbClr val="FFF3DC"/>
          </a:solidFill>
          <a:ln w="19050">
            <a:solidFill>
              <a:srgbClr val="F5E6C8"/>
            </a:solidFill>
            <a:prstDash val="solid"/>
          </a:ln>
        </p:spPr>
      </p:sp>
      <p:sp>
        <p:nvSpPr>
          <p:cNvPr id="16" name="Text 13"/>
          <p:cNvSpPr/>
          <p:nvPr/>
        </p:nvSpPr>
        <p:spPr>
          <a:xfrm>
            <a:off x="502920" y="37581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4"/>
          <p:cNvSpPr/>
          <p:nvPr/>
        </p:nvSpPr>
        <p:spPr>
          <a:xfrm>
            <a:off x="502920" y="3959352"/>
            <a:ext cx="813816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a strong entry needs..."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curator should always..."</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CLUE BOX  ·  NOTICE THE DIFFERENCE</a:t>
            </a:r>
            <a:endParaRPr lang="en-US" sz="1100" dirty="0"/>
          </a:p>
        </p:txBody>
      </p:sp>
      <p:sp>
        <p:nvSpPr>
          <p:cNvPr id="5" name="Text 2"/>
          <p:cNvSpPr/>
          <p:nvPr/>
        </p:nvSpPr>
        <p:spPr>
          <a:xfrm>
            <a:off x="457200" y="594360"/>
            <a:ext cx="8229600" cy="411480"/>
          </a:xfrm>
          <a:prstGeom prst="rect">
            <a:avLst/>
          </a:prstGeom>
          <a:noFill/>
          <a:ln/>
        </p:spPr>
        <p:txBody>
          <a:bodyPr wrap="square" lIns="0" tIns="0" rIns="0" bIns="0" rtlCol="0" anchor="ctr"/>
          <a:lstStyle/>
          <a:p>
            <a:pPr algn="l" indent="0" marL="0">
              <a:buNone/>
            </a:pPr>
            <a:r>
              <a:rPr lang="en-US" sz="2600" b="1" dirty="0">
                <a:solidFill>
                  <a:srgbClr val="0E1C42"/>
                </a:solidFill>
                <a:latin typeface="Cambria" pitchFamily="34" charset="0"/>
                <a:ea typeface="Cambria" pitchFamily="34" charset="-122"/>
                <a:cs typeface="Cambria" pitchFamily="34" charset="-120"/>
              </a:rPr>
              <a:t>Two Evidence Entries. What Makes One Stronger?</a:t>
            </a:r>
            <a:endParaRPr lang="en-US" sz="2600" dirty="0"/>
          </a:p>
        </p:txBody>
      </p:sp>
      <p:sp>
        <p:nvSpPr>
          <p:cNvPr id="6" name="Shape 3"/>
          <p:cNvSpPr/>
          <p:nvPr/>
        </p:nvSpPr>
        <p:spPr>
          <a:xfrm>
            <a:off x="365760" y="1097280"/>
            <a:ext cx="3931920" cy="2606040"/>
          </a:xfrm>
          <a:prstGeom prst="roundRect">
            <a:avLst>
              <a:gd name="adj" fmla="val 4211"/>
            </a:avLst>
          </a:prstGeom>
          <a:solidFill>
            <a:srgbClr val="F0F2F8"/>
          </a:solidFill>
          <a:ln w="19050">
            <a:solidFill>
              <a:srgbClr val="7A88A8"/>
            </a:solidFill>
            <a:prstDash val="solid"/>
          </a:ln>
        </p:spPr>
      </p:sp>
      <p:sp>
        <p:nvSpPr>
          <p:cNvPr id="7" name="Text 4"/>
          <p:cNvSpPr/>
          <p:nvPr/>
        </p:nvSpPr>
        <p:spPr>
          <a:xfrm>
            <a:off x="365760" y="1170432"/>
            <a:ext cx="3931920" cy="256032"/>
          </a:xfrm>
          <a:prstGeom prst="rect">
            <a:avLst/>
          </a:prstGeom>
          <a:noFill/>
          <a:ln/>
        </p:spPr>
        <p:txBody>
          <a:bodyPr wrap="square" lIns="0" tIns="0" rIns="0" bIns="0" rtlCol="0" anchor="ctr"/>
          <a:lstStyle/>
          <a:p>
            <a:pPr algn="ctr" indent="0" marL="0">
              <a:buNone/>
            </a:pPr>
            <a:r>
              <a:rPr lang="en-US" sz="900" b="1" spc="200" kern="0" dirty="0">
                <a:solidFill>
                  <a:srgbClr val="7A88A8"/>
                </a:solidFill>
                <a:latin typeface="Calibri" pitchFamily="34" charset="0"/>
                <a:ea typeface="Calibri" pitchFamily="34" charset="-122"/>
                <a:cs typeface="Calibri" pitchFamily="34" charset="-120"/>
              </a:rPr>
              <a:t>ENTRY A</a:t>
            </a:r>
            <a:endParaRPr lang="en-US" sz="900" dirty="0"/>
          </a:p>
        </p:txBody>
      </p:sp>
      <p:sp>
        <p:nvSpPr>
          <p:cNvPr id="8" name="Text 5"/>
          <p:cNvSpPr/>
          <p:nvPr/>
        </p:nvSpPr>
        <p:spPr>
          <a:xfrm>
            <a:off x="548640" y="1444752"/>
            <a:ext cx="3566160" cy="1554480"/>
          </a:xfrm>
          <a:prstGeom prst="rect">
            <a:avLst/>
          </a:prstGeom>
          <a:noFill/>
          <a:ln/>
        </p:spPr>
        <p:txBody>
          <a:bodyPr wrap="square" lIns="0" tIns="0" rIns="0" bIns="0" rtlCol="0" anchor="t"/>
          <a:lstStyle/>
          <a:p>
            <a:pPr algn="l" indent="0" marL="0">
              <a:buNone/>
            </a:pPr>
            <a:r>
              <a:rPr lang="en-US" sz="1200" i="1" dirty="0">
                <a:solidFill>
                  <a:srgbClr val="5A6888"/>
                </a:solidFill>
                <a:latin typeface="Cambria" pitchFamily="34" charset="0"/>
                <a:ea typeface="Cambria" pitchFamily="34" charset="-122"/>
                <a:cs typeface="Cambria" pitchFamily="34" charset="-120"/>
              </a:rPr>
              <a:t>"This source is interesting. It looks old and probably shows something important about history. I think people back then had hard lives. It should be in the museum."</a:t>
            </a:r>
            <a:endParaRPr lang="en-US" sz="1200" dirty="0"/>
          </a:p>
        </p:txBody>
      </p:sp>
      <p:sp>
        <p:nvSpPr>
          <p:cNvPr id="9" name="Shape 6"/>
          <p:cNvSpPr/>
          <p:nvPr/>
        </p:nvSpPr>
        <p:spPr>
          <a:xfrm>
            <a:off x="4846320" y="1097280"/>
            <a:ext cx="3931920" cy="2606040"/>
          </a:xfrm>
          <a:prstGeom prst="roundRect">
            <a:avLst>
              <a:gd name="adj" fmla="val 4211"/>
            </a:avLst>
          </a:prstGeom>
          <a:solidFill>
            <a:srgbClr val="F0F2F8"/>
          </a:solidFill>
          <a:ln w="25400">
            <a:solidFill>
              <a:srgbClr val="1A8A7D"/>
            </a:solidFill>
            <a:prstDash val="solid"/>
          </a:ln>
        </p:spPr>
      </p:sp>
      <p:sp>
        <p:nvSpPr>
          <p:cNvPr id="10" name="Text 7"/>
          <p:cNvSpPr/>
          <p:nvPr/>
        </p:nvSpPr>
        <p:spPr>
          <a:xfrm>
            <a:off x="4846320" y="1170432"/>
            <a:ext cx="3931920" cy="256032"/>
          </a:xfrm>
          <a:prstGeom prst="rect">
            <a:avLst/>
          </a:prstGeom>
          <a:noFill/>
          <a:ln/>
        </p:spPr>
        <p:txBody>
          <a:bodyPr wrap="square" lIns="0" tIns="0" rIns="0" bIns="0" rtlCol="0" anchor="ctr"/>
          <a:lstStyle/>
          <a:p>
            <a:pPr algn="ctr" indent="0" marL="0">
              <a:buNone/>
            </a:pPr>
            <a:r>
              <a:rPr lang="en-US" sz="900" b="1" spc="200" kern="0" dirty="0">
                <a:solidFill>
                  <a:srgbClr val="1A8A7D"/>
                </a:solidFill>
                <a:latin typeface="Calibri" pitchFamily="34" charset="0"/>
                <a:ea typeface="Calibri" pitchFamily="34" charset="-122"/>
                <a:cs typeface="Calibri" pitchFamily="34" charset="-120"/>
              </a:rPr>
              <a:t>ENTRY B</a:t>
            </a:r>
            <a:endParaRPr lang="en-US" sz="900" dirty="0"/>
          </a:p>
        </p:txBody>
      </p:sp>
      <p:sp>
        <p:nvSpPr>
          <p:cNvPr id="11" name="Text 8"/>
          <p:cNvSpPr/>
          <p:nvPr/>
        </p:nvSpPr>
        <p:spPr>
          <a:xfrm>
            <a:off x="5029200" y="1444752"/>
            <a:ext cx="3566160" cy="1554480"/>
          </a:xfrm>
          <a:prstGeom prst="rect">
            <a:avLst/>
          </a:prstGeom>
          <a:noFill/>
          <a:ln/>
        </p:spPr>
        <p:txBody>
          <a:bodyPr wrap="square" lIns="0" tIns="0" rIns="0" bIns="0" rtlCol="0" anchor="t"/>
          <a:lstStyle/>
          <a:p>
            <a:pPr algn="l" indent="0" marL="0">
              <a:buNone/>
            </a:pPr>
            <a:r>
              <a:rPr lang="en-US" sz="1200" i="1" dirty="0">
                <a:solidFill>
                  <a:srgbClr val="3A4A5A"/>
                </a:solidFill>
                <a:latin typeface="Cambria" pitchFamily="34" charset="0"/>
                <a:ea typeface="Cambria" pitchFamily="34" charset="-122"/>
                <a:cs typeface="Cambria" pitchFamily="34" charset="-120"/>
              </a:rPr>
              <a:t>"I notice wooden desks arranged in rows and a chalkboard at the front. This source tells us students in the early 1900s learned in one shared room with simple tools. Without sources like this, we would not know what daily school life looked like 100 years ago."</a:t>
            </a:r>
            <a:endParaRPr lang="en-US" sz="1200" dirty="0"/>
          </a:p>
        </p:txBody>
      </p:sp>
      <p:sp>
        <p:nvSpPr>
          <p:cNvPr id="12" name="Shape 9"/>
          <p:cNvSpPr/>
          <p:nvPr/>
        </p:nvSpPr>
        <p:spPr>
          <a:xfrm>
            <a:off x="365760" y="3794760"/>
            <a:ext cx="8412480" cy="1188720"/>
          </a:xfrm>
          <a:prstGeom prst="roundRect">
            <a:avLst>
              <a:gd name="adj" fmla="val 11538"/>
            </a:avLst>
          </a:prstGeom>
          <a:solidFill>
            <a:srgbClr val="1A2D5A"/>
          </a:solidFill>
          <a:ln/>
          <a:effectLst>
            <a:outerShdw sx="100000" sy="100000" kx="0" ky="0" algn="bl" rotWithShape="0" blurRad="101600" dist="38100" dir="8100000">
              <a:srgbClr val="000000">
                <a:alpha val="20000"/>
              </a:srgbClr>
            </a:outerShdw>
          </a:effectLst>
        </p:spPr>
      </p:sp>
      <p:sp>
        <p:nvSpPr>
          <p:cNvPr id="13" name="Text 10"/>
          <p:cNvSpPr/>
          <p:nvPr/>
        </p:nvSpPr>
        <p:spPr>
          <a:xfrm>
            <a:off x="548640" y="388620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4" name="Text 11"/>
          <p:cNvSpPr/>
          <p:nvPr/>
        </p:nvSpPr>
        <p:spPr>
          <a:xfrm>
            <a:off x="548640" y="4142232"/>
            <a:ext cx="8046720" cy="7498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differences do you notice?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Entry B says 'I notice' — why does that matter?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is Entry A missing?</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DISCUSSION  ·  BUILD THE RULE TOGETHER</a:t>
            </a:r>
            <a:endParaRPr lang="en-US" sz="1100" dirty="0"/>
          </a:p>
        </p:txBody>
      </p:sp>
      <p:sp>
        <p:nvSpPr>
          <p:cNvPr id="5" name="Text 2"/>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3000" b="1" dirty="0">
                <a:solidFill>
                  <a:srgbClr val="0E1C42"/>
                </a:solidFill>
                <a:latin typeface="Cambria" pitchFamily="34" charset="0"/>
                <a:ea typeface="Cambria" pitchFamily="34" charset="-122"/>
                <a:cs typeface="Cambria" pitchFamily="34" charset="-120"/>
              </a:rPr>
              <a:t>What Pattern Did You Notice?</a:t>
            </a:r>
            <a:endParaRPr lang="en-US" sz="3000" dirty="0"/>
          </a:p>
        </p:txBody>
      </p:sp>
      <p:sp>
        <p:nvSpPr>
          <p:cNvPr id="6" name="Text 3"/>
          <p:cNvSpPr/>
          <p:nvPr/>
        </p:nvSpPr>
        <p:spPr>
          <a:xfrm>
            <a:off x="457200" y="1051560"/>
            <a:ext cx="8229600" cy="292608"/>
          </a:xfrm>
          <a:prstGeom prst="rect">
            <a:avLst/>
          </a:prstGeom>
          <a:noFill/>
          <a:ln/>
        </p:spPr>
        <p:txBody>
          <a:bodyPr wrap="square" lIns="0" tIns="0" rIns="0" bIns="0" rtlCol="0" anchor="ctr"/>
          <a:lstStyle/>
          <a:p>
            <a:pPr algn="l" indent="0" marL="0">
              <a:buNone/>
            </a:pPr>
            <a:r>
              <a:rPr lang="en-US" sz="1400" i="1" dirty="0">
                <a:solidFill>
                  <a:srgbClr val="7A88A8"/>
                </a:solidFill>
                <a:latin typeface="Calibri" pitchFamily="34" charset="0"/>
                <a:ea typeface="Calibri" pitchFamily="34" charset="-122"/>
                <a:cs typeface="Calibri" pitchFamily="34" charset="-120"/>
              </a:rPr>
              <a:t>From what you observed, what do you think Entry B does that Entry A doesn't?</a:t>
            </a:r>
            <a:endParaRPr lang="en-US" sz="1400" dirty="0"/>
          </a:p>
        </p:txBody>
      </p:sp>
      <p:sp>
        <p:nvSpPr>
          <p:cNvPr id="7" name="Shape 4"/>
          <p:cNvSpPr/>
          <p:nvPr/>
        </p:nvSpPr>
        <p:spPr>
          <a:xfrm>
            <a:off x="365760" y="1463040"/>
            <a:ext cx="2651760" cy="1371600"/>
          </a:xfrm>
          <a:prstGeom prst="roundRect">
            <a:avLst>
              <a:gd name="adj" fmla="val 8000"/>
            </a:avLst>
          </a:prstGeom>
          <a:solidFill>
            <a:srgbClr val="F0F2F8"/>
          </a:solidFill>
          <a:ln w="19050">
            <a:solidFill>
              <a:srgbClr val="D4943A"/>
            </a:solidFill>
            <a:prstDash val="solid"/>
          </a:ln>
        </p:spPr>
      </p:sp>
      <p:sp>
        <p:nvSpPr>
          <p:cNvPr id="8" name="Text 5"/>
          <p:cNvSpPr/>
          <p:nvPr/>
        </p:nvSpPr>
        <p:spPr>
          <a:xfrm>
            <a:off x="365760" y="1508760"/>
            <a:ext cx="2651760" cy="274320"/>
          </a:xfrm>
          <a:prstGeom prst="rect">
            <a:avLst/>
          </a:prstGeom>
          <a:noFill/>
          <a:ln/>
        </p:spPr>
        <p:txBody>
          <a:bodyPr wrap="square" lIns="0" tIns="0" rIns="0" bIns="0"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  Step 1</a:t>
            </a:r>
            <a:endParaRPr lang="en-US" sz="1000" dirty="0"/>
          </a:p>
        </p:txBody>
      </p:sp>
      <p:sp>
        <p:nvSpPr>
          <p:cNvPr id="9" name="Text 6"/>
          <p:cNvSpPr/>
          <p:nvPr/>
        </p:nvSpPr>
        <p:spPr>
          <a:xfrm>
            <a:off x="502920" y="1783080"/>
            <a:ext cx="2377440" cy="731520"/>
          </a:xfrm>
          <a:prstGeom prst="rect">
            <a:avLst/>
          </a:prstGeom>
          <a:noFill/>
          <a:ln/>
        </p:spPr>
        <p:txBody>
          <a:bodyPr wrap="square" lIns="0" tIns="0" rIns="0" bIns="0" rtlCol="0" anchor="ctr"/>
          <a:lstStyle/>
          <a:p>
            <a:pPr algn="ctr" indent="0" marL="0">
              <a:buNone/>
            </a:pPr>
            <a:r>
              <a:rPr lang="en-US" sz="1100" i="1" dirty="0">
                <a:solidFill>
                  <a:srgbClr val="0E1C42"/>
                </a:solidFill>
                <a:latin typeface="Cambria" pitchFamily="34" charset="0"/>
                <a:ea typeface="Cambria" pitchFamily="34" charset="-122"/>
                <a:cs typeface="Cambria" pitchFamily="34" charset="-120"/>
              </a:rPr>
              <a:t>Entry B starts with 'I notice wooden desks...' What is it doing?</a:t>
            </a:r>
            <a:endParaRPr lang="en-US" sz="1100" dirty="0"/>
          </a:p>
        </p:txBody>
      </p:sp>
      <p:sp>
        <p:nvSpPr>
          <p:cNvPr id="10" name="Text 7"/>
          <p:cNvSpPr/>
          <p:nvPr/>
        </p:nvSpPr>
        <p:spPr>
          <a:xfrm>
            <a:off x="502920" y="2560320"/>
            <a:ext cx="2377440" cy="228600"/>
          </a:xfrm>
          <a:prstGeom prst="rect">
            <a:avLst/>
          </a:prstGeom>
          <a:noFill/>
          <a:ln/>
        </p:spPr>
        <p:txBody>
          <a:bodyPr wrap="square" lIns="0" tIns="0" rIns="0" bIns="0" rtlCol="0" anchor="ctr"/>
          <a:lstStyle/>
          <a:p>
            <a:pPr algn="ctr" indent="0" marL="0">
              <a:buNone/>
            </a:pPr>
            <a:r>
              <a:rPr lang="en-US" sz="950" i="1" dirty="0">
                <a:solidFill>
                  <a:srgbClr val="7A88A8"/>
                </a:solidFill>
                <a:latin typeface="Calibri" pitchFamily="34" charset="0"/>
                <a:ea typeface="Calibri" pitchFamily="34" charset="-122"/>
                <a:cs typeface="Calibri" pitchFamily="34" charset="-120"/>
              </a:rPr>
              <a:t>Describing specific details from the source</a:t>
            </a:r>
            <a:endParaRPr lang="en-US" sz="950" dirty="0"/>
          </a:p>
        </p:txBody>
      </p:sp>
      <p:sp>
        <p:nvSpPr>
          <p:cNvPr id="11" name="Shape 8"/>
          <p:cNvSpPr/>
          <p:nvPr/>
        </p:nvSpPr>
        <p:spPr>
          <a:xfrm>
            <a:off x="3200400" y="1463040"/>
            <a:ext cx="2651760" cy="1371600"/>
          </a:xfrm>
          <a:prstGeom prst="roundRect">
            <a:avLst>
              <a:gd name="adj" fmla="val 8000"/>
            </a:avLst>
          </a:prstGeom>
          <a:solidFill>
            <a:srgbClr val="F0F2F8"/>
          </a:solidFill>
          <a:ln w="19050">
            <a:solidFill>
              <a:srgbClr val="D4943A"/>
            </a:solidFill>
            <a:prstDash val="solid"/>
          </a:ln>
        </p:spPr>
      </p:sp>
      <p:sp>
        <p:nvSpPr>
          <p:cNvPr id="12" name="Text 9"/>
          <p:cNvSpPr/>
          <p:nvPr/>
        </p:nvSpPr>
        <p:spPr>
          <a:xfrm>
            <a:off x="3200400" y="1508760"/>
            <a:ext cx="2651760" cy="274320"/>
          </a:xfrm>
          <a:prstGeom prst="rect">
            <a:avLst/>
          </a:prstGeom>
          <a:noFill/>
          <a:ln/>
        </p:spPr>
        <p:txBody>
          <a:bodyPr wrap="square" lIns="0" tIns="0" rIns="0" bIns="0"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  Step 2</a:t>
            </a:r>
            <a:endParaRPr lang="en-US" sz="1000" dirty="0"/>
          </a:p>
        </p:txBody>
      </p:sp>
      <p:sp>
        <p:nvSpPr>
          <p:cNvPr id="13" name="Text 10"/>
          <p:cNvSpPr/>
          <p:nvPr/>
        </p:nvSpPr>
        <p:spPr>
          <a:xfrm>
            <a:off x="3337560" y="1783080"/>
            <a:ext cx="2377440" cy="731520"/>
          </a:xfrm>
          <a:prstGeom prst="rect">
            <a:avLst/>
          </a:prstGeom>
          <a:noFill/>
          <a:ln/>
        </p:spPr>
        <p:txBody>
          <a:bodyPr wrap="square" lIns="0" tIns="0" rIns="0" bIns="0" rtlCol="0" anchor="ctr"/>
          <a:lstStyle/>
          <a:p>
            <a:pPr algn="ctr" indent="0" marL="0">
              <a:buNone/>
            </a:pPr>
            <a:r>
              <a:rPr lang="en-US" sz="1100" i="1" dirty="0">
                <a:solidFill>
                  <a:srgbClr val="0E1C42"/>
                </a:solidFill>
                <a:latin typeface="Cambria" pitchFamily="34" charset="0"/>
                <a:ea typeface="Cambria" pitchFamily="34" charset="-122"/>
                <a:cs typeface="Cambria" pitchFamily="34" charset="-120"/>
              </a:rPr>
              <a:t>Entry B says 'This tells us students learned in one shared room.' What is it doing?</a:t>
            </a:r>
            <a:endParaRPr lang="en-US" sz="1100" dirty="0"/>
          </a:p>
        </p:txBody>
      </p:sp>
      <p:sp>
        <p:nvSpPr>
          <p:cNvPr id="14" name="Text 11"/>
          <p:cNvSpPr/>
          <p:nvPr/>
        </p:nvSpPr>
        <p:spPr>
          <a:xfrm>
            <a:off x="3337560" y="2560320"/>
            <a:ext cx="2377440" cy="228600"/>
          </a:xfrm>
          <a:prstGeom prst="rect">
            <a:avLst/>
          </a:prstGeom>
          <a:noFill/>
          <a:ln/>
        </p:spPr>
        <p:txBody>
          <a:bodyPr wrap="square" lIns="0" tIns="0" rIns="0" bIns="0" rtlCol="0" anchor="ctr"/>
          <a:lstStyle/>
          <a:p>
            <a:pPr algn="ctr" indent="0" marL="0">
              <a:buNone/>
            </a:pPr>
            <a:r>
              <a:rPr lang="en-US" sz="950" i="1" dirty="0">
                <a:solidFill>
                  <a:srgbClr val="7A88A8"/>
                </a:solidFill>
                <a:latin typeface="Calibri" pitchFamily="34" charset="0"/>
                <a:ea typeface="Calibri" pitchFamily="34" charset="-122"/>
                <a:cs typeface="Calibri" pitchFamily="34" charset="-120"/>
              </a:rPr>
              <a:t>Explaining what the details MEAN</a:t>
            </a:r>
            <a:endParaRPr lang="en-US" sz="950" dirty="0"/>
          </a:p>
        </p:txBody>
      </p:sp>
      <p:sp>
        <p:nvSpPr>
          <p:cNvPr id="15" name="Shape 12"/>
          <p:cNvSpPr/>
          <p:nvPr/>
        </p:nvSpPr>
        <p:spPr>
          <a:xfrm>
            <a:off x="6035040" y="1463040"/>
            <a:ext cx="2651760" cy="1371600"/>
          </a:xfrm>
          <a:prstGeom prst="roundRect">
            <a:avLst>
              <a:gd name="adj" fmla="val 8000"/>
            </a:avLst>
          </a:prstGeom>
          <a:solidFill>
            <a:srgbClr val="F0F2F8"/>
          </a:solidFill>
          <a:ln w="19050">
            <a:solidFill>
              <a:srgbClr val="D4943A"/>
            </a:solidFill>
            <a:prstDash val="solid"/>
          </a:ln>
        </p:spPr>
      </p:sp>
      <p:sp>
        <p:nvSpPr>
          <p:cNvPr id="16" name="Text 13"/>
          <p:cNvSpPr/>
          <p:nvPr/>
        </p:nvSpPr>
        <p:spPr>
          <a:xfrm>
            <a:off x="6035040" y="1508760"/>
            <a:ext cx="2651760" cy="274320"/>
          </a:xfrm>
          <a:prstGeom prst="rect">
            <a:avLst/>
          </a:prstGeom>
          <a:noFill/>
          <a:ln/>
        </p:spPr>
        <p:txBody>
          <a:bodyPr wrap="square" lIns="0" tIns="0" rIns="0" bIns="0" rtlCol="0" anchor="ctr"/>
          <a:lstStyle/>
          <a:p>
            <a:pPr algn="ctr" indent="0" marL="0">
              <a:buNone/>
            </a:pPr>
            <a:r>
              <a:rPr lang="en-US" sz="1000" b="1" spc="100" kern="0" dirty="0">
                <a:solidFill>
                  <a:srgbClr val="D4943A"/>
                </a:solidFill>
                <a:latin typeface="Calibri" pitchFamily="34" charset="0"/>
                <a:ea typeface="Calibri" pitchFamily="34" charset="-122"/>
                <a:cs typeface="Calibri" pitchFamily="34" charset="-120"/>
              </a:rPr>
              <a:t>?  Step 3</a:t>
            </a:r>
            <a:endParaRPr lang="en-US" sz="1000" dirty="0"/>
          </a:p>
        </p:txBody>
      </p:sp>
      <p:sp>
        <p:nvSpPr>
          <p:cNvPr id="17" name="Text 14"/>
          <p:cNvSpPr/>
          <p:nvPr/>
        </p:nvSpPr>
        <p:spPr>
          <a:xfrm>
            <a:off x="6172200" y="1783080"/>
            <a:ext cx="2377440" cy="731520"/>
          </a:xfrm>
          <a:prstGeom prst="rect">
            <a:avLst/>
          </a:prstGeom>
          <a:noFill/>
          <a:ln/>
        </p:spPr>
        <p:txBody>
          <a:bodyPr wrap="square" lIns="0" tIns="0" rIns="0" bIns="0" rtlCol="0" anchor="ctr"/>
          <a:lstStyle/>
          <a:p>
            <a:pPr algn="ctr" indent="0" marL="0">
              <a:buNone/>
            </a:pPr>
            <a:r>
              <a:rPr lang="en-US" sz="1100" i="1" dirty="0">
                <a:solidFill>
                  <a:srgbClr val="0E1C42"/>
                </a:solidFill>
                <a:latin typeface="Cambria" pitchFamily="34" charset="0"/>
                <a:ea typeface="Cambria" pitchFamily="34" charset="-122"/>
                <a:cs typeface="Cambria" pitchFamily="34" charset="-120"/>
              </a:rPr>
              <a:t>Entry B says 'Without this source, we would not know...' What is it doing?</a:t>
            </a:r>
            <a:endParaRPr lang="en-US" sz="1100" dirty="0"/>
          </a:p>
        </p:txBody>
      </p:sp>
      <p:sp>
        <p:nvSpPr>
          <p:cNvPr id="18" name="Text 15"/>
          <p:cNvSpPr/>
          <p:nvPr/>
        </p:nvSpPr>
        <p:spPr>
          <a:xfrm>
            <a:off x="6172200" y="2560320"/>
            <a:ext cx="2377440" cy="228600"/>
          </a:xfrm>
          <a:prstGeom prst="rect">
            <a:avLst/>
          </a:prstGeom>
          <a:noFill/>
          <a:ln/>
        </p:spPr>
        <p:txBody>
          <a:bodyPr wrap="square" lIns="0" tIns="0" rIns="0" bIns="0" rtlCol="0" anchor="ctr"/>
          <a:lstStyle/>
          <a:p>
            <a:pPr algn="ctr" indent="0" marL="0">
              <a:buNone/>
            </a:pPr>
            <a:r>
              <a:rPr lang="en-US" sz="950" i="1" dirty="0">
                <a:solidFill>
                  <a:srgbClr val="7A88A8"/>
                </a:solidFill>
                <a:latin typeface="Calibri" pitchFamily="34" charset="0"/>
                <a:ea typeface="Calibri" pitchFamily="34" charset="-122"/>
                <a:cs typeface="Calibri" pitchFamily="34" charset="-120"/>
              </a:rPr>
              <a:t>Saying WHY the source matters</a:t>
            </a:r>
            <a:endParaRPr lang="en-US" sz="950" dirty="0"/>
          </a:p>
        </p:txBody>
      </p:sp>
      <p:sp>
        <p:nvSpPr>
          <p:cNvPr id="19" name="Shape 16"/>
          <p:cNvSpPr/>
          <p:nvPr/>
        </p:nvSpPr>
        <p:spPr>
          <a:xfrm>
            <a:off x="365760" y="2971800"/>
            <a:ext cx="8412480" cy="1051560"/>
          </a:xfrm>
          <a:prstGeom prst="roundRect">
            <a:avLst>
              <a:gd name="adj" fmla="val 10435"/>
            </a:avLst>
          </a:prstGeom>
          <a:solidFill>
            <a:srgbClr val="FFF3DC"/>
          </a:solidFill>
          <a:ln w="19050">
            <a:solidFill>
              <a:srgbClr val="F5E6C8"/>
            </a:solidFill>
            <a:prstDash val="solid"/>
          </a:ln>
        </p:spPr>
      </p:sp>
      <p:sp>
        <p:nvSpPr>
          <p:cNvPr id="20" name="Text 17"/>
          <p:cNvSpPr/>
          <p:nvPr/>
        </p:nvSpPr>
        <p:spPr>
          <a:xfrm>
            <a:off x="502920" y="302666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8"/>
          <p:cNvSpPr/>
          <p:nvPr/>
        </p:nvSpPr>
        <p:spPr>
          <a:xfrm>
            <a:off x="502920" y="3227832"/>
            <a:ext cx="8138160" cy="73152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Step 1 is called...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pattern I see is..."</a:t>
            </a:r>
            <a:endParaRPr lang="en-US" sz="1200" dirty="0"/>
          </a:p>
        </p:txBody>
      </p:sp>
      <p:sp>
        <p:nvSpPr>
          <p:cNvPr id="22" name="Shape 19"/>
          <p:cNvSpPr/>
          <p:nvPr/>
        </p:nvSpPr>
        <p:spPr>
          <a:xfrm>
            <a:off x="365760" y="4069080"/>
            <a:ext cx="8412480" cy="777240"/>
          </a:xfrm>
          <a:prstGeom prst="roundRect">
            <a:avLst>
              <a:gd name="adj" fmla="val 17647"/>
            </a:avLst>
          </a:prstGeom>
          <a:solidFill>
            <a:srgbClr val="1A2D5A"/>
          </a:solidFill>
          <a:ln/>
          <a:effectLst>
            <a:outerShdw sx="100000" sy="100000" kx="0" ky="0" algn="bl" rotWithShape="0" blurRad="101600" dist="38100" dir="8100000">
              <a:srgbClr val="000000">
                <a:alpha val="20000"/>
              </a:srgbClr>
            </a:outerShdw>
          </a:effectLst>
        </p:spPr>
      </p:sp>
      <p:sp>
        <p:nvSpPr>
          <p:cNvPr id="23" name="Text 20"/>
          <p:cNvSpPr/>
          <p:nvPr/>
        </p:nvSpPr>
        <p:spPr>
          <a:xfrm>
            <a:off x="548640" y="416052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4" name="Text 21"/>
          <p:cNvSpPr/>
          <p:nvPr/>
        </p:nvSpPr>
        <p:spPr>
          <a:xfrm>
            <a:off x="548640" y="4416552"/>
            <a:ext cx="8046720" cy="338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you name these three steps?</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Could the steps ever go in a different order?</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01168"/>
            <a:ext cx="8229600" cy="320040"/>
          </a:xfrm>
          <a:prstGeom prst="rect">
            <a:avLst/>
          </a:prstGeom>
          <a:noFill/>
          <a:ln/>
        </p:spPr>
        <p:txBody>
          <a:bodyPr wrap="square" lIns="0" tIns="0" rIns="0" bIns="0" rtlCol="0" anchor="ctr"/>
          <a:lstStyle/>
          <a:p>
            <a:pPr algn="ctr" indent="0" marL="0">
              <a:buNone/>
            </a:pPr>
            <a:r>
              <a:rPr lang="en-US" sz="1000" b="1" spc="250" kern="0" dirty="0">
                <a:solidFill>
                  <a:srgbClr val="55C8E8"/>
                </a:solidFill>
                <a:latin typeface="Calibri" pitchFamily="34" charset="0"/>
                <a:ea typeface="Calibri" pitchFamily="34" charset="-122"/>
                <a:cs typeface="Calibri" pitchFamily="34" charset="-120"/>
              </a:rPr>
              <a:t>EXHIBIT LABEL UNLOCKED</a:t>
            </a:r>
            <a:endParaRPr lang="en-US" sz="1000" dirty="0"/>
          </a:p>
        </p:txBody>
      </p:sp>
      <p:sp>
        <p:nvSpPr>
          <p:cNvPr id="6" name="Text 3"/>
          <p:cNvSpPr/>
          <p:nvPr/>
        </p:nvSpPr>
        <p:spPr>
          <a:xfrm>
            <a:off x="457200" y="594360"/>
            <a:ext cx="8229600" cy="502920"/>
          </a:xfrm>
          <a:prstGeom prst="rect">
            <a:avLst/>
          </a:prstGeom>
          <a:noFill/>
          <a:ln/>
        </p:spPr>
        <p:txBody>
          <a:bodyPr wrap="square" lIns="0" tIns="0" rIns="0" bIns="0" rtlCol="0" anchor="ctr"/>
          <a:lstStyle/>
          <a:p>
            <a:pPr algn="ctr" indent="0" marL="0">
              <a:buNone/>
            </a:pPr>
            <a:r>
              <a:rPr lang="en-US" sz="3000" b="1" dirty="0">
                <a:solidFill>
                  <a:srgbClr val="D4943A"/>
                </a:solidFill>
                <a:latin typeface="Cambria" pitchFamily="34" charset="0"/>
                <a:ea typeface="Cambria" pitchFamily="34" charset="-122"/>
                <a:cs typeface="Cambria" pitchFamily="34" charset="-120"/>
              </a:rPr>
              <a:t>The Three Parts of a Strong Evidence Entry</a:t>
            </a:r>
            <a:endParaRPr lang="en-US" sz="3000" dirty="0"/>
          </a:p>
        </p:txBody>
      </p:sp>
      <p:sp>
        <p:nvSpPr>
          <p:cNvPr id="7" name="Shape 4"/>
          <p:cNvSpPr/>
          <p:nvPr/>
        </p:nvSpPr>
        <p:spPr>
          <a:xfrm>
            <a:off x="365760" y="1234440"/>
            <a:ext cx="2651760" cy="2788920"/>
          </a:xfrm>
          <a:prstGeom prst="roundRect">
            <a:avLst>
              <a:gd name="adj" fmla="val 5172"/>
            </a:avLst>
          </a:prstGeom>
          <a:solidFill>
            <a:srgbClr val="1A2D5A"/>
          </a:solidFill>
          <a:ln w="31750">
            <a:solidFill>
              <a:srgbClr val="1A8A7D"/>
            </a:solidFill>
            <a:prstDash val="solid"/>
          </a:ln>
          <a:effectLst>
            <a:outerShdw sx="100000" sy="100000" kx="0" ky="0" algn="bl" rotWithShape="0" blurRad="127000" dist="38100" dir="8100000">
              <a:srgbClr val="000000">
                <a:alpha val="25000"/>
              </a:srgbClr>
            </a:outerShdw>
          </a:effectLst>
        </p:spPr>
      </p:sp>
      <p:sp>
        <p:nvSpPr>
          <p:cNvPr id="8" name="Shape 5"/>
          <p:cNvSpPr/>
          <p:nvPr/>
        </p:nvSpPr>
        <p:spPr>
          <a:xfrm>
            <a:off x="1371600" y="1298448"/>
            <a:ext cx="640080" cy="640080"/>
          </a:xfrm>
          <a:prstGeom prst="ellipse">
            <a:avLst/>
          </a:prstGeom>
          <a:solidFill>
            <a:srgbClr val="1A8A7D"/>
          </a:solidFill>
          <a:ln/>
        </p:spPr>
      </p:sp>
      <p:sp>
        <p:nvSpPr>
          <p:cNvPr id="9" name="Text 6"/>
          <p:cNvSpPr/>
          <p:nvPr/>
        </p:nvSpPr>
        <p:spPr>
          <a:xfrm>
            <a:off x="1371600" y="1298448"/>
            <a:ext cx="640080" cy="64008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1</a:t>
            </a:r>
            <a:endParaRPr lang="en-US" sz="2200" dirty="0"/>
          </a:p>
        </p:txBody>
      </p:sp>
      <p:sp>
        <p:nvSpPr>
          <p:cNvPr id="10" name="Text 7"/>
          <p:cNvSpPr/>
          <p:nvPr/>
        </p:nvSpPr>
        <p:spPr>
          <a:xfrm>
            <a:off x="457200" y="2057400"/>
            <a:ext cx="2468880" cy="411480"/>
          </a:xfrm>
          <a:prstGeom prst="rect">
            <a:avLst/>
          </a:prstGeom>
          <a:noFill/>
          <a:ln/>
        </p:spPr>
        <p:txBody>
          <a:bodyPr wrap="square" lIns="0" tIns="0" rIns="0" bIns="0" rtlCol="0" anchor="ctr"/>
          <a:lstStyle/>
          <a:p>
            <a:pPr algn="ctr" indent="0" marL="0">
              <a:buNone/>
            </a:pPr>
            <a:r>
              <a:rPr lang="en-US" sz="2200" b="1" dirty="0">
                <a:solidFill>
                  <a:srgbClr val="1A8A7D"/>
                </a:solidFill>
                <a:latin typeface="Cambria" pitchFamily="34" charset="0"/>
                <a:ea typeface="Cambria" pitchFamily="34" charset="-122"/>
                <a:cs typeface="Cambria" pitchFamily="34" charset="-120"/>
              </a:rPr>
              <a:t>Observation</a:t>
            </a:r>
            <a:endParaRPr lang="en-US" sz="2200" dirty="0"/>
          </a:p>
        </p:txBody>
      </p:sp>
      <p:sp>
        <p:nvSpPr>
          <p:cNvPr id="11" name="Text 8"/>
          <p:cNvSpPr/>
          <p:nvPr/>
        </p:nvSpPr>
        <p:spPr>
          <a:xfrm>
            <a:off x="502920" y="2487168"/>
            <a:ext cx="2377440" cy="10058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What do you SEE?</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Name specific details — objects, people, dates, places, clothing, tools.</a:t>
            </a:r>
            <a:endParaRPr lang="en-US" sz="1100" dirty="0"/>
          </a:p>
        </p:txBody>
      </p:sp>
      <p:sp>
        <p:nvSpPr>
          <p:cNvPr id="12" name="Shape 9"/>
          <p:cNvSpPr/>
          <p:nvPr/>
        </p:nvSpPr>
        <p:spPr>
          <a:xfrm>
            <a:off x="457200" y="3547872"/>
            <a:ext cx="2468880" cy="347472"/>
          </a:xfrm>
          <a:prstGeom prst="roundRect">
            <a:avLst>
              <a:gd name="adj" fmla="val 18421"/>
            </a:avLst>
          </a:prstGeom>
          <a:solidFill>
            <a:srgbClr val="1A8A7D"/>
          </a:solidFill>
          <a:ln/>
        </p:spPr>
      </p:sp>
      <p:sp>
        <p:nvSpPr>
          <p:cNvPr id="13" name="Text 10"/>
          <p:cNvSpPr/>
          <p:nvPr/>
        </p:nvSpPr>
        <p:spPr>
          <a:xfrm>
            <a:off x="457200" y="3547872"/>
            <a:ext cx="24688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Observe FIRST. Always.</a:t>
            </a:r>
            <a:endParaRPr lang="en-US" sz="1000" dirty="0"/>
          </a:p>
        </p:txBody>
      </p:sp>
      <p:sp>
        <p:nvSpPr>
          <p:cNvPr id="14" name="Shape 11"/>
          <p:cNvSpPr/>
          <p:nvPr/>
        </p:nvSpPr>
        <p:spPr>
          <a:xfrm>
            <a:off x="3246120" y="1234440"/>
            <a:ext cx="2651760" cy="2788920"/>
          </a:xfrm>
          <a:prstGeom prst="roundRect">
            <a:avLst>
              <a:gd name="adj" fmla="val 5172"/>
            </a:avLst>
          </a:prstGeom>
          <a:solidFill>
            <a:srgbClr val="1A2D5A"/>
          </a:solidFill>
          <a:ln w="31750">
            <a:solidFill>
              <a:srgbClr val="D4943A"/>
            </a:solidFill>
            <a:prstDash val="solid"/>
          </a:ln>
          <a:effectLst>
            <a:outerShdw sx="100000" sy="100000" kx="0" ky="0" algn="bl" rotWithShape="0" blurRad="127000" dist="38100" dir="8100000">
              <a:srgbClr val="000000">
                <a:alpha val="25000"/>
              </a:srgbClr>
            </a:outerShdw>
          </a:effectLst>
        </p:spPr>
      </p:sp>
      <p:sp>
        <p:nvSpPr>
          <p:cNvPr id="15" name="Shape 12"/>
          <p:cNvSpPr/>
          <p:nvPr/>
        </p:nvSpPr>
        <p:spPr>
          <a:xfrm>
            <a:off x="4251960" y="1298448"/>
            <a:ext cx="640080" cy="640080"/>
          </a:xfrm>
          <a:prstGeom prst="ellipse">
            <a:avLst/>
          </a:prstGeom>
          <a:solidFill>
            <a:srgbClr val="D4943A"/>
          </a:solidFill>
          <a:ln/>
        </p:spPr>
      </p:sp>
      <p:sp>
        <p:nvSpPr>
          <p:cNvPr id="16" name="Text 13"/>
          <p:cNvSpPr/>
          <p:nvPr/>
        </p:nvSpPr>
        <p:spPr>
          <a:xfrm>
            <a:off x="4251960" y="1298448"/>
            <a:ext cx="640080" cy="64008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2</a:t>
            </a:r>
            <a:endParaRPr lang="en-US" sz="2200" dirty="0"/>
          </a:p>
        </p:txBody>
      </p:sp>
      <p:sp>
        <p:nvSpPr>
          <p:cNvPr id="17" name="Text 14"/>
          <p:cNvSpPr/>
          <p:nvPr/>
        </p:nvSpPr>
        <p:spPr>
          <a:xfrm>
            <a:off x="3337560" y="2057400"/>
            <a:ext cx="2468880" cy="411480"/>
          </a:xfrm>
          <a:prstGeom prst="rect">
            <a:avLst/>
          </a:prstGeom>
          <a:noFill/>
          <a:ln/>
        </p:spPr>
        <p:txBody>
          <a:bodyPr wrap="square" lIns="0" tIns="0" rIns="0" bIns="0" rtlCol="0" anchor="ctr"/>
          <a:lstStyle/>
          <a:p>
            <a:pPr algn="ctr" indent="0" marL="0">
              <a:buNone/>
            </a:pPr>
            <a:r>
              <a:rPr lang="en-US" sz="2200" b="1" dirty="0">
                <a:solidFill>
                  <a:srgbClr val="D4943A"/>
                </a:solidFill>
                <a:latin typeface="Cambria" pitchFamily="34" charset="0"/>
                <a:ea typeface="Cambria" pitchFamily="34" charset="-122"/>
                <a:cs typeface="Cambria" pitchFamily="34" charset="-120"/>
              </a:rPr>
              <a:t>Meaning</a:t>
            </a:r>
            <a:endParaRPr lang="en-US" sz="2200" dirty="0"/>
          </a:p>
        </p:txBody>
      </p:sp>
      <p:sp>
        <p:nvSpPr>
          <p:cNvPr id="18" name="Text 15"/>
          <p:cNvSpPr/>
          <p:nvPr/>
        </p:nvSpPr>
        <p:spPr>
          <a:xfrm>
            <a:off x="3383280" y="2487168"/>
            <a:ext cx="2377440" cy="10058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What does it TELL US?</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Connect the details to a bigger idea about the past.</a:t>
            </a:r>
            <a:endParaRPr lang="en-US" sz="1100" dirty="0"/>
          </a:p>
        </p:txBody>
      </p:sp>
      <p:sp>
        <p:nvSpPr>
          <p:cNvPr id="19" name="Shape 16"/>
          <p:cNvSpPr/>
          <p:nvPr/>
        </p:nvSpPr>
        <p:spPr>
          <a:xfrm>
            <a:off x="3337560" y="3547872"/>
            <a:ext cx="2468880" cy="347472"/>
          </a:xfrm>
          <a:prstGeom prst="roundRect">
            <a:avLst>
              <a:gd name="adj" fmla="val 18421"/>
            </a:avLst>
          </a:prstGeom>
          <a:solidFill>
            <a:srgbClr val="D4943A"/>
          </a:solidFill>
          <a:ln/>
        </p:spPr>
      </p:sp>
      <p:sp>
        <p:nvSpPr>
          <p:cNvPr id="20" name="Text 17"/>
          <p:cNvSpPr/>
          <p:nvPr/>
        </p:nvSpPr>
        <p:spPr>
          <a:xfrm>
            <a:off x="3337560" y="3547872"/>
            <a:ext cx="24688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Explain what the details mean.</a:t>
            </a:r>
            <a:endParaRPr lang="en-US" sz="1000" dirty="0"/>
          </a:p>
        </p:txBody>
      </p:sp>
      <p:sp>
        <p:nvSpPr>
          <p:cNvPr id="21" name="Shape 18"/>
          <p:cNvSpPr/>
          <p:nvPr/>
        </p:nvSpPr>
        <p:spPr>
          <a:xfrm>
            <a:off x="6126480" y="1234440"/>
            <a:ext cx="2651760" cy="2788920"/>
          </a:xfrm>
          <a:prstGeom prst="roundRect">
            <a:avLst>
              <a:gd name="adj" fmla="val 5172"/>
            </a:avLst>
          </a:prstGeom>
          <a:solidFill>
            <a:srgbClr val="1A2D5A"/>
          </a:solidFill>
          <a:ln w="31750">
            <a:solidFill>
              <a:srgbClr val="8B6FC0"/>
            </a:solidFill>
            <a:prstDash val="solid"/>
          </a:ln>
          <a:effectLst>
            <a:outerShdw sx="100000" sy="100000" kx="0" ky="0" algn="bl" rotWithShape="0" blurRad="127000" dist="38100" dir="8100000">
              <a:srgbClr val="000000">
                <a:alpha val="25000"/>
              </a:srgbClr>
            </a:outerShdw>
          </a:effectLst>
        </p:spPr>
      </p:sp>
      <p:sp>
        <p:nvSpPr>
          <p:cNvPr id="22" name="Shape 19"/>
          <p:cNvSpPr/>
          <p:nvPr/>
        </p:nvSpPr>
        <p:spPr>
          <a:xfrm>
            <a:off x="7132320" y="1298448"/>
            <a:ext cx="640080" cy="640080"/>
          </a:xfrm>
          <a:prstGeom prst="ellipse">
            <a:avLst/>
          </a:prstGeom>
          <a:solidFill>
            <a:srgbClr val="8B6FC0"/>
          </a:solidFill>
          <a:ln/>
        </p:spPr>
      </p:sp>
      <p:sp>
        <p:nvSpPr>
          <p:cNvPr id="23" name="Text 20"/>
          <p:cNvSpPr/>
          <p:nvPr/>
        </p:nvSpPr>
        <p:spPr>
          <a:xfrm>
            <a:off x="7132320" y="1298448"/>
            <a:ext cx="640080" cy="640080"/>
          </a:xfrm>
          <a:prstGeom prst="rect">
            <a:avLst/>
          </a:prstGeom>
          <a:noFill/>
          <a:ln/>
        </p:spPr>
        <p:txBody>
          <a:bodyPr wrap="square" lIns="0" tIns="0" rIns="0" bIns="0" rtlCol="0" anchor="ctr"/>
          <a:lstStyle/>
          <a:p>
            <a:pPr algn="ctr" indent="0" marL="0">
              <a:buNone/>
            </a:pPr>
            <a:r>
              <a:rPr lang="en-US" sz="2200" b="1" dirty="0">
                <a:solidFill>
                  <a:srgbClr val="0E1C42"/>
                </a:solidFill>
                <a:latin typeface="Cambria" pitchFamily="34" charset="0"/>
                <a:ea typeface="Cambria" pitchFamily="34" charset="-122"/>
                <a:cs typeface="Cambria" pitchFamily="34" charset="-120"/>
              </a:rPr>
              <a:t>3</a:t>
            </a:r>
            <a:endParaRPr lang="en-US" sz="2200" dirty="0"/>
          </a:p>
        </p:txBody>
      </p:sp>
      <p:sp>
        <p:nvSpPr>
          <p:cNvPr id="24" name="Text 21"/>
          <p:cNvSpPr/>
          <p:nvPr/>
        </p:nvSpPr>
        <p:spPr>
          <a:xfrm>
            <a:off x="6217920" y="2057400"/>
            <a:ext cx="2468880" cy="411480"/>
          </a:xfrm>
          <a:prstGeom prst="rect">
            <a:avLst/>
          </a:prstGeom>
          <a:noFill/>
          <a:ln/>
        </p:spPr>
        <p:txBody>
          <a:bodyPr wrap="square" lIns="0" tIns="0" rIns="0" bIns="0" rtlCol="0" anchor="ctr"/>
          <a:lstStyle/>
          <a:p>
            <a:pPr algn="ctr" indent="0" marL="0">
              <a:buNone/>
            </a:pPr>
            <a:r>
              <a:rPr lang="en-US" sz="2200" b="1" dirty="0">
                <a:solidFill>
                  <a:srgbClr val="8B6FC0"/>
                </a:solidFill>
                <a:latin typeface="Cambria" pitchFamily="34" charset="0"/>
                <a:ea typeface="Cambria" pitchFamily="34" charset="-122"/>
                <a:cs typeface="Cambria" pitchFamily="34" charset="-120"/>
              </a:rPr>
              <a:t>Importance</a:t>
            </a:r>
            <a:endParaRPr lang="en-US" sz="2200" dirty="0"/>
          </a:p>
        </p:txBody>
      </p:sp>
      <p:sp>
        <p:nvSpPr>
          <p:cNvPr id="25" name="Text 22"/>
          <p:cNvSpPr/>
          <p:nvPr/>
        </p:nvSpPr>
        <p:spPr>
          <a:xfrm>
            <a:off x="6263640" y="2487168"/>
            <a:ext cx="2377440" cy="1005840"/>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Why does it MATTER?</a:t>
            </a:r>
            <a:endParaRPr lang="en-US" sz="1100" dirty="0"/>
          </a:p>
          <a:p>
            <a:pPr algn="ctr" indent="0" marL="0">
              <a:buNone/>
            </a:pPr>
            <a:r>
              <a:rPr lang="en-US" sz="1100" dirty="0">
                <a:solidFill>
                  <a:srgbClr val="FFFFFF"/>
                </a:solidFill>
                <a:latin typeface="Calibri" pitchFamily="34" charset="0"/>
                <a:ea typeface="Calibri" pitchFamily="34" charset="-122"/>
                <a:cs typeface="Calibri" pitchFamily="34" charset="-120"/>
              </a:rPr>
              <a:t>What would we NOT understand without this source?</a:t>
            </a:r>
            <a:endParaRPr lang="en-US" sz="1100" dirty="0"/>
          </a:p>
        </p:txBody>
      </p:sp>
      <p:sp>
        <p:nvSpPr>
          <p:cNvPr id="26" name="Shape 23"/>
          <p:cNvSpPr/>
          <p:nvPr/>
        </p:nvSpPr>
        <p:spPr>
          <a:xfrm>
            <a:off x="6217920" y="3547872"/>
            <a:ext cx="2468880" cy="347472"/>
          </a:xfrm>
          <a:prstGeom prst="roundRect">
            <a:avLst>
              <a:gd name="adj" fmla="val 18421"/>
            </a:avLst>
          </a:prstGeom>
          <a:solidFill>
            <a:srgbClr val="8B6FC0"/>
          </a:solidFill>
          <a:ln/>
        </p:spPr>
      </p:sp>
      <p:sp>
        <p:nvSpPr>
          <p:cNvPr id="27" name="Text 24"/>
          <p:cNvSpPr/>
          <p:nvPr/>
        </p:nvSpPr>
        <p:spPr>
          <a:xfrm>
            <a:off x="6217920" y="3547872"/>
            <a:ext cx="2468880" cy="347472"/>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Say why the museum needs it.</a:t>
            </a:r>
            <a:endParaRPr lang="en-US" sz="1000" dirty="0"/>
          </a:p>
        </p:txBody>
      </p:sp>
      <p:sp>
        <p:nvSpPr>
          <p:cNvPr id="28" name="Text 25"/>
          <p:cNvSpPr/>
          <p:nvPr/>
        </p:nvSpPr>
        <p:spPr>
          <a:xfrm>
            <a:off x="457200" y="4206240"/>
            <a:ext cx="8229600" cy="320040"/>
          </a:xfrm>
          <a:prstGeom prst="rect">
            <a:avLst/>
          </a:prstGeom>
          <a:noFill/>
          <a:ln/>
        </p:spPr>
        <p:txBody>
          <a:bodyPr wrap="square" lIns="0" tIns="0" rIns="0" bIns="0" rtlCol="0" anchor="ctr"/>
          <a:lstStyle/>
          <a:p>
            <a:pPr algn="ctr" indent="0" marL="0">
              <a:buNone/>
            </a:pPr>
            <a:r>
              <a:rPr lang="en-US" sz="1300" i="1" dirty="0">
                <a:solidFill>
                  <a:srgbClr val="D4943A"/>
                </a:solidFill>
                <a:latin typeface="Cambria" pitchFamily="34" charset="0"/>
                <a:ea typeface="Cambria" pitchFamily="34" charset="-122"/>
                <a:cs typeface="Cambria" pitchFamily="34" charset="-120"/>
              </a:rPr>
              <a:t>Observe first. Think second. Write third. Always in that order.</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RETRIEVAL CHALLENGE  ·  FROM MEMORY</a:t>
            </a:r>
            <a:endParaRPr lang="en-US" sz="1100" dirty="0"/>
          </a:p>
        </p:txBody>
      </p:sp>
      <p:sp>
        <p:nvSpPr>
          <p:cNvPr id="5" name="Text 2"/>
          <p:cNvSpPr/>
          <p:nvPr/>
        </p:nvSpPr>
        <p:spPr>
          <a:xfrm>
            <a:off x="457200" y="640080"/>
            <a:ext cx="8229600" cy="502920"/>
          </a:xfrm>
          <a:prstGeom prst="rect">
            <a:avLst/>
          </a:prstGeom>
          <a:noFill/>
          <a:ln/>
        </p:spPr>
        <p:txBody>
          <a:bodyPr wrap="square" lIns="0" tIns="0" rIns="0" bIns="0" rtlCol="0" anchor="ctr"/>
          <a:lstStyle/>
          <a:p>
            <a:pPr algn="l" indent="0" marL="0">
              <a:buNone/>
            </a:pPr>
            <a:r>
              <a:rPr lang="en-US" sz="3200" b="1" dirty="0">
                <a:solidFill>
                  <a:srgbClr val="0E1C42"/>
                </a:solidFill>
                <a:latin typeface="Cambria" pitchFamily="34" charset="0"/>
                <a:ea typeface="Cambria" pitchFamily="34" charset="-122"/>
                <a:cs typeface="Cambria" pitchFamily="34" charset="-120"/>
              </a:rPr>
              <a:t>Cover your screen. Name all three parts.</a:t>
            </a:r>
            <a:endParaRPr lang="en-US" sz="3200" dirty="0"/>
          </a:p>
        </p:txBody>
      </p:sp>
      <p:sp>
        <p:nvSpPr>
          <p:cNvPr id="6" name="Text 3"/>
          <p:cNvSpPr/>
          <p:nvPr/>
        </p:nvSpPr>
        <p:spPr>
          <a:xfrm>
            <a:off x="457200" y="1143000"/>
            <a:ext cx="8229600" cy="274320"/>
          </a:xfrm>
          <a:prstGeom prst="rect">
            <a:avLst/>
          </a:prstGeom>
          <a:noFill/>
          <a:ln/>
        </p:spPr>
        <p:txBody>
          <a:bodyPr wrap="square" lIns="0" tIns="0" rIns="0" bIns="0" rtlCol="0" anchor="ctr"/>
          <a:lstStyle/>
          <a:p>
            <a:pPr algn="l" indent="0" marL="0">
              <a:buNone/>
            </a:pPr>
            <a:r>
              <a:rPr lang="en-US" sz="1400" i="1" dirty="0">
                <a:solidFill>
                  <a:srgbClr val="7A88A8"/>
                </a:solidFill>
                <a:latin typeface="Calibri" pitchFamily="34" charset="0"/>
                <a:ea typeface="Calibri" pitchFamily="34" charset="-122"/>
                <a:cs typeface="Calibri" pitchFamily="34" charset="-120"/>
              </a:rPr>
              <a:t>Don't look at the slide. What are the three things every evidence entry needs?</a:t>
            </a:r>
            <a:endParaRPr lang="en-US" sz="1400" dirty="0"/>
          </a:p>
        </p:txBody>
      </p:sp>
      <p:sp>
        <p:nvSpPr>
          <p:cNvPr id="7" name="Shape 4"/>
          <p:cNvSpPr/>
          <p:nvPr/>
        </p:nvSpPr>
        <p:spPr>
          <a:xfrm>
            <a:off x="548640" y="1508760"/>
            <a:ext cx="2560320" cy="1828800"/>
          </a:xfrm>
          <a:prstGeom prst="roundRect">
            <a:avLst>
              <a:gd name="adj" fmla="val 6000"/>
            </a:avLst>
          </a:prstGeom>
          <a:solidFill>
            <a:srgbClr val="F0F2F8"/>
          </a:solidFill>
          <a:ln w="25400">
            <a:solidFill>
              <a:srgbClr val="1A8A7D"/>
            </a:solidFill>
            <a:prstDash val="solid"/>
          </a:ln>
        </p:spPr>
      </p:sp>
      <p:sp>
        <p:nvSpPr>
          <p:cNvPr id="8" name="Text 5"/>
          <p:cNvSpPr/>
          <p:nvPr/>
        </p:nvSpPr>
        <p:spPr>
          <a:xfrm>
            <a:off x="548640" y="1572768"/>
            <a:ext cx="2560320" cy="274320"/>
          </a:xfrm>
          <a:prstGeom prst="rect">
            <a:avLst/>
          </a:prstGeom>
          <a:noFill/>
          <a:ln/>
        </p:spPr>
        <p:txBody>
          <a:bodyPr wrap="square" lIns="0" tIns="0" rIns="0" bIns="0" rtlCol="0" anchor="ctr"/>
          <a:lstStyle/>
          <a:p>
            <a:pPr algn="ctr" indent="0" marL="0">
              <a:buNone/>
            </a:pPr>
            <a:r>
              <a:rPr lang="en-US" sz="1000" b="1" spc="150" kern="0" dirty="0">
                <a:solidFill>
                  <a:srgbClr val="1A8A7D"/>
                </a:solidFill>
                <a:latin typeface="Calibri" pitchFamily="34" charset="0"/>
                <a:ea typeface="Calibri" pitchFamily="34" charset="-122"/>
                <a:cs typeface="Calibri" pitchFamily="34" charset="-120"/>
              </a:rPr>
              <a:t>Part 1</a:t>
            </a:r>
            <a:endParaRPr lang="en-US" sz="1000" dirty="0"/>
          </a:p>
        </p:txBody>
      </p:sp>
      <p:sp>
        <p:nvSpPr>
          <p:cNvPr id="9" name="Text 6"/>
          <p:cNvSpPr/>
          <p:nvPr/>
        </p:nvSpPr>
        <p:spPr>
          <a:xfrm>
            <a:off x="548640" y="1828800"/>
            <a:ext cx="2560320" cy="822960"/>
          </a:xfrm>
          <a:prstGeom prst="rect">
            <a:avLst/>
          </a:prstGeom>
          <a:noFill/>
          <a:ln/>
        </p:spPr>
        <p:txBody>
          <a:bodyPr wrap="square" lIns="0" tIns="0" rIns="0" bIns="0" rtlCol="0" anchor="ctr"/>
          <a:lstStyle/>
          <a:p>
            <a:pPr algn="ctr" indent="0" marL="0">
              <a:buNone/>
            </a:pPr>
            <a:r>
              <a:rPr lang="en-US" sz="6000" b="1" dirty="0">
                <a:solidFill>
                  <a:srgbClr val="1A8A7D">
                    <a:alpha val="70000"/>
                  </a:srgbClr>
                </a:solidFill>
                <a:latin typeface="Cambria" pitchFamily="34" charset="0"/>
                <a:ea typeface="Cambria" pitchFamily="34" charset="-122"/>
                <a:cs typeface="Cambria" pitchFamily="34" charset="-120"/>
              </a:rPr>
              <a:t>?</a:t>
            </a:r>
            <a:endParaRPr lang="en-US" sz="6000" dirty="0"/>
          </a:p>
        </p:txBody>
      </p:sp>
      <p:sp>
        <p:nvSpPr>
          <p:cNvPr id="10" name="Text 7"/>
          <p:cNvSpPr/>
          <p:nvPr/>
        </p:nvSpPr>
        <p:spPr>
          <a:xfrm>
            <a:off x="640080" y="2743200"/>
            <a:ext cx="2377440" cy="45720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What you SEE</a:t>
            </a:r>
            <a:endParaRPr lang="en-US" sz="1100" dirty="0"/>
          </a:p>
        </p:txBody>
      </p:sp>
      <p:sp>
        <p:nvSpPr>
          <p:cNvPr id="11" name="Shape 8"/>
          <p:cNvSpPr/>
          <p:nvPr/>
        </p:nvSpPr>
        <p:spPr>
          <a:xfrm>
            <a:off x="3337560" y="1508760"/>
            <a:ext cx="2560320" cy="1828800"/>
          </a:xfrm>
          <a:prstGeom prst="roundRect">
            <a:avLst>
              <a:gd name="adj" fmla="val 6000"/>
            </a:avLst>
          </a:prstGeom>
          <a:solidFill>
            <a:srgbClr val="F0F2F8"/>
          </a:solidFill>
          <a:ln w="25400">
            <a:solidFill>
              <a:srgbClr val="D4943A"/>
            </a:solidFill>
            <a:prstDash val="solid"/>
          </a:ln>
        </p:spPr>
      </p:sp>
      <p:sp>
        <p:nvSpPr>
          <p:cNvPr id="12" name="Text 9"/>
          <p:cNvSpPr/>
          <p:nvPr/>
        </p:nvSpPr>
        <p:spPr>
          <a:xfrm>
            <a:off x="3337560" y="1572768"/>
            <a:ext cx="2560320" cy="274320"/>
          </a:xfrm>
          <a:prstGeom prst="rect">
            <a:avLst/>
          </a:prstGeom>
          <a:noFill/>
          <a:ln/>
        </p:spPr>
        <p:txBody>
          <a:bodyPr wrap="square" lIns="0" tIns="0" rIns="0" bIns="0" rtlCol="0" anchor="ctr"/>
          <a:lstStyle/>
          <a:p>
            <a:pPr algn="ctr" indent="0" marL="0">
              <a:buNone/>
            </a:pPr>
            <a:r>
              <a:rPr lang="en-US" sz="1000" b="1" spc="150" kern="0" dirty="0">
                <a:solidFill>
                  <a:srgbClr val="D4943A"/>
                </a:solidFill>
                <a:latin typeface="Calibri" pitchFamily="34" charset="0"/>
                <a:ea typeface="Calibri" pitchFamily="34" charset="-122"/>
                <a:cs typeface="Calibri" pitchFamily="34" charset="-120"/>
              </a:rPr>
              <a:t>Part 2</a:t>
            </a:r>
            <a:endParaRPr lang="en-US" sz="1000" dirty="0"/>
          </a:p>
        </p:txBody>
      </p:sp>
      <p:sp>
        <p:nvSpPr>
          <p:cNvPr id="13" name="Text 10"/>
          <p:cNvSpPr/>
          <p:nvPr/>
        </p:nvSpPr>
        <p:spPr>
          <a:xfrm>
            <a:off x="3337560" y="1828800"/>
            <a:ext cx="2560320" cy="822960"/>
          </a:xfrm>
          <a:prstGeom prst="rect">
            <a:avLst/>
          </a:prstGeom>
          <a:noFill/>
          <a:ln/>
        </p:spPr>
        <p:txBody>
          <a:bodyPr wrap="square" lIns="0" tIns="0" rIns="0" bIns="0" rtlCol="0" anchor="ctr"/>
          <a:lstStyle/>
          <a:p>
            <a:pPr algn="ctr" indent="0" marL="0">
              <a:buNone/>
            </a:pPr>
            <a:r>
              <a:rPr lang="en-US" sz="6000" b="1" dirty="0">
                <a:solidFill>
                  <a:srgbClr val="D4943A">
                    <a:alpha val="70000"/>
                  </a:srgbClr>
                </a:solidFill>
                <a:latin typeface="Cambria" pitchFamily="34" charset="0"/>
                <a:ea typeface="Cambria" pitchFamily="34" charset="-122"/>
                <a:cs typeface="Cambria" pitchFamily="34" charset="-120"/>
              </a:rPr>
              <a:t>?</a:t>
            </a:r>
            <a:endParaRPr lang="en-US" sz="6000" dirty="0"/>
          </a:p>
        </p:txBody>
      </p:sp>
      <p:sp>
        <p:nvSpPr>
          <p:cNvPr id="14" name="Text 11"/>
          <p:cNvSpPr/>
          <p:nvPr/>
        </p:nvSpPr>
        <p:spPr>
          <a:xfrm>
            <a:off x="3429000" y="2743200"/>
            <a:ext cx="2377440" cy="45720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What it MEANS</a:t>
            </a:r>
            <a:endParaRPr lang="en-US" sz="1100" dirty="0"/>
          </a:p>
        </p:txBody>
      </p:sp>
      <p:sp>
        <p:nvSpPr>
          <p:cNvPr id="15" name="Shape 12"/>
          <p:cNvSpPr/>
          <p:nvPr/>
        </p:nvSpPr>
        <p:spPr>
          <a:xfrm>
            <a:off x="6126480" y="1508760"/>
            <a:ext cx="2560320" cy="1828800"/>
          </a:xfrm>
          <a:prstGeom prst="roundRect">
            <a:avLst>
              <a:gd name="adj" fmla="val 6000"/>
            </a:avLst>
          </a:prstGeom>
          <a:solidFill>
            <a:srgbClr val="F0F2F8"/>
          </a:solidFill>
          <a:ln w="25400">
            <a:solidFill>
              <a:srgbClr val="8B6FC0"/>
            </a:solidFill>
            <a:prstDash val="solid"/>
          </a:ln>
        </p:spPr>
      </p:sp>
      <p:sp>
        <p:nvSpPr>
          <p:cNvPr id="16" name="Text 13"/>
          <p:cNvSpPr/>
          <p:nvPr/>
        </p:nvSpPr>
        <p:spPr>
          <a:xfrm>
            <a:off x="6126480" y="1572768"/>
            <a:ext cx="2560320" cy="274320"/>
          </a:xfrm>
          <a:prstGeom prst="rect">
            <a:avLst/>
          </a:prstGeom>
          <a:noFill/>
          <a:ln/>
        </p:spPr>
        <p:txBody>
          <a:bodyPr wrap="square" lIns="0" tIns="0" rIns="0" bIns="0" rtlCol="0" anchor="ctr"/>
          <a:lstStyle/>
          <a:p>
            <a:pPr algn="ctr" indent="0" marL="0">
              <a:buNone/>
            </a:pPr>
            <a:r>
              <a:rPr lang="en-US" sz="1000" b="1" spc="150" kern="0" dirty="0">
                <a:solidFill>
                  <a:srgbClr val="8B6FC0"/>
                </a:solidFill>
                <a:latin typeface="Calibri" pitchFamily="34" charset="0"/>
                <a:ea typeface="Calibri" pitchFamily="34" charset="-122"/>
                <a:cs typeface="Calibri" pitchFamily="34" charset="-120"/>
              </a:rPr>
              <a:t>Part 3</a:t>
            </a:r>
            <a:endParaRPr lang="en-US" sz="1000" dirty="0"/>
          </a:p>
        </p:txBody>
      </p:sp>
      <p:sp>
        <p:nvSpPr>
          <p:cNvPr id="17" name="Text 14"/>
          <p:cNvSpPr/>
          <p:nvPr/>
        </p:nvSpPr>
        <p:spPr>
          <a:xfrm>
            <a:off x="6126480" y="1828800"/>
            <a:ext cx="2560320" cy="822960"/>
          </a:xfrm>
          <a:prstGeom prst="rect">
            <a:avLst/>
          </a:prstGeom>
          <a:noFill/>
          <a:ln/>
        </p:spPr>
        <p:txBody>
          <a:bodyPr wrap="square" lIns="0" tIns="0" rIns="0" bIns="0" rtlCol="0" anchor="ctr"/>
          <a:lstStyle/>
          <a:p>
            <a:pPr algn="ctr" indent="0" marL="0">
              <a:buNone/>
            </a:pPr>
            <a:r>
              <a:rPr lang="en-US" sz="6000" b="1" dirty="0">
                <a:solidFill>
                  <a:srgbClr val="8B6FC0">
                    <a:alpha val="70000"/>
                  </a:srgbClr>
                </a:solidFill>
                <a:latin typeface="Cambria" pitchFamily="34" charset="0"/>
                <a:ea typeface="Cambria" pitchFamily="34" charset="-122"/>
                <a:cs typeface="Cambria" pitchFamily="34" charset="-120"/>
              </a:rPr>
              <a:t>?</a:t>
            </a:r>
            <a:endParaRPr lang="en-US" sz="6000" dirty="0"/>
          </a:p>
        </p:txBody>
      </p:sp>
      <p:sp>
        <p:nvSpPr>
          <p:cNvPr id="18" name="Text 15"/>
          <p:cNvSpPr/>
          <p:nvPr/>
        </p:nvSpPr>
        <p:spPr>
          <a:xfrm>
            <a:off x="6217920" y="2743200"/>
            <a:ext cx="2377440" cy="457200"/>
          </a:xfrm>
          <a:prstGeom prst="rect">
            <a:avLst/>
          </a:prstGeom>
          <a:noFill/>
          <a:ln/>
        </p:spPr>
        <p:txBody>
          <a:bodyPr wrap="square" lIns="0" tIns="0" rIns="0" bIns="0"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Why it MATTERS</a:t>
            </a:r>
            <a:endParaRPr lang="en-US" sz="1100" dirty="0"/>
          </a:p>
        </p:txBody>
      </p:sp>
      <p:sp>
        <p:nvSpPr>
          <p:cNvPr id="19" name="Shape 16"/>
          <p:cNvSpPr/>
          <p:nvPr/>
        </p:nvSpPr>
        <p:spPr>
          <a:xfrm>
            <a:off x="365760" y="3520440"/>
            <a:ext cx="8412480" cy="1005840"/>
          </a:xfrm>
          <a:prstGeom prst="roundRect">
            <a:avLst>
              <a:gd name="adj" fmla="val 10909"/>
            </a:avLst>
          </a:prstGeom>
          <a:solidFill>
            <a:srgbClr val="FFF3DC"/>
          </a:solidFill>
          <a:ln w="19050">
            <a:solidFill>
              <a:srgbClr val="F5E6C8"/>
            </a:solidFill>
            <a:prstDash val="solid"/>
          </a:ln>
        </p:spPr>
      </p:sp>
      <p:sp>
        <p:nvSpPr>
          <p:cNvPr id="20" name="Text 17"/>
          <p:cNvSpPr/>
          <p:nvPr/>
        </p:nvSpPr>
        <p:spPr>
          <a:xfrm>
            <a:off x="502920" y="35753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1" name="Text 18"/>
          <p:cNvSpPr/>
          <p:nvPr/>
        </p:nvSpPr>
        <p:spPr>
          <a:xfrm>
            <a:off x="502920" y="3776472"/>
            <a:ext cx="8138160" cy="6858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three parts are... and... and..."</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one I find hardest to remember is... because..."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SOURCE STUDY  ·  GUIDED PRACTICE</a:t>
            </a:r>
            <a:endParaRPr lang="en-US" sz="1100" dirty="0"/>
          </a:p>
        </p:txBody>
      </p:sp>
      <p:sp>
        <p:nvSpPr>
          <p:cNvPr id="5" name="Text 2"/>
          <p:cNvSpPr/>
          <p:nvPr/>
        </p:nvSpPr>
        <p:spPr>
          <a:xfrm>
            <a:off x="457200" y="594360"/>
            <a:ext cx="5029200" cy="457200"/>
          </a:xfrm>
          <a:prstGeom prst="rect">
            <a:avLst/>
          </a:prstGeom>
          <a:noFill/>
          <a:ln/>
        </p:spPr>
        <p:txBody>
          <a:bodyPr wrap="square" lIns="0" tIns="0" rIns="0" bIns="0" rtlCol="0" anchor="ctr"/>
          <a:lstStyle/>
          <a:p>
            <a:pPr algn="l" indent="0" marL="0">
              <a:buNone/>
            </a:pPr>
            <a:r>
              <a:rPr lang="en-US" sz="3000" b="1" dirty="0">
                <a:solidFill>
                  <a:srgbClr val="0E1C42"/>
                </a:solidFill>
                <a:latin typeface="Cambria" pitchFamily="34" charset="0"/>
                <a:ea typeface="Cambria" pitchFamily="34" charset="-122"/>
                <a:cs typeface="Cambria" pitchFamily="34" charset="-120"/>
              </a:rPr>
              <a:t>Study This Source</a:t>
            </a:r>
            <a:endParaRPr lang="en-US" sz="3000" dirty="0"/>
          </a:p>
        </p:txBody>
      </p:sp>
      <p:sp>
        <p:nvSpPr>
          <p:cNvPr id="6" name="Shape 3"/>
          <p:cNvSpPr/>
          <p:nvPr/>
        </p:nvSpPr>
        <p:spPr>
          <a:xfrm>
            <a:off x="365760" y="1097280"/>
            <a:ext cx="5029200" cy="2880360"/>
          </a:xfrm>
          <a:prstGeom prst="roundRect">
            <a:avLst>
              <a:gd name="adj" fmla="val 3810"/>
            </a:avLst>
          </a:prstGeom>
          <a:solidFill>
            <a:srgbClr val="E2E8F4"/>
          </a:solidFill>
          <a:ln w="19050">
            <a:solidFill>
              <a:srgbClr val="B0B8CC"/>
            </a:solidFill>
            <a:prstDash val="dash"/>
          </a:ln>
        </p:spPr>
      </p:sp>
      <p:sp>
        <p:nvSpPr>
          <p:cNvPr id="7" name="Text 4"/>
          <p:cNvSpPr/>
          <p:nvPr/>
        </p:nvSpPr>
        <p:spPr>
          <a:xfrm>
            <a:off x="365760" y="1097280"/>
            <a:ext cx="50292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5"/>
          <p:cNvSpPr/>
          <p:nvPr/>
        </p:nvSpPr>
        <p:spPr>
          <a:xfrm>
            <a:off x="502920" y="1371600"/>
            <a:ext cx="4754880" cy="25146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Historical photograph — early 1900s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(one-room schoolhouse, town square,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or market scene with clear details)</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File: source-3-01-06-guided-practice.png</a:t>
            </a:r>
            <a:endParaRPr lang="en-US" sz="1100" dirty="0"/>
          </a:p>
        </p:txBody>
      </p:sp>
      <p:sp>
        <p:nvSpPr>
          <p:cNvPr id="9" name="Shape 6"/>
          <p:cNvSpPr/>
          <p:nvPr/>
        </p:nvSpPr>
        <p:spPr>
          <a:xfrm>
            <a:off x="5669280" y="1097280"/>
            <a:ext cx="3108960" cy="1005840"/>
          </a:xfrm>
          <a:prstGeom prst="roundRect">
            <a:avLst>
              <a:gd name="adj" fmla="val 9091"/>
            </a:avLst>
          </a:prstGeom>
          <a:solidFill>
            <a:srgbClr val="F0F2F8"/>
          </a:solidFill>
          <a:ln w="19050">
            <a:solidFill>
              <a:srgbClr val="1A8A7D"/>
            </a:solidFill>
            <a:prstDash val="solid"/>
          </a:ln>
        </p:spPr>
      </p:sp>
      <p:sp>
        <p:nvSpPr>
          <p:cNvPr id="10" name="Text 7"/>
          <p:cNvSpPr/>
          <p:nvPr/>
        </p:nvSpPr>
        <p:spPr>
          <a:xfrm>
            <a:off x="5669280" y="1143000"/>
            <a:ext cx="3108960" cy="228600"/>
          </a:xfrm>
          <a:prstGeom prst="rect">
            <a:avLst/>
          </a:prstGeom>
          <a:noFill/>
          <a:ln/>
        </p:spPr>
        <p:txBody>
          <a:bodyPr wrap="square" lIns="0" tIns="0" rIns="0" bIns="0" rtlCol="0" anchor="ctr"/>
          <a:lstStyle/>
          <a:p>
            <a:pPr algn="ctr" indent="0" marL="0">
              <a:buNone/>
            </a:pPr>
            <a:r>
              <a:rPr lang="en-US" sz="800" b="1" spc="150" kern="0" dirty="0">
                <a:solidFill>
                  <a:srgbClr val="1A8A7D"/>
                </a:solidFill>
                <a:latin typeface="Calibri" pitchFamily="34" charset="0"/>
                <a:ea typeface="Calibri" pitchFamily="34" charset="-122"/>
                <a:cs typeface="Calibri" pitchFamily="34" charset="-120"/>
              </a:rPr>
              <a:t>SOURCE INFORMATION</a:t>
            </a:r>
            <a:endParaRPr lang="en-US" sz="800" dirty="0"/>
          </a:p>
        </p:txBody>
      </p:sp>
      <p:sp>
        <p:nvSpPr>
          <p:cNvPr id="11" name="Text 8"/>
          <p:cNvSpPr/>
          <p:nvPr/>
        </p:nvSpPr>
        <p:spPr>
          <a:xfrm>
            <a:off x="5760720" y="1371600"/>
            <a:ext cx="2926080" cy="594360"/>
          </a:xfrm>
          <a:prstGeom prst="rect">
            <a:avLst/>
          </a:prstGeom>
          <a:noFill/>
          <a:ln/>
        </p:spPr>
        <p:txBody>
          <a:bodyPr wrap="square" lIns="0" tIns="0" rIns="0" bIns="0" rtlCol="0" anchor="ctr"/>
          <a:lstStyle/>
          <a:p>
            <a:pPr algn="ctr" indent="0" marL="0">
              <a:buNone/>
            </a:pPr>
            <a:r>
              <a:rPr lang="en-US" sz="1100" dirty="0">
                <a:solidFill>
                  <a:srgbClr val="0E1C42"/>
                </a:solidFill>
                <a:latin typeface="Calibri" pitchFamily="34" charset="0"/>
                <a:ea typeface="Calibri" pitchFamily="34" charset="-122"/>
                <a:cs typeface="Calibri" pitchFamily="34" charset="-120"/>
              </a:rPr>
              <a:t>Primary Source · Historical Photograph</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Early 1900s · United States</a:t>
            </a:r>
            <a:endParaRPr lang="en-US" sz="1100" dirty="0"/>
          </a:p>
        </p:txBody>
      </p:sp>
      <p:sp>
        <p:nvSpPr>
          <p:cNvPr id="12" name="Text 9"/>
          <p:cNvSpPr/>
          <p:nvPr/>
        </p:nvSpPr>
        <p:spPr>
          <a:xfrm>
            <a:off x="5669280" y="2240280"/>
            <a:ext cx="3108960" cy="256032"/>
          </a:xfrm>
          <a:prstGeom prst="rect">
            <a:avLst/>
          </a:prstGeom>
          <a:noFill/>
          <a:ln/>
        </p:spPr>
        <p:txBody>
          <a:bodyPr wrap="square" lIns="0" tIns="0" rIns="0" bIns="0" rtlCol="0" anchor="ctr"/>
          <a:lstStyle/>
          <a:p>
            <a:pPr algn="l" indent="0" marL="0">
              <a:buNone/>
            </a:pPr>
            <a:r>
              <a:rPr lang="en-US" sz="1100" b="1" dirty="0">
                <a:solidFill>
                  <a:srgbClr val="0E1C42"/>
                </a:solidFill>
                <a:latin typeface="Calibri" pitchFamily="34" charset="0"/>
                <a:ea typeface="Calibri" pitchFamily="34" charset="-122"/>
                <a:cs typeface="Calibri" pitchFamily="34" charset="-120"/>
              </a:rPr>
              <a:t>First 5 Seconds:</a:t>
            </a:r>
            <a:endParaRPr lang="en-US" sz="1100" dirty="0"/>
          </a:p>
        </p:txBody>
      </p:sp>
      <p:sp>
        <p:nvSpPr>
          <p:cNvPr id="13" name="Text 10"/>
          <p:cNvSpPr/>
          <p:nvPr/>
        </p:nvSpPr>
        <p:spPr>
          <a:xfrm>
            <a:off x="5669280" y="2496312"/>
            <a:ext cx="3108960" cy="502920"/>
          </a:xfrm>
          <a:prstGeom prst="rect">
            <a:avLst/>
          </a:prstGeom>
          <a:noFill/>
          <a:ln/>
        </p:spPr>
        <p:txBody>
          <a:bodyPr wrap="square" lIns="0" tIns="0" rIns="0" bIns="0" rtlCol="0" anchor="t"/>
          <a:lstStyle/>
          <a:p>
            <a:pPr algn="l" indent="0" marL="0">
              <a:buNone/>
            </a:pPr>
            <a:r>
              <a:rPr lang="en-US" sz="1200" i="1" dirty="0">
                <a:solidFill>
                  <a:srgbClr val="0E1C42"/>
                </a:solidFill>
                <a:latin typeface="Cambria" pitchFamily="34" charset="0"/>
                <a:ea typeface="Cambria" pitchFamily="34" charset="-122"/>
                <a:cs typeface="Cambria" pitchFamily="34" charset="-120"/>
              </a:rPr>
              <a:t>Private looking. No talking.</a:t>
            </a:r>
            <a:endParaRPr lang="en-US" sz="1200" dirty="0"/>
          </a:p>
          <a:p>
            <a:pPr algn="l" indent="0" marL="0">
              <a:buNone/>
            </a:pPr>
            <a:r>
              <a:rPr lang="en-US" sz="1200" i="1" dirty="0">
                <a:solidFill>
                  <a:srgbClr val="0E1C42"/>
                </a:solidFill>
                <a:latin typeface="Cambria" pitchFamily="34" charset="0"/>
                <a:ea typeface="Cambria" pitchFamily="34" charset="-122"/>
                <a:cs typeface="Cambria" pitchFamily="34" charset="-120"/>
              </a:rPr>
              <a:t>What is the first thing your eyes see?</a:t>
            </a:r>
            <a:endParaRPr lang="en-US" sz="1200" dirty="0"/>
          </a:p>
        </p:txBody>
      </p:sp>
      <p:sp>
        <p:nvSpPr>
          <p:cNvPr id="14" name="Shape 11"/>
          <p:cNvSpPr/>
          <p:nvPr/>
        </p:nvSpPr>
        <p:spPr>
          <a:xfrm>
            <a:off x="5669280" y="3090672"/>
            <a:ext cx="3108960" cy="960120"/>
          </a:xfrm>
          <a:prstGeom prst="roundRect">
            <a:avLst>
              <a:gd name="adj" fmla="val 11429"/>
            </a:avLst>
          </a:prstGeom>
          <a:solidFill>
            <a:srgbClr val="FFF3DC"/>
          </a:solidFill>
          <a:ln w="19050">
            <a:solidFill>
              <a:srgbClr val="F5E6C8"/>
            </a:solidFill>
            <a:prstDash val="solid"/>
          </a:ln>
        </p:spPr>
      </p:sp>
      <p:sp>
        <p:nvSpPr>
          <p:cNvPr id="15" name="Text 12"/>
          <p:cNvSpPr/>
          <p:nvPr/>
        </p:nvSpPr>
        <p:spPr>
          <a:xfrm>
            <a:off x="5806440" y="3145536"/>
            <a:ext cx="283464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6" name="Text 13"/>
          <p:cNvSpPr/>
          <p:nvPr/>
        </p:nvSpPr>
        <p:spPr>
          <a:xfrm>
            <a:off x="5806440" y="3346704"/>
            <a:ext cx="2834640" cy="64008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first thing I notice is..."</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can see... in this source."</a:t>
            </a:r>
            <a:endParaRPr lang="en-US" sz="1200" dirty="0"/>
          </a:p>
        </p:txBody>
      </p:sp>
      <p:sp>
        <p:nvSpPr>
          <p:cNvPr id="17" name="Shape 14"/>
          <p:cNvSpPr/>
          <p:nvPr/>
        </p:nvSpPr>
        <p:spPr>
          <a:xfrm>
            <a:off x="365760" y="4069080"/>
            <a:ext cx="5029200" cy="804672"/>
          </a:xfrm>
          <a:prstGeom prst="roundRect">
            <a:avLst>
              <a:gd name="adj" fmla="val 11364"/>
            </a:avLst>
          </a:prstGeom>
          <a:solidFill>
            <a:srgbClr val="0E1C42"/>
          </a:solidFill>
          <a:ln/>
        </p:spPr>
      </p:sp>
      <p:sp>
        <p:nvSpPr>
          <p:cNvPr id="18" name="Text 15"/>
          <p:cNvSpPr/>
          <p:nvPr/>
        </p:nvSpPr>
        <p:spPr>
          <a:xfrm>
            <a:off x="457200" y="4160520"/>
            <a:ext cx="4846320" cy="621792"/>
          </a:xfrm>
          <a:prstGeom prst="rect">
            <a:avLst/>
          </a:prstGeom>
          <a:noFill/>
          <a:ln/>
        </p:spPr>
        <p:txBody>
          <a:bodyPr wrap="square" lIns="0" tIns="0" rIns="0" bIns="0" rtlCol="0" anchor="ctr"/>
          <a:lstStyle/>
          <a:p>
            <a:pPr algn="ctr" indent="0" marL="0">
              <a:buNone/>
            </a:pPr>
            <a:r>
              <a:rPr lang="en-US" sz="1300" b="1" i="1" dirty="0">
                <a:solidFill>
                  <a:srgbClr val="D4943A"/>
                </a:solidFill>
                <a:latin typeface="Cambria" pitchFamily="34" charset="0"/>
                <a:ea typeface="Cambria" pitchFamily="34" charset="-122"/>
                <a:cs typeface="Cambria" pitchFamily="34" charset="-120"/>
              </a:rPr>
              <a:t>Remember: Observe first. Then ask. Then check. Then write.</a:t>
            </a:r>
            <a:endParaRPr lang="en-US" sz="13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GUIDED PRACTICE  ·  FIVE QUESTION TYPES</a:t>
            </a:r>
            <a:endParaRPr lang="en-US" sz="1100" dirty="0"/>
          </a:p>
        </p:txBody>
      </p:sp>
      <p:sp>
        <p:nvSpPr>
          <p:cNvPr id="5" name="Text 2"/>
          <p:cNvSpPr/>
          <p:nvPr/>
        </p:nvSpPr>
        <p:spPr>
          <a:xfrm>
            <a:off x="457200" y="594360"/>
            <a:ext cx="8229600" cy="411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Apply All Five Question Types</a:t>
            </a:r>
            <a:endParaRPr lang="en-US" sz="2800" dirty="0"/>
          </a:p>
        </p:txBody>
      </p:sp>
      <p:sp>
        <p:nvSpPr>
          <p:cNvPr id="6" name="Shape 3"/>
          <p:cNvSpPr/>
          <p:nvPr/>
        </p:nvSpPr>
        <p:spPr>
          <a:xfrm>
            <a:off x="365760" y="1078992"/>
            <a:ext cx="8412480" cy="658368"/>
          </a:xfrm>
          <a:prstGeom prst="roundRect">
            <a:avLst>
              <a:gd name="adj" fmla="val 12500"/>
            </a:avLst>
          </a:prstGeom>
          <a:solidFill>
            <a:srgbClr val="F0F2F8"/>
          </a:solidFill>
          <a:ln w="19050">
            <a:solidFill>
              <a:srgbClr val="1A8A7D"/>
            </a:solidFill>
            <a:prstDash val="solid"/>
          </a:ln>
        </p:spPr>
      </p:sp>
      <p:sp>
        <p:nvSpPr>
          <p:cNvPr id="7" name="Shape 4"/>
          <p:cNvSpPr/>
          <p:nvPr/>
        </p:nvSpPr>
        <p:spPr>
          <a:xfrm>
            <a:off x="365760" y="1078992"/>
            <a:ext cx="1508760" cy="658368"/>
          </a:xfrm>
          <a:prstGeom prst="roundRect">
            <a:avLst>
              <a:gd name="adj" fmla="val 12500"/>
            </a:avLst>
          </a:prstGeom>
          <a:solidFill>
            <a:srgbClr val="1A8A7D"/>
          </a:solidFill>
          <a:ln/>
        </p:spPr>
      </p:sp>
      <p:sp>
        <p:nvSpPr>
          <p:cNvPr id="8" name="Text 5"/>
          <p:cNvSpPr/>
          <p:nvPr/>
        </p:nvSpPr>
        <p:spPr>
          <a:xfrm>
            <a:off x="365760" y="1078992"/>
            <a:ext cx="150876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Observation</a:t>
            </a:r>
            <a:endParaRPr lang="en-US" sz="1100" dirty="0"/>
          </a:p>
        </p:txBody>
      </p:sp>
      <p:sp>
        <p:nvSpPr>
          <p:cNvPr id="9" name="Text 6"/>
          <p:cNvSpPr/>
          <p:nvPr/>
        </p:nvSpPr>
        <p:spPr>
          <a:xfrm>
            <a:off x="2011680" y="1133856"/>
            <a:ext cx="6675120" cy="54864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What specific details do you see? Name objects, people, tools, clothing, or places.</a:t>
            </a:r>
            <a:endParaRPr lang="en-US" sz="1200" dirty="0"/>
          </a:p>
        </p:txBody>
      </p:sp>
      <p:sp>
        <p:nvSpPr>
          <p:cNvPr id="10" name="Shape 7"/>
          <p:cNvSpPr/>
          <p:nvPr/>
        </p:nvSpPr>
        <p:spPr>
          <a:xfrm>
            <a:off x="365760" y="1828800"/>
            <a:ext cx="8412480" cy="658368"/>
          </a:xfrm>
          <a:prstGeom prst="roundRect">
            <a:avLst>
              <a:gd name="adj" fmla="val 12500"/>
            </a:avLst>
          </a:prstGeom>
          <a:solidFill>
            <a:srgbClr val="F0F2F8"/>
          </a:solidFill>
          <a:ln w="19050">
            <a:solidFill>
              <a:srgbClr val="D4943A"/>
            </a:solidFill>
            <a:prstDash val="solid"/>
          </a:ln>
        </p:spPr>
      </p:sp>
      <p:sp>
        <p:nvSpPr>
          <p:cNvPr id="11" name="Shape 8"/>
          <p:cNvSpPr/>
          <p:nvPr/>
        </p:nvSpPr>
        <p:spPr>
          <a:xfrm>
            <a:off x="365760" y="1828800"/>
            <a:ext cx="1508760" cy="658368"/>
          </a:xfrm>
          <a:prstGeom prst="roundRect">
            <a:avLst>
              <a:gd name="adj" fmla="val 12500"/>
            </a:avLst>
          </a:prstGeom>
          <a:solidFill>
            <a:srgbClr val="D4943A"/>
          </a:solidFill>
          <a:ln/>
        </p:spPr>
      </p:sp>
      <p:sp>
        <p:nvSpPr>
          <p:cNvPr id="12" name="Text 9"/>
          <p:cNvSpPr/>
          <p:nvPr/>
        </p:nvSpPr>
        <p:spPr>
          <a:xfrm>
            <a:off x="365760" y="1828800"/>
            <a:ext cx="150876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Context</a:t>
            </a:r>
            <a:endParaRPr lang="en-US" sz="1100" dirty="0"/>
          </a:p>
        </p:txBody>
      </p:sp>
      <p:sp>
        <p:nvSpPr>
          <p:cNvPr id="13" name="Text 10"/>
          <p:cNvSpPr/>
          <p:nvPr/>
        </p:nvSpPr>
        <p:spPr>
          <a:xfrm>
            <a:off x="2011680" y="1883664"/>
            <a:ext cx="6675120" cy="54864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When was this source created? What clues in the image tell you about the time period?</a:t>
            </a:r>
            <a:endParaRPr lang="en-US" sz="1200" dirty="0"/>
          </a:p>
        </p:txBody>
      </p:sp>
      <p:sp>
        <p:nvSpPr>
          <p:cNvPr id="14" name="Shape 11"/>
          <p:cNvSpPr/>
          <p:nvPr/>
        </p:nvSpPr>
        <p:spPr>
          <a:xfrm>
            <a:off x="365760" y="2578608"/>
            <a:ext cx="8412480" cy="658368"/>
          </a:xfrm>
          <a:prstGeom prst="roundRect">
            <a:avLst>
              <a:gd name="adj" fmla="val 12500"/>
            </a:avLst>
          </a:prstGeom>
          <a:solidFill>
            <a:srgbClr val="F0F2F8"/>
          </a:solidFill>
          <a:ln w="19050">
            <a:solidFill>
              <a:srgbClr val="55C8E8"/>
            </a:solidFill>
            <a:prstDash val="solid"/>
          </a:ln>
        </p:spPr>
      </p:sp>
      <p:sp>
        <p:nvSpPr>
          <p:cNvPr id="15" name="Shape 12"/>
          <p:cNvSpPr/>
          <p:nvPr/>
        </p:nvSpPr>
        <p:spPr>
          <a:xfrm>
            <a:off x="365760" y="2578608"/>
            <a:ext cx="1508760" cy="658368"/>
          </a:xfrm>
          <a:prstGeom prst="roundRect">
            <a:avLst>
              <a:gd name="adj" fmla="val 12500"/>
            </a:avLst>
          </a:prstGeom>
          <a:solidFill>
            <a:srgbClr val="55C8E8"/>
          </a:solidFill>
          <a:ln/>
        </p:spPr>
      </p:sp>
      <p:sp>
        <p:nvSpPr>
          <p:cNvPr id="16" name="Text 13"/>
          <p:cNvSpPr/>
          <p:nvPr/>
        </p:nvSpPr>
        <p:spPr>
          <a:xfrm>
            <a:off x="365760" y="2578608"/>
            <a:ext cx="150876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Evidence</a:t>
            </a:r>
            <a:endParaRPr lang="en-US" sz="1100" dirty="0"/>
          </a:p>
        </p:txBody>
      </p:sp>
      <p:sp>
        <p:nvSpPr>
          <p:cNvPr id="17" name="Text 14"/>
          <p:cNvSpPr/>
          <p:nvPr/>
        </p:nvSpPr>
        <p:spPr>
          <a:xfrm>
            <a:off x="2011680" y="2633472"/>
            <a:ext cx="6675120" cy="54864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What does this source prove? What can it NOT tell us?</a:t>
            </a:r>
            <a:endParaRPr lang="en-US" sz="1200" dirty="0"/>
          </a:p>
        </p:txBody>
      </p:sp>
      <p:sp>
        <p:nvSpPr>
          <p:cNvPr id="18" name="Shape 15"/>
          <p:cNvSpPr/>
          <p:nvPr/>
        </p:nvSpPr>
        <p:spPr>
          <a:xfrm>
            <a:off x="365760" y="3328416"/>
            <a:ext cx="8412480" cy="658368"/>
          </a:xfrm>
          <a:prstGeom prst="roundRect">
            <a:avLst>
              <a:gd name="adj" fmla="val 12500"/>
            </a:avLst>
          </a:prstGeom>
          <a:solidFill>
            <a:srgbClr val="F0F2F8"/>
          </a:solidFill>
          <a:ln w="19050">
            <a:solidFill>
              <a:srgbClr val="8B6FC0"/>
            </a:solidFill>
            <a:prstDash val="solid"/>
          </a:ln>
        </p:spPr>
      </p:sp>
      <p:sp>
        <p:nvSpPr>
          <p:cNvPr id="19" name="Shape 16"/>
          <p:cNvSpPr/>
          <p:nvPr/>
        </p:nvSpPr>
        <p:spPr>
          <a:xfrm>
            <a:off x="365760" y="3328416"/>
            <a:ext cx="1508760" cy="658368"/>
          </a:xfrm>
          <a:prstGeom prst="roundRect">
            <a:avLst>
              <a:gd name="adj" fmla="val 12500"/>
            </a:avLst>
          </a:prstGeom>
          <a:solidFill>
            <a:srgbClr val="8B6FC0"/>
          </a:solidFill>
          <a:ln/>
        </p:spPr>
      </p:sp>
      <p:sp>
        <p:nvSpPr>
          <p:cNvPr id="20" name="Text 17"/>
          <p:cNvSpPr/>
          <p:nvPr/>
        </p:nvSpPr>
        <p:spPr>
          <a:xfrm>
            <a:off x="365760" y="3328416"/>
            <a:ext cx="150876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Connection</a:t>
            </a:r>
            <a:endParaRPr lang="en-US" sz="1100" dirty="0"/>
          </a:p>
        </p:txBody>
      </p:sp>
      <p:sp>
        <p:nvSpPr>
          <p:cNvPr id="21" name="Text 18"/>
          <p:cNvSpPr/>
          <p:nvPr/>
        </p:nvSpPr>
        <p:spPr>
          <a:xfrm>
            <a:off x="2011680" y="3383280"/>
            <a:ext cx="6675120" cy="54864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How does this connect to your own life? What has changed since this was made?</a:t>
            </a:r>
            <a:endParaRPr lang="en-US" sz="1200" dirty="0"/>
          </a:p>
        </p:txBody>
      </p:sp>
      <p:sp>
        <p:nvSpPr>
          <p:cNvPr id="22" name="Shape 19"/>
          <p:cNvSpPr/>
          <p:nvPr/>
        </p:nvSpPr>
        <p:spPr>
          <a:xfrm>
            <a:off x="365760" y="4078224"/>
            <a:ext cx="8412480" cy="658368"/>
          </a:xfrm>
          <a:prstGeom prst="roundRect">
            <a:avLst>
              <a:gd name="adj" fmla="val 12500"/>
            </a:avLst>
          </a:prstGeom>
          <a:solidFill>
            <a:srgbClr val="F0F2F8"/>
          </a:solidFill>
          <a:ln w="19050">
            <a:solidFill>
              <a:srgbClr val="34B76F"/>
            </a:solidFill>
            <a:prstDash val="solid"/>
          </a:ln>
        </p:spPr>
      </p:sp>
      <p:sp>
        <p:nvSpPr>
          <p:cNvPr id="23" name="Shape 20"/>
          <p:cNvSpPr/>
          <p:nvPr/>
        </p:nvSpPr>
        <p:spPr>
          <a:xfrm>
            <a:off x="365760" y="4078224"/>
            <a:ext cx="1508760" cy="658368"/>
          </a:xfrm>
          <a:prstGeom prst="roundRect">
            <a:avLst>
              <a:gd name="adj" fmla="val 12500"/>
            </a:avLst>
          </a:prstGeom>
          <a:solidFill>
            <a:srgbClr val="34B76F"/>
          </a:solidFill>
          <a:ln/>
        </p:spPr>
      </p:sp>
      <p:sp>
        <p:nvSpPr>
          <p:cNvPr id="24" name="Text 21"/>
          <p:cNvSpPr/>
          <p:nvPr/>
        </p:nvSpPr>
        <p:spPr>
          <a:xfrm>
            <a:off x="365760" y="4078224"/>
            <a:ext cx="1508760" cy="65836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Significance</a:t>
            </a:r>
            <a:endParaRPr lang="en-US" sz="1100" dirty="0"/>
          </a:p>
        </p:txBody>
      </p:sp>
      <p:sp>
        <p:nvSpPr>
          <p:cNvPr id="25" name="Text 22"/>
          <p:cNvSpPr/>
          <p:nvPr/>
        </p:nvSpPr>
        <p:spPr>
          <a:xfrm>
            <a:off x="2011680" y="4133088"/>
            <a:ext cx="6675120" cy="54864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Why is this source worth putting in a museum? What would historians lose without it?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THREE-CHECK TEST  ·  RELIABILITY</a:t>
            </a:r>
            <a:endParaRPr lang="en-US" sz="1100" dirty="0"/>
          </a:p>
        </p:txBody>
      </p:sp>
      <p:sp>
        <p:nvSpPr>
          <p:cNvPr id="5" name="Text 2"/>
          <p:cNvSpPr/>
          <p:nvPr/>
        </p:nvSpPr>
        <p:spPr>
          <a:xfrm>
            <a:off x="457200" y="594360"/>
            <a:ext cx="8229600" cy="438912"/>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Check the Source's Reliability</a:t>
            </a:r>
            <a:endParaRPr lang="en-US" sz="2800" dirty="0"/>
          </a:p>
        </p:txBody>
      </p:sp>
      <p:sp>
        <p:nvSpPr>
          <p:cNvPr id="6" name="Text 3"/>
          <p:cNvSpPr/>
          <p:nvPr/>
        </p:nvSpPr>
        <p:spPr>
          <a:xfrm>
            <a:off x="457200" y="1033272"/>
            <a:ext cx="8229600" cy="274320"/>
          </a:xfrm>
          <a:prstGeom prst="rect">
            <a:avLst/>
          </a:prstGeom>
          <a:noFill/>
          <a:ln/>
        </p:spPr>
        <p:txBody>
          <a:bodyPr wrap="square" lIns="0" tIns="0" rIns="0" bIns="0" rtlCol="0" anchor="ctr"/>
          <a:lstStyle/>
          <a:p>
            <a:pPr algn="l" indent="0" marL="0">
              <a:buNone/>
            </a:pPr>
            <a:r>
              <a:rPr lang="en-US" sz="1400" i="1" dirty="0">
                <a:solidFill>
                  <a:srgbClr val="7A88A8"/>
                </a:solidFill>
                <a:latin typeface="Calibri" pitchFamily="34" charset="0"/>
                <a:ea typeface="Calibri" pitchFamily="34" charset="-122"/>
                <a:cs typeface="Calibri" pitchFamily="34" charset="-120"/>
              </a:rPr>
              <a:t>Apply the Three-Check Test to our guided practice source.</a:t>
            </a:r>
            <a:endParaRPr lang="en-US" sz="1400" dirty="0"/>
          </a:p>
        </p:txBody>
      </p:sp>
      <p:sp>
        <p:nvSpPr>
          <p:cNvPr id="7" name="Shape 4"/>
          <p:cNvSpPr/>
          <p:nvPr/>
        </p:nvSpPr>
        <p:spPr>
          <a:xfrm>
            <a:off x="365760" y="1417320"/>
            <a:ext cx="2651760" cy="2103120"/>
          </a:xfrm>
          <a:prstGeom prst="roundRect">
            <a:avLst>
              <a:gd name="adj" fmla="val 5217"/>
            </a:avLst>
          </a:prstGeom>
          <a:solidFill>
            <a:srgbClr val="F0F2F8"/>
          </a:solidFill>
          <a:ln w="25400">
            <a:solidFill>
              <a:srgbClr val="1A8A7D"/>
            </a:solidFill>
            <a:prstDash val="solid"/>
          </a:ln>
        </p:spPr>
      </p:sp>
      <p:sp>
        <p:nvSpPr>
          <p:cNvPr id="8" name="Shape 5"/>
          <p:cNvSpPr/>
          <p:nvPr/>
        </p:nvSpPr>
        <p:spPr>
          <a:xfrm>
            <a:off x="1371600" y="1481328"/>
            <a:ext cx="640080" cy="640080"/>
          </a:xfrm>
          <a:prstGeom prst="ellipse">
            <a:avLst/>
          </a:prstGeom>
          <a:solidFill>
            <a:srgbClr val="1A8A7D"/>
          </a:solidFill>
          <a:ln/>
        </p:spPr>
      </p:sp>
      <p:sp>
        <p:nvSpPr>
          <p:cNvPr id="9" name="Text 6"/>
          <p:cNvSpPr/>
          <p:nvPr/>
        </p:nvSpPr>
        <p:spPr>
          <a:xfrm>
            <a:off x="1371600" y="148132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10" name="Text 7"/>
          <p:cNvSpPr/>
          <p:nvPr/>
        </p:nvSpPr>
        <p:spPr>
          <a:xfrm>
            <a:off x="457200" y="2194560"/>
            <a:ext cx="2468880" cy="347472"/>
          </a:xfrm>
          <a:prstGeom prst="rect">
            <a:avLst/>
          </a:prstGeom>
          <a:noFill/>
          <a:ln/>
        </p:spPr>
        <p:txBody>
          <a:bodyPr wrap="square" lIns="0" tIns="0" rIns="0" bIns="0" rtlCol="0" anchor="ctr"/>
          <a:lstStyle/>
          <a:p>
            <a:pPr algn="ctr" indent="0" marL="0">
              <a:buNone/>
            </a:pPr>
            <a:r>
              <a:rPr lang="en-US" sz="2000" b="1" dirty="0">
                <a:solidFill>
                  <a:srgbClr val="1A8A7D"/>
                </a:solidFill>
                <a:latin typeface="Cambria" pitchFamily="34" charset="0"/>
                <a:ea typeface="Cambria" pitchFamily="34" charset="-122"/>
                <a:cs typeface="Cambria" pitchFamily="34" charset="-120"/>
              </a:rPr>
              <a:t>WHO?</a:t>
            </a:r>
            <a:endParaRPr lang="en-US" sz="2000" dirty="0"/>
          </a:p>
        </p:txBody>
      </p:sp>
      <p:sp>
        <p:nvSpPr>
          <p:cNvPr id="11" name="Text 8"/>
          <p:cNvSpPr/>
          <p:nvPr/>
        </p:nvSpPr>
        <p:spPr>
          <a:xfrm>
            <a:off x="502920" y="2560320"/>
            <a:ext cx="2377440" cy="868680"/>
          </a:xfrm>
          <a:prstGeom prst="rect">
            <a:avLst/>
          </a:prstGeom>
          <a:noFill/>
          <a:ln/>
        </p:spPr>
        <p:txBody>
          <a:bodyPr wrap="square" lIns="0" tIns="0" rIns="0" bIns="0" rtlCol="0" anchor="t"/>
          <a:lstStyle/>
          <a:p>
            <a:pPr algn="ctr" indent="0" marL="0">
              <a:buNone/>
            </a:pPr>
            <a:r>
              <a:rPr lang="en-US" sz="1100" dirty="0">
                <a:solidFill>
                  <a:srgbClr val="0E1C42"/>
                </a:solidFill>
                <a:latin typeface="Calibri" pitchFamily="34" charset="0"/>
                <a:ea typeface="Calibri" pitchFamily="34" charset="-122"/>
                <a:cs typeface="Calibri" pitchFamily="34" charset="-120"/>
              </a:rPr>
              <a:t>Who created this source?</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Were they there? Can we trust their perspective?</a:t>
            </a:r>
            <a:endParaRPr lang="en-US" sz="1100" dirty="0"/>
          </a:p>
        </p:txBody>
      </p:sp>
      <p:sp>
        <p:nvSpPr>
          <p:cNvPr id="12" name="Shape 9"/>
          <p:cNvSpPr/>
          <p:nvPr/>
        </p:nvSpPr>
        <p:spPr>
          <a:xfrm>
            <a:off x="3246120" y="1417320"/>
            <a:ext cx="2651760" cy="2103120"/>
          </a:xfrm>
          <a:prstGeom prst="roundRect">
            <a:avLst>
              <a:gd name="adj" fmla="val 5217"/>
            </a:avLst>
          </a:prstGeom>
          <a:solidFill>
            <a:srgbClr val="F0F2F8"/>
          </a:solidFill>
          <a:ln w="25400">
            <a:solidFill>
              <a:srgbClr val="D4943A"/>
            </a:solidFill>
            <a:prstDash val="solid"/>
          </a:ln>
        </p:spPr>
      </p:sp>
      <p:sp>
        <p:nvSpPr>
          <p:cNvPr id="13" name="Shape 10"/>
          <p:cNvSpPr/>
          <p:nvPr/>
        </p:nvSpPr>
        <p:spPr>
          <a:xfrm>
            <a:off x="4251960" y="1481328"/>
            <a:ext cx="640080" cy="640080"/>
          </a:xfrm>
          <a:prstGeom prst="ellipse">
            <a:avLst/>
          </a:prstGeom>
          <a:solidFill>
            <a:srgbClr val="D4943A"/>
          </a:solidFill>
          <a:ln/>
        </p:spPr>
      </p:sp>
      <p:sp>
        <p:nvSpPr>
          <p:cNvPr id="14" name="Text 11"/>
          <p:cNvSpPr/>
          <p:nvPr/>
        </p:nvSpPr>
        <p:spPr>
          <a:xfrm>
            <a:off x="4251960" y="148132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5" name="Text 12"/>
          <p:cNvSpPr/>
          <p:nvPr/>
        </p:nvSpPr>
        <p:spPr>
          <a:xfrm>
            <a:off x="3337560" y="2194560"/>
            <a:ext cx="2468880" cy="347472"/>
          </a:xfrm>
          <a:prstGeom prst="rect">
            <a:avLst/>
          </a:prstGeom>
          <a:noFill/>
          <a:ln/>
        </p:spPr>
        <p:txBody>
          <a:bodyPr wrap="square" lIns="0" tIns="0" rIns="0" bIns="0" rtlCol="0" anchor="ctr"/>
          <a:lstStyle/>
          <a:p>
            <a:pPr algn="ctr" indent="0" marL="0">
              <a:buNone/>
            </a:pPr>
            <a:r>
              <a:rPr lang="en-US" sz="2000" b="1" dirty="0">
                <a:solidFill>
                  <a:srgbClr val="D4943A"/>
                </a:solidFill>
                <a:latin typeface="Cambria" pitchFamily="34" charset="0"/>
                <a:ea typeface="Cambria" pitchFamily="34" charset="-122"/>
                <a:cs typeface="Cambria" pitchFamily="34" charset="-120"/>
              </a:rPr>
              <a:t>WHEN?</a:t>
            </a:r>
            <a:endParaRPr lang="en-US" sz="2000" dirty="0"/>
          </a:p>
        </p:txBody>
      </p:sp>
      <p:sp>
        <p:nvSpPr>
          <p:cNvPr id="16" name="Text 13"/>
          <p:cNvSpPr/>
          <p:nvPr/>
        </p:nvSpPr>
        <p:spPr>
          <a:xfrm>
            <a:off x="3383280" y="2560320"/>
            <a:ext cx="2377440" cy="868680"/>
          </a:xfrm>
          <a:prstGeom prst="rect">
            <a:avLst/>
          </a:prstGeom>
          <a:noFill/>
          <a:ln/>
        </p:spPr>
        <p:txBody>
          <a:bodyPr wrap="square" lIns="0" tIns="0" rIns="0" bIns="0" rtlCol="0" anchor="t"/>
          <a:lstStyle/>
          <a:p>
            <a:pPr algn="ctr" indent="0" marL="0">
              <a:buNone/>
            </a:pPr>
            <a:r>
              <a:rPr lang="en-US" sz="1100" dirty="0">
                <a:solidFill>
                  <a:srgbClr val="0E1C42"/>
                </a:solidFill>
                <a:latin typeface="Calibri" pitchFamily="34" charset="0"/>
                <a:ea typeface="Calibri" pitchFamily="34" charset="-122"/>
                <a:cs typeface="Calibri" pitchFamily="34" charset="-120"/>
              </a:rPr>
              <a:t>When was this source created?</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How close to the event? Does time matter here?</a:t>
            </a:r>
            <a:endParaRPr lang="en-US" sz="1100" dirty="0"/>
          </a:p>
        </p:txBody>
      </p:sp>
      <p:sp>
        <p:nvSpPr>
          <p:cNvPr id="17" name="Shape 14"/>
          <p:cNvSpPr/>
          <p:nvPr/>
        </p:nvSpPr>
        <p:spPr>
          <a:xfrm>
            <a:off x="6126480" y="1417320"/>
            <a:ext cx="2651760" cy="2103120"/>
          </a:xfrm>
          <a:prstGeom prst="roundRect">
            <a:avLst>
              <a:gd name="adj" fmla="val 5217"/>
            </a:avLst>
          </a:prstGeom>
          <a:solidFill>
            <a:srgbClr val="F0F2F8"/>
          </a:solidFill>
          <a:ln w="25400">
            <a:solidFill>
              <a:srgbClr val="8B6FC0"/>
            </a:solidFill>
            <a:prstDash val="solid"/>
          </a:ln>
        </p:spPr>
      </p:sp>
      <p:sp>
        <p:nvSpPr>
          <p:cNvPr id="18" name="Shape 15"/>
          <p:cNvSpPr/>
          <p:nvPr/>
        </p:nvSpPr>
        <p:spPr>
          <a:xfrm>
            <a:off x="7132320" y="1481328"/>
            <a:ext cx="640080" cy="640080"/>
          </a:xfrm>
          <a:prstGeom prst="ellipse">
            <a:avLst/>
          </a:prstGeom>
          <a:solidFill>
            <a:srgbClr val="8B6FC0"/>
          </a:solidFill>
          <a:ln/>
        </p:spPr>
      </p:sp>
      <p:sp>
        <p:nvSpPr>
          <p:cNvPr id="19" name="Text 16"/>
          <p:cNvSpPr/>
          <p:nvPr/>
        </p:nvSpPr>
        <p:spPr>
          <a:xfrm>
            <a:off x="7132320" y="1481328"/>
            <a:ext cx="640080" cy="640080"/>
          </a:xfrm>
          <a:prstGeom prst="rect">
            <a:avLst/>
          </a:prstGeom>
          <a:noFill/>
          <a:ln/>
        </p:spPr>
        <p:txBody>
          <a:bodyPr wrap="square" lIns="0" tIns="0" rIns="0" bIns="0"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20" name="Text 17"/>
          <p:cNvSpPr/>
          <p:nvPr/>
        </p:nvSpPr>
        <p:spPr>
          <a:xfrm>
            <a:off x="6217920" y="2194560"/>
            <a:ext cx="2468880" cy="347472"/>
          </a:xfrm>
          <a:prstGeom prst="rect">
            <a:avLst/>
          </a:prstGeom>
          <a:noFill/>
          <a:ln/>
        </p:spPr>
        <p:txBody>
          <a:bodyPr wrap="square" lIns="0" tIns="0" rIns="0" bIns="0" rtlCol="0" anchor="ctr"/>
          <a:lstStyle/>
          <a:p>
            <a:pPr algn="ctr" indent="0" marL="0">
              <a:buNone/>
            </a:pPr>
            <a:r>
              <a:rPr lang="en-US" sz="2000" b="1" dirty="0">
                <a:solidFill>
                  <a:srgbClr val="8B6FC0"/>
                </a:solidFill>
                <a:latin typeface="Cambria" pitchFamily="34" charset="0"/>
                <a:ea typeface="Cambria" pitchFamily="34" charset="-122"/>
                <a:cs typeface="Cambria" pitchFamily="34" charset="-120"/>
              </a:rPr>
              <a:t>EVIDENCE?</a:t>
            </a:r>
            <a:endParaRPr lang="en-US" sz="2000" dirty="0"/>
          </a:p>
        </p:txBody>
      </p:sp>
      <p:sp>
        <p:nvSpPr>
          <p:cNvPr id="21" name="Text 18"/>
          <p:cNvSpPr/>
          <p:nvPr/>
        </p:nvSpPr>
        <p:spPr>
          <a:xfrm>
            <a:off x="6263640" y="2560320"/>
            <a:ext cx="2377440" cy="868680"/>
          </a:xfrm>
          <a:prstGeom prst="rect">
            <a:avLst/>
          </a:prstGeom>
          <a:noFill/>
          <a:ln/>
        </p:spPr>
        <p:txBody>
          <a:bodyPr wrap="square" lIns="0" tIns="0" rIns="0" bIns="0" rtlCol="0" anchor="t"/>
          <a:lstStyle/>
          <a:p>
            <a:pPr algn="ctr" indent="0" marL="0">
              <a:buNone/>
            </a:pPr>
            <a:r>
              <a:rPr lang="en-US" sz="1100" dirty="0">
                <a:solidFill>
                  <a:srgbClr val="0E1C42"/>
                </a:solidFill>
                <a:latin typeface="Calibri" pitchFamily="34" charset="0"/>
                <a:ea typeface="Calibri" pitchFamily="34" charset="-122"/>
                <a:cs typeface="Calibri" pitchFamily="34" charset="-120"/>
              </a:rPr>
              <a:t>What evidence does the source give?</a:t>
            </a:r>
            <a:endParaRPr lang="en-US" sz="1100" dirty="0"/>
          </a:p>
          <a:p>
            <a:pPr algn="ctr" indent="0" marL="0">
              <a:buNone/>
            </a:pPr>
            <a:r>
              <a:rPr lang="en-US" sz="1100" dirty="0">
                <a:solidFill>
                  <a:srgbClr val="0E1C42"/>
                </a:solidFill>
                <a:latin typeface="Calibri" pitchFamily="34" charset="0"/>
                <a:ea typeface="Calibri" pitchFamily="34" charset="-122"/>
                <a:cs typeface="Calibri" pitchFamily="34" charset="-120"/>
              </a:rPr>
              <a:t>What is missing? What can't it prove?</a:t>
            </a:r>
            <a:endParaRPr lang="en-US" sz="1100" dirty="0"/>
          </a:p>
        </p:txBody>
      </p:sp>
      <p:sp>
        <p:nvSpPr>
          <p:cNvPr id="22" name="Shape 19"/>
          <p:cNvSpPr/>
          <p:nvPr/>
        </p:nvSpPr>
        <p:spPr>
          <a:xfrm>
            <a:off x="365760" y="3657600"/>
            <a:ext cx="5029200" cy="1143000"/>
          </a:xfrm>
          <a:prstGeom prst="roundRect">
            <a:avLst>
              <a:gd name="adj" fmla="val 12000"/>
            </a:avLst>
          </a:prstGeom>
          <a:solidFill>
            <a:srgbClr val="1A2D5A"/>
          </a:solidFill>
          <a:ln/>
          <a:effectLst>
            <a:outerShdw sx="100000" sy="100000" kx="0" ky="0" algn="bl" rotWithShape="0" blurRad="101600" dist="38100" dir="8100000">
              <a:srgbClr val="000000">
                <a:alpha val="20000"/>
              </a:srgbClr>
            </a:outerShdw>
          </a:effectLst>
        </p:spPr>
      </p:sp>
      <p:sp>
        <p:nvSpPr>
          <p:cNvPr id="23" name="Text 20"/>
          <p:cNvSpPr/>
          <p:nvPr/>
        </p:nvSpPr>
        <p:spPr>
          <a:xfrm>
            <a:off x="548640" y="3749040"/>
            <a:ext cx="46634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4" name="Text 21"/>
          <p:cNvSpPr/>
          <p:nvPr/>
        </p:nvSpPr>
        <p:spPr>
          <a:xfrm>
            <a:off x="548640" y="4005072"/>
            <a:ext cx="4663440" cy="7040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Based on the Three Checks — how reliable is this source?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would make you MORE confident? LESS confident?</a:t>
            </a:r>
            <a:endParaRPr lang="en-US" sz="1100" dirty="0"/>
          </a:p>
        </p:txBody>
      </p:sp>
      <p:sp>
        <p:nvSpPr>
          <p:cNvPr id="25" name="Shape 22"/>
          <p:cNvSpPr/>
          <p:nvPr/>
        </p:nvSpPr>
        <p:spPr>
          <a:xfrm>
            <a:off x="5486400" y="3657600"/>
            <a:ext cx="3291840" cy="1143000"/>
          </a:xfrm>
          <a:prstGeom prst="roundRect">
            <a:avLst>
              <a:gd name="adj" fmla="val 9600"/>
            </a:avLst>
          </a:prstGeom>
          <a:solidFill>
            <a:srgbClr val="FFF3DC"/>
          </a:solidFill>
          <a:ln w="19050">
            <a:solidFill>
              <a:srgbClr val="F5E6C8"/>
            </a:solidFill>
            <a:prstDash val="solid"/>
          </a:ln>
        </p:spPr>
      </p:sp>
      <p:sp>
        <p:nvSpPr>
          <p:cNvPr id="26" name="Text 23"/>
          <p:cNvSpPr/>
          <p:nvPr/>
        </p:nvSpPr>
        <p:spPr>
          <a:xfrm>
            <a:off x="5623560" y="3712464"/>
            <a:ext cx="301752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7" name="Text 24"/>
          <p:cNvSpPr/>
          <p:nvPr/>
        </p:nvSpPr>
        <p:spPr>
          <a:xfrm>
            <a:off x="5623560" y="3913632"/>
            <a:ext cx="3017520" cy="8229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"This source is reliable because..."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"One limitation is..."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TEACHER MODEL  ·  THINK-ALOUD</a:t>
            </a:r>
            <a:endParaRPr lang="en-US" sz="1100" dirty="0"/>
          </a:p>
        </p:txBody>
      </p:sp>
      <p:sp>
        <p:nvSpPr>
          <p:cNvPr id="5" name="Text 2"/>
          <p:cNvSpPr/>
          <p:nvPr/>
        </p:nvSpPr>
        <p:spPr>
          <a:xfrm>
            <a:off x="457200" y="594360"/>
            <a:ext cx="8229600" cy="438912"/>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Watch How I Write an Evidence Entry</a:t>
            </a:r>
            <a:endParaRPr lang="en-US" sz="2800" dirty="0"/>
          </a:p>
        </p:txBody>
      </p:sp>
      <p:sp>
        <p:nvSpPr>
          <p:cNvPr id="6" name="Text 3"/>
          <p:cNvSpPr/>
          <p:nvPr/>
        </p:nvSpPr>
        <p:spPr>
          <a:xfrm>
            <a:off x="457200" y="1033272"/>
            <a:ext cx="8229600" cy="274320"/>
          </a:xfrm>
          <a:prstGeom prst="rect">
            <a:avLst/>
          </a:prstGeom>
          <a:noFill/>
          <a:ln/>
        </p:spPr>
        <p:txBody>
          <a:bodyPr wrap="square" lIns="0" tIns="0" rIns="0" bIns="0" rtlCol="0" anchor="ctr"/>
          <a:lstStyle/>
          <a:p>
            <a:pPr algn="l" indent="0" marL="0">
              <a:buNone/>
            </a:pPr>
            <a:r>
              <a:rPr lang="en-US" sz="1400" i="1" dirty="0">
                <a:solidFill>
                  <a:srgbClr val="7A88A8"/>
                </a:solidFill>
                <a:latin typeface="Calibri" pitchFamily="34" charset="0"/>
                <a:ea typeface="Calibri" pitchFamily="34" charset="-122"/>
                <a:cs typeface="Calibri" pitchFamily="34" charset="-120"/>
              </a:rPr>
              <a:t>I'll think aloud through each step. Your job: notice what I do.</a:t>
            </a:r>
            <a:endParaRPr lang="en-US" sz="1400" dirty="0"/>
          </a:p>
        </p:txBody>
      </p:sp>
      <p:sp>
        <p:nvSpPr>
          <p:cNvPr id="7" name="Shape 4"/>
          <p:cNvSpPr/>
          <p:nvPr/>
        </p:nvSpPr>
        <p:spPr>
          <a:xfrm>
            <a:off x="365760" y="1417320"/>
            <a:ext cx="2651760" cy="2468880"/>
          </a:xfrm>
          <a:prstGeom prst="roundRect">
            <a:avLst>
              <a:gd name="adj" fmla="val 4444"/>
            </a:avLst>
          </a:prstGeom>
          <a:solidFill>
            <a:srgbClr val="F0F2F8"/>
          </a:solidFill>
          <a:ln w="25400">
            <a:solidFill>
              <a:srgbClr val="1A8A7D"/>
            </a:solidFill>
            <a:prstDash val="solid"/>
          </a:ln>
        </p:spPr>
      </p:sp>
      <p:sp>
        <p:nvSpPr>
          <p:cNvPr id="8" name="Shape 5"/>
          <p:cNvSpPr/>
          <p:nvPr/>
        </p:nvSpPr>
        <p:spPr>
          <a:xfrm>
            <a:off x="365760" y="1417320"/>
            <a:ext cx="2651760" cy="365760"/>
          </a:xfrm>
          <a:prstGeom prst="roundRect">
            <a:avLst>
              <a:gd name="adj" fmla="val 30000"/>
            </a:avLst>
          </a:prstGeom>
          <a:solidFill>
            <a:srgbClr val="1A8A7D"/>
          </a:solidFill>
          <a:ln/>
        </p:spPr>
      </p:sp>
      <p:sp>
        <p:nvSpPr>
          <p:cNvPr id="9" name="Text 6"/>
          <p:cNvSpPr/>
          <p:nvPr/>
        </p:nvSpPr>
        <p:spPr>
          <a:xfrm>
            <a:off x="365760" y="1417320"/>
            <a:ext cx="2651760" cy="36576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OBSERVATION</a:t>
            </a:r>
            <a:endParaRPr lang="en-US" sz="1100" dirty="0"/>
          </a:p>
        </p:txBody>
      </p:sp>
      <p:sp>
        <p:nvSpPr>
          <p:cNvPr id="10" name="Text 7"/>
          <p:cNvSpPr/>
          <p:nvPr/>
        </p:nvSpPr>
        <p:spPr>
          <a:xfrm>
            <a:off x="502920" y="1828800"/>
            <a:ext cx="2377440" cy="228600"/>
          </a:xfrm>
          <a:prstGeom prst="rect">
            <a:avLst/>
          </a:prstGeom>
          <a:noFill/>
          <a:ln/>
        </p:spPr>
        <p:txBody>
          <a:bodyPr wrap="square" lIns="0" tIns="0" rIns="0" bIns="0" rtlCol="0" anchor="ctr"/>
          <a:lstStyle/>
          <a:p>
            <a:pPr indent="0" marL="0">
              <a:buNone/>
            </a:pPr>
            <a:r>
              <a:rPr lang="en-US" sz="900" b="1" dirty="0">
                <a:solidFill>
                  <a:srgbClr val="1A8A7D"/>
                </a:solidFill>
                <a:latin typeface="Calibri" pitchFamily="34" charset="0"/>
                <a:ea typeface="Calibri" pitchFamily="34" charset="-122"/>
                <a:cs typeface="Calibri" pitchFamily="34" charset="-120"/>
              </a:rPr>
              <a:t>Teacher thinks aloud:</a:t>
            </a:r>
            <a:endParaRPr lang="en-US" sz="900" dirty="0"/>
          </a:p>
        </p:txBody>
      </p:sp>
      <p:sp>
        <p:nvSpPr>
          <p:cNvPr id="11" name="Text 8"/>
          <p:cNvSpPr/>
          <p:nvPr/>
        </p:nvSpPr>
        <p:spPr>
          <a:xfrm>
            <a:off x="502920" y="2057400"/>
            <a:ext cx="2377440" cy="1691640"/>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First, I look closely. What do I literally SEE? I name specific objects — not 'stuff' but 'wooden desks,' 'chalkboard,' 'one window.' I don't guess what they mean yet.</a:t>
            </a:r>
            <a:endParaRPr lang="en-US" sz="1100" dirty="0"/>
          </a:p>
        </p:txBody>
      </p:sp>
      <p:sp>
        <p:nvSpPr>
          <p:cNvPr id="12" name="Shape 9"/>
          <p:cNvSpPr/>
          <p:nvPr/>
        </p:nvSpPr>
        <p:spPr>
          <a:xfrm>
            <a:off x="3246120" y="1417320"/>
            <a:ext cx="2651760" cy="2468880"/>
          </a:xfrm>
          <a:prstGeom prst="roundRect">
            <a:avLst>
              <a:gd name="adj" fmla="val 4444"/>
            </a:avLst>
          </a:prstGeom>
          <a:solidFill>
            <a:srgbClr val="F0F2F8"/>
          </a:solidFill>
          <a:ln w="25400">
            <a:solidFill>
              <a:srgbClr val="D4943A"/>
            </a:solidFill>
            <a:prstDash val="solid"/>
          </a:ln>
        </p:spPr>
      </p:sp>
      <p:sp>
        <p:nvSpPr>
          <p:cNvPr id="13" name="Shape 10"/>
          <p:cNvSpPr/>
          <p:nvPr/>
        </p:nvSpPr>
        <p:spPr>
          <a:xfrm>
            <a:off x="3246120" y="1417320"/>
            <a:ext cx="2651760" cy="365760"/>
          </a:xfrm>
          <a:prstGeom prst="roundRect">
            <a:avLst>
              <a:gd name="adj" fmla="val 30000"/>
            </a:avLst>
          </a:prstGeom>
          <a:solidFill>
            <a:srgbClr val="D4943A"/>
          </a:solidFill>
          <a:ln/>
        </p:spPr>
      </p:sp>
      <p:sp>
        <p:nvSpPr>
          <p:cNvPr id="14" name="Text 11"/>
          <p:cNvSpPr/>
          <p:nvPr/>
        </p:nvSpPr>
        <p:spPr>
          <a:xfrm>
            <a:off x="3246120" y="1417320"/>
            <a:ext cx="2651760" cy="36576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MEANING</a:t>
            </a:r>
            <a:endParaRPr lang="en-US" sz="1100" dirty="0"/>
          </a:p>
        </p:txBody>
      </p:sp>
      <p:sp>
        <p:nvSpPr>
          <p:cNvPr id="15" name="Text 12"/>
          <p:cNvSpPr/>
          <p:nvPr/>
        </p:nvSpPr>
        <p:spPr>
          <a:xfrm>
            <a:off x="3383280" y="1828800"/>
            <a:ext cx="2377440" cy="228600"/>
          </a:xfrm>
          <a:prstGeom prst="rect">
            <a:avLst/>
          </a:prstGeom>
          <a:noFill/>
          <a:ln/>
        </p:spPr>
        <p:txBody>
          <a:bodyPr wrap="square" lIns="0" tIns="0" rIns="0" bIns="0" rtlCol="0" anchor="ctr"/>
          <a:lstStyle/>
          <a:p>
            <a:pPr indent="0" marL="0">
              <a:buNone/>
            </a:pPr>
            <a:r>
              <a:rPr lang="en-US" sz="900" b="1" dirty="0">
                <a:solidFill>
                  <a:srgbClr val="D4943A"/>
                </a:solidFill>
                <a:latin typeface="Calibri" pitchFamily="34" charset="0"/>
                <a:ea typeface="Calibri" pitchFamily="34" charset="-122"/>
                <a:cs typeface="Calibri" pitchFamily="34" charset="-120"/>
              </a:rPr>
              <a:t>Teacher thinks aloud:</a:t>
            </a:r>
            <a:endParaRPr lang="en-US" sz="900" dirty="0"/>
          </a:p>
        </p:txBody>
      </p:sp>
      <p:sp>
        <p:nvSpPr>
          <p:cNvPr id="16" name="Text 13"/>
          <p:cNvSpPr/>
          <p:nvPr/>
        </p:nvSpPr>
        <p:spPr>
          <a:xfrm>
            <a:off x="3383280" y="2057400"/>
            <a:ext cx="2377440" cy="1691640"/>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Now I connect the details. 'Wooden desks in rows' + 'one teacher, many students' + 'chalkboard' tells me this is a one-room school. I'm linking details to a bigger idea.</a:t>
            </a:r>
            <a:endParaRPr lang="en-US" sz="1100" dirty="0"/>
          </a:p>
        </p:txBody>
      </p:sp>
      <p:sp>
        <p:nvSpPr>
          <p:cNvPr id="17" name="Shape 14"/>
          <p:cNvSpPr/>
          <p:nvPr/>
        </p:nvSpPr>
        <p:spPr>
          <a:xfrm>
            <a:off x="6126480" y="1417320"/>
            <a:ext cx="2651760" cy="2468880"/>
          </a:xfrm>
          <a:prstGeom prst="roundRect">
            <a:avLst>
              <a:gd name="adj" fmla="val 4444"/>
            </a:avLst>
          </a:prstGeom>
          <a:solidFill>
            <a:srgbClr val="F0F2F8"/>
          </a:solidFill>
          <a:ln w="25400">
            <a:solidFill>
              <a:srgbClr val="8B6FC0"/>
            </a:solidFill>
            <a:prstDash val="solid"/>
          </a:ln>
        </p:spPr>
      </p:sp>
      <p:sp>
        <p:nvSpPr>
          <p:cNvPr id="18" name="Shape 15"/>
          <p:cNvSpPr/>
          <p:nvPr/>
        </p:nvSpPr>
        <p:spPr>
          <a:xfrm>
            <a:off x="6126480" y="1417320"/>
            <a:ext cx="2651760" cy="365760"/>
          </a:xfrm>
          <a:prstGeom prst="roundRect">
            <a:avLst>
              <a:gd name="adj" fmla="val 30000"/>
            </a:avLst>
          </a:prstGeom>
          <a:solidFill>
            <a:srgbClr val="8B6FC0"/>
          </a:solidFill>
          <a:ln/>
        </p:spPr>
      </p:sp>
      <p:sp>
        <p:nvSpPr>
          <p:cNvPr id="19" name="Text 16"/>
          <p:cNvSpPr/>
          <p:nvPr/>
        </p:nvSpPr>
        <p:spPr>
          <a:xfrm>
            <a:off x="6126480" y="1417320"/>
            <a:ext cx="2651760" cy="36576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IMPORTANCE</a:t>
            </a:r>
            <a:endParaRPr lang="en-US" sz="1100" dirty="0"/>
          </a:p>
        </p:txBody>
      </p:sp>
      <p:sp>
        <p:nvSpPr>
          <p:cNvPr id="20" name="Text 17"/>
          <p:cNvSpPr/>
          <p:nvPr/>
        </p:nvSpPr>
        <p:spPr>
          <a:xfrm>
            <a:off x="6263640" y="1828800"/>
            <a:ext cx="2377440" cy="228600"/>
          </a:xfrm>
          <a:prstGeom prst="rect">
            <a:avLst/>
          </a:prstGeom>
          <a:noFill/>
          <a:ln/>
        </p:spPr>
        <p:txBody>
          <a:bodyPr wrap="square" lIns="0" tIns="0" rIns="0" bIns="0" rtlCol="0" anchor="ctr"/>
          <a:lstStyle/>
          <a:p>
            <a:pPr indent="0" marL="0">
              <a:buNone/>
            </a:pPr>
            <a:r>
              <a:rPr lang="en-US" sz="900" b="1" dirty="0">
                <a:solidFill>
                  <a:srgbClr val="8B6FC0"/>
                </a:solidFill>
                <a:latin typeface="Calibri" pitchFamily="34" charset="0"/>
                <a:ea typeface="Calibri" pitchFamily="34" charset="-122"/>
                <a:cs typeface="Calibri" pitchFamily="34" charset="-120"/>
              </a:rPr>
              <a:t>Teacher thinks aloud:</a:t>
            </a:r>
            <a:endParaRPr lang="en-US" sz="900" dirty="0"/>
          </a:p>
        </p:txBody>
      </p:sp>
      <p:sp>
        <p:nvSpPr>
          <p:cNvPr id="21" name="Text 18"/>
          <p:cNvSpPr/>
          <p:nvPr/>
        </p:nvSpPr>
        <p:spPr>
          <a:xfrm>
            <a:off x="6263640" y="2057400"/>
            <a:ext cx="2377440" cy="1691640"/>
          </a:xfrm>
          <a:prstGeom prst="rect">
            <a:avLst/>
          </a:prstGeom>
          <a:noFill/>
          <a:ln/>
        </p:spPr>
        <p:txBody>
          <a:bodyPr wrap="square" lIns="0" tIns="0" rIns="0" bIns="0" rtlCol="0" anchor="t"/>
          <a:lstStyle/>
          <a:p>
            <a:pPr indent="0" marL="0">
              <a:buNone/>
            </a:pPr>
            <a:r>
              <a:rPr lang="en-US" sz="1100" i="1" dirty="0">
                <a:solidFill>
                  <a:srgbClr val="0E1C42"/>
                </a:solidFill>
                <a:latin typeface="Calibri" pitchFamily="34" charset="0"/>
                <a:ea typeface="Calibri" pitchFamily="34" charset="-122"/>
                <a:cs typeface="Calibri" pitchFamily="34" charset="-120"/>
              </a:rPr>
              <a:t>Finally, I ask: what would we LOSE without this? 'We would not know what schoolrooms looked like.' I'm making the case for why this belongs in the museum.</a:t>
            </a:r>
            <a:endParaRPr lang="en-US" sz="1100" dirty="0"/>
          </a:p>
        </p:txBody>
      </p:sp>
      <p:sp>
        <p:nvSpPr>
          <p:cNvPr id="22" name="Text 19"/>
          <p:cNvSpPr/>
          <p:nvPr/>
        </p:nvSpPr>
        <p:spPr>
          <a:xfrm>
            <a:off x="365760" y="4005072"/>
            <a:ext cx="8412480" cy="320040"/>
          </a:xfrm>
          <a:prstGeom prst="rect">
            <a:avLst/>
          </a:prstGeom>
          <a:noFill/>
          <a:ln/>
        </p:spPr>
        <p:txBody>
          <a:bodyPr wrap="square" lIns="0" tIns="0" rIns="0" bIns="0" rtlCol="0" anchor="ctr"/>
          <a:lstStyle/>
          <a:p>
            <a:pPr algn="ctr" indent="0" marL="0">
              <a:buNone/>
            </a:pPr>
            <a:r>
              <a:rPr lang="en-US" sz="1400" b="1" dirty="0">
                <a:solidFill>
                  <a:srgbClr val="0E1C42"/>
                </a:solidFill>
                <a:latin typeface="Cambria" pitchFamily="34" charset="0"/>
                <a:ea typeface="Cambria" pitchFamily="34" charset="-122"/>
                <a:cs typeface="Cambria" pitchFamily="34" charset="-120"/>
              </a:rPr>
              <a:t>Observe first. Connect second. Justify third.</a:t>
            </a:r>
            <a:endParaRPr lang="en-US" sz="1400" dirty="0"/>
          </a:p>
        </p:txBody>
      </p:sp>
      <p:sp>
        <p:nvSpPr>
          <p:cNvPr id="23" name="Shape 20"/>
          <p:cNvSpPr/>
          <p:nvPr/>
        </p:nvSpPr>
        <p:spPr>
          <a:xfrm>
            <a:off x="365760" y="4370832"/>
            <a:ext cx="8412480" cy="594360"/>
          </a:xfrm>
          <a:prstGeom prst="roundRect">
            <a:avLst>
              <a:gd name="adj" fmla="val 23077"/>
            </a:avLst>
          </a:prstGeom>
          <a:solidFill>
            <a:srgbClr val="1A2D5A"/>
          </a:solidFill>
          <a:ln/>
          <a:effectLst>
            <a:outerShdw sx="100000" sy="100000" kx="0" ky="0" algn="bl" rotWithShape="0" blurRad="101600" dist="38100" dir="8100000">
              <a:srgbClr val="000000">
                <a:alpha val="20000"/>
              </a:srgbClr>
            </a:outerShdw>
          </a:effectLst>
        </p:spPr>
      </p:sp>
      <p:sp>
        <p:nvSpPr>
          <p:cNvPr id="24" name="Text 21"/>
          <p:cNvSpPr/>
          <p:nvPr/>
        </p:nvSpPr>
        <p:spPr>
          <a:xfrm>
            <a:off x="548640" y="4462272"/>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25" name="Text 22"/>
          <p:cNvSpPr/>
          <p:nvPr/>
        </p:nvSpPr>
        <p:spPr>
          <a:xfrm>
            <a:off x="548640" y="4718304"/>
            <a:ext cx="8046720" cy="15544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you notice about the order?</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does observation ALWAYS come first?</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ERROR ANALYSIS  ·  SPOT THE PROBLEM</a:t>
            </a:r>
            <a:endParaRPr lang="en-US" sz="1100" dirty="0"/>
          </a:p>
        </p:txBody>
      </p:sp>
      <p:sp>
        <p:nvSpPr>
          <p:cNvPr id="5" name="Text 2"/>
          <p:cNvSpPr/>
          <p:nvPr/>
        </p:nvSpPr>
        <p:spPr>
          <a:xfrm>
            <a:off x="457200" y="594360"/>
            <a:ext cx="8229600" cy="411480"/>
          </a:xfrm>
          <a:prstGeom prst="rect">
            <a:avLst/>
          </a:prstGeom>
          <a:noFill/>
          <a:ln/>
        </p:spPr>
        <p:txBody>
          <a:bodyPr wrap="square" lIns="0" tIns="0" rIns="0" bIns="0" rtlCol="0" anchor="ctr"/>
          <a:lstStyle/>
          <a:p>
            <a:pPr algn="l" indent="0" marL="0">
              <a:buNone/>
            </a:pPr>
            <a:r>
              <a:rPr lang="en-US" sz="2600" b="1" dirty="0">
                <a:solidFill>
                  <a:srgbClr val="0E1C42"/>
                </a:solidFill>
                <a:latin typeface="Cambria" pitchFamily="34" charset="0"/>
                <a:ea typeface="Cambria" pitchFamily="34" charset="-122"/>
                <a:cs typeface="Cambria" pitchFamily="34" charset="-120"/>
              </a:rPr>
              <a:t>A Student Wrote This Entry. What Went Wrong?</a:t>
            </a:r>
            <a:endParaRPr lang="en-US" sz="2600" dirty="0"/>
          </a:p>
        </p:txBody>
      </p:sp>
      <p:sp>
        <p:nvSpPr>
          <p:cNvPr id="6" name="Shape 3"/>
          <p:cNvSpPr/>
          <p:nvPr/>
        </p:nvSpPr>
        <p:spPr>
          <a:xfrm>
            <a:off x="365760" y="1097280"/>
            <a:ext cx="5029200" cy="2286000"/>
          </a:xfrm>
          <a:prstGeom prst="roundRect">
            <a:avLst>
              <a:gd name="adj" fmla="val 4800"/>
            </a:avLst>
          </a:prstGeom>
          <a:solidFill>
            <a:srgbClr val="FFF0F0"/>
          </a:solidFill>
          <a:ln w="31750">
            <a:solidFill>
              <a:srgbClr val="E8636B"/>
            </a:solidFill>
            <a:prstDash val="solid"/>
          </a:ln>
        </p:spPr>
      </p:sp>
      <p:sp>
        <p:nvSpPr>
          <p:cNvPr id="7" name="Text 4"/>
          <p:cNvSpPr/>
          <p:nvPr/>
        </p:nvSpPr>
        <p:spPr>
          <a:xfrm>
            <a:off x="365760" y="1161288"/>
            <a:ext cx="5029200" cy="256032"/>
          </a:xfrm>
          <a:prstGeom prst="rect">
            <a:avLst/>
          </a:prstGeom>
          <a:noFill/>
          <a:ln/>
        </p:spPr>
        <p:txBody>
          <a:bodyPr wrap="square" lIns="0" tIns="0" rIns="0" bIns="0" rtlCol="0" anchor="ctr"/>
          <a:lstStyle/>
          <a:p>
            <a:pPr algn="ctr" indent="0" marL="0">
              <a:buNone/>
            </a:pPr>
            <a:r>
              <a:rPr lang="en-US" sz="900" b="1" spc="200" kern="0" dirty="0">
                <a:solidFill>
                  <a:srgbClr val="E8636B"/>
                </a:solidFill>
                <a:latin typeface="Calibri" pitchFamily="34" charset="0"/>
                <a:ea typeface="Calibri" pitchFamily="34" charset="-122"/>
                <a:cs typeface="Calibri" pitchFamily="34" charset="-120"/>
              </a:rPr>
              <a:t>STUDENT ENTRY</a:t>
            </a:r>
            <a:endParaRPr lang="en-US" sz="900" dirty="0"/>
          </a:p>
        </p:txBody>
      </p:sp>
      <p:sp>
        <p:nvSpPr>
          <p:cNvPr id="8" name="Text 5"/>
          <p:cNvSpPr/>
          <p:nvPr/>
        </p:nvSpPr>
        <p:spPr>
          <a:xfrm>
            <a:off x="548640" y="1444752"/>
            <a:ext cx="4663440" cy="1554480"/>
          </a:xfrm>
          <a:prstGeom prst="rect">
            <a:avLst/>
          </a:prstGeom>
          <a:noFill/>
          <a:ln/>
        </p:spPr>
        <p:txBody>
          <a:bodyPr wrap="square" lIns="0" tIns="0" rIns="0" bIns="0" rtlCol="0" anchor="t"/>
          <a:lstStyle/>
          <a:p>
            <a:pPr algn="l" indent="0" marL="0">
              <a:buNone/>
            </a:pPr>
            <a:r>
              <a:rPr lang="en-US" sz="1300" i="1" dirty="0">
                <a:solidFill>
                  <a:srgbClr val="8B2020"/>
                </a:solidFill>
                <a:latin typeface="Cambria" pitchFamily="34" charset="0"/>
                <a:ea typeface="Cambria" pitchFamily="34" charset="-122"/>
                <a:cs typeface="Cambria" pitchFamily="34" charset="-120"/>
              </a:rPr>
              <a:t>"This source is probably about a war because it looks old and serious. The people in it seem poor. This source is important because history is important and we should learn about it."</a:t>
            </a:r>
            <a:endParaRPr lang="en-US" sz="1300" dirty="0"/>
          </a:p>
        </p:txBody>
      </p:sp>
      <p:sp>
        <p:nvSpPr>
          <p:cNvPr id="9" name="Shape 6"/>
          <p:cNvSpPr/>
          <p:nvPr/>
        </p:nvSpPr>
        <p:spPr>
          <a:xfrm>
            <a:off x="365760" y="3456432"/>
            <a:ext cx="5029200" cy="457200"/>
          </a:xfrm>
          <a:prstGeom prst="roundRect">
            <a:avLst>
              <a:gd name="adj" fmla="val 18000"/>
            </a:avLst>
          </a:prstGeom>
          <a:solidFill>
            <a:srgbClr val="E8636B"/>
          </a:solidFill>
          <a:ln/>
        </p:spPr>
      </p:sp>
      <p:sp>
        <p:nvSpPr>
          <p:cNvPr id="10" name="Text 7"/>
          <p:cNvSpPr/>
          <p:nvPr/>
        </p:nvSpPr>
        <p:spPr>
          <a:xfrm>
            <a:off x="365760" y="3456432"/>
            <a:ext cx="5029200" cy="45720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This entry earned 0 / 3 from the museum director. Why?</a:t>
            </a:r>
            <a:endParaRPr lang="en-US" sz="1200" dirty="0"/>
          </a:p>
        </p:txBody>
      </p:sp>
      <p:sp>
        <p:nvSpPr>
          <p:cNvPr id="11" name="Shape 8"/>
          <p:cNvSpPr/>
          <p:nvPr/>
        </p:nvSpPr>
        <p:spPr>
          <a:xfrm>
            <a:off x="5577840" y="1097280"/>
            <a:ext cx="3200400" cy="1874520"/>
          </a:xfrm>
          <a:prstGeom prst="roundRect">
            <a:avLst>
              <a:gd name="adj" fmla="val 7317"/>
            </a:avLst>
          </a:prstGeom>
          <a:solidFill>
            <a:srgbClr val="1A2D5A"/>
          </a:solidFill>
          <a:ln/>
          <a:effectLst>
            <a:outerShdw sx="100000" sy="100000" kx="0" ky="0" algn="bl" rotWithShape="0" blurRad="101600" dist="38100" dir="8100000">
              <a:srgbClr val="000000">
                <a:alpha val="20000"/>
              </a:srgbClr>
            </a:outerShdw>
          </a:effectLst>
        </p:spPr>
      </p:sp>
      <p:sp>
        <p:nvSpPr>
          <p:cNvPr id="12" name="Text 9"/>
          <p:cNvSpPr/>
          <p:nvPr/>
        </p:nvSpPr>
        <p:spPr>
          <a:xfrm>
            <a:off x="5760720" y="1188720"/>
            <a:ext cx="283464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3" name="Text 10"/>
          <p:cNvSpPr/>
          <p:nvPr/>
        </p:nvSpPr>
        <p:spPr>
          <a:xfrm>
            <a:off x="5760720" y="1444752"/>
            <a:ext cx="2834640" cy="14356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did this student skip?</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Where is the observation?</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The student says 'looks old' — is that a specific detail?</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How would you fix the Meaning part?</a:t>
            </a:r>
            <a:endParaRPr lang="en-US" sz="1100" dirty="0"/>
          </a:p>
        </p:txBody>
      </p:sp>
      <p:sp>
        <p:nvSpPr>
          <p:cNvPr id="14" name="Shape 11"/>
          <p:cNvSpPr/>
          <p:nvPr/>
        </p:nvSpPr>
        <p:spPr>
          <a:xfrm>
            <a:off x="5577840" y="3063240"/>
            <a:ext cx="3200400" cy="914400"/>
          </a:xfrm>
          <a:prstGeom prst="roundRect">
            <a:avLst>
              <a:gd name="adj" fmla="val 10000"/>
            </a:avLst>
          </a:prstGeom>
          <a:solidFill>
            <a:srgbClr val="E3F8ED"/>
          </a:solidFill>
          <a:ln w="19050">
            <a:solidFill>
              <a:srgbClr val="34B76F"/>
            </a:solidFill>
            <a:prstDash val="solid"/>
          </a:ln>
        </p:spPr>
      </p:sp>
      <p:sp>
        <p:nvSpPr>
          <p:cNvPr id="15" name="Text 12"/>
          <p:cNvSpPr/>
          <p:nvPr/>
        </p:nvSpPr>
        <p:spPr>
          <a:xfrm>
            <a:off x="5669280" y="3127248"/>
            <a:ext cx="3017520" cy="786384"/>
          </a:xfrm>
          <a:prstGeom prst="rect">
            <a:avLst/>
          </a:prstGeom>
          <a:noFill/>
          <a:ln/>
        </p:spPr>
        <p:txBody>
          <a:bodyPr wrap="square" lIns="0" tIns="0" rIns="0" bIns="0" rtlCol="0" anchor="ctr"/>
          <a:lstStyle/>
          <a:p>
            <a:pPr algn="l" indent="0" marL="0">
              <a:buNone/>
            </a:pPr>
            <a:r>
              <a:rPr lang="en-US" sz="1100" dirty="0">
                <a:solidFill>
                  <a:srgbClr val="1A5C34"/>
                </a:solidFill>
                <a:latin typeface="Calibri" pitchFamily="34" charset="0"/>
                <a:ea typeface="Calibri" pitchFamily="34" charset="-122"/>
                <a:cs typeface="Calibri" pitchFamily="34" charset="-120"/>
              </a:rPr>
              <a:t>THE FIX: Observe specific details first. Connect them to evidence. Say what would be LOST without the source.</a:t>
            </a:r>
            <a:endParaRPr lang="en-US" sz="1100" dirty="0"/>
          </a:p>
        </p:txBody>
      </p:sp>
      <p:sp>
        <p:nvSpPr>
          <p:cNvPr id="16" name="Shape 13"/>
          <p:cNvSpPr/>
          <p:nvPr/>
        </p:nvSpPr>
        <p:spPr>
          <a:xfrm>
            <a:off x="365760" y="4041648"/>
            <a:ext cx="8412480" cy="914400"/>
          </a:xfrm>
          <a:prstGeom prst="roundRect">
            <a:avLst>
              <a:gd name="adj" fmla="val 12000"/>
            </a:avLst>
          </a:prstGeom>
          <a:solidFill>
            <a:srgbClr val="FFF3DC"/>
          </a:solidFill>
          <a:ln w="19050">
            <a:solidFill>
              <a:srgbClr val="F5E6C8"/>
            </a:solidFill>
            <a:prstDash val="solid"/>
          </a:ln>
        </p:spPr>
      </p:sp>
      <p:sp>
        <p:nvSpPr>
          <p:cNvPr id="17" name="Text 14"/>
          <p:cNvSpPr/>
          <p:nvPr/>
        </p:nvSpPr>
        <p:spPr>
          <a:xfrm>
            <a:off x="502920" y="409651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8" name="Text 15"/>
          <p:cNvSpPr/>
          <p:nvPr/>
        </p:nvSpPr>
        <p:spPr>
          <a:xfrm>
            <a:off x="502920" y="4297680"/>
            <a:ext cx="81381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student forgot to..."</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better observation sentence would be..."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GUIDED PRACTICE  ·  YOUR TURN WITH SUPPORT</a:t>
            </a:r>
            <a:endParaRPr lang="en-US" sz="1100" dirty="0"/>
          </a:p>
        </p:txBody>
      </p:sp>
      <p:sp>
        <p:nvSpPr>
          <p:cNvPr id="5" name="Text 2"/>
          <p:cNvSpPr/>
          <p:nvPr/>
        </p:nvSpPr>
        <p:spPr>
          <a:xfrm>
            <a:off x="457200" y="594360"/>
            <a:ext cx="8229600" cy="411480"/>
          </a:xfrm>
          <a:prstGeom prst="rect">
            <a:avLst/>
          </a:prstGeom>
          <a:noFill/>
          <a:ln/>
        </p:spPr>
        <p:txBody>
          <a:bodyPr wrap="square" lIns="0" tIns="0" rIns="0" bIns="0" rtlCol="0" anchor="ctr"/>
          <a:lstStyle/>
          <a:p>
            <a:pPr algn="l" indent="0" marL="0">
              <a:buNone/>
            </a:pPr>
            <a:r>
              <a:rPr lang="en-US" sz="2600" b="1" dirty="0">
                <a:solidFill>
                  <a:srgbClr val="0E1C42"/>
                </a:solidFill>
                <a:latin typeface="Cambria" pitchFamily="34" charset="0"/>
                <a:ea typeface="Cambria" pitchFamily="34" charset="-122"/>
                <a:cs typeface="Cambria" pitchFamily="34" charset="-120"/>
              </a:rPr>
              <a:t>Write Your Evidence Entry — Scaffold Provided</a:t>
            </a:r>
            <a:endParaRPr lang="en-US" sz="2600" dirty="0"/>
          </a:p>
        </p:txBody>
      </p:sp>
      <p:sp>
        <p:nvSpPr>
          <p:cNvPr id="6" name="Shape 3"/>
          <p:cNvSpPr/>
          <p:nvPr/>
        </p:nvSpPr>
        <p:spPr>
          <a:xfrm>
            <a:off x="365760" y="1097280"/>
            <a:ext cx="5029200" cy="2926080"/>
          </a:xfrm>
          <a:prstGeom prst="roundRect">
            <a:avLst>
              <a:gd name="adj" fmla="val 3750"/>
            </a:avLst>
          </a:prstGeom>
          <a:solidFill>
            <a:srgbClr val="F0F2F8"/>
          </a:solidFill>
          <a:ln w="25400">
            <a:solidFill>
              <a:srgbClr val="1A8A7D"/>
            </a:solidFill>
            <a:prstDash val="solid"/>
          </a:ln>
        </p:spPr>
      </p:sp>
      <p:sp>
        <p:nvSpPr>
          <p:cNvPr id="7" name="Text 4"/>
          <p:cNvSpPr/>
          <p:nvPr/>
        </p:nvSpPr>
        <p:spPr>
          <a:xfrm>
            <a:off x="365760" y="1161288"/>
            <a:ext cx="5029200" cy="256032"/>
          </a:xfrm>
          <a:prstGeom prst="rect">
            <a:avLst/>
          </a:prstGeom>
          <a:noFill/>
          <a:ln/>
        </p:spPr>
        <p:txBody>
          <a:bodyPr wrap="square" lIns="0" tIns="0" rIns="0" bIns="0" rtlCol="0" anchor="ctr"/>
          <a:lstStyle/>
          <a:p>
            <a:pPr algn="ctr" indent="0" marL="0">
              <a:buNone/>
            </a:pPr>
            <a:r>
              <a:rPr lang="en-US" sz="900" b="1" spc="150" kern="0" dirty="0">
                <a:solidFill>
                  <a:srgbClr val="1A8A7D"/>
                </a:solidFill>
                <a:latin typeface="Calibri" pitchFamily="34" charset="0"/>
                <a:ea typeface="Calibri" pitchFamily="34" charset="-122"/>
                <a:cs typeface="Calibri" pitchFamily="34" charset="-120"/>
              </a:rPr>
              <a:t>CURATOR'S NOTEBOOK — SCAFFOLD</a:t>
            </a:r>
            <a:endParaRPr lang="en-US" sz="900" dirty="0"/>
          </a:p>
        </p:txBody>
      </p:sp>
      <p:sp>
        <p:nvSpPr>
          <p:cNvPr id="8" name="Shape 5"/>
          <p:cNvSpPr/>
          <p:nvPr/>
        </p:nvSpPr>
        <p:spPr>
          <a:xfrm>
            <a:off x="502920" y="1508760"/>
            <a:ext cx="4754880" cy="658368"/>
          </a:xfrm>
          <a:prstGeom prst="roundRect">
            <a:avLst>
              <a:gd name="adj" fmla="val 11111"/>
            </a:avLst>
          </a:prstGeom>
          <a:solidFill>
            <a:srgbClr val="FFFFFF"/>
          </a:solidFill>
          <a:ln w="12700">
            <a:solidFill>
              <a:srgbClr val="7A88A8"/>
            </a:solidFill>
            <a:prstDash val="sysDash"/>
          </a:ln>
        </p:spPr>
      </p:sp>
      <p:sp>
        <p:nvSpPr>
          <p:cNvPr id="9" name="Text 6"/>
          <p:cNvSpPr/>
          <p:nvPr/>
        </p:nvSpPr>
        <p:spPr>
          <a:xfrm>
            <a:off x="640080" y="1563624"/>
            <a:ext cx="1371600" cy="201168"/>
          </a:xfrm>
          <a:prstGeom prst="rect">
            <a:avLst/>
          </a:prstGeom>
          <a:noFill/>
          <a:ln/>
        </p:spPr>
        <p:txBody>
          <a:bodyPr wrap="square" lIns="0" tIns="0" rIns="0" bIns="0" rtlCol="0" anchor="ctr"/>
          <a:lstStyle/>
          <a:p>
            <a:pPr algn="l" indent="0" marL="0">
              <a:buNone/>
            </a:pPr>
            <a:r>
              <a:rPr lang="en-US" sz="900" b="1" dirty="0">
                <a:solidFill>
                  <a:srgbClr val="1A8A7D"/>
                </a:solidFill>
                <a:latin typeface="Calibri" pitchFamily="34" charset="0"/>
                <a:ea typeface="Calibri" pitchFamily="34" charset="-122"/>
                <a:cs typeface="Calibri" pitchFamily="34" charset="-120"/>
              </a:rPr>
              <a:t>OBSERVATION:</a:t>
            </a:r>
            <a:endParaRPr lang="en-US" sz="900" dirty="0"/>
          </a:p>
        </p:txBody>
      </p:sp>
      <p:sp>
        <p:nvSpPr>
          <p:cNvPr id="10" name="Text 7"/>
          <p:cNvSpPr/>
          <p:nvPr/>
        </p:nvSpPr>
        <p:spPr>
          <a:xfrm>
            <a:off x="640080" y="1783080"/>
            <a:ext cx="4480560" cy="320040"/>
          </a:xfrm>
          <a:prstGeom prst="rect">
            <a:avLst/>
          </a:prstGeom>
          <a:noFill/>
          <a:ln/>
        </p:spPr>
        <p:txBody>
          <a:bodyPr wrap="square" lIns="0" tIns="0" rIns="0" bIns="0" rtlCol="0" anchor="ctr"/>
          <a:lstStyle/>
          <a:p>
            <a:pPr algn="l" indent="0" marL="0">
              <a:buNone/>
            </a:pPr>
            <a:r>
              <a:rPr lang="en-US" sz="1200" i="1" dirty="0">
                <a:solidFill>
                  <a:srgbClr val="0E1C42"/>
                </a:solidFill>
                <a:latin typeface="Cambria" pitchFamily="34" charset="0"/>
                <a:ea typeface="Cambria" pitchFamily="34" charset="-122"/>
                <a:cs typeface="Cambria" pitchFamily="34" charset="-120"/>
              </a:rPr>
              <a:t>I notice __________ and __________ in this source.</a:t>
            </a:r>
            <a:endParaRPr lang="en-US" sz="1200" dirty="0"/>
          </a:p>
        </p:txBody>
      </p:sp>
      <p:sp>
        <p:nvSpPr>
          <p:cNvPr id="11" name="Shape 8"/>
          <p:cNvSpPr/>
          <p:nvPr/>
        </p:nvSpPr>
        <p:spPr>
          <a:xfrm>
            <a:off x="502920" y="2258568"/>
            <a:ext cx="4754880" cy="658368"/>
          </a:xfrm>
          <a:prstGeom prst="roundRect">
            <a:avLst>
              <a:gd name="adj" fmla="val 11111"/>
            </a:avLst>
          </a:prstGeom>
          <a:solidFill>
            <a:srgbClr val="FFFFFF"/>
          </a:solidFill>
          <a:ln w="12700">
            <a:solidFill>
              <a:srgbClr val="7A88A8"/>
            </a:solidFill>
            <a:prstDash val="sysDash"/>
          </a:ln>
        </p:spPr>
      </p:sp>
      <p:sp>
        <p:nvSpPr>
          <p:cNvPr id="12" name="Text 9"/>
          <p:cNvSpPr/>
          <p:nvPr/>
        </p:nvSpPr>
        <p:spPr>
          <a:xfrm>
            <a:off x="640080" y="2313432"/>
            <a:ext cx="1371600" cy="201168"/>
          </a:xfrm>
          <a:prstGeom prst="rect">
            <a:avLst/>
          </a:prstGeom>
          <a:noFill/>
          <a:ln/>
        </p:spPr>
        <p:txBody>
          <a:bodyPr wrap="square" lIns="0" tIns="0" rIns="0" bIns="0" rtlCol="0" anchor="ctr"/>
          <a:lstStyle/>
          <a:p>
            <a:pPr algn="l" indent="0" marL="0">
              <a:buNone/>
            </a:pPr>
            <a:r>
              <a:rPr lang="en-US" sz="900" b="1" dirty="0">
                <a:solidFill>
                  <a:srgbClr val="D4943A"/>
                </a:solidFill>
                <a:latin typeface="Calibri" pitchFamily="34" charset="0"/>
                <a:ea typeface="Calibri" pitchFamily="34" charset="-122"/>
                <a:cs typeface="Calibri" pitchFamily="34" charset="-120"/>
              </a:rPr>
              <a:t>MEANING:</a:t>
            </a:r>
            <a:endParaRPr lang="en-US" sz="900" dirty="0"/>
          </a:p>
        </p:txBody>
      </p:sp>
      <p:sp>
        <p:nvSpPr>
          <p:cNvPr id="13" name="Text 10"/>
          <p:cNvSpPr/>
          <p:nvPr/>
        </p:nvSpPr>
        <p:spPr>
          <a:xfrm>
            <a:off x="640080" y="2532888"/>
            <a:ext cx="4480560" cy="320040"/>
          </a:xfrm>
          <a:prstGeom prst="rect">
            <a:avLst/>
          </a:prstGeom>
          <a:noFill/>
          <a:ln/>
        </p:spPr>
        <p:txBody>
          <a:bodyPr wrap="square" lIns="0" tIns="0" rIns="0" bIns="0" rtlCol="0" anchor="ctr"/>
          <a:lstStyle/>
          <a:p>
            <a:pPr algn="l" indent="0" marL="0">
              <a:buNone/>
            </a:pPr>
            <a:r>
              <a:rPr lang="en-US" sz="1200" i="1" dirty="0">
                <a:solidFill>
                  <a:srgbClr val="0E1C42"/>
                </a:solidFill>
                <a:latin typeface="Cambria" pitchFamily="34" charset="0"/>
                <a:ea typeface="Cambria" pitchFamily="34" charset="-122"/>
                <a:cs typeface="Cambria" pitchFamily="34" charset="-120"/>
              </a:rPr>
              <a:t>This source tells us that __________ because __________.</a:t>
            </a:r>
            <a:endParaRPr lang="en-US" sz="1200" dirty="0"/>
          </a:p>
        </p:txBody>
      </p:sp>
      <p:sp>
        <p:nvSpPr>
          <p:cNvPr id="14" name="Shape 11"/>
          <p:cNvSpPr/>
          <p:nvPr/>
        </p:nvSpPr>
        <p:spPr>
          <a:xfrm>
            <a:off x="502920" y="3008376"/>
            <a:ext cx="4754880" cy="658368"/>
          </a:xfrm>
          <a:prstGeom prst="roundRect">
            <a:avLst>
              <a:gd name="adj" fmla="val 11111"/>
            </a:avLst>
          </a:prstGeom>
          <a:solidFill>
            <a:srgbClr val="FFFFFF"/>
          </a:solidFill>
          <a:ln w="12700">
            <a:solidFill>
              <a:srgbClr val="7A88A8"/>
            </a:solidFill>
            <a:prstDash val="sysDash"/>
          </a:ln>
        </p:spPr>
      </p:sp>
      <p:sp>
        <p:nvSpPr>
          <p:cNvPr id="15" name="Text 12"/>
          <p:cNvSpPr/>
          <p:nvPr/>
        </p:nvSpPr>
        <p:spPr>
          <a:xfrm>
            <a:off x="640080" y="3063240"/>
            <a:ext cx="1371600" cy="201168"/>
          </a:xfrm>
          <a:prstGeom prst="rect">
            <a:avLst/>
          </a:prstGeom>
          <a:noFill/>
          <a:ln/>
        </p:spPr>
        <p:txBody>
          <a:bodyPr wrap="square" lIns="0" tIns="0" rIns="0" bIns="0" rtlCol="0" anchor="ctr"/>
          <a:lstStyle/>
          <a:p>
            <a:pPr algn="l" indent="0" marL="0">
              <a:buNone/>
            </a:pPr>
            <a:r>
              <a:rPr lang="en-US" sz="900" b="1" dirty="0">
                <a:solidFill>
                  <a:srgbClr val="8B6FC0"/>
                </a:solidFill>
                <a:latin typeface="Calibri" pitchFamily="34" charset="0"/>
                <a:ea typeface="Calibri" pitchFamily="34" charset="-122"/>
                <a:cs typeface="Calibri" pitchFamily="34" charset="-120"/>
              </a:rPr>
              <a:t>IMPORTANCE:</a:t>
            </a:r>
            <a:endParaRPr lang="en-US" sz="900" dirty="0"/>
          </a:p>
        </p:txBody>
      </p:sp>
      <p:sp>
        <p:nvSpPr>
          <p:cNvPr id="16" name="Text 13"/>
          <p:cNvSpPr/>
          <p:nvPr/>
        </p:nvSpPr>
        <p:spPr>
          <a:xfrm>
            <a:off x="640080" y="3282696"/>
            <a:ext cx="4480560" cy="320040"/>
          </a:xfrm>
          <a:prstGeom prst="rect">
            <a:avLst/>
          </a:prstGeom>
          <a:noFill/>
          <a:ln/>
        </p:spPr>
        <p:txBody>
          <a:bodyPr wrap="square" lIns="0" tIns="0" rIns="0" bIns="0" rtlCol="0" anchor="ctr"/>
          <a:lstStyle/>
          <a:p>
            <a:pPr algn="l" indent="0" marL="0">
              <a:buNone/>
            </a:pPr>
            <a:r>
              <a:rPr lang="en-US" sz="1200" i="1" dirty="0">
                <a:solidFill>
                  <a:srgbClr val="0E1C42"/>
                </a:solidFill>
                <a:latin typeface="Cambria" pitchFamily="34" charset="0"/>
                <a:ea typeface="Cambria" pitchFamily="34" charset="-122"/>
                <a:cs typeface="Cambria" pitchFamily="34" charset="-120"/>
              </a:rPr>
              <a:t>Without this source, we would not know __________.</a:t>
            </a:r>
            <a:endParaRPr lang="en-US" sz="1200" dirty="0"/>
          </a:p>
        </p:txBody>
      </p:sp>
      <p:sp>
        <p:nvSpPr>
          <p:cNvPr id="17" name="Shape 14"/>
          <p:cNvSpPr/>
          <p:nvPr/>
        </p:nvSpPr>
        <p:spPr>
          <a:xfrm>
            <a:off x="5669280" y="1097280"/>
            <a:ext cx="3108960" cy="2926080"/>
          </a:xfrm>
          <a:prstGeom prst="roundRect">
            <a:avLst>
              <a:gd name="adj" fmla="val 3750"/>
            </a:avLst>
          </a:prstGeom>
          <a:solidFill>
            <a:srgbClr val="0E1C42"/>
          </a:solidFill>
          <a:ln/>
        </p:spPr>
      </p:sp>
      <p:sp>
        <p:nvSpPr>
          <p:cNvPr id="18" name="Text 15"/>
          <p:cNvSpPr/>
          <p:nvPr/>
        </p:nvSpPr>
        <p:spPr>
          <a:xfrm>
            <a:off x="5669280" y="1161288"/>
            <a:ext cx="3108960" cy="256032"/>
          </a:xfrm>
          <a:prstGeom prst="rect">
            <a:avLst/>
          </a:prstGeom>
          <a:noFill/>
          <a:ln/>
        </p:spPr>
        <p:txBody>
          <a:bodyPr wrap="square" lIns="0" tIns="0" rIns="0" bIns="0" rtlCol="0" anchor="ctr"/>
          <a:lstStyle/>
          <a:p>
            <a:pPr algn="ctr" indent="0" marL="0">
              <a:buNone/>
            </a:pPr>
            <a:r>
              <a:rPr lang="en-US" sz="900" b="1" spc="150" kern="0" dirty="0">
                <a:solidFill>
                  <a:srgbClr val="55C8E8"/>
                </a:solidFill>
                <a:latin typeface="Calibri" pitchFamily="34" charset="0"/>
                <a:ea typeface="Calibri" pitchFamily="34" charset="-122"/>
                <a:cs typeface="Calibri" pitchFamily="34" charset="-120"/>
              </a:rPr>
              <a:t>CURATOR CHECKLIST</a:t>
            </a:r>
            <a:endParaRPr lang="en-US" sz="900" dirty="0"/>
          </a:p>
        </p:txBody>
      </p:sp>
      <p:sp>
        <p:nvSpPr>
          <p:cNvPr id="19" name="Text 16"/>
          <p:cNvSpPr/>
          <p:nvPr/>
        </p:nvSpPr>
        <p:spPr>
          <a:xfrm>
            <a:off x="5806440" y="1463040"/>
            <a:ext cx="2834640" cy="38404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I named at least 2 specific details</a:t>
            </a:r>
            <a:endParaRPr lang="en-US" sz="1100" dirty="0"/>
          </a:p>
        </p:txBody>
      </p:sp>
      <p:sp>
        <p:nvSpPr>
          <p:cNvPr id="20" name="Text 17"/>
          <p:cNvSpPr/>
          <p:nvPr/>
        </p:nvSpPr>
        <p:spPr>
          <a:xfrm>
            <a:off x="5806440" y="1938528"/>
            <a:ext cx="2834640" cy="38404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I connected details to a bigger idea</a:t>
            </a:r>
            <a:endParaRPr lang="en-US" sz="1100" dirty="0"/>
          </a:p>
        </p:txBody>
      </p:sp>
      <p:sp>
        <p:nvSpPr>
          <p:cNvPr id="21" name="Text 18"/>
          <p:cNvSpPr/>
          <p:nvPr/>
        </p:nvSpPr>
        <p:spPr>
          <a:xfrm>
            <a:off x="5806440" y="2414016"/>
            <a:ext cx="2834640" cy="38404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I said what would be LOST without this source</a:t>
            </a:r>
            <a:endParaRPr lang="en-US" sz="1100" dirty="0"/>
          </a:p>
        </p:txBody>
      </p:sp>
      <p:sp>
        <p:nvSpPr>
          <p:cNvPr id="22" name="Text 19"/>
          <p:cNvSpPr/>
          <p:nvPr/>
        </p:nvSpPr>
        <p:spPr>
          <a:xfrm>
            <a:off x="5806440" y="2889504"/>
            <a:ext cx="2834640" cy="38404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I did NOT guess or assume</a:t>
            </a:r>
            <a:endParaRPr lang="en-US" sz="1100" dirty="0"/>
          </a:p>
        </p:txBody>
      </p:sp>
      <p:sp>
        <p:nvSpPr>
          <p:cNvPr id="23" name="Text 20"/>
          <p:cNvSpPr/>
          <p:nvPr/>
        </p:nvSpPr>
        <p:spPr>
          <a:xfrm>
            <a:off x="5806440" y="3364992"/>
            <a:ext cx="2834640" cy="38404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I reported what I actually SEE</a:t>
            </a:r>
            <a:endParaRPr lang="en-US" sz="1100" dirty="0"/>
          </a:p>
        </p:txBody>
      </p:sp>
      <p:sp>
        <p:nvSpPr>
          <p:cNvPr id="24" name="Shape 21"/>
          <p:cNvSpPr/>
          <p:nvPr/>
        </p:nvSpPr>
        <p:spPr>
          <a:xfrm>
            <a:off x="365760" y="4114800"/>
            <a:ext cx="8412480" cy="914400"/>
          </a:xfrm>
          <a:prstGeom prst="roundRect">
            <a:avLst>
              <a:gd name="adj" fmla="val 12000"/>
            </a:avLst>
          </a:prstGeom>
          <a:solidFill>
            <a:srgbClr val="FFF3DC"/>
          </a:solidFill>
          <a:ln w="19050">
            <a:solidFill>
              <a:srgbClr val="F5E6C8"/>
            </a:solidFill>
            <a:prstDash val="solid"/>
          </a:ln>
        </p:spPr>
      </p:sp>
      <p:sp>
        <p:nvSpPr>
          <p:cNvPr id="25" name="Text 22"/>
          <p:cNvSpPr/>
          <p:nvPr/>
        </p:nvSpPr>
        <p:spPr>
          <a:xfrm>
            <a:off x="502920" y="416966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6" name="Text 23"/>
          <p:cNvSpPr/>
          <p:nvPr/>
        </p:nvSpPr>
        <p:spPr>
          <a:xfrm>
            <a:off x="502920" y="4370832"/>
            <a:ext cx="8138160" cy="59436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observation sentence: I notice..."</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"My importance sentence: Without this source..."</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01168"/>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SELF-CHECK  ·  ARE YOU READY?</a:t>
            </a:r>
            <a:endParaRPr lang="en-US" sz="900" dirty="0"/>
          </a:p>
        </p:txBody>
      </p:sp>
      <p:sp>
        <p:nvSpPr>
          <p:cNvPr id="6" name="Text 3"/>
          <p:cNvSpPr/>
          <p:nvPr/>
        </p:nvSpPr>
        <p:spPr>
          <a:xfrm>
            <a:off x="457200" y="566928"/>
            <a:ext cx="8229600" cy="457200"/>
          </a:xfrm>
          <a:prstGeom prst="rect">
            <a:avLst/>
          </a:prstGeom>
          <a:noFill/>
          <a:ln/>
        </p:spPr>
        <p:txBody>
          <a:bodyPr wrap="square" lIns="0" tIns="0" rIns="0" bIns="0" rtlCol="0" anchor="ctr"/>
          <a:lstStyle/>
          <a:p>
            <a:pPr algn="ctr" indent="0" marL="0">
              <a:buNone/>
            </a:pPr>
            <a:r>
              <a:rPr lang="en-US" sz="3400" b="1" dirty="0">
                <a:solidFill>
                  <a:srgbClr val="D4943A"/>
                </a:solidFill>
                <a:latin typeface="Cambria" pitchFamily="34" charset="0"/>
                <a:ea typeface="Cambria" pitchFamily="34" charset="-122"/>
                <a:cs typeface="Cambria" pitchFamily="34" charset="-120"/>
              </a:rPr>
              <a:t>Three Quick Questions</a:t>
            </a:r>
            <a:endParaRPr lang="en-US" sz="3400" dirty="0"/>
          </a:p>
        </p:txBody>
      </p:sp>
      <p:sp>
        <p:nvSpPr>
          <p:cNvPr id="7" name="Text 4"/>
          <p:cNvSpPr/>
          <p:nvPr/>
        </p:nvSpPr>
        <p:spPr>
          <a:xfrm>
            <a:off x="457200" y="1024128"/>
            <a:ext cx="8229600" cy="292608"/>
          </a:xfrm>
          <a:prstGeom prst="rect">
            <a:avLst/>
          </a:prstGeom>
          <a:noFill/>
          <a:ln/>
        </p:spPr>
        <p:txBody>
          <a:bodyPr wrap="square" lIns="0" tIns="0" rIns="0" bIns="0" rtlCol="0" anchor="ctr"/>
          <a:lstStyle/>
          <a:p>
            <a:pPr algn="ctr" indent="0" marL="0">
              <a:buNone/>
            </a:pPr>
            <a:r>
              <a:rPr lang="en-US" sz="1300" i="1" dirty="0">
                <a:solidFill>
                  <a:srgbClr val="7A88A8"/>
                </a:solidFill>
                <a:latin typeface="Calibri" pitchFamily="34" charset="0"/>
                <a:ea typeface="Calibri" pitchFamily="34" charset="-122"/>
                <a:cs typeface="Calibri" pitchFamily="34" charset="-120"/>
              </a:rPr>
              <a:t>Answer independently. Check on your lesson page when done.</a:t>
            </a:r>
            <a:endParaRPr lang="en-US" sz="1300" dirty="0"/>
          </a:p>
        </p:txBody>
      </p:sp>
      <p:sp>
        <p:nvSpPr>
          <p:cNvPr id="8" name="Shape 5"/>
          <p:cNvSpPr/>
          <p:nvPr/>
        </p:nvSpPr>
        <p:spPr>
          <a:xfrm>
            <a:off x="457200" y="1463040"/>
            <a:ext cx="8229600" cy="1005840"/>
          </a:xfrm>
          <a:prstGeom prst="roundRect">
            <a:avLst>
              <a:gd name="adj" fmla="val 10909"/>
            </a:avLst>
          </a:prstGeom>
          <a:solidFill>
            <a:srgbClr val="1A2D5A"/>
          </a:solidFill>
          <a:ln/>
          <a:effectLst>
            <a:outerShdw sx="100000" sy="100000" kx="0" ky="0" algn="bl" rotWithShape="0" blurRad="76200" dist="25400" dir="8100000">
              <a:srgbClr val="000000">
                <a:alpha val="18000"/>
              </a:srgbClr>
            </a:outerShdw>
          </a:effectLst>
        </p:spPr>
      </p:sp>
      <p:sp>
        <p:nvSpPr>
          <p:cNvPr id="9" name="Text 6"/>
          <p:cNvSpPr/>
          <p:nvPr/>
        </p:nvSpPr>
        <p:spPr>
          <a:xfrm>
            <a:off x="640080" y="1536192"/>
            <a:ext cx="7863840" cy="457200"/>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1. What are the three parts of a strong evidence entry?</a:t>
            </a:r>
            <a:endParaRPr lang="en-US" sz="1200" dirty="0"/>
          </a:p>
        </p:txBody>
      </p:sp>
      <p:sp>
        <p:nvSpPr>
          <p:cNvPr id="10" name="Text 7"/>
          <p:cNvSpPr/>
          <p:nvPr/>
        </p:nvSpPr>
        <p:spPr>
          <a:xfrm>
            <a:off x="640080" y="1993392"/>
            <a:ext cx="7863840" cy="320040"/>
          </a:xfrm>
          <a:prstGeom prst="rect">
            <a:avLst/>
          </a:prstGeom>
          <a:noFill/>
          <a:ln/>
        </p:spPr>
        <p:txBody>
          <a:bodyPr wrap="square" lIns="0" tIns="0" rIns="0" bIns="0" rtlCol="0" anchor="ctr"/>
          <a:lstStyle/>
          <a:p>
            <a:pPr algn="l" indent="0" marL="0">
              <a:buNone/>
            </a:pPr>
            <a:r>
              <a:rPr lang="en-US" sz="1100" i="1" dirty="0">
                <a:solidFill>
                  <a:srgbClr val="34B76F"/>
                </a:solidFill>
                <a:latin typeface="Calibri" pitchFamily="34" charset="0"/>
                <a:ea typeface="Calibri" pitchFamily="34" charset="-122"/>
                <a:cs typeface="Calibri" pitchFamily="34" charset="-120"/>
              </a:rPr>
              <a:t>Answer: Observation · Meaning · Importance</a:t>
            </a:r>
            <a:endParaRPr lang="en-US" sz="1100" dirty="0"/>
          </a:p>
        </p:txBody>
      </p:sp>
      <p:sp>
        <p:nvSpPr>
          <p:cNvPr id="11" name="Shape 8"/>
          <p:cNvSpPr/>
          <p:nvPr/>
        </p:nvSpPr>
        <p:spPr>
          <a:xfrm>
            <a:off x="457200" y="2560320"/>
            <a:ext cx="8229600" cy="1005840"/>
          </a:xfrm>
          <a:prstGeom prst="roundRect">
            <a:avLst>
              <a:gd name="adj" fmla="val 10909"/>
            </a:avLst>
          </a:prstGeom>
          <a:solidFill>
            <a:srgbClr val="1A2D5A"/>
          </a:solidFill>
          <a:ln/>
          <a:effectLst>
            <a:outerShdw sx="100000" sy="100000" kx="0" ky="0" algn="bl" rotWithShape="0" blurRad="76200" dist="25400" dir="8100000">
              <a:srgbClr val="000000">
                <a:alpha val="18000"/>
              </a:srgbClr>
            </a:outerShdw>
          </a:effectLst>
        </p:spPr>
      </p:sp>
      <p:sp>
        <p:nvSpPr>
          <p:cNvPr id="12" name="Text 9"/>
          <p:cNvSpPr/>
          <p:nvPr/>
        </p:nvSpPr>
        <p:spPr>
          <a:xfrm>
            <a:off x="640080" y="2633472"/>
            <a:ext cx="7863840" cy="457200"/>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2. Why should you OBSERVE before explaining what a source means?</a:t>
            </a:r>
            <a:endParaRPr lang="en-US" sz="1200" dirty="0"/>
          </a:p>
        </p:txBody>
      </p:sp>
      <p:sp>
        <p:nvSpPr>
          <p:cNvPr id="13" name="Text 10"/>
          <p:cNvSpPr/>
          <p:nvPr/>
        </p:nvSpPr>
        <p:spPr>
          <a:xfrm>
            <a:off x="640080" y="3090672"/>
            <a:ext cx="7863840" cy="320040"/>
          </a:xfrm>
          <a:prstGeom prst="rect">
            <a:avLst/>
          </a:prstGeom>
          <a:noFill/>
          <a:ln/>
        </p:spPr>
        <p:txBody>
          <a:bodyPr wrap="square" lIns="0" tIns="0" rIns="0" bIns="0" rtlCol="0" anchor="ctr"/>
          <a:lstStyle/>
          <a:p>
            <a:pPr algn="l" indent="0" marL="0">
              <a:buNone/>
            </a:pPr>
            <a:r>
              <a:rPr lang="en-US" sz="1100" i="1" dirty="0">
                <a:solidFill>
                  <a:srgbClr val="34B76F"/>
                </a:solidFill>
                <a:latin typeface="Calibri" pitchFamily="34" charset="0"/>
                <a:ea typeface="Calibri" pitchFamily="34" charset="-122"/>
                <a:cs typeface="Calibri" pitchFamily="34" charset="-120"/>
              </a:rPr>
              <a:t>Answer: You might miss important details that change the whole meaning.</a:t>
            </a:r>
            <a:endParaRPr lang="en-US" sz="1100" dirty="0"/>
          </a:p>
        </p:txBody>
      </p:sp>
      <p:sp>
        <p:nvSpPr>
          <p:cNvPr id="14" name="Shape 11"/>
          <p:cNvSpPr/>
          <p:nvPr/>
        </p:nvSpPr>
        <p:spPr>
          <a:xfrm>
            <a:off x="457200" y="3657600"/>
            <a:ext cx="8229600" cy="1005840"/>
          </a:xfrm>
          <a:prstGeom prst="roundRect">
            <a:avLst>
              <a:gd name="adj" fmla="val 10909"/>
            </a:avLst>
          </a:prstGeom>
          <a:solidFill>
            <a:srgbClr val="1A2D5A"/>
          </a:solidFill>
          <a:ln/>
          <a:effectLst>
            <a:outerShdw sx="100000" sy="100000" kx="0" ky="0" algn="bl" rotWithShape="0" blurRad="76200" dist="25400" dir="8100000">
              <a:srgbClr val="000000">
                <a:alpha val="18000"/>
              </a:srgbClr>
            </a:outerShdw>
          </a:effectLst>
        </p:spPr>
      </p:sp>
      <p:sp>
        <p:nvSpPr>
          <p:cNvPr id="15" name="Text 12"/>
          <p:cNvSpPr/>
          <p:nvPr/>
        </p:nvSpPr>
        <p:spPr>
          <a:xfrm>
            <a:off x="640080" y="3730752"/>
            <a:ext cx="7863840" cy="457200"/>
          </a:xfrm>
          <a:prstGeom prst="rect">
            <a:avLst/>
          </a:prstGeom>
          <a:noFill/>
          <a:ln/>
        </p:spPr>
        <p:txBody>
          <a:bodyPr wrap="square" lIns="0" tIns="0" rIns="0" bIns="0" rtlCol="0" anchor="t"/>
          <a:lstStyle/>
          <a:p>
            <a:pPr algn="l" indent="0" marL="0">
              <a:buNone/>
            </a:pPr>
            <a:r>
              <a:rPr lang="en-US" sz="1200" b="1" dirty="0">
                <a:solidFill>
                  <a:srgbClr val="FFFFFF"/>
                </a:solidFill>
                <a:latin typeface="Calibri" pitchFamily="34" charset="0"/>
                <a:ea typeface="Calibri" pitchFamily="34" charset="-122"/>
                <a:cs typeface="Calibri" pitchFamily="34" charset="-120"/>
              </a:rPr>
              <a:t>3. Which entry is honest?</a:t>
            </a:r>
            <a:endParaRPr lang="en-US" sz="1200" dirty="0"/>
          </a:p>
          <a:p>
            <a:pPr algn="l" indent="0" marL="0">
              <a:buNone/>
            </a:pPr>
            <a:r>
              <a:rPr lang="en-US" sz="1200" b="1" dirty="0">
                <a:solidFill>
                  <a:srgbClr val="FFFFFF"/>
                </a:solidFill>
                <a:latin typeface="Calibri" pitchFamily="34" charset="0"/>
                <a:ea typeface="Calibri" pitchFamily="34" charset="-122"/>
                <a:cs typeface="Calibri" pitchFamily="34" charset="-120"/>
              </a:rPr>
              <a:t>A) 'This probably shows a war because it looks serious.'</a:t>
            </a:r>
            <a:endParaRPr lang="en-US" sz="1200" dirty="0"/>
          </a:p>
          <a:p>
            <a:pPr algn="l" indent="0" marL="0">
              <a:buNone/>
            </a:pPr>
            <a:r>
              <a:rPr lang="en-US" sz="1200" b="1" dirty="0">
                <a:solidFill>
                  <a:srgbClr val="FFFFFF"/>
                </a:solidFill>
                <a:latin typeface="Calibri" pitchFamily="34" charset="0"/>
                <a:ea typeface="Calibri" pitchFamily="34" charset="-122"/>
                <a:cs typeface="Calibri" pitchFamily="34" charset="-120"/>
              </a:rPr>
              <a:t>B) 'I notice wooden desks and a chalkboard, suggesting an early 1900s school.'</a:t>
            </a:r>
            <a:endParaRPr lang="en-US" sz="1200" dirty="0"/>
          </a:p>
        </p:txBody>
      </p:sp>
      <p:sp>
        <p:nvSpPr>
          <p:cNvPr id="16" name="Text 13"/>
          <p:cNvSpPr/>
          <p:nvPr/>
        </p:nvSpPr>
        <p:spPr>
          <a:xfrm>
            <a:off x="640080" y="4187952"/>
            <a:ext cx="7863840" cy="320040"/>
          </a:xfrm>
          <a:prstGeom prst="rect">
            <a:avLst/>
          </a:prstGeom>
          <a:noFill/>
          <a:ln/>
        </p:spPr>
        <p:txBody>
          <a:bodyPr wrap="square" lIns="0" tIns="0" rIns="0" bIns="0" rtlCol="0" anchor="ctr"/>
          <a:lstStyle/>
          <a:p>
            <a:pPr algn="l" indent="0" marL="0">
              <a:buNone/>
            </a:pPr>
            <a:r>
              <a:rPr lang="en-US" sz="1100" i="1" dirty="0">
                <a:solidFill>
                  <a:srgbClr val="34B76F"/>
                </a:solidFill>
                <a:latin typeface="Calibri" pitchFamily="34" charset="0"/>
                <a:ea typeface="Calibri" pitchFamily="34" charset="-122"/>
                <a:cs typeface="Calibri" pitchFamily="34" charset="-120"/>
              </a:rPr>
              <a:t>Answer: B — It names specific details and draws a careful conclusion.</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ASSIGNMENT  ·  EVIDENCE QUESTIONS</a:t>
            </a:r>
            <a:endParaRPr lang="en-US" sz="1100" dirty="0"/>
          </a:p>
        </p:txBody>
      </p:sp>
      <p:sp>
        <p:nvSpPr>
          <p:cNvPr id="5" name="Text 2"/>
          <p:cNvSpPr/>
          <p:nvPr/>
        </p:nvSpPr>
        <p:spPr>
          <a:xfrm>
            <a:off x="457200" y="594360"/>
            <a:ext cx="8229600" cy="411480"/>
          </a:xfrm>
          <a:prstGeom prst="rect">
            <a:avLst/>
          </a:prstGeom>
          <a:noFill/>
          <a:ln/>
        </p:spPr>
        <p:txBody>
          <a:bodyPr wrap="square" lIns="0" tIns="0" rIns="0" bIns="0" rtlCol="0" anchor="ctr"/>
          <a:lstStyle/>
          <a:p>
            <a:pPr algn="l" indent="0" marL="0">
              <a:buNone/>
            </a:pPr>
            <a:r>
              <a:rPr lang="en-US" sz="2600" b="1" dirty="0">
                <a:solidFill>
                  <a:srgbClr val="0E1C42"/>
                </a:solidFill>
                <a:latin typeface="Cambria" pitchFamily="34" charset="0"/>
                <a:ea typeface="Cambria" pitchFamily="34" charset="-122"/>
                <a:cs typeface="Cambria" pitchFamily="34" charset="-120"/>
              </a:rPr>
              <a:t>Evidence Questions — Use What You've Learned</a:t>
            </a:r>
            <a:endParaRPr lang="en-US" sz="2600" dirty="0"/>
          </a:p>
        </p:txBody>
      </p:sp>
      <p:sp>
        <p:nvSpPr>
          <p:cNvPr id="6" name="Shape 3"/>
          <p:cNvSpPr/>
          <p:nvPr/>
        </p:nvSpPr>
        <p:spPr>
          <a:xfrm>
            <a:off x="365760" y="1097280"/>
            <a:ext cx="8412480" cy="1417320"/>
          </a:xfrm>
          <a:prstGeom prst="roundRect">
            <a:avLst>
              <a:gd name="adj" fmla="val 7742"/>
            </a:avLst>
          </a:prstGeom>
          <a:solidFill>
            <a:srgbClr val="EAF8FD"/>
          </a:solidFill>
          <a:ln w="25400">
            <a:solidFill>
              <a:srgbClr val="55C8E8"/>
            </a:solidFill>
            <a:prstDash val="solid"/>
          </a:ln>
        </p:spPr>
      </p:sp>
      <p:sp>
        <p:nvSpPr>
          <p:cNvPr id="7" name="Text 4"/>
          <p:cNvSpPr/>
          <p:nvPr/>
        </p:nvSpPr>
        <p:spPr>
          <a:xfrm>
            <a:off x="365760" y="1161288"/>
            <a:ext cx="8412480" cy="256032"/>
          </a:xfrm>
          <a:prstGeom prst="rect">
            <a:avLst/>
          </a:prstGeom>
          <a:noFill/>
          <a:ln/>
        </p:spPr>
        <p:txBody>
          <a:bodyPr wrap="square" lIns="0" tIns="0" rIns="0" bIns="0" rtlCol="0" anchor="ctr"/>
          <a:lstStyle/>
          <a:p>
            <a:pPr algn="ctr" indent="0" marL="0">
              <a:buNone/>
            </a:pPr>
            <a:r>
              <a:rPr lang="en-US" sz="900" b="1" spc="200" kern="0" dirty="0">
                <a:solidFill>
                  <a:srgbClr val="55C8E8"/>
                </a:solidFill>
                <a:latin typeface="Calibri" pitchFamily="34" charset="0"/>
                <a:ea typeface="Calibri" pitchFamily="34" charset="-122"/>
                <a:cs typeface="Calibri" pitchFamily="34" charset="-120"/>
              </a:rPr>
              <a:t>QUESTION 1</a:t>
            </a:r>
            <a:endParaRPr lang="en-US" sz="900" dirty="0"/>
          </a:p>
        </p:txBody>
      </p:sp>
      <p:sp>
        <p:nvSpPr>
          <p:cNvPr id="8" name="Text 5"/>
          <p:cNvSpPr/>
          <p:nvPr/>
        </p:nvSpPr>
        <p:spPr>
          <a:xfrm>
            <a:off x="548640" y="1444752"/>
            <a:ext cx="8046720" cy="685800"/>
          </a:xfrm>
          <a:prstGeom prst="rect">
            <a:avLst/>
          </a:prstGeom>
          <a:noFill/>
          <a:ln/>
        </p:spPr>
        <p:txBody>
          <a:bodyPr wrap="square" lIns="0" tIns="0" rIns="0" bIns="0" rtlCol="0" anchor="ctr"/>
          <a:lstStyle/>
          <a:p>
            <a:pPr algn="l" indent="0" marL="0">
              <a:buNone/>
            </a:pPr>
            <a:r>
              <a:rPr lang="en-US" sz="1400" dirty="0">
                <a:solidFill>
                  <a:srgbClr val="0E1C42"/>
                </a:solidFill>
                <a:latin typeface="Cambria" pitchFamily="34" charset="0"/>
                <a:ea typeface="Cambria" pitchFamily="34" charset="-122"/>
                <a:cs typeface="Cambria" pitchFamily="34" charset="-120"/>
              </a:rPr>
              <a:t>What is the difference between a primary source and a secondary source? Why does this matter for curators?</a:t>
            </a:r>
            <a:endParaRPr lang="en-US" sz="1400" dirty="0"/>
          </a:p>
        </p:txBody>
      </p:sp>
      <p:sp>
        <p:nvSpPr>
          <p:cNvPr id="9" name="Text 6"/>
          <p:cNvSpPr/>
          <p:nvPr/>
        </p:nvSpPr>
        <p:spPr>
          <a:xfrm>
            <a:off x="548640" y="2148840"/>
            <a:ext cx="8046720" cy="256032"/>
          </a:xfrm>
          <a:prstGeom prst="rect">
            <a:avLst/>
          </a:prstGeom>
          <a:noFill/>
          <a:ln/>
        </p:spPr>
        <p:txBody>
          <a:bodyPr wrap="square" lIns="0" tIns="0" rIns="0" bIns="0" rtlCol="0" anchor="ctr"/>
          <a:lstStyle/>
          <a:p>
            <a:pPr algn="l" indent="0" marL="0">
              <a:buNone/>
            </a:pPr>
            <a:r>
              <a:rPr lang="en-US" sz="1100" i="1" dirty="0">
                <a:solidFill>
                  <a:srgbClr val="7A88A8"/>
                </a:solidFill>
                <a:latin typeface="Calibri" pitchFamily="34" charset="0"/>
                <a:ea typeface="Calibri" pitchFamily="34" charset="-122"/>
                <a:cs typeface="Calibri" pitchFamily="34" charset="-120"/>
              </a:rPr>
              <a:t>Use details from this unit.</a:t>
            </a:r>
            <a:endParaRPr lang="en-US" sz="1100" dirty="0"/>
          </a:p>
        </p:txBody>
      </p:sp>
      <p:sp>
        <p:nvSpPr>
          <p:cNvPr id="10" name="Shape 7"/>
          <p:cNvSpPr/>
          <p:nvPr/>
        </p:nvSpPr>
        <p:spPr>
          <a:xfrm>
            <a:off x="365760" y="2651760"/>
            <a:ext cx="8412480" cy="1417320"/>
          </a:xfrm>
          <a:prstGeom prst="roundRect">
            <a:avLst>
              <a:gd name="adj" fmla="val 7742"/>
            </a:avLst>
          </a:prstGeom>
          <a:solidFill>
            <a:srgbClr val="FFF3DC"/>
          </a:solidFill>
          <a:ln w="25400">
            <a:solidFill>
              <a:srgbClr val="D4943A"/>
            </a:solidFill>
            <a:prstDash val="solid"/>
          </a:ln>
        </p:spPr>
      </p:sp>
      <p:sp>
        <p:nvSpPr>
          <p:cNvPr id="11" name="Text 8"/>
          <p:cNvSpPr/>
          <p:nvPr/>
        </p:nvSpPr>
        <p:spPr>
          <a:xfrm>
            <a:off x="365760" y="2715768"/>
            <a:ext cx="8412480" cy="256032"/>
          </a:xfrm>
          <a:prstGeom prst="rect">
            <a:avLst/>
          </a:prstGeom>
          <a:noFill/>
          <a:ln/>
        </p:spPr>
        <p:txBody>
          <a:bodyPr wrap="square" lIns="0" tIns="0" rIns="0" bIns="0"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QUESTION 2</a:t>
            </a:r>
            <a:endParaRPr lang="en-US" sz="900" dirty="0"/>
          </a:p>
        </p:txBody>
      </p:sp>
      <p:sp>
        <p:nvSpPr>
          <p:cNvPr id="12" name="Text 9"/>
          <p:cNvSpPr/>
          <p:nvPr/>
        </p:nvSpPr>
        <p:spPr>
          <a:xfrm>
            <a:off x="548640" y="2999232"/>
            <a:ext cx="8046720" cy="685800"/>
          </a:xfrm>
          <a:prstGeom prst="rect">
            <a:avLst/>
          </a:prstGeom>
          <a:noFill/>
          <a:ln/>
        </p:spPr>
        <p:txBody>
          <a:bodyPr wrap="square" lIns="0" tIns="0" rIns="0" bIns="0" rtlCol="0" anchor="ctr"/>
          <a:lstStyle/>
          <a:p>
            <a:pPr algn="l" indent="0" marL="0">
              <a:buNone/>
            </a:pPr>
            <a:r>
              <a:rPr lang="en-US" sz="1400" dirty="0">
                <a:solidFill>
                  <a:srgbClr val="0E1C42"/>
                </a:solidFill>
                <a:latin typeface="Cambria" pitchFamily="34" charset="0"/>
                <a:ea typeface="Cambria" pitchFamily="34" charset="-122"/>
                <a:cs typeface="Cambria" pitchFamily="34" charset="-120"/>
              </a:rPr>
              <a:t>Name two of the five question types historian-citizens ask. Explain why asking questions before writing a label is important.</a:t>
            </a:r>
            <a:endParaRPr lang="en-US" sz="1400" dirty="0"/>
          </a:p>
        </p:txBody>
      </p:sp>
      <p:sp>
        <p:nvSpPr>
          <p:cNvPr id="13" name="Text 10"/>
          <p:cNvSpPr/>
          <p:nvPr/>
        </p:nvSpPr>
        <p:spPr>
          <a:xfrm>
            <a:off x="548640" y="3703320"/>
            <a:ext cx="8046720" cy="256032"/>
          </a:xfrm>
          <a:prstGeom prst="rect">
            <a:avLst/>
          </a:prstGeom>
          <a:noFill/>
          <a:ln/>
        </p:spPr>
        <p:txBody>
          <a:bodyPr wrap="square" lIns="0" tIns="0" rIns="0" bIns="0" rtlCol="0" anchor="ctr"/>
          <a:lstStyle/>
          <a:p>
            <a:pPr algn="l" indent="0" marL="0">
              <a:buNone/>
            </a:pPr>
            <a:r>
              <a:rPr lang="en-US" sz="1100" i="1" dirty="0">
                <a:solidFill>
                  <a:srgbClr val="7A88A8"/>
                </a:solidFill>
                <a:latin typeface="Calibri" pitchFamily="34" charset="0"/>
                <a:ea typeface="Calibri" pitchFamily="34" charset="-122"/>
                <a:cs typeface="Calibri" pitchFamily="34" charset="-120"/>
              </a:rPr>
              <a:t>Use evidence from the unit.</a:t>
            </a:r>
            <a:endParaRPr lang="en-US" sz="1100" dirty="0"/>
          </a:p>
        </p:txBody>
      </p:sp>
      <p:sp>
        <p:nvSpPr>
          <p:cNvPr id="14" name="Shape 11"/>
          <p:cNvSpPr/>
          <p:nvPr/>
        </p:nvSpPr>
        <p:spPr>
          <a:xfrm>
            <a:off x="365760" y="4114800"/>
            <a:ext cx="8412480" cy="777240"/>
          </a:xfrm>
          <a:prstGeom prst="roundRect">
            <a:avLst>
              <a:gd name="adj" fmla="val 17647"/>
            </a:avLst>
          </a:prstGeom>
          <a:solidFill>
            <a:srgbClr val="1A2D5A"/>
          </a:solidFill>
          <a:ln/>
          <a:effectLst>
            <a:outerShdw sx="100000" sy="100000" kx="0" ky="0" algn="bl" rotWithShape="0" blurRad="101600" dist="38100" dir="8100000">
              <a:srgbClr val="000000">
                <a:alpha val="20000"/>
              </a:srgbClr>
            </a:outerShdw>
          </a:effectLst>
        </p:spPr>
      </p:sp>
      <p:sp>
        <p:nvSpPr>
          <p:cNvPr id="15" name="Text 12"/>
          <p:cNvSpPr/>
          <p:nvPr/>
        </p:nvSpPr>
        <p:spPr>
          <a:xfrm>
            <a:off x="548640" y="4206240"/>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16" name="Text 13"/>
          <p:cNvSpPr/>
          <p:nvPr/>
        </p:nvSpPr>
        <p:spPr>
          <a:xfrm>
            <a:off x="548640" y="4462272"/>
            <a:ext cx="8046720" cy="33832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Which question type did we use the most today?</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Why can't you write a strong entry without asking questions first?</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D4943A"/>
                </a:solidFill>
                <a:latin typeface="Calibri" pitchFamily="34" charset="0"/>
                <a:ea typeface="Calibri" pitchFamily="34" charset="-122"/>
                <a:cs typeface="Calibri" pitchFamily="34" charset="-120"/>
              </a:rPr>
              <a:t>OFFICIAL ENTRY  ·  PROVE YOUR CURATOR SKILLS</a:t>
            </a:r>
            <a:endParaRPr lang="en-US" sz="1100" dirty="0"/>
          </a:p>
        </p:txBody>
      </p:sp>
      <p:sp>
        <p:nvSpPr>
          <p:cNvPr id="5" name="Text 2"/>
          <p:cNvSpPr/>
          <p:nvPr/>
        </p:nvSpPr>
        <p:spPr>
          <a:xfrm>
            <a:off x="457200" y="594360"/>
            <a:ext cx="8229600" cy="411480"/>
          </a:xfrm>
          <a:prstGeom prst="rect">
            <a:avLst/>
          </a:prstGeom>
          <a:noFill/>
          <a:ln/>
        </p:spPr>
        <p:txBody>
          <a:bodyPr wrap="square" lIns="0" tIns="0" rIns="0" bIns="0" rtlCol="0" anchor="ctr"/>
          <a:lstStyle/>
          <a:p>
            <a:pPr algn="l" indent="0" marL="0">
              <a:buNone/>
            </a:pPr>
            <a:r>
              <a:rPr lang="en-US" sz="2800" b="1" dirty="0">
                <a:solidFill>
                  <a:srgbClr val="0E1C42"/>
                </a:solidFill>
                <a:latin typeface="Cambria" pitchFamily="34" charset="0"/>
                <a:ea typeface="Cambria" pitchFamily="34" charset="-122"/>
                <a:cs typeface="Cambria" pitchFamily="34" charset="-120"/>
              </a:rPr>
              <a:t>Your First Official Evidence Entry</a:t>
            </a:r>
            <a:endParaRPr lang="en-US" sz="2800" dirty="0"/>
          </a:p>
        </p:txBody>
      </p:sp>
      <p:sp>
        <p:nvSpPr>
          <p:cNvPr id="6" name="Text 3"/>
          <p:cNvSpPr/>
          <p:nvPr/>
        </p:nvSpPr>
        <p:spPr>
          <a:xfrm>
            <a:off x="457200" y="1024128"/>
            <a:ext cx="8229600" cy="274320"/>
          </a:xfrm>
          <a:prstGeom prst="rect">
            <a:avLst/>
          </a:prstGeom>
          <a:noFill/>
          <a:ln/>
        </p:spPr>
        <p:txBody>
          <a:bodyPr wrap="square" lIns="0" tIns="0" rIns="0" bIns="0" rtlCol="0" anchor="ctr"/>
          <a:lstStyle/>
          <a:p>
            <a:pPr algn="l" indent="0" marL="0">
              <a:buNone/>
            </a:pPr>
            <a:r>
              <a:rPr lang="en-US" sz="1400" i="1" dirty="0">
                <a:solidFill>
                  <a:srgbClr val="7A88A8"/>
                </a:solidFill>
                <a:latin typeface="Calibri" pitchFamily="34" charset="0"/>
                <a:ea typeface="Calibri" pitchFamily="34" charset="-122"/>
                <a:cs typeface="Calibri" pitchFamily="34" charset="-120"/>
              </a:rPr>
              <a:t>A new source — no scaffold. Observe, ask, check, write.</a:t>
            </a:r>
            <a:endParaRPr lang="en-US" sz="1400" dirty="0"/>
          </a:p>
        </p:txBody>
      </p:sp>
      <p:sp>
        <p:nvSpPr>
          <p:cNvPr id="7" name="Shape 4"/>
          <p:cNvSpPr/>
          <p:nvPr/>
        </p:nvSpPr>
        <p:spPr>
          <a:xfrm>
            <a:off x="365760" y="1371600"/>
            <a:ext cx="4389120" cy="2606040"/>
          </a:xfrm>
          <a:prstGeom prst="roundRect">
            <a:avLst>
              <a:gd name="adj" fmla="val 4211"/>
            </a:avLst>
          </a:prstGeom>
          <a:solidFill>
            <a:srgbClr val="E2E8F4"/>
          </a:solidFill>
          <a:ln w="19050">
            <a:solidFill>
              <a:srgbClr val="B0B8CC"/>
            </a:solidFill>
            <a:prstDash val="dash"/>
          </a:ln>
        </p:spPr>
      </p:sp>
      <p:sp>
        <p:nvSpPr>
          <p:cNvPr id="8" name="Text 5"/>
          <p:cNvSpPr/>
          <p:nvPr/>
        </p:nvSpPr>
        <p:spPr>
          <a:xfrm>
            <a:off x="365760" y="1371600"/>
            <a:ext cx="43891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9" name="Text 6"/>
          <p:cNvSpPr/>
          <p:nvPr/>
        </p:nvSpPr>
        <p:spPr>
          <a:xfrm>
            <a:off x="502920" y="1645920"/>
            <a:ext cx="4114800" cy="22402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NEW historical primary source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(handwritten letter, old advertisement,</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artifact photograph, or street scene —</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different from guided practice)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File: source-3-01-06-assignment-official-entry.png</a:t>
            </a:r>
            <a:endParaRPr lang="en-US" sz="1100" dirty="0"/>
          </a:p>
        </p:txBody>
      </p:sp>
      <p:sp>
        <p:nvSpPr>
          <p:cNvPr id="10" name="Shape 7"/>
          <p:cNvSpPr/>
          <p:nvPr/>
        </p:nvSpPr>
        <p:spPr>
          <a:xfrm>
            <a:off x="5029200" y="1371600"/>
            <a:ext cx="3749040" cy="2606040"/>
          </a:xfrm>
          <a:prstGeom prst="roundRect">
            <a:avLst>
              <a:gd name="adj" fmla="val 4211"/>
            </a:avLst>
          </a:prstGeom>
          <a:solidFill>
            <a:srgbClr val="0E1C42"/>
          </a:solidFill>
          <a:ln/>
        </p:spPr>
      </p:sp>
      <p:sp>
        <p:nvSpPr>
          <p:cNvPr id="11" name="Text 8"/>
          <p:cNvSpPr/>
          <p:nvPr/>
        </p:nvSpPr>
        <p:spPr>
          <a:xfrm>
            <a:off x="5029200" y="1435608"/>
            <a:ext cx="3749040" cy="256032"/>
          </a:xfrm>
          <a:prstGeom prst="rect">
            <a:avLst/>
          </a:prstGeom>
          <a:noFill/>
          <a:ln/>
        </p:spPr>
        <p:txBody>
          <a:bodyPr wrap="square" lIns="0" tIns="0" rIns="0" bIns="0"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YOUR EVIDENCE ENTRY</a:t>
            </a:r>
            <a:endParaRPr lang="en-US" sz="900" dirty="0"/>
          </a:p>
        </p:txBody>
      </p:sp>
      <p:sp>
        <p:nvSpPr>
          <p:cNvPr id="12" name="Shape 9"/>
          <p:cNvSpPr/>
          <p:nvPr/>
        </p:nvSpPr>
        <p:spPr>
          <a:xfrm>
            <a:off x="5166360" y="1755648"/>
            <a:ext cx="3474720" cy="594360"/>
          </a:xfrm>
          <a:prstGeom prst="roundRect">
            <a:avLst>
              <a:gd name="adj" fmla="val 12308"/>
            </a:avLst>
          </a:prstGeom>
          <a:solidFill>
            <a:srgbClr val="1A2D5A"/>
          </a:solidFill>
          <a:ln w="19050">
            <a:solidFill>
              <a:srgbClr val="1A8A7D"/>
            </a:solidFill>
            <a:prstDash val="solid"/>
          </a:ln>
        </p:spPr>
      </p:sp>
      <p:sp>
        <p:nvSpPr>
          <p:cNvPr id="13" name="Text 10"/>
          <p:cNvSpPr/>
          <p:nvPr/>
        </p:nvSpPr>
        <p:spPr>
          <a:xfrm>
            <a:off x="5166360" y="1783080"/>
            <a:ext cx="1371600" cy="539496"/>
          </a:xfrm>
          <a:prstGeom prst="rect">
            <a:avLst/>
          </a:prstGeom>
          <a:noFill/>
          <a:ln/>
        </p:spPr>
        <p:txBody>
          <a:bodyPr wrap="square" lIns="0" tIns="0" rIns="0" bIns="0" rtlCol="0" anchor="ctr"/>
          <a:lstStyle/>
          <a:p>
            <a:pPr algn="ctr" indent="0" marL="0">
              <a:buNone/>
            </a:pPr>
            <a:r>
              <a:rPr lang="en-US" sz="1000" b="1" dirty="0">
                <a:solidFill>
                  <a:srgbClr val="1A8A7D"/>
                </a:solidFill>
                <a:latin typeface="Calibri" pitchFamily="34" charset="0"/>
                <a:ea typeface="Calibri" pitchFamily="34" charset="-122"/>
                <a:cs typeface="Calibri" pitchFamily="34" charset="-120"/>
              </a:rPr>
              <a:t>OBSERVATION</a:t>
            </a:r>
            <a:endParaRPr lang="en-US" sz="1000" dirty="0"/>
          </a:p>
        </p:txBody>
      </p:sp>
      <p:sp>
        <p:nvSpPr>
          <p:cNvPr id="14" name="Text 11"/>
          <p:cNvSpPr/>
          <p:nvPr/>
        </p:nvSpPr>
        <p:spPr>
          <a:xfrm>
            <a:off x="6583680" y="1801368"/>
            <a:ext cx="201168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Name specific details you see.</a:t>
            </a:r>
            <a:endParaRPr lang="en-US" sz="1100" dirty="0"/>
          </a:p>
        </p:txBody>
      </p:sp>
      <p:sp>
        <p:nvSpPr>
          <p:cNvPr id="15" name="Shape 12"/>
          <p:cNvSpPr/>
          <p:nvPr/>
        </p:nvSpPr>
        <p:spPr>
          <a:xfrm>
            <a:off x="5166360" y="2468880"/>
            <a:ext cx="3474720" cy="594360"/>
          </a:xfrm>
          <a:prstGeom prst="roundRect">
            <a:avLst>
              <a:gd name="adj" fmla="val 12308"/>
            </a:avLst>
          </a:prstGeom>
          <a:solidFill>
            <a:srgbClr val="1A2D5A"/>
          </a:solidFill>
          <a:ln w="19050">
            <a:solidFill>
              <a:srgbClr val="D4943A"/>
            </a:solidFill>
            <a:prstDash val="solid"/>
          </a:ln>
        </p:spPr>
      </p:sp>
      <p:sp>
        <p:nvSpPr>
          <p:cNvPr id="16" name="Text 13"/>
          <p:cNvSpPr/>
          <p:nvPr/>
        </p:nvSpPr>
        <p:spPr>
          <a:xfrm>
            <a:off x="5166360" y="2496312"/>
            <a:ext cx="1371600" cy="539496"/>
          </a:xfrm>
          <a:prstGeom prst="rect">
            <a:avLst/>
          </a:prstGeom>
          <a:noFill/>
          <a:ln/>
        </p:spPr>
        <p:txBody>
          <a:bodyPr wrap="square" lIns="0" tIns="0" rIns="0" bIns="0" rtlCol="0" anchor="ctr"/>
          <a:lstStyle/>
          <a:p>
            <a:pPr algn="ctr" indent="0" marL="0">
              <a:buNone/>
            </a:pPr>
            <a:r>
              <a:rPr lang="en-US" sz="1000" b="1" dirty="0">
                <a:solidFill>
                  <a:srgbClr val="D4943A"/>
                </a:solidFill>
                <a:latin typeface="Calibri" pitchFamily="34" charset="0"/>
                <a:ea typeface="Calibri" pitchFamily="34" charset="-122"/>
                <a:cs typeface="Calibri" pitchFamily="34" charset="-120"/>
              </a:rPr>
              <a:t>MEANING</a:t>
            </a:r>
            <a:endParaRPr lang="en-US" sz="1000" dirty="0"/>
          </a:p>
        </p:txBody>
      </p:sp>
      <p:sp>
        <p:nvSpPr>
          <p:cNvPr id="17" name="Text 14"/>
          <p:cNvSpPr/>
          <p:nvPr/>
        </p:nvSpPr>
        <p:spPr>
          <a:xfrm>
            <a:off x="6583680" y="2514600"/>
            <a:ext cx="201168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Connect details to life in the past.</a:t>
            </a:r>
            <a:endParaRPr lang="en-US" sz="1100" dirty="0"/>
          </a:p>
        </p:txBody>
      </p:sp>
      <p:sp>
        <p:nvSpPr>
          <p:cNvPr id="18" name="Shape 15"/>
          <p:cNvSpPr/>
          <p:nvPr/>
        </p:nvSpPr>
        <p:spPr>
          <a:xfrm>
            <a:off x="5166360" y="3182112"/>
            <a:ext cx="3474720" cy="594360"/>
          </a:xfrm>
          <a:prstGeom prst="roundRect">
            <a:avLst>
              <a:gd name="adj" fmla="val 12308"/>
            </a:avLst>
          </a:prstGeom>
          <a:solidFill>
            <a:srgbClr val="1A2D5A"/>
          </a:solidFill>
          <a:ln w="19050">
            <a:solidFill>
              <a:srgbClr val="8B6FC0"/>
            </a:solidFill>
            <a:prstDash val="solid"/>
          </a:ln>
        </p:spPr>
      </p:sp>
      <p:sp>
        <p:nvSpPr>
          <p:cNvPr id="19" name="Text 16"/>
          <p:cNvSpPr/>
          <p:nvPr/>
        </p:nvSpPr>
        <p:spPr>
          <a:xfrm>
            <a:off x="5166360" y="3209544"/>
            <a:ext cx="1371600" cy="539496"/>
          </a:xfrm>
          <a:prstGeom prst="rect">
            <a:avLst/>
          </a:prstGeom>
          <a:noFill/>
          <a:ln/>
        </p:spPr>
        <p:txBody>
          <a:bodyPr wrap="square" lIns="0" tIns="0" rIns="0" bIns="0" rtlCol="0" anchor="ctr"/>
          <a:lstStyle/>
          <a:p>
            <a:pPr algn="ctr" indent="0" marL="0">
              <a:buNone/>
            </a:pPr>
            <a:r>
              <a:rPr lang="en-US" sz="1000" b="1" dirty="0">
                <a:solidFill>
                  <a:srgbClr val="8B6FC0"/>
                </a:solidFill>
                <a:latin typeface="Calibri" pitchFamily="34" charset="0"/>
                <a:ea typeface="Calibri" pitchFamily="34" charset="-122"/>
                <a:cs typeface="Calibri" pitchFamily="34" charset="-120"/>
              </a:rPr>
              <a:t>IMPORTANCE</a:t>
            </a:r>
            <a:endParaRPr lang="en-US" sz="1000" dirty="0"/>
          </a:p>
        </p:txBody>
      </p:sp>
      <p:sp>
        <p:nvSpPr>
          <p:cNvPr id="20" name="Text 17"/>
          <p:cNvSpPr/>
          <p:nvPr/>
        </p:nvSpPr>
        <p:spPr>
          <a:xfrm>
            <a:off x="6583680" y="3227832"/>
            <a:ext cx="2011680" cy="502920"/>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Why should this be in a museum?</a:t>
            </a:r>
            <a:endParaRPr lang="en-US" sz="1100" dirty="0"/>
          </a:p>
        </p:txBody>
      </p:sp>
      <p:sp>
        <p:nvSpPr>
          <p:cNvPr id="21" name="Shape 18"/>
          <p:cNvSpPr/>
          <p:nvPr/>
        </p:nvSpPr>
        <p:spPr>
          <a:xfrm>
            <a:off x="5029200" y="3749040"/>
            <a:ext cx="3749040" cy="502920"/>
          </a:xfrm>
          <a:prstGeom prst="roundRect">
            <a:avLst>
              <a:gd name="adj" fmla="val 14545"/>
            </a:avLst>
          </a:prstGeom>
          <a:solidFill>
            <a:srgbClr val="D4943A"/>
          </a:solidFill>
          <a:ln/>
        </p:spPr>
      </p:sp>
      <p:sp>
        <p:nvSpPr>
          <p:cNvPr id="22" name="Text 19"/>
          <p:cNvSpPr/>
          <p:nvPr/>
        </p:nvSpPr>
        <p:spPr>
          <a:xfrm>
            <a:off x="5029200" y="3749040"/>
            <a:ext cx="3749040" cy="502920"/>
          </a:xfrm>
          <a:prstGeom prst="rect">
            <a:avLst/>
          </a:prstGeom>
          <a:noFill/>
          <a:ln/>
        </p:spPr>
        <p:txBody>
          <a:bodyPr wrap="square" lIns="0" tIns="0" rIns="0" bIns="0" rtlCol="0" anchor="ctr"/>
          <a:lstStyle/>
          <a:p>
            <a:pPr algn="ctr" indent="0" marL="0">
              <a:buNone/>
            </a:pPr>
            <a:r>
              <a:rPr lang="en-US" sz="1300" b="1" dirty="0">
                <a:solidFill>
                  <a:srgbClr val="0E1C42"/>
                </a:solidFill>
                <a:latin typeface="Cambria" pitchFamily="34" charset="0"/>
                <a:ea typeface="Cambria" pitchFamily="34" charset="-122"/>
                <a:cs typeface="Cambria" pitchFamily="34" charset="-120"/>
              </a:rPr>
              <a:t>Be honest. Be specific. Be clear.</a:t>
            </a:r>
            <a:endParaRPr lang="en-US" sz="1300" dirty="0"/>
          </a:p>
        </p:txBody>
      </p:sp>
      <p:sp>
        <p:nvSpPr>
          <p:cNvPr id="23" name="Shape 20"/>
          <p:cNvSpPr/>
          <p:nvPr/>
        </p:nvSpPr>
        <p:spPr>
          <a:xfrm>
            <a:off x="0" y="4343400"/>
            <a:ext cx="9144000" cy="800100"/>
          </a:xfrm>
          <a:prstGeom prst="rect">
            <a:avLst/>
          </a:prstGeom>
          <a:solidFill>
            <a:srgbClr val="1A2D5A"/>
          </a:solidFill>
          <a:ln/>
        </p:spPr>
      </p:sp>
      <p:sp>
        <p:nvSpPr>
          <p:cNvPr id="24" name="Text 21"/>
          <p:cNvSpPr/>
          <p:nvPr/>
        </p:nvSpPr>
        <p:spPr>
          <a:xfrm>
            <a:off x="365760" y="4434840"/>
            <a:ext cx="8412480" cy="594360"/>
          </a:xfrm>
          <a:prstGeom prst="rect">
            <a:avLst/>
          </a:prstGeom>
          <a:noFill/>
          <a:ln/>
        </p:spPr>
        <p:txBody>
          <a:bodyPr wrap="square" lIns="0" tIns="0" rIns="0" bIns="0" rtlCol="0" anchor="ctr"/>
          <a:lstStyle/>
          <a:p>
            <a:pPr algn="ctr" indent="0" marL="0">
              <a:buNone/>
            </a:pPr>
            <a:r>
              <a:rPr lang="en-US" sz="1300" b="1" i="1" dirty="0">
                <a:solidFill>
                  <a:srgbClr val="D4943A"/>
                </a:solidFill>
                <a:latin typeface="Cambria" pitchFamily="34" charset="0"/>
                <a:ea typeface="Cambria" pitchFamily="34" charset="-122"/>
                <a:cs typeface="Cambria" pitchFamily="34" charset="-120"/>
              </a:rPr>
              <a:t>Remember: Observe first. Think second. Write third. The museum director is reading.</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3" name="Shape 0"/>
          <p:cNvSpPr/>
          <p:nvPr/>
        </p:nvSpPr>
        <p:spPr>
          <a:xfrm>
            <a:off x="0" y="0"/>
            <a:ext cx="9144000" cy="502920"/>
          </a:xfrm>
          <a:prstGeom prst="rect">
            <a:avLst/>
          </a:prstGeom>
          <a:solidFill>
            <a:srgbClr val="0E1C42"/>
          </a:solidFill>
          <a:ln/>
        </p:spPr>
      </p:sp>
      <p:sp>
        <p:nvSpPr>
          <p:cNvPr id="4" name="Text 1"/>
          <p:cNvSpPr/>
          <p:nvPr/>
        </p:nvSpPr>
        <p:spPr>
          <a:xfrm>
            <a:off x="274320" y="91440"/>
            <a:ext cx="8595360" cy="320040"/>
          </a:xfrm>
          <a:prstGeom prst="rect">
            <a:avLst/>
          </a:prstGeom>
          <a:noFill/>
          <a:ln/>
        </p:spPr>
        <p:txBody>
          <a:bodyPr wrap="square" lIns="0" tIns="0" rIns="0" bIns="0" rtlCol="0" anchor="ctr"/>
          <a:lstStyle/>
          <a:p>
            <a:pPr algn="l" indent="0" marL="0">
              <a:buNone/>
            </a:pPr>
            <a:r>
              <a:rPr lang="en-US" sz="1100" b="1" spc="200" kern="0" dirty="0">
                <a:solidFill>
                  <a:srgbClr val="55C8E8"/>
                </a:solidFill>
                <a:latin typeface="Calibri" pitchFamily="34" charset="0"/>
                <a:ea typeface="Calibri" pitchFamily="34" charset="-122"/>
                <a:cs typeface="Calibri" pitchFamily="34" charset="-120"/>
              </a:rPr>
              <a:t>CURATOR'S CHRONICLE  ·  UNIT 1 REFLECTION</a:t>
            </a:r>
            <a:endParaRPr lang="en-US" sz="1100" dirty="0"/>
          </a:p>
        </p:txBody>
      </p:sp>
      <p:sp>
        <p:nvSpPr>
          <p:cNvPr id="5" name="Text 2"/>
          <p:cNvSpPr/>
          <p:nvPr/>
        </p:nvSpPr>
        <p:spPr>
          <a:xfrm>
            <a:off x="457200" y="594360"/>
            <a:ext cx="8229600" cy="457200"/>
          </a:xfrm>
          <a:prstGeom prst="rect">
            <a:avLst/>
          </a:prstGeom>
          <a:noFill/>
          <a:ln/>
        </p:spPr>
        <p:txBody>
          <a:bodyPr wrap="square" lIns="0" tIns="0" rIns="0" bIns="0" rtlCol="0" anchor="ctr"/>
          <a:lstStyle/>
          <a:p>
            <a:pPr algn="l" indent="0" marL="0">
              <a:buNone/>
            </a:pPr>
            <a:r>
              <a:rPr lang="en-US" sz="3200" b="1" dirty="0">
                <a:solidFill>
                  <a:srgbClr val="0E1C42"/>
                </a:solidFill>
                <a:latin typeface="Cambria" pitchFamily="34" charset="0"/>
                <a:ea typeface="Cambria" pitchFamily="34" charset="-122"/>
                <a:cs typeface="Cambria" pitchFamily="34" charset="-120"/>
              </a:rPr>
              <a:t>Finish the Sentence</a:t>
            </a:r>
            <a:endParaRPr lang="en-US" sz="3200" dirty="0"/>
          </a:p>
        </p:txBody>
      </p:sp>
      <p:sp>
        <p:nvSpPr>
          <p:cNvPr id="6" name="Shape 3"/>
          <p:cNvSpPr/>
          <p:nvPr/>
        </p:nvSpPr>
        <p:spPr>
          <a:xfrm>
            <a:off x="457200" y="1143000"/>
            <a:ext cx="8229600" cy="1600200"/>
          </a:xfrm>
          <a:prstGeom prst="roundRect">
            <a:avLst>
              <a:gd name="adj" fmla="val 6857"/>
            </a:avLst>
          </a:prstGeom>
          <a:solidFill>
            <a:srgbClr val="FFF3DC"/>
          </a:solidFill>
          <a:ln w="31750">
            <a:solidFill>
              <a:srgbClr val="D4943A"/>
            </a:solidFill>
            <a:prstDash val="solid"/>
          </a:ln>
          <a:effectLst>
            <a:outerShdw sx="100000" sy="100000" kx="0" ky="0" algn="bl" rotWithShape="0" blurRad="101600" dist="38100" dir="8100000">
              <a:srgbClr val="000000">
                <a:alpha val="12000"/>
              </a:srgbClr>
            </a:outerShdw>
          </a:effectLst>
        </p:spPr>
      </p:sp>
      <p:sp>
        <p:nvSpPr>
          <p:cNvPr id="7" name="Text 4"/>
          <p:cNvSpPr/>
          <p:nvPr/>
        </p:nvSpPr>
        <p:spPr>
          <a:xfrm>
            <a:off x="457200" y="1207008"/>
            <a:ext cx="8229600" cy="256032"/>
          </a:xfrm>
          <a:prstGeom prst="rect">
            <a:avLst/>
          </a:prstGeom>
          <a:noFill/>
          <a:ln/>
        </p:spPr>
        <p:txBody>
          <a:bodyPr wrap="square" lIns="0" tIns="0" rIns="0" bIns="0" rtlCol="0" anchor="ctr"/>
          <a:lstStyle/>
          <a:p>
            <a:pPr algn="ctr" indent="0" marL="0">
              <a:buNone/>
            </a:pPr>
            <a:r>
              <a:rPr lang="en-US" sz="900" b="1" spc="200" kern="0" dirty="0">
                <a:solidFill>
                  <a:srgbClr val="D4943A"/>
                </a:solidFill>
                <a:latin typeface="Calibri" pitchFamily="34" charset="0"/>
                <a:ea typeface="Calibri" pitchFamily="34" charset="-122"/>
                <a:cs typeface="Calibri" pitchFamily="34" charset="-120"/>
              </a:rPr>
              <a:t>CURATOR'S CHRONICLE</a:t>
            </a:r>
            <a:endParaRPr lang="en-US" sz="900" dirty="0"/>
          </a:p>
        </p:txBody>
      </p:sp>
      <p:sp>
        <p:nvSpPr>
          <p:cNvPr id="8" name="Text 5"/>
          <p:cNvSpPr/>
          <p:nvPr/>
        </p:nvSpPr>
        <p:spPr>
          <a:xfrm>
            <a:off x="640080" y="1508760"/>
            <a:ext cx="7863840" cy="868680"/>
          </a:xfrm>
          <a:prstGeom prst="rect">
            <a:avLst/>
          </a:prstGeom>
          <a:noFill/>
          <a:ln/>
        </p:spPr>
        <p:txBody>
          <a:bodyPr wrap="square" lIns="0" tIns="0" rIns="0" bIns="0" rtlCol="0" anchor="ctr"/>
          <a:lstStyle/>
          <a:p>
            <a:pPr algn="ctr" indent="0" marL="0">
              <a:buNone/>
            </a:pPr>
            <a:r>
              <a:rPr lang="en-US" sz="1600" i="1" dirty="0">
                <a:solidFill>
                  <a:srgbClr val="5A4A3A"/>
                </a:solidFill>
                <a:latin typeface="Cambria" pitchFamily="34" charset="0"/>
                <a:ea typeface="Cambria" pitchFamily="34" charset="-122"/>
                <a:cs typeface="Cambria" pitchFamily="34" charset="-120"/>
              </a:rPr>
              <a:t>"In Unit 1, the most important thing I learned as a curator is __________ because __________."</a:t>
            </a:r>
            <a:endParaRPr lang="en-US" sz="1600" dirty="0"/>
          </a:p>
        </p:txBody>
      </p:sp>
      <p:sp>
        <p:nvSpPr>
          <p:cNvPr id="9" name="Shape 6"/>
          <p:cNvSpPr/>
          <p:nvPr/>
        </p:nvSpPr>
        <p:spPr>
          <a:xfrm>
            <a:off x="457200" y="2834640"/>
            <a:ext cx="8229600" cy="1508760"/>
          </a:xfrm>
          <a:prstGeom prst="roundRect">
            <a:avLst>
              <a:gd name="adj" fmla="val 7273"/>
            </a:avLst>
          </a:prstGeom>
          <a:solidFill>
            <a:srgbClr val="F0F2F8"/>
          </a:solidFill>
          <a:ln w="19050">
            <a:solidFill>
              <a:srgbClr val="1A8A7D"/>
            </a:solidFill>
            <a:prstDash val="solid"/>
          </a:ln>
        </p:spPr>
      </p:sp>
      <p:sp>
        <p:nvSpPr>
          <p:cNvPr id="10" name="Text 7"/>
          <p:cNvSpPr/>
          <p:nvPr/>
        </p:nvSpPr>
        <p:spPr>
          <a:xfrm>
            <a:off x="457200" y="2898648"/>
            <a:ext cx="8229600" cy="256032"/>
          </a:xfrm>
          <a:prstGeom prst="rect">
            <a:avLst/>
          </a:prstGeom>
          <a:noFill/>
          <a:ln/>
        </p:spPr>
        <p:txBody>
          <a:bodyPr wrap="square" lIns="0" tIns="0" rIns="0" bIns="0" rtlCol="0" anchor="ctr"/>
          <a:lstStyle/>
          <a:p>
            <a:pPr algn="ctr" indent="0" marL="0">
              <a:buNone/>
            </a:pPr>
            <a:r>
              <a:rPr lang="en-US" sz="900" b="1" spc="150" kern="0" dirty="0">
                <a:solidFill>
                  <a:srgbClr val="1A8A7D"/>
                </a:solidFill>
                <a:latin typeface="Calibri" pitchFamily="34" charset="0"/>
                <a:ea typeface="Calibri" pitchFamily="34" charset="-122"/>
                <a:cs typeface="Calibri" pitchFamily="34" charset="-120"/>
              </a:rPr>
              <a:t>TURN-IN CHECKLIST — Before You Submit</a:t>
            </a:r>
            <a:endParaRPr lang="en-US" sz="900" dirty="0"/>
          </a:p>
        </p:txBody>
      </p:sp>
      <p:sp>
        <p:nvSpPr>
          <p:cNvPr id="11" name="Text 8"/>
          <p:cNvSpPr/>
          <p:nvPr/>
        </p:nvSpPr>
        <p:spPr>
          <a:xfrm>
            <a:off x="594360" y="3200400"/>
            <a:ext cx="3840480" cy="384048"/>
          </a:xfrm>
          <a:prstGeom prst="rect">
            <a:avLst/>
          </a:prstGeom>
          <a:noFill/>
          <a:ln/>
        </p:spPr>
        <p:txBody>
          <a:bodyPr wrap="square" lIns="0" tIns="0" rIns="0" bIns="0" rtlCol="0" anchor="ctr"/>
          <a:lstStyle/>
          <a:p>
            <a:pPr algn="l" indent="0" marL="0">
              <a:buNone/>
            </a:pPr>
            <a:r>
              <a:rPr lang="en-US" sz="1100" dirty="0">
                <a:solidFill>
                  <a:srgbClr val="0E1C42"/>
                </a:solidFill>
                <a:latin typeface="Calibri" pitchFamily="34" charset="0"/>
                <a:ea typeface="Calibri" pitchFamily="34" charset="-122"/>
                <a:cs typeface="Calibri" pitchFamily="34" charset="-120"/>
              </a:rPr>
              <a:t>□  I answered both evidence questions using Unit 1 skills.</a:t>
            </a:r>
            <a:endParaRPr lang="en-US" sz="1100" dirty="0"/>
          </a:p>
        </p:txBody>
      </p:sp>
      <p:sp>
        <p:nvSpPr>
          <p:cNvPr id="12" name="Text 9"/>
          <p:cNvSpPr/>
          <p:nvPr/>
        </p:nvSpPr>
        <p:spPr>
          <a:xfrm>
            <a:off x="594360" y="3675888"/>
            <a:ext cx="3840480" cy="384048"/>
          </a:xfrm>
          <a:prstGeom prst="rect">
            <a:avLst/>
          </a:prstGeom>
          <a:noFill/>
          <a:ln/>
        </p:spPr>
        <p:txBody>
          <a:bodyPr wrap="square" lIns="0" tIns="0" rIns="0" bIns="0" rtlCol="0" anchor="ctr"/>
          <a:lstStyle/>
          <a:p>
            <a:pPr algn="l" indent="0" marL="0">
              <a:buNone/>
            </a:pPr>
            <a:r>
              <a:rPr lang="en-US" sz="1100" dirty="0">
                <a:solidFill>
                  <a:srgbClr val="0E1C42"/>
                </a:solidFill>
                <a:latin typeface="Calibri" pitchFamily="34" charset="0"/>
                <a:ea typeface="Calibri" pitchFamily="34" charset="-122"/>
                <a:cs typeface="Calibri" pitchFamily="34" charset="-120"/>
              </a:rPr>
              <a:t>□  I wrote my official evidence entry (observation, meaning, importance).</a:t>
            </a:r>
            <a:endParaRPr lang="en-US" sz="1100" dirty="0"/>
          </a:p>
        </p:txBody>
      </p:sp>
      <p:sp>
        <p:nvSpPr>
          <p:cNvPr id="13" name="Text 10"/>
          <p:cNvSpPr/>
          <p:nvPr/>
        </p:nvSpPr>
        <p:spPr>
          <a:xfrm>
            <a:off x="4709160" y="3200400"/>
            <a:ext cx="3840480" cy="384048"/>
          </a:xfrm>
          <a:prstGeom prst="rect">
            <a:avLst/>
          </a:prstGeom>
          <a:noFill/>
          <a:ln/>
        </p:spPr>
        <p:txBody>
          <a:bodyPr wrap="square" lIns="0" tIns="0" rIns="0" bIns="0" rtlCol="0" anchor="ctr"/>
          <a:lstStyle/>
          <a:p>
            <a:pPr algn="l" indent="0" marL="0">
              <a:buNone/>
            </a:pPr>
            <a:r>
              <a:rPr lang="en-US" sz="1100" dirty="0">
                <a:solidFill>
                  <a:srgbClr val="0E1C42"/>
                </a:solidFill>
                <a:latin typeface="Calibri" pitchFamily="34" charset="0"/>
                <a:ea typeface="Calibri" pitchFamily="34" charset="-122"/>
                <a:cs typeface="Calibri" pitchFamily="34" charset="-120"/>
              </a:rPr>
              <a:t>□  I completed my Curator's Chronicle sentence.</a:t>
            </a:r>
            <a:endParaRPr lang="en-US" sz="1100" dirty="0"/>
          </a:p>
        </p:txBody>
      </p:sp>
      <p:sp>
        <p:nvSpPr>
          <p:cNvPr id="14" name="Text 11"/>
          <p:cNvSpPr/>
          <p:nvPr/>
        </p:nvSpPr>
        <p:spPr>
          <a:xfrm>
            <a:off x="4709160" y="3675888"/>
            <a:ext cx="3840480" cy="384048"/>
          </a:xfrm>
          <a:prstGeom prst="rect">
            <a:avLst/>
          </a:prstGeom>
          <a:noFill/>
          <a:ln/>
        </p:spPr>
        <p:txBody>
          <a:bodyPr wrap="square" lIns="0" tIns="0" rIns="0" bIns="0" rtlCol="0" anchor="ctr"/>
          <a:lstStyle/>
          <a:p>
            <a:pPr algn="l" indent="0" marL="0">
              <a:buNone/>
            </a:pPr>
            <a:r>
              <a:rPr lang="en-US" sz="1100" dirty="0">
                <a:solidFill>
                  <a:srgbClr val="0E1C42"/>
                </a:solidFill>
                <a:latin typeface="Calibri" pitchFamily="34" charset="0"/>
                <a:ea typeface="Calibri" pitchFamily="34" charset="-122"/>
                <a:cs typeface="Calibri" pitchFamily="34" charset="-120"/>
              </a:rPr>
              <a:t>□  I copied or downloaded my work and submitted to Canvas.</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E1C42"/>
        </a:solidFill>
      </p:bgPr>
    </p:bg>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5" name="Text 2"/>
          <p:cNvSpPr/>
          <p:nvPr/>
        </p:nvSpPr>
        <p:spPr>
          <a:xfrm>
            <a:off x="457200" y="201168"/>
            <a:ext cx="8229600" cy="274320"/>
          </a:xfrm>
          <a:prstGeom prst="rect">
            <a:avLst/>
          </a:prstGeom>
          <a:noFill/>
          <a:ln/>
        </p:spPr>
        <p:txBody>
          <a:bodyPr wrap="square" lIns="0" tIns="0" rIns="0" bIns="0" rtlCol="0" anchor="ctr"/>
          <a:lstStyle/>
          <a:p>
            <a:pPr algn="ctr" indent="0" marL="0">
              <a:buNone/>
            </a:pPr>
            <a:r>
              <a:rPr lang="en-US" sz="900" b="1" spc="250" kern="0" dirty="0">
                <a:solidFill>
                  <a:srgbClr val="55C8E8"/>
                </a:solidFill>
                <a:latin typeface="Calibri" pitchFamily="34" charset="0"/>
                <a:ea typeface="Calibri" pitchFamily="34" charset="-122"/>
                <a:cs typeface="Calibri" pitchFamily="34" charset="-120"/>
              </a:rPr>
              <a:t>UNIT 1 COMPLETE  ·  CURATOR TRAINING HALL</a:t>
            </a:r>
            <a:endParaRPr lang="en-US" sz="900" dirty="0"/>
          </a:p>
        </p:txBody>
      </p:sp>
      <p:sp>
        <p:nvSpPr>
          <p:cNvPr id="6" name="Shape 3"/>
          <p:cNvSpPr/>
          <p:nvPr/>
        </p:nvSpPr>
        <p:spPr>
          <a:xfrm>
            <a:off x="365760" y="594360"/>
            <a:ext cx="3474720" cy="2926080"/>
          </a:xfrm>
          <a:prstGeom prst="roundRect">
            <a:avLst>
              <a:gd name="adj" fmla="val 3750"/>
            </a:avLst>
          </a:prstGeom>
          <a:solidFill>
            <a:srgbClr val="E2E8F4"/>
          </a:solidFill>
          <a:ln w="19050">
            <a:solidFill>
              <a:srgbClr val="B0B8CC"/>
            </a:solidFill>
            <a:prstDash val="dash"/>
          </a:ln>
        </p:spPr>
      </p:sp>
      <p:sp>
        <p:nvSpPr>
          <p:cNvPr id="7" name="Text 4"/>
          <p:cNvSpPr/>
          <p:nvPr/>
        </p:nvSpPr>
        <p:spPr>
          <a:xfrm>
            <a:off x="365760" y="594360"/>
            <a:ext cx="347472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5"/>
          <p:cNvSpPr/>
          <p:nvPr/>
        </p:nvSpPr>
        <p:spPr>
          <a:xfrm>
            <a:off x="502920" y="868680"/>
            <a:ext cx="3200400" cy="25603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Glowing gold 'EVIDENCE KEEPER' badge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on velvet stand in museum display case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Golden spotlight from above</a:t>
            </a:r>
            <a:endParaRPr lang="en-US" sz="1100" dirty="0"/>
          </a:p>
          <a:p>
            <a:pPr algn="ctr" indent="0" marL="0">
              <a:buNone/>
            </a:pPr>
            <a:r>
              <a:rPr lang="en-US" sz="1100" i="1" dirty="0">
                <a:solidFill>
                  <a:srgbClr val="7A88A8"/>
                </a:solidFill>
                <a:latin typeface="Calibri" pitchFamily="34" charset="0"/>
                <a:ea typeface="Calibri" pitchFamily="34" charset="-122"/>
                <a:cs typeface="Calibri" pitchFamily="34" charset="-120"/>
              </a:rPr>
              <a:t>Celebratory atmosphere</a:t>
            </a:r>
            <a:endParaRPr lang="en-US" sz="1100" dirty="0"/>
          </a:p>
        </p:txBody>
      </p:sp>
      <p:sp>
        <p:nvSpPr>
          <p:cNvPr id="9" name="Text 6"/>
          <p:cNvSpPr/>
          <p:nvPr/>
        </p:nvSpPr>
        <p:spPr>
          <a:xfrm>
            <a:off x="4114800" y="594360"/>
            <a:ext cx="4663440" cy="411480"/>
          </a:xfrm>
          <a:prstGeom prst="rect">
            <a:avLst/>
          </a:prstGeom>
          <a:noFill/>
          <a:ln/>
        </p:spPr>
        <p:txBody>
          <a:bodyPr wrap="square" lIns="0" tIns="0" rIns="0" bIns="0" rtlCol="0" anchor="ctr"/>
          <a:lstStyle/>
          <a:p>
            <a:pPr algn="l" indent="0" marL="0">
              <a:buNone/>
            </a:pPr>
            <a:r>
              <a:rPr lang="en-US" sz="2000" i="1" dirty="0">
                <a:solidFill>
                  <a:srgbClr val="55C8E8"/>
                </a:solidFill>
                <a:latin typeface="Cambria" pitchFamily="34" charset="0"/>
                <a:ea typeface="Cambria" pitchFamily="34" charset="-122"/>
                <a:cs typeface="Cambria" pitchFamily="34" charset="-120"/>
              </a:rPr>
              <a:t>You've Earned the</a:t>
            </a:r>
            <a:endParaRPr lang="en-US" sz="2000" dirty="0"/>
          </a:p>
        </p:txBody>
      </p:sp>
      <p:sp>
        <p:nvSpPr>
          <p:cNvPr id="10" name="Text 7"/>
          <p:cNvSpPr/>
          <p:nvPr/>
        </p:nvSpPr>
        <p:spPr>
          <a:xfrm>
            <a:off x="4114800" y="1005840"/>
            <a:ext cx="4663440" cy="1005840"/>
          </a:xfrm>
          <a:prstGeom prst="rect">
            <a:avLst/>
          </a:prstGeom>
          <a:noFill/>
          <a:ln/>
        </p:spPr>
        <p:txBody>
          <a:bodyPr wrap="square" lIns="0" tIns="0" rIns="0" bIns="0" rtlCol="0" anchor="ctr"/>
          <a:lstStyle/>
          <a:p>
            <a:pPr algn="l" indent="0" marL="0">
              <a:buNone/>
            </a:pPr>
            <a:r>
              <a:rPr lang="en-US" sz="3400" b="1" dirty="0">
                <a:solidFill>
                  <a:srgbClr val="D4943A"/>
                </a:solidFill>
                <a:latin typeface="Cambria" pitchFamily="34" charset="0"/>
                <a:ea typeface="Cambria" pitchFamily="34" charset="-122"/>
                <a:cs typeface="Cambria" pitchFamily="34" charset="-120"/>
              </a:rPr>
              <a:t>Evidence Keeper</a:t>
            </a:r>
            <a:endParaRPr lang="en-US" sz="3400" dirty="0"/>
          </a:p>
          <a:p>
            <a:pPr algn="l" indent="0" marL="0">
              <a:buNone/>
            </a:pPr>
            <a:r>
              <a:rPr lang="en-US" sz="3400" b="1" dirty="0">
                <a:solidFill>
                  <a:srgbClr val="D4943A"/>
                </a:solidFill>
                <a:latin typeface="Cambria" pitchFamily="34" charset="0"/>
                <a:ea typeface="Cambria" pitchFamily="34" charset="-122"/>
                <a:cs typeface="Cambria" pitchFamily="34" charset="-120"/>
              </a:rPr>
              <a:t>Badge!</a:t>
            </a:r>
            <a:endParaRPr lang="en-US" sz="3400" dirty="0"/>
          </a:p>
        </p:txBody>
      </p:sp>
      <p:sp>
        <p:nvSpPr>
          <p:cNvPr id="11" name="Shape 8"/>
          <p:cNvSpPr/>
          <p:nvPr/>
        </p:nvSpPr>
        <p:spPr>
          <a:xfrm>
            <a:off x="4114800" y="2103120"/>
            <a:ext cx="4572000" cy="0"/>
          </a:xfrm>
          <a:prstGeom prst="line">
            <a:avLst/>
          </a:prstGeom>
          <a:noFill/>
          <a:ln w="19050">
            <a:solidFill>
              <a:srgbClr val="D4943A"/>
            </a:solidFill>
            <a:prstDash val="solid"/>
          </a:ln>
        </p:spPr>
      </p:sp>
      <p:sp>
        <p:nvSpPr>
          <p:cNvPr id="12" name="Text 9"/>
          <p:cNvSpPr/>
          <p:nvPr/>
        </p:nvSpPr>
        <p:spPr>
          <a:xfrm>
            <a:off x="4114800" y="2194560"/>
            <a:ext cx="4572000" cy="256032"/>
          </a:xfrm>
          <a:prstGeom prst="rect">
            <a:avLst/>
          </a:prstGeom>
          <a:noFill/>
          <a:ln/>
        </p:spPr>
        <p:txBody>
          <a:bodyPr wrap="square" lIns="0" tIns="0" rIns="0" bIns="0" rtlCol="0" anchor="ctr"/>
          <a:lstStyle/>
          <a:p>
            <a:pPr algn="l" indent="0" marL="0">
              <a:buNone/>
            </a:pPr>
            <a:r>
              <a:rPr lang="en-US" sz="1200" b="1" dirty="0">
                <a:solidFill>
                  <a:srgbClr val="55C8E8"/>
                </a:solidFill>
                <a:latin typeface="Calibri" pitchFamily="34" charset="0"/>
                <a:ea typeface="Calibri" pitchFamily="34" charset="-122"/>
                <a:cs typeface="Calibri" pitchFamily="34" charset="-120"/>
              </a:rPr>
              <a:t>You can now:</a:t>
            </a:r>
            <a:endParaRPr lang="en-US" sz="1200" dirty="0"/>
          </a:p>
        </p:txBody>
      </p:sp>
      <p:sp>
        <p:nvSpPr>
          <p:cNvPr id="13" name="Text 10"/>
          <p:cNvSpPr/>
          <p:nvPr/>
        </p:nvSpPr>
        <p:spPr>
          <a:xfrm>
            <a:off x="4206240" y="2468880"/>
            <a:ext cx="438912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Sort primary vs. secondary sources</a:t>
            </a:r>
            <a:endParaRPr lang="en-US" sz="1100" dirty="0"/>
          </a:p>
        </p:txBody>
      </p:sp>
      <p:sp>
        <p:nvSpPr>
          <p:cNvPr id="14" name="Text 11"/>
          <p:cNvSpPr/>
          <p:nvPr/>
        </p:nvSpPr>
        <p:spPr>
          <a:xfrm>
            <a:off x="4206240" y="2798064"/>
            <a:ext cx="438912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Ask five question types</a:t>
            </a:r>
            <a:endParaRPr lang="en-US" sz="1100" dirty="0"/>
          </a:p>
        </p:txBody>
      </p:sp>
      <p:sp>
        <p:nvSpPr>
          <p:cNvPr id="15" name="Text 12"/>
          <p:cNvSpPr/>
          <p:nvPr/>
        </p:nvSpPr>
        <p:spPr>
          <a:xfrm>
            <a:off x="4206240" y="3127248"/>
            <a:ext cx="438912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Apply the Three-Check Test</a:t>
            </a:r>
            <a:endParaRPr lang="en-US" sz="1100" dirty="0"/>
          </a:p>
        </p:txBody>
      </p:sp>
      <p:sp>
        <p:nvSpPr>
          <p:cNvPr id="16" name="Text 13"/>
          <p:cNvSpPr/>
          <p:nvPr/>
        </p:nvSpPr>
        <p:spPr>
          <a:xfrm>
            <a:off x="4206240" y="3456432"/>
            <a:ext cx="438912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Read word roots as curator tools</a:t>
            </a:r>
            <a:endParaRPr lang="en-US" sz="1100" dirty="0"/>
          </a:p>
        </p:txBody>
      </p:sp>
      <p:sp>
        <p:nvSpPr>
          <p:cNvPr id="17" name="Text 14"/>
          <p:cNvSpPr/>
          <p:nvPr/>
        </p:nvSpPr>
        <p:spPr>
          <a:xfrm>
            <a:off x="4206240" y="3785616"/>
            <a:ext cx="4389120" cy="292608"/>
          </a:xfrm>
          <a:prstGeom prst="rect">
            <a:avLst/>
          </a:prstGeom>
          <a:noFill/>
          <a:ln/>
        </p:spPr>
        <p:txBody>
          <a:bodyPr wrap="square" lIns="0" tIns="0" rIns="0" bIns="0" rtlCol="0" anchor="ctr"/>
          <a:lstStyle/>
          <a:p>
            <a:pPr algn="l" indent="0" marL="0">
              <a:buNone/>
            </a:pPr>
            <a:r>
              <a:rPr lang="en-US" sz="1100" dirty="0">
                <a:solidFill>
                  <a:srgbClr val="FFFFFF"/>
                </a:solidFill>
                <a:latin typeface="Calibri" pitchFamily="34" charset="0"/>
                <a:ea typeface="Calibri" pitchFamily="34" charset="-122"/>
                <a:cs typeface="Calibri" pitchFamily="34" charset="-120"/>
              </a:rPr>
              <a:t>✓  Write an honest evidence entry</a:t>
            </a:r>
            <a:endParaRPr lang="en-US" sz="1100" dirty="0"/>
          </a:p>
        </p:txBody>
      </p:sp>
      <p:sp>
        <p:nvSpPr>
          <p:cNvPr id="18" name="Shape 15"/>
          <p:cNvSpPr/>
          <p:nvPr/>
        </p:nvSpPr>
        <p:spPr>
          <a:xfrm>
            <a:off x="365760" y="3657600"/>
            <a:ext cx="8412480" cy="1207008"/>
          </a:xfrm>
          <a:prstGeom prst="roundRect">
            <a:avLst>
              <a:gd name="adj" fmla="val 9091"/>
            </a:avLst>
          </a:prstGeom>
          <a:solidFill>
            <a:srgbClr val="1A2D5A"/>
          </a:solidFill>
          <a:ln w="25400">
            <a:solidFill>
              <a:srgbClr val="D4943A"/>
            </a:solidFill>
            <a:prstDash val="solid"/>
          </a:ln>
          <a:effectLst>
            <a:outerShdw sx="100000" sy="100000" kx="0" ky="0" algn="bl" rotWithShape="0" blurRad="101600" dist="38100" dir="8100000">
              <a:srgbClr val="000000">
                <a:alpha val="25000"/>
              </a:srgbClr>
            </a:outerShdw>
          </a:effectLst>
        </p:spPr>
      </p:sp>
      <p:sp>
        <p:nvSpPr>
          <p:cNvPr id="19" name="Text 16"/>
          <p:cNvSpPr/>
          <p:nvPr/>
        </p:nvSpPr>
        <p:spPr>
          <a:xfrm>
            <a:off x="365760" y="3712464"/>
            <a:ext cx="8412480" cy="256032"/>
          </a:xfrm>
          <a:prstGeom prst="rect">
            <a:avLst/>
          </a:prstGeom>
          <a:noFill/>
          <a:ln/>
        </p:spPr>
        <p:txBody>
          <a:bodyPr wrap="square" lIns="0" tIns="0" rIns="0" bIns="0" rtlCol="0" anchor="ctr"/>
          <a:lstStyle/>
          <a:p>
            <a:pPr algn="ctr" indent="0" marL="0">
              <a:buNone/>
            </a:pPr>
            <a:r>
              <a:rPr lang="en-US" sz="900" b="1" spc="250" kern="0" dirty="0">
                <a:solidFill>
                  <a:srgbClr val="D4943A"/>
                </a:solidFill>
                <a:latin typeface="Calibri" pitchFamily="34" charset="0"/>
                <a:ea typeface="Calibri" pitchFamily="34" charset="-122"/>
                <a:cs typeface="Calibri" pitchFamily="34" charset="-120"/>
              </a:rPr>
              <a:t>COMING NEXT — UNIT 2: THE EXPLORATION WING</a:t>
            </a:r>
            <a:endParaRPr lang="en-US" sz="900" dirty="0"/>
          </a:p>
        </p:txBody>
      </p:sp>
      <p:sp>
        <p:nvSpPr>
          <p:cNvPr id="20" name="Text 17"/>
          <p:cNvSpPr/>
          <p:nvPr/>
        </p:nvSpPr>
        <p:spPr>
          <a:xfrm>
            <a:off x="548640" y="3977640"/>
            <a:ext cx="8046720" cy="822960"/>
          </a:xfrm>
          <a:prstGeom prst="rect">
            <a:avLst/>
          </a:prstGeom>
          <a:noFill/>
          <a:ln/>
        </p:spPr>
        <p:txBody>
          <a:bodyPr wrap="square" lIns="0" tIns="0" rIns="0" bIns="0" rtlCol="0" anchor="ctr"/>
          <a:lstStyle/>
          <a:p>
            <a:pPr algn="ctr" indent="0" marL="0">
              <a:buNone/>
            </a:pPr>
            <a:r>
              <a:rPr lang="en-US" sz="1200" i="1" dirty="0">
                <a:solidFill>
                  <a:srgbClr val="FFFFFF"/>
                </a:solidFill>
                <a:latin typeface="Cambria" pitchFamily="34" charset="0"/>
                <a:ea typeface="Cambria" pitchFamily="34" charset="-122"/>
                <a:cs typeface="Cambria" pitchFamily="34" charset="-120"/>
              </a:rPr>
              <a:t>That crate marked "Explorer Routes: Unverified" is now open.</a:t>
            </a:r>
            <a:endParaRPr lang="en-US" sz="1200" dirty="0"/>
          </a:p>
          <a:p>
            <a:pPr algn="ctr" indent="0" marL="0">
              <a:buNone/>
            </a:pPr>
            <a:r>
              <a:rPr lang="en-US" sz="1200" i="1" dirty="0">
                <a:solidFill>
                  <a:srgbClr val="FFFFFF"/>
                </a:solidFill>
                <a:latin typeface="Cambria" pitchFamily="34" charset="0"/>
                <a:ea typeface="Cambria" pitchFamily="34" charset="-122"/>
                <a:cs typeface="Cambria" pitchFamily="34" charset="-120"/>
              </a:rPr>
              <a:t>Inside: maps, route lines, and stories of people who crossed oceans — but some of these stories might not be the whole truth.</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2026-07-10T22:05:58Z</dcterms:created>
  <dcterms:modified xsi:type="dcterms:W3CDTF">2026-07-10T22:05:58Z</dcterms:modified>
</cp:coreProperties>
</file>