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Grand museum chamber with a portfolio desk in the center, a curtained doorway at the far end, warm dramatic lighting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 museum hallway with a 'Courage' banner, an Exhibit Reviewer organizing a portfolio on a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reveal: a curtain pulled back to show a massive, beautiful but BLANK world map on a museum wall - no labels, no names, empty continents and oceans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0F2F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975360"/>
            <a:ext cx="14630400" cy="568960"/>
          </a:xfrm>
          <a:prstGeom prst="rect">
            <a:avLst/>
          </a:prstGeom>
          <a:noFill/>
          <a:ln/>
        </p:spPr>
        <p:txBody>
          <a:bodyPr wrap="square" lIns="0" tIns="0" rIns="0" bIns="0" rtlCol="0" anchor="ctr"/>
          <a:lstStyle/>
          <a:p>
            <a:pPr indent="0" marL="0">
              <a:buNone/>
            </a:pPr>
            <a:r>
              <a:rPr lang="en-US" sz="1100" b="1" spc="300" kern="0" dirty="0">
                <a:solidFill>
                  <a:srgbClr val="D4943A"/>
                </a:solidFill>
                <a:latin typeface="Calibri" pitchFamily="34" charset="0"/>
                <a:ea typeface="Calibri" pitchFamily="34" charset="-122"/>
                <a:cs typeface="Calibri" pitchFamily="34" charset="-120"/>
              </a:rPr>
              <a:t>LESSON 3.04.02 | SYNTHESIS</a:t>
            </a:r>
            <a:endParaRPr lang="en-US" sz="1100" dirty="0"/>
          </a:p>
        </p:txBody>
      </p:sp>
      <p:sp>
        <p:nvSpPr>
          <p:cNvPr id="6" name="Text 3"/>
          <p:cNvSpPr/>
          <p:nvPr/>
        </p:nvSpPr>
        <p:spPr>
          <a:xfrm>
            <a:off x="812800" y="1625600"/>
            <a:ext cx="9753600" cy="227584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Cartographer's Review</a:t>
            </a:r>
            <a:endParaRPr lang="en-US" sz="3600" dirty="0"/>
          </a:p>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Portfolio</a:t>
            </a:r>
            <a:endParaRPr lang="en-US" sz="3600" dirty="0"/>
          </a:p>
        </p:txBody>
      </p:sp>
      <p:sp>
        <p:nvSpPr>
          <p:cNvPr id="7" name="Shape 4"/>
          <p:cNvSpPr/>
          <p:nvPr/>
        </p:nvSpPr>
        <p:spPr>
          <a:xfrm>
            <a:off x="812800" y="4064000"/>
            <a:ext cx="4064000" cy="65024"/>
          </a:xfrm>
          <a:prstGeom prst="rect">
            <a:avLst/>
          </a:prstGeom>
          <a:solidFill>
            <a:srgbClr val="D4943A"/>
          </a:solidFill>
          <a:ln/>
        </p:spPr>
      </p:sp>
      <p:sp>
        <p:nvSpPr>
          <p:cNvPr id="8" name="Text 5"/>
          <p:cNvSpPr/>
          <p:nvPr/>
        </p:nvSpPr>
        <p:spPr>
          <a:xfrm>
            <a:off x="812800" y="4470400"/>
            <a:ext cx="13004800" cy="48768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Curator's Question</a:t>
            </a:r>
            <a:endParaRPr lang="en-US" sz="1000" dirty="0"/>
          </a:p>
        </p:txBody>
      </p:sp>
      <p:sp>
        <p:nvSpPr>
          <p:cNvPr id="9" name="Text 6"/>
          <p:cNvSpPr/>
          <p:nvPr/>
        </p:nvSpPr>
        <p:spPr>
          <a:xfrm>
            <a:off x="812800" y="5039360"/>
            <a:ext cx="11379200" cy="1625600"/>
          </a:xfrm>
          <a:prstGeom prst="rect">
            <a:avLst/>
          </a:prstGeom>
          <a:noFill/>
          <a:ln/>
        </p:spPr>
        <p:txBody>
          <a:bodyPr wrap="square" lIns="0" tIns="0" rIns="0" bIns="0" rtlCol="0" anchor="ctr"/>
          <a:lstStyle/>
          <a:p>
            <a:pPr indent="0" marL="0">
              <a:lnSpc>
                <a:spcPct val="120000"/>
              </a:lnSpc>
              <a:buNone/>
            </a:pPr>
            <a:r>
              <a:rPr lang="en-US" sz="1800" i="1" dirty="0">
                <a:solidFill>
                  <a:srgbClr val="FFFFFF"/>
                </a:solidFill>
                <a:latin typeface="Cambria" pitchFamily="34" charset="0"/>
                <a:ea typeface="Cambria" pitchFamily="34" charset="-122"/>
                <a:cs typeface="Cambria" pitchFamily="34" charset="-120"/>
              </a:rPr>
              <a:t>Can you prove you understand exploration,</a:t>
            </a:r>
            <a:endParaRPr lang="en-US" sz="1800" dirty="0"/>
          </a:p>
          <a:p>
            <a:pPr indent="0" marL="0">
              <a:lnSpc>
                <a:spcPct val="120000"/>
              </a:lnSpc>
              <a:buNone/>
            </a:pPr>
            <a:r>
              <a:rPr lang="en-US" sz="1800" i="1" dirty="0">
                <a:solidFill>
                  <a:srgbClr val="FFFFFF"/>
                </a:solidFill>
                <a:latin typeface="Cambria" pitchFamily="34" charset="0"/>
                <a:ea typeface="Cambria" pitchFamily="34" charset="-122"/>
                <a:cs typeface="Cambria" pitchFamily="34" charset="-120"/>
              </a:rPr>
              <a:t>tools, and maps well enough to open</a:t>
            </a:r>
            <a:endParaRPr lang="en-US" sz="1800" dirty="0"/>
          </a:p>
          <a:p>
            <a:pPr indent="0" marL="0">
              <a:lnSpc>
                <a:spcPct val="120000"/>
              </a:lnSpc>
              <a:buNone/>
            </a:pPr>
            <a:r>
              <a:rPr lang="en-US" sz="1800" i="1" dirty="0">
                <a:solidFill>
                  <a:srgbClr val="FFFFFF"/>
                </a:solidFill>
                <a:latin typeface="Cambria" pitchFamily="34" charset="0"/>
                <a:ea typeface="Cambria" pitchFamily="34" charset="-122"/>
                <a:cs typeface="Cambria" pitchFamily="34" charset="-120"/>
              </a:rPr>
              <a:t>the next museum room?</a:t>
            </a:r>
            <a:endParaRPr lang="en-US" sz="1800" dirty="0"/>
          </a:p>
        </p:txBody>
      </p:sp>
      <p:sp>
        <p:nvSpPr>
          <p:cNvPr id="10" name="Text 7"/>
          <p:cNvSpPr/>
          <p:nvPr/>
        </p:nvSpPr>
        <p:spPr>
          <a:xfrm>
            <a:off x="812800" y="7802880"/>
            <a:ext cx="14630400" cy="48768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Week 11 | Q2 | SS.3.G.1.1-1.6 | SS.3.A.1.1-1.3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ENTER THE MUSEUM</a:t>
            </a:r>
            <a:endParaRPr lang="en-US" sz="800" dirty="0"/>
          </a:p>
        </p:txBody>
      </p:sp>
      <p:sp>
        <p:nvSpPr>
          <p:cNvPr id="7" name="Text 5"/>
          <p:cNvSpPr/>
          <p:nvPr/>
        </p:nvSpPr>
        <p:spPr>
          <a:xfrm>
            <a:off x="487680" y="1625600"/>
            <a:ext cx="8940800" cy="1463040"/>
          </a:xfrm>
          <a:prstGeom prst="rect">
            <a:avLst/>
          </a:prstGeom>
          <a:noFill/>
          <a:ln/>
        </p:spPr>
        <p:txBody>
          <a:bodyPr wrap="square" lIns="0" tIns="0" rIns="0" bIns="0" rtlCol="0" anchor="ctr"/>
          <a:lstStyle/>
          <a:p>
            <a:pPr indent="0" marL="0">
              <a:lnSpc>
                <a:spcPct val="110000"/>
              </a:lnSpc>
              <a:buNone/>
            </a:pPr>
            <a:r>
              <a:rPr lang="en-US" sz="2400" b="1" dirty="0">
                <a:solidFill>
                  <a:srgbClr val="0E1C42"/>
                </a:solidFill>
                <a:latin typeface="Cambria" pitchFamily="34" charset="0"/>
                <a:ea typeface="Cambria" pitchFamily="34" charset="-122"/>
                <a:cs typeface="Cambria" pitchFamily="34" charset="-120"/>
              </a:rPr>
              <a:t>Portfolio Day in the</a:t>
            </a:r>
            <a:endParaRPr lang="en-US" sz="2400" dirty="0"/>
          </a:p>
          <a:p>
            <a:pPr indent="0" marL="0">
              <a:lnSpc>
                <a:spcPct val="110000"/>
              </a:lnSpc>
              <a:buNone/>
            </a:pPr>
            <a:r>
              <a:rPr lang="en-US" sz="2400" b="1" dirty="0">
                <a:solidFill>
                  <a:srgbClr val="0E1C42"/>
                </a:solidFill>
                <a:latin typeface="Cambria" pitchFamily="34" charset="0"/>
                <a:ea typeface="Cambria" pitchFamily="34" charset="-122"/>
                <a:cs typeface="Cambria" pitchFamily="34" charset="-120"/>
              </a:rPr>
              <a:t>Review Chamber</a:t>
            </a:r>
            <a:endParaRPr lang="en-US" sz="2400" dirty="0"/>
          </a:p>
        </p:txBody>
      </p:sp>
      <p:sp>
        <p:nvSpPr>
          <p:cNvPr id="8" name="Text 6"/>
          <p:cNvSpPr/>
          <p:nvPr/>
        </p:nvSpPr>
        <p:spPr>
          <a:xfrm>
            <a:off x="487680" y="3251200"/>
            <a:ext cx="8615680" cy="4551680"/>
          </a:xfrm>
          <a:prstGeom prst="rect">
            <a:avLst/>
          </a:prstGeom>
          <a:noFill/>
          <a:ln/>
        </p:spPr>
        <p:txBody>
          <a:bodyPr wrap="square" lIns="0" tIns="0" rIns="0" bIns="0" rtlCol="0" anchor="t"/>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Yesterday, you filled in the evidence wall.</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Today the museum board wants your </a:t>
            </a:r>
            <a:endParaRPr lang="en-US" sz="1300" dirty="0"/>
          </a:p>
          <a:p>
            <a:pPr indent="0" marL="0">
              <a:lnSpc>
                <a:spcPct val="130000"/>
              </a:lnSpc>
              <a:buNone/>
            </a:pPr>
            <a:r>
              <a:rPr lang="en-US" sz="1300" b="1" dirty="0">
                <a:solidFill>
                  <a:srgbClr val="D4943A"/>
                </a:solidFill>
                <a:latin typeface="Calibri" pitchFamily="34" charset="0"/>
                <a:ea typeface="Calibri" pitchFamily="34" charset="-122"/>
                <a:cs typeface="Calibri" pitchFamily="34" charset="-120"/>
              </a:rPr>
              <a:t>portfolio</a:t>
            </a:r>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 organized proof that you understand exploration, tools, and maps.
</a:t>
            </a:r>
            <a:pPr indent="0" marL="0">
              <a:lnSpc>
                <a:spcPct val="130000"/>
              </a:lnSpc>
              <a:buNone/>
            </a:pPr>
            <a:r>
              <a:rPr lang="en-US" sz="1300" b="1" dirty="0">
                <a:solidFill>
                  <a:srgbClr val="0E1C42"/>
                </a:solidFill>
                <a:latin typeface="Calibri" pitchFamily="34" charset="0"/>
                <a:ea typeface="Calibri" pitchFamily="34" charset="-122"/>
                <a:cs typeface="Calibri" pitchFamily="34" charset="-120"/>
              </a:rPr>
              <a:t>The museum board left a note:
</a:t>
            </a:r>
            <a:pPr indent="0" marL="0">
              <a:lnSpc>
                <a:spcPct val="130000"/>
              </a:lnSpc>
              <a:buNone/>
            </a:pPr>
            <a:r>
              <a:rPr lang="en-US" sz="1300" i="1" dirty="0">
                <a:solidFill>
                  <a:srgbClr val="E8636B"/>
                </a:solidFill>
                <a:latin typeface="Cambria" pitchFamily="34" charset="0"/>
                <a:ea typeface="Cambria" pitchFamily="34" charset="-122"/>
                <a:cs typeface="Cambria" pitchFamily="34" charset="-120"/>
              </a:rPr>
              <a:t>"Before we can open the World Map Hall, we need proof. Assemble a Cartographer's Review Portfolio."</a:t>
            </a:r>
            <a:endParaRPr lang="en-US" sz="1300" dirty="0"/>
          </a:p>
        </p:txBody>
      </p:sp>
      <p:sp>
        <p:nvSpPr>
          <p:cNvPr id="9" name="Text 7"/>
          <p:cNvSpPr/>
          <p:nvPr/>
        </p:nvSpPr>
        <p:spPr>
          <a:xfrm>
            <a:off x="487680" y="7477760"/>
            <a:ext cx="8615680" cy="975360"/>
          </a:xfrm>
          <a:prstGeom prst="rect">
            <a:avLst/>
          </a:prstGeom>
          <a:noFill/>
          <a:ln/>
        </p:spPr>
        <p:txBody>
          <a:bodyPr wrap="square" lIns="0" tIns="0" rIns="0" bIns="0" rtlCol="0" anchor="ctr"/>
          <a:lstStyle/>
          <a:p>
            <a:pPr indent="0" marL="0">
              <a:lnSpc>
                <a:spcPct val="120000"/>
              </a:lnSpc>
              <a:buNone/>
            </a:pPr>
            <a:r>
              <a:rPr lang="en-US" sz="1200" i="1" dirty="0">
                <a:solidFill>
                  <a:srgbClr val="1A8A7D"/>
                </a:solidFill>
                <a:latin typeface="Calibri" pitchFamily="34" charset="0"/>
                <a:ea typeface="Calibri" pitchFamily="34" charset="-122"/>
                <a:cs typeface="Calibri" pitchFamily="34" charset="-120"/>
              </a:rPr>
              <a:t>There's a curtain covering a doorway at the far end of the room.</a:t>
            </a:r>
            <a:endParaRPr lang="en-US" sz="1200" dirty="0"/>
          </a:p>
          <a:p>
            <a:pPr indent="0" marL="0">
              <a:lnSpc>
                <a:spcPct val="120000"/>
              </a:lnSpc>
              <a:buNone/>
            </a:pPr>
            <a:r>
              <a:rPr lang="en-US" sz="1200" i="1" dirty="0">
                <a:solidFill>
                  <a:srgbClr val="1A8A7D"/>
                </a:solidFill>
                <a:latin typeface="Calibri" pitchFamily="34" charset="0"/>
                <a:ea typeface="Calibri" pitchFamily="34" charset="-122"/>
                <a:cs typeface="Calibri" pitchFamily="34" charset="-120"/>
              </a:rPr>
              <a:t>What's behind it?</a:t>
            </a:r>
            <a:endParaRPr lang="en-US" sz="1200" dirty="0"/>
          </a:p>
        </p:txBody>
      </p:sp>
      <p:sp>
        <p:nvSpPr>
          <p:cNvPr id="10" name="Shape 8"/>
          <p:cNvSpPr/>
          <p:nvPr/>
        </p:nvSpPr>
        <p:spPr>
          <a:xfrm>
            <a:off x="9753600" y="1137920"/>
            <a:ext cx="5852160" cy="6827520"/>
          </a:xfrm>
          <a:prstGeom prst="roundRect">
            <a:avLst>
              <a:gd name="adj" fmla="val 3333"/>
            </a:avLst>
          </a:prstGeom>
          <a:solidFill>
            <a:srgbClr val="E2E8F4"/>
          </a:solidFill>
          <a:ln w="19050">
            <a:solidFill>
              <a:srgbClr val="B0B8CC"/>
            </a:solidFill>
            <a:prstDash val="dash"/>
          </a:ln>
        </p:spPr>
      </p:sp>
      <p:sp>
        <p:nvSpPr>
          <p:cNvPr id="11" name="Text 9"/>
          <p:cNvSpPr/>
          <p:nvPr/>
        </p:nvSpPr>
        <p:spPr>
          <a:xfrm>
            <a:off x="9753600" y="1137920"/>
            <a:ext cx="585216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9997440" y="1625600"/>
            <a:ext cx="5364480" cy="6177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review chamber with a large portfolio desk, a curtained mysterious doorway at the far end, board note pinned to the door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487680" y="812800"/>
            <a:ext cx="2926080" cy="455168"/>
          </a:xfrm>
          <a:prstGeom prst="roundRect">
            <a:avLst>
              <a:gd name="adj" fmla="val 50000"/>
            </a:avLst>
          </a:prstGeom>
          <a:solidFill>
            <a:srgbClr val="0E1C42"/>
          </a:solidFill>
          <a:ln/>
        </p:spPr>
      </p:sp>
      <p:sp>
        <p:nvSpPr>
          <p:cNvPr id="6" name="Text 3"/>
          <p:cNvSpPr/>
          <p:nvPr/>
        </p:nvSpPr>
        <p:spPr>
          <a:xfrm>
            <a:off x="487680" y="81280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VIRTUE SPOTLIGHT</a:t>
            </a:r>
            <a:endParaRPr lang="en-US" sz="800" dirty="0"/>
          </a:p>
        </p:txBody>
      </p:sp>
      <p:sp>
        <p:nvSpPr>
          <p:cNvPr id="7" name="Text 4"/>
          <p:cNvSpPr/>
          <p:nvPr/>
        </p:nvSpPr>
        <p:spPr>
          <a:xfrm>
            <a:off x="487680" y="1625600"/>
            <a:ext cx="8128000" cy="1137920"/>
          </a:xfrm>
          <a:prstGeom prst="rect">
            <a:avLst/>
          </a:prstGeom>
          <a:noFill/>
          <a:ln/>
        </p:spPr>
        <p:txBody>
          <a:bodyPr wrap="square" lIns="0" tIns="0" rIns="0" bIns="0" rtlCol="0" anchor="ctr"/>
          <a:lstStyle/>
          <a:p>
            <a:pPr indent="0" marL="0">
              <a:buNone/>
            </a:pPr>
            <a:r>
              <a:rPr lang="en-US" sz="3200" b="1" dirty="0">
                <a:solidFill>
                  <a:srgbClr val="D4943A"/>
                </a:solidFill>
                <a:latin typeface="Cambria" pitchFamily="34" charset="0"/>
                <a:ea typeface="Cambria" pitchFamily="34" charset="-122"/>
                <a:cs typeface="Cambria" pitchFamily="34" charset="-120"/>
              </a:rPr>
              <a:t>Courage</a:t>
            </a:r>
            <a:endParaRPr lang="en-US" sz="3200" dirty="0"/>
          </a:p>
        </p:txBody>
      </p:sp>
      <p:sp>
        <p:nvSpPr>
          <p:cNvPr id="8" name="Shape 5"/>
          <p:cNvSpPr/>
          <p:nvPr/>
        </p:nvSpPr>
        <p:spPr>
          <a:xfrm>
            <a:off x="487680" y="2763520"/>
            <a:ext cx="2926080" cy="65024"/>
          </a:xfrm>
          <a:prstGeom prst="rect">
            <a:avLst/>
          </a:prstGeom>
          <a:solidFill>
            <a:srgbClr val="D4943A"/>
          </a:solidFill>
          <a:ln/>
        </p:spPr>
      </p:sp>
      <p:sp>
        <p:nvSpPr>
          <p:cNvPr id="9" name="Text 6"/>
          <p:cNvSpPr/>
          <p:nvPr/>
        </p:nvSpPr>
        <p:spPr>
          <a:xfrm>
            <a:off x="487680" y="3169920"/>
            <a:ext cx="9753600" cy="1950720"/>
          </a:xfrm>
          <a:prstGeom prst="rect">
            <a:avLst/>
          </a:prstGeom>
          <a:noFill/>
          <a:ln/>
        </p:spPr>
        <p:txBody>
          <a:bodyPr wrap="square" lIns="0" tIns="0" rIns="0" bIns="0" rtlCol="0" anchor="ctr"/>
          <a:lstStyle/>
          <a:p>
            <a:pPr indent="0" marL="0">
              <a:lnSpc>
                <a:spcPct val="130000"/>
              </a:lnSpc>
              <a:buNone/>
            </a:pPr>
            <a:r>
              <a:rPr lang="en-US" sz="1600" i="1" dirty="0">
                <a:solidFill>
                  <a:srgbClr val="FFFFFF"/>
                </a:solidFill>
                <a:latin typeface="Cambria" pitchFamily="34" charset="0"/>
                <a:ea typeface="Cambria" pitchFamily="34" charset="-122"/>
                <a:cs typeface="Cambria" pitchFamily="34" charset="-120"/>
              </a:rPr>
              <a:t>Putting together a portfolio takes courage.</a:t>
            </a:r>
            <a:endParaRPr lang="en-US" sz="1600" dirty="0"/>
          </a:p>
          <a:p>
            <a:pPr indent="0" marL="0">
              <a:lnSpc>
                <a:spcPct val="130000"/>
              </a:lnSpc>
              <a:buNone/>
            </a:pPr>
            <a:r>
              <a:rPr lang="en-US" sz="1600" i="1" dirty="0">
                <a:solidFill>
                  <a:srgbClr val="FFFFFF"/>
                </a:solidFill>
                <a:latin typeface="Cambria" pitchFamily="34" charset="0"/>
                <a:ea typeface="Cambria" pitchFamily="34" charset="-122"/>
                <a:cs typeface="Cambria" pitchFamily="34" charset="-120"/>
              </a:rPr>
              <a:t>You have to look at everything you've learned</a:t>
            </a:r>
            <a:endParaRPr lang="en-US" sz="1600" dirty="0"/>
          </a:p>
          <a:p>
            <a:pPr indent="0" marL="0">
              <a:lnSpc>
                <a:spcPct val="130000"/>
              </a:lnSpc>
              <a:buNone/>
            </a:pPr>
            <a:r>
              <a:rPr lang="en-US" sz="1600" i="1" dirty="0">
                <a:solidFill>
                  <a:srgbClr val="FFFFFF"/>
                </a:solidFill>
                <a:latin typeface="Cambria" pitchFamily="34" charset="0"/>
                <a:ea typeface="Cambria" pitchFamily="34" charset="-122"/>
                <a:cs typeface="Cambria" pitchFamily="34" charset="-120"/>
              </a:rPr>
              <a:t>and decide what matters most.</a:t>
            </a:r>
            <a:endParaRPr lang="en-US" sz="1600" dirty="0"/>
          </a:p>
        </p:txBody>
      </p:sp>
      <p:sp>
        <p:nvSpPr>
          <p:cNvPr id="10" name="Text 7"/>
          <p:cNvSpPr/>
          <p:nvPr/>
        </p:nvSpPr>
        <p:spPr>
          <a:xfrm>
            <a:off x="487680" y="5364480"/>
            <a:ext cx="9753600" cy="1300480"/>
          </a:xfrm>
          <a:prstGeom prst="rect">
            <a:avLst/>
          </a:prstGeom>
          <a:noFill/>
          <a:ln/>
        </p:spPr>
        <p:txBody>
          <a:bodyPr wrap="square" lIns="0" tIns="0" rIns="0" bIns="0" rtlCol="0" anchor="ctr"/>
          <a:lstStyle/>
          <a:p>
            <a:pPr indent="0" marL="0">
              <a:lnSpc>
                <a:spcPct val="130000"/>
              </a:lnSpc>
              <a:buNone/>
            </a:pPr>
            <a:r>
              <a:rPr lang="en-US" sz="1400" dirty="0">
                <a:solidFill>
                  <a:srgbClr val="55C8E8"/>
                </a:solidFill>
                <a:latin typeface="Calibri" pitchFamily="34" charset="0"/>
                <a:ea typeface="Calibri" pitchFamily="34" charset="-122"/>
                <a:cs typeface="Calibri" pitchFamily="34" charset="-120"/>
              </a:rPr>
              <a:t>It's okay if you don't remember every detail —</a:t>
            </a:r>
            <a:endParaRPr lang="en-US" sz="1400" dirty="0"/>
          </a:p>
          <a:p>
            <a:pPr indent="0" marL="0">
              <a:lnSpc>
                <a:spcPct val="130000"/>
              </a:lnSpc>
              <a:buNone/>
            </a:pPr>
            <a:r>
              <a:rPr lang="en-US" sz="1400" dirty="0">
                <a:solidFill>
                  <a:srgbClr val="55C8E8"/>
                </a:solidFill>
                <a:latin typeface="Calibri" pitchFamily="34" charset="0"/>
                <a:ea typeface="Calibri" pitchFamily="34" charset="-122"/>
                <a:cs typeface="Calibri" pitchFamily="34" charset="-120"/>
              </a:rPr>
              <a:t>what counts is that you try to explain what you do know.</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DISCOVER</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Goes in a Portfolio?</a:t>
            </a:r>
            <a:endParaRPr lang="en-US" sz="2400" dirty="0"/>
          </a:p>
        </p:txBody>
      </p:sp>
      <p:sp>
        <p:nvSpPr>
          <p:cNvPr id="8" name="Text 6"/>
          <p:cNvSpPr/>
          <p:nvPr/>
        </p:nvSpPr>
        <p:spPr>
          <a:xfrm>
            <a:off x="487680" y="2438400"/>
            <a:ext cx="14630400" cy="56896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A portfolio is like a folder of your best work — not just facts, but things you can do.</a:t>
            </a:r>
            <a:endParaRPr lang="en-US" sz="1300" dirty="0"/>
          </a:p>
        </p:txBody>
      </p:sp>
      <p:sp>
        <p:nvSpPr>
          <p:cNvPr id="9" name="Shape 7"/>
          <p:cNvSpPr/>
          <p:nvPr/>
        </p:nvSpPr>
        <p:spPr>
          <a:xfrm>
            <a:off x="487680" y="3251200"/>
            <a:ext cx="4714240" cy="4551680"/>
          </a:xfrm>
          <a:prstGeom prst="roundRect">
            <a:avLst>
              <a:gd name="adj" fmla="val 4286"/>
            </a:avLst>
          </a:prstGeom>
          <a:solidFill>
            <a:srgbClr val="EAF8FD"/>
          </a:solidFill>
          <a:ln w="12700">
            <a:solidFill>
              <a:srgbClr val="55C8E8"/>
            </a:solidFill>
            <a:prstDash val="solid"/>
          </a:ln>
        </p:spPr>
      </p:sp>
      <p:sp>
        <p:nvSpPr>
          <p:cNvPr id="10" name="Text 8"/>
          <p:cNvSpPr/>
          <p:nvPr/>
        </p:nvSpPr>
        <p:spPr>
          <a:xfrm>
            <a:off x="731520" y="3413760"/>
            <a:ext cx="4226560" cy="406400"/>
          </a:xfrm>
          <a:prstGeom prst="rect">
            <a:avLst/>
          </a:prstGeom>
          <a:noFill/>
          <a:ln/>
        </p:spPr>
        <p:txBody>
          <a:bodyPr wrap="square" lIns="0" tIns="0" rIns="0" bIns="0"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Section 1</a:t>
            </a:r>
            <a:endParaRPr lang="en-US" sz="900" dirty="0"/>
          </a:p>
        </p:txBody>
      </p:sp>
      <p:sp>
        <p:nvSpPr>
          <p:cNvPr id="11" name="Text 9"/>
          <p:cNvSpPr/>
          <p:nvPr/>
        </p:nvSpPr>
        <p:spPr>
          <a:xfrm>
            <a:off x="731520" y="3738880"/>
            <a:ext cx="4226560" cy="568960"/>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Evidence Skills</a:t>
            </a:r>
            <a:endParaRPr lang="en-US" sz="1300" dirty="0"/>
          </a:p>
        </p:txBody>
      </p:sp>
      <p:sp>
        <p:nvSpPr>
          <p:cNvPr id="12" name="Text 10"/>
          <p:cNvSpPr/>
          <p:nvPr/>
        </p:nvSpPr>
        <p:spPr>
          <a:xfrm>
            <a:off x="731520" y="4389120"/>
            <a:ext cx="4226560" cy="3088640"/>
          </a:xfrm>
          <a:prstGeom prst="rect">
            <a:avLst/>
          </a:prstGeom>
          <a:noFill/>
          <a:ln/>
        </p:spPr>
        <p:txBody>
          <a:bodyPr wrap="square" lIns="0" tIns="0" rIns="0" bIns="0" rtlCol="0" anchor="t"/>
          <a:lstStyle/>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Curator Training Hall</a:t>
            </a:r>
            <a:endParaRPr lang="en-US" sz="1100" dirty="0"/>
          </a:p>
          <a:p>
            <a:pPr indent="0" marL="0">
              <a:lnSpc>
                <a:spcPct val="135000"/>
              </a:lnSpc>
              <a:buNone/>
            </a:pPr>
            <a:endParaRPr lang="en-US" sz="1100" dirty="0"/>
          </a:p>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Sorted primary from secondary sources</a:t>
            </a:r>
            <a:endParaRPr lang="en-US" sz="1100" dirty="0"/>
          </a:p>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Asked good questions before making claims</a:t>
            </a:r>
            <a:endParaRPr lang="en-US" sz="1100" dirty="0"/>
          </a:p>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Studied sources carefully</a:t>
            </a:r>
            <a:endParaRPr lang="en-US" sz="1100" dirty="0"/>
          </a:p>
        </p:txBody>
      </p:sp>
      <p:sp>
        <p:nvSpPr>
          <p:cNvPr id="13" name="Shape 11"/>
          <p:cNvSpPr/>
          <p:nvPr/>
        </p:nvSpPr>
        <p:spPr>
          <a:xfrm>
            <a:off x="5689600" y="3251200"/>
            <a:ext cx="4714240" cy="4551680"/>
          </a:xfrm>
          <a:prstGeom prst="roundRect">
            <a:avLst>
              <a:gd name="adj" fmla="val 4286"/>
            </a:avLst>
          </a:prstGeom>
          <a:solidFill>
            <a:srgbClr val="E3F8ED"/>
          </a:solidFill>
          <a:ln w="12700">
            <a:solidFill>
              <a:srgbClr val="34B76F"/>
            </a:solidFill>
            <a:prstDash val="solid"/>
          </a:ln>
        </p:spPr>
      </p:sp>
      <p:sp>
        <p:nvSpPr>
          <p:cNvPr id="14" name="Text 12"/>
          <p:cNvSpPr/>
          <p:nvPr/>
        </p:nvSpPr>
        <p:spPr>
          <a:xfrm>
            <a:off x="5933440" y="3413760"/>
            <a:ext cx="4226560" cy="406400"/>
          </a:xfrm>
          <a:prstGeom prst="rect">
            <a:avLst/>
          </a:prstGeom>
          <a:noFill/>
          <a:ln/>
        </p:spPr>
        <p:txBody>
          <a:bodyPr wrap="square" lIns="0" tIns="0" rIns="0" bIns="0"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Section 2</a:t>
            </a:r>
            <a:endParaRPr lang="en-US" sz="900" dirty="0"/>
          </a:p>
        </p:txBody>
      </p:sp>
      <p:sp>
        <p:nvSpPr>
          <p:cNvPr id="15" name="Text 13"/>
          <p:cNvSpPr/>
          <p:nvPr/>
        </p:nvSpPr>
        <p:spPr>
          <a:xfrm>
            <a:off x="5933440" y="3738880"/>
            <a:ext cx="4226560" cy="568960"/>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Exploration Knowledge</a:t>
            </a:r>
            <a:endParaRPr lang="en-US" sz="1300" dirty="0"/>
          </a:p>
        </p:txBody>
      </p:sp>
      <p:sp>
        <p:nvSpPr>
          <p:cNvPr id="16" name="Text 14"/>
          <p:cNvSpPr/>
          <p:nvPr/>
        </p:nvSpPr>
        <p:spPr>
          <a:xfrm>
            <a:off x="5933440" y="4389120"/>
            <a:ext cx="4226560" cy="3088640"/>
          </a:xfrm>
          <a:prstGeom prst="rect">
            <a:avLst/>
          </a:prstGeom>
          <a:noFill/>
          <a:ln/>
        </p:spPr>
        <p:txBody>
          <a:bodyPr wrap="square" lIns="0" tIns="0" rIns="0" bIns="0" rtlCol="0" anchor="t"/>
          <a:lstStyle/>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Exploration Wing</a:t>
            </a:r>
            <a:endParaRPr lang="en-US" sz="1100" dirty="0"/>
          </a:p>
          <a:p>
            <a:pPr indent="0" marL="0">
              <a:lnSpc>
                <a:spcPct val="135000"/>
              </a:lnSpc>
              <a:buNone/>
            </a:pPr>
            <a:endParaRPr lang="en-US" sz="1100" dirty="0"/>
          </a:p>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Why people explored</a:t>
            </a:r>
            <a:endParaRPr lang="en-US" sz="1100" dirty="0"/>
          </a:p>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What tools they used</a:t>
            </a:r>
            <a:endParaRPr lang="en-US" sz="1100" dirty="0"/>
          </a:p>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Consequences: helpful and harmful</a:t>
            </a:r>
            <a:endParaRPr lang="en-US" sz="1100" dirty="0"/>
          </a:p>
        </p:txBody>
      </p:sp>
      <p:sp>
        <p:nvSpPr>
          <p:cNvPr id="17" name="Shape 15"/>
          <p:cNvSpPr/>
          <p:nvPr/>
        </p:nvSpPr>
        <p:spPr>
          <a:xfrm>
            <a:off x="10891520" y="3251200"/>
            <a:ext cx="4714240" cy="4551680"/>
          </a:xfrm>
          <a:prstGeom prst="roundRect">
            <a:avLst>
              <a:gd name="adj" fmla="val 4286"/>
            </a:avLst>
          </a:prstGeom>
          <a:solidFill>
            <a:srgbClr val="F0E8FF"/>
          </a:solidFill>
          <a:ln w="12700">
            <a:solidFill>
              <a:srgbClr val="8B6FC0"/>
            </a:solidFill>
            <a:prstDash val="solid"/>
          </a:ln>
        </p:spPr>
      </p:sp>
      <p:sp>
        <p:nvSpPr>
          <p:cNvPr id="18" name="Text 16"/>
          <p:cNvSpPr/>
          <p:nvPr/>
        </p:nvSpPr>
        <p:spPr>
          <a:xfrm>
            <a:off x="11135360" y="3413760"/>
            <a:ext cx="4226560" cy="406400"/>
          </a:xfrm>
          <a:prstGeom prst="rect">
            <a:avLst/>
          </a:prstGeom>
          <a:noFill/>
          <a:ln/>
        </p:spPr>
        <p:txBody>
          <a:bodyPr wrap="square" lIns="0" tIns="0" rIns="0" bIns="0"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Section 3</a:t>
            </a:r>
            <a:endParaRPr lang="en-US" sz="900" dirty="0"/>
          </a:p>
        </p:txBody>
      </p:sp>
      <p:sp>
        <p:nvSpPr>
          <p:cNvPr id="19" name="Text 17"/>
          <p:cNvSpPr/>
          <p:nvPr/>
        </p:nvSpPr>
        <p:spPr>
          <a:xfrm>
            <a:off x="11135360" y="3738880"/>
            <a:ext cx="4226560" cy="568960"/>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Map Skills</a:t>
            </a:r>
            <a:endParaRPr lang="en-US" sz="1300" dirty="0"/>
          </a:p>
        </p:txBody>
      </p:sp>
      <p:sp>
        <p:nvSpPr>
          <p:cNvPr id="20" name="Text 18"/>
          <p:cNvSpPr/>
          <p:nvPr/>
        </p:nvSpPr>
        <p:spPr>
          <a:xfrm>
            <a:off x="11135360" y="4389120"/>
            <a:ext cx="4226560" cy="3088640"/>
          </a:xfrm>
          <a:prstGeom prst="rect">
            <a:avLst/>
          </a:prstGeom>
          <a:noFill/>
          <a:ln/>
        </p:spPr>
        <p:txBody>
          <a:bodyPr wrap="square" lIns="0" tIns="0" rIns="0" bIns="0" rtlCol="0" anchor="t"/>
          <a:lstStyle/>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Great Map Room</a:t>
            </a:r>
            <a:endParaRPr lang="en-US" sz="1100" dirty="0"/>
          </a:p>
          <a:p>
            <a:pPr indent="0" marL="0">
              <a:lnSpc>
                <a:spcPct val="135000"/>
              </a:lnSpc>
              <a:buNone/>
            </a:pPr>
            <a:endParaRPr lang="en-US" sz="1100" dirty="0"/>
          </a:p>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Titles, compass roses, scales, legends</a:t>
            </a:r>
            <a:endParaRPr lang="en-US" sz="1100" dirty="0"/>
          </a:p>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Cardinal directions</a:t>
            </a:r>
            <a:endParaRPr lang="en-US" sz="1100" dirty="0"/>
          </a:p>
          <a:p>
            <a:pPr indent="0" marL="0">
              <a:lnSpc>
                <a:spcPct val="135000"/>
              </a:lnSpc>
              <a:buNone/>
            </a:pPr>
            <a:r>
              <a:rPr lang="en-US" sz="1100" dirty="0">
                <a:solidFill>
                  <a:srgbClr val="0E1C42"/>
                </a:solidFill>
                <a:latin typeface="Calibri" pitchFamily="34" charset="0"/>
                <a:ea typeface="Calibri" pitchFamily="34" charset="-122"/>
                <a:cs typeface="Calibri" pitchFamily="34" charset="-120"/>
              </a:rPr>
              <a:t>Map types and scale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YOUR TURN</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Pause and Think</a:t>
            </a:r>
            <a:endParaRPr lang="en-US" sz="2400" dirty="0"/>
          </a:p>
        </p:txBody>
      </p:sp>
      <p:sp>
        <p:nvSpPr>
          <p:cNvPr id="8" name="Shape 6"/>
          <p:cNvSpPr/>
          <p:nvPr/>
        </p:nvSpPr>
        <p:spPr>
          <a:xfrm>
            <a:off x="487680" y="2763520"/>
            <a:ext cx="8940800" cy="2275840"/>
          </a:xfrm>
          <a:prstGeom prst="roundRect">
            <a:avLst>
              <a:gd name="adj" fmla="val 8571"/>
            </a:avLst>
          </a:prstGeom>
          <a:solidFill>
            <a:srgbClr val="FFF3DC"/>
          </a:solidFill>
          <a:ln w="19050">
            <a:solidFill>
              <a:srgbClr val="F5E6C8"/>
            </a:solidFill>
            <a:prstDash val="solid"/>
          </a:ln>
        </p:spPr>
      </p:sp>
      <p:sp>
        <p:nvSpPr>
          <p:cNvPr id="9" name="Text 7"/>
          <p:cNvSpPr/>
          <p:nvPr/>
        </p:nvSpPr>
        <p:spPr>
          <a:xfrm>
            <a:off x="731520" y="2861056"/>
            <a:ext cx="84531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31520" y="3218688"/>
            <a:ext cx="8453120" cy="1706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section feels strongest for you — evidence skills, exploration knowledge, or map skills?"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one do you want to practice more?"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"Think for 30 seconds, then share with a partner."</a:t>
            </a:r>
            <a:endParaRPr lang="en-US" sz="1200" dirty="0"/>
          </a:p>
        </p:txBody>
      </p:sp>
      <p:sp>
        <p:nvSpPr>
          <p:cNvPr id="11" name="Shape 9"/>
          <p:cNvSpPr/>
          <p:nvPr/>
        </p:nvSpPr>
        <p:spPr>
          <a:xfrm>
            <a:off x="487680" y="5364480"/>
            <a:ext cx="8940800" cy="2600960"/>
          </a:xfrm>
          <a:prstGeom prst="roundRect">
            <a:avLst>
              <a:gd name="adj" fmla="val 7500"/>
            </a:avLst>
          </a:prstGeom>
          <a:solidFill>
            <a:srgbClr val="FFFFFF"/>
          </a:solidFill>
          <a:ln w="19050">
            <a:solidFill>
              <a:srgbClr val="55C8E8"/>
            </a:solidFill>
            <a:prstDash val="solid"/>
          </a:ln>
        </p:spPr>
      </p:sp>
      <p:sp>
        <p:nvSpPr>
          <p:cNvPr id="12" name="Text 10"/>
          <p:cNvSpPr/>
          <p:nvPr/>
        </p:nvSpPr>
        <p:spPr>
          <a:xfrm>
            <a:off x="812800" y="5527040"/>
            <a:ext cx="829056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PARTNER SHARE</a:t>
            </a:r>
            <a:endParaRPr lang="en-US" sz="900" dirty="0"/>
          </a:p>
        </p:txBody>
      </p:sp>
      <p:sp>
        <p:nvSpPr>
          <p:cNvPr id="13" name="Text 11"/>
          <p:cNvSpPr/>
          <p:nvPr/>
        </p:nvSpPr>
        <p:spPr>
          <a:xfrm>
            <a:off x="812800" y="6014720"/>
            <a:ext cx="8290560" cy="1625600"/>
          </a:xfrm>
          <a:prstGeom prst="rect">
            <a:avLst/>
          </a:prstGeom>
          <a:noFill/>
          <a:ln/>
        </p:spPr>
        <p:txBody>
          <a:bodyPr wrap="square" lIns="0" tIns="0" rIns="0" bIns="0" rtlCol="0" anchor="ctr"/>
          <a:lstStyle/>
          <a:p>
            <a:pPr indent="0" marL="0">
              <a:lnSpc>
                <a:spcPct val="160000"/>
              </a:lnSpc>
              <a:buNone/>
            </a:pPr>
            <a:r>
              <a:rPr lang="en-US" sz="1300" dirty="0">
                <a:solidFill>
                  <a:srgbClr val="0E1C42"/>
                </a:solidFill>
                <a:latin typeface="Calibri" pitchFamily="34" charset="0"/>
                <a:ea typeface="Calibri" pitchFamily="34" charset="-122"/>
                <a:cs typeface="Calibri" pitchFamily="34" charset="-120"/>
              </a:rPr>
              <a:t>My strongest section is ______ because...</a:t>
            </a:r>
            <a:endParaRPr lang="en-US" sz="1300" dirty="0"/>
          </a:p>
          <a:p>
            <a:pPr indent="0" marL="0">
              <a:lnSpc>
                <a:spcPct val="160000"/>
              </a:lnSpc>
              <a:buNone/>
            </a:pPr>
            <a:r>
              <a:rPr lang="en-US" sz="1300" dirty="0">
                <a:solidFill>
                  <a:srgbClr val="0E1C42"/>
                </a:solidFill>
                <a:latin typeface="Calibri" pitchFamily="34" charset="0"/>
                <a:ea typeface="Calibri" pitchFamily="34" charset="-122"/>
                <a:cs typeface="Calibri" pitchFamily="34" charset="-120"/>
              </a:rPr>
              <a:t>I want to practice ______ more because...</a:t>
            </a:r>
            <a:endParaRPr lang="en-US" sz="1300" dirty="0"/>
          </a:p>
        </p:txBody>
      </p:sp>
      <p:sp>
        <p:nvSpPr>
          <p:cNvPr id="14" name="Shape 12"/>
          <p:cNvSpPr/>
          <p:nvPr/>
        </p:nvSpPr>
        <p:spPr>
          <a:xfrm>
            <a:off x="10078720" y="1625600"/>
            <a:ext cx="5527040" cy="6177280"/>
          </a:xfrm>
          <a:prstGeom prst="roundRect">
            <a:avLst>
              <a:gd name="adj" fmla="val 3529"/>
            </a:avLst>
          </a:prstGeom>
          <a:solidFill>
            <a:srgbClr val="E2E8F4"/>
          </a:solidFill>
          <a:ln w="19050">
            <a:solidFill>
              <a:srgbClr val="B0B8CC"/>
            </a:solidFill>
            <a:prstDash val="dash"/>
          </a:ln>
        </p:spPr>
      </p:sp>
      <p:sp>
        <p:nvSpPr>
          <p:cNvPr id="15" name="Text 13"/>
          <p:cNvSpPr/>
          <p:nvPr/>
        </p:nvSpPr>
        <p:spPr>
          <a:xfrm>
            <a:off x="10078720" y="162560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10322560" y="2113280"/>
            <a:ext cx="5039360" cy="5527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Three portfolio folders color-coded: blue (evidence), green (exploration), purple (maps)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REVIEW</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Portfolio Section 1: Evidence Skills</a:t>
            </a:r>
            <a:endParaRPr lang="en-US" sz="2200" dirty="0"/>
          </a:p>
        </p:txBody>
      </p:sp>
      <p:sp>
        <p:nvSpPr>
          <p:cNvPr id="8" name="Shape 6"/>
          <p:cNvSpPr/>
          <p:nvPr/>
        </p:nvSpPr>
        <p:spPr>
          <a:xfrm>
            <a:off x="487680" y="2763520"/>
            <a:ext cx="7152640" cy="2438400"/>
          </a:xfrm>
          <a:prstGeom prst="roundRect">
            <a:avLst>
              <a:gd name="adj" fmla="val 8000"/>
            </a:avLst>
          </a:prstGeom>
          <a:solidFill>
            <a:srgbClr val="EAF8FD"/>
          </a:solidFill>
          <a:ln w="19050">
            <a:solidFill>
              <a:srgbClr val="55C8E8"/>
            </a:solidFill>
            <a:prstDash val="solid"/>
          </a:ln>
        </p:spPr>
      </p:sp>
      <p:sp>
        <p:nvSpPr>
          <p:cNvPr id="9" name="Text 7"/>
          <p:cNvSpPr/>
          <p:nvPr/>
        </p:nvSpPr>
        <p:spPr>
          <a:xfrm>
            <a:off x="812800" y="2926080"/>
            <a:ext cx="6502400" cy="6502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What is a primary source?</a:t>
            </a:r>
            <a:endParaRPr lang="en-US" sz="1300" dirty="0"/>
          </a:p>
        </p:txBody>
      </p:sp>
      <p:sp>
        <p:nvSpPr>
          <p:cNvPr id="10" name="Text 8"/>
          <p:cNvSpPr/>
          <p:nvPr/>
        </p:nvSpPr>
        <p:spPr>
          <a:xfrm>
            <a:off x="812800" y="3657600"/>
            <a:ext cx="6502400" cy="1300480"/>
          </a:xfrm>
          <a:prstGeom prst="rect">
            <a:avLst/>
          </a:prstGeom>
          <a:noFill/>
          <a:ln/>
        </p:spPr>
        <p:txBody>
          <a:bodyPr wrap="square" lIns="0" tIns="0" rIns="0" bIns="0"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Something made during the time it describes — like a photo, a letter, or a map from that time period.</a:t>
            </a:r>
            <a:endParaRPr lang="en-US" sz="1100" dirty="0"/>
          </a:p>
        </p:txBody>
      </p:sp>
      <p:sp>
        <p:nvSpPr>
          <p:cNvPr id="11" name="Shape 9"/>
          <p:cNvSpPr/>
          <p:nvPr/>
        </p:nvSpPr>
        <p:spPr>
          <a:xfrm>
            <a:off x="8453120" y="2763520"/>
            <a:ext cx="7152640" cy="2438400"/>
          </a:xfrm>
          <a:prstGeom prst="roundRect">
            <a:avLst>
              <a:gd name="adj" fmla="val 8000"/>
            </a:avLst>
          </a:prstGeom>
          <a:solidFill>
            <a:srgbClr val="EAF8FD"/>
          </a:solidFill>
          <a:ln w="19050">
            <a:solidFill>
              <a:srgbClr val="55C8E8"/>
            </a:solidFill>
            <a:prstDash val="solid"/>
          </a:ln>
        </p:spPr>
      </p:sp>
      <p:sp>
        <p:nvSpPr>
          <p:cNvPr id="12" name="Text 10"/>
          <p:cNvSpPr/>
          <p:nvPr/>
        </p:nvSpPr>
        <p:spPr>
          <a:xfrm>
            <a:off x="8778240" y="2926080"/>
            <a:ext cx="6502400" cy="6502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What is a secondary source?</a:t>
            </a:r>
            <a:endParaRPr lang="en-US" sz="1300" dirty="0"/>
          </a:p>
        </p:txBody>
      </p:sp>
      <p:sp>
        <p:nvSpPr>
          <p:cNvPr id="13" name="Text 11"/>
          <p:cNvSpPr/>
          <p:nvPr/>
        </p:nvSpPr>
        <p:spPr>
          <a:xfrm>
            <a:off x="8778240" y="3657600"/>
            <a:ext cx="6502400" cy="1300480"/>
          </a:xfrm>
          <a:prstGeom prst="rect">
            <a:avLst/>
          </a:prstGeom>
          <a:noFill/>
          <a:ln/>
        </p:spPr>
        <p:txBody>
          <a:bodyPr wrap="square" lIns="0" tIns="0" rIns="0" bIns="0"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Something written after the event, based on primary sources — like a textbook or biography.</a:t>
            </a:r>
            <a:endParaRPr lang="en-US" sz="1100" dirty="0"/>
          </a:p>
        </p:txBody>
      </p:sp>
      <p:sp>
        <p:nvSpPr>
          <p:cNvPr id="14" name="Shape 12"/>
          <p:cNvSpPr/>
          <p:nvPr/>
        </p:nvSpPr>
        <p:spPr>
          <a:xfrm>
            <a:off x="487680" y="5689600"/>
            <a:ext cx="15118080" cy="1463040"/>
          </a:xfrm>
          <a:prstGeom prst="roundRect">
            <a:avLst>
              <a:gd name="adj" fmla="val 13333"/>
            </a:avLst>
          </a:prstGeom>
          <a:solidFill>
            <a:srgbClr val="FFF3DC"/>
          </a:solidFill>
          <a:ln w="19050">
            <a:solidFill>
              <a:srgbClr val="D4943A"/>
            </a:solidFill>
            <a:prstDash val="solid"/>
          </a:ln>
        </p:spPr>
      </p:sp>
      <p:sp>
        <p:nvSpPr>
          <p:cNvPr id="15" name="Text 13"/>
          <p:cNvSpPr/>
          <p:nvPr/>
        </p:nvSpPr>
        <p:spPr>
          <a:xfrm>
            <a:off x="812800" y="5852160"/>
            <a:ext cx="14467840" cy="113792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KEY SKILL: You learned to look at sources carefully, sort them, and ask good questions before making claims.</a:t>
            </a:r>
            <a:endParaRPr lang="en-US" sz="1300" dirty="0"/>
          </a:p>
        </p:txBody>
      </p:sp>
      <p:sp>
        <p:nvSpPr>
          <p:cNvPr id="16" name="Shape 14"/>
          <p:cNvSpPr/>
          <p:nvPr/>
        </p:nvSpPr>
        <p:spPr>
          <a:xfrm>
            <a:off x="487680" y="7477760"/>
            <a:ext cx="8940800" cy="1137920"/>
          </a:xfrm>
          <a:prstGeom prst="roundRect">
            <a:avLst>
              <a:gd name="adj" fmla="val 17143"/>
            </a:avLst>
          </a:prstGeom>
          <a:solidFill>
            <a:srgbClr val="FFF3DC"/>
          </a:solidFill>
          <a:ln w="19050">
            <a:solidFill>
              <a:srgbClr val="F5E6C8"/>
            </a:solidFill>
            <a:prstDash val="solid"/>
          </a:ln>
        </p:spPr>
      </p:sp>
      <p:sp>
        <p:nvSpPr>
          <p:cNvPr id="17" name="Text 15"/>
          <p:cNvSpPr/>
          <p:nvPr/>
        </p:nvSpPr>
        <p:spPr>
          <a:xfrm>
            <a:off x="731520" y="7575296"/>
            <a:ext cx="84531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731520" y="7932928"/>
            <a:ext cx="8453120" cy="568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"How does knowing the difference between primary and secondary sources help a curator?"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REVIEW</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Portfolio Section 2: Exploration Knowledge</a:t>
            </a:r>
            <a:endParaRPr lang="en-US" sz="2200" dirty="0"/>
          </a:p>
        </p:txBody>
      </p:sp>
      <p:sp>
        <p:nvSpPr>
          <p:cNvPr id="8" name="Shape 6"/>
          <p:cNvSpPr/>
          <p:nvPr/>
        </p:nvSpPr>
        <p:spPr>
          <a:xfrm>
            <a:off x="487680" y="2763520"/>
            <a:ext cx="7152640" cy="2113280"/>
          </a:xfrm>
          <a:prstGeom prst="roundRect">
            <a:avLst>
              <a:gd name="adj" fmla="val 9231"/>
            </a:avLst>
          </a:prstGeom>
          <a:solidFill>
            <a:srgbClr val="E3F8ED"/>
          </a:solidFill>
          <a:ln w="19050">
            <a:solidFill>
              <a:srgbClr val="34B76F"/>
            </a:solidFill>
            <a:prstDash val="solid"/>
          </a:ln>
        </p:spPr>
      </p:sp>
      <p:sp>
        <p:nvSpPr>
          <p:cNvPr id="9" name="Text 7"/>
          <p:cNvSpPr/>
          <p:nvPr/>
        </p:nvSpPr>
        <p:spPr>
          <a:xfrm>
            <a:off x="812800" y="2926080"/>
            <a:ext cx="6502400" cy="5689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Why did people explore?</a:t>
            </a:r>
            <a:endParaRPr lang="en-US" sz="1300" dirty="0"/>
          </a:p>
        </p:txBody>
      </p:sp>
      <p:sp>
        <p:nvSpPr>
          <p:cNvPr id="10" name="Text 8"/>
          <p:cNvSpPr/>
          <p:nvPr/>
        </p:nvSpPr>
        <p:spPr>
          <a:xfrm>
            <a:off x="812800" y="3576320"/>
            <a:ext cx="6502400" cy="1137920"/>
          </a:xfrm>
          <a:prstGeom prst="rect">
            <a:avLst/>
          </a:prstGeom>
          <a:noFill/>
          <a:ln/>
        </p:spPr>
        <p:txBody>
          <a:bodyPr wrap="square" lIns="0" tIns="0" rIns="0" bIns="0"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They wanted to find trade routes, claim new land, spread ideas, or discover things nobody had seen before.</a:t>
            </a:r>
            <a:endParaRPr lang="en-US" sz="1100" dirty="0"/>
          </a:p>
        </p:txBody>
      </p:sp>
      <p:sp>
        <p:nvSpPr>
          <p:cNvPr id="11" name="Shape 9"/>
          <p:cNvSpPr/>
          <p:nvPr/>
        </p:nvSpPr>
        <p:spPr>
          <a:xfrm>
            <a:off x="8453120" y="2763520"/>
            <a:ext cx="7152640" cy="2113280"/>
          </a:xfrm>
          <a:prstGeom prst="roundRect">
            <a:avLst>
              <a:gd name="adj" fmla="val 9231"/>
            </a:avLst>
          </a:prstGeom>
          <a:solidFill>
            <a:srgbClr val="E3F8ED"/>
          </a:solidFill>
          <a:ln w="19050">
            <a:solidFill>
              <a:srgbClr val="34B76F"/>
            </a:solidFill>
            <a:prstDash val="solid"/>
          </a:ln>
        </p:spPr>
      </p:sp>
      <p:sp>
        <p:nvSpPr>
          <p:cNvPr id="12" name="Text 10"/>
          <p:cNvSpPr/>
          <p:nvPr/>
        </p:nvSpPr>
        <p:spPr>
          <a:xfrm>
            <a:off x="8778240" y="2926080"/>
            <a:ext cx="6502400" cy="5689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What is one consequence of exploration?</a:t>
            </a:r>
            <a:endParaRPr lang="en-US" sz="1300" dirty="0"/>
          </a:p>
        </p:txBody>
      </p:sp>
      <p:sp>
        <p:nvSpPr>
          <p:cNvPr id="13" name="Text 11"/>
          <p:cNvSpPr/>
          <p:nvPr/>
        </p:nvSpPr>
        <p:spPr>
          <a:xfrm>
            <a:off x="8778240" y="3576320"/>
            <a:ext cx="6502400" cy="1137920"/>
          </a:xfrm>
          <a:prstGeom prst="rect">
            <a:avLst/>
          </a:prstGeom>
          <a:noFill/>
          <a:ln/>
        </p:spPr>
        <p:txBody>
          <a:bodyPr wrap="square" lIns="0" tIns="0" rIns="0" bIns="0"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Explorers found new places and trade routes, but they also took land from people who already lived there.</a:t>
            </a:r>
            <a:endParaRPr lang="en-US" sz="1100" dirty="0"/>
          </a:p>
        </p:txBody>
      </p:sp>
      <p:sp>
        <p:nvSpPr>
          <p:cNvPr id="14" name="Shape 12"/>
          <p:cNvSpPr/>
          <p:nvPr/>
        </p:nvSpPr>
        <p:spPr>
          <a:xfrm>
            <a:off x="487680" y="5201920"/>
            <a:ext cx="15118080" cy="1788160"/>
          </a:xfrm>
          <a:prstGeom prst="roundRect">
            <a:avLst>
              <a:gd name="adj" fmla="val 10909"/>
            </a:avLst>
          </a:prstGeom>
          <a:solidFill>
            <a:srgbClr val="E3F8ED"/>
          </a:solidFill>
          <a:ln w="19050">
            <a:solidFill>
              <a:srgbClr val="34B76F"/>
            </a:solidFill>
            <a:prstDash val="solid"/>
          </a:ln>
        </p:spPr>
      </p:sp>
      <p:sp>
        <p:nvSpPr>
          <p:cNvPr id="15" name="Text 13"/>
          <p:cNvSpPr/>
          <p:nvPr/>
        </p:nvSpPr>
        <p:spPr>
          <a:xfrm>
            <a:off x="812800" y="5364480"/>
            <a:ext cx="14467840" cy="5689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What tools did explorers use?</a:t>
            </a:r>
            <a:endParaRPr lang="en-US" sz="1300" dirty="0"/>
          </a:p>
        </p:txBody>
      </p:sp>
      <p:sp>
        <p:nvSpPr>
          <p:cNvPr id="16" name="Text 14"/>
          <p:cNvSpPr/>
          <p:nvPr/>
        </p:nvSpPr>
        <p:spPr>
          <a:xfrm>
            <a:off x="812800" y="6014720"/>
            <a:ext cx="14467840" cy="8128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Compass: pointed north so sailors knew their direction  |  Astrolabe: measured star positions to determine location  |  Maps: helped plan routes and record discoveries</a:t>
            </a:r>
            <a:endParaRPr lang="en-US" sz="1100" dirty="0"/>
          </a:p>
        </p:txBody>
      </p:sp>
      <p:sp>
        <p:nvSpPr>
          <p:cNvPr id="17" name="Shape 15"/>
          <p:cNvSpPr/>
          <p:nvPr/>
        </p:nvSpPr>
        <p:spPr>
          <a:xfrm>
            <a:off x="487680" y="7315200"/>
            <a:ext cx="8940800" cy="1137920"/>
          </a:xfrm>
          <a:prstGeom prst="roundRect">
            <a:avLst>
              <a:gd name="adj" fmla="val 17143"/>
            </a:avLst>
          </a:prstGeom>
          <a:solidFill>
            <a:srgbClr val="FFF3DC"/>
          </a:solidFill>
          <a:ln w="19050">
            <a:solidFill>
              <a:srgbClr val="F5E6C8"/>
            </a:solidFill>
            <a:prstDash val="solid"/>
          </a:ln>
        </p:spPr>
      </p:sp>
      <p:sp>
        <p:nvSpPr>
          <p:cNvPr id="18" name="Text 16"/>
          <p:cNvSpPr/>
          <p:nvPr/>
        </p:nvSpPr>
        <p:spPr>
          <a:xfrm>
            <a:off x="731520" y="7412736"/>
            <a:ext cx="84531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731520" y="7770368"/>
            <a:ext cx="8453120" cy="568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you were an explorer, which tool would you want most? Why?"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REVIEW</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Portfolio Section 3: Map Skills</a:t>
            </a:r>
            <a:endParaRPr lang="en-US" sz="2200" dirty="0"/>
          </a:p>
        </p:txBody>
      </p:sp>
      <p:sp>
        <p:nvSpPr>
          <p:cNvPr id="8" name="Shape 6"/>
          <p:cNvSpPr/>
          <p:nvPr/>
        </p:nvSpPr>
        <p:spPr>
          <a:xfrm>
            <a:off x="487680" y="2763520"/>
            <a:ext cx="7152640" cy="2113280"/>
          </a:xfrm>
          <a:prstGeom prst="roundRect">
            <a:avLst>
              <a:gd name="adj" fmla="val 9231"/>
            </a:avLst>
          </a:prstGeom>
          <a:solidFill>
            <a:srgbClr val="F0E8FF"/>
          </a:solidFill>
          <a:ln w="19050">
            <a:solidFill>
              <a:srgbClr val="8B6FC0"/>
            </a:solidFill>
            <a:prstDash val="solid"/>
          </a:ln>
        </p:spPr>
      </p:sp>
      <p:sp>
        <p:nvSpPr>
          <p:cNvPr id="9" name="Text 7"/>
          <p:cNvSpPr/>
          <p:nvPr/>
        </p:nvSpPr>
        <p:spPr>
          <a:xfrm>
            <a:off x="812800" y="2926080"/>
            <a:ext cx="6502400" cy="5689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What does a compass rose show?</a:t>
            </a:r>
            <a:endParaRPr lang="en-US" sz="1300" dirty="0"/>
          </a:p>
        </p:txBody>
      </p:sp>
      <p:sp>
        <p:nvSpPr>
          <p:cNvPr id="10" name="Text 8"/>
          <p:cNvSpPr/>
          <p:nvPr/>
        </p:nvSpPr>
        <p:spPr>
          <a:xfrm>
            <a:off x="812800" y="3576320"/>
            <a:ext cx="6502400" cy="1137920"/>
          </a:xfrm>
          <a:prstGeom prst="rect">
            <a:avLst/>
          </a:prstGeom>
          <a:noFill/>
          <a:ln/>
        </p:spPr>
        <p:txBody>
          <a:bodyPr wrap="square" lIns="0" tIns="0" rIns="0" bIns="0"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It shows directions on a map — north, south, east, west, and the directions in between.</a:t>
            </a:r>
            <a:endParaRPr lang="en-US" sz="1100" dirty="0"/>
          </a:p>
        </p:txBody>
      </p:sp>
      <p:sp>
        <p:nvSpPr>
          <p:cNvPr id="11" name="Shape 9"/>
          <p:cNvSpPr/>
          <p:nvPr/>
        </p:nvSpPr>
        <p:spPr>
          <a:xfrm>
            <a:off x="8453120" y="2763520"/>
            <a:ext cx="7152640" cy="2113280"/>
          </a:xfrm>
          <a:prstGeom prst="roundRect">
            <a:avLst>
              <a:gd name="adj" fmla="val 9231"/>
            </a:avLst>
          </a:prstGeom>
          <a:solidFill>
            <a:srgbClr val="F0E8FF"/>
          </a:solidFill>
          <a:ln w="19050">
            <a:solidFill>
              <a:srgbClr val="8B6FC0"/>
            </a:solidFill>
            <a:prstDash val="solid"/>
          </a:ln>
        </p:spPr>
      </p:sp>
      <p:sp>
        <p:nvSpPr>
          <p:cNvPr id="12" name="Text 10"/>
          <p:cNvSpPr/>
          <p:nvPr/>
        </p:nvSpPr>
        <p:spPr>
          <a:xfrm>
            <a:off x="8778240" y="2926080"/>
            <a:ext cx="6502400" cy="5689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Why do maps need a legend?</a:t>
            </a:r>
            <a:endParaRPr lang="en-US" sz="1300" dirty="0"/>
          </a:p>
        </p:txBody>
      </p:sp>
      <p:sp>
        <p:nvSpPr>
          <p:cNvPr id="13" name="Text 11"/>
          <p:cNvSpPr/>
          <p:nvPr/>
        </p:nvSpPr>
        <p:spPr>
          <a:xfrm>
            <a:off x="8778240" y="3576320"/>
            <a:ext cx="6502400" cy="1137920"/>
          </a:xfrm>
          <a:prstGeom prst="rect">
            <a:avLst/>
          </a:prstGeom>
          <a:noFill/>
          <a:ln/>
        </p:spPr>
        <p:txBody>
          <a:bodyPr wrap="square" lIns="0" tIns="0" rIns="0" bIns="0"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A legend explains what the symbols on a map mean, so anyone can read and understand it.</a:t>
            </a:r>
            <a:endParaRPr lang="en-US" sz="1100" dirty="0"/>
          </a:p>
        </p:txBody>
      </p:sp>
      <p:sp>
        <p:nvSpPr>
          <p:cNvPr id="14" name="Shape 12"/>
          <p:cNvSpPr/>
          <p:nvPr/>
        </p:nvSpPr>
        <p:spPr>
          <a:xfrm>
            <a:off x="487680" y="5201920"/>
            <a:ext cx="15118080" cy="1788160"/>
          </a:xfrm>
          <a:prstGeom prst="roundRect">
            <a:avLst>
              <a:gd name="adj" fmla="val 10909"/>
            </a:avLst>
          </a:prstGeom>
          <a:solidFill>
            <a:srgbClr val="F0E8FF"/>
          </a:solidFill>
          <a:ln w="19050">
            <a:solidFill>
              <a:srgbClr val="8B6FC0"/>
            </a:solidFill>
            <a:prstDash val="solid"/>
          </a:ln>
        </p:spPr>
      </p:sp>
      <p:sp>
        <p:nvSpPr>
          <p:cNvPr id="15" name="Text 13"/>
          <p:cNvSpPr/>
          <p:nvPr/>
        </p:nvSpPr>
        <p:spPr>
          <a:xfrm>
            <a:off x="812800" y="5364480"/>
            <a:ext cx="14467840" cy="5689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How does map scale help?</a:t>
            </a:r>
            <a:endParaRPr lang="en-US" sz="1300" dirty="0"/>
          </a:p>
        </p:txBody>
      </p:sp>
      <p:sp>
        <p:nvSpPr>
          <p:cNvPr id="16" name="Text 14"/>
          <p:cNvSpPr/>
          <p:nvPr/>
        </p:nvSpPr>
        <p:spPr>
          <a:xfrm>
            <a:off x="812800" y="6014720"/>
            <a:ext cx="14467840" cy="8128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Scale tells you how distances on the map compare to real distances, so you know how far apart places really are.</a:t>
            </a:r>
            <a:endParaRPr lang="en-US" sz="1100" dirty="0"/>
          </a:p>
        </p:txBody>
      </p:sp>
      <p:sp>
        <p:nvSpPr>
          <p:cNvPr id="17" name="Shape 15"/>
          <p:cNvSpPr/>
          <p:nvPr/>
        </p:nvSpPr>
        <p:spPr>
          <a:xfrm>
            <a:off x="10566400" y="6502400"/>
            <a:ext cx="5039360" cy="2113280"/>
          </a:xfrm>
          <a:prstGeom prst="roundRect">
            <a:avLst>
              <a:gd name="adj" fmla="val 9231"/>
            </a:avLst>
          </a:prstGeom>
          <a:solidFill>
            <a:srgbClr val="E2E8F4"/>
          </a:solidFill>
          <a:ln w="19050">
            <a:solidFill>
              <a:srgbClr val="B0B8CC"/>
            </a:solidFill>
            <a:prstDash val="dash"/>
          </a:ln>
        </p:spPr>
      </p:sp>
      <p:sp>
        <p:nvSpPr>
          <p:cNvPr id="18" name="Text 16"/>
          <p:cNvSpPr/>
          <p:nvPr/>
        </p:nvSpPr>
        <p:spPr>
          <a:xfrm>
            <a:off x="10566400" y="6502400"/>
            <a:ext cx="503936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9" name="Text 17"/>
          <p:cNvSpPr/>
          <p:nvPr/>
        </p:nvSpPr>
        <p:spPr>
          <a:xfrm>
            <a:off x="10810240" y="6990080"/>
            <a:ext cx="4551680" cy="1463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simple map with labeled elements: title at top, compass rose in corner, legend box, scale bar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THEN AND NOW</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Portfolios: Then and Now</a:t>
            </a:r>
            <a:endParaRPr lang="en-US" sz="2400" dirty="0"/>
          </a:p>
        </p:txBody>
      </p:sp>
      <p:sp>
        <p:nvSpPr>
          <p:cNvPr id="8" name="Shape 6"/>
          <p:cNvSpPr/>
          <p:nvPr/>
        </p:nvSpPr>
        <p:spPr>
          <a:xfrm>
            <a:off x="487680" y="2763520"/>
            <a:ext cx="15118080" cy="3901440"/>
          </a:xfrm>
          <a:prstGeom prst="roundRect">
            <a:avLst>
              <a:gd name="adj" fmla="val 5000"/>
            </a:avLst>
          </a:prstGeom>
          <a:solidFill>
            <a:srgbClr val="E2E8F4"/>
          </a:solidFill>
          <a:ln w="19050">
            <a:solidFill>
              <a:srgbClr val="B0B8CC"/>
            </a:solidFill>
            <a:prstDash val="dash"/>
          </a:ln>
        </p:spPr>
      </p:sp>
      <p:sp>
        <p:nvSpPr>
          <p:cNvPr id="9" name="Text 7"/>
          <p:cNvSpPr/>
          <p:nvPr/>
        </p:nvSpPr>
        <p:spPr>
          <a:xfrm>
            <a:off x="487680" y="2763520"/>
            <a:ext cx="151180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731520" y="3251200"/>
            <a:ext cx="14630400" cy="3251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Split image: Left shows a leather portfolio case carried by an old mapmaker. Right shows a student's digital portfolio on a tablet screen.</a:t>
            </a:r>
            <a:endParaRPr lang="en-US" sz="1100" dirty="0"/>
          </a:p>
        </p:txBody>
      </p:sp>
      <p:sp>
        <p:nvSpPr>
          <p:cNvPr id="11" name="Shape 9"/>
          <p:cNvSpPr/>
          <p:nvPr/>
        </p:nvSpPr>
        <p:spPr>
          <a:xfrm>
            <a:off x="487680" y="6908800"/>
            <a:ext cx="7152640" cy="1463040"/>
          </a:xfrm>
          <a:prstGeom prst="roundRect">
            <a:avLst>
              <a:gd name="adj" fmla="val 11111"/>
            </a:avLst>
          </a:prstGeom>
          <a:solidFill>
            <a:srgbClr val="FFF8F0"/>
          </a:solidFill>
          <a:ln w="12700">
            <a:solidFill>
              <a:srgbClr val="D4943A"/>
            </a:solidFill>
            <a:prstDash val="solid"/>
          </a:ln>
        </p:spPr>
      </p:sp>
      <p:sp>
        <p:nvSpPr>
          <p:cNvPr id="12" name="Text 10"/>
          <p:cNvSpPr/>
          <p:nvPr/>
        </p:nvSpPr>
        <p:spPr>
          <a:xfrm>
            <a:off x="731520" y="7071360"/>
            <a:ext cx="6664960" cy="11379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THEN: A portfolio was a large leather case that artists and mapmakers carried to show their work.</a:t>
            </a:r>
            <a:endParaRPr lang="en-US" sz="1100" dirty="0"/>
          </a:p>
        </p:txBody>
      </p:sp>
      <p:sp>
        <p:nvSpPr>
          <p:cNvPr id="13" name="Shape 11"/>
          <p:cNvSpPr/>
          <p:nvPr/>
        </p:nvSpPr>
        <p:spPr>
          <a:xfrm>
            <a:off x="8128000" y="6908800"/>
            <a:ext cx="7477760" cy="1463040"/>
          </a:xfrm>
          <a:prstGeom prst="roundRect">
            <a:avLst>
              <a:gd name="adj" fmla="val 11111"/>
            </a:avLst>
          </a:prstGeom>
          <a:solidFill>
            <a:srgbClr val="EAF8FD"/>
          </a:solidFill>
          <a:ln w="12700">
            <a:solidFill>
              <a:srgbClr val="55C8E8"/>
            </a:solidFill>
            <a:prstDash val="solid"/>
          </a:ln>
        </p:spPr>
      </p:sp>
      <p:sp>
        <p:nvSpPr>
          <p:cNvPr id="14" name="Text 12"/>
          <p:cNvSpPr/>
          <p:nvPr/>
        </p:nvSpPr>
        <p:spPr>
          <a:xfrm>
            <a:off x="8371840" y="7071360"/>
            <a:ext cx="6990080" cy="11379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NOW: Students and workers use portfolios on paper or on a computer to show their best thinking.</a:t>
            </a:r>
            <a:endParaRPr lang="en-US" sz="1100" dirty="0"/>
          </a:p>
        </p:txBody>
      </p:sp>
      <p:sp>
        <p:nvSpPr>
          <p:cNvPr id="15" name="Shape 13"/>
          <p:cNvSpPr/>
          <p:nvPr/>
        </p:nvSpPr>
        <p:spPr>
          <a:xfrm>
            <a:off x="9753600" y="1625600"/>
            <a:ext cx="5852160" cy="975360"/>
          </a:xfrm>
          <a:prstGeom prst="roundRect">
            <a:avLst>
              <a:gd name="adj" fmla="val 25000"/>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10078720" y="1788160"/>
            <a:ext cx="520192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10078720" y="2243328"/>
            <a:ext cx="5201920" cy="1950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stayed the same about why people collect their best work?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EXHIBIT LABEL</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The Big Picture</a:t>
            </a:r>
            <a:endParaRPr lang="en-US" sz="2400" dirty="0"/>
          </a:p>
        </p:txBody>
      </p:sp>
      <p:sp>
        <p:nvSpPr>
          <p:cNvPr id="8" name="Shape 6"/>
          <p:cNvSpPr/>
          <p:nvPr/>
        </p:nvSpPr>
        <p:spPr>
          <a:xfrm>
            <a:off x="812800" y="2763520"/>
            <a:ext cx="14630400" cy="2275840"/>
          </a:xfrm>
          <a:prstGeom prst="roundRect">
            <a:avLst>
              <a:gd name="adj" fmla="val 10714"/>
            </a:avLst>
          </a:prstGeom>
          <a:solidFill>
            <a:srgbClr val="1A2D5A"/>
          </a:solidFill>
          <a:ln/>
          <a:effectLst>
            <a:outerShdw sx="100000" sy="100000" kx="0" ky="0" algn="bl" rotWithShape="0" blurRad="76200" dist="25400" dir="8100000">
              <a:srgbClr val="000000">
                <a:alpha val="15000"/>
              </a:srgbClr>
            </a:outerShdw>
          </a:effectLst>
        </p:spPr>
      </p:sp>
      <p:sp>
        <p:nvSpPr>
          <p:cNvPr id="9" name="Text 7"/>
          <p:cNvSpPr/>
          <p:nvPr/>
        </p:nvSpPr>
        <p:spPr>
          <a:xfrm>
            <a:off x="1137920" y="2926080"/>
            <a:ext cx="1398016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EXHIBIT LABEL</a:t>
            </a:r>
            <a:endParaRPr lang="en-US" sz="900" dirty="0"/>
          </a:p>
        </p:txBody>
      </p:sp>
      <p:sp>
        <p:nvSpPr>
          <p:cNvPr id="10" name="Text 8"/>
          <p:cNvSpPr/>
          <p:nvPr/>
        </p:nvSpPr>
        <p:spPr>
          <a:xfrm>
            <a:off x="1137920" y="3413760"/>
            <a:ext cx="13980160" cy="1463040"/>
          </a:xfrm>
          <a:prstGeom prst="rect">
            <a:avLst/>
          </a:prstGeom>
          <a:noFill/>
          <a:ln/>
        </p:spPr>
        <p:txBody>
          <a:bodyPr wrap="square" lIns="0" tIns="0" rIns="0" bIns="0" rtlCol="0" anchor="ctr"/>
          <a:lstStyle/>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A good Exhibit Reviewer can look at evidence from different topics and explain how they connect. Exploration, tools, and maps are not three separate ideas — they are parts of one story about how people learned to understand the world.</a:t>
            </a:r>
            <a:endParaRPr lang="en-US" sz="1400" dirty="0"/>
          </a:p>
        </p:txBody>
      </p:sp>
      <p:sp>
        <p:nvSpPr>
          <p:cNvPr id="11" name="Shape 9"/>
          <p:cNvSpPr/>
          <p:nvPr/>
        </p:nvSpPr>
        <p:spPr>
          <a:xfrm>
            <a:off x="812800" y="5527040"/>
            <a:ext cx="14630400" cy="2438400"/>
          </a:xfrm>
          <a:prstGeom prst="roundRect">
            <a:avLst>
              <a:gd name="adj" fmla="val 8000"/>
            </a:avLst>
          </a:prstGeom>
          <a:solidFill>
            <a:srgbClr val="E3F8ED"/>
          </a:solidFill>
          <a:ln w="19050">
            <a:solidFill>
              <a:srgbClr val="34B76F"/>
            </a:solidFill>
            <a:prstDash val="solid"/>
          </a:ln>
        </p:spPr>
      </p:sp>
      <p:sp>
        <p:nvSpPr>
          <p:cNvPr id="12" name="Text 10"/>
          <p:cNvSpPr/>
          <p:nvPr/>
        </p:nvSpPr>
        <p:spPr>
          <a:xfrm>
            <a:off x="1137920" y="5689600"/>
            <a:ext cx="1398016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OPTI SAYS</a:t>
            </a:r>
            <a:endParaRPr lang="en-US" sz="900" dirty="0"/>
          </a:p>
        </p:txBody>
      </p:sp>
      <p:sp>
        <p:nvSpPr>
          <p:cNvPr id="13" name="Text 11"/>
          <p:cNvSpPr/>
          <p:nvPr/>
        </p:nvSpPr>
        <p:spPr>
          <a:xfrm>
            <a:off x="1137920" y="6177280"/>
            <a:ext cx="13980160" cy="1625600"/>
          </a:xfrm>
          <a:prstGeom prst="rect">
            <a:avLst/>
          </a:prstGeom>
          <a:noFill/>
          <a:ln/>
        </p:spPr>
        <p:txBody>
          <a:bodyPr wrap="square" lIns="0" tIns="0" rIns="0" bIns="0" rtlCol="0" anchor="ctr"/>
          <a:lstStyle/>
          <a:p>
            <a:pPr indent="0" marL="0">
              <a:lnSpc>
                <a:spcPct val="130000"/>
              </a:lnSpc>
              <a:buNone/>
            </a:pPr>
            <a:r>
              <a:rPr lang="en-US" sz="1300" i="1" dirty="0">
                <a:solidFill>
                  <a:srgbClr val="0E1C42"/>
                </a:solidFill>
                <a:latin typeface="Calibri" pitchFamily="34" charset="0"/>
                <a:ea typeface="Calibri" pitchFamily="34" charset="-122"/>
                <a:cs typeface="Calibri" pitchFamily="34" charset="-120"/>
              </a:rPr>
              <a:t>I heard the museum board is very picky about portfolios. But you know what? You've been doing this work for weeks. You already have the evidence — now you just have to organize it and explain it clearly. I believe in you!</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DISCUSS</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Why Does a Portfolio Matter?</a:t>
            </a:r>
            <a:endParaRPr lang="en-US" sz="2400" dirty="0"/>
          </a:p>
        </p:txBody>
      </p:sp>
      <p:sp>
        <p:nvSpPr>
          <p:cNvPr id="8" name="Shape 6"/>
          <p:cNvSpPr/>
          <p:nvPr/>
        </p:nvSpPr>
        <p:spPr>
          <a:xfrm>
            <a:off x="487680" y="2763520"/>
            <a:ext cx="8940800" cy="3576320"/>
          </a:xfrm>
          <a:prstGeom prst="roundRect">
            <a:avLst>
              <a:gd name="adj" fmla="val 6818"/>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812800" y="2926080"/>
            <a:ext cx="82905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812800" y="3381248"/>
            <a:ext cx="8290560" cy="279603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the museum board want a portfolio and not just a test?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a portfolio different from just memorizing facts?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strongest claim we can make from the evidence we have gathered?</a:t>
            </a:r>
            <a:endParaRPr lang="en-US" sz="1100" dirty="0"/>
          </a:p>
        </p:txBody>
      </p:sp>
      <p:sp>
        <p:nvSpPr>
          <p:cNvPr id="11" name="Shape 9"/>
          <p:cNvSpPr/>
          <p:nvPr/>
        </p:nvSpPr>
        <p:spPr>
          <a:xfrm>
            <a:off x="10078720" y="1625600"/>
            <a:ext cx="5527040" cy="6177280"/>
          </a:xfrm>
          <a:prstGeom prst="roundRect">
            <a:avLst>
              <a:gd name="adj" fmla="val 3529"/>
            </a:avLst>
          </a:prstGeom>
          <a:solidFill>
            <a:srgbClr val="E2E8F4"/>
          </a:solidFill>
          <a:ln w="19050">
            <a:solidFill>
              <a:srgbClr val="B0B8CC"/>
            </a:solidFill>
            <a:prstDash val="dash"/>
          </a:ln>
        </p:spPr>
      </p:sp>
      <p:sp>
        <p:nvSpPr>
          <p:cNvPr id="12" name="Text 10"/>
          <p:cNvSpPr/>
          <p:nvPr/>
        </p:nvSpPr>
        <p:spPr>
          <a:xfrm>
            <a:off x="10078720" y="162560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10322560" y="2113280"/>
            <a:ext cx="5039360" cy="5527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board members examining a student portfolio with magnifying glasses, impressed expressions</a:t>
            </a:r>
            <a:endParaRPr lang="en-US" sz="1100" dirty="0"/>
          </a:p>
        </p:txBody>
      </p:sp>
      <p:sp>
        <p:nvSpPr>
          <p:cNvPr id="14" name="Shape 12"/>
          <p:cNvSpPr/>
          <p:nvPr/>
        </p:nvSpPr>
        <p:spPr>
          <a:xfrm>
            <a:off x="487680" y="6664960"/>
            <a:ext cx="8940800" cy="1463040"/>
          </a:xfrm>
          <a:prstGeom prst="roundRect">
            <a:avLst>
              <a:gd name="adj" fmla="val 13333"/>
            </a:avLst>
          </a:prstGeom>
          <a:solidFill>
            <a:srgbClr val="FFF3DC"/>
          </a:solidFill>
          <a:ln w="19050">
            <a:solidFill>
              <a:srgbClr val="F5E6C8"/>
            </a:solidFill>
            <a:prstDash val="solid"/>
          </a:ln>
        </p:spPr>
      </p:sp>
      <p:sp>
        <p:nvSpPr>
          <p:cNvPr id="15" name="Text 13"/>
          <p:cNvSpPr/>
          <p:nvPr/>
        </p:nvSpPr>
        <p:spPr>
          <a:xfrm>
            <a:off x="731520" y="6762496"/>
            <a:ext cx="84531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731520" y="7120128"/>
            <a:ext cx="8453120" cy="894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"Turn to a partner: What's the most important thing you'd put in your portfolio?"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GUIDED PRACTICE</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Let Me Show You</a:t>
            </a:r>
            <a:endParaRPr lang="en-US" sz="2400" dirty="0"/>
          </a:p>
        </p:txBody>
      </p:sp>
      <p:sp>
        <p:nvSpPr>
          <p:cNvPr id="8" name="Text 6"/>
          <p:cNvSpPr/>
          <p:nvPr/>
        </p:nvSpPr>
        <p:spPr>
          <a:xfrm>
            <a:off x="487680" y="2438400"/>
            <a:ext cx="14630400" cy="56896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Watch how I answer an evidence question</a:t>
            </a:r>
            <a:endParaRPr lang="en-US" sz="1300" dirty="0"/>
          </a:p>
        </p:txBody>
      </p:sp>
      <p:sp>
        <p:nvSpPr>
          <p:cNvPr id="9" name="Shape 7"/>
          <p:cNvSpPr/>
          <p:nvPr/>
        </p:nvSpPr>
        <p:spPr>
          <a:xfrm>
            <a:off x="487680" y="3251200"/>
            <a:ext cx="15118080" cy="1137920"/>
          </a:xfrm>
          <a:prstGeom prst="roundRect">
            <a:avLst>
              <a:gd name="adj" fmla="val 14286"/>
            </a:avLst>
          </a:prstGeom>
          <a:solidFill>
            <a:srgbClr val="EAF8FD"/>
          </a:solidFill>
          <a:ln w="19050">
            <a:solidFill>
              <a:srgbClr val="55C8E8"/>
            </a:solidFill>
            <a:prstDash val="solid"/>
          </a:ln>
        </p:spPr>
      </p:sp>
      <p:sp>
        <p:nvSpPr>
          <p:cNvPr id="10" name="Text 8"/>
          <p:cNvSpPr/>
          <p:nvPr/>
        </p:nvSpPr>
        <p:spPr>
          <a:xfrm>
            <a:off x="812800" y="3413760"/>
            <a:ext cx="14467840" cy="81280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 What is one evidence skill you learned in the Curator Training Hall? How does it help a curator?</a:t>
            </a:r>
            <a:endParaRPr lang="en-US" sz="1200" dirty="0"/>
          </a:p>
        </p:txBody>
      </p:sp>
      <p:sp>
        <p:nvSpPr>
          <p:cNvPr id="11" name="Shape 9"/>
          <p:cNvSpPr/>
          <p:nvPr/>
        </p:nvSpPr>
        <p:spPr>
          <a:xfrm>
            <a:off x="487680" y="4714240"/>
            <a:ext cx="15118080" cy="2926080"/>
          </a:xfrm>
          <a:prstGeom prst="roundRect">
            <a:avLst>
              <a:gd name="adj" fmla="val 6667"/>
            </a:avLst>
          </a:prstGeom>
          <a:solidFill>
            <a:srgbClr val="FFF3DC"/>
          </a:solidFill>
          <a:ln w="19050">
            <a:solidFill>
              <a:srgbClr val="D4943A"/>
            </a:solidFill>
            <a:prstDash val="solid"/>
          </a:ln>
        </p:spPr>
      </p:sp>
      <p:sp>
        <p:nvSpPr>
          <p:cNvPr id="12" name="Text 10"/>
          <p:cNvSpPr/>
          <p:nvPr/>
        </p:nvSpPr>
        <p:spPr>
          <a:xfrm>
            <a:off x="812800" y="4876800"/>
            <a:ext cx="144678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TEACHER MODEL</a:t>
            </a:r>
            <a:endParaRPr lang="en-US" sz="900" dirty="0"/>
          </a:p>
        </p:txBody>
      </p:sp>
      <p:sp>
        <p:nvSpPr>
          <p:cNvPr id="13" name="Text 11"/>
          <p:cNvSpPr/>
          <p:nvPr/>
        </p:nvSpPr>
        <p:spPr>
          <a:xfrm>
            <a:off x="812800" y="5445760"/>
            <a:ext cx="14467840" cy="1950720"/>
          </a:xfrm>
          <a:prstGeom prst="rect">
            <a:avLst/>
          </a:prstGeom>
          <a:noFill/>
          <a:ln/>
        </p:spPr>
        <p:txBody>
          <a:bodyPr wrap="square" lIns="0" tIns="0" rIns="0" bIns="0" rtlCol="0" anchor="t"/>
          <a:lstStyle/>
          <a:p>
            <a:pPr indent="0" marL="0">
              <a:lnSpc>
                <a:spcPct val="150000"/>
              </a:lnSpc>
              <a:buNone/>
            </a:pPr>
            <a:r>
              <a:rPr lang="en-US" sz="1300" dirty="0">
                <a:solidFill>
                  <a:srgbClr val="0E1C42"/>
                </a:solidFill>
                <a:latin typeface="Calibri" pitchFamily="34" charset="0"/>
                <a:ea typeface="Calibri" pitchFamily="34" charset="-122"/>
                <a:cs typeface="Calibri" pitchFamily="34" charset="-120"/>
              </a:rPr>
              <a:t>I learned to sort primary and secondary sources before making a claim.</a:t>
            </a:r>
            <a:pPr indent="0" marL="0">
              <a:lnSpc>
                <a:spcPct val="150000"/>
              </a:lnSpc>
              <a:buNone/>
            </a:pPr>
            <a:r>
              <a:rPr lang="en-US" sz="1000" i="1" dirty="0">
                <a:solidFill>
                  <a:srgbClr val="1A8A7D"/>
                </a:solidFill>
                <a:latin typeface="Calibri" pitchFamily="34" charset="0"/>
                <a:ea typeface="Calibri" pitchFamily="34" charset="-122"/>
                <a:cs typeface="Calibri" pitchFamily="34" charset="-120"/>
              </a:rPr>
              <a:t> ← names the skill
</a:t>
            </a:r>
            <a:pPr indent="0" marL="0">
              <a:lnSpc>
                <a:spcPct val="150000"/>
              </a:lnSpc>
              <a:buNone/>
            </a:pPr>
            <a:r>
              <a:rPr lang="en-US" sz="1300" dirty="0">
                <a:solidFill>
                  <a:srgbClr val="0E1C42"/>
                </a:solidFill>
                <a:latin typeface="Calibri" pitchFamily="34" charset="0"/>
                <a:ea typeface="Calibri" pitchFamily="34" charset="-122"/>
                <a:cs typeface="Calibri" pitchFamily="34" charset="-120"/>
              </a:rPr>
              <a:t>This helps a curator because they need to know if evidence came from the actual time period or was written later.</a:t>
            </a:r>
            <a:pPr indent="0" marL="0">
              <a:lnSpc>
                <a:spcPct val="150000"/>
              </a:lnSpc>
              <a:buNone/>
            </a:pPr>
            <a:r>
              <a:rPr lang="en-US" sz="1000" i="1" dirty="0">
                <a:solidFill>
                  <a:srgbClr val="1A8A7D"/>
                </a:solidFill>
                <a:latin typeface="Calibri" pitchFamily="34" charset="0"/>
                <a:ea typeface="Calibri" pitchFamily="34" charset="-122"/>
                <a:cs typeface="Calibri" pitchFamily="34" charset="-120"/>
              </a:rPr>
              <a:t> ← explains how it helps</a:t>
            </a:r>
            <a:endParaRPr lang="en-US" sz="1300" dirty="0"/>
          </a:p>
        </p:txBody>
      </p:sp>
      <p:sp>
        <p:nvSpPr>
          <p:cNvPr id="14" name="Text 12"/>
          <p:cNvSpPr/>
          <p:nvPr/>
        </p:nvSpPr>
        <p:spPr>
          <a:xfrm>
            <a:off x="812800" y="7965440"/>
            <a:ext cx="14630400" cy="568960"/>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NOTICE: I named a specific skill AND explained how it helps. Both parts matter.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WE TRY TOGETHER</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Let's Write One Together</a:t>
            </a:r>
            <a:endParaRPr lang="en-US" sz="2400" dirty="0"/>
          </a:p>
        </p:txBody>
      </p:sp>
      <p:sp>
        <p:nvSpPr>
          <p:cNvPr id="8" name="Shape 6"/>
          <p:cNvSpPr/>
          <p:nvPr/>
        </p:nvSpPr>
        <p:spPr>
          <a:xfrm>
            <a:off x="487680" y="2763520"/>
            <a:ext cx="15118080" cy="1137920"/>
          </a:xfrm>
          <a:prstGeom prst="roundRect">
            <a:avLst>
              <a:gd name="adj" fmla="val 14286"/>
            </a:avLst>
          </a:prstGeom>
          <a:solidFill>
            <a:srgbClr val="EAF8FD"/>
          </a:solidFill>
          <a:ln w="19050">
            <a:solidFill>
              <a:srgbClr val="55C8E8"/>
            </a:solidFill>
            <a:prstDash val="solid"/>
          </a:ln>
        </p:spPr>
      </p:sp>
      <p:sp>
        <p:nvSpPr>
          <p:cNvPr id="9" name="Text 7"/>
          <p:cNvSpPr/>
          <p:nvPr/>
        </p:nvSpPr>
        <p:spPr>
          <a:xfrm>
            <a:off x="812800" y="2926080"/>
            <a:ext cx="14467840" cy="8128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Q: Name one tool explorers used and explain how it helped them.</a:t>
            </a:r>
            <a:endParaRPr lang="en-US" sz="1300" dirty="0"/>
          </a:p>
        </p:txBody>
      </p:sp>
      <p:sp>
        <p:nvSpPr>
          <p:cNvPr id="10" name="Shape 8"/>
          <p:cNvSpPr/>
          <p:nvPr/>
        </p:nvSpPr>
        <p:spPr>
          <a:xfrm>
            <a:off x="487680" y="4226560"/>
            <a:ext cx="8615680" cy="1788160"/>
          </a:xfrm>
          <a:prstGeom prst="roundRect">
            <a:avLst>
              <a:gd name="adj" fmla="val 10909"/>
            </a:avLst>
          </a:prstGeom>
          <a:solidFill>
            <a:srgbClr val="FFF3DC"/>
          </a:solidFill>
          <a:ln w="19050">
            <a:solidFill>
              <a:srgbClr val="F5E6C8"/>
            </a:solidFill>
            <a:prstDash val="solid"/>
          </a:ln>
        </p:spPr>
      </p:sp>
      <p:sp>
        <p:nvSpPr>
          <p:cNvPr id="11" name="Text 9"/>
          <p:cNvSpPr/>
          <p:nvPr/>
        </p:nvSpPr>
        <p:spPr>
          <a:xfrm>
            <a:off x="731520" y="4324096"/>
            <a:ext cx="812800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731520" y="4681728"/>
            <a:ext cx="8128000" cy="1219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tool should we pick — compass, astrolabe, or a map?"</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did that tool actually do for explorers? Let's be specific."</a:t>
            </a:r>
            <a:endParaRPr lang="en-US" sz="1200" dirty="0"/>
          </a:p>
        </p:txBody>
      </p:sp>
      <p:sp>
        <p:nvSpPr>
          <p:cNvPr id="13" name="Shape 11"/>
          <p:cNvSpPr/>
          <p:nvPr/>
        </p:nvSpPr>
        <p:spPr>
          <a:xfrm>
            <a:off x="487680" y="6339840"/>
            <a:ext cx="15118080" cy="2113280"/>
          </a:xfrm>
          <a:prstGeom prst="roundRect">
            <a:avLst>
              <a:gd name="adj" fmla="val 9231"/>
            </a:avLst>
          </a:prstGeom>
          <a:solidFill>
            <a:srgbClr val="FFFFFF"/>
          </a:solidFill>
          <a:ln w="19050">
            <a:solidFill>
              <a:srgbClr val="55C8E8"/>
            </a:solidFill>
            <a:prstDash val="dash"/>
          </a:ln>
        </p:spPr>
      </p:sp>
      <p:sp>
        <p:nvSpPr>
          <p:cNvPr id="14" name="Text 12"/>
          <p:cNvSpPr/>
          <p:nvPr/>
        </p:nvSpPr>
        <p:spPr>
          <a:xfrm>
            <a:off x="812800" y="6502400"/>
            <a:ext cx="1446784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OUR ANSWER</a:t>
            </a:r>
            <a:endParaRPr lang="en-US" sz="900" dirty="0"/>
          </a:p>
        </p:txBody>
      </p:sp>
      <p:sp>
        <p:nvSpPr>
          <p:cNvPr id="15" name="Text 13"/>
          <p:cNvSpPr/>
          <p:nvPr/>
        </p:nvSpPr>
        <p:spPr>
          <a:xfrm>
            <a:off x="812800" y="6990080"/>
            <a:ext cx="14467840" cy="113792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[Teacher writes class response here as students contribute ideas]</a:t>
            </a:r>
            <a:endParaRPr lang="en-US" sz="1400" dirty="0"/>
          </a:p>
        </p:txBody>
      </p:sp>
      <p:sp>
        <p:nvSpPr>
          <p:cNvPr id="16" name="Shape 14"/>
          <p:cNvSpPr/>
          <p:nvPr/>
        </p:nvSpPr>
        <p:spPr>
          <a:xfrm>
            <a:off x="9753600" y="4064000"/>
            <a:ext cx="5689600" cy="2113280"/>
          </a:xfrm>
          <a:prstGeom prst="roundRect">
            <a:avLst>
              <a:gd name="adj" fmla="val 9231"/>
            </a:avLst>
          </a:prstGeom>
          <a:solidFill>
            <a:srgbClr val="E2E8F4"/>
          </a:solidFill>
          <a:ln w="19050">
            <a:solidFill>
              <a:srgbClr val="B0B8CC"/>
            </a:solidFill>
            <a:prstDash val="dash"/>
          </a:ln>
        </p:spPr>
      </p:sp>
      <p:sp>
        <p:nvSpPr>
          <p:cNvPr id="17" name="Text 15"/>
          <p:cNvSpPr/>
          <p:nvPr/>
        </p:nvSpPr>
        <p:spPr>
          <a:xfrm>
            <a:off x="9753600" y="4064000"/>
            <a:ext cx="56896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8" name="Text 16"/>
          <p:cNvSpPr/>
          <p:nvPr/>
        </p:nvSpPr>
        <p:spPr>
          <a:xfrm>
            <a:off x="9997440" y="4551680"/>
            <a:ext cx="5201920" cy="1463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Compass, astrolabe, and old navigation map illustrated side by side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YOUR TURN</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Now You Try</a:t>
            </a:r>
            <a:endParaRPr lang="en-US" sz="2400" dirty="0"/>
          </a:p>
        </p:txBody>
      </p:sp>
      <p:sp>
        <p:nvSpPr>
          <p:cNvPr id="8" name="Text 6"/>
          <p:cNvSpPr/>
          <p:nvPr/>
        </p:nvSpPr>
        <p:spPr>
          <a:xfrm>
            <a:off x="487680" y="2438400"/>
            <a:ext cx="14630400" cy="56896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Practice writing a portfolio-quality answer on your own</a:t>
            </a:r>
            <a:endParaRPr lang="en-US" sz="1300" dirty="0"/>
          </a:p>
        </p:txBody>
      </p:sp>
      <p:sp>
        <p:nvSpPr>
          <p:cNvPr id="9" name="Shape 7"/>
          <p:cNvSpPr/>
          <p:nvPr/>
        </p:nvSpPr>
        <p:spPr>
          <a:xfrm>
            <a:off x="487680" y="3251200"/>
            <a:ext cx="15118080" cy="1950720"/>
          </a:xfrm>
          <a:prstGeom prst="roundRect">
            <a:avLst>
              <a:gd name="adj" fmla="val 10000"/>
            </a:avLst>
          </a:prstGeom>
          <a:solidFill>
            <a:srgbClr val="FFF3DC"/>
          </a:solidFill>
          <a:ln w="19050">
            <a:solidFill>
              <a:srgbClr val="D4943A"/>
            </a:solidFill>
            <a:prstDash val="solid"/>
          </a:ln>
        </p:spPr>
      </p:sp>
      <p:sp>
        <p:nvSpPr>
          <p:cNvPr id="10" name="Text 8"/>
          <p:cNvSpPr/>
          <p:nvPr/>
        </p:nvSpPr>
        <p:spPr>
          <a:xfrm>
            <a:off x="812800" y="3413760"/>
            <a:ext cx="144678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PROMPT</a:t>
            </a:r>
            <a:endParaRPr lang="en-US" sz="900" dirty="0"/>
          </a:p>
        </p:txBody>
      </p:sp>
      <p:sp>
        <p:nvSpPr>
          <p:cNvPr id="11" name="Text 9"/>
          <p:cNvSpPr/>
          <p:nvPr/>
        </p:nvSpPr>
        <p:spPr>
          <a:xfrm>
            <a:off x="812800" y="3901440"/>
            <a:ext cx="14467840" cy="1137920"/>
          </a:xfrm>
          <a:prstGeom prst="rect">
            <a:avLst/>
          </a:prstGeom>
          <a:noFill/>
          <a:ln/>
        </p:spPr>
        <p:txBody>
          <a:bodyPr wrap="square" lIns="0" tIns="0" rIns="0" bIns="0" rtlCol="0" anchor="ctr"/>
          <a:lstStyle/>
          <a:p>
            <a:pPr indent="0" marL="0">
              <a:lnSpc>
                <a:spcPct val="140000"/>
              </a:lnSpc>
              <a:buNone/>
            </a:pPr>
            <a:r>
              <a:rPr lang="en-US" sz="1300" dirty="0">
                <a:solidFill>
                  <a:srgbClr val="0E1C42"/>
                </a:solidFill>
                <a:latin typeface="Calibri" pitchFamily="34" charset="0"/>
                <a:ea typeface="Calibri" pitchFamily="34" charset="-122"/>
                <a:cs typeface="Calibri" pitchFamily="34" charset="-120"/>
              </a:rPr>
              <a:t>Why is it important for a map to have a title, compass rose, and legend?</a:t>
            </a:r>
            <a:endParaRPr lang="en-US" sz="1300" dirty="0"/>
          </a:p>
          <a:p>
            <a:pPr indent="0" marL="0">
              <a:lnSpc>
                <a:spcPct val="140000"/>
              </a:lnSpc>
              <a:buNone/>
            </a:pPr>
            <a:r>
              <a:rPr lang="en-US" sz="1300" dirty="0">
                <a:solidFill>
                  <a:srgbClr val="0E1C42"/>
                </a:solidFill>
                <a:latin typeface="Calibri" pitchFamily="34" charset="0"/>
                <a:ea typeface="Calibri" pitchFamily="34" charset="-122"/>
                <a:cs typeface="Calibri" pitchFamily="34" charset="-120"/>
              </a:rPr>
              <a:t>Think about what happens when someone tries to read a map that's missing these parts.</a:t>
            </a:r>
            <a:endParaRPr lang="en-US" sz="1300" dirty="0"/>
          </a:p>
        </p:txBody>
      </p:sp>
      <p:sp>
        <p:nvSpPr>
          <p:cNvPr id="12" name="Shape 10"/>
          <p:cNvSpPr/>
          <p:nvPr/>
        </p:nvSpPr>
        <p:spPr>
          <a:xfrm>
            <a:off x="487680" y="5527040"/>
            <a:ext cx="8940800" cy="2600960"/>
          </a:xfrm>
          <a:prstGeom prst="roundRect">
            <a:avLst>
              <a:gd name="adj" fmla="val 7500"/>
            </a:avLst>
          </a:prstGeom>
          <a:solidFill>
            <a:srgbClr val="FFFFFF"/>
          </a:solidFill>
          <a:ln w="19050">
            <a:solidFill>
              <a:srgbClr val="55C8E8"/>
            </a:solidFill>
            <a:prstDash val="solid"/>
          </a:ln>
        </p:spPr>
      </p:sp>
      <p:sp>
        <p:nvSpPr>
          <p:cNvPr id="13" name="Text 11"/>
          <p:cNvSpPr/>
          <p:nvPr/>
        </p:nvSpPr>
        <p:spPr>
          <a:xfrm>
            <a:off x="812800" y="5689600"/>
            <a:ext cx="829056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SENTENCE STARTERS</a:t>
            </a:r>
            <a:endParaRPr lang="en-US" sz="900" dirty="0"/>
          </a:p>
        </p:txBody>
      </p:sp>
      <p:sp>
        <p:nvSpPr>
          <p:cNvPr id="14" name="Text 12"/>
          <p:cNvSpPr/>
          <p:nvPr/>
        </p:nvSpPr>
        <p:spPr>
          <a:xfrm>
            <a:off x="812800" y="6177280"/>
            <a:ext cx="8290560" cy="1788160"/>
          </a:xfrm>
          <a:prstGeom prst="rect">
            <a:avLst/>
          </a:prstGeom>
          <a:noFill/>
          <a:ln/>
        </p:spPr>
        <p:txBody>
          <a:bodyPr wrap="square" lIns="0" tIns="0" rIns="0" bIns="0" rtlCol="0" anchor="ctr"/>
          <a:lstStyle/>
          <a:p>
            <a:pPr marL="342900" indent="-342900">
              <a:lnSpc>
                <a:spcPct val="150000"/>
              </a:lnSpc>
              <a:buSzPct val="100000"/>
              <a:buChar char="•"/>
            </a:pPr>
            <a:r>
              <a:rPr lang="en-US" sz="1200" dirty="0">
                <a:solidFill>
                  <a:srgbClr val="0E1C42"/>
                </a:solidFill>
                <a:latin typeface="Calibri" pitchFamily="34" charset="0"/>
                <a:ea typeface="Calibri" pitchFamily="34" charset="-122"/>
                <a:cs typeface="Calibri" pitchFamily="34" charset="-120"/>
              </a:rPr>
              <a:t>A map needs a title because...</a:t>
            </a:r>
            <a:endParaRPr lang="en-US" sz="1200" dirty="0"/>
          </a:p>
          <a:p>
            <a:pPr marL="342900" indent="-342900">
              <a:lnSpc>
                <a:spcPct val="150000"/>
              </a:lnSpc>
              <a:buSzPct val="100000"/>
              <a:buChar char="•"/>
            </a:pPr>
            <a:r>
              <a:rPr lang="en-US" sz="1200" dirty="0">
                <a:solidFill>
                  <a:srgbClr val="0E1C42"/>
                </a:solidFill>
                <a:latin typeface="Calibri" pitchFamily="34" charset="0"/>
                <a:ea typeface="Calibri" pitchFamily="34" charset="-122"/>
                <a:cs typeface="Calibri" pitchFamily="34" charset="-120"/>
              </a:rPr>
              <a:t>Without a compass rose, a reader would not know...</a:t>
            </a:r>
            <a:endParaRPr lang="en-US" sz="1200" dirty="0"/>
          </a:p>
          <a:p>
            <a:pPr marL="342900" indent="-342900">
              <a:lnSpc>
                <a:spcPct val="150000"/>
              </a:lnSpc>
              <a:buSzPct val="100000"/>
              <a:buChar char="•"/>
            </a:pPr>
            <a:r>
              <a:rPr lang="en-US" sz="1200" dirty="0">
                <a:solidFill>
                  <a:srgbClr val="0E1C42"/>
                </a:solidFill>
                <a:latin typeface="Calibri" pitchFamily="34" charset="0"/>
                <a:ea typeface="Calibri" pitchFamily="34" charset="-122"/>
                <a:cs typeface="Calibri" pitchFamily="34" charset="-120"/>
              </a:rPr>
              <a:t>A legend is important because it shows...</a:t>
            </a:r>
            <a:endParaRPr lang="en-US" sz="1200" dirty="0"/>
          </a:p>
        </p:txBody>
      </p:sp>
      <p:sp>
        <p:nvSpPr>
          <p:cNvPr id="15" name="Shape 13"/>
          <p:cNvSpPr/>
          <p:nvPr/>
        </p:nvSpPr>
        <p:spPr>
          <a:xfrm>
            <a:off x="10078720" y="4876800"/>
            <a:ext cx="5527040" cy="3576320"/>
          </a:xfrm>
          <a:prstGeom prst="roundRect">
            <a:avLst>
              <a:gd name="adj" fmla="val 5455"/>
            </a:avLst>
          </a:prstGeom>
          <a:solidFill>
            <a:srgbClr val="E2E8F4"/>
          </a:solidFill>
          <a:ln w="19050">
            <a:solidFill>
              <a:srgbClr val="B0B8CC"/>
            </a:solidFill>
            <a:prstDash val="dash"/>
          </a:ln>
        </p:spPr>
      </p:sp>
      <p:sp>
        <p:nvSpPr>
          <p:cNvPr id="16" name="Text 14"/>
          <p:cNvSpPr/>
          <p:nvPr/>
        </p:nvSpPr>
        <p:spPr>
          <a:xfrm>
            <a:off x="10078720" y="487680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10322560" y="5364480"/>
            <a:ext cx="503936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Student writing in notebook, broken map on one side vs complete map on the other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ERROR ANALYSIS</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Spot the Mistake</a:t>
            </a:r>
            <a:endParaRPr lang="en-US" sz="2400" dirty="0"/>
          </a:p>
        </p:txBody>
      </p:sp>
      <p:sp>
        <p:nvSpPr>
          <p:cNvPr id="8" name="Text 6"/>
          <p:cNvSpPr/>
          <p:nvPr/>
        </p:nvSpPr>
        <p:spPr>
          <a:xfrm>
            <a:off x="487680" y="2438400"/>
            <a:ext cx="14630400" cy="56896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Which portfolio answer has a problem? Why?</a:t>
            </a:r>
            <a:endParaRPr lang="en-US" sz="1300" dirty="0"/>
          </a:p>
        </p:txBody>
      </p:sp>
      <p:sp>
        <p:nvSpPr>
          <p:cNvPr id="9" name="Shape 7"/>
          <p:cNvSpPr/>
          <p:nvPr/>
        </p:nvSpPr>
        <p:spPr>
          <a:xfrm>
            <a:off x="487680" y="3251200"/>
            <a:ext cx="7152640" cy="3576320"/>
          </a:xfrm>
          <a:prstGeom prst="roundRect">
            <a:avLst>
              <a:gd name="adj" fmla="val 5455"/>
            </a:avLst>
          </a:prstGeom>
          <a:solidFill>
            <a:srgbClr val="FDE8E8"/>
          </a:solidFill>
          <a:ln w="19050">
            <a:solidFill>
              <a:srgbClr val="E8636B"/>
            </a:solidFill>
            <a:prstDash val="solid"/>
          </a:ln>
        </p:spPr>
      </p:sp>
      <p:sp>
        <p:nvSpPr>
          <p:cNvPr id="10" name="Text 8"/>
          <p:cNvSpPr/>
          <p:nvPr/>
        </p:nvSpPr>
        <p:spPr>
          <a:xfrm>
            <a:off x="812800" y="3413760"/>
            <a:ext cx="6502400" cy="406400"/>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ANSWER A</a:t>
            </a:r>
            <a:endParaRPr lang="en-US" sz="900" dirty="0"/>
          </a:p>
        </p:txBody>
      </p:sp>
      <p:sp>
        <p:nvSpPr>
          <p:cNvPr id="11" name="Text 9"/>
          <p:cNvSpPr/>
          <p:nvPr/>
        </p:nvSpPr>
        <p:spPr>
          <a:xfrm>
            <a:off x="812800" y="4064000"/>
            <a:ext cx="6502400" cy="1625600"/>
          </a:xfrm>
          <a:prstGeom prst="rect">
            <a:avLst/>
          </a:prstGeom>
          <a:noFill/>
          <a:ln/>
        </p:spPr>
        <p:txBody>
          <a:bodyPr wrap="square" lIns="0" tIns="0" rIns="0" bIns="0" rtlCol="0" anchor="ctr"/>
          <a:lstStyle/>
          <a:p>
            <a:pPr indent="0" marL="0">
              <a:lnSpc>
                <a:spcPct val="130000"/>
              </a:lnSpc>
              <a:buNone/>
            </a:pPr>
            <a:r>
              <a:rPr lang="en-US" sz="1300" i="1" dirty="0">
                <a:solidFill>
                  <a:srgbClr val="0E1C42"/>
                </a:solidFill>
                <a:latin typeface="Calibri" pitchFamily="34" charset="0"/>
                <a:ea typeface="Calibri" pitchFamily="34" charset="-122"/>
                <a:cs typeface="Calibri" pitchFamily="34" charset="-120"/>
              </a:rPr>
              <a:t>"I learned about explorers and maps. They used stuff to help them. Maps are good because they show things."</a:t>
            </a:r>
            <a:endParaRPr lang="en-US" sz="1300" dirty="0"/>
          </a:p>
        </p:txBody>
      </p:sp>
      <p:sp>
        <p:nvSpPr>
          <p:cNvPr id="12" name="Text 10"/>
          <p:cNvSpPr/>
          <p:nvPr/>
        </p:nvSpPr>
        <p:spPr>
          <a:xfrm>
            <a:off x="812800" y="5689600"/>
            <a:ext cx="6502400" cy="812800"/>
          </a:xfrm>
          <a:prstGeom prst="rect">
            <a:avLst/>
          </a:prstGeom>
          <a:noFill/>
          <a:ln/>
        </p:spPr>
        <p:txBody>
          <a:bodyPr wrap="square" lIns="0" tIns="0" rIns="0" bIns="0" rtlCol="0" anchor="ctr"/>
          <a:lstStyle/>
          <a:p>
            <a:pPr indent="0" marL="0">
              <a:buNone/>
            </a:pPr>
            <a:r>
              <a:rPr lang="en-US" sz="1100" b="1" dirty="0">
                <a:solidFill>
                  <a:srgbClr val="E8636B"/>
                </a:solidFill>
                <a:latin typeface="Calibri" pitchFamily="34" charset="0"/>
                <a:ea typeface="Calibri" pitchFamily="34" charset="-122"/>
                <a:cs typeface="Calibri" pitchFamily="34" charset="-120"/>
              </a:rPr>
              <a:t>Problem: Too vague. No specific tool, no specific map element, no example.</a:t>
            </a:r>
            <a:endParaRPr lang="en-US" sz="1100" dirty="0"/>
          </a:p>
        </p:txBody>
      </p:sp>
      <p:sp>
        <p:nvSpPr>
          <p:cNvPr id="13" name="Shape 11"/>
          <p:cNvSpPr/>
          <p:nvPr/>
        </p:nvSpPr>
        <p:spPr>
          <a:xfrm>
            <a:off x="8453120" y="3251200"/>
            <a:ext cx="7152640" cy="3576320"/>
          </a:xfrm>
          <a:prstGeom prst="roundRect">
            <a:avLst>
              <a:gd name="adj" fmla="val 5455"/>
            </a:avLst>
          </a:prstGeom>
          <a:solidFill>
            <a:srgbClr val="E3F8ED"/>
          </a:solidFill>
          <a:ln w="19050">
            <a:solidFill>
              <a:srgbClr val="34B76F"/>
            </a:solidFill>
            <a:prstDash val="solid"/>
          </a:ln>
        </p:spPr>
      </p:sp>
      <p:sp>
        <p:nvSpPr>
          <p:cNvPr id="14" name="Text 12"/>
          <p:cNvSpPr/>
          <p:nvPr/>
        </p:nvSpPr>
        <p:spPr>
          <a:xfrm>
            <a:off x="8778240" y="3413760"/>
            <a:ext cx="6502400" cy="4064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 B</a:t>
            </a:r>
            <a:endParaRPr lang="en-US" sz="900" dirty="0"/>
          </a:p>
        </p:txBody>
      </p:sp>
      <p:sp>
        <p:nvSpPr>
          <p:cNvPr id="15" name="Text 13"/>
          <p:cNvSpPr/>
          <p:nvPr/>
        </p:nvSpPr>
        <p:spPr>
          <a:xfrm>
            <a:off x="8778240" y="4064000"/>
            <a:ext cx="6502400" cy="1625600"/>
          </a:xfrm>
          <a:prstGeom prst="rect">
            <a:avLst/>
          </a:prstGeom>
          <a:noFill/>
          <a:ln/>
        </p:spPr>
        <p:txBody>
          <a:bodyPr wrap="square" lIns="0" tIns="0" rIns="0" bIns="0" rtlCol="0" anchor="ctr"/>
          <a:lstStyle/>
          <a:p>
            <a:pPr indent="0" marL="0">
              <a:lnSpc>
                <a:spcPct val="130000"/>
              </a:lnSpc>
              <a:buNone/>
            </a:pPr>
            <a:r>
              <a:rPr lang="en-US" sz="1300" i="1" dirty="0">
                <a:solidFill>
                  <a:srgbClr val="0E1C42"/>
                </a:solidFill>
                <a:latin typeface="Calibri" pitchFamily="34" charset="0"/>
                <a:ea typeface="Calibri" pitchFamily="34" charset="-122"/>
                <a:cs typeface="Calibri" pitchFamily="34" charset="-120"/>
              </a:rPr>
              <a:t>"Explorers used compasses to figure out which direction they were going. Then mapmakers added compass roses to maps so readers could understand directions too."</a:t>
            </a:r>
            <a:endParaRPr lang="en-US" sz="1300" dirty="0"/>
          </a:p>
        </p:txBody>
      </p:sp>
      <p:sp>
        <p:nvSpPr>
          <p:cNvPr id="16" name="Text 14"/>
          <p:cNvSpPr/>
          <p:nvPr/>
        </p:nvSpPr>
        <p:spPr>
          <a:xfrm>
            <a:off x="8778240" y="5689600"/>
            <a:ext cx="6502400" cy="81280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Strong: Names a specific tool, connects it to a map element, shows the link.</a:t>
            </a:r>
            <a:endParaRPr lang="en-US" sz="1100" dirty="0"/>
          </a:p>
        </p:txBody>
      </p:sp>
      <p:sp>
        <p:nvSpPr>
          <p:cNvPr id="17" name="Shape 15"/>
          <p:cNvSpPr/>
          <p:nvPr/>
        </p:nvSpPr>
        <p:spPr>
          <a:xfrm>
            <a:off x="487680" y="7315200"/>
            <a:ext cx="15118080" cy="1137920"/>
          </a:xfrm>
          <a:prstGeom prst="roundRect">
            <a:avLst>
              <a:gd name="adj" fmla="val 14286"/>
            </a:avLst>
          </a:prstGeom>
          <a:solidFill>
            <a:srgbClr val="FFF3DC"/>
          </a:solidFill>
          <a:ln w="19050">
            <a:solidFill>
              <a:srgbClr val="D4943A"/>
            </a:solidFill>
            <a:prstDash val="solid"/>
          </a:ln>
        </p:spPr>
      </p:sp>
      <p:sp>
        <p:nvSpPr>
          <p:cNvPr id="18" name="Text 16"/>
          <p:cNvSpPr/>
          <p:nvPr/>
        </p:nvSpPr>
        <p:spPr>
          <a:xfrm>
            <a:off x="812800" y="7477760"/>
            <a:ext cx="14467840" cy="812800"/>
          </a:xfrm>
          <a:prstGeom prst="rect">
            <a:avLst/>
          </a:prstGeom>
          <a:noFill/>
          <a:ln/>
        </p:spPr>
        <p:txBody>
          <a:bodyPr wrap="square" lIns="0" tIns="0" rIns="0" bIns="0"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KEY: The museum board wants specific details and clear connections — not vague summaries.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SELF-CHECK</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Quick Self-Check</a:t>
            </a:r>
            <a:endParaRPr lang="en-US" sz="2400" dirty="0"/>
          </a:p>
        </p:txBody>
      </p:sp>
      <p:sp>
        <p:nvSpPr>
          <p:cNvPr id="8" name="Text 6"/>
          <p:cNvSpPr/>
          <p:nvPr/>
        </p:nvSpPr>
        <p:spPr>
          <a:xfrm>
            <a:off x="487680" y="2438400"/>
            <a:ext cx="14630400" cy="48768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Not graded — just for you!</a:t>
            </a:r>
            <a:endParaRPr lang="en-US" sz="1200" dirty="0"/>
          </a:p>
        </p:txBody>
      </p:sp>
      <p:sp>
        <p:nvSpPr>
          <p:cNvPr id="9" name="Shape 7"/>
          <p:cNvSpPr/>
          <p:nvPr/>
        </p:nvSpPr>
        <p:spPr>
          <a:xfrm>
            <a:off x="487680" y="3169920"/>
            <a:ext cx="15118080" cy="1544320"/>
          </a:xfrm>
          <a:prstGeom prst="roundRect">
            <a:avLst>
              <a:gd name="adj" fmla="val 10526"/>
            </a:avLst>
          </a:prstGeom>
          <a:solidFill>
            <a:srgbClr val="EAF8FD"/>
          </a:solidFill>
          <a:ln w="12700">
            <a:solidFill>
              <a:srgbClr val="55C8E8"/>
            </a:solidFill>
            <a:prstDash val="solid"/>
          </a:ln>
        </p:spPr>
      </p:sp>
      <p:sp>
        <p:nvSpPr>
          <p:cNvPr id="10" name="Text 8"/>
          <p:cNvSpPr/>
          <p:nvPr/>
        </p:nvSpPr>
        <p:spPr>
          <a:xfrm>
            <a:off x="812800" y="3299968"/>
            <a:ext cx="1446784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1. What makes something a primary source?</a:t>
            </a:r>
            <a:endParaRPr lang="en-US" sz="1200" dirty="0"/>
          </a:p>
        </p:txBody>
      </p:sp>
      <p:sp>
        <p:nvSpPr>
          <p:cNvPr id="11" name="Text 9"/>
          <p:cNvSpPr/>
          <p:nvPr/>
        </p:nvSpPr>
        <p:spPr>
          <a:xfrm>
            <a:off x="812800" y="3901440"/>
            <a:ext cx="14467840" cy="65024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It was made during the time it describes.</a:t>
            </a:r>
            <a:endParaRPr lang="en-US" sz="1100" dirty="0"/>
          </a:p>
        </p:txBody>
      </p:sp>
      <p:sp>
        <p:nvSpPr>
          <p:cNvPr id="12" name="Shape 10"/>
          <p:cNvSpPr/>
          <p:nvPr/>
        </p:nvSpPr>
        <p:spPr>
          <a:xfrm>
            <a:off x="487680" y="4958080"/>
            <a:ext cx="15118080" cy="1544320"/>
          </a:xfrm>
          <a:prstGeom prst="roundRect">
            <a:avLst>
              <a:gd name="adj" fmla="val 10526"/>
            </a:avLst>
          </a:prstGeom>
          <a:solidFill>
            <a:srgbClr val="E3F8ED"/>
          </a:solidFill>
          <a:ln w="12700">
            <a:solidFill>
              <a:srgbClr val="34B76F"/>
            </a:solidFill>
            <a:prstDash val="solid"/>
          </a:ln>
        </p:spPr>
      </p:sp>
      <p:sp>
        <p:nvSpPr>
          <p:cNvPr id="13" name="Text 11"/>
          <p:cNvSpPr/>
          <p:nvPr/>
        </p:nvSpPr>
        <p:spPr>
          <a:xfrm>
            <a:off x="812800" y="5088128"/>
            <a:ext cx="1446784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2. How are exploration and maps connected?</a:t>
            </a:r>
            <a:endParaRPr lang="en-US" sz="1200" dirty="0"/>
          </a:p>
        </p:txBody>
      </p:sp>
      <p:sp>
        <p:nvSpPr>
          <p:cNvPr id="14" name="Text 12"/>
          <p:cNvSpPr/>
          <p:nvPr/>
        </p:nvSpPr>
        <p:spPr>
          <a:xfrm>
            <a:off x="812800" y="5689600"/>
            <a:ext cx="14467840" cy="65024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Explorers found new places, and mapmakers recorded them.</a:t>
            </a:r>
            <a:endParaRPr lang="en-US" sz="1100" dirty="0"/>
          </a:p>
        </p:txBody>
      </p:sp>
      <p:sp>
        <p:nvSpPr>
          <p:cNvPr id="15" name="Shape 13"/>
          <p:cNvSpPr/>
          <p:nvPr/>
        </p:nvSpPr>
        <p:spPr>
          <a:xfrm>
            <a:off x="487680" y="6746240"/>
            <a:ext cx="15118080" cy="1544320"/>
          </a:xfrm>
          <a:prstGeom prst="roundRect">
            <a:avLst>
              <a:gd name="adj" fmla="val 10526"/>
            </a:avLst>
          </a:prstGeom>
          <a:solidFill>
            <a:srgbClr val="F0E8FF"/>
          </a:solidFill>
          <a:ln w="12700">
            <a:solidFill>
              <a:srgbClr val="8B6FC0"/>
            </a:solidFill>
            <a:prstDash val="solid"/>
          </a:ln>
        </p:spPr>
      </p:sp>
      <p:sp>
        <p:nvSpPr>
          <p:cNvPr id="16" name="Text 14"/>
          <p:cNvSpPr/>
          <p:nvPr/>
        </p:nvSpPr>
        <p:spPr>
          <a:xfrm>
            <a:off x="812800" y="6876288"/>
            <a:ext cx="1446784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3. What is a portfolio?</a:t>
            </a:r>
            <a:endParaRPr lang="en-US" sz="1200" dirty="0"/>
          </a:p>
        </p:txBody>
      </p:sp>
      <p:sp>
        <p:nvSpPr>
          <p:cNvPr id="17" name="Text 15"/>
          <p:cNvSpPr/>
          <p:nvPr/>
        </p:nvSpPr>
        <p:spPr>
          <a:xfrm>
            <a:off x="812800" y="7477760"/>
            <a:ext cx="14467840" cy="65024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collection of your best evidence, organized to show what you know.</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ASSIGNMENT</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Your Portfolio Evidence Questions</a:t>
            </a:r>
            <a:endParaRPr lang="en-US" sz="2200" dirty="0"/>
          </a:p>
        </p:txBody>
      </p:sp>
      <p:sp>
        <p:nvSpPr>
          <p:cNvPr id="8" name="Shape 6"/>
          <p:cNvSpPr/>
          <p:nvPr/>
        </p:nvSpPr>
        <p:spPr>
          <a:xfrm>
            <a:off x="487680" y="2763520"/>
            <a:ext cx="15118080" cy="1625600"/>
          </a:xfrm>
          <a:prstGeom prst="roundRect">
            <a:avLst>
              <a:gd name="adj" fmla="val 12000"/>
            </a:avLst>
          </a:prstGeom>
          <a:solidFill>
            <a:srgbClr val="FFFFFF"/>
          </a:solidFill>
          <a:ln w="19050">
            <a:solidFill>
              <a:srgbClr val="55C8E8"/>
            </a:solidFill>
            <a:prstDash val="solid"/>
          </a:ln>
        </p:spPr>
      </p:sp>
      <p:sp>
        <p:nvSpPr>
          <p:cNvPr id="9" name="Shape 7"/>
          <p:cNvSpPr/>
          <p:nvPr/>
        </p:nvSpPr>
        <p:spPr>
          <a:xfrm>
            <a:off x="812800" y="2926080"/>
            <a:ext cx="568960" cy="568960"/>
          </a:xfrm>
          <a:prstGeom prst="roundRect">
            <a:avLst>
              <a:gd name="adj" fmla="val 17143"/>
            </a:avLst>
          </a:prstGeom>
          <a:solidFill>
            <a:srgbClr val="0E1C42"/>
          </a:solidFill>
          <a:ln/>
        </p:spPr>
      </p:sp>
      <p:sp>
        <p:nvSpPr>
          <p:cNvPr id="10" name="Text 8"/>
          <p:cNvSpPr/>
          <p:nvPr/>
        </p:nvSpPr>
        <p:spPr>
          <a:xfrm>
            <a:off x="812800" y="2926080"/>
            <a:ext cx="568960" cy="568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1625600" y="2926080"/>
            <a:ext cx="13655040" cy="6502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What is one evidence skill you learned in the Curator Training Hall? How does it help a curator?</a:t>
            </a:r>
            <a:endParaRPr lang="en-US" sz="1200" dirty="0"/>
          </a:p>
        </p:txBody>
      </p:sp>
      <p:sp>
        <p:nvSpPr>
          <p:cNvPr id="12" name="Text 10"/>
          <p:cNvSpPr/>
          <p:nvPr/>
        </p:nvSpPr>
        <p:spPr>
          <a:xfrm>
            <a:off x="1625600" y="3657600"/>
            <a:ext cx="13655040" cy="487680"/>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Think about how you studied sources, asked questions, or sorted evidence.</a:t>
            </a:r>
            <a:endParaRPr lang="en-US" sz="1000" dirty="0"/>
          </a:p>
        </p:txBody>
      </p:sp>
      <p:sp>
        <p:nvSpPr>
          <p:cNvPr id="13" name="Shape 11"/>
          <p:cNvSpPr/>
          <p:nvPr/>
        </p:nvSpPr>
        <p:spPr>
          <a:xfrm>
            <a:off x="487680" y="4632960"/>
            <a:ext cx="15118080" cy="1625600"/>
          </a:xfrm>
          <a:prstGeom prst="roundRect">
            <a:avLst>
              <a:gd name="adj" fmla="val 12000"/>
            </a:avLst>
          </a:prstGeom>
          <a:solidFill>
            <a:srgbClr val="FFFFFF"/>
          </a:solidFill>
          <a:ln w="19050">
            <a:solidFill>
              <a:srgbClr val="55C8E8"/>
            </a:solidFill>
            <a:prstDash val="solid"/>
          </a:ln>
        </p:spPr>
      </p:sp>
      <p:sp>
        <p:nvSpPr>
          <p:cNvPr id="14" name="Shape 12"/>
          <p:cNvSpPr/>
          <p:nvPr/>
        </p:nvSpPr>
        <p:spPr>
          <a:xfrm>
            <a:off x="812800" y="4795520"/>
            <a:ext cx="568960" cy="568960"/>
          </a:xfrm>
          <a:prstGeom prst="roundRect">
            <a:avLst>
              <a:gd name="adj" fmla="val 17143"/>
            </a:avLst>
          </a:prstGeom>
          <a:solidFill>
            <a:srgbClr val="0E1C42"/>
          </a:solidFill>
          <a:ln/>
        </p:spPr>
      </p:sp>
      <p:sp>
        <p:nvSpPr>
          <p:cNvPr id="15" name="Text 13"/>
          <p:cNvSpPr/>
          <p:nvPr/>
        </p:nvSpPr>
        <p:spPr>
          <a:xfrm>
            <a:off x="812800" y="4795520"/>
            <a:ext cx="568960" cy="568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1625600" y="4795520"/>
            <a:ext cx="13655040" cy="6502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Name one tool explorers used and explain how it helped them.</a:t>
            </a:r>
            <a:endParaRPr lang="en-US" sz="1200" dirty="0"/>
          </a:p>
        </p:txBody>
      </p:sp>
      <p:sp>
        <p:nvSpPr>
          <p:cNvPr id="17" name="Text 15"/>
          <p:cNvSpPr/>
          <p:nvPr/>
        </p:nvSpPr>
        <p:spPr>
          <a:xfrm>
            <a:off x="1625600" y="5527040"/>
            <a:ext cx="13655040" cy="487680"/>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Pick a tool from the Exploration Wing — compass, astrolabe, or a map they used to navigate.</a:t>
            </a:r>
            <a:endParaRPr lang="en-US" sz="1000" dirty="0"/>
          </a:p>
        </p:txBody>
      </p:sp>
      <p:sp>
        <p:nvSpPr>
          <p:cNvPr id="18" name="Shape 16"/>
          <p:cNvSpPr/>
          <p:nvPr/>
        </p:nvSpPr>
        <p:spPr>
          <a:xfrm>
            <a:off x="487680" y="6502400"/>
            <a:ext cx="15118080" cy="1625600"/>
          </a:xfrm>
          <a:prstGeom prst="roundRect">
            <a:avLst>
              <a:gd name="adj" fmla="val 12000"/>
            </a:avLst>
          </a:prstGeom>
          <a:solidFill>
            <a:srgbClr val="FFFFFF"/>
          </a:solidFill>
          <a:ln w="19050">
            <a:solidFill>
              <a:srgbClr val="55C8E8"/>
            </a:solidFill>
            <a:prstDash val="solid"/>
          </a:ln>
        </p:spPr>
      </p:sp>
      <p:sp>
        <p:nvSpPr>
          <p:cNvPr id="19" name="Shape 17"/>
          <p:cNvSpPr/>
          <p:nvPr/>
        </p:nvSpPr>
        <p:spPr>
          <a:xfrm>
            <a:off x="812800" y="6664960"/>
            <a:ext cx="568960" cy="568960"/>
          </a:xfrm>
          <a:prstGeom prst="roundRect">
            <a:avLst>
              <a:gd name="adj" fmla="val 17143"/>
            </a:avLst>
          </a:prstGeom>
          <a:solidFill>
            <a:srgbClr val="0E1C42"/>
          </a:solidFill>
          <a:ln/>
        </p:spPr>
      </p:sp>
      <p:sp>
        <p:nvSpPr>
          <p:cNvPr id="20" name="Text 18"/>
          <p:cNvSpPr/>
          <p:nvPr/>
        </p:nvSpPr>
        <p:spPr>
          <a:xfrm>
            <a:off x="812800" y="6664960"/>
            <a:ext cx="568960" cy="568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1625600" y="6664960"/>
            <a:ext cx="13655040" cy="6502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Why is it important for a map to have a title, compass rose, and legend?</a:t>
            </a:r>
            <a:endParaRPr lang="en-US" sz="1200" dirty="0"/>
          </a:p>
        </p:txBody>
      </p:sp>
      <p:sp>
        <p:nvSpPr>
          <p:cNvPr id="22" name="Text 20"/>
          <p:cNvSpPr/>
          <p:nvPr/>
        </p:nvSpPr>
        <p:spPr>
          <a:xfrm>
            <a:off x="1625600" y="7396480"/>
            <a:ext cx="13655040" cy="487680"/>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Think about what happens when someone tries to read a map that's missing these parts.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CURATOR TASK</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Portfolio Synthesis</a:t>
            </a:r>
            <a:endParaRPr lang="en-US" sz="2400" dirty="0"/>
          </a:p>
        </p:txBody>
      </p:sp>
      <p:sp>
        <p:nvSpPr>
          <p:cNvPr id="8" name="Shape 6"/>
          <p:cNvSpPr/>
          <p:nvPr/>
        </p:nvSpPr>
        <p:spPr>
          <a:xfrm>
            <a:off x="487680" y="2763520"/>
            <a:ext cx="15118080" cy="3576320"/>
          </a:xfrm>
          <a:prstGeom prst="roundRect">
            <a:avLst>
              <a:gd name="adj" fmla="val 5455"/>
            </a:avLst>
          </a:prstGeom>
          <a:solidFill>
            <a:srgbClr val="FFF3DC"/>
          </a:solidFill>
          <a:ln w="19050">
            <a:solidFill>
              <a:srgbClr val="D4943A"/>
            </a:solidFill>
            <a:prstDash val="solid"/>
          </a:ln>
        </p:spPr>
      </p:sp>
      <p:sp>
        <p:nvSpPr>
          <p:cNvPr id="9" name="Text 7"/>
          <p:cNvSpPr/>
          <p:nvPr/>
        </p:nvSpPr>
        <p:spPr>
          <a:xfrm>
            <a:off x="812800" y="2926080"/>
            <a:ext cx="144678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 PORTFOLIO SYNTHESIS</a:t>
            </a:r>
            <a:endParaRPr lang="en-US" sz="900" dirty="0"/>
          </a:p>
        </p:txBody>
      </p:sp>
      <p:sp>
        <p:nvSpPr>
          <p:cNvPr id="10" name="Text 8"/>
          <p:cNvSpPr/>
          <p:nvPr/>
        </p:nvSpPr>
        <p:spPr>
          <a:xfrm>
            <a:off x="812800" y="3413760"/>
            <a:ext cx="14467840" cy="2763520"/>
          </a:xfrm>
          <a:prstGeom prst="rect">
            <a:avLst/>
          </a:prstGeom>
          <a:noFill/>
          <a:ln/>
        </p:spPr>
        <p:txBody>
          <a:bodyPr wrap="square" lIns="0" tIns="0" rIns="0" bIns="0" rtlCol="0" anchor="ctr"/>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Write your portfolio statement for the museum board.</a:t>
            </a:r>
            <a:endParaRPr lang="en-US" sz="1200" dirty="0"/>
          </a:p>
          <a:p>
            <a:pPr indent="0" marL="0">
              <a:lnSpc>
                <a:spcPct val="130000"/>
              </a:lnSpc>
              <a:buNone/>
            </a:pP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The museum board wants to know: What have you learned, and how does it all connect? Write 3–4 sentences explaining what you know about exploration, tools, and maps. Use at least one example from what you've studied.</a:t>
            </a:r>
            <a:endParaRPr lang="en-US" sz="1200" dirty="0"/>
          </a:p>
          <a:p>
            <a:pPr indent="0" marL="0">
              <a:lnSpc>
                <a:spcPct val="130000"/>
              </a:lnSpc>
              <a:buNone/>
            </a:pP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Explain what you've learned and how exploration, tools, and maps are connected. Give at least one example.</a:t>
            </a:r>
            <a:endParaRPr lang="en-US" sz="1200" dirty="0"/>
          </a:p>
        </p:txBody>
      </p:sp>
      <p:sp>
        <p:nvSpPr>
          <p:cNvPr id="11" name="Shape 9"/>
          <p:cNvSpPr/>
          <p:nvPr/>
        </p:nvSpPr>
        <p:spPr>
          <a:xfrm>
            <a:off x="487680" y="6664960"/>
            <a:ext cx="15118080" cy="1625600"/>
          </a:xfrm>
          <a:prstGeom prst="roundRect">
            <a:avLst>
              <a:gd name="adj" fmla="val 12000"/>
            </a:avLst>
          </a:prstGeom>
          <a:solidFill>
            <a:srgbClr val="F0E8FF"/>
          </a:solidFill>
          <a:ln w="19050">
            <a:solidFill>
              <a:srgbClr val="8B6FC0"/>
            </a:solidFill>
            <a:prstDash val="solid"/>
          </a:ln>
        </p:spPr>
      </p:sp>
      <p:sp>
        <p:nvSpPr>
          <p:cNvPr id="12" name="Text 10"/>
          <p:cNvSpPr/>
          <p:nvPr/>
        </p:nvSpPr>
        <p:spPr>
          <a:xfrm>
            <a:off x="812800" y="6827520"/>
            <a:ext cx="14467840" cy="406400"/>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CURATOR'S CHRONICLE</a:t>
            </a:r>
            <a:endParaRPr lang="en-US" sz="900" dirty="0"/>
          </a:p>
        </p:txBody>
      </p:sp>
      <p:sp>
        <p:nvSpPr>
          <p:cNvPr id="13" name="Text 11"/>
          <p:cNvSpPr/>
          <p:nvPr/>
        </p:nvSpPr>
        <p:spPr>
          <a:xfrm>
            <a:off x="812800" y="7315200"/>
            <a:ext cx="14467840" cy="65024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In this exhibit, I learned that ______ because ______.</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3.04.02 | Cartographer's Review Portfolio</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SUBMIT</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Turn-In Checklist</a:t>
            </a:r>
            <a:endParaRPr lang="en-US" sz="2400" dirty="0"/>
          </a:p>
        </p:txBody>
      </p:sp>
      <p:sp>
        <p:nvSpPr>
          <p:cNvPr id="8" name="Shape 6"/>
          <p:cNvSpPr/>
          <p:nvPr/>
        </p:nvSpPr>
        <p:spPr>
          <a:xfrm>
            <a:off x="812800" y="2926080"/>
            <a:ext cx="13817600" cy="975360"/>
          </a:xfrm>
          <a:prstGeom prst="roundRect">
            <a:avLst>
              <a:gd name="adj" fmla="val 16667"/>
            </a:avLst>
          </a:prstGeom>
          <a:solidFill>
            <a:srgbClr val="FFFFFF"/>
          </a:solidFill>
          <a:ln w="19050">
            <a:solidFill>
              <a:srgbClr val="34B76F"/>
            </a:solidFill>
            <a:prstDash val="solid"/>
          </a:ln>
        </p:spPr>
      </p:sp>
      <p:sp>
        <p:nvSpPr>
          <p:cNvPr id="9" name="Shape 7"/>
          <p:cNvSpPr/>
          <p:nvPr/>
        </p:nvSpPr>
        <p:spPr>
          <a:xfrm>
            <a:off x="1137920" y="3121152"/>
            <a:ext cx="585216" cy="585216"/>
          </a:xfrm>
          <a:prstGeom prst="roundRect">
            <a:avLst>
              <a:gd name="adj" fmla="val 16667"/>
            </a:avLst>
          </a:prstGeom>
          <a:solidFill>
            <a:srgbClr val="E3F8ED"/>
          </a:solidFill>
          <a:ln w="12700">
            <a:solidFill>
              <a:srgbClr val="34B76F"/>
            </a:solidFill>
            <a:prstDash val="solid"/>
          </a:ln>
        </p:spPr>
      </p:sp>
      <p:sp>
        <p:nvSpPr>
          <p:cNvPr id="10" name="Text 8"/>
          <p:cNvSpPr/>
          <p:nvPr/>
        </p:nvSpPr>
        <p:spPr>
          <a:xfrm>
            <a:off x="1950720" y="3007360"/>
            <a:ext cx="12354560" cy="8128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I answered all three evidence questions.</a:t>
            </a:r>
            <a:endParaRPr lang="en-US" sz="1300" dirty="0"/>
          </a:p>
        </p:txBody>
      </p:sp>
      <p:sp>
        <p:nvSpPr>
          <p:cNvPr id="11" name="Shape 9"/>
          <p:cNvSpPr/>
          <p:nvPr/>
        </p:nvSpPr>
        <p:spPr>
          <a:xfrm>
            <a:off x="812800" y="4145280"/>
            <a:ext cx="13817600" cy="975360"/>
          </a:xfrm>
          <a:prstGeom prst="roundRect">
            <a:avLst>
              <a:gd name="adj" fmla="val 16667"/>
            </a:avLst>
          </a:prstGeom>
          <a:solidFill>
            <a:srgbClr val="FFFFFF"/>
          </a:solidFill>
          <a:ln w="19050">
            <a:solidFill>
              <a:srgbClr val="34B76F"/>
            </a:solidFill>
            <a:prstDash val="solid"/>
          </a:ln>
        </p:spPr>
      </p:sp>
      <p:sp>
        <p:nvSpPr>
          <p:cNvPr id="12" name="Shape 10"/>
          <p:cNvSpPr/>
          <p:nvPr/>
        </p:nvSpPr>
        <p:spPr>
          <a:xfrm>
            <a:off x="1137920" y="4340352"/>
            <a:ext cx="585216" cy="585216"/>
          </a:xfrm>
          <a:prstGeom prst="roundRect">
            <a:avLst>
              <a:gd name="adj" fmla="val 16667"/>
            </a:avLst>
          </a:prstGeom>
          <a:solidFill>
            <a:srgbClr val="E3F8ED"/>
          </a:solidFill>
          <a:ln w="12700">
            <a:solidFill>
              <a:srgbClr val="34B76F"/>
            </a:solidFill>
            <a:prstDash val="solid"/>
          </a:ln>
        </p:spPr>
      </p:sp>
      <p:sp>
        <p:nvSpPr>
          <p:cNvPr id="13" name="Text 11"/>
          <p:cNvSpPr/>
          <p:nvPr/>
        </p:nvSpPr>
        <p:spPr>
          <a:xfrm>
            <a:off x="1950720" y="4226560"/>
            <a:ext cx="12354560" cy="8128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I completed the Portfolio Synthesis.</a:t>
            </a:r>
            <a:endParaRPr lang="en-US" sz="1300" dirty="0"/>
          </a:p>
        </p:txBody>
      </p:sp>
      <p:sp>
        <p:nvSpPr>
          <p:cNvPr id="14" name="Shape 12"/>
          <p:cNvSpPr/>
          <p:nvPr/>
        </p:nvSpPr>
        <p:spPr>
          <a:xfrm>
            <a:off x="812800" y="5364480"/>
            <a:ext cx="13817600" cy="975360"/>
          </a:xfrm>
          <a:prstGeom prst="roundRect">
            <a:avLst>
              <a:gd name="adj" fmla="val 16667"/>
            </a:avLst>
          </a:prstGeom>
          <a:solidFill>
            <a:srgbClr val="FFFFFF"/>
          </a:solidFill>
          <a:ln w="19050">
            <a:solidFill>
              <a:srgbClr val="34B76F"/>
            </a:solidFill>
            <a:prstDash val="solid"/>
          </a:ln>
        </p:spPr>
      </p:sp>
      <p:sp>
        <p:nvSpPr>
          <p:cNvPr id="15" name="Shape 13"/>
          <p:cNvSpPr/>
          <p:nvPr/>
        </p:nvSpPr>
        <p:spPr>
          <a:xfrm>
            <a:off x="1137920" y="5559552"/>
            <a:ext cx="585216" cy="585216"/>
          </a:xfrm>
          <a:prstGeom prst="roundRect">
            <a:avLst>
              <a:gd name="adj" fmla="val 16667"/>
            </a:avLst>
          </a:prstGeom>
          <a:solidFill>
            <a:srgbClr val="E3F8ED"/>
          </a:solidFill>
          <a:ln w="12700">
            <a:solidFill>
              <a:srgbClr val="34B76F"/>
            </a:solidFill>
            <a:prstDash val="solid"/>
          </a:ln>
        </p:spPr>
      </p:sp>
      <p:sp>
        <p:nvSpPr>
          <p:cNvPr id="16" name="Text 14"/>
          <p:cNvSpPr/>
          <p:nvPr/>
        </p:nvSpPr>
        <p:spPr>
          <a:xfrm>
            <a:off x="1950720" y="5445760"/>
            <a:ext cx="12354560" cy="8128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I wrote my Curator's Chronicle.</a:t>
            </a:r>
            <a:endParaRPr lang="en-US" sz="1300" dirty="0"/>
          </a:p>
        </p:txBody>
      </p:sp>
      <p:sp>
        <p:nvSpPr>
          <p:cNvPr id="17" name="Shape 15"/>
          <p:cNvSpPr/>
          <p:nvPr/>
        </p:nvSpPr>
        <p:spPr>
          <a:xfrm>
            <a:off x="812800" y="6583680"/>
            <a:ext cx="13817600" cy="975360"/>
          </a:xfrm>
          <a:prstGeom prst="roundRect">
            <a:avLst>
              <a:gd name="adj" fmla="val 16667"/>
            </a:avLst>
          </a:prstGeom>
          <a:solidFill>
            <a:srgbClr val="FFFFFF"/>
          </a:solidFill>
          <a:ln w="19050">
            <a:solidFill>
              <a:srgbClr val="34B76F"/>
            </a:solidFill>
            <a:prstDash val="solid"/>
          </a:ln>
        </p:spPr>
      </p:sp>
      <p:sp>
        <p:nvSpPr>
          <p:cNvPr id="18" name="Shape 16"/>
          <p:cNvSpPr/>
          <p:nvPr/>
        </p:nvSpPr>
        <p:spPr>
          <a:xfrm>
            <a:off x="1137920" y="6778752"/>
            <a:ext cx="585216" cy="585216"/>
          </a:xfrm>
          <a:prstGeom prst="roundRect">
            <a:avLst>
              <a:gd name="adj" fmla="val 16667"/>
            </a:avLst>
          </a:prstGeom>
          <a:solidFill>
            <a:srgbClr val="E3F8ED"/>
          </a:solidFill>
          <a:ln w="12700">
            <a:solidFill>
              <a:srgbClr val="34B76F"/>
            </a:solidFill>
            <a:prstDash val="solid"/>
          </a:ln>
        </p:spPr>
      </p:sp>
      <p:sp>
        <p:nvSpPr>
          <p:cNvPr id="19" name="Text 17"/>
          <p:cNvSpPr/>
          <p:nvPr/>
        </p:nvSpPr>
        <p:spPr>
          <a:xfrm>
            <a:off x="1950720" y="6664960"/>
            <a:ext cx="12354560" cy="8128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I copied or downloaded my work and submitted to Canvas.</a:t>
            </a:r>
            <a:endParaRPr lang="en-US" sz="1300" dirty="0"/>
          </a:p>
        </p:txBody>
      </p:sp>
      <p:sp>
        <p:nvSpPr>
          <p:cNvPr id="20" name="Shape 18"/>
          <p:cNvSpPr/>
          <p:nvPr/>
        </p:nvSpPr>
        <p:spPr>
          <a:xfrm>
            <a:off x="10566400" y="6339840"/>
            <a:ext cx="4064000" cy="2113280"/>
          </a:xfrm>
          <a:prstGeom prst="roundRect">
            <a:avLst>
              <a:gd name="adj" fmla="val 9231"/>
            </a:avLst>
          </a:prstGeom>
          <a:solidFill>
            <a:srgbClr val="E2E8F4"/>
          </a:solidFill>
          <a:ln w="19050">
            <a:solidFill>
              <a:srgbClr val="B0B8CC"/>
            </a:solidFill>
            <a:prstDash val="dash"/>
          </a:ln>
        </p:spPr>
      </p:sp>
      <p:sp>
        <p:nvSpPr>
          <p:cNvPr id="21" name="Text 19"/>
          <p:cNvSpPr/>
          <p:nvPr/>
        </p:nvSpPr>
        <p:spPr>
          <a:xfrm>
            <a:off x="10566400" y="6339840"/>
            <a:ext cx="40640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22" name="Text 20"/>
          <p:cNvSpPr/>
          <p:nvPr/>
        </p:nvSpPr>
        <p:spPr>
          <a:xfrm>
            <a:off x="10810240" y="6827520"/>
            <a:ext cx="3576320" cy="1463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Clipboard with checkmarks, portfolio folder with a gold seal</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812800"/>
            <a:ext cx="146304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LESSON 3.04.02 COMPLETE</a:t>
            </a:r>
            <a:endParaRPr lang="en-US" sz="1000" dirty="0"/>
          </a:p>
        </p:txBody>
      </p:sp>
      <p:sp>
        <p:nvSpPr>
          <p:cNvPr id="6" name="Text 3"/>
          <p:cNvSpPr/>
          <p:nvPr/>
        </p:nvSpPr>
        <p:spPr>
          <a:xfrm>
            <a:off x="812800" y="1463040"/>
            <a:ext cx="9753600" cy="162560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The World Map Hall</a:t>
            </a:r>
            <a:endParaRPr lang="en-US" sz="3200" dirty="0"/>
          </a:p>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Awaits!</a:t>
            </a:r>
            <a:endParaRPr lang="en-US" sz="3200" dirty="0"/>
          </a:p>
        </p:txBody>
      </p:sp>
      <p:sp>
        <p:nvSpPr>
          <p:cNvPr id="7" name="Shape 4"/>
          <p:cNvSpPr/>
          <p:nvPr/>
        </p:nvSpPr>
        <p:spPr>
          <a:xfrm>
            <a:off x="812800" y="3251200"/>
            <a:ext cx="4064000" cy="65024"/>
          </a:xfrm>
          <a:prstGeom prst="rect">
            <a:avLst/>
          </a:prstGeom>
          <a:solidFill>
            <a:srgbClr val="D4943A"/>
          </a:solidFill>
          <a:ln/>
        </p:spPr>
      </p:sp>
      <p:sp>
        <p:nvSpPr>
          <p:cNvPr id="8" name="Text 5"/>
          <p:cNvSpPr/>
          <p:nvPr/>
        </p:nvSpPr>
        <p:spPr>
          <a:xfrm>
            <a:off x="812800" y="3738880"/>
            <a:ext cx="11379200" cy="1137920"/>
          </a:xfrm>
          <a:prstGeom prst="rect">
            <a:avLst/>
          </a:prstGeom>
          <a:noFill/>
          <a:ln/>
        </p:spPr>
        <p:txBody>
          <a:bodyPr wrap="square" lIns="0" tIns="0" rIns="0" bIns="0" rtlCol="0" anchor="ctr"/>
          <a:lstStyle/>
          <a:p>
            <a:pPr indent="0" marL="0">
              <a:lnSpc>
                <a:spcPct val="130000"/>
              </a:lnSpc>
              <a:buNone/>
            </a:pPr>
            <a:r>
              <a:rPr lang="en-US" sz="1500" dirty="0">
                <a:solidFill>
                  <a:srgbClr val="55C8E8"/>
                </a:solidFill>
                <a:latin typeface="Calibri" pitchFamily="34" charset="0"/>
                <a:ea typeface="Calibri" pitchFamily="34" charset="-122"/>
                <a:cs typeface="Calibri" pitchFamily="34" charset="-120"/>
              </a:rPr>
              <a:t>Your portfolio is complete. The museum board says</a:t>
            </a:r>
            <a:endParaRPr lang="en-US" sz="1500" dirty="0"/>
          </a:p>
          <a:p>
            <a:pPr indent="0" marL="0">
              <a:lnSpc>
                <a:spcPct val="130000"/>
              </a:lnSpc>
              <a:buNone/>
            </a:pPr>
            <a:r>
              <a:rPr lang="en-US" sz="1500" dirty="0">
                <a:solidFill>
                  <a:srgbClr val="55C8E8"/>
                </a:solidFill>
                <a:latin typeface="Calibri" pitchFamily="34" charset="0"/>
                <a:ea typeface="Calibri" pitchFamily="34" charset="-122"/>
                <a:cs typeface="Calibri" pitchFamily="34" charset="-120"/>
              </a:rPr>
              <a:t>the World Map Hall can open!</a:t>
            </a:r>
            <a:endParaRPr lang="en-US" sz="1500" dirty="0"/>
          </a:p>
        </p:txBody>
      </p:sp>
      <p:sp>
        <p:nvSpPr>
          <p:cNvPr id="9" name="Shape 6"/>
          <p:cNvSpPr/>
          <p:nvPr/>
        </p:nvSpPr>
        <p:spPr>
          <a:xfrm>
            <a:off x="812800" y="5364480"/>
            <a:ext cx="11379200" cy="2926080"/>
          </a:xfrm>
          <a:prstGeom prst="roundRect">
            <a:avLst>
              <a:gd name="adj" fmla="val 6667"/>
            </a:avLst>
          </a:prstGeom>
          <a:solidFill>
            <a:srgbClr val="1A2D5A"/>
          </a:solidFill>
          <a:ln/>
          <a:effectLst>
            <a:outerShdw sx="100000" sy="100000" kx="0" ky="0" algn="bl" rotWithShape="0" blurRad="76200" dist="25400" dir="8100000">
              <a:srgbClr val="000000">
                <a:alpha val="15000"/>
              </a:srgbClr>
            </a:outerShdw>
          </a:effectLst>
        </p:spPr>
      </p:sp>
      <p:sp>
        <p:nvSpPr>
          <p:cNvPr id="10" name="Text 7"/>
          <p:cNvSpPr/>
          <p:nvPr/>
        </p:nvSpPr>
        <p:spPr>
          <a:xfrm>
            <a:off x="1137920" y="5527040"/>
            <a:ext cx="1072896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NEXT</a:t>
            </a:r>
            <a:endParaRPr lang="en-US" sz="900" dirty="0"/>
          </a:p>
        </p:txBody>
      </p:sp>
      <p:sp>
        <p:nvSpPr>
          <p:cNvPr id="11" name="Text 8"/>
          <p:cNvSpPr/>
          <p:nvPr/>
        </p:nvSpPr>
        <p:spPr>
          <a:xfrm>
            <a:off x="1137920" y="6014720"/>
            <a:ext cx="10728960" cy="2113280"/>
          </a:xfrm>
          <a:prstGeom prst="rect">
            <a:avLst/>
          </a:prstGeom>
          <a:noFill/>
          <a:ln/>
        </p:spPr>
        <p:txBody>
          <a:bodyPr wrap="square" lIns="0" tIns="0" rIns="0" bIns="0" rtlCol="0" anchor="ctr"/>
          <a:lstStyle/>
          <a:p>
            <a:pPr indent="0" marL="0">
              <a:lnSpc>
                <a:spcPct val="130000"/>
              </a:lnSpc>
              <a:buNone/>
            </a:pPr>
            <a:r>
              <a:rPr lang="en-US" sz="1300" i="1" dirty="0">
                <a:solidFill>
                  <a:srgbClr val="FFFFFF"/>
                </a:solidFill>
                <a:latin typeface="Calibri" pitchFamily="34" charset="0"/>
                <a:ea typeface="Calibri" pitchFamily="34" charset="-122"/>
                <a:cs typeface="Calibri" pitchFamily="34" charset="-120"/>
              </a:rPr>
              <a:t>But when the curtain comes down, you see a huge wall map of the world — and it's missing everything. No continent labels. No ocean names. No landforms.</a:t>
            </a:r>
            <a:endParaRPr lang="en-US" sz="1300" dirty="0"/>
          </a:p>
          <a:p>
            <a:pPr indent="0" marL="0">
              <a:lnSpc>
                <a:spcPct val="130000"/>
              </a:lnSpc>
              <a:buNone/>
            </a:pPr>
            <a:endParaRPr lang="en-US" sz="1300" dirty="0"/>
          </a:p>
          <a:p>
            <a:pPr indent="0" marL="0">
              <a:lnSpc>
                <a:spcPct val="130000"/>
              </a:lnSpc>
              <a:buNone/>
            </a:pPr>
            <a:r>
              <a:rPr lang="en-US" sz="1300" i="1" dirty="0">
                <a:solidFill>
                  <a:srgbClr val="FFFFFF"/>
                </a:solidFill>
                <a:latin typeface="Calibri" pitchFamily="34" charset="0"/>
                <a:ea typeface="Calibri" pitchFamily="34" charset="-122"/>
                <a:cs typeface="Calibri" pitchFamily="34" charset="-120"/>
              </a:rPr>
              <a:t>The World Geography Curators have a big job ahead — and that's you, starting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2026-07-11T02:51:33Z</dcterms:created>
  <dcterms:modified xsi:type="dcterms:W3CDTF">2026-07-11T02:51:33Z</dcterms:modified>
</cp:coreProperties>
</file>