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Great Map Room wide view with all five alcoves open, warm lantern light, a wooden cart with tape player, headphones, books, and newspapersIMAGE TO INSERT: Great Map Room wide view with all five alcoves open, warm lantern light, a wooden cart (Listening &amp; Reading Station) with tape player, headphones, books, and newspapers. Title slide — welcome students to the lesson and briefly preview that today we explore how songs, legends, poems, and news help us understand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the wooden Listening &amp; Reading Station cart: vintage tape player with headphones, an open book of poems, a songbook, and yellowed newspapers, lit by warm lantern glowRead the quote aloud with a sense of wonder. Explain that we have been studying regions on maps, but today we add a new layer: how people FEEL about places. The Listening &amp; Reading Station has artifacts that carry feelings — songs, legends, poems, and news. Ask: 'Have you ever heard a song about a place? What did it make you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warm campfire scene: people gathered around, one person telling a story, others listening attentively — evoking the idea that stories are gifts passed between peoplePause here and set the tone: today's stories are not just 'fun facts' — they come from real communities. A folk song sung around campfires, a Cherokee legend passed through generations. Courtesy means we slow down, listen carefully, and treat each story as a gift from the people who created it. Ask students: 'What does it look like to listen with courtesy?'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four categories. Explain that each kind of story does something a map cannot: it shows us how people FEEL about a place — what they love, fear, celebrate, or remember. We will look at one example of each. Point to each card and read the description. Ask: 'Which kind of story are you most excited to hear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line or two of the song aloud (or play a short clip if available). Point out that this song does not just name Kansas — it makes you FEEL the wide-open space. Cowboys sang it while driving cattle across the plains. Ask students to use the Chat Frame prompts: 'This song makes me picture...' and 'The plains sound like a place where...' Give 60 seconds for partner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Paul Bunyan story with energy — emphasize the exaggeration. His footprints made the Great Lakes! He dragged a leaky pail and carved the Mississippi! Then pause and ask the Socratic Questions: 'Why would lumberjacks tell stories about a GIANT?' Guide students to see that the forests were so enormous, people invented a character to match. The tall tale reveals what was important to the region: massive trees, hard work, and the power of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Sandburg lines aloud with force — these are powerful, muscular words. Then unpack: 'Hog Butcher' = meatpacking, 'Stacker of Wheat' = grain trade, 'City of the Big Shoulders' = strong, proud workers. Ask: 'Could a map show you that Chicago felt PROUD? That is what a poem can do.' Use the Chat Frame for a brief partner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respectful tone: this is a real event that affected real families. Read the headline aloud. Emphasize the community response — fishermen launching boats, neighbors helping neighbors. Ask: 'What does this news report tell us about the Gulf Coast that a map cannot?' Students should see that it reveals the CHARACTER of the people: courage, community, and resilience. Use Chat Frame for quick partner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Quest Match activity. Reveal each pair one at a time (click or verbal). For each story, ask: 'Which region does this story come from? How do you know?' Let students point to the map image. Reinforce that each story teaches us something about its region that a map alone cannot show — feelings, pride, strength, humor.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this as a 'wow' moment: a Kansas doctor wrote a poem, a friend turned it into a song, and cowboys carried it across the plains — changing the words as they went. By 1947 there were many versions! This is how stories travel: person to person, place to place. Ask: 'Why do you think cowboys changed the words?' (They made it fit THEIR experiences and feelings.)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with care (Courtesy!). The Hopi Spider Grandmother is a sacred figure — a wise teacher who helped the first people. The story connects the Hopi to their land: the desert, the mesas, the Arizona sky. Ask the Socratic Questions and guide students to see that this story reveals VALUES — wisdom, patience, respect for the earth — that no map could show. Remind: we treat this story as a gift.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for Think-Pair-Share. Circulate and listen. This directly prepares them for Evidence Question 1 on the assignment. Cold-call 2-3 students to share. Validate answers that connect the story to a feeling or trait of the region that maps cannot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how stories traveled THEN vs. NOW. Key insight: the FORMAT changes (campfire to phone), but the PURPOSE stays the same — stories carry feelings about places. Ask: 'Do you think a cowboy song sounds different on a phone than around a campfire? Does it still make you feel the same things?' This connects to the Discovery Fact about 'Home on the Range' traveling by word of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Picture wrap-up. Read the main statement aloud: 'Maps show where. Stories show how people feel.' Then walk through the exhibit label — one bullet per story. Emphasize that each story added a FEELING layer that a map cannot provide. This is the core concept students need for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aloud and let students think before revealing the answer. The correct answer is C: How people feel about the place — what they love, miss, or remember. Reinforce with examples from today: the song showed love for the plains, the poem showed pride in Chicago, the news showed community courage. A map shows location; a story shows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Correct answer is B: Huge forests and lumber camps. Paul Bunyan was a GIANT lumberjack — the story only makes sense in a region with enormous forests. The tall tale exaggerates what was real: the Upper Midwest/Northwest had massive forests and a booming lumber industry. Ask: 'Would a Paul Bunyan story make sense in a desert? Why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Correct answer is A: Stories belong to real people who created and shared them. Connect back to the Virtue Spotlight: the folk song was sung by real cowboys, the Cherokee legend was told for generations, the Hopi Spider Grandmother story is sacred. Courtesy means we honor those people by listening carefully and treating their stories as gifts.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For Q1, remind students they practiced this during the Listening Station Reflection — they already have a story and a detail. For Q2, point back to the Big Picture: 'Maps show where. Stories show how people feel.' For Q3, connect to the Virtue Spotlight. Then read the Curator Task. Emphasize 'kind, careful words' — that IS courtesy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1-2 minutes to complete the Curator's Chronicle in their notebooks or on the assignment page. This is a personal reflection — encourage honest, specific responses. Cold-call 2-3 students to share. Validate responses that connect a specific story to a feeling about a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Great Map Room with the Listening &amp; Reading Station in place, warm glow, alcoves visible in the background — a completed exhibit feelingIMAGE TO INSERT: The Great Map Room with the Listening &amp; Reading Station in place, warm glow, alcoves visible. Close the lesson by reading the final statement aloud. Remind students: 'Maps show us WHERE places are. Stories show us WHY those places matter to the people who live there.' Preview 3.07.08: next time we build the Contributions Wall. Dismiss with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463040"/>
            <a:ext cx="10241280" cy="853440"/>
          </a:xfrm>
          <a:prstGeom prst="rect">
            <a:avLst/>
          </a:prstGeom>
          <a:noFill/>
          <a:ln/>
        </p:spPr>
        <p:txBody>
          <a:bodyPr wrap="square" lIns="0" tIns="0" rIns="0" bIns="0" rtlCol="0" anchor="ctr"/>
          <a:lstStyle/>
          <a:p>
            <a:pPr indent="0" marL="0">
              <a:buNone/>
            </a:pPr>
            <a:r>
              <a:rPr lang="en-US" sz="3200" b="1" dirty="0">
                <a:solidFill>
                  <a:srgbClr val="D4943A"/>
                </a:solidFill>
                <a:latin typeface="Cambria" pitchFamily="34" charset="0"/>
                <a:ea typeface="Cambria" pitchFamily="34" charset="-122"/>
                <a:cs typeface="Cambria" pitchFamily="34" charset="-120"/>
              </a:rPr>
              <a:t>STORIES OF THE REGIONS</a:t>
            </a:r>
            <a:endParaRPr lang="en-US" sz="3200" dirty="0"/>
          </a:p>
        </p:txBody>
      </p:sp>
      <p:sp>
        <p:nvSpPr>
          <p:cNvPr id="6" name="Text 3"/>
          <p:cNvSpPr/>
          <p:nvPr/>
        </p:nvSpPr>
        <p:spPr>
          <a:xfrm>
            <a:off x="975360" y="2316480"/>
            <a:ext cx="10241280" cy="6096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Perceiving Places Through Songs, Legends, Poems, and News</a:t>
            </a:r>
            <a:endParaRPr lang="en-US" sz="1600" dirty="0"/>
          </a:p>
        </p:txBody>
      </p:sp>
      <p:sp>
        <p:nvSpPr>
          <p:cNvPr id="7" name="Shape 4"/>
          <p:cNvSpPr/>
          <p:nvPr/>
        </p:nvSpPr>
        <p:spPr>
          <a:xfrm>
            <a:off x="975360" y="3048000"/>
            <a:ext cx="2438400" cy="48768"/>
          </a:xfrm>
          <a:prstGeom prst="rect">
            <a:avLst/>
          </a:prstGeom>
          <a:solidFill>
            <a:srgbClr val="D4943A"/>
          </a:solidFill>
          <a:ln/>
        </p:spPr>
      </p:sp>
      <p:sp>
        <p:nvSpPr>
          <p:cNvPr id="8" name="Text 5"/>
          <p:cNvSpPr/>
          <p:nvPr/>
        </p:nvSpPr>
        <p:spPr>
          <a:xfrm>
            <a:off x="975360" y="3291840"/>
            <a:ext cx="9753600" cy="426720"/>
          </a:xfrm>
          <a:prstGeom prst="rect">
            <a:avLst/>
          </a:prstGeom>
          <a:noFill/>
          <a:ln/>
        </p:spPr>
        <p:txBody>
          <a:bodyPr wrap="square" lIns="0" tIns="0" rIns="0" bIns="0" rtlCol="0" anchor="ctr"/>
          <a:lstStyle/>
          <a:p>
            <a:pPr indent="0" marL="0">
              <a:buNone/>
            </a:pPr>
            <a:r>
              <a:rPr lang="en-US" sz="1200" dirty="0">
                <a:solidFill>
                  <a:srgbClr val="55C8E8"/>
                </a:solidFill>
                <a:latin typeface="Calibri" pitchFamily="34" charset="0"/>
                <a:ea typeface="Calibri" pitchFamily="34" charset="-122"/>
                <a:cs typeface="Calibri" pitchFamily="34" charset="-120"/>
              </a:rPr>
              <a:t>Lesson 3.07.07  |  Great Map Room  |  Week 22, Q3</a:t>
            </a:r>
            <a:endParaRPr lang="en-US" sz="1200" dirty="0"/>
          </a:p>
        </p:txBody>
      </p:sp>
      <p:sp>
        <p:nvSpPr>
          <p:cNvPr id="9" name="Text 6"/>
          <p:cNvSpPr/>
          <p:nvPr/>
        </p:nvSpPr>
        <p:spPr>
          <a:xfrm>
            <a:off x="975360" y="3779520"/>
            <a:ext cx="9753600" cy="365760"/>
          </a:xfrm>
          <a:prstGeom prst="rect">
            <a:avLst/>
          </a:prstGeom>
          <a:noFill/>
          <a:ln/>
        </p:spPr>
        <p:txBody>
          <a:bodyPr wrap="square" lIns="0" tIns="0" rIns="0" bIns="0" rtlCol="0" anchor="ctr"/>
          <a:lstStyle/>
          <a:p>
            <a:pPr indent="0" marL="0">
              <a:buNone/>
            </a:pPr>
            <a:r>
              <a:rPr lang="en-US" sz="1000" dirty="0">
                <a:solidFill>
                  <a:srgbClr val="7A88A8"/>
                </a:solidFill>
                <a:latin typeface="Calibri" pitchFamily="34" charset="0"/>
                <a:ea typeface="Calibri" pitchFamily="34" charset="-122"/>
                <a:cs typeface="Calibri" pitchFamily="34" charset="-120"/>
              </a:rPr>
              <a:t>SS.3.G.2.2-2.6  |  SS.3.G.4.1, 4.4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731520"/>
            <a:ext cx="10241280" cy="609600"/>
          </a:xfrm>
          <a:prstGeom prst="rect">
            <a:avLst/>
          </a:prstGeom>
          <a:noFill/>
          <a:ln/>
        </p:spPr>
        <p:txBody>
          <a:bodyPr wrap="square" lIns="0" tIns="0" rIns="0" bIns="0" rtlCol="0" anchor="ctr"/>
          <a:lstStyle/>
          <a:p>
            <a:pPr indent="0" marL="0">
              <a:buNone/>
            </a:pPr>
            <a:r>
              <a:rPr lang="en-US" sz="1100" b="1" spc="200" kern="0" dirty="0">
                <a:solidFill>
                  <a:srgbClr val="D4943A"/>
                </a:solidFill>
                <a:latin typeface="Calibri" pitchFamily="34" charset="0"/>
                <a:ea typeface="Calibri" pitchFamily="34" charset="-122"/>
                <a:cs typeface="Calibri" pitchFamily="34" charset="-120"/>
              </a:rPr>
              <a:t>THE LISTENING &amp; READING STATION</a:t>
            </a:r>
            <a:endParaRPr lang="en-US" sz="1100" dirty="0"/>
          </a:p>
        </p:txBody>
      </p:sp>
      <p:sp>
        <p:nvSpPr>
          <p:cNvPr id="6" name="Text 3"/>
          <p:cNvSpPr/>
          <p:nvPr/>
        </p:nvSpPr>
        <p:spPr>
          <a:xfrm>
            <a:off x="975360" y="1463040"/>
            <a:ext cx="9753600" cy="4267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All five alcoves are open.</a:t>
            </a:r>
            <a:endParaRPr lang="en-US" sz="1500" dirty="0"/>
          </a:p>
        </p:txBody>
      </p:sp>
      <p:sp>
        <p:nvSpPr>
          <p:cNvPr id="7" name="Text 4"/>
          <p:cNvSpPr/>
          <p:nvPr/>
        </p:nvSpPr>
        <p:spPr>
          <a:xfrm>
            <a:off x="975360" y="2011680"/>
            <a:ext cx="9144000" cy="8534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wooden cart has been rolled in. On it: a tape player, headphones, a book of poems, a songbook, and yellowed newspapers.</a:t>
            </a:r>
            <a:endParaRPr lang="en-US" sz="1500" dirty="0"/>
          </a:p>
        </p:txBody>
      </p:sp>
      <p:sp>
        <p:nvSpPr>
          <p:cNvPr id="8" name="Shape 5"/>
          <p:cNvSpPr/>
          <p:nvPr/>
        </p:nvSpPr>
        <p:spPr>
          <a:xfrm>
            <a:off x="975360" y="3291840"/>
            <a:ext cx="9753600" cy="975360"/>
          </a:xfrm>
          <a:prstGeom prst="roundRect">
            <a:avLst>
              <a:gd name="adj" fmla="val 9375"/>
            </a:avLst>
          </a:prstGeom>
          <a:solidFill>
            <a:srgbClr val="1A2D5A"/>
          </a:solidFill>
          <a:ln w="12700">
            <a:solidFill>
              <a:srgbClr val="D4943A"/>
            </a:solidFill>
            <a:prstDash val="solid"/>
          </a:ln>
        </p:spPr>
      </p:sp>
      <p:sp>
        <p:nvSpPr>
          <p:cNvPr id="9" name="Text 6"/>
          <p:cNvSpPr/>
          <p:nvPr/>
        </p:nvSpPr>
        <p:spPr>
          <a:xfrm>
            <a:off x="1219200" y="3413760"/>
            <a:ext cx="9265920" cy="731520"/>
          </a:xfrm>
          <a:prstGeom prst="rect">
            <a:avLst/>
          </a:prstGeom>
          <a:noFill/>
          <a:ln/>
        </p:spPr>
        <p:txBody>
          <a:bodyPr wrap="square" lIns="0" tIns="0" rIns="0" bIns="0" rtlCol="0" anchor="ctr"/>
          <a:lstStyle/>
          <a:p>
            <a:pPr indent="0" marL="0">
              <a:buNone/>
            </a:pPr>
            <a:r>
              <a:rPr lang="en-US" sz="1400" i="1" dirty="0">
                <a:solidFill>
                  <a:srgbClr val="FFFFFF"/>
                </a:solidFill>
                <a:latin typeface="Cambria" pitchFamily="34" charset="0"/>
                <a:ea typeface="Cambria" pitchFamily="34" charset="-122"/>
                <a:cs typeface="Cambria" pitchFamily="34" charset="-120"/>
              </a:rPr>
              <a:t>"Visitors keep asking how people </a:t>
            </a:r>
            <a:pPr indent="0" marL="0">
              <a:buNone/>
            </a:pPr>
            <a:r>
              <a:rPr lang="en-US" sz="1400" b="1" i="1" dirty="0">
                <a:solidFill>
                  <a:srgbClr val="D4943A"/>
                </a:solidFill>
                <a:latin typeface="Cambria" pitchFamily="34" charset="0"/>
                <a:ea typeface="Cambria" pitchFamily="34" charset="-122"/>
                <a:cs typeface="Cambria" pitchFamily="34" charset="-120"/>
              </a:rPr>
              <a:t>FEEL</a:t>
            </a:r>
            <a:pPr indent="0" marL="0">
              <a:buNone/>
            </a:pPr>
            <a:r>
              <a:rPr lang="en-US" sz="1400" i="1" dirty="0">
                <a:solidFill>
                  <a:srgbClr val="FFFFFF"/>
                </a:solidFill>
                <a:latin typeface="Cambria" pitchFamily="34" charset="0"/>
                <a:ea typeface="Cambria" pitchFamily="34" charset="-122"/>
                <a:cs typeface="Cambria" pitchFamily="34" charset="-120"/>
              </a:rPr>
              <a:t> about these places. Maps tell us where. Stories tell us why."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609600"/>
            <a:ext cx="4876800" cy="42672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VIRTUE SPOTLIGHT</a:t>
            </a:r>
            <a:endParaRPr lang="en-US" sz="1100" dirty="0"/>
          </a:p>
        </p:txBody>
      </p:sp>
      <p:sp>
        <p:nvSpPr>
          <p:cNvPr id="6" name="Text 3"/>
          <p:cNvSpPr/>
          <p:nvPr/>
        </p:nvSpPr>
        <p:spPr>
          <a:xfrm>
            <a:off x="975360" y="1158240"/>
            <a:ext cx="9753600" cy="731520"/>
          </a:xfrm>
          <a:prstGeom prst="rect">
            <a:avLst/>
          </a:prstGeom>
          <a:noFill/>
          <a:ln/>
        </p:spPr>
        <p:txBody>
          <a:bodyPr wrap="square" lIns="0" tIns="0" rIns="0" bIns="0"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Courtesy</a:t>
            </a:r>
            <a:endParaRPr lang="en-US" sz="2800" dirty="0"/>
          </a:p>
        </p:txBody>
      </p:sp>
      <p:sp>
        <p:nvSpPr>
          <p:cNvPr id="7" name="Shape 4"/>
          <p:cNvSpPr/>
          <p:nvPr/>
        </p:nvSpPr>
        <p:spPr>
          <a:xfrm>
            <a:off x="975360" y="1950720"/>
            <a:ext cx="1828800" cy="48768"/>
          </a:xfrm>
          <a:prstGeom prst="rect">
            <a:avLst/>
          </a:prstGeom>
          <a:solidFill>
            <a:srgbClr val="D4943A"/>
          </a:solidFill>
          <a:ln/>
        </p:spPr>
      </p:sp>
      <p:sp>
        <p:nvSpPr>
          <p:cNvPr id="8" name="Text 5"/>
          <p:cNvSpPr/>
          <p:nvPr/>
        </p:nvSpPr>
        <p:spPr>
          <a:xfrm>
            <a:off x="975360" y="2255520"/>
            <a:ext cx="9753600" cy="4876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Stories belong to real people.</a:t>
            </a:r>
            <a:endParaRPr lang="en-US" sz="1600" dirty="0"/>
          </a:p>
        </p:txBody>
      </p:sp>
      <p:sp>
        <p:nvSpPr>
          <p:cNvPr id="9" name="Text 6"/>
          <p:cNvSpPr/>
          <p:nvPr/>
        </p:nvSpPr>
        <p:spPr>
          <a:xfrm>
            <a:off x="731520" y="2926080"/>
            <a:ext cx="975360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 folk song from the West was sung around real campfires.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 Cherokee legend has been told for generations.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Courtesy means we slow down, listen first, and treat each story as a gift.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FOUR KINDS OF STORIES</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14400"/>
            <a:ext cx="10972800" cy="48768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Today we explore four kinds of stories that help us understand how people perceive their regions.</a:t>
            </a:r>
            <a:endParaRPr lang="en-US" sz="1400" dirty="0"/>
          </a:p>
        </p:txBody>
      </p:sp>
      <p:sp>
        <p:nvSpPr>
          <p:cNvPr id="6" name="Shape 4"/>
          <p:cNvSpPr/>
          <p:nvPr/>
        </p:nvSpPr>
        <p:spPr>
          <a:xfrm>
            <a:off x="365760" y="1706880"/>
            <a:ext cx="2682240" cy="3169920"/>
          </a:xfrm>
          <a:prstGeom prst="roundRect">
            <a:avLst>
              <a:gd name="adj" fmla="val 4091"/>
            </a:avLst>
          </a:prstGeom>
          <a:solidFill>
            <a:srgbClr val="FFFFFF"/>
          </a:solidFill>
          <a:ln/>
          <a:effectLst>
            <a:outerShdw sx="100000" sy="100000" kx="0" ky="0" algn="bl" rotWithShape="0" blurRad="76200" dist="25400" dir="8100000">
              <a:srgbClr val="000000">
                <a:alpha val="10000"/>
              </a:srgbClr>
            </a:outerShdw>
          </a:effectLst>
        </p:spPr>
      </p:sp>
      <p:sp>
        <p:nvSpPr>
          <p:cNvPr id="7" name="Shape 5"/>
          <p:cNvSpPr/>
          <p:nvPr/>
        </p:nvSpPr>
        <p:spPr>
          <a:xfrm>
            <a:off x="548640" y="1889760"/>
            <a:ext cx="2316480" cy="670560"/>
          </a:xfrm>
          <a:prstGeom prst="roundRect">
            <a:avLst>
              <a:gd name="adj" fmla="val 10909"/>
            </a:avLst>
          </a:prstGeom>
          <a:solidFill>
            <a:srgbClr val="1A8A7D"/>
          </a:solidFill>
          <a:ln/>
        </p:spPr>
      </p:sp>
      <p:sp>
        <p:nvSpPr>
          <p:cNvPr id="8" name="Text 6"/>
          <p:cNvSpPr/>
          <p:nvPr/>
        </p:nvSpPr>
        <p:spPr>
          <a:xfrm>
            <a:off x="548640" y="1889760"/>
            <a:ext cx="2316480" cy="6705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SONG</a:t>
            </a:r>
            <a:endParaRPr lang="en-US" sz="1400" dirty="0"/>
          </a:p>
        </p:txBody>
      </p:sp>
      <p:sp>
        <p:nvSpPr>
          <p:cNvPr id="9" name="Text 7"/>
          <p:cNvSpPr/>
          <p:nvPr/>
        </p:nvSpPr>
        <p:spPr>
          <a:xfrm>
            <a:off x="548640" y="2743200"/>
            <a:ext cx="2316480" cy="48768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Song</a:t>
            </a:r>
            <a:endParaRPr lang="en-US" sz="1400" dirty="0"/>
          </a:p>
        </p:txBody>
      </p:sp>
      <p:sp>
        <p:nvSpPr>
          <p:cNvPr id="10" name="Text 8"/>
          <p:cNvSpPr/>
          <p:nvPr/>
        </p:nvSpPr>
        <p:spPr>
          <a:xfrm>
            <a:off x="609600" y="3291840"/>
            <a:ext cx="2194560" cy="1341120"/>
          </a:xfrm>
          <a:prstGeom prst="rect">
            <a:avLst/>
          </a:prstGeom>
          <a:noFill/>
          <a:ln/>
        </p:spPr>
        <p:txBody>
          <a:bodyPr wrap="square" lIns="0" tIns="0" rIns="0" bIns="0" rtlCol="0" anchor="t"/>
          <a:lstStyle/>
          <a:p>
            <a:pPr algn="ctr" indent="0" marL="0">
              <a:buNone/>
            </a:pPr>
            <a:r>
              <a:rPr lang="en-US" sz="1100" dirty="0">
                <a:solidFill>
                  <a:srgbClr val="7A88A8"/>
                </a:solidFill>
                <a:latin typeface="Calibri" pitchFamily="34" charset="0"/>
                <a:ea typeface="Calibri" pitchFamily="34" charset="-122"/>
                <a:cs typeface="Calibri" pitchFamily="34" charset="-120"/>
              </a:rPr>
              <a:t>Music that captures feelings about a place</a:t>
            </a:r>
            <a:endParaRPr lang="en-US" sz="1100" dirty="0"/>
          </a:p>
        </p:txBody>
      </p:sp>
      <p:sp>
        <p:nvSpPr>
          <p:cNvPr id="11" name="Shape 9"/>
          <p:cNvSpPr/>
          <p:nvPr/>
        </p:nvSpPr>
        <p:spPr>
          <a:xfrm>
            <a:off x="3352800" y="1706880"/>
            <a:ext cx="2682240" cy="3169920"/>
          </a:xfrm>
          <a:prstGeom prst="roundRect">
            <a:avLst>
              <a:gd name="adj" fmla="val 4091"/>
            </a:avLst>
          </a:prstGeom>
          <a:solidFill>
            <a:srgbClr val="FFFFFF"/>
          </a:solidFill>
          <a:ln/>
          <a:effectLst>
            <a:outerShdw sx="100000" sy="100000" kx="0" ky="0" algn="bl" rotWithShape="0" blurRad="76200" dist="25400" dir="8100000">
              <a:srgbClr val="000000">
                <a:alpha val="10000"/>
              </a:srgbClr>
            </a:outerShdw>
          </a:effectLst>
        </p:spPr>
      </p:sp>
      <p:sp>
        <p:nvSpPr>
          <p:cNvPr id="12" name="Shape 10"/>
          <p:cNvSpPr/>
          <p:nvPr/>
        </p:nvSpPr>
        <p:spPr>
          <a:xfrm>
            <a:off x="3535680" y="1889760"/>
            <a:ext cx="2316480" cy="670560"/>
          </a:xfrm>
          <a:prstGeom prst="roundRect">
            <a:avLst>
              <a:gd name="adj" fmla="val 10909"/>
            </a:avLst>
          </a:prstGeom>
          <a:solidFill>
            <a:srgbClr val="D4943A"/>
          </a:solidFill>
          <a:ln/>
        </p:spPr>
      </p:sp>
      <p:sp>
        <p:nvSpPr>
          <p:cNvPr id="13" name="Text 11"/>
          <p:cNvSpPr/>
          <p:nvPr/>
        </p:nvSpPr>
        <p:spPr>
          <a:xfrm>
            <a:off x="3535680" y="1889760"/>
            <a:ext cx="2316480" cy="6705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LEGEND</a:t>
            </a:r>
            <a:endParaRPr lang="en-US" sz="1400" dirty="0"/>
          </a:p>
        </p:txBody>
      </p:sp>
      <p:sp>
        <p:nvSpPr>
          <p:cNvPr id="14" name="Text 12"/>
          <p:cNvSpPr/>
          <p:nvPr/>
        </p:nvSpPr>
        <p:spPr>
          <a:xfrm>
            <a:off x="3535680" y="2743200"/>
            <a:ext cx="2316480" cy="48768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Legend / Tall Tale</a:t>
            </a:r>
            <a:endParaRPr lang="en-US" sz="1400" dirty="0"/>
          </a:p>
        </p:txBody>
      </p:sp>
      <p:sp>
        <p:nvSpPr>
          <p:cNvPr id="15" name="Text 13"/>
          <p:cNvSpPr/>
          <p:nvPr/>
        </p:nvSpPr>
        <p:spPr>
          <a:xfrm>
            <a:off x="3596640" y="3291840"/>
            <a:ext cx="2194560" cy="1341120"/>
          </a:xfrm>
          <a:prstGeom prst="rect">
            <a:avLst/>
          </a:prstGeom>
          <a:noFill/>
          <a:ln/>
        </p:spPr>
        <p:txBody>
          <a:bodyPr wrap="square" lIns="0" tIns="0" rIns="0" bIns="0" rtlCol="0" anchor="t"/>
          <a:lstStyle/>
          <a:p>
            <a:pPr algn="ctr" indent="0" marL="0">
              <a:buNone/>
            </a:pPr>
            <a:r>
              <a:rPr lang="en-US" sz="1100" dirty="0">
                <a:solidFill>
                  <a:srgbClr val="7A88A8"/>
                </a:solidFill>
                <a:latin typeface="Calibri" pitchFamily="34" charset="0"/>
                <a:ea typeface="Calibri" pitchFamily="34" charset="-122"/>
                <a:cs typeface="Calibri" pitchFamily="34" charset="-120"/>
              </a:rPr>
              <a:t>A story passed down that exaggerates a region's character</a:t>
            </a:r>
            <a:endParaRPr lang="en-US" sz="1100" dirty="0"/>
          </a:p>
        </p:txBody>
      </p:sp>
      <p:sp>
        <p:nvSpPr>
          <p:cNvPr id="16" name="Shape 14"/>
          <p:cNvSpPr/>
          <p:nvPr/>
        </p:nvSpPr>
        <p:spPr>
          <a:xfrm>
            <a:off x="6339840" y="1706880"/>
            <a:ext cx="2682240" cy="3169920"/>
          </a:xfrm>
          <a:prstGeom prst="roundRect">
            <a:avLst>
              <a:gd name="adj" fmla="val 4091"/>
            </a:avLst>
          </a:prstGeom>
          <a:solidFill>
            <a:srgbClr val="FFFFFF"/>
          </a:solidFill>
          <a:ln/>
          <a:effectLst>
            <a:outerShdw sx="100000" sy="100000" kx="0" ky="0" algn="bl" rotWithShape="0" blurRad="76200" dist="25400" dir="8100000">
              <a:srgbClr val="000000">
                <a:alpha val="10000"/>
              </a:srgbClr>
            </a:outerShdw>
          </a:effectLst>
        </p:spPr>
      </p:sp>
      <p:sp>
        <p:nvSpPr>
          <p:cNvPr id="17" name="Shape 15"/>
          <p:cNvSpPr/>
          <p:nvPr/>
        </p:nvSpPr>
        <p:spPr>
          <a:xfrm>
            <a:off x="6522720" y="1889760"/>
            <a:ext cx="2316480" cy="670560"/>
          </a:xfrm>
          <a:prstGeom prst="roundRect">
            <a:avLst>
              <a:gd name="adj" fmla="val 10909"/>
            </a:avLst>
          </a:prstGeom>
          <a:solidFill>
            <a:srgbClr val="8B6FC0"/>
          </a:solidFill>
          <a:ln/>
        </p:spPr>
      </p:sp>
      <p:sp>
        <p:nvSpPr>
          <p:cNvPr id="18" name="Text 16"/>
          <p:cNvSpPr/>
          <p:nvPr/>
        </p:nvSpPr>
        <p:spPr>
          <a:xfrm>
            <a:off x="6522720" y="1889760"/>
            <a:ext cx="2316480" cy="6705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POEM</a:t>
            </a:r>
            <a:endParaRPr lang="en-US" sz="1400" dirty="0"/>
          </a:p>
        </p:txBody>
      </p:sp>
      <p:sp>
        <p:nvSpPr>
          <p:cNvPr id="19" name="Text 17"/>
          <p:cNvSpPr/>
          <p:nvPr/>
        </p:nvSpPr>
        <p:spPr>
          <a:xfrm>
            <a:off x="6522720" y="2743200"/>
            <a:ext cx="2316480" cy="48768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Poem</a:t>
            </a:r>
            <a:endParaRPr lang="en-US" sz="1400" dirty="0"/>
          </a:p>
        </p:txBody>
      </p:sp>
      <p:sp>
        <p:nvSpPr>
          <p:cNvPr id="20" name="Text 18"/>
          <p:cNvSpPr/>
          <p:nvPr/>
        </p:nvSpPr>
        <p:spPr>
          <a:xfrm>
            <a:off x="6583680" y="3291840"/>
            <a:ext cx="2194560" cy="1341120"/>
          </a:xfrm>
          <a:prstGeom prst="rect">
            <a:avLst/>
          </a:prstGeom>
          <a:noFill/>
          <a:ln/>
        </p:spPr>
        <p:txBody>
          <a:bodyPr wrap="square" lIns="0" tIns="0" rIns="0" bIns="0" rtlCol="0" anchor="t"/>
          <a:lstStyle/>
          <a:p>
            <a:pPr algn="ctr" indent="0" marL="0">
              <a:buNone/>
            </a:pPr>
            <a:r>
              <a:rPr lang="en-US" sz="1100" dirty="0">
                <a:solidFill>
                  <a:srgbClr val="7A88A8"/>
                </a:solidFill>
                <a:latin typeface="Calibri" pitchFamily="34" charset="0"/>
                <a:ea typeface="Calibri" pitchFamily="34" charset="-122"/>
                <a:cs typeface="Calibri" pitchFamily="34" charset="-120"/>
              </a:rPr>
              <a:t>Words that paint a vivid picture of a place</a:t>
            </a:r>
            <a:endParaRPr lang="en-US" sz="1100" dirty="0"/>
          </a:p>
        </p:txBody>
      </p:sp>
      <p:sp>
        <p:nvSpPr>
          <p:cNvPr id="21" name="Shape 19"/>
          <p:cNvSpPr/>
          <p:nvPr/>
        </p:nvSpPr>
        <p:spPr>
          <a:xfrm>
            <a:off x="9326880" y="1706880"/>
            <a:ext cx="2682240" cy="3169920"/>
          </a:xfrm>
          <a:prstGeom prst="roundRect">
            <a:avLst>
              <a:gd name="adj" fmla="val 4091"/>
            </a:avLst>
          </a:prstGeom>
          <a:solidFill>
            <a:srgbClr val="FFFFFF"/>
          </a:solidFill>
          <a:ln/>
          <a:effectLst>
            <a:outerShdw sx="100000" sy="100000" kx="0" ky="0" algn="bl" rotWithShape="0" blurRad="76200" dist="25400" dir="8100000">
              <a:srgbClr val="000000">
                <a:alpha val="10000"/>
              </a:srgbClr>
            </a:outerShdw>
          </a:effectLst>
        </p:spPr>
      </p:sp>
      <p:sp>
        <p:nvSpPr>
          <p:cNvPr id="22" name="Shape 20"/>
          <p:cNvSpPr/>
          <p:nvPr/>
        </p:nvSpPr>
        <p:spPr>
          <a:xfrm>
            <a:off x="9509760" y="1889760"/>
            <a:ext cx="2316480" cy="670560"/>
          </a:xfrm>
          <a:prstGeom prst="roundRect">
            <a:avLst>
              <a:gd name="adj" fmla="val 10909"/>
            </a:avLst>
          </a:prstGeom>
          <a:solidFill>
            <a:srgbClr val="E8636B"/>
          </a:solidFill>
          <a:ln/>
        </p:spPr>
      </p:sp>
      <p:sp>
        <p:nvSpPr>
          <p:cNvPr id="23" name="Text 21"/>
          <p:cNvSpPr/>
          <p:nvPr/>
        </p:nvSpPr>
        <p:spPr>
          <a:xfrm>
            <a:off x="9509760" y="1889760"/>
            <a:ext cx="2316480" cy="6705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NEWS</a:t>
            </a:r>
            <a:endParaRPr lang="en-US" sz="1400" dirty="0"/>
          </a:p>
        </p:txBody>
      </p:sp>
      <p:sp>
        <p:nvSpPr>
          <p:cNvPr id="24" name="Text 22"/>
          <p:cNvSpPr/>
          <p:nvPr/>
        </p:nvSpPr>
        <p:spPr>
          <a:xfrm>
            <a:off x="9509760" y="2743200"/>
            <a:ext cx="2316480" cy="48768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News Report</a:t>
            </a:r>
            <a:endParaRPr lang="en-US" sz="1400" dirty="0"/>
          </a:p>
        </p:txBody>
      </p:sp>
      <p:sp>
        <p:nvSpPr>
          <p:cNvPr id="25" name="Text 23"/>
          <p:cNvSpPr/>
          <p:nvPr/>
        </p:nvSpPr>
        <p:spPr>
          <a:xfrm>
            <a:off x="9570720" y="3291840"/>
            <a:ext cx="2194560" cy="1341120"/>
          </a:xfrm>
          <a:prstGeom prst="rect">
            <a:avLst/>
          </a:prstGeom>
          <a:noFill/>
          <a:ln/>
        </p:spPr>
        <p:txBody>
          <a:bodyPr wrap="square" lIns="0" tIns="0" rIns="0" bIns="0" rtlCol="0" anchor="t"/>
          <a:lstStyle/>
          <a:p>
            <a:pPr algn="ctr" indent="0" marL="0">
              <a:buNone/>
            </a:pPr>
            <a:r>
              <a:rPr lang="en-US" sz="1100" dirty="0">
                <a:solidFill>
                  <a:srgbClr val="7A88A8"/>
                </a:solidFill>
                <a:latin typeface="Calibri" pitchFamily="34" charset="0"/>
                <a:ea typeface="Calibri" pitchFamily="34" charset="-122"/>
                <a:cs typeface="Calibri" pitchFamily="34" charset="-120"/>
              </a:rPr>
              <a:t>A real event that shows what matters to a community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STORY 1: SONG</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14400"/>
            <a:ext cx="10972800" cy="6096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"Home on the Range"</a:t>
            </a:r>
            <a:endParaRPr lang="en-US" sz="2200" dirty="0"/>
          </a:p>
        </p:txBody>
      </p:sp>
      <p:sp>
        <p:nvSpPr>
          <p:cNvPr id="6" name="Text 4"/>
          <p:cNvSpPr/>
          <p:nvPr/>
        </p:nvSpPr>
        <p:spPr>
          <a:xfrm>
            <a:off x="609600" y="1524000"/>
            <a:ext cx="10972800" cy="36576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The Great Plains  |  Kansas State Song (1947)</a:t>
            </a:r>
            <a:endParaRPr lang="en-US" sz="1100" dirty="0"/>
          </a:p>
        </p:txBody>
      </p:sp>
      <p:sp>
        <p:nvSpPr>
          <p:cNvPr id="7" name="Shape 5"/>
          <p:cNvSpPr/>
          <p:nvPr/>
        </p:nvSpPr>
        <p:spPr>
          <a:xfrm>
            <a:off x="7071360" y="914400"/>
            <a:ext cx="4632960" cy="3048000"/>
          </a:xfrm>
          <a:prstGeom prst="roundRect">
            <a:avLst>
              <a:gd name="adj" fmla="val 3600"/>
            </a:avLst>
          </a:prstGeom>
          <a:solidFill>
            <a:srgbClr val="E2E8F4"/>
          </a:solidFill>
          <a:ln w="19050">
            <a:solidFill>
              <a:srgbClr val="B0B8CC"/>
            </a:solidFill>
            <a:prstDash val="dash"/>
          </a:ln>
        </p:spPr>
      </p:sp>
      <p:sp>
        <p:nvSpPr>
          <p:cNvPr id="8" name="Text 6"/>
          <p:cNvSpPr/>
          <p:nvPr/>
        </p:nvSpPr>
        <p:spPr>
          <a:xfrm>
            <a:off x="7071360" y="914400"/>
            <a:ext cx="46329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7254240" y="1280160"/>
            <a:ext cx="4267200" cy="2590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Wide open plains under big sky, possibly with a silhouette of cattle / cowboys</a:t>
            </a:r>
            <a:endParaRPr lang="en-US" sz="1100" dirty="0"/>
          </a:p>
        </p:txBody>
      </p:sp>
      <p:sp>
        <p:nvSpPr>
          <p:cNvPr id="10" name="Text 8"/>
          <p:cNvSpPr/>
          <p:nvPr/>
        </p:nvSpPr>
        <p:spPr>
          <a:xfrm>
            <a:off x="609600" y="2072640"/>
            <a:ext cx="6096000" cy="2438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Describes wide plains, buffalo roaming, and big open skies.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Cowboys sang this song on cattle drives across the Great Plains.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Became the official Kansas state song in 1947.</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The song captures what people LOVED about the plains — freedom, space, nature.</a:t>
            </a:r>
            <a:endParaRPr lang="en-US" sz="1300" dirty="0"/>
          </a:p>
        </p:txBody>
      </p:sp>
      <p:sp>
        <p:nvSpPr>
          <p:cNvPr id="11" name="Shape 9"/>
          <p:cNvSpPr/>
          <p:nvPr/>
        </p:nvSpPr>
        <p:spPr>
          <a:xfrm>
            <a:off x="609600" y="4632960"/>
            <a:ext cx="5486400" cy="1706880"/>
          </a:xfrm>
          <a:prstGeom prst="roundRect">
            <a:avLst>
              <a:gd name="adj" fmla="val 6429"/>
            </a:avLst>
          </a:prstGeom>
          <a:solidFill>
            <a:srgbClr val="FFF3DC"/>
          </a:solidFill>
          <a:ln w="19050">
            <a:solidFill>
              <a:srgbClr val="F5E6C8"/>
            </a:solidFill>
            <a:prstDash val="solid"/>
          </a:ln>
        </p:spPr>
      </p:sp>
      <p:sp>
        <p:nvSpPr>
          <p:cNvPr id="12" name="Text 10"/>
          <p:cNvSpPr/>
          <p:nvPr/>
        </p:nvSpPr>
        <p:spPr>
          <a:xfrm>
            <a:off x="746760" y="4687824"/>
            <a:ext cx="5212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746760" y="4888992"/>
            <a:ext cx="5212080" cy="1386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song makes me picture..."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plains sound like a place where..."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I were a cowboy, I would feel..."</a:t>
            </a:r>
            <a:endParaRPr lang="en-US" sz="1200" dirty="0"/>
          </a:p>
        </p:txBody>
      </p:sp>
      <p:sp>
        <p:nvSpPr>
          <p:cNvPr id="14" name="Shape 12"/>
          <p:cNvSpPr/>
          <p:nvPr/>
        </p:nvSpPr>
        <p:spPr>
          <a:xfrm>
            <a:off x="7071360" y="4267200"/>
            <a:ext cx="4632960" cy="2072640"/>
          </a:xfrm>
          <a:prstGeom prst="roundRect">
            <a:avLst>
              <a:gd name="adj" fmla="val 5294"/>
            </a:avLst>
          </a:prstGeom>
          <a:solidFill>
            <a:srgbClr val="E2E8F4"/>
          </a:solidFill>
          <a:ln w="19050">
            <a:solidFill>
              <a:srgbClr val="B0B8CC"/>
            </a:solidFill>
            <a:prstDash val="dash"/>
          </a:ln>
        </p:spPr>
      </p:sp>
      <p:sp>
        <p:nvSpPr>
          <p:cNvPr id="15" name="Text 13"/>
          <p:cNvSpPr/>
          <p:nvPr/>
        </p:nvSpPr>
        <p:spPr>
          <a:xfrm>
            <a:off x="7071360" y="4267200"/>
            <a:ext cx="463296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7254240" y="4632960"/>
            <a:ext cx="4267200" cy="1615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Sheet music or vintage illustration of 'Home on the Range'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STORY 2: LEGEND / TALL TALE</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14400"/>
            <a:ext cx="6096000" cy="6096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Paul Bunyan</a:t>
            </a:r>
            <a:endParaRPr lang="en-US" sz="2200" dirty="0"/>
          </a:p>
        </p:txBody>
      </p:sp>
      <p:sp>
        <p:nvSpPr>
          <p:cNvPr id="6" name="Text 4"/>
          <p:cNvSpPr/>
          <p:nvPr/>
        </p:nvSpPr>
        <p:spPr>
          <a:xfrm>
            <a:off x="609600" y="1524000"/>
            <a:ext cx="6096000" cy="36576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Upper Midwest / Northwest Lumber Camps</a:t>
            </a:r>
            <a:endParaRPr lang="en-US" sz="1100" dirty="0"/>
          </a:p>
        </p:txBody>
      </p:sp>
      <p:sp>
        <p:nvSpPr>
          <p:cNvPr id="7" name="Shape 5"/>
          <p:cNvSpPr/>
          <p:nvPr/>
        </p:nvSpPr>
        <p:spPr>
          <a:xfrm>
            <a:off x="7559040" y="914400"/>
            <a:ext cx="4145280" cy="3413760"/>
          </a:xfrm>
          <a:prstGeom prst="roundRect">
            <a:avLst>
              <a:gd name="adj" fmla="val 3214"/>
            </a:avLst>
          </a:prstGeom>
          <a:solidFill>
            <a:srgbClr val="E2E8F4"/>
          </a:solidFill>
          <a:ln w="19050">
            <a:solidFill>
              <a:srgbClr val="B0B8CC"/>
            </a:solidFill>
            <a:prstDash val="dash"/>
          </a:ln>
        </p:spPr>
      </p:sp>
      <p:sp>
        <p:nvSpPr>
          <p:cNvPr id="8" name="Text 6"/>
          <p:cNvSpPr/>
          <p:nvPr/>
        </p:nvSpPr>
        <p:spPr>
          <a:xfrm>
            <a:off x="7559040" y="914400"/>
            <a:ext cx="41452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7741920" y="1280160"/>
            <a:ext cx="3779520" cy="295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Illustration of Paul Bunyan — giant lumberjack with an axe amid towering trees</a:t>
            </a:r>
            <a:endParaRPr lang="en-US" sz="1100" dirty="0"/>
          </a:p>
        </p:txBody>
      </p:sp>
      <p:sp>
        <p:nvSpPr>
          <p:cNvPr id="10" name="Text 8"/>
          <p:cNvSpPr/>
          <p:nvPr/>
        </p:nvSpPr>
        <p:spPr>
          <a:xfrm>
            <a:off x="609600" y="2072640"/>
            <a:ext cx="6583680" cy="2682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A giant lumberjack from tall tales told in lumber camps.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His footprints were said to have made the Great Lakes!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One story: Paul dragged a leaky water pail from Minnesota to Louisiana — and that made the Mississippi River.</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The tall tale tells us the forests were SO big, people imagined a GIANT to match.</a:t>
            </a:r>
            <a:endParaRPr lang="en-US" sz="1300" dirty="0"/>
          </a:p>
        </p:txBody>
      </p:sp>
      <p:sp>
        <p:nvSpPr>
          <p:cNvPr id="11" name="Shape 9"/>
          <p:cNvSpPr/>
          <p:nvPr/>
        </p:nvSpPr>
        <p:spPr>
          <a:xfrm>
            <a:off x="609600" y="4754880"/>
            <a:ext cx="10972800" cy="1584960"/>
          </a:xfrm>
          <a:prstGeom prst="roundRect">
            <a:avLst>
              <a:gd name="adj" fmla="val 8654"/>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792480" y="484632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792480" y="5102352"/>
            <a:ext cx="10607040" cy="11460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lumberjacks tell stories about a GIANT?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the tall tale tell us about the forests of that region?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is a tall tale different from a news report?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STORY 3: POEM</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14400"/>
            <a:ext cx="10972800" cy="60960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Carl Sandburg's "Chicago"</a:t>
            </a:r>
            <a:endParaRPr lang="en-US" sz="2200" dirty="0"/>
          </a:p>
        </p:txBody>
      </p:sp>
      <p:sp>
        <p:nvSpPr>
          <p:cNvPr id="6" name="Text 4"/>
          <p:cNvSpPr/>
          <p:nvPr/>
        </p:nvSpPr>
        <p:spPr>
          <a:xfrm>
            <a:off x="609600" y="1524000"/>
            <a:ext cx="10972800" cy="36576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Published 1914  |  Midwest Industrial City</a:t>
            </a:r>
            <a:endParaRPr lang="en-US" sz="1100" dirty="0"/>
          </a:p>
        </p:txBody>
      </p:sp>
      <p:sp>
        <p:nvSpPr>
          <p:cNvPr id="7" name="Shape 5"/>
          <p:cNvSpPr/>
          <p:nvPr/>
        </p:nvSpPr>
        <p:spPr>
          <a:xfrm>
            <a:off x="7559040" y="914400"/>
            <a:ext cx="4145280" cy="3048000"/>
          </a:xfrm>
          <a:prstGeom prst="roundRect">
            <a:avLst>
              <a:gd name="adj" fmla="val 3600"/>
            </a:avLst>
          </a:prstGeom>
          <a:solidFill>
            <a:srgbClr val="E2E8F4"/>
          </a:solidFill>
          <a:ln w="19050">
            <a:solidFill>
              <a:srgbClr val="B0B8CC"/>
            </a:solidFill>
            <a:prstDash val="dash"/>
          </a:ln>
        </p:spPr>
      </p:sp>
      <p:sp>
        <p:nvSpPr>
          <p:cNvPr id="8" name="Text 6"/>
          <p:cNvSpPr/>
          <p:nvPr/>
        </p:nvSpPr>
        <p:spPr>
          <a:xfrm>
            <a:off x="7559040" y="914400"/>
            <a:ext cx="41452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7741920" y="1280160"/>
            <a:ext cx="3779520" cy="2590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Early 1900s Chicago skyline or industrial scene — stockyards, rail yards, workers</a:t>
            </a:r>
            <a:endParaRPr lang="en-US" sz="1100" dirty="0"/>
          </a:p>
        </p:txBody>
      </p:sp>
      <p:sp>
        <p:nvSpPr>
          <p:cNvPr id="10" name="Shape 8"/>
          <p:cNvSpPr/>
          <p:nvPr/>
        </p:nvSpPr>
        <p:spPr>
          <a:xfrm>
            <a:off x="609600" y="2072640"/>
            <a:ext cx="6339840" cy="1584960"/>
          </a:xfrm>
          <a:prstGeom prst="roundRect">
            <a:avLst>
              <a:gd name="adj" fmla="val 5769"/>
            </a:avLst>
          </a:prstGeom>
          <a:solidFill>
            <a:srgbClr val="F0E8FF"/>
          </a:solidFill>
          <a:ln w="12700">
            <a:solidFill>
              <a:srgbClr val="8B6FC0"/>
            </a:solidFill>
            <a:prstDash val="solid"/>
          </a:ln>
        </p:spPr>
      </p:sp>
      <p:sp>
        <p:nvSpPr>
          <p:cNvPr id="11" name="Text 9"/>
          <p:cNvSpPr/>
          <p:nvPr/>
        </p:nvSpPr>
        <p:spPr>
          <a:xfrm>
            <a:off x="792480" y="2170176"/>
            <a:ext cx="5852160" cy="268224"/>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FROM THE POEM</a:t>
            </a:r>
            <a:endParaRPr lang="en-US" sz="900" dirty="0"/>
          </a:p>
        </p:txBody>
      </p:sp>
      <p:sp>
        <p:nvSpPr>
          <p:cNvPr id="12" name="Text 10"/>
          <p:cNvSpPr/>
          <p:nvPr/>
        </p:nvSpPr>
        <p:spPr>
          <a:xfrm>
            <a:off x="792480" y="2499360"/>
            <a:ext cx="5852160" cy="1036320"/>
          </a:xfrm>
          <a:prstGeom prst="rect">
            <a:avLst/>
          </a:prstGeom>
          <a:noFill/>
          <a:ln/>
        </p:spPr>
        <p:txBody>
          <a:bodyPr wrap="square" lIns="0" tIns="0" rIns="0" bIns="0" rtlCol="0" anchor="t"/>
          <a:lstStyle/>
          <a:p>
            <a:pPr indent="0" marL="0">
              <a:buNone/>
            </a:pPr>
            <a:r>
              <a:rPr lang="en-US" sz="1400" i="1" dirty="0">
                <a:solidFill>
                  <a:srgbClr val="0E1C42"/>
                </a:solidFill>
                <a:latin typeface="Cambria" pitchFamily="34" charset="0"/>
                <a:ea typeface="Cambria" pitchFamily="34" charset="-122"/>
                <a:cs typeface="Cambria" pitchFamily="34" charset="-120"/>
              </a:rPr>
              <a:t>"Hog Butcher for the World, Tool Maker,</a:t>
            </a:r>
            <a:endParaRPr lang="en-US" sz="1400" dirty="0"/>
          </a:p>
          <a:p>
            <a:pPr indent="0" marL="0">
              <a:buNone/>
            </a:pPr>
            <a:r>
              <a:rPr lang="en-US" sz="1400" i="1" dirty="0">
                <a:solidFill>
                  <a:srgbClr val="0E1C42"/>
                </a:solidFill>
                <a:latin typeface="Cambria" pitchFamily="34" charset="0"/>
                <a:ea typeface="Cambria" pitchFamily="34" charset="-122"/>
                <a:cs typeface="Cambria" pitchFamily="34" charset="-120"/>
              </a:rPr>
              <a:t>Stacker of Wheat...</a:t>
            </a:r>
            <a:endParaRPr lang="en-US" sz="1400" dirty="0"/>
          </a:p>
          <a:p>
            <a:pPr indent="0" marL="0">
              <a:buNone/>
            </a:pPr>
            <a:r>
              <a:rPr lang="en-US" sz="1400" i="1" dirty="0">
                <a:solidFill>
                  <a:srgbClr val="0E1C42"/>
                </a:solidFill>
                <a:latin typeface="Cambria" pitchFamily="34" charset="0"/>
                <a:ea typeface="Cambria" pitchFamily="34" charset="-122"/>
                <a:cs typeface="Cambria" pitchFamily="34" charset="-120"/>
              </a:rPr>
              <a:t>City of the Big Shoulders."</a:t>
            </a:r>
            <a:endParaRPr lang="en-US" sz="1400" dirty="0"/>
          </a:p>
        </p:txBody>
      </p:sp>
      <p:sp>
        <p:nvSpPr>
          <p:cNvPr id="13" name="Text 11"/>
          <p:cNvSpPr/>
          <p:nvPr/>
        </p:nvSpPr>
        <p:spPr>
          <a:xfrm>
            <a:off x="609600" y="3840480"/>
            <a:ext cx="6339840" cy="18288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Sandburg saw Chicago as a tough, proud, hardworking city.</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"Hog Butcher" — the meatpacking industry. "Stacker of Wheat" — grain trade.</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"City of the Big Shoulders" — strong people doing big, physical work.</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The poem paints a picture no map could show: the PRIDE of a working city.</a:t>
            </a:r>
            <a:endParaRPr lang="en-US" sz="1200" dirty="0"/>
          </a:p>
        </p:txBody>
      </p:sp>
      <p:sp>
        <p:nvSpPr>
          <p:cNvPr id="14" name="Shape 12"/>
          <p:cNvSpPr/>
          <p:nvPr/>
        </p:nvSpPr>
        <p:spPr>
          <a:xfrm>
            <a:off x="7559040" y="4267200"/>
            <a:ext cx="4145280" cy="1463040"/>
          </a:xfrm>
          <a:prstGeom prst="roundRect">
            <a:avLst>
              <a:gd name="adj" fmla="val 7500"/>
            </a:avLst>
          </a:prstGeom>
          <a:solidFill>
            <a:srgbClr val="FFF3DC"/>
          </a:solidFill>
          <a:ln w="19050">
            <a:solidFill>
              <a:srgbClr val="F5E6C8"/>
            </a:solidFill>
            <a:prstDash val="solid"/>
          </a:ln>
        </p:spPr>
      </p:sp>
      <p:sp>
        <p:nvSpPr>
          <p:cNvPr id="15" name="Text 13"/>
          <p:cNvSpPr/>
          <p:nvPr/>
        </p:nvSpPr>
        <p:spPr>
          <a:xfrm>
            <a:off x="7696200" y="4322064"/>
            <a:ext cx="38709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7696200" y="4523232"/>
            <a:ext cx="387096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"Sandburg calls Chicago 'City of the Big Shoulders'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poem makes Chicago sound like..."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STORY 4: NEWS REPORT</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14400"/>
            <a:ext cx="10972800" cy="60960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"Hurricane Betsy Pounds Louisiana Coast"</a:t>
            </a:r>
            <a:endParaRPr lang="en-US" sz="2000" dirty="0"/>
          </a:p>
        </p:txBody>
      </p:sp>
      <p:sp>
        <p:nvSpPr>
          <p:cNvPr id="6" name="Text 4"/>
          <p:cNvSpPr/>
          <p:nvPr/>
        </p:nvSpPr>
        <p:spPr>
          <a:xfrm>
            <a:off x="609600" y="1524000"/>
            <a:ext cx="10972800" cy="36576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1965  |  Southeast / Gulf Coast</a:t>
            </a:r>
            <a:endParaRPr lang="en-US" sz="1100" dirty="0"/>
          </a:p>
        </p:txBody>
      </p:sp>
      <p:sp>
        <p:nvSpPr>
          <p:cNvPr id="7" name="Shape 5"/>
          <p:cNvSpPr/>
          <p:nvPr/>
        </p:nvSpPr>
        <p:spPr>
          <a:xfrm>
            <a:off x="7315200" y="914400"/>
            <a:ext cx="4389120" cy="3048000"/>
          </a:xfrm>
          <a:prstGeom prst="roundRect">
            <a:avLst>
              <a:gd name="adj" fmla="val 3600"/>
            </a:avLst>
          </a:prstGeom>
          <a:solidFill>
            <a:srgbClr val="E2E8F4"/>
          </a:solidFill>
          <a:ln w="19050">
            <a:solidFill>
              <a:srgbClr val="B0B8CC"/>
            </a:solidFill>
            <a:prstDash val="dash"/>
          </a:ln>
        </p:spPr>
      </p:sp>
      <p:sp>
        <p:nvSpPr>
          <p:cNvPr id="8" name="Text 6"/>
          <p:cNvSpPr/>
          <p:nvPr/>
        </p:nvSpPr>
        <p:spPr>
          <a:xfrm>
            <a:off x="7315200" y="914400"/>
            <a:ext cx="438912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7498080" y="1280160"/>
            <a:ext cx="4023360" cy="2590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1965 Hurricane Betsy flooding in Louisiana — neighborhoods flooded, rescue boats</a:t>
            </a:r>
            <a:endParaRPr lang="en-US" sz="1100" dirty="0"/>
          </a:p>
        </p:txBody>
      </p:sp>
      <p:sp>
        <p:nvSpPr>
          <p:cNvPr id="10" name="Text 8"/>
          <p:cNvSpPr/>
          <p:nvPr/>
        </p:nvSpPr>
        <p:spPr>
          <a:xfrm>
            <a:off x="609600" y="2072640"/>
            <a:ext cx="6339840" cy="2438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Hurricane Betsy struck Louisiana in 1965 with devastating floods.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Neighbors helped neighbors. Fishermen launched boats to rescue families.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The news report showed something important: community strength.</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This story tells us the Gulf Coast faces hurricanes — and its people respond with courage and care.</a:t>
            </a:r>
            <a:endParaRPr lang="en-US" sz="1300" dirty="0"/>
          </a:p>
        </p:txBody>
      </p:sp>
      <p:sp>
        <p:nvSpPr>
          <p:cNvPr id="11" name="Shape 9"/>
          <p:cNvSpPr/>
          <p:nvPr/>
        </p:nvSpPr>
        <p:spPr>
          <a:xfrm>
            <a:off x="609600" y="4632960"/>
            <a:ext cx="6096000" cy="1706880"/>
          </a:xfrm>
          <a:prstGeom prst="roundRect">
            <a:avLst>
              <a:gd name="adj" fmla="val 6429"/>
            </a:avLst>
          </a:prstGeom>
          <a:solidFill>
            <a:srgbClr val="FFF3DC"/>
          </a:solidFill>
          <a:ln w="19050">
            <a:solidFill>
              <a:srgbClr val="F5E6C8"/>
            </a:solidFill>
            <a:prstDash val="solid"/>
          </a:ln>
        </p:spPr>
      </p:sp>
      <p:sp>
        <p:nvSpPr>
          <p:cNvPr id="12" name="Text 10"/>
          <p:cNvSpPr/>
          <p:nvPr/>
        </p:nvSpPr>
        <p:spPr>
          <a:xfrm>
            <a:off x="746760" y="4687824"/>
            <a:ext cx="58216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746760" y="4888992"/>
            <a:ext cx="5821680" cy="1386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news report shows that Gulf Coast communities are..."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is different from a song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this tells me about the region that a map cannot..."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MAP QUEST MATCH</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14400"/>
            <a:ext cx="10972800" cy="54864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Match Each Story to Its Region</a:t>
            </a:r>
            <a:endParaRPr lang="en-US" sz="2000" dirty="0"/>
          </a:p>
        </p:txBody>
      </p:sp>
      <p:sp>
        <p:nvSpPr>
          <p:cNvPr id="6" name="Shape 4"/>
          <p:cNvSpPr/>
          <p:nvPr/>
        </p:nvSpPr>
        <p:spPr>
          <a:xfrm>
            <a:off x="6705600" y="853440"/>
            <a:ext cx="5120640" cy="3901440"/>
          </a:xfrm>
          <a:prstGeom prst="roundRect">
            <a:avLst>
              <a:gd name="adj" fmla="val 2813"/>
            </a:avLst>
          </a:prstGeom>
          <a:solidFill>
            <a:srgbClr val="E2E8F4"/>
          </a:solidFill>
          <a:ln w="19050">
            <a:solidFill>
              <a:srgbClr val="B0B8CC"/>
            </a:solidFill>
            <a:prstDash val="dash"/>
          </a:ln>
        </p:spPr>
      </p:sp>
      <p:sp>
        <p:nvSpPr>
          <p:cNvPr id="7" name="Text 5"/>
          <p:cNvSpPr/>
          <p:nvPr/>
        </p:nvSpPr>
        <p:spPr>
          <a:xfrm>
            <a:off x="6705600" y="853440"/>
            <a:ext cx="512064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6888480" y="1219200"/>
            <a:ext cx="4754880" cy="3444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US regions map with Midwest/West Plains, Upper Midwest/NW, Northeast/Midwest cities, and Southeast/Gulf Coast labeled</a:t>
            </a:r>
            <a:endParaRPr lang="en-US" sz="1100" dirty="0"/>
          </a:p>
        </p:txBody>
      </p:sp>
      <p:sp>
        <p:nvSpPr>
          <p:cNvPr id="9" name="Shape 7"/>
          <p:cNvSpPr/>
          <p:nvPr/>
        </p:nvSpPr>
        <p:spPr>
          <a:xfrm>
            <a:off x="609600" y="1706880"/>
            <a:ext cx="2682240" cy="670560"/>
          </a:xfrm>
          <a:prstGeom prst="roundRect">
            <a:avLst>
              <a:gd name="adj" fmla="val 10909"/>
            </a:avLst>
          </a:prstGeom>
          <a:solidFill>
            <a:srgbClr val="1A8A7D"/>
          </a:solidFill>
          <a:ln/>
        </p:spPr>
      </p:sp>
      <p:sp>
        <p:nvSpPr>
          <p:cNvPr id="10" name="Text 8"/>
          <p:cNvSpPr/>
          <p:nvPr/>
        </p:nvSpPr>
        <p:spPr>
          <a:xfrm>
            <a:off x="609600" y="1706880"/>
            <a:ext cx="2682240" cy="6705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"Home on the Range"</a:t>
            </a:r>
            <a:endParaRPr lang="en-US" sz="1100" dirty="0"/>
          </a:p>
        </p:txBody>
      </p:sp>
      <p:sp>
        <p:nvSpPr>
          <p:cNvPr id="11" name="Shape 9"/>
          <p:cNvSpPr/>
          <p:nvPr/>
        </p:nvSpPr>
        <p:spPr>
          <a:xfrm>
            <a:off x="3474720" y="1950720"/>
            <a:ext cx="609600" cy="60960"/>
          </a:xfrm>
          <a:prstGeom prst="rect">
            <a:avLst/>
          </a:prstGeom>
          <a:solidFill>
            <a:srgbClr val="1A8A7D"/>
          </a:solidFill>
          <a:ln/>
        </p:spPr>
      </p:sp>
      <p:sp>
        <p:nvSpPr>
          <p:cNvPr id="12" name="Shape 10"/>
          <p:cNvSpPr/>
          <p:nvPr/>
        </p:nvSpPr>
        <p:spPr>
          <a:xfrm>
            <a:off x="4267200" y="1706880"/>
            <a:ext cx="2194560" cy="670560"/>
          </a:xfrm>
          <a:prstGeom prst="roundRect">
            <a:avLst>
              <a:gd name="adj" fmla="val 10909"/>
            </a:avLst>
          </a:prstGeom>
          <a:solidFill>
            <a:srgbClr val="FFFFFF"/>
          </a:solidFill>
          <a:ln w="19050">
            <a:solidFill>
              <a:srgbClr val="1A8A7D"/>
            </a:solidFill>
            <a:prstDash val="solid"/>
          </a:ln>
        </p:spPr>
      </p:sp>
      <p:sp>
        <p:nvSpPr>
          <p:cNvPr id="13" name="Text 11"/>
          <p:cNvSpPr/>
          <p:nvPr/>
        </p:nvSpPr>
        <p:spPr>
          <a:xfrm>
            <a:off x="4267200" y="1706880"/>
            <a:ext cx="2194560" cy="670560"/>
          </a:xfrm>
          <a:prstGeom prst="rect">
            <a:avLst/>
          </a:prstGeom>
          <a:noFill/>
          <a:ln/>
        </p:spPr>
        <p:txBody>
          <a:bodyPr wrap="square" lIns="0" tIns="0" rIns="0" bIns="0"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Midwest / West Plains</a:t>
            </a:r>
            <a:endParaRPr lang="en-US" sz="1000" dirty="0"/>
          </a:p>
        </p:txBody>
      </p:sp>
      <p:sp>
        <p:nvSpPr>
          <p:cNvPr id="14" name="Shape 12"/>
          <p:cNvSpPr/>
          <p:nvPr/>
        </p:nvSpPr>
        <p:spPr>
          <a:xfrm>
            <a:off x="609600" y="2560320"/>
            <a:ext cx="2682240" cy="670560"/>
          </a:xfrm>
          <a:prstGeom prst="roundRect">
            <a:avLst>
              <a:gd name="adj" fmla="val 10909"/>
            </a:avLst>
          </a:prstGeom>
          <a:solidFill>
            <a:srgbClr val="D4943A"/>
          </a:solidFill>
          <a:ln/>
        </p:spPr>
      </p:sp>
      <p:sp>
        <p:nvSpPr>
          <p:cNvPr id="15" name="Text 13"/>
          <p:cNvSpPr/>
          <p:nvPr/>
        </p:nvSpPr>
        <p:spPr>
          <a:xfrm>
            <a:off x="609600" y="2560320"/>
            <a:ext cx="2682240" cy="6705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Paul Bunyan</a:t>
            </a:r>
            <a:endParaRPr lang="en-US" sz="1100" dirty="0"/>
          </a:p>
        </p:txBody>
      </p:sp>
      <p:sp>
        <p:nvSpPr>
          <p:cNvPr id="16" name="Shape 14"/>
          <p:cNvSpPr/>
          <p:nvPr/>
        </p:nvSpPr>
        <p:spPr>
          <a:xfrm>
            <a:off x="3474720" y="2804160"/>
            <a:ext cx="609600" cy="60960"/>
          </a:xfrm>
          <a:prstGeom prst="rect">
            <a:avLst/>
          </a:prstGeom>
          <a:solidFill>
            <a:srgbClr val="D4943A"/>
          </a:solidFill>
          <a:ln/>
        </p:spPr>
      </p:sp>
      <p:sp>
        <p:nvSpPr>
          <p:cNvPr id="17" name="Shape 15"/>
          <p:cNvSpPr/>
          <p:nvPr/>
        </p:nvSpPr>
        <p:spPr>
          <a:xfrm>
            <a:off x="4267200" y="2560320"/>
            <a:ext cx="2194560" cy="670560"/>
          </a:xfrm>
          <a:prstGeom prst="roundRect">
            <a:avLst>
              <a:gd name="adj" fmla="val 10909"/>
            </a:avLst>
          </a:prstGeom>
          <a:solidFill>
            <a:srgbClr val="FFFFFF"/>
          </a:solidFill>
          <a:ln w="19050">
            <a:solidFill>
              <a:srgbClr val="D4943A"/>
            </a:solidFill>
            <a:prstDash val="solid"/>
          </a:ln>
        </p:spPr>
      </p:sp>
      <p:sp>
        <p:nvSpPr>
          <p:cNvPr id="18" name="Text 16"/>
          <p:cNvSpPr/>
          <p:nvPr/>
        </p:nvSpPr>
        <p:spPr>
          <a:xfrm>
            <a:off x="4267200" y="2560320"/>
            <a:ext cx="2194560" cy="670560"/>
          </a:xfrm>
          <a:prstGeom prst="rect">
            <a:avLst/>
          </a:prstGeom>
          <a:noFill/>
          <a:ln/>
        </p:spPr>
        <p:txBody>
          <a:bodyPr wrap="square" lIns="0" tIns="0" rIns="0" bIns="0"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Upper Midwest / NW Forests</a:t>
            </a:r>
            <a:endParaRPr lang="en-US" sz="1000" dirty="0"/>
          </a:p>
        </p:txBody>
      </p:sp>
      <p:sp>
        <p:nvSpPr>
          <p:cNvPr id="19" name="Shape 17"/>
          <p:cNvSpPr/>
          <p:nvPr/>
        </p:nvSpPr>
        <p:spPr>
          <a:xfrm>
            <a:off x="609600" y="3413760"/>
            <a:ext cx="2682240" cy="670560"/>
          </a:xfrm>
          <a:prstGeom prst="roundRect">
            <a:avLst>
              <a:gd name="adj" fmla="val 10909"/>
            </a:avLst>
          </a:prstGeom>
          <a:solidFill>
            <a:srgbClr val="8B6FC0"/>
          </a:solidFill>
          <a:ln/>
        </p:spPr>
      </p:sp>
      <p:sp>
        <p:nvSpPr>
          <p:cNvPr id="20" name="Text 18"/>
          <p:cNvSpPr/>
          <p:nvPr/>
        </p:nvSpPr>
        <p:spPr>
          <a:xfrm>
            <a:off x="609600" y="3413760"/>
            <a:ext cx="2682240" cy="6705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"Chicago" poem</a:t>
            </a:r>
            <a:endParaRPr lang="en-US" sz="1100" dirty="0"/>
          </a:p>
        </p:txBody>
      </p:sp>
      <p:sp>
        <p:nvSpPr>
          <p:cNvPr id="21" name="Shape 19"/>
          <p:cNvSpPr/>
          <p:nvPr/>
        </p:nvSpPr>
        <p:spPr>
          <a:xfrm>
            <a:off x="3474720" y="3657600"/>
            <a:ext cx="609600" cy="60960"/>
          </a:xfrm>
          <a:prstGeom prst="rect">
            <a:avLst/>
          </a:prstGeom>
          <a:solidFill>
            <a:srgbClr val="8B6FC0"/>
          </a:solidFill>
          <a:ln/>
        </p:spPr>
      </p:sp>
      <p:sp>
        <p:nvSpPr>
          <p:cNvPr id="22" name="Shape 20"/>
          <p:cNvSpPr/>
          <p:nvPr/>
        </p:nvSpPr>
        <p:spPr>
          <a:xfrm>
            <a:off x="4267200" y="3413760"/>
            <a:ext cx="2194560" cy="670560"/>
          </a:xfrm>
          <a:prstGeom prst="roundRect">
            <a:avLst>
              <a:gd name="adj" fmla="val 10909"/>
            </a:avLst>
          </a:prstGeom>
          <a:solidFill>
            <a:srgbClr val="FFFFFF"/>
          </a:solidFill>
          <a:ln w="19050">
            <a:solidFill>
              <a:srgbClr val="8B6FC0"/>
            </a:solidFill>
            <a:prstDash val="solid"/>
          </a:ln>
        </p:spPr>
      </p:sp>
      <p:sp>
        <p:nvSpPr>
          <p:cNvPr id="23" name="Text 21"/>
          <p:cNvSpPr/>
          <p:nvPr/>
        </p:nvSpPr>
        <p:spPr>
          <a:xfrm>
            <a:off x="4267200" y="3413760"/>
            <a:ext cx="2194560" cy="670560"/>
          </a:xfrm>
          <a:prstGeom prst="rect">
            <a:avLst/>
          </a:prstGeom>
          <a:noFill/>
          <a:ln/>
        </p:spPr>
        <p:txBody>
          <a:bodyPr wrap="square" lIns="0" tIns="0" rIns="0" bIns="0"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Northeast / Midwest Cities</a:t>
            </a:r>
            <a:endParaRPr lang="en-US" sz="1000" dirty="0"/>
          </a:p>
        </p:txBody>
      </p:sp>
      <p:sp>
        <p:nvSpPr>
          <p:cNvPr id="24" name="Shape 22"/>
          <p:cNvSpPr/>
          <p:nvPr/>
        </p:nvSpPr>
        <p:spPr>
          <a:xfrm>
            <a:off x="609600" y="4267200"/>
            <a:ext cx="2682240" cy="670560"/>
          </a:xfrm>
          <a:prstGeom prst="roundRect">
            <a:avLst>
              <a:gd name="adj" fmla="val 10909"/>
            </a:avLst>
          </a:prstGeom>
          <a:solidFill>
            <a:srgbClr val="E8636B"/>
          </a:solidFill>
          <a:ln/>
        </p:spPr>
      </p:sp>
      <p:sp>
        <p:nvSpPr>
          <p:cNvPr id="25" name="Text 23"/>
          <p:cNvSpPr/>
          <p:nvPr/>
        </p:nvSpPr>
        <p:spPr>
          <a:xfrm>
            <a:off x="609600" y="4267200"/>
            <a:ext cx="2682240" cy="6705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Hurricane Betsy</a:t>
            </a:r>
            <a:endParaRPr lang="en-US" sz="1100" dirty="0"/>
          </a:p>
        </p:txBody>
      </p:sp>
      <p:sp>
        <p:nvSpPr>
          <p:cNvPr id="26" name="Shape 24"/>
          <p:cNvSpPr/>
          <p:nvPr/>
        </p:nvSpPr>
        <p:spPr>
          <a:xfrm>
            <a:off x="3474720" y="4511040"/>
            <a:ext cx="609600" cy="60960"/>
          </a:xfrm>
          <a:prstGeom prst="rect">
            <a:avLst/>
          </a:prstGeom>
          <a:solidFill>
            <a:srgbClr val="E8636B"/>
          </a:solidFill>
          <a:ln/>
        </p:spPr>
      </p:sp>
      <p:sp>
        <p:nvSpPr>
          <p:cNvPr id="27" name="Shape 25"/>
          <p:cNvSpPr/>
          <p:nvPr/>
        </p:nvSpPr>
        <p:spPr>
          <a:xfrm>
            <a:off x="4267200" y="4267200"/>
            <a:ext cx="2194560" cy="670560"/>
          </a:xfrm>
          <a:prstGeom prst="roundRect">
            <a:avLst>
              <a:gd name="adj" fmla="val 10909"/>
            </a:avLst>
          </a:prstGeom>
          <a:solidFill>
            <a:srgbClr val="FFFFFF"/>
          </a:solidFill>
          <a:ln w="19050">
            <a:solidFill>
              <a:srgbClr val="E8636B"/>
            </a:solidFill>
            <a:prstDash val="solid"/>
          </a:ln>
        </p:spPr>
      </p:sp>
      <p:sp>
        <p:nvSpPr>
          <p:cNvPr id="28" name="Text 26"/>
          <p:cNvSpPr/>
          <p:nvPr/>
        </p:nvSpPr>
        <p:spPr>
          <a:xfrm>
            <a:off x="4267200" y="4267200"/>
            <a:ext cx="2194560" cy="670560"/>
          </a:xfrm>
          <a:prstGeom prst="rect">
            <a:avLst/>
          </a:prstGeom>
          <a:noFill/>
          <a:ln/>
        </p:spPr>
        <p:txBody>
          <a:bodyPr wrap="square" lIns="0" tIns="0" rIns="0" bIns="0"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Southeast / Gulf Coast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DISCOVERY FACT</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75360"/>
            <a:ext cx="6096000" cy="109728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The Origin of</a:t>
            </a:r>
            <a:endParaRPr lang="en-US" sz="2000" dirty="0"/>
          </a:p>
          <a:p>
            <a:pPr indent="0" marL="0">
              <a:buNone/>
            </a:pPr>
            <a:r>
              <a:rPr lang="en-US" sz="2000" b="1" dirty="0">
                <a:solidFill>
                  <a:srgbClr val="0E1C42"/>
                </a:solidFill>
                <a:latin typeface="Cambria" pitchFamily="34" charset="0"/>
                <a:ea typeface="Cambria" pitchFamily="34" charset="-122"/>
                <a:cs typeface="Cambria" pitchFamily="34" charset="-120"/>
              </a:rPr>
              <a:t>"Home on the Range"</a:t>
            </a:r>
            <a:endParaRPr lang="en-US" sz="2000" dirty="0"/>
          </a:p>
        </p:txBody>
      </p:sp>
      <p:sp>
        <p:nvSpPr>
          <p:cNvPr id="6" name="Shape 4"/>
          <p:cNvSpPr/>
          <p:nvPr/>
        </p:nvSpPr>
        <p:spPr>
          <a:xfrm>
            <a:off x="7315200" y="914400"/>
            <a:ext cx="4389120" cy="3048000"/>
          </a:xfrm>
          <a:prstGeom prst="roundRect">
            <a:avLst>
              <a:gd name="adj" fmla="val 3600"/>
            </a:avLst>
          </a:prstGeom>
          <a:solidFill>
            <a:srgbClr val="E2E8F4"/>
          </a:solidFill>
          <a:ln w="19050">
            <a:solidFill>
              <a:srgbClr val="B0B8CC"/>
            </a:solidFill>
            <a:prstDash val="dash"/>
          </a:ln>
        </p:spPr>
      </p:sp>
      <p:sp>
        <p:nvSpPr>
          <p:cNvPr id="7" name="Text 5"/>
          <p:cNvSpPr/>
          <p:nvPr/>
        </p:nvSpPr>
        <p:spPr>
          <a:xfrm>
            <a:off x="7315200" y="914400"/>
            <a:ext cx="438912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7498080" y="1280160"/>
            <a:ext cx="4023360" cy="2590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Portrait or illustration of Dr. Brewster Higley, or a 1870s Kansas homestead scene</a:t>
            </a:r>
            <a:endParaRPr lang="en-US" sz="1100" dirty="0"/>
          </a:p>
        </p:txBody>
      </p:sp>
      <p:sp>
        <p:nvSpPr>
          <p:cNvPr id="9" name="Shape 7"/>
          <p:cNvSpPr/>
          <p:nvPr/>
        </p:nvSpPr>
        <p:spPr>
          <a:xfrm>
            <a:off x="609600" y="2316480"/>
            <a:ext cx="6339840" cy="609600"/>
          </a:xfrm>
          <a:prstGeom prst="roundRect">
            <a:avLst>
              <a:gd name="adj" fmla="val 12000"/>
            </a:avLst>
          </a:prstGeom>
          <a:solidFill>
            <a:srgbClr val="FFF3DC"/>
          </a:solidFill>
          <a:ln/>
        </p:spPr>
      </p:sp>
      <p:sp>
        <p:nvSpPr>
          <p:cNvPr id="10" name="Text 8"/>
          <p:cNvSpPr/>
          <p:nvPr/>
        </p:nvSpPr>
        <p:spPr>
          <a:xfrm>
            <a:off x="792480" y="2377440"/>
            <a:ext cx="6096000" cy="48768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Written in the 1870s by Kansas doctor Brewster Higley</a:t>
            </a:r>
            <a:endParaRPr lang="en-US" sz="1300" dirty="0"/>
          </a:p>
        </p:txBody>
      </p:sp>
      <p:sp>
        <p:nvSpPr>
          <p:cNvPr id="11" name="Text 9"/>
          <p:cNvSpPr/>
          <p:nvPr/>
        </p:nvSpPr>
        <p:spPr>
          <a:xfrm>
            <a:off x="609600" y="3169920"/>
            <a:ext cx="6339840" cy="2682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Dr. Higley wrote the words as a poem about his Kansas homestead.</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A friend put it to music, and it traveled west by word of mouth.</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Cowboys changed the words as they sang it on cattle drives.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By the time it became Kansas's state song in 1947, many versions existed!</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The song grew the way stories grow — carried by real people across the land.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BONUS SOURCE: SOUTHWEST</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14400"/>
            <a:ext cx="6705600" cy="60960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The Hopi Spider Grandmother</a:t>
            </a:r>
            <a:endParaRPr lang="en-US" sz="2000" dirty="0"/>
          </a:p>
        </p:txBody>
      </p:sp>
      <p:sp>
        <p:nvSpPr>
          <p:cNvPr id="6" name="Text 4"/>
          <p:cNvSpPr/>
          <p:nvPr/>
        </p:nvSpPr>
        <p:spPr>
          <a:xfrm>
            <a:off x="609600" y="1524000"/>
            <a:ext cx="6705600" cy="36576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Hopi People  |  Arizona  |  1,000+ Years</a:t>
            </a:r>
            <a:endParaRPr lang="en-US" sz="1100" dirty="0"/>
          </a:p>
        </p:txBody>
      </p:sp>
      <p:sp>
        <p:nvSpPr>
          <p:cNvPr id="7" name="Shape 5"/>
          <p:cNvSpPr/>
          <p:nvPr/>
        </p:nvSpPr>
        <p:spPr>
          <a:xfrm>
            <a:off x="7315200" y="914400"/>
            <a:ext cx="4389120" cy="2682240"/>
          </a:xfrm>
          <a:prstGeom prst="roundRect">
            <a:avLst>
              <a:gd name="adj" fmla="val 4091"/>
            </a:avLst>
          </a:prstGeom>
          <a:solidFill>
            <a:srgbClr val="E2E8F4"/>
          </a:solidFill>
          <a:ln w="19050">
            <a:solidFill>
              <a:srgbClr val="B0B8CC"/>
            </a:solidFill>
            <a:prstDash val="dash"/>
          </a:ln>
        </p:spPr>
      </p:sp>
      <p:sp>
        <p:nvSpPr>
          <p:cNvPr id="8" name="Text 6"/>
          <p:cNvSpPr/>
          <p:nvPr/>
        </p:nvSpPr>
        <p:spPr>
          <a:xfrm>
            <a:off x="7315200" y="914400"/>
            <a:ext cx="438912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7498080" y="1280160"/>
            <a:ext cx="4023360" cy="2225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Southwest desert landscape — mesas, Arizona sky — evoking Hopi homeland</a:t>
            </a:r>
            <a:endParaRPr lang="en-US" sz="1100" dirty="0"/>
          </a:p>
        </p:txBody>
      </p:sp>
      <p:sp>
        <p:nvSpPr>
          <p:cNvPr id="10" name="Text 8"/>
          <p:cNvSpPr/>
          <p:nvPr/>
        </p:nvSpPr>
        <p:spPr>
          <a:xfrm>
            <a:off x="609600" y="2072640"/>
            <a:ext cx="6339840" cy="2316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Spider Grandmother is a wise teacher in Hopi stories.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She helped the first people find the light and learn to live well.</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The Hopi have lived in Arizona for over 1,000 years.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This story connects the people to the LAND — the desert, the mesas, the sky.</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It teaches wisdom, patience, and respect for the earth.</a:t>
            </a:r>
            <a:endParaRPr lang="en-US" sz="1300" dirty="0"/>
          </a:p>
        </p:txBody>
      </p:sp>
      <p:sp>
        <p:nvSpPr>
          <p:cNvPr id="11" name="Shape 9"/>
          <p:cNvSpPr/>
          <p:nvPr/>
        </p:nvSpPr>
        <p:spPr>
          <a:xfrm>
            <a:off x="609600" y="4511040"/>
            <a:ext cx="10972800" cy="1341120"/>
          </a:xfrm>
          <a:prstGeom prst="roundRect">
            <a:avLst>
              <a:gd name="adj" fmla="val 10227"/>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792480" y="4602480"/>
            <a:ext cx="106070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792480" y="4858512"/>
            <a:ext cx="10607040" cy="9022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the Spider Grandmother story tell us about the Southwest that a map cannot?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a story about finding light matter in a desert region?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LISTENING STATION REFLECTION</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75360"/>
            <a:ext cx="10972800" cy="60960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Pick ONE Story</a:t>
            </a:r>
            <a:endParaRPr lang="en-US" sz="2000" dirty="0"/>
          </a:p>
        </p:txBody>
      </p:sp>
      <p:sp>
        <p:nvSpPr>
          <p:cNvPr id="6" name="Text 4"/>
          <p:cNvSpPr/>
          <p:nvPr/>
        </p:nvSpPr>
        <p:spPr>
          <a:xfrm>
            <a:off x="609600" y="1584960"/>
            <a:ext cx="9753600" cy="609600"/>
          </a:xfrm>
          <a:prstGeom prst="rect">
            <a:avLst/>
          </a:prstGeom>
          <a:noFill/>
          <a:ln/>
        </p:spPr>
        <p:txBody>
          <a:bodyPr wrap="square" lIns="0" tIns="0" rIns="0" bIns="0" rtlCol="0" anchor="ctr"/>
          <a:lstStyle/>
          <a:p>
            <a:pPr indent="0" marL="0">
              <a:buNone/>
            </a:pPr>
            <a:r>
              <a:rPr lang="en-US" sz="1500" i="1" dirty="0">
                <a:solidFill>
                  <a:srgbClr val="0E1C42"/>
                </a:solidFill>
                <a:latin typeface="Calibri" pitchFamily="34" charset="0"/>
                <a:ea typeface="Calibri" pitchFamily="34" charset="-122"/>
                <a:cs typeface="Calibri" pitchFamily="34" charset="-120"/>
              </a:rPr>
              <a:t>What did that story teach you about its region that a map could NOT show?</a:t>
            </a:r>
            <a:endParaRPr lang="en-US" sz="1500" dirty="0"/>
          </a:p>
        </p:txBody>
      </p:sp>
      <p:sp>
        <p:nvSpPr>
          <p:cNvPr id="7" name="Shape 5"/>
          <p:cNvSpPr/>
          <p:nvPr/>
        </p:nvSpPr>
        <p:spPr>
          <a:xfrm>
            <a:off x="365760" y="2438400"/>
            <a:ext cx="2682240" cy="1097280"/>
          </a:xfrm>
          <a:prstGeom prst="roundRect">
            <a:avLst>
              <a:gd name="adj" fmla="val 6667"/>
            </a:avLst>
          </a:prstGeom>
          <a:solidFill>
            <a:srgbClr val="1A8A7D"/>
          </a:solidFill>
          <a:ln/>
          <a:effectLst>
            <a:outerShdw sx="100000" sy="100000" kx="0" ky="0" algn="bl" rotWithShape="0" blurRad="50800" dist="25400" dir="8100000">
              <a:srgbClr val="000000">
                <a:alpha val="10000"/>
              </a:srgbClr>
            </a:outerShdw>
          </a:effectLst>
        </p:spPr>
      </p:sp>
      <p:sp>
        <p:nvSpPr>
          <p:cNvPr id="8" name="Text 6"/>
          <p:cNvSpPr/>
          <p:nvPr/>
        </p:nvSpPr>
        <p:spPr>
          <a:xfrm>
            <a:off x="365760" y="2499360"/>
            <a:ext cx="2682240" cy="487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Song</a:t>
            </a:r>
            <a:endParaRPr lang="en-US" sz="1300" dirty="0"/>
          </a:p>
        </p:txBody>
      </p:sp>
      <p:sp>
        <p:nvSpPr>
          <p:cNvPr id="9" name="Text 7"/>
          <p:cNvSpPr/>
          <p:nvPr/>
        </p:nvSpPr>
        <p:spPr>
          <a:xfrm>
            <a:off x="365760" y="2926080"/>
            <a:ext cx="2682240" cy="4876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"Home on the Range"</a:t>
            </a:r>
            <a:endParaRPr lang="en-US" sz="1100" dirty="0"/>
          </a:p>
        </p:txBody>
      </p:sp>
      <p:sp>
        <p:nvSpPr>
          <p:cNvPr id="10" name="Shape 8"/>
          <p:cNvSpPr/>
          <p:nvPr/>
        </p:nvSpPr>
        <p:spPr>
          <a:xfrm>
            <a:off x="3352800" y="2438400"/>
            <a:ext cx="2682240" cy="1097280"/>
          </a:xfrm>
          <a:prstGeom prst="roundRect">
            <a:avLst>
              <a:gd name="adj" fmla="val 6667"/>
            </a:avLst>
          </a:prstGeom>
          <a:solidFill>
            <a:srgbClr val="D4943A"/>
          </a:solidFill>
          <a:ln/>
          <a:effectLst>
            <a:outerShdw sx="100000" sy="100000" kx="0" ky="0" algn="bl" rotWithShape="0" blurRad="50800" dist="25400" dir="8100000">
              <a:srgbClr val="000000">
                <a:alpha val="10000"/>
              </a:srgbClr>
            </a:outerShdw>
          </a:effectLst>
        </p:spPr>
      </p:sp>
      <p:sp>
        <p:nvSpPr>
          <p:cNvPr id="11" name="Text 9"/>
          <p:cNvSpPr/>
          <p:nvPr/>
        </p:nvSpPr>
        <p:spPr>
          <a:xfrm>
            <a:off x="3352800" y="2499360"/>
            <a:ext cx="2682240" cy="487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Legend</a:t>
            </a:r>
            <a:endParaRPr lang="en-US" sz="1300" dirty="0"/>
          </a:p>
        </p:txBody>
      </p:sp>
      <p:sp>
        <p:nvSpPr>
          <p:cNvPr id="12" name="Text 10"/>
          <p:cNvSpPr/>
          <p:nvPr/>
        </p:nvSpPr>
        <p:spPr>
          <a:xfrm>
            <a:off x="3352800" y="2926080"/>
            <a:ext cx="2682240" cy="4876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Paul Bunyan</a:t>
            </a:r>
            <a:endParaRPr lang="en-US" sz="1100" dirty="0"/>
          </a:p>
        </p:txBody>
      </p:sp>
      <p:sp>
        <p:nvSpPr>
          <p:cNvPr id="13" name="Shape 11"/>
          <p:cNvSpPr/>
          <p:nvPr/>
        </p:nvSpPr>
        <p:spPr>
          <a:xfrm>
            <a:off x="6339840" y="2438400"/>
            <a:ext cx="2682240" cy="1097280"/>
          </a:xfrm>
          <a:prstGeom prst="roundRect">
            <a:avLst>
              <a:gd name="adj" fmla="val 6667"/>
            </a:avLst>
          </a:prstGeom>
          <a:solidFill>
            <a:srgbClr val="8B6FC0"/>
          </a:solidFill>
          <a:ln/>
          <a:effectLst>
            <a:outerShdw sx="100000" sy="100000" kx="0" ky="0" algn="bl" rotWithShape="0" blurRad="50800" dist="25400" dir="8100000">
              <a:srgbClr val="000000">
                <a:alpha val="10000"/>
              </a:srgbClr>
            </a:outerShdw>
          </a:effectLst>
        </p:spPr>
      </p:sp>
      <p:sp>
        <p:nvSpPr>
          <p:cNvPr id="14" name="Text 12"/>
          <p:cNvSpPr/>
          <p:nvPr/>
        </p:nvSpPr>
        <p:spPr>
          <a:xfrm>
            <a:off x="6339840" y="2499360"/>
            <a:ext cx="2682240" cy="487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Poem</a:t>
            </a:r>
            <a:endParaRPr lang="en-US" sz="1300" dirty="0"/>
          </a:p>
        </p:txBody>
      </p:sp>
      <p:sp>
        <p:nvSpPr>
          <p:cNvPr id="15" name="Text 13"/>
          <p:cNvSpPr/>
          <p:nvPr/>
        </p:nvSpPr>
        <p:spPr>
          <a:xfrm>
            <a:off x="6339840" y="2926080"/>
            <a:ext cx="2682240" cy="4876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"Chicago"</a:t>
            </a:r>
            <a:endParaRPr lang="en-US" sz="1100" dirty="0"/>
          </a:p>
        </p:txBody>
      </p:sp>
      <p:sp>
        <p:nvSpPr>
          <p:cNvPr id="16" name="Shape 14"/>
          <p:cNvSpPr/>
          <p:nvPr/>
        </p:nvSpPr>
        <p:spPr>
          <a:xfrm>
            <a:off x="9326880" y="2438400"/>
            <a:ext cx="2682240" cy="1097280"/>
          </a:xfrm>
          <a:prstGeom prst="roundRect">
            <a:avLst>
              <a:gd name="adj" fmla="val 6667"/>
            </a:avLst>
          </a:prstGeom>
          <a:solidFill>
            <a:srgbClr val="E8636B"/>
          </a:solidFill>
          <a:ln/>
          <a:effectLst>
            <a:outerShdw sx="100000" sy="100000" kx="0" ky="0" algn="bl" rotWithShape="0" blurRad="50800" dist="25400" dir="8100000">
              <a:srgbClr val="000000">
                <a:alpha val="10000"/>
              </a:srgbClr>
            </a:outerShdw>
          </a:effectLst>
        </p:spPr>
      </p:sp>
      <p:sp>
        <p:nvSpPr>
          <p:cNvPr id="17" name="Text 15"/>
          <p:cNvSpPr/>
          <p:nvPr/>
        </p:nvSpPr>
        <p:spPr>
          <a:xfrm>
            <a:off x="9326880" y="2499360"/>
            <a:ext cx="2682240" cy="487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News</a:t>
            </a:r>
            <a:endParaRPr lang="en-US" sz="1300" dirty="0"/>
          </a:p>
        </p:txBody>
      </p:sp>
      <p:sp>
        <p:nvSpPr>
          <p:cNvPr id="18" name="Text 16"/>
          <p:cNvSpPr/>
          <p:nvPr/>
        </p:nvSpPr>
        <p:spPr>
          <a:xfrm>
            <a:off x="9326880" y="2926080"/>
            <a:ext cx="2682240" cy="4876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Hurricane Betsy</a:t>
            </a:r>
            <a:endParaRPr lang="en-US" sz="1100" dirty="0"/>
          </a:p>
        </p:txBody>
      </p:sp>
      <p:sp>
        <p:nvSpPr>
          <p:cNvPr id="19" name="Shape 17"/>
          <p:cNvSpPr/>
          <p:nvPr/>
        </p:nvSpPr>
        <p:spPr>
          <a:xfrm>
            <a:off x="609600" y="3901440"/>
            <a:ext cx="10972800" cy="1828800"/>
          </a:xfrm>
          <a:prstGeom prst="roundRect">
            <a:avLst>
              <a:gd name="adj" fmla="val 6000"/>
            </a:avLst>
          </a:prstGeom>
          <a:solidFill>
            <a:srgbClr val="FFF8F0"/>
          </a:solidFill>
          <a:ln w="12700">
            <a:solidFill>
              <a:srgbClr val="D4943A"/>
            </a:solidFill>
            <a:prstDash val="solid"/>
          </a:ln>
        </p:spPr>
      </p:sp>
      <p:sp>
        <p:nvSpPr>
          <p:cNvPr id="20" name="Text 18"/>
          <p:cNvSpPr/>
          <p:nvPr/>
        </p:nvSpPr>
        <p:spPr>
          <a:xfrm>
            <a:off x="792480" y="4023360"/>
            <a:ext cx="10363200" cy="3048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THINK-PAIR-SHARE</a:t>
            </a:r>
            <a:endParaRPr lang="en-US" sz="900" dirty="0"/>
          </a:p>
        </p:txBody>
      </p:sp>
      <p:sp>
        <p:nvSpPr>
          <p:cNvPr id="21" name="Text 19"/>
          <p:cNvSpPr/>
          <p:nvPr/>
        </p:nvSpPr>
        <p:spPr>
          <a:xfrm>
            <a:off x="792480" y="4389120"/>
            <a:ext cx="10363200" cy="121920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1. Pick your story.</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2. Think: What does it teach about the region that a map cannot?</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3. Share with a partner using the sentence frame:</a:t>
            </a: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    "The [song/legend/poem/news report] taught me that [region] is a place where..."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THEN AND NOW</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75360"/>
            <a:ext cx="10972800" cy="60960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How Stories Travel</a:t>
            </a:r>
            <a:endParaRPr lang="en-US" sz="2000" dirty="0"/>
          </a:p>
        </p:txBody>
      </p:sp>
      <p:sp>
        <p:nvSpPr>
          <p:cNvPr id="6" name="Shape 4"/>
          <p:cNvSpPr/>
          <p:nvPr/>
        </p:nvSpPr>
        <p:spPr>
          <a:xfrm>
            <a:off x="609600" y="1828800"/>
            <a:ext cx="5242560" cy="3413760"/>
          </a:xfrm>
          <a:prstGeom prst="roundRect">
            <a:avLst>
              <a:gd name="adj" fmla="val 3214"/>
            </a:avLst>
          </a:prstGeom>
          <a:solidFill>
            <a:srgbClr val="FFFFFF"/>
          </a:solidFill>
          <a:ln/>
          <a:effectLst>
            <a:outerShdw sx="100000" sy="100000" kx="0" ky="0" algn="bl" rotWithShape="0" blurRad="76200" dist="25400" dir="8100000">
              <a:srgbClr val="000000">
                <a:alpha val="10000"/>
              </a:srgbClr>
            </a:outerShdw>
          </a:effectLst>
        </p:spPr>
      </p:sp>
      <p:sp>
        <p:nvSpPr>
          <p:cNvPr id="7" name="Text 5"/>
          <p:cNvSpPr/>
          <p:nvPr/>
        </p:nvSpPr>
        <p:spPr>
          <a:xfrm>
            <a:off x="792480" y="1950720"/>
            <a:ext cx="4876800" cy="36576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THEN</a:t>
            </a:r>
            <a:endParaRPr lang="en-US" sz="1100" dirty="0"/>
          </a:p>
        </p:txBody>
      </p:sp>
      <p:sp>
        <p:nvSpPr>
          <p:cNvPr id="8" name="Shape 6"/>
          <p:cNvSpPr/>
          <p:nvPr/>
        </p:nvSpPr>
        <p:spPr>
          <a:xfrm>
            <a:off x="853440" y="1828800"/>
            <a:ext cx="4754880" cy="1463040"/>
          </a:xfrm>
          <a:prstGeom prst="roundRect">
            <a:avLst>
              <a:gd name="adj" fmla="val 7500"/>
            </a:avLst>
          </a:prstGeom>
          <a:solidFill>
            <a:srgbClr val="E2E8F4"/>
          </a:solidFill>
          <a:ln w="19050">
            <a:solidFill>
              <a:srgbClr val="B0B8CC"/>
            </a:solidFill>
            <a:prstDash val="dash"/>
          </a:ln>
        </p:spPr>
      </p:sp>
      <p:sp>
        <p:nvSpPr>
          <p:cNvPr id="9" name="Text 7"/>
          <p:cNvSpPr/>
          <p:nvPr/>
        </p:nvSpPr>
        <p:spPr>
          <a:xfrm>
            <a:off x="853440" y="1828800"/>
            <a:ext cx="47548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1036320" y="2194560"/>
            <a:ext cx="4389120" cy="10058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People gathered around a campfire, someone singing or storytelling</a:t>
            </a:r>
            <a:endParaRPr lang="en-US" sz="1100" dirty="0"/>
          </a:p>
        </p:txBody>
      </p:sp>
      <p:sp>
        <p:nvSpPr>
          <p:cNvPr id="11" name="Text 9"/>
          <p:cNvSpPr/>
          <p:nvPr/>
        </p:nvSpPr>
        <p:spPr>
          <a:xfrm>
            <a:off x="853440" y="3779520"/>
            <a:ext cx="4754880" cy="1341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Stories shared around campfires</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Songs carried by travelers on foot</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Legends told generation to generation</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News spread slowly by word of mouth</a:t>
            </a:r>
            <a:endParaRPr lang="en-US" sz="1200" dirty="0"/>
          </a:p>
        </p:txBody>
      </p:sp>
      <p:sp>
        <p:nvSpPr>
          <p:cNvPr id="12" name="Shape 10"/>
          <p:cNvSpPr/>
          <p:nvPr/>
        </p:nvSpPr>
        <p:spPr>
          <a:xfrm>
            <a:off x="6339840" y="1828800"/>
            <a:ext cx="5242560" cy="3413760"/>
          </a:xfrm>
          <a:prstGeom prst="roundRect">
            <a:avLst>
              <a:gd name="adj" fmla="val 3214"/>
            </a:avLst>
          </a:prstGeom>
          <a:solidFill>
            <a:srgbClr val="FFFFFF"/>
          </a:solidFill>
          <a:ln/>
          <a:effectLst>
            <a:outerShdw sx="100000" sy="100000" kx="0" ky="0" algn="bl" rotWithShape="0" blurRad="76200" dist="25400" dir="8100000">
              <a:srgbClr val="000000">
                <a:alpha val="10000"/>
              </a:srgbClr>
            </a:outerShdw>
          </a:effectLst>
        </p:spPr>
      </p:sp>
      <p:sp>
        <p:nvSpPr>
          <p:cNvPr id="13" name="Text 11"/>
          <p:cNvSpPr/>
          <p:nvPr/>
        </p:nvSpPr>
        <p:spPr>
          <a:xfrm>
            <a:off x="6522720" y="1950720"/>
            <a:ext cx="4876800" cy="36576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NOW</a:t>
            </a:r>
            <a:endParaRPr lang="en-US" sz="1100" dirty="0"/>
          </a:p>
        </p:txBody>
      </p:sp>
      <p:sp>
        <p:nvSpPr>
          <p:cNvPr id="14" name="Shape 12"/>
          <p:cNvSpPr/>
          <p:nvPr/>
        </p:nvSpPr>
        <p:spPr>
          <a:xfrm>
            <a:off x="6583680" y="1828800"/>
            <a:ext cx="4754880" cy="1463040"/>
          </a:xfrm>
          <a:prstGeom prst="roundRect">
            <a:avLst>
              <a:gd name="adj" fmla="val 7500"/>
            </a:avLst>
          </a:prstGeom>
          <a:solidFill>
            <a:srgbClr val="E2E8F4"/>
          </a:solidFill>
          <a:ln w="19050">
            <a:solidFill>
              <a:srgbClr val="B0B8CC"/>
            </a:solidFill>
            <a:prstDash val="dash"/>
          </a:ln>
        </p:spPr>
      </p:sp>
      <p:sp>
        <p:nvSpPr>
          <p:cNvPr id="15" name="Text 13"/>
          <p:cNvSpPr/>
          <p:nvPr/>
        </p:nvSpPr>
        <p:spPr>
          <a:xfrm>
            <a:off x="6583680" y="1828800"/>
            <a:ext cx="47548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6" name="Text 14"/>
          <p:cNvSpPr/>
          <p:nvPr/>
        </p:nvSpPr>
        <p:spPr>
          <a:xfrm>
            <a:off x="6766560" y="2194560"/>
            <a:ext cx="4389120" cy="10058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Modern ways stories travel: phone with music app, bookshelf, online news on a laptop</a:t>
            </a:r>
            <a:endParaRPr lang="en-US" sz="1100" dirty="0"/>
          </a:p>
        </p:txBody>
      </p:sp>
      <p:sp>
        <p:nvSpPr>
          <p:cNvPr id="17" name="Text 15"/>
          <p:cNvSpPr/>
          <p:nvPr/>
        </p:nvSpPr>
        <p:spPr>
          <a:xfrm>
            <a:off x="6583680" y="3779520"/>
            <a:ext cx="4754880" cy="1341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Songs streamed on phones and radios</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Stories shared in books and online</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Poems published and read worldwide</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News reported instantly across the globe</a:t>
            </a:r>
            <a:endParaRPr lang="en-US" sz="1200" dirty="0"/>
          </a:p>
        </p:txBody>
      </p:sp>
      <p:sp>
        <p:nvSpPr>
          <p:cNvPr id="18" name="Text 16"/>
          <p:cNvSpPr/>
          <p:nvPr/>
        </p:nvSpPr>
        <p:spPr>
          <a:xfrm>
            <a:off x="609600" y="5547360"/>
            <a:ext cx="10972800" cy="487680"/>
          </a:xfrm>
          <a:prstGeom prst="rect">
            <a:avLst/>
          </a:prstGeom>
          <a:noFill/>
          <a:ln/>
        </p:spPr>
        <p:txBody>
          <a:bodyPr wrap="square" lIns="0" tIns="0" rIns="0" bIns="0" rtlCol="0" anchor="ctr"/>
          <a:lstStyle/>
          <a:p>
            <a:pPr algn="ctr" indent="0" marL="0">
              <a:buNone/>
            </a:pPr>
            <a:r>
              <a:rPr lang="en-US" sz="1400" b="1" i="1" dirty="0">
                <a:solidFill>
                  <a:srgbClr val="0E1C42"/>
                </a:solidFill>
                <a:latin typeface="Cambria" pitchFamily="34" charset="0"/>
                <a:ea typeface="Cambria" pitchFamily="34" charset="-122"/>
                <a:cs typeface="Cambria" pitchFamily="34" charset="-120"/>
              </a:rPr>
              <a:t>The stories change shape, but they still carry feelings about places.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BIG PICTURE</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1097280"/>
            <a:ext cx="10972800" cy="12192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Maps Show Where.</a:t>
            </a:r>
            <a:endParaRPr lang="en-US" sz="2600" dirty="0"/>
          </a:p>
          <a:p>
            <a:pPr indent="0" marL="0">
              <a:buNone/>
            </a:pPr>
            <a:r>
              <a:rPr lang="en-US" sz="2600" b="1" dirty="0">
                <a:solidFill>
                  <a:srgbClr val="0E1C42"/>
                </a:solidFill>
                <a:latin typeface="Cambria" pitchFamily="34" charset="0"/>
                <a:ea typeface="Cambria" pitchFamily="34" charset="-122"/>
                <a:cs typeface="Cambria" pitchFamily="34" charset="-120"/>
              </a:rPr>
              <a:t>Stories Show How People Feel.</a:t>
            </a:r>
            <a:endParaRPr lang="en-US" sz="2600" dirty="0"/>
          </a:p>
        </p:txBody>
      </p:sp>
      <p:sp>
        <p:nvSpPr>
          <p:cNvPr id="6" name="Shape 4"/>
          <p:cNvSpPr/>
          <p:nvPr/>
        </p:nvSpPr>
        <p:spPr>
          <a:xfrm>
            <a:off x="609600" y="2438400"/>
            <a:ext cx="3657600" cy="48768"/>
          </a:xfrm>
          <a:prstGeom prst="rect">
            <a:avLst/>
          </a:prstGeom>
          <a:solidFill>
            <a:srgbClr val="D4943A"/>
          </a:solidFill>
          <a:ln/>
        </p:spPr>
      </p:sp>
      <p:sp>
        <p:nvSpPr>
          <p:cNvPr id="7" name="Shape 5"/>
          <p:cNvSpPr/>
          <p:nvPr/>
        </p:nvSpPr>
        <p:spPr>
          <a:xfrm>
            <a:off x="609600" y="2804160"/>
            <a:ext cx="10972800" cy="1950720"/>
          </a:xfrm>
          <a:prstGeom prst="roundRect">
            <a:avLst>
              <a:gd name="adj" fmla="val 5625"/>
            </a:avLst>
          </a:prstGeom>
          <a:solidFill>
            <a:srgbClr val="EAF8FD"/>
          </a:solidFill>
          <a:ln w="12700">
            <a:solidFill>
              <a:srgbClr val="55C8E8"/>
            </a:solidFill>
            <a:prstDash val="solid"/>
          </a:ln>
        </p:spPr>
      </p:sp>
      <p:sp>
        <p:nvSpPr>
          <p:cNvPr id="8" name="Text 6"/>
          <p:cNvSpPr/>
          <p:nvPr/>
        </p:nvSpPr>
        <p:spPr>
          <a:xfrm>
            <a:off x="792480" y="2926080"/>
            <a:ext cx="10363200" cy="3048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EXHIBIT LABEL</a:t>
            </a:r>
            <a:endParaRPr lang="en-US" sz="900" dirty="0"/>
          </a:p>
        </p:txBody>
      </p:sp>
      <p:sp>
        <p:nvSpPr>
          <p:cNvPr id="9" name="Text 7"/>
          <p:cNvSpPr/>
          <p:nvPr/>
        </p:nvSpPr>
        <p:spPr>
          <a:xfrm>
            <a:off x="792480" y="3291840"/>
            <a:ext cx="10363200" cy="36576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Today we listened to four stories from four regions:</a:t>
            </a:r>
            <a:endParaRPr lang="en-US" sz="1300" dirty="0"/>
          </a:p>
        </p:txBody>
      </p:sp>
      <p:sp>
        <p:nvSpPr>
          <p:cNvPr id="10" name="Text 8"/>
          <p:cNvSpPr/>
          <p:nvPr/>
        </p:nvSpPr>
        <p:spPr>
          <a:xfrm>
            <a:off x="792480" y="3718560"/>
            <a:ext cx="9997440" cy="14630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A SONG that made us feel the wide-open plains</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A LEGEND that showed us forests so big they needed a giant</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A POEM that captured a city's pride and strength</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A NEWS REPORT that revealed a community's courage</a:t>
            </a:r>
            <a:endParaRPr lang="en-US" sz="1200" dirty="0"/>
          </a:p>
        </p:txBody>
      </p:sp>
      <p:sp>
        <p:nvSpPr>
          <p:cNvPr id="11" name="Text 9"/>
          <p:cNvSpPr/>
          <p:nvPr/>
        </p:nvSpPr>
        <p:spPr>
          <a:xfrm>
            <a:off x="609600" y="5059680"/>
            <a:ext cx="10972800" cy="487680"/>
          </a:xfrm>
          <a:prstGeom prst="rect">
            <a:avLst/>
          </a:prstGeom>
          <a:noFill/>
          <a:ln/>
        </p:spPr>
        <p:txBody>
          <a:bodyPr wrap="square" lIns="0" tIns="0" rIns="0" bIns="0" rtlCol="0" anchor="ctr"/>
          <a:lstStyle/>
          <a:p>
            <a:pPr algn="ctr" indent="0" marL="0">
              <a:buNone/>
            </a:pPr>
            <a:r>
              <a:rPr lang="en-US" sz="1400" b="1" i="1" dirty="0">
                <a:solidFill>
                  <a:srgbClr val="0E1C42"/>
                </a:solidFill>
                <a:latin typeface="Cambria" pitchFamily="34" charset="0"/>
                <a:ea typeface="Cambria" pitchFamily="34" charset="-122"/>
                <a:cs typeface="Cambria" pitchFamily="34" charset="-120"/>
              </a:rPr>
              <a:t>Each story taught us something about its region that no map could show.</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14400"/>
            <a:ext cx="2438400" cy="426720"/>
          </a:xfrm>
          <a:prstGeom prst="rect">
            <a:avLst/>
          </a:prstGeom>
          <a:noFill/>
          <a:ln/>
        </p:spPr>
        <p:txBody>
          <a:bodyPr wrap="square" lIns="0" tIns="0" rIns="0" bIns="0" rtlCol="0" anchor="ctr"/>
          <a:lstStyle/>
          <a:p>
            <a:pPr indent="0" marL="0">
              <a:buNone/>
            </a:pPr>
            <a:r>
              <a:rPr lang="en-US" sz="1400" b="1" dirty="0">
                <a:solidFill>
                  <a:srgbClr val="1A8A7D"/>
                </a:solidFill>
                <a:latin typeface="Calibri" pitchFamily="34" charset="0"/>
                <a:ea typeface="Calibri" pitchFamily="34" charset="-122"/>
                <a:cs typeface="Calibri" pitchFamily="34" charset="-120"/>
              </a:rPr>
              <a:t>Question 1</a:t>
            </a:r>
            <a:endParaRPr lang="en-US" sz="1400" dirty="0"/>
          </a:p>
        </p:txBody>
      </p:sp>
      <p:sp>
        <p:nvSpPr>
          <p:cNvPr id="6" name="Text 4"/>
          <p:cNvSpPr/>
          <p:nvPr/>
        </p:nvSpPr>
        <p:spPr>
          <a:xfrm>
            <a:off x="609600" y="1402080"/>
            <a:ext cx="10972800" cy="60960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What can a song or poem tell us about a place that a map cannot?</a:t>
            </a:r>
            <a:endParaRPr lang="en-US" sz="1600" dirty="0"/>
          </a:p>
        </p:txBody>
      </p:sp>
      <p:sp>
        <p:nvSpPr>
          <p:cNvPr id="7" name="Shape 5"/>
          <p:cNvSpPr/>
          <p:nvPr/>
        </p:nvSpPr>
        <p:spPr>
          <a:xfrm>
            <a:off x="609600" y="2316480"/>
            <a:ext cx="10972800" cy="670560"/>
          </a:xfrm>
          <a:prstGeom prst="roundRect">
            <a:avLst>
              <a:gd name="adj" fmla="val 10909"/>
            </a:avLst>
          </a:prstGeom>
          <a:solidFill>
            <a:srgbClr val="FFFFFF"/>
          </a:solidFill>
          <a:ln w="19050">
            <a:solidFill>
              <a:srgbClr val="D0D5E0"/>
            </a:solidFill>
            <a:prstDash val="solid"/>
          </a:ln>
        </p:spPr>
      </p:sp>
      <p:sp>
        <p:nvSpPr>
          <p:cNvPr id="8" name="Text 6"/>
          <p:cNvSpPr/>
          <p:nvPr/>
        </p:nvSpPr>
        <p:spPr>
          <a:xfrm>
            <a:off x="731520" y="2316480"/>
            <a:ext cx="548640" cy="67056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341120" y="2316480"/>
            <a:ext cx="9997440" cy="67056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The exact location of every city in the region</a:t>
            </a:r>
            <a:endParaRPr lang="en-US" sz="1300" dirty="0"/>
          </a:p>
        </p:txBody>
      </p:sp>
      <p:sp>
        <p:nvSpPr>
          <p:cNvPr id="10" name="Shape 8"/>
          <p:cNvSpPr/>
          <p:nvPr/>
        </p:nvSpPr>
        <p:spPr>
          <a:xfrm>
            <a:off x="609600" y="3169920"/>
            <a:ext cx="10972800" cy="670560"/>
          </a:xfrm>
          <a:prstGeom prst="roundRect">
            <a:avLst>
              <a:gd name="adj" fmla="val 10909"/>
            </a:avLst>
          </a:prstGeom>
          <a:solidFill>
            <a:srgbClr val="FFFFFF"/>
          </a:solidFill>
          <a:ln w="19050">
            <a:solidFill>
              <a:srgbClr val="D0D5E0"/>
            </a:solidFill>
            <a:prstDash val="solid"/>
          </a:ln>
        </p:spPr>
      </p:sp>
      <p:sp>
        <p:nvSpPr>
          <p:cNvPr id="11" name="Text 9"/>
          <p:cNvSpPr/>
          <p:nvPr/>
        </p:nvSpPr>
        <p:spPr>
          <a:xfrm>
            <a:off x="731520" y="3169920"/>
            <a:ext cx="548640" cy="67056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B</a:t>
            </a:r>
            <a:endParaRPr lang="en-US" sz="1400" dirty="0"/>
          </a:p>
        </p:txBody>
      </p:sp>
      <p:sp>
        <p:nvSpPr>
          <p:cNvPr id="12" name="Text 10"/>
          <p:cNvSpPr/>
          <p:nvPr/>
        </p:nvSpPr>
        <p:spPr>
          <a:xfrm>
            <a:off x="1341120" y="3169920"/>
            <a:ext cx="9997440" cy="67056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The population and area of the region</a:t>
            </a:r>
            <a:endParaRPr lang="en-US" sz="1300" dirty="0"/>
          </a:p>
        </p:txBody>
      </p:sp>
      <p:sp>
        <p:nvSpPr>
          <p:cNvPr id="13" name="Shape 11"/>
          <p:cNvSpPr/>
          <p:nvPr/>
        </p:nvSpPr>
        <p:spPr>
          <a:xfrm>
            <a:off x="609600" y="4023360"/>
            <a:ext cx="10972800" cy="670560"/>
          </a:xfrm>
          <a:prstGeom prst="roundRect">
            <a:avLst>
              <a:gd name="adj" fmla="val 10909"/>
            </a:avLst>
          </a:prstGeom>
          <a:solidFill>
            <a:srgbClr val="E3F8ED"/>
          </a:solidFill>
          <a:ln w="19050">
            <a:solidFill>
              <a:srgbClr val="34B76F"/>
            </a:solidFill>
            <a:prstDash val="solid"/>
          </a:ln>
        </p:spPr>
      </p:sp>
      <p:sp>
        <p:nvSpPr>
          <p:cNvPr id="14" name="Text 12"/>
          <p:cNvSpPr/>
          <p:nvPr/>
        </p:nvSpPr>
        <p:spPr>
          <a:xfrm>
            <a:off x="731520" y="4023360"/>
            <a:ext cx="548640" cy="670560"/>
          </a:xfrm>
          <a:prstGeom prst="rect">
            <a:avLst/>
          </a:prstGeom>
          <a:noFill/>
          <a:ln/>
        </p:spPr>
        <p:txBody>
          <a:bodyPr wrap="square" lIns="0" tIns="0" rIns="0" bIns="0" rtlCol="0" anchor="ctr"/>
          <a:lstStyle/>
          <a:p>
            <a:pPr algn="ctr" indent="0" marL="0">
              <a:buNone/>
            </a:pPr>
            <a:r>
              <a:rPr lang="en-US" sz="1400" b="1" dirty="0">
                <a:solidFill>
                  <a:srgbClr val="34B76F"/>
                </a:solidFill>
                <a:latin typeface="Calibri" pitchFamily="34" charset="0"/>
                <a:ea typeface="Calibri" pitchFamily="34" charset="-122"/>
                <a:cs typeface="Calibri" pitchFamily="34" charset="-120"/>
              </a:rPr>
              <a:t>C</a:t>
            </a:r>
            <a:endParaRPr lang="en-US" sz="1400" dirty="0"/>
          </a:p>
        </p:txBody>
      </p:sp>
      <p:sp>
        <p:nvSpPr>
          <p:cNvPr id="15" name="Text 13"/>
          <p:cNvSpPr/>
          <p:nvPr/>
        </p:nvSpPr>
        <p:spPr>
          <a:xfrm>
            <a:off x="1341120" y="4023360"/>
            <a:ext cx="9997440" cy="67056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How people feel about the place — what they love, miss, or remember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14400"/>
            <a:ext cx="2438400" cy="426720"/>
          </a:xfrm>
          <a:prstGeom prst="rect">
            <a:avLst/>
          </a:prstGeom>
          <a:noFill/>
          <a:ln/>
        </p:spPr>
        <p:txBody>
          <a:bodyPr wrap="square" lIns="0" tIns="0" rIns="0" bIns="0" rtlCol="0" anchor="ctr"/>
          <a:lstStyle/>
          <a:p>
            <a:pPr indent="0" marL="0">
              <a:buNone/>
            </a:pPr>
            <a:r>
              <a:rPr lang="en-US" sz="1400" b="1" dirty="0">
                <a:solidFill>
                  <a:srgbClr val="1A8A7D"/>
                </a:solidFill>
                <a:latin typeface="Calibri" pitchFamily="34" charset="0"/>
                <a:ea typeface="Calibri" pitchFamily="34" charset="-122"/>
                <a:cs typeface="Calibri" pitchFamily="34" charset="-120"/>
              </a:rPr>
              <a:t>Question 2</a:t>
            </a:r>
            <a:endParaRPr lang="en-US" sz="1400" dirty="0"/>
          </a:p>
        </p:txBody>
      </p:sp>
      <p:sp>
        <p:nvSpPr>
          <p:cNvPr id="6" name="Text 4"/>
          <p:cNvSpPr/>
          <p:nvPr/>
        </p:nvSpPr>
        <p:spPr>
          <a:xfrm>
            <a:off x="609600" y="1402080"/>
            <a:ext cx="10972800" cy="60960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The Paul Bunyan tall tale comes from a region with:</a:t>
            </a:r>
            <a:endParaRPr lang="en-US" sz="1600" dirty="0"/>
          </a:p>
        </p:txBody>
      </p:sp>
      <p:sp>
        <p:nvSpPr>
          <p:cNvPr id="7" name="Shape 5"/>
          <p:cNvSpPr/>
          <p:nvPr/>
        </p:nvSpPr>
        <p:spPr>
          <a:xfrm>
            <a:off x="609600" y="2316480"/>
            <a:ext cx="10972800" cy="670560"/>
          </a:xfrm>
          <a:prstGeom prst="roundRect">
            <a:avLst>
              <a:gd name="adj" fmla="val 10909"/>
            </a:avLst>
          </a:prstGeom>
          <a:solidFill>
            <a:srgbClr val="FFFFFF"/>
          </a:solidFill>
          <a:ln w="19050">
            <a:solidFill>
              <a:srgbClr val="D0D5E0"/>
            </a:solidFill>
            <a:prstDash val="solid"/>
          </a:ln>
        </p:spPr>
      </p:sp>
      <p:sp>
        <p:nvSpPr>
          <p:cNvPr id="8" name="Text 6"/>
          <p:cNvSpPr/>
          <p:nvPr/>
        </p:nvSpPr>
        <p:spPr>
          <a:xfrm>
            <a:off x="731520" y="2316480"/>
            <a:ext cx="548640" cy="67056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341120" y="2316480"/>
            <a:ext cx="9997440" cy="67056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Beaches and palm trees</a:t>
            </a:r>
            <a:endParaRPr lang="en-US" sz="1300" dirty="0"/>
          </a:p>
        </p:txBody>
      </p:sp>
      <p:sp>
        <p:nvSpPr>
          <p:cNvPr id="10" name="Shape 8"/>
          <p:cNvSpPr/>
          <p:nvPr/>
        </p:nvSpPr>
        <p:spPr>
          <a:xfrm>
            <a:off x="609600" y="3169920"/>
            <a:ext cx="10972800" cy="670560"/>
          </a:xfrm>
          <a:prstGeom prst="roundRect">
            <a:avLst>
              <a:gd name="adj" fmla="val 10909"/>
            </a:avLst>
          </a:prstGeom>
          <a:solidFill>
            <a:srgbClr val="E3F8ED"/>
          </a:solidFill>
          <a:ln w="19050">
            <a:solidFill>
              <a:srgbClr val="34B76F"/>
            </a:solidFill>
            <a:prstDash val="solid"/>
          </a:ln>
        </p:spPr>
      </p:sp>
      <p:sp>
        <p:nvSpPr>
          <p:cNvPr id="11" name="Text 9"/>
          <p:cNvSpPr/>
          <p:nvPr/>
        </p:nvSpPr>
        <p:spPr>
          <a:xfrm>
            <a:off x="731520" y="3169920"/>
            <a:ext cx="548640" cy="670560"/>
          </a:xfrm>
          <a:prstGeom prst="rect">
            <a:avLst/>
          </a:prstGeom>
          <a:noFill/>
          <a:ln/>
        </p:spPr>
        <p:txBody>
          <a:bodyPr wrap="square" lIns="0" tIns="0" rIns="0" bIns="0" rtlCol="0" anchor="ctr"/>
          <a:lstStyle/>
          <a:p>
            <a:pPr algn="ctr" indent="0" marL="0">
              <a:buNone/>
            </a:pPr>
            <a:r>
              <a:rPr lang="en-US" sz="1400" b="1" dirty="0">
                <a:solidFill>
                  <a:srgbClr val="34B76F"/>
                </a:solidFill>
                <a:latin typeface="Calibri" pitchFamily="34" charset="0"/>
                <a:ea typeface="Calibri" pitchFamily="34" charset="-122"/>
                <a:cs typeface="Calibri" pitchFamily="34" charset="-120"/>
              </a:rPr>
              <a:t>B</a:t>
            </a:r>
            <a:endParaRPr lang="en-US" sz="1400" dirty="0"/>
          </a:p>
        </p:txBody>
      </p:sp>
      <p:sp>
        <p:nvSpPr>
          <p:cNvPr id="12" name="Text 10"/>
          <p:cNvSpPr/>
          <p:nvPr/>
        </p:nvSpPr>
        <p:spPr>
          <a:xfrm>
            <a:off x="1341120" y="3169920"/>
            <a:ext cx="9997440" cy="67056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Huge forests and lumber camps</a:t>
            </a:r>
            <a:endParaRPr lang="en-US" sz="1300" dirty="0"/>
          </a:p>
        </p:txBody>
      </p:sp>
      <p:sp>
        <p:nvSpPr>
          <p:cNvPr id="13" name="Shape 11"/>
          <p:cNvSpPr/>
          <p:nvPr/>
        </p:nvSpPr>
        <p:spPr>
          <a:xfrm>
            <a:off x="609600" y="4023360"/>
            <a:ext cx="10972800" cy="670560"/>
          </a:xfrm>
          <a:prstGeom prst="roundRect">
            <a:avLst>
              <a:gd name="adj" fmla="val 10909"/>
            </a:avLst>
          </a:prstGeom>
          <a:solidFill>
            <a:srgbClr val="FFFFFF"/>
          </a:solidFill>
          <a:ln w="19050">
            <a:solidFill>
              <a:srgbClr val="D0D5E0"/>
            </a:solidFill>
            <a:prstDash val="solid"/>
          </a:ln>
        </p:spPr>
      </p:sp>
      <p:sp>
        <p:nvSpPr>
          <p:cNvPr id="14" name="Text 12"/>
          <p:cNvSpPr/>
          <p:nvPr/>
        </p:nvSpPr>
        <p:spPr>
          <a:xfrm>
            <a:off x="731520" y="4023360"/>
            <a:ext cx="548640" cy="67056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C</a:t>
            </a:r>
            <a:endParaRPr lang="en-US" sz="1400" dirty="0"/>
          </a:p>
        </p:txBody>
      </p:sp>
      <p:sp>
        <p:nvSpPr>
          <p:cNvPr id="15" name="Text 13"/>
          <p:cNvSpPr/>
          <p:nvPr/>
        </p:nvSpPr>
        <p:spPr>
          <a:xfrm>
            <a:off x="1341120" y="4023360"/>
            <a:ext cx="9997440" cy="67056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Dry deserts and mesas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14400"/>
            <a:ext cx="2438400" cy="426720"/>
          </a:xfrm>
          <a:prstGeom prst="rect">
            <a:avLst/>
          </a:prstGeom>
          <a:noFill/>
          <a:ln/>
        </p:spPr>
        <p:txBody>
          <a:bodyPr wrap="square" lIns="0" tIns="0" rIns="0" bIns="0" rtlCol="0" anchor="ctr"/>
          <a:lstStyle/>
          <a:p>
            <a:pPr indent="0" marL="0">
              <a:buNone/>
            </a:pPr>
            <a:r>
              <a:rPr lang="en-US" sz="1400" b="1" dirty="0">
                <a:solidFill>
                  <a:srgbClr val="1A8A7D"/>
                </a:solidFill>
                <a:latin typeface="Calibri" pitchFamily="34" charset="0"/>
                <a:ea typeface="Calibri" pitchFamily="34" charset="-122"/>
                <a:cs typeface="Calibri" pitchFamily="34" charset="-120"/>
              </a:rPr>
              <a:t>Question 3</a:t>
            </a:r>
            <a:endParaRPr lang="en-US" sz="1400" dirty="0"/>
          </a:p>
        </p:txBody>
      </p:sp>
      <p:sp>
        <p:nvSpPr>
          <p:cNvPr id="6" name="Text 4"/>
          <p:cNvSpPr/>
          <p:nvPr/>
        </p:nvSpPr>
        <p:spPr>
          <a:xfrm>
            <a:off x="609600" y="1402080"/>
            <a:ext cx="10972800" cy="609600"/>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Why is courtesy important when we listen to stories from different regions?</a:t>
            </a:r>
            <a:endParaRPr lang="en-US" sz="1600" dirty="0"/>
          </a:p>
        </p:txBody>
      </p:sp>
      <p:sp>
        <p:nvSpPr>
          <p:cNvPr id="7" name="Shape 5"/>
          <p:cNvSpPr/>
          <p:nvPr/>
        </p:nvSpPr>
        <p:spPr>
          <a:xfrm>
            <a:off x="609600" y="2316480"/>
            <a:ext cx="10972800" cy="670560"/>
          </a:xfrm>
          <a:prstGeom prst="roundRect">
            <a:avLst>
              <a:gd name="adj" fmla="val 10909"/>
            </a:avLst>
          </a:prstGeom>
          <a:solidFill>
            <a:srgbClr val="E3F8ED"/>
          </a:solidFill>
          <a:ln w="19050">
            <a:solidFill>
              <a:srgbClr val="34B76F"/>
            </a:solidFill>
            <a:prstDash val="solid"/>
          </a:ln>
        </p:spPr>
      </p:sp>
      <p:sp>
        <p:nvSpPr>
          <p:cNvPr id="8" name="Text 6"/>
          <p:cNvSpPr/>
          <p:nvPr/>
        </p:nvSpPr>
        <p:spPr>
          <a:xfrm>
            <a:off x="731520" y="2316480"/>
            <a:ext cx="548640" cy="670560"/>
          </a:xfrm>
          <a:prstGeom prst="rect">
            <a:avLst/>
          </a:prstGeom>
          <a:noFill/>
          <a:ln/>
        </p:spPr>
        <p:txBody>
          <a:bodyPr wrap="square" lIns="0" tIns="0" rIns="0" bIns="0" rtlCol="0" anchor="ctr"/>
          <a:lstStyle/>
          <a:p>
            <a:pPr algn="ctr" indent="0" marL="0">
              <a:buNone/>
            </a:pPr>
            <a:r>
              <a:rPr lang="en-US" sz="1400" b="1" dirty="0">
                <a:solidFill>
                  <a:srgbClr val="34B76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341120" y="2316480"/>
            <a:ext cx="9997440" cy="67056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Stories belong to real people who created and shared them</a:t>
            </a:r>
            <a:endParaRPr lang="en-US" sz="1300" dirty="0"/>
          </a:p>
        </p:txBody>
      </p:sp>
      <p:sp>
        <p:nvSpPr>
          <p:cNvPr id="10" name="Shape 8"/>
          <p:cNvSpPr/>
          <p:nvPr/>
        </p:nvSpPr>
        <p:spPr>
          <a:xfrm>
            <a:off x="609600" y="3169920"/>
            <a:ext cx="10972800" cy="670560"/>
          </a:xfrm>
          <a:prstGeom prst="roundRect">
            <a:avLst>
              <a:gd name="adj" fmla="val 10909"/>
            </a:avLst>
          </a:prstGeom>
          <a:solidFill>
            <a:srgbClr val="FFFFFF"/>
          </a:solidFill>
          <a:ln w="19050">
            <a:solidFill>
              <a:srgbClr val="D0D5E0"/>
            </a:solidFill>
            <a:prstDash val="solid"/>
          </a:ln>
        </p:spPr>
      </p:sp>
      <p:sp>
        <p:nvSpPr>
          <p:cNvPr id="11" name="Text 9"/>
          <p:cNvSpPr/>
          <p:nvPr/>
        </p:nvSpPr>
        <p:spPr>
          <a:xfrm>
            <a:off x="731520" y="3169920"/>
            <a:ext cx="548640" cy="67056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B</a:t>
            </a:r>
            <a:endParaRPr lang="en-US" sz="1400" dirty="0"/>
          </a:p>
        </p:txBody>
      </p:sp>
      <p:sp>
        <p:nvSpPr>
          <p:cNvPr id="12" name="Text 10"/>
          <p:cNvSpPr/>
          <p:nvPr/>
        </p:nvSpPr>
        <p:spPr>
          <a:xfrm>
            <a:off x="1341120" y="3169920"/>
            <a:ext cx="9997440" cy="67056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Stories are always exactly true and never change</a:t>
            </a:r>
            <a:endParaRPr lang="en-US" sz="1300" dirty="0"/>
          </a:p>
        </p:txBody>
      </p:sp>
      <p:sp>
        <p:nvSpPr>
          <p:cNvPr id="13" name="Shape 11"/>
          <p:cNvSpPr/>
          <p:nvPr/>
        </p:nvSpPr>
        <p:spPr>
          <a:xfrm>
            <a:off x="609600" y="4023360"/>
            <a:ext cx="10972800" cy="670560"/>
          </a:xfrm>
          <a:prstGeom prst="roundRect">
            <a:avLst>
              <a:gd name="adj" fmla="val 10909"/>
            </a:avLst>
          </a:prstGeom>
          <a:solidFill>
            <a:srgbClr val="FFFFFF"/>
          </a:solidFill>
          <a:ln w="19050">
            <a:solidFill>
              <a:srgbClr val="D0D5E0"/>
            </a:solidFill>
            <a:prstDash val="solid"/>
          </a:ln>
        </p:spPr>
      </p:sp>
      <p:sp>
        <p:nvSpPr>
          <p:cNvPr id="14" name="Text 12"/>
          <p:cNvSpPr/>
          <p:nvPr/>
        </p:nvSpPr>
        <p:spPr>
          <a:xfrm>
            <a:off x="731520" y="4023360"/>
            <a:ext cx="548640" cy="670560"/>
          </a:xfrm>
          <a:prstGeom prst="rect">
            <a:avLst/>
          </a:prstGeom>
          <a:noFill/>
          <a:ln/>
        </p:spPr>
        <p:txBody>
          <a:bodyPr wrap="square" lIns="0" tIns="0" rIns="0" bIns="0"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C</a:t>
            </a:r>
            <a:endParaRPr lang="en-US" sz="1400" dirty="0"/>
          </a:p>
        </p:txBody>
      </p:sp>
      <p:sp>
        <p:nvSpPr>
          <p:cNvPr id="15" name="Text 13"/>
          <p:cNvSpPr/>
          <p:nvPr/>
        </p:nvSpPr>
        <p:spPr>
          <a:xfrm>
            <a:off x="1341120" y="4023360"/>
            <a:ext cx="9997440" cy="67056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We need to be quiet so the teacher can talk</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ASSIGNMENT</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14400"/>
            <a:ext cx="10972800" cy="54864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Evidence Questions</a:t>
            </a:r>
            <a:endParaRPr lang="en-US" sz="1800" dirty="0"/>
          </a:p>
        </p:txBody>
      </p:sp>
      <p:sp>
        <p:nvSpPr>
          <p:cNvPr id="6" name="Shape 4"/>
          <p:cNvSpPr/>
          <p:nvPr/>
        </p:nvSpPr>
        <p:spPr>
          <a:xfrm>
            <a:off x="609600" y="1584960"/>
            <a:ext cx="10972800" cy="792480"/>
          </a:xfrm>
          <a:prstGeom prst="roundRect">
            <a:avLst>
              <a:gd name="adj" fmla="val 9231"/>
            </a:avLst>
          </a:prstGeom>
          <a:solidFill>
            <a:srgbClr val="FFFFFF"/>
          </a:solidFill>
          <a:ln w="12700">
            <a:solidFill>
              <a:srgbClr val="55C8E8"/>
            </a:solidFill>
            <a:prstDash val="solid"/>
          </a:ln>
        </p:spPr>
      </p:sp>
      <p:sp>
        <p:nvSpPr>
          <p:cNvPr id="7" name="Shape 5"/>
          <p:cNvSpPr/>
          <p:nvPr/>
        </p:nvSpPr>
        <p:spPr>
          <a:xfrm>
            <a:off x="609600" y="1584960"/>
            <a:ext cx="548640" cy="792480"/>
          </a:xfrm>
          <a:prstGeom prst="rect">
            <a:avLst/>
          </a:prstGeom>
          <a:solidFill>
            <a:srgbClr val="1A8A7D"/>
          </a:solidFill>
          <a:ln/>
        </p:spPr>
      </p:sp>
      <p:sp>
        <p:nvSpPr>
          <p:cNvPr id="8" name="Text 6"/>
          <p:cNvSpPr/>
          <p:nvPr/>
        </p:nvSpPr>
        <p:spPr>
          <a:xfrm>
            <a:off x="609600" y="1584960"/>
            <a:ext cx="548640" cy="792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341120" y="1584960"/>
            <a:ext cx="9997440" cy="792480"/>
          </a:xfrm>
          <a:prstGeom prst="rect">
            <a:avLst/>
          </a:prstGeom>
          <a:noFill/>
          <a:ln/>
        </p:spPr>
        <p:txBody>
          <a:bodyPr wrap="square" lIns="0" tIns="50800" rIns="5080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Pick one of the four stories (song, legend, poem, or news). Name the story, name the region it comes from, and explain one thing it tells you about that place.</a:t>
            </a:r>
            <a:endParaRPr lang="en-US" sz="1200" dirty="0"/>
          </a:p>
        </p:txBody>
      </p:sp>
      <p:sp>
        <p:nvSpPr>
          <p:cNvPr id="10" name="Shape 8"/>
          <p:cNvSpPr/>
          <p:nvPr/>
        </p:nvSpPr>
        <p:spPr>
          <a:xfrm>
            <a:off x="609600" y="2499360"/>
            <a:ext cx="10972800" cy="792480"/>
          </a:xfrm>
          <a:prstGeom prst="roundRect">
            <a:avLst>
              <a:gd name="adj" fmla="val 9231"/>
            </a:avLst>
          </a:prstGeom>
          <a:solidFill>
            <a:srgbClr val="FFFFFF"/>
          </a:solidFill>
          <a:ln w="12700">
            <a:solidFill>
              <a:srgbClr val="55C8E8"/>
            </a:solidFill>
            <a:prstDash val="solid"/>
          </a:ln>
        </p:spPr>
      </p:sp>
      <p:sp>
        <p:nvSpPr>
          <p:cNvPr id="11" name="Shape 9"/>
          <p:cNvSpPr/>
          <p:nvPr/>
        </p:nvSpPr>
        <p:spPr>
          <a:xfrm>
            <a:off x="609600" y="2499360"/>
            <a:ext cx="548640" cy="792480"/>
          </a:xfrm>
          <a:prstGeom prst="rect">
            <a:avLst/>
          </a:prstGeom>
          <a:solidFill>
            <a:srgbClr val="1A8A7D"/>
          </a:solidFill>
          <a:ln/>
        </p:spPr>
      </p:sp>
      <p:sp>
        <p:nvSpPr>
          <p:cNvPr id="12" name="Text 10"/>
          <p:cNvSpPr/>
          <p:nvPr/>
        </p:nvSpPr>
        <p:spPr>
          <a:xfrm>
            <a:off x="609600" y="2499360"/>
            <a:ext cx="548640" cy="792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341120" y="2499360"/>
            <a:ext cx="9997440" cy="792480"/>
          </a:xfrm>
          <a:prstGeom prst="rect">
            <a:avLst/>
          </a:prstGeom>
          <a:noFill/>
          <a:ln/>
        </p:spPr>
        <p:txBody>
          <a:bodyPr wrap="square" lIns="0" tIns="50800" rIns="5080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What can a song, legend, poem, or news story tell us about a place that a map cannot? Use a detail from today's lesson.</a:t>
            </a:r>
            <a:endParaRPr lang="en-US" sz="1200" dirty="0"/>
          </a:p>
        </p:txBody>
      </p:sp>
      <p:sp>
        <p:nvSpPr>
          <p:cNvPr id="14" name="Shape 12"/>
          <p:cNvSpPr/>
          <p:nvPr/>
        </p:nvSpPr>
        <p:spPr>
          <a:xfrm>
            <a:off x="609600" y="3413760"/>
            <a:ext cx="10972800" cy="792480"/>
          </a:xfrm>
          <a:prstGeom prst="roundRect">
            <a:avLst>
              <a:gd name="adj" fmla="val 9231"/>
            </a:avLst>
          </a:prstGeom>
          <a:solidFill>
            <a:srgbClr val="FFFFFF"/>
          </a:solidFill>
          <a:ln w="12700">
            <a:solidFill>
              <a:srgbClr val="55C8E8"/>
            </a:solidFill>
            <a:prstDash val="solid"/>
          </a:ln>
        </p:spPr>
      </p:sp>
      <p:sp>
        <p:nvSpPr>
          <p:cNvPr id="15" name="Shape 13"/>
          <p:cNvSpPr/>
          <p:nvPr/>
        </p:nvSpPr>
        <p:spPr>
          <a:xfrm>
            <a:off x="609600" y="3413760"/>
            <a:ext cx="548640" cy="792480"/>
          </a:xfrm>
          <a:prstGeom prst="rect">
            <a:avLst/>
          </a:prstGeom>
          <a:solidFill>
            <a:srgbClr val="1A8A7D"/>
          </a:solidFill>
          <a:ln/>
        </p:spPr>
      </p:sp>
      <p:sp>
        <p:nvSpPr>
          <p:cNvPr id="16" name="Text 14"/>
          <p:cNvSpPr/>
          <p:nvPr/>
        </p:nvSpPr>
        <p:spPr>
          <a:xfrm>
            <a:off x="609600" y="3413760"/>
            <a:ext cx="548640" cy="792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41120" y="3413760"/>
            <a:ext cx="9997440" cy="792480"/>
          </a:xfrm>
          <a:prstGeom prst="rect">
            <a:avLst/>
          </a:prstGeom>
          <a:noFill/>
          <a:ln/>
        </p:spPr>
        <p:txBody>
          <a:bodyPr wrap="square" lIns="0" tIns="50800" rIns="5080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Why is courtesy important when we listen to stories from different regions? Use a detail from the lesson.</a:t>
            </a:r>
            <a:endParaRPr lang="en-US" sz="1200" dirty="0"/>
          </a:p>
        </p:txBody>
      </p:sp>
      <p:sp>
        <p:nvSpPr>
          <p:cNvPr id="18" name="Text 16"/>
          <p:cNvSpPr/>
          <p:nvPr/>
        </p:nvSpPr>
        <p:spPr>
          <a:xfrm>
            <a:off x="609600" y="4450080"/>
            <a:ext cx="10972800" cy="487680"/>
          </a:xfrm>
          <a:prstGeom prst="rect">
            <a:avLst/>
          </a:prstGeom>
          <a:noFill/>
          <a:ln/>
        </p:spPr>
        <p:txBody>
          <a:bodyPr wrap="square" lIns="0" tIns="0" rIns="0" bIns="0" rtlCol="0" anchor="ctr"/>
          <a:lstStyle/>
          <a:p>
            <a:pPr indent="0" marL="0">
              <a:buNone/>
            </a:pPr>
            <a:r>
              <a:rPr lang="en-US" sz="1600" b="1" dirty="0">
                <a:solidFill>
                  <a:srgbClr val="D4943A"/>
                </a:solidFill>
                <a:latin typeface="Cambria" pitchFamily="34" charset="0"/>
                <a:ea typeface="Cambria" pitchFamily="34" charset="-122"/>
                <a:cs typeface="Cambria" pitchFamily="34" charset="-120"/>
              </a:rPr>
              <a:t>Curator Task</a:t>
            </a:r>
            <a:endParaRPr lang="en-US" sz="1600" dirty="0"/>
          </a:p>
        </p:txBody>
      </p:sp>
      <p:sp>
        <p:nvSpPr>
          <p:cNvPr id="19" name="Shape 17"/>
          <p:cNvSpPr/>
          <p:nvPr/>
        </p:nvSpPr>
        <p:spPr>
          <a:xfrm>
            <a:off x="609600" y="4937760"/>
            <a:ext cx="10972800" cy="1341120"/>
          </a:xfrm>
          <a:prstGeom prst="roundRect">
            <a:avLst>
              <a:gd name="adj" fmla="val 6818"/>
            </a:avLst>
          </a:prstGeom>
          <a:solidFill>
            <a:srgbClr val="FFF3DC"/>
          </a:solidFill>
          <a:ln w="12700">
            <a:solidFill>
              <a:srgbClr val="D4943A"/>
            </a:solidFill>
            <a:prstDash val="solid"/>
          </a:ln>
        </p:spPr>
      </p:sp>
      <p:sp>
        <p:nvSpPr>
          <p:cNvPr id="20" name="Text 18"/>
          <p:cNvSpPr/>
          <p:nvPr/>
        </p:nvSpPr>
        <p:spPr>
          <a:xfrm>
            <a:off x="792480" y="5059680"/>
            <a:ext cx="10363200" cy="109728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Pick one of the four stories and write 3-4 sentences for the Listening Station sign. Tell visitors which region the story comes from, what it is about, and what it teaches about the place that a map alone could not. Use kind, careful words.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2191695" cy="731520"/>
          </a:xfrm>
          <a:prstGeom prst="rect">
            <a:avLst/>
          </a:prstGeom>
          <a:solidFill>
            <a:srgbClr val="0E1C42"/>
          </a:solidFill>
          <a:ln/>
        </p:spPr>
      </p:sp>
      <p:sp>
        <p:nvSpPr>
          <p:cNvPr id="3" name="Text 1"/>
          <p:cNvSpPr/>
          <p:nvPr/>
        </p:nvSpPr>
        <p:spPr>
          <a:xfrm>
            <a:off x="365760" y="97536"/>
            <a:ext cx="10972800" cy="536448"/>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CURATOR'S CHRONICLE</a:t>
            </a:r>
            <a:endParaRPr lang="en-US" sz="1200" dirty="0"/>
          </a:p>
        </p:txBody>
      </p:sp>
      <p:sp>
        <p:nvSpPr>
          <p:cNvPr id="4" name="Text 2"/>
          <p:cNvSpPr/>
          <p:nvPr/>
        </p:nvSpPr>
        <p:spPr>
          <a:xfrm>
            <a:off x="10363200" y="97536"/>
            <a:ext cx="1584960" cy="536448"/>
          </a:xfrm>
          <a:prstGeom prst="rect">
            <a:avLst/>
          </a:prstGeom>
          <a:noFill/>
          <a:ln/>
        </p:spPr>
        <p:txBody>
          <a:bodyPr wrap="square" lIns="0" tIns="0" rIns="0" bIns="0" rtlCol="0" anchor="ctr"/>
          <a:lstStyle/>
          <a:p>
            <a:pPr algn="r" indent="0" marL="0">
              <a:buNone/>
            </a:pPr>
            <a:r>
              <a:rPr lang="en-US" sz="1000" dirty="0">
                <a:solidFill>
                  <a:srgbClr val="7A88A8"/>
                </a:solidFill>
                <a:latin typeface="Calibri" pitchFamily="34" charset="0"/>
                <a:ea typeface="Calibri" pitchFamily="34" charset="-122"/>
                <a:cs typeface="Calibri" pitchFamily="34" charset="-120"/>
              </a:rPr>
              <a:t>3.07.07</a:t>
            </a:r>
            <a:endParaRPr lang="en-US" sz="1000" dirty="0"/>
          </a:p>
        </p:txBody>
      </p:sp>
      <p:sp>
        <p:nvSpPr>
          <p:cNvPr id="5" name="Text 3"/>
          <p:cNvSpPr/>
          <p:nvPr/>
        </p:nvSpPr>
        <p:spPr>
          <a:xfrm>
            <a:off x="609600" y="975360"/>
            <a:ext cx="10972800" cy="548640"/>
          </a:xfrm>
          <a:prstGeom prst="rect">
            <a:avLst/>
          </a:prstGeom>
          <a:noFill/>
          <a:ln/>
        </p:spPr>
        <p:txBody>
          <a:bodyPr wrap="square" lIns="0" tIns="0" rIns="0" bIns="0"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Reflect on Today's Exhibit</a:t>
            </a:r>
            <a:endParaRPr lang="en-US" sz="1800" dirty="0"/>
          </a:p>
        </p:txBody>
      </p:sp>
      <p:sp>
        <p:nvSpPr>
          <p:cNvPr id="6" name="Shape 4"/>
          <p:cNvSpPr/>
          <p:nvPr/>
        </p:nvSpPr>
        <p:spPr>
          <a:xfrm>
            <a:off x="7315200" y="914400"/>
            <a:ext cx="4267200" cy="2438400"/>
          </a:xfrm>
          <a:prstGeom prst="roundRect">
            <a:avLst>
              <a:gd name="adj" fmla="val 4500"/>
            </a:avLst>
          </a:prstGeom>
          <a:solidFill>
            <a:srgbClr val="E2E8F4"/>
          </a:solidFill>
          <a:ln w="19050">
            <a:solidFill>
              <a:srgbClr val="B0B8CC"/>
            </a:solidFill>
            <a:prstDash val="dash"/>
          </a:ln>
        </p:spPr>
      </p:sp>
      <p:sp>
        <p:nvSpPr>
          <p:cNvPr id="7" name="Text 5"/>
          <p:cNvSpPr/>
          <p:nvPr/>
        </p:nvSpPr>
        <p:spPr>
          <a:xfrm>
            <a:off x="7315200" y="914400"/>
            <a:ext cx="42672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7498080" y="1280160"/>
            <a:ext cx="3901440" cy="1981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Open notebook or journal page with pen — the Curator's Chronicle</a:t>
            </a:r>
            <a:endParaRPr lang="en-US" sz="1100" dirty="0"/>
          </a:p>
        </p:txBody>
      </p:sp>
      <p:sp>
        <p:nvSpPr>
          <p:cNvPr id="9" name="Shape 7"/>
          <p:cNvSpPr/>
          <p:nvPr/>
        </p:nvSpPr>
        <p:spPr>
          <a:xfrm>
            <a:off x="609600" y="1828800"/>
            <a:ext cx="6339840" cy="1463040"/>
          </a:xfrm>
          <a:prstGeom prst="roundRect">
            <a:avLst>
              <a:gd name="adj" fmla="val 7500"/>
            </a:avLst>
          </a:prstGeom>
          <a:solidFill>
            <a:srgbClr val="FFF8F0"/>
          </a:solidFill>
          <a:ln w="12700">
            <a:solidFill>
              <a:srgbClr val="D4943A"/>
            </a:solidFill>
            <a:prstDash val="solid"/>
          </a:ln>
        </p:spPr>
      </p:sp>
      <p:sp>
        <p:nvSpPr>
          <p:cNvPr id="10" name="Text 8"/>
          <p:cNvSpPr/>
          <p:nvPr/>
        </p:nvSpPr>
        <p:spPr>
          <a:xfrm>
            <a:off x="792480" y="1926336"/>
            <a:ext cx="585216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COMPLETE THE SENTENCE</a:t>
            </a:r>
            <a:endParaRPr lang="en-US" sz="900" dirty="0"/>
          </a:p>
        </p:txBody>
      </p:sp>
      <p:sp>
        <p:nvSpPr>
          <p:cNvPr id="11" name="Text 9"/>
          <p:cNvSpPr/>
          <p:nvPr/>
        </p:nvSpPr>
        <p:spPr>
          <a:xfrm>
            <a:off x="792480" y="2255520"/>
            <a:ext cx="5852160" cy="853440"/>
          </a:xfrm>
          <a:prstGeom prst="rect">
            <a:avLst/>
          </a:prstGeom>
          <a:noFill/>
          <a:ln/>
        </p:spPr>
        <p:txBody>
          <a:bodyPr wrap="square" lIns="0" tIns="0" rIns="0" bIns="0" rtlCol="0" anchor="t"/>
          <a:lstStyle/>
          <a:p>
            <a:pPr indent="0" marL="0">
              <a:buNone/>
            </a:pPr>
            <a:r>
              <a:rPr lang="en-US" sz="1500" i="1" dirty="0">
                <a:solidFill>
                  <a:srgbClr val="0E1C42"/>
                </a:solidFill>
                <a:latin typeface="Cambria" pitchFamily="34" charset="0"/>
                <a:ea typeface="Cambria" pitchFamily="34" charset="-122"/>
                <a:cs typeface="Cambria" pitchFamily="34" charset="-120"/>
              </a:rPr>
              <a:t>"In this exhibit, I learned that ______ because ______."</a:t>
            </a:r>
            <a:endParaRPr lang="en-US" sz="1500" dirty="0"/>
          </a:p>
        </p:txBody>
      </p:sp>
      <p:sp>
        <p:nvSpPr>
          <p:cNvPr id="12" name="Text 10"/>
          <p:cNvSpPr/>
          <p:nvPr/>
        </p:nvSpPr>
        <p:spPr>
          <a:xfrm>
            <a:off x="609600" y="3657600"/>
            <a:ext cx="10972800" cy="97536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Example: "In this exhibit, I learned that stories help us understand how people feel about their region because the song 'Home on the Range' made me picture the wide, free plains of Kansas."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219200"/>
            <a:ext cx="10241280" cy="609600"/>
          </a:xfrm>
          <a:prstGeom prst="rect">
            <a:avLst/>
          </a:prstGeom>
          <a:noFill/>
          <a:ln/>
        </p:spPr>
        <p:txBody>
          <a:bodyPr wrap="square" lIns="0" tIns="0" rIns="0" bIns="0" rtlCol="0" anchor="ctr"/>
          <a:lstStyle/>
          <a:p>
            <a:pPr indent="0" marL="0">
              <a:buNone/>
            </a:pPr>
            <a:r>
              <a:rPr lang="en-US" sz="1100" b="1" spc="200" kern="0" dirty="0">
                <a:solidFill>
                  <a:srgbClr val="55C8E8"/>
                </a:solidFill>
                <a:latin typeface="Calibri" pitchFamily="34" charset="0"/>
                <a:ea typeface="Calibri" pitchFamily="34" charset="-122"/>
                <a:cs typeface="Calibri" pitchFamily="34" charset="-120"/>
              </a:rPr>
              <a:t>LISTENING STATION COMPLETE</a:t>
            </a:r>
            <a:endParaRPr lang="en-US" sz="1100" dirty="0"/>
          </a:p>
        </p:txBody>
      </p:sp>
      <p:sp>
        <p:nvSpPr>
          <p:cNvPr id="6" name="Text 3"/>
          <p:cNvSpPr/>
          <p:nvPr/>
        </p:nvSpPr>
        <p:spPr>
          <a:xfrm>
            <a:off x="975360" y="1950720"/>
            <a:ext cx="9753600" cy="1219200"/>
          </a:xfrm>
          <a:prstGeom prst="rect">
            <a:avLst/>
          </a:prstGeom>
          <a:noFill/>
          <a:ln/>
        </p:spPr>
        <p:txBody>
          <a:bodyPr wrap="square" lIns="0" tIns="0" rIns="0" bIns="0" rtlCol="0" anchor="ctr"/>
          <a:lstStyle/>
          <a:p>
            <a:pPr indent="0" marL="0">
              <a:buNone/>
            </a:pPr>
            <a:r>
              <a:rPr lang="en-US" sz="2800" b="1" dirty="0">
                <a:solidFill>
                  <a:srgbClr val="D4943A"/>
                </a:solidFill>
                <a:latin typeface="Cambria" pitchFamily="34" charset="0"/>
                <a:ea typeface="Cambria" pitchFamily="34" charset="-122"/>
                <a:cs typeface="Cambria" pitchFamily="34" charset="-120"/>
              </a:rPr>
              <a:t>Maps Show Where.</a:t>
            </a:r>
            <a:endParaRPr lang="en-US" sz="2800" dirty="0"/>
          </a:p>
          <a:p>
            <a:pPr indent="0" marL="0">
              <a:buNone/>
            </a:pPr>
            <a:r>
              <a:rPr lang="en-US" sz="2800" b="1" dirty="0">
                <a:solidFill>
                  <a:srgbClr val="D4943A"/>
                </a:solidFill>
                <a:latin typeface="Cambria" pitchFamily="34" charset="0"/>
                <a:ea typeface="Cambria" pitchFamily="34" charset="-122"/>
                <a:cs typeface="Cambria" pitchFamily="34" charset="-120"/>
              </a:rPr>
              <a:t>Stories Show Why.</a:t>
            </a:r>
            <a:endParaRPr lang="en-US" sz="2800" dirty="0"/>
          </a:p>
        </p:txBody>
      </p:sp>
      <p:sp>
        <p:nvSpPr>
          <p:cNvPr id="7" name="Shape 4"/>
          <p:cNvSpPr/>
          <p:nvPr/>
        </p:nvSpPr>
        <p:spPr>
          <a:xfrm>
            <a:off x="975360" y="3291840"/>
            <a:ext cx="2438400" cy="48768"/>
          </a:xfrm>
          <a:prstGeom prst="rect">
            <a:avLst/>
          </a:prstGeom>
          <a:solidFill>
            <a:srgbClr val="D4943A"/>
          </a:solidFill>
          <a:ln/>
        </p:spPr>
      </p:sp>
      <p:sp>
        <p:nvSpPr>
          <p:cNvPr id="8" name="Text 5"/>
          <p:cNvSpPr/>
          <p:nvPr/>
        </p:nvSpPr>
        <p:spPr>
          <a:xfrm>
            <a:off x="975360" y="3596640"/>
            <a:ext cx="9753600" cy="8534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Today we learned that songs, legends, poems, and news reports help us</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understand how people feel about the places where they live.</a:t>
            </a:r>
            <a:endParaRPr lang="en-US" sz="1400" dirty="0"/>
          </a:p>
        </p:txBody>
      </p:sp>
      <p:sp>
        <p:nvSpPr>
          <p:cNvPr id="9" name="Text 6"/>
          <p:cNvSpPr/>
          <p:nvPr/>
        </p:nvSpPr>
        <p:spPr>
          <a:xfrm>
            <a:off x="975360" y="4754880"/>
            <a:ext cx="9753600" cy="42672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Coming Next: 3.07.08 — Contributions Wall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3.07.07 Perceiving Places Through Songs, Legends, Poems, and News</dc:title>
  <dc:subject>PptxGenJS Presentation</dc:subject>
  <dc:creator>Optima Academy Online</dc:creator>
  <cp:lastModifiedBy>Optima Academy Online</cp:lastModifiedBy>
  <cp:revision>1</cp:revision>
  <dcterms:created xsi:type="dcterms:W3CDTF">2026-07-11T13:29:59Z</dcterms:created>
  <dcterms:modified xsi:type="dcterms:W3CDTF">2026-07-11T13:29:59Z</dcterms:modified>
</cp:coreProperties>
</file>