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dramatic ocean scene with a historic sailing ship — a caravel under full sail on open water. Search: Wikimedia Commons 'caravel sailing ship', Smithsonian Open Access (si.edu), or Library of Congress digital collection.
Welcome students back to the Exploration Wing. Say: 'Last time you met famous explorers. Today's question is bigger — how did maps, ships, and science all work together to make those voyages possible?' Read the Curator's Question. Tell them the ship-and-science display is missing its explanation panel — that is their job today.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about 1 minute here. Point to each objective. Emphasize the path at the bottom — 'We will put all three pieces together before we write.' Do not explain anything yet. Build the mystery.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is one word you think of when you hear courage?' Take 2-3 responses. Then read the virtue text. Say: 'Today you will see that the most courageous sailors were also the most prepared. Knowledge and courage worked together.'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20 seconds of SILENT looking. Say: 'Do not say anything yet. Just look.' Then open the chat frame. Take 4-5 responses. Do NOT name the ships yet. Do NOT explain. Just ask: 'What did you notice first? What makes you say that?' Save the names for the reveal slide.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question before the reveal. Let students argue. If they say 'Ship A is faster,' ask: 'How can you tell just from looking?' If they say 'Ship B for Mission 2,' ask: 'What makes you think it holds more?' The goal is that students understand the tradeoff BEFORE you name the ships.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'You already figured out what made these ships different — now you have names for what you noticed.' Read the labels. Emphasize the caravel's ability to sail into the wind — that was genuinely revolutionary. Ask: 'So which ship would you choose for each mission?' Confirm their earlier reasoning was correct.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knowledge check — take 2-3 responses. Reveal the answer panels. Say: 'The ship choice was a strategy, not just a preference. Every decision in exploration had a reason.' Transition: 'But ships alone could not get you anywhere. You also needed to know WHERE you were going...' 1-2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30 seconds of SILENT looking. No hints, no names. Then open the chat frame. Collect 4-5 responses. Push for specifics: 'What do the lines make you think of? What kind of document does this look like?' Students should notice the coastlines, the radiating lines, the parchment appearance — before you name it.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the three Curator Questions as a class. Do not rush. For 'What does it mean?' push back if students give vague answers: 'Where on the chart would you look to find your route?' For 'Why does it matter?' accept partial answers — they will get the full picture on the next slide. 3-4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'You named almost everything on that chart before I told you what it was. That is what expert curators do.' Give the word origin. Ask: 'Why would it matter that charts got more accurate with each voyage? Who benefited from that?' Bridge: 'But even the best chart in 1492 could not help you if you did not know how to use the wind and ocean.'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stayed the same between then and now? What changed?' Bridge to next concept: 'Even the best chart in 1492 could not help you if you did not know how to use the wind and ocean — those were invisible forces.'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20 seconds of silent looking. Help them see the patterns. Ask: 'Do the arrows go in random directions or do they form patterns?' Students might say wind, waves, currents — all good guesses. Do not correct yet. Push: 'What would it feel like to be a sailor trying to figure this out without seeing the ocean from space?'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'You saw those arrows as patterns — that is exactly what sailors learned to recognize over decades of sailing.' Ask: 'Why would it take a long time for sailors to figure out these patterns?' Bridge: 'Now we have all three pieces. Let us see how they fit together.'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synthesis slide. Ask the Socratic questions. If students say 'you'd be lost without maps,' push: 'But what if you had a perfect map and a ship that could not sail against the wind?' Help them see it was a system — each piece depended on the others. This is exactly what Evidence Question 3 will ask them to explain.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exhibit label aloud. Say: 'This is what the display panel will say — but your version needs specific details.' Ask: 'Which of the three pieces would YOU say is most important? Be ready to defend your answer.' Take 2-3 responses. 1-2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cover their screens or close their eyes. Give 20 seconds of silent thinking — not writing. Then have them type what they remembered in chat. Reveal the answers. Ask the Socratic questions. 'Hardest to remember' surfaces misconceptions before the assignment.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 am going to think out loud so you can see how I go from question to answer.' Read each step aloud. Show you are using the lesson, not making things up. After reading the model answer, ask: 'What made this a strong answer? What two things did it include?' Students should notice: (1) the specific feature, (2) the explanation of why it mattered.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thinking slide in the deck. The caravel/carrack confusion is the most common mistake — students mix up 'best ship' with 'biggest ship.' Let them argue. Ask: 'What is the question really asking? It says WHY it was important — that is about what made it USEFUL, not what made it big.' This protects their Evidence Q1 answers.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work on Evidence Question 2 in their Curator's Notebooks for 90 seconds. Then discuss the Tricky One as a class. This sharpens critical thinking and prepares them for the full assignment. 3-4 minutes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all three evidence questions aloud. Remind students that Question 3 asks them to connect ALL THREE pieces — ships, maps, AND science. Say: 'Your panel should help a museum visitor understand the whole system in 3-5 sentences. Write for someone who has never heard of caravels or portolan charts.' Students work in the Canvas lesson page to complete. 3-5 minutes writing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30 seconds to write their Chronicle sentence in their Curator's Notebooks. Share 2-3 responses. Take the Socratic questions — 'What changed in your thinking?' surfaces whether students moved from 'exploration = brave people' to 'exploration = a system.'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completed ship-and-science museum display — a model caravel, old map or portolan chart, and compass on a display table in warm museum lighting. Alternatively: dramatic view of the open ocean from a ship's deck at golden hour. Search: Smithsonian Open Access (si.edu), Wikimedia Commons 'sailing ship museum display'.
Celebrate: 'You built the ship-and-science display panel. Now visitors understand how caravels, portolan charts, and trade winds all worked together.' Tease next lesson: 'Next time, we look at something harder — the consequences of exploration. Not everything that happened after those voyages was good, and the exhibit needs to be honest about that.' End on curiosity, not closure. Under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0" y="1371600"/>
            <a:ext cx="164592" cy="2194560"/>
          </a:xfrm>
          <a:prstGeom prst="rect">
            <a:avLst/>
          </a:prstGeom>
          <a:solidFill>
            <a:srgbClr val="D4943A"/>
          </a:solidFill>
          <a:ln/>
        </p:spPr>
      </p:sp>
      <p:sp>
        <p:nvSpPr>
          <p:cNvPr id="5" name="Shape 3"/>
          <p:cNvSpPr/>
          <p:nvPr/>
        </p:nvSpPr>
        <p:spPr>
          <a:xfrm>
            <a:off x="457200" y="274320"/>
            <a:ext cx="3200400" cy="365760"/>
          </a:xfrm>
          <a:prstGeom prst="roundRect">
            <a:avLst>
              <a:gd name="adj" fmla="val 45000"/>
            </a:avLst>
          </a:prstGeom>
          <a:solidFill>
            <a:srgbClr val="1A8A7D"/>
          </a:solidFill>
          <a:ln/>
        </p:spPr>
      </p:sp>
      <p:sp>
        <p:nvSpPr>
          <p:cNvPr id="6" name="Text 4"/>
          <p:cNvSpPr/>
          <p:nvPr/>
        </p:nvSpPr>
        <p:spPr>
          <a:xfrm>
            <a:off x="457200" y="274320"/>
            <a:ext cx="320040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Exploration Wing  |  Curator Training Hall</a:t>
            </a:r>
            <a:endParaRPr lang="en-US" sz="1000" dirty="0"/>
          </a:p>
        </p:txBody>
      </p:sp>
      <p:sp>
        <p:nvSpPr>
          <p:cNvPr id="7" name="Text 5"/>
          <p:cNvSpPr/>
          <p:nvPr/>
        </p:nvSpPr>
        <p:spPr>
          <a:xfrm>
            <a:off x="457200" y="1371600"/>
            <a:ext cx="8229600" cy="749808"/>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Maps, Ships, and the</a:t>
            </a:r>
            <a:endParaRPr lang="en-US" sz="4000" dirty="0"/>
          </a:p>
        </p:txBody>
      </p:sp>
      <p:sp>
        <p:nvSpPr>
          <p:cNvPr id="8" name="Text 6"/>
          <p:cNvSpPr/>
          <p:nvPr/>
        </p:nvSpPr>
        <p:spPr>
          <a:xfrm>
            <a:off x="457200" y="2084832"/>
            <a:ext cx="8229600" cy="749808"/>
          </a:xfrm>
          <a:prstGeom prst="rect">
            <a:avLst/>
          </a:prstGeom>
          <a:noFill/>
          <a:ln/>
        </p:spPr>
        <p:txBody>
          <a:bodyPr wrap="square" lIns="0" tIns="0" rIns="0" bIns="0" rtlCol="0" anchor="ctr"/>
          <a:lstStyle/>
          <a:p>
            <a:pPr algn="l" indent="0" marL="0">
              <a:buNone/>
            </a:pPr>
            <a:r>
              <a:rPr lang="en-US" sz="4000" b="1" dirty="0">
                <a:solidFill>
                  <a:srgbClr val="D4943A"/>
                </a:solidFill>
                <a:latin typeface="Cambria" pitchFamily="34" charset="0"/>
                <a:ea typeface="Cambria" pitchFamily="34" charset="-122"/>
                <a:cs typeface="Cambria" pitchFamily="34" charset="-120"/>
              </a:rPr>
              <a:t>Science of Travel</a:t>
            </a:r>
            <a:endParaRPr lang="en-US" sz="4000" dirty="0"/>
          </a:p>
        </p:txBody>
      </p:sp>
      <p:sp>
        <p:nvSpPr>
          <p:cNvPr id="9" name="Text 7"/>
          <p:cNvSpPr/>
          <p:nvPr/>
        </p:nvSpPr>
        <p:spPr>
          <a:xfrm>
            <a:off x="457200" y="2926080"/>
            <a:ext cx="8229600" cy="320040"/>
          </a:xfrm>
          <a:prstGeom prst="rect">
            <a:avLst/>
          </a:prstGeom>
          <a:noFill/>
          <a:ln/>
        </p:spPr>
        <p:txBody>
          <a:bodyPr wrap="square" lIns="0" tIns="0" rIns="0" bIns="0" rtlCol="0" anchor="ctr"/>
          <a:lstStyle/>
          <a:p>
            <a:pPr algn="l" indent="0" marL="0">
              <a:buNone/>
            </a:pPr>
            <a:r>
              <a:rPr lang="en-US" sz="1200" dirty="0">
                <a:solidFill>
                  <a:srgbClr val="55C8E8"/>
                </a:solidFill>
                <a:latin typeface="Calibri" pitchFamily="34" charset="0"/>
                <a:ea typeface="Calibri" pitchFamily="34" charset="-122"/>
                <a:cs typeface="Calibri" pitchFamily="34" charset="-120"/>
              </a:rPr>
              <a:t>Lesson 3.02.04  |  Age of Exploration  |  Week 5  |  Grade 3 Museum</a:t>
            </a:r>
            <a:endParaRPr lang="en-US" sz="1200" dirty="0"/>
          </a:p>
        </p:txBody>
      </p:sp>
      <p:sp>
        <p:nvSpPr>
          <p:cNvPr id="10" name="Shape 8"/>
          <p:cNvSpPr/>
          <p:nvPr/>
        </p:nvSpPr>
        <p:spPr>
          <a:xfrm>
            <a:off x="457200" y="3364992"/>
            <a:ext cx="8229600" cy="1005840"/>
          </a:xfrm>
          <a:prstGeom prst="roundRect">
            <a:avLst>
              <a:gd name="adj" fmla="val 10909"/>
            </a:avLst>
          </a:prstGeom>
          <a:solidFill>
            <a:srgbClr val="112255"/>
          </a:solidFill>
          <a:ln/>
        </p:spPr>
      </p:sp>
      <p:sp>
        <p:nvSpPr>
          <p:cNvPr id="11" name="Text 9"/>
          <p:cNvSpPr/>
          <p:nvPr/>
        </p:nvSpPr>
        <p:spPr>
          <a:xfrm>
            <a:off x="640080" y="3429000"/>
            <a:ext cx="3200400" cy="228600"/>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CURATOR'S QUESTION</a:t>
            </a:r>
            <a:endParaRPr lang="en-US" sz="900" dirty="0"/>
          </a:p>
        </p:txBody>
      </p:sp>
      <p:sp>
        <p:nvSpPr>
          <p:cNvPr id="12" name="Text 10"/>
          <p:cNvSpPr/>
          <p:nvPr/>
        </p:nvSpPr>
        <p:spPr>
          <a:xfrm>
            <a:off x="640080" y="3657600"/>
            <a:ext cx="7772400" cy="594360"/>
          </a:xfrm>
          <a:prstGeom prst="rect">
            <a:avLst/>
          </a:prstGeom>
          <a:noFill/>
          <a:ln/>
        </p:spPr>
        <p:txBody>
          <a:bodyPr wrap="square" lIns="0" tIns="0" rIns="0" bIns="0" rtlCol="0" anchor="t"/>
          <a:lstStyle/>
          <a:p>
            <a:pPr indent="0" marL="0">
              <a:buNone/>
            </a:pPr>
            <a:r>
              <a:rPr lang="en-US" sz="1400" i="1" dirty="0">
                <a:solidFill>
                  <a:srgbClr val="FFFFFF"/>
                </a:solidFill>
                <a:latin typeface="Cambria" pitchFamily="34" charset="0"/>
                <a:ea typeface="Cambria" pitchFamily="34" charset="-122"/>
                <a:cs typeface="Cambria" pitchFamily="34" charset="-120"/>
              </a:rPr>
              <a:t>How did maps, ships, and the science of wind and currents work together to make exploration possible?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E1C42"/>
          </a:solidFill>
          <a:ln/>
        </p:spPr>
      </p:sp>
      <p:sp>
        <p:nvSpPr>
          <p:cNvPr id="3" name="Text 1"/>
          <p:cNvSpPr/>
          <p:nvPr/>
        </p:nvSpPr>
        <p:spPr>
          <a:xfrm>
            <a:off x="365760" y="0"/>
            <a:ext cx="8412480" cy="621792"/>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EXPLORATION WING  |  LESSON 3.02.04</a:t>
            </a:r>
            <a:endParaRPr lang="en-US" sz="1100" dirty="0"/>
          </a:p>
        </p:txBody>
      </p:sp>
      <p:sp>
        <p:nvSpPr>
          <p:cNvPr id="4" name="Text 2"/>
          <p:cNvSpPr/>
          <p:nvPr/>
        </p:nvSpPr>
        <p:spPr>
          <a:xfrm>
            <a:off x="365760" y="749808"/>
            <a:ext cx="8412480" cy="59436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The Ship-and-Science Display Needs You</a:t>
            </a:r>
            <a:endParaRPr lang="en-US" sz="2600" dirty="0"/>
          </a:p>
        </p:txBody>
      </p:sp>
      <p:sp>
        <p:nvSpPr>
          <p:cNvPr id="5" name="Shape 3"/>
          <p:cNvSpPr/>
          <p:nvPr/>
        </p:nvSpPr>
        <p:spPr>
          <a:xfrm>
            <a:off x="365760" y="1444752"/>
            <a:ext cx="3840480" cy="2286000"/>
          </a:xfrm>
          <a:prstGeom prst="roundRect">
            <a:avLst>
              <a:gd name="adj" fmla="val 4800"/>
            </a:avLst>
          </a:prstGeom>
          <a:solidFill>
            <a:srgbClr val="F0F2F8"/>
          </a:solidFill>
          <a:ln w="19050">
            <a:solidFill>
              <a:srgbClr val="D0D8E8"/>
            </a:solidFill>
            <a:prstDash val="solid"/>
          </a:ln>
        </p:spPr>
      </p:sp>
      <p:sp>
        <p:nvSpPr>
          <p:cNvPr id="6" name="Text 4"/>
          <p:cNvSpPr/>
          <p:nvPr/>
        </p:nvSpPr>
        <p:spPr>
          <a:xfrm>
            <a:off x="548640" y="1536192"/>
            <a:ext cx="3474720" cy="2560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YOUR ROLE TODAY</a:t>
            </a:r>
            <a:endParaRPr lang="en-US" sz="900" dirty="0"/>
          </a:p>
        </p:txBody>
      </p:sp>
      <p:sp>
        <p:nvSpPr>
          <p:cNvPr id="7" name="Text 5"/>
          <p:cNvSpPr/>
          <p:nvPr/>
        </p:nvSpPr>
        <p:spPr>
          <a:xfrm>
            <a:off x="548640" y="1810512"/>
            <a:ext cx="3474720" cy="182880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You are a Route Curator.</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The ship-and-science display in the Exploration Wing is missing its panel. Visitors see a model caravel and old maps, but nobody has explained how maps, ships, and science worked together.</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That explanation? That is your job.</a:t>
            </a:r>
            <a:endParaRPr lang="en-US" sz="1200" dirty="0"/>
          </a:p>
        </p:txBody>
      </p:sp>
      <p:sp>
        <p:nvSpPr>
          <p:cNvPr id="8" name="Shape 6"/>
          <p:cNvSpPr/>
          <p:nvPr/>
        </p:nvSpPr>
        <p:spPr>
          <a:xfrm>
            <a:off x="4389120" y="1444752"/>
            <a:ext cx="4297680" cy="2286000"/>
          </a:xfrm>
          <a:prstGeom prst="roundRect">
            <a:avLst>
              <a:gd name="adj" fmla="val 4800"/>
            </a:avLst>
          </a:prstGeom>
          <a:solidFill>
            <a:srgbClr val="EAF8FD"/>
          </a:solidFill>
          <a:ln w="19050">
            <a:solidFill>
              <a:srgbClr val="B8DFF0"/>
            </a:solidFill>
            <a:prstDash val="solid"/>
          </a:ln>
        </p:spPr>
      </p:sp>
      <p:sp>
        <p:nvSpPr>
          <p:cNvPr id="9" name="Text 7"/>
          <p:cNvSpPr/>
          <p:nvPr/>
        </p:nvSpPr>
        <p:spPr>
          <a:xfrm>
            <a:off x="4572000" y="1536192"/>
            <a:ext cx="3931920" cy="2560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WHAT YOU WILL LEARN TODAY</a:t>
            </a:r>
            <a:endParaRPr lang="en-US" sz="900" dirty="0"/>
          </a:p>
        </p:txBody>
      </p:sp>
      <p:sp>
        <p:nvSpPr>
          <p:cNvPr id="10" name="Text 8"/>
          <p:cNvSpPr/>
          <p:nvPr/>
        </p:nvSpPr>
        <p:spPr>
          <a:xfrm>
            <a:off x="4572000" y="1810512"/>
            <a:ext cx="3931920" cy="182880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200" dirty="0">
                <a:solidFill>
                  <a:srgbClr val="0E1C42"/>
                </a:solidFill>
                <a:latin typeface="Calibri" pitchFamily="34" charset="0"/>
                <a:ea typeface="Calibri" pitchFamily="34" charset="-122"/>
                <a:cs typeface="Calibri" pitchFamily="34" charset="-120"/>
              </a:rPr>
              <a:t>Describe how ships were built for ocean voyages</a:t>
            </a:r>
            <a:endParaRPr lang="en-US" sz="1200" dirty="0"/>
          </a:p>
          <a:p>
            <a:pPr marL="342900" indent="-342900">
              <a:spcAft>
                <a:spcPts val="1000"/>
              </a:spcAft>
              <a:buSzPct val="100000"/>
              <a:buFont typeface="+mj-lt"/>
              <a:buAutoNum type="arabicPeriod" startAt="1"/>
            </a:pPr>
            <a:r>
              <a:rPr lang="en-US" sz="1200" dirty="0">
                <a:solidFill>
                  <a:srgbClr val="0E1C42"/>
                </a:solidFill>
                <a:latin typeface="Calibri" pitchFamily="34" charset="0"/>
                <a:ea typeface="Calibri" pitchFamily="34" charset="-122"/>
                <a:cs typeface="Calibri" pitchFamily="34" charset="-120"/>
              </a:rPr>
              <a:t>Explain how maps and sea charts guided explorers</a:t>
            </a:r>
            <a:endParaRPr lang="en-US" sz="1200" dirty="0"/>
          </a:p>
          <a:p>
            <a:pPr marL="342900" indent="-342900">
              <a:spcAft>
                <a:spcPts val="1000"/>
              </a:spcAft>
              <a:buSzPct val="100000"/>
              <a:buFont typeface="+mj-lt"/>
              <a:buAutoNum type="arabicPeriod" startAt="1"/>
            </a:pPr>
            <a:r>
              <a:rPr lang="en-US" sz="1200" dirty="0">
                <a:solidFill>
                  <a:srgbClr val="0E1C42"/>
                </a:solidFill>
                <a:latin typeface="Calibri" pitchFamily="34" charset="0"/>
                <a:ea typeface="Calibri" pitchFamily="34" charset="-122"/>
                <a:cs typeface="Calibri" pitchFamily="34" charset="-120"/>
              </a:rPr>
              <a:t>Connect wind and ocean currents to the science of exploration</a:t>
            </a:r>
            <a:endParaRPr lang="en-US" sz="1200" dirty="0"/>
          </a:p>
        </p:txBody>
      </p:sp>
      <p:sp>
        <p:nvSpPr>
          <p:cNvPr id="11" name="Shape 9"/>
          <p:cNvSpPr/>
          <p:nvPr/>
        </p:nvSpPr>
        <p:spPr>
          <a:xfrm>
            <a:off x="365760" y="3858768"/>
            <a:ext cx="8321040" cy="658368"/>
          </a:xfrm>
          <a:prstGeom prst="roundRect">
            <a:avLst>
              <a:gd name="adj" fmla="val 13889"/>
            </a:avLst>
          </a:prstGeom>
          <a:solidFill>
            <a:srgbClr val="0E1C42"/>
          </a:solidFill>
          <a:ln/>
        </p:spPr>
      </p:sp>
      <p:sp>
        <p:nvSpPr>
          <p:cNvPr id="12" name="Text 10"/>
          <p:cNvSpPr/>
          <p:nvPr/>
        </p:nvSpPr>
        <p:spPr>
          <a:xfrm>
            <a:off x="548640" y="3913632"/>
            <a:ext cx="1371600" cy="228600"/>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TODAY'S PATH:</a:t>
            </a:r>
            <a:endParaRPr lang="en-US" sz="900" dirty="0"/>
          </a:p>
        </p:txBody>
      </p:sp>
      <p:sp>
        <p:nvSpPr>
          <p:cNvPr id="13" name="Text 11"/>
          <p:cNvSpPr/>
          <p:nvPr/>
        </p:nvSpPr>
        <p:spPr>
          <a:xfrm>
            <a:off x="548640" y="4142232"/>
            <a:ext cx="7955280" cy="2743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Ships  &gt;  Maps &amp; Sea Charts  &gt;  Wind &amp; Currents  &gt;  The System  &gt;  Write the Display Panel</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E1C42"/>
          </a:solidFill>
          <a:ln/>
        </p:spPr>
      </p:sp>
      <p:sp>
        <p:nvSpPr>
          <p:cNvPr id="3" name="Text 1"/>
          <p:cNvSpPr/>
          <p:nvPr/>
        </p:nvSpPr>
        <p:spPr>
          <a:xfrm>
            <a:off x="365760" y="0"/>
            <a:ext cx="8412480" cy="621792"/>
          </a:xfrm>
          <a:prstGeom prst="rect">
            <a:avLst/>
          </a:prstGeom>
          <a:noFill/>
          <a:ln/>
        </p:spPr>
        <p:txBody>
          <a:bodyPr wrap="square" lIns="0" tIns="0" rIns="0" bIns="0"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VIRTUE SPOTLIGHT</a:t>
            </a:r>
            <a:endParaRPr lang="en-US" sz="1100" dirty="0"/>
          </a:p>
        </p:txBody>
      </p:sp>
      <p:sp>
        <p:nvSpPr>
          <p:cNvPr id="4" name="Shape 2"/>
          <p:cNvSpPr/>
          <p:nvPr/>
        </p:nvSpPr>
        <p:spPr>
          <a:xfrm>
            <a:off x="365760" y="749808"/>
            <a:ext cx="3657600" cy="2926080"/>
          </a:xfrm>
          <a:prstGeom prst="roundRect">
            <a:avLst>
              <a:gd name="adj" fmla="val 3750"/>
            </a:avLst>
          </a:prstGeom>
          <a:solidFill>
            <a:srgbClr val="E2E8F4"/>
          </a:solidFill>
          <a:ln w="19050">
            <a:solidFill>
              <a:srgbClr val="B0B8CC"/>
            </a:solidFill>
            <a:prstDash val="dash"/>
          </a:ln>
        </p:spPr>
      </p:sp>
      <p:sp>
        <p:nvSpPr>
          <p:cNvPr id="5" name="Text 3"/>
          <p:cNvSpPr/>
          <p:nvPr/>
        </p:nvSpPr>
        <p:spPr>
          <a:xfrm>
            <a:off x="365760" y="749808"/>
            <a:ext cx="36576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1024128"/>
            <a:ext cx="3383280" cy="2560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Historic ship crew working together on deck — sailors adjusting sails or reading a chart together during an ocean voyage. Search: Wikimedia Commons 'sailors caravel', Smithsonian Open Access.</a:t>
            </a:r>
            <a:endParaRPr lang="en-US" sz="1100" dirty="0"/>
          </a:p>
        </p:txBody>
      </p:sp>
      <p:sp>
        <p:nvSpPr>
          <p:cNvPr id="7" name="Text 5"/>
          <p:cNvSpPr/>
          <p:nvPr/>
        </p:nvSpPr>
        <p:spPr>
          <a:xfrm>
            <a:off x="4206240" y="749808"/>
            <a:ext cx="4572000" cy="658368"/>
          </a:xfrm>
          <a:prstGeom prst="rect">
            <a:avLst/>
          </a:prstGeom>
          <a:noFill/>
          <a:ln/>
        </p:spPr>
        <p:txBody>
          <a:bodyPr wrap="square" lIns="0" tIns="0" rIns="0" bIns="0" rtlCol="0" anchor="ctr"/>
          <a:lstStyle/>
          <a:p>
            <a:pPr indent="0" marL="0">
              <a:buNone/>
            </a:pPr>
            <a:r>
              <a:rPr lang="en-US" sz="3800" b="1" dirty="0">
                <a:solidFill>
                  <a:srgbClr val="D4943A"/>
                </a:solidFill>
                <a:latin typeface="Cambria" pitchFamily="34" charset="0"/>
                <a:ea typeface="Cambria" pitchFamily="34" charset="-122"/>
                <a:cs typeface="Cambria" pitchFamily="34" charset="-120"/>
              </a:rPr>
              <a:t>Courage</a:t>
            </a:r>
            <a:endParaRPr lang="en-US" sz="3800" dirty="0"/>
          </a:p>
        </p:txBody>
      </p:sp>
      <p:sp>
        <p:nvSpPr>
          <p:cNvPr id="8" name="Shape 6"/>
          <p:cNvSpPr/>
          <p:nvPr/>
        </p:nvSpPr>
        <p:spPr>
          <a:xfrm>
            <a:off x="4206240" y="1481328"/>
            <a:ext cx="4572000" cy="2194560"/>
          </a:xfrm>
          <a:prstGeom prst="roundRect">
            <a:avLst>
              <a:gd name="adj" fmla="val 5000"/>
            </a:avLst>
          </a:prstGeom>
          <a:solidFill>
            <a:srgbClr val="F0F2F8"/>
          </a:solidFill>
          <a:ln w="19050">
            <a:solidFill>
              <a:srgbClr val="D0D8E8"/>
            </a:solidFill>
            <a:prstDash val="solid"/>
          </a:ln>
        </p:spPr>
      </p:sp>
      <p:sp>
        <p:nvSpPr>
          <p:cNvPr id="9" name="Text 7"/>
          <p:cNvSpPr/>
          <p:nvPr/>
        </p:nvSpPr>
        <p:spPr>
          <a:xfrm>
            <a:off x="4389120" y="1600200"/>
            <a:ext cx="4206240" cy="1938528"/>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Building a ship, reading a sea chart, and trusting wind patterns you could not see — exploration was a system of knowledge and bravery working together.</a:t>
            </a:r>
            <a:endParaRPr lang="en-US" sz="1300" dirty="0"/>
          </a:p>
          <a:p>
            <a:pPr indent="0" marL="0">
              <a:buNone/>
            </a:pP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Courage was not just about being bold. It was about trusting the science and tools that made the voyage possible.</a:t>
            </a:r>
            <a:endParaRPr lang="en-US" sz="1300" dirty="0"/>
          </a:p>
        </p:txBody>
      </p:sp>
      <p:sp>
        <p:nvSpPr>
          <p:cNvPr id="10" name="Shape 8"/>
          <p:cNvSpPr/>
          <p:nvPr/>
        </p:nvSpPr>
        <p:spPr>
          <a:xfrm>
            <a:off x="365760" y="3822192"/>
            <a:ext cx="8321040" cy="914400"/>
          </a:xfrm>
          <a:prstGeom prst="roundRect">
            <a:avLst>
              <a:gd name="adj" fmla="val 12000"/>
            </a:avLst>
          </a:prstGeom>
          <a:solidFill>
            <a:srgbClr val="FFF3DC"/>
          </a:solidFill>
          <a:ln w="19050">
            <a:solidFill>
              <a:srgbClr val="F5E6C8"/>
            </a:solidFill>
            <a:prstDash val="solid"/>
          </a:ln>
        </p:spPr>
      </p:sp>
      <p:sp>
        <p:nvSpPr>
          <p:cNvPr id="11" name="Text 9"/>
          <p:cNvSpPr/>
          <p:nvPr/>
        </p:nvSpPr>
        <p:spPr>
          <a:xfrm>
            <a:off x="502920" y="3877056"/>
            <a:ext cx="80467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502920" y="4078224"/>
            <a:ext cx="8046720" cy="5943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courage matters in exploration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way a sailor showed courage was..."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E1C42"/>
          </a:solidFill>
          <a:ln/>
        </p:spPr>
      </p:sp>
      <p:sp>
        <p:nvSpPr>
          <p:cNvPr id="3" name="Text 1"/>
          <p:cNvSpPr/>
          <p:nvPr/>
        </p:nvSpPr>
        <p:spPr>
          <a:xfrm>
            <a:off x="365760" y="0"/>
            <a:ext cx="8412480" cy="621792"/>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CLUE BOX  |  WHAT DO YOU NOTICE?</a:t>
            </a:r>
            <a:endParaRPr lang="en-US" sz="1100" dirty="0"/>
          </a:p>
        </p:txBody>
      </p:sp>
      <p:sp>
        <p:nvSpPr>
          <p:cNvPr id="4" name="Text 2"/>
          <p:cNvSpPr/>
          <p:nvPr/>
        </p:nvSpPr>
        <p:spPr>
          <a:xfrm>
            <a:off x="365760" y="749808"/>
            <a:ext cx="8229600" cy="50292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Two Ships. Two Jobs.</a:t>
            </a:r>
            <a:endParaRPr lang="en-US" sz="2800" dirty="0"/>
          </a:p>
        </p:txBody>
      </p:sp>
      <p:sp>
        <p:nvSpPr>
          <p:cNvPr id="5" name="Shape 3"/>
          <p:cNvSpPr/>
          <p:nvPr/>
        </p:nvSpPr>
        <p:spPr>
          <a:xfrm>
            <a:off x="365760" y="1371600"/>
            <a:ext cx="3931920" cy="2286000"/>
          </a:xfrm>
          <a:prstGeom prst="roundRect">
            <a:avLst>
              <a:gd name="adj" fmla="val 4800"/>
            </a:avLst>
          </a:prstGeom>
          <a:solidFill>
            <a:srgbClr val="E2E8F4"/>
          </a:solidFill>
          <a:ln w="19050">
            <a:solidFill>
              <a:srgbClr val="B0B8CC"/>
            </a:solidFill>
            <a:prstDash val="dash"/>
          </a:ln>
        </p:spPr>
      </p:sp>
      <p:sp>
        <p:nvSpPr>
          <p:cNvPr id="6" name="Text 4"/>
          <p:cNvSpPr/>
          <p:nvPr/>
        </p:nvSpPr>
        <p:spPr>
          <a:xfrm>
            <a:off x="365760" y="1371600"/>
            <a:ext cx="39319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645920"/>
            <a:ext cx="3657600" cy="19202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small sleek sailing ship with triangular lateen sails — no label or caption. Search: Wikimedia Commons 'caravel triangular sails'.</a:t>
            </a:r>
            <a:endParaRPr lang="en-US" sz="1100" dirty="0"/>
          </a:p>
        </p:txBody>
      </p:sp>
      <p:sp>
        <p:nvSpPr>
          <p:cNvPr id="8" name="Shape 6"/>
          <p:cNvSpPr/>
          <p:nvPr/>
        </p:nvSpPr>
        <p:spPr>
          <a:xfrm>
            <a:off x="4572000" y="1371600"/>
            <a:ext cx="4114800" cy="2286000"/>
          </a:xfrm>
          <a:prstGeom prst="roundRect">
            <a:avLst>
              <a:gd name="adj" fmla="val 4800"/>
            </a:avLst>
          </a:prstGeom>
          <a:solidFill>
            <a:srgbClr val="E2E8F4"/>
          </a:solidFill>
          <a:ln w="19050">
            <a:solidFill>
              <a:srgbClr val="B0B8CC"/>
            </a:solidFill>
            <a:prstDash val="dash"/>
          </a:ln>
        </p:spPr>
      </p:sp>
      <p:sp>
        <p:nvSpPr>
          <p:cNvPr id="9" name="Text 7"/>
          <p:cNvSpPr/>
          <p:nvPr/>
        </p:nvSpPr>
        <p:spPr>
          <a:xfrm>
            <a:off x="4572000" y="1371600"/>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4709160" y="1645920"/>
            <a:ext cx="3840480" cy="19202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large heavy sailing ship with tall masts and square sails carrying visible barrels and cargo — no label or caption. Search: Wikimedia Commons 'carrack ship 1400s'.</a:t>
            </a:r>
            <a:endParaRPr lang="en-US" sz="1100" dirty="0"/>
          </a:p>
        </p:txBody>
      </p:sp>
      <p:sp>
        <p:nvSpPr>
          <p:cNvPr id="11" name="Shape 9"/>
          <p:cNvSpPr/>
          <p:nvPr/>
        </p:nvSpPr>
        <p:spPr>
          <a:xfrm>
            <a:off x="365760" y="3749040"/>
            <a:ext cx="3931920" cy="274320"/>
          </a:xfrm>
          <a:prstGeom prst="roundRect">
            <a:avLst>
              <a:gd name="adj" fmla="val 26667"/>
            </a:avLst>
          </a:prstGeom>
          <a:solidFill>
            <a:srgbClr val="7A88A8"/>
          </a:solidFill>
          <a:ln/>
        </p:spPr>
      </p:sp>
      <p:sp>
        <p:nvSpPr>
          <p:cNvPr id="12" name="Text 10"/>
          <p:cNvSpPr/>
          <p:nvPr/>
        </p:nvSpPr>
        <p:spPr>
          <a:xfrm>
            <a:off x="365760" y="3749040"/>
            <a:ext cx="39319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SHIP A</a:t>
            </a:r>
            <a:endParaRPr lang="en-US" sz="1100" dirty="0"/>
          </a:p>
        </p:txBody>
      </p:sp>
      <p:sp>
        <p:nvSpPr>
          <p:cNvPr id="13" name="Shape 11"/>
          <p:cNvSpPr/>
          <p:nvPr/>
        </p:nvSpPr>
        <p:spPr>
          <a:xfrm>
            <a:off x="4572000" y="3749040"/>
            <a:ext cx="4114800" cy="274320"/>
          </a:xfrm>
          <a:prstGeom prst="roundRect">
            <a:avLst>
              <a:gd name="adj" fmla="val 26667"/>
            </a:avLst>
          </a:prstGeom>
          <a:solidFill>
            <a:srgbClr val="7A88A8"/>
          </a:solidFill>
          <a:ln/>
        </p:spPr>
      </p:sp>
      <p:sp>
        <p:nvSpPr>
          <p:cNvPr id="14" name="Text 12"/>
          <p:cNvSpPr/>
          <p:nvPr/>
        </p:nvSpPr>
        <p:spPr>
          <a:xfrm>
            <a:off x="4572000" y="3749040"/>
            <a:ext cx="41148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SHIP B</a:t>
            </a:r>
            <a:endParaRPr lang="en-US" sz="1100" dirty="0"/>
          </a:p>
        </p:txBody>
      </p:sp>
      <p:sp>
        <p:nvSpPr>
          <p:cNvPr id="15" name="Shape 13"/>
          <p:cNvSpPr/>
          <p:nvPr/>
        </p:nvSpPr>
        <p:spPr>
          <a:xfrm>
            <a:off x="365760" y="4114800"/>
            <a:ext cx="8321040" cy="868680"/>
          </a:xfrm>
          <a:prstGeom prst="roundRect">
            <a:avLst>
              <a:gd name="adj" fmla="val 12632"/>
            </a:avLst>
          </a:prstGeom>
          <a:solidFill>
            <a:srgbClr val="FFF3DC"/>
          </a:solidFill>
          <a:ln w="19050">
            <a:solidFill>
              <a:srgbClr val="F5E6C8"/>
            </a:solidFill>
            <a:prstDash val="solid"/>
          </a:ln>
        </p:spPr>
      </p:sp>
      <p:sp>
        <p:nvSpPr>
          <p:cNvPr id="16" name="Text 14"/>
          <p:cNvSpPr/>
          <p:nvPr/>
        </p:nvSpPr>
        <p:spPr>
          <a:xfrm>
            <a:off x="502920" y="4169664"/>
            <a:ext cx="80467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502920" y="4370832"/>
            <a:ext cx="8046720" cy="5486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that Ship A..."</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"Ship B looks different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these ships were used for..."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E1C42"/>
          </a:solidFill>
          <a:ln/>
        </p:spPr>
      </p:sp>
      <p:sp>
        <p:nvSpPr>
          <p:cNvPr id="3" name="Text 1"/>
          <p:cNvSpPr/>
          <p:nvPr/>
        </p:nvSpPr>
        <p:spPr>
          <a:xfrm>
            <a:off x="365760" y="0"/>
            <a:ext cx="8412480" cy="621792"/>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DISCUSS  |  WHAT WOULD A SAILOR NEED?</a:t>
            </a:r>
            <a:endParaRPr lang="en-US" sz="1100" dirty="0"/>
          </a:p>
        </p:txBody>
      </p:sp>
      <p:sp>
        <p:nvSpPr>
          <p:cNvPr id="4" name="Text 2"/>
          <p:cNvSpPr/>
          <p:nvPr/>
        </p:nvSpPr>
        <p:spPr>
          <a:xfrm>
            <a:off x="365760" y="777240"/>
            <a:ext cx="8229600" cy="50292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Think Like an Explorer</a:t>
            </a:r>
            <a:endParaRPr lang="en-US" sz="2800" dirty="0"/>
          </a:p>
        </p:txBody>
      </p:sp>
      <p:sp>
        <p:nvSpPr>
          <p:cNvPr id="5" name="Shape 3"/>
          <p:cNvSpPr/>
          <p:nvPr/>
        </p:nvSpPr>
        <p:spPr>
          <a:xfrm>
            <a:off x="365760" y="1389888"/>
            <a:ext cx="4480560" cy="2286000"/>
          </a:xfrm>
          <a:prstGeom prst="roundRect">
            <a:avLst>
              <a:gd name="adj" fmla="val 4800"/>
            </a:avLst>
          </a:prstGeom>
          <a:solidFill>
            <a:srgbClr val="F0F2F8"/>
          </a:solidFill>
          <a:ln w="19050">
            <a:solidFill>
              <a:srgbClr val="D0D8E8"/>
            </a:solidFill>
            <a:prstDash val="solid"/>
          </a:ln>
        </p:spPr>
      </p:sp>
      <p:sp>
        <p:nvSpPr>
          <p:cNvPr id="6" name="Text 4"/>
          <p:cNvSpPr/>
          <p:nvPr/>
        </p:nvSpPr>
        <p:spPr>
          <a:xfrm>
            <a:off x="548640" y="1481328"/>
            <a:ext cx="4114800" cy="2560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THE SCENARIO</a:t>
            </a:r>
            <a:endParaRPr lang="en-US" sz="900" dirty="0"/>
          </a:p>
        </p:txBody>
      </p:sp>
      <p:sp>
        <p:nvSpPr>
          <p:cNvPr id="7" name="Text 5"/>
          <p:cNvSpPr/>
          <p:nvPr/>
        </p:nvSpPr>
        <p:spPr>
          <a:xfrm>
            <a:off x="548640" y="1755648"/>
            <a:ext cx="4114800" cy="182880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It is the 1400s. You are planning an ocean voyage.</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Mission 1: Explore a new coastline — get there fast and be able to change direction quickly.</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Mission 2: A long voyage with 50 crew members — you need enough food and water to last 3 months.</a:t>
            </a:r>
            <a:endParaRPr lang="en-US" sz="1200" dirty="0"/>
          </a:p>
        </p:txBody>
      </p:sp>
      <p:sp>
        <p:nvSpPr>
          <p:cNvPr id="8" name="Shape 6"/>
          <p:cNvSpPr/>
          <p:nvPr/>
        </p:nvSpPr>
        <p:spPr>
          <a:xfrm>
            <a:off x="5029200" y="1389888"/>
            <a:ext cx="3749040" cy="2286000"/>
          </a:xfrm>
          <a:prstGeom prst="roundRect">
            <a:avLst>
              <a:gd name="adj" fmla="val 6000"/>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5212080" y="1481328"/>
            <a:ext cx="33832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5212080" y="1737360"/>
            <a:ext cx="3383280" cy="18470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ship would you choose for Mission 1? Why?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happen if you chose the wrong ship?</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this tell you about what explorers needed to plan?</a:t>
            </a:r>
            <a:endParaRPr lang="en-US" sz="1100" dirty="0"/>
          </a:p>
        </p:txBody>
      </p:sp>
      <p:sp>
        <p:nvSpPr>
          <p:cNvPr id="11" name="Shape 9"/>
          <p:cNvSpPr/>
          <p:nvPr/>
        </p:nvSpPr>
        <p:spPr>
          <a:xfrm>
            <a:off x="365760" y="3822192"/>
            <a:ext cx="8321040" cy="914400"/>
          </a:xfrm>
          <a:prstGeom prst="roundRect">
            <a:avLst>
              <a:gd name="adj" fmla="val 12000"/>
            </a:avLst>
          </a:prstGeom>
          <a:solidFill>
            <a:srgbClr val="FFF3DC"/>
          </a:solidFill>
          <a:ln w="19050">
            <a:solidFill>
              <a:srgbClr val="F5E6C8"/>
            </a:solidFill>
            <a:prstDash val="solid"/>
          </a:ln>
        </p:spPr>
      </p:sp>
      <p:sp>
        <p:nvSpPr>
          <p:cNvPr id="12" name="Text 10"/>
          <p:cNvSpPr/>
          <p:nvPr/>
        </p:nvSpPr>
        <p:spPr>
          <a:xfrm>
            <a:off x="502920" y="3877056"/>
            <a:ext cx="80467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02920" y="4078224"/>
            <a:ext cx="8046720" cy="5943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choose Ship __ for Mission 1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wrong ship would be a problem because..."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457200" y="256032"/>
            <a:ext cx="2560320" cy="347472"/>
          </a:xfrm>
          <a:prstGeom prst="roundRect">
            <a:avLst>
              <a:gd name="adj" fmla="val 47368"/>
            </a:avLst>
          </a:prstGeom>
          <a:solidFill>
            <a:srgbClr val="1A8A7D"/>
          </a:solidFill>
          <a:ln/>
        </p:spPr>
      </p:sp>
      <p:sp>
        <p:nvSpPr>
          <p:cNvPr id="5" name="Text 3"/>
          <p:cNvSpPr/>
          <p:nvPr/>
        </p:nvSpPr>
        <p:spPr>
          <a:xfrm>
            <a:off x="457200" y="256032"/>
            <a:ext cx="25603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EXPLORATION WING UNLOCKED</a:t>
            </a:r>
            <a:endParaRPr lang="en-US" sz="1000" dirty="0"/>
          </a:p>
        </p:txBody>
      </p:sp>
      <p:sp>
        <p:nvSpPr>
          <p:cNvPr id="6" name="Text 4"/>
          <p:cNvSpPr/>
          <p:nvPr/>
        </p:nvSpPr>
        <p:spPr>
          <a:xfrm>
            <a:off x="365760" y="749808"/>
            <a:ext cx="8229600" cy="5029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Ships Had Names</a:t>
            </a:r>
            <a:endParaRPr lang="en-US" sz="3000" dirty="0"/>
          </a:p>
        </p:txBody>
      </p:sp>
      <p:sp>
        <p:nvSpPr>
          <p:cNvPr id="7" name="Shape 5"/>
          <p:cNvSpPr/>
          <p:nvPr/>
        </p:nvSpPr>
        <p:spPr>
          <a:xfrm>
            <a:off x="365760" y="1371600"/>
            <a:ext cx="3931920" cy="3273552"/>
          </a:xfrm>
          <a:prstGeom prst="roundRect">
            <a:avLst>
              <a:gd name="adj" fmla="val 4190"/>
            </a:avLst>
          </a:prstGeom>
          <a:solidFill>
            <a:srgbClr val="1A2D5A"/>
          </a:solidFill>
          <a:ln/>
          <a:effectLst>
            <a:outerShdw sx="100000" sy="100000" kx="0" ky="0" algn="bl" rotWithShape="0" blurRad="127000" dist="50800" dir="8100000">
              <a:srgbClr val="000000">
                <a:alpha val="25000"/>
              </a:srgbClr>
            </a:outerShdw>
          </a:effectLst>
        </p:spPr>
      </p:sp>
      <p:sp>
        <p:nvSpPr>
          <p:cNvPr id="8" name="Text 6"/>
          <p:cNvSpPr/>
          <p:nvPr/>
        </p:nvSpPr>
        <p:spPr>
          <a:xfrm>
            <a:off x="548640" y="1463040"/>
            <a:ext cx="3566160" cy="256032"/>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Ship A</a:t>
            </a:r>
            <a:endParaRPr lang="en-US" sz="1000" dirty="0"/>
          </a:p>
        </p:txBody>
      </p:sp>
      <p:sp>
        <p:nvSpPr>
          <p:cNvPr id="9" name="Text 7"/>
          <p:cNvSpPr/>
          <p:nvPr/>
        </p:nvSpPr>
        <p:spPr>
          <a:xfrm>
            <a:off x="548640" y="1719072"/>
            <a:ext cx="3566160" cy="548640"/>
          </a:xfrm>
          <a:prstGeom prst="rect">
            <a:avLst/>
          </a:prstGeom>
          <a:noFill/>
          <a:ln/>
        </p:spPr>
        <p:txBody>
          <a:bodyPr wrap="square" lIns="0" tIns="0" rIns="0" bIns="0" rtlCol="0" anchor="ctr"/>
          <a:lstStyle/>
          <a:p>
            <a:pPr indent="0" marL="0">
              <a:buNone/>
            </a:pPr>
            <a:r>
              <a:rPr lang="en-US" sz="3000" b="1" dirty="0">
                <a:solidFill>
                  <a:srgbClr val="D4943A"/>
                </a:solidFill>
                <a:latin typeface="Cambria" pitchFamily="34" charset="0"/>
                <a:ea typeface="Cambria" pitchFamily="34" charset="-122"/>
                <a:cs typeface="Cambria" pitchFamily="34" charset="-120"/>
              </a:rPr>
              <a:t>Caravel</a:t>
            </a:r>
            <a:endParaRPr lang="en-US" sz="3000" dirty="0"/>
          </a:p>
        </p:txBody>
      </p:sp>
      <p:sp>
        <p:nvSpPr>
          <p:cNvPr id="10" name="Text 8"/>
          <p:cNvSpPr/>
          <p:nvPr/>
        </p:nvSpPr>
        <p:spPr>
          <a:xfrm>
            <a:off x="548640" y="2267712"/>
            <a:ext cx="3566160" cy="274320"/>
          </a:xfrm>
          <a:prstGeom prst="rect">
            <a:avLst/>
          </a:prstGeom>
          <a:noFill/>
          <a:ln/>
        </p:spPr>
        <p:txBody>
          <a:bodyPr wrap="square" lIns="0" tIns="0" rIns="0" bIns="0" rtlCol="0" anchor="ctr"/>
          <a:lstStyle/>
          <a:p>
            <a:pPr indent="0" marL="0">
              <a:buNone/>
            </a:pPr>
            <a:r>
              <a:rPr lang="en-US" sz="1200" i="1" dirty="0">
                <a:solidFill>
                  <a:srgbClr val="55C8E8"/>
                </a:solidFill>
                <a:latin typeface="Calibri" pitchFamily="34" charset="0"/>
                <a:ea typeface="Calibri" pitchFamily="34" charset="-122"/>
                <a:cs typeface="Calibri" pitchFamily="34" charset="-120"/>
              </a:rPr>
              <a:t>Small  |  Fast  |  Flexible</a:t>
            </a:r>
            <a:endParaRPr lang="en-US" sz="1200" dirty="0"/>
          </a:p>
        </p:txBody>
      </p:sp>
      <p:sp>
        <p:nvSpPr>
          <p:cNvPr id="11" name="Text 9"/>
          <p:cNvSpPr/>
          <p:nvPr/>
        </p:nvSpPr>
        <p:spPr>
          <a:xfrm>
            <a:off x="548640" y="2578608"/>
            <a:ext cx="3566160" cy="10058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Could sail in many directions — even AGAINST the wind. Perfect for exploring unknown coastlines where speed and maneuverability mattered most.</a:t>
            </a:r>
            <a:endParaRPr lang="en-US" sz="1200" dirty="0"/>
          </a:p>
        </p:txBody>
      </p:sp>
      <p:sp>
        <p:nvSpPr>
          <p:cNvPr id="12" name="Shape 10"/>
          <p:cNvSpPr/>
          <p:nvPr/>
        </p:nvSpPr>
        <p:spPr>
          <a:xfrm>
            <a:off x="548640" y="3639312"/>
            <a:ext cx="3566160" cy="804672"/>
          </a:xfrm>
          <a:prstGeom prst="roundRect">
            <a:avLst>
              <a:gd name="adj" fmla="val 9091"/>
            </a:avLst>
          </a:prstGeom>
          <a:solidFill>
            <a:srgbClr val="0A122A"/>
          </a:solidFill>
          <a:ln/>
        </p:spPr>
      </p:sp>
      <p:sp>
        <p:nvSpPr>
          <p:cNvPr id="13" name="Text 11"/>
          <p:cNvSpPr/>
          <p:nvPr/>
        </p:nvSpPr>
        <p:spPr>
          <a:xfrm>
            <a:off x="685800" y="3675888"/>
            <a:ext cx="3337560" cy="731520"/>
          </a:xfrm>
          <a:prstGeom prst="rect">
            <a:avLst/>
          </a:prstGeom>
          <a:noFill/>
          <a:ln/>
        </p:spPr>
        <p:txBody>
          <a:bodyPr wrap="square" lIns="0" tIns="0" rIns="0" bIns="0" rtlCol="0" anchor="t"/>
          <a:lstStyle/>
          <a:p>
            <a:pPr indent="0" marL="0">
              <a:buNone/>
            </a:pPr>
            <a:r>
              <a:rPr lang="en-US" sz="1000" i="1" dirty="0">
                <a:solidFill>
                  <a:srgbClr val="55C8E8"/>
                </a:solidFill>
                <a:latin typeface="Calibri" pitchFamily="34" charset="0"/>
                <a:ea typeface="Calibri" pitchFamily="34" charset="-122"/>
                <a:cs typeface="Calibri" pitchFamily="34" charset="-120"/>
              </a:rPr>
              <a:t>Opti says: Did you know caravels could sail at an angle INTO the wind? Older ships could only go where the wind pushed them — the caravel changed everything!</a:t>
            </a:r>
            <a:endParaRPr lang="en-US" sz="1000" dirty="0"/>
          </a:p>
        </p:txBody>
      </p:sp>
      <p:sp>
        <p:nvSpPr>
          <p:cNvPr id="14" name="Shape 12"/>
          <p:cNvSpPr/>
          <p:nvPr/>
        </p:nvSpPr>
        <p:spPr>
          <a:xfrm>
            <a:off x="4572000" y="1371600"/>
            <a:ext cx="4114800" cy="3273552"/>
          </a:xfrm>
          <a:prstGeom prst="roundRect">
            <a:avLst>
              <a:gd name="adj" fmla="val 4190"/>
            </a:avLst>
          </a:prstGeom>
          <a:solidFill>
            <a:srgbClr val="1A2D5A"/>
          </a:solidFill>
          <a:ln/>
          <a:effectLst>
            <a:outerShdw sx="100000" sy="100000" kx="0" ky="0" algn="bl" rotWithShape="0" blurRad="127000" dist="50800" dir="8100000">
              <a:srgbClr val="000000">
                <a:alpha val="25000"/>
              </a:srgbClr>
            </a:outerShdw>
          </a:effectLst>
        </p:spPr>
      </p:sp>
      <p:sp>
        <p:nvSpPr>
          <p:cNvPr id="15" name="Text 13"/>
          <p:cNvSpPr/>
          <p:nvPr/>
        </p:nvSpPr>
        <p:spPr>
          <a:xfrm>
            <a:off x="4754880" y="1463040"/>
            <a:ext cx="3749040" cy="256032"/>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Ship B</a:t>
            </a:r>
            <a:endParaRPr lang="en-US" sz="1000" dirty="0"/>
          </a:p>
        </p:txBody>
      </p:sp>
      <p:sp>
        <p:nvSpPr>
          <p:cNvPr id="16" name="Text 14"/>
          <p:cNvSpPr/>
          <p:nvPr/>
        </p:nvSpPr>
        <p:spPr>
          <a:xfrm>
            <a:off x="4754880" y="1719072"/>
            <a:ext cx="3749040" cy="548640"/>
          </a:xfrm>
          <a:prstGeom prst="rect">
            <a:avLst/>
          </a:prstGeom>
          <a:noFill/>
          <a:ln/>
        </p:spPr>
        <p:txBody>
          <a:bodyPr wrap="square" lIns="0" tIns="0" rIns="0" bIns="0" rtlCol="0" anchor="ctr"/>
          <a:lstStyle/>
          <a:p>
            <a:pPr indent="0" marL="0">
              <a:buNone/>
            </a:pPr>
            <a:r>
              <a:rPr lang="en-US" sz="3000" b="1" dirty="0">
                <a:solidFill>
                  <a:srgbClr val="D4943A"/>
                </a:solidFill>
                <a:latin typeface="Cambria" pitchFamily="34" charset="0"/>
                <a:ea typeface="Cambria" pitchFamily="34" charset="-122"/>
                <a:cs typeface="Cambria" pitchFamily="34" charset="-120"/>
              </a:rPr>
              <a:t>Carrack</a:t>
            </a:r>
            <a:endParaRPr lang="en-US" sz="3000" dirty="0"/>
          </a:p>
        </p:txBody>
      </p:sp>
      <p:sp>
        <p:nvSpPr>
          <p:cNvPr id="17" name="Text 15"/>
          <p:cNvSpPr/>
          <p:nvPr/>
        </p:nvSpPr>
        <p:spPr>
          <a:xfrm>
            <a:off x="4754880" y="2267712"/>
            <a:ext cx="3749040" cy="274320"/>
          </a:xfrm>
          <a:prstGeom prst="rect">
            <a:avLst/>
          </a:prstGeom>
          <a:noFill/>
          <a:ln/>
        </p:spPr>
        <p:txBody>
          <a:bodyPr wrap="square" lIns="0" tIns="0" rIns="0" bIns="0" rtlCol="0" anchor="ctr"/>
          <a:lstStyle/>
          <a:p>
            <a:pPr indent="0" marL="0">
              <a:buNone/>
            </a:pPr>
            <a:r>
              <a:rPr lang="en-US" sz="1200" i="1" dirty="0">
                <a:solidFill>
                  <a:srgbClr val="55C8E8"/>
                </a:solidFill>
                <a:latin typeface="Calibri" pitchFamily="34" charset="0"/>
                <a:ea typeface="Calibri" pitchFamily="34" charset="-122"/>
                <a:cs typeface="Calibri" pitchFamily="34" charset="-120"/>
              </a:rPr>
              <a:t>Large  |  Heavy  |  High Capacity</a:t>
            </a:r>
            <a:endParaRPr lang="en-US" sz="1200" dirty="0"/>
          </a:p>
        </p:txBody>
      </p:sp>
      <p:sp>
        <p:nvSpPr>
          <p:cNvPr id="18" name="Text 16"/>
          <p:cNvSpPr/>
          <p:nvPr/>
        </p:nvSpPr>
        <p:spPr>
          <a:xfrm>
            <a:off x="4754880" y="2578608"/>
            <a:ext cx="3749040" cy="10058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Carried more food, water, and crew supplies for long voyages. Trade and large expeditions relied on carracks to stay at sea for months at a time.</a:t>
            </a:r>
            <a:endParaRPr lang="en-US" sz="1200" dirty="0"/>
          </a:p>
        </p:txBody>
      </p:sp>
      <p:sp>
        <p:nvSpPr>
          <p:cNvPr id="19" name="Shape 17"/>
          <p:cNvSpPr/>
          <p:nvPr/>
        </p:nvSpPr>
        <p:spPr>
          <a:xfrm>
            <a:off x="4754880" y="3639312"/>
            <a:ext cx="3749040" cy="804672"/>
          </a:xfrm>
          <a:prstGeom prst="roundRect">
            <a:avLst>
              <a:gd name="adj" fmla="val 9091"/>
            </a:avLst>
          </a:prstGeom>
          <a:solidFill>
            <a:srgbClr val="0A122A"/>
          </a:solidFill>
          <a:ln/>
        </p:spPr>
      </p:sp>
      <p:sp>
        <p:nvSpPr>
          <p:cNvPr id="20" name="Text 18"/>
          <p:cNvSpPr/>
          <p:nvPr/>
        </p:nvSpPr>
        <p:spPr>
          <a:xfrm>
            <a:off x="4919472" y="3675888"/>
            <a:ext cx="3438144" cy="731520"/>
          </a:xfrm>
          <a:prstGeom prst="rect">
            <a:avLst/>
          </a:prstGeom>
          <a:noFill/>
          <a:ln/>
        </p:spPr>
        <p:txBody>
          <a:bodyPr wrap="square" lIns="0" tIns="0" rIns="0" bIns="0" rtlCol="0" anchor="t"/>
          <a:lstStyle/>
          <a:p>
            <a:pPr indent="0" marL="0">
              <a:buNone/>
            </a:pPr>
            <a:r>
              <a:rPr lang="en-US" sz="1000" i="1" dirty="0">
                <a:solidFill>
                  <a:srgbClr val="55C8E8"/>
                </a:solidFill>
                <a:latin typeface="Calibri" pitchFamily="34" charset="0"/>
                <a:ea typeface="Calibri" pitchFamily="34" charset="-122"/>
                <a:cs typeface="Calibri" pitchFamily="34" charset="-120"/>
              </a:rPr>
              <a:t>Carracks like the Santa Maria were used by Columbus for his 1492 voyage — big enough to carry supplies for weeks at sea.</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E1C42"/>
          </a:solidFill>
          <a:ln/>
        </p:spPr>
      </p:sp>
      <p:sp>
        <p:nvSpPr>
          <p:cNvPr id="3" name="Text 1"/>
          <p:cNvSpPr/>
          <p:nvPr/>
        </p:nvSpPr>
        <p:spPr>
          <a:xfrm>
            <a:off x="365760" y="0"/>
            <a:ext cx="8412480" cy="621792"/>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PAUSE &amp; THINK  |  APPLY WHAT YOU KNOW</a:t>
            </a:r>
            <a:endParaRPr lang="en-US" sz="1100" dirty="0"/>
          </a:p>
        </p:txBody>
      </p:sp>
      <p:sp>
        <p:nvSpPr>
          <p:cNvPr id="4" name="Text 2"/>
          <p:cNvSpPr/>
          <p:nvPr/>
        </p:nvSpPr>
        <p:spPr>
          <a:xfrm>
            <a:off x="365760" y="777240"/>
            <a:ext cx="8229600" cy="50292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Which Ship Would You Choose?</a:t>
            </a:r>
            <a:endParaRPr lang="en-US" sz="2800" dirty="0"/>
          </a:p>
        </p:txBody>
      </p:sp>
      <p:sp>
        <p:nvSpPr>
          <p:cNvPr id="5" name="Shape 3"/>
          <p:cNvSpPr/>
          <p:nvPr/>
        </p:nvSpPr>
        <p:spPr>
          <a:xfrm>
            <a:off x="365760" y="1389888"/>
            <a:ext cx="8321040" cy="1234440"/>
          </a:xfrm>
          <a:prstGeom prst="roundRect">
            <a:avLst>
              <a:gd name="adj" fmla="val 8889"/>
            </a:avLst>
          </a:prstGeom>
          <a:solidFill>
            <a:srgbClr val="EAF3FF"/>
          </a:solidFill>
          <a:ln w="19050">
            <a:solidFill>
              <a:srgbClr val="B8D0F0"/>
            </a:solidFill>
            <a:prstDash val="solid"/>
          </a:ln>
        </p:spPr>
      </p:sp>
      <p:sp>
        <p:nvSpPr>
          <p:cNvPr id="6" name="Text 4"/>
          <p:cNvSpPr/>
          <p:nvPr/>
        </p:nvSpPr>
        <p:spPr>
          <a:xfrm>
            <a:off x="548640" y="1481328"/>
            <a:ext cx="7955280" cy="1005840"/>
          </a:xfrm>
          <a:prstGeom prst="rect">
            <a:avLst/>
          </a:prstGeom>
          <a:noFill/>
          <a:ln/>
        </p:spPr>
        <p:txBody>
          <a:bodyPr wrap="square" lIns="0" tIns="0" rIns="0" bIns="0" rtlCol="0" anchor="ctr"/>
          <a:lstStyle/>
          <a:p>
            <a:pPr algn="ctr" indent="0" marL="0">
              <a:buNone/>
            </a:pPr>
            <a:r>
              <a:rPr lang="en-US" sz="1800" b="1" dirty="0">
                <a:solidFill>
                  <a:srgbClr val="0E1C42"/>
                </a:solidFill>
                <a:latin typeface="Cambria" pitchFamily="34" charset="0"/>
                <a:ea typeface="Cambria" pitchFamily="34" charset="-122"/>
                <a:cs typeface="Cambria" pitchFamily="34" charset="-120"/>
              </a:rPr>
              <a:t>Why would a sailor choose a small, fast caravel for exploring new coastlines but a larger carrack for a long supply voyage?</a:t>
            </a:r>
            <a:endParaRPr lang="en-US" sz="1800" dirty="0"/>
          </a:p>
        </p:txBody>
      </p:sp>
      <p:sp>
        <p:nvSpPr>
          <p:cNvPr id="7" name="Shape 5"/>
          <p:cNvSpPr/>
          <p:nvPr/>
        </p:nvSpPr>
        <p:spPr>
          <a:xfrm>
            <a:off x="365760" y="2743200"/>
            <a:ext cx="4023360" cy="1444752"/>
          </a:xfrm>
          <a:prstGeom prst="roundRect">
            <a:avLst>
              <a:gd name="adj" fmla="val 7595"/>
            </a:avLst>
          </a:prstGeom>
          <a:solidFill>
            <a:srgbClr val="E3F8ED"/>
          </a:solidFill>
          <a:ln w="19050">
            <a:solidFill>
              <a:srgbClr val="B8E8CF"/>
            </a:solidFill>
            <a:prstDash val="solid"/>
          </a:ln>
        </p:spPr>
      </p:sp>
      <p:sp>
        <p:nvSpPr>
          <p:cNvPr id="8" name="Text 6"/>
          <p:cNvSpPr/>
          <p:nvPr/>
        </p:nvSpPr>
        <p:spPr>
          <a:xfrm>
            <a:off x="548640" y="2834640"/>
            <a:ext cx="3657600" cy="2560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CARAVEL</a:t>
            </a:r>
            <a:endParaRPr lang="en-US" sz="900" dirty="0"/>
          </a:p>
        </p:txBody>
      </p:sp>
      <p:sp>
        <p:nvSpPr>
          <p:cNvPr id="9" name="Text 7"/>
          <p:cNvSpPr/>
          <p:nvPr/>
        </p:nvSpPr>
        <p:spPr>
          <a:xfrm>
            <a:off x="548640" y="3108960"/>
            <a:ext cx="3657600" cy="987552"/>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Best for exploring: small, fast, and could sail against the wind — letting explorers reach new places and change course quickly.</a:t>
            </a:r>
            <a:endParaRPr lang="en-US" sz="1200" dirty="0"/>
          </a:p>
        </p:txBody>
      </p:sp>
      <p:sp>
        <p:nvSpPr>
          <p:cNvPr id="10" name="Shape 8"/>
          <p:cNvSpPr/>
          <p:nvPr/>
        </p:nvSpPr>
        <p:spPr>
          <a:xfrm>
            <a:off x="4572000" y="2743200"/>
            <a:ext cx="4114800" cy="1444752"/>
          </a:xfrm>
          <a:prstGeom prst="roundRect">
            <a:avLst>
              <a:gd name="adj" fmla="val 7595"/>
            </a:avLst>
          </a:prstGeom>
          <a:solidFill>
            <a:srgbClr val="FFF3DC"/>
          </a:solidFill>
          <a:ln w="19050">
            <a:solidFill>
              <a:srgbClr val="F5E6C8"/>
            </a:solidFill>
            <a:prstDash val="solid"/>
          </a:ln>
        </p:spPr>
      </p:sp>
      <p:sp>
        <p:nvSpPr>
          <p:cNvPr id="11" name="Text 9"/>
          <p:cNvSpPr/>
          <p:nvPr/>
        </p:nvSpPr>
        <p:spPr>
          <a:xfrm>
            <a:off x="4754880" y="2834640"/>
            <a:ext cx="374904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CARRACK</a:t>
            </a:r>
            <a:endParaRPr lang="en-US" sz="900" dirty="0"/>
          </a:p>
        </p:txBody>
      </p:sp>
      <p:sp>
        <p:nvSpPr>
          <p:cNvPr id="12" name="Text 10"/>
          <p:cNvSpPr/>
          <p:nvPr/>
        </p:nvSpPr>
        <p:spPr>
          <a:xfrm>
            <a:off x="4754880" y="3108960"/>
            <a:ext cx="3749040" cy="987552"/>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Best for long voyages: large and could carry months of food, water, and supplies — keeping the crew alive far from land.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E1C42"/>
          </a:solidFill>
          <a:ln/>
        </p:spPr>
      </p:sp>
      <p:sp>
        <p:nvSpPr>
          <p:cNvPr id="3" name="Text 1"/>
          <p:cNvSpPr/>
          <p:nvPr/>
        </p:nvSpPr>
        <p:spPr>
          <a:xfrm>
            <a:off x="365760" y="0"/>
            <a:ext cx="8412480" cy="621792"/>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CLUE BOX  |  ARTIFACT TABLE</a:t>
            </a:r>
            <a:endParaRPr lang="en-US" sz="1100" dirty="0"/>
          </a:p>
        </p:txBody>
      </p:sp>
      <p:sp>
        <p:nvSpPr>
          <p:cNvPr id="4" name="Text 2"/>
          <p:cNvSpPr/>
          <p:nvPr/>
        </p:nvSpPr>
        <p:spPr>
          <a:xfrm>
            <a:off x="365760" y="777240"/>
            <a:ext cx="8229600" cy="50292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Look at This Before We Name It</a:t>
            </a:r>
            <a:endParaRPr lang="en-US" sz="2800" dirty="0"/>
          </a:p>
        </p:txBody>
      </p:sp>
      <p:sp>
        <p:nvSpPr>
          <p:cNvPr id="5" name="Shape 3"/>
          <p:cNvSpPr/>
          <p:nvPr/>
        </p:nvSpPr>
        <p:spPr>
          <a:xfrm>
            <a:off x="365760" y="1389888"/>
            <a:ext cx="5029200" cy="3063240"/>
          </a:xfrm>
          <a:prstGeom prst="roundRect">
            <a:avLst>
              <a:gd name="adj" fmla="val 3582"/>
            </a:avLst>
          </a:prstGeom>
          <a:solidFill>
            <a:srgbClr val="E2E8F4"/>
          </a:solidFill>
          <a:ln w="19050">
            <a:solidFill>
              <a:srgbClr val="B0B8CC"/>
            </a:solidFill>
            <a:prstDash val="dash"/>
          </a:ln>
        </p:spPr>
      </p:sp>
      <p:sp>
        <p:nvSpPr>
          <p:cNvPr id="6" name="Text 4"/>
          <p:cNvSpPr/>
          <p:nvPr/>
        </p:nvSpPr>
        <p:spPr>
          <a:xfrm>
            <a:off x="365760" y="1389888"/>
            <a:ext cx="50292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664208"/>
            <a:ext cx="4754880" cy="26974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portolan chart — a hand-drawn sea chart on parchment from the 1400s-1500s showing coastlines of Europe and Africa with compass lines (rhumb lines) radiating from central wind roses. No modern labels or overlays. Search: Library of Congress (loc.gov), Wikimedia Commons 'portolan chart', or British Library digital collection.</a:t>
            </a:r>
            <a:endParaRPr lang="en-US" sz="1100" dirty="0"/>
          </a:p>
        </p:txBody>
      </p:sp>
      <p:sp>
        <p:nvSpPr>
          <p:cNvPr id="8" name="Shape 6"/>
          <p:cNvSpPr/>
          <p:nvPr/>
        </p:nvSpPr>
        <p:spPr>
          <a:xfrm>
            <a:off x="5577840" y="1389888"/>
            <a:ext cx="3154680" cy="1444752"/>
          </a:xfrm>
          <a:prstGeom prst="roundRect">
            <a:avLst>
              <a:gd name="adj" fmla="val 7595"/>
            </a:avLst>
          </a:prstGeom>
          <a:solidFill>
            <a:srgbClr val="F0F2F8"/>
          </a:solidFill>
          <a:ln w="19050">
            <a:solidFill>
              <a:srgbClr val="D0D8E8"/>
            </a:solidFill>
            <a:prstDash val="solid"/>
          </a:ln>
        </p:spPr>
      </p:sp>
      <p:sp>
        <p:nvSpPr>
          <p:cNvPr id="9" name="Text 7"/>
          <p:cNvSpPr/>
          <p:nvPr/>
        </p:nvSpPr>
        <p:spPr>
          <a:xfrm>
            <a:off x="5760720" y="1481328"/>
            <a:ext cx="2788920" cy="2560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WHAT I NOTICE FIRST</a:t>
            </a:r>
            <a:endParaRPr lang="en-US" sz="900" dirty="0"/>
          </a:p>
        </p:txBody>
      </p:sp>
      <p:sp>
        <p:nvSpPr>
          <p:cNvPr id="10" name="Text 8"/>
          <p:cNvSpPr/>
          <p:nvPr/>
        </p:nvSpPr>
        <p:spPr>
          <a:xfrm>
            <a:off x="5760720" y="1755648"/>
            <a:ext cx="2788920" cy="987552"/>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Look at this source. What catches your eye first? What shapes do you see?</a:t>
            </a:r>
            <a:endParaRPr lang="en-US" sz="1200" dirty="0"/>
          </a:p>
        </p:txBody>
      </p:sp>
      <p:sp>
        <p:nvSpPr>
          <p:cNvPr id="11" name="Shape 9"/>
          <p:cNvSpPr/>
          <p:nvPr/>
        </p:nvSpPr>
        <p:spPr>
          <a:xfrm>
            <a:off x="5577840" y="2926080"/>
            <a:ext cx="3154680" cy="1508760"/>
          </a:xfrm>
          <a:prstGeom prst="roundRect">
            <a:avLst>
              <a:gd name="adj" fmla="val 7273"/>
            </a:avLst>
          </a:prstGeom>
          <a:solidFill>
            <a:srgbClr val="F0F2F8"/>
          </a:solidFill>
          <a:ln w="19050">
            <a:solidFill>
              <a:srgbClr val="D0D8E8"/>
            </a:solidFill>
            <a:prstDash val="solid"/>
          </a:ln>
        </p:spPr>
      </p:sp>
      <p:sp>
        <p:nvSpPr>
          <p:cNvPr id="12" name="Text 10"/>
          <p:cNvSpPr/>
          <p:nvPr/>
        </p:nvSpPr>
        <p:spPr>
          <a:xfrm>
            <a:off x="5760720" y="3017520"/>
            <a:ext cx="2788920" cy="256032"/>
          </a:xfrm>
          <a:prstGeom prst="rect">
            <a:avLst/>
          </a:prstGeom>
          <a:noFill/>
          <a:ln/>
        </p:spPr>
        <p:txBody>
          <a:bodyPr wrap="square" lIns="0" tIns="0" rIns="0" bIns="0"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WHAT I WONDER</a:t>
            </a:r>
            <a:endParaRPr lang="en-US" sz="900" dirty="0"/>
          </a:p>
        </p:txBody>
      </p:sp>
      <p:sp>
        <p:nvSpPr>
          <p:cNvPr id="13" name="Text 11"/>
          <p:cNvSpPr/>
          <p:nvPr/>
        </p:nvSpPr>
        <p:spPr>
          <a:xfrm>
            <a:off x="5760720" y="3291840"/>
            <a:ext cx="2788920" cy="1078992"/>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What is one question you have? What do the lines radiating from center points represent?</a:t>
            </a:r>
            <a:endParaRPr lang="en-US" sz="1200" dirty="0"/>
          </a:p>
        </p:txBody>
      </p:sp>
      <p:sp>
        <p:nvSpPr>
          <p:cNvPr id="14" name="Shape 12"/>
          <p:cNvSpPr/>
          <p:nvPr/>
        </p:nvSpPr>
        <p:spPr>
          <a:xfrm>
            <a:off x="365760" y="4526280"/>
            <a:ext cx="8321040" cy="475488"/>
          </a:xfrm>
          <a:prstGeom prst="roundRect">
            <a:avLst>
              <a:gd name="adj" fmla="val 23077"/>
            </a:avLst>
          </a:prstGeom>
          <a:solidFill>
            <a:srgbClr val="FFF3DC"/>
          </a:solidFill>
          <a:ln w="19050">
            <a:solidFill>
              <a:srgbClr val="F5E6C8"/>
            </a:solidFill>
            <a:prstDash val="solid"/>
          </a:ln>
        </p:spPr>
      </p:sp>
      <p:sp>
        <p:nvSpPr>
          <p:cNvPr id="15" name="Text 13"/>
          <p:cNvSpPr/>
          <p:nvPr/>
        </p:nvSpPr>
        <p:spPr>
          <a:xfrm>
            <a:off x="502920" y="4581144"/>
            <a:ext cx="80467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502920" y="4782312"/>
            <a:ext cx="8046720" cy="15544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wonder..."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E1C42"/>
          </a:solidFill>
          <a:ln/>
        </p:spPr>
      </p:sp>
      <p:sp>
        <p:nvSpPr>
          <p:cNvPr id="3" name="Text 1"/>
          <p:cNvSpPr/>
          <p:nvPr/>
        </p:nvSpPr>
        <p:spPr>
          <a:xfrm>
            <a:off x="365760" y="0"/>
            <a:ext cx="8412480" cy="621792"/>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SOURCE STUDY  |  THINK LIKE A CURATOR</a:t>
            </a:r>
            <a:endParaRPr lang="en-US" sz="1100" dirty="0"/>
          </a:p>
        </p:txBody>
      </p:sp>
      <p:sp>
        <p:nvSpPr>
          <p:cNvPr id="4" name="Text 2"/>
          <p:cNvSpPr/>
          <p:nvPr/>
        </p:nvSpPr>
        <p:spPr>
          <a:xfrm>
            <a:off x="365760" y="777240"/>
            <a:ext cx="8229600" cy="50292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Three Curator Questions</a:t>
            </a:r>
            <a:endParaRPr lang="en-US" sz="2800" dirty="0"/>
          </a:p>
        </p:txBody>
      </p:sp>
      <p:sp>
        <p:nvSpPr>
          <p:cNvPr id="5" name="Shape 3"/>
          <p:cNvSpPr/>
          <p:nvPr/>
        </p:nvSpPr>
        <p:spPr>
          <a:xfrm>
            <a:off x="365760" y="1389888"/>
            <a:ext cx="2560320" cy="2011680"/>
          </a:xfrm>
          <a:prstGeom prst="roundRect">
            <a:avLst>
              <a:gd name="adj" fmla="val 5455"/>
            </a:avLst>
          </a:prstGeom>
          <a:solidFill>
            <a:srgbClr val="E2E8F4"/>
          </a:solidFill>
          <a:ln w="19050">
            <a:solidFill>
              <a:srgbClr val="B0B8CC"/>
            </a:solidFill>
            <a:prstDash val="dash"/>
          </a:ln>
        </p:spPr>
      </p:sp>
      <p:sp>
        <p:nvSpPr>
          <p:cNvPr id="6" name="Text 4"/>
          <p:cNvSpPr/>
          <p:nvPr/>
        </p:nvSpPr>
        <p:spPr>
          <a:xfrm>
            <a:off x="365760" y="1389888"/>
            <a:ext cx="25603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664208"/>
            <a:ext cx="2286000" cy="16459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Same portolan chart — smaller reference image for discussion</a:t>
            </a:r>
            <a:endParaRPr lang="en-US" sz="1100" dirty="0"/>
          </a:p>
        </p:txBody>
      </p:sp>
      <p:sp>
        <p:nvSpPr>
          <p:cNvPr id="8" name="Shape 6"/>
          <p:cNvSpPr/>
          <p:nvPr/>
        </p:nvSpPr>
        <p:spPr>
          <a:xfrm>
            <a:off x="3108960" y="1389888"/>
            <a:ext cx="5577840" cy="822960"/>
          </a:xfrm>
          <a:prstGeom prst="roundRect">
            <a:avLst>
              <a:gd name="adj" fmla="val 11111"/>
            </a:avLst>
          </a:prstGeom>
          <a:solidFill>
            <a:srgbClr val="EAF8FD"/>
          </a:solidFill>
          <a:ln w="19050">
            <a:solidFill>
              <a:srgbClr val="B8DFF0"/>
            </a:solidFill>
            <a:prstDash val="solid"/>
          </a:ln>
        </p:spPr>
      </p:sp>
      <p:sp>
        <p:nvSpPr>
          <p:cNvPr id="9" name="Text 7"/>
          <p:cNvSpPr/>
          <p:nvPr/>
        </p:nvSpPr>
        <p:spPr>
          <a:xfrm>
            <a:off x="3291840" y="1444752"/>
            <a:ext cx="5212080" cy="219456"/>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WHAT DO I SEE?</a:t>
            </a:r>
            <a:endParaRPr lang="en-US" sz="900" dirty="0"/>
          </a:p>
        </p:txBody>
      </p:sp>
      <p:sp>
        <p:nvSpPr>
          <p:cNvPr id="10" name="Text 8"/>
          <p:cNvSpPr/>
          <p:nvPr/>
        </p:nvSpPr>
        <p:spPr>
          <a:xfrm>
            <a:off x="3291840" y="1664208"/>
            <a:ext cx="5212080" cy="475488"/>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What shapes, lines, and features do you notice? How is it different from a modern map?</a:t>
            </a:r>
            <a:endParaRPr lang="en-US" sz="1200" dirty="0"/>
          </a:p>
        </p:txBody>
      </p:sp>
      <p:sp>
        <p:nvSpPr>
          <p:cNvPr id="11" name="Shape 9"/>
          <p:cNvSpPr/>
          <p:nvPr/>
        </p:nvSpPr>
        <p:spPr>
          <a:xfrm>
            <a:off x="3108960" y="2304288"/>
            <a:ext cx="5577840" cy="822960"/>
          </a:xfrm>
          <a:prstGeom prst="roundRect">
            <a:avLst>
              <a:gd name="adj" fmla="val 11111"/>
            </a:avLst>
          </a:prstGeom>
          <a:solidFill>
            <a:srgbClr val="FFF3DC"/>
          </a:solidFill>
          <a:ln w="19050">
            <a:solidFill>
              <a:srgbClr val="F5E6C8"/>
            </a:solidFill>
            <a:prstDash val="solid"/>
          </a:ln>
        </p:spPr>
      </p:sp>
      <p:sp>
        <p:nvSpPr>
          <p:cNvPr id="12" name="Text 10"/>
          <p:cNvSpPr/>
          <p:nvPr/>
        </p:nvSpPr>
        <p:spPr>
          <a:xfrm>
            <a:off x="3291840" y="2359152"/>
            <a:ext cx="5212080" cy="219456"/>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WHAT DOES IT MEAN?</a:t>
            </a:r>
            <a:endParaRPr lang="en-US" sz="900" dirty="0"/>
          </a:p>
        </p:txBody>
      </p:sp>
      <p:sp>
        <p:nvSpPr>
          <p:cNvPr id="13" name="Text 11"/>
          <p:cNvSpPr/>
          <p:nvPr/>
        </p:nvSpPr>
        <p:spPr>
          <a:xfrm>
            <a:off x="3291840" y="2578608"/>
            <a:ext cx="5212080" cy="475488"/>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How would a sailor use this chart to plan a voyage? What does it give that a plain land map does not?</a:t>
            </a:r>
            <a:endParaRPr lang="en-US" sz="1200" dirty="0"/>
          </a:p>
        </p:txBody>
      </p:sp>
      <p:sp>
        <p:nvSpPr>
          <p:cNvPr id="14" name="Shape 12"/>
          <p:cNvSpPr/>
          <p:nvPr/>
        </p:nvSpPr>
        <p:spPr>
          <a:xfrm>
            <a:off x="3108960" y="3218688"/>
            <a:ext cx="5577840" cy="822960"/>
          </a:xfrm>
          <a:prstGeom prst="roundRect">
            <a:avLst>
              <a:gd name="adj" fmla="val 11111"/>
            </a:avLst>
          </a:prstGeom>
          <a:solidFill>
            <a:srgbClr val="FFF0F0"/>
          </a:solidFill>
          <a:ln w="19050">
            <a:solidFill>
              <a:srgbClr val="F5C0C0"/>
            </a:solidFill>
            <a:prstDash val="solid"/>
          </a:ln>
        </p:spPr>
      </p:sp>
      <p:sp>
        <p:nvSpPr>
          <p:cNvPr id="15" name="Text 13"/>
          <p:cNvSpPr/>
          <p:nvPr/>
        </p:nvSpPr>
        <p:spPr>
          <a:xfrm>
            <a:off x="3291840" y="3273552"/>
            <a:ext cx="5212080" cy="219456"/>
          </a:xfrm>
          <a:prstGeom prst="rect">
            <a:avLst/>
          </a:prstGeom>
          <a:noFill/>
          <a:ln/>
        </p:spPr>
        <p:txBody>
          <a:bodyPr wrap="square" lIns="0" tIns="0" rIns="0" bIns="0"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WHY DOES IT MATTER?</a:t>
            </a:r>
            <a:endParaRPr lang="en-US" sz="900" dirty="0"/>
          </a:p>
        </p:txBody>
      </p:sp>
      <p:sp>
        <p:nvSpPr>
          <p:cNvPr id="16" name="Text 14"/>
          <p:cNvSpPr/>
          <p:nvPr/>
        </p:nvSpPr>
        <p:spPr>
          <a:xfrm>
            <a:off x="3291840" y="3493008"/>
            <a:ext cx="5212080" cy="475488"/>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How does this chart connect to the system of maps, ships, and science that made exploration possible?</a:t>
            </a:r>
            <a:endParaRPr lang="en-US" sz="1200" dirty="0"/>
          </a:p>
        </p:txBody>
      </p:sp>
      <p:sp>
        <p:nvSpPr>
          <p:cNvPr id="17" name="Shape 15"/>
          <p:cNvSpPr/>
          <p:nvPr/>
        </p:nvSpPr>
        <p:spPr>
          <a:xfrm>
            <a:off x="365760" y="3493008"/>
            <a:ext cx="8321040" cy="1417320"/>
          </a:xfrm>
          <a:prstGeom prst="roundRect">
            <a:avLst>
              <a:gd name="adj" fmla="val 9677"/>
            </a:avLst>
          </a:prstGeom>
          <a:solidFill>
            <a:srgbClr val="1A2D5A"/>
          </a:solidFill>
          <a:ln/>
          <a:effectLst>
            <a:outerShdw sx="100000" sy="100000" kx="0" ky="0" algn="bl" rotWithShape="0" blurRad="101600" dist="38100" dir="8100000">
              <a:srgbClr val="000000">
                <a:alpha val="20000"/>
              </a:srgbClr>
            </a:outerShdw>
          </a:effectLst>
        </p:spPr>
      </p:sp>
      <p:sp>
        <p:nvSpPr>
          <p:cNvPr id="18" name="Text 16"/>
          <p:cNvSpPr/>
          <p:nvPr/>
        </p:nvSpPr>
        <p:spPr>
          <a:xfrm>
            <a:off x="548640" y="3584448"/>
            <a:ext cx="79552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9" name="Text 17"/>
          <p:cNvSpPr/>
          <p:nvPr/>
        </p:nvSpPr>
        <p:spPr>
          <a:xfrm>
            <a:off x="548640" y="3840480"/>
            <a:ext cx="7955280" cy="9784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the lines spreading from central points tell you?</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 drew this chart — and how did they know where the coastlines were?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be dangerous about using an inaccurate chart?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457200" y="256032"/>
            <a:ext cx="2286000" cy="347472"/>
          </a:xfrm>
          <a:prstGeom prst="roundRect">
            <a:avLst>
              <a:gd name="adj" fmla="val 47368"/>
            </a:avLst>
          </a:prstGeom>
          <a:solidFill>
            <a:srgbClr val="1A8A7D"/>
          </a:solidFill>
          <a:ln/>
        </p:spPr>
      </p:sp>
      <p:sp>
        <p:nvSpPr>
          <p:cNvPr id="5" name="Text 3"/>
          <p:cNvSpPr/>
          <p:nvPr/>
        </p:nvSpPr>
        <p:spPr>
          <a:xfrm>
            <a:off x="457200" y="256032"/>
            <a:ext cx="228600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PORTOLAN CHART UNLOCKED</a:t>
            </a:r>
            <a:endParaRPr lang="en-US" sz="1000" dirty="0"/>
          </a:p>
        </p:txBody>
      </p:sp>
      <p:sp>
        <p:nvSpPr>
          <p:cNvPr id="6" name="Shape 4"/>
          <p:cNvSpPr/>
          <p:nvPr/>
        </p:nvSpPr>
        <p:spPr>
          <a:xfrm>
            <a:off x="365760" y="749808"/>
            <a:ext cx="4114800" cy="3749040"/>
          </a:xfrm>
          <a:prstGeom prst="roundRect">
            <a:avLst>
              <a:gd name="adj" fmla="val 2927"/>
            </a:avLst>
          </a:prstGeom>
          <a:solidFill>
            <a:srgbClr val="E2E8F4"/>
          </a:solidFill>
          <a:ln w="19050">
            <a:solidFill>
              <a:srgbClr val="B0B8CC"/>
            </a:solidFill>
            <a:prstDash val="dash"/>
          </a:ln>
        </p:spPr>
      </p:sp>
      <p:sp>
        <p:nvSpPr>
          <p:cNvPr id="7" name="Text 5"/>
          <p:cNvSpPr/>
          <p:nvPr/>
        </p:nvSpPr>
        <p:spPr>
          <a:xfrm>
            <a:off x="365760" y="749808"/>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02920" y="1024128"/>
            <a:ext cx="3840480" cy="33832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Portolan chart — large dramatic version showing the full chart on parchment with compass roses and rhumb lines clearly visible. Search: Library of Congress digital collection, Wikimedia Commons 'portolan chart Mediterranean'.</a:t>
            </a:r>
            <a:endParaRPr lang="en-US" sz="1100" dirty="0"/>
          </a:p>
        </p:txBody>
      </p:sp>
      <p:sp>
        <p:nvSpPr>
          <p:cNvPr id="9" name="Text 7"/>
          <p:cNvSpPr/>
          <p:nvPr/>
        </p:nvSpPr>
        <p:spPr>
          <a:xfrm>
            <a:off x="4754880" y="749808"/>
            <a:ext cx="4023360" cy="621792"/>
          </a:xfrm>
          <a:prstGeom prst="rect">
            <a:avLst/>
          </a:prstGeom>
          <a:noFill/>
          <a:ln/>
        </p:spPr>
        <p:txBody>
          <a:bodyPr wrap="square" lIns="0" tIns="0" rIns="0" bIns="0" rtlCol="0" anchor="ctr"/>
          <a:lstStyle/>
          <a:p>
            <a:pPr indent="0" marL="0">
              <a:buNone/>
            </a:pPr>
            <a:r>
              <a:rPr lang="en-US" sz="3200" b="1" dirty="0">
                <a:solidFill>
                  <a:srgbClr val="D4943A"/>
                </a:solidFill>
                <a:latin typeface="Cambria" pitchFamily="34" charset="0"/>
                <a:ea typeface="Cambria" pitchFamily="34" charset="-122"/>
                <a:cs typeface="Cambria" pitchFamily="34" charset="-120"/>
              </a:rPr>
              <a:t>Portolan Chart</a:t>
            </a:r>
            <a:endParaRPr lang="en-US" sz="3200" dirty="0"/>
          </a:p>
        </p:txBody>
      </p:sp>
      <p:sp>
        <p:nvSpPr>
          <p:cNvPr id="10" name="Text 8"/>
          <p:cNvSpPr/>
          <p:nvPr/>
        </p:nvSpPr>
        <p:spPr>
          <a:xfrm>
            <a:off x="4754880" y="1371600"/>
            <a:ext cx="4023360" cy="411480"/>
          </a:xfrm>
          <a:prstGeom prst="rect">
            <a:avLst/>
          </a:prstGeom>
          <a:noFill/>
          <a:ln/>
        </p:spPr>
        <p:txBody>
          <a:bodyPr wrap="square" lIns="0" tIns="0" rIns="0" bIns="0" rtlCol="0" anchor="ctr"/>
          <a:lstStyle/>
          <a:p>
            <a:pPr indent="0" marL="0">
              <a:buNone/>
            </a:pPr>
            <a:r>
              <a:rPr lang="en-US" sz="1300" i="1" dirty="0">
                <a:solidFill>
                  <a:srgbClr val="55C8E8"/>
                </a:solidFill>
                <a:latin typeface="Calibri" pitchFamily="34" charset="0"/>
                <a:ea typeface="Calibri" pitchFamily="34" charset="-122"/>
                <a:cs typeface="Calibri" pitchFamily="34" charset="-120"/>
              </a:rPr>
              <a:t>A hand-drawn sea chart showing coastlines, ports, and compass lines</a:t>
            </a:r>
            <a:endParaRPr lang="en-US" sz="1300" dirty="0"/>
          </a:p>
        </p:txBody>
      </p:sp>
      <p:sp>
        <p:nvSpPr>
          <p:cNvPr id="11" name="Text 9"/>
          <p:cNvSpPr/>
          <p:nvPr/>
        </p:nvSpPr>
        <p:spPr>
          <a:xfrm>
            <a:off x="4754880" y="1828800"/>
            <a:ext cx="4023360" cy="1719072"/>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Showed coastlines, harbors, and compass directions</a:t>
            </a:r>
            <a:endParaRPr lang="en-US" sz="1200" dirty="0"/>
          </a:p>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Lines from wind roses showed compass bearings for navigation</a:t>
            </a:r>
            <a:endParaRPr lang="en-US" sz="1200" dirty="0"/>
          </a:p>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Not perfect — but each returning explorer improved the next chart</a:t>
            </a:r>
            <a:endParaRPr lang="en-US" sz="1200" dirty="0"/>
          </a:p>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Every voyage made the system more accurate</a:t>
            </a:r>
            <a:endParaRPr lang="en-US" sz="1200" dirty="0"/>
          </a:p>
        </p:txBody>
      </p:sp>
      <p:sp>
        <p:nvSpPr>
          <p:cNvPr id="12" name="Shape 10"/>
          <p:cNvSpPr/>
          <p:nvPr/>
        </p:nvSpPr>
        <p:spPr>
          <a:xfrm>
            <a:off x="4754880" y="3639312"/>
            <a:ext cx="4023360" cy="868680"/>
          </a:xfrm>
          <a:prstGeom prst="roundRect">
            <a:avLst>
              <a:gd name="adj" fmla="val 10526"/>
            </a:avLst>
          </a:prstGeom>
          <a:solidFill>
            <a:srgbClr val="0A122A"/>
          </a:solidFill>
          <a:ln/>
        </p:spPr>
      </p:sp>
      <p:sp>
        <p:nvSpPr>
          <p:cNvPr id="13" name="Text 11"/>
          <p:cNvSpPr/>
          <p:nvPr/>
        </p:nvSpPr>
        <p:spPr>
          <a:xfrm>
            <a:off x="4937760" y="3712464"/>
            <a:ext cx="3657600" cy="201168"/>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WORD ORIGIN</a:t>
            </a:r>
            <a:endParaRPr lang="en-US" sz="900" dirty="0"/>
          </a:p>
        </p:txBody>
      </p:sp>
      <p:sp>
        <p:nvSpPr>
          <p:cNvPr id="14" name="Text 12"/>
          <p:cNvSpPr/>
          <p:nvPr/>
        </p:nvSpPr>
        <p:spPr>
          <a:xfrm>
            <a:off x="4937760" y="3913632"/>
            <a:ext cx="3657600" cy="530352"/>
          </a:xfrm>
          <a:prstGeom prst="rect">
            <a:avLst/>
          </a:prstGeom>
          <a:noFill/>
          <a:ln/>
        </p:spPr>
        <p:txBody>
          <a:bodyPr wrap="square" lIns="0" tIns="0" rIns="0" bIns="0" rtlCol="0" anchor="t"/>
          <a:lstStyle/>
          <a:p>
            <a:pPr indent="0" marL="0">
              <a:buNone/>
            </a:pPr>
            <a:r>
              <a:rPr lang="en-US" sz="1100" i="1" dirty="0">
                <a:solidFill>
                  <a:srgbClr val="55C8E8"/>
                </a:solidFill>
                <a:latin typeface="Calibri" pitchFamily="34" charset="0"/>
                <a:ea typeface="Calibri" pitchFamily="34" charset="-122"/>
                <a:cs typeface="Calibri" pitchFamily="34" charset="-120"/>
              </a:rPr>
              <a:t>Portolan comes from the Italian portolano — a port book or guide to harbors. These charts were literally guides from port to port.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E1C42"/>
          </a:solidFill>
          <a:ln/>
        </p:spPr>
      </p:sp>
      <p:sp>
        <p:nvSpPr>
          <p:cNvPr id="3" name="Text 1"/>
          <p:cNvSpPr/>
          <p:nvPr/>
        </p:nvSpPr>
        <p:spPr>
          <a:xfrm>
            <a:off x="365760" y="0"/>
            <a:ext cx="8412480" cy="621792"/>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THEN &amp; NOW  |  HOW NAVIGATION MAPPING CHANGED</a:t>
            </a:r>
            <a:endParaRPr lang="en-US" sz="1100" dirty="0"/>
          </a:p>
        </p:txBody>
      </p:sp>
      <p:sp>
        <p:nvSpPr>
          <p:cNvPr id="4" name="Text 2"/>
          <p:cNvSpPr/>
          <p:nvPr/>
        </p:nvSpPr>
        <p:spPr>
          <a:xfrm>
            <a:off x="365760" y="777240"/>
            <a:ext cx="8229600" cy="50292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Same Goal. Very Different Tools.</a:t>
            </a:r>
            <a:endParaRPr lang="en-US" sz="2800" dirty="0"/>
          </a:p>
        </p:txBody>
      </p:sp>
      <p:sp>
        <p:nvSpPr>
          <p:cNvPr id="5" name="Shape 3"/>
          <p:cNvSpPr/>
          <p:nvPr/>
        </p:nvSpPr>
        <p:spPr>
          <a:xfrm>
            <a:off x="365760" y="1389888"/>
            <a:ext cx="3931920" cy="2743200"/>
          </a:xfrm>
          <a:prstGeom prst="roundRect">
            <a:avLst>
              <a:gd name="adj" fmla="val 4000"/>
            </a:avLst>
          </a:prstGeom>
          <a:solidFill>
            <a:srgbClr val="F0F2F8"/>
          </a:solidFill>
          <a:ln w="19050">
            <a:solidFill>
              <a:srgbClr val="D0D8E8"/>
            </a:solidFill>
            <a:prstDash val="solid"/>
          </a:ln>
        </p:spPr>
      </p:sp>
      <p:sp>
        <p:nvSpPr>
          <p:cNvPr id="6" name="Text 4"/>
          <p:cNvSpPr/>
          <p:nvPr/>
        </p:nvSpPr>
        <p:spPr>
          <a:xfrm>
            <a:off x="548640" y="1481328"/>
            <a:ext cx="3566160" cy="256032"/>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THEN  |  1400s-1600s</a:t>
            </a:r>
            <a:endParaRPr lang="en-US" sz="900" dirty="0"/>
          </a:p>
        </p:txBody>
      </p:sp>
      <p:sp>
        <p:nvSpPr>
          <p:cNvPr id="7" name="Text 5"/>
          <p:cNvSpPr/>
          <p:nvPr/>
        </p:nvSpPr>
        <p:spPr>
          <a:xfrm>
            <a:off x="548640" y="1755648"/>
            <a:ext cx="3566160" cy="141732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Sailors drew portolan charts by hand, based on compass readings and personal experience. Every chart was imperfect. Every returning explorer made the next one better.</a:t>
            </a:r>
            <a:endParaRPr lang="en-US" sz="1200" dirty="0"/>
          </a:p>
        </p:txBody>
      </p:sp>
      <p:sp>
        <p:nvSpPr>
          <p:cNvPr id="8" name="Shape 6"/>
          <p:cNvSpPr/>
          <p:nvPr/>
        </p:nvSpPr>
        <p:spPr>
          <a:xfrm>
            <a:off x="548640" y="3154680"/>
            <a:ext cx="3566160" cy="841248"/>
          </a:xfrm>
          <a:prstGeom prst="roundRect">
            <a:avLst>
              <a:gd name="adj" fmla="val 13043"/>
            </a:avLst>
          </a:prstGeom>
          <a:solidFill>
            <a:srgbClr val="E2E8F4"/>
          </a:solidFill>
          <a:ln w="19050">
            <a:solidFill>
              <a:srgbClr val="B0B8CC"/>
            </a:solidFill>
            <a:prstDash val="dash"/>
          </a:ln>
        </p:spPr>
      </p:sp>
      <p:sp>
        <p:nvSpPr>
          <p:cNvPr id="9" name="Text 7"/>
          <p:cNvSpPr/>
          <p:nvPr/>
        </p:nvSpPr>
        <p:spPr>
          <a:xfrm>
            <a:off x="548640" y="3154680"/>
            <a:ext cx="356616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685800" y="3429000"/>
            <a:ext cx="3291840" cy="475488"/>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Close-up of a portolan chart showing hand-drawn coastlines and compass roses on aged parchment</a:t>
            </a:r>
            <a:endParaRPr lang="en-US" sz="1100" dirty="0"/>
          </a:p>
        </p:txBody>
      </p:sp>
      <p:sp>
        <p:nvSpPr>
          <p:cNvPr id="11" name="Shape 9"/>
          <p:cNvSpPr/>
          <p:nvPr/>
        </p:nvSpPr>
        <p:spPr>
          <a:xfrm>
            <a:off x="4572000" y="1389888"/>
            <a:ext cx="4114800" cy="2743200"/>
          </a:xfrm>
          <a:prstGeom prst="roundRect">
            <a:avLst>
              <a:gd name="adj" fmla="val 4000"/>
            </a:avLst>
          </a:prstGeom>
          <a:solidFill>
            <a:srgbClr val="EAF8FD"/>
          </a:solidFill>
          <a:ln w="19050">
            <a:solidFill>
              <a:srgbClr val="B8DFF0"/>
            </a:solidFill>
            <a:prstDash val="solid"/>
          </a:ln>
        </p:spPr>
      </p:sp>
      <p:sp>
        <p:nvSpPr>
          <p:cNvPr id="12" name="Text 10"/>
          <p:cNvSpPr/>
          <p:nvPr/>
        </p:nvSpPr>
        <p:spPr>
          <a:xfrm>
            <a:off x="4754880" y="1481328"/>
            <a:ext cx="3749040" cy="2560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NOW  |  TODAY</a:t>
            </a:r>
            <a:endParaRPr lang="en-US" sz="900" dirty="0"/>
          </a:p>
        </p:txBody>
      </p:sp>
      <p:sp>
        <p:nvSpPr>
          <p:cNvPr id="13" name="Text 11"/>
          <p:cNvSpPr/>
          <p:nvPr/>
        </p:nvSpPr>
        <p:spPr>
          <a:xfrm>
            <a:off x="4754880" y="1755648"/>
            <a:ext cx="3749040" cy="141732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Satellites create digital ocean charts in real time. GPS updates as ships move. Tiny errors that once caused shipwrecks are corrected automatically.</a:t>
            </a:r>
            <a:endParaRPr lang="en-US" sz="1200" dirty="0"/>
          </a:p>
        </p:txBody>
      </p:sp>
      <p:sp>
        <p:nvSpPr>
          <p:cNvPr id="14" name="Shape 12"/>
          <p:cNvSpPr/>
          <p:nvPr/>
        </p:nvSpPr>
        <p:spPr>
          <a:xfrm>
            <a:off x="4754880" y="3154680"/>
            <a:ext cx="3749040" cy="841248"/>
          </a:xfrm>
          <a:prstGeom prst="roundRect">
            <a:avLst>
              <a:gd name="adj" fmla="val 13043"/>
            </a:avLst>
          </a:prstGeom>
          <a:solidFill>
            <a:srgbClr val="E2E8F4"/>
          </a:solidFill>
          <a:ln w="19050">
            <a:solidFill>
              <a:srgbClr val="B0B8CC"/>
            </a:solidFill>
            <a:prstDash val="dash"/>
          </a:ln>
        </p:spPr>
      </p:sp>
      <p:sp>
        <p:nvSpPr>
          <p:cNvPr id="15" name="Text 13"/>
          <p:cNvSpPr/>
          <p:nvPr/>
        </p:nvSpPr>
        <p:spPr>
          <a:xfrm>
            <a:off x="4754880" y="3154680"/>
            <a:ext cx="37490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6" name="Text 14"/>
          <p:cNvSpPr/>
          <p:nvPr/>
        </p:nvSpPr>
        <p:spPr>
          <a:xfrm>
            <a:off x="4892040" y="3429000"/>
            <a:ext cx="3474720" cy="475488"/>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modern digital nautical chart or GPS navigation display on a ship's bridge. Search: NOAA nautical charts (nauticalcharts.noaa.gov).</a:t>
            </a:r>
            <a:endParaRPr lang="en-US" sz="1100" dirty="0"/>
          </a:p>
        </p:txBody>
      </p:sp>
      <p:sp>
        <p:nvSpPr>
          <p:cNvPr id="17" name="Shape 15"/>
          <p:cNvSpPr/>
          <p:nvPr/>
        </p:nvSpPr>
        <p:spPr>
          <a:xfrm>
            <a:off x="365760" y="4206240"/>
            <a:ext cx="8321040" cy="658368"/>
          </a:xfrm>
          <a:prstGeom prst="roundRect">
            <a:avLst>
              <a:gd name="adj" fmla="val 13889"/>
            </a:avLst>
          </a:prstGeom>
          <a:solidFill>
            <a:srgbClr val="0E1C42"/>
          </a:solidFill>
          <a:ln/>
        </p:spPr>
      </p:sp>
      <p:sp>
        <p:nvSpPr>
          <p:cNvPr id="18" name="Text 16"/>
          <p:cNvSpPr/>
          <p:nvPr/>
        </p:nvSpPr>
        <p:spPr>
          <a:xfrm>
            <a:off x="548640" y="4251960"/>
            <a:ext cx="7955280" cy="502920"/>
          </a:xfrm>
          <a:prstGeom prst="rect">
            <a:avLst/>
          </a:prstGeom>
          <a:noFill/>
          <a:ln/>
        </p:spPr>
        <p:txBody>
          <a:bodyPr wrap="square" lIns="0" tIns="0" rIns="0" bIns="0" rtlCol="0" anchor="ctr"/>
          <a:lstStyle/>
          <a:p>
            <a:pPr indent="0" marL="0">
              <a:buNone/>
            </a:pPr>
            <a:r>
              <a:rPr lang="en-US" sz="1400" i="1" dirty="0">
                <a:solidFill>
                  <a:srgbClr val="FFFFFF"/>
                </a:solidFill>
                <a:latin typeface="Cambria" pitchFamily="34" charset="0"/>
                <a:ea typeface="Cambria" pitchFamily="34" charset="-122"/>
                <a:cs typeface="Cambria" pitchFamily="34" charset="-120"/>
              </a:rPr>
              <a:t>THE SAME GOAL: Give travelers the information they need to move safely from one place to another.</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E1C42"/>
          </a:solidFill>
          <a:ln/>
        </p:spPr>
      </p:sp>
      <p:sp>
        <p:nvSpPr>
          <p:cNvPr id="3" name="Text 1"/>
          <p:cNvSpPr/>
          <p:nvPr/>
        </p:nvSpPr>
        <p:spPr>
          <a:xfrm>
            <a:off x="365760" y="0"/>
            <a:ext cx="8412480" cy="621792"/>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CLUE BOX  |  INVISIBLE FORCES</a:t>
            </a:r>
            <a:endParaRPr lang="en-US" sz="1100" dirty="0"/>
          </a:p>
        </p:txBody>
      </p:sp>
      <p:sp>
        <p:nvSpPr>
          <p:cNvPr id="4" name="Text 2"/>
          <p:cNvSpPr/>
          <p:nvPr/>
        </p:nvSpPr>
        <p:spPr>
          <a:xfrm>
            <a:off x="365760" y="777240"/>
            <a:ext cx="8229600" cy="50292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Something Helped Ships Move — But What?</a:t>
            </a:r>
            <a:endParaRPr lang="en-US" sz="2800" dirty="0"/>
          </a:p>
        </p:txBody>
      </p:sp>
      <p:sp>
        <p:nvSpPr>
          <p:cNvPr id="5" name="Shape 3"/>
          <p:cNvSpPr/>
          <p:nvPr/>
        </p:nvSpPr>
        <p:spPr>
          <a:xfrm>
            <a:off x="365760" y="1389888"/>
            <a:ext cx="4754880" cy="3063240"/>
          </a:xfrm>
          <a:prstGeom prst="roundRect">
            <a:avLst>
              <a:gd name="adj" fmla="val 3582"/>
            </a:avLst>
          </a:prstGeom>
          <a:solidFill>
            <a:srgbClr val="E2E8F4"/>
          </a:solidFill>
          <a:ln w="19050">
            <a:solidFill>
              <a:srgbClr val="B0B8CC"/>
            </a:solidFill>
            <a:prstDash val="dash"/>
          </a:ln>
        </p:spPr>
      </p:sp>
      <p:sp>
        <p:nvSpPr>
          <p:cNvPr id="6" name="Text 4"/>
          <p:cNvSpPr/>
          <p:nvPr/>
        </p:nvSpPr>
        <p:spPr>
          <a:xfrm>
            <a:off x="365760" y="1389888"/>
            <a:ext cx="47548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664208"/>
            <a:ext cx="4480560" cy="26974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map of the Atlantic Ocean showing: (1) colored arrows in bands across the ocean representing trade wind patterns and (2) large circular arrows showing gyre current patterns like the North Atlantic Gyre. No text labels — just arrows and colors on the ocean. Search: NOAA, NASA Earth Observatory, or Wikimedia Commons 'trade winds map Atlantic' and 'North Atlantic Gyre map'.</a:t>
            </a:r>
            <a:endParaRPr lang="en-US" sz="1100" dirty="0"/>
          </a:p>
        </p:txBody>
      </p:sp>
      <p:sp>
        <p:nvSpPr>
          <p:cNvPr id="8" name="Shape 6"/>
          <p:cNvSpPr/>
          <p:nvPr/>
        </p:nvSpPr>
        <p:spPr>
          <a:xfrm>
            <a:off x="5303520" y="1389888"/>
            <a:ext cx="3337560" cy="3063240"/>
          </a:xfrm>
          <a:prstGeom prst="roundRect">
            <a:avLst>
              <a:gd name="adj" fmla="val 3582"/>
            </a:avLst>
          </a:prstGeom>
          <a:solidFill>
            <a:srgbClr val="F0F2F8"/>
          </a:solidFill>
          <a:ln w="19050">
            <a:solidFill>
              <a:srgbClr val="D0D8E8"/>
            </a:solidFill>
            <a:prstDash val="solid"/>
          </a:ln>
        </p:spPr>
      </p:sp>
      <p:sp>
        <p:nvSpPr>
          <p:cNvPr id="9" name="Text 7"/>
          <p:cNvSpPr/>
          <p:nvPr/>
        </p:nvSpPr>
        <p:spPr>
          <a:xfrm>
            <a:off x="5486400" y="1481328"/>
            <a:ext cx="2971800" cy="2560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WHAT DO YOU SEE?</a:t>
            </a:r>
            <a:endParaRPr lang="en-US" sz="900" dirty="0"/>
          </a:p>
        </p:txBody>
      </p:sp>
      <p:sp>
        <p:nvSpPr>
          <p:cNvPr id="10" name="Text 8"/>
          <p:cNvSpPr/>
          <p:nvPr/>
        </p:nvSpPr>
        <p:spPr>
          <a:xfrm>
            <a:off x="5486400" y="1755648"/>
            <a:ext cx="2971800" cy="2578608"/>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Look at the arrows on this map.</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What do you think the arrows represent?</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What would happen to a ship that went WITH the arrows?</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What would happen to a ship that went AGAINST them?</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Why might a sailor want to know these patterns?</a:t>
            </a:r>
            <a:endParaRPr lang="en-US" sz="1200" dirty="0"/>
          </a:p>
        </p:txBody>
      </p:sp>
      <p:sp>
        <p:nvSpPr>
          <p:cNvPr id="11" name="Shape 9"/>
          <p:cNvSpPr/>
          <p:nvPr/>
        </p:nvSpPr>
        <p:spPr>
          <a:xfrm>
            <a:off x="365760" y="4526280"/>
            <a:ext cx="8321040" cy="475488"/>
          </a:xfrm>
          <a:prstGeom prst="roundRect">
            <a:avLst>
              <a:gd name="adj" fmla="val 23077"/>
            </a:avLst>
          </a:prstGeom>
          <a:solidFill>
            <a:srgbClr val="FFF3DC"/>
          </a:solidFill>
          <a:ln w="19050">
            <a:solidFill>
              <a:srgbClr val="F5E6C8"/>
            </a:solidFill>
            <a:prstDash val="solid"/>
          </a:ln>
        </p:spPr>
      </p:sp>
      <p:sp>
        <p:nvSpPr>
          <p:cNvPr id="12" name="Text 10"/>
          <p:cNvSpPr/>
          <p:nvPr/>
        </p:nvSpPr>
        <p:spPr>
          <a:xfrm>
            <a:off x="502920" y="4581144"/>
            <a:ext cx="80467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02920" y="4782312"/>
            <a:ext cx="8046720" cy="15544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arrows show..."</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"Going WITH the arrows would..."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457200" y="256032"/>
            <a:ext cx="2560320" cy="347472"/>
          </a:xfrm>
          <a:prstGeom prst="roundRect">
            <a:avLst>
              <a:gd name="adj" fmla="val 47368"/>
            </a:avLst>
          </a:prstGeom>
          <a:solidFill>
            <a:srgbClr val="1A8A7D"/>
          </a:solidFill>
          <a:ln/>
        </p:spPr>
      </p:sp>
      <p:sp>
        <p:nvSpPr>
          <p:cNvPr id="5" name="Text 3"/>
          <p:cNvSpPr/>
          <p:nvPr/>
        </p:nvSpPr>
        <p:spPr>
          <a:xfrm>
            <a:off x="457200" y="256032"/>
            <a:ext cx="25603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SCIENCE OF TRAVEL UNLOCKED</a:t>
            </a:r>
            <a:endParaRPr lang="en-US" sz="1000" dirty="0"/>
          </a:p>
        </p:txBody>
      </p:sp>
      <p:sp>
        <p:nvSpPr>
          <p:cNvPr id="6" name="Text 4"/>
          <p:cNvSpPr/>
          <p:nvPr/>
        </p:nvSpPr>
        <p:spPr>
          <a:xfrm>
            <a:off x="365760" y="749808"/>
            <a:ext cx="8229600" cy="5029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Arrows Had Names</a:t>
            </a:r>
            <a:endParaRPr lang="en-US" sz="3000" dirty="0"/>
          </a:p>
        </p:txBody>
      </p:sp>
      <p:sp>
        <p:nvSpPr>
          <p:cNvPr id="7" name="Shape 5"/>
          <p:cNvSpPr/>
          <p:nvPr/>
        </p:nvSpPr>
        <p:spPr>
          <a:xfrm>
            <a:off x="365760" y="1371600"/>
            <a:ext cx="3931920" cy="2743200"/>
          </a:xfrm>
          <a:prstGeom prst="roundRect">
            <a:avLst>
              <a:gd name="adj" fmla="val 5000"/>
            </a:avLst>
          </a:prstGeom>
          <a:solidFill>
            <a:srgbClr val="1A2D5A"/>
          </a:solidFill>
          <a:ln/>
          <a:effectLst>
            <a:outerShdw sx="100000" sy="100000" kx="0" ky="0" algn="bl" rotWithShape="0" blurRad="127000" dist="50800" dir="8100000">
              <a:srgbClr val="000000">
                <a:alpha val="25000"/>
              </a:srgbClr>
            </a:outerShdw>
          </a:effectLst>
        </p:spPr>
      </p:sp>
      <p:sp>
        <p:nvSpPr>
          <p:cNvPr id="8" name="Text 6"/>
          <p:cNvSpPr/>
          <p:nvPr/>
        </p:nvSpPr>
        <p:spPr>
          <a:xfrm>
            <a:off x="548640" y="1463040"/>
            <a:ext cx="3566160" cy="256032"/>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The Arrows in the Sky</a:t>
            </a:r>
            <a:endParaRPr lang="en-US" sz="1000" dirty="0"/>
          </a:p>
        </p:txBody>
      </p:sp>
      <p:sp>
        <p:nvSpPr>
          <p:cNvPr id="9" name="Text 7"/>
          <p:cNvSpPr/>
          <p:nvPr/>
        </p:nvSpPr>
        <p:spPr>
          <a:xfrm>
            <a:off x="548640" y="1719072"/>
            <a:ext cx="3566160" cy="502920"/>
          </a:xfrm>
          <a:prstGeom prst="rect">
            <a:avLst/>
          </a:prstGeom>
          <a:noFill/>
          <a:ln/>
        </p:spPr>
        <p:txBody>
          <a:bodyPr wrap="square" lIns="0" tIns="0" rIns="0" bIns="0" rtlCol="0" anchor="ctr"/>
          <a:lstStyle/>
          <a:p>
            <a:pPr indent="0" marL="0">
              <a:buNone/>
            </a:pPr>
            <a:r>
              <a:rPr lang="en-US" sz="2800" b="1" dirty="0">
                <a:solidFill>
                  <a:srgbClr val="D4943A"/>
                </a:solidFill>
                <a:latin typeface="Cambria" pitchFamily="34" charset="0"/>
                <a:ea typeface="Cambria" pitchFamily="34" charset="-122"/>
                <a:cs typeface="Cambria" pitchFamily="34" charset="-120"/>
              </a:rPr>
              <a:t>Trade Winds</a:t>
            </a:r>
            <a:endParaRPr lang="en-US" sz="2800" dirty="0"/>
          </a:p>
        </p:txBody>
      </p:sp>
      <p:sp>
        <p:nvSpPr>
          <p:cNvPr id="10" name="Text 8"/>
          <p:cNvSpPr/>
          <p:nvPr/>
        </p:nvSpPr>
        <p:spPr>
          <a:xfrm>
            <a:off x="548640" y="2240280"/>
            <a:ext cx="3566160" cy="9144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Winds blow in predictable patterns across the ocean. Sailors learned to ride trade winds to sail faster and farther — instead of fighting against them.</a:t>
            </a:r>
            <a:endParaRPr lang="en-US" sz="1200" dirty="0"/>
          </a:p>
        </p:txBody>
      </p:sp>
      <p:sp>
        <p:nvSpPr>
          <p:cNvPr id="11" name="Shape 9"/>
          <p:cNvSpPr/>
          <p:nvPr/>
        </p:nvSpPr>
        <p:spPr>
          <a:xfrm>
            <a:off x="548640" y="3218688"/>
            <a:ext cx="3566160" cy="713232"/>
          </a:xfrm>
          <a:prstGeom prst="roundRect">
            <a:avLst>
              <a:gd name="adj" fmla="val 10256"/>
            </a:avLst>
          </a:prstGeom>
          <a:solidFill>
            <a:srgbClr val="0A122A"/>
          </a:solidFill>
          <a:ln/>
        </p:spPr>
      </p:sp>
      <p:sp>
        <p:nvSpPr>
          <p:cNvPr id="12" name="Text 10"/>
          <p:cNvSpPr/>
          <p:nvPr/>
        </p:nvSpPr>
        <p:spPr>
          <a:xfrm>
            <a:off x="685800" y="3264408"/>
            <a:ext cx="3291840" cy="621792"/>
          </a:xfrm>
          <a:prstGeom prst="rect">
            <a:avLst/>
          </a:prstGeom>
          <a:noFill/>
          <a:ln/>
        </p:spPr>
        <p:txBody>
          <a:bodyPr wrap="square" lIns="0" tIns="0" rIns="0" bIns="0" rtlCol="0" anchor="t"/>
          <a:lstStyle/>
          <a:p>
            <a:pPr indent="0" marL="0">
              <a:buNone/>
            </a:pPr>
            <a:r>
              <a:rPr lang="en-US" sz="1000" i="1" dirty="0">
                <a:solidFill>
                  <a:srgbClr val="55C8E8"/>
                </a:solidFill>
                <a:latin typeface="Calibri" pitchFamily="34" charset="0"/>
                <a:ea typeface="Calibri" pitchFamily="34" charset="-122"/>
                <a:cs typeface="Calibri" pitchFamily="34" charset="-120"/>
              </a:rPr>
              <a:t>Columbus used the northeast trade winds to cross the Atlantic in 1492 — blowing his ships west from Spain toward the Americas.</a:t>
            </a:r>
            <a:endParaRPr lang="en-US" sz="1000" dirty="0"/>
          </a:p>
        </p:txBody>
      </p:sp>
      <p:sp>
        <p:nvSpPr>
          <p:cNvPr id="13" name="Shape 11"/>
          <p:cNvSpPr/>
          <p:nvPr/>
        </p:nvSpPr>
        <p:spPr>
          <a:xfrm>
            <a:off x="4572000" y="1371600"/>
            <a:ext cx="4114800" cy="2743200"/>
          </a:xfrm>
          <a:prstGeom prst="roundRect">
            <a:avLst>
              <a:gd name="adj" fmla="val 5000"/>
            </a:avLst>
          </a:prstGeom>
          <a:solidFill>
            <a:srgbClr val="1A2D5A"/>
          </a:solidFill>
          <a:ln/>
          <a:effectLst>
            <a:outerShdw sx="100000" sy="100000" kx="0" ky="0" algn="bl" rotWithShape="0" blurRad="127000" dist="50800" dir="8100000">
              <a:srgbClr val="000000">
                <a:alpha val="25000"/>
              </a:srgbClr>
            </a:outerShdw>
          </a:effectLst>
        </p:spPr>
      </p:sp>
      <p:sp>
        <p:nvSpPr>
          <p:cNvPr id="14" name="Text 12"/>
          <p:cNvSpPr/>
          <p:nvPr/>
        </p:nvSpPr>
        <p:spPr>
          <a:xfrm>
            <a:off x="4754880" y="1463040"/>
            <a:ext cx="3749040" cy="256032"/>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The Arrows in the Water</a:t>
            </a:r>
            <a:endParaRPr lang="en-US" sz="1000" dirty="0"/>
          </a:p>
        </p:txBody>
      </p:sp>
      <p:sp>
        <p:nvSpPr>
          <p:cNvPr id="15" name="Text 13"/>
          <p:cNvSpPr/>
          <p:nvPr/>
        </p:nvSpPr>
        <p:spPr>
          <a:xfrm>
            <a:off x="4754880" y="1719072"/>
            <a:ext cx="3749040" cy="502920"/>
          </a:xfrm>
          <a:prstGeom prst="rect">
            <a:avLst/>
          </a:prstGeom>
          <a:noFill/>
          <a:ln/>
        </p:spPr>
        <p:txBody>
          <a:bodyPr wrap="square" lIns="0" tIns="0" rIns="0" bIns="0" rtlCol="0" anchor="ctr"/>
          <a:lstStyle/>
          <a:p>
            <a:pPr indent="0" marL="0">
              <a:buNone/>
            </a:pPr>
            <a:r>
              <a:rPr lang="en-US" sz="2800" b="1" dirty="0">
                <a:solidFill>
                  <a:srgbClr val="D4943A"/>
                </a:solidFill>
                <a:latin typeface="Cambria" pitchFamily="34" charset="0"/>
                <a:ea typeface="Cambria" pitchFamily="34" charset="-122"/>
                <a:cs typeface="Cambria" pitchFamily="34" charset="-120"/>
              </a:rPr>
              <a:t>Ocean Currents</a:t>
            </a:r>
            <a:endParaRPr lang="en-US" sz="2800" dirty="0"/>
          </a:p>
        </p:txBody>
      </p:sp>
      <p:sp>
        <p:nvSpPr>
          <p:cNvPr id="16" name="Text 14"/>
          <p:cNvSpPr/>
          <p:nvPr/>
        </p:nvSpPr>
        <p:spPr>
          <a:xfrm>
            <a:off x="4754880" y="2240280"/>
            <a:ext cx="3749040" cy="9144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Ocean water moves in huge circular patterns. Sailing with a current is like swimming with the tide — faster and easier. Against it? Exhausting and dangerous.</a:t>
            </a:r>
            <a:endParaRPr lang="en-US" sz="1200" dirty="0"/>
          </a:p>
        </p:txBody>
      </p:sp>
      <p:sp>
        <p:nvSpPr>
          <p:cNvPr id="17" name="Shape 15"/>
          <p:cNvSpPr/>
          <p:nvPr/>
        </p:nvSpPr>
        <p:spPr>
          <a:xfrm>
            <a:off x="4754880" y="3218688"/>
            <a:ext cx="3749040" cy="713232"/>
          </a:xfrm>
          <a:prstGeom prst="roundRect">
            <a:avLst>
              <a:gd name="adj" fmla="val 10256"/>
            </a:avLst>
          </a:prstGeom>
          <a:solidFill>
            <a:srgbClr val="0A122A"/>
          </a:solidFill>
          <a:ln/>
        </p:spPr>
      </p:sp>
      <p:sp>
        <p:nvSpPr>
          <p:cNvPr id="18" name="Text 16"/>
          <p:cNvSpPr/>
          <p:nvPr/>
        </p:nvSpPr>
        <p:spPr>
          <a:xfrm>
            <a:off x="4892040" y="3264408"/>
            <a:ext cx="3474720" cy="621792"/>
          </a:xfrm>
          <a:prstGeom prst="rect">
            <a:avLst/>
          </a:prstGeom>
          <a:noFill/>
          <a:ln/>
        </p:spPr>
        <p:txBody>
          <a:bodyPr wrap="square" lIns="0" tIns="0" rIns="0" bIns="0" rtlCol="0" anchor="t"/>
          <a:lstStyle/>
          <a:p>
            <a:pPr indent="0" marL="0">
              <a:buNone/>
            </a:pPr>
            <a:r>
              <a:rPr lang="en-US" sz="1000" i="1" dirty="0">
                <a:solidFill>
                  <a:srgbClr val="55C8E8"/>
                </a:solidFill>
                <a:latin typeface="Calibri" pitchFamily="34" charset="0"/>
                <a:ea typeface="Calibri" pitchFamily="34" charset="-122"/>
                <a:cs typeface="Calibri" pitchFamily="34" charset="-120"/>
              </a:rPr>
              <a:t>Explorers who understood currents planned faster return voyages — using different routes home than they used going out.</a:t>
            </a:r>
            <a:endParaRPr lang="en-US" sz="1000" dirty="0"/>
          </a:p>
        </p:txBody>
      </p:sp>
      <p:sp>
        <p:nvSpPr>
          <p:cNvPr id="19" name="Shape 17"/>
          <p:cNvSpPr/>
          <p:nvPr/>
        </p:nvSpPr>
        <p:spPr>
          <a:xfrm>
            <a:off x="365760" y="4206240"/>
            <a:ext cx="8321040" cy="713232"/>
          </a:xfrm>
          <a:prstGeom prst="roundRect">
            <a:avLst>
              <a:gd name="adj" fmla="val 12821"/>
            </a:avLst>
          </a:prstGeom>
          <a:solidFill>
            <a:srgbClr val="0A122A"/>
          </a:solidFill>
          <a:ln/>
        </p:spPr>
      </p:sp>
      <p:sp>
        <p:nvSpPr>
          <p:cNvPr id="20" name="Text 18"/>
          <p:cNvSpPr/>
          <p:nvPr/>
        </p:nvSpPr>
        <p:spPr>
          <a:xfrm>
            <a:off x="548640" y="4251960"/>
            <a:ext cx="7955280" cy="594360"/>
          </a:xfrm>
          <a:prstGeom prst="rect">
            <a:avLst/>
          </a:prstGeom>
          <a:noFill/>
          <a:ln/>
        </p:spPr>
        <p:txBody>
          <a:bodyPr wrap="square" lIns="0" tIns="0" rIns="0" bIns="0" rtlCol="0" anchor="ctr"/>
          <a:lstStyle/>
          <a:p>
            <a:pPr indent="0" marL="0">
              <a:buNone/>
            </a:pPr>
            <a:r>
              <a:rPr lang="en-US" sz="1300" i="1" dirty="0">
                <a:solidFill>
                  <a:srgbClr val="FFFFFF"/>
                </a:solidFill>
                <a:latin typeface="Cambria" pitchFamily="34" charset="0"/>
                <a:ea typeface="Cambria" pitchFamily="34" charset="-122"/>
                <a:cs typeface="Cambria" pitchFamily="34" charset="-120"/>
              </a:rPr>
              <a:t>Smart sailors planned routes to RIDE natural forces — saving time and energy. Going with the wind and current was faster and safer than fighting against them.</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E1C42"/>
          </a:solidFill>
          <a:ln/>
        </p:spPr>
      </p:sp>
      <p:sp>
        <p:nvSpPr>
          <p:cNvPr id="3" name="Text 1"/>
          <p:cNvSpPr/>
          <p:nvPr/>
        </p:nvSpPr>
        <p:spPr>
          <a:xfrm>
            <a:off x="365760" y="0"/>
            <a:ext cx="8412480" cy="621792"/>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CONNECT THE IDEAS  |  THE EXPLORATION SYSTEM</a:t>
            </a:r>
            <a:endParaRPr lang="en-US" sz="1100" dirty="0"/>
          </a:p>
        </p:txBody>
      </p:sp>
      <p:sp>
        <p:nvSpPr>
          <p:cNvPr id="4" name="Text 2"/>
          <p:cNvSpPr/>
          <p:nvPr/>
        </p:nvSpPr>
        <p:spPr>
          <a:xfrm>
            <a:off x="365760" y="777240"/>
            <a:ext cx="8229600" cy="50292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It Was Never Just One Thing</a:t>
            </a:r>
            <a:endParaRPr lang="en-US" sz="2800" dirty="0"/>
          </a:p>
        </p:txBody>
      </p:sp>
      <p:sp>
        <p:nvSpPr>
          <p:cNvPr id="5" name="Shape 3"/>
          <p:cNvSpPr/>
          <p:nvPr/>
        </p:nvSpPr>
        <p:spPr>
          <a:xfrm>
            <a:off x="365760" y="1417320"/>
            <a:ext cx="2514600" cy="2148840"/>
          </a:xfrm>
          <a:prstGeom prst="roundRect">
            <a:avLst>
              <a:gd name="adj" fmla="val 6383"/>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502920" y="1508760"/>
            <a:ext cx="2240280" cy="228600"/>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SHIPS</a:t>
            </a:r>
            <a:endParaRPr lang="en-US" sz="900" dirty="0"/>
          </a:p>
        </p:txBody>
      </p:sp>
      <p:sp>
        <p:nvSpPr>
          <p:cNvPr id="7" name="Text 5"/>
          <p:cNvSpPr/>
          <p:nvPr/>
        </p:nvSpPr>
        <p:spPr>
          <a:xfrm>
            <a:off x="502920" y="1764792"/>
            <a:ext cx="2240280" cy="384048"/>
          </a:xfrm>
          <a:prstGeom prst="rect">
            <a:avLst/>
          </a:prstGeom>
          <a:noFill/>
          <a:ln/>
        </p:spPr>
        <p:txBody>
          <a:bodyPr wrap="square" lIns="0" tIns="0" rIns="0" bIns="0" rtlCol="0" anchor="ctr"/>
          <a:lstStyle/>
          <a:p>
            <a:pPr algn="ctr" indent="0" marL="0">
              <a:buNone/>
            </a:pPr>
            <a:r>
              <a:rPr lang="en-US" sz="1400" b="1" dirty="0">
                <a:solidFill>
                  <a:srgbClr val="D4943A"/>
                </a:solidFill>
                <a:latin typeface="Cambria" pitchFamily="34" charset="0"/>
                <a:ea typeface="Cambria" pitchFamily="34" charset="-122"/>
                <a:cs typeface="Cambria" pitchFamily="34" charset="-120"/>
              </a:rPr>
              <a:t>Caravel &amp; Carrack</a:t>
            </a:r>
            <a:endParaRPr lang="en-US" sz="1400" dirty="0"/>
          </a:p>
        </p:txBody>
      </p:sp>
      <p:sp>
        <p:nvSpPr>
          <p:cNvPr id="8" name="Text 6"/>
          <p:cNvSpPr/>
          <p:nvPr/>
        </p:nvSpPr>
        <p:spPr>
          <a:xfrm>
            <a:off x="502920" y="2194560"/>
            <a:ext cx="2240280" cy="1234440"/>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Built for speed and capacity. The right ship for the right job.</a:t>
            </a:r>
            <a:endParaRPr lang="en-US" sz="1200" dirty="0"/>
          </a:p>
        </p:txBody>
      </p:sp>
      <p:sp>
        <p:nvSpPr>
          <p:cNvPr id="9" name="Shape 7"/>
          <p:cNvSpPr/>
          <p:nvPr/>
        </p:nvSpPr>
        <p:spPr>
          <a:xfrm>
            <a:off x="3063240" y="1417320"/>
            <a:ext cx="2514600" cy="2148840"/>
          </a:xfrm>
          <a:prstGeom prst="roundRect">
            <a:avLst>
              <a:gd name="adj" fmla="val 6383"/>
            </a:avLst>
          </a:prstGeom>
          <a:solidFill>
            <a:srgbClr val="1A2D5A"/>
          </a:solidFill>
          <a:ln/>
          <a:effectLst>
            <a:outerShdw sx="100000" sy="100000" kx="0" ky="0" algn="bl" rotWithShape="0" blurRad="101600" dist="38100" dir="8100000">
              <a:srgbClr val="000000">
                <a:alpha val="20000"/>
              </a:srgbClr>
            </a:outerShdw>
          </a:effectLst>
        </p:spPr>
      </p:sp>
      <p:sp>
        <p:nvSpPr>
          <p:cNvPr id="10" name="Text 8"/>
          <p:cNvSpPr/>
          <p:nvPr/>
        </p:nvSpPr>
        <p:spPr>
          <a:xfrm>
            <a:off x="3200400" y="1508760"/>
            <a:ext cx="2240280" cy="228600"/>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MAPS</a:t>
            </a:r>
            <a:endParaRPr lang="en-US" sz="900" dirty="0"/>
          </a:p>
        </p:txBody>
      </p:sp>
      <p:sp>
        <p:nvSpPr>
          <p:cNvPr id="11" name="Text 9"/>
          <p:cNvSpPr/>
          <p:nvPr/>
        </p:nvSpPr>
        <p:spPr>
          <a:xfrm>
            <a:off x="3200400" y="1764792"/>
            <a:ext cx="2240280" cy="384048"/>
          </a:xfrm>
          <a:prstGeom prst="rect">
            <a:avLst/>
          </a:prstGeom>
          <a:noFill/>
          <a:ln/>
        </p:spPr>
        <p:txBody>
          <a:bodyPr wrap="square" lIns="0" tIns="0" rIns="0" bIns="0" rtlCol="0" anchor="ctr"/>
          <a:lstStyle/>
          <a:p>
            <a:pPr algn="ctr" indent="0" marL="0">
              <a:buNone/>
            </a:pPr>
            <a:r>
              <a:rPr lang="en-US" sz="1400" b="1" dirty="0">
                <a:solidFill>
                  <a:srgbClr val="D4943A"/>
                </a:solidFill>
                <a:latin typeface="Cambria" pitchFamily="34" charset="0"/>
                <a:ea typeface="Cambria" pitchFamily="34" charset="-122"/>
                <a:cs typeface="Cambria" pitchFamily="34" charset="-120"/>
              </a:rPr>
              <a:t>Portolan Charts</a:t>
            </a:r>
            <a:endParaRPr lang="en-US" sz="1400" dirty="0"/>
          </a:p>
        </p:txBody>
      </p:sp>
      <p:sp>
        <p:nvSpPr>
          <p:cNvPr id="12" name="Text 10"/>
          <p:cNvSpPr/>
          <p:nvPr/>
        </p:nvSpPr>
        <p:spPr>
          <a:xfrm>
            <a:off x="3200400" y="2194560"/>
            <a:ext cx="2240280" cy="1234440"/>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Coastlines, compass lines, sailing routes — updated after every voyage.</a:t>
            </a:r>
            <a:endParaRPr lang="en-US" sz="1200" dirty="0"/>
          </a:p>
        </p:txBody>
      </p:sp>
      <p:sp>
        <p:nvSpPr>
          <p:cNvPr id="13" name="Shape 11"/>
          <p:cNvSpPr/>
          <p:nvPr/>
        </p:nvSpPr>
        <p:spPr>
          <a:xfrm>
            <a:off x="5760720" y="1417320"/>
            <a:ext cx="2514600" cy="2148840"/>
          </a:xfrm>
          <a:prstGeom prst="roundRect">
            <a:avLst>
              <a:gd name="adj" fmla="val 6383"/>
            </a:avLst>
          </a:prstGeom>
          <a:solidFill>
            <a:srgbClr val="1A2D5A"/>
          </a:solidFill>
          <a:ln/>
          <a:effectLst>
            <a:outerShdw sx="100000" sy="100000" kx="0" ky="0" algn="bl" rotWithShape="0" blurRad="101600" dist="38100" dir="8100000">
              <a:srgbClr val="000000">
                <a:alpha val="20000"/>
              </a:srgbClr>
            </a:outerShdw>
          </a:effectLst>
        </p:spPr>
      </p:sp>
      <p:sp>
        <p:nvSpPr>
          <p:cNvPr id="14" name="Text 12"/>
          <p:cNvSpPr/>
          <p:nvPr/>
        </p:nvSpPr>
        <p:spPr>
          <a:xfrm>
            <a:off x="5897880" y="1508760"/>
            <a:ext cx="2240280" cy="228600"/>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SCIENCE</a:t>
            </a:r>
            <a:endParaRPr lang="en-US" sz="900" dirty="0"/>
          </a:p>
        </p:txBody>
      </p:sp>
      <p:sp>
        <p:nvSpPr>
          <p:cNvPr id="15" name="Text 13"/>
          <p:cNvSpPr/>
          <p:nvPr/>
        </p:nvSpPr>
        <p:spPr>
          <a:xfrm>
            <a:off x="5897880" y="1764792"/>
            <a:ext cx="2240280" cy="384048"/>
          </a:xfrm>
          <a:prstGeom prst="rect">
            <a:avLst/>
          </a:prstGeom>
          <a:noFill/>
          <a:ln/>
        </p:spPr>
        <p:txBody>
          <a:bodyPr wrap="square" lIns="0" tIns="0" rIns="0" bIns="0" rtlCol="0" anchor="ctr"/>
          <a:lstStyle/>
          <a:p>
            <a:pPr algn="ctr" indent="0" marL="0">
              <a:buNone/>
            </a:pPr>
            <a:r>
              <a:rPr lang="en-US" sz="1400" b="1" dirty="0">
                <a:solidFill>
                  <a:srgbClr val="D4943A"/>
                </a:solidFill>
                <a:latin typeface="Cambria" pitchFamily="34" charset="0"/>
                <a:ea typeface="Cambria" pitchFamily="34" charset="-122"/>
                <a:cs typeface="Cambria" pitchFamily="34" charset="-120"/>
              </a:rPr>
              <a:t>Trade Winds &amp; Currents</a:t>
            </a:r>
            <a:endParaRPr lang="en-US" sz="1400" dirty="0"/>
          </a:p>
        </p:txBody>
      </p:sp>
      <p:sp>
        <p:nvSpPr>
          <p:cNvPr id="16" name="Text 14"/>
          <p:cNvSpPr/>
          <p:nvPr/>
        </p:nvSpPr>
        <p:spPr>
          <a:xfrm>
            <a:off x="5897880" y="2194560"/>
            <a:ext cx="2240280" cy="1234440"/>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Natural forces sailors learned to ride instead of fight.</a:t>
            </a:r>
            <a:endParaRPr lang="en-US" sz="1200" dirty="0"/>
          </a:p>
        </p:txBody>
      </p:sp>
      <p:sp>
        <p:nvSpPr>
          <p:cNvPr id="17" name="Text 15"/>
          <p:cNvSpPr/>
          <p:nvPr/>
        </p:nvSpPr>
        <p:spPr>
          <a:xfrm>
            <a:off x="2834640" y="2212848"/>
            <a:ext cx="365760" cy="365760"/>
          </a:xfrm>
          <a:prstGeom prst="rect">
            <a:avLst/>
          </a:prstGeom>
          <a:noFill/>
          <a:ln/>
        </p:spPr>
        <p:txBody>
          <a:bodyPr wrap="square" lIns="0" tIns="0" rIns="0" bIns="0" rtlCol="0" anchor="ctr"/>
          <a:lstStyle/>
          <a:p>
            <a:pPr algn="ctr" indent="0" marL="0">
              <a:buNone/>
            </a:pPr>
            <a:r>
              <a:rPr lang="en-US" sz="2400" b="1" dirty="0">
                <a:solidFill>
                  <a:srgbClr val="D4943A"/>
                </a:solidFill>
                <a:latin typeface="Calibri" pitchFamily="34" charset="0"/>
                <a:ea typeface="Calibri" pitchFamily="34" charset="-122"/>
                <a:cs typeface="Calibri" pitchFamily="34" charset="-120"/>
              </a:rPr>
              <a:t>+</a:t>
            </a:r>
            <a:endParaRPr lang="en-US" sz="2400" dirty="0"/>
          </a:p>
        </p:txBody>
      </p:sp>
      <p:sp>
        <p:nvSpPr>
          <p:cNvPr id="18" name="Text 16"/>
          <p:cNvSpPr/>
          <p:nvPr/>
        </p:nvSpPr>
        <p:spPr>
          <a:xfrm>
            <a:off x="5577840" y="2212848"/>
            <a:ext cx="365760" cy="365760"/>
          </a:xfrm>
          <a:prstGeom prst="rect">
            <a:avLst/>
          </a:prstGeom>
          <a:noFill/>
          <a:ln/>
        </p:spPr>
        <p:txBody>
          <a:bodyPr wrap="square" lIns="0" tIns="0" rIns="0" bIns="0" rtlCol="0" anchor="ctr"/>
          <a:lstStyle/>
          <a:p>
            <a:pPr algn="ctr" indent="0" marL="0">
              <a:buNone/>
            </a:pPr>
            <a:r>
              <a:rPr lang="en-US" sz="2400" b="1" dirty="0">
                <a:solidFill>
                  <a:srgbClr val="D4943A"/>
                </a:solidFill>
                <a:latin typeface="Calibri" pitchFamily="34" charset="0"/>
                <a:ea typeface="Calibri" pitchFamily="34" charset="-122"/>
                <a:cs typeface="Calibri" pitchFamily="34" charset="-120"/>
              </a:rPr>
              <a:t>+</a:t>
            </a:r>
            <a:endParaRPr lang="en-US" sz="2400" dirty="0"/>
          </a:p>
        </p:txBody>
      </p:sp>
      <p:sp>
        <p:nvSpPr>
          <p:cNvPr id="19" name="Shape 17"/>
          <p:cNvSpPr/>
          <p:nvPr/>
        </p:nvSpPr>
        <p:spPr>
          <a:xfrm>
            <a:off x="365760" y="3675888"/>
            <a:ext cx="8321040" cy="868680"/>
          </a:xfrm>
          <a:prstGeom prst="roundRect">
            <a:avLst>
              <a:gd name="adj" fmla="val 12632"/>
            </a:avLst>
          </a:prstGeom>
          <a:solidFill>
            <a:srgbClr val="0E1C42"/>
          </a:solidFill>
          <a:ln/>
        </p:spPr>
      </p:sp>
      <p:sp>
        <p:nvSpPr>
          <p:cNvPr id="20" name="Text 18"/>
          <p:cNvSpPr/>
          <p:nvPr/>
        </p:nvSpPr>
        <p:spPr>
          <a:xfrm>
            <a:off x="548640" y="3730752"/>
            <a:ext cx="20116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 EXPLORATION</a:t>
            </a:r>
            <a:endParaRPr lang="en-US" sz="900" dirty="0"/>
          </a:p>
        </p:txBody>
      </p:sp>
      <p:sp>
        <p:nvSpPr>
          <p:cNvPr id="21" name="Text 19"/>
          <p:cNvSpPr/>
          <p:nvPr/>
        </p:nvSpPr>
        <p:spPr>
          <a:xfrm>
            <a:off x="548640" y="3986784"/>
            <a:ext cx="7955280" cy="475488"/>
          </a:xfrm>
          <a:prstGeom prst="rect">
            <a:avLst/>
          </a:prstGeom>
          <a:noFill/>
          <a:ln/>
        </p:spPr>
        <p:txBody>
          <a:bodyPr wrap="square" lIns="0" tIns="0" rIns="0" bIns="0" rtlCol="0" anchor="ctr"/>
          <a:lstStyle/>
          <a:p>
            <a:pPr indent="0" marL="0">
              <a:buNone/>
            </a:pPr>
            <a:r>
              <a:rPr lang="en-US" sz="1300" i="1" dirty="0">
                <a:solidFill>
                  <a:srgbClr val="FFFFFF"/>
                </a:solidFill>
                <a:latin typeface="Cambria" pitchFamily="34" charset="0"/>
                <a:ea typeface="Cambria" pitchFamily="34" charset="-122"/>
                <a:cs typeface="Cambria" pitchFamily="34" charset="-120"/>
              </a:rPr>
              <a:t>Together, the right ship + a useful chart + knowledge of wind and currents turned a dangerous guess into a real system of planned travel.</a:t>
            </a:r>
            <a:endParaRPr lang="en-US" sz="1300" dirty="0"/>
          </a:p>
        </p:txBody>
      </p:sp>
      <p:sp>
        <p:nvSpPr>
          <p:cNvPr id="22" name="Shape 20"/>
          <p:cNvSpPr/>
          <p:nvPr/>
        </p:nvSpPr>
        <p:spPr>
          <a:xfrm>
            <a:off x="365760" y="4590288"/>
            <a:ext cx="8321040" cy="457200"/>
          </a:xfrm>
          <a:prstGeom prst="roundRect">
            <a:avLst>
              <a:gd name="adj" fmla="val 30000"/>
            </a:avLst>
          </a:prstGeom>
          <a:solidFill>
            <a:srgbClr val="1A2D5A"/>
          </a:solidFill>
          <a:ln/>
          <a:effectLst>
            <a:outerShdw sx="100000" sy="100000" kx="0" ky="0" algn="bl" rotWithShape="0" blurRad="101600" dist="38100" dir="8100000">
              <a:srgbClr val="000000">
                <a:alpha val="20000"/>
              </a:srgbClr>
            </a:outerShdw>
          </a:effectLst>
        </p:spPr>
      </p:sp>
      <p:sp>
        <p:nvSpPr>
          <p:cNvPr id="23" name="Text 21"/>
          <p:cNvSpPr/>
          <p:nvPr/>
        </p:nvSpPr>
        <p:spPr>
          <a:xfrm>
            <a:off x="548640" y="4681728"/>
            <a:ext cx="79552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24" name="Text 22"/>
          <p:cNvSpPr/>
          <p:nvPr/>
        </p:nvSpPr>
        <p:spPr>
          <a:xfrm>
            <a:off x="548640" y="4937760"/>
            <a:ext cx="7955280" cy="182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fail first if one of these three pieces was missing?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is it important that ALL THREE worked together?</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457200" y="274320"/>
            <a:ext cx="1828800" cy="347472"/>
          </a:xfrm>
          <a:prstGeom prst="roundRect">
            <a:avLst>
              <a:gd name="adj" fmla="val 47368"/>
            </a:avLst>
          </a:prstGeom>
          <a:solidFill>
            <a:srgbClr val="D4943A"/>
          </a:solidFill>
          <a:ln/>
        </p:spPr>
      </p:sp>
      <p:sp>
        <p:nvSpPr>
          <p:cNvPr id="5" name="Text 3"/>
          <p:cNvSpPr/>
          <p:nvPr/>
        </p:nvSpPr>
        <p:spPr>
          <a:xfrm>
            <a:off x="457200" y="274320"/>
            <a:ext cx="1828800" cy="347472"/>
          </a:xfrm>
          <a:prstGeom prst="rect">
            <a:avLst/>
          </a:prstGeom>
          <a:noFill/>
          <a:ln/>
        </p:spPr>
        <p:txBody>
          <a:bodyPr wrap="square" lIns="0" tIns="0" rIns="0" bIns="0" rtlCol="0" anchor="ctr"/>
          <a:lstStyle/>
          <a:p>
            <a:pPr algn="ctr" indent="0" marL="0">
              <a:buNone/>
            </a:pPr>
            <a:r>
              <a:rPr lang="en-US" sz="1000" b="1" dirty="0">
                <a:solidFill>
                  <a:srgbClr val="0E1C42"/>
                </a:solidFill>
                <a:latin typeface="Calibri" pitchFamily="34" charset="0"/>
                <a:ea typeface="Calibri" pitchFamily="34" charset="-122"/>
                <a:cs typeface="Calibri" pitchFamily="34" charset="-120"/>
              </a:rPr>
              <a:t>EXHIBIT LABEL</a:t>
            </a:r>
            <a:endParaRPr lang="en-US" sz="1000" dirty="0"/>
          </a:p>
        </p:txBody>
      </p:sp>
      <p:sp>
        <p:nvSpPr>
          <p:cNvPr id="6" name="Shape 4"/>
          <p:cNvSpPr/>
          <p:nvPr/>
        </p:nvSpPr>
        <p:spPr>
          <a:xfrm>
            <a:off x="1097280" y="1005840"/>
            <a:ext cx="6949440" cy="3063240"/>
          </a:xfrm>
          <a:prstGeom prst="roundRect">
            <a:avLst>
              <a:gd name="adj" fmla="val 5970"/>
            </a:avLst>
          </a:prstGeom>
          <a:solidFill>
            <a:srgbClr val="1A2D5A"/>
          </a:solidFill>
          <a:ln/>
          <a:effectLst>
            <a:outerShdw sx="100000" sy="100000" kx="0" ky="0" algn="bl" rotWithShape="0" blurRad="177800" dist="63500" dir="8100000">
              <a:srgbClr val="000000">
                <a:alpha val="30000"/>
              </a:srgbClr>
            </a:outerShdw>
          </a:effectLst>
        </p:spPr>
      </p:sp>
      <p:sp>
        <p:nvSpPr>
          <p:cNvPr id="7" name="Shape 5"/>
          <p:cNvSpPr/>
          <p:nvPr/>
        </p:nvSpPr>
        <p:spPr>
          <a:xfrm>
            <a:off x="1325880" y="1234440"/>
            <a:ext cx="109728" cy="2606040"/>
          </a:xfrm>
          <a:prstGeom prst="rect">
            <a:avLst/>
          </a:prstGeom>
          <a:solidFill>
            <a:srgbClr val="D4943A"/>
          </a:solidFill>
          <a:ln/>
        </p:spPr>
      </p:sp>
      <p:sp>
        <p:nvSpPr>
          <p:cNvPr id="8" name="Text 6"/>
          <p:cNvSpPr/>
          <p:nvPr/>
        </p:nvSpPr>
        <p:spPr>
          <a:xfrm>
            <a:off x="1572768" y="1115568"/>
            <a:ext cx="6291072" cy="411480"/>
          </a:xfrm>
          <a:prstGeom prst="rect">
            <a:avLst/>
          </a:prstGeom>
          <a:noFill/>
          <a:ln/>
        </p:spPr>
        <p:txBody>
          <a:bodyPr wrap="square" lIns="0" tIns="0" rIns="0" bIns="0" rtlCol="0" anchor="ctr"/>
          <a:lstStyle/>
          <a:p>
            <a:pPr indent="0" marL="0">
              <a:buNone/>
            </a:pPr>
            <a:r>
              <a:rPr lang="en-US" sz="1300" b="1" spc="150" kern="0" dirty="0">
                <a:solidFill>
                  <a:srgbClr val="55C8E8"/>
                </a:solidFill>
                <a:latin typeface="Calibri" pitchFamily="34" charset="0"/>
                <a:ea typeface="Calibri" pitchFamily="34" charset="-122"/>
                <a:cs typeface="Calibri" pitchFamily="34" charset="-120"/>
              </a:rPr>
              <a:t>Ship-and-Science Display</a:t>
            </a:r>
            <a:endParaRPr lang="en-US" sz="1300" dirty="0"/>
          </a:p>
        </p:txBody>
      </p:sp>
      <p:sp>
        <p:nvSpPr>
          <p:cNvPr id="9" name="Text 7"/>
          <p:cNvSpPr/>
          <p:nvPr/>
        </p:nvSpPr>
        <p:spPr>
          <a:xfrm>
            <a:off x="1572768" y="1554480"/>
            <a:ext cx="6291072" cy="1325880"/>
          </a:xfrm>
          <a:prstGeom prst="rect">
            <a:avLst/>
          </a:prstGeom>
          <a:noFill/>
          <a:ln/>
        </p:spPr>
        <p:txBody>
          <a:bodyPr wrap="square" lIns="0" tIns="0" rIns="0" bIns="0" rtlCol="0" anchor="ctr"/>
          <a:lstStyle/>
          <a:p>
            <a:pPr indent="0" marL="0">
              <a:buNone/>
            </a:pPr>
            <a:r>
              <a:rPr lang="en-US" sz="2200" dirty="0">
                <a:solidFill>
                  <a:srgbClr val="FFFFFF"/>
                </a:solidFill>
                <a:latin typeface="Cambria" pitchFamily="34" charset="0"/>
                <a:ea typeface="Cambria" pitchFamily="34" charset="-122"/>
                <a:cs typeface="Cambria" pitchFamily="34" charset="-120"/>
              </a:rPr>
              <a:t>Exploration was a system: ships built for the sea, charts drawn from experience, and knowledge of wind and current patterns. Together, they turned dangerous voyages into planned travel.</a:t>
            </a:r>
            <a:endParaRPr lang="en-US" sz="2200" dirty="0"/>
          </a:p>
        </p:txBody>
      </p:sp>
      <p:sp>
        <p:nvSpPr>
          <p:cNvPr id="10" name="Text 8"/>
          <p:cNvSpPr/>
          <p:nvPr/>
        </p:nvSpPr>
        <p:spPr>
          <a:xfrm>
            <a:off x="1572768" y="2907792"/>
            <a:ext cx="6291072" cy="228600"/>
          </a:xfrm>
          <a:prstGeom prst="rect">
            <a:avLst/>
          </a:prstGeom>
          <a:noFill/>
          <a:ln/>
        </p:spPr>
        <p:txBody>
          <a:bodyPr wrap="square" lIns="0" tIns="0" rIns="0" bIns="0"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Exploration Wing  |  Optima Academy Museum  |  Grade 3</a:t>
            </a:r>
            <a:endParaRPr lang="en-US" sz="1000" dirty="0"/>
          </a:p>
        </p:txBody>
      </p:sp>
      <p:sp>
        <p:nvSpPr>
          <p:cNvPr id="11" name="Shape 9"/>
          <p:cNvSpPr/>
          <p:nvPr/>
        </p:nvSpPr>
        <p:spPr>
          <a:xfrm>
            <a:off x="1097280" y="4206240"/>
            <a:ext cx="6949440" cy="749808"/>
          </a:xfrm>
          <a:prstGeom prst="roundRect">
            <a:avLst>
              <a:gd name="adj" fmla="val 14634"/>
            </a:avLst>
          </a:prstGeom>
          <a:solidFill>
            <a:srgbClr val="FFF3DC"/>
          </a:solidFill>
          <a:ln w="19050">
            <a:solidFill>
              <a:srgbClr val="F5E6C8"/>
            </a:solidFill>
            <a:prstDash val="solid"/>
          </a:ln>
        </p:spPr>
      </p:sp>
      <p:sp>
        <p:nvSpPr>
          <p:cNvPr id="12" name="Text 10"/>
          <p:cNvSpPr/>
          <p:nvPr/>
        </p:nvSpPr>
        <p:spPr>
          <a:xfrm>
            <a:off x="1234440" y="4261104"/>
            <a:ext cx="66751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1234440" y="4462272"/>
            <a:ext cx="6675120" cy="42976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"In this exhibit, I learned that exploration was a system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most important piece was probably... because..."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E1C42"/>
          </a:solidFill>
          <a:ln/>
        </p:spPr>
      </p:sp>
      <p:sp>
        <p:nvSpPr>
          <p:cNvPr id="3" name="Text 1"/>
          <p:cNvSpPr/>
          <p:nvPr/>
        </p:nvSpPr>
        <p:spPr>
          <a:xfrm>
            <a:off x="365760" y="0"/>
            <a:ext cx="8412480" cy="621792"/>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RETRIEVAL CHALLENGE  |  WHAT DO YOU REMEMBER?</a:t>
            </a:r>
            <a:endParaRPr lang="en-US" sz="1100" dirty="0"/>
          </a:p>
        </p:txBody>
      </p:sp>
      <p:sp>
        <p:nvSpPr>
          <p:cNvPr id="4" name="Text 2"/>
          <p:cNvSpPr/>
          <p:nvPr/>
        </p:nvSpPr>
        <p:spPr>
          <a:xfrm>
            <a:off x="365760" y="777240"/>
            <a:ext cx="8229600" cy="50292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Cover Your Screen. Now Remember.</a:t>
            </a:r>
            <a:endParaRPr lang="en-US" sz="2800" dirty="0"/>
          </a:p>
        </p:txBody>
      </p:sp>
      <p:sp>
        <p:nvSpPr>
          <p:cNvPr id="5" name="Shape 3"/>
          <p:cNvSpPr/>
          <p:nvPr/>
        </p:nvSpPr>
        <p:spPr>
          <a:xfrm>
            <a:off x="365760" y="1389888"/>
            <a:ext cx="8321040" cy="1600200"/>
          </a:xfrm>
          <a:prstGeom prst="roundRect">
            <a:avLst>
              <a:gd name="adj" fmla="val 8571"/>
            </a:avLst>
          </a:prstGeom>
          <a:solidFill>
            <a:srgbClr val="EAF3FF"/>
          </a:solidFill>
          <a:ln w="25400">
            <a:solidFill>
              <a:srgbClr val="B8D0F0"/>
            </a:solidFill>
            <a:prstDash val="solid"/>
          </a:ln>
        </p:spPr>
      </p:sp>
      <p:sp>
        <p:nvSpPr>
          <p:cNvPr id="6" name="Text 4"/>
          <p:cNvSpPr/>
          <p:nvPr/>
        </p:nvSpPr>
        <p:spPr>
          <a:xfrm>
            <a:off x="548640" y="1481328"/>
            <a:ext cx="7955280" cy="256032"/>
          </a:xfrm>
          <a:prstGeom prst="rect">
            <a:avLst/>
          </a:prstGeom>
          <a:noFill/>
          <a:ln/>
        </p:spPr>
        <p:txBody>
          <a:bodyPr wrap="square" lIns="0" tIns="0" rIns="0" bIns="0"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RETRIEVAL CHALLENGE</a:t>
            </a:r>
            <a:endParaRPr lang="en-US" sz="900" dirty="0"/>
          </a:p>
        </p:txBody>
      </p:sp>
      <p:sp>
        <p:nvSpPr>
          <p:cNvPr id="7" name="Text 5"/>
          <p:cNvSpPr/>
          <p:nvPr/>
        </p:nvSpPr>
        <p:spPr>
          <a:xfrm>
            <a:off x="548640" y="1755648"/>
            <a:ext cx="7955280" cy="1143000"/>
          </a:xfrm>
          <a:prstGeom prst="rect">
            <a:avLst/>
          </a:prstGeom>
          <a:noFill/>
          <a:ln/>
        </p:spPr>
        <p:txBody>
          <a:bodyPr wrap="square" lIns="0" tIns="0" rIns="0" bIns="0" rtlCol="0" anchor="t"/>
          <a:lstStyle/>
          <a:p>
            <a:pPr indent="0" marL="0">
              <a:buNone/>
            </a:pPr>
            <a:r>
              <a:rPr lang="en-US" sz="1400" dirty="0">
                <a:solidFill>
                  <a:srgbClr val="0E1C42"/>
                </a:solidFill>
                <a:latin typeface="Calibri" pitchFamily="34" charset="0"/>
                <a:ea typeface="Calibri" pitchFamily="34" charset="-122"/>
                <a:cs typeface="Calibri" pitchFamily="34" charset="-120"/>
              </a:rPr>
              <a:t>Without looking at your notes, can you name:</a:t>
            </a:r>
            <a:endParaRPr lang="en-US" sz="1400" dirty="0"/>
          </a:p>
          <a:p>
            <a:pPr indent="0" marL="0">
              <a:buNone/>
            </a:pPr>
            <a:endParaRPr lang="en-US" sz="1400" dirty="0"/>
          </a:p>
          <a:p>
            <a:pPr indent="0" marL="0">
              <a:buNone/>
            </a:pPr>
            <a:r>
              <a:rPr lang="en-US" sz="1400" dirty="0">
                <a:solidFill>
                  <a:srgbClr val="0E1C42"/>
                </a:solidFill>
                <a:latin typeface="Calibri" pitchFamily="34" charset="0"/>
                <a:ea typeface="Calibri" pitchFamily="34" charset="-122"/>
                <a:cs typeface="Calibri" pitchFamily="34" charset="-120"/>
              </a:rPr>
              <a:t>1. The two ship types and what made each one useful?</a:t>
            </a:r>
            <a:endParaRPr lang="en-US" sz="1400" dirty="0"/>
          </a:p>
          <a:p>
            <a:pPr indent="0" marL="0">
              <a:buNone/>
            </a:pPr>
            <a:r>
              <a:rPr lang="en-US" sz="1400" dirty="0">
                <a:solidFill>
                  <a:srgbClr val="0E1C42"/>
                </a:solidFill>
                <a:latin typeface="Calibri" pitchFamily="34" charset="0"/>
                <a:ea typeface="Calibri" pitchFamily="34" charset="-122"/>
                <a:cs typeface="Calibri" pitchFamily="34" charset="-120"/>
              </a:rPr>
              <a:t>2. The name of the sea chart sailors used and what it showed?</a:t>
            </a:r>
            <a:endParaRPr lang="en-US" sz="1400" dirty="0"/>
          </a:p>
          <a:p>
            <a:pPr indent="0" marL="0">
              <a:buNone/>
            </a:pPr>
            <a:r>
              <a:rPr lang="en-US" sz="1400" dirty="0">
                <a:solidFill>
                  <a:srgbClr val="0E1C42"/>
                </a:solidFill>
                <a:latin typeface="Calibri" pitchFamily="34" charset="0"/>
                <a:ea typeface="Calibri" pitchFamily="34" charset="-122"/>
                <a:cs typeface="Calibri" pitchFamily="34" charset="-120"/>
              </a:rPr>
              <a:t>3. The two natural forces sailors learned to ride?</a:t>
            </a:r>
            <a:endParaRPr lang="en-US" sz="1400" dirty="0"/>
          </a:p>
        </p:txBody>
      </p:sp>
      <p:sp>
        <p:nvSpPr>
          <p:cNvPr id="8" name="Shape 6"/>
          <p:cNvSpPr/>
          <p:nvPr/>
        </p:nvSpPr>
        <p:spPr>
          <a:xfrm>
            <a:off x="365760" y="3090672"/>
            <a:ext cx="4023360" cy="1508760"/>
          </a:xfrm>
          <a:prstGeom prst="roundRect">
            <a:avLst>
              <a:gd name="adj" fmla="val 7273"/>
            </a:avLst>
          </a:prstGeom>
          <a:solidFill>
            <a:srgbClr val="E3F8ED"/>
          </a:solidFill>
          <a:ln w="19050">
            <a:solidFill>
              <a:srgbClr val="B8E8CF"/>
            </a:solidFill>
            <a:prstDash val="solid"/>
          </a:ln>
        </p:spPr>
      </p:sp>
      <p:sp>
        <p:nvSpPr>
          <p:cNvPr id="9" name="Text 7"/>
          <p:cNvSpPr/>
          <p:nvPr/>
        </p:nvSpPr>
        <p:spPr>
          <a:xfrm>
            <a:off x="548640" y="3182112"/>
            <a:ext cx="3657600" cy="2560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ANSWERS</a:t>
            </a:r>
            <a:endParaRPr lang="en-US" sz="900" dirty="0"/>
          </a:p>
        </p:txBody>
      </p:sp>
      <p:sp>
        <p:nvSpPr>
          <p:cNvPr id="10" name="Text 8"/>
          <p:cNvSpPr/>
          <p:nvPr/>
        </p:nvSpPr>
        <p:spPr>
          <a:xfrm>
            <a:off x="548640" y="3456432"/>
            <a:ext cx="3657600" cy="105156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1. Caravel (small, fast, sailed against wind) + Carrack (large, long voyages)</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2. Portolan chart (coastlines, compass lines, sailing routes)</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3. Trade winds + Ocean currents</a:t>
            </a:r>
            <a:endParaRPr lang="en-US" sz="1200" dirty="0"/>
          </a:p>
        </p:txBody>
      </p:sp>
      <p:sp>
        <p:nvSpPr>
          <p:cNvPr id="11" name="Shape 9"/>
          <p:cNvSpPr/>
          <p:nvPr/>
        </p:nvSpPr>
        <p:spPr>
          <a:xfrm>
            <a:off x="4572000" y="3090672"/>
            <a:ext cx="4114800" cy="1508760"/>
          </a:xfrm>
          <a:prstGeom prst="roundRect">
            <a:avLst>
              <a:gd name="adj" fmla="val 9091"/>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4754880" y="3182112"/>
            <a:ext cx="37490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4754880" y="3438144"/>
            <a:ext cx="3749040" cy="10698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was hardest to remember — and why do you think that is?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you could only remember one of the three forever, which would it be?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E1C42"/>
          </a:solidFill>
          <a:ln/>
        </p:spPr>
      </p:sp>
      <p:sp>
        <p:nvSpPr>
          <p:cNvPr id="3" name="Text 1"/>
          <p:cNvSpPr/>
          <p:nvPr/>
        </p:nvSpPr>
        <p:spPr>
          <a:xfrm>
            <a:off x="365760" y="0"/>
            <a:ext cx="8412480" cy="621792"/>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TEACHER MODELS  |  THINK-ALOUD: EVIDENCE QUESTION 1</a:t>
            </a:r>
            <a:endParaRPr lang="en-US" sz="1100" dirty="0"/>
          </a:p>
        </p:txBody>
      </p:sp>
      <p:sp>
        <p:nvSpPr>
          <p:cNvPr id="4" name="Text 2"/>
          <p:cNvSpPr/>
          <p:nvPr/>
        </p:nvSpPr>
        <p:spPr>
          <a:xfrm>
            <a:off x="365760" y="777240"/>
            <a:ext cx="8229600" cy="50292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Watch Me Think Through This</a:t>
            </a:r>
            <a:endParaRPr lang="en-US" sz="2800" dirty="0"/>
          </a:p>
        </p:txBody>
      </p:sp>
      <p:sp>
        <p:nvSpPr>
          <p:cNvPr id="5" name="Shape 3"/>
          <p:cNvSpPr/>
          <p:nvPr/>
        </p:nvSpPr>
        <p:spPr>
          <a:xfrm>
            <a:off x="365760" y="1389888"/>
            <a:ext cx="8321040" cy="658368"/>
          </a:xfrm>
          <a:prstGeom prst="roundRect">
            <a:avLst>
              <a:gd name="adj" fmla="val 13889"/>
            </a:avLst>
          </a:prstGeom>
          <a:solidFill>
            <a:srgbClr val="0E1C42"/>
          </a:solidFill>
          <a:ln/>
        </p:spPr>
      </p:sp>
      <p:sp>
        <p:nvSpPr>
          <p:cNvPr id="6" name="Text 4"/>
          <p:cNvSpPr/>
          <p:nvPr/>
        </p:nvSpPr>
        <p:spPr>
          <a:xfrm>
            <a:off x="548640" y="1435608"/>
            <a:ext cx="7955280" cy="548640"/>
          </a:xfrm>
          <a:prstGeom prst="rect">
            <a:avLst/>
          </a:prstGeom>
          <a:noFill/>
          <a:ln/>
        </p:spPr>
        <p:txBody>
          <a:bodyPr wrap="square" lIns="0" tIns="0" rIns="0" bIns="0" rtlCol="0" anchor="ctr"/>
          <a:lstStyle/>
          <a:p>
            <a:pPr indent="0" marL="0">
              <a:buNone/>
            </a:pPr>
            <a:r>
              <a:rPr lang="en-US" sz="1300" i="1" dirty="0">
                <a:solidFill>
                  <a:srgbClr val="FFFFFF"/>
                </a:solidFill>
                <a:latin typeface="Cambria" pitchFamily="34" charset="0"/>
                <a:ea typeface="Cambria" pitchFamily="34" charset="-122"/>
                <a:cs typeface="Cambria" pitchFamily="34" charset="-120"/>
              </a:rPr>
              <a:t>EVIDENCE QUESTION 1:  'Why were caravels important for exploration? Name one feature that made caravels useful and explain why it mattered.'</a:t>
            </a:r>
            <a:endParaRPr lang="en-US" sz="1300" dirty="0"/>
          </a:p>
        </p:txBody>
      </p:sp>
      <p:sp>
        <p:nvSpPr>
          <p:cNvPr id="7" name="Shape 5"/>
          <p:cNvSpPr/>
          <p:nvPr/>
        </p:nvSpPr>
        <p:spPr>
          <a:xfrm>
            <a:off x="365760" y="2148840"/>
            <a:ext cx="4114800" cy="2377440"/>
          </a:xfrm>
          <a:prstGeom prst="roundRect">
            <a:avLst>
              <a:gd name="adj" fmla="val 4615"/>
            </a:avLst>
          </a:prstGeom>
          <a:solidFill>
            <a:srgbClr val="F0F2F8"/>
          </a:solidFill>
          <a:ln w="19050">
            <a:solidFill>
              <a:srgbClr val="D0D8E8"/>
            </a:solidFill>
            <a:prstDash val="solid"/>
          </a:ln>
        </p:spPr>
      </p:sp>
      <p:sp>
        <p:nvSpPr>
          <p:cNvPr id="8" name="Text 6"/>
          <p:cNvSpPr/>
          <p:nvPr/>
        </p:nvSpPr>
        <p:spPr>
          <a:xfrm>
            <a:off x="548640" y="2240280"/>
            <a:ext cx="3749040" cy="2560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MY THINKING STEPS</a:t>
            </a:r>
            <a:endParaRPr lang="en-US" sz="900" dirty="0"/>
          </a:p>
        </p:txBody>
      </p:sp>
      <p:sp>
        <p:nvSpPr>
          <p:cNvPr id="9" name="Text 7"/>
          <p:cNvSpPr/>
          <p:nvPr/>
        </p:nvSpPr>
        <p:spPr>
          <a:xfrm>
            <a:off x="548640" y="2514600"/>
            <a:ext cx="3749040" cy="1920240"/>
          </a:xfrm>
          <a:prstGeom prst="rect">
            <a:avLst/>
          </a:prstGeom>
          <a:noFill/>
          <a:ln/>
        </p:spPr>
        <p:txBody>
          <a:bodyPr wrap="square" lIns="0" tIns="0" rIns="0" bIns="0" rtlCol="0" anchor="t"/>
          <a:lstStyle/>
          <a:p>
            <a:pPr indent="0" marL="0">
              <a:spcAft>
                <a:spcPts val="1000"/>
              </a:spcAft>
              <a:buNone/>
            </a:pPr>
            <a:r>
              <a:rPr lang="en-US" sz="1200" dirty="0">
                <a:solidFill>
                  <a:srgbClr val="0E1C42"/>
                </a:solidFill>
                <a:latin typeface="Calibri" pitchFamily="34" charset="0"/>
                <a:ea typeface="Calibri" pitchFamily="34" charset="-122"/>
                <a:cs typeface="Calibri" pitchFamily="34" charset="-120"/>
              </a:rPr>
              <a:t>1. What is the question asking? Name a feature AND explain why it mattered.</a:t>
            </a:r>
            <a:endParaRPr lang="en-US" sz="1200" dirty="0"/>
          </a:p>
          <a:p>
            <a:pPr indent="0" marL="0">
              <a:spcAft>
                <a:spcPts val="1000"/>
              </a:spcAft>
              <a:buNone/>
            </a:pPr>
            <a:r>
              <a:rPr lang="en-US" sz="1200" dirty="0">
                <a:solidFill>
                  <a:srgbClr val="0E1C42"/>
                </a:solidFill>
                <a:latin typeface="Calibri" pitchFamily="34" charset="0"/>
                <a:ea typeface="Calibri" pitchFamily="34" charset="-122"/>
                <a:cs typeface="Calibri" pitchFamily="34" charset="-120"/>
              </a:rPr>
              <a:t>2. What feature do I know? Caravels could sail in many directions — even against the wind.</a:t>
            </a:r>
            <a:endParaRPr lang="en-US" sz="1200" dirty="0"/>
          </a:p>
          <a:p>
            <a:pPr indent="0" marL="0">
              <a:spcAft>
                <a:spcPts val="1000"/>
              </a:spcAft>
              <a:buNone/>
            </a:pPr>
            <a:r>
              <a:rPr lang="en-US" sz="1200" dirty="0">
                <a:solidFill>
                  <a:srgbClr val="0E1C42"/>
                </a:solidFill>
                <a:latin typeface="Calibri" pitchFamily="34" charset="0"/>
                <a:ea typeface="Calibri" pitchFamily="34" charset="-122"/>
                <a:cs typeface="Calibri" pitchFamily="34" charset="-120"/>
              </a:rPr>
              <a:t>3. Why did it matter? Older ships could only go where the wind pushed them. Caravels let explorers go where they chose.</a:t>
            </a:r>
            <a:endParaRPr lang="en-US" sz="1200" dirty="0"/>
          </a:p>
        </p:txBody>
      </p:sp>
      <p:sp>
        <p:nvSpPr>
          <p:cNvPr id="10" name="Shape 8"/>
          <p:cNvSpPr/>
          <p:nvPr/>
        </p:nvSpPr>
        <p:spPr>
          <a:xfrm>
            <a:off x="4663440" y="2148840"/>
            <a:ext cx="4069080" cy="2377440"/>
          </a:xfrm>
          <a:prstGeom prst="roundRect">
            <a:avLst>
              <a:gd name="adj" fmla="val 4615"/>
            </a:avLst>
          </a:prstGeom>
          <a:solidFill>
            <a:srgbClr val="E3F8ED"/>
          </a:solidFill>
          <a:ln w="19050">
            <a:solidFill>
              <a:srgbClr val="B8E8CF"/>
            </a:solidFill>
            <a:prstDash val="solid"/>
          </a:ln>
        </p:spPr>
      </p:sp>
      <p:sp>
        <p:nvSpPr>
          <p:cNvPr id="11" name="Text 9"/>
          <p:cNvSpPr/>
          <p:nvPr/>
        </p:nvSpPr>
        <p:spPr>
          <a:xfrm>
            <a:off x="4846320" y="2240280"/>
            <a:ext cx="3703320" cy="2560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MODEL ANSWER</a:t>
            </a:r>
            <a:endParaRPr lang="en-US" sz="900" dirty="0"/>
          </a:p>
        </p:txBody>
      </p:sp>
      <p:sp>
        <p:nvSpPr>
          <p:cNvPr id="12" name="Text 10"/>
          <p:cNvSpPr/>
          <p:nvPr/>
        </p:nvSpPr>
        <p:spPr>
          <a:xfrm>
            <a:off x="4846320" y="2514600"/>
            <a:ext cx="3703320" cy="1920240"/>
          </a:xfrm>
          <a:prstGeom prst="rect">
            <a:avLst/>
          </a:prstGeom>
          <a:noFill/>
          <a:ln/>
        </p:spPr>
        <p:txBody>
          <a:bodyPr wrap="square" lIns="0" tIns="0" rIns="0" bIns="0" rtlCol="0" anchor="t"/>
          <a:lstStyle/>
          <a:p>
            <a:pPr indent="0" marL="0">
              <a:buNone/>
            </a:pPr>
            <a:r>
              <a:rPr lang="en-US" sz="1300" i="1" dirty="0">
                <a:solidFill>
                  <a:srgbClr val="0E1C42"/>
                </a:solidFill>
                <a:latin typeface="Cambria" pitchFamily="34" charset="0"/>
                <a:ea typeface="Cambria" pitchFamily="34" charset="-122"/>
                <a:cs typeface="Cambria" pitchFamily="34" charset="-120"/>
              </a:rPr>
              <a:t>'Caravels were important because they could sail in many directions, even against the wind. This mattered because older ships could only go where the wind pushed them — the caravel let explorers reach places that older ships never could.'</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E1C42"/>
          </a:solidFill>
          <a:ln/>
        </p:spPr>
      </p:sp>
      <p:sp>
        <p:nvSpPr>
          <p:cNvPr id="3" name="Text 1"/>
          <p:cNvSpPr/>
          <p:nvPr/>
        </p:nvSpPr>
        <p:spPr>
          <a:xfrm>
            <a:off x="365760" y="0"/>
            <a:ext cx="8412480" cy="621792"/>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SPOT THE MISTAKE  |  ERROR ANALYSIS</a:t>
            </a:r>
            <a:endParaRPr lang="en-US" sz="1100" dirty="0"/>
          </a:p>
        </p:txBody>
      </p:sp>
      <p:sp>
        <p:nvSpPr>
          <p:cNvPr id="4" name="Text 2"/>
          <p:cNvSpPr/>
          <p:nvPr/>
        </p:nvSpPr>
        <p:spPr>
          <a:xfrm>
            <a:off x="365760" y="777240"/>
            <a:ext cx="8229600" cy="50292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What Did This Student Get Wrong?</a:t>
            </a:r>
            <a:endParaRPr lang="en-US" sz="2800" dirty="0"/>
          </a:p>
        </p:txBody>
      </p:sp>
      <p:sp>
        <p:nvSpPr>
          <p:cNvPr id="5" name="Shape 3"/>
          <p:cNvSpPr/>
          <p:nvPr/>
        </p:nvSpPr>
        <p:spPr>
          <a:xfrm>
            <a:off x="365760" y="1389888"/>
            <a:ext cx="8321040" cy="1005840"/>
          </a:xfrm>
          <a:prstGeom prst="roundRect">
            <a:avLst>
              <a:gd name="adj" fmla="val 10909"/>
            </a:avLst>
          </a:prstGeom>
          <a:solidFill>
            <a:srgbClr val="FFF0F0"/>
          </a:solidFill>
          <a:ln w="25400">
            <a:solidFill>
              <a:srgbClr val="F5C0C0"/>
            </a:solidFill>
            <a:prstDash val="solid"/>
          </a:ln>
        </p:spPr>
      </p:sp>
      <p:sp>
        <p:nvSpPr>
          <p:cNvPr id="6" name="Text 4"/>
          <p:cNvSpPr/>
          <p:nvPr/>
        </p:nvSpPr>
        <p:spPr>
          <a:xfrm>
            <a:off x="548640" y="1444752"/>
            <a:ext cx="7955280" cy="256032"/>
          </a:xfrm>
          <a:prstGeom prst="rect">
            <a:avLst/>
          </a:prstGeom>
          <a:noFill/>
          <a:ln/>
        </p:spPr>
        <p:txBody>
          <a:bodyPr wrap="square" lIns="0" tIns="0" rIns="0" bIns="0"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STUDENT ANSWER (Has a Mistake)</a:t>
            </a:r>
            <a:endParaRPr lang="en-US" sz="900" dirty="0"/>
          </a:p>
        </p:txBody>
      </p:sp>
      <p:sp>
        <p:nvSpPr>
          <p:cNvPr id="7" name="Text 5"/>
          <p:cNvSpPr/>
          <p:nvPr/>
        </p:nvSpPr>
        <p:spPr>
          <a:xfrm>
            <a:off x="548640" y="1691640"/>
            <a:ext cx="7955280" cy="640080"/>
          </a:xfrm>
          <a:prstGeom prst="rect">
            <a:avLst/>
          </a:prstGeom>
          <a:noFill/>
          <a:ln/>
        </p:spPr>
        <p:txBody>
          <a:bodyPr wrap="square" lIns="0" tIns="0" rIns="0" bIns="0" rtlCol="0" anchor="t"/>
          <a:lstStyle/>
          <a:p>
            <a:pPr indent="0" marL="0">
              <a:buNone/>
            </a:pPr>
            <a:r>
              <a:rPr lang="en-US" sz="1400" i="1" dirty="0">
                <a:solidFill>
                  <a:srgbClr val="5A3A3A"/>
                </a:solidFill>
                <a:latin typeface="Cambria" pitchFamily="34" charset="0"/>
                <a:ea typeface="Cambria" pitchFamily="34" charset="-122"/>
                <a:cs typeface="Cambria" pitchFamily="34" charset="-120"/>
              </a:rPr>
              <a:t>'Caravels were important because they were the biggest ships. The bigger the ship, the better for exploring new places. They could also carry more supplies.'</a:t>
            </a:r>
            <a:endParaRPr lang="en-US" sz="1400" dirty="0"/>
          </a:p>
        </p:txBody>
      </p:sp>
      <p:sp>
        <p:nvSpPr>
          <p:cNvPr id="8" name="Shape 6"/>
          <p:cNvSpPr/>
          <p:nvPr/>
        </p:nvSpPr>
        <p:spPr>
          <a:xfrm>
            <a:off x="365760" y="2514600"/>
            <a:ext cx="4114800" cy="1719072"/>
          </a:xfrm>
          <a:prstGeom prst="roundRect">
            <a:avLst>
              <a:gd name="adj" fmla="val 7979"/>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548640" y="2606040"/>
            <a:ext cx="37490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548640" y="2862072"/>
            <a:ext cx="3749040" cy="1280160"/>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did this student confuse?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the difference between 'biggest' and 'most useful for exploration'?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does getting the ship type wrong matter for the whole answer?</a:t>
            </a:r>
            <a:endParaRPr lang="en-US" sz="1100" dirty="0"/>
          </a:p>
        </p:txBody>
      </p:sp>
      <p:sp>
        <p:nvSpPr>
          <p:cNvPr id="11" name="Shape 9"/>
          <p:cNvSpPr/>
          <p:nvPr/>
        </p:nvSpPr>
        <p:spPr>
          <a:xfrm>
            <a:off x="4663440" y="2514600"/>
            <a:ext cx="4069080" cy="1719072"/>
          </a:xfrm>
          <a:prstGeom prst="roundRect">
            <a:avLst>
              <a:gd name="adj" fmla="val 6383"/>
            </a:avLst>
          </a:prstGeom>
          <a:solidFill>
            <a:srgbClr val="E3F8ED"/>
          </a:solidFill>
          <a:ln w="19050">
            <a:solidFill>
              <a:srgbClr val="B8E8CF"/>
            </a:solidFill>
            <a:prstDash val="solid"/>
          </a:ln>
        </p:spPr>
      </p:sp>
      <p:sp>
        <p:nvSpPr>
          <p:cNvPr id="12" name="Text 10"/>
          <p:cNvSpPr/>
          <p:nvPr/>
        </p:nvSpPr>
        <p:spPr>
          <a:xfrm>
            <a:off x="4846320" y="2606040"/>
            <a:ext cx="3703320" cy="2560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FIX IT</a:t>
            </a:r>
            <a:endParaRPr lang="en-US" sz="900" dirty="0"/>
          </a:p>
        </p:txBody>
      </p:sp>
      <p:sp>
        <p:nvSpPr>
          <p:cNvPr id="13" name="Text 11"/>
          <p:cNvSpPr/>
          <p:nvPr/>
        </p:nvSpPr>
        <p:spPr>
          <a:xfrm>
            <a:off x="4846320" y="2880360"/>
            <a:ext cx="3703320" cy="1261872"/>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The student confused CARAVEL with CARRACK. Caravels were SMALL and FAST — not the biggest. The caravel's advantage was sailing against the wind, not carrying the most supplies.</a:t>
            </a:r>
            <a:endParaRPr lang="en-US" sz="1200" dirty="0"/>
          </a:p>
        </p:txBody>
      </p:sp>
      <p:sp>
        <p:nvSpPr>
          <p:cNvPr id="14" name="Shape 12"/>
          <p:cNvSpPr/>
          <p:nvPr/>
        </p:nvSpPr>
        <p:spPr>
          <a:xfrm>
            <a:off x="365760" y="4315968"/>
            <a:ext cx="8321040" cy="658368"/>
          </a:xfrm>
          <a:prstGeom prst="roundRect">
            <a:avLst>
              <a:gd name="adj" fmla="val 16667"/>
            </a:avLst>
          </a:prstGeom>
          <a:solidFill>
            <a:srgbClr val="FFF3DC"/>
          </a:solidFill>
          <a:ln w="19050">
            <a:solidFill>
              <a:srgbClr val="F5E6C8"/>
            </a:solidFill>
            <a:prstDash val="solid"/>
          </a:ln>
        </p:spPr>
      </p:sp>
      <p:sp>
        <p:nvSpPr>
          <p:cNvPr id="15" name="Text 13"/>
          <p:cNvSpPr/>
          <p:nvPr/>
        </p:nvSpPr>
        <p:spPr>
          <a:xfrm>
            <a:off x="502920" y="4370832"/>
            <a:ext cx="80467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502920" y="4572000"/>
            <a:ext cx="8046720" cy="33832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mistake was...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correct answer should say..."</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E1C42"/>
          </a:solidFill>
          <a:ln/>
        </p:spPr>
      </p:sp>
      <p:sp>
        <p:nvSpPr>
          <p:cNvPr id="3" name="Text 1"/>
          <p:cNvSpPr/>
          <p:nvPr/>
        </p:nvSpPr>
        <p:spPr>
          <a:xfrm>
            <a:off x="365760" y="0"/>
            <a:ext cx="8412480" cy="621792"/>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YOUR TURN  |  GUIDED PRACTICE</a:t>
            </a:r>
            <a:endParaRPr lang="en-US" sz="1100" dirty="0"/>
          </a:p>
        </p:txBody>
      </p:sp>
      <p:sp>
        <p:nvSpPr>
          <p:cNvPr id="4" name="Text 2"/>
          <p:cNvSpPr/>
          <p:nvPr/>
        </p:nvSpPr>
        <p:spPr>
          <a:xfrm>
            <a:off x="365760" y="777240"/>
            <a:ext cx="8229600" cy="50292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Practice Before the Assignment</a:t>
            </a:r>
            <a:endParaRPr lang="en-US" sz="2800" dirty="0"/>
          </a:p>
        </p:txBody>
      </p:sp>
      <p:sp>
        <p:nvSpPr>
          <p:cNvPr id="5" name="Shape 3"/>
          <p:cNvSpPr/>
          <p:nvPr/>
        </p:nvSpPr>
        <p:spPr>
          <a:xfrm>
            <a:off x="365760" y="1389888"/>
            <a:ext cx="4114800" cy="3154680"/>
          </a:xfrm>
          <a:prstGeom prst="roundRect">
            <a:avLst>
              <a:gd name="adj" fmla="val 3478"/>
            </a:avLst>
          </a:prstGeom>
          <a:solidFill>
            <a:srgbClr val="EAF8FD"/>
          </a:solidFill>
          <a:ln w="25400">
            <a:solidFill>
              <a:srgbClr val="B8DFF0"/>
            </a:solidFill>
            <a:prstDash val="solid"/>
          </a:ln>
        </p:spPr>
      </p:sp>
      <p:sp>
        <p:nvSpPr>
          <p:cNvPr id="6" name="Text 4"/>
          <p:cNvSpPr/>
          <p:nvPr/>
        </p:nvSpPr>
        <p:spPr>
          <a:xfrm>
            <a:off x="548640" y="1481328"/>
            <a:ext cx="3749040" cy="2560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EVIDENCE QUESTION 2</a:t>
            </a:r>
            <a:endParaRPr lang="en-US" sz="900" dirty="0"/>
          </a:p>
        </p:txBody>
      </p:sp>
      <p:sp>
        <p:nvSpPr>
          <p:cNvPr id="7" name="Text 5"/>
          <p:cNvSpPr/>
          <p:nvPr/>
        </p:nvSpPr>
        <p:spPr>
          <a:xfrm>
            <a:off x="548640" y="1755648"/>
            <a:ext cx="3749040" cy="658368"/>
          </a:xfrm>
          <a:prstGeom prst="rect">
            <a:avLst/>
          </a:prstGeom>
          <a:noFill/>
          <a:ln/>
        </p:spPr>
        <p:txBody>
          <a:bodyPr wrap="square" lIns="0" tIns="0" rIns="0" bIns="0" rtlCol="0" anchor="t"/>
          <a:lstStyle/>
          <a:p>
            <a:pPr indent="0" marL="0">
              <a:buNone/>
            </a:pPr>
            <a:r>
              <a:rPr lang="en-US" sz="1300" b="1" dirty="0">
                <a:solidFill>
                  <a:srgbClr val="0E1C42"/>
                </a:solidFill>
                <a:latin typeface="Cambria" pitchFamily="34" charset="0"/>
                <a:ea typeface="Cambria" pitchFamily="34" charset="-122"/>
                <a:cs typeface="Cambria" pitchFamily="34" charset="-120"/>
              </a:rPr>
              <a:t>How did portolan charts help sailors navigate? What information did they provide?</a:t>
            </a:r>
            <a:endParaRPr lang="en-US" sz="1300" dirty="0"/>
          </a:p>
        </p:txBody>
      </p:sp>
      <p:sp>
        <p:nvSpPr>
          <p:cNvPr id="8" name="Text 6"/>
          <p:cNvSpPr/>
          <p:nvPr/>
        </p:nvSpPr>
        <p:spPr>
          <a:xfrm>
            <a:off x="548640" y="2487168"/>
            <a:ext cx="3749040" cy="219456"/>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YOUR SCAFFOLD:</a:t>
            </a:r>
            <a:endParaRPr lang="en-US" sz="900" dirty="0"/>
          </a:p>
        </p:txBody>
      </p:sp>
      <p:sp>
        <p:nvSpPr>
          <p:cNvPr id="9" name="Text 7"/>
          <p:cNvSpPr/>
          <p:nvPr/>
        </p:nvSpPr>
        <p:spPr>
          <a:xfrm>
            <a:off x="548640" y="2724912"/>
            <a:ext cx="3749040" cy="82296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Name what a portolan chart showed</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Explain ONE way it helped sailors navigate</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Use a detail from the lesson</a:t>
            </a:r>
            <a:endParaRPr lang="en-US" sz="1200" dirty="0"/>
          </a:p>
        </p:txBody>
      </p:sp>
      <p:sp>
        <p:nvSpPr>
          <p:cNvPr id="10" name="Shape 8"/>
          <p:cNvSpPr/>
          <p:nvPr/>
        </p:nvSpPr>
        <p:spPr>
          <a:xfrm>
            <a:off x="548640" y="3611880"/>
            <a:ext cx="3749040" cy="804672"/>
          </a:xfrm>
          <a:prstGeom prst="roundRect">
            <a:avLst>
              <a:gd name="adj" fmla="val 9091"/>
            </a:avLst>
          </a:prstGeom>
          <a:solidFill>
            <a:srgbClr val="E2E8F4"/>
          </a:solidFill>
          <a:ln w="12700">
            <a:solidFill>
              <a:srgbClr val="B0B8CC"/>
            </a:solidFill>
            <a:prstDash val="dash"/>
          </a:ln>
        </p:spPr>
      </p:sp>
      <p:sp>
        <p:nvSpPr>
          <p:cNvPr id="11" name="Text 9"/>
          <p:cNvSpPr/>
          <p:nvPr/>
        </p:nvSpPr>
        <p:spPr>
          <a:xfrm>
            <a:off x="731520" y="3675888"/>
            <a:ext cx="3383280" cy="68580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Response area — write in your Curator's Notebook</a:t>
            </a:r>
            <a:endParaRPr lang="en-US" sz="1100" dirty="0"/>
          </a:p>
        </p:txBody>
      </p:sp>
      <p:sp>
        <p:nvSpPr>
          <p:cNvPr id="12" name="Shape 10"/>
          <p:cNvSpPr/>
          <p:nvPr/>
        </p:nvSpPr>
        <p:spPr>
          <a:xfrm>
            <a:off x="4663440" y="1389888"/>
            <a:ext cx="4069080" cy="3154680"/>
          </a:xfrm>
          <a:prstGeom prst="roundRect">
            <a:avLst>
              <a:gd name="adj" fmla="val 3478"/>
            </a:avLst>
          </a:prstGeom>
          <a:solidFill>
            <a:srgbClr val="FFF3DC"/>
          </a:solidFill>
          <a:ln w="25400">
            <a:solidFill>
              <a:srgbClr val="F5E6C8"/>
            </a:solidFill>
            <a:prstDash val="solid"/>
          </a:ln>
        </p:spPr>
      </p:sp>
      <p:sp>
        <p:nvSpPr>
          <p:cNvPr id="13" name="Text 11"/>
          <p:cNvSpPr/>
          <p:nvPr/>
        </p:nvSpPr>
        <p:spPr>
          <a:xfrm>
            <a:off x="4846320" y="1481328"/>
            <a:ext cx="370332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THE TRICKY ONE</a:t>
            </a:r>
            <a:endParaRPr lang="en-US" sz="900" dirty="0"/>
          </a:p>
        </p:txBody>
      </p:sp>
      <p:sp>
        <p:nvSpPr>
          <p:cNvPr id="14" name="Text 12"/>
          <p:cNvSpPr/>
          <p:nvPr/>
        </p:nvSpPr>
        <p:spPr>
          <a:xfrm>
            <a:off x="4846320" y="1755648"/>
            <a:ext cx="3703320" cy="658368"/>
          </a:xfrm>
          <a:prstGeom prst="rect">
            <a:avLst/>
          </a:prstGeom>
          <a:noFill/>
          <a:ln/>
        </p:spPr>
        <p:txBody>
          <a:bodyPr wrap="square" lIns="0" tIns="0" rIns="0" bIns="0" rtlCol="0" anchor="t"/>
          <a:lstStyle/>
          <a:p>
            <a:pPr indent="0" marL="0">
              <a:buNone/>
            </a:pPr>
            <a:r>
              <a:rPr lang="en-US" sz="1300" b="1" dirty="0">
                <a:solidFill>
                  <a:srgbClr val="0E1C42"/>
                </a:solidFill>
                <a:latin typeface="Cambria" pitchFamily="34" charset="0"/>
                <a:ea typeface="Cambria" pitchFamily="34" charset="-122"/>
                <a:cs typeface="Cambria" pitchFamily="34" charset="-120"/>
              </a:rPr>
              <a:t>Were portolan charts reliable navigation tools, or were they too inaccurate to trust?</a:t>
            </a:r>
            <a:endParaRPr lang="en-US" sz="1300" dirty="0"/>
          </a:p>
        </p:txBody>
      </p:sp>
      <p:sp>
        <p:nvSpPr>
          <p:cNvPr id="15" name="Text 13"/>
          <p:cNvSpPr/>
          <p:nvPr/>
        </p:nvSpPr>
        <p:spPr>
          <a:xfrm>
            <a:off x="4846320" y="2487168"/>
            <a:ext cx="3703320" cy="219456"/>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Think about this:</a:t>
            </a:r>
            <a:endParaRPr lang="en-US" sz="900" dirty="0"/>
          </a:p>
        </p:txBody>
      </p:sp>
      <p:sp>
        <p:nvSpPr>
          <p:cNvPr id="16" name="Text 14"/>
          <p:cNvSpPr/>
          <p:nvPr/>
        </p:nvSpPr>
        <p:spPr>
          <a:xfrm>
            <a:off x="4846320" y="2724912"/>
            <a:ext cx="3703320" cy="1261872"/>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The lesson says portolan charts 'weren't perfect' but they guided explorers across oceans. How can something imperfect still be useful? What does this tell you about how sailors worked with incomplete information?</a:t>
            </a:r>
            <a:endParaRPr lang="en-US" sz="1200" dirty="0"/>
          </a:p>
        </p:txBody>
      </p:sp>
      <p:sp>
        <p:nvSpPr>
          <p:cNvPr id="17" name="Shape 15"/>
          <p:cNvSpPr/>
          <p:nvPr/>
        </p:nvSpPr>
        <p:spPr>
          <a:xfrm>
            <a:off x="365760" y="4617720"/>
            <a:ext cx="8321040" cy="411480"/>
          </a:xfrm>
          <a:prstGeom prst="roundRect">
            <a:avLst>
              <a:gd name="adj" fmla="val 26667"/>
            </a:avLst>
          </a:prstGeom>
          <a:solidFill>
            <a:srgbClr val="FFF3DC"/>
          </a:solidFill>
          <a:ln w="19050">
            <a:solidFill>
              <a:srgbClr val="F5E6C8"/>
            </a:solidFill>
            <a:prstDash val="solid"/>
          </a:ln>
        </p:spPr>
      </p:sp>
      <p:sp>
        <p:nvSpPr>
          <p:cNvPr id="18" name="Text 16"/>
          <p:cNvSpPr/>
          <p:nvPr/>
        </p:nvSpPr>
        <p:spPr>
          <a:xfrm>
            <a:off x="502920" y="4672584"/>
            <a:ext cx="80467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9" name="Text 17"/>
          <p:cNvSpPr/>
          <p:nvPr/>
        </p:nvSpPr>
        <p:spPr>
          <a:xfrm>
            <a:off x="502920" y="4873752"/>
            <a:ext cx="8046720" cy="914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portolan chart could still be useful even if imperfect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"Sailors trusted imperfect charts because..."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E1C42"/>
          </a:solidFill>
          <a:ln/>
        </p:spPr>
      </p:sp>
      <p:sp>
        <p:nvSpPr>
          <p:cNvPr id="3" name="Text 1"/>
          <p:cNvSpPr/>
          <p:nvPr/>
        </p:nvSpPr>
        <p:spPr>
          <a:xfrm>
            <a:off x="365760" y="0"/>
            <a:ext cx="8412480" cy="621792"/>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ASSIGNMENT  |  EVIDENCE &amp; CURATOR TASK</a:t>
            </a:r>
            <a:endParaRPr lang="en-US" sz="1100" dirty="0"/>
          </a:p>
        </p:txBody>
      </p:sp>
      <p:sp>
        <p:nvSpPr>
          <p:cNvPr id="4" name="Text 2"/>
          <p:cNvSpPr/>
          <p:nvPr/>
        </p:nvSpPr>
        <p:spPr>
          <a:xfrm>
            <a:off x="365760" y="777240"/>
            <a:ext cx="8229600" cy="50292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Time to Write the Display Panel</a:t>
            </a:r>
            <a:endParaRPr lang="en-US" sz="2600" dirty="0"/>
          </a:p>
        </p:txBody>
      </p:sp>
      <p:sp>
        <p:nvSpPr>
          <p:cNvPr id="5" name="Shape 3"/>
          <p:cNvSpPr/>
          <p:nvPr/>
        </p:nvSpPr>
        <p:spPr>
          <a:xfrm>
            <a:off x="365760" y="1389888"/>
            <a:ext cx="4114800" cy="3246120"/>
          </a:xfrm>
          <a:prstGeom prst="roundRect">
            <a:avLst>
              <a:gd name="adj" fmla="val 3380"/>
            </a:avLst>
          </a:prstGeom>
          <a:solidFill>
            <a:srgbClr val="EAF8FD"/>
          </a:solidFill>
          <a:ln w="25400">
            <a:solidFill>
              <a:srgbClr val="B8DFF0"/>
            </a:solidFill>
            <a:prstDash val="solid"/>
          </a:ln>
        </p:spPr>
      </p:sp>
      <p:sp>
        <p:nvSpPr>
          <p:cNvPr id="6" name="Text 4"/>
          <p:cNvSpPr/>
          <p:nvPr/>
        </p:nvSpPr>
        <p:spPr>
          <a:xfrm>
            <a:off x="548640" y="1481328"/>
            <a:ext cx="3749040" cy="2560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EVIDENCE QUESTIONS</a:t>
            </a:r>
            <a:endParaRPr lang="en-US" sz="900" dirty="0"/>
          </a:p>
        </p:txBody>
      </p:sp>
      <p:sp>
        <p:nvSpPr>
          <p:cNvPr id="7" name="Text 5"/>
          <p:cNvSpPr/>
          <p:nvPr/>
        </p:nvSpPr>
        <p:spPr>
          <a:xfrm>
            <a:off x="548640" y="1755648"/>
            <a:ext cx="3749040" cy="2788920"/>
          </a:xfrm>
          <a:prstGeom prst="rect">
            <a:avLst/>
          </a:prstGeom>
          <a:noFill/>
          <a:ln/>
        </p:spPr>
        <p:txBody>
          <a:bodyPr wrap="square" lIns="0" tIns="0" rIns="0" bIns="0" rtlCol="0" anchor="t"/>
          <a:lstStyle/>
          <a:p>
            <a:pPr indent="0" marL="0">
              <a:spcAft>
                <a:spcPts val="1200"/>
              </a:spcAft>
              <a:buNone/>
            </a:pPr>
            <a:r>
              <a:rPr lang="en-US" sz="1100" dirty="0">
                <a:solidFill>
                  <a:srgbClr val="0E1C42"/>
                </a:solidFill>
                <a:latin typeface="Calibri" pitchFamily="34" charset="0"/>
                <a:ea typeface="Calibri" pitchFamily="34" charset="-122"/>
                <a:cs typeface="Calibri" pitchFamily="34" charset="-120"/>
              </a:rPr>
              <a:t>1. Why were caravels important for exploration? Name one feature and explain why it mattered.</a:t>
            </a:r>
            <a:endParaRPr lang="en-US" sz="1100" dirty="0"/>
          </a:p>
          <a:p>
            <a:pPr indent="0" marL="0">
              <a:spcAft>
                <a:spcPts val="1200"/>
              </a:spcAft>
              <a:buNone/>
            </a:pPr>
            <a:r>
              <a:rPr lang="en-US" sz="1100" dirty="0">
                <a:solidFill>
                  <a:srgbClr val="0E1C42"/>
                </a:solidFill>
                <a:latin typeface="Calibri" pitchFamily="34" charset="0"/>
                <a:ea typeface="Calibri" pitchFamily="34" charset="-122"/>
                <a:cs typeface="Calibri" pitchFamily="34" charset="-120"/>
              </a:rPr>
              <a:t>2. How did portolan charts help sailors navigate? What information did they provide?</a:t>
            </a:r>
            <a:endParaRPr lang="en-US" sz="1100" dirty="0"/>
          </a:p>
          <a:p>
            <a:pPr indent="0" marL="0">
              <a:spcAft>
                <a:spcPts val="1200"/>
              </a:spcAft>
              <a:buNone/>
            </a:pPr>
            <a:r>
              <a:rPr lang="en-US" sz="1100" dirty="0">
                <a:solidFill>
                  <a:srgbClr val="0E1C42"/>
                </a:solidFill>
                <a:latin typeface="Calibri" pitchFamily="34" charset="0"/>
                <a:ea typeface="Calibri" pitchFamily="34" charset="-122"/>
                <a:cs typeface="Calibri" pitchFamily="34" charset="-120"/>
              </a:rPr>
              <a:t>3. How did the science of trade winds and ocean currents connect to the ships and maps explorers used? Explain how the system worked together.</a:t>
            </a:r>
            <a:endParaRPr lang="en-US" sz="1100" dirty="0"/>
          </a:p>
        </p:txBody>
      </p:sp>
      <p:sp>
        <p:nvSpPr>
          <p:cNvPr id="8" name="Shape 6"/>
          <p:cNvSpPr/>
          <p:nvPr/>
        </p:nvSpPr>
        <p:spPr>
          <a:xfrm>
            <a:off x="4663440" y="1389888"/>
            <a:ext cx="4069080" cy="3246120"/>
          </a:xfrm>
          <a:prstGeom prst="roundRect">
            <a:avLst>
              <a:gd name="adj" fmla="val 3380"/>
            </a:avLst>
          </a:prstGeom>
          <a:solidFill>
            <a:srgbClr val="FFF3DC"/>
          </a:solidFill>
          <a:ln w="25400">
            <a:solidFill>
              <a:srgbClr val="F5E6C8"/>
            </a:solidFill>
            <a:prstDash val="solid"/>
          </a:ln>
        </p:spPr>
      </p:sp>
      <p:sp>
        <p:nvSpPr>
          <p:cNvPr id="9" name="Text 7"/>
          <p:cNvSpPr/>
          <p:nvPr/>
        </p:nvSpPr>
        <p:spPr>
          <a:xfrm>
            <a:off x="4846320" y="1481328"/>
            <a:ext cx="370332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CURATOR TASK</a:t>
            </a:r>
            <a:endParaRPr lang="en-US" sz="900" dirty="0"/>
          </a:p>
        </p:txBody>
      </p:sp>
      <p:sp>
        <p:nvSpPr>
          <p:cNvPr id="10" name="Text 8"/>
          <p:cNvSpPr/>
          <p:nvPr/>
        </p:nvSpPr>
        <p:spPr>
          <a:xfrm>
            <a:off x="4846320" y="1755648"/>
            <a:ext cx="3703320" cy="384048"/>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Ship-and-Science Display Panel</a:t>
            </a:r>
            <a:endParaRPr lang="en-US" sz="1400" dirty="0"/>
          </a:p>
        </p:txBody>
      </p:sp>
      <p:sp>
        <p:nvSpPr>
          <p:cNvPr id="11" name="Text 9"/>
          <p:cNvSpPr/>
          <p:nvPr/>
        </p:nvSpPr>
        <p:spPr>
          <a:xfrm>
            <a:off x="4846320" y="2176272"/>
            <a:ext cx="3703320" cy="2359152"/>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Write the missing explanation (3-5 sentences) for museum visitors.</a:t>
            </a:r>
            <a:endParaRPr lang="en-US" sz="1100" dirty="0"/>
          </a:p>
          <a:p>
            <a:pPr indent="0" marL="0">
              <a:buNone/>
            </a:pP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Tell visitors how maps, ships, and the science of wind and currents worked as a system to make exploration possible.</a:t>
            </a:r>
            <a:endParaRPr lang="en-US" sz="1100" dirty="0"/>
          </a:p>
          <a:p>
            <a:pPr indent="0" marL="0">
              <a:buNone/>
            </a:pP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Use at least 2 details from today's lesson.</a:t>
            </a:r>
            <a:endParaRPr lang="en-US" sz="1100" dirty="0"/>
          </a:p>
          <a:p>
            <a:pPr indent="0" marL="0">
              <a:buNone/>
            </a:pP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Answer: What tools and knowledge did explorers need? How did they work together?</a:t>
            </a:r>
            <a:endParaRPr lang="en-US" sz="1100" dirty="0"/>
          </a:p>
        </p:txBody>
      </p:sp>
      <p:sp>
        <p:nvSpPr>
          <p:cNvPr id="12" name="Shape 10"/>
          <p:cNvSpPr/>
          <p:nvPr/>
        </p:nvSpPr>
        <p:spPr>
          <a:xfrm>
            <a:off x="365760" y="4709160"/>
            <a:ext cx="8321040" cy="347472"/>
          </a:xfrm>
          <a:prstGeom prst="roundRect">
            <a:avLst>
              <a:gd name="adj" fmla="val 21053"/>
            </a:avLst>
          </a:prstGeom>
          <a:solidFill>
            <a:srgbClr val="0E1C42"/>
          </a:solidFill>
          <a:ln/>
        </p:spPr>
      </p:sp>
      <p:sp>
        <p:nvSpPr>
          <p:cNvPr id="13" name="Text 11"/>
          <p:cNvSpPr/>
          <p:nvPr/>
        </p:nvSpPr>
        <p:spPr>
          <a:xfrm>
            <a:off x="548640" y="4709160"/>
            <a:ext cx="7955280" cy="34747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TURN-IN CHECKLIST:  Evidence Questions 1, 2, 3  |  Curator Task Panel  |  Curator's Chronicle  |  Copy &amp; Submit to Canvas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E1C42"/>
          </a:solidFill>
          <a:ln/>
        </p:spPr>
      </p:sp>
      <p:sp>
        <p:nvSpPr>
          <p:cNvPr id="3" name="Text 1"/>
          <p:cNvSpPr/>
          <p:nvPr/>
        </p:nvSpPr>
        <p:spPr>
          <a:xfrm>
            <a:off x="365760" y="0"/>
            <a:ext cx="8412480" cy="621792"/>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CURATOR'S CHRONICLE  |  REFLECT ON TODAY</a:t>
            </a:r>
            <a:endParaRPr lang="en-US" sz="1100" dirty="0"/>
          </a:p>
        </p:txBody>
      </p:sp>
      <p:sp>
        <p:nvSpPr>
          <p:cNvPr id="4" name="Text 2"/>
          <p:cNvSpPr/>
          <p:nvPr/>
        </p:nvSpPr>
        <p:spPr>
          <a:xfrm>
            <a:off x="365760" y="777240"/>
            <a:ext cx="8229600" cy="50292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Your Exit Sentence</a:t>
            </a:r>
            <a:endParaRPr lang="en-US" sz="2800" dirty="0"/>
          </a:p>
        </p:txBody>
      </p:sp>
      <p:sp>
        <p:nvSpPr>
          <p:cNvPr id="5" name="Shape 3"/>
          <p:cNvSpPr/>
          <p:nvPr/>
        </p:nvSpPr>
        <p:spPr>
          <a:xfrm>
            <a:off x="365760" y="1389888"/>
            <a:ext cx="8321040" cy="1078992"/>
          </a:xfrm>
          <a:prstGeom prst="roundRect">
            <a:avLst>
              <a:gd name="adj" fmla="val 12712"/>
            </a:avLst>
          </a:prstGeom>
          <a:solidFill>
            <a:srgbClr val="0E1C42"/>
          </a:solidFill>
          <a:ln/>
          <a:effectLst>
            <a:outerShdw sx="100000" sy="100000" kx="0" ky="0" algn="bl" rotWithShape="0" blurRad="101600" dist="38100" dir="8100000">
              <a:srgbClr val="000000">
                <a:alpha val="20000"/>
              </a:srgbClr>
            </a:outerShdw>
          </a:effectLst>
        </p:spPr>
      </p:sp>
      <p:sp>
        <p:nvSpPr>
          <p:cNvPr id="6" name="Text 4"/>
          <p:cNvSpPr/>
          <p:nvPr/>
        </p:nvSpPr>
        <p:spPr>
          <a:xfrm>
            <a:off x="548640" y="1444752"/>
            <a:ext cx="79552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CURATOR'S CHRONICLE</a:t>
            </a:r>
            <a:endParaRPr lang="en-US" sz="900" dirty="0"/>
          </a:p>
        </p:txBody>
      </p:sp>
      <p:sp>
        <p:nvSpPr>
          <p:cNvPr id="7" name="Text 5"/>
          <p:cNvSpPr/>
          <p:nvPr/>
        </p:nvSpPr>
        <p:spPr>
          <a:xfrm>
            <a:off x="548640" y="1691640"/>
            <a:ext cx="7955280" cy="658368"/>
          </a:xfrm>
          <a:prstGeom prst="rect">
            <a:avLst/>
          </a:prstGeom>
          <a:noFill/>
          <a:ln/>
        </p:spPr>
        <p:txBody>
          <a:bodyPr wrap="square" lIns="0" tIns="0" rIns="0" bIns="0" rtlCol="0" anchor="ctr"/>
          <a:lstStyle/>
          <a:p>
            <a:pPr indent="0" marL="0">
              <a:buNone/>
            </a:pPr>
            <a:r>
              <a:rPr lang="en-US" sz="2000" i="1" dirty="0">
                <a:solidFill>
                  <a:srgbClr val="D4943A"/>
                </a:solidFill>
                <a:latin typeface="Cambria" pitchFamily="34" charset="0"/>
                <a:ea typeface="Cambria" pitchFamily="34" charset="-122"/>
                <a:cs typeface="Cambria" pitchFamily="34" charset="-120"/>
              </a:rPr>
              <a:t>"In this exhibit, I learned that _____________ because _____________."</a:t>
            </a:r>
            <a:endParaRPr lang="en-US" sz="2000" dirty="0"/>
          </a:p>
        </p:txBody>
      </p:sp>
      <p:sp>
        <p:nvSpPr>
          <p:cNvPr id="8" name="Shape 6"/>
          <p:cNvSpPr/>
          <p:nvPr/>
        </p:nvSpPr>
        <p:spPr>
          <a:xfrm>
            <a:off x="365760" y="2578608"/>
            <a:ext cx="3931920" cy="1572768"/>
          </a:xfrm>
          <a:prstGeom prst="roundRect">
            <a:avLst>
              <a:gd name="adj" fmla="val 6977"/>
            </a:avLst>
          </a:prstGeom>
          <a:solidFill>
            <a:srgbClr val="F0F2F8"/>
          </a:solidFill>
          <a:ln w="19050">
            <a:solidFill>
              <a:srgbClr val="D0D8E8"/>
            </a:solidFill>
            <a:prstDash val="solid"/>
          </a:ln>
        </p:spPr>
      </p:sp>
      <p:sp>
        <p:nvSpPr>
          <p:cNvPr id="9" name="Text 7"/>
          <p:cNvSpPr/>
          <p:nvPr/>
        </p:nvSpPr>
        <p:spPr>
          <a:xfrm>
            <a:off x="548640" y="2670048"/>
            <a:ext cx="3566160" cy="2560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THINK ABOUT YOUR LEARNING</a:t>
            </a:r>
            <a:endParaRPr lang="en-US" sz="900" dirty="0"/>
          </a:p>
        </p:txBody>
      </p:sp>
      <p:sp>
        <p:nvSpPr>
          <p:cNvPr id="10" name="Text 8"/>
          <p:cNvSpPr/>
          <p:nvPr/>
        </p:nvSpPr>
        <p:spPr>
          <a:xfrm>
            <a:off x="548640" y="2944368"/>
            <a:ext cx="3566160" cy="1115568"/>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Before today, I thought exploration was about...</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Now I understand that it was actually about...</a:t>
            </a:r>
            <a:endParaRPr lang="en-US" sz="1200" dirty="0"/>
          </a:p>
        </p:txBody>
      </p:sp>
      <p:sp>
        <p:nvSpPr>
          <p:cNvPr id="11" name="Shape 9"/>
          <p:cNvSpPr/>
          <p:nvPr/>
        </p:nvSpPr>
        <p:spPr>
          <a:xfrm>
            <a:off x="4480560" y="2578608"/>
            <a:ext cx="4251960" cy="1572768"/>
          </a:xfrm>
          <a:prstGeom prst="roundRect">
            <a:avLst>
              <a:gd name="adj" fmla="val 8721"/>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4663440" y="2670048"/>
            <a:ext cx="38862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4663440" y="2926080"/>
            <a:ext cx="3886200" cy="1133856"/>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changed in your thinking today?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piece of the system surprised you most?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question do you still have about exploration?</a:t>
            </a:r>
            <a:endParaRPr lang="en-US" sz="1100" dirty="0"/>
          </a:p>
        </p:txBody>
      </p:sp>
      <p:sp>
        <p:nvSpPr>
          <p:cNvPr id="14" name="Shape 12"/>
          <p:cNvSpPr/>
          <p:nvPr/>
        </p:nvSpPr>
        <p:spPr>
          <a:xfrm>
            <a:off x="365760" y="4224528"/>
            <a:ext cx="8321040" cy="804672"/>
          </a:xfrm>
          <a:prstGeom prst="roundRect">
            <a:avLst>
              <a:gd name="adj" fmla="val 13636"/>
            </a:avLst>
          </a:prstGeom>
          <a:solidFill>
            <a:srgbClr val="FFF3DC"/>
          </a:solidFill>
          <a:ln w="19050">
            <a:solidFill>
              <a:srgbClr val="F5E6C8"/>
            </a:solidFill>
            <a:prstDash val="solid"/>
          </a:ln>
        </p:spPr>
      </p:sp>
      <p:sp>
        <p:nvSpPr>
          <p:cNvPr id="15" name="Text 13"/>
          <p:cNvSpPr/>
          <p:nvPr/>
        </p:nvSpPr>
        <p:spPr>
          <a:xfrm>
            <a:off x="502920" y="4279392"/>
            <a:ext cx="80467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502920" y="4480560"/>
            <a:ext cx="8046720" cy="48463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"Before today I thought... but now I understand..."</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most surprising thing I learned was..."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0" y="1783080"/>
            <a:ext cx="164592" cy="1691640"/>
          </a:xfrm>
          <a:prstGeom prst="rect">
            <a:avLst/>
          </a:prstGeom>
          <a:solidFill>
            <a:srgbClr val="D4943A"/>
          </a:solidFill>
          <a:ln/>
        </p:spPr>
      </p:sp>
      <p:sp>
        <p:nvSpPr>
          <p:cNvPr id="5" name="Shape 3"/>
          <p:cNvSpPr/>
          <p:nvPr/>
        </p:nvSpPr>
        <p:spPr>
          <a:xfrm>
            <a:off x="457200" y="274320"/>
            <a:ext cx="3200400" cy="384048"/>
          </a:xfrm>
          <a:prstGeom prst="roundRect">
            <a:avLst>
              <a:gd name="adj" fmla="val 42857"/>
            </a:avLst>
          </a:prstGeom>
          <a:solidFill>
            <a:srgbClr val="1A8A7D"/>
          </a:solidFill>
          <a:ln/>
        </p:spPr>
      </p:sp>
      <p:sp>
        <p:nvSpPr>
          <p:cNvPr id="6" name="Text 4"/>
          <p:cNvSpPr/>
          <p:nvPr/>
        </p:nvSpPr>
        <p:spPr>
          <a:xfrm>
            <a:off x="457200" y="274320"/>
            <a:ext cx="32004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Display Panel Complete  |  Exploration Wing</a:t>
            </a:r>
            <a:endParaRPr lang="en-US" sz="1000" dirty="0"/>
          </a:p>
        </p:txBody>
      </p:sp>
      <p:sp>
        <p:nvSpPr>
          <p:cNvPr id="7" name="Text 5"/>
          <p:cNvSpPr/>
          <p:nvPr/>
        </p:nvSpPr>
        <p:spPr>
          <a:xfrm>
            <a:off x="457200" y="960120"/>
            <a:ext cx="8229600" cy="566928"/>
          </a:xfrm>
          <a:prstGeom prst="rect">
            <a:avLst/>
          </a:prstGeom>
          <a:noFill/>
          <a:ln/>
        </p:spPr>
        <p:txBody>
          <a:bodyPr wrap="square" lIns="0" tIns="0" rIns="0" bIns="0" rtlCol="0" anchor="ctr"/>
          <a:lstStyle/>
          <a:p>
            <a:pPr algn="l" indent="0" marL="0">
              <a:buNone/>
            </a:pPr>
            <a:r>
              <a:rPr lang="en-US" sz="3600" b="1" dirty="0">
                <a:solidFill>
                  <a:srgbClr val="FFFFFF"/>
                </a:solidFill>
                <a:latin typeface="Cambria" pitchFamily="34" charset="0"/>
                <a:ea typeface="Cambria" pitchFamily="34" charset="-122"/>
                <a:cs typeface="Cambria" pitchFamily="34" charset="-120"/>
              </a:rPr>
              <a:t>Great Work,</a:t>
            </a:r>
            <a:endParaRPr lang="en-US" sz="3600" dirty="0"/>
          </a:p>
        </p:txBody>
      </p:sp>
      <p:sp>
        <p:nvSpPr>
          <p:cNvPr id="8" name="Text 6"/>
          <p:cNvSpPr/>
          <p:nvPr/>
        </p:nvSpPr>
        <p:spPr>
          <a:xfrm>
            <a:off x="457200" y="1508760"/>
            <a:ext cx="8229600" cy="685800"/>
          </a:xfrm>
          <a:prstGeom prst="rect">
            <a:avLst/>
          </a:prstGeom>
          <a:noFill/>
          <a:ln/>
        </p:spPr>
        <p:txBody>
          <a:bodyPr wrap="square" lIns="0" tIns="0" rIns="0" bIns="0" rtlCol="0" anchor="ctr"/>
          <a:lstStyle/>
          <a:p>
            <a:pPr algn="l" indent="0" marL="0">
              <a:buNone/>
            </a:pPr>
            <a:r>
              <a:rPr lang="en-US" sz="4400" b="1" dirty="0">
                <a:solidFill>
                  <a:srgbClr val="D4943A"/>
                </a:solidFill>
                <a:latin typeface="Cambria" pitchFamily="34" charset="0"/>
                <a:ea typeface="Cambria" pitchFamily="34" charset="-122"/>
                <a:cs typeface="Cambria" pitchFamily="34" charset="-120"/>
              </a:rPr>
              <a:t>Route Curator!</a:t>
            </a:r>
            <a:endParaRPr lang="en-US" sz="4400" dirty="0"/>
          </a:p>
        </p:txBody>
      </p:sp>
      <p:sp>
        <p:nvSpPr>
          <p:cNvPr id="9" name="Text 7"/>
          <p:cNvSpPr/>
          <p:nvPr/>
        </p:nvSpPr>
        <p:spPr>
          <a:xfrm>
            <a:off x="457200" y="2304288"/>
            <a:ext cx="5029200" cy="8229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You built the ship-and-science display panel. Now visitors understand how caravels, portolan charts, and trade winds all worked together to make ocean exploration possible.</a:t>
            </a:r>
            <a:endParaRPr lang="en-US" sz="1400" dirty="0"/>
          </a:p>
        </p:txBody>
      </p:sp>
      <p:sp>
        <p:nvSpPr>
          <p:cNvPr id="10" name="Shape 8"/>
          <p:cNvSpPr/>
          <p:nvPr/>
        </p:nvSpPr>
        <p:spPr>
          <a:xfrm>
            <a:off x="457200" y="3246120"/>
            <a:ext cx="5029200" cy="1572768"/>
          </a:xfrm>
          <a:prstGeom prst="roundRect">
            <a:avLst>
              <a:gd name="adj" fmla="val 6977"/>
            </a:avLst>
          </a:prstGeom>
          <a:solidFill>
            <a:srgbClr val="0A122A"/>
          </a:solidFill>
          <a:ln/>
        </p:spPr>
      </p:sp>
      <p:sp>
        <p:nvSpPr>
          <p:cNvPr id="11" name="Text 9"/>
          <p:cNvSpPr/>
          <p:nvPr/>
        </p:nvSpPr>
        <p:spPr>
          <a:xfrm>
            <a:off x="640080" y="3337560"/>
            <a:ext cx="466344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COMING NEXT</a:t>
            </a:r>
            <a:endParaRPr lang="en-US" sz="900" dirty="0"/>
          </a:p>
        </p:txBody>
      </p:sp>
      <p:sp>
        <p:nvSpPr>
          <p:cNvPr id="12" name="Text 10"/>
          <p:cNvSpPr/>
          <p:nvPr/>
        </p:nvSpPr>
        <p:spPr>
          <a:xfrm>
            <a:off x="640080" y="3593592"/>
            <a:ext cx="4663440" cy="38404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Lesson 3.02.05: The Consequences of Exploration</a:t>
            </a:r>
            <a:endParaRPr lang="en-US" sz="1600" dirty="0"/>
          </a:p>
        </p:txBody>
      </p:sp>
      <p:sp>
        <p:nvSpPr>
          <p:cNvPr id="13" name="Text 11"/>
          <p:cNvSpPr/>
          <p:nvPr/>
        </p:nvSpPr>
        <p:spPr>
          <a:xfrm>
            <a:off x="640080" y="4005072"/>
            <a:ext cx="4663440" cy="713232"/>
          </a:xfrm>
          <a:prstGeom prst="rect">
            <a:avLst/>
          </a:prstGeom>
          <a:noFill/>
          <a:ln/>
        </p:spPr>
        <p:txBody>
          <a:bodyPr wrap="square" lIns="0" tIns="0" rIns="0" bIns="0" rtlCol="0" anchor="t"/>
          <a:lstStyle/>
          <a:p>
            <a:pPr indent="0" marL="0">
              <a:buNone/>
            </a:pPr>
            <a:r>
              <a:rPr lang="en-US" sz="1200" dirty="0">
                <a:solidFill>
                  <a:srgbClr val="7A88A8"/>
                </a:solidFill>
                <a:latin typeface="Calibri" pitchFamily="34" charset="0"/>
                <a:ea typeface="Calibri" pitchFamily="34" charset="-122"/>
                <a:cs typeface="Calibri" pitchFamily="34" charset="-120"/>
              </a:rPr>
              <a:t>Not everything that happened after those voyages was good. The exhibit needs to be honest about that. Prepare to look at exploration from a new angle.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2026-07-10T22:36:12Z</dcterms:created>
  <dcterms:modified xsi:type="dcterms:W3CDTF">2026-07-10T22:36:12Z</dcterms:modified>
</cp:coreProperties>
</file>