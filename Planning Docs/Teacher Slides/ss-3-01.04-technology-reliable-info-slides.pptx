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Set the scene. Say: 'Junior Curators — welcome to the Research Desk. The museum computer has pulled up a mix of results about a historical topic. Some are helpful. Some are weak or hard to trust. Your job today is to figure out which ones are reliable before the museum publishes anything.'
DO NOT explain the lesson content yet. Build anticipation. Under 1 minute.
IMAGE TO INSERT: Atmospheric museum research desk — warm lamplight, wooden table, books, laptop with search results, printed pages. Dark rich library aesthetic.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HOOK / MYSTERY
DO NOT explain anything yet. Say: 'Take 5 seconds. Look carefully at both results. What do you notice?' Call on 2-3 students. Use their observations to build suspense: 'Interesting — why does that feel different to you?' Don't confirm or correct — let them wrestle.
Goal: students feel the tension before they have any tools to resolve it. This experience makes the Three-Check Test meaningful when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VIRTUE SPOTLIGHT
Read the virtue description aloud. Ask: 'Has anyone ever believed something was true just because it was easy to find? What happened?' Connect: 'Today you are Source Scholars — that means you check before you trust.' Introduce the role with energy. Under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CLUE BOX
DO NOT reveal the answer yet. Give students 5 silent seconds to study the clues. Then ask the chat frame question. Harvest 3-4 responses. Use the Socratic questions to probe: 'Why does having an author name make a difference?' DO NOT define reliable/unreliable yet.
This experience makes the discovery on slide 6 feel like THEIR idea, not yours.
IMAGE TO INSERT: Side-by-side browser windows — Smithsonian.edu (official, author, date, photos) vs CoolFacts4Kids.biz (clickbait, no author,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DISCUSSION
Students BUILD THEIR OWN RULE before you give them vocabulary. Listen for what they say about: author identity, organization type, presence of evidence, site purpose. Write student ideas in the chat. DO NOT confirm or reject — probe with the Socratic questions. You are harvesting their thinking for the upcoming reveal.
Time: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CONCEPT REVEAL
Say: 'You just described exactly what curators call reliable and unreliable sources. Let me show you the words for what you already found.' Point to each bullet. Ask: 'Which of your chat responses just showed up on this slide?' Celebrate their discovery — they built this before you named it.
Time: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THREE-CHECK TEST
Say: 'Look at the three checks. These are the exact things you were noticing in the search results a few minutes ago. Curators have a name for this: the Three-Check Test.' Have the class say the three checks aloud together: WHO, WHEN, EVIDENCE. Ask: 'Which check do you think is hardest to find? Why?' Time: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TEACHER MODEL
Think aloud step by step. Say: 'I am going to show you what goes through my head when I check a source. Watch and listen.' Read each check aloud — pause after each to make the reasoning visible. IMPORTANT: Slow down here. Students will copy this exact process on the next slides.
Time: 2-3 minutes.
IMAGE TO INSERT: Smithsonian.edu article page — 'Navigation Tools of the 1500s' by Dr. Maria Chen, 2022. Author byline, museum header, date, historical compass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WE TRY TOGETHER
Work through the LEFT panel with the class: 'Who can find the WHO check? What about WHEN? Now EVIDENCE?' Then: '60 seconds — tackle the right panel on your own.' Use chat: 'Type your verdict.' Then debrief together. Reinforce that RandomUser99 fails all three checks.
Time: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THEN &amp; NOW
Ask: 'How did curators gather information in the past?' (Visit libraries, write letters, wait weeks.) 'What changed?' (Searching online takes seconds.) 'What stayed the same?' KEY ANSWER: The need to verify information never changed. Speed changed; careful checking did not. Connect this explicitly to the lesson's big idea.
Time: 2 minutes.
IMAGES TO INSERT: (1) Historical curator in library with books/card catalogues/letters. (2) Modern student at computer searching museum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RETRIEVAL CHALLENGE
Say: 'Pause. Cover your screen. Do NOT peek. Name the three checks from memory — type them in the chat NOW.' Wait 20 seconds. Then reveal. Celebrate: 'Those three checks are the most important thing you will learn today. Say them to a family member tonight.'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ERROR ANALYSIS
DO NOT just say 'that student is wrong.' Ask students to identify the SPECIFIC mistake in the reasoning. What did the student assume? (That being online = reliable.) What checks did they skip? WHO: no author. WHEN: no date. EVIDENCE: 'says the answer' is not evidence.
Ask 'What did the student get partly right?' (There IS information there.) Use Socratic moves to extend.
This slide is where deep understanding happens. Time: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THE TRICKY ONE
Say: 'There is no single correct answer here — curators actually debate this.' Let students vote (thumbs, poll, or chat). Call on students from BOTH sides. KEY INSIGHT: Wikipedia has 47 citations (EVIDENCE passes) and a recent date (WHEN passes) — but no single named expert author (WHO is weak). A careful curator might use Wikipedia as a STARTING POINT to find better sources, but would not cite it as the final source.
Celebrate disagreement. Time: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EXHIBIT LABEL
Read the exhibit label together. Ask: 'In your own words, what is the most important thing you learned today?' Collect 2-3 student responses. Read the Opti Says message. Say: 'This label goes on the museum wall. You earned it.'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SELF-CHECK
Ask questions one at a time. Use poll or chat: 'Type A, B, or C.' Wait for most students to respond, then reveal. Reinforce the REASONING, not just the correct letter. For Q3: stress the honesty connection — this was the virtue spotlight. Time: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ASSIGNMENT BRIDGE
Say: 'You have learned the Three-Check Test and practiced it together. Now you will use it on sources you have NEVER seen before — just like a real curator.' Remind: 'Your lesson page has the assignment. I will walk you through the first part on the next slide.'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EVIDENCE QUESTIONS
Model reading Q1 aloud. Say: 'You practiced describing reliable vs. unreliable — that is exactly what this question asks. Use what we found in the Clue Box and Discovery slides.' For Q2: 'Use the three checks by name — WHO, WHEN, EVIDENCE. Explain what each one does in your own words.' Give 4-5 minutes on the lesson page. Return here before they submit.
Time: 1 minute to set up, then students work on lesson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CURATOR TASK
Walk through Source A together first: 'Let us apply the Three-Check Test out loud.' WHO: Dr. James Covington — named expert, State Library. WHEN: 2022 — recent. EVIDENCE: photographs, primary sources. ALL THREE PASS. Then Source B: WHO: none. WHEN: 2015, not updated. EVIDENCE: none. ALL THREE FAIL.
Ask: 'Which source earns a spot in the museum? Write your explanation using the three checks by name.' Students then complete on the lesson page.
Time: 3-4 minutes guided + async on lesson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CHRONICLE + CHECKLIST
Have 2-3 students share their Curator's Chronicle sentence aloud. Model if needed: 'In this exhibit, I learned that you cannot trust a source just because it is online, because anyone can post anything without evidence.' Walk through the checklist together. Remind students where to find and submit on Canvas.
Time: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CLOSING CELEBRATION
Celebrate with energy: 'You now know how to use the Three-Check Test — WHO, WHEN, and EVIDENCE. That is a skill real museum researchers use every day. You are certified Source Scholars.'
Tease the next lesson: 'Next time, four giant words appear on the museum wall. Understanding these roots will help you read the museum map and understand everything you study all year.'
End with momentum. Under 1 minute.
IMAGE TO INSERT: Museum research desk at golden hour — warm light, notebooks, laptop showing museum database, curator badge labeled 'Source Scholar' on desk corner. Celebratory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5143500"/>
          </a:xfrm>
          <a:prstGeom prst="roundRect">
            <a:avLst>
              <a:gd name="adj" fmla="val 2133"/>
            </a:avLst>
          </a:prstGeom>
          <a:solidFill>
            <a:srgbClr val="E2E8F4"/>
          </a:solidFill>
          <a:ln w="19050">
            <a:solidFill>
              <a:srgbClr val="B0B8CC"/>
            </a:solidFill>
            <a:prstDash val="dash"/>
          </a:ln>
        </p:spPr>
      </p:sp>
      <p:sp>
        <p:nvSpPr>
          <p:cNvPr id="5" name="Text 3"/>
          <p:cNvSpPr/>
          <p:nvPr/>
        </p:nvSpPr>
        <p:spPr>
          <a:xfrm>
            <a:off x="0" y="0"/>
            <a:ext cx="9144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37160" y="274320"/>
            <a:ext cx="8869680" cy="47777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Research Desk at a museum: warm lamplight over a large wooden table with books, printed web pages, and a laptop showing search results. Dark atmospheric library setting.</a:t>
            </a:r>
            <a:endParaRPr lang="en-US" sz="1100" dirty="0"/>
          </a:p>
        </p:txBody>
      </p:sp>
      <p:sp>
        <p:nvSpPr>
          <p:cNvPr id="7" name="Shape 5"/>
          <p:cNvSpPr/>
          <p:nvPr/>
        </p:nvSpPr>
        <p:spPr>
          <a:xfrm>
            <a:off x="0" y="0"/>
            <a:ext cx="9144000" cy="5143500"/>
          </a:xfrm>
          <a:prstGeom prst="rect">
            <a:avLst/>
          </a:prstGeom>
          <a:solidFill>
            <a:srgbClr val="0E1C42">
              <a:alpha val="75000"/>
            </a:srgbClr>
          </a:solidFill>
          <a:ln/>
        </p:spPr>
      </p:sp>
      <p:sp>
        <p:nvSpPr>
          <p:cNvPr id="8" name="Text 6"/>
          <p:cNvSpPr/>
          <p:nvPr/>
        </p:nvSpPr>
        <p:spPr>
          <a:xfrm>
            <a:off x="457200" y="347472"/>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SS.3.01.04  |  RESEARCH DESK  |  QUARTER 1 WEEK 2</a:t>
            </a:r>
            <a:endParaRPr lang="en-US" sz="900" dirty="0"/>
          </a:p>
        </p:txBody>
      </p:sp>
      <p:sp>
        <p:nvSpPr>
          <p:cNvPr id="9" name="Text 7"/>
          <p:cNvSpPr/>
          <p:nvPr/>
        </p:nvSpPr>
        <p:spPr>
          <a:xfrm>
            <a:off x="731520" y="960120"/>
            <a:ext cx="7680960" cy="173736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Using Technology to Gather</a:t>
            </a:r>
            <a:endParaRPr lang="en-US" sz="4200" dirty="0"/>
          </a:p>
          <a:p>
            <a:pPr algn="ctr" indent="0" marL="0">
              <a:buNone/>
            </a:pPr>
            <a:r>
              <a:rPr lang="en-US" sz="4200" b="1" dirty="0">
                <a:solidFill>
                  <a:srgbClr val="FFFFFF"/>
                </a:solidFill>
                <a:latin typeface="Cambria" pitchFamily="34" charset="0"/>
                <a:ea typeface="Cambria" pitchFamily="34" charset="-122"/>
                <a:cs typeface="Cambria" pitchFamily="34" charset="-120"/>
              </a:rPr>
              <a:t>Reliable Information</a:t>
            </a:r>
            <a:endParaRPr lang="en-US" sz="4200" dirty="0"/>
          </a:p>
        </p:txBody>
      </p:sp>
      <p:sp>
        <p:nvSpPr>
          <p:cNvPr id="10" name="Shape 8"/>
          <p:cNvSpPr/>
          <p:nvPr/>
        </p:nvSpPr>
        <p:spPr>
          <a:xfrm>
            <a:off x="3017520" y="2834640"/>
            <a:ext cx="3108960" cy="54864"/>
          </a:xfrm>
          <a:prstGeom prst="rect">
            <a:avLst/>
          </a:prstGeom>
          <a:solidFill>
            <a:srgbClr val="D4943A"/>
          </a:solidFill>
          <a:ln w="12700">
            <a:solidFill>
              <a:srgbClr val="D4943A"/>
            </a:solidFill>
            <a:prstDash val="solid"/>
          </a:ln>
        </p:spPr>
      </p:sp>
      <p:sp>
        <p:nvSpPr>
          <p:cNvPr id="11" name="Text 9"/>
          <p:cNvSpPr/>
          <p:nvPr/>
        </p:nvSpPr>
        <p:spPr>
          <a:xfrm>
            <a:off x="457200" y="2999232"/>
            <a:ext cx="8229600" cy="274320"/>
          </a:xfrm>
          <a:prstGeom prst="rect">
            <a:avLst/>
          </a:prstGeom>
          <a:noFill/>
          <a:ln/>
        </p:spPr>
        <p:txBody>
          <a:bodyPr wrap="square" lIns="0" tIns="0" rIns="0" bIns="0" rtlCol="0" anchor="ctr"/>
          <a:lstStyle/>
          <a:p>
            <a:pPr algn="ctr" indent="0" marL="0">
              <a:buNone/>
            </a:pPr>
            <a:r>
              <a:rPr lang="en-US" sz="1300" i="1" dirty="0">
                <a:solidFill>
                  <a:srgbClr val="D4943A"/>
                </a:solidFill>
                <a:latin typeface="Calibri" pitchFamily="34" charset="0"/>
                <a:ea typeface="Calibri" pitchFamily="34" charset="-122"/>
                <a:cs typeface="Calibri" pitchFamily="34" charset="-120"/>
              </a:rPr>
              <a:t>Grade 3 Social Studies  ·  Curator Training Hall</a:t>
            </a:r>
            <a:endParaRPr lang="en-US" sz="1300" dirty="0"/>
          </a:p>
        </p:txBody>
      </p:sp>
      <p:sp>
        <p:nvSpPr>
          <p:cNvPr id="12" name="Text 10"/>
          <p:cNvSpPr/>
          <p:nvPr/>
        </p:nvSpPr>
        <p:spPr>
          <a:xfrm>
            <a:off x="914400" y="3401568"/>
            <a:ext cx="7315200" cy="411480"/>
          </a:xfrm>
          <a:prstGeom prst="rect">
            <a:avLst/>
          </a:prstGeom>
          <a:noFill/>
          <a:ln/>
        </p:spPr>
        <p:txBody>
          <a:bodyPr wrap="square" lIns="0" tIns="0" rIns="0" bIns="0" rtlCol="0" anchor="ctr"/>
          <a:lstStyle/>
          <a:p>
            <a:pPr algn="ctr" indent="0" marL="0">
              <a:buNone/>
            </a:pPr>
            <a:r>
              <a:rPr lang="en-US" sz="1500" i="1" dirty="0">
                <a:solidFill>
                  <a:srgbClr val="D6F2FB"/>
                </a:solidFill>
                <a:latin typeface="Calibri" pitchFamily="34" charset="0"/>
                <a:ea typeface="Calibri" pitchFamily="34" charset="-122"/>
                <a:cs typeface="Calibri" pitchFamily="34" charset="-120"/>
              </a:rPr>
              <a:t>Junior Curators — welcome to the Research Desk</a:t>
            </a:r>
            <a:endParaRPr lang="en-US" sz="1500" dirty="0"/>
          </a:p>
        </p:txBody>
      </p:sp>
      <p:sp>
        <p:nvSpPr>
          <p:cNvPr id="13" name="Text 11"/>
          <p:cNvSpPr/>
          <p:nvPr/>
        </p:nvSpPr>
        <p:spPr>
          <a:xfrm>
            <a:off x="457200" y="4754880"/>
            <a:ext cx="8229600" cy="228600"/>
          </a:xfrm>
          <a:prstGeom prst="rect">
            <a:avLst/>
          </a:prstGeom>
          <a:noFill/>
          <a:ln/>
        </p:spPr>
        <p:txBody>
          <a:bodyPr wrap="square" lIns="0" tIns="0" rIns="0" bIns="0" rtlCol="0" anchor="ctr"/>
          <a:lstStyle/>
          <a:p>
            <a:pPr algn="ctr" indent="0" marL="0">
              <a:buNone/>
            </a:pPr>
            <a:r>
              <a:rPr lang="en-US" sz="900" spc="100" kern="0" dirty="0">
                <a:solidFill>
                  <a:srgbClr val="7A88A8"/>
                </a:solidFill>
                <a:latin typeface="Calibri" pitchFamily="34" charset="0"/>
                <a:ea typeface="Calibri" pitchFamily="34" charset="-122"/>
                <a:cs typeface="Calibri" pitchFamily="34" charset="-120"/>
              </a:rPr>
              <a:t>Standards: SS.3.A.1.1  ·  SS.3.A.1.2  ·  SS.3.A.1.3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Something Is Wrong With These Results...</a:t>
            </a:r>
            <a:endParaRPr lang="en-US" sz="3000" dirty="0"/>
          </a:p>
        </p:txBody>
      </p:sp>
      <p:sp>
        <p:nvSpPr>
          <p:cNvPr id="3" name="Shape 1"/>
          <p:cNvSpPr/>
          <p:nvPr/>
        </p:nvSpPr>
        <p:spPr>
          <a:xfrm>
            <a:off x="457200" y="777240"/>
            <a:ext cx="3840480" cy="1691640"/>
          </a:xfrm>
          <a:prstGeom prst="roundRect">
            <a:avLst>
              <a:gd name="adj" fmla="val 5405"/>
            </a:avLst>
          </a:prstGeom>
          <a:solidFill>
            <a:srgbClr val="EAF8FD"/>
          </a:solidFill>
          <a:ln w="25400">
            <a:solidFill>
              <a:srgbClr val="55C8E8"/>
            </a:solidFill>
            <a:prstDash val="solid"/>
          </a:ln>
        </p:spPr>
      </p:sp>
      <p:sp>
        <p:nvSpPr>
          <p:cNvPr id="4" name="Text 2"/>
          <p:cNvSpPr/>
          <p:nvPr/>
        </p:nvSpPr>
        <p:spPr>
          <a:xfrm>
            <a:off x="640080" y="868680"/>
            <a:ext cx="3474720" cy="201168"/>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SEARCH RESULT #1</a:t>
            </a:r>
            <a:endParaRPr lang="en-US" sz="900" dirty="0"/>
          </a:p>
        </p:txBody>
      </p:sp>
      <p:sp>
        <p:nvSpPr>
          <p:cNvPr id="5" name="Text 3"/>
          <p:cNvSpPr/>
          <p:nvPr/>
        </p:nvSpPr>
        <p:spPr>
          <a:xfrm>
            <a:off x="640080" y="1097280"/>
            <a:ext cx="3474720" cy="12344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Smithsonian Museum</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"Navigation Tools of the 1500s"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by Dr. Maria Chen, 2022</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Includes photographs and historical documents.</a:t>
            </a:r>
            <a:endParaRPr lang="en-US" sz="1200" dirty="0"/>
          </a:p>
        </p:txBody>
      </p:sp>
      <p:sp>
        <p:nvSpPr>
          <p:cNvPr id="6" name="Shape 4"/>
          <p:cNvSpPr/>
          <p:nvPr/>
        </p:nvSpPr>
        <p:spPr>
          <a:xfrm>
            <a:off x="4846320" y="777240"/>
            <a:ext cx="3840480" cy="1691640"/>
          </a:xfrm>
          <a:prstGeom prst="roundRect">
            <a:avLst>
              <a:gd name="adj" fmla="val 5405"/>
            </a:avLst>
          </a:prstGeom>
          <a:solidFill>
            <a:srgbClr val="FFF0F0"/>
          </a:solidFill>
          <a:ln w="25400">
            <a:solidFill>
              <a:srgbClr val="E8636B"/>
            </a:solidFill>
            <a:prstDash val="solid"/>
          </a:ln>
        </p:spPr>
      </p:sp>
      <p:sp>
        <p:nvSpPr>
          <p:cNvPr id="7" name="Text 5"/>
          <p:cNvSpPr/>
          <p:nvPr/>
        </p:nvSpPr>
        <p:spPr>
          <a:xfrm>
            <a:off x="5029200" y="868680"/>
            <a:ext cx="3474720" cy="201168"/>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SEARCH RESULT #2</a:t>
            </a:r>
            <a:endParaRPr lang="en-US" sz="900" dirty="0"/>
          </a:p>
        </p:txBody>
      </p:sp>
      <p:sp>
        <p:nvSpPr>
          <p:cNvPr id="8" name="Text 6"/>
          <p:cNvSpPr/>
          <p:nvPr/>
        </p:nvSpPr>
        <p:spPr>
          <a:xfrm>
            <a:off x="5029200" y="1097280"/>
            <a:ext cx="3474720" cy="1234440"/>
          </a:xfrm>
          <a:prstGeom prst="rect">
            <a:avLst/>
          </a:prstGeom>
          <a:noFill/>
          <a:ln/>
        </p:spPr>
        <p:txBody>
          <a:bodyPr wrap="square" lIns="0" tIns="0" rIns="0" bIns="0" rtlCol="0" anchor="t"/>
          <a:lstStyle/>
          <a:p>
            <a:pPr indent="0" marL="0">
              <a:buNone/>
            </a:pPr>
            <a:r>
              <a:rPr lang="en-US" sz="1200" dirty="0">
                <a:solidFill>
                  <a:srgbClr val="6A2A2A"/>
                </a:solidFill>
                <a:latin typeface="Calibri" pitchFamily="34" charset="0"/>
                <a:ea typeface="Calibri" pitchFamily="34" charset="-122"/>
                <a:cs typeface="Calibri" pitchFamily="34" charset="-120"/>
              </a:rPr>
              <a:t>CoolFacts4Kids.biz</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"10 Amazing Explorer Secrets!"</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No author listed.</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"This stuff is totally true, trust us!"</a:t>
            </a:r>
            <a:endParaRPr lang="en-US" sz="1200" dirty="0"/>
          </a:p>
        </p:txBody>
      </p:sp>
      <p:sp>
        <p:nvSpPr>
          <p:cNvPr id="9" name="Shape 7"/>
          <p:cNvSpPr/>
          <p:nvPr/>
        </p:nvSpPr>
        <p:spPr>
          <a:xfrm>
            <a:off x="457200" y="2633472"/>
            <a:ext cx="3840480" cy="502920"/>
          </a:xfrm>
          <a:prstGeom prst="roundRect">
            <a:avLst>
              <a:gd name="adj" fmla="val 18182"/>
            </a:avLst>
          </a:prstGeom>
          <a:solidFill>
            <a:srgbClr val="F0F2F8"/>
          </a:solidFill>
          <a:ln w="12700">
            <a:solidFill>
              <a:srgbClr val="7A88A8"/>
            </a:solidFill>
            <a:prstDash val="solid"/>
          </a:ln>
        </p:spPr>
      </p:sp>
      <p:sp>
        <p:nvSpPr>
          <p:cNvPr id="10" name="Text 8"/>
          <p:cNvSpPr/>
          <p:nvPr/>
        </p:nvSpPr>
        <p:spPr>
          <a:xfrm>
            <a:off x="640080" y="2715768"/>
            <a:ext cx="3474720" cy="320040"/>
          </a:xfrm>
          <a:prstGeom prst="rect">
            <a:avLst/>
          </a:prstGeom>
          <a:noFill/>
          <a:ln/>
        </p:spPr>
        <p:txBody>
          <a:bodyPr wrap="square" lIns="0" tIns="0" rIns="0" bIns="0" rtlCol="0" anchor="ctr"/>
          <a:lstStyle/>
          <a:p>
            <a:pPr indent="0" marL="0">
              <a:buNone/>
            </a:pPr>
            <a:r>
              <a:rPr lang="en-US" sz="1100" b="1" dirty="0">
                <a:solidFill>
                  <a:srgbClr val="7A88A8"/>
                </a:solidFill>
                <a:latin typeface="Calibri" pitchFamily="34" charset="0"/>
                <a:ea typeface="Calibri" pitchFamily="34" charset="-122"/>
                <a:cs typeface="Calibri" pitchFamily="34" charset="-120"/>
              </a:rPr>
              <a:t>PRIVATE THINKING — 5 seconds of silence first</a:t>
            </a:r>
            <a:endParaRPr lang="en-US" sz="1100" dirty="0"/>
          </a:p>
        </p:txBody>
      </p:sp>
      <p:sp>
        <p:nvSpPr>
          <p:cNvPr id="11" name="Shape 9"/>
          <p:cNvSpPr/>
          <p:nvPr/>
        </p:nvSpPr>
        <p:spPr>
          <a:xfrm>
            <a:off x="4846320" y="2633472"/>
            <a:ext cx="3840480" cy="914400"/>
          </a:xfrm>
          <a:prstGeom prst="roundRect">
            <a:avLst>
              <a:gd name="adj" fmla="val 12000"/>
            </a:avLst>
          </a:prstGeom>
          <a:solidFill>
            <a:srgbClr val="FFF3DC"/>
          </a:solidFill>
          <a:ln w="19050">
            <a:solidFill>
              <a:srgbClr val="F5E6C8"/>
            </a:solidFill>
            <a:prstDash val="solid"/>
          </a:ln>
        </p:spPr>
      </p:sp>
      <p:sp>
        <p:nvSpPr>
          <p:cNvPr id="12" name="Text 10"/>
          <p:cNvSpPr/>
          <p:nvPr/>
        </p:nvSpPr>
        <p:spPr>
          <a:xfrm>
            <a:off x="4983480" y="2688336"/>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983480" y="2889504"/>
            <a:ext cx="3566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Result #1... but Result #2..."</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"Something feels off about..."</a:t>
            </a:r>
            <a:endParaRPr lang="en-US" sz="1200" dirty="0"/>
          </a:p>
        </p:txBody>
      </p:sp>
      <p:sp>
        <p:nvSpPr>
          <p:cNvPr id="14" name="Shape 12"/>
          <p:cNvSpPr/>
          <p:nvPr/>
        </p:nvSpPr>
        <p:spPr>
          <a:xfrm>
            <a:off x="457200" y="3703320"/>
            <a:ext cx="822960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640080" y="379476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640080" y="4050792"/>
            <a:ext cx="786384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is different between these two results?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would you trust for a museum label?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clues helped you decide?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74320"/>
            <a:ext cx="8229600" cy="256032"/>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457200" y="594360"/>
            <a:ext cx="8229600" cy="640080"/>
          </a:xfrm>
          <a:prstGeom prst="rect">
            <a:avLst/>
          </a:prstGeom>
          <a:noFill/>
          <a:ln/>
        </p:spPr>
        <p:txBody>
          <a:bodyPr wrap="square" lIns="0" tIns="0" rIns="0" bIns="0" rtlCol="0" anchor="ctr"/>
          <a:lstStyle/>
          <a:p>
            <a:pPr algn="ctr" indent="0" marL="0">
              <a:buNone/>
            </a:pPr>
            <a:r>
              <a:rPr lang="en-US" sz="4600" b="1" dirty="0">
                <a:solidFill>
                  <a:srgbClr val="D4943A"/>
                </a:solidFill>
                <a:latin typeface="Cambria" pitchFamily="34" charset="0"/>
                <a:ea typeface="Cambria" pitchFamily="34" charset="-122"/>
                <a:cs typeface="Cambria" pitchFamily="34" charset="-120"/>
              </a:rPr>
              <a:t>Honesty</a:t>
            </a:r>
            <a:endParaRPr lang="en-US" sz="4600" dirty="0"/>
          </a:p>
        </p:txBody>
      </p:sp>
      <p:sp>
        <p:nvSpPr>
          <p:cNvPr id="6" name="Shape 4"/>
          <p:cNvSpPr/>
          <p:nvPr/>
        </p:nvSpPr>
        <p:spPr>
          <a:xfrm>
            <a:off x="731520" y="1371600"/>
            <a:ext cx="768096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960120" y="1508760"/>
            <a:ext cx="7223760" cy="118872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Honest curators do not use information just because it is easy to find. They check whether it is true first. When you search online, honesty means admitting when a source is not good enough — even if it says what you want to hear.</a:t>
            </a:r>
            <a:endParaRPr lang="en-US" sz="1500" dirty="0"/>
          </a:p>
        </p:txBody>
      </p:sp>
      <p:sp>
        <p:nvSpPr>
          <p:cNvPr id="8" name="Shape 6"/>
          <p:cNvSpPr/>
          <p:nvPr/>
        </p:nvSpPr>
        <p:spPr>
          <a:xfrm>
            <a:off x="2560320" y="3017520"/>
            <a:ext cx="4023360" cy="1508760"/>
          </a:xfrm>
          <a:prstGeom prst="roundRect">
            <a:avLst>
              <a:gd name="adj" fmla="val 9091"/>
            </a:avLst>
          </a:prstGeom>
          <a:solidFill>
            <a:srgbClr val="1A8A7D"/>
          </a:solidFill>
          <a:ln/>
          <a:effectLst>
            <a:outerShdw sx="100000" sy="100000" kx="0" ky="0" algn="bl" rotWithShape="0" blurRad="76200" dist="25400" dir="8100000">
              <a:srgbClr val="000000">
                <a:alpha val="20000"/>
              </a:srgbClr>
            </a:outerShdw>
          </a:effectLst>
        </p:spPr>
      </p:sp>
      <p:sp>
        <p:nvSpPr>
          <p:cNvPr id="9" name="Text 7"/>
          <p:cNvSpPr/>
          <p:nvPr/>
        </p:nvSpPr>
        <p:spPr>
          <a:xfrm>
            <a:off x="2743200" y="3108960"/>
            <a:ext cx="3657600" cy="228600"/>
          </a:xfrm>
          <a:prstGeom prst="rect">
            <a:avLst/>
          </a:prstGeom>
          <a:noFill/>
          <a:ln/>
        </p:spPr>
        <p:txBody>
          <a:bodyPr wrap="square" lIns="0" tIns="0" rIns="0" bIns="0" rtlCol="0" anchor="ctr"/>
          <a:lstStyle/>
          <a:p>
            <a:pPr algn="ctr" indent="0" marL="0">
              <a:buNone/>
            </a:pPr>
            <a:r>
              <a:rPr lang="en-US" sz="900" b="1" spc="150" kern="0" dirty="0">
                <a:solidFill>
                  <a:srgbClr val="A0E8DA"/>
                </a:solidFill>
                <a:latin typeface="Calibri" pitchFamily="34" charset="0"/>
                <a:ea typeface="Calibri" pitchFamily="34" charset="-122"/>
                <a:cs typeface="Calibri" pitchFamily="34" charset="-120"/>
              </a:rPr>
              <a:t>YOUR ROLE TODAY</a:t>
            </a:r>
            <a:endParaRPr lang="en-US" sz="900" dirty="0"/>
          </a:p>
        </p:txBody>
      </p:sp>
      <p:sp>
        <p:nvSpPr>
          <p:cNvPr id="10" name="Text 8"/>
          <p:cNvSpPr/>
          <p:nvPr/>
        </p:nvSpPr>
        <p:spPr>
          <a:xfrm>
            <a:off x="2743200" y="3364992"/>
            <a:ext cx="365760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Source Scholar</a:t>
            </a:r>
            <a:endParaRPr lang="en-US" sz="2800" dirty="0"/>
          </a:p>
        </p:txBody>
      </p:sp>
      <p:sp>
        <p:nvSpPr>
          <p:cNvPr id="11" name="Text 9"/>
          <p:cNvSpPr/>
          <p:nvPr/>
        </p:nvSpPr>
        <p:spPr>
          <a:xfrm>
            <a:off x="2743200" y="3858768"/>
            <a:ext cx="3657600" cy="502920"/>
          </a:xfrm>
          <a:prstGeom prst="rect">
            <a:avLst/>
          </a:prstGeom>
          <a:noFill/>
          <a:ln/>
        </p:spPr>
        <p:txBody>
          <a:bodyPr wrap="square" lIns="0" tIns="0" rIns="0" bIns="0"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A curator who checks whether information is reliable</a:t>
            </a:r>
            <a:endParaRPr lang="en-US" sz="1100" dirty="0"/>
          </a:p>
          <a:p>
            <a:pPr algn="ctr" indent="0" marL="0">
              <a:buNone/>
            </a:pPr>
            <a:r>
              <a:rPr lang="en-US" sz="1100" i="1" dirty="0">
                <a:solidFill>
                  <a:srgbClr val="D6F2FB"/>
                </a:solidFill>
                <a:latin typeface="Calibri" pitchFamily="34" charset="0"/>
                <a:ea typeface="Calibri" pitchFamily="34" charset="-122"/>
                <a:cs typeface="Calibri" pitchFamily="34" charset="-120"/>
              </a:rPr>
              <a:t>before using it in the museum.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Clue Box: Study the Evidence</a:t>
            </a:r>
            <a:endParaRPr lang="en-US" sz="2800" dirty="0"/>
          </a:p>
        </p:txBody>
      </p:sp>
      <p:sp>
        <p:nvSpPr>
          <p:cNvPr id="3" name="Shape 1"/>
          <p:cNvSpPr/>
          <p:nvPr/>
        </p:nvSpPr>
        <p:spPr>
          <a:xfrm>
            <a:off x="457200" y="777240"/>
            <a:ext cx="4572000" cy="2606040"/>
          </a:xfrm>
          <a:prstGeom prst="roundRect">
            <a:avLst>
              <a:gd name="adj" fmla="val 4211"/>
            </a:avLst>
          </a:prstGeom>
          <a:solidFill>
            <a:srgbClr val="E2E8F4"/>
          </a:solidFill>
          <a:ln w="19050">
            <a:solidFill>
              <a:srgbClr val="B0B8CC"/>
            </a:solidFill>
            <a:prstDash val="dash"/>
          </a:ln>
        </p:spPr>
      </p:sp>
      <p:sp>
        <p:nvSpPr>
          <p:cNvPr id="4" name="Text 2"/>
          <p:cNvSpPr/>
          <p:nvPr/>
        </p:nvSpPr>
        <p:spPr>
          <a:xfrm>
            <a:off x="457200" y="777240"/>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594360" y="1051560"/>
            <a:ext cx="429768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Split-screen: Two open browser windows. LEFT: Smithsonian.edu — 'Navigation Tools of the 1500s' by Dr. Maria Chen, 2022, museum header, compass photos. RIGHT: CoolFacts4Kids.biz — clickbait headline, no author, ad banners, garish colors.</a:t>
            </a:r>
            <a:endParaRPr lang="en-US" sz="1100" dirty="0"/>
          </a:p>
        </p:txBody>
      </p:sp>
      <p:sp>
        <p:nvSpPr>
          <p:cNvPr id="6" name="Shape 4"/>
          <p:cNvSpPr/>
          <p:nvPr/>
        </p:nvSpPr>
        <p:spPr>
          <a:xfrm>
            <a:off x="5212080" y="777240"/>
            <a:ext cx="3474720" cy="2606040"/>
          </a:xfrm>
          <a:prstGeom prst="roundRect">
            <a:avLst>
              <a:gd name="adj" fmla="val 4211"/>
            </a:avLst>
          </a:prstGeom>
          <a:solidFill>
            <a:srgbClr val="F0F2F8"/>
          </a:solidFill>
          <a:ln w="19050">
            <a:solidFill>
              <a:srgbClr val="C8D0E0"/>
            </a:solidFill>
            <a:prstDash val="solid"/>
          </a:ln>
        </p:spPr>
      </p:sp>
      <p:sp>
        <p:nvSpPr>
          <p:cNvPr id="7" name="Text 5"/>
          <p:cNvSpPr/>
          <p:nvPr/>
        </p:nvSpPr>
        <p:spPr>
          <a:xfrm>
            <a:off x="5394960" y="886968"/>
            <a:ext cx="3108960" cy="25603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What I Notice:</a:t>
            </a:r>
            <a:endParaRPr lang="en-US" sz="1400" dirty="0"/>
          </a:p>
        </p:txBody>
      </p:sp>
      <p:sp>
        <p:nvSpPr>
          <p:cNvPr id="8" name="Text 6"/>
          <p:cNvSpPr/>
          <p:nvPr/>
        </p:nvSpPr>
        <p:spPr>
          <a:xfrm>
            <a:off x="5394960" y="1188720"/>
            <a:ext cx="3108960"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0E1C42"/>
                </a:solidFill>
                <a:latin typeface="Calibri" pitchFamily="34" charset="0"/>
                <a:ea typeface="Calibri" pitchFamily="34" charset="-122"/>
                <a:cs typeface="Calibri" pitchFamily="34" charset="-120"/>
              </a:rPr>
              <a:t>Result #1 names a specific author.</a:t>
            </a:r>
            <a:endParaRPr lang="en-US" sz="1100" dirty="0"/>
          </a:p>
          <a:p>
            <a:pPr marL="342900" indent="-342900">
              <a:spcAft>
                <a:spcPts val="600"/>
              </a:spcAft>
              <a:buSzPct val="100000"/>
              <a:buChar char="•"/>
            </a:pPr>
            <a:r>
              <a:rPr lang="en-US" sz="1100" dirty="0">
                <a:solidFill>
                  <a:srgbClr val="0E1C42"/>
                </a:solidFill>
                <a:latin typeface="Calibri" pitchFamily="34" charset="0"/>
                <a:ea typeface="Calibri" pitchFamily="34" charset="-122"/>
                <a:cs typeface="Calibri" pitchFamily="34" charset="-120"/>
              </a:rPr>
              <a:t>Result #2 has no author listed.</a:t>
            </a:r>
            <a:endParaRPr lang="en-US" sz="1100" dirty="0"/>
          </a:p>
          <a:p>
            <a:pPr marL="342900" indent="-342900">
              <a:spcAft>
                <a:spcPts val="600"/>
              </a:spcAft>
              <a:buSzPct val="100000"/>
              <a:buChar char="•"/>
            </a:pPr>
            <a:r>
              <a:rPr lang="en-US" sz="1100" dirty="0">
                <a:solidFill>
                  <a:srgbClr val="0E1C42"/>
                </a:solidFill>
                <a:latin typeface="Calibri" pitchFamily="34" charset="0"/>
                <a:ea typeface="Calibri" pitchFamily="34" charset="-122"/>
                <a:cs typeface="Calibri" pitchFamily="34" charset="-120"/>
              </a:rPr>
              <a:t>Result #1 uses a .edu domain.</a:t>
            </a:r>
            <a:endParaRPr lang="en-US" sz="1100" dirty="0"/>
          </a:p>
          <a:p>
            <a:pPr marL="342900" indent="-342900">
              <a:spcAft>
                <a:spcPts val="600"/>
              </a:spcAft>
              <a:buSzPct val="100000"/>
              <a:buChar char="•"/>
            </a:pPr>
            <a:r>
              <a:rPr lang="en-US" sz="1100" dirty="0">
                <a:solidFill>
                  <a:srgbClr val="0E1C42"/>
                </a:solidFill>
                <a:latin typeface="Calibri" pitchFamily="34" charset="0"/>
                <a:ea typeface="Calibri" pitchFamily="34" charset="-122"/>
                <a:cs typeface="Calibri" pitchFamily="34" charset="-120"/>
              </a:rPr>
              <a:t>Result #2 title sounds like clickbait.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Result #1 mentions photographs.</a:t>
            </a:r>
            <a:endParaRPr lang="en-US" sz="1100" dirty="0"/>
          </a:p>
        </p:txBody>
      </p:sp>
      <p:sp>
        <p:nvSpPr>
          <p:cNvPr id="9" name="Shape 7"/>
          <p:cNvSpPr/>
          <p:nvPr/>
        </p:nvSpPr>
        <p:spPr>
          <a:xfrm>
            <a:off x="457200" y="3520440"/>
            <a:ext cx="4389120" cy="1188720"/>
          </a:xfrm>
          <a:prstGeom prst="roundRect">
            <a:avLst>
              <a:gd name="adj" fmla="val 9231"/>
            </a:avLst>
          </a:prstGeom>
          <a:solidFill>
            <a:srgbClr val="FFF3DC"/>
          </a:solidFill>
          <a:ln w="19050">
            <a:solidFill>
              <a:srgbClr val="F5E6C8"/>
            </a:solidFill>
            <a:prstDash val="solid"/>
          </a:ln>
        </p:spPr>
      </p:sp>
      <p:sp>
        <p:nvSpPr>
          <p:cNvPr id="10" name="Text 8"/>
          <p:cNvSpPr/>
          <p:nvPr/>
        </p:nvSpPr>
        <p:spPr>
          <a:xfrm>
            <a:off x="594360" y="3575304"/>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3776472"/>
            <a:ext cx="411480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Result #1... but Result #2..."</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Result #___ because..."</a:t>
            </a:r>
            <a:endParaRPr lang="en-US" sz="1200" dirty="0"/>
          </a:p>
        </p:txBody>
      </p:sp>
      <p:sp>
        <p:nvSpPr>
          <p:cNvPr id="12" name="Shape 10"/>
          <p:cNvSpPr/>
          <p:nvPr/>
        </p:nvSpPr>
        <p:spPr>
          <a:xfrm>
            <a:off x="5029200" y="3520440"/>
            <a:ext cx="365760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212080" y="3611880"/>
            <a:ext cx="3291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212080" y="3867912"/>
            <a:ext cx="329184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clue feels most important to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need to see to trust a source?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source look trustworthy but still be wrong?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75488"/>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What Makes a Source Trustworthy?</a:t>
            </a:r>
            <a:endParaRPr lang="en-US" sz="3000" dirty="0"/>
          </a:p>
        </p:txBody>
      </p:sp>
      <p:sp>
        <p:nvSpPr>
          <p:cNvPr id="3" name="Shape 1"/>
          <p:cNvSpPr/>
          <p:nvPr/>
        </p:nvSpPr>
        <p:spPr>
          <a:xfrm>
            <a:off x="457200" y="777240"/>
            <a:ext cx="5029200" cy="2103120"/>
          </a:xfrm>
          <a:prstGeom prst="roundRect">
            <a:avLst>
              <a:gd name="adj" fmla="val 5217"/>
            </a:avLst>
          </a:prstGeom>
          <a:solidFill>
            <a:srgbClr val="F0F2F8"/>
          </a:solidFill>
          <a:ln w="12700">
            <a:solidFill>
              <a:srgbClr val="C8D0E0"/>
            </a:solidFill>
            <a:prstDash val="solid"/>
          </a:ln>
        </p:spPr>
      </p:sp>
      <p:sp>
        <p:nvSpPr>
          <p:cNvPr id="4" name="Text 2"/>
          <p:cNvSpPr/>
          <p:nvPr/>
        </p:nvSpPr>
        <p:spPr>
          <a:xfrm>
            <a:off x="640080" y="886968"/>
            <a:ext cx="4663440" cy="25603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Students are noticing:</a:t>
            </a:r>
            <a:endParaRPr lang="en-US" sz="1300" dirty="0"/>
          </a:p>
        </p:txBody>
      </p:sp>
      <p:sp>
        <p:nvSpPr>
          <p:cNvPr id="5" name="Text 3"/>
          <p:cNvSpPr/>
          <p:nvPr/>
        </p:nvSpPr>
        <p:spPr>
          <a:xfrm>
            <a:off x="640080" y="1188720"/>
            <a:ext cx="4663440" cy="1554480"/>
          </a:xfrm>
          <a:prstGeom prst="rect">
            <a:avLst/>
          </a:prstGeom>
          <a:noFill/>
          <a:ln/>
        </p:spPr>
        <p:txBody>
          <a:bodyPr wrap="square" lIns="0" tIns="0" rIns="0" bIns="0" rtlCol="0" anchor="t"/>
          <a:lstStyle/>
          <a:p>
            <a:pPr marL="342900" indent="-342900">
              <a:spcAft>
                <a:spcPts val="500"/>
              </a:spcAft>
              <a:buSzPct val="100000"/>
              <a:buChar char="•"/>
            </a:pPr>
            <a:r>
              <a:rPr lang="en-US" sz="1200" i="1" dirty="0">
                <a:solidFill>
                  <a:srgbClr val="3A4A6B"/>
                </a:solidFill>
                <a:latin typeface="Cambria" pitchFamily="34" charset="0"/>
                <a:ea typeface="Cambria" pitchFamily="34" charset="-122"/>
                <a:cs typeface="Cambria" pitchFamily="34" charset="-120"/>
              </a:rPr>
              <a:t>"One result had a real author. The other did not."</a:t>
            </a:r>
            <a:endParaRPr lang="en-US" sz="1200" dirty="0"/>
          </a:p>
          <a:p>
            <a:pPr marL="342900" indent="-342900">
              <a:spcAft>
                <a:spcPts val="500"/>
              </a:spcAft>
              <a:buSzPct val="100000"/>
              <a:buChar char="•"/>
            </a:pPr>
            <a:r>
              <a:rPr lang="en-US" sz="1200" i="1" dirty="0">
                <a:solidFill>
                  <a:srgbClr val="3A4A6B"/>
                </a:solidFill>
                <a:latin typeface="Cambria" pitchFamily="34" charset="0"/>
                <a:ea typeface="Cambria" pitchFamily="34" charset="-122"/>
                <a:cs typeface="Cambria" pitchFamily="34" charset="-120"/>
              </a:rPr>
              <a:t>"The Smithsonian is a museum — they would know."</a:t>
            </a:r>
            <a:endParaRPr lang="en-US" sz="1200" dirty="0"/>
          </a:p>
          <a:p>
            <a:pPr marL="342900" indent="-342900">
              <a:spcAft>
                <a:spcPts val="500"/>
              </a:spcAft>
              <a:buSzPct val="100000"/>
              <a:buChar char="•"/>
            </a:pPr>
            <a:r>
              <a:rPr lang="en-US" sz="1200" i="1" dirty="0">
                <a:solidFill>
                  <a:srgbClr val="3A4A6B"/>
                </a:solidFill>
                <a:latin typeface="Cambria" pitchFamily="34" charset="0"/>
                <a:ea typeface="Cambria" pitchFamily="34" charset="-122"/>
                <a:cs typeface="Cambria" pitchFamily="34" charset="-120"/>
              </a:rPr>
              <a:t>"The .biz site was trying to get clicks, not share facts."</a:t>
            </a:r>
            <a:endParaRPr lang="en-US" sz="1200" dirty="0"/>
          </a:p>
          <a:p>
            <a:pPr indent="0" marL="0">
              <a:buNone/>
            </a:pPr>
            <a:r>
              <a:rPr lang="en-US" sz="1200" i="1" dirty="0">
                <a:solidFill>
                  <a:srgbClr val="3A4A6B"/>
                </a:solidFill>
                <a:latin typeface="Cambria" pitchFamily="34" charset="0"/>
                <a:ea typeface="Cambria" pitchFamily="34" charset="-122"/>
                <a:cs typeface="Cambria" pitchFamily="34" charset="-120"/>
              </a:rPr>
              <a:t>"One had photos and documents. The other just had words."</a:t>
            </a:r>
            <a:endParaRPr lang="en-US" sz="1200" dirty="0"/>
          </a:p>
        </p:txBody>
      </p:sp>
      <p:sp>
        <p:nvSpPr>
          <p:cNvPr id="6" name="Shape 4"/>
          <p:cNvSpPr/>
          <p:nvPr/>
        </p:nvSpPr>
        <p:spPr>
          <a:xfrm>
            <a:off x="457200" y="3017520"/>
            <a:ext cx="5029200" cy="1417320"/>
          </a:xfrm>
          <a:prstGeom prst="roundRect">
            <a:avLst>
              <a:gd name="adj" fmla="val 7742"/>
            </a:avLst>
          </a:prstGeom>
          <a:solidFill>
            <a:srgbClr val="FFF3DC"/>
          </a:solidFill>
          <a:ln w="19050">
            <a:solidFill>
              <a:srgbClr val="F5E6C8"/>
            </a:solidFill>
            <a:prstDash val="solid"/>
          </a:ln>
        </p:spPr>
      </p:sp>
      <p:sp>
        <p:nvSpPr>
          <p:cNvPr id="7" name="Text 5"/>
          <p:cNvSpPr/>
          <p:nvPr/>
        </p:nvSpPr>
        <p:spPr>
          <a:xfrm>
            <a:off x="594360" y="3072384"/>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594360" y="3273552"/>
            <a:ext cx="47548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you can trust a source when..."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source seems suspicious when..."</a:t>
            </a:r>
            <a:endParaRPr lang="en-US" sz="1200" dirty="0"/>
          </a:p>
        </p:txBody>
      </p:sp>
      <p:sp>
        <p:nvSpPr>
          <p:cNvPr id="9" name="Shape 7"/>
          <p:cNvSpPr/>
          <p:nvPr/>
        </p:nvSpPr>
        <p:spPr>
          <a:xfrm>
            <a:off x="5669280" y="777240"/>
            <a:ext cx="3017520" cy="3657600"/>
          </a:xfrm>
          <a:prstGeom prst="roundRect">
            <a:avLst>
              <a:gd name="adj" fmla="val 4545"/>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852160" y="868680"/>
            <a:ext cx="2651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852160" y="1124712"/>
            <a:ext cx="2651760" cy="3218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mean by 'official'? How would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an expert be wrong? What would that mean?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argue?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a source?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56032"/>
            <a:ext cx="8229600" cy="27432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YOU DISCOVERED IT!</a:t>
            </a:r>
            <a:endParaRPr lang="en-US" sz="1000" dirty="0"/>
          </a:p>
        </p:txBody>
      </p:sp>
      <p:sp>
        <p:nvSpPr>
          <p:cNvPr id="5" name="Text 3"/>
          <p:cNvSpPr/>
          <p:nvPr/>
        </p:nvSpPr>
        <p:spPr>
          <a:xfrm>
            <a:off x="457200" y="594360"/>
            <a:ext cx="8229600" cy="64008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Reliable vs. Unreliable Sources</a:t>
            </a:r>
            <a:endParaRPr lang="en-US" sz="3800" dirty="0"/>
          </a:p>
        </p:txBody>
      </p:sp>
      <p:sp>
        <p:nvSpPr>
          <p:cNvPr id="6" name="Shape 4"/>
          <p:cNvSpPr/>
          <p:nvPr/>
        </p:nvSpPr>
        <p:spPr>
          <a:xfrm>
            <a:off x="457200" y="1371600"/>
            <a:ext cx="3840480" cy="3246120"/>
          </a:xfrm>
          <a:prstGeom prst="roundRect">
            <a:avLst>
              <a:gd name="adj" fmla="val 4225"/>
            </a:avLst>
          </a:prstGeom>
          <a:solidFill>
            <a:srgbClr val="0D2A1F"/>
          </a:solidFill>
          <a:ln/>
          <a:effectLst>
            <a:outerShdw sx="100000" sy="100000" kx="0" ky="0" algn="bl" rotWithShape="0" blurRad="101600" dist="38100" dir="8100000">
              <a:srgbClr val="000000">
                <a:alpha val="20000"/>
              </a:srgbClr>
            </a:outerShdw>
          </a:effectLst>
        </p:spPr>
      </p:sp>
      <p:sp>
        <p:nvSpPr>
          <p:cNvPr id="7" name="Text 5"/>
          <p:cNvSpPr/>
          <p:nvPr/>
        </p:nvSpPr>
        <p:spPr>
          <a:xfrm>
            <a:off x="640080" y="1481328"/>
            <a:ext cx="3474720" cy="256032"/>
          </a:xfrm>
          <a:prstGeom prst="rect">
            <a:avLst/>
          </a:prstGeom>
          <a:noFill/>
          <a:ln/>
        </p:spPr>
        <p:txBody>
          <a:bodyPr wrap="square" lIns="0" tIns="0" rIns="0" bIns="0" rtlCol="0" anchor="ctr"/>
          <a:lstStyle/>
          <a:p>
            <a:pPr algn="ctr" indent="0" marL="0">
              <a:buNone/>
            </a:pPr>
            <a:r>
              <a:rPr lang="en-US" sz="1200" b="1" spc="200" kern="0" dirty="0">
                <a:solidFill>
                  <a:srgbClr val="34B76F"/>
                </a:solidFill>
                <a:latin typeface="Calibri" pitchFamily="34" charset="0"/>
                <a:ea typeface="Calibri" pitchFamily="34" charset="-122"/>
                <a:cs typeface="Calibri" pitchFamily="34" charset="-120"/>
              </a:rPr>
              <a:t>RELIABLE</a:t>
            </a:r>
            <a:endParaRPr lang="en-US" sz="1200" dirty="0"/>
          </a:p>
        </p:txBody>
      </p:sp>
      <p:sp>
        <p:nvSpPr>
          <p:cNvPr id="8" name="Text 6"/>
          <p:cNvSpPr/>
          <p:nvPr/>
        </p:nvSpPr>
        <p:spPr>
          <a:xfrm>
            <a:off x="640080" y="1828800"/>
            <a:ext cx="3474720" cy="2606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A0E8B0"/>
                </a:solidFill>
                <a:latin typeface="Calibri" pitchFamily="34" charset="0"/>
                <a:ea typeface="Calibri" pitchFamily="34" charset="-122"/>
                <a:cs typeface="Calibri" pitchFamily="34" charset="-120"/>
              </a:rPr>
              <a:t>Written by an expert or official organization</a:t>
            </a:r>
            <a:endParaRPr lang="en-US" sz="1200" dirty="0"/>
          </a:p>
          <a:p>
            <a:pPr marL="342900" indent="-342900">
              <a:spcAft>
                <a:spcPts val="800"/>
              </a:spcAft>
              <a:buSzPct val="100000"/>
              <a:buChar char="•"/>
            </a:pPr>
            <a:r>
              <a:rPr lang="en-US" sz="1200" dirty="0">
                <a:solidFill>
                  <a:srgbClr val="A0E8B0"/>
                </a:solidFill>
                <a:latin typeface="Calibri" pitchFamily="34" charset="0"/>
                <a:ea typeface="Calibri" pitchFamily="34" charset="-122"/>
                <a:cs typeface="Calibri" pitchFamily="34" charset="-120"/>
              </a:rPr>
              <a:t>Includes evidence: facts, dates, photos, documents</a:t>
            </a:r>
            <a:endParaRPr lang="en-US" sz="1200" dirty="0"/>
          </a:p>
          <a:p>
            <a:pPr marL="342900" indent="-342900">
              <a:spcAft>
                <a:spcPts val="800"/>
              </a:spcAft>
              <a:buSzPct val="100000"/>
              <a:buChar char="•"/>
            </a:pPr>
            <a:r>
              <a:rPr lang="en-US" sz="1200" dirty="0">
                <a:solidFill>
                  <a:srgbClr val="A0E8B0"/>
                </a:solidFill>
                <a:latin typeface="Calibri" pitchFamily="34" charset="0"/>
                <a:ea typeface="Calibri" pitchFamily="34" charset="-122"/>
                <a:cs typeface="Calibri" pitchFamily="34" charset="-120"/>
              </a:rPr>
              <a:t>Names the author and when it was written</a:t>
            </a:r>
            <a:endParaRPr lang="en-US" sz="1200" dirty="0"/>
          </a:p>
          <a:p>
            <a:pPr indent="0" marL="0">
              <a:buNone/>
            </a:pPr>
            <a:r>
              <a:rPr lang="en-US" sz="1200" dirty="0">
                <a:solidFill>
                  <a:srgbClr val="A0E8B0"/>
                </a:solidFill>
                <a:latin typeface="Calibri" pitchFamily="34" charset="0"/>
                <a:ea typeface="Calibri" pitchFamily="34" charset="-122"/>
                <a:cs typeface="Calibri" pitchFamily="34" charset="-120"/>
              </a:rPr>
              <a:t>Does NOT try to sell or trick you</a:t>
            </a:r>
            <a:endParaRPr lang="en-US" sz="1200" dirty="0"/>
          </a:p>
        </p:txBody>
      </p:sp>
      <p:sp>
        <p:nvSpPr>
          <p:cNvPr id="9" name="Shape 7"/>
          <p:cNvSpPr/>
          <p:nvPr/>
        </p:nvSpPr>
        <p:spPr>
          <a:xfrm>
            <a:off x="4846320" y="1371600"/>
            <a:ext cx="3840480" cy="3246120"/>
          </a:xfrm>
          <a:prstGeom prst="roundRect">
            <a:avLst>
              <a:gd name="adj" fmla="val 4225"/>
            </a:avLst>
          </a:prstGeom>
          <a:solidFill>
            <a:srgbClr val="2A0D0D"/>
          </a:solidFill>
          <a:ln/>
          <a:effectLst>
            <a:outerShdw sx="100000" sy="100000" kx="0" ky="0" algn="bl" rotWithShape="0" blurRad="101600" dist="38100" dir="8100000">
              <a:srgbClr val="000000">
                <a:alpha val="20000"/>
              </a:srgbClr>
            </a:outerShdw>
          </a:effectLst>
        </p:spPr>
      </p:sp>
      <p:sp>
        <p:nvSpPr>
          <p:cNvPr id="10" name="Text 8"/>
          <p:cNvSpPr/>
          <p:nvPr/>
        </p:nvSpPr>
        <p:spPr>
          <a:xfrm>
            <a:off x="5029200" y="1481328"/>
            <a:ext cx="3474720" cy="256032"/>
          </a:xfrm>
          <a:prstGeom prst="rect">
            <a:avLst/>
          </a:prstGeom>
          <a:noFill/>
          <a:ln/>
        </p:spPr>
        <p:txBody>
          <a:bodyPr wrap="square" lIns="0" tIns="0" rIns="0" bIns="0" rtlCol="0" anchor="ctr"/>
          <a:lstStyle/>
          <a:p>
            <a:pPr algn="ctr" indent="0" marL="0">
              <a:buNone/>
            </a:pPr>
            <a:r>
              <a:rPr lang="en-US" sz="1200" b="1" spc="200" kern="0" dirty="0">
                <a:solidFill>
                  <a:srgbClr val="E8636B"/>
                </a:solidFill>
                <a:latin typeface="Calibri" pitchFamily="34" charset="0"/>
                <a:ea typeface="Calibri" pitchFamily="34" charset="-122"/>
                <a:cs typeface="Calibri" pitchFamily="34" charset="-120"/>
              </a:rPr>
              <a:t>UNRELIABLE</a:t>
            </a:r>
            <a:endParaRPr lang="en-US" sz="1200" dirty="0"/>
          </a:p>
        </p:txBody>
      </p:sp>
      <p:sp>
        <p:nvSpPr>
          <p:cNvPr id="11" name="Text 9"/>
          <p:cNvSpPr/>
          <p:nvPr/>
        </p:nvSpPr>
        <p:spPr>
          <a:xfrm>
            <a:off x="5029200" y="1828800"/>
            <a:ext cx="3474720" cy="2606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8A8AA"/>
                </a:solidFill>
                <a:latin typeface="Calibri" pitchFamily="34" charset="0"/>
                <a:ea typeface="Calibri" pitchFamily="34" charset="-122"/>
                <a:cs typeface="Calibri" pitchFamily="34" charset="-120"/>
              </a:rPr>
              <a:t>No author listed or uses a fake name</a:t>
            </a:r>
            <a:endParaRPr lang="en-US" sz="1200" dirty="0"/>
          </a:p>
          <a:p>
            <a:pPr marL="342900" indent="-342900">
              <a:spcAft>
                <a:spcPts val="800"/>
              </a:spcAft>
              <a:buSzPct val="100000"/>
              <a:buChar char="•"/>
            </a:pPr>
            <a:r>
              <a:rPr lang="en-US" sz="1200" dirty="0">
                <a:solidFill>
                  <a:srgbClr val="F8A8AA"/>
                </a:solidFill>
                <a:latin typeface="Calibri" pitchFamily="34" charset="0"/>
                <a:ea typeface="Calibri" pitchFamily="34" charset="-122"/>
                <a:cs typeface="Calibri" pitchFamily="34" charset="-120"/>
              </a:rPr>
              <a:t>Shares opinions as if they were facts</a:t>
            </a:r>
            <a:endParaRPr lang="en-US" sz="1200" dirty="0"/>
          </a:p>
          <a:p>
            <a:pPr marL="342900" indent="-342900">
              <a:spcAft>
                <a:spcPts val="800"/>
              </a:spcAft>
              <a:buSzPct val="100000"/>
              <a:buChar char="•"/>
            </a:pPr>
            <a:r>
              <a:rPr lang="en-US" sz="1200" dirty="0">
                <a:solidFill>
                  <a:srgbClr val="F8A8AA"/>
                </a:solidFill>
                <a:latin typeface="Calibri" pitchFamily="34" charset="0"/>
                <a:ea typeface="Calibri" pitchFamily="34" charset="-122"/>
                <a:cs typeface="Calibri" pitchFamily="34" charset="-120"/>
              </a:rPr>
              <a:t>Does not include evidence or sources</a:t>
            </a:r>
            <a:endParaRPr lang="en-US" sz="1200" dirty="0"/>
          </a:p>
          <a:p>
            <a:pPr indent="0" marL="0">
              <a:buNone/>
            </a:pPr>
            <a:r>
              <a:rPr lang="en-US" sz="1200" dirty="0">
                <a:solidFill>
                  <a:srgbClr val="F8A8AA"/>
                </a:solidFill>
                <a:latin typeface="Calibri" pitchFamily="34" charset="0"/>
                <a:ea typeface="Calibri" pitchFamily="34" charset="-122"/>
                <a:cs typeface="Calibri" pitchFamily="34" charset="-120"/>
              </a:rPr>
              <a:t>Has outdated or clearly wrong information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You Already Know the Three Checks!</a:t>
            </a:r>
            <a:endParaRPr lang="en-US" sz="28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indent="0" marL="0">
              <a:buNone/>
            </a:pPr>
            <a:r>
              <a:rPr lang="en-US" sz="1400" dirty="0">
                <a:solidFill>
                  <a:srgbClr val="3A4A6B"/>
                </a:solidFill>
                <a:latin typeface="Calibri" pitchFamily="34" charset="0"/>
                <a:ea typeface="Calibri" pitchFamily="34" charset="-122"/>
                <a:cs typeface="Calibri" pitchFamily="34" charset="-120"/>
              </a:rPr>
              <a:t>Look back at what you noticed. You were already checking three things:</a:t>
            </a:r>
            <a:endParaRPr lang="en-US" sz="1400" dirty="0"/>
          </a:p>
        </p:txBody>
      </p:sp>
      <p:sp>
        <p:nvSpPr>
          <p:cNvPr id="4" name="Shape 2"/>
          <p:cNvSpPr/>
          <p:nvPr/>
        </p:nvSpPr>
        <p:spPr>
          <a:xfrm>
            <a:off x="457200" y="1097280"/>
            <a:ext cx="2651760" cy="2560320"/>
          </a:xfrm>
          <a:prstGeom prst="roundRect">
            <a:avLst>
              <a:gd name="adj" fmla="val 5357"/>
            </a:avLst>
          </a:prstGeom>
          <a:solidFill>
            <a:srgbClr val="EAF8FD"/>
          </a:solidFill>
          <a:ln w="25400">
            <a:solidFill>
              <a:srgbClr val="1A8A7D"/>
            </a:solidFill>
            <a:prstDash val="solid"/>
          </a:ln>
        </p:spPr>
      </p:sp>
      <p:sp>
        <p:nvSpPr>
          <p:cNvPr id="5" name="Text 3"/>
          <p:cNvSpPr/>
          <p:nvPr/>
        </p:nvSpPr>
        <p:spPr>
          <a:xfrm>
            <a:off x="548640" y="1207008"/>
            <a:ext cx="2468880" cy="228600"/>
          </a:xfrm>
          <a:prstGeom prst="rect">
            <a:avLst/>
          </a:prstGeom>
          <a:noFill/>
          <a:ln/>
        </p:spPr>
        <p:txBody>
          <a:bodyPr wrap="square" lIns="0" tIns="0" rIns="0" bIns="0" rtlCol="0" anchor="ctr"/>
          <a:lstStyle/>
          <a:p>
            <a:pPr algn="ctr" indent="0" marL="0">
              <a:buNone/>
            </a:pPr>
            <a:r>
              <a:rPr lang="en-US" sz="900" b="1" spc="150" kern="0" dirty="0">
                <a:solidFill>
                  <a:srgbClr val="1A8A7D"/>
                </a:solidFill>
                <a:latin typeface="Calibri" pitchFamily="34" charset="0"/>
                <a:ea typeface="Calibri" pitchFamily="34" charset="-122"/>
                <a:cs typeface="Calibri" pitchFamily="34" charset="-120"/>
              </a:rPr>
              <a:t>CHECK 1</a:t>
            </a:r>
            <a:endParaRPr lang="en-US" sz="900" dirty="0"/>
          </a:p>
        </p:txBody>
      </p:sp>
      <p:sp>
        <p:nvSpPr>
          <p:cNvPr id="6" name="Text 4"/>
          <p:cNvSpPr/>
          <p:nvPr/>
        </p:nvSpPr>
        <p:spPr>
          <a:xfrm>
            <a:off x="548640" y="1463040"/>
            <a:ext cx="2468880" cy="594360"/>
          </a:xfrm>
          <a:prstGeom prst="rect">
            <a:avLst/>
          </a:prstGeom>
          <a:noFill/>
          <a:ln/>
        </p:spPr>
        <p:txBody>
          <a:bodyPr wrap="square" lIns="0" tIns="0" rIns="0" bIns="0" rtlCol="0" anchor="ctr"/>
          <a:lstStyle/>
          <a:p>
            <a:pPr algn="ctr" indent="0" marL="0">
              <a:buNone/>
            </a:pPr>
            <a:r>
              <a:rPr lang="en-US" sz="3600" b="1" dirty="0">
                <a:solidFill>
                  <a:srgbClr val="1A8A7D"/>
                </a:solidFill>
                <a:latin typeface="Cambria" pitchFamily="34" charset="0"/>
                <a:ea typeface="Cambria" pitchFamily="34" charset="-122"/>
                <a:cs typeface="Cambria" pitchFamily="34" charset="-120"/>
              </a:rPr>
              <a:t>WHO?</a:t>
            </a:r>
            <a:endParaRPr lang="en-US" sz="3600" dirty="0"/>
          </a:p>
        </p:txBody>
      </p:sp>
      <p:sp>
        <p:nvSpPr>
          <p:cNvPr id="7" name="Text 5"/>
          <p:cNvSpPr/>
          <p:nvPr/>
        </p:nvSpPr>
        <p:spPr>
          <a:xfrm>
            <a:off x="594360" y="2148840"/>
            <a:ext cx="2377440" cy="1371600"/>
          </a:xfrm>
          <a:prstGeom prst="rect">
            <a:avLst/>
          </a:prstGeom>
          <a:noFill/>
          <a:ln/>
        </p:spPr>
        <p:txBody>
          <a:bodyPr wrap="square" lIns="0" tIns="0" rIns="0" bIns="0" rtlCol="0" anchor="ctr"/>
          <a:lstStyle/>
          <a:p>
            <a:pPr algn="ctr" indent="0" marL="0">
              <a:buNone/>
            </a:pPr>
            <a:r>
              <a:rPr lang="en-US" sz="1200" dirty="0">
                <a:solidFill>
                  <a:srgbClr val="3A4A6B"/>
                </a:solidFill>
                <a:latin typeface="Calibri" pitchFamily="34" charset="0"/>
                <a:ea typeface="Calibri" pitchFamily="34" charset="-122"/>
                <a:cs typeface="Calibri" pitchFamily="34" charset="-120"/>
              </a:rPr>
              <a:t>Who wrote it?</a:t>
            </a:r>
            <a:endParaRPr lang="en-US" sz="1200" dirty="0"/>
          </a:p>
          <a:p>
            <a:pPr algn="ctr" indent="0" marL="0">
              <a:buNone/>
            </a:pPr>
            <a:r>
              <a:rPr lang="en-US" sz="1200" dirty="0">
                <a:solidFill>
                  <a:srgbClr val="3A4A6B"/>
                </a:solidFill>
                <a:latin typeface="Calibri" pitchFamily="34" charset="0"/>
                <a:ea typeface="Calibri" pitchFamily="34" charset="-122"/>
                <a:cs typeface="Calibri" pitchFamily="34" charset="-120"/>
              </a:rPr>
              <a:t>Is it a named expert or official organization?</a:t>
            </a:r>
            <a:endParaRPr lang="en-US" sz="1200" dirty="0"/>
          </a:p>
        </p:txBody>
      </p:sp>
      <p:sp>
        <p:nvSpPr>
          <p:cNvPr id="8" name="Shape 6"/>
          <p:cNvSpPr/>
          <p:nvPr/>
        </p:nvSpPr>
        <p:spPr>
          <a:xfrm>
            <a:off x="3291840" y="1097280"/>
            <a:ext cx="2651760" cy="2560320"/>
          </a:xfrm>
          <a:prstGeom prst="roundRect">
            <a:avLst>
              <a:gd name="adj" fmla="val 5357"/>
            </a:avLst>
          </a:prstGeom>
          <a:solidFill>
            <a:srgbClr val="FFF3DC"/>
          </a:solidFill>
          <a:ln w="25400">
            <a:solidFill>
              <a:srgbClr val="D4943A"/>
            </a:solidFill>
            <a:prstDash val="solid"/>
          </a:ln>
        </p:spPr>
      </p:sp>
      <p:sp>
        <p:nvSpPr>
          <p:cNvPr id="9" name="Text 7"/>
          <p:cNvSpPr/>
          <p:nvPr/>
        </p:nvSpPr>
        <p:spPr>
          <a:xfrm>
            <a:off x="3383280" y="1207008"/>
            <a:ext cx="2468880" cy="228600"/>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CHECK 2</a:t>
            </a:r>
            <a:endParaRPr lang="en-US" sz="900" dirty="0"/>
          </a:p>
        </p:txBody>
      </p:sp>
      <p:sp>
        <p:nvSpPr>
          <p:cNvPr id="10" name="Text 8"/>
          <p:cNvSpPr/>
          <p:nvPr/>
        </p:nvSpPr>
        <p:spPr>
          <a:xfrm>
            <a:off x="3383280" y="1463040"/>
            <a:ext cx="2468880" cy="59436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WHEN?</a:t>
            </a:r>
            <a:endParaRPr lang="en-US" sz="3600" dirty="0"/>
          </a:p>
        </p:txBody>
      </p:sp>
      <p:sp>
        <p:nvSpPr>
          <p:cNvPr id="11" name="Text 9"/>
          <p:cNvSpPr/>
          <p:nvPr/>
        </p:nvSpPr>
        <p:spPr>
          <a:xfrm>
            <a:off x="3429000" y="2148840"/>
            <a:ext cx="2377440" cy="1371600"/>
          </a:xfrm>
          <a:prstGeom prst="rect">
            <a:avLst/>
          </a:prstGeom>
          <a:noFill/>
          <a:ln/>
        </p:spPr>
        <p:txBody>
          <a:bodyPr wrap="square" lIns="0" tIns="0" rIns="0" bIns="0" rtlCol="0" anchor="ctr"/>
          <a:lstStyle/>
          <a:p>
            <a:pPr algn="ctr" indent="0" marL="0">
              <a:buNone/>
            </a:pPr>
            <a:r>
              <a:rPr lang="en-US" sz="1200" dirty="0">
                <a:solidFill>
                  <a:srgbClr val="3A4A6B"/>
                </a:solidFill>
                <a:latin typeface="Calibri" pitchFamily="34" charset="0"/>
                <a:ea typeface="Calibri" pitchFamily="34" charset="-122"/>
                <a:cs typeface="Calibri" pitchFamily="34" charset="-120"/>
              </a:rPr>
              <a:t>When was it written?</a:t>
            </a:r>
            <a:endParaRPr lang="en-US" sz="1200" dirty="0"/>
          </a:p>
          <a:p>
            <a:pPr algn="ctr" indent="0" marL="0">
              <a:buNone/>
            </a:pPr>
            <a:r>
              <a:rPr lang="en-US" sz="1200" dirty="0">
                <a:solidFill>
                  <a:srgbClr val="3A4A6B"/>
                </a:solidFill>
                <a:latin typeface="Calibri" pitchFamily="34" charset="0"/>
                <a:ea typeface="Calibri" pitchFamily="34" charset="-122"/>
                <a:cs typeface="Calibri" pitchFamily="34" charset="-120"/>
              </a:rPr>
              <a:t>Is the information recent and up to date?</a:t>
            </a:r>
            <a:endParaRPr lang="en-US" sz="1200" dirty="0"/>
          </a:p>
        </p:txBody>
      </p:sp>
      <p:sp>
        <p:nvSpPr>
          <p:cNvPr id="12" name="Shape 10"/>
          <p:cNvSpPr/>
          <p:nvPr/>
        </p:nvSpPr>
        <p:spPr>
          <a:xfrm>
            <a:off x="6126480" y="1097280"/>
            <a:ext cx="2651760" cy="2560320"/>
          </a:xfrm>
          <a:prstGeom prst="roundRect">
            <a:avLst>
              <a:gd name="adj" fmla="val 5357"/>
            </a:avLst>
          </a:prstGeom>
          <a:solidFill>
            <a:srgbClr val="F0E8FF"/>
          </a:solidFill>
          <a:ln w="25400">
            <a:solidFill>
              <a:srgbClr val="8B6FC0"/>
            </a:solidFill>
            <a:prstDash val="solid"/>
          </a:ln>
        </p:spPr>
      </p:sp>
      <p:sp>
        <p:nvSpPr>
          <p:cNvPr id="13" name="Text 11"/>
          <p:cNvSpPr/>
          <p:nvPr/>
        </p:nvSpPr>
        <p:spPr>
          <a:xfrm>
            <a:off x="6217920" y="1207008"/>
            <a:ext cx="2468880" cy="228600"/>
          </a:xfrm>
          <a:prstGeom prst="rect">
            <a:avLst/>
          </a:prstGeom>
          <a:noFill/>
          <a:ln/>
        </p:spPr>
        <p:txBody>
          <a:bodyPr wrap="square" lIns="0" tIns="0" rIns="0" bIns="0" rtlCol="0" anchor="ctr"/>
          <a:lstStyle/>
          <a:p>
            <a:pPr algn="ctr" indent="0" marL="0">
              <a:buNone/>
            </a:pPr>
            <a:r>
              <a:rPr lang="en-US" sz="900" b="1" spc="150" kern="0" dirty="0">
                <a:solidFill>
                  <a:srgbClr val="8B6FC0"/>
                </a:solidFill>
                <a:latin typeface="Calibri" pitchFamily="34" charset="0"/>
                <a:ea typeface="Calibri" pitchFamily="34" charset="-122"/>
                <a:cs typeface="Calibri" pitchFamily="34" charset="-120"/>
              </a:rPr>
              <a:t>CHECK 3</a:t>
            </a:r>
            <a:endParaRPr lang="en-US" sz="900" dirty="0"/>
          </a:p>
        </p:txBody>
      </p:sp>
      <p:sp>
        <p:nvSpPr>
          <p:cNvPr id="14" name="Text 12"/>
          <p:cNvSpPr/>
          <p:nvPr/>
        </p:nvSpPr>
        <p:spPr>
          <a:xfrm>
            <a:off x="6217920" y="1463040"/>
            <a:ext cx="2468880" cy="594360"/>
          </a:xfrm>
          <a:prstGeom prst="rect">
            <a:avLst/>
          </a:prstGeom>
          <a:noFill/>
          <a:ln/>
        </p:spPr>
        <p:txBody>
          <a:bodyPr wrap="square" lIns="0" tIns="0" rIns="0" bIns="0" rtlCol="0" anchor="ctr"/>
          <a:lstStyle/>
          <a:p>
            <a:pPr algn="ctr" indent="0" marL="0">
              <a:buNone/>
            </a:pPr>
            <a:r>
              <a:rPr lang="en-US" sz="3600" b="1" dirty="0">
                <a:solidFill>
                  <a:srgbClr val="8B6FC0"/>
                </a:solidFill>
                <a:latin typeface="Cambria" pitchFamily="34" charset="0"/>
                <a:ea typeface="Cambria" pitchFamily="34" charset="-122"/>
                <a:cs typeface="Cambria" pitchFamily="34" charset="-120"/>
              </a:rPr>
              <a:t>EVIDENCE?</a:t>
            </a:r>
            <a:endParaRPr lang="en-US" sz="3600" dirty="0"/>
          </a:p>
        </p:txBody>
      </p:sp>
      <p:sp>
        <p:nvSpPr>
          <p:cNvPr id="15" name="Text 13"/>
          <p:cNvSpPr/>
          <p:nvPr/>
        </p:nvSpPr>
        <p:spPr>
          <a:xfrm>
            <a:off x="6263640" y="2148840"/>
            <a:ext cx="2377440" cy="1371600"/>
          </a:xfrm>
          <a:prstGeom prst="rect">
            <a:avLst/>
          </a:prstGeom>
          <a:noFill/>
          <a:ln/>
        </p:spPr>
        <p:txBody>
          <a:bodyPr wrap="square" lIns="0" tIns="0" rIns="0" bIns="0" rtlCol="0" anchor="ctr"/>
          <a:lstStyle/>
          <a:p>
            <a:pPr algn="ctr" indent="0" marL="0">
              <a:buNone/>
            </a:pPr>
            <a:r>
              <a:rPr lang="en-US" sz="1200" dirty="0">
                <a:solidFill>
                  <a:srgbClr val="3A4A6B"/>
                </a:solidFill>
                <a:latin typeface="Calibri" pitchFamily="34" charset="0"/>
                <a:ea typeface="Calibri" pitchFamily="34" charset="-122"/>
                <a:cs typeface="Calibri" pitchFamily="34" charset="-120"/>
              </a:rPr>
              <a:t>Does it include facts, documents, photographs, or sources?</a:t>
            </a:r>
            <a:endParaRPr lang="en-US" sz="1200" dirty="0"/>
          </a:p>
        </p:txBody>
      </p:sp>
      <p:sp>
        <p:nvSpPr>
          <p:cNvPr id="16" name="Shape 14"/>
          <p:cNvSpPr/>
          <p:nvPr/>
        </p:nvSpPr>
        <p:spPr>
          <a:xfrm>
            <a:off x="457200" y="3822192"/>
            <a:ext cx="8229600" cy="804672"/>
          </a:xfrm>
          <a:prstGeom prst="roundRect">
            <a:avLst>
              <a:gd name="adj" fmla="val 13636"/>
            </a:avLst>
          </a:prstGeom>
          <a:solidFill>
            <a:srgbClr val="0E1C42"/>
          </a:solidFill>
          <a:ln/>
          <a:effectLst>
            <a:outerShdw sx="100000" sy="100000" kx="0" ky="0" algn="bl" rotWithShape="0" blurRad="76200" dist="25400" dir="8100000">
              <a:srgbClr val="000000">
                <a:alpha val="15000"/>
              </a:srgbClr>
            </a:outerShdw>
          </a:effectLst>
        </p:spPr>
      </p:sp>
      <p:sp>
        <p:nvSpPr>
          <p:cNvPr id="17" name="Text 15"/>
          <p:cNvSpPr/>
          <p:nvPr/>
        </p:nvSpPr>
        <p:spPr>
          <a:xfrm>
            <a:off x="640080" y="3886200"/>
            <a:ext cx="7863840" cy="6766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THREE-CHECK TEST: Before trusting any source, ask — WHO wrote it? WHEN was it written? Does it provide EVIDENCE? If you cannot answer all three, set it aside.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Watch Me Check: Teacher Think-Aloud</a:t>
            </a:r>
            <a:endParaRPr lang="en-US" sz="2600" dirty="0"/>
          </a:p>
        </p:txBody>
      </p:sp>
      <p:sp>
        <p:nvSpPr>
          <p:cNvPr id="3" name="Shape 1"/>
          <p:cNvSpPr/>
          <p:nvPr/>
        </p:nvSpPr>
        <p:spPr>
          <a:xfrm>
            <a:off x="457200" y="749808"/>
            <a:ext cx="4114800" cy="2514600"/>
          </a:xfrm>
          <a:prstGeom prst="roundRect">
            <a:avLst>
              <a:gd name="adj" fmla="val 4364"/>
            </a:avLst>
          </a:prstGeom>
          <a:solidFill>
            <a:srgbClr val="E2E8F4"/>
          </a:solidFill>
          <a:ln w="19050">
            <a:solidFill>
              <a:srgbClr val="B0B8CC"/>
            </a:solidFill>
            <a:prstDash val="dash"/>
          </a:ln>
        </p:spPr>
      </p:sp>
      <p:sp>
        <p:nvSpPr>
          <p:cNvPr id="4" name="Text 2"/>
          <p:cNvSpPr/>
          <p:nvPr/>
        </p:nvSpPr>
        <p:spPr>
          <a:xfrm>
            <a:off x="457200" y="74980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594360" y="1024128"/>
            <a:ext cx="3840480" cy="2148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Smithsonian Museum website: 'Navigation Tools of the 1500s' by Dr. Maria Chen, 2022. Shows author byline, museum logo/header, article date, historical compass photographs.</a:t>
            </a:r>
            <a:endParaRPr lang="en-US" sz="1100" dirty="0"/>
          </a:p>
        </p:txBody>
      </p:sp>
      <p:sp>
        <p:nvSpPr>
          <p:cNvPr id="6" name="Shape 4"/>
          <p:cNvSpPr/>
          <p:nvPr/>
        </p:nvSpPr>
        <p:spPr>
          <a:xfrm>
            <a:off x="4754880" y="749808"/>
            <a:ext cx="3931920" cy="2514600"/>
          </a:xfrm>
          <a:prstGeom prst="roundRect">
            <a:avLst>
              <a:gd name="adj" fmla="val 4364"/>
            </a:avLst>
          </a:prstGeom>
          <a:solidFill>
            <a:srgbClr val="EAF8FD"/>
          </a:solidFill>
          <a:ln w="25400">
            <a:solidFill>
              <a:srgbClr val="55C8E8"/>
            </a:solidFill>
            <a:prstDash val="solid"/>
          </a:ln>
        </p:spPr>
      </p:sp>
      <p:sp>
        <p:nvSpPr>
          <p:cNvPr id="7" name="Text 5"/>
          <p:cNvSpPr/>
          <p:nvPr/>
        </p:nvSpPr>
        <p:spPr>
          <a:xfrm>
            <a:off x="4937760" y="859536"/>
            <a:ext cx="356616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MY THINK-ALOUD</a:t>
            </a:r>
            <a:endParaRPr lang="en-US" sz="900" dirty="0"/>
          </a:p>
        </p:txBody>
      </p:sp>
      <p:sp>
        <p:nvSpPr>
          <p:cNvPr id="8" name="Text 6"/>
          <p:cNvSpPr/>
          <p:nvPr/>
        </p:nvSpPr>
        <p:spPr>
          <a:xfrm>
            <a:off x="4937760" y="1133856"/>
            <a:ext cx="3566160" cy="19202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0E1C42"/>
                </a:solidFill>
                <a:latin typeface="Calibri" pitchFamily="34" charset="0"/>
                <a:ea typeface="Calibri" pitchFamily="34" charset="-122"/>
                <a:cs typeface="Calibri" pitchFamily="34" charset="-120"/>
              </a:rPr>
              <a:t>WHO: I see 'by Dr. Maria Chen' — a named expert.  CHECK.</a:t>
            </a:r>
            <a:endParaRPr lang="en-US" sz="1200" dirty="0"/>
          </a:p>
          <a:p>
            <a:pPr marL="342900" indent="-342900">
              <a:spcAft>
                <a:spcPts val="1000"/>
              </a:spcAft>
              <a:buSzPct val="100000"/>
              <a:buChar char="•"/>
            </a:pPr>
            <a:r>
              <a:rPr lang="en-US" sz="1200" dirty="0">
                <a:solidFill>
                  <a:srgbClr val="0E1C42"/>
                </a:solidFill>
                <a:latin typeface="Calibri" pitchFamily="34" charset="0"/>
                <a:ea typeface="Calibri" pitchFamily="34" charset="-122"/>
                <a:cs typeface="Calibri" pitchFamily="34" charset="-120"/>
              </a:rPr>
              <a:t>WHEN: 'Updated 2022' — that is recent.  CHECK.</a:t>
            </a:r>
            <a:endParaRPr lang="en-US" sz="1200" dirty="0"/>
          </a:p>
          <a:p>
            <a:pPr marL="342900" indent="-342900">
              <a:spcAft>
                <a:spcPts val="1000"/>
              </a:spcAft>
              <a:buSzPct val="100000"/>
              <a:buChar char="•"/>
            </a:pPr>
            <a:r>
              <a:rPr lang="en-US" sz="1200" dirty="0">
                <a:solidFill>
                  <a:srgbClr val="0E1C42"/>
                </a:solidFill>
                <a:latin typeface="Calibri" pitchFamily="34" charset="0"/>
                <a:ea typeface="Calibri" pitchFamily="34" charset="-122"/>
                <a:cs typeface="Calibri" pitchFamily="34" charset="-120"/>
              </a:rPr>
              <a:t>EVIDENCE: 'Historical photographs and documents.'  CHECK.</a:t>
            </a:r>
            <a:endParaRPr lang="en-US" sz="1200" dirty="0"/>
          </a:p>
          <a:p>
            <a:pPr indent="0" marL="0">
              <a:buNone/>
            </a:pPr>
            <a:r>
              <a:rPr lang="en-US" sz="1300" b="1" dirty="0">
                <a:solidFill>
                  <a:srgbClr val="34B76F"/>
                </a:solidFill>
                <a:latin typeface="Calibri" pitchFamily="34" charset="0"/>
                <a:ea typeface="Calibri" pitchFamily="34" charset="-122"/>
                <a:cs typeface="Calibri" pitchFamily="34" charset="-120"/>
              </a:rPr>
              <a:t>All three pass. This source is RELIABLE.</a:t>
            </a:r>
            <a:endParaRPr lang="en-US" sz="1200" dirty="0"/>
          </a:p>
        </p:txBody>
      </p:sp>
      <p:sp>
        <p:nvSpPr>
          <p:cNvPr id="9" name="Shape 7"/>
          <p:cNvSpPr/>
          <p:nvPr/>
        </p:nvSpPr>
        <p:spPr>
          <a:xfrm>
            <a:off x="457200" y="3401568"/>
            <a:ext cx="4114800" cy="1325880"/>
          </a:xfrm>
          <a:prstGeom prst="roundRect">
            <a:avLst>
              <a:gd name="adj" fmla="val 8276"/>
            </a:avLst>
          </a:prstGeom>
          <a:solidFill>
            <a:srgbClr val="FFF3DC"/>
          </a:solidFill>
          <a:ln w="19050">
            <a:solidFill>
              <a:srgbClr val="F5E6C8"/>
            </a:solidFill>
            <a:prstDash val="solid"/>
          </a:ln>
        </p:spPr>
      </p:sp>
      <p:sp>
        <p:nvSpPr>
          <p:cNvPr id="10" name="Text 8"/>
          <p:cNvSpPr/>
          <p:nvPr/>
        </p:nvSpPr>
        <p:spPr>
          <a:xfrm>
            <a:off x="594360" y="3456432"/>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3657600"/>
            <a:ext cx="384048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find WHO by looking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check WHEN by looking for..."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"EVIDENCE looks like..."</a:t>
            </a:r>
            <a:endParaRPr lang="en-US" sz="1200" dirty="0"/>
          </a:p>
        </p:txBody>
      </p:sp>
      <p:sp>
        <p:nvSpPr>
          <p:cNvPr id="12" name="Shape 10"/>
          <p:cNvSpPr/>
          <p:nvPr/>
        </p:nvSpPr>
        <p:spPr>
          <a:xfrm>
            <a:off x="4754880" y="3401568"/>
            <a:ext cx="3931920" cy="1325880"/>
          </a:xfrm>
          <a:prstGeom prst="roundRect">
            <a:avLst>
              <a:gd name="adj" fmla="val 10345"/>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4937760" y="3493008"/>
            <a:ext cx="3566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4937760" y="3749040"/>
            <a:ext cx="3566160" cy="8869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if the author has a name but the info is from 1955?</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recent source always more reliable?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check first? Why?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Apply the Three-Check Test</a:t>
            </a:r>
            <a:endParaRPr lang="en-US" sz="2600" dirty="0"/>
          </a:p>
        </p:txBody>
      </p:sp>
      <p:sp>
        <p:nvSpPr>
          <p:cNvPr id="3" name="Shape 1"/>
          <p:cNvSpPr/>
          <p:nvPr/>
        </p:nvSpPr>
        <p:spPr>
          <a:xfrm>
            <a:off x="457200" y="749808"/>
            <a:ext cx="3840480" cy="2651760"/>
          </a:xfrm>
          <a:prstGeom prst="roundRect">
            <a:avLst>
              <a:gd name="adj" fmla="val 4138"/>
            </a:avLst>
          </a:prstGeom>
          <a:solidFill>
            <a:srgbClr val="EAF8FD"/>
          </a:solidFill>
          <a:ln w="25400">
            <a:solidFill>
              <a:srgbClr val="55C8E8"/>
            </a:solidFill>
            <a:prstDash val="solid"/>
          </a:ln>
        </p:spPr>
      </p:sp>
      <p:sp>
        <p:nvSpPr>
          <p:cNvPr id="4" name="Text 2"/>
          <p:cNvSpPr/>
          <p:nvPr/>
        </p:nvSpPr>
        <p:spPr>
          <a:xfrm>
            <a:off x="640080" y="859536"/>
            <a:ext cx="347472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WE TRY TOGETHER</a:t>
            </a:r>
            <a:endParaRPr lang="en-US" sz="900" dirty="0"/>
          </a:p>
        </p:txBody>
      </p:sp>
      <p:sp>
        <p:nvSpPr>
          <p:cNvPr id="5" name="Text 3"/>
          <p:cNvSpPr/>
          <p:nvPr/>
        </p:nvSpPr>
        <p:spPr>
          <a:xfrm>
            <a:off x="640080" y="1133856"/>
            <a:ext cx="3474720" cy="14630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National Geographic</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"How Compasses Changed Exploration"</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Updated 2023</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Written by the National Geographic editorial team.</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Includes maps, photographs, and citations.</a:t>
            </a:r>
            <a:endParaRPr lang="en-US" sz="1200" dirty="0"/>
          </a:p>
        </p:txBody>
      </p:sp>
      <p:sp>
        <p:nvSpPr>
          <p:cNvPr id="6" name="Shape 4"/>
          <p:cNvSpPr/>
          <p:nvPr/>
        </p:nvSpPr>
        <p:spPr>
          <a:xfrm>
            <a:off x="640080" y="2670048"/>
            <a:ext cx="3474720" cy="566928"/>
          </a:xfrm>
          <a:prstGeom prst="roundRect">
            <a:avLst>
              <a:gd name="adj" fmla="val 12903"/>
            </a:avLst>
          </a:prstGeom>
          <a:solidFill>
            <a:srgbClr val="E3F8ED"/>
          </a:solidFill>
          <a:ln w="19050">
            <a:solidFill>
              <a:srgbClr val="34B76F"/>
            </a:solidFill>
            <a:prstDash val="solid"/>
          </a:ln>
        </p:spPr>
      </p:sp>
      <p:sp>
        <p:nvSpPr>
          <p:cNvPr id="7" name="Text 5"/>
          <p:cNvSpPr/>
          <p:nvPr/>
        </p:nvSpPr>
        <p:spPr>
          <a:xfrm>
            <a:off x="822960" y="2715768"/>
            <a:ext cx="3108960" cy="47548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WHO: ___   WHEN: ___   EVIDENCE: ___</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Verdict: _______________</a:t>
            </a:r>
            <a:endParaRPr lang="en-US" sz="1100" dirty="0"/>
          </a:p>
        </p:txBody>
      </p:sp>
      <p:sp>
        <p:nvSpPr>
          <p:cNvPr id="8" name="Shape 6"/>
          <p:cNvSpPr/>
          <p:nvPr/>
        </p:nvSpPr>
        <p:spPr>
          <a:xfrm>
            <a:off x="4846320" y="749808"/>
            <a:ext cx="3840480" cy="2651760"/>
          </a:xfrm>
          <a:prstGeom prst="roundRect">
            <a:avLst>
              <a:gd name="adj" fmla="val 4138"/>
            </a:avLst>
          </a:prstGeom>
          <a:solidFill>
            <a:srgbClr val="FFF3DC"/>
          </a:solidFill>
          <a:ln w="25400">
            <a:solidFill>
              <a:srgbClr val="D4943A"/>
            </a:solidFill>
            <a:prstDash val="solid"/>
          </a:ln>
        </p:spPr>
      </p:sp>
      <p:sp>
        <p:nvSpPr>
          <p:cNvPr id="9" name="Text 7"/>
          <p:cNvSpPr/>
          <p:nvPr/>
        </p:nvSpPr>
        <p:spPr>
          <a:xfrm>
            <a:off x="5029200" y="859536"/>
            <a:ext cx="3474720" cy="228600"/>
          </a:xfrm>
          <a:prstGeom prst="rect">
            <a:avLst/>
          </a:prstGeom>
          <a:noFill/>
          <a:ln/>
        </p:spPr>
        <p:txBody>
          <a:bodyPr wrap="square" lIns="0" tIns="0" rIns="0" bIns="0" rtlCol="0" anchor="ctr"/>
          <a:lstStyle/>
          <a:p>
            <a:pPr algn="ctr" indent="0" marL="0">
              <a:buNone/>
            </a:pPr>
            <a:r>
              <a:rPr lang="en-US" sz="900" b="1" spc="150" kern="0" dirty="0">
                <a:solidFill>
                  <a:srgbClr val="D4943A"/>
                </a:solidFill>
                <a:latin typeface="Calibri" pitchFamily="34" charset="0"/>
                <a:ea typeface="Calibri" pitchFamily="34" charset="-122"/>
                <a:cs typeface="Calibri" pitchFamily="34" charset="-120"/>
              </a:rPr>
              <a:t>YOUR TURN</a:t>
            </a:r>
            <a:endParaRPr lang="en-US" sz="900" dirty="0"/>
          </a:p>
        </p:txBody>
      </p:sp>
      <p:sp>
        <p:nvSpPr>
          <p:cNvPr id="10" name="Text 8"/>
          <p:cNvSpPr/>
          <p:nvPr/>
        </p:nvSpPr>
        <p:spPr>
          <a:xfrm>
            <a:off x="5029200" y="1133856"/>
            <a:ext cx="3474720" cy="1463040"/>
          </a:xfrm>
          <a:prstGeom prst="rect">
            <a:avLst/>
          </a:prstGeom>
          <a:noFill/>
          <a:ln/>
        </p:spPr>
        <p:txBody>
          <a:bodyPr wrap="square" lIns="0" tIns="0" rIns="0" bIns="0" rtlCol="0" anchor="t"/>
          <a:lstStyle/>
          <a:p>
            <a:pPr indent="0" marL="0">
              <a:buNone/>
            </a:pPr>
            <a:r>
              <a:rPr lang="en-US" sz="1200" dirty="0">
                <a:solidFill>
                  <a:srgbClr val="6A2A2A"/>
                </a:solidFill>
                <a:latin typeface="Calibri" pitchFamily="34" charset="0"/>
                <a:ea typeface="Calibri" pitchFamily="34" charset="-122"/>
                <a:cs typeface="Calibri" pitchFamily="34" charset="-120"/>
              </a:rPr>
              <a:t>RandomUser99 on a forum</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"I think explorers used magic to navigate. Trust me."</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No date listed.</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No sources or evidence cited.</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Anonymous — no real author.</a:t>
            </a:r>
            <a:endParaRPr lang="en-US" sz="1200" dirty="0"/>
          </a:p>
        </p:txBody>
      </p:sp>
      <p:sp>
        <p:nvSpPr>
          <p:cNvPr id="11" name="Shape 9"/>
          <p:cNvSpPr/>
          <p:nvPr/>
        </p:nvSpPr>
        <p:spPr>
          <a:xfrm>
            <a:off x="5029200" y="2670048"/>
            <a:ext cx="3474720" cy="566928"/>
          </a:xfrm>
          <a:prstGeom prst="roundRect">
            <a:avLst>
              <a:gd name="adj" fmla="val 12903"/>
            </a:avLst>
          </a:prstGeom>
          <a:solidFill>
            <a:srgbClr val="FFF0F0"/>
          </a:solidFill>
          <a:ln w="19050">
            <a:solidFill>
              <a:srgbClr val="E8636B"/>
            </a:solidFill>
            <a:prstDash val="solid"/>
          </a:ln>
        </p:spPr>
      </p:sp>
      <p:sp>
        <p:nvSpPr>
          <p:cNvPr id="12" name="Text 10"/>
          <p:cNvSpPr/>
          <p:nvPr/>
        </p:nvSpPr>
        <p:spPr>
          <a:xfrm>
            <a:off x="5212080" y="2715768"/>
            <a:ext cx="3108960" cy="475488"/>
          </a:xfrm>
          <a:prstGeom prst="rect">
            <a:avLst/>
          </a:prstGeom>
          <a:noFill/>
          <a:ln/>
        </p:spPr>
        <p:txBody>
          <a:bodyPr wrap="square" lIns="0" tIns="0" rIns="0" bIns="0" rtlCol="0" anchor="ctr"/>
          <a:lstStyle/>
          <a:p>
            <a:pPr indent="0" marL="0">
              <a:buNone/>
            </a:pPr>
            <a:r>
              <a:rPr lang="en-US" sz="1100" dirty="0">
                <a:solidFill>
                  <a:srgbClr val="6A2A2A"/>
                </a:solidFill>
                <a:latin typeface="Calibri" pitchFamily="34" charset="0"/>
                <a:ea typeface="Calibri" pitchFamily="34" charset="-122"/>
                <a:cs typeface="Calibri" pitchFamily="34" charset="-120"/>
              </a:rPr>
              <a:t>WHO: ___   WHEN: ___   EVIDENCE: ___</a:t>
            </a:r>
            <a:endParaRPr lang="en-US" sz="1100" dirty="0"/>
          </a:p>
          <a:p>
            <a:pPr indent="0" marL="0">
              <a:buNone/>
            </a:pPr>
            <a:r>
              <a:rPr lang="en-US" sz="1100" dirty="0">
                <a:solidFill>
                  <a:srgbClr val="6A2A2A"/>
                </a:solidFill>
                <a:latin typeface="Calibri" pitchFamily="34" charset="0"/>
                <a:ea typeface="Calibri" pitchFamily="34" charset="-122"/>
                <a:cs typeface="Calibri" pitchFamily="34" charset="-120"/>
              </a:rPr>
              <a:t>Verdict: _______________</a:t>
            </a:r>
            <a:endParaRPr lang="en-US" sz="1100" dirty="0"/>
          </a:p>
        </p:txBody>
      </p:sp>
      <p:sp>
        <p:nvSpPr>
          <p:cNvPr id="13" name="Shape 11"/>
          <p:cNvSpPr/>
          <p:nvPr/>
        </p:nvSpPr>
        <p:spPr>
          <a:xfrm>
            <a:off x="457200" y="3520440"/>
            <a:ext cx="4389120" cy="1188720"/>
          </a:xfrm>
          <a:prstGeom prst="roundRect">
            <a:avLst>
              <a:gd name="adj" fmla="val 9231"/>
            </a:avLst>
          </a:prstGeom>
          <a:solidFill>
            <a:srgbClr val="FFF3DC"/>
          </a:solidFill>
          <a:ln w="19050">
            <a:solidFill>
              <a:srgbClr val="F5E6C8"/>
            </a:solidFill>
            <a:prstDash val="solid"/>
          </a:ln>
        </p:spPr>
      </p:sp>
      <p:sp>
        <p:nvSpPr>
          <p:cNvPr id="14" name="Text 12"/>
          <p:cNvSpPr/>
          <p:nvPr/>
        </p:nvSpPr>
        <p:spPr>
          <a:xfrm>
            <a:off x="594360" y="3575304"/>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94360" y="3776472"/>
            <a:ext cx="411480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"National Geographic passes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"RandomUser99 fails because..."</a:t>
            </a:r>
            <a:endParaRPr lang="en-US" sz="1200" dirty="0"/>
          </a:p>
        </p:txBody>
      </p:sp>
      <p:sp>
        <p:nvSpPr>
          <p:cNvPr id="16" name="Shape 14"/>
          <p:cNvSpPr/>
          <p:nvPr/>
        </p:nvSpPr>
        <p:spPr>
          <a:xfrm>
            <a:off x="5029200" y="3520440"/>
            <a:ext cx="356616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212080" y="3611880"/>
            <a:ext cx="32004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212080" y="3867912"/>
            <a:ext cx="320040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if National Geo had no photos — still reliable?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'trust me' count as evidence? Why not?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Then &amp; Now: How Curators Gather Information</a:t>
            </a:r>
            <a:endParaRPr lang="en-US" sz="2600" dirty="0"/>
          </a:p>
        </p:txBody>
      </p:sp>
      <p:sp>
        <p:nvSpPr>
          <p:cNvPr id="3" name="Shape 1"/>
          <p:cNvSpPr/>
          <p:nvPr/>
        </p:nvSpPr>
        <p:spPr>
          <a:xfrm>
            <a:off x="457200" y="777240"/>
            <a:ext cx="3840480" cy="3200400"/>
          </a:xfrm>
          <a:prstGeom prst="roundRect">
            <a:avLst>
              <a:gd name="adj" fmla="val 3429"/>
            </a:avLst>
          </a:prstGeom>
          <a:solidFill>
            <a:srgbClr val="FFF8F0"/>
          </a:solidFill>
          <a:ln w="25400">
            <a:solidFill>
              <a:srgbClr val="D4943A"/>
            </a:solidFill>
            <a:prstDash val="solid"/>
          </a:ln>
        </p:spPr>
      </p:sp>
      <p:sp>
        <p:nvSpPr>
          <p:cNvPr id="4" name="Text 2"/>
          <p:cNvSpPr/>
          <p:nvPr/>
        </p:nvSpPr>
        <p:spPr>
          <a:xfrm>
            <a:off x="640080" y="886968"/>
            <a:ext cx="3474720" cy="256032"/>
          </a:xfrm>
          <a:prstGeom prst="rect">
            <a:avLst/>
          </a:prstGeom>
          <a:noFill/>
          <a:ln/>
        </p:spPr>
        <p:txBody>
          <a:bodyPr wrap="square" lIns="0" tIns="0" rIns="0" bIns="0" rtlCol="0" anchor="ctr"/>
          <a:lstStyle/>
          <a:p>
            <a:pPr algn="ctr" indent="0" marL="0">
              <a:buNone/>
            </a:pPr>
            <a:r>
              <a:rPr lang="en-US" sz="1200" b="1" spc="100" kern="0" dirty="0">
                <a:solidFill>
                  <a:srgbClr val="D4943A"/>
                </a:solidFill>
                <a:latin typeface="Calibri" pitchFamily="34" charset="0"/>
                <a:ea typeface="Calibri" pitchFamily="34" charset="-122"/>
                <a:cs typeface="Calibri" pitchFamily="34" charset="-120"/>
              </a:rPr>
              <a:t>THEN — The Past</a:t>
            </a:r>
            <a:endParaRPr lang="en-US" sz="1200" dirty="0"/>
          </a:p>
        </p:txBody>
      </p:sp>
      <p:sp>
        <p:nvSpPr>
          <p:cNvPr id="5" name="Shape 3"/>
          <p:cNvSpPr/>
          <p:nvPr/>
        </p:nvSpPr>
        <p:spPr>
          <a:xfrm>
            <a:off x="640080" y="1234440"/>
            <a:ext cx="3474720" cy="1737360"/>
          </a:xfrm>
          <a:prstGeom prst="roundRect">
            <a:avLst>
              <a:gd name="adj" fmla="val 6316"/>
            </a:avLst>
          </a:prstGeom>
          <a:solidFill>
            <a:srgbClr val="E2E8F4"/>
          </a:solidFill>
          <a:ln w="19050">
            <a:solidFill>
              <a:srgbClr val="B0B8CC"/>
            </a:solidFill>
            <a:prstDash val="dash"/>
          </a:ln>
        </p:spPr>
      </p:sp>
      <p:sp>
        <p:nvSpPr>
          <p:cNvPr id="6" name="Text 4"/>
          <p:cNvSpPr/>
          <p:nvPr/>
        </p:nvSpPr>
        <p:spPr>
          <a:xfrm>
            <a:off x="640080" y="123444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777240" y="1508760"/>
            <a:ext cx="320040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illustration: a museum curator in a library surrounded by towering bookshelves, card catalogue drawers, handwritten letters. Warm sepia tones. 1940s-1950s era.</a:t>
            </a:r>
            <a:endParaRPr lang="en-US" sz="1100" dirty="0"/>
          </a:p>
        </p:txBody>
      </p:sp>
      <p:sp>
        <p:nvSpPr>
          <p:cNvPr id="8" name="Text 6"/>
          <p:cNvSpPr/>
          <p:nvPr/>
        </p:nvSpPr>
        <p:spPr>
          <a:xfrm>
            <a:off x="640080" y="3017520"/>
            <a:ext cx="3474720" cy="502920"/>
          </a:xfrm>
          <a:prstGeom prst="rect">
            <a:avLst/>
          </a:prstGeom>
          <a:noFill/>
          <a:ln/>
        </p:spPr>
        <p:txBody>
          <a:bodyPr wrap="square" lIns="0" tIns="0" rIns="0" bIns="0" rtlCol="0" anchor="ctr"/>
          <a:lstStyle/>
          <a:p>
            <a:pPr algn="ctr" indent="0" marL="0">
              <a:buNone/>
            </a:pPr>
            <a:r>
              <a:rPr lang="en-US" sz="1000" i="1" dirty="0">
                <a:solidFill>
                  <a:srgbClr val="7A6A5A"/>
                </a:solidFill>
                <a:latin typeface="Calibri" pitchFamily="34" charset="0"/>
                <a:ea typeface="Calibri" pitchFamily="34" charset="-122"/>
                <a:cs typeface="Calibri" pitchFamily="34" charset="-120"/>
              </a:rPr>
              <a:t>Visited libraries  ·  Wrote letters to other museums  ·  Waited weeks for replies</a:t>
            </a:r>
            <a:endParaRPr lang="en-US" sz="1000" dirty="0"/>
          </a:p>
        </p:txBody>
      </p:sp>
      <p:sp>
        <p:nvSpPr>
          <p:cNvPr id="9" name="Shape 7"/>
          <p:cNvSpPr/>
          <p:nvPr/>
        </p:nvSpPr>
        <p:spPr>
          <a:xfrm>
            <a:off x="4846320" y="777240"/>
            <a:ext cx="3840480" cy="3200400"/>
          </a:xfrm>
          <a:prstGeom prst="roundRect">
            <a:avLst>
              <a:gd name="adj" fmla="val 3429"/>
            </a:avLst>
          </a:prstGeom>
          <a:solidFill>
            <a:srgbClr val="EAF8FD"/>
          </a:solidFill>
          <a:ln w="25400">
            <a:solidFill>
              <a:srgbClr val="55C8E8"/>
            </a:solidFill>
            <a:prstDash val="solid"/>
          </a:ln>
        </p:spPr>
      </p:sp>
      <p:sp>
        <p:nvSpPr>
          <p:cNvPr id="10" name="Text 8"/>
          <p:cNvSpPr/>
          <p:nvPr/>
        </p:nvSpPr>
        <p:spPr>
          <a:xfrm>
            <a:off x="5029200" y="886968"/>
            <a:ext cx="3474720" cy="256032"/>
          </a:xfrm>
          <a:prstGeom prst="rect">
            <a:avLst/>
          </a:prstGeom>
          <a:noFill/>
          <a:ln/>
        </p:spPr>
        <p:txBody>
          <a:bodyPr wrap="square" lIns="0" tIns="0" rIns="0" bIns="0" rtlCol="0" anchor="ctr"/>
          <a:lstStyle/>
          <a:p>
            <a:pPr algn="ctr" indent="0" marL="0">
              <a:buNone/>
            </a:pPr>
            <a:r>
              <a:rPr lang="en-US" sz="1200" b="1" spc="100" kern="0" dirty="0">
                <a:solidFill>
                  <a:srgbClr val="55C8E8"/>
                </a:solidFill>
                <a:latin typeface="Calibri" pitchFamily="34" charset="0"/>
                <a:ea typeface="Calibri" pitchFamily="34" charset="-122"/>
                <a:cs typeface="Calibri" pitchFamily="34" charset="-120"/>
              </a:rPr>
              <a:t>NOW — The Present</a:t>
            </a:r>
            <a:endParaRPr lang="en-US" sz="1200" dirty="0"/>
          </a:p>
        </p:txBody>
      </p:sp>
      <p:sp>
        <p:nvSpPr>
          <p:cNvPr id="11" name="Shape 9"/>
          <p:cNvSpPr/>
          <p:nvPr/>
        </p:nvSpPr>
        <p:spPr>
          <a:xfrm>
            <a:off x="5029200" y="1234440"/>
            <a:ext cx="3474720" cy="1737360"/>
          </a:xfrm>
          <a:prstGeom prst="roundRect">
            <a:avLst>
              <a:gd name="adj" fmla="val 6316"/>
            </a:avLst>
          </a:prstGeom>
          <a:solidFill>
            <a:srgbClr val="E2E8F4"/>
          </a:solidFill>
          <a:ln w="19050">
            <a:solidFill>
              <a:srgbClr val="B0B8CC"/>
            </a:solidFill>
            <a:prstDash val="dash"/>
          </a:ln>
        </p:spPr>
      </p:sp>
      <p:sp>
        <p:nvSpPr>
          <p:cNvPr id="12" name="Text 10"/>
          <p:cNvSpPr/>
          <p:nvPr/>
        </p:nvSpPr>
        <p:spPr>
          <a:xfrm>
            <a:off x="5029200" y="123444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5166360" y="1508760"/>
            <a:ext cx="320040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image: a student or curator at a computer, screen showing museum database search results and digital archives. Bright contemporary setting.</a:t>
            </a:r>
            <a:endParaRPr lang="en-US" sz="1100" dirty="0"/>
          </a:p>
        </p:txBody>
      </p:sp>
      <p:sp>
        <p:nvSpPr>
          <p:cNvPr id="14" name="Text 12"/>
          <p:cNvSpPr/>
          <p:nvPr/>
        </p:nvSpPr>
        <p:spPr>
          <a:xfrm>
            <a:off x="5029200" y="3017520"/>
            <a:ext cx="3474720" cy="502920"/>
          </a:xfrm>
          <a:prstGeom prst="rect">
            <a:avLst/>
          </a:prstGeom>
          <a:noFill/>
          <a:ln/>
        </p:spPr>
        <p:txBody>
          <a:bodyPr wrap="square" lIns="0" tIns="0" rIns="0" bIns="0" rtlCol="0" anchor="ctr"/>
          <a:lstStyle/>
          <a:p>
            <a:pPr algn="ctr" indent="0" marL="0">
              <a:buNone/>
            </a:pPr>
            <a:r>
              <a:rPr lang="en-US" sz="1000" i="1" dirty="0">
                <a:solidFill>
                  <a:srgbClr val="3A4A6B"/>
                </a:solidFill>
                <a:latin typeface="Calibri" pitchFamily="34" charset="0"/>
                <a:ea typeface="Calibri" pitchFamily="34" charset="-122"/>
                <a:cs typeface="Calibri" pitchFamily="34" charset="-120"/>
              </a:rPr>
              <a:t>Search online in seconds  ·  Access worldwide databases  ·  Find thousands of sources instantly</a:t>
            </a:r>
            <a:endParaRPr lang="en-US" sz="1000" dirty="0"/>
          </a:p>
        </p:txBody>
      </p:sp>
      <p:sp>
        <p:nvSpPr>
          <p:cNvPr id="15" name="Shape 13"/>
          <p:cNvSpPr/>
          <p:nvPr/>
        </p:nvSpPr>
        <p:spPr>
          <a:xfrm>
            <a:off x="457200" y="4096512"/>
            <a:ext cx="8229600" cy="868680"/>
          </a:xfrm>
          <a:prstGeom prst="roundRect">
            <a:avLst>
              <a:gd name="adj" fmla="val 12632"/>
            </a:avLst>
          </a:prstGeom>
          <a:solidFill>
            <a:srgbClr val="FFF3DC"/>
          </a:solidFill>
          <a:ln w="19050">
            <a:solidFill>
              <a:srgbClr val="F5E6C8"/>
            </a:solidFill>
            <a:prstDash val="solid"/>
          </a:ln>
        </p:spPr>
      </p:sp>
      <p:sp>
        <p:nvSpPr>
          <p:cNvPr id="16" name="Text 14"/>
          <p:cNvSpPr/>
          <p:nvPr/>
        </p:nvSpPr>
        <p:spPr>
          <a:xfrm>
            <a:off x="594360" y="4151376"/>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94360" y="4352544"/>
            <a:ext cx="795528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stayed the same about how curators check information?"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"Speed changed, but ___ did not change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411480"/>
            <a:ext cx="8229600" cy="292608"/>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RETRIEVAL CHALLENGE</a:t>
            </a:r>
            <a:endParaRPr lang="en-US" sz="1000" dirty="0"/>
          </a:p>
        </p:txBody>
      </p:sp>
      <p:sp>
        <p:nvSpPr>
          <p:cNvPr id="5" name="Text 3"/>
          <p:cNvSpPr/>
          <p:nvPr/>
        </p:nvSpPr>
        <p:spPr>
          <a:xfrm>
            <a:off x="914400" y="914400"/>
            <a:ext cx="7315200" cy="118872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Cover your screen.</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Name all three checks from memory.</a:t>
            </a:r>
            <a:endParaRPr lang="en-US" sz="3600" dirty="0"/>
          </a:p>
        </p:txBody>
      </p:sp>
      <p:sp>
        <p:nvSpPr>
          <p:cNvPr id="6" name="Shape 4"/>
          <p:cNvSpPr/>
          <p:nvPr/>
        </p:nvSpPr>
        <p:spPr>
          <a:xfrm>
            <a:off x="1280160" y="2331720"/>
            <a:ext cx="2103120" cy="1097280"/>
          </a:xfrm>
          <a:prstGeom prst="roundRect">
            <a:avLst>
              <a:gd name="adj" fmla="val 10000"/>
            </a:avLst>
          </a:prstGeom>
          <a:solidFill>
            <a:srgbClr val="1A2D5A"/>
          </a:solidFill>
          <a:ln w="19050">
            <a:solidFill>
              <a:srgbClr val="3A5080"/>
            </a:solidFill>
            <a:prstDash val="solid"/>
          </a:ln>
        </p:spPr>
      </p:sp>
      <p:sp>
        <p:nvSpPr>
          <p:cNvPr id="7" name="Text 5"/>
          <p:cNvSpPr/>
          <p:nvPr/>
        </p:nvSpPr>
        <p:spPr>
          <a:xfrm>
            <a:off x="1280160" y="2404872"/>
            <a:ext cx="2103120" cy="320040"/>
          </a:xfrm>
          <a:prstGeom prst="rect">
            <a:avLst/>
          </a:prstGeom>
          <a:noFill/>
          <a:ln/>
        </p:spPr>
        <p:txBody>
          <a:bodyPr wrap="square" lIns="0" tIns="0" rIns="0" bIns="0" rtlCol="0" anchor="ctr"/>
          <a:lstStyle/>
          <a:p>
            <a:pPr algn="ctr" indent="0" marL="0">
              <a:buNone/>
            </a:pPr>
            <a:r>
              <a:rPr lang="en-US" sz="1600" b="1" dirty="0">
                <a:solidFill>
                  <a:srgbClr val="55C8E8"/>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280160" y="2743200"/>
            <a:ext cx="2103120" cy="502920"/>
          </a:xfrm>
          <a:prstGeom prst="rect">
            <a:avLst/>
          </a:prstGeom>
          <a:noFill/>
          <a:ln/>
        </p:spPr>
        <p:txBody>
          <a:bodyPr wrap="square" lIns="0" tIns="0" rIns="0" bIns="0" rtlCol="0" anchor="ctr"/>
          <a:lstStyle/>
          <a:p>
            <a:pPr algn="ctr" indent="0" marL="0">
              <a:buNone/>
            </a:pPr>
            <a:r>
              <a:rPr lang="en-US" sz="2200" b="1" dirty="0">
                <a:solidFill>
                  <a:srgbClr val="7A88A8"/>
                </a:solidFill>
                <a:latin typeface="Cambria" pitchFamily="34" charset="0"/>
                <a:ea typeface="Cambria" pitchFamily="34" charset="-122"/>
                <a:cs typeface="Cambria" pitchFamily="34" charset="-120"/>
              </a:rPr>
              <a:t>WHO?</a:t>
            </a:r>
            <a:endParaRPr lang="en-US" sz="2200" dirty="0"/>
          </a:p>
        </p:txBody>
      </p:sp>
      <p:sp>
        <p:nvSpPr>
          <p:cNvPr id="9" name="Shape 7"/>
          <p:cNvSpPr/>
          <p:nvPr/>
        </p:nvSpPr>
        <p:spPr>
          <a:xfrm>
            <a:off x="3657600" y="2331720"/>
            <a:ext cx="2103120" cy="1097280"/>
          </a:xfrm>
          <a:prstGeom prst="roundRect">
            <a:avLst>
              <a:gd name="adj" fmla="val 10000"/>
            </a:avLst>
          </a:prstGeom>
          <a:solidFill>
            <a:srgbClr val="1A2D5A"/>
          </a:solidFill>
          <a:ln w="19050">
            <a:solidFill>
              <a:srgbClr val="3A5080"/>
            </a:solidFill>
            <a:prstDash val="solid"/>
          </a:ln>
        </p:spPr>
      </p:sp>
      <p:sp>
        <p:nvSpPr>
          <p:cNvPr id="10" name="Text 8"/>
          <p:cNvSpPr/>
          <p:nvPr/>
        </p:nvSpPr>
        <p:spPr>
          <a:xfrm>
            <a:off x="3657600" y="2404872"/>
            <a:ext cx="2103120" cy="320040"/>
          </a:xfrm>
          <a:prstGeom prst="rect">
            <a:avLst/>
          </a:prstGeom>
          <a:noFill/>
          <a:ln/>
        </p:spPr>
        <p:txBody>
          <a:bodyPr wrap="square" lIns="0" tIns="0" rIns="0" bIns="0" rtlCol="0" anchor="ctr"/>
          <a:lstStyle/>
          <a:p>
            <a:pPr algn="ctr" indent="0" marL="0">
              <a:buNone/>
            </a:pPr>
            <a:r>
              <a:rPr lang="en-US" sz="1600" b="1" dirty="0">
                <a:solidFill>
                  <a:srgbClr val="55C8E8"/>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3657600" y="2743200"/>
            <a:ext cx="2103120" cy="502920"/>
          </a:xfrm>
          <a:prstGeom prst="rect">
            <a:avLst/>
          </a:prstGeom>
          <a:noFill/>
          <a:ln/>
        </p:spPr>
        <p:txBody>
          <a:bodyPr wrap="square" lIns="0" tIns="0" rIns="0" bIns="0" rtlCol="0" anchor="ctr"/>
          <a:lstStyle/>
          <a:p>
            <a:pPr algn="ctr" indent="0" marL="0">
              <a:buNone/>
            </a:pPr>
            <a:r>
              <a:rPr lang="en-US" sz="2200" b="1" dirty="0">
                <a:solidFill>
                  <a:srgbClr val="7A88A8"/>
                </a:solidFill>
                <a:latin typeface="Cambria" pitchFamily="34" charset="0"/>
                <a:ea typeface="Cambria" pitchFamily="34" charset="-122"/>
                <a:cs typeface="Cambria" pitchFamily="34" charset="-120"/>
              </a:rPr>
              <a:t>WHEN?</a:t>
            </a:r>
            <a:endParaRPr lang="en-US" sz="2200" dirty="0"/>
          </a:p>
        </p:txBody>
      </p:sp>
      <p:sp>
        <p:nvSpPr>
          <p:cNvPr id="12" name="Shape 10"/>
          <p:cNvSpPr/>
          <p:nvPr/>
        </p:nvSpPr>
        <p:spPr>
          <a:xfrm>
            <a:off x="6035040" y="2331720"/>
            <a:ext cx="2103120" cy="1097280"/>
          </a:xfrm>
          <a:prstGeom prst="roundRect">
            <a:avLst>
              <a:gd name="adj" fmla="val 10000"/>
            </a:avLst>
          </a:prstGeom>
          <a:solidFill>
            <a:srgbClr val="1A2D5A"/>
          </a:solidFill>
          <a:ln w="19050">
            <a:solidFill>
              <a:srgbClr val="3A5080"/>
            </a:solidFill>
            <a:prstDash val="solid"/>
          </a:ln>
        </p:spPr>
      </p:sp>
      <p:sp>
        <p:nvSpPr>
          <p:cNvPr id="13" name="Text 11"/>
          <p:cNvSpPr/>
          <p:nvPr/>
        </p:nvSpPr>
        <p:spPr>
          <a:xfrm>
            <a:off x="6035040" y="2404872"/>
            <a:ext cx="2103120" cy="320040"/>
          </a:xfrm>
          <a:prstGeom prst="rect">
            <a:avLst/>
          </a:prstGeom>
          <a:noFill/>
          <a:ln/>
        </p:spPr>
        <p:txBody>
          <a:bodyPr wrap="square" lIns="0" tIns="0" rIns="0" bIns="0" rtlCol="0" anchor="ctr"/>
          <a:lstStyle/>
          <a:p>
            <a:pPr algn="ctr" indent="0" marL="0">
              <a:buNone/>
            </a:pPr>
            <a:r>
              <a:rPr lang="en-US" sz="1600" b="1" dirty="0">
                <a:solidFill>
                  <a:srgbClr val="55C8E8"/>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6035040" y="2743200"/>
            <a:ext cx="2103120" cy="502920"/>
          </a:xfrm>
          <a:prstGeom prst="rect">
            <a:avLst/>
          </a:prstGeom>
          <a:noFill/>
          <a:ln/>
        </p:spPr>
        <p:txBody>
          <a:bodyPr wrap="square" lIns="0" tIns="0" rIns="0" bIns="0" rtlCol="0" anchor="ctr"/>
          <a:lstStyle/>
          <a:p>
            <a:pPr algn="ctr" indent="0" marL="0">
              <a:buNone/>
            </a:pPr>
            <a:r>
              <a:rPr lang="en-US" sz="2200" b="1" dirty="0">
                <a:solidFill>
                  <a:srgbClr val="7A88A8"/>
                </a:solidFill>
                <a:latin typeface="Cambria" pitchFamily="34" charset="0"/>
                <a:ea typeface="Cambria" pitchFamily="34" charset="-122"/>
                <a:cs typeface="Cambria" pitchFamily="34" charset="-120"/>
              </a:rPr>
              <a:t>EVIDENCE?</a:t>
            </a:r>
            <a:endParaRPr lang="en-US" sz="2200" dirty="0"/>
          </a:p>
        </p:txBody>
      </p:sp>
      <p:sp>
        <p:nvSpPr>
          <p:cNvPr id="15" name="Shape 13"/>
          <p:cNvSpPr/>
          <p:nvPr/>
        </p:nvSpPr>
        <p:spPr>
          <a:xfrm>
            <a:off x="2011680" y="3611880"/>
            <a:ext cx="5120640" cy="960120"/>
          </a:xfrm>
          <a:prstGeom prst="roundRect">
            <a:avLst>
              <a:gd name="adj" fmla="val 11429"/>
            </a:avLst>
          </a:prstGeom>
          <a:solidFill>
            <a:srgbClr val="FFF3DC"/>
          </a:solidFill>
          <a:ln w="19050">
            <a:solidFill>
              <a:srgbClr val="F5E6C8"/>
            </a:solidFill>
            <a:prstDash val="solid"/>
          </a:ln>
        </p:spPr>
      </p:sp>
      <p:sp>
        <p:nvSpPr>
          <p:cNvPr id="16" name="Text 14"/>
          <p:cNvSpPr/>
          <p:nvPr/>
        </p:nvSpPr>
        <p:spPr>
          <a:xfrm>
            <a:off x="2148840" y="3666744"/>
            <a:ext cx="4846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2148840" y="3867912"/>
            <a:ext cx="484632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"WHO... WHEN... EVIDENCE!"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three checks are: 1.___ 2.___ 3.___"</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Spot the Mistake</a:t>
            </a:r>
            <a:endParaRPr lang="en-US" sz="3000" dirty="0"/>
          </a:p>
        </p:txBody>
      </p:sp>
      <p:sp>
        <p:nvSpPr>
          <p:cNvPr id="3" name="Shape 1"/>
          <p:cNvSpPr/>
          <p:nvPr/>
        </p:nvSpPr>
        <p:spPr>
          <a:xfrm>
            <a:off x="457200" y="749808"/>
            <a:ext cx="8229600" cy="1463040"/>
          </a:xfrm>
          <a:prstGeom prst="roundRect">
            <a:avLst>
              <a:gd name="adj" fmla="val 7500"/>
            </a:avLst>
          </a:prstGeom>
          <a:solidFill>
            <a:srgbClr val="FFF0F0"/>
          </a:solidFill>
          <a:ln w="31750">
            <a:solidFill>
              <a:srgbClr val="E8636B"/>
            </a:solidFill>
            <a:prstDash val="solid"/>
          </a:ln>
        </p:spPr>
      </p:sp>
      <p:sp>
        <p:nvSpPr>
          <p:cNvPr id="4" name="Text 2"/>
          <p:cNvSpPr/>
          <p:nvPr/>
        </p:nvSpPr>
        <p:spPr>
          <a:xfrm>
            <a:off x="640080" y="859536"/>
            <a:ext cx="7863840" cy="201168"/>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a:t>
            </a:r>
            <a:endParaRPr lang="en-US" sz="900" dirty="0"/>
          </a:p>
        </p:txBody>
      </p:sp>
      <p:sp>
        <p:nvSpPr>
          <p:cNvPr id="5" name="Text 3"/>
          <p:cNvSpPr/>
          <p:nvPr/>
        </p:nvSpPr>
        <p:spPr>
          <a:xfrm>
            <a:off x="640080" y="1097280"/>
            <a:ext cx="7863840" cy="960120"/>
          </a:xfrm>
          <a:prstGeom prst="rect">
            <a:avLst/>
          </a:prstGeom>
          <a:noFill/>
          <a:ln/>
        </p:spPr>
        <p:txBody>
          <a:bodyPr wrap="square" lIns="0" tIns="0" rIns="0" bIns="0" rtlCol="0" anchor="ctr"/>
          <a:lstStyle/>
          <a:p>
            <a:pPr indent="0" marL="0">
              <a:buNone/>
            </a:pPr>
            <a:r>
              <a:rPr lang="en-US" sz="1400" i="1" dirty="0">
                <a:solidFill>
                  <a:srgbClr val="6A2A2A"/>
                </a:solidFill>
                <a:latin typeface="Cambria" pitchFamily="34" charset="0"/>
                <a:ea typeface="Cambria" pitchFamily="34" charset="-122"/>
                <a:cs typeface="Cambria" pitchFamily="34" charset="-120"/>
              </a:rPr>
              <a:t>"RandomUser99 is reliable because the information is on the internet, and the internet has lots of information. It says the answer right there, so it must be true."</a:t>
            </a:r>
            <a:endParaRPr lang="en-US" sz="1400" dirty="0"/>
          </a:p>
        </p:txBody>
      </p:sp>
      <p:sp>
        <p:nvSpPr>
          <p:cNvPr id="6" name="Shape 4"/>
          <p:cNvSpPr/>
          <p:nvPr/>
        </p:nvSpPr>
        <p:spPr>
          <a:xfrm>
            <a:off x="457200" y="2377440"/>
            <a:ext cx="4114800" cy="2331720"/>
          </a:xfrm>
          <a:prstGeom prst="roundRect">
            <a:avLst>
              <a:gd name="adj" fmla="val 588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640080" y="2468880"/>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640080" y="2724912"/>
            <a:ext cx="3749040" cy="1892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assume that is not true?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three checks did the student forget to apply?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explain the mistake to this student?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get partly right?</a:t>
            </a:r>
            <a:endParaRPr lang="en-US" sz="1100" dirty="0"/>
          </a:p>
        </p:txBody>
      </p:sp>
      <p:sp>
        <p:nvSpPr>
          <p:cNvPr id="9" name="Shape 7"/>
          <p:cNvSpPr/>
          <p:nvPr/>
        </p:nvSpPr>
        <p:spPr>
          <a:xfrm>
            <a:off x="4754880" y="2377440"/>
            <a:ext cx="3931920" cy="2331720"/>
          </a:xfrm>
          <a:prstGeom prst="roundRect">
            <a:avLst>
              <a:gd name="adj" fmla="val 4706"/>
            </a:avLst>
          </a:prstGeom>
          <a:solidFill>
            <a:srgbClr val="FFF3DC"/>
          </a:solidFill>
          <a:ln w="19050">
            <a:solidFill>
              <a:srgbClr val="F5E6C8"/>
            </a:solidFill>
            <a:prstDash val="solid"/>
          </a:ln>
        </p:spPr>
      </p:sp>
      <p:sp>
        <p:nvSpPr>
          <p:cNvPr id="10" name="Text 8"/>
          <p:cNvSpPr/>
          <p:nvPr/>
        </p:nvSpPr>
        <p:spPr>
          <a:xfrm>
            <a:off x="4892040" y="2432304"/>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4892040" y="2633472"/>
            <a:ext cx="365760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wrong because they forgot to check..."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"Being on the internet does NOT mean..."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 but they missed..."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Tricky One — You Decide</a:t>
            </a:r>
            <a:endParaRPr lang="en-US" sz="2800" dirty="0"/>
          </a:p>
        </p:txBody>
      </p:sp>
      <p:sp>
        <p:nvSpPr>
          <p:cNvPr id="3" name="Shape 1"/>
          <p:cNvSpPr/>
          <p:nvPr/>
        </p:nvSpPr>
        <p:spPr>
          <a:xfrm>
            <a:off x="457200" y="749808"/>
            <a:ext cx="5029200" cy="2331720"/>
          </a:xfrm>
          <a:prstGeom prst="roundRect">
            <a:avLst>
              <a:gd name="adj" fmla="val 4706"/>
            </a:avLst>
          </a:prstGeom>
          <a:solidFill>
            <a:srgbClr val="F0E8FF"/>
          </a:solidFill>
          <a:ln w="25400">
            <a:solidFill>
              <a:srgbClr val="8B6FC0"/>
            </a:solidFill>
            <a:prstDash val="solid"/>
          </a:ln>
        </p:spPr>
      </p:sp>
      <p:sp>
        <p:nvSpPr>
          <p:cNvPr id="4" name="Text 2"/>
          <p:cNvSpPr/>
          <p:nvPr/>
        </p:nvSpPr>
        <p:spPr>
          <a:xfrm>
            <a:off x="640080" y="859536"/>
            <a:ext cx="4663440" cy="228600"/>
          </a:xfrm>
          <a:prstGeom prst="rect">
            <a:avLst/>
          </a:prstGeom>
          <a:noFill/>
          <a:ln/>
        </p:spPr>
        <p:txBody>
          <a:bodyPr wrap="square" lIns="0" tIns="0" rIns="0" bIns="0" rtlCol="0" anchor="ctr"/>
          <a:lstStyle/>
          <a:p>
            <a:pPr algn="ctr" indent="0" marL="0">
              <a:buNone/>
            </a:pPr>
            <a:r>
              <a:rPr lang="en-US" sz="900" b="1" spc="150" kern="0" dirty="0">
                <a:solidFill>
                  <a:srgbClr val="8B6FC0"/>
                </a:solidFill>
                <a:latin typeface="Calibri" pitchFamily="34" charset="0"/>
                <a:ea typeface="Calibri" pitchFamily="34" charset="-122"/>
                <a:cs typeface="Calibri" pitchFamily="34" charset="-120"/>
              </a:rPr>
              <a:t>MYSTERY SOURCE</a:t>
            </a:r>
            <a:endParaRPr lang="en-US" sz="900" dirty="0"/>
          </a:p>
        </p:txBody>
      </p:sp>
      <p:sp>
        <p:nvSpPr>
          <p:cNvPr id="5" name="Text 3"/>
          <p:cNvSpPr/>
          <p:nvPr/>
        </p:nvSpPr>
        <p:spPr>
          <a:xfrm>
            <a:off x="640080" y="1133856"/>
            <a:ext cx="4663440" cy="1691640"/>
          </a:xfrm>
          <a:prstGeom prst="rect">
            <a:avLst/>
          </a:prstGeom>
          <a:noFill/>
          <a:ln/>
        </p:spPr>
        <p:txBody>
          <a:bodyPr wrap="square" lIns="0" tIns="0" rIns="0" bIns="0" rtlCol="0" anchor="t"/>
          <a:lstStyle/>
          <a:p>
            <a:pPr indent="0" marL="0">
              <a:buNone/>
            </a:pPr>
            <a:r>
              <a:rPr lang="en-US" sz="1300" dirty="0">
                <a:solidFill>
                  <a:srgbClr val="3A2A5A"/>
                </a:solidFill>
                <a:latin typeface="Calibri" pitchFamily="34" charset="0"/>
                <a:ea typeface="Calibri" pitchFamily="34" charset="-122"/>
                <a:cs typeface="Calibri" pitchFamily="34" charset="-120"/>
              </a:rPr>
              <a:t>Wikipedia — "Navigation in the Age of Exploration"</a:t>
            </a:r>
            <a:endParaRPr lang="en-US" sz="1300" dirty="0"/>
          </a:p>
          <a:p>
            <a:pPr indent="0" marL="0">
              <a:buNone/>
            </a:pPr>
            <a:r>
              <a:rPr lang="en-US" sz="1300" dirty="0">
                <a:solidFill>
                  <a:srgbClr val="3A2A5A"/>
                </a:solidFill>
                <a:latin typeface="Calibri" pitchFamily="34" charset="0"/>
                <a:ea typeface="Calibri" pitchFamily="34" charset="-122"/>
                <a:cs typeface="Calibri" pitchFamily="34" charset="-120"/>
              </a:rPr>
              <a:t>Last edited: 3 days ago.</a:t>
            </a:r>
            <a:endParaRPr lang="en-US" sz="1300" dirty="0"/>
          </a:p>
          <a:p>
            <a:pPr indent="0" marL="0">
              <a:buNone/>
            </a:pPr>
            <a:r>
              <a:rPr lang="en-US" sz="1300" dirty="0">
                <a:solidFill>
                  <a:srgbClr val="3A2A5A"/>
                </a:solidFill>
                <a:latin typeface="Calibri" pitchFamily="34" charset="0"/>
                <a:ea typeface="Calibri" pitchFamily="34" charset="-122"/>
                <a:cs typeface="Calibri" pitchFamily="34" charset="-120"/>
              </a:rPr>
              <a:t>Edited by: community contributors (no single named author).</a:t>
            </a:r>
            <a:endParaRPr lang="en-US" sz="1300" dirty="0"/>
          </a:p>
          <a:p>
            <a:pPr indent="0" marL="0">
              <a:buNone/>
            </a:pPr>
            <a:r>
              <a:rPr lang="en-US" sz="1300" dirty="0">
                <a:solidFill>
                  <a:srgbClr val="3A2A5A"/>
                </a:solidFill>
                <a:latin typeface="Calibri" pitchFamily="34" charset="0"/>
                <a:ea typeface="Calibri" pitchFamily="34" charset="-122"/>
                <a:cs typeface="Calibri" pitchFamily="34" charset="-120"/>
              </a:rPr>
              <a:t>Includes 47 citations and links to primary sources.</a:t>
            </a:r>
            <a:endParaRPr lang="en-US" sz="1300" dirty="0"/>
          </a:p>
        </p:txBody>
      </p:sp>
      <p:sp>
        <p:nvSpPr>
          <p:cNvPr id="6" name="Shape 4"/>
          <p:cNvSpPr/>
          <p:nvPr/>
        </p:nvSpPr>
        <p:spPr>
          <a:xfrm>
            <a:off x="5669280" y="749808"/>
            <a:ext cx="3017520" cy="1051560"/>
          </a:xfrm>
          <a:prstGeom prst="roundRect">
            <a:avLst>
              <a:gd name="adj" fmla="val 10435"/>
            </a:avLst>
          </a:prstGeom>
          <a:solidFill>
            <a:srgbClr val="E3F8ED"/>
          </a:solidFill>
          <a:ln w="25400">
            <a:solidFill>
              <a:srgbClr val="34B76F"/>
            </a:solidFill>
            <a:prstDash val="solid"/>
          </a:ln>
        </p:spPr>
      </p:sp>
      <p:sp>
        <p:nvSpPr>
          <p:cNvPr id="7" name="Text 5"/>
          <p:cNvSpPr/>
          <p:nvPr/>
        </p:nvSpPr>
        <p:spPr>
          <a:xfrm>
            <a:off x="5852160" y="868680"/>
            <a:ext cx="2651760" cy="384048"/>
          </a:xfrm>
          <a:prstGeom prst="rect">
            <a:avLst/>
          </a:prstGeom>
          <a:noFill/>
          <a:ln/>
        </p:spPr>
        <p:txBody>
          <a:bodyPr wrap="square" lIns="0" tIns="0" rIns="0" bIns="0" rtlCol="0" anchor="ctr"/>
          <a:lstStyle/>
          <a:p>
            <a:pPr algn="ctr" indent="0" marL="0">
              <a:buNone/>
            </a:pPr>
            <a:r>
              <a:rPr lang="en-US" sz="2000" b="1" dirty="0">
                <a:solidFill>
                  <a:srgbClr val="34B76F"/>
                </a:solidFill>
                <a:latin typeface="Cambria" pitchFamily="34" charset="0"/>
                <a:ea typeface="Cambria" pitchFamily="34" charset="-122"/>
                <a:cs typeface="Cambria" pitchFamily="34" charset="-120"/>
              </a:rPr>
              <a:t>RELIABLE</a:t>
            </a:r>
            <a:endParaRPr lang="en-US" sz="2000" dirty="0"/>
          </a:p>
        </p:txBody>
      </p:sp>
      <p:sp>
        <p:nvSpPr>
          <p:cNvPr id="8" name="Text 6"/>
          <p:cNvSpPr/>
          <p:nvPr/>
        </p:nvSpPr>
        <p:spPr>
          <a:xfrm>
            <a:off x="5852160" y="1280160"/>
            <a:ext cx="2651760" cy="256032"/>
          </a:xfrm>
          <a:prstGeom prst="rect">
            <a:avLst/>
          </a:prstGeom>
          <a:noFill/>
          <a:ln/>
        </p:spPr>
        <p:txBody>
          <a:bodyPr wrap="square" lIns="0" tIns="0" rIns="0" bIns="0" rtlCol="0" anchor="ctr"/>
          <a:lstStyle/>
          <a:p>
            <a:pPr algn="ctr" indent="0" marL="0">
              <a:buNone/>
            </a:pPr>
            <a:r>
              <a:rPr lang="en-US" sz="1100" i="1" dirty="0">
                <a:solidFill>
                  <a:srgbClr val="2A6A4A"/>
                </a:solidFill>
                <a:latin typeface="Calibri" pitchFamily="34" charset="0"/>
                <a:ea typeface="Calibri" pitchFamily="34" charset="-122"/>
                <a:cs typeface="Calibri" pitchFamily="34" charset="-120"/>
              </a:rPr>
              <a:t>47 citations + recent</a:t>
            </a:r>
            <a:endParaRPr lang="en-US" sz="1100" dirty="0"/>
          </a:p>
        </p:txBody>
      </p:sp>
      <p:sp>
        <p:nvSpPr>
          <p:cNvPr id="9" name="Shape 7"/>
          <p:cNvSpPr/>
          <p:nvPr/>
        </p:nvSpPr>
        <p:spPr>
          <a:xfrm>
            <a:off x="5669280" y="1920240"/>
            <a:ext cx="3017520" cy="1051560"/>
          </a:xfrm>
          <a:prstGeom prst="roundRect">
            <a:avLst>
              <a:gd name="adj" fmla="val 10435"/>
            </a:avLst>
          </a:prstGeom>
          <a:solidFill>
            <a:srgbClr val="FFF0F0"/>
          </a:solidFill>
          <a:ln w="25400">
            <a:solidFill>
              <a:srgbClr val="E8636B"/>
            </a:solidFill>
            <a:prstDash val="solid"/>
          </a:ln>
        </p:spPr>
      </p:sp>
      <p:sp>
        <p:nvSpPr>
          <p:cNvPr id="10" name="Text 8"/>
          <p:cNvSpPr/>
          <p:nvPr/>
        </p:nvSpPr>
        <p:spPr>
          <a:xfrm>
            <a:off x="5852160" y="2039112"/>
            <a:ext cx="2651760" cy="384048"/>
          </a:xfrm>
          <a:prstGeom prst="rect">
            <a:avLst/>
          </a:prstGeom>
          <a:noFill/>
          <a:ln/>
        </p:spPr>
        <p:txBody>
          <a:bodyPr wrap="square" lIns="0" tIns="0" rIns="0" bIns="0" rtlCol="0" anchor="ctr"/>
          <a:lstStyle/>
          <a:p>
            <a:pPr algn="ctr" indent="0" marL="0">
              <a:buNone/>
            </a:pPr>
            <a:r>
              <a:rPr lang="en-US" sz="2000" b="1" dirty="0">
                <a:solidFill>
                  <a:srgbClr val="E8636B"/>
                </a:solidFill>
                <a:latin typeface="Cambria" pitchFamily="34" charset="0"/>
                <a:ea typeface="Cambria" pitchFamily="34" charset="-122"/>
                <a:cs typeface="Cambria" pitchFamily="34" charset="-120"/>
              </a:rPr>
              <a:t>UNRELIABLE</a:t>
            </a:r>
            <a:endParaRPr lang="en-US" sz="2000" dirty="0"/>
          </a:p>
        </p:txBody>
      </p:sp>
      <p:sp>
        <p:nvSpPr>
          <p:cNvPr id="11" name="Text 9"/>
          <p:cNvSpPr/>
          <p:nvPr/>
        </p:nvSpPr>
        <p:spPr>
          <a:xfrm>
            <a:off x="5852160" y="2450592"/>
            <a:ext cx="2651760" cy="256032"/>
          </a:xfrm>
          <a:prstGeom prst="rect">
            <a:avLst/>
          </a:prstGeom>
          <a:noFill/>
          <a:ln/>
        </p:spPr>
        <p:txBody>
          <a:bodyPr wrap="square" lIns="0" tIns="0" rIns="0" bIns="0" rtlCol="0" anchor="ctr"/>
          <a:lstStyle/>
          <a:p>
            <a:pPr algn="ctr" indent="0" marL="0">
              <a:buNone/>
            </a:pPr>
            <a:r>
              <a:rPr lang="en-US" sz="1100" i="1" dirty="0">
                <a:solidFill>
                  <a:srgbClr val="8A3A3A"/>
                </a:solidFill>
                <a:latin typeface="Calibri" pitchFamily="34" charset="0"/>
                <a:ea typeface="Calibri" pitchFamily="34" charset="-122"/>
                <a:cs typeface="Calibri" pitchFamily="34" charset="-120"/>
              </a:rPr>
              <a:t>No single named author</a:t>
            </a:r>
            <a:endParaRPr lang="en-US" sz="1100" dirty="0"/>
          </a:p>
        </p:txBody>
      </p:sp>
      <p:sp>
        <p:nvSpPr>
          <p:cNvPr id="12" name="Shape 10"/>
          <p:cNvSpPr/>
          <p:nvPr/>
        </p:nvSpPr>
        <p:spPr>
          <a:xfrm>
            <a:off x="457200" y="3218688"/>
            <a:ext cx="8229600" cy="1508760"/>
          </a:xfrm>
          <a:prstGeom prst="roundRect">
            <a:avLst>
              <a:gd name="adj" fmla="val 7273"/>
            </a:avLst>
          </a:prstGeom>
          <a:solidFill>
            <a:srgbClr val="FFF3DC"/>
          </a:solidFill>
          <a:ln w="19050">
            <a:solidFill>
              <a:srgbClr val="F5E6C8"/>
            </a:solidFill>
            <a:prstDash val="solid"/>
          </a:ln>
        </p:spPr>
      </p:sp>
      <p:sp>
        <p:nvSpPr>
          <p:cNvPr id="13" name="Text 11"/>
          <p:cNvSpPr/>
          <p:nvPr/>
        </p:nvSpPr>
        <p:spPr>
          <a:xfrm>
            <a:off x="594360" y="3273552"/>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94360" y="3474720"/>
            <a:ext cx="7955280" cy="1188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say Wikipedia is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clue for my answer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curator might use Wikipedia to ___ but not to..."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74320"/>
            <a:ext cx="8229600" cy="256032"/>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EXHIBIT LABEL</a:t>
            </a:r>
            <a:endParaRPr lang="en-US" sz="1000" dirty="0"/>
          </a:p>
        </p:txBody>
      </p:sp>
      <p:sp>
        <p:nvSpPr>
          <p:cNvPr id="5" name="Shape 3"/>
          <p:cNvSpPr/>
          <p:nvPr/>
        </p:nvSpPr>
        <p:spPr>
          <a:xfrm>
            <a:off x="914400" y="658368"/>
            <a:ext cx="7315200" cy="224028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1143000" y="822960"/>
            <a:ext cx="6858000" cy="1920240"/>
          </a:xfrm>
          <a:prstGeom prst="rect">
            <a:avLst/>
          </a:prstGeom>
          <a:noFill/>
          <a:ln/>
        </p:spPr>
        <p:txBody>
          <a:bodyPr wrap="square"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Technology helps curators gather information quickly, but speed does not equal truth. Reliable sources are written by experts, include evidence, and are honest about who wrote them. Always use the Three-Check Test — WHO, WHEN, EVIDENCE — before trusting any source.</a:t>
            </a:r>
            <a:endParaRPr lang="en-US" sz="1600" dirty="0"/>
          </a:p>
        </p:txBody>
      </p:sp>
      <p:sp>
        <p:nvSpPr>
          <p:cNvPr id="7" name="Shape 5"/>
          <p:cNvSpPr/>
          <p:nvPr/>
        </p:nvSpPr>
        <p:spPr>
          <a:xfrm>
            <a:off x="731520" y="3063240"/>
            <a:ext cx="7680960" cy="1600200"/>
          </a:xfrm>
          <a:prstGeom prst="roundRect">
            <a:avLst>
              <a:gd name="adj" fmla="val 8571"/>
            </a:avLst>
          </a:prstGeom>
          <a:solidFill>
            <a:srgbClr val="1A8A7D"/>
          </a:solidFill>
          <a:ln/>
          <a:effectLst>
            <a:outerShdw sx="100000" sy="100000" kx="0" ky="0" algn="bl" rotWithShape="0" blurRad="76200" dist="25400" dir="8100000">
              <a:srgbClr val="000000">
                <a:alpha val="20000"/>
              </a:srgbClr>
            </a:outerShdw>
          </a:effectLst>
        </p:spPr>
      </p:sp>
      <p:sp>
        <p:nvSpPr>
          <p:cNvPr id="8" name="Text 6"/>
          <p:cNvSpPr/>
          <p:nvPr/>
        </p:nvSpPr>
        <p:spPr>
          <a:xfrm>
            <a:off x="914400" y="3172968"/>
            <a:ext cx="7315200" cy="228600"/>
          </a:xfrm>
          <a:prstGeom prst="rect">
            <a:avLst/>
          </a:prstGeom>
          <a:noFill/>
          <a:ln/>
        </p:spPr>
        <p:txBody>
          <a:bodyPr wrap="square" lIns="0" tIns="0" rIns="0" bIns="0" rtlCol="0" anchor="ctr"/>
          <a:lstStyle/>
          <a:p>
            <a:pPr algn="ctr" indent="0" marL="0">
              <a:buNone/>
            </a:pPr>
            <a:r>
              <a:rPr lang="en-US" sz="900" b="1" spc="200" kern="0" dirty="0">
                <a:solidFill>
                  <a:srgbClr val="A0E8DA"/>
                </a:solidFill>
                <a:latin typeface="Calibri" pitchFamily="34" charset="0"/>
                <a:ea typeface="Calibri" pitchFamily="34" charset="-122"/>
                <a:cs typeface="Calibri" pitchFamily="34" charset="-120"/>
              </a:rPr>
              <a:t>OPTI SAYS...</a:t>
            </a:r>
            <a:endParaRPr lang="en-US" sz="900" dirty="0"/>
          </a:p>
        </p:txBody>
      </p:sp>
      <p:sp>
        <p:nvSpPr>
          <p:cNvPr id="9" name="Text 7"/>
          <p:cNvSpPr/>
          <p:nvPr/>
        </p:nvSpPr>
        <p:spPr>
          <a:xfrm>
            <a:off x="960120" y="3456432"/>
            <a:ext cx="7315200" cy="105156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Here is a curator secret: the best researchers are not the fastest ones — they are the most careful ones. A label that is wrong is worse than a label that is late. Take your time and check your sources!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Self-Check: What Do You Know?</a:t>
            </a:r>
            <a:endParaRPr lang="en-US" sz="2800" dirty="0"/>
          </a:p>
        </p:txBody>
      </p:sp>
      <p:sp>
        <p:nvSpPr>
          <p:cNvPr id="3" name="Shape 1"/>
          <p:cNvSpPr/>
          <p:nvPr/>
        </p:nvSpPr>
        <p:spPr>
          <a:xfrm>
            <a:off x="457200" y="749808"/>
            <a:ext cx="2651760" cy="3931920"/>
          </a:xfrm>
          <a:prstGeom prst="roundRect">
            <a:avLst>
              <a:gd name="adj" fmla="val 4138"/>
            </a:avLst>
          </a:prstGeom>
          <a:solidFill>
            <a:srgbClr val="F0F2F8"/>
          </a:solidFill>
          <a:ln w="12700">
            <a:solidFill>
              <a:srgbClr val="C8D0E0"/>
            </a:solidFill>
            <a:prstDash val="solid"/>
          </a:ln>
        </p:spPr>
      </p:sp>
      <p:sp>
        <p:nvSpPr>
          <p:cNvPr id="4" name="Text 2"/>
          <p:cNvSpPr/>
          <p:nvPr/>
        </p:nvSpPr>
        <p:spPr>
          <a:xfrm>
            <a:off x="548640" y="859536"/>
            <a:ext cx="2468880" cy="228600"/>
          </a:xfrm>
          <a:prstGeom prst="rect">
            <a:avLst/>
          </a:prstGeom>
          <a:noFill/>
          <a:ln/>
        </p:spPr>
        <p:txBody>
          <a:bodyPr wrap="square" lIns="0" tIns="0" rIns="0" bIns="0" rtlCol="0" anchor="ctr"/>
          <a:lstStyle/>
          <a:p>
            <a:pPr algn="ctr" indent="0" marL="0">
              <a:buNone/>
            </a:pPr>
            <a:r>
              <a:rPr lang="en-US" sz="900" b="1" spc="100" kern="0" dirty="0">
                <a:solidFill>
                  <a:srgbClr val="55C8E8"/>
                </a:solidFill>
                <a:latin typeface="Calibri" pitchFamily="34" charset="0"/>
                <a:ea typeface="Calibri" pitchFamily="34" charset="-122"/>
                <a:cs typeface="Calibri" pitchFamily="34" charset="-120"/>
              </a:rPr>
              <a:t>Q1</a:t>
            </a:r>
            <a:endParaRPr lang="en-US" sz="900" dirty="0"/>
          </a:p>
        </p:txBody>
      </p:sp>
      <p:sp>
        <p:nvSpPr>
          <p:cNvPr id="5" name="Text 3"/>
          <p:cNvSpPr/>
          <p:nvPr/>
        </p:nvSpPr>
        <p:spPr>
          <a:xfrm>
            <a:off x="566928" y="1133856"/>
            <a:ext cx="2432304" cy="73152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Which source is MOST reliable for a museum label?</a:t>
            </a:r>
            <a:endParaRPr lang="en-US" sz="1100" dirty="0"/>
          </a:p>
        </p:txBody>
      </p:sp>
      <p:sp>
        <p:nvSpPr>
          <p:cNvPr id="6" name="Text 4"/>
          <p:cNvSpPr/>
          <p:nvPr/>
        </p:nvSpPr>
        <p:spPr>
          <a:xfrm>
            <a:off x="566928" y="1920240"/>
            <a:ext cx="2432304" cy="1005840"/>
          </a:xfrm>
          <a:prstGeom prst="rect">
            <a:avLst/>
          </a:prstGeom>
          <a:noFill/>
          <a:ln/>
        </p:spPr>
        <p:txBody>
          <a:bodyPr wrap="square" lIns="0" tIns="0" rIns="0" bIns="0" rtlCol="0" anchor="t"/>
          <a:lstStyle/>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A  A social media post by 'HistoryFan123'</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B  A blog with no author listed</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C  A museum website by a named historian</a:t>
            </a:r>
            <a:endParaRPr lang="en-US" sz="1000" dirty="0"/>
          </a:p>
        </p:txBody>
      </p:sp>
      <p:sp>
        <p:nvSpPr>
          <p:cNvPr id="7" name="Shape 5"/>
          <p:cNvSpPr/>
          <p:nvPr/>
        </p:nvSpPr>
        <p:spPr>
          <a:xfrm>
            <a:off x="548640" y="3017520"/>
            <a:ext cx="2468880" cy="1463040"/>
          </a:xfrm>
          <a:prstGeom prst="roundRect">
            <a:avLst>
              <a:gd name="adj" fmla="val 6250"/>
            </a:avLst>
          </a:prstGeom>
          <a:solidFill>
            <a:srgbClr val="E3F8ED"/>
          </a:solidFill>
          <a:ln w="19050">
            <a:solidFill>
              <a:srgbClr val="34B76F"/>
            </a:solidFill>
            <a:prstDash val="solid"/>
          </a:ln>
        </p:spPr>
      </p:sp>
      <p:sp>
        <p:nvSpPr>
          <p:cNvPr id="8" name="Text 6"/>
          <p:cNvSpPr/>
          <p:nvPr/>
        </p:nvSpPr>
        <p:spPr>
          <a:xfrm>
            <a:off x="640080" y="3108960"/>
            <a:ext cx="2286000" cy="201168"/>
          </a:xfrm>
          <a:prstGeom prst="rect">
            <a:avLst/>
          </a:prstGeom>
          <a:noFill/>
          <a:ln/>
        </p:spPr>
        <p:txBody>
          <a:bodyPr wrap="square" lIns="0" tIns="0" rIns="0" bIns="0" rtlCol="0" anchor="ctr"/>
          <a:lstStyle/>
          <a:p>
            <a:pPr indent="0" marL="0">
              <a:buNone/>
            </a:pPr>
            <a:r>
              <a:rPr lang="en-US" sz="800" b="1" spc="100" kern="0" dirty="0">
                <a:solidFill>
                  <a:srgbClr val="34B76F"/>
                </a:solidFill>
                <a:latin typeface="Calibri" pitchFamily="34" charset="0"/>
                <a:ea typeface="Calibri" pitchFamily="34" charset="-122"/>
                <a:cs typeface="Calibri" pitchFamily="34" charset="-120"/>
              </a:rPr>
              <a:t>ANSWER:</a:t>
            </a:r>
            <a:endParaRPr lang="en-US" sz="800" dirty="0"/>
          </a:p>
        </p:txBody>
      </p:sp>
      <p:sp>
        <p:nvSpPr>
          <p:cNvPr id="9" name="Text 7"/>
          <p:cNvSpPr/>
          <p:nvPr/>
        </p:nvSpPr>
        <p:spPr>
          <a:xfrm>
            <a:off x="640080" y="3337560"/>
            <a:ext cx="2286000" cy="1051560"/>
          </a:xfrm>
          <a:prstGeom prst="rect">
            <a:avLst/>
          </a:prstGeom>
          <a:noFill/>
          <a:ln/>
        </p:spPr>
        <p:txBody>
          <a:bodyPr wrap="square" lIns="0" tIns="0" rIns="0" bIns="0" rtlCol="0" anchor="t"/>
          <a:lstStyle/>
          <a:p>
            <a:pPr indent="0" marL="0">
              <a:buNone/>
            </a:pPr>
            <a:r>
              <a:rPr lang="en-US" sz="1000" i="1" dirty="0">
                <a:solidFill>
                  <a:srgbClr val="2A6A4A"/>
                </a:solidFill>
                <a:latin typeface="Calibri" pitchFamily="34" charset="0"/>
                <a:ea typeface="Calibri" pitchFamily="34" charset="-122"/>
                <a:cs typeface="Calibri" pitchFamily="34" charset="-120"/>
              </a:rPr>
              <a:t>C — passes all three checks:</a:t>
            </a:r>
            <a:endParaRPr lang="en-US" sz="1000" dirty="0"/>
          </a:p>
          <a:p>
            <a:pPr indent="0" marL="0">
              <a:buNone/>
            </a:pPr>
            <a:r>
              <a:rPr lang="en-US" sz="1000" i="1" dirty="0">
                <a:solidFill>
                  <a:srgbClr val="2A6A4A"/>
                </a:solidFill>
                <a:latin typeface="Calibri" pitchFamily="34" charset="0"/>
                <a:ea typeface="Calibri" pitchFamily="34" charset="-122"/>
                <a:cs typeface="Calibri" pitchFamily="34" charset="-120"/>
              </a:rPr>
              <a:t>WHO (named historian), WHEN, EVIDENCE.</a:t>
            </a:r>
            <a:endParaRPr lang="en-US" sz="1000" dirty="0"/>
          </a:p>
        </p:txBody>
      </p:sp>
      <p:sp>
        <p:nvSpPr>
          <p:cNvPr id="10" name="Shape 8"/>
          <p:cNvSpPr/>
          <p:nvPr/>
        </p:nvSpPr>
        <p:spPr>
          <a:xfrm>
            <a:off x="3291840" y="749808"/>
            <a:ext cx="2651760" cy="3931920"/>
          </a:xfrm>
          <a:prstGeom prst="roundRect">
            <a:avLst>
              <a:gd name="adj" fmla="val 4138"/>
            </a:avLst>
          </a:prstGeom>
          <a:solidFill>
            <a:srgbClr val="F0F2F8"/>
          </a:solidFill>
          <a:ln w="12700">
            <a:solidFill>
              <a:srgbClr val="C8D0E0"/>
            </a:solidFill>
            <a:prstDash val="solid"/>
          </a:ln>
        </p:spPr>
      </p:sp>
      <p:sp>
        <p:nvSpPr>
          <p:cNvPr id="11" name="Text 9"/>
          <p:cNvSpPr/>
          <p:nvPr/>
        </p:nvSpPr>
        <p:spPr>
          <a:xfrm>
            <a:off x="3383280" y="859536"/>
            <a:ext cx="2468880" cy="228600"/>
          </a:xfrm>
          <a:prstGeom prst="rect">
            <a:avLst/>
          </a:prstGeom>
          <a:noFill/>
          <a:ln/>
        </p:spPr>
        <p:txBody>
          <a:bodyPr wrap="square" lIns="0" tIns="0" rIns="0" bIns="0" rtlCol="0" anchor="ctr"/>
          <a:lstStyle/>
          <a:p>
            <a:pPr algn="ctr" indent="0" marL="0">
              <a:buNone/>
            </a:pPr>
            <a:r>
              <a:rPr lang="en-US" sz="900" b="1" spc="100" kern="0" dirty="0">
                <a:solidFill>
                  <a:srgbClr val="55C8E8"/>
                </a:solidFill>
                <a:latin typeface="Calibri" pitchFamily="34" charset="0"/>
                <a:ea typeface="Calibri" pitchFamily="34" charset="-122"/>
                <a:cs typeface="Calibri" pitchFamily="34" charset="-120"/>
              </a:rPr>
              <a:t>Q2</a:t>
            </a:r>
            <a:endParaRPr lang="en-US" sz="900" dirty="0"/>
          </a:p>
        </p:txBody>
      </p:sp>
      <p:sp>
        <p:nvSpPr>
          <p:cNvPr id="12" name="Text 10"/>
          <p:cNvSpPr/>
          <p:nvPr/>
        </p:nvSpPr>
        <p:spPr>
          <a:xfrm>
            <a:off x="3401568" y="1133856"/>
            <a:ext cx="2432304" cy="73152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What are the three checks curators use?</a:t>
            </a:r>
            <a:endParaRPr lang="en-US" sz="1100" dirty="0"/>
          </a:p>
        </p:txBody>
      </p:sp>
      <p:sp>
        <p:nvSpPr>
          <p:cNvPr id="13" name="Text 11"/>
          <p:cNvSpPr/>
          <p:nvPr/>
        </p:nvSpPr>
        <p:spPr>
          <a:xfrm>
            <a:off x="3401568" y="1920240"/>
            <a:ext cx="2432304" cy="1005840"/>
          </a:xfrm>
          <a:prstGeom prst="rect">
            <a:avLst/>
          </a:prstGeom>
          <a:noFill/>
          <a:ln/>
        </p:spPr>
        <p:txBody>
          <a:bodyPr wrap="square" lIns="0" tIns="0" rIns="0" bIns="0" rtlCol="0" anchor="t"/>
          <a:lstStyle/>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A  Color, size, and age</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B  WHO wrote it, WHEN, and does it have EVIDENCE</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C  Title, pictures, and length</a:t>
            </a:r>
            <a:endParaRPr lang="en-US" sz="1000" dirty="0"/>
          </a:p>
        </p:txBody>
      </p:sp>
      <p:sp>
        <p:nvSpPr>
          <p:cNvPr id="14" name="Shape 12"/>
          <p:cNvSpPr/>
          <p:nvPr/>
        </p:nvSpPr>
        <p:spPr>
          <a:xfrm>
            <a:off x="3383280" y="3017520"/>
            <a:ext cx="2468880" cy="1463040"/>
          </a:xfrm>
          <a:prstGeom prst="roundRect">
            <a:avLst>
              <a:gd name="adj" fmla="val 6250"/>
            </a:avLst>
          </a:prstGeom>
          <a:solidFill>
            <a:srgbClr val="E3F8ED"/>
          </a:solidFill>
          <a:ln w="19050">
            <a:solidFill>
              <a:srgbClr val="34B76F"/>
            </a:solidFill>
            <a:prstDash val="solid"/>
          </a:ln>
        </p:spPr>
      </p:sp>
      <p:sp>
        <p:nvSpPr>
          <p:cNvPr id="15" name="Text 13"/>
          <p:cNvSpPr/>
          <p:nvPr/>
        </p:nvSpPr>
        <p:spPr>
          <a:xfrm>
            <a:off x="3474720" y="3108960"/>
            <a:ext cx="2286000" cy="201168"/>
          </a:xfrm>
          <a:prstGeom prst="rect">
            <a:avLst/>
          </a:prstGeom>
          <a:noFill/>
          <a:ln/>
        </p:spPr>
        <p:txBody>
          <a:bodyPr wrap="square" lIns="0" tIns="0" rIns="0" bIns="0" rtlCol="0" anchor="ctr"/>
          <a:lstStyle/>
          <a:p>
            <a:pPr indent="0" marL="0">
              <a:buNone/>
            </a:pPr>
            <a:r>
              <a:rPr lang="en-US" sz="800" b="1" spc="100" kern="0" dirty="0">
                <a:solidFill>
                  <a:srgbClr val="34B76F"/>
                </a:solidFill>
                <a:latin typeface="Calibri" pitchFamily="34" charset="0"/>
                <a:ea typeface="Calibri" pitchFamily="34" charset="-122"/>
                <a:cs typeface="Calibri" pitchFamily="34" charset="-120"/>
              </a:rPr>
              <a:t>ANSWER:</a:t>
            </a:r>
            <a:endParaRPr lang="en-US" sz="800" dirty="0"/>
          </a:p>
        </p:txBody>
      </p:sp>
      <p:sp>
        <p:nvSpPr>
          <p:cNvPr id="16" name="Text 14"/>
          <p:cNvSpPr/>
          <p:nvPr/>
        </p:nvSpPr>
        <p:spPr>
          <a:xfrm>
            <a:off x="3474720" y="3337560"/>
            <a:ext cx="2286000" cy="1051560"/>
          </a:xfrm>
          <a:prstGeom prst="rect">
            <a:avLst/>
          </a:prstGeom>
          <a:noFill/>
          <a:ln/>
        </p:spPr>
        <p:txBody>
          <a:bodyPr wrap="square" lIns="0" tIns="0" rIns="0" bIns="0" rtlCol="0" anchor="t"/>
          <a:lstStyle/>
          <a:p>
            <a:pPr indent="0" marL="0">
              <a:buNone/>
            </a:pPr>
            <a:r>
              <a:rPr lang="en-US" sz="1000" i="1" dirty="0">
                <a:solidFill>
                  <a:srgbClr val="2A6A4A"/>
                </a:solidFill>
                <a:latin typeface="Calibri" pitchFamily="34" charset="0"/>
                <a:ea typeface="Calibri" pitchFamily="34" charset="-122"/>
                <a:cs typeface="Calibri" pitchFamily="34" charset="-120"/>
              </a:rPr>
              <a:t>B — WHO, WHEN, EVIDENCE.</a:t>
            </a:r>
            <a:endParaRPr lang="en-US" sz="1000" dirty="0"/>
          </a:p>
          <a:p>
            <a:pPr indent="0" marL="0">
              <a:buNone/>
            </a:pPr>
            <a:r>
              <a:rPr lang="en-US" sz="1000" i="1" dirty="0">
                <a:solidFill>
                  <a:srgbClr val="2A6A4A"/>
                </a:solidFill>
                <a:latin typeface="Calibri" pitchFamily="34" charset="0"/>
                <a:ea typeface="Calibri" pitchFamily="34" charset="-122"/>
                <a:cs typeface="Calibri" pitchFamily="34" charset="-120"/>
              </a:rPr>
              <a:t>These are the Three-Check Test.</a:t>
            </a:r>
            <a:endParaRPr lang="en-US" sz="1000" dirty="0"/>
          </a:p>
        </p:txBody>
      </p:sp>
      <p:sp>
        <p:nvSpPr>
          <p:cNvPr id="17" name="Shape 15"/>
          <p:cNvSpPr/>
          <p:nvPr/>
        </p:nvSpPr>
        <p:spPr>
          <a:xfrm>
            <a:off x="6126480" y="749808"/>
            <a:ext cx="2651760" cy="3931920"/>
          </a:xfrm>
          <a:prstGeom prst="roundRect">
            <a:avLst>
              <a:gd name="adj" fmla="val 4138"/>
            </a:avLst>
          </a:prstGeom>
          <a:solidFill>
            <a:srgbClr val="F0F2F8"/>
          </a:solidFill>
          <a:ln w="12700">
            <a:solidFill>
              <a:srgbClr val="C8D0E0"/>
            </a:solidFill>
            <a:prstDash val="solid"/>
          </a:ln>
        </p:spPr>
      </p:sp>
      <p:sp>
        <p:nvSpPr>
          <p:cNvPr id="18" name="Text 16"/>
          <p:cNvSpPr/>
          <p:nvPr/>
        </p:nvSpPr>
        <p:spPr>
          <a:xfrm>
            <a:off x="6217920" y="859536"/>
            <a:ext cx="2468880" cy="228600"/>
          </a:xfrm>
          <a:prstGeom prst="rect">
            <a:avLst/>
          </a:prstGeom>
          <a:noFill/>
          <a:ln/>
        </p:spPr>
        <p:txBody>
          <a:bodyPr wrap="square" lIns="0" tIns="0" rIns="0" bIns="0" rtlCol="0" anchor="ctr"/>
          <a:lstStyle/>
          <a:p>
            <a:pPr algn="ctr" indent="0" marL="0">
              <a:buNone/>
            </a:pPr>
            <a:r>
              <a:rPr lang="en-US" sz="900" b="1" spc="100" kern="0" dirty="0">
                <a:solidFill>
                  <a:srgbClr val="55C8E8"/>
                </a:solidFill>
                <a:latin typeface="Calibri" pitchFamily="34" charset="0"/>
                <a:ea typeface="Calibri" pitchFamily="34" charset="-122"/>
                <a:cs typeface="Calibri" pitchFamily="34" charset="-120"/>
              </a:rPr>
              <a:t>Q3</a:t>
            </a:r>
            <a:endParaRPr lang="en-US" sz="900" dirty="0"/>
          </a:p>
        </p:txBody>
      </p:sp>
      <p:sp>
        <p:nvSpPr>
          <p:cNvPr id="19" name="Text 17"/>
          <p:cNvSpPr/>
          <p:nvPr/>
        </p:nvSpPr>
        <p:spPr>
          <a:xfrm>
            <a:off x="6236208" y="1133856"/>
            <a:ext cx="2432304" cy="731520"/>
          </a:xfrm>
          <a:prstGeom prst="rect">
            <a:avLst/>
          </a:prstGeom>
          <a:noFill/>
          <a:ln/>
        </p:spPr>
        <p:txBody>
          <a:bodyPr wrap="square" lIns="0" tIns="0" rIns="0" bIns="0" rtlCol="0" anchor="t"/>
          <a:lstStyle/>
          <a:p>
            <a:pPr indent="0" marL="0">
              <a:buNone/>
            </a:pPr>
            <a:r>
              <a:rPr lang="en-US" sz="1100" b="1" dirty="0">
                <a:solidFill>
                  <a:srgbClr val="0E1C42"/>
                </a:solidFill>
                <a:latin typeface="Calibri" pitchFamily="34" charset="0"/>
                <a:ea typeface="Calibri" pitchFamily="34" charset="-122"/>
                <a:cs typeface="Calibri" pitchFamily="34" charset="-120"/>
              </a:rPr>
              <a:t>Why is honesty important when gathering info online?</a:t>
            </a:r>
            <a:endParaRPr lang="en-US" sz="1100" dirty="0"/>
          </a:p>
        </p:txBody>
      </p:sp>
      <p:sp>
        <p:nvSpPr>
          <p:cNvPr id="20" name="Text 18"/>
          <p:cNvSpPr/>
          <p:nvPr/>
        </p:nvSpPr>
        <p:spPr>
          <a:xfrm>
            <a:off x="6236208" y="1920240"/>
            <a:ext cx="2432304" cy="1005840"/>
          </a:xfrm>
          <a:prstGeom prst="rect">
            <a:avLst/>
          </a:prstGeom>
          <a:noFill/>
          <a:ln/>
        </p:spPr>
        <p:txBody>
          <a:bodyPr wrap="square" lIns="0" tIns="0" rIns="0" bIns="0" rtlCol="0" anchor="t"/>
          <a:lstStyle/>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A  So curators admit when a source is not good enough</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B  So they can find info faster</a:t>
            </a:r>
            <a:endParaRPr lang="en-US" sz="1000" dirty="0"/>
          </a:p>
          <a:p>
            <a:pPr indent="0" marL="0">
              <a:spcAft>
                <a:spcPts val="500"/>
              </a:spcAft>
              <a:buNone/>
            </a:pPr>
            <a:r>
              <a:rPr lang="en-US" sz="1000" dirty="0">
                <a:solidFill>
                  <a:srgbClr val="3A4A6B"/>
                </a:solidFill>
                <a:latin typeface="Calibri" pitchFamily="34" charset="0"/>
                <a:ea typeface="Calibri" pitchFamily="34" charset="-122"/>
                <a:cs typeface="Calibri" pitchFamily="34" charset="-120"/>
              </a:rPr>
              <a:t>C  So they can use any source</a:t>
            </a:r>
            <a:endParaRPr lang="en-US" sz="1000" dirty="0"/>
          </a:p>
        </p:txBody>
      </p:sp>
      <p:sp>
        <p:nvSpPr>
          <p:cNvPr id="21" name="Shape 19"/>
          <p:cNvSpPr/>
          <p:nvPr/>
        </p:nvSpPr>
        <p:spPr>
          <a:xfrm>
            <a:off x="6217920" y="3017520"/>
            <a:ext cx="2468880" cy="1463040"/>
          </a:xfrm>
          <a:prstGeom prst="roundRect">
            <a:avLst>
              <a:gd name="adj" fmla="val 6250"/>
            </a:avLst>
          </a:prstGeom>
          <a:solidFill>
            <a:srgbClr val="E3F8ED"/>
          </a:solidFill>
          <a:ln w="19050">
            <a:solidFill>
              <a:srgbClr val="34B76F"/>
            </a:solidFill>
            <a:prstDash val="solid"/>
          </a:ln>
        </p:spPr>
      </p:sp>
      <p:sp>
        <p:nvSpPr>
          <p:cNvPr id="22" name="Text 20"/>
          <p:cNvSpPr/>
          <p:nvPr/>
        </p:nvSpPr>
        <p:spPr>
          <a:xfrm>
            <a:off x="6309360" y="3108960"/>
            <a:ext cx="2286000" cy="201168"/>
          </a:xfrm>
          <a:prstGeom prst="rect">
            <a:avLst/>
          </a:prstGeom>
          <a:noFill/>
          <a:ln/>
        </p:spPr>
        <p:txBody>
          <a:bodyPr wrap="square" lIns="0" tIns="0" rIns="0" bIns="0" rtlCol="0" anchor="ctr"/>
          <a:lstStyle/>
          <a:p>
            <a:pPr indent="0" marL="0">
              <a:buNone/>
            </a:pPr>
            <a:r>
              <a:rPr lang="en-US" sz="800" b="1" spc="100" kern="0" dirty="0">
                <a:solidFill>
                  <a:srgbClr val="34B76F"/>
                </a:solidFill>
                <a:latin typeface="Calibri" pitchFamily="34" charset="0"/>
                <a:ea typeface="Calibri" pitchFamily="34" charset="-122"/>
                <a:cs typeface="Calibri" pitchFamily="34" charset="-120"/>
              </a:rPr>
              <a:t>ANSWER:</a:t>
            </a:r>
            <a:endParaRPr lang="en-US" sz="800" dirty="0"/>
          </a:p>
        </p:txBody>
      </p:sp>
      <p:sp>
        <p:nvSpPr>
          <p:cNvPr id="23" name="Text 21"/>
          <p:cNvSpPr/>
          <p:nvPr/>
        </p:nvSpPr>
        <p:spPr>
          <a:xfrm>
            <a:off x="6309360" y="3337560"/>
            <a:ext cx="2286000" cy="1051560"/>
          </a:xfrm>
          <a:prstGeom prst="rect">
            <a:avLst/>
          </a:prstGeom>
          <a:noFill/>
          <a:ln/>
        </p:spPr>
        <p:txBody>
          <a:bodyPr wrap="square" lIns="0" tIns="0" rIns="0" bIns="0" rtlCol="0" anchor="t"/>
          <a:lstStyle/>
          <a:p>
            <a:pPr indent="0" marL="0">
              <a:buNone/>
            </a:pPr>
            <a:r>
              <a:rPr lang="en-US" sz="1000" i="1" dirty="0">
                <a:solidFill>
                  <a:srgbClr val="2A6A4A"/>
                </a:solidFill>
                <a:latin typeface="Calibri" pitchFamily="34" charset="0"/>
                <a:ea typeface="Calibri" pitchFamily="34" charset="-122"/>
                <a:cs typeface="Calibri" pitchFamily="34" charset="-120"/>
              </a:rPr>
              <a:t>A — Honest curators admit when a source is not reliable, even if it says what they want to hear.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594360"/>
            <a:ext cx="8229600" cy="27432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TIME TO PUT YOUR SKILLS TO WORK</a:t>
            </a:r>
            <a:endParaRPr lang="en-US" sz="1000" dirty="0"/>
          </a:p>
        </p:txBody>
      </p:sp>
      <p:sp>
        <p:nvSpPr>
          <p:cNvPr id="5" name="Text 3"/>
          <p:cNvSpPr/>
          <p:nvPr/>
        </p:nvSpPr>
        <p:spPr>
          <a:xfrm>
            <a:off x="731520" y="1005840"/>
            <a:ext cx="7680960" cy="1371600"/>
          </a:xfrm>
          <a:prstGeom prst="rect">
            <a:avLst/>
          </a:prstGeom>
          <a:noFill/>
          <a:ln/>
        </p:spPr>
        <p:txBody>
          <a:bodyPr wrap="square" rtlCol="0" anchor="ctr"/>
          <a:lstStyle/>
          <a:p>
            <a:pPr algn="ctr" indent="0" marL="0">
              <a:buNone/>
            </a:pPr>
            <a:r>
              <a:rPr lang="en-US" sz="4600" b="1" dirty="0">
                <a:solidFill>
                  <a:srgbClr val="D4943A"/>
                </a:solidFill>
                <a:latin typeface="Cambria" pitchFamily="34" charset="0"/>
                <a:ea typeface="Cambria" pitchFamily="34" charset="-122"/>
                <a:cs typeface="Cambria" pitchFamily="34" charset="-120"/>
              </a:rPr>
              <a:t>Evidence &amp;</a:t>
            </a:r>
            <a:endParaRPr lang="en-US" sz="4600" dirty="0"/>
          </a:p>
          <a:p>
            <a:pPr algn="ctr" indent="0" marL="0">
              <a:buNone/>
            </a:pPr>
            <a:r>
              <a:rPr lang="en-US" sz="4600" b="1" dirty="0">
                <a:solidFill>
                  <a:srgbClr val="D4943A"/>
                </a:solidFill>
                <a:latin typeface="Cambria" pitchFamily="34" charset="0"/>
                <a:ea typeface="Cambria" pitchFamily="34" charset="-122"/>
                <a:cs typeface="Cambria" pitchFamily="34" charset="-120"/>
              </a:rPr>
              <a:t>Assignment</a:t>
            </a:r>
            <a:endParaRPr lang="en-US" sz="4600" dirty="0"/>
          </a:p>
        </p:txBody>
      </p:sp>
      <p:sp>
        <p:nvSpPr>
          <p:cNvPr id="6" name="Shape 4"/>
          <p:cNvSpPr/>
          <p:nvPr/>
        </p:nvSpPr>
        <p:spPr>
          <a:xfrm>
            <a:off x="1371600" y="2606040"/>
            <a:ext cx="640080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1600200" y="2788920"/>
            <a:ext cx="5943600" cy="132588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The museum computer found new search results about Early Florida. Your job: apply the Three-Check Test to two sources you have never seen before, and explain which is more reliable and why.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Evidence Questions</a:t>
            </a:r>
            <a:endParaRPr lang="en-US" sz="2800" dirty="0"/>
          </a:p>
        </p:txBody>
      </p:sp>
      <p:sp>
        <p:nvSpPr>
          <p:cNvPr id="3" name="Shape 1"/>
          <p:cNvSpPr/>
          <p:nvPr/>
        </p:nvSpPr>
        <p:spPr>
          <a:xfrm>
            <a:off x="457200" y="749808"/>
            <a:ext cx="8229600" cy="1325880"/>
          </a:xfrm>
          <a:prstGeom prst="roundRect">
            <a:avLst>
              <a:gd name="adj" fmla="val 8276"/>
            </a:avLst>
          </a:prstGeom>
          <a:solidFill>
            <a:srgbClr val="EAF8FD"/>
          </a:solidFill>
          <a:ln w="25400">
            <a:solidFill>
              <a:srgbClr val="55C8E8"/>
            </a:solidFill>
            <a:prstDash val="solid"/>
          </a:ln>
        </p:spPr>
      </p:sp>
      <p:sp>
        <p:nvSpPr>
          <p:cNvPr id="4" name="Text 2"/>
          <p:cNvSpPr/>
          <p:nvPr/>
        </p:nvSpPr>
        <p:spPr>
          <a:xfrm>
            <a:off x="640080" y="859536"/>
            <a:ext cx="7863840" cy="2286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Question 1</a:t>
            </a:r>
            <a:endParaRPr lang="en-US" sz="900" dirty="0"/>
          </a:p>
        </p:txBody>
      </p:sp>
      <p:sp>
        <p:nvSpPr>
          <p:cNvPr id="5" name="Text 3"/>
          <p:cNvSpPr/>
          <p:nvPr/>
        </p:nvSpPr>
        <p:spPr>
          <a:xfrm>
            <a:off x="640080" y="1115568"/>
            <a:ext cx="7863840" cy="8229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What is the difference between a reliable and an unreliable source? Give one clue for each. Use details from the lesson to support your answer.</a:t>
            </a:r>
            <a:endParaRPr lang="en-US" sz="1400" dirty="0"/>
          </a:p>
        </p:txBody>
      </p:sp>
      <p:sp>
        <p:nvSpPr>
          <p:cNvPr id="6" name="Shape 4"/>
          <p:cNvSpPr/>
          <p:nvPr/>
        </p:nvSpPr>
        <p:spPr>
          <a:xfrm>
            <a:off x="457200" y="2212848"/>
            <a:ext cx="8229600" cy="1325880"/>
          </a:xfrm>
          <a:prstGeom prst="roundRect">
            <a:avLst>
              <a:gd name="adj" fmla="val 8276"/>
            </a:avLst>
          </a:prstGeom>
          <a:solidFill>
            <a:srgbClr val="FFF3DC"/>
          </a:solidFill>
          <a:ln w="25400">
            <a:solidFill>
              <a:srgbClr val="D4943A"/>
            </a:solidFill>
            <a:prstDash val="solid"/>
          </a:ln>
        </p:spPr>
      </p:sp>
      <p:sp>
        <p:nvSpPr>
          <p:cNvPr id="7" name="Text 5"/>
          <p:cNvSpPr/>
          <p:nvPr/>
        </p:nvSpPr>
        <p:spPr>
          <a:xfrm>
            <a:off x="640080" y="2322576"/>
            <a:ext cx="786384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Question 2</a:t>
            </a:r>
            <a:endParaRPr lang="en-US" sz="900" dirty="0"/>
          </a:p>
        </p:txBody>
      </p:sp>
      <p:sp>
        <p:nvSpPr>
          <p:cNvPr id="8" name="Text 6"/>
          <p:cNvSpPr/>
          <p:nvPr/>
        </p:nvSpPr>
        <p:spPr>
          <a:xfrm>
            <a:off x="640080" y="2578608"/>
            <a:ext cx="7863840" cy="8229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Explain the Three-Check Test in your own words. Why is it useful for curators?</a:t>
            </a:r>
            <a:endParaRPr lang="en-US" sz="1400" dirty="0"/>
          </a:p>
        </p:txBody>
      </p:sp>
      <p:sp>
        <p:nvSpPr>
          <p:cNvPr id="9" name="Shape 7"/>
          <p:cNvSpPr/>
          <p:nvPr/>
        </p:nvSpPr>
        <p:spPr>
          <a:xfrm>
            <a:off x="457200" y="3685032"/>
            <a:ext cx="8229600" cy="1097280"/>
          </a:xfrm>
          <a:prstGeom prst="roundRect">
            <a:avLst>
              <a:gd name="adj" fmla="val 10000"/>
            </a:avLst>
          </a:prstGeom>
          <a:solidFill>
            <a:srgbClr val="FFF3DC"/>
          </a:solidFill>
          <a:ln w="19050">
            <a:solidFill>
              <a:srgbClr val="F5E6C8"/>
            </a:solidFill>
            <a:prstDash val="solid"/>
          </a:ln>
        </p:spPr>
      </p:sp>
      <p:sp>
        <p:nvSpPr>
          <p:cNvPr id="10" name="Text 8"/>
          <p:cNvSpPr/>
          <p:nvPr/>
        </p:nvSpPr>
        <p:spPr>
          <a:xfrm>
            <a:off x="594360" y="3739896"/>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3941064"/>
            <a:ext cx="79552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reliable source has... but an unreliable source has..."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Three-Check Test helps curators by..."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Curator Task: Evaluate New Search Results</a:t>
            </a:r>
            <a:endParaRPr lang="en-US" sz="2400" dirty="0"/>
          </a:p>
        </p:txBody>
      </p:sp>
      <p:sp>
        <p:nvSpPr>
          <p:cNvPr id="3" name="Text 1"/>
          <p:cNvSpPr/>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3A4A6B"/>
                </a:solidFill>
                <a:latin typeface="Calibri" pitchFamily="34" charset="0"/>
                <a:ea typeface="Calibri" pitchFamily="34" charset="-122"/>
                <a:cs typeface="Calibri" pitchFamily="34" charset="-120"/>
              </a:rPr>
              <a:t>Searched: "What was life like in early Florida?"  —  Apply the Three-Check Test to each result.</a:t>
            </a:r>
            <a:endParaRPr lang="en-US" sz="1200" dirty="0"/>
          </a:p>
        </p:txBody>
      </p:sp>
      <p:sp>
        <p:nvSpPr>
          <p:cNvPr id="4" name="Shape 2"/>
          <p:cNvSpPr/>
          <p:nvPr/>
        </p:nvSpPr>
        <p:spPr>
          <a:xfrm>
            <a:off x="457200" y="1078992"/>
            <a:ext cx="3840480" cy="2240280"/>
          </a:xfrm>
          <a:prstGeom prst="roundRect">
            <a:avLst>
              <a:gd name="adj" fmla="val 4898"/>
            </a:avLst>
          </a:prstGeom>
          <a:solidFill>
            <a:srgbClr val="E3F8ED"/>
          </a:solidFill>
          <a:ln w="25400">
            <a:solidFill>
              <a:srgbClr val="34B76F"/>
            </a:solidFill>
            <a:prstDash val="solid"/>
          </a:ln>
        </p:spPr>
      </p:sp>
      <p:sp>
        <p:nvSpPr>
          <p:cNvPr id="5" name="Text 3"/>
          <p:cNvSpPr/>
          <p:nvPr/>
        </p:nvSpPr>
        <p:spPr>
          <a:xfrm>
            <a:off x="640080" y="1188720"/>
            <a:ext cx="3474720" cy="228600"/>
          </a:xfrm>
          <a:prstGeom prst="rect">
            <a:avLst/>
          </a:prstGeom>
          <a:noFill/>
          <a:ln/>
        </p:spPr>
        <p:txBody>
          <a:bodyPr wrap="square" lIns="0" tIns="0" rIns="0" bIns="0" rtlCol="0" anchor="ctr"/>
          <a:lstStyle/>
          <a:p>
            <a:pPr algn="ctr" indent="0" marL="0">
              <a:buNone/>
            </a:pPr>
            <a:r>
              <a:rPr lang="en-US" sz="900" b="1" spc="150" kern="0" dirty="0">
                <a:solidFill>
                  <a:srgbClr val="34B76F"/>
                </a:solidFill>
                <a:latin typeface="Calibri" pitchFamily="34" charset="0"/>
                <a:ea typeface="Calibri" pitchFamily="34" charset="-122"/>
                <a:cs typeface="Calibri" pitchFamily="34" charset="-120"/>
              </a:rPr>
              <a:t>SOURCE A</a:t>
            </a:r>
            <a:endParaRPr lang="en-US" sz="900" dirty="0"/>
          </a:p>
        </p:txBody>
      </p:sp>
      <p:sp>
        <p:nvSpPr>
          <p:cNvPr id="6" name="Text 4"/>
          <p:cNvSpPr/>
          <p:nvPr/>
        </p:nvSpPr>
        <p:spPr>
          <a:xfrm>
            <a:off x="640080" y="1463040"/>
            <a:ext cx="3474720" cy="1554480"/>
          </a:xfrm>
          <a:prstGeom prst="rect">
            <a:avLst/>
          </a:prstGeom>
          <a:noFill/>
          <a:ln/>
        </p:spPr>
        <p:txBody>
          <a:bodyPr wrap="square" lIns="0" tIns="0" rIns="0" bIns="0" rtlCol="0" anchor="t"/>
          <a:lstStyle/>
          <a:p>
            <a:pPr indent="0" marL="0">
              <a:buNone/>
            </a:pPr>
            <a:r>
              <a:rPr lang="en-US" sz="1200" dirty="0">
                <a:solidFill>
                  <a:srgbClr val="2A4A2A"/>
                </a:solidFill>
                <a:latin typeface="Calibri" pitchFamily="34" charset="0"/>
                <a:ea typeface="Calibri" pitchFamily="34" charset="-122"/>
                <a:cs typeface="Calibri" pitchFamily="34" charset="-120"/>
              </a:rPr>
              <a:t>Florida Memory (State Library)</a:t>
            </a:r>
            <a:endParaRPr lang="en-US" sz="1200" dirty="0"/>
          </a:p>
          <a:p>
            <a:pPr indent="0" marL="0">
              <a:buNone/>
            </a:pPr>
            <a:r>
              <a:rPr lang="en-US" sz="1200" dirty="0">
                <a:solidFill>
                  <a:srgbClr val="2A4A2A"/>
                </a:solidFill>
                <a:latin typeface="Calibri" pitchFamily="34" charset="0"/>
                <a:ea typeface="Calibri" pitchFamily="34" charset="-122"/>
                <a:cs typeface="Calibri" pitchFamily="34" charset="-120"/>
              </a:rPr>
              <a:t>"Daily Life in Territorial Florida"</a:t>
            </a:r>
            <a:endParaRPr lang="en-US" sz="1200" dirty="0"/>
          </a:p>
          <a:p>
            <a:pPr indent="0" marL="0">
              <a:buNone/>
            </a:pPr>
            <a:r>
              <a:rPr lang="en-US" sz="1200" dirty="0">
                <a:solidFill>
                  <a:srgbClr val="2A4A2A"/>
                </a:solidFill>
                <a:latin typeface="Calibri" pitchFamily="34" charset="0"/>
                <a:ea typeface="Calibri" pitchFamily="34" charset="-122"/>
                <a:cs typeface="Calibri" pitchFamily="34" charset="-120"/>
              </a:rPr>
              <a:t>by Dr. James Covington</a:t>
            </a:r>
            <a:endParaRPr lang="en-US" sz="1200" dirty="0"/>
          </a:p>
          <a:p>
            <a:pPr indent="0" marL="0">
              <a:buNone/>
            </a:pPr>
            <a:r>
              <a:rPr lang="en-US" sz="1200" dirty="0">
                <a:solidFill>
                  <a:srgbClr val="2A4A2A"/>
                </a:solidFill>
                <a:latin typeface="Calibri" pitchFamily="34" charset="0"/>
                <a:ea typeface="Calibri" pitchFamily="34" charset="-122"/>
                <a:cs typeface="Calibri" pitchFamily="34" charset="-120"/>
              </a:rPr>
              <a:t>Updated 2022</a:t>
            </a:r>
            <a:endParaRPr lang="en-US" sz="1200" dirty="0"/>
          </a:p>
          <a:p>
            <a:pPr indent="0" marL="0">
              <a:buNone/>
            </a:pPr>
            <a:r>
              <a:rPr lang="en-US" sz="1200" dirty="0">
                <a:solidFill>
                  <a:srgbClr val="2A4A2A"/>
                </a:solidFill>
                <a:latin typeface="Calibri" pitchFamily="34" charset="0"/>
                <a:ea typeface="Calibri" pitchFamily="34" charset="-122"/>
                <a:cs typeface="Calibri" pitchFamily="34" charset="-120"/>
              </a:rPr>
              <a:t>Includes photographs and primary source excerpts.</a:t>
            </a:r>
            <a:endParaRPr lang="en-US" sz="1200" dirty="0"/>
          </a:p>
        </p:txBody>
      </p:sp>
      <p:sp>
        <p:nvSpPr>
          <p:cNvPr id="7" name="Shape 5"/>
          <p:cNvSpPr/>
          <p:nvPr/>
        </p:nvSpPr>
        <p:spPr>
          <a:xfrm>
            <a:off x="457200" y="3401568"/>
            <a:ext cx="3840480" cy="457200"/>
          </a:xfrm>
          <a:prstGeom prst="roundRect">
            <a:avLst>
              <a:gd name="adj" fmla="val 16000"/>
            </a:avLst>
          </a:prstGeom>
          <a:solidFill>
            <a:srgbClr val="E3F8ED"/>
          </a:solidFill>
          <a:ln w="19050">
            <a:solidFill>
              <a:srgbClr val="34B76F"/>
            </a:solidFill>
            <a:prstDash val="solid"/>
          </a:ln>
        </p:spPr>
      </p:sp>
      <p:sp>
        <p:nvSpPr>
          <p:cNvPr id="8" name="Text 6"/>
          <p:cNvSpPr/>
          <p:nvPr/>
        </p:nvSpPr>
        <p:spPr>
          <a:xfrm>
            <a:off x="594360" y="3456432"/>
            <a:ext cx="3566160" cy="347472"/>
          </a:xfrm>
          <a:prstGeom prst="rect">
            <a:avLst/>
          </a:prstGeom>
          <a:noFill/>
          <a:ln/>
        </p:spPr>
        <p:txBody>
          <a:bodyPr wrap="square" lIns="0" tIns="0" rIns="0" bIns="0" rtlCol="0" anchor="ctr"/>
          <a:lstStyle/>
          <a:p>
            <a:pPr indent="0" marL="0">
              <a:buNone/>
            </a:pPr>
            <a:r>
              <a:rPr lang="en-US" sz="1000" b="1" dirty="0">
                <a:solidFill>
                  <a:srgbClr val="2A4A2A"/>
                </a:solidFill>
                <a:latin typeface="Calibri" pitchFamily="34" charset="0"/>
                <a:ea typeface="Calibri" pitchFamily="34" charset="-122"/>
                <a:cs typeface="Calibri" pitchFamily="34" charset="-120"/>
              </a:rPr>
              <a:t>WHO: Dr. Covington   WHEN: 2022   EVIDENCE: Photos + primary sources   = RELIABLE</a:t>
            </a:r>
            <a:endParaRPr lang="en-US" sz="1000" dirty="0"/>
          </a:p>
        </p:txBody>
      </p:sp>
      <p:sp>
        <p:nvSpPr>
          <p:cNvPr id="9" name="Shape 7"/>
          <p:cNvSpPr/>
          <p:nvPr/>
        </p:nvSpPr>
        <p:spPr>
          <a:xfrm>
            <a:off x="4846320" y="1078992"/>
            <a:ext cx="3840480" cy="2240280"/>
          </a:xfrm>
          <a:prstGeom prst="roundRect">
            <a:avLst>
              <a:gd name="adj" fmla="val 4898"/>
            </a:avLst>
          </a:prstGeom>
          <a:solidFill>
            <a:srgbClr val="FFF0F0"/>
          </a:solidFill>
          <a:ln w="25400">
            <a:solidFill>
              <a:srgbClr val="E8636B"/>
            </a:solidFill>
            <a:prstDash val="solid"/>
          </a:ln>
        </p:spPr>
      </p:sp>
      <p:sp>
        <p:nvSpPr>
          <p:cNvPr id="10" name="Text 8"/>
          <p:cNvSpPr/>
          <p:nvPr/>
        </p:nvSpPr>
        <p:spPr>
          <a:xfrm>
            <a:off x="5029200" y="1188720"/>
            <a:ext cx="3474720" cy="228600"/>
          </a:xfrm>
          <a:prstGeom prst="rect">
            <a:avLst/>
          </a:prstGeom>
          <a:noFill/>
          <a:ln/>
        </p:spPr>
        <p:txBody>
          <a:bodyPr wrap="square" lIns="0" tIns="0" rIns="0" bIns="0" rtlCol="0" anchor="ctr"/>
          <a:lstStyle/>
          <a:p>
            <a:pPr algn="ctr" indent="0" marL="0">
              <a:buNone/>
            </a:pPr>
            <a:r>
              <a:rPr lang="en-US" sz="900" b="1" spc="150" kern="0" dirty="0">
                <a:solidFill>
                  <a:srgbClr val="E8636B"/>
                </a:solidFill>
                <a:latin typeface="Calibri" pitchFamily="34" charset="0"/>
                <a:ea typeface="Calibri" pitchFamily="34" charset="-122"/>
                <a:cs typeface="Calibri" pitchFamily="34" charset="-120"/>
              </a:rPr>
              <a:t>SOURCE B</a:t>
            </a:r>
            <a:endParaRPr lang="en-US" sz="900" dirty="0"/>
          </a:p>
        </p:txBody>
      </p:sp>
      <p:sp>
        <p:nvSpPr>
          <p:cNvPr id="11" name="Text 9"/>
          <p:cNvSpPr/>
          <p:nvPr/>
        </p:nvSpPr>
        <p:spPr>
          <a:xfrm>
            <a:off x="5029200" y="1463040"/>
            <a:ext cx="3474720" cy="1554480"/>
          </a:xfrm>
          <a:prstGeom prst="rect">
            <a:avLst/>
          </a:prstGeom>
          <a:noFill/>
          <a:ln/>
        </p:spPr>
        <p:txBody>
          <a:bodyPr wrap="square" lIns="0" tIns="0" rIns="0" bIns="0" rtlCol="0" anchor="t"/>
          <a:lstStyle/>
          <a:p>
            <a:pPr indent="0" marL="0">
              <a:buNone/>
            </a:pPr>
            <a:r>
              <a:rPr lang="en-US" sz="1200" dirty="0">
                <a:solidFill>
                  <a:srgbClr val="6A2A2A"/>
                </a:solidFill>
                <a:latin typeface="Calibri" pitchFamily="34" charset="0"/>
                <a:ea typeface="Calibri" pitchFamily="34" charset="-122"/>
                <a:cs typeface="Calibri" pitchFamily="34" charset="-120"/>
              </a:rPr>
              <a:t>MyFloridaBlog.net</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"Florida Was Awesome Back Then!</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You Won't Believe These Facts!"</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No author listed.</a:t>
            </a:r>
            <a:endParaRPr lang="en-US" sz="1200" dirty="0"/>
          </a:p>
          <a:p>
            <a:pPr indent="0" marL="0">
              <a:buNone/>
            </a:pPr>
            <a:r>
              <a:rPr lang="en-US" sz="1200" dirty="0">
                <a:solidFill>
                  <a:srgbClr val="6A2A2A"/>
                </a:solidFill>
                <a:latin typeface="Calibri" pitchFamily="34" charset="0"/>
                <a:ea typeface="Calibri" pitchFamily="34" charset="-122"/>
                <a:cs typeface="Calibri" pitchFamily="34" charset="-120"/>
              </a:rPr>
              <a:t>Last updated 2015. No sources or evidence cited.</a:t>
            </a:r>
            <a:endParaRPr lang="en-US" sz="1200" dirty="0"/>
          </a:p>
        </p:txBody>
      </p:sp>
      <p:sp>
        <p:nvSpPr>
          <p:cNvPr id="12" name="Shape 10"/>
          <p:cNvSpPr/>
          <p:nvPr/>
        </p:nvSpPr>
        <p:spPr>
          <a:xfrm>
            <a:off x="4846320" y="3401568"/>
            <a:ext cx="3840480" cy="457200"/>
          </a:xfrm>
          <a:prstGeom prst="roundRect">
            <a:avLst>
              <a:gd name="adj" fmla="val 16000"/>
            </a:avLst>
          </a:prstGeom>
          <a:solidFill>
            <a:srgbClr val="FFF0F0"/>
          </a:solidFill>
          <a:ln w="19050">
            <a:solidFill>
              <a:srgbClr val="E8636B"/>
            </a:solidFill>
            <a:prstDash val="solid"/>
          </a:ln>
        </p:spPr>
      </p:sp>
      <p:sp>
        <p:nvSpPr>
          <p:cNvPr id="13" name="Text 11"/>
          <p:cNvSpPr/>
          <p:nvPr/>
        </p:nvSpPr>
        <p:spPr>
          <a:xfrm>
            <a:off x="4983480" y="3456432"/>
            <a:ext cx="3566160" cy="347472"/>
          </a:xfrm>
          <a:prstGeom prst="rect">
            <a:avLst/>
          </a:prstGeom>
          <a:noFill/>
          <a:ln/>
        </p:spPr>
        <p:txBody>
          <a:bodyPr wrap="square" lIns="0" tIns="0" rIns="0" bIns="0" rtlCol="0" anchor="ctr"/>
          <a:lstStyle/>
          <a:p>
            <a:pPr indent="0" marL="0">
              <a:buNone/>
            </a:pPr>
            <a:r>
              <a:rPr lang="en-US" sz="1000" b="1" dirty="0">
                <a:solidFill>
                  <a:srgbClr val="8A3A3A"/>
                </a:solidFill>
                <a:latin typeface="Calibri" pitchFamily="34" charset="0"/>
                <a:ea typeface="Calibri" pitchFamily="34" charset="-122"/>
                <a:cs typeface="Calibri" pitchFamily="34" charset="-120"/>
              </a:rPr>
              <a:t>WHO: none   WHEN: 2015, outdated   EVIDENCE: none   = UNRELIABLE</a:t>
            </a:r>
            <a:endParaRPr lang="en-US" sz="1000" dirty="0"/>
          </a:p>
        </p:txBody>
      </p:sp>
      <p:sp>
        <p:nvSpPr>
          <p:cNvPr id="14" name="Shape 12"/>
          <p:cNvSpPr/>
          <p:nvPr/>
        </p:nvSpPr>
        <p:spPr>
          <a:xfrm>
            <a:off x="457200" y="3977640"/>
            <a:ext cx="8229600" cy="960120"/>
          </a:xfrm>
          <a:prstGeom prst="roundRect">
            <a:avLst>
              <a:gd name="adj" fmla="val 11429"/>
            </a:avLst>
          </a:prstGeom>
          <a:solidFill>
            <a:srgbClr val="FFF3DC"/>
          </a:solidFill>
          <a:ln w="19050">
            <a:solidFill>
              <a:srgbClr val="F5E6C8"/>
            </a:solidFill>
            <a:prstDash val="solid"/>
          </a:ln>
        </p:spPr>
      </p:sp>
      <p:sp>
        <p:nvSpPr>
          <p:cNvPr id="15" name="Text 13"/>
          <p:cNvSpPr/>
          <p:nvPr/>
        </p:nvSpPr>
        <p:spPr>
          <a:xfrm>
            <a:off x="594360" y="4032504"/>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94360" y="4233672"/>
            <a:ext cx="795528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is more reliable because it passes all three checks: WHO..., WHEN..., EVIDENCE..."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B fails because..."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Curator's Chronicle + Turn-In Checklist</a:t>
            </a:r>
            <a:endParaRPr lang="en-US" sz="2400" dirty="0"/>
          </a:p>
        </p:txBody>
      </p:sp>
      <p:sp>
        <p:nvSpPr>
          <p:cNvPr id="3" name="Shape 1"/>
          <p:cNvSpPr/>
          <p:nvPr/>
        </p:nvSpPr>
        <p:spPr>
          <a:xfrm>
            <a:off x="457200" y="749808"/>
            <a:ext cx="5303520" cy="1600200"/>
          </a:xfrm>
          <a:prstGeom prst="roundRect">
            <a:avLst>
              <a:gd name="adj" fmla="val 6857"/>
            </a:avLst>
          </a:prstGeom>
          <a:solidFill>
            <a:srgbClr val="FFF3DC"/>
          </a:solidFill>
          <a:ln w="25400">
            <a:solidFill>
              <a:srgbClr val="D4943A"/>
            </a:solidFill>
            <a:prstDash val="solid"/>
          </a:ln>
        </p:spPr>
      </p:sp>
      <p:sp>
        <p:nvSpPr>
          <p:cNvPr id="4" name="Text 2"/>
          <p:cNvSpPr/>
          <p:nvPr/>
        </p:nvSpPr>
        <p:spPr>
          <a:xfrm>
            <a:off x="640080" y="859536"/>
            <a:ext cx="493776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5" name="Text 3"/>
          <p:cNvSpPr/>
          <p:nvPr/>
        </p:nvSpPr>
        <p:spPr>
          <a:xfrm>
            <a:off x="640080" y="1143000"/>
            <a:ext cx="4937760" cy="1051560"/>
          </a:xfrm>
          <a:prstGeom prst="rect">
            <a:avLst/>
          </a:prstGeom>
          <a:noFill/>
          <a:ln/>
        </p:spPr>
        <p:txBody>
          <a:bodyPr wrap="square" rtlCol="0" anchor="ctr"/>
          <a:lstStyle/>
          <a:p>
            <a:pPr algn="ctr" indent="0" marL="0">
              <a:buNone/>
            </a:pPr>
            <a:r>
              <a:rPr lang="en-US" sz="1600" i="1" dirty="0">
                <a:solidFill>
                  <a:srgbClr val="5A4A3A"/>
                </a:solidFill>
                <a:latin typeface="Cambria" pitchFamily="34" charset="0"/>
                <a:ea typeface="Cambria" pitchFamily="34" charset="-122"/>
                <a:cs typeface="Cambria" pitchFamily="34" charset="-120"/>
              </a:rPr>
              <a:t>"In this exhibit, I learned that _____ because _____."</a:t>
            </a:r>
            <a:endParaRPr lang="en-US" sz="1600" dirty="0"/>
          </a:p>
        </p:txBody>
      </p:sp>
      <p:sp>
        <p:nvSpPr>
          <p:cNvPr id="6" name="Shape 4"/>
          <p:cNvSpPr/>
          <p:nvPr/>
        </p:nvSpPr>
        <p:spPr>
          <a:xfrm>
            <a:off x="5943600" y="749808"/>
            <a:ext cx="2743200" cy="2971800"/>
          </a:xfrm>
          <a:prstGeom prst="roundRect">
            <a:avLst>
              <a:gd name="adj" fmla="val 4000"/>
            </a:avLst>
          </a:prstGeom>
          <a:solidFill>
            <a:srgbClr val="F0F2F8"/>
          </a:solidFill>
          <a:ln w="12700">
            <a:solidFill>
              <a:srgbClr val="C8D0E0"/>
            </a:solidFill>
            <a:prstDash val="solid"/>
          </a:ln>
        </p:spPr>
      </p:sp>
      <p:sp>
        <p:nvSpPr>
          <p:cNvPr id="7" name="Text 5"/>
          <p:cNvSpPr/>
          <p:nvPr/>
        </p:nvSpPr>
        <p:spPr>
          <a:xfrm>
            <a:off x="6126480" y="859536"/>
            <a:ext cx="2377440" cy="228600"/>
          </a:xfrm>
          <a:prstGeom prst="rect">
            <a:avLst/>
          </a:prstGeom>
          <a:noFill/>
          <a:ln/>
        </p:spPr>
        <p:txBody>
          <a:bodyPr wrap="square" lIns="0" tIns="0" rIns="0" bIns="0" rtlCol="0" anchor="ctr"/>
          <a:lstStyle/>
          <a:p>
            <a:pPr indent="0" marL="0">
              <a:buNone/>
            </a:pPr>
            <a:r>
              <a:rPr lang="en-US" sz="900" b="1" spc="100" kern="0" dirty="0">
                <a:solidFill>
                  <a:srgbClr val="7A88A8"/>
                </a:solidFill>
                <a:latin typeface="Calibri" pitchFamily="34" charset="0"/>
                <a:ea typeface="Calibri" pitchFamily="34" charset="-122"/>
                <a:cs typeface="Calibri" pitchFamily="34" charset="-120"/>
              </a:rPr>
              <a:t>TURN-IN CHECKLIST</a:t>
            </a:r>
            <a:endParaRPr lang="en-US" sz="900" dirty="0"/>
          </a:p>
        </p:txBody>
      </p:sp>
      <p:sp>
        <p:nvSpPr>
          <p:cNvPr id="8" name="Text 6"/>
          <p:cNvSpPr/>
          <p:nvPr/>
        </p:nvSpPr>
        <p:spPr>
          <a:xfrm>
            <a:off x="6126480" y="1143000"/>
            <a:ext cx="2377440" cy="23774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E1C42"/>
                </a:solidFill>
                <a:latin typeface="Calibri" pitchFamily="34" charset="0"/>
                <a:ea typeface="Calibri" pitchFamily="34" charset="-122"/>
                <a:cs typeface="Calibri" pitchFamily="34" charset="-120"/>
              </a:rPr>
              <a:t>Answered the evidence questions</a:t>
            </a:r>
            <a:endParaRPr lang="en-US" sz="1100" dirty="0"/>
          </a:p>
          <a:p>
            <a:pPr marL="342900" indent="-342900">
              <a:spcAft>
                <a:spcPts val="800"/>
              </a:spcAft>
              <a:buSzPct val="100000"/>
              <a:buChar char="•"/>
            </a:pPr>
            <a:r>
              <a:rPr lang="en-US" sz="1100" dirty="0">
                <a:solidFill>
                  <a:srgbClr val="0E1C42"/>
                </a:solidFill>
                <a:latin typeface="Calibri" pitchFamily="34" charset="0"/>
                <a:ea typeface="Calibri" pitchFamily="34" charset="-122"/>
                <a:cs typeface="Calibri" pitchFamily="34" charset="-120"/>
              </a:rPr>
              <a:t>Evaluated new search results</a:t>
            </a:r>
            <a:endParaRPr lang="en-US" sz="1100" dirty="0"/>
          </a:p>
          <a:p>
            <a:pPr marL="342900" indent="-342900">
              <a:spcAft>
                <a:spcPts val="800"/>
              </a:spcAft>
              <a:buSzPct val="100000"/>
              <a:buChar char="•"/>
            </a:pPr>
            <a:r>
              <a:rPr lang="en-US" sz="1100" dirty="0">
                <a:solidFill>
                  <a:srgbClr val="0E1C42"/>
                </a:solidFill>
                <a:latin typeface="Calibri" pitchFamily="34" charset="0"/>
                <a:ea typeface="Calibri" pitchFamily="34" charset="-122"/>
                <a:cs typeface="Calibri" pitchFamily="34" charset="-120"/>
              </a:rPr>
              <a:t>Wrote Curator's Chronicle</a:t>
            </a:r>
            <a:endParaRPr lang="en-US" sz="1100" dirty="0"/>
          </a:p>
          <a:p>
            <a:pPr marL="342900" indent="-342900">
              <a:spcAft>
                <a:spcPts val="800"/>
              </a:spcAft>
              <a:buSzPct val="100000"/>
              <a:buChar char="•"/>
            </a:pPr>
            <a:r>
              <a:rPr lang="en-US" sz="1100" dirty="0">
                <a:solidFill>
                  <a:srgbClr val="0E1C42"/>
                </a:solidFill>
                <a:latin typeface="Calibri" pitchFamily="34" charset="0"/>
                <a:ea typeface="Calibri" pitchFamily="34" charset="-122"/>
                <a:cs typeface="Calibri" pitchFamily="34" charset="-120"/>
              </a:rPr>
              <a:t>Copied or downloaded work</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Submitted to Canvas</a:t>
            </a:r>
            <a:endParaRPr lang="en-US" sz="1100" dirty="0"/>
          </a:p>
        </p:txBody>
      </p:sp>
      <p:sp>
        <p:nvSpPr>
          <p:cNvPr id="9" name="Shape 7"/>
          <p:cNvSpPr/>
          <p:nvPr/>
        </p:nvSpPr>
        <p:spPr>
          <a:xfrm>
            <a:off x="457200" y="2487168"/>
            <a:ext cx="5303520" cy="1298448"/>
          </a:xfrm>
          <a:prstGeom prst="roundRect">
            <a:avLst>
              <a:gd name="adj" fmla="val 8451"/>
            </a:avLst>
          </a:prstGeom>
          <a:solidFill>
            <a:srgbClr val="FFF3DC"/>
          </a:solidFill>
          <a:ln w="19050">
            <a:solidFill>
              <a:srgbClr val="F5E6C8"/>
            </a:solidFill>
            <a:prstDash val="solid"/>
          </a:ln>
        </p:spPr>
      </p:sp>
      <p:sp>
        <p:nvSpPr>
          <p:cNvPr id="10" name="Text 8"/>
          <p:cNvSpPr/>
          <p:nvPr/>
        </p:nvSpPr>
        <p:spPr>
          <a:xfrm>
            <a:off x="594360" y="2542032"/>
            <a:ext cx="5029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2743200"/>
            <a:ext cx="5029200" cy="9784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skill I will remember is..."</a:t>
            </a:r>
            <a:endParaRPr lang="en-US" sz="1200" dirty="0"/>
          </a:p>
        </p:txBody>
      </p:sp>
      <p:sp>
        <p:nvSpPr>
          <p:cNvPr id="12" name="Shape 10"/>
          <p:cNvSpPr/>
          <p:nvPr/>
        </p:nvSpPr>
        <p:spPr>
          <a:xfrm>
            <a:off x="457200" y="3913632"/>
            <a:ext cx="822960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640080" y="4005072"/>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640080" y="4261104"/>
            <a:ext cx="786384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would you use the Three-Check Test outside of school?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check is hardest to do? Why?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5143500"/>
          </a:xfrm>
          <a:prstGeom prst="roundRect">
            <a:avLst>
              <a:gd name="adj" fmla="val 2133"/>
            </a:avLst>
          </a:prstGeom>
          <a:solidFill>
            <a:srgbClr val="E2E8F4"/>
          </a:solidFill>
          <a:ln w="19050">
            <a:solidFill>
              <a:srgbClr val="B0B8CC"/>
            </a:solidFill>
            <a:prstDash val="dash"/>
          </a:ln>
        </p:spPr>
      </p:sp>
      <p:sp>
        <p:nvSpPr>
          <p:cNvPr id="5" name="Text 3"/>
          <p:cNvSpPr/>
          <p:nvPr/>
        </p:nvSpPr>
        <p:spPr>
          <a:xfrm>
            <a:off x="0" y="0"/>
            <a:ext cx="9144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137160" y="274320"/>
            <a:ext cx="8869680" cy="47777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research desk at golden hour — warm light spilling across notebooks and a laptop showing a museum database. A curator badge labeled 'Source Scholar' rests on the corner of the desk. Celebratory, accomplished mood.</a:t>
            </a:r>
            <a:endParaRPr lang="en-US" sz="1100" dirty="0"/>
          </a:p>
        </p:txBody>
      </p:sp>
      <p:sp>
        <p:nvSpPr>
          <p:cNvPr id="7" name="Shape 5"/>
          <p:cNvSpPr/>
          <p:nvPr/>
        </p:nvSpPr>
        <p:spPr>
          <a:xfrm>
            <a:off x="0" y="0"/>
            <a:ext cx="9144000" cy="5143500"/>
          </a:xfrm>
          <a:prstGeom prst="rect">
            <a:avLst/>
          </a:prstGeom>
          <a:solidFill>
            <a:srgbClr val="0E1C42">
              <a:alpha val="78000"/>
            </a:srgbClr>
          </a:solidFill>
          <a:ln/>
        </p:spPr>
      </p:sp>
      <p:sp>
        <p:nvSpPr>
          <p:cNvPr id="8" name="Text 6"/>
          <p:cNvSpPr/>
          <p:nvPr/>
        </p:nvSpPr>
        <p:spPr>
          <a:xfrm>
            <a:off x="457200" y="347472"/>
            <a:ext cx="8229600" cy="274320"/>
          </a:xfrm>
          <a:prstGeom prst="rect">
            <a:avLst/>
          </a:prstGeom>
          <a:noFill/>
          <a:ln/>
        </p:spPr>
        <p:txBody>
          <a:bodyPr wrap="square" lIns="0" tIns="0" rIns="0" bIns="0"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SOURCE SCHOLAR CERTIFIED!</a:t>
            </a:r>
            <a:endParaRPr lang="en-US" sz="1000" dirty="0"/>
          </a:p>
        </p:txBody>
      </p:sp>
      <p:sp>
        <p:nvSpPr>
          <p:cNvPr id="9" name="Text 7"/>
          <p:cNvSpPr/>
          <p:nvPr/>
        </p:nvSpPr>
        <p:spPr>
          <a:xfrm>
            <a:off x="457200" y="713232"/>
            <a:ext cx="8229600" cy="777240"/>
          </a:xfrm>
          <a:prstGeom prst="rect">
            <a:avLst/>
          </a:prstGeom>
          <a:noFill/>
          <a:ln/>
        </p:spPr>
        <p:txBody>
          <a:bodyPr wrap="square" rtlCol="0" anchor="ctr"/>
          <a:lstStyle/>
          <a:p>
            <a:pPr algn="ctr" indent="0" marL="0">
              <a:buNone/>
            </a:pPr>
            <a:r>
              <a:rPr lang="en-US" sz="4200" b="1" dirty="0">
                <a:solidFill>
                  <a:srgbClr val="D4943A"/>
                </a:solidFill>
                <a:latin typeface="Cambria" pitchFamily="34" charset="0"/>
                <a:ea typeface="Cambria" pitchFamily="34" charset="-122"/>
                <a:cs typeface="Cambria" pitchFamily="34" charset="-120"/>
              </a:rPr>
              <a:t>You're a Careful Researcher!</a:t>
            </a:r>
            <a:endParaRPr lang="en-US" sz="4200" dirty="0"/>
          </a:p>
        </p:txBody>
      </p:sp>
      <p:sp>
        <p:nvSpPr>
          <p:cNvPr id="10" name="Shape 8"/>
          <p:cNvSpPr/>
          <p:nvPr/>
        </p:nvSpPr>
        <p:spPr>
          <a:xfrm>
            <a:off x="1371600" y="1645920"/>
            <a:ext cx="640080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1600200" y="1810512"/>
            <a:ext cx="5943600" cy="1133856"/>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Today you learned the Three-Check Test: WHO wrote it, WHEN was it written, and does it have EVIDENCE. That is a skill real museum researchers and historians use every single day.</a:t>
            </a:r>
            <a:endParaRPr lang="en-US" sz="1500" dirty="0"/>
          </a:p>
        </p:txBody>
      </p:sp>
      <p:sp>
        <p:nvSpPr>
          <p:cNvPr id="12" name="Shape 10"/>
          <p:cNvSpPr/>
          <p:nvPr/>
        </p:nvSpPr>
        <p:spPr>
          <a:xfrm>
            <a:off x="731520" y="3291840"/>
            <a:ext cx="7680960" cy="1463040"/>
          </a:xfrm>
          <a:prstGeom prst="roundRect">
            <a:avLst>
              <a:gd name="adj" fmla="val 9375"/>
            </a:avLst>
          </a:prstGeom>
          <a:solidFill>
            <a:srgbClr val="1A8A7D"/>
          </a:solidFill>
          <a:ln/>
          <a:effectLst>
            <a:outerShdw sx="100000" sy="100000" kx="0" ky="0" algn="bl" rotWithShape="0" blurRad="76200" dist="25400" dir="8100000">
              <a:srgbClr val="000000">
                <a:alpha val="20000"/>
              </a:srgbClr>
            </a:outerShdw>
          </a:effectLst>
        </p:spPr>
      </p:sp>
      <p:sp>
        <p:nvSpPr>
          <p:cNvPr id="13" name="Text 11"/>
          <p:cNvSpPr/>
          <p:nvPr/>
        </p:nvSpPr>
        <p:spPr>
          <a:xfrm>
            <a:off x="914400" y="3401568"/>
            <a:ext cx="7315200" cy="228600"/>
          </a:xfrm>
          <a:prstGeom prst="rect">
            <a:avLst/>
          </a:prstGeom>
          <a:noFill/>
          <a:ln/>
        </p:spPr>
        <p:txBody>
          <a:bodyPr wrap="square" lIns="0" tIns="0" rIns="0" bIns="0" rtlCol="0" anchor="ctr"/>
          <a:lstStyle/>
          <a:p>
            <a:pPr algn="ctr" indent="0" marL="0">
              <a:buNone/>
            </a:pPr>
            <a:r>
              <a:rPr lang="en-US" sz="900" b="1" spc="200" kern="0" dirty="0">
                <a:solidFill>
                  <a:srgbClr val="A0E8DA"/>
                </a:solidFill>
                <a:latin typeface="Calibri" pitchFamily="34" charset="0"/>
                <a:ea typeface="Calibri" pitchFamily="34" charset="-122"/>
                <a:cs typeface="Calibri" pitchFamily="34" charset="-120"/>
              </a:rPr>
              <a:t>COMING NEXT:</a:t>
            </a:r>
            <a:endParaRPr lang="en-US" sz="900" dirty="0"/>
          </a:p>
        </p:txBody>
      </p:sp>
      <p:sp>
        <p:nvSpPr>
          <p:cNvPr id="14" name="Text 12"/>
          <p:cNvSpPr/>
          <p:nvPr/>
        </p:nvSpPr>
        <p:spPr>
          <a:xfrm>
            <a:off x="960120" y="3657600"/>
            <a:ext cx="7315200" cy="960120"/>
          </a:xfrm>
          <a:prstGeom prst="rect">
            <a:avLst/>
          </a:prstGeom>
          <a:noFill/>
          <a:ln/>
        </p:spPr>
        <p:txBody>
          <a:bodyPr wrap="square" rtlCol="0" anchor="ctr"/>
          <a:lstStyle/>
          <a:p>
            <a:pPr algn="ctr" indent="0" marL="0">
              <a:buNone/>
            </a:pPr>
            <a:r>
              <a:rPr lang="en-US" sz="1300" i="1" dirty="0">
                <a:solidFill>
                  <a:srgbClr val="FFFFFF"/>
                </a:solidFill>
                <a:latin typeface="Cambria" pitchFamily="34" charset="0"/>
                <a:ea typeface="Cambria" pitchFamily="34" charset="-122"/>
                <a:cs typeface="Cambria" pitchFamily="34" charset="-120"/>
              </a:rPr>
              <a:t>A wall of museum words appears: History, Geography, Economy, and Civics. These word roots will help you read the museum map — and understand the four big jobs you are learning all year.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2026-07-10T22:13:47Z</dcterms:created>
  <dcterms:modified xsi:type="dcterms:W3CDTF">2026-07-10T22:13:47Z</dcterms:modified>
</cp:coreProperties>
</file>