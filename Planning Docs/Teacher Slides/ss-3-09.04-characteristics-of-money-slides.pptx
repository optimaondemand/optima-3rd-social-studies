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dramatic museum-case photograph: gold coins, silver coins, paper bills, a cowrie shell, and a small block of salt arranged together under glass, dramatic gallery lighting, macro detail on textures.Title slide. Welcome students. Read the Curator's Question aloud.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Close-up of a glass museum display case containing gold coins, silver coins, stacked paper bills, one cowrie shell, and one small white block of salt, labeled placards, warm gallery spotlight.Say: There's a brand-new glass case in the Marketplace Hall today: gold coins, silver coins, paper bills, a shell, and a block of salt. They've all been money somewhere in history. Read the Curator's Question aloud.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single antique gold coin resting in an open palm, dramatic single spotlight, symbolic image of trust and courage.Mention today's virtue, courage: It actually takes courage to trust money. A coin is just a small piece of metal. A bill is just a printed piece of paper. People had to be brave enough to believe those things would still be worth something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name 'barter' or 'money' yet. Give students 5 seconds of silence to observe the scene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discussion using the Socratic panel. Let students propose the idea of a common trusted item before revealing the term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single gold coin glowing under a spotlight against a dark museum backdrop, symbolic 'reveal' moment image.Frame this as: 'You discovered why communities needed money.' Do the retrieval challenge quickly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seconds of silent observation first. Do not name the four rules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students toward noticing durability, portability, countability, and shared trust without naming the four rules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Four simple museum icon cards in a row: a shield (lasts), a hand holding a coin pouch (easy to carry), a stack of counted coins (easy to count), a handshake (trusted).Name all four rules explicitly, framed as 'you discovered these by looking at the coins and bills.' Explain gold, silver, and paper each pass all four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observation first. Do not reveal pass/fail results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predict before revealing the actual test-chart results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curator's test chart displayed as a museum placard: rows for gold coin, paper bill, cowrie shell, block of salt; columns for the four rules; checkmarks and warning symbols.Walk through the chart. Salt fails Lasts because it dissolves in water. Shells were trusted only in some places and could chip. Tie to the Opti fun fact about 'salary'.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scaffolds Evidence Question 2 (why trust matters) and Evidence Question 3 (why salt/shells worked less well than gold/silver). Push students to connect trust to community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'Good money has to last — that's why salt didn't work. It dissolves.' Think aloud through Rule 1 using the chocolate bar example before releasing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Whole-class discussion. Reach consensus as a class: carry = probably yes (small, light); count = tricky, since bars can break unevenly.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find the error: enjoying a snack is not the same as a community agreeing on its trusted value. Then have students commit to their own Rule 4 judgment before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graded. Reveal answers after students respond in chat or on whiteboards. Celebrate a perfect score; if not, review the four rules slowly: lasts, easy to carry, easy to count,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evidence questions aloud. Every question has already been discussed and modeled earlier in the deck. For the Curator Task, remind students of the Teacher Models / We Try Together / Your Turn slides for chocolate 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type their completed Chronicle sentence in the chat before moving to closing.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wide celebratory museum shot: the glass money case now brightly lit with a small crowd of visitor silhouettes, warm golden light, sense of accomplishment.Celebrate: You tested chocolate bars against four real curator rules and wrote a judgment panel. Tease next lesson: Canada, Mexico, and the Caribbean sections of the money case.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1219200" y="1584960"/>
            <a:ext cx="9753600" cy="487680"/>
          </a:xfrm>
          <a:prstGeom prst="rect">
            <a:avLst/>
          </a:prstGeom>
          <a:noFill/>
          <a:ln/>
        </p:spPr>
        <p:txBody>
          <a:bodyPr wrap="square" lIns="0" tIns="0" rIns="0" bIns="0" rtlCol="0" anchor="ctr"/>
          <a:lstStyle/>
          <a:p>
            <a:pPr indent="0" marL="0">
              <a:buNone/>
            </a:pPr>
            <a:r>
              <a:rPr lang="en-US" sz="1400" b="1" spc="200" kern="0" dirty="0">
                <a:solidFill>
                  <a:srgbClr val="55C8E8"/>
                </a:solidFill>
                <a:latin typeface="Calibri" pitchFamily="34" charset="0"/>
                <a:ea typeface="Calibri" pitchFamily="34" charset="-122"/>
                <a:cs typeface="Calibri" pitchFamily="34" charset="-120"/>
              </a:rPr>
              <a:t>MARKETPLACE HALL</a:t>
            </a:r>
            <a:endParaRPr lang="en-US" sz="1400" dirty="0"/>
          </a:p>
        </p:txBody>
      </p:sp>
      <p:sp>
        <p:nvSpPr>
          <p:cNvPr id="6" name="Text 3"/>
          <p:cNvSpPr/>
          <p:nvPr/>
        </p:nvSpPr>
        <p:spPr>
          <a:xfrm>
            <a:off x="1219200" y="2133600"/>
            <a:ext cx="9753600" cy="12192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Characteristics of Money</a:t>
            </a:r>
            <a:endParaRPr lang="en-US" sz="4000" dirty="0"/>
          </a:p>
        </p:txBody>
      </p:sp>
      <p:sp>
        <p:nvSpPr>
          <p:cNvPr id="7" name="Text 4"/>
          <p:cNvSpPr/>
          <p:nvPr/>
        </p:nvSpPr>
        <p:spPr>
          <a:xfrm>
            <a:off x="1219200" y="3352800"/>
            <a:ext cx="9753600" cy="4876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Lesson 3.09.04  ·  Basics of Economics  ·  Trade &amp; Choice Curator</a:t>
            </a:r>
            <a:endParaRPr lang="en-US" sz="1500" dirty="0"/>
          </a:p>
        </p:txBody>
      </p:sp>
      <p:sp>
        <p:nvSpPr>
          <p:cNvPr id="8" name="Shape 5"/>
          <p:cNvSpPr/>
          <p:nvPr/>
        </p:nvSpPr>
        <p:spPr>
          <a:xfrm>
            <a:off x="1219200" y="4084320"/>
            <a:ext cx="9387840" cy="1584960"/>
          </a:xfrm>
          <a:prstGeom prst="roundRect">
            <a:avLst>
              <a:gd name="adj" fmla="val 9231"/>
            </a:avLst>
          </a:prstGeom>
          <a:solidFill>
            <a:srgbClr val="1A2D5A"/>
          </a:solidFill>
          <a:ln w="12700">
            <a:solidFill>
              <a:srgbClr val="3A5080"/>
            </a:solidFill>
            <a:prstDash val="solid"/>
          </a:ln>
        </p:spPr>
      </p:sp>
      <p:sp>
        <p:nvSpPr>
          <p:cNvPr id="9" name="Text 6"/>
          <p:cNvSpPr/>
          <p:nvPr/>
        </p:nvSpPr>
        <p:spPr>
          <a:xfrm>
            <a:off x="1463040" y="4242816"/>
            <a:ext cx="8900160" cy="36576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TODAY'S CURATOR'S QUESTION</a:t>
            </a:r>
            <a:endParaRPr lang="en-US" sz="1000" dirty="0"/>
          </a:p>
        </p:txBody>
      </p:sp>
      <p:sp>
        <p:nvSpPr>
          <p:cNvPr id="10" name="Text 7"/>
          <p:cNvSpPr/>
          <p:nvPr/>
        </p:nvSpPr>
        <p:spPr>
          <a:xfrm>
            <a:off x="1463040" y="4632960"/>
            <a:ext cx="8900160" cy="975360"/>
          </a:xfrm>
          <a:prstGeom prst="rect">
            <a:avLst/>
          </a:prstGeom>
          <a:noFill/>
          <a:ln/>
        </p:spPr>
        <p:txBody>
          <a:bodyPr wrap="square" lIns="0" tIns="0" rIns="0" bIns="0"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What makes something actually work as money — and why do people trust a coin or a piece of paper at all?</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426720"/>
            <a:ext cx="10728960" cy="48768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ENTER THE MUSEUM</a:t>
            </a:r>
            <a:endParaRPr lang="en-US" sz="1300" dirty="0"/>
          </a:p>
        </p:txBody>
      </p:sp>
      <p:sp>
        <p:nvSpPr>
          <p:cNvPr id="6" name="Text 3"/>
          <p:cNvSpPr/>
          <p:nvPr/>
        </p:nvSpPr>
        <p:spPr>
          <a:xfrm>
            <a:off x="731520" y="1036320"/>
            <a:ext cx="10728960" cy="8534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Money Case</a:t>
            </a:r>
            <a:endParaRPr lang="en-US" sz="3000" dirty="0"/>
          </a:p>
        </p:txBody>
      </p:sp>
      <p:sp>
        <p:nvSpPr>
          <p:cNvPr id="7" name="Text 4"/>
          <p:cNvSpPr/>
          <p:nvPr/>
        </p:nvSpPr>
        <p:spPr>
          <a:xfrm>
            <a:off x="731520" y="2011680"/>
            <a:ext cx="10363200" cy="2926080"/>
          </a:xfrm>
          <a:prstGeom prst="rect">
            <a:avLst/>
          </a:prstGeom>
          <a:noFill/>
          <a:ln/>
        </p:spPr>
        <p:txBody>
          <a:bodyPr wrap="square" lIns="0" tIns="0" rIns="0" bIns="0" rtlCol="0" anchor="t"/>
          <a:lstStyle/>
          <a:p>
            <a:pPr indent="0" marL="0">
              <a:spcAft>
                <a:spcPts val="1000"/>
              </a:spcAft>
              <a:buNone/>
            </a:pPr>
            <a:r>
              <a:rPr lang="en-US" sz="1350" dirty="0">
                <a:solidFill>
                  <a:srgbClr val="FFFFFF"/>
                </a:solidFill>
                <a:latin typeface="Calibri" pitchFamily="34" charset="0"/>
                <a:ea typeface="Calibri" pitchFamily="34" charset="-122"/>
                <a:cs typeface="Calibri" pitchFamily="34" charset="-120"/>
              </a:rPr>
              <a:t>A brand-new glass case sits in the middle of the Marketplace Hall. Inside: gold coins, silver coins, paper bills — and two strange items: a cowrie shell and a small block of salt.</a:t>
            </a:r>
            <a:endParaRPr lang="en-US" sz="1350" dirty="0"/>
          </a:p>
          <a:p>
            <a:pPr indent="0" marL="0">
              <a:spcAft>
                <a:spcPts val="1000"/>
              </a:spcAft>
              <a:buNone/>
            </a:pPr>
            <a:r>
              <a:rPr lang="en-US" sz="1350" dirty="0">
                <a:solidFill>
                  <a:srgbClr val="FFFFFF"/>
                </a:solidFill>
                <a:latin typeface="Calibri" pitchFamily="34" charset="0"/>
                <a:ea typeface="Calibri" pitchFamily="34" charset="-122"/>
                <a:cs typeface="Calibri" pitchFamily="34" charset="-120"/>
              </a:rPr>
              <a:t>“Every single one of these used to be money somewhere,” the head curator says. “Some still are. But not everything works the same. Some of these were trusted for hundreds of years. One of them dissolved if it got wet.”</a:t>
            </a:r>
            <a:endParaRPr lang="en-US" sz="1350" dirty="0"/>
          </a:p>
          <a:p>
            <a:pPr indent="0" marL="0">
              <a:buNone/>
            </a:pPr>
            <a:r>
              <a:rPr lang="en-US" sz="1350" dirty="0">
                <a:solidFill>
                  <a:srgbClr val="FFFFFF"/>
                </a:solidFill>
                <a:latin typeface="Calibri" pitchFamily="34" charset="0"/>
                <a:ea typeface="Calibri" pitchFamily="34" charset="-122"/>
                <a:cs typeface="Calibri" pitchFamily="34" charset="-120"/>
              </a:rPr>
              <a:t>Today, Trade &amp; Choice Curators will figure out what makes something work as money — and write the case's display panel.</a:t>
            </a:r>
            <a:endParaRPr lang="en-US" sz="1350" dirty="0"/>
          </a:p>
        </p:txBody>
      </p:sp>
      <p:sp>
        <p:nvSpPr>
          <p:cNvPr id="8" name="Text 5"/>
          <p:cNvSpPr/>
          <p:nvPr/>
        </p:nvSpPr>
        <p:spPr>
          <a:xfrm>
            <a:off x="731520" y="5303520"/>
            <a:ext cx="10363200" cy="487680"/>
          </a:xfrm>
          <a:prstGeom prst="rect">
            <a:avLst/>
          </a:prstGeom>
          <a:noFill/>
          <a:ln/>
        </p:spPr>
        <p:txBody>
          <a:bodyPr wrap="square" lIns="0" tIns="0" rIns="0" bIns="0" rtlCol="0" anchor="ctr"/>
          <a:lstStyle/>
          <a:p>
            <a:pPr indent="0" marL="0">
              <a:buNone/>
            </a:pPr>
            <a:r>
              <a:rPr lang="en-US" sz="1300" b="1" i="1" dirty="0">
                <a:solidFill>
                  <a:srgbClr val="D4943A"/>
                </a:solidFill>
                <a:latin typeface="Calibri" pitchFamily="34" charset="0"/>
                <a:ea typeface="Calibri" pitchFamily="34" charset="-122"/>
                <a:cs typeface="Calibri" pitchFamily="34" charset="-120"/>
              </a:rPr>
              <a:t>Your Role Today: Trade &amp; Choice Curator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426720"/>
            <a:ext cx="10728960" cy="48768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VIRTUE SPOTLIGHT</a:t>
            </a:r>
            <a:endParaRPr lang="en-US" sz="1300" dirty="0"/>
          </a:p>
        </p:txBody>
      </p:sp>
      <p:sp>
        <p:nvSpPr>
          <p:cNvPr id="6" name="Text 3"/>
          <p:cNvSpPr/>
          <p:nvPr/>
        </p:nvSpPr>
        <p:spPr>
          <a:xfrm>
            <a:off x="731520" y="1036320"/>
            <a:ext cx="10728960" cy="853440"/>
          </a:xfrm>
          <a:prstGeom prst="rect">
            <a:avLst/>
          </a:prstGeom>
          <a:noFill/>
          <a:ln/>
        </p:spPr>
        <p:txBody>
          <a:bodyPr wrap="square" rtlCol="0" anchor="ctr"/>
          <a:lstStyle/>
          <a:p>
            <a:pPr indent="0" marL="0">
              <a:buNone/>
            </a:pPr>
            <a:r>
              <a:rPr lang="en-US" sz="3400" b="1" dirty="0">
                <a:solidFill>
                  <a:srgbClr val="D4943A"/>
                </a:solidFill>
                <a:latin typeface="Cambria" pitchFamily="34" charset="0"/>
                <a:ea typeface="Cambria" pitchFamily="34" charset="-122"/>
                <a:cs typeface="Cambria" pitchFamily="34" charset="-120"/>
              </a:rPr>
              <a:t>Courage</a:t>
            </a:r>
            <a:endParaRPr lang="en-US" sz="3400" dirty="0"/>
          </a:p>
        </p:txBody>
      </p:sp>
      <p:sp>
        <p:nvSpPr>
          <p:cNvPr id="7" name="Text 4"/>
          <p:cNvSpPr/>
          <p:nvPr/>
        </p:nvSpPr>
        <p:spPr>
          <a:xfrm>
            <a:off x="731520" y="2133600"/>
            <a:ext cx="10241280" cy="3169920"/>
          </a:xfrm>
          <a:prstGeom prst="rect">
            <a:avLst/>
          </a:prstGeom>
          <a:noFill/>
          <a:ln/>
        </p:spPr>
        <p:txBody>
          <a:bodyPr wrap="square" lIns="0" tIns="0" rIns="0" bIns="0" rtlCol="0" anchor="t"/>
          <a:lstStyle/>
          <a:p>
            <a:pPr indent="0" marL="0">
              <a:spcAft>
                <a:spcPts val="1000"/>
              </a:spcAft>
              <a:buNone/>
            </a:pPr>
            <a:r>
              <a:rPr lang="en-US" sz="1500" b="1" dirty="0">
                <a:solidFill>
                  <a:srgbClr val="FFFFFF"/>
                </a:solidFill>
                <a:latin typeface="Calibri" pitchFamily="34" charset="0"/>
                <a:ea typeface="Calibri" pitchFamily="34" charset="-122"/>
                <a:cs typeface="Calibri" pitchFamily="34" charset="-120"/>
              </a:rPr>
              <a:t>Trusting money takes a small kind of courage.</a:t>
            </a:r>
            <a:endParaRPr lang="en-US" sz="1500" dirty="0"/>
          </a:p>
          <a:p>
            <a:pPr indent="0" marL="0">
              <a:spcAft>
                <a:spcPts val="1000"/>
              </a:spcAft>
              <a:buNone/>
            </a:pPr>
            <a:r>
              <a:rPr lang="en-US" sz="1500" dirty="0">
                <a:solidFill>
                  <a:srgbClr val="FFFFFF"/>
                </a:solidFill>
                <a:latin typeface="Calibri" pitchFamily="34" charset="0"/>
                <a:ea typeface="Calibri" pitchFamily="34" charset="-122"/>
                <a:cs typeface="Calibri" pitchFamily="34" charset="-120"/>
              </a:rPr>
              <a:t>A gold coin is just a chunk of metal. A bill is just a printed piece of paper. People had to be brave enough to believe that everyone else would still trust that coin tomorrow.</a:t>
            </a:r>
            <a:endParaRPr lang="en-US" sz="1500" dirty="0"/>
          </a:p>
          <a:p>
            <a:pPr indent="0" marL="0">
              <a:buNone/>
            </a:pPr>
            <a:r>
              <a:rPr lang="en-US" sz="1500" i="1" dirty="0">
                <a:solidFill>
                  <a:srgbClr val="FFFFFF"/>
                </a:solidFill>
                <a:latin typeface="Calibri" pitchFamily="34" charset="0"/>
                <a:ea typeface="Calibri" pitchFamily="34" charset="-122"/>
                <a:cs typeface="Calibri" pitchFamily="34" charset="-120"/>
              </a:rPr>
              <a:t>Today, notice how money only works when whole communities are willing to trust it together.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341376"/>
            <a:ext cx="10728960" cy="426720"/>
          </a:xfrm>
          <a:prstGeom prst="rect">
            <a:avLst/>
          </a:prstGeom>
          <a:noFill/>
          <a:ln/>
        </p:spPr>
        <p:txBody>
          <a:bodyPr wrap="square" lIns="0" tIns="0" rIns="0" bIns="0" rtlCol="0" anchor="ctr"/>
          <a:lstStyle/>
          <a:p>
            <a:pPr indent="0" marL="0">
              <a:buNone/>
            </a:pPr>
            <a:r>
              <a:rPr lang="en-US" sz="1200" b="1" spc="150" kern="0" dirty="0">
                <a:solidFill>
                  <a:srgbClr val="1A8A7D"/>
                </a:solidFill>
                <a:latin typeface="Calibri" pitchFamily="34" charset="0"/>
                <a:ea typeface="Calibri" pitchFamily="34" charset="-122"/>
                <a:cs typeface="Calibri" pitchFamily="34" charset="-120"/>
              </a:rPr>
              <a:t>CLUE BOX · DISCOVERY 1</a:t>
            </a:r>
            <a:endParaRPr lang="en-US" sz="1200" dirty="0"/>
          </a:p>
        </p:txBody>
      </p:sp>
      <p:sp>
        <p:nvSpPr>
          <p:cNvPr id="3" name="Text 1"/>
          <p:cNvSpPr/>
          <p:nvPr/>
        </p:nvSpPr>
        <p:spPr>
          <a:xfrm>
            <a:off x="609600" y="792480"/>
            <a:ext cx="10728960" cy="73152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Before Coins and Bills</a:t>
            </a:r>
            <a:endParaRPr lang="en-US" sz="2400" dirty="0"/>
          </a:p>
        </p:txBody>
      </p:sp>
      <p:sp>
        <p:nvSpPr>
          <p:cNvPr id="4" name="Shape 2"/>
          <p:cNvSpPr/>
          <p:nvPr/>
        </p:nvSpPr>
        <p:spPr>
          <a:xfrm>
            <a:off x="609600" y="1645920"/>
            <a:ext cx="5364480" cy="3901440"/>
          </a:xfrm>
          <a:prstGeom prst="roundRect">
            <a:avLst>
              <a:gd name="adj" fmla="val 3750"/>
            </a:avLst>
          </a:prstGeom>
          <a:solidFill>
            <a:srgbClr val="E2E8F4"/>
          </a:solidFill>
          <a:ln w="19050">
            <a:solidFill>
              <a:srgbClr val="B0B8CC"/>
            </a:solidFill>
            <a:prstDash val="dash"/>
          </a:ln>
        </p:spPr>
      </p:sp>
      <p:sp>
        <p:nvSpPr>
          <p:cNvPr id="5" name="Text 3"/>
          <p:cNvSpPr/>
          <p:nvPr/>
        </p:nvSpPr>
        <p:spPr>
          <a:xfrm>
            <a:off x="609600" y="1645920"/>
            <a:ext cx="53644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4998720" cy="34137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scene of ancient direct trade: a fisherman holding fish next to a farmer holding grain, a weaver with cloth, someone holding salt and tools, all gesturing at each other in a marketplace setting.</a:t>
            </a:r>
            <a:endParaRPr lang="en-US" sz="1100" dirty="0"/>
          </a:p>
        </p:txBody>
      </p:sp>
      <p:sp>
        <p:nvSpPr>
          <p:cNvPr id="7" name="Shape 5"/>
          <p:cNvSpPr/>
          <p:nvPr/>
        </p:nvSpPr>
        <p:spPr>
          <a:xfrm>
            <a:off x="6278880" y="1645920"/>
            <a:ext cx="4937760" cy="3901440"/>
          </a:xfrm>
          <a:prstGeom prst="roundRect">
            <a:avLst>
              <a:gd name="adj" fmla="val 3750"/>
            </a:avLst>
          </a:prstGeom>
          <a:solidFill>
            <a:srgbClr val="FFF8F0"/>
          </a:solidFill>
          <a:ln w="12700">
            <a:solidFill>
              <a:srgbClr val="F0DDBE"/>
            </a:solidFill>
            <a:prstDash val="solid"/>
          </a:ln>
        </p:spPr>
      </p:sp>
      <p:sp>
        <p:nvSpPr>
          <p:cNvPr id="8" name="Text 6"/>
          <p:cNvSpPr/>
          <p:nvPr/>
        </p:nvSpPr>
        <p:spPr>
          <a:xfrm>
            <a:off x="6583680" y="1889760"/>
            <a:ext cx="4328160" cy="1828800"/>
          </a:xfrm>
          <a:prstGeom prst="rect">
            <a:avLst/>
          </a:prstGeom>
          <a:noFill/>
          <a:ln/>
        </p:spPr>
        <p:txBody>
          <a:bodyPr wrap="square" lIns="0" tIns="0" rIns="0" bIns="0" rtlCol="0" anchor="t"/>
          <a:lstStyle/>
          <a:p>
            <a:pPr indent="0" marL="0">
              <a:buNone/>
            </a:pPr>
            <a:r>
              <a:rPr lang="en-US" sz="1350" dirty="0">
                <a:solidFill>
                  <a:srgbClr val="0E1C42"/>
                </a:solidFill>
                <a:latin typeface="Calibri" pitchFamily="34" charset="0"/>
                <a:ea typeface="Calibri" pitchFamily="34" charset="-122"/>
                <a:cs typeface="Calibri" pitchFamily="34" charset="-120"/>
              </a:rPr>
              <a:t>Before there were coins and bills, people traded fish for grain, eggs for cloth, or salt for tools directly with each other.</a:t>
            </a:r>
            <a:endParaRPr lang="en-US" sz="1350" dirty="0"/>
          </a:p>
        </p:txBody>
      </p:sp>
      <p:sp>
        <p:nvSpPr>
          <p:cNvPr id="9" name="Text 7"/>
          <p:cNvSpPr/>
          <p:nvPr/>
        </p:nvSpPr>
        <p:spPr>
          <a:xfrm>
            <a:off x="6583680" y="3718560"/>
            <a:ext cx="4328160" cy="1584960"/>
          </a:xfrm>
          <a:prstGeom prst="rect">
            <a:avLst/>
          </a:prstGeom>
          <a:noFill/>
          <a:ln/>
        </p:spPr>
        <p:txBody>
          <a:bodyPr wrap="square" lIns="0" tIns="0" rIns="0" bIns="0" rtlCol="0" anchor="t"/>
          <a:lstStyle/>
          <a:p>
            <a:pPr indent="0" marL="0">
              <a:buNone/>
            </a:pPr>
            <a:r>
              <a:rPr lang="en-US" sz="1250" i="1" dirty="0">
                <a:solidFill>
                  <a:srgbClr val="7A88A8"/>
                </a:solidFill>
                <a:latin typeface="Calibri" pitchFamily="34" charset="0"/>
                <a:ea typeface="Calibri" pitchFamily="34" charset="-122"/>
                <a:cs typeface="Calibri" pitchFamily="34" charset="-120"/>
              </a:rPr>
              <a:t>Look closely at the scene. Say nothing yet — just observe for 5 seconds. What do you notice about how each person gets what they need?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341376"/>
            <a:ext cx="10728960" cy="426720"/>
          </a:xfrm>
          <a:prstGeom prst="rect">
            <a:avLst/>
          </a:prstGeom>
          <a:noFill/>
          <a:ln/>
        </p:spPr>
        <p:txBody>
          <a:bodyPr wrap="square" lIns="0" tIns="0" rIns="0" bIns="0" rtlCol="0" anchor="ctr"/>
          <a:lstStyle/>
          <a:p>
            <a:pPr indent="0" marL="0">
              <a:buNone/>
            </a:pPr>
            <a:r>
              <a:rPr lang="en-US" sz="1200" b="1" spc="150" kern="0" dirty="0">
                <a:solidFill>
                  <a:srgbClr val="1A8A7D"/>
                </a:solidFill>
                <a:latin typeface="Calibri" pitchFamily="34" charset="0"/>
                <a:ea typeface="Calibri" pitchFamily="34" charset="-122"/>
                <a:cs typeface="Calibri" pitchFamily="34" charset="-120"/>
              </a:rPr>
              <a:t>DISCUSSION · DISCOVERY 1</a:t>
            </a:r>
            <a:endParaRPr lang="en-US" sz="1200" dirty="0"/>
          </a:p>
        </p:txBody>
      </p:sp>
      <p:sp>
        <p:nvSpPr>
          <p:cNvPr id="3" name="Text 1"/>
          <p:cNvSpPr/>
          <p:nvPr/>
        </p:nvSpPr>
        <p:spPr>
          <a:xfrm>
            <a:off x="609600" y="792480"/>
            <a:ext cx="10728960" cy="7315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What's Slow About This?</a:t>
            </a:r>
            <a:endParaRPr lang="en-US" sz="2200" dirty="0"/>
          </a:p>
        </p:txBody>
      </p:sp>
      <p:sp>
        <p:nvSpPr>
          <p:cNvPr id="4" name="Shape 2"/>
          <p:cNvSpPr/>
          <p:nvPr/>
        </p:nvSpPr>
        <p:spPr>
          <a:xfrm>
            <a:off x="609600" y="1645920"/>
            <a:ext cx="5486400" cy="4267200"/>
          </a:xfrm>
          <a:prstGeom prst="roundRect">
            <a:avLst>
              <a:gd name="adj" fmla="val 4286"/>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853440" y="1767840"/>
            <a:ext cx="499872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853440" y="2109216"/>
            <a:ext cx="4998720" cy="36819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notice about how long this kind of trade might take?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happen if the fisherman needed cloth, but the cloth-maker didn't want fish?</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a whole community decide to do instead, so trading gets easier?</a:t>
            </a:r>
            <a:endParaRPr lang="en-US" sz="1100" dirty="0"/>
          </a:p>
        </p:txBody>
      </p:sp>
      <p:sp>
        <p:nvSpPr>
          <p:cNvPr id="7" name="Shape 5"/>
          <p:cNvSpPr/>
          <p:nvPr/>
        </p:nvSpPr>
        <p:spPr>
          <a:xfrm>
            <a:off x="6278880" y="1645920"/>
            <a:ext cx="4937760" cy="4267200"/>
          </a:xfrm>
          <a:prstGeom prst="roundRect">
            <a:avLst>
              <a:gd name="adj" fmla="val 3429"/>
            </a:avLst>
          </a:prstGeom>
          <a:solidFill>
            <a:srgbClr val="FFF3DC"/>
          </a:solidFill>
          <a:ln w="19050">
            <a:solidFill>
              <a:srgbClr val="F5E6C8"/>
            </a:solidFill>
            <a:prstDash val="solid"/>
          </a:ln>
        </p:spPr>
      </p:sp>
      <p:sp>
        <p:nvSpPr>
          <p:cNvPr id="8" name="Text 6"/>
          <p:cNvSpPr/>
          <p:nvPr/>
        </p:nvSpPr>
        <p:spPr>
          <a:xfrm>
            <a:off x="6461760" y="1719072"/>
            <a:ext cx="45720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6461760" y="1987296"/>
            <a:ext cx="4572000" cy="38404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trading directly is tricky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question I have is..."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426720"/>
            <a:ext cx="10728960" cy="48768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REVEAL · YOU DISCOVERED IT</a:t>
            </a:r>
            <a:endParaRPr lang="en-US" sz="1300" dirty="0"/>
          </a:p>
        </p:txBody>
      </p:sp>
      <p:sp>
        <p:nvSpPr>
          <p:cNvPr id="6" name="Text 3"/>
          <p:cNvSpPr/>
          <p:nvPr/>
        </p:nvSpPr>
        <p:spPr>
          <a:xfrm>
            <a:off x="731520" y="1036320"/>
            <a:ext cx="10728960" cy="8534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One Common, Trusted Thing</a:t>
            </a:r>
            <a:endParaRPr lang="en-US" sz="2600" dirty="0"/>
          </a:p>
        </p:txBody>
      </p:sp>
      <p:sp>
        <p:nvSpPr>
          <p:cNvPr id="7" name="Text 4"/>
          <p:cNvSpPr/>
          <p:nvPr/>
        </p:nvSpPr>
        <p:spPr>
          <a:xfrm>
            <a:off x="731520" y="2011680"/>
            <a:ext cx="10241280" cy="3169920"/>
          </a:xfrm>
          <a:prstGeom prst="rect">
            <a:avLst/>
          </a:prstGeom>
          <a:noFill/>
          <a:ln/>
        </p:spPr>
        <p:txBody>
          <a:bodyPr wrap="square" lIns="0" tIns="0" rIns="0" bIns="0" rtlCol="0" anchor="t"/>
          <a:lstStyle/>
          <a:p>
            <a:pPr indent="0" marL="0">
              <a:spcAft>
                <a:spcPts val="1200"/>
              </a:spcAft>
              <a:buNone/>
            </a:pPr>
            <a:r>
              <a:rPr lang="en-US" sz="1450" dirty="0">
                <a:solidFill>
                  <a:srgbClr val="FFFFFF"/>
                </a:solidFill>
                <a:latin typeface="Calibri" pitchFamily="34" charset="0"/>
                <a:ea typeface="Calibri" pitchFamily="34" charset="-122"/>
                <a:cs typeface="Calibri" pitchFamily="34" charset="-120"/>
              </a:rPr>
              <a:t>You just discovered the problem with direct trade: you have to find someone who wants exactly what you have, and has exactly what you want. That's slow.</a:t>
            </a:r>
            <a:endParaRPr lang="en-US" sz="1450" dirty="0"/>
          </a:p>
          <a:p>
            <a:pPr indent="0" marL="0">
              <a:spcAft>
                <a:spcPts val="1200"/>
              </a:spcAft>
              <a:buNone/>
            </a:pPr>
            <a:r>
              <a:rPr lang="en-US" sz="1450" b="1" dirty="0">
                <a:solidFill>
                  <a:srgbClr val="FFFFFF"/>
                </a:solidFill>
                <a:latin typeface="Calibri" pitchFamily="34" charset="0"/>
                <a:ea typeface="Calibri" pitchFamily="34" charset="-122"/>
                <a:cs typeface="Calibri" pitchFamily="34" charset="-120"/>
              </a:rPr>
              <a:t>So communities started using one common thing as money — something everyone agreed to accept in exchange for goods and services.</a:t>
            </a:r>
            <a:endParaRPr lang="en-US" sz="1450" dirty="0"/>
          </a:p>
          <a:p>
            <a:pPr indent="0" marL="0">
              <a:buNone/>
            </a:pPr>
            <a:r>
              <a:rPr lang="en-US" sz="1450" dirty="0">
                <a:solidFill>
                  <a:srgbClr val="FFFFFF"/>
                </a:solidFill>
                <a:latin typeface="Calibri" pitchFamily="34" charset="0"/>
                <a:ea typeface="Calibri" pitchFamily="34" charset="-122"/>
                <a:cs typeface="Calibri" pitchFamily="34" charset="-120"/>
              </a:rPr>
              <a:t>But not just anything can be money. Over time, people noticed good money has four characteristics.</a:t>
            </a:r>
            <a:endParaRPr lang="en-US" sz="1450" dirty="0"/>
          </a:p>
        </p:txBody>
      </p:sp>
      <p:sp>
        <p:nvSpPr>
          <p:cNvPr id="8" name="Text 5"/>
          <p:cNvSpPr/>
          <p:nvPr/>
        </p:nvSpPr>
        <p:spPr>
          <a:xfrm>
            <a:off x="731520" y="5486400"/>
            <a:ext cx="10241280" cy="609600"/>
          </a:xfrm>
          <a:prstGeom prst="rect">
            <a:avLst/>
          </a:prstGeom>
          <a:noFill/>
          <a:ln/>
        </p:spPr>
        <p:txBody>
          <a:bodyPr wrap="square" lIns="0" tIns="0" rIns="0" bIns="0" rtlCol="0" anchor="ctr"/>
          <a:lstStyle/>
          <a:p>
            <a:pPr indent="0" marL="0">
              <a:buNone/>
            </a:pPr>
            <a:r>
              <a:rPr lang="en-US" sz="1200" i="1" dirty="0">
                <a:solidFill>
                  <a:srgbClr val="D4943A"/>
                </a:solidFill>
                <a:latin typeface="Calibri" pitchFamily="34" charset="0"/>
                <a:ea typeface="Calibri" pitchFamily="34" charset="-122"/>
                <a:cs typeface="Calibri" pitchFamily="34" charset="-120"/>
              </a:rPr>
              <a:t>Retrieval Challenge: Cover your screen. Say the problem with direct trade in one sentence.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341376"/>
            <a:ext cx="10728960" cy="426720"/>
          </a:xfrm>
          <a:prstGeom prst="rect">
            <a:avLst/>
          </a:prstGeom>
          <a:noFill/>
          <a:ln/>
        </p:spPr>
        <p:txBody>
          <a:bodyPr wrap="square" lIns="0" tIns="0" rIns="0" bIns="0" rtlCol="0" anchor="ctr"/>
          <a:lstStyle/>
          <a:p>
            <a:pPr indent="0" marL="0">
              <a:buNone/>
            </a:pPr>
            <a:r>
              <a:rPr lang="en-US" sz="1200" b="1" spc="150" kern="0" dirty="0">
                <a:solidFill>
                  <a:srgbClr val="1A8A7D"/>
                </a:solidFill>
                <a:latin typeface="Calibri" pitchFamily="34" charset="0"/>
                <a:ea typeface="Calibri" pitchFamily="34" charset="-122"/>
                <a:cs typeface="Calibri" pitchFamily="34" charset="-120"/>
              </a:rPr>
              <a:t>CLUE BOX · DISCOVERY 2</a:t>
            </a:r>
            <a:endParaRPr lang="en-US" sz="1200" dirty="0"/>
          </a:p>
        </p:txBody>
      </p:sp>
      <p:sp>
        <p:nvSpPr>
          <p:cNvPr id="3" name="Text 1"/>
          <p:cNvSpPr/>
          <p:nvPr/>
        </p:nvSpPr>
        <p:spPr>
          <a:xfrm>
            <a:off x="609600" y="792480"/>
            <a:ext cx="10728960" cy="73152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Look Closely at the Case</a:t>
            </a:r>
            <a:endParaRPr lang="en-US" sz="2400" dirty="0"/>
          </a:p>
        </p:txBody>
      </p:sp>
      <p:sp>
        <p:nvSpPr>
          <p:cNvPr id="4" name="Shape 2"/>
          <p:cNvSpPr/>
          <p:nvPr/>
        </p:nvSpPr>
        <p:spPr>
          <a:xfrm>
            <a:off x="609600" y="1645920"/>
            <a:ext cx="6583680" cy="3901440"/>
          </a:xfrm>
          <a:prstGeom prst="roundRect">
            <a:avLst>
              <a:gd name="adj" fmla="val 3750"/>
            </a:avLst>
          </a:prstGeom>
          <a:solidFill>
            <a:srgbClr val="E2E8F4"/>
          </a:solidFill>
          <a:ln w="19050">
            <a:solidFill>
              <a:srgbClr val="B0B8CC"/>
            </a:solidFill>
            <a:prstDash val="dash"/>
          </a:ln>
        </p:spPr>
      </p:sp>
      <p:sp>
        <p:nvSpPr>
          <p:cNvPr id="5" name="Text 3"/>
          <p:cNvSpPr/>
          <p:nvPr/>
        </p:nvSpPr>
        <p:spPr>
          <a:xfrm>
            <a:off x="609600" y="1645920"/>
            <a:ext cx="65836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6217920" cy="34137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clear, bright photograph of historical coins and/or paper money — antique U.S. coins (silver dollars, copper pennies), a historical banknote, or a museum-style display of coins from different eras. Show texture and detail: markings, edges, portraits, dates.</a:t>
            </a:r>
            <a:endParaRPr lang="en-US" sz="1100" dirty="0"/>
          </a:p>
        </p:txBody>
      </p:sp>
      <p:sp>
        <p:nvSpPr>
          <p:cNvPr id="7" name="Shape 5"/>
          <p:cNvSpPr/>
          <p:nvPr/>
        </p:nvSpPr>
        <p:spPr>
          <a:xfrm>
            <a:off x="7498080" y="1645920"/>
            <a:ext cx="3718560" cy="3901440"/>
          </a:xfrm>
          <a:prstGeom prst="roundRect">
            <a:avLst>
              <a:gd name="adj" fmla="val 3934"/>
            </a:avLst>
          </a:prstGeom>
          <a:solidFill>
            <a:srgbClr val="FFF8F0"/>
          </a:solidFill>
          <a:ln w="12700">
            <a:solidFill>
              <a:srgbClr val="F0DDBE"/>
            </a:solidFill>
            <a:prstDash val="solid"/>
          </a:ln>
        </p:spPr>
      </p:sp>
      <p:sp>
        <p:nvSpPr>
          <p:cNvPr id="8" name="Text 6"/>
          <p:cNvSpPr/>
          <p:nvPr/>
        </p:nvSpPr>
        <p:spPr>
          <a:xfrm>
            <a:off x="7802880" y="1889760"/>
            <a:ext cx="3108960" cy="3535680"/>
          </a:xfrm>
          <a:prstGeom prst="rect">
            <a:avLst/>
          </a:prstGeom>
          <a:noFill/>
          <a:ln/>
        </p:spPr>
        <p:txBody>
          <a:bodyPr wrap="square" lIns="0" tIns="0" rIns="0" bIns="0" rtlCol="0" anchor="t"/>
          <a:lstStyle/>
          <a:p>
            <a:pPr indent="0" marL="0">
              <a:buNone/>
            </a:pPr>
            <a:r>
              <a:rPr lang="en-US" sz="1200" i="1" dirty="0">
                <a:solidFill>
                  <a:srgbClr val="7A88A8"/>
                </a:solidFill>
                <a:latin typeface="Calibri" pitchFamily="34" charset="0"/>
                <a:ea typeface="Calibri" pitchFamily="34" charset="-122"/>
                <a:cs typeface="Calibri" pitchFamily="34" charset="-120"/>
              </a:rPr>
              <a:t>What do I see? Look closely. What is the money made of? What shapes, markings, or numbers can you spot? Does it look like it would last a long time?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341376"/>
            <a:ext cx="10728960" cy="426720"/>
          </a:xfrm>
          <a:prstGeom prst="rect">
            <a:avLst/>
          </a:prstGeom>
          <a:noFill/>
          <a:ln/>
        </p:spPr>
        <p:txBody>
          <a:bodyPr wrap="square" lIns="0" tIns="0" rIns="0" bIns="0" rtlCol="0" anchor="ctr"/>
          <a:lstStyle/>
          <a:p>
            <a:pPr indent="0" marL="0">
              <a:buNone/>
            </a:pPr>
            <a:r>
              <a:rPr lang="en-US" sz="1200" b="1" spc="150" kern="0" dirty="0">
                <a:solidFill>
                  <a:srgbClr val="1A8A7D"/>
                </a:solidFill>
                <a:latin typeface="Calibri" pitchFamily="34" charset="0"/>
                <a:ea typeface="Calibri" pitchFamily="34" charset="-122"/>
                <a:cs typeface="Calibri" pitchFamily="34" charset="-120"/>
              </a:rPr>
              <a:t>DISCUSSION · DISCOVERY 2</a:t>
            </a:r>
            <a:endParaRPr lang="en-US" sz="1200" dirty="0"/>
          </a:p>
        </p:txBody>
      </p:sp>
      <p:sp>
        <p:nvSpPr>
          <p:cNvPr id="3" name="Text 1"/>
          <p:cNvSpPr/>
          <p:nvPr/>
        </p:nvSpPr>
        <p:spPr>
          <a:xfrm>
            <a:off x="609600" y="792480"/>
            <a:ext cx="10728960" cy="7315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Why Choose This as Money?</a:t>
            </a:r>
            <a:endParaRPr lang="en-US" sz="2200" dirty="0"/>
          </a:p>
        </p:txBody>
      </p:sp>
      <p:sp>
        <p:nvSpPr>
          <p:cNvPr id="4" name="Shape 2"/>
          <p:cNvSpPr/>
          <p:nvPr/>
        </p:nvSpPr>
        <p:spPr>
          <a:xfrm>
            <a:off x="609600" y="1645920"/>
            <a:ext cx="5486400" cy="4267200"/>
          </a:xfrm>
          <a:prstGeom prst="roundRect">
            <a:avLst>
              <a:gd name="adj" fmla="val 4286"/>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853440" y="1767840"/>
            <a:ext cx="499872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853440" y="2109216"/>
            <a:ext cx="4998720" cy="36819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a community choose this to be its money?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it look like it would last a long time, get eaten, or fall apart?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you carry a pocketful of this to the market? Could you count it easily?</a:t>
            </a:r>
            <a:endParaRPr lang="en-US" sz="1100" dirty="0"/>
          </a:p>
        </p:txBody>
      </p:sp>
      <p:sp>
        <p:nvSpPr>
          <p:cNvPr id="7" name="Shape 5"/>
          <p:cNvSpPr/>
          <p:nvPr/>
        </p:nvSpPr>
        <p:spPr>
          <a:xfrm>
            <a:off x="6278880" y="1645920"/>
            <a:ext cx="4937760" cy="4267200"/>
          </a:xfrm>
          <a:prstGeom prst="roundRect">
            <a:avLst>
              <a:gd name="adj" fmla="val 3429"/>
            </a:avLst>
          </a:prstGeom>
          <a:solidFill>
            <a:srgbClr val="FFF3DC"/>
          </a:solidFill>
          <a:ln w="19050">
            <a:solidFill>
              <a:srgbClr val="F5E6C8"/>
            </a:solidFill>
            <a:prstDash val="solid"/>
          </a:ln>
        </p:spPr>
      </p:sp>
      <p:sp>
        <p:nvSpPr>
          <p:cNvPr id="8" name="Text 6"/>
          <p:cNvSpPr/>
          <p:nvPr/>
        </p:nvSpPr>
        <p:spPr>
          <a:xfrm>
            <a:off x="6461760" y="1719072"/>
            <a:ext cx="45720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6461760" y="1987296"/>
            <a:ext cx="4572000" cy="38404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would work as money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"It reminds me of..."</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426720"/>
            <a:ext cx="10728960" cy="48768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REVEAL · YOU DISCOVERED IT</a:t>
            </a:r>
            <a:endParaRPr lang="en-US" sz="1300" dirty="0"/>
          </a:p>
        </p:txBody>
      </p:sp>
      <p:sp>
        <p:nvSpPr>
          <p:cNvPr id="6" name="Text 3"/>
          <p:cNvSpPr/>
          <p:nvPr/>
        </p:nvSpPr>
        <p:spPr>
          <a:xfrm>
            <a:off x="731520" y="975360"/>
            <a:ext cx="10728960" cy="73152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The Four Rules of Good Money</a:t>
            </a:r>
            <a:endParaRPr lang="en-US" sz="2400" dirty="0"/>
          </a:p>
        </p:txBody>
      </p:sp>
      <p:sp>
        <p:nvSpPr>
          <p:cNvPr id="7" name="Shape 4"/>
          <p:cNvSpPr/>
          <p:nvPr/>
        </p:nvSpPr>
        <p:spPr>
          <a:xfrm>
            <a:off x="731520" y="1889760"/>
            <a:ext cx="5059680" cy="1828800"/>
          </a:xfrm>
          <a:prstGeom prst="roundRect">
            <a:avLst>
              <a:gd name="adj" fmla="val 6667"/>
            </a:avLst>
          </a:prstGeom>
          <a:solidFill>
            <a:srgbClr val="1A2D5A"/>
          </a:solidFill>
          <a:ln/>
        </p:spPr>
      </p:sp>
      <p:sp>
        <p:nvSpPr>
          <p:cNvPr id="8" name="Text 5"/>
          <p:cNvSpPr/>
          <p:nvPr/>
        </p:nvSpPr>
        <p:spPr>
          <a:xfrm>
            <a:off x="975360" y="2011680"/>
            <a:ext cx="4572000" cy="487680"/>
          </a:xfrm>
          <a:prstGeom prst="rect">
            <a:avLst/>
          </a:prstGeom>
          <a:noFill/>
          <a:ln/>
        </p:spPr>
        <p:txBody>
          <a:bodyPr wrap="square" lIns="0" tIns="0" rIns="0" bIns="0" rtlCol="0" anchor="ctr"/>
          <a:lstStyle/>
          <a:p>
            <a:pPr indent="0" marL="0">
              <a:buNone/>
            </a:pPr>
            <a:r>
              <a:rPr lang="en-US" sz="1400" b="1" dirty="0">
                <a:solidFill>
                  <a:srgbClr val="D4943A"/>
                </a:solidFill>
                <a:latin typeface="Calibri" pitchFamily="34" charset="0"/>
                <a:ea typeface="Calibri" pitchFamily="34" charset="-122"/>
                <a:cs typeface="Calibri" pitchFamily="34" charset="-120"/>
              </a:rPr>
              <a:t>It LASTS</a:t>
            </a:r>
            <a:endParaRPr lang="en-US" sz="1400" dirty="0"/>
          </a:p>
        </p:txBody>
      </p:sp>
      <p:sp>
        <p:nvSpPr>
          <p:cNvPr id="9" name="Text 6"/>
          <p:cNvSpPr/>
          <p:nvPr/>
        </p:nvSpPr>
        <p:spPr>
          <a:xfrm>
            <a:off x="975360" y="2499360"/>
            <a:ext cx="4572000" cy="10972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Money should not fall apart, melt, or get eaten by mice.</a:t>
            </a:r>
            <a:endParaRPr lang="en-US" sz="1150" dirty="0"/>
          </a:p>
        </p:txBody>
      </p:sp>
      <p:sp>
        <p:nvSpPr>
          <p:cNvPr id="10" name="Shape 7"/>
          <p:cNvSpPr/>
          <p:nvPr/>
        </p:nvSpPr>
        <p:spPr>
          <a:xfrm>
            <a:off x="6035040" y="1889760"/>
            <a:ext cx="5059680" cy="1828800"/>
          </a:xfrm>
          <a:prstGeom prst="roundRect">
            <a:avLst>
              <a:gd name="adj" fmla="val 6667"/>
            </a:avLst>
          </a:prstGeom>
          <a:solidFill>
            <a:srgbClr val="1A2D5A"/>
          </a:solidFill>
          <a:ln/>
        </p:spPr>
      </p:sp>
      <p:sp>
        <p:nvSpPr>
          <p:cNvPr id="11" name="Text 8"/>
          <p:cNvSpPr/>
          <p:nvPr/>
        </p:nvSpPr>
        <p:spPr>
          <a:xfrm>
            <a:off x="6278880" y="2011680"/>
            <a:ext cx="4572000" cy="487680"/>
          </a:xfrm>
          <a:prstGeom prst="rect">
            <a:avLst/>
          </a:prstGeom>
          <a:noFill/>
          <a:ln/>
        </p:spPr>
        <p:txBody>
          <a:bodyPr wrap="square" lIns="0" tIns="0" rIns="0" bIns="0" rtlCol="0" anchor="ctr"/>
          <a:lstStyle/>
          <a:p>
            <a:pPr indent="0" marL="0">
              <a:buNone/>
            </a:pPr>
            <a:r>
              <a:rPr lang="en-US" sz="1400" b="1" dirty="0">
                <a:solidFill>
                  <a:srgbClr val="D4943A"/>
                </a:solidFill>
                <a:latin typeface="Calibri" pitchFamily="34" charset="0"/>
                <a:ea typeface="Calibri" pitchFamily="34" charset="-122"/>
                <a:cs typeface="Calibri" pitchFamily="34" charset="-120"/>
              </a:rPr>
              <a:t>It's EASY TO CARRY</a:t>
            </a:r>
            <a:endParaRPr lang="en-US" sz="1400" dirty="0"/>
          </a:p>
        </p:txBody>
      </p:sp>
      <p:sp>
        <p:nvSpPr>
          <p:cNvPr id="12" name="Text 9"/>
          <p:cNvSpPr/>
          <p:nvPr/>
        </p:nvSpPr>
        <p:spPr>
          <a:xfrm>
            <a:off x="6278880" y="2499360"/>
            <a:ext cx="4572000" cy="10972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If you can't take it to the market, it won't help you.</a:t>
            </a:r>
            <a:endParaRPr lang="en-US" sz="1150" dirty="0"/>
          </a:p>
        </p:txBody>
      </p:sp>
      <p:sp>
        <p:nvSpPr>
          <p:cNvPr id="13" name="Shape 10"/>
          <p:cNvSpPr/>
          <p:nvPr/>
        </p:nvSpPr>
        <p:spPr>
          <a:xfrm>
            <a:off x="731520" y="3901440"/>
            <a:ext cx="5059680" cy="1828800"/>
          </a:xfrm>
          <a:prstGeom prst="roundRect">
            <a:avLst>
              <a:gd name="adj" fmla="val 6667"/>
            </a:avLst>
          </a:prstGeom>
          <a:solidFill>
            <a:srgbClr val="1A2D5A"/>
          </a:solidFill>
          <a:ln/>
        </p:spPr>
      </p:sp>
      <p:sp>
        <p:nvSpPr>
          <p:cNvPr id="14" name="Text 11"/>
          <p:cNvSpPr/>
          <p:nvPr/>
        </p:nvSpPr>
        <p:spPr>
          <a:xfrm>
            <a:off x="975360" y="4023360"/>
            <a:ext cx="4572000" cy="487680"/>
          </a:xfrm>
          <a:prstGeom prst="rect">
            <a:avLst/>
          </a:prstGeom>
          <a:noFill/>
          <a:ln/>
        </p:spPr>
        <p:txBody>
          <a:bodyPr wrap="square" lIns="0" tIns="0" rIns="0" bIns="0" rtlCol="0" anchor="ctr"/>
          <a:lstStyle/>
          <a:p>
            <a:pPr indent="0" marL="0">
              <a:buNone/>
            </a:pPr>
            <a:r>
              <a:rPr lang="en-US" sz="1400" b="1" dirty="0">
                <a:solidFill>
                  <a:srgbClr val="D4943A"/>
                </a:solidFill>
                <a:latin typeface="Calibri" pitchFamily="34" charset="0"/>
                <a:ea typeface="Calibri" pitchFamily="34" charset="-122"/>
                <a:cs typeface="Calibri" pitchFamily="34" charset="-120"/>
              </a:rPr>
              <a:t>It's EASY TO COUNT</a:t>
            </a:r>
            <a:endParaRPr lang="en-US" sz="1400" dirty="0"/>
          </a:p>
        </p:txBody>
      </p:sp>
      <p:sp>
        <p:nvSpPr>
          <p:cNvPr id="15" name="Text 12"/>
          <p:cNvSpPr/>
          <p:nvPr/>
        </p:nvSpPr>
        <p:spPr>
          <a:xfrm>
            <a:off x="975360" y="4511040"/>
            <a:ext cx="4572000" cy="10972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Money should come in pieces you can add, divide, and check.</a:t>
            </a:r>
            <a:endParaRPr lang="en-US" sz="1150" dirty="0"/>
          </a:p>
        </p:txBody>
      </p:sp>
      <p:sp>
        <p:nvSpPr>
          <p:cNvPr id="16" name="Shape 13"/>
          <p:cNvSpPr/>
          <p:nvPr/>
        </p:nvSpPr>
        <p:spPr>
          <a:xfrm>
            <a:off x="6035040" y="3901440"/>
            <a:ext cx="5059680" cy="1828800"/>
          </a:xfrm>
          <a:prstGeom prst="roundRect">
            <a:avLst>
              <a:gd name="adj" fmla="val 6667"/>
            </a:avLst>
          </a:prstGeom>
          <a:solidFill>
            <a:srgbClr val="1A2D5A"/>
          </a:solidFill>
          <a:ln/>
        </p:spPr>
      </p:sp>
      <p:sp>
        <p:nvSpPr>
          <p:cNvPr id="17" name="Text 14"/>
          <p:cNvSpPr/>
          <p:nvPr/>
        </p:nvSpPr>
        <p:spPr>
          <a:xfrm>
            <a:off x="6278880" y="4023360"/>
            <a:ext cx="4572000" cy="487680"/>
          </a:xfrm>
          <a:prstGeom prst="rect">
            <a:avLst/>
          </a:prstGeom>
          <a:noFill/>
          <a:ln/>
        </p:spPr>
        <p:txBody>
          <a:bodyPr wrap="square" lIns="0" tIns="0" rIns="0" bIns="0" rtlCol="0" anchor="ctr"/>
          <a:lstStyle/>
          <a:p>
            <a:pPr indent="0" marL="0">
              <a:buNone/>
            </a:pPr>
            <a:r>
              <a:rPr lang="en-US" sz="1400" b="1" dirty="0">
                <a:solidFill>
                  <a:srgbClr val="D4943A"/>
                </a:solidFill>
                <a:latin typeface="Calibri" pitchFamily="34" charset="0"/>
                <a:ea typeface="Calibri" pitchFamily="34" charset="-122"/>
                <a:cs typeface="Calibri" pitchFamily="34" charset="-120"/>
              </a:rPr>
              <a:t>It's TRUSTED</a:t>
            </a:r>
            <a:endParaRPr lang="en-US" sz="1400" dirty="0"/>
          </a:p>
        </p:txBody>
      </p:sp>
      <p:sp>
        <p:nvSpPr>
          <p:cNvPr id="18" name="Text 15"/>
          <p:cNvSpPr/>
          <p:nvPr/>
        </p:nvSpPr>
        <p:spPr>
          <a:xfrm>
            <a:off x="6278880" y="4511040"/>
            <a:ext cx="4572000" cy="10972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Everyone in the community has to agree it's worth something.</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341376"/>
            <a:ext cx="10728960" cy="426720"/>
          </a:xfrm>
          <a:prstGeom prst="rect">
            <a:avLst/>
          </a:prstGeom>
          <a:noFill/>
          <a:ln/>
        </p:spPr>
        <p:txBody>
          <a:bodyPr wrap="square" lIns="0" tIns="0" rIns="0" bIns="0" rtlCol="0" anchor="ctr"/>
          <a:lstStyle/>
          <a:p>
            <a:pPr indent="0" marL="0">
              <a:buNone/>
            </a:pPr>
            <a:r>
              <a:rPr lang="en-US" sz="1200" b="1" spc="150" kern="0" dirty="0">
                <a:solidFill>
                  <a:srgbClr val="1A8A7D"/>
                </a:solidFill>
                <a:latin typeface="Calibri" pitchFamily="34" charset="0"/>
                <a:ea typeface="Calibri" pitchFamily="34" charset="-122"/>
                <a:cs typeface="Calibri" pitchFamily="34" charset="-120"/>
              </a:rPr>
              <a:t>CLUE BOX · DISCOVERY 3</a:t>
            </a:r>
            <a:endParaRPr lang="en-US" sz="1200" dirty="0"/>
          </a:p>
        </p:txBody>
      </p:sp>
      <p:sp>
        <p:nvSpPr>
          <p:cNvPr id="3" name="Text 1"/>
          <p:cNvSpPr/>
          <p:nvPr/>
        </p:nvSpPr>
        <p:spPr>
          <a:xfrm>
            <a:off x="609600" y="792480"/>
            <a:ext cx="10728960" cy="7315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The Strange Items in the Case</a:t>
            </a:r>
            <a:endParaRPr lang="en-US" sz="2200" dirty="0"/>
          </a:p>
        </p:txBody>
      </p:sp>
      <p:sp>
        <p:nvSpPr>
          <p:cNvPr id="4" name="Shape 2"/>
          <p:cNvSpPr/>
          <p:nvPr/>
        </p:nvSpPr>
        <p:spPr>
          <a:xfrm>
            <a:off x="609600" y="1645920"/>
            <a:ext cx="5364480" cy="3901440"/>
          </a:xfrm>
          <a:prstGeom prst="roundRect">
            <a:avLst>
              <a:gd name="adj" fmla="val 3750"/>
            </a:avLst>
          </a:prstGeom>
          <a:solidFill>
            <a:srgbClr val="E2E8F4"/>
          </a:solidFill>
          <a:ln w="19050">
            <a:solidFill>
              <a:srgbClr val="B0B8CC"/>
            </a:solidFill>
            <a:prstDash val="dash"/>
          </a:ln>
        </p:spPr>
      </p:sp>
      <p:sp>
        <p:nvSpPr>
          <p:cNvPr id="5" name="Text 3"/>
          <p:cNvSpPr/>
          <p:nvPr/>
        </p:nvSpPr>
        <p:spPr>
          <a:xfrm>
            <a:off x="609600" y="1645920"/>
            <a:ext cx="53644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4998720" cy="34137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smooth cowrie shell next to a small crumbling white block of salt, both resting on dark museum velvet, close-up detail shot.</a:t>
            </a:r>
            <a:endParaRPr lang="en-US" sz="1100" dirty="0"/>
          </a:p>
        </p:txBody>
      </p:sp>
      <p:sp>
        <p:nvSpPr>
          <p:cNvPr id="7" name="Shape 5"/>
          <p:cNvSpPr/>
          <p:nvPr/>
        </p:nvSpPr>
        <p:spPr>
          <a:xfrm>
            <a:off x="6278880" y="1645920"/>
            <a:ext cx="4937760" cy="3901440"/>
          </a:xfrm>
          <a:prstGeom prst="roundRect">
            <a:avLst>
              <a:gd name="adj" fmla="val 3750"/>
            </a:avLst>
          </a:prstGeom>
          <a:solidFill>
            <a:srgbClr val="FFF8F0"/>
          </a:solidFill>
          <a:ln w="12700">
            <a:solidFill>
              <a:srgbClr val="F0DDBE"/>
            </a:solidFill>
            <a:prstDash val="solid"/>
          </a:ln>
        </p:spPr>
      </p:sp>
      <p:sp>
        <p:nvSpPr>
          <p:cNvPr id="8" name="Text 6"/>
          <p:cNvSpPr/>
          <p:nvPr/>
        </p:nvSpPr>
        <p:spPr>
          <a:xfrm>
            <a:off x="6583680" y="1889760"/>
            <a:ext cx="4328160" cy="1219200"/>
          </a:xfrm>
          <a:prstGeom prst="rect">
            <a:avLst/>
          </a:prstGeom>
          <a:noFill/>
          <a:ln/>
        </p:spPr>
        <p:txBody>
          <a:bodyPr wrap="square" lIns="0" tIns="0" rIns="0" bIns="0" rtlCol="0" anchor="t"/>
          <a:lstStyle/>
          <a:p>
            <a:pPr indent="0" marL="0">
              <a:buNone/>
            </a:pPr>
            <a:r>
              <a:rPr lang="en-US" sz="1350" dirty="0">
                <a:solidFill>
                  <a:srgbClr val="0E1C42"/>
                </a:solidFill>
                <a:latin typeface="Calibri" pitchFamily="34" charset="0"/>
                <a:ea typeface="Calibri" pitchFamily="34" charset="-122"/>
                <a:cs typeface="Calibri" pitchFamily="34" charset="-120"/>
              </a:rPr>
              <a:t>These were both used as real money in history: a cowrie shell and a block of salt.</a:t>
            </a:r>
            <a:endParaRPr lang="en-US" sz="1350" dirty="0"/>
          </a:p>
        </p:txBody>
      </p:sp>
      <p:sp>
        <p:nvSpPr>
          <p:cNvPr id="9" name="Text 7"/>
          <p:cNvSpPr/>
          <p:nvPr/>
        </p:nvSpPr>
        <p:spPr>
          <a:xfrm>
            <a:off x="6583680" y="3108960"/>
            <a:ext cx="4328160" cy="2194560"/>
          </a:xfrm>
          <a:prstGeom prst="rect">
            <a:avLst/>
          </a:prstGeom>
          <a:noFill/>
          <a:ln/>
        </p:spPr>
        <p:txBody>
          <a:bodyPr wrap="square" lIns="0" tIns="0" rIns="0" bIns="0" rtlCol="0" anchor="t"/>
          <a:lstStyle/>
          <a:p>
            <a:pPr indent="0" marL="0">
              <a:buNone/>
            </a:pPr>
            <a:r>
              <a:rPr lang="en-US" sz="1250" i="1" dirty="0">
                <a:solidFill>
                  <a:srgbClr val="7A88A8"/>
                </a:solidFill>
                <a:latin typeface="Calibri" pitchFamily="34" charset="0"/>
                <a:ea typeface="Calibri" pitchFamily="34" charset="-122"/>
                <a:cs typeface="Calibri" pitchFamily="34" charset="-120"/>
              </a:rPr>
              <a:t>Look closely for 5 seconds. What do you notice about how fragile or sturdy each one looks compared to a coin?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341376"/>
            <a:ext cx="10728960" cy="426720"/>
          </a:xfrm>
          <a:prstGeom prst="rect">
            <a:avLst/>
          </a:prstGeom>
          <a:noFill/>
          <a:ln/>
        </p:spPr>
        <p:txBody>
          <a:bodyPr wrap="square" lIns="0" tIns="0" rIns="0" bIns="0" rtlCol="0" anchor="ctr"/>
          <a:lstStyle/>
          <a:p>
            <a:pPr indent="0" marL="0">
              <a:buNone/>
            </a:pPr>
            <a:r>
              <a:rPr lang="en-US" sz="1200" b="1" spc="150" kern="0" dirty="0">
                <a:solidFill>
                  <a:srgbClr val="1A8A7D"/>
                </a:solidFill>
                <a:latin typeface="Calibri" pitchFamily="34" charset="0"/>
                <a:ea typeface="Calibri" pitchFamily="34" charset="-122"/>
                <a:cs typeface="Calibri" pitchFamily="34" charset="-120"/>
              </a:rPr>
              <a:t>DISCUSSION · DISCOVERY 3</a:t>
            </a:r>
            <a:endParaRPr lang="en-US" sz="1200" dirty="0"/>
          </a:p>
        </p:txBody>
      </p:sp>
      <p:sp>
        <p:nvSpPr>
          <p:cNvPr id="3" name="Text 1"/>
          <p:cNvSpPr/>
          <p:nvPr/>
        </p:nvSpPr>
        <p:spPr>
          <a:xfrm>
            <a:off x="609600" y="792480"/>
            <a:ext cx="10728960" cy="7315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Which Item Falls Short?</a:t>
            </a:r>
            <a:endParaRPr lang="en-US" sz="2200" dirty="0"/>
          </a:p>
        </p:txBody>
      </p:sp>
      <p:sp>
        <p:nvSpPr>
          <p:cNvPr id="4" name="Shape 2"/>
          <p:cNvSpPr/>
          <p:nvPr/>
        </p:nvSpPr>
        <p:spPr>
          <a:xfrm>
            <a:off x="609600" y="1645920"/>
            <a:ext cx="5486400" cy="4267200"/>
          </a:xfrm>
          <a:prstGeom prst="roundRect">
            <a:avLst>
              <a:gd name="adj" fmla="val 4286"/>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853440" y="1767840"/>
            <a:ext cx="499872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853440" y="2109216"/>
            <a:ext cx="4998720" cy="36819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item passes all four rules? Which one fails the most?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a community still use a 'kind of' item if they didn't have anything better?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happens to a block of salt if it gets caught in the rain?</a:t>
            </a:r>
            <a:endParaRPr lang="en-US" sz="1100" dirty="0"/>
          </a:p>
        </p:txBody>
      </p:sp>
      <p:sp>
        <p:nvSpPr>
          <p:cNvPr id="7" name="Shape 5"/>
          <p:cNvSpPr/>
          <p:nvPr/>
        </p:nvSpPr>
        <p:spPr>
          <a:xfrm>
            <a:off x="6278880" y="1645920"/>
            <a:ext cx="4937760" cy="4267200"/>
          </a:xfrm>
          <a:prstGeom prst="roundRect">
            <a:avLst>
              <a:gd name="adj" fmla="val 3429"/>
            </a:avLst>
          </a:prstGeom>
          <a:solidFill>
            <a:srgbClr val="FFF3DC"/>
          </a:solidFill>
          <a:ln w="19050">
            <a:solidFill>
              <a:srgbClr val="F5E6C8"/>
            </a:solidFill>
            <a:prstDash val="solid"/>
          </a:ln>
        </p:spPr>
      </p:sp>
      <p:sp>
        <p:nvSpPr>
          <p:cNvPr id="8" name="Text 6"/>
          <p:cNvSpPr/>
          <p:nvPr/>
        </p:nvSpPr>
        <p:spPr>
          <a:xfrm>
            <a:off x="6461760" y="1719072"/>
            <a:ext cx="45720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6461760" y="1987296"/>
            <a:ext cx="4572000" cy="38404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"At first I thought... but now I think..."</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wonder..."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426720"/>
            <a:ext cx="10728960" cy="48768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REVEAL · YOU DISCOVERED IT</a:t>
            </a:r>
            <a:endParaRPr lang="en-US" sz="1300" dirty="0"/>
          </a:p>
        </p:txBody>
      </p:sp>
      <p:sp>
        <p:nvSpPr>
          <p:cNvPr id="6" name="Text 3"/>
          <p:cNvSpPr/>
          <p:nvPr/>
        </p:nvSpPr>
        <p:spPr>
          <a:xfrm>
            <a:off x="731520" y="914400"/>
            <a:ext cx="10728960" cy="60960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The Curator's Test Chart</a:t>
            </a:r>
            <a:endParaRPr lang="en-US" sz="2200" dirty="0"/>
          </a:p>
        </p:txBody>
      </p:sp>
      <p:sp>
        <p:nvSpPr>
          <p:cNvPr id="7" name="Text 4"/>
          <p:cNvSpPr/>
          <p:nvPr/>
        </p:nvSpPr>
        <p:spPr>
          <a:xfrm>
            <a:off x="731520" y="1706880"/>
            <a:ext cx="2682240" cy="426720"/>
          </a:xfrm>
          <a:prstGeom prst="rect">
            <a:avLst/>
          </a:prstGeom>
          <a:noFill/>
          <a:ln/>
        </p:spPr>
        <p:txBody>
          <a:bodyPr wrap="square" lIns="0" tIns="0" rIns="0" bIns="0" rtlCol="0" anchor="ctr"/>
          <a:lstStyle/>
          <a:p>
            <a:pPr algn="l" indent="0" marL="0">
              <a:buNone/>
            </a:pPr>
            <a:endParaRPr lang="en-US" sz="1100" dirty="0"/>
          </a:p>
        </p:txBody>
      </p:sp>
      <p:sp>
        <p:nvSpPr>
          <p:cNvPr id="8" name="Text 5"/>
          <p:cNvSpPr/>
          <p:nvPr/>
        </p:nvSpPr>
        <p:spPr>
          <a:xfrm>
            <a:off x="3413760" y="1706880"/>
            <a:ext cx="1889760" cy="426720"/>
          </a:xfrm>
          <a:prstGeom prst="rect">
            <a:avLst/>
          </a:prstGeom>
          <a:noFill/>
          <a:ln/>
        </p:spPr>
        <p:txBody>
          <a:bodyPr wrap="square" lIns="0" tIns="0" rIns="0" bIns="0" rtlCol="0" anchor="ctr"/>
          <a:lstStyle/>
          <a:p>
            <a:pPr algn="ctr" indent="0" marL="0">
              <a:buNone/>
            </a:pPr>
            <a:r>
              <a:rPr lang="en-US" sz="1100" b="1" dirty="0">
                <a:solidFill>
                  <a:srgbClr val="55C8E8"/>
                </a:solidFill>
                <a:latin typeface="Calibri" pitchFamily="34" charset="0"/>
                <a:ea typeface="Calibri" pitchFamily="34" charset="-122"/>
                <a:cs typeface="Calibri" pitchFamily="34" charset="-120"/>
              </a:rPr>
              <a:t>Lasts</a:t>
            </a:r>
            <a:endParaRPr lang="en-US" sz="1100" dirty="0"/>
          </a:p>
        </p:txBody>
      </p:sp>
      <p:sp>
        <p:nvSpPr>
          <p:cNvPr id="9" name="Text 6"/>
          <p:cNvSpPr/>
          <p:nvPr/>
        </p:nvSpPr>
        <p:spPr>
          <a:xfrm>
            <a:off x="5303520" y="1706880"/>
            <a:ext cx="1889760" cy="426720"/>
          </a:xfrm>
          <a:prstGeom prst="rect">
            <a:avLst/>
          </a:prstGeom>
          <a:noFill/>
          <a:ln/>
        </p:spPr>
        <p:txBody>
          <a:bodyPr wrap="square" lIns="0" tIns="0" rIns="0" bIns="0" rtlCol="0" anchor="ctr"/>
          <a:lstStyle/>
          <a:p>
            <a:pPr algn="ctr" indent="0" marL="0">
              <a:buNone/>
            </a:pPr>
            <a:r>
              <a:rPr lang="en-US" sz="1100" b="1" dirty="0">
                <a:solidFill>
                  <a:srgbClr val="55C8E8"/>
                </a:solidFill>
                <a:latin typeface="Calibri" pitchFamily="34" charset="0"/>
                <a:ea typeface="Calibri" pitchFamily="34" charset="-122"/>
                <a:cs typeface="Calibri" pitchFamily="34" charset="-120"/>
              </a:rPr>
              <a:t>Carry</a:t>
            </a:r>
            <a:endParaRPr lang="en-US" sz="1100" dirty="0"/>
          </a:p>
        </p:txBody>
      </p:sp>
      <p:sp>
        <p:nvSpPr>
          <p:cNvPr id="10" name="Text 7"/>
          <p:cNvSpPr/>
          <p:nvPr/>
        </p:nvSpPr>
        <p:spPr>
          <a:xfrm>
            <a:off x="7193280" y="1706880"/>
            <a:ext cx="1889760" cy="426720"/>
          </a:xfrm>
          <a:prstGeom prst="rect">
            <a:avLst/>
          </a:prstGeom>
          <a:noFill/>
          <a:ln/>
        </p:spPr>
        <p:txBody>
          <a:bodyPr wrap="square" lIns="0" tIns="0" rIns="0" bIns="0" rtlCol="0" anchor="ctr"/>
          <a:lstStyle/>
          <a:p>
            <a:pPr algn="ctr" indent="0" marL="0">
              <a:buNone/>
            </a:pPr>
            <a:r>
              <a:rPr lang="en-US" sz="1100" b="1" dirty="0">
                <a:solidFill>
                  <a:srgbClr val="55C8E8"/>
                </a:solidFill>
                <a:latin typeface="Calibri" pitchFamily="34" charset="0"/>
                <a:ea typeface="Calibri" pitchFamily="34" charset="-122"/>
                <a:cs typeface="Calibri" pitchFamily="34" charset="-120"/>
              </a:rPr>
              <a:t>Count</a:t>
            </a:r>
            <a:endParaRPr lang="en-US" sz="1100" dirty="0"/>
          </a:p>
        </p:txBody>
      </p:sp>
      <p:sp>
        <p:nvSpPr>
          <p:cNvPr id="11" name="Text 8"/>
          <p:cNvSpPr/>
          <p:nvPr/>
        </p:nvSpPr>
        <p:spPr>
          <a:xfrm>
            <a:off x="9083040" y="1706880"/>
            <a:ext cx="2255520" cy="426720"/>
          </a:xfrm>
          <a:prstGeom prst="rect">
            <a:avLst/>
          </a:prstGeom>
          <a:noFill/>
          <a:ln/>
        </p:spPr>
        <p:txBody>
          <a:bodyPr wrap="square" lIns="0" tIns="0" rIns="0" bIns="0" rtlCol="0" anchor="ctr"/>
          <a:lstStyle/>
          <a:p>
            <a:pPr algn="ctr" indent="0" marL="0">
              <a:buNone/>
            </a:pPr>
            <a:r>
              <a:rPr lang="en-US" sz="1100" b="1" dirty="0">
                <a:solidFill>
                  <a:srgbClr val="55C8E8"/>
                </a:solidFill>
                <a:latin typeface="Calibri" pitchFamily="34" charset="0"/>
                <a:ea typeface="Calibri" pitchFamily="34" charset="-122"/>
                <a:cs typeface="Calibri" pitchFamily="34" charset="-120"/>
              </a:rPr>
              <a:t>Trusted</a:t>
            </a:r>
            <a:endParaRPr lang="en-US" sz="1100" dirty="0"/>
          </a:p>
        </p:txBody>
      </p:sp>
      <p:sp>
        <p:nvSpPr>
          <p:cNvPr id="12" name="Text 9"/>
          <p:cNvSpPr/>
          <p:nvPr/>
        </p:nvSpPr>
        <p:spPr>
          <a:xfrm>
            <a:off x="731520" y="2255520"/>
            <a:ext cx="2682240" cy="67056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Gold coin</a:t>
            </a:r>
            <a:endParaRPr lang="en-US" sz="1200" dirty="0"/>
          </a:p>
        </p:txBody>
      </p:sp>
      <p:sp>
        <p:nvSpPr>
          <p:cNvPr id="13" name="Text 10"/>
          <p:cNvSpPr/>
          <p:nvPr/>
        </p:nvSpPr>
        <p:spPr>
          <a:xfrm>
            <a:off x="3413760" y="2255520"/>
            <a:ext cx="1889760" cy="6705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14" name="Text 11"/>
          <p:cNvSpPr/>
          <p:nvPr/>
        </p:nvSpPr>
        <p:spPr>
          <a:xfrm>
            <a:off x="5303520" y="2255520"/>
            <a:ext cx="1889760" cy="6705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15" name="Text 12"/>
          <p:cNvSpPr/>
          <p:nvPr/>
        </p:nvSpPr>
        <p:spPr>
          <a:xfrm>
            <a:off x="7193280" y="2255520"/>
            <a:ext cx="1889760" cy="6705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16" name="Text 13"/>
          <p:cNvSpPr/>
          <p:nvPr/>
        </p:nvSpPr>
        <p:spPr>
          <a:xfrm>
            <a:off x="9083040" y="2255520"/>
            <a:ext cx="2255520" cy="6705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17" name="Text 14"/>
          <p:cNvSpPr/>
          <p:nvPr/>
        </p:nvSpPr>
        <p:spPr>
          <a:xfrm>
            <a:off x="731520" y="3048000"/>
            <a:ext cx="2682240" cy="67056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Paper bill</a:t>
            </a:r>
            <a:endParaRPr lang="en-US" sz="1200" dirty="0"/>
          </a:p>
        </p:txBody>
      </p:sp>
      <p:sp>
        <p:nvSpPr>
          <p:cNvPr id="18" name="Text 15"/>
          <p:cNvSpPr/>
          <p:nvPr/>
        </p:nvSpPr>
        <p:spPr>
          <a:xfrm>
            <a:off x="3413760" y="3048000"/>
            <a:ext cx="1889760" cy="6705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 kind of</a:t>
            </a:r>
            <a:endParaRPr lang="en-US" sz="1100" dirty="0"/>
          </a:p>
        </p:txBody>
      </p:sp>
      <p:sp>
        <p:nvSpPr>
          <p:cNvPr id="19" name="Text 16"/>
          <p:cNvSpPr/>
          <p:nvPr/>
        </p:nvSpPr>
        <p:spPr>
          <a:xfrm>
            <a:off x="5303520" y="3048000"/>
            <a:ext cx="1889760" cy="6705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20" name="Text 17"/>
          <p:cNvSpPr/>
          <p:nvPr/>
        </p:nvSpPr>
        <p:spPr>
          <a:xfrm>
            <a:off x="7193280" y="3048000"/>
            <a:ext cx="1889760" cy="6705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21" name="Text 18"/>
          <p:cNvSpPr/>
          <p:nvPr/>
        </p:nvSpPr>
        <p:spPr>
          <a:xfrm>
            <a:off x="9083040" y="3048000"/>
            <a:ext cx="2255520" cy="6705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22" name="Text 19"/>
          <p:cNvSpPr/>
          <p:nvPr/>
        </p:nvSpPr>
        <p:spPr>
          <a:xfrm>
            <a:off x="731520" y="3840480"/>
            <a:ext cx="2682240" cy="67056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Cowrie shell</a:t>
            </a:r>
            <a:endParaRPr lang="en-US" sz="1200" dirty="0"/>
          </a:p>
        </p:txBody>
      </p:sp>
      <p:sp>
        <p:nvSpPr>
          <p:cNvPr id="23" name="Text 20"/>
          <p:cNvSpPr/>
          <p:nvPr/>
        </p:nvSpPr>
        <p:spPr>
          <a:xfrm>
            <a:off x="3413760" y="3840480"/>
            <a:ext cx="1889760" cy="6705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24" name="Text 21"/>
          <p:cNvSpPr/>
          <p:nvPr/>
        </p:nvSpPr>
        <p:spPr>
          <a:xfrm>
            <a:off x="5303520" y="3840480"/>
            <a:ext cx="1889760" cy="6705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 kind of</a:t>
            </a:r>
            <a:endParaRPr lang="en-US" sz="1100" dirty="0"/>
          </a:p>
        </p:txBody>
      </p:sp>
      <p:sp>
        <p:nvSpPr>
          <p:cNvPr id="25" name="Text 22"/>
          <p:cNvSpPr/>
          <p:nvPr/>
        </p:nvSpPr>
        <p:spPr>
          <a:xfrm>
            <a:off x="7193280" y="3840480"/>
            <a:ext cx="1889760" cy="6705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26" name="Text 23"/>
          <p:cNvSpPr/>
          <p:nvPr/>
        </p:nvSpPr>
        <p:spPr>
          <a:xfrm>
            <a:off x="9083040" y="3840480"/>
            <a:ext cx="2255520" cy="6705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 some places</a:t>
            </a:r>
            <a:endParaRPr lang="en-US" sz="1100" dirty="0"/>
          </a:p>
        </p:txBody>
      </p:sp>
      <p:sp>
        <p:nvSpPr>
          <p:cNvPr id="27" name="Text 24"/>
          <p:cNvSpPr/>
          <p:nvPr/>
        </p:nvSpPr>
        <p:spPr>
          <a:xfrm>
            <a:off x="731520" y="4632960"/>
            <a:ext cx="2682240" cy="67056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Block of salt</a:t>
            </a:r>
            <a:endParaRPr lang="en-US" sz="1200" dirty="0"/>
          </a:p>
        </p:txBody>
      </p:sp>
      <p:sp>
        <p:nvSpPr>
          <p:cNvPr id="28" name="Text 25"/>
          <p:cNvSpPr/>
          <p:nvPr/>
        </p:nvSpPr>
        <p:spPr>
          <a:xfrm>
            <a:off x="3413760" y="4632960"/>
            <a:ext cx="1889760" cy="6705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 dissolves</a:t>
            </a:r>
            <a:endParaRPr lang="en-US" sz="1100" dirty="0"/>
          </a:p>
        </p:txBody>
      </p:sp>
      <p:sp>
        <p:nvSpPr>
          <p:cNvPr id="29" name="Text 26"/>
          <p:cNvSpPr/>
          <p:nvPr/>
        </p:nvSpPr>
        <p:spPr>
          <a:xfrm>
            <a:off x="5303520" y="4632960"/>
            <a:ext cx="1889760" cy="6705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 heavy</a:t>
            </a:r>
            <a:endParaRPr lang="en-US" sz="1100" dirty="0"/>
          </a:p>
        </p:txBody>
      </p:sp>
      <p:sp>
        <p:nvSpPr>
          <p:cNvPr id="30" name="Text 27"/>
          <p:cNvSpPr/>
          <p:nvPr/>
        </p:nvSpPr>
        <p:spPr>
          <a:xfrm>
            <a:off x="7193280" y="4632960"/>
            <a:ext cx="1889760" cy="6705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 crumbly</a:t>
            </a:r>
            <a:endParaRPr lang="en-US" sz="1100" dirty="0"/>
          </a:p>
        </p:txBody>
      </p:sp>
      <p:sp>
        <p:nvSpPr>
          <p:cNvPr id="31" name="Text 28"/>
          <p:cNvSpPr/>
          <p:nvPr/>
        </p:nvSpPr>
        <p:spPr>
          <a:xfrm>
            <a:off x="9083040" y="4632960"/>
            <a:ext cx="2255520" cy="6705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 long ago</a:t>
            </a:r>
            <a:endParaRPr lang="en-US" sz="1100" dirty="0"/>
          </a:p>
        </p:txBody>
      </p:sp>
      <p:sp>
        <p:nvSpPr>
          <p:cNvPr id="32" name="Text 29"/>
          <p:cNvSpPr/>
          <p:nvPr/>
        </p:nvSpPr>
        <p:spPr>
          <a:xfrm>
            <a:off x="731520" y="5547360"/>
            <a:ext cx="10241280" cy="609600"/>
          </a:xfrm>
          <a:prstGeom prst="rect">
            <a:avLst/>
          </a:prstGeom>
          <a:noFill/>
          <a:ln/>
        </p:spPr>
        <p:txBody>
          <a:bodyPr wrap="square" lIns="0" tIns="0" rIns="0" bIns="0" rtlCol="0" anchor="ctr"/>
          <a:lstStyle/>
          <a:p>
            <a:pPr indent="0" marL="0">
              <a:buNone/>
            </a:pPr>
            <a:r>
              <a:rPr lang="en-US" sz="1150" i="1" dirty="0">
                <a:solidFill>
                  <a:srgbClr val="D4943A"/>
                </a:solidFill>
                <a:latin typeface="Calibri" pitchFamily="34" charset="0"/>
                <a:ea typeface="Calibri" pitchFamily="34" charset="-122"/>
                <a:cs typeface="Calibri" pitchFamily="34" charset="-120"/>
              </a:rPr>
              <a:t>Wild fact: the word salary comes from the Latin word for salt — Roman soldiers were sometimes paid in it!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341376"/>
            <a:ext cx="10728960" cy="426720"/>
          </a:xfrm>
          <a:prstGeom prst="rect">
            <a:avLst/>
          </a:prstGeom>
          <a:noFill/>
          <a:ln/>
        </p:spPr>
        <p:txBody>
          <a:bodyPr wrap="square" lIns="0" tIns="0" rIns="0" bIns="0" rtlCol="0" anchor="ctr"/>
          <a:lstStyle/>
          <a:p>
            <a:pPr indent="0" marL="0">
              <a:buNone/>
            </a:pPr>
            <a:r>
              <a:rPr lang="en-US" sz="1200" b="1" spc="150" kern="0" dirty="0">
                <a:solidFill>
                  <a:srgbClr val="1A8A7D"/>
                </a:solidFill>
                <a:latin typeface="Calibri" pitchFamily="34" charset="0"/>
                <a:ea typeface="Calibri" pitchFamily="34" charset="-122"/>
                <a:cs typeface="Calibri" pitchFamily="34" charset="-120"/>
              </a:rPr>
              <a:t>WHY IT MATTERS</a:t>
            </a:r>
            <a:endParaRPr lang="en-US" sz="1200" dirty="0"/>
          </a:p>
        </p:txBody>
      </p:sp>
      <p:sp>
        <p:nvSpPr>
          <p:cNvPr id="3" name="Text 1"/>
          <p:cNvSpPr/>
          <p:nvPr/>
        </p:nvSpPr>
        <p:spPr>
          <a:xfrm>
            <a:off x="609600" y="792480"/>
            <a:ext cx="10728960" cy="7315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Why Does Trust Matter So Much?</a:t>
            </a:r>
            <a:endParaRPr lang="en-US" sz="2200" dirty="0"/>
          </a:p>
        </p:txBody>
      </p:sp>
      <p:sp>
        <p:nvSpPr>
          <p:cNvPr id="4" name="Shape 2"/>
          <p:cNvSpPr/>
          <p:nvPr/>
        </p:nvSpPr>
        <p:spPr>
          <a:xfrm>
            <a:off x="609600" y="1645920"/>
            <a:ext cx="10607040" cy="1402080"/>
          </a:xfrm>
          <a:prstGeom prst="roundRect">
            <a:avLst>
              <a:gd name="adj" fmla="val 8696"/>
            </a:avLst>
          </a:prstGeom>
          <a:solidFill>
            <a:srgbClr val="EAF8FD"/>
          </a:solidFill>
          <a:ln/>
        </p:spPr>
      </p:sp>
      <p:sp>
        <p:nvSpPr>
          <p:cNvPr id="5" name="Text 3"/>
          <p:cNvSpPr/>
          <p:nvPr/>
        </p:nvSpPr>
        <p:spPr>
          <a:xfrm>
            <a:off x="853440" y="1828800"/>
            <a:ext cx="10119360" cy="109728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Then &amp; Now: Long ago, people carried gold and silver coins in leather pouches. Today, many people carry plastic cards or pay with phones. What stayed the same about why money has to be easy to carry, easy to count, and trusted?</a:t>
            </a:r>
            <a:endParaRPr lang="en-US" sz="1250" dirty="0"/>
          </a:p>
        </p:txBody>
      </p:sp>
      <p:sp>
        <p:nvSpPr>
          <p:cNvPr id="6" name="Shape 4"/>
          <p:cNvSpPr/>
          <p:nvPr/>
        </p:nvSpPr>
        <p:spPr>
          <a:xfrm>
            <a:off x="609600" y="3230880"/>
            <a:ext cx="5486400" cy="2682240"/>
          </a:xfrm>
          <a:prstGeom prst="roundRect">
            <a:avLst>
              <a:gd name="adj" fmla="val 6818"/>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853440" y="3352800"/>
            <a:ext cx="499872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853440" y="3694176"/>
            <a:ext cx="4998720" cy="20970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a whole community stopped trusting a coin or a bill, what would happen in the marketplace?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a whole community have to agree together, not just one person?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a shiny rock work as money if nobody trusted it was worth anything?</a:t>
            </a:r>
            <a:endParaRPr lang="en-US" sz="1100" dirty="0"/>
          </a:p>
        </p:txBody>
      </p:sp>
      <p:sp>
        <p:nvSpPr>
          <p:cNvPr id="9" name="Shape 7"/>
          <p:cNvSpPr/>
          <p:nvPr/>
        </p:nvSpPr>
        <p:spPr>
          <a:xfrm>
            <a:off x="6278880" y="3230880"/>
            <a:ext cx="4937760" cy="2682240"/>
          </a:xfrm>
          <a:prstGeom prst="roundRect">
            <a:avLst>
              <a:gd name="adj" fmla="val 5455"/>
            </a:avLst>
          </a:prstGeom>
          <a:solidFill>
            <a:srgbClr val="FFF3DC"/>
          </a:solidFill>
          <a:ln w="19050">
            <a:solidFill>
              <a:srgbClr val="F5E6C8"/>
            </a:solidFill>
            <a:prstDash val="solid"/>
          </a:ln>
        </p:spPr>
      </p:sp>
      <p:sp>
        <p:nvSpPr>
          <p:cNvPr id="10" name="Text 8"/>
          <p:cNvSpPr/>
          <p:nvPr/>
        </p:nvSpPr>
        <p:spPr>
          <a:xfrm>
            <a:off x="6461760" y="3304032"/>
            <a:ext cx="45720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6461760" y="3572256"/>
            <a:ext cx="4572000" cy="22555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trust matters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everyone stopped trusting money..."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341376"/>
            <a:ext cx="10728960" cy="426720"/>
          </a:xfrm>
          <a:prstGeom prst="rect">
            <a:avLst/>
          </a:prstGeom>
          <a:noFill/>
          <a:ln/>
        </p:spPr>
        <p:txBody>
          <a:bodyPr wrap="square" lIns="0" tIns="0" rIns="0" bIns="0" rtlCol="0" anchor="ctr"/>
          <a:lstStyle/>
          <a:p>
            <a:pPr indent="0" marL="0">
              <a:buNone/>
            </a:pPr>
            <a:r>
              <a:rPr lang="en-US" sz="1200" b="1" spc="150" kern="0" dirty="0">
                <a:solidFill>
                  <a:srgbClr val="1A8A7D"/>
                </a:solidFill>
                <a:latin typeface="Calibri" pitchFamily="34" charset="0"/>
                <a:ea typeface="Calibri" pitchFamily="34" charset="-122"/>
                <a:cs typeface="Calibri" pitchFamily="34" charset="-120"/>
              </a:rPr>
              <a:t>GUIDED PRACTICE · TEACHER MODELS</a:t>
            </a:r>
            <a:endParaRPr lang="en-US" sz="1200" dirty="0"/>
          </a:p>
        </p:txBody>
      </p:sp>
      <p:sp>
        <p:nvSpPr>
          <p:cNvPr id="3" name="Text 1"/>
          <p:cNvSpPr/>
          <p:nvPr/>
        </p:nvSpPr>
        <p:spPr>
          <a:xfrm>
            <a:off x="609600" y="792480"/>
            <a:ext cx="10728960" cy="85344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Would a Chocolate Bar Work as Money?</a:t>
            </a:r>
            <a:endParaRPr lang="en-US" sz="2000" dirty="0"/>
          </a:p>
        </p:txBody>
      </p:sp>
      <p:sp>
        <p:nvSpPr>
          <p:cNvPr id="4" name="Text 2"/>
          <p:cNvSpPr/>
          <p:nvPr/>
        </p:nvSpPr>
        <p:spPr>
          <a:xfrm>
            <a:off x="609600" y="1706880"/>
            <a:ext cx="10607040" cy="487680"/>
          </a:xfrm>
          <a:prstGeom prst="rect">
            <a:avLst/>
          </a:prstGeom>
          <a:noFill/>
          <a:ln/>
        </p:spPr>
        <p:txBody>
          <a:bodyPr wrap="square" lIns="0" tIns="0" rIns="0" bIns="0" rtlCol="0" anchor="ctr"/>
          <a:lstStyle/>
          <a:p>
            <a:pPr indent="0" marL="0">
              <a:buNone/>
            </a:pPr>
            <a:r>
              <a:rPr lang="en-US" sz="1250" i="1" dirty="0">
                <a:solidFill>
                  <a:srgbClr val="7A88A8"/>
                </a:solidFill>
                <a:latin typeface="Calibri" pitchFamily="34" charset="0"/>
                <a:ea typeface="Calibri" pitchFamily="34" charset="-122"/>
                <a:cs typeface="Calibri" pitchFamily="34" charset="-120"/>
              </a:rPr>
              <a:t>The head curator's new item to test: a standard chocolate bar (the kind you'd buy in a store).</a:t>
            </a:r>
            <a:endParaRPr lang="en-US" sz="1250" dirty="0"/>
          </a:p>
        </p:txBody>
      </p:sp>
      <p:sp>
        <p:nvSpPr>
          <p:cNvPr id="5" name="Shape 3"/>
          <p:cNvSpPr/>
          <p:nvPr/>
        </p:nvSpPr>
        <p:spPr>
          <a:xfrm>
            <a:off x="609600" y="2377440"/>
            <a:ext cx="10607040" cy="3535680"/>
          </a:xfrm>
          <a:prstGeom prst="roundRect">
            <a:avLst>
              <a:gd name="adj" fmla="val 4138"/>
            </a:avLst>
          </a:prstGeom>
          <a:solidFill>
            <a:srgbClr val="FFF3DC"/>
          </a:solidFill>
          <a:ln w="12700">
            <a:solidFill>
              <a:srgbClr val="F0DDBE"/>
            </a:solidFill>
            <a:prstDash val="solid"/>
          </a:ln>
        </p:spPr>
      </p:sp>
      <p:sp>
        <p:nvSpPr>
          <p:cNvPr id="6" name="Text 4"/>
          <p:cNvSpPr/>
          <p:nvPr/>
        </p:nvSpPr>
        <p:spPr>
          <a:xfrm>
            <a:off x="914400" y="2560320"/>
            <a:ext cx="9997440" cy="426720"/>
          </a:xfrm>
          <a:prstGeom prst="rect">
            <a:avLst/>
          </a:prstGeom>
          <a:noFill/>
          <a:ln/>
        </p:spPr>
        <p:txBody>
          <a:bodyPr wrap="square" lIns="0" tIns="0" rIns="0" bIns="0" rtlCol="0" anchor="ctr"/>
          <a:lstStyle/>
          <a:p>
            <a:pPr indent="0" marL="0">
              <a:buNone/>
            </a:pPr>
            <a:r>
              <a:rPr lang="en-US" sz="1200" b="1" spc="100" kern="0" dirty="0">
                <a:solidFill>
                  <a:srgbClr val="D4943A"/>
                </a:solidFill>
                <a:latin typeface="Calibri" pitchFamily="34" charset="0"/>
                <a:ea typeface="Calibri" pitchFamily="34" charset="-122"/>
                <a:cs typeface="Calibri" pitchFamily="34" charset="-120"/>
              </a:rPr>
              <a:t>RULE 1 — WOULD IT LAST?  (Teacher think-aloud)</a:t>
            </a:r>
            <a:endParaRPr lang="en-US" sz="1200" dirty="0"/>
          </a:p>
        </p:txBody>
      </p:sp>
      <p:sp>
        <p:nvSpPr>
          <p:cNvPr id="7" name="Text 5"/>
          <p:cNvSpPr/>
          <p:nvPr/>
        </p:nvSpPr>
        <p:spPr>
          <a:xfrm>
            <a:off x="914400" y="3108960"/>
            <a:ext cx="9997440" cy="2621280"/>
          </a:xfrm>
          <a:prstGeom prst="rect">
            <a:avLst/>
          </a:prstGeom>
          <a:noFill/>
          <a:ln/>
        </p:spPr>
        <p:txBody>
          <a:bodyPr wrap="square" lIns="0" tIns="0" rIns="0" bIns="0" rtlCol="0" anchor="t"/>
          <a:lstStyle/>
          <a:p>
            <a:pPr indent="0" marL="0">
              <a:spcAft>
                <a:spcPts val="1000"/>
              </a:spcAft>
              <a:buNone/>
            </a:pPr>
            <a:r>
              <a:rPr lang="en-US" sz="1300" i="1" dirty="0">
                <a:solidFill>
                  <a:srgbClr val="0E1C42"/>
                </a:solidFill>
                <a:latin typeface="Cambria" pitchFamily="34" charset="0"/>
                <a:ea typeface="Cambria" pitchFamily="34" charset="-122"/>
                <a:cs typeface="Cambria" pitchFamily="34" charset="-120"/>
              </a:rPr>
              <a:t>“Let me check Rule 1 first: does it LAST? I know chocolate melts in a hot car, and it can go moldy after a few weeks. Salt didn't last because it dissolved — chocolate has a similar problem. It doesn't stay the same for very long.”</a:t>
            </a:r>
            <a:endParaRPr lang="en-US" sz="1300" dirty="0"/>
          </a:p>
          <a:p>
            <a:pPr indent="0" marL="0">
              <a:buNone/>
            </a:pPr>
            <a:r>
              <a:rPr lang="en-US" sz="1300" b="1" i="1" dirty="0">
                <a:solidFill>
                  <a:srgbClr val="0E1C42"/>
                </a:solidFill>
                <a:latin typeface="Cambria" pitchFamily="34" charset="0"/>
                <a:ea typeface="Cambria" pitchFamily="34" charset="-122"/>
                <a:cs typeface="Cambria" pitchFamily="34" charset="-120"/>
              </a:rPr>
              <a:t>Answer: NO — chocolate does not pass Rule 1.</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341376"/>
            <a:ext cx="10728960" cy="426720"/>
          </a:xfrm>
          <a:prstGeom prst="rect">
            <a:avLst/>
          </a:prstGeom>
          <a:noFill/>
          <a:ln/>
        </p:spPr>
        <p:txBody>
          <a:bodyPr wrap="square" lIns="0" tIns="0" rIns="0" bIns="0" rtlCol="0" anchor="ctr"/>
          <a:lstStyle/>
          <a:p>
            <a:pPr indent="0" marL="0">
              <a:buNone/>
            </a:pPr>
            <a:r>
              <a:rPr lang="en-US" sz="1200" b="1" spc="150" kern="0" dirty="0">
                <a:solidFill>
                  <a:srgbClr val="1A8A7D"/>
                </a:solidFill>
                <a:latin typeface="Calibri" pitchFamily="34" charset="0"/>
                <a:ea typeface="Calibri" pitchFamily="34" charset="-122"/>
                <a:cs typeface="Calibri" pitchFamily="34" charset="-120"/>
              </a:rPr>
              <a:t>GUIDED PRACTICE · WE TRY TOGETHER</a:t>
            </a:r>
            <a:endParaRPr lang="en-US" sz="1200" dirty="0"/>
          </a:p>
        </p:txBody>
      </p:sp>
      <p:sp>
        <p:nvSpPr>
          <p:cNvPr id="3" name="Text 1"/>
          <p:cNvSpPr/>
          <p:nvPr/>
        </p:nvSpPr>
        <p:spPr>
          <a:xfrm>
            <a:off x="609600" y="792480"/>
            <a:ext cx="10728960" cy="7315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Rules 2 and 3: Carry and Count</a:t>
            </a:r>
            <a:endParaRPr lang="en-US" sz="2200" dirty="0"/>
          </a:p>
        </p:txBody>
      </p:sp>
      <p:sp>
        <p:nvSpPr>
          <p:cNvPr id="4" name="Shape 2"/>
          <p:cNvSpPr/>
          <p:nvPr/>
        </p:nvSpPr>
        <p:spPr>
          <a:xfrm>
            <a:off x="609600" y="1645920"/>
            <a:ext cx="5486400" cy="4267200"/>
          </a:xfrm>
          <a:prstGeom prst="roundRect">
            <a:avLst>
              <a:gd name="adj" fmla="val 4286"/>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853440" y="1767840"/>
            <a:ext cx="499872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853440" y="2109216"/>
            <a:ext cx="4998720" cy="36819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Rule 2: Would a chocolate bar be easy to carry to the market? Why or why not?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Rule 3: Would chocolate bars be easy to count in exact amounts, like coins?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happens to a chocolate bar's shape if you break it in half?</a:t>
            </a:r>
            <a:endParaRPr lang="en-US" sz="1100" dirty="0"/>
          </a:p>
        </p:txBody>
      </p:sp>
      <p:sp>
        <p:nvSpPr>
          <p:cNvPr id="7" name="Shape 5"/>
          <p:cNvSpPr/>
          <p:nvPr/>
        </p:nvSpPr>
        <p:spPr>
          <a:xfrm>
            <a:off x="6278880" y="1645920"/>
            <a:ext cx="4937760" cy="4267200"/>
          </a:xfrm>
          <a:prstGeom prst="roundRect">
            <a:avLst>
              <a:gd name="adj" fmla="val 3429"/>
            </a:avLst>
          </a:prstGeom>
          <a:solidFill>
            <a:srgbClr val="FFF3DC"/>
          </a:solidFill>
          <a:ln w="19050">
            <a:solidFill>
              <a:srgbClr val="F5E6C8"/>
            </a:solidFill>
            <a:prstDash val="solid"/>
          </a:ln>
        </p:spPr>
      </p:sp>
      <p:sp>
        <p:nvSpPr>
          <p:cNvPr id="8" name="Text 6"/>
          <p:cNvSpPr/>
          <p:nvPr/>
        </p:nvSpPr>
        <p:spPr>
          <a:xfrm>
            <a:off x="6461760" y="1719072"/>
            <a:ext cx="45720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6461760" y="1987296"/>
            <a:ext cx="4572000" cy="38404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Rule 2 would be a yes/no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Rule 3 would be a yes/no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thing I'm noticing is..."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341376"/>
            <a:ext cx="10728960" cy="426720"/>
          </a:xfrm>
          <a:prstGeom prst="rect">
            <a:avLst/>
          </a:prstGeom>
          <a:noFill/>
          <a:ln/>
        </p:spPr>
        <p:txBody>
          <a:bodyPr wrap="square" lIns="0" tIns="0" rIns="0" bIns="0" rtlCol="0" anchor="ctr"/>
          <a:lstStyle/>
          <a:p>
            <a:pPr indent="0" marL="0">
              <a:buNone/>
            </a:pPr>
            <a:r>
              <a:rPr lang="en-US" sz="1200" b="1" spc="150" kern="0" dirty="0">
                <a:solidFill>
                  <a:srgbClr val="1A8A7D"/>
                </a:solidFill>
                <a:latin typeface="Calibri" pitchFamily="34" charset="0"/>
                <a:ea typeface="Calibri" pitchFamily="34" charset="-122"/>
                <a:cs typeface="Calibri" pitchFamily="34" charset="-120"/>
              </a:rPr>
              <a:t>GUIDED PRACTICE · YOUR TURN &amp; ERROR ANALYSIS</a:t>
            </a:r>
            <a:endParaRPr lang="en-US" sz="1200" dirty="0"/>
          </a:p>
        </p:txBody>
      </p:sp>
      <p:sp>
        <p:nvSpPr>
          <p:cNvPr id="3" name="Text 1"/>
          <p:cNvSpPr/>
          <p:nvPr/>
        </p:nvSpPr>
        <p:spPr>
          <a:xfrm>
            <a:off x="609600" y="792480"/>
            <a:ext cx="10728960" cy="853440"/>
          </a:xfrm>
          <a:prstGeom prst="rect">
            <a:avLst/>
          </a:prstGeom>
          <a:noFill/>
          <a:ln/>
        </p:spPr>
        <p:txBody>
          <a:bodyPr wrap="square" rtlCol="0" anchor="ctr"/>
          <a:lstStyle/>
          <a:p>
            <a:pPr indent="0" marL="0">
              <a:buNone/>
            </a:pPr>
            <a:r>
              <a:rPr lang="en-US" sz="1900" b="1" dirty="0">
                <a:solidFill>
                  <a:srgbClr val="0E1C42"/>
                </a:solidFill>
                <a:latin typeface="Cambria" pitchFamily="34" charset="0"/>
                <a:ea typeface="Cambria" pitchFamily="34" charset="-122"/>
                <a:cs typeface="Cambria" pitchFamily="34" charset="-120"/>
              </a:rPr>
              <a:t>Rule 4: Is It Trusted? Spot the Mistake</a:t>
            </a:r>
            <a:endParaRPr lang="en-US" sz="1900" dirty="0"/>
          </a:p>
        </p:txBody>
      </p:sp>
      <p:sp>
        <p:nvSpPr>
          <p:cNvPr id="4" name="Shape 2"/>
          <p:cNvSpPr/>
          <p:nvPr/>
        </p:nvSpPr>
        <p:spPr>
          <a:xfrm>
            <a:off x="609600" y="1767840"/>
            <a:ext cx="10607040" cy="1828800"/>
          </a:xfrm>
          <a:prstGeom prst="roundRect">
            <a:avLst>
              <a:gd name="adj" fmla="val 6667"/>
            </a:avLst>
          </a:prstGeom>
          <a:solidFill>
            <a:srgbClr val="FDEBEC"/>
          </a:solidFill>
          <a:ln w="12700">
            <a:solidFill>
              <a:srgbClr val="E8636B"/>
            </a:solidFill>
            <a:prstDash val="solid"/>
          </a:ln>
        </p:spPr>
      </p:sp>
      <p:sp>
        <p:nvSpPr>
          <p:cNvPr id="5" name="Text 3"/>
          <p:cNvSpPr/>
          <p:nvPr/>
        </p:nvSpPr>
        <p:spPr>
          <a:xfrm>
            <a:off x="914400" y="1950720"/>
            <a:ext cx="9997440" cy="670560"/>
          </a:xfrm>
          <a:prstGeom prst="rect">
            <a:avLst/>
          </a:prstGeom>
          <a:noFill/>
          <a:ln/>
        </p:spPr>
        <p:txBody>
          <a:bodyPr wrap="square" lIns="0" tIns="0" rIns="0" bIns="0"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A student wrote: “Chocolate bars would work great as money because everyone likes eating it.”</a:t>
            </a:r>
            <a:endParaRPr lang="en-US" sz="1300" dirty="0"/>
          </a:p>
        </p:txBody>
      </p:sp>
      <p:sp>
        <p:nvSpPr>
          <p:cNvPr id="6" name="Text 4"/>
          <p:cNvSpPr/>
          <p:nvPr/>
        </p:nvSpPr>
        <p:spPr>
          <a:xfrm>
            <a:off x="914400" y="2621280"/>
            <a:ext cx="9997440" cy="853440"/>
          </a:xfrm>
          <a:prstGeom prst="rect">
            <a:avLst/>
          </a:prstGeom>
          <a:noFill/>
          <a:ln/>
        </p:spPr>
        <p:txBody>
          <a:bodyPr wrap="square" lIns="0" tIns="0" rIns="0" bIns="0" rtlCol="0" anchor="t"/>
          <a:lstStyle/>
          <a:p>
            <a:pPr indent="0" marL="0">
              <a:buNone/>
            </a:pPr>
            <a:r>
              <a:rPr lang="en-US" sz="1200" dirty="0">
                <a:solidFill>
                  <a:srgbClr val="E8636B"/>
                </a:solidFill>
                <a:latin typeface="Calibri" pitchFamily="34" charset="0"/>
                <a:ea typeface="Calibri" pitchFamily="34" charset="-122"/>
                <a:cs typeface="Calibri" pitchFamily="34" charset="-120"/>
              </a:rPr>
              <a:t>What's wrong with this reasoning? (Hint: liking to eat something is not the same as trusting it as MONEY.)</a:t>
            </a:r>
            <a:endParaRPr lang="en-US" sz="1200" dirty="0"/>
          </a:p>
        </p:txBody>
      </p:sp>
      <p:sp>
        <p:nvSpPr>
          <p:cNvPr id="7" name="Shape 5"/>
          <p:cNvSpPr/>
          <p:nvPr/>
        </p:nvSpPr>
        <p:spPr>
          <a:xfrm>
            <a:off x="609600" y="3840480"/>
            <a:ext cx="5486400" cy="2316480"/>
          </a:xfrm>
          <a:prstGeom prst="roundRect">
            <a:avLst>
              <a:gd name="adj" fmla="val 7895"/>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853440" y="3962400"/>
            <a:ext cx="499872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853440" y="4303776"/>
            <a:ext cx="4998720" cy="17312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Rule 4: Would a whole community agree a chocolate bar is worth a set amount, the way they agree about a dollar?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liking to eat chocolate the same thing as trusting it as money? Why or why not?</a:t>
            </a:r>
            <a:endParaRPr lang="en-US" sz="1100" dirty="0"/>
          </a:p>
        </p:txBody>
      </p:sp>
      <p:sp>
        <p:nvSpPr>
          <p:cNvPr id="10" name="Shape 8"/>
          <p:cNvSpPr/>
          <p:nvPr/>
        </p:nvSpPr>
        <p:spPr>
          <a:xfrm>
            <a:off x="6278880" y="3840480"/>
            <a:ext cx="4937760" cy="2316480"/>
          </a:xfrm>
          <a:prstGeom prst="roundRect">
            <a:avLst>
              <a:gd name="adj" fmla="val 6316"/>
            </a:avLst>
          </a:prstGeom>
          <a:solidFill>
            <a:srgbClr val="FFF3DC"/>
          </a:solidFill>
          <a:ln w="19050">
            <a:solidFill>
              <a:srgbClr val="F5E6C8"/>
            </a:solidFill>
            <a:prstDash val="solid"/>
          </a:ln>
        </p:spPr>
      </p:sp>
      <p:sp>
        <p:nvSpPr>
          <p:cNvPr id="11" name="Text 9"/>
          <p:cNvSpPr/>
          <p:nvPr/>
        </p:nvSpPr>
        <p:spPr>
          <a:xfrm>
            <a:off x="6461760" y="3913632"/>
            <a:ext cx="45720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6461760" y="4181856"/>
            <a:ext cx="4572000" cy="1889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reasoning is wrong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"For Rule 4, my judgment is..."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341376"/>
            <a:ext cx="10728960" cy="426720"/>
          </a:xfrm>
          <a:prstGeom prst="rect">
            <a:avLst/>
          </a:prstGeom>
          <a:noFill/>
          <a:ln/>
        </p:spPr>
        <p:txBody>
          <a:bodyPr wrap="square" lIns="0" tIns="0" rIns="0" bIns="0" rtlCol="0" anchor="ctr"/>
          <a:lstStyle/>
          <a:p>
            <a:pPr indent="0" marL="0">
              <a:buNone/>
            </a:pPr>
            <a:r>
              <a:rPr lang="en-US" sz="1200" b="1" spc="150" kern="0" dirty="0">
                <a:solidFill>
                  <a:srgbClr val="1A8A7D"/>
                </a:solidFill>
                <a:latin typeface="Calibri" pitchFamily="34" charset="0"/>
                <a:ea typeface="Calibri" pitchFamily="34" charset="-122"/>
                <a:cs typeface="Calibri" pitchFamily="34" charset="-120"/>
              </a:rPr>
              <a:t>QUICK SELF-CHECK</a:t>
            </a:r>
            <a:endParaRPr lang="en-US" sz="1200" dirty="0"/>
          </a:p>
        </p:txBody>
      </p:sp>
      <p:sp>
        <p:nvSpPr>
          <p:cNvPr id="3" name="Text 1"/>
          <p:cNvSpPr/>
          <p:nvPr/>
        </p:nvSpPr>
        <p:spPr>
          <a:xfrm>
            <a:off x="609600" y="792480"/>
            <a:ext cx="10728960" cy="6096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Check Your Understanding</a:t>
            </a:r>
            <a:endParaRPr lang="en-US" sz="2200" dirty="0"/>
          </a:p>
        </p:txBody>
      </p:sp>
      <p:sp>
        <p:nvSpPr>
          <p:cNvPr id="4" name="Text 2"/>
          <p:cNvSpPr/>
          <p:nvPr/>
        </p:nvSpPr>
        <p:spPr>
          <a:xfrm>
            <a:off x="609600" y="1584960"/>
            <a:ext cx="10607040" cy="426720"/>
          </a:xfrm>
          <a:prstGeom prst="rect">
            <a:avLst/>
          </a:prstGeom>
          <a:noFill/>
          <a:ln/>
        </p:spPr>
        <p:txBody>
          <a:bodyPr wrap="square" lIns="0" tIns="0" rIns="0" bIns="0" rtlCol="0" anchor="ctr"/>
          <a:lstStyle/>
          <a:p>
            <a:pPr indent="0" marL="0">
              <a:buNone/>
            </a:pPr>
            <a:r>
              <a:rPr lang="en-US" sz="1250" b="1" dirty="0">
                <a:solidFill>
                  <a:srgbClr val="0E1C42"/>
                </a:solidFill>
                <a:latin typeface="Calibri" pitchFamily="34" charset="0"/>
                <a:ea typeface="Calibri" pitchFamily="34" charset="-122"/>
                <a:cs typeface="Calibri" pitchFamily="34" charset="-120"/>
              </a:rPr>
              <a:t>1. Which of the following is NOT one of the four characteristics of good money?</a:t>
            </a:r>
            <a:endParaRPr lang="en-US" sz="1250" dirty="0"/>
          </a:p>
        </p:txBody>
      </p:sp>
      <p:sp>
        <p:nvSpPr>
          <p:cNvPr id="5" name="Text 3"/>
          <p:cNvSpPr/>
          <p:nvPr/>
        </p:nvSpPr>
        <p:spPr>
          <a:xfrm>
            <a:off x="609600" y="2011680"/>
            <a:ext cx="10607040" cy="36576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A) It lasts.   B) It is easy to carry.   C) It is the same color as the country's flag.</a:t>
            </a:r>
            <a:endParaRPr lang="en-US" sz="1100" dirty="0"/>
          </a:p>
        </p:txBody>
      </p:sp>
      <p:sp>
        <p:nvSpPr>
          <p:cNvPr id="6" name="Text 4"/>
          <p:cNvSpPr/>
          <p:nvPr/>
        </p:nvSpPr>
        <p:spPr>
          <a:xfrm>
            <a:off x="609600" y="2377440"/>
            <a:ext cx="10607040" cy="42672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Answer: C — Color doesn't matter. What matters is that money lasts, is easy to carry, is easy to count, and is trusted.</a:t>
            </a:r>
            <a:endParaRPr lang="en-US" sz="1100" dirty="0"/>
          </a:p>
        </p:txBody>
      </p:sp>
      <p:sp>
        <p:nvSpPr>
          <p:cNvPr id="7" name="Text 5"/>
          <p:cNvSpPr/>
          <p:nvPr/>
        </p:nvSpPr>
        <p:spPr>
          <a:xfrm>
            <a:off x="609600" y="2987040"/>
            <a:ext cx="10607040" cy="426720"/>
          </a:xfrm>
          <a:prstGeom prst="rect">
            <a:avLst/>
          </a:prstGeom>
          <a:noFill/>
          <a:ln/>
        </p:spPr>
        <p:txBody>
          <a:bodyPr wrap="square" lIns="0" tIns="0" rIns="0" bIns="0" rtlCol="0" anchor="ctr"/>
          <a:lstStyle/>
          <a:p>
            <a:pPr indent="0" marL="0">
              <a:buNone/>
            </a:pPr>
            <a:r>
              <a:rPr lang="en-US" sz="1250" b="1" dirty="0">
                <a:solidFill>
                  <a:srgbClr val="0E1C42"/>
                </a:solidFill>
                <a:latin typeface="Calibri" pitchFamily="34" charset="0"/>
                <a:ea typeface="Calibri" pitchFamily="34" charset="-122"/>
                <a:cs typeface="Calibri" pitchFamily="34" charset="-120"/>
              </a:rPr>
              <a:t>2. Why didn't a block of salt make great long-term money?</a:t>
            </a:r>
            <a:endParaRPr lang="en-US" sz="1250" dirty="0"/>
          </a:p>
        </p:txBody>
      </p:sp>
      <p:sp>
        <p:nvSpPr>
          <p:cNvPr id="8" name="Text 6"/>
          <p:cNvSpPr/>
          <p:nvPr/>
        </p:nvSpPr>
        <p:spPr>
          <a:xfrm>
            <a:off x="609600" y="3413760"/>
            <a:ext cx="10607040" cy="36576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A) It tastes bad.   B) It doesn't last — it dissolves and crumbles.   C) Nobody needed salt.</a:t>
            </a:r>
            <a:endParaRPr lang="en-US" sz="1100" dirty="0"/>
          </a:p>
        </p:txBody>
      </p:sp>
      <p:sp>
        <p:nvSpPr>
          <p:cNvPr id="9" name="Text 7"/>
          <p:cNvSpPr/>
          <p:nvPr/>
        </p:nvSpPr>
        <p:spPr>
          <a:xfrm>
            <a:off x="609600" y="3779520"/>
            <a:ext cx="10607040" cy="42672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Answer: B — Salt fails the very first rule: it has to last, and salt dissolves in water.</a:t>
            </a:r>
            <a:endParaRPr lang="en-US" sz="1100" dirty="0"/>
          </a:p>
        </p:txBody>
      </p:sp>
      <p:sp>
        <p:nvSpPr>
          <p:cNvPr id="10" name="Text 8"/>
          <p:cNvSpPr/>
          <p:nvPr/>
        </p:nvSpPr>
        <p:spPr>
          <a:xfrm>
            <a:off x="609600" y="4389120"/>
            <a:ext cx="10607040" cy="426720"/>
          </a:xfrm>
          <a:prstGeom prst="rect">
            <a:avLst/>
          </a:prstGeom>
          <a:noFill/>
          <a:ln/>
        </p:spPr>
        <p:txBody>
          <a:bodyPr wrap="square" lIns="0" tIns="0" rIns="0" bIns="0" rtlCol="0" anchor="ctr"/>
          <a:lstStyle/>
          <a:p>
            <a:pPr indent="0" marL="0">
              <a:buNone/>
            </a:pPr>
            <a:r>
              <a:rPr lang="en-US" sz="1250" b="1" dirty="0">
                <a:solidFill>
                  <a:srgbClr val="0E1C42"/>
                </a:solidFill>
                <a:latin typeface="Calibri" pitchFamily="34" charset="0"/>
                <a:ea typeface="Calibri" pitchFamily="34" charset="-122"/>
                <a:cs typeface="Calibri" pitchFamily="34" charset="-120"/>
              </a:rPr>
              <a:t>3. Why does money need to be trusted?</a:t>
            </a:r>
            <a:endParaRPr lang="en-US" sz="1250" dirty="0"/>
          </a:p>
        </p:txBody>
      </p:sp>
      <p:sp>
        <p:nvSpPr>
          <p:cNvPr id="11" name="Text 9"/>
          <p:cNvSpPr/>
          <p:nvPr/>
        </p:nvSpPr>
        <p:spPr>
          <a:xfrm>
            <a:off x="609600" y="4815840"/>
            <a:ext cx="10607040" cy="36576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A) If people don't believe it's worth something, no one will accept it.   B) Trust makes coins shinier.   C) Trust changes how heavy a bill is.</a:t>
            </a:r>
            <a:endParaRPr lang="en-US" sz="1100" dirty="0"/>
          </a:p>
        </p:txBody>
      </p:sp>
      <p:sp>
        <p:nvSpPr>
          <p:cNvPr id="12" name="Text 10"/>
          <p:cNvSpPr/>
          <p:nvPr/>
        </p:nvSpPr>
        <p:spPr>
          <a:xfrm>
            <a:off x="609600" y="5181600"/>
            <a:ext cx="10607040" cy="42672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Answer: A — Money only works because a whole community agrees it's worth something.</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341376"/>
            <a:ext cx="10728960" cy="426720"/>
          </a:xfrm>
          <a:prstGeom prst="rect">
            <a:avLst/>
          </a:prstGeom>
          <a:noFill/>
          <a:ln/>
        </p:spPr>
        <p:txBody>
          <a:bodyPr wrap="square" lIns="0" tIns="0" rIns="0" bIns="0" rtlCol="0" anchor="ctr"/>
          <a:lstStyle/>
          <a:p>
            <a:pPr indent="0" marL="0">
              <a:buNone/>
            </a:pPr>
            <a:r>
              <a:rPr lang="en-US" sz="1200" b="1" spc="150" kern="0" dirty="0">
                <a:solidFill>
                  <a:srgbClr val="1A8A7D"/>
                </a:solidFill>
                <a:latin typeface="Calibri" pitchFamily="34" charset="0"/>
                <a:ea typeface="Calibri" pitchFamily="34" charset="-122"/>
                <a:cs typeface="Calibri" pitchFamily="34" charset="-120"/>
              </a:rPr>
              <a:t>EVIDENCE &amp; ASSIGNMENT</a:t>
            </a:r>
            <a:endParaRPr lang="en-US" sz="1200" dirty="0"/>
          </a:p>
        </p:txBody>
      </p:sp>
      <p:sp>
        <p:nvSpPr>
          <p:cNvPr id="3" name="Text 1"/>
          <p:cNvSpPr/>
          <p:nvPr/>
        </p:nvSpPr>
        <p:spPr>
          <a:xfrm>
            <a:off x="609600" y="731520"/>
            <a:ext cx="10728960" cy="6096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You'll Turn In</a:t>
            </a:r>
            <a:endParaRPr lang="en-US" sz="2200" dirty="0"/>
          </a:p>
        </p:txBody>
      </p:sp>
      <p:sp>
        <p:nvSpPr>
          <p:cNvPr id="4" name="Text 2"/>
          <p:cNvSpPr/>
          <p:nvPr/>
        </p:nvSpPr>
        <p:spPr>
          <a:xfrm>
            <a:off x="609600" y="1402080"/>
            <a:ext cx="10607040" cy="365760"/>
          </a:xfrm>
          <a:prstGeom prst="rect">
            <a:avLst/>
          </a:prstGeom>
          <a:noFill/>
          <a:ln/>
        </p:spPr>
        <p:txBody>
          <a:bodyPr wrap="square" lIns="0" tIns="0" rIns="0" bIns="0" rtlCol="0" anchor="ctr"/>
          <a:lstStyle/>
          <a:p>
            <a:pPr indent="0" marL="0">
              <a:buNone/>
            </a:pPr>
            <a:r>
              <a:rPr lang="en-US" sz="1250" b="1" dirty="0">
                <a:solidFill>
                  <a:srgbClr val="1A8A7D"/>
                </a:solidFill>
                <a:latin typeface="Calibri" pitchFamily="34" charset="0"/>
                <a:ea typeface="Calibri" pitchFamily="34" charset="-122"/>
                <a:cs typeface="Calibri" pitchFamily="34" charset="-120"/>
              </a:rPr>
              <a:t>Evidence Questions — answer using details from the lesson:</a:t>
            </a:r>
            <a:endParaRPr lang="en-US" sz="1250" dirty="0"/>
          </a:p>
        </p:txBody>
      </p:sp>
      <p:sp>
        <p:nvSpPr>
          <p:cNvPr id="5" name="Text 3"/>
          <p:cNvSpPr/>
          <p:nvPr/>
        </p:nvSpPr>
        <p:spPr>
          <a:xfrm>
            <a:off x="609600" y="1804416"/>
            <a:ext cx="10607040" cy="1584960"/>
          </a:xfrm>
          <a:prstGeom prst="rect">
            <a:avLst/>
          </a:prstGeom>
          <a:noFill/>
          <a:ln/>
        </p:spPr>
        <p:txBody>
          <a:bodyPr wrap="square" lIns="0" tIns="0" rIns="0" bIns="0" rtlCol="0" anchor="t"/>
          <a:lstStyle/>
          <a:p>
            <a:pPr indent="0" marL="0">
              <a:spcAft>
                <a:spcPts val="600"/>
              </a:spcAft>
              <a:buNone/>
            </a:pPr>
            <a:r>
              <a:rPr lang="en-US" sz="1150" dirty="0">
                <a:solidFill>
                  <a:srgbClr val="0E1C42"/>
                </a:solidFill>
                <a:latin typeface="Calibri" pitchFamily="34" charset="0"/>
                <a:ea typeface="Calibri" pitchFamily="34" charset="-122"/>
                <a:cs typeface="Calibri" pitchFamily="34" charset="-120"/>
              </a:rPr>
              <a:t>1. Name the four characteristics of good money. Use one item from the lesson to show what happens when one of those characteristics is missing.</a:t>
            </a:r>
            <a:endParaRPr lang="en-US" sz="1150" dirty="0"/>
          </a:p>
          <a:p>
            <a:pPr indent="0" marL="0">
              <a:spcAft>
                <a:spcPts val="600"/>
              </a:spcAft>
              <a:buNone/>
            </a:pPr>
            <a:r>
              <a:rPr lang="en-US" sz="1150" dirty="0">
                <a:solidFill>
                  <a:srgbClr val="0E1C42"/>
                </a:solidFill>
                <a:latin typeface="Calibri" pitchFamily="34" charset="0"/>
                <a:ea typeface="Calibri" pitchFamily="34" charset="-122"/>
                <a:cs typeface="Calibri" pitchFamily="34" charset="-120"/>
              </a:rPr>
              <a:t>2. Why does money need to be trusted? What could happen in a marketplace if people stopped trusting the money?</a:t>
            </a:r>
            <a:endParaRPr lang="en-US" sz="1150" dirty="0"/>
          </a:p>
          <a:p>
            <a:pPr indent="0" marL="0">
              <a:spcAft>
                <a:spcPts val="600"/>
              </a:spcAft>
              <a:buNone/>
            </a:pPr>
            <a:r>
              <a:rPr lang="en-US" sz="1150" dirty="0">
                <a:solidFill>
                  <a:srgbClr val="0E1C42"/>
                </a:solidFill>
                <a:latin typeface="Calibri" pitchFamily="34" charset="0"/>
                <a:ea typeface="Calibri" pitchFamily="34" charset="-122"/>
                <a:cs typeface="Calibri" pitchFamily="34" charset="-120"/>
              </a:rPr>
              <a:t>3. Why did salt and shells kind of work as money, but not as well as gold or silver?</a:t>
            </a:r>
            <a:endParaRPr lang="en-US" sz="1150" dirty="0"/>
          </a:p>
        </p:txBody>
      </p:sp>
      <p:sp>
        <p:nvSpPr>
          <p:cNvPr id="6" name="Shape 4"/>
          <p:cNvSpPr/>
          <p:nvPr/>
        </p:nvSpPr>
        <p:spPr>
          <a:xfrm>
            <a:off x="609600" y="3535680"/>
            <a:ext cx="10607040" cy="2865120"/>
          </a:xfrm>
          <a:prstGeom prst="roundRect">
            <a:avLst>
              <a:gd name="adj" fmla="val 4255"/>
            </a:avLst>
          </a:prstGeom>
          <a:solidFill>
            <a:srgbClr val="FFF3DC"/>
          </a:solidFill>
          <a:ln/>
        </p:spPr>
      </p:sp>
      <p:sp>
        <p:nvSpPr>
          <p:cNvPr id="7" name="Text 5"/>
          <p:cNvSpPr/>
          <p:nvPr/>
        </p:nvSpPr>
        <p:spPr>
          <a:xfrm>
            <a:off x="853440" y="3681984"/>
            <a:ext cx="10119360" cy="365760"/>
          </a:xfrm>
          <a:prstGeom prst="rect">
            <a:avLst/>
          </a:prstGeom>
          <a:noFill/>
          <a:ln/>
        </p:spPr>
        <p:txBody>
          <a:bodyPr wrap="square" lIns="0" tIns="0" rIns="0" bIns="0" rtlCol="0" anchor="ctr"/>
          <a:lstStyle/>
          <a:p>
            <a:pPr indent="0" marL="0">
              <a:buNone/>
            </a:pPr>
            <a:r>
              <a:rPr lang="en-US" sz="1250" b="1" dirty="0">
                <a:solidFill>
                  <a:srgbClr val="D4943A"/>
                </a:solidFill>
                <a:latin typeface="Calibri" pitchFamily="34" charset="0"/>
                <a:ea typeface="Calibri" pitchFamily="34" charset="-122"/>
                <a:cs typeface="Calibri" pitchFamily="34" charset="-120"/>
              </a:rPr>
              <a:t>Curator Task: Would It Work as Money?</a:t>
            </a:r>
            <a:endParaRPr lang="en-US" sz="1250" dirty="0"/>
          </a:p>
        </p:txBody>
      </p:sp>
      <p:sp>
        <p:nvSpPr>
          <p:cNvPr id="8" name="Text 6"/>
          <p:cNvSpPr/>
          <p:nvPr/>
        </p:nvSpPr>
        <p:spPr>
          <a:xfrm>
            <a:off x="853440" y="4084320"/>
            <a:ext cx="10119360" cy="2255520"/>
          </a:xfrm>
          <a:prstGeom prst="rect">
            <a:avLst/>
          </a:prstGeom>
          <a:noFill/>
          <a:ln/>
        </p:spPr>
        <p:txBody>
          <a:bodyPr wrap="square" lIns="0" tIns="0" rIns="0" bIns="0" rtlCol="0" anchor="t"/>
          <a:lstStyle/>
          <a:p>
            <a:pPr indent="0" marL="0">
              <a:spcAft>
                <a:spcPts val="600"/>
              </a:spcAft>
              <a:buNone/>
            </a:pPr>
            <a:r>
              <a:rPr lang="en-US" sz="1080" dirty="0">
                <a:solidFill>
                  <a:srgbClr val="0E1C42"/>
                </a:solidFill>
                <a:latin typeface="Calibri" pitchFamily="34" charset="0"/>
                <a:ea typeface="Calibri" pitchFamily="34" charset="-122"/>
                <a:cs typeface="Calibri" pitchFamily="34" charset="-120"/>
              </a:rPr>
              <a:t>The head curator just put a new card on your desk. The card asks: Would chocolate bars work as money? Use the curator's four-rule test on the item. For each rule, write yes or no and give one reason. Then write a short final panel (2–3 sentences) explaining your overall judgment.</a:t>
            </a:r>
            <a:endParaRPr lang="en-US" sz="1080" dirty="0"/>
          </a:p>
          <a:p>
            <a:pPr indent="0" marL="0">
              <a:spcAft>
                <a:spcPts val="400"/>
              </a:spcAft>
              <a:buNone/>
            </a:pPr>
            <a:r>
              <a:rPr lang="en-US" sz="1080" i="1" dirty="0">
                <a:solidFill>
                  <a:srgbClr val="0E1C42"/>
                </a:solidFill>
                <a:latin typeface="Calibri" pitchFamily="34" charset="0"/>
                <a:ea typeface="Calibri" pitchFamily="34" charset="-122"/>
                <a:cs typeface="Calibri" pitchFamily="34" charset="-120"/>
              </a:rPr>
              <a:t>The item to test: a standard chocolate bar (the kind you'd buy in a store).</a:t>
            </a:r>
            <a:endParaRPr lang="en-US" sz="1080" dirty="0"/>
          </a:p>
          <a:p>
            <a:pPr indent="0" marL="0">
              <a:spcAft>
                <a:spcPts val="400"/>
              </a:spcAft>
              <a:buNone/>
            </a:pPr>
            <a:r>
              <a:rPr lang="en-US" sz="1080" dirty="0">
                <a:solidFill>
                  <a:srgbClr val="0E1C42"/>
                </a:solidFill>
                <a:latin typeface="Calibri" pitchFamily="34" charset="0"/>
                <a:ea typeface="Calibri" pitchFamily="34" charset="-122"/>
                <a:cs typeface="Calibri" pitchFamily="34" charset="-120"/>
              </a:rPr>
              <a:t>Rule 1 — Would chocolate bars last?  |  Rule 2 — Would they be easy to carry?  |  Rule 3 — Would they be easy to count?  |  Rule 4 — Would they be trusted?</a:t>
            </a:r>
            <a:endParaRPr lang="en-US" sz="1080" dirty="0"/>
          </a:p>
          <a:p>
            <a:pPr indent="0" marL="0">
              <a:buNone/>
            </a:pPr>
            <a:r>
              <a:rPr lang="en-US" sz="1080" dirty="0">
                <a:solidFill>
                  <a:srgbClr val="0E1C42"/>
                </a:solidFill>
                <a:latin typeface="Calibri" pitchFamily="34" charset="0"/>
                <a:ea typeface="Calibri" pitchFamily="34" charset="-122"/>
                <a:cs typeface="Calibri" pitchFamily="34" charset="-120"/>
              </a:rPr>
              <a:t>Final panel — Would chocolate bars work as money? Why or why not? (2–3 sentences)</a:t>
            </a:r>
            <a:endParaRPr lang="en-US" sz="10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341376"/>
            <a:ext cx="10728960" cy="426720"/>
          </a:xfrm>
          <a:prstGeom prst="rect">
            <a:avLst/>
          </a:prstGeom>
          <a:noFill/>
          <a:ln/>
        </p:spPr>
        <p:txBody>
          <a:bodyPr wrap="square" lIns="0" tIns="0" rIns="0" bIns="0" rtlCol="0" anchor="ctr"/>
          <a:lstStyle/>
          <a:p>
            <a:pPr indent="0" marL="0">
              <a:buNone/>
            </a:pPr>
            <a:r>
              <a:rPr lang="en-US" sz="1200" b="1" spc="150" kern="0" dirty="0">
                <a:solidFill>
                  <a:srgbClr val="1A8A7D"/>
                </a:solidFill>
                <a:latin typeface="Calibri" pitchFamily="34" charset="0"/>
                <a:ea typeface="Calibri" pitchFamily="34" charset="-122"/>
                <a:cs typeface="Calibri" pitchFamily="34" charset="-120"/>
              </a:rPr>
              <a:t>CURATOR'S CHRONICLE</a:t>
            </a:r>
            <a:endParaRPr lang="en-US" sz="1200" dirty="0"/>
          </a:p>
        </p:txBody>
      </p:sp>
      <p:sp>
        <p:nvSpPr>
          <p:cNvPr id="3" name="Text 1"/>
          <p:cNvSpPr/>
          <p:nvPr/>
        </p:nvSpPr>
        <p:spPr>
          <a:xfrm>
            <a:off x="609600" y="792480"/>
            <a:ext cx="10728960" cy="7315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One Sentence to Capture Today</a:t>
            </a:r>
            <a:endParaRPr lang="en-US" sz="2200" dirty="0"/>
          </a:p>
        </p:txBody>
      </p:sp>
      <p:sp>
        <p:nvSpPr>
          <p:cNvPr id="4" name="Text 2"/>
          <p:cNvSpPr/>
          <p:nvPr/>
        </p:nvSpPr>
        <p:spPr>
          <a:xfrm>
            <a:off x="609600" y="1828800"/>
            <a:ext cx="10607040" cy="487680"/>
          </a:xfrm>
          <a:prstGeom prst="rect">
            <a:avLst/>
          </a:prstGeom>
          <a:noFill/>
          <a:ln/>
        </p:spPr>
        <p:txBody>
          <a:bodyPr wrap="square" lIns="0" tIns="0" rIns="0" bIns="0" rtlCol="0" anchor="ctr"/>
          <a:lstStyle/>
          <a:p>
            <a:pPr indent="0" marL="0">
              <a:buNone/>
            </a:pPr>
            <a:r>
              <a:rPr lang="en-US" sz="1300" dirty="0">
                <a:solidFill>
                  <a:srgbClr val="7A88A8"/>
                </a:solidFill>
                <a:latin typeface="Calibri" pitchFamily="34" charset="0"/>
                <a:ea typeface="Calibri" pitchFamily="34" charset="-122"/>
                <a:cs typeface="Calibri" pitchFamily="34" charset="-120"/>
              </a:rPr>
              <a:t>Finish this sentence in your own words:</a:t>
            </a:r>
            <a:endParaRPr lang="en-US" sz="1300" dirty="0"/>
          </a:p>
        </p:txBody>
      </p:sp>
      <p:sp>
        <p:nvSpPr>
          <p:cNvPr id="5" name="Shape 3"/>
          <p:cNvSpPr/>
          <p:nvPr/>
        </p:nvSpPr>
        <p:spPr>
          <a:xfrm>
            <a:off x="609600" y="2499360"/>
            <a:ext cx="10607040" cy="1828800"/>
          </a:xfrm>
          <a:prstGeom prst="roundRect">
            <a:avLst>
              <a:gd name="adj" fmla="val 8000"/>
            </a:avLst>
          </a:prstGeom>
          <a:solidFill>
            <a:srgbClr val="EAF8FD"/>
          </a:solidFill>
          <a:ln w="12700">
            <a:solidFill>
              <a:srgbClr val="55C8E8"/>
            </a:solidFill>
            <a:prstDash val="solid"/>
          </a:ln>
        </p:spPr>
      </p:sp>
      <p:sp>
        <p:nvSpPr>
          <p:cNvPr id="6" name="Text 4"/>
          <p:cNvSpPr/>
          <p:nvPr/>
        </p:nvSpPr>
        <p:spPr>
          <a:xfrm>
            <a:off x="853440" y="2926080"/>
            <a:ext cx="10119360" cy="1036320"/>
          </a:xfrm>
          <a:prstGeom prst="rect">
            <a:avLst/>
          </a:prstGeom>
          <a:noFill/>
          <a:ln/>
        </p:spPr>
        <p:txBody>
          <a:bodyPr wrap="square" lIns="0" tIns="0" rIns="0" bIns="0" rtlCol="0" anchor="ctr"/>
          <a:lstStyle/>
          <a:p>
            <a:pPr algn="ctr" indent="0" marL="0">
              <a:buNone/>
            </a:pPr>
            <a:r>
              <a:rPr lang="en-US" sz="1800" i="1" dirty="0">
                <a:solidFill>
                  <a:srgbClr val="0E1C42"/>
                </a:solidFill>
                <a:latin typeface="Cambria" pitchFamily="34" charset="0"/>
                <a:ea typeface="Cambria" pitchFamily="34" charset="-122"/>
                <a:cs typeface="Cambria" pitchFamily="34" charset="-120"/>
              </a:rPr>
              <a:t>In this exhibit, I learned that ______ because ______.</a:t>
            </a:r>
            <a:endParaRPr lang="en-US" sz="1800" dirty="0"/>
          </a:p>
        </p:txBody>
      </p:sp>
      <p:sp>
        <p:nvSpPr>
          <p:cNvPr id="7" name="Shape 5"/>
          <p:cNvSpPr/>
          <p:nvPr/>
        </p:nvSpPr>
        <p:spPr>
          <a:xfrm>
            <a:off x="609600" y="4693920"/>
            <a:ext cx="10607040" cy="1706880"/>
          </a:xfrm>
          <a:prstGeom prst="roundRect">
            <a:avLst>
              <a:gd name="adj" fmla="val 8571"/>
            </a:avLst>
          </a:prstGeom>
          <a:solidFill>
            <a:srgbClr val="FFF3DC"/>
          </a:solidFill>
          <a:ln w="19050">
            <a:solidFill>
              <a:srgbClr val="F5E6C8"/>
            </a:solidFill>
            <a:prstDash val="solid"/>
          </a:ln>
        </p:spPr>
      </p:sp>
      <p:sp>
        <p:nvSpPr>
          <p:cNvPr id="8" name="Text 6"/>
          <p:cNvSpPr/>
          <p:nvPr/>
        </p:nvSpPr>
        <p:spPr>
          <a:xfrm>
            <a:off x="792480" y="476707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792480" y="5035296"/>
            <a:ext cx="10241280" cy="12801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"In this exhibit, I learned that gold coins pass all four money rules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"In this exhibit, I learned that trust matters because..."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426720"/>
            <a:ext cx="10728960" cy="48768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CLOSING · WRAP-UP</a:t>
            </a:r>
            <a:endParaRPr lang="en-US" sz="1300" dirty="0"/>
          </a:p>
        </p:txBody>
      </p:sp>
      <p:sp>
        <p:nvSpPr>
          <p:cNvPr id="6" name="Text 3"/>
          <p:cNvSpPr/>
          <p:nvPr/>
        </p:nvSpPr>
        <p:spPr>
          <a:xfrm>
            <a:off x="731520" y="1097280"/>
            <a:ext cx="10485120" cy="97536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Great Work, Trade &amp; Choice Curator!</a:t>
            </a:r>
            <a:endParaRPr lang="en-US" sz="2800" dirty="0"/>
          </a:p>
        </p:txBody>
      </p:sp>
      <p:sp>
        <p:nvSpPr>
          <p:cNvPr id="7" name="Text 4"/>
          <p:cNvSpPr/>
          <p:nvPr/>
        </p:nvSpPr>
        <p:spPr>
          <a:xfrm>
            <a:off x="731520" y="2194560"/>
            <a:ext cx="10241280" cy="12192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You tested a real item against the four rules of good money and wrote a clear judgment panel for the museum case. You can now explain what makes money money.</a:t>
            </a:r>
            <a:endParaRPr lang="en-US" sz="1400" dirty="0"/>
          </a:p>
        </p:txBody>
      </p:sp>
      <p:sp>
        <p:nvSpPr>
          <p:cNvPr id="8" name="Shape 5"/>
          <p:cNvSpPr/>
          <p:nvPr/>
        </p:nvSpPr>
        <p:spPr>
          <a:xfrm>
            <a:off x="731520" y="3657600"/>
            <a:ext cx="10241280" cy="1950720"/>
          </a:xfrm>
          <a:prstGeom prst="roundRect">
            <a:avLst>
              <a:gd name="adj" fmla="val 7500"/>
            </a:avLst>
          </a:prstGeom>
          <a:solidFill>
            <a:srgbClr val="1A2D5A"/>
          </a:solidFill>
          <a:ln/>
        </p:spPr>
      </p:sp>
      <p:sp>
        <p:nvSpPr>
          <p:cNvPr id="9" name="Text 6"/>
          <p:cNvSpPr/>
          <p:nvPr/>
        </p:nvSpPr>
        <p:spPr>
          <a:xfrm>
            <a:off x="975360" y="3840480"/>
            <a:ext cx="9753600" cy="365760"/>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COMING UP NEXT</a:t>
            </a:r>
            <a:endParaRPr lang="en-US" sz="1100" dirty="0"/>
          </a:p>
        </p:txBody>
      </p:sp>
      <p:sp>
        <p:nvSpPr>
          <p:cNvPr id="10" name="Text 7"/>
          <p:cNvSpPr/>
          <p:nvPr/>
        </p:nvSpPr>
        <p:spPr>
          <a:xfrm>
            <a:off x="975360" y="4267200"/>
            <a:ext cx="9753600" cy="1219200"/>
          </a:xfrm>
          <a:prstGeom prst="rect">
            <a:avLst/>
          </a:prstGeom>
          <a:noFill/>
          <a:ln/>
        </p:spPr>
        <p:txBody>
          <a:bodyPr wrap="square" lIns="0" tIns="0" rIns="0" bIns="0" rtlCol="0" anchor="t"/>
          <a:lstStyle/>
          <a:p>
            <a:pPr indent="0" marL="0">
              <a:buNone/>
            </a:pPr>
            <a:r>
              <a:rPr lang="en-US" sz="1250" i="1" dirty="0">
                <a:solidFill>
                  <a:srgbClr val="FFFFFF"/>
                </a:solidFill>
                <a:latin typeface="Calibri" pitchFamily="34" charset="0"/>
                <a:ea typeface="Calibri" pitchFamily="34" charset="-122"/>
                <a:cs typeface="Calibri" pitchFamily="34" charset="-120"/>
              </a:rPr>
              <a:t>The money case just got bigger. The head curator added three new sections — Canada, Mexico, and the Caribbean — with a small stack of foreign coins and colorful bills in each. “Same rules, different countries,” he says. Tomorrow you'll figure out what's the same, and what's different, about the money our neighbors use.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2026-07-11T19:12:02Z</dcterms:created>
  <dcterms:modified xsi:type="dcterms:W3CDTF">2026-07-11T19:12:02Z</dcterms:modified>
</cp:coreProperties>
</file>