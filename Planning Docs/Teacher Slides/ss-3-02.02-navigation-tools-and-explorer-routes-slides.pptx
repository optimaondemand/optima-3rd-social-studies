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Dramatic view from bow of a historic sailing ship toward open horizon, golden ocean light. Suggest: Smithsonian Open Access (si.edu), Wikimedia Commons.
Welcome students back. 'Last time you figured out WHY people explored. Today: HOW did they actually do it?' Read the Curator's Question aloud. Tell them they'll study a real navigation tool — a mariner's astrolabe — and think like a Source Scholar. Mention courage. Under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retrieval from last lesson. Use chat frame first — activate prior knowledge before introducing today's content. If students mention gold or spices: connect — those riches required navigation across open ocean. HOW did they do that without GPS? That question bridges to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rush this slide. Give 10 seconds of silent observation — let students FEEL the problem before you introduce any tools. Use the chat frame. 'I'd look at the sun' is a great answer and connects directly to the astrolabe. Hold the tension. The problem must feel real before the solution will feel meaningful.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Close-up of a historical compass, brass or wood case, needle visible, degree markings. Source: Smithsonian Open Access, Metropolitan Museum, Wikimedia Commons.
DO NOT name this tool yet. Give 10 seconds of silent observation. Use chat frame. If a student says 'compass': good — but then ask HOW does it work? What is it actually measuring? The name matters less than the understanding of the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Dramatic lit photograph of a historical compass, brass case, needle pointing north, dark background. Source: Smithsonian Open Access, Wikimedia Commons public domain.
Deliver this as a REVEAL — slow and theatrical. 'The problem: which way is north? The compass answered that question forever.' Use the chat frame — at least 3 students must type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Close-up of a mariner's astrolabe, heavy brass, circular with degree markings and alidade. Source: Smithsonian Open Access (si.edu/openaccess), Metropolitan Museum (metmuseum.org), Wikimedia Commons. Save as: source-3-02-02-mariners-astrolabe.jpg
NO labels or definitions yet. Give 10 seconds of silent observation. The compass solved direction — but you also need to know WHERE you are (latitude). Use Socratic questions to help students realize the compass alone isn't enough. Build anticipation.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Dramatic lit photo of a mariner's astrolabe, dark background, brass glinting in light. Source: Smithsonian Open Access, Wikimedia Commons.
Deliver with drama: 'They pointed this at the STARS — on a ship that was rolling in waves — and used the angle to figure out exactly how far north or south they were.' Read the Opti fact aloud. Ask: why would this require both skill AND courage? (Bridge to the virtue spotlight coming later.)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 (LEFT): Ca. 1400 world map — Ptolemaic, Fra Mauro, or similar; missing Americas, incomplete Africa. Source: Wikimedia Commons (public domain).
IMAGE TO INSERT (RIGHT): Ca. 1600 world map — showing Americas, more complete coastlines. Source: Wikimedia Commons, David Rumsey Map Collection (davidrumsey.com).
Let students compare before you explain anything. Give 30 seconds. The AHA moment: maps improved because explorers came back and told mapmakers what they found. Each voyage = new data. Ask: what would have to happen between these two maps for the second one to be possible?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Dramatic historic world map from 1500s, shown on dark background with gold route lines. Source: David Rumsey Map Collection (davidrumsey.com), Wikimedia Commons.
Key insight: maps are a RECORD of collective human knowledge. Every explorer who returned made the next expedition safer. Ask: what does this say about the importance of sharing what you learn? That's cumulative progress across generations.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'Cover your screen for 20 seconds. Then tell me: name all three tools and what problem each one solved.' Use the chat frame after. This is formative — if students struggle here, slow down before moving to the source study. The goal is fluency with the three tools before they examine the astrolabe artifact up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Mariner's astrolabe photograph. Source: Smithsonian Open Access (si.edu/openaccess), Metropolitan Museum of Art (metmuseum.org/collection), Wikimedia Commons (commons.wikimedia.org). Save as source-3-02-02-mariners-astrolabe.jpg.
Walk through the Artifact Table together. For 'I Notice First' — call on 2-3 students. For 'I Wonder' — have everyone type in chat. This scaffolds the three Source Study questions on the next slide. Don't rush; 2 minutes here makes the evidence response stronger.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1-2 minutes to write responses in their Curator's Notebook. Share out for each question. For Q3, push deeper: 'Why does this matter MORE than just helping them navigate?' You want students connecting it to the cost of failure — getting lost, running out of food, never returning home. That's the bridge to courage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philosophical point: the technology changed, but the human need is the same. Students often say something profound here if given space. Use the Socratic questions to deepen the conversation. Then bridge back: 'Without those early tools — messy, heavy, imprecise — we wouldn't have had the knowledge to build GPS satellites.' Progress is cumulative.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Navigator or sailor looking at stars or toward a dark horizon, atmospheric historic illustration or painting style. Suggest: Wikimedia Commons public domain maritime art.
Ask students to connect courage to the specific tools they just studied. Key question: 'If the astrolabe reading was slightly wrong on a weeks-long voyage, what could happen?' The uncertainty of imperfect tools is what made exploration courageous. Save a minute for the chat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think-aloud on the slide slowly, with pauses. Point to each part: 'Did you hear where I CHOSE? WHERE I EXPLAINED? WHERE I FOUND EVIDENCE?' The Socratic questions help students ANALYZE the model before they try it. Don't skip the deconstruction — that's where skill transfer happens. Ask: 'What would make this answer even stronger?'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 with the class. Step 1: students say aloud what the question is asking. Step 2: find the exact sentence from the lesson. Step 3: let two students give a version, then combine. Show the Step 3 sample AFTER students try, not before. This builds the sentence-level writing skill they need for the full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slide for deep understanding. The student answer is vague and generic; the lesson gives a SPECIFIC mechanism: explorers returned with data. Celebrate students who catch the distinction. Read the revised answer in the green box together. Ask: 'What is the ONE word or phrase that makes the stronger answer better?' Answer: 'returned with new information about coastlines and routes.'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2 minutes to write independently in their Curator's Notebook. The checklist is visible so they can self-monitor. After writing, share out — ask 2-3 students to read their answer. Use the Socratic questions to deepen or push reasoning. Key insight: it took courage to trust imperfect tools on a one-way trip across unknown ocean with no way to call for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Curator Task aloud. Model one opening sentence: 'A mariner's astrolabe is a heavy circular brass instrument...' Give students 3 minutes to write. The Curator's Chronicle is the one-sentence summary — keep it open-ended. Students who finish early can polish their label. Walk through the Turn-In Checklist before releasing students. Remind them: copy or download on the lesson page for Canvas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Celebratory museum scene — Exploration Wing with display cases illuminated, warm dramatic light. Or: a historic map wall with route lines marked in gold.
Celebrate: 'You studied a mariner's astrolabe, traced how three navigation tools worked, and wrote a display label for the Exploration Wing. You are building this exhibit one piece at a time.'
Teaser: 'Next time we will meet some of the famous explorers themselves — and match their portraits with the routes they actually sailed. Can you guess which explorer went the furthest?' End class on that open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554480"/>
            <a:ext cx="164592" cy="164592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92608"/>
            <a:ext cx="2286000" cy="347472"/>
          </a:xfrm>
          <a:prstGeom prst="roundRect">
            <a:avLst>
              <a:gd name="adj" fmla="val 47368"/>
            </a:avLst>
          </a:prstGeom>
          <a:solidFill>
            <a:srgbClr val="1A8A7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2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Wing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Tools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Explorer Routes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3.02.02  •  Age of Exploration  •  Grade 3 Museum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7955280" cy="658368"/>
          </a:xfrm>
          <a:prstGeom prst="roundRect">
            <a:avLst>
              <a:gd name="adj" fmla="val 13889"/>
            </a:avLst>
          </a:prstGeom>
          <a:solidFill>
            <a:srgbClr val="1122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13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Curator's Question: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navigation tools help explorers travel, and how do maps record those routes?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  •  EXPLORATION WING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Time vs. Today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931920" cy="2606040"/>
          </a:xfrm>
          <a:prstGeom prst="roundRect">
            <a:avLst>
              <a:gd name="adj" fmla="val 4211"/>
            </a:avLst>
          </a:prstGeom>
          <a:solidFill>
            <a:srgbClr val="E8ECF5"/>
          </a:solidFill>
          <a:ln w="12700">
            <a:solidFill>
              <a:srgbClr val="C0C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figured out why people explored: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Curiosity — discovery for its own sake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Riches — gold, spices, trade routes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Faith — spreading religion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 — claiming territory for kingdoms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188720"/>
            <a:ext cx="3931920" cy="2606040"/>
          </a:xfrm>
          <a:prstGeom prst="roundRect">
            <a:avLst>
              <a:gd name="adj" fmla="val 4211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261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572768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 Route Curator.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tools that made exploration possible, and explain them to museum visitors.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926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One navigation instrument that changed everything.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8412480" cy="822960"/>
          </a:xfrm>
          <a:prstGeom prst="roundRect">
            <a:avLst>
              <a:gd name="adj" fmla="val 13333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41064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1422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remember...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"Today I think we will learn about..."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 you're on a ship in the middle of the ocean.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572000" cy="3108960"/>
          </a:xfrm>
          <a:prstGeom prst="roundRect">
            <a:avLst>
              <a:gd name="adj" fmla="val 3529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from the deck of a historic sailing ship: open ocean in every direction, no land visible, dramatic sky and light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20640" y="804672"/>
            <a:ext cx="3474720" cy="1508760"/>
          </a:xfrm>
          <a:prstGeom prst="roundRect">
            <a:avLst>
              <a:gd name="adj" fmla="val 6061"/>
            </a:avLst>
          </a:prstGeom>
          <a:solidFill>
            <a:srgbClr val="E8ECF5"/>
          </a:solidFill>
          <a:ln w="12700">
            <a:solidFill>
              <a:srgbClr val="C0C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896112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landmarks.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roads.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signs.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water in every direction.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20640" y="2423160"/>
            <a:ext cx="3474720" cy="1481328"/>
          </a:xfrm>
          <a:prstGeom prst="roundRect">
            <a:avLst>
              <a:gd name="adj" fmla="val 7407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24780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57800" y="2679192"/>
            <a:ext cx="3200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"Without a landmark, I would try to..."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biggest problem would be..."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005072"/>
            <a:ext cx="8412480" cy="932688"/>
          </a:xfrm>
          <a:prstGeom prst="roundRect">
            <a:avLst>
              <a:gd name="adj" fmla="val 14706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0965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4352544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use to figure out which direction to sail?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go the wrong direction for weeks?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HAD to be solved before exploration could succeed?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BOX  •  NAVIGATION TOOL #1  •  NO LABELS YET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object? What do you notice?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206240" cy="2651760"/>
          </a:xfrm>
          <a:prstGeom prst="roundRect">
            <a:avLst>
              <a:gd name="adj" fmla="val 4138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Close-up photo of a compass: circular instrument with magnetized needle, degree markings around the rim, brass case. No caption or label.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15568"/>
            <a:ext cx="3840480" cy="1389888"/>
          </a:xfrm>
          <a:prstGeom prst="roundRect">
            <a:avLst>
              <a:gd name="adj" fmla="val 6579"/>
            </a:avLst>
          </a:prstGeom>
          <a:solidFill>
            <a:srgbClr val="E8ECF5"/>
          </a:solidFill>
          <a:ln w="12700">
            <a:solidFill>
              <a:srgbClr val="C0C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07008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carefully: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shape is it?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parts do you notice?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could the numbers mean?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problem could it solve?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596896"/>
            <a:ext cx="3840480" cy="1170432"/>
          </a:xfrm>
          <a:prstGeom prst="roundRect">
            <a:avLst>
              <a:gd name="adj" fmla="val 9375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651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2852928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notice..."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this might be used to..."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913632"/>
            <a:ext cx="8412480" cy="914400"/>
          </a:xfrm>
          <a:prstGeom prst="roundRect">
            <a:avLst>
              <a:gd name="adj" fmla="val 150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40050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26110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clue hints at this object's purpose?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 numbers around the edge tell us?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could THIS solve for a sailor in open ocean?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2926080" cy="411480"/>
          </a:xfrm>
          <a:prstGeom prst="roundRect">
            <a:avLst>
              <a:gd name="adj" fmla="val 44444"/>
            </a:avLst>
          </a:prstGeom>
          <a:solidFill>
            <a:srgbClr val="1A8A7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#1 UNLOCKED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Compass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5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Solved.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029200" cy="2267712"/>
          </a:xfrm>
          <a:prstGeom prst="roundRect">
            <a:avLst>
              <a:gd name="adj" fmla="val 6048"/>
            </a:avLst>
          </a:prstGeom>
          <a:solidFill>
            <a:srgbClr val="11225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4231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worked: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4663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magnetized needle inside the compass ALWAYS points north — no matter which way the ship is turned. Once you know north, you can keep your direction even with no landmarks in sight.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2331720"/>
            <a:ext cx="2926080" cy="1078992"/>
          </a:xfrm>
          <a:prstGeom prst="roundRect">
            <a:avLst>
              <a:gd name="adj" fmla="val 12712"/>
            </a:avLst>
          </a:prstGeom>
          <a:solidFill>
            <a:srgbClr val="1A8A7D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395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0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It Solved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26517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direction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 I heading?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0" y="3493008"/>
            <a:ext cx="2926080" cy="1115568"/>
          </a:xfrm>
          <a:prstGeom prst="roundRect">
            <a:avLst>
              <a:gd name="adj" fmla="val 9836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35478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06440" y="3749040"/>
            <a:ext cx="2651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compass solved...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"Without a compass, explorers would have..."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BOX  •  NAVIGATION TOOL #2  •  MYSTERY OBJECT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compass told you direction. But there's another problem...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206240" cy="2651760"/>
          </a:xfrm>
          <a:prstGeom prst="roundRect">
            <a:avLst>
              <a:gd name="adj" fmla="val 4138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Close-up photograph of a mariner's astrolabe: heavy circular brass instrument, degree markings around the rim, rotating pointer (alidade) in the center. Aged metal. No caption.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15568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E8ECF5"/>
          </a:solidFill>
          <a:ln w="12700">
            <a:solidFill>
              <a:srgbClr val="C0C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07008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carefully: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shape is this?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do the numbers on the rim measure?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the pointer in the center for?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is this DIFFERENT from the compass?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715768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7706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2971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is different from the compass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wonder if this measures..."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913632"/>
            <a:ext cx="8412480" cy="914400"/>
          </a:xfrm>
          <a:prstGeom prst="roundRect">
            <a:avLst>
              <a:gd name="adj" fmla="val 150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40050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26110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compass told direction. What else would a sailor need to know?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 needed to know how far north or south you are?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sky could a sailor look to find their position?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3108960" cy="411480"/>
          </a:xfrm>
          <a:prstGeom prst="roundRect">
            <a:avLst>
              <a:gd name="adj" fmla="val 44444"/>
            </a:avLst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#2 UNLOCKED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Astrolabe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5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Solved.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029200" cy="2267712"/>
          </a:xfrm>
          <a:prstGeom prst="roundRect">
            <a:avLst>
              <a:gd name="adj" fmla="val 6048"/>
            </a:avLst>
          </a:prstGeom>
          <a:solidFill>
            <a:srgbClr val="11225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4231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worked: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4663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sailor held the astrolabe by a ring at the top and aimed the rotating pointer (alidade) at the sun or stars. The angle shown on the rim revealed their latitude — how far north or south they were on the globe.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2331720"/>
            <a:ext cx="2926080" cy="2267712"/>
          </a:xfrm>
          <a:prstGeom prst="roundRect">
            <a:avLst>
              <a:gd name="adj" fmla="val 6048"/>
            </a:avLst>
          </a:prstGeom>
          <a:solidFill>
            <a:srgbClr val="1A8A7D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395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0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 Says...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2670048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astrolabes were so HEAVY they had to be held by a ring at the top while the ship rocked beneath you. Imagine measuring a star's angle on a rolling deck at night. That's skill AND courage.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BOX  •  NAVIGATION TOOL #3  •  MAPS OVER 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these two maps. What changed — and why?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3931920" cy="2606040"/>
          </a:xfrm>
          <a:prstGeom prst="roundRect">
            <a:avLst>
              <a:gd name="adj" fmla="val 4211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36576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~1400s world map: Europe and Asia visible, Africa cuts off abruptly, Americas completely missing. Caption: 'Around 1400'.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115568"/>
            <a:ext cx="3931920" cy="2606040"/>
          </a:xfrm>
          <a:prstGeom prst="roundRect">
            <a:avLst>
              <a:gd name="adj" fmla="val 4211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9160" y="1389888"/>
            <a:ext cx="36576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~1600s world map: both Americas shown, Africa fully outlined, far more coastline detail throughout. Caption: 'Around 1600'.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404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40416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later map shows more because..."   "Maps changed when explorers..."   "Each voyage must have added..."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3291840" cy="411480"/>
          </a:xfrm>
          <a:prstGeom prst="roundRect">
            <a:avLst>
              <a:gd name="adj" fmla="val 44444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#3 UNLOCKED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 and Sea Charts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5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Recorded. Routes Preserved.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112255"/>
          </a:solidFill>
          <a:ln/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Maps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633472"/>
            <a:ext cx="24231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— showed imaginary lands, missing coastlines, and ended where knowledge ran out.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82112" y="2212848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112255"/>
          </a:solidFill>
          <a:ln/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Voyage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633472"/>
            <a:ext cx="24231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explorers brought new information: coastlines, depths, islands, and routes. Mapmakers added it all.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98464" y="2212848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112255"/>
          </a:solidFill>
          <a:ln/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08192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08192" y="2633472"/>
            <a:ext cx="24231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became more and more accurate. The world grew clearer with every expedition.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CHALLENGE  •  COVER YOUR SCREEN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tools. Three problems. Match them from memory.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651760" cy="2606040"/>
          </a:xfrm>
          <a:prstGeom prst="roundRect">
            <a:avLst>
              <a:gd name="adj" fmla="val 5263"/>
            </a:avLst>
          </a:prstGeom>
          <a:solidFill>
            <a:srgbClr val="1A8A7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984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Compass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" y="1828800"/>
            <a:ext cx="2432304" cy="777240"/>
          </a:xfrm>
          <a:prstGeom prst="roundRect">
            <a:avLst>
              <a:gd name="adj" fmla="val 11765"/>
            </a:avLst>
          </a:prstGeom>
          <a:solidFill>
            <a:srgbClr val="112255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82880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direction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heading?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210312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Solved: Direction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70432"/>
            <a:ext cx="2651760" cy="2606040"/>
          </a:xfrm>
          <a:prstGeom prst="roundRect">
            <a:avLst>
              <a:gd name="adj" fmla="val 5263"/>
            </a:avLst>
          </a:prstGeom>
          <a:solidFill>
            <a:srgbClr val="D494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2984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Astrolabe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10128" y="1828800"/>
            <a:ext cx="2432304" cy="777240"/>
          </a:xfrm>
          <a:prstGeom prst="roundRect">
            <a:avLst>
              <a:gd name="adj" fmla="val 11765"/>
            </a:avLst>
          </a:prstGeom>
          <a:solidFill>
            <a:srgbClr val="112255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82880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north 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am I?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2697480"/>
            <a:ext cx="210312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6974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Solved: Latitude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170432"/>
            <a:ext cx="2651760" cy="2606040"/>
          </a:xfrm>
          <a:prstGeom prst="roundRect">
            <a:avLst>
              <a:gd name="adj" fmla="val 5263"/>
            </a:avLst>
          </a:prstGeom>
          <a:solidFill>
            <a:srgbClr val="8B6FC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12984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 &amp; Charts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44768" y="1828800"/>
            <a:ext cx="2432304" cy="777240"/>
          </a:xfrm>
          <a:prstGeom prst="roundRect">
            <a:avLst>
              <a:gd name="adj" fmla="val 11765"/>
            </a:avLst>
          </a:prstGeom>
          <a:solidFill>
            <a:srgbClr val="112255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144768" y="182880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coastlines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ahead?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697480"/>
            <a:ext cx="210312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6974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Solved: Knowledge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58768"/>
            <a:ext cx="8412480" cy="914400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1363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41148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tool I'd most want on a ship is...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"All three tools work together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STUDY  •  EXPLORATION WING  •  ARTIFACT TABLE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this object as if it is right in front of you.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3840480" cy="3547872"/>
          </a:xfrm>
          <a:prstGeom prst="roundRect">
            <a:avLst>
              <a:gd name="adj" fmla="val 3093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3566160" cy="318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of a mariner's astrolabe: heavy circular brass instrument, degree markings around the rim, rotating pointer (alidade). Age-worn metal, museum lighting. Save as: source-3-02-02-mariners-astrolabe.jpg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078992"/>
            <a:ext cx="1463040" cy="667512"/>
          </a:xfrm>
          <a:prstGeom prst="rect">
            <a:avLst/>
          </a:prstGeom>
          <a:solidFill>
            <a:srgbClr val="1A2D5A"/>
          </a:solidFill>
          <a:ln w="6350">
            <a:solidFill>
              <a:srgbClr val="233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078992"/>
            <a:ext cx="1463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/ Source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52160" y="1078992"/>
            <a:ext cx="2926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0C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078992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mariner's astrolabe — circular brass navigation tool, Age of Exploration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783080"/>
            <a:ext cx="1463040" cy="667512"/>
          </a:xfrm>
          <a:prstGeom prst="rect">
            <a:avLst/>
          </a:prstGeom>
          <a:solidFill>
            <a:srgbClr val="1A2D5A"/>
          </a:solidFill>
          <a:ln w="6350">
            <a:solidFill>
              <a:srgbClr val="233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783080"/>
            <a:ext cx="1463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52160" y="1783080"/>
            <a:ext cx="2926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0C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783080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~1400s–1600s (Age of Exploration)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2487168"/>
            <a:ext cx="1463040" cy="667512"/>
          </a:xfrm>
          <a:prstGeom prst="rect">
            <a:avLst/>
          </a:prstGeom>
          <a:solidFill>
            <a:srgbClr val="1A2D5A"/>
          </a:solidFill>
          <a:ln w="6350">
            <a:solidFill>
              <a:srgbClr val="233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487168"/>
            <a:ext cx="1463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2487168"/>
            <a:ext cx="2926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0C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487168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European sailors on ocean voyages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3191256"/>
            <a:ext cx="1463040" cy="667512"/>
          </a:xfrm>
          <a:prstGeom prst="rect">
            <a:avLst/>
          </a:prstGeom>
          <a:solidFill>
            <a:srgbClr val="1A2D5A"/>
          </a:solidFill>
          <a:ln w="6350">
            <a:solidFill>
              <a:srgbClr val="233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3191256"/>
            <a:ext cx="1463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Notice First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3191256"/>
            <a:ext cx="2926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0C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3191256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[students observe and share in chat]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895344"/>
            <a:ext cx="1463040" cy="667512"/>
          </a:xfrm>
          <a:prstGeom prst="rect">
            <a:avLst/>
          </a:prstGeom>
          <a:solidFill>
            <a:srgbClr val="1A2D5A"/>
          </a:solidFill>
          <a:ln w="6350">
            <a:solidFill>
              <a:srgbClr val="233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3895344"/>
            <a:ext cx="1463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Wonder...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52160" y="3895344"/>
            <a:ext cx="2926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0C8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895344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question you have about this tool]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STUDY  •  THREE QUESTIONS  •  MARINER'S ASTROLABE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these three lenses to examine the astrolabe.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0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A8A7D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05156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What do I see?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4688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carefully. What shape? What markings or parts? What material does it appear to be made from?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82112" y="105156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0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105156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05156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What does it mean?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73552" y="1572768"/>
            <a:ext cx="24688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a sailor use this tool at sea? What specific problem did it solve?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98464" y="105156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0C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98464" y="105156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8B6FC0"/>
          </a:solidFill>
          <a:ln/>
        </p:spPr>
      </p:sp>
      <p:sp>
        <p:nvSpPr>
          <p:cNvPr id="16" name="Text 14"/>
          <p:cNvSpPr/>
          <p:nvPr/>
        </p:nvSpPr>
        <p:spPr>
          <a:xfrm>
            <a:off x="6108192" y="105156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Why does it matter?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9904" y="1572768"/>
            <a:ext cx="24688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tool important for understanding how exploration worked? What would have happened without it?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50208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050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206240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 see: I notice..."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it means: Sailors used it to..."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"Why it matters: Without it..."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&amp; Now: Navigation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77640" cy="2926080"/>
          </a:xfrm>
          <a:prstGeom prst="roundRect">
            <a:avLst>
              <a:gd name="adj" fmla="val 375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850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of Exploration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44752"/>
            <a:ext cx="3611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Compass, astrolabe, sea charts.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Sailors pointed at the sun or stars and did the math in their heads on a rolling ship.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tools failed — ships were lost at sea.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777240"/>
            <a:ext cx="3977640" cy="2926080"/>
          </a:xfrm>
          <a:prstGeom prst="roundRect">
            <a:avLst>
              <a:gd name="adj" fmla="val 3750"/>
            </a:avLst>
          </a:prstGeom>
          <a:solidFill>
            <a:srgbClr val="1A8A7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36592" y="850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0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36592" y="1115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36592" y="1444752"/>
            <a:ext cx="3611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satellites, digital maps, real-time tracking.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show your exact location in seconds.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an ocean takes minutes of setup from any device.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767328"/>
            <a:ext cx="8138160" cy="530352"/>
          </a:xfrm>
          <a:prstGeom prst="roundRect">
            <a:avLst>
              <a:gd name="adj" fmla="val 17241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947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stayed the same: The human need to know WHERE we are and WHERE we are going.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370832"/>
            <a:ext cx="8412480" cy="475488"/>
          </a:xfrm>
          <a:prstGeom prst="roundRect">
            <a:avLst>
              <a:gd name="adj" fmla="val 28846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44622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718304"/>
            <a:ext cx="804672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— the tools or the need?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humans always need to know their location?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might be our era's version of the astrolabe in 500 years?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2560320" cy="402336"/>
          </a:xfrm>
          <a:prstGeom prst="roundRect">
            <a:avLst>
              <a:gd name="adj" fmla="val 45455"/>
            </a:avLst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SPOTLIGHT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Courage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2286000"/>
          </a:xfrm>
          <a:prstGeom prst="roundRect">
            <a:avLst>
              <a:gd name="adj" fmla="val 6000"/>
            </a:avLst>
          </a:prstGeom>
          <a:solidFill>
            <a:srgbClr val="11225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938528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Explorers sailed into open ocean with simple tools and hand-drawn maps.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could not call for help or check their phones for directions.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those tools well took skill — and trusting them took courage.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 is not the absence of fear. It is doing the hard thing even when you cannot be certain of the outcome.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041648"/>
            <a:ext cx="8229600" cy="804672"/>
          </a:xfrm>
          <a:prstGeom prst="roundRect">
            <a:avLst>
              <a:gd name="adj" fmla="val 13636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09651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4297680"/>
            <a:ext cx="7955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tools connect to courage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connects to my own life when..."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 •  EVIDENCE Q1  •  TEACHER MODELS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how I think through this question.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AF8FD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Q1: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navigation tool (compass, astrolabe, or maps). Explain what problem it solved for explorers. Use at least one detail from the lesson to support your answer.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5120640" cy="2578608"/>
          </a:xfrm>
          <a:prstGeom prst="roundRect">
            <a:avLst>
              <a:gd name="adj" fmla="val 425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9019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Think-Aloud: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76272"/>
            <a:ext cx="4754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"First, I CHOOSE a tool. I'll pick the compass.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 EXPLAIN what problem it solved. The problem was: how do you know which direction you're heading on open ocean with no landmarks?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 need EVIDENCE from the lesson. The lesson said: a compass uses a magnetized needle that always points north.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my answer: The compass solved the problem of direction for explorers. It used a magnetized needle that always pointed north, so sailors could stay on course even with no landmarks in sight."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1828800"/>
            <a:ext cx="3108960" cy="2578608"/>
          </a:xfrm>
          <a:prstGeom prst="roundRect">
            <a:avLst>
              <a:gd name="adj" fmla="val 5319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0" y="2176272"/>
            <a:ext cx="274320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THREE things did I just do in that answer?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more than just 'the compass is good for direction'?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evidence? Where is the explanation?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480560"/>
            <a:ext cx="8412480" cy="475488"/>
          </a:xfrm>
          <a:prstGeom prst="roundRect">
            <a:avLst>
              <a:gd name="adj" fmla="val 23077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535424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736592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noticed the model answer had... and... and..."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TRY TOGETHER  •  EVIDENCE Q2  •  GUIDED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this answer together, step by step.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Q2: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maps improve over time during the Age of Exploration? Use evidence from the lesson.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0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28800"/>
            <a:ext cx="2651760" cy="384048"/>
          </a:xfrm>
          <a:prstGeom prst="roundRect">
            <a:avLst>
              <a:gd name="adj" fmla="val 28571"/>
            </a:avLst>
          </a:prstGeom>
          <a:solidFill>
            <a:srgbClr val="1A8A7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28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2677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question asking?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EAF8FD"/>
          </a:solidFill>
          <a:ln w="12700">
            <a:solidFill>
              <a:srgbClr val="D6F2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017520"/>
            <a:ext cx="2331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asking for a REASON. Why did maps improve? Look for a because.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82112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0C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2112" y="1828800"/>
            <a:ext cx="2651760" cy="384048"/>
          </a:xfrm>
          <a:prstGeom prst="roundRect">
            <a:avLst>
              <a:gd name="adj" fmla="val 28571"/>
            </a:avLst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3182112" y="1828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73552" y="22677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lesson say?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73552" y="2962656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EAF8FD"/>
          </a:solidFill>
          <a:ln w="12700">
            <a:solidFill>
              <a:srgbClr val="D6F2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6704" y="3017520"/>
            <a:ext cx="2331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explorer returned with new information about coastlines and routes. Mapmakers added it to future maps.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98464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0C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98464" y="1828800"/>
            <a:ext cx="2651760" cy="384048"/>
          </a:xfrm>
          <a:prstGeom prst="roundRect">
            <a:avLst>
              <a:gd name="adj" fmla="val 28571"/>
            </a:avLst>
          </a:prstGeom>
          <a:solidFill>
            <a:srgbClr val="8B6FC0"/>
          </a:solidFill>
          <a:ln/>
        </p:spPr>
      </p:sp>
      <p:sp>
        <p:nvSpPr>
          <p:cNvPr id="23" name="Text 21"/>
          <p:cNvSpPr/>
          <p:nvPr/>
        </p:nvSpPr>
        <p:spPr>
          <a:xfrm>
            <a:off x="5998464" y="1828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89904" y="22677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 your own words: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9904" y="2962656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EAF8FD"/>
          </a:solidFill>
          <a:ln w="12700">
            <a:solidFill>
              <a:srgbClr val="D6F2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3017520"/>
            <a:ext cx="2331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improved because each returning explorer brought new information about coastlines and routes, which mapmakers added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 •  SPOT THE PROBLEM  •  WHAT DID THIS STUDENT MISS?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student wrote this answer. What's the problem?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FF0F0"/>
          </a:solidFill>
          <a:ln w="19050">
            <a:solidFill>
              <a:srgbClr val="F5C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ANSWER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"Maps got better over time because mapmakers got smarter and more people helped draw them."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754880" cy="2240280"/>
          </a:xfrm>
          <a:prstGeom prst="roundRect">
            <a:avLst>
              <a:gd name="adj" fmla="val 6122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317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587752"/>
            <a:ext cx="438912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completely wrong, or is it partly right?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student missing that the lesson tells us specifically?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'mapmakers got smarter' and 'explorers brought back new data'?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revise this to make it stronger?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224028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FFF0F0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23042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missed: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40680" y="25328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improved because EACH RETURNING EXPLORER brought new information about coastlines and routes. It was exploration that drove the improvement, not mapmaker skill.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333756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E3F8ED"/>
          </a:solidFill>
          <a:ln w="12700">
            <a:solidFill>
              <a:srgbClr val="B8E8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3401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answer: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40680" y="36301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improved because every time an explorer returned, they brought new information about coastlines and routes, which mapmakers added to make future maps more complete.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553712"/>
            <a:ext cx="8412480" cy="438912"/>
          </a:xfrm>
          <a:prstGeom prst="roundRect">
            <a:avLst>
              <a:gd name="adj" fmla="val 25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0857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809744"/>
            <a:ext cx="8138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student was partly right because... but they missed..."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 •  EVIDENCE Q3  •  WITH SUPPORT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turn. Use the checklist to build your answer.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0E8FF"/>
          </a:solidFill>
          <a:ln w="19050">
            <a:solidFill>
              <a:srgbClr val="D8C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Q3: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studying navigation tools help us understand why exploration took courage? Connect the tools to the risks explorers faced.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160520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0C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49424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2E8F4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2494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tool(s) you are discussing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974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2E8F4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6974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the tool did (what problem it solved)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145536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2E8F4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1455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could go WRONG if the tool was imprecise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593592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2E8F4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5935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'courage' and explain WHY it was needed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041648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2E8F4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40416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 least one detail from the lesson as evidence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828800"/>
            <a:ext cx="3886200" cy="1828800"/>
          </a:xfrm>
          <a:prstGeom prst="roundRect">
            <a:avLst>
              <a:gd name="adj" fmla="val 75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1920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176272"/>
            <a:ext cx="35204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specific RISK are you trying to explain?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couldn't someone without courage use these tools?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skill and courage here?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730752"/>
            <a:ext cx="3886200" cy="950976"/>
          </a:xfrm>
          <a:prstGeom prst="roundRect">
            <a:avLst>
              <a:gd name="adj" fmla="val 11538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7856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986784"/>
            <a:ext cx="3611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"Using the astrolabe took courage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the tools failed, explorers risked..."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TASK  •  NAVIGATION TOOLS DISPLAY  •  WRITE THE LABEL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explanation label for the Exploration Wing display.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846320" cy="1417320"/>
          </a:xfrm>
          <a:prstGeom prst="roundRect">
            <a:avLst>
              <a:gd name="adj" fmla="val 6452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Label Must Answer: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tool? (name and describe it)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it used by sailors on a voyage?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it important for navigation?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Length: 3 to 4 sentences. Use details from today's lesson.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105156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1A2D5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32120" y="1115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Exhibit Label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32120" y="138988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"Explorers used navigation tools — compasses, astrolabes, and maps — to find their way across oceans. Each voyage added new knowledge to the maps that came after."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0E1C4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33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CURATOR'S CHRONICLE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862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exhibit, I learned that ______________________ because ______________________ 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493008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0C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661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Turn-In Checklist: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2E8F4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38587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answered all three evidence questions.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4281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2E8F4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2428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completed the Curator Task (3 to 4 sentences about the astrolabe).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85876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2E8F4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9784" y="38587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wrote my Curator's Chronicle sentence.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424281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2E8F4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9784" y="42428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copied or downloaded my work and submitted to Canvas.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3200400" cy="402336"/>
          </a:xfrm>
          <a:prstGeom prst="roundRect">
            <a:avLst>
              <a:gd name="adj" fmla="val 45455"/>
            </a:avLst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CURATOR  •  CERTIFIED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Work,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Curator!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4846320" cy="2240280"/>
          </a:xfrm>
          <a:prstGeom prst="roundRect">
            <a:avLst>
              <a:gd name="adj" fmla="val 6122"/>
            </a:avLst>
          </a:prstGeom>
          <a:solidFill>
            <a:srgbClr val="11225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4048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you...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44805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three navigation tools: compass, astrolabe, and maps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a mariner's astrolabe as a museum artifact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those tools to the courage exploration required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a display label for the Exploration Wing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0" y="2331720"/>
            <a:ext cx="3291840" cy="2240280"/>
          </a:xfrm>
          <a:prstGeom prst="roundRect">
            <a:avLst>
              <a:gd name="adj" fmla="val 6122"/>
            </a:avLst>
          </a:prstGeom>
          <a:solidFill>
            <a:srgbClr val="1A8A7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23560" y="2404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A0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Famous Explorers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23560" y="321868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 you will meet the explorers themselves and match their portraits to the routes they actually sailed.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2026-07-10T22:13:22Z</dcterms:created>
  <dcterms:modified xsi:type="dcterms:W3CDTF">2026-07-10T22:13:22Z</dcterms:modified>
</cp:coreProperties>
</file>