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Four polished bronze plaques leaning on a long velvet cloth against the back wall of Citizenship Hall, each with a single raised word: Civility, Cooperation, Volunteerism, Responsibility -- a small brass marker above reads The Heart of the Hall, warm gallery light.Title slide. Welcome students back to Citizenship Hall. Read the Big Question aloud. Preview the path: the root volunt-, four plaques, then a notebook entry on the virtue their community needs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students at the back wall. Move your hand from plaque to plaque as you read each word -- Civility, Cooperation, Volunteerism, Responsibility. Slow down. Tell students this is the heart of the hall -- the part of citizenship that isn't about laws or buildings but about how citizens choose to act. Today's virtue is service, but every plaque is a different shade of service. Keep under 2 minutes, warm and a little reverent.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without definitions. Give 5 seconds of silent looking. Ask what repeats (v-o-l-u-n-t) and what in- seems to flip. Do not name the meaning yet -- let students guess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that volunt- means 'willing, of one's own choice.' Read the ancient Greek/Roman evidence aloud as a piece of historical proof, then connect to the Virtue Spotlight: service is the thread running through every plaque on the wall. Mention benevolent (bene + volent = willing the good) as a bonus discovery fact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silent looking before discussion. Guide students toward noticing respectful listening even without agreement -- do not name 'civility'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civility as the first plaque. Stress: civility does not require agreement, only respect. Retrieval challenge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silent looking before discussion. Guide toward noticing shared work and shared tools -- do not name 'cooperation'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cooperation as the second plaque. Stress teamwork over solo effort. Retrieval challenge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silent looking. Guide toward noticing no pay, no uniform, a sign-up sheet -- a choice, not a job. Connect back to the volunt- root from slide 3 before naming 'volunteerism.'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volunteerism as the third plaque. Tie directly back to the volunt- root: nobody made them do it, they chose to. Retrieval challenge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silent looking. Guide toward noticing this is an ongoing promise, something the kid already agreed to take care of -- different from a one-time volunteer choice. Do not name 'responsibility'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responsibility as the fourth and final plaque. Contrast with volunteerism: responsibility is keeping a promise about something ongoing, not a one-time choice. Give the four-plaque retrieval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Explain that these four virtues reinforce each other -- they're not separate, they grow together. Pause &amp; Think prompt: ask students where each virtue shows up most in their own week, and which is hardest for them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the thinking process aloud using the flip-card activity from the lesson. Emphasize the key question: chosen or expected? Model naming the virtue and explaining why using the volunt- root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 whole class through sorting card 1 (Cooperation -- teamwork) and card 2 (Civility -- respectful listening) using the Socratic questions. Cold-call for reasoning, not just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independently sort the remaining four cards using the checklist. Answers: library book = Responsibility, feeding the dog = Responsibility, reading to kids = Volunteerism, splitting group work = Cooperation. Circulate chat responses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sets up assignment evidence question 2. The mistake: not-getting-paid is true of both volunteerism and responsibility, so it isn't the real test. The real test is choice vs. promise/expectation. Feeding the dog is an ongoing responsibility Sam already agreed to, not a one-time unasked choice. Let students debate before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 for students to check their own understanding before the notebook entry. Read each question aloud, give think time, then reveal the answer and quick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For the notebook entry, think aloud through a strong answer -- pick one virtue, name a specific place in the student's life where it matters, and describe one small action that would put the virtue into practice. Stress that small actions count.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Curator's Chronicle sentence frame verbatim as their closing reflection, then submit alongside the evidence questions and Curator Task notebook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four bronze plaques now mounted and lit on the back wall of Citizenship Hall -- Civility, Cooperation, Volunteerism, Responsibility -- with a faint golden glow spreading toward a curtained center pedestal in the distance, hinting at what comes next.Celebrate that students hung the four bronze plaques. Restate the Exhibit Label. Make the point one more time: these aren't feelings, they're habits, and 3rd graders are fully qualified. Then tease the unit closer: the last exhibit, a small case with the most important symbols, individuals, documents, and events of the United States -- and the Citizen Curator badge. Keep under 1 minute, warm and a little proud.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0208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CITIZENSHIP HALL  ·  LESSON 3.10.07</a:t>
            </a:r>
            <a:endParaRPr lang="en-US" sz="1200" dirty="0"/>
          </a:p>
        </p:txBody>
      </p:sp>
      <p:sp>
        <p:nvSpPr>
          <p:cNvPr id="6" name="Text 3"/>
          <p:cNvSpPr/>
          <p:nvPr/>
        </p:nvSpPr>
        <p:spPr>
          <a:xfrm>
            <a:off x="731520" y="1950720"/>
            <a:ext cx="10241280" cy="2072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Civic Virtues:</a:t>
            </a:r>
            <a:endParaRPr lang="en-US" sz="3200" dirty="0"/>
          </a:p>
          <a:p>
            <a:pPr algn="ctr" indent="0" marL="0">
              <a:buNone/>
            </a:pPr>
            <a:r>
              <a:rPr lang="en-US" sz="3200" b="1" dirty="0">
                <a:solidFill>
                  <a:srgbClr val="FFFFFF"/>
                </a:solidFill>
                <a:latin typeface="Cambria" pitchFamily="34" charset="0"/>
                <a:ea typeface="Cambria" pitchFamily="34" charset="-122"/>
                <a:cs typeface="Cambria" pitchFamily="34" charset="-120"/>
              </a:rPr>
              <a:t>Civility, Cooperation, Volunteerism &amp; Responsibility</a:t>
            </a:r>
            <a:endParaRPr lang="en-US" sz="3200" dirty="0"/>
          </a:p>
        </p:txBody>
      </p:sp>
      <p:sp>
        <p:nvSpPr>
          <p:cNvPr id="7" name="Text 4"/>
          <p:cNvSpPr/>
          <p:nvPr/>
        </p:nvSpPr>
        <p:spPr>
          <a:xfrm>
            <a:off x="1584960" y="432816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754880"/>
            <a:ext cx="9387840" cy="103632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What four habits turn an ordinary person into the kind of citizen a community needs?</a:t>
            </a:r>
            <a:endParaRPr lang="en-US" sz="1500" dirty="0"/>
          </a:p>
        </p:txBody>
      </p:sp>
      <p:sp>
        <p:nvSpPr>
          <p:cNvPr id="9" name="Text 6"/>
          <p:cNvSpPr/>
          <p:nvPr/>
        </p:nvSpPr>
        <p:spPr>
          <a:xfrm>
            <a:off x="1219200" y="5791200"/>
            <a:ext cx="938784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still the Civic Curator -- and these are the most important labels in the whole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WELCOME · ENTER THE SCENE</a:t>
            </a:r>
            <a:endParaRPr lang="en-US" sz="1100" dirty="0"/>
          </a:p>
        </p:txBody>
      </p:sp>
      <p:sp>
        <p:nvSpPr>
          <p:cNvPr id="3" name="Text 1"/>
          <p:cNvSpPr/>
          <p:nvPr/>
        </p:nvSpPr>
        <p:spPr>
          <a:xfrm>
            <a:off x="609600" y="1341120"/>
            <a:ext cx="10972800" cy="670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Four Bronze Plaques</a:t>
            </a:r>
            <a:endParaRPr lang="en-US" sz="2600" dirty="0"/>
          </a:p>
        </p:txBody>
      </p:sp>
      <p:sp>
        <p:nvSpPr>
          <p:cNvPr id="4" name="Text 2"/>
          <p:cNvSpPr/>
          <p:nvPr/>
        </p:nvSpPr>
        <p:spPr>
          <a:xfrm>
            <a:off x="853440" y="2133600"/>
            <a:ext cx="10485120" cy="188976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The Patriotic Holidays timeline is finished, every label in place. But against the back wall of Citizenship Hall, leaning carefully on a long velvet cloth, four polished bronze plaques are waiting to be hung. Each one is heavy. A small brass marker above them reads, "The Heart of the Hall." Today, your job is to figure out what each of these four words actually means -- and place them where visitors will see them as they leave.</a:t>
            </a:r>
            <a:endParaRPr lang="en-US" sz="1300" dirty="0"/>
          </a:p>
        </p:txBody>
      </p:sp>
      <p:sp>
        <p:nvSpPr>
          <p:cNvPr id="5" name="Shape 3"/>
          <p:cNvSpPr/>
          <p:nvPr/>
        </p:nvSpPr>
        <p:spPr>
          <a:xfrm>
            <a:off x="731520" y="4206240"/>
            <a:ext cx="2377440" cy="1280160"/>
          </a:xfrm>
          <a:prstGeom prst="roundRect">
            <a:avLst>
              <a:gd name="adj" fmla="val 11429"/>
            </a:avLst>
          </a:prstGeom>
          <a:solidFill>
            <a:srgbClr val="3A4A6B"/>
          </a:solidFill>
          <a:ln/>
          <a:effectLst>
            <a:outerShdw sx="100000" sy="100000" kx="0" ky="0" algn="bl" rotWithShape="0" blurRad="63500" dist="25400" dir="8100000">
              <a:srgbClr val="000000">
                <a:alpha val="15000"/>
              </a:srgbClr>
            </a:outerShdw>
          </a:effectLst>
        </p:spPr>
      </p:sp>
      <p:sp>
        <p:nvSpPr>
          <p:cNvPr id="6" name="Text 4"/>
          <p:cNvSpPr/>
          <p:nvPr/>
        </p:nvSpPr>
        <p:spPr>
          <a:xfrm>
            <a:off x="731520" y="4279392"/>
            <a:ext cx="237744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1-4</a:t>
            </a:r>
            <a:endParaRPr lang="en-US" sz="900" dirty="0"/>
          </a:p>
        </p:txBody>
      </p:sp>
      <p:sp>
        <p:nvSpPr>
          <p:cNvPr id="7" name="Text 5"/>
          <p:cNvSpPr/>
          <p:nvPr/>
        </p:nvSpPr>
        <p:spPr>
          <a:xfrm>
            <a:off x="731520" y="4547616"/>
            <a:ext cx="237744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8" name="Shape 6"/>
          <p:cNvSpPr/>
          <p:nvPr/>
        </p:nvSpPr>
        <p:spPr>
          <a:xfrm>
            <a:off x="3230880" y="4206240"/>
            <a:ext cx="2377440" cy="1280160"/>
          </a:xfrm>
          <a:prstGeom prst="roundRect">
            <a:avLst>
              <a:gd name="adj" fmla="val 11429"/>
            </a:avLst>
          </a:prstGeom>
          <a:solidFill>
            <a:srgbClr val="3A4A6B"/>
          </a:solidFill>
          <a:ln/>
          <a:effectLst>
            <a:outerShdw sx="100000" sy="100000" kx="0" ky="0" algn="bl" rotWithShape="0" blurRad="63500" dist="25400" dir="8100000">
              <a:srgbClr val="000000">
                <a:alpha val="15000"/>
              </a:srgbClr>
            </a:outerShdw>
          </a:effectLst>
        </p:spPr>
      </p:sp>
      <p:sp>
        <p:nvSpPr>
          <p:cNvPr id="9" name="Text 7"/>
          <p:cNvSpPr/>
          <p:nvPr/>
        </p:nvSpPr>
        <p:spPr>
          <a:xfrm>
            <a:off x="3230880" y="4279392"/>
            <a:ext cx="237744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1-4</a:t>
            </a:r>
            <a:endParaRPr lang="en-US" sz="900" dirty="0"/>
          </a:p>
        </p:txBody>
      </p:sp>
      <p:sp>
        <p:nvSpPr>
          <p:cNvPr id="10" name="Text 8"/>
          <p:cNvSpPr/>
          <p:nvPr/>
        </p:nvSpPr>
        <p:spPr>
          <a:xfrm>
            <a:off x="3230880" y="4547616"/>
            <a:ext cx="237744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1" name="Shape 9"/>
          <p:cNvSpPr/>
          <p:nvPr/>
        </p:nvSpPr>
        <p:spPr>
          <a:xfrm>
            <a:off x="5730240" y="4206240"/>
            <a:ext cx="2377440" cy="1280160"/>
          </a:xfrm>
          <a:prstGeom prst="roundRect">
            <a:avLst>
              <a:gd name="adj" fmla="val 11429"/>
            </a:avLst>
          </a:prstGeom>
          <a:solidFill>
            <a:srgbClr val="3A4A6B"/>
          </a:solidFill>
          <a:ln/>
          <a:effectLst>
            <a:outerShdw sx="100000" sy="100000" kx="0" ky="0" algn="bl" rotWithShape="0" blurRad="63500" dist="25400" dir="8100000">
              <a:srgbClr val="000000">
                <a:alpha val="15000"/>
              </a:srgbClr>
            </a:outerShdw>
          </a:effectLst>
        </p:spPr>
      </p:sp>
      <p:sp>
        <p:nvSpPr>
          <p:cNvPr id="12" name="Text 10"/>
          <p:cNvSpPr/>
          <p:nvPr/>
        </p:nvSpPr>
        <p:spPr>
          <a:xfrm>
            <a:off x="5730240" y="4279392"/>
            <a:ext cx="237744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1-4</a:t>
            </a:r>
            <a:endParaRPr lang="en-US" sz="900" dirty="0"/>
          </a:p>
        </p:txBody>
      </p:sp>
      <p:sp>
        <p:nvSpPr>
          <p:cNvPr id="13" name="Text 11"/>
          <p:cNvSpPr/>
          <p:nvPr/>
        </p:nvSpPr>
        <p:spPr>
          <a:xfrm>
            <a:off x="5730240" y="4547616"/>
            <a:ext cx="237744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4" name="Shape 12"/>
          <p:cNvSpPr/>
          <p:nvPr/>
        </p:nvSpPr>
        <p:spPr>
          <a:xfrm>
            <a:off x="8229600" y="4206240"/>
            <a:ext cx="2377440" cy="1280160"/>
          </a:xfrm>
          <a:prstGeom prst="roundRect">
            <a:avLst>
              <a:gd name="adj" fmla="val 11429"/>
            </a:avLst>
          </a:prstGeom>
          <a:solidFill>
            <a:srgbClr val="3A4A6B"/>
          </a:solidFill>
          <a:ln/>
          <a:effectLst>
            <a:outerShdw sx="100000" sy="100000" kx="0" ky="0" algn="bl" rotWithShape="0" blurRad="63500" dist="25400" dir="8100000">
              <a:srgbClr val="000000">
                <a:alpha val="15000"/>
              </a:srgbClr>
            </a:outerShdw>
          </a:effectLst>
        </p:spPr>
      </p:sp>
      <p:sp>
        <p:nvSpPr>
          <p:cNvPr id="15" name="Text 13"/>
          <p:cNvSpPr/>
          <p:nvPr/>
        </p:nvSpPr>
        <p:spPr>
          <a:xfrm>
            <a:off x="8229600" y="4279392"/>
            <a:ext cx="237744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1-4</a:t>
            </a:r>
            <a:endParaRPr lang="en-US" sz="900" dirty="0"/>
          </a:p>
        </p:txBody>
      </p:sp>
      <p:sp>
        <p:nvSpPr>
          <p:cNvPr id="16" name="Text 14"/>
          <p:cNvSpPr/>
          <p:nvPr/>
        </p:nvSpPr>
        <p:spPr>
          <a:xfrm>
            <a:off x="8229600" y="4547616"/>
            <a:ext cx="237744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7" name="Text 15"/>
          <p:cNvSpPr/>
          <p:nvPr/>
        </p:nvSpPr>
        <p:spPr>
          <a:xfrm>
            <a:off x="609600" y="5669280"/>
            <a:ext cx="1097280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Civility  ·  Cooperation  ·  Volunteerism  ·  Responsibility -- still locked. Let's lift each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WORD ROOTS · CLUE BOX &amp;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Meet the Root: volunt-</a:t>
            </a:r>
            <a:endParaRPr lang="en-US" sz="2700" dirty="0"/>
          </a:p>
        </p:txBody>
      </p:sp>
      <p:sp>
        <p:nvSpPr>
          <p:cNvPr id="4" name="Shape 2"/>
          <p:cNvSpPr/>
          <p:nvPr/>
        </p:nvSpPr>
        <p:spPr>
          <a:xfrm>
            <a:off x="609600" y="1645920"/>
            <a:ext cx="573024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645920"/>
            <a:ext cx="57302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36448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curator's notebook page in careful cursive: volunteer, voluntary, volunteerism, involuntary -- each word on its own line, no definitions shown, a small sketch of a raised hand beside them.</a:t>
            </a:r>
            <a:endParaRPr lang="en-US" sz="1100" dirty="0"/>
          </a:p>
        </p:txBody>
      </p:sp>
      <p:sp>
        <p:nvSpPr>
          <p:cNvPr id="7" name="Text 5"/>
          <p:cNvSpPr/>
          <p:nvPr/>
        </p:nvSpPr>
        <p:spPr>
          <a:xfrm>
            <a:off x="6583680" y="1645920"/>
            <a:ext cx="4693920" cy="15849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volunteer  ·  voluntary  ·  volunteerism  ·  involuntary. What five letters show up inside every one? What happens to the meaning when in- gets added to the front?</a:t>
            </a:r>
            <a:endParaRPr lang="en-US" sz="1250" dirty="0"/>
          </a:p>
        </p:txBody>
      </p:sp>
      <p:sp>
        <p:nvSpPr>
          <p:cNvPr id="8" name="Shape 6"/>
          <p:cNvSpPr/>
          <p:nvPr/>
        </p:nvSpPr>
        <p:spPr>
          <a:xfrm>
            <a:off x="6583680" y="3352800"/>
            <a:ext cx="4632960" cy="1402080"/>
          </a:xfrm>
          <a:prstGeom prst="roundRect">
            <a:avLst>
              <a:gd name="adj" fmla="val 10435"/>
            </a:avLst>
          </a:prstGeom>
          <a:solidFill>
            <a:srgbClr val="FFF3DC"/>
          </a:solidFill>
          <a:ln w="19050">
            <a:solidFill>
              <a:srgbClr val="F5E6C8"/>
            </a:solidFill>
            <a:prstDash val="solid"/>
          </a:ln>
        </p:spPr>
      </p:sp>
      <p:sp>
        <p:nvSpPr>
          <p:cNvPr id="9" name="Text 7"/>
          <p:cNvSpPr/>
          <p:nvPr/>
        </p:nvSpPr>
        <p:spPr>
          <a:xfrm>
            <a:off x="6766560" y="3425952"/>
            <a:ext cx="4267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66560" y="3694176"/>
            <a:ext cx="4267200" cy="975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all four words..."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involuntary means... because..."</a:t>
            </a:r>
            <a:endParaRPr lang="en-US" sz="1200" dirty="0"/>
          </a:p>
        </p:txBody>
      </p:sp>
      <p:sp>
        <p:nvSpPr>
          <p:cNvPr id="11" name="Shape 9"/>
          <p:cNvSpPr/>
          <p:nvPr/>
        </p:nvSpPr>
        <p:spPr>
          <a:xfrm>
            <a:off x="609600" y="4937760"/>
            <a:ext cx="1060704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50596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5401056"/>
            <a:ext cx="10119360" cy="877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volunt- means, based on the pattern?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sneeze is involuntary -- what does that tell you about the root?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FOUNDING WORDS · YOU FOUND IT</a:t>
            </a:r>
            <a:endParaRPr lang="en-US" sz="1100" dirty="0"/>
          </a:p>
        </p:txBody>
      </p:sp>
      <p:sp>
        <p:nvSpPr>
          <p:cNvPr id="3" name="Text 1"/>
          <p:cNvSpPr/>
          <p:nvPr/>
        </p:nvSpPr>
        <p:spPr>
          <a:xfrm>
            <a:off x="609600" y="829056"/>
            <a:ext cx="10972800" cy="60960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volunt- -- "willing, of one's own choice"</a:t>
            </a:r>
            <a:endParaRPr lang="en-US" sz="2400" dirty="0"/>
          </a:p>
        </p:txBody>
      </p:sp>
      <p:sp>
        <p:nvSpPr>
          <p:cNvPr id="4" name="Shape 2"/>
          <p:cNvSpPr/>
          <p:nvPr/>
        </p:nvSpPr>
        <p:spPr>
          <a:xfrm>
            <a:off x="731520" y="1584960"/>
            <a:ext cx="10363200" cy="1889760"/>
          </a:xfrm>
          <a:prstGeom prst="roundRect">
            <a:avLst>
              <a:gd name="adj" fmla="val 7742"/>
            </a:avLst>
          </a:prstGeom>
          <a:solidFill>
            <a:srgbClr val="1A2D5A"/>
          </a:solidFill>
          <a:ln w="19050">
            <a:solidFill>
              <a:srgbClr val="D4943A"/>
            </a:solidFill>
            <a:prstDash val="dash"/>
          </a:ln>
        </p:spPr>
      </p:sp>
      <p:sp>
        <p:nvSpPr>
          <p:cNvPr id="5" name="Text 3"/>
          <p:cNvSpPr/>
          <p:nvPr/>
        </p:nvSpPr>
        <p:spPr>
          <a:xfrm>
            <a:off x="1036320" y="1731264"/>
            <a:ext cx="9753600" cy="1584960"/>
          </a:xfrm>
          <a:prstGeom prst="rect">
            <a:avLst/>
          </a:prstGeom>
          <a:noFill/>
          <a:ln/>
        </p:spPr>
        <p:txBody>
          <a:bodyPr wrap="square" lIns="0" tIns="0" rIns="0" bIns="0" rtlCol="0" anchor="ctr"/>
          <a:lstStyle/>
          <a:p>
            <a:pPr algn="ctr" indent="0" marL="0">
              <a:buNone/>
            </a:pPr>
            <a:r>
              <a:rPr lang="en-US" sz="1250" i="1" dirty="0">
                <a:solidFill>
                  <a:srgbClr val="FFF3DC"/>
                </a:solidFill>
                <a:latin typeface="Cambria" pitchFamily="34" charset="0"/>
                <a:ea typeface="Cambria" pitchFamily="34" charset="-122"/>
                <a:cs typeface="Cambria" pitchFamily="34" charset="-120"/>
              </a:rPr>
              <a:t>"Long before the United States existed, ancient Greeks and Romans were already teaching young people about civic virtues. They believed a country couldn't survive on laws alone -- it needed citizens who actually practiced these habits. The plaques are new. The idea is over two thousand years old."</a:t>
            </a:r>
            <a:endParaRPr lang="en-US" sz="1250" dirty="0"/>
          </a:p>
        </p:txBody>
      </p:sp>
      <p:sp>
        <p:nvSpPr>
          <p:cNvPr id="6" name="Text 4"/>
          <p:cNvSpPr/>
          <p:nvPr/>
        </p:nvSpPr>
        <p:spPr>
          <a:xfrm>
            <a:off x="853440" y="3718560"/>
            <a:ext cx="10485120" cy="188976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A volunteer isn't forced to help -- they choose to. That's the whole heart of civic virtue: a good citizen doesn't wait for someone to make them do the right thing. They choose it. All four plaques on this wall are different shapes of service: Civility is serving the conversation. Cooperation is serving the team. Volunteerism is serving without being asked. Responsibility is serving what's been given to you.</a:t>
            </a:r>
            <a:endParaRPr lang="en-US" sz="1250" dirty="0"/>
          </a:p>
        </p:txBody>
      </p:sp>
      <p:sp>
        <p:nvSpPr>
          <p:cNvPr id="7" name="Text 5"/>
          <p:cNvSpPr/>
          <p:nvPr/>
        </p:nvSpPr>
        <p:spPr>
          <a:xfrm>
            <a:off x="853440" y="5791200"/>
            <a:ext cx="1048512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Cover your screen. Say what volunt- means in your own words.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PLAQUE ONE · CLUE BOX &amp;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Plaque One: What's Happening Here?</a:t>
            </a:r>
            <a:endParaRPr lang="en-US" sz="2700" dirty="0"/>
          </a:p>
        </p:txBody>
      </p:sp>
      <p:sp>
        <p:nvSpPr>
          <p:cNvPr id="4" name="Shape 2"/>
          <p:cNvSpPr/>
          <p:nvPr/>
        </p:nvSpPr>
        <p:spPr>
          <a:xfrm>
            <a:off x="609600" y="1645920"/>
            <a:ext cx="573024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645920"/>
            <a:ext cx="57302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36448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Two kids at a classroom table, one talking, one leaning in and listening calmly with a slightly different opinion on their face -- no argument, no interrupting, just attentive listening.</a:t>
            </a:r>
            <a:endParaRPr lang="en-US" sz="1100" dirty="0"/>
          </a:p>
        </p:txBody>
      </p:sp>
      <p:sp>
        <p:nvSpPr>
          <p:cNvPr id="7" name="Text 5"/>
          <p:cNvSpPr/>
          <p:nvPr/>
        </p:nvSpPr>
        <p:spPr>
          <a:xfrm>
            <a:off x="6583680" y="1645920"/>
            <a:ext cx="4693920" cy="12801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Look at the listener. Are they interrupting? Do they look angry? What is their face doing while the other person talks?</a:t>
            </a:r>
            <a:endParaRPr lang="en-US" sz="1250" dirty="0"/>
          </a:p>
        </p:txBody>
      </p:sp>
      <p:sp>
        <p:nvSpPr>
          <p:cNvPr id="8" name="Shape 6"/>
          <p:cNvSpPr/>
          <p:nvPr/>
        </p:nvSpPr>
        <p:spPr>
          <a:xfrm>
            <a:off x="6583680" y="3048000"/>
            <a:ext cx="463296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6766560" y="3121152"/>
            <a:ext cx="4267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66560" y="3389376"/>
            <a:ext cx="42672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listener..."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shows... because..."</a:t>
            </a:r>
            <a:endParaRPr lang="en-US" sz="1200" dirty="0"/>
          </a:p>
        </p:txBody>
      </p:sp>
      <p:sp>
        <p:nvSpPr>
          <p:cNvPr id="11" name="Shape 9"/>
          <p:cNvSpPr/>
          <p:nvPr/>
        </p:nvSpPr>
        <p:spPr>
          <a:xfrm>
            <a:off x="609600" y="4937760"/>
            <a:ext cx="1060704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50596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5401056"/>
            <a:ext cx="10119360" cy="877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agreeing and being respectful mean the same thing?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argue about how to disagree politely?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PLAQUE ONE · YOU FOUND IT</a:t>
            </a:r>
            <a:endParaRPr lang="en-US" sz="1100" dirty="0"/>
          </a:p>
        </p:txBody>
      </p:sp>
      <p:sp>
        <p:nvSpPr>
          <p:cNvPr id="3" name="Text 1"/>
          <p:cNvSpPr/>
          <p:nvPr/>
        </p:nvSpPr>
        <p:spPr>
          <a:xfrm>
            <a:off x="609600" y="1097280"/>
            <a:ext cx="10972800" cy="73152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Civility</a:t>
            </a:r>
            <a:endParaRPr lang="en-US" sz="3400" dirty="0"/>
          </a:p>
        </p:txBody>
      </p:sp>
      <p:sp>
        <p:nvSpPr>
          <p:cNvPr id="4" name="Text 2"/>
          <p:cNvSpPr/>
          <p:nvPr/>
        </p:nvSpPr>
        <p:spPr>
          <a:xfrm>
            <a:off x="1219200" y="2072640"/>
            <a:ext cx="9753600" cy="182880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Being respectful to people in public -- especially people you disagree with. A civil person listens before they speak. They don't interrupt. They don't insult the other side. Civility doesn't mean you have to agree with someone. It means you treat them like a person.</a:t>
            </a:r>
            <a:endParaRPr lang="en-US" sz="1500" dirty="0"/>
          </a:p>
        </p:txBody>
      </p:sp>
      <p:sp>
        <p:nvSpPr>
          <p:cNvPr id="5" name="Shape 3"/>
          <p:cNvSpPr/>
          <p:nvPr/>
        </p:nvSpPr>
        <p:spPr>
          <a:xfrm>
            <a:off x="1584960" y="4084320"/>
            <a:ext cx="8656320" cy="1036320"/>
          </a:xfrm>
          <a:prstGeom prst="roundRect">
            <a:avLst>
              <a:gd name="adj" fmla="val 14118"/>
            </a:avLst>
          </a:prstGeom>
          <a:solidFill>
            <a:srgbClr val="1A2D5A"/>
          </a:solidFill>
          <a:ln w="19050">
            <a:solidFill>
              <a:srgbClr val="D4943A"/>
            </a:solidFill>
            <a:prstDash val="dash"/>
          </a:ln>
        </p:spPr>
      </p:sp>
      <p:sp>
        <p:nvSpPr>
          <p:cNvPr id="6" name="Text 4"/>
          <p:cNvSpPr/>
          <p:nvPr/>
        </p:nvSpPr>
        <p:spPr>
          <a:xfrm>
            <a:off x="1889760" y="4230624"/>
            <a:ext cx="8046720" cy="731520"/>
          </a:xfrm>
          <a:prstGeom prst="rect">
            <a:avLst/>
          </a:prstGeom>
          <a:noFill/>
          <a:ln/>
        </p:spPr>
        <p:txBody>
          <a:bodyPr wrap="square" lIns="0" tIns="0" rIns="0" bIns="0"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Example: Letting a classmate finish before you talk.</a:t>
            </a:r>
            <a:endParaRPr lang="en-US" sz="1300" dirty="0"/>
          </a:p>
        </p:txBody>
      </p:sp>
      <p:sp>
        <p:nvSpPr>
          <p:cNvPr id="7" name="Text 5"/>
          <p:cNvSpPr/>
          <p:nvPr/>
        </p:nvSpPr>
        <p:spPr>
          <a:xfrm>
            <a:off x="1219200" y="5425440"/>
            <a:ext cx="97536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Say civility's definition in your own words.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PLAQUE TWO · CLUE BOX &amp;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Plaque Two: What's Happening Here?</a:t>
            </a:r>
            <a:endParaRPr lang="en-US" sz="2700" dirty="0"/>
          </a:p>
        </p:txBody>
      </p:sp>
      <p:sp>
        <p:nvSpPr>
          <p:cNvPr id="4" name="Shape 2"/>
          <p:cNvSpPr/>
          <p:nvPr/>
        </p:nvSpPr>
        <p:spPr>
          <a:xfrm>
            <a:off x="609600" y="1645920"/>
            <a:ext cx="573024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645920"/>
            <a:ext cx="57302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36448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 kids building a poster-board group project together -- one cutting, one gluing, one writing -- all leaning over the same table, sharing the same set of markers.</a:t>
            </a:r>
            <a:endParaRPr lang="en-US" sz="1100" dirty="0"/>
          </a:p>
        </p:txBody>
      </p:sp>
      <p:sp>
        <p:nvSpPr>
          <p:cNvPr id="7" name="Text 5"/>
          <p:cNvSpPr/>
          <p:nvPr/>
        </p:nvSpPr>
        <p:spPr>
          <a:xfrm>
            <a:off x="6583680" y="1645920"/>
            <a:ext cx="4693920" cy="12801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Are these kids each doing their own separate project, or one shared project? What are they sharing?</a:t>
            </a:r>
            <a:endParaRPr lang="en-US" sz="1250" dirty="0"/>
          </a:p>
        </p:txBody>
      </p:sp>
      <p:sp>
        <p:nvSpPr>
          <p:cNvPr id="8" name="Shape 6"/>
          <p:cNvSpPr/>
          <p:nvPr/>
        </p:nvSpPr>
        <p:spPr>
          <a:xfrm>
            <a:off x="6583680" y="3048000"/>
            <a:ext cx="463296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6766560" y="3121152"/>
            <a:ext cx="4267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66560" y="3389376"/>
            <a:ext cx="42672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they are sharing..."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shows... because..."</a:t>
            </a:r>
            <a:endParaRPr lang="en-US" sz="1200" dirty="0"/>
          </a:p>
        </p:txBody>
      </p:sp>
      <p:sp>
        <p:nvSpPr>
          <p:cNvPr id="11" name="Shape 9"/>
          <p:cNvSpPr/>
          <p:nvPr/>
        </p:nvSpPr>
        <p:spPr>
          <a:xfrm>
            <a:off x="609600" y="4937760"/>
            <a:ext cx="1060704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50596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5401056"/>
            <a:ext cx="10119360" cy="877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to this project if only one kid did all the work?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taking turns the same thing as being fair? Why or why not?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PLAQUE TWO · YOU FOUND IT</a:t>
            </a:r>
            <a:endParaRPr lang="en-US" sz="1100" dirty="0"/>
          </a:p>
        </p:txBody>
      </p:sp>
      <p:sp>
        <p:nvSpPr>
          <p:cNvPr id="3" name="Text 1"/>
          <p:cNvSpPr/>
          <p:nvPr/>
        </p:nvSpPr>
        <p:spPr>
          <a:xfrm>
            <a:off x="609600" y="1097280"/>
            <a:ext cx="10972800" cy="73152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Cooperation</a:t>
            </a:r>
            <a:endParaRPr lang="en-US" sz="3400" dirty="0"/>
          </a:p>
        </p:txBody>
      </p:sp>
      <p:sp>
        <p:nvSpPr>
          <p:cNvPr id="4" name="Text 2"/>
          <p:cNvSpPr/>
          <p:nvPr/>
        </p:nvSpPr>
        <p:spPr>
          <a:xfrm>
            <a:off x="1219200" y="2072640"/>
            <a:ext cx="9753600" cy="182880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Working together to get something done. A cooperative person takes their turn, shares the tools, and listens to other people's ideas. Cooperation is how a class project, a sports team, or a town's clean-up day actually works.</a:t>
            </a:r>
            <a:endParaRPr lang="en-US" sz="1500" dirty="0"/>
          </a:p>
        </p:txBody>
      </p:sp>
      <p:sp>
        <p:nvSpPr>
          <p:cNvPr id="5" name="Shape 3"/>
          <p:cNvSpPr/>
          <p:nvPr/>
        </p:nvSpPr>
        <p:spPr>
          <a:xfrm>
            <a:off x="1584960" y="4084320"/>
            <a:ext cx="8656320" cy="1036320"/>
          </a:xfrm>
          <a:prstGeom prst="roundRect">
            <a:avLst>
              <a:gd name="adj" fmla="val 14118"/>
            </a:avLst>
          </a:prstGeom>
          <a:solidFill>
            <a:srgbClr val="1A2D5A"/>
          </a:solidFill>
          <a:ln w="19050">
            <a:solidFill>
              <a:srgbClr val="D4943A"/>
            </a:solidFill>
            <a:prstDash val="dash"/>
          </a:ln>
        </p:spPr>
      </p:sp>
      <p:sp>
        <p:nvSpPr>
          <p:cNvPr id="6" name="Text 4"/>
          <p:cNvSpPr/>
          <p:nvPr/>
        </p:nvSpPr>
        <p:spPr>
          <a:xfrm>
            <a:off x="1889760" y="4230624"/>
            <a:ext cx="8046720" cy="731520"/>
          </a:xfrm>
          <a:prstGeom prst="rect">
            <a:avLst/>
          </a:prstGeom>
          <a:noFill/>
          <a:ln/>
        </p:spPr>
        <p:txBody>
          <a:bodyPr wrap="square" lIns="0" tIns="0" rIns="0" bIns="0"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Example: Passing the ball so your teammate can score.</a:t>
            </a:r>
            <a:endParaRPr lang="en-US" sz="1300" dirty="0"/>
          </a:p>
        </p:txBody>
      </p:sp>
      <p:sp>
        <p:nvSpPr>
          <p:cNvPr id="7" name="Text 5"/>
          <p:cNvSpPr/>
          <p:nvPr/>
        </p:nvSpPr>
        <p:spPr>
          <a:xfrm>
            <a:off x="1219200" y="5425440"/>
            <a:ext cx="97536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one place you cooperate every week.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PLAQUE THREE · CLUE BOX &amp;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Plaque Three: What's Happening Here?</a:t>
            </a:r>
            <a:endParaRPr lang="en-US" sz="2700" dirty="0"/>
          </a:p>
        </p:txBody>
      </p:sp>
      <p:sp>
        <p:nvSpPr>
          <p:cNvPr id="4" name="Shape 2"/>
          <p:cNvSpPr/>
          <p:nvPr/>
        </p:nvSpPr>
        <p:spPr>
          <a:xfrm>
            <a:off x="609600" y="1645920"/>
            <a:ext cx="573024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645920"/>
            <a:ext cx="57302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36448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community volunteer scene -- neighbors of different ages cleaning up a park or packing food at a food bank, working together, no uniforms, clearly not being paid, a sign-up clipboard visible on a table nearby.</a:t>
            </a:r>
            <a:endParaRPr lang="en-US" sz="1100" dirty="0"/>
          </a:p>
        </p:txBody>
      </p:sp>
      <p:sp>
        <p:nvSpPr>
          <p:cNvPr id="7" name="Text 5"/>
          <p:cNvSpPr/>
          <p:nvPr/>
        </p:nvSpPr>
        <p:spPr>
          <a:xfrm>
            <a:off x="6583680" y="1645920"/>
            <a:ext cx="4693920" cy="12801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Does it look like a job someone is paid to do -- or something people chose to do? What clues tell you that?</a:t>
            </a:r>
            <a:endParaRPr lang="en-US" sz="1250" dirty="0"/>
          </a:p>
        </p:txBody>
      </p:sp>
      <p:sp>
        <p:nvSpPr>
          <p:cNvPr id="8" name="Shape 6"/>
          <p:cNvSpPr/>
          <p:nvPr/>
        </p:nvSpPr>
        <p:spPr>
          <a:xfrm>
            <a:off x="6583680" y="3048000"/>
            <a:ext cx="463296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6766560" y="3121152"/>
            <a:ext cx="4267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66560" y="3389376"/>
            <a:ext cx="42672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no one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they chose to help because..."</a:t>
            </a:r>
            <a:endParaRPr lang="en-US" sz="1200" dirty="0"/>
          </a:p>
        </p:txBody>
      </p:sp>
      <p:sp>
        <p:nvSpPr>
          <p:cNvPr id="11" name="Shape 9"/>
          <p:cNvSpPr/>
          <p:nvPr/>
        </p:nvSpPr>
        <p:spPr>
          <a:xfrm>
            <a:off x="609600" y="4937760"/>
            <a:ext cx="1060704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50596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5401056"/>
            <a:ext cx="10119360" cy="877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word did we already learn today that connects to 'choosing'?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different from being told to clean your room?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PLAQUE THREE · YOU FOUND IT</a:t>
            </a:r>
            <a:endParaRPr lang="en-US" sz="1100" dirty="0"/>
          </a:p>
        </p:txBody>
      </p:sp>
      <p:sp>
        <p:nvSpPr>
          <p:cNvPr id="3" name="Text 1"/>
          <p:cNvSpPr/>
          <p:nvPr/>
        </p:nvSpPr>
        <p:spPr>
          <a:xfrm>
            <a:off x="609600" y="1097280"/>
            <a:ext cx="10972800" cy="73152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Volunteerism</a:t>
            </a:r>
            <a:endParaRPr lang="en-US" sz="3400" dirty="0"/>
          </a:p>
        </p:txBody>
      </p:sp>
      <p:sp>
        <p:nvSpPr>
          <p:cNvPr id="4" name="Text 2"/>
          <p:cNvSpPr/>
          <p:nvPr/>
        </p:nvSpPr>
        <p:spPr>
          <a:xfrm>
            <a:off x="1219200" y="2072640"/>
            <a:ext cx="9753600" cy="1889760"/>
          </a:xfrm>
          <a:prstGeom prst="rect">
            <a:avLst/>
          </a:prstGeom>
          <a:noFill/>
          <a:ln/>
        </p:spPr>
        <p:txBody>
          <a:bodyPr wrap="square" lIns="0" tIns="0" rIns="0" bIns="0" rtlCol="0" anchor="t"/>
          <a:lstStyle/>
          <a:p>
            <a:pPr algn="ctr" indent="0" marL="0">
              <a:buNone/>
            </a:pPr>
            <a:r>
              <a:rPr lang="en-US" sz="1450" dirty="0">
                <a:solidFill>
                  <a:srgbClr val="FFFFFF"/>
                </a:solidFill>
                <a:latin typeface="Calibri" pitchFamily="34" charset="0"/>
                <a:ea typeface="Calibri" pitchFamily="34" charset="-122"/>
                <a:cs typeface="Calibri" pitchFamily="34" charset="-120"/>
              </a:rPr>
              <a:t>Choosing to help your community without being told to. A volunteer plants a tree at the park, reads to younger kids at the library, or picks up trash on the beach because they want their community to be better. No one is paying them. They just choose.</a:t>
            </a:r>
            <a:endParaRPr lang="en-US" sz="1450" dirty="0"/>
          </a:p>
        </p:txBody>
      </p:sp>
      <p:sp>
        <p:nvSpPr>
          <p:cNvPr id="5" name="Shape 3"/>
          <p:cNvSpPr/>
          <p:nvPr/>
        </p:nvSpPr>
        <p:spPr>
          <a:xfrm>
            <a:off x="1584960" y="4145280"/>
            <a:ext cx="8656320" cy="1036320"/>
          </a:xfrm>
          <a:prstGeom prst="roundRect">
            <a:avLst>
              <a:gd name="adj" fmla="val 14118"/>
            </a:avLst>
          </a:prstGeom>
          <a:solidFill>
            <a:srgbClr val="1A2D5A"/>
          </a:solidFill>
          <a:ln w="19050">
            <a:solidFill>
              <a:srgbClr val="D4943A"/>
            </a:solidFill>
            <a:prstDash val="dash"/>
          </a:ln>
        </p:spPr>
      </p:sp>
      <p:sp>
        <p:nvSpPr>
          <p:cNvPr id="6" name="Text 4"/>
          <p:cNvSpPr/>
          <p:nvPr/>
        </p:nvSpPr>
        <p:spPr>
          <a:xfrm>
            <a:off x="1889760" y="4291584"/>
            <a:ext cx="8046720" cy="731520"/>
          </a:xfrm>
          <a:prstGeom prst="rect">
            <a:avLst/>
          </a:prstGeom>
          <a:noFill/>
          <a:ln/>
        </p:spPr>
        <p:txBody>
          <a:bodyPr wrap="square" lIns="0" tIns="0" rIns="0" bIns="0"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Example: Signing up to help clean a park on Saturday.</a:t>
            </a:r>
            <a:endParaRPr lang="en-US" sz="1300" dirty="0"/>
          </a:p>
        </p:txBody>
      </p:sp>
      <p:sp>
        <p:nvSpPr>
          <p:cNvPr id="7" name="Text 5"/>
          <p:cNvSpPr/>
          <p:nvPr/>
        </p:nvSpPr>
        <p:spPr>
          <a:xfrm>
            <a:off x="1219200" y="5486400"/>
            <a:ext cx="97536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Say why volunteerism connects to volunt-.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PLAQUE FOUR · CLUE BOX &amp;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Plaque Four: What's Happening Here?</a:t>
            </a:r>
            <a:endParaRPr lang="en-US" sz="2700" dirty="0"/>
          </a:p>
        </p:txBody>
      </p:sp>
      <p:sp>
        <p:nvSpPr>
          <p:cNvPr id="4" name="Shape 2"/>
          <p:cNvSpPr/>
          <p:nvPr/>
        </p:nvSpPr>
        <p:spPr>
          <a:xfrm>
            <a:off x="609600" y="1645920"/>
            <a:ext cx="573024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645920"/>
            <a:ext cx="57302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36448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kid pouring dog food into a bowl for a waiting dog in a kitchen, early morning light, a checklist chart on the fridge with the same chore checked off day after day.</a:t>
            </a:r>
            <a:endParaRPr lang="en-US" sz="1100" dirty="0"/>
          </a:p>
        </p:txBody>
      </p:sp>
      <p:sp>
        <p:nvSpPr>
          <p:cNvPr id="7" name="Text 5"/>
          <p:cNvSpPr/>
          <p:nvPr/>
        </p:nvSpPr>
        <p:spPr>
          <a:xfrm>
            <a:off x="6583680" y="1645920"/>
            <a:ext cx="4693920" cy="12801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Is anyone standing over this kid making them do this? What clues tell you this is a habit, not a one-time thing?</a:t>
            </a:r>
            <a:endParaRPr lang="en-US" sz="1250" dirty="0"/>
          </a:p>
        </p:txBody>
      </p:sp>
      <p:sp>
        <p:nvSpPr>
          <p:cNvPr id="8" name="Shape 6"/>
          <p:cNvSpPr/>
          <p:nvPr/>
        </p:nvSpPr>
        <p:spPr>
          <a:xfrm>
            <a:off x="6583680" y="3048000"/>
            <a:ext cx="463296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6766560" y="3121152"/>
            <a:ext cx="42672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66560" y="3389376"/>
            <a:ext cx="42672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checklist..."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shows... because..."</a:t>
            </a:r>
            <a:endParaRPr lang="en-US" sz="1200" dirty="0"/>
          </a:p>
        </p:txBody>
      </p:sp>
      <p:sp>
        <p:nvSpPr>
          <p:cNvPr id="11" name="Shape 9"/>
          <p:cNvSpPr/>
          <p:nvPr/>
        </p:nvSpPr>
        <p:spPr>
          <a:xfrm>
            <a:off x="609600" y="4937760"/>
            <a:ext cx="1060704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50596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5401056"/>
            <a:ext cx="10119360" cy="877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feeding the dog every day a choice, a job, or both?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different from volunteering to clean the park just once?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PLAQUE FOUR · YOU FOUND IT</a:t>
            </a:r>
            <a:endParaRPr lang="en-US" sz="1100" dirty="0"/>
          </a:p>
        </p:txBody>
      </p:sp>
      <p:sp>
        <p:nvSpPr>
          <p:cNvPr id="3" name="Text 1"/>
          <p:cNvSpPr/>
          <p:nvPr/>
        </p:nvSpPr>
        <p:spPr>
          <a:xfrm>
            <a:off x="609600" y="1097280"/>
            <a:ext cx="10972800" cy="73152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Responsibility</a:t>
            </a:r>
            <a:endParaRPr lang="en-US" sz="3400" dirty="0"/>
          </a:p>
        </p:txBody>
      </p:sp>
      <p:sp>
        <p:nvSpPr>
          <p:cNvPr id="4" name="Text 2"/>
          <p:cNvSpPr/>
          <p:nvPr/>
        </p:nvSpPr>
        <p:spPr>
          <a:xfrm>
            <a:off x="1219200" y="2072640"/>
            <a:ext cx="9753600" cy="18897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Doing what you said you would do -- and taking care of the things you've been given to take care of. A responsible person finishes their homework, returns the library book, and tells the truth when they made a mistake. Responsibility is how trust gets built in a community.</a:t>
            </a:r>
            <a:endParaRPr lang="en-US" sz="1400" dirty="0"/>
          </a:p>
        </p:txBody>
      </p:sp>
      <p:sp>
        <p:nvSpPr>
          <p:cNvPr id="5" name="Shape 3"/>
          <p:cNvSpPr/>
          <p:nvPr/>
        </p:nvSpPr>
        <p:spPr>
          <a:xfrm>
            <a:off x="1584960" y="4145280"/>
            <a:ext cx="8656320" cy="1036320"/>
          </a:xfrm>
          <a:prstGeom prst="roundRect">
            <a:avLst>
              <a:gd name="adj" fmla="val 14118"/>
            </a:avLst>
          </a:prstGeom>
          <a:solidFill>
            <a:srgbClr val="1A2D5A"/>
          </a:solidFill>
          <a:ln w="19050">
            <a:solidFill>
              <a:srgbClr val="D4943A"/>
            </a:solidFill>
            <a:prstDash val="dash"/>
          </a:ln>
        </p:spPr>
      </p:sp>
      <p:sp>
        <p:nvSpPr>
          <p:cNvPr id="6" name="Text 4"/>
          <p:cNvSpPr/>
          <p:nvPr/>
        </p:nvSpPr>
        <p:spPr>
          <a:xfrm>
            <a:off x="1889760" y="4291584"/>
            <a:ext cx="8046720" cy="731520"/>
          </a:xfrm>
          <a:prstGeom prst="rect">
            <a:avLst/>
          </a:prstGeom>
          <a:noFill/>
          <a:ln/>
        </p:spPr>
        <p:txBody>
          <a:bodyPr wrap="square" lIns="0" tIns="0" rIns="0" bIns="0" rtlCol="0" anchor="ctr"/>
          <a:lstStyle/>
          <a:p>
            <a:pPr algn="ctr" indent="0" marL="0">
              <a:buNone/>
            </a:pPr>
            <a:r>
              <a:rPr lang="en-US" sz="1300" i="1" dirty="0">
                <a:solidFill>
                  <a:srgbClr val="FFF3DC"/>
                </a:solidFill>
                <a:latin typeface="Cambria" pitchFamily="34" charset="0"/>
                <a:ea typeface="Cambria" pitchFamily="34" charset="-122"/>
                <a:cs typeface="Cambria" pitchFamily="34" charset="-120"/>
              </a:rPr>
              <a:t>Example: Feeding the dog every morning without being told.</a:t>
            </a:r>
            <a:endParaRPr lang="en-US" sz="1300" dirty="0"/>
          </a:p>
        </p:txBody>
      </p:sp>
      <p:sp>
        <p:nvSpPr>
          <p:cNvPr id="7" name="Text 5"/>
          <p:cNvSpPr/>
          <p:nvPr/>
        </p:nvSpPr>
        <p:spPr>
          <a:xfrm>
            <a:off x="1219200" y="5486400"/>
            <a:ext cx="97536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all four plaques from memory.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CONNECT THE IDEAS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Four Words That Grow Together</a:t>
            </a:r>
            <a:endParaRPr lang="en-US" sz="2700" dirty="0"/>
          </a:p>
        </p:txBody>
      </p:sp>
      <p:sp>
        <p:nvSpPr>
          <p:cNvPr id="4" name="Shape 2"/>
          <p:cNvSpPr/>
          <p:nvPr/>
        </p:nvSpPr>
        <p:spPr>
          <a:xfrm>
            <a:off x="609600" y="1584960"/>
            <a:ext cx="6339840" cy="3230880"/>
          </a:xfrm>
          <a:prstGeom prst="roundRect">
            <a:avLst>
              <a:gd name="adj" fmla="val 4528"/>
            </a:avLst>
          </a:prstGeom>
          <a:solidFill>
            <a:srgbClr val="E3F8ED"/>
          </a:solidFill>
          <a:ln/>
        </p:spPr>
      </p:sp>
      <p:sp>
        <p:nvSpPr>
          <p:cNvPr id="5" name="Text 3"/>
          <p:cNvSpPr/>
          <p:nvPr/>
        </p:nvSpPr>
        <p:spPr>
          <a:xfrm>
            <a:off x="853440" y="1731264"/>
            <a:ext cx="585216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EXHIBIT LABEL</a:t>
            </a:r>
            <a:endParaRPr lang="en-US" sz="1000" dirty="0"/>
          </a:p>
        </p:txBody>
      </p:sp>
      <p:sp>
        <p:nvSpPr>
          <p:cNvPr id="6" name="Text 4"/>
          <p:cNvSpPr/>
          <p:nvPr/>
        </p:nvSpPr>
        <p:spPr>
          <a:xfrm>
            <a:off x="853440" y="2133600"/>
            <a:ext cx="5852160" cy="13411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A good citizen practices four habits: civility (treating people with respect), cooperation (working with others), volunteerism (helping without being asked), and responsibility (doing what you said you would do).</a:t>
            </a:r>
            <a:endParaRPr lang="en-US" sz="1250" dirty="0"/>
          </a:p>
        </p:txBody>
      </p:sp>
      <p:sp>
        <p:nvSpPr>
          <p:cNvPr id="7" name="Text 5"/>
          <p:cNvSpPr/>
          <p:nvPr/>
        </p:nvSpPr>
        <p:spPr>
          <a:xfrm>
            <a:off x="853440" y="3535680"/>
            <a:ext cx="5852160" cy="1158240"/>
          </a:xfrm>
          <a:prstGeom prst="rect">
            <a:avLst/>
          </a:prstGeom>
          <a:noFill/>
          <a:ln/>
        </p:spPr>
        <p:txBody>
          <a:bodyPr wrap="square" lIns="0" tIns="0" rIns="0" bIns="0" rtlCol="0" anchor="t"/>
          <a:lstStyle/>
          <a:p>
            <a:pPr indent="0" marL="0">
              <a:buNone/>
            </a:pPr>
            <a:r>
              <a:rPr lang="en-US" sz="1150" i="1" dirty="0">
                <a:solidFill>
                  <a:srgbClr val="0E1C42"/>
                </a:solidFill>
                <a:latin typeface="Calibri" pitchFamily="34" charset="0"/>
                <a:ea typeface="Calibri" pitchFamily="34" charset="-122"/>
                <a:cs typeface="Calibri" pitchFamily="34" charset="-120"/>
              </a:rPr>
              <a:t>Here's a secret about these four: they help each other. A community that practices civility ends up cooperating better. People who cooperate often start volunteering. Volunteers learn responsibility. Four words, but they grow together like four sides of the same plant.</a:t>
            </a:r>
            <a:endParaRPr lang="en-US" sz="1150" dirty="0"/>
          </a:p>
        </p:txBody>
      </p:sp>
      <p:sp>
        <p:nvSpPr>
          <p:cNvPr id="8" name="Shape 6"/>
          <p:cNvSpPr/>
          <p:nvPr/>
        </p:nvSpPr>
        <p:spPr>
          <a:xfrm>
            <a:off x="7193280" y="1584960"/>
            <a:ext cx="4023360" cy="323088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7437120" y="1706880"/>
            <a:ext cx="35356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7437120" y="2048256"/>
            <a:ext cx="3535680" cy="26456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Picture a place you spend time every week -- your classroom, kitchen, team, block. Which virtue shows up most there?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four is hardest for you personally? What makes it hard?</a:t>
            </a:r>
            <a:endParaRPr lang="en-US" sz="1100" dirty="0"/>
          </a:p>
        </p:txBody>
      </p:sp>
      <p:sp>
        <p:nvSpPr>
          <p:cNvPr id="11" name="Shape 9"/>
          <p:cNvSpPr/>
          <p:nvPr/>
        </p:nvSpPr>
        <p:spPr>
          <a:xfrm>
            <a:off x="7193280" y="4998720"/>
            <a:ext cx="4023360" cy="1402080"/>
          </a:xfrm>
          <a:prstGeom prst="roundRect">
            <a:avLst>
              <a:gd name="adj" fmla="val 10435"/>
            </a:avLst>
          </a:prstGeom>
          <a:solidFill>
            <a:srgbClr val="FFF3DC"/>
          </a:solidFill>
          <a:ln w="19050">
            <a:solidFill>
              <a:srgbClr val="F5E6C8"/>
            </a:solidFill>
            <a:prstDash val="solid"/>
          </a:ln>
        </p:spPr>
      </p:sp>
      <p:sp>
        <p:nvSpPr>
          <p:cNvPr id="12" name="Text 10"/>
          <p:cNvSpPr/>
          <p:nvPr/>
        </p:nvSpPr>
        <p:spPr>
          <a:xfrm>
            <a:off x="7376160" y="5071872"/>
            <a:ext cx="36576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376160" y="5340096"/>
            <a:ext cx="3657600" cy="975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my classroom, I see the most..."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hardest one for me is... because..."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Match the Virtue to the Action</a:t>
            </a:r>
            <a:endParaRPr lang="en-US" sz="2700" dirty="0"/>
          </a:p>
        </p:txBody>
      </p:sp>
      <p:sp>
        <p:nvSpPr>
          <p:cNvPr id="4" name="Shape 2"/>
          <p:cNvSpPr/>
          <p:nvPr/>
        </p:nvSpPr>
        <p:spPr>
          <a:xfrm>
            <a:off x="609600" y="1584960"/>
            <a:ext cx="4876800" cy="1828800"/>
          </a:xfrm>
          <a:prstGeom prst="roundRect">
            <a:avLst>
              <a:gd name="adj" fmla="val 8000"/>
            </a:avLst>
          </a:prstGeom>
          <a:solidFill>
            <a:srgbClr val="FFFFFF"/>
          </a:solidFill>
          <a:ln w="12700">
            <a:solidFill>
              <a:srgbClr val="7A88A8"/>
            </a:solidFill>
            <a:prstDash val="solid"/>
          </a:ln>
        </p:spPr>
      </p:sp>
      <p:sp>
        <p:nvSpPr>
          <p:cNvPr id="5" name="Text 3"/>
          <p:cNvSpPr/>
          <p:nvPr/>
        </p:nvSpPr>
        <p:spPr>
          <a:xfrm>
            <a:off x="853440" y="1767840"/>
            <a:ext cx="4389120" cy="1463040"/>
          </a:xfrm>
          <a:prstGeom prst="rect">
            <a:avLst/>
          </a:prstGeom>
          <a:noFill/>
          <a:ln/>
        </p:spPr>
        <p:txBody>
          <a:bodyPr wrap="square" lIns="0" tIns="0" rIns="0" bIns="0" rtlCol="0" anchor="ctr"/>
          <a:lstStyle/>
          <a:p>
            <a:pPr algn="ctr" indent="0" marL="0">
              <a:buNone/>
            </a:pPr>
            <a:r>
              <a:rPr lang="en-US" sz="1400" i="1" dirty="0">
                <a:solidFill>
                  <a:srgbClr val="0E1C42"/>
                </a:solidFill>
                <a:latin typeface="Cambria" pitchFamily="34" charset="0"/>
                <a:ea typeface="Cambria" pitchFamily="34" charset="-122"/>
                <a:cs typeface="Cambria" pitchFamily="34" charset="-120"/>
              </a:rPr>
              <a:t>"Signing up to help clean a park on Saturday"</a:t>
            </a:r>
            <a:endParaRPr lang="en-US" sz="1400" dirty="0"/>
          </a:p>
        </p:txBody>
      </p:sp>
      <p:sp>
        <p:nvSpPr>
          <p:cNvPr id="6" name="Shape 4"/>
          <p:cNvSpPr/>
          <p:nvPr/>
        </p:nvSpPr>
        <p:spPr>
          <a:xfrm>
            <a:off x="5913120" y="1584960"/>
            <a:ext cx="5303520" cy="3657600"/>
          </a:xfrm>
          <a:prstGeom prst="roundRect">
            <a:avLst>
              <a:gd name="adj" fmla="val 4000"/>
            </a:avLst>
          </a:prstGeom>
          <a:solidFill>
            <a:srgbClr val="F0E8FF"/>
          </a:solidFill>
          <a:ln/>
        </p:spPr>
      </p:sp>
      <p:sp>
        <p:nvSpPr>
          <p:cNvPr id="7" name="Text 5"/>
          <p:cNvSpPr/>
          <p:nvPr/>
        </p:nvSpPr>
        <p:spPr>
          <a:xfrm>
            <a:off x="6156960" y="1731264"/>
            <a:ext cx="4815840" cy="341376"/>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TEACHER THINK-ALOUD</a:t>
            </a:r>
            <a:endParaRPr lang="en-US" sz="1000" dirty="0"/>
          </a:p>
        </p:txBody>
      </p:sp>
      <p:sp>
        <p:nvSpPr>
          <p:cNvPr id="8" name="Text 6"/>
          <p:cNvSpPr/>
          <p:nvPr/>
        </p:nvSpPr>
        <p:spPr>
          <a:xfrm>
            <a:off x="6156960" y="2133600"/>
            <a:ext cx="4815840" cy="298704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"I ask myself: did someone make this person do it, or did they choose? No one signed them up -- they signed themselves up. That's the root volunt- -- willing. So this action is Volunteerism."</a:t>
            </a:r>
            <a:endParaRPr lang="en-US" sz="1300" dirty="0"/>
          </a:p>
        </p:txBody>
      </p:sp>
      <p:sp>
        <p:nvSpPr>
          <p:cNvPr id="9" name="Text 7"/>
          <p:cNvSpPr/>
          <p:nvPr/>
        </p:nvSpPr>
        <p:spPr>
          <a:xfrm>
            <a:off x="609600" y="3657600"/>
            <a:ext cx="4876800" cy="853440"/>
          </a:xfrm>
          <a:prstGeom prst="rect">
            <a:avLst/>
          </a:prstGeom>
          <a:noFill/>
          <a:ln/>
        </p:spPr>
        <p:txBody>
          <a:bodyPr wrap="square" lIns="0" tIns="0" rIns="0" bIns="0" rtlCol="0" anchor="ctr"/>
          <a:lstStyle/>
          <a:p>
            <a:pPr algn="ctr" indent="0" marL="0">
              <a:buNone/>
            </a:pPr>
            <a:r>
              <a:rPr lang="en-US" sz="1300" b="1" dirty="0">
                <a:solidFill>
                  <a:srgbClr val="1A8A7D"/>
                </a:solidFill>
                <a:latin typeface="Calibri" pitchFamily="34" charset="0"/>
                <a:ea typeface="Calibri" pitchFamily="34" charset="-122"/>
                <a:cs typeface="Calibri" pitchFamily="34" charset="-120"/>
              </a:rPr>
              <a:t>Answer: Volunteerism -- no one asked, but they chose.</a:t>
            </a:r>
            <a:endParaRPr lang="en-US" sz="1300" dirty="0"/>
          </a:p>
        </p:txBody>
      </p:sp>
      <p:sp>
        <p:nvSpPr>
          <p:cNvPr id="10" name="Text 8"/>
          <p:cNvSpPr/>
          <p:nvPr/>
        </p:nvSpPr>
        <p:spPr>
          <a:xfrm>
            <a:off x="609600" y="5486400"/>
            <a:ext cx="10607040" cy="48768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Watch how I sort this one before you try it yourselves.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Sort These Two As a Class</a:t>
            </a:r>
            <a:endParaRPr lang="en-US" sz="2700" dirty="0"/>
          </a:p>
        </p:txBody>
      </p:sp>
      <p:sp>
        <p:nvSpPr>
          <p:cNvPr id="4" name="Shape 2"/>
          <p:cNvSpPr/>
          <p:nvPr/>
        </p:nvSpPr>
        <p:spPr>
          <a:xfrm>
            <a:off x="609600" y="1645920"/>
            <a:ext cx="5242560" cy="1402080"/>
          </a:xfrm>
          <a:prstGeom prst="roundRect">
            <a:avLst>
              <a:gd name="adj" fmla="val 8696"/>
            </a:avLst>
          </a:prstGeom>
          <a:solidFill>
            <a:srgbClr val="EAF8FD"/>
          </a:solidFill>
          <a:ln/>
        </p:spPr>
      </p:sp>
      <p:sp>
        <p:nvSpPr>
          <p:cNvPr id="5" name="Text 3"/>
          <p:cNvSpPr/>
          <p:nvPr/>
        </p:nvSpPr>
        <p:spPr>
          <a:xfrm>
            <a:off x="853440" y="1767840"/>
            <a:ext cx="4754880" cy="1158240"/>
          </a:xfrm>
          <a:prstGeom prst="rect">
            <a:avLst/>
          </a:prstGeom>
          <a:noFill/>
          <a:ln/>
        </p:spPr>
        <p:txBody>
          <a:bodyPr wrap="square" lIns="0" tIns="0" rIns="0" bIns="0" rtlCol="0" anchor="ctr"/>
          <a:lstStyle/>
          <a:p>
            <a:pPr algn="ctr" indent="0" marL="0">
              <a:buNone/>
            </a:pPr>
            <a:r>
              <a:rPr lang="en-US" sz="1300" i="1" dirty="0">
                <a:solidFill>
                  <a:srgbClr val="0E1C42"/>
                </a:solidFill>
                <a:latin typeface="Cambria" pitchFamily="34" charset="0"/>
                <a:ea typeface="Cambria" pitchFamily="34" charset="-122"/>
                <a:cs typeface="Cambria" pitchFamily="34" charset="-120"/>
              </a:rPr>
              <a:t>"Passing the ball so your teammate can score"</a:t>
            </a:r>
            <a:endParaRPr lang="en-US" sz="1300" dirty="0"/>
          </a:p>
        </p:txBody>
      </p:sp>
      <p:sp>
        <p:nvSpPr>
          <p:cNvPr id="6" name="Shape 4"/>
          <p:cNvSpPr/>
          <p:nvPr/>
        </p:nvSpPr>
        <p:spPr>
          <a:xfrm>
            <a:off x="609600" y="3230880"/>
            <a:ext cx="5242560" cy="1402080"/>
          </a:xfrm>
          <a:prstGeom prst="roundRect">
            <a:avLst>
              <a:gd name="adj" fmla="val 8696"/>
            </a:avLst>
          </a:prstGeom>
          <a:solidFill>
            <a:srgbClr val="EAF8FD"/>
          </a:solidFill>
          <a:ln/>
        </p:spPr>
      </p:sp>
      <p:sp>
        <p:nvSpPr>
          <p:cNvPr id="7" name="Text 5"/>
          <p:cNvSpPr/>
          <p:nvPr/>
        </p:nvSpPr>
        <p:spPr>
          <a:xfrm>
            <a:off x="853440" y="3352800"/>
            <a:ext cx="4754880" cy="1158240"/>
          </a:xfrm>
          <a:prstGeom prst="rect">
            <a:avLst/>
          </a:prstGeom>
          <a:noFill/>
          <a:ln/>
        </p:spPr>
        <p:txBody>
          <a:bodyPr wrap="square" lIns="0" tIns="0" rIns="0" bIns="0" rtlCol="0" anchor="ctr"/>
          <a:lstStyle/>
          <a:p>
            <a:pPr algn="ctr" indent="0" marL="0">
              <a:buNone/>
            </a:pPr>
            <a:r>
              <a:rPr lang="en-US" sz="1300" i="1" dirty="0">
                <a:solidFill>
                  <a:srgbClr val="0E1C42"/>
                </a:solidFill>
                <a:latin typeface="Cambria" pitchFamily="34" charset="0"/>
                <a:ea typeface="Cambria" pitchFamily="34" charset="-122"/>
                <a:cs typeface="Cambria" pitchFamily="34" charset="-120"/>
              </a:rPr>
              <a:t>"Listening when someone disagrees with you"</a:t>
            </a:r>
            <a:endParaRPr lang="en-US" sz="1300" dirty="0"/>
          </a:p>
        </p:txBody>
      </p:sp>
      <p:sp>
        <p:nvSpPr>
          <p:cNvPr id="8" name="Shape 6"/>
          <p:cNvSpPr/>
          <p:nvPr/>
        </p:nvSpPr>
        <p:spPr>
          <a:xfrm>
            <a:off x="5913120" y="1645920"/>
            <a:ext cx="4937760" cy="3718560"/>
          </a:xfrm>
          <a:prstGeom prst="roundRect">
            <a:avLst>
              <a:gd name="adj" fmla="val 491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156960" y="1767840"/>
            <a:ext cx="44500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156960" y="2109216"/>
            <a:ext cx="4450080" cy="31333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person working with someone, or talking with someone?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Are they doing an unasked task, or being respectful in conversation?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plaque fits each card, and how do you know?</a:t>
            </a:r>
            <a:endParaRPr lang="en-US" sz="1100" dirty="0"/>
          </a:p>
        </p:txBody>
      </p:sp>
      <p:sp>
        <p:nvSpPr>
          <p:cNvPr id="11" name="Text 9"/>
          <p:cNvSpPr/>
          <p:nvPr/>
        </p:nvSpPr>
        <p:spPr>
          <a:xfrm>
            <a:off x="609600" y="5547360"/>
            <a:ext cx="10607040" cy="42672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Whole class: raise your answer in chat before we reveal.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Now Try These On Your Own</a:t>
            </a:r>
            <a:endParaRPr lang="en-US" sz="2700" dirty="0"/>
          </a:p>
        </p:txBody>
      </p:sp>
      <p:sp>
        <p:nvSpPr>
          <p:cNvPr id="4" name="Text 2"/>
          <p:cNvSpPr/>
          <p:nvPr/>
        </p:nvSpPr>
        <p:spPr>
          <a:xfrm>
            <a:off x="609600" y="1584960"/>
            <a:ext cx="5730240" cy="37795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"Returning a library book by its due date"</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"Feeding the dog every morning without being told"</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"Reading to younger kids at the library"</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"Splitting up the work on a group project so it's fair"</a:t>
            </a:r>
            <a:endParaRPr lang="en-US" sz="1300" dirty="0"/>
          </a:p>
        </p:txBody>
      </p:sp>
      <p:sp>
        <p:nvSpPr>
          <p:cNvPr id="5" name="Shape 3"/>
          <p:cNvSpPr/>
          <p:nvPr/>
        </p:nvSpPr>
        <p:spPr>
          <a:xfrm>
            <a:off x="6583680" y="1584960"/>
            <a:ext cx="4632960" cy="3779520"/>
          </a:xfrm>
          <a:prstGeom prst="roundRect">
            <a:avLst>
              <a:gd name="adj" fmla="val 3871"/>
            </a:avLst>
          </a:prstGeom>
          <a:solidFill>
            <a:srgbClr val="FFF3DC"/>
          </a:solidFill>
          <a:ln/>
        </p:spPr>
      </p:sp>
      <p:sp>
        <p:nvSpPr>
          <p:cNvPr id="6" name="Text 4"/>
          <p:cNvSpPr/>
          <p:nvPr/>
        </p:nvSpPr>
        <p:spPr>
          <a:xfrm>
            <a:off x="6827520" y="1731264"/>
            <a:ext cx="4145280" cy="341376"/>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YOUR CHECKLIST</a:t>
            </a:r>
            <a:endParaRPr lang="en-US" sz="1000" dirty="0"/>
          </a:p>
        </p:txBody>
      </p:sp>
      <p:sp>
        <p:nvSpPr>
          <p:cNvPr id="7" name="Text 5"/>
          <p:cNvSpPr/>
          <p:nvPr/>
        </p:nvSpPr>
        <p:spPr>
          <a:xfrm>
            <a:off x="6827520" y="2133600"/>
            <a:ext cx="4145280" cy="31089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Ask yourself for each one: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1. Was this chosen, or expected/promised?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2. Is it about talking (civility), teamwork (cooperation), unasked help (volunteerism), or a kept promise (responsibility)?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 Type your answer and reason in chat.</a:t>
            </a:r>
            <a:endParaRPr lang="en-US" sz="1200" dirty="0"/>
          </a:p>
        </p:txBody>
      </p:sp>
      <p:sp>
        <p:nvSpPr>
          <p:cNvPr id="8" name="Text 6"/>
          <p:cNvSpPr/>
          <p:nvPr/>
        </p:nvSpPr>
        <p:spPr>
          <a:xfrm>
            <a:off x="609600" y="5547360"/>
            <a:ext cx="10607040" cy="42672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Type all four answers in chat before we check together.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Mistake in Sam's Thinking</a:t>
            </a:r>
            <a:endParaRPr lang="en-US" sz="2700" dirty="0"/>
          </a:p>
        </p:txBody>
      </p:sp>
      <p:sp>
        <p:nvSpPr>
          <p:cNvPr id="4" name="Shape 2"/>
          <p:cNvSpPr/>
          <p:nvPr/>
        </p:nvSpPr>
        <p:spPr>
          <a:xfrm>
            <a:off x="609600" y="1584960"/>
            <a:ext cx="10607040" cy="1645920"/>
          </a:xfrm>
          <a:prstGeom prst="roundRect">
            <a:avLst>
              <a:gd name="adj" fmla="val 8889"/>
            </a:avLst>
          </a:prstGeom>
          <a:solidFill>
            <a:srgbClr val="FDEBEC"/>
          </a:solidFill>
          <a:ln w="19050">
            <a:solidFill>
              <a:srgbClr val="E8636B"/>
            </a:solidFill>
            <a:prstDash val="solid"/>
          </a:ln>
        </p:spPr>
      </p:sp>
      <p:sp>
        <p:nvSpPr>
          <p:cNvPr id="5" name="Text 3"/>
          <p:cNvSpPr/>
          <p:nvPr/>
        </p:nvSpPr>
        <p:spPr>
          <a:xfrm>
            <a:off x="914400" y="1767840"/>
            <a:ext cx="9997440" cy="1280160"/>
          </a:xfrm>
          <a:prstGeom prst="rect">
            <a:avLst/>
          </a:prstGeom>
          <a:noFill/>
          <a:ln/>
        </p:spPr>
        <p:txBody>
          <a:bodyPr wrap="square" lIns="0" tIns="0" rIns="0" bIns="0" rtlCol="0" anchor="ctr"/>
          <a:lstStyle/>
          <a:p>
            <a:pPr algn="ctr" indent="0" marL="0">
              <a:buNone/>
            </a:pPr>
            <a:r>
              <a:rPr lang="en-US" sz="1400" i="1" dirty="0">
                <a:solidFill>
                  <a:srgbClr val="0E1C42"/>
                </a:solidFill>
                <a:latin typeface="Cambria" pitchFamily="34" charset="0"/>
                <a:ea typeface="Cambria" pitchFamily="34" charset="-122"/>
                <a:cs typeface="Cambria" pitchFamily="34" charset="-120"/>
              </a:rPr>
              <a:t>Sam says: "Feeding the dog every morning is volunteerism, because I don't get paid to do it."</a:t>
            </a:r>
            <a:endParaRPr lang="en-US" sz="1400" dirty="0"/>
          </a:p>
        </p:txBody>
      </p:sp>
      <p:sp>
        <p:nvSpPr>
          <p:cNvPr id="6" name="Shape 4"/>
          <p:cNvSpPr/>
          <p:nvPr/>
        </p:nvSpPr>
        <p:spPr>
          <a:xfrm>
            <a:off x="609600" y="3474720"/>
            <a:ext cx="10607040" cy="219456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59664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938016"/>
            <a:ext cx="10119360" cy="16093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Not getting paid is true of both volunteerism AND responsibility -- so what's the real test?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Sam CHOOSE this once, or did Sam PROMISE to do it every 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difference between volunteerism and being told to help someone?</a:t>
            </a:r>
            <a:endParaRPr lang="en-US" sz="1100" dirty="0"/>
          </a:p>
        </p:txBody>
      </p:sp>
      <p:sp>
        <p:nvSpPr>
          <p:cNvPr id="9" name="Text 7"/>
          <p:cNvSpPr/>
          <p:nvPr/>
        </p:nvSpPr>
        <p:spPr>
          <a:xfrm>
            <a:off x="609600" y="5791200"/>
            <a:ext cx="10607040" cy="42672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Type in chat: what should Sam say instead, and why?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See What Stuck</a:t>
            </a:r>
            <a:endParaRPr lang="en-US" sz="2700" dirty="0"/>
          </a:p>
        </p:txBody>
      </p:sp>
      <p:sp>
        <p:nvSpPr>
          <p:cNvPr id="4" name="Text 2"/>
          <p:cNvSpPr/>
          <p:nvPr/>
        </p:nvSpPr>
        <p:spPr>
          <a:xfrm>
            <a:off x="609600" y="1584960"/>
            <a:ext cx="10607040" cy="10363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1. What is a civic virtue?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A feeling you have once in a while.  B) A habit a citizen practices on purpose to help the community.  C) A rule the government makes you obey.</a:t>
            </a:r>
            <a:endParaRPr lang="en-US" sz="1200" dirty="0"/>
          </a:p>
        </p:txBody>
      </p:sp>
      <p:sp>
        <p:nvSpPr>
          <p:cNvPr id="5" name="Text 3"/>
          <p:cNvSpPr/>
          <p:nvPr/>
        </p:nvSpPr>
        <p:spPr>
          <a:xfrm>
            <a:off x="609600" y="2499360"/>
            <a:ext cx="10607040" cy="36576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Answer: B -- virtues are habits, built by choosing the same good action over and over.</a:t>
            </a:r>
            <a:endParaRPr lang="en-US" sz="1150" dirty="0"/>
          </a:p>
        </p:txBody>
      </p:sp>
      <p:sp>
        <p:nvSpPr>
          <p:cNvPr id="6" name="Text 4"/>
          <p:cNvSpPr/>
          <p:nvPr/>
        </p:nvSpPr>
        <p:spPr>
          <a:xfrm>
            <a:off x="609600" y="2987040"/>
            <a:ext cx="10607040" cy="8534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2. Which virtue best matches: "signing up to clean up the park even though no one asked"?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Volunteerism.  B) Civility.  C) Responsibility.</a:t>
            </a:r>
            <a:endParaRPr lang="en-US" sz="1200" dirty="0"/>
          </a:p>
        </p:txBody>
      </p:sp>
      <p:sp>
        <p:nvSpPr>
          <p:cNvPr id="7" name="Text 5"/>
          <p:cNvSpPr/>
          <p:nvPr/>
        </p:nvSpPr>
        <p:spPr>
          <a:xfrm>
            <a:off x="609600" y="3779520"/>
            <a:ext cx="10607040" cy="36576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Answer: A -- no one asked, but you chose. That's volunteerism, from the root volunt- = "willing."</a:t>
            </a:r>
            <a:endParaRPr lang="en-US" sz="1150" dirty="0"/>
          </a:p>
        </p:txBody>
      </p:sp>
      <p:sp>
        <p:nvSpPr>
          <p:cNvPr id="8" name="Text 6"/>
          <p:cNvSpPr/>
          <p:nvPr/>
        </p:nvSpPr>
        <p:spPr>
          <a:xfrm>
            <a:off x="609600" y="4267200"/>
            <a:ext cx="10607040" cy="10363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3. What is civility?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Always agreeing with whoever is loudest.  B) Pretending you don't have an opinion.  C) Treating people in public with respect -- especially the ones you disagree with.</a:t>
            </a:r>
            <a:endParaRPr lang="en-US" sz="1200" dirty="0"/>
          </a:p>
        </p:txBody>
      </p:sp>
      <p:sp>
        <p:nvSpPr>
          <p:cNvPr id="9" name="Text 7"/>
          <p:cNvSpPr/>
          <p:nvPr/>
        </p:nvSpPr>
        <p:spPr>
          <a:xfrm>
            <a:off x="609600" y="5303520"/>
            <a:ext cx="10607040" cy="36576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Answer: C -- civility isn't agreement. It's respect, even when you disagree.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EVIDENCE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You'll Turn In</a:t>
            </a:r>
            <a:endParaRPr lang="en-US" sz="2700" dirty="0"/>
          </a:p>
        </p:txBody>
      </p:sp>
      <p:sp>
        <p:nvSpPr>
          <p:cNvPr id="4" name="Text 2"/>
          <p:cNvSpPr/>
          <p:nvPr/>
        </p:nvSpPr>
        <p:spPr>
          <a:xfrm>
            <a:off x="609600" y="1524000"/>
            <a:ext cx="10607040" cy="3657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Evidence Questions -- answer using details from the lesson:</a:t>
            </a:r>
            <a:endParaRPr lang="en-US" sz="1300" dirty="0"/>
          </a:p>
        </p:txBody>
      </p:sp>
      <p:sp>
        <p:nvSpPr>
          <p:cNvPr id="5" name="Text 3"/>
          <p:cNvSpPr/>
          <p:nvPr/>
        </p:nvSpPr>
        <p:spPr>
          <a:xfrm>
            <a:off x="609600" y="1950720"/>
            <a:ext cx="10607040" cy="18288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1. Name the four civic virtues, and in one short sentence, say what each one means.</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2. What's the difference between volunteerism and being told to help someone?</a:t>
            </a: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3. Pick one civic virtue and describe a real action a 3rd grader could do to practice it this week.</a:t>
            </a:r>
            <a:endParaRPr lang="en-US" sz="1250" dirty="0"/>
          </a:p>
        </p:txBody>
      </p:sp>
      <p:sp>
        <p:nvSpPr>
          <p:cNvPr id="6" name="Shape 4"/>
          <p:cNvSpPr/>
          <p:nvPr/>
        </p:nvSpPr>
        <p:spPr>
          <a:xfrm>
            <a:off x="609600" y="3901440"/>
            <a:ext cx="10607040" cy="2438400"/>
          </a:xfrm>
          <a:prstGeom prst="roundRect">
            <a:avLst>
              <a:gd name="adj" fmla="val 6000"/>
            </a:avLst>
          </a:prstGeom>
          <a:solidFill>
            <a:srgbClr val="FFF3DC"/>
          </a:solidFill>
          <a:ln w="19050">
            <a:solidFill>
              <a:srgbClr val="D4943A"/>
            </a:solidFill>
            <a:prstDash val="solid"/>
          </a:ln>
        </p:spPr>
      </p:sp>
      <p:sp>
        <p:nvSpPr>
          <p:cNvPr id="7" name="Text 5"/>
          <p:cNvSpPr/>
          <p:nvPr/>
        </p:nvSpPr>
        <p:spPr>
          <a:xfrm>
            <a:off x="853440" y="4047744"/>
            <a:ext cx="10119360" cy="341376"/>
          </a:xfrm>
          <a:prstGeom prst="rect">
            <a:avLst/>
          </a:prstGeom>
          <a:noFill/>
          <a:ln/>
        </p:spPr>
        <p:txBody>
          <a:bodyPr wrap="square" lIns="0" tIns="0" rIns="0" bIns="0" rtlCol="0" anchor="ctr"/>
          <a:lstStyle/>
          <a:p>
            <a:pPr indent="0" marL="0">
              <a:buNone/>
            </a:pPr>
            <a:r>
              <a:rPr lang="en-US" sz="1000" b="1" spc="120" kern="0" dirty="0">
                <a:solidFill>
                  <a:srgbClr val="D4943A"/>
                </a:solidFill>
                <a:latin typeface="Calibri" pitchFamily="34" charset="0"/>
                <a:ea typeface="Calibri" pitchFamily="34" charset="-122"/>
                <a:cs typeface="Calibri" pitchFamily="34" charset="-120"/>
              </a:rPr>
              <a:t>CURATOR TASK: PLACE THE PLAQUES</a:t>
            </a:r>
            <a:endParaRPr lang="en-US" sz="1000" dirty="0"/>
          </a:p>
        </p:txBody>
      </p:sp>
      <p:sp>
        <p:nvSpPr>
          <p:cNvPr id="8" name="Text 6"/>
          <p:cNvSpPr/>
          <p:nvPr/>
        </p:nvSpPr>
        <p:spPr>
          <a:xfrm>
            <a:off x="853440" y="4413504"/>
            <a:ext cx="10119360" cy="182880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You're the Civic Curator. The four bronze plaques are ready, but visitors only have time to read one carefully before they leave the hall. Pick the one virtue you think your community needs most right now. Write a notebook entry -- 3 to 5 sentences -- naming the virtue, explaining what it means, and describing one way real people in your community could practice it.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CURATOR'S CHRONICLE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One Sentence to Capture Today</a:t>
            </a:r>
            <a:endParaRPr lang="en-US" sz="2700" dirty="0"/>
          </a:p>
        </p:txBody>
      </p:sp>
      <p:sp>
        <p:nvSpPr>
          <p:cNvPr id="4" name="Shape 2"/>
          <p:cNvSpPr/>
          <p:nvPr/>
        </p:nvSpPr>
        <p:spPr>
          <a:xfrm>
            <a:off x="853440" y="1828800"/>
            <a:ext cx="10119360" cy="2438400"/>
          </a:xfrm>
          <a:prstGeom prst="roundRect">
            <a:avLst>
              <a:gd name="adj" fmla="val 7500"/>
            </a:avLst>
          </a:prstGeom>
          <a:solidFill>
            <a:srgbClr val="F0E8FF"/>
          </a:solidFill>
          <a:ln w="19050">
            <a:solidFill>
              <a:srgbClr val="8B6FC0"/>
            </a:solidFill>
            <a:prstDash val="dash"/>
          </a:ln>
        </p:spPr>
      </p:sp>
      <p:sp>
        <p:nvSpPr>
          <p:cNvPr id="5" name="Text 3"/>
          <p:cNvSpPr/>
          <p:nvPr/>
        </p:nvSpPr>
        <p:spPr>
          <a:xfrm>
            <a:off x="1219200" y="2133600"/>
            <a:ext cx="9387840" cy="487680"/>
          </a:xfrm>
          <a:prstGeom prst="rect">
            <a:avLst/>
          </a:prstGeom>
          <a:noFill/>
          <a:ln/>
        </p:spPr>
        <p:txBody>
          <a:bodyPr wrap="square" lIns="0" tIns="0" rIns="0" bIns="0" rtlCol="0" anchor="ctr"/>
          <a:lstStyle/>
          <a:p>
            <a:pPr algn="ctr" indent="0" marL="0">
              <a:buNone/>
            </a:pPr>
            <a:r>
              <a:rPr lang="en-US" sz="1300" dirty="0">
                <a:solidFill>
                  <a:srgbClr val="0E1C42"/>
                </a:solidFill>
                <a:latin typeface="Calibri" pitchFamily="34" charset="0"/>
                <a:ea typeface="Calibri" pitchFamily="34" charset="-122"/>
                <a:cs typeface="Calibri" pitchFamily="34" charset="-120"/>
              </a:rPr>
              <a:t>Finish this sentence in your own words:</a:t>
            </a:r>
            <a:endParaRPr lang="en-US" sz="1300" dirty="0"/>
          </a:p>
        </p:txBody>
      </p:sp>
      <p:sp>
        <p:nvSpPr>
          <p:cNvPr id="6" name="Text 4"/>
          <p:cNvSpPr/>
          <p:nvPr/>
        </p:nvSpPr>
        <p:spPr>
          <a:xfrm>
            <a:off x="1219200" y="2743200"/>
            <a:ext cx="9387840" cy="1097280"/>
          </a:xfrm>
          <a:prstGeom prst="rect">
            <a:avLst/>
          </a:prstGeom>
          <a:noFill/>
          <a:ln/>
        </p:spPr>
        <p:txBody>
          <a:bodyPr wrap="square" lIns="0" tIns="0" rIns="0" bIns="0" rtlCol="0" anchor="ctr"/>
          <a:lstStyle/>
          <a:p>
            <a:pPr algn="ctr" indent="0" marL="0">
              <a:buNone/>
            </a:pPr>
            <a:r>
              <a:rPr lang="en-US" sz="2000" b="1" i="1" dirty="0">
                <a:solidFill>
                  <a:srgbClr val="8B6FC0"/>
                </a:solidFill>
                <a:latin typeface="Cambria" pitchFamily="34" charset="0"/>
                <a:ea typeface="Cambria" pitchFamily="34" charset="-122"/>
                <a:cs typeface="Cambria" pitchFamily="34" charset="-120"/>
              </a:rPr>
              <a:t>"In this exhibit, I learned that ______ because ______."</a:t>
            </a:r>
            <a:endParaRPr lang="en-US" sz="2000" dirty="0"/>
          </a:p>
        </p:txBody>
      </p:sp>
      <p:sp>
        <p:nvSpPr>
          <p:cNvPr id="7" name="Shape 5"/>
          <p:cNvSpPr/>
          <p:nvPr/>
        </p:nvSpPr>
        <p:spPr>
          <a:xfrm>
            <a:off x="1828800" y="4572000"/>
            <a:ext cx="8168640" cy="1645920"/>
          </a:xfrm>
          <a:prstGeom prst="roundRect">
            <a:avLst>
              <a:gd name="adj" fmla="val 8889"/>
            </a:avLst>
          </a:prstGeom>
          <a:solidFill>
            <a:srgbClr val="FFF3DC"/>
          </a:solidFill>
          <a:ln w="19050">
            <a:solidFill>
              <a:srgbClr val="F5E6C8"/>
            </a:solidFill>
            <a:prstDash val="solid"/>
          </a:ln>
        </p:spPr>
      </p:sp>
      <p:sp>
        <p:nvSpPr>
          <p:cNvPr id="8" name="Text 6"/>
          <p:cNvSpPr/>
          <p:nvPr/>
        </p:nvSpPr>
        <p:spPr>
          <a:xfrm>
            <a:off x="2011680" y="4645152"/>
            <a:ext cx="78028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2011680" y="4913376"/>
            <a:ext cx="780288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CLOSING · WRAP-UP</a:t>
            </a:r>
            <a:endParaRPr lang="en-US" sz="1100" dirty="0"/>
          </a:p>
        </p:txBody>
      </p:sp>
      <p:sp>
        <p:nvSpPr>
          <p:cNvPr id="6" name="Text 3"/>
          <p:cNvSpPr/>
          <p:nvPr/>
        </p:nvSpPr>
        <p:spPr>
          <a:xfrm>
            <a:off x="975360" y="1402080"/>
            <a:ext cx="9753600" cy="670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Plaques Are Up</a:t>
            </a:r>
            <a:endParaRPr lang="en-US" sz="2600" dirty="0"/>
          </a:p>
        </p:txBody>
      </p:sp>
      <p:sp>
        <p:nvSpPr>
          <p:cNvPr id="7" name="Text 4"/>
          <p:cNvSpPr/>
          <p:nvPr/>
        </p:nvSpPr>
        <p:spPr>
          <a:xfrm>
            <a:off x="1219200" y="2255520"/>
            <a:ext cx="9387840" cy="1036320"/>
          </a:xfrm>
          <a:prstGeom prst="rect">
            <a:avLst/>
          </a:prstGeom>
          <a:noFill/>
          <a:ln/>
        </p:spPr>
        <p:txBody>
          <a:bodyPr wrap="square" lIns="0" tIns="0" rIns="0" bIns="0" rtlCol="0" anchor="t"/>
          <a:lstStyle/>
          <a:p>
            <a:pPr algn="ctr" indent="0" marL="0">
              <a:buNone/>
            </a:pPr>
            <a:r>
              <a:rPr lang="en-US" sz="1400" b="1" dirty="0">
                <a:solidFill>
                  <a:srgbClr val="D4943A"/>
                </a:solidFill>
                <a:latin typeface="Calibri" pitchFamily="34" charset="0"/>
                <a:ea typeface="Calibri" pitchFamily="34" charset="-122"/>
                <a:cs typeface="Calibri" pitchFamily="34" charset="-120"/>
              </a:rPr>
              <a:t>Civility. Cooperation. Volunteerism. Responsibility. These aren't feelings -- they're habits, and 3rd graders are fully qualified to practice every single one.</a:t>
            </a:r>
            <a:endParaRPr lang="en-US" sz="1400" dirty="0"/>
          </a:p>
        </p:txBody>
      </p:sp>
      <p:sp>
        <p:nvSpPr>
          <p:cNvPr id="8" name="Text 5"/>
          <p:cNvSpPr/>
          <p:nvPr/>
        </p:nvSpPr>
        <p:spPr>
          <a:xfrm>
            <a:off x="1219200" y="3474720"/>
            <a:ext cx="9387840" cy="2804160"/>
          </a:xfrm>
          <a:prstGeom prst="rect">
            <a:avLst/>
          </a:prstGeom>
          <a:noFill/>
          <a:ln/>
        </p:spPr>
        <p:txBody>
          <a:bodyPr wrap="square" lIns="0" tIns="0" rIns="0" bIns="0" rtlCol="0" anchor="t"/>
          <a:lstStyle/>
          <a:p>
            <a:pPr algn="ctr" indent="0" marL="0">
              <a:buNone/>
            </a:pPr>
            <a:r>
              <a:rPr lang="en-US" sz="1250" dirty="0">
                <a:solidFill>
                  <a:srgbClr val="EAF8FD"/>
                </a:solidFill>
                <a:latin typeface="Calibri" pitchFamily="34" charset="0"/>
                <a:ea typeface="Calibri" pitchFamily="34" charset="-122"/>
                <a:cs typeface="Calibri" pitchFamily="34" charset="-120"/>
              </a:rPr>
              <a:t>Coming Up Next: The very last lesson of Citizenship Hall arrives next time. The museum lights will dim, and a single spotlight will land on the center pedestal, where a brand-new exhibit waits: a small case holding a folded U.S. flag, a bronze bell, a marble bust, a famous document, and a tiny model of the Statue of Liberty. Visitors will only see one thing if they don't have time for the rest. Which one do we put front and center? And the Citizen Curator badge will be waiting.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2026-07-11T19:27:07Z</dcterms:created>
  <dcterms:modified xsi:type="dcterms:W3CDTF">2026-07-11T19:27:07Z</dcterms:modified>
</cp:coreProperties>
</file>