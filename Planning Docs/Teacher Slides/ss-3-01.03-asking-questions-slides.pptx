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Display as students join. Read the director's quote aloud slowly. Let it hang. Say: 'Today you will find out why.' Do not explain anything yet.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MUSEUM MEMO &amp; OBJECTIVES
Read the Museum Memo. Show the image. Ask: 'If you were the director, why make that rule? Why not just write what you think?' Take 2-3 chat responses. Build mystery — don't answer. Say: 'Today you'll earn the right to write labels.'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CLUE BOX
5 SECONDS SILENCE first. Then: 'Use the chat frame. Pick one object. I notice... or I wonder...' Harvest 3-4 responses. Deepen with Socratic questions. Goal: build curiosity before teaching anything.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VIRTUE: SERVICE
Read the definition. Ask: 'Can you think of a time rushing made something worse for someone else?' Connect: 'Every question you ask today is an act of service to museum visitors.' ~90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WORD ROOT DISCOVERY
DO NOT say 'quaer' yet. Let students notice. Ask: 'Look at the first few letters. What sounds repeat?' Then: 'If a quest is a journey to find something... what journey does a question take you on?' Let them discover it. ~2 min before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WORD ROOT REVEAL
Reveal: 'You were right — they all come from the Latin quaer, to ask or to seek.' Celebrate. Ask: 'So a historian who asks questions is really on a...?' (quest) 'A careful search for answers is called...?' (inquiry)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BRIDGE
Quick retrieval: 'Thumbs up in chat if you remember what primary source means.' Then: 'Knowing the type is step one — but it doesn't tell you WHAT to write on the label. Today we learn five questions that get you from source type to a complete, honest label.'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COMPASS ARRIVES
Let students look at the compass. Ask: 'What's the first thing you'd want to know?' Take responses. Then: 'All your questions fall into five categories — five types curators always ask. We're going to discover each one.' Build suspense.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DISCOVER OBSERVATION
DO NOT name 'Observation' yet. Let students describe freely. After chat: 'Were you explaining or just describing? What's the difference?' Then: 'What do we call it when you look carefully and describe without explaining?' Students will land on 'observation.' Confirm it.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Q1 NAMED / Q2 CONTEXT
Celebrate: 'You named it — Observation!' Then: 'Look at this map. If the compass is from 1850, what was happening then?' Let students connect. Don't name 'Context' yet. 'What do we call knowing when and where something comes from?'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ALL FIVE REVEALED
Point to each card: 'You discovered Observation and Context. Here are the other three: Evidence = how do I know it's true? Connection = how does this link to what I know? Significance = why does this matter?' Pause on each. 'Which surprises you? Which seems hardest?'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ORDER MATTERS
Ask: 'What could go wrong if you went straight from looking at the compass to saying WHY it matters?' Key insight: you might tell the wrong story. The five questions have a natural order for a reason.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RETRIEVAL CHALLENGE
Actually ask students to cover their screens for 5 seconds and name the five types. Then look at chat responses. 'I see most people got Observation and Significance. Who got all five in order?' Review together.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TEACHER MODEL
Think aloud while writing. Emphasize: 'I'm asking about what I can SEE — not what I think, not why it matters. Just observable details.' Ask: 'Can you tell why this is Observation and not Context?'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WE TRY TOGETHER
Ask class to type Context and Evidence questions in chat. Read several aloud. Ask: 'Is this really asking about WHEN/WHERE? Or did it slip into something else?' For Evidence: 'Does this question ask for PROOF? Or is it asking about appearance?'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YOUR TURN WITH SUPPORT
Students write both questions in chat. Ask: 'Is the Connection question linking to something you've already studied? Or asking about the object itself?' And: 'Did you save Significance for last? Why?'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ERROR ANALYSIS
Don't reveal mistakes immediately. 'Read all five. Something doesn't match. Which types did the student mix up?' Key: Q1 asks 'why' = Significance, Q2 asks 'what I notice' = Observation, Q4 asks 'why care' = Significance, Q5 asks 'connects to' = Connection. Only Q3 is correct.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THE TRICKY ONE
This is intentionally ambiguous — it touches Context (1800s navigation), Evidence (what does it tell us = is there proof), AND Connection (how explorers navigated = prior knowledge). Celebrate disagreement: 'You're both right — this is what makes inquiry interesting. Real curators debate these too.'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ASSIGNMENT
Read both evidence questions. Model starting one: 'I'd name Observation and Evidence — Observation helps me describe carefully, Evidence helps me check if something is true.' Show the Curator Task — all five question types, same compass we practiced with all lesson. Read Curator's Chronicle frame.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CLOSING
Celebrate: 'You now know the five questions every curator asks — Observation, Context, Evidence, Connection, and Significance. That is the skill of a real historian-citizen.' Tease: 'Next time we visit the Research Desk — where sources can't all be trusted. You'll need today's skills to figure out which ones to use.' Under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57200"/>
          </a:xfrm>
          <a:prstGeom prst="rect">
            <a:avLst/>
          </a:prstGeom>
          <a:solidFill>
            <a:srgbClr val="1A2D5A"/>
          </a:solidFill>
          <a:ln w="12700">
            <a:solidFill>
              <a:srgbClr val="1A2D5A"/>
            </a:solidFill>
            <a:prstDash val="solid"/>
          </a:ln>
        </p:spPr>
      </p:sp>
      <p:sp>
        <p:nvSpPr>
          <p:cNvPr id="5" name="Text 3"/>
          <p:cNvSpPr/>
          <p:nvPr/>
        </p:nvSpPr>
        <p:spPr>
          <a:xfrm>
            <a:off x="274320" y="91440"/>
            <a:ext cx="8595360" cy="274320"/>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CURATOR TRAINING HALL  ·  LESSON 3.01.03  ·  GRADE 3 SOCIAL STUDIES</a:t>
            </a:r>
            <a:endParaRPr lang="en-US" sz="1000" dirty="0"/>
          </a:p>
        </p:txBody>
      </p:sp>
      <p:sp>
        <p:nvSpPr>
          <p:cNvPr id="6" name="Text 4"/>
          <p:cNvSpPr/>
          <p:nvPr/>
        </p:nvSpPr>
        <p:spPr>
          <a:xfrm>
            <a:off x="731520" y="685800"/>
            <a:ext cx="7680960" cy="18288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Asking Questions</a:t>
            </a:r>
            <a:endParaRPr lang="en-US" sz="4200" dirty="0"/>
          </a:p>
          <a:p>
            <a:pPr algn="ctr" indent="0" marL="0">
              <a:buNone/>
            </a:pPr>
            <a:r>
              <a:rPr lang="en-US" sz="4200" b="1" dirty="0">
                <a:solidFill>
                  <a:srgbClr val="FFFFFF"/>
                </a:solidFill>
                <a:latin typeface="Cambria" pitchFamily="34" charset="0"/>
                <a:ea typeface="Cambria" pitchFamily="34" charset="-122"/>
                <a:cs typeface="Cambria" pitchFamily="34" charset="-120"/>
              </a:rPr>
              <a:t>Like a Historian-Citizen</a:t>
            </a:r>
            <a:endParaRPr lang="en-US" sz="4200" dirty="0"/>
          </a:p>
        </p:txBody>
      </p:sp>
      <p:sp>
        <p:nvSpPr>
          <p:cNvPr id="7" name="Shape 5"/>
          <p:cNvSpPr/>
          <p:nvPr/>
        </p:nvSpPr>
        <p:spPr>
          <a:xfrm>
            <a:off x="3200400" y="2423160"/>
            <a:ext cx="2743200" cy="54864"/>
          </a:xfrm>
          <a:prstGeom prst="rect">
            <a:avLst/>
          </a:prstGeom>
          <a:solidFill>
            <a:srgbClr val="D4943A"/>
          </a:solidFill>
          <a:ln w="12700">
            <a:solidFill>
              <a:srgbClr val="D4943A"/>
            </a:solidFill>
            <a:prstDash val="solid"/>
          </a:ln>
        </p:spPr>
      </p:sp>
      <p:sp>
        <p:nvSpPr>
          <p:cNvPr id="8" name="Text 6"/>
          <p:cNvSpPr/>
          <p:nvPr/>
        </p:nvSpPr>
        <p:spPr>
          <a:xfrm>
            <a:off x="457200" y="2560320"/>
            <a:ext cx="8229600" cy="292608"/>
          </a:xfrm>
          <a:prstGeom prst="rect">
            <a:avLst/>
          </a:prstGeom>
          <a:noFill/>
          <a:ln/>
        </p:spPr>
        <p:txBody>
          <a:bodyPr wrap="square" lIns="0" tIns="0" rIns="0" bIns="0" rtlCol="0" anchor="ctr"/>
          <a:lstStyle/>
          <a:p>
            <a:pPr algn="ctr" indent="0" marL="0">
              <a:buNone/>
            </a:pPr>
            <a:r>
              <a:rPr lang="en-US" sz="1000" spc="200" kern="0" dirty="0">
                <a:solidFill>
                  <a:srgbClr val="7A88A8"/>
                </a:solidFill>
                <a:latin typeface="Calibri" pitchFamily="34" charset="0"/>
                <a:ea typeface="Calibri" pitchFamily="34" charset="-122"/>
                <a:cs typeface="Calibri" pitchFamily="34" charset="-120"/>
              </a:rPr>
              <a:t>Q1 WEEK 2  ·  SS.3.A.1.1 · SS.3.A.1.2 · SS.3.A.1.3</a:t>
            </a:r>
            <a:endParaRPr lang="en-US" sz="1000" dirty="0"/>
          </a:p>
        </p:txBody>
      </p:sp>
      <p:sp>
        <p:nvSpPr>
          <p:cNvPr id="9" name="Shape 7"/>
          <p:cNvSpPr/>
          <p:nvPr/>
        </p:nvSpPr>
        <p:spPr>
          <a:xfrm>
            <a:off x="2103120" y="2971800"/>
            <a:ext cx="4937760" cy="822960"/>
          </a:xfrm>
          <a:prstGeom prst="roundRect">
            <a:avLst>
              <a:gd name="adj" fmla="val 11111"/>
            </a:avLst>
          </a:prstGeom>
          <a:solidFill>
            <a:srgbClr val="1A2D5A"/>
          </a:solidFill>
          <a:ln w="12700">
            <a:solidFill>
              <a:srgbClr val="3A5080"/>
            </a:solidFill>
            <a:prstDash val="solid"/>
          </a:ln>
        </p:spPr>
      </p:sp>
      <p:sp>
        <p:nvSpPr>
          <p:cNvPr id="10" name="Text 8"/>
          <p:cNvSpPr/>
          <p:nvPr/>
        </p:nvSpPr>
        <p:spPr>
          <a:xfrm>
            <a:off x="2286000" y="3063240"/>
            <a:ext cx="4572000" cy="640080"/>
          </a:xfrm>
          <a:prstGeom prst="rect">
            <a:avLst/>
          </a:prstGeom>
          <a:noFill/>
          <a:ln/>
        </p:spPr>
        <p:txBody>
          <a:bodyPr wrap="square" lIns="0" tIns="0" rIns="0" bIns="0" rtlCol="0" anchor="ctr"/>
          <a:lstStyle/>
          <a:p>
            <a:pPr algn="ctr" indent="0" marL="0">
              <a:buNone/>
            </a:pPr>
            <a:r>
              <a:rPr lang="en-US" sz="1400" i="1" dirty="0">
                <a:solidFill>
                  <a:srgbClr val="D4943A"/>
                </a:solidFill>
                <a:latin typeface="Cambria" pitchFamily="34" charset="0"/>
                <a:ea typeface="Cambria" pitchFamily="34" charset="-122"/>
                <a:cs typeface="Cambria" pitchFamily="34" charset="-120"/>
              </a:rPr>
              <a:t>"No label gets written until the right questions have been asked."</a:t>
            </a:r>
            <a:endParaRPr lang="en-US" sz="1400" dirty="0"/>
          </a:p>
        </p:txBody>
      </p:sp>
      <p:sp>
        <p:nvSpPr>
          <p:cNvPr id="11" name="Text 9"/>
          <p:cNvSpPr/>
          <p:nvPr/>
        </p:nvSpPr>
        <p:spPr>
          <a:xfrm>
            <a:off x="457200" y="3886200"/>
            <a:ext cx="8229600" cy="2743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 Museum Director</a:t>
            </a:r>
            <a:endParaRPr lang="en-US" sz="1100" dirty="0"/>
          </a:p>
        </p:txBody>
      </p:sp>
      <p:sp>
        <p:nvSpPr>
          <p:cNvPr id="12" name="Text 10"/>
          <p:cNvSpPr/>
          <p:nvPr/>
        </p:nvSpPr>
        <p:spPr>
          <a:xfrm>
            <a:off x="457200" y="4526280"/>
            <a:ext cx="8229600" cy="274320"/>
          </a:xfrm>
          <a:prstGeom prst="rect">
            <a:avLst/>
          </a:prstGeom>
          <a:noFill/>
          <a:ln/>
        </p:spPr>
        <p:txBody>
          <a:bodyPr wrap="square" lIns="0" tIns="0" rIns="0" bIns="0" rtlCol="0" anchor="ctr"/>
          <a:lstStyle/>
          <a:p>
            <a:pPr algn="ctr" indent="0" marL="0">
              <a:buNone/>
            </a:pPr>
            <a:r>
              <a:rPr lang="en-US" sz="900" dirty="0">
                <a:solidFill>
                  <a:srgbClr val="3A5080"/>
                </a:solidFill>
                <a:latin typeface="Calibri" pitchFamily="34" charset="0"/>
                <a:ea typeface="Calibri" pitchFamily="34" charset="-122"/>
                <a:cs typeface="Calibri" pitchFamily="34" charset="-120"/>
              </a:rPr>
              <a:t>Optima Academy Online  ·  Junior Curator Program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ENTER THE SCENE  ·  CURATOR TRAINING HALL</a:t>
            </a:r>
            <a:endParaRPr lang="en-US" sz="1000" dirty="0"/>
          </a:p>
        </p:txBody>
      </p:sp>
      <p:sp>
        <p:nvSpPr>
          <p:cNvPr id="4" name="Shape 2"/>
          <p:cNvSpPr/>
          <p:nvPr/>
        </p:nvSpPr>
        <p:spPr>
          <a:xfrm>
            <a:off x="365760" y="548640"/>
            <a:ext cx="5029200" cy="1325880"/>
          </a:xfrm>
          <a:prstGeom prst="roundRect">
            <a:avLst>
              <a:gd name="adj" fmla="val 6897"/>
            </a:avLst>
          </a:prstGeom>
          <a:solidFill>
            <a:srgbClr val="EAF8FD"/>
          </a:solidFill>
          <a:ln w="19050">
            <a:solidFill>
              <a:srgbClr val="55C8E8"/>
            </a:solidFill>
            <a:prstDash val="solid"/>
          </a:ln>
        </p:spPr>
      </p:sp>
      <p:sp>
        <p:nvSpPr>
          <p:cNvPr id="5" name="Text 3"/>
          <p:cNvSpPr/>
          <p:nvPr/>
        </p:nvSpPr>
        <p:spPr>
          <a:xfrm>
            <a:off x="548640" y="621792"/>
            <a:ext cx="4663440"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MUSEUM MEMO</a:t>
            </a:r>
            <a:endParaRPr lang="en-US" sz="900" dirty="0"/>
          </a:p>
        </p:txBody>
      </p:sp>
      <p:sp>
        <p:nvSpPr>
          <p:cNvPr id="6" name="Text 4"/>
          <p:cNvSpPr/>
          <p:nvPr/>
        </p:nvSpPr>
        <p:spPr>
          <a:xfrm>
            <a:off x="548640" y="877824"/>
            <a:ext cx="4663440" cy="9144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museum director has placed an unlabeled exhibit case in the Curator Training Hall. No one may write a label until they've asked the right questions. Good curators observe, wonder, and ask carefully before drawing conclusions.</a:t>
            </a:r>
            <a:endParaRPr lang="en-US" sz="1200" dirty="0"/>
          </a:p>
        </p:txBody>
      </p:sp>
      <p:sp>
        <p:nvSpPr>
          <p:cNvPr id="7" name="Shape 5"/>
          <p:cNvSpPr/>
          <p:nvPr/>
        </p:nvSpPr>
        <p:spPr>
          <a:xfrm>
            <a:off x="5303520" y="502920"/>
            <a:ext cx="3383280" cy="2286000"/>
          </a:xfrm>
          <a:prstGeom prst="roundRect">
            <a:avLst>
              <a:gd name="adj" fmla="val 4800"/>
            </a:avLst>
          </a:prstGeom>
          <a:solidFill>
            <a:srgbClr val="E2E8F4"/>
          </a:solidFill>
          <a:ln w="19050">
            <a:solidFill>
              <a:srgbClr val="B0B8CC"/>
            </a:solidFill>
            <a:prstDash val="dash"/>
          </a:ln>
        </p:spPr>
      </p:sp>
      <p:sp>
        <p:nvSpPr>
          <p:cNvPr id="8" name="Text 6"/>
          <p:cNvSpPr/>
          <p:nvPr/>
        </p:nvSpPr>
        <p:spPr>
          <a:xfrm>
            <a:off x="5303520" y="502920"/>
            <a:ext cx="33832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440680" y="777240"/>
            <a:ext cx="310896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Glass exhibit case spotlit on dark background — objects inside but no label visible — museum setting</a:t>
            </a:r>
            <a:endParaRPr lang="en-US" sz="1100" dirty="0"/>
          </a:p>
        </p:txBody>
      </p:sp>
      <p:sp>
        <p:nvSpPr>
          <p:cNvPr id="10" name="Shape 8"/>
          <p:cNvSpPr/>
          <p:nvPr/>
        </p:nvSpPr>
        <p:spPr>
          <a:xfrm>
            <a:off x="365760" y="1993392"/>
            <a:ext cx="5029200" cy="685800"/>
          </a:xfrm>
          <a:prstGeom prst="roundRect">
            <a:avLst>
              <a:gd name="adj" fmla="val 13333"/>
            </a:avLst>
          </a:prstGeom>
          <a:solidFill>
            <a:srgbClr val="F0F2F8"/>
          </a:solidFill>
          <a:ln w="12700">
            <a:solidFill>
              <a:srgbClr val="B0B8CC"/>
            </a:solidFill>
            <a:prstDash val="solid"/>
          </a:ln>
        </p:spPr>
      </p:sp>
      <p:sp>
        <p:nvSpPr>
          <p:cNvPr id="11" name="Text 9"/>
          <p:cNvSpPr/>
          <p:nvPr/>
        </p:nvSpPr>
        <p:spPr>
          <a:xfrm>
            <a:off x="548640" y="2048256"/>
            <a:ext cx="4663440" cy="201168"/>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TODAY'S BIG QUESTION</a:t>
            </a:r>
            <a:endParaRPr lang="en-US" sz="900" dirty="0"/>
          </a:p>
        </p:txBody>
      </p:sp>
      <p:sp>
        <p:nvSpPr>
          <p:cNvPr id="12" name="Text 10"/>
          <p:cNvSpPr/>
          <p:nvPr/>
        </p:nvSpPr>
        <p:spPr>
          <a:xfrm>
            <a:off x="548640" y="2249424"/>
            <a:ext cx="4663440" cy="384048"/>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What kinds of questions do historian-citizens ask — and why must we ask before we label?</a:t>
            </a:r>
            <a:endParaRPr lang="en-US" sz="1300" dirty="0"/>
          </a:p>
        </p:txBody>
      </p:sp>
      <p:sp>
        <p:nvSpPr>
          <p:cNvPr id="13" name="Text 11"/>
          <p:cNvSpPr/>
          <p:nvPr/>
        </p:nvSpPr>
        <p:spPr>
          <a:xfrm>
            <a:off x="457200" y="2834640"/>
            <a:ext cx="822960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YOUR ROLE TODAY</a:t>
            </a:r>
            <a:endParaRPr lang="en-US" sz="1000" dirty="0"/>
          </a:p>
        </p:txBody>
      </p:sp>
      <p:sp>
        <p:nvSpPr>
          <p:cNvPr id="14" name="Shape 12"/>
          <p:cNvSpPr/>
          <p:nvPr/>
        </p:nvSpPr>
        <p:spPr>
          <a:xfrm>
            <a:off x="365760" y="3154680"/>
            <a:ext cx="2606040" cy="1371600"/>
          </a:xfrm>
          <a:prstGeom prst="roundRect">
            <a:avLst>
              <a:gd name="adj" fmla="val 6667"/>
            </a:avLst>
          </a:prstGeom>
          <a:solidFill>
            <a:srgbClr val="F0F2F8"/>
          </a:solidFill>
          <a:ln w="12700">
            <a:solidFill>
              <a:srgbClr val="B0B8CC"/>
            </a:solidFill>
            <a:prstDash val="solid"/>
          </a:ln>
        </p:spPr>
      </p:sp>
      <p:sp>
        <p:nvSpPr>
          <p:cNvPr id="15" name="Text 13"/>
          <p:cNvSpPr/>
          <p:nvPr/>
        </p:nvSpPr>
        <p:spPr>
          <a:xfrm>
            <a:off x="502920" y="3246120"/>
            <a:ext cx="2331720" cy="1188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can name five types of questions historian-citizens ask.</a:t>
            </a:r>
            <a:endParaRPr lang="en-US" sz="1200" dirty="0"/>
          </a:p>
        </p:txBody>
      </p:sp>
      <p:sp>
        <p:nvSpPr>
          <p:cNvPr id="16" name="Shape 14"/>
          <p:cNvSpPr/>
          <p:nvPr/>
        </p:nvSpPr>
        <p:spPr>
          <a:xfrm>
            <a:off x="3200400" y="3154680"/>
            <a:ext cx="2606040" cy="1371600"/>
          </a:xfrm>
          <a:prstGeom prst="roundRect">
            <a:avLst>
              <a:gd name="adj" fmla="val 6667"/>
            </a:avLst>
          </a:prstGeom>
          <a:solidFill>
            <a:srgbClr val="F0F2F8"/>
          </a:solidFill>
          <a:ln w="12700">
            <a:solidFill>
              <a:srgbClr val="B0B8CC"/>
            </a:solidFill>
            <a:prstDash val="solid"/>
          </a:ln>
        </p:spPr>
      </p:sp>
      <p:sp>
        <p:nvSpPr>
          <p:cNvPr id="17" name="Text 15"/>
          <p:cNvSpPr/>
          <p:nvPr/>
        </p:nvSpPr>
        <p:spPr>
          <a:xfrm>
            <a:off x="3337560" y="3246120"/>
            <a:ext cx="2331720" cy="1188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can explain why asking questions comes before writing labels.</a:t>
            </a:r>
            <a:endParaRPr lang="en-US" sz="1200" dirty="0"/>
          </a:p>
        </p:txBody>
      </p:sp>
      <p:sp>
        <p:nvSpPr>
          <p:cNvPr id="18" name="Shape 16"/>
          <p:cNvSpPr/>
          <p:nvPr/>
        </p:nvSpPr>
        <p:spPr>
          <a:xfrm>
            <a:off x="6035040" y="3154680"/>
            <a:ext cx="2606040" cy="1371600"/>
          </a:xfrm>
          <a:prstGeom prst="roundRect">
            <a:avLst>
              <a:gd name="adj" fmla="val 6667"/>
            </a:avLst>
          </a:prstGeom>
          <a:solidFill>
            <a:srgbClr val="F0F2F8"/>
          </a:solidFill>
          <a:ln w="12700">
            <a:solidFill>
              <a:srgbClr val="B0B8CC"/>
            </a:solidFill>
            <a:prstDash val="solid"/>
          </a:ln>
        </p:spPr>
      </p:sp>
      <p:sp>
        <p:nvSpPr>
          <p:cNvPr id="19" name="Text 17"/>
          <p:cNvSpPr/>
          <p:nvPr/>
        </p:nvSpPr>
        <p:spPr>
          <a:xfrm>
            <a:off x="6172200" y="3246120"/>
            <a:ext cx="2331720" cy="1188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can write my own historian-citizen questions about an exhibit object.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CLUE BOX  ·  OBSERVE CAREFULLY — NO LABELS, NO CLUES</a:t>
            </a:r>
            <a:endParaRPr lang="en-US" sz="1000" dirty="0"/>
          </a:p>
        </p:txBody>
      </p:sp>
      <p:sp>
        <p:nvSpPr>
          <p:cNvPr id="4" name="Text 2"/>
          <p:cNvSpPr/>
          <p:nvPr/>
        </p:nvSpPr>
        <p:spPr>
          <a:xfrm>
            <a:off x="365760" y="548640"/>
            <a:ext cx="475488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Look at these objects.</a:t>
            </a:r>
            <a:endParaRPr lang="en-US" sz="2600" dirty="0"/>
          </a:p>
        </p:txBody>
      </p:sp>
      <p:sp>
        <p:nvSpPr>
          <p:cNvPr id="5" name="Text 3"/>
          <p:cNvSpPr/>
          <p:nvPr/>
        </p:nvSpPr>
        <p:spPr>
          <a:xfrm>
            <a:off x="365760" y="960120"/>
            <a:ext cx="4754880" cy="347472"/>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No labels. No clues. Just objects.</a:t>
            </a:r>
            <a:endParaRPr lang="en-US" sz="1500" dirty="0"/>
          </a:p>
        </p:txBody>
      </p:sp>
      <p:sp>
        <p:nvSpPr>
          <p:cNvPr id="6" name="Shape 4"/>
          <p:cNvSpPr/>
          <p:nvPr/>
        </p:nvSpPr>
        <p:spPr>
          <a:xfrm>
            <a:off x="365760" y="1371600"/>
            <a:ext cx="4572000" cy="2560320"/>
          </a:xfrm>
          <a:prstGeom prst="roundRect">
            <a:avLst>
              <a:gd name="adj" fmla="val 4286"/>
            </a:avLst>
          </a:prstGeom>
          <a:solidFill>
            <a:srgbClr val="E2E8F4"/>
          </a:solidFill>
          <a:ln w="19050">
            <a:solidFill>
              <a:srgbClr val="B0B8CC"/>
            </a:solidFill>
            <a:prstDash val="dash"/>
          </a:ln>
        </p:spPr>
      </p:sp>
      <p:sp>
        <p:nvSpPr>
          <p:cNvPr id="7" name="Text 5"/>
          <p:cNvSpPr/>
          <p:nvPr/>
        </p:nvSpPr>
        <p:spPr>
          <a:xfrm>
            <a:off x="365760" y="1371600"/>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645920"/>
            <a:ext cx="429768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Three mystery objects in exhibit case: old compass, folded letter with wax seal, worn leather journal — no labels — softly lit</a:t>
            </a:r>
            <a:endParaRPr lang="en-US" sz="1100" dirty="0"/>
          </a:p>
        </p:txBody>
      </p:sp>
      <p:sp>
        <p:nvSpPr>
          <p:cNvPr id="9" name="Shape 7"/>
          <p:cNvSpPr/>
          <p:nvPr/>
        </p:nvSpPr>
        <p:spPr>
          <a:xfrm>
            <a:off x="5212080" y="502920"/>
            <a:ext cx="3474720" cy="1554480"/>
          </a:xfrm>
          <a:prstGeom prst="roundRect">
            <a:avLst>
              <a:gd name="adj" fmla="val 7059"/>
            </a:avLst>
          </a:prstGeom>
          <a:solidFill>
            <a:srgbClr val="FFF3DC"/>
          </a:solidFill>
          <a:ln w="19050">
            <a:solidFill>
              <a:srgbClr val="F5E6C8"/>
            </a:solidFill>
            <a:prstDash val="solid"/>
          </a:ln>
        </p:spPr>
      </p:sp>
      <p:sp>
        <p:nvSpPr>
          <p:cNvPr id="10" name="Text 8"/>
          <p:cNvSpPr/>
          <p:nvPr/>
        </p:nvSpPr>
        <p:spPr>
          <a:xfrm>
            <a:off x="5349240" y="557784"/>
            <a:ext cx="32004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349240" y="758952"/>
            <a:ext cx="3200400" cy="1234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have a question about..."</a:t>
            </a:r>
            <a:endParaRPr lang="en-US" sz="1200" dirty="0"/>
          </a:p>
        </p:txBody>
      </p:sp>
      <p:sp>
        <p:nvSpPr>
          <p:cNvPr id="12" name="Shape 10"/>
          <p:cNvSpPr/>
          <p:nvPr/>
        </p:nvSpPr>
        <p:spPr>
          <a:xfrm>
            <a:off x="5212080" y="2176272"/>
            <a:ext cx="3474720" cy="1783080"/>
          </a:xfrm>
          <a:prstGeom prst="roundRect">
            <a:avLst>
              <a:gd name="adj" fmla="val 7692"/>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394960" y="2267712"/>
            <a:ext cx="31089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394960" y="2523744"/>
            <a:ext cx="3108960" cy="13441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detail catches your eye first?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need to know before writing a label?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write an honest label right now? Why or why not?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11480"/>
          </a:xfrm>
          <a:prstGeom prst="rect">
            <a:avLst/>
          </a:prstGeom>
          <a:solidFill>
            <a:srgbClr val="1A2D5A"/>
          </a:solidFill>
          <a:ln w="12700">
            <a:solidFill>
              <a:srgbClr val="1A2D5A"/>
            </a:solidFill>
            <a:prstDash val="solid"/>
          </a:ln>
        </p:spPr>
      </p:sp>
      <p:sp>
        <p:nvSpPr>
          <p:cNvPr id="5" name="Text 3"/>
          <p:cNvSpPr/>
          <p:nvPr/>
        </p:nvSpPr>
        <p:spPr>
          <a:xfrm>
            <a:off x="274320" y="73152"/>
            <a:ext cx="8595360" cy="292608"/>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6" name="Text 4"/>
          <p:cNvSpPr/>
          <p:nvPr/>
        </p:nvSpPr>
        <p:spPr>
          <a:xfrm>
            <a:off x="457200" y="548640"/>
            <a:ext cx="8229600" cy="960120"/>
          </a:xfrm>
          <a:prstGeom prst="rect">
            <a:avLst/>
          </a:prstGeom>
          <a:noFill/>
          <a:ln/>
        </p:spPr>
        <p:txBody>
          <a:bodyPr wrap="square" lIns="0" tIns="0" rIns="0" bIns="0" rtlCol="0" anchor="ctr"/>
          <a:lstStyle/>
          <a:p>
            <a:pPr algn="ctr" indent="0" marL="0">
              <a:buNone/>
            </a:pPr>
            <a:r>
              <a:rPr lang="en-US" sz="5600" b="1" dirty="0">
                <a:solidFill>
                  <a:srgbClr val="D4943A"/>
                </a:solidFill>
                <a:latin typeface="Cambria" pitchFamily="34" charset="0"/>
                <a:ea typeface="Cambria" pitchFamily="34" charset="-122"/>
                <a:cs typeface="Cambria" pitchFamily="34" charset="-120"/>
              </a:rPr>
              <a:t>Service</a:t>
            </a:r>
            <a:endParaRPr lang="en-US" sz="5600" dirty="0"/>
          </a:p>
        </p:txBody>
      </p:sp>
      <p:sp>
        <p:nvSpPr>
          <p:cNvPr id="7" name="Shape 5"/>
          <p:cNvSpPr/>
          <p:nvPr/>
        </p:nvSpPr>
        <p:spPr>
          <a:xfrm>
            <a:off x="2743200" y="1417320"/>
            <a:ext cx="3657600" cy="54864"/>
          </a:xfrm>
          <a:prstGeom prst="rect">
            <a:avLst/>
          </a:prstGeom>
          <a:solidFill>
            <a:srgbClr val="D4943A"/>
          </a:solidFill>
          <a:ln w="12700">
            <a:solidFill>
              <a:srgbClr val="D4943A"/>
            </a:solidFill>
            <a:prstDash val="solid"/>
          </a:ln>
        </p:spPr>
      </p:sp>
      <p:sp>
        <p:nvSpPr>
          <p:cNvPr id="8" name="Shape 6"/>
          <p:cNvSpPr/>
          <p:nvPr/>
        </p:nvSpPr>
        <p:spPr>
          <a:xfrm>
            <a:off x="914400" y="1600200"/>
            <a:ext cx="7315200" cy="1371600"/>
          </a:xfrm>
          <a:prstGeom prst="roundRect">
            <a:avLst>
              <a:gd name="adj" fmla="val 800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1097280" y="1737360"/>
            <a:ext cx="694944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Curators serve museum visitors by making exhibits accurate and clear. When you ask careful questions before writing a label, you're serving the people who will read it. Rushing leads to mistakes — patience is a form of service.</a:t>
            </a:r>
            <a:endParaRPr lang="en-US" sz="1500" dirty="0"/>
          </a:p>
        </p:txBody>
      </p:sp>
      <p:sp>
        <p:nvSpPr>
          <p:cNvPr id="10" name="Shape 8"/>
          <p:cNvSpPr/>
          <p:nvPr/>
        </p:nvSpPr>
        <p:spPr>
          <a:xfrm>
            <a:off x="1371600" y="3108960"/>
            <a:ext cx="6400800" cy="1417320"/>
          </a:xfrm>
          <a:prstGeom prst="roundRect">
            <a:avLst>
              <a:gd name="adj" fmla="val 7742"/>
            </a:avLst>
          </a:prstGeom>
          <a:solidFill>
            <a:srgbClr val="FFF3DC"/>
          </a:solidFill>
          <a:ln w="19050">
            <a:solidFill>
              <a:srgbClr val="F5E6C8"/>
            </a:solidFill>
            <a:prstDash val="solid"/>
          </a:ln>
        </p:spPr>
      </p:sp>
      <p:sp>
        <p:nvSpPr>
          <p:cNvPr id="11" name="Text 9"/>
          <p:cNvSpPr/>
          <p:nvPr/>
        </p:nvSpPr>
        <p:spPr>
          <a:xfrm>
            <a:off x="1508760" y="3163824"/>
            <a:ext cx="6126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1508760" y="3364992"/>
            <a:ext cx="61264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show service when I..."</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"Asking questions is a form of service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WORD ROOT INVESTIGATION  ·  FIND THE CONNECTION</a:t>
            </a:r>
            <a:endParaRPr lang="en-US" sz="1000" dirty="0"/>
          </a:p>
        </p:txBody>
      </p:sp>
      <p:sp>
        <p:nvSpPr>
          <p:cNvPr id="4" name="Text 2"/>
          <p:cNvSpPr/>
          <p:nvPr/>
        </p:nvSpPr>
        <p:spPr>
          <a:xfrm>
            <a:off x="365760" y="548640"/>
            <a:ext cx="822960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These four words share a secret.</a:t>
            </a:r>
            <a:endParaRPr lang="en-US" sz="2600" dirty="0"/>
          </a:p>
        </p:txBody>
      </p:sp>
      <p:sp>
        <p:nvSpPr>
          <p:cNvPr id="5" name="Shape 3"/>
          <p:cNvSpPr/>
          <p:nvPr/>
        </p:nvSpPr>
        <p:spPr>
          <a:xfrm>
            <a:off x="365760" y="1188720"/>
            <a:ext cx="1920240" cy="914400"/>
          </a:xfrm>
          <a:prstGeom prst="roundRect">
            <a:avLst>
              <a:gd name="adj" fmla="val 12000"/>
            </a:avLst>
          </a:prstGeom>
          <a:solidFill>
            <a:srgbClr val="EAF8FD"/>
          </a:solidFill>
          <a:ln w="25400">
            <a:solidFill>
              <a:srgbClr val="55C8E8"/>
            </a:solidFill>
            <a:prstDash val="solid"/>
          </a:ln>
        </p:spPr>
      </p:sp>
      <p:sp>
        <p:nvSpPr>
          <p:cNvPr id="6" name="Text 4"/>
          <p:cNvSpPr/>
          <p:nvPr/>
        </p:nvSpPr>
        <p:spPr>
          <a:xfrm>
            <a:off x="365760" y="1261872"/>
            <a:ext cx="1920240" cy="73152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question</a:t>
            </a:r>
            <a:endParaRPr lang="en-US" sz="2000" dirty="0"/>
          </a:p>
        </p:txBody>
      </p:sp>
      <p:sp>
        <p:nvSpPr>
          <p:cNvPr id="7" name="Shape 5"/>
          <p:cNvSpPr/>
          <p:nvPr/>
        </p:nvSpPr>
        <p:spPr>
          <a:xfrm>
            <a:off x="2487168" y="1188720"/>
            <a:ext cx="1920240" cy="914400"/>
          </a:xfrm>
          <a:prstGeom prst="roundRect">
            <a:avLst>
              <a:gd name="adj" fmla="val 12000"/>
            </a:avLst>
          </a:prstGeom>
          <a:solidFill>
            <a:srgbClr val="F0E8FF"/>
          </a:solidFill>
          <a:ln w="25400">
            <a:solidFill>
              <a:srgbClr val="8B6FC0"/>
            </a:solidFill>
            <a:prstDash val="solid"/>
          </a:ln>
        </p:spPr>
      </p:sp>
      <p:sp>
        <p:nvSpPr>
          <p:cNvPr id="8" name="Text 6"/>
          <p:cNvSpPr/>
          <p:nvPr/>
        </p:nvSpPr>
        <p:spPr>
          <a:xfrm>
            <a:off x="2487168" y="1261872"/>
            <a:ext cx="1920240" cy="73152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inquiry</a:t>
            </a:r>
            <a:endParaRPr lang="en-US" sz="2000" dirty="0"/>
          </a:p>
        </p:txBody>
      </p:sp>
      <p:sp>
        <p:nvSpPr>
          <p:cNvPr id="9" name="Shape 7"/>
          <p:cNvSpPr/>
          <p:nvPr/>
        </p:nvSpPr>
        <p:spPr>
          <a:xfrm>
            <a:off x="4608576" y="1188720"/>
            <a:ext cx="1920240" cy="914400"/>
          </a:xfrm>
          <a:prstGeom prst="roundRect">
            <a:avLst>
              <a:gd name="adj" fmla="val 12000"/>
            </a:avLst>
          </a:prstGeom>
          <a:solidFill>
            <a:srgbClr val="E3F8ED"/>
          </a:solidFill>
          <a:ln w="25400">
            <a:solidFill>
              <a:srgbClr val="34B76F"/>
            </a:solidFill>
            <a:prstDash val="solid"/>
          </a:ln>
        </p:spPr>
      </p:sp>
      <p:sp>
        <p:nvSpPr>
          <p:cNvPr id="10" name="Text 8"/>
          <p:cNvSpPr/>
          <p:nvPr/>
        </p:nvSpPr>
        <p:spPr>
          <a:xfrm>
            <a:off x="4608576" y="1261872"/>
            <a:ext cx="1920240" cy="73152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query</a:t>
            </a:r>
            <a:endParaRPr lang="en-US" sz="2000" dirty="0"/>
          </a:p>
        </p:txBody>
      </p:sp>
      <p:sp>
        <p:nvSpPr>
          <p:cNvPr id="11" name="Shape 9"/>
          <p:cNvSpPr/>
          <p:nvPr/>
        </p:nvSpPr>
        <p:spPr>
          <a:xfrm>
            <a:off x="6729984" y="1188720"/>
            <a:ext cx="1920240" cy="914400"/>
          </a:xfrm>
          <a:prstGeom prst="roundRect">
            <a:avLst>
              <a:gd name="adj" fmla="val 12000"/>
            </a:avLst>
          </a:prstGeom>
          <a:solidFill>
            <a:srgbClr val="FFF3DC"/>
          </a:solidFill>
          <a:ln w="25400">
            <a:solidFill>
              <a:srgbClr val="D4943A"/>
            </a:solidFill>
            <a:prstDash val="solid"/>
          </a:ln>
        </p:spPr>
      </p:sp>
      <p:sp>
        <p:nvSpPr>
          <p:cNvPr id="12" name="Text 10"/>
          <p:cNvSpPr/>
          <p:nvPr/>
        </p:nvSpPr>
        <p:spPr>
          <a:xfrm>
            <a:off x="6729984" y="1261872"/>
            <a:ext cx="1920240" cy="73152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quest</a:t>
            </a:r>
            <a:endParaRPr lang="en-US" sz="2000" dirty="0"/>
          </a:p>
        </p:txBody>
      </p:sp>
      <p:sp>
        <p:nvSpPr>
          <p:cNvPr id="13" name="Shape 11"/>
          <p:cNvSpPr/>
          <p:nvPr/>
        </p:nvSpPr>
        <p:spPr>
          <a:xfrm>
            <a:off x="365760" y="2240280"/>
            <a:ext cx="8503920" cy="594360"/>
          </a:xfrm>
          <a:prstGeom prst="roundRect">
            <a:avLst>
              <a:gd name="adj" fmla="val 15385"/>
            </a:avLst>
          </a:prstGeom>
          <a:solidFill>
            <a:srgbClr val="F0F2F8"/>
          </a:solidFill>
          <a:ln w="12700">
            <a:solidFill>
              <a:srgbClr val="B0B8CC"/>
            </a:solidFill>
            <a:prstDash val="solid"/>
          </a:ln>
        </p:spPr>
      </p:sp>
      <p:sp>
        <p:nvSpPr>
          <p:cNvPr id="14" name="Text 12"/>
          <p:cNvSpPr/>
          <p:nvPr/>
        </p:nvSpPr>
        <p:spPr>
          <a:xfrm>
            <a:off x="548640" y="2304288"/>
            <a:ext cx="8229600" cy="47548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Look carefully at the beginnings and sounds of these words. What do they all have in common?</a:t>
            </a:r>
            <a:endParaRPr lang="en-US" sz="1400" dirty="0"/>
          </a:p>
        </p:txBody>
      </p:sp>
      <p:sp>
        <p:nvSpPr>
          <p:cNvPr id="15" name="Shape 13"/>
          <p:cNvSpPr/>
          <p:nvPr/>
        </p:nvSpPr>
        <p:spPr>
          <a:xfrm>
            <a:off x="365760" y="2971800"/>
            <a:ext cx="4114800" cy="1554480"/>
          </a:xfrm>
          <a:prstGeom prst="roundRect">
            <a:avLst>
              <a:gd name="adj" fmla="val 7059"/>
            </a:avLst>
          </a:prstGeom>
          <a:solidFill>
            <a:srgbClr val="FFF3DC"/>
          </a:solidFill>
          <a:ln w="19050">
            <a:solidFill>
              <a:srgbClr val="F5E6C8"/>
            </a:solidFill>
            <a:prstDash val="solid"/>
          </a:ln>
        </p:spPr>
      </p:sp>
      <p:sp>
        <p:nvSpPr>
          <p:cNvPr id="16" name="Text 14"/>
          <p:cNvSpPr/>
          <p:nvPr/>
        </p:nvSpPr>
        <p:spPr>
          <a:xfrm>
            <a:off x="502920" y="302666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3227832"/>
            <a:ext cx="3840480" cy="1234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"These words all seem to be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connection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letters they share are..."</a:t>
            </a:r>
            <a:endParaRPr lang="en-US" sz="1200" dirty="0"/>
          </a:p>
        </p:txBody>
      </p:sp>
      <p:sp>
        <p:nvSpPr>
          <p:cNvPr id="18" name="Shape 16"/>
          <p:cNvSpPr/>
          <p:nvPr/>
        </p:nvSpPr>
        <p:spPr>
          <a:xfrm>
            <a:off x="4663440" y="2971800"/>
            <a:ext cx="4206240" cy="1554480"/>
          </a:xfrm>
          <a:prstGeom prst="roundRect">
            <a:avLst>
              <a:gd name="adj" fmla="val 8824"/>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4846320" y="3063240"/>
            <a:ext cx="38404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4846320" y="3319272"/>
            <a:ext cx="3840480" cy="11155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letters or sounds keep repeating?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'quest' means a journey to find something, what might 'question'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you ask a question, what are you doing?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11480"/>
          </a:xfrm>
          <a:prstGeom prst="rect">
            <a:avLst/>
          </a:prstGeom>
          <a:solidFill>
            <a:srgbClr val="1A2D5A"/>
          </a:solidFill>
          <a:ln w="12700">
            <a:solidFill>
              <a:srgbClr val="1A2D5A"/>
            </a:solidFill>
            <a:prstDash val="solid"/>
          </a:ln>
        </p:spPr>
      </p:sp>
      <p:sp>
        <p:nvSpPr>
          <p:cNvPr id="5" name="Text 3"/>
          <p:cNvSpPr/>
          <p:nvPr/>
        </p:nvSpPr>
        <p:spPr>
          <a:xfrm>
            <a:off x="274320" y="73152"/>
            <a:ext cx="8595360" cy="292608"/>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WORD ROOT UNLOCKED</a:t>
            </a:r>
            <a:endParaRPr lang="en-US" sz="1000" dirty="0"/>
          </a:p>
        </p:txBody>
      </p:sp>
      <p:sp>
        <p:nvSpPr>
          <p:cNvPr id="6" name="Text 4"/>
          <p:cNvSpPr/>
          <p:nvPr/>
        </p:nvSpPr>
        <p:spPr>
          <a:xfrm>
            <a:off x="457200" y="548640"/>
            <a:ext cx="8229600" cy="621792"/>
          </a:xfrm>
          <a:prstGeom prst="rect">
            <a:avLst/>
          </a:prstGeom>
          <a:noFill/>
          <a:ln/>
        </p:spPr>
        <p:txBody>
          <a:bodyPr wrap="square" lIns="0" tIns="0" rIns="0" bIns="0" rtlCol="0" anchor="ctr"/>
          <a:lstStyle/>
          <a:p>
            <a:pPr algn="ctr" indent="0" marL="0">
              <a:buNone/>
            </a:pPr>
            <a:r>
              <a:rPr lang="en-US" sz="3600" b="1" dirty="0">
                <a:solidFill>
                  <a:srgbClr val="55C8E8"/>
                </a:solidFill>
                <a:latin typeface="Cambria" pitchFamily="34" charset="0"/>
                <a:ea typeface="Cambria" pitchFamily="34" charset="-122"/>
                <a:cs typeface="Cambria" pitchFamily="34" charset="-120"/>
              </a:rPr>
              <a:t>Latin Root:  quaer</a:t>
            </a:r>
            <a:endParaRPr lang="en-US" sz="3600" dirty="0"/>
          </a:p>
        </p:txBody>
      </p:sp>
      <p:sp>
        <p:nvSpPr>
          <p:cNvPr id="7" name="Text 5"/>
          <p:cNvSpPr/>
          <p:nvPr/>
        </p:nvSpPr>
        <p:spPr>
          <a:xfrm>
            <a:off x="457200" y="1115568"/>
            <a:ext cx="8229600" cy="438912"/>
          </a:xfrm>
          <a:prstGeom prst="rect">
            <a:avLst/>
          </a:prstGeom>
          <a:noFill/>
          <a:ln/>
        </p:spPr>
        <p:txBody>
          <a:bodyPr wrap="square" lIns="0" tIns="0" rIns="0" bIns="0" rtlCol="0" anchor="ctr"/>
          <a:lstStyle/>
          <a:p>
            <a:pPr algn="ctr" indent="0" marL="0">
              <a:buNone/>
            </a:pPr>
            <a:r>
              <a:rPr lang="en-US" sz="2000" i="1" dirty="0">
                <a:solidFill>
                  <a:srgbClr val="D4943A"/>
                </a:solidFill>
                <a:latin typeface="Cambria" pitchFamily="34" charset="0"/>
                <a:ea typeface="Cambria" pitchFamily="34" charset="-122"/>
                <a:cs typeface="Cambria" pitchFamily="34" charset="-120"/>
              </a:rPr>
              <a:t>"to ask"  ·  "to seek"</a:t>
            </a:r>
            <a:endParaRPr lang="en-US" sz="2000" dirty="0"/>
          </a:p>
        </p:txBody>
      </p:sp>
      <p:sp>
        <p:nvSpPr>
          <p:cNvPr id="8" name="Shape 6"/>
          <p:cNvSpPr/>
          <p:nvPr/>
        </p:nvSpPr>
        <p:spPr>
          <a:xfrm>
            <a:off x="274320" y="1691640"/>
            <a:ext cx="1965960" cy="1417320"/>
          </a:xfrm>
          <a:prstGeom prst="roundRect">
            <a:avLst>
              <a:gd name="adj" fmla="val 7742"/>
            </a:avLst>
          </a:prstGeom>
          <a:solidFill>
            <a:srgbClr val="1A2D5A"/>
          </a:solidFill>
          <a:ln/>
          <a:effectLst>
            <a:outerShdw sx="100000" sy="100000" kx="0" ky="0" algn="bl" rotWithShape="0" blurRad="63500" dist="25400" dir="8100000">
              <a:srgbClr val="000000">
                <a:alpha val="15000"/>
              </a:srgbClr>
            </a:outerShdw>
          </a:effectLst>
        </p:spPr>
      </p:sp>
      <p:sp>
        <p:nvSpPr>
          <p:cNvPr id="9" name="Text 7"/>
          <p:cNvSpPr/>
          <p:nvPr/>
        </p:nvSpPr>
        <p:spPr>
          <a:xfrm>
            <a:off x="274320" y="1764792"/>
            <a:ext cx="1965960" cy="475488"/>
          </a:xfrm>
          <a:prstGeom prst="rect">
            <a:avLst/>
          </a:prstGeom>
          <a:noFill/>
          <a:ln/>
        </p:spPr>
        <p:txBody>
          <a:bodyPr wrap="square" lIns="0" tIns="0" rIns="0" bIns="0" rtlCol="0" anchor="ctr"/>
          <a:lstStyle/>
          <a:p>
            <a:pPr algn="ctr" indent="0" marL="0">
              <a:buNone/>
            </a:pPr>
            <a:r>
              <a:rPr lang="en-US" sz="1800" b="1" dirty="0">
                <a:solidFill>
                  <a:srgbClr val="55C8E8"/>
                </a:solidFill>
                <a:latin typeface="Cambria" pitchFamily="34" charset="0"/>
                <a:ea typeface="Cambria" pitchFamily="34" charset="-122"/>
                <a:cs typeface="Cambria" pitchFamily="34" charset="-120"/>
              </a:rPr>
              <a:t>question</a:t>
            </a:r>
            <a:endParaRPr lang="en-US" sz="1800" dirty="0"/>
          </a:p>
        </p:txBody>
      </p:sp>
      <p:sp>
        <p:nvSpPr>
          <p:cNvPr id="10" name="Text 8"/>
          <p:cNvSpPr/>
          <p:nvPr/>
        </p:nvSpPr>
        <p:spPr>
          <a:xfrm>
            <a:off x="347472" y="2240280"/>
            <a:ext cx="1819656" cy="7772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something you ask</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to learn more</a:t>
            </a:r>
            <a:endParaRPr lang="en-US" sz="1100" dirty="0"/>
          </a:p>
        </p:txBody>
      </p:sp>
      <p:sp>
        <p:nvSpPr>
          <p:cNvPr id="11" name="Shape 9"/>
          <p:cNvSpPr/>
          <p:nvPr/>
        </p:nvSpPr>
        <p:spPr>
          <a:xfrm>
            <a:off x="2450592" y="1691640"/>
            <a:ext cx="1965960" cy="1417320"/>
          </a:xfrm>
          <a:prstGeom prst="roundRect">
            <a:avLst>
              <a:gd name="adj" fmla="val 7742"/>
            </a:avLst>
          </a:prstGeom>
          <a:solidFill>
            <a:srgbClr val="1A2D5A"/>
          </a:solidFill>
          <a:ln/>
          <a:effectLst>
            <a:outerShdw sx="100000" sy="100000" kx="0" ky="0" algn="bl" rotWithShape="0" blurRad="63500" dist="25400" dir="8100000">
              <a:srgbClr val="000000">
                <a:alpha val="15000"/>
              </a:srgbClr>
            </a:outerShdw>
          </a:effectLst>
        </p:spPr>
      </p:sp>
      <p:sp>
        <p:nvSpPr>
          <p:cNvPr id="12" name="Text 10"/>
          <p:cNvSpPr/>
          <p:nvPr/>
        </p:nvSpPr>
        <p:spPr>
          <a:xfrm>
            <a:off x="2450592" y="1764792"/>
            <a:ext cx="1965960" cy="475488"/>
          </a:xfrm>
          <a:prstGeom prst="rect">
            <a:avLst/>
          </a:prstGeom>
          <a:noFill/>
          <a:ln/>
        </p:spPr>
        <p:txBody>
          <a:bodyPr wrap="square" lIns="0" tIns="0" rIns="0" bIns="0" rtlCol="0" anchor="ctr"/>
          <a:lstStyle/>
          <a:p>
            <a:pPr algn="ctr" indent="0" marL="0">
              <a:buNone/>
            </a:pPr>
            <a:r>
              <a:rPr lang="en-US" sz="1800" b="1" dirty="0">
                <a:solidFill>
                  <a:srgbClr val="55C8E8"/>
                </a:solidFill>
                <a:latin typeface="Cambria" pitchFamily="34" charset="0"/>
                <a:ea typeface="Cambria" pitchFamily="34" charset="-122"/>
                <a:cs typeface="Cambria" pitchFamily="34" charset="-120"/>
              </a:rPr>
              <a:t>inquiry</a:t>
            </a:r>
            <a:endParaRPr lang="en-US" sz="1800" dirty="0"/>
          </a:p>
        </p:txBody>
      </p:sp>
      <p:sp>
        <p:nvSpPr>
          <p:cNvPr id="13" name="Text 11"/>
          <p:cNvSpPr/>
          <p:nvPr/>
        </p:nvSpPr>
        <p:spPr>
          <a:xfrm>
            <a:off x="2523744" y="2240280"/>
            <a:ext cx="1819656" cy="7772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 careful search</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for answers</a:t>
            </a:r>
            <a:endParaRPr lang="en-US" sz="1100" dirty="0"/>
          </a:p>
        </p:txBody>
      </p:sp>
      <p:sp>
        <p:nvSpPr>
          <p:cNvPr id="14" name="Shape 12"/>
          <p:cNvSpPr/>
          <p:nvPr/>
        </p:nvSpPr>
        <p:spPr>
          <a:xfrm>
            <a:off x="4626864" y="1691640"/>
            <a:ext cx="1965960" cy="1417320"/>
          </a:xfrm>
          <a:prstGeom prst="roundRect">
            <a:avLst>
              <a:gd name="adj" fmla="val 7742"/>
            </a:avLst>
          </a:prstGeom>
          <a:solidFill>
            <a:srgbClr val="1A2D5A"/>
          </a:solidFill>
          <a:ln/>
          <a:effectLst>
            <a:outerShdw sx="100000" sy="100000" kx="0" ky="0" algn="bl" rotWithShape="0" blurRad="63500" dist="25400" dir="8100000">
              <a:srgbClr val="000000">
                <a:alpha val="15000"/>
              </a:srgbClr>
            </a:outerShdw>
          </a:effectLst>
        </p:spPr>
      </p:sp>
      <p:sp>
        <p:nvSpPr>
          <p:cNvPr id="15" name="Text 13"/>
          <p:cNvSpPr/>
          <p:nvPr/>
        </p:nvSpPr>
        <p:spPr>
          <a:xfrm>
            <a:off x="4626864" y="1764792"/>
            <a:ext cx="1965960" cy="475488"/>
          </a:xfrm>
          <a:prstGeom prst="rect">
            <a:avLst/>
          </a:prstGeom>
          <a:noFill/>
          <a:ln/>
        </p:spPr>
        <p:txBody>
          <a:bodyPr wrap="square" lIns="0" tIns="0" rIns="0" bIns="0" rtlCol="0" anchor="ctr"/>
          <a:lstStyle/>
          <a:p>
            <a:pPr algn="ctr" indent="0" marL="0">
              <a:buNone/>
            </a:pPr>
            <a:r>
              <a:rPr lang="en-US" sz="1800" b="1" dirty="0">
                <a:solidFill>
                  <a:srgbClr val="55C8E8"/>
                </a:solidFill>
                <a:latin typeface="Cambria" pitchFamily="34" charset="0"/>
                <a:ea typeface="Cambria" pitchFamily="34" charset="-122"/>
                <a:cs typeface="Cambria" pitchFamily="34" charset="-120"/>
              </a:rPr>
              <a:t>query</a:t>
            </a:r>
            <a:endParaRPr lang="en-US" sz="1800" dirty="0"/>
          </a:p>
        </p:txBody>
      </p:sp>
      <p:sp>
        <p:nvSpPr>
          <p:cNvPr id="16" name="Text 14"/>
          <p:cNvSpPr/>
          <p:nvPr/>
        </p:nvSpPr>
        <p:spPr>
          <a:xfrm>
            <a:off x="4700016" y="2240280"/>
            <a:ext cx="1819656" cy="7772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 question or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request for info</a:t>
            </a:r>
            <a:endParaRPr lang="en-US" sz="1100" dirty="0"/>
          </a:p>
        </p:txBody>
      </p:sp>
      <p:sp>
        <p:nvSpPr>
          <p:cNvPr id="17" name="Shape 15"/>
          <p:cNvSpPr/>
          <p:nvPr/>
        </p:nvSpPr>
        <p:spPr>
          <a:xfrm>
            <a:off x="6803136" y="1691640"/>
            <a:ext cx="1965960" cy="1417320"/>
          </a:xfrm>
          <a:prstGeom prst="roundRect">
            <a:avLst>
              <a:gd name="adj" fmla="val 7742"/>
            </a:avLst>
          </a:prstGeom>
          <a:solidFill>
            <a:srgbClr val="1A2D5A"/>
          </a:solidFill>
          <a:ln/>
          <a:effectLst>
            <a:outerShdw sx="100000" sy="100000" kx="0" ky="0" algn="bl" rotWithShape="0" blurRad="63500" dist="25400" dir="8100000">
              <a:srgbClr val="000000">
                <a:alpha val="15000"/>
              </a:srgbClr>
            </a:outerShdw>
          </a:effectLst>
        </p:spPr>
      </p:sp>
      <p:sp>
        <p:nvSpPr>
          <p:cNvPr id="18" name="Text 16"/>
          <p:cNvSpPr/>
          <p:nvPr/>
        </p:nvSpPr>
        <p:spPr>
          <a:xfrm>
            <a:off x="6803136" y="1764792"/>
            <a:ext cx="1965960" cy="475488"/>
          </a:xfrm>
          <a:prstGeom prst="rect">
            <a:avLst/>
          </a:prstGeom>
          <a:noFill/>
          <a:ln/>
        </p:spPr>
        <p:txBody>
          <a:bodyPr wrap="square" lIns="0" tIns="0" rIns="0" bIns="0" rtlCol="0" anchor="ctr"/>
          <a:lstStyle/>
          <a:p>
            <a:pPr algn="ctr" indent="0" marL="0">
              <a:buNone/>
            </a:pPr>
            <a:r>
              <a:rPr lang="en-US" sz="1800" b="1" dirty="0">
                <a:solidFill>
                  <a:srgbClr val="55C8E8"/>
                </a:solidFill>
                <a:latin typeface="Cambria" pitchFamily="34" charset="0"/>
                <a:ea typeface="Cambria" pitchFamily="34" charset="-122"/>
                <a:cs typeface="Cambria" pitchFamily="34" charset="-120"/>
              </a:rPr>
              <a:t>quest</a:t>
            </a:r>
            <a:endParaRPr lang="en-US" sz="1800" dirty="0"/>
          </a:p>
        </p:txBody>
      </p:sp>
      <p:sp>
        <p:nvSpPr>
          <p:cNvPr id="19" name="Text 17"/>
          <p:cNvSpPr/>
          <p:nvPr/>
        </p:nvSpPr>
        <p:spPr>
          <a:xfrm>
            <a:off x="6876288" y="2240280"/>
            <a:ext cx="1819656" cy="7772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 journey to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find something</a:t>
            </a:r>
            <a:endParaRPr lang="en-US" sz="1100" dirty="0"/>
          </a:p>
        </p:txBody>
      </p:sp>
      <p:sp>
        <p:nvSpPr>
          <p:cNvPr id="20" name="Shape 18"/>
          <p:cNvSpPr/>
          <p:nvPr/>
        </p:nvSpPr>
        <p:spPr>
          <a:xfrm>
            <a:off x="731520" y="3246120"/>
            <a:ext cx="7680960" cy="777240"/>
          </a:xfrm>
          <a:prstGeom prst="roundRect">
            <a:avLst>
              <a:gd name="adj" fmla="val 11765"/>
            </a:avLst>
          </a:prstGeom>
          <a:solidFill>
            <a:srgbClr val="1A2D5A"/>
          </a:solidFill>
          <a:ln w="12700">
            <a:solidFill>
              <a:srgbClr val="3A5080"/>
            </a:solidFill>
            <a:prstDash val="solid"/>
          </a:ln>
        </p:spPr>
      </p:sp>
      <p:sp>
        <p:nvSpPr>
          <p:cNvPr id="21" name="Text 19"/>
          <p:cNvSpPr/>
          <p:nvPr/>
        </p:nvSpPr>
        <p:spPr>
          <a:xfrm>
            <a:off x="914400" y="3337560"/>
            <a:ext cx="7315200" cy="594360"/>
          </a:xfrm>
          <a:prstGeom prst="rect">
            <a:avLst/>
          </a:prstGeom>
          <a:noFill/>
          <a:ln/>
        </p:spPr>
        <p:txBody>
          <a:bodyPr wrap="square" lIns="0" tIns="0" rIns="0" bIns="0"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Every time you ask a question, you're on a mini quest — seeking knowledge that wasn't there before.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CONNECTING TO WHAT YOU KNOW</a:t>
            </a:r>
            <a:endParaRPr lang="en-US" sz="1000" dirty="0"/>
          </a:p>
        </p:txBody>
      </p:sp>
      <p:sp>
        <p:nvSpPr>
          <p:cNvPr id="4" name="Text 2"/>
          <p:cNvSpPr/>
          <p:nvPr/>
        </p:nvSpPr>
        <p:spPr>
          <a:xfrm>
            <a:off x="365760" y="548640"/>
            <a:ext cx="822960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Last time: You sorted sources.</a:t>
            </a:r>
            <a:endParaRPr lang="en-US" sz="2600" dirty="0"/>
          </a:p>
        </p:txBody>
      </p:sp>
      <p:sp>
        <p:nvSpPr>
          <p:cNvPr id="5" name="Shape 3"/>
          <p:cNvSpPr/>
          <p:nvPr/>
        </p:nvSpPr>
        <p:spPr>
          <a:xfrm>
            <a:off x="365760" y="1170432"/>
            <a:ext cx="3931920" cy="2423160"/>
          </a:xfrm>
          <a:prstGeom prst="roundRect">
            <a:avLst>
              <a:gd name="adj" fmla="val 4528"/>
            </a:avLst>
          </a:prstGeom>
          <a:solidFill>
            <a:srgbClr val="EAF8FD"/>
          </a:solidFill>
          <a:ln w="25400">
            <a:solidFill>
              <a:srgbClr val="55C8E8"/>
            </a:solidFill>
            <a:prstDash val="solid"/>
          </a:ln>
        </p:spPr>
      </p:sp>
      <p:sp>
        <p:nvSpPr>
          <p:cNvPr id="6" name="Text 4"/>
          <p:cNvSpPr/>
          <p:nvPr/>
        </p:nvSpPr>
        <p:spPr>
          <a:xfrm>
            <a:off x="548640" y="1243584"/>
            <a:ext cx="3566160" cy="237744"/>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LAST LESSON</a:t>
            </a:r>
            <a:endParaRPr lang="en-US" sz="900" dirty="0"/>
          </a:p>
        </p:txBody>
      </p:sp>
      <p:sp>
        <p:nvSpPr>
          <p:cNvPr id="7" name="Text 5"/>
          <p:cNvSpPr/>
          <p:nvPr/>
        </p:nvSpPr>
        <p:spPr>
          <a:xfrm>
            <a:off x="548640" y="1508760"/>
            <a:ext cx="3566160" cy="10515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You learned to sort sources into PRIMARY (made at the time) and SECONDARY (written later).</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You know WHAT KIND of source it is.</a:t>
            </a:r>
            <a:endParaRPr lang="en-US" sz="1300" dirty="0"/>
          </a:p>
        </p:txBody>
      </p:sp>
      <p:sp>
        <p:nvSpPr>
          <p:cNvPr id="8" name="Shape 6"/>
          <p:cNvSpPr/>
          <p:nvPr/>
        </p:nvSpPr>
        <p:spPr>
          <a:xfrm>
            <a:off x="594360" y="2578608"/>
            <a:ext cx="3474720" cy="868680"/>
          </a:xfrm>
          <a:prstGeom prst="roundRect">
            <a:avLst>
              <a:gd name="adj" fmla="val 12632"/>
            </a:avLst>
          </a:prstGeom>
          <a:solidFill>
            <a:srgbClr val="E2E8F4"/>
          </a:solidFill>
          <a:ln w="19050">
            <a:solidFill>
              <a:srgbClr val="B0B8CC"/>
            </a:solidFill>
            <a:prstDash val="dash"/>
          </a:ln>
        </p:spPr>
      </p:sp>
      <p:sp>
        <p:nvSpPr>
          <p:cNvPr id="9" name="Text 7"/>
          <p:cNvSpPr/>
          <p:nvPr/>
        </p:nvSpPr>
        <p:spPr>
          <a:xfrm>
            <a:off x="594360" y="2578608"/>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731520" y="2852928"/>
            <a:ext cx="3200400" cy="502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Two-column sort graphic: Primary vs. Secondary sources with small icons</a:t>
            </a:r>
            <a:endParaRPr lang="en-US" sz="1100" dirty="0"/>
          </a:p>
        </p:txBody>
      </p:sp>
      <p:sp>
        <p:nvSpPr>
          <p:cNvPr id="11" name="Shape 9"/>
          <p:cNvSpPr/>
          <p:nvPr/>
        </p:nvSpPr>
        <p:spPr>
          <a:xfrm>
            <a:off x="4663440" y="1170432"/>
            <a:ext cx="4023360" cy="2423160"/>
          </a:xfrm>
          <a:prstGeom prst="roundRect">
            <a:avLst>
              <a:gd name="adj" fmla="val 4528"/>
            </a:avLst>
          </a:prstGeom>
          <a:solidFill>
            <a:srgbClr val="FFF3DC"/>
          </a:solidFill>
          <a:ln w="25400">
            <a:solidFill>
              <a:srgbClr val="D4943A"/>
            </a:solidFill>
            <a:prstDash val="solid"/>
          </a:ln>
        </p:spPr>
      </p:sp>
      <p:sp>
        <p:nvSpPr>
          <p:cNvPr id="12" name="Text 10"/>
          <p:cNvSpPr/>
          <p:nvPr/>
        </p:nvSpPr>
        <p:spPr>
          <a:xfrm>
            <a:off x="4846320" y="1243584"/>
            <a:ext cx="3657600" cy="23774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TODAY'S NEXT STEP</a:t>
            </a:r>
            <a:endParaRPr lang="en-US" sz="900" dirty="0"/>
          </a:p>
        </p:txBody>
      </p:sp>
      <p:sp>
        <p:nvSpPr>
          <p:cNvPr id="13" name="Text 11"/>
          <p:cNvSpPr/>
          <p:nvPr/>
        </p:nvSpPr>
        <p:spPr>
          <a:xfrm>
            <a:off x="4846320" y="1508760"/>
            <a:ext cx="3657600" cy="10515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Knowing the source type is just the beginning. Before a curator writes a label, they ask FIVE specific types of questions.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That's what you discover today.</a:t>
            </a:r>
            <a:endParaRPr lang="en-US" sz="1300" dirty="0"/>
          </a:p>
        </p:txBody>
      </p:sp>
      <p:sp>
        <p:nvSpPr>
          <p:cNvPr id="14" name="Shape 12"/>
          <p:cNvSpPr/>
          <p:nvPr/>
        </p:nvSpPr>
        <p:spPr>
          <a:xfrm>
            <a:off x="4846320" y="2606040"/>
            <a:ext cx="3657600" cy="822960"/>
          </a:xfrm>
          <a:prstGeom prst="roundRect">
            <a:avLst>
              <a:gd name="adj" fmla="val 11111"/>
            </a:avLst>
          </a:prstGeom>
          <a:solidFill>
            <a:srgbClr val="1A2D5A"/>
          </a:solidFill>
          <a:ln w="12700">
            <a:solidFill>
              <a:srgbClr val="1A2D5A"/>
            </a:solidFill>
            <a:prstDash val="solid"/>
          </a:ln>
        </p:spPr>
      </p:sp>
      <p:sp>
        <p:nvSpPr>
          <p:cNvPr id="15" name="Text 13"/>
          <p:cNvSpPr/>
          <p:nvPr/>
        </p:nvSpPr>
        <p:spPr>
          <a:xfrm>
            <a:off x="4983480" y="2679192"/>
            <a:ext cx="3383280" cy="658368"/>
          </a:xfrm>
          <a:prstGeom prst="rect">
            <a:avLst/>
          </a:prstGeom>
          <a:noFill/>
          <a:ln/>
        </p:spPr>
        <p:txBody>
          <a:bodyPr wrap="square" lIns="0" tIns="0" rIns="0" bIns="0" rtlCol="0" anchor="ctr"/>
          <a:lstStyle/>
          <a:p>
            <a:pPr indent="0" marL="0">
              <a:buNone/>
            </a:pPr>
            <a:r>
              <a:rPr lang="en-US" sz="1200" i="1" dirty="0">
                <a:solidFill>
                  <a:srgbClr val="FFFFFF"/>
                </a:solidFill>
                <a:latin typeface="Cambria" pitchFamily="34" charset="0"/>
                <a:ea typeface="Cambria" pitchFamily="34" charset="-122"/>
                <a:cs typeface="Cambria" pitchFamily="34" charset="-120"/>
              </a:rPr>
              <a:t>What do you think a curator needs to know beyond what KIND of source something is?</a:t>
            </a:r>
            <a:endParaRPr lang="en-US" sz="1200" dirty="0"/>
          </a:p>
        </p:txBody>
      </p:sp>
      <p:sp>
        <p:nvSpPr>
          <p:cNvPr id="16" name="Shape 14"/>
          <p:cNvSpPr/>
          <p:nvPr/>
        </p:nvSpPr>
        <p:spPr>
          <a:xfrm>
            <a:off x="365760" y="3703320"/>
            <a:ext cx="8503920" cy="914400"/>
          </a:xfrm>
          <a:prstGeom prst="roundRect">
            <a:avLst>
              <a:gd name="adj" fmla="val 12000"/>
            </a:avLst>
          </a:prstGeom>
          <a:solidFill>
            <a:srgbClr val="FFF3DC"/>
          </a:solidFill>
          <a:ln w="19050">
            <a:solidFill>
              <a:srgbClr val="F5E6C8"/>
            </a:solidFill>
            <a:prstDash val="solid"/>
          </a:ln>
        </p:spPr>
      </p:sp>
      <p:sp>
        <p:nvSpPr>
          <p:cNvPr id="17" name="Text 15"/>
          <p:cNvSpPr/>
          <p:nvPr/>
        </p:nvSpPr>
        <p:spPr>
          <a:xfrm>
            <a:off x="502920" y="3758184"/>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02920" y="3959352"/>
            <a:ext cx="822960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know the source type, but I still need to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good label should also answer..."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NEW ARRIVAL  ·  EXHIBIT CASE</a:t>
            </a:r>
            <a:endParaRPr lang="en-US" sz="1000" dirty="0"/>
          </a:p>
        </p:txBody>
      </p:sp>
      <p:sp>
        <p:nvSpPr>
          <p:cNvPr id="4" name="Text 2"/>
          <p:cNvSpPr/>
          <p:nvPr/>
        </p:nvSpPr>
        <p:spPr>
          <a:xfrm>
            <a:off x="365760" y="548640"/>
            <a:ext cx="484632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A new object just arrived.</a:t>
            </a:r>
            <a:endParaRPr lang="en-US" sz="2600" dirty="0"/>
          </a:p>
        </p:txBody>
      </p:sp>
      <p:sp>
        <p:nvSpPr>
          <p:cNvPr id="5" name="Shape 3"/>
          <p:cNvSpPr/>
          <p:nvPr/>
        </p:nvSpPr>
        <p:spPr>
          <a:xfrm>
            <a:off x="365760" y="1078992"/>
            <a:ext cx="4297680" cy="3246120"/>
          </a:xfrm>
          <a:prstGeom prst="roundRect">
            <a:avLst>
              <a:gd name="adj" fmla="val 3380"/>
            </a:avLst>
          </a:prstGeom>
          <a:solidFill>
            <a:srgbClr val="E2E8F4"/>
          </a:solidFill>
          <a:ln w="19050">
            <a:solidFill>
              <a:srgbClr val="B0B8CC"/>
            </a:solidFill>
            <a:prstDash val="dash"/>
          </a:ln>
        </p:spPr>
      </p:sp>
      <p:sp>
        <p:nvSpPr>
          <p:cNvPr id="6" name="Text 4"/>
          <p:cNvSpPr/>
          <p:nvPr/>
        </p:nvSpPr>
        <p:spPr>
          <a:xfrm>
            <a:off x="365760" y="1078992"/>
            <a:ext cx="42976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53312"/>
            <a:ext cx="4023360" cy="2880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Old brass compass from the 1800s — cracked glass face, worn case, engraved initials R.H.W. — sitting on dark velvet in an exhibit case, no label</a:t>
            </a:r>
            <a:endParaRPr lang="en-US" sz="1100" dirty="0"/>
          </a:p>
        </p:txBody>
      </p:sp>
      <p:sp>
        <p:nvSpPr>
          <p:cNvPr id="8" name="Shape 6"/>
          <p:cNvSpPr/>
          <p:nvPr/>
        </p:nvSpPr>
        <p:spPr>
          <a:xfrm>
            <a:off x="4937760" y="502920"/>
            <a:ext cx="3657600" cy="1325880"/>
          </a:xfrm>
          <a:prstGeom prst="roundRect">
            <a:avLst>
              <a:gd name="adj" fmla="val 6897"/>
            </a:avLst>
          </a:prstGeom>
          <a:solidFill>
            <a:srgbClr val="F0F2F8"/>
          </a:solidFill>
          <a:ln w="12700">
            <a:solidFill>
              <a:srgbClr val="B0B8CC"/>
            </a:solidFill>
            <a:prstDash val="solid"/>
          </a:ln>
        </p:spPr>
      </p:sp>
      <p:sp>
        <p:nvSpPr>
          <p:cNvPr id="9" name="Text 7"/>
          <p:cNvSpPr/>
          <p:nvPr/>
        </p:nvSpPr>
        <p:spPr>
          <a:xfrm>
            <a:off x="5120640" y="576072"/>
            <a:ext cx="3291840" cy="219456"/>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MUSEUM DIRECTOR'S NOTE</a:t>
            </a:r>
            <a:endParaRPr lang="en-US" sz="900" dirty="0"/>
          </a:p>
        </p:txBody>
      </p:sp>
      <p:sp>
        <p:nvSpPr>
          <p:cNvPr id="10" name="Text 8"/>
          <p:cNvSpPr/>
          <p:nvPr/>
        </p:nvSpPr>
        <p:spPr>
          <a:xfrm>
            <a:off x="5120640" y="822960"/>
            <a:ext cx="3291840" cy="914400"/>
          </a:xfrm>
          <a:prstGeom prst="rect">
            <a:avLst/>
          </a:prstGeom>
          <a:noFill/>
          <a:ln/>
        </p:spPr>
        <p:txBody>
          <a:bodyPr wrap="square" lIns="0" tIns="0" rIns="0" bIns="0"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"An old compass from the 1800s arrived this morning. Before anyone writes a label, curators must ask all five question types."</a:t>
            </a:r>
            <a:endParaRPr lang="en-US" sz="1200" dirty="0"/>
          </a:p>
        </p:txBody>
      </p:sp>
      <p:sp>
        <p:nvSpPr>
          <p:cNvPr id="11" name="Shape 9"/>
          <p:cNvSpPr/>
          <p:nvPr/>
        </p:nvSpPr>
        <p:spPr>
          <a:xfrm>
            <a:off x="4937760" y="1938528"/>
            <a:ext cx="3657600" cy="1234440"/>
          </a:xfrm>
          <a:prstGeom prst="roundRect">
            <a:avLst>
              <a:gd name="adj" fmla="val 7407"/>
            </a:avLst>
          </a:prstGeom>
          <a:solidFill>
            <a:srgbClr val="EAF8FD"/>
          </a:solidFill>
          <a:ln w="19050">
            <a:solidFill>
              <a:srgbClr val="55C8E8"/>
            </a:solidFill>
            <a:prstDash val="solid"/>
          </a:ln>
        </p:spPr>
      </p:sp>
      <p:sp>
        <p:nvSpPr>
          <p:cNvPr id="12" name="Text 10"/>
          <p:cNvSpPr/>
          <p:nvPr/>
        </p:nvSpPr>
        <p:spPr>
          <a:xfrm>
            <a:off x="5120640" y="2011680"/>
            <a:ext cx="3291840"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THE CHALLENGE</a:t>
            </a:r>
            <a:endParaRPr lang="en-US" sz="900" dirty="0"/>
          </a:p>
        </p:txBody>
      </p:sp>
      <p:sp>
        <p:nvSpPr>
          <p:cNvPr id="13" name="Text 11"/>
          <p:cNvSpPr/>
          <p:nvPr/>
        </p:nvSpPr>
        <p:spPr>
          <a:xfrm>
            <a:off x="5120640" y="2267712"/>
            <a:ext cx="329184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There are FIVE types of questions every curator must ask. You'll discover all five today — then write them for this compass at the end.</a:t>
            </a:r>
            <a:endParaRPr lang="en-US" sz="1300" dirty="0"/>
          </a:p>
        </p:txBody>
      </p:sp>
      <p:sp>
        <p:nvSpPr>
          <p:cNvPr id="14" name="Shape 12"/>
          <p:cNvSpPr/>
          <p:nvPr/>
        </p:nvSpPr>
        <p:spPr>
          <a:xfrm>
            <a:off x="4937760" y="3273552"/>
            <a:ext cx="365760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120640" y="3364992"/>
            <a:ext cx="3291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120640" y="3621024"/>
            <a:ext cx="3291840" cy="978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first thing you'd want to know about this compass?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need to find out before writing a label?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write an honest label right now? What's missing?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QUESTION TYPE 1  ·  DISCOVER IT</a:t>
            </a:r>
            <a:endParaRPr lang="en-US" sz="1000" dirty="0"/>
          </a:p>
        </p:txBody>
      </p:sp>
      <p:sp>
        <p:nvSpPr>
          <p:cNvPr id="4" name="Shape 2"/>
          <p:cNvSpPr/>
          <p:nvPr/>
        </p:nvSpPr>
        <p:spPr>
          <a:xfrm>
            <a:off x="365760" y="502920"/>
            <a:ext cx="4297680" cy="3154680"/>
          </a:xfrm>
          <a:prstGeom prst="roundRect">
            <a:avLst>
              <a:gd name="adj" fmla="val 3478"/>
            </a:avLst>
          </a:prstGeom>
          <a:solidFill>
            <a:srgbClr val="E2E8F4"/>
          </a:solidFill>
          <a:ln w="19050">
            <a:solidFill>
              <a:srgbClr val="B0B8CC"/>
            </a:solidFill>
            <a:prstDash val="dash"/>
          </a:ln>
        </p:spPr>
      </p:sp>
      <p:sp>
        <p:nvSpPr>
          <p:cNvPr id="5" name="Text 3"/>
          <p:cNvSpPr/>
          <p:nvPr/>
        </p:nvSpPr>
        <p:spPr>
          <a:xfrm>
            <a:off x="365760" y="502920"/>
            <a:ext cx="42976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777240"/>
            <a:ext cx="4023360" cy="2788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Extreme close-up of compass face: cracked glass, brass case, needle pointing north, Roman numerals on dial, engraved initials R.H.W.</a:t>
            </a:r>
            <a:endParaRPr lang="en-US" sz="1100" dirty="0"/>
          </a:p>
        </p:txBody>
      </p:sp>
      <p:sp>
        <p:nvSpPr>
          <p:cNvPr id="7" name="Shape 5"/>
          <p:cNvSpPr/>
          <p:nvPr/>
        </p:nvSpPr>
        <p:spPr>
          <a:xfrm>
            <a:off x="4892040" y="502920"/>
            <a:ext cx="3886200" cy="1170432"/>
          </a:xfrm>
          <a:prstGeom prst="roundRect">
            <a:avLst>
              <a:gd name="adj" fmla="val 9375"/>
            </a:avLst>
          </a:prstGeom>
          <a:solidFill>
            <a:srgbClr val="F0F2F8"/>
          </a:solidFill>
          <a:ln w="12700">
            <a:solidFill>
              <a:srgbClr val="B0B8CC"/>
            </a:solidFill>
            <a:prstDash val="solid"/>
          </a:ln>
        </p:spPr>
      </p:sp>
      <p:sp>
        <p:nvSpPr>
          <p:cNvPr id="8" name="Text 6"/>
          <p:cNvSpPr/>
          <p:nvPr/>
        </p:nvSpPr>
        <p:spPr>
          <a:xfrm>
            <a:off x="5074920" y="576072"/>
            <a:ext cx="3520440" cy="384048"/>
          </a:xfrm>
          <a:prstGeom prst="rect">
            <a:avLst/>
          </a:prstGeom>
          <a:noFill/>
          <a:ln/>
        </p:spPr>
        <p:txBody>
          <a:bodyPr wrap="square" lIns="0" tIns="0" rIns="0" bIns="0"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Look at this compass carefully.</a:t>
            </a:r>
            <a:endParaRPr lang="en-US" sz="1700" dirty="0"/>
          </a:p>
        </p:txBody>
      </p:sp>
      <p:sp>
        <p:nvSpPr>
          <p:cNvPr id="9" name="Text 7"/>
          <p:cNvSpPr/>
          <p:nvPr/>
        </p:nvSpPr>
        <p:spPr>
          <a:xfrm>
            <a:off x="5074920" y="960120"/>
            <a:ext cx="3520440" cy="64008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Without guessing what it means — just describe what you SEE. Color, shape, markings, condition. Every detail.</a:t>
            </a:r>
            <a:endParaRPr lang="en-US" sz="1200" dirty="0"/>
          </a:p>
        </p:txBody>
      </p:sp>
      <p:sp>
        <p:nvSpPr>
          <p:cNvPr id="10" name="Shape 8"/>
          <p:cNvSpPr/>
          <p:nvPr/>
        </p:nvSpPr>
        <p:spPr>
          <a:xfrm>
            <a:off x="4892040" y="1755648"/>
            <a:ext cx="3886200" cy="1417320"/>
          </a:xfrm>
          <a:prstGeom prst="roundRect">
            <a:avLst>
              <a:gd name="adj" fmla="val 7742"/>
            </a:avLst>
          </a:prstGeom>
          <a:solidFill>
            <a:srgbClr val="FFF3DC"/>
          </a:solidFill>
          <a:ln w="19050">
            <a:solidFill>
              <a:srgbClr val="F5E6C8"/>
            </a:solidFill>
            <a:prstDash val="solid"/>
          </a:ln>
        </p:spPr>
      </p:sp>
      <p:sp>
        <p:nvSpPr>
          <p:cNvPr id="11" name="Text 9"/>
          <p:cNvSpPr/>
          <p:nvPr/>
        </p:nvSpPr>
        <p:spPr>
          <a:xfrm>
            <a:off x="5029200" y="1810512"/>
            <a:ext cx="3611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029200" y="2011680"/>
            <a:ext cx="36118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compass has..."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detail I almost missed is..."</a:t>
            </a:r>
            <a:endParaRPr lang="en-US" sz="1200" dirty="0"/>
          </a:p>
        </p:txBody>
      </p:sp>
      <p:sp>
        <p:nvSpPr>
          <p:cNvPr id="13" name="Shape 11"/>
          <p:cNvSpPr/>
          <p:nvPr/>
        </p:nvSpPr>
        <p:spPr>
          <a:xfrm>
            <a:off x="4892040" y="3255264"/>
            <a:ext cx="388620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074920" y="3346704"/>
            <a:ext cx="3520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074920" y="3602736"/>
            <a:ext cx="3520440" cy="978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details might others miss?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Are you describing or explaining? Can you tell the difference?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happen if you skipped this step and guessed?</a:t>
            </a:r>
            <a:endParaRPr lang="en-US" sz="1100" dirty="0"/>
          </a:p>
        </p:txBody>
      </p:sp>
      <p:sp>
        <p:nvSpPr>
          <p:cNvPr id="16" name="Shape 14"/>
          <p:cNvSpPr/>
          <p:nvPr/>
        </p:nvSpPr>
        <p:spPr>
          <a:xfrm>
            <a:off x="365760" y="3730752"/>
            <a:ext cx="4297680" cy="777240"/>
          </a:xfrm>
          <a:prstGeom prst="roundRect">
            <a:avLst>
              <a:gd name="adj" fmla="val 11765"/>
            </a:avLst>
          </a:prstGeom>
          <a:solidFill>
            <a:srgbClr val="1A2D5A"/>
          </a:solidFill>
          <a:ln w="12700">
            <a:solidFill>
              <a:srgbClr val="1A2D5A"/>
            </a:solidFill>
            <a:prstDash val="solid"/>
          </a:ln>
        </p:spPr>
      </p:sp>
      <p:sp>
        <p:nvSpPr>
          <p:cNvPr id="17" name="Text 15"/>
          <p:cNvSpPr/>
          <p:nvPr/>
        </p:nvSpPr>
        <p:spPr>
          <a:xfrm>
            <a:off x="548640" y="3803904"/>
            <a:ext cx="3931920" cy="612648"/>
          </a:xfrm>
          <a:prstGeom prst="rect">
            <a:avLst/>
          </a:prstGeom>
          <a:noFill/>
          <a:ln/>
        </p:spPr>
        <p:txBody>
          <a:bodyPr wrap="square" lIns="0" tIns="0" rIns="0" bIns="0" rtlCol="0" anchor="ctr"/>
          <a:lstStyle/>
          <a:p>
            <a:pPr indent="0" marL="0">
              <a:buNone/>
            </a:pPr>
            <a:r>
              <a:rPr lang="en-US" sz="1300" i="1" dirty="0">
                <a:solidFill>
                  <a:srgbClr val="FFF3DC"/>
                </a:solidFill>
                <a:latin typeface="Cambria" pitchFamily="34" charset="0"/>
                <a:ea typeface="Cambria" pitchFamily="34" charset="-122"/>
                <a:cs typeface="Cambria" pitchFamily="34" charset="-120"/>
              </a:rPr>
              <a:t>This is Question Type 1. What do you think we should call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QUESTION TYPES 1 &amp; 2  ·  NAMED &amp; DISCOVERED</a:t>
            </a:r>
            <a:endParaRPr lang="en-US" sz="1000" dirty="0"/>
          </a:p>
        </p:txBody>
      </p:sp>
      <p:sp>
        <p:nvSpPr>
          <p:cNvPr id="4" name="Shape 2"/>
          <p:cNvSpPr/>
          <p:nvPr/>
        </p:nvSpPr>
        <p:spPr>
          <a:xfrm>
            <a:off x="365760" y="502920"/>
            <a:ext cx="3931920" cy="1389888"/>
          </a:xfrm>
          <a:prstGeom prst="roundRect">
            <a:avLst>
              <a:gd name="adj" fmla="val 7895"/>
            </a:avLst>
          </a:prstGeom>
          <a:solidFill>
            <a:srgbClr val="1A8A7D"/>
          </a:solidFill>
          <a:ln/>
          <a:effectLst>
            <a:outerShdw sx="100000" sy="100000" kx="0" ky="0" algn="bl" rotWithShape="0" blurRad="63500" dist="25400" dir="8100000">
              <a:srgbClr val="000000">
                <a:alpha val="15000"/>
              </a:srgbClr>
            </a:outerShdw>
          </a:effectLst>
        </p:spPr>
      </p:sp>
      <p:sp>
        <p:nvSpPr>
          <p:cNvPr id="5" name="Text 3"/>
          <p:cNvSpPr/>
          <p:nvPr/>
        </p:nvSpPr>
        <p:spPr>
          <a:xfrm>
            <a:off x="548640" y="576072"/>
            <a:ext cx="3566160" cy="219456"/>
          </a:xfrm>
          <a:prstGeom prst="rect">
            <a:avLst/>
          </a:prstGeom>
          <a:noFill/>
          <a:ln/>
        </p:spPr>
        <p:txBody>
          <a:bodyPr wrap="square" lIns="0" tIns="0" rIns="0" bIns="0" rtlCol="0" anchor="ctr"/>
          <a:lstStyle/>
          <a:p>
            <a:pPr indent="0" marL="0">
              <a:buNone/>
            </a:pPr>
            <a:r>
              <a:rPr lang="en-US" sz="900" b="1" spc="150" kern="0" dirty="0">
                <a:solidFill>
                  <a:srgbClr val="A0E8DA"/>
                </a:solidFill>
                <a:latin typeface="Calibri" pitchFamily="34" charset="0"/>
                <a:ea typeface="Calibri" pitchFamily="34" charset="-122"/>
                <a:cs typeface="Calibri" pitchFamily="34" charset="-120"/>
              </a:rPr>
              <a:t>UNLOCKED</a:t>
            </a:r>
            <a:endParaRPr lang="en-US" sz="900" dirty="0"/>
          </a:p>
        </p:txBody>
      </p:sp>
      <p:sp>
        <p:nvSpPr>
          <p:cNvPr id="6" name="Text 4"/>
          <p:cNvSpPr/>
          <p:nvPr/>
        </p:nvSpPr>
        <p:spPr>
          <a:xfrm>
            <a:off x="548640" y="804672"/>
            <a:ext cx="3566160" cy="43891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 Observation</a:t>
            </a:r>
            <a:endParaRPr lang="en-US" sz="2200" dirty="0"/>
          </a:p>
        </p:txBody>
      </p:sp>
      <p:sp>
        <p:nvSpPr>
          <p:cNvPr id="7" name="Text 5"/>
          <p:cNvSpPr/>
          <p:nvPr/>
        </p:nvSpPr>
        <p:spPr>
          <a:xfrm>
            <a:off x="548640" y="1234440"/>
            <a:ext cx="3566160" cy="594360"/>
          </a:xfrm>
          <a:prstGeom prst="rect">
            <a:avLst/>
          </a:prstGeom>
          <a:noFill/>
          <a:ln/>
        </p:spPr>
        <p:txBody>
          <a:bodyPr wrap="square" lIns="0" tIns="0" rIns="0" bIns="0" rtlCol="0" anchor="t"/>
          <a:lstStyle/>
          <a:p>
            <a:pPr indent="0" marL="0">
              <a:buNone/>
            </a:pPr>
            <a:r>
              <a:rPr lang="en-US" sz="1200" dirty="0">
                <a:solidFill>
                  <a:srgbClr val="D6F2FB"/>
                </a:solidFill>
                <a:latin typeface="Calibri" pitchFamily="34" charset="0"/>
                <a:ea typeface="Calibri" pitchFamily="34" charset="-122"/>
                <a:cs typeface="Calibri" pitchFamily="34" charset="-120"/>
              </a:rPr>
              <a:t>"What do I see?"</a:t>
            </a:r>
            <a:endParaRPr lang="en-US" sz="1200" dirty="0"/>
          </a:p>
          <a:p>
            <a:pPr indent="0" marL="0">
              <a:buNone/>
            </a:pPr>
            <a:r>
              <a:rPr lang="en-US" sz="1200" dirty="0">
                <a:solidFill>
                  <a:srgbClr val="D6F2FB"/>
                </a:solidFill>
                <a:latin typeface="Calibri" pitchFamily="34" charset="0"/>
                <a:ea typeface="Calibri" pitchFamily="34" charset="-122"/>
                <a:cs typeface="Calibri" pitchFamily="34" charset="-120"/>
              </a:rPr>
              <a:t>Describe every detail. Don't explain yet — just look carefully.</a:t>
            </a:r>
            <a:endParaRPr lang="en-US" sz="1200" dirty="0"/>
          </a:p>
        </p:txBody>
      </p:sp>
      <p:sp>
        <p:nvSpPr>
          <p:cNvPr id="8" name="Shape 6"/>
          <p:cNvSpPr/>
          <p:nvPr/>
        </p:nvSpPr>
        <p:spPr>
          <a:xfrm>
            <a:off x="4663440" y="502920"/>
            <a:ext cx="4069080" cy="1389888"/>
          </a:xfrm>
          <a:prstGeom prst="roundRect">
            <a:avLst>
              <a:gd name="adj" fmla="val 7895"/>
            </a:avLst>
          </a:prstGeom>
          <a:solidFill>
            <a:srgbClr val="F0F2F8"/>
          </a:solidFill>
          <a:ln w="19050">
            <a:solidFill>
              <a:srgbClr val="B0B8CC"/>
            </a:solidFill>
            <a:prstDash val="solid"/>
          </a:ln>
        </p:spPr>
      </p:sp>
      <p:sp>
        <p:nvSpPr>
          <p:cNvPr id="9" name="Text 7"/>
          <p:cNvSpPr/>
          <p:nvPr/>
        </p:nvSpPr>
        <p:spPr>
          <a:xfrm>
            <a:off x="4846320" y="576072"/>
            <a:ext cx="370332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DISCOVER NEXT</a:t>
            </a:r>
            <a:endParaRPr lang="en-US" sz="900" dirty="0"/>
          </a:p>
        </p:txBody>
      </p:sp>
      <p:sp>
        <p:nvSpPr>
          <p:cNvPr id="10" name="Text 8"/>
          <p:cNvSpPr/>
          <p:nvPr/>
        </p:nvSpPr>
        <p:spPr>
          <a:xfrm>
            <a:off x="4846320" y="804672"/>
            <a:ext cx="3703320" cy="402336"/>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Now: When and where?</a:t>
            </a:r>
            <a:endParaRPr lang="en-US" sz="2000" dirty="0"/>
          </a:p>
        </p:txBody>
      </p:sp>
      <p:sp>
        <p:nvSpPr>
          <p:cNvPr id="11" name="Text 9"/>
          <p:cNvSpPr/>
          <p:nvPr/>
        </p:nvSpPr>
        <p:spPr>
          <a:xfrm>
            <a:off x="4846320" y="1207008"/>
            <a:ext cx="3703320" cy="62179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You've described the compass. Now — when was it made? Where did it come from? How do those answers change what the label should say?</a:t>
            </a:r>
            <a:endParaRPr lang="en-US" sz="1200" dirty="0"/>
          </a:p>
        </p:txBody>
      </p:sp>
      <p:sp>
        <p:nvSpPr>
          <p:cNvPr id="12" name="Shape 10"/>
          <p:cNvSpPr/>
          <p:nvPr/>
        </p:nvSpPr>
        <p:spPr>
          <a:xfrm>
            <a:off x="365760" y="2029968"/>
            <a:ext cx="3931920" cy="2286000"/>
          </a:xfrm>
          <a:prstGeom prst="roundRect">
            <a:avLst>
              <a:gd name="adj" fmla="val 4800"/>
            </a:avLst>
          </a:prstGeom>
          <a:solidFill>
            <a:srgbClr val="E2E8F4"/>
          </a:solidFill>
          <a:ln w="19050">
            <a:solidFill>
              <a:srgbClr val="B0B8CC"/>
            </a:solidFill>
            <a:prstDash val="dash"/>
          </a:ln>
        </p:spPr>
      </p:sp>
      <p:sp>
        <p:nvSpPr>
          <p:cNvPr id="13" name="Text 11"/>
          <p:cNvSpPr/>
          <p:nvPr/>
        </p:nvSpPr>
        <p:spPr>
          <a:xfrm>
            <a:off x="365760" y="2029968"/>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502920" y="2304288"/>
            <a:ext cx="365760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1800s American frontier map with compass overlay — suggesting historical context</a:t>
            </a:r>
            <a:endParaRPr lang="en-US" sz="1100" dirty="0"/>
          </a:p>
        </p:txBody>
      </p:sp>
      <p:sp>
        <p:nvSpPr>
          <p:cNvPr id="15" name="Shape 13"/>
          <p:cNvSpPr/>
          <p:nvPr/>
        </p:nvSpPr>
        <p:spPr>
          <a:xfrm>
            <a:off x="4663440" y="2029968"/>
            <a:ext cx="4069080" cy="1325880"/>
          </a:xfrm>
          <a:prstGeom prst="roundRect">
            <a:avLst>
              <a:gd name="adj" fmla="val 8276"/>
            </a:avLst>
          </a:prstGeom>
          <a:solidFill>
            <a:srgbClr val="FFF3DC"/>
          </a:solidFill>
          <a:ln w="19050">
            <a:solidFill>
              <a:srgbClr val="F5E6C8"/>
            </a:solidFill>
            <a:prstDash val="solid"/>
          </a:ln>
        </p:spPr>
      </p:sp>
      <p:sp>
        <p:nvSpPr>
          <p:cNvPr id="16" name="Text 14"/>
          <p:cNvSpPr/>
          <p:nvPr/>
        </p:nvSpPr>
        <p:spPr>
          <a:xfrm>
            <a:off x="4800600" y="2084832"/>
            <a:ext cx="3794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800600" y="2286000"/>
            <a:ext cx="379476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"When and where this came from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the compass is from 1850, I'd want to know..."</a:t>
            </a:r>
            <a:endParaRPr lang="en-US" sz="1200" dirty="0"/>
          </a:p>
        </p:txBody>
      </p:sp>
      <p:sp>
        <p:nvSpPr>
          <p:cNvPr id="18" name="Shape 16"/>
          <p:cNvSpPr/>
          <p:nvPr/>
        </p:nvSpPr>
        <p:spPr>
          <a:xfrm>
            <a:off x="4663440" y="3447288"/>
            <a:ext cx="406908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4846320" y="3538728"/>
            <a:ext cx="3703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4846320" y="3794760"/>
            <a:ext cx="3703320" cy="978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WHEN something was made change what it means?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knowing WHERE it came from help the label?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identical compasses have different labels? How?</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11480"/>
          </a:xfrm>
          <a:prstGeom prst="rect">
            <a:avLst/>
          </a:prstGeom>
          <a:solidFill>
            <a:srgbClr val="1A2D5A"/>
          </a:solidFill>
          <a:ln w="12700">
            <a:solidFill>
              <a:srgbClr val="1A2D5A"/>
            </a:solidFill>
            <a:prstDash val="solid"/>
          </a:ln>
        </p:spPr>
      </p:sp>
      <p:sp>
        <p:nvSpPr>
          <p:cNvPr id="5" name="Text 3"/>
          <p:cNvSpPr/>
          <p:nvPr/>
        </p:nvSpPr>
        <p:spPr>
          <a:xfrm>
            <a:off x="274320" y="73152"/>
            <a:ext cx="8595360" cy="292608"/>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ALL FIVE QUESTION TYPES UNLOCKED</a:t>
            </a:r>
            <a:endParaRPr lang="en-US" sz="1000" dirty="0"/>
          </a:p>
        </p:txBody>
      </p:sp>
      <p:sp>
        <p:nvSpPr>
          <p:cNvPr id="6" name="Text 4"/>
          <p:cNvSpPr/>
          <p:nvPr/>
        </p:nvSpPr>
        <p:spPr>
          <a:xfrm>
            <a:off x="457200" y="530352"/>
            <a:ext cx="8229600"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The Five Curator Questions</a:t>
            </a:r>
            <a:endParaRPr lang="en-US" sz="3000" dirty="0"/>
          </a:p>
        </p:txBody>
      </p:sp>
      <p:sp>
        <p:nvSpPr>
          <p:cNvPr id="7" name="Shape 5"/>
          <p:cNvSpPr/>
          <p:nvPr/>
        </p:nvSpPr>
        <p:spPr>
          <a:xfrm>
            <a:off x="201168" y="1234440"/>
            <a:ext cx="1572768" cy="2487168"/>
          </a:xfrm>
          <a:prstGeom prst="roundRect">
            <a:avLst>
              <a:gd name="adj" fmla="val 6977"/>
            </a:avLst>
          </a:prstGeom>
          <a:solidFill>
            <a:srgbClr val="1A8A7D"/>
          </a:solidFill>
          <a:ln/>
          <a:effectLst>
            <a:outerShdw sx="100000" sy="100000" kx="0" ky="0" algn="bl" rotWithShape="0" blurRad="63500" dist="25400" dir="8100000">
              <a:srgbClr val="000000">
                <a:alpha val="20000"/>
              </a:srgbClr>
            </a:outerShdw>
          </a:effectLst>
        </p:spPr>
      </p:sp>
      <p:sp>
        <p:nvSpPr>
          <p:cNvPr id="8" name="Text 6"/>
          <p:cNvSpPr/>
          <p:nvPr/>
        </p:nvSpPr>
        <p:spPr>
          <a:xfrm>
            <a:off x="201168" y="1298448"/>
            <a:ext cx="1572768"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246888" y="1691640"/>
            <a:ext cx="148132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Observation</a:t>
            </a:r>
            <a:endParaRPr lang="en-US" sz="1400" dirty="0"/>
          </a:p>
        </p:txBody>
      </p:sp>
      <p:sp>
        <p:nvSpPr>
          <p:cNvPr id="10" name="Text 8"/>
          <p:cNvSpPr/>
          <p:nvPr/>
        </p:nvSpPr>
        <p:spPr>
          <a:xfrm>
            <a:off x="246888" y="2103120"/>
            <a:ext cx="1481328" cy="150876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"What do I see?"</a:t>
            </a:r>
            <a:endParaRPr lang="en-US" sz="1100" dirty="0"/>
          </a:p>
        </p:txBody>
      </p:sp>
      <p:sp>
        <p:nvSpPr>
          <p:cNvPr id="11" name="Shape 9"/>
          <p:cNvSpPr/>
          <p:nvPr/>
        </p:nvSpPr>
        <p:spPr>
          <a:xfrm>
            <a:off x="1956816" y="1234440"/>
            <a:ext cx="1572768" cy="2487168"/>
          </a:xfrm>
          <a:prstGeom prst="roundRect">
            <a:avLst>
              <a:gd name="adj" fmla="val 6977"/>
            </a:avLst>
          </a:prstGeom>
          <a:solidFill>
            <a:srgbClr val="1A2D5A"/>
          </a:solidFill>
          <a:ln/>
          <a:effectLst>
            <a:outerShdw sx="100000" sy="100000" kx="0" ky="0" algn="bl" rotWithShape="0" blurRad="63500" dist="25400" dir="8100000">
              <a:srgbClr val="000000">
                <a:alpha val="20000"/>
              </a:srgbClr>
            </a:outerShdw>
          </a:effectLst>
        </p:spPr>
      </p:sp>
      <p:sp>
        <p:nvSpPr>
          <p:cNvPr id="12" name="Text 10"/>
          <p:cNvSpPr/>
          <p:nvPr/>
        </p:nvSpPr>
        <p:spPr>
          <a:xfrm>
            <a:off x="1956816" y="1298448"/>
            <a:ext cx="1572768"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2002536" y="1691640"/>
            <a:ext cx="148132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Context</a:t>
            </a:r>
            <a:endParaRPr lang="en-US" sz="1400" dirty="0"/>
          </a:p>
        </p:txBody>
      </p:sp>
      <p:sp>
        <p:nvSpPr>
          <p:cNvPr id="14" name="Text 12"/>
          <p:cNvSpPr/>
          <p:nvPr/>
        </p:nvSpPr>
        <p:spPr>
          <a:xfrm>
            <a:off x="2002536" y="2103120"/>
            <a:ext cx="1481328" cy="150876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"When and where?"</a:t>
            </a:r>
            <a:endParaRPr lang="en-US" sz="1100" dirty="0"/>
          </a:p>
        </p:txBody>
      </p:sp>
      <p:sp>
        <p:nvSpPr>
          <p:cNvPr id="15" name="Shape 13"/>
          <p:cNvSpPr/>
          <p:nvPr/>
        </p:nvSpPr>
        <p:spPr>
          <a:xfrm>
            <a:off x="3712464" y="1234440"/>
            <a:ext cx="1572768" cy="2487168"/>
          </a:xfrm>
          <a:prstGeom prst="roundRect">
            <a:avLst>
              <a:gd name="adj" fmla="val 6977"/>
            </a:avLst>
          </a:prstGeom>
          <a:solidFill>
            <a:srgbClr val="8B6FC0"/>
          </a:solidFill>
          <a:ln/>
          <a:effectLst>
            <a:outerShdw sx="100000" sy="100000" kx="0" ky="0" algn="bl" rotWithShape="0" blurRad="63500" dist="25400" dir="8100000">
              <a:srgbClr val="000000">
                <a:alpha val="20000"/>
              </a:srgbClr>
            </a:outerShdw>
          </a:effectLst>
        </p:spPr>
      </p:sp>
      <p:sp>
        <p:nvSpPr>
          <p:cNvPr id="16" name="Text 14"/>
          <p:cNvSpPr/>
          <p:nvPr/>
        </p:nvSpPr>
        <p:spPr>
          <a:xfrm>
            <a:off x="3712464" y="1298448"/>
            <a:ext cx="1572768"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3758184" y="1691640"/>
            <a:ext cx="148132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Evidence</a:t>
            </a:r>
            <a:endParaRPr lang="en-US" sz="1400" dirty="0"/>
          </a:p>
        </p:txBody>
      </p:sp>
      <p:sp>
        <p:nvSpPr>
          <p:cNvPr id="18" name="Text 16"/>
          <p:cNvSpPr/>
          <p:nvPr/>
        </p:nvSpPr>
        <p:spPr>
          <a:xfrm>
            <a:off x="3758184" y="2103120"/>
            <a:ext cx="1481328" cy="150876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"How do I know this is true?"</a:t>
            </a:r>
            <a:endParaRPr lang="en-US" sz="1100" dirty="0"/>
          </a:p>
        </p:txBody>
      </p:sp>
      <p:sp>
        <p:nvSpPr>
          <p:cNvPr id="19" name="Shape 17"/>
          <p:cNvSpPr/>
          <p:nvPr/>
        </p:nvSpPr>
        <p:spPr>
          <a:xfrm>
            <a:off x="5468112" y="1234440"/>
            <a:ext cx="1572768" cy="2487168"/>
          </a:xfrm>
          <a:prstGeom prst="roundRect">
            <a:avLst>
              <a:gd name="adj" fmla="val 6977"/>
            </a:avLst>
          </a:prstGeom>
          <a:solidFill>
            <a:srgbClr val="D4943A"/>
          </a:solidFill>
          <a:ln/>
          <a:effectLst>
            <a:outerShdw sx="100000" sy="100000" kx="0" ky="0" algn="bl" rotWithShape="0" blurRad="63500" dist="25400" dir="8100000">
              <a:srgbClr val="000000">
                <a:alpha val="20000"/>
              </a:srgbClr>
            </a:outerShdw>
          </a:effectLst>
        </p:spPr>
      </p:sp>
      <p:sp>
        <p:nvSpPr>
          <p:cNvPr id="20" name="Text 18"/>
          <p:cNvSpPr/>
          <p:nvPr/>
        </p:nvSpPr>
        <p:spPr>
          <a:xfrm>
            <a:off x="5468112" y="1298448"/>
            <a:ext cx="1572768"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5513832" y="1691640"/>
            <a:ext cx="148132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Connection</a:t>
            </a:r>
            <a:endParaRPr lang="en-US" sz="1400" dirty="0"/>
          </a:p>
        </p:txBody>
      </p:sp>
      <p:sp>
        <p:nvSpPr>
          <p:cNvPr id="22" name="Text 20"/>
          <p:cNvSpPr/>
          <p:nvPr/>
        </p:nvSpPr>
        <p:spPr>
          <a:xfrm>
            <a:off x="5513832" y="2103120"/>
            <a:ext cx="1481328" cy="150876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"How does this connect to what I already know?"</a:t>
            </a:r>
            <a:endParaRPr lang="en-US" sz="1100" dirty="0"/>
          </a:p>
        </p:txBody>
      </p:sp>
      <p:sp>
        <p:nvSpPr>
          <p:cNvPr id="23" name="Shape 21"/>
          <p:cNvSpPr/>
          <p:nvPr/>
        </p:nvSpPr>
        <p:spPr>
          <a:xfrm>
            <a:off x="7223760" y="1234440"/>
            <a:ext cx="1572768" cy="2487168"/>
          </a:xfrm>
          <a:prstGeom prst="roundRect">
            <a:avLst>
              <a:gd name="adj" fmla="val 6977"/>
            </a:avLst>
          </a:prstGeom>
          <a:solidFill>
            <a:srgbClr val="E8636B"/>
          </a:solidFill>
          <a:ln/>
          <a:effectLst>
            <a:outerShdw sx="100000" sy="100000" kx="0" ky="0" algn="bl" rotWithShape="0" blurRad="63500" dist="25400" dir="8100000">
              <a:srgbClr val="000000">
                <a:alpha val="20000"/>
              </a:srgbClr>
            </a:outerShdw>
          </a:effectLst>
        </p:spPr>
      </p:sp>
      <p:sp>
        <p:nvSpPr>
          <p:cNvPr id="24" name="Text 22"/>
          <p:cNvSpPr/>
          <p:nvPr/>
        </p:nvSpPr>
        <p:spPr>
          <a:xfrm>
            <a:off x="7223760" y="1298448"/>
            <a:ext cx="1572768"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p:nvPr/>
        </p:nvSpPr>
        <p:spPr>
          <a:xfrm>
            <a:off x="7269480" y="1691640"/>
            <a:ext cx="148132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Significance</a:t>
            </a:r>
            <a:endParaRPr lang="en-US" sz="1400" dirty="0"/>
          </a:p>
        </p:txBody>
      </p:sp>
      <p:sp>
        <p:nvSpPr>
          <p:cNvPr id="26" name="Text 24"/>
          <p:cNvSpPr/>
          <p:nvPr/>
        </p:nvSpPr>
        <p:spPr>
          <a:xfrm>
            <a:off x="7269480" y="2103120"/>
            <a:ext cx="1481328" cy="150876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"Why does this matter?"</a:t>
            </a:r>
            <a:endParaRPr lang="en-US" sz="1100" dirty="0"/>
          </a:p>
        </p:txBody>
      </p:sp>
      <p:sp>
        <p:nvSpPr>
          <p:cNvPr id="27" name="Shape 25"/>
          <p:cNvSpPr/>
          <p:nvPr/>
        </p:nvSpPr>
        <p:spPr>
          <a:xfrm>
            <a:off x="731520" y="3840480"/>
            <a:ext cx="7680960" cy="777240"/>
          </a:xfrm>
          <a:prstGeom prst="roundRect">
            <a:avLst>
              <a:gd name="adj" fmla="val 11765"/>
            </a:avLst>
          </a:prstGeom>
          <a:solidFill>
            <a:srgbClr val="1A2D5A"/>
          </a:solidFill>
          <a:ln w="12700">
            <a:solidFill>
              <a:srgbClr val="3A5080"/>
            </a:solidFill>
            <a:prstDash val="solid"/>
          </a:ln>
        </p:spPr>
      </p:sp>
      <p:sp>
        <p:nvSpPr>
          <p:cNvPr id="28" name="Text 26"/>
          <p:cNvSpPr/>
          <p:nvPr/>
        </p:nvSpPr>
        <p:spPr>
          <a:xfrm>
            <a:off x="914400" y="3931920"/>
            <a:ext cx="7315200" cy="594360"/>
          </a:xfrm>
          <a:prstGeom prst="rect">
            <a:avLst/>
          </a:prstGeom>
          <a:noFill/>
          <a:ln/>
        </p:spPr>
        <p:txBody>
          <a:bodyPr wrap="square" lIns="0" tIns="0" rIns="0" bIns="0"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A curator who asks all five questions writes labels visitors can trust. A curator who skips them might put wrong information on the museum wall.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CURATOR'S STRATEGY  ·  ORDER MATTERS</a:t>
            </a:r>
            <a:endParaRPr lang="en-US" sz="1000" dirty="0"/>
          </a:p>
        </p:txBody>
      </p:sp>
      <p:sp>
        <p:nvSpPr>
          <p:cNvPr id="4" name="Text 2"/>
          <p:cNvSpPr/>
          <p:nvPr/>
        </p:nvSpPr>
        <p:spPr>
          <a:xfrm>
            <a:off x="365760" y="548640"/>
            <a:ext cx="8229600" cy="475488"/>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Real curators always do these in order.</a:t>
            </a:r>
            <a:endParaRPr lang="en-US" sz="2400" dirty="0"/>
          </a:p>
        </p:txBody>
      </p:sp>
      <p:sp>
        <p:nvSpPr>
          <p:cNvPr id="5" name="Shape 3"/>
          <p:cNvSpPr/>
          <p:nvPr/>
        </p:nvSpPr>
        <p:spPr>
          <a:xfrm>
            <a:off x="365760" y="1170432"/>
            <a:ext cx="1481328" cy="914400"/>
          </a:xfrm>
          <a:prstGeom prst="roundRect">
            <a:avLst>
              <a:gd name="adj" fmla="val 10000"/>
            </a:avLst>
          </a:prstGeom>
          <a:solidFill>
            <a:srgbClr val="1A8A7D"/>
          </a:solidFill>
          <a:ln/>
        </p:spPr>
      </p:sp>
      <p:sp>
        <p:nvSpPr>
          <p:cNvPr id="6" name="Text 4"/>
          <p:cNvSpPr/>
          <p:nvPr/>
        </p:nvSpPr>
        <p:spPr>
          <a:xfrm>
            <a:off x="365760" y="1216152"/>
            <a:ext cx="1481328"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Observation</a:t>
            </a:r>
            <a:endParaRPr lang="en-US" sz="1300" dirty="0"/>
          </a:p>
        </p:txBody>
      </p:sp>
      <p:sp>
        <p:nvSpPr>
          <p:cNvPr id="7" name="Shape 5"/>
          <p:cNvSpPr/>
          <p:nvPr/>
        </p:nvSpPr>
        <p:spPr>
          <a:xfrm>
            <a:off x="1847088" y="1591056"/>
            <a:ext cx="219456" cy="73152"/>
          </a:xfrm>
          <a:prstGeom prst="rect">
            <a:avLst/>
          </a:prstGeom>
          <a:solidFill>
            <a:srgbClr val="B0B8CC"/>
          </a:solidFill>
          <a:ln w="12700">
            <a:solidFill>
              <a:srgbClr val="B0B8CC"/>
            </a:solidFill>
            <a:prstDash val="solid"/>
          </a:ln>
        </p:spPr>
      </p:sp>
      <p:sp>
        <p:nvSpPr>
          <p:cNvPr id="8" name="Shape 6"/>
          <p:cNvSpPr/>
          <p:nvPr/>
        </p:nvSpPr>
        <p:spPr>
          <a:xfrm>
            <a:off x="2066544" y="1170432"/>
            <a:ext cx="1481328" cy="914400"/>
          </a:xfrm>
          <a:prstGeom prst="roundRect">
            <a:avLst>
              <a:gd name="adj" fmla="val 10000"/>
            </a:avLst>
          </a:prstGeom>
          <a:solidFill>
            <a:srgbClr val="1A2D5A"/>
          </a:solidFill>
          <a:ln/>
        </p:spPr>
      </p:sp>
      <p:sp>
        <p:nvSpPr>
          <p:cNvPr id="9" name="Text 7"/>
          <p:cNvSpPr/>
          <p:nvPr/>
        </p:nvSpPr>
        <p:spPr>
          <a:xfrm>
            <a:off x="2066544" y="1216152"/>
            <a:ext cx="1481328"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Context</a:t>
            </a:r>
            <a:endParaRPr lang="en-US" sz="1300" dirty="0"/>
          </a:p>
        </p:txBody>
      </p:sp>
      <p:sp>
        <p:nvSpPr>
          <p:cNvPr id="10" name="Shape 8"/>
          <p:cNvSpPr/>
          <p:nvPr/>
        </p:nvSpPr>
        <p:spPr>
          <a:xfrm>
            <a:off x="3547872" y="1591056"/>
            <a:ext cx="219456" cy="73152"/>
          </a:xfrm>
          <a:prstGeom prst="rect">
            <a:avLst/>
          </a:prstGeom>
          <a:solidFill>
            <a:srgbClr val="B0B8CC"/>
          </a:solidFill>
          <a:ln w="12700">
            <a:solidFill>
              <a:srgbClr val="B0B8CC"/>
            </a:solidFill>
            <a:prstDash val="solid"/>
          </a:ln>
        </p:spPr>
      </p:sp>
      <p:sp>
        <p:nvSpPr>
          <p:cNvPr id="11" name="Shape 9"/>
          <p:cNvSpPr/>
          <p:nvPr/>
        </p:nvSpPr>
        <p:spPr>
          <a:xfrm>
            <a:off x="3767328" y="1170432"/>
            <a:ext cx="1481328" cy="914400"/>
          </a:xfrm>
          <a:prstGeom prst="roundRect">
            <a:avLst>
              <a:gd name="adj" fmla="val 10000"/>
            </a:avLst>
          </a:prstGeom>
          <a:solidFill>
            <a:srgbClr val="8B6FC0"/>
          </a:solidFill>
          <a:ln/>
        </p:spPr>
      </p:sp>
      <p:sp>
        <p:nvSpPr>
          <p:cNvPr id="12" name="Text 10"/>
          <p:cNvSpPr/>
          <p:nvPr/>
        </p:nvSpPr>
        <p:spPr>
          <a:xfrm>
            <a:off x="3767328" y="1216152"/>
            <a:ext cx="1481328"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Evidence</a:t>
            </a:r>
            <a:endParaRPr lang="en-US" sz="1300" dirty="0"/>
          </a:p>
        </p:txBody>
      </p:sp>
      <p:sp>
        <p:nvSpPr>
          <p:cNvPr id="13" name="Shape 11"/>
          <p:cNvSpPr/>
          <p:nvPr/>
        </p:nvSpPr>
        <p:spPr>
          <a:xfrm>
            <a:off x="5248656" y="1591056"/>
            <a:ext cx="219456" cy="73152"/>
          </a:xfrm>
          <a:prstGeom prst="rect">
            <a:avLst/>
          </a:prstGeom>
          <a:solidFill>
            <a:srgbClr val="B0B8CC"/>
          </a:solidFill>
          <a:ln w="12700">
            <a:solidFill>
              <a:srgbClr val="B0B8CC"/>
            </a:solidFill>
            <a:prstDash val="solid"/>
          </a:ln>
        </p:spPr>
      </p:sp>
      <p:sp>
        <p:nvSpPr>
          <p:cNvPr id="14" name="Shape 12"/>
          <p:cNvSpPr/>
          <p:nvPr/>
        </p:nvSpPr>
        <p:spPr>
          <a:xfrm>
            <a:off x="5468112" y="1170432"/>
            <a:ext cx="1481328" cy="914400"/>
          </a:xfrm>
          <a:prstGeom prst="roundRect">
            <a:avLst>
              <a:gd name="adj" fmla="val 10000"/>
            </a:avLst>
          </a:prstGeom>
          <a:solidFill>
            <a:srgbClr val="D4943A"/>
          </a:solidFill>
          <a:ln/>
        </p:spPr>
      </p:sp>
      <p:sp>
        <p:nvSpPr>
          <p:cNvPr id="15" name="Text 13"/>
          <p:cNvSpPr/>
          <p:nvPr/>
        </p:nvSpPr>
        <p:spPr>
          <a:xfrm>
            <a:off x="5468112" y="1216152"/>
            <a:ext cx="1481328"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Connection</a:t>
            </a:r>
            <a:endParaRPr lang="en-US" sz="1300" dirty="0"/>
          </a:p>
        </p:txBody>
      </p:sp>
      <p:sp>
        <p:nvSpPr>
          <p:cNvPr id="16" name="Shape 14"/>
          <p:cNvSpPr/>
          <p:nvPr/>
        </p:nvSpPr>
        <p:spPr>
          <a:xfrm>
            <a:off x="6949440" y="1591056"/>
            <a:ext cx="219456" cy="73152"/>
          </a:xfrm>
          <a:prstGeom prst="rect">
            <a:avLst/>
          </a:prstGeom>
          <a:solidFill>
            <a:srgbClr val="B0B8CC"/>
          </a:solidFill>
          <a:ln w="12700">
            <a:solidFill>
              <a:srgbClr val="B0B8CC"/>
            </a:solidFill>
            <a:prstDash val="solid"/>
          </a:ln>
        </p:spPr>
      </p:sp>
      <p:sp>
        <p:nvSpPr>
          <p:cNvPr id="17" name="Shape 15"/>
          <p:cNvSpPr/>
          <p:nvPr/>
        </p:nvSpPr>
        <p:spPr>
          <a:xfrm>
            <a:off x="7168896" y="1170432"/>
            <a:ext cx="1481328" cy="914400"/>
          </a:xfrm>
          <a:prstGeom prst="roundRect">
            <a:avLst>
              <a:gd name="adj" fmla="val 10000"/>
            </a:avLst>
          </a:prstGeom>
          <a:solidFill>
            <a:srgbClr val="E8636B"/>
          </a:solidFill>
          <a:ln/>
        </p:spPr>
      </p:sp>
      <p:sp>
        <p:nvSpPr>
          <p:cNvPr id="18" name="Text 16"/>
          <p:cNvSpPr/>
          <p:nvPr/>
        </p:nvSpPr>
        <p:spPr>
          <a:xfrm>
            <a:off x="7168896" y="1216152"/>
            <a:ext cx="1481328"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Significance</a:t>
            </a:r>
            <a:endParaRPr lang="en-US" sz="1300" dirty="0"/>
          </a:p>
        </p:txBody>
      </p:sp>
      <p:sp>
        <p:nvSpPr>
          <p:cNvPr id="19" name="Shape 17"/>
          <p:cNvSpPr/>
          <p:nvPr/>
        </p:nvSpPr>
        <p:spPr>
          <a:xfrm>
            <a:off x="365760" y="2212848"/>
            <a:ext cx="8503920" cy="1234440"/>
          </a:xfrm>
          <a:prstGeom prst="roundRect">
            <a:avLst>
              <a:gd name="adj" fmla="val 8889"/>
            </a:avLst>
          </a:prstGeom>
          <a:solidFill>
            <a:srgbClr val="FFF3DC"/>
          </a:solidFill>
          <a:ln w="19050">
            <a:solidFill>
              <a:srgbClr val="F5E6C8"/>
            </a:solidFill>
            <a:prstDash val="solid"/>
          </a:ln>
        </p:spPr>
      </p:sp>
      <p:sp>
        <p:nvSpPr>
          <p:cNvPr id="20" name="Text 18"/>
          <p:cNvSpPr/>
          <p:nvPr/>
        </p:nvSpPr>
        <p:spPr>
          <a:xfrm>
            <a:off x="548640" y="2286000"/>
            <a:ext cx="82296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21" name="Text 19"/>
          <p:cNvSpPr/>
          <p:nvPr/>
        </p:nvSpPr>
        <p:spPr>
          <a:xfrm>
            <a:off x="548640" y="2542032"/>
            <a:ext cx="8229600" cy="822960"/>
          </a:xfrm>
          <a:prstGeom prst="rect">
            <a:avLst/>
          </a:prstGeom>
          <a:noFill/>
          <a:ln/>
        </p:spPr>
        <p:txBody>
          <a:bodyPr wrap="square" lIns="0" tIns="0" rIns="0" bIns="0" rtlCol="0" anchor="t"/>
          <a:lstStyle/>
          <a:p>
            <a:pPr indent="0" marL="0">
              <a:buNone/>
            </a:pPr>
            <a:r>
              <a:rPr lang="en-US" sz="1300" dirty="0">
                <a:solidFill>
                  <a:srgbClr val="5A4A3A"/>
                </a:solidFill>
                <a:latin typeface="Calibri" pitchFamily="34" charset="0"/>
                <a:ea typeface="Calibri" pitchFamily="34" charset="-122"/>
                <a:cs typeface="Calibri" pitchFamily="34" charset="-120"/>
              </a:rPr>
              <a:t>Start with Observation and save Significance for last. If you try to explain WHY something matters before you've even looked carefully, you might miss something important! Look first. Ask 'why it matters' only after you really know what 'it' is.</a:t>
            </a:r>
            <a:endParaRPr lang="en-US" sz="1300" dirty="0"/>
          </a:p>
        </p:txBody>
      </p:sp>
      <p:sp>
        <p:nvSpPr>
          <p:cNvPr id="22" name="Shape 20"/>
          <p:cNvSpPr/>
          <p:nvPr/>
        </p:nvSpPr>
        <p:spPr>
          <a:xfrm>
            <a:off x="365760" y="3566160"/>
            <a:ext cx="4114800" cy="1051560"/>
          </a:xfrm>
          <a:prstGeom prst="roundRect">
            <a:avLst>
              <a:gd name="adj" fmla="val 10435"/>
            </a:avLst>
          </a:prstGeom>
          <a:solidFill>
            <a:srgbClr val="FFF3DC"/>
          </a:solidFill>
          <a:ln w="19050">
            <a:solidFill>
              <a:srgbClr val="F5E6C8"/>
            </a:solidFill>
            <a:prstDash val="solid"/>
          </a:ln>
        </p:spPr>
      </p:sp>
      <p:sp>
        <p:nvSpPr>
          <p:cNvPr id="23" name="Text 21"/>
          <p:cNvSpPr/>
          <p:nvPr/>
        </p:nvSpPr>
        <p:spPr>
          <a:xfrm>
            <a:off x="502920" y="362102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4" name="Text 22"/>
          <p:cNvSpPr/>
          <p:nvPr/>
        </p:nvSpPr>
        <p:spPr>
          <a:xfrm>
            <a:off x="502920" y="3822192"/>
            <a:ext cx="3840480" cy="731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skip Observation and jump straight to Significance, I might..."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order matters because..."</a:t>
            </a:r>
            <a:endParaRPr lang="en-US" sz="1200" dirty="0"/>
          </a:p>
        </p:txBody>
      </p:sp>
      <p:sp>
        <p:nvSpPr>
          <p:cNvPr id="25" name="Shape 23"/>
          <p:cNvSpPr/>
          <p:nvPr/>
        </p:nvSpPr>
        <p:spPr>
          <a:xfrm>
            <a:off x="4663440" y="3566160"/>
            <a:ext cx="4206240" cy="1051560"/>
          </a:xfrm>
          <a:prstGeom prst="roundRect">
            <a:avLst>
              <a:gd name="adj" fmla="val 13043"/>
            </a:avLst>
          </a:prstGeom>
          <a:solidFill>
            <a:srgbClr val="1A2D5A"/>
          </a:solidFill>
          <a:ln/>
          <a:effectLst>
            <a:outerShdw sx="100000" sy="100000" kx="0" ky="0" algn="bl" rotWithShape="0" blurRad="101600" dist="38100" dir="8100000">
              <a:srgbClr val="000000">
                <a:alpha val="20000"/>
              </a:srgbClr>
            </a:outerShdw>
          </a:effectLst>
        </p:spPr>
      </p:sp>
      <p:sp>
        <p:nvSpPr>
          <p:cNvPr id="26" name="Text 24"/>
          <p:cNvSpPr/>
          <p:nvPr/>
        </p:nvSpPr>
        <p:spPr>
          <a:xfrm>
            <a:off x="4846320" y="3657600"/>
            <a:ext cx="38404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7" name="Text 25"/>
          <p:cNvSpPr/>
          <p:nvPr/>
        </p:nvSpPr>
        <p:spPr>
          <a:xfrm>
            <a:off x="4846320" y="3913632"/>
            <a:ext cx="3840480" cy="612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could go wrong if you jumped straight to Significance?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we call it 'Observation' and not 'Guessing'?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else in life do you 'look first, then explain'?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RETRIEVAL CHALLENGE  ·  MEMORY CHECK</a:t>
            </a:r>
            <a:endParaRPr lang="en-US" sz="1000" dirty="0"/>
          </a:p>
        </p:txBody>
      </p:sp>
      <p:sp>
        <p:nvSpPr>
          <p:cNvPr id="4" name="Shape 2"/>
          <p:cNvSpPr/>
          <p:nvPr/>
        </p:nvSpPr>
        <p:spPr>
          <a:xfrm>
            <a:off x="731520" y="548640"/>
            <a:ext cx="7680960" cy="960120"/>
          </a:xfrm>
          <a:prstGeom prst="roundRect">
            <a:avLst>
              <a:gd name="adj" fmla="val 9524"/>
            </a:avLst>
          </a:prstGeom>
          <a:solidFill>
            <a:srgbClr val="F0E8FF"/>
          </a:solidFill>
          <a:ln w="25400">
            <a:solidFill>
              <a:srgbClr val="8B6FC0"/>
            </a:solidFill>
            <a:prstDash val="solid"/>
          </a:ln>
        </p:spPr>
      </p:sp>
      <p:sp>
        <p:nvSpPr>
          <p:cNvPr id="5" name="Text 3"/>
          <p:cNvSpPr/>
          <p:nvPr/>
        </p:nvSpPr>
        <p:spPr>
          <a:xfrm>
            <a:off x="914400" y="658368"/>
            <a:ext cx="7315200" cy="731520"/>
          </a:xfrm>
          <a:prstGeom prst="rect">
            <a:avLst/>
          </a:prstGeom>
          <a:noFill/>
          <a:ln/>
        </p:spPr>
        <p:txBody>
          <a:bodyPr wrap="square" lIns="0" tIns="0" rIns="0" bIns="0" rtlCol="0" anchor="ctr"/>
          <a:lstStyle/>
          <a:p>
            <a:pPr algn="ctr" indent="0" marL="0">
              <a:buNone/>
            </a:pPr>
            <a:r>
              <a:rPr lang="en-US" sz="1900" b="1" dirty="0">
                <a:solidFill>
                  <a:srgbClr val="0E1C42"/>
                </a:solidFill>
                <a:latin typeface="Cambria" pitchFamily="34" charset="0"/>
                <a:ea typeface="Cambria" pitchFamily="34" charset="-122"/>
                <a:cs typeface="Cambria" pitchFamily="34" charset="-120"/>
              </a:rPr>
              <a:t>Cover your screen. Name all FIVE question types from memory. Type them in order in chat.</a:t>
            </a:r>
            <a:endParaRPr lang="en-US" sz="1900" dirty="0"/>
          </a:p>
        </p:txBody>
      </p:sp>
      <p:sp>
        <p:nvSpPr>
          <p:cNvPr id="6" name="Shape 4"/>
          <p:cNvSpPr/>
          <p:nvPr/>
        </p:nvSpPr>
        <p:spPr>
          <a:xfrm>
            <a:off x="365760" y="1664208"/>
            <a:ext cx="1481328" cy="1965960"/>
          </a:xfrm>
          <a:prstGeom prst="roundRect">
            <a:avLst>
              <a:gd name="adj" fmla="val 7407"/>
            </a:avLst>
          </a:prstGeom>
          <a:solidFill>
            <a:srgbClr val="F0F2F8"/>
          </a:solidFill>
          <a:ln w="19050">
            <a:solidFill>
              <a:srgbClr val="B0B8CC"/>
            </a:solidFill>
            <a:prstDash val="dash"/>
          </a:ln>
        </p:spPr>
      </p:sp>
      <p:sp>
        <p:nvSpPr>
          <p:cNvPr id="7" name="Text 5"/>
          <p:cNvSpPr/>
          <p:nvPr/>
        </p:nvSpPr>
        <p:spPr>
          <a:xfrm>
            <a:off x="365760" y="1737360"/>
            <a:ext cx="1481328" cy="402336"/>
          </a:xfrm>
          <a:prstGeom prst="rect">
            <a:avLst/>
          </a:prstGeom>
          <a:noFill/>
          <a:ln/>
        </p:spPr>
        <p:txBody>
          <a:bodyPr wrap="square" lIns="0" tIns="0" rIns="0" bIns="0" rtlCol="0" anchor="ctr"/>
          <a:lstStyle/>
          <a:p>
            <a:pPr algn="ctr" indent="0" marL="0">
              <a:buNone/>
            </a:pPr>
            <a:r>
              <a:rPr lang="en-US" sz="2600" b="1" dirty="0">
                <a:solidFill>
                  <a:srgbClr val="B0B8CC"/>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365760" y="2176272"/>
            <a:ext cx="1481328" cy="1051560"/>
          </a:xfrm>
          <a:prstGeom prst="rect">
            <a:avLst/>
          </a:prstGeom>
          <a:noFill/>
          <a:ln/>
        </p:spPr>
        <p:txBody>
          <a:bodyPr wrap="square" lIns="0" tIns="0" rIns="0" bIns="0" rtlCol="0" anchor="ctr"/>
          <a:lstStyle/>
          <a:p>
            <a:pPr algn="ctr" indent="0" marL="0">
              <a:buNone/>
            </a:pPr>
            <a:r>
              <a:rPr lang="en-US" sz="4000" dirty="0">
                <a:solidFill>
                  <a:srgbClr val="D0D8E8"/>
                </a:solidFill>
                <a:latin typeface="Cambria" pitchFamily="34" charset="0"/>
                <a:ea typeface="Cambria" pitchFamily="34" charset="-122"/>
                <a:cs typeface="Cambria" pitchFamily="34" charset="-120"/>
              </a:rPr>
              <a:t>?</a:t>
            </a:r>
            <a:endParaRPr lang="en-US" sz="4000" dirty="0"/>
          </a:p>
        </p:txBody>
      </p:sp>
      <p:sp>
        <p:nvSpPr>
          <p:cNvPr id="9" name="Shape 7"/>
          <p:cNvSpPr/>
          <p:nvPr/>
        </p:nvSpPr>
        <p:spPr>
          <a:xfrm>
            <a:off x="2066544" y="1664208"/>
            <a:ext cx="1481328" cy="1965960"/>
          </a:xfrm>
          <a:prstGeom prst="roundRect">
            <a:avLst>
              <a:gd name="adj" fmla="val 7407"/>
            </a:avLst>
          </a:prstGeom>
          <a:solidFill>
            <a:srgbClr val="F0F2F8"/>
          </a:solidFill>
          <a:ln w="19050">
            <a:solidFill>
              <a:srgbClr val="B0B8CC"/>
            </a:solidFill>
            <a:prstDash val="dash"/>
          </a:ln>
        </p:spPr>
      </p:sp>
      <p:sp>
        <p:nvSpPr>
          <p:cNvPr id="10" name="Text 8"/>
          <p:cNvSpPr/>
          <p:nvPr/>
        </p:nvSpPr>
        <p:spPr>
          <a:xfrm>
            <a:off x="2066544" y="1737360"/>
            <a:ext cx="1481328" cy="402336"/>
          </a:xfrm>
          <a:prstGeom prst="rect">
            <a:avLst/>
          </a:prstGeom>
          <a:noFill/>
          <a:ln/>
        </p:spPr>
        <p:txBody>
          <a:bodyPr wrap="square" lIns="0" tIns="0" rIns="0" bIns="0" rtlCol="0" anchor="ctr"/>
          <a:lstStyle/>
          <a:p>
            <a:pPr algn="ctr" indent="0" marL="0">
              <a:buNone/>
            </a:pPr>
            <a:r>
              <a:rPr lang="en-US" sz="2600" b="1" dirty="0">
                <a:solidFill>
                  <a:srgbClr val="B0B8CC"/>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2066544" y="2176272"/>
            <a:ext cx="1481328" cy="1051560"/>
          </a:xfrm>
          <a:prstGeom prst="rect">
            <a:avLst/>
          </a:prstGeom>
          <a:noFill/>
          <a:ln/>
        </p:spPr>
        <p:txBody>
          <a:bodyPr wrap="square" lIns="0" tIns="0" rIns="0" bIns="0" rtlCol="0" anchor="ctr"/>
          <a:lstStyle/>
          <a:p>
            <a:pPr algn="ctr" indent="0" marL="0">
              <a:buNone/>
            </a:pPr>
            <a:r>
              <a:rPr lang="en-US" sz="4000" dirty="0">
                <a:solidFill>
                  <a:srgbClr val="D0D8E8"/>
                </a:solidFill>
                <a:latin typeface="Cambria" pitchFamily="34" charset="0"/>
                <a:ea typeface="Cambria" pitchFamily="34" charset="-122"/>
                <a:cs typeface="Cambria" pitchFamily="34" charset="-120"/>
              </a:rPr>
              <a:t>?</a:t>
            </a:r>
            <a:endParaRPr lang="en-US" sz="4000" dirty="0"/>
          </a:p>
        </p:txBody>
      </p:sp>
      <p:sp>
        <p:nvSpPr>
          <p:cNvPr id="12" name="Shape 10"/>
          <p:cNvSpPr/>
          <p:nvPr/>
        </p:nvSpPr>
        <p:spPr>
          <a:xfrm>
            <a:off x="3767328" y="1664208"/>
            <a:ext cx="1481328" cy="1965960"/>
          </a:xfrm>
          <a:prstGeom prst="roundRect">
            <a:avLst>
              <a:gd name="adj" fmla="val 7407"/>
            </a:avLst>
          </a:prstGeom>
          <a:solidFill>
            <a:srgbClr val="F0F2F8"/>
          </a:solidFill>
          <a:ln w="19050">
            <a:solidFill>
              <a:srgbClr val="B0B8CC"/>
            </a:solidFill>
            <a:prstDash val="dash"/>
          </a:ln>
        </p:spPr>
      </p:sp>
      <p:sp>
        <p:nvSpPr>
          <p:cNvPr id="13" name="Text 11"/>
          <p:cNvSpPr/>
          <p:nvPr/>
        </p:nvSpPr>
        <p:spPr>
          <a:xfrm>
            <a:off x="3767328" y="1737360"/>
            <a:ext cx="1481328" cy="402336"/>
          </a:xfrm>
          <a:prstGeom prst="rect">
            <a:avLst/>
          </a:prstGeom>
          <a:noFill/>
          <a:ln/>
        </p:spPr>
        <p:txBody>
          <a:bodyPr wrap="square" lIns="0" tIns="0" rIns="0" bIns="0" rtlCol="0" anchor="ctr"/>
          <a:lstStyle/>
          <a:p>
            <a:pPr algn="ctr" indent="0" marL="0">
              <a:buNone/>
            </a:pPr>
            <a:r>
              <a:rPr lang="en-US" sz="2600" b="1" dirty="0">
                <a:solidFill>
                  <a:srgbClr val="B0B8CC"/>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3767328" y="2176272"/>
            <a:ext cx="1481328" cy="1051560"/>
          </a:xfrm>
          <a:prstGeom prst="rect">
            <a:avLst/>
          </a:prstGeom>
          <a:noFill/>
          <a:ln/>
        </p:spPr>
        <p:txBody>
          <a:bodyPr wrap="square" lIns="0" tIns="0" rIns="0" bIns="0" rtlCol="0" anchor="ctr"/>
          <a:lstStyle/>
          <a:p>
            <a:pPr algn="ctr" indent="0" marL="0">
              <a:buNone/>
            </a:pPr>
            <a:r>
              <a:rPr lang="en-US" sz="4000" dirty="0">
                <a:solidFill>
                  <a:srgbClr val="D0D8E8"/>
                </a:solidFill>
                <a:latin typeface="Cambria" pitchFamily="34" charset="0"/>
                <a:ea typeface="Cambria" pitchFamily="34" charset="-122"/>
                <a:cs typeface="Cambria" pitchFamily="34" charset="-120"/>
              </a:rPr>
              <a:t>?</a:t>
            </a:r>
            <a:endParaRPr lang="en-US" sz="4000" dirty="0"/>
          </a:p>
        </p:txBody>
      </p:sp>
      <p:sp>
        <p:nvSpPr>
          <p:cNvPr id="15" name="Shape 13"/>
          <p:cNvSpPr/>
          <p:nvPr/>
        </p:nvSpPr>
        <p:spPr>
          <a:xfrm>
            <a:off x="5468112" y="1664208"/>
            <a:ext cx="1481328" cy="1965960"/>
          </a:xfrm>
          <a:prstGeom prst="roundRect">
            <a:avLst>
              <a:gd name="adj" fmla="val 7407"/>
            </a:avLst>
          </a:prstGeom>
          <a:solidFill>
            <a:srgbClr val="F0F2F8"/>
          </a:solidFill>
          <a:ln w="19050">
            <a:solidFill>
              <a:srgbClr val="B0B8CC"/>
            </a:solidFill>
            <a:prstDash val="dash"/>
          </a:ln>
        </p:spPr>
      </p:sp>
      <p:sp>
        <p:nvSpPr>
          <p:cNvPr id="16" name="Text 14"/>
          <p:cNvSpPr/>
          <p:nvPr/>
        </p:nvSpPr>
        <p:spPr>
          <a:xfrm>
            <a:off x="5468112" y="1737360"/>
            <a:ext cx="1481328" cy="402336"/>
          </a:xfrm>
          <a:prstGeom prst="rect">
            <a:avLst/>
          </a:prstGeom>
          <a:noFill/>
          <a:ln/>
        </p:spPr>
        <p:txBody>
          <a:bodyPr wrap="square" lIns="0" tIns="0" rIns="0" bIns="0" rtlCol="0" anchor="ctr"/>
          <a:lstStyle/>
          <a:p>
            <a:pPr algn="ctr" indent="0" marL="0">
              <a:buNone/>
            </a:pPr>
            <a:r>
              <a:rPr lang="en-US" sz="2600" b="1" dirty="0">
                <a:solidFill>
                  <a:srgbClr val="B0B8CC"/>
                </a:solidFill>
                <a:latin typeface="Cambria" pitchFamily="34" charset="0"/>
                <a:ea typeface="Cambria" pitchFamily="34" charset="-122"/>
                <a:cs typeface="Cambria" pitchFamily="34" charset="-120"/>
              </a:rPr>
              <a:t>4</a:t>
            </a:r>
            <a:endParaRPr lang="en-US" sz="2600" dirty="0"/>
          </a:p>
        </p:txBody>
      </p:sp>
      <p:sp>
        <p:nvSpPr>
          <p:cNvPr id="17" name="Text 15"/>
          <p:cNvSpPr/>
          <p:nvPr/>
        </p:nvSpPr>
        <p:spPr>
          <a:xfrm>
            <a:off x="5468112" y="2176272"/>
            <a:ext cx="1481328" cy="1051560"/>
          </a:xfrm>
          <a:prstGeom prst="rect">
            <a:avLst/>
          </a:prstGeom>
          <a:noFill/>
          <a:ln/>
        </p:spPr>
        <p:txBody>
          <a:bodyPr wrap="square" lIns="0" tIns="0" rIns="0" bIns="0" rtlCol="0" anchor="ctr"/>
          <a:lstStyle/>
          <a:p>
            <a:pPr algn="ctr" indent="0" marL="0">
              <a:buNone/>
            </a:pPr>
            <a:r>
              <a:rPr lang="en-US" sz="4000" dirty="0">
                <a:solidFill>
                  <a:srgbClr val="D0D8E8"/>
                </a:solidFill>
                <a:latin typeface="Cambria" pitchFamily="34" charset="0"/>
                <a:ea typeface="Cambria" pitchFamily="34" charset="-122"/>
                <a:cs typeface="Cambria" pitchFamily="34" charset="-120"/>
              </a:rPr>
              <a:t>?</a:t>
            </a:r>
            <a:endParaRPr lang="en-US" sz="4000" dirty="0"/>
          </a:p>
        </p:txBody>
      </p:sp>
      <p:sp>
        <p:nvSpPr>
          <p:cNvPr id="18" name="Shape 16"/>
          <p:cNvSpPr/>
          <p:nvPr/>
        </p:nvSpPr>
        <p:spPr>
          <a:xfrm>
            <a:off x="7168896" y="1664208"/>
            <a:ext cx="1481328" cy="1965960"/>
          </a:xfrm>
          <a:prstGeom prst="roundRect">
            <a:avLst>
              <a:gd name="adj" fmla="val 7407"/>
            </a:avLst>
          </a:prstGeom>
          <a:solidFill>
            <a:srgbClr val="F0F2F8"/>
          </a:solidFill>
          <a:ln w="19050">
            <a:solidFill>
              <a:srgbClr val="B0B8CC"/>
            </a:solidFill>
            <a:prstDash val="dash"/>
          </a:ln>
        </p:spPr>
      </p:sp>
      <p:sp>
        <p:nvSpPr>
          <p:cNvPr id="19" name="Text 17"/>
          <p:cNvSpPr/>
          <p:nvPr/>
        </p:nvSpPr>
        <p:spPr>
          <a:xfrm>
            <a:off x="7168896" y="1737360"/>
            <a:ext cx="1481328" cy="402336"/>
          </a:xfrm>
          <a:prstGeom prst="rect">
            <a:avLst/>
          </a:prstGeom>
          <a:noFill/>
          <a:ln/>
        </p:spPr>
        <p:txBody>
          <a:bodyPr wrap="square" lIns="0" tIns="0" rIns="0" bIns="0" rtlCol="0" anchor="ctr"/>
          <a:lstStyle/>
          <a:p>
            <a:pPr algn="ctr" indent="0" marL="0">
              <a:buNone/>
            </a:pPr>
            <a:r>
              <a:rPr lang="en-US" sz="2600" b="1" dirty="0">
                <a:solidFill>
                  <a:srgbClr val="B0B8CC"/>
                </a:solidFill>
                <a:latin typeface="Cambria" pitchFamily="34" charset="0"/>
                <a:ea typeface="Cambria" pitchFamily="34" charset="-122"/>
                <a:cs typeface="Cambria" pitchFamily="34" charset="-120"/>
              </a:rPr>
              <a:t>5</a:t>
            </a:r>
            <a:endParaRPr lang="en-US" sz="2600" dirty="0"/>
          </a:p>
        </p:txBody>
      </p:sp>
      <p:sp>
        <p:nvSpPr>
          <p:cNvPr id="20" name="Text 18"/>
          <p:cNvSpPr/>
          <p:nvPr/>
        </p:nvSpPr>
        <p:spPr>
          <a:xfrm>
            <a:off x="7168896" y="2176272"/>
            <a:ext cx="1481328" cy="1051560"/>
          </a:xfrm>
          <a:prstGeom prst="rect">
            <a:avLst/>
          </a:prstGeom>
          <a:noFill/>
          <a:ln/>
        </p:spPr>
        <p:txBody>
          <a:bodyPr wrap="square" lIns="0" tIns="0" rIns="0" bIns="0" rtlCol="0" anchor="ctr"/>
          <a:lstStyle/>
          <a:p>
            <a:pPr algn="ctr" indent="0" marL="0">
              <a:buNone/>
            </a:pPr>
            <a:r>
              <a:rPr lang="en-US" sz="4000" dirty="0">
                <a:solidFill>
                  <a:srgbClr val="D0D8E8"/>
                </a:solidFill>
                <a:latin typeface="Cambria" pitchFamily="34" charset="0"/>
                <a:ea typeface="Cambria" pitchFamily="34" charset="-122"/>
                <a:cs typeface="Cambria" pitchFamily="34" charset="-120"/>
              </a:rPr>
              <a:t>?</a:t>
            </a:r>
            <a:endParaRPr lang="en-US" sz="4000" dirty="0"/>
          </a:p>
        </p:txBody>
      </p:sp>
      <p:sp>
        <p:nvSpPr>
          <p:cNvPr id="21" name="Shape 19"/>
          <p:cNvSpPr/>
          <p:nvPr/>
        </p:nvSpPr>
        <p:spPr>
          <a:xfrm>
            <a:off x="365760" y="3767328"/>
            <a:ext cx="8503920" cy="749808"/>
          </a:xfrm>
          <a:prstGeom prst="roundRect">
            <a:avLst>
              <a:gd name="adj" fmla="val 14634"/>
            </a:avLst>
          </a:prstGeom>
          <a:solidFill>
            <a:srgbClr val="FFF3DC"/>
          </a:solidFill>
          <a:ln w="19050">
            <a:solidFill>
              <a:srgbClr val="F5E6C8"/>
            </a:solidFill>
            <a:prstDash val="solid"/>
          </a:ln>
        </p:spPr>
      </p:sp>
      <p:sp>
        <p:nvSpPr>
          <p:cNvPr id="22" name="Text 20"/>
          <p:cNvSpPr/>
          <p:nvPr/>
        </p:nvSpPr>
        <p:spPr>
          <a:xfrm>
            <a:off x="502920" y="3822192"/>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502920" y="4023360"/>
            <a:ext cx="8229600" cy="4297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"1.__, 2.__, 3.__, 4.__, 5.__"</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GUIDED PRACTICE  ·  TEACHER MODELS FIRST</a:t>
            </a:r>
            <a:endParaRPr lang="en-US" sz="1000" dirty="0"/>
          </a:p>
        </p:txBody>
      </p:sp>
      <p:sp>
        <p:nvSpPr>
          <p:cNvPr id="4" name="Text 2"/>
          <p:cNvSpPr/>
          <p:nvPr/>
        </p:nvSpPr>
        <p:spPr>
          <a:xfrm>
            <a:off x="365760" y="548640"/>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me write an Observation question for the compass.</a:t>
            </a:r>
            <a:endParaRPr lang="en-US" sz="2200" dirty="0"/>
          </a:p>
        </p:txBody>
      </p:sp>
      <p:sp>
        <p:nvSpPr>
          <p:cNvPr id="5" name="Shape 3"/>
          <p:cNvSpPr/>
          <p:nvPr/>
        </p:nvSpPr>
        <p:spPr>
          <a:xfrm>
            <a:off x="365760" y="1078992"/>
            <a:ext cx="3291840" cy="2880360"/>
          </a:xfrm>
          <a:prstGeom prst="roundRect">
            <a:avLst>
              <a:gd name="adj" fmla="val 3810"/>
            </a:avLst>
          </a:prstGeom>
          <a:solidFill>
            <a:srgbClr val="E2E8F4"/>
          </a:solidFill>
          <a:ln w="19050">
            <a:solidFill>
              <a:srgbClr val="B0B8CC"/>
            </a:solidFill>
            <a:prstDash val="dash"/>
          </a:ln>
        </p:spPr>
      </p:sp>
      <p:sp>
        <p:nvSpPr>
          <p:cNvPr id="6" name="Text 4"/>
          <p:cNvSpPr/>
          <p:nvPr/>
        </p:nvSpPr>
        <p:spPr>
          <a:xfrm>
            <a:off x="365760" y="1078992"/>
            <a:ext cx="32918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53312"/>
            <a:ext cx="3017520" cy="2514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Compass close-up — brass case, engraved initials R.H.W., worn needle, cracked glass, Roman numerals</a:t>
            </a:r>
            <a:endParaRPr lang="en-US" sz="1100" dirty="0"/>
          </a:p>
        </p:txBody>
      </p:sp>
      <p:sp>
        <p:nvSpPr>
          <p:cNvPr id="8" name="Shape 6"/>
          <p:cNvSpPr/>
          <p:nvPr/>
        </p:nvSpPr>
        <p:spPr>
          <a:xfrm>
            <a:off x="3840480" y="1078992"/>
            <a:ext cx="4892040" cy="2880360"/>
          </a:xfrm>
          <a:prstGeom prst="roundRect">
            <a:avLst>
              <a:gd name="adj" fmla="val 3810"/>
            </a:avLst>
          </a:prstGeom>
          <a:solidFill>
            <a:srgbClr val="F0F2F8"/>
          </a:solidFill>
          <a:ln w="12700">
            <a:solidFill>
              <a:srgbClr val="B0B8CC"/>
            </a:solidFill>
            <a:prstDash val="solid"/>
          </a:ln>
        </p:spPr>
      </p:sp>
      <p:sp>
        <p:nvSpPr>
          <p:cNvPr id="9" name="Text 7"/>
          <p:cNvSpPr/>
          <p:nvPr/>
        </p:nvSpPr>
        <p:spPr>
          <a:xfrm>
            <a:off x="4023360" y="1152144"/>
            <a:ext cx="452628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TEACHER THINK-ALOUD</a:t>
            </a:r>
            <a:endParaRPr lang="en-US" sz="900" dirty="0"/>
          </a:p>
        </p:txBody>
      </p:sp>
      <p:sp>
        <p:nvSpPr>
          <p:cNvPr id="10" name="Text 8"/>
          <p:cNvSpPr/>
          <p:nvPr/>
        </p:nvSpPr>
        <p:spPr>
          <a:xfrm>
            <a:off x="4023360" y="1417320"/>
            <a:ext cx="4526280" cy="245059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"I'm writing an Observation question — so I can ONLY ask about what I can see. No guessing what it means, no asking why it matters. Just details.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So I'll write: 'What details on the compass face can you describe — including any letters, markings, or signs of wear?'</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Notice: I don't ask 'Who owned it?' or 'Why is it important?' — those aren't Observation."</a:t>
            </a:r>
            <a:endParaRPr lang="en-US" sz="1200" dirty="0"/>
          </a:p>
        </p:txBody>
      </p:sp>
      <p:sp>
        <p:nvSpPr>
          <p:cNvPr id="11" name="Shape 9"/>
          <p:cNvSpPr/>
          <p:nvPr/>
        </p:nvSpPr>
        <p:spPr>
          <a:xfrm>
            <a:off x="365760" y="4069080"/>
            <a:ext cx="8503920" cy="640080"/>
          </a:xfrm>
          <a:prstGeom prst="roundRect">
            <a:avLst>
              <a:gd name="adj" fmla="val 14286"/>
            </a:avLst>
          </a:prstGeom>
          <a:solidFill>
            <a:srgbClr val="E3F8ED"/>
          </a:solidFill>
          <a:ln w="19050">
            <a:solidFill>
              <a:srgbClr val="34B76F"/>
            </a:solidFill>
            <a:prstDash val="solid"/>
          </a:ln>
        </p:spPr>
      </p:sp>
      <p:sp>
        <p:nvSpPr>
          <p:cNvPr id="12" name="Text 10"/>
          <p:cNvSpPr/>
          <p:nvPr/>
        </p:nvSpPr>
        <p:spPr>
          <a:xfrm>
            <a:off x="548640" y="4142232"/>
            <a:ext cx="8229600" cy="493776"/>
          </a:xfrm>
          <a:prstGeom prst="rect">
            <a:avLst/>
          </a:prstGeom>
          <a:noFill/>
          <a:ln/>
        </p:spPr>
        <p:txBody>
          <a:bodyPr wrap="square" lIns="0" tIns="0" rIns="0" bIns="0" rtlCol="0" anchor="ctr"/>
          <a:lstStyle/>
          <a:p>
            <a:pPr indent="0" marL="0">
              <a:buNone/>
            </a:pPr>
            <a:r>
              <a:rPr lang="en-US" sz="1200" b="1" dirty="0">
                <a:solidFill>
                  <a:srgbClr val="1A5A3A"/>
                </a:solidFill>
                <a:latin typeface="Calibri" pitchFamily="34" charset="0"/>
                <a:ea typeface="Calibri" pitchFamily="34" charset="-122"/>
                <a:cs typeface="Calibri" pitchFamily="34" charset="-120"/>
              </a:rPr>
              <a:t>MY OBSERVATION QUESTION: "What details on the compass face can you describe — including any letters, markings, or signs of wear?"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GUIDED PRACTICE  ·  WE TRY TOGETHER</a:t>
            </a:r>
            <a:endParaRPr lang="en-US" sz="1000" dirty="0"/>
          </a:p>
        </p:txBody>
      </p:sp>
      <p:sp>
        <p:nvSpPr>
          <p:cNvPr id="4" name="Text 2"/>
          <p:cNvSpPr/>
          <p:nvPr/>
        </p:nvSpPr>
        <p:spPr>
          <a:xfrm>
            <a:off x="365760" y="548640"/>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Now you help. Two more question types.</a:t>
            </a:r>
            <a:endParaRPr lang="en-US" sz="2200" dirty="0"/>
          </a:p>
        </p:txBody>
      </p:sp>
      <p:sp>
        <p:nvSpPr>
          <p:cNvPr id="5" name="Shape 3"/>
          <p:cNvSpPr/>
          <p:nvPr/>
        </p:nvSpPr>
        <p:spPr>
          <a:xfrm>
            <a:off x="365760" y="1115568"/>
            <a:ext cx="3977640" cy="3246120"/>
          </a:xfrm>
          <a:prstGeom prst="roundRect">
            <a:avLst>
              <a:gd name="adj" fmla="val 3380"/>
            </a:avLst>
          </a:prstGeom>
          <a:solidFill>
            <a:srgbClr val="EAF8FD"/>
          </a:solidFill>
          <a:ln w="25400">
            <a:solidFill>
              <a:srgbClr val="55C8E8"/>
            </a:solidFill>
            <a:prstDash val="solid"/>
          </a:ln>
        </p:spPr>
      </p:sp>
      <p:sp>
        <p:nvSpPr>
          <p:cNvPr id="6" name="Text 4"/>
          <p:cNvSpPr/>
          <p:nvPr/>
        </p:nvSpPr>
        <p:spPr>
          <a:xfrm>
            <a:off x="548640" y="1188720"/>
            <a:ext cx="3611880" cy="27432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2. CONTEXT</a:t>
            </a:r>
            <a:endParaRPr lang="en-US" sz="1300" dirty="0"/>
          </a:p>
        </p:txBody>
      </p:sp>
      <p:sp>
        <p:nvSpPr>
          <p:cNvPr id="7" name="Text 5"/>
          <p:cNvSpPr/>
          <p:nvPr/>
        </p:nvSpPr>
        <p:spPr>
          <a:xfrm>
            <a:off x="548640" y="1481328"/>
            <a:ext cx="3611880" cy="475488"/>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"When and where did this happen?"</a:t>
            </a:r>
            <a:endParaRPr lang="en-US" sz="1300" dirty="0"/>
          </a:p>
        </p:txBody>
      </p:sp>
      <p:sp>
        <p:nvSpPr>
          <p:cNvPr id="8" name="Text 6"/>
          <p:cNvSpPr/>
          <p:nvPr/>
        </p:nvSpPr>
        <p:spPr>
          <a:xfrm>
            <a:off x="548640" y="1993392"/>
            <a:ext cx="3611880" cy="38404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Write a Context question for the compass. Ask about WHEN or WHERE.</a:t>
            </a:r>
            <a:endParaRPr lang="en-US" sz="1200" dirty="0"/>
          </a:p>
        </p:txBody>
      </p:sp>
      <p:sp>
        <p:nvSpPr>
          <p:cNvPr id="9" name="Shape 7"/>
          <p:cNvSpPr/>
          <p:nvPr/>
        </p:nvSpPr>
        <p:spPr>
          <a:xfrm>
            <a:off x="548640" y="2423160"/>
            <a:ext cx="3611880" cy="1783080"/>
          </a:xfrm>
          <a:prstGeom prst="roundRect">
            <a:avLst>
              <a:gd name="adj" fmla="val 4103"/>
            </a:avLst>
          </a:prstGeom>
          <a:solidFill>
            <a:srgbClr val="FFFFFF"/>
          </a:solidFill>
          <a:ln w="12700">
            <a:solidFill>
              <a:srgbClr val="B0D8E8"/>
            </a:solidFill>
            <a:prstDash val="dash"/>
          </a:ln>
        </p:spPr>
      </p:sp>
      <p:sp>
        <p:nvSpPr>
          <p:cNvPr id="10" name="Text 8"/>
          <p:cNvSpPr/>
          <p:nvPr/>
        </p:nvSpPr>
        <p:spPr>
          <a:xfrm>
            <a:off x="685800" y="2542032"/>
            <a:ext cx="3337560" cy="1536192"/>
          </a:xfrm>
          <a:prstGeom prst="rect">
            <a:avLst/>
          </a:prstGeom>
          <a:noFill/>
          <a:ln/>
        </p:spPr>
        <p:txBody>
          <a:bodyPr wrap="square" lIns="0" tIns="0" rIns="0" bIns="0" rtlCol="0" anchor="t"/>
          <a:lstStyle/>
          <a:p>
            <a:pPr indent="0" marL="0">
              <a:buNone/>
            </a:pPr>
            <a:r>
              <a:rPr lang="en-US" sz="1100" i="1" dirty="0">
                <a:solidFill>
                  <a:srgbClr val="7A88A8"/>
                </a:solidFill>
                <a:latin typeface="Calibri" pitchFamily="34" charset="0"/>
                <a:ea typeface="Calibri" pitchFamily="34" charset="-122"/>
                <a:cs typeface="Calibri" pitchFamily="34" charset="-120"/>
              </a:rPr>
              <a:t>Start with: "When was this compass..." or "Where was it used..."</a:t>
            </a:r>
            <a:endParaRPr lang="en-US" sz="1100" dirty="0"/>
          </a:p>
        </p:txBody>
      </p:sp>
      <p:sp>
        <p:nvSpPr>
          <p:cNvPr id="11" name="Shape 9"/>
          <p:cNvSpPr/>
          <p:nvPr/>
        </p:nvSpPr>
        <p:spPr>
          <a:xfrm>
            <a:off x="4754880" y="1115568"/>
            <a:ext cx="4069080" cy="3246120"/>
          </a:xfrm>
          <a:prstGeom prst="roundRect">
            <a:avLst>
              <a:gd name="adj" fmla="val 3380"/>
            </a:avLst>
          </a:prstGeom>
          <a:solidFill>
            <a:srgbClr val="F0E8FF"/>
          </a:solidFill>
          <a:ln w="25400">
            <a:solidFill>
              <a:srgbClr val="8B6FC0"/>
            </a:solidFill>
            <a:prstDash val="solid"/>
          </a:ln>
        </p:spPr>
      </p:sp>
      <p:sp>
        <p:nvSpPr>
          <p:cNvPr id="12" name="Text 10"/>
          <p:cNvSpPr/>
          <p:nvPr/>
        </p:nvSpPr>
        <p:spPr>
          <a:xfrm>
            <a:off x="4937760" y="1188720"/>
            <a:ext cx="3703320" cy="274320"/>
          </a:xfrm>
          <a:prstGeom prst="rect">
            <a:avLst/>
          </a:prstGeom>
          <a:noFill/>
          <a:ln/>
        </p:spPr>
        <p:txBody>
          <a:bodyPr wrap="square" lIns="0" tIns="0" rIns="0" bIns="0" rtlCol="0" anchor="ctr"/>
          <a:lstStyle/>
          <a:p>
            <a:pPr indent="0" marL="0">
              <a:buNone/>
            </a:pPr>
            <a:r>
              <a:rPr lang="en-US" sz="1300" b="1" spc="100" kern="0" dirty="0">
                <a:solidFill>
                  <a:srgbClr val="8B6FC0"/>
                </a:solidFill>
                <a:latin typeface="Calibri" pitchFamily="34" charset="0"/>
                <a:ea typeface="Calibri" pitchFamily="34" charset="-122"/>
                <a:cs typeface="Calibri" pitchFamily="34" charset="-120"/>
              </a:rPr>
              <a:t>3. EVIDENCE</a:t>
            </a:r>
            <a:endParaRPr lang="en-US" sz="1300" dirty="0"/>
          </a:p>
        </p:txBody>
      </p:sp>
      <p:sp>
        <p:nvSpPr>
          <p:cNvPr id="13" name="Text 11"/>
          <p:cNvSpPr/>
          <p:nvPr/>
        </p:nvSpPr>
        <p:spPr>
          <a:xfrm>
            <a:off x="4937760" y="1481328"/>
            <a:ext cx="3703320" cy="475488"/>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"How do I know this is true?"</a:t>
            </a:r>
            <a:endParaRPr lang="en-US" sz="1300" dirty="0"/>
          </a:p>
        </p:txBody>
      </p:sp>
      <p:sp>
        <p:nvSpPr>
          <p:cNvPr id="14" name="Text 12"/>
          <p:cNvSpPr/>
          <p:nvPr/>
        </p:nvSpPr>
        <p:spPr>
          <a:xfrm>
            <a:off x="4937760" y="1993392"/>
            <a:ext cx="3703320" cy="38404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Write an Evidence question for the compass. Ask for PROOF.</a:t>
            </a:r>
            <a:endParaRPr lang="en-US" sz="1200" dirty="0"/>
          </a:p>
        </p:txBody>
      </p:sp>
      <p:sp>
        <p:nvSpPr>
          <p:cNvPr id="15" name="Shape 13"/>
          <p:cNvSpPr/>
          <p:nvPr/>
        </p:nvSpPr>
        <p:spPr>
          <a:xfrm>
            <a:off x="4937760" y="2423160"/>
            <a:ext cx="3703320" cy="1783080"/>
          </a:xfrm>
          <a:prstGeom prst="roundRect">
            <a:avLst>
              <a:gd name="adj" fmla="val 4103"/>
            </a:avLst>
          </a:prstGeom>
          <a:solidFill>
            <a:srgbClr val="FFFFFF"/>
          </a:solidFill>
          <a:ln w="12700">
            <a:solidFill>
              <a:srgbClr val="C8B0E8"/>
            </a:solidFill>
            <a:prstDash val="dash"/>
          </a:ln>
        </p:spPr>
      </p:sp>
      <p:sp>
        <p:nvSpPr>
          <p:cNvPr id="16" name="Text 14"/>
          <p:cNvSpPr/>
          <p:nvPr/>
        </p:nvSpPr>
        <p:spPr>
          <a:xfrm>
            <a:off x="5074920" y="2542032"/>
            <a:ext cx="3429000" cy="1536192"/>
          </a:xfrm>
          <a:prstGeom prst="rect">
            <a:avLst/>
          </a:prstGeom>
          <a:noFill/>
          <a:ln/>
        </p:spPr>
        <p:txBody>
          <a:bodyPr wrap="square" lIns="0" tIns="0" rIns="0" bIns="0" rtlCol="0" anchor="t"/>
          <a:lstStyle/>
          <a:p>
            <a:pPr indent="0" marL="0">
              <a:buNone/>
            </a:pPr>
            <a:r>
              <a:rPr lang="en-US" sz="1100" i="1" dirty="0">
                <a:solidFill>
                  <a:srgbClr val="7A88A8"/>
                </a:solidFill>
                <a:latin typeface="Calibri" pitchFamily="34" charset="0"/>
                <a:ea typeface="Calibri" pitchFamily="34" charset="-122"/>
                <a:cs typeface="Calibri" pitchFamily="34" charset="-120"/>
              </a:rPr>
              <a:t>Start with: "What proof is there that..." or "How do we know this compass..."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GUIDED PRACTICE  ·  YOUR TURN WITH SUPPORT</a:t>
            </a:r>
            <a:endParaRPr lang="en-US" sz="1000" dirty="0"/>
          </a:p>
        </p:txBody>
      </p:sp>
      <p:sp>
        <p:nvSpPr>
          <p:cNvPr id="4" name="Text 2"/>
          <p:cNvSpPr/>
          <p:nvPr/>
        </p:nvSpPr>
        <p:spPr>
          <a:xfrm>
            <a:off x="365760" y="548640"/>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more. Use the checklist.</a:t>
            </a:r>
            <a:endParaRPr lang="en-US" sz="2200" dirty="0"/>
          </a:p>
        </p:txBody>
      </p:sp>
      <p:sp>
        <p:nvSpPr>
          <p:cNvPr id="5" name="Shape 3"/>
          <p:cNvSpPr/>
          <p:nvPr/>
        </p:nvSpPr>
        <p:spPr>
          <a:xfrm>
            <a:off x="365760" y="1115568"/>
            <a:ext cx="3977640" cy="2743200"/>
          </a:xfrm>
          <a:prstGeom prst="roundRect">
            <a:avLst>
              <a:gd name="adj" fmla="val 4000"/>
            </a:avLst>
          </a:prstGeom>
          <a:solidFill>
            <a:srgbClr val="FFF3DC"/>
          </a:solidFill>
          <a:ln w="25400">
            <a:solidFill>
              <a:srgbClr val="D4943A"/>
            </a:solidFill>
            <a:prstDash val="solid"/>
          </a:ln>
        </p:spPr>
      </p:sp>
      <p:sp>
        <p:nvSpPr>
          <p:cNvPr id="6" name="Text 4"/>
          <p:cNvSpPr/>
          <p:nvPr/>
        </p:nvSpPr>
        <p:spPr>
          <a:xfrm>
            <a:off x="548640" y="1188720"/>
            <a:ext cx="3611880" cy="274320"/>
          </a:xfrm>
          <a:prstGeom prst="rect">
            <a:avLst/>
          </a:prstGeom>
          <a:noFill/>
          <a:ln/>
        </p:spPr>
        <p:txBody>
          <a:bodyPr wrap="square" lIns="0" tIns="0" rIns="0" bIns="0" rtlCol="0" anchor="ctr"/>
          <a:lstStyle/>
          <a:p>
            <a:pPr indent="0" marL="0">
              <a:buNone/>
            </a:pPr>
            <a:r>
              <a:rPr lang="en-US" sz="1300" b="1" spc="100" kern="0" dirty="0">
                <a:solidFill>
                  <a:srgbClr val="D4943A"/>
                </a:solidFill>
                <a:latin typeface="Calibri" pitchFamily="34" charset="0"/>
                <a:ea typeface="Calibri" pitchFamily="34" charset="-122"/>
                <a:cs typeface="Calibri" pitchFamily="34" charset="-120"/>
              </a:rPr>
              <a:t>4. CONNECTION</a:t>
            </a:r>
            <a:endParaRPr lang="en-US" sz="1300" dirty="0"/>
          </a:p>
        </p:txBody>
      </p:sp>
      <p:sp>
        <p:nvSpPr>
          <p:cNvPr id="7" name="Text 5"/>
          <p:cNvSpPr/>
          <p:nvPr/>
        </p:nvSpPr>
        <p:spPr>
          <a:xfrm>
            <a:off x="548640" y="1481328"/>
            <a:ext cx="3611880" cy="475488"/>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"How does this connect to what I already know?"</a:t>
            </a:r>
            <a:endParaRPr lang="en-US" sz="1200" dirty="0"/>
          </a:p>
        </p:txBody>
      </p:sp>
      <p:sp>
        <p:nvSpPr>
          <p:cNvPr id="8" name="Text 6"/>
          <p:cNvSpPr/>
          <p:nvPr/>
        </p:nvSpPr>
        <p:spPr>
          <a:xfrm>
            <a:off x="548640" y="1993392"/>
            <a:ext cx="3611880" cy="135331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CHECKLIST: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Link to a person, event, or idea you've studied</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Reference a time period or place you know</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Show how this object connects to a bigger theme</a:t>
            </a:r>
            <a:endParaRPr lang="en-US" sz="1100" dirty="0"/>
          </a:p>
        </p:txBody>
      </p:sp>
      <p:sp>
        <p:nvSpPr>
          <p:cNvPr id="9" name="Text 7"/>
          <p:cNvSpPr/>
          <p:nvPr/>
        </p:nvSpPr>
        <p:spPr>
          <a:xfrm>
            <a:off x="548640" y="3429000"/>
            <a:ext cx="361188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Starter: "How does this compass connect to..."</a:t>
            </a:r>
            <a:endParaRPr lang="en-US" sz="1100" dirty="0"/>
          </a:p>
        </p:txBody>
      </p:sp>
      <p:sp>
        <p:nvSpPr>
          <p:cNvPr id="10" name="Shape 8"/>
          <p:cNvSpPr/>
          <p:nvPr/>
        </p:nvSpPr>
        <p:spPr>
          <a:xfrm>
            <a:off x="4754880" y="1115568"/>
            <a:ext cx="4069080" cy="2743200"/>
          </a:xfrm>
          <a:prstGeom prst="roundRect">
            <a:avLst>
              <a:gd name="adj" fmla="val 4000"/>
            </a:avLst>
          </a:prstGeom>
          <a:solidFill>
            <a:srgbClr val="E3F8ED"/>
          </a:solidFill>
          <a:ln w="25400">
            <a:solidFill>
              <a:srgbClr val="34B76F"/>
            </a:solidFill>
            <a:prstDash val="solid"/>
          </a:ln>
        </p:spPr>
      </p:sp>
      <p:sp>
        <p:nvSpPr>
          <p:cNvPr id="11" name="Text 9"/>
          <p:cNvSpPr/>
          <p:nvPr/>
        </p:nvSpPr>
        <p:spPr>
          <a:xfrm>
            <a:off x="4937760" y="1188720"/>
            <a:ext cx="3703320" cy="27432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5. SIGNIFICANCE</a:t>
            </a:r>
            <a:endParaRPr lang="en-US" sz="1300" dirty="0"/>
          </a:p>
        </p:txBody>
      </p:sp>
      <p:sp>
        <p:nvSpPr>
          <p:cNvPr id="12" name="Text 10"/>
          <p:cNvSpPr/>
          <p:nvPr/>
        </p:nvSpPr>
        <p:spPr>
          <a:xfrm>
            <a:off x="4937760" y="1481328"/>
            <a:ext cx="3703320" cy="384048"/>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"Why does this matter?"</a:t>
            </a:r>
            <a:endParaRPr lang="en-US" sz="1200" dirty="0"/>
          </a:p>
        </p:txBody>
      </p:sp>
      <p:sp>
        <p:nvSpPr>
          <p:cNvPr id="13" name="Text 11"/>
          <p:cNvSpPr/>
          <p:nvPr/>
        </p:nvSpPr>
        <p:spPr>
          <a:xfrm>
            <a:off x="4937760" y="1901952"/>
            <a:ext cx="3703320" cy="135331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CHECKLIST: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Explain who this was important to</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Show why museum visitors should care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Save this for LAST — after you know what the object is</a:t>
            </a:r>
            <a:endParaRPr lang="en-US" sz="1100" dirty="0"/>
          </a:p>
        </p:txBody>
      </p:sp>
      <p:sp>
        <p:nvSpPr>
          <p:cNvPr id="14" name="Text 12"/>
          <p:cNvSpPr/>
          <p:nvPr/>
        </p:nvSpPr>
        <p:spPr>
          <a:xfrm>
            <a:off x="4937760" y="3429000"/>
            <a:ext cx="370332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Starter: "Why does this compass matter to..."</a:t>
            </a:r>
            <a:endParaRPr lang="en-US" sz="1100" dirty="0"/>
          </a:p>
        </p:txBody>
      </p:sp>
      <p:sp>
        <p:nvSpPr>
          <p:cNvPr id="15" name="Shape 13"/>
          <p:cNvSpPr/>
          <p:nvPr/>
        </p:nvSpPr>
        <p:spPr>
          <a:xfrm>
            <a:off x="365760" y="3950208"/>
            <a:ext cx="8503920" cy="749808"/>
          </a:xfrm>
          <a:prstGeom prst="roundRect">
            <a:avLst>
              <a:gd name="adj" fmla="val 14634"/>
            </a:avLst>
          </a:prstGeom>
          <a:solidFill>
            <a:srgbClr val="FFF3DC"/>
          </a:solidFill>
          <a:ln w="19050">
            <a:solidFill>
              <a:srgbClr val="F5E6C8"/>
            </a:solidFill>
            <a:prstDash val="solid"/>
          </a:ln>
        </p:spPr>
      </p:sp>
      <p:sp>
        <p:nvSpPr>
          <p:cNvPr id="16" name="Text 14"/>
          <p:cNvSpPr/>
          <p:nvPr/>
        </p:nvSpPr>
        <p:spPr>
          <a:xfrm>
            <a:off x="502920" y="4005072"/>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206240"/>
            <a:ext cx="8229600" cy="4297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connection question: How does this compass connect to..."</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significance question: Why does this compass matter to..."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SPOT THE MISTAKE  ·  ERROR ANALYSIS</a:t>
            </a:r>
            <a:endParaRPr lang="en-US" sz="1000" dirty="0"/>
          </a:p>
        </p:txBody>
      </p:sp>
      <p:sp>
        <p:nvSpPr>
          <p:cNvPr id="4" name="Text 2"/>
          <p:cNvSpPr/>
          <p:nvPr/>
        </p:nvSpPr>
        <p:spPr>
          <a:xfrm>
            <a:off x="365760" y="548640"/>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 student wrote five questions. Something's wrong.</a:t>
            </a:r>
            <a:endParaRPr lang="en-US" sz="2200" dirty="0"/>
          </a:p>
        </p:txBody>
      </p:sp>
      <p:sp>
        <p:nvSpPr>
          <p:cNvPr id="5" name="Shape 3"/>
          <p:cNvSpPr/>
          <p:nvPr/>
        </p:nvSpPr>
        <p:spPr>
          <a:xfrm>
            <a:off x="365760" y="1115568"/>
            <a:ext cx="5029200" cy="3017520"/>
          </a:xfrm>
          <a:prstGeom prst="roundRect">
            <a:avLst>
              <a:gd name="adj" fmla="val 3636"/>
            </a:avLst>
          </a:prstGeom>
          <a:solidFill>
            <a:srgbClr val="FFF0F0"/>
          </a:solidFill>
          <a:ln w="25400">
            <a:solidFill>
              <a:srgbClr val="E8636B"/>
            </a:solidFill>
            <a:prstDash val="solid"/>
          </a:ln>
        </p:spPr>
      </p:sp>
      <p:sp>
        <p:nvSpPr>
          <p:cNvPr id="6" name="Text 4"/>
          <p:cNvSpPr/>
          <p:nvPr/>
        </p:nvSpPr>
        <p:spPr>
          <a:xfrm>
            <a:off x="548640" y="1188720"/>
            <a:ext cx="4663440" cy="237744"/>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STUDENT'S QUESTIONS — THE COMPASS</a:t>
            </a:r>
            <a:endParaRPr lang="en-US" sz="900" dirty="0"/>
          </a:p>
        </p:txBody>
      </p:sp>
      <p:sp>
        <p:nvSpPr>
          <p:cNvPr id="7" name="Shape 5"/>
          <p:cNvSpPr/>
          <p:nvPr/>
        </p:nvSpPr>
        <p:spPr>
          <a:xfrm>
            <a:off x="530352" y="1481328"/>
            <a:ext cx="4700016" cy="420624"/>
          </a:xfrm>
          <a:prstGeom prst="roundRect">
            <a:avLst>
              <a:gd name="adj" fmla="val 13043"/>
            </a:avLst>
          </a:prstGeom>
          <a:solidFill>
            <a:srgbClr val="FFF0F0"/>
          </a:solidFill>
          <a:ln w="12700">
            <a:solidFill>
              <a:srgbClr val="E8636B"/>
            </a:solidFill>
            <a:prstDash val="solid"/>
          </a:ln>
        </p:spPr>
      </p:sp>
      <p:sp>
        <p:nvSpPr>
          <p:cNvPr id="8" name="Text 6"/>
          <p:cNvSpPr/>
          <p:nvPr/>
        </p:nvSpPr>
        <p:spPr>
          <a:xfrm>
            <a:off x="658368" y="1517904"/>
            <a:ext cx="4480560" cy="347472"/>
          </a:xfrm>
          <a:prstGeom prst="rect">
            <a:avLst/>
          </a:prstGeom>
          <a:noFill/>
          <a:ln/>
        </p:spPr>
        <p:txBody>
          <a:bodyPr wrap="square" lIns="0" tIns="0" rIns="0" bIns="0" rtlCol="0" anchor="ctr"/>
          <a:lstStyle/>
          <a:p>
            <a:pPr indent="0" marL="0">
              <a:buNone/>
            </a:pPr>
            <a:r>
              <a:rPr lang="en-US" sz="1100" dirty="0">
                <a:solidFill>
                  <a:srgbClr val="A03030"/>
                </a:solidFill>
                <a:latin typeface="Calibri" pitchFamily="34" charset="0"/>
                <a:ea typeface="Calibri" pitchFamily="34" charset="-122"/>
                <a:cs typeface="Calibri" pitchFamily="34" charset="-120"/>
              </a:rPr>
              <a:t>1. Observation: "Why is this compass important to historians?"</a:t>
            </a:r>
            <a:endParaRPr lang="en-US" sz="1100" dirty="0"/>
          </a:p>
        </p:txBody>
      </p:sp>
      <p:sp>
        <p:nvSpPr>
          <p:cNvPr id="9" name="Shape 7"/>
          <p:cNvSpPr/>
          <p:nvPr/>
        </p:nvSpPr>
        <p:spPr>
          <a:xfrm>
            <a:off x="530352" y="1956816"/>
            <a:ext cx="4700016" cy="420624"/>
          </a:xfrm>
          <a:prstGeom prst="roundRect">
            <a:avLst>
              <a:gd name="adj" fmla="val 13043"/>
            </a:avLst>
          </a:prstGeom>
          <a:solidFill>
            <a:srgbClr val="FFF0F0"/>
          </a:solidFill>
          <a:ln w="12700">
            <a:solidFill>
              <a:srgbClr val="E8636B"/>
            </a:solidFill>
            <a:prstDash val="solid"/>
          </a:ln>
        </p:spPr>
      </p:sp>
      <p:sp>
        <p:nvSpPr>
          <p:cNvPr id="10" name="Text 8"/>
          <p:cNvSpPr/>
          <p:nvPr/>
        </p:nvSpPr>
        <p:spPr>
          <a:xfrm>
            <a:off x="658368" y="1993392"/>
            <a:ext cx="4480560" cy="347472"/>
          </a:xfrm>
          <a:prstGeom prst="rect">
            <a:avLst/>
          </a:prstGeom>
          <a:noFill/>
          <a:ln/>
        </p:spPr>
        <p:txBody>
          <a:bodyPr wrap="square" lIns="0" tIns="0" rIns="0" bIns="0" rtlCol="0" anchor="ctr"/>
          <a:lstStyle/>
          <a:p>
            <a:pPr indent="0" marL="0">
              <a:buNone/>
            </a:pPr>
            <a:r>
              <a:rPr lang="en-US" sz="1100" dirty="0">
                <a:solidFill>
                  <a:srgbClr val="A03030"/>
                </a:solidFill>
                <a:latin typeface="Calibri" pitchFamily="34" charset="0"/>
                <a:ea typeface="Calibri" pitchFamily="34" charset="-122"/>
                <a:cs typeface="Calibri" pitchFamily="34" charset="-120"/>
              </a:rPr>
              <a:t>2. Context: "What do I notice about the compass face?"</a:t>
            </a:r>
            <a:endParaRPr lang="en-US" sz="1100" dirty="0"/>
          </a:p>
        </p:txBody>
      </p:sp>
      <p:sp>
        <p:nvSpPr>
          <p:cNvPr id="11" name="Shape 9"/>
          <p:cNvSpPr/>
          <p:nvPr/>
        </p:nvSpPr>
        <p:spPr>
          <a:xfrm>
            <a:off x="530352" y="2432304"/>
            <a:ext cx="4700016" cy="420624"/>
          </a:xfrm>
          <a:prstGeom prst="roundRect">
            <a:avLst>
              <a:gd name="adj" fmla="val 13043"/>
            </a:avLst>
          </a:prstGeom>
          <a:solidFill>
            <a:srgbClr val="E3F8ED"/>
          </a:solidFill>
          <a:ln w="12700">
            <a:solidFill>
              <a:srgbClr val="34B76F"/>
            </a:solidFill>
            <a:prstDash val="solid"/>
          </a:ln>
        </p:spPr>
      </p:sp>
      <p:sp>
        <p:nvSpPr>
          <p:cNvPr id="12" name="Text 10"/>
          <p:cNvSpPr/>
          <p:nvPr/>
        </p:nvSpPr>
        <p:spPr>
          <a:xfrm>
            <a:off x="658368" y="2468880"/>
            <a:ext cx="4480560" cy="347472"/>
          </a:xfrm>
          <a:prstGeom prst="rect">
            <a:avLst/>
          </a:prstGeom>
          <a:noFill/>
          <a:ln/>
        </p:spPr>
        <p:txBody>
          <a:bodyPr wrap="square" lIns="0" tIns="0" rIns="0" bIns="0" rtlCol="0" anchor="ctr"/>
          <a:lstStyle/>
          <a:p>
            <a:pPr indent="0" marL="0">
              <a:buNone/>
            </a:pPr>
            <a:r>
              <a:rPr lang="en-US" sz="1100" dirty="0">
                <a:solidFill>
                  <a:srgbClr val="1A5A3A"/>
                </a:solidFill>
                <a:latin typeface="Calibri" pitchFamily="34" charset="0"/>
                <a:ea typeface="Calibri" pitchFamily="34" charset="-122"/>
                <a:cs typeface="Calibri" pitchFamily="34" charset="-120"/>
              </a:rPr>
              <a:t>3. Evidence: "How do we know this compass is from the 1800s?"</a:t>
            </a:r>
            <a:endParaRPr lang="en-US" sz="1100" dirty="0"/>
          </a:p>
        </p:txBody>
      </p:sp>
      <p:sp>
        <p:nvSpPr>
          <p:cNvPr id="13" name="Shape 11"/>
          <p:cNvSpPr/>
          <p:nvPr/>
        </p:nvSpPr>
        <p:spPr>
          <a:xfrm>
            <a:off x="530352" y="2907792"/>
            <a:ext cx="4700016" cy="420624"/>
          </a:xfrm>
          <a:prstGeom prst="roundRect">
            <a:avLst>
              <a:gd name="adj" fmla="val 13043"/>
            </a:avLst>
          </a:prstGeom>
          <a:solidFill>
            <a:srgbClr val="FFF0F0"/>
          </a:solidFill>
          <a:ln w="12700">
            <a:solidFill>
              <a:srgbClr val="E8636B"/>
            </a:solidFill>
            <a:prstDash val="solid"/>
          </a:ln>
        </p:spPr>
      </p:sp>
      <p:sp>
        <p:nvSpPr>
          <p:cNvPr id="14" name="Text 12"/>
          <p:cNvSpPr/>
          <p:nvPr/>
        </p:nvSpPr>
        <p:spPr>
          <a:xfrm>
            <a:off x="658368" y="2944368"/>
            <a:ext cx="4480560" cy="347472"/>
          </a:xfrm>
          <a:prstGeom prst="rect">
            <a:avLst/>
          </a:prstGeom>
          <a:noFill/>
          <a:ln/>
        </p:spPr>
        <p:txBody>
          <a:bodyPr wrap="square" lIns="0" tIns="0" rIns="0" bIns="0" rtlCol="0" anchor="ctr"/>
          <a:lstStyle/>
          <a:p>
            <a:pPr indent="0" marL="0">
              <a:buNone/>
            </a:pPr>
            <a:r>
              <a:rPr lang="en-US" sz="1100" dirty="0">
                <a:solidFill>
                  <a:srgbClr val="A03030"/>
                </a:solidFill>
                <a:latin typeface="Calibri" pitchFamily="34" charset="0"/>
                <a:ea typeface="Calibri" pitchFamily="34" charset="-122"/>
                <a:cs typeface="Calibri" pitchFamily="34" charset="-120"/>
              </a:rPr>
              <a:t>4. Connection: "Why should museum visitors care about navigation?"</a:t>
            </a:r>
            <a:endParaRPr lang="en-US" sz="1100" dirty="0"/>
          </a:p>
        </p:txBody>
      </p:sp>
      <p:sp>
        <p:nvSpPr>
          <p:cNvPr id="15" name="Shape 13"/>
          <p:cNvSpPr/>
          <p:nvPr/>
        </p:nvSpPr>
        <p:spPr>
          <a:xfrm>
            <a:off x="530352" y="3383280"/>
            <a:ext cx="4700016" cy="420624"/>
          </a:xfrm>
          <a:prstGeom prst="roundRect">
            <a:avLst>
              <a:gd name="adj" fmla="val 13043"/>
            </a:avLst>
          </a:prstGeom>
          <a:solidFill>
            <a:srgbClr val="FFF0F0"/>
          </a:solidFill>
          <a:ln w="12700">
            <a:solidFill>
              <a:srgbClr val="E8636B"/>
            </a:solidFill>
            <a:prstDash val="solid"/>
          </a:ln>
        </p:spPr>
      </p:sp>
      <p:sp>
        <p:nvSpPr>
          <p:cNvPr id="16" name="Text 14"/>
          <p:cNvSpPr/>
          <p:nvPr/>
        </p:nvSpPr>
        <p:spPr>
          <a:xfrm>
            <a:off x="658368" y="3419856"/>
            <a:ext cx="4480560" cy="347472"/>
          </a:xfrm>
          <a:prstGeom prst="rect">
            <a:avLst/>
          </a:prstGeom>
          <a:noFill/>
          <a:ln/>
        </p:spPr>
        <p:txBody>
          <a:bodyPr wrap="square" lIns="0" tIns="0" rIns="0" bIns="0" rtlCol="0" anchor="ctr"/>
          <a:lstStyle/>
          <a:p>
            <a:pPr indent="0" marL="0">
              <a:buNone/>
            </a:pPr>
            <a:r>
              <a:rPr lang="en-US" sz="1100" dirty="0">
                <a:solidFill>
                  <a:srgbClr val="A03030"/>
                </a:solidFill>
                <a:latin typeface="Calibri" pitchFamily="34" charset="0"/>
                <a:ea typeface="Calibri" pitchFamily="34" charset="-122"/>
                <a:cs typeface="Calibri" pitchFamily="34" charset="-120"/>
              </a:rPr>
              <a:t>5. Significance: "How does this compass connect to westward expansion?"</a:t>
            </a:r>
            <a:endParaRPr lang="en-US" sz="1100" dirty="0"/>
          </a:p>
        </p:txBody>
      </p:sp>
      <p:sp>
        <p:nvSpPr>
          <p:cNvPr id="17" name="Shape 15"/>
          <p:cNvSpPr/>
          <p:nvPr/>
        </p:nvSpPr>
        <p:spPr>
          <a:xfrm>
            <a:off x="5623560" y="1115568"/>
            <a:ext cx="3200400"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5806440" y="1207008"/>
            <a:ext cx="28346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5806440" y="1463040"/>
            <a:ext cx="2834640"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questions are in the WRONG category?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type does question #1 actually belong to?</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the student mix up labels, or mix up what questions do?</a:t>
            </a:r>
            <a:endParaRPr lang="en-US" sz="1100" dirty="0"/>
          </a:p>
        </p:txBody>
      </p:sp>
      <p:sp>
        <p:nvSpPr>
          <p:cNvPr id="20" name="Shape 18"/>
          <p:cNvSpPr/>
          <p:nvPr/>
        </p:nvSpPr>
        <p:spPr>
          <a:xfrm>
            <a:off x="5623560" y="3035808"/>
            <a:ext cx="3200400" cy="1417320"/>
          </a:xfrm>
          <a:prstGeom prst="roundRect">
            <a:avLst>
              <a:gd name="adj" fmla="val 7742"/>
            </a:avLst>
          </a:prstGeom>
          <a:solidFill>
            <a:srgbClr val="FFF3DC"/>
          </a:solidFill>
          <a:ln w="19050">
            <a:solidFill>
              <a:srgbClr val="F5E6C8"/>
            </a:solidFill>
            <a:prstDash val="solid"/>
          </a:ln>
        </p:spPr>
      </p:sp>
      <p:sp>
        <p:nvSpPr>
          <p:cNvPr id="21" name="Text 19"/>
          <p:cNvSpPr/>
          <p:nvPr/>
        </p:nvSpPr>
        <p:spPr>
          <a:xfrm>
            <a:off x="5760720" y="3090672"/>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2" name="Text 20"/>
          <p:cNvSpPr/>
          <p:nvPr/>
        </p:nvSpPr>
        <p:spPr>
          <a:xfrm>
            <a:off x="5760720" y="3291840"/>
            <a:ext cx="29260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mixed up __ and 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correct question for #1 should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fix question #4 by writing..."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D4943A"/>
                </a:solidFill>
                <a:latin typeface="Calibri" pitchFamily="34" charset="0"/>
                <a:ea typeface="Calibri" pitchFamily="34" charset="-122"/>
                <a:cs typeface="Calibri" pitchFamily="34" charset="-120"/>
              </a:rPr>
              <a:t>THE TRICKY ONE  ·  DEBATE TIME — CELEBRATE DISAGREEMENT</a:t>
            </a:r>
            <a:endParaRPr lang="en-US" sz="1000" dirty="0"/>
          </a:p>
        </p:txBody>
      </p:sp>
      <p:sp>
        <p:nvSpPr>
          <p:cNvPr id="4" name="Text 2"/>
          <p:cNvSpPr/>
          <p:nvPr/>
        </p:nvSpPr>
        <p:spPr>
          <a:xfrm>
            <a:off x="365760" y="548640"/>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Which type does THIS question belong to?</a:t>
            </a:r>
            <a:endParaRPr lang="en-US" sz="2200" dirty="0"/>
          </a:p>
        </p:txBody>
      </p:sp>
      <p:sp>
        <p:nvSpPr>
          <p:cNvPr id="5" name="Shape 3"/>
          <p:cNvSpPr/>
          <p:nvPr/>
        </p:nvSpPr>
        <p:spPr>
          <a:xfrm>
            <a:off x="731520" y="1115568"/>
            <a:ext cx="7680960" cy="1051560"/>
          </a:xfrm>
          <a:prstGeom prst="roundRect">
            <a:avLst>
              <a:gd name="adj" fmla="val 10435"/>
            </a:avLst>
          </a:prstGeom>
          <a:solidFill>
            <a:srgbClr val="F0F2F8"/>
          </a:solidFill>
          <a:ln w="31750">
            <a:solidFill>
              <a:srgbClr val="1A2D5A"/>
            </a:solidFill>
            <a:prstDash val="solid"/>
          </a:ln>
        </p:spPr>
      </p:sp>
      <p:sp>
        <p:nvSpPr>
          <p:cNvPr id="6" name="Text 4"/>
          <p:cNvSpPr/>
          <p:nvPr/>
        </p:nvSpPr>
        <p:spPr>
          <a:xfrm>
            <a:off x="914400" y="1207008"/>
            <a:ext cx="7315200" cy="868680"/>
          </a:xfrm>
          <a:prstGeom prst="rect">
            <a:avLst/>
          </a:prstGeom>
          <a:noFill/>
          <a:ln/>
        </p:spPr>
        <p:txBody>
          <a:bodyPr wrap="square" lIns="0" tIns="0" rIns="0" bIns="0" rtlCol="0" anchor="ctr"/>
          <a:lstStyle/>
          <a:p>
            <a:pPr algn="ctr" indent="0" marL="0">
              <a:buNone/>
            </a:pPr>
            <a:r>
              <a:rPr lang="en-US" sz="2100" b="1" dirty="0">
                <a:solidFill>
                  <a:srgbClr val="0E1C42"/>
                </a:solidFill>
                <a:latin typeface="Cambria" pitchFamily="34" charset="0"/>
                <a:ea typeface="Cambria" pitchFamily="34" charset="-122"/>
                <a:cs typeface="Cambria" pitchFamily="34" charset="-120"/>
              </a:rPr>
              <a:t>"What does this compass tell us about how explorers navigated in the 1800s?"</a:t>
            </a:r>
            <a:endParaRPr lang="en-US" sz="2100" dirty="0"/>
          </a:p>
        </p:txBody>
      </p:sp>
      <p:sp>
        <p:nvSpPr>
          <p:cNvPr id="7" name="Shape 5"/>
          <p:cNvSpPr/>
          <p:nvPr/>
        </p:nvSpPr>
        <p:spPr>
          <a:xfrm>
            <a:off x="365760" y="2304288"/>
            <a:ext cx="1920240" cy="1005840"/>
          </a:xfrm>
          <a:prstGeom prst="roundRect">
            <a:avLst>
              <a:gd name="adj" fmla="val 9091"/>
            </a:avLst>
          </a:prstGeom>
          <a:solidFill>
            <a:srgbClr val="1A2D5A"/>
          </a:solidFill>
          <a:ln/>
          <a:effectLst>
            <a:outerShdw sx="100000" sy="100000" kx="0" ky="0" algn="bl" rotWithShape="0" blurRad="63500" dist="25400" dir="8100000">
              <a:srgbClr val="000000">
                <a:alpha val="15000"/>
              </a:srgbClr>
            </a:outerShdw>
          </a:effectLst>
        </p:spPr>
      </p:sp>
      <p:sp>
        <p:nvSpPr>
          <p:cNvPr id="8" name="Text 6"/>
          <p:cNvSpPr/>
          <p:nvPr/>
        </p:nvSpPr>
        <p:spPr>
          <a:xfrm>
            <a:off x="365760" y="2377440"/>
            <a:ext cx="192024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Context</a:t>
            </a:r>
            <a:endParaRPr lang="en-US" sz="1600" dirty="0"/>
          </a:p>
        </p:txBody>
      </p:sp>
      <p:sp>
        <p:nvSpPr>
          <p:cNvPr id="9" name="Text 7"/>
          <p:cNvSpPr/>
          <p:nvPr/>
        </p:nvSpPr>
        <p:spPr>
          <a:xfrm>
            <a:off x="365760" y="2816352"/>
            <a:ext cx="1920240" cy="438912"/>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When/where?</a:t>
            </a:r>
            <a:endParaRPr lang="en-US" sz="1100" dirty="0"/>
          </a:p>
        </p:txBody>
      </p:sp>
      <p:sp>
        <p:nvSpPr>
          <p:cNvPr id="10" name="Shape 8"/>
          <p:cNvSpPr/>
          <p:nvPr/>
        </p:nvSpPr>
        <p:spPr>
          <a:xfrm>
            <a:off x="2514600" y="2304288"/>
            <a:ext cx="1920240" cy="1005840"/>
          </a:xfrm>
          <a:prstGeom prst="roundRect">
            <a:avLst>
              <a:gd name="adj" fmla="val 9091"/>
            </a:avLst>
          </a:prstGeom>
          <a:solidFill>
            <a:srgbClr val="8B6FC0"/>
          </a:solidFill>
          <a:ln/>
          <a:effectLst>
            <a:outerShdw sx="100000" sy="100000" kx="0" ky="0" algn="bl" rotWithShape="0" blurRad="63500" dist="25400" dir="8100000">
              <a:srgbClr val="000000">
                <a:alpha val="15000"/>
              </a:srgbClr>
            </a:outerShdw>
          </a:effectLst>
        </p:spPr>
      </p:sp>
      <p:sp>
        <p:nvSpPr>
          <p:cNvPr id="11" name="Text 9"/>
          <p:cNvSpPr/>
          <p:nvPr/>
        </p:nvSpPr>
        <p:spPr>
          <a:xfrm>
            <a:off x="2514600" y="2377440"/>
            <a:ext cx="192024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Evidence</a:t>
            </a:r>
            <a:endParaRPr lang="en-US" sz="1600" dirty="0"/>
          </a:p>
        </p:txBody>
      </p:sp>
      <p:sp>
        <p:nvSpPr>
          <p:cNvPr id="12" name="Text 10"/>
          <p:cNvSpPr/>
          <p:nvPr/>
        </p:nvSpPr>
        <p:spPr>
          <a:xfrm>
            <a:off x="2514600" y="2816352"/>
            <a:ext cx="1920240" cy="438912"/>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How do I know?</a:t>
            </a:r>
            <a:endParaRPr lang="en-US" sz="1100" dirty="0"/>
          </a:p>
        </p:txBody>
      </p:sp>
      <p:sp>
        <p:nvSpPr>
          <p:cNvPr id="13" name="Shape 11"/>
          <p:cNvSpPr/>
          <p:nvPr/>
        </p:nvSpPr>
        <p:spPr>
          <a:xfrm>
            <a:off x="4663440" y="2304288"/>
            <a:ext cx="1920240" cy="1005840"/>
          </a:xfrm>
          <a:prstGeom prst="roundRect">
            <a:avLst>
              <a:gd name="adj" fmla="val 9091"/>
            </a:avLst>
          </a:prstGeom>
          <a:solidFill>
            <a:srgbClr val="D4943A"/>
          </a:solidFill>
          <a:ln/>
          <a:effectLst>
            <a:outerShdw sx="100000" sy="100000" kx="0" ky="0" algn="bl" rotWithShape="0" blurRad="63500" dist="25400" dir="8100000">
              <a:srgbClr val="000000">
                <a:alpha val="15000"/>
              </a:srgbClr>
            </a:outerShdw>
          </a:effectLst>
        </p:spPr>
      </p:sp>
      <p:sp>
        <p:nvSpPr>
          <p:cNvPr id="14" name="Text 12"/>
          <p:cNvSpPr/>
          <p:nvPr/>
        </p:nvSpPr>
        <p:spPr>
          <a:xfrm>
            <a:off x="4663440" y="2377440"/>
            <a:ext cx="192024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Connection</a:t>
            </a:r>
            <a:endParaRPr lang="en-US" sz="1600" dirty="0"/>
          </a:p>
        </p:txBody>
      </p:sp>
      <p:sp>
        <p:nvSpPr>
          <p:cNvPr id="15" name="Text 13"/>
          <p:cNvSpPr/>
          <p:nvPr/>
        </p:nvSpPr>
        <p:spPr>
          <a:xfrm>
            <a:off x="4663440" y="2816352"/>
            <a:ext cx="1920240" cy="438912"/>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Links to known?</a:t>
            </a:r>
            <a:endParaRPr lang="en-US" sz="1100" dirty="0"/>
          </a:p>
        </p:txBody>
      </p:sp>
      <p:sp>
        <p:nvSpPr>
          <p:cNvPr id="16" name="Shape 14"/>
          <p:cNvSpPr/>
          <p:nvPr/>
        </p:nvSpPr>
        <p:spPr>
          <a:xfrm>
            <a:off x="6812280" y="2304288"/>
            <a:ext cx="1920240" cy="1005840"/>
          </a:xfrm>
          <a:prstGeom prst="roundRect">
            <a:avLst>
              <a:gd name="adj" fmla="val 9091"/>
            </a:avLst>
          </a:prstGeom>
          <a:solidFill>
            <a:srgbClr val="E8636B"/>
          </a:solidFill>
          <a:ln/>
          <a:effectLst>
            <a:outerShdw sx="100000" sy="100000" kx="0" ky="0" algn="bl" rotWithShape="0" blurRad="63500" dist="25400" dir="8100000">
              <a:srgbClr val="000000">
                <a:alpha val="15000"/>
              </a:srgbClr>
            </a:outerShdw>
          </a:effectLst>
        </p:spPr>
      </p:sp>
      <p:sp>
        <p:nvSpPr>
          <p:cNvPr id="17" name="Text 15"/>
          <p:cNvSpPr/>
          <p:nvPr/>
        </p:nvSpPr>
        <p:spPr>
          <a:xfrm>
            <a:off x="6812280" y="2377440"/>
            <a:ext cx="192024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Significance</a:t>
            </a:r>
            <a:endParaRPr lang="en-US" sz="1600" dirty="0"/>
          </a:p>
        </p:txBody>
      </p:sp>
      <p:sp>
        <p:nvSpPr>
          <p:cNvPr id="18" name="Text 16"/>
          <p:cNvSpPr/>
          <p:nvPr/>
        </p:nvSpPr>
        <p:spPr>
          <a:xfrm>
            <a:off x="6812280" y="2816352"/>
            <a:ext cx="1920240" cy="438912"/>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Why matters?</a:t>
            </a:r>
            <a:endParaRPr lang="en-US" sz="1100" dirty="0"/>
          </a:p>
        </p:txBody>
      </p:sp>
      <p:sp>
        <p:nvSpPr>
          <p:cNvPr id="19" name="Shape 17"/>
          <p:cNvSpPr/>
          <p:nvPr/>
        </p:nvSpPr>
        <p:spPr>
          <a:xfrm>
            <a:off x="365760" y="3456432"/>
            <a:ext cx="4937760" cy="1161288"/>
          </a:xfrm>
          <a:prstGeom prst="roundRect">
            <a:avLst>
              <a:gd name="adj" fmla="val 11811"/>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548640" y="354787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1" name="Text 19"/>
          <p:cNvSpPr/>
          <p:nvPr/>
        </p:nvSpPr>
        <p:spPr>
          <a:xfrm>
            <a:off x="548640" y="3803904"/>
            <a:ext cx="4572000" cy="72237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clue in the question helps you decide?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this question touch more than one type?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two curators disagree on the same question?</a:t>
            </a:r>
            <a:endParaRPr lang="en-US" sz="1100" dirty="0"/>
          </a:p>
        </p:txBody>
      </p:sp>
      <p:sp>
        <p:nvSpPr>
          <p:cNvPr id="22" name="Shape 20"/>
          <p:cNvSpPr/>
          <p:nvPr/>
        </p:nvSpPr>
        <p:spPr>
          <a:xfrm>
            <a:off x="5532120" y="3456432"/>
            <a:ext cx="3246120" cy="1161288"/>
          </a:xfrm>
          <a:prstGeom prst="roundRect">
            <a:avLst>
              <a:gd name="adj" fmla="val 9449"/>
            </a:avLst>
          </a:prstGeom>
          <a:solidFill>
            <a:srgbClr val="FFF3DC"/>
          </a:solidFill>
          <a:ln w="19050">
            <a:solidFill>
              <a:srgbClr val="F5E6C8"/>
            </a:solidFill>
            <a:prstDash val="solid"/>
          </a:ln>
        </p:spPr>
      </p:sp>
      <p:sp>
        <p:nvSpPr>
          <p:cNvPr id="23" name="Text 21"/>
          <p:cNvSpPr/>
          <p:nvPr/>
        </p:nvSpPr>
        <p:spPr>
          <a:xfrm>
            <a:off x="5669280" y="3511296"/>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4" name="Text 22"/>
          <p:cNvSpPr/>
          <p:nvPr/>
        </p:nvSpPr>
        <p:spPr>
          <a:xfrm>
            <a:off x="5669280" y="3712464"/>
            <a:ext cx="2971800" cy="84124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is 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could also be 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argument for __ is..."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E1C42"/>
          </a:solidFill>
          <a:ln w="12700">
            <a:solidFill>
              <a:srgbClr val="0E1C42"/>
            </a:solidFill>
            <a:prstDash val="solid"/>
          </a:ln>
        </p:spPr>
      </p:sp>
      <p:sp>
        <p:nvSpPr>
          <p:cNvPr id="3" name="Text 1"/>
          <p:cNvSpPr/>
          <p:nvPr/>
        </p:nvSpPr>
        <p:spPr>
          <a:xfrm>
            <a:off x="274320" y="64008"/>
            <a:ext cx="8595360" cy="292608"/>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EVIDENCE &amp; ASSIGNMENT  ·  SHOW WHAT YOU KNOW</a:t>
            </a:r>
            <a:endParaRPr lang="en-US" sz="1000" dirty="0"/>
          </a:p>
        </p:txBody>
      </p:sp>
      <p:sp>
        <p:nvSpPr>
          <p:cNvPr id="4" name="Shape 2"/>
          <p:cNvSpPr/>
          <p:nvPr/>
        </p:nvSpPr>
        <p:spPr>
          <a:xfrm>
            <a:off x="365760" y="502920"/>
            <a:ext cx="3977640" cy="2816352"/>
          </a:xfrm>
          <a:prstGeom prst="roundRect">
            <a:avLst>
              <a:gd name="adj" fmla="val 3896"/>
            </a:avLst>
          </a:prstGeom>
          <a:solidFill>
            <a:srgbClr val="EAF8FD"/>
          </a:solidFill>
          <a:ln w="25400">
            <a:solidFill>
              <a:srgbClr val="55C8E8"/>
            </a:solidFill>
            <a:prstDash val="solid"/>
          </a:ln>
        </p:spPr>
      </p:sp>
      <p:sp>
        <p:nvSpPr>
          <p:cNvPr id="5" name="Text 3"/>
          <p:cNvSpPr/>
          <p:nvPr/>
        </p:nvSpPr>
        <p:spPr>
          <a:xfrm>
            <a:off x="548640" y="576072"/>
            <a:ext cx="3611880" cy="237744"/>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6" name="Text 4"/>
          <p:cNvSpPr/>
          <p:nvPr/>
        </p:nvSpPr>
        <p:spPr>
          <a:xfrm>
            <a:off x="548640" y="841248"/>
            <a:ext cx="361188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in your Curator's Notebook using details from the lesson.</a:t>
            </a:r>
            <a:endParaRPr lang="en-US" sz="1100" dirty="0"/>
          </a:p>
        </p:txBody>
      </p:sp>
      <p:sp>
        <p:nvSpPr>
          <p:cNvPr id="7" name="Shape 5"/>
          <p:cNvSpPr/>
          <p:nvPr/>
        </p:nvSpPr>
        <p:spPr>
          <a:xfrm>
            <a:off x="548640" y="1234440"/>
            <a:ext cx="3611880" cy="914400"/>
          </a:xfrm>
          <a:prstGeom prst="roundRect">
            <a:avLst>
              <a:gd name="adj" fmla="val 8000"/>
            </a:avLst>
          </a:prstGeom>
          <a:solidFill>
            <a:srgbClr val="FFFFFF"/>
          </a:solidFill>
          <a:ln w="12700">
            <a:solidFill>
              <a:srgbClr val="A0D8E8"/>
            </a:solidFill>
            <a:prstDash val="solid"/>
          </a:ln>
        </p:spPr>
      </p:sp>
      <p:sp>
        <p:nvSpPr>
          <p:cNvPr id="8" name="Text 6"/>
          <p:cNvSpPr/>
          <p:nvPr/>
        </p:nvSpPr>
        <p:spPr>
          <a:xfrm>
            <a:off x="594360" y="1289304"/>
            <a:ext cx="274320" cy="768096"/>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914400" y="1289304"/>
            <a:ext cx="3127248" cy="768096"/>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Name two of the five question types. Explain what each one helps you do.</a:t>
            </a:r>
            <a:endParaRPr lang="en-US" sz="1200" dirty="0"/>
          </a:p>
        </p:txBody>
      </p:sp>
      <p:sp>
        <p:nvSpPr>
          <p:cNvPr id="10" name="Shape 8"/>
          <p:cNvSpPr/>
          <p:nvPr/>
        </p:nvSpPr>
        <p:spPr>
          <a:xfrm>
            <a:off x="548640" y="2212848"/>
            <a:ext cx="3611880" cy="914400"/>
          </a:xfrm>
          <a:prstGeom prst="roundRect">
            <a:avLst>
              <a:gd name="adj" fmla="val 8000"/>
            </a:avLst>
          </a:prstGeom>
          <a:solidFill>
            <a:srgbClr val="FFFFFF"/>
          </a:solidFill>
          <a:ln w="12700">
            <a:solidFill>
              <a:srgbClr val="A0D8E8"/>
            </a:solidFill>
            <a:prstDash val="solid"/>
          </a:ln>
        </p:spPr>
      </p:sp>
      <p:sp>
        <p:nvSpPr>
          <p:cNvPr id="11" name="Text 9"/>
          <p:cNvSpPr/>
          <p:nvPr/>
        </p:nvSpPr>
        <p:spPr>
          <a:xfrm>
            <a:off x="594360" y="2267712"/>
            <a:ext cx="274320" cy="768096"/>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914400" y="2267712"/>
            <a:ext cx="3127248" cy="768096"/>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is it important to ask questions BEFORE writing a museum label? Use evidence from the lesson.</a:t>
            </a:r>
            <a:endParaRPr lang="en-US" sz="1200" dirty="0"/>
          </a:p>
        </p:txBody>
      </p:sp>
      <p:sp>
        <p:nvSpPr>
          <p:cNvPr id="13" name="Shape 11"/>
          <p:cNvSpPr/>
          <p:nvPr/>
        </p:nvSpPr>
        <p:spPr>
          <a:xfrm>
            <a:off x="4663440" y="502920"/>
            <a:ext cx="4114800" cy="2816352"/>
          </a:xfrm>
          <a:prstGeom prst="roundRect">
            <a:avLst>
              <a:gd name="adj" fmla="val 3896"/>
            </a:avLst>
          </a:prstGeom>
          <a:solidFill>
            <a:srgbClr val="FFF3DC"/>
          </a:solidFill>
          <a:ln w="25400">
            <a:solidFill>
              <a:srgbClr val="D4943A"/>
            </a:solidFill>
            <a:prstDash val="solid"/>
          </a:ln>
        </p:spPr>
      </p:sp>
      <p:sp>
        <p:nvSpPr>
          <p:cNvPr id="14" name="Text 12"/>
          <p:cNvSpPr/>
          <p:nvPr/>
        </p:nvSpPr>
        <p:spPr>
          <a:xfrm>
            <a:off x="4846320" y="576072"/>
            <a:ext cx="3749040" cy="23774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5" name="Text 13"/>
          <p:cNvSpPr/>
          <p:nvPr/>
        </p:nvSpPr>
        <p:spPr>
          <a:xfrm>
            <a:off x="4846320" y="841248"/>
            <a:ext cx="374904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Write one question for each type about the old compass from the 1800s.</a:t>
            </a:r>
            <a:endParaRPr lang="en-US" sz="1100" dirty="0"/>
          </a:p>
        </p:txBody>
      </p:sp>
      <p:sp>
        <p:nvSpPr>
          <p:cNvPr id="16" name="Shape 14"/>
          <p:cNvSpPr/>
          <p:nvPr/>
        </p:nvSpPr>
        <p:spPr>
          <a:xfrm>
            <a:off x="4846320" y="1234440"/>
            <a:ext cx="3749040" cy="347472"/>
          </a:xfrm>
          <a:prstGeom prst="roundRect">
            <a:avLst>
              <a:gd name="adj" fmla="val 15789"/>
            </a:avLst>
          </a:prstGeom>
          <a:solidFill>
            <a:srgbClr val="FFFFFF"/>
          </a:solidFill>
          <a:ln w="12700">
            <a:solidFill>
              <a:srgbClr val="F5E6C8"/>
            </a:solidFill>
            <a:prstDash val="solid"/>
          </a:ln>
        </p:spPr>
      </p:sp>
      <p:sp>
        <p:nvSpPr>
          <p:cNvPr id="17" name="Text 15"/>
          <p:cNvSpPr/>
          <p:nvPr/>
        </p:nvSpPr>
        <p:spPr>
          <a:xfrm>
            <a:off x="4983480" y="1271016"/>
            <a:ext cx="3493008" cy="2743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1. Observation  — What do I see?</a:t>
            </a:r>
            <a:endParaRPr lang="en-US" sz="1100" dirty="0"/>
          </a:p>
        </p:txBody>
      </p:sp>
      <p:sp>
        <p:nvSpPr>
          <p:cNvPr id="18" name="Shape 16"/>
          <p:cNvSpPr/>
          <p:nvPr/>
        </p:nvSpPr>
        <p:spPr>
          <a:xfrm>
            <a:off x="4846320" y="1636776"/>
            <a:ext cx="3749040" cy="347472"/>
          </a:xfrm>
          <a:prstGeom prst="roundRect">
            <a:avLst>
              <a:gd name="adj" fmla="val 15789"/>
            </a:avLst>
          </a:prstGeom>
          <a:solidFill>
            <a:srgbClr val="FFFFFF"/>
          </a:solidFill>
          <a:ln w="12700">
            <a:solidFill>
              <a:srgbClr val="F5E6C8"/>
            </a:solidFill>
            <a:prstDash val="solid"/>
          </a:ln>
        </p:spPr>
      </p:sp>
      <p:sp>
        <p:nvSpPr>
          <p:cNvPr id="19" name="Text 17"/>
          <p:cNvSpPr/>
          <p:nvPr/>
        </p:nvSpPr>
        <p:spPr>
          <a:xfrm>
            <a:off x="4983480" y="1673352"/>
            <a:ext cx="3493008" cy="2743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Context  — When / where?</a:t>
            </a:r>
            <a:endParaRPr lang="en-US" sz="1100" dirty="0"/>
          </a:p>
        </p:txBody>
      </p:sp>
      <p:sp>
        <p:nvSpPr>
          <p:cNvPr id="20" name="Shape 18"/>
          <p:cNvSpPr/>
          <p:nvPr/>
        </p:nvSpPr>
        <p:spPr>
          <a:xfrm>
            <a:off x="4846320" y="2039112"/>
            <a:ext cx="3749040" cy="347472"/>
          </a:xfrm>
          <a:prstGeom prst="roundRect">
            <a:avLst>
              <a:gd name="adj" fmla="val 15789"/>
            </a:avLst>
          </a:prstGeom>
          <a:solidFill>
            <a:srgbClr val="FFFFFF"/>
          </a:solidFill>
          <a:ln w="12700">
            <a:solidFill>
              <a:srgbClr val="F5E6C8"/>
            </a:solidFill>
            <a:prstDash val="solid"/>
          </a:ln>
        </p:spPr>
      </p:sp>
      <p:sp>
        <p:nvSpPr>
          <p:cNvPr id="21" name="Text 19"/>
          <p:cNvSpPr/>
          <p:nvPr/>
        </p:nvSpPr>
        <p:spPr>
          <a:xfrm>
            <a:off x="4983480" y="2075688"/>
            <a:ext cx="3493008" cy="2743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3. Evidence  — How do I know?</a:t>
            </a:r>
            <a:endParaRPr lang="en-US" sz="1100" dirty="0"/>
          </a:p>
        </p:txBody>
      </p:sp>
      <p:sp>
        <p:nvSpPr>
          <p:cNvPr id="22" name="Shape 20"/>
          <p:cNvSpPr/>
          <p:nvPr/>
        </p:nvSpPr>
        <p:spPr>
          <a:xfrm>
            <a:off x="4846320" y="2441448"/>
            <a:ext cx="3749040" cy="347472"/>
          </a:xfrm>
          <a:prstGeom prst="roundRect">
            <a:avLst>
              <a:gd name="adj" fmla="val 15789"/>
            </a:avLst>
          </a:prstGeom>
          <a:solidFill>
            <a:srgbClr val="FFFFFF"/>
          </a:solidFill>
          <a:ln w="12700">
            <a:solidFill>
              <a:srgbClr val="F5E6C8"/>
            </a:solidFill>
            <a:prstDash val="solid"/>
          </a:ln>
        </p:spPr>
      </p:sp>
      <p:sp>
        <p:nvSpPr>
          <p:cNvPr id="23" name="Text 21"/>
          <p:cNvSpPr/>
          <p:nvPr/>
        </p:nvSpPr>
        <p:spPr>
          <a:xfrm>
            <a:off x="4983480" y="2478024"/>
            <a:ext cx="3493008" cy="2743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4. Connection  — How does it link?</a:t>
            </a:r>
            <a:endParaRPr lang="en-US" sz="1100" dirty="0"/>
          </a:p>
        </p:txBody>
      </p:sp>
      <p:sp>
        <p:nvSpPr>
          <p:cNvPr id="24" name="Shape 22"/>
          <p:cNvSpPr/>
          <p:nvPr/>
        </p:nvSpPr>
        <p:spPr>
          <a:xfrm>
            <a:off x="4846320" y="2843784"/>
            <a:ext cx="3749040" cy="347472"/>
          </a:xfrm>
          <a:prstGeom prst="roundRect">
            <a:avLst>
              <a:gd name="adj" fmla="val 15789"/>
            </a:avLst>
          </a:prstGeom>
          <a:solidFill>
            <a:srgbClr val="FFFFFF"/>
          </a:solidFill>
          <a:ln w="12700">
            <a:solidFill>
              <a:srgbClr val="F5E6C8"/>
            </a:solidFill>
            <a:prstDash val="solid"/>
          </a:ln>
        </p:spPr>
      </p:sp>
      <p:sp>
        <p:nvSpPr>
          <p:cNvPr id="25" name="Text 23"/>
          <p:cNvSpPr/>
          <p:nvPr/>
        </p:nvSpPr>
        <p:spPr>
          <a:xfrm>
            <a:off x="4983480" y="2880360"/>
            <a:ext cx="3493008" cy="2743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5. Significance  — Why does it matter?</a:t>
            </a:r>
            <a:endParaRPr lang="en-US" sz="1100" dirty="0"/>
          </a:p>
        </p:txBody>
      </p:sp>
      <p:sp>
        <p:nvSpPr>
          <p:cNvPr id="26" name="Shape 24"/>
          <p:cNvSpPr/>
          <p:nvPr/>
        </p:nvSpPr>
        <p:spPr>
          <a:xfrm>
            <a:off x="365760" y="3410712"/>
            <a:ext cx="8503920" cy="621792"/>
          </a:xfrm>
          <a:prstGeom prst="roundRect">
            <a:avLst>
              <a:gd name="adj" fmla="val 14706"/>
            </a:avLst>
          </a:prstGeom>
          <a:solidFill>
            <a:srgbClr val="1A2D5A"/>
          </a:solidFill>
          <a:ln w="12700">
            <a:solidFill>
              <a:srgbClr val="1A2D5A"/>
            </a:solidFill>
            <a:prstDash val="solid"/>
          </a:ln>
        </p:spPr>
      </p:sp>
      <p:sp>
        <p:nvSpPr>
          <p:cNvPr id="27" name="Text 25"/>
          <p:cNvSpPr/>
          <p:nvPr/>
        </p:nvSpPr>
        <p:spPr>
          <a:xfrm>
            <a:off x="548640" y="3493008"/>
            <a:ext cx="8229600" cy="457200"/>
          </a:xfrm>
          <a:prstGeom prst="rect">
            <a:avLst/>
          </a:prstGeom>
          <a:noFill/>
          <a:ln/>
        </p:spPr>
        <p:txBody>
          <a:bodyPr wrap="square" lIns="0" tIns="0" rIns="0" bIns="0" rtlCol="0" anchor="ctr"/>
          <a:lstStyle/>
          <a:p>
            <a:pPr indent="0" marL="0">
              <a:buNone/>
            </a:pPr>
            <a:r>
              <a:rPr lang="en-US" sz="1300" dirty="0">
                <a:solidFill>
                  <a:srgbClr val="FFF3DC"/>
                </a:solidFill>
                <a:latin typeface="Cambria" pitchFamily="34" charset="0"/>
                <a:ea typeface="Cambria" pitchFamily="34" charset="-122"/>
                <a:cs typeface="Cambria" pitchFamily="34" charset="-120"/>
              </a:rPr>
              <a:t>CURATOR'S CHRONICLE:  "In this exhibit, I learned that ______ because ______."</a:t>
            </a:r>
            <a:endParaRPr lang="en-US" sz="1300" dirty="0"/>
          </a:p>
        </p:txBody>
      </p:sp>
      <p:sp>
        <p:nvSpPr>
          <p:cNvPr id="28" name="Shape 26"/>
          <p:cNvSpPr/>
          <p:nvPr/>
        </p:nvSpPr>
        <p:spPr>
          <a:xfrm>
            <a:off x="365760" y="4096512"/>
            <a:ext cx="8503920" cy="594360"/>
          </a:xfrm>
          <a:prstGeom prst="roundRect">
            <a:avLst>
              <a:gd name="adj" fmla="val 12308"/>
            </a:avLst>
          </a:prstGeom>
          <a:solidFill>
            <a:srgbClr val="E3F8ED"/>
          </a:solidFill>
          <a:ln w="19050">
            <a:solidFill>
              <a:srgbClr val="34B76F"/>
            </a:solidFill>
            <a:prstDash val="solid"/>
          </a:ln>
        </p:spPr>
      </p:sp>
      <p:sp>
        <p:nvSpPr>
          <p:cNvPr id="29" name="Text 27"/>
          <p:cNvSpPr/>
          <p:nvPr/>
        </p:nvSpPr>
        <p:spPr>
          <a:xfrm>
            <a:off x="548640" y="4169664"/>
            <a:ext cx="8229600" cy="438912"/>
          </a:xfrm>
          <a:prstGeom prst="rect">
            <a:avLst/>
          </a:prstGeom>
          <a:noFill/>
          <a:ln/>
        </p:spPr>
        <p:txBody>
          <a:bodyPr wrap="square" lIns="0" tIns="0" rIns="0" bIns="0" rtlCol="0" anchor="ctr"/>
          <a:lstStyle/>
          <a:p>
            <a:pPr indent="0" marL="0">
              <a:buNone/>
            </a:pPr>
            <a:r>
              <a:rPr lang="en-US" sz="1100" dirty="0">
                <a:solidFill>
                  <a:srgbClr val="1A5A3A"/>
                </a:solidFill>
                <a:latin typeface="Calibri" pitchFamily="34" charset="0"/>
                <a:ea typeface="Calibri" pitchFamily="34" charset="-122"/>
                <a:cs typeface="Calibri" pitchFamily="34" charset="-120"/>
              </a:rPr>
              <a:t>TURN IN: Evidence questions  •  Five curator questions  •  Curator's Chronicle  •  Submit to Canvas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11480"/>
          </a:xfrm>
          <a:prstGeom prst="rect">
            <a:avLst/>
          </a:prstGeom>
          <a:solidFill>
            <a:srgbClr val="1A2D5A"/>
          </a:solidFill>
          <a:ln w="12700">
            <a:solidFill>
              <a:srgbClr val="1A2D5A"/>
            </a:solidFill>
            <a:prstDash val="solid"/>
          </a:ln>
        </p:spPr>
      </p:sp>
      <p:sp>
        <p:nvSpPr>
          <p:cNvPr id="5" name="Text 3"/>
          <p:cNvSpPr/>
          <p:nvPr/>
        </p:nvSpPr>
        <p:spPr>
          <a:xfrm>
            <a:off x="274320" y="73152"/>
            <a:ext cx="8595360" cy="292608"/>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CERTIFIED JUNIOR CURATOR  ·  LESSON 3.01.03 COMPLETE</a:t>
            </a:r>
            <a:endParaRPr lang="en-US" sz="1000" dirty="0"/>
          </a:p>
        </p:txBody>
      </p:sp>
      <p:sp>
        <p:nvSpPr>
          <p:cNvPr id="6" name="Text 4"/>
          <p:cNvSpPr/>
          <p:nvPr/>
        </p:nvSpPr>
        <p:spPr>
          <a:xfrm>
            <a:off x="457200" y="548640"/>
            <a:ext cx="8229600" cy="1600200"/>
          </a:xfrm>
          <a:prstGeom prst="rect">
            <a:avLst/>
          </a:prstGeom>
          <a:noFill/>
          <a:ln/>
        </p:spPr>
        <p:txBody>
          <a:bodyPr wrap="square" lIns="0" tIns="0" rIns="0" bIns="0"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Questions First,</a:t>
            </a:r>
            <a:endParaRPr lang="en-US" sz="4400" dirty="0"/>
          </a:p>
          <a:p>
            <a:pPr algn="ctr" indent="0" marL="0">
              <a:buNone/>
            </a:pPr>
            <a:r>
              <a:rPr lang="en-US" sz="4400" b="1" dirty="0">
                <a:solidFill>
                  <a:srgbClr val="D4943A"/>
                </a:solidFill>
                <a:latin typeface="Cambria" pitchFamily="34" charset="0"/>
                <a:ea typeface="Cambria" pitchFamily="34" charset="-122"/>
                <a:cs typeface="Cambria" pitchFamily="34" charset="-120"/>
              </a:rPr>
              <a:t>Labels Later!</a:t>
            </a:r>
            <a:endParaRPr lang="en-US" sz="4400" dirty="0"/>
          </a:p>
        </p:txBody>
      </p:sp>
      <p:sp>
        <p:nvSpPr>
          <p:cNvPr id="7" name="Shape 5"/>
          <p:cNvSpPr/>
          <p:nvPr/>
        </p:nvSpPr>
        <p:spPr>
          <a:xfrm>
            <a:off x="2743200" y="2029968"/>
            <a:ext cx="3657600" cy="54864"/>
          </a:xfrm>
          <a:prstGeom prst="rect">
            <a:avLst/>
          </a:prstGeom>
          <a:solidFill>
            <a:srgbClr val="D4943A"/>
          </a:solidFill>
          <a:ln w="12700">
            <a:solidFill>
              <a:srgbClr val="D4943A"/>
            </a:solidFill>
            <a:prstDash val="solid"/>
          </a:ln>
        </p:spPr>
      </p:sp>
      <p:sp>
        <p:nvSpPr>
          <p:cNvPr id="8" name="Shape 6"/>
          <p:cNvSpPr/>
          <p:nvPr/>
        </p:nvSpPr>
        <p:spPr>
          <a:xfrm>
            <a:off x="274320" y="2176272"/>
            <a:ext cx="1554480" cy="658368"/>
          </a:xfrm>
          <a:prstGeom prst="roundRect">
            <a:avLst>
              <a:gd name="adj" fmla="val 11111"/>
            </a:avLst>
          </a:prstGeom>
          <a:solidFill>
            <a:srgbClr val="1A8A7D"/>
          </a:solidFill>
          <a:ln/>
        </p:spPr>
      </p:sp>
      <p:sp>
        <p:nvSpPr>
          <p:cNvPr id="9" name="Text 7"/>
          <p:cNvSpPr/>
          <p:nvPr/>
        </p:nvSpPr>
        <p:spPr>
          <a:xfrm>
            <a:off x="274320" y="2221992"/>
            <a:ext cx="15544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Observation</a:t>
            </a:r>
            <a:endParaRPr lang="en-US" sz="1200" dirty="0"/>
          </a:p>
        </p:txBody>
      </p:sp>
      <p:sp>
        <p:nvSpPr>
          <p:cNvPr id="10" name="Shape 8"/>
          <p:cNvSpPr/>
          <p:nvPr/>
        </p:nvSpPr>
        <p:spPr>
          <a:xfrm>
            <a:off x="2011680" y="2176272"/>
            <a:ext cx="1554480" cy="658368"/>
          </a:xfrm>
          <a:prstGeom prst="roundRect">
            <a:avLst>
              <a:gd name="adj" fmla="val 11111"/>
            </a:avLst>
          </a:prstGeom>
          <a:solidFill>
            <a:srgbClr val="1A2D5A"/>
          </a:solidFill>
          <a:ln/>
        </p:spPr>
      </p:sp>
      <p:sp>
        <p:nvSpPr>
          <p:cNvPr id="11" name="Text 9"/>
          <p:cNvSpPr/>
          <p:nvPr/>
        </p:nvSpPr>
        <p:spPr>
          <a:xfrm>
            <a:off x="2011680" y="2221992"/>
            <a:ext cx="15544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Context</a:t>
            </a:r>
            <a:endParaRPr lang="en-US" sz="1200" dirty="0"/>
          </a:p>
        </p:txBody>
      </p:sp>
      <p:sp>
        <p:nvSpPr>
          <p:cNvPr id="12" name="Shape 10"/>
          <p:cNvSpPr/>
          <p:nvPr/>
        </p:nvSpPr>
        <p:spPr>
          <a:xfrm>
            <a:off x="3749040" y="2176272"/>
            <a:ext cx="1554480" cy="658368"/>
          </a:xfrm>
          <a:prstGeom prst="roundRect">
            <a:avLst>
              <a:gd name="adj" fmla="val 11111"/>
            </a:avLst>
          </a:prstGeom>
          <a:solidFill>
            <a:srgbClr val="8B6FC0"/>
          </a:solidFill>
          <a:ln/>
        </p:spPr>
      </p:sp>
      <p:sp>
        <p:nvSpPr>
          <p:cNvPr id="13" name="Text 11"/>
          <p:cNvSpPr/>
          <p:nvPr/>
        </p:nvSpPr>
        <p:spPr>
          <a:xfrm>
            <a:off x="3749040" y="2221992"/>
            <a:ext cx="15544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Evidence</a:t>
            </a:r>
            <a:endParaRPr lang="en-US" sz="1200" dirty="0"/>
          </a:p>
        </p:txBody>
      </p:sp>
      <p:sp>
        <p:nvSpPr>
          <p:cNvPr id="14" name="Shape 12"/>
          <p:cNvSpPr/>
          <p:nvPr/>
        </p:nvSpPr>
        <p:spPr>
          <a:xfrm>
            <a:off x="5486400" y="2176272"/>
            <a:ext cx="1554480" cy="658368"/>
          </a:xfrm>
          <a:prstGeom prst="roundRect">
            <a:avLst>
              <a:gd name="adj" fmla="val 11111"/>
            </a:avLst>
          </a:prstGeom>
          <a:solidFill>
            <a:srgbClr val="D4943A"/>
          </a:solidFill>
          <a:ln/>
        </p:spPr>
      </p:sp>
      <p:sp>
        <p:nvSpPr>
          <p:cNvPr id="15" name="Text 13"/>
          <p:cNvSpPr/>
          <p:nvPr/>
        </p:nvSpPr>
        <p:spPr>
          <a:xfrm>
            <a:off x="5486400" y="2221992"/>
            <a:ext cx="15544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Connection</a:t>
            </a:r>
            <a:endParaRPr lang="en-US" sz="1200" dirty="0"/>
          </a:p>
        </p:txBody>
      </p:sp>
      <p:sp>
        <p:nvSpPr>
          <p:cNvPr id="16" name="Shape 14"/>
          <p:cNvSpPr/>
          <p:nvPr/>
        </p:nvSpPr>
        <p:spPr>
          <a:xfrm>
            <a:off x="7223760" y="2176272"/>
            <a:ext cx="1554480" cy="658368"/>
          </a:xfrm>
          <a:prstGeom prst="roundRect">
            <a:avLst>
              <a:gd name="adj" fmla="val 11111"/>
            </a:avLst>
          </a:prstGeom>
          <a:solidFill>
            <a:srgbClr val="E8636B"/>
          </a:solidFill>
          <a:ln/>
        </p:spPr>
      </p:sp>
      <p:sp>
        <p:nvSpPr>
          <p:cNvPr id="17" name="Text 15"/>
          <p:cNvSpPr/>
          <p:nvPr/>
        </p:nvSpPr>
        <p:spPr>
          <a:xfrm>
            <a:off x="7223760" y="2221992"/>
            <a:ext cx="15544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Significance</a:t>
            </a:r>
            <a:endParaRPr lang="en-US" sz="1200" dirty="0"/>
          </a:p>
        </p:txBody>
      </p:sp>
      <p:sp>
        <p:nvSpPr>
          <p:cNvPr id="18" name="Shape 16"/>
          <p:cNvSpPr/>
          <p:nvPr/>
        </p:nvSpPr>
        <p:spPr>
          <a:xfrm>
            <a:off x="1188720" y="2971800"/>
            <a:ext cx="6766560" cy="1417320"/>
          </a:xfrm>
          <a:prstGeom prst="roundRect">
            <a:avLst>
              <a:gd name="adj" fmla="val 7742"/>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1371600" y="3044952"/>
            <a:ext cx="6400800" cy="237744"/>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COMING NEXT</a:t>
            </a:r>
            <a:endParaRPr lang="en-US" sz="900" dirty="0"/>
          </a:p>
        </p:txBody>
      </p:sp>
      <p:sp>
        <p:nvSpPr>
          <p:cNvPr id="20" name="Text 18"/>
          <p:cNvSpPr/>
          <p:nvPr/>
        </p:nvSpPr>
        <p:spPr>
          <a:xfrm>
            <a:off x="1371600" y="3310128"/>
            <a:ext cx="6400800" cy="1005840"/>
          </a:xfrm>
          <a:prstGeom prst="rect">
            <a:avLst/>
          </a:prstGeom>
          <a:noFill/>
          <a:ln/>
        </p:spPr>
        <p:txBody>
          <a:bodyPr wrap="square" lIns="0" tIns="0" rIns="0" bIns="0" rtlCol="0" anchor="t"/>
          <a:lstStyle/>
          <a:p>
            <a:pPr algn="ctr" indent="0" marL="0">
              <a:buNone/>
            </a:pPr>
            <a:r>
              <a:rPr lang="en-US" sz="1300" i="1" dirty="0">
                <a:solidFill>
                  <a:srgbClr val="FFF3DC"/>
                </a:solidFill>
                <a:latin typeface="Cambria" pitchFamily="34" charset="0"/>
                <a:ea typeface="Cambria" pitchFamily="34" charset="-122"/>
                <a:cs typeface="Cambria" pitchFamily="34" charset="-120"/>
              </a:rPr>
              <a:t>Next time you'll visit the Research Desk — where a computer search has pulled up helpful facts mixed with weak information. You'll need to figure out which sources to trust before the museum can use them.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2026-07-10T22:18:22Z</dcterms:created>
  <dcterms:modified xsi:type="dcterms:W3CDTF">2026-07-10T22:18:22Z</dcterms:modified>
</cp:coreProperties>
</file>