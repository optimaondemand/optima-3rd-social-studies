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Grand museum entrance hall with a blank ornate frame beside a massive world map, dramatic warm lighting, visitors approachingTitle slide. Capstone lesson for the World Map Hall unit.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A completed museum exhibit hall with a world map on the wall, all sections labeled except one blank frame at the entrance, curator pointing at itMuseum hook. Read the story aloud. Build anticipation: this is the capstone -- the most important label. Under 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Curator's Question. Spotlight courtesy -- writing for others, not just yourself. Under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Review objectives. Thinking move: Sort ideas from 5 lessons, Compare them, Explain in one label.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Unit review: Exhibit 1 -- continents and oceans. Quick recall. Under 1 minute per exhibit.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SOCRATIC: What's one landform that shapes how people live? How is a mountain different from a plain? Quick pair-share.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Climate, vegetation, resources. Compare three zones. Ask: How does climate connect to what resources people have?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Location types side-by-side comparison. Students should be able to explain the difference for Evidence Q2.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word roots review. Students should be ready to use a root for Evidence Q3.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 activity. 2 minutes for think-pair-share. They sort and discuss which exhibit matters most for the entrance label.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study with mentor text. Model how a real museum exhibit explains its content. Under 3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Then &amp; Now: maps have changed but the need to explain hasn't. Opti fact about Pacific Ocean.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it matters. This label IS the capstone. Socratic: plan the label's opening line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Q1-Q3. Have students answer before revealing. Thumbs up/down.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Q4-Q5. Celebrate: 'Perfect on the whole unit! You're ready for Opening Night!'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Error analysis. The sample label is vague -- no specific details, no geographic terms, not courteous to visitors. Students fix it. 2 minutes discussion. Ties to courtesy virtue.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Scaffold Evidence Q1. EXACT wording from HTML. Model answer, then students write their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Scaffold Evidence Q2. EXACT wording from HTML. Side-by-side review before students write.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Scaffold Evidence Q3. EXACT wording from HTML. Students choose their own term.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Capstone assignment. EXACT wording from HTML. Read aloud. Model the first sentence. Remind: 5-8 sentences covering all 4 requirements. 2-3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A museum Opening Night scene -- visitors reading a beautifully written label at the entrance to the World Map Hall, warm golden lighting, celebration atmosphereClosing. Celebrate the whole unit: labels, landforms, climate, scavenger clues, word roots, and the entrance explanation. World Locator badge earned! Tease: North America and Caribbean Gallery. Under 1 minute.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0E1C42"/>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solidFill>
          <a:srgbClr val="F0F2F8"/>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6256000" cy="9144000"/>
          </a:xfrm>
          <a:prstGeom prst="rect">
            <a:avLst/>
          </a:prstGeom>
          <a:solidFill>
            <a:srgbClr val="0B1835"/>
          </a:solidFill>
          <a:ln w="19050">
            <a:solidFill>
              <a:srgbClr val="3A5080"/>
            </a:solidFill>
            <a:prstDash val="dash"/>
          </a:ln>
        </p:spPr>
      </p:sp>
      <p:sp>
        <p:nvSpPr>
          <p:cNvPr id="3" name="Shape 1"/>
          <p:cNvSpPr/>
          <p:nvPr/>
        </p:nvSpPr>
        <p:spPr>
          <a:xfrm>
            <a:off x="0" y="0"/>
            <a:ext cx="16256000" cy="9144000"/>
          </a:xfrm>
          <a:prstGeom prst="rect">
            <a:avLst/>
          </a:prstGeom>
          <a:solidFill>
            <a:srgbClr val="0E1C42">
              <a:alpha val="62000"/>
            </a:srgbClr>
          </a:solidFill>
          <a:ln/>
        </p:spPr>
      </p:sp>
      <p:sp>
        <p:nvSpPr>
          <p:cNvPr id="5" name="Text 2"/>
          <p:cNvSpPr/>
          <p:nvPr/>
        </p:nvSpPr>
        <p:spPr>
          <a:xfrm>
            <a:off x="975360" y="1950720"/>
            <a:ext cx="14305280" cy="3251200"/>
          </a:xfrm>
          <a:prstGeom prst="rect">
            <a:avLst/>
          </a:prstGeom>
          <a:noFill/>
          <a:ln/>
        </p:spPr>
        <p:txBody>
          <a:bodyPr wrap="square" rtlCol="0" anchor="ctr"/>
          <a:lstStyle/>
          <a:p>
            <a:pPr algn="ctr" indent="0" marL="0">
              <a:lnSpc>
                <a:spcPct val="110000"/>
              </a:lnSpc>
              <a:buNone/>
            </a:pPr>
            <a:r>
              <a:rPr lang="en-US" sz="4200" b="1" dirty="0">
                <a:solidFill>
                  <a:srgbClr val="FFFFFF"/>
                </a:solidFill>
                <a:latin typeface="Cambria" pitchFamily="34" charset="0"/>
                <a:ea typeface="Cambria" pitchFamily="34" charset="-122"/>
                <a:cs typeface="Cambria" pitchFamily="34" charset="-120"/>
              </a:rPr>
              <a:t>World Map</a:t>
            </a:r>
            <a:endParaRPr lang="en-US" sz="4200" dirty="0"/>
          </a:p>
          <a:p>
            <a:pPr algn="ctr" indent="0" marL="0">
              <a:lnSpc>
                <a:spcPct val="110000"/>
              </a:lnSpc>
              <a:buNone/>
            </a:pPr>
            <a:r>
              <a:rPr lang="en-US" sz="4200" b="1" dirty="0">
                <a:solidFill>
                  <a:srgbClr val="FFFFFF"/>
                </a:solidFill>
                <a:latin typeface="Cambria" pitchFamily="34" charset="0"/>
                <a:ea typeface="Cambria" pitchFamily="34" charset="-122"/>
                <a:cs typeface="Cambria" pitchFamily="34" charset="-120"/>
              </a:rPr>
              <a:t>Explanation</a:t>
            </a:r>
            <a:endParaRPr lang="en-US" sz="4200" dirty="0"/>
          </a:p>
        </p:txBody>
      </p:sp>
      <p:sp>
        <p:nvSpPr>
          <p:cNvPr id="6" name="Text 3"/>
          <p:cNvSpPr/>
          <p:nvPr/>
        </p:nvSpPr>
        <p:spPr>
          <a:xfrm>
            <a:off x="975360" y="5201920"/>
            <a:ext cx="14305280" cy="812800"/>
          </a:xfrm>
          <a:prstGeom prst="rect">
            <a:avLst/>
          </a:prstGeom>
          <a:noFill/>
          <a:ln/>
        </p:spPr>
        <p:txBody>
          <a:bodyPr wrap="square" rtlCol="0" anchor="ctr"/>
          <a:lstStyle/>
          <a:p>
            <a:pPr algn="ctr" indent="0" marL="0">
              <a:buNone/>
            </a:pPr>
            <a:r>
              <a:rPr lang="en-US" sz="1600" dirty="0">
                <a:solidFill>
                  <a:srgbClr val="55C8E8"/>
                </a:solidFill>
                <a:latin typeface="Calibri" pitchFamily="34" charset="0"/>
                <a:ea typeface="Calibri" pitchFamily="34" charset="-122"/>
                <a:cs typeface="Calibri" pitchFamily="34" charset="-120"/>
              </a:rPr>
              <a:t>Lesson 3.05.06  |  Week 14  |  Great Map Room</a:t>
            </a:r>
            <a:endParaRPr lang="en-US" sz="1600" dirty="0"/>
          </a:p>
        </p:txBody>
      </p:sp>
      <p:sp>
        <p:nvSpPr>
          <p:cNvPr id="7" name="Text 4"/>
          <p:cNvSpPr/>
          <p:nvPr/>
        </p:nvSpPr>
        <p:spPr>
          <a:xfrm>
            <a:off x="975360" y="6014720"/>
            <a:ext cx="14305280" cy="650240"/>
          </a:xfrm>
          <a:prstGeom prst="rect">
            <a:avLst/>
          </a:prstGeom>
          <a:noFill/>
          <a:ln/>
        </p:spPr>
        <p:txBody>
          <a:bodyPr wrap="square" rtlCol="0" anchor="ctr"/>
          <a:lstStyle/>
          <a:p>
            <a:pPr algn="ctr" indent="0" marL="0">
              <a:buNone/>
            </a:pPr>
            <a:r>
              <a:rPr lang="en-US" sz="1100" dirty="0">
                <a:solidFill>
                  <a:srgbClr val="7A88A8"/>
                </a:solidFill>
                <a:latin typeface="Calibri" pitchFamily="34" charset="0"/>
                <a:ea typeface="Calibri" pitchFamily="34" charset="-122"/>
                <a:cs typeface="Calibri" pitchFamily="34" charset="-120"/>
              </a:rPr>
              <a:t>SS.3.G.1.3 | SS.3.G.1.4 | SS.3.G.2.1 | SS.3.G.3.1 | SS.3.G.3.2</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6256000" cy="9144000"/>
          </a:xfrm>
          <a:prstGeom prst="rect">
            <a:avLst/>
          </a:prstGeom>
          <a:solidFill>
            <a:srgbClr val="0B1835"/>
          </a:solidFill>
          <a:ln w="19050">
            <a:solidFill>
              <a:srgbClr val="3A5080"/>
            </a:solidFill>
            <a:prstDash val="dash"/>
          </a:ln>
        </p:spPr>
      </p:sp>
      <p:sp>
        <p:nvSpPr>
          <p:cNvPr id="3" name="Shape 1"/>
          <p:cNvSpPr/>
          <p:nvPr/>
        </p:nvSpPr>
        <p:spPr>
          <a:xfrm>
            <a:off x="0" y="0"/>
            <a:ext cx="16256000" cy="9144000"/>
          </a:xfrm>
          <a:prstGeom prst="rect">
            <a:avLst/>
          </a:prstGeom>
          <a:solidFill>
            <a:srgbClr val="0E1C42">
              <a:alpha val="62000"/>
            </a:srgbClr>
          </a:solidFill>
          <a:ln/>
        </p:spPr>
      </p:sp>
      <p:sp>
        <p:nvSpPr>
          <p:cNvPr id="5" name="Shape 2"/>
          <p:cNvSpPr/>
          <p:nvPr/>
        </p:nvSpPr>
        <p:spPr>
          <a:xfrm>
            <a:off x="812800" y="487680"/>
            <a:ext cx="14630400" cy="1950720"/>
          </a:xfrm>
          <a:prstGeom prst="roundRect">
            <a:avLst>
              <a:gd name="adj" fmla="val 12500"/>
            </a:avLst>
          </a:prstGeom>
          <a:solidFill>
            <a:srgbClr val="0E1C42">
              <a:alpha val="75000"/>
            </a:srgbClr>
          </a:solidFill>
          <a:ln/>
        </p:spPr>
      </p:sp>
      <p:sp>
        <p:nvSpPr>
          <p:cNvPr id="6" name="Text 3"/>
          <p:cNvSpPr/>
          <p:nvPr/>
        </p:nvSpPr>
        <p:spPr>
          <a:xfrm>
            <a:off x="1137920" y="650240"/>
            <a:ext cx="13980160" cy="1625600"/>
          </a:xfrm>
          <a:prstGeom prst="rect">
            <a:avLst/>
          </a:prstGeom>
          <a:noFill/>
          <a:ln/>
        </p:spPr>
        <p:txBody>
          <a:bodyPr wrap="square" rtlCol="0" anchor="ctr"/>
          <a:lstStyle/>
          <a:p>
            <a:pPr algn="ctr" indent="0" marL="0">
              <a:lnSpc>
                <a:spcPct val="120000"/>
              </a:lnSpc>
              <a:buNone/>
            </a:pPr>
            <a:r>
              <a:rPr lang="en-US" sz="1700" i="1" dirty="0">
                <a:solidFill>
                  <a:srgbClr val="FFFFFF"/>
                </a:solidFill>
                <a:latin typeface="Cambria" pitchFamily="34" charset="0"/>
                <a:ea typeface="Cambria" pitchFamily="34" charset="-122"/>
                <a:cs typeface="Cambria" pitchFamily="34" charset="-120"/>
              </a:rPr>
              <a:t>It's the last day before Opening Night. The World Map Hall is almost ready.</a:t>
            </a:r>
            <a:endParaRPr lang="en-US" sz="1700" dirty="0"/>
          </a:p>
          <a:p>
            <a:pPr algn="ctr" indent="0" marL="0">
              <a:lnSpc>
                <a:spcPct val="120000"/>
              </a:lnSpc>
              <a:buNone/>
            </a:pPr>
            <a:r>
              <a:rPr lang="en-US" sz="1700" i="1" dirty="0">
                <a:solidFill>
                  <a:srgbClr val="FFFFFF"/>
                </a:solidFill>
                <a:latin typeface="Cambria" pitchFamily="34" charset="0"/>
                <a:ea typeface="Cambria" pitchFamily="34" charset="-122"/>
                <a:cs typeface="Cambria" pitchFamily="34" charset="-120"/>
              </a:rPr>
              <a:t>But one thing is missing.</a:t>
            </a:r>
            <a:endParaRPr lang="en-US" sz="1700" dirty="0"/>
          </a:p>
        </p:txBody>
      </p:sp>
      <p:sp>
        <p:nvSpPr>
          <p:cNvPr id="7" name="Shape 4"/>
          <p:cNvSpPr/>
          <p:nvPr/>
        </p:nvSpPr>
        <p:spPr>
          <a:xfrm>
            <a:off x="812800" y="2926080"/>
            <a:ext cx="14630400" cy="4876800"/>
          </a:xfrm>
          <a:prstGeom prst="roundRect">
            <a:avLst>
              <a:gd name="adj" fmla="val 4000"/>
            </a:avLst>
          </a:prstGeom>
          <a:solidFill>
            <a:srgbClr val="FFF3DC"/>
          </a:solidFill>
          <a:ln w="19050">
            <a:solidFill>
              <a:srgbClr val="F5E6C8"/>
            </a:solidFill>
            <a:prstDash val="solid"/>
          </a:ln>
        </p:spPr>
      </p:sp>
      <p:sp>
        <p:nvSpPr>
          <p:cNvPr id="8" name="Text 5"/>
          <p:cNvSpPr/>
          <p:nvPr/>
        </p:nvSpPr>
        <p:spPr>
          <a:xfrm>
            <a:off x="1056640" y="3023616"/>
            <a:ext cx="14142720" cy="357632"/>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9" name="Text 6"/>
          <p:cNvSpPr/>
          <p:nvPr/>
        </p:nvSpPr>
        <p:spPr>
          <a:xfrm>
            <a:off x="1056640" y="3381248"/>
            <a:ext cx="14142720" cy="430784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head curator stands by the entrance and points to a blank frame. 'Every exhibit starts with an explanation. Visitors need a label that tells them what this whole room is about.'"</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volunteer gulps. 'That sounds like a really important label.'"</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head curator turns to you. 'That's why I'm asking our best curator to write it.'"</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6256000" cy="9144000"/>
          </a:xfrm>
          <a:prstGeom prst="rect">
            <a:avLst/>
          </a:prstGeom>
          <a:solidFill>
            <a:srgbClr val="0E1C42"/>
          </a:solidFill>
          <a:ln/>
        </p:spPr>
      </p:sp>
      <p:sp>
        <p:nvSpPr>
          <p:cNvPr id="3" name="Text 1"/>
          <p:cNvSpPr/>
          <p:nvPr/>
        </p:nvSpPr>
        <p:spPr>
          <a:xfrm>
            <a:off x="975360" y="487680"/>
            <a:ext cx="14305280" cy="568960"/>
          </a:xfrm>
          <a:prstGeom prst="rect">
            <a:avLst/>
          </a:prstGeom>
          <a:noFill/>
          <a:ln/>
        </p:spPr>
        <p:txBody>
          <a:bodyPr wrap="square" rtlCol="0" anchor="ctr"/>
          <a:lstStyle/>
          <a:p>
            <a:pPr algn="ctr" indent="0" marL="0">
              <a:buNone/>
            </a:pPr>
            <a:r>
              <a:rPr lang="en-US" sz="1000" b="1" spc="200" kern="0" dirty="0">
                <a:solidFill>
                  <a:srgbClr val="55C8E8"/>
                </a:solidFill>
                <a:latin typeface="Calibri" pitchFamily="34" charset="0"/>
                <a:ea typeface="Calibri" pitchFamily="34" charset="-122"/>
                <a:cs typeface="Calibri" pitchFamily="34" charset="-120"/>
              </a:rPr>
              <a:t>CURATOR'S QUESTION</a:t>
            </a:r>
            <a:endParaRPr lang="en-US" sz="1000" dirty="0"/>
          </a:p>
        </p:txBody>
      </p:sp>
      <p:sp>
        <p:nvSpPr>
          <p:cNvPr id="4" name="Shape 2"/>
          <p:cNvSpPr/>
          <p:nvPr/>
        </p:nvSpPr>
        <p:spPr>
          <a:xfrm>
            <a:off x="1625600" y="1300480"/>
            <a:ext cx="13004800" cy="2113280"/>
          </a:xfrm>
          <a:prstGeom prst="roundRect">
            <a:avLst>
              <a:gd name="adj" fmla="val 11538"/>
            </a:avLst>
          </a:prstGeom>
          <a:solidFill>
            <a:srgbClr val="1A2D5A"/>
          </a:solidFill>
          <a:ln/>
          <a:effectLst>
            <a:outerShdw sx="100000" sy="100000" kx="0" ky="0" algn="bl" rotWithShape="0" blurRad="101600" dist="38100" dir="8100000">
              <a:srgbClr val="000000">
                <a:alpha val="20000"/>
              </a:srgbClr>
            </a:outerShdw>
          </a:effectLst>
        </p:spPr>
      </p:sp>
      <p:sp>
        <p:nvSpPr>
          <p:cNvPr id="5" name="Text 3"/>
          <p:cNvSpPr/>
          <p:nvPr/>
        </p:nvSpPr>
        <p:spPr>
          <a:xfrm>
            <a:off x="1950720" y="1463040"/>
            <a:ext cx="12354560" cy="1788160"/>
          </a:xfrm>
          <a:prstGeom prst="rect">
            <a:avLst/>
          </a:prstGeom>
          <a:noFill/>
          <a:ln/>
        </p:spPr>
        <p:txBody>
          <a:bodyPr wrap="square" rtlCol="0" anchor="ctr"/>
          <a:lstStyle/>
          <a:p>
            <a:pPr algn="ctr" indent="0" marL="0">
              <a:buNone/>
            </a:pPr>
            <a:r>
              <a:rPr lang="en-US" sz="2000" b="1" dirty="0">
                <a:solidFill>
                  <a:srgbClr val="D4943A"/>
                </a:solidFill>
                <a:latin typeface="Cambria" pitchFamily="34" charset="0"/>
                <a:ea typeface="Cambria" pitchFamily="34" charset="-122"/>
                <a:cs typeface="Cambria" pitchFamily="34" charset="-120"/>
              </a:rPr>
              <a:t>How can we explain what the World Map shows and why it matters -- all in one clear label?</a:t>
            </a:r>
            <a:endParaRPr lang="en-US" sz="2000" dirty="0"/>
          </a:p>
        </p:txBody>
      </p:sp>
      <p:sp>
        <p:nvSpPr>
          <p:cNvPr id="6" name="Text 4"/>
          <p:cNvSpPr/>
          <p:nvPr/>
        </p:nvSpPr>
        <p:spPr>
          <a:xfrm>
            <a:off x="975360" y="3901440"/>
            <a:ext cx="14305280" cy="568960"/>
          </a:xfrm>
          <a:prstGeom prst="rect">
            <a:avLst/>
          </a:prstGeom>
          <a:noFill/>
          <a:ln/>
        </p:spPr>
        <p:txBody>
          <a:bodyPr wrap="square" rtlCol="0" anchor="ctr"/>
          <a:lstStyle/>
          <a:p>
            <a:pPr algn="ctr" indent="0" marL="0">
              <a:buNone/>
            </a:pPr>
            <a:r>
              <a:rPr lang="en-US" sz="1000" b="1" spc="200" kern="0" dirty="0">
                <a:solidFill>
                  <a:srgbClr val="34B76F"/>
                </a:solidFill>
                <a:latin typeface="Calibri" pitchFamily="34" charset="0"/>
                <a:ea typeface="Calibri" pitchFamily="34" charset="-122"/>
                <a:cs typeface="Calibri" pitchFamily="34" charset="-120"/>
              </a:rPr>
              <a:t>VIRTUE SPOTLIGHT -- COURTESY</a:t>
            </a:r>
            <a:endParaRPr lang="en-US" sz="1000" dirty="0"/>
          </a:p>
        </p:txBody>
      </p:sp>
      <p:sp>
        <p:nvSpPr>
          <p:cNvPr id="7" name="Shape 5"/>
          <p:cNvSpPr/>
          <p:nvPr/>
        </p:nvSpPr>
        <p:spPr>
          <a:xfrm>
            <a:off x="1625600" y="4714240"/>
            <a:ext cx="13004800" cy="2275840"/>
          </a:xfrm>
          <a:prstGeom prst="roundRect">
            <a:avLst>
              <a:gd name="adj" fmla="val 10714"/>
            </a:avLst>
          </a:prstGeom>
          <a:solidFill>
            <a:srgbClr val="1A2D5A"/>
          </a:solidFill>
          <a:ln/>
        </p:spPr>
      </p:sp>
      <p:sp>
        <p:nvSpPr>
          <p:cNvPr id="8" name="Text 6"/>
          <p:cNvSpPr/>
          <p:nvPr/>
        </p:nvSpPr>
        <p:spPr>
          <a:xfrm>
            <a:off x="1950720" y="4876800"/>
            <a:ext cx="12354560" cy="1950720"/>
          </a:xfrm>
          <a:prstGeom prst="rect">
            <a:avLst/>
          </a:prstGeom>
          <a:noFill/>
          <a:ln/>
        </p:spPr>
        <p:txBody>
          <a:bodyPr wrap="square" rtlCol="0" anchor="ctr"/>
          <a:lstStyle/>
          <a:p>
            <a:pPr algn="ctr" indent="0" marL="0">
              <a:lnSpc>
                <a:spcPct val="120000"/>
              </a:lnSpc>
              <a:buNone/>
            </a:pPr>
            <a:r>
              <a:rPr lang="en-US" sz="1400" dirty="0">
                <a:solidFill>
                  <a:srgbClr val="FFFFFF"/>
                </a:solidFill>
                <a:latin typeface="Calibri" pitchFamily="34" charset="0"/>
                <a:ea typeface="Calibri" pitchFamily="34" charset="-122"/>
                <a:cs typeface="Calibri" pitchFamily="34" charset="-120"/>
              </a:rPr>
              <a:t>A courteous curator thinks about the people who will visit the exhibit. You don't just write what you know -- you write in a way that helps others understand. Today, your explanation label should be clear and welcoming so every visitor feels invited to learn.</a:t>
            </a:r>
            <a:endParaRPr lang="en-US" sz="1400" dirty="0"/>
          </a:p>
        </p:txBody>
      </p:sp>
      <p:sp>
        <p:nvSpPr>
          <p:cNvPr id="9" name="Text 7"/>
          <p:cNvSpPr/>
          <p:nvPr/>
        </p:nvSpPr>
        <p:spPr>
          <a:xfrm>
            <a:off x="975360" y="7477760"/>
            <a:ext cx="14305280" cy="650240"/>
          </a:xfrm>
          <a:prstGeom prst="rect">
            <a:avLst/>
          </a:prstGeom>
          <a:noFill/>
          <a:ln/>
        </p:spPr>
        <p:txBody>
          <a:bodyPr wrap="square" rtlCol="0" anchor="ctr"/>
          <a:lstStyle/>
          <a:p>
            <a:pPr algn="ctr" indent="0" marL="0">
              <a:buNone/>
            </a:pPr>
            <a:r>
              <a:rPr lang="en-US" sz="1200" i="1" dirty="0">
                <a:solidFill>
                  <a:srgbClr val="7A88A8"/>
                </a:solidFill>
                <a:latin typeface="Calibri" pitchFamily="34" charset="0"/>
                <a:ea typeface="Calibri" pitchFamily="34" charset="-122"/>
                <a:cs typeface="Calibri" pitchFamily="34" charset="-120"/>
              </a:rPr>
              <a:t>Your Role: World Geography Curator -- writing the exhibit explanation label</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812800" y="487680"/>
            <a:ext cx="14630400" cy="812800"/>
          </a:xfrm>
          <a:prstGeom prst="rect">
            <a:avLst/>
          </a:prstGeom>
          <a:noFill/>
          <a:ln/>
        </p:spPr>
        <p:txBody>
          <a:bodyPr wrap="square" rtlCol="0" anchor="ctr"/>
          <a:lstStyle/>
          <a:p>
            <a:pPr indent="0" marL="0">
              <a:buNone/>
            </a:pPr>
            <a:r>
              <a:rPr lang="en-US" sz="2600" b="1" dirty="0">
                <a:solidFill>
                  <a:srgbClr val="0E1C42"/>
                </a:solidFill>
                <a:latin typeface="Cambria" pitchFamily="34" charset="0"/>
                <a:ea typeface="Cambria" pitchFamily="34" charset="-122"/>
                <a:cs typeface="Cambria" pitchFamily="34" charset="-120"/>
              </a:rPr>
              <a:t>Today's Path</a:t>
            </a:r>
            <a:endParaRPr lang="en-US" sz="2600" dirty="0"/>
          </a:p>
        </p:txBody>
      </p:sp>
      <p:sp>
        <p:nvSpPr>
          <p:cNvPr id="3" name="Text 1"/>
          <p:cNvSpPr/>
          <p:nvPr/>
        </p:nvSpPr>
        <p:spPr>
          <a:xfrm>
            <a:off x="812800" y="1381760"/>
            <a:ext cx="14630400" cy="487680"/>
          </a:xfrm>
          <a:prstGeom prst="rect">
            <a:avLst/>
          </a:prstGeom>
          <a:noFill/>
          <a:ln/>
        </p:spPr>
        <p:txBody>
          <a:bodyPr wrap="square" rtlCol="0" anchor="ctr"/>
          <a:lstStyle/>
          <a:p>
            <a:pPr indent="0" marL="0">
              <a:buNone/>
            </a:pPr>
            <a:r>
              <a:rPr lang="en-US" sz="1000" b="1" spc="150" kern="0" dirty="0">
                <a:solidFill>
                  <a:srgbClr val="1A8A7D"/>
                </a:solidFill>
                <a:latin typeface="Calibri" pitchFamily="34" charset="0"/>
                <a:ea typeface="Calibri" pitchFamily="34" charset="-122"/>
                <a:cs typeface="Calibri" pitchFamily="34" charset="-120"/>
              </a:rPr>
              <a:t>THINKING MOVE: SORT   &gt;   COMPARE   &gt;   EXPLAIN</a:t>
            </a:r>
            <a:endParaRPr lang="en-US" sz="1000" dirty="0"/>
          </a:p>
        </p:txBody>
      </p:sp>
      <p:sp>
        <p:nvSpPr>
          <p:cNvPr id="4" name="Shape 2"/>
          <p:cNvSpPr/>
          <p:nvPr/>
        </p:nvSpPr>
        <p:spPr>
          <a:xfrm>
            <a:off x="975360" y="2275840"/>
            <a:ext cx="14305280" cy="1544320"/>
          </a:xfrm>
          <a:prstGeom prst="roundRect">
            <a:avLst>
              <a:gd name="adj" fmla="val 12632"/>
            </a:avLst>
          </a:prstGeom>
          <a:solidFill>
            <a:srgbClr val="FFFFFF"/>
          </a:solidFill>
          <a:ln/>
          <a:effectLst>
            <a:outerShdw sx="100000" sy="100000" kx="0" ky="0" algn="bl" rotWithShape="0" blurRad="50800" dist="25400" dir="8100000">
              <a:srgbClr val="000000">
                <a:alpha val="10000"/>
              </a:srgbClr>
            </a:outerShdw>
          </a:effectLst>
        </p:spPr>
      </p:sp>
      <p:sp>
        <p:nvSpPr>
          <p:cNvPr id="5" name="Shape 3"/>
          <p:cNvSpPr/>
          <p:nvPr/>
        </p:nvSpPr>
        <p:spPr>
          <a:xfrm>
            <a:off x="1300480" y="2568448"/>
            <a:ext cx="975360" cy="975360"/>
          </a:xfrm>
          <a:prstGeom prst="roundRect">
            <a:avLst>
              <a:gd name="adj" fmla="val 13333"/>
            </a:avLst>
          </a:prstGeom>
          <a:solidFill>
            <a:srgbClr val="EAF8FD"/>
          </a:solidFill>
          <a:ln/>
        </p:spPr>
      </p:sp>
      <p:sp>
        <p:nvSpPr>
          <p:cNvPr id="6" name="Text 4"/>
          <p:cNvSpPr/>
          <p:nvPr/>
        </p:nvSpPr>
        <p:spPr>
          <a:xfrm>
            <a:off x="1300480" y="2568448"/>
            <a:ext cx="975360" cy="975360"/>
          </a:xfrm>
          <a:prstGeom prst="rect">
            <a:avLst/>
          </a:prstGeom>
          <a:noFill/>
          <a:ln/>
        </p:spPr>
        <p:txBody>
          <a:bodyPr wrap="square" rtlCol="0" anchor="ctr"/>
          <a:lstStyle/>
          <a:p>
            <a:pPr algn="ctr" indent="0" marL="0">
              <a:buNone/>
            </a:pPr>
            <a:r>
              <a:rPr lang="en-US" sz="1100" b="1" dirty="0">
                <a:solidFill>
                  <a:srgbClr val="1A8A7D"/>
                </a:solidFill>
                <a:latin typeface="Calibri" pitchFamily="34" charset="0"/>
                <a:ea typeface="Calibri" pitchFamily="34" charset="-122"/>
                <a:cs typeface="Calibri" pitchFamily="34" charset="-120"/>
              </a:rPr>
              <a:t>MAP</a:t>
            </a:r>
            <a:endParaRPr lang="en-US" sz="1100" dirty="0"/>
          </a:p>
        </p:txBody>
      </p:sp>
      <p:sp>
        <p:nvSpPr>
          <p:cNvPr id="7" name="Text 5"/>
          <p:cNvSpPr/>
          <p:nvPr/>
        </p:nvSpPr>
        <p:spPr>
          <a:xfrm>
            <a:off x="2600960" y="2438400"/>
            <a:ext cx="12354560" cy="1219200"/>
          </a:xfrm>
          <a:prstGeom prst="rect">
            <a:avLst/>
          </a:prstGeom>
          <a:noFill/>
          <a:ln/>
        </p:spPr>
        <p:txBody>
          <a:bodyPr wrap="square" rtlCol="0" anchor="ctr"/>
          <a:lstStyle/>
          <a:p>
            <a:pPr indent="0" marL="0">
              <a:buNone/>
            </a:pPr>
            <a:r>
              <a:rPr lang="en-US" sz="1600" dirty="0">
                <a:solidFill>
                  <a:srgbClr val="0E1C42"/>
                </a:solidFill>
                <a:latin typeface="Calibri" pitchFamily="34" charset="0"/>
                <a:ea typeface="Calibri" pitchFamily="34" charset="-122"/>
                <a:cs typeface="Calibri" pitchFamily="34" charset="-120"/>
              </a:rPr>
              <a:t>Review the key ideas from all five World Map Hall lessons.</a:t>
            </a:r>
            <a:endParaRPr lang="en-US" sz="1600" dirty="0"/>
          </a:p>
        </p:txBody>
      </p:sp>
      <p:sp>
        <p:nvSpPr>
          <p:cNvPr id="8" name="Shape 6"/>
          <p:cNvSpPr/>
          <p:nvPr/>
        </p:nvSpPr>
        <p:spPr>
          <a:xfrm>
            <a:off x="975360" y="4145280"/>
            <a:ext cx="14305280" cy="1544320"/>
          </a:xfrm>
          <a:prstGeom prst="roundRect">
            <a:avLst>
              <a:gd name="adj" fmla="val 12632"/>
            </a:avLst>
          </a:prstGeom>
          <a:solidFill>
            <a:srgbClr val="FFFFFF"/>
          </a:solidFill>
          <a:ln/>
          <a:effectLst>
            <a:outerShdw sx="100000" sy="100000" kx="0" ky="0" algn="bl" rotWithShape="0" blurRad="50800" dist="25400" dir="8100000">
              <a:srgbClr val="000000">
                <a:alpha val="10000"/>
              </a:srgbClr>
            </a:outerShdw>
          </a:effectLst>
        </p:spPr>
      </p:sp>
      <p:sp>
        <p:nvSpPr>
          <p:cNvPr id="9" name="Shape 7"/>
          <p:cNvSpPr/>
          <p:nvPr/>
        </p:nvSpPr>
        <p:spPr>
          <a:xfrm>
            <a:off x="1300480" y="4437888"/>
            <a:ext cx="975360" cy="975360"/>
          </a:xfrm>
          <a:prstGeom prst="roundRect">
            <a:avLst>
              <a:gd name="adj" fmla="val 13333"/>
            </a:avLst>
          </a:prstGeom>
          <a:solidFill>
            <a:srgbClr val="EAF8FD"/>
          </a:solidFill>
          <a:ln/>
        </p:spPr>
      </p:sp>
      <p:sp>
        <p:nvSpPr>
          <p:cNvPr id="10" name="Text 8"/>
          <p:cNvSpPr/>
          <p:nvPr/>
        </p:nvSpPr>
        <p:spPr>
          <a:xfrm>
            <a:off x="1300480" y="4437888"/>
            <a:ext cx="975360" cy="975360"/>
          </a:xfrm>
          <a:prstGeom prst="rect">
            <a:avLst/>
          </a:prstGeom>
          <a:noFill/>
          <a:ln/>
        </p:spPr>
        <p:txBody>
          <a:bodyPr wrap="square" rtlCol="0" anchor="ctr"/>
          <a:lstStyle/>
          <a:p>
            <a:pPr algn="ctr" indent="0" marL="0">
              <a:buNone/>
            </a:pPr>
            <a:r>
              <a:rPr lang="en-US" sz="1100" b="1" dirty="0">
                <a:solidFill>
                  <a:srgbClr val="1A8A7D"/>
                </a:solidFill>
                <a:latin typeface="Calibri" pitchFamily="34" charset="0"/>
                <a:ea typeface="Calibri" pitchFamily="34" charset="-122"/>
                <a:cs typeface="Calibri" pitchFamily="34" charset="-120"/>
              </a:rPr>
              <a:t>PEN</a:t>
            </a:r>
            <a:endParaRPr lang="en-US" sz="1100" dirty="0"/>
          </a:p>
        </p:txBody>
      </p:sp>
      <p:sp>
        <p:nvSpPr>
          <p:cNvPr id="11" name="Text 9"/>
          <p:cNvSpPr/>
          <p:nvPr/>
        </p:nvSpPr>
        <p:spPr>
          <a:xfrm>
            <a:off x="2600960" y="4307840"/>
            <a:ext cx="12354560" cy="1219200"/>
          </a:xfrm>
          <a:prstGeom prst="rect">
            <a:avLst/>
          </a:prstGeom>
          <a:noFill/>
          <a:ln/>
        </p:spPr>
        <p:txBody>
          <a:bodyPr wrap="square" rtlCol="0" anchor="ctr"/>
          <a:lstStyle/>
          <a:p>
            <a:pPr indent="0" marL="0">
              <a:buNone/>
            </a:pPr>
            <a:r>
              <a:rPr lang="en-US" sz="1600" dirty="0">
                <a:solidFill>
                  <a:srgbClr val="0E1C42"/>
                </a:solidFill>
                <a:latin typeface="Calibri" pitchFamily="34" charset="0"/>
                <a:ea typeface="Calibri" pitchFamily="34" charset="-122"/>
                <a:cs typeface="Calibri" pitchFamily="34" charset="-120"/>
              </a:rPr>
              <a:t>Write a complete exhibit explanation label using evidence from the unit.</a:t>
            </a:r>
            <a:endParaRPr lang="en-US" sz="1600" dirty="0"/>
          </a:p>
        </p:txBody>
      </p:sp>
      <p:sp>
        <p:nvSpPr>
          <p:cNvPr id="12" name="Shape 10"/>
          <p:cNvSpPr/>
          <p:nvPr/>
        </p:nvSpPr>
        <p:spPr>
          <a:xfrm>
            <a:off x="975360" y="6014720"/>
            <a:ext cx="14305280" cy="1544320"/>
          </a:xfrm>
          <a:prstGeom prst="roundRect">
            <a:avLst>
              <a:gd name="adj" fmla="val 12632"/>
            </a:avLst>
          </a:prstGeom>
          <a:solidFill>
            <a:srgbClr val="FFFFFF"/>
          </a:solidFill>
          <a:ln/>
          <a:effectLst>
            <a:outerShdw sx="100000" sy="100000" kx="0" ky="0" algn="bl" rotWithShape="0" blurRad="50800" dist="25400" dir="8100000">
              <a:srgbClr val="000000">
                <a:alpha val="10000"/>
              </a:srgbClr>
            </a:outerShdw>
          </a:effectLst>
        </p:spPr>
      </p:sp>
      <p:sp>
        <p:nvSpPr>
          <p:cNvPr id="13" name="Shape 11"/>
          <p:cNvSpPr/>
          <p:nvPr/>
        </p:nvSpPr>
        <p:spPr>
          <a:xfrm>
            <a:off x="1300480" y="6307328"/>
            <a:ext cx="975360" cy="975360"/>
          </a:xfrm>
          <a:prstGeom prst="roundRect">
            <a:avLst>
              <a:gd name="adj" fmla="val 13333"/>
            </a:avLst>
          </a:prstGeom>
          <a:solidFill>
            <a:srgbClr val="EAF8FD"/>
          </a:solidFill>
          <a:ln/>
        </p:spPr>
      </p:sp>
      <p:sp>
        <p:nvSpPr>
          <p:cNvPr id="14" name="Text 12"/>
          <p:cNvSpPr/>
          <p:nvPr/>
        </p:nvSpPr>
        <p:spPr>
          <a:xfrm>
            <a:off x="1300480" y="6307328"/>
            <a:ext cx="975360" cy="975360"/>
          </a:xfrm>
          <a:prstGeom prst="rect">
            <a:avLst/>
          </a:prstGeom>
          <a:noFill/>
          <a:ln/>
        </p:spPr>
        <p:txBody>
          <a:bodyPr wrap="square" rtlCol="0" anchor="ctr"/>
          <a:lstStyle/>
          <a:p>
            <a:pPr algn="ctr" indent="0" marL="0">
              <a:buNone/>
            </a:pPr>
            <a:r>
              <a:rPr lang="en-US" sz="1100" b="1" dirty="0">
                <a:solidFill>
                  <a:srgbClr val="1A8A7D"/>
                </a:solidFill>
                <a:latin typeface="Calibri" pitchFamily="34" charset="0"/>
                <a:ea typeface="Calibri" pitchFamily="34" charset="-122"/>
                <a:cs typeface="Calibri" pitchFamily="34" charset="-120"/>
              </a:rPr>
              <a:t>STAR</a:t>
            </a:r>
            <a:endParaRPr lang="en-US" sz="1100" dirty="0"/>
          </a:p>
        </p:txBody>
      </p:sp>
      <p:sp>
        <p:nvSpPr>
          <p:cNvPr id="15" name="Text 13"/>
          <p:cNvSpPr/>
          <p:nvPr/>
        </p:nvSpPr>
        <p:spPr>
          <a:xfrm>
            <a:off x="2600960" y="6177280"/>
            <a:ext cx="12354560" cy="1219200"/>
          </a:xfrm>
          <a:prstGeom prst="rect">
            <a:avLst/>
          </a:prstGeom>
          <a:noFill/>
          <a:ln/>
        </p:spPr>
        <p:txBody>
          <a:bodyPr wrap="square" rtlCol="0" anchor="ctr"/>
          <a:lstStyle/>
          <a:p>
            <a:pPr indent="0" marL="0">
              <a:buNone/>
            </a:pPr>
            <a:r>
              <a:rPr lang="en-US" sz="1600" dirty="0">
                <a:solidFill>
                  <a:srgbClr val="0E1C42"/>
                </a:solidFill>
                <a:latin typeface="Calibri" pitchFamily="34" charset="0"/>
                <a:ea typeface="Calibri" pitchFamily="34" charset="-122"/>
                <a:cs typeface="Calibri" pitchFamily="34" charset="-120"/>
              </a:rPr>
              <a:t>Earn the World Locator badge.</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812800" y="487680"/>
            <a:ext cx="14630400" cy="812800"/>
          </a:xfrm>
          <a:prstGeom prst="rect">
            <a:avLst/>
          </a:prstGeom>
          <a:noFill/>
          <a:ln/>
        </p:spPr>
        <p:txBody>
          <a:bodyPr wrap="square" rtlCol="0" anchor="ctr"/>
          <a:lstStyle/>
          <a:p>
            <a:pPr indent="0" marL="0">
              <a:buNone/>
            </a:pPr>
            <a:r>
              <a:rPr lang="en-US" sz="2600" b="1" dirty="0">
                <a:solidFill>
                  <a:srgbClr val="0E1C42"/>
                </a:solidFill>
                <a:latin typeface="Cambria" pitchFamily="34" charset="0"/>
                <a:ea typeface="Cambria" pitchFamily="34" charset="-122"/>
                <a:cs typeface="Cambria" pitchFamily="34" charset="-120"/>
              </a:rPr>
              <a:t>Walking the World Map Hall</a:t>
            </a:r>
            <a:endParaRPr lang="en-US" sz="2600" dirty="0"/>
          </a:p>
        </p:txBody>
      </p:sp>
      <p:sp>
        <p:nvSpPr>
          <p:cNvPr id="3" name="Text 1"/>
          <p:cNvSpPr/>
          <p:nvPr/>
        </p:nvSpPr>
        <p:spPr>
          <a:xfrm>
            <a:off x="812800" y="1381760"/>
            <a:ext cx="1625600" cy="487680"/>
          </a:xfrm>
          <a:prstGeom prst="rect">
            <a:avLst/>
          </a:prstGeom>
          <a:noFill/>
          <a:ln/>
        </p:spPr>
        <p:txBody>
          <a:bodyPr wrap="square" rtlCol="0" anchor="ctr"/>
          <a:lstStyle/>
          <a:p>
            <a:pPr indent="0" marL="0">
              <a:buNone/>
            </a:pPr>
            <a:r>
              <a:rPr lang="en-US" sz="1000" b="1" spc="150" kern="0" dirty="0">
                <a:solidFill>
                  <a:srgbClr val="1A8A7D"/>
                </a:solidFill>
                <a:latin typeface="Calibri" pitchFamily="34" charset="0"/>
                <a:ea typeface="Calibri" pitchFamily="34" charset="-122"/>
                <a:cs typeface="Calibri" pitchFamily="34" charset="-120"/>
              </a:rPr>
              <a:t>SORT</a:t>
            </a:r>
            <a:endParaRPr lang="en-US" sz="1000" dirty="0"/>
          </a:p>
        </p:txBody>
      </p:sp>
      <p:sp>
        <p:nvSpPr>
          <p:cNvPr id="4" name="Text 2"/>
          <p:cNvSpPr/>
          <p:nvPr/>
        </p:nvSpPr>
        <p:spPr>
          <a:xfrm>
            <a:off x="812800" y="1788160"/>
            <a:ext cx="14630400" cy="650240"/>
          </a:xfrm>
          <a:prstGeom prst="rect">
            <a:avLst/>
          </a:prstGeom>
          <a:noFill/>
          <a:ln/>
        </p:spPr>
        <p:txBody>
          <a:bodyPr wrap="square" rtlCol="0" anchor="ctr"/>
          <a:lstStyle/>
          <a:p>
            <a:pPr indent="0" marL="0">
              <a:buNone/>
            </a:pPr>
            <a:r>
              <a:rPr lang="en-US" sz="1800" b="1" dirty="0">
                <a:solidFill>
                  <a:srgbClr val="1A8A7D"/>
                </a:solidFill>
                <a:latin typeface="Cambria" pitchFamily="34" charset="0"/>
                <a:ea typeface="Cambria" pitchFamily="34" charset="-122"/>
                <a:cs typeface="Cambria" pitchFamily="34" charset="-120"/>
              </a:rPr>
              <a:t>Exhibit 1: Continents and Oceans</a:t>
            </a:r>
            <a:endParaRPr lang="en-US" sz="1800" dirty="0"/>
          </a:p>
        </p:txBody>
      </p:sp>
      <p:sp>
        <p:nvSpPr>
          <p:cNvPr id="5" name="Shape 3"/>
          <p:cNvSpPr/>
          <p:nvPr/>
        </p:nvSpPr>
        <p:spPr>
          <a:xfrm>
            <a:off x="812800" y="2600960"/>
            <a:ext cx="8940800" cy="5201920"/>
          </a:xfrm>
          <a:prstGeom prst="roundRect">
            <a:avLst>
              <a:gd name="adj" fmla="val 3750"/>
            </a:avLst>
          </a:prstGeom>
          <a:solidFill>
            <a:srgbClr val="FFFFFF"/>
          </a:solidFill>
          <a:ln/>
          <a:effectLst>
            <a:outerShdw sx="100000" sy="100000" kx="0" ky="0" algn="bl" rotWithShape="0" blurRad="50800" dist="25400" dir="8100000">
              <a:srgbClr val="000000">
                <a:alpha val="10000"/>
              </a:srgbClr>
            </a:outerShdw>
          </a:effectLst>
        </p:spPr>
      </p:sp>
      <p:sp>
        <p:nvSpPr>
          <p:cNvPr id="6" name="Text 4"/>
          <p:cNvSpPr/>
          <p:nvPr/>
        </p:nvSpPr>
        <p:spPr>
          <a:xfrm>
            <a:off x="1137920" y="2763520"/>
            <a:ext cx="8290560" cy="4876800"/>
          </a:xfrm>
          <a:prstGeom prst="rect">
            <a:avLst/>
          </a:prstGeom>
          <a:noFill/>
          <a:ln/>
        </p:spPr>
        <p:txBody>
          <a:bodyPr wrap="square" rtlCol="0" anchor="t"/>
          <a:lstStyle/>
          <a:p>
            <a:pPr indent="0" marL="0">
              <a:lnSpc>
                <a:spcPct val="125000"/>
              </a:lnSpc>
              <a:buNone/>
            </a:pPr>
            <a:r>
              <a:rPr lang="en-US" sz="1300" dirty="0">
                <a:solidFill>
                  <a:srgbClr val="0E1C42"/>
                </a:solidFill>
                <a:latin typeface="Calibri" pitchFamily="34" charset="0"/>
                <a:ea typeface="Calibri" pitchFamily="34" charset="-122"/>
                <a:cs typeface="Calibri" pitchFamily="34" charset="-120"/>
              </a:rPr>
              <a:t>You labeled the seven continents and five oceans. That's the foundation -- without those labels, visitors wouldn't know what the shapes on the map are.</a:t>
            </a:r>
            <a:endParaRPr lang="en-US" sz="1300" dirty="0"/>
          </a:p>
          <a:p>
            <a:pPr indent="0" marL="0">
              <a:lnSpc>
                <a:spcPct val="125000"/>
              </a:lnSpc>
              <a:buNone/>
            </a:pPr>
            <a:endParaRPr lang="en-US" sz="1300" dirty="0"/>
          </a:p>
          <a:p>
            <a:pPr indent="0" marL="0">
              <a:lnSpc>
                <a:spcPct val="125000"/>
              </a:lnSpc>
              <a:buNone/>
            </a:pPr>
            <a:r>
              <a:rPr lang="en-US" sz="1300" dirty="0">
                <a:solidFill>
                  <a:srgbClr val="0E1C42"/>
                </a:solidFill>
                <a:latin typeface="Calibri" pitchFamily="34" charset="0"/>
                <a:ea typeface="Calibri" pitchFamily="34" charset="-122"/>
                <a:cs typeface="Calibri" pitchFamily="34" charset="-120"/>
              </a:rPr>
              <a:t>7 Continents:</a:t>
            </a:r>
            <a:endParaRPr lang="en-US" sz="1300" dirty="0"/>
          </a:p>
          <a:p>
            <a:pPr indent="0" marL="0">
              <a:lnSpc>
                <a:spcPct val="125000"/>
              </a:lnSpc>
              <a:buNone/>
            </a:pPr>
            <a:r>
              <a:rPr lang="en-US" sz="1300" dirty="0">
                <a:solidFill>
                  <a:srgbClr val="0E1C42"/>
                </a:solidFill>
                <a:latin typeface="Calibri" pitchFamily="34" charset="0"/>
                <a:ea typeface="Calibri" pitchFamily="34" charset="-122"/>
                <a:cs typeface="Calibri" pitchFamily="34" charset="-120"/>
              </a:rPr>
              <a:t>North America, South America, Europe, Asia, Africa, Australia, Antarctica</a:t>
            </a:r>
            <a:endParaRPr lang="en-US" sz="1300" dirty="0"/>
          </a:p>
          <a:p>
            <a:pPr indent="0" marL="0">
              <a:lnSpc>
                <a:spcPct val="125000"/>
              </a:lnSpc>
              <a:buNone/>
            </a:pPr>
            <a:endParaRPr lang="en-US" sz="1300" dirty="0"/>
          </a:p>
          <a:p>
            <a:pPr indent="0" marL="0">
              <a:lnSpc>
                <a:spcPct val="125000"/>
              </a:lnSpc>
              <a:buNone/>
            </a:pPr>
            <a:r>
              <a:rPr lang="en-US" sz="1300" dirty="0">
                <a:solidFill>
                  <a:srgbClr val="0E1C42"/>
                </a:solidFill>
                <a:latin typeface="Calibri" pitchFamily="34" charset="0"/>
                <a:ea typeface="Calibri" pitchFamily="34" charset="-122"/>
                <a:cs typeface="Calibri" pitchFamily="34" charset="-120"/>
              </a:rPr>
              <a:t>5 Oceans:</a:t>
            </a:r>
            <a:endParaRPr lang="en-US" sz="1300" dirty="0"/>
          </a:p>
          <a:p>
            <a:pPr indent="0" marL="0">
              <a:lnSpc>
                <a:spcPct val="125000"/>
              </a:lnSpc>
              <a:buNone/>
            </a:pPr>
            <a:r>
              <a:rPr lang="en-US" sz="1300" dirty="0">
                <a:solidFill>
                  <a:srgbClr val="0E1C42"/>
                </a:solidFill>
                <a:latin typeface="Calibri" pitchFamily="34" charset="0"/>
                <a:ea typeface="Calibri" pitchFamily="34" charset="-122"/>
                <a:cs typeface="Calibri" pitchFamily="34" charset="-120"/>
              </a:rPr>
              <a:t>Pacific, Atlantic, Indian, Southern, Arctic</a:t>
            </a:r>
            <a:endParaRPr lang="en-US" sz="1300" dirty="0"/>
          </a:p>
        </p:txBody>
      </p:sp>
      <p:sp>
        <p:nvSpPr>
          <p:cNvPr id="7" name="Shape 5"/>
          <p:cNvSpPr/>
          <p:nvPr/>
        </p:nvSpPr>
        <p:spPr>
          <a:xfrm>
            <a:off x="10078720" y="2600960"/>
            <a:ext cx="5364480" cy="5201920"/>
          </a:xfrm>
          <a:prstGeom prst="roundRect">
            <a:avLst>
              <a:gd name="adj" fmla="val 3750"/>
            </a:avLst>
          </a:prstGeom>
          <a:solidFill>
            <a:srgbClr val="E2E8F4"/>
          </a:solidFill>
          <a:ln w="19050">
            <a:solidFill>
              <a:srgbClr val="B0B8CC"/>
            </a:solidFill>
            <a:prstDash val="dash"/>
          </a:ln>
        </p:spPr>
      </p:sp>
      <p:sp>
        <p:nvSpPr>
          <p:cNvPr id="8" name="Text 6"/>
          <p:cNvSpPr/>
          <p:nvPr/>
        </p:nvSpPr>
        <p:spPr>
          <a:xfrm>
            <a:off x="10078720" y="2600960"/>
            <a:ext cx="5364480" cy="48768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9" name="Text 7"/>
          <p:cNvSpPr/>
          <p:nvPr/>
        </p:nvSpPr>
        <p:spPr>
          <a:xfrm>
            <a:off x="10322560" y="3088640"/>
            <a:ext cx="4876800" cy="455168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World map with all 7 continents and 5 oceans clearly labeled</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812800" y="487680"/>
            <a:ext cx="14630400" cy="812800"/>
          </a:xfrm>
          <a:prstGeom prst="rect">
            <a:avLst/>
          </a:prstGeom>
          <a:noFill/>
          <a:ln/>
        </p:spPr>
        <p:txBody>
          <a:bodyPr wrap="square"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Exhibit 2: Landforms and Water Features</a:t>
            </a:r>
            <a:endParaRPr lang="en-US" sz="2200" dirty="0"/>
          </a:p>
        </p:txBody>
      </p:sp>
      <p:sp>
        <p:nvSpPr>
          <p:cNvPr id="3" name="Shape 1"/>
          <p:cNvSpPr/>
          <p:nvPr/>
        </p:nvSpPr>
        <p:spPr>
          <a:xfrm>
            <a:off x="812800" y="1625600"/>
            <a:ext cx="6990080" cy="6177280"/>
          </a:xfrm>
          <a:prstGeom prst="roundRect">
            <a:avLst>
              <a:gd name="adj" fmla="val 3158"/>
            </a:avLst>
          </a:prstGeom>
          <a:solidFill>
            <a:srgbClr val="FFFFFF"/>
          </a:solidFill>
          <a:ln/>
          <a:effectLst>
            <a:outerShdw sx="100000" sy="100000" kx="0" ky="0" algn="bl" rotWithShape="0" blurRad="50800" dist="25400" dir="8100000">
              <a:srgbClr val="000000">
                <a:alpha val="10000"/>
              </a:srgbClr>
            </a:outerShdw>
          </a:effectLst>
        </p:spPr>
      </p:sp>
      <p:sp>
        <p:nvSpPr>
          <p:cNvPr id="4" name="Text 2"/>
          <p:cNvSpPr/>
          <p:nvPr/>
        </p:nvSpPr>
        <p:spPr>
          <a:xfrm>
            <a:off x="1137920" y="1788160"/>
            <a:ext cx="6339840" cy="2926080"/>
          </a:xfrm>
          <a:prstGeom prst="rect">
            <a:avLst/>
          </a:prstGeom>
          <a:noFill/>
          <a:ln/>
        </p:spPr>
        <p:txBody>
          <a:bodyPr wrap="square" rtlCol="0" anchor="t"/>
          <a:lstStyle/>
          <a:p>
            <a:pPr indent="0" marL="0">
              <a:lnSpc>
                <a:spcPct val="125000"/>
              </a:lnSpc>
              <a:buNone/>
            </a:pPr>
            <a:r>
              <a:rPr lang="en-US" sz="1400" dirty="0">
                <a:solidFill>
                  <a:srgbClr val="0E1C42"/>
                </a:solidFill>
                <a:latin typeface="Calibri" pitchFamily="34" charset="0"/>
                <a:ea typeface="Calibri" pitchFamily="34" charset="-122"/>
                <a:cs typeface="Calibri" pitchFamily="34" charset="-120"/>
              </a:rPr>
              <a:t>You added landform and water feature cards -- mountains, plains, rivers, lakes, and more.</a:t>
            </a:r>
            <a:endParaRPr lang="en-US" sz="1400" dirty="0"/>
          </a:p>
          <a:p>
            <a:pPr indent="0" marL="0">
              <a:lnSpc>
                <a:spcPct val="125000"/>
              </a:lnSpc>
              <a:buNone/>
            </a:pPr>
            <a:endParaRPr lang="en-US" sz="1400" dirty="0"/>
          </a:p>
          <a:p>
            <a:pPr indent="0" marL="0">
              <a:lnSpc>
                <a:spcPct val="125000"/>
              </a:lnSpc>
              <a:buNone/>
            </a:pPr>
            <a:r>
              <a:rPr lang="en-US" sz="1400" dirty="0">
                <a:solidFill>
                  <a:srgbClr val="0E1C42"/>
                </a:solidFill>
                <a:latin typeface="Calibri" pitchFamily="34" charset="0"/>
                <a:ea typeface="Calibri" pitchFamily="34" charset="-122"/>
                <a:cs typeface="Calibri" pitchFamily="34" charset="-120"/>
              </a:rPr>
              <a:t>These show that continents aren't flat blobs. Each feature shapes how people live.</a:t>
            </a:r>
            <a:endParaRPr lang="en-US" sz="1400" dirty="0"/>
          </a:p>
        </p:txBody>
      </p:sp>
      <p:sp>
        <p:nvSpPr>
          <p:cNvPr id="5" name="Text 3"/>
          <p:cNvSpPr/>
          <p:nvPr/>
        </p:nvSpPr>
        <p:spPr>
          <a:xfrm>
            <a:off x="1137920" y="4876800"/>
            <a:ext cx="6339840" cy="2438400"/>
          </a:xfrm>
          <a:prstGeom prst="rect">
            <a:avLst/>
          </a:prstGeom>
          <a:noFill/>
          <a:ln/>
        </p:spPr>
        <p:txBody>
          <a:bodyPr wrap="square" rtlCol="0" anchor="t"/>
          <a:lstStyle/>
          <a:p>
            <a:pPr indent="0" marL="0">
              <a:lnSpc>
                <a:spcPct val="130000"/>
              </a:lnSpc>
              <a:buNone/>
            </a:pPr>
            <a:r>
              <a:rPr lang="en-US" sz="1200" dirty="0">
                <a:solidFill>
                  <a:srgbClr val="7A88A8"/>
                </a:solidFill>
                <a:latin typeface="Calibri" pitchFamily="34" charset="0"/>
                <a:ea typeface="Calibri" pitchFamily="34" charset="-122"/>
                <a:cs typeface="Calibri" pitchFamily="34" charset="-120"/>
              </a:rPr>
              <a:t>Landforms: mountains, plains, valleys, hills, plateaus</a:t>
            </a:r>
            <a:endParaRPr lang="en-US" sz="1200" dirty="0"/>
          </a:p>
          <a:p>
            <a:pPr indent="0" marL="0">
              <a:lnSpc>
                <a:spcPct val="130000"/>
              </a:lnSpc>
              <a:buNone/>
            </a:pPr>
            <a:endParaRPr lang="en-US" sz="1200" dirty="0"/>
          </a:p>
          <a:p>
            <a:pPr indent="0" marL="0">
              <a:lnSpc>
                <a:spcPct val="130000"/>
              </a:lnSpc>
              <a:buNone/>
            </a:pPr>
            <a:r>
              <a:rPr lang="en-US" sz="1200" dirty="0">
                <a:solidFill>
                  <a:srgbClr val="7A88A8"/>
                </a:solidFill>
                <a:latin typeface="Calibri" pitchFamily="34" charset="0"/>
                <a:ea typeface="Calibri" pitchFamily="34" charset="-122"/>
                <a:cs typeface="Calibri" pitchFamily="34" charset="-120"/>
              </a:rPr>
              <a:t>Water Features: rivers, lakes, oceans, bays, peninsulas</a:t>
            </a:r>
            <a:endParaRPr lang="en-US" sz="1200" dirty="0"/>
          </a:p>
        </p:txBody>
      </p:sp>
      <p:sp>
        <p:nvSpPr>
          <p:cNvPr id="6" name="Shape 4"/>
          <p:cNvSpPr/>
          <p:nvPr/>
        </p:nvSpPr>
        <p:spPr>
          <a:xfrm>
            <a:off x="8290560" y="1625600"/>
            <a:ext cx="7152640" cy="6177280"/>
          </a:xfrm>
          <a:prstGeom prst="roundRect">
            <a:avLst>
              <a:gd name="adj" fmla="val 3158"/>
            </a:avLst>
          </a:prstGeom>
          <a:solidFill>
            <a:srgbClr val="E2E8F4"/>
          </a:solidFill>
          <a:ln w="19050">
            <a:solidFill>
              <a:srgbClr val="B0B8CC"/>
            </a:solidFill>
            <a:prstDash val="dash"/>
          </a:ln>
        </p:spPr>
      </p:sp>
      <p:sp>
        <p:nvSpPr>
          <p:cNvPr id="7" name="Text 5"/>
          <p:cNvSpPr/>
          <p:nvPr/>
        </p:nvSpPr>
        <p:spPr>
          <a:xfrm>
            <a:off x="8290560" y="1625600"/>
            <a:ext cx="7152640" cy="48768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8" name="Text 6"/>
          <p:cNvSpPr/>
          <p:nvPr/>
        </p:nvSpPr>
        <p:spPr>
          <a:xfrm>
            <a:off x="8534400" y="2113280"/>
            <a:ext cx="6664960" cy="552704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Collage or diagram showing different landforms (mountain, plain, valley) and water features (river, lake, bay)</a:t>
            </a:r>
            <a:endParaRPr lang="en-US" sz="1100" dirty="0"/>
          </a:p>
        </p:txBody>
      </p:sp>
      <p:sp>
        <p:nvSpPr>
          <p:cNvPr id="9" name="Shape 7"/>
          <p:cNvSpPr/>
          <p:nvPr/>
        </p:nvSpPr>
        <p:spPr>
          <a:xfrm>
            <a:off x="812800" y="8128000"/>
            <a:ext cx="14630400" cy="0"/>
          </a:xfrm>
          <a:prstGeom prst="roundRect">
            <a:avLst>
              <a:gd name="adj" fmla="val Infinity"/>
            </a:avLst>
          </a:prstGeom>
          <a:solidFill>
            <a:srgbClr val="1A2D5A"/>
          </a:solidFill>
          <a:ln/>
          <a:effectLst>
            <a:outerShdw sx="100000" sy="100000" kx="0" ky="0" algn="bl" rotWithShape="0" blurRad="101600" dist="38100" dir="8100000">
              <a:srgbClr val="000000">
                <a:alpha val="20000"/>
              </a:srgbClr>
            </a:outerShdw>
          </a:effectLst>
        </p:spPr>
      </p:sp>
      <p:sp>
        <p:nvSpPr>
          <p:cNvPr id="10" name="Text 8"/>
          <p:cNvSpPr/>
          <p:nvPr/>
        </p:nvSpPr>
        <p:spPr>
          <a:xfrm>
            <a:off x="1137920" y="8290560"/>
            <a:ext cx="13980160" cy="455168"/>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1" name="Text 9"/>
          <p:cNvSpPr/>
          <p:nvPr/>
        </p:nvSpPr>
        <p:spPr>
          <a:xfrm>
            <a:off x="1137920" y="8745728"/>
            <a:ext cx="13980160" cy="-78028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What's one landform that shapes how people live in a region?</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How is a mountain different from a plain?</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812800" y="487680"/>
            <a:ext cx="14630400" cy="812800"/>
          </a:xfrm>
          <a:prstGeom prst="rect">
            <a:avLst/>
          </a:prstGeom>
          <a:noFill/>
          <a:ln/>
        </p:spPr>
        <p:txBody>
          <a:bodyPr wrap="square"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Exhibit 3: Climate, Vegetation, and Resources</a:t>
            </a:r>
            <a:endParaRPr lang="en-US" sz="2200" dirty="0"/>
          </a:p>
        </p:txBody>
      </p:sp>
      <p:sp>
        <p:nvSpPr>
          <p:cNvPr id="3" name="Text 1"/>
          <p:cNvSpPr/>
          <p:nvPr/>
        </p:nvSpPr>
        <p:spPr>
          <a:xfrm>
            <a:off x="812800" y="1381760"/>
            <a:ext cx="2438400" cy="487680"/>
          </a:xfrm>
          <a:prstGeom prst="rect">
            <a:avLst/>
          </a:prstGeom>
          <a:noFill/>
          <a:ln/>
        </p:spPr>
        <p:txBody>
          <a:bodyPr wrap="square" rtlCol="0" anchor="ctr"/>
          <a:lstStyle/>
          <a:p>
            <a:pPr indent="0" marL="0">
              <a:buNone/>
            </a:pPr>
            <a:r>
              <a:rPr lang="en-US" sz="1000" b="1" spc="150" kern="0" dirty="0">
                <a:solidFill>
                  <a:srgbClr val="1A8A7D"/>
                </a:solidFill>
                <a:latin typeface="Calibri" pitchFamily="34" charset="0"/>
                <a:ea typeface="Calibri" pitchFamily="34" charset="-122"/>
                <a:cs typeface="Calibri" pitchFamily="34" charset="-120"/>
              </a:rPr>
              <a:t>COMPARE</a:t>
            </a:r>
            <a:endParaRPr lang="en-US" sz="1000" dirty="0"/>
          </a:p>
        </p:txBody>
      </p:sp>
      <p:sp>
        <p:nvSpPr>
          <p:cNvPr id="4" name="Shape 2"/>
          <p:cNvSpPr/>
          <p:nvPr/>
        </p:nvSpPr>
        <p:spPr>
          <a:xfrm>
            <a:off x="812800" y="1950720"/>
            <a:ext cx="14630400" cy="3251200"/>
          </a:xfrm>
          <a:prstGeom prst="roundRect">
            <a:avLst>
              <a:gd name="adj" fmla="val 6000"/>
            </a:avLst>
          </a:prstGeom>
          <a:solidFill>
            <a:srgbClr val="FFFFFF"/>
          </a:solidFill>
          <a:ln/>
          <a:effectLst>
            <a:outerShdw sx="100000" sy="100000" kx="0" ky="0" algn="bl" rotWithShape="0" blurRad="50800" dist="25400" dir="8100000">
              <a:srgbClr val="000000">
                <a:alpha val="10000"/>
              </a:srgbClr>
            </a:outerShdw>
          </a:effectLst>
        </p:spPr>
      </p:sp>
      <p:sp>
        <p:nvSpPr>
          <p:cNvPr id="5" name="Text 3"/>
          <p:cNvSpPr/>
          <p:nvPr/>
        </p:nvSpPr>
        <p:spPr>
          <a:xfrm>
            <a:off x="1137920" y="2113280"/>
            <a:ext cx="13980160" cy="1300480"/>
          </a:xfrm>
          <a:prstGeom prst="rect">
            <a:avLst/>
          </a:prstGeom>
          <a:noFill/>
          <a:ln/>
        </p:spPr>
        <p:txBody>
          <a:bodyPr wrap="square" rtlCol="0" anchor="t"/>
          <a:lstStyle/>
          <a:p>
            <a:pPr indent="0" marL="0">
              <a:lnSpc>
                <a:spcPct val="125000"/>
              </a:lnSpc>
              <a:buNone/>
            </a:pPr>
            <a:r>
              <a:rPr lang="en-US" sz="1500" dirty="0">
                <a:solidFill>
                  <a:srgbClr val="0E1C42"/>
                </a:solidFill>
                <a:latin typeface="Calibri" pitchFamily="34" charset="0"/>
                <a:ea typeface="Calibri" pitchFamily="34" charset="-122"/>
                <a:cs typeface="Calibri" pitchFamily="34" charset="-120"/>
              </a:rPr>
              <a:t>You filled in the climate, vegetation, and resource panels.</a:t>
            </a:r>
            <a:endParaRPr lang="en-US" sz="1500" dirty="0"/>
          </a:p>
          <a:p>
            <a:pPr indent="0" marL="0">
              <a:lnSpc>
                <a:spcPct val="125000"/>
              </a:lnSpc>
              <a:buNone/>
            </a:pPr>
            <a:endParaRPr lang="en-US" sz="1500" dirty="0"/>
          </a:p>
          <a:p>
            <a:pPr indent="0" marL="0">
              <a:lnSpc>
                <a:spcPct val="125000"/>
              </a:lnSpc>
              <a:buNone/>
            </a:pPr>
            <a:r>
              <a:rPr lang="en-US" sz="1500" dirty="0">
                <a:solidFill>
                  <a:srgbClr val="0E1C42"/>
                </a:solidFill>
                <a:latin typeface="Calibri" pitchFamily="34" charset="0"/>
                <a:ea typeface="Calibri" pitchFamily="34" charset="-122"/>
                <a:cs typeface="Calibri" pitchFamily="34" charset="-120"/>
              </a:rPr>
              <a:t>Climate affects what grows, and what grows affects what resources people can use.</a:t>
            </a:r>
            <a:endParaRPr lang="en-US" sz="1500" dirty="0"/>
          </a:p>
        </p:txBody>
      </p:sp>
      <p:sp>
        <p:nvSpPr>
          <p:cNvPr id="6" name="Shape 4"/>
          <p:cNvSpPr/>
          <p:nvPr/>
        </p:nvSpPr>
        <p:spPr>
          <a:xfrm>
            <a:off x="812800" y="5689600"/>
            <a:ext cx="4551680" cy="2763520"/>
          </a:xfrm>
          <a:prstGeom prst="roundRect">
            <a:avLst>
              <a:gd name="adj" fmla="val 5882"/>
            </a:avLst>
          </a:prstGeom>
          <a:solidFill>
            <a:srgbClr val="FFF8F0"/>
          </a:solidFill>
          <a:ln/>
        </p:spPr>
      </p:sp>
      <p:sp>
        <p:nvSpPr>
          <p:cNvPr id="7" name="Text 5"/>
          <p:cNvSpPr/>
          <p:nvPr/>
        </p:nvSpPr>
        <p:spPr>
          <a:xfrm>
            <a:off x="812800" y="5770880"/>
            <a:ext cx="4551680" cy="650240"/>
          </a:xfrm>
          <a:prstGeom prst="rect">
            <a:avLst/>
          </a:prstGeom>
          <a:noFill/>
          <a:ln/>
        </p:spPr>
        <p:txBody>
          <a:bodyPr wrap="square" rtlCol="0" anchor="ctr"/>
          <a:lstStyle/>
          <a:p>
            <a:pPr algn="ctr" indent="0" marL="0">
              <a:buNone/>
            </a:pPr>
            <a:r>
              <a:rPr lang="en-US" sz="1600" b="1" dirty="0">
                <a:solidFill>
                  <a:srgbClr val="0E1C42"/>
                </a:solidFill>
                <a:latin typeface="Cambria" pitchFamily="34" charset="0"/>
                <a:ea typeface="Cambria" pitchFamily="34" charset="-122"/>
                <a:cs typeface="Cambria" pitchFamily="34" charset="-120"/>
              </a:rPr>
              <a:t>Sahara</a:t>
            </a:r>
            <a:endParaRPr lang="en-US" sz="1600" dirty="0"/>
          </a:p>
        </p:txBody>
      </p:sp>
      <p:sp>
        <p:nvSpPr>
          <p:cNvPr id="8" name="Text 6"/>
          <p:cNvSpPr/>
          <p:nvPr/>
        </p:nvSpPr>
        <p:spPr>
          <a:xfrm>
            <a:off x="1056640" y="6421120"/>
            <a:ext cx="4064000" cy="1788160"/>
          </a:xfrm>
          <a:prstGeom prst="rect">
            <a:avLst/>
          </a:prstGeom>
          <a:noFill/>
          <a:ln/>
        </p:spPr>
        <p:txBody>
          <a:bodyPr wrap="square" rtlCol="0" anchor="t"/>
          <a:lstStyle/>
          <a:p>
            <a:pPr algn="ctr" indent="0" marL="0">
              <a:lnSpc>
                <a:spcPct val="120000"/>
              </a:lnSpc>
              <a:buNone/>
            </a:pPr>
            <a:r>
              <a:rPr lang="en-US" sz="1200" dirty="0">
                <a:solidFill>
                  <a:srgbClr val="0E1C42"/>
                </a:solidFill>
                <a:latin typeface="Calibri" pitchFamily="34" charset="0"/>
                <a:ea typeface="Calibri" pitchFamily="34" charset="-122"/>
                <a:cs typeface="Calibri" pitchFamily="34" charset="-120"/>
              </a:rPr>
              <a:t>Hot and dry</a:t>
            </a:r>
            <a:endParaRPr lang="en-US" sz="1200" dirty="0"/>
          </a:p>
          <a:p>
            <a:pPr algn="ctr" indent="0" marL="0">
              <a:lnSpc>
                <a:spcPct val="120000"/>
              </a:lnSpc>
              <a:buNone/>
            </a:pPr>
            <a:r>
              <a:rPr lang="en-US" sz="1200" dirty="0">
                <a:solidFill>
                  <a:srgbClr val="0E1C42"/>
                </a:solidFill>
                <a:latin typeface="Calibri" pitchFamily="34" charset="0"/>
                <a:ea typeface="Calibri" pitchFamily="34" charset="-122"/>
                <a:cs typeface="Calibri" pitchFamily="34" charset="-120"/>
              </a:rPr>
              <a:t>Little vegetation</a:t>
            </a:r>
            <a:endParaRPr lang="en-US" sz="1200" dirty="0"/>
          </a:p>
          <a:p>
            <a:pPr algn="ctr" indent="0" marL="0">
              <a:lnSpc>
                <a:spcPct val="120000"/>
              </a:lnSpc>
              <a:buNone/>
            </a:pPr>
            <a:r>
              <a:rPr lang="en-US" sz="1200" dirty="0">
                <a:solidFill>
                  <a:srgbClr val="0E1C42"/>
                </a:solidFill>
                <a:latin typeface="Calibri" pitchFamily="34" charset="0"/>
                <a:ea typeface="Calibri" pitchFamily="34" charset="-122"/>
                <a:cs typeface="Calibri" pitchFamily="34" charset="-120"/>
              </a:rPr>
              <a:t>Few water resources</a:t>
            </a:r>
            <a:endParaRPr lang="en-US" sz="1200" dirty="0"/>
          </a:p>
        </p:txBody>
      </p:sp>
      <p:sp>
        <p:nvSpPr>
          <p:cNvPr id="9" name="Shape 7"/>
          <p:cNvSpPr/>
          <p:nvPr/>
        </p:nvSpPr>
        <p:spPr>
          <a:xfrm>
            <a:off x="5852160" y="5689600"/>
            <a:ext cx="4551680" cy="2763520"/>
          </a:xfrm>
          <a:prstGeom prst="roundRect">
            <a:avLst>
              <a:gd name="adj" fmla="val 5882"/>
            </a:avLst>
          </a:prstGeom>
          <a:solidFill>
            <a:srgbClr val="E3F8ED"/>
          </a:solidFill>
          <a:ln/>
        </p:spPr>
      </p:sp>
      <p:sp>
        <p:nvSpPr>
          <p:cNvPr id="10" name="Text 8"/>
          <p:cNvSpPr/>
          <p:nvPr/>
        </p:nvSpPr>
        <p:spPr>
          <a:xfrm>
            <a:off x="5852160" y="5770880"/>
            <a:ext cx="4551680" cy="650240"/>
          </a:xfrm>
          <a:prstGeom prst="rect">
            <a:avLst/>
          </a:prstGeom>
          <a:noFill/>
          <a:ln/>
        </p:spPr>
        <p:txBody>
          <a:bodyPr wrap="square" rtlCol="0" anchor="ctr"/>
          <a:lstStyle/>
          <a:p>
            <a:pPr algn="ctr" indent="0" marL="0">
              <a:buNone/>
            </a:pPr>
            <a:r>
              <a:rPr lang="en-US" sz="1600" b="1" dirty="0">
                <a:solidFill>
                  <a:srgbClr val="0E1C42"/>
                </a:solidFill>
                <a:latin typeface="Cambria" pitchFamily="34" charset="0"/>
                <a:ea typeface="Cambria" pitchFamily="34" charset="-122"/>
                <a:cs typeface="Cambria" pitchFamily="34" charset="-120"/>
              </a:rPr>
              <a:t>Amazon</a:t>
            </a:r>
            <a:endParaRPr lang="en-US" sz="1600" dirty="0"/>
          </a:p>
        </p:txBody>
      </p:sp>
      <p:sp>
        <p:nvSpPr>
          <p:cNvPr id="11" name="Text 9"/>
          <p:cNvSpPr/>
          <p:nvPr/>
        </p:nvSpPr>
        <p:spPr>
          <a:xfrm>
            <a:off x="6096000" y="6421120"/>
            <a:ext cx="4064000" cy="1788160"/>
          </a:xfrm>
          <a:prstGeom prst="rect">
            <a:avLst/>
          </a:prstGeom>
          <a:noFill/>
          <a:ln/>
        </p:spPr>
        <p:txBody>
          <a:bodyPr wrap="square" rtlCol="0" anchor="t"/>
          <a:lstStyle/>
          <a:p>
            <a:pPr algn="ctr" indent="0" marL="0">
              <a:lnSpc>
                <a:spcPct val="120000"/>
              </a:lnSpc>
              <a:buNone/>
            </a:pPr>
            <a:r>
              <a:rPr lang="en-US" sz="1200" dirty="0">
                <a:solidFill>
                  <a:srgbClr val="0E1C42"/>
                </a:solidFill>
                <a:latin typeface="Calibri" pitchFamily="34" charset="0"/>
                <a:ea typeface="Calibri" pitchFamily="34" charset="-122"/>
                <a:cs typeface="Calibri" pitchFamily="34" charset="-120"/>
              </a:rPr>
              <a:t>Warm and wet</a:t>
            </a:r>
            <a:endParaRPr lang="en-US" sz="1200" dirty="0"/>
          </a:p>
          <a:p>
            <a:pPr algn="ctr" indent="0" marL="0">
              <a:lnSpc>
                <a:spcPct val="120000"/>
              </a:lnSpc>
              <a:buNone/>
            </a:pPr>
            <a:r>
              <a:rPr lang="en-US" sz="1200" dirty="0">
                <a:solidFill>
                  <a:srgbClr val="0E1C42"/>
                </a:solidFill>
                <a:latin typeface="Calibri" pitchFamily="34" charset="0"/>
                <a:ea typeface="Calibri" pitchFamily="34" charset="-122"/>
                <a:cs typeface="Calibri" pitchFamily="34" charset="-120"/>
              </a:rPr>
              <a:t>Dense rainforest</a:t>
            </a:r>
            <a:endParaRPr lang="en-US" sz="1200" dirty="0"/>
          </a:p>
          <a:p>
            <a:pPr algn="ctr" indent="0" marL="0">
              <a:lnSpc>
                <a:spcPct val="120000"/>
              </a:lnSpc>
              <a:buNone/>
            </a:pPr>
            <a:r>
              <a:rPr lang="en-US" sz="1200" dirty="0">
                <a:solidFill>
                  <a:srgbClr val="0E1C42"/>
                </a:solidFill>
                <a:latin typeface="Calibri" pitchFamily="34" charset="0"/>
                <a:ea typeface="Calibri" pitchFamily="34" charset="-122"/>
                <a:cs typeface="Calibri" pitchFamily="34" charset="-120"/>
              </a:rPr>
              <a:t>Rich plant resources</a:t>
            </a:r>
            <a:endParaRPr lang="en-US" sz="1200" dirty="0"/>
          </a:p>
        </p:txBody>
      </p:sp>
      <p:sp>
        <p:nvSpPr>
          <p:cNvPr id="12" name="Shape 10"/>
          <p:cNvSpPr/>
          <p:nvPr/>
        </p:nvSpPr>
        <p:spPr>
          <a:xfrm>
            <a:off x="10891520" y="5689600"/>
            <a:ext cx="4551680" cy="2763520"/>
          </a:xfrm>
          <a:prstGeom prst="roundRect">
            <a:avLst>
              <a:gd name="adj" fmla="val 5882"/>
            </a:avLst>
          </a:prstGeom>
          <a:solidFill>
            <a:srgbClr val="EAF8FD"/>
          </a:solidFill>
          <a:ln/>
        </p:spPr>
      </p:sp>
      <p:sp>
        <p:nvSpPr>
          <p:cNvPr id="13" name="Text 11"/>
          <p:cNvSpPr/>
          <p:nvPr/>
        </p:nvSpPr>
        <p:spPr>
          <a:xfrm>
            <a:off x="10891520" y="5770880"/>
            <a:ext cx="4551680" cy="650240"/>
          </a:xfrm>
          <a:prstGeom prst="rect">
            <a:avLst/>
          </a:prstGeom>
          <a:noFill/>
          <a:ln/>
        </p:spPr>
        <p:txBody>
          <a:bodyPr wrap="square" rtlCol="0" anchor="ctr"/>
          <a:lstStyle/>
          <a:p>
            <a:pPr algn="ctr" indent="0" marL="0">
              <a:buNone/>
            </a:pPr>
            <a:r>
              <a:rPr lang="en-US" sz="1600" b="1" dirty="0">
                <a:solidFill>
                  <a:srgbClr val="0E1C42"/>
                </a:solidFill>
                <a:latin typeface="Cambria" pitchFamily="34" charset="0"/>
                <a:ea typeface="Cambria" pitchFamily="34" charset="-122"/>
                <a:cs typeface="Cambria" pitchFamily="34" charset="-120"/>
              </a:rPr>
              <a:t>Arctic</a:t>
            </a:r>
            <a:endParaRPr lang="en-US" sz="1600" dirty="0"/>
          </a:p>
        </p:txBody>
      </p:sp>
      <p:sp>
        <p:nvSpPr>
          <p:cNvPr id="14" name="Text 12"/>
          <p:cNvSpPr/>
          <p:nvPr/>
        </p:nvSpPr>
        <p:spPr>
          <a:xfrm>
            <a:off x="11135360" y="6421120"/>
            <a:ext cx="4064000" cy="1788160"/>
          </a:xfrm>
          <a:prstGeom prst="rect">
            <a:avLst/>
          </a:prstGeom>
          <a:noFill/>
          <a:ln/>
        </p:spPr>
        <p:txBody>
          <a:bodyPr wrap="square" rtlCol="0" anchor="t"/>
          <a:lstStyle/>
          <a:p>
            <a:pPr algn="ctr" indent="0" marL="0">
              <a:lnSpc>
                <a:spcPct val="120000"/>
              </a:lnSpc>
              <a:buNone/>
            </a:pPr>
            <a:r>
              <a:rPr lang="en-US" sz="1200" dirty="0">
                <a:solidFill>
                  <a:srgbClr val="0E1C42"/>
                </a:solidFill>
                <a:latin typeface="Calibri" pitchFamily="34" charset="0"/>
                <a:ea typeface="Calibri" pitchFamily="34" charset="-122"/>
                <a:cs typeface="Calibri" pitchFamily="34" charset="-120"/>
              </a:rPr>
              <a:t>Freezing cold</a:t>
            </a:r>
            <a:endParaRPr lang="en-US" sz="1200" dirty="0"/>
          </a:p>
          <a:p>
            <a:pPr algn="ctr" indent="0" marL="0">
              <a:lnSpc>
                <a:spcPct val="120000"/>
              </a:lnSpc>
              <a:buNone/>
            </a:pPr>
            <a:r>
              <a:rPr lang="en-US" sz="1200" dirty="0">
                <a:solidFill>
                  <a:srgbClr val="0E1C42"/>
                </a:solidFill>
                <a:latin typeface="Calibri" pitchFamily="34" charset="0"/>
                <a:ea typeface="Calibri" pitchFamily="34" charset="-122"/>
                <a:cs typeface="Calibri" pitchFamily="34" charset="-120"/>
              </a:rPr>
              <a:t>Very little grows</a:t>
            </a:r>
            <a:endParaRPr lang="en-US" sz="1200" dirty="0"/>
          </a:p>
          <a:p>
            <a:pPr algn="ctr" indent="0" marL="0">
              <a:lnSpc>
                <a:spcPct val="120000"/>
              </a:lnSpc>
              <a:buNone/>
            </a:pPr>
            <a:r>
              <a:rPr lang="en-US" sz="1200" dirty="0">
                <a:solidFill>
                  <a:srgbClr val="0E1C42"/>
                </a:solidFill>
                <a:latin typeface="Calibri" pitchFamily="34" charset="0"/>
                <a:ea typeface="Calibri" pitchFamily="34" charset="-122"/>
                <a:cs typeface="Calibri" pitchFamily="34" charset="-120"/>
              </a:rPr>
              <a:t>Ice and snow</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812800" y="487680"/>
            <a:ext cx="14630400" cy="812800"/>
          </a:xfrm>
          <a:prstGeom prst="rect">
            <a:avLst/>
          </a:prstGeom>
          <a:noFill/>
          <a:ln/>
        </p:spPr>
        <p:txBody>
          <a:bodyPr wrap="square"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Exhibit 4: Absolute vs. Relative Location</a:t>
            </a:r>
            <a:endParaRPr lang="en-US" sz="2200" dirty="0"/>
          </a:p>
        </p:txBody>
      </p:sp>
      <p:sp>
        <p:nvSpPr>
          <p:cNvPr id="3" name="Shape 1"/>
          <p:cNvSpPr/>
          <p:nvPr/>
        </p:nvSpPr>
        <p:spPr>
          <a:xfrm>
            <a:off x="812800" y="1625600"/>
            <a:ext cx="6827520" cy="5689600"/>
          </a:xfrm>
          <a:prstGeom prst="roundRect">
            <a:avLst>
              <a:gd name="adj" fmla="val 3429"/>
            </a:avLst>
          </a:prstGeom>
          <a:solidFill>
            <a:srgbClr val="EAF8FD"/>
          </a:solidFill>
          <a:ln/>
        </p:spPr>
      </p:sp>
      <p:sp>
        <p:nvSpPr>
          <p:cNvPr id="4" name="Text 2"/>
          <p:cNvSpPr/>
          <p:nvPr/>
        </p:nvSpPr>
        <p:spPr>
          <a:xfrm>
            <a:off x="1137920" y="1788160"/>
            <a:ext cx="6177280" cy="487680"/>
          </a:xfrm>
          <a:prstGeom prst="rect">
            <a:avLst/>
          </a:prstGeom>
          <a:noFill/>
          <a:ln/>
        </p:spPr>
        <p:txBody>
          <a:bodyPr wrap="square" rtlCol="0" anchor="ctr"/>
          <a:lstStyle/>
          <a:p>
            <a:pPr algn="ctr" indent="0" marL="0">
              <a:buNone/>
            </a:pPr>
            <a:r>
              <a:rPr lang="en-US" sz="1000" b="1" spc="150" kern="0" dirty="0">
                <a:solidFill>
                  <a:srgbClr val="1A8A7D"/>
                </a:solidFill>
                <a:latin typeface="Calibri" pitchFamily="34" charset="0"/>
                <a:ea typeface="Calibri" pitchFamily="34" charset="-122"/>
                <a:cs typeface="Calibri" pitchFamily="34" charset="-120"/>
              </a:rPr>
              <a:t>ABSOLUTE LOCATION</a:t>
            </a:r>
            <a:endParaRPr lang="en-US" sz="1000" dirty="0"/>
          </a:p>
        </p:txBody>
      </p:sp>
      <p:sp>
        <p:nvSpPr>
          <p:cNvPr id="5" name="Text 3"/>
          <p:cNvSpPr/>
          <p:nvPr/>
        </p:nvSpPr>
        <p:spPr>
          <a:xfrm>
            <a:off x="1137920" y="2438400"/>
            <a:ext cx="6177280" cy="4551680"/>
          </a:xfrm>
          <a:prstGeom prst="rect">
            <a:avLst/>
          </a:prstGeom>
          <a:noFill/>
          <a:ln/>
        </p:spPr>
        <p:txBody>
          <a:bodyPr wrap="square" rtlCol="0" anchor="t"/>
          <a:lstStyle/>
          <a:p>
            <a:pPr algn="ctr" indent="0" marL="0">
              <a:lnSpc>
                <a:spcPct val="130000"/>
              </a:lnSpc>
              <a:buNone/>
            </a:pPr>
            <a:r>
              <a:rPr lang="en-US" sz="1400" dirty="0">
                <a:solidFill>
                  <a:srgbClr val="0E1C42"/>
                </a:solidFill>
                <a:latin typeface="Calibri" pitchFamily="34" charset="0"/>
                <a:ea typeface="Calibri" pitchFamily="34" charset="-122"/>
                <a:cs typeface="Calibri" pitchFamily="34" charset="-120"/>
              </a:rPr>
              <a:t>Uses exact coordinates</a:t>
            </a:r>
            <a:endParaRPr lang="en-US" sz="1400" dirty="0"/>
          </a:p>
          <a:p>
            <a:pPr algn="ctr" indent="0" marL="0">
              <a:lnSpc>
                <a:spcPct val="130000"/>
              </a:lnSpc>
              <a:buNone/>
            </a:pPr>
            <a:endParaRPr lang="en-US" sz="1400" dirty="0"/>
          </a:p>
          <a:p>
            <a:pPr algn="ctr" indent="0" marL="0">
              <a:lnSpc>
                <a:spcPct val="130000"/>
              </a:lnSpc>
              <a:buNone/>
            </a:pPr>
            <a:r>
              <a:rPr lang="en-US" sz="1400" dirty="0">
                <a:solidFill>
                  <a:srgbClr val="0E1C42"/>
                </a:solidFill>
                <a:latin typeface="Calibri" pitchFamily="34" charset="0"/>
                <a:ea typeface="Calibri" pitchFamily="34" charset="-122"/>
                <a:cs typeface="Calibri" pitchFamily="34" charset="-120"/>
              </a:rPr>
              <a:t>Example:</a:t>
            </a:r>
            <a:endParaRPr lang="en-US" sz="1400" dirty="0"/>
          </a:p>
          <a:p>
            <a:pPr algn="ctr" indent="0" marL="0">
              <a:lnSpc>
                <a:spcPct val="130000"/>
              </a:lnSpc>
              <a:buNone/>
            </a:pPr>
            <a:r>
              <a:rPr lang="en-US" sz="1400" dirty="0">
                <a:solidFill>
                  <a:srgbClr val="0E1C42"/>
                </a:solidFill>
                <a:latin typeface="Calibri" pitchFamily="34" charset="0"/>
                <a:ea typeface="Calibri" pitchFamily="34" charset="-122"/>
                <a:cs typeface="Calibri" pitchFamily="34" charset="-120"/>
              </a:rPr>
              <a:t>"28.5 degrees N, 81.4 degrees W"</a:t>
            </a:r>
            <a:endParaRPr lang="en-US" sz="1400" dirty="0"/>
          </a:p>
          <a:p>
            <a:pPr algn="ctr" indent="0" marL="0">
              <a:lnSpc>
                <a:spcPct val="130000"/>
              </a:lnSpc>
              <a:buNone/>
            </a:pPr>
            <a:endParaRPr lang="en-US" sz="1400" dirty="0"/>
          </a:p>
          <a:p>
            <a:pPr algn="ctr" indent="0" marL="0">
              <a:lnSpc>
                <a:spcPct val="130000"/>
              </a:lnSpc>
              <a:buNone/>
            </a:pPr>
            <a:r>
              <a:rPr lang="en-US" sz="1400" dirty="0">
                <a:solidFill>
                  <a:srgbClr val="0E1C42"/>
                </a:solidFill>
                <a:latin typeface="Calibri" pitchFamily="34" charset="0"/>
                <a:ea typeface="Calibri" pitchFamily="34" charset="-122"/>
                <a:cs typeface="Calibri" pitchFamily="34" charset="-120"/>
              </a:rPr>
              <a:t>Pinpoints a spot with numbers that never change.</a:t>
            </a:r>
            <a:endParaRPr lang="en-US" sz="1400" dirty="0"/>
          </a:p>
        </p:txBody>
      </p:sp>
      <p:sp>
        <p:nvSpPr>
          <p:cNvPr id="6" name="Shape 4"/>
          <p:cNvSpPr/>
          <p:nvPr/>
        </p:nvSpPr>
        <p:spPr>
          <a:xfrm>
            <a:off x="8615680" y="1625600"/>
            <a:ext cx="6827520" cy="5689600"/>
          </a:xfrm>
          <a:prstGeom prst="roundRect">
            <a:avLst>
              <a:gd name="adj" fmla="val 3429"/>
            </a:avLst>
          </a:prstGeom>
          <a:solidFill>
            <a:srgbClr val="FFF3DC"/>
          </a:solidFill>
          <a:ln/>
        </p:spPr>
      </p:sp>
      <p:sp>
        <p:nvSpPr>
          <p:cNvPr id="7" name="Text 5"/>
          <p:cNvSpPr/>
          <p:nvPr/>
        </p:nvSpPr>
        <p:spPr>
          <a:xfrm>
            <a:off x="8940800" y="1788160"/>
            <a:ext cx="6177280" cy="487680"/>
          </a:xfrm>
          <a:prstGeom prst="rect">
            <a:avLst/>
          </a:prstGeom>
          <a:noFill/>
          <a:ln/>
        </p:spPr>
        <p:txBody>
          <a:bodyPr wrap="square" rtlCol="0" anchor="ctr"/>
          <a:lstStyle/>
          <a:p>
            <a:pPr algn="ctr" indent="0" marL="0">
              <a:buNone/>
            </a:pPr>
            <a:r>
              <a:rPr lang="en-US" sz="1000" b="1" spc="150" kern="0" dirty="0">
                <a:solidFill>
                  <a:srgbClr val="D4943A"/>
                </a:solidFill>
                <a:latin typeface="Calibri" pitchFamily="34" charset="0"/>
                <a:ea typeface="Calibri" pitchFamily="34" charset="-122"/>
                <a:cs typeface="Calibri" pitchFamily="34" charset="-120"/>
              </a:rPr>
              <a:t>RELATIVE LOCATION</a:t>
            </a:r>
            <a:endParaRPr lang="en-US" sz="1000" dirty="0"/>
          </a:p>
        </p:txBody>
      </p:sp>
      <p:sp>
        <p:nvSpPr>
          <p:cNvPr id="8" name="Text 6"/>
          <p:cNvSpPr/>
          <p:nvPr/>
        </p:nvSpPr>
        <p:spPr>
          <a:xfrm>
            <a:off x="8940800" y="2438400"/>
            <a:ext cx="6177280" cy="4551680"/>
          </a:xfrm>
          <a:prstGeom prst="rect">
            <a:avLst/>
          </a:prstGeom>
          <a:noFill/>
          <a:ln/>
        </p:spPr>
        <p:txBody>
          <a:bodyPr wrap="square" rtlCol="0" anchor="t"/>
          <a:lstStyle/>
          <a:p>
            <a:pPr algn="ctr" indent="0" marL="0">
              <a:lnSpc>
                <a:spcPct val="130000"/>
              </a:lnSpc>
              <a:buNone/>
            </a:pPr>
            <a:r>
              <a:rPr lang="en-US" sz="1400" dirty="0">
                <a:solidFill>
                  <a:srgbClr val="0E1C42"/>
                </a:solidFill>
                <a:latin typeface="Calibri" pitchFamily="34" charset="0"/>
                <a:ea typeface="Calibri" pitchFamily="34" charset="-122"/>
                <a:cs typeface="Calibri" pitchFamily="34" charset="-120"/>
              </a:rPr>
              <a:t>Describes where something is compared to something else</a:t>
            </a:r>
            <a:endParaRPr lang="en-US" sz="1400" dirty="0"/>
          </a:p>
          <a:p>
            <a:pPr algn="ctr" indent="0" marL="0">
              <a:lnSpc>
                <a:spcPct val="130000"/>
              </a:lnSpc>
              <a:buNone/>
            </a:pPr>
            <a:endParaRPr lang="en-US" sz="1400" dirty="0"/>
          </a:p>
          <a:p>
            <a:pPr algn="ctr" indent="0" marL="0">
              <a:lnSpc>
                <a:spcPct val="130000"/>
              </a:lnSpc>
              <a:buNone/>
            </a:pPr>
            <a:r>
              <a:rPr lang="en-US" sz="1400" dirty="0">
                <a:solidFill>
                  <a:srgbClr val="0E1C42"/>
                </a:solidFill>
                <a:latin typeface="Calibri" pitchFamily="34" charset="0"/>
                <a:ea typeface="Calibri" pitchFamily="34" charset="-122"/>
                <a:cs typeface="Calibri" pitchFamily="34" charset="-120"/>
              </a:rPr>
              <a:t>Example:</a:t>
            </a:r>
            <a:endParaRPr lang="en-US" sz="1400" dirty="0"/>
          </a:p>
          <a:p>
            <a:pPr algn="ctr" indent="0" marL="0">
              <a:lnSpc>
                <a:spcPct val="130000"/>
              </a:lnSpc>
              <a:buNone/>
            </a:pPr>
            <a:r>
              <a:rPr lang="en-US" sz="1400" dirty="0">
                <a:solidFill>
                  <a:srgbClr val="0E1C42"/>
                </a:solidFill>
                <a:latin typeface="Calibri" pitchFamily="34" charset="0"/>
                <a:ea typeface="Calibri" pitchFamily="34" charset="-122"/>
                <a:cs typeface="Calibri" pitchFamily="34" charset="-120"/>
              </a:rPr>
              <a:t>"South of the Great Lakes"</a:t>
            </a:r>
            <a:endParaRPr lang="en-US" sz="1400" dirty="0"/>
          </a:p>
          <a:p>
            <a:pPr algn="ctr" indent="0" marL="0">
              <a:lnSpc>
                <a:spcPct val="130000"/>
              </a:lnSpc>
              <a:buNone/>
            </a:pPr>
            <a:endParaRPr lang="en-US" sz="1400" dirty="0"/>
          </a:p>
          <a:p>
            <a:pPr algn="ctr" indent="0" marL="0">
              <a:lnSpc>
                <a:spcPct val="130000"/>
              </a:lnSpc>
              <a:buNone/>
            </a:pPr>
            <a:r>
              <a:rPr lang="en-US" sz="1400" dirty="0">
                <a:solidFill>
                  <a:srgbClr val="0E1C42"/>
                </a:solidFill>
                <a:latin typeface="Calibri" pitchFamily="34" charset="0"/>
                <a:ea typeface="Calibri" pitchFamily="34" charset="-122"/>
                <a:cs typeface="Calibri" pitchFamily="34" charset="-120"/>
              </a:rPr>
              <a:t>Helps people picture a place using landmarks.</a:t>
            </a:r>
            <a:endParaRPr lang="en-US" sz="1400" dirty="0"/>
          </a:p>
        </p:txBody>
      </p:sp>
      <p:sp>
        <p:nvSpPr>
          <p:cNvPr id="9" name="Text 7"/>
          <p:cNvSpPr/>
          <p:nvPr/>
        </p:nvSpPr>
        <p:spPr>
          <a:xfrm>
            <a:off x="812800" y="7640320"/>
            <a:ext cx="14630400" cy="650240"/>
          </a:xfrm>
          <a:prstGeom prst="rect">
            <a:avLst/>
          </a:prstGeom>
          <a:noFill/>
          <a:ln/>
        </p:spPr>
        <p:txBody>
          <a:bodyPr wrap="square" rtlCol="0" anchor="ctr"/>
          <a:lstStyle/>
          <a:p>
            <a:pPr algn="ctr" indent="0" marL="0">
              <a:buNone/>
            </a:pPr>
            <a:r>
              <a:rPr lang="en-US" sz="1400" b="1" i="1" dirty="0">
                <a:solidFill>
                  <a:srgbClr val="0E1C42"/>
                </a:solidFill>
                <a:latin typeface="Calibri" pitchFamily="34" charset="0"/>
                <a:ea typeface="Calibri" pitchFamily="34" charset="-122"/>
                <a:cs typeface="Calibri" pitchFamily="34" charset="-120"/>
              </a:rPr>
              <a:t>Both are real ways of describing where something is.</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812800" y="487680"/>
            <a:ext cx="14630400" cy="812800"/>
          </a:xfrm>
          <a:prstGeom prst="rect">
            <a:avLst/>
          </a:prstGeom>
          <a:noFill/>
          <a:ln/>
        </p:spPr>
        <p:txBody>
          <a:bodyPr wrap="square"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Exhibit 5: Word Roots</a:t>
            </a:r>
            <a:endParaRPr lang="en-US" sz="2200" dirty="0"/>
          </a:p>
        </p:txBody>
      </p:sp>
      <p:sp>
        <p:nvSpPr>
          <p:cNvPr id="3" name="Shape 1"/>
          <p:cNvSpPr/>
          <p:nvPr/>
        </p:nvSpPr>
        <p:spPr>
          <a:xfrm>
            <a:off x="812800" y="1625600"/>
            <a:ext cx="14630400" cy="2275840"/>
          </a:xfrm>
          <a:prstGeom prst="roundRect">
            <a:avLst>
              <a:gd name="adj" fmla="val 8571"/>
            </a:avLst>
          </a:prstGeom>
          <a:solidFill>
            <a:srgbClr val="FFFFFF"/>
          </a:solidFill>
          <a:ln/>
          <a:effectLst>
            <a:outerShdw sx="100000" sy="100000" kx="0" ky="0" algn="bl" rotWithShape="0" blurRad="50800" dist="25400" dir="8100000">
              <a:srgbClr val="000000">
                <a:alpha val="10000"/>
              </a:srgbClr>
            </a:outerShdw>
          </a:effectLst>
        </p:spPr>
      </p:sp>
      <p:sp>
        <p:nvSpPr>
          <p:cNvPr id="4" name="Text 2"/>
          <p:cNvSpPr/>
          <p:nvPr/>
        </p:nvSpPr>
        <p:spPr>
          <a:xfrm>
            <a:off x="1137920" y="1788160"/>
            <a:ext cx="13980160" cy="1950720"/>
          </a:xfrm>
          <a:prstGeom prst="rect">
            <a:avLst/>
          </a:prstGeom>
          <a:noFill/>
          <a:ln/>
        </p:spPr>
        <p:txBody>
          <a:bodyPr wrap="square" rtlCol="0" anchor="ctr"/>
          <a:lstStyle/>
          <a:p>
            <a:pPr algn="ctr" indent="0" marL="0">
              <a:lnSpc>
                <a:spcPct val="125000"/>
              </a:lnSpc>
              <a:buNone/>
            </a:pPr>
            <a:r>
              <a:rPr lang="en-US" sz="1500" dirty="0">
                <a:solidFill>
                  <a:srgbClr val="0E1C42"/>
                </a:solidFill>
                <a:latin typeface="Calibri" pitchFamily="34" charset="0"/>
                <a:ea typeface="Calibri" pitchFamily="34" charset="-122"/>
                <a:cs typeface="Calibri" pitchFamily="34" charset="-120"/>
              </a:rPr>
              <a:t>You cracked open the Word Roots cabinet and discovered that terms like peninsula, terrain, and geography carry their meanings inside their roots.</a:t>
            </a:r>
            <a:endParaRPr lang="en-US" sz="1500" dirty="0"/>
          </a:p>
        </p:txBody>
      </p:sp>
      <p:sp>
        <p:nvSpPr>
          <p:cNvPr id="5" name="Shape 3"/>
          <p:cNvSpPr/>
          <p:nvPr/>
        </p:nvSpPr>
        <p:spPr>
          <a:xfrm>
            <a:off x="812800" y="4226560"/>
            <a:ext cx="14630400" cy="894080"/>
          </a:xfrm>
          <a:prstGeom prst="roundRect">
            <a:avLst>
              <a:gd name="adj" fmla="val 14545"/>
            </a:avLst>
          </a:prstGeom>
          <a:solidFill>
            <a:srgbClr val="EAF8FD"/>
          </a:solidFill>
          <a:ln/>
        </p:spPr>
      </p:sp>
      <p:sp>
        <p:nvSpPr>
          <p:cNvPr id="6" name="Text 4"/>
          <p:cNvSpPr/>
          <p:nvPr/>
        </p:nvSpPr>
        <p:spPr>
          <a:xfrm>
            <a:off x="1137920" y="4226560"/>
            <a:ext cx="2438400" cy="894080"/>
          </a:xfrm>
          <a:prstGeom prst="rect">
            <a:avLst/>
          </a:prstGeom>
          <a:noFill/>
          <a:ln/>
        </p:spPr>
        <p:txBody>
          <a:bodyPr wrap="square" rtlCol="0" anchor="ctr"/>
          <a:lstStyle/>
          <a:p>
            <a:pPr indent="0" marL="0">
              <a:buNone/>
            </a:pPr>
            <a:r>
              <a:rPr lang="en-US" sz="1600" b="1" dirty="0">
                <a:solidFill>
                  <a:srgbClr val="0E1C42"/>
                </a:solidFill>
                <a:latin typeface="Cambria" pitchFamily="34" charset="0"/>
                <a:ea typeface="Cambria" pitchFamily="34" charset="-122"/>
                <a:cs typeface="Cambria" pitchFamily="34" charset="-120"/>
              </a:rPr>
              <a:t>geo-</a:t>
            </a:r>
            <a:endParaRPr lang="en-US" sz="1600" dirty="0"/>
          </a:p>
        </p:txBody>
      </p:sp>
      <p:sp>
        <p:nvSpPr>
          <p:cNvPr id="7" name="Text 5"/>
          <p:cNvSpPr/>
          <p:nvPr/>
        </p:nvSpPr>
        <p:spPr>
          <a:xfrm>
            <a:off x="3738880" y="4226560"/>
            <a:ext cx="4876800" cy="894080"/>
          </a:xfrm>
          <a:prstGeom prst="rect">
            <a:avLst/>
          </a:prstGeom>
          <a:noFill/>
          <a:ln/>
        </p:spPr>
        <p:txBody>
          <a:bodyPr wrap="square" rtlCol="0" anchor="ctr"/>
          <a:lstStyle/>
          <a:p>
            <a:pPr indent="0" marL="0">
              <a:buNone/>
            </a:pPr>
            <a:r>
              <a:rPr lang="en-US" sz="1300" i="1" dirty="0">
                <a:solidFill>
                  <a:srgbClr val="1A8A7D"/>
                </a:solidFill>
                <a:latin typeface="Calibri" pitchFamily="34" charset="0"/>
                <a:ea typeface="Calibri" pitchFamily="34" charset="-122"/>
                <a:cs typeface="Calibri" pitchFamily="34" charset="-120"/>
              </a:rPr>
              <a:t>Greek -- "earth"</a:t>
            </a:r>
            <a:endParaRPr lang="en-US" sz="1300" dirty="0"/>
          </a:p>
        </p:txBody>
      </p:sp>
      <p:sp>
        <p:nvSpPr>
          <p:cNvPr id="8" name="Text 6"/>
          <p:cNvSpPr/>
          <p:nvPr/>
        </p:nvSpPr>
        <p:spPr>
          <a:xfrm>
            <a:off x="8940800" y="4226560"/>
            <a:ext cx="6177280" cy="894080"/>
          </a:xfrm>
          <a:prstGeom prst="rect">
            <a:avLst/>
          </a:prstGeom>
          <a:noFill/>
          <a:ln/>
        </p:spPr>
        <p:txBody>
          <a:bodyPr wrap="square" rtlCol="0" anchor="ctr"/>
          <a:lstStyle/>
          <a:p>
            <a:pPr indent="0" marL="0">
              <a:buNone/>
            </a:pPr>
            <a:r>
              <a:rPr lang="en-US" sz="1300" dirty="0">
                <a:solidFill>
                  <a:srgbClr val="0E1C42"/>
                </a:solidFill>
                <a:latin typeface="Calibri" pitchFamily="34" charset="0"/>
                <a:ea typeface="Calibri" pitchFamily="34" charset="-122"/>
                <a:cs typeface="Calibri" pitchFamily="34" charset="-120"/>
              </a:rPr>
              <a:t>geography, geology</a:t>
            </a:r>
            <a:endParaRPr lang="en-US" sz="1300" dirty="0"/>
          </a:p>
        </p:txBody>
      </p:sp>
      <p:sp>
        <p:nvSpPr>
          <p:cNvPr id="9" name="Shape 7"/>
          <p:cNvSpPr/>
          <p:nvPr/>
        </p:nvSpPr>
        <p:spPr>
          <a:xfrm>
            <a:off x="812800" y="5364480"/>
            <a:ext cx="14630400" cy="894080"/>
          </a:xfrm>
          <a:prstGeom prst="roundRect">
            <a:avLst>
              <a:gd name="adj" fmla="val 14545"/>
            </a:avLst>
          </a:prstGeom>
          <a:solidFill>
            <a:srgbClr val="E3F8ED"/>
          </a:solidFill>
          <a:ln/>
        </p:spPr>
      </p:sp>
      <p:sp>
        <p:nvSpPr>
          <p:cNvPr id="10" name="Text 8"/>
          <p:cNvSpPr/>
          <p:nvPr/>
        </p:nvSpPr>
        <p:spPr>
          <a:xfrm>
            <a:off x="1137920" y="5364480"/>
            <a:ext cx="2438400" cy="894080"/>
          </a:xfrm>
          <a:prstGeom prst="rect">
            <a:avLst/>
          </a:prstGeom>
          <a:noFill/>
          <a:ln/>
        </p:spPr>
        <p:txBody>
          <a:bodyPr wrap="square" rtlCol="0" anchor="ctr"/>
          <a:lstStyle/>
          <a:p>
            <a:pPr indent="0" marL="0">
              <a:buNone/>
            </a:pPr>
            <a:r>
              <a:rPr lang="en-US" sz="1600" b="1" dirty="0">
                <a:solidFill>
                  <a:srgbClr val="0E1C42"/>
                </a:solidFill>
                <a:latin typeface="Cambria" pitchFamily="34" charset="0"/>
                <a:ea typeface="Cambria" pitchFamily="34" charset="-122"/>
                <a:cs typeface="Cambria" pitchFamily="34" charset="-120"/>
              </a:rPr>
              <a:t>terra-</a:t>
            </a:r>
            <a:endParaRPr lang="en-US" sz="1600" dirty="0"/>
          </a:p>
        </p:txBody>
      </p:sp>
      <p:sp>
        <p:nvSpPr>
          <p:cNvPr id="11" name="Text 9"/>
          <p:cNvSpPr/>
          <p:nvPr/>
        </p:nvSpPr>
        <p:spPr>
          <a:xfrm>
            <a:off x="3738880" y="5364480"/>
            <a:ext cx="4876800" cy="894080"/>
          </a:xfrm>
          <a:prstGeom prst="rect">
            <a:avLst/>
          </a:prstGeom>
          <a:noFill/>
          <a:ln/>
        </p:spPr>
        <p:txBody>
          <a:bodyPr wrap="square" rtlCol="0" anchor="ctr"/>
          <a:lstStyle/>
          <a:p>
            <a:pPr indent="0" marL="0">
              <a:buNone/>
            </a:pPr>
            <a:r>
              <a:rPr lang="en-US" sz="1300" i="1" dirty="0">
                <a:solidFill>
                  <a:srgbClr val="1A8A7D"/>
                </a:solidFill>
                <a:latin typeface="Calibri" pitchFamily="34" charset="0"/>
                <a:ea typeface="Calibri" pitchFamily="34" charset="-122"/>
                <a:cs typeface="Calibri" pitchFamily="34" charset="-120"/>
              </a:rPr>
              <a:t>Latin -- "land"</a:t>
            </a:r>
            <a:endParaRPr lang="en-US" sz="1300" dirty="0"/>
          </a:p>
        </p:txBody>
      </p:sp>
      <p:sp>
        <p:nvSpPr>
          <p:cNvPr id="12" name="Text 10"/>
          <p:cNvSpPr/>
          <p:nvPr/>
        </p:nvSpPr>
        <p:spPr>
          <a:xfrm>
            <a:off x="8940800" y="5364480"/>
            <a:ext cx="6177280" cy="894080"/>
          </a:xfrm>
          <a:prstGeom prst="rect">
            <a:avLst/>
          </a:prstGeom>
          <a:noFill/>
          <a:ln/>
        </p:spPr>
        <p:txBody>
          <a:bodyPr wrap="square" rtlCol="0" anchor="ctr"/>
          <a:lstStyle/>
          <a:p>
            <a:pPr indent="0" marL="0">
              <a:buNone/>
            </a:pPr>
            <a:r>
              <a:rPr lang="en-US" sz="1300" dirty="0">
                <a:solidFill>
                  <a:srgbClr val="0E1C42"/>
                </a:solidFill>
                <a:latin typeface="Calibri" pitchFamily="34" charset="0"/>
                <a:ea typeface="Calibri" pitchFamily="34" charset="-122"/>
                <a:cs typeface="Calibri" pitchFamily="34" charset="-120"/>
              </a:rPr>
              <a:t>terrain, territory</a:t>
            </a:r>
            <a:endParaRPr lang="en-US" sz="1300" dirty="0"/>
          </a:p>
        </p:txBody>
      </p:sp>
      <p:sp>
        <p:nvSpPr>
          <p:cNvPr id="13" name="Shape 11"/>
          <p:cNvSpPr/>
          <p:nvPr/>
        </p:nvSpPr>
        <p:spPr>
          <a:xfrm>
            <a:off x="812800" y="6502400"/>
            <a:ext cx="14630400" cy="894080"/>
          </a:xfrm>
          <a:prstGeom prst="roundRect">
            <a:avLst>
              <a:gd name="adj" fmla="val 14545"/>
            </a:avLst>
          </a:prstGeom>
          <a:solidFill>
            <a:srgbClr val="EAF8FD"/>
          </a:solidFill>
          <a:ln/>
        </p:spPr>
      </p:sp>
      <p:sp>
        <p:nvSpPr>
          <p:cNvPr id="14" name="Text 12"/>
          <p:cNvSpPr/>
          <p:nvPr/>
        </p:nvSpPr>
        <p:spPr>
          <a:xfrm>
            <a:off x="1137920" y="6502400"/>
            <a:ext cx="2438400" cy="894080"/>
          </a:xfrm>
          <a:prstGeom prst="rect">
            <a:avLst/>
          </a:prstGeom>
          <a:noFill/>
          <a:ln/>
        </p:spPr>
        <p:txBody>
          <a:bodyPr wrap="square" rtlCol="0" anchor="ctr"/>
          <a:lstStyle/>
          <a:p>
            <a:pPr indent="0" marL="0">
              <a:buNone/>
            </a:pPr>
            <a:r>
              <a:rPr lang="en-US" sz="1600" b="1" dirty="0">
                <a:solidFill>
                  <a:srgbClr val="0E1C42"/>
                </a:solidFill>
                <a:latin typeface="Cambria" pitchFamily="34" charset="0"/>
                <a:ea typeface="Cambria" pitchFamily="34" charset="-122"/>
                <a:cs typeface="Cambria" pitchFamily="34" charset="-120"/>
              </a:rPr>
              <a:t>aqua-</a:t>
            </a:r>
            <a:endParaRPr lang="en-US" sz="1600" dirty="0"/>
          </a:p>
        </p:txBody>
      </p:sp>
      <p:sp>
        <p:nvSpPr>
          <p:cNvPr id="15" name="Text 13"/>
          <p:cNvSpPr/>
          <p:nvPr/>
        </p:nvSpPr>
        <p:spPr>
          <a:xfrm>
            <a:off x="3738880" y="6502400"/>
            <a:ext cx="4876800" cy="894080"/>
          </a:xfrm>
          <a:prstGeom prst="rect">
            <a:avLst/>
          </a:prstGeom>
          <a:noFill/>
          <a:ln/>
        </p:spPr>
        <p:txBody>
          <a:bodyPr wrap="square" rtlCol="0" anchor="ctr"/>
          <a:lstStyle/>
          <a:p>
            <a:pPr indent="0" marL="0">
              <a:buNone/>
            </a:pPr>
            <a:r>
              <a:rPr lang="en-US" sz="1300" i="1" dirty="0">
                <a:solidFill>
                  <a:srgbClr val="1A8A7D"/>
                </a:solidFill>
                <a:latin typeface="Calibri" pitchFamily="34" charset="0"/>
                <a:ea typeface="Calibri" pitchFamily="34" charset="-122"/>
                <a:cs typeface="Calibri" pitchFamily="34" charset="-120"/>
              </a:rPr>
              <a:t>Latin -- "water"</a:t>
            </a:r>
            <a:endParaRPr lang="en-US" sz="1300" dirty="0"/>
          </a:p>
        </p:txBody>
      </p:sp>
      <p:sp>
        <p:nvSpPr>
          <p:cNvPr id="16" name="Text 14"/>
          <p:cNvSpPr/>
          <p:nvPr/>
        </p:nvSpPr>
        <p:spPr>
          <a:xfrm>
            <a:off x="8940800" y="6502400"/>
            <a:ext cx="6177280" cy="894080"/>
          </a:xfrm>
          <a:prstGeom prst="rect">
            <a:avLst/>
          </a:prstGeom>
          <a:noFill/>
          <a:ln/>
        </p:spPr>
        <p:txBody>
          <a:bodyPr wrap="square" rtlCol="0" anchor="ctr"/>
          <a:lstStyle/>
          <a:p>
            <a:pPr indent="0" marL="0">
              <a:buNone/>
            </a:pPr>
            <a:r>
              <a:rPr lang="en-US" sz="1300" dirty="0">
                <a:solidFill>
                  <a:srgbClr val="0E1C42"/>
                </a:solidFill>
                <a:latin typeface="Calibri" pitchFamily="34" charset="0"/>
                <a:ea typeface="Calibri" pitchFamily="34" charset="-122"/>
                <a:cs typeface="Calibri" pitchFamily="34" charset="-120"/>
              </a:rPr>
              <a:t>aquatic, aqueduct</a:t>
            </a:r>
            <a:endParaRPr lang="en-US" sz="1300" dirty="0"/>
          </a:p>
        </p:txBody>
      </p:sp>
      <p:sp>
        <p:nvSpPr>
          <p:cNvPr id="17" name="Shape 15"/>
          <p:cNvSpPr/>
          <p:nvPr/>
        </p:nvSpPr>
        <p:spPr>
          <a:xfrm>
            <a:off x="812800" y="7640320"/>
            <a:ext cx="14630400" cy="894080"/>
          </a:xfrm>
          <a:prstGeom prst="roundRect">
            <a:avLst>
              <a:gd name="adj" fmla="val 14545"/>
            </a:avLst>
          </a:prstGeom>
          <a:solidFill>
            <a:srgbClr val="E3F8ED"/>
          </a:solidFill>
          <a:ln/>
        </p:spPr>
      </p:sp>
      <p:sp>
        <p:nvSpPr>
          <p:cNvPr id="18" name="Text 16"/>
          <p:cNvSpPr/>
          <p:nvPr/>
        </p:nvSpPr>
        <p:spPr>
          <a:xfrm>
            <a:off x="1137920" y="7640320"/>
            <a:ext cx="2438400" cy="894080"/>
          </a:xfrm>
          <a:prstGeom prst="rect">
            <a:avLst/>
          </a:prstGeom>
          <a:noFill/>
          <a:ln/>
        </p:spPr>
        <p:txBody>
          <a:bodyPr wrap="square" rtlCol="0" anchor="ctr"/>
          <a:lstStyle/>
          <a:p>
            <a:pPr indent="0" marL="0">
              <a:buNone/>
            </a:pPr>
            <a:r>
              <a:rPr lang="en-US" sz="1600" b="1" dirty="0">
                <a:solidFill>
                  <a:srgbClr val="0E1C42"/>
                </a:solidFill>
                <a:latin typeface="Cambria" pitchFamily="34" charset="0"/>
                <a:ea typeface="Cambria" pitchFamily="34" charset="-122"/>
                <a:cs typeface="Cambria" pitchFamily="34" charset="-120"/>
              </a:rPr>
              <a:t>pen-</a:t>
            </a:r>
            <a:endParaRPr lang="en-US" sz="1600" dirty="0"/>
          </a:p>
        </p:txBody>
      </p:sp>
      <p:sp>
        <p:nvSpPr>
          <p:cNvPr id="19" name="Text 17"/>
          <p:cNvSpPr/>
          <p:nvPr/>
        </p:nvSpPr>
        <p:spPr>
          <a:xfrm>
            <a:off x="3738880" y="7640320"/>
            <a:ext cx="4876800" cy="894080"/>
          </a:xfrm>
          <a:prstGeom prst="rect">
            <a:avLst/>
          </a:prstGeom>
          <a:noFill/>
          <a:ln/>
        </p:spPr>
        <p:txBody>
          <a:bodyPr wrap="square" rtlCol="0" anchor="ctr"/>
          <a:lstStyle/>
          <a:p>
            <a:pPr indent="0" marL="0">
              <a:buNone/>
            </a:pPr>
            <a:r>
              <a:rPr lang="en-US" sz="1300" i="1" dirty="0">
                <a:solidFill>
                  <a:srgbClr val="1A8A7D"/>
                </a:solidFill>
                <a:latin typeface="Calibri" pitchFamily="34" charset="0"/>
                <a:ea typeface="Calibri" pitchFamily="34" charset="-122"/>
                <a:cs typeface="Calibri" pitchFamily="34" charset="-120"/>
              </a:rPr>
              <a:t>Latin -- "almost"</a:t>
            </a:r>
            <a:endParaRPr lang="en-US" sz="1300" dirty="0"/>
          </a:p>
        </p:txBody>
      </p:sp>
      <p:sp>
        <p:nvSpPr>
          <p:cNvPr id="20" name="Text 18"/>
          <p:cNvSpPr/>
          <p:nvPr/>
        </p:nvSpPr>
        <p:spPr>
          <a:xfrm>
            <a:off x="8940800" y="7640320"/>
            <a:ext cx="6177280" cy="894080"/>
          </a:xfrm>
          <a:prstGeom prst="rect">
            <a:avLst/>
          </a:prstGeom>
          <a:noFill/>
          <a:ln/>
        </p:spPr>
        <p:txBody>
          <a:bodyPr wrap="square" rtlCol="0" anchor="ctr"/>
          <a:lstStyle/>
          <a:p>
            <a:pPr indent="0" marL="0">
              <a:buNone/>
            </a:pPr>
            <a:r>
              <a:rPr lang="en-US" sz="1300" dirty="0">
                <a:solidFill>
                  <a:srgbClr val="0E1C42"/>
                </a:solidFill>
                <a:latin typeface="Calibri" pitchFamily="34" charset="0"/>
                <a:ea typeface="Calibri" pitchFamily="34" charset="-122"/>
                <a:cs typeface="Calibri" pitchFamily="34" charset="-120"/>
              </a:rPr>
              <a:t>peninsula</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812800" y="487680"/>
            <a:ext cx="14630400" cy="812800"/>
          </a:xfrm>
          <a:prstGeom prst="rect">
            <a:avLst/>
          </a:prstGeom>
          <a:noFill/>
          <a:ln/>
        </p:spPr>
        <p:txBody>
          <a:bodyPr wrap="square" rtlCol="0" anchor="ctr"/>
          <a:lstStyle/>
          <a:p>
            <a:pPr indent="0" marL="0">
              <a:buNone/>
            </a:pPr>
            <a:r>
              <a:rPr lang="en-US" sz="2400" b="1" dirty="0">
                <a:solidFill>
                  <a:srgbClr val="0E1C42"/>
                </a:solidFill>
                <a:latin typeface="Cambria" pitchFamily="34" charset="0"/>
                <a:ea typeface="Cambria" pitchFamily="34" charset="-122"/>
                <a:cs typeface="Cambria" pitchFamily="34" charset="-120"/>
              </a:rPr>
              <a:t>Your Turn: Sort the 5 Exhibits</a:t>
            </a:r>
            <a:endParaRPr lang="en-US" sz="2400" dirty="0"/>
          </a:p>
        </p:txBody>
      </p:sp>
      <p:sp>
        <p:nvSpPr>
          <p:cNvPr id="3" name="Text 1"/>
          <p:cNvSpPr/>
          <p:nvPr/>
        </p:nvSpPr>
        <p:spPr>
          <a:xfrm>
            <a:off x="812800" y="1381760"/>
            <a:ext cx="3251200" cy="487680"/>
          </a:xfrm>
          <a:prstGeom prst="rect">
            <a:avLst/>
          </a:prstGeom>
          <a:noFill/>
          <a:ln/>
        </p:spPr>
        <p:txBody>
          <a:bodyPr wrap="square" rtlCol="0" anchor="ctr"/>
          <a:lstStyle/>
          <a:p>
            <a:pPr indent="0" marL="0">
              <a:buNone/>
            </a:pPr>
            <a:r>
              <a:rPr lang="en-US" sz="1000" b="1" spc="150" kern="0" dirty="0">
                <a:solidFill>
                  <a:srgbClr val="D4943A"/>
                </a:solidFill>
                <a:latin typeface="Calibri" pitchFamily="34" charset="0"/>
                <a:ea typeface="Calibri" pitchFamily="34" charset="-122"/>
                <a:cs typeface="Calibri" pitchFamily="34" charset="-120"/>
              </a:rPr>
              <a:t>YOUR TURN</a:t>
            </a:r>
            <a:endParaRPr lang="en-US" sz="1000" dirty="0"/>
          </a:p>
        </p:txBody>
      </p:sp>
      <p:sp>
        <p:nvSpPr>
          <p:cNvPr id="4" name="Text 2"/>
          <p:cNvSpPr/>
          <p:nvPr/>
        </p:nvSpPr>
        <p:spPr>
          <a:xfrm>
            <a:off x="812800" y="1869440"/>
            <a:ext cx="14630400" cy="812800"/>
          </a:xfrm>
          <a:prstGeom prst="rect">
            <a:avLst/>
          </a:prstGeom>
          <a:noFill/>
          <a:ln/>
        </p:spPr>
        <p:txBody>
          <a:bodyPr wrap="square" rtlCol="0" anchor="ctr"/>
          <a:lstStyle/>
          <a:p>
            <a:pPr indent="0" marL="0">
              <a:buNone/>
            </a:pPr>
            <a:r>
              <a:rPr lang="en-US" sz="1400" dirty="0">
                <a:solidFill>
                  <a:srgbClr val="0E1C42"/>
                </a:solidFill>
                <a:latin typeface="Calibri" pitchFamily="34" charset="0"/>
                <a:ea typeface="Calibri" pitchFamily="34" charset="-122"/>
                <a:cs typeface="Calibri" pitchFamily="34" charset="-120"/>
              </a:rPr>
              <a:t>With a partner, list all five parts of the World Map Hall from memory.</a:t>
            </a:r>
            <a:endParaRPr lang="en-US" sz="1400" dirty="0"/>
          </a:p>
          <a:p>
            <a:pPr indent="0" marL="0">
              <a:buNone/>
            </a:pPr>
            <a:r>
              <a:rPr lang="en-US" sz="1400" dirty="0">
                <a:solidFill>
                  <a:srgbClr val="0E1C42"/>
                </a:solidFill>
                <a:latin typeface="Calibri" pitchFamily="34" charset="0"/>
                <a:ea typeface="Calibri" pitchFamily="34" charset="-122"/>
                <a:cs typeface="Calibri" pitchFamily="34" charset="-120"/>
              </a:rPr>
              <a:t>What does each part teach a visitor?</a:t>
            </a:r>
            <a:endParaRPr lang="en-US" sz="1400" dirty="0"/>
          </a:p>
        </p:txBody>
      </p:sp>
      <p:sp>
        <p:nvSpPr>
          <p:cNvPr id="5" name="Shape 3"/>
          <p:cNvSpPr/>
          <p:nvPr/>
        </p:nvSpPr>
        <p:spPr>
          <a:xfrm>
            <a:off x="1300480" y="2926080"/>
            <a:ext cx="13655040" cy="812800"/>
          </a:xfrm>
          <a:prstGeom prst="roundRect">
            <a:avLst>
              <a:gd name="adj" fmla="val 16000"/>
            </a:avLst>
          </a:prstGeom>
          <a:solidFill>
            <a:srgbClr val="EAF8FD"/>
          </a:solidFill>
          <a:ln/>
        </p:spPr>
      </p:sp>
      <p:sp>
        <p:nvSpPr>
          <p:cNvPr id="6" name="Text 4"/>
          <p:cNvSpPr/>
          <p:nvPr/>
        </p:nvSpPr>
        <p:spPr>
          <a:xfrm>
            <a:off x="1625600" y="2926080"/>
            <a:ext cx="13004800" cy="812800"/>
          </a:xfrm>
          <a:prstGeom prst="rect">
            <a:avLst/>
          </a:prstGeom>
          <a:noFill/>
          <a:ln/>
        </p:spPr>
        <p:txBody>
          <a:bodyPr wrap="square" rtlCol="0" anchor="ctr"/>
          <a:lstStyle/>
          <a:p>
            <a:pPr indent="0" marL="0">
              <a:buNone/>
            </a:pPr>
            <a:r>
              <a:rPr lang="en-US" sz="1400" dirty="0">
                <a:solidFill>
                  <a:srgbClr val="0E1C42"/>
                </a:solidFill>
                <a:latin typeface="Calibri" pitchFamily="34" charset="0"/>
                <a:ea typeface="Calibri" pitchFamily="34" charset="-122"/>
                <a:cs typeface="Calibri" pitchFamily="34" charset="-120"/>
              </a:rPr>
              <a:t>1. Continents and Oceans -- the shapes on the map</a:t>
            </a:r>
            <a:endParaRPr lang="en-US" sz="1400" dirty="0"/>
          </a:p>
        </p:txBody>
      </p:sp>
      <p:sp>
        <p:nvSpPr>
          <p:cNvPr id="7" name="Shape 5"/>
          <p:cNvSpPr/>
          <p:nvPr/>
        </p:nvSpPr>
        <p:spPr>
          <a:xfrm>
            <a:off x="1300480" y="3982720"/>
            <a:ext cx="13655040" cy="812800"/>
          </a:xfrm>
          <a:prstGeom prst="roundRect">
            <a:avLst>
              <a:gd name="adj" fmla="val 16000"/>
            </a:avLst>
          </a:prstGeom>
          <a:solidFill>
            <a:srgbClr val="E3F8ED"/>
          </a:solidFill>
          <a:ln/>
        </p:spPr>
      </p:sp>
      <p:sp>
        <p:nvSpPr>
          <p:cNvPr id="8" name="Text 6"/>
          <p:cNvSpPr/>
          <p:nvPr/>
        </p:nvSpPr>
        <p:spPr>
          <a:xfrm>
            <a:off x="1625600" y="3982720"/>
            <a:ext cx="13004800" cy="812800"/>
          </a:xfrm>
          <a:prstGeom prst="rect">
            <a:avLst/>
          </a:prstGeom>
          <a:noFill/>
          <a:ln/>
        </p:spPr>
        <p:txBody>
          <a:bodyPr wrap="square" rtlCol="0" anchor="ctr"/>
          <a:lstStyle/>
          <a:p>
            <a:pPr indent="0" marL="0">
              <a:buNone/>
            </a:pPr>
            <a:r>
              <a:rPr lang="en-US" sz="1400" dirty="0">
                <a:solidFill>
                  <a:srgbClr val="0E1C42"/>
                </a:solidFill>
                <a:latin typeface="Calibri" pitchFamily="34" charset="0"/>
                <a:ea typeface="Calibri" pitchFamily="34" charset="-122"/>
                <a:cs typeface="Calibri" pitchFamily="34" charset="-120"/>
              </a:rPr>
              <a:t>2. Landforms and Water Features -- how the land is shaped</a:t>
            </a:r>
            <a:endParaRPr lang="en-US" sz="1400" dirty="0"/>
          </a:p>
        </p:txBody>
      </p:sp>
      <p:sp>
        <p:nvSpPr>
          <p:cNvPr id="9" name="Shape 7"/>
          <p:cNvSpPr/>
          <p:nvPr/>
        </p:nvSpPr>
        <p:spPr>
          <a:xfrm>
            <a:off x="1300480" y="5039360"/>
            <a:ext cx="13655040" cy="812800"/>
          </a:xfrm>
          <a:prstGeom prst="roundRect">
            <a:avLst>
              <a:gd name="adj" fmla="val 16000"/>
            </a:avLst>
          </a:prstGeom>
          <a:solidFill>
            <a:srgbClr val="EAF8FD"/>
          </a:solidFill>
          <a:ln/>
        </p:spPr>
      </p:sp>
      <p:sp>
        <p:nvSpPr>
          <p:cNvPr id="10" name="Text 8"/>
          <p:cNvSpPr/>
          <p:nvPr/>
        </p:nvSpPr>
        <p:spPr>
          <a:xfrm>
            <a:off x="1625600" y="5039360"/>
            <a:ext cx="13004800" cy="812800"/>
          </a:xfrm>
          <a:prstGeom prst="rect">
            <a:avLst/>
          </a:prstGeom>
          <a:noFill/>
          <a:ln/>
        </p:spPr>
        <p:txBody>
          <a:bodyPr wrap="square" rtlCol="0" anchor="ctr"/>
          <a:lstStyle/>
          <a:p>
            <a:pPr indent="0" marL="0">
              <a:buNone/>
            </a:pPr>
            <a:r>
              <a:rPr lang="en-US" sz="1400" dirty="0">
                <a:solidFill>
                  <a:srgbClr val="0E1C42"/>
                </a:solidFill>
                <a:latin typeface="Calibri" pitchFamily="34" charset="0"/>
                <a:ea typeface="Calibri" pitchFamily="34" charset="-122"/>
                <a:cs typeface="Calibri" pitchFamily="34" charset="-120"/>
              </a:rPr>
              <a:t>3. Climate, Vegetation, and Resources -- what grows and why</a:t>
            </a:r>
            <a:endParaRPr lang="en-US" sz="1400" dirty="0"/>
          </a:p>
        </p:txBody>
      </p:sp>
      <p:sp>
        <p:nvSpPr>
          <p:cNvPr id="11" name="Shape 9"/>
          <p:cNvSpPr/>
          <p:nvPr/>
        </p:nvSpPr>
        <p:spPr>
          <a:xfrm>
            <a:off x="1300480" y="6096000"/>
            <a:ext cx="13655040" cy="812800"/>
          </a:xfrm>
          <a:prstGeom prst="roundRect">
            <a:avLst>
              <a:gd name="adj" fmla="val 16000"/>
            </a:avLst>
          </a:prstGeom>
          <a:solidFill>
            <a:srgbClr val="E3F8ED"/>
          </a:solidFill>
          <a:ln/>
        </p:spPr>
      </p:sp>
      <p:sp>
        <p:nvSpPr>
          <p:cNvPr id="12" name="Text 10"/>
          <p:cNvSpPr/>
          <p:nvPr/>
        </p:nvSpPr>
        <p:spPr>
          <a:xfrm>
            <a:off x="1625600" y="6096000"/>
            <a:ext cx="13004800" cy="812800"/>
          </a:xfrm>
          <a:prstGeom prst="rect">
            <a:avLst/>
          </a:prstGeom>
          <a:noFill/>
          <a:ln/>
        </p:spPr>
        <p:txBody>
          <a:bodyPr wrap="square" rtlCol="0" anchor="ctr"/>
          <a:lstStyle/>
          <a:p>
            <a:pPr indent="0" marL="0">
              <a:buNone/>
            </a:pPr>
            <a:r>
              <a:rPr lang="en-US" sz="1400" dirty="0">
                <a:solidFill>
                  <a:srgbClr val="0E1C42"/>
                </a:solidFill>
                <a:latin typeface="Calibri" pitchFamily="34" charset="0"/>
                <a:ea typeface="Calibri" pitchFamily="34" charset="-122"/>
                <a:cs typeface="Calibri" pitchFamily="34" charset="-120"/>
              </a:rPr>
              <a:t>4. Absolute vs. Relative Location -- two ways to say where</a:t>
            </a:r>
            <a:endParaRPr lang="en-US" sz="1400" dirty="0"/>
          </a:p>
        </p:txBody>
      </p:sp>
      <p:sp>
        <p:nvSpPr>
          <p:cNvPr id="13" name="Shape 11"/>
          <p:cNvSpPr/>
          <p:nvPr/>
        </p:nvSpPr>
        <p:spPr>
          <a:xfrm>
            <a:off x="1300480" y="7152640"/>
            <a:ext cx="13655040" cy="812800"/>
          </a:xfrm>
          <a:prstGeom prst="roundRect">
            <a:avLst>
              <a:gd name="adj" fmla="val 16000"/>
            </a:avLst>
          </a:prstGeom>
          <a:solidFill>
            <a:srgbClr val="EAF8FD"/>
          </a:solidFill>
          <a:ln/>
        </p:spPr>
      </p:sp>
      <p:sp>
        <p:nvSpPr>
          <p:cNvPr id="14" name="Text 12"/>
          <p:cNvSpPr/>
          <p:nvPr/>
        </p:nvSpPr>
        <p:spPr>
          <a:xfrm>
            <a:off x="1625600" y="7152640"/>
            <a:ext cx="13004800" cy="812800"/>
          </a:xfrm>
          <a:prstGeom prst="rect">
            <a:avLst/>
          </a:prstGeom>
          <a:noFill/>
          <a:ln/>
        </p:spPr>
        <p:txBody>
          <a:bodyPr wrap="square" rtlCol="0" anchor="ctr"/>
          <a:lstStyle/>
          <a:p>
            <a:pPr indent="0" marL="0">
              <a:buNone/>
            </a:pPr>
            <a:r>
              <a:rPr lang="en-US" sz="1400" dirty="0">
                <a:solidFill>
                  <a:srgbClr val="0E1C42"/>
                </a:solidFill>
                <a:latin typeface="Calibri" pitchFamily="34" charset="0"/>
                <a:ea typeface="Calibri" pitchFamily="34" charset="-122"/>
                <a:cs typeface="Calibri" pitchFamily="34" charset="-120"/>
              </a:rPr>
              <a:t>5. Word Roots -- meanings hidden inside geographic terms</a:t>
            </a:r>
            <a:endParaRPr lang="en-US" sz="1400" dirty="0"/>
          </a:p>
        </p:txBody>
      </p:sp>
      <p:sp>
        <p:nvSpPr>
          <p:cNvPr id="15" name="Text 13"/>
          <p:cNvSpPr/>
          <p:nvPr/>
        </p:nvSpPr>
        <p:spPr>
          <a:xfrm>
            <a:off x="812800" y="8128000"/>
            <a:ext cx="14630400" cy="568960"/>
          </a:xfrm>
          <a:prstGeom prst="rect">
            <a:avLst/>
          </a:prstGeom>
          <a:noFill/>
          <a:ln/>
        </p:spPr>
        <p:txBody>
          <a:bodyPr wrap="square" rtlCol="0" anchor="ctr"/>
          <a:lstStyle/>
          <a:p>
            <a:pPr algn="ctr" indent="0" marL="0">
              <a:buNone/>
            </a:pPr>
            <a:r>
              <a:rPr lang="en-US" sz="1200" i="1" dirty="0">
                <a:solidFill>
                  <a:srgbClr val="D4943A"/>
                </a:solidFill>
                <a:latin typeface="Calibri" pitchFamily="34" charset="0"/>
                <a:ea typeface="Calibri" pitchFamily="34" charset="-122"/>
                <a:cs typeface="Calibri" pitchFamily="34" charset="-120"/>
              </a:rPr>
              <a:t>Think-Pair-Share: Which exhibit is most important for the entrance label? Why?</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812800" y="487680"/>
            <a:ext cx="14630400" cy="812800"/>
          </a:xfrm>
          <a:prstGeom prst="rect">
            <a:avLst/>
          </a:prstGeom>
          <a:noFill/>
          <a:ln/>
        </p:spPr>
        <p:txBody>
          <a:bodyPr wrap="square" rtlCol="0" anchor="ctr"/>
          <a:lstStyle/>
          <a:p>
            <a:pPr indent="0" marL="0">
              <a:buNone/>
            </a:pPr>
            <a:r>
              <a:rPr lang="en-US" sz="2400" b="1" dirty="0">
                <a:solidFill>
                  <a:srgbClr val="0E1C42"/>
                </a:solidFill>
                <a:latin typeface="Cambria" pitchFamily="34" charset="0"/>
                <a:ea typeface="Cambria" pitchFamily="34" charset="-122"/>
                <a:cs typeface="Cambria" pitchFamily="34" charset="-120"/>
              </a:rPr>
              <a:t>Source Study: A Mentor Exhibit</a:t>
            </a:r>
            <a:endParaRPr lang="en-US" sz="2400" dirty="0"/>
          </a:p>
        </p:txBody>
      </p:sp>
      <p:sp>
        <p:nvSpPr>
          <p:cNvPr id="3" name="Shape 1"/>
          <p:cNvSpPr/>
          <p:nvPr/>
        </p:nvSpPr>
        <p:spPr>
          <a:xfrm>
            <a:off x="812800" y="1625600"/>
            <a:ext cx="7315200" cy="5689600"/>
          </a:xfrm>
          <a:prstGeom prst="roundRect">
            <a:avLst>
              <a:gd name="adj" fmla="val 3429"/>
            </a:avLst>
          </a:prstGeom>
          <a:solidFill>
            <a:srgbClr val="E2E8F4"/>
          </a:solidFill>
          <a:ln w="19050">
            <a:solidFill>
              <a:srgbClr val="B0B8CC"/>
            </a:solidFill>
            <a:prstDash val="dash"/>
          </a:ln>
        </p:spPr>
      </p:sp>
      <p:sp>
        <p:nvSpPr>
          <p:cNvPr id="4" name="Text 2"/>
          <p:cNvSpPr/>
          <p:nvPr/>
        </p:nvSpPr>
        <p:spPr>
          <a:xfrm>
            <a:off x="812800" y="1625600"/>
            <a:ext cx="7315200" cy="48768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5" name="Text 3"/>
          <p:cNvSpPr/>
          <p:nvPr/>
        </p:nvSpPr>
        <p:spPr>
          <a:xfrm>
            <a:off x="1056640" y="2113280"/>
            <a:ext cx="6827520" cy="503936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Real photograph of a museum world map exhibit or famous historical world map -- e.g., National Geographic Museum floor map, Mappa Mundi at Hereford Cathedral, or Smithsonian geography display. Save as source-3-05-06-world-map-exhibit.jpg</a:t>
            </a:r>
            <a:endParaRPr lang="en-US" sz="1100" dirty="0"/>
          </a:p>
        </p:txBody>
      </p:sp>
      <p:sp>
        <p:nvSpPr>
          <p:cNvPr id="6" name="Shape 4"/>
          <p:cNvSpPr/>
          <p:nvPr/>
        </p:nvSpPr>
        <p:spPr>
          <a:xfrm>
            <a:off x="8615680" y="1625600"/>
            <a:ext cx="6827520" cy="5689600"/>
          </a:xfrm>
          <a:prstGeom prst="roundRect">
            <a:avLst>
              <a:gd name="adj" fmla="val 3429"/>
            </a:avLst>
          </a:prstGeom>
          <a:solidFill>
            <a:srgbClr val="FFFFFF"/>
          </a:solidFill>
          <a:ln/>
          <a:effectLst>
            <a:outerShdw sx="100000" sy="100000" kx="0" ky="0" algn="bl" rotWithShape="0" blurRad="50800" dist="25400" dir="8100000">
              <a:srgbClr val="000000">
                <a:alpha val="10000"/>
              </a:srgbClr>
            </a:outerShdw>
          </a:effectLst>
        </p:spPr>
      </p:sp>
      <p:sp>
        <p:nvSpPr>
          <p:cNvPr id="7" name="Text 5"/>
          <p:cNvSpPr/>
          <p:nvPr/>
        </p:nvSpPr>
        <p:spPr>
          <a:xfrm>
            <a:off x="8940800" y="1788160"/>
            <a:ext cx="6177280" cy="487680"/>
          </a:xfrm>
          <a:prstGeom prst="rect">
            <a:avLst/>
          </a:prstGeom>
          <a:noFill/>
          <a:ln/>
        </p:spPr>
        <p:txBody>
          <a:bodyPr wrap="square" rtlCol="0" anchor="ctr"/>
          <a:lstStyle/>
          <a:p>
            <a:pPr indent="0" marL="0">
              <a:buNone/>
            </a:pPr>
            <a:r>
              <a:rPr lang="en-US" sz="900" b="1" spc="150" kern="0" dirty="0">
                <a:solidFill>
                  <a:srgbClr val="1A8A7D"/>
                </a:solidFill>
                <a:latin typeface="Calibri" pitchFamily="34" charset="0"/>
                <a:ea typeface="Calibri" pitchFamily="34" charset="-122"/>
                <a:cs typeface="Calibri" pitchFamily="34" charset="-120"/>
              </a:rPr>
              <a:t>QUESTION LIKE A CURATOR</a:t>
            </a:r>
            <a:endParaRPr lang="en-US" sz="900" dirty="0"/>
          </a:p>
        </p:txBody>
      </p:sp>
      <p:sp>
        <p:nvSpPr>
          <p:cNvPr id="8" name="Text 6"/>
          <p:cNvSpPr/>
          <p:nvPr/>
        </p:nvSpPr>
        <p:spPr>
          <a:xfrm>
            <a:off x="8940800" y="2357120"/>
            <a:ext cx="6177280" cy="4551680"/>
          </a:xfrm>
          <a:prstGeom prst="rect">
            <a:avLst/>
          </a:prstGeom>
          <a:noFill/>
          <a:ln/>
        </p:spPr>
        <p:txBody>
          <a:bodyPr wrap="square" rtlCol="0" anchor="t"/>
          <a:lstStyle/>
          <a:p>
            <a:pPr indent="0" marL="0">
              <a:lnSpc>
                <a:spcPct val="115000"/>
              </a:lnSpc>
              <a:buNone/>
            </a:pPr>
            <a:r>
              <a:rPr lang="en-US" sz="1300" b="1" dirty="0">
                <a:solidFill>
                  <a:srgbClr val="0E1C42"/>
                </a:solidFill>
                <a:latin typeface="Calibri" pitchFamily="34" charset="0"/>
                <a:ea typeface="Calibri" pitchFamily="34" charset="-122"/>
                <a:cs typeface="Calibri" pitchFamily="34" charset="-120"/>
              </a:rPr>
              <a:t>What do I see?
</a:t>
            </a:r>
            <a:pPr indent="0" marL="0">
              <a:lnSpc>
                <a:spcPct val="115000"/>
              </a:lnSpc>
              <a:buNone/>
            </a:pPr>
            <a:r>
              <a:rPr lang="en-US" sz="1200" dirty="0">
                <a:solidFill>
                  <a:srgbClr val="0E1C42"/>
                </a:solidFill>
                <a:latin typeface="Calibri" pitchFamily="34" charset="0"/>
                <a:ea typeface="Calibri" pitchFamily="34" charset="-122"/>
                <a:cs typeface="Calibri" pitchFamily="34" charset="-120"/>
              </a:rPr>
              <a:t>What does this exhibit show? What labels or details stand out?
</a:t>
            </a:r>
            <a:pPr indent="0" marL="0">
              <a:lnSpc>
                <a:spcPct val="115000"/>
              </a:lnSpc>
              <a:buNone/>
            </a:pPr>
            <a:r>
              <a:rPr lang="en-US" sz="1300" b="1" dirty="0">
                <a:solidFill>
                  <a:srgbClr val="0E1C42"/>
                </a:solidFill>
                <a:latin typeface="Calibri" pitchFamily="34" charset="0"/>
                <a:ea typeface="Calibri" pitchFamily="34" charset="-122"/>
                <a:cs typeface="Calibri" pitchFamily="34" charset="-120"/>
              </a:rPr>
              <a:t>What does it mean?
</a:t>
            </a:r>
            <a:pPr indent="0" marL="0">
              <a:lnSpc>
                <a:spcPct val="115000"/>
              </a:lnSpc>
              <a:buNone/>
            </a:pPr>
            <a:r>
              <a:rPr lang="en-US" sz="1200" dirty="0">
                <a:solidFill>
                  <a:srgbClr val="0E1C42"/>
                </a:solidFill>
                <a:latin typeface="Calibri" pitchFamily="34" charset="0"/>
                <a:ea typeface="Calibri" pitchFamily="34" charset="-122"/>
                <a:cs typeface="Calibri" pitchFamily="34" charset="-120"/>
              </a:rPr>
              <a:t>If a visitor walked up knowing nothing, what would they learn first?
</a:t>
            </a:r>
            <a:pPr indent="0" marL="0">
              <a:lnSpc>
                <a:spcPct val="115000"/>
              </a:lnSpc>
              <a:buNone/>
            </a:pPr>
            <a:r>
              <a:rPr lang="en-US" sz="1300" b="1" dirty="0">
                <a:solidFill>
                  <a:srgbClr val="0E1C42"/>
                </a:solidFill>
                <a:latin typeface="Calibri" pitchFamily="34" charset="0"/>
                <a:ea typeface="Calibri" pitchFamily="34" charset="-122"/>
                <a:cs typeface="Calibri" pitchFamily="34" charset="-120"/>
              </a:rPr>
              <a:t>Why does it matter?
</a:t>
            </a:r>
            <a:pPr indent="0" marL="0">
              <a:lnSpc>
                <a:spcPct val="115000"/>
              </a:lnSpc>
              <a:buNone/>
            </a:pPr>
            <a:r>
              <a:rPr lang="en-US" sz="1200" dirty="0">
                <a:solidFill>
                  <a:srgbClr val="0E1C42"/>
                </a:solidFill>
                <a:latin typeface="Calibri" pitchFamily="34" charset="0"/>
                <a:ea typeface="Calibri" pitchFamily="34" charset="-122"/>
                <a:cs typeface="Calibri" pitchFamily="34" charset="-120"/>
              </a:rPr>
              <a:t>What does a great world map exhibit do that your World Map Hall should also do?</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812800" y="487680"/>
            <a:ext cx="14630400" cy="812800"/>
          </a:xfrm>
          <a:prstGeom prst="rect">
            <a:avLst/>
          </a:prstGeom>
          <a:noFill/>
          <a:ln/>
        </p:spPr>
        <p:txBody>
          <a:bodyPr wrap="square" rtlCol="0" anchor="ctr"/>
          <a:lstStyle/>
          <a:p>
            <a:pPr indent="0" marL="0">
              <a:buNone/>
            </a:pPr>
            <a:r>
              <a:rPr lang="en-US" sz="2600" b="1" dirty="0">
                <a:solidFill>
                  <a:srgbClr val="0E1C42"/>
                </a:solidFill>
                <a:latin typeface="Cambria" pitchFamily="34" charset="0"/>
                <a:ea typeface="Cambria" pitchFamily="34" charset="-122"/>
                <a:cs typeface="Cambria" pitchFamily="34" charset="-120"/>
              </a:rPr>
              <a:t>Then and Now</a:t>
            </a:r>
            <a:endParaRPr lang="en-US" sz="2600" dirty="0"/>
          </a:p>
        </p:txBody>
      </p:sp>
      <p:sp>
        <p:nvSpPr>
          <p:cNvPr id="3" name="Shape 1"/>
          <p:cNvSpPr/>
          <p:nvPr/>
        </p:nvSpPr>
        <p:spPr>
          <a:xfrm>
            <a:off x="812800" y="1625600"/>
            <a:ext cx="14630400" cy="2926080"/>
          </a:xfrm>
          <a:prstGeom prst="roundRect">
            <a:avLst>
              <a:gd name="adj" fmla="val 8333"/>
            </a:avLst>
          </a:prstGeom>
          <a:solidFill>
            <a:srgbClr val="FFF8F0"/>
          </a:solidFill>
          <a:ln/>
        </p:spPr>
      </p:sp>
      <p:sp>
        <p:nvSpPr>
          <p:cNvPr id="4" name="Text 2"/>
          <p:cNvSpPr/>
          <p:nvPr/>
        </p:nvSpPr>
        <p:spPr>
          <a:xfrm>
            <a:off x="1300480" y="1788160"/>
            <a:ext cx="13655040" cy="2600960"/>
          </a:xfrm>
          <a:prstGeom prst="rect">
            <a:avLst/>
          </a:prstGeom>
          <a:noFill/>
          <a:ln/>
        </p:spPr>
        <p:txBody>
          <a:bodyPr wrap="square" rtlCol="0" anchor="ctr"/>
          <a:lstStyle/>
          <a:p>
            <a:pPr algn="ctr" indent="0" marL="0">
              <a:lnSpc>
                <a:spcPct val="125000"/>
              </a:lnSpc>
              <a:buNone/>
            </a:pPr>
            <a:r>
              <a:rPr lang="en-US" sz="1500" dirty="0">
                <a:solidFill>
                  <a:srgbClr val="0E1C42"/>
                </a:solidFill>
                <a:latin typeface="Calibri" pitchFamily="34" charset="0"/>
                <a:ea typeface="Calibri" pitchFamily="34" charset="-122"/>
                <a:cs typeface="Calibri" pitchFamily="34" charset="-120"/>
              </a:rPr>
              <a:t>The first world maps were drawn by hand and only showed the parts of the world people had visited. Today, satellites photograph the entire planet.</a:t>
            </a:r>
            <a:endParaRPr lang="en-US" sz="1500" dirty="0"/>
          </a:p>
          <a:p>
            <a:pPr algn="ctr" indent="0" marL="0">
              <a:lnSpc>
                <a:spcPct val="125000"/>
              </a:lnSpc>
              <a:buNone/>
            </a:pPr>
            <a:endParaRPr lang="en-US" sz="1500" dirty="0"/>
          </a:p>
          <a:p>
            <a:pPr algn="ctr" indent="0" marL="0">
              <a:lnSpc>
                <a:spcPct val="125000"/>
              </a:lnSpc>
              <a:buNone/>
            </a:pPr>
            <a:r>
              <a:rPr lang="en-US" sz="1500" dirty="0">
                <a:solidFill>
                  <a:srgbClr val="0E1C42"/>
                </a:solidFill>
                <a:latin typeface="Calibri" pitchFamily="34" charset="0"/>
                <a:ea typeface="Calibri" pitchFamily="34" charset="-122"/>
                <a:cs typeface="Calibri" pitchFamily="34" charset="-120"/>
              </a:rPr>
              <a:t>But the need to label, explain, and help others understand the world hasn't changed at all.</a:t>
            </a:r>
            <a:endParaRPr lang="en-US" sz="1500" dirty="0"/>
          </a:p>
        </p:txBody>
      </p:sp>
      <p:sp>
        <p:nvSpPr>
          <p:cNvPr id="5" name="Shape 3"/>
          <p:cNvSpPr/>
          <p:nvPr/>
        </p:nvSpPr>
        <p:spPr>
          <a:xfrm>
            <a:off x="2438400" y="5201920"/>
            <a:ext cx="11379200" cy="2113280"/>
          </a:xfrm>
          <a:prstGeom prst="roundRect">
            <a:avLst>
              <a:gd name="adj" fmla="val 9231"/>
            </a:avLst>
          </a:prstGeom>
          <a:solidFill>
            <a:srgbClr val="FFF3DC"/>
          </a:solidFill>
          <a:ln/>
        </p:spPr>
      </p:sp>
      <p:sp>
        <p:nvSpPr>
          <p:cNvPr id="6" name="Text 4"/>
          <p:cNvSpPr/>
          <p:nvPr/>
        </p:nvSpPr>
        <p:spPr>
          <a:xfrm>
            <a:off x="2763520" y="5364480"/>
            <a:ext cx="10728960" cy="406400"/>
          </a:xfrm>
          <a:prstGeom prst="rect">
            <a:avLst/>
          </a:prstGeom>
          <a:noFill/>
          <a:ln/>
        </p:spPr>
        <p:txBody>
          <a:bodyPr wrap="square"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OPTI SAYS...</a:t>
            </a:r>
            <a:endParaRPr lang="en-US" sz="900" dirty="0"/>
          </a:p>
        </p:txBody>
      </p:sp>
      <p:sp>
        <p:nvSpPr>
          <p:cNvPr id="7" name="Text 5"/>
          <p:cNvSpPr/>
          <p:nvPr/>
        </p:nvSpPr>
        <p:spPr>
          <a:xfrm>
            <a:off x="2763520" y="5852160"/>
            <a:ext cx="10728960" cy="1300480"/>
          </a:xfrm>
          <a:prstGeom prst="rect">
            <a:avLst/>
          </a:prstGeom>
          <a:noFill/>
          <a:ln/>
        </p:spPr>
        <p:txBody>
          <a:bodyPr wrap="square" rtlCol="0" anchor="ctr"/>
          <a:lstStyle/>
          <a:p>
            <a:pPr algn="ctr" indent="0" marL="0">
              <a:buNone/>
            </a:pPr>
            <a:r>
              <a:rPr lang="en-US" sz="1400" i="1" dirty="0">
                <a:solidFill>
                  <a:srgbClr val="0E1C42"/>
                </a:solidFill>
                <a:latin typeface="Calibri" pitchFamily="34" charset="0"/>
                <a:ea typeface="Calibri" pitchFamily="34" charset="-122"/>
                <a:cs typeface="Calibri" pitchFamily="34" charset="-120"/>
              </a:rPr>
              <a:t>The Pacific Ocean is so big that it covers more area than all the land on Earth put together! Imagine writing that on a museum label -- visitors would stop in their tracks.</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812800" y="487680"/>
            <a:ext cx="14630400" cy="812800"/>
          </a:xfrm>
          <a:prstGeom prst="rect">
            <a:avLst/>
          </a:prstGeom>
          <a:noFill/>
          <a:ln/>
        </p:spPr>
        <p:txBody>
          <a:bodyPr wrap="square" rtlCol="0" anchor="ctr"/>
          <a:lstStyle/>
          <a:p>
            <a:pPr indent="0" marL="0">
              <a:buNone/>
            </a:pPr>
            <a:r>
              <a:rPr lang="en-US" sz="2600" b="1" dirty="0">
                <a:solidFill>
                  <a:srgbClr val="0E1C42"/>
                </a:solidFill>
                <a:latin typeface="Cambria" pitchFamily="34" charset="0"/>
                <a:ea typeface="Cambria" pitchFamily="34" charset="-122"/>
                <a:cs typeface="Cambria" pitchFamily="34" charset="-120"/>
              </a:rPr>
              <a:t>Why This Label Matters</a:t>
            </a:r>
            <a:endParaRPr lang="en-US" sz="2600" dirty="0"/>
          </a:p>
        </p:txBody>
      </p:sp>
      <p:sp>
        <p:nvSpPr>
          <p:cNvPr id="3" name="Text 1"/>
          <p:cNvSpPr/>
          <p:nvPr/>
        </p:nvSpPr>
        <p:spPr>
          <a:xfrm>
            <a:off x="812800" y="1381760"/>
            <a:ext cx="2438400" cy="487680"/>
          </a:xfrm>
          <a:prstGeom prst="rect">
            <a:avLst/>
          </a:prstGeom>
          <a:noFill/>
          <a:ln/>
        </p:spPr>
        <p:txBody>
          <a:bodyPr wrap="square" rtlCol="0" anchor="ctr"/>
          <a:lstStyle/>
          <a:p>
            <a:pPr indent="0" marL="0">
              <a:buNone/>
            </a:pPr>
            <a:r>
              <a:rPr lang="en-US" sz="1000" b="1" spc="150" kern="0" dirty="0">
                <a:solidFill>
                  <a:srgbClr val="1A8A7D"/>
                </a:solidFill>
                <a:latin typeface="Calibri" pitchFamily="34" charset="0"/>
                <a:ea typeface="Calibri" pitchFamily="34" charset="-122"/>
                <a:cs typeface="Calibri" pitchFamily="34" charset="-120"/>
              </a:rPr>
              <a:t>EXPLAIN</a:t>
            </a:r>
            <a:endParaRPr lang="en-US" sz="1000" dirty="0"/>
          </a:p>
        </p:txBody>
      </p:sp>
      <p:sp>
        <p:nvSpPr>
          <p:cNvPr id="4" name="Shape 2"/>
          <p:cNvSpPr/>
          <p:nvPr/>
        </p:nvSpPr>
        <p:spPr>
          <a:xfrm>
            <a:off x="812800" y="1950720"/>
            <a:ext cx="14630400" cy="2926080"/>
          </a:xfrm>
          <a:prstGeom prst="roundRect">
            <a:avLst>
              <a:gd name="adj" fmla="val 8333"/>
            </a:avLst>
          </a:prstGeom>
          <a:solidFill>
            <a:srgbClr val="FFFFFF"/>
          </a:solidFill>
          <a:ln/>
          <a:effectLst>
            <a:outerShdw sx="100000" sy="100000" kx="0" ky="0" algn="bl" rotWithShape="0" blurRad="76200" dist="25400" dir="8100000">
              <a:srgbClr val="000000">
                <a:alpha val="12000"/>
              </a:srgbClr>
            </a:outerShdw>
          </a:effectLst>
        </p:spPr>
      </p:sp>
      <p:sp>
        <p:nvSpPr>
          <p:cNvPr id="5" name="Text 3"/>
          <p:cNvSpPr/>
          <p:nvPr/>
        </p:nvSpPr>
        <p:spPr>
          <a:xfrm>
            <a:off x="1137920" y="2113280"/>
            <a:ext cx="13980160" cy="487680"/>
          </a:xfrm>
          <a:prstGeom prst="rect">
            <a:avLst/>
          </a:prstGeom>
          <a:noFill/>
          <a:ln/>
        </p:spPr>
        <p:txBody>
          <a:bodyPr wrap="square" rtlCol="0" anchor="ctr"/>
          <a:lstStyle/>
          <a:p>
            <a:pPr indent="0" marL="0">
              <a:buNone/>
            </a:pPr>
            <a:r>
              <a:rPr lang="en-US" sz="900" b="1" spc="150" kern="0" dirty="0">
                <a:solidFill>
                  <a:srgbClr val="1A8A7D"/>
                </a:solidFill>
                <a:latin typeface="Calibri" pitchFamily="34" charset="0"/>
                <a:ea typeface="Calibri" pitchFamily="34" charset="-122"/>
                <a:cs typeface="Calibri" pitchFamily="34" charset="-120"/>
              </a:rPr>
              <a:t>EXHIBIT LABEL</a:t>
            </a:r>
            <a:endParaRPr lang="en-US" sz="900" dirty="0"/>
          </a:p>
        </p:txBody>
      </p:sp>
      <p:sp>
        <p:nvSpPr>
          <p:cNvPr id="6" name="Text 4"/>
          <p:cNvSpPr/>
          <p:nvPr/>
        </p:nvSpPr>
        <p:spPr>
          <a:xfrm>
            <a:off x="1137920" y="2763520"/>
            <a:ext cx="13980160" cy="1625600"/>
          </a:xfrm>
          <a:prstGeom prst="rect">
            <a:avLst/>
          </a:prstGeom>
          <a:noFill/>
          <a:ln/>
        </p:spPr>
        <p:txBody>
          <a:bodyPr wrap="square" rtlCol="0" anchor="ctr"/>
          <a:lstStyle/>
          <a:p>
            <a:pPr algn="ctr" indent="0" marL="0">
              <a:lnSpc>
                <a:spcPct val="120000"/>
              </a:lnSpc>
              <a:buNone/>
            </a:pPr>
            <a:r>
              <a:rPr lang="en-US" sz="1700" b="1" dirty="0">
                <a:solidFill>
                  <a:srgbClr val="0E1C42"/>
                </a:solidFill>
                <a:latin typeface="Cambria" pitchFamily="34" charset="0"/>
                <a:ea typeface="Cambria" pitchFamily="34" charset="-122"/>
                <a:cs typeface="Cambria" pitchFamily="34" charset="-120"/>
              </a:rPr>
              <a:t>The World Map Hall teaches visitors about Earth's continents, oceans, landforms, climate, location, and the roots of geographic terms. A clear explanation label ties it all together.</a:t>
            </a:r>
            <a:endParaRPr lang="en-US" sz="1700" dirty="0"/>
          </a:p>
        </p:txBody>
      </p:sp>
      <p:sp>
        <p:nvSpPr>
          <p:cNvPr id="7" name="Shape 5"/>
          <p:cNvSpPr/>
          <p:nvPr/>
        </p:nvSpPr>
        <p:spPr>
          <a:xfrm>
            <a:off x="812800" y="5364480"/>
            <a:ext cx="14630400" cy="2438400"/>
          </a:xfrm>
          <a:prstGeom prst="roundRect">
            <a:avLst>
              <a:gd name="adj" fmla="val 10000"/>
            </a:avLst>
          </a:prstGeom>
          <a:solidFill>
            <a:srgbClr val="1A2D5A"/>
          </a:solidFill>
          <a:ln/>
          <a:effectLst>
            <a:outerShdw sx="100000" sy="100000" kx="0" ky="0" algn="bl" rotWithShape="0" blurRad="101600" dist="38100" dir="8100000">
              <a:srgbClr val="000000">
                <a:alpha val="20000"/>
              </a:srgbClr>
            </a:outerShdw>
          </a:effectLst>
        </p:spPr>
      </p:sp>
      <p:sp>
        <p:nvSpPr>
          <p:cNvPr id="8" name="Text 6"/>
          <p:cNvSpPr/>
          <p:nvPr/>
        </p:nvSpPr>
        <p:spPr>
          <a:xfrm>
            <a:off x="1137920" y="5527040"/>
            <a:ext cx="13980160" cy="455168"/>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9" name="Text 7"/>
          <p:cNvSpPr/>
          <p:nvPr/>
        </p:nvSpPr>
        <p:spPr>
          <a:xfrm>
            <a:off x="1137920" y="5982208"/>
            <a:ext cx="13980160" cy="1658112"/>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should the very first sentence of the entrance label say?</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How can you be courteous to visitors who know nothing about geography?</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details from the 5 exhibits should you include?</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812800" y="487680"/>
            <a:ext cx="14630400" cy="812800"/>
          </a:xfrm>
          <a:prstGeom prst="rect">
            <a:avLst/>
          </a:prstGeom>
          <a:noFill/>
          <a:ln/>
        </p:spPr>
        <p:txBody>
          <a:bodyPr wrap="square" rtlCol="0" anchor="ctr"/>
          <a:lstStyle/>
          <a:p>
            <a:pPr indent="0" marL="0">
              <a:buNone/>
            </a:pPr>
            <a:r>
              <a:rPr lang="en-US" sz="2600" b="1" dirty="0">
                <a:solidFill>
                  <a:srgbClr val="0E1C42"/>
                </a:solidFill>
                <a:latin typeface="Cambria" pitchFamily="34" charset="0"/>
                <a:ea typeface="Cambria" pitchFamily="34" charset="-122"/>
                <a:cs typeface="Cambria" pitchFamily="34" charset="-120"/>
              </a:rPr>
              <a:t>Unit Self-Check</a:t>
            </a:r>
            <a:endParaRPr lang="en-US" sz="2600" dirty="0"/>
          </a:p>
        </p:txBody>
      </p:sp>
      <p:sp>
        <p:nvSpPr>
          <p:cNvPr id="3" name="Text 1"/>
          <p:cNvSpPr/>
          <p:nvPr/>
        </p:nvSpPr>
        <p:spPr>
          <a:xfrm>
            <a:off x="812800" y="1300480"/>
            <a:ext cx="14630400" cy="487680"/>
          </a:xfrm>
          <a:prstGeom prst="rect">
            <a:avLst/>
          </a:prstGeom>
          <a:noFill/>
          <a:ln/>
        </p:spPr>
        <p:txBody>
          <a:bodyPr wrap="square" rtlCol="0" anchor="ctr"/>
          <a:lstStyle/>
          <a:p>
            <a:pPr indent="0" marL="0">
              <a:buNone/>
            </a:pPr>
            <a:r>
              <a:rPr lang="en-US" sz="1200" i="1" dirty="0">
                <a:solidFill>
                  <a:srgbClr val="7A88A8"/>
                </a:solidFill>
                <a:latin typeface="Calibri" pitchFamily="34" charset="0"/>
                <a:ea typeface="Calibri" pitchFamily="34" charset="-122"/>
                <a:cs typeface="Calibri" pitchFamily="34" charset="-120"/>
              </a:rPr>
              <a:t>Not graded -- covers the whole unit!</a:t>
            </a:r>
            <a:endParaRPr lang="en-US" sz="1200" dirty="0"/>
          </a:p>
        </p:txBody>
      </p:sp>
      <p:sp>
        <p:nvSpPr>
          <p:cNvPr id="4" name="Shape 2"/>
          <p:cNvSpPr/>
          <p:nvPr/>
        </p:nvSpPr>
        <p:spPr>
          <a:xfrm>
            <a:off x="812800" y="1869440"/>
            <a:ext cx="14630400" cy="1869440"/>
          </a:xfrm>
          <a:prstGeom prst="roundRect">
            <a:avLst>
              <a:gd name="adj" fmla="val 8696"/>
            </a:avLst>
          </a:prstGeom>
          <a:solidFill>
            <a:srgbClr val="FFFFFF"/>
          </a:solidFill>
          <a:ln/>
          <a:effectLst>
            <a:outerShdw sx="100000" sy="100000" kx="0" ky="0" algn="bl" rotWithShape="0" blurRad="50800" dist="25400" dir="8100000">
              <a:srgbClr val="000000">
                <a:alpha val="10000"/>
              </a:srgbClr>
            </a:outerShdw>
          </a:effectLst>
        </p:spPr>
      </p:sp>
      <p:sp>
        <p:nvSpPr>
          <p:cNvPr id="5" name="Shape 3"/>
          <p:cNvSpPr/>
          <p:nvPr/>
        </p:nvSpPr>
        <p:spPr>
          <a:xfrm>
            <a:off x="1056640" y="1950720"/>
            <a:ext cx="650240" cy="650240"/>
          </a:xfrm>
          <a:prstGeom prst="ellipse">
            <a:avLst/>
          </a:prstGeom>
          <a:solidFill>
            <a:srgbClr val="1A8A7D"/>
          </a:solidFill>
          <a:ln/>
        </p:spPr>
      </p:sp>
      <p:sp>
        <p:nvSpPr>
          <p:cNvPr id="6" name="Text 4"/>
          <p:cNvSpPr/>
          <p:nvPr/>
        </p:nvSpPr>
        <p:spPr>
          <a:xfrm>
            <a:off x="1056640" y="1950720"/>
            <a:ext cx="650240" cy="65024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p:nvPr/>
        </p:nvSpPr>
        <p:spPr>
          <a:xfrm>
            <a:off x="1950720" y="1950720"/>
            <a:ext cx="8940800" cy="568960"/>
          </a:xfrm>
          <a:prstGeom prst="rect">
            <a:avLst/>
          </a:prstGeom>
          <a:noFill/>
          <a:ln/>
        </p:spPr>
        <p:txBody>
          <a:bodyPr wrap="square"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How many continents are there on Earth?</a:t>
            </a:r>
            <a:endParaRPr lang="en-US" sz="1300" dirty="0"/>
          </a:p>
        </p:txBody>
      </p:sp>
      <p:sp>
        <p:nvSpPr>
          <p:cNvPr id="8" name="Text 6"/>
          <p:cNvSpPr/>
          <p:nvPr/>
        </p:nvSpPr>
        <p:spPr>
          <a:xfrm>
            <a:off x="11379200" y="1950720"/>
            <a:ext cx="3738880" cy="568960"/>
          </a:xfrm>
          <a:prstGeom prst="rect">
            <a:avLst/>
          </a:prstGeom>
          <a:noFill/>
          <a:ln/>
        </p:spPr>
        <p:txBody>
          <a:bodyPr wrap="square" rtlCol="0" anchor="ctr"/>
          <a:lstStyle/>
          <a:p>
            <a:pPr indent="0" marL="0">
              <a:buNone/>
            </a:pPr>
            <a:r>
              <a:rPr lang="en-US" sz="1200" i="1" dirty="0">
                <a:solidFill>
                  <a:srgbClr val="34B76F"/>
                </a:solidFill>
                <a:latin typeface="Calibri" pitchFamily="34" charset="0"/>
                <a:ea typeface="Calibri" pitchFamily="34" charset="-122"/>
                <a:cs typeface="Calibri" pitchFamily="34" charset="-120"/>
              </a:rPr>
              <a:t>Answer: 7</a:t>
            </a:r>
            <a:endParaRPr lang="en-US" sz="1200" dirty="0"/>
          </a:p>
        </p:txBody>
      </p:sp>
      <p:sp>
        <p:nvSpPr>
          <p:cNvPr id="9" name="Shape 7"/>
          <p:cNvSpPr/>
          <p:nvPr/>
        </p:nvSpPr>
        <p:spPr>
          <a:xfrm>
            <a:off x="812800" y="3982720"/>
            <a:ext cx="14630400" cy="1869440"/>
          </a:xfrm>
          <a:prstGeom prst="roundRect">
            <a:avLst>
              <a:gd name="adj" fmla="val 8696"/>
            </a:avLst>
          </a:prstGeom>
          <a:solidFill>
            <a:srgbClr val="FFFFFF"/>
          </a:solidFill>
          <a:ln/>
          <a:effectLst>
            <a:outerShdw sx="100000" sy="100000" kx="0" ky="0" algn="bl" rotWithShape="0" blurRad="50800" dist="25400" dir="8100000">
              <a:srgbClr val="000000">
                <a:alpha val="10000"/>
              </a:srgbClr>
            </a:outerShdw>
          </a:effectLst>
        </p:spPr>
      </p:sp>
      <p:sp>
        <p:nvSpPr>
          <p:cNvPr id="10" name="Shape 8"/>
          <p:cNvSpPr/>
          <p:nvPr/>
        </p:nvSpPr>
        <p:spPr>
          <a:xfrm>
            <a:off x="1056640" y="4064000"/>
            <a:ext cx="650240" cy="650240"/>
          </a:xfrm>
          <a:prstGeom prst="ellipse">
            <a:avLst/>
          </a:prstGeom>
          <a:solidFill>
            <a:srgbClr val="1A8A7D"/>
          </a:solidFill>
          <a:ln/>
        </p:spPr>
      </p:sp>
      <p:sp>
        <p:nvSpPr>
          <p:cNvPr id="11" name="Text 9"/>
          <p:cNvSpPr/>
          <p:nvPr/>
        </p:nvSpPr>
        <p:spPr>
          <a:xfrm>
            <a:off x="1056640" y="4064000"/>
            <a:ext cx="650240" cy="65024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10"/>
          <p:cNvSpPr/>
          <p:nvPr/>
        </p:nvSpPr>
        <p:spPr>
          <a:xfrm>
            <a:off x="1950720" y="4064000"/>
            <a:ext cx="12192000" cy="568960"/>
          </a:xfrm>
          <a:prstGeom prst="rect">
            <a:avLst/>
          </a:prstGeom>
          <a:noFill/>
          <a:ln/>
        </p:spPr>
        <p:txBody>
          <a:bodyPr wrap="square"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Which of these is a landform?  A. Mountain  B. Atlantic Ocean  C. Climate</a:t>
            </a:r>
            <a:endParaRPr lang="en-US" sz="1300" dirty="0"/>
          </a:p>
        </p:txBody>
      </p:sp>
      <p:sp>
        <p:nvSpPr>
          <p:cNvPr id="13" name="Text 11"/>
          <p:cNvSpPr/>
          <p:nvPr/>
        </p:nvSpPr>
        <p:spPr>
          <a:xfrm>
            <a:off x="1950720" y="4795520"/>
            <a:ext cx="13004800" cy="568960"/>
          </a:xfrm>
          <a:prstGeom prst="rect">
            <a:avLst/>
          </a:prstGeom>
          <a:noFill/>
          <a:ln/>
        </p:spPr>
        <p:txBody>
          <a:bodyPr wrap="square" rtlCol="0" anchor="ctr"/>
          <a:lstStyle/>
          <a:p>
            <a:pPr indent="0" marL="0">
              <a:buNone/>
            </a:pPr>
            <a:r>
              <a:rPr lang="en-US" sz="1200" i="1" dirty="0">
                <a:solidFill>
                  <a:srgbClr val="34B76F"/>
                </a:solidFill>
                <a:latin typeface="Calibri" pitchFamily="34" charset="0"/>
                <a:ea typeface="Calibri" pitchFamily="34" charset="-122"/>
                <a:cs typeface="Calibri" pitchFamily="34" charset="-120"/>
              </a:rPr>
              <a:t>Answer: A -- Mountain</a:t>
            </a:r>
            <a:endParaRPr lang="en-US" sz="1200" dirty="0"/>
          </a:p>
        </p:txBody>
      </p:sp>
      <p:sp>
        <p:nvSpPr>
          <p:cNvPr id="14" name="Shape 12"/>
          <p:cNvSpPr/>
          <p:nvPr/>
        </p:nvSpPr>
        <p:spPr>
          <a:xfrm>
            <a:off x="812800" y="6096000"/>
            <a:ext cx="14630400" cy="2194560"/>
          </a:xfrm>
          <a:prstGeom prst="roundRect">
            <a:avLst>
              <a:gd name="adj" fmla="val 7407"/>
            </a:avLst>
          </a:prstGeom>
          <a:solidFill>
            <a:srgbClr val="FFFFFF"/>
          </a:solidFill>
          <a:ln/>
          <a:effectLst>
            <a:outerShdw sx="100000" sy="100000" kx="0" ky="0" algn="bl" rotWithShape="0" blurRad="50800" dist="25400" dir="8100000">
              <a:srgbClr val="000000">
                <a:alpha val="10000"/>
              </a:srgbClr>
            </a:outerShdw>
          </a:effectLst>
        </p:spPr>
      </p:sp>
      <p:sp>
        <p:nvSpPr>
          <p:cNvPr id="15" name="Shape 13"/>
          <p:cNvSpPr/>
          <p:nvPr/>
        </p:nvSpPr>
        <p:spPr>
          <a:xfrm>
            <a:off x="1056640" y="6177280"/>
            <a:ext cx="650240" cy="650240"/>
          </a:xfrm>
          <a:prstGeom prst="ellipse">
            <a:avLst/>
          </a:prstGeom>
          <a:solidFill>
            <a:srgbClr val="1A8A7D"/>
          </a:solidFill>
          <a:ln/>
        </p:spPr>
      </p:sp>
      <p:sp>
        <p:nvSpPr>
          <p:cNvPr id="16" name="Text 14"/>
          <p:cNvSpPr/>
          <p:nvPr/>
        </p:nvSpPr>
        <p:spPr>
          <a:xfrm>
            <a:off x="1056640" y="6177280"/>
            <a:ext cx="650240" cy="65024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7" name="Text 15"/>
          <p:cNvSpPr/>
          <p:nvPr/>
        </p:nvSpPr>
        <p:spPr>
          <a:xfrm>
            <a:off x="1950720" y="6177280"/>
            <a:ext cx="12192000" cy="568960"/>
          </a:xfrm>
          <a:prstGeom prst="rect">
            <a:avLst/>
          </a:prstGeom>
          <a:noFill/>
          <a:ln/>
        </p:spPr>
        <p:txBody>
          <a:bodyPr wrap="square"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What does climate affect in a region?</a:t>
            </a:r>
            <a:endParaRPr lang="en-US" sz="1300" dirty="0"/>
          </a:p>
        </p:txBody>
      </p:sp>
      <p:sp>
        <p:nvSpPr>
          <p:cNvPr id="18" name="Text 16"/>
          <p:cNvSpPr/>
          <p:nvPr/>
        </p:nvSpPr>
        <p:spPr>
          <a:xfrm>
            <a:off x="1950720" y="6827520"/>
            <a:ext cx="13004800" cy="568960"/>
          </a:xfrm>
          <a:prstGeom prst="rect">
            <a:avLst/>
          </a:prstGeom>
          <a:noFill/>
          <a:ln/>
        </p:spPr>
        <p:txBody>
          <a:bodyPr wrap="square" rtlCol="0" anchor="ctr"/>
          <a:lstStyle/>
          <a:p>
            <a:pPr indent="0" marL="0">
              <a:buNone/>
            </a:pPr>
            <a:r>
              <a:rPr lang="en-US" sz="1200" dirty="0">
                <a:solidFill>
                  <a:srgbClr val="0E1C42"/>
                </a:solidFill>
                <a:latin typeface="Calibri" pitchFamily="34" charset="0"/>
                <a:ea typeface="Calibri" pitchFamily="34" charset="-122"/>
                <a:cs typeface="Calibri" pitchFamily="34" charset="-120"/>
              </a:rPr>
              <a:t>A. The continent's name  B. What can grow and what resources are available  C. The map's color</a:t>
            </a:r>
            <a:endParaRPr lang="en-US" sz="1200" dirty="0"/>
          </a:p>
        </p:txBody>
      </p:sp>
      <p:sp>
        <p:nvSpPr>
          <p:cNvPr id="19" name="Text 17"/>
          <p:cNvSpPr/>
          <p:nvPr/>
        </p:nvSpPr>
        <p:spPr>
          <a:xfrm>
            <a:off x="1950720" y="7477760"/>
            <a:ext cx="13004800" cy="568960"/>
          </a:xfrm>
          <a:prstGeom prst="rect">
            <a:avLst/>
          </a:prstGeom>
          <a:noFill/>
          <a:ln/>
        </p:spPr>
        <p:txBody>
          <a:bodyPr wrap="square" rtlCol="0" anchor="ctr"/>
          <a:lstStyle/>
          <a:p>
            <a:pPr indent="0" marL="0">
              <a:buNone/>
            </a:pPr>
            <a:r>
              <a:rPr lang="en-US" sz="1200" i="1" dirty="0">
                <a:solidFill>
                  <a:srgbClr val="34B76F"/>
                </a:solidFill>
                <a:latin typeface="Calibri" pitchFamily="34" charset="0"/>
                <a:ea typeface="Calibri" pitchFamily="34" charset="-122"/>
                <a:cs typeface="Calibri" pitchFamily="34" charset="-120"/>
              </a:rPr>
              <a:t>Answer: B -- Climate determines what grows, which determines resources.</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812800" y="487680"/>
            <a:ext cx="14630400" cy="812800"/>
          </a:xfrm>
          <a:prstGeom prst="rect">
            <a:avLst/>
          </a:prstGeom>
          <a:noFill/>
          <a:ln/>
        </p:spPr>
        <p:txBody>
          <a:bodyPr wrap="square" rtlCol="0" anchor="ctr"/>
          <a:lstStyle/>
          <a:p>
            <a:pPr indent="0" marL="0">
              <a:buNone/>
            </a:pPr>
            <a:r>
              <a:rPr lang="en-US" sz="2600" b="1" dirty="0">
                <a:solidFill>
                  <a:srgbClr val="0E1C42"/>
                </a:solidFill>
                <a:latin typeface="Cambria" pitchFamily="34" charset="0"/>
                <a:ea typeface="Cambria" pitchFamily="34" charset="-122"/>
                <a:cs typeface="Cambria" pitchFamily="34" charset="-120"/>
              </a:rPr>
              <a:t>Unit Self-Check (continued)</a:t>
            </a:r>
            <a:endParaRPr lang="en-US" sz="2600" dirty="0"/>
          </a:p>
        </p:txBody>
      </p:sp>
      <p:sp>
        <p:nvSpPr>
          <p:cNvPr id="3" name="Shape 1"/>
          <p:cNvSpPr/>
          <p:nvPr/>
        </p:nvSpPr>
        <p:spPr>
          <a:xfrm>
            <a:off x="812800" y="1625600"/>
            <a:ext cx="14630400" cy="2600960"/>
          </a:xfrm>
          <a:prstGeom prst="roundRect">
            <a:avLst>
              <a:gd name="adj" fmla="val 6250"/>
            </a:avLst>
          </a:prstGeom>
          <a:solidFill>
            <a:srgbClr val="FFFFFF"/>
          </a:solidFill>
          <a:ln/>
          <a:effectLst>
            <a:outerShdw sx="100000" sy="100000" kx="0" ky="0" algn="bl" rotWithShape="0" blurRad="50800" dist="25400" dir="8100000">
              <a:srgbClr val="000000">
                <a:alpha val="10000"/>
              </a:srgbClr>
            </a:outerShdw>
          </a:effectLst>
        </p:spPr>
      </p:sp>
      <p:sp>
        <p:nvSpPr>
          <p:cNvPr id="4" name="Shape 2"/>
          <p:cNvSpPr/>
          <p:nvPr/>
        </p:nvSpPr>
        <p:spPr>
          <a:xfrm>
            <a:off x="1056640" y="1788160"/>
            <a:ext cx="650240" cy="650240"/>
          </a:xfrm>
          <a:prstGeom prst="ellipse">
            <a:avLst/>
          </a:prstGeom>
          <a:solidFill>
            <a:srgbClr val="1A8A7D"/>
          </a:solidFill>
          <a:ln/>
        </p:spPr>
      </p:sp>
      <p:sp>
        <p:nvSpPr>
          <p:cNvPr id="5" name="Text 3"/>
          <p:cNvSpPr/>
          <p:nvPr/>
        </p:nvSpPr>
        <p:spPr>
          <a:xfrm>
            <a:off x="1056640" y="1788160"/>
            <a:ext cx="650240" cy="65024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6" name="Text 4"/>
          <p:cNvSpPr/>
          <p:nvPr/>
        </p:nvSpPr>
        <p:spPr>
          <a:xfrm>
            <a:off x="1950720" y="1788160"/>
            <a:ext cx="12192000" cy="568960"/>
          </a:xfrm>
          <a:prstGeom prst="rect">
            <a:avLst/>
          </a:prstGeom>
          <a:noFill/>
          <a:ln/>
        </p:spPr>
        <p:txBody>
          <a:bodyPr wrap="square"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"South of the Great Lakes" is an example of what kind of location?</a:t>
            </a:r>
            <a:endParaRPr lang="en-US" sz="1300" dirty="0"/>
          </a:p>
        </p:txBody>
      </p:sp>
      <p:sp>
        <p:nvSpPr>
          <p:cNvPr id="7" name="Text 5"/>
          <p:cNvSpPr/>
          <p:nvPr/>
        </p:nvSpPr>
        <p:spPr>
          <a:xfrm>
            <a:off x="1950720" y="2519680"/>
            <a:ext cx="13004800" cy="568960"/>
          </a:xfrm>
          <a:prstGeom prst="rect">
            <a:avLst/>
          </a:prstGeom>
          <a:noFill/>
          <a:ln/>
        </p:spPr>
        <p:txBody>
          <a:bodyPr wrap="square" rtlCol="0" anchor="ctr"/>
          <a:lstStyle/>
          <a:p>
            <a:pPr indent="0" marL="0">
              <a:buNone/>
            </a:pPr>
            <a:r>
              <a:rPr lang="en-US" sz="1200" dirty="0">
                <a:solidFill>
                  <a:srgbClr val="0E1C42"/>
                </a:solidFill>
                <a:latin typeface="Calibri" pitchFamily="34" charset="0"/>
                <a:ea typeface="Calibri" pitchFamily="34" charset="-122"/>
                <a:cs typeface="Calibri" pitchFamily="34" charset="-120"/>
              </a:rPr>
              <a:t>A. Absolute location     B. Relative location     C. Climate zone</a:t>
            </a:r>
            <a:endParaRPr lang="en-US" sz="1200" dirty="0"/>
          </a:p>
        </p:txBody>
      </p:sp>
      <p:sp>
        <p:nvSpPr>
          <p:cNvPr id="8" name="Text 6"/>
          <p:cNvSpPr/>
          <p:nvPr/>
        </p:nvSpPr>
        <p:spPr>
          <a:xfrm>
            <a:off x="1950720" y="3251200"/>
            <a:ext cx="13004800" cy="568960"/>
          </a:xfrm>
          <a:prstGeom prst="rect">
            <a:avLst/>
          </a:prstGeom>
          <a:noFill/>
          <a:ln/>
        </p:spPr>
        <p:txBody>
          <a:bodyPr wrap="square" rtlCol="0" anchor="ctr"/>
          <a:lstStyle/>
          <a:p>
            <a:pPr indent="0" marL="0">
              <a:buNone/>
            </a:pPr>
            <a:r>
              <a:rPr lang="en-US" sz="1200" i="1" dirty="0">
                <a:solidFill>
                  <a:srgbClr val="34B76F"/>
                </a:solidFill>
                <a:latin typeface="Calibri" pitchFamily="34" charset="0"/>
                <a:ea typeface="Calibri" pitchFamily="34" charset="-122"/>
                <a:cs typeface="Calibri" pitchFamily="34" charset="-120"/>
              </a:rPr>
              <a:t>Answer: B -- Relative location describes a place compared to another place.</a:t>
            </a:r>
            <a:endParaRPr lang="en-US" sz="1200" dirty="0"/>
          </a:p>
        </p:txBody>
      </p:sp>
      <p:sp>
        <p:nvSpPr>
          <p:cNvPr id="9" name="Shape 7"/>
          <p:cNvSpPr/>
          <p:nvPr/>
        </p:nvSpPr>
        <p:spPr>
          <a:xfrm>
            <a:off x="812800" y="4714240"/>
            <a:ext cx="14630400" cy="2600960"/>
          </a:xfrm>
          <a:prstGeom prst="roundRect">
            <a:avLst>
              <a:gd name="adj" fmla="val 6250"/>
            </a:avLst>
          </a:prstGeom>
          <a:solidFill>
            <a:srgbClr val="FFFFFF"/>
          </a:solidFill>
          <a:ln/>
          <a:effectLst>
            <a:outerShdw sx="100000" sy="100000" kx="0" ky="0" algn="bl" rotWithShape="0" blurRad="50800" dist="25400" dir="8100000">
              <a:srgbClr val="000000">
                <a:alpha val="10000"/>
              </a:srgbClr>
            </a:outerShdw>
          </a:effectLst>
        </p:spPr>
      </p:sp>
      <p:sp>
        <p:nvSpPr>
          <p:cNvPr id="10" name="Shape 8"/>
          <p:cNvSpPr/>
          <p:nvPr/>
        </p:nvSpPr>
        <p:spPr>
          <a:xfrm>
            <a:off x="1056640" y="4876800"/>
            <a:ext cx="650240" cy="650240"/>
          </a:xfrm>
          <a:prstGeom prst="ellipse">
            <a:avLst/>
          </a:prstGeom>
          <a:solidFill>
            <a:srgbClr val="1A8A7D"/>
          </a:solidFill>
          <a:ln/>
        </p:spPr>
      </p:sp>
      <p:sp>
        <p:nvSpPr>
          <p:cNvPr id="11" name="Text 9"/>
          <p:cNvSpPr/>
          <p:nvPr/>
        </p:nvSpPr>
        <p:spPr>
          <a:xfrm>
            <a:off x="1056640" y="4876800"/>
            <a:ext cx="650240" cy="65024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2" name="Text 10"/>
          <p:cNvSpPr/>
          <p:nvPr/>
        </p:nvSpPr>
        <p:spPr>
          <a:xfrm>
            <a:off x="1950720" y="4876800"/>
            <a:ext cx="12192000" cy="568960"/>
          </a:xfrm>
          <a:prstGeom prst="rect">
            <a:avLst/>
          </a:prstGeom>
          <a:noFill/>
          <a:ln/>
        </p:spPr>
        <p:txBody>
          <a:bodyPr wrap="square"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The root geo- means ___.</a:t>
            </a:r>
            <a:endParaRPr lang="en-US" sz="1300" dirty="0"/>
          </a:p>
        </p:txBody>
      </p:sp>
      <p:sp>
        <p:nvSpPr>
          <p:cNvPr id="13" name="Text 11"/>
          <p:cNvSpPr/>
          <p:nvPr/>
        </p:nvSpPr>
        <p:spPr>
          <a:xfrm>
            <a:off x="1950720" y="5608320"/>
            <a:ext cx="13004800" cy="568960"/>
          </a:xfrm>
          <a:prstGeom prst="rect">
            <a:avLst/>
          </a:prstGeom>
          <a:noFill/>
          <a:ln/>
        </p:spPr>
        <p:txBody>
          <a:bodyPr wrap="square" rtlCol="0" anchor="ctr"/>
          <a:lstStyle/>
          <a:p>
            <a:pPr indent="0" marL="0">
              <a:buNone/>
            </a:pPr>
            <a:r>
              <a:rPr lang="en-US" sz="1200" dirty="0">
                <a:solidFill>
                  <a:srgbClr val="0E1C42"/>
                </a:solidFill>
                <a:latin typeface="Calibri" pitchFamily="34" charset="0"/>
                <a:ea typeface="Calibri" pitchFamily="34" charset="-122"/>
                <a:cs typeface="Calibri" pitchFamily="34" charset="-120"/>
              </a:rPr>
              <a:t>A. Water     B. Almost     C. Earth</a:t>
            </a:r>
            <a:endParaRPr lang="en-US" sz="1200" dirty="0"/>
          </a:p>
        </p:txBody>
      </p:sp>
      <p:sp>
        <p:nvSpPr>
          <p:cNvPr id="14" name="Text 12"/>
          <p:cNvSpPr/>
          <p:nvPr/>
        </p:nvSpPr>
        <p:spPr>
          <a:xfrm>
            <a:off x="1950720" y="6339840"/>
            <a:ext cx="13004800" cy="568960"/>
          </a:xfrm>
          <a:prstGeom prst="rect">
            <a:avLst/>
          </a:prstGeom>
          <a:noFill/>
          <a:ln/>
        </p:spPr>
        <p:txBody>
          <a:bodyPr wrap="square" rtlCol="0" anchor="ctr"/>
          <a:lstStyle/>
          <a:p>
            <a:pPr indent="0" marL="0">
              <a:buNone/>
            </a:pPr>
            <a:r>
              <a:rPr lang="en-US" sz="1200" i="1" dirty="0">
                <a:solidFill>
                  <a:srgbClr val="34B76F"/>
                </a:solidFill>
                <a:latin typeface="Calibri" pitchFamily="34" charset="0"/>
                <a:ea typeface="Calibri" pitchFamily="34" charset="-122"/>
                <a:cs typeface="Calibri" pitchFamily="34" charset="-120"/>
              </a:rPr>
              <a:t>Answer: C -- geo- means "earth." Geography = writing about the earth.</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812800" y="487680"/>
            <a:ext cx="14630400" cy="812800"/>
          </a:xfrm>
          <a:prstGeom prst="rect">
            <a:avLst/>
          </a:prstGeom>
          <a:noFill/>
          <a:ln/>
        </p:spPr>
        <p:txBody>
          <a:bodyPr wrap="square" rtlCol="0" anchor="ctr"/>
          <a:lstStyle/>
          <a:p>
            <a:pPr indent="0" marL="0">
              <a:buNone/>
            </a:pPr>
            <a:r>
              <a:rPr lang="en-US" sz="2400" b="1" dirty="0">
                <a:solidFill>
                  <a:srgbClr val="0E1C42"/>
                </a:solidFill>
                <a:latin typeface="Cambria" pitchFamily="34" charset="0"/>
                <a:ea typeface="Cambria" pitchFamily="34" charset="-122"/>
                <a:cs typeface="Cambria" pitchFamily="34" charset="-120"/>
              </a:rPr>
              <a:t>Error Analysis: Fix the Label</a:t>
            </a:r>
            <a:endParaRPr lang="en-US" sz="2400" dirty="0"/>
          </a:p>
        </p:txBody>
      </p:sp>
      <p:sp>
        <p:nvSpPr>
          <p:cNvPr id="3" name="Text 1"/>
          <p:cNvSpPr/>
          <p:nvPr/>
        </p:nvSpPr>
        <p:spPr>
          <a:xfrm>
            <a:off x="812800" y="1381760"/>
            <a:ext cx="3251200" cy="487680"/>
          </a:xfrm>
          <a:prstGeom prst="rect">
            <a:avLst/>
          </a:prstGeom>
          <a:noFill/>
          <a:ln/>
        </p:spPr>
        <p:txBody>
          <a:bodyPr wrap="square" rtlCol="0" anchor="ctr"/>
          <a:lstStyle/>
          <a:p>
            <a:pPr indent="0" marL="0">
              <a:buNone/>
            </a:pPr>
            <a:r>
              <a:rPr lang="en-US" sz="1000" b="1" spc="150" kern="0" dirty="0">
                <a:solidFill>
                  <a:srgbClr val="E8636B"/>
                </a:solidFill>
                <a:latin typeface="Calibri" pitchFamily="34" charset="0"/>
                <a:ea typeface="Calibri" pitchFamily="34" charset="-122"/>
                <a:cs typeface="Calibri" pitchFamily="34" charset="-120"/>
              </a:rPr>
              <a:t>YOUR TURN</a:t>
            </a:r>
            <a:endParaRPr lang="en-US" sz="1000" dirty="0"/>
          </a:p>
        </p:txBody>
      </p:sp>
      <p:sp>
        <p:nvSpPr>
          <p:cNvPr id="4" name="Shape 2"/>
          <p:cNvSpPr/>
          <p:nvPr/>
        </p:nvSpPr>
        <p:spPr>
          <a:xfrm>
            <a:off x="812800" y="1950720"/>
            <a:ext cx="14630400" cy="3251200"/>
          </a:xfrm>
          <a:prstGeom prst="roundRect">
            <a:avLst>
              <a:gd name="adj" fmla="val 7500"/>
            </a:avLst>
          </a:prstGeom>
          <a:solidFill>
            <a:srgbClr val="FFF0F0"/>
          </a:solidFill>
          <a:ln w="19050">
            <a:solidFill>
              <a:srgbClr val="E8636B"/>
            </a:solidFill>
            <a:prstDash val="solid"/>
          </a:ln>
        </p:spPr>
      </p:sp>
      <p:sp>
        <p:nvSpPr>
          <p:cNvPr id="5" name="Text 3"/>
          <p:cNvSpPr/>
          <p:nvPr/>
        </p:nvSpPr>
        <p:spPr>
          <a:xfrm>
            <a:off x="1137920" y="2113280"/>
            <a:ext cx="13980160" cy="487680"/>
          </a:xfrm>
          <a:prstGeom prst="rect">
            <a:avLst/>
          </a:prstGeom>
          <a:noFill/>
          <a:ln/>
        </p:spPr>
        <p:txBody>
          <a:bodyPr wrap="square" rtlCol="0" anchor="ctr"/>
          <a:lstStyle/>
          <a:p>
            <a:pPr indent="0" marL="0">
              <a:buNone/>
            </a:pPr>
            <a:r>
              <a:rPr lang="en-US" sz="1200" dirty="0">
                <a:solidFill>
                  <a:srgbClr val="7A88A8"/>
                </a:solidFill>
                <a:latin typeface="Calibri" pitchFamily="34" charset="0"/>
                <a:ea typeface="Calibri" pitchFamily="34" charset="-122"/>
                <a:cs typeface="Calibri" pitchFamily="34" charset="-120"/>
              </a:rPr>
              <a:t>A student wrote this entrance label:</a:t>
            </a:r>
            <a:endParaRPr lang="en-US" sz="1200" dirty="0"/>
          </a:p>
        </p:txBody>
      </p:sp>
      <p:sp>
        <p:nvSpPr>
          <p:cNvPr id="6" name="Text 4"/>
          <p:cNvSpPr/>
          <p:nvPr/>
        </p:nvSpPr>
        <p:spPr>
          <a:xfrm>
            <a:off x="1137920" y="2763520"/>
            <a:ext cx="13980160" cy="1950720"/>
          </a:xfrm>
          <a:prstGeom prst="rect">
            <a:avLst/>
          </a:prstGeom>
          <a:noFill/>
          <a:ln/>
        </p:spPr>
        <p:txBody>
          <a:bodyPr wrap="square" rtlCol="0" anchor="ctr"/>
          <a:lstStyle/>
          <a:p>
            <a:pPr algn="ctr" indent="0" marL="0">
              <a:buNone/>
            </a:pPr>
            <a:r>
              <a:rPr lang="en-US" sz="1600" i="1" dirty="0">
                <a:solidFill>
                  <a:srgbClr val="0E1C42"/>
                </a:solidFill>
                <a:latin typeface="Cambria" pitchFamily="34" charset="0"/>
                <a:ea typeface="Cambria" pitchFamily="34" charset="-122"/>
                <a:cs typeface="Cambria" pitchFamily="34" charset="-120"/>
              </a:rPr>
              <a:t>"The World Map Hall has stuff about the world. There are continents and weather and things. You should come look at it because it's cool."</a:t>
            </a:r>
            <a:endParaRPr lang="en-US" sz="1600" dirty="0"/>
          </a:p>
        </p:txBody>
      </p:sp>
      <p:sp>
        <p:nvSpPr>
          <p:cNvPr id="7" name="Shape 5"/>
          <p:cNvSpPr/>
          <p:nvPr/>
        </p:nvSpPr>
        <p:spPr>
          <a:xfrm>
            <a:off x="812800" y="5689600"/>
            <a:ext cx="14630400" cy="2438400"/>
          </a:xfrm>
          <a:prstGeom prst="roundRect">
            <a:avLst>
              <a:gd name="adj" fmla="val 10000"/>
            </a:avLst>
          </a:prstGeom>
          <a:solidFill>
            <a:srgbClr val="1A2D5A"/>
          </a:solidFill>
          <a:ln/>
          <a:effectLst>
            <a:outerShdw sx="100000" sy="100000" kx="0" ky="0" algn="bl" rotWithShape="0" blurRad="101600" dist="38100" dir="8100000">
              <a:srgbClr val="000000">
                <a:alpha val="20000"/>
              </a:srgbClr>
            </a:outerShdw>
          </a:effectLst>
        </p:spPr>
      </p:sp>
      <p:sp>
        <p:nvSpPr>
          <p:cNvPr id="8" name="Text 6"/>
          <p:cNvSpPr/>
          <p:nvPr/>
        </p:nvSpPr>
        <p:spPr>
          <a:xfrm>
            <a:off x="1137920" y="5852160"/>
            <a:ext cx="13980160" cy="455168"/>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9" name="Text 7"/>
          <p:cNvSpPr/>
          <p:nvPr/>
        </p:nvSpPr>
        <p:spPr>
          <a:xfrm>
            <a:off x="1137920" y="6307328"/>
            <a:ext cx="13980160" cy="1658112"/>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What's missing from this label? (Specific details? Landforms? Location types?)</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Is this courteous to visitors who know nothing about geography?</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How would you make it clearer and more helpful?</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812800" y="487680"/>
            <a:ext cx="14630400" cy="812800"/>
          </a:xfrm>
          <a:prstGeom prst="rect">
            <a:avLst/>
          </a:prstGeom>
          <a:noFill/>
          <a:ln/>
        </p:spPr>
        <p:txBody>
          <a:bodyPr wrap="square" rtlCol="0" anchor="ctr"/>
          <a:lstStyle/>
          <a:p>
            <a:pPr indent="0" marL="0">
              <a:buNone/>
            </a:pPr>
            <a:r>
              <a:rPr lang="en-US" sz="2400" b="1" dirty="0">
                <a:solidFill>
                  <a:srgbClr val="0E1C42"/>
                </a:solidFill>
                <a:latin typeface="Cambria" pitchFamily="34" charset="0"/>
                <a:ea typeface="Cambria" pitchFamily="34" charset="-122"/>
                <a:cs typeface="Cambria" pitchFamily="34" charset="-120"/>
              </a:rPr>
              <a:t>Evidence Question 1</a:t>
            </a:r>
            <a:endParaRPr lang="en-US" sz="2400" dirty="0"/>
          </a:p>
        </p:txBody>
      </p:sp>
      <p:sp>
        <p:nvSpPr>
          <p:cNvPr id="3" name="Text 1"/>
          <p:cNvSpPr/>
          <p:nvPr/>
        </p:nvSpPr>
        <p:spPr>
          <a:xfrm>
            <a:off x="812800" y="1381760"/>
            <a:ext cx="4064000" cy="487680"/>
          </a:xfrm>
          <a:prstGeom prst="rect">
            <a:avLst/>
          </a:prstGeom>
          <a:noFill/>
          <a:ln/>
        </p:spPr>
        <p:txBody>
          <a:bodyPr wrap="square" rtlCol="0" anchor="ctr"/>
          <a:lstStyle/>
          <a:p>
            <a:pPr indent="0" marL="0">
              <a:buNone/>
            </a:pPr>
            <a:r>
              <a:rPr lang="en-US" sz="1000" b="1" spc="150" kern="0" dirty="0">
                <a:solidFill>
                  <a:srgbClr val="D4943A"/>
                </a:solidFill>
                <a:latin typeface="Calibri" pitchFamily="34" charset="0"/>
                <a:ea typeface="Calibri" pitchFamily="34" charset="-122"/>
                <a:cs typeface="Calibri" pitchFamily="34" charset="-120"/>
              </a:rPr>
              <a:t>ASSIGNMENT PREP</a:t>
            </a:r>
            <a:endParaRPr lang="en-US" sz="1000" dirty="0"/>
          </a:p>
        </p:txBody>
      </p:sp>
      <p:sp>
        <p:nvSpPr>
          <p:cNvPr id="4" name="Shape 2"/>
          <p:cNvSpPr/>
          <p:nvPr/>
        </p:nvSpPr>
        <p:spPr>
          <a:xfrm>
            <a:off x="812800" y="1950720"/>
            <a:ext cx="14630400" cy="1625600"/>
          </a:xfrm>
          <a:prstGeom prst="roundRect">
            <a:avLst>
              <a:gd name="adj" fmla="val 12000"/>
            </a:avLst>
          </a:prstGeom>
          <a:solidFill>
            <a:srgbClr val="1A2D5A"/>
          </a:solidFill>
          <a:ln/>
        </p:spPr>
      </p:sp>
      <p:sp>
        <p:nvSpPr>
          <p:cNvPr id="5" name="Text 3"/>
          <p:cNvSpPr/>
          <p:nvPr/>
        </p:nvSpPr>
        <p:spPr>
          <a:xfrm>
            <a:off x="1137920" y="2113280"/>
            <a:ext cx="13980160" cy="1300480"/>
          </a:xfrm>
          <a:prstGeom prst="rect">
            <a:avLst/>
          </a:prstGeom>
          <a:noFill/>
          <a:ln/>
        </p:spPr>
        <p:txBody>
          <a:bodyPr wrap="square" rtlCol="0" anchor="ctr"/>
          <a:lstStyle/>
          <a:p>
            <a:pPr indent="0" marL="0">
              <a:buNone/>
            </a:pPr>
            <a:r>
              <a:rPr lang="en-US" sz="1500" dirty="0">
                <a:solidFill>
                  <a:srgbClr val="FFFFFF"/>
                </a:solidFill>
                <a:latin typeface="Calibri" pitchFamily="34" charset="0"/>
                <a:ea typeface="Calibri" pitchFamily="34" charset="-122"/>
                <a:cs typeface="Calibri" pitchFamily="34" charset="-120"/>
              </a:rPr>
              <a:t>Name two things a visitor would learn by reading the labels in the World Map Hall.</a:t>
            </a:r>
            <a:endParaRPr lang="en-US" sz="1500" dirty="0"/>
          </a:p>
        </p:txBody>
      </p:sp>
      <p:sp>
        <p:nvSpPr>
          <p:cNvPr id="6" name="Shape 4"/>
          <p:cNvSpPr/>
          <p:nvPr/>
        </p:nvSpPr>
        <p:spPr>
          <a:xfrm>
            <a:off x="812800" y="4064000"/>
            <a:ext cx="14630400" cy="3576320"/>
          </a:xfrm>
          <a:prstGeom prst="roundRect">
            <a:avLst>
              <a:gd name="adj" fmla="val 5455"/>
            </a:avLst>
          </a:prstGeom>
          <a:solidFill>
            <a:srgbClr val="FFFFFF"/>
          </a:solidFill>
          <a:ln/>
          <a:effectLst>
            <a:outerShdw sx="100000" sy="100000" kx="0" ky="0" algn="bl" rotWithShape="0" blurRad="50800" dist="25400" dir="8100000">
              <a:srgbClr val="000000">
                <a:alpha val="10000"/>
              </a:srgbClr>
            </a:outerShdw>
          </a:effectLst>
        </p:spPr>
      </p:sp>
      <p:sp>
        <p:nvSpPr>
          <p:cNvPr id="7" name="Text 5"/>
          <p:cNvSpPr/>
          <p:nvPr/>
        </p:nvSpPr>
        <p:spPr>
          <a:xfrm>
            <a:off x="1137920" y="4226560"/>
            <a:ext cx="13980160" cy="487680"/>
          </a:xfrm>
          <a:prstGeom prst="rect">
            <a:avLst/>
          </a:prstGeom>
          <a:noFill/>
          <a:ln/>
        </p:spPr>
        <p:txBody>
          <a:bodyPr wrap="square" rtlCol="0" anchor="ctr"/>
          <a:lstStyle/>
          <a:p>
            <a:pPr indent="0" marL="0">
              <a:buNone/>
            </a:pPr>
            <a:r>
              <a:rPr lang="en-US" sz="900" b="1" spc="150" kern="0" dirty="0">
                <a:solidFill>
                  <a:srgbClr val="1A8A7D"/>
                </a:solidFill>
                <a:latin typeface="Calibri" pitchFamily="34" charset="0"/>
                <a:ea typeface="Calibri" pitchFamily="34" charset="-122"/>
                <a:cs typeface="Calibri" pitchFamily="34" charset="-120"/>
              </a:rPr>
              <a:t>MODEL ANSWER:</a:t>
            </a:r>
            <a:endParaRPr lang="en-US" sz="900" dirty="0"/>
          </a:p>
        </p:txBody>
      </p:sp>
      <p:sp>
        <p:nvSpPr>
          <p:cNvPr id="8" name="Text 6"/>
          <p:cNvSpPr/>
          <p:nvPr/>
        </p:nvSpPr>
        <p:spPr>
          <a:xfrm>
            <a:off x="1137920" y="4876800"/>
            <a:ext cx="13980160" cy="1950720"/>
          </a:xfrm>
          <a:prstGeom prst="rect">
            <a:avLst/>
          </a:prstGeom>
          <a:noFill/>
          <a:ln/>
        </p:spPr>
        <p:txBody>
          <a:bodyPr wrap="square" rtlCol="0" anchor="t"/>
          <a:lstStyle/>
          <a:p>
            <a:pPr indent="0" marL="0">
              <a:lnSpc>
                <a:spcPct val="130000"/>
              </a:lnSpc>
              <a:buNone/>
            </a:pPr>
            <a:r>
              <a:rPr lang="en-US" sz="1500" i="1" dirty="0">
                <a:solidFill>
                  <a:srgbClr val="0E1C42"/>
                </a:solidFill>
                <a:latin typeface="Cambria" pitchFamily="34" charset="0"/>
                <a:ea typeface="Cambria" pitchFamily="34" charset="-122"/>
                <a:cs typeface="Cambria" pitchFamily="34" charset="-120"/>
              </a:rPr>
              <a:t>"A visitor would learn the names of the seven continents and five oceans on Earth. They would also learn how climate affects what plants grow and what resources people can use in different regions."</a:t>
            </a:r>
            <a:endParaRPr lang="en-US" sz="1500" dirty="0"/>
          </a:p>
        </p:txBody>
      </p:sp>
      <p:sp>
        <p:nvSpPr>
          <p:cNvPr id="9" name="Text 7"/>
          <p:cNvSpPr/>
          <p:nvPr/>
        </p:nvSpPr>
        <p:spPr>
          <a:xfrm>
            <a:off x="1137920" y="6990080"/>
            <a:ext cx="13980160" cy="487680"/>
          </a:xfrm>
          <a:prstGeom prst="rect">
            <a:avLst/>
          </a:prstGeom>
          <a:noFill/>
          <a:ln/>
        </p:spPr>
        <p:txBody>
          <a:bodyPr wrap="square" rtlCol="0" anchor="ctr"/>
          <a:lstStyle/>
          <a:p>
            <a:pPr indent="0" marL="0">
              <a:buNone/>
            </a:pPr>
            <a:r>
              <a:rPr lang="en-US" sz="1300" b="1" dirty="0">
                <a:solidFill>
                  <a:srgbClr val="D4943A"/>
                </a:solidFill>
                <a:latin typeface="Calibri" pitchFamily="34" charset="0"/>
                <a:ea typeface="Calibri" pitchFamily="34" charset="-122"/>
                <a:cs typeface="Calibri" pitchFamily="34" charset="-120"/>
              </a:rPr>
              <a:t>Your turn: Think about the different parts of the exhibit.</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812800" y="487680"/>
            <a:ext cx="14630400" cy="812800"/>
          </a:xfrm>
          <a:prstGeom prst="rect">
            <a:avLst/>
          </a:prstGeom>
          <a:noFill/>
          <a:ln/>
        </p:spPr>
        <p:txBody>
          <a:bodyPr wrap="square" rtlCol="0" anchor="ctr"/>
          <a:lstStyle/>
          <a:p>
            <a:pPr indent="0" marL="0">
              <a:buNone/>
            </a:pPr>
            <a:r>
              <a:rPr lang="en-US" sz="2400" b="1" dirty="0">
                <a:solidFill>
                  <a:srgbClr val="0E1C42"/>
                </a:solidFill>
                <a:latin typeface="Cambria" pitchFamily="34" charset="0"/>
                <a:ea typeface="Cambria" pitchFamily="34" charset="-122"/>
                <a:cs typeface="Cambria" pitchFamily="34" charset="-120"/>
              </a:rPr>
              <a:t>Evidence Question 2</a:t>
            </a:r>
            <a:endParaRPr lang="en-US" sz="2400" dirty="0"/>
          </a:p>
        </p:txBody>
      </p:sp>
      <p:sp>
        <p:nvSpPr>
          <p:cNvPr id="3" name="Text 1"/>
          <p:cNvSpPr/>
          <p:nvPr/>
        </p:nvSpPr>
        <p:spPr>
          <a:xfrm>
            <a:off x="812800" y="1381760"/>
            <a:ext cx="4064000" cy="487680"/>
          </a:xfrm>
          <a:prstGeom prst="rect">
            <a:avLst/>
          </a:prstGeom>
          <a:noFill/>
          <a:ln/>
        </p:spPr>
        <p:txBody>
          <a:bodyPr wrap="square" rtlCol="0" anchor="ctr"/>
          <a:lstStyle/>
          <a:p>
            <a:pPr indent="0" marL="0">
              <a:buNone/>
            </a:pPr>
            <a:r>
              <a:rPr lang="en-US" sz="1000" b="1" spc="150" kern="0" dirty="0">
                <a:solidFill>
                  <a:srgbClr val="D4943A"/>
                </a:solidFill>
                <a:latin typeface="Calibri" pitchFamily="34" charset="0"/>
                <a:ea typeface="Calibri" pitchFamily="34" charset="-122"/>
                <a:cs typeface="Calibri" pitchFamily="34" charset="-120"/>
              </a:rPr>
              <a:t>ASSIGNMENT PREP</a:t>
            </a:r>
            <a:endParaRPr lang="en-US" sz="1000" dirty="0"/>
          </a:p>
        </p:txBody>
      </p:sp>
      <p:sp>
        <p:nvSpPr>
          <p:cNvPr id="4" name="Shape 2"/>
          <p:cNvSpPr/>
          <p:nvPr/>
        </p:nvSpPr>
        <p:spPr>
          <a:xfrm>
            <a:off x="812800" y="1950720"/>
            <a:ext cx="14630400" cy="1625600"/>
          </a:xfrm>
          <a:prstGeom prst="roundRect">
            <a:avLst>
              <a:gd name="adj" fmla="val 12000"/>
            </a:avLst>
          </a:prstGeom>
          <a:solidFill>
            <a:srgbClr val="1A2D5A"/>
          </a:solidFill>
          <a:ln/>
        </p:spPr>
      </p:sp>
      <p:sp>
        <p:nvSpPr>
          <p:cNvPr id="5" name="Text 3"/>
          <p:cNvSpPr/>
          <p:nvPr/>
        </p:nvSpPr>
        <p:spPr>
          <a:xfrm>
            <a:off x="1137920" y="2113280"/>
            <a:ext cx="13980160" cy="1300480"/>
          </a:xfrm>
          <a:prstGeom prst="rect">
            <a:avLst/>
          </a:prstGeom>
          <a:noFill/>
          <a:ln/>
        </p:spPr>
        <p:txBody>
          <a:bodyPr wrap="square" rtlCol="0" anchor="ctr"/>
          <a:lstStyle/>
          <a:p>
            <a:pPr indent="0" marL="0">
              <a:buNone/>
            </a:pPr>
            <a:r>
              <a:rPr lang="en-US" sz="1500" dirty="0">
                <a:solidFill>
                  <a:srgbClr val="FFFFFF"/>
                </a:solidFill>
                <a:latin typeface="Calibri" pitchFamily="34" charset="0"/>
                <a:ea typeface="Calibri" pitchFamily="34" charset="-122"/>
                <a:cs typeface="Calibri" pitchFamily="34" charset="-120"/>
              </a:rPr>
              <a:t>What is one difference between absolute location and relative location? Give an example of each.</a:t>
            </a:r>
            <a:endParaRPr lang="en-US" sz="1500" dirty="0"/>
          </a:p>
        </p:txBody>
      </p:sp>
      <p:sp>
        <p:nvSpPr>
          <p:cNvPr id="6" name="Shape 4"/>
          <p:cNvSpPr/>
          <p:nvPr/>
        </p:nvSpPr>
        <p:spPr>
          <a:xfrm>
            <a:off x="812800" y="4064000"/>
            <a:ext cx="6827520" cy="3251200"/>
          </a:xfrm>
          <a:prstGeom prst="roundRect">
            <a:avLst>
              <a:gd name="adj" fmla="val 6000"/>
            </a:avLst>
          </a:prstGeom>
          <a:solidFill>
            <a:srgbClr val="EAF8FD"/>
          </a:solidFill>
          <a:ln/>
        </p:spPr>
      </p:sp>
      <p:sp>
        <p:nvSpPr>
          <p:cNvPr id="7" name="Text 5"/>
          <p:cNvSpPr/>
          <p:nvPr/>
        </p:nvSpPr>
        <p:spPr>
          <a:xfrm>
            <a:off x="1137920" y="4226560"/>
            <a:ext cx="6177280" cy="487680"/>
          </a:xfrm>
          <a:prstGeom prst="rect">
            <a:avLst/>
          </a:prstGeom>
          <a:noFill/>
          <a:ln/>
        </p:spPr>
        <p:txBody>
          <a:bodyPr wrap="square" rtlCol="0" anchor="ctr"/>
          <a:lstStyle/>
          <a:p>
            <a:pPr algn="ctr" indent="0" marL="0">
              <a:buNone/>
            </a:pPr>
            <a:r>
              <a:rPr lang="en-US" sz="1000" b="1" spc="150" kern="0" dirty="0">
                <a:solidFill>
                  <a:srgbClr val="1A8A7D"/>
                </a:solidFill>
                <a:latin typeface="Calibri" pitchFamily="34" charset="0"/>
                <a:ea typeface="Calibri" pitchFamily="34" charset="-122"/>
                <a:cs typeface="Calibri" pitchFamily="34" charset="-120"/>
              </a:rPr>
              <a:t>ABSOLUTE</a:t>
            </a:r>
            <a:endParaRPr lang="en-US" sz="1000" dirty="0"/>
          </a:p>
        </p:txBody>
      </p:sp>
      <p:sp>
        <p:nvSpPr>
          <p:cNvPr id="8" name="Text 6"/>
          <p:cNvSpPr/>
          <p:nvPr/>
        </p:nvSpPr>
        <p:spPr>
          <a:xfrm>
            <a:off x="1137920" y="4876800"/>
            <a:ext cx="6177280" cy="1950720"/>
          </a:xfrm>
          <a:prstGeom prst="rect">
            <a:avLst/>
          </a:prstGeom>
          <a:noFill/>
          <a:ln/>
        </p:spPr>
        <p:txBody>
          <a:bodyPr wrap="square" rtlCol="0" anchor="t"/>
          <a:lstStyle/>
          <a:p>
            <a:pPr algn="ctr" indent="0" marL="0">
              <a:lnSpc>
                <a:spcPct val="130000"/>
              </a:lnSpc>
              <a:buNone/>
            </a:pPr>
            <a:r>
              <a:rPr lang="en-US" sz="1400" dirty="0">
                <a:solidFill>
                  <a:srgbClr val="0E1C42"/>
                </a:solidFill>
                <a:latin typeface="Calibri" pitchFamily="34" charset="0"/>
                <a:ea typeface="Calibri" pitchFamily="34" charset="-122"/>
                <a:cs typeface="Calibri" pitchFamily="34" charset="-120"/>
              </a:rPr>
              <a:t>Uses exact coordinates.</a:t>
            </a:r>
            <a:endParaRPr lang="en-US" sz="1400" dirty="0"/>
          </a:p>
          <a:p>
            <a:pPr algn="ctr" indent="0" marL="0">
              <a:lnSpc>
                <a:spcPct val="130000"/>
              </a:lnSpc>
              <a:buNone/>
            </a:pPr>
            <a:endParaRPr lang="en-US" sz="1400" dirty="0"/>
          </a:p>
          <a:p>
            <a:pPr algn="ctr" indent="0" marL="0">
              <a:lnSpc>
                <a:spcPct val="130000"/>
              </a:lnSpc>
              <a:buNone/>
            </a:pPr>
            <a:r>
              <a:rPr lang="en-US" sz="1400" dirty="0">
                <a:solidFill>
                  <a:srgbClr val="0E1C42"/>
                </a:solidFill>
                <a:latin typeface="Calibri" pitchFamily="34" charset="0"/>
                <a:ea typeface="Calibri" pitchFamily="34" charset="-122"/>
                <a:cs typeface="Calibri" pitchFamily="34" charset="-120"/>
              </a:rPr>
              <a:t>Example: "28.5 degrees N, 81.4 degrees W"</a:t>
            </a:r>
            <a:endParaRPr lang="en-US" sz="1400" dirty="0"/>
          </a:p>
        </p:txBody>
      </p:sp>
      <p:sp>
        <p:nvSpPr>
          <p:cNvPr id="9" name="Shape 7"/>
          <p:cNvSpPr/>
          <p:nvPr/>
        </p:nvSpPr>
        <p:spPr>
          <a:xfrm>
            <a:off x="8615680" y="4064000"/>
            <a:ext cx="6827520" cy="3251200"/>
          </a:xfrm>
          <a:prstGeom prst="roundRect">
            <a:avLst>
              <a:gd name="adj" fmla="val 6000"/>
            </a:avLst>
          </a:prstGeom>
          <a:solidFill>
            <a:srgbClr val="FFF3DC"/>
          </a:solidFill>
          <a:ln/>
        </p:spPr>
      </p:sp>
      <p:sp>
        <p:nvSpPr>
          <p:cNvPr id="10" name="Text 8"/>
          <p:cNvSpPr/>
          <p:nvPr/>
        </p:nvSpPr>
        <p:spPr>
          <a:xfrm>
            <a:off x="8940800" y="4226560"/>
            <a:ext cx="6177280" cy="487680"/>
          </a:xfrm>
          <a:prstGeom prst="rect">
            <a:avLst/>
          </a:prstGeom>
          <a:noFill/>
          <a:ln/>
        </p:spPr>
        <p:txBody>
          <a:bodyPr wrap="square" rtlCol="0" anchor="ctr"/>
          <a:lstStyle/>
          <a:p>
            <a:pPr algn="ctr" indent="0" marL="0">
              <a:buNone/>
            </a:pPr>
            <a:r>
              <a:rPr lang="en-US" sz="1000" b="1" spc="150" kern="0" dirty="0">
                <a:solidFill>
                  <a:srgbClr val="D4943A"/>
                </a:solidFill>
                <a:latin typeface="Calibri" pitchFamily="34" charset="0"/>
                <a:ea typeface="Calibri" pitchFamily="34" charset="-122"/>
                <a:cs typeface="Calibri" pitchFamily="34" charset="-120"/>
              </a:rPr>
              <a:t>RELATIVE</a:t>
            </a:r>
            <a:endParaRPr lang="en-US" sz="1000" dirty="0"/>
          </a:p>
        </p:txBody>
      </p:sp>
      <p:sp>
        <p:nvSpPr>
          <p:cNvPr id="11" name="Text 9"/>
          <p:cNvSpPr/>
          <p:nvPr/>
        </p:nvSpPr>
        <p:spPr>
          <a:xfrm>
            <a:off x="8940800" y="4876800"/>
            <a:ext cx="6177280" cy="1950720"/>
          </a:xfrm>
          <a:prstGeom prst="rect">
            <a:avLst/>
          </a:prstGeom>
          <a:noFill/>
          <a:ln/>
        </p:spPr>
        <p:txBody>
          <a:bodyPr wrap="square" rtlCol="0" anchor="t"/>
          <a:lstStyle/>
          <a:p>
            <a:pPr algn="ctr" indent="0" marL="0">
              <a:lnSpc>
                <a:spcPct val="130000"/>
              </a:lnSpc>
              <a:buNone/>
            </a:pPr>
            <a:r>
              <a:rPr lang="en-US" sz="1400" dirty="0">
                <a:solidFill>
                  <a:srgbClr val="0E1C42"/>
                </a:solidFill>
                <a:latin typeface="Calibri" pitchFamily="34" charset="0"/>
                <a:ea typeface="Calibri" pitchFamily="34" charset="-122"/>
                <a:cs typeface="Calibri" pitchFamily="34" charset="-120"/>
              </a:rPr>
              <a:t>Describes where compared to something else.</a:t>
            </a:r>
            <a:endParaRPr lang="en-US" sz="1400" dirty="0"/>
          </a:p>
          <a:p>
            <a:pPr algn="ctr" indent="0" marL="0">
              <a:lnSpc>
                <a:spcPct val="130000"/>
              </a:lnSpc>
              <a:buNone/>
            </a:pPr>
            <a:endParaRPr lang="en-US" sz="1400" dirty="0"/>
          </a:p>
          <a:p>
            <a:pPr algn="ctr" indent="0" marL="0">
              <a:lnSpc>
                <a:spcPct val="130000"/>
              </a:lnSpc>
              <a:buNone/>
            </a:pPr>
            <a:r>
              <a:rPr lang="en-US" sz="1400" dirty="0">
                <a:solidFill>
                  <a:srgbClr val="0E1C42"/>
                </a:solidFill>
                <a:latin typeface="Calibri" pitchFamily="34" charset="0"/>
                <a:ea typeface="Calibri" pitchFamily="34" charset="-122"/>
                <a:cs typeface="Calibri" pitchFamily="34" charset="-120"/>
              </a:rPr>
              <a:t>Example: "South of the Great Lakes"</a:t>
            </a:r>
            <a:endParaRPr lang="en-US" sz="1400" dirty="0"/>
          </a:p>
        </p:txBody>
      </p:sp>
      <p:sp>
        <p:nvSpPr>
          <p:cNvPr id="12" name="Text 10"/>
          <p:cNvSpPr/>
          <p:nvPr/>
        </p:nvSpPr>
        <p:spPr>
          <a:xfrm>
            <a:off x="812800" y="7802880"/>
            <a:ext cx="14630400" cy="487680"/>
          </a:xfrm>
          <a:prstGeom prst="rect">
            <a:avLst/>
          </a:prstGeom>
          <a:noFill/>
          <a:ln/>
        </p:spPr>
        <p:txBody>
          <a:bodyPr wrap="square" rtlCol="0" anchor="ctr"/>
          <a:lstStyle/>
          <a:p>
            <a:pPr algn="ctr" indent="0" marL="0">
              <a:buNone/>
            </a:pPr>
            <a:r>
              <a:rPr lang="en-US" sz="1300" b="1" dirty="0">
                <a:solidFill>
                  <a:srgbClr val="D4943A"/>
                </a:solidFill>
                <a:latin typeface="Calibri" pitchFamily="34" charset="0"/>
                <a:ea typeface="Calibri" pitchFamily="34" charset="-122"/>
                <a:cs typeface="Calibri" pitchFamily="34" charset="-120"/>
              </a:rPr>
              <a:t>Use real examples from the lesson.</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812800" y="487680"/>
            <a:ext cx="14630400" cy="812800"/>
          </a:xfrm>
          <a:prstGeom prst="rect">
            <a:avLst/>
          </a:prstGeom>
          <a:noFill/>
          <a:ln/>
        </p:spPr>
        <p:txBody>
          <a:bodyPr wrap="square" rtlCol="0" anchor="ctr"/>
          <a:lstStyle/>
          <a:p>
            <a:pPr indent="0" marL="0">
              <a:buNone/>
            </a:pPr>
            <a:r>
              <a:rPr lang="en-US" sz="2400" b="1" dirty="0">
                <a:solidFill>
                  <a:srgbClr val="0E1C42"/>
                </a:solidFill>
                <a:latin typeface="Cambria" pitchFamily="34" charset="0"/>
                <a:ea typeface="Cambria" pitchFamily="34" charset="-122"/>
                <a:cs typeface="Cambria" pitchFamily="34" charset="-120"/>
              </a:rPr>
              <a:t>Evidence Question 3</a:t>
            </a:r>
            <a:endParaRPr lang="en-US" sz="2400" dirty="0"/>
          </a:p>
        </p:txBody>
      </p:sp>
      <p:sp>
        <p:nvSpPr>
          <p:cNvPr id="3" name="Text 1"/>
          <p:cNvSpPr/>
          <p:nvPr/>
        </p:nvSpPr>
        <p:spPr>
          <a:xfrm>
            <a:off x="812800" y="1381760"/>
            <a:ext cx="4064000" cy="487680"/>
          </a:xfrm>
          <a:prstGeom prst="rect">
            <a:avLst/>
          </a:prstGeom>
          <a:noFill/>
          <a:ln/>
        </p:spPr>
        <p:txBody>
          <a:bodyPr wrap="square" rtlCol="0" anchor="ctr"/>
          <a:lstStyle/>
          <a:p>
            <a:pPr indent="0" marL="0">
              <a:buNone/>
            </a:pPr>
            <a:r>
              <a:rPr lang="en-US" sz="1000" b="1" spc="150" kern="0" dirty="0">
                <a:solidFill>
                  <a:srgbClr val="D4943A"/>
                </a:solidFill>
                <a:latin typeface="Calibri" pitchFamily="34" charset="0"/>
                <a:ea typeface="Calibri" pitchFamily="34" charset="-122"/>
                <a:cs typeface="Calibri" pitchFamily="34" charset="-120"/>
              </a:rPr>
              <a:t>ASSIGNMENT PREP</a:t>
            </a:r>
            <a:endParaRPr lang="en-US" sz="1000" dirty="0"/>
          </a:p>
        </p:txBody>
      </p:sp>
      <p:sp>
        <p:nvSpPr>
          <p:cNvPr id="4" name="Shape 2"/>
          <p:cNvSpPr/>
          <p:nvPr/>
        </p:nvSpPr>
        <p:spPr>
          <a:xfrm>
            <a:off x="812800" y="1950720"/>
            <a:ext cx="14630400" cy="1950720"/>
          </a:xfrm>
          <a:prstGeom prst="roundRect">
            <a:avLst>
              <a:gd name="adj" fmla="val 10000"/>
            </a:avLst>
          </a:prstGeom>
          <a:solidFill>
            <a:srgbClr val="1A2D5A"/>
          </a:solidFill>
          <a:ln/>
        </p:spPr>
      </p:sp>
      <p:sp>
        <p:nvSpPr>
          <p:cNvPr id="5" name="Text 3"/>
          <p:cNvSpPr/>
          <p:nvPr/>
        </p:nvSpPr>
        <p:spPr>
          <a:xfrm>
            <a:off x="1137920" y="2113280"/>
            <a:ext cx="13980160" cy="1625600"/>
          </a:xfrm>
          <a:prstGeom prst="rect">
            <a:avLst/>
          </a:prstGeom>
          <a:noFill/>
          <a:ln/>
        </p:spPr>
        <p:txBody>
          <a:bodyPr wrap="square" rtlCol="0" anchor="ctr"/>
          <a:lstStyle/>
          <a:p>
            <a:pPr indent="0" marL="0">
              <a:buNone/>
            </a:pPr>
            <a:r>
              <a:rPr lang="en-US" sz="1500" dirty="0">
                <a:solidFill>
                  <a:srgbClr val="FFFFFF"/>
                </a:solidFill>
                <a:latin typeface="Calibri" pitchFamily="34" charset="0"/>
                <a:ea typeface="Calibri" pitchFamily="34" charset="-122"/>
                <a:cs typeface="Calibri" pitchFamily="34" charset="-120"/>
              </a:rPr>
              <a:t>Pick one geographic term you learned in this unit. What is its word root, and how does the root help you remember what the term means?</a:t>
            </a:r>
            <a:endParaRPr lang="en-US" sz="1500" dirty="0"/>
          </a:p>
        </p:txBody>
      </p:sp>
      <p:sp>
        <p:nvSpPr>
          <p:cNvPr id="6" name="Shape 4"/>
          <p:cNvSpPr/>
          <p:nvPr/>
        </p:nvSpPr>
        <p:spPr>
          <a:xfrm>
            <a:off x="812800" y="4389120"/>
            <a:ext cx="14630400" cy="3251200"/>
          </a:xfrm>
          <a:prstGeom prst="roundRect">
            <a:avLst>
              <a:gd name="adj" fmla="val 6000"/>
            </a:avLst>
          </a:prstGeom>
          <a:solidFill>
            <a:srgbClr val="FFFFFF"/>
          </a:solidFill>
          <a:ln/>
          <a:effectLst>
            <a:outerShdw sx="100000" sy="100000" kx="0" ky="0" algn="bl" rotWithShape="0" blurRad="50800" dist="25400" dir="8100000">
              <a:srgbClr val="000000">
                <a:alpha val="10000"/>
              </a:srgbClr>
            </a:outerShdw>
          </a:effectLst>
        </p:spPr>
      </p:sp>
      <p:sp>
        <p:nvSpPr>
          <p:cNvPr id="7" name="Text 5"/>
          <p:cNvSpPr/>
          <p:nvPr/>
        </p:nvSpPr>
        <p:spPr>
          <a:xfrm>
            <a:off x="1137920" y="4551680"/>
            <a:ext cx="13980160" cy="487680"/>
          </a:xfrm>
          <a:prstGeom prst="rect">
            <a:avLst/>
          </a:prstGeom>
          <a:noFill/>
          <a:ln/>
        </p:spPr>
        <p:txBody>
          <a:bodyPr wrap="square" rtlCol="0" anchor="ctr"/>
          <a:lstStyle/>
          <a:p>
            <a:pPr indent="0" marL="0">
              <a:buNone/>
            </a:pPr>
            <a:r>
              <a:rPr lang="en-US" sz="900" b="1" spc="150" kern="0" dirty="0">
                <a:solidFill>
                  <a:srgbClr val="1A8A7D"/>
                </a:solidFill>
                <a:latin typeface="Calibri" pitchFamily="34" charset="0"/>
                <a:ea typeface="Calibri" pitchFamily="34" charset="-122"/>
                <a:cs typeface="Calibri" pitchFamily="34" charset="-120"/>
              </a:rPr>
              <a:t>MODEL ANSWER:</a:t>
            </a:r>
            <a:endParaRPr lang="en-US" sz="900" dirty="0"/>
          </a:p>
        </p:txBody>
      </p:sp>
      <p:sp>
        <p:nvSpPr>
          <p:cNvPr id="8" name="Text 6"/>
          <p:cNvSpPr/>
          <p:nvPr/>
        </p:nvSpPr>
        <p:spPr>
          <a:xfrm>
            <a:off x="1137920" y="5201920"/>
            <a:ext cx="13980160" cy="1950720"/>
          </a:xfrm>
          <a:prstGeom prst="rect">
            <a:avLst/>
          </a:prstGeom>
          <a:noFill/>
          <a:ln/>
        </p:spPr>
        <p:txBody>
          <a:bodyPr wrap="square" rtlCol="0" anchor="t"/>
          <a:lstStyle/>
          <a:p>
            <a:pPr indent="0" marL="0">
              <a:lnSpc>
                <a:spcPct val="130000"/>
              </a:lnSpc>
              <a:buNone/>
            </a:pPr>
            <a:r>
              <a:rPr lang="en-US" sz="1500" i="1" dirty="0">
                <a:solidFill>
                  <a:srgbClr val="0E1C42"/>
                </a:solidFill>
                <a:latin typeface="Cambria" pitchFamily="34" charset="0"/>
                <a:ea typeface="Cambria" pitchFamily="34" charset="-122"/>
                <a:cs typeface="Cambria" pitchFamily="34" charset="-120"/>
              </a:rPr>
              <a:t>"I pick terrain. The root is terra-, which is Latin for 'land.' When I hear terrain, I think of terra (land), and that reminds me terrain describes what the surface of the land looks like."</a:t>
            </a:r>
            <a:endParaRPr lang="en-US" sz="1500" dirty="0"/>
          </a:p>
        </p:txBody>
      </p:sp>
      <p:sp>
        <p:nvSpPr>
          <p:cNvPr id="9" name="Text 7"/>
          <p:cNvSpPr/>
          <p:nvPr/>
        </p:nvSpPr>
        <p:spPr>
          <a:xfrm>
            <a:off x="1137920" y="7152640"/>
            <a:ext cx="13980160" cy="487680"/>
          </a:xfrm>
          <a:prstGeom prst="rect">
            <a:avLst/>
          </a:prstGeom>
          <a:noFill/>
          <a:ln/>
        </p:spPr>
        <p:txBody>
          <a:bodyPr wrap="square" rtlCol="0" anchor="ctr"/>
          <a:lstStyle/>
          <a:p>
            <a:pPr indent="0" marL="0">
              <a:buNone/>
            </a:pPr>
            <a:r>
              <a:rPr lang="en-US" sz="1300" b="1" dirty="0">
                <a:solidFill>
                  <a:srgbClr val="D4943A"/>
                </a:solidFill>
                <a:latin typeface="Calibri" pitchFamily="34" charset="0"/>
                <a:ea typeface="Calibri" pitchFamily="34" charset="-122"/>
                <a:cs typeface="Calibri" pitchFamily="34" charset="-120"/>
              </a:rPr>
              <a:t>Choose a specific word and break it down.</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812800" y="487680"/>
            <a:ext cx="14630400" cy="812800"/>
          </a:xfrm>
          <a:prstGeom prst="rect">
            <a:avLst/>
          </a:prstGeom>
          <a:noFill/>
          <a:ln/>
        </p:spPr>
        <p:txBody>
          <a:bodyPr wrap="square"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Curator Task: Exhibit Explanation Label</a:t>
            </a:r>
            <a:endParaRPr lang="en-US" sz="2200" dirty="0"/>
          </a:p>
        </p:txBody>
      </p:sp>
      <p:sp>
        <p:nvSpPr>
          <p:cNvPr id="3" name="Text 1"/>
          <p:cNvSpPr/>
          <p:nvPr/>
        </p:nvSpPr>
        <p:spPr>
          <a:xfrm>
            <a:off x="812800" y="1381760"/>
            <a:ext cx="4876800" cy="487680"/>
          </a:xfrm>
          <a:prstGeom prst="rect">
            <a:avLst/>
          </a:prstGeom>
          <a:noFill/>
          <a:ln/>
        </p:spPr>
        <p:txBody>
          <a:bodyPr wrap="square" rtlCol="0" anchor="ctr"/>
          <a:lstStyle/>
          <a:p>
            <a:pPr indent="0" marL="0">
              <a:buNone/>
            </a:pPr>
            <a:r>
              <a:rPr lang="en-US" sz="1000" b="1" spc="150" kern="0" dirty="0">
                <a:solidFill>
                  <a:srgbClr val="D4943A"/>
                </a:solidFill>
                <a:latin typeface="Calibri" pitchFamily="34" charset="0"/>
                <a:ea typeface="Calibri" pitchFamily="34" charset="-122"/>
                <a:cs typeface="Calibri" pitchFamily="34" charset="-120"/>
              </a:rPr>
              <a:t>CAPSTONE ASSIGNMENT</a:t>
            </a:r>
            <a:endParaRPr lang="en-US" sz="1000" dirty="0"/>
          </a:p>
        </p:txBody>
      </p:sp>
      <p:sp>
        <p:nvSpPr>
          <p:cNvPr id="4" name="Shape 2"/>
          <p:cNvSpPr/>
          <p:nvPr/>
        </p:nvSpPr>
        <p:spPr>
          <a:xfrm>
            <a:off x="812800" y="1950720"/>
            <a:ext cx="14630400" cy="5201920"/>
          </a:xfrm>
          <a:prstGeom prst="roundRect">
            <a:avLst>
              <a:gd name="adj" fmla="val 3750"/>
            </a:avLst>
          </a:prstGeom>
          <a:solidFill>
            <a:srgbClr val="FFF8F0"/>
          </a:solidFill>
          <a:ln w="19050">
            <a:solidFill>
              <a:srgbClr val="F5E6C8"/>
            </a:solidFill>
            <a:prstDash val="solid"/>
          </a:ln>
        </p:spPr>
      </p:sp>
      <p:sp>
        <p:nvSpPr>
          <p:cNvPr id="5" name="Text 3"/>
          <p:cNvSpPr/>
          <p:nvPr/>
        </p:nvSpPr>
        <p:spPr>
          <a:xfrm>
            <a:off x="1137920" y="2113280"/>
            <a:ext cx="13980160" cy="1137920"/>
          </a:xfrm>
          <a:prstGeom prst="rect">
            <a:avLst/>
          </a:prstGeom>
          <a:noFill/>
          <a:ln/>
        </p:spPr>
        <p:txBody>
          <a:bodyPr wrap="square" rtlCol="0" anchor="t"/>
          <a:lstStyle/>
          <a:p>
            <a:pPr indent="0" marL="0">
              <a:lnSpc>
                <a:spcPct val="120000"/>
              </a:lnSpc>
              <a:buNone/>
            </a:pPr>
            <a:r>
              <a:rPr lang="en-US" sz="1400" dirty="0">
                <a:solidFill>
                  <a:srgbClr val="0E1C42"/>
                </a:solidFill>
                <a:latin typeface="Calibri" pitchFamily="34" charset="0"/>
                <a:ea typeface="Calibri" pitchFamily="34" charset="-122"/>
                <a:cs typeface="Calibri" pitchFamily="34" charset="-120"/>
              </a:rPr>
              <a:t>The blank frame by the entrance is waiting for your label. This is the most important piece of writing in the whole exhibit -- it's what visitors read first.</a:t>
            </a:r>
            <a:endParaRPr lang="en-US" sz="1400" dirty="0"/>
          </a:p>
        </p:txBody>
      </p:sp>
      <p:sp>
        <p:nvSpPr>
          <p:cNvPr id="6" name="Text 4"/>
          <p:cNvSpPr/>
          <p:nvPr/>
        </p:nvSpPr>
        <p:spPr>
          <a:xfrm>
            <a:off x="1137920" y="3251200"/>
            <a:ext cx="13980160" cy="650240"/>
          </a:xfrm>
          <a:prstGeom prst="rect">
            <a:avLst/>
          </a:prstGeom>
          <a:noFill/>
          <a:ln/>
        </p:spPr>
        <p:txBody>
          <a:bodyPr wrap="square" rtlCol="0" anchor="ctr"/>
          <a:lstStyle/>
          <a:p>
            <a:pPr indent="0" marL="0">
              <a:buNone/>
            </a:pPr>
            <a:r>
              <a:rPr lang="en-US" sz="1400" b="1" dirty="0">
                <a:solidFill>
                  <a:srgbClr val="0E1C42"/>
                </a:solidFill>
                <a:latin typeface="Calibri" pitchFamily="34" charset="0"/>
                <a:ea typeface="Calibri" pitchFamily="34" charset="-122"/>
                <a:cs typeface="Calibri" pitchFamily="34" charset="-120"/>
              </a:rPr>
              <a:t>Write the World Map Hall Exhibit Explanation (5-8 sentences). Your label should:</a:t>
            </a:r>
            <a:endParaRPr lang="en-US" sz="1400" dirty="0"/>
          </a:p>
        </p:txBody>
      </p:sp>
      <p:sp>
        <p:nvSpPr>
          <p:cNvPr id="7" name="Text 5"/>
          <p:cNvSpPr/>
          <p:nvPr/>
        </p:nvSpPr>
        <p:spPr>
          <a:xfrm>
            <a:off x="1463040" y="3901440"/>
            <a:ext cx="13329920" cy="1950720"/>
          </a:xfrm>
          <a:prstGeom prst="rect">
            <a:avLst/>
          </a:prstGeom>
          <a:noFill/>
          <a:ln/>
        </p:spPr>
        <p:txBody>
          <a:bodyPr wrap="square" rtlCol="0" anchor="ctr"/>
          <a:lstStyle/>
          <a:p>
            <a:pPr indent="0" marL="0">
              <a:lnSpc>
                <a:spcPct val="130000"/>
              </a:lnSpc>
              <a:buNone/>
            </a:pPr>
            <a:r>
              <a:rPr lang="en-US" sz="1300" dirty="0">
                <a:solidFill>
                  <a:srgbClr val="0E1C42"/>
                </a:solidFill>
                <a:latin typeface="Calibri" pitchFamily="34" charset="0"/>
                <a:ea typeface="Calibri" pitchFamily="34" charset="-122"/>
                <a:cs typeface="Calibri" pitchFamily="34" charset="-120"/>
              </a:rPr>
              <a:t>  1. Tell visitors what the World Map shows (continents, oceans, geographic features)</a:t>
            </a:r>
            <a:endParaRPr lang="en-US" sz="1300" dirty="0"/>
          </a:p>
          <a:p>
            <a:pPr indent="0" marL="0">
              <a:lnSpc>
                <a:spcPct val="130000"/>
              </a:lnSpc>
              <a:buNone/>
            </a:pPr>
            <a:r>
              <a:rPr lang="en-US" sz="1300" dirty="0">
                <a:solidFill>
                  <a:srgbClr val="0E1C42"/>
                </a:solidFill>
                <a:latin typeface="Calibri" pitchFamily="34" charset="0"/>
                <a:ea typeface="Calibri" pitchFamily="34" charset="-122"/>
                <a:cs typeface="Calibri" pitchFamily="34" charset="-120"/>
              </a:rPr>
              <a:t>  2. Mention at least one landform or body of water</a:t>
            </a:r>
            <a:endParaRPr lang="en-US" sz="1300" dirty="0"/>
          </a:p>
          <a:p>
            <a:pPr indent="0" marL="0">
              <a:lnSpc>
                <a:spcPct val="130000"/>
              </a:lnSpc>
              <a:buNone/>
            </a:pPr>
            <a:r>
              <a:rPr lang="en-US" sz="1300" dirty="0">
                <a:solidFill>
                  <a:srgbClr val="0E1C42"/>
                </a:solidFill>
                <a:latin typeface="Calibri" pitchFamily="34" charset="0"/>
                <a:ea typeface="Calibri" pitchFamily="34" charset="-122"/>
                <a:cs typeface="Calibri" pitchFamily="34" charset="-120"/>
              </a:rPr>
              <a:t>  3. Explain how climate connects to vegetation and resources</a:t>
            </a:r>
            <a:endParaRPr lang="en-US" sz="1300" dirty="0"/>
          </a:p>
          <a:p>
            <a:pPr indent="0" marL="0">
              <a:lnSpc>
                <a:spcPct val="130000"/>
              </a:lnSpc>
              <a:buNone/>
            </a:pPr>
            <a:r>
              <a:rPr lang="en-US" sz="1300" dirty="0">
                <a:solidFill>
                  <a:srgbClr val="0E1C42"/>
                </a:solidFill>
                <a:latin typeface="Calibri" pitchFamily="34" charset="0"/>
                <a:ea typeface="Calibri" pitchFamily="34" charset="-122"/>
                <a:cs typeface="Calibri" pitchFamily="34" charset="-120"/>
              </a:rPr>
              <a:t>  4. Mention how location can be described in two ways</a:t>
            </a:r>
            <a:endParaRPr lang="en-US" sz="1300" dirty="0"/>
          </a:p>
        </p:txBody>
      </p:sp>
      <p:sp>
        <p:nvSpPr>
          <p:cNvPr id="8" name="Text 6"/>
          <p:cNvSpPr/>
          <p:nvPr/>
        </p:nvSpPr>
        <p:spPr>
          <a:xfrm>
            <a:off x="1137920" y="5852160"/>
            <a:ext cx="13980160" cy="650240"/>
          </a:xfrm>
          <a:prstGeom prst="rect">
            <a:avLst/>
          </a:prstGeom>
          <a:noFill/>
          <a:ln/>
        </p:spPr>
        <p:txBody>
          <a:bodyPr wrap="square" rtlCol="0" anchor="ctr"/>
          <a:lstStyle/>
          <a:p>
            <a:pPr indent="0" marL="0">
              <a:buNone/>
            </a:pPr>
            <a:r>
              <a:rPr lang="en-US" sz="1300" b="1" i="1" dirty="0">
                <a:solidFill>
                  <a:srgbClr val="D4943A"/>
                </a:solidFill>
                <a:latin typeface="Calibri" pitchFamily="34" charset="0"/>
                <a:ea typeface="Calibri" pitchFamily="34" charset="-122"/>
                <a:cs typeface="Calibri" pitchFamily="34" charset="-120"/>
              </a:rPr>
              <a:t>Write as if real visitors will read your words on Opening Night.</a:t>
            </a:r>
            <a:endParaRPr lang="en-US" sz="1300" dirty="0"/>
          </a:p>
        </p:txBody>
      </p:sp>
      <p:sp>
        <p:nvSpPr>
          <p:cNvPr id="9" name="Shape 7"/>
          <p:cNvSpPr/>
          <p:nvPr/>
        </p:nvSpPr>
        <p:spPr>
          <a:xfrm>
            <a:off x="812800" y="7315200"/>
            <a:ext cx="14630400" cy="1300480"/>
          </a:xfrm>
          <a:prstGeom prst="roundRect">
            <a:avLst>
              <a:gd name="adj" fmla="val 15000"/>
            </a:avLst>
          </a:prstGeom>
          <a:solidFill>
            <a:srgbClr val="F0E8FF"/>
          </a:solidFill>
          <a:ln/>
        </p:spPr>
      </p:sp>
      <p:sp>
        <p:nvSpPr>
          <p:cNvPr id="10" name="Text 8"/>
          <p:cNvSpPr/>
          <p:nvPr/>
        </p:nvSpPr>
        <p:spPr>
          <a:xfrm>
            <a:off x="1137920" y="7396480"/>
            <a:ext cx="6502400" cy="357632"/>
          </a:xfrm>
          <a:prstGeom prst="rect">
            <a:avLst/>
          </a:prstGeom>
          <a:noFill/>
          <a:ln/>
        </p:spPr>
        <p:txBody>
          <a:bodyPr wrap="square" rtlCol="0" anchor="ctr"/>
          <a:lstStyle/>
          <a:p>
            <a:pPr indent="0" marL="0">
              <a:buNone/>
            </a:pPr>
            <a:r>
              <a:rPr lang="en-US" sz="900" b="1" spc="150" kern="0" dirty="0">
                <a:solidFill>
                  <a:srgbClr val="8B6FC0"/>
                </a:solidFill>
                <a:latin typeface="Calibri" pitchFamily="34" charset="0"/>
                <a:ea typeface="Calibri" pitchFamily="34" charset="-122"/>
                <a:cs typeface="Calibri" pitchFamily="34" charset="-120"/>
              </a:rPr>
              <a:t>CURATOR'S CHRONICLE</a:t>
            </a:r>
            <a:endParaRPr lang="en-US" sz="900" dirty="0"/>
          </a:p>
        </p:txBody>
      </p:sp>
      <p:sp>
        <p:nvSpPr>
          <p:cNvPr id="11" name="Text 9"/>
          <p:cNvSpPr/>
          <p:nvPr/>
        </p:nvSpPr>
        <p:spPr>
          <a:xfrm>
            <a:off x="1137920" y="7802880"/>
            <a:ext cx="13980160" cy="650240"/>
          </a:xfrm>
          <a:prstGeom prst="rect">
            <a:avLst/>
          </a:prstGeom>
          <a:noFill/>
          <a:ln/>
        </p:spPr>
        <p:txBody>
          <a:bodyPr wrap="square" rtlCol="0" anchor="ctr"/>
          <a:lstStyle/>
          <a:p>
            <a:pPr indent="0" marL="0">
              <a:buNone/>
            </a:pPr>
            <a:r>
              <a:rPr lang="en-US" sz="1300" i="1" dirty="0">
                <a:solidFill>
                  <a:srgbClr val="0E1C42"/>
                </a:solidFill>
                <a:latin typeface="Calibri" pitchFamily="34" charset="0"/>
                <a:ea typeface="Calibri" pitchFamily="34" charset="-122"/>
                <a:cs typeface="Calibri" pitchFamily="34" charset="-120"/>
              </a:rPr>
              <a:t>"In this unit, I learned that ______ because ______."</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16256000" cy="9144000"/>
          </a:xfrm>
          <a:prstGeom prst="rect">
            <a:avLst/>
          </a:prstGeom>
          <a:solidFill>
            <a:srgbClr val="0B1835"/>
          </a:solidFill>
          <a:ln w="19050">
            <a:solidFill>
              <a:srgbClr val="3A5080"/>
            </a:solidFill>
            <a:prstDash val="dash"/>
          </a:ln>
        </p:spPr>
      </p:sp>
      <p:sp>
        <p:nvSpPr>
          <p:cNvPr id="3" name="Shape 1"/>
          <p:cNvSpPr/>
          <p:nvPr/>
        </p:nvSpPr>
        <p:spPr>
          <a:xfrm>
            <a:off x="0" y="0"/>
            <a:ext cx="16256000" cy="9144000"/>
          </a:xfrm>
          <a:prstGeom prst="rect">
            <a:avLst/>
          </a:prstGeom>
          <a:solidFill>
            <a:srgbClr val="0E1C42">
              <a:alpha val="62000"/>
            </a:srgbClr>
          </a:solidFill>
          <a:ln/>
        </p:spPr>
      </p:sp>
      <p:sp>
        <p:nvSpPr>
          <p:cNvPr id="5" name="Text 2"/>
          <p:cNvSpPr/>
          <p:nvPr/>
        </p:nvSpPr>
        <p:spPr>
          <a:xfrm>
            <a:off x="975360" y="975360"/>
            <a:ext cx="14305280" cy="2275840"/>
          </a:xfrm>
          <a:prstGeom prst="rect">
            <a:avLst/>
          </a:prstGeom>
          <a:noFill/>
          <a:ln/>
        </p:spPr>
        <p:txBody>
          <a:bodyPr wrap="square" rtlCol="0" anchor="ctr"/>
          <a:lstStyle/>
          <a:p>
            <a:pPr algn="ctr" indent="0" marL="0">
              <a:lnSpc>
                <a:spcPct val="115000"/>
              </a:lnSpc>
              <a:buNone/>
            </a:pPr>
            <a:r>
              <a:rPr lang="en-US" sz="3600" b="1" dirty="0">
                <a:solidFill>
                  <a:srgbClr val="FFFFFF"/>
                </a:solidFill>
                <a:latin typeface="Cambria" pitchFamily="34" charset="0"/>
                <a:ea typeface="Cambria" pitchFamily="34" charset="-122"/>
                <a:cs typeface="Cambria" pitchFamily="34" charset="-120"/>
              </a:rPr>
              <a:t>Congratulations,</a:t>
            </a:r>
            <a:endParaRPr lang="en-US" sz="3600" dirty="0"/>
          </a:p>
          <a:p>
            <a:pPr algn="ctr" indent="0" marL="0">
              <a:lnSpc>
                <a:spcPct val="115000"/>
              </a:lnSpc>
              <a:buNone/>
            </a:pPr>
            <a:r>
              <a:rPr lang="en-US" sz="3600" b="1" dirty="0">
                <a:solidFill>
                  <a:srgbClr val="FFFFFF"/>
                </a:solidFill>
                <a:latin typeface="Cambria" pitchFamily="34" charset="0"/>
                <a:ea typeface="Cambria" pitchFamily="34" charset="-122"/>
                <a:cs typeface="Cambria" pitchFamily="34" charset="-120"/>
              </a:rPr>
              <a:t>World Locator!</a:t>
            </a:r>
            <a:endParaRPr lang="en-US" sz="3600" dirty="0"/>
          </a:p>
        </p:txBody>
      </p:sp>
      <p:sp>
        <p:nvSpPr>
          <p:cNvPr id="6" name="Shape 3"/>
          <p:cNvSpPr/>
          <p:nvPr/>
        </p:nvSpPr>
        <p:spPr>
          <a:xfrm>
            <a:off x="3251200" y="3576320"/>
            <a:ext cx="9753600" cy="975360"/>
          </a:xfrm>
          <a:prstGeom prst="roundRect">
            <a:avLst>
              <a:gd name="adj" fmla="val 16667"/>
            </a:avLst>
          </a:prstGeom>
          <a:solidFill>
            <a:srgbClr val="D4943A"/>
          </a:solidFill>
          <a:ln/>
        </p:spPr>
      </p:sp>
      <p:sp>
        <p:nvSpPr>
          <p:cNvPr id="7" name="Text 4"/>
          <p:cNvSpPr/>
          <p:nvPr/>
        </p:nvSpPr>
        <p:spPr>
          <a:xfrm>
            <a:off x="3251200" y="3576320"/>
            <a:ext cx="9753600" cy="975360"/>
          </a:xfrm>
          <a:prstGeom prst="rect">
            <a:avLst/>
          </a:prstGeom>
          <a:noFill/>
          <a:ln/>
        </p:spPr>
        <p:txBody>
          <a:bodyPr wrap="square" rtlCol="0" anchor="ctr"/>
          <a:lstStyle/>
          <a:p>
            <a:pPr algn="ctr" indent="0" marL="0">
              <a:buNone/>
            </a:pPr>
            <a:r>
              <a:rPr lang="en-US" sz="1400" b="1" spc="150" kern="0" dirty="0">
                <a:solidFill>
                  <a:srgbClr val="FFFFFF"/>
                </a:solidFill>
                <a:latin typeface="Calibri" pitchFamily="34" charset="0"/>
                <a:ea typeface="Calibri" pitchFamily="34" charset="-122"/>
                <a:cs typeface="Calibri" pitchFamily="34" charset="-120"/>
              </a:rPr>
              <a:t>WORLD LOCATOR BADGE EARNED</a:t>
            </a:r>
            <a:endParaRPr lang="en-US" sz="1400" dirty="0"/>
          </a:p>
        </p:txBody>
      </p:sp>
      <p:sp>
        <p:nvSpPr>
          <p:cNvPr id="8" name="Shape 5"/>
          <p:cNvSpPr/>
          <p:nvPr/>
        </p:nvSpPr>
        <p:spPr>
          <a:xfrm>
            <a:off x="2438400" y="5039360"/>
            <a:ext cx="11379200" cy="3413760"/>
          </a:xfrm>
          <a:prstGeom prst="roundRect">
            <a:avLst>
              <a:gd name="adj" fmla="val 7143"/>
            </a:avLst>
          </a:prstGeom>
          <a:solidFill>
            <a:srgbClr val="1A2D5A">
              <a:alpha val="80000"/>
            </a:srgbClr>
          </a:solidFill>
          <a:ln/>
        </p:spPr>
      </p:sp>
      <p:sp>
        <p:nvSpPr>
          <p:cNvPr id="9" name="Text 6"/>
          <p:cNvSpPr/>
          <p:nvPr/>
        </p:nvSpPr>
        <p:spPr>
          <a:xfrm>
            <a:off x="2763520" y="5201920"/>
            <a:ext cx="10728960" cy="487680"/>
          </a:xfrm>
          <a:prstGeom prst="rect">
            <a:avLst/>
          </a:prstGeom>
          <a:noFill/>
          <a:ln/>
        </p:spPr>
        <p:txBody>
          <a:bodyPr wrap="square" rtlCol="0" anchor="ctr"/>
          <a:lstStyle/>
          <a:p>
            <a:pPr algn="ctr" indent="0" marL="0">
              <a:buNone/>
            </a:pPr>
            <a:r>
              <a:rPr lang="en-US" sz="1000" b="1" spc="150" kern="0" dirty="0">
                <a:solidFill>
                  <a:srgbClr val="55C8E8"/>
                </a:solidFill>
                <a:latin typeface="Calibri" pitchFamily="34" charset="0"/>
                <a:ea typeface="Calibri" pitchFamily="34" charset="-122"/>
                <a:cs typeface="Calibri" pitchFamily="34" charset="-120"/>
              </a:rPr>
              <a:t>COMING NEXT</a:t>
            </a:r>
            <a:endParaRPr lang="en-US" sz="1000" dirty="0"/>
          </a:p>
        </p:txBody>
      </p:sp>
      <p:sp>
        <p:nvSpPr>
          <p:cNvPr id="10" name="Text 7"/>
          <p:cNvSpPr/>
          <p:nvPr/>
        </p:nvSpPr>
        <p:spPr>
          <a:xfrm>
            <a:off x="2763520" y="5770880"/>
            <a:ext cx="10728960" cy="2438400"/>
          </a:xfrm>
          <a:prstGeom prst="rect">
            <a:avLst/>
          </a:prstGeom>
          <a:noFill/>
          <a:ln/>
        </p:spPr>
        <p:txBody>
          <a:bodyPr wrap="square" rtlCol="0" anchor="t"/>
          <a:lstStyle/>
          <a:p>
            <a:pPr algn="ctr" indent="0" marL="0">
              <a:lnSpc>
                <a:spcPct val="120000"/>
              </a:lnSpc>
              <a:buNone/>
            </a:pPr>
            <a:r>
              <a:rPr lang="en-US" sz="1400" dirty="0">
                <a:solidFill>
                  <a:srgbClr val="FFFFFF"/>
                </a:solidFill>
                <a:latin typeface="Calibri" pitchFamily="34" charset="0"/>
                <a:ea typeface="Calibri" pitchFamily="34" charset="-122"/>
                <a:cs typeface="Calibri" pitchFamily="34" charset="-120"/>
              </a:rPr>
              <a:t>A museum guide taps you on the shoulder. "You've done a great job with the whole world. But now we need someone who can zoom in."</a:t>
            </a:r>
            <a:endParaRPr lang="en-US" sz="1400" dirty="0"/>
          </a:p>
          <a:p>
            <a:pPr algn="ctr" indent="0" marL="0">
              <a:lnSpc>
                <a:spcPct val="120000"/>
              </a:lnSpc>
              <a:buNone/>
            </a:pPr>
            <a:endParaRPr lang="en-US" sz="1400" dirty="0"/>
          </a:p>
          <a:p>
            <a:pPr algn="ctr" indent="0" marL="0">
              <a:lnSpc>
                <a:spcPct val="120000"/>
              </a:lnSpc>
              <a:buNone/>
            </a:pPr>
            <a:r>
              <a:rPr lang="en-US" sz="1400" dirty="0">
                <a:solidFill>
                  <a:srgbClr val="FFFFFF"/>
                </a:solidFill>
                <a:latin typeface="Calibri" pitchFamily="34" charset="0"/>
                <a:ea typeface="Calibri" pitchFamily="34" charset="-122"/>
                <a:cs typeface="Calibri" pitchFamily="34" charset="-120"/>
              </a:rPr>
              <a:t>The North America and Caribbean Gallery opens next week. Think you're ready?</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2026-07-11T02:52:28Z</dcterms:created>
  <dcterms:modified xsi:type="dcterms:W3CDTF">2026-07-11T02:52:28Z</dcterms:modified>
</cp:coreProperties>
</file>