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Great Map Room in dramatic final-inspection mode -- every map on the wall is repaired, a glowing locked door in the back reads 'Cartographer's Review Chamber', warm cinematic lightingSLIDE 1 — TITLE. Build excitement: this is the FINAL INSPECTION. Read the Curator's Question. IMAGE TO INSERT: Great Map Room final inspection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HOOK. Set the stakes: final inspection, Mapmaker badge, unlock the next room. Build excitement.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VIRTUE. Read the honesty definition. Ask: 'Why is it better to say I'm not sure than to guess?' Connect to map reading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DISCOVERY OVERVIEW. Quick-fire review: spend 10-15 seconds per skill card. Ask a quick question for each. 'What does the scale tell us? Distance!' Keep it energetic.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REVIEW Title + Compass Rose. Quick-fire questions. Students answer aloud or in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REVIEW Scale + Legend. Quick-fire. Preview self-check questions through the chat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REVIEW Map Types + Globe vs. Flat. Thinking Move: Compare. Ask: 'When would you pick an elevation map instead of a political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CHAT FRAME. 1 minute for students to write in notebooks. Connect to honesty: it's not weakness to say something is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CHALLENGE MATCH. Read each question, let students call out the answer BEFORE revealing the match. Make it a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DISCOVERY FACT. Share the fun fact. Ask discussion questions. Quick 30-second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EXHIBIT LABEL. Read the label aloud. This is the key synthesis. Transition to guided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MODEL. Walk through each step slowly. Emphasize: one question needed THREE skills. This is what the assignment asks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WE TRY. This directly scaffolds Evidence Question 1. Have students discuss with a partner first, then share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YOUR TURN. Students answer first, then reveal. Scaffolds EQ2.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ERROR ANALYSIS. Each error shows what happens when you guess. Connect to honesty: honest curators check the evidence. Directly scaffolds EQ3.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WHY IT MATTERS. Socratic discussion. Thinking Move: Explain. This wraps up the conceptual learning before self-check.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SELF-CHECK. All 3 questions. Have students vote/respond before revealing answers. Quick celebration for correct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EVIDENCE QUESTIONS. Read each aloud. All 3 have been scaffolded in previous slides. Model Q1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CURATOR TASK + CHRONICLE. Read task aloud. Remind: 3-4 sentences, at least 3 skills, one specific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CHECKLIST. Walk through each item. Note: this lesson has THREE evidence questions (not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The Great Map Room glowing with celebration, curators cheering, the locked door now open and glowing with light revealing the 'Cartographer's Review Chamber' beyond -- cinematic, triumphantSLIDE 21 — CLOSING. Celebrate the Mapmaker badge! Preview the Cartographer's Review Chamber. 'See you there!' IMAGE TO INSERT: Triumphant Map Room celebration, door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1300480"/>
            <a:ext cx="14305280" cy="650240"/>
          </a:xfrm>
          <a:prstGeom prst="rect">
            <a:avLst/>
          </a:prstGeom>
          <a:noFill/>
          <a:ln/>
        </p:spPr>
        <p:txBody>
          <a:bodyPr wrap="square" lIns="0" tIns="0" rIns="0" bIns="0" rtlCol="0" anchor="ctr"/>
          <a:lstStyle/>
          <a:p>
            <a:pPr indent="0" marL="0">
              <a:buNone/>
            </a:pPr>
            <a:r>
              <a:rPr lang="en-US" sz="1300" b="1" spc="200" kern="0" dirty="0">
                <a:solidFill>
                  <a:srgbClr val="55C8E8"/>
                </a:solidFill>
                <a:latin typeface="Calibri" pitchFamily="34" charset="0"/>
                <a:ea typeface="Calibri" pitchFamily="34" charset="-122"/>
                <a:cs typeface="Calibri" pitchFamily="34" charset="-120"/>
              </a:rPr>
              <a:t>THE GREAT MAP ROOM</a:t>
            </a:r>
            <a:endParaRPr lang="en-US" sz="1300" dirty="0"/>
          </a:p>
        </p:txBody>
      </p:sp>
      <p:sp>
        <p:nvSpPr>
          <p:cNvPr id="6" name="Text 3"/>
          <p:cNvSpPr/>
          <p:nvPr/>
        </p:nvSpPr>
        <p:spPr>
          <a:xfrm>
            <a:off x="975360" y="2113280"/>
            <a:ext cx="14305280"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Map Skills Challenge</a:t>
            </a:r>
            <a:endParaRPr lang="en-US" sz="3800" dirty="0"/>
          </a:p>
        </p:txBody>
      </p:sp>
      <p:sp>
        <p:nvSpPr>
          <p:cNvPr id="7" name="Shape 4"/>
          <p:cNvSpPr/>
          <p:nvPr/>
        </p:nvSpPr>
        <p:spPr>
          <a:xfrm>
            <a:off x="975360" y="3738880"/>
            <a:ext cx="4064000" cy="65024"/>
          </a:xfrm>
          <a:prstGeom prst="rect">
            <a:avLst/>
          </a:prstGeom>
          <a:solidFill>
            <a:srgbClr val="D4943A"/>
          </a:solidFill>
          <a:ln/>
        </p:spPr>
      </p:sp>
      <p:sp>
        <p:nvSpPr>
          <p:cNvPr id="8" name="Text 5"/>
          <p:cNvSpPr/>
          <p:nvPr/>
        </p:nvSpPr>
        <p:spPr>
          <a:xfrm>
            <a:off x="975360" y="4064000"/>
            <a:ext cx="13004800" cy="1625600"/>
          </a:xfrm>
          <a:prstGeom prst="rect">
            <a:avLst/>
          </a:prstGeom>
          <a:noFill/>
          <a:ln/>
        </p:spPr>
        <p:txBody>
          <a:bodyPr wrap="square" lIns="0" tIns="0" rIns="0" bIns="0" rtlCol="0" anchor="ctr"/>
          <a:lstStyle/>
          <a:p>
            <a:pPr indent="0" marL="0">
              <a:lnSpc>
                <a:spcPct val="120000"/>
              </a:lnSpc>
              <a:buNone/>
            </a:pPr>
            <a:r>
              <a:rPr lang="en-US" sz="1500" i="1" dirty="0">
                <a:solidFill>
                  <a:srgbClr val="D4943A"/>
                </a:solidFill>
                <a:latin typeface="Cambria" pitchFamily="34" charset="0"/>
                <a:ea typeface="Cambria" pitchFamily="34" charset="-122"/>
                <a:cs typeface="Cambria" pitchFamily="34" charset="-120"/>
              </a:rPr>
              <a:t>Can you use all your map skills together -- elements,</a:t>
            </a:r>
            <a:endParaRPr lang="en-US" sz="1500" dirty="0"/>
          </a:p>
          <a:p>
            <a:pPr indent="0" marL="0">
              <a:lnSpc>
                <a:spcPct val="120000"/>
              </a:lnSpc>
              <a:buNone/>
            </a:pPr>
            <a:r>
              <a:rPr lang="en-US" sz="1500" i="1" dirty="0">
                <a:solidFill>
                  <a:srgbClr val="D4943A"/>
                </a:solidFill>
                <a:latin typeface="Cambria" pitchFamily="34" charset="0"/>
                <a:ea typeface="Cambria" pitchFamily="34" charset="-122"/>
                <a:cs typeface="Cambria" pitchFamily="34" charset="-120"/>
              </a:rPr>
              <a:t>directions, types, scale, and evidence -- to prove</a:t>
            </a:r>
            <a:endParaRPr lang="en-US" sz="1500" dirty="0"/>
          </a:p>
          <a:p>
            <a:pPr indent="0" marL="0">
              <a:lnSpc>
                <a:spcPct val="120000"/>
              </a:lnSpc>
              <a:buNone/>
            </a:pPr>
            <a:r>
              <a:rPr lang="en-US" sz="1500" i="1" dirty="0">
                <a:solidFill>
                  <a:srgbClr val="D4943A"/>
                </a:solidFill>
                <a:latin typeface="Cambria" pitchFamily="34" charset="0"/>
                <a:ea typeface="Cambria" pitchFamily="34" charset="-122"/>
                <a:cs typeface="Cambria" pitchFamily="34" charset="-120"/>
              </a:rPr>
              <a:t>the Great Map Room is ready for visitors?</a:t>
            </a:r>
            <a:endParaRPr lang="en-US" sz="1500" dirty="0"/>
          </a:p>
        </p:txBody>
      </p:sp>
      <p:sp>
        <p:nvSpPr>
          <p:cNvPr id="9" name="Text 6"/>
          <p:cNvSpPr/>
          <p:nvPr/>
        </p:nvSpPr>
        <p:spPr>
          <a:xfrm>
            <a:off x="975360" y="7477760"/>
            <a:ext cx="13004800" cy="487680"/>
          </a:xfrm>
          <a:prstGeom prst="rect">
            <a:avLst/>
          </a:prstGeom>
          <a:noFill/>
          <a:ln/>
        </p:spPr>
        <p:txBody>
          <a:bodyPr wrap="square" lIns="0" tIns="0" rIns="0" bIns="0" rtlCol="0" anchor="ctr"/>
          <a:lstStyle/>
          <a:p>
            <a:pPr indent="0" marL="0">
              <a:buNone/>
            </a:pPr>
            <a:r>
              <a:rPr lang="en-US" sz="1000" dirty="0">
                <a:solidFill>
                  <a:srgbClr val="7A88A8"/>
                </a:solidFill>
                <a:latin typeface="Calibri" pitchFamily="34" charset="0"/>
                <a:ea typeface="Calibri" pitchFamily="34" charset="-122"/>
                <a:cs typeface="Calibri" pitchFamily="34" charset="-120"/>
              </a:rPr>
              <a:t>Lesson 3.03.08  |  Week 10  |  SS.3.G.1.1 / 1.2 / 1.4 / 1.5 / 1.6</a:t>
            </a:r>
            <a:endParaRPr lang="en-US" sz="1000" dirty="0"/>
          </a:p>
        </p:txBody>
      </p:sp>
      <p:sp>
        <p:nvSpPr>
          <p:cNvPr id="10" name="Text 7"/>
          <p:cNvSpPr/>
          <p:nvPr/>
        </p:nvSpPr>
        <p:spPr>
          <a:xfrm>
            <a:off x="975360" y="8046720"/>
            <a:ext cx="6502400" cy="4064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ENTER THE MUSEUM</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812800"/>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The Final Inspection</a:t>
            </a:r>
            <a:endParaRPr lang="en-US" sz="2600" dirty="0"/>
          </a:p>
        </p:txBody>
      </p:sp>
      <p:sp>
        <p:nvSpPr>
          <p:cNvPr id="6" name="Shape 4"/>
          <p:cNvSpPr/>
          <p:nvPr/>
        </p:nvSpPr>
        <p:spPr>
          <a:xfrm>
            <a:off x="812800" y="2032000"/>
            <a:ext cx="2926080" cy="56896"/>
          </a:xfrm>
          <a:prstGeom prst="rect">
            <a:avLst/>
          </a:prstGeom>
          <a:solidFill>
            <a:srgbClr val="D4943A"/>
          </a:solidFill>
          <a:ln/>
        </p:spPr>
      </p:sp>
      <p:sp>
        <p:nvSpPr>
          <p:cNvPr id="7" name="Shape 5"/>
          <p:cNvSpPr/>
          <p:nvPr/>
        </p:nvSpPr>
        <p:spPr>
          <a:xfrm>
            <a:off x="812800" y="2438400"/>
            <a:ext cx="8940800" cy="5201920"/>
          </a:xfrm>
          <a:prstGeom prst="roundRect">
            <a:avLst>
              <a:gd name="adj" fmla="val 3750"/>
            </a:avLst>
          </a:prstGeom>
          <a:solidFill>
            <a:srgbClr val="FFF8F0"/>
          </a:solidFill>
          <a:ln w="12700">
            <a:solidFill>
              <a:srgbClr val="F5E6C8"/>
            </a:solidFill>
            <a:prstDash val="solid"/>
          </a:ln>
        </p:spPr>
      </p:sp>
      <p:sp>
        <p:nvSpPr>
          <p:cNvPr id="8" name="Text 6"/>
          <p:cNvSpPr/>
          <p:nvPr/>
        </p:nvSpPr>
        <p:spPr>
          <a:xfrm>
            <a:off x="1137920" y="2600960"/>
            <a:ext cx="8290560" cy="4876800"/>
          </a:xfrm>
          <a:prstGeom prst="rect">
            <a:avLst/>
          </a:prstGeom>
          <a:noFill/>
          <a:ln/>
        </p:spPr>
        <p:txBody>
          <a:bodyPr wrap="square" lIns="0" tIns="0" rIns="0" bIns="0" rtlCol="0" anchor="t"/>
          <a:lstStyle/>
          <a:p>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Last time, you proved you could plan your own map. The director was impressed.
</a:t>
            </a:r>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But before the Great Map Room can officially open to visitors, there's one final step: </a:t>
            </a:r>
            <a:pPr indent="0" marL="0">
              <a:lnSpc>
                <a:spcPct val="115000"/>
              </a:lnSpc>
              <a:buNone/>
            </a:pPr>
            <a:r>
              <a:rPr lang="en-US" sz="1400" b="1" dirty="0">
                <a:solidFill>
                  <a:srgbClr val="D4943A"/>
                </a:solidFill>
                <a:latin typeface="Calibri" pitchFamily="34" charset="0"/>
                <a:ea typeface="Calibri" pitchFamily="34" charset="-122"/>
                <a:cs typeface="Calibri" pitchFamily="34" charset="-120"/>
              </a:rPr>
              <a:t>the Map Skills Challenge.
</a:t>
            </a:r>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Think of this as the room's final inspection. The museum needs to know you can use </a:t>
            </a:r>
            <a:pPr indent="0" marL="0">
              <a:lnSpc>
                <a:spcPct val="115000"/>
              </a:lnSpc>
              <a:buNone/>
            </a:pPr>
            <a:r>
              <a:rPr lang="en-US" sz="1300" b="1" i="1" dirty="0">
                <a:solidFill>
                  <a:srgbClr val="0E1C42"/>
                </a:solidFill>
                <a:latin typeface="Calibri" pitchFamily="34" charset="0"/>
                <a:ea typeface="Calibri" pitchFamily="34" charset="-122"/>
                <a:cs typeface="Calibri" pitchFamily="34" charset="-120"/>
              </a:rPr>
              <a:t>everything</a:t>
            </a:r>
            <a:pPr indent="0" marL="0">
              <a:lnSpc>
                <a:spcPct val="115000"/>
              </a:lnSpc>
              <a:buNone/>
            </a:pPr>
            <a:r>
              <a:rPr lang="en-US" sz="1300" dirty="0">
                <a:solidFill>
                  <a:srgbClr val="0E1C42"/>
                </a:solidFill>
                <a:latin typeface="Calibri" pitchFamily="34" charset="0"/>
                <a:ea typeface="Calibri" pitchFamily="34" charset="-122"/>
                <a:cs typeface="Calibri" pitchFamily="34" charset="-120"/>
              </a:rPr>
              <a:t> you've learned.</a:t>
            </a:r>
            <a:endParaRPr lang="en-US" sz="1300" dirty="0"/>
          </a:p>
        </p:txBody>
      </p:sp>
      <p:sp>
        <p:nvSpPr>
          <p:cNvPr id="9" name="Shape 7"/>
          <p:cNvSpPr/>
          <p:nvPr/>
        </p:nvSpPr>
        <p:spPr>
          <a:xfrm>
            <a:off x="10241280" y="2438400"/>
            <a:ext cx="5201920" cy="5201920"/>
          </a:xfrm>
          <a:prstGeom prst="roundRect">
            <a:avLst>
              <a:gd name="adj" fmla="val 3750"/>
            </a:avLst>
          </a:prstGeom>
          <a:solidFill>
            <a:srgbClr val="E2E8F4"/>
          </a:solidFill>
          <a:ln w="19050">
            <a:solidFill>
              <a:srgbClr val="B0B8CC"/>
            </a:solidFill>
            <a:prstDash val="dash"/>
          </a:ln>
        </p:spPr>
      </p:sp>
      <p:sp>
        <p:nvSpPr>
          <p:cNvPr id="10" name="Text 8"/>
          <p:cNvSpPr/>
          <p:nvPr/>
        </p:nvSpPr>
        <p:spPr>
          <a:xfrm>
            <a:off x="10241280" y="2438400"/>
            <a:ext cx="52019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10485120" y="2926080"/>
            <a:ext cx="4714240" cy="455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locked glowing door with a sign reading 'Cartographer's Review Chamber -- Opens When Curators Are Ready'</a:t>
            </a:r>
            <a:endParaRPr lang="en-US" sz="1100" dirty="0"/>
          </a:p>
        </p:txBody>
      </p:sp>
      <p:sp>
        <p:nvSpPr>
          <p:cNvPr id="12" name="Shape 10"/>
          <p:cNvSpPr/>
          <p:nvPr/>
        </p:nvSpPr>
        <p:spPr>
          <a:xfrm>
            <a:off x="812800" y="7965440"/>
            <a:ext cx="14955520" cy="731520"/>
          </a:xfrm>
          <a:prstGeom prst="roundRect">
            <a:avLst>
              <a:gd name="adj" fmla="val 22222"/>
            </a:avLst>
          </a:prstGeom>
          <a:solidFill>
            <a:srgbClr val="EAF8FD"/>
          </a:solidFill>
          <a:ln/>
        </p:spPr>
      </p:sp>
      <p:sp>
        <p:nvSpPr>
          <p:cNvPr id="13" name="Text 11"/>
          <p:cNvSpPr/>
          <p:nvPr/>
        </p:nvSpPr>
        <p:spPr>
          <a:xfrm>
            <a:off x="1137920" y="7965440"/>
            <a:ext cx="14305280" cy="731520"/>
          </a:xfrm>
          <a:prstGeom prst="rect">
            <a:avLst/>
          </a:prstGeom>
          <a:noFill/>
          <a:ln/>
        </p:spPr>
        <p:txBody>
          <a:bodyPr wrap="square" lIns="0" tIns="0" rIns="0" bIns="0" rtlCol="0" anchor="ctr"/>
          <a:lstStyle/>
          <a:p>
            <a:pPr indent="0" marL="0">
              <a:buNone/>
            </a:pPr>
            <a:r>
              <a:rPr lang="en-US" sz="1300" b="1" i="1" dirty="0">
                <a:solidFill>
                  <a:srgbClr val="1A8A7D"/>
                </a:solidFill>
                <a:latin typeface="Calibri" pitchFamily="34" charset="0"/>
                <a:ea typeface="Calibri" pitchFamily="34" charset="-122"/>
                <a:cs typeface="Calibri" pitchFamily="34" charset="-120"/>
              </a:rPr>
              <a:t>If you pass, you earn your Mapmaker badge and unlock the next room!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1A2D5A"/>
          </a:solidFill>
          <a:ln/>
        </p:spPr>
      </p:sp>
      <p:sp>
        <p:nvSpPr>
          <p:cNvPr id="3" name="Text 1"/>
          <p:cNvSpPr/>
          <p:nvPr/>
        </p:nvSpPr>
        <p:spPr>
          <a:xfrm>
            <a:off x="975360" y="975360"/>
            <a:ext cx="6502400" cy="487680"/>
          </a:xfrm>
          <a:prstGeom prst="rect">
            <a:avLst/>
          </a:prstGeom>
          <a:noFill/>
          <a:ln/>
        </p:spPr>
        <p:txBody>
          <a:bodyPr wrap="square" lIns="0" tIns="0" rIns="0" bIns="0"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VIRTUE SPOTLIGHT</a:t>
            </a:r>
            <a:endParaRPr lang="en-US" sz="1000" dirty="0"/>
          </a:p>
        </p:txBody>
      </p:sp>
      <p:sp>
        <p:nvSpPr>
          <p:cNvPr id="4" name="Text 2"/>
          <p:cNvSpPr/>
          <p:nvPr/>
        </p:nvSpPr>
        <p:spPr>
          <a:xfrm>
            <a:off x="975360" y="1625600"/>
            <a:ext cx="13004800" cy="1137920"/>
          </a:xfrm>
          <a:prstGeom prst="rect">
            <a:avLst/>
          </a:prstGeom>
          <a:noFill/>
          <a:ln/>
        </p:spPr>
        <p:txBody>
          <a:bodyPr wrap="square" lIns="0" tIns="0" rIns="0" bIns="0" rtlCol="0" anchor="ctr"/>
          <a:lstStyle/>
          <a:p>
            <a:pPr indent="0" marL="0">
              <a:buNone/>
            </a:pPr>
            <a:r>
              <a:rPr lang="en-US" sz="3400" b="1" dirty="0">
                <a:solidFill>
                  <a:srgbClr val="D4943A"/>
                </a:solidFill>
                <a:latin typeface="Cambria" pitchFamily="34" charset="0"/>
                <a:ea typeface="Cambria" pitchFamily="34" charset="-122"/>
                <a:cs typeface="Cambria" pitchFamily="34" charset="-120"/>
              </a:rPr>
              <a:t>Honesty</a:t>
            </a:r>
            <a:endParaRPr lang="en-US" sz="3400" dirty="0"/>
          </a:p>
        </p:txBody>
      </p:sp>
      <p:sp>
        <p:nvSpPr>
          <p:cNvPr id="5" name="Shape 3"/>
          <p:cNvSpPr/>
          <p:nvPr/>
        </p:nvSpPr>
        <p:spPr>
          <a:xfrm>
            <a:off x="975360" y="2844800"/>
            <a:ext cx="3251200" cy="65024"/>
          </a:xfrm>
          <a:prstGeom prst="rect">
            <a:avLst/>
          </a:prstGeom>
          <a:solidFill>
            <a:srgbClr val="D4943A"/>
          </a:solidFill>
          <a:ln/>
        </p:spPr>
      </p:sp>
      <p:sp>
        <p:nvSpPr>
          <p:cNvPr id="6" name="Shape 4"/>
          <p:cNvSpPr/>
          <p:nvPr/>
        </p:nvSpPr>
        <p:spPr>
          <a:xfrm>
            <a:off x="975360" y="3251200"/>
            <a:ext cx="13817600" cy="2275840"/>
          </a:xfrm>
          <a:prstGeom prst="roundRect">
            <a:avLst>
              <a:gd name="adj" fmla="val 8571"/>
            </a:avLst>
          </a:prstGeom>
          <a:solidFill>
            <a:srgbClr val="162750"/>
          </a:solidFill>
          <a:ln/>
        </p:spPr>
      </p:sp>
      <p:sp>
        <p:nvSpPr>
          <p:cNvPr id="7" name="Text 5"/>
          <p:cNvSpPr/>
          <p:nvPr/>
        </p:nvSpPr>
        <p:spPr>
          <a:xfrm>
            <a:off x="1300480" y="3413760"/>
            <a:ext cx="13167360" cy="1950720"/>
          </a:xfrm>
          <a:prstGeom prst="rect">
            <a:avLst/>
          </a:prstGeom>
          <a:noFill/>
          <a:ln/>
        </p:spPr>
        <p:txBody>
          <a:bodyPr wrap="square" lIns="0" tIns="0" rIns="0" bIns="0" rtlCol="0" anchor="ctr"/>
          <a:lstStyle/>
          <a:p>
            <a:pPr indent="0" marL="0">
              <a:lnSpc>
                <a:spcPct val="120000"/>
              </a:lnSpc>
              <a:buNone/>
            </a:pPr>
            <a:r>
              <a:rPr lang="en-US" sz="1500" dirty="0">
                <a:solidFill>
                  <a:srgbClr val="FFFFFF"/>
                </a:solidFill>
                <a:latin typeface="Calibri" pitchFamily="34" charset="0"/>
                <a:ea typeface="Calibri" pitchFamily="34" charset="-122"/>
                <a:cs typeface="Calibri" pitchFamily="34" charset="-120"/>
              </a:rPr>
              <a:t>Honest curators don't pretend to know something they don't. If a question stumps you today, that's okay -- it shows you what to study more. Being honest about what you know is the first step to knowing more.</a:t>
            </a:r>
            <a:endParaRPr lang="en-US" sz="1500" dirty="0"/>
          </a:p>
        </p:txBody>
      </p:sp>
      <p:sp>
        <p:nvSpPr>
          <p:cNvPr id="8" name="Shape 6"/>
          <p:cNvSpPr/>
          <p:nvPr/>
        </p:nvSpPr>
        <p:spPr>
          <a:xfrm>
            <a:off x="975360" y="5852160"/>
            <a:ext cx="13817600" cy="1625600"/>
          </a:xfrm>
          <a:prstGeom prst="roundRect">
            <a:avLst>
              <a:gd name="adj" fmla="val 12000"/>
            </a:avLst>
          </a:prstGeom>
          <a:solidFill>
            <a:srgbClr val="D4943A">
              <a:alpha val="85000"/>
            </a:srgbClr>
          </a:solidFill>
          <a:ln/>
        </p:spPr>
      </p:sp>
      <p:sp>
        <p:nvSpPr>
          <p:cNvPr id="9" name="Text 7"/>
          <p:cNvSpPr/>
          <p:nvPr/>
        </p:nvSpPr>
        <p:spPr>
          <a:xfrm>
            <a:off x="1300480" y="6014720"/>
            <a:ext cx="13167360" cy="1300480"/>
          </a:xfrm>
          <a:prstGeom prst="rect">
            <a:avLst/>
          </a:prstGeom>
          <a:noFill/>
          <a:ln/>
        </p:spPr>
        <p:txBody>
          <a:bodyPr wrap="square" lIns="0" tIns="0" rIns="0" bIns="0" rtlCol="0" anchor="ctr"/>
          <a:lstStyle/>
          <a:p>
            <a:pPr indent="0" marL="0">
              <a:buNone/>
            </a:pPr>
            <a:r>
              <a:rPr lang="en-US" sz="1400" b="1" i="1" dirty="0">
                <a:solidFill>
                  <a:srgbClr val="FFFFFF"/>
                </a:solidFill>
                <a:latin typeface="Cambria" pitchFamily="34" charset="0"/>
                <a:ea typeface="Cambria" pitchFamily="34" charset="-122"/>
                <a:cs typeface="Cambria" pitchFamily="34" charset="-120"/>
              </a:rPr>
              <a:t>Today you are earning your Mapmaker badge. Be honest about what you know -- that's what good curators do.</a:t>
            </a:r>
            <a:endParaRPr lang="en-US" sz="1400" dirty="0"/>
          </a:p>
        </p:txBody>
      </p:sp>
      <p:sp>
        <p:nvSpPr>
          <p:cNvPr id="10" name="Text 8"/>
          <p:cNvSpPr/>
          <p:nvPr/>
        </p:nvSpPr>
        <p:spPr>
          <a:xfrm>
            <a:off x="975360" y="7802880"/>
            <a:ext cx="9753600" cy="487680"/>
          </a:xfrm>
          <a:prstGeom prst="rect">
            <a:avLst/>
          </a:prstGeom>
          <a:noFill/>
          <a:ln/>
        </p:spPr>
        <p:txBody>
          <a:bodyPr wrap="square" lIns="0" tIns="0" rIns="0" bIns="0" rtlCol="0" anchor="ctr"/>
          <a:lstStyle/>
          <a:p>
            <a:pPr indent="0" marL="0">
              <a:buNone/>
            </a:pPr>
            <a:r>
              <a:rPr lang="en-US" sz="1100" dirty="0">
                <a:solidFill>
                  <a:srgbClr val="7A88A8"/>
                </a:solidFill>
                <a:latin typeface="Calibri" pitchFamily="34" charset="0"/>
                <a:ea typeface="Calibri" pitchFamily="34" charset="-122"/>
                <a:cs typeface="Calibri" pitchFamily="34" charset="-120"/>
              </a:rPr>
              <a:t>Your Role: Map Curator earning the Mapmaker Badge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EXPLORE — DISCOVER</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Everything You've Learned</a:t>
            </a:r>
            <a:endParaRPr lang="en-US" sz="2400" dirty="0"/>
          </a:p>
        </p:txBody>
      </p:sp>
      <p:sp>
        <p:nvSpPr>
          <p:cNvPr id="6" name="Shape 4"/>
          <p:cNvSpPr/>
          <p:nvPr/>
        </p:nvSpPr>
        <p:spPr>
          <a:xfrm>
            <a:off x="812800" y="1950720"/>
            <a:ext cx="2926080" cy="455168"/>
          </a:xfrm>
          <a:prstGeom prst="roundRect">
            <a:avLst>
              <a:gd name="adj" fmla="val 50000"/>
            </a:avLst>
          </a:prstGeom>
          <a:solidFill>
            <a:srgbClr val="EAF8FD"/>
          </a:solidFill>
          <a:ln/>
        </p:spPr>
      </p:sp>
      <p:sp>
        <p:nvSpPr>
          <p:cNvPr id="7" name="Text 5"/>
          <p:cNvSpPr/>
          <p:nvPr/>
        </p:nvSpPr>
        <p:spPr>
          <a:xfrm>
            <a:off x="812800" y="1950720"/>
            <a:ext cx="2926080" cy="455168"/>
          </a:xfrm>
          <a:prstGeom prst="rect">
            <a:avLst/>
          </a:prstGeom>
          <a:noFill/>
          <a:ln/>
        </p:spPr>
        <p:txBody>
          <a:bodyPr wrap="square" lIns="0" tIns="0" rIns="0" bIns="0" rtlCol="0" anchor="ctr"/>
          <a:lstStyle/>
          <a:p>
            <a:pPr algn="ctr" indent="0" marL="0">
              <a:buNone/>
            </a:pPr>
            <a:r>
              <a:rPr lang="en-US" sz="800" b="1" spc="100" kern="0" dirty="0">
                <a:solidFill>
                  <a:srgbClr val="1A8A7D"/>
                </a:solidFill>
                <a:latin typeface="Calibri" pitchFamily="34" charset="0"/>
                <a:ea typeface="Calibri" pitchFamily="34" charset="-122"/>
                <a:cs typeface="Calibri" pitchFamily="34" charset="-120"/>
              </a:rPr>
              <a:t>SORT</a:t>
            </a:r>
            <a:endParaRPr lang="en-US" sz="800" dirty="0"/>
          </a:p>
        </p:txBody>
      </p:sp>
      <p:sp>
        <p:nvSpPr>
          <p:cNvPr id="8" name="Text 6"/>
          <p:cNvSpPr/>
          <p:nvPr/>
        </p:nvSpPr>
        <p:spPr>
          <a:xfrm>
            <a:off x="812800" y="2600960"/>
            <a:ext cx="14630400" cy="812800"/>
          </a:xfrm>
          <a:prstGeom prst="rect">
            <a:avLst/>
          </a:prstGeom>
          <a:noFill/>
          <a:ln/>
        </p:spPr>
        <p:txBody>
          <a:bodyPr wrap="square" lIns="0" tIns="0" rIns="0" bIns="0" rtlCol="0" anchor="ctr"/>
          <a:lstStyle/>
          <a:p>
            <a:pPr indent="0" marL="0">
              <a:lnSpc>
                <a:spcPct val="115000"/>
              </a:lnSpc>
              <a:buNone/>
            </a:pPr>
            <a:r>
              <a:rPr lang="en-US" sz="1200" dirty="0">
                <a:solidFill>
                  <a:srgbClr val="0E1C42"/>
                </a:solidFill>
                <a:latin typeface="Calibri" pitchFamily="34" charset="0"/>
                <a:ea typeface="Calibri" pitchFamily="34" charset="-122"/>
                <a:cs typeface="Calibri" pitchFamily="34" charset="-120"/>
              </a:rPr>
              <a:t>Look around the Great Map Room. Every map was broken when you first arrived. But you fixed all of that. Here's what you can do now:</a:t>
            </a:r>
            <a:endParaRPr lang="en-US" sz="1200" dirty="0"/>
          </a:p>
        </p:txBody>
      </p:sp>
      <p:sp>
        <p:nvSpPr>
          <p:cNvPr id="9" name="Shape 7"/>
          <p:cNvSpPr/>
          <p:nvPr/>
        </p:nvSpPr>
        <p:spPr>
          <a:xfrm>
            <a:off x="812800" y="3657600"/>
            <a:ext cx="3495040" cy="2032000"/>
          </a:xfrm>
          <a:prstGeom prst="roundRect">
            <a:avLst>
              <a:gd name="adj" fmla="val 8000"/>
            </a:avLst>
          </a:prstGeom>
          <a:solidFill>
            <a:srgbClr val="EAF8FD"/>
          </a:solidFill>
          <a:ln/>
          <a:effectLst>
            <a:outerShdw sx="100000" sy="100000" kx="0" ky="0" algn="bl" rotWithShape="0" blurRad="50800" dist="12700" dir="8100000">
              <a:srgbClr val="000000">
                <a:alpha val="8000"/>
              </a:srgbClr>
            </a:outerShdw>
          </a:effectLst>
        </p:spPr>
      </p:sp>
      <p:sp>
        <p:nvSpPr>
          <p:cNvPr id="10" name="Text 8"/>
          <p:cNvSpPr/>
          <p:nvPr/>
        </p:nvSpPr>
        <p:spPr>
          <a:xfrm>
            <a:off x="975360" y="3820160"/>
            <a:ext cx="3169920" cy="650240"/>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4 Essential Elements</a:t>
            </a:r>
            <a:endParaRPr lang="en-US" sz="1100" dirty="0"/>
          </a:p>
        </p:txBody>
      </p:sp>
      <p:sp>
        <p:nvSpPr>
          <p:cNvPr id="11" name="Text 9"/>
          <p:cNvSpPr/>
          <p:nvPr/>
        </p:nvSpPr>
        <p:spPr>
          <a:xfrm>
            <a:off x="975360" y="4551680"/>
            <a:ext cx="3169920" cy="9753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Title, compass rose, scale, legend</a:t>
            </a:r>
            <a:endParaRPr lang="en-US" sz="1000" dirty="0"/>
          </a:p>
        </p:txBody>
      </p:sp>
      <p:sp>
        <p:nvSpPr>
          <p:cNvPr id="12" name="Shape 10"/>
          <p:cNvSpPr/>
          <p:nvPr/>
        </p:nvSpPr>
        <p:spPr>
          <a:xfrm>
            <a:off x="4632960" y="3657600"/>
            <a:ext cx="3495040" cy="2032000"/>
          </a:xfrm>
          <a:prstGeom prst="roundRect">
            <a:avLst>
              <a:gd name="adj" fmla="val 8000"/>
            </a:avLst>
          </a:prstGeom>
          <a:solidFill>
            <a:srgbClr val="FFF3DC"/>
          </a:solidFill>
          <a:ln/>
          <a:effectLst>
            <a:outerShdw sx="100000" sy="100000" kx="0" ky="0" algn="bl" rotWithShape="0" blurRad="50800" dist="12700" dir="8100000">
              <a:srgbClr val="000000">
                <a:alpha val="8000"/>
              </a:srgbClr>
            </a:outerShdw>
          </a:effectLst>
        </p:spPr>
      </p:sp>
      <p:sp>
        <p:nvSpPr>
          <p:cNvPr id="13" name="Text 11"/>
          <p:cNvSpPr/>
          <p:nvPr/>
        </p:nvSpPr>
        <p:spPr>
          <a:xfrm>
            <a:off x="4795520" y="3820160"/>
            <a:ext cx="3169920" cy="65024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8 Directions</a:t>
            </a:r>
            <a:endParaRPr lang="en-US" sz="1100" dirty="0"/>
          </a:p>
        </p:txBody>
      </p:sp>
      <p:sp>
        <p:nvSpPr>
          <p:cNvPr id="14" name="Text 12"/>
          <p:cNvSpPr/>
          <p:nvPr/>
        </p:nvSpPr>
        <p:spPr>
          <a:xfrm>
            <a:off x="4795520" y="4551680"/>
            <a:ext cx="3169920" cy="9753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Cardinal + intermediate</a:t>
            </a:r>
            <a:endParaRPr lang="en-US" sz="1000" dirty="0"/>
          </a:p>
        </p:txBody>
      </p:sp>
      <p:sp>
        <p:nvSpPr>
          <p:cNvPr id="15" name="Shape 13"/>
          <p:cNvSpPr/>
          <p:nvPr/>
        </p:nvSpPr>
        <p:spPr>
          <a:xfrm>
            <a:off x="8453120" y="3657600"/>
            <a:ext cx="3495040" cy="2032000"/>
          </a:xfrm>
          <a:prstGeom prst="roundRect">
            <a:avLst>
              <a:gd name="adj" fmla="val 8000"/>
            </a:avLst>
          </a:prstGeom>
          <a:solidFill>
            <a:srgbClr val="E3F8ED"/>
          </a:solidFill>
          <a:ln/>
          <a:effectLst>
            <a:outerShdw sx="100000" sy="100000" kx="0" ky="0" algn="bl" rotWithShape="0" blurRad="50800" dist="12700" dir="8100000">
              <a:srgbClr val="000000">
                <a:alpha val="8000"/>
              </a:srgbClr>
            </a:outerShdw>
          </a:effectLst>
        </p:spPr>
      </p:sp>
      <p:sp>
        <p:nvSpPr>
          <p:cNvPr id="16" name="Text 14"/>
          <p:cNvSpPr/>
          <p:nvPr/>
        </p:nvSpPr>
        <p:spPr>
          <a:xfrm>
            <a:off x="8615680" y="3820160"/>
            <a:ext cx="3169920" cy="65024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4 Map Types</a:t>
            </a:r>
            <a:endParaRPr lang="en-US" sz="1100" dirty="0"/>
          </a:p>
        </p:txBody>
      </p:sp>
      <p:sp>
        <p:nvSpPr>
          <p:cNvPr id="17" name="Text 15"/>
          <p:cNvSpPr/>
          <p:nvPr/>
        </p:nvSpPr>
        <p:spPr>
          <a:xfrm>
            <a:off x="8615680" y="4551680"/>
            <a:ext cx="3169920" cy="9753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Physical, political, elevation, population</a:t>
            </a:r>
            <a:endParaRPr lang="en-US" sz="1000" dirty="0"/>
          </a:p>
        </p:txBody>
      </p:sp>
      <p:sp>
        <p:nvSpPr>
          <p:cNvPr id="18" name="Shape 16"/>
          <p:cNvSpPr/>
          <p:nvPr/>
        </p:nvSpPr>
        <p:spPr>
          <a:xfrm>
            <a:off x="12273280" y="3657600"/>
            <a:ext cx="3495040" cy="2032000"/>
          </a:xfrm>
          <a:prstGeom prst="roundRect">
            <a:avLst>
              <a:gd name="adj" fmla="val 8000"/>
            </a:avLst>
          </a:prstGeom>
          <a:solidFill>
            <a:srgbClr val="F0E8FF"/>
          </a:solidFill>
          <a:ln/>
          <a:effectLst>
            <a:outerShdw sx="100000" sy="100000" kx="0" ky="0" algn="bl" rotWithShape="0" blurRad="50800" dist="12700" dir="8100000">
              <a:srgbClr val="000000">
                <a:alpha val="8000"/>
              </a:srgbClr>
            </a:outerShdw>
          </a:effectLst>
        </p:spPr>
      </p:sp>
      <p:sp>
        <p:nvSpPr>
          <p:cNvPr id="19" name="Text 17"/>
          <p:cNvSpPr/>
          <p:nvPr/>
        </p:nvSpPr>
        <p:spPr>
          <a:xfrm>
            <a:off x="12435840" y="3820160"/>
            <a:ext cx="3169920" cy="650240"/>
          </a:xfrm>
          <a:prstGeom prst="rect">
            <a:avLst/>
          </a:prstGeom>
          <a:noFill/>
          <a:ln/>
        </p:spPr>
        <p:txBody>
          <a:bodyPr wrap="square" lIns="0" tIns="0" rIns="0" bIns="0" rtlCol="0" anchor="ctr"/>
          <a:lstStyle/>
          <a:p>
            <a:pPr indent="0" marL="0">
              <a:buNone/>
            </a:pPr>
            <a:r>
              <a:rPr lang="en-US" sz="1100" b="1" dirty="0">
                <a:solidFill>
                  <a:srgbClr val="8B6FC0"/>
                </a:solidFill>
                <a:latin typeface="Calibri" pitchFamily="34" charset="0"/>
                <a:ea typeface="Calibri" pitchFamily="34" charset="-122"/>
                <a:cs typeface="Calibri" pitchFamily="34" charset="-120"/>
              </a:rPr>
              <a:t>Scale</a:t>
            </a:r>
            <a:endParaRPr lang="en-US" sz="1100" dirty="0"/>
          </a:p>
        </p:txBody>
      </p:sp>
      <p:sp>
        <p:nvSpPr>
          <p:cNvPr id="20" name="Text 18"/>
          <p:cNvSpPr/>
          <p:nvPr/>
        </p:nvSpPr>
        <p:spPr>
          <a:xfrm>
            <a:off x="12435840" y="4551680"/>
            <a:ext cx="3169920" cy="9753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Measure real distances</a:t>
            </a:r>
            <a:endParaRPr lang="en-US" sz="1000" dirty="0"/>
          </a:p>
        </p:txBody>
      </p:sp>
      <p:sp>
        <p:nvSpPr>
          <p:cNvPr id="21" name="Shape 19"/>
          <p:cNvSpPr/>
          <p:nvPr/>
        </p:nvSpPr>
        <p:spPr>
          <a:xfrm>
            <a:off x="812800" y="6014720"/>
            <a:ext cx="3495040" cy="2032000"/>
          </a:xfrm>
          <a:prstGeom prst="roundRect">
            <a:avLst>
              <a:gd name="adj" fmla="val 8000"/>
            </a:avLst>
          </a:prstGeom>
          <a:solidFill>
            <a:srgbClr val="EAF8FD"/>
          </a:solidFill>
          <a:ln/>
          <a:effectLst>
            <a:outerShdw sx="100000" sy="100000" kx="0" ky="0" algn="bl" rotWithShape="0" blurRad="50800" dist="12700" dir="8100000">
              <a:srgbClr val="000000">
                <a:alpha val="8000"/>
              </a:srgbClr>
            </a:outerShdw>
          </a:effectLst>
        </p:spPr>
      </p:sp>
      <p:sp>
        <p:nvSpPr>
          <p:cNvPr id="22" name="Text 20"/>
          <p:cNvSpPr/>
          <p:nvPr/>
        </p:nvSpPr>
        <p:spPr>
          <a:xfrm>
            <a:off x="975360" y="6177280"/>
            <a:ext cx="3169920" cy="650240"/>
          </a:xfrm>
          <a:prstGeom prst="rect">
            <a:avLst/>
          </a:prstGeom>
          <a:noFill/>
          <a:ln/>
        </p:spPr>
        <p:txBody>
          <a:bodyPr wrap="square" lIns="0" tIns="0" rIns="0" bIns="0" rtlCol="0" anchor="ctr"/>
          <a:lstStyle/>
          <a:p>
            <a:pPr indent="0" marL="0">
              <a:buNone/>
            </a:pPr>
            <a:r>
              <a:rPr lang="en-US" sz="1100" b="1" dirty="0">
                <a:solidFill>
                  <a:srgbClr val="1A8A7D"/>
                </a:solidFill>
                <a:latin typeface="Calibri" pitchFamily="34" charset="0"/>
                <a:ea typeface="Calibri" pitchFamily="34" charset="-122"/>
                <a:cs typeface="Calibri" pitchFamily="34" charset="-120"/>
              </a:rPr>
              <a:t>Globe vs. Flat Map</a:t>
            </a:r>
            <a:endParaRPr lang="en-US" sz="1100" dirty="0"/>
          </a:p>
        </p:txBody>
      </p:sp>
      <p:sp>
        <p:nvSpPr>
          <p:cNvPr id="23" name="Text 21"/>
          <p:cNvSpPr/>
          <p:nvPr/>
        </p:nvSpPr>
        <p:spPr>
          <a:xfrm>
            <a:off x="975360" y="6908800"/>
            <a:ext cx="3169920" cy="9753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True shape vs. distortion</a:t>
            </a:r>
            <a:endParaRPr lang="en-US" sz="1000" dirty="0"/>
          </a:p>
        </p:txBody>
      </p:sp>
      <p:sp>
        <p:nvSpPr>
          <p:cNvPr id="24" name="Shape 22"/>
          <p:cNvSpPr/>
          <p:nvPr/>
        </p:nvSpPr>
        <p:spPr>
          <a:xfrm>
            <a:off x="4632960" y="6014720"/>
            <a:ext cx="3495040" cy="2032000"/>
          </a:xfrm>
          <a:prstGeom prst="roundRect">
            <a:avLst>
              <a:gd name="adj" fmla="val 8000"/>
            </a:avLst>
          </a:prstGeom>
          <a:solidFill>
            <a:srgbClr val="FFF3DC"/>
          </a:solidFill>
          <a:ln/>
          <a:effectLst>
            <a:outerShdw sx="100000" sy="100000" kx="0" ky="0" algn="bl" rotWithShape="0" blurRad="50800" dist="12700" dir="8100000">
              <a:srgbClr val="000000">
                <a:alpha val="8000"/>
              </a:srgbClr>
            </a:outerShdw>
          </a:effectLst>
        </p:spPr>
      </p:sp>
      <p:sp>
        <p:nvSpPr>
          <p:cNvPr id="25" name="Text 23"/>
          <p:cNvSpPr/>
          <p:nvPr/>
        </p:nvSpPr>
        <p:spPr>
          <a:xfrm>
            <a:off x="4795520" y="6177280"/>
            <a:ext cx="3169920" cy="650240"/>
          </a:xfrm>
          <a:prstGeom prst="rect">
            <a:avLst/>
          </a:prstGeom>
          <a:noFill/>
          <a:ln/>
        </p:spPr>
        <p:txBody>
          <a:bodyPr wrap="square" lIns="0" tIns="0" rIns="0" bIns="0" rtlCol="0" anchor="ctr"/>
          <a:lstStyle/>
          <a:p>
            <a:pPr indent="0" marL="0">
              <a:buNone/>
            </a:pPr>
            <a:r>
              <a:rPr lang="en-US" sz="1100" b="1" dirty="0">
                <a:solidFill>
                  <a:srgbClr val="D4943A"/>
                </a:solidFill>
                <a:latin typeface="Calibri" pitchFamily="34" charset="0"/>
                <a:ea typeface="Calibri" pitchFamily="34" charset="-122"/>
                <a:cs typeface="Calibri" pitchFamily="34" charset="-120"/>
              </a:rPr>
              <a:t>Charts and Graphs</a:t>
            </a:r>
            <a:endParaRPr lang="en-US" sz="1100" dirty="0"/>
          </a:p>
        </p:txBody>
      </p:sp>
      <p:sp>
        <p:nvSpPr>
          <p:cNvPr id="26" name="Text 24"/>
          <p:cNvSpPr/>
          <p:nvPr/>
        </p:nvSpPr>
        <p:spPr>
          <a:xfrm>
            <a:off x="4795520" y="6908800"/>
            <a:ext cx="3169920" cy="9753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Tables, photos, data alongside maps</a:t>
            </a:r>
            <a:endParaRPr lang="en-US" sz="1000" dirty="0"/>
          </a:p>
        </p:txBody>
      </p:sp>
      <p:sp>
        <p:nvSpPr>
          <p:cNvPr id="27" name="Shape 25"/>
          <p:cNvSpPr/>
          <p:nvPr/>
        </p:nvSpPr>
        <p:spPr>
          <a:xfrm>
            <a:off x="8453120" y="6014720"/>
            <a:ext cx="3495040" cy="2032000"/>
          </a:xfrm>
          <a:prstGeom prst="roundRect">
            <a:avLst>
              <a:gd name="adj" fmla="val 8000"/>
            </a:avLst>
          </a:prstGeom>
          <a:solidFill>
            <a:srgbClr val="E3F8ED"/>
          </a:solidFill>
          <a:ln/>
          <a:effectLst>
            <a:outerShdw sx="100000" sy="100000" kx="0" ky="0" algn="bl" rotWithShape="0" blurRad="50800" dist="12700" dir="8100000">
              <a:srgbClr val="000000">
                <a:alpha val="8000"/>
              </a:srgbClr>
            </a:outerShdw>
          </a:effectLst>
        </p:spPr>
      </p:sp>
      <p:sp>
        <p:nvSpPr>
          <p:cNvPr id="28" name="Text 26"/>
          <p:cNvSpPr/>
          <p:nvPr/>
        </p:nvSpPr>
        <p:spPr>
          <a:xfrm>
            <a:off x="8615680" y="6177280"/>
            <a:ext cx="3169920" cy="65024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Build Your Own Map</a:t>
            </a:r>
            <a:endParaRPr lang="en-US" sz="1100" dirty="0"/>
          </a:p>
        </p:txBody>
      </p:sp>
      <p:sp>
        <p:nvSpPr>
          <p:cNvPr id="29" name="Text 27"/>
          <p:cNvSpPr/>
          <p:nvPr/>
        </p:nvSpPr>
        <p:spPr>
          <a:xfrm>
            <a:off x="8615680" y="6908800"/>
            <a:ext cx="3169920" cy="975360"/>
          </a:xfrm>
          <a:prstGeom prst="rect">
            <a:avLst/>
          </a:prstGeom>
          <a:noFill/>
          <a:ln/>
        </p:spPr>
        <p:txBody>
          <a:bodyPr wrap="square" lIns="0" tIns="0" rIns="0" bIns="0" rtlCol="0" anchor="ctr"/>
          <a:lstStyle/>
          <a:p>
            <a:pPr indent="0" marL="0">
              <a:buNone/>
            </a:pPr>
            <a:r>
              <a:rPr lang="en-US" sz="1000" dirty="0">
                <a:solidFill>
                  <a:srgbClr val="0E1C42"/>
                </a:solidFill>
                <a:latin typeface="Calibri" pitchFamily="34" charset="0"/>
                <a:ea typeface="Calibri" pitchFamily="34" charset="-122"/>
                <a:cs typeface="Calibri" pitchFamily="34" charset="-120"/>
              </a:rPr>
              <a:t>Plan every element from scratch</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EXPLORE — REVIEW</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Quick Review: Title and Compass Rose</a:t>
            </a:r>
            <a:endParaRPr lang="en-US" sz="2200" dirty="0"/>
          </a:p>
        </p:txBody>
      </p:sp>
      <p:sp>
        <p:nvSpPr>
          <p:cNvPr id="6" name="Shape 4"/>
          <p:cNvSpPr/>
          <p:nvPr/>
        </p:nvSpPr>
        <p:spPr>
          <a:xfrm>
            <a:off x="812800" y="2113280"/>
            <a:ext cx="6990080" cy="3576320"/>
          </a:xfrm>
          <a:prstGeom prst="roundRect">
            <a:avLst>
              <a:gd name="adj" fmla="val 5455"/>
            </a:avLst>
          </a:prstGeom>
          <a:solidFill>
            <a:srgbClr val="EAF8FD"/>
          </a:solidFill>
          <a:ln/>
        </p:spPr>
      </p:sp>
      <p:sp>
        <p:nvSpPr>
          <p:cNvPr id="7" name="Text 5"/>
          <p:cNvSpPr/>
          <p:nvPr/>
        </p:nvSpPr>
        <p:spPr>
          <a:xfrm>
            <a:off x="1137920" y="2275840"/>
            <a:ext cx="6339840" cy="487680"/>
          </a:xfrm>
          <a:prstGeom prst="rect">
            <a:avLst/>
          </a:prstGeom>
          <a:noFill/>
          <a:ln/>
        </p:spPr>
        <p:txBody>
          <a:bodyPr wrap="square" lIns="0" tIns="0" rIns="0" bIns="0" rtlCol="0" anchor="ctr"/>
          <a:lstStyle/>
          <a:p>
            <a:pPr indent="0" marL="0">
              <a:buNone/>
            </a:pPr>
            <a:r>
              <a:rPr lang="en-US" sz="1300" b="1" spc="150" kern="0" dirty="0">
                <a:solidFill>
                  <a:srgbClr val="1A8A7D"/>
                </a:solidFill>
                <a:latin typeface="Calibri" pitchFamily="34" charset="0"/>
                <a:ea typeface="Calibri" pitchFamily="34" charset="-122"/>
                <a:cs typeface="Calibri" pitchFamily="34" charset="-120"/>
              </a:rPr>
              <a:t>TITLE</a:t>
            </a:r>
            <a:endParaRPr lang="en-US" sz="1300" dirty="0"/>
          </a:p>
        </p:txBody>
      </p:sp>
      <p:sp>
        <p:nvSpPr>
          <p:cNvPr id="8" name="Text 6"/>
          <p:cNvSpPr/>
          <p:nvPr/>
        </p:nvSpPr>
        <p:spPr>
          <a:xfrm>
            <a:off x="1137920" y="2926080"/>
            <a:ext cx="6339840" cy="162560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The title tells you what the map shows. Without it, you don't know if you're looking at a city, a country, or the whole world.</a:t>
            </a:r>
            <a:endParaRPr lang="en-US" sz="1200" dirty="0"/>
          </a:p>
        </p:txBody>
      </p:sp>
      <p:sp>
        <p:nvSpPr>
          <p:cNvPr id="9" name="Shape 7"/>
          <p:cNvSpPr/>
          <p:nvPr/>
        </p:nvSpPr>
        <p:spPr>
          <a:xfrm>
            <a:off x="1625600" y="4714240"/>
            <a:ext cx="5201920" cy="731520"/>
          </a:xfrm>
          <a:prstGeom prst="roundRect">
            <a:avLst>
              <a:gd name="adj" fmla="val 26667"/>
            </a:avLst>
          </a:prstGeom>
          <a:solidFill>
            <a:srgbClr val="E2E8F4"/>
          </a:solidFill>
          <a:ln w="19050">
            <a:solidFill>
              <a:srgbClr val="B0B8CC"/>
            </a:solidFill>
            <a:prstDash val="dash"/>
          </a:ln>
        </p:spPr>
      </p:sp>
      <p:sp>
        <p:nvSpPr>
          <p:cNvPr id="10" name="Text 8"/>
          <p:cNvSpPr/>
          <p:nvPr/>
        </p:nvSpPr>
        <p:spPr>
          <a:xfrm>
            <a:off x="1625600" y="4714240"/>
            <a:ext cx="52019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1869440" y="5201920"/>
            <a:ext cx="4714240" cy="81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Map title example close-up</a:t>
            </a:r>
            <a:endParaRPr lang="en-US" sz="1100" dirty="0"/>
          </a:p>
        </p:txBody>
      </p:sp>
      <p:sp>
        <p:nvSpPr>
          <p:cNvPr id="12" name="Shape 10"/>
          <p:cNvSpPr/>
          <p:nvPr/>
        </p:nvSpPr>
        <p:spPr>
          <a:xfrm>
            <a:off x="8290560" y="2113280"/>
            <a:ext cx="6990080" cy="3576320"/>
          </a:xfrm>
          <a:prstGeom prst="roundRect">
            <a:avLst>
              <a:gd name="adj" fmla="val 5455"/>
            </a:avLst>
          </a:prstGeom>
          <a:solidFill>
            <a:srgbClr val="FFF3DC"/>
          </a:solidFill>
          <a:ln/>
        </p:spPr>
      </p:sp>
      <p:sp>
        <p:nvSpPr>
          <p:cNvPr id="13" name="Text 11"/>
          <p:cNvSpPr/>
          <p:nvPr/>
        </p:nvSpPr>
        <p:spPr>
          <a:xfrm>
            <a:off x="8615680" y="2275840"/>
            <a:ext cx="6339840" cy="487680"/>
          </a:xfrm>
          <a:prstGeom prst="rect">
            <a:avLst/>
          </a:prstGeom>
          <a:noFill/>
          <a:ln/>
        </p:spPr>
        <p:txBody>
          <a:bodyPr wrap="square" lIns="0" tIns="0" rIns="0" bIns="0" rtlCol="0" anchor="ctr"/>
          <a:lstStyle/>
          <a:p>
            <a:pPr indent="0" marL="0">
              <a:buNone/>
            </a:pPr>
            <a:r>
              <a:rPr lang="en-US" sz="1300" b="1" spc="150" kern="0" dirty="0">
                <a:solidFill>
                  <a:srgbClr val="D4943A"/>
                </a:solidFill>
                <a:latin typeface="Calibri" pitchFamily="34" charset="0"/>
                <a:ea typeface="Calibri" pitchFamily="34" charset="-122"/>
                <a:cs typeface="Calibri" pitchFamily="34" charset="-120"/>
              </a:rPr>
              <a:t>COMPASS ROSE</a:t>
            </a:r>
            <a:endParaRPr lang="en-US" sz="1300" dirty="0"/>
          </a:p>
        </p:txBody>
      </p:sp>
      <p:sp>
        <p:nvSpPr>
          <p:cNvPr id="14" name="Text 12"/>
          <p:cNvSpPr/>
          <p:nvPr/>
        </p:nvSpPr>
        <p:spPr>
          <a:xfrm>
            <a:off x="8615680" y="2926080"/>
            <a:ext cx="6339840" cy="162560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Shows all eight directions -- north, south, east, west, and the four in between. It tells you which way is which.</a:t>
            </a:r>
            <a:endParaRPr lang="en-US" sz="1200" dirty="0"/>
          </a:p>
        </p:txBody>
      </p:sp>
      <p:sp>
        <p:nvSpPr>
          <p:cNvPr id="15" name="Shape 13"/>
          <p:cNvSpPr/>
          <p:nvPr/>
        </p:nvSpPr>
        <p:spPr>
          <a:xfrm>
            <a:off x="9103360" y="4714240"/>
            <a:ext cx="5201920" cy="731520"/>
          </a:xfrm>
          <a:prstGeom prst="roundRect">
            <a:avLst>
              <a:gd name="adj" fmla="val 26667"/>
            </a:avLst>
          </a:prstGeom>
          <a:solidFill>
            <a:srgbClr val="E2E8F4"/>
          </a:solidFill>
          <a:ln w="19050">
            <a:solidFill>
              <a:srgbClr val="B0B8CC"/>
            </a:solidFill>
            <a:prstDash val="dash"/>
          </a:ln>
        </p:spPr>
      </p:sp>
      <p:sp>
        <p:nvSpPr>
          <p:cNvPr id="16" name="Text 14"/>
          <p:cNvSpPr/>
          <p:nvPr/>
        </p:nvSpPr>
        <p:spPr>
          <a:xfrm>
            <a:off x="9103360" y="4714240"/>
            <a:ext cx="520192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7" name="Text 15"/>
          <p:cNvSpPr/>
          <p:nvPr/>
        </p:nvSpPr>
        <p:spPr>
          <a:xfrm>
            <a:off x="9347200" y="5201920"/>
            <a:ext cx="4714240" cy="81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Compass rose with all 8 directions labeled</a:t>
            </a:r>
            <a:endParaRPr lang="en-US" sz="1100" dirty="0"/>
          </a:p>
        </p:txBody>
      </p:sp>
      <p:sp>
        <p:nvSpPr>
          <p:cNvPr id="18" name="Shape 16"/>
          <p:cNvSpPr/>
          <p:nvPr/>
        </p:nvSpPr>
        <p:spPr>
          <a:xfrm>
            <a:off x="812800" y="6014720"/>
            <a:ext cx="14630400" cy="2113280"/>
          </a:xfrm>
          <a:prstGeom prst="roundRect">
            <a:avLst>
              <a:gd name="adj" fmla="val 9231"/>
            </a:avLst>
          </a:prstGeom>
          <a:solidFill>
            <a:srgbClr val="FFF3DC"/>
          </a:solidFill>
          <a:ln w="19050">
            <a:solidFill>
              <a:srgbClr val="F5E6C8"/>
            </a:solidFill>
            <a:prstDash val="solid"/>
          </a:ln>
        </p:spPr>
      </p:sp>
      <p:sp>
        <p:nvSpPr>
          <p:cNvPr id="19" name="Text 17"/>
          <p:cNvSpPr/>
          <p:nvPr/>
        </p:nvSpPr>
        <p:spPr>
          <a:xfrm>
            <a:off x="1056640" y="611225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0" name="Text 18"/>
          <p:cNvSpPr/>
          <p:nvPr/>
        </p:nvSpPr>
        <p:spPr>
          <a:xfrm>
            <a:off x="1056640" y="6469888"/>
            <a:ext cx="14142720" cy="1544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happens if a map has no title?"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"How many directions does a compass rose show?"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EXPLORE — REVIEW</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Quick Review: Scale and Legend</a:t>
            </a:r>
            <a:endParaRPr lang="en-US" sz="2200" dirty="0"/>
          </a:p>
        </p:txBody>
      </p:sp>
      <p:sp>
        <p:nvSpPr>
          <p:cNvPr id="6" name="Shape 4"/>
          <p:cNvSpPr/>
          <p:nvPr/>
        </p:nvSpPr>
        <p:spPr>
          <a:xfrm>
            <a:off x="812800" y="2113280"/>
            <a:ext cx="6990080" cy="3576320"/>
          </a:xfrm>
          <a:prstGeom prst="roundRect">
            <a:avLst>
              <a:gd name="adj" fmla="val 5455"/>
            </a:avLst>
          </a:prstGeom>
          <a:solidFill>
            <a:srgbClr val="E3F8ED"/>
          </a:solidFill>
          <a:ln/>
        </p:spPr>
      </p:sp>
      <p:sp>
        <p:nvSpPr>
          <p:cNvPr id="7" name="Text 5"/>
          <p:cNvSpPr/>
          <p:nvPr/>
        </p:nvSpPr>
        <p:spPr>
          <a:xfrm>
            <a:off x="1137920" y="2275840"/>
            <a:ext cx="6339840" cy="487680"/>
          </a:xfrm>
          <a:prstGeom prst="rect">
            <a:avLst/>
          </a:prstGeom>
          <a:noFill/>
          <a:ln/>
        </p:spPr>
        <p:txBody>
          <a:bodyPr wrap="square" lIns="0" tIns="0" rIns="0" bIns="0" rtlCol="0" anchor="ctr"/>
          <a:lstStyle/>
          <a:p>
            <a:pPr indent="0" marL="0">
              <a:buNone/>
            </a:pPr>
            <a:r>
              <a:rPr lang="en-US" sz="1300" b="1" spc="150" kern="0" dirty="0">
                <a:solidFill>
                  <a:srgbClr val="34B76F"/>
                </a:solidFill>
                <a:latin typeface="Calibri" pitchFamily="34" charset="0"/>
                <a:ea typeface="Calibri" pitchFamily="34" charset="-122"/>
                <a:cs typeface="Calibri" pitchFamily="34" charset="-120"/>
              </a:rPr>
              <a:t>SCALE</a:t>
            </a:r>
            <a:endParaRPr lang="en-US" sz="1300" dirty="0"/>
          </a:p>
        </p:txBody>
      </p:sp>
      <p:sp>
        <p:nvSpPr>
          <p:cNvPr id="8" name="Text 6"/>
          <p:cNvSpPr/>
          <p:nvPr/>
        </p:nvSpPr>
        <p:spPr>
          <a:xfrm>
            <a:off x="1137920" y="2926080"/>
            <a:ext cx="6339840" cy="195072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The scale lets you measure real distances on a map. One inch might equal 100 miles -- so you can figure out how far it really is between two places.</a:t>
            </a:r>
            <a:endParaRPr lang="en-US" sz="1200" dirty="0"/>
          </a:p>
        </p:txBody>
      </p:sp>
      <p:sp>
        <p:nvSpPr>
          <p:cNvPr id="9" name="Shape 7"/>
          <p:cNvSpPr/>
          <p:nvPr/>
        </p:nvSpPr>
        <p:spPr>
          <a:xfrm>
            <a:off x="8290560" y="2113280"/>
            <a:ext cx="6990080" cy="3576320"/>
          </a:xfrm>
          <a:prstGeom prst="roundRect">
            <a:avLst>
              <a:gd name="adj" fmla="val 5455"/>
            </a:avLst>
          </a:prstGeom>
          <a:solidFill>
            <a:srgbClr val="F0E8FF"/>
          </a:solidFill>
          <a:ln/>
        </p:spPr>
      </p:sp>
      <p:sp>
        <p:nvSpPr>
          <p:cNvPr id="10" name="Text 8"/>
          <p:cNvSpPr/>
          <p:nvPr/>
        </p:nvSpPr>
        <p:spPr>
          <a:xfrm>
            <a:off x="8615680" y="2275840"/>
            <a:ext cx="6339840" cy="487680"/>
          </a:xfrm>
          <a:prstGeom prst="rect">
            <a:avLst/>
          </a:prstGeom>
          <a:noFill/>
          <a:ln/>
        </p:spPr>
        <p:txBody>
          <a:bodyPr wrap="square" lIns="0" tIns="0" rIns="0" bIns="0" rtlCol="0" anchor="ctr"/>
          <a:lstStyle/>
          <a:p>
            <a:pPr indent="0" marL="0">
              <a:buNone/>
            </a:pPr>
            <a:r>
              <a:rPr lang="en-US" sz="1300" b="1" spc="150" kern="0" dirty="0">
                <a:solidFill>
                  <a:srgbClr val="8B6FC0"/>
                </a:solidFill>
                <a:latin typeface="Calibri" pitchFamily="34" charset="0"/>
                <a:ea typeface="Calibri" pitchFamily="34" charset="-122"/>
                <a:cs typeface="Calibri" pitchFamily="34" charset="-120"/>
              </a:rPr>
              <a:t>LEGEND</a:t>
            </a:r>
            <a:endParaRPr lang="en-US" sz="1300" dirty="0"/>
          </a:p>
        </p:txBody>
      </p:sp>
      <p:sp>
        <p:nvSpPr>
          <p:cNvPr id="11" name="Text 9"/>
          <p:cNvSpPr/>
          <p:nvPr/>
        </p:nvSpPr>
        <p:spPr>
          <a:xfrm>
            <a:off x="8615680" y="2926080"/>
            <a:ext cx="6339840" cy="195072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The legend (or key) explains what colors and symbols mean. A blue line might be a river; a red dot might be a city. Without it, symbols are just mystery shapes.</a:t>
            </a:r>
            <a:endParaRPr lang="en-US" sz="1200" dirty="0"/>
          </a:p>
        </p:txBody>
      </p:sp>
      <p:sp>
        <p:nvSpPr>
          <p:cNvPr id="12" name="Shape 10"/>
          <p:cNvSpPr/>
          <p:nvPr/>
        </p:nvSpPr>
        <p:spPr>
          <a:xfrm>
            <a:off x="812800" y="6014720"/>
            <a:ext cx="14630400" cy="2113280"/>
          </a:xfrm>
          <a:prstGeom prst="roundRect">
            <a:avLst>
              <a:gd name="adj" fmla="val 9231"/>
            </a:avLst>
          </a:prstGeom>
          <a:solidFill>
            <a:srgbClr val="FFF3DC"/>
          </a:solidFill>
          <a:ln w="19050">
            <a:solidFill>
              <a:srgbClr val="F5E6C8"/>
            </a:solidFill>
            <a:prstDash val="solid"/>
          </a:ln>
        </p:spPr>
      </p:sp>
      <p:sp>
        <p:nvSpPr>
          <p:cNvPr id="13" name="Text 11"/>
          <p:cNvSpPr/>
          <p:nvPr/>
        </p:nvSpPr>
        <p:spPr>
          <a:xfrm>
            <a:off x="1056640" y="611225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1056640" y="6469888"/>
            <a:ext cx="14142720" cy="1544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visitor wants to know how far the museum is from the airport. Which element helps?"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"You see a blue triangle on a map. Where do you look to find out what it means?"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EXPLORE — REVIEW</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Quick Review: Map Types and Globes</a:t>
            </a:r>
            <a:endParaRPr lang="en-US" sz="2200" dirty="0"/>
          </a:p>
        </p:txBody>
      </p:sp>
      <p:sp>
        <p:nvSpPr>
          <p:cNvPr id="6" name="Shape 4"/>
          <p:cNvSpPr/>
          <p:nvPr/>
        </p:nvSpPr>
        <p:spPr>
          <a:xfrm>
            <a:off x="812800" y="1950720"/>
            <a:ext cx="2926080" cy="455168"/>
          </a:xfrm>
          <a:prstGeom prst="roundRect">
            <a:avLst>
              <a:gd name="adj" fmla="val 50000"/>
            </a:avLst>
          </a:prstGeom>
          <a:solidFill>
            <a:srgbClr val="EAF8FD"/>
          </a:solidFill>
          <a:ln/>
        </p:spPr>
      </p:sp>
      <p:sp>
        <p:nvSpPr>
          <p:cNvPr id="7" name="Text 5"/>
          <p:cNvSpPr/>
          <p:nvPr/>
        </p:nvSpPr>
        <p:spPr>
          <a:xfrm>
            <a:off x="812800" y="1950720"/>
            <a:ext cx="2926080" cy="455168"/>
          </a:xfrm>
          <a:prstGeom prst="rect">
            <a:avLst/>
          </a:prstGeom>
          <a:noFill/>
          <a:ln/>
        </p:spPr>
        <p:txBody>
          <a:bodyPr wrap="square" lIns="0" tIns="0" rIns="0" bIns="0" rtlCol="0" anchor="ctr"/>
          <a:lstStyle/>
          <a:p>
            <a:pPr algn="ctr" indent="0" marL="0">
              <a:buNone/>
            </a:pPr>
            <a:r>
              <a:rPr lang="en-US" sz="800" b="1" spc="100" kern="0" dirty="0">
                <a:solidFill>
                  <a:srgbClr val="1A8A7D"/>
                </a:solidFill>
                <a:latin typeface="Calibri" pitchFamily="34" charset="0"/>
                <a:ea typeface="Calibri" pitchFamily="34" charset="-122"/>
                <a:cs typeface="Calibri" pitchFamily="34" charset="-120"/>
              </a:rPr>
              <a:t>COMPARE</a:t>
            </a:r>
            <a:endParaRPr lang="en-US" sz="800" dirty="0"/>
          </a:p>
        </p:txBody>
      </p:sp>
      <p:sp>
        <p:nvSpPr>
          <p:cNvPr id="8" name="Shape 6"/>
          <p:cNvSpPr/>
          <p:nvPr/>
        </p:nvSpPr>
        <p:spPr>
          <a:xfrm>
            <a:off x="812800" y="2600960"/>
            <a:ext cx="3495040" cy="2113280"/>
          </a:xfrm>
          <a:prstGeom prst="roundRect">
            <a:avLst>
              <a:gd name="adj" fmla="val 7692"/>
            </a:avLst>
          </a:prstGeom>
          <a:solidFill>
            <a:srgbClr val="E3F8ED"/>
          </a:solidFill>
          <a:ln/>
        </p:spPr>
      </p:sp>
      <p:sp>
        <p:nvSpPr>
          <p:cNvPr id="9" name="Text 7"/>
          <p:cNvSpPr/>
          <p:nvPr/>
        </p:nvSpPr>
        <p:spPr>
          <a:xfrm>
            <a:off x="975360" y="2763520"/>
            <a:ext cx="3169920" cy="4876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Physical</a:t>
            </a:r>
            <a:endParaRPr lang="en-US" sz="1300" dirty="0"/>
          </a:p>
        </p:txBody>
      </p:sp>
      <p:sp>
        <p:nvSpPr>
          <p:cNvPr id="10" name="Text 8"/>
          <p:cNvSpPr/>
          <p:nvPr/>
        </p:nvSpPr>
        <p:spPr>
          <a:xfrm>
            <a:off x="975360" y="3332480"/>
            <a:ext cx="3169920" cy="1137920"/>
          </a:xfrm>
          <a:prstGeom prst="rect">
            <a:avLst/>
          </a:prstGeom>
          <a:noFill/>
          <a:ln/>
        </p:spPr>
        <p:txBody>
          <a:bodyPr wrap="square" lIns="0" tIns="0" rIns="0" bIns="0" rtlCol="0" anchor="ctr"/>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Shows land features (mountains, rivers, deserts)</a:t>
            </a:r>
            <a:endParaRPr lang="en-US" sz="1000" dirty="0"/>
          </a:p>
        </p:txBody>
      </p:sp>
      <p:sp>
        <p:nvSpPr>
          <p:cNvPr id="11" name="Shape 9"/>
          <p:cNvSpPr/>
          <p:nvPr/>
        </p:nvSpPr>
        <p:spPr>
          <a:xfrm>
            <a:off x="4632960" y="2600960"/>
            <a:ext cx="3495040" cy="2113280"/>
          </a:xfrm>
          <a:prstGeom prst="roundRect">
            <a:avLst>
              <a:gd name="adj" fmla="val 7692"/>
            </a:avLst>
          </a:prstGeom>
          <a:solidFill>
            <a:srgbClr val="EAF8FD"/>
          </a:solidFill>
          <a:ln/>
        </p:spPr>
      </p:sp>
      <p:sp>
        <p:nvSpPr>
          <p:cNvPr id="12" name="Text 10"/>
          <p:cNvSpPr/>
          <p:nvPr/>
        </p:nvSpPr>
        <p:spPr>
          <a:xfrm>
            <a:off x="4795520" y="2763520"/>
            <a:ext cx="3169920" cy="487680"/>
          </a:xfrm>
          <a:prstGeom prst="rect">
            <a:avLst/>
          </a:prstGeom>
          <a:noFill/>
          <a:ln/>
        </p:spPr>
        <p:txBody>
          <a:bodyPr wrap="square" lIns="0" tIns="0" rIns="0" bIns="0" rtlCol="0" anchor="ctr"/>
          <a:lstStyle/>
          <a:p>
            <a:pPr indent="0" marL="0">
              <a:buNone/>
            </a:pPr>
            <a:r>
              <a:rPr lang="en-US" sz="1300" b="1" dirty="0">
                <a:solidFill>
                  <a:srgbClr val="1A8A7D"/>
                </a:solidFill>
                <a:latin typeface="Calibri" pitchFamily="34" charset="0"/>
                <a:ea typeface="Calibri" pitchFamily="34" charset="-122"/>
                <a:cs typeface="Calibri" pitchFamily="34" charset="-120"/>
              </a:rPr>
              <a:t>Political</a:t>
            </a:r>
            <a:endParaRPr lang="en-US" sz="1300" dirty="0"/>
          </a:p>
        </p:txBody>
      </p:sp>
      <p:sp>
        <p:nvSpPr>
          <p:cNvPr id="13" name="Text 11"/>
          <p:cNvSpPr/>
          <p:nvPr/>
        </p:nvSpPr>
        <p:spPr>
          <a:xfrm>
            <a:off x="4795520" y="3332480"/>
            <a:ext cx="3169920" cy="1137920"/>
          </a:xfrm>
          <a:prstGeom prst="rect">
            <a:avLst/>
          </a:prstGeom>
          <a:noFill/>
          <a:ln/>
        </p:spPr>
        <p:txBody>
          <a:bodyPr wrap="square" lIns="0" tIns="0" rIns="0" bIns="0" rtlCol="0" anchor="ctr"/>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Shows borders, states, countries, capitals</a:t>
            </a:r>
            <a:endParaRPr lang="en-US" sz="1000" dirty="0"/>
          </a:p>
        </p:txBody>
      </p:sp>
      <p:sp>
        <p:nvSpPr>
          <p:cNvPr id="14" name="Shape 12"/>
          <p:cNvSpPr/>
          <p:nvPr/>
        </p:nvSpPr>
        <p:spPr>
          <a:xfrm>
            <a:off x="8453120" y="2600960"/>
            <a:ext cx="3495040" cy="2113280"/>
          </a:xfrm>
          <a:prstGeom prst="roundRect">
            <a:avLst>
              <a:gd name="adj" fmla="val 7692"/>
            </a:avLst>
          </a:prstGeom>
          <a:solidFill>
            <a:srgbClr val="FFF3DC"/>
          </a:solidFill>
          <a:ln/>
        </p:spPr>
      </p:sp>
      <p:sp>
        <p:nvSpPr>
          <p:cNvPr id="15" name="Text 13"/>
          <p:cNvSpPr/>
          <p:nvPr/>
        </p:nvSpPr>
        <p:spPr>
          <a:xfrm>
            <a:off x="8615680" y="2763520"/>
            <a:ext cx="3169920" cy="487680"/>
          </a:xfrm>
          <a:prstGeom prst="rect">
            <a:avLst/>
          </a:prstGeom>
          <a:noFill/>
          <a:ln/>
        </p:spPr>
        <p:txBody>
          <a:bodyPr wrap="square" lIns="0" tIns="0" rIns="0" bIns="0"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Elevation</a:t>
            </a:r>
            <a:endParaRPr lang="en-US" sz="1300" dirty="0"/>
          </a:p>
        </p:txBody>
      </p:sp>
      <p:sp>
        <p:nvSpPr>
          <p:cNvPr id="16" name="Text 14"/>
          <p:cNvSpPr/>
          <p:nvPr/>
        </p:nvSpPr>
        <p:spPr>
          <a:xfrm>
            <a:off x="8615680" y="3332480"/>
            <a:ext cx="3169920" cy="1137920"/>
          </a:xfrm>
          <a:prstGeom prst="rect">
            <a:avLst/>
          </a:prstGeom>
          <a:noFill/>
          <a:ln/>
        </p:spPr>
        <p:txBody>
          <a:bodyPr wrap="square" lIns="0" tIns="0" rIns="0" bIns="0" rtlCol="0" anchor="ctr"/>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Shows how high or low the land is</a:t>
            </a:r>
            <a:endParaRPr lang="en-US" sz="1000" dirty="0"/>
          </a:p>
        </p:txBody>
      </p:sp>
      <p:sp>
        <p:nvSpPr>
          <p:cNvPr id="17" name="Shape 15"/>
          <p:cNvSpPr/>
          <p:nvPr/>
        </p:nvSpPr>
        <p:spPr>
          <a:xfrm>
            <a:off x="12273280" y="2600960"/>
            <a:ext cx="3495040" cy="2113280"/>
          </a:xfrm>
          <a:prstGeom prst="roundRect">
            <a:avLst>
              <a:gd name="adj" fmla="val 7692"/>
            </a:avLst>
          </a:prstGeom>
          <a:solidFill>
            <a:srgbClr val="F0E8FF"/>
          </a:solidFill>
          <a:ln/>
        </p:spPr>
      </p:sp>
      <p:sp>
        <p:nvSpPr>
          <p:cNvPr id="18" name="Text 16"/>
          <p:cNvSpPr/>
          <p:nvPr/>
        </p:nvSpPr>
        <p:spPr>
          <a:xfrm>
            <a:off x="12435840" y="2763520"/>
            <a:ext cx="3169920" cy="487680"/>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Population</a:t>
            </a:r>
            <a:endParaRPr lang="en-US" sz="1300" dirty="0"/>
          </a:p>
        </p:txBody>
      </p:sp>
      <p:sp>
        <p:nvSpPr>
          <p:cNvPr id="19" name="Text 17"/>
          <p:cNvSpPr/>
          <p:nvPr/>
        </p:nvSpPr>
        <p:spPr>
          <a:xfrm>
            <a:off x="12435840" y="3332480"/>
            <a:ext cx="3169920" cy="1137920"/>
          </a:xfrm>
          <a:prstGeom prst="rect">
            <a:avLst/>
          </a:prstGeom>
          <a:noFill/>
          <a:ln/>
        </p:spPr>
        <p:txBody>
          <a:bodyPr wrap="square" lIns="0" tIns="0" rIns="0" bIns="0" rtlCol="0" anchor="ctr"/>
          <a:lstStyle/>
          <a:p>
            <a:pPr indent="0" marL="0">
              <a:lnSpc>
                <a:spcPct val="115000"/>
              </a:lnSpc>
              <a:buNone/>
            </a:pPr>
            <a:r>
              <a:rPr lang="en-US" sz="1000" dirty="0">
                <a:solidFill>
                  <a:srgbClr val="0E1C42"/>
                </a:solidFill>
                <a:latin typeface="Calibri" pitchFamily="34" charset="0"/>
                <a:ea typeface="Calibri" pitchFamily="34" charset="-122"/>
                <a:cs typeface="Calibri" pitchFamily="34" charset="-120"/>
              </a:rPr>
              <a:t>Shows where people live (crowded vs. empty)</a:t>
            </a:r>
            <a:endParaRPr lang="en-US" sz="1000" dirty="0"/>
          </a:p>
        </p:txBody>
      </p:sp>
      <p:sp>
        <p:nvSpPr>
          <p:cNvPr id="20" name="Shape 18"/>
          <p:cNvSpPr/>
          <p:nvPr/>
        </p:nvSpPr>
        <p:spPr>
          <a:xfrm>
            <a:off x="812800" y="5039360"/>
            <a:ext cx="6990080" cy="2600960"/>
          </a:xfrm>
          <a:prstGeom prst="roundRect">
            <a:avLst>
              <a:gd name="adj" fmla="val 7500"/>
            </a:avLst>
          </a:prstGeom>
          <a:solidFill>
            <a:srgbClr val="F0F2F8"/>
          </a:solidFill>
          <a:ln/>
        </p:spPr>
      </p:sp>
      <p:sp>
        <p:nvSpPr>
          <p:cNvPr id="21" name="Text 19"/>
          <p:cNvSpPr/>
          <p:nvPr/>
        </p:nvSpPr>
        <p:spPr>
          <a:xfrm>
            <a:off x="1137920" y="5201920"/>
            <a:ext cx="6339840" cy="487680"/>
          </a:xfrm>
          <a:prstGeom prst="rect">
            <a:avLst/>
          </a:prstGeom>
          <a:noFill/>
          <a:ln/>
        </p:spPr>
        <p:txBody>
          <a:bodyPr wrap="square" lIns="0" tIns="0" rIns="0" bIns="0" rtlCol="0" anchor="ctr"/>
          <a:lstStyle/>
          <a:p>
            <a:pPr indent="0" marL="0">
              <a:buNone/>
            </a:pPr>
            <a:r>
              <a:rPr lang="en-US" sz="1200" b="1" spc="100" kern="0" dirty="0">
                <a:solidFill>
                  <a:srgbClr val="1A8A7D"/>
                </a:solidFill>
                <a:latin typeface="Calibri" pitchFamily="34" charset="0"/>
                <a:ea typeface="Calibri" pitchFamily="34" charset="-122"/>
                <a:cs typeface="Calibri" pitchFamily="34" charset="-120"/>
              </a:rPr>
              <a:t>GLOBE</a:t>
            </a:r>
            <a:endParaRPr lang="en-US" sz="1200" dirty="0"/>
          </a:p>
        </p:txBody>
      </p:sp>
      <p:sp>
        <p:nvSpPr>
          <p:cNvPr id="22" name="Text 20"/>
          <p:cNvSpPr/>
          <p:nvPr/>
        </p:nvSpPr>
        <p:spPr>
          <a:xfrm>
            <a:off x="1137920" y="5770880"/>
            <a:ext cx="6339840" cy="1463040"/>
          </a:xfrm>
          <a:prstGeom prst="rect">
            <a:avLst/>
          </a:prstGeom>
          <a:noFill/>
          <a:ln/>
        </p:spPr>
        <p:txBody>
          <a:bodyPr wrap="square" lIns="0" tIns="0" rIns="0" bIns="0" rtlCol="0" anchor="ctr"/>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Shows Earth's true shape but is hard to carry. Best for seeing how continents really relate to each other.</a:t>
            </a:r>
            <a:endParaRPr lang="en-US" sz="1100" dirty="0"/>
          </a:p>
        </p:txBody>
      </p:sp>
      <p:sp>
        <p:nvSpPr>
          <p:cNvPr id="23" name="Shape 21"/>
          <p:cNvSpPr/>
          <p:nvPr/>
        </p:nvSpPr>
        <p:spPr>
          <a:xfrm>
            <a:off x="8290560" y="5039360"/>
            <a:ext cx="6990080" cy="2600960"/>
          </a:xfrm>
          <a:prstGeom prst="roundRect">
            <a:avLst>
              <a:gd name="adj" fmla="val 7500"/>
            </a:avLst>
          </a:prstGeom>
          <a:solidFill>
            <a:srgbClr val="F0F2F8"/>
          </a:solidFill>
          <a:ln/>
        </p:spPr>
      </p:sp>
      <p:sp>
        <p:nvSpPr>
          <p:cNvPr id="24" name="Text 22"/>
          <p:cNvSpPr/>
          <p:nvPr/>
        </p:nvSpPr>
        <p:spPr>
          <a:xfrm>
            <a:off x="8615680" y="5201920"/>
            <a:ext cx="6339840" cy="487680"/>
          </a:xfrm>
          <a:prstGeom prst="rect">
            <a:avLst/>
          </a:prstGeom>
          <a:noFill/>
          <a:ln/>
        </p:spPr>
        <p:txBody>
          <a:bodyPr wrap="square" lIns="0" tIns="0" rIns="0" bIns="0" rtlCol="0" anchor="ctr"/>
          <a:lstStyle/>
          <a:p>
            <a:pPr indent="0" marL="0">
              <a:buNone/>
            </a:pPr>
            <a:r>
              <a:rPr lang="en-US" sz="1200" b="1" spc="100" kern="0" dirty="0">
                <a:solidFill>
                  <a:srgbClr val="D4943A"/>
                </a:solidFill>
                <a:latin typeface="Calibri" pitchFamily="34" charset="0"/>
                <a:ea typeface="Calibri" pitchFamily="34" charset="-122"/>
                <a:cs typeface="Calibri" pitchFamily="34" charset="-120"/>
              </a:rPr>
              <a:t>FLAT MAP</a:t>
            </a:r>
            <a:endParaRPr lang="en-US" sz="1200" dirty="0"/>
          </a:p>
        </p:txBody>
      </p:sp>
      <p:sp>
        <p:nvSpPr>
          <p:cNvPr id="25" name="Text 23"/>
          <p:cNvSpPr/>
          <p:nvPr/>
        </p:nvSpPr>
        <p:spPr>
          <a:xfrm>
            <a:off x="8615680" y="5770880"/>
            <a:ext cx="6339840" cy="1463040"/>
          </a:xfrm>
          <a:prstGeom prst="rect">
            <a:avLst/>
          </a:prstGeom>
          <a:noFill/>
          <a:ln/>
        </p:spPr>
        <p:txBody>
          <a:bodyPr wrap="square" lIns="0" tIns="0" rIns="0" bIns="0" rtlCol="0" anchor="ctr"/>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Easier to use and carry, but distorts size and shape -- especially near the poles. Some areas look bigger or smaller than they really are.</a:t>
            </a:r>
            <a:endParaRPr lang="en-US" sz="1100" dirty="0"/>
          </a:p>
        </p:txBody>
      </p:sp>
      <p:sp>
        <p:nvSpPr>
          <p:cNvPr id="26" name="Text 24"/>
          <p:cNvSpPr/>
          <p:nvPr/>
        </p:nvSpPr>
        <p:spPr>
          <a:xfrm>
            <a:off x="812800" y="7965440"/>
            <a:ext cx="14630400" cy="56896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Each map type answers a different question. Pick the right one for what you need to know!</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EXPLORE — DISCUSS</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Honest Self-Assessment</a:t>
            </a:r>
            <a:endParaRPr lang="en-US" sz="2200" dirty="0"/>
          </a:p>
        </p:txBody>
      </p:sp>
      <p:sp>
        <p:nvSpPr>
          <p:cNvPr id="6" name="Shape 4"/>
          <p:cNvSpPr/>
          <p:nvPr/>
        </p:nvSpPr>
        <p:spPr>
          <a:xfrm>
            <a:off x="812800" y="1950720"/>
            <a:ext cx="2926080" cy="455168"/>
          </a:xfrm>
          <a:prstGeom prst="roundRect">
            <a:avLst>
              <a:gd name="adj" fmla="val 50000"/>
            </a:avLst>
          </a:prstGeom>
          <a:solidFill>
            <a:srgbClr val="EAF8FD"/>
          </a:solidFill>
          <a:ln/>
        </p:spPr>
      </p:sp>
      <p:sp>
        <p:nvSpPr>
          <p:cNvPr id="7" name="Text 5"/>
          <p:cNvSpPr/>
          <p:nvPr/>
        </p:nvSpPr>
        <p:spPr>
          <a:xfrm>
            <a:off x="812800" y="1950720"/>
            <a:ext cx="2926080" cy="455168"/>
          </a:xfrm>
          <a:prstGeom prst="rect">
            <a:avLst/>
          </a:prstGeom>
          <a:noFill/>
          <a:ln/>
        </p:spPr>
        <p:txBody>
          <a:bodyPr wrap="square" lIns="0" tIns="0" rIns="0" bIns="0" rtlCol="0" anchor="ctr"/>
          <a:lstStyle/>
          <a:p>
            <a:pPr algn="ctr" indent="0" marL="0">
              <a:buNone/>
            </a:pPr>
            <a:r>
              <a:rPr lang="en-US" sz="800" b="1" spc="100" kern="0" dirty="0">
                <a:solidFill>
                  <a:srgbClr val="1A8A7D"/>
                </a:solidFill>
                <a:latin typeface="Calibri" pitchFamily="34" charset="0"/>
                <a:ea typeface="Calibri" pitchFamily="34" charset="-122"/>
                <a:cs typeface="Calibri" pitchFamily="34" charset="-120"/>
              </a:rPr>
              <a:t>COMPARE</a:t>
            </a:r>
            <a:endParaRPr lang="en-US" sz="800" dirty="0"/>
          </a:p>
        </p:txBody>
      </p:sp>
      <p:sp>
        <p:nvSpPr>
          <p:cNvPr id="8" name="Shape 6"/>
          <p:cNvSpPr/>
          <p:nvPr/>
        </p:nvSpPr>
        <p:spPr>
          <a:xfrm>
            <a:off x="812800" y="2682240"/>
            <a:ext cx="14630400" cy="2926080"/>
          </a:xfrm>
          <a:prstGeom prst="roundRect">
            <a:avLst>
              <a:gd name="adj" fmla="val 6667"/>
            </a:avLst>
          </a:prstGeom>
          <a:solidFill>
            <a:srgbClr val="FFF3DC"/>
          </a:solidFill>
          <a:ln w="19050">
            <a:solidFill>
              <a:srgbClr val="F5E6C8"/>
            </a:solidFill>
            <a:prstDash val="solid"/>
          </a:ln>
        </p:spPr>
      </p:sp>
      <p:sp>
        <p:nvSpPr>
          <p:cNvPr id="9" name="Text 7"/>
          <p:cNvSpPr/>
          <p:nvPr/>
        </p:nvSpPr>
        <p:spPr>
          <a:xfrm>
            <a:off x="1056640" y="277977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0" name="Text 8"/>
          <p:cNvSpPr/>
          <p:nvPr/>
        </p:nvSpPr>
        <p:spPr>
          <a:xfrm>
            <a:off x="1056640" y="3137408"/>
            <a:ext cx="14142720" cy="23571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map skill felt easiest to learn? Why?"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"Which one was hardest? What made it tricky?"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"Being honest about what's hard helps you grow."</a:t>
            </a:r>
            <a:endParaRPr lang="en-US" sz="1200" dirty="0"/>
          </a:p>
        </p:txBody>
      </p:sp>
      <p:sp>
        <p:nvSpPr>
          <p:cNvPr id="11" name="Shape 9"/>
          <p:cNvSpPr/>
          <p:nvPr/>
        </p:nvSpPr>
        <p:spPr>
          <a:xfrm>
            <a:off x="812800" y="6014720"/>
            <a:ext cx="14630400" cy="2438400"/>
          </a:xfrm>
          <a:prstGeom prst="roundRect">
            <a:avLst>
              <a:gd name="adj" fmla="val 8000"/>
            </a:avLst>
          </a:prstGeom>
          <a:solidFill>
            <a:srgbClr val="F0F2F8"/>
          </a:solidFill>
          <a:ln/>
        </p:spPr>
      </p:sp>
      <p:sp>
        <p:nvSpPr>
          <p:cNvPr id="12" name="Text 10"/>
          <p:cNvSpPr/>
          <p:nvPr/>
        </p:nvSpPr>
        <p:spPr>
          <a:xfrm>
            <a:off x="1137920" y="6177280"/>
            <a:ext cx="1398016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In your Curator's Notebook, write:</a:t>
            </a:r>
            <a:endParaRPr lang="en-US" sz="1200" dirty="0"/>
          </a:p>
        </p:txBody>
      </p:sp>
      <p:sp>
        <p:nvSpPr>
          <p:cNvPr id="13" name="Text 11"/>
          <p:cNvSpPr/>
          <p:nvPr/>
        </p:nvSpPr>
        <p:spPr>
          <a:xfrm>
            <a:off x="1137920" y="6746240"/>
            <a:ext cx="13980160" cy="1463040"/>
          </a:xfrm>
          <a:prstGeom prst="rect">
            <a:avLst/>
          </a:prstGeom>
          <a:noFill/>
          <a:ln/>
        </p:spPr>
        <p:txBody>
          <a:bodyPr wrap="square" lIns="0" tIns="0" rIns="0" bIns="0" rtlCol="0" anchor="t"/>
          <a:lstStyle/>
          <a:p>
            <a:pPr indent="0" marL="0">
              <a:spcAft>
                <a:spcPts val="600"/>
              </a:spcAft>
              <a:buNone/>
            </a:pPr>
            <a:r>
              <a:rPr lang="en-US" sz="1300" dirty="0">
                <a:solidFill>
                  <a:srgbClr val="0E1C42"/>
                </a:solidFill>
                <a:latin typeface="Calibri" pitchFamily="34" charset="0"/>
                <a:ea typeface="Calibri" pitchFamily="34" charset="-122"/>
                <a:cs typeface="Calibri" pitchFamily="34" charset="-120"/>
              </a:rPr>
              <a:t>1. My strongest map skill: _______________
</a:t>
            </a:r>
            <a:pPr indent="0" marL="0">
              <a:buNone/>
            </a:pPr>
            <a:r>
              <a:rPr lang="en-US" sz="1300" dirty="0">
                <a:solidFill>
                  <a:srgbClr val="0E1C42"/>
                </a:solidFill>
                <a:latin typeface="Calibri" pitchFamily="34" charset="0"/>
                <a:ea typeface="Calibri" pitchFamily="34" charset="-122"/>
                <a:cs typeface="Calibri" pitchFamily="34" charset="-120"/>
              </a:rPr>
              <a:t>2. The skill I want to practice more: _______________</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EXPLORE — CHALLENGE</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Map Skills Challenge Match</a:t>
            </a:r>
            <a:endParaRPr lang="en-US" sz="2200" dirty="0"/>
          </a:p>
        </p:txBody>
      </p:sp>
      <p:sp>
        <p:nvSpPr>
          <p:cNvPr id="6" name="Text 4"/>
          <p:cNvSpPr/>
          <p:nvPr/>
        </p:nvSpPr>
        <p:spPr>
          <a:xfrm>
            <a:off x="812800" y="1869440"/>
            <a:ext cx="14630400" cy="48768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A visitor asks each question. Match it to the skill that answers it!</a:t>
            </a:r>
            <a:endParaRPr lang="en-US" sz="1200" dirty="0"/>
          </a:p>
        </p:txBody>
      </p:sp>
      <p:sp>
        <p:nvSpPr>
          <p:cNvPr id="7" name="Shape 5"/>
          <p:cNvSpPr/>
          <p:nvPr/>
        </p:nvSpPr>
        <p:spPr>
          <a:xfrm>
            <a:off x="812800" y="2600960"/>
            <a:ext cx="7802880" cy="1137920"/>
          </a:xfrm>
          <a:prstGeom prst="roundRect">
            <a:avLst>
              <a:gd name="adj" fmla="val 14286"/>
            </a:avLst>
          </a:prstGeom>
          <a:solidFill>
            <a:srgbClr val="EAF8FD"/>
          </a:solidFill>
          <a:ln/>
        </p:spPr>
      </p:sp>
      <p:sp>
        <p:nvSpPr>
          <p:cNvPr id="8" name="Text 6"/>
          <p:cNvSpPr/>
          <p:nvPr/>
        </p:nvSpPr>
        <p:spPr>
          <a:xfrm>
            <a:off x="1137920" y="2600960"/>
            <a:ext cx="7152640" cy="113792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"What does this map show?"</a:t>
            </a:r>
            <a:endParaRPr lang="en-US" sz="1200" dirty="0"/>
          </a:p>
        </p:txBody>
      </p:sp>
      <p:sp>
        <p:nvSpPr>
          <p:cNvPr id="9" name="Shape 7"/>
          <p:cNvSpPr/>
          <p:nvPr/>
        </p:nvSpPr>
        <p:spPr>
          <a:xfrm>
            <a:off x="8940800" y="3088640"/>
            <a:ext cx="812800" cy="65024"/>
          </a:xfrm>
          <a:prstGeom prst="rect">
            <a:avLst/>
          </a:prstGeom>
          <a:solidFill>
            <a:srgbClr val="7A88A8"/>
          </a:solidFill>
          <a:ln/>
        </p:spPr>
      </p:sp>
      <p:sp>
        <p:nvSpPr>
          <p:cNvPr id="10" name="Shape 8"/>
          <p:cNvSpPr/>
          <p:nvPr/>
        </p:nvSpPr>
        <p:spPr>
          <a:xfrm>
            <a:off x="10078720" y="2600960"/>
            <a:ext cx="5364480" cy="1137920"/>
          </a:xfrm>
          <a:prstGeom prst="roundRect">
            <a:avLst>
              <a:gd name="adj" fmla="val 14286"/>
            </a:avLst>
          </a:prstGeom>
          <a:solidFill>
            <a:srgbClr val="EAF8FD"/>
          </a:solidFill>
          <a:ln/>
        </p:spPr>
      </p:sp>
      <p:sp>
        <p:nvSpPr>
          <p:cNvPr id="11" name="Text 9"/>
          <p:cNvSpPr/>
          <p:nvPr/>
        </p:nvSpPr>
        <p:spPr>
          <a:xfrm>
            <a:off x="10403840" y="2600960"/>
            <a:ext cx="4714240" cy="1137920"/>
          </a:xfrm>
          <a:prstGeom prst="rect">
            <a:avLst/>
          </a:prstGeom>
          <a:noFill/>
          <a:ln/>
        </p:spPr>
        <p:txBody>
          <a:bodyPr wrap="square" lIns="0" tIns="0" rIns="0" bIns="0" rtlCol="0" anchor="ctr"/>
          <a:lstStyle/>
          <a:p>
            <a:pPr indent="0" marL="0">
              <a:buNone/>
            </a:pPr>
            <a:r>
              <a:rPr lang="en-US" sz="1200" b="1" dirty="0">
                <a:solidFill>
                  <a:srgbClr val="1A8A7D"/>
                </a:solidFill>
                <a:latin typeface="Calibri" pitchFamily="34" charset="0"/>
                <a:ea typeface="Calibri" pitchFamily="34" charset="-122"/>
                <a:cs typeface="Calibri" pitchFamily="34" charset="-120"/>
              </a:rPr>
              <a:t>Read the title</a:t>
            </a:r>
            <a:endParaRPr lang="en-US" sz="1200" dirty="0"/>
          </a:p>
        </p:txBody>
      </p:sp>
      <p:sp>
        <p:nvSpPr>
          <p:cNvPr id="12" name="Shape 10"/>
          <p:cNvSpPr/>
          <p:nvPr/>
        </p:nvSpPr>
        <p:spPr>
          <a:xfrm>
            <a:off x="812800" y="3982720"/>
            <a:ext cx="7802880" cy="1137920"/>
          </a:xfrm>
          <a:prstGeom prst="roundRect">
            <a:avLst>
              <a:gd name="adj" fmla="val 14286"/>
            </a:avLst>
          </a:prstGeom>
          <a:solidFill>
            <a:srgbClr val="FFF3DC"/>
          </a:solidFill>
          <a:ln/>
        </p:spPr>
      </p:sp>
      <p:sp>
        <p:nvSpPr>
          <p:cNvPr id="13" name="Text 11"/>
          <p:cNvSpPr/>
          <p:nvPr/>
        </p:nvSpPr>
        <p:spPr>
          <a:xfrm>
            <a:off x="1137920" y="3982720"/>
            <a:ext cx="7152640" cy="113792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"Which way is the lake from here?"</a:t>
            </a:r>
            <a:endParaRPr lang="en-US" sz="1200" dirty="0"/>
          </a:p>
        </p:txBody>
      </p:sp>
      <p:sp>
        <p:nvSpPr>
          <p:cNvPr id="14" name="Shape 12"/>
          <p:cNvSpPr/>
          <p:nvPr/>
        </p:nvSpPr>
        <p:spPr>
          <a:xfrm>
            <a:off x="8940800" y="4470400"/>
            <a:ext cx="812800" cy="65024"/>
          </a:xfrm>
          <a:prstGeom prst="rect">
            <a:avLst/>
          </a:prstGeom>
          <a:solidFill>
            <a:srgbClr val="7A88A8"/>
          </a:solidFill>
          <a:ln/>
        </p:spPr>
      </p:sp>
      <p:sp>
        <p:nvSpPr>
          <p:cNvPr id="15" name="Shape 13"/>
          <p:cNvSpPr/>
          <p:nvPr/>
        </p:nvSpPr>
        <p:spPr>
          <a:xfrm>
            <a:off x="10078720" y="3982720"/>
            <a:ext cx="5364480" cy="1137920"/>
          </a:xfrm>
          <a:prstGeom prst="roundRect">
            <a:avLst>
              <a:gd name="adj" fmla="val 14286"/>
            </a:avLst>
          </a:prstGeom>
          <a:solidFill>
            <a:srgbClr val="FFF3DC"/>
          </a:solidFill>
          <a:ln/>
        </p:spPr>
      </p:sp>
      <p:sp>
        <p:nvSpPr>
          <p:cNvPr id="16" name="Text 14"/>
          <p:cNvSpPr/>
          <p:nvPr/>
        </p:nvSpPr>
        <p:spPr>
          <a:xfrm>
            <a:off x="10403840" y="3982720"/>
            <a:ext cx="4714240" cy="113792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Use the compass rose</a:t>
            </a:r>
            <a:endParaRPr lang="en-US" sz="1200" dirty="0"/>
          </a:p>
        </p:txBody>
      </p:sp>
      <p:sp>
        <p:nvSpPr>
          <p:cNvPr id="17" name="Shape 15"/>
          <p:cNvSpPr/>
          <p:nvPr/>
        </p:nvSpPr>
        <p:spPr>
          <a:xfrm>
            <a:off x="812800" y="5364480"/>
            <a:ext cx="7802880" cy="1137920"/>
          </a:xfrm>
          <a:prstGeom prst="roundRect">
            <a:avLst>
              <a:gd name="adj" fmla="val 14286"/>
            </a:avLst>
          </a:prstGeom>
          <a:solidFill>
            <a:srgbClr val="E3F8ED"/>
          </a:solidFill>
          <a:ln/>
        </p:spPr>
      </p:sp>
      <p:sp>
        <p:nvSpPr>
          <p:cNvPr id="18" name="Text 16"/>
          <p:cNvSpPr/>
          <p:nvPr/>
        </p:nvSpPr>
        <p:spPr>
          <a:xfrm>
            <a:off x="1137920" y="5364480"/>
            <a:ext cx="7152640" cy="113792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"How far is it from city A to city B?"</a:t>
            </a:r>
            <a:endParaRPr lang="en-US" sz="1200" dirty="0"/>
          </a:p>
        </p:txBody>
      </p:sp>
      <p:sp>
        <p:nvSpPr>
          <p:cNvPr id="19" name="Shape 17"/>
          <p:cNvSpPr/>
          <p:nvPr/>
        </p:nvSpPr>
        <p:spPr>
          <a:xfrm>
            <a:off x="8940800" y="5852160"/>
            <a:ext cx="812800" cy="65024"/>
          </a:xfrm>
          <a:prstGeom prst="rect">
            <a:avLst/>
          </a:prstGeom>
          <a:solidFill>
            <a:srgbClr val="7A88A8"/>
          </a:solidFill>
          <a:ln/>
        </p:spPr>
      </p:sp>
      <p:sp>
        <p:nvSpPr>
          <p:cNvPr id="20" name="Shape 18"/>
          <p:cNvSpPr/>
          <p:nvPr/>
        </p:nvSpPr>
        <p:spPr>
          <a:xfrm>
            <a:off x="10078720" y="5364480"/>
            <a:ext cx="5364480" cy="1137920"/>
          </a:xfrm>
          <a:prstGeom prst="roundRect">
            <a:avLst>
              <a:gd name="adj" fmla="val 14286"/>
            </a:avLst>
          </a:prstGeom>
          <a:solidFill>
            <a:srgbClr val="E3F8ED"/>
          </a:solidFill>
          <a:ln/>
        </p:spPr>
      </p:sp>
      <p:sp>
        <p:nvSpPr>
          <p:cNvPr id="21" name="Text 19"/>
          <p:cNvSpPr/>
          <p:nvPr/>
        </p:nvSpPr>
        <p:spPr>
          <a:xfrm>
            <a:off x="10403840" y="5364480"/>
            <a:ext cx="4714240" cy="1137920"/>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Use the scale</a:t>
            </a:r>
            <a:endParaRPr lang="en-US" sz="1200" dirty="0"/>
          </a:p>
        </p:txBody>
      </p:sp>
      <p:sp>
        <p:nvSpPr>
          <p:cNvPr id="22" name="Shape 20"/>
          <p:cNvSpPr/>
          <p:nvPr/>
        </p:nvSpPr>
        <p:spPr>
          <a:xfrm>
            <a:off x="812800" y="6746240"/>
            <a:ext cx="7802880" cy="1137920"/>
          </a:xfrm>
          <a:prstGeom prst="roundRect">
            <a:avLst>
              <a:gd name="adj" fmla="val 14286"/>
            </a:avLst>
          </a:prstGeom>
          <a:solidFill>
            <a:srgbClr val="F0E8FF"/>
          </a:solidFill>
          <a:ln/>
        </p:spPr>
      </p:sp>
      <p:sp>
        <p:nvSpPr>
          <p:cNvPr id="23" name="Text 21"/>
          <p:cNvSpPr/>
          <p:nvPr/>
        </p:nvSpPr>
        <p:spPr>
          <a:xfrm>
            <a:off x="1137920" y="6746240"/>
            <a:ext cx="7152640" cy="113792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"What does the blue area mean?"</a:t>
            </a:r>
            <a:endParaRPr lang="en-US" sz="1200" dirty="0"/>
          </a:p>
        </p:txBody>
      </p:sp>
      <p:sp>
        <p:nvSpPr>
          <p:cNvPr id="24" name="Shape 22"/>
          <p:cNvSpPr/>
          <p:nvPr/>
        </p:nvSpPr>
        <p:spPr>
          <a:xfrm>
            <a:off x="8940800" y="7233920"/>
            <a:ext cx="812800" cy="65024"/>
          </a:xfrm>
          <a:prstGeom prst="rect">
            <a:avLst/>
          </a:prstGeom>
          <a:solidFill>
            <a:srgbClr val="7A88A8"/>
          </a:solidFill>
          <a:ln/>
        </p:spPr>
      </p:sp>
      <p:sp>
        <p:nvSpPr>
          <p:cNvPr id="25" name="Shape 23"/>
          <p:cNvSpPr/>
          <p:nvPr/>
        </p:nvSpPr>
        <p:spPr>
          <a:xfrm>
            <a:off x="10078720" y="6746240"/>
            <a:ext cx="5364480" cy="1137920"/>
          </a:xfrm>
          <a:prstGeom prst="roundRect">
            <a:avLst>
              <a:gd name="adj" fmla="val 14286"/>
            </a:avLst>
          </a:prstGeom>
          <a:solidFill>
            <a:srgbClr val="F0E8FF"/>
          </a:solidFill>
          <a:ln/>
        </p:spPr>
      </p:sp>
      <p:sp>
        <p:nvSpPr>
          <p:cNvPr id="26" name="Text 24"/>
          <p:cNvSpPr/>
          <p:nvPr/>
        </p:nvSpPr>
        <p:spPr>
          <a:xfrm>
            <a:off x="10403840" y="6746240"/>
            <a:ext cx="4714240" cy="1137920"/>
          </a:xfrm>
          <a:prstGeom prst="rect">
            <a:avLst/>
          </a:prstGeom>
          <a:noFill/>
          <a:ln/>
        </p:spPr>
        <p:txBody>
          <a:bodyPr wrap="square" lIns="0" tIns="0" rIns="0" bIns="0" rtlCol="0" anchor="ctr"/>
          <a:lstStyle/>
          <a:p>
            <a:pPr indent="0" marL="0">
              <a:buNone/>
            </a:pPr>
            <a:r>
              <a:rPr lang="en-US" sz="1200" b="1" dirty="0">
                <a:solidFill>
                  <a:srgbClr val="8B6FC0"/>
                </a:solidFill>
                <a:latin typeface="Calibri" pitchFamily="34" charset="0"/>
                <a:ea typeface="Calibri" pitchFamily="34" charset="-122"/>
                <a:cs typeface="Calibri" pitchFamily="34" charset="-120"/>
              </a:rPr>
              <a:t>Check the legend</a:t>
            </a:r>
            <a:endParaRPr lang="en-US" sz="1200" dirty="0"/>
          </a:p>
        </p:txBody>
      </p:sp>
      <p:sp>
        <p:nvSpPr>
          <p:cNvPr id="27" name="Text 25"/>
          <p:cNvSpPr/>
          <p:nvPr/>
        </p:nvSpPr>
        <p:spPr>
          <a:xfrm>
            <a:off x="812800" y="8128000"/>
            <a:ext cx="14630400" cy="48768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Can you match them all correctly before looking at the answers?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EXPLORE — DISCOVERY FACT</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Discovery Fact</a:t>
            </a:r>
            <a:endParaRPr lang="en-US" sz="2200" dirty="0"/>
          </a:p>
        </p:txBody>
      </p:sp>
      <p:sp>
        <p:nvSpPr>
          <p:cNvPr id="6" name="Shape 4"/>
          <p:cNvSpPr/>
          <p:nvPr/>
        </p:nvSpPr>
        <p:spPr>
          <a:xfrm>
            <a:off x="812800" y="2113280"/>
            <a:ext cx="8940800" cy="5201920"/>
          </a:xfrm>
          <a:prstGeom prst="roundRect">
            <a:avLst>
              <a:gd name="adj" fmla="val 3750"/>
            </a:avLst>
          </a:prstGeom>
          <a:solidFill>
            <a:srgbClr val="E2E8F4"/>
          </a:solidFill>
          <a:ln w="19050">
            <a:solidFill>
              <a:srgbClr val="B0B8CC"/>
            </a:solidFill>
            <a:prstDash val="dash"/>
          </a:ln>
        </p:spPr>
      </p:sp>
      <p:sp>
        <p:nvSpPr>
          <p:cNvPr id="7" name="Text 5"/>
          <p:cNvSpPr/>
          <p:nvPr/>
        </p:nvSpPr>
        <p:spPr>
          <a:xfrm>
            <a:off x="812800" y="2113280"/>
            <a:ext cx="8940800" cy="48768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1056640" y="2600960"/>
            <a:ext cx="8453120" cy="4551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Ancient cave painting/carving showing a primitive map -- carved into rock, approximately 14,000 years old, found in Spain</a:t>
            </a:r>
            <a:endParaRPr lang="en-US" sz="1100" dirty="0"/>
          </a:p>
        </p:txBody>
      </p:sp>
      <p:sp>
        <p:nvSpPr>
          <p:cNvPr id="9" name="Shape 7"/>
          <p:cNvSpPr/>
          <p:nvPr/>
        </p:nvSpPr>
        <p:spPr>
          <a:xfrm>
            <a:off x="10241280" y="2113280"/>
            <a:ext cx="5364480" cy="5201920"/>
          </a:xfrm>
          <a:prstGeom prst="roundRect">
            <a:avLst>
              <a:gd name="adj" fmla="val 3750"/>
            </a:avLst>
          </a:prstGeom>
          <a:solidFill>
            <a:srgbClr val="FFF8F0"/>
          </a:solidFill>
          <a:ln/>
        </p:spPr>
      </p:sp>
      <p:sp>
        <p:nvSpPr>
          <p:cNvPr id="10" name="Text 8"/>
          <p:cNvSpPr/>
          <p:nvPr/>
        </p:nvSpPr>
        <p:spPr>
          <a:xfrm>
            <a:off x="10566400" y="2275840"/>
            <a:ext cx="4714240" cy="406400"/>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DID YOU KNOW?</a:t>
            </a:r>
            <a:endParaRPr lang="en-US" sz="900" dirty="0"/>
          </a:p>
        </p:txBody>
      </p:sp>
      <p:sp>
        <p:nvSpPr>
          <p:cNvPr id="11" name="Text 9"/>
          <p:cNvSpPr/>
          <p:nvPr/>
        </p:nvSpPr>
        <p:spPr>
          <a:xfrm>
            <a:off x="10566400" y="2926080"/>
            <a:ext cx="4714240" cy="4064000"/>
          </a:xfrm>
          <a:prstGeom prst="rect">
            <a:avLst/>
          </a:prstGeom>
          <a:noFill/>
          <a:ln/>
        </p:spPr>
        <p:txBody>
          <a:bodyPr wrap="square" lIns="0" tIns="0" rIns="0" bIns="0" rtlCol="0" anchor="ctr"/>
          <a:lstStyle/>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The oldest known map is about 14,000 years old -- it was carved into a cave wall in Spain.</a:t>
            </a:r>
            <a:endParaRPr lang="en-US" sz="1400" dirty="0"/>
          </a:p>
          <a:p>
            <a:pPr indent="0" marL="0">
              <a:lnSpc>
                <a:spcPct val="130000"/>
              </a:lnSpc>
              <a:buNone/>
            </a:pPr>
            <a:endParaRPr lang="en-US" sz="1400" dirty="0"/>
          </a:p>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Even ancient people needed to show where things were!</a:t>
            </a:r>
            <a:endParaRPr lang="en-US" sz="1400" dirty="0"/>
          </a:p>
        </p:txBody>
      </p:sp>
      <p:sp>
        <p:nvSpPr>
          <p:cNvPr id="12" name="Shape 10"/>
          <p:cNvSpPr/>
          <p:nvPr/>
        </p:nvSpPr>
        <p:spPr>
          <a:xfrm>
            <a:off x="812800" y="7640320"/>
            <a:ext cx="14630400" cy="1137920"/>
          </a:xfrm>
          <a:prstGeom prst="roundRect">
            <a:avLst>
              <a:gd name="adj" fmla="val 17143"/>
            </a:avLst>
          </a:prstGeom>
          <a:solidFill>
            <a:srgbClr val="FFF3DC"/>
          </a:solidFill>
          <a:ln w="19050">
            <a:solidFill>
              <a:srgbClr val="F5E6C8"/>
            </a:solidFill>
            <a:prstDash val="solid"/>
          </a:ln>
        </p:spPr>
      </p:sp>
      <p:sp>
        <p:nvSpPr>
          <p:cNvPr id="13" name="Text 11"/>
          <p:cNvSpPr/>
          <p:nvPr/>
        </p:nvSpPr>
        <p:spPr>
          <a:xfrm>
            <a:off x="1056640" y="7737856"/>
            <a:ext cx="14142720" cy="3576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1056640" y="8095488"/>
            <a:ext cx="14142720" cy="568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map elements might ancient mapmakers have used?"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"What elements hadn't been invented yet?"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EXPLORE — CONNECT</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How Map Skills Work Together</a:t>
            </a:r>
            <a:endParaRPr lang="en-US" sz="2200" dirty="0"/>
          </a:p>
        </p:txBody>
      </p:sp>
      <p:sp>
        <p:nvSpPr>
          <p:cNvPr id="6" name="Shape 4"/>
          <p:cNvSpPr/>
          <p:nvPr/>
        </p:nvSpPr>
        <p:spPr>
          <a:xfrm>
            <a:off x="812800" y="1950720"/>
            <a:ext cx="2926080" cy="455168"/>
          </a:xfrm>
          <a:prstGeom prst="roundRect">
            <a:avLst>
              <a:gd name="adj" fmla="val 50000"/>
            </a:avLst>
          </a:prstGeom>
          <a:solidFill>
            <a:srgbClr val="EAF8FD"/>
          </a:solidFill>
          <a:ln/>
        </p:spPr>
      </p:sp>
      <p:sp>
        <p:nvSpPr>
          <p:cNvPr id="7" name="Text 5"/>
          <p:cNvSpPr/>
          <p:nvPr/>
        </p:nvSpPr>
        <p:spPr>
          <a:xfrm>
            <a:off x="812800" y="1950720"/>
            <a:ext cx="2926080" cy="455168"/>
          </a:xfrm>
          <a:prstGeom prst="rect">
            <a:avLst/>
          </a:prstGeom>
          <a:noFill/>
          <a:ln/>
        </p:spPr>
        <p:txBody>
          <a:bodyPr wrap="square" lIns="0" tIns="0" rIns="0" bIns="0" rtlCol="0" anchor="ctr"/>
          <a:lstStyle/>
          <a:p>
            <a:pPr algn="ctr" indent="0" marL="0">
              <a:buNone/>
            </a:pPr>
            <a:r>
              <a:rPr lang="en-US" sz="800" b="1" spc="100" kern="0" dirty="0">
                <a:solidFill>
                  <a:srgbClr val="1A8A7D"/>
                </a:solidFill>
                <a:latin typeface="Calibri" pitchFamily="34" charset="0"/>
                <a:ea typeface="Calibri" pitchFamily="34" charset="-122"/>
                <a:cs typeface="Calibri" pitchFamily="34" charset="-120"/>
              </a:rPr>
              <a:t>EXPLAIN</a:t>
            </a:r>
            <a:endParaRPr lang="en-US" sz="800" dirty="0"/>
          </a:p>
        </p:txBody>
      </p:sp>
      <p:sp>
        <p:nvSpPr>
          <p:cNvPr id="8" name="Shape 6"/>
          <p:cNvSpPr/>
          <p:nvPr/>
        </p:nvSpPr>
        <p:spPr>
          <a:xfrm>
            <a:off x="812800" y="2600960"/>
            <a:ext cx="14630400" cy="3576320"/>
          </a:xfrm>
          <a:prstGeom prst="roundRect">
            <a:avLst>
              <a:gd name="adj" fmla="val 5455"/>
            </a:avLst>
          </a:prstGeom>
          <a:solidFill>
            <a:srgbClr val="F0F2F8"/>
          </a:solidFill>
          <a:ln w="12700">
            <a:solidFill>
              <a:srgbClr val="D0D6E4"/>
            </a:solidFill>
            <a:prstDash val="solid"/>
          </a:ln>
        </p:spPr>
      </p:sp>
      <p:sp>
        <p:nvSpPr>
          <p:cNvPr id="9" name="Text 7"/>
          <p:cNvSpPr/>
          <p:nvPr/>
        </p:nvSpPr>
        <p:spPr>
          <a:xfrm>
            <a:off x="1137920" y="2763520"/>
            <a:ext cx="3251200" cy="3576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EXHIBIT LABEL</a:t>
            </a:r>
            <a:endParaRPr lang="en-US" sz="900" dirty="0"/>
          </a:p>
        </p:txBody>
      </p:sp>
      <p:sp>
        <p:nvSpPr>
          <p:cNvPr id="10" name="Text 8"/>
          <p:cNvSpPr/>
          <p:nvPr/>
        </p:nvSpPr>
        <p:spPr>
          <a:xfrm>
            <a:off x="1137920" y="3251200"/>
            <a:ext cx="13980160" cy="2600960"/>
          </a:xfrm>
          <a:prstGeom prst="rect">
            <a:avLst/>
          </a:prstGeom>
          <a:noFill/>
          <a:ln/>
        </p:spPr>
        <p:txBody>
          <a:bodyPr wrap="square" lIns="0" tIns="0" rIns="0" bIns="0" rtlCol="0" anchor="t"/>
          <a:lstStyle/>
          <a:p>
            <a:pPr indent="0" marL="0">
              <a:lnSpc>
                <a:spcPct val="130000"/>
              </a:lnSpc>
              <a:buNone/>
            </a:pPr>
            <a:r>
              <a:rPr lang="en-US" sz="1400" dirty="0">
                <a:solidFill>
                  <a:srgbClr val="0E1C42"/>
                </a:solidFill>
                <a:latin typeface="Calibri" pitchFamily="34" charset="0"/>
                <a:ea typeface="Calibri" pitchFamily="34" charset="-122"/>
                <a:cs typeface="Calibri" pitchFamily="34" charset="-120"/>
              </a:rPr>
              <a:t>Map skills work together. A title tells you what the map shows. A compass rose tells you directions. A scale tells you distance. A legend tells you what the symbols mean. And knowing map types, charts, and globes helps you choose the right tool for the question. When you can use all of these together, you can understand almost any map in the world.</a:t>
            </a:r>
            <a:endParaRPr lang="en-US" sz="1400" dirty="0"/>
          </a:p>
        </p:txBody>
      </p:sp>
      <p:sp>
        <p:nvSpPr>
          <p:cNvPr id="11" name="Shape 9"/>
          <p:cNvSpPr/>
          <p:nvPr/>
        </p:nvSpPr>
        <p:spPr>
          <a:xfrm>
            <a:off x="812800" y="6502400"/>
            <a:ext cx="14630400" cy="1950720"/>
          </a:xfrm>
          <a:prstGeom prst="roundRect">
            <a:avLst>
              <a:gd name="adj" fmla="val 10000"/>
            </a:avLst>
          </a:prstGeom>
          <a:solidFill>
            <a:srgbClr val="FFF3DC"/>
          </a:solidFill>
          <a:ln/>
        </p:spPr>
      </p:sp>
      <p:sp>
        <p:nvSpPr>
          <p:cNvPr id="12" name="Text 10"/>
          <p:cNvSpPr/>
          <p:nvPr/>
        </p:nvSpPr>
        <p:spPr>
          <a:xfrm>
            <a:off x="1137920" y="6664960"/>
            <a:ext cx="13980160" cy="1625600"/>
          </a:xfrm>
          <a:prstGeom prst="rect">
            <a:avLst/>
          </a:prstGeom>
          <a:noFill/>
          <a:ln/>
        </p:spPr>
        <p:txBody>
          <a:bodyPr wrap="square" lIns="0" tIns="0" rIns="0" bIns="0" rtlCol="0" anchor="ctr"/>
          <a:lstStyle/>
          <a:p>
            <a:pPr indent="0" marL="0">
              <a:lnSpc>
                <a:spcPct val="125000"/>
              </a:lnSpc>
              <a:buNone/>
            </a:pPr>
            <a:r>
              <a:rPr lang="en-US" sz="1300" i="1" dirty="0">
                <a:solidFill>
                  <a:srgbClr val="D4943A"/>
                </a:solidFill>
                <a:latin typeface="Cambria" pitchFamily="34" charset="0"/>
                <a:ea typeface="Cambria" pitchFamily="34" charset="-122"/>
                <a:cs typeface="Cambria" pitchFamily="34" charset="-120"/>
              </a:rPr>
              <a:t>You walked into the Great Map Room as a student. Now you're walking out as a Mapmaker. That badge means something -- it means the museum trusts your map skills.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GUIDED PRACTICE — MODEL</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Using Skills Together</a:t>
            </a:r>
            <a:endParaRPr lang="en-US" sz="2200" dirty="0"/>
          </a:p>
        </p:txBody>
      </p:sp>
      <p:sp>
        <p:nvSpPr>
          <p:cNvPr id="6" name="Text 4"/>
          <p:cNvSpPr/>
          <p:nvPr/>
        </p:nvSpPr>
        <p:spPr>
          <a:xfrm>
            <a:off x="812800" y="1869440"/>
            <a:ext cx="14630400" cy="48768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Teacher models combining multiple map skills to answer one question</a:t>
            </a:r>
            <a:endParaRPr lang="en-US" sz="1200" dirty="0"/>
          </a:p>
        </p:txBody>
      </p:sp>
      <p:sp>
        <p:nvSpPr>
          <p:cNvPr id="7" name="Shape 5"/>
          <p:cNvSpPr/>
          <p:nvPr/>
        </p:nvSpPr>
        <p:spPr>
          <a:xfrm>
            <a:off x="812800" y="2600960"/>
            <a:ext cx="14630400" cy="5364480"/>
          </a:xfrm>
          <a:prstGeom prst="roundRect">
            <a:avLst>
              <a:gd name="adj" fmla="val 3636"/>
            </a:avLst>
          </a:prstGeom>
          <a:solidFill>
            <a:srgbClr val="F0F2F8"/>
          </a:solidFill>
          <a:ln/>
        </p:spPr>
      </p:sp>
      <p:sp>
        <p:nvSpPr>
          <p:cNvPr id="8" name="Text 6"/>
          <p:cNvSpPr/>
          <p:nvPr/>
        </p:nvSpPr>
        <p:spPr>
          <a:xfrm>
            <a:off x="1137920" y="2763520"/>
            <a:ext cx="13980160" cy="5039360"/>
          </a:xfrm>
          <a:prstGeom prst="rect">
            <a:avLst/>
          </a:prstGeom>
          <a:noFill/>
          <a:ln/>
        </p:spPr>
        <p:txBody>
          <a:bodyPr wrap="square" lIns="0" tIns="0" rIns="0" bIns="0" rtlCol="0" anchor="t"/>
          <a:lstStyle/>
          <a:p>
            <a:pPr indent="0" marL="0">
              <a:lnSpc>
                <a:spcPct val="105000"/>
              </a:lnSpc>
              <a:buNone/>
            </a:pPr>
            <a:r>
              <a:rPr lang="en-US" sz="1300" b="1" i="1" dirty="0">
                <a:solidFill>
                  <a:srgbClr val="D4943A"/>
                </a:solidFill>
                <a:latin typeface="Cambria" pitchFamily="34" charset="0"/>
                <a:ea typeface="Cambria" pitchFamily="34" charset="-122"/>
                <a:cs typeface="Cambria" pitchFamily="34" charset="-120"/>
              </a:rPr>
              <a:t>"A visitor asks: Which direction are the mountains from the museum, and how far away are they?"
</a:t>
            </a:r>
            <a:pPr indent="0" marL="0">
              <a:lnSpc>
                <a:spcPct val="105000"/>
              </a:lnSpc>
              <a:buNone/>
            </a:pPr>
            <a:r>
              <a:rPr lang="en-US" sz="1200" b="1" dirty="0">
                <a:solidFill>
                  <a:srgbClr val="1A8A7D"/>
                </a:solidFill>
                <a:latin typeface="Calibri" pitchFamily="34" charset="0"/>
                <a:ea typeface="Calibri" pitchFamily="34" charset="-122"/>
                <a:cs typeface="Calibri" pitchFamily="34" charset="-120"/>
              </a:rPr>
              <a:t>Step 1 — Read the title: </a:t>
            </a:r>
            <a:pPr indent="0" marL="0">
              <a:lnSpc>
                <a:spcPct val="105000"/>
              </a:lnSpc>
              <a:buNone/>
            </a:pPr>
            <a:r>
              <a:rPr lang="en-US" sz="1200" dirty="0">
                <a:solidFill>
                  <a:srgbClr val="0E1C42"/>
                </a:solidFill>
                <a:latin typeface="Calibri" pitchFamily="34" charset="0"/>
                <a:ea typeface="Calibri" pitchFamily="34" charset="-122"/>
                <a:cs typeface="Calibri" pitchFamily="34" charset="-120"/>
              </a:rPr>
              <a:t>This is a map of the state park area.
</a:t>
            </a:r>
            <a:pPr indent="0" marL="0">
              <a:lnSpc>
                <a:spcPct val="105000"/>
              </a:lnSpc>
              <a:buNone/>
            </a:pPr>
            <a:r>
              <a:rPr lang="en-US" sz="1200" b="1" dirty="0">
                <a:solidFill>
                  <a:srgbClr val="1A8A7D"/>
                </a:solidFill>
                <a:latin typeface="Calibri" pitchFamily="34" charset="0"/>
                <a:ea typeface="Calibri" pitchFamily="34" charset="-122"/>
                <a:cs typeface="Calibri" pitchFamily="34" charset="-120"/>
              </a:rPr>
              <a:t>Step 2 — Use the compass rose: </a:t>
            </a:r>
            <a:pPr indent="0" marL="0">
              <a:lnSpc>
                <a:spcPct val="105000"/>
              </a:lnSpc>
              <a:buNone/>
            </a:pPr>
            <a:r>
              <a:rPr lang="en-US" sz="1200" dirty="0">
                <a:solidFill>
                  <a:srgbClr val="0E1C42"/>
                </a:solidFill>
                <a:latin typeface="Calibri" pitchFamily="34" charset="0"/>
                <a:ea typeface="Calibri" pitchFamily="34" charset="-122"/>
                <a:cs typeface="Calibri" pitchFamily="34" charset="-120"/>
              </a:rPr>
              <a:t>The mountains are northwest of the museum.
</a:t>
            </a:r>
            <a:pPr indent="0" marL="0">
              <a:lnSpc>
                <a:spcPct val="105000"/>
              </a:lnSpc>
              <a:buNone/>
            </a:pPr>
            <a:r>
              <a:rPr lang="en-US" sz="1200" b="1" dirty="0">
                <a:solidFill>
                  <a:srgbClr val="1A8A7D"/>
                </a:solidFill>
                <a:latin typeface="Calibri" pitchFamily="34" charset="0"/>
                <a:ea typeface="Calibri" pitchFamily="34" charset="-122"/>
                <a:cs typeface="Calibri" pitchFamily="34" charset="-120"/>
              </a:rPr>
              <a:t>Step 3 — Use the scale: </a:t>
            </a:r>
            <a:pPr indent="0" marL="0">
              <a:lnSpc>
                <a:spcPct val="105000"/>
              </a:lnSpc>
              <a:buNone/>
            </a:pPr>
            <a:r>
              <a:rPr lang="en-US" sz="1200" dirty="0">
                <a:solidFill>
                  <a:srgbClr val="0E1C42"/>
                </a:solidFill>
                <a:latin typeface="Calibri" pitchFamily="34" charset="0"/>
                <a:ea typeface="Calibri" pitchFamily="34" charset="-122"/>
                <a:cs typeface="Calibri" pitchFamily="34" charset="-120"/>
              </a:rPr>
              <a:t>The distance is about 2 inches on the map. The scale says 1 inch = 10 miles, so the mountains are about 20 miles away.
</a:t>
            </a:r>
            <a:pPr indent="0" marL="0">
              <a:lnSpc>
                <a:spcPct val="105000"/>
              </a:lnSpc>
              <a:buNone/>
            </a:pPr>
            <a:r>
              <a:rPr lang="en-US" sz="1200" b="1" dirty="0">
                <a:solidFill>
                  <a:srgbClr val="1A8A7D"/>
                </a:solidFill>
                <a:latin typeface="Calibri" pitchFamily="34" charset="0"/>
                <a:ea typeface="Calibri" pitchFamily="34" charset="-122"/>
                <a:cs typeface="Calibri" pitchFamily="34" charset="-120"/>
              </a:rPr>
              <a:t>Step 4 — Check the legend: </a:t>
            </a:r>
            <a:pPr indent="0" marL="0">
              <a:lnSpc>
                <a:spcPct val="105000"/>
              </a:lnSpc>
              <a:buNone/>
            </a:pPr>
            <a:r>
              <a:rPr lang="en-US" sz="1200" dirty="0">
                <a:solidFill>
                  <a:srgbClr val="0E1C42"/>
                </a:solidFill>
                <a:latin typeface="Calibri" pitchFamily="34" charset="0"/>
                <a:ea typeface="Calibri" pitchFamily="34" charset="-122"/>
                <a:cs typeface="Calibri" pitchFamily="34" charset="-120"/>
              </a:rPr>
              <a:t>The brown shading means elevated land -- that confirms the mountains.
</a:t>
            </a:r>
            <a:pPr indent="0" marL="0">
              <a:lnSpc>
                <a:spcPct val="105000"/>
              </a:lnSpc>
              <a:buNone/>
            </a:pPr>
            <a:r>
              <a:rPr lang="en-US" sz="1300" b="1" dirty="0">
                <a:solidFill>
                  <a:srgbClr val="34B76F"/>
                </a:solidFill>
                <a:latin typeface="Calibri" pitchFamily="34" charset="0"/>
                <a:ea typeface="Calibri" pitchFamily="34" charset="-122"/>
                <a:cs typeface="Calibri" pitchFamily="34" charset="-120"/>
              </a:rPr>
              <a:t>Three skills used together to answer one question!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GUIDED PRACTICE — WE TRY</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Problems Does This Cause?</a:t>
            </a:r>
            <a:endParaRPr lang="en-US" sz="2200" dirty="0"/>
          </a:p>
        </p:txBody>
      </p:sp>
      <p:sp>
        <p:nvSpPr>
          <p:cNvPr id="6" name="Text 4"/>
          <p:cNvSpPr/>
          <p:nvPr/>
        </p:nvSpPr>
        <p:spPr>
          <a:xfrm>
            <a:off x="812800" y="1869440"/>
            <a:ext cx="14630400" cy="6502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 visitor picks up a map with NO compass rose and NO legend. What two problems do they have?</a:t>
            </a:r>
            <a:endParaRPr lang="en-US" sz="1300" dirty="0"/>
          </a:p>
        </p:txBody>
      </p:sp>
      <p:sp>
        <p:nvSpPr>
          <p:cNvPr id="7" name="Shape 5"/>
          <p:cNvSpPr/>
          <p:nvPr/>
        </p:nvSpPr>
        <p:spPr>
          <a:xfrm>
            <a:off x="812800" y="2763520"/>
            <a:ext cx="6990080" cy="3251200"/>
          </a:xfrm>
          <a:prstGeom prst="roundRect">
            <a:avLst>
              <a:gd name="adj" fmla="val 6000"/>
            </a:avLst>
          </a:prstGeom>
          <a:solidFill>
            <a:srgbClr val="FDE8E9"/>
          </a:solidFill>
          <a:ln/>
        </p:spPr>
      </p:sp>
      <p:sp>
        <p:nvSpPr>
          <p:cNvPr id="8" name="Text 6"/>
          <p:cNvSpPr/>
          <p:nvPr/>
        </p:nvSpPr>
        <p:spPr>
          <a:xfrm>
            <a:off x="1137920" y="2926080"/>
            <a:ext cx="6339840" cy="487680"/>
          </a:xfrm>
          <a:prstGeom prst="rect">
            <a:avLst/>
          </a:prstGeom>
          <a:noFill/>
          <a:ln/>
        </p:spPr>
        <p:txBody>
          <a:bodyPr wrap="square" lIns="0" tIns="0" rIns="0" bIns="0" rtlCol="0" anchor="ctr"/>
          <a:lstStyle/>
          <a:p>
            <a:pPr indent="0" marL="0">
              <a:buNone/>
            </a:pPr>
            <a:r>
              <a:rPr lang="en-US" sz="1200" b="1" dirty="0">
                <a:solidFill>
                  <a:srgbClr val="E8636B"/>
                </a:solidFill>
                <a:latin typeface="Calibri" pitchFamily="34" charset="0"/>
                <a:ea typeface="Calibri" pitchFamily="34" charset="-122"/>
                <a:cs typeface="Calibri" pitchFamily="34" charset="-120"/>
              </a:rPr>
              <a:t>PROBLEM 1: No Compass Rose</a:t>
            </a:r>
            <a:endParaRPr lang="en-US" sz="1200" dirty="0"/>
          </a:p>
        </p:txBody>
      </p:sp>
      <p:sp>
        <p:nvSpPr>
          <p:cNvPr id="9" name="Text 7"/>
          <p:cNvSpPr/>
          <p:nvPr/>
        </p:nvSpPr>
        <p:spPr>
          <a:xfrm>
            <a:off x="1137920" y="3576320"/>
            <a:ext cx="6339840" cy="211328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The visitor can't tell which direction anything is. They can't say 'the park is north of the school' because there's no way to know which way is north.</a:t>
            </a:r>
            <a:endParaRPr lang="en-US" sz="1200" dirty="0"/>
          </a:p>
        </p:txBody>
      </p:sp>
      <p:sp>
        <p:nvSpPr>
          <p:cNvPr id="10" name="Shape 8"/>
          <p:cNvSpPr/>
          <p:nvPr/>
        </p:nvSpPr>
        <p:spPr>
          <a:xfrm>
            <a:off x="8290560" y="2763520"/>
            <a:ext cx="6990080" cy="3251200"/>
          </a:xfrm>
          <a:prstGeom prst="roundRect">
            <a:avLst>
              <a:gd name="adj" fmla="val 6000"/>
            </a:avLst>
          </a:prstGeom>
          <a:solidFill>
            <a:srgbClr val="FDE8E9"/>
          </a:solidFill>
          <a:ln/>
        </p:spPr>
      </p:sp>
      <p:sp>
        <p:nvSpPr>
          <p:cNvPr id="11" name="Text 9"/>
          <p:cNvSpPr/>
          <p:nvPr/>
        </p:nvSpPr>
        <p:spPr>
          <a:xfrm>
            <a:off x="8615680" y="2926080"/>
            <a:ext cx="6339840" cy="487680"/>
          </a:xfrm>
          <a:prstGeom prst="rect">
            <a:avLst/>
          </a:prstGeom>
          <a:noFill/>
          <a:ln/>
        </p:spPr>
        <p:txBody>
          <a:bodyPr wrap="square" lIns="0" tIns="0" rIns="0" bIns="0" rtlCol="0" anchor="ctr"/>
          <a:lstStyle/>
          <a:p>
            <a:pPr indent="0" marL="0">
              <a:buNone/>
            </a:pPr>
            <a:r>
              <a:rPr lang="en-US" sz="1200" b="1" dirty="0">
                <a:solidFill>
                  <a:srgbClr val="E8636B"/>
                </a:solidFill>
                <a:latin typeface="Calibri" pitchFamily="34" charset="0"/>
                <a:ea typeface="Calibri" pitchFamily="34" charset="-122"/>
                <a:cs typeface="Calibri" pitchFamily="34" charset="-120"/>
              </a:rPr>
              <a:t>PROBLEM 2: No Legend</a:t>
            </a:r>
            <a:endParaRPr lang="en-US" sz="1200" dirty="0"/>
          </a:p>
        </p:txBody>
      </p:sp>
      <p:sp>
        <p:nvSpPr>
          <p:cNvPr id="12" name="Text 10"/>
          <p:cNvSpPr/>
          <p:nvPr/>
        </p:nvSpPr>
        <p:spPr>
          <a:xfrm>
            <a:off x="8615680" y="3576320"/>
            <a:ext cx="6339840" cy="2113280"/>
          </a:xfrm>
          <a:prstGeom prst="rect">
            <a:avLst/>
          </a:prstGeom>
          <a:noFill/>
          <a:ln/>
        </p:spPr>
        <p:txBody>
          <a:bodyPr wrap="square" lIns="0" tIns="0" rIns="0" bIns="0" rtlCol="0" anchor="ctr"/>
          <a:lstStyle/>
          <a:p>
            <a:pPr indent="0" marL="0">
              <a:lnSpc>
                <a:spcPct val="120000"/>
              </a:lnSpc>
              <a:buNone/>
            </a:pPr>
            <a:r>
              <a:rPr lang="en-US" sz="1200" dirty="0">
                <a:solidFill>
                  <a:srgbClr val="0E1C42"/>
                </a:solidFill>
                <a:latin typeface="Calibri" pitchFamily="34" charset="0"/>
                <a:ea typeface="Calibri" pitchFamily="34" charset="-122"/>
                <a:cs typeface="Calibri" pitchFamily="34" charset="-120"/>
              </a:rPr>
              <a:t>The visitor can see symbols and colors but has no idea what they mean. A blue area could be water, or it could be something else entirely.</a:t>
            </a:r>
            <a:endParaRPr lang="en-US" sz="1200" dirty="0"/>
          </a:p>
        </p:txBody>
      </p:sp>
      <p:sp>
        <p:nvSpPr>
          <p:cNvPr id="13" name="Shape 11"/>
          <p:cNvSpPr/>
          <p:nvPr/>
        </p:nvSpPr>
        <p:spPr>
          <a:xfrm>
            <a:off x="812800" y="6339840"/>
            <a:ext cx="14630400" cy="2113280"/>
          </a:xfrm>
          <a:prstGeom prst="roundRect">
            <a:avLst>
              <a:gd name="adj" fmla="val 9231"/>
            </a:avLst>
          </a:prstGeom>
          <a:solidFill>
            <a:srgbClr val="EAF8FD"/>
          </a:solidFill>
          <a:ln/>
        </p:spPr>
      </p:sp>
      <p:sp>
        <p:nvSpPr>
          <p:cNvPr id="14" name="Text 12"/>
          <p:cNvSpPr/>
          <p:nvPr/>
        </p:nvSpPr>
        <p:spPr>
          <a:xfrm>
            <a:off x="1137920" y="6502400"/>
            <a:ext cx="13980160" cy="406400"/>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THIS IS EVIDENCE QUESTION 1!</a:t>
            </a:r>
            <a:endParaRPr lang="en-US" sz="900" dirty="0"/>
          </a:p>
        </p:txBody>
      </p:sp>
      <p:sp>
        <p:nvSpPr>
          <p:cNvPr id="15" name="Text 13"/>
          <p:cNvSpPr/>
          <p:nvPr/>
        </p:nvSpPr>
        <p:spPr>
          <a:xfrm>
            <a:off x="1137920" y="6990080"/>
            <a:ext cx="13980160" cy="1137920"/>
          </a:xfrm>
          <a:prstGeom prst="rect">
            <a:avLst/>
          </a:prstGeom>
          <a:noFill/>
          <a:ln/>
        </p:spPr>
        <p:txBody>
          <a:bodyPr wrap="square" lIns="0" tIns="0" rIns="0" bIns="0" rtlCol="0" anchor="ctr"/>
          <a:lstStyle/>
          <a:p>
            <a:pPr indent="0" marL="0">
              <a:lnSpc>
                <a:spcPct val="120000"/>
              </a:lnSpc>
              <a:buNone/>
            </a:pPr>
            <a:r>
              <a:rPr lang="en-US" sz="1300" dirty="0">
                <a:solidFill>
                  <a:srgbClr val="0E1C42"/>
                </a:solidFill>
                <a:latin typeface="Calibri" pitchFamily="34" charset="0"/>
                <a:ea typeface="Calibri" pitchFamily="34" charset="-122"/>
                <a:cs typeface="Calibri" pitchFamily="34" charset="-120"/>
              </a:rPr>
              <a:t>On your assignment, you'll explain both problems. Practice now: tell a partner what each missing element causes.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GUIDED PRACTICE — YOUR TURN</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Choose the Right Map Type</a:t>
            </a:r>
            <a:endParaRPr lang="en-US" sz="2200" dirty="0"/>
          </a:p>
        </p:txBody>
      </p:sp>
      <p:sp>
        <p:nvSpPr>
          <p:cNvPr id="6" name="Text 4"/>
          <p:cNvSpPr/>
          <p:nvPr/>
        </p:nvSpPr>
        <p:spPr>
          <a:xfrm>
            <a:off x="812800" y="1869440"/>
            <a:ext cx="14630400" cy="48768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For each question, write which map type you'd choose and WHY.</a:t>
            </a:r>
            <a:endParaRPr lang="en-US" sz="1200" dirty="0"/>
          </a:p>
        </p:txBody>
      </p:sp>
      <p:sp>
        <p:nvSpPr>
          <p:cNvPr id="7" name="Shape 5"/>
          <p:cNvSpPr/>
          <p:nvPr/>
        </p:nvSpPr>
        <p:spPr>
          <a:xfrm>
            <a:off x="812800" y="2600960"/>
            <a:ext cx="14630400" cy="1463040"/>
          </a:xfrm>
          <a:prstGeom prst="roundRect">
            <a:avLst>
              <a:gd name="adj" fmla="val 11111"/>
            </a:avLst>
          </a:prstGeom>
          <a:solidFill>
            <a:srgbClr val="FFF3DC"/>
          </a:solidFill>
          <a:ln/>
        </p:spPr>
      </p:sp>
      <p:sp>
        <p:nvSpPr>
          <p:cNvPr id="8" name="Shape 6"/>
          <p:cNvSpPr/>
          <p:nvPr/>
        </p:nvSpPr>
        <p:spPr>
          <a:xfrm>
            <a:off x="975360" y="2731008"/>
            <a:ext cx="650240" cy="568960"/>
          </a:xfrm>
          <a:prstGeom prst="roundRect">
            <a:avLst>
              <a:gd name="adj" fmla="val 22857"/>
            </a:avLst>
          </a:prstGeom>
          <a:solidFill>
            <a:srgbClr val="0E1C42"/>
          </a:solidFill>
          <a:ln/>
        </p:spPr>
      </p:sp>
      <p:sp>
        <p:nvSpPr>
          <p:cNvPr id="9" name="Text 7"/>
          <p:cNvSpPr/>
          <p:nvPr/>
        </p:nvSpPr>
        <p:spPr>
          <a:xfrm>
            <a:off x="975360" y="2731008"/>
            <a:ext cx="650240" cy="568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869440" y="2682240"/>
            <a:ext cx="13329920" cy="6502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You want to know how high the mountains are in Colorado.</a:t>
            </a:r>
            <a:endParaRPr lang="en-US" sz="1300" dirty="0"/>
          </a:p>
        </p:txBody>
      </p:sp>
      <p:sp>
        <p:nvSpPr>
          <p:cNvPr id="11" name="Text 9"/>
          <p:cNvSpPr/>
          <p:nvPr/>
        </p:nvSpPr>
        <p:spPr>
          <a:xfrm>
            <a:off x="1869440" y="3381248"/>
            <a:ext cx="13329920" cy="56896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Elevation map -- shows height of land</a:t>
            </a:r>
            <a:endParaRPr lang="en-US" sz="1100" dirty="0"/>
          </a:p>
        </p:txBody>
      </p:sp>
      <p:sp>
        <p:nvSpPr>
          <p:cNvPr id="12" name="Shape 10"/>
          <p:cNvSpPr/>
          <p:nvPr/>
        </p:nvSpPr>
        <p:spPr>
          <a:xfrm>
            <a:off x="812800" y="4389120"/>
            <a:ext cx="14630400" cy="1463040"/>
          </a:xfrm>
          <a:prstGeom prst="roundRect">
            <a:avLst>
              <a:gd name="adj" fmla="val 11111"/>
            </a:avLst>
          </a:prstGeom>
          <a:solidFill>
            <a:srgbClr val="EAF8FD"/>
          </a:solidFill>
          <a:ln/>
        </p:spPr>
      </p:sp>
      <p:sp>
        <p:nvSpPr>
          <p:cNvPr id="13" name="Shape 11"/>
          <p:cNvSpPr/>
          <p:nvPr/>
        </p:nvSpPr>
        <p:spPr>
          <a:xfrm>
            <a:off x="975360" y="4519168"/>
            <a:ext cx="650240" cy="568960"/>
          </a:xfrm>
          <a:prstGeom prst="roundRect">
            <a:avLst>
              <a:gd name="adj" fmla="val 22857"/>
            </a:avLst>
          </a:prstGeom>
          <a:solidFill>
            <a:srgbClr val="0E1C42"/>
          </a:solidFill>
          <a:ln/>
        </p:spPr>
      </p:sp>
      <p:sp>
        <p:nvSpPr>
          <p:cNvPr id="14" name="Text 12"/>
          <p:cNvSpPr/>
          <p:nvPr/>
        </p:nvSpPr>
        <p:spPr>
          <a:xfrm>
            <a:off x="975360" y="4519168"/>
            <a:ext cx="650240" cy="568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869440" y="4470400"/>
            <a:ext cx="13329920" cy="6502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You need to find the border between Georgia and Florida.</a:t>
            </a:r>
            <a:endParaRPr lang="en-US" sz="1300" dirty="0"/>
          </a:p>
        </p:txBody>
      </p:sp>
      <p:sp>
        <p:nvSpPr>
          <p:cNvPr id="16" name="Text 14"/>
          <p:cNvSpPr/>
          <p:nvPr/>
        </p:nvSpPr>
        <p:spPr>
          <a:xfrm>
            <a:off x="1869440" y="5169408"/>
            <a:ext cx="13329920" cy="56896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Political map -- shows state borders</a:t>
            </a:r>
            <a:endParaRPr lang="en-US" sz="1100" dirty="0"/>
          </a:p>
        </p:txBody>
      </p:sp>
      <p:sp>
        <p:nvSpPr>
          <p:cNvPr id="17" name="Shape 15"/>
          <p:cNvSpPr/>
          <p:nvPr/>
        </p:nvSpPr>
        <p:spPr>
          <a:xfrm>
            <a:off x="812800" y="6177280"/>
            <a:ext cx="14630400" cy="1463040"/>
          </a:xfrm>
          <a:prstGeom prst="roundRect">
            <a:avLst>
              <a:gd name="adj" fmla="val 11111"/>
            </a:avLst>
          </a:prstGeom>
          <a:solidFill>
            <a:srgbClr val="E3F8ED"/>
          </a:solidFill>
          <a:ln/>
        </p:spPr>
      </p:sp>
      <p:sp>
        <p:nvSpPr>
          <p:cNvPr id="18" name="Shape 16"/>
          <p:cNvSpPr/>
          <p:nvPr/>
        </p:nvSpPr>
        <p:spPr>
          <a:xfrm>
            <a:off x="975360" y="6307328"/>
            <a:ext cx="650240" cy="568960"/>
          </a:xfrm>
          <a:prstGeom prst="roundRect">
            <a:avLst>
              <a:gd name="adj" fmla="val 22857"/>
            </a:avLst>
          </a:prstGeom>
          <a:solidFill>
            <a:srgbClr val="0E1C42"/>
          </a:solidFill>
          <a:ln/>
        </p:spPr>
      </p:sp>
      <p:sp>
        <p:nvSpPr>
          <p:cNvPr id="19" name="Text 17"/>
          <p:cNvSpPr/>
          <p:nvPr/>
        </p:nvSpPr>
        <p:spPr>
          <a:xfrm>
            <a:off x="975360" y="6307328"/>
            <a:ext cx="650240" cy="568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869440" y="6258560"/>
            <a:ext cx="13329920" cy="6502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You want to see where the most people live in the U.S.</a:t>
            </a:r>
            <a:endParaRPr lang="en-US" sz="1300" dirty="0"/>
          </a:p>
        </p:txBody>
      </p:sp>
      <p:sp>
        <p:nvSpPr>
          <p:cNvPr id="21" name="Text 19"/>
          <p:cNvSpPr/>
          <p:nvPr/>
        </p:nvSpPr>
        <p:spPr>
          <a:xfrm>
            <a:off x="1869440" y="6957568"/>
            <a:ext cx="13329920" cy="568960"/>
          </a:xfrm>
          <a:prstGeom prst="rect">
            <a:avLst/>
          </a:prstGeom>
          <a:noFill/>
          <a:ln/>
        </p:spPr>
        <p:txBody>
          <a:bodyPr wrap="square" lIns="0" tIns="0" rIns="0" bIns="0" rtlCol="0" anchor="ctr"/>
          <a:lstStyle/>
          <a:p>
            <a:pPr indent="0" marL="0">
              <a:buNone/>
            </a:pPr>
            <a:r>
              <a:rPr lang="en-US" sz="1100" i="1" dirty="0">
                <a:solidFill>
                  <a:srgbClr val="1A8A7D"/>
                </a:solidFill>
                <a:latin typeface="Calibri" pitchFamily="34" charset="0"/>
                <a:ea typeface="Calibri" pitchFamily="34" charset="-122"/>
                <a:cs typeface="Calibri" pitchFamily="34" charset="-120"/>
              </a:rPr>
              <a:t>Population map -- shows where people are</a:t>
            </a:r>
            <a:endParaRPr lang="en-US" sz="1100" dirty="0"/>
          </a:p>
        </p:txBody>
      </p:sp>
      <p:sp>
        <p:nvSpPr>
          <p:cNvPr id="22" name="Shape 20"/>
          <p:cNvSpPr/>
          <p:nvPr/>
        </p:nvSpPr>
        <p:spPr>
          <a:xfrm>
            <a:off x="812800" y="8046720"/>
            <a:ext cx="14630400" cy="650240"/>
          </a:xfrm>
          <a:prstGeom prst="roundRect">
            <a:avLst>
              <a:gd name="adj" fmla="val 25000"/>
            </a:avLst>
          </a:prstGeom>
          <a:solidFill>
            <a:srgbClr val="FFF3DC"/>
          </a:solidFill>
          <a:ln/>
        </p:spPr>
      </p:sp>
      <p:sp>
        <p:nvSpPr>
          <p:cNvPr id="23" name="Text 21"/>
          <p:cNvSpPr/>
          <p:nvPr/>
        </p:nvSpPr>
        <p:spPr>
          <a:xfrm>
            <a:off x="1137920" y="8046720"/>
            <a:ext cx="13980160" cy="650240"/>
          </a:xfrm>
          <a:prstGeom prst="rect">
            <a:avLst/>
          </a:prstGeom>
          <a:noFill/>
          <a:ln/>
        </p:spPr>
        <p:txBody>
          <a:bodyPr wrap="square" lIns="0" tIns="0" rIns="0" bIns="0"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This prepares you for Evidence Question 2 -- when to choose elevation vs. political!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GUIDED PRACTICE — ERROR ANALYSIS</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What Happens When You Guess?</a:t>
            </a:r>
            <a:endParaRPr lang="en-US" sz="2200" dirty="0"/>
          </a:p>
        </p:txBody>
      </p:sp>
      <p:sp>
        <p:nvSpPr>
          <p:cNvPr id="6" name="Text 4"/>
          <p:cNvSpPr/>
          <p:nvPr/>
        </p:nvSpPr>
        <p:spPr>
          <a:xfrm>
            <a:off x="812800" y="1869440"/>
            <a:ext cx="14630400" cy="487680"/>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A curator guessed instead of checking the map carefully. Spot the errors!</a:t>
            </a:r>
            <a:endParaRPr lang="en-US" sz="1200" dirty="0"/>
          </a:p>
        </p:txBody>
      </p:sp>
      <p:sp>
        <p:nvSpPr>
          <p:cNvPr id="7" name="Shape 5"/>
          <p:cNvSpPr/>
          <p:nvPr/>
        </p:nvSpPr>
        <p:spPr>
          <a:xfrm>
            <a:off x="812800" y="2600960"/>
            <a:ext cx="6990080" cy="2438400"/>
          </a:xfrm>
          <a:prstGeom prst="roundRect">
            <a:avLst>
              <a:gd name="adj" fmla="val 8000"/>
            </a:avLst>
          </a:prstGeom>
          <a:solidFill>
            <a:srgbClr val="FDE8E9"/>
          </a:solidFill>
          <a:ln/>
        </p:spPr>
      </p:sp>
      <p:sp>
        <p:nvSpPr>
          <p:cNvPr id="8" name="Text 6"/>
          <p:cNvSpPr/>
          <p:nvPr/>
        </p:nvSpPr>
        <p:spPr>
          <a:xfrm>
            <a:off x="1137920" y="2763520"/>
            <a:ext cx="1625600" cy="406400"/>
          </a:xfrm>
          <a:prstGeom prst="rect">
            <a:avLst/>
          </a:prstGeom>
          <a:noFill/>
          <a:ln/>
        </p:spPr>
        <p:txBody>
          <a:bodyPr wrap="square" lIns="0" tIns="0" rIns="0" bIns="0"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ERROR 1</a:t>
            </a:r>
            <a:endParaRPr lang="en-US" sz="900" dirty="0"/>
          </a:p>
        </p:txBody>
      </p:sp>
      <p:sp>
        <p:nvSpPr>
          <p:cNvPr id="9" name="Text 7"/>
          <p:cNvSpPr/>
          <p:nvPr/>
        </p:nvSpPr>
        <p:spPr>
          <a:xfrm>
            <a:off x="1137920" y="3251200"/>
            <a:ext cx="6339840" cy="48768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"The park is south of the school."</a:t>
            </a:r>
            <a:endParaRPr lang="en-US" sz="1200" dirty="0"/>
          </a:p>
        </p:txBody>
      </p:sp>
      <p:sp>
        <p:nvSpPr>
          <p:cNvPr id="10" name="Text 8"/>
          <p:cNvSpPr/>
          <p:nvPr/>
        </p:nvSpPr>
        <p:spPr>
          <a:xfrm>
            <a:off x="1137920" y="3820160"/>
            <a:ext cx="6339840" cy="1056640"/>
          </a:xfrm>
          <a:prstGeom prst="rect">
            <a:avLst/>
          </a:prstGeom>
          <a:noFill/>
          <a:ln/>
        </p:spPr>
        <p:txBody>
          <a:bodyPr wrap="square" lIns="0" tIns="0" rIns="0" bIns="0" rtlCol="0" anchor="ctr"/>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But the curator didn't check the compass rose -- the park is actually NORTH. Guessing directions leads visitors the wrong way!</a:t>
            </a:r>
            <a:endParaRPr lang="en-US" sz="1100" dirty="0"/>
          </a:p>
        </p:txBody>
      </p:sp>
      <p:sp>
        <p:nvSpPr>
          <p:cNvPr id="11" name="Shape 9"/>
          <p:cNvSpPr/>
          <p:nvPr/>
        </p:nvSpPr>
        <p:spPr>
          <a:xfrm>
            <a:off x="8290560" y="2600960"/>
            <a:ext cx="6990080" cy="2438400"/>
          </a:xfrm>
          <a:prstGeom prst="roundRect">
            <a:avLst>
              <a:gd name="adj" fmla="val 8000"/>
            </a:avLst>
          </a:prstGeom>
          <a:solidFill>
            <a:srgbClr val="FDE8E9"/>
          </a:solidFill>
          <a:ln/>
        </p:spPr>
      </p:sp>
      <p:sp>
        <p:nvSpPr>
          <p:cNvPr id="12" name="Text 10"/>
          <p:cNvSpPr/>
          <p:nvPr/>
        </p:nvSpPr>
        <p:spPr>
          <a:xfrm>
            <a:off x="8615680" y="2763520"/>
            <a:ext cx="1625600" cy="406400"/>
          </a:xfrm>
          <a:prstGeom prst="rect">
            <a:avLst/>
          </a:prstGeom>
          <a:noFill/>
          <a:ln/>
        </p:spPr>
        <p:txBody>
          <a:bodyPr wrap="square" lIns="0" tIns="0" rIns="0" bIns="0"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ERROR 2</a:t>
            </a:r>
            <a:endParaRPr lang="en-US" sz="900" dirty="0"/>
          </a:p>
        </p:txBody>
      </p:sp>
      <p:sp>
        <p:nvSpPr>
          <p:cNvPr id="13" name="Text 11"/>
          <p:cNvSpPr/>
          <p:nvPr/>
        </p:nvSpPr>
        <p:spPr>
          <a:xfrm>
            <a:off x="8615680" y="3251200"/>
            <a:ext cx="6339840" cy="48768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"It looks close, so it must be a short walk."</a:t>
            </a:r>
            <a:endParaRPr lang="en-US" sz="1200" dirty="0"/>
          </a:p>
        </p:txBody>
      </p:sp>
      <p:sp>
        <p:nvSpPr>
          <p:cNvPr id="14" name="Text 12"/>
          <p:cNvSpPr/>
          <p:nvPr/>
        </p:nvSpPr>
        <p:spPr>
          <a:xfrm>
            <a:off x="8615680" y="3820160"/>
            <a:ext cx="6339840" cy="1056640"/>
          </a:xfrm>
          <a:prstGeom prst="rect">
            <a:avLst/>
          </a:prstGeom>
          <a:noFill/>
          <a:ln/>
        </p:spPr>
        <p:txBody>
          <a:bodyPr wrap="square" lIns="0" tIns="0" rIns="0" bIns="0" rtlCol="0" anchor="ctr"/>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But the curator didn't check the scale -- what looks close on the map is actually 200 miles! Guessing distance is unreliable.</a:t>
            </a:r>
            <a:endParaRPr lang="en-US" sz="1100" dirty="0"/>
          </a:p>
        </p:txBody>
      </p:sp>
      <p:sp>
        <p:nvSpPr>
          <p:cNvPr id="15" name="Shape 13"/>
          <p:cNvSpPr/>
          <p:nvPr/>
        </p:nvSpPr>
        <p:spPr>
          <a:xfrm>
            <a:off x="812800" y="5364480"/>
            <a:ext cx="14630400" cy="2438400"/>
          </a:xfrm>
          <a:prstGeom prst="roundRect">
            <a:avLst>
              <a:gd name="adj" fmla="val 8000"/>
            </a:avLst>
          </a:prstGeom>
          <a:solidFill>
            <a:srgbClr val="FDE8E9"/>
          </a:solidFill>
          <a:ln/>
        </p:spPr>
      </p:sp>
      <p:sp>
        <p:nvSpPr>
          <p:cNvPr id="16" name="Text 14"/>
          <p:cNvSpPr/>
          <p:nvPr/>
        </p:nvSpPr>
        <p:spPr>
          <a:xfrm>
            <a:off x="1137920" y="5527040"/>
            <a:ext cx="1625600" cy="406400"/>
          </a:xfrm>
          <a:prstGeom prst="rect">
            <a:avLst/>
          </a:prstGeom>
          <a:noFill/>
          <a:ln/>
        </p:spPr>
        <p:txBody>
          <a:bodyPr wrap="square" lIns="0" tIns="0" rIns="0" bIns="0"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ERROR 3</a:t>
            </a:r>
            <a:endParaRPr lang="en-US" sz="900" dirty="0"/>
          </a:p>
        </p:txBody>
      </p:sp>
      <p:sp>
        <p:nvSpPr>
          <p:cNvPr id="17" name="Text 15"/>
          <p:cNvSpPr/>
          <p:nvPr/>
        </p:nvSpPr>
        <p:spPr>
          <a:xfrm>
            <a:off x="1137920" y="6014720"/>
            <a:ext cx="13980160" cy="487680"/>
          </a:xfrm>
          <a:prstGeom prst="rect">
            <a:avLst/>
          </a:prstGeom>
          <a:noFill/>
          <a:ln/>
        </p:spPr>
        <p:txBody>
          <a:bodyPr wrap="square" lIns="0" tIns="0" rIns="0" bIns="0" rtlCol="0" anchor="ctr"/>
          <a:lstStyle/>
          <a:p>
            <a:pPr indent="0" marL="0">
              <a:buNone/>
            </a:pPr>
            <a:r>
              <a:rPr lang="en-US" sz="1200" i="1" dirty="0">
                <a:solidFill>
                  <a:srgbClr val="0E1C42"/>
                </a:solidFill>
                <a:latin typeface="Cambria" pitchFamily="34" charset="0"/>
                <a:ea typeface="Cambria" pitchFamily="34" charset="-122"/>
                <a:cs typeface="Cambria" pitchFamily="34" charset="-120"/>
              </a:rPr>
              <a:t>"The blue area is probably water."</a:t>
            </a:r>
            <a:endParaRPr lang="en-US" sz="1200" dirty="0"/>
          </a:p>
        </p:txBody>
      </p:sp>
      <p:sp>
        <p:nvSpPr>
          <p:cNvPr id="18" name="Text 16"/>
          <p:cNvSpPr/>
          <p:nvPr/>
        </p:nvSpPr>
        <p:spPr>
          <a:xfrm>
            <a:off x="1137920" y="6583680"/>
            <a:ext cx="13980160" cy="975360"/>
          </a:xfrm>
          <a:prstGeom prst="rect">
            <a:avLst/>
          </a:prstGeom>
          <a:noFill/>
          <a:ln/>
        </p:spPr>
        <p:txBody>
          <a:bodyPr wrap="square" lIns="0" tIns="0" rIns="0" bIns="0" rtlCol="0" anchor="ctr"/>
          <a:lstStyle/>
          <a:p>
            <a:pPr indent="0" marL="0">
              <a:lnSpc>
                <a:spcPct val="115000"/>
              </a:lnSpc>
              <a:buNone/>
            </a:pPr>
            <a:r>
              <a:rPr lang="en-US" sz="1100" dirty="0">
                <a:solidFill>
                  <a:srgbClr val="0E1C42"/>
                </a:solidFill>
                <a:latin typeface="Calibri" pitchFamily="34" charset="0"/>
                <a:ea typeface="Calibri" pitchFamily="34" charset="-122"/>
                <a:cs typeface="Calibri" pitchFamily="34" charset="-120"/>
              </a:rPr>
              <a:t>But the curator didn't check the legend -- on this map, blue means cold temperatures, not water! Guessing symbols can lead to completely wrong information.</a:t>
            </a:r>
            <a:endParaRPr lang="en-US" sz="1100" dirty="0"/>
          </a:p>
        </p:txBody>
      </p:sp>
      <p:sp>
        <p:nvSpPr>
          <p:cNvPr id="19" name="Text 17"/>
          <p:cNvSpPr/>
          <p:nvPr/>
        </p:nvSpPr>
        <p:spPr>
          <a:xfrm>
            <a:off x="812800" y="8128000"/>
            <a:ext cx="14630400" cy="487680"/>
          </a:xfrm>
          <a:prstGeom prst="rect">
            <a:avLst/>
          </a:prstGeom>
          <a:noFill/>
          <a:ln/>
        </p:spPr>
        <p:txBody>
          <a:bodyPr wrap="square" lIns="0" tIns="0" rIns="0" bIns="0" rtlCol="0" anchor="ctr"/>
          <a:lstStyle/>
          <a:p>
            <a:pPr algn="ctr" indent="0" marL="0">
              <a:buNone/>
            </a:pPr>
            <a:r>
              <a:rPr lang="en-US" sz="1100" b="1" i="1" dirty="0">
                <a:solidFill>
                  <a:srgbClr val="1A8A7D"/>
                </a:solidFill>
                <a:latin typeface="Calibri" pitchFamily="34" charset="0"/>
                <a:ea typeface="Calibri" pitchFamily="34" charset="-122"/>
                <a:cs typeface="Calibri" pitchFamily="34" charset="-120"/>
              </a:rPr>
              <a:t>Honesty means checking the evidence instead of guessing. This scaffolds Evidence Question 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WHY IT MATTERS</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Honesty Makes You a Better Map Reader</a:t>
            </a:r>
            <a:endParaRPr lang="en-US" sz="2200" dirty="0"/>
          </a:p>
        </p:txBody>
      </p:sp>
      <p:sp>
        <p:nvSpPr>
          <p:cNvPr id="6" name="Shape 4"/>
          <p:cNvSpPr/>
          <p:nvPr/>
        </p:nvSpPr>
        <p:spPr>
          <a:xfrm>
            <a:off x="812800" y="2113280"/>
            <a:ext cx="14630400" cy="3738880"/>
          </a:xfrm>
          <a:prstGeom prst="roundRect">
            <a:avLst>
              <a:gd name="adj" fmla="val 6522"/>
            </a:avLst>
          </a:prstGeom>
          <a:solidFill>
            <a:srgbClr val="1A2D5A"/>
          </a:solidFill>
          <a:ln/>
          <a:effectLst>
            <a:outerShdw sx="100000" sy="100000" kx="0" ky="0" algn="bl" rotWithShape="0" blurRad="101600" dist="38100" dir="8100000">
              <a:srgbClr val="000000">
                <a:alpha val="20000"/>
              </a:srgbClr>
            </a:outerShdw>
          </a:effectLst>
        </p:spPr>
      </p:sp>
      <p:sp>
        <p:nvSpPr>
          <p:cNvPr id="7" name="Text 5"/>
          <p:cNvSpPr/>
          <p:nvPr/>
        </p:nvSpPr>
        <p:spPr>
          <a:xfrm>
            <a:off x="1137920" y="2275840"/>
            <a:ext cx="13980160" cy="455168"/>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8" name="Text 6"/>
          <p:cNvSpPr/>
          <p:nvPr/>
        </p:nvSpPr>
        <p:spPr>
          <a:xfrm>
            <a:off x="1137920" y="2731008"/>
            <a:ext cx="13980160" cy="2958592"/>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map show, and what choice or pattern does it help us explain?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shouldn't you guess when you're not sure what a map shows?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does honesty help you use maps correctly?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have you been tempted to guess instead of checking?</a:t>
            </a:r>
            <a:endParaRPr lang="en-US" sz="1100" dirty="0"/>
          </a:p>
        </p:txBody>
      </p:sp>
      <p:sp>
        <p:nvSpPr>
          <p:cNvPr id="9" name="Shape 7"/>
          <p:cNvSpPr/>
          <p:nvPr/>
        </p:nvSpPr>
        <p:spPr>
          <a:xfrm>
            <a:off x="812800" y="6177280"/>
            <a:ext cx="14630400" cy="2113280"/>
          </a:xfrm>
          <a:prstGeom prst="roundRect">
            <a:avLst>
              <a:gd name="adj" fmla="val 9231"/>
            </a:avLst>
          </a:prstGeom>
          <a:solidFill>
            <a:srgbClr val="E3F8ED"/>
          </a:solidFill>
          <a:ln/>
        </p:spPr>
      </p:sp>
      <p:sp>
        <p:nvSpPr>
          <p:cNvPr id="10" name="Text 8"/>
          <p:cNvSpPr/>
          <p:nvPr/>
        </p:nvSpPr>
        <p:spPr>
          <a:xfrm>
            <a:off x="1137920" y="6339840"/>
            <a:ext cx="3251200" cy="3576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KEY MESSAGE</a:t>
            </a:r>
            <a:endParaRPr lang="en-US" sz="900" dirty="0"/>
          </a:p>
        </p:txBody>
      </p:sp>
      <p:sp>
        <p:nvSpPr>
          <p:cNvPr id="11" name="Text 9"/>
          <p:cNvSpPr/>
          <p:nvPr/>
        </p:nvSpPr>
        <p:spPr>
          <a:xfrm>
            <a:off x="1137920" y="6827520"/>
            <a:ext cx="13980160" cy="1300480"/>
          </a:xfrm>
          <a:prstGeom prst="rect">
            <a:avLst/>
          </a:prstGeom>
          <a:noFill/>
          <a:ln/>
        </p:spPr>
        <p:txBody>
          <a:bodyPr wrap="square" lIns="0" tIns="0" rIns="0" bIns="0" rtlCol="0" anchor="t"/>
          <a:lstStyle/>
          <a:p>
            <a:pPr indent="0" marL="0">
              <a:lnSpc>
                <a:spcPct val="125000"/>
              </a:lnSpc>
              <a:buNone/>
            </a:pPr>
            <a:r>
              <a:rPr lang="en-US" sz="1400" dirty="0">
                <a:solidFill>
                  <a:srgbClr val="0E1C42"/>
                </a:solidFill>
                <a:latin typeface="Calibri" pitchFamily="34" charset="0"/>
                <a:ea typeface="Calibri" pitchFamily="34" charset="-122"/>
                <a:cs typeface="Calibri" pitchFamily="34" charset="-120"/>
              </a:rPr>
              <a:t>When you can use all your map skills together -- elements, directions, types, scale, charts, and honesty -- you can understand almost any map in the world. That's what makes a real Mapmaker.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Check Your Understanding</a:t>
            </a:r>
            <a:endParaRPr lang="en-US" sz="2200" dirty="0"/>
          </a:p>
        </p:txBody>
      </p:sp>
      <p:sp>
        <p:nvSpPr>
          <p:cNvPr id="6" name="Shape 4"/>
          <p:cNvSpPr/>
          <p:nvPr/>
        </p:nvSpPr>
        <p:spPr>
          <a:xfrm>
            <a:off x="812800" y="2032000"/>
            <a:ext cx="14630400" cy="1869440"/>
          </a:xfrm>
          <a:prstGeom prst="roundRect">
            <a:avLst>
              <a:gd name="adj" fmla="val 8696"/>
            </a:avLst>
          </a:prstGeom>
          <a:solidFill>
            <a:srgbClr val="F0F2F8"/>
          </a:solidFill>
          <a:ln/>
        </p:spPr>
      </p:sp>
      <p:sp>
        <p:nvSpPr>
          <p:cNvPr id="7" name="Shape 5"/>
          <p:cNvSpPr/>
          <p:nvPr/>
        </p:nvSpPr>
        <p:spPr>
          <a:xfrm>
            <a:off x="894080" y="2113280"/>
            <a:ext cx="650240" cy="487680"/>
          </a:xfrm>
          <a:prstGeom prst="roundRect">
            <a:avLst>
              <a:gd name="adj" fmla="val 26667"/>
            </a:avLst>
          </a:prstGeom>
          <a:solidFill>
            <a:srgbClr val="1A8A7D"/>
          </a:solidFill>
          <a:ln/>
        </p:spPr>
      </p:sp>
      <p:sp>
        <p:nvSpPr>
          <p:cNvPr id="8" name="Text 6"/>
          <p:cNvSpPr/>
          <p:nvPr/>
        </p:nvSpPr>
        <p:spPr>
          <a:xfrm>
            <a:off x="894080" y="2113280"/>
            <a:ext cx="650240" cy="487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9" name="Text 7"/>
          <p:cNvSpPr/>
          <p:nvPr/>
        </p:nvSpPr>
        <p:spPr>
          <a:xfrm>
            <a:off x="1788160" y="2113280"/>
            <a:ext cx="1219200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 visitor wants to know how far the museum is from the airport. Which element?</a:t>
            </a:r>
            <a:endParaRPr lang="en-US" sz="1200" dirty="0"/>
          </a:p>
        </p:txBody>
      </p:sp>
      <p:sp>
        <p:nvSpPr>
          <p:cNvPr id="10" name="Text 8"/>
          <p:cNvSpPr/>
          <p:nvPr/>
        </p:nvSpPr>
        <p:spPr>
          <a:xfrm>
            <a:off x="1788160" y="2682240"/>
            <a:ext cx="13004800" cy="4876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The legend     B  The scale     C  The compass rose</a:t>
            </a:r>
            <a:endParaRPr lang="en-US" sz="1100" dirty="0"/>
          </a:p>
        </p:txBody>
      </p:sp>
      <p:sp>
        <p:nvSpPr>
          <p:cNvPr id="11" name="Text 9"/>
          <p:cNvSpPr/>
          <p:nvPr/>
        </p:nvSpPr>
        <p:spPr>
          <a:xfrm>
            <a:off x="13004800" y="3251200"/>
            <a:ext cx="2113280" cy="406400"/>
          </a:xfrm>
          <a:prstGeom prst="rect">
            <a:avLst/>
          </a:prstGeom>
          <a:noFill/>
          <a:ln/>
        </p:spPr>
        <p:txBody>
          <a:bodyPr wrap="square" lIns="0" tIns="0" rIns="0" bIns="0" rtlCol="0" anchor="ctr"/>
          <a:lstStyle/>
          <a:p>
            <a:pPr algn="r" indent="0" marL="0">
              <a:buNone/>
            </a:pPr>
            <a:r>
              <a:rPr lang="en-US" sz="1000" b="1" dirty="0">
                <a:solidFill>
                  <a:srgbClr val="34B76F"/>
                </a:solidFill>
                <a:latin typeface="Calibri" pitchFamily="34" charset="0"/>
                <a:ea typeface="Calibri" pitchFamily="34" charset="-122"/>
                <a:cs typeface="Calibri" pitchFamily="34" charset="-120"/>
              </a:rPr>
              <a:t>Answer: B</a:t>
            </a:r>
            <a:endParaRPr lang="en-US" sz="1000" dirty="0"/>
          </a:p>
        </p:txBody>
      </p:sp>
      <p:sp>
        <p:nvSpPr>
          <p:cNvPr id="12" name="Shape 10"/>
          <p:cNvSpPr/>
          <p:nvPr/>
        </p:nvSpPr>
        <p:spPr>
          <a:xfrm>
            <a:off x="812800" y="4145280"/>
            <a:ext cx="14630400" cy="1869440"/>
          </a:xfrm>
          <a:prstGeom prst="roundRect">
            <a:avLst>
              <a:gd name="adj" fmla="val 8696"/>
            </a:avLst>
          </a:prstGeom>
          <a:solidFill>
            <a:srgbClr val="F0F2F8"/>
          </a:solidFill>
          <a:ln/>
        </p:spPr>
      </p:sp>
      <p:sp>
        <p:nvSpPr>
          <p:cNvPr id="13" name="Shape 11"/>
          <p:cNvSpPr/>
          <p:nvPr/>
        </p:nvSpPr>
        <p:spPr>
          <a:xfrm>
            <a:off x="894080" y="4226560"/>
            <a:ext cx="650240" cy="487680"/>
          </a:xfrm>
          <a:prstGeom prst="roundRect">
            <a:avLst>
              <a:gd name="adj" fmla="val 26667"/>
            </a:avLst>
          </a:prstGeom>
          <a:solidFill>
            <a:srgbClr val="1A8A7D"/>
          </a:solidFill>
          <a:ln/>
        </p:spPr>
      </p:sp>
      <p:sp>
        <p:nvSpPr>
          <p:cNvPr id="14" name="Text 12"/>
          <p:cNvSpPr/>
          <p:nvPr/>
        </p:nvSpPr>
        <p:spPr>
          <a:xfrm>
            <a:off x="894080" y="4226560"/>
            <a:ext cx="650240" cy="487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15" name="Text 13"/>
          <p:cNvSpPr/>
          <p:nvPr/>
        </p:nvSpPr>
        <p:spPr>
          <a:xfrm>
            <a:off x="1788160" y="4226560"/>
            <a:ext cx="1219200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You need to find out how high the mountains are. Which map type?</a:t>
            </a:r>
            <a:endParaRPr lang="en-US" sz="1200" dirty="0"/>
          </a:p>
        </p:txBody>
      </p:sp>
      <p:sp>
        <p:nvSpPr>
          <p:cNvPr id="16" name="Text 14"/>
          <p:cNvSpPr/>
          <p:nvPr/>
        </p:nvSpPr>
        <p:spPr>
          <a:xfrm>
            <a:off x="1788160" y="4795520"/>
            <a:ext cx="13004800" cy="487680"/>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A  Political     B  Population     C  Elevation</a:t>
            </a:r>
            <a:endParaRPr lang="en-US" sz="1100" dirty="0"/>
          </a:p>
        </p:txBody>
      </p:sp>
      <p:sp>
        <p:nvSpPr>
          <p:cNvPr id="17" name="Text 15"/>
          <p:cNvSpPr/>
          <p:nvPr/>
        </p:nvSpPr>
        <p:spPr>
          <a:xfrm>
            <a:off x="13004800" y="5364480"/>
            <a:ext cx="2113280" cy="406400"/>
          </a:xfrm>
          <a:prstGeom prst="rect">
            <a:avLst/>
          </a:prstGeom>
          <a:noFill/>
          <a:ln/>
        </p:spPr>
        <p:txBody>
          <a:bodyPr wrap="square" lIns="0" tIns="0" rIns="0" bIns="0" rtlCol="0" anchor="ctr"/>
          <a:lstStyle/>
          <a:p>
            <a:pPr algn="r" indent="0" marL="0">
              <a:buNone/>
            </a:pPr>
            <a:r>
              <a:rPr lang="en-US" sz="1000" b="1" dirty="0">
                <a:solidFill>
                  <a:srgbClr val="34B76F"/>
                </a:solidFill>
                <a:latin typeface="Calibri" pitchFamily="34" charset="0"/>
                <a:ea typeface="Calibri" pitchFamily="34" charset="-122"/>
                <a:cs typeface="Calibri" pitchFamily="34" charset="-120"/>
              </a:rPr>
              <a:t>Answer: C</a:t>
            </a:r>
            <a:endParaRPr lang="en-US" sz="1000" dirty="0"/>
          </a:p>
        </p:txBody>
      </p:sp>
      <p:sp>
        <p:nvSpPr>
          <p:cNvPr id="18" name="Shape 16"/>
          <p:cNvSpPr/>
          <p:nvPr/>
        </p:nvSpPr>
        <p:spPr>
          <a:xfrm>
            <a:off x="812800" y="6258560"/>
            <a:ext cx="14630400" cy="2113280"/>
          </a:xfrm>
          <a:prstGeom prst="roundRect">
            <a:avLst>
              <a:gd name="adj" fmla="val 7692"/>
            </a:avLst>
          </a:prstGeom>
          <a:solidFill>
            <a:srgbClr val="F0F2F8"/>
          </a:solidFill>
          <a:ln/>
        </p:spPr>
      </p:sp>
      <p:sp>
        <p:nvSpPr>
          <p:cNvPr id="19" name="Shape 17"/>
          <p:cNvSpPr/>
          <p:nvPr/>
        </p:nvSpPr>
        <p:spPr>
          <a:xfrm>
            <a:off x="894080" y="6339840"/>
            <a:ext cx="650240" cy="487680"/>
          </a:xfrm>
          <a:prstGeom prst="roundRect">
            <a:avLst>
              <a:gd name="adj" fmla="val 26667"/>
            </a:avLst>
          </a:prstGeom>
          <a:solidFill>
            <a:srgbClr val="1A8A7D"/>
          </a:solidFill>
          <a:ln/>
        </p:spPr>
      </p:sp>
      <p:sp>
        <p:nvSpPr>
          <p:cNvPr id="20" name="Text 18"/>
          <p:cNvSpPr/>
          <p:nvPr/>
        </p:nvSpPr>
        <p:spPr>
          <a:xfrm>
            <a:off x="894080" y="6339840"/>
            <a:ext cx="650240" cy="487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21" name="Text 19"/>
          <p:cNvSpPr/>
          <p:nvPr/>
        </p:nvSpPr>
        <p:spPr>
          <a:xfrm>
            <a:off x="1788160" y="6339840"/>
            <a:ext cx="12192000" cy="4876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What's the main difference between a globe and a flat map?</a:t>
            </a:r>
            <a:endParaRPr lang="en-US" sz="1200" dirty="0"/>
          </a:p>
        </p:txBody>
      </p:sp>
      <p:sp>
        <p:nvSpPr>
          <p:cNvPr id="22" name="Text 20"/>
          <p:cNvSpPr/>
          <p:nvPr/>
        </p:nvSpPr>
        <p:spPr>
          <a:xfrm>
            <a:off x="1788160" y="6908800"/>
            <a:ext cx="13004800" cy="812800"/>
          </a:xfrm>
          <a:prstGeom prst="rect">
            <a:avLst/>
          </a:prstGeom>
          <a:noFill/>
          <a:ln/>
        </p:spPr>
        <p:txBody>
          <a:bodyPr wrap="square" lIns="0" tIns="0" rIns="0" bIns="0" rtlCol="0" anchor="ctr"/>
          <a:lstStyle/>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A  Globe shows real shape; flat maps stretch some areas</a:t>
            </a:r>
            <a:endParaRPr lang="en-US" sz="1100" dirty="0"/>
          </a:p>
          <a:p>
            <a:pPr indent="0" marL="0">
              <a:lnSpc>
                <a:spcPct val="130000"/>
              </a:lnSpc>
              <a:buNone/>
            </a:pPr>
            <a:r>
              <a:rPr lang="en-US" sz="1100" dirty="0">
                <a:solidFill>
                  <a:srgbClr val="0E1C42"/>
                </a:solidFill>
                <a:latin typeface="Calibri" pitchFamily="34" charset="0"/>
                <a:ea typeface="Calibri" pitchFamily="34" charset="-122"/>
                <a:cs typeface="Calibri" pitchFamily="34" charset="-120"/>
              </a:rPr>
              <a:t>B  Globe shows more countries     C  Flat maps are more accurate</a:t>
            </a:r>
            <a:endParaRPr lang="en-US" sz="1100" dirty="0"/>
          </a:p>
        </p:txBody>
      </p:sp>
      <p:sp>
        <p:nvSpPr>
          <p:cNvPr id="23" name="Text 21"/>
          <p:cNvSpPr/>
          <p:nvPr/>
        </p:nvSpPr>
        <p:spPr>
          <a:xfrm>
            <a:off x="13004800" y="7802880"/>
            <a:ext cx="2113280" cy="406400"/>
          </a:xfrm>
          <a:prstGeom prst="rect">
            <a:avLst/>
          </a:prstGeom>
          <a:noFill/>
          <a:ln/>
        </p:spPr>
        <p:txBody>
          <a:bodyPr wrap="square" lIns="0" tIns="0" rIns="0" bIns="0" rtlCol="0" anchor="ctr"/>
          <a:lstStyle/>
          <a:p>
            <a:pPr algn="r" indent="0" marL="0">
              <a:buNone/>
            </a:pPr>
            <a:r>
              <a:rPr lang="en-US" sz="1000" b="1" dirty="0">
                <a:solidFill>
                  <a:srgbClr val="34B76F"/>
                </a:solidFill>
                <a:latin typeface="Calibri" pitchFamily="34" charset="0"/>
                <a:ea typeface="Calibri" pitchFamily="34" charset="-122"/>
                <a:cs typeface="Calibri" pitchFamily="34" charset="-120"/>
              </a:rPr>
              <a:t>Answer: A</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ASSIGNMENT — EVIDENCE QUESTIONS</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The Final Challenge</a:t>
            </a:r>
            <a:endParaRPr lang="en-US" sz="2200" dirty="0"/>
          </a:p>
        </p:txBody>
      </p:sp>
      <p:sp>
        <p:nvSpPr>
          <p:cNvPr id="6" name="Text 4"/>
          <p:cNvSpPr/>
          <p:nvPr/>
        </p:nvSpPr>
        <p:spPr>
          <a:xfrm>
            <a:off x="812800" y="1820672"/>
            <a:ext cx="14630400" cy="406400"/>
          </a:xfrm>
          <a:prstGeom prst="rect">
            <a:avLst/>
          </a:prstGeom>
          <a:noFill/>
          <a:ln/>
        </p:spPr>
        <p:txBody>
          <a:bodyPr wrap="square" lIns="0" tIns="0" rIns="0" bIns="0"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Answer using details from the whole unit.</a:t>
            </a:r>
            <a:endParaRPr lang="en-US" sz="1100" dirty="0"/>
          </a:p>
        </p:txBody>
      </p:sp>
      <p:sp>
        <p:nvSpPr>
          <p:cNvPr id="7" name="Shape 5"/>
          <p:cNvSpPr/>
          <p:nvPr/>
        </p:nvSpPr>
        <p:spPr>
          <a:xfrm>
            <a:off x="812800" y="2357120"/>
            <a:ext cx="14630400" cy="1625600"/>
          </a:xfrm>
          <a:prstGeom prst="roundRect">
            <a:avLst>
              <a:gd name="adj" fmla="val 10000"/>
            </a:avLst>
          </a:prstGeom>
          <a:solidFill>
            <a:srgbClr val="EAF8FD"/>
          </a:solidFill>
          <a:ln/>
        </p:spPr>
      </p:sp>
      <p:sp>
        <p:nvSpPr>
          <p:cNvPr id="8" name="Shape 6"/>
          <p:cNvSpPr/>
          <p:nvPr/>
        </p:nvSpPr>
        <p:spPr>
          <a:xfrm>
            <a:off x="975360" y="2470912"/>
            <a:ext cx="568960" cy="487680"/>
          </a:xfrm>
          <a:prstGeom prst="roundRect">
            <a:avLst>
              <a:gd name="adj" fmla="val 26667"/>
            </a:avLst>
          </a:prstGeom>
          <a:solidFill>
            <a:srgbClr val="1A8A7D"/>
          </a:solidFill>
          <a:ln/>
        </p:spPr>
      </p:sp>
      <p:sp>
        <p:nvSpPr>
          <p:cNvPr id="9" name="Text 7"/>
          <p:cNvSpPr/>
          <p:nvPr/>
        </p:nvSpPr>
        <p:spPr>
          <a:xfrm>
            <a:off x="975360" y="2470912"/>
            <a:ext cx="56896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788160" y="2438400"/>
            <a:ext cx="13329920" cy="7315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A visitor picks up a map with no compass rose and no legend. What two problems would they have? Explain each one.</a:t>
            </a:r>
            <a:endParaRPr lang="en-US" sz="1200" dirty="0"/>
          </a:p>
        </p:txBody>
      </p:sp>
      <p:sp>
        <p:nvSpPr>
          <p:cNvPr id="11" name="Text 9"/>
          <p:cNvSpPr/>
          <p:nvPr/>
        </p:nvSpPr>
        <p:spPr>
          <a:xfrm>
            <a:off x="1788160" y="3218688"/>
            <a:ext cx="13329920" cy="487680"/>
          </a:xfrm>
          <a:prstGeom prst="rect">
            <a:avLst/>
          </a:prstGeom>
          <a:noFill/>
          <a:ln/>
        </p:spPr>
        <p:txBody>
          <a:bodyPr wrap="square" lIns="0" tIns="0" rIns="0" bIns="0" rtlCol="0" anchor="ctr"/>
          <a:lstStyle/>
          <a:p>
            <a:pPr indent="0" marL="0">
              <a:buNone/>
            </a:pPr>
            <a:r>
              <a:rPr lang="en-US" sz="1000" i="1" dirty="0">
                <a:solidFill>
                  <a:srgbClr val="1A8A7D"/>
                </a:solidFill>
                <a:latin typeface="Calibri" pitchFamily="34" charset="0"/>
                <a:ea typeface="Calibri" pitchFamily="34" charset="-122"/>
                <a:cs typeface="Calibri" pitchFamily="34" charset="-120"/>
              </a:rPr>
              <a:t>Name both missing elements and explain the problem each one causes.</a:t>
            </a:r>
            <a:endParaRPr lang="en-US" sz="1000" dirty="0"/>
          </a:p>
        </p:txBody>
      </p:sp>
      <p:sp>
        <p:nvSpPr>
          <p:cNvPr id="12" name="Shape 10"/>
          <p:cNvSpPr/>
          <p:nvPr/>
        </p:nvSpPr>
        <p:spPr>
          <a:xfrm>
            <a:off x="812800" y="4145280"/>
            <a:ext cx="14630400" cy="1625600"/>
          </a:xfrm>
          <a:prstGeom prst="roundRect">
            <a:avLst>
              <a:gd name="adj" fmla="val 10000"/>
            </a:avLst>
          </a:prstGeom>
          <a:solidFill>
            <a:srgbClr val="FFF3DC"/>
          </a:solidFill>
          <a:ln/>
        </p:spPr>
      </p:sp>
      <p:sp>
        <p:nvSpPr>
          <p:cNvPr id="13" name="Shape 11"/>
          <p:cNvSpPr/>
          <p:nvPr/>
        </p:nvSpPr>
        <p:spPr>
          <a:xfrm>
            <a:off x="975360" y="4259072"/>
            <a:ext cx="568960" cy="487680"/>
          </a:xfrm>
          <a:prstGeom prst="roundRect">
            <a:avLst>
              <a:gd name="adj" fmla="val 26667"/>
            </a:avLst>
          </a:prstGeom>
          <a:solidFill>
            <a:srgbClr val="D4943A"/>
          </a:solidFill>
          <a:ln/>
        </p:spPr>
      </p:sp>
      <p:sp>
        <p:nvSpPr>
          <p:cNvPr id="14" name="Text 12"/>
          <p:cNvSpPr/>
          <p:nvPr/>
        </p:nvSpPr>
        <p:spPr>
          <a:xfrm>
            <a:off x="975360" y="4259072"/>
            <a:ext cx="56896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788160" y="4226560"/>
            <a:ext cx="13329920" cy="7315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When would a curator choose an elevation map instead of a political map? Give a specific example.</a:t>
            </a:r>
            <a:endParaRPr lang="en-US" sz="1200" dirty="0"/>
          </a:p>
        </p:txBody>
      </p:sp>
      <p:sp>
        <p:nvSpPr>
          <p:cNvPr id="16" name="Text 14"/>
          <p:cNvSpPr/>
          <p:nvPr/>
        </p:nvSpPr>
        <p:spPr>
          <a:xfrm>
            <a:off x="1788160" y="5006848"/>
            <a:ext cx="13329920" cy="487680"/>
          </a:xfrm>
          <a:prstGeom prst="rect">
            <a:avLst/>
          </a:prstGeom>
          <a:noFill/>
          <a:ln/>
        </p:spPr>
        <p:txBody>
          <a:bodyPr wrap="square" lIns="0" tIns="0" rIns="0" bIns="0" rtlCol="0" anchor="ctr"/>
          <a:lstStyle/>
          <a:p>
            <a:pPr indent="0" marL="0">
              <a:buNone/>
            </a:pPr>
            <a:r>
              <a:rPr lang="en-US" sz="1000" i="1" dirty="0">
                <a:solidFill>
                  <a:srgbClr val="D4943A"/>
                </a:solidFill>
                <a:latin typeface="Calibri" pitchFamily="34" charset="0"/>
                <a:ea typeface="Calibri" pitchFamily="34" charset="-122"/>
                <a:cs typeface="Calibri" pitchFamily="34" charset="-120"/>
              </a:rPr>
              <a:t>Think about what question each map type answers.</a:t>
            </a:r>
            <a:endParaRPr lang="en-US" sz="1000" dirty="0"/>
          </a:p>
        </p:txBody>
      </p:sp>
      <p:sp>
        <p:nvSpPr>
          <p:cNvPr id="17" name="Shape 15"/>
          <p:cNvSpPr/>
          <p:nvPr/>
        </p:nvSpPr>
        <p:spPr>
          <a:xfrm>
            <a:off x="812800" y="5933440"/>
            <a:ext cx="14630400" cy="1788160"/>
          </a:xfrm>
          <a:prstGeom prst="roundRect">
            <a:avLst>
              <a:gd name="adj" fmla="val 9091"/>
            </a:avLst>
          </a:prstGeom>
          <a:solidFill>
            <a:srgbClr val="E3F8ED"/>
          </a:solidFill>
          <a:ln/>
        </p:spPr>
      </p:sp>
      <p:sp>
        <p:nvSpPr>
          <p:cNvPr id="18" name="Shape 16"/>
          <p:cNvSpPr/>
          <p:nvPr/>
        </p:nvSpPr>
        <p:spPr>
          <a:xfrm>
            <a:off x="975360" y="6047232"/>
            <a:ext cx="568960" cy="487680"/>
          </a:xfrm>
          <a:prstGeom prst="roundRect">
            <a:avLst>
              <a:gd name="adj" fmla="val 26667"/>
            </a:avLst>
          </a:prstGeom>
          <a:solidFill>
            <a:srgbClr val="34B76F"/>
          </a:solidFill>
          <a:ln/>
        </p:spPr>
      </p:sp>
      <p:sp>
        <p:nvSpPr>
          <p:cNvPr id="19" name="Text 17"/>
          <p:cNvSpPr/>
          <p:nvPr/>
        </p:nvSpPr>
        <p:spPr>
          <a:xfrm>
            <a:off x="975360" y="6047232"/>
            <a:ext cx="568960" cy="4876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1788160" y="6014720"/>
            <a:ext cx="13329920" cy="89408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How does the virtue of honesty connect to being a good map reader? Why shouldn't you guess when you're not sure what a map shows?</a:t>
            </a:r>
            <a:endParaRPr lang="en-US" sz="1200" dirty="0"/>
          </a:p>
        </p:txBody>
      </p:sp>
      <p:sp>
        <p:nvSpPr>
          <p:cNvPr id="21" name="Text 19"/>
          <p:cNvSpPr/>
          <p:nvPr/>
        </p:nvSpPr>
        <p:spPr>
          <a:xfrm>
            <a:off x="1788160" y="6990080"/>
            <a:ext cx="13329920" cy="487680"/>
          </a:xfrm>
          <a:prstGeom prst="rect">
            <a:avLst/>
          </a:prstGeom>
          <a:noFill/>
          <a:ln/>
        </p:spPr>
        <p:txBody>
          <a:bodyPr wrap="square" lIns="0" tIns="0" rIns="0" bIns="0" rtlCol="0" anchor="ctr"/>
          <a:lstStyle/>
          <a:p>
            <a:pPr indent="0" marL="0">
              <a:buNone/>
            </a:pPr>
            <a:r>
              <a:rPr lang="en-US" sz="1000" i="1" dirty="0">
                <a:solidFill>
                  <a:srgbClr val="34B76F"/>
                </a:solidFill>
                <a:latin typeface="Calibri" pitchFamily="34" charset="0"/>
                <a:ea typeface="Calibri" pitchFamily="34" charset="-122"/>
                <a:cs typeface="Calibri" pitchFamily="34" charset="-120"/>
              </a:rPr>
              <a:t>Think about what happens when curators guess instead of checking the evidence.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ASSIGNMENT — CURATOR TASK</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Curator Task: Map Skills Summary</a:t>
            </a:r>
            <a:endParaRPr lang="en-US" sz="2200" dirty="0"/>
          </a:p>
        </p:txBody>
      </p:sp>
      <p:sp>
        <p:nvSpPr>
          <p:cNvPr id="6" name="Text 4"/>
          <p:cNvSpPr/>
          <p:nvPr/>
        </p:nvSpPr>
        <p:spPr>
          <a:xfrm>
            <a:off x="812800" y="1820672"/>
            <a:ext cx="14630400" cy="487680"/>
          </a:xfrm>
          <a:prstGeom prst="rect">
            <a:avLst/>
          </a:prstGeom>
          <a:noFill/>
          <a:ln/>
        </p:spPr>
        <p:txBody>
          <a:bodyPr wrap="square" lIns="0" tIns="0" rIns="0" bIns="0" rtlCol="0" anchor="ctr"/>
          <a:lstStyle/>
          <a:p>
            <a:pPr indent="0" marL="0">
              <a:buNone/>
            </a:pPr>
            <a:r>
              <a:rPr lang="en-US" sz="1300" i="1" dirty="0">
                <a:solidFill>
                  <a:srgbClr val="D4943A"/>
                </a:solidFill>
                <a:latin typeface="Calibri" pitchFamily="34" charset="0"/>
                <a:ea typeface="Calibri" pitchFamily="34" charset="-122"/>
                <a:cs typeface="Calibri" pitchFamily="34" charset="-120"/>
              </a:rPr>
              <a:t>Prove the Great Map Room is ready for visitors.</a:t>
            </a:r>
            <a:endParaRPr lang="en-US" sz="1300" dirty="0"/>
          </a:p>
        </p:txBody>
      </p:sp>
      <p:sp>
        <p:nvSpPr>
          <p:cNvPr id="7" name="Shape 5"/>
          <p:cNvSpPr/>
          <p:nvPr/>
        </p:nvSpPr>
        <p:spPr>
          <a:xfrm>
            <a:off x="812800" y="2438400"/>
            <a:ext cx="14630400" cy="3738880"/>
          </a:xfrm>
          <a:prstGeom prst="roundRect">
            <a:avLst>
              <a:gd name="adj" fmla="val 5217"/>
            </a:avLst>
          </a:prstGeom>
          <a:solidFill>
            <a:srgbClr val="FFF8F0"/>
          </a:solidFill>
          <a:ln w="19050">
            <a:solidFill>
              <a:srgbClr val="F5E6C8"/>
            </a:solidFill>
            <a:prstDash val="solid"/>
          </a:ln>
        </p:spPr>
      </p:sp>
      <p:sp>
        <p:nvSpPr>
          <p:cNvPr id="8" name="Text 6"/>
          <p:cNvSpPr/>
          <p:nvPr/>
        </p:nvSpPr>
        <p:spPr>
          <a:xfrm>
            <a:off x="1137920" y="2600960"/>
            <a:ext cx="13980160" cy="2763520"/>
          </a:xfrm>
          <a:prstGeom prst="rect">
            <a:avLst/>
          </a:prstGeom>
          <a:noFill/>
          <a:ln/>
        </p:spPr>
        <p:txBody>
          <a:bodyPr wrap="square" lIns="0" tIns="0" rIns="0" bIns="0" rtlCol="0" anchor="t"/>
          <a:lstStyle/>
          <a:p>
            <a:pPr indent="0" marL="0">
              <a:lnSpc>
                <a:spcPct val="130000"/>
              </a:lnSpc>
              <a:buNone/>
            </a:pPr>
            <a:r>
              <a:rPr lang="en-US" sz="1300" dirty="0">
                <a:solidFill>
                  <a:srgbClr val="0E1C42"/>
                </a:solidFill>
                <a:latin typeface="Calibri" pitchFamily="34" charset="0"/>
                <a:ea typeface="Calibri" pitchFamily="34" charset="-122"/>
                <a:cs typeface="Calibri" pitchFamily="34" charset="-120"/>
              </a:rPr>
              <a:t>The museum director needs a short paragraph from you explaining how map skills work together. In 3-4 sentences, describe at least three different map skills you learned in this unit and explain how they help visitors understand the world. Use an example -- like how you'd use a compass rose, a legend, and a scale together to answer one question about a place.</a:t>
            </a:r>
            <a:endParaRPr lang="en-US" sz="1300" dirty="0"/>
          </a:p>
        </p:txBody>
      </p:sp>
      <p:sp>
        <p:nvSpPr>
          <p:cNvPr id="9" name="Text 7"/>
          <p:cNvSpPr/>
          <p:nvPr/>
        </p:nvSpPr>
        <p:spPr>
          <a:xfrm>
            <a:off x="1137920" y="5445760"/>
            <a:ext cx="13980160" cy="568960"/>
          </a:xfrm>
          <a:prstGeom prst="rect">
            <a:avLst/>
          </a:prstGeom>
          <a:noFill/>
          <a:ln/>
        </p:spPr>
        <p:txBody>
          <a:bodyPr wrap="square" lIns="0" tIns="0" rIns="0" bIns="0" rtlCol="0" anchor="ctr"/>
          <a:lstStyle/>
          <a:p>
            <a:pPr indent="0" marL="0">
              <a:buNone/>
            </a:pPr>
            <a:r>
              <a:rPr lang="en-US" sz="1100" b="1" i="1" dirty="0">
                <a:solidFill>
                  <a:srgbClr val="D4943A"/>
                </a:solidFill>
                <a:latin typeface="Calibri" pitchFamily="34" charset="0"/>
                <a:ea typeface="Calibri" pitchFamily="34" charset="-122"/>
                <a:cs typeface="Calibri" pitchFamily="34" charset="-120"/>
              </a:rPr>
              <a:t>Write 3-4 sentences describing at least three map skills and how they work together. Give a specific example.</a:t>
            </a:r>
            <a:endParaRPr lang="en-US" sz="1100" dirty="0"/>
          </a:p>
        </p:txBody>
      </p:sp>
      <p:sp>
        <p:nvSpPr>
          <p:cNvPr id="10" name="Shape 8"/>
          <p:cNvSpPr/>
          <p:nvPr/>
        </p:nvSpPr>
        <p:spPr>
          <a:xfrm>
            <a:off x="812800" y="6421120"/>
            <a:ext cx="14630400" cy="1463040"/>
          </a:xfrm>
          <a:prstGeom prst="roundRect">
            <a:avLst>
              <a:gd name="adj" fmla="val 13333"/>
            </a:avLst>
          </a:prstGeom>
          <a:solidFill>
            <a:srgbClr val="F0E8FF"/>
          </a:solidFill>
          <a:ln/>
        </p:spPr>
      </p:sp>
      <p:sp>
        <p:nvSpPr>
          <p:cNvPr id="11" name="Text 9"/>
          <p:cNvSpPr/>
          <p:nvPr/>
        </p:nvSpPr>
        <p:spPr>
          <a:xfrm>
            <a:off x="1137920" y="6502400"/>
            <a:ext cx="4876800" cy="3576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CURATOR'S CHRONICLE</a:t>
            </a:r>
            <a:endParaRPr lang="en-US" sz="900" dirty="0"/>
          </a:p>
        </p:txBody>
      </p:sp>
      <p:sp>
        <p:nvSpPr>
          <p:cNvPr id="12" name="Text 10"/>
          <p:cNvSpPr/>
          <p:nvPr/>
        </p:nvSpPr>
        <p:spPr>
          <a:xfrm>
            <a:off x="1137920" y="6908800"/>
            <a:ext cx="13980160" cy="731520"/>
          </a:xfrm>
          <a:prstGeom prst="rect">
            <a:avLst/>
          </a:prstGeom>
          <a:noFill/>
          <a:ln/>
        </p:spPr>
        <p:txBody>
          <a:bodyPr wrap="square" lIns="0" tIns="0" rIns="0" bIns="0" rtlCol="0" anchor="ctr"/>
          <a:lstStyle/>
          <a:p>
            <a:pPr indent="0" marL="0">
              <a:buNone/>
            </a:pPr>
            <a:r>
              <a:rPr lang="en-US" sz="1400" i="1" dirty="0">
                <a:solidFill>
                  <a:srgbClr val="8B6FC0"/>
                </a:solidFill>
                <a:latin typeface="Cambria" pitchFamily="34" charset="0"/>
                <a:ea typeface="Cambria" pitchFamily="34" charset="-122"/>
                <a:cs typeface="Cambria" pitchFamily="34" charset="-120"/>
              </a:rPr>
              <a:t>In this exhibit, I learned that ______ because ______.</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256000" cy="812800"/>
          </a:xfrm>
          <a:prstGeom prst="rect">
            <a:avLst/>
          </a:prstGeom>
          <a:solidFill>
            <a:srgbClr val="0E1C42"/>
          </a:solidFill>
          <a:ln/>
        </p:spPr>
      </p:sp>
      <p:sp>
        <p:nvSpPr>
          <p:cNvPr id="3" name="Text 1"/>
          <p:cNvSpPr/>
          <p:nvPr/>
        </p:nvSpPr>
        <p:spPr>
          <a:xfrm>
            <a:off x="487680" y="130048"/>
            <a:ext cx="9753600" cy="552704"/>
          </a:xfrm>
          <a:prstGeom prst="rect">
            <a:avLst/>
          </a:prstGeom>
          <a:noFill/>
          <a:ln/>
        </p:spPr>
        <p:txBody>
          <a:bodyPr wrap="square" lIns="0" tIns="0" rIns="0" bIns="0" rtlCol="0" anchor="ctr"/>
          <a:lstStyle/>
          <a:p>
            <a:pPr indent="0" marL="0">
              <a:buNone/>
            </a:pPr>
            <a:r>
              <a:rPr lang="en-US" sz="1000" b="1" spc="120" kern="0" dirty="0">
                <a:solidFill>
                  <a:srgbClr val="55C8E8"/>
                </a:solidFill>
                <a:latin typeface="Calibri" pitchFamily="34" charset="0"/>
                <a:ea typeface="Calibri" pitchFamily="34" charset="-122"/>
                <a:cs typeface="Calibri" pitchFamily="34" charset="-120"/>
              </a:rPr>
              <a:t>ASSIGNMENT — SUBMIT</a:t>
            </a:r>
            <a:endParaRPr lang="en-US" sz="1000" dirty="0"/>
          </a:p>
        </p:txBody>
      </p:sp>
      <p:sp>
        <p:nvSpPr>
          <p:cNvPr id="4" name="Text 2"/>
          <p:cNvSpPr/>
          <p:nvPr/>
        </p:nvSpPr>
        <p:spPr>
          <a:xfrm>
            <a:off x="13329920" y="130048"/>
            <a:ext cx="2438400" cy="552704"/>
          </a:xfrm>
          <a:prstGeom prst="rect">
            <a:avLst/>
          </a:prstGeom>
          <a:noFill/>
          <a:ln/>
        </p:spPr>
        <p:txBody>
          <a:bodyPr wrap="square" lIns="0" tIns="0" rIns="0" bIns="0" rtlCol="0" anchor="ctr"/>
          <a:lstStyle/>
          <a:p>
            <a:pPr algn="r" indent="0" marL="0">
              <a:buNone/>
            </a:pPr>
            <a:r>
              <a:rPr lang="en-US" sz="1000" dirty="0">
                <a:solidFill>
                  <a:srgbClr val="D4943A"/>
                </a:solidFill>
                <a:latin typeface="Calibri" pitchFamily="34" charset="0"/>
                <a:ea typeface="Calibri" pitchFamily="34" charset="-122"/>
                <a:cs typeface="Calibri" pitchFamily="34" charset="-120"/>
              </a:rPr>
              <a:t>3.03.08</a:t>
            </a:r>
            <a:endParaRPr lang="en-US" sz="1000" dirty="0"/>
          </a:p>
        </p:txBody>
      </p:sp>
      <p:sp>
        <p:nvSpPr>
          <p:cNvPr id="5" name="Text 3"/>
          <p:cNvSpPr/>
          <p:nvPr/>
        </p:nvSpPr>
        <p:spPr>
          <a:xfrm>
            <a:off x="812800" y="1137920"/>
            <a:ext cx="14630400" cy="73152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Turn-In Checklist</a:t>
            </a:r>
            <a:endParaRPr lang="en-US" sz="2200" dirty="0"/>
          </a:p>
        </p:txBody>
      </p:sp>
      <p:sp>
        <p:nvSpPr>
          <p:cNvPr id="6" name="Shape 4"/>
          <p:cNvSpPr/>
          <p:nvPr/>
        </p:nvSpPr>
        <p:spPr>
          <a:xfrm>
            <a:off x="2438400" y="2438400"/>
            <a:ext cx="11379200" cy="975360"/>
          </a:xfrm>
          <a:prstGeom prst="roundRect">
            <a:avLst>
              <a:gd name="adj" fmla="val 16667"/>
            </a:avLst>
          </a:prstGeom>
          <a:solidFill>
            <a:srgbClr val="F0F2F8"/>
          </a:solidFill>
          <a:ln/>
        </p:spPr>
      </p:sp>
      <p:sp>
        <p:nvSpPr>
          <p:cNvPr id="7" name="Shape 5"/>
          <p:cNvSpPr/>
          <p:nvPr/>
        </p:nvSpPr>
        <p:spPr>
          <a:xfrm>
            <a:off x="2600960" y="2633472"/>
            <a:ext cx="585216" cy="585216"/>
          </a:xfrm>
          <a:prstGeom prst="roundRect">
            <a:avLst>
              <a:gd name="adj" fmla="val 16667"/>
            </a:avLst>
          </a:prstGeom>
          <a:solidFill>
            <a:srgbClr val="FFFFFF"/>
          </a:solidFill>
          <a:ln w="19050">
            <a:solidFill>
              <a:srgbClr val="1A8A7D"/>
            </a:solidFill>
            <a:prstDash val="solid"/>
          </a:ln>
        </p:spPr>
      </p:sp>
      <p:sp>
        <p:nvSpPr>
          <p:cNvPr id="8" name="Text 6"/>
          <p:cNvSpPr/>
          <p:nvPr/>
        </p:nvSpPr>
        <p:spPr>
          <a:xfrm>
            <a:off x="3413760" y="2438400"/>
            <a:ext cx="10078720" cy="9753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I answered all three evidence questions.</a:t>
            </a:r>
            <a:endParaRPr lang="en-US" sz="1400" dirty="0"/>
          </a:p>
        </p:txBody>
      </p:sp>
      <p:sp>
        <p:nvSpPr>
          <p:cNvPr id="9" name="Shape 7"/>
          <p:cNvSpPr/>
          <p:nvPr/>
        </p:nvSpPr>
        <p:spPr>
          <a:xfrm>
            <a:off x="2438400" y="3657600"/>
            <a:ext cx="11379200" cy="975360"/>
          </a:xfrm>
          <a:prstGeom prst="roundRect">
            <a:avLst>
              <a:gd name="adj" fmla="val 16667"/>
            </a:avLst>
          </a:prstGeom>
          <a:solidFill>
            <a:srgbClr val="FFFFFF"/>
          </a:solidFill>
          <a:ln/>
        </p:spPr>
      </p:sp>
      <p:sp>
        <p:nvSpPr>
          <p:cNvPr id="10" name="Shape 8"/>
          <p:cNvSpPr/>
          <p:nvPr/>
        </p:nvSpPr>
        <p:spPr>
          <a:xfrm>
            <a:off x="2600960" y="3852672"/>
            <a:ext cx="585216" cy="585216"/>
          </a:xfrm>
          <a:prstGeom prst="roundRect">
            <a:avLst>
              <a:gd name="adj" fmla="val 16667"/>
            </a:avLst>
          </a:prstGeom>
          <a:solidFill>
            <a:srgbClr val="FFFFFF"/>
          </a:solidFill>
          <a:ln w="19050">
            <a:solidFill>
              <a:srgbClr val="1A8A7D"/>
            </a:solidFill>
            <a:prstDash val="solid"/>
          </a:ln>
        </p:spPr>
      </p:sp>
      <p:sp>
        <p:nvSpPr>
          <p:cNvPr id="11" name="Text 9"/>
          <p:cNvSpPr/>
          <p:nvPr/>
        </p:nvSpPr>
        <p:spPr>
          <a:xfrm>
            <a:off x="3413760" y="3657600"/>
            <a:ext cx="10078720" cy="9753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I completed the Curator Task (map skills summary).</a:t>
            </a:r>
            <a:endParaRPr lang="en-US" sz="1400" dirty="0"/>
          </a:p>
        </p:txBody>
      </p:sp>
      <p:sp>
        <p:nvSpPr>
          <p:cNvPr id="12" name="Shape 10"/>
          <p:cNvSpPr/>
          <p:nvPr/>
        </p:nvSpPr>
        <p:spPr>
          <a:xfrm>
            <a:off x="2438400" y="4876800"/>
            <a:ext cx="11379200" cy="975360"/>
          </a:xfrm>
          <a:prstGeom prst="roundRect">
            <a:avLst>
              <a:gd name="adj" fmla="val 16667"/>
            </a:avLst>
          </a:prstGeom>
          <a:solidFill>
            <a:srgbClr val="F0F2F8"/>
          </a:solidFill>
          <a:ln/>
        </p:spPr>
      </p:sp>
      <p:sp>
        <p:nvSpPr>
          <p:cNvPr id="13" name="Shape 11"/>
          <p:cNvSpPr/>
          <p:nvPr/>
        </p:nvSpPr>
        <p:spPr>
          <a:xfrm>
            <a:off x="2600960" y="5071872"/>
            <a:ext cx="585216" cy="585216"/>
          </a:xfrm>
          <a:prstGeom prst="roundRect">
            <a:avLst>
              <a:gd name="adj" fmla="val 16667"/>
            </a:avLst>
          </a:prstGeom>
          <a:solidFill>
            <a:srgbClr val="FFFFFF"/>
          </a:solidFill>
          <a:ln w="19050">
            <a:solidFill>
              <a:srgbClr val="1A8A7D"/>
            </a:solidFill>
            <a:prstDash val="solid"/>
          </a:ln>
        </p:spPr>
      </p:sp>
      <p:sp>
        <p:nvSpPr>
          <p:cNvPr id="14" name="Text 12"/>
          <p:cNvSpPr/>
          <p:nvPr/>
        </p:nvSpPr>
        <p:spPr>
          <a:xfrm>
            <a:off x="3413760" y="4876800"/>
            <a:ext cx="10078720" cy="9753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I wrote my Curator's Chronicle.</a:t>
            </a:r>
            <a:endParaRPr lang="en-US" sz="1400" dirty="0"/>
          </a:p>
        </p:txBody>
      </p:sp>
      <p:sp>
        <p:nvSpPr>
          <p:cNvPr id="15" name="Shape 13"/>
          <p:cNvSpPr/>
          <p:nvPr/>
        </p:nvSpPr>
        <p:spPr>
          <a:xfrm>
            <a:off x="2438400" y="6096000"/>
            <a:ext cx="11379200" cy="975360"/>
          </a:xfrm>
          <a:prstGeom prst="roundRect">
            <a:avLst>
              <a:gd name="adj" fmla="val 16667"/>
            </a:avLst>
          </a:prstGeom>
          <a:solidFill>
            <a:srgbClr val="FFFFFF"/>
          </a:solidFill>
          <a:ln/>
        </p:spPr>
      </p:sp>
      <p:sp>
        <p:nvSpPr>
          <p:cNvPr id="16" name="Shape 14"/>
          <p:cNvSpPr/>
          <p:nvPr/>
        </p:nvSpPr>
        <p:spPr>
          <a:xfrm>
            <a:off x="2600960" y="6291072"/>
            <a:ext cx="585216" cy="585216"/>
          </a:xfrm>
          <a:prstGeom prst="roundRect">
            <a:avLst>
              <a:gd name="adj" fmla="val 16667"/>
            </a:avLst>
          </a:prstGeom>
          <a:solidFill>
            <a:srgbClr val="FFFFFF"/>
          </a:solidFill>
          <a:ln w="19050">
            <a:solidFill>
              <a:srgbClr val="1A8A7D"/>
            </a:solidFill>
            <a:prstDash val="solid"/>
          </a:ln>
        </p:spPr>
      </p:sp>
      <p:sp>
        <p:nvSpPr>
          <p:cNvPr id="17" name="Text 15"/>
          <p:cNvSpPr/>
          <p:nvPr/>
        </p:nvSpPr>
        <p:spPr>
          <a:xfrm>
            <a:off x="3413760" y="6096000"/>
            <a:ext cx="10078720" cy="975360"/>
          </a:xfrm>
          <a:prstGeom prst="rect">
            <a:avLst/>
          </a:prstGeom>
          <a:noFill/>
          <a:ln/>
        </p:spPr>
        <p:txBody>
          <a:bodyPr wrap="square" lIns="0" tIns="0" rIns="0" bIns="0" rtlCol="0" anchor="ctr"/>
          <a:lstStyle/>
          <a:p>
            <a:pPr indent="0" marL="0">
              <a:buNone/>
            </a:pPr>
            <a:r>
              <a:rPr lang="en-US" sz="1400" dirty="0">
                <a:solidFill>
                  <a:srgbClr val="0E1C42"/>
                </a:solidFill>
                <a:latin typeface="Calibri" pitchFamily="34" charset="0"/>
                <a:ea typeface="Calibri" pitchFamily="34" charset="-122"/>
                <a:cs typeface="Calibri" pitchFamily="34" charset="-120"/>
              </a:rPr>
              <a:t>I copied or downloaded my work and submitted to Canvas.</a:t>
            </a:r>
            <a:endParaRPr lang="en-US" sz="1400" dirty="0"/>
          </a:p>
        </p:txBody>
      </p:sp>
      <p:sp>
        <p:nvSpPr>
          <p:cNvPr id="18" name="Shape 16"/>
          <p:cNvSpPr/>
          <p:nvPr/>
        </p:nvSpPr>
        <p:spPr>
          <a:xfrm>
            <a:off x="3251200" y="7477760"/>
            <a:ext cx="9753600" cy="975360"/>
          </a:xfrm>
          <a:prstGeom prst="roundRect">
            <a:avLst>
              <a:gd name="adj" fmla="val 16667"/>
            </a:avLst>
          </a:prstGeom>
          <a:solidFill>
            <a:srgbClr val="E3F8ED"/>
          </a:solidFill>
          <a:ln/>
        </p:spPr>
      </p:sp>
      <p:sp>
        <p:nvSpPr>
          <p:cNvPr id="19" name="Text 17"/>
          <p:cNvSpPr/>
          <p:nvPr/>
        </p:nvSpPr>
        <p:spPr>
          <a:xfrm>
            <a:off x="3251200" y="7477760"/>
            <a:ext cx="9753600" cy="975360"/>
          </a:xfrm>
          <a:prstGeom prst="rect">
            <a:avLst/>
          </a:prstGeom>
          <a:noFill/>
          <a:ln/>
        </p:spPr>
        <p:txBody>
          <a:bodyPr wrap="square" lIns="0" tIns="0" rIns="0" bIns="0" rtlCol="0" anchor="ctr"/>
          <a:lstStyle/>
          <a:p>
            <a:pPr algn="ctr" indent="0" marL="0">
              <a:buNone/>
            </a:pPr>
            <a:r>
              <a:rPr lang="en-US" sz="1400" b="1" dirty="0">
                <a:solidFill>
                  <a:srgbClr val="34B76F"/>
                </a:solidFill>
                <a:latin typeface="Calibri" pitchFamily="34" charset="0"/>
                <a:ea typeface="Calibri" pitchFamily="34" charset="-122"/>
                <a:cs typeface="Calibri" pitchFamily="34" charset="-120"/>
              </a:rPr>
              <a:t>When all boxes are checked, you're done!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6256000" cy="9144000"/>
          </a:xfrm>
          <a:prstGeom prst="rect">
            <a:avLst/>
          </a:prstGeom>
          <a:solidFill>
            <a:srgbClr val="0B1835"/>
          </a:solidFill>
          <a:ln w="19050">
            <a:solidFill>
              <a:srgbClr val="3A5080"/>
            </a:solidFill>
            <a:prstDash val="dash"/>
          </a:ln>
        </p:spPr>
      </p:sp>
      <p:sp>
        <p:nvSpPr>
          <p:cNvPr id="3" name="Shape 1"/>
          <p:cNvSpPr/>
          <p:nvPr/>
        </p:nvSpPr>
        <p:spPr>
          <a:xfrm>
            <a:off x="0" y="0"/>
            <a:ext cx="16256000" cy="9144000"/>
          </a:xfrm>
          <a:prstGeom prst="rect">
            <a:avLst/>
          </a:prstGeom>
          <a:solidFill>
            <a:srgbClr val="0E1C42">
              <a:alpha val="62000"/>
            </a:srgbClr>
          </a:solidFill>
          <a:ln/>
        </p:spPr>
      </p:sp>
      <p:sp>
        <p:nvSpPr>
          <p:cNvPr id="5" name="Text 2"/>
          <p:cNvSpPr/>
          <p:nvPr/>
        </p:nvSpPr>
        <p:spPr>
          <a:xfrm>
            <a:off x="975360" y="1300480"/>
            <a:ext cx="14305280" cy="1137920"/>
          </a:xfrm>
          <a:prstGeom prst="rect">
            <a:avLst/>
          </a:prstGeom>
          <a:noFill/>
          <a:ln/>
        </p:spPr>
        <p:txBody>
          <a:bodyPr wrap="square" lIns="0" tIns="0" rIns="0" bIns="0" rtlCol="0" anchor="ctr"/>
          <a:lstStyle/>
          <a:p>
            <a:pPr indent="0" marL="0">
              <a:buNone/>
            </a:pPr>
            <a:r>
              <a:rPr lang="en-US" sz="3000" b="1" dirty="0">
                <a:solidFill>
                  <a:srgbClr val="D4943A"/>
                </a:solidFill>
                <a:latin typeface="Cambria" pitchFamily="34" charset="0"/>
                <a:ea typeface="Cambria" pitchFamily="34" charset="-122"/>
                <a:cs typeface="Cambria" pitchFamily="34" charset="-120"/>
              </a:rPr>
              <a:t>You Earned the Mapmaker Badge!</a:t>
            </a:r>
            <a:endParaRPr lang="en-US" sz="3000" dirty="0"/>
          </a:p>
        </p:txBody>
      </p:sp>
      <p:sp>
        <p:nvSpPr>
          <p:cNvPr id="6" name="Shape 3"/>
          <p:cNvSpPr/>
          <p:nvPr/>
        </p:nvSpPr>
        <p:spPr>
          <a:xfrm>
            <a:off x="975360" y="2600960"/>
            <a:ext cx="3251200" cy="65024"/>
          </a:xfrm>
          <a:prstGeom prst="rect">
            <a:avLst/>
          </a:prstGeom>
          <a:solidFill>
            <a:srgbClr val="D4943A"/>
          </a:solidFill>
          <a:ln/>
        </p:spPr>
      </p:sp>
      <p:sp>
        <p:nvSpPr>
          <p:cNvPr id="7" name="Text 4"/>
          <p:cNvSpPr/>
          <p:nvPr/>
        </p:nvSpPr>
        <p:spPr>
          <a:xfrm>
            <a:off x="975360" y="2926080"/>
            <a:ext cx="11379200" cy="195072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The Great Map Room is officially ready for visitors.</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You can read maps, fix maps, sort map types,</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measure distances, compare globes, read charts,</a:t>
            </a:r>
            <a:endParaRPr lang="en-US" sz="1400" dirty="0"/>
          </a:p>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and even build your own map.</a:t>
            </a:r>
            <a:endParaRPr lang="en-US" sz="1400" dirty="0"/>
          </a:p>
        </p:txBody>
      </p:sp>
      <p:sp>
        <p:nvSpPr>
          <p:cNvPr id="8" name="Shape 5"/>
          <p:cNvSpPr/>
          <p:nvPr/>
        </p:nvSpPr>
        <p:spPr>
          <a:xfrm>
            <a:off x="975360" y="5201920"/>
            <a:ext cx="13817600" cy="2763520"/>
          </a:xfrm>
          <a:prstGeom prst="roundRect">
            <a:avLst>
              <a:gd name="adj" fmla="val 7059"/>
            </a:avLst>
          </a:prstGeom>
          <a:solidFill>
            <a:srgbClr val="162750"/>
          </a:solidFill>
          <a:ln/>
        </p:spPr>
      </p:sp>
      <p:sp>
        <p:nvSpPr>
          <p:cNvPr id="9" name="Text 6"/>
          <p:cNvSpPr/>
          <p:nvPr/>
        </p:nvSpPr>
        <p:spPr>
          <a:xfrm>
            <a:off x="1300480" y="5364480"/>
            <a:ext cx="3251200" cy="4064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COMING NEXT</a:t>
            </a:r>
            <a:endParaRPr lang="en-US" sz="1000" dirty="0"/>
          </a:p>
        </p:txBody>
      </p:sp>
      <p:sp>
        <p:nvSpPr>
          <p:cNvPr id="10" name="Text 7"/>
          <p:cNvSpPr/>
          <p:nvPr/>
        </p:nvSpPr>
        <p:spPr>
          <a:xfrm>
            <a:off x="1300480" y="5852160"/>
            <a:ext cx="13167360" cy="650240"/>
          </a:xfrm>
          <a:prstGeom prst="rect">
            <a:avLst/>
          </a:prstGeom>
          <a:noFill/>
          <a:ln/>
        </p:spPr>
        <p:txBody>
          <a:bodyPr wrap="square" lIns="0" tIns="0" rIns="0" bIns="0" rtlCol="0" anchor="ctr"/>
          <a:lstStyle/>
          <a:p>
            <a:pPr indent="0" marL="0">
              <a:buNone/>
            </a:pPr>
            <a:r>
              <a:rPr lang="en-US" sz="1800" b="1" dirty="0">
                <a:solidFill>
                  <a:srgbClr val="D4943A"/>
                </a:solidFill>
                <a:latin typeface="Cambria" pitchFamily="34" charset="0"/>
                <a:ea typeface="Cambria" pitchFamily="34" charset="-122"/>
                <a:cs typeface="Cambria" pitchFamily="34" charset="-120"/>
              </a:rPr>
              <a:t>The Cartographer's Review Chamber</a:t>
            </a:r>
            <a:endParaRPr lang="en-US" sz="1800" dirty="0"/>
          </a:p>
        </p:txBody>
      </p:sp>
      <p:sp>
        <p:nvSpPr>
          <p:cNvPr id="11" name="Text 8"/>
          <p:cNvSpPr/>
          <p:nvPr/>
        </p:nvSpPr>
        <p:spPr>
          <a:xfrm>
            <a:off x="1300480" y="6583680"/>
            <a:ext cx="13167360" cy="1219200"/>
          </a:xfrm>
          <a:prstGeom prst="rect">
            <a:avLst/>
          </a:prstGeom>
          <a:noFill/>
          <a:ln/>
        </p:spPr>
        <p:txBody>
          <a:bodyPr wrap="square" lIns="0" tIns="0" rIns="0" bIns="0" rtlCol="0" anchor="ctr"/>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You've proven you can read the tools of geography. Now you need to prove you can connect everything -- exploration, tools, and maps -- in one big review. The Cartographer's Review Chamber is opening. That's where you'll show the museum you're ready for the world beyond the maps!</a:t>
            </a:r>
            <a:endParaRPr lang="en-US" sz="1100" dirty="0"/>
          </a:p>
        </p:txBody>
      </p:sp>
      <p:sp>
        <p:nvSpPr>
          <p:cNvPr id="12" name="Text 9"/>
          <p:cNvSpPr/>
          <p:nvPr/>
        </p:nvSpPr>
        <p:spPr>
          <a:xfrm>
            <a:off x="975360" y="8290560"/>
            <a:ext cx="13004800" cy="406400"/>
          </a:xfrm>
          <a:prstGeom prst="rect">
            <a:avLst/>
          </a:prstGeom>
          <a:noFill/>
          <a:ln/>
        </p:spPr>
        <p:txBody>
          <a:bodyPr wrap="square" lIns="0" tIns="0" rIns="0" bIns="0" rtlCol="0" anchor="ctr"/>
          <a:lstStyle/>
          <a:p>
            <a:pPr indent="0" marL="0">
              <a:buNone/>
            </a:pPr>
            <a:r>
              <a:rPr lang="en-US" sz="900" dirty="0">
                <a:solidFill>
                  <a:srgbClr val="7A88A8"/>
                </a:solidFill>
                <a:latin typeface="Calibri" pitchFamily="34" charset="0"/>
                <a:ea typeface="Calibri" pitchFamily="34" charset="-122"/>
                <a:cs typeface="Calibri" pitchFamily="34" charset="-120"/>
              </a:rPr>
              <a:t>Optima Academy Online  |  Social Studies  |  Grade 3  |  Lesson 3.03.08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3.03.08 Map Skills Challenge</dc:title>
  <dc:subject>PptxGenJS Presentation</dc:subject>
  <dc:creator>Optima Academy Online</dc:creator>
  <cp:lastModifiedBy>Optima Academy Online</cp:lastModifiedBy>
  <cp:revision>1</cp:revision>
  <dcterms:created xsi:type="dcterms:W3CDTF">2026-07-11T02:52:39Z</dcterms:created>
  <dcterms:modified xsi:type="dcterms:W3CDTF">2026-07-11T02:52:39Z</dcterms:modified>
</cp:coreProperties>
</file>