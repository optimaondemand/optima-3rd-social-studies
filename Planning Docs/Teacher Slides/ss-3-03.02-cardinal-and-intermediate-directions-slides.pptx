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Display as students join. Say: 'Welcome back to the Great Map Room, Map Curators! Get your Curator's Notebook ready — you're going to need it today. We've got a problem in the museum.'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 Build anticipation.
Say: 'Look at the floor of the Great Map Room. The compass rose is cracked! The four main directions still show — but the in-between ones are gone. Visitors are completely lost.'
Ask: 'If there are four main directions and eight total... how many are missing?' (Four.)
Don't tell students what the intermediate directions are yet. Let them wonder.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BRIEFING — 1 minute max.
Say: 'Your mission: learn all eight directions on a compass rose. You already know four of them from last lesson — but to fix the floor, we need all eight. Let's find out what's missing.'
Point quickly to the five steps. Don't read them all aloud. Advance when students are oriented.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CLUE BOX — Discovery first. Do NOT name intermediate directions yet.
Show compass with only N/S/E/W. Count 5 seconds silently. Then scan chat.
Look for students noticing: blank diagonal spots, missing corners.
Ask: 'You said it's missing something — what makes you think that?' 'Where would the missing pieces go?' 'Does this compass help someone who wants to go between north and east?'
Build tension. Don't reveal the answer. Advance to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Productive struggle. Let it breathe.
Look for the insight: 'between' two directions.
When a student says 'between' or 'in the middle' — grab it.
Say: 'You just named the exact problem map makers solved centuries ago. They needed a word for directions that are between the main ones.'
Ask: 'So what do you think they came up with?' Accept all answers.
This makes Slide 6's reveal feel earned, not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CARDINAL DIRECTIONS REVEAL
Say: 'These four — North, South, East, West — are called the CARDINAL directions. Cardinal means main or most important. You already knew these. But we're not done yet.'
Quick chat check: 'Type N-E-S-W in the chat.' Then advance — the big discovery is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CLOCK ANALOGY — Build intuition for intermediate placement.
Say: 'North is 12 o'clock. East is 3. South is 6. West is 9. So what time would be right in the middle between 12 and 3? About 1:30. And what direction is right in the middle between North and East?'
Let students respond in chat. They may guess 'Northeast' — validate it: 'You already know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INTERMEDIATE DIRECTIONS REVEAL — Name it as the student's discovery.
Say: 'You figured it out — when something is between North and East, it's called NORTHEAST. Notice how the name works: combine the two cardinals. North + East = Northeast.'
Point to each card: NE, NW, SE, SW.
Ask: 'How many in-between directions are there?' (Four.) 'Plus four cardinals = how many total?' (Eight!)
Quick chat check: 'Type all four intermediate directions — no peeking!'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COMPASS — Display the complete picture.
Say: 'Here it is — the complete compass rose. Eight directions. Let's read them clockwise from the top: N... NE... E... SE... S... SW... W... NW.' Say it twice — once slow, once fast.
Retrieval: 'Cover your screen. How many intermediate directions can you name? Type them in chat.'
Look for students who mix up NW/SW or SE/NE — you'll address this on the error analysis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TOOLS — Give students tools for the assignment.
Do the retrieval challenge for real: 'Cover your screen. 30 seconds. Write all 8 clockwise in your notebook.'
Wait 30 seconds. Bring compass back. 'Let's check. How many did you get?'
For anyone who missed: 'The pattern is cardinal-intermediate-cardinal-intermediate. Intermediates just combine the names of the two cardinals they sit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MODEL — Make your thinking audible and visible.
Read the think-aloud steps aloud, pointing to the map as you go.
Say: 'Here's the exact steps I use every time I need to describe a direction on a map. Watch.'
After: 'What strategy did I use? What did I check first?' (The compass rose.) 'Then what?' (Starting and ending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Answers: A = West (directly left). B = Northwest (upper-left corner).
For A: 'Left = which direction on the compass? Is it upper-left or lower-left?' (Just left.) 'Cardinal or intermediate?' (Cardinal — West.)
For B: 'Upper = North. Left = West. Upper-left = ?' (Northwest!) 'Cardinal or intermediate?' (Intermediate!)
Say: 'Sometimes one cardinal is exact — sometimes we need to combine two. That's exactly what intermediate directions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TURN — Answers: A = Northwest (upper-left = NW). B = East (directly right = E).
Give 60-90 seconds. Then share.
For Fossil Hall (NW): 'Walk me through using the checklist. Which step helped most?'
For Water Fountain (E): 'It's directly right — no upper or lower. So it's a straight cardinal direction. Which one?' (East.)
Common confusion: students may say NE for the Water Fountain. Ask: 'If it's exactly at 3 o'clock — is that between two numbers, or right on one?' (Right on 3 =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ANALYSIS — Most important practice slide. Don't rush.
Student's mistake: saw 'bottom' and jumped to South — but the library is in the BOTTOM-LEFT CORNER, which is Southwest, not South.
What student got right: checked the compass rose, identified vertical position (bottom = south direction).
What student missed: the library is ALSO to the left — making it a corner position requiring an intermediate direction (SW).
Key teaching: 'If the location is in a CORNER, you always need an intermediate direction. If it's on a straight line (top/bottom/left/right), use a cardinal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TRICKY ONE — Real thinking happens here. Both arguments are defensible.
Say: 'Pick a side. Type A or B in chat — then your reason.'
After responses: 'Both sides have good arguments. This is why real map readers sometimes describe the same location differently. The important thing: what evidence are you using?'
Celebrate disagreement: 'Real Map Curators argue about this too. What we agree on: check the compass, explain your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EXHIBIT LABEL — Consolidate everything.
Read it WITH the class.
Say: 'You discovered that a compass rose has eight directions — four cardinal and four intermediate. The floor compass is repaired. Visitors can now find their way because YOU learned all eight directions.'
Pulse check: 'Thumbs up / thumbs down in chat: could you now tell a museum visitor which direction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VIRTUE SPOTLIGHT — Connect content to character.
Say: 'Here's the question for your third evidence response: How does knowing directions connect to courtesy?'
Let students discuss the two options.
Say: 'Knowing your directions precisely is an act of courtesy — when you give someone clear directions, you're treating their time and wellbeing as important.'
Make the connection explicit: 'On your assignment, you'll be asked to write about this. Use what you just said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 Read each question aloud. Model the expected response.
For Q1, model: 'I could write: The four cardinal directions are north, south, east, and west. The four intermediate directions are northeast, northwest, southeast, and southwest. Intermediate means in-between.'
For Q2: 'Can someone give me an example of when an intermediate direction is more helpful?' (Gift shop in the corner of a museum.)
Give 4-5 minutes. Advance when most students have started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COMPLETION
For Q3: 'Remember Slide 17 — we talked about precise directions as an act of courtesy. Use those ideas now!'
For Curator Task: 'You can use YOUR classroom, your home, or a made-up museum room. Key: use actual direction words. Not 'in the front' — say 'on the north side.''
For Chronicle: 'One complete sentence about the most important thing you learned today.'
Give 4-5 minutes. Walk the checklist before students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 Under 1 minute. Keep it energetic.
Say: 'You now know all eight directions on a compass rose — and you used them to help visitors get around the Great Map Room. The floor compass is repaired. You are officially certified Map Curators.'
Teaser: 'Next time, four types of maps — physical, political, elevation, and population — got shuffled into the wrong drawers. You'll need to sort them out. See you next time, Map Curator!'
Wave off with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2377440"/>
            <a:ext cx="9144000" cy="36576"/>
          </a:xfrm>
          <a:prstGeom prst="rect">
            <a:avLst/>
          </a:prstGeom>
          <a:solidFill>
            <a:srgbClr val="D4943A">
              <a:alpha val="40000"/>
            </a:srgbClr>
          </a:solidFill>
          <a:ln/>
        </p:spPr>
      </p:sp>
      <p:sp>
        <p:nvSpPr>
          <p:cNvPr id="5" name="Text 3"/>
          <p:cNvSpPr/>
          <p:nvPr/>
        </p:nvSpPr>
        <p:spPr>
          <a:xfrm>
            <a:off x="457200" y="457200"/>
            <a:ext cx="8229600" cy="274320"/>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THE GREAT MAP ROOM  ·  CURATOR TRAINING HALL</a:t>
            </a:r>
            <a:endParaRPr lang="en-US" sz="900" dirty="0"/>
          </a:p>
        </p:txBody>
      </p:sp>
      <p:sp>
        <p:nvSpPr>
          <p:cNvPr id="6" name="Text 4"/>
          <p:cNvSpPr/>
          <p:nvPr/>
        </p:nvSpPr>
        <p:spPr>
          <a:xfrm>
            <a:off x="914400" y="822960"/>
            <a:ext cx="7315200" cy="16459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Cardinal and</a:t>
            </a:r>
            <a:endParaRPr lang="en-US" sz="4000" dirty="0"/>
          </a:p>
          <a:p>
            <a:pPr algn="ctr" indent="0" marL="0">
              <a:buNone/>
            </a:pPr>
            <a:r>
              <a:rPr lang="en-US" sz="4000" b="1" dirty="0">
                <a:solidFill>
                  <a:srgbClr val="FFFFFF"/>
                </a:solidFill>
                <a:latin typeface="Cambria" pitchFamily="34" charset="0"/>
                <a:ea typeface="Cambria" pitchFamily="34" charset="-122"/>
                <a:cs typeface="Cambria" pitchFamily="34" charset="-120"/>
              </a:rPr>
              <a:t>Intermediate Directions</a:t>
            </a:r>
            <a:endParaRPr lang="en-US" sz="4000" dirty="0"/>
          </a:p>
        </p:txBody>
      </p:sp>
      <p:sp>
        <p:nvSpPr>
          <p:cNvPr id="7" name="Shape 5"/>
          <p:cNvSpPr/>
          <p:nvPr/>
        </p:nvSpPr>
        <p:spPr>
          <a:xfrm>
            <a:off x="3200400" y="2450592"/>
            <a:ext cx="2743200" cy="45720"/>
          </a:xfrm>
          <a:prstGeom prst="rect">
            <a:avLst/>
          </a:prstGeom>
          <a:solidFill>
            <a:srgbClr val="D4943A"/>
          </a:solidFill>
          <a:ln/>
        </p:spPr>
      </p:sp>
      <p:sp>
        <p:nvSpPr>
          <p:cNvPr id="8" name="Text 6"/>
          <p:cNvSpPr/>
          <p:nvPr/>
        </p:nvSpPr>
        <p:spPr>
          <a:xfrm>
            <a:off x="914400" y="2578608"/>
            <a:ext cx="7315200" cy="274320"/>
          </a:xfrm>
          <a:prstGeom prst="rect">
            <a:avLst/>
          </a:prstGeom>
          <a:noFill/>
          <a:ln/>
        </p:spPr>
        <p:txBody>
          <a:bodyPr wrap="square" lIns="0" tIns="0" rIns="0" bIns="0" rtlCol="0" anchor="ctr"/>
          <a:lstStyle/>
          <a:p>
            <a:pPr algn="ctr" indent="0" marL="0">
              <a:buNone/>
            </a:pPr>
            <a:r>
              <a:rPr lang="en-US" sz="1100" spc="50" kern="0" dirty="0">
                <a:solidFill>
                  <a:srgbClr val="F0F2F8"/>
                </a:solidFill>
                <a:latin typeface="Calibri" pitchFamily="34" charset="0"/>
                <a:ea typeface="Calibri" pitchFamily="34" charset="-122"/>
                <a:cs typeface="Calibri" pitchFamily="34" charset="-120"/>
              </a:rPr>
              <a:t>Lesson 3.03.02  ·  Grade 3 Social Studies  ·  Week 7  ·  Q1</a:t>
            </a:r>
            <a:endParaRPr lang="en-US" sz="1100" dirty="0"/>
          </a:p>
        </p:txBody>
      </p:sp>
      <p:sp>
        <p:nvSpPr>
          <p:cNvPr id="9" name="Text 7"/>
          <p:cNvSpPr/>
          <p:nvPr/>
        </p:nvSpPr>
        <p:spPr>
          <a:xfrm>
            <a:off x="914400" y="2907792"/>
            <a:ext cx="7315200" cy="228600"/>
          </a:xfrm>
          <a:prstGeom prst="rect">
            <a:avLst/>
          </a:prstGeom>
          <a:noFill/>
          <a:ln/>
        </p:spPr>
        <p:txBody>
          <a:bodyPr wrap="square" lIns="0" tIns="0" rIns="0" bIns="0" rtlCol="0" anchor="ctr"/>
          <a:lstStyle/>
          <a:p>
            <a:pPr algn="ctr" indent="0" marL="0">
              <a:buNone/>
            </a:pPr>
            <a:r>
              <a:rPr lang="en-US" sz="900" spc="50" kern="0" dirty="0">
                <a:solidFill>
                  <a:srgbClr val="7A88A8"/>
                </a:solidFill>
                <a:latin typeface="Calibri" pitchFamily="34" charset="0"/>
                <a:ea typeface="Calibri" pitchFamily="34" charset="-122"/>
                <a:cs typeface="Calibri" pitchFamily="34" charset="-120"/>
              </a:rPr>
              <a:t>Standards: SS.3.G.1.1  ·  SS.3.G.1.2  ·  SS.3.G.1.4-1.6</a:t>
            </a:r>
            <a:endParaRPr lang="en-US" sz="900" dirty="0"/>
          </a:p>
        </p:txBody>
      </p:sp>
      <p:sp>
        <p:nvSpPr>
          <p:cNvPr id="10" name="Shape 8"/>
          <p:cNvSpPr/>
          <p:nvPr/>
        </p:nvSpPr>
        <p:spPr>
          <a:xfrm>
            <a:off x="3383280" y="3291840"/>
            <a:ext cx="2377440" cy="1463040"/>
          </a:xfrm>
          <a:prstGeom prst="roundRect">
            <a:avLst>
              <a:gd name="adj" fmla="val 7500"/>
            </a:avLst>
          </a:prstGeom>
          <a:solidFill>
            <a:srgbClr val="E2E8F4"/>
          </a:solidFill>
          <a:ln w="19050">
            <a:solidFill>
              <a:srgbClr val="B0B8CC"/>
            </a:solidFill>
            <a:prstDash val="dash"/>
          </a:ln>
        </p:spPr>
      </p:sp>
      <p:sp>
        <p:nvSpPr>
          <p:cNvPr id="11" name="Text 9"/>
          <p:cNvSpPr/>
          <p:nvPr/>
        </p:nvSpPr>
        <p:spPr>
          <a:xfrm>
            <a:off x="3383280" y="3291840"/>
            <a:ext cx="23774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2" name="Text 10"/>
          <p:cNvSpPr/>
          <p:nvPr/>
        </p:nvSpPr>
        <p:spPr>
          <a:xfrm>
            <a:off x="3520440" y="3566160"/>
            <a:ext cx="2103120" cy="1097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Decorative compass rose — full 8-point star design on dark navy background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65760" y="228600"/>
            <a:ext cx="2011680" cy="292608"/>
          </a:xfrm>
          <a:prstGeom prst="roundRect">
            <a:avLst>
              <a:gd name="adj" fmla="val 25000"/>
            </a:avLst>
          </a:prstGeom>
          <a:solidFill>
            <a:srgbClr val="D4943A"/>
          </a:solidFill>
          <a:ln/>
        </p:spPr>
      </p:sp>
      <p:sp>
        <p:nvSpPr>
          <p:cNvPr id="5" name="Text 3"/>
          <p:cNvSpPr/>
          <p:nvPr/>
        </p:nvSpPr>
        <p:spPr>
          <a:xfrm>
            <a:off x="365760" y="228600"/>
            <a:ext cx="2011680" cy="292608"/>
          </a:xfrm>
          <a:prstGeom prst="rect">
            <a:avLst/>
          </a:prstGeom>
          <a:noFill/>
          <a:ln/>
        </p:spPr>
        <p:txBody>
          <a:bodyPr wrap="square" lIns="0" tIns="0" rIns="0" bIns="0" rtlCol="0" anchor="ctr"/>
          <a:lstStyle/>
          <a:p>
            <a:pPr algn="ctr" indent="0" marL="0">
              <a:buNone/>
            </a:pPr>
            <a:r>
              <a:rPr lang="en-US" sz="900" b="1" spc="150" kern="0" dirty="0">
                <a:solidFill>
                  <a:srgbClr val="FFFFFF"/>
                </a:solidFill>
                <a:latin typeface="Calibri" pitchFamily="34" charset="0"/>
                <a:ea typeface="Calibri" pitchFamily="34" charset="-122"/>
                <a:cs typeface="Calibri" pitchFamily="34" charset="-120"/>
              </a:rPr>
              <a:t>MUSEUM ALERT</a:t>
            </a:r>
            <a:endParaRPr lang="en-US" sz="900" dirty="0"/>
          </a:p>
        </p:txBody>
      </p:sp>
      <p:sp>
        <p:nvSpPr>
          <p:cNvPr id="6" name="Text 4"/>
          <p:cNvSpPr/>
          <p:nvPr/>
        </p:nvSpPr>
        <p:spPr>
          <a:xfrm>
            <a:off x="365760" y="621792"/>
            <a:ext cx="54864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Broken Floor Compass</a:t>
            </a:r>
            <a:endParaRPr lang="en-US" sz="2800" dirty="0"/>
          </a:p>
        </p:txBody>
      </p:sp>
      <p:sp>
        <p:nvSpPr>
          <p:cNvPr id="7" name="Text 5"/>
          <p:cNvSpPr/>
          <p:nvPr/>
        </p:nvSpPr>
        <p:spPr>
          <a:xfrm>
            <a:off x="365760" y="1298448"/>
            <a:ext cx="5029200" cy="685800"/>
          </a:xfrm>
          <a:prstGeom prst="rect">
            <a:avLst/>
          </a:prstGeom>
          <a:noFill/>
          <a:ln/>
        </p:spPr>
        <p:txBody>
          <a:bodyPr wrap="square" lIns="0" tIns="0" rIns="0" bIns="0" rtlCol="0" anchor="t"/>
          <a:lstStyle/>
          <a:p>
            <a:pPr indent="0" marL="0">
              <a:buNone/>
            </a:pPr>
            <a:r>
              <a:rPr lang="en-US" sz="1400" dirty="0">
                <a:solidFill>
                  <a:srgbClr val="F0F2F8"/>
                </a:solidFill>
                <a:latin typeface="Calibri" pitchFamily="34" charset="0"/>
                <a:ea typeface="Calibri" pitchFamily="34" charset="-122"/>
                <a:cs typeface="Calibri" pitchFamily="34" charset="-120"/>
              </a:rPr>
              <a:t>The Great Map Room has a huge compass rose built right into its floor. It's supposed to help visitors find their way around the exhibits. But something's wrong.</a:t>
            </a:r>
            <a:endParaRPr lang="en-US" sz="1400" dirty="0"/>
          </a:p>
        </p:txBody>
      </p:sp>
      <p:sp>
        <p:nvSpPr>
          <p:cNvPr id="8" name="Shape 6"/>
          <p:cNvSpPr/>
          <p:nvPr/>
        </p:nvSpPr>
        <p:spPr>
          <a:xfrm>
            <a:off x="365760" y="2057400"/>
            <a:ext cx="5029200" cy="777240"/>
          </a:xfrm>
          <a:prstGeom prst="roundRect">
            <a:avLst>
              <a:gd name="adj" fmla="val 11765"/>
            </a:avLst>
          </a:prstGeom>
          <a:solidFill>
            <a:srgbClr val="1A2D5A"/>
          </a:solidFill>
          <a:ln w="19050">
            <a:solidFill>
              <a:srgbClr val="55C8E8"/>
            </a:solidFill>
            <a:prstDash val="solid"/>
          </a:ln>
        </p:spPr>
      </p:sp>
      <p:sp>
        <p:nvSpPr>
          <p:cNvPr id="9" name="Text 7"/>
          <p:cNvSpPr/>
          <p:nvPr/>
        </p:nvSpPr>
        <p:spPr>
          <a:xfrm>
            <a:off x="548640" y="2121408"/>
            <a:ext cx="4663440" cy="649224"/>
          </a:xfrm>
          <a:prstGeom prst="rect">
            <a:avLst/>
          </a:prstGeom>
          <a:noFill/>
          <a:ln/>
        </p:spPr>
        <p:txBody>
          <a:bodyPr wrap="square" lIns="0" tIns="0" rIns="0" bIns="0" rtlCol="0" anchor="ctr"/>
          <a:lstStyle/>
          <a:p>
            <a:pPr indent="0" marL="0">
              <a:buNone/>
            </a:pPr>
            <a:r>
              <a:rPr lang="en-US" sz="1300" i="1" dirty="0">
                <a:solidFill>
                  <a:srgbClr val="55C8E8"/>
                </a:solidFill>
                <a:latin typeface="Calibri" pitchFamily="34" charset="0"/>
                <a:ea typeface="Calibri" pitchFamily="34" charset="-122"/>
                <a:cs typeface="Calibri" pitchFamily="34" charset="-120"/>
              </a:rPr>
              <a:t>The four main direction markers work fine — but the in-between markers are faded and cracked. Visitors keep walking the wrong way!</a:t>
            </a:r>
            <a:endParaRPr lang="en-US" sz="1300" dirty="0"/>
          </a:p>
        </p:txBody>
      </p:sp>
      <p:sp>
        <p:nvSpPr>
          <p:cNvPr id="10" name="Shape 8"/>
          <p:cNvSpPr/>
          <p:nvPr/>
        </p:nvSpPr>
        <p:spPr>
          <a:xfrm>
            <a:off x="365760" y="2926080"/>
            <a:ext cx="5029200" cy="914400"/>
          </a:xfrm>
          <a:prstGeom prst="roundRect">
            <a:avLst>
              <a:gd name="adj" fmla="val 12000"/>
            </a:avLst>
          </a:prstGeom>
          <a:solidFill>
            <a:srgbClr val="1A8A7D"/>
          </a:solidFill>
          <a:ln/>
        </p:spPr>
      </p:sp>
      <p:sp>
        <p:nvSpPr>
          <p:cNvPr id="11" name="Text 9"/>
          <p:cNvSpPr/>
          <p:nvPr/>
        </p:nvSpPr>
        <p:spPr>
          <a:xfrm>
            <a:off x="502920" y="2999232"/>
            <a:ext cx="4754880" cy="228600"/>
          </a:xfrm>
          <a:prstGeom prst="rect">
            <a:avLst/>
          </a:prstGeom>
          <a:noFill/>
          <a:ln/>
        </p:spPr>
        <p:txBody>
          <a:bodyPr wrap="square" lIns="0" tIns="0" rIns="0" bIns="0" rtlCol="0" anchor="ctr"/>
          <a:lstStyle/>
          <a:p>
            <a:pPr indent="0" marL="0">
              <a:buNone/>
            </a:pPr>
            <a:r>
              <a:rPr lang="en-US" sz="900" b="1" spc="150" kern="0" dirty="0">
                <a:solidFill>
                  <a:srgbClr val="A0E8DA"/>
                </a:solidFill>
                <a:latin typeface="Calibri" pitchFamily="34" charset="0"/>
                <a:ea typeface="Calibri" pitchFamily="34" charset="-122"/>
                <a:cs typeface="Calibri" pitchFamily="34" charset="-120"/>
              </a:rPr>
              <a:t>CURATOR'S QUESTION</a:t>
            </a:r>
            <a:endParaRPr lang="en-US" sz="900" dirty="0"/>
          </a:p>
        </p:txBody>
      </p:sp>
      <p:sp>
        <p:nvSpPr>
          <p:cNvPr id="12" name="Text 10"/>
          <p:cNvSpPr/>
          <p:nvPr/>
        </p:nvSpPr>
        <p:spPr>
          <a:xfrm>
            <a:off x="502920" y="3246120"/>
            <a:ext cx="4754880" cy="548640"/>
          </a:xfrm>
          <a:prstGeom prst="rect">
            <a:avLst/>
          </a:prstGeom>
          <a:noFill/>
          <a:ln/>
        </p:spPr>
        <p:txBody>
          <a:bodyPr wrap="square" lIns="0" tIns="0" rIns="0" bIns="0" rtlCol="0" anchor="t"/>
          <a:lstStyle/>
          <a:p>
            <a:pPr indent="0" marL="0">
              <a:buNone/>
            </a:pPr>
            <a:r>
              <a:rPr lang="en-US" sz="1300" b="1" i="1" dirty="0">
                <a:solidFill>
                  <a:srgbClr val="FFFFFF"/>
                </a:solidFill>
                <a:latin typeface="Cambria" pitchFamily="34" charset="0"/>
                <a:ea typeface="Cambria" pitchFamily="34" charset="-122"/>
                <a:cs typeface="Cambria" pitchFamily="34" charset="-120"/>
              </a:rPr>
              <a:t>What are the eight directions on a compass rose, and how do they help people describe locations on a map?</a:t>
            </a:r>
            <a:endParaRPr lang="en-US" sz="1300" dirty="0"/>
          </a:p>
        </p:txBody>
      </p:sp>
      <p:sp>
        <p:nvSpPr>
          <p:cNvPr id="13" name="Shape 11"/>
          <p:cNvSpPr/>
          <p:nvPr/>
        </p:nvSpPr>
        <p:spPr>
          <a:xfrm>
            <a:off x="5669280" y="365760"/>
            <a:ext cx="3108960" cy="4480560"/>
          </a:xfrm>
          <a:prstGeom prst="roundRect">
            <a:avLst>
              <a:gd name="adj" fmla="val 3529"/>
            </a:avLst>
          </a:prstGeom>
          <a:solidFill>
            <a:srgbClr val="E2E8F4"/>
          </a:solidFill>
          <a:ln w="19050">
            <a:solidFill>
              <a:srgbClr val="B0B8CC"/>
            </a:solidFill>
            <a:prstDash val="dash"/>
          </a:ln>
        </p:spPr>
      </p:sp>
      <p:sp>
        <p:nvSpPr>
          <p:cNvPr id="14" name="Text 12"/>
          <p:cNvSpPr/>
          <p:nvPr/>
        </p:nvSpPr>
        <p:spPr>
          <a:xfrm>
            <a:off x="5669280" y="365760"/>
            <a:ext cx="31089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5" name="Text 13"/>
          <p:cNvSpPr/>
          <p:nvPr/>
        </p:nvSpPr>
        <p:spPr>
          <a:xfrm>
            <a:off x="5806440" y="640080"/>
            <a:ext cx="2834640" cy="41148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Close-up of a large floor compass rose tile — N/S/E/W labels visible, but NE/NW/SE/SW positions cracked and faded</a:t>
            </a:r>
            <a:endParaRPr lang="en-US" sz="1100" dirty="0"/>
          </a:p>
        </p:txBody>
      </p:sp>
      <p:sp>
        <p:nvSpPr>
          <p:cNvPr id="16" name="Text 14"/>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2 / 20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YOUR ROLE TODAY  ·  MAP CURATOR</a:t>
            </a:r>
            <a:endParaRPr lang="en-US" sz="1100" dirty="0"/>
          </a:p>
        </p:txBody>
      </p:sp>
      <p:sp>
        <p:nvSpPr>
          <p:cNvPr id="4" name="Shape 2"/>
          <p:cNvSpPr/>
          <p:nvPr/>
        </p:nvSpPr>
        <p:spPr>
          <a:xfrm>
            <a:off x="365760" y="822960"/>
            <a:ext cx="4206240" cy="1097280"/>
          </a:xfrm>
          <a:prstGeom prst="roundRect">
            <a:avLst>
              <a:gd name="adj" fmla="val 10000"/>
            </a:avLst>
          </a:prstGeom>
          <a:solidFill>
            <a:srgbClr val="EAF8FD"/>
          </a:solidFill>
          <a:ln w="19050">
            <a:solidFill>
              <a:srgbClr val="55C8E8"/>
            </a:solidFill>
            <a:prstDash val="solid"/>
          </a:ln>
        </p:spPr>
      </p:sp>
      <p:sp>
        <p:nvSpPr>
          <p:cNvPr id="5" name="Text 3"/>
          <p:cNvSpPr/>
          <p:nvPr/>
        </p:nvSpPr>
        <p:spPr>
          <a:xfrm>
            <a:off x="548640" y="886968"/>
            <a:ext cx="384048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Your Role:</a:t>
            </a:r>
            <a:endParaRPr lang="en-US" sz="900" dirty="0"/>
          </a:p>
        </p:txBody>
      </p:sp>
      <p:sp>
        <p:nvSpPr>
          <p:cNvPr id="6" name="Text 4"/>
          <p:cNvSpPr/>
          <p:nvPr/>
        </p:nvSpPr>
        <p:spPr>
          <a:xfrm>
            <a:off x="548640" y="1170432"/>
            <a:ext cx="3840480" cy="658368"/>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Map Curator — you're repairing the Great Map Room's floor compass rose by learning all eight directions. Then you'll use them to guide visitors.</a:t>
            </a:r>
            <a:endParaRPr lang="en-US" sz="1300" dirty="0"/>
          </a:p>
        </p:txBody>
      </p:sp>
      <p:sp>
        <p:nvSpPr>
          <p:cNvPr id="7" name="Text 5"/>
          <p:cNvSpPr/>
          <p:nvPr/>
        </p:nvSpPr>
        <p:spPr>
          <a:xfrm>
            <a:off x="365760" y="2084832"/>
            <a:ext cx="4206240" cy="32004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What You'll Learn Today</a:t>
            </a:r>
            <a:endParaRPr lang="en-US" sz="1600" dirty="0"/>
          </a:p>
        </p:txBody>
      </p:sp>
      <p:sp>
        <p:nvSpPr>
          <p:cNvPr id="8" name="Shape 6"/>
          <p:cNvSpPr/>
          <p:nvPr/>
        </p:nvSpPr>
        <p:spPr>
          <a:xfrm>
            <a:off x="365760" y="2487168"/>
            <a:ext cx="4206240" cy="594360"/>
          </a:xfrm>
          <a:prstGeom prst="roundRect">
            <a:avLst>
              <a:gd name="adj" fmla="val 15385"/>
            </a:avLst>
          </a:prstGeom>
          <a:solidFill>
            <a:srgbClr val="F0F2F8"/>
          </a:solidFill>
          <a:ln/>
        </p:spPr>
      </p:sp>
      <p:sp>
        <p:nvSpPr>
          <p:cNvPr id="9" name="Text 7"/>
          <p:cNvSpPr/>
          <p:nvPr/>
        </p:nvSpPr>
        <p:spPr>
          <a:xfrm>
            <a:off x="548640" y="2505456"/>
            <a:ext cx="3840480" cy="566928"/>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Obj 1:  Name all four cardinal directions and four intermediate directions</a:t>
            </a:r>
            <a:endParaRPr lang="en-US" sz="1200" dirty="0"/>
          </a:p>
        </p:txBody>
      </p:sp>
      <p:sp>
        <p:nvSpPr>
          <p:cNvPr id="10" name="Shape 8"/>
          <p:cNvSpPr/>
          <p:nvPr/>
        </p:nvSpPr>
        <p:spPr>
          <a:xfrm>
            <a:off x="365760" y="3191256"/>
            <a:ext cx="4206240" cy="594360"/>
          </a:xfrm>
          <a:prstGeom prst="roundRect">
            <a:avLst>
              <a:gd name="adj" fmla="val 15385"/>
            </a:avLst>
          </a:prstGeom>
          <a:solidFill>
            <a:srgbClr val="F0F2F8"/>
          </a:solidFill>
          <a:ln/>
        </p:spPr>
      </p:sp>
      <p:sp>
        <p:nvSpPr>
          <p:cNvPr id="11" name="Text 9"/>
          <p:cNvSpPr/>
          <p:nvPr/>
        </p:nvSpPr>
        <p:spPr>
          <a:xfrm>
            <a:off x="548640" y="3209544"/>
            <a:ext cx="3840480" cy="566928"/>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Obj 2:  Use directions to describe where something is on a map</a:t>
            </a:r>
            <a:endParaRPr lang="en-US" sz="1200" dirty="0"/>
          </a:p>
        </p:txBody>
      </p:sp>
      <p:sp>
        <p:nvSpPr>
          <p:cNvPr id="12" name="Shape 10"/>
          <p:cNvSpPr/>
          <p:nvPr/>
        </p:nvSpPr>
        <p:spPr>
          <a:xfrm>
            <a:off x="365760" y="3895344"/>
            <a:ext cx="4206240" cy="594360"/>
          </a:xfrm>
          <a:prstGeom prst="roundRect">
            <a:avLst>
              <a:gd name="adj" fmla="val 15385"/>
            </a:avLst>
          </a:prstGeom>
          <a:solidFill>
            <a:srgbClr val="F0F2F8"/>
          </a:solidFill>
          <a:ln/>
        </p:spPr>
      </p:sp>
      <p:sp>
        <p:nvSpPr>
          <p:cNvPr id="13" name="Text 11"/>
          <p:cNvSpPr/>
          <p:nvPr/>
        </p:nvSpPr>
        <p:spPr>
          <a:xfrm>
            <a:off x="548640" y="3913632"/>
            <a:ext cx="3840480" cy="566928"/>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Obj 3:  Explain how directions help visitors find places in the museum</a:t>
            </a:r>
            <a:endParaRPr lang="en-US" sz="1200" dirty="0"/>
          </a:p>
        </p:txBody>
      </p:sp>
      <p:sp>
        <p:nvSpPr>
          <p:cNvPr id="14" name="Shape 12"/>
          <p:cNvSpPr/>
          <p:nvPr/>
        </p:nvSpPr>
        <p:spPr>
          <a:xfrm>
            <a:off x="4846320" y="822960"/>
            <a:ext cx="3931920" cy="3931920"/>
          </a:xfrm>
          <a:prstGeom prst="roundRect">
            <a:avLst>
              <a:gd name="adj" fmla="val 3488"/>
            </a:avLst>
          </a:prstGeom>
          <a:solidFill>
            <a:srgbClr val="1A2D5A"/>
          </a:solidFill>
          <a:ln/>
        </p:spPr>
      </p:sp>
      <p:sp>
        <p:nvSpPr>
          <p:cNvPr id="15" name="Text 13"/>
          <p:cNvSpPr/>
          <p:nvPr/>
        </p:nvSpPr>
        <p:spPr>
          <a:xfrm>
            <a:off x="5029200" y="896112"/>
            <a:ext cx="35661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TODAY'S PATH</a:t>
            </a:r>
            <a:endParaRPr lang="en-US" sz="900" dirty="0"/>
          </a:p>
        </p:txBody>
      </p:sp>
      <p:sp>
        <p:nvSpPr>
          <p:cNvPr id="16" name="Shape 14"/>
          <p:cNvSpPr/>
          <p:nvPr/>
        </p:nvSpPr>
        <p:spPr>
          <a:xfrm>
            <a:off x="5029200" y="1261872"/>
            <a:ext cx="3566160" cy="475488"/>
          </a:xfrm>
          <a:prstGeom prst="roundRect">
            <a:avLst>
              <a:gd name="adj" fmla="val 15385"/>
            </a:avLst>
          </a:prstGeom>
          <a:solidFill>
            <a:srgbClr val="0E1C42"/>
          </a:solidFill>
          <a:ln/>
        </p:spPr>
      </p:sp>
      <p:sp>
        <p:nvSpPr>
          <p:cNvPr id="17" name="Text 15"/>
          <p:cNvSpPr/>
          <p:nvPr/>
        </p:nvSpPr>
        <p:spPr>
          <a:xfrm>
            <a:off x="5120640" y="1261872"/>
            <a:ext cx="365760" cy="475488"/>
          </a:xfrm>
          <a:prstGeom prst="rect">
            <a:avLst/>
          </a:prstGeom>
          <a:noFill/>
          <a:ln/>
        </p:spPr>
        <p:txBody>
          <a:bodyPr wrap="square" lIns="0" tIns="0" rIns="0" bIns="0"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1</a:t>
            </a:r>
            <a:endParaRPr lang="en-US" sz="1400" dirty="0"/>
          </a:p>
        </p:txBody>
      </p:sp>
      <p:sp>
        <p:nvSpPr>
          <p:cNvPr id="18" name="Text 16"/>
          <p:cNvSpPr/>
          <p:nvPr/>
        </p:nvSpPr>
        <p:spPr>
          <a:xfrm>
            <a:off x="5532120" y="1261872"/>
            <a:ext cx="128016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Hook</a:t>
            </a:r>
            <a:endParaRPr lang="en-US" sz="1200" dirty="0"/>
          </a:p>
        </p:txBody>
      </p:sp>
      <p:sp>
        <p:nvSpPr>
          <p:cNvPr id="19" name="Text 17"/>
          <p:cNvSpPr/>
          <p:nvPr/>
        </p:nvSpPr>
        <p:spPr>
          <a:xfrm>
            <a:off x="6858000" y="1261872"/>
            <a:ext cx="1691640" cy="475488"/>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Discover the broken floor compass</a:t>
            </a:r>
            <a:endParaRPr lang="en-US" sz="900" dirty="0"/>
          </a:p>
        </p:txBody>
      </p:sp>
      <p:sp>
        <p:nvSpPr>
          <p:cNvPr id="20" name="Shape 18"/>
          <p:cNvSpPr/>
          <p:nvPr/>
        </p:nvSpPr>
        <p:spPr>
          <a:xfrm>
            <a:off x="5029200" y="1810512"/>
            <a:ext cx="3566160" cy="475488"/>
          </a:xfrm>
          <a:prstGeom prst="roundRect">
            <a:avLst>
              <a:gd name="adj" fmla="val 15385"/>
            </a:avLst>
          </a:prstGeom>
          <a:solidFill>
            <a:srgbClr val="0E1C42"/>
          </a:solidFill>
          <a:ln/>
        </p:spPr>
      </p:sp>
      <p:sp>
        <p:nvSpPr>
          <p:cNvPr id="21" name="Text 19"/>
          <p:cNvSpPr/>
          <p:nvPr/>
        </p:nvSpPr>
        <p:spPr>
          <a:xfrm>
            <a:off x="5120640" y="1810512"/>
            <a:ext cx="365760" cy="475488"/>
          </a:xfrm>
          <a:prstGeom prst="rect">
            <a:avLst/>
          </a:prstGeom>
          <a:noFill/>
          <a:ln/>
        </p:spPr>
        <p:txBody>
          <a:bodyPr wrap="square" lIns="0" tIns="0" rIns="0" bIns="0"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2</a:t>
            </a:r>
            <a:endParaRPr lang="en-US" sz="1400" dirty="0"/>
          </a:p>
        </p:txBody>
      </p:sp>
      <p:sp>
        <p:nvSpPr>
          <p:cNvPr id="22" name="Text 20"/>
          <p:cNvSpPr/>
          <p:nvPr/>
        </p:nvSpPr>
        <p:spPr>
          <a:xfrm>
            <a:off x="5532120" y="1810512"/>
            <a:ext cx="128016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Explore</a:t>
            </a:r>
            <a:endParaRPr lang="en-US" sz="1200" dirty="0"/>
          </a:p>
        </p:txBody>
      </p:sp>
      <p:sp>
        <p:nvSpPr>
          <p:cNvPr id="23" name="Text 21"/>
          <p:cNvSpPr/>
          <p:nvPr/>
        </p:nvSpPr>
        <p:spPr>
          <a:xfrm>
            <a:off x="6858000" y="1810512"/>
            <a:ext cx="1691640" cy="475488"/>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Learn all 8 directions</a:t>
            </a:r>
            <a:endParaRPr lang="en-US" sz="900" dirty="0"/>
          </a:p>
        </p:txBody>
      </p:sp>
      <p:sp>
        <p:nvSpPr>
          <p:cNvPr id="24" name="Shape 22"/>
          <p:cNvSpPr/>
          <p:nvPr/>
        </p:nvSpPr>
        <p:spPr>
          <a:xfrm>
            <a:off x="5029200" y="2359152"/>
            <a:ext cx="3566160" cy="475488"/>
          </a:xfrm>
          <a:prstGeom prst="roundRect">
            <a:avLst>
              <a:gd name="adj" fmla="val 15385"/>
            </a:avLst>
          </a:prstGeom>
          <a:solidFill>
            <a:srgbClr val="0E1C42"/>
          </a:solidFill>
          <a:ln/>
        </p:spPr>
      </p:sp>
      <p:sp>
        <p:nvSpPr>
          <p:cNvPr id="25" name="Text 23"/>
          <p:cNvSpPr/>
          <p:nvPr/>
        </p:nvSpPr>
        <p:spPr>
          <a:xfrm>
            <a:off x="5120640" y="2359152"/>
            <a:ext cx="365760" cy="475488"/>
          </a:xfrm>
          <a:prstGeom prst="rect">
            <a:avLst/>
          </a:prstGeom>
          <a:noFill/>
          <a:ln/>
        </p:spPr>
        <p:txBody>
          <a:bodyPr wrap="square" lIns="0" tIns="0" rIns="0" bIns="0"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3</a:t>
            </a:r>
            <a:endParaRPr lang="en-US" sz="1400" dirty="0"/>
          </a:p>
        </p:txBody>
      </p:sp>
      <p:sp>
        <p:nvSpPr>
          <p:cNvPr id="26" name="Text 24"/>
          <p:cNvSpPr/>
          <p:nvPr/>
        </p:nvSpPr>
        <p:spPr>
          <a:xfrm>
            <a:off x="5532120" y="2359152"/>
            <a:ext cx="128016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Practice</a:t>
            </a:r>
            <a:endParaRPr lang="en-US" sz="1200" dirty="0"/>
          </a:p>
        </p:txBody>
      </p:sp>
      <p:sp>
        <p:nvSpPr>
          <p:cNvPr id="27" name="Text 25"/>
          <p:cNvSpPr/>
          <p:nvPr/>
        </p:nvSpPr>
        <p:spPr>
          <a:xfrm>
            <a:off x="6858000" y="2359152"/>
            <a:ext cx="1691640" cy="475488"/>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Use directions to describe locations</a:t>
            </a:r>
            <a:endParaRPr lang="en-US" sz="900" dirty="0"/>
          </a:p>
        </p:txBody>
      </p:sp>
      <p:sp>
        <p:nvSpPr>
          <p:cNvPr id="28" name="Shape 26"/>
          <p:cNvSpPr/>
          <p:nvPr/>
        </p:nvSpPr>
        <p:spPr>
          <a:xfrm>
            <a:off x="5029200" y="2907792"/>
            <a:ext cx="3566160" cy="475488"/>
          </a:xfrm>
          <a:prstGeom prst="roundRect">
            <a:avLst>
              <a:gd name="adj" fmla="val 15385"/>
            </a:avLst>
          </a:prstGeom>
          <a:solidFill>
            <a:srgbClr val="0E1C42"/>
          </a:solidFill>
          <a:ln/>
        </p:spPr>
      </p:sp>
      <p:sp>
        <p:nvSpPr>
          <p:cNvPr id="29" name="Text 27"/>
          <p:cNvSpPr/>
          <p:nvPr/>
        </p:nvSpPr>
        <p:spPr>
          <a:xfrm>
            <a:off x="5120640" y="2907792"/>
            <a:ext cx="365760" cy="475488"/>
          </a:xfrm>
          <a:prstGeom prst="rect">
            <a:avLst/>
          </a:prstGeom>
          <a:noFill/>
          <a:ln/>
        </p:spPr>
        <p:txBody>
          <a:bodyPr wrap="square" lIns="0" tIns="0" rIns="0" bIns="0"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4</a:t>
            </a:r>
            <a:endParaRPr lang="en-US" sz="1400" dirty="0"/>
          </a:p>
        </p:txBody>
      </p:sp>
      <p:sp>
        <p:nvSpPr>
          <p:cNvPr id="30" name="Text 28"/>
          <p:cNvSpPr/>
          <p:nvPr/>
        </p:nvSpPr>
        <p:spPr>
          <a:xfrm>
            <a:off x="5532120" y="2907792"/>
            <a:ext cx="128016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Virtue</a:t>
            </a:r>
            <a:endParaRPr lang="en-US" sz="1200" dirty="0"/>
          </a:p>
        </p:txBody>
      </p:sp>
      <p:sp>
        <p:nvSpPr>
          <p:cNvPr id="31" name="Text 29"/>
          <p:cNvSpPr/>
          <p:nvPr/>
        </p:nvSpPr>
        <p:spPr>
          <a:xfrm>
            <a:off x="6858000" y="2907792"/>
            <a:ext cx="1691640" cy="475488"/>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Connect directions to courtesy</a:t>
            </a:r>
            <a:endParaRPr lang="en-US" sz="900" dirty="0"/>
          </a:p>
        </p:txBody>
      </p:sp>
      <p:sp>
        <p:nvSpPr>
          <p:cNvPr id="32" name="Shape 30"/>
          <p:cNvSpPr/>
          <p:nvPr/>
        </p:nvSpPr>
        <p:spPr>
          <a:xfrm>
            <a:off x="5029200" y="3456432"/>
            <a:ext cx="3566160" cy="475488"/>
          </a:xfrm>
          <a:prstGeom prst="roundRect">
            <a:avLst>
              <a:gd name="adj" fmla="val 15385"/>
            </a:avLst>
          </a:prstGeom>
          <a:solidFill>
            <a:srgbClr val="0E1C42"/>
          </a:solidFill>
          <a:ln/>
        </p:spPr>
      </p:sp>
      <p:sp>
        <p:nvSpPr>
          <p:cNvPr id="33" name="Text 31"/>
          <p:cNvSpPr/>
          <p:nvPr/>
        </p:nvSpPr>
        <p:spPr>
          <a:xfrm>
            <a:off x="5120640" y="3456432"/>
            <a:ext cx="365760" cy="475488"/>
          </a:xfrm>
          <a:prstGeom prst="rect">
            <a:avLst/>
          </a:prstGeom>
          <a:noFill/>
          <a:ln/>
        </p:spPr>
        <p:txBody>
          <a:bodyPr wrap="square" lIns="0" tIns="0" rIns="0" bIns="0"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5</a:t>
            </a:r>
            <a:endParaRPr lang="en-US" sz="1400" dirty="0"/>
          </a:p>
        </p:txBody>
      </p:sp>
      <p:sp>
        <p:nvSpPr>
          <p:cNvPr id="34" name="Text 32"/>
          <p:cNvSpPr/>
          <p:nvPr/>
        </p:nvSpPr>
        <p:spPr>
          <a:xfrm>
            <a:off x="5532120" y="3456432"/>
            <a:ext cx="128016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Assignment</a:t>
            </a:r>
            <a:endParaRPr lang="en-US" sz="1200" dirty="0"/>
          </a:p>
        </p:txBody>
      </p:sp>
      <p:sp>
        <p:nvSpPr>
          <p:cNvPr id="35" name="Text 33"/>
          <p:cNvSpPr/>
          <p:nvPr/>
        </p:nvSpPr>
        <p:spPr>
          <a:xfrm>
            <a:off x="6858000" y="3456432"/>
            <a:ext cx="1691640" cy="475488"/>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Write your Evidence &amp; Curator Task</a:t>
            </a:r>
            <a:endParaRPr lang="en-US" sz="900" dirty="0"/>
          </a:p>
        </p:txBody>
      </p:sp>
      <p:sp>
        <p:nvSpPr>
          <p:cNvPr id="36" name="Text 34"/>
          <p:cNvSpPr/>
          <p:nvPr/>
        </p:nvSpPr>
        <p:spPr>
          <a:xfrm>
            <a:off x="365760" y="4773168"/>
            <a:ext cx="8412480" cy="2286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You'll Need:  Curator's Notebook  ·  Pencil  ·  Lesson Page</a:t>
            </a:r>
            <a:endParaRPr lang="en-US" sz="900" dirty="0"/>
          </a:p>
        </p:txBody>
      </p:sp>
      <p:sp>
        <p:nvSpPr>
          <p:cNvPr id="37" name="Text 35"/>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3 / 20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CLUE BOX  ·  WHAT DO YOU NOTICE?</a:t>
            </a:r>
            <a:endParaRPr lang="en-US" sz="1100" dirty="0"/>
          </a:p>
        </p:txBody>
      </p:sp>
      <p:sp>
        <p:nvSpPr>
          <p:cNvPr id="4" name="Shape 2"/>
          <p:cNvSpPr/>
          <p:nvPr/>
        </p:nvSpPr>
        <p:spPr>
          <a:xfrm>
            <a:off x="365760" y="804672"/>
            <a:ext cx="4114800" cy="3200400"/>
          </a:xfrm>
          <a:prstGeom prst="roundRect">
            <a:avLst>
              <a:gd name="adj" fmla="val 3429"/>
            </a:avLst>
          </a:prstGeom>
          <a:solidFill>
            <a:srgbClr val="E2E8F4"/>
          </a:solidFill>
          <a:ln w="19050">
            <a:solidFill>
              <a:srgbClr val="B0B8CC"/>
            </a:solidFill>
            <a:prstDash val="dash"/>
          </a:ln>
        </p:spPr>
      </p:sp>
      <p:sp>
        <p:nvSpPr>
          <p:cNvPr id="5" name="Text 3"/>
          <p:cNvSpPr/>
          <p:nvPr/>
        </p:nvSpPr>
        <p:spPr>
          <a:xfrm>
            <a:off x="365760" y="804672"/>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078992"/>
            <a:ext cx="3840480" cy="28346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Simple compass rose showing ONLY the four cardinal directions: N (top), S (bottom), E (right), W (left). The four diagonal positions are blank.</a:t>
            </a:r>
            <a:endParaRPr lang="en-US" sz="1100" dirty="0"/>
          </a:p>
        </p:txBody>
      </p:sp>
      <p:sp>
        <p:nvSpPr>
          <p:cNvPr id="7" name="Text 5"/>
          <p:cNvSpPr/>
          <p:nvPr/>
        </p:nvSpPr>
        <p:spPr>
          <a:xfrm>
            <a:off x="4663440" y="822960"/>
            <a:ext cx="4114800" cy="45720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Study this compass rose.</a:t>
            </a:r>
            <a:endParaRPr lang="en-US" sz="2000" dirty="0"/>
          </a:p>
        </p:txBody>
      </p:sp>
      <p:sp>
        <p:nvSpPr>
          <p:cNvPr id="8" name="Text 6"/>
          <p:cNvSpPr/>
          <p:nvPr/>
        </p:nvSpPr>
        <p:spPr>
          <a:xfrm>
            <a:off x="4663440" y="1371600"/>
            <a:ext cx="4114800" cy="36576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5 seconds of quiet thinking — then respond in the chat.</a:t>
            </a:r>
            <a:endParaRPr lang="en-US" sz="1200" dirty="0"/>
          </a:p>
        </p:txBody>
      </p:sp>
      <p:sp>
        <p:nvSpPr>
          <p:cNvPr id="9" name="Shape 7"/>
          <p:cNvSpPr/>
          <p:nvPr/>
        </p:nvSpPr>
        <p:spPr>
          <a:xfrm>
            <a:off x="4663440" y="1828800"/>
            <a:ext cx="4114800" cy="594360"/>
          </a:xfrm>
          <a:prstGeom prst="roundRect">
            <a:avLst>
              <a:gd name="adj" fmla="val 15385"/>
            </a:avLst>
          </a:prstGeom>
          <a:solidFill>
            <a:srgbClr val="F0F2F8"/>
          </a:solidFill>
          <a:ln/>
        </p:spPr>
      </p:sp>
      <p:sp>
        <p:nvSpPr>
          <p:cNvPr id="10" name="Text 8"/>
          <p:cNvSpPr/>
          <p:nvPr/>
        </p:nvSpPr>
        <p:spPr>
          <a:xfrm>
            <a:off x="4800600" y="1874520"/>
            <a:ext cx="3840480" cy="50292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What do you see? What's working on this compass? What might be missing?</a:t>
            </a:r>
            <a:endParaRPr lang="en-US" sz="1300" dirty="0"/>
          </a:p>
        </p:txBody>
      </p:sp>
      <p:sp>
        <p:nvSpPr>
          <p:cNvPr id="11" name="Shape 9"/>
          <p:cNvSpPr/>
          <p:nvPr/>
        </p:nvSpPr>
        <p:spPr>
          <a:xfrm>
            <a:off x="4663440" y="2542032"/>
            <a:ext cx="4114800" cy="1463040"/>
          </a:xfrm>
          <a:prstGeom prst="roundRect">
            <a:avLst>
              <a:gd name="adj" fmla="val 7500"/>
            </a:avLst>
          </a:prstGeom>
          <a:solidFill>
            <a:srgbClr val="FFF3DC"/>
          </a:solidFill>
          <a:ln w="19050">
            <a:solidFill>
              <a:srgbClr val="F5E6C8"/>
            </a:solidFill>
            <a:prstDash val="solid"/>
          </a:ln>
        </p:spPr>
      </p:sp>
      <p:sp>
        <p:nvSpPr>
          <p:cNvPr id="12" name="Text 10"/>
          <p:cNvSpPr/>
          <p:nvPr/>
        </p:nvSpPr>
        <p:spPr>
          <a:xfrm>
            <a:off x="4800600" y="2596896"/>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4800600" y="2798064"/>
            <a:ext cx="3840480" cy="1143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something is missing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compass could help you find... but not..."</a:t>
            </a:r>
            <a:endParaRPr lang="en-US" sz="1200" dirty="0"/>
          </a:p>
        </p:txBody>
      </p:sp>
      <p:sp>
        <p:nvSpPr>
          <p:cNvPr id="14" name="Text 12"/>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4 / 20</a:t>
            </a:r>
            <a:endParaRPr lang="en-US" sz="800" dirty="0"/>
          </a:p>
        </p:txBody>
      </p:sp>
      <p:sp>
        <p:nvSpPr>
          <p:cNvPr id="15" name="Text 13"/>
          <p:cNvSpPr/>
          <p:nvPr/>
        </p:nvSpPr>
        <p:spPr>
          <a:xfrm>
            <a:off x="182880" y="4846320"/>
            <a:ext cx="4572000" cy="164592"/>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3.03.02  Cardinal &amp; Intermediate Directions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INVESTIGATION  ·  WHAT'S MISSING FROM THIS COMPASS?</a:t>
            </a:r>
            <a:endParaRPr lang="en-US" sz="1100" dirty="0"/>
          </a:p>
        </p:txBody>
      </p:sp>
      <p:sp>
        <p:nvSpPr>
          <p:cNvPr id="4" name="Text 2"/>
          <p:cNvSpPr/>
          <p:nvPr/>
        </p:nvSpPr>
        <p:spPr>
          <a:xfrm>
            <a:off x="365760" y="822960"/>
            <a:ext cx="8412480" cy="548640"/>
          </a:xfrm>
          <a:prstGeom prst="rect">
            <a:avLst/>
          </a:prstGeom>
          <a:noFill/>
          <a:ln/>
        </p:spPr>
        <p:txBody>
          <a:bodyPr wrap="square" lIns="0" tIns="0" rIns="0" bIns="0" rtlCol="0" anchor="ctr"/>
          <a:lstStyle/>
          <a:p>
            <a:pPr algn="ctr" indent="0" marL="0">
              <a:buNone/>
            </a:pPr>
            <a:r>
              <a:rPr lang="en-US" sz="2600" b="1" dirty="0">
                <a:solidFill>
                  <a:srgbClr val="0E1C42"/>
                </a:solidFill>
                <a:latin typeface="Cambria" pitchFamily="34" charset="0"/>
                <a:ea typeface="Cambria" pitchFamily="34" charset="-122"/>
                <a:cs typeface="Cambria" pitchFamily="34" charset="-120"/>
              </a:rPr>
              <a:t>Can this compass get you to the gift shop?</a:t>
            </a:r>
            <a:endParaRPr lang="en-US" sz="2600" dirty="0"/>
          </a:p>
        </p:txBody>
      </p:sp>
      <p:sp>
        <p:nvSpPr>
          <p:cNvPr id="5" name="Shape 3"/>
          <p:cNvSpPr/>
          <p:nvPr/>
        </p:nvSpPr>
        <p:spPr>
          <a:xfrm>
            <a:off x="365760" y="1481328"/>
            <a:ext cx="8412480" cy="731520"/>
          </a:xfrm>
          <a:prstGeom prst="roundRect">
            <a:avLst>
              <a:gd name="adj" fmla="val 15000"/>
            </a:avLst>
          </a:prstGeom>
          <a:solidFill>
            <a:srgbClr val="EAF8FD"/>
          </a:solidFill>
          <a:ln w="19050">
            <a:solidFill>
              <a:srgbClr val="55C8E8"/>
            </a:solidFill>
            <a:prstDash val="solid"/>
          </a:ln>
        </p:spPr>
      </p:sp>
      <p:sp>
        <p:nvSpPr>
          <p:cNvPr id="6" name="Text 4"/>
          <p:cNvSpPr/>
          <p:nvPr/>
        </p:nvSpPr>
        <p:spPr>
          <a:xfrm>
            <a:off x="548640" y="1536192"/>
            <a:ext cx="8046720" cy="603504"/>
          </a:xfrm>
          <a:prstGeom prst="rect">
            <a:avLst/>
          </a:prstGeom>
          <a:noFill/>
          <a:ln/>
        </p:spPr>
        <p:txBody>
          <a:bodyPr wrap="square" lIns="0" tIns="0" rIns="0" bIns="0"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Imagine: the gift shop is not exactly north and not exactly east. It's somewhere in between. A visitor asks you which way to go. You look at the compass... it only shows N, S, E, and W.</a:t>
            </a:r>
            <a:endParaRPr lang="en-US" sz="1300" dirty="0"/>
          </a:p>
        </p:txBody>
      </p:sp>
      <p:sp>
        <p:nvSpPr>
          <p:cNvPr id="7" name="Text 5"/>
          <p:cNvSpPr/>
          <p:nvPr/>
        </p:nvSpPr>
        <p:spPr>
          <a:xfrm>
            <a:off x="365760" y="2377440"/>
            <a:ext cx="8412480" cy="365760"/>
          </a:xfrm>
          <a:prstGeom prst="rect">
            <a:avLst/>
          </a:prstGeom>
          <a:noFill/>
          <a:ln/>
        </p:spPr>
        <p:txBody>
          <a:bodyPr wrap="square" lIns="0" tIns="0" rIns="0" bIns="0" rtlCol="0" anchor="ctr"/>
          <a:lstStyle/>
          <a:p>
            <a:pPr algn="ctr" indent="0" marL="0">
              <a:buNone/>
            </a:pPr>
            <a:r>
              <a:rPr lang="en-US" sz="1500" b="1" dirty="0">
                <a:solidFill>
                  <a:srgbClr val="D4943A"/>
                </a:solidFill>
                <a:latin typeface="Cambria" pitchFamily="34" charset="0"/>
                <a:ea typeface="Cambria" pitchFamily="34" charset="-122"/>
                <a:cs typeface="Cambria" pitchFamily="34" charset="-120"/>
              </a:rPr>
              <a:t>Could you give the visitor accurate directions with only four options?</a:t>
            </a:r>
            <a:endParaRPr lang="en-US" sz="1500" dirty="0"/>
          </a:p>
        </p:txBody>
      </p:sp>
      <p:sp>
        <p:nvSpPr>
          <p:cNvPr id="8" name="Shape 6"/>
          <p:cNvSpPr/>
          <p:nvPr/>
        </p:nvSpPr>
        <p:spPr>
          <a:xfrm>
            <a:off x="365760" y="2834640"/>
            <a:ext cx="4389120" cy="1371600"/>
          </a:xfrm>
          <a:prstGeom prst="roundRect">
            <a:avLst>
              <a:gd name="adj" fmla="val 8000"/>
            </a:avLst>
          </a:prstGeom>
          <a:solidFill>
            <a:srgbClr val="FFF3DC"/>
          </a:solidFill>
          <a:ln w="19050">
            <a:solidFill>
              <a:srgbClr val="F5E6C8"/>
            </a:solidFill>
            <a:prstDash val="solid"/>
          </a:ln>
        </p:spPr>
      </p:sp>
      <p:sp>
        <p:nvSpPr>
          <p:cNvPr id="9" name="Text 7"/>
          <p:cNvSpPr/>
          <p:nvPr/>
        </p:nvSpPr>
        <p:spPr>
          <a:xfrm>
            <a:off x="502920" y="2889504"/>
            <a:ext cx="4114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02920" y="3090672"/>
            <a:ext cx="4114800" cy="10515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you could / couldn't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problem with only four directions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"To be more precise, you would need..."</a:t>
            </a:r>
            <a:endParaRPr lang="en-US" sz="1200" dirty="0"/>
          </a:p>
        </p:txBody>
      </p:sp>
      <p:sp>
        <p:nvSpPr>
          <p:cNvPr id="11" name="Shape 9"/>
          <p:cNvSpPr/>
          <p:nvPr/>
        </p:nvSpPr>
        <p:spPr>
          <a:xfrm>
            <a:off x="4937760" y="2834640"/>
            <a:ext cx="3840480" cy="1371600"/>
          </a:xfrm>
          <a:prstGeom prst="roundRect">
            <a:avLst>
              <a:gd name="adj" fmla="val 10000"/>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5120640" y="2926080"/>
            <a:ext cx="3474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5120640" y="3182112"/>
            <a:ext cx="3474720" cy="9326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tell the visitor if the shop is in a corner?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'kind of north' a helpful direction?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word describes something between two things?</a:t>
            </a:r>
            <a:endParaRPr lang="en-US" sz="1100" dirty="0"/>
          </a:p>
        </p:txBody>
      </p:sp>
      <p:sp>
        <p:nvSpPr>
          <p:cNvPr id="14" name="Text 12"/>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5 / 20</a:t>
            </a:r>
            <a:endParaRPr lang="en-US" sz="800" dirty="0"/>
          </a:p>
        </p:txBody>
      </p:sp>
      <p:sp>
        <p:nvSpPr>
          <p:cNvPr id="15" name="Text 13"/>
          <p:cNvSpPr/>
          <p:nvPr/>
        </p:nvSpPr>
        <p:spPr>
          <a:xfrm>
            <a:off x="182880" y="4846320"/>
            <a:ext cx="4572000" cy="164592"/>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3.03.02  Cardinal &amp; Intermediate Directions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65760" y="256032"/>
            <a:ext cx="2560320" cy="310896"/>
          </a:xfrm>
          <a:prstGeom prst="roundRect">
            <a:avLst>
              <a:gd name="adj" fmla="val 23529"/>
            </a:avLst>
          </a:prstGeom>
          <a:solidFill>
            <a:srgbClr val="1A8A7D"/>
          </a:solidFill>
          <a:ln/>
        </p:spPr>
      </p:sp>
      <p:sp>
        <p:nvSpPr>
          <p:cNvPr id="5" name="Text 3"/>
          <p:cNvSpPr/>
          <p:nvPr/>
        </p:nvSpPr>
        <p:spPr>
          <a:xfrm>
            <a:off x="365760" y="256032"/>
            <a:ext cx="2560320" cy="310896"/>
          </a:xfrm>
          <a:prstGeom prst="rect">
            <a:avLst/>
          </a:prstGeom>
          <a:noFill/>
          <a:ln/>
        </p:spPr>
        <p:txBody>
          <a:bodyPr wrap="square" lIns="0" tIns="0" rIns="0" bIns="0" rtlCol="0" anchor="ctr"/>
          <a:lstStyle/>
          <a:p>
            <a:pPr algn="ctr" indent="0" marL="0">
              <a:buNone/>
            </a:pPr>
            <a:r>
              <a:rPr lang="en-US" sz="900" b="1" spc="150" kern="0" dirty="0">
                <a:solidFill>
                  <a:srgbClr val="A0E8DA"/>
                </a:solidFill>
                <a:latin typeface="Calibri" pitchFamily="34" charset="0"/>
                <a:ea typeface="Calibri" pitchFamily="34" charset="-122"/>
                <a:cs typeface="Calibri" pitchFamily="34" charset="-120"/>
              </a:rPr>
              <a:t>CONCEPT UNLOCKED</a:t>
            </a:r>
            <a:endParaRPr lang="en-US" sz="900" dirty="0"/>
          </a:p>
        </p:txBody>
      </p:sp>
      <p:sp>
        <p:nvSpPr>
          <p:cNvPr id="6" name="Text 4"/>
          <p:cNvSpPr/>
          <p:nvPr/>
        </p:nvSpPr>
        <p:spPr>
          <a:xfrm>
            <a:off x="365760" y="685800"/>
            <a:ext cx="5943600" cy="594360"/>
          </a:xfrm>
          <a:prstGeom prst="rect">
            <a:avLst/>
          </a:prstGeom>
          <a:noFill/>
          <a:ln/>
        </p:spPr>
        <p:txBody>
          <a:bodyPr wrap="square" lIns="0" tIns="0" rIns="0" bIns="0" rtlCol="0" anchor="ctr"/>
          <a:lstStyle/>
          <a:p>
            <a:pPr indent="0" marL="0">
              <a:buNone/>
            </a:pPr>
            <a:r>
              <a:rPr lang="en-US" sz="3200" b="1" dirty="0">
                <a:solidFill>
                  <a:srgbClr val="D4943A"/>
                </a:solidFill>
                <a:latin typeface="Cambria" pitchFamily="34" charset="0"/>
                <a:ea typeface="Cambria" pitchFamily="34" charset="-122"/>
                <a:cs typeface="Cambria" pitchFamily="34" charset="-120"/>
              </a:rPr>
              <a:t>Cardinal Directions</a:t>
            </a:r>
            <a:endParaRPr lang="en-US" sz="3200" dirty="0"/>
          </a:p>
        </p:txBody>
      </p:sp>
      <p:sp>
        <p:nvSpPr>
          <p:cNvPr id="7" name="Shape 5"/>
          <p:cNvSpPr/>
          <p:nvPr/>
        </p:nvSpPr>
        <p:spPr>
          <a:xfrm>
            <a:off x="365760" y="1389888"/>
            <a:ext cx="5669280" cy="685800"/>
          </a:xfrm>
          <a:prstGeom prst="roundRect">
            <a:avLst>
              <a:gd name="adj" fmla="val 13333"/>
            </a:avLst>
          </a:prstGeom>
          <a:solidFill>
            <a:srgbClr val="1A2D5A"/>
          </a:solidFill>
          <a:ln/>
        </p:spPr>
      </p:sp>
      <p:sp>
        <p:nvSpPr>
          <p:cNvPr id="8" name="Text 6"/>
          <p:cNvSpPr/>
          <p:nvPr/>
        </p:nvSpPr>
        <p:spPr>
          <a:xfrm>
            <a:off x="548640" y="1426464"/>
            <a:ext cx="5303520" cy="56692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Cardinal directions are the four MAIN compass directions:</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North  ·  South  ·  East  ·  West</a:t>
            </a:r>
            <a:endParaRPr lang="en-US" sz="1400" dirty="0"/>
          </a:p>
        </p:txBody>
      </p:sp>
      <p:sp>
        <p:nvSpPr>
          <p:cNvPr id="9" name="Shape 7"/>
          <p:cNvSpPr/>
          <p:nvPr/>
        </p:nvSpPr>
        <p:spPr>
          <a:xfrm>
            <a:off x="365760" y="2212848"/>
            <a:ext cx="1261872" cy="1280160"/>
          </a:xfrm>
          <a:prstGeom prst="roundRect">
            <a:avLst>
              <a:gd name="adj" fmla="val 7246"/>
            </a:avLst>
          </a:prstGeom>
          <a:solidFill>
            <a:srgbClr val="1A8A7D"/>
          </a:solidFill>
          <a:ln/>
        </p:spPr>
      </p:sp>
      <p:sp>
        <p:nvSpPr>
          <p:cNvPr id="10" name="Text 8"/>
          <p:cNvSpPr/>
          <p:nvPr/>
        </p:nvSpPr>
        <p:spPr>
          <a:xfrm>
            <a:off x="365760" y="2286000"/>
            <a:ext cx="1261872"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N</a:t>
            </a:r>
            <a:endParaRPr lang="en-US" sz="2800" dirty="0"/>
          </a:p>
        </p:txBody>
      </p:sp>
      <p:sp>
        <p:nvSpPr>
          <p:cNvPr id="11" name="Text 9"/>
          <p:cNvSpPr/>
          <p:nvPr/>
        </p:nvSpPr>
        <p:spPr>
          <a:xfrm>
            <a:off x="365760" y="2798064"/>
            <a:ext cx="1261872" cy="274320"/>
          </a:xfrm>
          <a:prstGeom prst="rect">
            <a:avLst/>
          </a:prstGeom>
          <a:noFill/>
          <a:ln/>
        </p:spPr>
        <p:txBody>
          <a:bodyPr wrap="square" lIns="0" tIns="0" rIns="0" bIns="0" rtlCol="0" anchor="ctr"/>
          <a:lstStyle/>
          <a:p>
            <a:pPr algn="ctr" indent="0" marL="0">
              <a:buNone/>
            </a:pPr>
            <a:r>
              <a:rPr lang="en-US" sz="1200" b="1" dirty="0">
                <a:solidFill>
                  <a:srgbClr val="A0E8DA"/>
                </a:solidFill>
                <a:latin typeface="Calibri" pitchFamily="34" charset="0"/>
                <a:ea typeface="Calibri" pitchFamily="34" charset="-122"/>
                <a:cs typeface="Calibri" pitchFamily="34" charset="-120"/>
              </a:rPr>
              <a:t>North</a:t>
            </a:r>
            <a:endParaRPr lang="en-US" sz="1200" dirty="0"/>
          </a:p>
        </p:txBody>
      </p:sp>
      <p:sp>
        <p:nvSpPr>
          <p:cNvPr id="12" name="Text 10"/>
          <p:cNvSpPr/>
          <p:nvPr/>
        </p:nvSpPr>
        <p:spPr>
          <a:xfrm>
            <a:off x="438912" y="3090672"/>
            <a:ext cx="1115568" cy="329184"/>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Top of a map</a:t>
            </a:r>
            <a:endParaRPr lang="en-US" sz="900" dirty="0"/>
          </a:p>
        </p:txBody>
      </p:sp>
      <p:sp>
        <p:nvSpPr>
          <p:cNvPr id="13" name="Shape 11"/>
          <p:cNvSpPr/>
          <p:nvPr/>
        </p:nvSpPr>
        <p:spPr>
          <a:xfrm>
            <a:off x="1783080" y="2212848"/>
            <a:ext cx="1261872" cy="1280160"/>
          </a:xfrm>
          <a:prstGeom prst="roundRect">
            <a:avLst>
              <a:gd name="adj" fmla="val 7246"/>
            </a:avLst>
          </a:prstGeom>
          <a:solidFill>
            <a:srgbClr val="1A8A7D"/>
          </a:solidFill>
          <a:ln/>
        </p:spPr>
      </p:sp>
      <p:sp>
        <p:nvSpPr>
          <p:cNvPr id="14" name="Text 12"/>
          <p:cNvSpPr/>
          <p:nvPr/>
        </p:nvSpPr>
        <p:spPr>
          <a:xfrm>
            <a:off x="1783080" y="2286000"/>
            <a:ext cx="1261872"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S</a:t>
            </a:r>
            <a:endParaRPr lang="en-US" sz="2800" dirty="0"/>
          </a:p>
        </p:txBody>
      </p:sp>
      <p:sp>
        <p:nvSpPr>
          <p:cNvPr id="15" name="Text 13"/>
          <p:cNvSpPr/>
          <p:nvPr/>
        </p:nvSpPr>
        <p:spPr>
          <a:xfrm>
            <a:off x="1783080" y="2798064"/>
            <a:ext cx="1261872" cy="274320"/>
          </a:xfrm>
          <a:prstGeom prst="rect">
            <a:avLst/>
          </a:prstGeom>
          <a:noFill/>
          <a:ln/>
        </p:spPr>
        <p:txBody>
          <a:bodyPr wrap="square" lIns="0" tIns="0" rIns="0" bIns="0" rtlCol="0" anchor="ctr"/>
          <a:lstStyle/>
          <a:p>
            <a:pPr algn="ctr" indent="0" marL="0">
              <a:buNone/>
            </a:pPr>
            <a:r>
              <a:rPr lang="en-US" sz="1200" b="1" dirty="0">
                <a:solidFill>
                  <a:srgbClr val="A0E8DA"/>
                </a:solidFill>
                <a:latin typeface="Calibri" pitchFamily="34" charset="0"/>
                <a:ea typeface="Calibri" pitchFamily="34" charset="-122"/>
                <a:cs typeface="Calibri" pitchFamily="34" charset="-120"/>
              </a:rPr>
              <a:t>South</a:t>
            </a:r>
            <a:endParaRPr lang="en-US" sz="1200" dirty="0"/>
          </a:p>
        </p:txBody>
      </p:sp>
      <p:sp>
        <p:nvSpPr>
          <p:cNvPr id="16" name="Text 14"/>
          <p:cNvSpPr/>
          <p:nvPr/>
        </p:nvSpPr>
        <p:spPr>
          <a:xfrm>
            <a:off x="1856232" y="3090672"/>
            <a:ext cx="1115568" cy="329184"/>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Bottom of a map</a:t>
            </a:r>
            <a:endParaRPr lang="en-US" sz="900" dirty="0"/>
          </a:p>
        </p:txBody>
      </p:sp>
      <p:sp>
        <p:nvSpPr>
          <p:cNvPr id="17" name="Shape 15"/>
          <p:cNvSpPr/>
          <p:nvPr/>
        </p:nvSpPr>
        <p:spPr>
          <a:xfrm>
            <a:off x="3200400" y="2212848"/>
            <a:ext cx="1261872" cy="1280160"/>
          </a:xfrm>
          <a:prstGeom prst="roundRect">
            <a:avLst>
              <a:gd name="adj" fmla="val 7246"/>
            </a:avLst>
          </a:prstGeom>
          <a:solidFill>
            <a:srgbClr val="1A8A7D"/>
          </a:solidFill>
          <a:ln/>
        </p:spPr>
      </p:sp>
      <p:sp>
        <p:nvSpPr>
          <p:cNvPr id="18" name="Text 16"/>
          <p:cNvSpPr/>
          <p:nvPr/>
        </p:nvSpPr>
        <p:spPr>
          <a:xfrm>
            <a:off x="3200400" y="2286000"/>
            <a:ext cx="1261872"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E</a:t>
            </a:r>
            <a:endParaRPr lang="en-US" sz="2800" dirty="0"/>
          </a:p>
        </p:txBody>
      </p:sp>
      <p:sp>
        <p:nvSpPr>
          <p:cNvPr id="19" name="Text 17"/>
          <p:cNvSpPr/>
          <p:nvPr/>
        </p:nvSpPr>
        <p:spPr>
          <a:xfrm>
            <a:off x="3200400" y="2798064"/>
            <a:ext cx="1261872" cy="274320"/>
          </a:xfrm>
          <a:prstGeom prst="rect">
            <a:avLst/>
          </a:prstGeom>
          <a:noFill/>
          <a:ln/>
        </p:spPr>
        <p:txBody>
          <a:bodyPr wrap="square" lIns="0" tIns="0" rIns="0" bIns="0" rtlCol="0" anchor="ctr"/>
          <a:lstStyle/>
          <a:p>
            <a:pPr algn="ctr" indent="0" marL="0">
              <a:buNone/>
            </a:pPr>
            <a:r>
              <a:rPr lang="en-US" sz="1200" b="1" dirty="0">
                <a:solidFill>
                  <a:srgbClr val="A0E8DA"/>
                </a:solidFill>
                <a:latin typeface="Calibri" pitchFamily="34" charset="0"/>
                <a:ea typeface="Calibri" pitchFamily="34" charset="-122"/>
                <a:cs typeface="Calibri" pitchFamily="34" charset="-120"/>
              </a:rPr>
              <a:t>East</a:t>
            </a:r>
            <a:endParaRPr lang="en-US" sz="1200" dirty="0"/>
          </a:p>
        </p:txBody>
      </p:sp>
      <p:sp>
        <p:nvSpPr>
          <p:cNvPr id="20" name="Text 18"/>
          <p:cNvSpPr/>
          <p:nvPr/>
        </p:nvSpPr>
        <p:spPr>
          <a:xfrm>
            <a:off x="3273552" y="3090672"/>
            <a:ext cx="1115568" cy="329184"/>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Right side of a map</a:t>
            </a:r>
            <a:endParaRPr lang="en-US" sz="900" dirty="0"/>
          </a:p>
        </p:txBody>
      </p:sp>
      <p:sp>
        <p:nvSpPr>
          <p:cNvPr id="21" name="Shape 19"/>
          <p:cNvSpPr/>
          <p:nvPr/>
        </p:nvSpPr>
        <p:spPr>
          <a:xfrm>
            <a:off x="4617720" y="2212848"/>
            <a:ext cx="1261872" cy="1280160"/>
          </a:xfrm>
          <a:prstGeom prst="roundRect">
            <a:avLst>
              <a:gd name="adj" fmla="val 7246"/>
            </a:avLst>
          </a:prstGeom>
          <a:solidFill>
            <a:srgbClr val="1A8A7D"/>
          </a:solidFill>
          <a:ln/>
        </p:spPr>
      </p:sp>
      <p:sp>
        <p:nvSpPr>
          <p:cNvPr id="22" name="Text 20"/>
          <p:cNvSpPr/>
          <p:nvPr/>
        </p:nvSpPr>
        <p:spPr>
          <a:xfrm>
            <a:off x="4617720" y="2286000"/>
            <a:ext cx="1261872"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W</a:t>
            </a:r>
            <a:endParaRPr lang="en-US" sz="2800" dirty="0"/>
          </a:p>
        </p:txBody>
      </p:sp>
      <p:sp>
        <p:nvSpPr>
          <p:cNvPr id="23" name="Text 21"/>
          <p:cNvSpPr/>
          <p:nvPr/>
        </p:nvSpPr>
        <p:spPr>
          <a:xfrm>
            <a:off x="4617720" y="2798064"/>
            <a:ext cx="1261872" cy="274320"/>
          </a:xfrm>
          <a:prstGeom prst="rect">
            <a:avLst/>
          </a:prstGeom>
          <a:noFill/>
          <a:ln/>
        </p:spPr>
        <p:txBody>
          <a:bodyPr wrap="square" lIns="0" tIns="0" rIns="0" bIns="0" rtlCol="0" anchor="ctr"/>
          <a:lstStyle/>
          <a:p>
            <a:pPr algn="ctr" indent="0" marL="0">
              <a:buNone/>
            </a:pPr>
            <a:r>
              <a:rPr lang="en-US" sz="1200" b="1" dirty="0">
                <a:solidFill>
                  <a:srgbClr val="A0E8DA"/>
                </a:solidFill>
                <a:latin typeface="Calibri" pitchFamily="34" charset="0"/>
                <a:ea typeface="Calibri" pitchFamily="34" charset="-122"/>
                <a:cs typeface="Calibri" pitchFamily="34" charset="-120"/>
              </a:rPr>
              <a:t>West</a:t>
            </a:r>
            <a:endParaRPr lang="en-US" sz="1200" dirty="0"/>
          </a:p>
        </p:txBody>
      </p:sp>
      <p:sp>
        <p:nvSpPr>
          <p:cNvPr id="24" name="Text 22"/>
          <p:cNvSpPr/>
          <p:nvPr/>
        </p:nvSpPr>
        <p:spPr>
          <a:xfrm>
            <a:off x="4690872" y="3090672"/>
            <a:ext cx="1115568" cy="329184"/>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Left side of a map</a:t>
            </a:r>
            <a:endParaRPr lang="en-US" sz="900" dirty="0"/>
          </a:p>
        </p:txBody>
      </p:sp>
      <p:sp>
        <p:nvSpPr>
          <p:cNvPr id="25" name="Shape 23"/>
          <p:cNvSpPr/>
          <p:nvPr/>
        </p:nvSpPr>
        <p:spPr>
          <a:xfrm>
            <a:off x="365760" y="3621024"/>
            <a:ext cx="5303520" cy="658368"/>
          </a:xfrm>
          <a:prstGeom prst="roundRect">
            <a:avLst>
              <a:gd name="adj" fmla="val 13889"/>
            </a:avLst>
          </a:prstGeom>
          <a:solidFill>
            <a:srgbClr val="0E1C42"/>
          </a:solidFill>
          <a:ln w="19050">
            <a:solidFill>
              <a:srgbClr val="D4943A"/>
            </a:solidFill>
            <a:prstDash val="solid"/>
          </a:ln>
        </p:spPr>
      </p:sp>
      <p:sp>
        <p:nvSpPr>
          <p:cNvPr id="26" name="Text 24"/>
          <p:cNvSpPr/>
          <p:nvPr/>
        </p:nvSpPr>
        <p:spPr>
          <a:xfrm>
            <a:off x="548640" y="3657600"/>
            <a:ext cx="4937760" cy="548640"/>
          </a:xfrm>
          <a:prstGeom prst="rect">
            <a:avLst/>
          </a:prstGeom>
          <a:noFill/>
          <a:ln/>
        </p:spPr>
        <p:txBody>
          <a:bodyPr wrap="square" lIns="0" tIns="0" rIns="0" bIns="0" rtlCol="0" anchor="ctr"/>
          <a:lstStyle/>
          <a:p>
            <a:pPr indent="0" marL="0">
              <a:buNone/>
            </a:pPr>
            <a:r>
              <a:rPr lang="en-US" sz="1200" i="1" dirty="0">
                <a:solidFill>
                  <a:srgbClr val="FFF3DC"/>
                </a:solidFill>
                <a:latin typeface="Calibri" pitchFamily="34" charset="0"/>
                <a:ea typeface="Calibri" pitchFamily="34" charset="-122"/>
                <a:cs typeface="Calibri" pitchFamily="34" charset="-120"/>
              </a:rPr>
              <a:t>Memory Trick:  "Never Eat Soggy Waffles"  =  N · E · S · W  (going clockwise from top)</a:t>
            </a:r>
            <a:endParaRPr lang="en-US" sz="1200" dirty="0"/>
          </a:p>
        </p:txBody>
      </p:sp>
      <p:sp>
        <p:nvSpPr>
          <p:cNvPr id="27" name="Shape 25"/>
          <p:cNvSpPr/>
          <p:nvPr/>
        </p:nvSpPr>
        <p:spPr>
          <a:xfrm>
            <a:off x="6400800" y="868680"/>
            <a:ext cx="2377440" cy="3474720"/>
          </a:xfrm>
          <a:prstGeom prst="roundRect">
            <a:avLst>
              <a:gd name="adj" fmla="val 4615"/>
            </a:avLst>
          </a:prstGeom>
          <a:solidFill>
            <a:srgbClr val="E2E8F4"/>
          </a:solidFill>
          <a:ln w="19050">
            <a:solidFill>
              <a:srgbClr val="B0B8CC"/>
            </a:solidFill>
            <a:prstDash val="dash"/>
          </a:ln>
        </p:spPr>
      </p:sp>
      <p:sp>
        <p:nvSpPr>
          <p:cNvPr id="28" name="Text 26"/>
          <p:cNvSpPr/>
          <p:nvPr/>
        </p:nvSpPr>
        <p:spPr>
          <a:xfrm>
            <a:off x="6400800" y="868680"/>
            <a:ext cx="23774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29" name="Text 27"/>
          <p:cNvSpPr/>
          <p:nvPr/>
        </p:nvSpPr>
        <p:spPr>
          <a:xfrm>
            <a:off x="6537960" y="1143000"/>
            <a:ext cx="2103120" cy="3108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Classic 4-point compass rose, bold N/S/E/W labels, on dark navy — simple, no intermediate directions</a:t>
            </a:r>
            <a:endParaRPr lang="en-US" sz="1100" dirty="0"/>
          </a:p>
        </p:txBody>
      </p:sp>
      <p:sp>
        <p:nvSpPr>
          <p:cNvPr id="30" name="Text 28"/>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6 / 20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CLUE BOX  ·  THE CLOCK COMPASS</a:t>
            </a:r>
            <a:endParaRPr lang="en-US" sz="1100" dirty="0"/>
          </a:p>
        </p:txBody>
      </p:sp>
      <p:sp>
        <p:nvSpPr>
          <p:cNvPr id="4" name="Shape 2"/>
          <p:cNvSpPr/>
          <p:nvPr/>
        </p:nvSpPr>
        <p:spPr>
          <a:xfrm>
            <a:off x="365760" y="804672"/>
            <a:ext cx="4114800" cy="3474720"/>
          </a:xfrm>
          <a:prstGeom prst="roundRect">
            <a:avLst>
              <a:gd name="adj" fmla="val 3158"/>
            </a:avLst>
          </a:prstGeom>
          <a:solidFill>
            <a:srgbClr val="E2E8F4"/>
          </a:solidFill>
          <a:ln w="19050">
            <a:solidFill>
              <a:srgbClr val="B0B8CC"/>
            </a:solidFill>
            <a:prstDash val="dash"/>
          </a:ln>
        </p:spPr>
      </p:sp>
      <p:sp>
        <p:nvSpPr>
          <p:cNvPr id="5" name="Text 3"/>
          <p:cNvSpPr/>
          <p:nvPr/>
        </p:nvSpPr>
        <p:spPr>
          <a:xfrm>
            <a:off x="365760" y="804672"/>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078992"/>
            <a:ext cx="3840480" cy="3108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Side-by-side: clock face (left) with 12/3/6/9 labeled N/E/S/W, and compass rose (right) showing same four positions — diagonal spots empty</a:t>
            </a:r>
            <a:endParaRPr lang="en-US" sz="1100" dirty="0"/>
          </a:p>
        </p:txBody>
      </p:sp>
      <p:sp>
        <p:nvSpPr>
          <p:cNvPr id="7" name="Text 5"/>
          <p:cNvSpPr/>
          <p:nvPr/>
        </p:nvSpPr>
        <p:spPr>
          <a:xfrm>
            <a:off x="4754880" y="841248"/>
            <a:ext cx="4023360" cy="45720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Think of a compass like a clock.</a:t>
            </a:r>
            <a:endParaRPr lang="en-US" sz="2000" dirty="0"/>
          </a:p>
        </p:txBody>
      </p:sp>
      <p:sp>
        <p:nvSpPr>
          <p:cNvPr id="8" name="Shape 6"/>
          <p:cNvSpPr/>
          <p:nvPr/>
        </p:nvSpPr>
        <p:spPr>
          <a:xfrm>
            <a:off x="4754880" y="1389888"/>
            <a:ext cx="4023360" cy="384048"/>
          </a:xfrm>
          <a:prstGeom prst="roundRect">
            <a:avLst>
              <a:gd name="adj" fmla="val 19048"/>
            </a:avLst>
          </a:prstGeom>
          <a:solidFill>
            <a:srgbClr val="F0F2F8"/>
          </a:solidFill>
          <a:ln/>
        </p:spPr>
      </p:sp>
      <p:sp>
        <p:nvSpPr>
          <p:cNvPr id="9" name="Text 7"/>
          <p:cNvSpPr/>
          <p:nvPr/>
        </p:nvSpPr>
        <p:spPr>
          <a:xfrm>
            <a:off x="4937760" y="1389888"/>
            <a:ext cx="3657600" cy="384048"/>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12 o'clock  =  North</a:t>
            </a:r>
            <a:endParaRPr lang="en-US" sz="1300" dirty="0"/>
          </a:p>
        </p:txBody>
      </p:sp>
      <p:sp>
        <p:nvSpPr>
          <p:cNvPr id="10" name="Shape 8"/>
          <p:cNvSpPr/>
          <p:nvPr/>
        </p:nvSpPr>
        <p:spPr>
          <a:xfrm>
            <a:off x="4754880" y="1847088"/>
            <a:ext cx="4023360" cy="384048"/>
          </a:xfrm>
          <a:prstGeom prst="roundRect">
            <a:avLst>
              <a:gd name="adj" fmla="val 19048"/>
            </a:avLst>
          </a:prstGeom>
          <a:solidFill>
            <a:srgbClr val="F0F2F8"/>
          </a:solidFill>
          <a:ln/>
        </p:spPr>
      </p:sp>
      <p:sp>
        <p:nvSpPr>
          <p:cNvPr id="11" name="Text 9"/>
          <p:cNvSpPr/>
          <p:nvPr/>
        </p:nvSpPr>
        <p:spPr>
          <a:xfrm>
            <a:off x="4937760" y="1847088"/>
            <a:ext cx="3657600" cy="384048"/>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 3 o'clock  =  East</a:t>
            </a:r>
            <a:endParaRPr lang="en-US" sz="1300" dirty="0"/>
          </a:p>
        </p:txBody>
      </p:sp>
      <p:sp>
        <p:nvSpPr>
          <p:cNvPr id="12" name="Shape 10"/>
          <p:cNvSpPr/>
          <p:nvPr/>
        </p:nvSpPr>
        <p:spPr>
          <a:xfrm>
            <a:off x="4754880" y="2304288"/>
            <a:ext cx="4023360" cy="384048"/>
          </a:xfrm>
          <a:prstGeom prst="roundRect">
            <a:avLst>
              <a:gd name="adj" fmla="val 19048"/>
            </a:avLst>
          </a:prstGeom>
          <a:solidFill>
            <a:srgbClr val="F0F2F8"/>
          </a:solidFill>
          <a:ln/>
        </p:spPr>
      </p:sp>
      <p:sp>
        <p:nvSpPr>
          <p:cNvPr id="13" name="Text 11"/>
          <p:cNvSpPr/>
          <p:nvPr/>
        </p:nvSpPr>
        <p:spPr>
          <a:xfrm>
            <a:off x="4937760" y="2304288"/>
            <a:ext cx="3657600" cy="384048"/>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 6 o'clock  =  South</a:t>
            </a:r>
            <a:endParaRPr lang="en-US" sz="1300" dirty="0"/>
          </a:p>
        </p:txBody>
      </p:sp>
      <p:sp>
        <p:nvSpPr>
          <p:cNvPr id="14" name="Shape 12"/>
          <p:cNvSpPr/>
          <p:nvPr/>
        </p:nvSpPr>
        <p:spPr>
          <a:xfrm>
            <a:off x="4754880" y="2761488"/>
            <a:ext cx="4023360" cy="384048"/>
          </a:xfrm>
          <a:prstGeom prst="roundRect">
            <a:avLst>
              <a:gd name="adj" fmla="val 19048"/>
            </a:avLst>
          </a:prstGeom>
          <a:solidFill>
            <a:srgbClr val="F0F2F8"/>
          </a:solidFill>
          <a:ln/>
        </p:spPr>
      </p:sp>
      <p:sp>
        <p:nvSpPr>
          <p:cNvPr id="15" name="Text 13"/>
          <p:cNvSpPr/>
          <p:nvPr/>
        </p:nvSpPr>
        <p:spPr>
          <a:xfrm>
            <a:off x="4937760" y="2761488"/>
            <a:ext cx="3657600" cy="384048"/>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 9 o'clock  =  West</a:t>
            </a:r>
            <a:endParaRPr lang="en-US" sz="1300" dirty="0"/>
          </a:p>
        </p:txBody>
      </p:sp>
      <p:sp>
        <p:nvSpPr>
          <p:cNvPr id="16" name="Shape 14"/>
          <p:cNvSpPr/>
          <p:nvPr/>
        </p:nvSpPr>
        <p:spPr>
          <a:xfrm>
            <a:off x="4754880" y="3310128"/>
            <a:ext cx="4023360" cy="777240"/>
          </a:xfrm>
          <a:prstGeom prst="roundRect">
            <a:avLst>
              <a:gd name="adj" fmla="val 11765"/>
            </a:avLst>
          </a:prstGeom>
          <a:solidFill>
            <a:srgbClr val="FFF3DC"/>
          </a:solidFill>
          <a:ln w="19050">
            <a:solidFill>
              <a:srgbClr val="F5E6C8"/>
            </a:solidFill>
            <a:prstDash val="solid"/>
          </a:ln>
        </p:spPr>
      </p:sp>
      <p:sp>
        <p:nvSpPr>
          <p:cNvPr id="17" name="Text 15"/>
          <p:cNvSpPr/>
          <p:nvPr/>
        </p:nvSpPr>
        <p:spPr>
          <a:xfrm>
            <a:off x="4892040" y="3364992"/>
            <a:ext cx="3749040" cy="658368"/>
          </a:xfrm>
          <a:prstGeom prst="rect">
            <a:avLst/>
          </a:prstGeom>
          <a:noFill/>
          <a:ln/>
        </p:spPr>
        <p:txBody>
          <a:bodyPr wrap="square" lIns="0" tIns="0" rIns="0" bIns="0" rtlCol="0" anchor="t"/>
          <a:lstStyle/>
          <a:p>
            <a:pPr indent="0" marL="0">
              <a:buNone/>
            </a:pPr>
            <a:r>
              <a:rPr lang="en-US" sz="1200" i="1" dirty="0">
                <a:solidFill>
                  <a:srgbClr val="5A4A3A"/>
                </a:solidFill>
                <a:latin typeface="Cambria" pitchFamily="34" charset="0"/>
                <a:ea typeface="Cambria" pitchFamily="34" charset="-122"/>
                <a:cs typeface="Cambria" pitchFamily="34" charset="-120"/>
              </a:rPr>
              <a:t>If North is 12 and East is 3 — what time is halfway between them? Where would that direction point on a compass?</a:t>
            </a:r>
            <a:endParaRPr lang="en-US" sz="1200" dirty="0"/>
          </a:p>
        </p:txBody>
      </p:sp>
      <p:sp>
        <p:nvSpPr>
          <p:cNvPr id="18" name="Text 16"/>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7 / 20</a:t>
            </a:r>
            <a:endParaRPr lang="en-US" sz="800" dirty="0"/>
          </a:p>
        </p:txBody>
      </p:sp>
      <p:sp>
        <p:nvSpPr>
          <p:cNvPr id="19" name="Text 17"/>
          <p:cNvSpPr/>
          <p:nvPr/>
        </p:nvSpPr>
        <p:spPr>
          <a:xfrm>
            <a:off x="182880" y="4846320"/>
            <a:ext cx="4572000" cy="164592"/>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3.03.02  Cardinal &amp; Intermediate Directions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DISCOVERY  ·  THE IN-BETWEEN DIRECTIONS</a:t>
            </a:r>
            <a:endParaRPr lang="en-US" sz="1100" dirty="0"/>
          </a:p>
        </p:txBody>
      </p:sp>
      <p:sp>
        <p:nvSpPr>
          <p:cNvPr id="4" name="Text 2"/>
          <p:cNvSpPr/>
          <p:nvPr/>
        </p:nvSpPr>
        <p:spPr>
          <a:xfrm>
            <a:off x="365760" y="822960"/>
            <a:ext cx="8412480" cy="457200"/>
          </a:xfrm>
          <a:prstGeom prst="rect">
            <a:avLst/>
          </a:prstGeom>
          <a:noFill/>
          <a:ln/>
        </p:spPr>
        <p:txBody>
          <a:bodyPr wrap="square" lIns="0" tIns="0" rIns="0" bIns="0" rtlCol="0" anchor="ctr"/>
          <a:lstStyle/>
          <a:p>
            <a:pPr algn="ctr" indent="0" marL="0">
              <a:buNone/>
            </a:pPr>
            <a:r>
              <a:rPr lang="en-US" sz="2200" b="1" dirty="0">
                <a:solidFill>
                  <a:srgbClr val="0E1C42"/>
                </a:solidFill>
                <a:latin typeface="Cambria" pitchFamily="34" charset="0"/>
                <a:ea typeface="Cambria" pitchFamily="34" charset="-122"/>
                <a:cs typeface="Cambria" pitchFamily="34" charset="-120"/>
              </a:rPr>
              <a:t>What do you call a direction that's between North and East?</a:t>
            </a:r>
            <a:endParaRPr lang="en-US" sz="2200" dirty="0"/>
          </a:p>
        </p:txBody>
      </p:sp>
      <p:sp>
        <p:nvSpPr>
          <p:cNvPr id="5" name="Shape 3"/>
          <p:cNvSpPr/>
          <p:nvPr/>
        </p:nvSpPr>
        <p:spPr>
          <a:xfrm>
            <a:off x="365760" y="1417320"/>
            <a:ext cx="8412480" cy="658368"/>
          </a:xfrm>
          <a:prstGeom prst="roundRect">
            <a:avLst>
              <a:gd name="adj" fmla="val 16667"/>
            </a:avLst>
          </a:prstGeom>
          <a:solidFill>
            <a:srgbClr val="E3F8ED"/>
          </a:solidFill>
          <a:ln w="19050">
            <a:solidFill>
              <a:srgbClr val="34B76F"/>
            </a:solidFill>
            <a:prstDash val="solid"/>
          </a:ln>
        </p:spPr>
      </p:sp>
      <p:sp>
        <p:nvSpPr>
          <p:cNvPr id="6" name="Text 4"/>
          <p:cNvSpPr/>
          <p:nvPr/>
        </p:nvSpPr>
        <p:spPr>
          <a:xfrm>
            <a:off x="548640" y="1463040"/>
            <a:ext cx="8046720" cy="521208"/>
          </a:xfrm>
          <a:prstGeom prst="rect">
            <a:avLst/>
          </a:prstGeom>
          <a:noFill/>
          <a:ln/>
        </p:spPr>
        <p:txBody>
          <a:bodyPr wrap="square" lIns="0" tIns="0" rIns="0" bIns="0" rtlCol="0" anchor="ctr"/>
          <a:lstStyle/>
          <a:p>
            <a:pPr algn="ctr" indent="0" marL="0">
              <a:buNone/>
            </a:pPr>
            <a:r>
              <a:rPr lang="en-US" sz="1700" b="1" dirty="0">
                <a:solidFill>
                  <a:srgbClr val="0E1C42"/>
                </a:solidFill>
                <a:latin typeface="Cambria" pitchFamily="34" charset="0"/>
                <a:ea typeface="Cambria" pitchFamily="34" charset="-122"/>
                <a:cs typeface="Cambria" pitchFamily="34" charset="-120"/>
              </a:rPr>
              <a:t>NORTH + EAST  =  NORTHEAST (NE)  ·  It's right between them!</a:t>
            </a:r>
            <a:endParaRPr lang="en-US" sz="1700" dirty="0"/>
          </a:p>
        </p:txBody>
      </p:sp>
      <p:sp>
        <p:nvSpPr>
          <p:cNvPr id="7" name="Shape 5"/>
          <p:cNvSpPr/>
          <p:nvPr/>
        </p:nvSpPr>
        <p:spPr>
          <a:xfrm>
            <a:off x="365760" y="2212848"/>
            <a:ext cx="1920240" cy="1371600"/>
          </a:xfrm>
          <a:prstGeom prst="roundRect">
            <a:avLst>
              <a:gd name="adj" fmla="val 8000"/>
            </a:avLst>
          </a:prstGeom>
          <a:solidFill>
            <a:srgbClr val="1A2D5A"/>
          </a:solidFill>
          <a:ln/>
          <a:effectLst>
            <a:outerShdw sx="100000" sy="100000" kx="0" ky="0" algn="bl" rotWithShape="0" blurRad="76200" dist="25400" dir="8100000">
              <a:srgbClr val="000000">
                <a:alpha val="15000"/>
              </a:srgbClr>
            </a:outerShdw>
          </a:effectLst>
        </p:spPr>
      </p:sp>
      <p:sp>
        <p:nvSpPr>
          <p:cNvPr id="8" name="Text 6"/>
          <p:cNvSpPr/>
          <p:nvPr/>
        </p:nvSpPr>
        <p:spPr>
          <a:xfrm>
            <a:off x="365760" y="2304288"/>
            <a:ext cx="1920240" cy="502920"/>
          </a:xfrm>
          <a:prstGeom prst="rect">
            <a:avLst/>
          </a:prstGeom>
          <a:noFill/>
          <a:ln/>
        </p:spPr>
        <p:txBody>
          <a:bodyPr wrap="square" lIns="0" tIns="0" rIns="0" bIns="0"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NE</a:t>
            </a:r>
            <a:endParaRPr lang="en-US" sz="3000" dirty="0"/>
          </a:p>
        </p:txBody>
      </p:sp>
      <p:sp>
        <p:nvSpPr>
          <p:cNvPr id="9" name="Text 7"/>
          <p:cNvSpPr/>
          <p:nvPr/>
        </p:nvSpPr>
        <p:spPr>
          <a:xfrm>
            <a:off x="365760" y="2816352"/>
            <a:ext cx="192024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Northeast</a:t>
            </a:r>
            <a:endParaRPr lang="en-US" sz="1300" dirty="0"/>
          </a:p>
        </p:txBody>
      </p:sp>
      <p:sp>
        <p:nvSpPr>
          <p:cNvPr id="10" name="Text 8"/>
          <p:cNvSpPr/>
          <p:nvPr/>
        </p:nvSpPr>
        <p:spPr>
          <a:xfrm>
            <a:off x="457200" y="3108960"/>
            <a:ext cx="1737360" cy="411480"/>
          </a:xfrm>
          <a:prstGeom prst="rect">
            <a:avLst/>
          </a:prstGeom>
          <a:noFill/>
          <a:ln/>
        </p:spPr>
        <p:txBody>
          <a:bodyPr wrap="square" lIns="0" tIns="0" rIns="0" bIns="0"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between North &amp; East</a:t>
            </a:r>
            <a:endParaRPr lang="en-US" sz="900" dirty="0"/>
          </a:p>
        </p:txBody>
      </p:sp>
      <p:sp>
        <p:nvSpPr>
          <p:cNvPr id="11" name="Shape 9"/>
          <p:cNvSpPr/>
          <p:nvPr/>
        </p:nvSpPr>
        <p:spPr>
          <a:xfrm>
            <a:off x="2468880" y="2212848"/>
            <a:ext cx="1920240" cy="1371600"/>
          </a:xfrm>
          <a:prstGeom prst="roundRect">
            <a:avLst>
              <a:gd name="adj" fmla="val 8000"/>
            </a:avLst>
          </a:prstGeom>
          <a:solidFill>
            <a:srgbClr val="1A2D5A"/>
          </a:solidFill>
          <a:ln/>
          <a:effectLst>
            <a:outerShdw sx="100000" sy="100000" kx="0" ky="0" algn="bl" rotWithShape="0" blurRad="76200" dist="25400" dir="8100000">
              <a:srgbClr val="000000">
                <a:alpha val="15000"/>
              </a:srgbClr>
            </a:outerShdw>
          </a:effectLst>
        </p:spPr>
      </p:sp>
      <p:sp>
        <p:nvSpPr>
          <p:cNvPr id="12" name="Text 10"/>
          <p:cNvSpPr/>
          <p:nvPr/>
        </p:nvSpPr>
        <p:spPr>
          <a:xfrm>
            <a:off x="2468880" y="2304288"/>
            <a:ext cx="1920240" cy="502920"/>
          </a:xfrm>
          <a:prstGeom prst="rect">
            <a:avLst/>
          </a:prstGeom>
          <a:noFill/>
          <a:ln/>
        </p:spPr>
        <p:txBody>
          <a:bodyPr wrap="square" lIns="0" tIns="0" rIns="0" bIns="0"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NW</a:t>
            </a:r>
            <a:endParaRPr lang="en-US" sz="3000" dirty="0"/>
          </a:p>
        </p:txBody>
      </p:sp>
      <p:sp>
        <p:nvSpPr>
          <p:cNvPr id="13" name="Text 11"/>
          <p:cNvSpPr/>
          <p:nvPr/>
        </p:nvSpPr>
        <p:spPr>
          <a:xfrm>
            <a:off x="2468880" y="2816352"/>
            <a:ext cx="192024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Northwest</a:t>
            </a:r>
            <a:endParaRPr lang="en-US" sz="1300" dirty="0"/>
          </a:p>
        </p:txBody>
      </p:sp>
      <p:sp>
        <p:nvSpPr>
          <p:cNvPr id="14" name="Text 12"/>
          <p:cNvSpPr/>
          <p:nvPr/>
        </p:nvSpPr>
        <p:spPr>
          <a:xfrm>
            <a:off x="2560320" y="3108960"/>
            <a:ext cx="1737360" cy="411480"/>
          </a:xfrm>
          <a:prstGeom prst="rect">
            <a:avLst/>
          </a:prstGeom>
          <a:noFill/>
          <a:ln/>
        </p:spPr>
        <p:txBody>
          <a:bodyPr wrap="square" lIns="0" tIns="0" rIns="0" bIns="0"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between North &amp; West</a:t>
            </a:r>
            <a:endParaRPr lang="en-US" sz="900" dirty="0"/>
          </a:p>
        </p:txBody>
      </p:sp>
      <p:sp>
        <p:nvSpPr>
          <p:cNvPr id="15" name="Shape 13"/>
          <p:cNvSpPr/>
          <p:nvPr/>
        </p:nvSpPr>
        <p:spPr>
          <a:xfrm>
            <a:off x="4572000" y="2212848"/>
            <a:ext cx="1920240" cy="1371600"/>
          </a:xfrm>
          <a:prstGeom prst="roundRect">
            <a:avLst>
              <a:gd name="adj" fmla="val 8000"/>
            </a:avLst>
          </a:prstGeom>
          <a:solidFill>
            <a:srgbClr val="1A2D5A"/>
          </a:solidFill>
          <a:ln/>
          <a:effectLst>
            <a:outerShdw sx="100000" sy="100000" kx="0" ky="0" algn="bl" rotWithShape="0" blurRad="76200" dist="25400" dir="8100000">
              <a:srgbClr val="000000">
                <a:alpha val="15000"/>
              </a:srgbClr>
            </a:outerShdw>
          </a:effectLst>
        </p:spPr>
      </p:sp>
      <p:sp>
        <p:nvSpPr>
          <p:cNvPr id="16" name="Text 14"/>
          <p:cNvSpPr/>
          <p:nvPr/>
        </p:nvSpPr>
        <p:spPr>
          <a:xfrm>
            <a:off x="4572000" y="2304288"/>
            <a:ext cx="1920240" cy="502920"/>
          </a:xfrm>
          <a:prstGeom prst="rect">
            <a:avLst/>
          </a:prstGeom>
          <a:noFill/>
          <a:ln/>
        </p:spPr>
        <p:txBody>
          <a:bodyPr wrap="square" lIns="0" tIns="0" rIns="0" bIns="0"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SE</a:t>
            </a:r>
            <a:endParaRPr lang="en-US" sz="3000" dirty="0"/>
          </a:p>
        </p:txBody>
      </p:sp>
      <p:sp>
        <p:nvSpPr>
          <p:cNvPr id="17" name="Text 15"/>
          <p:cNvSpPr/>
          <p:nvPr/>
        </p:nvSpPr>
        <p:spPr>
          <a:xfrm>
            <a:off x="4572000" y="2816352"/>
            <a:ext cx="192024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Southeast</a:t>
            </a:r>
            <a:endParaRPr lang="en-US" sz="1300" dirty="0"/>
          </a:p>
        </p:txBody>
      </p:sp>
      <p:sp>
        <p:nvSpPr>
          <p:cNvPr id="18" name="Text 16"/>
          <p:cNvSpPr/>
          <p:nvPr/>
        </p:nvSpPr>
        <p:spPr>
          <a:xfrm>
            <a:off x="4663440" y="3108960"/>
            <a:ext cx="1737360" cy="411480"/>
          </a:xfrm>
          <a:prstGeom prst="rect">
            <a:avLst/>
          </a:prstGeom>
          <a:noFill/>
          <a:ln/>
        </p:spPr>
        <p:txBody>
          <a:bodyPr wrap="square" lIns="0" tIns="0" rIns="0" bIns="0"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between South &amp; East</a:t>
            </a:r>
            <a:endParaRPr lang="en-US" sz="900" dirty="0"/>
          </a:p>
        </p:txBody>
      </p:sp>
      <p:sp>
        <p:nvSpPr>
          <p:cNvPr id="19" name="Shape 17"/>
          <p:cNvSpPr/>
          <p:nvPr/>
        </p:nvSpPr>
        <p:spPr>
          <a:xfrm>
            <a:off x="6675120" y="2212848"/>
            <a:ext cx="1920240" cy="1371600"/>
          </a:xfrm>
          <a:prstGeom prst="roundRect">
            <a:avLst>
              <a:gd name="adj" fmla="val 8000"/>
            </a:avLst>
          </a:prstGeom>
          <a:solidFill>
            <a:srgbClr val="1A2D5A"/>
          </a:solidFill>
          <a:ln/>
          <a:effectLst>
            <a:outerShdw sx="100000" sy="100000" kx="0" ky="0" algn="bl" rotWithShape="0" blurRad="76200" dist="25400" dir="8100000">
              <a:srgbClr val="000000">
                <a:alpha val="15000"/>
              </a:srgbClr>
            </a:outerShdw>
          </a:effectLst>
        </p:spPr>
      </p:sp>
      <p:sp>
        <p:nvSpPr>
          <p:cNvPr id="20" name="Text 18"/>
          <p:cNvSpPr/>
          <p:nvPr/>
        </p:nvSpPr>
        <p:spPr>
          <a:xfrm>
            <a:off x="6675120" y="2304288"/>
            <a:ext cx="1920240" cy="502920"/>
          </a:xfrm>
          <a:prstGeom prst="rect">
            <a:avLst/>
          </a:prstGeom>
          <a:noFill/>
          <a:ln/>
        </p:spPr>
        <p:txBody>
          <a:bodyPr wrap="square" lIns="0" tIns="0" rIns="0" bIns="0"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SW</a:t>
            </a:r>
            <a:endParaRPr lang="en-US" sz="3000" dirty="0"/>
          </a:p>
        </p:txBody>
      </p:sp>
      <p:sp>
        <p:nvSpPr>
          <p:cNvPr id="21" name="Text 19"/>
          <p:cNvSpPr/>
          <p:nvPr/>
        </p:nvSpPr>
        <p:spPr>
          <a:xfrm>
            <a:off x="6675120" y="2816352"/>
            <a:ext cx="192024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Southwest</a:t>
            </a:r>
            <a:endParaRPr lang="en-US" sz="1300" dirty="0"/>
          </a:p>
        </p:txBody>
      </p:sp>
      <p:sp>
        <p:nvSpPr>
          <p:cNvPr id="22" name="Text 20"/>
          <p:cNvSpPr/>
          <p:nvPr/>
        </p:nvSpPr>
        <p:spPr>
          <a:xfrm>
            <a:off x="6766560" y="3108960"/>
            <a:ext cx="1737360" cy="411480"/>
          </a:xfrm>
          <a:prstGeom prst="rect">
            <a:avLst/>
          </a:prstGeom>
          <a:noFill/>
          <a:ln/>
        </p:spPr>
        <p:txBody>
          <a:bodyPr wrap="square" lIns="0" tIns="0" rIns="0" bIns="0"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between South &amp; West</a:t>
            </a:r>
            <a:endParaRPr lang="en-US" sz="900" dirty="0"/>
          </a:p>
        </p:txBody>
      </p:sp>
      <p:sp>
        <p:nvSpPr>
          <p:cNvPr id="23" name="Shape 21"/>
          <p:cNvSpPr/>
          <p:nvPr/>
        </p:nvSpPr>
        <p:spPr>
          <a:xfrm>
            <a:off x="365760" y="3712464"/>
            <a:ext cx="8412480" cy="621792"/>
          </a:xfrm>
          <a:prstGeom prst="roundRect">
            <a:avLst>
              <a:gd name="adj" fmla="val 14706"/>
            </a:avLst>
          </a:prstGeom>
          <a:solidFill>
            <a:srgbClr val="FFF3DC"/>
          </a:solidFill>
          <a:ln w="19050">
            <a:solidFill>
              <a:srgbClr val="F5E6C8"/>
            </a:solidFill>
            <a:prstDash val="solid"/>
          </a:ln>
        </p:spPr>
      </p:sp>
      <p:sp>
        <p:nvSpPr>
          <p:cNvPr id="24" name="Text 22"/>
          <p:cNvSpPr/>
          <p:nvPr/>
        </p:nvSpPr>
        <p:spPr>
          <a:xfrm>
            <a:off x="548640" y="3749040"/>
            <a:ext cx="8046720" cy="512064"/>
          </a:xfrm>
          <a:prstGeom prst="rect">
            <a:avLst/>
          </a:prstGeom>
          <a:noFill/>
          <a:ln/>
        </p:spPr>
        <p:txBody>
          <a:bodyPr wrap="square" lIns="0" tIns="0" rIns="0" bIns="0" rtlCol="0" anchor="ctr"/>
          <a:lstStyle/>
          <a:p>
            <a:pPr indent="0" marL="0">
              <a:buNone/>
            </a:pPr>
            <a:r>
              <a:rPr lang="en-US" sz="1300" i="1" dirty="0">
                <a:solidFill>
                  <a:srgbClr val="5A4A3A"/>
                </a:solidFill>
                <a:latin typeface="Calibri" pitchFamily="34" charset="0"/>
                <a:ea typeface="Calibri" pitchFamily="34" charset="-122"/>
                <a:cs typeface="Calibri" pitchFamily="34" charset="-120"/>
              </a:rPr>
              <a:t>Intermediate means 'in between.' These four directions fill the gaps between the four cardinal directions. Together: 8 directions total.</a:t>
            </a:r>
            <a:endParaRPr lang="en-US" sz="1300" dirty="0"/>
          </a:p>
        </p:txBody>
      </p:sp>
      <p:sp>
        <p:nvSpPr>
          <p:cNvPr id="25" name="Text 23"/>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8 / 20</a:t>
            </a:r>
            <a:endParaRPr lang="en-US" sz="800" dirty="0"/>
          </a:p>
        </p:txBody>
      </p:sp>
      <p:sp>
        <p:nvSpPr>
          <p:cNvPr id="26" name="Text 24"/>
          <p:cNvSpPr/>
          <p:nvPr/>
        </p:nvSpPr>
        <p:spPr>
          <a:xfrm>
            <a:off x="182880" y="4846320"/>
            <a:ext cx="4572000" cy="164592"/>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3.03.02  Cardinal &amp; Intermediate Directions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8A7D"/>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COMPASS COMPLETE  ·  ALL 8 DIRECTIONS</a:t>
            </a:r>
            <a:endParaRPr lang="en-US" sz="1100" dirty="0"/>
          </a:p>
        </p:txBody>
      </p:sp>
      <p:sp>
        <p:nvSpPr>
          <p:cNvPr id="4" name="Shape 2"/>
          <p:cNvSpPr/>
          <p:nvPr/>
        </p:nvSpPr>
        <p:spPr>
          <a:xfrm>
            <a:off x="365760" y="804672"/>
            <a:ext cx="4114800" cy="3840480"/>
          </a:xfrm>
          <a:prstGeom prst="roundRect">
            <a:avLst>
              <a:gd name="adj" fmla="val 2857"/>
            </a:avLst>
          </a:prstGeom>
          <a:solidFill>
            <a:srgbClr val="E2E8F4"/>
          </a:solidFill>
          <a:ln w="19050">
            <a:solidFill>
              <a:srgbClr val="B0B8CC"/>
            </a:solidFill>
            <a:prstDash val="dash"/>
          </a:ln>
        </p:spPr>
      </p:sp>
      <p:sp>
        <p:nvSpPr>
          <p:cNvPr id="5" name="Text 3"/>
          <p:cNvSpPr/>
          <p:nvPr/>
        </p:nvSpPr>
        <p:spPr>
          <a:xfrm>
            <a:off x="365760" y="804672"/>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078992"/>
            <a:ext cx="3840480" cy="34747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Full 8-point compass rose with all directions labeled: N (top), NE (upper-right), E (right), SE (lower-right), S (bottom), SW (lower-left), W (left), NW (upper-left). Cardinal directions in bold/larger; intermediate directions slightly smaller.</a:t>
            </a:r>
            <a:endParaRPr lang="en-US" sz="1100" dirty="0"/>
          </a:p>
        </p:txBody>
      </p:sp>
      <p:sp>
        <p:nvSpPr>
          <p:cNvPr id="7" name="Text 5"/>
          <p:cNvSpPr/>
          <p:nvPr/>
        </p:nvSpPr>
        <p:spPr>
          <a:xfrm>
            <a:off x="4754880" y="822960"/>
            <a:ext cx="4023360" cy="384048"/>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The Eight Directions</a:t>
            </a:r>
            <a:endParaRPr lang="en-US" sz="2000" dirty="0"/>
          </a:p>
        </p:txBody>
      </p:sp>
      <p:sp>
        <p:nvSpPr>
          <p:cNvPr id="8" name="Shape 6"/>
          <p:cNvSpPr/>
          <p:nvPr/>
        </p:nvSpPr>
        <p:spPr>
          <a:xfrm>
            <a:off x="4754880" y="1280160"/>
            <a:ext cx="4023360" cy="1417320"/>
          </a:xfrm>
          <a:prstGeom prst="roundRect">
            <a:avLst>
              <a:gd name="adj" fmla="val 6452"/>
            </a:avLst>
          </a:prstGeom>
          <a:solidFill>
            <a:srgbClr val="EAF8FD"/>
          </a:solidFill>
          <a:ln w="19050">
            <a:solidFill>
              <a:srgbClr val="1A8A7D"/>
            </a:solidFill>
            <a:prstDash val="solid"/>
          </a:ln>
        </p:spPr>
      </p:sp>
      <p:sp>
        <p:nvSpPr>
          <p:cNvPr id="9" name="Text 7"/>
          <p:cNvSpPr/>
          <p:nvPr/>
        </p:nvSpPr>
        <p:spPr>
          <a:xfrm>
            <a:off x="4919472" y="1344168"/>
            <a:ext cx="3712464" cy="2286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CARDINAL (main)  ·  4 directions</a:t>
            </a:r>
            <a:endParaRPr lang="en-US" sz="900" dirty="0"/>
          </a:p>
        </p:txBody>
      </p:sp>
      <p:sp>
        <p:nvSpPr>
          <p:cNvPr id="10" name="Text 8"/>
          <p:cNvSpPr/>
          <p:nvPr/>
        </p:nvSpPr>
        <p:spPr>
          <a:xfrm>
            <a:off x="4919472" y="1600200"/>
            <a:ext cx="3712464" cy="25603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North (N)  ·  South (S)  ·  East (E)  ·  West (W)</a:t>
            </a:r>
            <a:endParaRPr lang="en-US" sz="1400" dirty="0"/>
          </a:p>
        </p:txBody>
      </p:sp>
      <p:sp>
        <p:nvSpPr>
          <p:cNvPr id="11" name="Text 9"/>
          <p:cNvSpPr/>
          <p:nvPr/>
        </p:nvSpPr>
        <p:spPr>
          <a:xfrm>
            <a:off x="4919472" y="1901952"/>
            <a:ext cx="3712464" cy="256032"/>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Memory trick: Never Eat Soggy Waffles</a:t>
            </a:r>
            <a:endParaRPr lang="en-US" sz="1100" dirty="0"/>
          </a:p>
        </p:txBody>
      </p:sp>
      <p:sp>
        <p:nvSpPr>
          <p:cNvPr id="12" name="Text 10"/>
          <p:cNvSpPr/>
          <p:nvPr/>
        </p:nvSpPr>
        <p:spPr>
          <a:xfrm>
            <a:off x="4919472" y="2176272"/>
            <a:ext cx="3712464" cy="256032"/>
          </a:xfrm>
          <a:prstGeom prst="rect">
            <a:avLst/>
          </a:prstGeom>
          <a:noFill/>
          <a:ln/>
        </p:spPr>
        <p:txBody>
          <a:bodyPr wrap="square" lIns="0" tIns="0" rIns="0" bIns="0" rtlCol="0" anchor="ctr"/>
          <a:lstStyle/>
          <a:p>
            <a:pPr indent="0" marL="0">
              <a:buNone/>
            </a:pPr>
            <a:r>
              <a:rPr lang="en-US" sz="900" i="1" dirty="0">
                <a:solidFill>
                  <a:srgbClr val="7A88A8"/>
                </a:solidFill>
                <a:latin typeface="Calibri" pitchFamily="34" charset="0"/>
                <a:ea typeface="Calibri" pitchFamily="34" charset="-122"/>
                <a:cs typeface="Calibri" pitchFamily="34" charset="-120"/>
              </a:rPr>
              <a:t>N → E → S → W, clockwise from top</a:t>
            </a:r>
            <a:endParaRPr lang="en-US" sz="900" dirty="0"/>
          </a:p>
        </p:txBody>
      </p:sp>
      <p:sp>
        <p:nvSpPr>
          <p:cNvPr id="13" name="Shape 11"/>
          <p:cNvSpPr/>
          <p:nvPr/>
        </p:nvSpPr>
        <p:spPr>
          <a:xfrm>
            <a:off x="4754880" y="2788920"/>
            <a:ext cx="4023360" cy="1463040"/>
          </a:xfrm>
          <a:prstGeom prst="roundRect">
            <a:avLst>
              <a:gd name="adj" fmla="val 6250"/>
            </a:avLst>
          </a:prstGeom>
          <a:solidFill>
            <a:srgbClr val="F0E8FF"/>
          </a:solidFill>
          <a:ln w="19050">
            <a:solidFill>
              <a:srgbClr val="8B6FC0"/>
            </a:solidFill>
            <a:prstDash val="solid"/>
          </a:ln>
        </p:spPr>
      </p:sp>
      <p:sp>
        <p:nvSpPr>
          <p:cNvPr id="14" name="Text 12"/>
          <p:cNvSpPr/>
          <p:nvPr/>
        </p:nvSpPr>
        <p:spPr>
          <a:xfrm>
            <a:off x="4919472" y="2852928"/>
            <a:ext cx="3712464" cy="228600"/>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INTERMEDIATE (in-between)  ·  4 directions</a:t>
            </a:r>
            <a:endParaRPr lang="en-US" sz="900" dirty="0"/>
          </a:p>
        </p:txBody>
      </p:sp>
      <p:sp>
        <p:nvSpPr>
          <p:cNvPr id="15" name="Text 13"/>
          <p:cNvSpPr/>
          <p:nvPr/>
        </p:nvSpPr>
        <p:spPr>
          <a:xfrm>
            <a:off x="4919472" y="3108960"/>
            <a:ext cx="3712464" cy="27432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NE  ·  NW  ·  SE  ·  SW</a:t>
            </a:r>
            <a:endParaRPr lang="en-US" sz="1600" dirty="0"/>
          </a:p>
        </p:txBody>
      </p:sp>
      <p:sp>
        <p:nvSpPr>
          <p:cNvPr id="16" name="Text 14"/>
          <p:cNvSpPr/>
          <p:nvPr/>
        </p:nvSpPr>
        <p:spPr>
          <a:xfrm>
            <a:off x="4919472" y="3419856"/>
            <a:ext cx="3712464" cy="256032"/>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Northeast  ·  Northwest  ·  Southeast  ·  Southwest</a:t>
            </a:r>
            <a:endParaRPr lang="en-US" sz="1100" dirty="0"/>
          </a:p>
        </p:txBody>
      </p:sp>
      <p:sp>
        <p:nvSpPr>
          <p:cNvPr id="17" name="Text 15"/>
          <p:cNvSpPr/>
          <p:nvPr/>
        </p:nvSpPr>
        <p:spPr>
          <a:xfrm>
            <a:off x="4919472" y="3712464"/>
            <a:ext cx="3712464" cy="365760"/>
          </a:xfrm>
          <a:prstGeom prst="rect">
            <a:avLst/>
          </a:prstGeom>
          <a:noFill/>
          <a:ln/>
        </p:spPr>
        <p:txBody>
          <a:bodyPr wrap="square" lIns="0" tIns="0" rIns="0" bIns="0" rtlCol="0" anchor="ctr"/>
          <a:lstStyle/>
          <a:p>
            <a:pPr indent="0" marL="0">
              <a:buNone/>
            </a:pPr>
            <a:r>
              <a:rPr lang="en-US" sz="1100" i="1" dirty="0">
                <a:solidFill>
                  <a:srgbClr val="8B6FC0"/>
                </a:solidFill>
                <a:latin typeface="Calibri" pitchFamily="34" charset="0"/>
                <a:ea typeface="Calibri" pitchFamily="34" charset="-122"/>
                <a:cs typeface="Calibri" pitchFamily="34" charset="-120"/>
              </a:rPr>
              <a:t>Clockwise order: N, NE, E, SE, S, SW, W, NW</a:t>
            </a:r>
            <a:endParaRPr lang="en-US" sz="1100" dirty="0"/>
          </a:p>
        </p:txBody>
      </p:sp>
      <p:sp>
        <p:nvSpPr>
          <p:cNvPr id="18" name="Shape 16"/>
          <p:cNvSpPr/>
          <p:nvPr/>
        </p:nvSpPr>
        <p:spPr>
          <a:xfrm>
            <a:off x="4754880" y="4315968"/>
            <a:ext cx="4023360" cy="548640"/>
          </a:xfrm>
          <a:prstGeom prst="roundRect">
            <a:avLst>
              <a:gd name="adj" fmla="val 16667"/>
            </a:avLst>
          </a:prstGeom>
          <a:solidFill>
            <a:srgbClr val="0E1C42"/>
          </a:solidFill>
          <a:ln/>
        </p:spPr>
      </p:sp>
      <p:sp>
        <p:nvSpPr>
          <p:cNvPr id="19" name="Text 17"/>
          <p:cNvSpPr/>
          <p:nvPr/>
        </p:nvSpPr>
        <p:spPr>
          <a:xfrm>
            <a:off x="4919472" y="4352544"/>
            <a:ext cx="3712464" cy="438912"/>
          </a:xfrm>
          <a:prstGeom prst="rect">
            <a:avLst/>
          </a:prstGeom>
          <a:noFill/>
          <a:ln/>
        </p:spPr>
        <p:txBody>
          <a:bodyPr wrap="square" lIns="0" tIns="0" rIns="0" bIns="0" rtlCol="0" anchor="ctr"/>
          <a:lstStyle/>
          <a:p>
            <a:pPr algn="ctr" indent="0" marL="0">
              <a:buNone/>
            </a:pPr>
            <a:r>
              <a:rPr lang="en-US" sz="1300" b="1" dirty="0">
                <a:solidFill>
                  <a:srgbClr val="D4943A"/>
                </a:solidFill>
                <a:latin typeface="Cambria" pitchFamily="34" charset="0"/>
                <a:ea typeface="Cambria" pitchFamily="34" charset="-122"/>
                <a:cs typeface="Cambria" pitchFamily="34" charset="-120"/>
              </a:rPr>
              <a:t>4 cardinal  +  4 intermediate  =  8 total directions</a:t>
            </a:r>
            <a:endParaRPr lang="en-US" sz="1300" dirty="0"/>
          </a:p>
        </p:txBody>
      </p:sp>
      <p:sp>
        <p:nvSpPr>
          <p:cNvPr id="20" name="Text 18"/>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9 / 20</a:t>
            </a:r>
            <a:endParaRPr lang="en-US" sz="800" dirty="0"/>
          </a:p>
        </p:txBody>
      </p:sp>
      <p:sp>
        <p:nvSpPr>
          <p:cNvPr id="21" name="Text 19"/>
          <p:cNvSpPr/>
          <p:nvPr/>
        </p:nvSpPr>
        <p:spPr>
          <a:xfrm>
            <a:off x="182880" y="4846320"/>
            <a:ext cx="4572000" cy="164592"/>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3.03.02  Cardinal &amp; Intermediate Directions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MEMORY TOOLS  ·  LOCKING IN ALL EIGHT</a:t>
            </a:r>
            <a:endParaRPr lang="en-US" sz="1100" dirty="0"/>
          </a:p>
        </p:txBody>
      </p:sp>
      <p:sp>
        <p:nvSpPr>
          <p:cNvPr id="4" name="Shape 2"/>
          <p:cNvSpPr/>
          <p:nvPr/>
        </p:nvSpPr>
        <p:spPr>
          <a:xfrm>
            <a:off x="365760" y="804672"/>
            <a:ext cx="5120640" cy="1234440"/>
          </a:xfrm>
          <a:prstGeom prst="roundRect">
            <a:avLst>
              <a:gd name="adj" fmla="val 8889"/>
            </a:avLst>
          </a:prstGeom>
          <a:solidFill>
            <a:srgbClr val="1A2D5A"/>
          </a:solidFill>
          <a:ln/>
        </p:spPr>
      </p:sp>
      <p:sp>
        <p:nvSpPr>
          <p:cNvPr id="5" name="Text 3"/>
          <p:cNvSpPr/>
          <p:nvPr/>
        </p:nvSpPr>
        <p:spPr>
          <a:xfrm>
            <a:off x="548640" y="868680"/>
            <a:ext cx="47548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Cardinal Directions Trick</a:t>
            </a:r>
            <a:endParaRPr lang="en-US" sz="900" dirty="0"/>
          </a:p>
        </p:txBody>
      </p:sp>
      <p:sp>
        <p:nvSpPr>
          <p:cNvPr id="6" name="Text 4"/>
          <p:cNvSpPr/>
          <p:nvPr/>
        </p:nvSpPr>
        <p:spPr>
          <a:xfrm>
            <a:off x="548640" y="1152144"/>
            <a:ext cx="4754880" cy="365760"/>
          </a:xfrm>
          <a:prstGeom prst="rect">
            <a:avLst/>
          </a:prstGeom>
          <a:noFill/>
          <a:ln/>
        </p:spPr>
        <p:txBody>
          <a:bodyPr wrap="square" lIns="0" tIns="0" rIns="0" bIns="0" rtlCol="0" anchor="ctr"/>
          <a:lstStyle/>
          <a:p>
            <a:pPr indent="0" marL="0">
              <a:buNone/>
            </a:pPr>
            <a:r>
              <a:rPr lang="en-US" sz="2000" b="1" dirty="0">
                <a:solidFill>
                  <a:srgbClr val="D4943A"/>
                </a:solidFill>
                <a:latin typeface="Cambria" pitchFamily="34" charset="0"/>
                <a:ea typeface="Cambria" pitchFamily="34" charset="-122"/>
                <a:cs typeface="Cambria" pitchFamily="34" charset="-120"/>
              </a:rPr>
              <a:t>"Never Eat Soggy Waffles"</a:t>
            </a:r>
            <a:endParaRPr lang="en-US" sz="2000" dirty="0"/>
          </a:p>
        </p:txBody>
      </p:sp>
      <p:sp>
        <p:nvSpPr>
          <p:cNvPr id="7" name="Text 5"/>
          <p:cNvSpPr/>
          <p:nvPr/>
        </p:nvSpPr>
        <p:spPr>
          <a:xfrm>
            <a:off x="548640" y="1536192"/>
            <a:ext cx="4754880" cy="42062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N  ·  E  ·  S  ·  W   (clockwise from top)</a:t>
            </a:r>
            <a:endParaRPr lang="en-US" sz="1500" dirty="0"/>
          </a:p>
        </p:txBody>
      </p:sp>
      <p:sp>
        <p:nvSpPr>
          <p:cNvPr id="8" name="Shape 6"/>
          <p:cNvSpPr/>
          <p:nvPr/>
        </p:nvSpPr>
        <p:spPr>
          <a:xfrm>
            <a:off x="365760" y="2121408"/>
            <a:ext cx="5120640" cy="1234440"/>
          </a:xfrm>
          <a:prstGeom prst="roundRect">
            <a:avLst>
              <a:gd name="adj" fmla="val 8889"/>
            </a:avLst>
          </a:prstGeom>
          <a:solidFill>
            <a:srgbClr val="F0E8FF"/>
          </a:solidFill>
          <a:ln w="19050">
            <a:solidFill>
              <a:srgbClr val="8B6FC0"/>
            </a:solidFill>
            <a:prstDash val="solid"/>
          </a:ln>
        </p:spPr>
      </p:sp>
      <p:sp>
        <p:nvSpPr>
          <p:cNvPr id="9" name="Text 7"/>
          <p:cNvSpPr/>
          <p:nvPr/>
        </p:nvSpPr>
        <p:spPr>
          <a:xfrm>
            <a:off x="548640" y="2194560"/>
            <a:ext cx="4754880" cy="2560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All 8 Directions — Clockwise Order</a:t>
            </a:r>
            <a:endParaRPr lang="en-US" sz="900" dirty="0"/>
          </a:p>
        </p:txBody>
      </p:sp>
      <p:sp>
        <p:nvSpPr>
          <p:cNvPr id="10" name="Text 8"/>
          <p:cNvSpPr/>
          <p:nvPr/>
        </p:nvSpPr>
        <p:spPr>
          <a:xfrm>
            <a:off x="548640" y="2487168"/>
            <a:ext cx="4754880" cy="45720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N → NE → E → SE → S → SW → W → NW</a:t>
            </a:r>
            <a:endParaRPr lang="en-US" sz="1600" dirty="0"/>
          </a:p>
        </p:txBody>
      </p:sp>
      <p:sp>
        <p:nvSpPr>
          <p:cNvPr id="11" name="Text 9"/>
          <p:cNvSpPr/>
          <p:nvPr/>
        </p:nvSpPr>
        <p:spPr>
          <a:xfrm>
            <a:off x="548640" y="2944368"/>
            <a:ext cx="4754880" cy="329184"/>
          </a:xfrm>
          <a:prstGeom prst="rect">
            <a:avLst/>
          </a:prstGeom>
          <a:noFill/>
          <a:ln/>
        </p:spPr>
        <p:txBody>
          <a:bodyPr wrap="square" lIns="0" tIns="0" rIns="0" bIns="0"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(Alternating: cardinal, intermediate, cardinal, intermediate...)</a:t>
            </a:r>
            <a:endParaRPr lang="en-US" sz="1000" dirty="0"/>
          </a:p>
        </p:txBody>
      </p:sp>
      <p:sp>
        <p:nvSpPr>
          <p:cNvPr id="12" name="Shape 10"/>
          <p:cNvSpPr/>
          <p:nvPr/>
        </p:nvSpPr>
        <p:spPr>
          <a:xfrm>
            <a:off x="365760" y="3456432"/>
            <a:ext cx="5120640" cy="1170432"/>
          </a:xfrm>
          <a:prstGeom prst="roundRect">
            <a:avLst>
              <a:gd name="adj" fmla="val 9375"/>
            </a:avLst>
          </a:prstGeom>
          <a:solidFill>
            <a:srgbClr val="E3F8ED"/>
          </a:solidFill>
          <a:ln w="19050">
            <a:solidFill>
              <a:srgbClr val="34B76F"/>
            </a:solidFill>
            <a:prstDash val="solid"/>
          </a:ln>
        </p:spPr>
      </p:sp>
      <p:sp>
        <p:nvSpPr>
          <p:cNvPr id="13" name="Text 11"/>
          <p:cNvSpPr/>
          <p:nvPr/>
        </p:nvSpPr>
        <p:spPr>
          <a:xfrm>
            <a:off x="548640" y="3520440"/>
            <a:ext cx="475488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RETRIEVAL CHALLENGE</a:t>
            </a:r>
            <a:endParaRPr lang="en-US" sz="900" dirty="0"/>
          </a:p>
        </p:txBody>
      </p:sp>
      <p:sp>
        <p:nvSpPr>
          <p:cNvPr id="14" name="Text 12"/>
          <p:cNvSpPr/>
          <p:nvPr/>
        </p:nvSpPr>
        <p:spPr>
          <a:xfrm>
            <a:off x="548640" y="3803904"/>
            <a:ext cx="4754880" cy="749808"/>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Cover your screen. In your Curator's Notebook, write all 8 directions from memory — clockwise from North. Ready? Go!</a:t>
            </a:r>
            <a:endParaRPr lang="en-US" sz="1300" dirty="0"/>
          </a:p>
        </p:txBody>
      </p:sp>
      <p:sp>
        <p:nvSpPr>
          <p:cNvPr id="15" name="Shape 13"/>
          <p:cNvSpPr/>
          <p:nvPr/>
        </p:nvSpPr>
        <p:spPr>
          <a:xfrm>
            <a:off x="5760720" y="804672"/>
            <a:ext cx="3017520" cy="3840480"/>
          </a:xfrm>
          <a:prstGeom prst="roundRect">
            <a:avLst>
              <a:gd name="adj" fmla="val 3636"/>
            </a:avLst>
          </a:prstGeom>
          <a:solidFill>
            <a:srgbClr val="E2E8F4"/>
          </a:solidFill>
          <a:ln w="19050">
            <a:solidFill>
              <a:srgbClr val="B0B8CC"/>
            </a:solidFill>
            <a:prstDash val="dash"/>
          </a:ln>
        </p:spPr>
      </p:sp>
      <p:sp>
        <p:nvSpPr>
          <p:cNvPr id="16" name="Text 14"/>
          <p:cNvSpPr/>
          <p:nvPr/>
        </p:nvSpPr>
        <p:spPr>
          <a:xfrm>
            <a:off x="5760720" y="804672"/>
            <a:ext cx="30175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7" name="Text 15"/>
          <p:cNvSpPr/>
          <p:nvPr/>
        </p:nvSpPr>
        <p:spPr>
          <a:xfrm>
            <a:off x="5897880" y="1078992"/>
            <a:ext cx="2743200" cy="34747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Friendly cartoon owl mascot (Opti the owl) wearing a graduation cap, pointing at a compass rose — speech bubble: 'I'd eat a soggy waffle any day!'</a:t>
            </a:r>
            <a:endParaRPr lang="en-US" sz="1100" dirty="0"/>
          </a:p>
        </p:txBody>
      </p:sp>
      <p:sp>
        <p:nvSpPr>
          <p:cNvPr id="18" name="Text 16"/>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10 / 20</a:t>
            </a:r>
            <a:endParaRPr lang="en-US" sz="800" dirty="0"/>
          </a:p>
        </p:txBody>
      </p:sp>
      <p:sp>
        <p:nvSpPr>
          <p:cNvPr id="19" name="Text 17"/>
          <p:cNvSpPr/>
          <p:nvPr/>
        </p:nvSpPr>
        <p:spPr>
          <a:xfrm>
            <a:off x="182880" y="4846320"/>
            <a:ext cx="4572000" cy="164592"/>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3.03.02  Cardinal &amp; Intermediate Directions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GUIDED PRACTICE  ·  TEACHER MODEL  (I DO)</a:t>
            </a:r>
            <a:endParaRPr lang="en-US" sz="1100" dirty="0"/>
          </a:p>
        </p:txBody>
      </p:sp>
      <p:sp>
        <p:nvSpPr>
          <p:cNvPr id="4" name="Text 2"/>
          <p:cNvSpPr/>
          <p:nvPr/>
        </p:nvSpPr>
        <p:spPr>
          <a:xfrm>
            <a:off x="365760" y="804672"/>
            <a:ext cx="5120640" cy="4572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Watch How I Use Directions</a:t>
            </a:r>
            <a:endParaRPr lang="en-US" sz="2400" dirty="0"/>
          </a:p>
        </p:txBody>
      </p:sp>
      <p:sp>
        <p:nvSpPr>
          <p:cNvPr id="5" name="Shape 3"/>
          <p:cNvSpPr/>
          <p:nvPr/>
        </p:nvSpPr>
        <p:spPr>
          <a:xfrm>
            <a:off x="365760" y="1371600"/>
            <a:ext cx="4114800" cy="3291840"/>
          </a:xfrm>
          <a:prstGeom prst="roundRect">
            <a:avLst>
              <a:gd name="adj" fmla="val 3333"/>
            </a:avLst>
          </a:prstGeom>
          <a:solidFill>
            <a:srgbClr val="E2E8F4"/>
          </a:solidFill>
          <a:ln w="19050">
            <a:solidFill>
              <a:srgbClr val="B0B8CC"/>
            </a:solidFill>
            <a:prstDash val="dash"/>
          </a:ln>
        </p:spPr>
      </p:sp>
      <p:sp>
        <p:nvSpPr>
          <p:cNvPr id="6" name="Text 4"/>
          <p:cNvSpPr/>
          <p:nvPr/>
        </p:nvSpPr>
        <p:spPr>
          <a:xfrm>
            <a:off x="365760" y="137160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645920"/>
            <a:ext cx="3840480" cy="29260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Simple top-down museum room map — compass rose center, Entrance (bottom-center), Gift Shop (upper-right corner), Observatory (directly left), Globe Exhibit (upper-left corner)</a:t>
            </a:r>
            <a:endParaRPr lang="en-US" sz="1100" dirty="0"/>
          </a:p>
        </p:txBody>
      </p:sp>
      <p:sp>
        <p:nvSpPr>
          <p:cNvPr id="8" name="Shape 6"/>
          <p:cNvSpPr/>
          <p:nvPr/>
        </p:nvSpPr>
        <p:spPr>
          <a:xfrm>
            <a:off x="4663440" y="804672"/>
            <a:ext cx="4114800" cy="3931920"/>
          </a:xfrm>
          <a:prstGeom prst="roundRect">
            <a:avLst>
              <a:gd name="adj" fmla="val 2791"/>
            </a:avLst>
          </a:prstGeom>
          <a:solidFill>
            <a:srgbClr val="EAF8FD"/>
          </a:solidFill>
          <a:ln w="19050">
            <a:solidFill>
              <a:srgbClr val="1A8A7D"/>
            </a:solidFill>
            <a:prstDash val="solid"/>
          </a:ln>
        </p:spPr>
      </p:sp>
      <p:sp>
        <p:nvSpPr>
          <p:cNvPr id="9" name="Text 7"/>
          <p:cNvSpPr/>
          <p:nvPr/>
        </p:nvSpPr>
        <p:spPr>
          <a:xfrm>
            <a:off x="4828032" y="877824"/>
            <a:ext cx="3785616"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MY THINK-ALOUD</a:t>
            </a:r>
            <a:endParaRPr lang="en-US" sz="900" dirty="0"/>
          </a:p>
        </p:txBody>
      </p:sp>
      <p:sp>
        <p:nvSpPr>
          <p:cNvPr id="10" name="Shape 8"/>
          <p:cNvSpPr/>
          <p:nvPr/>
        </p:nvSpPr>
        <p:spPr>
          <a:xfrm>
            <a:off x="4828032" y="1207008"/>
            <a:ext cx="3785616" cy="521208"/>
          </a:xfrm>
          <a:prstGeom prst="roundRect">
            <a:avLst>
              <a:gd name="adj" fmla="val 14035"/>
            </a:avLst>
          </a:prstGeom>
          <a:solidFill>
            <a:srgbClr val="FFFFFF"/>
          </a:solidFill>
          <a:ln/>
        </p:spPr>
      </p:sp>
      <p:sp>
        <p:nvSpPr>
          <p:cNvPr id="11" name="Text 9"/>
          <p:cNvSpPr/>
          <p:nvPr/>
        </p:nvSpPr>
        <p:spPr>
          <a:xfrm>
            <a:off x="4919472" y="1225296"/>
            <a:ext cx="777240" cy="228600"/>
          </a:xfrm>
          <a:prstGeom prst="rect">
            <a:avLst/>
          </a:prstGeom>
          <a:noFill/>
          <a:ln/>
        </p:spPr>
        <p:txBody>
          <a:bodyPr wrap="square" lIns="0" tIns="0" rIns="0" bIns="0" rtlCol="0" anchor="ctr"/>
          <a:lstStyle/>
          <a:p>
            <a:pPr indent="0" marL="0">
              <a:buNone/>
            </a:pPr>
            <a:r>
              <a:rPr lang="en-US" sz="900" b="1" dirty="0">
                <a:solidFill>
                  <a:srgbClr val="1A8A7D"/>
                </a:solidFill>
                <a:latin typeface="Calibri" pitchFamily="34" charset="0"/>
                <a:ea typeface="Calibri" pitchFamily="34" charset="-122"/>
                <a:cs typeface="Calibri" pitchFamily="34" charset="-120"/>
              </a:rPr>
              <a:t>Step 1:</a:t>
            </a:r>
            <a:endParaRPr lang="en-US" sz="900" dirty="0"/>
          </a:p>
        </p:txBody>
      </p:sp>
      <p:sp>
        <p:nvSpPr>
          <p:cNvPr id="12" name="Text 10"/>
          <p:cNvSpPr/>
          <p:nvPr/>
        </p:nvSpPr>
        <p:spPr>
          <a:xfrm>
            <a:off x="4919472" y="1444752"/>
            <a:ext cx="3566160" cy="256032"/>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Find the compass rose — it tells me which way is North.</a:t>
            </a:r>
            <a:endParaRPr lang="en-US" sz="1100" dirty="0"/>
          </a:p>
        </p:txBody>
      </p:sp>
      <p:sp>
        <p:nvSpPr>
          <p:cNvPr id="13" name="Shape 11"/>
          <p:cNvSpPr/>
          <p:nvPr/>
        </p:nvSpPr>
        <p:spPr>
          <a:xfrm>
            <a:off x="4828032" y="1801368"/>
            <a:ext cx="3785616" cy="521208"/>
          </a:xfrm>
          <a:prstGeom prst="roundRect">
            <a:avLst>
              <a:gd name="adj" fmla="val 14035"/>
            </a:avLst>
          </a:prstGeom>
          <a:solidFill>
            <a:srgbClr val="FFFFFF"/>
          </a:solidFill>
          <a:ln/>
        </p:spPr>
      </p:sp>
      <p:sp>
        <p:nvSpPr>
          <p:cNvPr id="14" name="Text 12"/>
          <p:cNvSpPr/>
          <p:nvPr/>
        </p:nvSpPr>
        <p:spPr>
          <a:xfrm>
            <a:off x="4919472" y="1819656"/>
            <a:ext cx="777240" cy="228600"/>
          </a:xfrm>
          <a:prstGeom prst="rect">
            <a:avLst/>
          </a:prstGeom>
          <a:noFill/>
          <a:ln/>
        </p:spPr>
        <p:txBody>
          <a:bodyPr wrap="square" lIns="0" tIns="0" rIns="0" bIns="0" rtlCol="0" anchor="ctr"/>
          <a:lstStyle/>
          <a:p>
            <a:pPr indent="0" marL="0">
              <a:buNone/>
            </a:pPr>
            <a:r>
              <a:rPr lang="en-US" sz="900" b="1" dirty="0">
                <a:solidFill>
                  <a:srgbClr val="1A8A7D"/>
                </a:solidFill>
                <a:latin typeface="Calibri" pitchFamily="34" charset="0"/>
                <a:ea typeface="Calibri" pitchFamily="34" charset="-122"/>
                <a:cs typeface="Calibri" pitchFamily="34" charset="-120"/>
              </a:rPr>
              <a:t>Step 2:</a:t>
            </a:r>
            <a:endParaRPr lang="en-US" sz="900" dirty="0"/>
          </a:p>
        </p:txBody>
      </p:sp>
      <p:sp>
        <p:nvSpPr>
          <p:cNvPr id="15" name="Text 13"/>
          <p:cNvSpPr/>
          <p:nvPr/>
        </p:nvSpPr>
        <p:spPr>
          <a:xfrm>
            <a:off x="4919472" y="2039112"/>
            <a:ext cx="3566160" cy="256032"/>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Find the starting point — the Entrance is at the bottom-center.</a:t>
            </a:r>
            <a:endParaRPr lang="en-US" sz="1100" dirty="0"/>
          </a:p>
        </p:txBody>
      </p:sp>
      <p:sp>
        <p:nvSpPr>
          <p:cNvPr id="16" name="Shape 14"/>
          <p:cNvSpPr/>
          <p:nvPr/>
        </p:nvSpPr>
        <p:spPr>
          <a:xfrm>
            <a:off x="4828032" y="2395728"/>
            <a:ext cx="3785616" cy="521208"/>
          </a:xfrm>
          <a:prstGeom prst="roundRect">
            <a:avLst>
              <a:gd name="adj" fmla="val 14035"/>
            </a:avLst>
          </a:prstGeom>
          <a:solidFill>
            <a:srgbClr val="FFFFFF"/>
          </a:solidFill>
          <a:ln/>
        </p:spPr>
      </p:sp>
      <p:sp>
        <p:nvSpPr>
          <p:cNvPr id="17" name="Text 15"/>
          <p:cNvSpPr/>
          <p:nvPr/>
        </p:nvSpPr>
        <p:spPr>
          <a:xfrm>
            <a:off x="4919472" y="2414016"/>
            <a:ext cx="777240" cy="228600"/>
          </a:xfrm>
          <a:prstGeom prst="rect">
            <a:avLst/>
          </a:prstGeom>
          <a:noFill/>
          <a:ln/>
        </p:spPr>
        <p:txBody>
          <a:bodyPr wrap="square" lIns="0" tIns="0" rIns="0" bIns="0" rtlCol="0" anchor="ctr"/>
          <a:lstStyle/>
          <a:p>
            <a:pPr indent="0" marL="0">
              <a:buNone/>
            </a:pPr>
            <a:r>
              <a:rPr lang="en-US" sz="900" b="1" dirty="0">
                <a:solidFill>
                  <a:srgbClr val="1A8A7D"/>
                </a:solidFill>
                <a:latin typeface="Calibri" pitchFamily="34" charset="0"/>
                <a:ea typeface="Calibri" pitchFamily="34" charset="-122"/>
                <a:cs typeface="Calibri" pitchFamily="34" charset="-120"/>
              </a:rPr>
              <a:t>Step 3:</a:t>
            </a:r>
            <a:endParaRPr lang="en-US" sz="900" dirty="0"/>
          </a:p>
        </p:txBody>
      </p:sp>
      <p:sp>
        <p:nvSpPr>
          <p:cNvPr id="18" name="Text 16"/>
          <p:cNvSpPr/>
          <p:nvPr/>
        </p:nvSpPr>
        <p:spPr>
          <a:xfrm>
            <a:off x="4919472" y="2633472"/>
            <a:ext cx="3566160" cy="256032"/>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Find the destination — the Gift Shop is in the upper-right corner.</a:t>
            </a:r>
            <a:endParaRPr lang="en-US" sz="1100" dirty="0"/>
          </a:p>
        </p:txBody>
      </p:sp>
      <p:sp>
        <p:nvSpPr>
          <p:cNvPr id="19" name="Shape 17"/>
          <p:cNvSpPr/>
          <p:nvPr/>
        </p:nvSpPr>
        <p:spPr>
          <a:xfrm>
            <a:off x="4828032" y="2990088"/>
            <a:ext cx="3785616" cy="521208"/>
          </a:xfrm>
          <a:prstGeom prst="roundRect">
            <a:avLst>
              <a:gd name="adj" fmla="val 14035"/>
            </a:avLst>
          </a:prstGeom>
          <a:solidFill>
            <a:srgbClr val="FFFFFF"/>
          </a:solidFill>
          <a:ln/>
        </p:spPr>
      </p:sp>
      <p:sp>
        <p:nvSpPr>
          <p:cNvPr id="20" name="Text 18"/>
          <p:cNvSpPr/>
          <p:nvPr/>
        </p:nvSpPr>
        <p:spPr>
          <a:xfrm>
            <a:off x="4919472" y="3008376"/>
            <a:ext cx="777240" cy="228600"/>
          </a:xfrm>
          <a:prstGeom prst="rect">
            <a:avLst/>
          </a:prstGeom>
          <a:noFill/>
          <a:ln/>
        </p:spPr>
        <p:txBody>
          <a:bodyPr wrap="square" lIns="0" tIns="0" rIns="0" bIns="0" rtlCol="0" anchor="ctr"/>
          <a:lstStyle/>
          <a:p>
            <a:pPr indent="0" marL="0">
              <a:buNone/>
            </a:pPr>
            <a:r>
              <a:rPr lang="en-US" sz="900" b="1" dirty="0">
                <a:solidFill>
                  <a:srgbClr val="1A8A7D"/>
                </a:solidFill>
                <a:latin typeface="Calibri" pitchFamily="34" charset="0"/>
                <a:ea typeface="Calibri" pitchFamily="34" charset="-122"/>
                <a:cs typeface="Calibri" pitchFamily="34" charset="-120"/>
              </a:rPr>
              <a:t>Step 4:</a:t>
            </a:r>
            <a:endParaRPr lang="en-US" sz="900" dirty="0"/>
          </a:p>
        </p:txBody>
      </p:sp>
      <p:sp>
        <p:nvSpPr>
          <p:cNvPr id="21" name="Text 19"/>
          <p:cNvSpPr/>
          <p:nvPr/>
        </p:nvSpPr>
        <p:spPr>
          <a:xfrm>
            <a:off x="4919472" y="3227832"/>
            <a:ext cx="3566160" cy="256032"/>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Upper = North. Right = East. Corner between them = NORTHEAST.</a:t>
            </a:r>
            <a:endParaRPr lang="en-US" sz="1100" dirty="0"/>
          </a:p>
        </p:txBody>
      </p:sp>
      <p:sp>
        <p:nvSpPr>
          <p:cNvPr id="22" name="Shape 20"/>
          <p:cNvSpPr/>
          <p:nvPr/>
        </p:nvSpPr>
        <p:spPr>
          <a:xfrm>
            <a:off x="4828032" y="3584448"/>
            <a:ext cx="3785616" cy="521208"/>
          </a:xfrm>
          <a:prstGeom prst="roundRect">
            <a:avLst>
              <a:gd name="adj" fmla="val 14035"/>
            </a:avLst>
          </a:prstGeom>
          <a:solidFill>
            <a:srgbClr val="0E1C42"/>
          </a:solidFill>
          <a:ln/>
        </p:spPr>
      </p:sp>
      <p:sp>
        <p:nvSpPr>
          <p:cNvPr id="23" name="Text 21"/>
          <p:cNvSpPr/>
          <p:nvPr/>
        </p:nvSpPr>
        <p:spPr>
          <a:xfrm>
            <a:off x="4919472" y="3602736"/>
            <a:ext cx="777240" cy="228600"/>
          </a:xfrm>
          <a:prstGeom prst="rect">
            <a:avLst/>
          </a:prstGeom>
          <a:noFill/>
          <a:ln/>
        </p:spPr>
        <p:txBody>
          <a:bodyPr wrap="square" lIns="0" tIns="0" rIns="0" bIns="0" rtlCol="0" anchor="ctr"/>
          <a:lstStyle/>
          <a:p>
            <a:pPr indent="0" marL="0">
              <a:buNone/>
            </a:pPr>
            <a:r>
              <a:rPr lang="en-US" sz="900" b="1" dirty="0">
                <a:solidFill>
                  <a:srgbClr val="D4943A"/>
                </a:solidFill>
                <a:latin typeface="Calibri" pitchFamily="34" charset="0"/>
                <a:ea typeface="Calibri" pitchFamily="34" charset="-122"/>
                <a:cs typeface="Calibri" pitchFamily="34" charset="-120"/>
              </a:rPr>
              <a:t>I say:</a:t>
            </a:r>
            <a:endParaRPr lang="en-US" sz="900" dirty="0"/>
          </a:p>
        </p:txBody>
      </p:sp>
      <p:sp>
        <p:nvSpPr>
          <p:cNvPr id="24" name="Text 22"/>
          <p:cNvSpPr/>
          <p:nvPr/>
        </p:nvSpPr>
        <p:spPr>
          <a:xfrm>
            <a:off x="4919472" y="3822192"/>
            <a:ext cx="3566160" cy="256032"/>
          </a:xfrm>
          <a:prstGeom prst="rect">
            <a:avLst/>
          </a:prstGeom>
          <a:noFill/>
          <a:ln/>
        </p:spPr>
        <p:txBody>
          <a:bodyPr wrap="square" lIns="0" tIns="0" rIns="0" bIns="0" rtlCol="0" anchor="t"/>
          <a:lstStyle/>
          <a:p>
            <a:pPr indent="0" marL="0">
              <a:buNone/>
            </a:pPr>
            <a:r>
              <a:rPr lang="en-US" sz="1100" i="1" dirty="0">
                <a:solidFill>
                  <a:srgbClr val="FFFFFF"/>
                </a:solidFill>
                <a:latin typeface="Cambria" pitchFamily="34" charset="0"/>
                <a:ea typeface="Cambria" pitchFamily="34" charset="-122"/>
                <a:cs typeface="Cambria" pitchFamily="34" charset="-120"/>
              </a:rPr>
              <a:t>"The Gift Shop is northeast of the Entrance."</a:t>
            </a:r>
            <a:endParaRPr lang="en-US" sz="1100" dirty="0"/>
          </a:p>
        </p:txBody>
      </p:sp>
      <p:sp>
        <p:nvSpPr>
          <p:cNvPr id="25" name="Text 23"/>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11 / 20</a:t>
            </a:r>
            <a:endParaRPr lang="en-US" sz="800" dirty="0"/>
          </a:p>
        </p:txBody>
      </p:sp>
      <p:sp>
        <p:nvSpPr>
          <p:cNvPr id="26" name="Text 24"/>
          <p:cNvSpPr/>
          <p:nvPr/>
        </p:nvSpPr>
        <p:spPr>
          <a:xfrm>
            <a:off x="182880" y="4846320"/>
            <a:ext cx="4572000" cy="164592"/>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3.03.02  Cardinal &amp; Intermediate Directions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GUIDED PRACTICE  ·  WE TRY TOGETHER  (WE DO)</a:t>
            </a:r>
            <a:endParaRPr lang="en-US" sz="1100" dirty="0"/>
          </a:p>
        </p:txBody>
      </p:sp>
      <p:sp>
        <p:nvSpPr>
          <p:cNvPr id="4" name="Shape 2"/>
          <p:cNvSpPr/>
          <p:nvPr/>
        </p:nvSpPr>
        <p:spPr>
          <a:xfrm>
            <a:off x="365760" y="822960"/>
            <a:ext cx="4114800" cy="3246120"/>
          </a:xfrm>
          <a:prstGeom prst="roundRect">
            <a:avLst>
              <a:gd name="adj" fmla="val 3380"/>
            </a:avLst>
          </a:prstGeom>
          <a:solidFill>
            <a:srgbClr val="E2E8F4"/>
          </a:solidFill>
          <a:ln w="19050">
            <a:solidFill>
              <a:srgbClr val="B0B8CC"/>
            </a:solidFill>
            <a:prstDash val="dash"/>
          </a:ln>
        </p:spPr>
      </p:sp>
      <p:sp>
        <p:nvSpPr>
          <p:cNvPr id="5" name="Text 3"/>
          <p:cNvSpPr/>
          <p:nvPr/>
        </p:nvSpPr>
        <p:spPr>
          <a:xfrm>
            <a:off x="365760" y="82296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1097280"/>
            <a:ext cx="3840480" cy="28803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Same museum map — Entrance (bottom-center), Gift Shop (upper-right), Observatory (directly left), Globe Exhibit (upper-left corner), compass rose in center</a:t>
            </a:r>
            <a:endParaRPr lang="en-US" sz="1100" dirty="0"/>
          </a:p>
        </p:txBody>
      </p:sp>
      <p:sp>
        <p:nvSpPr>
          <p:cNvPr id="7" name="Text 5"/>
          <p:cNvSpPr/>
          <p:nvPr/>
        </p:nvSpPr>
        <p:spPr>
          <a:xfrm>
            <a:off x="4663440" y="822960"/>
            <a:ext cx="4114800" cy="347472"/>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Two New Questions:</a:t>
            </a:r>
            <a:endParaRPr lang="en-US" sz="1800" dirty="0"/>
          </a:p>
        </p:txBody>
      </p:sp>
      <p:sp>
        <p:nvSpPr>
          <p:cNvPr id="8" name="Shape 6"/>
          <p:cNvSpPr/>
          <p:nvPr/>
        </p:nvSpPr>
        <p:spPr>
          <a:xfrm>
            <a:off x="4663440" y="1234440"/>
            <a:ext cx="4114800" cy="1097280"/>
          </a:xfrm>
          <a:prstGeom prst="roundRect">
            <a:avLst>
              <a:gd name="adj" fmla="val 8333"/>
            </a:avLst>
          </a:prstGeom>
          <a:solidFill>
            <a:srgbClr val="EAF8FD"/>
          </a:solidFill>
          <a:ln w="25400">
            <a:solidFill>
              <a:srgbClr val="1A8A7D"/>
            </a:solidFill>
            <a:prstDash val="solid"/>
          </a:ln>
        </p:spPr>
      </p:sp>
      <p:sp>
        <p:nvSpPr>
          <p:cNvPr id="9" name="Text 7"/>
          <p:cNvSpPr/>
          <p:nvPr/>
        </p:nvSpPr>
        <p:spPr>
          <a:xfrm>
            <a:off x="4828032" y="1298448"/>
            <a:ext cx="3785616" cy="2286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Question A</a:t>
            </a:r>
            <a:endParaRPr lang="en-US" sz="900" dirty="0"/>
          </a:p>
        </p:txBody>
      </p:sp>
      <p:sp>
        <p:nvSpPr>
          <p:cNvPr id="10" name="Text 8"/>
          <p:cNvSpPr/>
          <p:nvPr/>
        </p:nvSpPr>
        <p:spPr>
          <a:xfrm>
            <a:off x="4828032" y="1554480"/>
            <a:ext cx="3785616" cy="694944"/>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The Observatory is to the left of the Entrance. What direction is the Observatory from the Entrance?</a:t>
            </a:r>
            <a:endParaRPr lang="en-US" sz="1300" dirty="0"/>
          </a:p>
        </p:txBody>
      </p:sp>
      <p:sp>
        <p:nvSpPr>
          <p:cNvPr id="11" name="Shape 9"/>
          <p:cNvSpPr/>
          <p:nvPr/>
        </p:nvSpPr>
        <p:spPr>
          <a:xfrm>
            <a:off x="4663440" y="2423160"/>
            <a:ext cx="4114800" cy="1097280"/>
          </a:xfrm>
          <a:prstGeom prst="roundRect">
            <a:avLst>
              <a:gd name="adj" fmla="val 8333"/>
            </a:avLst>
          </a:prstGeom>
          <a:solidFill>
            <a:srgbClr val="F0E8FF"/>
          </a:solidFill>
          <a:ln w="25400">
            <a:solidFill>
              <a:srgbClr val="8B6FC0"/>
            </a:solidFill>
            <a:prstDash val="solid"/>
          </a:ln>
        </p:spPr>
      </p:sp>
      <p:sp>
        <p:nvSpPr>
          <p:cNvPr id="12" name="Text 10"/>
          <p:cNvSpPr/>
          <p:nvPr/>
        </p:nvSpPr>
        <p:spPr>
          <a:xfrm>
            <a:off x="4828032" y="2487168"/>
            <a:ext cx="3785616" cy="228600"/>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Question B</a:t>
            </a:r>
            <a:endParaRPr lang="en-US" sz="900" dirty="0"/>
          </a:p>
        </p:txBody>
      </p:sp>
      <p:sp>
        <p:nvSpPr>
          <p:cNvPr id="13" name="Text 11"/>
          <p:cNvSpPr/>
          <p:nvPr/>
        </p:nvSpPr>
        <p:spPr>
          <a:xfrm>
            <a:off x="4828032" y="2743200"/>
            <a:ext cx="3785616" cy="694944"/>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The Globe Exhibit is in the upper-left corner. What direction is the Globe Exhibit from the Entrance?</a:t>
            </a:r>
            <a:endParaRPr lang="en-US" sz="1300" dirty="0"/>
          </a:p>
        </p:txBody>
      </p:sp>
      <p:sp>
        <p:nvSpPr>
          <p:cNvPr id="14" name="Shape 12"/>
          <p:cNvSpPr/>
          <p:nvPr/>
        </p:nvSpPr>
        <p:spPr>
          <a:xfrm>
            <a:off x="4663440" y="3621024"/>
            <a:ext cx="4114800" cy="1170432"/>
          </a:xfrm>
          <a:prstGeom prst="roundRect">
            <a:avLst>
              <a:gd name="adj" fmla="val 9375"/>
            </a:avLst>
          </a:prstGeom>
          <a:solidFill>
            <a:srgbClr val="FFF3DC"/>
          </a:solidFill>
          <a:ln w="19050">
            <a:solidFill>
              <a:srgbClr val="F5E6C8"/>
            </a:solidFill>
            <a:prstDash val="solid"/>
          </a:ln>
        </p:spPr>
      </p:sp>
      <p:sp>
        <p:nvSpPr>
          <p:cNvPr id="15" name="Text 13"/>
          <p:cNvSpPr/>
          <p:nvPr/>
        </p:nvSpPr>
        <p:spPr>
          <a:xfrm>
            <a:off x="4800600" y="3675888"/>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4800600" y="3877056"/>
            <a:ext cx="3840480" cy="85039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Observatory is ___ of the Entrance."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Globe Exhibit is ___ of the Entrance."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know because upper-left on the compass is..."</a:t>
            </a:r>
            <a:endParaRPr lang="en-US" sz="1200" dirty="0"/>
          </a:p>
        </p:txBody>
      </p:sp>
      <p:sp>
        <p:nvSpPr>
          <p:cNvPr id="17" name="Text 15"/>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12 / 20</a:t>
            </a:r>
            <a:endParaRPr lang="en-US" sz="800" dirty="0"/>
          </a:p>
        </p:txBody>
      </p:sp>
      <p:sp>
        <p:nvSpPr>
          <p:cNvPr id="18" name="Text 16"/>
          <p:cNvSpPr/>
          <p:nvPr/>
        </p:nvSpPr>
        <p:spPr>
          <a:xfrm>
            <a:off x="182880" y="4846320"/>
            <a:ext cx="4572000" cy="164592"/>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3.03.02  Cardinal &amp; Intermediate Directions</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100" b="1" spc="150" kern="0" dirty="0">
                <a:solidFill>
                  <a:srgbClr val="34B76F"/>
                </a:solidFill>
                <a:latin typeface="Calibri" pitchFamily="34" charset="0"/>
                <a:ea typeface="Calibri" pitchFamily="34" charset="-122"/>
                <a:cs typeface="Calibri" pitchFamily="34" charset="-120"/>
              </a:rPr>
              <a:t>GUIDED PRACTICE  ·  YOUR TURN WITH SUPPORT</a:t>
            </a:r>
            <a:endParaRPr lang="en-US" sz="1100" dirty="0"/>
          </a:p>
        </p:txBody>
      </p:sp>
      <p:sp>
        <p:nvSpPr>
          <p:cNvPr id="4" name="Text 2"/>
          <p:cNvSpPr/>
          <p:nvPr/>
        </p:nvSpPr>
        <p:spPr>
          <a:xfrm>
            <a:off x="365760" y="804672"/>
            <a:ext cx="8412480" cy="411480"/>
          </a:xfrm>
          <a:prstGeom prst="rect">
            <a:avLst/>
          </a:prstGeom>
          <a:noFill/>
          <a:ln/>
        </p:spPr>
        <p:txBody>
          <a:bodyPr wrap="square" lIns="0" tIns="0" rIns="0" bIns="0" rtlCol="0" anchor="ctr"/>
          <a:lstStyle/>
          <a:p>
            <a:pPr algn="ctr" indent="0" marL="0">
              <a:buNone/>
            </a:pPr>
            <a:r>
              <a:rPr lang="en-US" sz="2200" b="1" dirty="0">
                <a:solidFill>
                  <a:srgbClr val="0E1C42"/>
                </a:solidFill>
                <a:latin typeface="Cambria" pitchFamily="34" charset="0"/>
                <a:ea typeface="Cambria" pitchFamily="34" charset="-122"/>
                <a:cs typeface="Cambria" pitchFamily="34" charset="-120"/>
              </a:rPr>
              <a:t>Describe Two More Locations</a:t>
            </a:r>
            <a:endParaRPr lang="en-US" sz="2200" dirty="0"/>
          </a:p>
        </p:txBody>
      </p:sp>
      <p:sp>
        <p:nvSpPr>
          <p:cNvPr id="5" name="Shape 3"/>
          <p:cNvSpPr/>
          <p:nvPr/>
        </p:nvSpPr>
        <p:spPr>
          <a:xfrm>
            <a:off x="365760" y="1325880"/>
            <a:ext cx="4114800" cy="3246120"/>
          </a:xfrm>
          <a:prstGeom prst="roundRect">
            <a:avLst>
              <a:gd name="adj" fmla="val 3380"/>
            </a:avLst>
          </a:prstGeom>
          <a:solidFill>
            <a:srgbClr val="E2E8F4"/>
          </a:solidFill>
          <a:ln w="19050">
            <a:solidFill>
              <a:srgbClr val="B0B8CC"/>
            </a:solidFill>
            <a:prstDash val="dash"/>
          </a:ln>
        </p:spPr>
      </p:sp>
      <p:sp>
        <p:nvSpPr>
          <p:cNvPr id="6" name="Text 4"/>
          <p:cNvSpPr/>
          <p:nvPr/>
        </p:nvSpPr>
        <p:spPr>
          <a:xfrm>
            <a:off x="365760" y="132588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600200"/>
            <a:ext cx="3840480" cy="28803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New museum map — compass rose center, Entrance (bottom-center), Fossil Hall (upper-left corner), Planetarium (lower-right corner), Water Fountain (directly right of Entrance, same level)</a:t>
            </a:r>
            <a:endParaRPr lang="en-US" sz="1100" dirty="0"/>
          </a:p>
        </p:txBody>
      </p:sp>
      <p:sp>
        <p:nvSpPr>
          <p:cNvPr id="8" name="Shape 6"/>
          <p:cNvSpPr/>
          <p:nvPr/>
        </p:nvSpPr>
        <p:spPr>
          <a:xfrm>
            <a:off x="4663440" y="804672"/>
            <a:ext cx="4114800" cy="1965960"/>
          </a:xfrm>
          <a:prstGeom prst="roundRect">
            <a:avLst>
              <a:gd name="adj" fmla="val 5581"/>
            </a:avLst>
          </a:prstGeom>
          <a:solidFill>
            <a:srgbClr val="E3F8ED"/>
          </a:solidFill>
          <a:ln w="19050">
            <a:solidFill>
              <a:srgbClr val="34B76F"/>
            </a:solidFill>
            <a:prstDash val="solid"/>
          </a:ln>
        </p:spPr>
      </p:sp>
      <p:sp>
        <p:nvSpPr>
          <p:cNvPr id="9" name="Text 7"/>
          <p:cNvSpPr/>
          <p:nvPr/>
        </p:nvSpPr>
        <p:spPr>
          <a:xfrm>
            <a:off x="4828032" y="877824"/>
            <a:ext cx="3785616" cy="2286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DIRECTION CHECKLIST</a:t>
            </a:r>
            <a:endParaRPr lang="en-US" sz="900" dirty="0"/>
          </a:p>
        </p:txBody>
      </p:sp>
      <p:sp>
        <p:nvSpPr>
          <p:cNvPr id="10" name="Text 8"/>
          <p:cNvSpPr/>
          <p:nvPr/>
        </p:nvSpPr>
        <p:spPr>
          <a:xfrm>
            <a:off x="4828032" y="1143000"/>
            <a:ext cx="3785616" cy="292608"/>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1. Find the compass rose on the map.</a:t>
            </a:r>
            <a:endParaRPr lang="en-US" sz="1100" dirty="0"/>
          </a:p>
        </p:txBody>
      </p:sp>
      <p:sp>
        <p:nvSpPr>
          <p:cNvPr id="11" name="Text 9"/>
          <p:cNvSpPr/>
          <p:nvPr/>
        </p:nvSpPr>
        <p:spPr>
          <a:xfrm>
            <a:off x="4828032" y="1472184"/>
            <a:ext cx="3785616" cy="292608"/>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2. Locate your starting point.</a:t>
            </a:r>
            <a:endParaRPr lang="en-US" sz="1100" dirty="0"/>
          </a:p>
        </p:txBody>
      </p:sp>
      <p:sp>
        <p:nvSpPr>
          <p:cNvPr id="12" name="Text 10"/>
          <p:cNvSpPr/>
          <p:nvPr/>
        </p:nvSpPr>
        <p:spPr>
          <a:xfrm>
            <a:off x="4828032" y="1801368"/>
            <a:ext cx="3785616" cy="292608"/>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3. Locate your destination.</a:t>
            </a:r>
            <a:endParaRPr lang="en-US" sz="1100" dirty="0"/>
          </a:p>
        </p:txBody>
      </p:sp>
      <p:sp>
        <p:nvSpPr>
          <p:cNvPr id="13" name="Text 11"/>
          <p:cNvSpPr/>
          <p:nvPr/>
        </p:nvSpPr>
        <p:spPr>
          <a:xfrm>
            <a:off x="4828032" y="2130552"/>
            <a:ext cx="3785616" cy="292608"/>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4. Is it up/down? Left/right? Or a corner?</a:t>
            </a:r>
            <a:endParaRPr lang="en-US" sz="1100" dirty="0"/>
          </a:p>
        </p:txBody>
      </p:sp>
      <p:sp>
        <p:nvSpPr>
          <p:cNvPr id="14" name="Text 12"/>
          <p:cNvSpPr/>
          <p:nvPr/>
        </p:nvSpPr>
        <p:spPr>
          <a:xfrm>
            <a:off x="4828032" y="2459736"/>
            <a:ext cx="3785616" cy="292608"/>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5. Name the direction (cardinal or intermediate).</a:t>
            </a:r>
            <a:endParaRPr lang="en-US" sz="1100" dirty="0"/>
          </a:p>
        </p:txBody>
      </p:sp>
      <p:sp>
        <p:nvSpPr>
          <p:cNvPr id="15" name="Shape 13"/>
          <p:cNvSpPr/>
          <p:nvPr/>
        </p:nvSpPr>
        <p:spPr>
          <a:xfrm>
            <a:off x="4663440" y="2871216"/>
            <a:ext cx="4114800" cy="914400"/>
          </a:xfrm>
          <a:prstGeom prst="roundRect">
            <a:avLst>
              <a:gd name="adj" fmla="val 10000"/>
            </a:avLst>
          </a:prstGeom>
          <a:solidFill>
            <a:srgbClr val="F0F2F8"/>
          </a:solidFill>
          <a:ln/>
        </p:spPr>
      </p:sp>
      <p:sp>
        <p:nvSpPr>
          <p:cNvPr id="16" name="Text 14"/>
          <p:cNvSpPr/>
          <p:nvPr/>
        </p:nvSpPr>
        <p:spPr>
          <a:xfrm>
            <a:off x="4828032" y="2935224"/>
            <a:ext cx="3785616" cy="256032"/>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Practice Questions:</a:t>
            </a:r>
            <a:endParaRPr lang="en-US" sz="1100" dirty="0"/>
          </a:p>
        </p:txBody>
      </p:sp>
      <p:sp>
        <p:nvSpPr>
          <p:cNvPr id="17" name="Text 15"/>
          <p:cNvSpPr/>
          <p:nvPr/>
        </p:nvSpPr>
        <p:spPr>
          <a:xfrm>
            <a:off x="4828032" y="3200400"/>
            <a:ext cx="3785616" cy="521208"/>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A. What direction is the Fossil Hall from the Entrance?</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B. What direction is the Water Fountain from the Entrance?</a:t>
            </a:r>
            <a:endParaRPr lang="en-US" sz="1200" dirty="0"/>
          </a:p>
        </p:txBody>
      </p:sp>
      <p:sp>
        <p:nvSpPr>
          <p:cNvPr id="18" name="Shape 16"/>
          <p:cNvSpPr/>
          <p:nvPr/>
        </p:nvSpPr>
        <p:spPr>
          <a:xfrm>
            <a:off x="4663440" y="3867912"/>
            <a:ext cx="4114800" cy="932688"/>
          </a:xfrm>
          <a:prstGeom prst="roundRect">
            <a:avLst>
              <a:gd name="adj" fmla="val 11765"/>
            </a:avLst>
          </a:prstGeom>
          <a:solidFill>
            <a:srgbClr val="FFF3DC"/>
          </a:solidFill>
          <a:ln w="19050">
            <a:solidFill>
              <a:srgbClr val="F5E6C8"/>
            </a:solidFill>
            <a:prstDash val="solid"/>
          </a:ln>
        </p:spPr>
      </p:sp>
      <p:sp>
        <p:nvSpPr>
          <p:cNvPr id="19" name="Text 17"/>
          <p:cNvSpPr/>
          <p:nvPr/>
        </p:nvSpPr>
        <p:spPr>
          <a:xfrm>
            <a:off x="4800600" y="3922776"/>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0" name="Text 18"/>
          <p:cNvSpPr/>
          <p:nvPr/>
        </p:nvSpPr>
        <p:spPr>
          <a:xfrm>
            <a:off x="4800600" y="4123944"/>
            <a:ext cx="3840480" cy="61264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"Fossil Hall is ___ of the Entrance (I used step 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"Water Fountain is ___ of the Entrance"</a:t>
            </a:r>
            <a:endParaRPr lang="en-US" sz="1200" dirty="0"/>
          </a:p>
        </p:txBody>
      </p:sp>
      <p:sp>
        <p:nvSpPr>
          <p:cNvPr id="21" name="Text 19"/>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13 / 20</a:t>
            </a:r>
            <a:endParaRPr lang="en-US" sz="800" dirty="0"/>
          </a:p>
        </p:txBody>
      </p:sp>
      <p:sp>
        <p:nvSpPr>
          <p:cNvPr id="22" name="Text 20"/>
          <p:cNvSpPr/>
          <p:nvPr/>
        </p:nvSpPr>
        <p:spPr>
          <a:xfrm>
            <a:off x="182880" y="4846320"/>
            <a:ext cx="4572000" cy="164592"/>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3.03.02  Cardinal &amp; Intermediate Directions</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100" b="1" spc="150" kern="0" dirty="0">
                <a:solidFill>
                  <a:srgbClr val="E8636B"/>
                </a:solidFill>
                <a:latin typeface="Calibri" pitchFamily="34" charset="0"/>
                <a:ea typeface="Calibri" pitchFamily="34" charset="-122"/>
                <a:cs typeface="Calibri" pitchFamily="34" charset="-120"/>
              </a:rPr>
              <a:t>ERROR ANALYSIS  ·  SPOT THE MISTAKE</a:t>
            </a:r>
            <a:endParaRPr lang="en-US" sz="1100" dirty="0"/>
          </a:p>
        </p:txBody>
      </p:sp>
      <p:sp>
        <p:nvSpPr>
          <p:cNvPr id="4" name="Text 2"/>
          <p:cNvSpPr/>
          <p:nvPr/>
        </p:nvSpPr>
        <p:spPr>
          <a:xfrm>
            <a:off x="365760" y="804672"/>
            <a:ext cx="8412480" cy="384048"/>
          </a:xfrm>
          <a:prstGeom prst="rect">
            <a:avLst/>
          </a:prstGeom>
          <a:noFill/>
          <a:ln/>
        </p:spPr>
        <p:txBody>
          <a:bodyPr wrap="square" lIns="0" tIns="0" rIns="0" bIns="0" rtlCol="0" anchor="ctr"/>
          <a:lstStyle/>
          <a:p>
            <a:pPr algn="ctr" indent="0" marL="0">
              <a:buNone/>
            </a:pPr>
            <a:r>
              <a:rPr lang="en-US" sz="2000" b="1" dirty="0">
                <a:solidFill>
                  <a:srgbClr val="0E1C42"/>
                </a:solidFill>
                <a:latin typeface="Cambria" pitchFamily="34" charset="0"/>
                <a:ea typeface="Cambria" pitchFamily="34" charset="-122"/>
                <a:cs typeface="Cambria" pitchFamily="34" charset="-120"/>
              </a:rPr>
              <a:t>A student made an error. Can you find it?</a:t>
            </a:r>
            <a:endParaRPr lang="en-US" sz="2000" dirty="0"/>
          </a:p>
        </p:txBody>
      </p:sp>
      <p:sp>
        <p:nvSpPr>
          <p:cNvPr id="5" name="Shape 3"/>
          <p:cNvSpPr/>
          <p:nvPr/>
        </p:nvSpPr>
        <p:spPr>
          <a:xfrm>
            <a:off x="365760" y="1298448"/>
            <a:ext cx="8412480" cy="1051560"/>
          </a:xfrm>
          <a:prstGeom prst="roundRect">
            <a:avLst>
              <a:gd name="adj" fmla="val 10435"/>
            </a:avLst>
          </a:prstGeom>
          <a:solidFill>
            <a:srgbClr val="FFF0F0"/>
          </a:solidFill>
          <a:ln w="25400">
            <a:solidFill>
              <a:srgbClr val="E8636B"/>
            </a:solidFill>
            <a:prstDash val="solid"/>
          </a:ln>
        </p:spPr>
      </p:sp>
      <p:sp>
        <p:nvSpPr>
          <p:cNvPr id="6" name="Text 4"/>
          <p:cNvSpPr/>
          <p:nvPr/>
        </p:nvSpPr>
        <p:spPr>
          <a:xfrm>
            <a:off x="548640" y="1362456"/>
            <a:ext cx="2011680" cy="228600"/>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STUDENT ANSWER</a:t>
            </a:r>
            <a:endParaRPr lang="en-US" sz="900" dirty="0"/>
          </a:p>
        </p:txBody>
      </p:sp>
      <p:sp>
        <p:nvSpPr>
          <p:cNvPr id="7" name="Text 5"/>
          <p:cNvSpPr/>
          <p:nvPr/>
        </p:nvSpPr>
        <p:spPr>
          <a:xfrm>
            <a:off x="548640" y="1609344"/>
            <a:ext cx="7863840" cy="658368"/>
          </a:xfrm>
          <a:prstGeom prst="rect">
            <a:avLst/>
          </a:prstGeom>
          <a:noFill/>
          <a:ln/>
        </p:spPr>
        <p:txBody>
          <a:bodyPr wrap="square" lIns="0" tIns="0" rIns="0" bIns="0" rtlCol="0" anchor="t"/>
          <a:lstStyle/>
          <a:p>
            <a:pPr indent="0" marL="0">
              <a:buNone/>
            </a:pPr>
            <a:r>
              <a:rPr lang="en-US" sz="1400" i="1" dirty="0">
                <a:solidFill>
                  <a:srgbClr val="5A1A1A"/>
                </a:solidFill>
                <a:latin typeface="Cambria" pitchFamily="34" charset="0"/>
                <a:ea typeface="Cambria" pitchFamily="34" charset="-122"/>
                <a:cs typeface="Cambria" pitchFamily="34" charset="-120"/>
              </a:rPr>
              <a:t>"I looked at the map. The library is in the bottom-left corner. I used the compass rose and it pointed south, so the library is SOUTH of the entrance."</a:t>
            </a:r>
            <a:endParaRPr lang="en-US" sz="1400" dirty="0"/>
          </a:p>
        </p:txBody>
      </p:sp>
      <p:sp>
        <p:nvSpPr>
          <p:cNvPr id="8" name="Shape 6"/>
          <p:cNvSpPr/>
          <p:nvPr/>
        </p:nvSpPr>
        <p:spPr>
          <a:xfrm>
            <a:off x="365760" y="2468880"/>
            <a:ext cx="3200400" cy="2148840"/>
          </a:xfrm>
          <a:prstGeom prst="roundRect">
            <a:avLst>
              <a:gd name="adj" fmla="val 5106"/>
            </a:avLst>
          </a:prstGeom>
          <a:solidFill>
            <a:srgbClr val="E2E8F4"/>
          </a:solidFill>
          <a:ln w="19050">
            <a:solidFill>
              <a:srgbClr val="B0B8CC"/>
            </a:solidFill>
            <a:prstDash val="dash"/>
          </a:ln>
        </p:spPr>
      </p:sp>
      <p:sp>
        <p:nvSpPr>
          <p:cNvPr id="9" name="Text 7"/>
          <p:cNvSpPr/>
          <p:nvPr/>
        </p:nvSpPr>
        <p:spPr>
          <a:xfrm>
            <a:off x="365760" y="2468880"/>
            <a:ext cx="32004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502920" y="2743200"/>
            <a:ext cx="2926080" cy="17830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map — compass rose center, Entrance (bottom-center), Library in BOTTOM-LEFT CORNER — to show that bottom-left is NOT directly south; it is southwest</a:t>
            </a:r>
            <a:endParaRPr lang="en-US" sz="1100" dirty="0"/>
          </a:p>
        </p:txBody>
      </p:sp>
      <p:sp>
        <p:nvSpPr>
          <p:cNvPr id="11" name="Shape 9"/>
          <p:cNvSpPr/>
          <p:nvPr/>
        </p:nvSpPr>
        <p:spPr>
          <a:xfrm>
            <a:off x="3749040" y="2468880"/>
            <a:ext cx="5029200" cy="2148840"/>
          </a:xfrm>
          <a:prstGeom prst="roundRect">
            <a:avLst>
              <a:gd name="adj" fmla="val 5106"/>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3931920" y="2542032"/>
            <a:ext cx="4663440" cy="256032"/>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FIND THE MISTAKE</a:t>
            </a:r>
            <a:endParaRPr lang="en-US" sz="900" dirty="0"/>
          </a:p>
        </p:txBody>
      </p:sp>
      <p:sp>
        <p:nvSpPr>
          <p:cNvPr id="13" name="Text 11"/>
          <p:cNvSpPr/>
          <p:nvPr/>
        </p:nvSpPr>
        <p:spPr>
          <a:xfrm>
            <a:off x="3931920" y="2834640"/>
            <a:ext cx="4663440" cy="256032"/>
          </a:xfrm>
          <a:prstGeom prst="rect">
            <a:avLst/>
          </a:prstGeom>
          <a:noFill/>
          <a:ln/>
        </p:spPr>
        <p:txBody>
          <a:bodyPr wrap="square" lIns="0" tIns="0" rIns="0" bIns="0" rtlCol="0" anchor="ctr"/>
          <a:lstStyle/>
          <a:p>
            <a:pPr indent="0" marL="0">
              <a:buNone/>
            </a:pPr>
            <a:r>
              <a:rPr lang="en-US" sz="1100" i="1" dirty="0">
                <a:solidFill>
                  <a:srgbClr val="34B76F"/>
                </a:solidFill>
                <a:latin typeface="Calibri" pitchFamily="34" charset="0"/>
                <a:ea typeface="Calibri" pitchFamily="34" charset="-122"/>
                <a:cs typeface="Calibri" pitchFamily="34" charset="-120"/>
              </a:rPr>
              <a:t>What did the student get right?</a:t>
            </a:r>
            <a:endParaRPr lang="en-US" sz="1100" dirty="0"/>
          </a:p>
        </p:txBody>
      </p:sp>
      <p:sp>
        <p:nvSpPr>
          <p:cNvPr id="14" name="Text 12"/>
          <p:cNvSpPr/>
          <p:nvPr/>
        </p:nvSpPr>
        <p:spPr>
          <a:xfrm>
            <a:off x="3931920" y="3127248"/>
            <a:ext cx="4663440" cy="256032"/>
          </a:xfrm>
          <a:prstGeom prst="rect">
            <a:avLst/>
          </a:prstGeom>
          <a:noFill/>
          <a:ln/>
        </p:spPr>
        <p:txBody>
          <a:bodyPr wrap="square" lIns="0" tIns="0" rIns="0" bIns="0" rtlCol="0" anchor="ctr"/>
          <a:lstStyle/>
          <a:p>
            <a:pPr indent="0" marL="0">
              <a:buNone/>
            </a:pPr>
            <a:r>
              <a:rPr lang="en-US" sz="1100" i="1" dirty="0">
                <a:solidFill>
                  <a:srgbClr val="E8636B"/>
                </a:solidFill>
                <a:latin typeface="Calibri" pitchFamily="34" charset="0"/>
                <a:ea typeface="Calibri" pitchFamily="34" charset="-122"/>
                <a:cs typeface="Calibri" pitchFamily="34" charset="-120"/>
              </a:rPr>
              <a:t>What did the student overlook?</a:t>
            </a:r>
            <a:endParaRPr lang="en-US" sz="1100" dirty="0"/>
          </a:p>
        </p:txBody>
      </p:sp>
      <p:sp>
        <p:nvSpPr>
          <p:cNvPr id="15" name="Text 13"/>
          <p:cNvSpPr/>
          <p:nvPr/>
        </p:nvSpPr>
        <p:spPr>
          <a:xfrm>
            <a:off x="3931920" y="3419856"/>
            <a:ext cx="4663440" cy="256032"/>
          </a:xfrm>
          <a:prstGeom prst="rect">
            <a:avLst/>
          </a:prstGeom>
          <a:noFill/>
          <a:ln/>
        </p:spPr>
        <p:txBody>
          <a:bodyPr wrap="square" lIns="0" tIns="0" rIns="0" bIns="0"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What is the correct direction? Why?</a:t>
            </a:r>
            <a:endParaRPr lang="en-US" sz="1100" dirty="0"/>
          </a:p>
        </p:txBody>
      </p:sp>
      <p:sp>
        <p:nvSpPr>
          <p:cNvPr id="16" name="Shape 14"/>
          <p:cNvSpPr/>
          <p:nvPr/>
        </p:nvSpPr>
        <p:spPr>
          <a:xfrm>
            <a:off x="3749040" y="3977640"/>
            <a:ext cx="5029200" cy="868680"/>
          </a:xfrm>
          <a:prstGeom prst="roundRect">
            <a:avLst>
              <a:gd name="adj" fmla="val 12632"/>
            </a:avLst>
          </a:prstGeom>
          <a:solidFill>
            <a:srgbClr val="FFF3DC"/>
          </a:solidFill>
          <a:ln w="19050">
            <a:solidFill>
              <a:srgbClr val="F5E6C8"/>
            </a:solidFill>
            <a:prstDash val="solid"/>
          </a:ln>
        </p:spPr>
      </p:sp>
      <p:sp>
        <p:nvSpPr>
          <p:cNvPr id="17" name="Text 15"/>
          <p:cNvSpPr/>
          <p:nvPr/>
        </p:nvSpPr>
        <p:spPr>
          <a:xfrm>
            <a:off x="3886200" y="4032504"/>
            <a:ext cx="47548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3886200" y="4233672"/>
            <a:ext cx="4754880" cy="548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student was right that... but missed..."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correct direction is ___ because bottom-left is a CORNER, so..."</a:t>
            </a:r>
            <a:endParaRPr lang="en-US" sz="1200" dirty="0"/>
          </a:p>
        </p:txBody>
      </p:sp>
      <p:sp>
        <p:nvSpPr>
          <p:cNvPr id="19" name="Text 17"/>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14 / 20</a:t>
            </a:r>
            <a:endParaRPr lang="en-US" sz="800" dirty="0"/>
          </a:p>
        </p:txBody>
      </p:sp>
      <p:sp>
        <p:nvSpPr>
          <p:cNvPr id="20" name="Text 18"/>
          <p:cNvSpPr/>
          <p:nvPr/>
        </p:nvSpPr>
        <p:spPr>
          <a:xfrm>
            <a:off x="182880" y="4846320"/>
            <a:ext cx="4572000" cy="164592"/>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3.03.02  Cardinal &amp; Intermediate Directions</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100" b="1" spc="150" kern="0" dirty="0">
                <a:solidFill>
                  <a:srgbClr val="8B6FC0"/>
                </a:solidFill>
                <a:latin typeface="Calibri" pitchFamily="34" charset="0"/>
                <a:ea typeface="Calibri" pitchFamily="34" charset="-122"/>
                <a:cs typeface="Calibri" pitchFamily="34" charset="-120"/>
              </a:rPr>
              <a:t>THE TRICKY ONE  ·  DEBATE THIS</a:t>
            </a:r>
            <a:endParaRPr lang="en-US" sz="1100" dirty="0"/>
          </a:p>
        </p:txBody>
      </p:sp>
      <p:sp>
        <p:nvSpPr>
          <p:cNvPr id="4" name="Text 2"/>
          <p:cNvSpPr/>
          <p:nvPr/>
        </p:nvSpPr>
        <p:spPr>
          <a:xfrm>
            <a:off x="365760" y="804672"/>
            <a:ext cx="8412480" cy="475488"/>
          </a:xfrm>
          <a:prstGeom prst="rect">
            <a:avLst/>
          </a:prstGeom>
          <a:noFill/>
          <a:ln/>
        </p:spPr>
        <p:txBody>
          <a:bodyPr wrap="square" lIns="0" tIns="0" rIns="0" bIns="0" rtlCol="0" anchor="ctr"/>
          <a:lstStyle/>
          <a:p>
            <a:pPr algn="ctr" indent="0" marL="0">
              <a:buNone/>
            </a:pPr>
            <a:r>
              <a:rPr lang="en-US" sz="2200" b="1" dirty="0">
                <a:solidFill>
                  <a:srgbClr val="0E1C42"/>
                </a:solidFill>
                <a:latin typeface="Cambria" pitchFamily="34" charset="0"/>
                <a:ea typeface="Cambria" pitchFamily="34" charset="-122"/>
                <a:cs typeface="Cambria" pitchFamily="34" charset="-120"/>
              </a:rPr>
              <a:t>Is the Cafeteria north or northeast of the Entrance?</a:t>
            </a:r>
            <a:endParaRPr lang="en-US" sz="2200" dirty="0"/>
          </a:p>
        </p:txBody>
      </p:sp>
      <p:sp>
        <p:nvSpPr>
          <p:cNvPr id="5" name="Shape 3"/>
          <p:cNvSpPr/>
          <p:nvPr/>
        </p:nvSpPr>
        <p:spPr>
          <a:xfrm>
            <a:off x="365760" y="1389888"/>
            <a:ext cx="4114800" cy="3246120"/>
          </a:xfrm>
          <a:prstGeom prst="roundRect">
            <a:avLst>
              <a:gd name="adj" fmla="val 3380"/>
            </a:avLst>
          </a:prstGeom>
          <a:solidFill>
            <a:srgbClr val="E2E8F4"/>
          </a:solidFill>
          <a:ln w="19050">
            <a:solidFill>
              <a:srgbClr val="B0B8CC"/>
            </a:solidFill>
            <a:prstDash val="dash"/>
          </a:ln>
        </p:spPr>
      </p:sp>
      <p:sp>
        <p:nvSpPr>
          <p:cNvPr id="6" name="Text 4"/>
          <p:cNvSpPr/>
          <p:nvPr/>
        </p:nvSpPr>
        <p:spPr>
          <a:xfrm>
            <a:off x="365760" y="1389888"/>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664208"/>
            <a:ext cx="3840480" cy="28803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map — Entrance at bottom-center, Cafeteria slightly above and slightly to the right of center (NOT in the top-right corner, NOT directly above — an ambiguous position that could be North or Northeast)</a:t>
            </a:r>
            <a:endParaRPr lang="en-US" sz="1100" dirty="0"/>
          </a:p>
        </p:txBody>
      </p:sp>
      <p:sp>
        <p:nvSpPr>
          <p:cNvPr id="8" name="Shape 6"/>
          <p:cNvSpPr/>
          <p:nvPr/>
        </p:nvSpPr>
        <p:spPr>
          <a:xfrm>
            <a:off x="4663440" y="1389888"/>
            <a:ext cx="4114800" cy="1170432"/>
          </a:xfrm>
          <a:prstGeom prst="roundRect">
            <a:avLst>
              <a:gd name="adj" fmla="val 9375"/>
            </a:avLst>
          </a:prstGeom>
          <a:solidFill>
            <a:srgbClr val="EAF8FD"/>
          </a:solidFill>
          <a:ln w="19050">
            <a:solidFill>
              <a:srgbClr val="1A8A7D"/>
            </a:solidFill>
            <a:prstDash val="solid"/>
          </a:ln>
        </p:spPr>
      </p:sp>
      <p:sp>
        <p:nvSpPr>
          <p:cNvPr id="9" name="Text 7"/>
          <p:cNvSpPr/>
          <p:nvPr/>
        </p:nvSpPr>
        <p:spPr>
          <a:xfrm>
            <a:off x="4828032" y="1463040"/>
            <a:ext cx="3785616" cy="256032"/>
          </a:xfrm>
          <a:prstGeom prst="rect">
            <a:avLst/>
          </a:prstGeom>
          <a:noFill/>
          <a:ln/>
        </p:spPr>
        <p:txBody>
          <a:bodyPr wrap="square" lIns="0" tIns="0" rIns="0" bIns="0" rtlCol="0" anchor="ctr"/>
          <a:lstStyle/>
          <a:p>
            <a:pPr indent="0" marL="0">
              <a:buNone/>
            </a:pPr>
            <a:r>
              <a:rPr lang="en-US" sz="1100" b="1" spc="100" kern="0" dirty="0">
                <a:solidFill>
                  <a:srgbClr val="1A8A7D"/>
                </a:solidFill>
                <a:latin typeface="Calibri" pitchFamily="34" charset="0"/>
                <a:ea typeface="Calibri" pitchFamily="34" charset="-122"/>
                <a:cs typeface="Calibri" pitchFamily="34" charset="-120"/>
              </a:rPr>
              <a:t>ARGUMENT A — North</a:t>
            </a:r>
            <a:endParaRPr lang="en-US" sz="1100" dirty="0"/>
          </a:p>
        </p:txBody>
      </p:sp>
      <p:sp>
        <p:nvSpPr>
          <p:cNvPr id="10" name="Text 8"/>
          <p:cNvSpPr/>
          <p:nvPr/>
        </p:nvSpPr>
        <p:spPr>
          <a:xfrm>
            <a:off x="4828032" y="1737360"/>
            <a:ext cx="3785616" cy="73152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 Cafeteria is mostly above the Entrance. The eastward shift is small. The STRONGEST direction is north.</a:t>
            </a:r>
            <a:endParaRPr lang="en-US" sz="1200" dirty="0"/>
          </a:p>
        </p:txBody>
      </p:sp>
      <p:sp>
        <p:nvSpPr>
          <p:cNvPr id="11" name="Shape 9"/>
          <p:cNvSpPr/>
          <p:nvPr/>
        </p:nvSpPr>
        <p:spPr>
          <a:xfrm>
            <a:off x="4663440" y="2651760"/>
            <a:ext cx="4114800" cy="1170432"/>
          </a:xfrm>
          <a:prstGeom prst="roundRect">
            <a:avLst>
              <a:gd name="adj" fmla="val 9375"/>
            </a:avLst>
          </a:prstGeom>
          <a:solidFill>
            <a:srgbClr val="F0E8FF"/>
          </a:solidFill>
          <a:ln w="19050">
            <a:solidFill>
              <a:srgbClr val="8B6FC0"/>
            </a:solidFill>
            <a:prstDash val="solid"/>
          </a:ln>
        </p:spPr>
      </p:sp>
      <p:sp>
        <p:nvSpPr>
          <p:cNvPr id="12" name="Text 10"/>
          <p:cNvSpPr/>
          <p:nvPr/>
        </p:nvSpPr>
        <p:spPr>
          <a:xfrm>
            <a:off x="4828032" y="2724912"/>
            <a:ext cx="3785616" cy="256032"/>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ARGUMENT B — Northeast</a:t>
            </a:r>
            <a:endParaRPr lang="en-US" sz="1100" dirty="0"/>
          </a:p>
        </p:txBody>
      </p:sp>
      <p:sp>
        <p:nvSpPr>
          <p:cNvPr id="13" name="Text 11"/>
          <p:cNvSpPr/>
          <p:nvPr/>
        </p:nvSpPr>
        <p:spPr>
          <a:xfrm>
            <a:off x="4828032" y="2999232"/>
            <a:ext cx="3785616" cy="749808"/>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 Cafeteria is above AND to the right. Any angle between north and east is technically northeast. Precision matters.</a:t>
            </a:r>
            <a:endParaRPr lang="en-US" sz="1200" dirty="0"/>
          </a:p>
        </p:txBody>
      </p:sp>
      <p:sp>
        <p:nvSpPr>
          <p:cNvPr id="14" name="Shape 12"/>
          <p:cNvSpPr/>
          <p:nvPr/>
        </p:nvSpPr>
        <p:spPr>
          <a:xfrm>
            <a:off x="4663440" y="3913632"/>
            <a:ext cx="4114800" cy="1115568"/>
          </a:xfrm>
          <a:prstGeom prst="roundRect">
            <a:avLst>
              <a:gd name="adj" fmla="val 12295"/>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4846320" y="4005072"/>
            <a:ext cx="3749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4846320" y="4261104"/>
            <a:ext cx="3749040" cy="67665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argument has stronger evidence?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the size of the shift matter?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When is 'close enough' good enough for directions?</a:t>
            </a:r>
            <a:endParaRPr lang="en-US" sz="1100" dirty="0"/>
          </a:p>
        </p:txBody>
      </p:sp>
      <p:sp>
        <p:nvSpPr>
          <p:cNvPr id="17" name="Text 15"/>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15 / 20</a:t>
            </a:r>
            <a:endParaRPr lang="en-US" sz="800" dirty="0"/>
          </a:p>
        </p:txBody>
      </p:sp>
      <p:sp>
        <p:nvSpPr>
          <p:cNvPr id="18" name="Text 16"/>
          <p:cNvSpPr/>
          <p:nvPr/>
        </p:nvSpPr>
        <p:spPr>
          <a:xfrm>
            <a:off x="182880" y="4846320"/>
            <a:ext cx="4572000" cy="164592"/>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3.03.02  Cardinal &amp; Intermediate Directions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2743200" y="292608"/>
            <a:ext cx="3657600" cy="365760"/>
          </a:xfrm>
          <a:prstGeom prst="roundRect">
            <a:avLst>
              <a:gd name="adj" fmla="val 25000"/>
            </a:avLst>
          </a:prstGeom>
          <a:solidFill>
            <a:srgbClr val="1A8A7D"/>
          </a:solidFill>
          <a:ln/>
        </p:spPr>
      </p:sp>
      <p:sp>
        <p:nvSpPr>
          <p:cNvPr id="5" name="Text 3"/>
          <p:cNvSpPr/>
          <p:nvPr/>
        </p:nvSpPr>
        <p:spPr>
          <a:xfrm>
            <a:off x="2743200" y="292608"/>
            <a:ext cx="3657600" cy="365760"/>
          </a:xfrm>
          <a:prstGeom prst="rect">
            <a:avLst/>
          </a:prstGeom>
          <a:noFill/>
          <a:ln/>
        </p:spPr>
        <p:txBody>
          <a:bodyPr wrap="square" lIns="0" tIns="0" rIns="0" bIns="0" rtlCol="0" anchor="ctr"/>
          <a:lstStyle/>
          <a:p>
            <a:pPr algn="ctr" indent="0" marL="0">
              <a:buNone/>
            </a:pPr>
            <a:r>
              <a:rPr lang="en-US" sz="900" b="1" spc="150" kern="0" dirty="0">
                <a:solidFill>
                  <a:srgbClr val="A0E8DA"/>
                </a:solidFill>
                <a:latin typeface="Calibri" pitchFamily="34" charset="0"/>
                <a:ea typeface="Calibri" pitchFamily="34" charset="-122"/>
                <a:cs typeface="Calibri" pitchFamily="34" charset="-120"/>
              </a:rPr>
              <a:t>EXHIBIT LABEL  ·  THE GREAT MAP ROOM</a:t>
            </a:r>
            <a:endParaRPr lang="en-US" sz="900" dirty="0"/>
          </a:p>
        </p:txBody>
      </p:sp>
      <p:sp>
        <p:nvSpPr>
          <p:cNvPr id="6" name="Text 4"/>
          <p:cNvSpPr/>
          <p:nvPr/>
        </p:nvSpPr>
        <p:spPr>
          <a:xfrm>
            <a:off x="457200" y="804672"/>
            <a:ext cx="8229600" cy="594360"/>
          </a:xfrm>
          <a:prstGeom prst="rect">
            <a:avLst/>
          </a:prstGeom>
          <a:noFill/>
          <a:ln/>
        </p:spPr>
        <p:txBody>
          <a:bodyPr wrap="square" lIns="0" tIns="0" rIns="0" bIns="0" rtlCol="0" anchor="ctr"/>
          <a:lstStyle/>
          <a:p>
            <a:pPr algn="ctr" indent="0" marL="0">
              <a:buNone/>
            </a:pPr>
            <a:r>
              <a:rPr lang="en-US" sz="3200" b="1" dirty="0">
                <a:solidFill>
                  <a:srgbClr val="D4943A"/>
                </a:solidFill>
                <a:latin typeface="Cambria" pitchFamily="34" charset="0"/>
                <a:ea typeface="Cambria" pitchFamily="34" charset="-122"/>
                <a:cs typeface="Cambria" pitchFamily="34" charset="-120"/>
              </a:rPr>
              <a:t>Compass Rose: Eight Directions</a:t>
            </a:r>
            <a:endParaRPr lang="en-US" sz="3200" dirty="0"/>
          </a:p>
        </p:txBody>
      </p:sp>
      <p:sp>
        <p:nvSpPr>
          <p:cNvPr id="7" name="Shape 5"/>
          <p:cNvSpPr/>
          <p:nvPr/>
        </p:nvSpPr>
        <p:spPr>
          <a:xfrm>
            <a:off x="365760" y="1572768"/>
            <a:ext cx="8412480" cy="868680"/>
          </a:xfrm>
          <a:prstGeom prst="roundRect">
            <a:avLst>
              <a:gd name="adj" fmla="val 10526"/>
            </a:avLst>
          </a:prstGeom>
          <a:solidFill>
            <a:srgbClr val="1A2D5A"/>
          </a:solidFill>
          <a:ln w="19050">
            <a:solidFill>
              <a:srgbClr val="1A8A7D"/>
            </a:solidFill>
            <a:prstDash val="solid"/>
          </a:ln>
        </p:spPr>
      </p:sp>
      <p:sp>
        <p:nvSpPr>
          <p:cNvPr id="8" name="Text 6"/>
          <p:cNvSpPr/>
          <p:nvPr/>
        </p:nvSpPr>
        <p:spPr>
          <a:xfrm>
            <a:off x="548640" y="1636776"/>
            <a:ext cx="8229600" cy="256032"/>
          </a:xfrm>
          <a:prstGeom prst="rect">
            <a:avLst/>
          </a:prstGeom>
          <a:noFill/>
          <a:ln/>
        </p:spPr>
        <p:txBody>
          <a:bodyPr wrap="square" lIns="0" tIns="0" rIns="0" bIns="0" rtlCol="0" anchor="ctr"/>
          <a:lstStyle/>
          <a:p>
            <a:pPr indent="0" marL="0">
              <a:buNone/>
            </a:pPr>
            <a:r>
              <a:rPr lang="en-US" sz="1300" b="1" dirty="0">
                <a:solidFill>
                  <a:srgbClr val="1A8A7D"/>
                </a:solidFill>
                <a:latin typeface="Calibri" pitchFamily="34" charset="0"/>
                <a:ea typeface="Calibri" pitchFamily="34" charset="-122"/>
                <a:cs typeface="Calibri" pitchFamily="34" charset="-120"/>
              </a:rPr>
              <a:t>Cardinal Directions:</a:t>
            </a:r>
            <a:endParaRPr lang="en-US" sz="1300" dirty="0"/>
          </a:p>
        </p:txBody>
      </p:sp>
      <p:sp>
        <p:nvSpPr>
          <p:cNvPr id="9" name="Text 7"/>
          <p:cNvSpPr/>
          <p:nvPr/>
        </p:nvSpPr>
        <p:spPr>
          <a:xfrm>
            <a:off x="548640" y="1892808"/>
            <a:ext cx="8229600" cy="47548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four MAIN compass directions: North · South · East · West. They point straight up, down, left, and right on a map.</a:t>
            </a:r>
            <a:endParaRPr lang="en-US" sz="1200" dirty="0"/>
          </a:p>
        </p:txBody>
      </p:sp>
      <p:sp>
        <p:nvSpPr>
          <p:cNvPr id="10" name="Shape 8"/>
          <p:cNvSpPr/>
          <p:nvPr/>
        </p:nvSpPr>
        <p:spPr>
          <a:xfrm>
            <a:off x="365760" y="2560320"/>
            <a:ext cx="8412480" cy="868680"/>
          </a:xfrm>
          <a:prstGeom prst="roundRect">
            <a:avLst>
              <a:gd name="adj" fmla="val 10526"/>
            </a:avLst>
          </a:prstGeom>
          <a:solidFill>
            <a:srgbClr val="1A2D5A"/>
          </a:solidFill>
          <a:ln w="19050">
            <a:solidFill>
              <a:srgbClr val="8B6FC0"/>
            </a:solidFill>
            <a:prstDash val="solid"/>
          </a:ln>
        </p:spPr>
      </p:sp>
      <p:sp>
        <p:nvSpPr>
          <p:cNvPr id="11" name="Text 9"/>
          <p:cNvSpPr/>
          <p:nvPr/>
        </p:nvSpPr>
        <p:spPr>
          <a:xfrm>
            <a:off x="548640" y="2624328"/>
            <a:ext cx="8229600" cy="256032"/>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Intermediate Directions:</a:t>
            </a:r>
            <a:endParaRPr lang="en-US" sz="1300" dirty="0"/>
          </a:p>
        </p:txBody>
      </p:sp>
      <p:sp>
        <p:nvSpPr>
          <p:cNvPr id="12" name="Text 10"/>
          <p:cNvSpPr/>
          <p:nvPr/>
        </p:nvSpPr>
        <p:spPr>
          <a:xfrm>
            <a:off x="548640" y="2880360"/>
            <a:ext cx="8229600" cy="47548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Four IN-BETWEEN directions: NE · NW · SE · SW. They sit in the diagonal corners between the four cardinal directions.</a:t>
            </a:r>
            <a:endParaRPr lang="en-US" sz="1200" dirty="0"/>
          </a:p>
        </p:txBody>
      </p:sp>
      <p:sp>
        <p:nvSpPr>
          <p:cNvPr id="13" name="Shape 11"/>
          <p:cNvSpPr/>
          <p:nvPr/>
        </p:nvSpPr>
        <p:spPr>
          <a:xfrm>
            <a:off x="365760" y="3547872"/>
            <a:ext cx="8412480" cy="868680"/>
          </a:xfrm>
          <a:prstGeom prst="roundRect">
            <a:avLst>
              <a:gd name="adj" fmla="val 10526"/>
            </a:avLst>
          </a:prstGeom>
          <a:solidFill>
            <a:srgbClr val="1A2D5A"/>
          </a:solidFill>
          <a:ln w="19050">
            <a:solidFill>
              <a:srgbClr val="D4943A"/>
            </a:solidFill>
            <a:prstDash val="solid"/>
          </a:ln>
        </p:spPr>
      </p:sp>
      <p:sp>
        <p:nvSpPr>
          <p:cNvPr id="14" name="Text 12"/>
          <p:cNvSpPr/>
          <p:nvPr/>
        </p:nvSpPr>
        <p:spPr>
          <a:xfrm>
            <a:off x="548640" y="3611880"/>
            <a:ext cx="8229600" cy="256032"/>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How They Work Together:</a:t>
            </a:r>
            <a:endParaRPr lang="en-US" sz="1300" dirty="0"/>
          </a:p>
        </p:txBody>
      </p:sp>
      <p:sp>
        <p:nvSpPr>
          <p:cNvPr id="15" name="Text 13"/>
          <p:cNvSpPr/>
          <p:nvPr/>
        </p:nvSpPr>
        <p:spPr>
          <a:xfrm>
            <a:off x="548640" y="3867912"/>
            <a:ext cx="8229600" cy="47548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compass rose shows all 8 directions. Use cardinal for straight movement; use intermediate for diagonal (corner) movement.</a:t>
            </a:r>
            <a:endParaRPr lang="en-US" sz="1200" dirty="0"/>
          </a:p>
        </p:txBody>
      </p:sp>
      <p:sp>
        <p:nvSpPr>
          <p:cNvPr id="16" name="Shape 14"/>
          <p:cNvSpPr/>
          <p:nvPr/>
        </p:nvSpPr>
        <p:spPr>
          <a:xfrm>
            <a:off x="2743200" y="4617720"/>
            <a:ext cx="3657600" cy="347472"/>
          </a:xfrm>
          <a:prstGeom prst="roundRect">
            <a:avLst>
              <a:gd name="adj" fmla="val 21053"/>
            </a:avLst>
          </a:prstGeom>
          <a:solidFill>
            <a:srgbClr val="34B76F"/>
          </a:solidFill>
          <a:ln/>
        </p:spPr>
      </p:sp>
      <p:sp>
        <p:nvSpPr>
          <p:cNvPr id="17" name="Text 15"/>
          <p:cNvSpPr/>
          <p:nvPr/>
        </p:nvSpPr>
        <p:spPr>
          <a:xfrm>
            <a:off x="2743200" y="4617720"/>
            <a:ext cx="365760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Floor Compass: REPAIRED  v</a:t>
            </a:r>
            <a:endParaRPr lang="en-US" sz="1100" dirty="0"/>
          </a:p>
        </p:txBody>
      </p:sp>
      <p:sp>
        <p:nvSpPr>
          <p:cNvPr id="18" name="Text 16"/>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16 / 20</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D4943A"/>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VIRTUE SPOTLIGHT  ·  COURTESY</a:t>
            </a:r>
            <a:endParaRPr lang="en-US" sz="1100" dirty="0"/>
          </a:p>
        </p:txBody>
      </p:sp>
      <p:sp>
        <p:nvSpPr>
          <p:cNvPr id="4" name="Text 2"/>
          <p:cNvSpPr/>
          <p:nvPr/>
        </p:nvSpPr>
        <p:spPr>
          <a:xfrm>
            <a:off x="365760" y="804672"/>
            <a:ext cx="8412480" cy="457200"/>
          </a:xfrm>
          <a:prstGeom prst="rect">
            <a:avLst/>
          </a:prstGeom>
          <a:noFill/>
          <a:ln/>
        </p:spPr>
        <p:txBody>
          <a:bodyPr wrap="square" lIns="0" tIns="0" rIns="0" bIns="0" rtlCol="0" anchor="ctr"/>
          <a:lstStyle/>
          <a:p>
            <a:pPr algn="ctr" indent="0" marL="0">
              <a:buNone/>
            </a:pPr>
            <a:r>
              <a:rPr lang="en-US" sz="2200" b="1" dirty="0">
                <a:solidFill>
                  <a:srgbClr val="0E1C42"/>
                </a:solidFill>
                <a:latin typeface="Cambria" pitchFamily="34" charset="0"/>
                <a:ea typeface="Cambria" pitchFamily="34" charset="-122"/>
                <a:cs typeface="Cambria" pitchFamily="34" charset="-120"/>
              </a:rPr>
              <a:t>How do directions connect to being courteous?</a:t>
            </a:r>
            <a:endParaRPr lang="en-US" sz="2200" dirty="0"/>
          </a:p>
        </p:txBody>
      </p:sp>
      <p:sp>
        <p:nvSpPr>
          <p:cNvPr id="5" name="Shape 3"/>
          <p:cNvSpPr/>
          <p:nvPr/>
        </p:nvSpPr>
        <p:spPr>
          <a:xfrm>
            <a:off x="365760" y="1371600"/>
            <a:ext cx="5029200" cy="1371600"/>
          </a:xfrm>
          <a:prstGeom prst="roundRect">
            <a:avLst>
              <a:gd name="adj" fmla="val 8000"/>
            </a:avLst>
          </a:prstGeom>
          <a:solidFill>
            <a:srgbClr val="FFF3DC"/>
          </a:solidFill>
          <a:ln w="19050">
            <a:solidFill>
              <a:srgbClr val="F5E6C8"/>
            </a:solidFill>
            <a:prstDash val="solid"/>
          </a:ln>
        </p:spPr>
      </p:sp>
      <p:sp>
        <p:nvSpPr>
          <p:cNvPr id="6" name="Text 4"/>
          <p:cNvSpPr/>
          <p:nvPr/>
        </p:nvSpPr>
        <p:spPr>
          <a:xfrm>
            <a:off x="548640" y="1435608"/>
            <a:ext cx="466344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Think About This:</a:t>
            </a:r>
            <a:endParaRPr lang="en-US" sz="900" dirty="0"/>
          </a:p>
        </p:txBody>
      </p:sp>
      <p:sp>
        <p:nvSpPr>
          <p:cNvPr id="7" name="Text 5"/>
          <p:cNvSpPr/>
          <p:nvPr/>
        </p:nvSpPr>
        <p:spPr>
          <a:xfrm>
            <a:off x="548640" y="1719072"/>
            <a:ext cx="4663440" cy="950976"/>
          </a:xfrm>
          <a:prstGeom prst="rect">
            <a:avLst/>
          </a:prstGeom>
          <a:noFill/>
          <a:ln/>
        </p:spPr>
        <p:txBody>
          <a:bodyPr wrap="square" lIns="0" tIns="0" rIns="0" bIns="0" rtlCol="0" anchor="t"/>
          <a:lstStyle/>
          <a:p>
            <a:pPr indent="0" marL="0">
              <a:buNone/>
            </a:pPr>
            <a:r>
              <a:rPr lang="en-US" sz="1300" i="1" dirty="0">
                <a:solidFill>
                  <a:srgbClr val="5A4A3A"/>
                </a:solidFill>
                <a:latin typeface="Calibri" pitchFamily="34" charset="0"/>
                <a:ea typeface="Calibri" pitchFamily="34" charset="-122"/>
                <a:cs typeface="Calibri" pitchFamily="34" charset="-120"/>
              </a:rPr>
              <a:t>A visitor asks: 'Excuse me, where is the gift shop?' You know it's to the upper-right... but what do you say?</a:t>
            </a:r>
            <a:endParaRPr lang="en-US" sz="1300" dirty="0"/>
          </a:p>
        </p:txBody>
      </p:sp>
      <p:sp>
        <p:nvSpPr>
          <p:cNvPr id="8" name="Shape 6"/>
          <p:cNvSpPr/>
          <p:nvPr/>
        </p:nvSpPr>
        <p:spPr>
          <a:xfrm>
            <a:off x="365760" y="2834640"/>
            <a:ext cx="2377440" cy="804672"/>
          </a:xfrm>
          <a:prstGeom prst="roundRect">
            <a:avLst>
              <a:gd name="adj" fmla="val 11364"/>
            </a:avLst>
          </a:prstGeom>
          <a:solidFill>
            <a:srgbClr val="FFF0F0"/>
          </a:solidFill>
          <a:ln w="19050">
            <a:solidFill>
              <a:srgbClr val="E8636B"/>
            </a:solidFill>
            <a:prstDash val="solid"/>
          </a:ln>
        </p:spPr>
      </p:sp>
      <p:sp>
        <p:nvSpPr>
          <p:cNvPr id="9" name="Text 7"/>
          <p:cNvSpPr/>
          <p:nvPr/>
        </p:nvSpPr>
        <p:spPr>
          <a:xfrm>
            <a:off x="502920" y="2889504"/>
            <a:ext cx="2103120" cy="694944"/>
          </a:xfrm>
          <a:prstGeom prst="rect">
            <a:avLst/>
          </a:prstGeom>
          <a:noFill/>
          <a:ln/>
        </p:spPr>
        <p:txBody>
          <a:bodyPr wrap="square" lIns="0" tIns="0" rIns="0" bIns="0" rtlCol="0" anchor="ctr"/>
          <a:lstStyle/>
          <a:p>
            <a:pPr indent="0" marL="0">
              <a:buNone/>
            </a:pPr>
            <a:r>
              <a:rPr lang="en-US" sz="1200" dirty="0">
                <a:solidFill>
                  <a:srgbClr val="5A1A1A"/>
                </a:solidFill>
                <a:latin typeface="Calibri" pitchFamily="34" charset="0"/>
                <a:ea typeface="Calibri" pitchFamily="34" charset="-122"/>
                <a:cs typeface="Calibri" pitchFamily="34" charset="-120"/>
              </a:rPr>
              <a:t>Option A: "Um... that way?" (pointing vaguely)</a:t>
            </a:r>
            <a:endParaRPr lang="en-US" sz="1200" dirty="0"/>
          </a:p>
        </p:txBody>
      </p:sp>
      <p:sp>
        <p:nvSpPr>
          <p:cNvPr id="10" name="Shape 8"/>
          <p:cNvSpPr/>
          <p:nvPr/>
        </p:nvSpPr>
        <p:spPr>
          <a:xfrm>
            <a:off x="2926080" y="2834640"/>
            <a:ext cx="2377440" cy="804672"/>
          </a:xfrm>
          <a:prstGeom prst="roundRect">
            <a:avLst>
              <a:gd name="adj" fmla="val 11364"/>
            </a:avLst>
          </a:prstGeom>
          <a:solidFill>
            <a:srgbClr val="E3F8ED"/>
          </a:solidFill>
          <a:ln w="19050">
            <a:solidFill>
              <a:srgbClr val="34B76F"/>
            </a:solidFill>
            <a:prstDash val="solid"/>
          </a:ln>
        </p:spPr>
      </p:sp>
      <p:sp>
        <p:nvSpPr>
          <p:cNvPr id="11" name="Text 9"/>
          <p:cNvSpPr/>
          <p:nvPr/>
        </p:nvSpPr>
        <p:spPr>
          <a:xfrm>
            <a:off x="3063240" y="2889504"/>
            <a:ext cx="2103120" cy="694944"/>
          </a:xfrm>
          <a:prstGeom prst="rect">
            <a:avLst/>
          </a:prstGeom>
          <a:noFill/>
          <a:ln/>
        </p:spPr>
        <p:txBody>
          <a:bodyPr wrap="square" lIns="0" tIns="0" rIns="0" bIns="0" rtlCol="0" anchor="ctr"/>
          <a:lstStyle/>
          <a:p>
            <a:pPr indent="0" marL="0">
              <a:buNone/>
            </a:pPr>
            <a:r>
              <a:rPr lang="en-US" sz="1200" dirty="0">
                <a:solidFill>
                  <a:srgbClr val="0A3A1A"/>
                </a:solidFill>
                <a:latin typeface="Calibri" pitchFamily="34" charset="0"/>
                <a:ea typeface="Calibri" pitchFamily="34" charset="-122"/>
                <a:cs typeface="Calibri" pitchFamily="34" charset="-120"/>
              </a:rPr>
              <a:t>Option B: "It's northeast of the entrance — that corner up there." (pointing precisely)</a:t>
            </a:r>
            <a:endParaRPr lang="en-US" sz="1200" dirty="0"/>
          </a:p>
        </p:txBody>
      </p:sp>
      <p:sp>
        <p:nvSpPr>
          <p:cNvPr id="12" name="Shape 10"/>
          <p:cNvSpPr/>
          <p:nvPr/>
        </p:nvSpPr>
        <p:spPr>
          <a:xfrm>
            <a:off x="365760" y="3721608"/>
            <a:ext cx="5029200" cy="749808"/>
          </a:xfrm>
          <a:prstGeom prst="roundRect">
            <a:avLst>
              <a:gd name="adj" fmla="val 12195"/>
            </a:avLst>
          </a:prstGeom>
          <a:solidFill>
            <a:srgbClr val="0E1C42"/>
          </a:solidFill>
          <a:ln/>
        </p:spPr>
      </p:sp>
      <p:sp>
        <p:nvSpPr>
          <p:cNvPr id="13" name="Text 11"/>
          <p:cNvSpPr/>
          <p:nvPr/>
        </p:nvSpPr>
        <p:spPr>
          <a:xfrm>
            <a:off x="548640" y="3767328"/>
            <a:ext cx="4663440" cy="640080"/>
          </a:xfrm>
          <a:prstGeom prst="rect">
            <a:avLst/>
          </a:prstGeom>
          <a:noFill/>
          <a:ln/>
        </p:spPr>
        <p:txBody>
          <a:bodyPr wrap="square" lIns="0" tIns="0" rIns="0" bIns="0" rtlCol="0" anchor="ctr"/>
          <a:lstStyle/>
          <a:p>
            <a:pPr indent="0" marL="0">
              <a:buNone/>
            </a:pPr>
            <a:r>
              <a:rPr lang="en-US" sz="1200" i="1" dirty="0">
                <a:solidFill>
                  <a:srgbClr val="FFF3DC"/>
                </a:solidFill>
                <a:latin typeface="Calibri" pitchFamily="34" charset="0"/>
                <a:ea typeface="Calibri" pitchFamily="34" charset="-122"/>
                <a:cs typeface="Calibri" pitchFamily="34" charset="-120"/>
              </a:rPr>
              <a:t>Courtesy means treating others with kindness and respect. Clear, precise directions save people from getting lost and frustrated — and that is a kindness!</a:t>
            </a:r>
            <a:endParaRPr lang="en-US" sz="1200" dirty="0"/>
          </a:p>
        </p:txBody>
      </p:sp>
      <p:sp>
        <p:nvSpPr>
          <p:cNvPr id="14" name="Shape 12"/>
          <p:cNvSpPr/>
          <p:nvPr/>
        </p:nvSpPr>
        <p:spPr>
          <a:xfrm>
            <a:off x="5303520" y="804672"/>
            <a:ext cx="3474720" cy="3291840"/>
          </a:xfrm>
          <a:prstGeom prst="roundRect">
            <a:avLst>
              <a:gd name="adj" fmla="val 3333"/>
            </a:avLst>
          </a:prstGeom>
          <a:solidFill>
            <a:srgbClr val="E2E8F4"/>
          </a:solidFill>
          <a:ln w="19050">
            <a:solidFill>
              <a:srgbClr val="B0B8CC"/>
            </a:solidFill>
            <a:prstDash val="dash"/>
          </a:ln>
        </p:spPr>
      </p:sp>
      <p:sp>
        <p:nvSpPr>
          <p:cNvPr id="15" name="Text 13"/>
          <p:cNvSpPr/>
          <p:nvPr/>
        </p:nvSpPr>
        <p:spPr>
          <a:xfrm>
            <a:off x="5303520" y="804672"/>
            <a:ext cx="34747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6" name="Text 14"/>
          <p:cNvSpPr/>
          <p:nvPr/>
        </p:nvSpPr>
        <p:spPr>
          <a:xfrm>
            <a:off x="5440680" y="1078992"/>
            <a:ext cx="3200400" cy="29260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Friendly cartoon: a museum curator (child) in a vest pointing to a compass rose on the wall, helping a confused visitor who holds a map — warm, helpful expression</a:t>
            </a:r>
            <a:endParaRPr lang="en-US" sz="1100" dirty="0"/>
          </a:p>
        </p:txBody>
      </p:sp>
      <p:sp>
        <p:nvSpPr>
          <p:cNvPr id="17" name="Shape 15"/>
          <p:cNvSpPr/>
          <p:nvPr/>
        </p:nvSpPr>
        <p:spPr>
          <a:xfrm>
            <a:off x="5303520" y="4169664"/>
            <a:ext cx="3474720" cy="749808"/>
          </a:xfrm>
          <a:prstGeom prst="roundRect">
            <a:avLst>
              <a:gd name="adj" fmla="val 18293"/>
            </a:avLst>
          </a:prstGeom>
          <a:solidFill>
            <a:srgbClr val="1A2D5A"/>
          </a:solidFill>
          <a:ln/>
          <a:effectLst>
            <a:outerShdw sx="100000" sy="100000" kx="0" ky="0" algn="bl" rotWithShape="0" blurRad="101600" dist="38100" dir="8100000">
              <a:srgbClr val="000000">
                <a:alpha val="20000"/>
              </a:srgbClr>
            </a:outerShdw>
          </a:effectLst>
        </p:spPr>
      </p:sp>
      <p:sp>
        <p:nvSpPr>
          <p:cNvPr id="18" name="Text 16"/>
          <p:cNvSpPr/>
          <p:nvPr/>
        </p:nvSpPr>
        <p:spPr>
          <a:xfrm>
            <a:off x="5486400" y="4261104"/>
            <a:ext cx="31089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9" name="Text 17"/>
          <p:cNvSpPr/>
          <p:nvPr/>
        </p:nvSpPr>
        <p:spPr>
          <a:xfrm>
            <a:off x="5486400" y="4517136"/>
            <a:ext cx="3108960" cy="31089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response is more courteous — and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does knowing directions help other people?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When else do people need precise directions?</a:t>
            </a:r>
            <a:endParaRPr lang="en-US" sz="1100" dirty="0"/>
          </a:p>
        </p:txBody>
      </p:sp>
      <p:sp>
        <p:nvSpPr>
          <p:cNvPr id="20" name="Text 18"/>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17 / 20</a:t>
            </a:r>
            <a:endParaRPr lang="en-US" sz="800" dirty="0"/>
          </a:p>
        </p:txBody>
      </p:sp>
      <p:sp>
        <p:nvSpPr>
          <p:cNvPr id="21" name="Text 19"/>
          <p:cNvSpPr/>
          <p:nvPr/>
        </p:nvSpPr>
        <p:spPr>
          <a:xfrm>
            <a:off x="182880" y="4846320"/>
            <a:ext cx="4572000" cy="164592"/>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3.03.02  Cardinal &amp; Intermediate Directions</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ASSIGNMENT  ·  EVIDENCE QUESTIONS 1 &amp; 2</a:t>
            </a:r>
            <a:endParaRPr lang="en-US" sz="1100" dirty="0"/>
          </a:p>
        </p:txBody>
      </p:sp>
      <p:sp>
        <p:nvSpPr>
          <p:cNvPr id="4" name="Text 2"/>
          <p:cNvSpPr/>
          <p:nvPr/>
        </p:nvSpPr>
        <p:spPr>
          <a:xfrm>
            <a:off x="365760" y="804672"/>
            <a:ext cx="8412480" cy="384048"/>
          </a:xfrm>
          <a:prstGeom prst="rect">
            <a:avLst/>
          </a:prstGeom>
          <a:noFill/>
          <a:ln/>
        </p:spPr>
        <p:txBody>
          <a:bodyPr wrap="square" lIns="0" tIns="0" rIns="0" bIns="0" rtlCol="0" anchor="ctr"/>
          <a:lstStyle/>
          <a:p>
            <a:pPr algn="ctr" indent="0" marL="0">
              <a:buNone/>
            </a:pPr>
            <a:r>
              <a:rPr lang="en-US" sz="2200" b="1" dirty="0">
                <a:solidFill>
                  <a:srgbClr val="0E1C42"/>
                </a:solidFill>
                <a:latin typeface="Cambria" pitchFamily="34" charset="0"/>
                <a:ea typeface="Cambria" pitchFamily="34" charset="-122"/>
                <a:cs typeface="Cambria" pitchFamily="34" charset="-120"/>
              </a:rPr>
              <a:t>Your Direction Evidence</a:t>
            </a:r>
            <a:endParaRPr lang="en-US" sz="2200" dirty="0"/>
          </a:p>
        </p:txBody>
      </p:sp>
      <p:sp>
        <p:nvSpPr>
          <p:cNvPr id="5" name="Shape 3"/>
          <p:cNvSpPr/>
          <p:nvPr/>
        </p:nvSpPr>
        <p:spPr>
          <a:xfrm>
            <a:off x="365760" y="1298448"/>
            <a:ext cx="8412480" cy="1481328"/>
          </a:xfrm>
          <a:prstGeom prst="roundRect">
            <a:avLst>
              <a:gd name="adj" fmla="val 7407"/>
            </a:avLst>
          </a:prstGeom>
          <a:solidFill>
            <a:srgbClr val="EAF8FD"/>
          </a:solidFill>
          <a:ln w="19050">
            <a:solidFill>
              <a:srgbClr val="1A8A7D"/>
            </a:solidFill>
            <a:prstDash val="solid"/>
          </a:ln>
        </p:spPr>
      </p:sp>
      <p:sp>
        <p:nvSpPr>
          <p:cNvPr id="6" name="Text 4"/>
          <p:cNvSpPr/>
          <p:nvPr/>
        </p:nvSpPr>
        <p:spPr>
          <a:xfrm>
            <a:off x="548640" y="1362456"/>
            <a:ext cx="91440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Question 1</a:t>
            </a:r>
            <a:endParaRPr lang="en-US" sz="900" dirty="0"/>
          </a:p>
        </p:txBody>
      </p:sp>
      <p:sp>
        <p:nvSpPr>
          <p:cNvPr id="7" name="Text 5"/>
          <p:cNvSpPr/>
          <p:nvPr/>
        </p:nvSpPr>
        <p:spPr>
          <a:xfrm>
            <a:off x="548640" y="1645920"/>
            <a:ext cx="8046720" cy="50292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What are the four cardinal directions and the four intermediate directions? What does "intermediate" mean?</a:t>
            </a:r>
            <a:endParaRPr lang="en-US" sz="1400" dirty="0"/>
          </a:p>
        </p:txBody>
      </p:sp>
      <p:sp>
        <p:nvSpPr>
          <p:cNvPr id="8" name="Text 6"/>
          <p:cNvSpPr/>
          <p:nvPr/>
        </p:nvSpPr>
        <p:spPr>
          <a:xfrm>
            <a:off x="548640" y="2148840"/>
            <a:ext cx="8046720" cy="548640"/>
          </a:xfrm>
          <a:prstGeom prst="rect">
            <a:avLst/>
          </a:prstGeom>
          <a:noFill/>
          <a:ln/>
        </p:spPr>
        <p:txBody>
          <a:bodyPr wrap="square" lIns="0" tIns="0" rIns="0" bIns="0" rtlCol="0" anchor="t"/>
          <a:lstStyle/>
          <a:p>
            <a:pPr indent="0" marL="0">
              <a:buNone/>
            </a:pPr>
            <a:r>
              <a:rPr lang="en-US" sz="1200" i="1" dirty="0">
                <a:solidFill>
                  <a:srgbClr val="1A8A7D"/>
                </a:solidFill>
                <a:latin typeface="Calibri" pitchFamily="34" charset="0"/>
                <a:ea typeface="Calibri" pitchFamily="34" charset="-122"/>
                <a:cs typeface="Calibri" pitchFamily="34" charset="-120"/>
              </a:rPr>
              <a:t>Scaffold: Name all eight directions. Then explain what 'intermediate' means in your own words.</a:t>
            </a:r>
            <a:endParaRPr lang="en-US" sz="1200" dirty="0"/>
          </a:p>
        </p:txBody>
      </p:sp>
      <p:sp>
        <p:nvSpPr>
          <p:cNvPr id="9" name="Shape 7"/>
          <p:cNvSpPr/>
          <p:nvPr/>
        </p:nvSpPr>
        <p:spPr>
          <a:xfrm>
            <a:off x="365760" y="2871216"/>
            <a:ext cx="8412480" cy="1481328"/>
          </a:xfrm>
          <a:prstGeom prst="roundRect">
            <a:avLst>
              <a:gd name="adj" fmla="val 7407"/>
            </a:avLst>
          </a:prstGeom>
          <a:solidFill>
            <a:srgbClr val="F0E8FF"/>
          </a:solidFill>
          <a:ln w="19050">
            <a:solidFill>
              <a:srgbClr val="8B6FC0"/>
            </a:solidFill>
            <a:prstDash val="solid"/>
          </a:ln>
        </p:spPr>
      </p:sp>
      <p:sp>
        <p:nvSpPr>
          <p:cNvPr id="10" name="Text 8"/>
          <p:cNvSpPr/>
          <p:nvPr/>
        </p:nvSpPr>
        <p:spPr>
          <a:xfrm>
            <a:off x="548640" y="2935224"/>
            <a:ext cx="914400" cy="2560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Question 2</a:t>
            </a:r>
            <a:endParaRPr lang="en-US" sz="900" dirty="0"/>
          </a:p>
        </p:txBody>
      </p:sp>
      <p:sp>
        <p:nvSpPr>
          <p:cNvPr id="11" name="Text 9"/>
          <p:cNvSpPr/>
          <p:nvPr/>
        </p:nvSpPr>
        <p:spPr>
          <a:xfrm>
            <a:off x="548640" y="3218688"/>
            <a:ext cx="8046720" cy="54864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Why do maps need eight directions instead of just four? Give an example of when an intermediate direction would be more helpful than a cardinal direction.</a:t>
            </a:r>
            <a:endParaRPr lang="en-US" sz="1400" dirty="0"/>
          </a:p>
        </p:txBody>
      </p:sp>
      <p:sp>
        <p:nvSpPr>
          <p:cNvPr id="12" name="Text 10"/>
          <p:cNvSpPr/>
          <p:nvPr/>
        </p:nvSpPr>
        <p:spPr>
          <a:xfrm>
            <a:off x="548640" y="3767328"/>
            <a:ext cx="8046720" cy="502920"/>
          </a:xfrm>
          <a:prstGeom prst="rect">
            <a:avLst/>
          </a:prstGeom>
          <a:noFill/>
          <a:ln/>
        </p:spPr>
        <p:txBody>
          <a:bodyPr wrap="square" lIns="0" tIns="0" rIns="0" bIns="0" rtlCol="0" anchor="t"/>
          <a:lstStyle/>
          <a:p>
            <a:pPr indent="0" marL="0">
              <a:buNone/>
            </a:pPr>
            <a:r>
              <a:rPr lang="en-US" sz="1200" i="1" dirty="0">
                <a:solidFill>
                  <a:srgbClr val="8B6FC0"/>
                </a:solidFill>
                <a:latin typeface="Calibri" pitchFamily="34" charset="0"/>
                <a:ea typeface="Calibri" pitchFamily="34" charset="-122"/>
                <a:cs typeface="Calibri" pitchFamily="34" charset="-120"/>
              </a:rPr>
              <a:t>Scaffold: Think about a corner position. What happens when your destination isn't exactly north OR exactly east, but somewhere in between?</a:t>
            </a:r>
            <a:endParaRPr lang="en-US" sz="1200" dirty="0"/>
          </a:p>
        </p:txBody>
      </p:sp>
      <p:sp>
        <p:nvSpPr>
          <p:cNvPr id="13" name="Text 11"/>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18 / 20</a:t>
            </a:r>
            <a:endParaRPr lang="en-US" sz="800" dirty="0"/>
          </a:p>
        </p:txBody>
      </p:sp>
      <p:sp>
        <p:nvSpPr>
          <p:cNvPr id="14" name="Text 12"/>
          <p:cNvSpPr/>
          <p:nvPr/>
        </p:nvSpPr>
        <p:spPr>
          <a:xfrm>
            <a:off x="182880" y="4846320"/>
            <a:ext cx="4572000" cy="164592"/>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3.03.02  Cardinal &amp; Intermediate Directions</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ASSIGNMENT  ·  Q3  ·  CURATOR TASK  ·  CHRONICLE</a:t>
            </a:r>
            <a:endParaRPr lang="en-US" sz="1100" dirty="0"/>
          </a:p>
        </p:txBody>
      </p:sp>
      <p:sp>
        <p:nvSpPr>
          <p:cNvPr id="4" name="Shape 2"/>
          <p:cNvSpPr/>
          <p:nvPr/>
        </p:nvSpPr>
        <p:spPr>
          <a:xfrm>
            <a:off x="365760" y="804672"/>
            <a:ext cx="5029200" cy="1188720"/>
          </a:xfrm>
          <a:prstGeom prst="roundRect">
            <a:avLst>
              <a:gd name="adj" fmla="val 9231"/>
            </a:avLst>
          </a:prstGeom>
          <a:solidFill>
            <a:srgbClr val="FFF3DC"/>
          </a:solidFill>
          <a:ln w="19050">
            <a:solidFill>
              <a:srgbClr val="D4943A"/>
            </a:solidFill>
            <a:prstDash val="solid"/>
          </a:ln>
        </p:spPr>
      </p:sp>
      <p:sp>
        <p:nvSpPr>
          <p:cNvPr id="5" name="Text 3"/>
          <p:cNvSpPr/>
          <p:nvPr/>
        </p:nvSpPr>
        <p:spPr>
          <a:xfrm>
            <a:off x="548640" y="868680"/>
            <a:ext cx="914400" cy="2286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Question 3</a:t>
            </a:r>
            <a:endParaRPr lang="en-US" sz="900" dirty="0"/>
          </a:p>
        </p:txBody>
      </p:sp>
      <p:sp>
        <p:nvSpPr>
          <p:cNvPr id="6" name="Text 4"/>
          <p:cNvSpPr/>
          <p:nvPr/>
        </p:nvSpPr>
        <p:spPr>
          <a:xfrm>
            <a:off x="548640" y="1115568"/>
            <a:ext cx="4663440" cy="804672"/>
          </a:xfrm>
          <a:prstGeom prst="rect">
            <a:avLst/>
          </a:prstGeom>
          <a:noFill/>
          <a:ln/>
        </p:spPr>
        <p:txBody>
          <a:bodyPr wrap="square" lIns="0" tIns="0" rIns="0" bIns="0" rtlCol="0" anchor="t"/>
          <a:lstStyle/>
          <a:p>
            <a:pPr indent="0" marL="0">
              <a:buNone/>
            </a:pPr>
            <a:r>
              <a:rPr lang="en-US" sz="1300" b="1" dirty="0">
                <a:solidFill>
                  <a:srgbClr val="0E1C42"/>
                </a:solidFill>
                <a:latin typeface="Cambria" pitchFamily="34" charset="0"/>
                <a:ea typeface="Cambria" pitchFamily="34" charset="-122"/>
                <a:cs typeface="Cambria" pitchFamily="34" charset="-120"/>
              </a:rPr>
              <a:t>How does knowing directions connect to the virtue of courtesy? Think about how clear directions help visitors in the museum.</a:t>
            </a:r>
            <a:endParaRPr lang="en-US" sz="1300" dirty="0"/>
          </a:p>
        </p:txBody>
      </p:sp>
      <p:sp>
        <p:nvSpPr>
          <p:cNvPr id="7" name="Shape 5"/>
          <p:cNvSpPr/>
          <p:nvPr/>
        </p:nvSpPr>
        <p:spPr>
          <a:xfrm>
            <a:off x="365760" y="2084832"/>
            <a:ext cx="5029200" cy="1554480"/>
          </a:xfrm>
          <a:prstGeom prst="roundRect">
            <a:avLst>
              <a:gd name="adj" fmla="val 7059"/>
            </a:avLst>
          </a:prstGeom>
          <a:solidFill>
            <a:srgbClr val="E3F8ED"/>
          </a:solidFill>
          <a:ln w="19050">
            <a:solidFill>
              <a:srgbClr val="34B76F"/>
            </a:solidFill>
            <a:prstDash val="solid"/>
          </a:ln>
        </p:spPr>
      </p:sp>
      <p:sp>
        <p:nvSpPr>
          <p:cNvPr id="8" name="Text 6"/>
          <p:cNvSpPr/>
          <p:nvPr/>
        </p:nvSpPr>
        <p:spPr>
          <a:xfrm>
            <a:off x="548640" y="2148840"/>
            <a:ext cx="4663440" cy="274320"/>
          </a:xfrm>
          <a:prstGeom prst="rect">
            <a:avLst/>
          </a:prstGeom>
          <a:noFill/>
          <a:ln/>
        </p:spPr>
        <p:txBody>
          <a:bodyPr wrap="square" lIns="0" tIns="0" rIns="0" bIns="0" rtlCol="0" anchor="ctr"/>
          <a:lstStyle/>
          <a:p>
            <a:pPr indent="0" marL="0">
              <a:buNone/>
            </a:pPr>
            <a:r>
              <a:rPr lang="en-US" sz="1300" b="1" dirty="0">
                <a:solidFill>
                  <a:srgbClr val="1A8A7D"/>
                </a:solidFill>
                <a:latin typeface="Calibri" pitchFamily="34" charset="0"/>
                <a:ea typeface="Calibri" pitchFamily="34" charset="-122"/>
                <a:cs typeface="Calibri" pitchFamily="34" charset="-120"/>
              </a:rPr>
              <a:t>Curator Task: Direction Guide</a:t>
            </a:r>
            <a:endParaRPr lang="en-US" sz="1300" dirty="0"/>
          </a:p>
        </p:txBody>
      </p:sp>
      <p:sp>
        <p:nvSpPr>
          <p:cNvPr id="9" name="Text 7"/>
          <p:cNvSpPr/>
          <p:nvPr/>
        </p:nvSpPr>
        <p:spPr>
          <a:xfrm>
            <a:off x="548640" y="2450592"/>
            <a:ext cx="4663440" cy="64008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Write 2-3 sentences using direction words (cardinal or intermediate) to describe where things are in a place you know — your classroom, your house, or an imaginary museum room.</a:t>
            </a:r>
            <a:endParaRPr lang="en-US" sz="1200" dirty="0"/>
          </a:p>
        </p:txBody>
      </p:sp>
      <p:sp>
        <p:nvSpPr>
          <p:cNvPr id="10" name="Text 8"/>
          <p:cNvSpPr/>
          <p:nvPr/>
        </p:nvSpPr>
        <p:spPr>
          <a:xfrm>
            <a:off x="548640" y="3127248"/>
            <a:ext cx="4663440" cy="420624"/>
          </a:xfrm>
          <a:prstGeom prst="rect">
            <a:avLst/>
          </a:prstGeom>
          <a:noFill/>
          <a:ln/>
        </p:spPr>
        <p:txBody>
          <a:bodyPr wrap="square" lIns="0" tIns="0" rIns="0" bIns="0" rtlCol="0" anchor="t"/>
          <a:lstStyle/>
          <a:p>
            <a:pPr indent="0" marL="0">
              <a:buNone/>
            </a:pPr>
            <a:r>
              <a:rPr lang="en-US" sz="1100" i="1" dirty="0">
                <a:solidFill>
                  <a:srgbClr val="1A8A7D"/>
                </a:solidFill>
                <a:latin typeface="Calibri" pitchFamily="34" charset="0"/>
                <a:ea typeface="Calibri" pitchFamily="34" charset="-122"/>
                <a:cs typeface="Calibri" pitchFamily="34" charset="-120"/>
              </a:rPr>
              <a:t>Example: "The globe exhibit is in the northwest corner of the room."</a:t>
            </a:r>
            <a:endParaRPr lang="en-US" sz="1100" dirty="0"/>
          </a:p>
        </p:txBody>
      </p:sp>
      <p:sp>
        <p:nvSpPr>
          <p:cNvPr id="11" name="Shape 9"/>
          <p:cNvSpPr/>
          <p:nvPr/>
        </p:nvSpPr>
        <p:spPr>
          <a:xfrm>
            <a:off x="365760" y="3730752"/>
            <a:ext cx="5029200" cy="822960"/>
          </a:xfrm>
          <a:prstGeom prst="roundRect">
            <a:avLst>
              <a:gd name="adj" fmla="val 13333"/>
            </a:avLst>
          </a:prstGeom>
          <a:solidFill>
            <a:srgbClr val="1A2D5A"/>
          </a:solidFill>
          <a:ln/>
        </p:spPr>
      </p:sp>
      <p:sp>
        <p:nvSpPr>
          <p:cNvPr id="12" name="Text 10"/>
          <p:cNvSpPr/>
          <p:nvPr/>
        </p:nvSpPr>
        <p:spPr>
          <a:xfrm>
            <a:off x="548640" y="3794760"/>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Curator's Chronicle</a:t>
            </a:r>
            <a:endParaRPr lang="en-US" sz="900" dirty="0"/>
          </a:p>
        </p:txBody>
      </p:sp>
      <p:sp>
        <p:nvSpPr>
          <p:cNvPr id="13" name="Text 11"/>
          <p:cNvSpPr/>
          <p:nvPr/>
        </p:nvSpPr>
        <p:spPr>
          <a:xfrm>
            <a:off x="548640" y="4069080"/>
            <a:ext cx="4663440" cy="402336"/>
          </a:xfrm>
          <a:prstGeom prst="rect">
            <a:avLst/>
          </a:prstGeom>
          <a:noFill/>
          <a:ln/>
        </p:spPr>
        <p:txBody>
          <a:bodyPr wrap="square" lIns="0" tIns="0" rIns="0" bIns="0" rtlCol="0" anchor="ctr"/>
          <a:lstStyle/>
          <a:p>
            <a:pPr indent="0" marL="0">
              <a:buNone/>
            </a:pPr>
            <a:r>
              <a:rPr lang="en-US" sz="1300" i="1" dirty="0">
                <a:solidFill>
                  <a:srgbClr val="FFF3DC"/>
                </a:solidFill>
                <a:latin typeface="Cambria" pitchFamily="34" charset="0"/>
                <a:ea typeface="Cambria" pitchFamily="34" charset="-122"/>
                <a:cs typeface="Cambria" pitchFamily="34" charset="-120"/>
              </a:rPr>
              <a:t>"In this exhibit, I learned that _____ because _____."</a:t>
            </a:r>
            <a:endParaRPr lang="en-US" sz="1300" dirty="0"/>
          </a:p>
        </p:txBody>
      </p:sp>
      <p:sp>
        <p:nvSpPr>
          <p:cNvPr id="14" name="Shape 12"/>
          <p:cNvSpPr/>
          <p:nvPr/>
        </p:nvSpPr>
        <p:spPr>
          <a:xfrm>
            <a:off x="5577840" y="804672"/>
            <a:ext cx="3200400" cy="3749040"/>
          </a:xfrm>
          <a:prstGeom prst="roundRect">
            <a:avLst>
              <a:gd name="adj" fmla="val 3429"/>
            </a:avLst>
          </a:prstGeom>
          <a:solidFill>
            <a:srgbClr val="F0F2F8"/>
          </a:solidFill>
          <a:ln w="19050">
            <a:solidFill>
              <a:srgbClr val="B0B8CC"/>
            </a:solidFill>
            <a:prstDash val="solid"/>
          </a:ln>
        </p:spPr>
      </p:sp>
      <p:sp>
        <p:nvSpPr>
          <p:cNvPr id="15" name="Text 13"/>
          <p:cNvSpPr/>
          <p:nvPr/>
        </p:nvSpPr>
        <p:spPr>
          <a:xfrm>
            <a:off x="5742432" y="877824"/>
            <a:ext cx="2871216" cy="256032"/>
          </a:xfrm>
          <a:prstGeom prst="rect">
            <a:avLst/>
          </a:prstGeom>
          <a:noFill/>
          <a:ln/>
        </p:spPr>
        <p:txBody>
          <a:bodyPr wrap="square" lIns="0" tIns="0" rIns="0" bIns="0"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TURN-IN CHECKLIST</a:t>
            </a:r>
            <a:endParaRPr lang="en-US" sz="900" dirty="0"/>
          </a:p>
        </p:txBody>
      </p:sp>
      <p:sp>
        <p:nvSpPr>
          <p:cNvPr id="16" name="Shape 14"/>
          <p:cNvSpPr/>
          <p:nvPr/>
        </p:nvSpPr>
        <p:spPr>
          <a:xfrm>
            <a:off x="5742432" y="1234440"/>
            <a:ext cx="2871216" cy="429768"/>
          </a:xfrm>
          <a:prstGeom prst="roundRect">
            <a:avLst>
              <a:gd name="adj" fmla="val 12766"/>
            </a:avLst>
          </a:prstGeom>
          <a:solidFill>
            <a:srgbClr val="FFFFFF"/>
          </a:solidFill>
          <a:ln w="12700">
            <a:solidFill>
              <a:srgbClr val="B0B8CC"/>
            </a:solidFill>
            <a:prstDash val="solid"/>
          </a:ln>
        </p:spPr>
      </p:sp>
      <p:sp>
        <p:nvSpPr>
          <p:cNvPr id="17" name="Text 15"/>
          <p:cNvSpPr/>
          <p:nvPr/>
        </p:nvSpPr>
        <p:spPr>
          <a:xfrm>
            <a:off x="5833872" y="1252728"/>
            <a:ext cx="2688336" cy="384048"/>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 ]  I answered Q1 — all 8 directions + definition</a:t>
            </a:r>
            <a:endParaRPr lang="en-US" sz="1000" dirty="0"/>
          </a:p>
        </p:txBody>
      </p:sp>
      <p:sp>
        <p:nvSpPr>
          <p:cNvPr id="18" name="Shape 16"/>
          <p:cNvSpPr/>
          <p:nvPr/>
        </p:nvSpPr>
        <p:spPr>
          <a:xfrm>
            <a:off x="5742432" y="1737360"/>
            <a:ext cx="2871216" cy="429768"/>
          </a:xfrm>
          <a:prstGeom prst="roundRect">
            <a:avLst>
              <a:gd name="adj" fmla="val 12766"/>
            </a:avLst>
          </a:prstGeom>
          <a:solidFill>
            <a:srgbClr val="FFFFFF"/>
          </a:solidFill>
          <a:ln w="12700">
            <a:solidFill>
              <a:srgbClr val="B0B8CC"/>
            </a:solidFill>
            <a:prstDash val="solid"/>
          </a:ln>
        </p:spPr>
      </p:sp>
      <p:sp>
        <p:nvSpPr>
          <p:cNvPr id="19" name="Text 17"/>
          <p:cNvSpPr/>
          <p:nvPr/>
        </p:nvSpPr>
        <p:spPr>
          <a:xfrm>
            <a:off x="5833872" y="1755648"/>
            <a:ext cx="2688336" cy="384048"/>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 ]  I answered Q2 — why 8 directions with an example</a:t>
            </a:r>
            <a:endParaRPr lang="en-US" sz="1000" dirty="0"/>
          </a:p>
        </p:txBody>
      </p:sp>
      <p:sp>
        <p:nvSpPr>
          <p:cNvPr id="20" name="Shape 18"/>
          <p:cNvSpPr/>
          <p:nvPr/>
        </p:nvSpPr>
        <p:spPr>
          <a:xfrm>
            <a:off x="5742432" y="2240280"/>
            <a:ext cx="2871216" cy="429768"/>
          </a:xfrm>
          <a:prstGeom prst="roundRect">
            <a:avLst>
              <a:gd name="adj" fmla="val 12766"/>
            </a:avLst>
          </a:prstGeom>
          <a:solidFill>
            <a:srgbClr val="FFFFFF"/>
          </a:solidFill>
          <a:ln w="12700">
            <a:solidFill>
              <a:srgbClr val="B0B8CC"/>
            </a:solidFill>
            <a:prstDash val="solid"/>
          </a:ln>
        </p:spPr>
      </p:sp>
      <p:sp>
        <p:nvSpPr>
          <p:cNvPr id="21" name="Text 19"/>
          <p:cNvSpPr/>
          <p:nvPr/>
        </p:nvSpPr>
        <p:spPr>
          <a:xfrm>
            <a:off x="5833872" y="2258568"/>
            <a:ext cx="2688336" cy="384048"/>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 ]  I answered Q3 — directions + courtesy connection</a:t>
            </a:r>
            <a:endParaRPr lang="en-US" sz="1000" dirty="0"/>
          </a:p>
        </p:txBody>
      </p:sp>
      <p:sp>
        <p:nvSpPr>
          <p:cNvPr id="22" name="Shape 20"/>
          <p:cNvSpPr/>
          <p:nvPr/>
        </p:nvSpPr>
        <p:spPr>
          <a:xfrm>
            <a:off x="5742432" y="2743200"/>
            <a:ext cx="2871216" cy="429768"/>
          </a:xfrm>
          <a:prstGeom prst="roundRect">
            <a:avLst>
              <a:gd name="adj" fmla="val 12766"/>
            </a:avLst>
          </a:prstGeom>
          <a:solidFill>
            <a:srgbClr val="FFFFFF"/>
          </a:solidFill>
          <a:ln w="12700">
            <a:solidFill>
              <a:srgbClr val="B0B8CC"/>
            </a:solidFill>
            <a:prstDash val="solid"/>
          </a:ln>
        </p:spPr>
      </p:sp>
      <p:sp>
        <p:nvSpPr>
          <p:cNvPr id="23" name="Text 21"/>
          <p:cNvSpPr/>
          <p:nvPr/>
        </p:nvSpPr>
        <p:spPr>
          <a:xfrm>
            <a:off x="5833872" y="2761488"/>
            <a:ext cx="2688336" cy="384048"/>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 ]  I completed the Curator Task (2-3 direction sentences)</a:t>
            </a:r>
            <a:endParaRPr lang="en-US" sz="1000" dirty="0"/>
          </a:p>
        </p:txBody>
      </p:sp>
      <p:sp>
        <p:nvSpPr>
          <p:cNvPr id="24" name="Shape 22"/>
          <p:cNvSpPr/>
          <p:nvPr/>
        </p:nvSpPr>
        <p:spPr>
          <a:xfrm>
            <a:off x="5742432" y="3246120"/>
            <a:ext cx="2871216" cy="429768"/>
          </a:xfrm>
          <a:prstGeom prst="roundRect">
            <a:avLst>
              <a:gd name="adj" fmla="val 12766"/>
            </a:avLst>
          </a:prstGeom>
          <a:solidFill>
            <a:srgbClr val="FFFFFF"/>
          </a:solidFill>
          <a:ln w="12700">
            <a:solidFill>
              <a:srgbClr val="B0B8CC"/>
            </a:solidFill>
            <a:prstDash val="solid"/>
          </a:ln>
        </p:spPr>
      </p:sp>
      <p:sp>
        <p:nvSpPr>
          <p:cNvPr id="25" name="Text 23"/>
          <p:cNvSpPr/>
          <p:nvPr/>
        </p:nvSpPr>
        <p:spPr>
          <a:xfrm>
            <a:off x="5833872" y="3264408"/>
            <a:ext cx="2688336" cy="384048"/>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 ]  I wrote my Curator's Chronicle</a:t>
            </a:r>
            <a:endParaRPr lang="en-US" sz="1000" dirty="0"/>
          </a:p>
        </p:txBody>
      </p:sp>
      <p:sp>
        <p:nvSpPr>
          <p:cNvPr id="26" name="Shape 24"/>
          <p:cNvSpPr/>
          <p:nvPr/>
        </p:nvSpPr>
        <p:spPr>
          <a:xfrm>
            <a:off x="5742432" y="3749040"/>
            <a:ext cx="2871216" cy="429768"/>
          </a:xfrm>
          <a:prstGeom prst="roundRect">
            <a:avLst>
              <a:gd name="adj" fmla="val 12766"/>
            </a:avLst>
          </a:prstGeom>
          <a:solidFill>
            <a:srgbClr val="FFFFFF"/>
          </a:solidFill>
          <a:ln w="12700">
            <a:solidFill>
              <a:srgbClr val="B0B8CC"/>
            </a:solidFill>
            <a:prstDash val="solid"/>
          </a:ln>
        </p:spPr>
      </p:sp>
      <p:sp>
        <p:nvSpPr>
          <p:cNvPr id="27" name="Text 25"/>
          <p:cNvSpPr/>
          <p:nvPr/>
        </p:nvSpPr>
        <p:spPr>
          <a:xfrm>
            <a:off x="5833872" y="3767328"/>
            <a:ext cx="2688336" cy="384048"/>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 ]  I submitted to Canvas</a:t>
            </a:r>
            <a:endParaRPr lang="en-US" sz="1000" dirty="0"/>
          </a:p>
        </p:txBody>
      </p:sp>
      <p:sp>
        <p:nvSpPr>
          <p:cNvPr id="28" name="Text 26"/>
          <p:cNvSpPr/>
          <p:nvPr/>
        </p:nvSpPr>
        <p:spPr>
          <a:xfrm>
            <a:off x="8412480" y="4800600"/>
            <a:ext cx="548640" cy="182880"/>
          </a:xfrm>
          <a:prstGeom prst="rect">
            <a:avLst/>
          </a:prstGeom>
          <a:noFill/>
          <a:ln/>
        </p:spPr>
        <p:txBody>
          <a:bodyPr wrap="square" lIns="0" tIns="0" rIns="0" bIns="0"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19 / 20</a:t>
            </a:r>
            <a:endParaRPr lang="en-US" sz="800" dirty="0"/>
          </a:p>
        </p:txBody>
      </p:sp>
      <p:sp>
        <p:nvSpPr>
          <p:cNvPr id="29" name="Text 27"/>
          <p:cNvSpPr/>
          <p:nvPr/>
        </p:nvSpPr>
        <p:spPr>
          <a:xfrm>
            <a:off x="182880" y="4846320"/>
            <a:ext cx="4572000" cy="164592"/>
          </a:xfrm>
          <a:prstGeom prst="rect">
            <a:avLst/>
          </a:prstGeom>
          <a:noFill/>
          <a:ln/>
        </p:spPr>
        <p:txBody>
          <a:bodyPr wrap="square" lIns="0" tIns="0" rIns="0" bIns="0" rtlCol="0" anchor="ctr"/>
          <a:lstStyle/>
          <a:p>
            <a:pPr indent="0" marL="0">
              <a:buNone/>
            </a:pPr>
            <a:r>
              <a:rPr lang="en-US" sz="800" dirty="0">
                <a:solidFill>
                  <a:srgbClr val="7A88A8"/>
                </a:solidFill>
                <a:latin typeface="Calibri" pitchFamily="34" charset="0"/>
                <a:ea typeface="Calibri" pitchFamily="34" charset="-122"/>
                <a:cs typeface="Calibri" pitchFamily="34" charset="-120"/>
              </a:rPr>
              <a:t>3.03.02  Cardinal &amp; Intermediate Directions</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3200400" y="292608"/>
            <a:ext cx="2743200" cy="365760"/>
          </a:xfrm>
          <a:prstGeom prst="roundRect">
            <a:avLst>
              <a:gd name="adj" fmla="val 25000"/>
            </a:avLst>
          </a:prstGeom>
          <a:solidFill>
            <a:srgbClr val="D4943A"/>
          </a:solidFill>
          <a:ln/>
        </p:spPr>
      </p:sp>
      <p:sp>
        <p:nvSpPr>
          <p:cNvPr id="5" name="Text 3"/>
          <p:cNvSpPr/>
          <p:nvPr/>
        </p:nvSpPr>
        <p:spPr>
          <a:xfrm>
            <a:off x="3200400" y="292608"/>
            <a:ext cx="2743200" cy="365760"/>
          </a:xfrm>
          <a:prstGeom prst="rect">
            <a:avLst/>
          </a:prstGeom>
          <a:no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MISSION COMPLETE</a:t>
            </a:r>
            <a:endParaRPr lang="en-US" sz="1000" dirty="0"/>
          </a:p>
        </p:txBody>
      </p:sp>
      <p:sp>
        <p:nvSpPr>
          <p:cNvPr id="6" name="Text 4"/>
          <p:cNvSpPr/>
          <p:nvPr/>
        </p:nvSpPr>
        <p:spPr>
          <a:xfrm>
            <a:off x="457200" y="804672"/>
            <a:ext cx="8229600" cy="68580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Great Work, Map Curator!</a:t>
            </a:r>
            <a:endParaRPr lang="en-US" sz="3600" dirty="0"/>
          </a:p>
        </p:txBody>
      </p:sp>
      <p:sp>
        <p:nvSpPr>
          <p:cNvPr id="7" name="Shape 5"/>
          <p:cNvSpPr/>
          <p:nvPr/>
        </p:nvSpPr>
        <p:spPr>
          <a:xfrm>
            <a:off x="457200" y="1627632"/>
            <a:ext cx="8229600" cy="1234440"/>
          </a:xfrm>
          <a:prstGeom prst="roundRect">
            <a:avLst>
              <a:gd name="adj" fmla="val 8889"/>
            </a:avLst>
          </a:prstGeom>
          <a:solidFill>
            <a:srgbClr val="1A2D5A"/>
          </a:solidFill>
          <a:ln/>
        </p:spPr>
      </p:sp>
      <p:sp>
        <p:nvSpPr>
          <p:cNvPr id="8" name="Text 6"/>
          <p:cNvSpPr/>
          <p:nvPr/>
        </p:nvSpPr>
        <p:spPr>
          <a:xfrm>
            <a:off x="640080" y="1691640"/>
            <a:ext cx="78638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Today You Accomplished:</a:t>
            </a:r>
            <a:endParaRPr lang="en-US" sz="900" dirty="0"/>
          </a:p>
        </p:txBody>
      </p:sp>
      <p:sp>
        <p:nvSpPr>
          <p:cNvPr id="9" name="Text 7"/>
          <p:cNvSpPr/>
          <p:nvPr/>
        </p:nvSpPr>
        <p:spPr>
          <a:xfrm>
            <a:off x="640080" y="1965960"/>
            <a:ext cx="7863840"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Learned all 8 directions on a compass rose — 4 cardinal + 4 intermediate</a:t>
            </a:r>
            <a:endParaRPr lang="en-US" sz="1300" dirty="0"/>
          </a:p>
        </p:txBody>
      </p:sp>
      <p:sp>
        <p:nvSpPr>
          <p:cNvPr id="10" name="Text 8"/>
          <p:cNvSpPr/>
          <p:nvPr/>
        </p:nvSpPr>
        <p:spPr>
          <a:xfrm>
            <a:off x="640080" y="2276856"/>
            <a:ext cx="7863840"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Used directions to describe exactly where things are on a map</a:t>
            </a:r>
            <a:endParaRPr lang="en-US" sz="1300" dirty="0"/>
          </a:p>
        </p:txBody>
      </p:sp>
      <p:sp>
        <p:nvSpPr>
          <p:cNvPr id="11" name="Text 9"/>
          <p:cNvSpPr/>
          <p:nvPr/>
        </p:nvSpPr>
        <p:spPr>
          <a:xfrm>
            <a:off x="640080" y="2587752"/>
            <a:ext cx="7863840"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Connected direction knowledge to the virtue of courtesy</a:t>
            </a:r>
            <a:endParaRPr lang="en-US" sz="1300" dirty="0"/>
          </a:p>
        </p:txBody>
      </p:sp>
      <p:sp>
        <p:nvSpPr>
          <p:cNvPr id="12" name="Shape 10"/>
          <p:cNvSpPr/>
          <p:nvPr/>
        </p:nvSpPr>
        <p:spPr>
          <a:xfrm>
            <a:off x="457200" y="2971800"/>
            <a:ext cx="4023360" cy="658368"/>
          </a:xfrm>
          <a:prstGeom prst="roundRect">
            <a:avLst>
              <a:gd name="adj" fmla="val 13889"/>
            </a:avLst>
          </a:prstGeom>
          <a:solidFill>
            <a:srgbClr val="34B76F"/>
          </a:solidFill>
          <a:ln/>
        </p:spPr>
      </p:sp>
      <p:sp>
        <p:nvSpPr>
          <p:cNvPr id="13" name="Text 11"/>
          <p:cNvSpPr/>
          <p:nvPr/>
        </p:nvSpPr>
        <p:spPr>
          <a:xfrm>
            <a:off x="640080" y="2999232"/>
            <a:ext cx="3657600" cy="5943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Great Map Room Floor Compass: REPAIRED</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Visitors can now find their way!</a:t>
            </a:r>
            <a:endParaRPr lang="en-US" sz="1200" dirty="0"/>
          </a:p>
        </p:txBody>
      </p:sp>
      <p:sp>
        <p:nvSpPr>
          <p:cNvPr id="14" name="Shape 12"/>
          <p:cNvSpPr/>
          <p:nvPr/>
        </p:nvSpPr>
        <p:spPr>
          <a:xfrm>
            <a:off x="457200" y="3749040"/>
            <a:ext cx="4023360" cy="1051560"/>
          </a:xfrm>
          <a:prstGeom prst="roundRect">
            <a:avLst>
              <a:gd name="adj" fmla="val 8696"/>
            </a:avLst>
          </a:prstGeom>
          <a:solidFill>
            <a:srgbClr val="1A2D5A"/>
          </a:solidFill>
          <a:ln w="19050">
            <a:solidFill>
              <a:srgbClr val="D4943A"/>
            </a:solidFill>
            <a:prstDash val="solid"/>
          </a:ln>
        </p:spPr>
      </p:sp>
      <p:sp>
        <p:nvSpPr>
          <p:cNvPr id="15" name="Text 13"/>
          <p:cNvSpPr/>
          <p:nvPr/>
        </p:nvSpPr>
        <p:spPr>
          <a:xfrm>
            <a:off x="640080" y="3813048"/>
            <a:ext cx="36576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COMING UP NEXT:</a:t>
            </a:r>
            <a:endParaRPr lang="en-US" sz="900" dirty="0"/>
          </a:p>
        </p:txBody>
      </p:sp>
      <p:sp>
        <p:nvSpPr>
          <p:cNvPr id="16" name="Text 14"/>
          <p:cNvSpPr/>
          <p:nvPr/>
        </p:nvSpPr>
        <p:spPr>
          <a:xfrm>
            <a:off x="640080" y="4087368"/>
            <a:ext cx="3657600" cy="640080"/>
          </a:xfrm>
          <a:prstGeom prst="rect">
            <a:avLst/>
          </a:prstGeom>
          <a:noFill/>
          <a:ln/>
        </p:spPr>
        <p:txBody>
          <a:bodyPr wrap="square" lIns="0" tIns="0" rIns="0" bIns="0" rtlCol="0" anchor="t"/>
          <a:lstStyle/>
          <a:p>
            <a:pPr indent="0" marL="0">
              <a:buNone/>
            </a:pPr>
            <a:r>
              <a:rPr lang="en-US" sz="1200" i="1" dirty="0">
                <a:solidFill>
                  <a:srgbClr val="FFFFFF"/>
                </a:solidFill>
                <a:latin typeface="Calibri" pitchFamily="34" charset="0"/>
                <a:ea typeface="Calibri" pitchFamily="34" charset="-122"/>
                <a:cs typeface="Calibri" pitchFamily="34" charset="-120"/>
              </a:rPr>
              <a:t>Lesson 3.03.03 — Four types of maps got mixed up in the wrong drawers. Your mission: sort physical, political, elevation, and population maps back where they belong!</a:t>
            </a:r>
            <a:endParaRPr lang="en-US" sz="1200" dirty="0"/>
          </a:p>
        </p:txBody>
      </p:sp>
      <p:sp>
        <p:nvSpPr>
          <p:cNvPr id="17" name="Shape 15"/>
          <p:cNvSpPr/>
          <p:nvPr/>
        </p:nvSpPr>
        <p:spPr>
          <a:xfrm>
            <a:off x="4663440" y="1572768"/>
            <a:ext cx="4023360" cy="3218688"/>
          </a:xfrm>
          <a:prstGeom prst="roundRect">
            <a:avLst>
              <a:gd name="adj" fmla="val 3409"/>
            </a:avLst>
          </a:prstGeom>
          <a:solidFill>
            <a:srgbClr val="E2E8F4"/>
          </a:solidFill>
          <a:ln w="19050">
            <a:solidFill>
              <a:srgbClr val="B0B8CC"/>
            </a:solidFill>
            <a:prstDash val="dash"/>
          </a:ln>
        </p:spPr>
      </p:sp>
      <p:sp>
        <p:nvSpPr>
          <p:cNvPr id="18" name="Text 16"/>
          <p:cNvSpPr/>
          <p:nvPr/>
        </p:nvSpPr>
        <p:spPr>
          <a:xfrm>
            <a:off x="4663440" y="1572768"/>
            <a:ext cx="40233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9" name="Text 17"/>
          <p:cNvSpPr/>
          <p:nvPr/>
        </p:nvSpPr>
        <p:spPr>
          <a:xfrm>
            <a:off x="4800600" y="1847088"/>
            <a:ext cx="3749040" cy="285292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Celebration image: a repaired floor compass rose tile with all 8 directions glowing, or a happy cartoon curator giving thumbs up next to a complete compass rose</a:t>
            </a:r>
            <a:endParaRPr lang="en-US" sz="1100" dirty="0"/>
          </a:p>
        </p:txBody>
      </p:sp>
      <p:sp>
        <p:nvSpPr>
          <p:cNvPr id="20" name="Text 18"/>
          <p:cNvSpPr/>
          <p:nvPr/>
        </p:nvSpPr>
        <p:spPr>
          <a:xfrm>
            <a:off x="0" y="4892040"/>
            <a:ext cx="9144000" cy="182880"/>
          </a:xfrm>
          <a:prstGeom prst="rect">
            <a:avLst/>
          </a:prstGeom>
          <a:noFill/>
          <a:ln/>
        </p:spPr>
        <p:txBody>
          <a:bodyPr wrap="square" lIns="0" tIns="0" rIns="0" bIns="0" rtlCol="0" anchor="ctr"/>
          <a:lstStyle/>
          <a:p>
            <a:pPr algn="ctr" indent="0" marL="0">
              <a:buNone/>
            </a:pPr>
            <a:r>
              <a:rPr lang="en-US" sz="800" dirty="0">
                <a:solidFill>
                  <a:srgbClr val="3A5080"/>
                </a:solidFill>
                <a:latin typeface="Calibri" pitchFamily="34" charset="0"/>
                <a:ea typeface="Calibri" pitchFamily="34" charset="-122"/>
                <a:cs typeface="Calibri" pitchFamily="34" charset="-120"/>
              </a:rPr>
              <a:t>Optima Academy Online  ·  Social Studies  ·  Grade 3  ·  Lesson 3.03.02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OAO G3 SS 3.03.02 — Cardinal and Intermediate Directions</dc:title>
  <dc:subject>Cardinal and Intermediate Directions</dc:subject>
  <dc:creator>Optima Academy Online</dc:creator>
  <cp:lastModifiedBy>Optima Academy Online</cp:lastModifiedBy>
  <cp:revision>1</cp:revision>
  <dcterms:created xsi:type="dcterms:W3CDTF">2026-07-10T22:37:27Z</dcterms:created>
  <dcterms:modified xsi:type="dcterms:W3CDTF">2026-07-10T22:37:27Z</dcterms:modified>
</cp:coreProperties>
</file>