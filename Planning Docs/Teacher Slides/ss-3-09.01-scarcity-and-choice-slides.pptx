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wide, atmospheric view of a grand museum hallway labeled 'Marketplace Hall' with market stalls, warm golden lighting, baskets of goods, and a large arched entrance. Grand and inviting.Title slide. Welcome students. Read the title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into the Marketplace Hall. Read the scene aloud. Introduce the Trade &amp; Choice Curator role. Keep it under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Curator's Question aloud. Give students a moment to think. Introduce the thinking routine: Notice, Name, Narrate.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virtue of responsibility. Ask students why responsibility matters when resources are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learning objectives and path. Students should know what they'll do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bright, kid-friendly photograph or historical painting of a busy outdoor marketplace -- wooden stalls, baskets of fruit and bread, customers gathered around tables, and a few empty or near-empty crates. source-3-09-01-marketplace-scene.jpgShow the marketplace image. Ask students to notice details -- which stalls are full, which are empty. Model: 'I see three booths, but only one has full crates. That's a clue.'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before definition. Present the bread and apple examples. Let students notice the pattern: more wanting than having. Do NOT define scarcity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give the pattern a name. Define scarcity and choice with their card definitions. Read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the vocabulary set with Given Up and Resources. Emphasize: every choice means something else is given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action. Give 1-2 minutes for students to think and share. Circulate and listen for examples you can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dollar example. Make it concrete: the snack is the choice, the sticker is the cost. This connects to 'given up.'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past and present. The core idea: scarcity and choice are timeless. Ask students what stayed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exhibit label aloud. This is the key takeaway. Share Opti's insight about time being scarce.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self-check. Reassure students this is not graded.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Q1. Answer is B. Scarcity = not enough of something for everyone who wants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Q2. Answer is C. Scarcity means you can't have everything, so you must 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Q3. Answer is A. The cost of a choice is the other things you could have bought.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what students will turn in. Read the list aloud before showing each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Q1. Read the question aloud. Model: 'Scarcity means there's not enough -- like the bread booth this morning. Two loaves, three families.' Walk through the scaffolding.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Q2. Read the question aloud. Walk through the error analysis -- most common mistake is forgetting to name what gets given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Curator Task. Read the instructions aloud. Emphasize 3-4 sentences covering all three parts. Walk through the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Chronicle prompt and Coming Next teaser. Read the teaser aloud to build excitement for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4876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121920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 and Choice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09600" y="25603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3.09.01  |  Basics of Economics  |  Week 24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600" y="3291840"/>
            <a:ext cx="2438400" cy="4876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609600" y="35356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SS.3.E.1.1  |  SS.3.E.1.2  |  SS.3.E.1.3  |  SS.3.E.1.4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9600" y="585216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Social Studies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MUSEUM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the Marketplace Hall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10972800" cy="1706880"/>
          </a:xfrm>
          <a:prstGeom prst="roundRect">
            <a:avLst>
              <a:gd name="adj" fmla="val 8571"/>
            </a:avLst>
          </a:prstGeom>
          <a:solidFill>
            <a:srgbClr val="FFF8F0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194560"/>
            <a:ext cx="1048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Marketplace Hall just opened, and the head curator looks worried. Visitors are pouring in, but the booths can't keep up -- three families want bread, but there are only two loaves left. Four people want apples, but only one basket arrived this morning.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600" y="4023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exhibit can teach anything, Trade &amp; Choice Curators need to understand the problem at the heart of every market: there is never enough of everything.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499872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Today: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48000" y="49987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&amp; Choice Curator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7536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19200" y="1584960"/>
            <a:ext cx="73152" cy="1950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584960" y="1584960"/>
            <a:ext cx="91440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 isn't enough of something, how do people decide what to take and what to leave behind?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19200" y="402336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Routine:  Notice  --&gt;  Name  --&gt;  Narrate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1097280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3440" y="21945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is scarce, every choice matters. A responsible person stops and thinks before grabbing what they want.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3440" y="316992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as you study the marketplace, notice how people have to take responsibility for their choices -- because every choice means giving something else up.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600" y="4632960"/>
            <a:ext cx="10972800" cy="1584960"/>
          </a:xfrm>
          <a:prstGeom prst="roundRect">
            <a:avLst>
              <a:gd name="adj" fmla="val 11538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6488" y="475183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6488" y="5099304"/>
            <a:ext cx="1048816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be responsible with a choice?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responsibility matter more when something is scarce?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75360" y="195072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scarcity means in your own words.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scarcity forces people to make choices.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is given up when a choice is made.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438912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AF8FD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" y="4511040"/>
            <a:ext cx="102412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the Marketplace Hall &amp; spotlight responsibility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busy marketplace scene &amp; learn scarcity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exhibit intro panel about choice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36576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9600" y="853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Busy Marketplace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09600" y="1828800"/>
            <a:ext cx="7924800" cy="4023360"/>
          </a:xfrm>
          <a:prstGeom prst="roundRect">
            <a:avLst>
              <a:gd name="adj" fmla="val 363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09600" y="1828800"/>
            <a:ext cx="792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2480" y="2194560"/>
            <a:ext cx="7559040" cy="353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busy outdoor marketplace with wooden stalls, baskets of fruit and bread, customers, and some empty crates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source-3-09-01-marketplace-scene.jpg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00160" y="1828800"/>
            <a:ext cx="3048000" cy="4023360"/>
          </a:xfrm>
          <a:prstGeom prst="roundRect">
            <a:avLst>
              <a:gd name="adj" fmla="val 6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7048" y="1947672"/>
            <a:ext cx="2563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7048" y="2295144"/>
            <a:ext cx="2563368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goods are for sale?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stalls look full, and which ones look almost empty?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stall is almost empty but customers are still arriving, what choice do those customers have to make?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at the Heart of Every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1706880"/>
          </a:xfrm>
          <a:prstGeom prst="roundRect">
            <a:avLst>
              <a:gd name="adj" fmla="val 857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480" y="2023872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80" y="2289048"/>
            <a:ext cx="10607040" cy="127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"Three families want bread, but only two loaves are left."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"Four people want apples, but only one basket arrived."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39014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There is more wanting than having.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600" y="4511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problem that makes every marketplace complicated. Before we can name it, let's look at a few more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Words a Curator Needs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242560" cy="1950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3440" y="207264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3440" y="2621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is not enough of something for everyone who wants it. The reason markets need rules and choices in the first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9840" y="1950720"/>
            <a:ext cx="5242560" cy="1950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7264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621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one thing when you can't have everything. Scarcity is what makes a choice necessary in the first place.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Curator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242560" cy="1950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3440" y="207264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3440" y="2621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you didn't pick when you made a choice. Every choice has something you give up -- even if it's just your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9840" y="1950720"/>
            <a:ext cx="5242560" cy="1950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7264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621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people use to make goods or live their lives -- like food, water, wood, time, and money. Resources are almost always limited.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19200" y="121920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&amp; Think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19200" y="2194560"/>
            <a:ext cx="9753600" cy="182880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2316480"/>
            <a:ext cx="926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time this week when you couldn't have two things you wanted.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3048000"/>
            <a:ext cx="926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did you pick, and what did you give up?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438912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 partner or write in your Curator's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Choice Has a Cost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1584960"/>
          </a:xfrm>
          <a:prstGeom prst="roundRect">
            <a:avLst>
              <a:gd name="adj" fmla="val 9231"/>
            </a:avLst>
          </a:prstGeom>
          <a:solidFill>
            <a:srgbClr val="FFF8F0"/>
          </a:solidFill>
          <a:ln/>
        </p:spPr>
      </p:sp>
      <p:sp>
        <p:nvSpPr>
          <p:cNvPr id="6" name="Text 4"/>
          <p:cNvSpPr/>
          <p:nvPr/>
        </p:nvSpPr>
        <p:spPr>
          <a:xfrm>
            <a:off x="853440" y="207264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spend my last dollar on a snack, I can't spend it on a sticker.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3440" y="268224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snack is my choice. The sticker is what I give up.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600" y="3901440"/>
            <a:ext cx="5242560" cy="1219200"/>
          </a:xfrm>
          <a:prstGeom prst="roundRect">
            <a:avLst>
              <a:gd name="adj" fmla="val 9000"/>
            </a:avLst>
          </a:prstGeom>
          <a:solidFill>
            <a:srgbClr val="E3F8ED"/>
          </a:solidFill>
          <a:ln/>
        </p:spPr>
      </p:sp>
      <p:sp>
        <p:nvSpPr>
          <p:cNvPr id="9" name="Text 7"/>
          <p:cNvSpPr/>
          <p:nvPr/>
        </p:nvSpPr>
        <p:spPr>
          <a:xfrm>
            <a:off x="853440" y="3962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CHOICE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3440" y="438912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snack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39840" y="3901440"/>
            <a:ext cx="5242560" cy="1219200"/>
          </a:xfrm>
          <a:prstGeom prst="roundRect">
            <a:avLst>
              <a:gd name="adj" fmla="val 9000"/>
            </a:avLst>
          </a:prstGeom>
          <a:solidFill>
            <a:srgbClr val="FCE8E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962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GIVE 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438912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sticker I wanted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&amp;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Choices Across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242560" cy="2194560"/>
          </a:xfrm>
          <a:prstGeom prst="roundRect">
            <a:avLst>
              <a:gd name="adj" fmla="val 6667"/>
            </a:avLst>
          </a:prstGeom>
          <a:solidFill>
            <a:srgbClr val="F0E8FF"/>
          </a:solidFill>
          <a:ln/>
        </p:spPr>
      </p:sp>
      <p:sp>
        <p:nvSpPr>
          <p:cNvPr id="6" name="Text 4"/>
          <p:cNvSpPr/>
          <p:nvPr/>
        </p:nvSpPr>
        <p:spPr>
          <a:xfrm>
            <a:off x="853440" y="2072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3440" y="2560320"/>
            <a:ext cx="47548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had to choose between using their grain for bread or saving it for next year's planting.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9840" y="1950720"/>
            <a:ext cx="5242560" cy="2194560"/>
          </a:xfrm>
          <a:prstGeom prst="roundRect">
            <a:avLst>
              <a:gd name="adj" fmla="val 6667"/>
            </a:avLst>
          </a:prstGeom>
          <a:solidFill>
            <a:srgbClr val="EAF8F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72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75488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still have to choose how to spend their money each week -- groceries, gas, or savings.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4511040"/>
            <a:ext cx="10972800" cy="146304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6488" y="462991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6488" y="4977384"/>
            <a:ext cx="10488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 about the need to choose?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scarcity ever go away, or does it just change form?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7536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LABEL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19200" y="1584960"/>
            <a:ext cx="73152" cy="2438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1584960" y="1584960"/>
            <a:ext cx="9144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 means there is not enough of something for everyone who wants it. Because of scarcity, people have to make choices -- and every choice means something else is given up.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4511040"/>
            <a:ext cx="9753600" cy="975360"/>
          </a:xfrm>
          <a:prstGeom prst="roundRect">
            <a:avLst>
              <a:gd name="adj" fmla="val 11250"/>
            </a:avLst>
          </a:prstGeom>
          <a:solidFill>
            <a:srgbClr val="1A2D5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4632960"/>
            <a:ext cx="926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 says: Even time can be scarce. There are only 24 hours in a day, so every time you pick what to do, you're giving up something else. Choices are everywhere once you start looking.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 -- Not Graded!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600" y="21945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three questions to see how much you remember before writing your evidence responses.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|  QUESTION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word scarcity mean?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116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There is plenty of something for everyone.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600" y="28651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E3F8ED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0" y="29260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There is not enough of something for everyone who wants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600" y="377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440" y="38404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Something is broken and needs to be fixed.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47548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is the gap between how much there is and how much people want.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|  QUESTION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scarcity force people to make choices?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116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Because every store has rules about what you can buy.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600" y="28651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0" y="29260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Because customers like to argue with each other.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600" y="377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E3F8ED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440" y="38404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Because there is not enough for everyone, so people have to pick.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47548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is scarce, you can't have it all -- so you have to choose.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|  QUESTION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have one dollar and you spend it on an apple, what did you give up?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E3F8ED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116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The other things you could have bought with that dollar instead.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600" y="28651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0" y="29260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Nothing -- choices don't cost you anything.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600" y="377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440" y="384048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The apple itself.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47548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give up is the next-best thing you could have picked.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ASSIGNMENT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Turn 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5360" y="1828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Evidence Questions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Task: Marketplace Hall Intro Panel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600" y="10972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3440" y="1219200"/>
            <a:ext cx="1048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own words, what is scarcity? Give one example from the lesson or from your own life.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3440" y="2316480"/>
            <a:ext cx="104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details from the lesson to support your answer.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3048000"/>
            <a:ext cx="10972800" cy="219456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/>
        </p:spPr>
      </p:sp>
      <p:sp>
        <p:nvSpPr>
          <p:cNvPr id="8" name="Text 6"/>
          <p:cNvSpPr/>
          <p:nvPr/>
        </p:nvSpPr>
        <p:spPr>
          <a:xfrm>
            <a:off x="853440" y="310896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3440" y="3535680"/>
            <a:ext cx="1048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"Scarcity means..."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give an example: "In the lesson..." or "In my life..."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Did I use my own words? Did I include a specific example?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600" y="10972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3440" y="1219200"/>
            <a:ext cx="1048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scarcity force people to make a choice? In your answer, name something that gets given up when a choice is made.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3440" y="2316480"/>
            <a:ext cx="104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thinking using evidence from the lesson.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3048000"/>
            <a:ext cx="10972800" cy="2438400"/>
          </a:xfrm>
          <a:prstGeom prst="roundRect">
            <a:avLst>
              <a:gd name="adj" fmla="val 6000"/>
            </a:avLst>
          </a:prstGeom>
          <a:solidFill>
            <a:srgbClr val="FCE8E9"/>
          </a:solidFill>
          <a:ln/>
        </p:spPr>
      </p:sp>
      <p:sp>
        <p:nvSpPr>
          <p:cNvPr id="8" name="Text 6"/>
          <p:cNvSpPr/>
          <p:nvPr/>
        </p:nvSpPr>
        <p:spPr>
          <a:xfrm>
            <a:off x="853440" y="310896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-- COMMON MISTAKES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3440" y="3535680"/>
            <a:ext cx="1048512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scarcity but forgetting to explain WHY it forces a choice.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people "have to choose" without naming what gets given up.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the lesson example without connecting it to the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Hall Intro Panel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1950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3440" y="207264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very first panel visitors will read when they walk into the Marketplace Hall.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3440" y="2682240"/>
            <a:ext cx="1048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panel of the new exhibit. Visitors walking in need to understand the problem at the heart of every marketplace before they see anything else. Write a short intro panel (3-4 sentences) that explains scarcity, the choice it forces, and what people give up when they choose.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600" y="41452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FFF3DC"/>
          </a:solidFill>
          <a:ln/>
        </p:spPr>
      </p:sp>
      <p:sp>
        <p:nvSpPr>
          <p:cNvPr id="9" name="Text 7"/>
          <p:cNvSpPr/>
          <p:nvPr/>
        </p:nvSpPr>
        <p:spPr>
          <a:xfrm>
            <a:off x="853440" y="420624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PANEL SHOULD ANSWER: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3440" y="46329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scarcity?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force a choice?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given up?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657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Today's Exhibit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828800"/>
            <a:ext cx="10972800" cy="975360"/>
          </a:xfrm>
          <a:prstGeom prst="roundRect">
            <a:avLst>
              <a:gd name="adj" fmla="val 15000"/>
            </a:avLst>
          </a:prstGeom>
          <a:solidFill>
            <a:srgbClr val="1A2D5A"/>
          </a:solidFill>
          <a:ln/>
        </p:spPr>
      </p:sp>
      <p:sp>
        <p:nvSpPr>
          <p:cNvPr id="6" name="Text 4"/>
          <p:cNvSpPr/>
          <p:nvPr/>
        </p:nvSpPr>
        <p:spPr>
          <a:xfrm>
            <a:off x="853440" y="18897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this sentence: "In this exhibit, I learned that ______ because ______."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329184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600" y="3901440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/>
        </p:spPr>
      </p:sp>
      <p:sp>
        <p:nvSpPr>
          <p:cNvPr id="9" name="Text 7"/>
          <p:cNvSpPr/>
          <p:nvPr/>
        </p:nvSpPr>
        <p:spPr>
          <a:xfrm>
            <a:off x="853440" y="4023360"/>
            <a:ext cx="104851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curator just rolled in two long tables and labeled them "Trade." On one table, baskets of fish from a coastal town. On the other, sacks of grain from a valley farm. "Two towns. Two different problems. One solution," the curator says with a grin. Tomorrow you'll figure out what that solution is -- and why scarcity quietly turns into trade.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2026-07-11T03:42:57Z</dcterms:created>
  <dcterms:modified xsi:type="dcterms:W3CDTF">2026-07-11T03:42:57Z</dcterms:modified>
</cp:coreProperties>
</file>